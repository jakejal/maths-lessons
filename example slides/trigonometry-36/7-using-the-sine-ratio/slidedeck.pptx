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0229F6-0499-4A87-8D2B-F91EDD23A504}">
  <a:tblStyle styleId="{140229F6-0499-4A87-8D2B-F91EDD23A50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9BE48FB-78EB-4247-964A-A29AEC6ECE5A}"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bacbc889b8_0_1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bacbc889b8_0_1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bacbc889b8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bacbc889b8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bacbc889b8_0_1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bacbc889b8_0_1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bacbc889b8_0_4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bacbc889b8_0_4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bacbc889b8_0_1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bacbc889b8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bacbc889b8_0_1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bacbc889b8_0_1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bacbc889b8_0_1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bacbc889b8_0_1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2bacbc889b8_0_1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2bacbc889b8_0_1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bacbc889b8_0_1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bacbc889b8_0_1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bacbc889b8_0_1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2bacbc889b8_0_1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bacbc889b8_0_1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bacbc889b8_0_1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bacbc889b8_0_2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2bacbc889b8_0_2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bacbc889b8_0_2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bacbc889b8_0_2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bacbc889b8_0_2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bacbc889b8_0_2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2bacbc889b8_0_2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2bacbc889b8_0_2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bacbc889b8_0_2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2bacbc889b8_0_2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bacbc889b8_0_2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2bacbc889b8_0_2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2bacbc889b8_0_2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2bacbc889b8_0_2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2bacbc889b8_0_2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8" name="Google Shape;1348;g2bacbc889b8_0_2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2bacbc889b8_0_2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2bacbc889b8_0_2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2bacbc889b8_0_2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1" name="Google Shape;1471;g2bacbc889b8_0_2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2bacbc889b8_0_2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2bacbc889b8_0_2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2bacbc889b8_0_2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2bacbc889b8_0_2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2bacbc889b8_0_2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4" name="Google Shape;1544;g2bacbc889b8_0_2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2bacbc889b8_0_2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2bacbc889b8_0_2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2bacbc889b8_0_2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8" name="Google Shape;1598;g2bacbc889b8_0_2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2bacbc889b8_0_2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2bacbc889b8_0_2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2bacbc889b8_0_2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2bacbc889b8_0_2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g2bacbc889b8_0_2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0" name="Google Shape;1680;g2bacbc889b8_0_2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2bacbc889b8_0_2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8" name="Google Shape;1718;g2bacbc889b8_0_2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2bacbc889b8_0_2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2bacbc889b8_0_2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2bacbc889b8_0_2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3" name="Google Shape;1773;g2bacbc889b8_0_2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2bacbc889b8_0_3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4" name="Google Shape;1814;g2bacbc889b8_0_3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2bacbc889b8_0_3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g2bacbc889b8_0_3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2bacbc889b8_0_3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2bacbc889b8_0_3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2bacbc889b8_0_3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2bacbc889b8_0_3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g2bacbc889b8_0_3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1" name="Google Shape;1911;g2bacbc889b8_0_3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g2bacbc889b8_0_3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7" name="Google Shape;1967;g2bacbc889b8_0_3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9" name="Shape 2009"/>
        <p:cNvGrpSpPr/>
        <p:nvPr/>
      </p:nvGrpSpPr>
      <p:grpSpPr>
        <a:xfrm>
          <a:off x="0" y="0"/>
          <a:ext cx="0" cy="0"/>
          <a:chOff x="0" y="0"/>
          <a:chExt cx="0" cy="0"/>
        </a:xfrm>
      </p:grpSpPr>
      <p:sp>
        <p:nvSpPr>
          <p:cNvPr id="2010" name="Google Shape;2010;g2bacbc889b8_0_3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1" name="Google Shape;2011;g2bacbc889b8_0_3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g2bacbc889b8_0_3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2" name="Google Shape;2102;g2bacbc889b8_0_3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g2bacbc889b8_0_3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2" name="Google Shape;2162;g2bacbc889b8_0_3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1" name="Shape 2211"/>
        <p:cNvGrpSpPr/>
        <p:nvPr/>
      </p:nvGrpSpPr>
      <p:grpSpPr>
        <a:xfrm>
          <a:off x="0" y="0"/>
          <a:ext cx="0" cy="0"/>
          <a:chOff x="0" y="0"/>
          <a:chExt cx="0" cy="0"/>
        </a:xfrm>
      </p:grpSpPr>
      <p:sp>
        <p:nvSpPr>
          <p:cNvPr id="2212" name="Google Shape;2212;g2bacbc889b8_0_3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3" name="Google Shape;2213;g2bacbc889b8_0_3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2bacbc889b8_0_3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2bacbc889b8_0_3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g2bacbc889b8_0_3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0" name="Google Shape;2320;g2bacbc889b8_0_3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14.png"/><Relationship Id="rId7"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3.png"/><Relationship Id="rId4" Type="http://schemas.openxmlformats.org/officeDocument/2006/relationships/image" Target="../media/image58.png"/><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58.png"/><Relationship Id="rId4" Type="http://schemas.openxmlformats.org/officeDocument/2006/relationships/image" Target="../media/image20.png"/><Relationship Id="rId9"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26.png"/><Relationship Id="rId8" Type="http://schemas.openxmlformats.org/officeDocument/2006/relationships/image" Target="../media/image2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58.png"/><Relationship Id="rId4" Type="http://schemas.openxmlformats.org/officeDocument/2006/relationships/image" Target="../media/image34.png"/><Relationship Id="rId11" Type="http://schemas.openxmlformats.org/officeDocument/2006/relationships/image" Target="../media/image18.png"/><Relationship Id="rId10" Type="http://schemas.openxmlformats.org/officeDocument/2006/relationships/image" Target="../media/image40.png"/><Relationship Id="rId9" Type="http://schemas.openxmlformats.org/officeDocument/2006/relationships/image" Target="../media/image28.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31.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theme" Target="../theme/theme2.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4.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4.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 Id="rId3" Type="http://schemas.openxmlformats.org/officeDocument/2006/relationships/image" Target="../media/image57.png"/><Relationship Id="rId4" Type="http://schemas.openxmlformats.org/officeDocument/2006/relationships/image" Target="../media/image44.png"/><Relationship Id="rId5" Type="http://schemas.openxmlformats.org/officeDocument/2006/relationships/image" Target="../media/image60.png"/><Relationship Id="rId6"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44.png"/><Relationship Id="rId4" Type="http://schemas.openxmlformats.org/officeDocument/2006/relationships/image" Target="../media/image60.png"/><Relationship Id="rId5" Type="http://schemas.openxmlformats.org/officeDocument/2006/relationships/image" Target="../media/image59.png"/><Relationship Id="rId6" Type="http://schemas.openxmlformats.org/officeDocument/2006/relationships/image" Target="../media/image61.png"/><Relationship Id="rId7" Type="http://schemas.openxmlformats.org/officeDocument/2006/relationships/image" Target="../media/image6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image" Target="../media/image54.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64.png"/><Relationship Id="rId4" Type="http://schemas.openxmlformats.org/officeDocument/2006/relationships/image" Target="../media/image6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 Id="rId3" Type="http://schemas.openxmlformats.org/officeDocument/2006/relationships/image" Target="../media/image6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image" Target="../media/image54.png"/><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image" Target="../media/image64.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6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68.png"/><Relationship Id="rId4"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6.xml"/><Relationship Id="rId3" Type="http://schemas.openxmlformats.org/officeDocument/2006/relationships/image" Target="../media/image70.png"/><Relationship Id="rId4" Type="http://schemas.openxmlformats.org/officeDocument/2006/relationships/image" Target="../media/image69.png"/><Relationship Id="rId5" Type="http://schemas.openxmlformats.org/officeDocument/2006/relationships/image" Target="../media/image7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7.xml"/><Relationship Id="rId3" Type="http://schemas.openxmlformats.org/officeDocument/2006/relationships/image" Target="../media/image70.png"/><Relationship Id="rId4" Type="http://schemas.openxmlformats.org/officeDocument/2006/relationships/image" Target="../media/image69.png"/><Relationship Id="rId5" Type="http://schemas.openxmlformats.org/officeDocument/2006/relationships/image" Target="../media/image7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70.png"/><Relationship Id="rId4" Type="http://schemas.openxmlformats.org/officeDocument/2006/relationships/image" Target="../media/image68.png"/><Relationship Id="rId5" Type="http://schemas.openxmlformats.org/officeDocument/2006/relationships/image" Target="../media/image67.png"/><Relationship Id="rId6" Type="http://schemas.openxmlformats.org/officeDocument/2006/relationships/image" Target="../media/image6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70.png"/><Relationship Id="rId4" Type="http://schemas.openxmlformats.org/officeDocument/2006/relationships/image" Target="../media/image69.png"/><Relationship Id="rId5" Type="http://schemas.openxmlformats.org/officeDocument/2006/relationships/image" Target="../media/image7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79.png"/><Relationship Id="rId4" Type="http://schemas.openxmlformats.org/officeDocument/2006/relationships/image" Target="../media/image68.png"/><Relationship Id="rId5" Type="http://schemas.openxmlformats.org/officeDocument/2006/relationships/image" Target="../media/image6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7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7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79.png"/><Relationship Id="rId4" Type="http://schemas.openxmlformats.org/officeDocument/2006/relationships/image" Target="../media/image75.png"/><Relationship Id="rId5" Type="http://schemas.openxmlformats.org/officeDocument/2006/relationships/image" Target="../media/image7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4.xml"/><Relationship Id="rId3" Type="http://schemas.openxmlformats.org/officeDocument/2006/relationships/image" Target="../media/image44.png"/><Relationship Id="rId4" Type="http://schemas.openxmlformats.org/officeDocument/2006/relationships/image" Target="../media/image78.png"/><Relationship Id="rId5" Type="http://schemas.openxmlformats.org/officeDocument/2006/relationships/image" Target="../media/image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5.xml"/><Relationship Id="rId3" Type="http://schemas.openxmlformats.org/officeDocument/2006/relationships/image" Target="../media/image74.png"/><Relationship Id="rId4" Type="http://schemas.openxmlformats.org/officeDocument/2006/relationships/image" Target="../media/image77.png"/><Relationship Id="rId5" Type="http://schemas.openxmlformats.org/officeDocument/2006/relationships/image" Target="../media/image73.png"/><Relationship Id="rId6" Type="http://schemas.openxmlformats.org/officeDocument/2006/relationships/image" Target="../media/image81.png"/><Relationship Id="rId7" Type="http://schemas.openxmlformats.org/officeDocument/2006/relationships/image" Target="../media/image44.png"/><Relationship Id="rId8" Type="http://schemas.openxmlformats.org/officeDocument/2006/relationships/image" Target="../media/image6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6.xml"/><Relationship Id="rId3" Type="http://schemas.openxmlformats.org/officeDocument/2006/relationships/image" Target="../media/image80.png"/><Relationship Id="rId4" Type="http://schemas.openxmlformats.org/officeDocument/2006/relationships/image" Target="../media/image83.png"/><Relationship Id="rId5" Type="http://schemas.openxmlformats.org/officeDocument/2006/relationships/image" Target="../media/image44.png"/><Relationship Id="rId6" Type="http://schemas.openxmlformats.org/officeDocument/2006/relationships/image" Target="../media/image60.png"/><Relationship Id="rId7"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 Id="rId3" Type="http://schemas.openxmlformats.org/officeDocument/2006/relationships/image" Target="../media/image84.png"/><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 Id="rId3" Type="http://schemas.openxmlformats.org/officeDocument/2006/relationships/image" Target="../media/image79.png"/><Relationship Id="rId4" Type="http://schemas.openxmlformats.org/officeDocument/2006/relationships/image" Target="../media/image8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 Id="rId3" Type="http://schemas.openxmlformats.org/officeDocument/2006/relationships/image" Target="../media/image84.png"/><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 Id="rId3" Type="http://schemas.openxmlformats.org/officeDocument/2006/relationships/image" Target="../media/image79.png"/><Relationship Id="rId4"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 Id="rId3"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2"/>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sine ratio</a:t>
            </a:r>
            <a:endParaRPr/>
          </a:p>
        </p:txBody>
      </p:sp>
      <p:sp>
        <p:nvSpPr>
          <p:cNvPr id="747" name="Google Shape;747;p62"/>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sp>
        <p:nvSpPr>
          <p:cNvPr id="752" name="Google Shape;752;p63"/>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4"/>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sine ratio to find the missing side or angle in a right-angled triangle.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5"/>
          <p:cNvSpPr txBox="1"/>
          <p:nvPr>
            <p:ph idx="2" type="subTitle"/>
          </p:nvPr>
        </p:nvSpPr>
        <p:spPr>
          <a:xfrm>
            <a:off x="324000" y="8100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hypotenuse is the side of a right-angled triangle which is opposite the right angle.  </a:t>
            </a:r>
            <a:endParaRPr/>
          </a:p>
        </p:txBody>
      </p:sp>
      <p:sp>
        <p:nvSpPr>
          <p:cNvPr id="763" name="Google Shape;763;p65"/>
          <p:cNvSpPr txBox="1"/>
          <p:nvPr>
            <p:ph idx="6" type="subTitle"/>
          </p:nvPr>
        </p:nvSpPr>
        <p:spPr>
          <a:xfrm>
            <a:off x="324000" y="166815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opposite side of a right-angled triangle is the side which is opposite the marked angle.</a:t>
            </a:r>
            <a:endParaRPr/>
          </a:p>
        </p:txBody>
      </p:sp>
      <p:pic>
        <p:nvPicPr>
          <p:cNvPr descr="p &#10;tan 9 &#10;Sin 9 &#10;9 &#10;cos 9 " id="764" name="Google Shape;764;p65"/>
          <p:cNvPicPr preferRelativeResize="0"/>
          <p:nvPr/>
        </p:nvPicPr>
        <p:blipFill>
          <a:blip r:embed="rId3">
            <a:alphaModFix/>
          </a:blip>
          <a:stretch>
            <a:fillRect/>
          </a:stretch>
        </p:blipFill>
        <p:spPr>
          <a:xfrm>
            <a:off x="5110250" y="1908650"/>
            <a:ext cx="3247700" cy="2867300"/>
          </a:xfrm>
          <a:prstGeom prst="rect">
            <a:avLst/>
          </a:prstGeom>
          <a:noFill/>
          <a:ln>
            <a:noFill/>
          </a:ln>
        </p:spPr>
      </p:pic>
      <p:sp>
        <p:nvSpPr>
          <p:cNvPr id="765" name="Google Shape;765;p65"/>
          <p:cNvSpPr txBox="1"/>
          <p:nvPr/>
        </p:nvSpPr>
        <p:spPr>
          <a:xfrm>
            <a:off x="324000" y="2526300"/>
            <a:ext cx="4500000" cy="1020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Trigonometric functions are commonly defined as ratios of two sides of a right-angled triangle for a given angle.  </a:t>
            </a:r>
            <a:endParaRPr sz="1800">
              <a:latin typeface="Lexend"/>
              <a:ea typeface="Lexend"/>
              <a:cs typeface="Lexend"/>
              <a:sym typeface="Lexend"/>
            </a:endParaRPr>
          </a:p>
          <a:p>
            <a:pPr indent="0" lvl="0" marL="0" rtl="0" algn="l">
              <a:lnSpc>
                <a:spcPct val="115000"/>
              </a:lnSpc>
              <a:spcBef>
                <a:spcPts val="0"/>
              </a:spcBef>
              <a:spcAft>
                <a:spcPts val="0"/>
              </a:spcAft>
              <a:buNone/>
            </a:pPr>
            <a:r>
              <a:t/>
            </a:r>
            <a:endParaRPr sz="1800">
              <a:latin typeface="Lexend"/>
              <a:ea typeface="Lexend"/>
              <a:cs typeface="Lexend"/>
              <a:sym typeface="Lexend"/>
            </a:endParaRPr>
          </a:p>
        </p:txBody>
      </p:sp>
      <p:sp>
        <p:nvSpPr>
          <p:cNvPr id="766" name="Google Shape;766;p65"/>
          <p:cNvSpPr txBox="1"/>
          <p:nvPr/>
        </p:nvSpPr>
        <p:spPr>
          <a:xfrm>
            <a:off x="324000" y="3809550"/>
            <a:ext cx="4500000" cy="1020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282828"/>
                </a:solidFill>
                <a:latin typeface="Lexend"/>
                <a:ea typeface="Lexend"/>
                <a:cs typeface="Lexend"/>
                <a:sym typeface="Lexend"/>
              </a:rPr>
              <a:t>The sine</a:t>
            </a:r>
            <a:r>
              <a:rPr b="1" lang="en-GB" sz="1800">
                <a:solidFill>
                  <a:srgbClr val="282828"/>
                </a:solidFill>
                <a:latin typeface="Lexend"/>
                <a:ea typeface="Lexend"/>
                <a:cs typeface="Lexend"/>
                <a:sym typeface="Lexend"/>
              </a:rPr>
              <a:t> </a:t>
            </a:r>
            <a:r>
              <a:rPr lang="en-GB" sz="1800">
                <a:solidFill>
                  <a:srgbClr val="282828"/>
                </a:solidFill>
                <a:latin typeface="Lexend"/>
                <a:ea typeface="Lexend"/>
                <a:cs typeface="Lexend"/>
                <a:sym typeface="Lexend"/>
              </a:rPr>
              <a:t>of an angle (sin(</a:t>
            </a:r>
            <a:r>
              <a:rPr i="1" lang="en-GB" sz="1800">
                <a:latin typeface="Lexend"/>
                <a:ea typeface="Lexend"/>
                <a:cs typeface="Lexend"/>
                <a:sym typeface="Lexend"/>
              </a:rPr>
              <a:t>θ</a:t>
            </a:r>
            <a:r>
              <a:rPr lang="en-GB" sz="1800">
                <a:latin typeface="Lexend"/>
                <a:ea typeface="Lexend"/>
                <a:cs typeface="Lexend"/>
                <a:sym typeface="Lexend"/>
              </a:rPr>
              <a:t>°</a:t>
            </a:r>
            <a:r>
              <a:rPr lang="en-GB" sz="1800">
                <a:solidFill>
                  <a:srgbClr val="282828"/>
                </a:solidFill>
                <a:latin typeface="Lexend"/>
                <a:ea typeface="Lexend"/>
                <a:cs typeface="Lexend"/>
                <a:sym typeface="Lexend"/>
              </a:rPr>
              <a:t>)) is the </a:t>
            </a:r>
            <a:r>
              <a:rPr i="1" lang="en-GB" sz="1800">
                <a:solidFill>
                  <a:srgbClr val="282828"/>
                </a:solidFill>
                <a:latin typeface="Times New Roman"/>
                <a:ea typeface="Times New Roman"/>
                <a:cs typeface="Times New Roman"/>
                <a:sym typeface="Times New Roman"/>
              </a:rPr>
              <a:t>y</a:t>
            </a:r>
            <a:r>
              <a:rPr lang="en-GB" sz="1800">
                <a:solidFill>
                  <a:srgbClr val="282828"/>
                </a:solidFill>
                <a:latin typeface="Lexend"/>
                <a:ea typeface="Lexend"/>
                <a:cs typeface="Lexend"/>
                <a:sym typeface="Lexend"/>
              </a:rPr>
              <a:t>-coordinate of point P </a:t>
            </a:r>
            <a:r>
              <a:rPr lang="en-GB" sz="1800">
                <a:latin typeface="Lexend"/>
                <a:ea typeface="Lexend"/>
                <a:cs typeface="Lexend"/>
                <a:sym typeface="Lexend"/>
              </a:rPr>
              <a:t>on the triangle formed inside the unit circle. </a:t>
            </a:r>
            <a:endParaRPr sz="1800">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772" name="Google Shape;772;p6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773" name="Google Shape;773;p6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sine ratio</a:t>
            </a:r>
            <a:endParaRPr/>
          </a:p>
        </p:txBody>
      </p:sp>
      <p:pic>
        <p:nvPicPr>
          <p:cNvPr id="774" name="Google Shape;774;p66"/>
          <p:cNvPicPr preferRelativeResize="0"/>
          <p:nvPr/>
        </p:nvPicPr>
        <p:blipFill>
          <a:blip r:embed="rId3">
            <a:alphaModFix/>
          </a:blip>
          <a:stretch>
            <a:fillRect/>
          </a:stretch>
        </p:blipFill>
        <p:spPr>
          <a:xfrm>
            <a:off x="415477" y="2052098"/>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7"/>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12</a:t>
            </a:r>
            <a:endParaRPr sz="1800">
              <a:latin typeface="Lexend"/>
              <a:ea typeface="Lexend"/>
              <a:cs typeface="Lexend"/>
              <a:sym typeface="Lexend"/>
            </a:endParaRPr>
          </a:p>
        </p:txBody>
      </p:sp>
      <p:grpSp>
        <p:nvGrpSpPr>
          <p:cNvPr id="780" name="Google Shape;780;p67"/>
          <p:cNvGrpSpPr/>
          <p:nvPr/>
        </p:nvGrpSpPr>
        <p:grpSpPr>
          <a:xfrm>
            <a:off x="2068744" y="3262925"/>
            <a:ext cx="3815850" cy="639150"/>
            <a:chOff x="1459144" y="2424725"/>
            <a:chExt cx="3815850" cy="639150"/>
          </a:xfrm>
        </p:grpSpPr>
        <p:sp>
          <p:nvSpPr>
            <p:cNvPr id="781" name="Google Shape;781;p67"/>
            <p:cNvSpPr/>
            <p:nvPr/>
          </p:nvSpPr>
          <p:spPr>
            <a:xfrm>
              <a:off x="4592194" y="242472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82" name="Google Shape;782;p67"/>
            <p:cNvSpPr/>
            <p:nvPr/>
          </p:nvSpPr>
          <p:spPr>
            <a:xfrm>
              <a:off x="1459144" y="277377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grpSp>
      <p:sp>
        <p:nvSpPr>
          <p:cNvPr id="783" name="Google Shape;783;p67"/>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784" name="Google Shape;784;p67"/>
          <p:cNvSpPr txBox="1"/>
          <p:nvPr/>
        </p:nvSpPr>
        <p:spPr>
          <a:xfrm>
            <a:off x="70798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a:solidFill>
                  <a:schemeClr val="dk1"/>
                </a:solidFill>
                <a:latin typeface="Lexend"/>
                <a:ea typeface="Lexend"/>
                <a:cs typeface="Lexend"/>
                <a:sym typeface="Lexend"/>
              </a:rPr>
              <a:t>0.67 × </a:t>
            </a:r>
            <a:r>
              <a:rPr lang="en-GB">
                <a:latin typeface="Lexend"/>
                <a:ea typeface="Lexend"/>
                <a:cs typeface="Lexend"/>
                <a:sym typeface="Lexend"/>
              </a:rPr>
              <a:t>12</a:t>
            </a:r>
            <a:endParaRPr>
              <a:latin typeface="Lexend"/>
              <a:ea typeface="Lexend"/>
              <a:cs typeface="Lexend"/>
              <a:sym typeface="Lexend"/>
            </a:endParaRPr>
          </a:p>
        </p:txBody>
      </p:sp>
      <p:sp>
        <p:nvSpPr>
          <p:cNvPr id="785" name="Google Shape;785;p67"/>
          <p:cNvSpPr txBox="1"/>
          <p:nvPr/>
        </p:nvSpPr>
        <p:spPr>
          <a:xfrm>
            <a:off x="70798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0.67</a:t>
            </a:r>
            <a:endParaRPr sz="1800">
              <a:latin typeface="Lexend"/>
              <a:ea typeface="Lexend"/>
              <a:cs typeface="Lexend"/>
              <a:sym typeface="Lexend"/>
            </a:endParaRPr>
          </a:p>
        </p:txBody>
      </p:sp>
      <p:sp>
        <p:nvSpPr>
          <p:cNvPr id="786" name="Google Shape;786;p67"/>
          <p:cNvSpPr txBox="1"/>
          <p:nvPr/>
        </p:nvSpPr>
        <p:spPr>
          <a:xfrm>
            <a:off x="70798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8.04</a:t>
            </a:r>
            <a:endParaRPr sz="1800">
              <a:latin typeface="Lexend"/>
              <a:ea typeface="Lexend"/>
              <a:cs typeface="Lexend"/>
              <a:sym typeface="Lexend"/>
            </a:endParaRPr>
          </a:p>
        </p:txBody>
      </p:sp>
      <p:sp>
        <p:nvSpPr>
          <p:cNvPr id="787" name="Google Shape;787;p67"/>
          <p:cNvSpPr/>
          <p:nvPr/>
        </p:nvSpPr>
        <p:spPr>
          <a:xfrm>
            <a:off x="576950" y="3658366"/>
            <a:ext cx="586500" cy="554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88" name="Google Shape;788;p67"/>
          <p:cNvSpPr txBox="1"/>
          <p:nvPr/>
        </p:nvSpPr>
        <p:spPr>
          <a:xfrm>
            <a:off x="5191356" y="32782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12 cm</a:t>
            </a:r>
            <a:endParaRPr sz="1800">
              <a:latin typeface="Lexend"/>
              <a:ea typeface="Lexend"/>
              <a:cs typeface="Lexend"/>
              <a:sym typeface="Lexend"/>
            </a:endParaRPr>
          </a:p>
        </p:txBody>
      </p:sp>
      <p:sp>
        <p:nvSpPr>
          <p:cNvPr id="789" name="Google Shape;789;p6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790" name="Google Shape;790;p67"/>
          <p:cNvSpPr txBox="1"/>
          <p:nvPr/>
        </p:nvSpPr>
        <p:spPr>
          <a:xfrm>
            <a:off x="324000" y="610600"/>
            <a:ext cx="8496000" cy="1200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know that these two triangles are similar, as two of the angles in one triangle are equal to two angles in the other.</a:t>
            </a:r>
            <a:endParaRPr sz="1800">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t/>
            </a:r>
            <a:endParaRPr sz="1000">
              <a:latin typeface="Lexend"/>
              <a:ea typeface="Lexend"/>
              <a:cs typeface="Lexend"/>
              <a:sym typeface="Lexend"/>
            </a:endParaRPr>
          </a:p>
          <a:p>
            <a:pPr indent="0" lvl="0" marL="0" rtl="0" algn="l">
              <a:lnSpc>
                <a:spcPct val="80000"/>
              </a:lnSpc>
              <a:spcBef>
                <a:spcPts val="0"/>
              </a:spcBef>
              <a:spcAft>
                <a:spcPts val="0"/>
              </a:spcAft>
              <a:buClr>
                <a:srgbClr val="000000"/>
              </a:buClr>
              <a:buSzPts val="1100"/>
              <a:buFont typeface="Arial"/>
              <a:buNone/>
            </a:pPr>
            <a:r>
              <a:rPr lang="en-GB" sz="1800">
                <a:latin typeface="Lexend"/>
                <a:ea typeface="Lexend"/>
                <a:cs typeface="Lexend"/>
                <a:sym typeface="Lexend"/>
              </a:rPr>
              <a:t>We can find the length of the side                                                                            </a:t>
            </a:r>
            <a:r>
              <a:rPr lang="en-GB" sz="1800">
                <a:solidFill>
                  <a:schemeClr val="dk1"/>
                </a:solidFill>
                <a:latin typeface="Lexend"/>
                <a:ea typeface="Lexend"/>
                <a:cs typeface="Lexend"/>
                <a:sym typeface="Lexend"/>
              </a:rPr>
              <a:t>labelled</a:t>
            </a: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by using a ratio table.</a:t>
            </a:r>
            <a:endParaRPr sz="1800">
              <a:latin typeface="Lexend"/>
              <a:ea typeface="Lexend"/>
              <a:cs typeface="Lexend"/>
              <a:sym typeface="Lexend"/>
            </a:endParaRPr>
          </a:p>
        </p:txBody>
      </p:sp>
      <p:sp>
        <p:nvSpPr>
          <p:cNvPr id="791" name="Google Shape;791;p67"/>
          <p:cNvSpPr txBox="1"/>
          <p:nvPr/>
        </p:nvSpPr>
        <p:spPr>
          <a:xfrm>
            <a:off x="2103558" y="3669575"/>
            <a:ext cx="613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sp>
        <p:nvSpPr>
          <p:cNvPr id="792" name="Google Shape;792;p67"/>
          <p:cNvSpPr/>
          <p:nvPr/>
        </p:nvSpPr>
        <p:spPr>
          <a:xfrm>
            <a:off x="5376937" y="38709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3" name="Google Shape;793;p67"/>
          <p:cNvSpPr/>
          <p:nvPr/>
        </p:nvSpPr>
        <p:spPr>
          <a:xfrm>
            <a:off x="4199604" y="26842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4" name="Google Shape;794;p67"/>
          <p:cNvSpPr/>
          <p:nvPr/>
        </p:nvSpPr>
        <p:spPr>
          <a:xfrm>
            <a:off x="1852985" y="3854025"/>
            <a:ext cx="1196400" cy="11964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5" name="Google Shape;795;p67"/>
          <p:cNvSpPr/>
          <p:nvPr/>
        </p:nvSpPr>
        <p:spPr>
          <a:xfrm>
            <a:off x="4199604" y="41369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96" name="Google Shape;796;p67"/>
          <p:cNvCxnSpPr/>
          <p:nvPr/>
        </p:nvCxnSpPr>
        <p:spPr>
          <a:xfrm>
            <a:off x="4277510" y="2606301"/>
            <a:ext cx="1795800" cy="1795800"/>
          </a:xfrm>
          <a:prstGeom prst="straightConnector1">
            <a:avLst/>
          </a:prstGeom>
          <a:noFill/>
          <a:ln cap="flat" cmpd="sng" w="28575">
            <a:solidFill>
              <a:srgbClr val="845AD9"/>
            </a:solidFill>
            <a:prstDash val="solid"/>
            <a:round/>
            <a:headEnd len="med" w="med" type="triangle"/>
            <a:tailEnd len="med" w="med" type="triangle"/>
          </a:ln>
        </p:spPr>
      </p:cxnSp>
      <p:cxnSp>
        <p:nvCxnSpPr>
          <p:cNvPr id="797" name="Google Shape;797;p67"/>
          <p:cNvCxnSpPr/>
          <p:nvPr/>
        </p:nvCxnSpPr>
        <p:spPr>
          <a:xfrm>
            <a:off x="4056027" y="26842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798" name="Google Shape;798;p67"/>
          <p:cNvSpPr txBox="1"/>
          <p:nvPr/>
        </p:nvSpPr>
        <p:spPr>
          <a:xfrm>
            <a:off x="5370689" y="42346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799" name="Google Shape;799;p67"/>
          <p:cNvSpPr/>
          <p:nvPr/>
        </p:nvSpPr>
        <p:spPr>
          <a:xfrm>
            <a:off x="1297987" y="4236362"/>
            <a:ext cx="222900" cy="222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0" name="Google Shape;800;p67"/>
          <p:cNvCxnSpPr/>
          <p:nvPr/>
        </p:nvCxnSpPr>
        <p:spPr>
          <a:xfrm>
            <a:off x="1433879" y="3156975"/>
            <a:ext cx="1166100" cy="1166100"/>
          </a:xfrm>
          <a:prstGeom prst="straightConnector1">
            <a:avLst/>
          </a:prstGeom>
          <a:noFill/>
          <a:ln cap="flat" cmpd="sng" w="28575">
            <a:solidFill>
              <a:srgbClr val="845AD9"/>
            </a:solidFill>
            <a:prstDash val="solid"/>
            <a:round/>
            <a:headEnd len="med" w="med" type="triangle"/>
            <a:tailEnd len="med" w="med" type="triangle"/>
          </a:ln>
        </p:spPr>
      </p:cxnSp>
      <p:cxnSp>
        <p:nvCxnSpPr>
          <p:cNvPr id="801" name="Google Shape;801;p67"/>
          <p:cNvCxnSpPr/>
          <p:nvPr/>
        </p:nvCxnSpPr>
        <p:spPr>
          <a:xfrm>
            <a:off x="1162094" y="3292868"/>
            <a:ext cx="0" cy="1170600"/>
          </a:xfrm>
          <a:prstGeom prst="straightConnector1">
            <a:avLst/>
          </a:prstGeom>
          <a:noFill/>
          <a:ln cap="flat" cmpd="sng" w="28575">
            <a:solidFill>
              <a:srgbClr val="845AD9"/>
            </a:solidFill>
            <a:prstDash val="solid"/>
            <a:round/>
            <a:headEnd len="med" w="med" type="triangle"/>
            <a:tailEnd len="med" w="med" type="triangle"/>
          </a:ln>
        </p:spPr>
      </p:cxnSp>
      <p:sp>
        <p:nvSpPr>
          <p:cNvPr id="802" name="Google Shape;802;p67"/>
          <p:cNvSpPr txBox="1"/>
          <p:nvPr/>
        </p:nvSpPr>
        <p:spPr>
          <a:xfrm>
            <a:off x="1851746" y="4243588"/>
            <a:ext cx="457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grpSp>
        <p:nvGrpSpPr>
          <p:cNvPr id="803" name="Google Shape;803;p67"/>
          <p:cNvGrpSpPr/>
          <p:nvPr/>
        </p:nvGrpSpPr>
        <p:grpSpPr>
          <a:xfrm>
            <a:off x="1994044" y="2463784"/>
            <a:ext cx="1640399" cy="498127"/>
            <a:chOff x="5007400" y="2284700"/>
            <a:chExt cx="1640399" cy="498127"/>
          </a:xfrm>
        </p:grpSpPr>
        <p:sp>
          <p:nvSpPr>
            <p:cNvPr id="804" name="Google Shape;804;p67"/>
            <p:cNvSpPr/>
            <p:nvPr/>
          </p:nvSpPr>
          <p:spPr>
            <a:xfrm flipH="1" rot="-5400000">
              <a:off x="5735112" y="1870139"/>
              <a:ext cx="184976" cy="1640399"/>
            </a:xfrm>
            <a:custGeom>
              <a:rect b="b" l="l" r="r" t="t"/>
              <a:pathLst>
                <a:path extrusionOk="0" h="30529" w="2102">
                  <a:moveTo>
                    <a:pt x="2102" y="0"/>
                  </a:moveTo>
                  <a:cubicBezTo>
                    <a:pt x="1752" y="2548"/>
                    <a:pt x="9" y="10201"/>
                    <a:pt x="1" y="15289"/>
                  </a:cubicBezTo>
                  <a:cubicBezTo>
                    <a:pt x="-7" y="20377"/>
                    <a:pt x="1711" y="27989"/>
                    <a:pt x="2053" y="30529"/>
                  </a:cubicBezTo>
                </a:path>
              </a:pathLst>
            </a:custGeom>
            <a:noFill/>
            <a:ln cap="flat" cmpd="sng" w="28575">
              <a:solidFill>
                <a:srgbClr val="000000"/>
              </a:solidFill>
              <a:prstDash val="solid"/>
              <a:round/>
              <a:headEnd len="med" w="med" type="none"/>
              <a:tailEnd len="med" w="med" type="triangle"/>
            </a:ln>
          </p:spPr>
        </p:sp>
        <p:sp>
          <p:nvSpPr>
            <p:cNvPr id="805" name="Google Shape;805;p67"/>
            <p:cNvSpPr txBox="1"/>
            <p:nvPr/>
          </p:nvSpPr>
          <p:spPr>
            <a:xfrm>
              <a:off x="5190550" y="2284700"/>
              <a:ext cx="127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12</a:t>
              </a:r>
              <a:endParaRPr sz="1800">
                <a:latin typeface="Lexend"/>
                <a:ea typeface="Lexend"/>
                <a:cs typeface="Lexend"/>
                <a:sym typeface="Lexend"/>
              </a:endParaRPr>
            </a:p>
          </p:txBody>
        </p:sp>
      </p:grpSp>
      <p:sp>
        <p:nvSpPr>
          <p:cNvPr id="806" name="Google Shape;806;p67"/>
          <p:cNvSpPr txBox="1"/>
          <p:nvPr/>
        </p:nvSpPr>
        <p:spPr>
          <a:xfrm>
            <a:off x="620274" y="3859175"/>
            <a:ext cx="499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0.67 cm</a:t>
            </a:r>
            <a:endParaRPr sz="1800">
              <a:latin typeface="Lexend"/>
              <a:ea typeface="Lexend"/>
              <a:cs typeface="Lexend"/>
              <a:sym typeface="Lexend"/>
            </a:endParaRPr>
          </a:p>
        </p:txBody>
      </p:sp>
      <p:sp>
        <p:nvSpPr>
          <p:cNvPr id="807" name="Google Shape;807;p67"/>
          <p:cNvSpPr/>
          <p:nvPr/>
        </p:nvSpPr>
        <p:spPr>
          <a:xfrm>
            <a:off x="1297987" y="3292868"/>
            <a:ext cx="1166400" cy="1166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08" name="Google Shape;808;p67"/>
          <p:cNvGrpSpPr/>
          <p:nvPr/>
        </p:nvGrpSpPr>
        <p:grpSpPr>
          <a:xfrm>
            <a:off x="6740300" y="2944400"/>
            <a:ext cx="864600" cy="472229"/>
            <a:chOff x="7045100" y="3173000"/>
            <a:chExt cx="864600" cy="472229"/>
          </a:xfrm>
        </p:grpSpPr>
        <p:sp>
          <p:nvSpPr>
            <p:cNvPr id="809" name="Google Shape;809;p67"/>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10" name="Google Shape;810;p67"/>
            <p:cNvSpPr txBox="1"/>
            <p:nvPr/>
          </p:nvSpPr>
          <p:spPr>
            <a:xfrm>
              <a:off x="7045100" y="3324529"/>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0.67</a:t>
              </a:r>
              <a:endParaRPr sz="1800">
                <a:solidFill>
                  <a:srgbClr val="000000"/>
                </a:solidFill>
                <a:latin typeface="Lexend"/>
                <a:ea typeface="Lexend"/>
                <a:cs typeface="Lexend"/>
                <a:sym typeface="Lexend"/>
              </a:endParaRPr>
            </a:p>
          </p:txBody>
        </p:sp>
      </p:grpSp>
      <p:grpSp>
        <p:nvGrpSpPr>
          <p:cNvPr id="811" name="Google Shape;811;p67"/>
          <p:cNvGrpSpPr/>
          <p:nvPr/>
        </p:nvGrpSpPr>
        <p:grpSpPr>
          <a:xfrm>
            <a:off x="6740300" y="1339929"/>
            <a:ext cx="864600" cy="450596"/>
            <a:chOff x="7045100" y="1568529"/>
            <a:chExt cx="864600" cy="450596"/>
          </a:xfrm>
        </p:grpSpPr>
        <p:sp>
          <p:nvSpPr>
            <p:cNvPr id="812" name="Google Shape;812;p67"/>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13" name="Google Shape;813;p67"/>
            <p:cNvSpPr txBox="1"/>
            <p:nvPr/>
          </p:nvSpPr>
          <p:spPr>
            <a:xfrm>
              <a:off x="7045100" y="1568529"/>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0.67</a:t>
              </a:r>
              <a:endParaRPr sz="1800">
                <a:solidFill>
                  <a:srgbClr val="000000"/>
                </a:solidFill>
                <a:latin typeface="Lexend"/>
                <a:ea typeface="Lexend"/>
                <a:cs typeface="Lexend"/>
                <a:sym typeface="Lexend"/>
              </a:endParaRPr>
            </a:p>
          </p:txBody>
        </p:sp>
      </p:grpSp>
      <p:grpSp>
        <p:nvGrpSpPr>
          <p:cNvPr id="814" name="Google Shape;814;p67"/>
          <p:cNvGrpSpPr/>
          <p:nvPr/>
        </p:nvGrpSpPr>
        <p:grpSpPr>
          <a:xfrm>
            <a:off x="5619501" y="2080125"/>
            <a:ext cx="2895578" cy="582538"/>
            <a:chOff x="5924301" y="2308725"/>
            <a:chExt cx="2895578" cy="582538"/>
          </a:xfrm>
        </p:grpSpPr>
        <p:sp>
          <p:nvSpPr>
            <p:cNvPr id="815" name="Google Shape;815;p67"/>
            <p:cNvSpPr/>
            <p:nvPr/>
          </p:nvSpPr>
          <p:spPr>
            <a:xfrm flipH="1">
              <a:off x="819662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816" name="Google Shape;816;p67"/>
            <p:cNvGrpSpPr/>
            <p:nvPr/>
          </p:nvGrpSpPr>
          <p:grpSpPr>
            <a:xfrm>
              <a:off x="5924301" y="2308738"/>
              <a:ext cx="646319" cy="582525"/>
              <a:chOff x="5924301" y="2308738"/>
              <a:chExt cx="646319" cy="582525"/>
            </a:xfrm>
          </p:grpSpPr>
          <p:sp>
            <p:nvSpPr>
              <p:cNvPr id="817" name="Google Shape;817;p67"/>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818" name="Google Shape;818;p67"/>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12</a:t>
                </a:r>
                <a:endParaRPr sz="1800">
                  <a:solidFill>
                    <a:srgbClr val="000000"/>
                  </a:solidFill>
                  <a:latin typeface="Lexend"/>
                  <a:ea typeface="Lexend"/>
                  <a:cs typeface="Lexend"/>
                  <a:sym typeface="Lexend"/>
                </a:endParaRPr>
              </a:p>
            </p:txBody>
          </p:sp>
        </p:grpSp>
        <p:sp>
          <p:nvSpPr>
            <p:cNvPr id="819" name="Google Shape;819;p67"/>
            <p:cNvSpPr txBox="1"/>
            <p:nvPr/>
          </p:nvSpPr>
          <p:spPr>
            <a:xfrm>
              <a:off x="8379179"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12</a:t>
              </a:r>
              <a:endParaRPr sz="1800">
                <a:solidFill>
                  <a:srgbClr val="000000"/>
                </a:solidFill>
                <a:latin typeface="Lexend"/>
                <a:ea typeface="Lexend"/>
                <a:cs typeface="Lexend"/>
                <a:sym typeface="Lexend"/>
              </a:endParaRPr>
            </a:p>
          </p:txBody>
        </p:sp>
      </p:grpSp>
      <p:sp>
        <p:nvSpPr>
          <p:cNvPr id="820" name="Google Shape;820;p67"/>
          <p:cNvSpPr txBox="1"/>
          <p:nvPr/>
        </p:nvSpPr>
        <p:spPr>
          <a:xfrm>
            <a:off x="3409019" y="3450750"/>
            <a:ext cx="682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821" name="Google Shape;821;p67"/>
          <p:cNvSpPr txBox="1"/>
          <p:nvPr/>
        </p:nvSpPr>
        <p:spPr>
          <a:xfrm>
            <a:off x="3137495" y="3422350"/>
            <a:ext cx="8865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8.04 cm</a:t>
            </a:r>
            <a:endParaRPr sz="1800">
              <a:latin typeface="Lexend"/>
              <a:ea typeface="Lexend"/>
              <a:cs typeface="Lexend"/>
              <a:sym typeface="Lexend"/>
            </a:endParaRPr>
          </a:p>
        </p:txBody>
      </p:sp>
      <p:graphicFrame>
        <p:nvGraphicFramePr>
          <p:cNvPr id="822" name="Google Shape;822;p67"/>
          <p:cNvGraphicFramePr/>
          <p:nvPr/>
        </p:nvGraphicFramePr>
        <p:xfrm>
          <a:off x="6351765" y="1882150"/>
          <a:ext cx="3000000" cy="3000000"/>
        </p:xfrm>
        <a:graphic>
          <a:graphicData uri="http://schemas.openxmlformats.org/drawingml/2006/table">
            <a:tbl>
              <a:tblPr>
                <a:noFill/>
                <a:tableStyleId>{140229F6-0499-4A87-8D2B-F91EDD23A504}</a:tableStyleId>
              </a:tblPr>
              <a:tblGrid>
                <a:gridCol w="725975"/>
                <a:gridCol w="7281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8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8"/>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sp>
        <p:nvSpPr>
          <p:cNvPr id="828" name="Google Shape;828;p68"/>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29" name="Google Shape;829;p68"/>
          <p:cNvSpPr txBox="1"/>
          <p:nvPr/>
        </p:nvSpPr>
        <p:spPr>
          <a:xfrm>
            <a:off x="7077775" y="18782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30" name="Google Shape;830;p68"/>
          <p:cNvSpPr txBox="1"/>
          <p:nvPr/>
        </p:nvSpPr>
        <p:spPr>
          <a:xfrm>
            <a:off x="6979500" y="2367425"/>
            <a:ext cx="12951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sp>
        <p:nvSpPr>
          <p:cNvPr id="831" name="Google Shape;831;p68"/>
          <p:cNvSpPr txBox="1"/>
          <p:nvPr/>
        </p:nvSpPr>
        <p:spPr>
          <a:xfrm>
            <a:off x="7077775" y="23674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i="1" sz="2200">
              <a:solidFill>
                <a:schemeClr val="dk1"/>
              </a:solidFill>
              <a:latin typeface="Times New Roman"/>
              <a:ea typeface="Times New Roman"/>
              <a:cs typeface="Times New Roman"/>
              <a:sym typeface="Times New Roman"/>
            </a:endParaRPr>
          </a:p>
        </p:txBody>
      </p:sp>
      <p:graphicFrame>
        <p:nvGraphicFramePr>
          <p:cNvPr id="832" name="Google Shape;832;p68"/>
          <p:cNvGraphicFramePr/>
          <p:nvPr/>
        </p:nvGraphicFramePr>
        <p:xfrm>
          <a:off x="6351765" y="1882150"/>
          <a:ext cx="3000000" cy="3000000"/>
        </p:xfrm>
        <a:graphic>
          <a:graphicData uri="http://schemas.openxmlformats.org/drawingml/2006/table">
            <a:tbl>
              <a:tblPr>
                <a:noFill/>
                <a:tableStyleId>{140229F6-0499-4A87-8D2B-F91EDD23A504}</a:tableStyleId>
              </a:tblPr>
              <a:tblGrid>
                <a:gridCol w="567700"/>
                <a:gridCol w="1278500"/>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833" name="Google Shape;833;p68"/>
          <p:cNvSpPr txBox="1"/>
          <p:nvPr/>
        </p:nvSpPr>
        <p:spPr>
          <a:xfrm>
            <a:off x="3360324" y="3450750"/>
            <a:ext cx="682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sz="1800">
              <a:solidFill>
                <a:schemeClr val="accent4"/>
              </a:solidFill>
              <a:latin typeface="Lexend"/>
              <a:ea typeface="Lexend"/>
              <a:cs typeface="Lexend"/>
              <a:sym typeface="Lexend"/>
            </a:endParaRPr>
          </a:p>
        </p:txBody>
      </p:sp>
      <p:sp>
        <p:nvSpPr>
          <p:cNvPr id="834" name="Google Shape;834;p68"/>
          <p:cNvSpPr txBox="1"/>
          <p:nvPr/>
        </p:nvSpPr>
        <p:spPr>
          <a:xfrm>
            <a:off x="2805676" y="3409550"/>
            <a:ext cx="12492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35" name="Google Shape;835;p68"/>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also generalise this process to any right-angled triangle that has an angle </a:t>
            </a:r>
            <a:r>
              <a:rPr i="1" lang="en-GB" sz="1800">
                <a:latin typeface="Lexend"/>
                <a:ea typeface="Lexend"/>
                <a:cs typeface="Lexend"/>
                <a:sym typeface="Lexend"/>
              </a:rPr>
              <a:t>θ</a:t>
            </a:r>
            <a:r>
              <a:rPr lang="en-GB" sz="1800">
                <a:latin typeface="Lexend"/>
                <a:ea typeface="Lexend"/>
                <a:cs typeface="Lexend"/>
                <a:sym typeface="Lexend"/>
              </a:rPr>
              <a:t>°, where the side </a:t>
            </a:r>
            <a:r>
              <a:rPr lang="en-GB" sz="1800">
                <a:solidFill>
                  <a:schemeClr val="accent4"/>
                </a:solidFill>
                <a:latin typeface="Lexend"/>
                <a:ea typeface="Lexend"/>
                <a:cs typeface="Lexend"/>
                <a:sym typeface="Lexend"/>
              </a:rPr>
              <a:t>opposite</a:t>
            </a:r>
            <a:r>
              <a:rPr lang="en-GB" sz="1800">
                <a:latin typeface="Lexend"/>
                <a:ea typeface="Lexend"/>
                <a:cs typeface="Lexend"/>
                <a:sym typeface="Lexend"/>
              </a:rPr>
              <a:t>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r>
              <a:rPr lang="en-GB" sz="1800">
                <a:latin typeface="Lexend"/>
                <a:ea typeface="Lexend"/>
                <a:cs typeface="Lexend"/>
                <a:sym typeface="Lexend"/>
              </a:rPr>
              <a:t>has </a:t>
            </a:r>
            <a:r>
              <a:rPr lang="en-GB" sz="1800">
                <a:latin typeface="Lexend"/>
                <a:ea typeface="Lexend"/>
                <a:cs typeface="Lexend"/>
                <a:sym typeface="Lexend"/>
              </a:rPr>
              <a:t>length </a:t>
            </a:r>
            <a:r>
              <a:rPr lang="en-GB" sz="2200">
                <a:latin typeface="Times New Roman"/>
                <a:ea typeface="Times New Roman"/>
                <a:cs typeface="Times New Roman"/>
                <a:sym typeface="Times New Roman"/>
              </a:rPr>
              <a:t>sin</a:t>
            </a:r>
            <a:r>
              <a:rPr lang="en-GB" sz="1800">
                <a:latin typeface="Lexend"/>
                <a:ea typeface="Lexend"/>
                <a:cs typeface="Lexend"/>
                <a:sym typeface="Lexend"/>
              </a:rPr>
              <a:t>(</a:t>
            </a:r>
            <a:r>
              <a:rPr i="1" lang="en-GB" sz="1800">
                <a:latin typeface="Lexend"/>
                <a:ea typeface="Lexend"/>
                <a:cs typeface="Lexend"/>
                <a:sym typeface="Lexend"/>
              </a:rPr>
              <a:t>θ</a:t>
            </a:r>
            <a:r>
              <a:rPr lang="en-GB" sz="1800">
                <a:latin typeface="Lexend"/>
                <a:ea typeface="Lexend"/>
                <a:cs typeface="Lexend"/>
                <a:sym typeface="Lexend"/>
              </a:rPr>
              <a:t>°). </a:t>
            </a:r>
            <a:endParaRPr sz="1800">
              <a:latin typeface="Lexend"/>
              <a:ea typeface="Lexend"/>
              <a:cs typeface="Lexend"/>
              <a:sym typeface="Lexend"/>
            </a:endParaRPr>
          </a:p>
        </p:txBody>
      </p:sp>
      <p:grpSp>
        <p:nvGrpSpPr>
          <p:cNvPr id="836" name="Google Shape;836;p68"/>
          <p:cNvGrpSpPr/>
          <p:nvPr/>
        </p:nvGrpSpPr>
        <p:grpSpPr>
          <a:xfrm>
            <a:off x="2068744" y="3262925"/>
            <a:ext cx="3815850" cy="639150"/>
            <a:chOff x="1459144" y="2424725"/>
            <a:chExt cx="3815850" cy="639150"/>
          </a:xfrm>
        </p:grpSpPr>
        <p:sp>
          <p:nvSpPr>
            <p:cNvPr id="837" name="Google Shape;837;p68"/>
            <p:cNvSpPr/>
            <p:nvPr/>
          </p:nvSpPr>
          <p:spPr>
            <a:xfrm>
              <a:off x="4592194" y="242472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38" name="Google Shape;838;p68"/>
            <p:cNvSpPr/>
            <p:nvPr/>
          </p:nvSpPr>
          <p:spPr>
            <a:xfrm>
              <a:off x="1459144" y="277377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grpSp>
      <p:sp>
        <p:nvSpPr>
          <p:cNvPr id="839" name="Google Shape;839;p68"/>
          <p:cNvSpPr/>
          <p:nvPr/>
        </p:nvSpPr>
        <p:spPr>
          <a:xfrm>
            <a:off x="324000" y="3756446"/>
            <a:ext cx="839400" cy="3888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40" name="Google Shape;840;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841" name="Google Shape;841;p68"/>
          <p:cNvSpPr txBox="1"/>
          <p:nvPr/>
        </p:nvSpPr>
        <p:spPr>
          <a:xfrm>
            <a:off x="2103558" y="3669575"/>
            <a:ext cx="613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sp>
        <p:nvSpPr>
          <p:cNvPr id="842" name="Google Shape;842;p68"/>
          <p:cNvSpPr/>
          <p:nvPr/>
        </p:nvSpPr>
        <p:spPr>
          <a:xfrm>
            <a:off x="5376937" y="38709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3" name="Google Shape;843;p68"/>
          <p:cNvSpPr/>
          <p:nvPr/>
        </p:nvSpPr>
        <p:spPr>
          <a:xfrm>
            <a:off x="4199604" y="26842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4" name="Google Shape;844;p68"/>
          <p:cNvSpPr/>
          <p:nvPr/>
        </p:nvSpPr>
        <p:spPr>
          <a:xfrm>
            <a:off x="1852985" y="3854025"/>
            <a:ext cx="1196400" cy="11964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68"/>
          <p:cNvSpPr/>
          <p:nvPr/>
        </p:nvSpPr>
        <p:spPr>
          <a:xfrm>
            <a:off x="4199604" y="41369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6" name="Google Shape;846;p68"/>
          <p:cNvCxnSpPr/>
          <p:nvPr/>
        </p:nvCxnSpPr>
        <p:spPr>
          <a:xfrm>
            <a:off x="4277510" y="2606301"/>
            <a:ext cx="1795800" cy="1795800"/>
          </a:xfrm>
          <a:prstGeom prst="straightConnector1">
            <a:avLst/>
          </a:prstGeom>
          <a:noFill/>
          <a:ln cap="flat" cmpd="sng" w="28575">
            <a:solidFill>
              <a:srgbClr val="845AD9"/>
            </a:solidFill>
            <a:prstDash val="solid"/>
            <a:round/>
            <a:headEnd len="med" w="med" type="triangle"/>
            <a:tailEnd len="med" w="med" type="triangle"/>
          </a:ln>
        </p:spPr>
      </p:cxnSp>
      <p:cxnSp>
        <p:nvCxnSpPr>
          <p:cNvPr id="847" name="Google Shape;847;p68"/>
          <p:cNvCxnSpPr/>
          <p:nvPr/>
        </p:nvCxnSpPr>
        <p:spPr>
          <a:xfrm>
            <a:off x="4056027" y="26842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848" name="Google Shape;848;p68"/>
          <p:cNvSpPr txBox="1"/>
          <p:nvPr/>
        </p:nvSpPr>
        <p:spPr>
          <a:xfrm>
            <a:off x="5370689" y="42346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49" name="Google Shape;849;p68"/>
          <p:cNvSpPr/>
          <p:nvPr/>
        </p:nvSpPr>
        <p:spPr>
          <a:xfrm>
            <a:off x="1297987" y="4236362"/>
            <a:ext cx="222900" cy="222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0" name="Google Shape;850;p68"/>
          <p:cNvCxnSpPr/>
          <p:nvPr/>
        </p:nvCxnSpPr>
        <p:spPr>
          <a:xfrm>
            <a:off x="1433879" y="3156975"/>
            <a:ext cx="1166100" cy="1166100"/>
          </a:xfrm>
          <a:prstGeom prst="straightConnector1">
            <a:avLst/>
          </a:prstGeom>
          <a:noFill/>
          <a:ln cap="flat" cmpd="sng" w="28575">
            <a:solidFill>
              <a:srgbClr val="845AD9"/>
            </a:solidFill>
            <a:prstDash val="solid"/>
            <a:round/>
            <a:headEnd len="med" w="med" type="triangle"/>
            <a:tailEnd len="med" w="med" type="triangle"/>
          </a:ln>
        </p:spPr>
      </p:cxnSp>
      <p:cxnSp>
        <p:nvCxnSpPr>
          <p:cNvPr id="851" name="Google Shape;851;p68"/>
          <p:cNvCxnSpPr/>
          <p:nvPr/>
        </p:nvCxnSpPr>
        <p:spPr>
          <a:xfrm>
            <a:off x="1162094" y="3292868"/>
            <a:ext cx="0" cy="1170600"/>
          </a:xfrm>
          <a:prstGeom prst="straightConnector1">
            <a:avLst/>
          </a:prstGeom>
          <a:noFill/>
          <a:ln cap="flat" cmpd="sng" w="28575">
            <a:solidFill>
              <a:srgbClr val="845AD9"/>
            </a:solidFill>
            <a:prstDash val="solid"/>
            <a:round/>
            <a:headEnd len="med" w="med" type="triangle"/>
            <a:tailEnd len="med" w="med" type="triangle"/>
          </a:ln>
        </p:spPr>
      </p:cxnSp>
      <p:sp>
        <p:nvSpPr>
          <p:cNvPr id="852" name="Google Shape;852;p68"/>
          <p:cNvSpPr txBox="1"/>
          <p:nvPr/>
        </p:nvSpPr>
        <p:spPr>
          <a:xfrm>
            <a:off x="1851746" y="4243588"/>
            <a:ext cx="457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53" name="Google Shape;853;p68"/>
          <p:cNvGrpSpPr/>
          <p:nvPr/>
        </p:nvGrpSpPr>
        <p:grpSpPr>
          <a:xfrm>
            <a:off x="1765444" y="2463784"/>
            <a:ext cx="1640399" cy="498127"/>
            <a:chOff x="5007400" y="2284700"/>
            <a:chExt cx="1640399" cy="498127"/>
          </a:xfrm>
        </p:grpSpPr>
        <p:sp>
          <p:nvSpPr>
            <p:cNvPr id="854" name="Google Shape;854;p68"/>
            <p:cNvSpPr/>
            <p:nvPr/>
          </p:nvSpPr>
          <p:spPr>
            <a:xfrm flipH="1" rot="-5400000">
              <a:off x="5735112" y="1870139"/>
              <a:ext cx="184976" cy="1640399"/>
            </a:xfrm>
            <a:custGeom>
              <a:rect b="b" l="l" r="r" t="t"/>
              <a:pathLst>
                <a:path extrusionOk="0" h="30529" w="2102">
                  <a:moveTo>
                    <a:pt x="2102" y="0"/>
                  </a:moveTo>
                  <a:cubicBezTo>
                    <a:pt x="1752" y="2548"/>
                    <a:pt x="9" y="10201"/>
                    <a:pt x="1" y="15289"/>
                  </a:cubicBezTo>
                  <a:cubicBezTo>
                    <a:pt x="-7" y="20377"/>
                    <a:pt x="1711" y="27989"/>
                    <a:pt x="2053" y="30529"/>
                  </a:cubicBezTo>
                </a:path>
              </a:pathLst>
            </a:custGeom>
            <a:noFill/>
            <a:ln cap="flat" cmpd="sng" w="28575">
              <a:solidFill>
                <a:srgbClr val="000000"/>
              </a:solidFill>
              <a:prstDash val="solid"/>
              <a:round/>
              <a:headEnd len="med" w="med" type="none"/>
              <a:tailEnd len="med" w="med" type="triangle"/>
            </a:ln>
          </p:spPr>
        </p:sp>
        <p:sp>
          <p:nvSpPr>
            <p:cNvPr id="855" name="Google Shape;855;p68"/>
            <p:cNvSpPr txBox="1"/>
            <p:nvPr/>
          </p:nvSpPr>
          <p:spPr>
            <a:xfrm>
              <a:off x="5190550" y="2284700"/>
              <a:ext cx="12741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sp>
        <p:nvSpPr>
          <p:cNvPr id="856" name="Google Shape;856;p68"/>
          <p:cNvSpPr txBox="1"/>
          <p:nvPr/>
        </p:nvSpPr>
        <p:spPr>
          <a:xfrm>
            <a:off x="379571" y="3859175"/>
            <a:ext cx="796200" cy="17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57" name="Google Shape;857;p68"/>
          <p:cNvGrpSpPr/>
          <p:nvPr/>
        </p:nvGrpSpPr>
        <p:grpSpPr>
          <a:xfrm>
            <a:off x="6690475" y="2944400"/>
            <a:ext cx="964200" cy="472225"/>
            <a:chOff x="6995275" y="3173000"/>
            <a:chExt cx="964200" cy="472225"/>
          </a:xfrm>
        </p:grpSpPr>
        <p:sp>
          <p:nvSpPr>
            <p:cNvPr id="858" name="Google Shape;858;p68"/>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59" name="Google Shape;859;p68"/>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grpSp>
        <p:nvGrpSpPr>
          <p:cNvPr id="860" name="Google Shape;860;p68"/>
          <p:cNvGrpSpPr/>
          <p:nvPr/>
        </p:nvGrpSpPr>
        <p:grpSpPr>
          <a:xfrm>
            <a:off x="6705675" y="1339925"/>
            <a:ext cx="933900" cy="450600"/>
            <a:chOff x="7010475" y="1568525"/>
            <a:chExt cx="933900" cy="450600"/>
          </a:xfrm>
        </p:grpSpPr>
        <p:sp>
          <p:nvSpPr>
            <p:cNvPr id="861" name="Google Shape;861;p68"/>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62" name="Google Shape;862;p68"/>
            <p:cNvSpPr txBox="1"/>
            <p:nvPr/>
          </p:nvSpPr>
          <p:spPr>
            <a:xfrm>
              <a:off x="7010475" y="1568525"/>
              <a:ext cx="9339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grpSp>
        <p:nvGrpSpPr>
          <p:cNvPr id="863" name="Google Shape;863;p68"/>
          <p:cNvGrpSpPr/>
          <p:nvPr/>
        </p:nvGrpSpPr>
        <p:grpSpPr>
          <a:xfrm>
            <a:off x="5619501" y="2080125"/>
            <a:ext cx="3255198" cy="582538"/>
            <a:chOff x="5924301" y="2308725"/>
            <a:chExt cx="3255198" cy="582538"/>
          </a:xfrm>
        </p:grpSpPr>
        <p:sp>
          <p:nvSpPr>
            <p:cNvPr id="864" name="Google Shape;864;p68"/>
            <p:cNvSpPr/>
            <p:nvPr/>
          </p:nvSpPr>
          <p:spPr>
            <a:xfrm flipH="1">
              <a:off x="855624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865" name="Google Shape;865;p68"/>
            <p:cNvGrpSpPr/>
            <p:nvPr/>
          </p:nvGrpSpPr>
          <p:grpSpPr>
            <a:xfrm>
              <a:off x="5924301" y="2308738"/>
              <a:ext cx="646319" cy="582525"/>
              <a:chOff x="5924301" y="2308738"/>
              <a:chExt cx="646319" cy="582525"/>
            </a:xfrm>
          </p:grpSpPr>
          <p:sp>
            <p:nvSpPr>
              <p:cNvPr id="866" name="Google Shape;866;p68"/>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867" name="Google Shape;867;p68"/>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endParaRPr sz="1800">
                  <a:solidFill>
                    <a:srgbClr val="000000"/>
                  </a:solidFill>
                  <a:latin typeface="Lexend"/>
                  <a:ea typeface="Lexend"/>
                  <a:cs typeface="Lexend"/>
                  <a:sym typeface="Lexend"/>
                </a:endParaRPr>
              </a:p>
            </p:txBody>
          </p:sp>
        </p:grpSp>
        <p:sp>
          <p:nvSpPr>
            <p:cNvPr id="868" name="Google Shape;868;p68"/>
            <p:cNvSpPr txBox="1"/>
            <p:nvPr/>
          </p:nvSpPr>
          <p:spPr>
            <a:xfrm>
              <a:off x="8738799"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 </a:t>
              </a:r>
              <a:endParaRPr sz="1800">
                <a:solidFill>
                  <a:srgbClr val="000000"/>
                </a:solidFill>
                <a:latin typeface="Lexend"/>
                <a:ea typeface="Lexend"/>
                <a:cs typeface="Lexend"/>
                <a:sym typeface="Lexend"/>
              </a:endParaRPr>
            </a:p>
          </p:txBody>
        </p:sp>
      </p:grpSp>
      <p:sp>
        <p:nvSpPr>
          <p:cNvPr id="869" name="Google Shape;869;p68"/>
          <p:cNvSpPr/>
          <p:nvPr/>
        </p:nvSpPr>
        <p:spPr>
          <a:xfrm>
            <a:off x="1297987" y="3292868"/>
            <a:ext cx="1166400" cy="1166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0" name="Google Shape;870;p68"/>
          <p:cNvSpPr txBox="1"/>
          <p:nvPr/>
        </p:nvSpPr>
        <p:spPr>
          <a:xfrm>
            <a:off x="5191356" y="32782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cm</a:t>
            </a:r>
            <a:endParaRPr sz="1800">
              <a:latin typeface="Lexend"/>
              <a:ea typeface="Lexend"/>
              <a:cs typeface="Lexend"/>
              <a:sym typeface="Lexend"/>
            </a:endParaRPr>
          </a:p>
        </p:txBody>
      </p:sp>
      <p:sp>
        <p:nvSpPr>
          <p:cNvPr id="871" name="Google Shape;871;p68"/>
          <p:cNvSpPr/>
          <p:nvPr/>
        </p:nvSpPr>
        <p:spPr>
          <a:xfrm>
            <a:off x="3405850" y="3356800"/>
            <a:ext cx="650100" cy="3888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7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9"/>
          <p:cNvSpPr txBox="1"/>
          <p:nvPr/>
        </p:nvSpPr>
        <p:spPr>
          <a:xfrm>
            <a:off x="7021200" y="2345150"/>
            <a:ext cx="11676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i="1" sz="2200">
              <a:solidFill>
                <a:schemeClr val="dk1"/>
              </a:solidFill>
              <a:latin typeface="Times New Roman"/>
              <a:ea typeface="Times New Roman"/>
              <a:cs typeface="Times New Roman"/>
              <a:sym typeface="Times New Roman"/>
            </a:endParaRPr>
          </a:p>
        </p:txBody>
      </p:sp>
      <p:sp>
        <p:nvSpPr>
          <p:cNvPr id="877" name="Google Shape;877;p69"/>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sp>
        <p:nvSpPr>
          <p:cNvPr id="878" name="Google Shape;878;p69"/>
          <p:cNvSpPr txBox="1"/>
          <p:nvPr/>
        </p:nvSpPr>
        <p:spPr>
          <a:xfrm>
            <a:off x="7077775" y="18782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79" name="Google Shape;879;p69"/>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80" name="Google Shape;880;p69"/>
          <p:cNvSpPr txBox="1"/>
          <p:nvPr/>
        </p:nvSpPr>
        <p:spPr>
          <a:xfrm>
            <a:off x="6941400" y="2367425"/>
            <a:ext cx="1327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graphicFrame>
        <p:nvGraphicFramePr>
          <p:cNvPr id="881" name="Google Shape;881;p69"/>
          <p:cNvGraphicFramePr/>
          <p:nvPr/>
        </p:nvGraphicFramePr>
        <p:xfrm>
          <a:off x="6351765" y="1882150"/>
          <a:ext cx="3000000" cy="3000000"/>
        </p:xfrm>
        <a:graphic>
          <a:graphicData uri="http://schemas.openxmlformats.org/drawingml/2006/table">
            <a:tbl>
              <a:tblPr>
                <a:noFill/>
                <a:tableStyleId>{140229F6-0499-4A87-8D2B-F91EDD23A504}</a:tableStyleId>
              </a:tblPr>
              <a:tblGrid>
                <a:gridCol w="560525"/>
                <a:gridCol w="128567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882" name="Google Shape;882;p69"/>
          <p:cNvSpPr txBox="1"/>
          <p:nvPr/>
        </p:nvSpPr>
        <p:spPr>
          <a:xfrm>
            <a:off x="324000" y="3953400"/>
            <a:ext cx="3258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The length of the hypotenuse</a:t>
            </a:r>
            <a:endParaRPr sz="1800">
              <a:latin typeface="Lexend"/>
              <a:ea typeface="Lexend"/>
              <a:cs typeface="Lexend"/>
              <a:sym typeface="Lexend"/>
            </a:endParaRPr>
          </a:p>
        </p:txBody>
      </p:sp>
      <p:sp>
        <p:nvSpPr>
          <p:cNvPr id="883" name="Google Shape;883;p69"/>
          <p:cNvSpPr txBox="1"/>
          <p:nvPr/>
        </p:nvSpPr>
        <p:spPr>
          <a:xfrm>
            <a:off x="3619013" y="3953400"/>
            <a:ext cx="555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multiplied by the </a:t>
            </a:r>
            <a:r>
              <a:rPr lang="en-GB" sz="1800">
                <a:solidFill>
                  <a:schemeClr val="accent4"/>
                </a:solidFill>
                <a:latin typeface="Lexend"/>
                <a:ea typeface="Lexend"/>
                <a:cs typeface="Lexend"/>
                <a:sym typeface="Lexend"/>
              </a:rPr>
              <a:t>sine </a:t>
            </a:r>
            <a:r>
              <a:rPr lang="en-GB" sz="1800">
                <a:latin typeface="Lexend"/>
                <a:ea typeface="Lexend"/>
                <a:cs typeface="Lexend"/>
                <a:sym typeface="Lexend"/>
              </a:rPr>
              <a:t>of an angle of </a:t>
            </a:r>
            <a:r>
              <a:rPr i="1" lang="en-GB" sz="1800">
                <a:latin typeface="Lexend"/>
                <a:ea typeface="Lexend"/>
                <a:cs typeface="Lexend"/>
                <a:sym typeface="Lexend"/>
              </a:rPr>
              <a:t>θ</a:t>
            </a:r>
            <a:r>
              <a:rPr lang="en-GB" sz="1800">
                <a:latin typeface="Lexend"/>
                <a:ea typeface="Lexend"/>
                <a:cs typeface="Lexend"/>
                <a:sym typeface="Lexend"/>
              </a:rPr>
              <a:t>° </a:t>
            </a:r>
            <a:endParaRPr sz="1800">
              <a:latin typeface="Lexend"/>
              <a:ea typeface="Lexend"/>
              <a:cs typeface="Lexend"/>
              <a:sym typeface="Lexend"/>
            </a:endParaRPr>
          </a:p>
        </p:txBody>
      </p:sp>
      <p:sp>
        <p:nvSpPr>
          <p:cNvPr id="884" name="Google Shape;884;p69"/>
          <p:cNvSpPr/>
          <p:nvPr/>
        </p:nvSpPr>
        <p:spPr>
          <a:xfrm>
            <a:off x="3240200" y="2307200"/>
            <a:ext cx="7962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85" name="Google Shape;885;p69"/>
          <p:cNvSpPr txBox="1"/>
          <p:nvPr/>
        </p:nvSpPr>
        <p:spPr>
          <a:xfrm>
            <a:off x="900676" y="2680212"/>
            <a:ext cx="12492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86" name="Google Shape;886;p69"/>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We can also generalise this process to any right-angled triangle that has an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where the side </a:t>
            </a:r>
            <a:r>
              <a:rPr lang="en-GB" sz="1800">
                <a:solidFill>
                  <a:schemeClr val="accent4"/>
                </a:solidFill>
                <a:latin typeface="Lexend"/>
                <a:ea typeface="Lexend"/>
                <a:cs typeface="Lexend"/>
                <a:sym typeface="Lexend"/>
              </a:rPr>
              <a:t>opposite</a:t>
            </a:r>
            <a:r>
              <a:rPr lang="en-GB" sz="1800">
                <a:solidFill>
                  <a:schemeClr val="dk1"/>
                </a:solidFill>
                <a:latin typeface="Lexend"/>
                <a:ea typeface="Lexend"/>
                <a:cs typeface="Lexend"/>
                <a:sym typeface="Lexend"/>
              </a:rPr>
              <a:t>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has length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887" name="Google Shape;887;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888" name="Google Shape;888;p69"/>
          <p:cNvSpPr/>
          <p:nvPr/>
        </p:nvSpPr>
        <p:spPr>
          <a:xfrm>
            <a:off x="3471937" y="29565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9" name="Google Shape;889;p69"/>
          <p:cNvSpPr/>
          <p:nvPr/>
        </p:nvSpPr>
        <p:spPr>
          <a:xfrm>
            <a:off x="2294604" y="17698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0" name="Google Shape;890;p69"/>
          <p:cNvSpPr/>
          <p:nvPr/>
        </p:nvSpPr>
        <p:spPr>
          <a:xfrm>
            <a:off x="2294604" y="32225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91" name="Google Shape;891;p69"/>
          <p:cNvCxnSpPr/>
          <p:nvPr/>
        </p:nvCxnSpPr>
        <p:spPr>
          <a:xfrm>
            <a:off x="2372510" y="1691901"/>
            <a:ext cx="1795800" cy="1795800"/>
          </a:xfrm>
          <a:prstGeom prst="straightConnector1">
            <a:avLst/>
          </a:prstGeom>
          <a:noFill/>
          <a:ln cap="flat" cmpd="sng" w="28575">
            <a:solidFill>
              <a:srgbClr val="845AD9"/>
            </a:solidFill>
            <a:prstDash val="solid"/>
            <a:round/>
            <a:headEnd len="med" w="med" type="triangle"/>
            <a:tailEnd len="med" w="med" type="triangle"/>
          </a:ln>
        </p:spPr>
      </p:cxnSp>
      <p:cxnSp>
        <p:nvCxnSpPr>
          <p:cNvPr id="892" name="Google Shape;892;p69"/>
          <p:cNvCxnSpPr/>
          <p:nvPr/>
        </p:nvCxnSpPr>
        <p:spPr>
          <a:xfrm>
            <a:off x="2151027" y="17698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893" name="Google Shape;893;p69"/>
          <p:cNvSpPr txBox="1"/>
          <p:nvPr/>
        </p:nvSpPr>
        <p:spPr>
          <a:xfrm>
            <a:off x="3465689" y="33202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94" name="Google Shape;894;p69"/>
          <p:cNvGrpSpPr/>
          <p:nvPr/>
        </p:nvGrpSpPr>
        <p:grpSpPr>
          <a:xfrm>
            <a:off x="6690475" y="2944400"/>
            <a:ext cx="964200" cy="472225"/>
            <a:chOff x="6995275" y="3173000"/>
            <a:chExt cx="964200" cy="472225"/>
          </a:xfrm>
        </p:grpSpPr>
        <p:sp>
          <p:nvSpPr>
            <p:cNvPr id="895" name="Google Shape;895;p69"/>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96" name="Google Shape;896;p69"/>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sp>
        <p:nvSpPr>
          <p:cNvPr id="897" name="Google Shape;897;p69"/>
          <p:cNvSpPr txBox="1"/>
          <p:nvPr/>
        </p:nvSpPr>
        <p:spPr>
          <a:xfrm>
            <a:off x="3286356" y="23638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cm</a:t>
            </a:r>
            <a:endParaRPr sz="1800">
              <a:latin typeface="Lexend"/>
              <a:ea typeface="Lexend"/>
              <a:cs typeface="Lexend"/>
              <a:sym typeface="Lexend"/>
            </a:endParaRPr>
          </a:p>
        </p:txBody>
      </p:sp>
      <p:sp>
        <p:nvSpPr>
          <p:cNvPr id="898" name="Google Shape;898;p69"/>
          <p:cNvSpPr txBox="1"/>
          <p:nvPr/>
        </p:nvSpPr>
        <p:spPr>
          <a:xfrm>
            <a:off x="1596625" y="2447675"/>
            <a:ext cx="5424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sz="1800">
              <a:solidFill>
                <a:schemeClr val="accent4"/>
              </a:solidFill>
              <a:latin typeface="Lexend"/>
              <a:ea typeface="Lexend"/>
              <a:cs typeface="Lexend"/>
              <a:sym typeface="Lexend"/>
            </a:endParaRPr>
          </a:p>
        </p:txBody>
      </p:sp>
      <p:sp>
        <p:nvSpPr>
          <p:cNvPr id="899" name="Google Shape;899;p69"/>
          <p:cNvSpPr txBox="1"/>
          <p:nvPr/>
        </p:nvSpPr>
        <p:spPr>
          <a:xfrm>
            <a:off x="324000" y="4231175"/>
            <a:ext cx="555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equals the length of the side </a:t>
            </a:r>
            <a:r>
              <a:rPr lang="en-GB" sz="1800">
                <a:solidFill>
                  <a:schemeClr val="accent4"/>
                </a:solidFill>
                <a:latin typeface="Lexend"/>
                <a:ea typeface="Lexend"/>
                <a:cs typeface="Lexend"/>
                <a:sym typeface="Lexend"/>
              </a:rPr>
              <a:t>opposite </a:t>
            </a:r>
            <a:r>
              <a:rPr lang="en-GB" sz="1800">
                <a:solidFill>
                  <a:schemeClr val="dk1"/>
                </a:solidFill>
                <a:latin typeface="Lexend"/>
                <a:ea typeface="Lexend"/>
                <a:cs typeface="Lexend"/>
                <a:sym typeface="Lexend"/>
              </a:rPr>
              <a:t>that angle.</a:t>
            </a:r>
            <a:endParaRPr sz="1800">
              <a:latin typeface="Lexend"/>
              <a:ea typeface="Lexend"/>
              <a:cs typeface="Lexend"/>
              <a:sym typeface="Lexend"/>
            </a:endParaRPr>
          </a:p>
        </p:txBody>
      </p:sp>
      <p:sp>
        <p:nvSpPr>
          <p:cNvPr id="900" name="Google Shape;900;p69"/>
          <p:cNvSpPr/>
          <p:nvPr/>
        </p:nvSpPr>
        <p:spPr>
          <a:xfrm>
            <a:off x="3446326" y="3232125"/>
            <a:ext cx="3954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901" name="Google Shape;901;p69"/>
          <p:cNvCxnSpPr>
            <a:stCxn id="884" idx="1"/>
            <a:endCxn id="889" idx="1"/>
          </p:cNvCxnSpPr>
          <p:nvPr/>
        </p:nvCxnSpPr>
        <p:spPr>
          <a:xfrm flipH="1">
            <a:off x="2294600" y="2498750"/>
            <a:ext cx="945600" cy="169200"/>
          </a:xfrm>
          <a:prstGeom prst="straightConnector1">
            <a:avLst/>
          </a:prstGeom>
          <a:noFill/>
          <a:ln cap="flat" cmpd="sng" w="38100">
            <a:solidFill>
              <a:schemeClr val="accent3"/>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70"/>
          <p:cNvSpPr txBox="1"/>
          <p:nvPr/>
        </p:nvSpPr>
        <p:spPr>
          <a:xfrm>
            <a:off x="7077775" y="23674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sz="100">
              <a:solidFill>
                <a:schemeClr val="accent4"/>
              </a:solidFill>
              <a:latin typeface="Lexend"/>
              <a:ea typeface="Lexend"/>
              <a:cs typeface="Lexend"/>
              <a:sym typeface="Lexend"/>
            </a:endParaRPr>
          </a:p>
        </p:txBody>
      </p:sp>
      <p:sp>
        <p:nvSpPr>
          <p:cNvPr id="907" name="Google Shape;907;p70"/>
          <p:cNvSpPr txBox="1"/>
          <p:nvPr/>
        </p:nvSpPr>
        <p:spPr>
          <a:xfrm>
            <a:off x="6351775" y="1878225"/>
            <a:ext cx="5886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908" name="Google Shape;908;p70"/>
          <p:cNvSpPr txBox="1"/>
          <p:nvPr/>
        </p:nvSpPr>
        <p:spPr>
          <a:xfrm>
            <a:off x="6968275" y="1878225"/>
            <a:ext cx="12297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aphicFrame>
        <p:nvGraphicFramePr>
          <p:cNvPr id="909" name="Google Shape;909;p70"/>
          <p:cNvGraphicFramePr/>
          <p:nvPr/>
        </p:nvGraphicFramePr>
        <p:xfrm>
          <a:off x="6351765" y="1882150"/>
          <a:ext cx="3000000" cy="3000000"/>
        </p:xfrm>
        <a:graphic>
          <a:graphicData uri="http://schemas.openxmlformats.org/drawingml/2006/table">
            <a:tbl>
              <a:tblPr>
                <a:noFill/>
                <a:tableStyleId>{140229F6-0499-4A87-8D2B-F91EDD23A504}</a:tableStyleId>
              </a:tblPr>
              <a:tblGrid>
                <a:gridCol w="610875"/>
                <a:gridCol w="12353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910" name="Google Shape;910;p70"/>
          <p:cNvSpPr/>
          <p:nvPr/>
        </p:nvSpPr>
        <p:spPr>
          <a:xfrm>
            <a:off x="6980400" y="1872000"/>
            <a:ext cx="12297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11" name="Google Shape;911;p70" title="opp over h equals sine theta degrees opp over sine theta degrees equals h h times sine theta degrees equals opp"/>
          <p:cNvPicPr preferRelativeResize="0"/>
          <p:nvPr/>
        </p:nvPicPr>
        <p:blipFill rotWithShape="1">
          <a:blip r:embed="rId3">
            <a:alphaModFix/>
          </a:blip>
          <a:srcRect b="0" l="65393" r="0" t="0"/>
          <a:stretch/>
        </p:blipFill>
        <p:spPr>
          <a:xfrm>
            <a:off x="868822" y="1947300"/>
            <a:ext cx="1935649"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12" name="Google Shape;912;p70"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846602" y="3013925"/>
            <a:ext cx="1347850"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13" name="Google Shape;913;p70" title="opp over h equals sine theta degrees opp over sine theta degrees equals h h times sine theta degrees equals opp"/>
          <p:cNvPicPr preferRelativeResize="0"/>
          <p:nvPr/>
        </p:nvPicPr>
        <p:blipFill rotWithShape="1">
          <a:blip r:embed="rId3">
            <a:alphaModFix/>
          </a:blip>
          <a:srcRect b="0" l="0" r="71652" t="0"/>
          <a:stretch/>
        </p:blipFill>
        <p:spPr>
          <a:xfrm>
            <a:off x="822283" y="4080550"/>
            <a:ext cx="1585551" cy="582525"/>
          </a:xfrm>
          <a:prstGeom prst="rect">
            <a:avLst/>
          </a:prstGeom>
          <a:noFill/>
          <a:ln>
            <a:noFill/>
          </a:ln>
        </p:spPr>
      </p:pic>
      <p:grpSp>
        <p:nvGrpSpPr>
          <p:cNvPr id="914" name="Google Shape;914;p70"/>
          <p:cNvGrpSpPr/>
          <p:nvPr/>
        </p:nvGrpSpPr>
        <p:grpSpPr>
          <a:xfrm>
            <a:off x="5619501" y="2080138"/>
            <a:ext cx="646319" cy="582525"/>
            <a:chOff x="5924301" y="2308738"/>
            <a:chExt cx="646319" cy="582525"/>
          </a:xfrm>
        </p:grpSpPr>
        <p:sp>
          <p:nvSpPr>
            <p:cNvPr id="915" name="Google Shape;915;p70"/>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16" name="Google Shape;916;p70"/>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endParaRPr sz="1800">
                <a:solidFill>
                  <a:srgbClr val="000000"/>
                </a:solidFill>
                <a:latin typeface="Lexend"/>
                <a:ea typeface="Lexend"/>
                <a:cs typeface="Lexend"/>
                <a:sym typeface="Lexend"/>
              </a:endParaRPr>
            </a:p>
          </p:txBody>
        </p:sp>
      </p:grpSp>
      <p:grpSp>
        <p:nvGrpSpPr>
          <p:cNvPr id="917" name="Google Shape;917;p70"/>
          <p:cNvGrpSpPr/>
          <p:nvPr/>
        </p:nvGrpSpPr>
        <p:grpSpPr>
          <a:xfrm>
            <a:off x="8251440" y="2080125"/>
            <a:ext cx="623259" cy="582525"/>
            <a:chOff x="8251440" y="2080125"/>
            <a:chExt cx="623259" cy="582525"/>
          </a:xfrm>
        </p:grpSpPr>
        <p:sp>
          <p:nvSpPr>
            <p:cNvPr id="918" name="Google Shape;918;p70"/>
            <p:cNvSpPr/>
            <p:nvPr/>
          </p:nvSpPr>
          <p:spPr>
            <a:xfrm flipH="1">
              <a:off x="8251440" y="20801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19" name="Google Shape;919;p70"/>
            <p:cNvSpPr txBox="1"/>
            <p:nvPr/>
          </p:nvSpPr>
          <p:spPr>
            <a:xfrm>
              <a:off x="8433999" y="21396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 </a:t>
              </a:r>
              <a:endParaRPr sz="1800">
                <a:solidFill>
                  <a:srgbClr val="000000"/>
                </a:solidFill>
                <a:latin typeface="Lexend"/>
                <a:ea typeface="Lexend"/>
                <a:cs typeface="Lexend"/>
                <a:sym typeface="Lexend"/>
              </a:endParaRPr>
            </a:p>
          </p:txBody>
        </p:sp>
      </p:grpSp>
      <p:sp>
        <p:nvSpPr>
          <p:cNvPr id="920" name="Google Shape;920;p70"/>
          <p:cNvSpPr/>
          <p:nvPr/>
        </p:nvSpPr>
        <p:spPr>
          <a:xfrm>
            <a:off x="7762645" y="4294958"/>
            <a:ext cx="919200" cy="9192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1" name="Google Shape;921;p70"/>
          <p:cNvSpPr/>
          <p:nvPr/>
        </p:nvSpPr>
        <p:spPr>
          <a:xfrm>
            <a:off x="7211623" y="3738558"/>
            <a:ext cx="1022400" cy="10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2" name="Google Shape;922;p70"/>
          <p:cNvSpPr txBox="1"/>
          <p:nvPr/>
        </p:nvSpPr>
        <p:spPr>
          <a:xfrm>
            <a:off x="5980871" y="4335954"/>
            <a:ext cx="1149000" cy="15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chemeClr val="accent4"/>
                </a:solidFill>
                <a:latin typeface="Lexend"/>
                <a:ea typeface="Lexend"/>
                <a:cs typeface="Lexend"/>
                <a:sym typeface="Lexend"/>
              </a:rPr>
              <a:t>opposite</a:t>
            </a:r>
            <a:endParaRPr sz="1800">
              <a:solidFill>
                <a:schemeClr val="accent4"/>
              </a:solidFill>
              <a:latin typeface="Lexend"/>
              <a:ea typeface="Lexend"/>
              <a:cs typeface="Lexend"/>
              <a:sym typeface="Lexend"/>
            </a:endParaRPr>
          </a:p>
        </p:txBody>
      </p:sp>
      <p:sp>
        <p:nvSpPr>
          <p:cNvPr id="923" name="Google Shape;923;p70"/>
          <p:cNvSpPr txBox="1"/>
          <p:nvPr/>
        </p:nvSpPr>
        <p:spPr>
          <a:xfrm>
            <a:off x="5889171" y="4019000"/>
            <a:ext cx="1240800" cy="1536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924" name="Google Shape;924;p70"/>
          <p:cNvSpPr txBox="1"/>
          <p:nvPr/>
        </p:nvSpPr>
        <p:spPr>
          <a:xfrm>
            <a:off x="7776176" y="4076711"/>
            <a:ext cx="588600" cy="15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cm</a:t>
            </a:r>
            <a:endParaRPr sz="1800">
              <a:latin typeface="Lexend"/>
              <a:ea typeface="Lexend"/>
              <a:cs typeface="Lexend"/>
              <a:sym typeface="Lexend"/>
            </a:endParaRPr>
          </a:p>
        </p:txBody>
      </p:sp>
      <p:sp>
        <p:nvSpPr>
          <p:cNvPr id="925" name="Google Shape;925;p70"/>
          <p:cNvSpPr txBox="1"/>
          <p:nvPr/>
        </p:nvSpPr>
        <p:spPr>
          <a:xfrm>
            <a:off x="6351775" y="2384500"/>
            <a:ext cx="588600" cy="4722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sp>
        <p:nvSpPr>
          <p:cNvPr id="926" name="Google Shape;926;p70"/>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use this ratio table to generate a formula that shows the relationship between the side opposite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r>
              <a:rPr lang="en-GB" sz="1800">
                <a:latin typeface="Lexend"/>
                <a:ea typeface="Lexend"/>
                <a:cs typeface="Lexend"/>
                <a:sym typeface="Lexend"/>
              </a:rPr>
              <a:t>and the hypotenuse, and represent that formula in three ways. </a:t>
            </a:r>
            <a:endParaRPr sz="1800">
              <a:latin typeface="Lexend"/>
              <a:ea typeface="Lexend"/>
              <a:cs typeface="Lexend"/>
              <a:sym typeface="Lexend"/>
            </a:endParaRPr>
          </a:p>
        </p:txBody>
      </p:sp>
      <p:sp>
        <p:nvSpPr>
          <p:cNvPr id="927" name="Google Shape;927;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928" name="Google Shape;928;p70"/>
          <p:cNvSpPr/>
          <p:nvPr/>
        </p:nvSpPr>
        <p:spPr>
          <a:xfrm>
            <a:off x="7211623" y="4565524"/>
            <a:ext cx="195300" cy="195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29" name="Google Shape;929;p70"/>
          <p:cNvCxnSpPr/>
          <p:nvPr/>
        </p:nvCxnSpPr>
        <p:spPr>
          <a:xfrm>
            <a:off x="7255970" y="3694212"/>
            <a:ext cx="1022100" cy="1022100"/>
          </a:xfrm>
          <a:prstGeom prst="straightConnector1">
            <a:avLst/>
          </a:prstGeom>
          <a:noFill/>
          <a:ln cap="flat" cmpd="sng" w="28575">
            <a:solidFill>
              <a:srgbClr val="845AD9"/>
            </a:solidFill>
            <a:prstDash val="solid"/>
            <a:round/>
            <a:headEnd len="med" w="med" type="triangle"/>
            <a:tailEnd len="med" w="med" type="triangle"/>
          </a:ln>
        </p:spPr>
      </p:cxnSp>
      <p:cxnSp>
        <p:nvCxnSpPr>
          <p:cNvPr id="930" name="Google Shape;930;p70"/>
          <p:cNvCxnSpPr/>
          <p:nvPr/>
        </p:nvCxnSpPr>
        <p:spPr>
          <a:xfrm>
            <a:off x="7129894" y="3738558"/>
            <a:ext cx="0" cy="1026000"/>
          </a:xfrm>
          <a:prstGeom prst="straightConnector1">
            <a:avLst/>
          </a:prstGeom>
          <a:noFill/>
          <a:ln cap="flat" cmpd="sng" w="28575">
            <a:solidFill>
              <a:srgbClr val="845AD9"/>
            </a:solidFill>
            <a:prstDash val="solid"/>
            <a:round/>
            <a:headEnd len="med" w="med" type="triangle"/>
            <a:tailEnd len="med" w="med" type="triangle"/>
          </a:ln>
        </p:spPr>
      </p:cxnSp>
      <p:sp>
        <p:nvSpPr>
          <p:cNvPr id="931" name="Google Shape;931;p70"/>
          <p:cNvSpPr txBox="1"/>
          <p:nvPr/>
        </p:nvSpPr>
        <p:spPr>
          <a:xfrm>
            <a:off x="7805268" y="4577161"/>
            <a:ext cx="260400" cy="12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932" name="Google Shape;932;p70"/>
          <p:cNvGrpSpPr/>
          <p:nvPr/>
        </p:nvGrpSpPr>
        <p:grpSpPr>
          <a:xfrm>
            <a:off x="6690475" y="2944400"/>
            <a:ext cx="964200" cy="472225"/>
            <a:chOff x="6995275" y="3173000"/>
            <a:chExt cx="964200" cy="472225"/>
          </a:xfrm>
        </p:grpSpPr>
        <p:sp>
          <p:nvSpPr>
            <p:cNvPr id="933" name="Google Shape;933;p70"/>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34" name="Google Shape;934;p70"/>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grpSp>
        <p:nvGrpSpPr>
          <p:cNvPr id="935" name="Google Shape;935;p70"/>
          <p:cNvGrpSpPr/>
          <p:nvPr/>
        </p:nvGrpSpPr>
        <p:grpSpPr>
          <a:xfrm>
            <a:off x="6705675" y="1339925"/>
            <a:ext cx="933900" cy="450600"/>
            <a:chOff x="7010475" y="1568525"/>
            <a:chExt cx="933900" cy="450600"/>
          </a:xfrm>
        </p:grpSpPr>
        <p:sp>
          <p:nvSpPr>
            <p:cNvPr id="936" name="Google Shape;936;p70"/>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37" name="Google Shape;937;p70"/>
            <p:cNvSpPr txBox="1"/>
            <p:nvPr/>
          </p:nvSpPr>
          <p:spPr>
            <a:xfrm>
              <a:off x="7010475" y="1568525"/>
              <a:ext cx="9339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sp>
        <p:nvSpPr>
          <p:cNvPr id="938" name="Google Shape;938;p70"/>
          <p:cNvSpPr/>
          <p:nvPr/>
        </p:nvSpPr>
        <p:spPr>
          <a:xfrm>
            <a:off x="1046200" y="2010025"/>
            <a:ext cx="1022100" cy="37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9" name="Google Shape;939;p70"/>
          <p:cNvSpPr/>
          <p:nvPr/>
        </p:nvSpPr>
        <p:spPr>
          <a:xfrm>
            <a:off x="2068300" y="2010025"/>
            <a:ext cx="764400" cy="37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0" name="Google Shape;940;p70"/>
          <p:cNvSpPr/>
          <p:nvPr/>
        </p:nvSpPr>
        <p:spPr>
          <a:xfrm>
            <a:off x="846600" y="3240400"/>
            <a:ext cx="840600" cy="37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1" name="Google Shape;941;p70"/>
          <p:cNvSpPr/>
          <p:nvPr/>
        </p:nvSpPr>
        <p:spPr>
          <a:xfrm>
            <a:off x="1694525" y="3055663"/>
            <a:ext cx="840600" cy="37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2" name="Google Shape;942;p70"/>
          <p:cNvSpPr/>
          <p:nvPr/>
        </p:nvSpPr>
        <p:spPr>
          <a:xfrm>
            <a:off x="1398971" y="4144950"/>
            <a:ext cx="1092900" cy="37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3" name="Google Shape;943;p70"/>
          <p:cNvSpPr/>
          <p:nvPr/>
        </p:nvSpPr>
        <p:spPr>
          <a:xfrm>
            <a:off x="813475" y="4306303"/>
            <a:ext cx="616500" cy="35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4" name="Google Shape;944;p70"/>
          <p:cNvSpPr/>
          <p:nvPr/>
        </p:nvSpPr>
        <p:spPr>
          <a:xfrm>
            <a:off x="6372000" y="2372400"/>
            <a:ext cx="6165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a:latin typeface="Lexend"/>
              <a:ea typeface="Lexend"/>
              <a:cs typeface="Lexend"/>
              <a:sym typeface="Lexend"/>
            </a:endParaRPr>
          </a:p>
        </p:txBody>
      </p:sp>
      <p:sp>
        <p:nvSpPr>
          <p:cNvPr id="945" name="Google Shape;945;p70"/>
          <p:cNvSpPr/>
          <p:nvPr/>
        </p:nvSpPr>
        <p:spPr>
          <a:xfrm>
            <a:off x="6981050" y="2372400"/>
            <a:ext cx="12297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opp</a:t>
            </a:r>
            <a:endParaRPr>
              <a:solidFill>
                <a:schemeClr val="dk1"/>
              </a:solidFill>
              <a:latin typeface="Lexend"/>
              <a:ea typeface="Lexend"/>
              <a:cs typeface="Lexend"/>
              <a:sym typeface="Lexend"/>
            </a:endParaRPr>
          </a:p>
        </p:txBody>
      </p:sp>
      <p:sp>
        <p:nvSpPr>
          <p:cNvPr id="946" name="Google Shape;946;p70"/>
          <p:cNvSpPr/>
          <p:nvPr/>
        </p:nvSpPr>
        <p:spPr>
          <a:xfrm>
            <a:off x="850800" y="2010025"/>
            <a:ext cx="195300" cy="37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7" name="Google Shape;947;p70"/>
          <p:cNvSpPr/>
          <p:nvPr/>
        </p:nvSpPr>
        <p:spPr>
          <a:xfrm>
            <a:off x="846600" y="2974275"/>
            <a:ext cx="840600" cy="26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8" name="Google Shape;948;p70"/>
          <p:cNvSpPr/>
          <p:nvPr/>
        </p:nvSpPr>
        <p:spPr>
          <a:xfrm>
            <a:off x="813475" y="4060298"/>
            <a:ext cx="616500" cy="245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9" name="Google Shape;949;p70"/>
          <p:cNvSpPr/>
          <p:nvPr/>
        </p:nvSpPr>
        <p:spPr>
          <a:xfrm>
            <a:off x="6566675" y="3094199"/>
            <a:ext cx="11490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grpSp>
        <p:nvGrpSpPr>
          <p:cNvPr id="950" name="Google Shape;950;p70"/>
          <p:cNvGrpSpPr/>
          <p:nvPr/>
        </p:nvGrpSpPr>
        <p:grpSpPr>
          <a:xfrm>
            <a:off x="6566675" y="2945087"/>
            <a:ext cx="1149000" cy="490299"/>
            <a:chOff x="3621250" y="3240400"/>
            <a:chExt cx="1149000" cy="490299"/>
          </a:xfrm>
        </p:grpSpPr>
        <p:sp>
          <p:nvSpPr>
            <p:cNvPr id="951" name="Google Shape;951;p70"/>
            <p:cNvSpPr/>
            <p:nvPr/>
          </p:nvSpPr>
          <p:spPr>
            <a:xfrm flipH="1">
              <a:off x="3873000" y="32404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52" name="Google Shape;952;p70"/>
            <p:cNvSpPr/>
            <p:nvPr/>
          </p:nvSpPr>
          <p:spPr>
            <a:xfrm flipH="1">
              <a:off x="3621250" y="3390199"/>
              <a:ext cx="11490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grpSp>
      <p:grpSp>
        <p:nvGrpSpPr>
          <p:cNvPr id="953" name="Google Shape;953;p70"/>
          <p:cNvGrpSpPr/>
          <p:nvPr/>
        </p:nvGrpSpPr>
        <p:grpSpPr>
          <a:xfrm flipH="1" rot="10800000">
            <a:off x="8236528" y="2022341"/>
            <a:ext cx="567216" cy="582525"/>
            <a:chOff x="9531928" y="2518909"/>
            <a:chExt cx="567216" cy="582525"/>
          </a:xfrm>
        </p:grpSpPr>
        <p:sp>
          <p:nvSpPr>
            <p:cNvPr id="954" name="Google Shape;954;p70"/>
            <p:cNvSpPr/>
            <p:nvPr/>
          </p:nvSpPr>
          <p:spPr>
            <a:xfrm flipH="1">
              <a:off x="9531928" y="2518909"/>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55" name="Google Shape;955;p70"/>
            <p:cNvSpPr/>
            <p:nvPr/>
          </p:nvSpPr>
          <p:spPr>
            <a:xfrm rot="10800000">
              <a:off x="9660844" y="2636982"/>
              <a:ext cx="4383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endParaRPr sz="1800">
                <a:solidFill>
                  <a:schemeClr val="dk1"/>
                </a:solidFill>
                <a:latin typeface="Lexend"/>
                <a:ea typeface="Lexend"/>
                <a:cs typeface="Lexend"/>
                <a:sym typeface="Lexend"/>
              </a:endParaRPr>
            </a:p>
          </p:txBody>
        </p:sp>
      </p:grpSp>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56" name="Google Shape;956;p70" title="opp over h equals sine theta degrees opp over sine theta degrees equals h h times sine theta degrees equals opp"/>
          <p:cNvPicPr preferRelativeResize="0"/>
          <p:nvPr/>
        </p:nvPicPr>
        <p:blipFill>
          <a:blip r:embed="rId3">
            <a:alphaModFix/>
          </a:blip>
          <a:stretch>
            <a:fillRect/>
          </a:stretch>
        </p:blipFill>
        <p:spPr>
          <a:xfrm>
            <a:off x="-2577325" y="5350297"/>
            <a:ext cx="9144001" cy="952356"/>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57" name="Google Shape;957;p70" title="opp over h equals sine theta degrees opp over sine theta degrees equals h h times sine theta degrees equals opp"/>
          <p:cNvPicPr preferRelativeResize="0"/>
          <p:nvPr/>
        </p:nvPicPr>
        <p:blipFill>
          <a:blip r:embed="rId3">
            <a:alphaModFix/>
          </a:blip>
          <a:stretch>
            <a:fillRect/>
          </a:stretch>
        </p:blipFill>
        <p:spPr>
          <a:xfrm>
            <a:off x="-2577325" y="6662272"/>
            <a:ext cx="9144001" cy="9523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3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3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62" name="Google Shape;962;p71"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6695047" y="2621079"/>
            <a:ext cx="1347850" cy="582525"/>
          </a:xfrm>
          <a:prstGeom prst="rect">
            <a:avLst/>
          </a:prstGeom>
          <a:noFill/>
          <a:ln>
            <a:noFill/>
          </a:ln>
        </p:spPr>
      </p:pic>
      <p:sp>
        <p:nvSpPr>
          <p:cNvPr id="963" name="Google Shape;963;p71"/>
          <p:cNvSpPr/>
          <p:nvPr/>
        </p:nvSpPr>
        <p:spPr>
          <a:xfrm>
            <a:off x="1896750" y="2559800"/>
            <a:ext cx="1627800" cy="6579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964" name="Google Shape;964;p71"/>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also derive two versions of the formula given one of the others by performing a division.</a:t>
            </a:r>
            <a:endParaRPr sz="1800">
              <a:latin typeface="Lexend"/>
              <a:ea typeface="Lexend"/>
              <a:cs typeface="Lexend"/>
              <a:sym typeface="Lexend"/>
            </a:endParaRPr>
          </a:p>
        </p:txBody>
      </p:sp>
      <p:sp>
        <p:nvSpPr>
          <p:cNvPr id="965" name="Google Shape;965;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66" name="Google Shape;966;p71" title="o p p over h equals sine theta degrees o p p over sine theta degrees equals h h times sine theta degrees equals o p p"/>
          <p:cNvPicPr preferRelativeResize="0"/>
          <p:nvPr/>
        </p:nvPicPr>
        <p:blipFill rotWithShape="1">
          <a:blip r:embed="rId4">
            <a:alphaModFix/>
          </a:blip>
          <a:srcRect b="0" l="64810" r="7312" t="0"/>
          <a:stretch/>
        </p:blipFill>
        <p:spPr>
          <a:xfrm>
            <a:off x="1482825" y="1557275"/>
            <a:ext cx="1533399" cy="561600"/>
          </a:xfrm>
          <a:prstGeom prst="rect">
            <a:avLst/>
          </a:prstGeom>
          <a:noFill/>
          <a:ln>
            <a:noFill/>
          </a:ln>
        </p:spPr>
      </p:pic>
      <p:cxnSp>
        <p:nvCxnSpPr>
          <p:cNvPr id="967" name="Google Shape;967;p71"/>
          <p:cNvCxnSpPr>
            <a:stCxn id="964" idx="2"/>
          </p:cNvCxnSpPr>
          <p:nvPr/>
        </p:nvCxnSpPr>
        <p:spPr>
          <a:xfrm>
            <a:off x="4572000" y="1164700"/>
            <a:ext cx="0" cy="3939300"/>
          </a:xfrm>
          <a:prstGeom prst="straightConnector1">
            <a:avLst/>
          </a:prstGeom>
          <a:noFill/>
          <a:ln cap="flat" cmpd="sng" w="38100">
            <a:solidFill>
              <a:schemeClr val="accent4"/>
            </a:solidFill>
            <a:prstDash val="solid"/>
            <a:round/>
            <a:headEnd len="med" w="med" type="none"/>
            <a:tailEnd len="med" w="med" type="none"/>
          </a:ln>
        </p:spPr>
      </p:cxnSp>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68" name="Google Shape;968;p71" title="o p p over h equals sine theta degrees o p p over sine theta degrees equals h h times sine theta degrees equals o p p"/>
          <p:cNvPicPr preferRelativeResize="0"/>
          <p:nvPr/>
        </p:nvPicPr>
        <p:blipFill rotWithShape="1">
          <a:blip r:embed="rId4">
            <a:alphaModFix/>
          </a:blip>
          <a:srcRect b="0" l="64810" r="8014" t="0"/>
          <a:stretch/>
        </p:blipFill>
        <p:spPr>
          <a:xfrm>
            <a:off x="5728175" y="1557275"/>
            <a:ext cx="1494774" cy="561600"/>
          </a:xfrm>
          <a:prstGeom prst="rect">
            <a:avLst/>
          </a:prstGeom>
          <a:noFill/>
          <a:ln>
            <a:noFill/>
          </a:ln>
        </p:spPr>
      </p:pic>
      <p:grpSp>
        <p:nvGrpSpPr>
          <p:cNvPr id="969" name="Google Shape;969;p71"/>
          <p:cNvGrpSpPr/>
          <p:nvPr/>
        </p:nvGrpSpPr>
        <p:grpSpPr>
          <a:xfrm>
            <a:off x="1476375" y="1922175"/>
            <a:ext cx="178650" cy="340675"/>
            <a:chOff x="1476375" y="1541175"/>
            <a:chExt cx="178650" cy="340675"/>
          </a:xfrm>
        </p:grpSpPr>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70" name="Google Shape;970;p71" title="o p p over h equals sine theta degrees o p p over sine theta degrees equals h h times sine theta degrees equals o p p"/>
            <p:cNvPicPr preferRelativeResize="0"/>
            <p:nvPr/>
          </p:nvPicPr>
          <p:blipFill rotWithShape="1">
            <a:blip r:embed="rId4">
              <a:alphaModFix/>
            </a:blip>
            <a:srcRect b="39338" l="64810" r="32059" t="0"/>
            <a:stretch/>
          </p:blipFill>
          <p:spPr>
            <a:xfrm>
              <a:off x="1482825" y="1541175"/>
              <a:ext cx="172200" cy="340675"/>
            </a:xfrm>
            <a:prstGeom prst="rect">
              <a:avLst/>
            </a:prstGeom>
            <a:noFill/>
            <a:ln>
              <a:noFill/>
            </a:ln>
          </p:spPr>
        </p:pic>
        <p:cxnSp>
          <p:nvCxnSpPr>
            <p:cNvPr id="971" name="Google Shape;971;p71"/>
            <p:cNvCxnSpPr/>
            <p:nvPr/>
          </p:nvCxnSpPr>
          <p:spPr>
            <a:xfrm>
              <a:off x="1476375" y="1593703"/>
              <a:ext cx="172200" cy="0"/>
            </a:xfrm>
            <a:prstGeom prst="straightConnector1">
              <a:avLst/>
            </a:prstGeom>
            <a:noFill/>
            <a:ln cap="flat" cmpd="sng" w="19050">
              <a:solidFill>
                <a:schemeClr val="dk1"/>
              </a:solidFill>
              <a:prstDash val="solid"/>
              <a:round/>
              <a:headEnd len="med" w="med" type="none"/>
              <a:tailEnd len="med" w="med" type="none"/>
            </a:ln>
          </p:spPr>
        </p:cxnSp>
      </p:grpSp>
      <p:grpSp>
        <p:nvGrpSpPr>
          <p:cNvPr id="972" name="Google Shape;972;p71"/>
          <p:cNvGrpSpPr/>
          <p:nvPr/>
        </p:nvGrpSpPr>
        <p:grpSpPr>
          <a:xfrm>
            <a:off x="3035425" y="1922175"/>
            <a:ext cx="380400" cy="340675"/>
            <a:chOff x="3035425" y="1541175"/>
            <a:chExt cx="380400" cy="340675"/>
          </a:xfrm>
        </p:grpSpPr>
        <p:cxnSp>
          <p:nvCxnSpPr>
            <p:cNvPr id="973" name="Google Shape;973;p71"/>
            <p:cNvCxnSpPr/>
            <p:nvPr/>
          </p:nvCxnSpPr>
          <p:spPr>
            <a:xfrm>
              <a:off x="3035425" y="1593703"/>
              <a:ext cx="380400" cy="0"/>
            </a:xfrm>
            <a:prstGeom prst="straightConnector1">
              <a:avLst/>
            </a:prstGeom>
            <a:noFill/>
            <a:ln cap="flat" cmpd="sng" w="19050">
              <a:solidFill>
                <a:schemeClr val="dk1"/>
              </a:solidFill>
              <a:prstDash val="solid"/>
              <a:round/>
              <a:headEnd len="med" w="med" type="none"/>
              <a:tailEnd len="med" w="med" type="none"/>
            </a:ln>
          </p:spPr>
        </p:cxnSp>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74" name="Google Shape;974;p71" title="o p p over h equals sine theta degrees o p p over sine theta degrees equals h h times sine theta degrees equals o p p"/>
            <p:cNvPicPr preferRelativeResize="0"/>
            <p:nvPr/>
          </p:nvPicPr>
          <p:blipFill rotWithShape="1">
            <a:blip r:embed="rId4">
              <a:alphaModFix/>
            </a:blip>
            <a:srcRect b="39338" l="64810" r="32059" t="0"/>
            <a:stretch/>
          </p:blipFill>
          <p:spPr>
            <a:xfrm>
              <a:off x="3142750" y="1541175"/>
              <a:ext cx="172200" cy="340675"/>
            </a:xfrm>
            <a:prstGeom prst="rect">
              <a:avLst/>
            </a:prstGeom>
            <a:noFill/>
            <a:ln>
              <a:noFill/>
            </a:ln>
          </p:spPr>
        </p:pic>
      </p:grpSp>
      <p:grpSp>
        <p:nvGrpSpPr>
          <p:cNvPr id="975" name="Google Shape;975;p71"/>
          <p:cNvGrpSpPr/>
          <p:nvPr/>
        </p:nvGrpSpPr>
        <p:grpSpPr>
          <a:xfrm>
            <a:off x="1485196" y="1704065"/>
            <a:ext cx="168000" cy="553001"/>
            <a:chOff x="1490986" y="1328856"/>
            <a:chExt cx="168000" cy="553001"/>
          </a:xfrm>
        </p:grpSpPr>
        <p:cxnSp>
          <p:nvCxnSpPr>
            <p:cNvPr id="976" name="Google Shape;976;p71"/>
            <p:cNvCxnSpPr/>
            <p:nvPr/>
          </p:nvCxnSpPr>
          <p:spPr>
            <a:xfrm>
              <a:off x="1490986" y="1328856"/>
              <a:ext cx="168000" cy="191100"/>
            </a:xfrm>
            <a:prstGeom prst="straightConnector1">
              <a:avLst/>
            </a:prstGeom>
            <a:noFill/>
            <a:ln cap="flat" cmpd="sng" w="19050">
              <a:solidFill>
                <a:schemeClr val="dk1"/>
              </a:solidFill>
              <a:prstDash val="solid"/>
              <a:round/>
              <a:headEnd len="med" w="med" type="none"/>
              <a:tailEnd len="med" w="med" type="none"/>
            </a:ln>
          </p:spPr>
        </p:cxnSp>
        <p:cxnSp>
          <p:nvCxnSpPr>
            <p:cNvPr id="977" name="Google Shape;977;p71"/>
            <p:cNvCxnSpPr/>
            <p:nvPr/>
          </p:nvCxnSpPr>
          <p:spPr>
            <a:xfrm>
              <a:off x="1490986" y="1690756"/>
              <a:ext cx="168000" cy="191100"/>
            </a:xfrm>
            <a:prstGeom prst="straightConnector1">
              <a:avLst/>
            </a:prstGeom>
            <a:noFill/>
            <a:ln cap="flat" cmpd="sng" w="19050">
              <a:solidFill>
                <a:schemeClr val="dk1"/>
              </a:solidFill>
              <a:prstDash val="solid"/>
              <a:round/>
              <a:headEnd len="med" w="med" type="none"/>
              <a:tailEnd len="med" w="med" type="none"/>
            </a:ln>
          </p:spPr>
        </p:cxnSp>
      </p:grpSp>
      <p:grpSp>
        <p:nvGrpSpPr>
          <p:cNvPr id="978" name="Google Shape;978;p71"/>
          <p:cNvGrpSpPr/>
          <p:nvPr/>
        </p:nvGrpSpPr>
        <p:grpSpPr>
          <a:xfrm>
            <a:off x="6177275" y="1974703"/>
            <a:ext cx="756851" cy="326172"/>
            <a:chOff x="6177275" y="1593703"/>
            <a:chExt cx="756851" cy="326172"/>
          </a:xfrm>
        </p:grpSpPr>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79" name="Google Shape;979;p71" title="o p p over h equals sine theta degrees o p p over sine theta degrees equals h h times sine theta degrees equals o p p"/>
            <p:cNvPicPr preferRelativeResize="0"/>
            <p:nvPr/>
          </p:nvPicPr>
          <p:blipFill rotWithShape="1">
            <a:blip r:embed="rId4">
              <a:alphaModFix/>
            </a:blip>
            <a:srcRect b="32467" l="72973" r="13266" t="18173"/>
            <a:stretch/>
          </p:blipFill>
          <p:spPr>
            <a:xfrm>
              <a:off x="6177275" y="1642675"/>
              <a:ext cx="756851" cy="277200"/>
            </a:xfrm>
            <a:prstGeom prst="rect">
              <a:avLst/>
            </a:prstGeom>
            <a:noFill/>
            <a:ln>
              <a:noFill/>
            </a:ln>
          </p:spPr>
        </p:pic>
        <p:cxnSp>
          <p:nvCxnSpPr>
            <p:cNvPr id="980" name="Google Shape;980;p71"/>
            <p:cNvCxnSpPr/>
            <p:nvPr/>
          </p:nvCxnSpPr>
          <p:spPr>
            <a:xfrm>
              <a:off x="6194500" y="1593703"/>
              <a:ext cx="722400" cy="0"/>
            </a:xfrm>
            <a:prstGeom prst="straightConnector1">
              <a:avLst/>
            </a:prstGeom>
            <a:noFill/>
            <a:ln cap="flat" cmpd="sng" w="19050">
              <a:solidFill>
                <a:schemeClr val="dk1"/>
              </a:solidFill>
              <a:prstDash val="solid"/>
              <a:round/>
              <a:headEnd len="med" w="med" type="none"/>
              <a:tailEnd len="med" w="med" type="none"/>
            </a:ln>
          </p:spPr>
        </p:cxnSp>
      </p:grpSp>
      <p:grpSp>
        <p:nvGrpSpPr>
          <p:cNvPr id="981" name="Google Shape;981;p71"/>
          <p:cNvGrpSpPr/>
          <p:nvPr/>
        </p:nvGrpSpPr>
        <p:grpSpPr>
          <a:xfrm>
            <a:off x="7298176" y="1974703"/>
            <a:ext cx="756851" cy="326172"/>
            <a:chOff x="6177275" y="1593703"/>
            <a:chExt cx="756851" cy="326172"/>
          </a:xfrm>
        </p:grpSpPr>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82" name="Google Shape;982;p71" title="o p p over h equals sine theta degrees o p p over sine theta degrees equals h h times sine theta degrees equals o p p"/>
            <p:cNvPicPr preferRelativeResize="0"/>
            <p:nvPr/>
          </p:nvPicPr>
          <p:blipFill rotWithShape="1">
            <a:blip r:embed="rId4">
              <a:alphaModFix/>
            </a:blip>
            <a:srcRect b="32467" l="72973" r="13266" t="18173"/>
            <a:stretch/>
          </p:blipFill>
          <p:spPr>
            <a:xfrm>
              <a:off x="6177275" y="1642675"/>
              <a:ext cx="756851" cy="277200"/>
            </a:xfrm>
            <a:prstGeom prst="rect">
              <a:avLst/>
            </a:prstGeom>
            <a:noFill/>
            <a:ln>
              <a:noFill/>
            </a:ln>
          </p:spPr>
        </p:pic>
        <p:cxnSp>
          <p:nvCxnSpPr>
            <p:cNvPr id="983" name="Google Shape;983;p71"/>
            <p:cNvCxnSpPr/>
            <p:nvPr/>
          </p:nvCxnSpPr>
          <p:spPr>
            <a:xfrm>
              <a:off x="6194500" y="1593703"/>
              <a:ext cx="722400" cy="0"/>
            </a:xfrm>
            <a:prstGeom prst="straightConnector1">
              <a:avLst/>
            </a:prstGeom>
            <a:noFill/>
            <a:ln cap="flat" cmpd="sng" w="19050">
              <a:solidFill>
                <a:schemeClr val="dk1"/>
              </a:solidFill>
              <a:prstDash val="solid"/>
              <a:round/>
              <a:headEnd len="med" w="med" type="none"/>
              <a:tailEnd len="med" w="med" type="none"/>
            </a:ln>
          </p:spPr>
        </p:cxnSp>
      </p:grpSp>
      <p:grpSp>
        <p:nvGrpSpPr>
          <p:cNvPr id="984" name="Google Shape;984;p71"/>
          <p:cNvGrpSpPr/>
          <p:nvPr/>
        </p:nvGrpSpPr>
        <p:grpSpPr>
          <a:xfrm>
            <a:off x="6177280" y="1706246"/>
            <a:ext cx="756857" cy="553001"/>
            <a:chOff x="1490986" y="1328856"/>
            <a:chExt cx="168000" cy="553001"/>
          </a:xfrm>
        </p:grpSpPr>
        <p:cxnSp>
          <p:nvCxnSpPr>
            <p:cNvPr id="985" name="Google Shape;985;p71"/>
            <p:cNvCxnSpPr/>
            <p:nvPr/>
          </p:nvCxnSpPr>
          <p:spPr>
            <a:xfrm>
              <a:off x="1490986" y="1328856"/>
              <a:ext cx="168000" cy="191100"/>
            </a:xfrm>
            <a:prstGeom prst="straightConnector1">
              <a:avLst/>
            </a:prstGeom>
            <a:noFill/>
            <a:ln cap="flat" cmpd="sng" w="19050">
              <a:solidFill>
                <a:schemeClr val="dk1"/>
              </a:solidFill>
              <a:prstDash val="solid"/>
              <a:round/>
              <a:headEnd len="med" w="med" type="none"/>
              <a:tailEnd len="med" w="med" type="none"/>
            </a:ln>
          </p:spPr>
        </p:cxnSp>
        <p:cxnSp>
          <p:nvCxnSpPr>
            <p:cNvPr id="986" name="Google Shape;986;p71"/>
            <p:cNvCxnSpPr/>
            <p:nvPr/>
          </p:nvCxnSpPr>
          <p:spPr>
            <a:xfrm>
              <a:off x="1490986" y="1690756"/>
              <a:ext cx="168000" cy="191100"/>
            </a:xfrm>
            <a:prstGeom prst="straightConnector1">
              <a:avLst/>
            </a:prstGeom>
            <a:noFill/>
            <a:ln cap="flat" cmpd="sng" w="19050">
              <a:solidFill>
                <a:schemeClr val="dk1"/>
              </a:solidFill>
              <a:prstDash val="solid"/>
              <a:round/>
              <a:headEnd len="med" w="med" type="none"/>
              <a:tailEnd len="med" w="med" type="none"/>
            </a:ln>
          </p:spPr>
        </p:cxnSp>
      </p:grpSp>
      <p:sp>
        <p:nvSpPr>
          <p:cNvPr id="987" name="Google Shape;987;p71"/>
          <p:cNvSpPr/>
          <p:nvPr/>
        </p:nvSpPr>
        <p:spPr>
          <a:xfrm>
            <a:off x="6490975" y="2573505"/>
            <a:ext cx="1627800" cy="6579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88" name="Google Shape;988;p71" title="opp over h equals sine theta degrees opp over sine theta degrees equals h h times sine theta degrees equals opp"/>
          <p:cNvPicPr preferRelativeResize="0"/>
          <p:nvPr/>
        </p:nvPicPr>
        <p:blipFill rotWithShape="1">
          <a:blip r:embed="rId3">
            <a:alphaModFix/>
          </a:blip>
          <a:srcRect b="59241" l="0" r="90104" t="0"/>
          <a:stretch/>
        </p:blipFill>
        <p:spPr>
          <a:xfrm>
            <a:off x="3004661" y="1736948"/>
            <a:ext cx="553476" cy="2374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89" name="Google Shape;989;p71" title="opp over h equals sine theta degrees opp over sine theta degrees equals h h times sine theta degrees equals opp"/>
          <p:cNvPicPr preferRelativeResize="0"/>
          <p:nvPr/>
        </p:nvPicPr>
        <p:blipFill rotWithShape="1">
          <a:blip r:embed="rId3">
            <a:alphaModFix/>
          </a:blip>
          <a:srcRect b="59241" l="0" r="90104" t="0"/>
          <a:stretch/>
        </p:blipFill>
        <p:spPr>
          <a:xfrm>
            <a:off x="7429832" y="1751173"/>
            <a:ext cx="553476" cy="2374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90" name="Google Shape;990;p71" title="opp over h equals sine theta degrees opp over sine theta degrees equals h h times sine theta degrees equals opp"/>
          <p:cNvPicPr preferRelativeResize="0"/>
          <p:nvPr/>
        </p:nvPicPr>
        <p:blipFill rotWithShape="1">
          <a:blip r:embed="rId3">
            <a:alphaModFix/>
          </a:blip>
          <a:srcRect b="0" l="0" r="71652" t="0"/>
          <a:stretch/>
        </p:blipFill>
        <p:spPr>
          <a:xfrm>
            <a:off x="1916372" y="2600454"/>
            <a:ext cx="1585551" cy="582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95" name="Google Shape;995;p72" title="opp over h equals sine theta degrees opp over sine theta degrees equals h h times sine theta degrees equals opp"/>
          <p:cNvPicPr preferRelativeResize="0"/>
          <p:nvPr/>
        </p:nvPicPr>
        <p:blipFill rotWithShape="1">
          <a:blip r:embed="rId3">
            <a:alphaModFix/>
          </a:blip>
          <a:srcRect b="0" l="65393" r="0" t="0"/>
          <a:stretch/>
        </p:blipFill>
        <p:spPr>
          <a:xfrm>
            <a:off x="868822" y="1947300"/>
            <a:ext cx="1935649"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96" name="Google Shape;996;p72"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846602" y="3013925"/>
            <a:ext cx="1347850"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97" name="Google Shape;997;p72" title="opp over h equals sine theta degrees opp over sine theta degrees equals h h times sine theta degrees equals opp"/>
          <p:cNvPicPr preferRelativeResize="0"/>
          <p:nvPr/>
        </p:nvPicPr>
        <p:blipFill rotWithShape="1">
          <a:blip r:embed="rId3">
            <a:alphaModFix/>
          </a:blip>
          <a:srcRect b="0" l="0" r="71652" t="0"/>
          <a:stretch/>
        </p:blipFill>
        <p:spPr>
          <a:xfrm>
            <a:off x="822283" y="4080550"/>
            <a:ext cx="1585551" cy="582525"/>
          </a:xfrm>
          <a:prstGeom prst="rect">
            <a:avLst/>
          </a:prstGeom>
          <a:noFill/>
          <a:ln>
            <a:noFill/>
          </a:ln>
        </p:spPr>
      </p:pic>
      <p:sp>
        <p:nvSpPr>
          <p:cNvPr id="998" name="Google Shape;998;p72"/>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substitute values in a right-angled triangle into each version of the sine formula to represent the relationship between the side opposite an angle and the hypotenuse in different ways.</a:t>
            </a:r>
            <a:endParaRPr sz="1800">
              <a:latin typeface="Lexend"/>
              <a:ea typeface="Lexend"/>
              <a:cs typeface="Lexend"/>
              <a:sym typeface="Lexend"/>
            </a:endParaRPr>
          </a:p>
        </p:txBody>
      </p:sp>
      <p:sp>
        <p:nvSpPr>
          <p:cNvPr id="999" name="Google Shape;999;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000" name="Google Shape;1000;p72"/>
          <p:cNvSpPr/>
          <p:nvPr/>
        </p:nvSpPr>
        <p:spPr>
          <a:xfrm>
            <a:off x="6175249" y="3158886"/>
            <a:ext cx="980700" cy="981000"/>
          </a:xfrm>
          <a:prstGeom prst="arc">
            <a:avLst>
              <a:gd fmla="val 17449468" name="adj1"/>
              <a:gd fmla="val 53074"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1" name="Google Shape;1001;p72"/>
          <p:cNvSpPr/>
          <p:nvPr/>
        </p:nvSpPr>
        <p:spPr>
          <a:xfrm rot="-5400000">
            <a:off x="6158070" y="2490161"/>
            <a:ext cx="1668300" cy="650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2" name="Google Shape;1002;p72"/>
          <p:cNvCxnSpPr/>
          <p:nvPr/>
        </p:nvCxnSpPr>
        <p:spPr>
          <a:xfrm flipH="1">
            <a:off x="6590919" y="1904861"/>
            <a:ext cx="6501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03" name="Google Shape;1003;p72"/>
          <p:cNvCxnSpPr/>
          <p:nvPr/>
        </p:nvCxnSpPr>
        <p:spPr>
          <a:xfrm rot="10800000">
            <a:off x="7427801" y="1981061"/>
            <a:ext cx="0" cy="1668300"/>
          </a:xfrm>
          <a:prstGeom prst="straightConnector1">
            <a:avLst/>
          </a:prstGeom>
          <a:noFill/>
          <a:ln cap="flat" cmpd="sng" w="28575">
            <a:solidFill>
              <a:srgbClr val="845AD9"/>
            </a:solidFill>
            <a:prstDash val="solid"/>
            <a:round/>
            <a:headEnd len="med" w="med" type="triangle"/>
            <a:tailEnd len="med" w="med" type="triangle"/>
          </a:ln>
        </p:spPr>
      </p:cxnSp>
      <p:sp>
        <p:nvSpPr>
          <p:cNvPr id="1004" name="Google Shape;1004;p72"/>
          <p:cNvSpPr txBox="1"/>
          <p:nvPr/>
        </p:nvSpPr>
        <p:spPr>
          <a:xfrm flipH="1">
            <a:off x="6698587" y="3402717"/>
            <a:ext cx="443700" cy="25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66°</a:t>
            </a:r>
            <a:endParaRPr sz="1800">
              <a:latin typeface="Lexend"/>
              <a:ea typeface="Lexend"/>
              <a:cs typeface="Lexend"/>
              <a:sym typeface="Lexend"/>
            </a:endParaRPr>
          </a:p>
        </p:txBody>
      </p:sp>
      <p:sp>
        <p:nvSpPr>
          <p:cNvPr id="1005" name="Google Shape;1005;p72"/>
          <p:cNvSpPr/>
          <p:nvPr/>
        </p:nvSpPr>
        <p:spPr>
          <a:xfrm>
            <a:off x="7229671" y="3561711"/>
            <a:ext cx="87600" cy="876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6" name="Google Shape;1006;p72"/>
          <p:cNvSpPr txBox="1"/>
          <p:nvPr/>
        </p:nvSpPr>
        <p:spPr>
          <a:xfrm flipH="1">
            <a:off x="7506538" y="2700000"/>
            <a:ext cx="738300" cy="25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1007" name="Google Shape;1007;p72"/>
          <p:cNvSpPr txBox="1"/>
          <p:nvPr/>
        </p:nvSpPr>
        <p:spPr>
          <a:xfrm flipH="1">
            <a:off x="6212684" y="2574748"/>
            <a:ext cx="624300" cy="25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pic>
        <p:nvPicPr>
          <p:cNvPr descr="&lt;math xmlns=&quot;http://www.w3.org/1998/Math/MathML&quot; display=&quot;block&quot; data-is-equatio=&quot;1&quot; data-latex=&quot;\textcolor{#845ad9}{\frac{15}{b}=\sin\left(66°\right)\ \ \ \ \ \frac{15}{\sin\left(66°\right)}=b\ \ \ \ \ b\times\sin\left(66°\right)=15}&quot;&gt;&lt;mstyle mathcolor=&quot;#845ad9&quot;&gt;&lt;mfrac&gt;&lt;mn&gt;15&lt;/mn&gt;&lt;mi&gt;b&lt;/mi&gt;&lt;/mfrac&gt;&lt;mo&gt;=&lt;/mo&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text&gt;&lt;/mtext&gt;&lt;mtext&gt;&lt;/mtext&gt;&lt;mtext&gt;&lt;/mtext&gt;&lt;mtext&gt;&lt;/mtext&gt;&lt;mtext&gt;&lt;/mtext&gt;&lt;mfrac&gt;&lt;mn&gt;15&lt;/mn&gt;&lt;mrow&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row&gt;&lt;/mfrac&gt;&lt;mo&gt;=&lt;/mo&gt;&lt;mi&gt;b&lt;/mi&gt;&lt;mtext&gt;&lt;/mtext&gt;&lt;mtext&gt;&lt;/mtext&gt;&lt;mtext&gt;&lt;/mtext&gt;&lt;mtext&gt;&lt;/mtext&gt;&lt;mtext&gt;&lt;/mtext&gt;&lt;mi&gt;b&lt;/mi&gt;&lt;mo&gt;×&lt;/mo&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o&gt;=&lt;/mo&gt;&lt;mn&gt;15&lt;/mn&gt;&lt;/mstyle&gt;&lt;/math&gt;" id="1008" name="Google Shape;1008;p72" title="15 over b equals sine 66 degrees 15 over sine 66 degrees equals b b times sine 66 degrees equals 15"/>
          <p:cNvPicPr preferRelativeResize="0"/>
          <p:nvPr/>
        </p:nvPicPr>
        <p:blipFill rotWithShape="1">
          <a:blip r:embed="rId4">
            <a:alphaModFix/>
          </a:blip>
          <a:srcRect b="0" l="64661" r="0" t="0"/>
          <a:stretch/>
        </p:blipFill>
        <p:spPr>
          <a:xfrm>
            <a:off x="3073203" y="1934883"/>
            <a:ext cx="1794075" cy="561600"/>
          </a:xfrm>
          <a:prstGeom prst="rect">
            <a:avLst/>
          </a:prstGeom>
          <a:noFill/>
          <a:ln>
            <a:noFill/>
          </a:ln>
        </p:spPr>
      </p:pic>
      <p:pic>
        <p:nvPicPr>
          <p:cNvPr descr="&lt;math xmlns=&quot;http://www.w3.org/1998/Math/MathML&quot; display=&quot;block&quot; data-is-equatio=&quot;1&quot; data-latex=&quot;\textcolor{#845ad9}{\frac{15}{b}=\sin\left(66°\right)\ \ \ \ \ \frac{15}{\sin\left(66°\right)}=b\ \ \ \ \ b\times\sin\left(66°\right)=15}&quot;&gt;&lt;mstyle mathcolor=&quot;#845ad9&quot;&gt;&lt;mfrac&gt;&lt;mn&gt;15&lt;/mn&gt;&lt;mi&gt;b&lt;/mi&gt;&lt;/mfrac&gt;&lt;mo&gt;=&lt;/mo&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text&gt;&lt;/mtext&gt;&lt;mtext&gt;&lt;/mtext&gt;&lt;mtext&gt;&lt;/mtext&gt;&lt;mtext&gt;&lt;/mtext&gt;&lt;mtext&gt;&lt;/mtext&gt;&lt;mfrac&gt;&lt;mn&gt;15&lt;/mn&gt;&lt;mrow&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row&gt;&lt;/mfrac&gt;&lt;mo&gt;=&lt;/mo&gt;&lt;mi&gt;b&lt;/mi&gt;&lt;mtext&gt;&lt;/mtext&gt;&lt;mtext&gt;&lt;/mtext&gt;&lt;mtext&gt;&lt;/mtext&gt;&lt;mtext&gt;&lt;/mtext&gt;&lt;mtext&gt;&lt;/mtext&gt;&lt;mi&gt;b&lt;/mi&gt;&lt;mo&gt;×&lt;/mo&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o&gt;=&lt;/mo&gt;&lt;mn&gt;15&lt;/mn&gt;&lt;/mstyle&gt;&lt;/math&gt;" id="1009" name="Google Shape;1009;p72" title="15 over b equals sine 66 degrees 15 over sine 66 degrees equals b b times sine 66 degrees equals 15"/>
          <p:cNvPicPr preferRelativeResize="0"/>
          <p:nvPr/>
        </p:nvPicPr>
        <p:blipFill rotWithShape="1">
          <a:blip r:embed="rId4">
            <a:alphaModFix/>
          </a:blip>
          <a:srcRect b="0" l="33792" r="38042" t="0"/>
          <a:stretch/>
        </p:blipFill>
        <p:spPr>
          <a:xfrm>
            <a:off x="3073200" y="3003225"/>
            <a:ext cx="1429899" cy="561600"/>
          </a:xfrm>
          <a:prstGeom prst="rect">
            <a:avLst/>
          </a:prstGeom>
          <a:noFill/>
          <a:ln>
            <a:noFill/>
          </a:ln>
        </p:spPr>
      </p:pic>
      <p:pic>
        <p:nvPicPr>
          <p:cNvPr descr="&lt;math xmlns=&quot;http://www.w3.org/1998/Math/MathML&quot; display=&quot;block&quot; data-is-equatio=&quot;1&quot; data-latex=&quot;\textcolor{#845ad9}{\frac{15}{b}=\sin\left(66°\right)\ \ \ \ \ \frac{15}{\sin\left(66°\right)}=b\ \ \ \ \ b\times\sin\left(66°\right)=15}&quot;&gt;&lt;mstyle mathcolor=&quot;#845ad9&quot;&gt;&lt;mfrac&gt;&lt;mn&gt;15&lt;/mn&gt;&lt;mi&gt;b&lt;/mi&gt;&lt;/mfrac&gt;&lt;mo&gt;=&lt;/mo&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text&gt;&lt;/mtext&gt;&lt;mtext&gt;&lt;/mtext&gt;&lt;mtext&gt;&lt;/mtext&gt;&lt;mtext&gt;&lt;/mtext&gt;&lt;mtext&gt;&lt;/mtext&gt;&lt;mfrac&gt;&lt;mn&gt;15&lt;/mn&gt;&lt;mrow&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row&gt;&lt;/mfrac&gt;&lt;mo&gt;=&lt;/mo&gt;&lt;mi&gt;b&lt;/mi&gt;&lt;mtext&gt;&lt;/mtext&gt;&lt;mtext&gt;&lt;/mtext&gt;&lt;mtext&gt;&lt;/mtext&gt;&lt;mtext&gt;&lt;/mtext&gt;&lt;mtext&gt;&lt;/mtext&gt;&lt;mi&gt;b&lt;/mi&gt;&lt;mo&gt;×&lt;/mo&gt;&lt;mi&gt;sin&lt;/mi&gt;&lt;mo data-mjx-texclass=&quot;NONE&quot;&gt;⁡&lt;/mo&gt;&lt;mrow data-mjx-texclass=&quot;INNER&quot;&gt;&lt;mo data-mjx-texclass=&quot;OPEN&quot;&gt;(&lt;/mo&gt;&lt;mn&gt;66&lt;/mn&gt;&lt;mrow data-mjx-texclass=&quot;ORD&quot;&gt;&lt;mo data-mjx-pseudoscript=&quot;true&quot;&gt;°&lt;/mo&gt;&lt;/mrow&gt;&lt;mo data-mjx-texclass=&quot;CLOSE&quot;&gt;)&lt;/mo&gt;&lt;/mrow&gt;&lt;mo&gt;=&lt;/mo&gt;&lt;mn&gt;15&lt;/mn&gt;&lt;/mstyle&gt;&lt;/math&gt;" id="1010" name="Google Shape;1010;p72" title="15 over b equals sine 66 degrees 15 over sine 66 degrees equals b b times sine 66 degrees equals 15"/>
          <p:cNvPicPr preferRelativeResize="0"/>
          <p:nvPr/>
        </p:nvPicPr>
        <p:blipFill rotWithShape="1">
          <a:blip r:embed="rId4">
            <a:alphaModFix/>
          </a:blip>
          <a:srcRect b="0" l="0" r="71834" t="0"/>
          <a:stretch/>
        </p:blipFill>
        <p:spPr>
          <a:xfrm>
            <a:off x="3073191" y="4073795"/>
            <a:ext cx="1429899" cy="56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73"/>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Which of these correctly shows the relationship between the hypotenuse and the side opposite the 82° angle for this triangle (rounded to the nearest integer)?</a:t>
            </a:r>
            <a:endParaRPr sz="1800">
              <a:latin typeface="Lexend"/>
              <a:ea typeface="Lexend"/>
              <a:cs typeface="Lexend"/>
              <a:sym typeface="Lexend"/>
            </a:endParaRPr>
          </a:p>
        </p:txBody>
      </p:sp>
      <p:sp>
        <p:nvSpPr>
          <p:cNvPr id="1016" name="Google Shape;1016;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017" name="Google Shape;1017;p73"/>
          <p:cNvSpPr/>
          <p:nvPr/>
        </p:nvSpPr>
        <p:spPr>
          <a:xfrm flipH="1">
            <a:off x="6331848" y="3371549"/>
            <a:ext cx="1108500" cy="11085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8" name="Google Shape;1018;p73"/>
          <p:cNvSpPr/>
          <p:nvPr/>
        </p:nvSpPr>
        <p:spPr>
          <a:xfrm flipH="1">
            <a:off x="7772739" y="37308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9" name="Google Shape;1019;p73"/>
          <p:cNvSpPr txBox="1"/>
          <p:nvPr/>
        </p:nvSpPr>
        <p:spPr>
          <a:xfrm flipH="1">
            <a:off x="8078397" y="2850788"/>
            <a:ext cx="804900"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99 cm</a:t>
            </a:r>
            <a:endParaRPr sz="1800">
              <a:latin typeface="Lexend"/>
              <a:ea typeface="Lexend"/>
              <a:cs typeface="Lexend"/>
              <a:sym typeface="Lexend"/>
            </a:endParaRPr>
          </a:p>
        </p:txBody>
      </p:sp>
      <p:grpSp>
        <p:nvGrpSpPr>
          <p:cNvPr id="1020" name="Google Shape;1020;p73"/>
          <p:cNvGrpSpPr/>
          <p:nvPr/>
        </p:nvGrpSpPr>
        <p:grpSpPr>
          <a:xfrm>
            <a:off x="6805021" y="1834359"/>
            <a:ext cx="1273367" cy="2201921"/>
            <a:chOff x="-2089411" y="1392790"/>
            <a:chExt cx="1126077" cy="1822933"/>
          </a:xfrm>
        </p:grpSpPr>
        <p:sp>
          <p:nvSpPr>
            <p:cNvPr id="1021" name="Google Shape;1021;p7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22" name="Google Shape;1022;p73"/>
            <p:cNvCxnSpPr/>
            <p:nvPr/>
          </p:nvCxnSpPr>
          <p:spPr>
            <a:xfrm flipH="1">
              <a:off x="-2089411" y="139279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23" name="Google Shape;1023;p73"/>
            <p:cNvCxnSpPr/>
            <p:nvPr/>
          </p:nvCxnSpPr>
          <p:spPr>
            <a:xfrm rot="10800000">
              <a:off x="-2022025" y="3215724"/>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024" name="Google Shape;1024;p73"/>
            <p:cNvCxnSpPr/>
            <p:nvPr/>
          </p:nvCxnSpPr>
          <p:spPr>
            <a:xfrm rot="10800000">
              <a:off x="-963334"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025" name="Google Shape;1025;p73"/>
          <p:cNvSpPr txBox="1"/>
          <p:nvPr/>
        </p:nvSpPr>
        <p:spPr>
          <a:xfrm flipH="1">
            <a:off x="6971481" y="3707075"/>
            <a:ext cx="468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2</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026" name="Google Shape;1026;p73"/>
          <p:cNvSpPr txBox="1"/>
          <p:nvPr/>
        </p:nvSpPr>
        <p:spPr>
          <a:xfrm flipH="1">
            <a:off x="6157610" y="2740654"/>
            <a:ext cx="1098600"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100 cm</a:t>
            </a:r>
            <a:endParaRPr sz="1800">
              <a:latin typeface="Lexend"/>
              <a:ea typeface="Lexend"/>
              <a:cs typeface="Lexend"/>
              <a:sym typeface="Lexend"/>
            </a:endParaRPr>
          </a:p>
        </p:txBody>
      </p:sp>
      <p:pic>
        <p:nvPicPr>
          <p:cNvPr descr="&lt;math xmlns=&quot;http://www.w3.org/1998/Math/MathML&quot; display=&quot;block&quot; data-is-equatio=&quot;1&quot; data-latex=&quot;\textcolor{#FFFFF}{\frac{99}{100}=\sin\left(82°\right)\ \ \ \ \ \frac{99}{\sin\left(82°\right)}=100\ \ \ \ \ 100\times\sin\left(82°\right)=99}\ \ \ \ \ \sin\left(82°\times100\right)=99\ \ \ \ \ \sin\left(\frac{82°}{99}\right)=100&quot;&gt;&lt;mstyle mathcolor=&quot;#FFFFF&quot;&gt;&lt;mfrac&gt;&lt;mn&gt;99&lt;/mn&gt;&lt;mn&gt;100&lt;/mn&gt;&lt;/mfrac&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99&lt;/mn&gt;&lt;mrow&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99&lt;/mn&gt;&lt;/mstyle&gt;&lt;mtext&gt;&lt;/mtext&gt;&lt;mtext&gt;&lt;/mtext&gt;&lt;mtext&gt;&lt;/mtext&gt;&lt;mtext&gt;&lt;/mtext&gt;&lt;mtext&gt;&lt;/mtext&gt;&lt;mi&gt;sin&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99&lt;/mn&gt;&lt;mtext&gt;&lt;/mtext&gt;&lt;mtext&gt;&lt;/mtext&gt;&lt;mtext&gt;&lt;/mtext&gt;&lt;mtext&gt;&lt;/mtext&gt;&lt;mtext&gt;&lt;/mtext&gt;&lt;mi&gt;sin&lt;/mi&gt;&lt;mo data-mjx-texclass=&quot;NONE&quot;&gt;⁡&lt;/mo&gt;&lt;mrow data-mjx-texclass=&quot;INNER&quot;&gt;&lt;mo data-mjx-texclass=&quot;OPEN&quot;&gt;(&lt;/mo&gt;&lt;mfrac&gt;&lt;mrow&gt;&lt;mn&gt;82&lt;/mn&gt;&lt;mrow data-mjx-texclass=&quot;ORD&quot;&gt;&lt;mo data-mjx-pseudoscript=&quot;true&quot;&gt;°&lt;/mo&gt;&lt;/mrow&gt;&lt;/mrow&gt;&lt;mn&gt;99&lt;/mn&gt;&lt;/mfrac&gt;&lt;mo data-mjx-texclass=&quot;CLOSE&quot;&gt;)&lt;/mo&gt;&lt;/mrow&gt;&lt;mo&gt;=&lt;/mo&gt;&lt;mn&gt;100&lt;/mn&gt;&lt;/math&gt;" id="1027" name="Google Shape;1027;p73" title="99 over 100 equals sine 82 degrees 99 over sine 82 degrees equals 100 100 times sine 82 degrees equals 99 the sine of open paren 82 degrees times 100 close paren equals 99 the sine of open paren 82 degrees over 99 close paren equals 100"/>
          <p:cNvPicPr preferRelativeResize="0"/>
          <p:nvPr/>
        </p:nvPicPr>
        <p:blipFill rotWithShape="1">
          <a:blip r:embed="rId3">
            <a:alphaModFix/>
          </a:blip>
          <a:srcRect b="0" l="18190" r="66404" t="0"/>
          <a:stretch/>
        </p:blipFill>
        <p:spPr>
          <a:xfrm>
            <a:off x="3648200" y="2444088"/>
            <a:ext cx="1444823" cy="561600"/>
          </a:xfrm>
          <a:prstGeom prst="rect">
            <a:avLst/>
          </a:prstGeom>
          <a:noFill/>
          <a:ln>
            <a:noFill/>
          </a:ln>
        </p:spPr>
      </p:pic>
      <p:pic>
        <p:nvPicPr>
          <p:cNvPr descr="&lt;math xmlns=&quot;http://www.w3.org/1998/Math/MathML&quot; display=&quot;block&quot; data-is-equatio=&quot;1&quot; data-latex=&quot;\textcolor{#FFFFF}{\frac{99}{100}=\sin\left(82°\right)\ \ \ \ \ \frac{99}{\sin\left(82°\right)}=100\ \ \ \ \ 100\times\sin\left(82°\right)=99}\ \ \ \ \ \sin\left(82°\times100\right)=99\ \ \ \ \ \sin\left(\frac{82°}{99}\right)=100&quot;&gt;&lt;mstyle mathcolor=&quot;#FFFFF&quot;&gt;&lt;mfrac&gt;&lt;mn&gt;99&lt;/mn&gt;&lt;mn&gt;100&lt;/mn&gt;&lt;/mfrac&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99&lt;/mn&gt;&lt;mrow&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99&lt;/mn&gt;&lt;/mstyle&gt;&lt;mtext&gt;&lt;/mtext&gt;&lt;mtext&gt;&lt;/mtext&gt;&lt;mtext&gt;&lt;/mtext&gt;&lt;mtext&gt;&lt;/mtext&gt;&lt;mtext&gt;&lt;/mtext&gt;&lt;mi&gt;sin&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99&lt;/mn&gt;&lt;mtext&gt;&lt;/mtext&gt;&lt;mtext&gt;&lt;/mtext&gt;&lt;mtext&gt;&lt;/mtext&gt;&lt;mtext&gt;&lt;/mtext&gt;&lt;mtext&gt;&lt;/mtext&gt;&lt;mi&gt;sin&lt;/mi&gt;&lt;mo data-mjx-texclass=&quot;NONE&quot;&gt;⁡&lt;/mo&gt;&lt;mrow data-mjx-texclass=&quot;INNER&quot;&gt;&lt;mo data-mjx-texclass=&quot;OPEN&quot;&gt;(&lt;/mo&gt;&lt;mfrac&gt;&lt;mrow&gt;&lt;mn&gt;82&lt;/mn&gt;&lt;mrow data-mjx-texclass=&quot;ORD&quot;&gt;&lt;mo data-mjx-pseudoscript=&quot;true&quot;&gt;°&lt;/mo&gt;&lt;/mrow&gt;&lt;/mrow&gt;&lt;mn&gt;99&lt;/mn&gt;&lt;/mfrac&gt;&lt;mo data-mjx-texclass=&quot;CLOSE&quot;&gt;)&lt;/mo&gt;&lt;/mrow&gt;&lt;mo&gt;=&lt;/mo&gt;&lt;mn&gt;100&lt;/mn&gt;&lt;/math&gt;" id="1028" name="Google Shape;1028;p73" title="99 over 100 equals sine 82 degrees 99 over sine 82 degrees equals 100 100 times sine 82 degrees equals 99 the sine of open paren 82 degrees times 100 close paren equals 99 the sine of open paren 82 degrees over 99 close paren equals 100"/>
          <p:cNvPicPr preferRelativeResize="0"/>
          <p:nvPr/>
        </p:nvPicPr>
        <p:blipFill rotWithShape="1">
          <a:blip r:embed="rId3">
            <a:alphaModFix/>
          </a:blip>
          <a:srcRect b="0" l="0" r="83909" t="0"/>
          <a:stretch/>
        </p:blipFill>
        <p:spPr>
          <a:xfrm>
            <a:off x="863050" y="1998100"/>
            <a:ext cx="1509048" cy="561600"/>
          </a:xfrm>
          <a:prstGeom prst="rect">
            <a:avLst/>
          </a:prstGeom>
          <a:noFill/>
          <a:ln>
            <a:noFill/>
          </a:ln>
        </p:spPr>
      </p:pic>
      <p:pic>
        <p:nvPicPr>
          <p:cNvPr descr="&lt;math xmlns=&quot;http://www.w3.org/1998/Math/MathML&quot; display=&quot;block&quot; data-is-equatio=&quot;1&quot; data-latex=&quot;\textcolor{#FFFFF}{\frac{99}{100}=\sin\left(82°\right)\ \ \ \ \ \frac{99}{\sin\left(82°\right)}=100\ \ \ \ \ 100\times\sin\left(82°\right)=99}\ \ \ \ \ \sin\left(82°\times100\right)=99\ \ \ \ \ \sin\left(\frac{82°}{99}\right)=100&quot;&gt;&lt;mstyle mathcolor=&quot;#FFFFF&quot;&gt;&lt;mfrac&gt;&lt;mn&gt;99&lt;/mn&gt;&lt;mn&gt;100&lt;/mn&gt;&lt;/mfrac&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99&lt;/mn&gt;&lt;mrow&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99&lt;/mn&gt;&lt;/mstyle&gt;&lt;mtext&gt;&lt;/mtext&gt;&lt;mtext&gt;&lt;/mtext&gt;&lt;mtext&gt;&lt;/mtext&gt;&lt;mtext&gt;&lt;/mtext&gt;&lt;mtext&gt;&lt;/mtext&gt;&lt;mi&gt;sin&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99&lt;/mn&gt;&lt;mtext&gt;&lt;/mtext&gt;&lt;mtext&gt;&lt;/mtext&gt;&lt;mtext&gt;&lt;/mtext&gt;&lt;mtext&gt;&lt;/mtext&gt;&lt;mtext&gt;&lt;/mtext&gt;&lt;mi&gt;sin&lt;/mi&gt;&lt;mo data-mjx-texclass=&quot;NONE&quot;&gt;⁡&lt;/mo&gt;&lt;mrow data-mjx-texclass=&quot;INNER&quot;&gt;&lt;mo data-mjx-texclass=&quot;OPEN&quot;&gt;(&lt;/mo&gt;&lt;mfrac&gt;&lt;mrow&gt;&lt;mn&gt;82&lt;/mn&gt;&lt;mrow data-mjx-texclass=&quot;ORD&quot;&gt;&lt;mo data-mjx-pseudoscript=&quot;true&quot;&gt;°&lt;/mo&gt;&lt;/mrow&gt;&lt;/mrow&gt;&lt;mn&gt;99&lt;/mn&gt;&lt;/mfrac&gt;&lt;mo data-mjx-texclass=&quot;CLOSE&quot;&gt;)&lt;/mo&gt;&lt;/mrow&gt;&lt;mo&gt;=&lt;/mo&gt;&lt;mn&gt;100&lt;/mn&gt;&lt;/math&gt;" id="1029" name="Google Shape;1029;p73" title="99 over 100 equals sine 82 degrees 99 over sine 82 degrees equals 100 100 times sine 82 degrees equals 99 the sine of open paren 82 degrees times 100 close paren equals 99 the sine of open paren 82 degrees over 99 close paren equals 100"/>
          <p:cNvPicPr preferRelativeResize="0"/>
          <p:nvPr/>
        </p:nvPicPr>
        <p:blipFill rotWithShape="1">
          <a:blip r:embed="rId3">
            <a:alphaModFix/>
          </a:blip>
          <a:srcRect b="0" l="36659" r="43543" t="0"/>
          <a:stretch/>
        </p:blipFill>
        <p:spPr>
          <a:xfrm>
            <a:off x="863050" y="3782050"/>
            <a:ext cx="1856748" cy="561600"/>
          </a:xfrm>
          <a:prstGeom prst="rect">
            <a:avLst/>
          </a:prstGeom>
          <a:noFill/>
          <a:ln>
            <a:noFill/>
          </a:ln>
        </p:spPr>
      </p:pic>
      <p:pic>
        <p:nvPicPr>
          <p:cNvPr descr="&lt;math xmlns=&quot;http://www.w3.org/1998/Math/MathML&quot; display=&quot;block&quot; data-is-equatio=&quot;1&quot; data-latex=&quot;\textcolor{#FFFFF}{\frac{99}{100}=\sin\left(82°\right)\ \ \ \ \ \frac{99}{\sin\left(82°\right)}=100\ \ \ \ \ 100\times\sin\left(82°\right)=99}\ \ \ \ \ \sin\left(82°\times100\right)=99\ \ \ \ \ \sin\left(\frac{82°}{99}\right)=100&quot;&gt;&lt;mstyle mathcolor=&quot;#FFFFF&quot;&gt;&lt;mfrac&gt;&lt;mn&gt;99&lt;/mn&gt;&lt;mn&gt;100&lt;/mn&gt;&lt;/mfrac&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99&lt;/mn&gt;&lt;mrow&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99&lt;/mn&gt;&lt;/mstyle&gt;&lt;mtext&gt;&lt;/mtext&gt;&lt;mtext&gt;&lt;/mtext&gt;&lt;mtext&gt;&lt;/mtext&gt;&lt;mtext&gt;&lt;/mtext&gt;&lt;mtext&gt;&lt;/mtext&gt;&lt;mi&gt;sin&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99&lt;/mn&gt;&lt;mtext&gt;&lt;/mtext&gt;&lt;mtext&gt;&lt;/mtext&gt;&lt;mtext&gt;&lt;/mtext&gt;&lt;mtext&gt;&lt;/mtext&gt;&lt;mtext&gt;&lt;/mtext&gt;&lt;mi&gt;sin&lt;/mi&gt;&lt;mo data-mjx-texclass=&quot;NONE&quot;&gt;⁡&lt;/mo&gt;&lt;mrow data-mjx-texclass=&quot;INNER&quot;&gt;&lt;mo data-mjx-texclass=&quot;OPEN&quot;&gt;(&lt;/mo&gt;&lt;mfrac&gt;&lt;mrow&gt;&lt;mn&gt;82&lt;/mn&gt;&lt;mrow data-mjx-texclass=&quot;ORD&quot;&gt;&lt;mo data-mjx-pseudoscript=&quot;true&quot;&gt;°&lt;/mo&gt;&lt;/mrow&gt;&lt;/mrow&gt;&lt;mn&gt;99&lt;/mn&gt;&lt;/mfrac&gt;&lt;mo data-mjx-texclass=&quot;CLOSE&quot;&gt;)&lt;/mo&gt;&lt;/mrow&gt;&lt;mo&gt;=&lt;/mo&gt;&lt;mn&gt;100&lt;/mn&gt;&lt;/math&gt;" id="1030" name="Google Shape;1030;p73" title="99 over 100 equals sine 82 degrees 99 over sine 82 degrees equals 100 100 times sine 82 degrees equals 99 the sine of open paren 82 degrees times 100 close paren equals 99 the sine of open paren 82 degrees over 99 close paren equals 100"/>
          <p:cNvPicPr preferRelativeResize="0"/>
          <p:nvPr/>
        </p:nvPicPr>
        <p:blipFill rotWithShape="1">
          <a:blip r:embed="rId3">
            <a:alphaModFix/>
          </a:blip>
          <a:srcRect b="0" l="59620" r="20531" t="0"/>
          <a:stretch/>
        </p:blipFill>
        <p:spPr>
          <a:xfrm>
            <a:off x="863050" y="2890075"/>
            <a:ext cx="1861427" cy="561600"/>
          </a:xfrm>
          <a:prstGeom prst="rect">
            <a:avLst/>
          </a:prstGeom>
          <a:noFill/>
          <a:ln>
            <a:noFill/>
          </a:ln>
        </p:spPr>
      </p:pic>
      <p:pic>
        <p:nvPicPr>
          <p:cNvPr descr="&lt;math xmlns=&quot;http://www.w3.org/1998/Math/MathML&quot; display=&quot;block&quot; data-is-equatio=&quot;1&quot; data-latex=&quot;\textcolor{#FFFFF}{\frac{99}{100}=\sin\left(82°\right)\ \ \ \ \ \frac{99}{\sin\left(82°\right)}=100\ \ \ \ \ 100\times\sin\left(82°\right)=99}\ \ \ \ \ \sin\left(82°\times100\right)=99\ \ \ \ \ \sin\left(\frac{82°}{99}\right)=100&quot;&gt;&lt;mstyle mathcolor=&quot;#FFFFF&quot;&gt;&lt;mfrac&gt;&lt;mn&gt;99&lt;/mn&gt;&lt;mn&gt;100&lt;/mn&gt;&lt;/mfrac&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99&lt;/mn&gt;&lt;mrow&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si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99&lt;/mn&gt;&lt;/mstyle&gt;&lt;mtext&gt;&lt;/mtext&gt;&lt;mtext&gt;&lt;/mtext&gt;&lt;mtext&gt;&lt;/mtext&gt;&lt;mtext&gt;&lt;/mtext&gt;&lt;mtext&gt;&lt;/mtext&gt;&lt;mi&gt;sin&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99&lt;/mn&gt;&lt;mtext&gt;&lt;/mtext&gt;&lt;mtext&gt;&lt;/mtext&gt;&lt;mtext&gt;&lt;/mtext&gt;&lt;mtext&gt;&lt;/mtext&gt;&lt;mtext&gt;&lt;/mtext&gt;&lt;mi&gt;sin&lt;/mi&gt;&lt;mo data-mjx-texclass=&quot;NONE&quot;&gt;⁡&lt;/mo&gt;&lt;mrow data-mjx-texclass=&quot;INNER&quot;&gt;&lt;mo data-mjx-texclass=&quot;OPEN&quot;&gt;(&lt;/mo&gt;&lt;mfrac&gt;&lt;mrow&gt;&lt;mn&gt;82&lt;/mn&gt;&lt;mrow data-mjx-texclass=&quot;ORD&quot;&gt;&lt;mo data-mjx-pseudoscript=&quot;true&quot;&gt;°&lt;/mo&gt;&lt;/mrow&gt;&lt;/mrow&gt;&lt;mn&gt;99&lt;/mn&gt;&lt;/mfrac&gt;&lt;mo data-mjx-texclass=&quot;CLOSE&quot;&gt;)&lt;/mo&gt;&lt;/mrow&gt;&lt;mo&gt;=&lt;/mo&gt;&lt;mn&gt;100&lt;/mn&gt;&lt;/math&gt;" id="1031" name="Google Shape;1031;p73" title="99 over 100 equals sine 82 degrees 99 over sine 82 degrees equals 100 100 times sine 82 degrees equals 99 the sine of open paren 82 degrees times 100 close paren equals 99 the sine of open paren 82 degrees over 99 close paren equals 100"/>
          <p:cNvPicPr preferRelativeResize="0"/>
          <p:nvPr/>
        </p:nvPicPr>
        <p:blipFill rotWithShape="1">
          <a:blip r:embed="rId3">
            <a:alphaModFix/>
          </a:blip>
          <a:srcRect b="0" l="82675" r="0" t="0"/>
          <a:stretch/>
        </p:blipFill>
        <p:spPr>
          <a:xfrm>
            <a:off x="3648200" y="3336063"/>
            <a:ext cx="1624801" cy="561600"/>
          </a:xfrm>
          <a:prstGeom prst="rect">
            <a:avLst/>
          </a:prstGeom>
          <a:noFill/>
          <a:ln>
            <a:noFill/>
          </a:ln>
        </p:spPr>
      </p:pic>
      <p:grpSp>
        <p:nvGrpSpPr>
          <p:cNvPr id="1032" name="Google Shape;1032;p73"/>
          <p:cNvGrpSpPr/>
          <p:nvPr/>
        </p:nvGrpSpPr>
        <p:grpSpPr>
          <a:xfrm>
            <a:off x="538555" y="2157358"/>
            <a:ext cx="243093" cy="243093"/>
            <a:chOff x="1020916" y="1442088"/>
            <a:chExt cx="457200" cy="457200"/>
          </a:xfrm>
        </p:grpSpPr>
        <p:pic>
          <p:nvPicPr>
            <p:cNvPr id="1033" name="Google Shape;1033;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34" name="Google Shape;1034;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35" name="Google Shape;1035;p73"/>
          <p:cNvGrpSpPr/>
          <p:nvPr/>
        </p:nvGrpSpPr>
        <p:grpSpPr>
          <a:xfrm>
            <a:off x="538555" y="3049333"/>
            <a:ext cx="243093" cy="243093"/>
            <a:chOff x="1020916" y="1442088"/>
            <a:chExt cx="457200" cy="457200"/>
          </a:xfrm>
        </p:grpSpPr>
        <p:pic>
          <p:nvPicPr>
            <p:cNvPr id="1036" name="Google Shape;1036;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37" name="Google Shape;1037;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38" name="Google Shape;1038;p73"/>
          <p:cNvGrpSpPr/>
          <p:nvPr/>
        </p:nvGrpSpPr>
        <p:grpSpPr>
          <a:xfrm>
            <a:off x="538555" y="3934908"/>
            <a:ext cx="243093" cy="243093"/>
            <a:chOff x="1020916" y="1442088"/>
            <a:chExt cx="457200" cy="457200"/>
          </a:xfrm>
        </p:grpSpPr>
        <p:pic>
          <p:nvPicPr>
            <p:cNvPr id="1039" name="Google Shape;1039;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40" name="Google Shape;1040;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41" name="Google Shape;1041;p73"/>
          <p:cNvGrpSpPr/>
          <p:nvPr/>
        </p:nvGrpSpPr>
        <p:grpSpPr>
          <a:xfrm>
            <a:off x="3349805" y="2603345"/>
            <a:ext cx="243093" cy="243093"/>
            <a:chOff x="1020916" y="1442088"/>
            <a:chExt cx="457200" cy="457200"/>
          </a:xfrm>
        </p:grpSpPr>
        <p:pic>
          <p:nvPicPr>
            <p:cNvPr id="1042" name="Google Shape;1042;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43" name="Google Shape;1043;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044" name="Google Shape;1044;p73"/>
          <p:cNvGrpSpPr/>
          <p:nvPr/>
        </p:nvGrpSpPr>
        <p:grpSpPr>
          <a:xfrm>
            <a:off x="3349805" y="3495308"/>
            <a:ext cx="243093" cy="243093"/>
            <a:chOff x="1020916" y="1442088"/>
            <a:chExt cx="457200" cy="457200"/>
          </a:xfrm>
        </p:grpSpPr>
        <p:pic>
          <p:nvPicPr>
            <p:cNvPr id="1045" name="Google Shape;1045;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46" name="Google Shape;1046;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047" name="Google Shape;1047;p73"/>
          <p:cNvGrpSpPr/>
          <p:nvPr/>
        </p:nvGrpSpPr>
        <p:grpSpPr>
          <a:xfrm>
            <a:off x="2279071" y="2070738"/>
            <a:ext cx="3445229" cy="2164037"/>
            <a:chOff x="2126671" y="1842138"/>
            <a:chExt cx="3445229" cy="2164037"/>
          </a:xfrm>
        </p:grpSpPr>
        <p:pic>
          <p:nvPicPr>
            <p:cNvPr id="1048" name="Google Shape;1048;p73"/>
            <p:cNvPicPr preferRelativeResize="0"/>
            <p:nvPr/>
          </p:nvPicPr>
          <p:blipFill>
            <a:blip r:embed="rId5">
              <a:alphaModFix/>
            </a:blip>
            <a:stretch>
              <a:fillRect/>
            </a:stretch>
          </p:blipFill>
          <p:spPr>
            <a:xfrm>
              <a:off x="2126671" y="1842138"/>
              <a:ext cx="396000" cy="419100"/>
            </a:xfrm>
            <a:prstGeom prst="rect">
              <a:avLst/>
            </a:prstGeom>
            <a:noFill/>
            <a:ln>
              <a:noFill/>
            </a:ln>
          </p:spPr>
        </p:pic>
        <p:pic>
          <p:nvPicPr>
            <p:cNvPr id="1049" name="Google Shape;1049;p73"/>
            <p:cNvPicPr preferRelativeResize="0"/>
            <p:nvPr/>
          </p:nvPicPr>
          <p:blipFill>
            <a:blip r:embed="rId6">
              <a:alphaModFix/>
            </a:blip>
            <a:stretch>
              <a:fillRect/>
            </a:stretch>
          </p:blipFill>
          <p:spPr>
            <a:xfrm>
              <a:off x="2606100" y="2725429"/>
              <a:ext cx="396000" cy="419760"/>
            </a:xfrm>
            <a:prstGeom prst="rect">
              <a:avLst/>
            </a:prstGeom>
            <a:noFill/>
            <a:ln>
              <a:noFill/>
            </a:ln>
          </p:spPr>
        </p:pic>
        <p:pic>
          <p:nvPicPr>
            <p:cNvPr id="1050" name="Google Shape;1050;p73"/>
            <p:cNvPicPr preferRelativeResize="0"/>
            <p:nvPr/>
          </p:nvPicPr>
          <p:blipFill>
            <a:blip r:embed="rId5">
              <a:alphaModFix/>
            </a:blip>
            <a:stretch>
              <a:fillRect/>
            </a:stretch>
          </p:blipFill>
          <p:spPr>
            <a:xfrm>
              <a:off x="2572071" y="3587075"/>
              <a:ext cx="396000" cy="419100"/>
            </a:xfrm>
            <a:prstGeom prst="rect">
              <a:avLst/>
            </a:prstGeom>
            <a:noFill/>
            <a:ln>
              <a:noFill/>
            </a:ln>
          </p:spPr>
        </p:pic>
        <p:pic>
          <p:nvPicPr>
            <p:cNvPr id="1051" name="Google Shape;1051;p73"/>
            <p:cNvPicPr preferRelativeResize="0"/>
            <p:nvPr/>
          </p:nvPicPr>
          <p:blipFill>
            <a:blip r:embed="rId5">
              <a:alphaModFix/>
            </a:blip>
            <a:stretch>
              <a:fillRect/>
            </a:stretch>
          </p:blipFill>
          <p:spPr>
            <a:xfrm>
              <a:off x="4995921" y="2261225"/>
              <a:ext cx="396000" cy="419100"/>
            </a:xfrm>
            <a:prstGeom prst="rect">
              <a:avLst/>
            </a:prstGeom>
            <a:noFill/>
            <a:ln>
              <a:noFill/>
            </a:ln>
          </p:spPr>
        </p:pic>
        <p:pic>
          <p:nvPicPr>
            <p:cNvPr id="1052" name="Google Shape;1052;p73"/>
            <p:cNvPicPr preferRelativeResize="0"/>
            <p:nvPr/>
          </p:nvPicPr>
          <p:blipFill>
            <a:blip r:embed="rId6">
              <a:alphaModFix/>
            </a:blip>
            <a:stretch>
              <a:fillRect/>
            </a:stretch>
          </p:blipFill>
          <p:spPr>
            <a:xfrm>
              <a:off x="5175900" y="3178367"/>
              <a:ext cx="396000" cy="419760"/>
            </a:xfrm>
            <a:prstGeom prst="rect">
              <a:avLst/>
            </a:prstGeom>
            <a:noFill/>
            <a:ln>
              <a:noFill/>
            </a:ln>
          </p:spPr>
        </p:pic>
      </p:grpSp>
      <p:sp>
        <p:nvSpPr>
          <p:cNvPr id="1053" name="Google Shape;1053;p73"/>
          <p:cNvSpPr/>
          <p:nvPr/>
        </p:nvSpPr>
        <p:spPr>
          <a:xfrm>
            <a:off x="859850" y="3890800"/>
            <a:ext cx="18600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74"/>
          <p:cNvSpPr/>
          <p:nvPr/>
        </p:nvSpPr>
        <p:spPr>
          <a:xfrm flipH="1" rot="-7114392">
            <a:off x="8079086" y="2736494"/>
            <a:ext cx="957178" cy="957178"/>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9" name="Google Shape;1059;p74"/>
          <p:cNvSpPr/>
          <p:nvPr/>
        </p:nvSpPr>
        <p:spPr>
          <a:xfrm rot="9085700">
            <a:off x="6407777" y="2680813"/>
            <a:ext cx="2015441" cy="1086588"/>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0" name="Google Shape;1060;p74"/>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correctly shows the relationship between the hypotenuse and the side opposite the angle </a:t>
            </a:r>
            <a:r>
              <a:rPr i="1" lang="en-GB" sz="1800">
                <a:latin typeface="Lexend"/>
                <a:ea typeface="Lexend"/>
                <a:cs typeface="Lexend"/>
                <a:sym typeface="Lexend"/>
              </a:rPr>
              <a:t>θ</a:t>
            </a:r>
            <a:r>
              <a:rPr lang="en-GB" sz="1800">
                <a:latin typeface="Lexend"/>
                <a:ea typeface="Lexend"/>
                <a:cs typeface="Lexend"/>
                <a:sym typeface="Lexend"/>
              </a:rPr>
              <a:t>° for this triangle (rounded to the nearest integer)?</a:t>
            </a:r>
            <a:endParaRPr sz="1800">
              <a:latin typeface="Lexend"/>
              <a:ea typeface="Lexend"/>
              <a:cs typeface="Lexend"/>
              <a:sym typeface="Lexend"/>
            </a:endParaRPr>
          </a:p>
        </p:txBody>
      </p:sp>
      <p:sp>
        <p:nvSpPr>
          <p:cNvPr id="1061" name="Google Shape;1061;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062" name="Google Shape;1062;p74"/>
          <p:cNvSpPr/>
          <p:nvPr/>
        </p:nvSpPr>
        <p:spPr>
          <a:xfrm flipH="1" rot="-7112399">
            <a:off x="7904326" y="2300928"/>
            <a:ext cx="194654" cy="19465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3" name="Google Shape;1063;p74"/>
          <p:cNvSpPr txBox="1"/>
          <p:nvPr/>
        </p:nvSpPr>
        <p:spPr>
          <a:xfrm flipH="1" rot="5127">
            <a:off x="6553369" y="2345474"/>
            <a:ext cx="804601"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89 cm</a:t>
            </a:r>
            <a:endParaRPr sz="1800">
              <a:latin typeface="Lexend"/>
              <a:ea typeface="Lexend"/>
              <a:cs typeface="Lexend"/>
              <a:sym typeface="Lexend"/>
            </a:endParaRPr>
          </a:p>
        </p:txBody>
      </p:sp>
      <p:cxnSp>
        <p:nvCxnSpPr>
          <p:cNvPr id="1064" name="Google Shape;1064;p74"/>
          <p:cNvCxnSpPr/>
          <p:nvPr/>
        </p:nvCxnSpPr>
        <p:spPr>
          <a:xfrm flipH="1" rot="-7114052">
            <a:off x="6841765" y="2319742"/>
            <a:ext cx="1086588" cy="2015441"/>
          </a:xfrm>
          <a:prstGeom prst="straightConnector1">
            <a:avLst/>
          </a:prstGeom>
          <a:noFill/>
          <a:ln cap="flat" cmpd="sng" w="28575">
            <a:solidFill>
              <a:srgbClr val="845AD9"/>
            </a:solidFill>
            <a:prstDash val="solid"/>
            <a:round/>
            <a:headEnd len="med" w="med" type="triangle"/>
            <a:tailEnd len="med" w="med" type="triangle"/>
          </a:ln>
        </p:spPr>
      </p:cxnSp>
      <p:cxnSp>
        <p:nvCxnSpPr>
          <p:cNvPr id="1065" name="Google Shape;1065;p74"/>
          <p:cNvCxnSpPr/>
          <p:nvPr/>
        </p:nvCxnSpPr>
        <p:spPr>
          <a:xfrm rot="3685948">
            <a:off x="7854273" y="2689194"/>
            <a:ext cx="1086588" cy="0"/>
          </a:xfrm>
          <a:prstGeom prst="straightConnector1">
            <a:avLst/>
          </a:prstGeom>
          <a:noFill/>
          <a:ln cap="flat" cmpd="sng" w="28575">
            <a:solidFill>
              <a:srgbClr val="845AD9"/>
            </a:solidFill>
            <a:prstDash val="solid"/>
            <a:round/>
            <a:headEnd len="med" w="med" type="triangle"/>
            <a:tailEnd len="med" w="med" type="triangle"/>
          </a:ln>
        </p:spPr>
      </p:cxnSp>
      <p:sp>
        <p:nvSpPr>
          <p:cNvPr id="1066" name="Google Shape;1066;p74"/>
          <p:cNvSpPr txBox="1"/>
          <p:nvPr/>
        </p:nvSpPr>
        <p:spPr>
          <a:xfrm flipH="1" rot="-11033">
            <a:off x="8065715" y="2993610"/>
            <a:ext cx="467402"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067" name="Google Shape;1067;p74"/>
          <p:cNvSpPr txBox="1"/>
          <p:nvPr/>
        </p:nvSpPr>
        <p:spPr>
          <a:xfrm flipH="1" rot="5425">
            <a:off x="6437398" y="3336769"/>
            <a:ext cx="1901102"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116 cm</a:t>
            </a:r>
            <a:endParaRPr sz="1800">
              <a:latin typeface="Lexend"/>
              <a:ea typeface="Lexend"/>
              <a:cs typeface="Lexend"/>
              <a:sym typeface="Lexend"/>
            </a:endParaRPr>
          </a:p>
        </p:txBody>
      </p:sp>
      <p:grpSp>
        <p:nvGrpSpPr>
          <p:cNvPr id="1068" name="Google Shape;1068;p74"/>
          <p:cNvGrpSpPr/>
          <p:nvPr/>
        </p:nvGrpSpPr>
        <p:grpSpPr>
          <a:xfrm>
            <a:off x="462355" y="2081158"/>
            <a:ext cx="243093" cy="243093"/>
            <a:chOff x="1020916" y="1442088"/>
            <a:chExt cx="457200" cy="457200"/>
          </a:xfrm>
        </p:grpSpPr>
        <p:pic>
          <p:nvPicPr>
            <p:cNvPr id="1069" name="Google Shape;1069;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0" name="Google Shape;1070;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71" name="Google Shape;1071;p74"/>
          <p:cNvGrpSpPr/>
          <p:nvPr/>
        </p:nvGrpSpPr>
        <p:grpSpPr>
          <a:xfrm>
            <a:off x="462355" y="2973133"/>
            <a:ext cx="243093" cy="243093"/>
            <a:chOff x="1020916" y="1442088"/>
            <a:chExt cx="457200" cy="457200"/>
          </a:xfrm>
        </p:grpSpPr>
        <p:pic>
          <p:nvPicPr>
            <p:cNvPr id="1072" name="Google Shape;1072;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3" name="Google Shape;1073;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74" name="Google Shape;1074;p74"/>
          <p:cNvGrpSpPr/>
          <p:nvPr/>
        </p:nvGrpSpPr>
        <p:grpSpPr>
          <a:xfrm>
            <a:off x="462355" y="3858708"/>
            <a:ext cx="243093" cy="243093"/>
            <a:chOff x="1020916" y="1442088"/>
            <a:chExt cx="457200" cy="457200"/>
          </a:xfrm>
        </p:grpSpPr>
        <p:pic>
          <p:nvPicPr>
            <p:cNvPr id="1075" name="Google Shape;1075;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6" name="Google Shape;1076;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77" name="Google Shape;1077;p74"/>
          <p:cNvGrpSpPr/>
          <p:nvPr/>
        </p:nvGrpSpPr>
        <p:grpSpPr>
          <a:xfrm>
            <a:off x="2968805" y="2527145"/>
            <a:ext cx="243093" cy="243093"/>
            <a:chOff x="1020916" y="1442088"/>
            <a:chExt cx="457200" cy="457200"/>
          </a:xfrm>
        </p:grpSpPr>
        <p:pic>
          <p:nvPicPr>
            <p:cNvPr id="1078" name="Google Shape;1078;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9" name="Google Shape;1079;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080" name="Google Shape;1080;p74"/>
          <p:cNvGrpSpPr/>
          <p:nvPr/>
        </p:nvGrpSpPr>
        <p:grpSpPr>
          <a:xfrm>
            <a:off x="2968805" y="3419108"/>
            <a:ext cx="243093" cy="243093"/>
            <a:chOff x="1020916" y="1442088"/>
            <a:chExt cx="457200" cy="457200"/>
          </a:xfrm>
        </p:grpSpPr>
        <p:pic>
          <p:nvPicPr>
            <p:cNvPr id="1081" name="Google Shape;1081;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82" name="Google Shape;1082;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083" name="Google Shape;1083;p74"/>
          <p:cNvGrpSpPr/>
          <p:nvPr/>
        </p:nvGrpSpPr>
        <p:grpSpPr>
          <a:xfrm>
            <a:off x="2274888" y="1992817"/>
            <a:ext cx="3367046" cy="2149946"/>
            <a:chOff x="2122488" y="1992817"/>
            <a:chExt cx="3367046" cy="2149946"/>
          </a:xfrm>
        </p:grpSpPr>
        <p:pic>
          <p:nvPicPr>
            <p:cNvPr id="1084" name="Google Shape;1084;p74"/>
            <p:cNvPicPr preferRelativeResize="0"/>
            <p:nvPr/>
          </p:nvPicPr>
          <p:blipFill>
            <a:blip r:embed="rId4">
              <a:alphaModFix/>
            </a:blip>
            <a:stretch>
              <a:fillRect/>
            </a:stretch>
          </p:blipFill>
          <p:spPr>
            <a:xfrm>
              <a:off x="2125483" y="2858575"/>
              <a:ext cx="396000" cy="419100"/>
            </a:xfrm>
            <a:prstGeom prst="rect">
              <a:avLst/>
            </a:prstGeom>
            <a:noFill/>
            <a:ln>
              <a:noFill/>
            </a:ln>
          </p:spPr>
        </p:pic>
        <p:pic>
          <p:nvPicPr>
            <p:cNvPr id="1085" name="Google Shape;1085;p74"/>
            <p:cNvPicPr preferRelativeResize="0"/>
            <p:nvPr/>
          </p:nvPicPr>
          <p:blipFill>
            <a:blip r:embed="rId5">
              <a:alphaModFix/>
            </a:blip>
            <a:stretch>
              <a:fillRect/>
            </a:stretch>
          </p:blipFill>
          <p:spPr>
            <a:xfrm>
              <a:off x="2122488" y="1992817"/>
              <a:ext cx="396000" cy="419760"/>
            </a:xfrm>
            <a:prstGeom prst="rect">
              <a:avLst/>
            </a:prstGeom>
            <a:noFill/>
            <a:ln>
              <a:noFill/>
            </a:ln>
          </p:spPr>
        </p:pic>
        <p:pic>
          <p:nvPicPr>
            <p:cNvPr id="1086" name="Google Shape;1086;p74"/>
            <p:cNvPicPr preferRelativeResize="0"/>
            <p:nvPr/>
          </p:nvPicPr>
          <p:blipFill>
            <a:blip r:embed="rId4">
              <a:alphaModFix/>
            </a:blip>
            <a:stretch>
              <a:fillRect/>
            </a:stretch>
          </p:blipFill>
          <p:spPr>
            <a:xfrm>
              <a:off x="2122508" y="3723663"/>
              <a:ext cx="396000" cy="419100"/>
            </a:xfrm>
            <a:prstGeom prst="rect">
              <a:avLst/>
            </a:prstGeom>
            <a:noFill/>
            <a:ln>
              <a:noFill/>
            </a:ln>
          </p:spPr>
        </p:pic>
        <p:pic>
          <p:nvPicPr>
            <p:cNvPr id="1087" name="Google Shape;1087;p74"/>
            <p:cNvPicPr preferRelativeResize="0"/>
            <p:nvPr/>
          </p:nvPicPr>
          <p:blipFill>
            <a:blip r:embed="rId4">
              <a:alphaModFix/>
            </a:blip>
            <a:stretch>
              <a:fillRect/>
            </a:stretch>
          </p:blipFill>
          <p:spPr>
            <a:xfrm>
              <a:off x="5093533" y="3331100"/>
              <a:ext cx="396000" cy="419100"/>
            </a:xfrm>
            <a:prstGeom prst="rect">
              <a:avLst/>
            </a:prstGeom>
            <a:noFill/>
            <a:ln>
              <a:noFill/>
            </a:ln>
          </p:spPr>
        </p:pic>
        <p:pic>
          <p:nvPicPr>
            <p:cNvPr id="1088" name="Google Shape;1088;p74"/>
            <p:cNvPicPr preferRelativeResize="0"/>
            <p:nvPr/>
          </p:nvPicPr>
          <p:blipFill>
            <a:blip r:embed="rId5">
              <a:alphaModFix/>
            </a:blip>
            <a:stretch>
              <a:fillRect/>
            </a:stretch>
          </p:blipFill>
          <p:spPr>
            <a:xfrm>
              <a:off x="5093513" y="2438817"/>
              <a:ext cx="396000" cy="419760"/>
            </a:xfrm>
            <a:prstGeom prst="rect">
              <a:avLst/>
            </a:prstGeom>
            <a:noFill/>
            <a:ln>
              <a:noFill/>
            </a:ln>
          </p:spPr>
        </p:pic>
      </p:grpSp>
      <p:pic>
        <p:nvPicPr>
          <p:cNvPr descr="&lt;math xmlns=&quot;http://www.w3.org/1998/Math/MathML&quot; display=&quot;block&quot; data-is-equatio=&quot;1&quot; data-latex=&quot;\textcolor{#FFFFF}{\frac{89}{116}=\sin\left(\theta°\right)\ \ \ \ \ \frac{89}{\sin\left(\theta°\right)}=116\ \ \ \ \ 116\times\sin\left(\theta°\right)=89}\ \ \ \ \ \ 116\times\sin\left(89°\right)=\theta\ \ \ \ \ \ \ \ \ \frac{\sin\left(\theta°\right)}{89}=116&quot;&gt;&lt;mstyle mathcolor=&quot;#FFFFF&quot;&gt;&lt;mfrac&gt;&lt;mn&gt;89&lt;/mn&gt;&lt;mn&gt;116&lt;/mn&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89&lt;/mn&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89&lt;/mn&gt;&lt;/mstyle&gt;&lt;mtext&gt;&lt;/mtext&gt;&lt;mtext&gt;&lt;/mtext&gt;&lt;mtext&gt;&lt;/mtext&gt;&lt;mtext&gt;&lt;/mtext&gt;&lt;mtext&gt;&lt;/mtext&gt;&lt;mtext&gt;&lt;/mtext&gt;&lt;mn&gt;116&lt;/mn&gt;&lt;mo&gt;×&lt;/mo&gt;&lt;mi&gt;sin&lt;/mi&gt;&lt;mo data-mjx-texclass=&quot;NONE&quot;&gt;⁡&lt;/mo&gt;&lt;mrow data-mjx-texclass=&quot;INNER&quot;&gt;&lt;mo data-mjx-texclass=&quot;OPEN&quot;&gt;(&lt;/mo&gt;&lt;mn&gt;8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89&lt;/mn&gt;&lt;/mfrac&gt;&lt;mo&gt;=&lt;/mo&gt;&lt;mn&gt;116&lt;/mn&gt;&lt;/math&gt;" id="1089" name="Google Shape;1089;p74" title="89 over 116 equals sine theta degrees 89 over sine theta degrees equals 116 116 times sine theta degrees equals 89 116 times sine 89 degrees equals theta sine theta degrees over 89 equals 116"/>
          <p:cNvPicPr preferRelativeResize="0"/>
          <p:nvPr/>
        </p:nvPicPr>
        <p:blipFill rotWithShape="1">
          <a:blip r:embed="rId6">
            <a:alphaModFix/>
          </a:blip>
          <a:srcRect b="0" l="0" r="85010" t="0"/>
          <a:stretch/>
        </p:blipFill>
        <p:spPr>
          <a:xfrm>
            <a:off x="810325" y="3699450"/>
            <a:ext cx="1435274" cy="561600"/>
          </a:xfrm>
          <a:prstGeom prst="rect">
            <a:avLst/>
          </a:prstGeom>
          <a:noFill/>
          <a:ln>
            <a:noFill/>
          </a:ln>
        </p:spPr>
      </p:pic>
      <p:pic>
        <p:nvPicPr>
          <p:cNvPr descr="&lt;math xmlns=&quot;http://www.w3.org/1998/Math/MathML&quot; display=&quot;block&quot; data-is-equatio=&quot;1&quot; data-latex=&quot;\textcolor{#FFFFF}{\frac{89}{116}=\sin\left(\theta°\right)\ \ \ \ \ \frac{89}{\sin\left(\theta°\right)}=116\ \ \ \ \ 116\times\sin\left(\theta°\right)=89}\ \ \ \ \ \ 116\times\sin\left(89°\right)=\theta\ \ \ \ \ \ \ \ \ \frac{\sin\left(\theta°\right)}{89}=116&quot;&gt;&lt;mstyle mathcolor=&quot;#FFFFF&quot;&gt;&lt;mfrac&gt;&lt;mn&gt;89&lt;/mn&gt;&lt;mn&gt;116&lt;/mn&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89&lt;/mn&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89&lt;/mn&gt;&lt;/mstyle&gt;&lt;mtext&gt;&lt;/mtext&gt;&lt;mtext&gt;&lt;/mtext&gt;&lt;mtext&gt;&lt;/mtext&gt;&lt;mtext&gt;&lt;/mtext&gt;&lt;mtext&gt;&lt;/mtext&gt;&lt;mtext&gt;&lt;/mtext&gt;&lt;mn&gt;116&lt;/mn&gt;&lt;mo&gt;×&lt;/mo&gt;&lt;mi&gt;sin&lt;/mi&gt;&lt;mo data-mjx-texclass=&quot;NONE&quot;&gt;⁡&lt;/mo&gt;&lt;mrow data-mjx-texclass=&quot;INNER&quot;&gt;&lt;mo data-mjx-texclass=&quot;OPEN&quot;&gt;(&lt;/mo&gt;&lt;mn&gt;8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89&lt;/mn&gt;&lt;/mfrac&gt;&lt;mo&gt;=&lt;/mo&gt;&lt;mn&gt;116&lt;/mn&gt;&lt;/math&gt;" id="1090" name="Google Shape;1090;p74" title="89 over 116 equals sine theta degrees 89 over sine theta degrees equals 116 116 times sine theta degrees equals 89 116 times sine 89 degrees equals theta sine theta degrees over 89 equals 116"/>
          <p:cNvPicPr preferRelativeResize="0"/>
          <p:nvPr/>
        </p:nvPicPr>
        <p:blipFill rotWithShape="1">
          <a:blip r:embed="rId6">
            <a:alphaModFix/>
          </a:blip>
          <a:srcRect b="0" l="17925" r="66821" t="0"/>
          <a:stretch/>
        </p:blipFill>
        <p:spPr>
          <a:xfrm>
            <a:off x="814400" y="2802350"/>
            <a:ext cx="1460500" cy="561600"/>
          </a:xfrm>
          <a:prstGeom prst="rect">
            <a:avLst/>
          </a:prstGeom>
          <a:noFill/>
          <a:ln>
            <a:noFill/>
          </a:ln>
        </p:spPr>
      </p:pic>
      <p:pic>
        <p:nvPicPr>
          <p:cNvPr descr="&lt;math xmlns=&quot;http://www.w3.org/1998/Math/MathML&quot; display=&quot;block&quot; data-is-equatio=&quot;1&quot; data-latex=&quot;\textcolor{#FFFFF}{\frac{89}{116}=\sin\left(\theta°\right)\ \ \ \ \ \frac{89}{\sin\left(\theta°\right)}=116\ \ \ \ \ 116\times\sin\left(\theta°\right)=89}\ \ \ \ \ \ 116\times\sin\left(89°\right)=\theta\ \ \ \ \ \ \ \ \ \frac{\sin\left(\theta°\right)}{89}=116&quot;&gt;&lt;mstyle mathcolor=&quot;#FFFFF&quot;&gt;&lt;mfrac&gt;&lt;mn&gt;89&lt;/mn&gt;&lt;mn&gt;116&lt;/mn&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89&lt;/mn&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89&lt;/mn&gt;&lt;/mstyle&gt;&lt;mtext&gt;&lt;/mtext&gt;&lt;mtext&gt;&lt;/mtext&gt;&lt;mtext&gt;&lt;/mtext&gt;&lt;mtext&gt;&lt;/mtext&gt;&lt;mtext&gt;&lt;/mtext&gt;&lt;mtext&gt;&lt;/mtext&gt;&lt;mn&gt;116&lt;/mn&gt;&lt;mo&gt;×&lt;/mo&gt;&lt;mi&gt;sin&lt;/mi&gt;&lt;mo data-mjx-texclass=&quot;NONE&quot;&gt;⁡&lt;/mo&gt;&lt;mrow data-mjx-texclass=&quot;INNER&quot;&gt;&lt;mo data-mjx-texclass=&quot;OPEN&quot;&gt;(&lt;/mo&gt;&lt;mn&gt;8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89&lt;/mn&gt;&lt;/mfrac&gt;&lt;mo&gt;=&lt;/mo&gt;&lt;mn&gt;116&lt;/mn&gt;&lt;/math&gt;" id="1091" name="Google Shape;1091;p74" title="89 over 116 equals sine theta degrees 89 over sine theta degrees equals 116 116 times sine theta degrees equals 89 116 times sine 89 degrees equals theta sine theta degrees over 89 equals 116"/>
          <p:cNvPicPr preferRelativeResize="0"/>
          <p:nvPr/>
        </p:nvPicPr>
        <p:blipFill rotWithShape="1">
          <a:blip r:embed="rId6">
            <a:alphaModFix/>
          </a:blip>
          <a:srcRect b="0" l="36305" r="44178" t="0"/>
          <a:stretch/>
        </p:blipFill>
        <p:spPr>
          <a:xfrm>
            <a:off x="3294550" y="3259850"/>
            <a:ext cx="1868723" cy="561600"/>
          </a:xfrm>
          <a:prstGeom prst="rect">
            <a:avLst/>
          </a:prstGeom>
          <a:noFill/>
          <a:ln>
            <a:noFill/>
          </a:ln>
        </p:spPr>
      </p:pic>
      <p:pic>
        <p:nvPicPr>
          <p:cNvPr descr="&lt;math xmlns=&quot;http://www.w3.org/1998/Math/MathML&quot; display=&quot;block&quot; data-is-equatio=&quot;1&quot; data-latex=&quot;\textcolor{#FFFFF}{\frac{89}{116}=\sin\left(\theta°\right)\ \ \ \ \ \frac{89}{\sin\left(\theta°\right)}=116\ \ \ \ \ 116\times\sin\left(\theta°\right)=89}\ \ \ \ \ \ 116\times\sin\left(89°\right)=\theta\ \ \ \ \ \ \ \ \ \frac{\sin\left(\theta°\right)}{89}=116&quot;&gt;&lt;mstyle mathcolor=&quot;#FFFFF&quot;&gt;&lt;mfrac&gt;&lt;mn&gt;89&lt;/mn&gt;&lt;mn&gt;116&lt;/mn&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89&lt;/mn&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89&lt;/mn&gt;&lt;/mstyle&gt;&lt;mtext&gt;&lt;/mtext&gt;&lt;mtext&gt;&lt;/mtext&gt;&lt;mtext&gt;&lt;/mtext&gt;&lt;mtext&gt;&lt;/mtext&gt;&lt;mtext&gt;&lt;/mtext&gt;&lt;mtext&gt;&lt;/mtext&gt;&lt;mn&gt;116&lt;/mn&gt;&lt;mo&gt;×&lt;/mo&gt;&lt;mi&gt;sin&lt;/mi&gt;&lt;mo data-mjx-texclass=&quot;NONE&quot;&gt;⁡&lt;/mo&gt;&lt;mrow data-mjx-texclass=&quot;INNER&quot;&gt;&lt;mo data-mjx-texclass=&quot;OPEN&quot;&gt;(&lt;/mo&gt;&lt;mn&gt;8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89&lt;/mn&gt;&lt;/mfrac&gt;&lt;mo&gt;=&lt;/mo&gt;&lt;mn&gt;116&lt;/mn&gt;&lt;/math&gt;" id="1092" name="Google Shape;1092;p74" title="89 over 116 equals sine theta degrees 89 over sine theta degrees equals 116 116 times sine theta degrees equals 89 116 times sine 89 degrees equals theta sine theta degrees over 89 equals 116"/>
          <p:cNvPicPr preferRelativeResize="0"/>
          <p:nvPr/>
        </p:nvPicPr>
        <p:blipFill rotWithShape="1">
          <a:blip r:embed="rId6">
            <a:alphaModFix/>
          </a:blip>
          <a:srcRect b="0" l="59706" r="20588" t="0"/>
          <a:stretch/>
        </p:blipFill>
        <p:spPr>
          <a:xfrm>
            <a:off x="3285488" y="2367900"/>
            <a:ext cx="1886848" cy="561600"/>
          </a:xfrm>
          <a:prstGeom prst="rect">
            <a:avLst/>
          </a:prstGeom>
          <a:noFill/>
          <a:ln>
            <a:noFill/>
          </a:ln>
        </p:spPr>
      </p:pic>
      <p:pic>
        <p:nvPicPr>
          <p:cNvPr descr="&lt;math xmlns=&quot;http://www.w3.org/1998/Math/MathML&quot; display=&quot;block&quot; data-is-equatio=&quot;1&quot; data-latex=&quot;\textcolor{#FFFFF}{\frac{89}{116}=\sin\left(\theta°\right)\ \ \ \ \ \frac{89}{\sin\left(\theta°\right)}=116\ \ \ \ \ 116\times\sin\left(\theta°\right)=89}\ \ \ \ \ \ 116\times\sin\left(89°\right)=\theta\ \ \ \ \ \ \ \ \ \frac{\sin\left(\theta°\right)}{89}=116&quot;&gt;&lt;mstyle mathcolor=&quot;#FFFFF&quot;&gt;&lt;mfrac&gt;&lt;mn&gt;89&lt;/mn&gt;&lt;mn&gt;116&lt;/mn&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89&lt;/mn&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89&lt;/mn&gt;&lt;/mstyle&gt;&lt;mtext&gt;&lt;/mtext&gt;&lt;mtext&gt;&lt;/mtext&gt;&lt;mtext&gt;&lt;/mtext&gt;&lt;mtext&gt;&lt;/mtext&gt;&lt;mtext&gt;&lt;/mtext&gt;&lt;mtext&gt;&lt;/mtext&gt;&lt;mn&gt;116&lt;/mn&gt;&lt;mo&gt;×&lt;/mo&gt;&lt;mi&gt;sin&lt;/mi&gt;&lt;mo data-mjx-texclass=&quot;NONE&quot;&gt;⁡&lt;/mo&gt;&lt;mrow data-mjx-texclass=&quot;INNER&quot;&gt;&lt;mo data-mjx-texclass=&quot;OPEN&quot;&gt;(&lt;/mo&gt;&lt;mn&gt;8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89&lt;/mn&gt;&lt;/mfrac&gt;&lt;mo&gt;=&lt;/mo&gt;&lt;mn&gt;116&lt;/mn&gt;&lt;/math&gt;" id="1093" name="Google Shape;1093;p74" title="89 over 116 equals sine theta degrees 89 over sine theta degrees equals 116 116 times sine theta degrees equals 89 116 times sine 89 degrees equals theta sine theta degrees over 89 equals 116"/>
          <p:cNvPicPr preferRelativeResize="0"/>
          <p:nvPr/>
        </p:nvPicPr>
        <p:blipFill rotWithShape="1">
          <a:blip r:embed="rId6">
            <a:alphaModFix/>
          </a:blip>
          <a:srcRect b="0" l="85095" r="0" t="0"/>
          <a:stretch/>
        </p:blipFill>
        <p:spPr>
          <a:xfrm>
            <a:off x="814400" y="1921900"/>
            <a:ext cx="1427123" cy="561600"/>
          </a:xfrm>
          <a:prstGeom prst="rect">
            <a:avLst/>
          </a:prstGeom>
          <a:noFill/>
          <a:ln>
            <a:noFill/>
          </a:ln>
        </p:spPr>
      </p:pic>
      <p:sp>
        <p:nvSpPr>
          <p:cNvPr id="1094" name="Google Shape;1094;p74"/>
          <p:cNvSpPr/>
          <p:nvPr/>
        </p:nvSpPr>
        <p:spPr>
          <a:xfrm>
            <a:off x="3266200" y="3372100"/>
            <a:ext cx="19392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pic>
        <p:nvPicPr>
          <p:cNvPr id="1095" name="Google Shape;1095;p74"/>
          <p:cNvPicPr preferRelativeResize="0"/>
          <p:nvPr/>
        </p:nvPicPr>
        <p:blipFill>
          <a:blip r:embed="rId7">
            <a:alphaModFix/>
          </a:blip>
          <a:stretch>
            <a:fillRect/>
          </a:stretch>
        </p:blipFill>
        <p:spPr>
          <a:xfrm>
            <a:off x="6126525" y="2046794"/>
            <a:ext cx="2007125" cy="11644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00" name="Google Shape;1100;p75"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5006524" y="2920689"/>
            <a:ext cx="1347850"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01" name="Google Shape;1101;p75" title="opp over h equals sine theta degrees opp over sine theta degrees equals h h times sine theta degrees equals opp"/>
          <p:cNvPicPr preferRelativeResize="0"/>
          <p:nvPr/>
        </p:nvPicPr>
        <p:blipFill rotWithShape="1">
          <a:blip r:embed="rId3">
            <a:alphaModFix/>
          </a:blip>
          <a:srcRect b="0" l="63802" r="0" t="0"/>
          <a:stretch/>
        </p:blipFill>
        <p:spPr>
          <a:xfrm>
            <a:off x="5015975" y="1748275"/>
            <a:ext cx="2024627"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02" name="Google Shape;1102;p75"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625772" y="2914416"/>
            <a:ext cx="1347850"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03" name="Google Shape;1103;p75" title="opp over h equals sine theta degrees opp over sine theta degrees equals h h times sine theta degrees equals opp"/>
          <p:cNvPicPr preferRelativeResize="0"/>
          <p:nvPr/>
        </p:nvPicPr>
        <p:blipFill rotWithShape="1">
          <a:blip r:embed="rId3">
            <a:alphaModFix/>
          </a:blip>
          <a:srcRect b="0" l="64792" r="0" t="0"/>
          <a:stretch/>
        </p:blipFill>
        <p:spPr>
          <a:xfrm>
            <a:off x="690625" y="1742000"/>
            <a:ext cx="1969225" cy="582525"/>
          </a:xfrm>
          <a:prstGeom prst="rect">
            <a:avLst/>
          </a:prstGeom>
          <a:noFill/>
          <a:ln>
            <a:noFill/>
          </a:ln>
        </p:spPr>
      </p:pic>
      <p:sp>
        <p:nvSpPr>
          <p:cNvPr id="1104" name="Google Shape;1104;p75"/>
          <p:cNvSpPr/>
          <p:nvPr/>
        </p:nvSpPr>
        <p:spPr>
          <a:xfrm>
            <a:off x="6555275" y="2563400"/>
            <a:ext cx="1178400" cy="11787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5" name="Google Shape;1105;p75"/>
          <p:cNvSpPr txBox="1"/>
          <p:nvPr/>
        </p:nvSpPr>
        <p:spPr>
          <a:xfrm>
            <a:off x="60409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106" name="Google Shape;1106;p75"/>
          <p:cNvSpPr/>
          <p:nvPr/>
        </p:nvSpPr>
        <p:spPr>
          <a:xfrm>
            <a:off x="100595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07" name="Google Shape;1107;p75"/>
          <p:cNvSpPr txBox="1"/>
          <p:nvPr/>
        </p:nvSpPr>
        <p:spPr>
          <a:xfrm>
            <a:off x="324000" y="6106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Substitute the labelled sides and angle in each triangle into these two versions of the sine formula.</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For each triangle, choose the most appropriate version of the sine formula to find the length of its missing side.</a:t>
            </a:r>
            <a:endParaRPr sz="1800">
              <a:latin typeface="Lexend"/>
              <a:ea typeface="Lexend"/>
              <a:cs typeface="Lexend"/>
              <a:sym typeface="Lexend"/>
            </a:endParaRPr>
          </a:p>
        </p:txBody>
      </p:sp>
      <p:sp>
        <p:nvSpPr>
          <p:cNvPr id="1108" name="Google Shape;1108;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cxnSp>
        <p:nvCxnSpPr>
          <p:cNvPr id="1109" name="Google Shape;1109;p75"/>
          <p:cNvCxnSpPr/>
          <p:nvPr/>
        </p:nvCxnSpPr>
        <p:spPr>
          <a:xfrm>
            <a:off x="4572000" y="1567800"/>
            <a:ext cx="0" cy="3259200"/>
          </a:xfrm>
          <a:prstGeom prst="straightConnector1">
            <a:avLst/>
          </a:prstGeom>
          <a:noFill/>
          <a:ln cap="flat" cmpd="sng" w="38100">
            <a:solidFill>
              <a:schemeClr val="accent4"/>
            </a:solidFill>
            <a:prstDash val="solid"/>
            <a:round/>
            <a:headEnd len="med" w="med" type="none"/>
            <a:tailEnd len="med" w="med" type="none"/>
          </a:ln>
        </p:spPr>
      </p:cxnSp>
      <p:sp>
        <p:nvSpPr>
          <p:cNvPr id="1110" name="Google Shape;1110;p75"/>
          <p:cNvSpPr/>
          <p:nvPr/>
        </p:nvSpPr>
        <p:spPr>
          <a:xfrm>
            <a:off x="45307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1" name="Google Shape;1111;p75"/>
          <p:cNvSpPr txBox="1"/>
          <p:nvPr/>
        </p:nvSpPr>
        <p:spPr>
          <a:xfrm>
            <a:off x="680299"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112" name="Google Shape;1112;p75"/>
          <p:cNvSpPr/>
          <p:nvPr/>
        </p:nvSpPr>
        <p:spPr>
          <a:xfrm>
            <a:off x="168480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3" name="Google Shape;1113;p75"/>
          <p:cNvSpPr/>
          <p:nvPr/>
        </p:nvSpPr>
        <p:spPr>
          <a:xfrm>
            <a:off x="266246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4" name="Google Shape;1114;p75"/>
          <p:cNvSpPr txBox="1"/>
          <p:nvPr/>
        </p:nvSpPr>
        <p:spPr>
          <a:xfrm>
            <a:off x="1777831"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115" name="Google Shape;1115;p75"/>
          <p:cNvCxnSpPr/>
          <p:nvPr/>
        </p:nvCxnSpPr>
        <p:spPr>
          <a:xfrm>
            <a:off x="61972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116" name="Google Shape;1116;p75"/>
          <p:cNvSpPr/>
          <p:nvPr/>
        </p:nvSpPr>
        <p:spPr>
          <a:xfrm>
            <a:off x="63215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7" name="Google Shape;1117;p75"/>
          <p:cNvSpPr/>
          <p:nvPr/>
        </p:nvSpPr>
        <p:spPr>
          <a:xfrm>
            <a:off x="1958120"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8" name="Google Shape;1118;p75"/>
          <p:cNvSpPr/>
          <p:nvPr/>
        </p:nvSpPr>
        <p:spPr>
          <a:xfrm>
            <a:off x="538977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9" name="Google Shape;1119;p75"/>
          <p:cNvSpPr txBox="1"/>
          <p:nvPr/>
        </p:nvSpPr>
        <p:spPr>
          <a:xfrm>
            <a:off x="498791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120" name="Google Shape;1120;p75"/>
          <p:cNvSpPr/>
          <p:nvPr/>
        </p:nvSpPr>
        <p:spPr>
          <a:xfrm>
            <a:off x="483689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21" name="Google Shape;1121;p75"/>
          <p:cNvSpPr txBox="1"/>
          <p:nvPr/>
        </p:nvSpPr>
        <p:spPr>
          <a:xfrm>
            <a:off x="5064118"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122" name="Google Shape;1122;p75"/>
          <p:cNvSpPr/>
          <p:nvPr/>
        </p:nvSpPr>
        <p:spPr>
          <a:xfrm>
            <a:off x="606862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23" name="Google Shape;1123;p75"/>
          <p:cNvSpPr/>
          <p:nvPr/>
        </p:nvSpPr>
        <p:spPr>
          <a:xfrm>
            <a:off x="704628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24" name="Google Shape;1124;p75"/>
          <p:cNvSpPr txBox="1"/>
          <p:nvPr/>
        </p:nvSpPr>
        <p:spPr>
          <a:xfrm>
            <a:off x="6161650"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125" name="Google Shape;1125;p75"/>
          <p:cNvCxnSpPr/>
          <p:nvPr/>
        </p:nvCxnSpPr>
        <p:spPr>
          <a:xfrm>
            <a:off x="500354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126" name="Google Shape;1126;p75"/>
          <p:cNvSpPr/>
          <p:nvPr/>
        </p:nvSpPr>
        <p:spPr>
          <a:xfrm>
            <a:off x="501597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27" name="Google Shape;1127;p75"/>
          <p:cNvSpPr/>
          <p:nvPr/>
        </p:nvSpPr>
        <p:spPr>
          <a:xfrm>
            <a:off x="6341939"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28" name="Google Shape;1128;p75"/>
          <p:cNvSpPr/>
          <p:nvPr/>
        </p:nvSpPr>
        <p:spPr>
          <a:xfrm rot="2367420">
            <a:off x="7907425" y="3668520"/>
            <a:ext cx="151534" cy="1515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9" name="Google Shape;1129;p75"/>
          <p:cNvSpPr txBox="1"/>
          <p:nvPr/>
        </p:nvSpPr>
        <p:spPr>
          <a:xfrm>
            <a:off x="8279566" y="3602683"/>
            <a:ext cx="639600" cy="1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2 cm</a:t>
            </a:r>
            <a:endParaRPr sz="1800">
              <a:latin typeface="Lexend"/>
              <a:ea typeface="Lexend"/>
              <a:cs typeface="Lexend"/>
              <a:sym typeface="Lexend"/>
            </a:endParaRPr>
          </a:p>
        </p:txBody>
      </p:sp>
      <p:sp>
        <p:nvSpPr>
          <p:cNvPr id="1130" name="Google Shape;1130;p75"/>
          <p:cNvSpPr txBox="1"/>
          <p:nvPr/>
        </p:nvSpPr>
        <p:spPr>
          <a:xfrm flipH="1">
            <a:off x="7293405" y="3149550"/>
            <a:ext cx="4557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131" name="Google Shape;1131;p75"/>
          <p:cNvSpPr txBox="1"/>
          <p:nvPr/>
        </p:nvSpPr>
        <p:spPr>
          <a:xfrm>
            <a:off x="7566562" y="2798121"/>
            <a:ext cx="6396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132" name="Google Shape;1132;p75"/>
          <p:cNvSpPr/>
          <p:nvPr/>
        </p:nvSpPr>
        <p:spPr>
          <a:xfrm flipH="1" rot="8960960">
            <a:off x="3406863" y="2313370"/>
            <a:ext cx="1139265" cy="1139265"/>
          </a:xfrm>
          <a:prstGeom prst="arc">
            <a:avLst>
              <a:gd fmla="val 12682129" name="adj1"/>
              <a:gd fmla="val 14324974"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3" name="Google Shape;1133;p75"/>
          <p:cNvSpPr/>
          <p:nvPr/>
        </p:nvSpPr>
        <p:spPr>
          <a:xfrm flipH="1">
            <a:off x="3819338" y="4362821"/>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4" name="Google Shape;1134;p75"/>
          <p:cNvSpPr txBox="1"/>
          <p:nvPr/>
        </p:nvSpPr>
        <p:spPr>
          <a:xfrm flipH="1">
            <a:off x="3201199" y="4629053"/>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135" name="Google Shape;1135;p75"/>
          <p:cNvCxnSpPr/>
          <p:nvPr/>
        </p:nvCxnSpPr>
        <p:spPr>
          <a:xfrm flipH="1">
            <a:off x="3021934" y="2800367"/>
            <a:ext cx="895271" cy="1660292"/>
          </a:xfrm>
          <a:prstGeom prst="straightConnector1">
            <a:avLst/>
          </a:prstGeom>
          <a:noFill/>
          <a:ln cap="flat" cmpd="sng" w="28575">
            <a:solidFill>
              <a:srgbClr val="845AD9"/>
            </a:solidFill>
            <a:prstDash val="solid"/>
            <a:round/>
            <a:headEnd len="med" w="med" type="triangle"/>
            <a:tailEnd len="med" w="med" type="triangle"/>
          </a:ln>
        </p:spPr>
      </p:cxnSp>
      <p:cxnSp>
        <p:nvCxnSpPr>
          <p:cNvPr id="1136" name="Google Shape;1136;p75"/>
          <p:cNvCxnSpPr/>
          <p:nvPr/>
        </p:nvCxnSpPr>
        <p:spPr>
          <a:xfrm rot="10800000">
            <a:off x="3084717" y="4614551"/>
            <a:ext cx="895271" cy="0"/>
          </a:xfrm>
          <a:prstGeom prst="straightConnector1">
            <a:avLst/>
          </a:prstGeom>
          <a:noFill/>
          <a:ln cap="flat" cmpd="sng" w="28575">
            <a:solidFill>
              <a:srgbClr val="845AD9"/>
            </a:solidFill>
            <a:prstDash val="solid"/>
            <a:round/>
            <a:headEnd len="med" w="med" type="triangle"/>
            <a:tailEnd len="med" w="med" type="triangle"/>
          </a:ln>
        </p:spPr>
      </p:cxnSp>
      <p:sp>
        <p:nvSpPr>
          <p:cNvPr id="1137" name="Google Shape;1137;p75"/>
          <p:cNvSpPr txBox="1"/>
          <p:nvPr/>
        </p:nvSpPr>
        <p:spPr>
          <a:xfrm flipH="1">
            <a:off x="3568828" y="3576274"/>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1</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138" name="Google Shape;1138;p75"/>
          <p:cNvSpPr txBox="1"/>
          <p:nvPr/>
        </p:nvSpPr>
        <p:spPr>
          <a:xfrm flipH="1" rot="-3694335">
            <a:off x="2551335" y="3473206"/>
            <a:ext cx="1576724" cy="17463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 cm</a:t>
            </a:r>
            <a:endParaRPr sz="1800">
              <a:latin typeface="Lexend"/>
              <a:ea typeface="Lexend"/>
              <a:cs typeface="Lexend"/>
              <a:sym typeface="Lexend"/>
            </a:endParaRPr>
          </a:p>
        </p:txBody>
      </p:sp>
      <p:sp>
        <p:nvSpPr>
          <p:cNvPr id="1139" name="Google Shape;1139;p75"/>
          <p:cNvSpPr txBox="1"/>
          <p:nvPr/>
        </p:nvSpPr>
        <p:spPr>
          <a:xfrm flipH="1">
            <a:off x="453000"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a:t>
            </a:r>
            <a:endParaRPr sz="1800">
              <a:latin typeface="Lexend"/>
              <a:ea typeface="Lexend"/>
              <a:cs typeface="Lexend"/>
              <a:sym typeface="Lexend"/>
            </a:endParaRPr>
          </a:p>
        </p:txBody>
      </p:sp>
      <p:sp>
        <p:nvSpPr>
          <p:cNvPr id="1140" name="Google Shape;1140;p75"/>
          <p:cNvSpPr/>
          <p:nvPr/>
        </p:nvSpPr>
        <p:spPr>
          <a:xfrm rot="-3032992">
            <a:off x="7384907" y="2561829"/>
            <a:ext cx="991675" cy="1108219"/>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1" name="Google Shape;1141;p75"/>
          <p:cNvSpPr/>
          <p:nvPr/>
        </p:nvSpPr>
        <p:spPr>
          <a:xfrm rot="-5400000">
            <a:off x="2702217" y="3245741"/>
            <a:ext cx="1660200" cy="8952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142" name="Google Shape;1142;p75"/>
          <p:cNvPicPr preferRelativeResize="0"/>
          <p:nvPr/>
        </p:nvPicPr>
        <p:blipFill>
          <a:blip r:embed="rId4">
            <a:alphaModFix/>
          </a:blip>
          <a:stretch>
            <a:fillRect/>
          </a:stretch>
        </p:blipFill>
        <p:spPr>
          <a:xfrm rot="-163030">
            <a:off x="7062580" y="2963671"/>
            <a:ext cx="1705766" cy="10416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76"/>
          <p:cNvSpPr/>
          <p:nvPr/>
        </p:nvSpPr>
        <p:spPr>
          <a:xfrm flipH="1">
            <a:off x="3459574" y="1468475"/>
            <a:ext cx="1013100" cy="1013700"/>
          </a:xfrm>
          <a:prstGeom prst="arc">
            <a:avLst>
              <a:gd fmla="val 5344843" name="adj1"/>
              <a:gd fmla="val 898831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48" name="Google Shape;1148;p76"/>
          <p:cNvGrpSpPr/>
          <p:nvPr/>
        </p:nvGrpSpPr>
        <p:grpSpPr>
          <a:xfrm rot="5400000">
            <a:off x="4250941" y="1596810"/>
            <a:ext cx="1155118" cy="1744500"/>
            <a:chOff x="-2098225" y="1379675"/>
            <a:chExt cx="1155118" cy="1744500"/>
          </a:xfrm>
        </p:grpSpPr>
        <p:sp>
          <p:nvSpPr>
            <p:cNvPr id="1149" name="Google Shape;1149;p7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0" name="Google Shape;1150;p76"/>
            <p:cNvCxnSpPr/>
            <p:nvPr/>
          </p:nvCxnSpPr>
          <p:spPr>
            <a:xfrm rot="5400000">
              <a:off x="-2451925" y="1733375"/>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151" name="Google Shape;1151;p76"/>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sp>
        <p:nvSpPr>
          <p:cNvPr id="1152" name="Google Shape;1152;p76"/>
          <p:cNvSpPr/>
          <p:nvPr/>
        </p:nvSpPr>
        <p:spPr>
          <a:xfrm flipH="1">
            <a:off x="2058075" y="2215650"/>
            <a:ext cx="1406100" cy="14067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3" name="Google Shape;1153;p76"/>
          <p:cNvSpPr txBox="1"/>
          <p:nvPr/>
        </p:nvSpPr>
        <p:spPr>
          <a:xfrm>
            <a:off x="324000" y="610600"/>
            <a:ext cx="7233000" cy="11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Match the triangle to the equation showing the relationship between its hypotenuse and an opposite side.</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Use the equation to find the length of the missing side labelled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on each triangle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154" name="Google Shape;1154;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155" name="Google Shape;1155;p76"/>
          <p:cNvSpPr/>
          <p:nvPr/>
        </p:nvSpPr>
        <p:spPr>
          <a:xfrm rot="5400000">
            <a:off x="111930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56" name="Google Shape;1156;p76"/>
          <p:cNvGrpSpPr/>
          <p:nvPr/>
        </p:nvGrpSpPr>
        <p:grpSpPr>
          <a:xfrm rot="5400000">
            <a:off x="1473000" y="1537800"/>
            <a:ext cx="1037100" cy="1744500"/>
            <a:chOff x="-2098225" y="1379675"/>
            <a:chExt cx="1037100" cy="1744500"/>
          </a:xfrm>
        </p:grpSpPr>
        <p:sp>
          <p:nvSpPr>
            <p:cNvPr id="1157" name="Google Shape;1157;p7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8" name="Google Shape;1158;p76"/>
            <p:cNvCxnSpPr/>
            <p:nvPr/>
          </p:nvCxnSpPr>
          <p:spPr>
            <a:xfrm rot="5400000">
              <a:off x="-2451925" y="1733375"/>
              <a:ext cx="1668300" cy="960900"/>
            </a:xfrm>
            <a:prstGeom prst="straightConnector1">
              <a:avLst/>
            </a:prstGeom>
            <a:noFill/>
            <a:ln cap="flat" cmpd="sng" w="28575">
              <a:solidFill>
                <a:srgbClr val="845AD9"/>
              </a:solidFill>
              <a:prstDash val="solid"/>
              <a:round/>
              <a:headEnd len="med" w="med" type="triangle"/>
              <a:tailEnd len="med" w="med" type="triangle"/>
            </a:ln>
          </p:spPr>
        </p:cxnSp>
      </p:grpSp>
      <p:sp>
        <p:nvSpPr>
          <p:cNvPr id="1159" name="Google Shape;1159;p76"/>
          <p:cNvSpPr txBox="1"/>
          <p:nvPr/>
        </p:nvSpPr>
        <p:spPr>
          <a:xfrm>
            <a:off x="2033600" y="2677525"/>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160" name="Google Shape;1160;p76"/>
          <p:cNvSpPr txBox="1"/>
          <p:nvPr/>
        </p:nvSpPr>
        <p:spPr>
          <a:xfrm>
            <a:off x="344558" y="233045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161" name="Google Shape;1161;p76"/>
          <p:cNvSpPr txBox="1"/>
          <p:nvPr/>
        </p:nvSpPr>
        <p:spPr>
          <a:xfrm>
            <a:off x="192999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sp>
        <p:nvSpPr>
          <p:cNvPr id="1162" name="Google Shape;1162;p76"/>
          <p:cNvSpPr/>
          <p:nvPr/>
        </p:nvSpPr>
        <p:spPr>
          <a:xfrm rot="5400000">
            <a:off x="395625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76"/>
          <p:cNvSpPr txBox="1"/>
          <p:nvPr/>
        </p:nvSpPr>
        <p:spPr>
          <a:xfrm>
            <a:off x="4430795" y="304662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164" name="Google Shape;1164;p76"/>
          <p:cNvSpPr txBox="1"/>
          <p:nvPr/>
        </p:nvSpPr>
        <p:spPr>
          <a:xfrm>
            <a:off x="476694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 cm</a:t>
            </a:r>
            <a:endParaRPr sz="1800">
              <a:latin typeface="Lexend"/>
              <a:ea typeface="Lexend"/>
              <a:cs typeface="Lexend"/>
              <a:sym typeface="Lexend"/>
            </a:endParaRPr>
          </a:p>
        </p:txBody>
      </p:sp>
      <p:sp>
        <p:nvSpPr>
          <p:cNvPr id="1165" name="Google Shape;1165;p76"/>
          <p:cNvSpPr txBox="1"/>
          <p:nvPr/>
        </p:nvSpPr>
        <p:spPr>
          <a:xfrm>
            <a:off x="3918056" y="2136244"/>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p:txBody>
      </p:sp>
      <p:sp>
        <p:nvSpPr>
          <p:cNvPr id="1166" name="Google Shape;1166;p76"/>
          <p:cNvSpPr/>
          <p:nvPr/>
        </p:nvSpPr>
        <p:spPr>
          <a:xfrm flipH="1" rot="-5400000">
            <a:off x="7245924" y="553024"/>
            <a:ext cx="1877400" cy="18783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7" name="Google Shape;1167;p76"/>
          <p:cNvSpPr/>
          <p:nvPr/>
        </p:nvSpPr>
        <p:spPr>
          <a:xfrm>
            <a:off x="8000141" y="2939967"/>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8" name="Google Shape;1168;p76"/>
          <p:cNvSpPr txBox="1"/>
          <p:nvPr/>
        </p:nvSpPr>
        <p:spPr>
          <a:xfrm>
            <a:off x="7757421" y="2084783"/>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169" name="Google Shape;1169;p76"/>
          <p:cNvSpPr txBox="1"/>
          <p:nvPr/>
        </p:nvSpPr>
        <p:spPr>
          <a:xfrm>
            <a:off x="7010717" y="1977287"/>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cm</a:t>
            </a:r>
            <a:endParaRPr sz="1800">
              <a:latin typeface="Lexend"/>
              <a:ea typeface="Lexend"/>
              <a:cs typeface="Lexend"/>
              <a:sym typeface="Lexend"/>
            </a:endParaRPr>
          </a:p>
        </p:txBody>
      </p:sp>
      <p:sp>
        <p:nvSpPr>
          <p:cNvPr id="1170" name="Google Shape;1170;p76"/>
          <p:cNvSpPr txBox="1"/>
          <p:nvPr/>
        </p:nvSpPr>
        <p:spPr>
          <a:xfrm>
            <a:off x="7395991" y="325848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grpSp>
        <p:nvGrpSpPr>
          <p:cNvPr id="1171" name="Google Shape;1171;p76"/>
          <p:cNvGrpSpPr/>
          <p:nvPr/>
        </p:nvGrpSpPr>
        <p:grpSpPr>
          <a:xfrm>
            <a:off x="7157141" y="1389566"/>
            <a:ext cx="1155118" cy="1744500"/>
            <a:chOff x="-2098225" y="1379675"/>
            <a:chExt cx="1155118" cy="1744500"/>
          </a:xfrm>
        </p:grpSpPr>
        <p:sp>
          <p:nvSpPr>
            <p:cNvPr id="1172" name="Google Shape;1172;p7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73" name="Google Shape;1173;p76"/>
            <p:cNvCxnSpPr/>
            <p:nvPr/>
          </p:nvCxnSpPr>
          <p:spPr>
            <a:xfrm rot="5400000">
              <a:off x="-2451925" y="1733375"/>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174" name="Google Shape;1174;p76"/>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grpSp>
        <p:nvGrpSpPr>
          <p:cNvPr id="1175" name="Google Shape;1175;p76"/>
          <p:cNvGrpSpPr/>
          <p:nvPr/>
        </p:nvGrpSpPr>
        <p:grpSpPr>
          <a:xfrm>
            <a:off x="6358500" y="3934925"/>
            <a:ext cx="2461500" cy="419400"/>
            <a:chOff x="3369600" y="3706325"/>
            <a:chExt cx="2461500" cy="419400"/>
          </a:xfrm>
        </p:grpSpPr>
        <p:sp>
          <p:nvSpPr>
            <p:cNvPr id="1176" name="Google Shape;1176;p76"/>
            <p:cNvSpPr/>
            <p:nvPr/>
          </p:nvSpPr>
          <p:spPr>
            <a:xfrm>
              <a:off x="33696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32 × sin(50°)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177" name="Google Shape;1177;p76"/>
            <p:cNvSpPr/>
            <p:nvPr/>
          </p:nvSpPr>
          <p:spPr>
            <a:xfrm>
              <a:off x="33696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f</a:t>
              </a:r>
              <a:endParaRPr sz="2000">
                <a:solidFill>
                  <a:schemeClr val="lt1"/>
                </a:solidFill>
                <a:latin typeface="Lexend"/>
                <a:ea typeface="Lexend"/>
                <a:cs typeface="Lexend"/>
                <a:sym typeface="Lexend"/>
              </a:endParaRPr>
            </a:p>
          </p:txBody>
        </p:sp>
      </p:grpSp>
      <p:grpSp>
        <p:nvGrpSpPr>
          <p:cNvPr id="1178" name="Google Shape;1178;p76"/>
          <p:cNvGrpSpPr/>
          <p:nvPr/>
        </p:nvGrpSpPr>
        <p:grpSpPr>
          <a:xfrm>
            <a:off x="324000" y="3934925"/>
            <a:ext cx="2461500" cy="419400"/>
            <a:chOff x="6358500" y="3706325"/>
            <a:chExt cx="2461500" cy="419400"/>
          </a:xfrm>
        </p:grpSpPr>
        <p:sp>
          <p:nvSpPr>
            <p:cNvPr id="1179" name="Google Shape;1179;p76"/>
            <p:cNvSpPr/>
            <p:nvPr/>
          </p:nvSpPr>
          <p:spPr>
            <a:xfrm>
              <a:off x="63585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sin(32°) = </a:t>
              </a:r>
              <a:r>
                <a:rPr lang="en-GB" sz="2000">
                  <a:solidFill>
                    <a:schemeClr val="dk1"/>
                  </a:solidFill>
                  <a:latin typeface="Times New Roman"/>
                  <a:ea typeface="Times New Roman"/>
                  <a:cs typeface="Times New Roman"/>
                  <a:sym typeface="Times New Roman"/>
                </a:rPr>
                <a:t>50</a:t>
              </a:r>
              <a:endParaRPr i="1" sz="2000">
                <a:latin typeface="Times New Roman"/>
                <a:ea typeface="Times New Roman"/>
                <a:cs typeface="Times New Roman"/>
                <a:sym typeface="Times New Roman"/>
              </a:endParaRPr>
            </a:p>
          </p:txBody>
        </p:sp>
        <p:sp>
          <p:nvSpPr>
            <p:cNvPr id="1180" name="Google Shape;1180;p76"/>
            <p:cNvSpPr/>
            <p:nvPr/>
          </p:nvSpPr>
          <p:spPr>
            <a:xfrm>
              <a:off x="63585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d</a:t>
              </a:r>
              <a:endParaRPr sz="2000">
                <a:solidFill>
                  <a:schemeClr val="lt1"/>
                </a:solidFill>
                <a:latin typeface="Lexend"/>
                <a:ea typeface="Lexend"/>
                <a:cs typeface="Lexend"/>
                <a:sym typeface="Lexend"/>
              </a:endParaRPr>
            </a:p>
          </p:txBody>
        </p:sp>
      </p:grpSp>
      <p:grpSp>
        <p:nvGrpSpPr>
          <p:cNvPr id="1181" name="Google Shape;1181;p76"/>
          <p:cNvGrpSpPr/>
          <p:nvPr/>
        </p:nvGrpSpPr>
        <p:grpSpPr>
          <a:xfrm>
            <a:off x="3341250" y="3934925"/>
            <a:ext cx="2461500" cy="419400"/>
            <a:chOff x="324000" y="3706325"/>
            <a:chExt cx="2461500" cy="419400"/>
          </a:xfrm>
        </p:grpSpPr>
        <p:sp>
          <p:nvSpPr>
            <p:cNvPr id="1182" name="Google Shape;1182;p76"/>
            <p:cNvSpPr/>
            <p:nvPr/>
          </p:nvSpPr>
          <p:spPr>
            <a:xfrm>
              <a:off x="3240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50 × sin(32°)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183" name="Google Shape;1183;p76"/>
            <p:cNvSpPr/>
            <p:nvPr/>
          </p:nvSpPr>
          <p:spPr>
            <a:xfrm>
              <a:off x="3240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e</a:t>
              </a:r>
              <a:endParaRPr sz="2000">
                <a:solidFill>
                  <a:schemeClr val="lt1"/>
                </a:solidFill>
                <a:latin typeface="Lexend"/>
                <a:ea typeface="Lexend"/>
                <a:cs typeface="Lexend"/>
                <a:sym typeface="Lexend"/>
              </a:endParaRPr>
            </a:p>
          </p:txBody>
        </p:sp>
      </p:grpSp>
      <p:sp>
        <p:nvSpPr>
          <p:cNvPr id="1184" name="Google Shape;1184;p76"/>
          <p:cNvSpPr txBox="1"/>
          <p:nvPr/>
        </p:nvSpPr>
        <p:spPr>
          <a:xfrm>
            <a:off x="4969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185" name="Google Shape;1185;p76"/>
          <p:cNvSpPr txBox="1"/>
          <p:nvPr/>
        </p:nvSpPr>
        <p:spPr>
          <a:xfrm>
            <a:off x="36063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186" name="Google Shape;1186;p76"/>
          <p:cNvSpPr txBox="1"/>
          <p:nvPr/>
        </p:nvSpPr>
        <p:spPr>
          <a:xfrm>
            <a:off x="6715750" y="1780300"/>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pic>
        <p:nvPicPr>
          <p:cNvPr id="1187" name="Google Shape;1187;p76"/>
          <p:cNvPicPr preferRelativeResize="0"/>
          <p:nvPr/>
        </p:nvPicPr>
        <p:blipFill>
          <a:blip r:embed="rId3">
            <a:alphaModFix/>
          </a:blip>
          <a:stretch>
            <a:fillRect/>
          </a:stretch>
        </p:blipFill>
        <p:spPr>
          <a:xfrm>
            <a:off x="7192325" y="3134071"/>
            <a:ext cx="1155100" cy="188464"/>
          </a:xfrm>
          <a:prstGeom prst="rect">
            <a:avLst/>
          </a:prstGeom>
          <a:noFill/>
          <a:ln>
            <a:noFill/>
          </a:ln>
        </p:spPr>
      </p:pic>
      <p:pic>
        <p:nvPicPr>
          <p:cNvPr id="1188" name="Google Shape;1188;p76"/>
          <p:cNvPicPr preferRelativeResize="0"/>
          <p:nvPr/>
        </p:nvPicPr>
        <p:blipFill>
          <a:blip r:embed="rId4">
            <a:alphaModFix/>
          </a:blip>
          <a:stretch>
            <a:fillRect/>
          </a:stretch>
        </p:blipFill>
        <p:spPr>
          <a:xfrm>
            <a:off x="883725" y="1891494"/>
            <a:ext cx="194100" cy="11464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77"/>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By using the sine formula, find the length of the missing side labelled with a letter for each of these triangles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194" name="Google Shape;1194;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195" name="Google Shape;1195;p77"/>
          <p:cNvSpPr/>
          <p:nvPr/>
        </p:nvSpPr>
        <p:spPr>
          <a:xfrm flipH="1">
            <a:off x="-20267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6" name="Google Shape;1196;p77"/>
          <p:cNvSpPr/>
          <p:nvPr/>
        </p:nvSpPr>
        <p:spPr>
          <a:xfrm rot="-5400000">
            <a:off x="665399"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7" name="Google Shape;1197;p77"/>
          <p:cNvCxnSpPr/>
          <p:nvPr/>
        </p:nvCxnSpPr>
        <p:spPr>
          <a:xfrm>
            <a:off x="5988039" y="1137525"/>
            <a:ext cx="0" cy="3682800"/>
          </a:xfrm>
          <a:prstGeom prst="straightConnector1">
            <a:avLst/>
          </a:prstGeom>
          <a:noFill/>
          <a:ln cap="flat" cmpd="sng" w="38100">
            <a:solidFill>
              <a:schemeClr val="accent4"/>
            </a:solidFill>
            <a:prstDash val="solid"/>
            <a:round/>
            <a:headEnd len="med" w="med" type="none"/>
            <a:tailEnd len="med" w="med" type="none"/>
          </a:ln>
        </p:spPr>
      </p:cxnSp>
      <p:cxnSp>
        <p:nvCxnSpPr>
          <p:cNvPr id="1198" name="Google Shape;1198;p77"/>
          <p:cNvCxnSpPr/>
          <p:nvPr/>
        </p:nvCxnSpPr>
        <p:spPr>
          <a:xfrm>
            <a:off x="3156072" y="1137525"/>
            <a:ext cx="0" cy="3682800"/>
          </a:xfrm>
          <a:prstGeom prst="straightConnector1">
            <a:avLst/>
          </a:prstGeom>
          <a:noFill/>
          <a:ln cap="flat" cmpd="sng" w="38100">
            <a:solidFill>
              <a:schemeClr val="accent4"/>
            </a:solidFill>
            <a:prstDash val="solid"/>
            <a:round/>
            <a:headEnd len="med" w="med" type="none"/>
            <a:tailEnd len="med" w="med" type="none"/>
          </a:ln>
        </p:spPr>
      </p:cxnSp>
      <p:sp>
        <p:nvSpPr>
          <p:cNvPr id="1199" name="Google Shape;1199;p77"/>
          <p:cNvSpPr/>
          <p:nvPr/>
        </p:nvSpPr>
        <p:spPr>
          <a:xfrm>
            <a:off x="1659443"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0" name="Google Shape;1200;p77"/>
          <p:cNvCxnSpPr/>
          <p:nvPr/>
        </p:nvCxnSpPr>
        <p:spPr>
          <a:xfrm flipH="1">
            <a:off x="417449"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201" name="Google Shape;1201;p77"/>
          <p:cNvSpPr txBox="1"/>
          <p:nvPr/>
        </p:nvSpPr>
        <p:spPr>
          <a:xfrm>
            <a:off x="553117" y="1531211"/>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cxnSp>
        <p:nvCxnSpPr>
          <p:cNvPr id="1202" name="Google Shape;1202;p77"/>
          <p:cNvCxnSpPr/>
          <p:nvPr/>
        </p:nvCxnSpPr>
        <p:spPr>
          <a:xfrm rot="10800000">
            <a:off x="1950014"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03" name="Google Shape;1203;p77"/>
          <p:cNvSpPr/>
          <p:nvPr/>
        </p:nvSpPr>
        <p:spPr>
          <a:xfrm flipH="1">
            <a:off x="2690019"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4" name="Google Shape;1204;p77"/>
          <p:cNvSpPr/>
          <p:nvPr/>
        </p:nvSpPr>
        <p:spPr>
          <a:xfrm rot="-5400000">
            <a:off x="3558092"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5" name="Google Shape;1205;p77"/>
          <p:cNvSpPr/>
          <p:nvPr/>
        </p:nvSpPr>
        <p:spPr>
          <a:xfrm>
            <a:off x="4552136"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6" name="Google Shape;1206;p77"/>
          <p:cNvCxnSpPr/>
          <p:nvPr/>
        </p:nvCxnSpPr>
        <p:spPr>
          <a:xfrm flipH="1">
            <a:off x="3310142"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207" name="Google Shape;1207;p77"/>
          <p:cNvSpPr txBox="1"/>
          <p:nvPr/>
        </p:nvSpPr>
        <p:spPr>
          <a:xfrm flipH="1">
            <a:off x="3609239"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cxnSp>
        <p:nvCxnSpPr>
          <p:cNvPr id="1208" name="Google Shape;1208;p77"/>
          <p:cNvCxnSpPr/>
          <p:nvPr/>
        </p:nvCxnSpPr>
        <p:spPr>
          <a:xfrm rot="10800000">
            <a:off x="4842708"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09" name="Google Shape;1209;p77"/>
          <p:cNvSpPr/>
          <p:nvPr/>
        </p:nvSpPr>
        <p:spPr>
          <a:xfrm flipH="1">
            <a:off x="-154406" y="351467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0" name="Google Shape;1210;p77"/>
          <p:cNvSpPr/>
          <p:nvPr/>
        </p:nvSpPr>
        <p:spPr>
          <a:xfrm rot="-5400000">
            <a:off x="713667" y="304165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1" name="Google Shape;1211;p77"/>
          <p:cNvSpPr/>
          <p:nvPr/>
        </p:nvSpPr>
        <p:spPr>
          <a:xfrm>
            <a:off x="1707711"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2" name="Google Shape;1212;p77"/>
          <p:cNvCxnSpPr/>
          <p:nvPr/>
        </p:nvCxnSpPr>
        <p:spPr>
          <a:xfrm flipH="1">
            <a:off x="465717" y="313720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213" name="Google Shape;1213;p77"/>
          <p:cNvSpPr txBox="1"/>
          <p:nvPr/>
        </p:nvSpPr>
        <p:spPr>
          <a:xfrm>
            <a:off x="2063350" y="36004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cxnSp>
        <p:nvCxnSpPr>
          <p:cNvPr id="1214" name="Google Shape;1214;p77"/>
          <p:cNvCxnSpPr/>
          <p:nvPr/>
        </p:nvCxnSpPr>
        <p:spPr>
          <a:xfrm rot="10800000">
            <a:off x="1998283" y="321341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15" name="Google Shape;1215;p77"/>
          <p:cNvSpPr/>
          <p:nvPr/>
        </p:nvSpPr>
        <p:spPr>
          <a:xfrm>
            <a:off x="7535000" y="3080425"/>
            <a:ext cx="2291100" cy="22911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6" name="Google Shape;1216;p77"/>
          <p:cNvSpPr/>
          <p:nvPr/>
        </p:nvSpPr>
        <p:spPr>
          <a:xfrm flipH="1">
            <a:off x="6721708"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7" name="Google Shape;1217;p77"/>
          <p:cNvCxnSpPr/>
          <p:nvPr/>
        </p:nvCxnSpPr>
        <p:spPr>
          <a:xfrm rot="10800000">
            <a:off x="6618513" y="3493900"/>
            <a:ext cx="0" cy="744000"/>
          </a:xfrm>
          <a:prstGeom prst="straightConnector1">
            <a:avLst/>
          </a:prstGeom>
          <a:noFill/>
          <a:ln cap="flat" cmpd="sng" w="28575">
            <a:solidFill>
              <a:srgbClr val="845AD9"/>
            </a:solidFill>
            <a:prstDash val="solid"/>
            <a:round/>
            <a:headEnd len="med" w="med" type="triangle"/>
            <a:tailEnd len="med" w="med" type="triangle"/>
          </a:ln>
        </p:spPr>
      </p:cxnSp>
      <p:sp>
        <p:nvSpPr>
          <p:cNvPr id="1218" name="Google Shape;1218;p77"/>
          <p:cNvSpPr txBox="1"/>
          <p:nvPr/>
        </p:nvSpPr>
        <p:spPr>
          <a:xfrm>
            <a:off x="6008524" y="3744700"/>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 cm</a:t>
            </a:r>
            <a:endParaRPr sz="1800">
              <a:latin typeface="Lexend"/>
              <a:ea typeface="Lexend"/>
              <a:cs typeface="Lexend"/>
              <a:sym typeface="Lexend"/>
            </a:endParaRPr>
          </a:p>
        </p:txBody>
      </p:sp>
      <p:cxnSp>
        <p:nvCxnSpPr>
          <p:cNvPr id="1219" name="Google Shape;1219;p77"/>
          <p:cNvCxnSpPr/>
          <p:nvPr/>
        </p:nvCxnSpPr>
        <p:spPr>
          <a:xfrm rot="10800000">
            <a:off x="6763525" y="3397071"/>
            <a:ext cx="1991100" cy="735900"/>
          </a:xfrm>
          <a:prstGeom prst="straightConnector1">
            <a:avLst/>
          </a:prstGeom>
          <a:noFill/>
          <a:ln cap="flat" cmpd="sng" w="28575">
            <a:solidFill>
              <a:srgbClr val="845AD9"/>
            </a:solidFill>
            <a:prstDash val="solid"/>
            <a:round/>
            <a:headEnd len="med" w="med" type="triangle"/>
            <a:tailEnd len="med" w="med" type="triangle"/>
          </a:ln>
        </p:spPr>
      </p:cxnSp>
      <p:sp>
        <p:nvSpPr>
          <p:cNvPr id="1220" name="Google Shape;1220;p77"/>
          <p:cNvSpPr/>
          <p:nvPr/>
        </p:nvSpPr>
        <p:spPr>
          <a:xfrm flipH="1">
            <a:off x="572339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77"/>
          <p:cNvSpPr/>
          <p:nvPr/>
        </p:nvSpPr>
        <p:spPr>
          <a:xfrm rot="-5400000">
            <a:off x="6591467"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2" name="Google Shape;1222;p77"/>
          <p:cNvSpPr/>
          <p:nvPr/>
        </p:nvSpPr>
        <p:spPr>
          <a:xfrm>
            <a:off x="7585511"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23" name="Google Shape;1223;p77"/>
          <p:cNvCxnSpPr/>
          <p:nvPr/>
        </p:nvCxnSpPr>
        <p:spPr>
          <a:xfrm flipH="1">
            <a:off x="6343517"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224" name="Google Shape;1224;p77"/>
          <p:cNvSpPr txBox="1"/>
          <p:nvPr/>
        </p:nvSpPr>
        <p:spPr>
          <a:xfrm>
            <a:off x="6256800" y="15312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sp>
        <p:nvSpPr>
          <p:cNvPr id="1225" name="Google Shape;1225;p77"/>
          <p:cNvSpPr txBox="1"/>
          <p:nvPr/>
        </p:nvSpPr>
        <p:spPr>
          <a:xfrm flipH="1">
            <a:off x="6642614"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cxnSp>
        <p:nvCxnSpPr>
          <p:cNvPr id="1226" name="Google Shape;1226;p77"/>
          <p:cNvCxnSpPr/>
          <p:nvPr/>
        </p:nvCxnSpPr>
        <p:spPr>
          <a:xfrm rot="10800000">
            <a:off x="7876083"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27" name="Google Shape;1227;p77"/>
          <p:cNvSpPr txBox="1"/>
          <p:nvPr/>
        </p:nvSpPr>
        <p:spPr>
          <a:xfrm flipH="1">
            <a:off x="764814" y="395980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228" name="Google Shape;1228;p77"/>
          <p:cNvSpPr/>
          <p:nvPr/>
        </p:nvSpPr>
        <p:spPr>
          <a:xfrm flipH="1">
            <a:off x="2826444" y="3445912"/>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9" name="Google Shape;1229;p77"/>
          <p:cNvSpPr/>
          <p:nvPr/>
        </p:nvSpPr>
        <p:spPr>
          <a:xfrm>
            <a:off x="4688561" y="3967012"/>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30" name="Google Shape;1230;p77"/>
          <p:cNvCxnSpPr/>
          <p:nvPr/>
        </p:nvCxnSpPr>
        <p:spPr>
          <a:xfrm flipH="1">
            <a:off x="3446567" y="3068437"/>
            <a:ext cx="135990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231" name="Google Shape;1231;p77"/>
          <p:cNvCxnSpPr/>
          <p:nvPr/>
        </p:nvCxnSpPr>
        <p:spPr>
          <a:xfrm rot="10800000">
            <a:off x="3522767" y="4257503"/>
            <a:ext cx="1359900" cy="0"/>
          </a:xfrm>
          <a:prstGeom prst="straightConnector1">
            <a:avLst/>
          </a:prstGeom>
          <a:noFill/>
          <a:ln cap="flat" cmpd="sng" w="28575">
            <a:solidFill>
              <a:srgbClr val="845AD9"/>
            </a:solidFill>
            <a:prstDash val="solid"/>
            <a:round/>
            <a:headEnd len="med" w="med" type="triangle"/>
            <a:tailEnd len="med" w="med" type="triangle"/>
          </a:ln>
        </p:spPr>
      </p:cxnSp>
      <p:sp>
        <p:nvSpPr>
          <p:cNvPr id="1232" name="Google Shape;1232;p77"/>
          <p:cNvSpPr txBox="1"/>
          <p:nvPr/>
        </p:nvSpPr>
        <p:spPr>
          <a:xfrm>
            <a:off x="3749874" y="4303937"/>
            <a:ext cx="905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sp>
        <p:nvSpPr>
          <p:cNvPr id="1233" name="Google Shape;1233;p77"/>
          <p:cNvSpPr txBox="1"/>
          <p:nvPr/>
        </p:nvSpPr>
        <p:spPr>
          <a:xfrm flipH="1">
            <a:off x="3745664" y="3891042"/>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234" name="Google Shape;1234;p77"/>
          <p:cNvSpPr txBox="1"/>
          <p:nvPr/>
        </p:nvSpPr>
        <p:spPr>
          <a:xfrm flipH="1">
            <a:off x="716545"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sp>
        <p:nvSpPr>
          <p:cNvPr id="1235" name="Google Shape;1235;p77"/>
          <p:cNvSpPr txBox="1"/>
          <p:nvPr/>
        </p:nvSpPr>
        <p:spPr>
          <a:xfrm>
            <a:off x="3251566" y="15312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sp>
        <p:nvSpPr>
          <p:cNvPr id="1236" name="Google Shape;1236;p77"/>
          <p:cNvSpPr/>
          <p:nvPr/>
        </p:nvSpPr>
        <p:spPr>
          <a:xfrm flipH="1">
            <a:off x="4296675" y="2577512"/>
            <a:ext cx="1155900" cy="1155900"/>
          </a:xfrm>
          <a:prstGeom prst="arc">
            <a:avLst>
              <a:gd fmla="val 2216544" name="adj1"/>
              <a:gd fmla="val 54150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7" name="Google Shape;1237;p77"/>
          <p:cNvSpPr txBox="1"/>
          <p:nvPr/>
        </p:nvSpPr>
        <p:spPr>
          <a:xfrm flipH="1">
            <a:off x="4418026" y="3384998"/>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41°</a:t>
            </a:r>
            <a:endParaRPr sz="1800">
              <a:latin typeface="Lexend"/>
              <a:ea typeface="Lexend"/>
              <a:cs typeface="Lexend"/>
              <a:sym typeface="Lexend"/>
            </a:endParaRPr>
          </a:p>
        </p:txBody>
      </p:sp>
      <p:sp>
        <p:nvSpPr>
          <p:cNvPr id="1238" name="Google Shape;1238;p77"/>
          <p:cNvSpPr txBox="1"/>
          <p:nvPr/>
        </p:nvSpPr>
        <p:spPr>
          <a:xfrm>
            <a:off x="7489725" y="3979075"/>
            <a:ext cx="7398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a:t>
            </a:r>
            <a:endParaRPr sz="1800">
              <a:latin typeface="Lexend"/>
              <a:ea typeface="Lexend"/>
              <a:cs typeface="Lexend"/>
              <a:sym typeface="Lexend"/>
            </a:endParaRPr>
          </a:p>
        </p:txBody>
      </p:sp>
      <p:sp>
        <p:nvSpPr>
          <p:cNvPr id="1239" name="Google Shape;1239;p77"/>
          <p:cNvSpPr/>
          <p:nvPr/>
        </p:nvSpPr>
        <p:spPr>
          <a:xfrm flipH="1" rot="5400000">
            <a:off x="7349307" y="28663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0" name="Google Shape;1240;p77"/>
          <p:cNvSpPr txBox="1"/>
          <p:nvPr/>
        </p:nvSpPr>
        <p:spPr>
          <a:xfrm>
            <a:off x="1972000"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241" name="Google Shape;1241;p77"/>
          <p:cNvSpPr txBox="1"/>
          <p:nvPr/>
        </p:nvSpPr>
        <p:spPr>
          <a:xfrm>
            <a:off x="487020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242" name="Google Shape;1242;p77"/>
          <p:cNvSpPr txBox="1"/>
          <p:nvPr/>
        </p:nvSpPr>
        <p:spPr>
          <a:xfrm>
            <a:off x="790805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sp>
        <p:nvSpPr>
          <p:cNvPr id="1243" name="Google Shape;1243;p77"/>
          <p:cNvSpPr txBox="1"/>
          <p:nvPr/>
        </p:nvSpPr>
        <p:spPr>
          <a:xfrm>
            <a:off x="577570" y="3411450"/>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244" name="Google Shape;1244;p77"/>
          <p:cNvSpPr txBox="1"/>
          <p:nvPr/>
        </p:nvSpPr>
        <p:spPr>
          <a:xfrm>
            <a:off x="3592483" y="3324343"/>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e</a:t>
            </a:r>
            <a:r>
              <a:rPr lang="en-GB" sz="1800">
                <a:latin typeface="Lexend"/>
                <a:ea typeface="Lexend"/>
                <a:cs typeface="Lexend"/>
                <a:sym typeface="Lexend"/>
              </a:rPr>
              <a:t> cm</a:t>
            </a:r>
            <a:endParaRPr sz="1800">
              <a:latin typeface="Lexend"/>
              <a:ea typeface="Lexend"/>
              <a:cs typeface="Lexend"/>
              <a:sym typeface="Lexend"/>
            </a:endParaRPr>
          </a:p>
        </p:txBody>
      </p:sp>
      <p:sp>
        <p:nvSpPr>
          <p:cNvPr id="1245" name="Google Shape;1245;p77"/>
          <p:cNvSpPr txBox="1"/>
          <p:nvPr/>
        </p:nvSpPr>
        <p:spPr>
          <a:xfrm>
            <a:off x="7649190" y="3391646"/>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cm</a:t>
            </a:r>
            <a:endParaRPr sz="1800">
              <a:latin typeface="Lexend"/>
              <a:ea typeface="Lexend"/>
              <a:cs typeface="Lexend"/>
              <a:sym typeface="Lexend"/>
            </a:endParaRPr>
          </a:p>
        </p:txBody>
      </p:sp>
      <p:sp>
        <p:nvSpPr>
          <p:cNvPr id="1246" name="Google Shape;1246;p77"/>
          <p:cNvSpPr/>
          <p:nvPr/>
        </p:nvSpPr>
        <p:spPr>
          <a:xfrm rot="-5400000">
            <a:off x="3694517" y="2972887"/>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7" name="Google Shape;1247;p77"/>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248" name="Google Shape;1248;p77"/>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r>
              <a:rPr lang="en-GB" sz="1800">
                <a:latin typeface="Lexend"/>
                <a:ea typeface="Lexend"/>
                <a:cs typeface="Lexend"/>
                <a:sym typeface="Lexend"/>
              </a:rPr>
              <a:t>)</a:t>
            </a:r>
            <a:endParaRPr sz="1800">
              <a:latin typeface="Lexend"/>
              <a:ea typeface="Lexend"/>
              <a:cs typeface="Lexend"/>
              <a:sym typeface="Lexend"/>
            </a:endParaRPr>
          </a:p>
        </p:txBody>
      </p:sp>
      <p:sp>
        <p:nvSpPr>
          <p:cNvPr id="1249" name="Google Shape;1249;p77"/>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r>
              <a:rPr lang="en-GB" sz="1800">
                <a:latin typeface="Lexend"/>
                <a:ea typeface="Lexend"/>
                <a:cs typeface="Lexend"/>
                <a:sym typeface="Lexend"/>
              </a:rPr>
              <a:t>)</a:t>
            </a:r>
            <a:endParaRPr sz="1800">
              <a:latin typeface="Lexend"/>
              <a:ea typeface="Lexend"/>
              <a:cs typeface="Lexend"/>
              <a:sym typeface="Lexend"/>
            </a:endParaRPr>
          </a:p>
        </p:txBody>
      </p:sp>
      <p:sp>
        <p:nvSpPr>
          <p:cNvPr id="1250" name="Google Shape;1250;p77"/>
          <p:cNvSpPr txBox="1"/>
          <p:nvPr/>
        </p:nvSpPr>
        <p:spPr>
          <a:xfrm>
            <a:off x="3139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r>
              <a:rPr lang="en-GB" sz="1800">
                <a:latin typeface="Lexend"/>
                <a:ea typeface="Lexend"/>
                <a:cs typeface="Lexend"/>
                <a:sym typeface="Lexend"/>
              </a:rPr>
              <a:t>)</a:t>
            </a:r>
            <a:endParaRPr sz="1800">
              <a:latin typeface="Lexend"/>
              <a:ea typeface="Lexend"/>
              <a:cs typeface="Lexend"/>
              <a:sym typeface="Lexend"/>
            </a:endParaRPr>
          </a:p>
        </p:txBody>
      </p:sp>
      <p:sp>
        <p:nvSpPr>
          <p:cNvPr id="1251" name="Google Shape;1251;p77"/>
          <p:cNvSpPr txBox="1"/>
          <p:nvPr/>
        </p:nvSpPr>
        <p:spPr>
          <a:xfrm>
            <a:off x="32066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r>
              <a:rPr lang="en-GB" sz="1800">
                <a:latin typeface="Lexend"/>
                <a:ea typeface="Lexend"/>
                <a:cs typeface="Lexend"/>
                <a:sym typeface="Lexend"/>
              </a:rPr>
              <a:t>)</a:t>
            </a:r>
            <a:endParaRPr sz="1800">
              <a:latin typeface="Lexend"/>
              <a:ea typeface="Lexend"/>
              <a:cs typeface="Lexend"/>
              <a:sym typeface="Lexend"/>
            </a:endParaRPr>
          </a:p>
        </p:txBody>
      </p:sp>
      <p:sp>
        <p:nvSpPr>
          <p:cNvPr id="1252" name="Google Shape;1252;p77"/>
          <p:cNvSpPr txBox="1"/>
          <p:nvPr/>
        </p:nvSpPr>
        <p:spPr>
          <a:xfrm>
            <a:off x="60993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r>
              <a:rPr lang="en-GB" sz="1800">
                <a:latin typeface="Lexend"/>
                <a:ea typeface="Lexend"/>
                <a:cs typeface="Lexend"/>
                <a:sym typeface="Lexend"/>
              </a:rPr>
              <a:t>)</a:t>
            </a:r>
            <a:endParaRPr sz="1800">
              <a:latin typeface="Lexend"/>
              <a:ea typeface="Lexend"/>
              <a:cs typeface="Lexend"/>
              <a:sym typeface="Lexend"/>
            </a:endParaRPr>
          </a:p>
        </p:txBody>
      </p:sp>
      <p:pic>
        <p:nvPicPr>
          <p:cNvPr id="1253" name="Google Shape;1253;p77"/>
          <p:cNvPicPr preferRelativeResize="0"/>
          <p:nvPr/>
        </p:nvPicPr>
        <p:blipFill>
          <a:blip r:embed="rId3">
            <a:alphaModFix/>
          </a:blip>
          <a:stretch>
            <a:fillRect/>
          </a:stretch>
        </p:blipFill>
        <p:spPr>
          <a:xfrm>
            <a:off x="324000" y="2766203"/>
            <a:ext cx="8495999" cy="39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78"/>
          <p:cNvSpPr/>
          <p:nvPr/>
        </p:nvSpPr>
        <p:spPr>
          <a:xfrm rot="-5400000">
            <a:off x="2109817" y="350555"/>
            <a:ext cx="2439000" cy="55017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9" name="Google Shape;1259;p78"/>
          <p:cNvSpPr/>
          <p:nvPr/>
        </p:nvSpPr>
        <p:spPr>
          <a:xfrm rot="-5400000">
            <a:off x="1894876" y="906899"/>
            <a:ext cx="2097600" cy="4730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0" name="Google Shape;1260;p78"/>
          <p:cNvSpPr/>
          <p:nvPr/>
        </p:nvSpPr>
        <p:spPr>
          <a:xfrm rot="-5400000">
            <a:off x="1609277" y="1647599"/>
            <a:ext cx="1642500" cy="3704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1" name="Google Shape;1261;p78"/>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Find the lengths of the distances </a:t>
            </a:r>
            <a:r>
              <a:rPr i="1" lang="en-GB" sz="2200">
                <a:latin typeface="Times New Roman"/>
                <a:ea typeface="Times New Roman"/>
                <a:cs typeface="Times New Roman"/>
                <a:sym typeface="Times New Roman"/>
              </a:rPr>
              <a:t>a</a:t>
            </a:r>
            <a:r>
              <a:rPr lang="en-GB" sz="1800">
                <a:latin typeface="Lexend"/>
                <a:ea typeface="Lexend"/>
                <a:cs typeface="Lexend"/>
                <a:sym typeface="Lexend"/>
              </a:rPr>
              <a:t>, </a:t>
            </a:r>
            <a:r>
              <a:rPr i="1" lang="en-GB" sz="2200">
                <a:latin typeface="Times New Roman"/>
                <a:ea typeface="Times New Roman"/>
                <a:cs typeface="Times New Roman"/>
                <a:sym typeface="Times New Roman"/>
              </a:rPr>
              <a:t>b</a:t>
            </a:r>
            <a:r>
              <a:rPr lang="en-GB" sz="1800">
                <a:latin typeface="Lexend"/>
                <a:ea typeface="Lexend"/>
                <a:cs typeface="Lexend"/>
                <a:sym typeface="Lexend"/>
              </a:rPr>
              <a:t>, </a:t>
            </a:r>
            <a:r>
              <a:rPr i="1" lang="en-GB" sz="2200">
                <a:latin typeface="Times New Roman"/>
                <a:ea typeface="Times New Roman"/>
                <a:cs typeface="Times New Roman"/>
                <a:sym typeface="Times New Roman"/>
              </a:rPr>
              <a:t>c</a:t>
            </a:r>
            <a:r>
              <a:rPr lang="en-GB" sz="1800">
                <a:latin typeface="Lexend"/>
                <a:ea typeface="Lexend"/>
                <a:cs typeface="Lexend"/>
                <a:sym typeface="Lexend"/>
              </a:rPr>
              <a:t>, and </a:t>
            </a:r>
            <a:r>
              <a:rPr i="1" lang="en-GB" sz="2200">
                <a:latin typeface="Times New Roman"/>
                <a:ea typeface="Times New Roman"/>
                <a:cs typeface="Times New Roman"/>
                <a:sym typeface="Times New Roman"/>
              </a:rPr>
              <a:t>d</a:t>
            </a:r>
            <a:r>
              <a:rPr lang="en-GB" sz="1800">
                <a:latin typeface="Lexend"/>
                <a:ea typeface="Lexend"/>
                <a:cs typeface="Lexend"/>
                <a:sym typeface="Lexend"/>
              </a:rPr>
              <a:t> (rounded to the nearest integer).</a:t>
            </a:r>
            <a:endParaRPr sz="1800">
              <a:latin typeface="Lexend"/>
              <a:ea typeface="Lexend"/>
              <a:cs typeface="Lexend"/>
              <a:sym typeface="Lexend"/>
            </a:endParaRPr>
          </a:p>
        </p:txBody>
      </p:sp>
      <p:sp>
        <p:nvSpPr>
          <p:cNvPr id="1262" name="Google Shape;1262;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263" name="Google Shape;1263;p78"/>
          <p:cNvSpPr/>
          <p:nvPr/>
        </p:nvSpPr>
        <p:spPr>
          <a:xfrm flipH="1">
            <a:off x="-434632" y="3285770"/>
            <a:ext cx="2071800" cy="2071800"/>
          </a:xfrm>
          <a:prstGeom prst="arc">
            <a:avLst>
              <a:gd fmla="val 10771373" name="adj1"/>
              <a:gd fmla="val 1227390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4" name="Google Shape;1264;p78"/>
          <p:cNvSpPr/>
          <p:nvPr/>
        </p:nvSpPr>
        <p:spPr>
          <a:xfrm rot="-5400000">
            <a:off x="1364028" y="2284048"/>
            <a:ext cx="1251300" cy="28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5" name="Google Shape;1265;p78"/>
          <p:cNvSpPr/>
          <p:nvPr/>
        </p:nvSpPr>
        <p:spPr>
          <a:xfrm>
            <a:off x="3170484"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6" name="Google Shape;1266;p78"/>
          <p:cNvSpPr txBox="1"/>
          <p:nvPr/>
        </p:nvSpPr>
        <p:spPr>
          <a:xfrm>
            <a:off x="1532525" y="3028485"/>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cxnSp>
        <p:nvCxnSpPr>
          <p:cNvPr id="1267" name="Google Shape;1267;p78"/>
          <p:cNvCxnSpPr/>
          <p:nvPr/>
        </p:nvCxnSpPr>
        <p:spPr>
          <a:xfrm rot="10800000">
            <a:off x="3483825" y="3054250"/>
            <a:ext cx="0" cy="1249500"/>
          </a:xfrm>
          <a:prstGeom prst="straightConnector1">
            <a:avLst/>
          </a:prstGeom>
          <a:noFill/>
          <a:ln cap="flat" cmpd="sng" w="28575">
            <a:solidFill>
              <a:srgbClr val="845AD9"/>
            </a:solidFill>
            <a:prstDash val="solid"/>
            <a:round/>
            <a:headEnd len="med" w="med" type="triangle"/>
            <a:tailEnd len="med" w="med" type="triangle"/>
          </a:ln>
        </p:spPr>
      </p:cxnSp>
      <p:sp>
        <p:nvSpPr>
          <p:cNvPr id="1268" name="Google Shape;1268;p78"/>
          <p:cNvSpPr txBox="1"/>
          <p:nvPr/>
        </p:nvSpPr>
        <p:spPr>
          <a:xfrm flipH="1">
            <a:off x="1030040" y="4031237"/>
            <a:ext cx="629700" cy="314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27°</a:t>
            </a:r>
            <a:endParaRPr sz="1800">
              <a:latin typeface="Lexend"/>
              <a:ea typeface="Lexend"/>
              <a:cs typeface="Lexend"/>
              <a:sym typeface="Lexend"/>
            </a:endParaRPr>
          </a:p>
        </p:txBody>
      </p:sp>
      <p:sp>
        <p:nvSpPr>
          <p:cNvPr id="1269" name="Google Shape;1269;p78"/>
          <p:cNvSpPr txBox="1"/>
          <p:nvPr/>
        </p:nvSpPr>
        <p:spPr>
          <a:xfrm>
            <a:off x="3504383" y="3532995"/>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270" name="Google Shape;1270;p78"/>
          <p:cNvSpPr/>
          <p:nvPr/>
        </p:nvSpPr>
        <p:spPr>
          <a:xfrm>
            <a:off x="4052165"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1" name="Google Shape;1271;p78"/>
          <p:cNvSpPr/>
          <p:nvPr/>
        </p:nvSpPr>
        <p:spPr>
          <a:xfrm>
            <a:off x="5078474"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2" name="Google Shape;1272;p78"/>
          <p:cNvSpPr/>
          <p:nvPr/>
        </p:nvSpPr>
        <p:spPr>
          <a:xfrm>
            <a:off x="5849461"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73" name="Google Shape;1273;p78"/>
          <p:cNvCxnSpPr/>
          <p:nvPr/>
        </p:nvCxnSpPr>
        <p:spPr>
          <a:xfrm flipH="1">
            <a:off x="578478" y="2764798"/>
            <a:ext cx="2822400" cy="1251300"/>
          </a:xfrm>
          <a:prstGeom prst="straightConnector1">
            <a:avLst/>
          </a:prstGeom>
          <a:noFill/>
          <a:ln cap="flat" cmpd="sng" w="28575">
            <a:solidFill>
              <a:srgbClr val="845AD9"/>
            </a:solidFill>
            <a:prstDash val="solid"/>
            <a:round/>
            <a:headEnd len="med" w="med" type="triangle"/>
            <a:tailEnd len="med" w="med" type="triangle"/>
          </a:ln>
        </p:spPr>
      </p:cxnSp>
      <p:cxnSp>
        <p:nvCxnSpPr>
          <p:cNvPr id="1274" name="Google Shape;1274;p78"/>
          <p:cNvCxnSpPr/>
          <p:nvPr/>
        </p:nvCxnSpPr>
        <p:spPr>
          <a:xfrm flipH="1" rot="10800000">
            <a:off x="3400878" y="2373598"/>
            <a:ext cx="881700" cy="391200"/>
          </a:xfrm>
          <a:prstGeom prst="straightConnector1">
            <a:avLst/>
          </a:prstGeom>
          <a:noFill/>
          <a:ln cap="flat" cmpd="sng" w="28575">
            <a:solidFill>
              <a:srgbClr val="845AD9"/>
            </a:solidFill>
            <a:prstDash val="solid"/>
            <a:round/>
            <a:headEnd len="med" w="med" type="triangle"/>
            <a:tailEnd len="med" w="med" type="triangle"/>
          </a:ln>
        </p:spPr>
      </p:cxnSp>
      <p:cxnSp>
        <p:nvCxnSpPr>
          <p:cNvPr id="1275" name="Google Shape;1275;p78"/>
          <p:cNvCxnSpPr/>
          <p:nvPr/>
        </p:nvCxnSpPr>
        <p:spPr>
          <a:xfrm flipH="1">
            <a:off x="4282576" y="1918499"/>
            <a:ext cx="1026300" cy="455100"/>
          </a:xfrm>
          <a:prstGeom prst="straightConnector1">
            <a:avLst/>
          </a:prstGeom>
          <a:noFill/>
          <a:ln cap="flat" cmpd="sng" w="28575">
            <a:solidFill>
              <a:srgbClr val="845AD9"/>
            </a:solidFill>
            <a:prstDash val="solid"/>
            <a:round/>
            <a:headEnd len="med" w="med" type="triangle"/>
            <a:tailEnd len="med" w="med" type="triangle"/>
          </a:ln>
        </p:spPr>
      </p:cxnSp>
      <p:cxnSp>
        <p:nvCxnSpPr>
          <p:cNvPr id="1276" name="Google Shape;1276;p78"/>
          <p:cNvCxnSpPr/>
          <p:nvPr/>
        </p:nvCxnSpPr>
        <p:spPr>
          <a:xfrm flipH="1" rot="10800000">
            <a:off x="5308876" y="1577099"/>
            <a:ext cx="771300" cy="341400"/>
          </a:xfrm>
          <a:prstGeom prst="straightConnector1">
            <a:avLst/>
          </a:prstGeom>
          <a:noFill/>
          <a:ln cap="flat" cmpd="sng" w="28575">
            <a:solidFill>
              <a:srgbClr val="845AD9"/>
            </a:solidFill>
            <a:prstDash val="solid"/>
            <a:round/>
            <a:headEnd len="med" w="med" type="triangle"/>
            <a:tailEnd len="med" w="med" type="triangle"/>
          </a:ln>
        </p:spPr>
      </p:cxnSp>
      <p:sp>
        <p:nvSpPr>
          <p:cNvPr id="1277" name="Google Shape;1277;p78"/>
          <p:cNvSpPr txBox="1"/>
          <p:nvPr/>
        </p:nvSpPr>
        <p:spPr>
          <a:xfrm>
            <a:off x="3417575" y="2256295"/>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278" name="Google Shape;1278;p78"/>
          <p:cNvCxnSpPr/>
          <p:nvPr/>
        </p:nvCxnSpPr>
        <p:spPr>
          <a:xfrm rot="10800000">
            <a:off x="4369325" y="2659150"/>
            <a:ext cx="0" cy="1644600"/>
          </a:xfrm>
          <a:prstGeom prst="straightConnector1">
            <a:avLst/>
          </a:prstGeom>
          <a:noFill/>
          <a:ln cap="flat" cmpd="sng" w="28575">
            <a:solidFill>
              <a:srgbClr val="845AD9"/>
            </a:solidFill>
            <a:prstDash val="solid"/>
            <a:round/>
            <a:headEnd len="med" w="med" type="triangle"/>
            <a:tailEnd len="med" w="med" type="triangle"/>
          </a:ln>
        </p:spPr>
      </p:cxnSp>
      <p:sp>
        <p:nvSpPr>
          <p:cNvPr id="1279" name="Google Shape;1279;p78"/>
          <p:cNvSpPr txBox="1"/>
          <p:nvPr/>
        </p:nvSpPr>
        <p:spPr>
          <a:xfrm>
            <a:off x="4403635" y="3289324"/>
            <a:ext cx="632700" cy="34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39.5 cm</a:t>
            </a:r>
            <a:endParaRPr sz="1800">
              <a:latin typeface="Lexend"/>
              <a:ea typeface="Lexend"/>
              <a:cs typeface="Lexend"/>
              <a:sym typeface="Lexend"/>
            </a:endParaRPr>
          </a:p>
        </p:txBody>
      </p:sp>
      <p:sp>
        <p:nvSpPr>
          <p:cNvPr id="1280" name="Google Shape;1280;p78"/>
          <p:cNvSpPr txBox="1"/>
          <p:nvPr/>
        </p:nvSpPr>
        <p:spPr>
          <a:xfrm>
            <a:off x="4358770" y="1826326"/>
            <a:ext cx="6990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cxnSp>
        <p:nvCxnSpPr>
          <p:cNvPr id="1281" name="Google Shape;1281;p78"/>
          <p:cNvCxnSpPr/>
          <p:nvPr/>
        </p:nvCxnSpPr>
        <p:spPr>
          <a:xfrm rot="10800000">
            <a:off x="5393650" y="2202850"/>
            <a:ext cx="0" cy="2100900"/>
          </a:xfrm>
          <a:prstGeom prst="straightConnector1">
            <a:avLst/>
          </a:prstGeom>
          <a:noFill/>
          <a:ln cap="flat" cmpd="sng" w="28575">
            <a:solidFill>
              <a:srgbClr val="845AD9"/>
            </a:solidFill>
            <a:prstDash val="solid"/>
            <a:round/>
            <a:headEnd len="med" w="med" type="triangle"/>
            <a:tailEnd len="med" w="med" type="triangle"/>
          </a:ln>
        </p:spPr>
      </p:cxnSp>
      <p:sp>
        <p:nvSpPr>
          <p:cNvPr id="1282" name="Google Shape;1282;p78"/>
          <p:cNvSpPr txBox="1"/>
          <p:nvPr/>
        </p:nvSpPr>
        <p:spPr>
          <a:xfrm>
            <a:off x="5414207" y="3007794"/>
            <a:ext cx="632700" cy="44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283" name="Google Shape;1283;p78"/>
          <p:cNvCxnSpPr/>
          <p:nvPr/>
        </p:nvCxnSpPr>
        <p:spPr>
          <a:xfrm rot="10800000">
            <a:off x="6166625" y="1864750"/>
            <a:ext cx="0" cy="2439000"/>
          </a:xfrm>
          <a:prstGeom prst="straightConnector1">
            <a:avLst/>
          </a:prstGeom>
          <a:noFill/>
          <a:ln cap="flat" cmpd="sng" w="28575">
            <a:solidFill>
              <a:srgbClr val="845AD9"/>
            </a:solidFill>
            <a:prstDash val="solid"/>
            <a:round/>
            <a:headEnd len="med" w="med" type="triangle"/>
            <a:tailEnd len="med" w="med" type="triangle"/>
          </a:ln>
        </p:spPr>
      </p:cxnSp>
      <p:sp>
        <p:nvSpPr>
          <p:cNvPr id="1284" name="Google Shape;1284;p78"/>
          <p:cNvSpPr txBox="1"/>
          <p:nvPr/>
        </p:nvSpPr>
        <p:spPr>
          <a:xfrm>
            <a:off x="6187173" y="2799225"/>
            <a:ext cx="881700" cy="516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64 cm</a:t>
            </a:r>
            <a:endParaRPr sz="1800">
              <a:latin typeface="Lexend"/>
              <a:ea typeface="Lexend"/>
              <a:cs typeface="Lexend"/>
              <a:sym typeface="Lexend"/>
            </a:endParaRPr>
          </a:p>
        </p:txBody>
      </p:sp>
      <p:sp>
        <p:nvSpPr>
          <p:cNvPr id="1285" name="Google Shape;1285;p78"/>
          <p:cNvSpPr txBox="1"/>
          <p:nvPr/>
        </p:nvSpPr>
        <p:spPr>
          <a:xfrm>
            <a:off x="5223627" y="1473942"/>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79"/>
          <p:cNvSpPr/>
          <p:nvPr/>
        </p:nvSpPr>
        <p:spPr>
          <a:xfrm>
            <a:off x="6555275" y="2563400"/>
            <a:ext cx="1178400" cy="11787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1" name="Google Shape;1291;p79"/>
          <p:cNvSpPr txBox="1"/>
          <p:nvPr/>
        </p:nvSpPr>
        <p:spPr>
          <a:xfrm>
            <a:off x="60409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292" name="Google Shape;1292;p79"/>
          <p:cNvSpPr/>
          <p:nvPr/>
        </p:nvSpPr>
        <p:spPr>
          <a:xfrm>
            <a:off x="100595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93" name="Google Shape;1293;p79"/>
          <p:cNvSpPr txBox="1"/>
          <p:nvPr/>
        </p:nvSpPr>
        <p:spPr>
          <a:xfrm>
            <a:off x="324000" y="6106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Substitute the labelled sides and angle in each triangle into these two versions of the sine formula.</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For each triangle, choose the most appropriate version of the sine formula to find the length of its missing side.</a:t>
            </a:r>
            <a:endParaRPr sz="1800">
              <a:latin typeface="Lexend"/>
              <a:ea typeface="Lexend"/>
              <a:cs typeface="Lexend"/>
              <a:sym typeface="Lexend"/>
            </a:endParaRPr>
          </a:p>
        </p:txBody>
      </p:sp>
      <p:sp>
        <p:nvSpPr>
          <p:cNvPr id="1294" name="Google Shape;1294;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cxnSp>
        <p:nvCxnSpPr>
          <p:cNvPr id="1295" name="Google Shape;1295;p79"/>
          <p:cNvCxnSpPr/>
          <p:nvPr/>
        </p:nvCxnSpPr>
        <p:spPr>
          <a:xfrm>
            <a:off x="4572000" y="1567800"/>
            <a:ext cx="0" cy="3259200"/>
          </a:xfrm>
          <a:prstGeom prst="straightConnector1">
            <a:avLst/>
          </a:prstGeom>
          <a:noFill/>
          <a:ln cap="flat" cmpd="sng" w="38100">
            <a:solidFill>
              <a:schemeClr val="accent4"/>
            </a:solidFill>
            <a:prstDash val="solid"/>
            <a:round/>
            <a:headEnd len="med" w="med" type="none"/>
            <a:tailEnd len="med" w="med" type="none"/>
          </a:ln>
        </p:spPr>
      </p:cxnSp>
      <p:sp>
        <p:nvSpPr>
          <p:cNvPr id="1296" name="Google Shape;1296;p79"/>
          <p:cNvSpPr/>
          <p:nvPr/>
        </p:nvSpPr>
        <p:spPr>
          <a:xfrm>
            <a:off x="45307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97" name="Google Shape;1297;p79"/>
          <p:cNvSpPr txBox="1"/>
          <p:nvPr/>
        </p:nvSpPr>
        <p:spPr>
          <a:xfrm>
            <a:off x="680299"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298" name="Google Shape;1298;p79"/>
          <p:cNvSpPr/>
          <p:nvPr/>
        </p:nvSpPr>
        <p:spPr>
          <a:xfrm>
            <a:off x="168480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99" name="Google Shape;1299;p79"/>
          <p:cNvSpPr/>
          <p:nvPr/>
        </p:nvSpPr>
        <p:spPr>
          <a:xfrm>
            <a:off x="266246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00" name="Google Shape;1300;p79"/>
          <p:cNvSpPr txBox="1"/>
          <p:nvPr/>
        </p:nvSpPr>
        <p:spPr>
          <a:xfrm>
            <a:off x="1777831"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301" name="Google Shape;1301;p79"/>
          <p:cNvCxnSpPr/>
          <p:nvPr/>
        </p:nvCxnSpPr>
        <p:spPr>
          <a:xfrm>
            <a:off x="61972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302" name="Google Shape;1302;p79"/>
          <p:cNvSpPr/>
          <p:nvPr/>
        </p:nvSpPr>
        <p:spPr>
          <a:xfrm>
            <a:off x="63215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03" name="Google Shape;1303;p79"/>
          <p:cNvSpPr/>
          <p:nvPr/>
        </p:nvSpPr>
        <p:spPr>
          <a:xfrm>
            <a:off x="1958120"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04" name="Google Shape;1304;p79"/>
          <p:cNvSpPr/>
          <p:nvPr/>
        </p:nvSpPr>
        <p:spPr>
          <a:xfrm>
            <a:off x="538977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05" name="Google Shape;1305;p79"/>
          <p:cNvSpPr txBox="1"/>
          <p:nvPr/>
        </p:nvSpPr>
        <p:spPr>
          <a:xfrm>
            <a:off x="498791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306" name="Google Shape;1306;p79"/>
          <p:cNvSpPr/>
          <p:nvPr/>
        </p:nvSpPr>
        <p:spPr>
          <a:xfrm>
            <a:off x="483689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07" name="Google Shape;1307;p79"/>
          <p:cNvSpPr txBox="1"/>
          <p:nvPr/>
        </p:nvSpPr>
        <p:spPr>
          <a:xfrm>
            <a:off x="5064118"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308" name="Google Shape;1308;p79"/>
          <p:cNvSpPr/>
          <p:nvPr/>
        </p:nvSpPr>
        <p:spPr>
          <a:xfrm>
            <a:off x="606862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09" name="Google Shape;1309;p79"/>
          <p:cNvSpPr/>
          <p:nvPr/>
        </p:nvSpPr>
        <p:spPr>
          <a:xfrm>
            <a:off x="704628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10" name="Google Shape;1310;p79"/>
          <p:cNvSpPr txBox="1"/>
          <p:nvPr/>
        </p:nvSpPr>
        <p:spPr>
          <a:xfrm>
            <a:off x="6161650"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311" name="Google Shape;1311;p79"/>
          <p:cNvCxnSpPr/>
          <p:nvPr/>
        </p:nvCxnSpPr>
        <p:spPr>
          <a:xfrm>
            <a:off x="500354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312" name="Google Shape;1312;p79"/>
          <p:cNvSpPr/>
          <p:nvPr/>
        </p:nvSpPr>
        <p:spPr>
          <a:xfrm>
            <a:off x="501597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13" name="Google Shape;1313;p79"/>
          <p:cNvSpPr/>
          <p:nvPr/>
        </p:nvSpPr>
        <p:spPr>
          <a:xfrm>
            <a:off x="6341939"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14" name="Google Shape;1314;p79"/>
          <p:cNvSpPr/>
          <p:nvPr/>
        </p:nvSpPr>
        <p:spPr>
          <a:xfrm rot="2367420">
            <a:off x="7907425" y="3668520"/>
            <a:ext cx="151534" cy="1515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5" name="Google Shape;1315;p79"/>
          <p:cNvSpPr txBox="1"/>
          <p:nvPr/>
        </p:nvSpPr>
        <p:spPr>
          <a:xfrm>
            <a:off x="8279566" y="3602683"/>
            <a:ext cx="639600" cy="1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2 cm</a:t>
            </a:r>
            <a:endParaRPr sz="1800">
              <a:latin typeface="Lexend"/>
              <a:ea typeface="Lexend"/>
              <a:cs typeface="Lexend"/>
              <a:sym typeface="Lexend"/>
            </a:endParaRPr>
          </a:p>
        </p:txBody>
      </p:sp>
      <p:sp>
        <p:nvSpPr>
          <p:cNvPr id="1316" name="Google Shape;1316;p79"/>
          <p:cNvSpPr txBox="1"/>
          <p:nvPr/>
        </p:nvSpPr>
        <p:spPr>
          <a:xfrm flipH="1">
            <a:off x="7293405" y="3149550"/>
            <a:ext cx="4557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317" name="Google Shape;1317;p79"/>
          <p:cNvSpPr txBox="1"/>
          <p:nvPr/>
        </p:nvSpPr>
        <p:spPr>
          <a:xfrm>
            <a:off x="7566562" y="2798121"/>
            <a:ext cx="6396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318" name="Google Shape;1318;p79"/>
          <p:cNvSpPr txBox="1"/>
          <p:nvPr/>
        </p:nvSpPr>
        <p:spPr>
          <a:xfrm flipH="1">
            <a:off x="453000"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a:t>
            </a:r>
            <a:endParaRPr sz="1800">
              <a:latin typeface="Lexend"/>
              <a:ea typeface="Lexend"/>
              <a:cs typeface="Lexend"/>
              <a:sym typeface="Lexend"/>
            </a:endParaRPr>
          </a:p>
        </p:txBody>
      </p:sp>
      <p:sp>
        <p:nvSpPr>
          <p:cNvPr id="1319" name="Google Shape;1319;p79"/>
          <p:cNvSpPr/>
          <p:nvPr/>
        </p:nvSpPr>
        <p:spPr>
          <a:xfrm rot="-3032992">
            <a:off x="7384907" y="2561829"/>
            <a:ext cx="991675" cy="1108219"/>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0" name="Google Shape;1320;p79"/>
          <p:cNvSpPr txBox="1"/>
          <p:nvPr/>
        </p:nvSpPr>
        <p:spPr>
          <a:xfrm flipH="1">
            <a:off x="1694550"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81°</a:t>
            </a:r>
            <a:endParaRPr sz="2000">
              <a:latin typeface="Kalam"/>
              <a:ea typeface="Kalam"/>
              <a:cs typeface="Kalam"/>
              <a:sym typeface="Kalam"/>
            </a:endParaRPr>
          </a:p>
        </p:txBody>
      </p:sp>
      <p:sp>
        <p:nvSpPr>
          <p:cNvPr id="1321" name="Google Shape;1321;p79"/>
          <p:cNvSpPr txBox="1"/>
          <p:nvPr/>
        </p:nvSpPr>
        <p:spPr>
          <a:xfrm flipH="1">
            <a:off x="2672225"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a:t>
            </a:r>
            <a:endParaRPr sz="2000">
              <a:latin typeface="Kalam"/>
              <a:ea typeface="Kalam"/>
              <a:cs typeface="Kalam"/>
              <a:sym typeface="Kalam"/>
            </a:endParaRPr>
          </a:p>
        </p:txBody>
      </p:sp>
      <p:sp>
        <p:nvSpPr>
          <p:cNvPr id="1322" name="Google Shape;1322;p79"/>
          <p:cNvSpPr txBox="1"/>
          <p:nvPr/>
        </p:nvSpPr>
        <p:spPr>
          <a:xfrm flipH="1">
            <a:off x="629100" y="3565125"/>
            <a:ext cx="10557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a:t>
            </a:r>
            <a:endParaRPr sz="2000">
              <a:latin typeface="Kalam"/>
              <a:ea typeface="Kalam"/>
              <a:cs typeface="Kalam"/>
              <a:sym typeface="Kalam"/>
            </a:endParaRPr>
          </a:p>
        </p:txBody>
      </p:sp>
      <p:sp>
        <p:nvSpPr>
          <p:cNvPr id="1323" name="Google Shape;1323;p79"/>
          <p:cNvSpPr txBox="1"/>
          <p:nvPr/>
        </p:nvSpPr>
        <p:spPr>
          <a:xfrm flipH="1">
            <a:off x="1015700" y="400767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81°</a:t>
            </a:r>
            <a:endParaRPr sz="2000">
              <a:latin typeface="Kalam"/>
              <a:ea typeface="Kalam"/>
              <a:cs typeface="Kalam"/>
              <a:sym typeface="Kalam"/>
            </a:endParaRPr>
          </a:p>
        </p:txBody>
      </p:sp>
      <p:sp>
        <p:nvSpPr>
          <p:cNvPr id="1324" name="Google Shape;1324;p79"/>
          <p:cNvSpPr txBox="1"/>
          <p:nvPr/>
        </p:nvSpPr>
        <p:spPr>
          <a:xfrm flipH="1">
            <a:off x="1959600" y="3746425"/>
            <a:ext cx="5754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119</a:t>
            </a:r>
            <a:endParaRPr sz="2000">
              <a:latin typeface="Kalam"/>
              <a:ea typeface="Kalam"/>
              <a:cs typeface="Kalam"/>
              <a:sym typeface="Kalam"/>
            </a:endParaRPr>
          </a:p>
        </p:txBody>
      </p:sp>
      <p:sp>
        <p:nvSpPr>
          <p:cNvPr id="1325" name="Google Shape;1325;p79"/>
          <p:cNvSpPr txBox="1"/>
          <p:nvPr/>
        </p:nvSpPr>
        <p:spPr>
          <a:xfrm flipH="1">
            <a:off x="4836713"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b</a:t>
            </a:r>
            <a:endParaRPr sz="1800">
              <a:latin typeface="Lexend"/>
              <a:ea typeface="Lexend"/>
              <a:cs typeface="Lexend"/>
              <a:sym typeface="Lexend"/>
            </a:endParaRPr>
          </a:p>
        </p:txBody>
      </p:sp>
      <p:sp>
        <p:nvSpPr>
          <p:cNvPr id="1326" name="Google Shape;1326;p79"/>
          <p:cNvSpPr txBox="1"/>
          <p:nvPr/>
        </p:nvSpPr>
        <p:spPr>
          <a:xfrm flipH="1">
            <a:off x="7055938"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a:t>
            </a:r>
            <a:endParaRPr sz="2000">
              <a:latin typeface="Kalam"/>
              <a:ea typeface="Kalam"/>
              <a:cs typeface="Kalam"/>
              <a:sym typeface="Kalam"/>
            </a:endParaRPr>
          </a:p>
        </p:txBody>
      </p:sp>
      <p:sp>
        <p:nvSpPr>
          <p:cNvPr id="1327" name="Google Shape;1327;p79"/>
          <p:cNvSpPr txBox="1"/>
          <p:nvPr/>
        </p:nvSpPr>
        <p:spPr>
          <a:xfrm flipH="1">
            <a:off x="5012813" y="3565125"/>
            <a:ext cx="10557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a:t>
            </a:r>
            <a:endParaRPr sz="2000">
              <a:latin typeface="Kalam"/>
              <a:ea typeface="Kalam"/>
              <a:cs typeface="Kalam"/>
              <a:sym typeface="Kalam"/>
            </a:endParaRPr>
          </a:p>
        </p:txBody>
      </p:sp>
      <p:sp>
        <p:nvSpPr>
          <p:cNvPr id="1328" name="Google Shape;1328;p79"/>
          <p:cNvSpPr txBox="1"/>
          <p:nvPr/>
        </p:nvSpPr>
        <p:spPr>
          <a:xfrm flipH="1">
            <a:off x="5399413" y="400767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49°</a:t>
            </a:r>
            <a:endParaRPr sz="2000">
              <a:latin typeface="Kalam"/>
              <a:ea typeface="Kalam"/>
              <a:cs typeface="Kalam"/>
              <a:sym typeface="Kalam"/>
            </a:endParaRPr>
          </a:p>
        </p:txBody>
      </p:sp>
      <p:sp>
        <p:nvSpPr>
          <p:cNvPr id="1329" name="Google Shape;1329;p79"/>
          <p:cNvSpPr txBox="1"/>
          <p:nvPr/>
        </p:nvSpPr>
        <p:spPr>
          <a:xfrm flipH="1">
            <a:off x="6343313" y="3746425"/>
            <a:ext cx="5754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b</a:t>
            </a:r>
            <a:endParaRPr sz="2000">
              <a:latin typeface="Kalam"/>
              <a:ea typeface="Kalam"/>
              <a:cs typeface="Kalam"/>
              <a:sym typeface="Kalam"/>
            </a:endParaRPr>
          </a:p>
        </p:txBody>
      </p:sp>
      <p:sp>
        <p:nvSpPr>
          <p:cNvPr id="1330" name="Google Shape;1330;p79"/>
          <p:cNvSpPr txBox="1"/>
          <p:nvPr/>
        </p:nvSpPr>
        <p:spPr>
          <a:xfrm flipH="1">
            <a:off x="753500" y="4522725"/>
            <a:ext cx="21138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 cm = 117.53 cm</a:t>
            </a:r>
            <a:endParaRPr sz="2000">
              <a:latin typeface="Kalam"/>
              <a:ea typeface="Kalam"/>
              <a:cs typeface="Kalam"/>
              <a:sym typeface="Kalam"/>
            </a:endParaRPr>
          </a:p>
        </p:txBody>
      </p:sp>
      <p:sp>
        <p:nvSpPr>
          <p:cNvPr id="1331" name="Google Shape;1331;p79"/>
          <p:cNvSpPr txBox="1"/>
          <p:nvPr/>
        </p:nvSpPr>
        <p:spPr>
          <a:xfrm flipH="1">
            <a:off x="6078263"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49°</a:t>
            </a:r>
            <a:endParaRPr sz="2000">
              <a:latin typeface="Kalam"/>
              <a:ea typeface="Kalam"/>
              <a:cs typeface="Kalam"/>
              <a:sym typeface="Kalam"/>
            </a:endParaRPr>
          </a:p>
        </p:txBody>
      </p:sp>
      <p:sp>
        <p:nvSpPr>
          <p:cNvPr id="1332" name="Google Shape;1332;p79"/>
          <p:cNvSpPr txBox="1"/>
          <p:nvPr/>
        </p:nvSpPr>
        <p:spPr>
          <a:xfrm flipH="1">
            <a:off x="5635300" y="4522725"/>
            <a:ext cx="21138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b cm = 2.65 cm</a:t>
            </a:r>
            <a:endParaRPr sz="2000">
              <a:latin typeface="Kalam"/>
              <a:ea typeface="Kalam"/>
              <a:cs typeface="Kalam"/>
              <a:sym typeface="Kalam"/>
            </a:endParaRPr>
          </a:p>
        </p:txBody>
      </p:sp>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333" name="Google Shape;1333;p79"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5006524" y="2920689"/>
            <a:ext cx="1347850"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334" name="Google Shape;1334;p79" title="opp over h equals sine theta degrees opp over sine theta degrees equals h h times sine theta degrees equals opp"/>
          <p:cNvPicPr preferRelativeResize="0"/>
          <p:nvPr/>
        </p:nvPicPr>
        <p:blipFill rotWithShape="1">
          <a:blip r:embed="rId3">
            <a:alphaModFix/>
          </a:blip>
          <a:srcRect b="0" l="65393" r="0" t="0"/>
          <a:stretch/>
        </p:blipFill>
        <p:spPr>
          <a:xfrm>
            <a:off x="5104943" y="1748282"/>
            <a:ext cx="1935649"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335" name="Google Shape;1335;p79" title="opp over h equals sine theta degrees opp over sine theta degrees equals h h times sine theta degrees equals opp"/>
          <p:cNvPicPr preferRelativeResize="0"/>
          <p:nvPr/>
        </p:nvPicPr>
        <p:blipFill rotWithShape="1">
          <a:blip r:embed="rId3">
            <a:alphaModFix/>
          </a:blip>
          <a:srcRect b="0" l="35040" r="40862" t="0"/>
          <a:stretch/>
        </p:blipFill>
        <p:spPr>
          <a:xfrm>
            <a:off x="625772" y="2914416"/>
            <a:ext cx="1347850" cy="582525"/>
          </a:xfrm>
          <a:prstGeom prst="rect">
            <a:avLst/>
          </a:prstGeom>
          <a:noFill/>
          <a:ln>
            <a:noFill/>
          </a:ln>
        </p:spPr>
      </p:pic>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336" name="Google Shape;1336;p79" title="opp over h equals sine theta degrees opp over sine theta degrees equals h h times sine theta degrees equals opp"/>
          <p:cNvPicPr preferRelativeResize="0"/>
          <p:nvPr/>
        </p:nvPicPr>
        <p:blipFill rotWithShape="1">
          <a:blip r:embed="rId3">
            <a:alphaModFix/>
          </a:blip>
          <a:srcRect b="0" l="65393" r="0" t="0"/>
          <a:stretch/>
        </p:blipFill>
        <p:spPr>
          <a:xfrm>
            <a:off x="724191" y="1742009"/>
            <a:ext cx="1935649" cy="582525"/>
          </a:xfrm>
          <a:prstGeom prst="rect">
            <a:avLst/>
          </a:prstGeom>
          <a:noFill/>
          <a:ln>
            <a:noFill/>
          </a:ln>
        </p:spPr>
      </p:pic>
      <p:sp>
        <p:nvSpPr>
          <p:cNvPr id="1337" name="Google Shape;1337;p79"/>
          <p:cNvSpPr/>
          <p:nvPr/>
        </p:nvSpPr>
        <p:spPr>
          <a:xfrm flipH="1" rot="8960960">
            <a:off x="3406863" y="2313370"/>
            <a:ext cx="1139265" cy="1139265"/>
          </a:xfrm>
          <a:prstGeom prst="arc">
            <a:avLst>
              <a:gd fmla="val 12682129" name="adj1"/>
              <a:gd fmla="val 14324974"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8" name="Google Shape;1338;p79"/>
          <p:cNvSpPr/>
          <p:nvPr/>
        </p:nvSpPr>
        <p:spPr>
          <a:xfrm flipH="1">
            <a:off x="3819338" y="4362821"/>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9" name="Google Shape;1339;p79"/>
          <p:cNvSpPr txBox="1"/>
          <p:nvPr/>
        </p:nvSpPr>
        <p:spPr>
          <a:xfrm flipH="1">
            <a:off x="3201199" y="4629053"/>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340" name="Google Shape;1340;p79"/>
          <p:cNvCxnSpPr/>
          <p:nvPr/>
        </p:nvCxnSpPr>
        <p:spPr>
          <a:xfrm flipH="1">
            <a:off x="3022004" y="2800367"/>
            <a:ext cx="895200" cy="1660200"/>
          </a:xfrm>
          <a:prstGeom prst="straightConnector1">
            <a:avLst/>
          </a:prstGeom>
          <a:noFill/>
          <a:ln cap="flat" cmpd="sng" w="28575">
            <a:solidFill>
              <a:srgbClr val="845AD9"/>
            </a:solidFill>
            <a:prstDash val="solid"/>
            <a:round/>
            <a:headEnd len="med" w="med" type="triangle"/>
            <a:tailEnd len="med" w="med" type="triangle"/>
          </a:ln>
        </p:spPr>
      </p:cxnSp>
      <p:cxnSp>
        <p:nvCxnSpPr>
          <p:cNvPr id="1341" name="Google Shape;1341;p79"/>
          <p:cNvCxnSpPr/>
          <p:nvPr/>
        </p:nvCxnSpPr>
        <p:spPr>
          <a:xfrm rot="10800000">
            <a:off x="3084788" y="4614551"/>
            <a:ext cx="895200" cy="0"/>
          </a:xfrm>
          <a:prstGeom prst="straightConnector1">
            <a:avLst/>
          </a:prstGeom>
          <a:noFill/>
          <a:ln cap="flat" cmpd="sng" w="28575">
            <a:solidFill>
              <a:srgbClr val="845AD9"/>
            </a:solidFill>
            <a:prstDash val="solid"/>
            <a:round/>
            <a:headEnd len="med" w="med" type="triangle"/>
            <a:tailEnd len="med" w="med" type="triangle"/>
          </a:ln>
        </p:spPr>
      </p:cxnSp>
      <p:sp>
        <p:nvSpPr>
          <p:cNvPr id="1342" name="Google Shape;1342;p79"/>
          <p:cNvSpPr txBox="1"/>
          <p:nvPr/>
        </p:nvSpPr>
        <p:spPr>
          <a:xfrm flipH="1">
            <a:off x="3568828" y="3576274"/>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1</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343" name="Google Shape;1343;p79"/>
          <p:cNvSpPr txBox="1"/>
          <p:nvPr/>
        </p:nvSpPr>
        <p:spPr>
          <a:xfrm flipH="1" rot="-3694335">
            <a:off x="2551335" y="3473206"/>
            <a:ext cx="1576724" cy="17463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 cm</a:t>
            </a:r>
            <a:endParaRPr sz="1800">
              <a:latin typeface="Lexend"/>
              <a:ea typeface="Lexend"/>
              <a:cs typeface="Lexend"/>
              <a:sym typeface="Lexend"/>
            </a:endParaRPr>
          </a:p>
        </p:txBody>
      </p:sp>
      <p:sp>
        <p:nvSpPr>
          <p:cNvPr id="1344" name="Google Shape;1344;p79"/>
          <p:cNvSpPr/>
          <p:nvPr/>
        </p:nvSpPr>
        <p:spPr>
          <a:xfrm rot="-5400000">
            <a:off x="2702217" y="3245741"/>
            <a:ext cx="1660200" cy="8952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345" name="Google Shape;1345;p79"/>
          <p:cNvPicPr preferRelativeResize="0"/>
          <p:nvPr/>
        </p:nvPicPr>
        <p:blipFill>
          <a:blip r:embed="rId4">
            <a:alphaModFix/>
          </a:blip>
          <a:stretch>
            <a:fillRect/>
          </a:stretch>
        </p:blipFill>
        <p:spPr>
          <a:xfrm rot="-163030">
            <a:off x="7062580" y="2963671"/>
            <a:ext cx="1705766" cy="10416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80"/>
          <p:cNvSpPr txBox="1"/>
          <p:nvPr/>
        </p:nvSpPr>
        <p:spPr>
          <a:xfrm>
            <a:off x="6358502" y="3691434"/>
            <a:ext cx="2079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94.35</a:t>
            </a:r>
            <a:endParaRPr sz="2000">
              <a:latin typeface="Kalam"/>
              <a:ea typeface="Kalam"/>
              <a:cs typeface="Kalam"/>
              <a:sym typeface="Kalam"/>
            </a:endParaRPr>
          </a:p>
        </p:txBody>
      </p:sp>
      <p:sp>
        <p:nvSpPr>
          <p:cNvPr id="1351" name="Google Shape;1351;p80"/>
          <p:cNvSpPr/>
          <p:nvPr/>
        </p:nvSpPr>
        <p:spPr>
          <a:xfrm flipH="1">
            <a:off x="3459574" y="1468475"/>
            <a:ext cx="1013100" cy="1013700"/>
          </a:xfrm>
          <a:prstGeom prst="arc">
            <a:avLst>
              <a:gd fmla="val 5344843" name="adj1"/>
              <a:gd fmla="val 898831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52" name="Google Shape;1352;p80"/>
          <p:cNvGrpSpPr/>
          <p:nvPr/>
        </p:nvGrpSpPr>
        <p:grpSpPr>
          <a:xfrm rot="5400000">
            <a:off x="4250941" y="1596810"/>
            <a:ext cx="1155118" cy="1744500"/>
            <a:chOff x="-2098225" y="1379675"/>
            <a:chExt cx="1155118" cy="1744500"/>
          </a:xfrm>
        </p:grpSpPr>
        <p:sp>
          <p:nvSpPr>
            <p:cNvPr id="1353" name="Google Shape;1353;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4" name="Google Shape;1354;p80"/>
            <p:cNvCxnSpPr/>
            <p:nvPr/>
          </p:nvCxnSpPr>
          <p:spPr>
            <a:xfrm rot="5400000">
              <a:off x="-2451925" y="1733375"/>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355" name="Google Shape;1355;p80"/>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sp>
        <p:nvSpPr>
          <p:cNvPr id="1356" name="Google Shape;1356;p80"/>
          <p:cNvSpPr/>
          <p:nvPr/>
        </p:nvSpPr>
        <p:spPr>
          <a:xfrm flipH="1">
            <a:off x="2058075" y="2215650"/>
            <a:ext cx="1406100" cy="14067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7" name="Google Shape;1357;p80"/>
          <p:cNvSpPr txBox="1"/>
          <p:nvPr/>
        </p:nvSpPr>
        <p:spPr>
          <a:xfrm>
            <a:off x="324000" y="610600"/>
            <a:ext cx="7233000" cy="11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Match the triangle to the equation showing the relationship between its hypotenuse and an opposite side.</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Use the equation to find the length of the missing side labelled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on each triangle (2 d.p.)</a:t>
            </a:r>
            <a:endParaRPr sz="1800">
              <a:latin typeface="Lexend"/>
              <a:ea typeface="Lexend"/>
              <a:cs typeface="Lexend"/>
              <a:sym typeface="Lexend"/>
            </a:endParaRPr>
          </a:p>
        </p:txBody>
      </p:sp>
      <p:sp>
        <p:nvSpPr>
          <p:cNvPr id="1358" name="Google Shape;1358;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359" name="Google Shape;1359;p80"/>
          <p:cNvSpPr/>
          <p:nvPr/>
        </p:nvSpPr>
        <p:spPr>
          <a:xfrm rot="5400000">
            <a:off x="111930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60" name="Google Shape;1360;p80"/>
          <p:cNvGrpSpPr/>
          <p:nvPr/>
        </p:nvGrpSpPr>
        <p:grpSpPr>
          <a:xfrm rot="5400000">
            <a:off x="1473000" y="1537800"/>
            <a:ext cx="1037100" cy="1744500"/>
            <a:chOff x="-2098225" y="1379675"/>
            <a:chExt cx="1037100" cy="1744500"/>
          </a:xfrm>
        </p:grpSpPr>
        <p:sp>
          <p:nvSpPr>
            <p:cNvPr id="1361" name="Google Shape;1361;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2" name="Google Shape;1362;p80"/>
            <p:cNvCxnSpPr/>
            <p:nvPr/>
          </p:nvCxnSpPr>
          <p:spPr>
            <a:xfrm rot="5400000">
              <a:off x="-2451925" y="1733375"/>
              <a:ext cx="1668300" cy="960900"/>
            </a:xfrm>
            <a:prstGeom prst="straightConnector1">
              <a:avLst/>
            </a:prstGeom>
            <a:noFill/>
            <a:ln cap="flat" cmpd="sng" w="28575">
              <a:solidFill>
                <a:srgbClr val="845AD9"/>
              </a:solidFill>
              <a:prstDash val="solid"/>
              <a:round/>
              <a:headEnd len="med" w="med" type="triangle"/>
              <a:tailEnd len="med" w="med" type="triangle"/>
            </a:ln>
          </p:spPr>
        </p:cxnSp>
      </p:grpSp>
      <p:sp>
        <p:nvSpPr>
          <p:cNvPr id="1363" name="Google Shape;1363;p80"/>
          <p:cNvSpPr txBox="1"/>
          <p:nvPr/>
        </p:nvSpPr>
        <p:spPr>
          <a:xfrm>
            <a:off x="2033600" y="2677525"/>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364" name="Google Shape;1364;p80"/>
          <p:cNvSpPr txBox="1"/>
          <p:nvPr/>
        </p:nvSpPr>
        <p:spPr>
          <a:xfrm>
            <a:off x="344558" y="233045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65" name="Google Shape;1365;p80"/>
          <p:cNvSpPr txBox="1"/>
          <p:nvPr/>
        </p:nvSpPr>
        <p:spPr>
          <a:xfrm>
            <a:off x="192999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sp>
        <p:nvSpPr>
          <p:cNvPr id="1366" name="Google Shape;1366;p80"/>
          <p:cNvSpPr/>
          <p:nvPr/>
        </p:nvSpPr>
        <p:spPr>
          <a:xfrm rot="5400000">
            <a:off x="395625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7" name="Google Shape;1367;p80"/>
          <p:cNvSpPr txBox="1"/>
          <p:nvPr/>
        </p:nvSpPr>
        <p:spPr>
          <a:xfrm>
            <a:off x="4430795" y="304662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68" name="Google Shape;1368;p80"/>
          <p:cNvSpPr txBox="1"/>
          <p:nvPr/>
        </p:nvSpPr>
        <p:spPr>
          <a:xfrm>
            <a:off x="476694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 cm</a:t>
            </a:r>
            <a:endParaRPr sz="1800">
              <a:latin typeface="Lexend"/>
              <a:ea typeface="Lexend"/>
              <a:cs typeface="Lexend"/>
              <a:sym typeface="Lexend"/>
            </a:endParaRPr>
          </a:p>
        </p:txBody>
      </p:sp>
      <p:sp>
        <p:nvSpPr>
          <p:cNvPr id="1369" name="Google Shape;1369;p80"/>
          <p:cNvSpPr txBox="1"/>
          <p:nvPr/>
        </p:nvSpPr>
        <p:spPr>
          <a:xfrm>
            <a:off x="3918056" y="2136244"/>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p:txBody>
      </p:sp>
      <p:sp>
        <p:nvSpPr>
          <p:cNvPr id="1370" name="Google Shape;1370;p80"/>
          <p:cNvSpPr/>
          <p:nvPr/>
        </p:nvSpPr>
        <p:spPr>
          <a:xfrm flipH="1" rot="-5400000">
            <a:off x="7245924" y="172024"/>
            <a:ext cx="1877400" cy="18783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1" name="Google Shape;1371;p80"/>
          <p:cNvSpPr/>
          <p:nvPr/>
        </p:nvSpPr>
        <p:spPr>
          <a:xfrm>
            <a:off x="8000141" y="2558967"/>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2" name="Google Shape;1372;p80"/>
          <p:cNvSpPr txBox="1"/>
          <p:nvPr/>
        </p:nvSpPr>
        <p:spPr>
          <a:xfrm>
            <a:off x="7757421" y="1703783"/>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373" name="Google Shape;1373;p80"/>
          <p:cNvSpPr txBox="1"/>
          <p:nvPr/>
        </p:nvSpPr>
        <p:spPr>
          <a:xfrm>
            <a:off x="7010717" y="1596287"/>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cm</a:t>
            </a:r>
            <a:endParaRPr sz="1800">
              <a:latin typeface="Lexend"/>
              <a:ea typeface="Lexend"/>
              <a:cs typeface="Lexend"/>
              <a:sym typeface="Lexend"/>
            </a:endParaRPr>
          </a:p>
        </p:txBody>
      </p:sp>
      <p:sp>
        <p:nvSpPr>
          <p:cNvPr id="1374" name="Google Shape;1374;p80"/>
          <p:cNvSpPr txBox="1"/>
          <p:nvPr/>
        </p:nvSpPr>
        <p:spPr>
          <a:xfrm>
            <a:off x="7395991" y="287748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grpSp>
        <p:nvGrpSpPr>
          <p:cNvPr id="1375" name="Google Shape;1375;p80"/>
          <p:cNvGrpSpPr/>
          <p:nvPr/>
        </p:nvGrpSpPr>
        <p:grpSpPr>
          <a:xfrm>
            <a:off x="7157141" y="1008566"/>
            <a:ext cx="1155118" cy="1744500"/>
            <a:chOff x="-2098225" y="1379675"/>
            <a:chExt cx="1155118" cy="1744500"/>
          </a:xfrm>
        </p:grpSpPr>
        <p:sp>
          <p:nvSpPr>
            <p:cNvPr id="1376" name="Google Shape;1376;p8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7" name="Google Shape;1377;p80"/>
            <p:cNvCxnSpPr/>
            <p:nvPr/>
          </p:nvCxnSpPr>
          <p:spPr>
            <a:xfrm rot="5400000">
              <a:off x="-2451925" y="1733375"/>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378" name="Google Shape;1378;p80"/>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grpSp>
        <p:nvGrpSpPr>
          <p:cNvPr id="1379" name="Google Shape;1379;p80"/>
          <p:cNvGrpSpPr/>
          <p:nvPr/>
        </p:nvGrpSpPr>
        <p:grpSpPr>
          <a:xfrm>
            <a:off x="3538750" y="3432950"/>
            <a:ext cx="2461500" cy="419400"/>
            <a:chOff x="3369600" y="3706325"/>
            <a:chExt cx="2461500" cy="419400"/>
          </a:xfrm>
        </p:grpSpPr>
        <p:sp>
          <p:nvSpPr>
            <p:cNvPr id="1380" name="Google Shape;1380;p80"/>
            <p:cNvSpPr/>
            <p:nvPr/>
          </p:nvSpPr>
          <p:spPr>
            <a:xfrm>
              <a:off x="33696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32 × sin(50°)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381" name="Google Shape;1381;p80"/>
            <p:cNvSpPr/>
            <p:nvPr/>
          </p:nvSpPr>
          <p:spPr>
            <a:xfrm>
              <a:off x="33696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f</a:t>
              </a:r>
              <a:endParaRPr sz="2000">
                <a:solidFill>
                  <a:schemeClr val="lt1"/>
                </a:solidFill>
                <a:latin typeface="Lexend"/>
                <a:ea typeface="Lexend"/>
                <a:cs typeface="Lexend"/>
                <a:sym typeface="Lexend"/>
              </a:endParaRPr>
            </a:p>
          </p:txBody>
        </p:sp>
      </p:grpSp>
      <p:grpSp>
        <p:nvGrpSpPr>
          <p:cNvPr id="1382" name="Google Shape;1382;p80"/>
          <p:cNvGrpSpPr/>
          <p:nvPr/>
        </p:nvGrpSpPr>
        <p:grpSpPr>
          <a:xfrm>
            <a:off x="6358500" y="3241350"/>
            <a:ext cx="2461500" cy="419400"/>
            <a:chOff x="6358500" y="3706325"/>
            <a:chExt cx="2461500" cy="419400"/>
          </a:xfrm>
        </p:grpSpPr>
        <p:sp>
          <p:nvSpPr>
            <p:cNvPr id="1383" name="Google Shape;1383;p80"/>
            <p:cNvSpPr/>
            <p:nvPr/>
          </p:nvSpPr>
          <p:spPr>
            <a:xfrm>
              <a:off x="63585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sin(32°) = </a:t>
              </a:r>
              <a:r>
                <a:rPr lang="en-GB" sz="2000">
                  <a:solidFill>
                    <a:schemeClr val="dk1"/>
                  </a:solidFill>
                  <a:latin typeface="Times New Roman"/>
                  <a:ea typeface="Times New Roman"/>
                  <a:cs typeface="Times New Roman"/>
                  <a:sym typeface="Times New Roman"/>
                </a:rPr>
                <a:t>50</a:t>
              </a:r>
              <a:endParaRPr i="1" sz="2000">
                <a:latin typeface="Times New Roman"/>
                <a:ea typeface="Times New Roman"/>
                <a:cs typeface="Times New Roman"/>
                <a:sym typeface="Times New Roman"/>
              </a:endParaRPr>
            </a:p>
          </p:txBody>
        </p:sp>
        <p:sp>
          <p:nvSpPr>
            <p:cNvPr id="1384" name="Google Shape;1384;p80"/>
            <p:cNvSpPr/>
            <p:nvPr/>
          </p:nvSpPr>
          <p:spPr>
            <a:xfrm>
              <a:off x="63585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d</a:t>
              </a:r>
              <a:endParaRPr sz="2000">
                <a:solidFill>
                  <a:schemeClr val="lt1"/>
                </a:solidFill>
                <a:latin typeface="Lexend"/>
                <a:ea typeface="Lexend"/>
                <a:cs typeface="Lexend"/>
                <a:sym typeface="Lexend"/>
              </a:endParaRPr>
            </a:p>
          </p:txBody>
        </p:sp>
      </p:grpSp>
      <p:grpSp>
        <p:nvGrpSpPr>
          <p:cNvPr id="1385" name="Google Shape;1385;p80"/>
          <p:cNvGrpSpPr/>
          <p:nvPr/>
        </p:nvGrpSpPr>
        <p:grpSpPr>
          <a:xfrm>
            <a:off x="324000" y="3116275"/>
            <a:ext cx="2461500" cy="419400"/>
            <a:chOff x="324000" y="3706325"/>
            <a:chExt cx="2461500" cy="419400"/>
          </a:xfrm>
        </p:grpSpPr>
        <p:sp>
          <p:nvSpPr>
            <p:cNvPr id="1386" name="Google Shape;1386;p80"/>
            <p:cNvSpPr/>
            <p:nvPr/>
          </p:nvSpPr>
          <p:spPr>
            <a:xfrm>
              <a:off x="3240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50 × sin(32°)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387" name="Google Shape;1387;p80"/>
            <p:cNvSpPr/>
            <p:nvPr/>
          </p:nvSpPr>
          <p:spPr>
            <a:xfrm>
              <a:off x="3240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e</a:t>
              </a:r>
              <a:endParaRPr sz="2000">
                <a:solidFill>
                  <a:schemeClr val="lt1"/>
                </a:solidFill>
                <a:latin typeface="Lexend"/>
                <a:ea typeface="Lexend"/>
                <a:cs typeface="Lexend"/>
                <a:sym typeface="Lexend"/>
              </a:endParaRPr>
            </a:p>
          </p:txBody>
        </p:sp>
      </p:grpSp>
      <p:sp>
        <p:nvSpPr>
          <p:cNvPr id="1388" name="Google Shape;1388;p80"/>
          <p:cNvSpPr txBox="1"/>
          <p:nvPr/>
        </p:nvSpPr>
        <p:spPr>
          <a:xfrm>
            <a:off x="324025" y="4001500"/>
            <a:ext cx="28734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side opposite 32° has a length of 26.50 cm</a:t>
            </a:r>
            <a:endParaRPr sz="2000">
              <a:latin typeface="Kalam"/>
              <a:ea typeface="Kalam"/>
              <a:cs typeface="Kalam"/>
              <a:sym typeface="Kalam"/>
            </a:endParaRPr>
          </a:p>
        </p:txBody>
      </p:sp>
      <p:sp>
        <p:nvSpPr>
          <p:cNvPr id="1389" name="Google Shape;1389;p80"/>
          <p:cNvSpPr txBox="1"/>
          <p:nvPr/>
        </p:nvSpPr>
        <p:spPr>
          <a:xfrm>
            <a:off x="324023" y="3575150"/>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26.50</a:t>
            </a:r>
            <a:endParaRPr sz="2000">
              <a:latin typeface="Kalam"/>
              <a:ea typeface="Kalam"/>
              <a:cs typeface="Kalam"/>
              <a:sym typeface="Kalam"/>
            </a:endParaRPr>
          </a:p>
        </p:txBody>
      </p:sp>
      <p:sp>
        <p:nvSpPr>
          <p:cNvPr id="1390" name="Google Shape;1390;p80"/>
          <p:cNvSpPr txBox="1"/>
          <p:nvPr/>
        </p:nvSpPr>
        <p:spPr>
          <a:xfrm>
            <a:off x="3394687" y="4360320"/>
            <a:ext cx="28734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side opposite 50° has a length of </a:t>
            </a:r>
            <a:r>
              <a:rPr lang="en-GB" sz="2000">
                <a:solidFill>
                  <a:schemeClr val="dk1"/>
                </a:solidFill>
                <a:latin typeface="Kalam"/>
                <a:ea typeface="Kalam"/>
                <a:cs typeface="Kalam"/>
                <a:sym typeface="Kalam"/>
              </a:rPr>
              <a:t>24.51</a:t>
            </a:r>
            <a:r>
              <a:rPr lang="en-GB" sz="2000">
                <a:latin typeface="Kalam"/>
                <a:ea typeface="Kalam"/>
                <a:cs typeface="Kalam"/>
                <a:sym typeface="Kalam"/>
              </a:rPr>
              <a:t> cm</a:t>
            </a:r>
            <a:endParaRPr sz="2000">
              <a:latin typeface="Kalam"/>
              <a:ea typeface="Kalam"/>
              <a:cs typeface="Kalam"/>
              <a:sym typeface="Kalam"/>
            </a:endParaRPr>
          </a:p>
        </p:txBody>
      </p:sp>
      <p:sp>
        <p:nvSpPr>
          <p:cNvPr id="1391" name="Google Shape;1391;p80"/>
          <p:cNvSpPr txBox="1"/>
          <p:nvPr/>
        </p:nvSpPr>
        <p:spPr>
          <a:xfrm>
            <a:off x="3394685" y="3933970"/>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24.51</a:t>
            </a:r>
            <a:endParaRPr sz="2000">
              <a:latin typeface="Kalam"/>
              <a:ea typeface="Kalam"/>
              <a:cs typeface="Kalam"/>
              <a:sym typeface="Kalam"/>
            </a:endParaRPr>
          </a:p>
        </p:txBody>
      </p:sp>
      <p:sp>
        <p:nvSpPr>
          <p:cNvPr id="1392" name="Google Shape;1392;p80"/>
          <p:cNvSpPr txBox="1"/>
          <p:nvPr/>
        </p:nvSpPr>
        <p:spPr>
          <a:xfrm>
            <a:off x="6358504" y="4117784"/>
            <a:ext cx="24276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hypotenuse has a length of </a:t>
            </a:r>
            <a:r>
              <a:rPr lang="en-GB" sz="2000">
                <a:solidFill>
                  <a:schemeClr val="dk1"/>
                </a:solidFill>
                <a:latin typeface="Kalam"/>
                <a:ea typeface="Kalam"/>
                <a:cs typeface="Kalam"/>
                <a:sym typeface="Kalam"/>
              </a:rPr>
              <a:t>9</a:t>
            </a:r>
            <a:r>
              <a:rPr lang="en-GB" sz="2000">
                <a:solidFill>
                  <a:schemeClr val="dk1"/>
                </a:solidFill>
                <a:latin typeface="Kalam"/>
                <a:ea typeface="Kalam"/>
                <a:cs typeface="Kalam"/>
                <a:sym typeface="Kalam"/>
              </a:rPr>
              <a:t>4.35</a:t>
            </a:r>
            <a:r>
              <a:rPr lang="en-GB" sz="2000">
                <a:latin typeface="Kalam"/>
                <a:ea typeface="Kalam"/>
                <a:cs typeface="Kalam"/>
                <a:sym typeface="Kalam"/>
              </a:rPr>
              <a:t> cm</a:t>
            </a:r>
            <a:endParaRPr sz="2000">
              <a:latin typeface="Kalam"/>
              <a:ea typeface="Kalam"/>
              <a:cs typeface="Kalam"/>
              <a:sym typeface="Kalam"/>
            </a:endParaRPr>
          </a:p>
        </p:txBody>
      </p:sp>
      <p:sp>
        <p:nvSpPr>
          <p:cNvPr id="1393" name="Google Shape;1393;p80"/>
          <p:cNvSpPr txBox="1"/>
          <p:nvPr/>
        </p:nvSpPr>
        <p:spPr>
          <a:xfrm>
            <a:off x="4969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394" name="Google Shape;1394;p80"/>
          <p:cNvSpPr txBox="1"/>
          <p:nvPr/>
        </p:nvSpPr>
        <p:spPr>
          <a:xfrm>
            <a:off x="36063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395" name="Google Shape;1395;p80"/>
          <p:cNvSpPr txBox="1"/>
          <p:nvPr/>
        </p:nvSpPr>
        <p:spPr>
          <a:xfrm>
            <a:off x="6629725" y="159627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pic>
        <p:nvPicPr>
          <p:cNvPr id="1396" name="Google Shape;1396;p80"/>
          <p:cNvPicPr preferRelativeResize="0"/>
          <p:nvPr/>
        </p:nvPicPr>
        <p:blipFill>
          <a:blip r:embed="rId3">
            <a:alphaModFix/>
          </a:blip>
          <a:stretch>
            <a:fillRect/>
          </a:stretch>
        </p:blipFill>
        <p:spPr>
          <a:xfrm>
            <a:off x="7157150" y="2776421"/>
            <a:ext cx="1155100" cy="188464"/>
          </a:xfrm>
          <a:prstGeom prst="rect">
            <a:avLst/>
          </a:prstGeom>
          <a:noFill/>
          <a:ln>
            <a:noFill/>
          </a:ln>
        </p:spPr>
      </p:pic>
      <p:pic>
        <p:nvPicPr>
          <p:cNvPr id="1397" name="Google Shape;1397;p80"/>
          <p:cNvPicPr preferRelativeResize="0"/>
          <p:nvPr/>
        </p:nvPicPr>
        <p:blipFill>
          <a:blip r:embed="rId4">
            <a:alphaModFix/>
          </a:blip>
          <a:stretch>
            <a:fillRect/>
          </a:stretch>
        </p:blipFill>
        <p:spPr>
          <a:xfrm>
            <a:off x="883725" y="1891494"/>
            <a:ext cx="194100" cy="114640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81"/>
          <p:cNvSpPr txBox="1"/>
          <p:nvPr/>
        </p:nvSpPr>
        <p:spPr>
          <a:xfrm>
            <a:off x="3156075" y="4524419"/>
            <a:ext cx="28320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e = 22.71</a:t>
            </a:r>
            <a:endParaRPr sz="2000">
              <a:latin typeface="Kalam"/>
              <a:ea typeface="Kalam"/>
              <a:cs typeface="Kalam"/>
              <a:sym typeface="Kalam"/>
            </a:endParaRPr>
          </a:p>
        </p:txBody>
      </p:sp>
      <p:sp>
        <p:nvSpPr>
          <p:cNvPr id="1403" name="Google Shape;1403;p81"/>
          <p:cNvSpPr txBox="1"/>
          <p:nvPr/>
        </p:nvSpPr>
        <p:spPr>
          <a:xfrm>
            <a:off x="5988050" y="2625300"/>
            <a:ext cx="28320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c = 11.25</a:t>
            </a:r>
            <a:endParaRPr sz="2000">
              <a:latin typeface="Kalam"/>
              <a:ea typeface="Kalam"/>
              <a:cs typeface="Kalam"/>
              <a:sym typeface="Kalam"/>
            </a:endParaRPr>
          </a:p>
        </p:txBody>
      </p:sp>
      <p:sp>
        <p:nvSpPr>
          <p:cNvPr id="1404" name="Google Shape;1404;p81"/>
          <p:cNvSpPr txBox="1"/>
          <p:nvPr/>
        </p:nvSpPr>
        <p:spPr>
          <a:xfrm>
            <a:off x="324075" y="4524419"/>
            <a:ext cx="28320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d = 19.74</a:t>
            </a:r>
            <a:endParaRPr sz="2000">
              <a:latin typeface="Kalam"/>
              <a:ea typeface="Kalam"/>
              <a:cs typeface="Kalam"/>
              <a:sym typeface="Kalam"/>
            </a:endParaRPr>
          </a:p>
        </p:txBody>
      </p:sp>
      <p:sp>
        <p:nvSpPr>
          <p:cNvPr id="1405" name="Google Shape;1405;p81"/>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By using the sine formula, find the length of the missing side labelled with a letter for each of these triangles (2 d.p.)</a:t>
            </a:r>
            <a:endParaRPr sz="1800">
              <a:latin typeface="Lexend"/>
              <a:ea typeface="Lexend"/>
              <a:cs typeface="Lexend"/>
              <a:sym typeface="Lexend"/>
            </a:endParaRPr>
          </a:p>
        </p:txBody>
      </p:sp>
      <p:sp>
        <p:nvSpPr>
          <p:cNvPr id="1406" name="Google Shape;1406;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407" name="Google Shape;1407;p81"/>
          <p:cNvSpPr/>
          <p:nvPr/>
        </p:nvSpPr>
        <p:spPr>
          <a:xfrm flipH="1">
            <a:off x="-20267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8" name="Google Shape;1408;p81"/>
          <p:cNvSpPr/>
          <p:nvPr/>
        </p:nvSpPr>
        <p:spPr>
          <a:xfrm rot="-5400000">
            <a:off x="665399"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09" name="Google Shape;1409;p81"/>
          <p:cNvCxnSpPr/>
          <p:nvPr/>
        </p:nvCxnSpPr>
        <p:spPr>
          <a:xfrm>
            <a:off x="5988039" y="1137525"/>
            <a:ext cx="0" cy="3682800"/>
          </a:xfrm>
          <a:prstGeom prst="straightConnector1">
            <a:avLst/>
          </a:prstGeom>
          <a:noFill/>
          <a:ln cap="flat" cmpd="sng" w="38100">
            <a:solidFill>
              <a:schemeClr val="accent4"/>
            </a:solidFill>
            <a:prstDash val="solid"/>
            <a:round/>
            <a:headEnd len="med" w="med" type="none"/>
            <a:tailEnd len="med" w="med" type="none"/>
          </a:ln>
        </p:spPr>
      </p:cxnSp>
      <p:cxnSp>
        <p:nvCxnSpPr>
          <p:cNvPr id="1410" name="Google Shape;1410;p81"/>
          <p:cNvCxnSpPr/>
          <p:nvPr/>
        </p:nvCxnSpPr>
        <p:spPr>
          <a:xfrm>
            <a:off x="3156072" y="1137525"/>
            <a:ext cx="0" cy="3682800"/>
          </a:xfrm>
          <a:prstGeom prst="straightConnector1">
            <a:avLst/>
          </a:prstGeom>
          <a:noFill/>
          <a:ln cap="flat" cmpd="sng" w="38100">
            <a:solidFill>
              <a:schemeClr val="accent4"/>
            </a:solidFill>
            <a:prstDash val="solid"/>
            <a:round/>
            <a:headEnd len="med" w="med" type="none"/>
            <a:tailEnd len="med" w="med" type="none"/>
          </a:ln>
        </p:spPr>
      </p:cxnSp>
      <p:sp>
        <p:nvSpPr>
          <p:cNvPr id="1411" name="Google Shape;1411;p81"/>
          <p:cNvSpPr/>
          <p:nvPr/>
        </p:nvSpPr>
        <p:spPr>
          <a:xfrm>
            <a:off x="1659443"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12" name="Google Shape;1412;p81"/>
          <p:cNvCxnSpPr/>
          <p:nvPr/>
        </p:nvCxnSpPr>
        <p:spPr>
          <a:xfrm flipH="1">
            <a:off x="417449"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413" name="Google Shape;1413;p81"/>
          <p:cNvSpPr txBox="1"/>
          <p:nvPr/>
        </p:nvSpPr>
        <p:spPr>
          <a:xfrm>
            <a:off x="553117" y="1531211"/>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cxnSp>
        <p:nvCxnSpPr>
          <p:cNvPr id="1414" name="Google Shape;1414;p81"/>
          <p:cNvCxnSpPr/>
          <p:nvPr/>
        </p:nvCxnSpPr>
        <p:spPr>
          <a:xfrm rot="10800000">
            <a:off x="1950014"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415" name="Google Shape;1415;p81"/>
          <p:cNvSpPr/>
          <p:nvPr/>
        </p:nvSpPr>
        <p:spPr>
          <a:xfrm flipH="1">
            <a:off x="2690019"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6" name="Google Shape;1416;p81"/>
          <p:cNvSpPr/>
          <p:nvPr/>
        </p:nvSpPr>
        <p:spPr>
          <a:xfrm rot="-5400000">
            <a:off x="3558092"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7" name="Google Shape;1417;p81"/>
          <p:cNvSpPr/>
          <p:nvPr/>
        </p:nvSpPr>
        <p:spPr>
          <a:xfrm>
            <a:off x="4552136"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18" name="Google Shape;1418;p81"/>
          <p:cNvCxnSpPr/>
          <p:nvPr/>
        </p:nvCxnSpPr>
        <p:spPr>
          <a:xfrm flipH="1">
            <a:off x="3310142"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419" name="Google Shape;1419;p81"/>
          <p:cNvSpPr txBox="1"/>
          <p:nvPr/>
        </p:nvSpPr>
        <p:spPr>
          <a:xfrm flipH="1">
            <a:off x="3609239"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cxnSp>
        <p:nvCxnSpPr>
          <p:cNvPr id="1420" name="Google Shape;1420;p81"/>
          <p:cNvCxnSpPr/>
          <p:nvPr/>
        </p:nvCxnSpPr>
        <p:spPr>
          <a:xfrm rot="10800000">
            <a:off x="4842708"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421" name="Google Shape;1421;p81"/>
          <p:cNvSpPr/>
          <p:nvPr/>
        </p:nvSpPr>
        <p:spPr>
          <a:xfrm flipH="1">
            <a:off x="-154406" y="351467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2" name="Google Shape;1422;p81"/>
          <p:cNvSpPr/>
          <p:nvPr/>
        </p:nvSpPr>
        <p:spPr>
          <a:xfrm rot="-5400000">
            <a:off x="713667" y="304165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3" name="Google Shape;1423;p81"/>
          <p:cNvSpPr/>
          <p:nvPr/>
        </p:nvSpPr>
        <p:spPr>
          <a:xfrm>
            <a:off x="1707711"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24" name="Google Shape;1424;p81"/>
          <p:cNvCxnSpPr/>
          <p:nvPr/>
        </p:nvCxnSpPr>
        <p:spPr>
          <a:xfrm flipH="1">
            <a:off x="465717" y="313720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425" name="Google Shape;1425;p81"/>
          <p:cNvSpPr txBox="1"/>
          <p:nvPr/>
        </p:nvSpPr>
        <p:spPr>
          <a:xfrm>
            <a:off x="2063350" y="36004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cxnSp>
        <p:nvCxnSpPr>
          <p:cNvPr id="1426" name="Google Shape;1426;p81"/>
          <p:cNvCxnSpPr/>
          <p:nvPr/>
        </p:nvCxnSpPr>
        <p:spPr>
          <a:xfrm rot="10800000">
            <a:off x="1998283" y="321341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427" name="Google Shape;1427;p81"/>
          <p:cNvSpPr/>
          <p:nvPr/>
        </p:nvSpPr>
        <p:spPr>
          <a:xfrm>
            <a:off x="7535000" y="3080425"/>
            <a:ext cx="2291100" cy="22911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8" name="Google Shape;1428;p81"/>
          <p:cNvSpPr/>
          <p:nvPr/>
        </p:nvSpPr>
        <p:spPr>
          <a:xfrm flipH="1">
            <a:off x="6721708"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29" name="Google Shape;1429;p81"/>
          <p:cNvCxnSpPr/>
          <p:nvPr/>
        </p:nvCxnSpPr>
        <p:spPr>
          <a:xfrm rot="10800000">
            <a:off x="6618513" y="3493900"/>
            <a:ext cx="0" cy="744000"/>
          </a:xfrm>
          <a:prstGeom prst="straightConnector1">
            <a:avLst/>
          </a:prstGeom>
          <a:noFill/>
          <a:ln cap="flat" cmpd="sng" w="28575">
            <a:solidFill>
              <a:srgbClr val="845AD9"/>
            </a:solidFill>
            <a:prstDash val="solid"/>
            <a:round/>
            <a:headEnd len="med" w="med" type="triangle"/>
            <a:tailEnd len="med" w="med" type="triangle"/>
          </a:ln>
        </p:spPr>
      </p:cxnSp>
      <p:sp>
        <p:nvSpPr>
          <p:cNvPr id="1430" name="Google Shape;1430;p81"/>
          <p:cNvSpPr txBox="1"/>
          <p:nvPr/>
        </p:nvSpPr>
        <p:spPr>
          <a:xfrm>
            <a:off x="6008524" y="3744700"/>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 cm</a:t>
            </a:r>
            <a:endParaRPr sz="1800">
              <a:latin typeface="Lexend"/>
              <a:ea typeface="Lexend"/>
              <a:cs typeface="Lexend"/>
              <a:sym typeface="Lexend"/>
            </a:endParaRPr>
          </a:p>
        </p:txBody>
      </p:sp>
      <p:cxnSp>
        <p:nvCxnSpPr>
          <p:cNvPr id="1431" name="Google Shape;1431;p81"/>
          <p:cNvCxnSpPr/>
          <p:nvPr/>
        </p:nvCxnSpPr>
        <p:spPr>
          <a:xfrm rot="10800000">
            <a:off x="6763525" y="3397071"/>
            <a:ext cx="1991100" cy="735900"/>
          </a:xfrm>
          <a:prstGeom prst="straightConnector1">
            <a:avLst/>
          </a:prstGeom>
          <a:noFill/>
          <a:ln cap="flat" cmpd="sng" w="28575">
            <a:solidFill>
              <a:srgbClr val="845AD9"/>
            </a:solidFill>
            <a:prstDash val="solid"/>
            <a:round/>
            <a:headEnd len="med" w="med" type="triangle"/>
            <a:tailEnd len="med" w="med" type="triangle"/>
          </a:ln>
        </p:spPr>
      </p:cxnSp>
      <p:sp>
        <p:nvSpPr>
          <p:cNvPr id="1432" name="Google Shape;1432;p81"/>
          <p:cNvSpPr/>
          <p:nvPr/>
        </p:nvSpPr>
        <p:spPr>
          <a:xfrm flipH="1">
            <a:off x="572339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3" name="Google Shape;1433;p81"/>
          <p:cNvSpPr/>
          <p:nvPr/>
        </p:nvSpPr>
        <p:spPr>
          <a:xfrm rot="-5400000">
            <a:off x="6591467"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4" name="Google Shape;1434;p81"/>
          <p:cNvSpPr/>
          <p:nvPr/>
        </p:nvSpPr>
        <p:spPr>
          <a:xfrm>
            <a:off x="7585511"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35" name="Google Shape;1435;p81"/>
          <p:cNvCxnSpPr/>
          <p:nvPr/>
        </p:nvCxnSpPr>
        <p:spPr>
          <a:xfrm flipH="1">
            <a:off x="6343517"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436" name="Google Shape;1436;p81"/>
          <p:cNvSpPr txBox="1"/>
          <p:nvPr/>
        </p:nvSpPr>
        <p:spPr>
          <a:xfrm>
            <a:off x="6256800" y="15312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sp>
        <p:nvSpPr>
          <p:cNvPr id="1437" name="Google Shape;1437;p81"/>
          <p:cNvSpPr txBox="1"/>
          <p:nvPr/>
        </p:nvSpPr>
        <p:spPr>
          <a:xfrm flipH="1">
            <a:off x="6642614"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cxnSp>
        <p:nvCxnSpPr>
          <p:cNvPr id="1438" name="Google Shape;1438;p81"/>
          <p:cNvCxnSpPr/>
          <p:nvPr/>
        </p:nvCxnSpPr>
        <p:spPr>
          <a:xfrm rot="10800000">
            <a:off x="7876083"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439" name="Google Shape;1439;p81"/>
          <p:cNvSpPr txBox="1"/>
          <p:nvPr/>
        </p:nvSpPr>
        <p:spPr>
          <a:xfrm flipH="1">
            <a:off x="764814" y="395980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440" name="Google Shape;1440;p81"/>
          <p:cNvSpPr/>
          <p:nvPr/>
        </p:nvSpPr>
        <p:spPr>
          <a:xfrm flipH="1">
            <a:off x="2826444" y="3445912"/>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1" name="Google Shape;1441;p81"/>
          <p:cNvSpPr/>
          <p:nvPr/>
        </p:nvSpPr>
        <p:spPr>
          <a:xfrm>
            <a:off x="4688561" y="3967012"/>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42" name="Google Shape;1442;p81"/>
          <p:cNvCxnSpPr/>
          <p:nvPr/>
        </p:nvCxnSpPr>
        <p:spPr>
          <a:xfrm flipH="1">
            <a:off x="3446567" y="3068437"/>
            <a:ext cx="135990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443" name="Google Shape;1443;p81"/>
          <p:cNvCxnSpPr/>
          <p:nvPr/>
        </p:nvCxnSpPr>
        <p:spPr>
          <a:xfrm rot="10800000">
            <a:off x="3522767" y="4257503"/>
            <a:ext cx="1359900" cy="0"/>
          </a:xfrm>
          <a:prstGeom prst="straightConnector1">
            <a:avLst/>
          </a:prstGeom>
          <a:noFill/>
          <a:ln cap="flat" cmpd="sng" w="28575">
            <a:solidFill>
              <a:srgbClr val="845AD9"/>
            </a:solidFill>
            <a:prstDash val="solid"/>
            <a:round/>
            <a:headEnd len="med" w="med" type="triangle"/>
            <a:tailEnd len="med" w="med" type="triangle"/>
          </a:ln>
        </p:spPr>
      </p:cxnSp>
      <p:sp>
        <p:nvSpPr>
          <p:cNvPr id="1444" name="Google Shape;1444;p81"/>
          <p:cNvSpPr txBox="1"/>
          <p:nvPr/>
        </p:nvSpPr>
        <p:spPr>
          <a:xfrm>
            <a:off x="3749874" y="4303937"/>
            <a:ext cx="905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sp>
        <p:nvSpPr>
          <p:cNvPr id="1445" name="Google Shape;1445;p81"/>
          <p:cNvSpPr txBox="1"/>
          <p:nvPr/>
        </p:nvSpPr>
        <p:spPr>
          <a:xfrm flipH="1">
            <a:off x="3745664" y="3891042"/>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446" name="Google Shape;1446;p81"/>
          <p:cNvSpPr txBox="1"/>
          <p:nvPr/>
        </p:nvSpPr>
        <p:spPr>
          <a:xfrm flipH="1">
            <a:off x="716545"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sp>
        <p:nvSpPr>
          <p:cNvPr id="1447" name="Google Shape;1447;p81"/>
          <p:cNvSpPr txBox="1"/>
          <p:nvPr/>
        </p:nvSpPr>
        <p:spPr>
          <a:xfrm>
            <a:off x="3251566" y="15312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sp>
        <p:nvSpPr>
          <p:cNvPr id="1448" name="Google Shape;1448;p81"/>
          <p:cNvSpPr/>
          <p:nvPr/>
        </p:nvSpPr>
        <p:spPr>
          <a:xfrm flipH="1">
            <a:off x="4296675" y="2577512"/>
            <a:ext cx="1155900" cy="1155900"/>
          </a:xfrm>
          <a:prstGeom prst="arc">
            <a:avLst>
              <a:gd fmla="val 2216544" name="adj1"/>
              <a:gd fmla="val 54150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9" name="Google Shape;1449;p81"/>
          <p:cNvSpPr txBox="1"/>
          <p:nvPr/>
        </p:nvSpPr>
        <p:spPr>
          <a:xfrm flipH="1">
            <a:off x="4418026" y="3384998"/>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41°</a:t>
            </a:r>
            <a:endParaRPr sz="1800">
              <a:latin typeface="Lexend"/>
              <a:ea typeface="Lexend"/>
              <a:cs typeface="Lexend"/>
              <a:sym typeface="Lexend"/>
            </a:endParaRPr>
          </a:p>
        </p:txBody>
      </p:sp>
      <p:sp>
        <p:nvSpPr>
          <p:cNvPr id="1450" name="Google Shape;1450;p81"/>
          <p:cNvSpPr txBox="1"/>
          <p:nvPr/>
        </p:nvSpPr>
        <p:spPr>
          <a:xfrm>
            <a:off x="7489725" y="3979075"/>
            <a:ext cx="7398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a:t>
            </a:r>
            <a:endParaRPr sz="1800">
              <a:latin typeface="Lexend"/>
              <a:ea typeface="Lexend"/>
              <a:cs typeface="Lexend"/>
              <a:sym typeface="Lexend"/>
            </a:endParaRPr>
          </a:p>
        </p:txBody>
      </p:sp>
      <p:sp>
        <p:nvSpPr>
          <p:cNvPr id="1451" name="Google Shape;1451;p81"/>
          <p:cNvSpPr/>
          <p:nvPr/>
        </p:nvSpPr>
        <p:spPr>
          <a:xfrm flipH="1" rot="5400000">
            <a:off x="7349307" y="28663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2" name="Google Shape;1452;p81"/>
          <p:cNvSpPr txBox="1"/>
          <p:nvPr/>
        </p:nvSpPr>
        <p:spPr>
          <a:xfrm>
            <a:off x="1972000"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453" name="Google Shape;1453;p81"/>
          <p:cNvSpPr txBox="1"/>
          <p:nvPr/>
        </p:nvSpPr>
        <p:spPr>
          <a:xfrm>
            <a:off x="487020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454" name="Google Shape;1454;p81"/>
          <p:cNvSpPr txBox="1"/>
          <p:nvPr/>
        </p:nvSpPr>
        <p:spPr>
          <a:xfrm>
            <a:off x="790805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sp>
        <p:nvSpPr>
          <p:cNvPr id="1455" name="Google Shape;1455;p81"/>
          <p:cNvSpPr txBox="1"/>
          <p:nvPr/>
        </p:nvSpPr>
        <p:spPr>
          <a:xfrm>
            <a:off x="577570" y="3411450"/>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456" name="Google Shape;1456;p81"/>
          <p:cNvSpPr txBox="1"/>
          <p:nvPr/>
        </p:nvSpPr>
        <p:spPr>
          <a:xfrm>
            <a:off x="3592483" y="3324343"/>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e</a:t>
            </a:r>
            <a:r>
              <a:rPr lang="en-GB" sz="1800">
                <a:latin typeface="Lexend"/>
                <a:ea typeface="Lexend"/>
                <a:cs typeface="Lexend"/>
                <a:sym typeface="Lexend"/>
              </a:rPr>
              <a:t> cm</a:t>
            </a:r>
            <a:endParaRPr sz="1800">
              <a:latin typeface="Lexend"/>
              <a:ea typeface="Lexend"/>
              <a:cs typeface="Lexend"/>
              <a:sym typeface="Lexend"/>
            </a:endParaRPr>
          </a:p>
        </p:txBody>
      </p:sp>
      <p:sp>
        <p:nvSpPr>
          <p:cNvPr id="1457" name="Google Shape;1457;p81"/>
          <p:cNvSpPr txBox="1"/>
          <p:nvPr/>
        </p:nvSpPr>
        <p:spPr>
          <a:xfrm>
            <a:off x="7649190" y="3391646"/>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cm</a:t>
            </a:r>
            <a:endParaRPr sz="1800">
              <a:latin typeface="Lexend"/>
              <a:ea typeface="Lexend"/>
              <a:cs typeface="Lexend"/>
              <a:sym typeface="Lexend"/>
            </a:endParaRPr>
          </a:p>
        </p:txBody>
      </p:sp>
      <p:sp>
        <p:nvSpPr>
          <p:cNvPr id="1458" name="Google Shape;1458;p81"/>
          <p:cNvSpPr txBox="1"/>
          <p:nvPr/>
        </p:nvSpPr>
        <p:spPr>
          <a:xfrm>
            <a:off x="3156075" y="2625300"/>
            <a:ext cx="28320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b = 9.38</a:t>
            </a:r>
            <a:endParaRPr sz="2000">
              <a:latin typeface="Kalam"/>
              <a:ea typeface="Kalam"/>
              <a:cs typeface="Kalam"/>
              <a:sym typeface="Kalam"/>
            </a:endParaRPr>
          </a:p>
        </p:txBody>
      </p:sp>
      <p:sp>
        <p:nvSpPr>
          <p:cNvPr id="1459" name="Google Shape;1459;p81"/>
          <p:cNvSpPr txBox="1"/>
          <p:nvPr/>
        </p:nvSpPr>
        <p:spPr>
          <a:xfrm>
            <a:off x="324075" y="2625300"/>
            <a:ext cx="28320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a = 0.63</a:t>
            </a:r>
            <a:endParaRPr sz="2000">
              <a:latin typeface="Kalam"/>
              <a:ea typeface="Kalam"/>
              <a:cs typeface="Kalam"/>
              <a:sym typeface="Kalam"/>
            </a:endParaRPr>
          </a:p>
        </p:txBody>
      </p:sp>
      <p:sp>
        <p:nvSpPr>
          <p:cNvPr id="1460" name="Google Shape;1460;p81"/>
          <p:cNvSpPr txBox="1"/>
          <p:nvPr/>
        </p:nvSpPr>
        <p:spPr>
          <a:xfrm>
            <a:off x="5988050" y="4524419"/>
            <a:ext cx="28320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f = 190.56</a:t>
            </a:r>
            <a:endParaRPr sz="2000">
              <a:latin typeface="Kalam"/>
              <a:ea typeface="Kalam"/>
              <a:cs typeface="Kalam"/>
              <a:sym typeface="Kalam"/>
            </a:endParaRPr>
          </a:p>
        </p:txBody>
      </p:sp>
      <p:sp>
        <p:nvSpPr>
          <p:cNvPr id="1461" name="Google Shape;1461;p81"/>
          <p:cNvSpPr/>
          <p:nvPr/>
        </p:nvSpPr>
        <p:spPr>
          <a:xfrm rot="-5400000">
            <a:off x="3694517" y="2972887"/>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2" name="Google Shape;1462;p81"/>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463" name="Google Shape;1463;p81"/>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464" name="Google Shape;1464;p81"/>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465" name="Google Shape;1465;p81"/>
          <p:cNvSpPr txBox="1"/>
          <p:nvPr/>
        </p:nvSpPr>
        <p:spPr>
          <a:xfrm>
            <a:off x="3139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466" name="Google Shape;1466;p81"/>
          <p:cNvSpPr txBox="1"/>
          <p:nvPr/>
        </p:nvSpPr>
        <p:spPr>
          <a:xfrm>
            <a:off x="32066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467" name="Google Shape;1467;p81"/>
          <p:cNvSpPr txBox="1"/>
          <p:nvPr/>
        </p:nvSpPr>
        <p:spPr>
          <a:xfrm>
            <a:off x="60993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pic>
        <p:nvPicPr>
          <p:cNvPr id="1468" name="Google Shape;1468;p81"/>
          <p:cNvPicPr preferRelativeResize="0"/>
          <p:nvPr/>
        </p:nvPicPr>
        <p:blipFill>
          <a:blip r:embed="rId3">
            <a:alphaModFix/>
          </a:blip>
          <a:stretch>
            <a:fillRect/>
          </a:stretch>
        </p:blipFill>
        <p:spPr>
          <a:xfrm>
            <a:off x="324000" y="2953265"/>
            <a:ext cx="8495999" cy="39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82"/>
          <p:cNvSpPr/>
          <p:nvPr/>
        </p:nvSpPr>
        <p:spPr>
          <a:xfrm rot="-5400000">
            <a:off x="2109817" y="350555"/>
            <a:ext cx="2439000" cy="55017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4" name="Google Shape;1474;p82"/>
          <p:cNvSpPr/>
          <p:nvPr/>
        </p:nvSpPr>
        <p:spPr>
          <a:xfrm rot="-5400000">
            <a:off x="1894876" y="906899"/>
            <a:ext cx="2097600" cy="4730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5" name="Google Shape;1475;p82"/>
          <p:cNvSpPr/>
          <p:nvPr/>
        </p:nvSpPr>
        <p:spPr>
          <a:xfrm rot="-5400000">
            <a:off x="1609277" y="1647599"/>
            <a:ext cx="1642500" cy="3704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6" name="Google Shape;1476;p82"/>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Find the lengths of the distances </a:t>
            </a:r>
            <a:r>
              <a:rPr i="1" lang="en-GB" sz="2200">
                <a:latin typeface="Times New Roman"/>
                <a:ea typeface="Times New Roman"/>
                <a:cs typeface="Times New Roman"/>
                <a:sym typeface="Times New Roman"/>
              </a:rPr>
              <a:t>a</a:t>
            </a:r>
            <a:r>
              <a:rPr lang="en-GB" sz="1800">
                <a:latin typeface="Lexend"/>
                <a:ea typeface="Lexend"/>
                <a:cs typeface="Lexend"/>
                <a:sym typeface="Lexend"/>
              </a:rPr>
              <a:t>, </a:t>
            </a:r>
            <a:r>
              <a:rPr i="1" lang="en-GB" sz="2200">
                <a:latin typeface="Times New Roman"/>
                <a:ea typeface="Times New Roman"/>
                <a:cs typeface="Times New Roman"/>
                <a:sym typeface="Times New Roman"/>
              </a:rPr>
              <a:t>b</a:t>
            </a:r>
            <a:r>
              <a:rPr lang="en-GB" sz="1800">
                <a:latin typeface="Lexend"/>
                <a:ea typeface="Lexend"/>
                <a:cs typeface="Lexend"/>
                <a:sym typeface="Lexend"/>
              </a:rPr>
              <a:t>, </a:t>
            </a:r>
            <a:r>
              <a:rPr i="1" lang="en-GB" sz="2200">
                <a:latin typeface="Times New Roman"/>
                <a:ea typeface="Times New Roman"/>
                <a:cs typeface="Times New Roman"/>
                <a:sym typeface="Times New Roman"/>
              </a:rPr>
              <a:t>c</a:t>
            </a:r>
            <a:r>
              <a:rPr lang="en-GB" sz="1800">
                <a:latin typeface="Lexend"/>
                <a:ea typeface="Lexend"/>
                <a:cs typeface="Lexend"/>
                <a:sym typeface="Lexend"/>
              </a:rPr>
              <a:t>, and </a:t>
            </a:r>
            <a:r>
              <a:rPr i="1" lang="en-GB" sz="2200">
                <a:latin typeface="Times New Roman"/>
                <a:ea typeface="Times New Roman"/>
                <a:cs typeface="Times New Roman"/>
                <a:sym typeface="Times New Roman"/>
              </a:rPr>
              <a:t>d</a:t>
            </a:r>
            <a:r>
              <a:rPr lang="en-GB" sz="1800">
                <a:latin typeface="Lexend"/>
                <a:ea typeface="Lexend"/>
                <a:cs typeface="Lexend"/>
                <a:sym typeface="Lexend"/>
              </a:rPr>
              <a:t> (rounded to the nearest integer).</a:t>
            </a:r>
            <a:endParaRPr sz="1800">
              <a:latin typeface="Lexend"/>
              <a:ea typeface="Lexend"/>
              <a:cs typeface="Lexend"/>
              <a:sym typeface="Lexend"/>
            </a:endParaRPr>
          </a:p>
        </p:txBody>
      </p:sp>
      <p:sp>
        <p:nvSpPr>
          <p:cNvPr id="1477" name="Google Shape;1477;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478" name="Google Shape;1478;p82"/>
          <p:cNvSpPr/>
          <p:nvPr/>
        </p:nvSpPr>
        <p:spPr>
          <a:xfrm flipH="1">
            <a:off x="-434632" y="3285770"/>
            <a:ext cx="2071800" cy="2071800"/>
          </a:xfrm>
          <a:prstGeom prst="arc">
            <a:avLst>
              <a:gd fmla="val 10771373" name="adj1"/>
              <a:gd fmla="val 1227390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9" name="Google Shape;1479;p82"/>
          <p:cNvSpPr/>
          <p:nvPr/>
        </p:nvSpPr>
        <p:spPr>
          <a:xfrm rot="-5400000">
            <a:off x="1364028" y="2284048"/>
            <a:ext cx="1251300" cy="28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0" name="Google Shape;1480;p82"/>
          <p:cNvSpPr/>
          <p:nvPr/>
        </p:nvSpPr>
        <p:spPr>
          <a:xfrm>
            <a:off x="3170484"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1" name="Google Shape;1481;p82"/>
          <p:cNvSpPr txBox="1"/>
          <p:nvPr/>
        </p:nvSpPr>
        <p:spPr>
          <a:xfrm>
            <a:off x="1532525" y="3028485"/>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cxnSp>
        <p:nvCxnSpPr>
          <p:cNvPr id="1482" name="Google Shape;1482;p82"/>
          <p:cNvCxnSpPr/>
          <p:nvPr/>
        </p:nvCxnSpPr>
        <p:spPr>
          <a:xfrm rot="10800000">
            <a:off x="3483825" y="3054250"/>
            <a:ext cx="0" cy="1249500"/>
          </a:xfrm>
          <a:prstGeom prst="straightConnector1">
            <a:avLst/>
          </a:prstGeom>
          <a:noFill/>
          <a:ln cap="flat" cmpd="sng" w="28575">
            <a:solidFill>
              <a:srgbClr val="845AD9"/>
            </a:solidFill>
            <a:prstDash val="solid"/>
            <a:round/>
            <a:headEnd len="med" w="med" type="triangle"/>
            <a:tailEnd len="med" w="med" type="triangle"/>
          </a:ln>
        </p:spPr>
      </p:cxnSp>
      <p:sp>
        <p:nvSpPr>
          <p:cNvPr id="1483" name="Google Shape;1483;p82"/>
          <p:cNvSpPr txBox="1"/>
          <p:nvPr/>
        </p:nvSpPr>
        <p:spPr>
          <a:xfrm flipH="1">
            <a:off x="1030040" y="4031237"/>
            <a:ext cx="629700" cy="314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27°</a:t>
            </a:r>
            <a:endParaRPr sz="1800">
              <a:latin typeface="Lexend"/>
              <a:ea typeface="Lexend"/>
              <a:cs typeface="Lexend"/>
              <a:sym typeface="Lexend"/>
            </a:endParaRPr>
          </a:p>
        </p:txBody>
      </p:sp>
      <p:sp>
        <p:nvSpPr>
          <p:cNvPr id="1484" name="Google Shape;1484;p82"/>
          <p:cNvSpPr txBox="1"/>
          <p:nvPr/>
        </p:nvSpPr>
        <p:spPr>
          <a:xfrm>
            <a:off x="3504383" y="3532995"/>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485" name="Google Shape;1485;p82"/>
          <p:cNvSpPr/>
          <p:nvPr/>
        </p:nvSpPr>
        <p:spPr>
          <a:xfrm>
            <a:off x="4052165"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6" name="Google Shape;1486;p82"/>
          <p:cNvSpPr/>
          <p:nvPr/>
        </p:nvSpPr>
        <p:spPr>
          <a:xfrm>
            <a:off x="5078474"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7" name="Google Shape;1487;p82"/>
          <p:cNvSpPr/>
          <p:nvPr/>
        </p:nvSpPr>
        <p:spPr>
          <a:xfrm>
            <a:off x="5849461" y="4090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88" name="Google Shape;1488;p82"/>
          <p:cNvCxnSpPr/>
          <p:nvPr/>
        </p:nvCxnSpPr>
        <p:spPr>
          <a:xfrm flipH="1">
            <a:off x="578478" y="2764798"/>
            <a:ext cx="2822400" cy="1251300"/>
          </a:xfrm>
          <a:prstGeom prst="straightConnector1">
            <a:avLst/>
          </a:prstGeom>
          <a:noFill/>
          <a:ln cap="flat" cmpd="sng" w="28575">
            <a:solidFill>
              <a:srgbClr val="845AD9"/>
            </a:solidFill>
            <a:prstDash val="solid"/>
            <a:round/>
            <a:headEnd len="med" w="med" type="triangle"/>
            <a:tailEnd len="med" w="med" type="triangle"/>
          </a:ln>
        </p:spPr>
      </p:cxnSp>
      <p:cxnSp>
        <p:nvCxnSpPr>
          <p:cNvPr id="1489" name="Google Shape;1489;p82"/>
          <p:cNvCxnSpPr/>
          <p:nvPr/>
        </p:nvCxnSpPr>
        <p:spPr>
          <a:xfrm flipH="1" rot="10800000">
            <a:off x="3400878" y="2373598"/>
            <a:ext cx="881700" cy="391200"/>
          </a:xfrm>
          <a:prstGeom prst="straightConnector1">
            <a:avLst/>
          </a:prstGeom>
          <a:noFill/>
          <a:ln cap="flat" cmpd="sng" w="28575">
            <a:solidFill>
              <a:srgbClr val="845AD9"/>
            </a:solidFill>
            <a:prstDash val="solid"/>
            <a:round/>
            <a:headEnd len="med" w="med" type="triangle"/>
            <a:tailEnd len="med" w="med" type="triangle"/>
          </a:ln>
        </p:spPr>
      </p:cxnSp>
      <p:cxnSp>
        <p:nvCxnSpPr>
          <p:cNvPr id="1490" name="Google Shape;1490;p82"/>
          <p:cNvCxnSpPr/>
          <p:nvPr/>
        </p:nvCxnSpPr>
        <p:spPr>
          <a:xfrm flipH="1">
            <a:off x="4282576" y="1918499"/>
            <a:ext cx="1026300" cy="455100"/>
          </a:xfrm>
          <a:prstGeom prst="straightConnector1">
            <a:avLst/>
          </a:prstGeom>
          <a:noFill/>
          <a:ln cap="flat" cmpd="sng" w="28575">
            <a:solidFill>
              <a:srgbClr val="845AD9"/>
            </a:solidFill>
            <a:prstDash val="solid"/>
            <a:round/>
            <a:headEnd len="med" w="med" type="triangle"/>
            <a:tailEnd len="med" w="med" type="triangle"/>
          </a:ln>
        </p:spPr>
      </p:cxnSp>
      <p:cxnSp>
        <p:nvCxnSpPr>
          <p:cNvPr id="1491" name="Google Shape;1491;p82"/>
          <p:cNvCxnSpPr/>
          <p:nvPr/>
        </p:nvCxnSpPr>
        <p:spPr>
          <a:xfrm flipH="1" rot="10800000">
            <a:off x="5308876" y="1577099"/>
            <a:ext cx="771300" cy="341400"/>
          </a:xfrm>
          <a:prstGeom prst="straightConnector1">
            <a:avLst/>
          </a:prstGeom>
          <a:noFill/>
          <a:ln cap="flat" cmpd="sng" w="28575">
            <a:solidFill>
              <a:srgbClr val="845AD9"/>
            </a:solidFill>
            <a:prstDash val="solid"/>
            <a:round/>
            <a:headEnd len="med" w="med" type="triangle"/>
            <a:tailEnd len="med" w="med" type="triangle"/>
          </a:ln>
        </p:spPr>
      </p:cxnSp>
      <p:sp>
        <p:nvSpPr>
          <p:cNvPr id="1492" name="Google Shape;1492;p82"/>
          <p:cNvSpPr txBox="1"/>
          <p:nvPr/>
        </p:nvSpPr>
        <p:spPr>
          <a:xfrm>
            <a:off x="3417575" y="2256295"/>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493" name="Google Shape;1493;p82"/>
          <p:cNvCxnSpPr/>
          <p:nvPr/>
        </p:nvCxnSpPr>
        <p:spPr>
          <a:xfrm rot="10800000">
            <a:off x="4369325" y="2659150"/>
            <a:ext cx="0" cy="1644600"/>
          </a:xfrm>
          <a:prstGeom prst="straightConnector1">
            <a:avLst/>
          </a:prstGeom>
          <a:noFill/>
          <a:ln cap="flat" cmpd="sng" w="28575">
            <a:solidFill>
              <a:srgbClr val="845AD9"/>
            </a:solidFill>
            <a:prstDash val="solid"/>
            <a:round/>
            <a:headEnd len="med" w="med" type="triangle"/>
            <a:tailEnd len="med" w="med" type="triangle"/>
          </a:ln>
        </p:spPr>
      </p:cxnSp>
      <p:sp>
        <p:nvSpPr>
          <p:cNvPr id="1494" name="Google Shape;1494;p82"/>
          <p:cNvSpPr txBox="1"/>
          <p:nvPr/>
        </p:nvSpPr>
        <p:spPr>
          <a:xfrm>
            <a:off x="4403635" y="3289324"/>
            <a:ext cx="632700" cy="34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39.5 cm</a:t>
            </a:r>
            <a:endParaRPr sz="1800">
              <a:latin typeface="Lexend"/>
              <a:ea typeface="Lexend"/>
              <a:cs typeface="Lexend"/>
              <a:sym typeface="Lexend"/>
            </a:endParaRPr>
          </a:p>
        </p:txBody>
      </p:sp>
      <p:sp>
        <p:nvSpPr>
          <p:cNvPr id="1495" name="Google Shape;1495;p82"/>
          <p:cNvSpPr txBox="1"/>
          <p:nvPr/>
        </p:nvSpPr>
        <p:spPr>
          <a:xfrm>
            <a:off x="4358770" y="1826326"/>
            <a:ext cx="6990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cxnSp>
        <p:nvCxnSpPr>
          <p:cNvPr id="1496" name="Google Shape;1496;p82"/>
          <p:cNvCxnSpPr/>
          <p:nvPr/>
        </p:nvCxnSpPr>
        <p:spPr>
          <a:xfrm rot="10800000">
            <a:off x="5393650" y="2202850"/>
            <a:ext cx="0" cy="2100900"/>
          </a:xfrm>
          <a:prstGeom prst="straightConnector1">
            <a:avLst/>
          </a:prstGeom>
          <a:noFill/>
          <a:ln cap="flat" cmpd="sng" w="28575">
            <a:solidFill>
              <a:srgbClr val="845AD9"/>
            </a:solidFill>
            <a:prstDash val="solid"/>
            <a:round/>
            <a:headEnd len="med" w="med" type="triangle"/>
            <a:tailEnd len="med" w="med" type="triangle"/>
          </a:ln>
        </p:spPr>
      </p:cxnSp>
      <p:sp>
        <p:nvSpPr>
          <p:cNvPr id="1497" name="Google Shape;1497;p82"/>
          <p:cNvSpPr txBox="1"/>
          <p:nvPr/>
        </p:nvSpPr>
        <p:spPr>
          <a:xfrm>
            <a:off x="5414207" y="3007794"/>
            <a:ext cx="632700" cy="44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498" name="Google Shape;1498;p82"/>
          <p:cNvCxnSpPr/>
          <p:nvPr/>
        </p:nvCxnSpPr>
        <p:spPr>
          <a:xfrm rot="10800000">
            <a:off x="6166625" y="1864750"/>
            <a:ext cx="0" cy="2439000"/>
          </a:xfrm>
          <a:prstGeom prst="straightConnector1">
            <a:avLst/>
          </a:prstGeom>
          <a:noFill/>
          <a:ln cap="flat" cmpd="sng" w="28575">
            <a:solidFill>
              <a:srgbClr val="845AD9"/>
            </a:solidFill>
            <a:prstDash val="solid"/>
            <a:round/>
            <a:headEnd len="med" w="med" type="triangle"/>
            <a:tailEnd len="med" w="med" type="triangle"/>
          </a:ln>
        </p:spPr>
      </p:cxnSp>
      <p:sp>
        <p:nvSpPr>
          <p:cNvPr id="1499" name="Google Shape;1499;p82"/>
          <p:cNvSpPr txBox="1"/>
          <p:nvPr/>
        </p:nvSpPr>
        <p:spPr>
          <a:xfrm>
            <a:off x="6187173" y="2799225"/>
            <a:ext cx="881700" cy="516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64 cm</a:t>
            </a:r>
            <a:endParaRPr sz="1800">
              <a:latin typeface="Lexend"/>
              <a:ea typeface="Lexend"/>
              <a:cs typeface="Lexend"/>
              <a:sym typeface="Lexend"/>
            </a:endParaRPr>
          </a:p>
        </p:txBody>
      </p:sp>
      <p:sp>
        <p:nvSpPr>
          <p:cNvPr id="1500" name="Google Shape;1500;p82"/>
          <p:cNvSpPr txBox="1"/>
          <p:nvPr/>
        </p:nvSpPr>
        <p:spPr>
          <a:xfrm>
            <a:off x="5223627" y="1473942"/>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501" name="Google Shape;1501;p82"/>
          <p:cNvSpPr txBox="1"/>
          <p:nvPr/>
        </p:nvSpPr>
        <p:spPr>
          <a:xfrm>
            <a:off x="3444250" y="3780000"/>
            <a:ext cx="881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23 cm</a:t>
            </a:r>
            <a:endParaRPr sz="2000">
              <a:latin typeface="Kalam"/>
              <a:ea typeface="Kalam"/>
              <a:cs typeface="Kalam"/>
              <a:sym typeface="Kalam"/>
            </a:endParaRPr>
          </a:p>
        </p:txBody>
      </p:sp>
      <p:sp>
        <p:nvSpPr>
          <p:cNvPr id="1502" name="Google Shape;1502;p82"/>
          <p:cNvSpPr txBox="1"/>
          <p:nvPr/>
        </p:nvSpPr>
        <p:spPr>
          <a:xfrm>
            <a:off x="3293075" y="2006100"/>
            <a:ext cx="881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37 cm</a:t>
            </a:r>
            <a:endParaRPr sz="2000">
              <a:latin typeface="Kalam"/>
              <a:ea typeface="Kalam"/>
              <a:cs typeface="Kalam"/>
              <a:sym typeface="Kalam"/>
            </a:endParaRPr>
          </a:p>
        </p:txBody>
      </p:sp>
      <p:sp>
        <p:nvSpPr>
          <p:cNvPr id="1503" name="Google Shape;1503;p82"/>
          <p:cNvSpPr txBox="1"/>
          <p:nvPr/>
        </p:nvSpPr>
        <p:spPr>
          <a:xfrm>
            <a:off x="5394450" y="3470645"/>
            <a:ext cx="546300" cy="492600"/>
          </a:xfrm>
          <a:prstGeom prst="rect">
            <a:avLst/>
          </a:prstGeom>
          <a:noFill/>
          <a:ln>
            <a:noFill/>
          </a:ln>
        </p:spPr>
        <p:txBody>
          <a:bodyPr anchorCtr="0" anchor="t" bIns="0" lIns="0" spcFirstLastPara="1" rIns="0" wrap="square" tIns="0">
            <a:spAutoFit/>
          </a:bodyPr>
          <a:lstStyle/>
          <a:p>
            <a:pPr indent="0" lvl="0" marL="0" rtl="0" algn="ctr">
              <a:lnSpc>
                <a:spcPct val="80000"/>
              </a:lnSpc>
              <a:spcBef>
                <a:spcPts val="0"/>
              </a:spcBef>
              <a:spcAft>
                <a:spcPts val="0"/>
              </a:spcAft>
              <a:buNone/>
            </a:pPr>
            <a:r>
              <a:rPr lang="en-GB" sz="2000">
                <a:latin typeface="Kalam"/>
                <a:ea typeface="Kalam"/>
                <a:cs typeface="Kalam"/>
                <a:sym typeface="Kalam"/>
              </a:rPr>
              <a:t>44</a:t>
            </a:r>
            <a:endParaRPr sz="2000">
              <a:latin typeface="Kalam"/>
              <a:ea typeface="Kalam"/>
              <a:cs typeface="Kalam"/>
              <a:sym typeface="Kalam"/>
            </a:endParaRPr>
          </a:p>
          <a:p>
            <a:pPr indent="0" lvl="0" marL="0" rtl="0" algn="ctr">
              <a:lnSpc>
                <a:spcPct val="80000"/>
              </a:lnSpc>
              <a:spcBef>
                <a:spcPts val="0"/>
              </a:spcBef>
              <a:spcAft>
                <a:spcPts val="0"/>
              </a:spcAft>
              <a:buNone/>
            </a:pPr>
            <a:r>
              <a:rPr lang="en-GB" sz="2000">
                <a:latin typeface="Kalam"/>
                <a:ea typeface="Kalam"/>
                <a:cs typeface="Kalam"/>
                <a:sym typeface="Kalam"/>
              </a:rPr>
              <a:t>cm</a:t>
            </a:r>
            <a:endParaRPr sz="2000">
              <a:latin typeface="Kalam"/>
              <a:ea typeface="Kalam"/>
              <a:cs typeface="Kalam"/>
              <a:sym typeface="Kalam"/>
            </a:endParaRPr>
          </a:p>
        </p:txBody>
      </p:sp>
      <p:sp>
        <p:nvSpPr>
          <p:cNvPr id="1504" name="Google Shape;1504;p82"/>
          <p:cNvSpPr txBox="1"/>
          <p:nvPr/>
        </p:nvSpPr>
        <p:spPr>
          <a:xfrm>
            <a:off x="5099125" y="1226200"/>
            <a:ext cx="881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44 cm</a:t>
            </a:r>
            <a:endParaRPr sz="2000">
              <a:latin typeface="Kalam"/>
              <a:ea typeface="Kalam"/>
              <a:cs typeface="Kalam"/>
              <a:sym typeface="Kala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83"/>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sine formula</a:t>
            </a:r>
            <a:endParaRPr/>
          </a:p>
        </p:txBody>
      </p:sp>
      <p:sp>
        <p:nvSpPr>
          <p:cNvPr id="1510" name="Google Shape;1510;p83"/>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1511" name="Google Shape;1511;p83"/>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sine ratio</a:t>
            </a:r>
            <a:endParaRPr/>
          </a:p>
        </p:txBody>
      </p:sp>
      <p:pic>
        <p:nvPicPr>
          <p:cNvPr id="1512" name="Google Shape;1512;p83"/>
          <p:cNvPicPr preferRelativeResize="0"/>
          <p:nvPr/>
        </p:nvPicPr>
        <p:blipFill>
          <a:blip r:embed="rId3">
            <a:alphaModFix/>
          </a:blip>
          <a:stretch>
            <a:fillRect/>
          </a:stretch>
        </p:blipFill>
        <p:spPr>
          <a:xfrm>
            <a:off x="415477" y="2988373"/>
            <a:ext cx="450575" cy="446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518" name="Google Shape;1518;p84"/>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pSp>
        <p:nvGrpSpPr>
          <p:cNvPr id="1519" name="Google Shape;1519;p84"/>
          <p:cNvGrpSpPr/>
          <p:nvPr/>
        </p:nvGrpSpPr>
        <p:grpSpPr>
          <a:xfrm>
            <a:off x="5091962" y="704232"/>
            <a:ext cx="3191125" cy="1405105"/>
            <a:chOff x="4950696" y="682200"/>
            <a:chExt cx="3320975" cy="1767651"/>
          </a:xfrm>
        </p:grpSpPr>
        <p:pic>
          <p:nvPicPr>
            <p:cNvPr id="1520" name="Google Shape;1520;p84"/>
            <p:cNvPicPr preferRelativeResize="0"/>
            <p:nvPr/>
          </p:nvPicPr>
          <p:blipFill rotWithShape="1">
            <a:blip r:embed="rId3">
              <a:alphaModFix/>
            </a:blip>
            <a:srcRect b="43690" l="0" r="57905" t="0"/>
            <a:stretch/>
          </p:blipFill>
          <p:spPr>
            <a:xfrm>
              <a:off x="4950696" y="682200"/>
              <a:ext cx="3320975" cy="1767651"/>
            </a:xfrm>
            <a:prstGeom prst="rect">
              <a:avLst/>
            </a:prstGeom>
            <a:noFill/>
            <a:ln>
              <a:noFill/>
            </a:ln>
          </p:spPr>
        </p:pic>
        <p:sp>
          <p:nvSpPr>
            <p:cNvPr id="1521" name="Google Shape;1521;p84"/>
            <p:cNvSpPr txBox="1"/>
            <p:nvPr/>
          </p:nvSpPr>
          <p:spPr>
            <a:xfrm>
              <a:off x="5015206" y="696035"/>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 know how to find the value of </a:t>
              </a:r>
              <a:r>
                <a:rPr i="1" lang="en-GB" sz="2200">
                  <a:solidFill>
                    <a:srgbClr val="000000"/>
                  </a:solidFill>
                  <a:latin typeface="Times New Roman"/>
                  <a:ea typeface="Times New Roman"/>
                  <a:cs typeface="Times New Roman"/>
                  <a:sym typeface="Times New Roman"/>
                </a:rPr>
                <a:t>x</a:t>
              </a:r>
              <a:r>
                <a:rPr lang="en-GB" sz="1800">
                  <a:latin typeface="Lexend"/>
                  <a:ea typeface="Lexend"/>
                  <a:cs typeface="Lexend"/>
                  <a:sym typeface="Lexend"/>
                </a:rPr>
                <a:t> on this triangle, since it’s a triangle from the unit circle.</a:t>
              </a:r>
              <a:endParaRPr sz="1800">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t/>
              </a:r>
              <a:endParaRPr sz="1800">
                <a:latin typeface="Lexend"/>
                <a:ea typeface="Lexend"/>
                <a:cs typeface="Lexend"/>
                <a:sym typeface="Lexend"/>
              </a:endParaRPr>
            </a:p>
          </p:txBody>
        </p:sp>
      </p:grpSp>
      <p:grpSp>
        <p:nvGrpSpPr>
          <p:cNvPr id="1522" name="Google Shape;1522;p84"/>
          <p:cNvGrpSpPr/>
          <p:nvPr/>
        </p:nvGrpSpPr>
        <p:grpSpPr>
          <a:xfrm>
            <a:off x="4245451" y="674550"/>
            <a:ext cx="4037642" cy="1432200"/>
            <a:chOff x="4321651" y="2122350"/>
            <a:chExt cx="4037642" cy="1432200"/>
          </a:xfrm>
        </p:grpSpPr>
        <p:sp>
          <p:nvSpPr>
            <p:cNvPr id="1523" name="Google Shape;1523;p84"/>
            <p:cNvSpPr/>
            <p:nvPr/>
          </p:nvSpPr>
          <p:spPr>
            <a:xfrm>
              <a:off x="4967150" y="2122350"/>
              <a:ext cx="3242100" cy="14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524" name="Google Shape;1524;p84"/>
            <p:cNvGrpSpPr/>
            <p:nvPr/>
          </p:nvGrpSpPr>
          <p:grpSpPr>
            <a:xfrm>
              <a:off x="4321651" y="2149427"/>
              <a:ext cx="4037642" cy="1405105"/>
              <a:chOff x="4950696" y="682200"/>
              <a:chExt cx="3320975" cy="1767651"/>
            </a:xfrm>
          </p:grpSpPr>
          <p:pic>
            <p:nvPicPr>
              <p:cNvPr id="1525" name="Google Shape;1525;p84"/>
              <p:cNvPicPr preferRelativeResize="0"/>
              <p:nvPr/>
            </p:nvPicPr>
            <p:blipFill rotWithShape="1">
              <a:blip r:embed="rId3">
                <a:alphaModFix/>
              </a:blip>
              <a:srcRect b="43690" l="0" r="57905" t="0"/>
              <a:stretch/>
            </p:blipFill>
            <p:spPr>
              <a:xfrm>
                <a:off x="4950696" y="682200"/>
                <a:ext cx="3320975" cy="1767651"/>
              </a:xfrm>
              <a:prstGeom prst="rect">
                <a:avLst/>
              </a:prstGeom>
              <a:noFill/>
              <a:ln>
                <a:noFill/>
              </a:ln>
            </p:spPr>
          </p:pic>
          <p:sp>
            <p:nvSpPr>
              <p:cNvPr id="1526" name="Google Shape;1526;p84"/>
              <p:cNvSpPr txBox="1"/>
              <p:nvPr/>
            </p:nvSpPr>
            <p:spPr>
              <a:xfrm>
                <a:off x="5015206" y="696035"/>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I’m confident I can use the sine function to find the length of the hypotenuse or opposite in a right-angled triangle…</a:t>
                </a:r>
                <a:endParaRPr sz="1800">
                  <a:latin typeface="Lexend"/>
                  <a:ea typeface="Lexend"/>
                  <a:cs typeface="Lexend"/>
                  <a:sym typeface="Lexend"/>
                </a:endParaRPr>
              </a:p>
            </p:txBody>
          </p:sp>
        </p:grpSp>
      </p:grpSp>
      <p:grpSp>
        <p:nvGrpSpPr>
          <p:cNvPr id="1527" name="Google Shape;1527;p84"/>
          <p:cNvGrpSpPr/>
          <p:nvPr/>
        </p:nvGrpSpPr>
        <p:grpSpPr>
          <a:xfrm>
            <a:off x="8123750" y="1498639"/>
            <a:ext cx="696250" cy="911539"/>
            <a:chOff x="8123750" y="1498639"/>
            <a:chExt cx="696250" cy="911539"/>
          </a:xfrm>
        </p:grpSpPr>
        <p:pic>
          <p:nvPicPr>
            <p:cNvPr id="1528" name="Google Shape;1528;p84"/>
            <p:cNvPicPr preferRelativeResize="0"/>
            <p:nvPr/>
          </p:nvPicPr>
          <p:blipFill>
            <a:blip r:embed="rId4">
              <a:alphaModFix/>
            </a:blip>
            <a:stretch>
              <a:fillRect/>
            </a:stretch>
          </p:blipFill>
          <p:spPr>
            <a:xfrm>
              <a:off x="8123750" y="1498639"/>
              <a:ext cx="696250" cy="673801"/>
            </a:xfrm>
            <a:prstGeom prst="rect">
              <a:avLst/>
            </a:prstGeom>
            <a:noFill/>
            <a:ln>
              <a:noFill/>
            </a:ln>
          </p:spPr>
        </p:pic>
        <p:sp>
          <p:nvSpPr>
            <p:cNvPr id="1529" name="Google Shape;1529;p84"/>
            <p:cNvSpPr txBox="1"/>
            <p:nvPr/>
          </p:nvSpPr>
          <p:spPr>
            <a:xfrm>
              <a:off x="8201575" y="2132979"/>
              <a:ext cx="540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Izzy</a:t>
              </a:r>
              <a:endParaRPr sz="1800">
                <a:latin typeface="Lexend"/>
                <a:ea typeface="Lexend"/>
                <a:cs typeface="Lexend"/>
                <a:sym typeface="Lexend"/>
              </a:endParaRPr>
            </a:p>
          </p:txBody>
        </p:sp>
      </p:grpSp>
      <p:sp>
        <p:nvSpPr>
          <p:cNvPr id="1530" name="Google Shape;1530;p84"/>
          <p:cNvSpPr txBox="1"/>
          <p:nvPr/>
        </p:nvSpPr>
        <p:spPr>
          <a:xfrm>
            <a:off x="7096356" y="35830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79 cm</a:t>
            </a:r>
            <a:endParaRPr sz="1800">
              <a:latin typeface="Lexend"/>
              <a:ea typeface="Lexend"/>
              <a:cs typeface="Lexend"/>
              <a:sym typeface="Lexend"/>
            </a:endParaRPr>
          </a:p>
        </p:txBody>
      </p:sp>
      <p:sp>
        <p:nvSpPr>
          <p:cNvPr id="1531" name="Google Shape;1531;p84"/>
          <p:cNvSpPr/>
          <p:nvPr/>
        </p:nvSpPr>
        <p:spPr>
          <a:xfrm>
            <a:off x="7281937" y="41757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2" name="Google Shape;1532;p84"/>
          <p:cNvSpPr/>
          <p:nvPr/>
        </p:nvSpPr>
        <p:spPr>
          <a:xfrm>
            <a:off x="6104604" y="29890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3" name="Google Shape;1533;p84"/>
          <p:cNvSpPr/>
          <p:nvPr/>
        </p:nvSpPr>
        <p:spPr>
          <a:xfrm>
            <a:off x="6104604" y="44417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34" name="Google Shape;1534;p84"/>
          <p:cNvCxnSpPr/>
          <p:nvPr/>
        </p:nvCxnSpPr>
        <p:spPr>
          <a:xfrm>
            <a:off x="6182510" y="2911101"/>
            <a:ext cx="1795800" cy="1795800"/>
          </a:xfrm>
          <a:prstGeom prst="straightConnector1">
            <a:avLst/>
          </a:prstGeom>
          <a:noFill/>
          <a:ln cap="flat" cmpd="sng" w="28575">
            <a:solidFill>
              <a:srgbClr val="845AD9"/>
            </a:solidFill>
            <a:prstDash val="solid"/>
            <a:round/>
            <a:headEnd len="med" w="med" type="triangle"/>
            <a:tailEnd len="med" w="med" type="triangle"/>
          </a:ln>
        </p:spPr>
      </p:cxnSp>
      <p:cxnSp>
        <p:nvCxnSpPr>
          <p:cNvPr id="1535" name="Google Shape;1535;p84"/>
          <p:cNvCxnSpPr/>
          <p:nvPr/>
        </p:nvCxnSpPr>
        <p:spPr>
          <a:xfrm>
            <a:off x="5961027" y="29890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1536" name="Google Shape;1536;p84"/>
          <p:cNvSpPr txBox="1"/>
          <p:nvPr/>
        </p:nvSpPr>
        <p:spPr>
          <a:xfrm>
            <a:off x="7275689" y="45394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1537" name="Google Shape;1537;p84"/>
          <p:cNvSpPr txBox="1"/>
          <p:nvPr/>
        </p:nvSpPr>
        <p:spPr>
          <a:xfrm>
            <a:off x="5314019" y="3755550"/>
            <a:ext cx="682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538" name="Google Shape;1538;p84"/>
          <p:cNvSpPr/>
          <p:nvPr/>
        </p:nvSpPr>
        <p:spPr>
          <a:xfrm>
            <a:off x="5257000" y="4046415"/>
            <a:ext cx="664200" cy="33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opp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539" name="Google Shape;1539;p84"/>
          <p:cNvSpPr/>
          <p:nvPr/>
        </p:nvSpPr>
        <p:spPr>
          <a:xfrm>
            <a:off x="7814425" y="3551409"/>
            <a:ext cx="664200" cy="33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hyp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540" name="Google Shape;1540;p84"/>
          <p:cNvSpPr txBox="1"/>
          <p:nvPr/>
        </p:nvSpPr>
        <p:spPr>
          <a:xfrm>
            <a:off x="4015538" y="3708584"/>
            <a:ext cx="1899600" cy="269700"/>
          </a:xfrm>
          <a:prstGeom prst="rect">
            <a:avLst/>
          </a:prstGeom>
          <a:solidFill>
            <a:schemeClr val="lt1"/>
          </a:solid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79 ×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(42°) cm</a:t>
            </a:r>
            <a:endParaRPr sz="1800">
              <a:latin typeface="Lexend"/>
              <a:ea typeface="Lexend"/>
              <a:cs typeface="Lexend"/>
              <a:sym typeface="Lexend"/>
            </a:endParaRPr>
          </a:p>
        </p:txBody>
      </p:sp>
      <p:sp>
        <p:nvSpPr>
          <p:cNvPr id="1541" name="Google Shape;1541;p84"/>
          <p:cNvSpPr txBox="1"/>
          <p:nvPr/>
        </p:nvSpPr>
        <p:spPr>
          <a:xfrm>
            <a:off x="4121251" y="3727675"/>
            <a:ext cx="1796100" cy="269700"/>
          </a:xfrm>
          <a:prstGeom prst="rect">
            <a:avLst/>
          </a:prstGeom>
          <a:solidFill>
            <a:schemeClr val="lt1"/>
          </a:solid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52.86 cm</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85"/>
          <p:cNvSpPr/>
          <p:nvPr/>
        </p:nvSpPr>
        <p:spPr>
          <a:xfrm>
            <a:off x="7869526" y="4124925"/>
            <a:ext cx="1208700" cy="1208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7" name="Google Shape;1547;p85"/>
          <p:cNvSpPr/>
          <p:nvPr/>
        </p:nvSpPr>
        <p:spPr>
          <a:xfrm>
            <a:off x="7017423" y="3265051"/>
            <a:ext cx="1473300" cy="14733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8" name="Google Shape;1548;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549" name="Google Shape;1549;p85"/>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pSp>
        <p:nvGrpSpPr>
          <p:cNvPr id="1550" name="Google Shape;1550;p85"/>
          <p:cNvGrpSpPr/>
          <p:nvPr/>
        </p:nvGrpSpPr>
        <p:grpSpPr>
          <a:xfrm>
            <a:off x="5196800" y="892300"/>
            <a:ext cx="3086427" cy="1163824"/>
            <a:chOff x="4719147" y="682196"/>
            <a:chExt cx="3552517" cy="1767656"/>
          </a:xfrm>
        </p:grpSpPr>
        <p:pic>
          <p:nvPicPr>
            <p:cNvPr id="1551" name="Google Shape;1551;p85"/>
            <p:cNvPicPr preferRelativeResize="0"/>
            <p:nvPr/>
          </p:nvPicPr>
          <p:blipFill rotWithShape="1">
            <a:blip r:embed="rId3">
              <a:alphaModFix/>
            </a:blip>
            <a:srcRect b="43690" l="0" r="57905" t="0"/>
            <a:stretch/>
          </p:blipFill>
          <p:spPr>
            <a:xfrm>
              <a:off x="4719147" y="682196"/>
              <a:ext cx="3552517" cy="1767656"/>
            </a:xfrm>
            <a:prstGeom prst="rect">
              <a:avLst/>
            </a:prstGeom>
            <a:noFill/>
            <a:ln>
              <a:noFill/>
            </a:ln>
          </p:spPr>
        </p:pic>
        <p:sp>
          <p:nvSpPr>
            <p:cNvPr id="1552" name="Google Shape;1552;p85"/>
            <p:cNvSpPr txBox="1"/>
            <p:nvPr/>
          </p:nvSpPr>
          <p:spPr>
            <a:xfrm>
              <a:off x="4781961" y="800151"/>
              <a:ext cx="33210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…b</a:t>
              </a:r>
              <a:r>
                <a:rPr lang="en-GB" sz="1800">
                  <a:solidFill>
                    <a:schemeClr val="dk1"/>
                  </a:solidFill>
                  <a:latin typeface="Lexend"/>
                  <a:ea typeface="Lexend"/>
                  <a:cs typeface="Lexend"/>
                  <a:sym typeface="Lexend"/>
                </a:rPr>
                <a:t>ut is it possible to find the size of an angle using the sine formula?</a:t>
              </a:r>
              <a:endParaRPr sz="1800">
                <a:solidFill>
                  <a:schemeClr val="dk1"/>
                </a:solidFill>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t/>
              </a:r>
              <a:endParaRPr sz="1800">
                <a:latin typeface="Lexend"/>
                <a:ea typeface="Lexend"/>
                <a:cs typeface="Lexend"/>
                <a:sym typeface="Lexend"/>
              </a:endParaRPr>
            </a:p>
          </p:txBody>
        </p:sp>
      </p:grpSp>
      <p:grpSp>
        <p:nvGrpSpPr>
          <p:cNvPr id="1553" name="Google Shape;1553;p85"/>
          <p:cNvGrpSpPr/>
          <p:nvPr/>
        </p:nvGrpSpPr>
        <p:grpSpPr>
          <a:xfrm>
            <a:off x="8123750" y="1498639"/>
            <a:ext cx="696250" cy="911539"/>
            <a:chOff x="8123750" y="1498639"/>
            <a:chExt cx="696250" cy="911539"/>
          </a:xfrm>
        </p:grpSpPr>
        <p:pic>
          <p:nvPicPr>
            <p:cNvPr id="1554" name="Google Shape;1554;p85"/>
            <p:cNvPicPr preferRelativeResize="0"/>
            <p:nvPr/>
          </p:nvPicPr>
          <p:blipFill>
            <a:blip r:embed="rId4">
              <a:alphaModFix/>
            </a:blip>
            <a:stretch>
              <a:fillRect/>
            </a:stretch>
          </p:blipFill>
          <p:spPr>
            <a:xfrm>
              <a:off x="8123750" y="1498639"/>
              <a:ext cx="696250" cy="673801"/>
            </a:xfrm>
            <a:prstGeom prst="rect">
              <a:avLst/>
            </a:prstGeom>
            <a:noFill/>
            <a:ln>
              <a:noFill/>
            </a:ln>
          </p:spPr>
        </p:pic>
        <p:sp>
          <p:nvSpPr>
            <p:cNvPr id="1555" name="Google Shape;1555;p85"/>
            <p:cNvSpPr txBox="1"/>
            <p:nvPr/>
          </p:nvSpPr>
          <p:spPr>
            <a:xfrm>
              <a:off x="8201575" y="2132979"/>
              <a:ext cx="540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Izzy</a:t>
              </a:r>
              <a:endParaRPr sz="1800">
                <a:latin typeface="Lexend"/>
                <a:ea typeface="Lexend"/>
                <a:cs typeface="Lexend"/>
                <a:sym typeface="Lexend"/>
              </a:endParaRPr>
            </a:p>
          </p:txBody>
        </p:sp>
      </p:grpSp>
      <p:sp>
        <p:nvSpPr>
          <p:cNvPr id="1556" name="Google Shape;1556;p85"/>
          <p:cNvSpPr txBox="1"/>
          <p:nvPr/>
        </p:nvSpPr>
        <p:spPr>
          <a:xfrm>
            <a:off x="7830905" y="375232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557" name="Google Shape;1557;p85"/>
          <p:cNvSpPr/>
          <p:nvPr/>
        </p:nvSpPr>
        <p:spPr>
          <a:xfrm>
            <a:off x="7017423" y="4456682"/>
            <a:ext cx="281400" cy="281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58" name="Google Shape;1558;p85"/>
          <p:cNvCxnSpPr/>
          <p:nvPr/>
        </p:nvCxnSpPr>
        <p:spPr>
          <a:xfrm>
            <a:off x="7081325" y="3201150"/>
            <a:ext cx="1473000" cy="1473000"/>
          </a:xfrm>
          <a:prstGeom prst="straightConnector1">
            <a:avLst/>
          </a:prstGeom>
          <a:noFill/>
          <a:ln cap="flat" cmpd="sng" w="28575">
            <a:solidFill>
              <a:srgbClr val="845AD9"/>
            </a:solidFill>
            <a:prstDash val="solid"/>
            <a:round/>
            <a:headEnd len="med" w="med" type="triangle"/>
            <a:tailEnd len="med" w="med" type="triangle"/>
          </a:ln>
        </p:spPr>
      </p:cxnSp>
      <p:cxnSp>
        <p:nvCxnSpPr>
          <p:cNvPr id="1559" name="Google Shape;1559;p85"/>
          <p:cNvCxnSpPr/>
          <p:nvPr/>
        </p:nvCxnSpPr>
        <p:spPr>
          <a:xfrm>
            <a:off x="6899655" y="3265051"/>
            <a:ext cx="0" cy="1478400"/>
          </a:xfrm>
          <a:prstGeom prst="straightConnector1">
            <a:avLst/>
          </a:prstGeom>
          <a:noFill/>
          <a:ln cap="flat" cmpd="sng" w="28575">
            <a:solidFill>
              <a:srgbClr val="845AD9"/>
            </a:solidFill>
            <a:prstDash val="solid"/>
            <a:round/>
            <a:headEnd len="med" w="med" type="triangle"/>
            <a:tailEnd len="med" w="med" type="triangle"/>
          </a:ln>
        </p:spPr>
      </p:cxnSp>
      <p:sp>
        <p:nvSpPr>
          <p:cNvPr id="1560" name="Google Shape;1560;p85"/>
          <p:cNvSpPr/>
          <p:nvPr/>
        </p:nvSpPr>
        <p:spPr>
          <a:xfrm>
            <a:off x="6129478" y="4132375"/>
            <a:ext cx="696300" cy="27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opp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561" name="Google Shape;1561;p85"/>
          <p:cNvSpPr/>
          <p:nvPr/>
        </p:nvSpPr>
        <p:spPr>
          <a:xfrm>
            <a:off x="7844408" y="3468050"/>
            <a:ext cx="696300" cy="27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hyp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562" name="Google Shape;1562;p85"/>
          <p:cNvSpPr txBox="1"/>
          <p:nvPr/>
        </p:nvSpPr>
        <p:spPr>
          <a:xfrm>
            <a:off x="7977997" y="4513631"/>
            <a:ext cx="375000" cy="18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latin typeface="Lexend"/>
                <a:ea typeface="Lexend"/>
                <a:cs typeface="Lexend"/>
                <a:sym typeface="Lexend"/>
              </a:rPr>
              <a:t>°</a:t>
            </a:r>
            <a:endParaRPr sz="1800">
              <a:latin typeface="Lexend"/>
              <a:ea typeface="Lexend"/>
              <a:cs typeface="Lexend"/>
              <a:sym typeface="Lexend"/>
            </a:endParaRPr>
          </a:p>
        </p:txBody>
      </p:sp>
      <p:sp>
        <p:nvSpPr>
          <p:cNvPr id="1563" name="Google Shape;1563;p85"/>
          <p:cNvSpPr txBox="1"/>
          <p:nvPr/>
        </p:nvSpPr>
        <p:spPr>
          <a:xfrm>
            <a:off x="5390593" y="3870941"/>
            <a:ext cx="1473300" cy="221100"/>
          </a:xfrm>
          <a:prstGeom prst="rect">
            <a:avLst/>
          </a:prstGeom>
          <a:solidFill>
            <a:schemeClr val="lt1"/>
          </a:solid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7.07 cm</a:t>
            </a:r>
            <a:endParaRPr sz="1800">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568" name="Google Shape;1568;p86" title="opp over h equals sine theta degrees opp over sine theta degrees equals h h times sine theta degrees equals opp"/>
          <p:cNvPicPr preferRelativeResize="0"/>
          <p:nvPr/>
        </p:nvPicPr>
        <p:blipFill rotWithShape="1">
          <a:blip r:embed="rId3">
            <a:alphaModFix/>
          </a:blip>
          <a:srcRect b="0" l="0" r="71652" t="0"/>
          <a:stretch/>
        </p:blipFill>
        <p:spPr>
          <a:xfrm>
            <a:off x="3704208" y="1319230"/>
            <a:ext cx="1585551" cy="582525"/>
          </a:xfrm>
          <a:prstGeom prst="rect">
            <a:avLst/>
          </a:prstGeom>
          <a:noFill/>
          <a:ln>
            <a:noFill/>
          </a:ln>
        </p:spPr>
      </p:pic>
      <p:sp>
        <p:nvSpPr>
          <p:cNvPr id="1569" name="Google Shape;1569;p86"/>
          <p:cNvSpPr/>
          <p:nvPr/>
        </p:nvSpPr>
        <p:spPr>
          <a:xfrm>
            <a:off x="3655700" y="1246826"/>
            <a:ext cx="1734900" cy="660600"/>
          </a:xfrm>
          <a:prstGeom prst="rect">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sz="1800">
              <a:solidFill>
                <a:srgbClr val="FFFFFF"/>
              </a:solidFill>
              <a:latin typeface="Lexend"/>
              <a:ea typeface="Lexend"/>
              <a:cs typeface="Lexend"/>
              <a:sym typeface="Lexend"/>
            </a:endParaRPr>
          </a:p>
        </p:txBody>
      </p:sp>
      <p:sp>
        <p:nvSpPr>
          <p:cNvPr id="1570" name="Google Shape;1570;p86"/>
          <p:cNvSpPr/>
          <p:nvPr/>
        </p:nvSpPr>
        <p:spPr>
          <a:xfrm>
            <a:off x="7869526" y="4124925"/>
            <a:ext cx="1208700" cy="1208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1" name="Google Shape;1571;p86"/>
          <p:cNvSpPr txBox="1"/>
          <p:nvPr/>
        </p:nvSpPr>
        <p:spPr>
          <a:xfrm>
            <a:off x="5532998" y="2825192"/>
            <a:ext cx="12258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0.707</a:t>
            </a:r>
            <a:endParaRPr sz="2000">
              <a:latin typeface="Times New Roman"/>
              <a:ea typeface="Times New Roman"/>
              <a:cs typeface="Times New Roman"/>
              <a:sym typeface="Times New Roman"/>
            </a:endParaRPr>
          </a:p>
        </p:txBody>
      </p:sp>
      <p:sp>
        <p:nvSpPr>
          <p:cNvPr id="1572" name="Google Shape;1572;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573" name="Google Shape;1573;p86"/>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574" name="Google Shape;1574;p86"/>
          <p:cNvSpPr txBox="1"/>
          <p:nvPr/>
        </p:nvSpPr>
        <p:spPr>
          <a:xfrm>
            <a:off x="3032475" y="624353"/>
            <a:ext cx="57876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use the version of the sine formula where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is the subject.</a:t>
            </a:r>
            <a:endParaRPr sz="1800">
              <a:latin typeface="Lexend"/>
              <a:ea typeface="Lexend"/>
              <a:cs typeface="Lexend"/>
              <a:sym typeface="Lexend"/>
            </a:endParaRPr>
          </a:p>
        </p:txBody>
      </p:sp>
      <p:sp>
        <p:nvSpPr>
          <p:cNvPr id="1575" name="Google Shape;1575;p86"/>
          <p:cNvSpPr txBox="1"/>
          <p:nvPr/>
        </p:nvSpPr>
        <p:spPr>
          <a:xfrm>
            <a:off x="7830905" y="375232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 cm</a:t>
            </a:r>
            <a:endParaRPr sz="1800">
              <a:latin typeface="Lexend"/>
              <a:ea typeface="Lexend"/>
              <a:cs typeface="Lexend"/>
              <a:sym typeface="Lexend"/>
            </a:endParaRPr>
          </a:p>
        </p:txBody>
      </p:sp>
      <p:sp>
        <p:nvSpPr>
          <p:cNvPr id="1576" name="Google Shape;1576;p86"/>
          <p:cNvSpPr/>
          <p:nvPr/>
        </p:nvSpPr>
        <p:spPr>
          <a:xfrm>
            <a:off x="7017423" y="4456682"/>
            <a:ext cx="281400" cy="281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77" name="Google Shape;1577;p86"/>
          <p:cNvCxnSpPr/>
          <p:nvPr/>
        </p:nvCxnSpPr>
        <p:spPr>
          <a:xfrm>
            <a:off x="7081325" y="3201150"/>
            <a:ext cx="1473000" cy="1473000"/>
          </a:xfrm>
          <a:prstGeom prst="straightConnector1">
            <a:avLst/>
          </a:prstGeom>
          <a:noFill/>
          <a:ln cap="flat" cmpd="sng" w="28575">
            <a:solidFill>
              <a:srgbClr val="845AD9"/>
            </a:solidFill>
            <a:prstDash val="solid"/>
            <a:round/>
            <a:headEnd len="med" w="med" type="triangle"/>
            <a:tailEnd len="med" w="med" type="triangle"/>
          </a:ln>
        </p:spPr>
      </p:cxnSp>
      <p:cxnSp>
        <p:nvCxnSpPr>
          <p:cNvPr id="1578" name="Google Shape;1578;p86"/>
          <p:cNvCxnSpPr/>
          <p:nvPr/>
        </p:nvCxnSpPr>
        <p:spPr>
          <a:xfrm>
            <a:off x="6899655" y="3265051"/>
            <a:ext cx="0" cy="1478400"/>
          </a:xfrm>
          <a:prstGeom prst="straightConnector1">
            <a:avLst/>
          </a:prstGeom>
          <a:noFill/>
          <a:ln cap="flat" cmpd="sng" w="28575">
            <a:solidFill>
              <a:srgbClr val="845AD9"/>
            </a:solidFill>
            <a:prstDash val="solid"/>
            <a:round/>
            <a:headEnd len="med" w="med" type="triangle"/>
            <a:tailEnd len="med" w="med" type="triangle"/>
          </a:ln>
        </p:spPr>
      </p:cxnSp>
      <p:sp>
        <p:nvSpPr>
          <p:cNvPr id="1579" name="Google Shape;1579;p86"/>
          <p:cNvSpPr/>
          <p:nvPr/>
        </p:nvSpPr>
        <p:spPr>
          <a:xfrm>
            <a:off x="6129478" y="4132375"/>
            <a:ext cx="696300" cy="27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opp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580" name="Google Shape;1580;p86"/>
          <p:cNvSpPr/>
          <p:nvPr/>
        </p:nvSpPr>
        <p:spPr>
          <a:xfrm>
            <a:off x="7844408" y="3468050"/>
            <a:ext cx="696300" cy="27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hyp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581" name="Google Shape;1581;p86"/>
          <p:cNvSpPr txBox="1"/>
          <p:nvPr/>
        </p:nvSpPr>
        <p:spPr>
          <a:xfrm>
            <a:off x="7977997" y="4513631"/>
            <a:ext cx="375000" cy="18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latin typeface="Lexend"/>
                <a:ea typeface="Lexend"/>
                <a:cs typeface="Lexend"/>
                <a:sym typeface="Lexend"/>
              </a:rPr>
              <a:t>°</a:t>
            </a:r>
            <a:endParaRPr sz="1800">
              <a:latin typeface="Lexend"/>
              <a:ea typeface="Lexend"/>
              <a:cs typeface="Lexend"/>
              <a:sym typeface="Lexend"/>
            </a:endParaRPr>
          </a:p>
        </p:txBody>
      </p:sp>
      <p:sp>
        <p:nvSpPr>
          <p:cNvPr id="1582" name="Google Shape;1582;p86"/>
          <p:cNvSpPr txBox="1"/>
          <p:nvPr/>
        </p:nvSpPr>
        <p:spPr>
          <a:xfrm>
            <a:off x="3032475" y="2118203"/>
            <a:ext cx="5787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Substitute the lengths of the hypotenuse and the side opposite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583" name="Google Shape;1583;p86"/>
          <p:cNvSpPr txBox="1"/>
          <p:nvPr/>
        </p:nvSpPr>
        <p:spPr>
          <a:xfrm>
            <a:off x="5390593" y="3870941"/>
            <a:ext cx="1473300" cy="221100"/>
          </a:xfrm>
          <a:prstGeom prst="rect">
            <a:avLst/>
          </a:prstGeom>
          <a:solidFill>
            <a:schemeClr val="lt1"/>
          </a:solidFill>
          <a:ln>
            <a:noFill/>
          </a:ln>
        </p:spPr>
        <p:txBody>
          <a:bodyPr anchorCtr="0" anchor="ctr" bIns="0" lIns="0" spcFirstLastPara="1" rIns="0" wrap="square" tIns="0">
            <a:noAutofit/>
          </a:bodyPr>
          <a:lstStyle/>
          <a:p>
            <a:pPr indent="0" lvl="0" marL="0" rtl="0" algn="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7.07 cm</a:t>
            </a:r>
            <a:endParaRPr sz="1800">
              <a:latin typeface="Lexend"/>
              <a:ea typeface="Lexend"/>
              <a:cs typeface="Lexend"/>
              <a:sym typeface="Lexend"/>
            </a:endParaRPr>
          </a:p>
        </p:txBody>
      </p:sp>
      <p:pic>
        <p:nvPicPr>
          <p:cNvPr descr="&lt;math xmlns=&quot;http://www.w3.org/1998/Math/MathML&quot; display=&quot;block&quot; data-is-equatio=&quot;1&quot; data-latex=&quot;\sin\left(\theta°\right)=\frac{opp}{h}\ \ \ \ \ \ \ \ \ \ \ \ \ h=\frac{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o&lt;/mi&gt;&lt;mi&gt;p&lt;/mi&gt;&lt;mi&gt;p&lt;/mi&gt;&lt;/mrow&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584" name="Google Shape;1584;p86" title="sine theta degrees equals o p p over h h equals o p p over sine theta degrees"/>
          <p:cNvPicPr preferRelativeResize="0"/>
          <p:nvPr/>
        </p:nvPicPr>
        <p:blipFill rotWithShape="1">
          <a:blip r:embed="rId4">
            <a:alphaModFix/>
          </a:blip>
          <a:srcRect b="0" l="0" r="72192" t="0"/>
          <a:stretch/>
        </p:blipFill>
        <p:spPr>
          <a:xfrm>
            <a:off x="3800950" y="2711320"/>
            <a:ext cx="1034571" cy="554100"/>
          </a:xfrm>
          <a:prstGeom prst="rect">
            <a:avLst/>
          </a:prstGeom>
          <a:noFill/>
          <a:ln>
            <a:noFill/>
          </a:ln>
        </p:spPr>
      </p:pic>
      <p:sp>
        <p:nvSpPr>
          <p:cNvPr id="1585" name="Google Shape;1585;p86"/>
          <p:cNvSpPr txBox="1"/>
          <p:nvPr/>
        </p:nvSpPr>
        <p:spPr>
          <a:xfrm>
            <a:off x="3032475" y="3540900"/>
            <a:ext cx="23586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To find the angle, we find 0.707 in the sine column and check its corresponding angle.</a:t>
            </a:r>
            <a:endParaRPr sz="1800">
              <a:latin typeface="Lexend"/>
              <a:ea typeface="Lexend"/>
              <a:cs typeface="Lexend"/>
              <a:sym typeface="Lexend"/>
            </a:endParaRPr>
          </a:p>
        </p:txBody>
      </p:sp>
      <p:grpSp>
        <p:nvGrpSpPr>
          <p:cNvPr id="1586" name="Google Shape;1586;p86"/>
          <p:cNvGrpSpPr/>
          <p:nvPr/>
        </p:nvGrpSpPr>
        <p:grpSpPr>
          <a:xfrm>
            <a:off x="4809701" y="2729095"/>
            <a:ext cx="723300" cy="448000"/>
            <a:chOff x="4885901" y="2729095"/>
            <a:chExt cx="723300" cy="448000"/>
          </a:xfrm>
        </p:grpSpPr>
        <p:sp>
          <p:nvSpPr>
            <p:cNvPr id="1587" name="Google Shape;1587;p86"/>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Times New Roman"/>
                  <a:ea typeface="Times New Roman"/>
                  <a:cs typeface="Times New Roman"/>
                  <a:sym typeface="Times New Roman"/>
                </a:rPr>
                <a:t>10</a:t>
              </a:r>
              <a:endParaRPr sz="1800">
                <a:latin typeface="Times New Roman"/>
                <a:ea typeface="Times New Roman"/>
                <a:cs typeface="Times New Roman"/>
                <a:sym typeface="Times New Roman"/>
              </a:endParaRPr>
            </a:p>
          </p:txBody>
        </p:sp>
        <p:sp>
          <p:nvSpPr>
            <p:cNvPr id="1588" name="Google Shape;1588;p86"/>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Times New Roman"/>
                  <a:ea typeface="Times New Roman"/>
                  <a:cs typeface="Times New Roman"/>
                  <a:sym typeface="Times New Roman"/>
                </a:rPr>
                <a:t>7.07</a:t>
              </a:r>
              <a:endParaRPr sz="1800">
                <a:latin typeface="Times New Roman"/>
                <a:ea typeface="Times New Roman"/>
                <a:cs typeface="Times New Roman"/>
                <a:sym typeface="Times New Roman"/>
              </a:endParaRPr>
            </a:p>
          </p:txBody>
        </p:sp>
        <p:cxnSp>
          <p:nvCxnSpPr>
            <p:cNvPr id="1589" name="Google Shape;1589;p86"/>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1590" name="Google Shape;1590;p86"/>
          <p:cNvSpPr/>
          <p:nvPr/>
        </p:nvSpPr>
        <p:spPr>
          <a:xfrm>
            <a:off x="939550" y="629400"/>
            <a:ext cx="615600" cy="209700"/>
          </a:xfrm>
          <a:prstGeom prst="rect">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sine</a:t>
            </a:r>
            <a:endParaRPr sz="1800">
              <a:solidFill>
                <a:srgbClr val="FFFFFF"/>
              </a:solidFill>
              <a:latin typeface="Lexend"/>
              <a:ea typeface="Lexend"/>
              <a:cs typeface="Lexend"/>
              <a:sym typeface="Lexend"/>
            </a:endParaRPr>
          </a:p>
        </p:txBody>
      </p:sp>
      <p:sp>
        <p:nvSpPr>
          <p:cNvPr id="1591" name="Google Shape;1591;p86"/>
          <p:cNvSpPr/>
          <p:nvPr/>
        </p:nvSpPr>
        <p:spPr>
          <a:xfrm>
            <a:off x="324000" y="2724900"/>
            <a:ext cx="615600" cy="2097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45</a:t>
            </a:r>
            <a:endParaRPr sz="1800">
              <a:solidFill>
                <a:srgbClr val="000000"/>
              </a:solidFill>
              <a:latin typeface="Lexend"/>
              <a:ea typeface="Lexend"/>
              <a:cs typeface="Lexend"/>
              <a:sym typeface="Lexend"/>
            </a:endParaRPr>
          </a:p>
        </p:txBody>
      </p:sp>
      <p:sp>
        <p:nvSpPr>
          <p:cNvPr id="1592" name="Google Shape;1592;p86"/>
          <p:cNvSpPr/>
          <p:nvPr/>
        </p:nvSpPr>
        <p:spPr>
          <a:xfrm>
            <a:off x="939550" y="2724900"/>
            <a:ext cx="615600" cy="2097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0.707</a:t>
            </a:r>
            <a:endParaRPr sz="1800">
              <a:solidFill>
                <a:srgbClr val="000000"/>
              </a:solidFill>
              <a:latin typeface="Lexend"/>
              <a:ea typeface="Lexend"/>
              <a:cs typeface="Lexend"/>
              <a:sym typeface="Lexend"/>
            </a:endParaRPr>
          </a:p>
        </p:txBody>
      </p:sp>
      <p:sp>
        <p:nvSpPr>
          <p:cNvPr id="1593" name="Google Shape;1593;p86"/>
          <p:cNvSpPr txBox="1"/>
          <p:nvPr/>
        </p:nvSpPr>
        <p:spPr>
          <a:xfrm>
            <a:off x="7850428" y="4513625"/>
            <a:ext cx="471300" cy="18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45°</a:t>
            </a:r>
            <a:endParaRPr sz="1800">
              <a:latin typeface="Lexend"/>
              <a:ea typeface="Lexend"/>
              <a:cs typeface="Lexend"/>
              <a:sym typeface="Lexend"/>
            </a:endParaRPr>
          </a:p>
        </p:txBody>
      </p:sp>
      <p:sp>
        <p:nvSpPr>
          <p:cNvPr id="1594" name="Google Shape;1594;p86"/>
          <p:cNvSpPr/>
          <p:nvPr/>
        </p:nvSpPr>
        <p:spPr>
          <a:xfrm>
            <a:off x="5707648" y="2804816"/>
            <a:ext cx="723300" cy="2463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Times New Roman"/>
                <a:ea typeface="Times New Roman"/>
                <a:cs typeface="Times New Roman"/>
                <a:sym typeface="Times New Roman"/>
              </a:rPr>
              <a:t>0.707</a:t>
            </a:r>
            <a:endParaRPr sz="1800">
              <a:solidFill>
                <a:srgbClr val="000000"/>
              </a:solidFill>
              <a:latin typeface="Times New Roman"/>
              <a:ea typeface="Times New Roman"/>
              <a:cs typeface="Times New Roman"/>
              <a:sym typeface="Times New Roman"/>
            </a:endParaRPr>
          </a:p>
        </p:txBody>
      </p:sp>
      <p:sp>
        <p:nvSpPr>
          <p:cNvPr id="1595" name="Google Shape;1595;p86"/>
          <p:cNvSpPr/>
          <p:nvPr/>
        </p:nvSpPr>
        <p:spPr>
          <a:xfrm>
            <a:off x="7017423" y="3265051"/>
            <a:ext cx="1473300" cy="14733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8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pic>
        <p:nvPicPr>
          <p:cNvPr descr="&lt;math xmlns=&quot;http://www.w3.org/1998/Math/MathML&quot; display=&quot;block&quot; data-is-equatio=&quot;1&quot; data-latex=&quot;\sin\left(\theta°\right)=\frac{\text{opp}}{h}\ \ \ \ \ \ \ \ \ \ \ \ \ h=\frac{\text{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text&gt;opp&lt;/mtext&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00" name="Google Shape;1600;p87" title="sine theta degrees equals opp over h h equals opp over sine theta degrees"/>
          <p:cNvPicPr preferRelativeResize="0"/>
          <p:nvPr/>
        </p:nvPicPr>
        <p:blipFill rotWithShape="1">
          <a:blip r:embed="rId3">
            <a:alphaModFix/>
          </a:blip>
          <a:srcRect b="0" l="0" r="52428" t="0"/>
          <a:stretch/>
        </p:blipFill>
        <p:spPr>
          <a:xfrm>
            <a:off x="3729549" y="2478325"/>
            <a:ext cx="1755900" cy="561600"/>
          </a:xfrm>
          <a:prstGeom prst="rect">
            <a:avLst/>
          </a:prstGeom>
          <a:noFill/>
          <a:ln>
            <a:noFill/>
          </a:ln>
        </p:spPr>
      </p:pic>
      <p:sp>
        <p:nvSpPr>
          <p:cNvPr id="1601" name="Google Shape;1601;p87"/>
          <p:cNvSpPr txBox="1"/>
          <p:nvPr/>
        </p:nvSpPr>
        <p:spPr>
          <a:xfrm>
            <a:off x="5532998" y="3358592"/>
            <a:ext cx="12258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0.94</a:t>
            </a:r>
            <a:endParaRPr sz="2000">
              <a:latin typeface="Times New Roman"/>
              <a:ea typeface="Times New Roman"/>
              <a:cs typeface="Times New Roman"/>
              <a:sym typeface="Times New Roman"/>
            </a:endParaRPr>
          </a:p>
        </p:txBody>
      </p:sp>
      <p:sp>
        <p:nvSpPr>
          <p:cNvPr id="1602" name="Google Shape;1602;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603" name="Google Shape;1603;p87"/>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04" name="Google Shape;1604;p87"/>
          <p:cNvSpPr/>
          <p:nvPr/>
        </p:nvSpPr>
        <p:spPr>
          <a:xfrm>
            <a:off x="939550" y="629400"/>
            <a:ext cx="615600" cy="209700"/>
          </a:xfrm>
          <a:prstGeom prst="rect">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sine</a:t>
            </a:r>
            <a:endParaRPr sz="1800">
              <a:solidFill>
                <a:srgbClr val="FFFFFF"/>
              </a:solidFill>
              <a:latin typeface="Lexend"/>
              <a:ea typeface="Lexend"/>
              <a:cs typeface="Lexend"/>
              <a:sym typeface="Lexend"/>
            </a:endParaRPr>
          </a:p>
        </p:txBody>
      </p:sp>
      <p:sp>
        <p:nvSpPr>
          <p:cNvPr id="1605" name="Google Shape;1605;p87"/>
          <p:cNvSpPr/>
          <p:nvPr/>
        </p:nvSpPr>
        <p:spPr>
          <a:xfrm>
            <a:off x="324000" y="3780000"/>
            <a:ext cx="615600" cy="2097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70</a:t>
            </a:r>
            <a:endParaRPr sz="1800">
              <a:solidFill>
                <a:srgbClr val="000000"/>
              </a:solidFill>
              <a:latin typeface="Lexend"/>
              <a:ea typeface="Lexend"/>
              <a:cs typeface="Lexend"/>
              <a:sym typeface="Lexend"/>
            </a:endParaRPr>
          </a:p>
        </p:txBody>
      </p:sp>
      <p:sp>
        <p:nvSpPr>
          <p:cNvPr id="1606" name="Google Shape;1606;p87"/>
          <p:cNvSpPr/>
          <p:nvPr/>
        </p:nvSpPr>
        <p:spPr>
          <a:xfrm>
            <a:off x="939550" y="3780000"/>
            <a:ext cx="615600" cy="2097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0.94</a:t>
            </a:r>
            <a:endParaRPr sz="1800">
              <a:solidFill>
                <a:srgbClr val="000000"/>
              </a:solidFill>
              <a:latin typeface="Lexend"/>
              <a:ea typeface="Lexend"/>
              <a:cs typeface="Lexend"/>
              <a:sym typeface="Lexend"/>
            </a:endParaRPr>
          </a:p>
        </p:txBody>
      </p:sp>
      <p:sp>
        <p:nvSpPr>
          <p:cNvPr id="1607" name="Google Shape;1607;p87"/>
          <p:cNvSpPr txBox="1"/>
          <p:nvPr/>
        </p:nvSpPr>
        <p:spPr>
          <a:xfrm>
            <a:off x="3032475" y="624350"/>
            <a:ext cx="3224400" cy="1446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Izzy has found the value of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for this triangle.</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By using the lookup table, find the size of the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sin\left(\theta°\right)=\frac{opp}{h}\ \ \ \ \ \ \ \ \ \ \ \ \ h=\frac{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o&lt;/mi&gt;&lt;mi&gt;p&lt;/mi&gt;&lt;mi&gt;p&lt;/mi&gt;&lt;/mrow&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08" name="Google Shape;1608;p87" title="sine theta degrees equals o p p over h h equals o p p over sine theta degrees"/>
          <p:cNvPicPr preferRelativeResize="0"/>
          <p:nvPr/>
        </p:nvPicPr>
        <p:blipFill rotWithShape="1">
          <a:blip r:embed="rId4">
            <a:alphaModFix/>
          </a:blip>
          <a:srcRect b="0" l="0" r="72192" t="0"/>
          <a:stretch/>
        </p:blipFill>
        <p:spPr>
          <a:xfrm>
            <a:off x="3723600" y="3233400"/>
            <a:ext cx="1048576" cy="561600"/>
          </a:xfrm>
          <a:prstGeom prst="rect">
            <a:avLst/>
          </a:prstGeom>
          <a:noFill/>
          <a:ln>
            <a:noFill/>
          </a:ln>
        </p:spPr>
      </p:pic>
      <p:grpSp>
        <p:nvGrpSpPr>
          <p:cNvPr id="1609" name="Google Shape;1609;p87"/>
          <p:cNvGrpSpPr/>
          <p:nvPr/>
        </p:nvGrpSpPr>
        <p:grpSpPr>
          <a:xfrm>
            <a:off x="4809701" y="3262495"/>
            <a:ext cx="723300" cy="448000"/>
            <a:chOff x="4885901" y="2729095"/>
            <a:chExt cx="723300" cy="448000"/>
          </a:xfrm>
        </p:grpSpPr>
        <p:sp>
          <p:nvSpPr>
            <p:cNvPr id="1610" name="Google Shape;1610;p87"/>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Times New Roman"/>
                  <a:ea typeface="Times New Roman"/>
                  <a:cs typeface="Times New Roman"/>
                  <a:sym typeface="Times New Roman"/>
                </a:rPr>
                <a:t>25</a:t>
              </a:r>
              <a:endParaRPr sz="1800">
                <a:latin typeface="Times New Roman"/>
                <a:ea typeface="Times New Roman"/>
                <a:cs typeface="Times New Roman"/>
                <a:sym typeface="Times New Roman"/>
              </a:endParaRPr>
            </a:p>
          </p:txBody>
        </p:sp>
        <p:sp>
          <p:nvSpPr>
            <p:cNvPr id="1611" name="Google Shape;1611;p87"/>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Times New Roman"/>
                  <a:ea typeface="Times New Roman"/>
                  <a:cs typeface="Times New Roman"/>
                  <a:sym typeface="Times New Roman"/>
                </a:rPr>
                <a:t>23.5</a:t>
              </a:r>
              <a:endParaRPr sz="1800">
                <a:latin typeface="Times New Roman"/>
                <a:ea typeface="Times New Roman"/>
                <a:cs typeface="Times New Roman"/>
                <a:sym typeface="Times New Roman"/>
              </a:endParaRPr>
            </a:p>
          </p:txBody>
        </p:sp>
        <p:cxnSp>
          <p:nvCxnSpPr>
            <p:cNvPr id="1612" name="Google Shape;1612;p87"/>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1613" name="Google Shape;1613;p87"/>
          <p:cNvSpPr/>
          <p:nvPr/>
        </p:nvSpPr>
        <p:spPr>
          <a:xfrm>
            <a:off x="5910325" y="780626"/>
            <a:ext cx="1367700" cy="13680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4" name="Google Shape;1614;p87"/>
          <p:cNvSpPr/>
          <p:nvPr/>
        </p:nvSpPr>
        <p:spPr>
          <a:xfrm rot="2363554">
            <a:off x="7479617" y="2063092"/>
            <a:ext cx="175850" cy="17585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5" name="Google Shape;1615;p87"/>
          <p:cNvSpPr txBox="1"/>
          <p:nvPr/>
        </p:nvSpPr>
        <p:spPr>
          <a:xfrm>
            <a:off x="7911356" y="1986694"/>
            <a:ext cx="1009500" cy="226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23.5 cm</a:t>
            </a:r>
            <a:endParaRPr sz="1800">
              <a:latin typeface="Lexend"/>
              <a:ea typeface="Lexend"/>
              <a:cs typeface="Lexend"/>
              <a:sym typeface="Lexend"/>
            </a:endParaRPr>
          </a:p>
        </p:txBody>
      </p:sp>
      <p:sp>
        <p:nvSpPr>
          <p:cNvPr id="1616" name="Google Shape;1616;p87"/>
          <p:cNvSpPr txBox="1"/>
          <p:nvPr/>
        </p:nvSpPr>
        <p:spPr>
          <a:xfrm flipH="1">
            <a:off x="6766849" y="1460847"/>
            <a:ext cx="528900" cy="226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617" name="Google Shape;1617;p87"/>
          <p:cNvSpPr txBox="1"/>
          <p:nvPr/>
        </p:nvSpPr>
        <p:spPr>
          <a:xfrm>
            <a:off x="6932650" y="2941800"/>
            <a:ext cx="17559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GB" sz="2000">
                <a:solidFill>
                  <a:schemeClr val="dk1"/>
                </a:solidFill>
                <a:latin typeface="Kalam"/>
                <a:ea typeface="Kalam"/>
                <a:cs typeface="Kalam"/>
                <a:sym typeface="Kalam"/>
              </a:rPr>
              <a:t>θ</a:t>
            </a:r>
            <a:r>
              <a:rPr lang="en-GB" sz="2000">
                <a:solidFill>
                  <a:schemeClr val="dk1"/>
                </a:solidFill>
                <a:latin typeface="Kalam"/>
                <a:ea typeface="Kalam"/>
                <a:cs typeface="Kalam"/>
                <a:sym typeface="Kalam"/>
              </a:rPr>
              <a:t>° = 70°</a:t>
            </a:r>
            <a:endParaRPr sz="2000">
              <a:solidFill>
                <a:schemeClr val="dk1"/>
              </a:solidFill>
              <a:latin typeface="Kalam"/>
              <a:ea typeface="Kalam"/>
              <a:cs typeface="Kalam"/>
              <a:sym typeface="Kalam"/>
            </a:endParaRPr>
          </a:p>
        </p:txBody>
      </p:sp>
      <p:sp>
        <p:nvSpPr>
          <p:cNvPr id="1618" name="Google Shape;1618;p87"/>
          <p:cNvSpPr/>
          <p:nvPr/>
        </p:nvSpPr>
        <p:spPr>
          <a:xfrm rot="-3033169">
            <a:off x="6873144" y="778932"/>
            <a:ext cx="1150856" cy="1286051"/>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9" name="Google Shape;1619;p87"/>
          <p:cNvSpPr txBox="1"/>
          <p:nvPr/>
        </p:nvSpPr>
        <p:spPr>
          <a:xfrm>
            <a:off x="6846606" y="1053022"/>
            <a:ext cx="1216800" cy="226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25 cm</a:t>
            </a:r>
            <a:endParaRPr sz="1800">
              <a:latin typeface="Lexend"/>
              <a:ea typeface="Lexend"/>
              <a:cs typeface="Lexend"/>
              <a:sym typeface="Lexend"/>
            </a:endParaRPr>
          </a:p>
        </p:txBody>
      </p:sp>
      <p:pic>
        <p:nvPicPr>
          <p:cNvPr id="1620" name="Google Shape;1620;p87"/>
          <p:cNvPicPr preferRelativeResize="0"/>
          <p:nvPr/>
        </p:nvPicPr>
        <p:blipFill>
          <a:blip r:embed="rId5">
            <a:alphaModFix/>
          </a:blip>
          <a:stretch>
            <a:fillRect/>
          </a:stretch>
        </p:blipFill>
        <p:spPr>
          <a:xfrm rot="-136582">
            <a:off x="6473791" y="1241901"/>
            <a:ext cx="1962418" cy="1197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pic>
        <p:nvPicPr>
          <p:cNvPr descr="&lt;math xmlns=&quot;http://www.w3.org/1998/Math/MathML&quot; display=&quot;block&quot; data-is-equatio=&quot;1&quot; data-latex=&quot;\sin\left(\theta°\right)=\frac{\text{opp}}{h}\ \ \ \ \ \ \ \ \ \ \ \ \ h=\frac{\text{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text&gt;opp&lt;/mtext&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25" name="Google Shape;1625;p88" title="sine theta degrees equals opp over h h equals opp over sine theta degrees"/>
          <p:cNvPicPr preferRelativeResize="0"/>
          <p:nvPr/>
        </p:nvPicPr>
        <p:blipFill rotWithShape="1">
          <a:blip r:embed="rId3">
            <a:alphaModFix/>
          </a:blip>
          <a:srcRect b="0" l="0" r="52428" t="0"/>
          <a:stretch/>
        </p:blipFill>
        <p:spPr>
          <a:xfrm>
            <a:off x="3729522" y="3081692"/>
            <a:ext cx="1755900" cy="561600"/>
          </a:xfrm>
          <a:prstGeom prst="rect">
            <a:avLst/>
          </a:prstGeom>
          <a:noFill/>
          <a:ln>
            <a:noFill/>
          </a:ln>
        </p:spPr>
      </p:pic>
      <p:sp>
        <p:nvSpPr>
          <p:cNvPr id="1626" name="Google Shape;1626;p88"/>
          <p:cNvSpPr/>
          <p:nvPr/>
        </p:nvSpPr>
        <p:spPr>
          <a:xfrm rot="2700000">
            <a:off x="8019295" y="1761234"/>
            <a:ext cx="1076782" cy="1076782"/>
          </a:xfrm>
          <a:prstGeom prst="arc">
            <a:avLst>
              <a:gd fmla="val 7709809" name="adj1"/>
              <a:gd fmla="val 10701611"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7" name="Google Shape;1627;p88"/>
          <p:cNvSpPr/>
          <p:nvPr/>
        </p:nvSpPr>
        <p:spPr>
          <a:xfrm rot="-333412">
            <a:off x="7358075" y="1075905"/>
            <a:ext cx="1150863" cy="1286031"/>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8" name="Google Shape;1628;p88"/>
          <p:cNvSpPr txBox="1"/>
          <p:nvPr/>
        </p:nvSpPr>
        <p:spPr>
          <a:xfrm>
            <a:off x="5532998" y="4044392"/>
            <a:ext cx="12258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 0.866</a:t>
            </a:r>
            <a:endParaRPr sz="2000">
              <a:latin typeface="Kalam"/>
              <a:ea typeface="Kalam"/>
              <a:cs typeface="Kalam"/>
              <a:sym typeface="Kalam"/>
            </a:endParaRPr>
          </a:p>
        </p:txBody>
      </p:sp>
      <p:sp>
        <p:nvSpPr>
          <p:cNvPr id="1629" name="Google Shape;1629;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630" name="Google Shape;1630;p88"/>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31" name="Google Shape;1631;p88"/>
          <p:cNvSpPr/>
          <p:nvPr/>
        </p:nvSpPr>
        <p:spPr>
          <a:xfrm>
            <a:off x="939550" y="629400"/>
            <a:ext cx="615600" cy="209700"/>
          </a:xfrm>
          <a:prstGeom prst="rect">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sine</a:t>
            </a:r>
            <a:endParaRPr sz="1800">
              <a:solidFill>
                <a:srgbClr val="FFFFFF"/>
              </a:solidFill>
              <a:latin typeface="Lexend"/>
              <a:ea typeface="Lexend"/>
              <a:cs typeface="Lexend"/>
              <a:sym typeface="Lexend"/>
            </a:endParaRPr>
          </a:p>
        </p:txBody>
      </p:sp>
      <p:sp>
        <p:nvSpPr>
          <p:cNvPr id="1632" name="Google Shape;1632;p88"/>
          <p:cNvSpPr/>
          <p:nvPr/>
        </p:nvSpPr>
        <p:spPr>
          <a:xfrm>
            <a:off x="324000" y="3351751"/>
            <a:ext cx="615600" cy="2097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60</a:t>
            </a:r>
            <a:endParaRPr sz="1800">
              <a:solidFill>
                <a:srgbClr val="000000"/>
              </a:solidFill>
              <a:latin typeface="Lexend"/>
              <a:ea typeface="Lexend"/>
              <a:cs typeface="Lexend"/>
              <a:sym typeface="Lexend"/>
            </a:endParaRPr>
          </a:p>
        </p:txBody>
      </p:sp>
      <p:sp>
        <p:nvSpPr>
          <p:cNvPr id="1633" name="Google Shape;1633;p88"/>
          <p:cNvSpPr txBox="1"/>
          <p:nvPr/>
        </p:nvSpPr>
        <p:spPr>
          <a:xfrm>
            <a:off x="3032475" y="624350"/>
            <a:ext cx="2826600"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By substituting the lengths of the hypotenuse and the side opposite to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into the sine formula, use the lookup table to find the size of the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1634" name="Google Shape;1634;p88"/>
          <p:cNvSpPr/>
          <p:nvPr/>
        </p:nvSpPr>
        <p:spPr>
          <a:xfrm>
            <a:off x="939550" y="3351751"/>
            <a:ext cx="615600" cy="209700"/>
          </a:xfrm>
          <a:prstGeom prst="rect">
            <a:avLst/>
          </a:prstGeom>
          <a:solidFill>
            <a:srgbClr val="E6F2F2"/>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0.866</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sin\left(\theta°\right)=\frac{opp}{h}\ \ \ \ \ \ \ \ \ \ \ \ \ h=\frac{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o&lt;/mi&gt;&lt;mi&gt;p&lt;/mi&gt;&lt;mi&gt;p&lt;/mi&gt;&lt;/mrow&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35" name="Google Shape;1635;p88" title="sine theta degrees equals o p p over h h equals o p p over sine theta degrees"/>
          <p:cNvPicPr preferRelativeResize="0"/>
          <p:nvPr/>
        </p:nvPicPr>
        <p:blipFill rotWithShape="1">
          <a:blip r:embed="rId4">
            <a:alphaModFix/>
          </a:blip>
          <a:srcRect b="0" l="0" r="72192" t="0"/>
          <a:stretch/>
        </p:blipFill>
        <p:spPr>
          <a:xfrm>
            <a:off x="3723600" y="3919200"/>
            <a:ext cx="1048576" cy="561600"/>
          </a:xfrm>
          <a:prstGeom prst="rect">
            <a:avLst/>
          </a:prstGeom>
          <a:noFill/>
          <a:ln>
            <a:noFill/>
          </a:ln>
        </p:spPr>
      </p:pic>
      <p:sp>
        <p:nvSpPr>
          <p:cNvPr id="1636" name="Google Shape;1636;p88"/>
          <p:cNvSpPr txBox="1"/>
          <p:nvPr/>
        </p:nvSpPr>
        <p:spPr>
          <a:xfrm>
            <a:off x="4809701" y="41751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200</a:t>
            </a:r>
            <a:endParaRPr sz="2000">
              <a:latin typeface="Kalam"/>
              <a:ea typeface="Kalam"/>
              <a:cs typeface="Kalam"/>
              <a:sym typeface="Kalam"/>
            </a:endParaRPr>
          </a:p>
        </p:txBody>
      </p:sp>
      <p:sp>
        <p:nvSpPr>
          <p:cNvPr id="1637" name="Google Shape;1637;p88"/>
          <p:cNvSpPr txBox="1"/>
          <p:nvPr/>
        </p:nvSpPr>
        <p:spPr>
          <a:xfrm>
            <a:off x="4809701" y="39482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173.2</a:t>
            </a:r>
            <a:endParaRPr sz="2000">
              <a:latin typeface="Kalam"/>
              <a:ea typeface="Kalam"/>
              <a:cs typeface="Kalam"/>
              <a:sym typeface="Kalam"/>
            </a:endParaRPr>
          </a:p>
        </p:txBody>
      </p:sp>
      <p:cxnSp>
        <p:nvCxnSpPr>
          <p:cNvPr id="1638" name="Google Shape;1638;p88"/>
          <p:cNvCxnSpPr/>
          <p:nvPr/>
        </p:nvCxnSpPr>
        <p:spPr>
          <a:xfrm>
            <a:off x="4927901" y="4172312"/>
            <a:ext cx="486900" cy="0"/>
          </a:xfrm>
          <a:prstGeom prst="straightConnector1">
            <a:avLst/>
          </a:prstGeom>
          <a:noFill/>
          <a:ln cap="flat" cmpd="sng" w="19050">
            <a:solidFill>
              <a:schemeClr val="dk1"/>
            </a:solidFill>
            <a:prstDash val="solid"/>
            <a:round/>
            <a:headEnd len="med" w="med" type="none"/>
            <a:tailEnd len="med" w="med" type="none"/>
          </a:ln>
        </p:spPr>
      </p:cxnSp>
      <p:sp>
        <p:nvSpPr>
          <p:cNvPr id="1639" name="Google Shape;1639;p88"/>
          <p:cNvSpPr/>
          <p:nvPr/>
        </p:nvSpPr>
        <p:spPr>
          <a:xfrm rot="5064956">
            <a:off x="7414207" y="2230464"/>
            <a:ext cx="175734" cy="1757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0" name="Google Shape;1640;p88"/>
          <p:cNvSpPr txBox="1"/>
          <p:nvPr/>
        </p:nvSpPr>
        <p:spPr>
          <a:xfrm>
            <a:off x="6191955" y="1807234"/>
            <a:ext cx="11367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173.2 cm</a:t>
            </a:r>
            <a:endParaRPr sz="1800">
              <a:latin typeface="Lexend"/>
              <a:ea typeface="Lexend"/>
              <a:cs typeface="Lexend"/>
              <a:sym typeface="Lexend"/>
            </a:endParaRPr>
          </a:p>
        </p:txBody>
      </p:sp>
      <p:sp>
        <p:nvSpPr>
          <p:cNvPr id="1641" name="Google Shape;1641;p88"/>
          <p:cNvSpPr txBox="1"/>
          <p:nvPr/>
        </p:nvSpPr>
        <p:spPr>
          <a:xfrm flipH="1">
            <a:off x="8076056" y="2091365"/>
            <a:ext cx="3264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642" name="Google Shape;1642;p88"/>
          <p:cNvSpPr txBox="1"/>
          <p:nvPr/>
        </p:nvSpPr>
        <p:spPr>
          <a:xfrm>
            <a:off x="6932650" y="2789400"/>
            <a:ext cx="17559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i="1" lang="en-GB" sz="2000">
                <a:solidFill>
                  <a:schemeClr val="dk1"/>
                </a:solidFill>
                <a:latin typeface="Kalam"/>
                <a:ea typeface="Kalam"/>
                <a:cs typeface="Kalam"/>
                <a:sym typeface="Kalam"/>
              </a:rPr>
              <a:t>θ</a:t>
            </a:r>
            <a:r>
              <a:rPr lang="en-GB" sz="2000">
                <a:solidFill>
                  <a:schemeClr val="dk1"/>
                </a:solidFill>
                <a:latin typeface="Kalam"/>
                <a:ea typeface="Kalam"/>
                <a:cs typeface="Kalam"/>
                <a:sym typeface="Kalam"/>
              </a:rPr>
              <a:t>° = 60°</a:t>
            </a:r>
            <a:endParaRPr sz="2000">
              <a:solidFill>
                <a:schemeClr val="dk1"/>
              </a:solidFill>
              <a:latin typeface="Kalam"/>
              <a:ea typeface="Kalam"/>
              <a:cs typeface="Kalam"/>
              <a:sym typeface="Kalam"/>
            </a:endParaRPr>
          </a:p>
        </p:txBody>
      </p:sp>
      <p:sp>
        <p:nvSpPr>
          <p:cNvPr id="1643" name="Google Shape;1643;p88"/>
          <p:cNvSpPr txBox="1"/>
          <p:nvPr/>
        </p:nvSpPr>
        <p:spPr>
          <a:xfrm>
            <a:off x="7785300" y="1429208"/>
            <a:ext cx="12168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200 cm</a:t>
            </a:r>
            <a:endParaRPr sz="1800">
              <a:latin typeface="Lexend"/>
              <a:ea typeface="Lexend"/>
              <a:cs typeface="Lexend"/>
              <a:sym typeface="Lexend"/>
            </a:endParaRPr>
          </a:p>
        </p:txBody>
      </p:sp>
      <p:pic>
        <p:nvPicPr>
          <p:cNvPr id="1644" name="Google Shape;1644;p88"/>
          <p:cNvPicPr preferRelativeResize="0"/>
          <p:nvPr/>
        </p:nvPicPr>
        <p:blipFill>
          <a:blip r:embed="rId5">
            <a:alphaModFix/>
          </a:blip>
          <a:stretch>
            <a:fillRect/>
          </a:stretch>
        </p:blipFill>
        <p:spPr>
          <a:xfrm>
            <a:off x="7093800" y="1023200"/>
            <a:ext cx="1594742" cy="1522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pic>
        <p:nvPicPr>
          <p:cNvPr descr="&lt;math xmlns=&quot;http://www.w3.org/1998/Math/MathML&quot; display=&quot;block&quot; data-is-equatio=&quot;1&quot; data-latex=&quot;\sin\left(\theta°\right)=\frac{\text{opp}}{h}\ \ \ \ \ \ \ \ \ \ \ \ \ h=\frac{\text{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text&gt;opp&lt;/mtext&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49" name="Google Shape;1649;p89" title="sine theta degrees equals opp over h h equals opp over sine theta degrees"/>
          <p:cNvPicPr preferRelativeResize="0"/>
          <p:nvPr/>
        </p:nvPicPr>
        <p:blipFill rotWithShape="1">
          <a:blip r:embed="rId3">
            <a:alphaModFix/>
          </a:blip>
          <a:srcRect b="0" l="0" r="52428" t="0"/>
          <a:stretch/>
        </p:blipFill>
        <p:spPr>
          <a:xfrm>
            <a:off x="3127276" y="1403576"/>
            <a:ext cx="1755900" cy="561600"/>
          </a:xfrm>
          <a:prstGeom prst="rect">
            <a:avLst/>
          </a:prstGeom>
          <a:noFill/>
          <a:ln>
            <a:noFill/>
          </a:ln>
        </p:spPr>
      </p:pic>
      <p:sp>
        <p:nvSpPr>
          <p:cNvPr id="1650" name="Google Shape;1650;p89"/>
          <p:cNvSpPr/>
          <p:nvPr/>
        </p:nvSpPr>
        <p:spPr>
          <a:xfrm flipH="1">
            <a:off x="2214495" y="3672875"/>
            <a:ext cx="1868400" cy="18684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1" name="Google Shape;1651;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652" name="Google Shape;1652;p89"/>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14400" marB="1440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pSp>
        <p:nvGrpSpPr>
          <p:cNvPr id="1653" name="Google Shape;1653;p89"/>
          <p:cNvGrpSpPr/>
          <p:nvPr/>
        </p:nvGrpSpPr>
        <p:grpSpPr>
          <a:xfrm>
            <a:off x="5398020" y="670676"/>
            <a:ext cx="2885263" cy="1426671"/>
            <a:chOff x="4950696" y="682200"/>
            <a:chExt cx="3320975" cy="1767651"/>
          </a:xfrm>
        </p:grpSpPr>
        <p:pic>
          <p:nvPicPr>
            <p:cNvPr id="1654" name="Google Shape;1654;p89"/>
            <p:cNvPicPr preferRelativeResize="0"/>
            <p:nvPr/>
          </p:nvPicPr>
          <p:blipFill rotWithShape="1">
            <a:blip r:embed="rId4">
              <a:alphaModFix/>
            </a:blip>
            <a:srcRect b="43690" l="0" r="57905" t="0"/>
            <a:stretch/>
          </p:blipFill>
          <p:spPr>
            <a:xfrm>
              <a:off x="4950696" y="682200"/>
              <a:ext cx="3320975" cy="1767651"/>
            </a:xfrm>
            <a:prstGeom prst="rect">
              <a:avLst/>
            </a:prstGeom>
            <a:noFill/>
            <a:ln>
              <a:noFill/>
            </a:ln>
          </p:spPr>
        </p:pic>
        <p:sp>
          <p:nvSpPr>
            <p:cNvPr id="1655" name="Google Shape;1655;p89"/>
            <p:cNvSpPr txBox="1"/>
            <p:nvPr/>
          </p:nvSpPr>
          <p:spPr>
            <a:xfrm>
              <a:off x="5015206" y="716100"/>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solidFill>
                    <a:schemeClr val="dk1"/>
                  </a:solidFill>
                  <a:latin typeface="Lexend"/>
                  <a:ea typeface="Lexend"/>
                  <a:cs typeface="Lexend"/>
                  <a:sym typeface="Lexend"/>
                </a:rPr>
                <a:t>Oh no!</a:t>
              </a:r>
              <a:endParaRPr sz="1800">
                <a:solidFill>
                  <a:schemeClr val="dk1"/>
                </a:solidFill>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rPr lang="en-GB" sz="1800">
                  <a:solidFill>
                    <a:schemeClr val="dk1"/>
                  </a:solidFill>
                  <a:latin typeface="Lexend"/>
                  <a:ea typeface="Lexend"/>
                  <a:cs typeface="Lexend"/>
                  <a:sym typeface="Lexend"/>
                </a:rPr>
                <a:t>What if I get a value of </a:t>
              </a: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that isn’t in the table?</a:t>
              </a:r>
              <a:endParaRPr sz="1800">
                <a:solidFill>
                  <a:schemeClr val="dk1"/>
                </a:solidFill>
                <a:latin typeface="Lexend"/>
                <a:ea typeface="Lexend"/>
                <a:cs typeface="Lexend"/>
                <a:sym typeface="Lexend"/>
              </a:endParaRPr>
            </a:p>
          </p:txBody>
        </p:sp>
      </p:grpSp>
      <p:grpSp>
        <p:nvGrpSpPr>
          <p:cNvPr id="1656" name="Google Shape;1656;p89"/>
          <p:cNvGrpSpPr/>
          <p:nvPr/>
        </p:nvGrpSpPr>
        <p:grpSpPr>
          <a:xfrm>
            <a:off x="8123750" y="1539897"/>
            <a:ext cx="696250" cy="911539"/>
            <a:chOff x="8123750" y="1498639"/>
            <a:chExt cx="696250" cy="911539"/>
          </a:xfrm>
        </p:grpSpPr>
        <p:pic>
          <p:nvPicPr>
            <p:cNvPr id="1657" name="Google Shape;1657;p89"/>
            <p:cNvPicPr preferRelativeResize="0"/>
            <p:nvPr/>
          </p:nvPicPr>
          <p:blipFill>
            <a:blip r:embed="rId5">
              <a:alphaModFix/>
            </a:blip>
            <a:stretch>
              <a:fillRect/>
            </a:stretch>
          </p:blipFill>
          <p:spPr>
            <a:xfrm>
              <a:off x="8123750" y="1498639"/>
              <a:ext cx="696250" cy="673801"/>
            </a:xfrm>
            <a:prstGeom prst="rect">
              <a:avLst/>
            </a:prstGeom>
            <a:noFill/>
            <a:ln>
              <a:noFill/>
            </a:ln>
          </p:spPr>
        </p:pic>
        <p:sp>
          <p:nvSpPr>
            <p:cNvPr id="1658" name="Google Shape;1658;p89"/>
            <p:cNvSpPr txBox="1"/>
            <p:nvPr/>
          </p:nvSpPr>
          <p:spPr>
            <a:xfrm>
              <a:off x="8201575" y="2132979"/>
              <a:ext cx="540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Izzy</a:t>
              </a:r>
              <a:endParaRPr sz="1800">
                <a:latin typeface="Lexend"/>
                <a:ea typeface="Lexend"/>
                <a:cs typeface="Lexend"/>
                <a:sym typeface="Lexend"/>
              </a:endParaRPr>
            </a:p>
          </p:txBody>
        </p:sp>
      </p:grpSp>
      <p:sp>
        <p:nvSpPr>
          <p:cNvPr id="1659" name="Google Shape;1659;p89"/>
          <p:cNvSpPr/>
          <p:nvPr/>
        </p:nvSpPr>
        <p:spPr>
          <a:xfrm>
            <a:off x="4913536" y="4416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60" name="Google Shape;1660;p89"/>
          <p:cNvCxnSpPr/>
          <p:nvPr/>
        </p:nvCxnSpPr>
        <p:spPr>
          <a:xfrm rot="10800000">
            <a:off x="5210832" y="3874900"/>
            <a:ext cx="0" cy="744000"/>
          </a:xfrm>
          <a:prstGeom prst="straightConnector1">
            <a:avLst/>
          </a:prstGeom>
          <a:noFill/>
          <a:ln cap="flat" cmpd="sng" w="28575">
            <a:solidFill>
              <a:srgbClr val="845AD9"/>
            </a:solidFill>
            <a:prstDash val="solid"/>
            <a:round/>
            <a:headEnd len="med" w="med" type="triangle"/>
            <a:tailEnd len="med" w="med" type="triangle"/>
          </a:ln>
        </p:spPr>
      </p:cxnSp>
      <p:cxnSp>
        <p:nvCxnSpPr>
          <p:cNvPr id="1661" name="Google Shape;1661;p89"/>
          <p:cNvCxnSpPr/>
          <p:nvPr/>
        </p:nvCxnSpPr>
        <p:spPr>
          <a:xfrm flipH="1" rot="10800000">
            <a:off x="3074720" y="3778071"/>
            <a:ext cx="1991100" cy="735900"/>
          </a:xfrm>
          <a:prstGeom prst="straightConnector1">
            <a:avLst/>
          </a:prstGeom>
          <a:noFill/>
          <a:ln cap="flat" cmpd="sng" w="28575">
            <a:solidFill>
              <a:srgbClr val="845AD9"/>
            </a:solidFill>
            <a:prstDash val="solid"/>
            <a:round/>
            <a:headEnd len="med" w="med" type="triangle"/>
            <a:tailEnd len="med" w="med" type="triangle"/>
          </a:ln>
        </p:spPr>
      </p:cxnSp>
      <p:sp>
        <p:nvSpPr>
          <p:cNvPr id="1662" name="Google Shape;1662;p89"/>
          <p:cNvSpPr txBox="1"/>
          <p:nvPr/>
        </p:nvSpPr>
        <p:spPr>
          <a:xfrm>
            <a:off x="3745504" y="4358840"/>
            <a:ext cx="3264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663" name="Google Shape;1663;p89"/>
          <p:cNvSpPr/>
          <p:nvPr/>
        </p:nvSpPr>
        <p:spPr>
          <a:xfrm rot="-5400000">
            <a:off x="3744138" y="32473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4" name="Google Shape;1664;p89"/>
          <p:cNvSpPr txBox="1"/>
          <p:nvPr/>
        </p:nvSpPr>
        <p:spPr>
          <a:xfrm flipH="1">
            <a:off x="5215350" y="4125700"/>
            <a:ext cx="5895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7 cm</a:t>
            </a:r>
            <a:endParaRPr sz="1800">
              <a:latin typeface="Lexend"/>
              <a:ea typeface="Lexend"/>
              <a:cs typeface="Lexend"/>
              <a:sym typeface="Lexend"/>
            </a:endParaRPr>
          </a:p>
        </p:txBody>
      </p:sp>
      <p:sp>
        <p:nvSpPr>
          <p:cNvPr id="1665" name="Google Shape;1665;p89"/>
          <p:cNvSpPr txBox="1"/>
          <p:nvPr/>
        </p:nvSpPr>
        <p:spPr>
          <a:xfrm flipH="1">
            <a:off x="3484545" y="3874900"/>
            <a:ext cx="696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20 cm</a:t>
            </a:r>
            <a:endParaRPr sz="1800">
              <a:latin typeface="Lexend"/>
              <a:ea typeface="Lexend"/>
              <a:cs typeface="Lexend"/>
              <a:sym typeface="Lexend"/>
            </a:endParaRPr>
          </a:p>
        </p:txBody>
      </p:sp>
      <p:sp>
        <p:nvSpPr>
          <p:cNvPr id="1666" name="Google Shape;1666;p89"/>
          <p:cNvSpPr txBox="1"/>
          <p:nvPr/>
        </p:nvSpPr>
        <p:spPr>
          <a:xfrm>
            <a:off x="4923398" y="2291792"/>
            <a:ext cx="12258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0.35</a:t>
            </a:r>
            <a:endParaRPr sz="2000">
              <a:latin typeface="Times New Roman"/>
              <a:ea typeface="Times New Roman"/>
              <a:cs typeface="Times New Roman"/>
              <a:sym typeface="Times New Roman"/>
            </a:endParaRPr>
          </a:p>
        </p:txBody>
      </p:sp>
      <p:pic>
        <p:nvPicPr>
          <p:cNvPr descr="&lt;math xmlns=&quot;http://www.w3.org/1998/Math/MathML&quot; display=&quot;block&quot; data-is-equatio=&quot;1&quot; data-latex=&quot;\sin\left(\theta°\right)=\frac{opp}{h}\ \ \ \ \ \ \ \ \ \ \ \ \ h=\frac{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o&lt;/mi&gt;&lt;mi&gt;p&lt;/mi&gt;&lt;mi&gt;p&lt;/mi&gt;&lt;/mrow&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67" name="Google Shape;1667;p89" title="sine theta degrees equals o p p over h h equals o p p over sine theta degrees"/>
          <p:cNvPicPr preferRelativeResize="0"/>
          <p:nvPr/>
        </p:nvPicPr>
        <p:blipFill rotWithShape="1">
          <a:blip r:embed="rId6">
            <a:alphaModFix/>
          </a:blip>
          <a:srcRect b="0" l="0" r="72192" t="0"/>
          <a:stretch/>
        </p:blipFill>
        <p:spPr>
          <a:xfrm>
            <a:off x="3114000" y="2166600"/>
            <a:ext cx="1048576" cy="561600"/>
          </a:xfrm>
          <a:prstGeom prst="rect">
            <a:avLst/>
          </a:prstGeom>
          <a:noFill/>
          <a:ln>
            <a:noFill/>
          </a:ln>
        </p:spPr>
      </p:pic>
      <p:grpSp>
        <p:nvGrpSpPr>
          <p:cNvPr id="1668" name="Google Shape;1668;p89"/>
          <p:cNvGrpSpPr/>
          <p:nvPr/>
        </p:nvGrpSpPr>
        <p:grpSpPr>
          <a:xfrm>
            <a:off x="4200101" y="2195695"/>
            <a:ext cx="723300" cy="448000"/>
            <a:chOff x="4885901" y="2729095"/>
            <a:chExt cx="723300" cy="448000"/>
          </a:xfrm>
        </p:grpSpPr>
        <p:sp>
          <p:nvSpPr>
            <p:cNvPr id="1669" name="Google Shape;1669;p89"/>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20</a:t>
              </a:r>
              <a:endParaRPr sz="1900">
                <a:latin typeface="Times New Roman"/>
                <a:ea typeface="Times New Roman"/>
                <a:cs typeface="Times New Roman"/>
                <a:sym typeface="Times New Roman"/>
              </a:endParaRPr>
            </a:p>
          </p:txBody>
        </p:sp>
        <p:sp>
          <p:nvSpPr>
            <p:cNvPr id="1670" name="Google Shape;1670;p89"/>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7</a:t>
              </a:r>
              <a:endParaRPr sz="1900">
                <a:latin typeface="Times New Roman"/>
                <a:ea typeface="Times New Roman"/>
                <a:cs typeface="Times New Roman"/>
                <a:sym typeface="Times New Roman"/>
              </a:endParaRPr>
            </a:p>
          </p:txBody>
        </p:sp>
        <p:cxnSp>
          <p:nvCxnSpPr>
            <p:cNvPr id="1671" name="Google Shape;1671;p89"/>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1672" name="Google Shape;1672;p89"/>
          <p:cNvSpPr/>
          <p:nvPr/>
        </p:nvSpPr>
        <p:spPr>
          <a:xfrm>
            <a:off x="939550" y="629400"/>
            <a:ext cx="615600" cy="209700"/>
          </a:xfrm>
          <a:prstGeom prst="rect">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sine</a:t>
            </a:r>
            <a:endParaRPr sz="1800">
              <a:solidFill>
                <a:srgbClr val="FFFFFF"/>
              </a:solidFill>
              <a:latin typeface="Lexend"/>
              <a:ea typeface="Lexend"/>
              <a:cs typeface="Lexend"/>
              <a:sym typeface="Lexend"/>
            </a:endParaRPr>
          </a:p>
        </p:txBody>
      </p:sp>
      <p:sp>
        <p:nvSpPr>
          <p:cNvPr id="1673" name="Google Shape;1673;p89"/>
          <p:cNvSpPr/>
          <p:nvPr/>
        </p:nvSpPr>
        <p:spPr>
          <a:xfrm>
            <a:off x="939550" y="1677149"/>
            <a:ext cx="615600" cy="419100"/>
          </a:xfrm>
          <a:prstGeom prst="rect">
            <a:avLst/>
          </a:prstGeom>
          <a:solidFill>
            <a:srgbClr val="E6F2F2"/>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75000"/>
              </a:lnSpc>
              <a:spcBef>
                <a:spcPts val="0"/>
              </a:spcBef>
              <a:spcAft>
                <a:spcPts val="0"/>
              </a:spcAft>
              <a:buNone/>
            </a:pPr>
            <a:r>
              <a:t/>
            </a:r>
            <a:endParaRPr sz="300">
              <a:solidFill>
                <a:schemeClr val="dk1"/>
              </a:solidFill>
              <a:latin typeface="Lexend"/>
              <a:ea typeface="Lexend"/>
              <a:cs typeface="Lexend"/>
              <a:sym typeface="Lexend"/>
            </a:endParaRPr>
          </a:p>
          <a:p>
            <a:pPr indent="0" lvl="0" marL="0" rtl="0" algn="ctr">
              <a:lnSpc>
                <a:spcPct val="75000"/>
              </a:lnSpc>
              <a:spcBef>
                <a:spcPts val="0"/>
              </a:spcBef>
              <a:spcAft>
                <a:spcPts val="0"/>
              </a:spcAft>
              <a:buNone/>
            </a:pPr>
            <a:r>
              <a:rPr lang="en-GB" sz="1800">
                <a:solidFill>
                  <a:schemeClr val="dk1"/>
                </a:solidFill>
                <a:latin typeface="Lexend"/>
                <a:ea typeface="Lexend"/>
                <a:cs typeface="Lexend"/>
                <a:sym typeface="Lexend"/>
              </a:rPr>
              <a:t>0.342</a:t>
            </a:r>
            <a:endParaRPr sz="1800">
              <a:solidFill>
                <a:schemeClr val="dk1"/>
              </a:solidFill>
              <a:latin typeface="Lexend"/>
              <a:ea typeface="Lexend"/>
              <a:cs typeface="Lexend"/>
              <a:sym typeface="Lexend"/>
            </a:endParaRPr>
          </a:p>
          <a:p>
            <a:pPr indent="0" lvl="0" marL="0" rtl="0" algn="ctr">
              <a:lnSpc>
                <a:spcPct val="75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0.423</a:t>
            </a:r>
            <a:endParaRPr sz="1800">
              <a:solidFill>
                <a:schemeClr val="dk1"/>
              </a:solidFill>
              <a:latin typeface="Lexend"/>
              <a:ea typeface="Lexend"/>
              <a:cs typeface="Lexend"/>
              <a:sym typeface="Lexend"/>
            </a:endParaRPr>
          </a:p>
        </p:txBody>
      </p:sp>
      <p:grpSp>
        <p:nvGrpSpPr>
          <p:cNvPr id="1674" name="Google Shape;1674;p89"/>
          <p:cNvGrpSpPr/>
          <p:nvPr/>
        </p:nvGrpSpPr>
        <p:grpSpPr>
          <a:xfrm flipH="1" rot="10800000">
            <a:off x="5855220" y="2553451"/>
            <a:ext cx="2885263" cy="1426671"/>
            <a:chOff x="4950696" y="682200"/>
            <a:chExt cx="3320975" cy="1767651"/>
          </a:xfrm>
        </p:grpSpPr>
        <p:pic>
          <p:nvPicPr>
            <p:cNvPr id="1675" name="Google Shape;1675;p89"/>
            <p:cNvPicPr preferRelativeResize="0"/>
            <p:nvPr/>
          </p:nvPicPr>
          <p:blipFill rotWithShape="1">
            <a:blip r:embed="rId4">
              <a:alphaModFix/>
            </a:blip>
            <a:srcRect b="43690" l="0" r="57905" t="0"/>
            <a:stretch/>
          </p:blipFill>
          <p:spPr>
            <a:xfrm>
              <a:off x="4950696" y="682200"/>
              <a:ext cx="3320975" cy="1767651"/>
            </a:xfrm>
            <a:prstGeom prst="rect">
              <a:avLst/>
            </a:prstGeom>
            <a:noFill/>
            <a:ln>
              <a:noFill/>
            </a:ln>
          </p:spPr>
        </p:pic>
        <p:sp>
          <p:nvSpPr>
            <p:cNvPr id="1676" name="Google Shape;1676;p89"/>
            <p:cNvSpPr txBox="1"/>
            <p:nvPr/>
          </p:nvSpPr>
          <p:spPr>
            <a:xfrm rot="10800000">
              <a:off x="5015206" y="724620"/>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solidFill>
                    <a:schemeClr val="dk1"/>
                  </a:solidFill>
                  <a:latin typeface="Lexend"/>
                  <a:ea typeface="Lexend"/>
                  <a:cs typeface="Lexend"/>
                  <a:sym typeface="Lexend"/>
                </a:rPr>
                <a:t>I can see on the table that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is in between 20° and 25°, but can I be more precise?</a:t>
              </a:r>
              <a:endParaRPr sz="1800">
                <a:solidFill>
                  <a:schemeClr val="dk1"/>
                </a:solidFill>
                <a:latin typeface="Lexend"/>
                <a:ea typeface="Lexend"/>
                <a:cs typeface="Lexend"/>
                <a:sym typeface="Lexend"/>
              </a:endParaRPr>
            </a:p>
          </p:txBody>
        </p:sp>
      </p:grpSp>
      <p:sp>
        <p:nvSpPr>
          <p:cNvPr id="1677" name="Google Shape;1677;p89"/>
          <p:cNvSpPr/>
          <p:nvPr/>
        </p:nvSpPr>
        <p:spPr>
          <a:xfrm>
            <a:off x="324000" y="1677149"/>
            <a:ext cx="615600" cy="419100"/>
          </a:xfrm>
          <a:prstGeom prst="rect">
            <a:avLst/>
          </a:prstGeom>
          <a:solidFill>
            <a:srgbClr val="E6F2F2"/>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75000"/>
              </a:lnSpc>
              <a:spcBef>
                <a:spcPts val="0"/>
              </a:spcBef>
              <a:spcAft>
                <a:spcPts val="0"/>
              </a:spcAft>
              <a:buNone/>
            </a:pPr>
            <a:r>
              <a:t/>
            </a:r>
            <a:endParaRPr sz="300">
              <a:latin typeface="Lexend"/>
              <a:ea typeface="Lexend"/>
              <a:cs typeface="Lexend"/>
              <a:sym typeface="Lexend"/>
            </a:endParaRPr>
          </a:p>
          <a:p>
            <a:pPr indent="0" lvl="0" marL="0" rtl="0" algn="ctr">
              <a:lnSpc>
                <a:spcPct val="75000"/>
              </a:lnSpc>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p>
            <a:pPr indent="0" lvl="0" marL="0" rtl="0" algn="ctr">
              <a:lnSpc>
                <a:spcPct val="75000"/>
              </a:lnSpc>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pic>
        <p:nvPicPr>
          <p:cNvPr descr="&lt;math xmlns=&quot;http://www.w3.org/1998/Math/MathML&quot; display=&quot;block&quot; data-is-equatio=&quot;1&quot; data-latex=&quot;\sin\left(\theta°\right)=\frac{\text{opp}}{h}\ \ \ \ \ \ \ \ \ \ \ \ \ h=\frac{\text{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text&gt;opp&lt;/mtext&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82" name="Google Shape;1682;p90" title="sine theta degrees equals opp over h h equals opp over sine theta degrees"/>
          <p:cNvPicPr preferRelativeResize="0"/>
          <p:nvPr/>
        </p:nvPicPr>
        <p:blipFill rotWithShape="1">
          <a:blip r:embed="rId3">
            <a:alphaModFix/>
          </a:blip>
          <a:srcRect b="0" l="0" r="52428" t="0"/>
          <a:stretch/>
        </p:blipFill>
        <p:spPr>
          <a:xfrm>
            <a:off x="6252148" y="1639091"/>
            <a:ext cx="1755900" cy="561600"/>
          </a:xfrm>
          <a:prstGeom prst="rect">
            <a:avLst/>
          </a:prstGeom>
          <a:noFill/>
          <a:ln>
            <a:noFill/>
          </a:ln>
        </p:spPr>
      </p:pic>
      <p:sp>
        <p:nvSpPr>
          <p:cNvPr id="1683" name="Google Shape;1683;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1684" name="Google Shape;1684;p90"/>
          <p:cNvSpPr txBox="1"/>
          <p:nvPr/>
        </p:nvSpPr>
        <p:spPr>
          <a:xfrm>
            <a:off x="8047599" y="2520400"/>
            <a:ext cx="6963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0.35</a:t>
            </a:r>
            <a:endParaRPr sz="2000">
              <a:latin typeface="Times New Roman"/>
              <a:ea typeface="Times New Roman"/>
              <a:cs typeface="Times New Roman"/>
              <a:sym typeface="Times New Roman"/>
            </a:endParaRPr>
          </a:p>
        </p:txBody>
      </p:sp>
      <p:pic>
        <p:nvPicPr>
          <p:cNvPr descr="&lt;math xmlns=&quot;http://www.w3.org/1998/Math/MathML&quot; display=&quot;block&quot; data-is-equatio=&quot;1&quot; data-latex=&quot;\sin\left(\theta°\right)=\frac{opp}{h}\ \ \ \ \ \ \ \ \ \ \ \ \ h=\frac{opp}{\sin\left(\theta°\right)}&quot;&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o&lt;/mi&gt;&lt;mi&gt;p&lt;/mi&gt;&lt;mi&gt;p&lt;/mi&gt;&lt;/mrow&gt;&lt;mi&gt;h&lt;/mi&gt;&lt;/mfrac&gt;&lt;mtext&gt;&lt;/mtext&gt;&lt;mtext&gt;&lt;/mtext&gt;&lt;mtext&gt;&lt;/mtext&gt;&lt;mtext&gt;&lt;/mtext&gt;&lt;mtext&gt;&lt;/mtext&gt;&lt;mtext&gt;&lt;/mtext&gt;&lt;mtext&gt;&lt;/mtext&gt;&lt;mtext&gt;&lt;/mtext&gt;&lt;mtext&gt;&lt;/mtext&gt;&lt;mtext&gt;&lt;/mtext&gt;&lt;mtext&gt;&lt;/mtext&gt;&lt;mtext&gt;&lt;/mtext&gt;&lt;mtext&gt;&lt;/mtext&gt;&lt;mi&gt;h&lt;/mi&gt;&lt;mo&gt;=&lt;/mo&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ath&gt;" id="1685" name="Google Shape;1685;p90" title="sine theta degrees equals o p p over h h equals o p p over sine theta degrees"/>
          <p:cNvPicPr preferRelativeResize="0"/>
          <p:nvPr/>
        </p:nvPicPr>
        <p:blipFill rotWithShape="1">
          <a:blip r:embed="rId4">
            <a:alphaModFix/>
          </a:blip>
          <a:srcRect b="0" l="0" r="72192" t="0"/>
          <a:stretch/>
        </p:blipFill>
        <p:spPr>
          <a:xfrm>
            <a:off x="6238200" y="2395200"/>
            <a:ext cx="1048576" cy="561600"/>
          </a:xfrm>
          <a:prstGeom prst="rect">
            <a:avLst/>
          </a:prstGeom>
          <a:noFill/>
          <a:ln>
            <a:noFill/>
          </a:ln>
        </p:spPr>
      </p:pic>
      <p:sp>
        <p:nvSpPr>
          <p:cNvPr id="1686" name="Google Shape;1686;p90"/>
          <p:cNvSpPr txBox="1"/>
          <p:nvPr/>
        </p:nvSpPr>
        <p:spPr>
          <a:xfrm>
            <a:off x="4901000" y="624350"/>
            <a:ext cx="3918900" cy="892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You can also find the size of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by reading off of the axes of the unit circle, starting at the </a:t>
            </a:r>
            <a:r>
              <a:rPr i="1" lang="en-GB" sz="2200">
                <a:solidFill>
                  <a:schemeClr val="dk1"/>
                </a:solidFill>
                <a:latin typeface="Times New Roman"/>
                <a:ea typeface="Times New Roman"/>
                <a:cs typeface="Times New Roman"/>
                <a:sym typeface="Times New Roman"/>
              </a:rPr>
              <a:t>y</a:t>
            </a:r>
            <a:r>
              <a:rPr lang="en-GB" sz="1800">
                <a:solidFill>
                  <a:schemeClr val="dk1"/>
                </a:solidFill>
                <a:latin typeface="Lexend"/>
                <a:ea typeface="Lexend"/>
                <a:cs typeface="Lexend"/>
                <a:sym typeface="Lexend"/>
              </a:rPr>
              <a:t>-axis.</a:t>
            </a:r>
            <a:endParaRPr sz="1800">
              <a:latin typeface="Lexend"/>
              <a:ea typeface="Lexend"/>
              <a:cs typeface="Lexend"/>
              <a:sym typeface="Lexend"/>
            </a:endParaRPr>
          </a:p>
        </p:txBody>
      </p:sp>
      <p:grpSp>
        <p:nvGrpSpPr>
          <p:cNvPr id="1687" name="Google Shape;1687;p90"/>
          <p:cNvGrpSpPr/>
          <p:nvPr/>
        </p:nvGrpSpPr>
        <p:grpSpPr>
          <a:xfrm>
            <a:off x="7324301" y="2424295"/>
            <a:ext cx="723300" cy="448000"/>
            <a:chOff x="4885901" y="2729095"/>
            <a:chExt cx="723300" cy="448000"/>
          </a:xfrm>
        </p:grpSpPr>
        <p:sp>
          <p:nvSpPr>
            <p:cNvPr id="1688" name="Google Shape;1688;p9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20</a:t>
              </a:r>
              <a:endParaRPr sz="1900">
                <a:latin typeface="Times New Roman"/>
                <a:ea typeface="Times New Roman"/>
                <a:cs typeface="Times New Roman"/>
                <a:sym typeface="Times New Roman"/>
              </a:endParaRPr>
            </a:p>
          </p:txBody>
        </p:sp>
        <p:sp>
          <p:nvSpPr>
            <p:cNvPr id="1689" name="Google Shape;1689;p9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7</a:t>
              </a:r>
              <a:endParaRPr sz="1900">
                <a:latin typeface="Times New Roman"/>
                <a:ea typeface="Times New Roman"/>
                <a:cs typeface="Times New Roman"/>
                <a:sym typeface="Times New Roman"/>
              </a:endParaRPr>
            </a:p>
          </p:txBody>
        </p:sp>
        <p:cxnSp>
          <p:nvCxnSpPr>
            <p:cNvPr id="1690" name="Google Shape;1690;p90"/>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pic>
        <p:nvPicPr>
          <p:cNvPr id="1691" name="Google Shape;1691;p90"/>
          <p:cNvPicPr preferRelativeResize="0"/>
          <p:nvPr/>
        </p:nvPicPr>
        <p:blipFill rotWithShape="1">
          <a:blip r:embed="rId5">
            <a:alphaModFix/>
          </a:blip>
          <a:srcRect b="0" l="0" r="3688" t="0"/>
          <a:stretch/>
        </p:blipFill>
        <p:spPr>
          <a:xfrm>
            <a:off x="324000" y="613500"/>
            <a:ext cx="4406926" cy="4192675"/>
          </a:xfrm>
          <a:prstGeom prst="rect">
            <a:avLst/>
          </a:prstGeom>
          <a:noFill/>
          <a:ln>
            <a:noFill/>
          </a:ln>
        </p:spPr>
      </p:pic>
      <p:sp>
        <p:nvSpPr>
          <p:cNvPr id="1692" name="Google Shape;1692;p90"/>
          <p:cNvSpPr/>
          <p:nvPr/>
        </p:nvSpPr>
        <p:spPr>
          <a:xfrm>
            <a:off x="8198925" y="2464450"/>
            <a:ext cx="544800" cy="3330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400">
              <a:solidFill>
                <a:schemeClr val="dk1"/>
              </a:solidFill>
              <a:latin typeface="Times New Roman"/>
              <a:ea typeface="Times New Roman"/>
              <a:cs typeface="Times New Roman"/>
              <a:sym typeface="Times New Roman"/>
            </a:endParaRPr>
          </a:p>
        </p:txBody>
      </p:sp>
      <p:sp>
        <p:nvSpPr>
          <p:cNvPr id="1693" name="Google Shape;1693;p90"/>
          <p:cNvSpPr/>
          <p:nvPr/>
        </p:nvSpPr>
        <p:spPr>
          <a:xfrm flipH="1">
            <a:off x="5186295" y="3063275"/>
            <a:ext cx="1868400" cy="18684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4" name="Google Shape;1694;p90"/>
          <p:cNvSpPr/>
          <p:nvPr/>
        </p:nvSpPr>
        <p:spPr>
          <a:xfrm>
            <a:off x="7885336" y="38071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95" name="Google Shape;1695;p90"/>
          <p:cNvCxnSpPr/>
          <p:nvPr/>
        </p:nvCxnSpPr>
        <p:spPr>
          <a:xfrm rot="10800000">
            <a:off x="8182632" y="3265300"/>
            <a:ext cx="0" cy="744000"/>
          </a:xfrm>
          <a:prstGeom prst="straightConnector1">
            <a:avLst/>
          </a:prstGeom>
          <a:noFill/>
          <a:ln cap="flat" cmpd="sng" w="28575">
            <a:solidFill>
              <a:srgbClr val="845AD9"/>
            </a:solidFill>
            <a:prstDash val="solid"/>
            <a:round/>
            <a:headEnd len="med" w="med" type="triangle"/>
            <a:tailEnd len="med" w="med" type="triangle"/>
          </a:ln>
        </p:spPr>
      </p:cxnSp>
      <p:cxnSp>
        <p:nvCxnSpPr>
          <p:cNvPr id="1696" name="Google Shape;1696;p90"/>
          <p:cNvCxnSpPr/>
          <p:nvPr/>
        </p:nvCxnSpPr>
        <p:spPr>
          <a:xfrm flipH="1" rot="10800000">
            <a:off x="6046520" y="3168471"/>
            <a:ext cx="1991100" cy="735900"/>
          </a:xfrm>
          <a:prstGeom prst="straightConnector1">
            <a:avLst/>
          </a:prstGeom>
          <a:noFill/>
          <a:ln cap="flat" cmpd="sng" w="28575">
            <a:solidFill>
              <a:srgbClr val="845AD9"/>
            </a:solidFill>
            <a:prstDash val="solid"/>
            <a:round/>
            <a:headEnd len="med" w="med" type="triangle"/>
            <a:tailEnd len="med" w="med" type="triangle"/>
          </a:ln>
        </p:spPr>
      </p:cxnSp>
      <p:sp>
        <p:nvSpPr>
          <p:cNvPr id="1697" name="Google Shape;1697;p90"/>
          <p:cNvSpPr txBox="1"/>
          <p:nvPr/>
        </p:nvSpPr>
        <p:spPr>
          <a:xfrm>
            <a:off x="6717304" y="3749240"/>
            <a:ext cx="3264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698" name="Google Shape;1698;p90"/>
          <p:cNvSpPr txBox="1"/>
          <p:nvPr/>
        </p:nvSpPr>
        <p:spPr>
          <a:xfrm flipH="1">
            <a:off x="8187150" y="3516100"/>
            <a:ext cx="5895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7 cm</a:t>
            </a:r>
            <a:endParaRPr sz="1800">
              <a:latin typeface="Lexend"/>
              <a:ea typeface="Lexend"/>
              <a:cs typeface="Lexend"/>
              <a:sym typeface="Lexend"/>
            </a:endParaRPr>
          </a:p>
        </p:txBody>
      </p:sp>
      <p:sp>
        <p:nvSpPr>
          <p:cNvPr id="1699" name="Google Shape;1699;p90"/>
          <p:cNvSpPr txBox="1"/>
          <p:nvPr/>
        </p:nvSpPr>
        <p:spPr>
          <a:xfrm flipH="1">
            <a:off x="6456345" y="3265300"/>
            <a:ext cx="696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20 cm</a:t>
            </a:r>
            <a:endParaRPr sz="1800">
              <a:latin typeface="Lexend"/>
              <a:ea typeface="Lexend"/>
              <a:cs typeface="Lexend"/>
              <a:sym typeface="Lexend"/>
            </a:endParaRPr>
          </a:p>
        </p:txBody>
      </p:sp>
      <p:cxnSp>
        <p:nvCxnSpPr>
          <p:cNvPr id="1700" name="Google Shape;1700;p90"/>
          <p:cNvCxnSpPr/>
          <p:nvPr/>
        </p:nvCxnSpPr>
        <p:spPr>
          <a:xfrm rot="10800000">
            <a:off x="670921" y="3280589"/>
            <a:ext cx="3492300" cy="0"/>
          </a:xfrm>
          <a:prstGeom prst="straightConnector1">
            <a:avLst/>
          </a:prstGeom>
          <a:noFill/>
          <a:ln cap="flat" cmpd="sng" w="28575">
            <a:solidFill>
              <a:srgbClr val="D02AA7"/>
            </a:solidFill>
            <a:prstDash val="dash"/>
            <a:round/>
            <a:headEnd len="med" w="med" type="none"/>
            <a:tailEnd len="med" w="med" type="none"/>
          </a:ln>
        </p:spPr>
      </p:cxnSp>
      <p:grpSp>
        <p:nvGrpSpPr>
          <p:cNvPr id="1701" name="Google Shape;1701;p90"/>
          <p:cNvGrpSpPr/>
          <p:nvPr/>
        </p:nvGrpSpPr>
        <p:grpSpPr>
          <a:xfrm>
            <a:off x="4280950" y="3280600"/>
            <a:ext cx="620050" cy="1312200"/>
            <a:chOff x="4280950" y="3280600"/>
            <a:chExt cx="620050" cy="1312200"/>
          </a:xfrm>
        </p:grpSpPr>
        <p:cxnSp>
          <p:nvCxnSpPr>
            <p:cNvPr id="1702" name="Google Shape;1702;p90"/>
            <p:cNvCxnSpPr/>
            <p:nvPr/>
          </p:nvCxnSpPr>
          <p:spPr>
            <a:xfrm rot="10800000">
              <a:off x="4280950" y="3280600"/>
              <a:ext cx="0" cy="1312200"/>
            </a:xfrm>
            <a:prstGeom prst="straightConnector1">
              <a:avLst/>
            </a:prstGeom>
            <a:noFill/>
            <a:ln cap="flat" cmpd="sng" w="28575">
              <a:solidFill>
                <a:srgbClr val="845AD9"/>
              </a:solidFill>
              <a:prstDash val="solid"/>
              <a:round/>
              <a:headEnd len="med" w="med" type="triangle"/>
              <a:tailEnd len="med" w="med" type="triangle"/>
            </a:ln>
          </p:spPr>
        </p:cxnSp>
        <p:sp>
          <p:nvSpPr>
            <p:cNvPr id="1703" name="Google Shape;1703;p90"/>
            <p:cNvSpPr txBox="1"/>
            <p:nvPr/>
          </p:nvSpPr>
          <p:spPr>
            <a:xfrm flipH="1">
              <a:off x="4311500" y="3674925"/>
              <a:ext cx="589500" cy="523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0.35 units</a:t>
              </a:r>
              <a:endParaRPr sz="1800">
                <a:latin typeface="Lexend"/>
                <a:ea typeface="Lexend"/>
                <a:cs typeface="Lexend"/>
                <a:sym typeface="Lexend"/>
              </a:endParaRPr>
            </a:p>
          </p:txBody>
        </p:sp>
      </p:grpSp>
      <p:sp>
        <p:nvSpPr>
          <p:cNvPr id="1704" name="Google Shape;1704;p90"/>
          <p:cNvSpPr/>
          <p:nvPr/>
        </p:nvSpPr>
        <p:spPr>
          <a:xfrm flipH="1">
            <a:off x="-425225" y="3445049"/>
            <a:ext cx="2282100" cy="2282400"/>
          </a:xfrm>
          <a:prstGeom prst="arc">
            <a:avLst>
              <a:gd fmla="val 10794690"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5" name="Google Shape;1705;p90"/>
          <p:cNvSpPr txBox="1"/>
          <p:nvPr/>
        </p:nvSpPr>
        <p:spPr>
          <a:xfrm>
            <a:off x="1334275" y="4342725"/>
            <a:ext cx="4743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21°</a:t>
            </a:r>
            <a:endParaRPr sz="1800">
              <a:latin typeface="Lexend"/>
              <a:ea typeface="Lexend"/>
              <a:cs typeface="Lexend"/>
              <a:sym typeface="Lexend"/>
            </a:endParaRPr>
          </a:p>
        </p:txBody>
      </p:sp>
      <p:sp>
        <p:nvSpPr>
          <p:cNvPr id="1706" name="Google Shape;1706;p90"/>
          <p:cNvSpPr/>
          <p:nvPr/>
        </p:nvSpPr>
        <p:spPr>
          <a:xfrm rot="-5400000">
            <a:off x="6715938" y="26377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707" name="Google Shape;1707;p90"/>
          <p:cNvGrpSpPr/>
          <p:nvPr/>
        </p:nvGrpSpPr>
        <p:grpSpPr>
          <a:xfrm>
            <a:off x="677821" y="3280589"/>
            <a:ext cx="3485400" cy="1312200"/>
            <a:chOff x="677821" y="3280589"/>
            <a:chExt cx="3485400" cy="1312200"/>
          </a:xfrm>
        </p:grpSpPr>
        <p:cxnSp>
          <p:nvCxnSpPr>
            <p:cNvPr id="1708" name="Google Shape;1708;p90"/>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709" name="Google Shape;1709;p90"/>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sp>
        <p:nvSpPr>
          <p:cNvPr id="1710" name="Google Shape;1710;p90"/>
          <p:cNvSpPr txBox="1"/>
          <p:nvPr/>
        </p:nvSpPr>
        <p:spPr>
          <a:xfrm>
            <a:off x="6051875" y="4248400"/>
            <a:ext cx="22821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is approximately 21°.</a:t>
            </a:r>
            <a:endParaRPr sz="1800">
              <a:latin typeface="Lexend"/>
              <a:ea typeface="Lexend"/>
              <a:cs typeface="Lexend"/>
              <a:sym typeface="Lexend"/>
            </a:endParaRPr>
          </a:p>
        </p:txBody>
      </p:sp>
      <p:sp>
        <p:nvSpPr>
          <p:cNvPr id="1711" name="Google Shape;1711;p90"/>
          <p:cNvSpPr/>
          <p:nvPr/>
        </p:nvSpPr>
        <p:spPr>
          <a:xfrm>
            <a:off x="439772" y="3047425"/>
            <a:ext cx="466500" cy="4665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712" name="Google Shape;1712;p90"/>
          <p:cNvGrpSpPr/>
          <p:nvPr/>
        </p:nvGrpSpPr>
        <p:grpSpPr>
          <a:xfrm>
            <a:off x="664075" y="858724"/>
            <a:ext cx="3743700" cy="3743700"/>
            <a:chOff x="664075" y="858724"/>
            <a:chExt cx="3743700" cy="3743700"/>
          </a:xfrm>
        </p:grpSpPr>
        <p:cxnSp>
          <p:nvCxnSpPr>
            <p:cNvPr id="1713" name="Google Shape;1713;p90"/>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714" name="Google Shape;1714;p90"/>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715" name="Google Shape;1715;p90"/>
          <p:cNvSpPr/>
          <p:nvPr/>
        </p:nvSpPr>
        <p:spPr>
          <a:xfrm>
            <a:off x="4630800" y="4630800"/>
            <a:ext cx="131700" cy="15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pic>
        <p:nvPicPr>
          <p:cNvPr id="1720" name="Google Shape;1720;p91"/>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721" name="Google Shape;1721;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pSp>
        <p:nvGrpSpPr>
          <p:cNvPr id="1722" name="Google Shape;1722;p91"/>
          <p:cNvGrpSpPr/>
          <p:nvPr/>
        </p:nvGrpSpPr>
        <p:grpSpPr>
          <a:xfrm>
            <a:off x="5157263" y="670673"/>
            <a:ext cx="3126034" cy="1426671"/>
            <a:chOff x="4950696" y="682200"/>
            <a:chExt cx="3320975" cy="1767651"/>
          </a:xfrm>
        </p:grpSpPr>
        <p:pic>
          <p:nvPicPr>
            <p:cNvPr id="1723" name="Google Shape;1723;p91"/>
            <p:cNvPicPr preferRelativeResize="0"/>
            <p:nvPr/>
          </p:nvPicPr>
          <p:blipFill rotWithShape="1">
            <a:blip r:embed="rId4">
              <a:alphaModFix/>
            </a:blip>
            <a:srcRect b="43690" l="0" r="57905" t="0"/>
            <a:stretch/>
          </p:blipFill>
          <p:spPr>
            <a:xfrm>
              <a:off x="4950696" y="682200"/>
              <a:ext cx="3320975" cy="1767651"/>
            </a:xfrm>
            <a:prstGeom prst="rect">
              <a:avLst/>
            </a:prstGeom>
            <a:noFill/>
            <a:ln>
              <a:noFill/>
            </a:ln>
          </p:spPr>
        </p:pic>
        <p:sp>
          <p:nvSpPr>
            <p:cNvPr id="1724" name="Google Shape;1724;p91"/>
            <p:cNvSpPr txBox="1"/>
            <p:nvPr/>
          </p:nvSpPr>
          <p:spPr>
            <a:xfrm>
              <a:off x="5015206" y="716100"/>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solidFill>
                    <a:schemeClr val="dk1"/>
                  </a:solidFill>
                  <a:latin typeface="Lexend"/>
                  <a:ea typeface="Lexend"/>
                  <a:cs typeface="Lexend"/>
                  <a:sym typeface="Lexend"/>
                </a:rPr>
                <a:t>Using the unit circle is better than the table, but it’s so long-winded, and still not that precise.</a:t>
              </a:r>
              <a:endParaRPr sz="1800">
                <a:solidFill>
                  <a:schemeClr val="dk1"/>
                </a:solidFill>
                <a:latin typeface="Lexend"/>
                <a:ea typeface="Lexend"/>
                <a:cs typeface="Lexend"/>
                <a:sym typeface="Lexend"/>
              </a:endParaRPr>
            </a:p>
          </p:txBody>
        </p:sp>
      </p:grpSp>
      <p:grpSp>
        <p:nvGrpSpPr>
          <p:cNvPr id="1725" name="Google Shape;1725;p91"/>
          <p:cNvGrpSpPr/>
          <p:nvPr/>
        </p:nvGrpSpPr>
        <p:grpSpPr>
          <a:xfrm>
            <a:off x="8123750" y="1539897"/>
            <a:ext cx="696250" cy="911539"/>
            <a:chOff x="8123750" y="1498639"/>
            <a:chExt cx="696250" cy="911539"/>
          </a:xfrm>
        </p:grpSpPr>
        <p:pic>
          <p:nvPicPr>
            <p:cNvPr id="1726" name="Google Shape;1726;p91"/>
            <p:cNvPicPr preferRelativeResize="0"/>
            <p:nvPr/>
          </p:nvPicPr>
          <p:blipFill>
            <a:blip r:embed="rId5">
              <a:alphaModFix/>
            </a:blip>
            <a:stretch>
              <a:fillRect/>
            </a:stretch>
          </p:blipFill>
          <p:spPr>
            <a:xfrm>
              <a:off x="8123750" y="1498639"/>
              <a:ext cx="696250" cy="673801"/>
            </a:xfrm>
            <a:prstGeom prst="rect">
              <a:avLst/>
            </a:prstGeom>
            <a:noFill/>
            <a:ln>
              <a:noFill/>
            </a:ln>
          </p:spPr>
        </p:pic>
        <p:sp>
          <p:nvSpPr>
            <p:cNvPr id="1727" name="Google Shape;1727;p91"/>
            <p:cNvSpPr txBox="1"/>
            <p:nvPr/>
          </p:nvSpPr>
          <p:spPr>
            <a:xfrm>
              <a:off x="8201575" y="2132979"/>
              <a:ext cx="540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Izzy</a:t>
              </a:r>
              <a:endParaRPr sz="1800">
                <a:latin typeface="Lexend"/>
                <a:ea typeface="Lexend"/>
                <a:cs typeface="Lexend"/>
                <a:sym typeface="Lexend"/>
              </a:endParaRPr>
            </a:p>
          </p:txBody>
        </p:sp>
      </p:grpSp>
      <p:grpSp>
        <p:nvGrpSpPr>
          <p:cNvPr id="1728" name="Google Shape;1728;p91"/>
          <p:cNvGrpSpPr/>
          <p:nvPr/>
        </p:nvGrpSpPr>
        <p:grpSpPr>
          <a:xfrm>
            <a:off x="664075" y="858724"/>
            <a:ext cx="3743700" cy="3743700"/>
            <a:chOff x="664075" y="858724"/>
            <a:chExt cx="3743700" cy="3743700"/>
          </a:xfrm>
        </p:grpSpPr>
        <p:cxnSp>
          <p:nvCxnSpPr>
            <p:cNvPr id="1729" name="Google Shape;1729;p91"/>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730" name="Google Shape;1730;p91"/>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731" name="Google Shape;1731;p91"/>
          <p:cNvSpPr/>
          <p:nvPr/>
        </p:nvSpPr>
        <p:spPr>
          <a:xfrm>
            <a:off x="407896" y="246021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732" name="Google Shape;1732;p91"/>
          <p:cNvGrpSpPr/>
          <p:nvPr/>
        </p:nvGrpSpPr>
        <p:grpSpPr>
          <a:xfrm>
            <a:off x="670808" y="2723560"/>
            <a:ext cx="3231788" cy="1869125"/>
            <a:chOff x="670825" y="1793500"/>
            <a:chExt cx="2481981" cy="2799349"/>
          </a:xfrm>
        </p:grpSpPr>
        <p:cxnSp>
          <p:nvCxnSpPr>
            <p:cNvPr id="1733" name="Google Shape;1733;p91"/>
            <p:cNvCxnSpPr/>
            <p:nvPr/>
          </p:nvCxnSpPr>
          <p:spPr>
            <a:xfrm rot="10800000">
              <a:off x="670825" y="1793500"/>
              <a:ext cx="2475000" cy="0"/>
            </a:xfrm>
            <a:prstGeom prst="straightConnector1">
              <a:avLst/>
            </a:prstGeom>
            <a:noFill/>
            <a:ln cap="flat" cmpd="sng" w="28575">
              <a:solidFill>
                <a:srgbClr val="D02AA7"/>
              </a:solidFill>
              <a:prstDash val="dash"/>
              <a:round/>
              <a:headEnd len="med" w="med" type="none"/>
              <a:tailEnd len="med" w="med" type="none"/>
            </a:ln>
          </p:spPr>
        </p:cxnSp>
        <p:grpSp>
          <p:nvGrpSpPr>
            <p:cNvPr id="1734" name="Google Shape;1734;p91"/>
            <p:cNvGrpSpPr/>
            <p:nvPr/>
          </p:nvGrpSpPr>
          <p:grpSpPr>
            <a:xfrm>
              <a:off x="677824" y="1793532"/>
              <a:ext cx="2474983" cy="2799316"/>
              <a:chOff x="677821" y="3280589"/>
              <a:chExt cx="3485400" cy="1312200"/>
            </a:xfrm>
          </p:grpSpPr>
          <p:cxnSp>
            <p:nvCxnSpPr>
              <p:cNvPr id="1735" name="Google Shape;1735;p91"/>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736" name="Google Shape;1736;p91"/>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grpSp>
      <p:grpSp>
        <p:nvGrpSpPr>
          <p:cNvPr id="1737" name="Google Shape;1737;p91"/>
          <p:cNvGrpSpPr/>
          <p:nvPr/>
        </p:nvGrpSpPr>
        <p:grpSpPr>
          <a:xfrm flipH="1" rot="10800000">
            <a:off x="5583604" y="2571481"/>
            <a:ext cx="3156919" cy="1698535"/>
            <a:chOff x="4950696" y="682200"/>
            <a:chExt cx="3320975" cy="1767651"/>
          </a:xfrm>
        </p:grpSpPr>
        <p:pic>
          <p:nvPicPr>
            <p:cNvPr id="1738" name="Google Shape;1738;p91"/>
            <p:cNvPicPr preferRelativeResize="0"/>
            <p:nvPr/>
          </p:nvPicPr>
          <p:blipFill rotWithShape="1">
            <a:blip r:embed="rId4">
              <a:alphaModFix/>
            </a:blip>
            <a:srcRect b="43690" l="0" r="57905" t="0"/>
            <a:stretch/>
          </p:blipFill>
          <p:spPr>
            <a:xfrm>
              <a:off x="4950696" y="682200"/>
              <a:ext cx="3320975" cy="1767651"/>
            </a:xfrm>
            <a:prstGeom prst="rect">
              <a:avLst/>
            </a:prstGeom>
            <a:noFill/>
            <a:ln>
              <a:noFill/>
            </a:ln>
          </p:spPr>
        </p:pic>
        <p:sp>
          <p:nvSpPr>
            <p:cNvPr id="1739" name="Google Shape;1739;p91"/>
            <p:cNvSpPr txBox="1"/>
            <p:nvPr/>
          </p:nvSpPr>
          <p:spPr>
            <a:xfrm rot="10800000">
              <a:off x="5015206" y="724620"/>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solidFill>
                    <a:schemeClr val="dk1"/>
                  </a:solidFill>
                  <a:latin typeface="Lexend"/>
                  <a:ea typeface="Lexend"/>
                  <a:cs typeface="Lexend"/>
                  <a:sym typeface="Lexend"/>
                </a:rPr>
                <a:t>Is there a more precise way of finding an angle?</a:t>
              </a:r>
              <a:endParaRPr sz="1800">
                <a:solidFill>
                  <a:schemeClr val="dk1"/>
                </a:solidFill>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rPr lang="en-GB" sz="1800">
                  <a:solidFill>
                    <a:schemeClr val="dk1"/>
                  </a:solidFill>
                  <a:latin typeface="Lexend"/>
                  <a:ea typeface="Lexend"/>
                  <a:cs typeface="Lexend"/>
                  <a:sym typeface="Lexend"/>
                </a:rPr>
                <a:t>Similar to how we can use a calculator to find the length of a side?</a:t>
              </a:r>
              <a:endParaRPr sz="1800">
                <a:solidFill>
                  <a:schemeClr val="dk1"/>
                </a:solidFill>
                <a:latin typeface="Lexend"/>
                <a:ea typeface="Lexend"/>
                <a:cs typeface="Lexend"/>
                <a:sym typeface="Lexend"/>
              </a:endParaRPr>
            </a:p>
          </p:txBody>
        </p:sp>
      </p:grpSp>
      <p:sp>
        <p:nvSpPr>
          <p:cNvPr id="1740" name="Google Shape;1740;p91"/>
          <p:cNvSpPr/>
          <p:nvPr/>
        </p:nvSpPr>
        <p:spPr>
          <a:xfrm>
            <a:off x="4630800" y="4630800"/>
            <a:ext cx="131700" cy="15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pic>
        <p:nvPicPr>
          <p:cNvPr id="1745" name="Google Shape;1745;p92"/>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746" name="Google Shape;1746;p92"/>
          <p:cNvSpPr txBox="1"/>
          <p:nvPr/>
        </p:nvSpPr>
        <p:spPr>
          <a:xfrm>
            <a:off x="4901000" y="3240000"/>
            <a:ext cx="3918900" cy="1446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sine function has an </a:t>
            </a:r>
            <a:r>
              <a:rPr lang="en-GB" sz="1800">
                <a:solidFill>
                  <a:schemeClr val="accent5"/>
                </a:solidFill>
                <a:latin typeface="Lexend"/>
                <a:ea typeface="Lexend"/>
                <a:cs typeface="Lexend"/>
                <a:sym typeface="Lexend"/>
              </a:rPr>
              <a:t>inverse function</a:t>
            </a:r>
            <a:r>
              <a:rPr lang="en-GB" sz="1800">
                <a:latin typeface="Lexend"/>
                <a:ea typeface="Lexend"/>
                <a:cs typeface="Lexend"/>
                <a:sym typeface="Lexend"/>
              </a:rPr>
              <a:t> called the </a:t>
            </a:r>
            <a:r>
              <a:rPr lang="en-GB" sz="1800">
                <a:solidFill>
                  <a:schemeClr val="accent5"/>
                </a:solidFill>
                <a:latin typeface="Lexend"/>
                <a:ea typeface="Lexend"/>
                <a:cs typeface="Lexend"/>
                <a:sym typeface="Lexend"/>
              </a:rPr>
              <a:t>arcsine function</a:t>
            </a:r>
            <a:r>
              <a:rPr lang="en-GB" sz="1800">
                <a:latin typeface="Lexend"/>
                <a:ea typeface="Lexend"/>
                <a:cs typeface="Lexend"/>
                <a:sym typeface="Lexend"/>
              </a:rPr>
              <a:t>.</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You may see it as </a:t>
            </a:r>
            <a:r>
              <a:rPr lang="en-GB" sz="2200">
                <a:solidFill>
                  <a:schemeClr val="accent5"/>
                </a:solidFill>
                <a:latin typeface="Times New Roman"/>
                <a:ea typeface="Times New Roman"/>
                <a:cs typeface="Times New Roman"/>
                <a:sym typeface="Times New Roman"/>
              </a:rPr>
              <a:t>sin</a:t>
            </a:r>
            <a:r>
              <a:rPr baseline="30000" lang="en-GB" sz="2200">
                <a:solidFill>
                  <a:schemeClr val="accent5"/>
                </a:solidFill>
                <a:latin typeface="Times New Roman"/>
                <a:ea typeface="Times New Roman"/>
                <a:cs typeface="Times New Roman"/>
                <a:sym typeface="Times New Roman"/>
              </a:rPr>
              <a:t>-1</a:t>
            </a:r>
            <a:r>
              <a:rPr lang="en-GB" sz="1800">
                <a:latin typeface="Lexend"/>
                <a:ea typeface="Lexend"/>
                <a:cs typeface="Lexend"/>
                <a:sym typeface="Lexend"/>
              </a:rPr>
              <a:t> on a calculator.</a:t>
            </a:r>
            <a:endParaRPr sz="1800">
              <a:latin typeface="Lexend"/>
              <a:ea typeface="Lexend"/>
              <a:cs typeface="Lexend"/>
              <a:sym typeface="Lexend"/>
            </a:endParaRPr>
          </a:p>
        </p:txBody>
      </p:sp>
      <p:sp>
        <p:nvSpPr>
          <p:cNvPr id="1747" name="Google Shape;1747;p92"/>
          <p:cNvSpPr txBox="1"/>
          <p:nvPr/>
        </p:nvSpPr>
        <p:spPr>
          <a:xfrm>
            <a:off x="5775925" y="1792800"/>
            <a:ext cx="14070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200">
                <a:latin typeface="Times New Roman"/>
                <a:ea typeface="Times New Roman"/>
                <a:cs typeface="Times New Roman"/>
                <a:sym typeface="Times New Roman"/>
              </a:rPr>
              <a:t>sin</a:t>
            </a:r>
            <a:r>
              <a:rPr lang="en-GB" sz="2000">
                <a:latin typeface="Times New Roman"/>
                <a:ea typeface="Times New Roman"/>
                <a:cs typeface="Times New Roman"/>
                <a:sym typeface="Times New Roman"/>
              </a:rPr>
              <a:t>( </a:t>
            </a:r>
            <a:r>
              <a:rPr lang="en-GB" sz="2000">
                <a:solidFill>
                  <a:schemeClr val="lt1"/>
                </a:solidFill>
                <a:latin typeface="Times New Roman"/>
                <a:ea typeface="Times New Roman"/>
                <a:cs typeface="Times New Roman"/>
                <a:sym typeface="Times New Roman"/>
              </a:rPr>
              <a:t>30°</a:t>
            </a:r>
            <a:r>
              <a:rPr lang="en-GB" sz="2000">
                <a:latin typeface="Times New Roman"/>
                <a:ea typeface="Times New Roman"/>
                <a:cs typeface="Times New Roman"/>
                <a:sym typeface="Times New Roman"/>
              </a:rPr>
              <a:t> ) = </a:t>
            </a:r>
            <a:endParaRPr sz="2000">
              <a:latin typeface="Times New Roman"/>
              <a:ea typeface="Times New Roman"/>
              <a:cs typeface="Times New Roman"/>
              <a:sym typeface="Times New Roman"/>
            </a:endParaRPr>
          </a:p>
        </p:txBody>
      </p:sp>
      <p:sp>
        <p:nvSpPr>
          <p:cNvPr id="1748" name="Google Shape;1748;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1749" name="Google Shape;1749;p92"/>
          <p:cNvSpPr/>
          <p:nvPr/>
        </p:nvSpPr>
        <p:spPr>
          <a:xfrm>
            <a:off x="407896" y="246021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0" name="Google Shape;1750;p92"/>
          <p:cNvSpPr/>
          <p:nvPr/>
        </p:nvSpPr>
        <p:spPr>
          <a:xfrm flipH="1">
            <a:off x="-171000" y="3699350"/>
            <a:ext cx="1773600" cy="1773900"/>
          </a:xfrm>
          <a:prstGeom prst="arc">
            <a:avLst>
              <a:gd fmla="val 10794690" name="adj1"/>
              <a:gd fmla="val 12632088"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1" name="Google Shape;1751;p92"/>
          <p:cNvSpPr txBox="1"/>
          <p:nvPr/>
        </p:nvSpPr>
        <p:spPr>
          <a:xfrm>
            <a:off x="4901000" y="624350"/>
            <a:ext cx="3918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On a unit circle, we can find the length of a side opposite the angle 30° by applying the </a:t>
            </a:r>
            <a:r>
              <a:rPr lang="en-GB" sz="1800">
                <a:solidFill>
                  <a:schemeClr val="accent5"/>
                </a:solidFill>
                <a:latin typeface="Lexend"/>
                <a:ea typeface="Lexend"/>
                <a:cs typeface="Lexend"/>
                <a:sym typeface="Lexend"/>
              </a:rPr>
              <a:t>sine</a:t>
            </a:r>
            <a:r>
              <a:rPr lang="en-GB" sz="1800">
                <a:latin typeface="Lexend"/>
                <a:ea typeface="Lexend"/>
                <a:cs typeface="Lexend"/>
                <a:sym typeface="Lexend"/>
              </a:rPr>
              <a:t> function to that angle:</a:t>
            </a:r>
            <a:endParaRPr sz="1800">
              <a:latin typeface="Lexend"/>
              <a:ea typeface="Lexend"/>
              <a:cs typeface="Lexend"/>
              <a:sym typeface="Lexend"/>
            </a:endParaRPr>
          </a:p>
        </p:txBody>
      </p:sp>
      <p:sp>
        <p:nvSpPr>
          <p:cNvPr id="1752" name="Google Shape;1752;p92"/>
          <p:cNvSpPr txBox="1"/>
          <p:nvPr/>
        </p:nvSpPr>
        <p:spPr>
          <a:xfrm>
            <a:off x="1105675" y="4318598"/>
            <a:ext cx="4743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sp>
        <p:nvSpPr>
          <p:cNvPr id="1753" name="Google Shape;1753;p92"/>
          <p:cNvSpPr txBox="1"/>
          <p:nvPr/>
        </p:nvSpPr>
        <p:spPr>
          <a:xfrm flipH="1">
            <a:off x="1831250" y="3306375"/>
            <a:ext cx="726600" cy="262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unit</a:t>
            </a:r>
            <a:endParaRPr sz="1800">
              <a:latin typeface="Lexend"/>
              <a:ea typeface="Lexend"/>
              <a:cs typeface="Lexend"/>
              <a:sym typeface="Lexend"/>
            </a:endParaRPr>
          </a:p>
        </p:txBody>
      </p:sp>
      <p:grpSp>
        <p:nvGrpSpPr>
          <p:cNvPr id="1754" name="Google Shape;1754;p92"/>
          <p:cNvGrpSpPr/>
          <p:nvPr/>
        </p:nvGrpSpPr>
        <p:grpSpPr>
          <a:xfrm>
            <a:off x="670808" y="2723560"/>
            <a:ext cx="3231788" cy="1869125"/>
            <a:chOff x="670825" y="1793500"/>
            <a:chExt cx="2481981" cy="2799349"/>
          </a:xfrm>
        </p:grpSpPr>
        <p:cxnSp>
          <p:nvCxnSpPr>
            <p:cNvPr id="1755" name="Google Shape;1755;p92"/>
            <p:cNvCxnSpPr/>
            <p:nvPr/>
          </p:nvCxnSpPr>
          <p:spPr>
            <a:xfrm rot="10800000">
              <a:off x="670825" y="1793500"/>
              <a:ext cx="2475000" cy="0"/>
            </a:xfrm>
            <a:prstGeom prst="straightConnector1">
              <a:avLst/>
            </a:prstGeom>
            <a:noFill/>
            <a:ln cap="flat" cmpd="sng" w="28575">
              <a:solidFill>
                <a:srgbClr val="D02AA7"/>
              </a:solidFill>
              <a:prstDash val="dash"/>
              <a:round/>
              <a:headEnd len="med" w="med" type="none"/>
              <a:tailEnd len="med" w="med" type="none"/>
            </a:ln>
          </p:spPr>
        </p:cxnSp>
        <p:grpSp>
          <p:nvGrpSpPr>
            <p:cNvPr id="1756" name="Google Shape;1756;p92"/>
            <p:cNvGrpSpPr/>
            <p:nvPr/>
          </p:nvGrpSpPr>
          <p:grpSpPr>
            <a:xfrm>
              <a:off x="677824" y="1793532"/>
              <a:ext cx="2474983" cy="2799316"/>
              <a:chOff x="677821" y="3280589"/>
              <a:chExt cx="3485400" cy="1312200"/>
            </a:xfrm>
          </p:grpSpPr>
          <p:cxnSp>
            <p:nvCxnSpPr>
              <p:cNvPr id="1757" name="Google Shape;1757;p92"/>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758" name="Google Shape;1758;p92"/>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grpSp>
      <p:grpSp>
        <p:nvGrpSpPr>
          <p:cNvPr id="1759" name="Google Shape;1759;p92"/>
          <p:cNvGrpSpPr/>
          <p:nvPr/>
        </p:nvGrpSpPr>
        <p:grpSpPr>
          <a:xfrm>
            <a:off x="664075" y="858724"/>
            <a:ext cx="3743700" cy="3743700"/>
            <a:chOff x="664075" y="858724"/>
            <a:chExt cx="3743700" cy="3743700"/>
          </a:xfrm>
        </p:grpSpPr>
        <p:cxnSp>
          <p:nvCxnSpPr>
            <p:cNvPr id="1760" name="Google Shape;1760;p92"/>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761" name="Google Shape;1761;p92"/>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762" name="Google Shape;1762;p92"/>
          <p:cNvSpPr txBox="1"/>
          <p:nvPr/>
        </p:nvSpPr>
        <p:spPr>
          <a:xfrm>
            <a:off x="7112598" y="1861004"/>
            <a:ext cx="7503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0.5</a:t>
            </a:r>
            <a:endParaRPr sz="2000">
              <a:latin typeface="Times New Roman"/>
              <a:ea typeface="Times New Roman"/>
              <a:cs typeface="Times New Roman"/>
              <a:sym typeface="Times New Roman"/>
            </a:endParaRPr>
          </a:p>
        </p:txBody>
      </p:sp>
      <p:sp>
        <p:nvSpPr>
          <p:cNvPr id="1763" name="Google Shape;1763;p92"/>
          <p:cNvSpPr txBox="1"/>
          <p:nvPr/>
        </p:nvSpPr>
        <p:spPr>
          <a:xfrm>
            <a:off x="6137063" y="1840921"/>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a:t>
            </a:r>
            <a:endParaRPr sz="2000">
              <a:latin typeface="Times New Roman"/>
              <a:ea typeface="Times New Roman"/>
              <a:cs typeface="Times New Roman"/>
              <a:sym typeface="Times New Roman"/>
            </a:endParaRPr>
          </a:p>
        </p:txBody>
      </p:sp>
      <p:grpSp>
        <p:nvGrpSpPr>
          <p:cNvPr id="1764" name="Google Shape;1764;p92"/>
          <p:cNvGrpSpPr/>
          <p:nvPr/>
        </p:nvGrpSpPr>
        <p:grpSpPr>
          <a:xfrm>
            <a:off x="5335579" y="2118054"/>
            <a:ext cx="1172500" cy="637184"/>
            <a:chOff x="6274158" y="2346721"/>
            <a:chExt cx="696300" cy="1092004"/>
          </a:xfrm>
        </p:grpSpPr>
        <p:cxnSp>
          <p:nvCxnSpPr>
            <p:cNvPr id="1765" name="Google Shape;1765;p92"/>
            <p:cNvCxnSpPr/>
            <p:nvPr/>
          </p:nvCxnSpPr>
          <p:spPr>
            <a:xfrm flipH="1">
              <a:off x="662201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766" name="Google Shape;1766;p92"/>
            <p:cNvSpPr txBox="1"/>
            <p:nvPr/>
          </p:nvSpPr>
          <p:spPr>
            <a:xfrm>
              <a:off x="6274158" y="2963825"/>
              <a:ext cx="696300" cy="474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angle</a:t>
              </a:r>
              <a:endParaRPr sz="1800">
                <a:latin typeface="Lexend"/>
                <a:ea typeface="Lexend"/>
                <a:cs typeface="Lexend"/>
                <a:sym typeface="Lexend"/>
              </a:endParaRPr>
            </a:p>
          </p:txBody>
        </p:sp>
      </p:grpSp>
      <p:grpSp>
        <p:nvGrpSpPr>
          <p:cNvPr id="1767" name="Google Shape;1767;p92"/>
          <p:cNvGrpSpPr/>
          <p:nvPr/>
        </p:nvGrpSpPr>
        <p:grpSpPr>
          <a:xfrm flipH="1">
            <a:off x="6734428" y="2118054"/>
            <a:ext cx="2086352" cy="914282"/>
            <a:chOff x="6002812" y="2346721"/>
            <a:chExt cx="1239000" cy="1566893"/>
          </a:xfrm>
        </p:grpSpPr>
        <p:cxnSp>
          <p:nvCxnSpPr>
            <p:cNvPr id="1768" name="Google Shape;1768;p92"/>
            <p:cNvCxnSpPr/>
            <p:nvPr/>
          </p:nvCxnSpPr>
          <p:spPr>
            <a:xfrm flipH="1">
              <a:off x="669409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769" name="Google Shape;1769;p92"/>
            <p:cNvSpPr txBox="1"/>
            <p:nvPr/>
          </p:nvSpPr>
          <p:spPr>
            <a:xfrm>
              <a:off x="6002812" y="2963814"/>
              <a:ext cx="1239000" cy="949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length of side on unit circle</a:t>
              </a:r>
              <a:endParaRPr sz="1800">
                <a:latin typeface="Lexend"/>
                <a:ea typeface="Lexend"/>
                <a:cs typeface="Lexend"/>
                <a:sym typeface="Lexend"/>
              </a:endParaRPr>
            </a:p>
          </p:txBody>
        </p:sp>
      </p:grpSp>
      <p:sp>
        <p:nvSpPr>
          <p:cNvPr id="1770" name="Google Shape;1770;p92"/>
          <p:cNvSpPr/>
          <p:nvPr/>
        </p:nvSpPr>
        <p:spPr>
          <a:xfrm>
            <a:off x="4630800" y="4630800"/>
            <a:ext cx="131700" cy="15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pic>
        <p:nvPicPr>
          <p:cNvPr id="1775" name="Google Shape;1775;p93"/>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776" name="Google Shape;1776;p93"/>
          <p:cNvSpPr txBox="1"/>
          <p:nvPr/>
        </p:nvSpPr>
        <p:spPr>
          <a:xfrm>
            <a:off x="5775925" y="1792800"/>
            <a:ext cx="14070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sin( </a:t>
            </a:r>
            <a:r>
              <a:rPr lang="en-GB" sz="2000">
                <a:solidFill>
                  <a:schemeClr val="lt1"/>
                </a:solidFill>
                <a:latin typeface="Times New Roman"/>
                <a:ea typeface="Times New Roman"/>
                <a:cs typeface="Times New Roman"/>
                <a:sym typeface="Times New Roman"/>
              </a:rPr>
              <a:t>30°</a:t>
            </a:r>
            <a:r>
              <a:rPr lang="en-GB" sz="2000">
                <a:latin typeface="Times New Roman"/>
                <a:ea typeface="Times New Roman"/>
                <a:cs typeface="Times New Roman"/>
                <a:sym typeface="Times New Roman"/>
              </a:rPr>
              <a:t> ) = </a:t>
            </a:r>
            <a:endParaRPr sz="2000">
              <a:latin typeface="Times New Roman"/>
              <a:ea typeface="Times New Roman"/>
              <a:cs typeface="Times New Roman"/>
              <a:sym typeface="Times New Roman"/>
            </a:endParaRPr>
          </a:p>
        </p:txBody>
      </p:sp>
      <p:sp>
        <p:nvSpPr>
          <p:cNvPr id="1777" name="Google Shape;1777;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1778" name="Google Shape;1778;p93"/>
          <p:cNvSpPr/>
          <p:nvPr/>
        </p:nvSpPr>
        <p:spPr>
          <a:xfrm>
            <a:off x="407896" y="246021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9" name="Google Shape;1779;p93"/>
          <p:cNvSpPr/>
          <p:nvPr/>
        </p:nvSpPr>
        <p:spPr>
          <a:xfrm flipH="1">
            <a:off x="-171000" y="3699350"/>
            <a:ext cx="1773600" cy="1773900"/>
          </a:xfrm>
          <a:prstGeom prst="arc">
            <a:avLst>
              <a:gd fmla="val 10794690" name="adj1"/>
              <a:gd fmla="val 12632088"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0" name="Google Shape;1780;p93"/>
          <p:cNvSpPr txBox="1"/>
          <p:nvPr/>
        </p:nvSpPr>
        <p:spPr>
          <a:xfrm>
            <a:off x="4901000" y="624350"/>
            <a:ext cx="3918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On a unit circle, we can find the length of a side opposite the angle 30° by applying the sine function to that angle:</a:t>
            </a:r>
            <a:endParaRPr sz="1800">
              <a:latin typeface="Lexend"/>
              <a:ea typeface="Lexend"/>
              <a:cs typeface="Lexend"/>
              <a:sym typeface="Lexend"/>
            </a:endParaRPr>
          </a:p>
        </p:txBody>
      </p:sp>
      <p:sp>
        <p:nvSpPr>
          <p:cNvPr id="1781" name="Google Shape;1781;p93"/>
          <p:cNvSpPr txBox="1"/>
          <p:nvPr/>
        </p:nvSpPr>
        <p:spPr>
          <a:xfrm>
            <a:off x="1105675" y="4318598"/>
            <a:ext cx="4743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sp>
        <p:nvSpPr>
          <p:cNvPr id="1782" name="Google Shape;1782;p93"/>
          <p:cNvSpPr txBox="1"/>
          <p:nvPr/>
        </p:nvSpPr>
        <p:spPr>
          <a:xfrm flipH="1">
            <a:off x="1831250" y="3306375"/>
            <a:ext cx="726600" cy="262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unit</a:t>
            </a:r>
            <a:endParaRPr sz="1800">
              <a:latin typeface="Lexend"/>
              <a:ea typeface="Lexend"/>
              <a:cs typeface="Lexend"/>
              <a:sym typeface="Lexend"/>
            </a:endParaRPr>
          </a:p>
        </p:txBody>
      </p:sp>
      <p:grpSp>
        <p:nvGrpSpPr>
          <p:cNvPr id="1783" name="Google Shape;1783;p93"/>
          <p:cNvGrpSpPr/>
          <p:nvPr/>
        </p:nvGrpSpPr>
        <p:grpSpPr>
          <a:xfrm>
            <a:off x="670808" y="2723560"/>
            <a:ext cx="3231788" cy="1869125"/>
            <a:chOff x="670825" y="1793500"/>
            <a:chExt cx="2481981" cy="2799349"/>
          </a:xfrm>
        </p:grpSpPr>
        <p:cxnSp>
          <p:nvCxnSpPr>
            <p:cNvPr id="1784" name="Google Shape;1784;p93"/>
            <p:cNvCxnSpPr/>
            <p:nvPr/>
          </p:nvCxnSpPr>
          <p:spPr>
            <a:xfrm rot="10800000">
              <a:off x="670825" y="1793500"/>
              <a:ext cx="2475000" cy="0"/>
            </a:xfrm>
            <a:prstGeom prst="straightConnector1">
              <a:avLst/>
            </a:prstGeom>
            <a:noFill/>
            <a:ln cap="flat" cmpd="sng" w="28575">
              <a:solidFill>
                <a:srgbClr val="D02AA7"/>
              </a:solidFill>
              <a:prstDash val="dash"/>
              <a:round/>
              <a:headEnd len="med" w="med" type="none"/>
              <a:tailEnd len="med" w="med" type="none"/>
            </a:ln>
          </p:spPr>
        </p:cxnSp>
        <p:grpSp>
          <p:nvGrpSpPr>
            <p:cNvPr id="1785" name="Google Shape;1785;p93"/>
            <p:cNvGrpSpPr/>
            <p:nvPr/>
          </p:nvGrpSpPr>
          <p:grpSpPr>
            <a:xfrm>
              <a:off x="677824" y="1793532"/>
              <a:ext cx="2474983" cy="2799316"/>
              <a:chOff x="677821" y="3280589"/>
              <a:chExt cx="3485400" cy="1312200"/>
            </a:xfrm>
          </p:grpSpPr>
          <p:cxnSp>
            <p:nvCxnSpPr>
              <p:cNvPr id="1786" name="Google Shape;1786;p93"/>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787" name="Google Shape;1787;p93"/>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grpSp>
      <p:grpSp>
        <p:nvGrpSpPr>
          <p:cNvPr id="1788" name="Google Shape;1788;p93"/>
          <p:cNvGrpSpPr/>
          <p:nvPr/>
        </p:nvGrpSpPr>
        <p:grpSpPr>
          <a:xfrm>
            <a:off x="664075" y="858724"/>
            <a:ext cx="3743700" cy="3743700"/>
            <a:chOff x="664075" y="858724"/>
            <a:chExt cx="3743700" cy="3743700"/>
          </a:xfrm>
        </p:grpSpPr>
        <p:cxnSp>
          <p:nvCxnSpPr>
            <p:cNvPr id="1789" name="Google Shape;1789;p93"/>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790" name="Google Shape;1790;p93"/>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791" name="Google Shape;1791;p93"/>
          <p:cNvSpPr txBox="1"/>
          <p:nvPr/>
        </p:nvSpPr>
        <p:spPr>
          <a:xfrm>
            <a:off x="7112598" y="1861004"/>
            <a:ext cx="7503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0.5</a:t>
            </a:r>
            <a:endParaRPr sz="2000">
              <a:latin typeface="Times New Roman"/>
              <a:ea typeface="Times New Roman"/>
              <a:cs typeface="Times New Roman"/>
              <a:sym typeface="Times New Roman"/>
            </a:endParaRPr>
          </a:p>
        </p:txBody>
      </p:sp>
      <p:sp>
        <p:nvSpPr>
          <p:cNvPr id="1792" name="Google Shape;1792;p93"/>
          <p:cNvSpPr txBox="1"/>
          <p:nvPr/>
        </p:nvSpPr>
        <p:spPr>
          <a:xfrm>
            <a:off x="6137063" y="1840921"/>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a:t>
            </a:r>
            <a:endParaRPr sz="2000">
              <a:latin typeface="Times New Roman"/>
              <a:ea typeface="Times New Roman"/>
              <a:cs typeface="Times New Roman"/>
              <a:sym typeface="Times New Roman"/>
            </a:endParaRPr>
          </a:p>
        </p:txBody>
      </p:sp>
      <p:grpSp>
        <p:nvGrpSpPr>
          <p:cNvPr id="1793" name="Google Shape;1793;p93"/>
          <p:cNvGrpSpPr/>
          <p:nvPr/>
        </p:nvGrpSpPr>
        <p:grpSpPr>
          <a:xfrm>
            <a:off x="4738404" y="1989213"/>
            <a:ext cx="972366" cy="582525"/>
            <a:chOff x="4738404" y="1989213"/>
            <a:chExt cx="972366" cy="582525"/>
          </a:xfrm>
        </p:grpSpPr>
        <p:sp>
          <p:nvSpPr>
            <p:cNvPr id="1794" name="Google Shape;1794;p93"/>
            <p:cNvSpPr/>
            <p:nvPr/>
          </p:nvSpPr>
          <p:spPr>
            <a:xfrm>
              <a:off x="5565470" y="1989213"/>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1795" name="Google Shape;1795;p93"/>
            <p:cNvSpPr txBox="1"/>
            <p:nvPr/>
          </p:nvSpPr>
          <p:spPr>
            <a:xfrm>
              <a:off x="4738404" y="2141888"/>
              <a:ext cx="8097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5"/>
                  </a:solidFill>
                  <a:latin typeface="Lexend"/>
                  <a:ea typeface="Lexend"/>
                  <a:cs typeface="Lexend"/>
                  <a:sym typeface="Lexend"/>
                </a:rPr>
                <a:t>arcsine</a:t>
              </a:r>
              <a:endParaRPr sz="1800">
                <a:latin typeface="Lexend"/>
                <a:ea typeface="Lexend"/>
                <a:cs typeface="Lexend"/>
                <a:sym typeface="Lexend"/>
              </a:endParaRPr>
            </a:p>
          </p:txBody>
        </p:sp>
      </p:grpSp>
      <p:grpSp>
        <p:nvGrpSpPr>
          <p:cNvPr id="1796" name="Google Shape;1796;p93"/>
          <p:cNvGrpSpPr/>
          <p:nvPr/>
        </p:nvGrpSpPr>
        <p:grpSpPr>
          <a:xfrm flipH="1">
            <a:off x="7464104" y="1989213"/>
            <a:ext cx="972366" cy="582525"/>
            <a:chOff x="4738404" y="1989213"/>
            <a:chExt cx="972366" cy="582525"/>
          </a:xfrm>
        </p:grpSpPr>
        <p:sp>
          <p:nvSpPr>
            <p:cNvPr id="1797" name="Google Shape;1797;p93"/>
            <p:cNvSpPr/>
            <p:nvPr/>
          </p:nvSpPr>
          <p:spPr>
            <a:xfrm>
              <a:off x="5565470" y="1989213"/>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1798" name="Google Shape;1798;p93"/>
            <p:cNvSpPr txBox="1"/>
            <p:nvPr/>
          </p:nvSpPr>
          <p:spPr>
            <a:xfrm>
              <a:off x="4738404" y="2141888"/>
              <a:ext cx="8097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accent5"/>
                  </a:solidFill>
                  <a:latin typeface="Lexend"/>
                  <a:ea typeface="Lexend"/>
                  <a:cs typeface="Lexend"/>
                  <a:sym typeface="Lexend"/>
                </a:rPr>
                <a:t>arcsine</a:t>
              </a:r>
              <a:endParaRPr sz="1800">
                <a:latin typeface="Lexend"/>
                <a:ea typeface="Lexend"/>
                <a:cs typeface="Lexend"/>
                <a:sym typeface="Lexend"/>
              </a:endParaRPr>
            </a:p>
          </p:txBody>
        </p:sp>
      </p:grpSp>
      <p:sp>
        <p:nvSpPr>
          <p:cNvPr id="1799" name="Google Shape;1799;p93"/>
          <p:cNvSpPr txBox="1"/>
          <p:nvPr/>
        </p:nvSpPr>
        <p:spPr>
          <a:xfrm>
            <a:off x="6084511" y="2620156"/>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a:t>
            </a:r>
            <a:endParaRPr sz="2000">
              <a:latin typeface="Times New Roman"/>
              <a:ea typeface="Times New Roman"/>
              <a:cs typeface="Times New Roman"/>
              <a:sym typeface="Times New Roman"/>
            </a:endParaRPr>
          </a:p>
        </p:txBody>
      </p:sp>
      <p:sp>
        <p:nvSpPr>
          <p:cNvPr id="1800" name="Google Shape;1800;p93"/>
          <p:cNvSpPr txBox="1"/>
          <p:nvPr/>
        </p:nvSpPr>
        <p:spPr>
          <a:xfrm>
            <a:off x="6722217" y="2589406"/>
            <a:ext cx="265800" cy="33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801" name="Google Shape;1801;p93"/>
          <p:cNvSpPr txBox="1"/>
          <p:nvPr/>
        </p:nvSpPr>
        <p:spPr>
          <a:xfrm>
            <a:off x="7060050" y="2620165"/>
            <a:ext cx="15078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chemeClr val="accent5"/>
                </a:solidFill>
                <a:latin typeface="Times New Roman"/>
                <a:ea typeface="Times New Roman"/>
                <a:cs typeface="Times New Roman"/>
                <a:sym typeface="Times New Roman"/>
              </a:rPr>
              <a:t>sin</a:t>
            </a:r>
            <a:r>
              <a:rPr baseline="30000" lang="en-GB" sz="2000">
                <a:solidFill>
                  <a:schemeClr val="accent5"/>
                </a:solidFill>
                <a:latin typeface="Times New Roman"/>
                <a:ea typeface="Times New Roman"/>
                <a:cs typeface="Times New Roman"/>
                <a:sym typeface="Times New Roman"/>
              </a:rPr>
              <a:t>-1</a:t>
            </a:r>
            <a:r>
              <a:rPr lang="en-GB" sz="2000">
                <a:latin typeface="Times New Roman"/>
                <a:ea typeface="Times New Roman"/>
                <a:cs typeface="Times New Roman"/>
                <a:sym typeface="Times New Roman"/>
              </a:rPr>
              <a:t>(0.5)</a:t>
            </a:r>
            <a:endParaRPr sz="2000">
              <a:latin typeface="Times New Roman"/>
              <a:ea typeface="Times New Roman"/>
              <a:cs typeface="Times New Roman"/>
              <a:sym typeface="Times New Roman"/>
            </a:endParaRPr>
          </a:p>
        </p:txBody>
      </p:sp>
      <p:sp>
        <p:nvSpPr>
          <p:cNvPr id="1802" name="Google Shape;1802;p93"/>
          <p:cNvSpPr txBox="1"/>
          <p:nvPr/>
        </p:nvSpPr>
        <p:spPr>
          <a:xfrm>
            <a:off x="5703251" y="3586515"/>
            <a:ext cx="14070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chemeClr val="accent5"/>
                </a:solidFill>
                <a:latin typeface="Times New Roman"/>
                <a:ea typeface="Times New Roman"/>
                <a:cs typeface="Times New Roman"/>
                <a:sym typeface="Times New Roman"/>
              </a:rPr>
              <a:t>sin</a:t>
            </a:r>
            <a:r>
              <a:rPr baseline="30000" lang="en-GB" sz="2000">
                <a:solidFill>
                  <a:schemeClr val="accent5"/>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a:t>
            </a:r>
            <a:r>
              <a:rPr lang="en-GB" sz="2000">
                <a:solidFill>
                  <a:schemeClr val="lt1"/>
                </a:solidFill>
                <a:latin typeface="Times New Roman"/>
                <a:ea typeface="Times New Roman"/>
                <a:cs typeface="Times New Roman"/>
                <a:sym typeface="Times New Roman"/>
              </a:rPr>
              <a:t>30° </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1803" name="Google Shape;1803;p93"/>
          <p:cNvSpPr txBox="1"/>
          <p:nvPr/>
        </p:nvSpPr>
        <p:spPr>
          <a:xfrm>
            <a:off x="6900766" y="3631071"/>
            <a:ext cx="750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30°</a:t>
            </a:r>
            <a:endParaRPr sz="2000">
              <a:latin typeface="Times New Roman"/>
              <a:ea typeface="Times New Roman"/>
              <a:cs typeface="Times New Roman"/>
              <a:sym typeface="Times New Roman"/>
            </a:endParaRPr>
          </a:p>
        </p:txBody>
      </p:sp>
      <p:sp>
        <p:nvSpPr>
          <p:cNvPr id="1804" name="Google Shape;1804;p93"/>
          <p:cNvSpPr txBox="1"/>
          <p:nvPr/>
        </p:nvSpPr>
        <p:spPr>
          <a:xfrm>
            <a:off x="6095022" y="3634636"/>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0.5 </a:t>
            </a:r>
            <a:endParaRPr sz="2000">
              <a:latin typeface="Times New Roman"/>
              <a:ea typeface="Times New Roman"/>
              <a:cs typeface="Times New Roman"/>
              <a:sym typeface="Times New Roman"/>
            </a:endParaRPr>
          </a:p>
        </p:txBody>
      </p:sp>
      <p:grpSp>
        <p:nvGrpSpPr>
          <p:cNvPr id="1805" name="Google Shape;1805;p93"/>
          <p:cNvGrpSpPr/>
          <p:nvPr/>
        </p:nvGrpSpPr>
        <p:grpSpPr>
          <a:xfrm>
            <a:off x="4848372" y="3911769"/>
            <a:ext cx="2146972" cy="914280"/>
            <a:chOff x="5984825" y="2346721"/>
            <a:chExt cx="1275000" cy="1566889"/>
          </a:xfrm>
        </p:grpSpPr>
        <p:cxnSp>
          <p:nvCxnSpPr>
            <p:cNvPr id="1806" name="Google Shape;1806;p93"/>
            <p:cNvCxnSpPr/>
            <p:nvPr/>
          </p:nvCxnSpPr>
          <p:spPr>
            <a:xfrm flipH="1">
              <a:off x="662201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807" name="Google Shape;1807;p93"/>
            <p:cNvSpPr txBox="1"/>
            <p:nvPr/>
          </p:nvSpPr>
          <p:spPr>
            <a:xfrm>
              <a:off x="5984825" y="2963810"/>
              <a:ext cx="1275000" cy="949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length of side on unit circle</a:t>
              </a:r>
              <a:endParaRPr sz="1800">
                <a:latin typeface="Lexend"/>
                <a:ea typeface="Lexend"/>
                <a:cs typeface="Lexend"/>
                <a:sym typeface="Lexend"/>
              </a:endParaRPr>
            </a:p>
          </p:txBody>
        </p:sp>
      </p:grpSp>
      <p:grpSp>
        <p:nvGrpSpPr>
          <p:cNvPr id="1808" name="Google Shape;1808;p93"/>
          <p:cNvGrpSpPr/>
          <p:nvPr/>
        </p:nvGrpSpPr>
        <p:grpSpPr>
          <a:xfrm flipH="1">
            <a:off x="7318533" y="3911769"/>
            <a:ext cx="917894" cy="637175"/>
            <a:chOff x="6349835" y="2346721"/>
            <a:chExt cx="545100" cy="1091989"/>
          </a:xfrm>
        </p:grpSpPr>
        <p:cxnSp>
          <p:nvCxnSpPr>
            <p:cNvPr id="1809" name="Google Shape;1809;p93"/>
            <p:cNvCxnSpPr/>
            <p:nvPr/>
          </p:nvCxnSpPr>
          <p:spPr>
            <a:xfrm flipH="1">
              <a:off x="669409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810" name="Google Shape;1810;p93"/>
            <p:cNvSpPr txBox="1"/>
            <p:nvPr/>
          </p:nvSpPr>
          <p:spPr>
            <a:xfrm>
              <a:off x="6349835" y="2963810"/>
              <a:ext cx="545100" cy="474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angle</a:t>
              </a:r>
              <a:endParaRPr sz="1800">
                <a:latin typeface="Lexend"/>
                <a:ea typeface="Lexend"/>
                <a:cs typeface="Lexend"/>
                <a:sym typeface="Lexend"/>
              </a:endParaRPr>
            </a:p>
          </p:txBody>
        </p:sp>
      </p:grpSp>
      <p:sp>
        <p:nvSpPr>
          <p:cNvPr id="1811" name="Google Shape;1811;p93"/>
          <p:cNvSpPr/>
          <p:nvPr/>
        </p:nvSpPr>
        <p:spPr>
          <a:xfrm>
            <a:off x="4630800" y="4630800"/>
            <a:ext cx="131700" cy="15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pic>
        <p:nvPicPr>
          <p:cNvPr id="1816" name="Google Shape;1816;p94"/>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817" name="Google Shape;1817;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1818" name="Google Shape;1818;p94"/>
          <p:cNvSpPr/>
          <p:nvPr/>
        </p:nvSpPr>
        <p:spPr>
          <a:xfrm>
            <a:off x="407896" y="246021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9" name="Google Shape;1819;p94"/>
          <p:cNvSpPr/>
          <p:nvPr/>
        </p:nvSpPr>
        <p:spPr>
          <a:xfrm flipH="1">
            <a:off x="-171000" y="3699350"/>
            <a:ext cx="1773600" cy="1773900"/>
          </a:xfrm>
          <a:prstGeom prst="arc">
            <a:avLst>
              <a:gd fmla="val 10794690" name="adj1"/>
              <a:gd fmla="val 12632088"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0" name="Google Shape;1820;p94"/>
          <p:cNvSpPr txBox="1"/>
          <p:nvPr/>
        </p:nvSpPr>
        <p:spPr>
          <a:xfrm>
            <a:off x="4901000" y="624350"/>
            <a:ext cx="39189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We can use the arcsine function on a calculator to find an angle.</a:t>
            </a:r>
            <a:endParaRPr sz="1800">
              <a:latin typeface="Lexend"/>
              <a:ea typeface="Lexend"/>
              <a:cs typeface="Lexend"/>
              <a:sym typeface="Lexend"/>
            </a:endParaRPr>
          </a:p>
        </p:txBody>
      </p:sp>
      <p:sp>
        <p:nvSpPr>
          <p:cNvPr id="1821" name="Google Shape;1821;p94"/>
          <p:cNvSpPr txBox="1"/>
          <p:nvPr/>
        </p:nvSpPr>
        <p:spPr>
          <a:xfrm>
            <a:off x="1105675" y="4318598"/>
            <a:ext cx="4743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sp>
        <p:nvSpPr>
          <p:cNvPr id="1822" name="Google Shape;1822;p94"/>
          <p:cNvSpPr txBox="1"/>
          <p:nvPr/>
        </p:nvSpPr>
        <p:spPr>
          <a:xfrm flipH="1">
            <a:off x="1831250" y="3306375"/>
            <a:ext cx="726600" cy="262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unit</a:t>
            </a:r>
            <a:endParaRPr sz="1800">
              <a:latin typeface="Lexend"/>
              <a:ea typeface="Lexend"/>
              <a:cs typeface="Lexend"/>
              <a:sym typeface="Lexend"/>
            </a:endParaRPr>
          </a:p>
        </p:txBody>
      </p:sp>
      <p:grpSp>
        <p:nvGrpSpPr>
          <p:cNvPr id="1823" name="Google Shape;1823;p94"/>
          <p:cNvGrpSpPr/>
          <p:nvPr/>
        </p:nvGrpSpPr>
        <p:grpSpPr>
          <a:xfrm>
            <a:off x="670808" y="2723560"/>
            <a:ext cx="3231788" cy="1869125"/>
            <a:chOff x="670825" y="1793500"/>
            <a:chExt cx="2481981" cy="2799349"/>
          </a:xfrm>
        </p:grpSpPr>
        <p:cxnSp>
          <p:nvCxnSpPr>
            <p:cNvPr id="1824" name="Google Shape;1824;p94"/>
            <p:cNvCxnSpPr/>
            <p:nvPr/>
          </p:nvCxnSpPr>
          <p:spPr>
            <a:xfrm rot="10800000">
              <a:off x="670825" y="1793500"/>
              <a:ext cx="2475000" cy="0"/>
            </a:xfrm>
            <a:prstGeom prst="straightConnector1">
              <a:avLst/>
            </a:prstGeom>
            <a:noFill/>
            <a:ln cap="flat" cmpd="sng" w="28575">
              <a:solidFill>
                <a:srgbClr val="D02AA7"/>
              </a:solidFill>
              <a:prstDash val="dash"/>
              <a:round/>
              <a:headEnd len="med" w="med" type="none"/>
              <a:tailEnd len="med" w="med" type="none"/>
            </a:ln>
          </p:spPr>
        </p:cxnSp>
        <p:grpSp>
          <p:nvGrpSpPr>
            <p:cNvPr id="1825" name="Google Shape;1825;p94"/>
            <p:cNvGrpSpPr/>
            <p:nvPr/>
          </p:nvGrpSpPr>
          <p:grpSpPr>
            <a:xfrm>
              <a:off x="677824" y="1793532"/>
              <a:ext cx="2474983" cy="2799316"/>
              <a:chOff x="677821" y="3280589"/>
              <a:chExt cx="3485400" cy="1312200"/>
            </a:xfrm>
          </p:grpSpPr>
          <p:cxnSp>
            <p:nvCxnSpPr>
              <p:cNvPr id="1826" name="Google Shape;1826;p94"/>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827" name="Google Shape;1827;p94"/>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grpSp>
      <p:grpSp>
        <p:nvGrpSpPr>
          <p:cNvPr id="1828" name="Google Shape;1828;p94"/>
          <p:cNvGrpSpPr/>
          <p:nvPr/>
        </p:nvGrpSpPr>
        <p:grpSpPr>
          <a:xfrm>
            <a:off x="664075" y="858724"/>
            <a:ext cx="3743700" cy="3743700"/>
            <a:chOff x="664075" y="858724"/>
            <a:chExt cx="3743700" cy="3743700"/>
          </a:xfrm>
        </p:grpSpPr>
        <p:cxnSp>
          <p:nvCxnSpPr>
            <p:cNvPr id="1829" name="Google Shape;1829;p94"/>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830" name="Google Shape;1830;p94"/>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831" name="Google Shape;1831;p94"/>
          <p:cNvSpPr txBox="1"/>
          <p:nvPr/>
        </p:nvSpPr>
        <p:spPr>
          <a:xfrm>
            <a:off x="5638875" y="1376715"/>
            <a:ext cx="14070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chemeClr val="accent5"/>
                </a:solidFill>
                <a:latin typeface="Times New Roman"/>
                <a:ea typeface="Times New Roman"/>
                <a:cs typeface="Times New Roman"/>
                <a:sym typeface="Times New Roman"/>
              </a:rPr>
              <a:t>sin</a:t>
            </a:r>
            <a:r>
              <a:rPr baseline="30000" lang="en-GB" sz="2000">
                <a:solidFill>
                  <a:schemeClr val="accent5"/>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 </a:t>
            </a:r>
            <a:r>
              <a:rPr lang="en-GB" sz="2000">
                <a:solidFill>
                  <a:schemeClr val="lt1"/>
                </a:solidFill>
                <a:latin typeface="Times New Roman"/>
                <a:ea typeface="Times New Roman"/>
                <a:cs typeface="Times New Roman"/>
                <a:sym typeface="Times New Roman"/>
              </a:rPr>
              <a:t>30° </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1832" name="Google Shape;1832;p94"/>
          <p:cNvSpPr txBox="1"/>
          <p:nvPr/>
        </p:nvSpPr>
        <p:spPr>
          <a:xfrm>
            <a:off x="6073186" y="1424836"/>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0.5 </a:t>
            </a:r>
            <a:endParaRPr sz="2000">
              <a:latin typeface="Times New Roman"/>
              <a:ea typeface="Times New Roman"/>
              <a:cs typeface="Times New Roman"/>
              <a:sym typeface="Times New Roman"/>
            </a:endParaRPr>
          </a:p>
        </p:txBody>
      </p:sp>
      <p:pic>
        <p:nvPicPr>
          <p:cNvPr id="1833" name="Google Shape;1833;p94"/>
          <p:cNvPicPr preferRelativeResize="0"/>
          <p:nvPr/>
        </p:nvPicPr>
        <p:blipFill>
          <a:blip r:embed="rId4">
            <a:alphaModFix/>
          </a:blip>
          <a:stretch>
            <a:fillRect/>
          </a:stretch>
        </p:blipFill>
        <p:spPr>
          <a:xfrm>
            <a:off x="5270038" y="2448295"/>
            <a:ext cx="3181024" cy="1277894"/>
          </a:xfrm>
          <a:prstGeom prst="rect">
            <a:avLst/>
          </a:prstGeom>
          <a:noFill/>
          <a:ln cap="flat" cmpd="sng" w="28575">
            <a:solidFill>
              <a:schemeClr val="dk1"/>
            </a:solidFill>
            <a:prstDash val="solid"/>
            <a:round/>
            <a:headEnd len="sm" w="sm" type="none"/>
            <a:tailEnd len="sm" w="sm" type="none"/>
          </a:ln>
        </p:spPr>
      </p:pic>
      <p:pic>
        <p:nvPicPr>
          <p:cNvPr id="1834" name="Google Shape;1834;p94"/>
          <p:cNvPicPr preferRelativeResize="0"/>
          <p:nvPr/>
        </p:nvPicPr>
        <p:blipFill>
          <a:blip r:embed="rId5">
            <a:alphaModFix/>
          </a:blip>
          <a:stretch>
            <a:fillRect/>
          </a:stretch>
        </p:blipFill>
        <p:spPr>
          <a:xfrm>
            <a:off x="4901100" y="3822300"/>
            <a:ext cx="3918900" cy="505338"/>
          </a:xfrm>
          <a:prstGeom prst="rect">
            <a:avLst/>
          </a:prstGeom>
          <a:noFill/>
          <a:ln cap="flat" cmpd="sng" w="28575">
            <a:solidFill>
              <a:schemeClr val="dk1"/>
            </a:solidFill>
            <a:prstDash val="solid"/>
            <a:round/>
            <a:headEnd len="sm" w="sm" type="none"/>
            <a:tailEnd len="sm" w="sm" type="none"/>
          </a:ln>
        </p:spPr>
      </p:pic>
      <p:sp>
        <p:nvSpPr>
          <p:cNvPr id="1835" name="Google Shape;1835;p94"/>
          <p:cNvSpPr/>
          <p:nvPr/>
        </p:nvSpPr>
        <p:spPr>
          <a:xfrm>
            <a:off x="5459675" y="2669175"/>
            <a:ext cx="824400" cy="277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6" name="Google Shape;1836;p94"/>
          <p:cNvSpPr/>
          <p:nvPr/>
        </p:nvSpPr>
        <p:spPr>
          <a:xfrm>
            <a:off x="4916255" y="3844581"/>
            <a:ext cx="474300" cy="462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7" name="Google Shape;1837;p94"/>
          <p:cNvSpPr/>
          <p:nvPr/>
        </p:nvSpPr>
        <p:spPr>
          <a:xfrm>
            <a:off x="5482180" y="3844581"/>
            <a:ext cx="474300" cy="462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838" name="Google Shape;1838;p94"/>
          <p:cNvGrpSpPr/>
          <p:nvPr/>
        </p:nvGrpSpPr>
        <p:grpSpPr>
          <a:xfrm>
            <a:off x="6051205" y="3844581"/>
            <a:ext cx="1593800" cy="462600"/>
            <a:chOff x="6051205" y="3844581"/>
            <a:chExt cx="1593800" cy="462600"/>
          </a:xfrm>
        </p:grpSpPr>
        <p:sp>
          <p:nvSpPr>
            <p:cNvPr id="1839" name="Google Shape;1839;p94"/>
            <p:cNvSpPr/>
            <p:nvPr/>
          </p:nvSpPr>
          <p:spPr>
            <a:xfrm>
              <a:off x="6051205" y="3844581"/>
              <a:ext cx="474300" cy="462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0" name="Google Shape;1840;p94"/>
            <p:cNvSpPr/>
            <p:nvPr/>
          </p:nvSpPr>
          <p:spPr>
            <a:xfrm>
              <a:off x="6610955" y="3844581"/>
              <a:ext cx="474300" cy="462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1" name="Google Shape;1841;p94"/>
            <p:cNvSpPr/>
            <p:nvPr/>
          </p:nvSpPr>
          <p:spPr>
            <a:xfrm>
              <a:off x="7170705" y="3844581"/>
              <a:ext cx="474300" cy="462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842" name="Google Shape;1842;p94"/>
          <p:cNvSpPr/>
          <p:nvPr/>
        </p:nvSpPr>
        <p:spPr>
          <a:xfrm>
            <a:off x="7736630" y="3844581"/>
            <a:ext cx="474300" cy="462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3" name="Google Shape;1843;p94"/>
          <p:cNvSpPr/>
          <p:nvPr/>
        </p:nvSpPr>
        <p:spPr>
          <a:xfrm>
            <a:off x="8305650" y="3837350"/>
            <a:ext cx="474300" cy="4698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4" name="Google Shape;1844;p94"/>
          <p:cNvSpPr/>
          <p:nvPr/>
        </p:nvSpPr>
        <p:spPr>
          <a:xfrm>
            <a:off x="6304975" y="2669175"/>
            <a:ext cx="638700" cy="277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5" name="Google Shape;1845;p94"/>
          <p:cNvSpPr/>
          <p:nvPr/>
        </p:nvSpPr>
        <p:spPr>
          <a:xfrm>
            <a:off x="7937200" y="3366028"/>
            <a:ext cx="474300" cy="277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6" name="Google Shape;1846;p94"/>
          <p:cNvSpPr txBox="1"/>
          <p:nvPr/>
        </p:nvSpPr>
        <p:spPr>
          <a:xfrm>
            <a:off x="6995283" y="1424819"/>
            <a:ext cx="750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30°</a:t>
            </a:r>
            <a:endParaRPr sz="2000">
              <a:latin typeface="Times New Roman"/>
              <a:ea typeface="Times New Roman"/>
              <a:cs typeface="Times New Roman"/>
              <a:sym typeface="Times New Roman"/>
            </a:endParaRPr>
          </a:p>
        </p:txBody>
      </p:sp>
      <p:sp>
        <p:nvSpPr>
          <p:cNvPr id="1847" name="Google Shape;1847;p94"/>
          <p:cNvSpPr/>
          <p:nvPr/>
        </p:nvSpPr>
        <p:spPr>
          <a:xfrm>
            <a:off x="4630800" y="4630800"/>
            <a:ext cx="131700" cy="15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3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95"/>
          <p:cNvSpPr txBox="1"/>
          <p:nvPr/>
        </p:nvSpPr>
        <p:spPr>
          <a:xfrm>
            <a:off x="324000" y="633631"/>
            <a:ext cx="84960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 following equations is correct when finding the size of angle</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n</a:t>
            </a:r>
            <a:r>
              <a:rPr lang="en-GB" sz="1800">
                <a:solidFill>
                  <a:schemeClr val="dk1"/>
                </a:solidFill>
                <a:latin typeface="Lexend"/>
                <a:ea typeface="Lexend"/>
                <a:cs typeface="Lexend"/>
                <a:sym typeface="Lexend"/>
              </a:rPr>
              <a:t>° in the equation:</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n</a:t>
            </a:r>
            <a:r>
              <a:rPr lang="en-GB" sz="1800">
                <a:solidFill>
                  <a:schemeClr val="dk1"/>
                </a:solidFill>
                <a:latin typeface="Lexend"/>
                <a:ea typeface="Lexend"/>
                <a:cs typeface="Lexend"/>
                <a:sym typeface="Lexend"/>
              </a:rPr>
              <a:t>°) = 0.24?</a:t>
            </a:r>
            <a:endParaRPr sz="1800">
              <a:solidFill>
                <a:schemeClr val="dk1"/>
              </a:solidFill>
              <a:latin typeface="Lexend"/>
              <a:ea typeface="Lexend"/>
              <a:cs typeface="Lexend"/>
              <a:sym typeface="Lexend"/>
            </a:endParaRPr>
          </a:p>
        </p:txBody>
      </p:sp>
      <p:sp>
        <p:nvSpPr>
          <p:cNvPr id="1853" name="Google Shape;1853;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pSp>
        <p:nvGrpSpPr>
          <p:cNvPr id="1854" name="Google Shape;1854;p95"/>
          <p:cNvGrpSpPr/>
          <p:nvPr/>
        </p:nvGrpSpPr>
        <p:grpSpPr>
          <a:xfrm>
            <a:off x="1757294" y="2447366"/>
            <a:ext cx="285750" cy="285750"/>
            <a:chOff x="1020916" y="1442088"/>
            <a:chExt cx="457200" cy="457200"/>
          </a:xfrm>
        </p:grpSpPr>
        <p:pic>
          <p:nvPicPr>
            <p:cNvPr id="1855" name="Google Shape;1855;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856" name="Google Shape;1856;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n=\frac{0.24}{\sin\left(\right)}\ \ \ \ \ \ \ \ \ \ \ \ n=\sin\left(0.24\right)\ \ \ \ \ \ \ \ \ \ \ \ \ \ \ n=\sin^{-1}\left(0.24\right)\ \ \ \ \ \ \ \ \ \ \ n=\arcsin\left(0.24\right)&quot;&gt;&lt;mi&gt;n&lt;/mi&gt;&lt;mo&gt;=&lt;/mo&gt;&lt;mfrac&gt;&lt;mn&gt;0.24&lt;/mn&gt;&lt;mrow&gt;&lt;mi&gt;sin&lt;/mi&gt;&lt;mo data-mjx-texclass=&quot;NONE&quot;&gt;⁡&lt;/mo&gt;&lt;mrow data-mjx-texclass=&quot;INNER&quot;&gt;&lt;mo data-mjx-texclass=&quot;OPEN&quot;&gt;(&lt;/mo&gt;&lt;mo data-mjx-texclass=&quot;CLOSE&quot;&gt;)&lt;/mo&gt;&lt;/mrow&gt;&lt;/mrow&gt;&lt;/mfrac&gt;&lt;mtext&gt;&lt;/mtext&gt;&lt;mtext&gt;&lt;/mtext&gt;&lt;mtext&gt;&lt;/mtext&gt;&lt;mtext&gt;&lt;/mtext&gt;&lt;mtext&gt;&lt;/mtext&gt;&lt;mtext&gt;&lt;/mtext&gt;&lt;mtext&gt;&lt;/mtext&gt;&lt;mtext&gt;&lt;/mtext&gt;&lt;mtext&gt;&lt;/mtext&gt;&lt;mtext&gt;&lt;/mtext&gt;&lt;mtext&gt;&lt;/mtext&gt;&lt;mtext&gt;&lt;/mtext&gt;&lt;mi&gt;n&lt;/mi&gt;&lt;mo&gt;=&lt;/mo&gt;&lt;mi&gt;sin&lt;/mi&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i&gt;n&lt;/mi&gt;&lt;mo&gt;=&lt;/mo&gt;&lt;msup&gt;&lt;mi&gt;sin&lt;/mi&gt;&lt;mrow data-mjx-texclass=&quot;ORD&quot;&gt;&lt;mo&gt;−&lt;/mo&gt;&lt;mn&gt;1&lt;/mn&gt;&lt;/mrow&gt;&lt;/msup&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i&gt;n&lt;/mi&gt;&lt;mo&gt;=&lt;/mo&gt;&lt;mi&gt;arcsin&lt;/mi&gt;&lt;mo data-mjx-texclass=&quot;NONE&quot;&gt;⁡&lt;/mo&gt;&lt;mrow data-mjx-texclass=&quot;INNER&quot;&gt;&lt;mo data-mjx-texclass=&quot;OPEN&quot;&gt;(&lt;/mo&gt;&lt;mn&gt;0.24&lt;/mn&gt;&lt;mo data-mjx-texclass=&quot;CLOSE&quot;&gt;)&lt;/mo&gt;&lt;/mrow&gt;&lt;/math&gt;" id="1857" name="Google Shape;1857;p95" title="n equals the fraction with numerator 0.24 and denominator the sine of open paren close paren n equals sine 0.24 n equals the inverse sine of 0.24 n equals arc sine 0.24"/>
          <p:cNvPicPr preferRelativeResize="0"/>
          <p:nvPr/>
        </p:nvPicPr>
        <p:blipFill rotWithShape="1">
          <a:blip r:embed="rId4">
            <a:alphaModFix/>
          </a:blip>
          <a:srcRect b="0" l="0" r="87410" t="0"/>
          <a:stretch/>
        </p:blipFill>
        <p:spPr>
          <a:xfrm>
            <a:off x="2137115" y="2260200"/>
            <a:ext cx="1159404" cy="660184"/>
          </a:xfrm>
          <a:prstGeom prst="rect">
            <a:avLst/>
          </a:prstGeom>
          <a:noFill/>
          <a:ln>
            <a:noFill/>
          </a:ln>
        </p:spPr>
      </p:pic>
      <p:grpSp>
        <p:nvGrpSpPr>
          <p:cNvPr id="1858" name="Google Shape;1858;p95"/>
          <p:cNvGrpSpPr/>
          <p:nvPr/>
        </p:nvGrpSpPr>
        <p:grpSpPr>
          <a:xfrm>
            <a:off x="1757294" y="3860132"/>
            <a:ext cx="285750" cy="285750"/>
            <a:chOff x="1020916" y="1442088"/>
            <a:chExt cx="457200" cy="457200"/>
          </a:xfrm>
        </p:grpSpPr>
        <p:pic>
          <p:nvPicPr>
            <p:cNvPr id="1859" name="Google Shape;1859;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860" name="Google Shape;1860;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n=\frac{0.24}{\sin\left(\right)}\ \ \ \ \ \ \ \ \ \ \ \ n=\sin\left(0.24\right)\ \ \ \ \ \ \ \ \ \ \ \ \ \ \ n=\sin^{-1}\left(0.24\right)\ \ \ \ \ \ \ \ \ \ \ n=\arcsin\left(0.24\right)&quot;&gt;&lt;mi&gt;n&lt;/mi&gt;&lt;mo&gt;=&lt;/mo&gt;&lt;mfrac&gt;&lt;mn&gt;0.24&lt;/mn&gt;&lt;mrow&gt;&lt;mi&gt;sin&lt;/mi&gt;&lt;mo data-mjx-texclass=&quot;NONE&quot;&gt;⁡&lt;/mo&gt;&lt;mrow data-mjx-texclass=&quot;INNER&quot;&gt;&lt;mo data-mjx-texclass=&quot;OPEN&quot;&gt;(&lt;/mo&gt;&lt;mo data-mjx-texclass=&quot;CLOSE&quot;&gt;)&lt;/mo&gt;&lt;/mrow&gt;&lt;/mrow&gt;&lt;/mfrac&gt;&lt;mtext&gt;&lt;/mtext&gt;&lt;mtext&gt;&lt;/mtext&gt;&lt;mtext&gt;&lt;/mtext&gt;&lt;mtext&gt;&lt;/mtext&gt;&lt;mtext&gt;&lt;/mtext&gt;&lt;mtext&gt;&lt;/mtext&gt;&lt;mtext&gt;&lt;/mtext&gt;&lt;mtext&gt;&lt;/mtext&gt;&lt;mtext&gt;&lt;/mtext&gt;&lt;mtext&gt;&lt;/mtext&gt;&lt;mtext&gt;&lt;/mtext&gt;&lt;mtext&gt;&lt;/mtext&gt;&lt;mi&gt;n&lt;/mi&gt;&lt;mo&gt;=&lt;/mo&gt;&lt;mi&gt;sin&lt;/mi&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i&gt;n&lt;/mi&gt;&lt;mo&gt;=&lt;/mo&gt;&lt;msup&gt;&lt;mi&gt;sin&lt;/mi&gt;&lt;mrow data-mjx-texclass=&quot;ORD&quot;&gt;&lt;mo&gt;−&lt;/mo&gt;&lt;mn&gt;1&lt;/mn&gt;&lt;/mrow&gt;&lt;/msup&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i&gt;n&lt;/mi&gt;&lt;mo&gt;=&lt;/mo&gt;&lt;mi&gt;arcsin&lt;/mi&gt;&lt;mo data-mjx-texclass=&quot;NONE&quot;&gt;⁡&lt;/mo&gt;&lt;mrow data-mjx-texclass=&quot;INNER&quot;&gt;&lt;mo data-mjx-texclass=&quot;OPEN&quot;&gt;(&lt;/mo&gt;&lt;mn&gt;0.24&lt;/mn&gt;&lt;mo data-mjx-texclass=&quot;CLOSE&quot;&gt;)&lt;/mo&gt;&lt;/mrow&gt;&lt;/math&gt;" id="1861" name="Google Shape;1861;p95" title="n equals the fraction with numerator 0.24 and denominator the sine of open paren close paren n equals sine 0.24 n equals the inverse sine of 0.24 n equals arc sine 0.24"/>
          <p:cNvPicPr preferRelativeResize="0"/>
          <p:nvPr/>
        </p:nvPicPr>
        <p:blipFill rotWithShape="1">
          <a:blip r:embed="rId4">
            <a:alphaModFix/>
          </a:blip>
          <a:srcRect b="0" l="21892" r="60904" t="0"/>
          <a:stretch/>
        </p:blipFill>
        <p:spPr>
          <a:xfrm>
            <a:off x="2137117" y="3672966"/>
            <a:ext cx="1584328" cy="660184"/>
          </a:xfrm>
          <a:prstGeom prst="rect">
            <a:avLst/>
          </a:prstGeom>
          <a:noFill/>
          <a:ln>
            <a:noFill/>
          </a:ln>
        </p:spPr>
      </p:pic>
      <p:grpSp>
        <p:nvGrpSpPr>
          <p:cNvPr id="1862" name="Google Shape;1862;p95"/>
          <p:cNvGrpSpPr/>
          <p:nvPr/>
        </p:nvGrpSpPr>
        <p:grpSpPr>
          <a:xfrm>
            <a:off x="5102524" y="2447366"/>
            <a:ext cx="285750" cy="285750"/>
            <a:chOff x="1020916" y="1442088"/>
            <a:chExt cx="457200" cy="457200"/>
          </a:xfrm>
        </p:grpSpPr>
        <p:pic>
          <p:nvPicPr>
            <p:cNvPr id="1863" name="Google Shape;1863;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864" name="Google Shape;1864;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n=\frac{0.24}{\sin\left(\right)}\ \ \ \ \ \ \ \ \ \ \ \ n=\sin\left(0.24\right)\ \ \ \ \ \ \ \ \ \ \ \ \ \ \ n=\sin^{-1}\left(0.24\right)\ \ \ \ \ \ \ \ \ \ \ n=\arcsin\left(0.24\right)&quot;&gt;&lt;mi&gt;n&lt;/mi&gt;&lt;mo&gt;=&lt;/mo&gt;&lt;mfrac&gt;&lt;mn&gt;0.24&lt;/mn&gt;&lt;mrow&gt;&lt;mi&gt;sin&lt;/mi&gt;&lt;mo data-mjx-texclass=&quot;NONE&quot;&gt;⁡&lt;/mo&gt;&lt;mrow data-mjx-texclass=&quot;INNER&quot;&gt;&lt;mo data-mjx-texclass=&quot;OPEN&quot;&gt;(&lt;/mo&gt;&lt;mo data-mjx-texclass=&quot;CLOSE&quot;&gt;)&lt;/mo&gt;&lt;/mrow&gt;&lt;/mrow&gt;&lt;/mfrac&gt;&lt;mtext&gt;&lt;/mtext&gt;&lt;mtext&gt;&lt;/mtext&gt;&lt;mtext&gt;&lt;/mtext&gt;&lt;mtext&gt;&lt;/mtext&gt;&lt;mtext&gt;&lt;/mtext&gt;&lt;mtext&gt;&lt;/mtext&gt;&lt;mtext&gt;&lt;/mtext&gt;&lt;mtext&gt;&lt;/mtext&gt;&lt;mtext&gt;&lt;/mtext&gt;&lt;mtext&gt;&lt;/mtext&gt;&lt;mtext&gt;&lt;/mtext&gt;&lt;mtext&gt;&lt;/mtext&gt;&lt;mi&gt;n&lt;/mi&gt;&lt;mo&gt;=&lt;/mo&gt;&lt;mi&gt;sin&lt;/mi&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i&gt;n&lt;/mi&gt;&lt;mo&gt;=&lt;/mo&gt;&lt;msup&gt;&lt;mi&gt;sin&lt;/mi&gt;&lt;mrow data-mjx-texclass=&quot;ORD&quot;&gt;&lt;mo&gt;−&lt;/mo&gt;&lt;mn&gt;1&lt;/mn&gt;&lt;/mrow&gt;&lt;/msup&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i&gt;n&lt;/mi&gt;&lt;mo&gt;=&lt;/mo&gt;&lt;mi&gt;arcsin&lt;/mi&gt;&lt;mo data-mjx-texclass=&quot;NONE&quot;&gt;⁡&lt;/mo&gt;&lt;mrow data-mjx-texclass=&quot;INNER&quot;&gt;&lt;mo data-mjx-texclass=&quot;OPEN&quot;&gt;(&lt;/mo&gt;&lt;mn&gt;0.24&lt;/mn&gt;&lt;mo data-mjx-texclass=&quot;CLOSE&quot;&gt;)&lt;/mo&gt;&lt;/mrow&gt;&lt;/math&gt;" id="1865" name="Google Shape;1865;p95" title="n equals the fraction with numerator 0.24 and denominator the sine of open paren close paren n equals sine 0.24 n equals the inverse sine of 0.24 n equals arc sine 0.24"/>
          <p:cNvPicPr preferRelativeResize="0"/>
          <p:nvPr/>
        </p:nvPicPr>
        <p:blipFill rotWithShape="1">
          <a:blip r:embed="rId4">
            <a:alphaModFix/>
          </a:blip>
          <a:srcRect b="0" l="50711" r="29077" t="0"/>
          <a:stretch/>
        </p:blipFill>
        <p:spPr>
          <a:xfrm>
            <a:off x="5482369" y="2260200"/>
            <a:ext cx="1861350" cy="660184"/>
          </a:xfrm>
          <a:prstGeom prst="rect">
            <a:avLst/>
          </a:prstGeom>
          <a:noFill/>
          <a:ln>
            <a:noFill/>
          </a:ln>
        </p:spPr>
      </p:pic>
      <p:grpSp>
        <p:nvGrpSpPr>
          <p:cNvPr id="1866" name="Google Shape;1866;p95"/>
          <p:cNvGrpSpPr/>
          <p:nvPr/>
        </p:nvGrpSpPr>
        <p:grpSpPr>
          <a:xfrm>
            <a:off x="5102524" y="3860132"/>
            <a:ext cx="285750" cy="285750"/>
            <a:chOff x="1020916" y="1442088"/>
            <a:chExt cx="457200" cy="457200"/>
          </a:xfrm>
        </p:grpSpPr>
        <p:pic>
          <p:nvPicPr>
            <p:cNvPr id="1867" name="Google Shape;1867;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868" name="Google Shape;1868;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n=\frac{0.24}{\sin\left(\right)}\ \ \ \ \ \ \ \ \ \ \ \ n=\sin\left(0.24\right)\ \ \ \ \ \ \ \ \ \ \ \ \ \ \ n=\sin^{-1}\left(0.24\right)\ \ \ \ \ \ \ \ \ \ \ n=\arcsin\left(0.24\right)&quot;&gt;&lt;mi&gt;n&lt;/mi&gt;&lt;mo&gt;=&lt;/mo&gt;&lt;mfrac&gt;&lt;mn&gt;0.24&lt;/mn&gt;&lt;mrow&gt;&lt;mi&gt;sin&lt;/mi&gt;&lt;mo data-mjx-texclass=&quot;NONE&quot;&gt;⁡&lt;/mo&gt;&lt;mrow data-mjx-texclass=&quot;INNER&quot;&gt;&lt;mo data-mjx-texclass=&quot;OPEN&quot;&gt;(&lt;/mo&gt;&lt;mo data-mjx-texclass=&quot;CLOSE&quot;&gt;)&lt;/mo&gt;&lt;/mrow&gt;&lt;/mrow&gt;&lt;/mfrac&gt;&lt;mtext&gt;&lt;/mtext&gt;&lt;mtext&gt;&lt;/mtext&gt;&lt;mtext&gt;&lt;/mtext&gt;&lt;mtext&gt;&lt;/mtext&gt;&lt;mtext&gt;&lt;/mtext&gt;&lt;mtext&gt;&lt;/mtext&gt;&lt;mtext&gt;&lt;/mtext&gt;&lt;mtext&gt;&lt;/mtext&gt;&lt;mtext&gt;&lt;/mtext&gt;&lt;mtext&gt;&lt;/mtext&gt;&lt;mtext&gt;&lt;/mtext&gt;&lt;mtext&gt;&lt;/mtext&gt;&lt;mi&gt;n&lt;/mi&gt;&lt;mo&gt;=&lt;/mo&gt;&lt;mi&gt;sin&lt;/mi&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i&gt;n&lt;/mi&gt;&lt;mo&gt;=&lt;/mo&gt;&lt;msup&gt;&lt;mi&gt;sin&lt;/mi&gt;&lt;mrow data-mjx-texclass=&quot;ORD&quot;&gt;&lt;mo&gt;−&lt;/mo&gt;&lt;mn&gt;1&lt;/mn&gt;&lt;/mrow&gt;&lt;/msup&gt;&lt;mo data-mjx-texclass=&quot;NONE&quot;&gt;⁡&lt;/mo&gt;&lt;mrow data-mjx-texclass=&quot;INNER&quot;&gt;&lt;mo data-mjx-texclass=&quot;OPEN&quot;&gt;(&lt;/mo&gt;&lt;mn&gt;0.24&lt;/mn&gt;&lt;mo data-mjx-texclass=&quot;CLOSE&quot;&gt;)&lt;/mo&gt;&lt;/mrow&gt;&lt;mtext&gt;&lt;/mtext&gt;&lt;mtext&gt;&lt;/mtext&gt;&lt;mtext&gt;&lt;/mtext&gt;&lt;mtext&gt;&lt;/mtext&gt;&lt;mtext&gt;&lt;/mtext&gt;&lt;mtext&gt;&lt;/mtext&gt;&lt;mtext&gt;&lt;/mtext&gt;&lt;mtext&gt;&lt;/mtext&gt;&lt;mtext&gt;&lt;/mtext&gt;&lt;mtext&gt;&lt;/mtext&gt;&lt;mtext&gt;&lt;/mtext&gt;&lt;mi&gt;n&lt;/mi&gt;&lt;mo&gt;=&lt;/mo&gt;&lt;mi&gt;arcsin&lt;/mi&gt;&lt;mo data-mjx-texclass=&quot;NONE&quot;&gt;⁡&lt;/mo&gt;&lt;mrow data-mjx-texclass=&quot;INNER&quot;&gt;&lt;mo data-mjx-texclass=&quot;OPEN&quot;&gt;(&lt;/mo&gt;&lt;mn&gt;0.24&lt;/mn&gt;&lt;mo data-mjx-texclass=&quot;CLOSE&quot;&gt;)&lt;/mo&gt;&lt;/mrow&gt;&lt;/math&gt;" id="1869" name="Google Shape;1869;p95" title="n equals the fraction with numerator 0.24 and denominator the sine of open paren close paren n equals sine 0.24 n equals the inverse sine of 0.24 n equals arc sine 0.24"/>
          <p:cNvPicPr preferRelativeResize="0"/>
          <p:nvPr/>
        </p:nvPicPr>
        <p:blipFill rotWithShape="1">
          <a:blip r:embed="rId4">
            <a:alphaModFix/>
          </a:blip>
          <a:srcRect b="0" l="79322" r="0" t="0"/>
          <a:stretch/>
        </p:blipFill>
        <p:spPr>
          <a:xfrm>
            <a:off x="5482363" y="3672966"/>
            <a:ext cx="1904343" cy="660184"/>
          </a:xfrm>
          <a:prstGeom prst="rect">
            <a:avLst/>
          </a:prstGeom>
          <a:noFill/>
          <a:ln>
            <a:noFill/>
          </a:ln>
        </p:spPr>
      </p:pic>
      <p:pic>
        <p:nvPicPr>
          <p:cNvPr id="1870" name="Google Shape;1870;p95"/>
          <p:cNvPicPr preferRelativeResize="0"/>
          <p:nvPr/>
        </p:nvPicPr>
        <p:blipFill>
          <a:blip r:embed="rId5">
            <a:alphaModFix/>
          </a:blip>
          <a:stretch>
            <a:fillRect/>
          </a:stretch>
        </p:blipFill>
        <p:spPr>
          <a:xfrm>
            <a:off x="7498273" y="2343957"/>
            <a:ext cx="465513" cy="492670"/>
          </a:xfrm>
          <a:prstGeom prst="rect">
            <a:avLst/>
          </a:prstGeom>
          <a:noFill/>
          <a:ln>
            <a:noFill/>
          </a:ln>
        </p:spPr>
      </p:pic>
      <p:pic>
        <p:nvPicPr>
          <p:cNvPr id="1871" name="Google Shape;1871;p95"/>
          <p:cNvPicPr preferRelativeResize="0"/>
          <p:nvPr/>
        </p:nvPicPr>
        <p:blipFill>
          <a:blip r:embed="rId5">
            <a:alphaModFix/>
          </a:blip>
          <a:stretch>
            <a:fillRect/>
          </a:stretch>
        </p:blipFill>
        <p:spPr>
          <a:xfrm>
            <a:off x="7498273" y="3756723"/>
            <a:ext cx="465513" cy="4926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pic>
        <p:nvPicPr>
          <p:cNvPr id="1877" name="Google Shape;1877;p96"/>
          <p:cNvPicPr preferRelativeResize="0"/>
          <p:nvPr/>
        </p:nvPicPr>
        <p:blipFill>
          <a:blip r:embed="rId3">
            <a:alphaModFix/>
          </a:blip>
          <a:stretch>
            <a:fillRect/>
          </a:stretch>
        </p:blipFill>
        <p:spPr>
          <a:xfrm>
            <a:off x="347739" y="1713775"/>
            <a:ext cx="4007585" cy="1611683"/>
          </a:xfrm>
          <a:prstGeom prst="rect">
            <a:avLst/>
          </a:prstGeom>
          <a:noFill/>
          <a:ln cap="flat" cmpd="sng" w="28575">
            <a:solidFill>
              <a:schemeClr val="dk1"/>
            </a:solidFill>
            <a:prstDash val="solid"/>
            <a:round/>
            <a:headEnd len="sm" w="sm" type="none"/>
            <a:tailEnd len="sm" w="sm" type="none"/>
          </a:ln>
        </p:spPr>
      </p:pic>
      <p:pic>
        <p:nvPicPr>
          <p:cNvPr id="1878" name="Google Shape;1878;p96"/>
          <p:cNvPicPr preferRelativeResize="0"/>
          <p:nvPr/>
        </p:nvPicPr>
        <p:blipFill>
          <a:blip r:embed="rId4">
            <a:alphaModFix/>
          </a:blip>
          <a:stretch>
            <a:fillRect/>
          </a:stretch>
        </p:blipFill>
        <p:spPr>
          <a:xfrm>
            <a:off x="347750" y="3373562"/>
            <a:ext cx="4007584" cy="415132"/>
          </a:xfrm>
          <a:prstGeom prst="rect">
            <a:avLst/>
          </a:prstGeom>
          <a:noFill/>
          <a:ln cap="flat" cmpd="sng" w="28575">
            <a:solidFill>
              <a:schemeClr val="dk1"/>
            </a:solidFill>
            <a:prstDash val="solid"/>
            <a:round/>
            <a:headEnd len="sm" w="sm" type="none"/>
            <a:tailEnd len="sm" w="sm" type="none"/>
          </a:ln>
        </p:spPr>
      </p:pic>
      <p:pic>
        <p:nvPicPr>
          <p:cNvPr id="1879" name="Google Shape;1879;p96"/>
          <p:cNvPicPr preferRelativeResize="0"/>
          <p:nvPr/>
        </p:nvPicPr>
        <p:blipFill>
          <a:blip r:embed="rId5">
            <a:alphaModFix/>
          </a:blip>
          <a:stretch>
            <a:fillRect/>
          </a:stretch>
        </p:blipFill>
        <p:spPr>
          <a:xfrm>
            <a:off x="4800168" y="1713775"/>
            <a:ext cx="4019818" cy="1611683"/>
          </a:xfrm>
          <a:prstGeom prst="rect">
            <a:avLst/>
          </a:prstGeom>
          <a:noFill/>
          <a:ln cap="flat" cmpd="sng" w="28575">
            <a:solidFill>
              <a:schemeClr val="dk1"/>
            </a:solidFill>
            <a:prstDash val="solid"/>
            <a:round/>
            <a:headEnd len="sm" w="sm" type="none"/>
            <a:tailEnd len="sm" w="sm" type="none"/>
          </a:ln>
        </p:spPr>
      </p:pic>
      <p:pic>
        <p:nvPicPr>
          <p:cNvPr id="1880" name="Google Shape;1880;p96"/>
          <p:cNvPicPr preferRelativeResize="0"/>
          <p:nvPr/>
        </p:nvPicPr>
        <p:blipFill>
          <a:blip r:embed="rId6">
            <a:alphaModFix/>
          </a:blip>
          <a:stretch>
            <a:fillRect/>
          </a:stretch>
        </p:blipFill>
        <p:spPr>
          <a:xfrm>
            <a:off x="4800161" y="3373551"/>
            <a:ext cx="4019826" cy="457431"/>
          </a:xfrm>
          <a:prstGeom prst="rect">
            <a:avLst/>
          </a:prstGeom>
          <a:noFill/>
          <a:ln cap="flat" cmpd="sng" w="28575">
            <a:solidFill>
              <a:schemeClr val="dk1"/>
            </a:solidFill>
            <a:prstDash val="solid"/>
            <a:round/>
            <a:headEnd len="sm" w="sm" type="none"/>
            <a:tailEnd len="sm" w="sm" type="none"/>
          </a:ln>
        </p:spPr>
      </p:pic>
      <p:sp>
        <p:nvSpPr>
          <p:cNvPr id="1881" name="Google Shape;1881;p96"/>
          <p:cNvSpPr txBox="1"/>
          <p:nvPr/>
        </p:nvSpPr>
        <p:spPr>
          <a:xfrm>
            <a:off x="324000" y="557431"/>
            <a:ext cx="84960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calculator display is correct when trying to find the size of angle </a:t>
            </a:r>
            <a:r>
              <a:rPr i="1" lang="en-GB" sz="2200">
                <a:latin typeface="Times New Roman"/>
                <a:ea typeface="Times New Roman"/>
                <a:cs typeface="Times New Roman"/>
                <a:sym typeface="Times New Roman"/>
              </a:rPr>
              <a:t>p</a:t>
            </a:r>
            <a:r>
              <a:rPr lang="en-GB" sz="1800">
                <a:latin typeface="Lexend"/>
                <a:ea typeface="Lexend"/>
                <a:cs typeface="Lexend"/>
                <a:sym typeface="Lexend"/>
              </a:rPr>
              <a:t>° in the equation: </a:t>
            </a:r>
            <a:endParaRPr sz="1800">
              <a:latin typeface="Lexend"/>
              <a:ea typeface="Lexend"/>
              <a:cs typeface="Lexend"/>
              <a:sym typeface="Lexend"/>
            </a:endParaRPr>
          </a:p>
          <a:p>
            <a:pPr indent="0" lvl="0" marL="0" rtl="0" algn="ctr">
              <a:spcBef>
                <a:spcPts val="0"/>
              </a:spcBef>
              <a:spcAft>
                <a:spcPts val="0"/>
              </a:spcAft>
              <a:buNone/>
            </a:pPr>
            <a:r>
              <a:rPr lang="en-GB" sz="2000">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p</a:t>
            </a:r>
            <a:r>
              <a:rPr lang="en-GB" sz="2000">
                <a:solidFill>
                  <a:schemeClr val="dk1"/>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 = 0.772</a:t>
            </a:r>
            <a:r>
              <a:rPr lang="en-GB" sz="1800">
                <a:latin typeface="Lexend"/>
                <a:ea typeface="Lexend"/>
                <a:cs typeface="Lexend"/>
                <a:sym typeface="Lexend"/>
              </a:rPr>
              <a:t>?</a:t>
            </a:r>
            <a:endParaRPr sz="1800">
              <a:latin typeface="Lexend"/>
              <a:ea typeface="Lexend"/>
              <a:cs typeface="Lexend"/>
              <a:sym typeface="Lexend"/>
            </a:endParaRPr>
          </a:p>
        </p:txBody>
      </p:sp>
      <p:grpSp>
        <p:nvGrpSpPr>
          <p:cNvPr id="1882" name="Google Shape;1882;p96"/>
          <p:cNvGrpSpPr/>
          <p:nvPr/>
        </p:nvGrpSpPr>
        <p:grpSpPr>
          <a:xfrm>
            <a:off x="347738" y="1428960"/>
            <a:ext cx="243093" cy="243093"/>
            <a:chOff x="1020916" y="1442088"/>
            <a:chExt cx="457200" cy="457200"/>
          </a:xfrm>
        </p:grpSpPr>
        <p:pic>
          <p:nvPicPr>
            <p:cNvPr id="1883" name="Google Shape;1883;p96"/>
            <p:cNvPicPr preferRelativeResize="0"/>
            <p:nvPr/>
          </p:nvPicPr>
          <p:blipFill>
            <a:blip r:embed="rId7">
              <a:alphaModFix/>
            </a:blip>
            <a:stretch>
              <a:fillRect/>
            </a:stretch>
          </p:blipFill>
          <p:spPr>
            <a:xfrm>
              <a:off x="1020916" y="1442088"/>
              <a:ext cx="457200" cy="457200"/>
            </a:xfrm>
            <a:prstGeom prst="rect">
              <a:avLst/>
            </a:prstGeom>
            <a:noFill/>
            <a:ln>
              <a:noFill/>
            </a:ln>
          </p:spPr>
        </p:pic>
        <p:sp>
          <p:nvSpPr>
            <p:cNvPr id="1884" name="Google Shape;1884;p96"/>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885" name="Google Shape;1885;p96"/>
          <p:cNvGrpSpPr/>
          <p:nvPr/>
        </p:nvGrpSpPr>
        <p:grpSpPr>
          <a:xfrm>
            <a:off x="8577013" y="1428960"/>
            <a:ext cx="243093" cy="243093"/>
            <a:chOff x="1020916" y="1442088"/>
            <a:chExt cx="457200" cy="457200"/>
          </a:xfrm>
        </p:grpSpPr>
        <p:pic>
          <p:nvPicPr>
            <p:cNvPr id="1886" name="Google Shape;1886;p96"/>
            <p:cNvPicPr preferRelativeResize="0"/>
            <p:nvPr/>
          </p:nvPicPr>
          <p:blipFill>
            <a:blip r:embed="rId7">
              <a:alphaModFix/>
            </a:blip>
            <a:stretch>
              <a:fillRect/>
            </a:stretch>
          </p:blipFill>
          <p:spPr>
            <a:xfrm>
              <a:off x="1020916" y="1442088"/>
              <a:ext cx="457200" cy="457200"/>
            </a:xfrm>
            <a:prstGeom prst="rect">
              <a:avLst/>
            </a:prstGeom>
            <a:noFill/>
            <a:ln>
              <a:noFill/>
            </a:ln>
          </p:spPr>
        </p:pic>
        <p:sp>
          <p:nvSpPr>
            <p:cNvPr id="1887" name="Google Shape;1887;p96"/>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888" name="Google Shape;1888;p96"/>
          <p:cNvPicPr preferRelativeResize="0"/>
          <p:nvPr/>
        </p:nvPicPr>
        <p:blipFill>
          <a:blip r:embed="rId8">
            <a:alphaModFix/>
          </a:blip>
          <a:stretch>
            <a:fillRect/>
          </a:stretch>
        </p:blipFill>
        <p:spPr>
          <a:xfrm>
            <a:off x="347746" y="3900913"/>
            <a:ext cx="396000" cy="419100"/>
          </a:xfrm>
          <a:prstGeom prst="rect">
            <a:avLst/>
          </a:prstGeom>
          <a:noFill/>
          <a:ln>
            <a:noFill/>
          </a:ln>
        </p:spPr>
      </p:pic>
      <p:sp>
        <p:nvSpPr>
          <p:cNvPr id="1889" name="Google Shape;1889;p96"/>
          <p:cNvSpPr txBox="1"/>
          <p:nvPr/>
        </p:nvSpPr>
        <p:spPr>
          <a:xfrm>
            <a:off x="868300" y="3955275"/>
            <a:ext cx="79518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Finding the size of an angle will require the use of arcsine, which is shown by </a:t>
            </a:r>
            <a:r>
              <a:rPr lang="en-GB" sz="2200">
                <a:solidFill>
                  <a:schemeClr val="accent5"/>
                </a:solidFill>
                <a:latin typeface="Times New Roman"/>
                <a:ea typeface="Times New Roman"/>
                <a:cs typeface="Times New Roman"/>
                <a:sym typeface="Times New Roman"/>
              </a:rPr>
              <a:t>sin</a:t>
            </a:r>
            <a:r>
              <a:rPr baseline="30000" lang="en-GB" sz="2200">
                <a:solidFill>
                  <a:schemeClr val="accent5"/>
                </a:solidFill>
                <a:latin typeface="Times New Roman"/>
                <a:ea typeface="Times New Roman"/>
                <a:cs typeface="Times New Roman"/>
                <a:sym typeface="Times New Roman"/>
              </a:rPr>
              <a:t>-1</a:t>
            </a:r>
            <a:r>
              <a:rPr lang="en-GB" sz="2000">
                <a:latin typeface="Kalam"/>
                <a:ea typeface="Kalam"/>
                <a:cs typeface="Kalam"/>
                <a:sym typeface="Kalam"/>
              </a:rPr>
              <a:t> on a calculator.</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pic>
        <p:nvPicPr>
          <p:cNvPr id="1894" name="Google Shape;1894;p97"/>
          <p:cNvPicPr preferRelativeResize="0"/>
          <p:nvPr/>
        </p:nvPicPr>
        <p:blipFill>
          <a:blip r:embed="rId3">
            <a:alphaModFix/>
          </a:blip>
          <a:stretch>
            <a:fillRect/>
          </a:stretch>
        </p:blipFill>
        <p:spPr>
          <a:xfrm>
            <a:off x="4745139" y="1713775"/>
            <a:ext cx="4019824" cy="1595353"/>
          </a:xfrm>
          <a:prstGeom prst="rect">
            <a:avLst/>
          </a:prstGeom>
          <a:noFill/>
          <a:ln cap="flat" cmpd="sng" w="28575">
            <a:solidFill>
              <a:schemeClr val="dk1"/>
            </a:solidFill>
            <a:prstDash val="solid"/>
            <a:round/>
            <a:headEnd len="sm" w="sm" type="none"/>
            <a:tailEnd len="sm" w="sm" type="none"/>
          </a:ln>
        </p:spPr>
      </p:pic>
      <p:pic>
        <p:nvPicPr>
          <p:cNvPr id="1895" name="Google Shape;1895;p97"/>
          <p:cNvPicPr preferRelativeResize="0"/>
          <p:nvPr/>
        </p:nvPicPr>
        <p:blipFill>
          <a:blip r:embed="rId4">
            <a:alphaModFix/>
          </a:blip>
          <a:stretch>
            <a:fillRect/>
          </a:stretch>
        </p:blipFill>
        <p:spPr>
          <a:xfrm>
            <a:off x="347750" y="1713776"/>
            <a:ext cx="4019826" cy="1609062"/>
          </a:xfrm>
          <a:prstGeom prst="rect">
            <a:avLst/>
          </a:prstGeom>
          <a:noFill/>
          <a:ln cap="flat" cmpd="sng" w="28575">
            <a:solidFill>
              <a:schemeClr val="dk1"/>
            </a:solidFill>
            <a:prstDash val="solid"/>
            <a:round/>
            <a:headEnd len="sm" w="sm" type="none"/>
            <a:tailEnd len="sm" w="sm" type="none"/>
          </a:ln>
        </p:spPr>
      </p:pic>
      <p:sp>
        <p:nvSpPr>
          <p:cNvPr id="1896" name="Google Shape;1896;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sp>
        <p:nvSpPr>
          <p:cNvPr id="1897" name="Google Shape;1897;p97"/>
          <p:cNvSpPr txBox="1"/>
          <p:nvPr/>
        </p:nvSpPr>
        <p:spPr>
          <a:xfrm>
            <a:off x="324000" y="557431"/>
            <a:ext cx="84960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calculator display is correct when trying to find the size of angle </a:t>
            </a:r>
            <a:r>
              <a:rPr i="1" lang="en-GB" sz="2200">
                <a:latin typeface="Times New Roman"/>
                <a:ea typeface="Times New Roman"/>
                <a:cs typeface="Times New Roman"/>
                <a:sym typeface="Times New Roman"/>
              </a:rPr>
              <a:t>y</a:t>
            </a:r>
            <a:r>
              <a:rPr lang="en-GB" sz="1800">
                <a:latin typeface="Lexend"/>
                <a:ea typeface="Lexend"/>
                <a:cs typeface="Lexend"/>
                <a:sym typeface="Lexend"/>
              </a:rPr>
              <a:t>° in the equation:</a:t>
            </a:r>
            <a:endParaRPr sz="1800">
              <a:latin typeface="Lexend"/>
              <a:ea typeface="Lexend"/>
              <a:cs typeface="Lexend"/>
              <a:sym typeface="Lexend"/>
            </a:endParaRPr>
          </a:p>
          <a:p>
            <a:pPr indent="0" lvl="0" marL="0" rtl="0" algn="ctr">
              <a:spcBef>
                <a:spcPts val="0"/>
              </a:spcBef>
              <a:spcAft>
                <a:spcPts val="0"/>
              </a:spcAft>
              <a:buNone/>
            </a:pPr>
            <a:r>
              <a:rPr lang="en-GB" sz="2000">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y</a:t>
            </a:r>
            <a:r>
              <a:rPr lang="en-GB" sz="2000">
                <a:solidFill>
                  <a:schemeClr val="dk1"/>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 = 0.9</a:t>
            </a:r>
            <a:r>
              <a:rPr lang="en-GB" sz="1800">
                <a:latin typeface="Lexend"/>
                <a:ea typeface="Lexend"/>
                <a:cs typeface="Lexend"/>
                <a:sym typeface="Lexend"/>
              </a:rPr>
              <a:t>?</a:t>
            </a:r>
            <a:endParaRPr sz="1800">
              <a:latin typeface="Lexend"/>
              <a:ea typeface="Lexend"/>
              <a:cs typeface="Lexend"/>
              <a:sym typeface="Lexend"/>
            </a:endParaRPr>
          </a:p>
        </p:txBody>
      </p:sp>
      <p:grpSp>
        <p:nvGrpSpPr>
          <p:cNvPr id="1898" name="Google Shape;1898;p97"/>
          <p:cNvGrpSpPr/>
          <p:nvPr/>
        </p:nvGrpSpPr>
        <p:grpSpPr>
          <a:xfrm>
            <a:off x="347738" y="1428960"/>
            <a:ext cx="243093" cy="243093"/>
            <a:chOff x="1020916" y="1442088"/>
            <a:chExt cx="457200" cy="457200"/>
          </a:xfrm>
        </p:grpSpPr>
        <p:pic>
          <p:nvPicPr>
            <p:cNvPr id="1899" name="Google Shape;1899;p97"/>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900" name="Google Shape;1900;p9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pic>
        <p:nvPicPr>
          <p:cNvPr id="1901" name="Google Shape;1901;p97"/>
          <p:cNvPicPr preferRelativeResize="0"/>
          <p:nvPr/>
        </p:nvPicPr>
        <p:blipFill>
          <a:blip r:embed="rId6">
            <a:alphaModFix/>
          </a:blip>
          <a:stretch>
            <a:fillRect/>
          </a:stretch>
        </p:blipFill>
        <p:spPr>
          <a:xfrm>
            <a:off x="8423996" y="3911563"/>
            <a:ext cx="396000" cy="419100"/>
          </a:xfrm>
          <a:prstGeom prst="rect">
            <a:avLst/>
          </a:prstGeom>
          <a:noFill/>
          <a:ln>
            <a:noFill/>
          </a:ln>
        </p:spPr>
      </p:pic>
      <p:sp>
        <p:nvSpPr>
          <p:cNvPr id="1902" name="Google Shape;1902;p97"/>
          <p:cNvSpPr txBox="1"/>
          <p:nvPr/>
        </p:nvSpPr>
        <p:spPr>
          <a:xfrm>
            <a:off x="324000" y="3893388"/>
            <a:ext cx="81000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Both answers have been input into the calculator correctly.</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However, the calculator in a has been set to radians, not degrees. Therefore, its result is</a:t>
            </a:r>
            <a:r>
              <a:rPr lang="en-GB" sz="2000">
                <a:latin typeface="Kalam"/>
                <a:ea typeface="Kalam"/>
                <a:cs typeface="Kalam"/>
                <a:sym typeface="Kalam"/>
              </a:rPr>
              <a:t> not an</a:t>
            </a:r>
            <a:r>
              <a:rPr lang="en-GB" sz="2000">
                <a:latin typeface="Kalam"/>
                <a:ea typeface="Kalam"/>
                <a:cs typeface="Kalam"/>
                <a:sym typeface="Kalam"/>
              </a:rPr>
              <a:t> angle given in degrees.</a:t>
            </a:r>
            <a:endParaRPr sz="2000">
              <a:latin typeface="Kalam"/>
              <a:ea typeface="Kalam"/>
              <a:cs typeface="Kalam"/>
              <a:sym typeface="Kalam"/>
            </a:endParaRPr>
          </a:p>
        </p:txBody>
      </p:sp>
      <p:pic>
        <p:nvPicPr>
          <p:cNvPr id="1903" name="Google Shape;1903;p97"/>
          <p:cNvPicPr preferRelativeResize="0"/>
          <p:nvPr/>
        </p:nvPicPr>
        <p:blipFill>
          <a:blip r:embed="rId7">
            <a:alphaModFix/>
          </a:blip>
          <a:stretch>
            <a:fillRect/>
          </a:stretch>
        </p:blipFill>
        <p:spPr>
          <a:xfrm>
            <a:off x="347750" y="3350850"/>
            <a:ext cx="4019825" cy="519008"/>
          </a:xfrm>
          <a:prstGeom prst="rect">
            <a:avLst/>
          </a:prstGeom>
          <a:noFill/>
          <a:ln cap="flat" cmpd="sng" w="28575">
            <a:solidFill>
              <a:schemeClr val="dk1"/>
            </a:solidFill>
            <a:prstDash val="solid"/>
            <a:round/>
            <a:headEnd len="sm" w="sm" type="none"/>
            <a:tailEnd len="sm" w="sm" type="none"/>
          </a:ln>
        </p:spPr>
      </p:pic>
      <p:pic>
        <p:nvPicPr>
          <p:cNvPr id="1904" name="Google Shape;1904;p97"/>
          <p:cNvPicPr preferRelativeResize="0"/>
          <p:nvPr/>
        </p:nvPicPr>
        <p:blipFill>
          <a:blip r:embed="rId7">
            <a:alphaModFix/>
          </a:blip>
          <a:stretch>
            <a:fillRect/>
          </a:stretch>
        </p:blipFill>
        <p:spPr>
          <a:xfrm>
            <a:off x="4745139" y="3350850"/>
            <a:ext cx="4019825" cy="519008"/>
          </a:xfrm>
          <a:prstGeom prst="rect">
            <a:avLst/>
          </a:prstGeom>
          <a:noFill/>
          <a:ln cap="flat" cmpd="sng" w="28575">
            <a:solidFill>
              <a:schemeClr val="dk1"/>
            </a:solidFill>
            <a:prstDash val="solid"/>
            <a:round/>
            <a:headEnd len="sm" w="sm" type="none"/>
            <a:tailEnd len="sm" w="sm" type="none"/>
          </a:ln>
        </p:spPr>
      </p:pic>
      <p:sp>
        <p:nvSpPr>
          <p:cNvPr id="1905" name="Google Shape;1905;p97"/>
          <p:cNvSpPr/>
          <p:nvPr/>
        </p:nvSpPr>
        <p:spPr>
          <a:xfrm>
            <a:off x="1210225" y="1698450"/>
            <a:ext cx="323100" cy="302700"/>
          </a:xfrm>
          <a:prstGeom prst="rect">
            <a:avLst/>
          </a:prstGeom>
          <a:noFill/>
          <a:ln cap="flat" cmpd="sng" w="38100">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06" name="Google Shape;1906;p97"/>
          <p:cNvGrpSpPr/>
          <p:nvPr/>
        </p:nvGrpSpPr>
        <p:grpSpPr>
          <a:xfrm>
            <a:off x="8577013" y="1428960"/>
            <a:ext cx="243093" cy="243093"/>
            <a:chOff x="1020916" y="1442088"/>
            <a:chExt cx="457200" cy="457200"/>
          </a:xfrm>
        </p:grpSpPr>
        <p:pic>
          <p:nvPicPr>
            <p:cNvPr id="1907" name="Google Shape;1907;p97"/>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908" name="Google Shape;1908;p9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2" name="Shape 1912"/>
        <p:cNvGrpSpPr/>
        <p:nvPr/>
      </p:nvGrpSpPr>
      <p:grpSpPr>
        <a:xfrm>
          <a:off x="0" y="0"/>
          <a:ext cx="0" cy="0"/>
          <a:chOff x="0" y="0"/>
          <a:chExt cx="0" cy="0"/>
        </a:xfrm>
      </p:grpSpPr>
      <p:sp>
        <p:nvSpPr>
          <p:cNvPr id="1913" name="Google Shape;1913;p98"/>
          <p:cNvSpPr txBox="1"/>
          <p:nvPr/>
        </p:nvSpPr>
        <p:spPr>
          <a:xfrm>
            <a:off x="5995221" y="249455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 </a:t>
            </a:r>
            <a:endParaRPr sz="1800">
              <a:solidFill>
                <a:schemeClr val="dk1"/>
              </a:solidFill>
              <a:latin typeface="Lexend"/>
              <a:ea typeface="Lexend"/>
              <a:cs typeface="Lexend"/>
              <a:sym typeface="Lexend"/>
            </a:endParaRPr>
          </a:p>
        </p:txBody>
      </p:sp>
      <p:sp>
        <p:nvSpPr>
          <p:cNvPr id="1914" name="Google Shape;1914;p98"/>
          <p:cNvSpPr/>
          <p:nvPr/>
        </p:nvSpPr>
        <p:spPr>
          <a:xfrm>
            <a:off x="7818925" y="2534075"/>
            <a:ext cx="1619400" cy="1620000"/>
          </a:xfrm>
          <a:prstGeom prst="arc">
            <a:avLst>
              <a:gd fmla="val 8615988" name="adj1"/>
              <a:gd fmla="val 9886583"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5" name="Google Shape;1915;p98"/>
          <p:cNvSpPr/>
          <p:nvPr/>
        </p:nvSpPr>
        <p:spPr>
          <a:xfrm flipH="1" rot="3231512">
            <a:off x="7246837" y="2617638"/>
            <a:ext cx="745357" cy="2019053"/>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6" name="Google Shape;1916;p98"/>
          <p:cNvSpPr/>
          <p:nvPr/>
        </p:nvSpPr>
        <p:spPr>
          <a:xfrm>
            <a:off x="7800075" y="1526650"/>
            <a:ext cx="814200" cy="814500"/>
          </a:xfrm>
          <a:prstGeom prst="arc">
            <a:avLst>
              <a:gd fmla="val 10661581" name="adj1"/>
              <a:gd fmla="val 14113998"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7" name="Google Shape;1917;p98"/>
          <p:cNvSpPr/>
          <p:nvPr/>
        </p:nvSpPr>
        <p:spPr>
          <a:xfrm flipH="1" rot="-7497553">
            <a:off x="7036173" y="1325186"/>
            <a:ext cx="835616" cy="1282821"/>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8" name="Google Shape;1918;p98"/>
          <p:cNvSpPr txBox="1"/>
          <p:nvPr/>
        </p:nvSpPr>
        <p:spPr>
          <a:xfrm>
            <a:off x="2887200" y="612996"/>
            <a:ext cx="59328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 Using this table of trig values, find the size of each missing angle marked with a letter.</a:t>
            </a:r>
            <a:endParaRPr sz="1800">
              <a:solidFill>
                <a:schemeClr val="dk1"/>
              </a:solidFill>
              <a:latin typeface="Lexend"/>
              <a:ea typeface="Lexend"/>
              <a:cs typeface="Lexend"/>
              <a:sym typeface="Lexend"/>
            </a:endParaRPr>
          </a:p>
        </p:txBody>
      </p:sp>
      <p:sp>
        <p:nvSpPr>
          <p:cNvPr id="1919" name="Google Shape;1919;p98"/>
          <p:cNvSpPr/>
          <p:nvPr/>
        </p:nvSpPr>
        <p:spPr>
          <a:xfrm flipH="1">
            <a:off x="2872825" y="1618550"/>
            <a:ext cx="1172400" cy="1172700"/>
          </a:xfrm>
          <a:prstGeom prst="arc">
            <a:avLst>
              <a:gd fmla="val 10794690" name="adj1"/>
              <a:gd fmla="val 1278716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20" name="Google Shape;1920;p98"/>
          <p:cNvGrpSpPr/>
          <p:nvPr/>
        </p:nvGrpSpPr>
        <p:grpSpPr>
          <a:xfrm>
            <a:off x="3392364" y="1304247"/>
            <a:ext cx="1443297" cy="904133"/>
            <a:chOff x="-2066623" y="1336998"/>
            <a:chExt cx="1070219" cy="1787177"/>
          </a:xfrm>
        </p:grpSpPr>
        <p:sp>
          <p:nvSpPr>
            <p:cNvPr id="1921" name="Google Shape;1921;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22" name="Google Shape;1922;p98"/>
            <p:cNvCxnSpPr/>
            <p:nvPr/>
          </p:nvCxnSpPr>
          <p:spPr>
            <a:xfrm flipH="1">
              <a:off x="-2066623" y="133699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923" name="Google Shape;1923;p98"/>
            <p:cNvCxnSpPr/>
            <p:nvPr/>
          </p:nvCxnSpPr>
          <p:spPr>
            <a:xfrm rot="10800000">
              <a:off x="-996404"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924" name="Google Shape;1924;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1925" name="Google Shape;1925;p98"/>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926" name="Google Shape;1926;p98"/>
          <p:cNvSpPr/>
          <p:nvPr/>
        </p:nvSpPr>
        <p:spPr>
          <a:xfrm>
            <a:off x="4595250" y="2055265"/>
            <a:ext cx="153300" cy="15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7" name="Google Shape;1927;p98"/>
          <p:cNvSpPr/>
          <p:nvPr/>
        </p:nvSpPr>
        <p:spPr>
          <a:xfrm flipH="1" rot="8700479">
            <a:off x="7617260" y="1297371"/>
            <a:ext cx="194084" cy="19408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8" name="Google Shape;1928;p98"/>
          <p:cNvSpPr/>
          <p:nvPr/>
        </p:nvSpPr>
        <p:spPr>
          <a:xfrm flipH="1" rot="-2168667">
            <a:off x="6948009" y="4291002"/>
            <a:ext cx="194296" cy="194296"/>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9" name="Google Shape;1929;p98"/>
          <p:cNvSpPr txBox="1"/>
          <p:nvPr/>
        </p:nvSpPr>
        <p:spPr>
          <a:xfrm>
            <a:off x="3698046" y="1984149"/>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30" name="Google Shape;1930;p98"/>
          <p:cNvSpPr txBox="1"/>
          <p:nvPr/>
        </p:nvSpPr>
        <p:spPr>
          <a:xfrm>
            <a:off x="3278272" y="1483300"/>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25 cm</a:t>
            </a:r>
            <a:endParaRPr sz="1800">
              <a:solidFill>
                <a:schemeClr val="dk1"/>
              </a:solidFill>
              <a:latin typeface="Lexend"/>
              <a:ea typeface="Lexend"/>
              <a:cs typeface="Lexend"/>
              <a:sym typeface="Lexend"/>
            </a:endParaRPr>
          </a:p>
        </p:txBody>
      </p:sp>
      <p:sp>
        <p:nvSpPr>
          <p:cNvPr id="1931" name="Google Shape;1931;p98"/>
          <p:cNvSpPr txBox="1"/>
          <p:nvPr/>
        </p:nvSpPr>
        <p:spPr>
          <a:xfrm>
            <a:off x="4835670" y="1690625"/>
            <a:ext cx="5541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8.55 cm</a:t>
            </a:r>
            <a:endParaRPr sz="1800">
              <a:solidFill>
                <a:schemeClr val="dk1"/>
              </a:solidFill>
              <a:latin typeface="Lexend"/>
              <a:ea typeface="Lexend"/>
              <a:cs typeface="Lexend"/>
              <a:sym typeface="Lexend"/>
            </a:endParaRPr>
          </a:p>
        </p:txBody>
      </p:sp>
      <p:grpSp>
        <p:nvGrpSpPr>
          <p:cNvPr id="1932" name="Google Shape;1932;p98"/>
          <p:cNvGrpSpPr/>
          <p:nvPr/>
        </p:nvGrpSpPr>
        <p:grpSpPr>
          <a:xfrm>
            <a:off x="4012759" y="2419696"/>
            <a:ext cx="723300" cy="448000"/>
            <a:chOff x="4885901" y="2729095"/>
            <a:chExt cx="723300" cy="448000"/>
          </a:xfrm>
        </p:grpSpPr>
        <p:sp>
          <p:nvSpPr>
            <p:cNvPr id="1933" name="Google Shape;1933;p98"/>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25</a:t>
              </a:r>
              <a:endParaRPr sz="1900">
                <a:latin typeface="Times New Roman"/>
                <a:ea typeface="Times New Roman"/>
                <a:cs typeface="Times New Roman"/>
                <a:sym typeface="Times New Roman"/>
              </a:endParaRPr>
            </a:p>
          </p:txBody>
        </p:sp>
        <p:sp>
          <p:nvSpPr>
            <p:cNvPr id="1934" name="Google Shape;1934;p9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8.55</a:t>
              </a:r>
              <a:endParaRPr sz="1900">
                <a:latin typeface="Times New Roman"/>
                <a:ea typeface="Times New Roman"/>
                <a:cs typeface="Times New Roman"/>
                <a:sym typeface="Times New Roman"/>
              </a:endParaRPr>
            </a:p>
          </p:txBody>
        </p:sp>
        <p:cxnSp>
          <p:nvCxnSpPr>
            <p:cNvPr id="1935" name="Google Shape;1935;p98"/>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1936" name="Google Shape;1936;p98"/>
          <p:cNvSpPr/>
          <p:nvPr/>
        </p:nvSpPr>
        <p:spPr>
          <a:xfrm>
            <a:off x="4854415" y="2436305"/>
            <a:ext cx="7017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7" name="Google Shape;1937;p98"/>
          <p:cNvSpPr txBox="1"/>
          <p:nvPr/>
        </p:nvSpPr>
        <p:spPr>
          <a:xfrm>
            <a:off x="4682654" y="2511421"/>
            <a:ext cx="1941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nvGrpSpPr>
          <p:cNvPr id="1938" name="Google Shape;1938;p98"/>
          <p:cNvGrpSpPr/>
          <p:nvPr/>
        </p:nvGrpSpPr>
        <p:grpSpPr>
          <a:xfrm>
            <a:off x="2786465" y="1122037"/>
            <a:ext cx="6041240" cy="3698439"/>
            <a:chOff x="6404375" y="1596575"/>
            <a:chExt cx="1850700" cy="1850700"/>
          </a:xfrm>
        </p:grpSpPr>
        <p:cxnSp>
          <p:nvCxnSpPr>
            <p:cNvPr id="1939" name="Google Shape;1939;p98"/>
            <p:cNvCxnSpPr/>
            <p:nvPr/>
          </p:nvCxnSpPr>
          <p:spPr>
            <a:xfrm>
              <a:off x="7329725" y="1596575"/>
              <a:ext cx="0" cy="1850700"/>
            </a:xfrm>
            <a:prstGeom prst="straightConnector1">
              <a:avLst/>
            </a:prstGeom>
            <a:noFill/>
            <a:ln cap="flat" cmpd="sng" w="28575">
              <a:solidFill>
                <a:schemeClr val="accent5"/>
              </a:solidFill>
              <a:prstDash val="solid"/>
              <a:round/>
              <a:headEnd len="med" w="med" type="none"/>
              <a:tailEnd len="med" w="med" type="none"/>
            </a:ln>
          </p:spPr>
        </p:cxnSp>
        <p:cxnSp>
          <p:nvCxnSpPr>
            <p:cNvPr id="1940" name="Google Shape;1940;p98"/>
            <p:cNvCxnSpPr/>
            <p:nvPr/>
          </p:nvCxnSpPr>
          <p:spPr>
            <a:xfrm>
              <a:off x="7329725" y="1596575"/>
              <a:ext cx="0" cy="1850700"/>
            </a:xfrm>
            <a:prstGeom prst="straightConnector1">
              <a:avLst/>
            </a:prstGeom>
            <a:noFill/>
            <a:ln cap="flat" cmpd="sng" w="28575">
              <a:solidFill>
                <a:schemeClr val="accent5"/>
              </a:solidFill>
              <a:prstDash val="solid"/>
              <a:round/>
              <a:headEnd len="med" w="med" type="none"/>
              <a:tailEnd len="med" w="med" type="none"/>
            </a:ln>
          </p:spPr>
        </p:cxnSp>
      </p:grpSp>
      <p:grpSp>
        <p:nvGrpSpPr>
          <p:cNvPr id="1941" name="Google Shape;1941;p98"/>
          <p:cNvGrpSpPr/>
          <p:nvPr/>
        </p:nvGrpSpPr>
        <p:grpSpPr>
          <a:xfrm>
            <a:off x="7045209" y="2419696"/>
            <a:ext cx="723300" cy="448000"/>
            <a:chOff x="4885901" y="2729095"/>
            <a:chExt cx="723300" cy="448000"/>
          </a:xfrm>
        </p:grpSpPr>
        <p:sp>
          <p:nvSpPr>
            <p:cNvPr id="1942" name="Google Shape;1942;p98"/>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1943" name="Google Shape;1943;p9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1944" name="Google Shape;1944;p98"/>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1945" name="Google Shape;1945;p98"/>
          <p:cNvSpPr/>
          <p:nvPr/>
        </p:nvSpPr>
        <p:spPr>
          <a:xfrm>
            <a:off x="7886865" y="2436305"/>
            <a:ext cx="7017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46" name="Google Shape;1946;p98"/>
          <p:cNvSpPr txBox="1"/>
          <p:nvPr/>
        </p:nvSpPr>
        <p:spPr>
          <a:xfrm>
            <a:off x="7715104" y="2511421"/>
            <a:ext cx="1941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947" name="Google Shape;1947;p98"/>
          <p:cNvSpPr txBox="1"/>
          <p:nvPr/>
        </p:nvSpPr>
        <p:spPr>
          <a:xfrm>
            <a:off x="6279967" y="1315200"/>
            <a:ext cx="876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45.3 cm</a:t>
            </a:r>
            <a:endParaRPr sz="1800">
              <a:solidFill>
                <a:schemeClr val="dk1"/>
              </a:solidFill>
              <a:latin typeface="Lexend"/>
              <a:ea typeface="Lexend"/>
              <a:cs typeface="Lexend"/>
              <a:sym typeface="Lexend"/>
            </a:endParaRPr>
          </a:p>
        </p:txBody>
      </p:sp>
      <p:sp>
        <p:nvSpPr>
          <p:cNvPr id="1948" name="Google Shape;1948;p98"/>
          <p:cNvSpPr txBox="1"/>
          <p:nvPr/>
        </p:nvSpPr>
        <p:spPr>
          <a:xfrm>
            <a:off x="6828200" y="2089550"/>
            <a:ext cx="139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solidFill>
                <a:schemeClr val="dk1"/>
              </a:solidFill>
              <a:latin typeface="Lexend"/>
              <a:ea typeface="Lexend"/>
              <a:cs typeface="Lexend"/>
              <a:sym typeface="Lexend"/>
            </a:endParaRPr>
          </a:p>
        </p:txBody>
      </p:sp>
      <p:sp>
        <p:nvSpPr>
          <p:cNvPr id="1949" name="Google Shape;1949;p98"/>
          <p:cNvSpPr txBox="1"/>
          <p:nvPr/>
        </p:nvSpPr>
        <p:spPr>
          <a:xfrm>
            <a:off x="7896436" y="3530874"/>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d</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50" name="Google Shape;1950;p98"/>
          <p:cNvSpPr txBox="1"/>
          <p:nvPr/>
        </p:nvSpPr>
        <p:spPr>
          <a:xfrm>
            <a:off x="6103187" y="4307411"/>
            <a:ext cx="5541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17.4</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cm</a:t>
            </a:r>
            <a:endParaRPr sz="1800">
              <a:latin typeface="Lexend"/>
              <a:ea typeface="Lexend"/>
              <a:cs typeface="Lexend"/>
              <a:sym typeface="Lexend"/>
            </a:endParaRPr>
          </a:p>
        </p:txBody>
      </p:sp>
      <p:sp>
        <p:nvSpPr>
          <p:cNvPr id="1951" name="Google Shape;1951;p98"/>
          <p:cNvSpPr txBox="1"/>
          <p:nvPr/>
        </p:nvSpPr>
        <p:spPr>
          <a:xfrm>
            <a:off x="6759424" y="3225713"/>
            <a:ext cx="139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200 cm</a:t>
            </a:r>
            <a:endParaRPr sz="1800">
              <a:solidFill>
                <a:schemeClr val="dk1"/>
              </a:solidFill>
              <a:latin typeface="Lexend"/>
              <a:ea typeface="Lexend"/>
              <a:cs typeface="Lexend"/>
              <a:sym typeface="Lexend"/>
            </a:endParaRPr>
          </a:p>
        </p:txBody>
      </p:sp>
      <p:sp>
        <p:nvSpPr>
          <p:cNvPr id="1952" name="Google Shape;1952;p98"/>
          <p:cNvSpPr txBox="1"/>
          <p:nvPr/>
        </p:nvSpPr>
        <p:spPr>
          <a:xfrm>
            <a:off x="7773774" y="1725322"/>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53" name="Google Shape;1953;p98"/>
          <p:cNvSpPr/>
          <p:nvPr/>
        </p:nvSpPr>
        <p:spPr>
          <a:xfrm rot="10800000">
            <a:off x="4324324" y="3921073"/>
            <a:ext cx="834900" cy="835200"/>
          </a:xfrm>
          <a:prstGeom prst="arc">
            <a:avLst>
              <a:gd fmla="val 1986025" name="adj1"/>
              <a:gd fmla="val 536355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54" name="Google Shape;1954;p98"/>
          <p:cNvSpPr/>
          <p:nvPr/>
        </p:nvSpPr>
        <p:spPr>
          <a:xfrm flipH="1" rot="10800000">
            <a:off x="4595250" y="3501132"/>
            <a:ext cx="153300" cy="15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55" name="Google Shape;1955;p98"/>
          <p:cNvSpPr txBox="1"/>
          <p:nvPr/>
        </p:nvSpPr>
        <p:spPr>
          <a:xfrm flipH="1">
            <a:off x="4440015" y="3971350"/>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56" name="Google Shape;1956;p98"/>
          <p:cNvSpPr txBox="1"/>
          <p:nvPr/>
        </p:nvSpPr>
        <p:spPr>
          <a:xfrm flipH="1">
            <a:off x="3278272" y="400769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 cm</a:t>
            </a:r>
            <a:endParaRPr sz="1800">
              <a:solidFill>
                <a:schemeClr val="dk1"/>
              </a:solidFill>
              <a:latin typeface="Lexend"/>
              <a:ea typeface="Lexend"/>
              <a:cs typeface="Lexend"/>
              <a:sym typeface="Lexend"/>
            </a:endParaRPr>
          </a:p>
        </p:txBody>
      </p:sp>
      <p:grpSp>
        <p:nvGrpSpPr>
          <p:cNvPr id="1957" name="Google Shape;1957;p98"/>
          <p:cNvGrpSpPr/>
          <p:nvPr/>
        </p:nvGrpSpPr>
        <p:grpSpPr>
          <a:xfrm flipH="1" rot="10800000">
            <a:off x="3392364" y="3501317"/>
            <a:ext cx="1356014" cy="904133"/>
            <a:chOff x="-2066623" y="1336998"/>
            <a:chExt cx="1005498" cy="1787177"/>
          </a:xfrm>
        </p:grpSpPr>
        <p:sp>
          <p:nvSpPr>
            <p:cNvPr id="1958" name="Google Shape;1958;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59" name="Google Shape;1959;p98"/>
            <p:cNvCxnSpPr/>
            <p:nvPr/>
          </p:nvCxnSpPr>
          <p:spPr>
            <a:xfrm flipH="1">
              <a:off x="-2066623" y="1336998"/>
              <a:ext cx="960900" cy="1668300"/>
            </a:xfrm>
            <a:prstGeom prst="straightConnector1">
              <a:avLst/>
            </a:prstGeom>
            <a:noFill/>
            <a:ln cap="flat" cmpd="sng" w="28575">
              <a:solidFill>
                <a:srgbClr val="845AD9"/>
              </a:solidFill>
              <a:prstDash val="solid"/>
              <a:round/>
              <a:headEnd len="med" w="med" type="triangle"/>
              <a:tailEnd len="med" w="med" type="triangle"/>
            </a:ln>
          </p:spPr>
        </p:cxnSp>
      </p:grpSp>
      <p:cxnSp>
        <p:nvCxnSpPr>
          <p:cNvPr id="1960" name="Google Shape;1960;p98"/>
          <p:cNvCxnSpPr/>
          <p:nvPr/>
        </p:nvCxnSpPr>
        <p:spPr>
          <a:xfrm rot="10800000">
            <a:off x="3445825" y="3405350"/>
            <a:ext cx="1299300" cy="0"/>
          </a:xfrm>
          <a:prstGeom prst="straightConnector1">
            <a:avLst/>
          </a:prstGeom>
          <a:noFill/>
          <a:ln cap="flat" cmpd="sng" w="28575">
            <a:solidFill>
              <a:srgbClr val="845AD9"/>
            </a:solidFill>
            <a:prstDash val="solid"/>
            <a:round/>
            <a:headEnd len="med" w="med" type="triangle"/>
            <a:tailEnd len="med" w="med" type="triangle"/>
          </a:ln>
        </p:spPr>
      </p:cxnSp>
      <p:sp>
        <p:nvSpPr>
          <p:cNvPr id="1961" name="Google Shape;1961;p98"/>
          <p:cNvSpPr txBox="1"/>
          <p:nvPr/>
        </p:nvSpPr>
        <p:spPr>
          <a:xfrm flipH="1">
            <a:off x="3444182" y="3069425"/>
            <a:ext cx="12993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0.866 cm</a:t>
            </a:r>
            <a:endParaRPr sz="1800">
              <a:solidFill>
                <a:schemeClr val="dk1"/>
              </a:solidFill>
              <a:latin typeface="Lexend"/>
              <a:ea typeface="Lexend"/>
              <a:cs typeface="Lexend"/>
              <a:sym typeface="Lexend"/>
            </a:endParaRPr>
          </a:p>
        </p:txBody>
      </p:sp>
      <p:sp>
        <p:nvSpPr>
          <p:cNvPr id="1962" name="Google Shape;1962;p98"/>
          <p:cNvSpPr txBox="1"/>
          <p:nvPr/>
        </p:nvSpPr>
        <p:spPr>
          <a:xfrm>
            <a:off x="3038940" y="249455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 </a:t>
            </a:r>
            <a:endParaRPr sz="1800">
              <a:solidFill>
                <a:schemeClr val="dk1"/>
              </a:solidFill>
              <a:latin typeface="Lexend"/>
              <a:ea typeface="Lexend"/>
              <a:cs typeface="Lexend"/>
              <a:sym typeface="Lexend"/>
            </a:endParaRPr>
          </a:p>
        </p:txBody>
      </p:sp>
      <p:pic>
        <p:nvPicPr>
          <p:cNvPr id="1963" name="Google Shape;1963;p98"/>
          <p:cNvPicPr preferRelativeResize="0"/>
          <p:nvPr/>
        </p:nvPicPr>
        <p:blipFill>
          <a:blip r:embed="rId3">
            <a:alphaModFix/>
          </a:blip>
          <a:stretch>
            <a:fillRect/>
          </a:stretch>
        </p:blipFill>
        <p:spPr>
          <a:xfrm>
            <a:off x="6355598" y="3143396"/>
            <a:ext cx="2464402" cy="1620000"/>
          </a:xfrm>
          <a:prstGeom prst="rect">
            <a:avLst/>
          </a:prstGeom>
          <a:noFill/>
          <a:ln>
            <a:noFill/>
          </a:ln>
        </p:spPr>
      </p:pic>
      <p:pic>
        <p:nvPicPr>
          <p:cNvPr id="1964" name="Google Shape;1964;p98"/>
          <p:cNvPicPr preferRelativeResize="0"/>
          <p:nvPr/>
        </p:nvPicPr>
        <p:blipFill>
          <a:blip r:embed="rId4">
            <a:alphaModFix/>
          </a:blip>
          <a:stretch>
            <a:fillRect/>
          </a:stretch>
        </p:blipFill>
        <p:spPr>
          <a:xfrm>
            <a:off x="6517088" y="1080744"/>
            <a:ext cx="1873800" cy="109631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8" name="Shape 1968"/>
        <p:cNvGrpSpPr/>
        <p:nvPr/>
      </p:nvGrpSpPr>
      <p:grpSpPr>
        <a:xfrm>
          <a:off x="0" y="0"/>
          <a:ext cx="0" cy="0"/>
          <a:chOff x="0" y="0"/>
          <a:chExt cx="0" cy="0"/>
        </a:xfrm>
      </p:grpSpPr>
      <p:sp>
        <p:nvSpPr>
          <p:cNvPr id="1969" name="Google Shape;1969;p99"/>
          <p:cNvSpPr/>
          <p:nvPr/>
        </p:nvSpPr>
        <p:spPr>
          <a:xfrm flipH="1" rot="10800000">
            <a:off x="6408950" y="3148787"/>
            <a:ext cx="1081800" cy="1082400"/>
          </a:xfrm>
          <a:prstGeom prst="arc">
            <a:avLst>
              <a:gd fmla="val 19399439" name="adj1"/>
              <a:gd fmla="val 2153406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70" name="Google Shape;1970;p99"/>
          <p:cNvSpPr/>
          <p:nvPr/>
        </p:nvSpPr>
        <p:spPr>
          <a:xfrm rot="-3302447">
            <a:off x="7264773" y="3069601"/>
            <a:ext cx="835616" cy="1282821"/>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71" name="Google Shape;1971;p99"/>
          <p:cNvSpPr/>
          <p:nvPr/>
        </p:nvSpPr>
        <p:spPr>
          <a:xfrm rot="10800000">
            <a:off x="5326300" y="2600200"/>
            <a:ext cx="1331100" cy="1331400"/>
          </a:xfrm>
          <a:prstGeom prst="arc">
            <a:avLst>
              <a:gd fmla="val 16161905" name="adj1"/>
              <a:gd fmla="val 18023683"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72" name="Google Shape;1972;p99"/>
          <p:cNvGrpSpPr/>
          <p:nvPr/>
        </p:nvGrpSpPr>
        <p:grpSpPr>
          <a:xfrm>
            <a:off x="5195501" y="3172067"/>
            <a:ext cx="802836" cy="1393881"/>
            <a:chOff x="-2153419" y="1366062"/>
            <a:chExt cx="1092294" cy="1896437"/>
          </a:xfrm>
        </p:grpSpPr>
        <p:sp>
          <p:nvSpPr>
            <p:cNvPr id="1973" name="Google Shape;1973;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74" name="Google Shape;1974;p99"/>
            <p:cNvCxnSpPr/>
            <p:nvPr/>
          </p:nvCxnSpPr>
          <p:spPr>
            <a:xfrm flipH="1">
              <a:off x="-2153419" y="1366062"/>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975" name="Google Shape;1975;p99"/>
            <p:cNvCxnSpPr/>
            <p:nvPr/>
          </p:nvCxnSpPr>
          <p:spPr>
            <a:xfrm rot="10800000">
              <a:off x="-2022025" y="3262499"/>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976" name="Google Shape;1976;p99"/>
          <p:cNvSpPr txBox="1"/>
          <p:nvPr/>
        </p:nvSpPr>
        <p:spPr>
          <a:xfrm>
            <a:off x="4740803" y="2040672"/>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a</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1977" name="Google Shape;1977;p99"/>
          <p:cNvSpPr/>
          <p:nvPr/>
        </p:nvSpPr>
        <p:spPr>
          <a:xfrm rot="10800000">
            <a:off x="8097700" y="2589075"/>
            <a:ext cx="908100" cy="908400"/>
          </a:xfrm>
          <a:prstGeom prst="arc">
            <a:avLst>
              <a:gd fmla="val 1986025" name="adj1"/>
              <a:gd fmla="val 536355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78" name="Google Shape;1978;p99"/>
          <p:cNvSpPr txBox="1"/>
          <p:nvPr/>
        </p:nvSpPr>
        <p:spPr>
          <a:xfrm>
            <a:off x="4730925" y="613000"/>
            <a:ext cx="40890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2) By drawing appropriate lines on this part of a unit circle, estimate the size of each angle marked with a letter (to the nearest integer).</a:t>
            </a:r>
            <a:endParaRPr sz="1800">
              <a:solidFill>
                <a:schemeClr val="dk1"/>
              </a:solidFill>
              <a:latin typeface="Lexend"/>
              <a:ea typeface="Lexend"/>
              <a:cs typeface="Lexend"/>
              <a:sym typeface="Lexend"/>
            </a:endParaRPr>
          </a:p>
        </p:txBody>
      </p:sp>
      <p:sp>
        <p:nvSpPr>
          <p:cNvPr id="1979" name="Google Shape;1979;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pic>
        <p:nvPicPr>
          <p:cNvPr id="1980" name="Google Shape;1980;p99"/>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981" name="Google Shape;1981;p99"/>
          <p:cNvSpPr/>
          <p:nvPr/>
        </p:nvSpPr>
        <p:spPr>
          <a:xfrm flipH="1" rot="10800000">
            <a:off x="8405250" y="2205732"/>
            <a:ext cx="153300" cy="15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82" name="Google Shape;1982;p99"/>
          <p:cNvSpPr txBox="1"/>
          <p:nvPr/>
        </p:nvSpPr>
        <p:spPr>
          <a:xfrm flipH="1">
            <a:off x="8244277" y="2652998"/>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83" name="Google Shape;1983;p99"/>
          <p:cNvSpPr txBox="1"/>
          <p:nvPr/>
        </p:nvSpPr>
        <p:spPr>
          <a:xfrm flipH="1">
            <a:off x="7088272" y="271229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15 cm</a:t>
            </a:r>
            <a:endParaRPr sz="1800">
              <a:solidFill>
                <a:schemeClr val="dk1"/>
              </a:solidFill>
              <a:latin typeface="Lexend"/>
              <a:ea typeface="Lexend"/>
              <a:cs typeface="Lexend"/>
              <a:sym typeface="Lexend"/>
            </a:endParaRPr>
          </a:p>
        </p:txBody>
      </p:sp>
      <p:cxnSp>
        <p:nvCxnSpPr>
          <p:cNvPr id="1984" name="Google Shape;1984;p99"/>
          <p:cNvCxnSpPr/>
          <p:nvPr/>
        </p:nvCxnSpPr>
        <p:spPr>
          <a:xfrm rot="10800000">
            <a:off x="7255825" y="2109950"/>
            <a:ext cx="1299300" cy="0"/>
          </a:xfrm>
          <a:prstGeom prst="straightConnector1">
            <a:avLst/>
          </a:prstGeom>
          <a:noFill/>
          <a:ln cap="flat" cmpd="sng" w="28575">
            <a:solidFill>
              <a:srgbClr val="845AD9"/>
            </a:solidFill>
            <a:prstDash val="solid"/>
            <a:round/>
            <a:headEnd len="med" w="med" type="triangle"/>
            <a:tailEnd len="med" w="med" type="triangle"/>
          </a:ln>
        </p:spPr>
      </p:cxnSp>
      <p:cxnSp>
        <p:nvCxnSpPr>
          <p:cNvPr id="1985" name="Google Shape;1985;p99"/>
          <p:cNvCxnSpPr/>
          <p:nvPr/>
        </p:nvCxnSpPr>
        <p:spPr>
          <a:xfrm rot="10800000">
            <a:off x="4792875" y="3158025"/>
            <a:ext cx="3905700" cy="0"/>
          </a:xfrm>
          <a:prstGeom prst="straightConnector1">
            <a:avLst/>
          </a:prstGeom>
          <a:noFill/>
          <a:ln cap="flat" cmpd="sng" w="28575">
            <a:solidFill>
              <a:schemeClr val="accent5"/>
            </a:solidFill>
            <a:prstDash val="solid"/>
            <a:round/>
            <a:headEnd len="med" w="med" type="none"/>
            <a:tailEnd len="med" w="med" type="none"/>
          </a:ln>
        </p:spPr>
      </p:cxnSp>
      <p:sp>
        <p:nvSpPr>
          <p:cNvPr id="1986" name="Google Shape;1986;p99"/>
          <p:cNvSpPr txBox="1"/>
          <p:nvPr/>
        </p:nvSpPr>
        <p:spPr>
          <a:xfrm flipH="1">
            <a:off x="7254182" y="1835698"/>
            <a:ext cx="12993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12 cm</a:t>
            </a:r>
            <a:endParaRPr sz="1800">
              <a:solidFill>
                <a:schemeClr val="dk1"/>
              </a:solidFill>
              <a:latin typeface="Lexend"/>
              <a:ea typeface="Lexend"/>
              <a:cs typeface="Lexend"/>
              <a:sym typeface="Lexend"/>
            </a:endParaRPr>
          </a:p>
        </p:txBody>
      </p:sp>
      <p:sp>
        <p:nvSpPr>
          <p:cNvPr id="1987" name="Google Shape;1987;p99"/>
          <p:cNvSpPr txBox="1"/>
          <p:nvPr/>
        </p:nvSpPr>
        <p:spPr>
          <a:xfrm>
            <a:off x="6223357" y="2056419"/>
            <a:ext cx="1941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nvGrpSpPr>
          <p:cNvPr id="1988" name="Google Shape;1988;p99"/>
          <p:cNvGrpSpPr/>
          <p:nvPr/>
        </p:nvGrpSpPr>
        <p:grpSpPr>
          <a:xfrm>
            <a:off x="5791349" y="1962500"/>
            <a:ext cx="394488" cy="448000"/>
            <a:chOff x="4885901" y="2729095"/>
            <a:chExt cx="723300" cy="448000"/>
          </a:xfrm>
        </p:grpSpPr>
        <p:sp>
          <p:nvSpPr>
            <p:cNvPr id="1989" name="Google Shape;1989;p99"/>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15</a:t>
              </a:r>
              <a:endParaRPr sz="1900">
                <a:latin typeface="Times New Roman"/>
                <a:ea typeface="Times New Roman"/>
                <a:cs typeface="Times New Roman"/>
                <a:sym typeface="Times New Roman"/>
              </a:endParaRPr>
            </a:p>
          </p:txBody>
        </p:sp>
        <p:sp>
          <p:nvSpPr>
            <p:cNvPr id="1990" name="Google Shape;1990;p99"/>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12</a:t>
              </a:r>
              <a:endParaRPr sz="1900">
                <a:latin typeface="Times New Roman"/>
                <a:ea typeface="Times New Roman"/>
                <a:cs typeface="Times New Roman"/>
                <a:sym typeface="Times New Roman"/>
              </a:endParaRPr>
            </a:p>
          </p:txBody>
        </p:sp>
        <p:cxnSp>
          <p:nvCxnSpPr>
            <p:cNvPr id="1991" name="Google Shape;1991;p99"/>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1992" name="Google Shape;1992;p99"/>
          <p:cNvSpPr txBox="1"/>
          <p:nvPr/>
        </p:nvSpPr>
        <p:spPr>
          <a:xfrm flipH="1">
            <a:off x="6393911" y="2074483"/>
            <a:ext cx="3360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0.8</a:t>
            </a:r>
            <a:endParaRPr sz="2000">
              <a:solidFill>
                <a:schemeClr val="dk1"/>
              </a:solidFill>
              <a:latin typeface="Times New Roman"/>
              <a:ea typeface="Times New Roman"/>
              <a:cs typeface="Times New Roman"/>
              <a:sym typeface="Times New Roman"/>
            </a:endParaRPr>
          </a:p>
        </p:txBody>
      </p:sp>
      <p:sp>
        <p:nvSpPr>
          <p:cNvPr id="1993" name="Google Shape;1993;p99"/>
          <p:cNvSpPr/>
          <p:nvPr/>
        </p:nvSpPr>
        <p:spPr>
          <a:xfrm>
            <a:off x="407896" y="134187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94" name="Google Shape;1994;p99"/>
          <p:cNvCxnSpPr/>
          <p:nvPr/>
        </p:nvCxnSpPr>
        <p:spPr>
          <a:xfrm rot="10800000">
            <a:off x="6745725" y="3166625"/>
            <a:ext cx="0" cy="1654800"/>
          </a:xfrm>
          <a:prstGeom prst="straightConnector1">
            <a:avLst/>
          </a:prstGeom>
          <a:noFill/>
          <a:ln cap="flat" cmpd="sng" w="28575">
            <a:solidFill>
              <a:schemeClr val="accent5"/>
            </a:solidFill>
            <a:prstDash val="solid"/>
            <a:round/>
            <a:headEnd len="med" w="med" type="none"/>
            <a:tailEnd len="med" w="med" type="none"/>
          </a:ln>
        </p:spPr>
      </p:cxnSp>
      <p:sp>
        <p:nvSpPr>
          <p:cNvPr id="1995" name="Google Shape;1995;p99"/>
          <p:cNvSpPr/>
          <p:nvPr/>
        </p:nvSpPr>
        <p:spPr>
          <a:xfrm>
            <a:off x="5855688" y="4321616"/>
            <a:ext cx="142800" cy="1428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6" name="Google Shape;1996;p99"/>
          <p:cNvSpPr txBox="1"/>
          <p:nvPr/>
        </p:nvSpPr>
        <p:spPr>
          <a:xfrm flipH="1">
            <a:off x="4972357" y="4595444"/>
            <a:ext cx="12993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12.6 cm</a:t>
            </a:r>
            <a:endParaRPr sz="1800">
              <a:solidFill>
                <a:schemeClr val="dk1"/>
              </a:solidFill>
              <a:latin typeface="Lexend"/>
              <a:ea typeface="Lexend"/>
              <a:cs typeface="Lexend"/>
              <a:sym typeface="Lexend"/>
            </a:endParaRPr>
          </a:p>
        </p:txBody>
      </p:sp>
      <p:sp>
        <p:nvSpPr>
          <p:cNvPr id="1997" name="Google Shape;1997;p99"/>
          <p:cNvSpPr txBox="1"/>
          <p:nvPr/>
        </p:nvSpPr>
        <p:spPr>
          <a:xfrm>
            <a:off x="4969403" y="2610521"/>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a:t>
            </a: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
        <p:nvSpPr>
          <p:cNvPr id="1998" name="Google Shape;1998;p99"/>
          <p:cNvSpPr txBox="1"/>
          <p:nvPr/>
        </p:nvSpPr>
        <p:spPr>
          <a:xfrm flipH="1">
            <a:off x="5706418" y="3671650"/>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99" name="Google Shape;1999;p99"/>
          <p:cNvSpPr txBox="1"/>
          <p:nvPr/>
        </p:nvSpPr>
        <p:spPr>
          <a:xfrm flipH="1">
            <a:off x="4838598" y="3630475"/>
            <a:ext cx="696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42 cm</a:t>
            </a:r>
            <a:endParaRPr sz="1800">
              <a:solidFill>
                <a:schemeClr val="dk1"/>
              </a:solidFill>
              <a:latin typeface="Lexend"/>
              <a:ea typeface="Lexend"/>
              <a:cs typeface="Lexend"/>
              <a:sym typeface="Lexend"/>
            </a:endParaRPr>
          </a:p>
        </p:txBody>
      </p:sp>
      <p:sp>
        <p:nvSpPr>
          <p:cNvPr id="2000" name="Google Shape;2000;p99"/>
          <p:cNvSpPr/>
          <p:nvPr/>
        </p:nvSpPr>
        <p:spPr>
          <a:xfrm rot="2099521">
            <a:off x="7845860" y="4186153"/>
            <a:ext cx="194084" cy="19408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1" name="Google Shape;2001;p99"/>
          <p:cNvSpPr txBox="1"/>
          <p:nvPr/>
        </p:nvSpPr>
        <p:spPr>
          <a:xfrm flipH="1">
            <a:off x="7159885" y="3698034"/>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002" name="Google Shape;2002;p99"/>
          <p:cNvSpPr txBox="1"/>
          <p:nvPr/>
        </p:nvSpPr>
        <p:spPr>
          <a:xfrm flipH="1">
            <a:off x="8083952" y="4100327"/>
            <a:ext cx="876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cm</a:t>
            </a:r>
            <a:endParaRPr sz="1800">
              <a:solidFill>
                <a:schemeClr val="dk1"/>
              </a:solidFill>
              <a:latin typeface="Lexend"/>
              <a:ea typeface="Lexend"/>
              <a:cs typeface="Lexend"/>
              <a:sym typeface="Lexend"/>
            </a:endParaRPr>
          </a:p>
        </p:txBody>
      </p:sp>
      <p:sp>
        <p:nvSpPr>
          <p:cNvPr id="2003" name="Google Shape;2003;p99"/>
          <p:cNvSpPr txBox="1"/>
          <p:nvPr/>
        </p:nvSpPr>
        <p:spPr>
          <a:xfrm flipH="1">
            <a:off x="7056800" y="3369358"/>
            <a:ext cx="139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25 cm</a:t>
            </a:r>
            <a:endParaRPr sz="1800">
              <a:solidFill>
                <a:schemeClr val="dk1"/>
              </a:solidFill>
              <a:latin typeface="Lexend"/>
              <a:ea typeface="Lexend"/>
              <a:cs typeface="Lexend"/>
              <a:sym typeface="Lexend"/>
            </a:endParaRPr>
          </a:p>
        </p:txBody>
      </p:sp>
      <p:grpSp>
        <p:nvGrpSpPr>
          <p:cNvPr id="2004" name="Google Shape;2004;p99"/>
          <p:cNvGrpSpPr/>
          <p:nvPr/>
        </p:nvGrpSpPr>
        <p:grpSpPr>
          <a:xfrm flipH="1" rot="10800000">
            <a:off x="7202364" y="2205917"/>
            <a:ext cx="1356014" cy="904133"/>
            <a:chOff x="-2066623" y="1336998"/>
            <a:chExt cx="1005498" cy="1787177"/>
          </a:xfrm>
        </p:grpSpPr>
        <p:sp>
          <p:nvSpPr>
            <p:cNvPr id="2005" name="Google Shape;2005;p9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06" name="Google Shape;2006;p99"/>
            <p:cNvCxnSpPr/>
            <p:nvPr/>
          </p:nvCxnSpPr>
          <p:spPr>
            <a:xfrm flipH="1">
              <a:off x="-2066623" y="1336998"/>
              <a:ext cx="96090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007" name="Google Shape;2007;p99"/>
          <p:cNvSpPr/>
          <p:nvPr/>
        </p:nvSpPr>
        <p:spPr>
          <a:xfrm>
            <a:off x="4630800" y="4630800"/>
            <a:ext cx="131700" cy="15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008" name="Google Shape;2008;p99"/>
          <p:cNvPicPr preferRelativeResize="0"/>
          <p:nvPr/>
        </p:nvPicPr>
        <p:blipFill>
          <a:blip r:embed="rId4">
            <a:alphaModFix/>
          </a:blip>
          <a:stretch>
            <a:fillRect/>
          </a:stretch>
        </p:blipFill>
        <p:spPr>
          <a:xfrm>
            <a:off x="6831186" y="3517025"/>
            <a:ext cx="1787490" cy="1082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2" name="Shape 2012"/>
        <p:cNvGrpSpPr/>
        <p:nvPr/>
      </p:nvGrpSpPr>
      <p:grpSpPr>
        <a:xfrm>
          <a:off x="0" y="0"/>
          <a:ext cx="0" cy="0"/>
          <a:chOff x="0" y="0"/>
          <a:chExt cx="0" cy="0"/>
        </a:xfrm>
      </p:grpSpPr>
      <p:sp>
        <p:nvSpPr>
          <p:cNvPr id="2013" name="Google Shape;2013;p100"/>
          <p:cNvSpPr/>
          <p:nvPr/>
        </p:nvSpPr>
        <p:spPr>
          <a:xfrm rot="10800000">
            <a:off x="3779225" y="4317926"/>
            <a:ext cx="906000" cy="906300"/>
          </a:xfrm>
          <a:prstGeom prst="arc">
            <a:avLst>
              <a:gd fmla="val 7644222"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4" name="Google Shape;2014;p100"/>
          <p:cNvSpPr/>
          <p:nvPr/>
        </p:nvSpPr>
        <p:spPr>
          <a:xfrm rot="10800000">
            <a:off x="469282" y="1200229"/>
            <a:ext cx="1331100" cy="1331400"/>
          </a:xfrm>
          <a:prstGeom prst="arc">
            <a:avLst>
              <a:gd fmla="val 9151910"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5" name="Google Shape;2015;p100"/>
          <p:cNvSpPr/>
          <p:nvPr/>
        </p:nvSpPr>
        <p:spPr>
          <a:xfrm rot="10800000">
            <a:off x="-222650" y="3567075"/>
            <a:ext cx="1500600" cy="1500900"/>
          </a:xfrm>
          <a:prstGeom prst="arc">
            <a:avLst>
              <a:gd fmla="val 9585297"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16" name="Google Shape;2016;p100"/>
          <p:cNvGrpSpPr/>
          <p:nvPr/>
        </p:nvGrpSpPr>
        <p:grpSpPr>
          <a:xfrm>
            <a:off x="381871" y="3606972"/>
            <a:ext cx="2016669" cy="719745"/>
            <a:chOff x="-2082328" y="1227614"/>
            <a:chExt cx="1088973" cy="1896561"/>
          </a:xfrm>
        </p:grpSpPr>
        <p:sp>
          <p:nvSpPr>
            <p:cNvPr id="2017" name="Google Shape;2017;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18" name="Google Shape;2018;p100"/>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019" name="Google Shape;2019;p100"/>
            <p:cNvCxnSpPr/>
            <p:nvPr/>
          </p:nvCxnSpPr>
          <p:spPr>
            <a:xfrm rot="10800000">
              <a:off x="-993355"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grpSp>
        <p:nvGrpSpPr>
          <p:cNvPr id="2020" name="Google Shape;2020;p100"/>
          <p:cNvGrpSpPr/>
          <p:nvPr/>
        </p:nvGrpSpPr>
        <p:grpSpPr>
          <a:xfrm>
            <a:off x="4115880" y="3449747"/>
            <a:ext cx="1176213" cy="1321370"/>
            <a:chOff x="-2133561" y="1365630"/>
            <a:chExt cx="1165260" cy="1758545"/>
          </a:xfrm>
        </p:grpSpPr>
        <p:sp>
          <p:nvSpPr>
            <p:cNvPr id="2021" name="Google Shape;2021;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22" name="Google Shape;2022;p100"/>
            <p:cNvCxnSpPr/>
            <p:nvPr/>
          </p:nvCxnSpPr>
          <p:spPr>
            <a:xfrm flipH="1">
              <a:off x="-2133561" y="136563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023" name="Google Shape;2023;p100"/>
            <p:cNvCxnSpPr/>
            <p:nvPr/>
          </p:nvCxnSpPr>
          <p:spPr>
            <a:xfrm rot="10800000">
              <a:off x="-968301"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024" name="Google Shape;2024;p100"/>
          <p:cNvSpPr/>
          <p:nvPr/>
        </p:nvSpPr>
        <p:spPr>
          <a:xfrm rot="10800000">
            <a:off x="6058595" y="1428829"/>
            <a:ext cx="1331100" cy="1331400"/>
          </a:xfrm>
          <a:prstGeom prst="arc">
            <a:avLst>
              <a:gd fmla="val 9151910"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25" name="Google Shape;2025;p100"/>
          <p:cNvGrpSpPr/>
          <p:nvPr/>
        </p:nvGrpSpPr>
        <p:grpSpPr>
          <a:xfrm>
            <a:off x="1029490" y="1155401"/>
            <a:ext cx="1395014" cy="719745"/>
            <a:chOff x="-2082328" y="1227614"/>
            <a:chExt cx="1103825" cy="1896561"/>
          </a:xfrm>
        </p:grpSpPr>
        <p:sp>
          <p:nvSpPr>
            <p:cNvPr id="2026" name="Google Shape;2026;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27" name="Google Shape;2027;p100"/>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028" name="Google Shape;2028;p100"/>
            <p:cNvCxnSpPr/>
            <p:nvPr/>
          </p:nvCxnSpPr>
          <p:spPr>
            <a:xfrm rot="10800000">
              <a:off x="-978503"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029" name="Google Shape;2029;p100"/>
          <p:cNvSpPr txBox="1"/>
          <p:nvPr/>
        </p:nvSpPr>
        <p:spPr>
          <a:xfrm>
            <a:off x="324000" y="613000"/>
            <a:ext cx="80859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3) Use your calculator to find </a:t>
            </a:r>
            <a:r>
              <a:rPr lang="en-GB" sz="1800">
                <a:solidFill>
                  <a:schemeClr val="dk1"/>
                </a:solidFill>
                <a:latin typeface="Lexend"/>
                <a:ea typeface="Lexend"/>
                <a:cs typeface="Lexend"/>
                <a:sym typeface="Lexend"/>
              </a:rPr>
              <a:t>the size of each angle marked with a letter (1 d.p.)</a:t>
            </a:r>
            <a:endParaRPr sz="1800">
              <a:latin typeface="Lexend"/>
              <a:ea typeface="Lexend"/>
              <a:cs typeface="Lexend"/>
              <a:sym typeface="Lexend"/>
            </a:endParaRPr>
          </a:p>
        </p:txBody>
      </p:sp>
      <p:sp>
        <p:nvSpPr>
          <p:cNvPr id="2030" name="Google Shape;2030;p100"/>
          <p:cNvSpPr txBox="1"/>
          <p:nvPr/>
        </p:nvSpPr>
        <p:spPr>
          <a:xfrm>
            <a:off x="2197225"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endParaRPr sz="3000">
              <a:solidFill>
                <a:schemeClr val="dk1"/>
              </a:solidFill>
              <a:latin typeface="Lexend"/>
              <a:ea typeface="Lexend"/>
              <a:cs typeface="Lexend"/>
              <a:sym typeface="Lexend"/>
            </a:endParaRPr>
          </a:p>
        </p:txBody>
      </p:sp>
      <p:sp>
        <p:nvSpPr>
          <p:cNvPr id="2031" name="Google Shape;2031;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cxnSp>
        <p:nvCxnSpPr>
          <p:cNvPr id="2032" name="Google Shape;2032;p100"/>
          <p:cNvCxnSpPr/>
          <p:nvPr/>
        </p:nvCxnSpPr>
        <p:spPr>
          <a:xfrm rot="10800000">
            <a:off x="8820000" y="1189625"/>
            <a:ext cx="0" cy="3631800"/>
          </a:xfrm>
          <a:prstGeom prst="straightConnector1">
            <a:avLst/>
          </a:prstGeom>
          <a:noFill/>
          <a:ln cap="flat" cmpd="sng" w="28575">
            <a:solidFill>
              <a:schemeClr val="accent5"/>
            </a:solidFill>
            <a:prstDash val="solid"/>
            <a:round/>
            <a:headEnd len="med" w="med" type="none"/>
            <a:tailEnd len="med" w="med" type="none"/>
          </a:ln>
        </p:spPr>
      </p:cxnSp>
      <p:cxnSp>
        <p:nvCxnSpPr>
          <p:cNvPr id="2033" name="Google Shape;2033;p100"/>
          <p:cNvCxnSpPr/>
          <p:nvPr/>
        </p:nvCxnSpPr>
        <p:spPr>
          <a:xfrm rot="10800000">
            <a:off x="5988000" y="1189625"/>
            <a:ext cx="0" cy="3631800"/>
          </a:xfrm>
          <a:prstGeom prst="straightConnector1">
            <a:avLst/>
          </a:prstGeom>
          <a:noFill/>
          <a:ln cap="flat" cmpd="sng" w="28575">
            <a:solidFill>
              <a:schemeClr val="accent5"/>
            </a:solidFill>
            <a:prstDash val="solid"/>
            <a:round/>
            <a:headEnd len="med" w="med" type="none"/>
            <a:tailEnd len="med" w="med" type="none"/>
          </a:ln>
        </p:spPr>
      </p:cxnSp>
      <p:cxnSp>
        <p:nvCxnSpPr>
          <p:cNvPr id="2034" name="Google Shape;2034;p100"/>
          <p:cNvCxnSpPr/>
          <p:nvPr/>
        </p:nvCxnSpPr>
        <p:spPr>
          <a:xfrm rot="10800000">
            <a:off x="3156000" y="1189625"/>
            <a:ext cx="0" cy="3631800"/>
          </a:xfrm>
          <a:prstGeom prst="straightConnector1">
            <a:avLst/>
          </a:prstGeom>
          <a:noFill/>
          <a:ln cap="flat" cmpd="sng" w="28575">
            <a:solidFill>
              <a:schemeClr val="accent5"/>
            </a:solidFill>
            <a:prstDash val="solid"/>
            <a:round/>
            <a:headEnd len="med" w="med" type="none"/>
            <a:tailEnd len="med" w="med" type="none"/>
          </a:ln>
        </p:spPr>
      </p:cxnSp>
      <p:cxnSp>
        <p:nvCxnSpPr>
          <p:cNvPr id="2035" name="Google Shape;2035;p100"/>
          <p:cNvCxnSpPr/>
          <p:nvPr/>
        </p:nvCxnSpPr>
        <p:spPr>
          <a:xfrm rot="10800000">
            <a:off x="324000" y="1189625"/>
            <a:ext cx="0" cy="3631800"/>
          </a:xfrm>
          <a:prstGeom prst="straightConnector1">
            <a:avLst/>
          </a:prstGeom>
          <a:noFill/>
          <a:ln cap="flat" cmpd="sng" w="28575">
            <a:solidFill>
              <a:schemeClr val="accent5"/>
            </a:solidFill>
            <a:prstDash val="solid"/>
            <a:round/>
            <a:headEnd len="med" w="med" type="none"/>
            <a:tailEnd len="med" w="med" type="none"/>
          </a:ln>
        </p:spPr>
      </p:cxnSp>
      <p:cxnSp>
        <p:nvCxnSpPr>
          <p:cNvPr id="2036" name="Google Shape;2036;p100"/>
          <p:cNvCxnSpPr/>
          <p:nvPr/>
        </p:nvCxnSpPr>
        <p:spPr>
          <a:xfrm>
            <a:off x="336950" y="3310325"/>
            <a:ext cx="8486100" cy="0"/>
          </a:xfrm>
          <a:prstGeom prst="straightConnector1">
            <a:avLst/>
          </a:prstGeom>
          <a:noFill/>
          <a:ln cap="flat" cmpd="sng" w="28575">
            <a:solidFill>
              <a:schemeClr val="accent5"/>
            </a:solidFill>
            <a:prstDash val="solid"/>
            <a:round/>
            <a:headEnd len="med" w="med" type="none"/>
            <a:tailEnd len="med" w="med" type="none"/>
          </a:ln>
        </p:spPr>
      </p:cxnSp>
      <p:sp>
        <p:nvSpPr>
          <p:cNvPr id="2037" name="Google Shape;2037;p100"/>
          <p:cNvSpPr/>
          <p:nvPr/>
        </p:nvSpPr>
        <p:spPr>
          <a:xfrm>
            <a:off x="2166930" y="17222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8" name="Google Shape;2038;p100"/>
          <p:cNvSpPr txBox="1"/>
          <p:nvPr/>
        </p:nvSpPr>
        <p:spPr>
          <a:xfrm>
            <a:off x="549803" y="24037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a</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grpSp>
        <p:nvGrpSpPr>
          <p:cNvPr id="2039" name="Google Shape;2039;p100"/>
          <p:cNvGrpSpPr/>
          <p:nvPr/>
        </p:nvGrpSpPr>
        <p:grpSpPr>
          <a:xfrm>
            <a:off x="1600349" y="2325541"/>
            <a:ext cx="394488" cy="448000"/>
            <a:chOff x="4885901" y="2729095"/>
            <a:chExt cx="723300" cy="448000"/>
          </a:xfrm>
        </p:grpSpPr>
        <p:sp>
          <p:nvSpPr>
            <p:cNvPr id="2040" name="Google Shape;2040;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24</a:t>
              </a:r>
              <a:endParaRPr sz="1900">
                <a:latin typeface="Times New Roman"/>
                <a:ea typeface="Times New Roman"/>
                <a:cs typeface="Times New Roman"/>
                <a:sym typeface="Times New Roman"/>
              </a:endParaRPr>
            </a:p>
          </p:txBody>
        </p:sp>
        <p:sp>
          <p:nvSpPr>
            <p:cNvPr id="2041" name="Google Shape;2041;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9</a:t>
              </a:r>
              <a:endParaRPr sz="1900">
                <a:latin typeface="Times New Roman"/>
                <a:ea typeface="Times New Roman"/>
                <a:cs typeface="Times New Roman"/>
                <a:sym typeface="Times New Roman"/>
              </a:endParaRPr>
            </a:p>
          </p:txBody>
        </p:sp>
        <p:cxnSp>
          <p:nvCxnSpPr>
            <p:cNvPr id="2042" name="Google Shape;2042;p100"/>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043" name="Google Shape;2043;p100"/>
          <p:cNvSpPr txBox="1"/>
          <p:nvPr/>
        </p:nvSpPr>
        <p:spPr>
          <a:xfrm flipH="1">
            <a:off x="997651" y="11978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24 cm</a:t>
            </a:r>
            <a:endParaRPr sz="1800">
              <a:solidFill>
                <a:schemeClr val="dk1"/>
              </a:solidFill>
              <a:latin typeface="Lexend"/>
              <a:ea typeface="Lexend"/>
              <a:cs typeface="Lexend"/>
              <a:sym typeface="Lexend"/>
            </a:endParaRPr>
          </a:p>
        </p:txBody>
      </p:sp>
      <p:sp>
        <p:nvSpPr>
          <p:cNvPr id="2044" name="Google Shape;2044;p100"/>
          <p:cNvSpPr txBox="1"/>
          <p:nvPr/>
        </p:nvSpPr>
        <p:spPr>
          <a:xfrm flipH="1">
            <a:off x="2448791" y="1444747"/>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9 cm</a:t>
            </a:r>
            <a:endParaRPr sz="1800">
              <a:solidFill>
                <a:schemeClr val="dk1"/>
              </a:solidFill>
              <a:latin typeface="Lexend"/>
              <a:ea typeface="Lexend"/>
              <a:cs typeface="Lexend"/>
              <a:sym typeface="Lexend"/>
            </a:endParaRPr>
          </a:p>
        </p:txBody>
      </p:sp>
      <p:grpSp>
        <p:nvGrpSpPr>
          <p:cNvPr id="2045" name="Google Shape;2045;p100"/>
          <p:cNvGrpSpPr/>
          <p:nvPr/>
        </p:nvGrpSpPr>
        <p:grpSpPr>
          <a:xfrm>
            <a:off x="1600349" y="2814491"/>
            <a:ext cx="394488" cy="448000"/>
            <a:chOff x="4885901" y="2729095"/>
            <a:chExt cx="723300" cy="448000"/>
          </a:xfrm>
        </p:grpSpPr>
        <p:sp>
          <p:nvSpPr>
            <p:cNvPr id="2046" name="Google Shape;2046;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24</a:t>
              </a:r>
              <a:endParaRPr sz="1900">
                <a:latin typeface="Times New Roman"/>
                <a:ea typeface="Times New Roman"/>
                <a:cs typeface="Times New Roman"/>
                <a:sym typeface="Times New Roman"/>
              </a:endParaRPr>
            </a:p>
          </p:txBody>
        </p:sp>
        <p:sp>
          <p:nvSpPr>
            <p:cNvPr id="2047" name="Google Shape;2047;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9</a:t>
              </a:r>
              <a:endParaRPr sz="1900">
                <a:latin typeface="Times New Roman"/>
                <a:ea typeface="Times New Roman"/>
                <a:cs typeface="Times New Roman"/>
                <a:sym typeface="Times New Roman"/>
              </a:endParaRPr>
            </a:p>
          </p:txBody>
        </p:sp>
        <p:cxnSp>
          <p:nvCxnSpPr>
            <p:cNvPr id="2048" name="Google Shape;2048;p100"/>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049" name="Google Shape;2049;p100"/>
          <p:cNvSpPr txBox="1"/>
          <p:nvPr/>
        </p:nvSpPr>
        <p:spPr>
          <a:xfrm>
            <a:off x="464400"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a</a:t>
            </a:r>
            <a:r>
              <a:rPr lang="en-GB" sz="2000">
                <a:solidFill>
                  <a:schemeClr val="dk1"/>
                </a:solidFill>
                <a:latin typeface="Times New Roman"/>
                <a:ea typeface="Times New Roman"/>
                <a:cs typeface="Times New Roman"/>
                <a:sym typeface="Times New Roman"/>
              </a:rPr>
              <a:t>° = sin</a:t>
            </a:r>
            <a:r>
              <a:rPr baseline="30000" lang="en-GB" sz="2000">
                <a:solidFill>
                  <a:schemeClr val="dk1"/>
                </a:solidFill>
                <a:latin typeface="Times New Roman"/>
                <a:ea typeface="Times New Roman"/>
                <a:cs typeface="Times New Roman"/>
                <a:sym typeface="Times New Roman"/>
              </a:rPr>
              <a:t>-1</a:t>
            </a: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050" name="Google Shape;2050;p100"/>
          <p:cNvSpPr txBox="1"/>
          <p:nvPr/>
        </p:nvSpPr>
        <p:spPr>
          <a:xfrm>
            <a:off x="1936605"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051" name="Google Shape;2051;p100"/>
          <p:cNvSpPr/>
          <p:nvPr/>
        </p:nvSpPr>
        <p:spPr>
          <a:xfrm>
            <a:off x="2389150"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52" name="Google Shape;2052;p100"/>
          <p:cNvSpPr txBox="1"/>
          <p:nvPr/>
        </p:nvSpPr>
        <p:spPr>
          <a:xfrm flipH="1">
            <a:off x="3898960" y="101773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22 cm</a:t>
            </a:r>
            <a:endParaRPr sz="1800">
              <a:solidFill>
                <a:schemeClr val="dk1"/>
              </a:solidFill>
              <a:latin typeface="Lexend"/>
              <a:ea typeface="Lexend"/>
              <a:cs typeface="Lexend"/>
              <a:sym typeface="Lexend"/>
            </a:endParaRPr>
          </a:p>
        </p:txBody>
      </p:sp>
      <p:sp>
        <p:nvSpPr>
          <p:cNvPr id="2053" name="Google Shape;2053;p100"/>
          <p:cNvSpPr txBox="1"/>
          <p:nvPr/>
        </p:nvSpPr>
        <p:spPr>
          <a:xfrm flipH="1">
            <a:off x="4287652" y="1783795"/>
            <a:ext cx="771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18 cm</a:t>
            </a:r>
            <a:endParaRPr sz="1800">
              <a:solidFill>
                <a:schemeClr val="dk1"/>
              </a:solidFill>
              <a:latin typeface="Lexend"/>
              <a:ea typeface="Lexend"/>
              <a:cs typeface="Lexend"/>
              <a:sym typeface="Lexend"/>
            </a:endParaRPr>
          </a:p>
        </p:txBody>
      </p:sp>
      <p:sp>
        <p:nvSpPr>
          <p:cNvPr id="2054" name="Google Shape;2054;p100"/>
          <p:cNvSpPr/>
          <p:nvPr/>
        </p:nvSpPr>
        <p:spPr>
          <a:xfrm>
            <a:off x="5099055" y="152062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55" name="Google Shape;2055;p100"/>
          <p:cNvSpPr txBox="1"/>
          <p:nvPr/>
        </p:nvSpPr>
        <p:spPr>
          <a:xfrm flipH="1">
            <a:off x="1408782" y="16470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056" name="Google Shape;2056;p100"/>
          <p:cNvSpPr/>
          <p:nvPr/>
        </p:nvSpPr>
        <p:spPr>
          <a:xfrm rot="10800000">
            <a:off x="4850175" y="645770"/>
            <a:ext cx="810300" cy="810300"/>
          </a:xfrm>
          <a:prstGeom prst="arc">
            <a:avLst>
              <a:gd fmla="val 16177816" name="adj1"/>
              <a:gd fmla="val 1991822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57" name="Google Shape;2057;p100"/>
          <p:cNvSpPr txBox="1"/>
          <p:nvPr/>
        </p:nvSpPr>
        <p:spPr>
          <a:xfrm flipH="1">
            <a:off x="4974508" y="1173670"/>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2058" name="Google Shape;2058;p100"/>
          <p:cNvGrpSpPr/>
          <p:nvPr/>
        </p:nvGrpSpPr>
        <p:grpSpPr>
          <a:xfrm>
            <a:off x="3969363" y="955030"/>
            <a:ext cx="1290596" cy="811576"/>
            <a:chOff x="-2082328" y="1227614"/>
            <a:chExt cx="1021203" cy="2138541"/>
          </a:xfrm>
        </p:grpSpPr>
        <p:sp>
          <p:nvSpPr>
            <p:cNvPr id="2059" name="Google Shape;2059;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60" name="Google Shape;2060;p100"/>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061" name="Google Shape;2061;p100"/>
            <p:cNvCxnSpPr/>
            <p:nvPr/>
          </p:nvCxnSpPr>
          <p:spPr>
            <a:xfrm rot="10800000">
              <a:off x="-2022025" y="336615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2062" name="Google Shape;2062;p100"/>
          <p:cNvSpPr txBox="1"/>
          <p:nvPr/>
        </p:nvSpPr>
        <p:spPr>
          <a:xfrm>
            <a:off x="4985150"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a:t>
            </a:r>
            <a:r>
              <a:rPr lang="en-GB" sz="1800">
                <a:solidFill>
                  <a:schemeClr val="dk1"/>
                </a:solidFill>
                <a:latin typeface="Lexend"/>
                <a:ea typeface="Lexend"/>
                <a:cs typeface="Lexend"/>
                <a:sym typeface="Lexend"/>
              </a:rPr>
              <a:t> </a:t>
            </a:r>
            <a:endParaRPr sz="3000">
              <a:solidFill>
                <a:schemeClr val="dk1"/>
              </a:solidFill>
              <a:latin typeface="Lexend"/>
              <a:ea typeface="Lexend"/>
              <a:cs typeface="Lexend"/>
              <a:sym typeface="Lexend"/>
            </a:endParaRPr>
          </a:p>
        </p:txBody>
      </p:sp>
      <p:sp>
        <p:nvSpPr>
          <p:cNvPr id="2063" name="Google Shape;2063;p100"/>
          <p:cNvSpPr txBox="1"/>
          <p:nvPr/>
        </p:nvSpPr>
        <p:spPr>
          <a:xfrm>
            <a:off x="3337728" y="23275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b</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grpSp>
        <p:nvGrpSpPr>
          <p:cNvPr id="2064" name="Google Shape;2064;p100"/>
          <p:cNvGrpSpPr/>
          <p:nvPr/>
        </p:nvGrpSpPr>
        <p:grpSpPr>
          <a:xfrm>
            <a:off x="4388274" y="2249341"/>
            <a:ext cx="394488" cy="448000"/>
            <a:chOff x="4885901" y="2729095"/>
            <a:chExt cx="723300" cy="448000"/>
          </a:xfrm>
        </p:grpSpPr>
        <p:sp>
          <p:nvSpPr>
            <p:cNvPr id="2065" name="Google Shape;2065;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066" name="Google Shape;2066;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067" name="Google Shape;2067;p100"/>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grpSp>
        <p:nvGrpSpPr>
          <p:cNvPr id="2068" name="Google Shape;2068;p100"/>
          <p:cNvGrpSpPr/>
          <p:nvPr/>
        </p:nvGrpSpPr>
        <p:grpSpPr>
          <a:xfrm>
            <a:off x="4388274" y="2814491"/>
            <a:ext cx="394488" cy="448000"/>
            <a:chOff x="4885901" y="2729095"/>
            <a:chExt cx="723300" cy="448000"/>
          </a:xfrm>
        </p:grpSpPr>
        <p:sp>
          <p:nvSpPr>
            <p:cNvPr id="2069" name="Google Shape;2069;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070" name="Google Shape;2070;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071" name="Google Shape;2071;p100"/>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072" name="Google Shape;2072;p100"/>
          <p:cNvSpPr txBox="1"/>
          <p:nvPr/>
        </p:nvSpPr>
        <p:spPr>
          <a:xfrm>
            <a:off x="3252325"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b</a:t>
            </a:r>
            <a:r>
              <a:rPr lang="en-GB" sz="2000">
                <a:solidFill>
                  <a:schemeClr val="dk1"/>
                </a:solidFill>
                <a:latin typeface="Times New Roman"/>
                <a:ea typeface="Times New Roman"/>
                <a:cs typeface="Times New Roman"/>
                <a:sym typeface="Times New Roman"/>
              </a:rPr>
              <a:t>° = sin</a:t>
            </a:r>
            <a:r>
              <a:rPr baseline="30000" lang="en-GB" sz="2000">
                <a:solidFill>
                  <a:schemeClr val="dk1"/>
                </a:solidFill>
                <a:latin typeface="Times New Roman"/>
                <a:ea typeface="Times New Roman"/>
                <a:cs typeface="Times New Roman"/>
                <a:sym typeface="Times New Roman"/>
              </a:rPr>
              <a:t>-1</a:t>
            </a: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073" name="Google Shape;2073;p100"/>
          <p:cNvSpPr txBox="1"/>
          <p:nvPr/>
        </p:nvSpPr>
        <p:spPr>
          <a:xfrm>
            <a:off x="4724530"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074" name="Google Shape;2074;p100"/>
          <p:cNvSpPr/>
          <p:nvPr/>
        </p:nvSpPr>
        <p:spPr>
          <a:xfrm>
            <a:off x="5177075"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75" name="Google Shape;2075;p100"/>
          <p:cNvGrpSpPr/>
          <p:nvPr/>
        </p:nvGrpSpPr>
        <p:grpSpPr>
          <a:xfrm>
            <a:off x="6618803" y="1384001"/>
            <a:ext cx="1395014" cy="719745"/>
            <a:chOff x="-2082328" y="1227614"/>
            <a:chExt cx="1103825" cy="1896561"/>
          </a:xfrm>
        </p:grpSpPr>
        <p:sp>
          <p:nvSpPr>
            <p:cNvPr id="2076" name="Google Shape;2076;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77" name="Google Shape;2077;p100"/>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078" name="Google Shape;2078;p100"/>
            <p:cNvCxnSpPr/>
            <p:nvPr/>
          </p:nvCxnSpPr>
          <p:spPr>
            <a:xfrm rot="10800000">
              <a:off x="-978503"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079" name="Google Shape;2079;p100"/>
          <p:cNvSpPr/>
          <p:nvPr/>
        </p:nvSpPr>
        <p:spPr>
          <a:xfrm>
            <a:off x="7756242" y="19508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0" name="Google Shape;2080;p100"/>
          <p:cNvSpPr txBox="1"/>
          <p:nvPr/>
        </p:nvSpPr>
        <p:spPr>
          <a:xfrm flipH="1">
            <a:off x="6586963" y="14264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 cm</a:t>
            </a:r>
            <a:endParaRPr sz="1800">
              <a:solidFill>
                <a:schemeClr val="dk1"/>
              </a:solidFill>
              <a:latin typeface="Lexend"/>
              <a:ea typeface="Lexend"/>
              <a:cs typeface="Lexend"/>
              <a:sym typeface="Lexend"/>
            </a:endParaRPr>
          </a:p>
        </p:txBody>
      </p:sp>
      <p:sp>
        <p:nvSpPr>
          <p:cNvPr id="2081" name="Google Shape;2081;p100"/>
          <p:cNvSpPr txBox="1"/>
          <p:nvPr/>
        </p:nvSpPr>
        <p:spPr>
          <a:xfrm flipH="1">
            <a:off x="8038103" y="1673347"/>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0.48 cm</a:t>
            </a:r>
            <a:endParaRPr sz="1800">
              <a:solidFill>
                <a:schemeClr val="dk1"/>
              </a:solidFill>
              <a:latin typeface="Lexend"/>
              <a:ea typeface="Lexend"/>
              <a:cs typeface="Lexend"/>
              <a:sym typeface="Lexend"/>
            </a:endParaRPr>
          </a:p>
        </p:txBody>
      </p:sp>
      <p:sp>
        <p:nvSpPr>
          <p:cNvPr id="2082" name="Google Shape;2082;p100"/>
          <p:cNvSpPr txBox="1"/>
          <p:nvPr/>
        </p:nvSpPr>
        <p:spPr>
          <a:xfrm flipH="1">
            <a:off x="6998094" y="18756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083" name="Google Shape;2083;p100"/>
          <p:cNvSpPr/>
          <p:nvPr/>
        </p:nvSpPr>
        <p:spPr>
          <a:xfrm>
            <a:off x="2118311" y="417385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4" name="Google Shape;2084;p100"/>
          <p:cNvSpPr txBox="1"/>
          <p:nvPr/>
        </p:nvSpPr>
        <p:spPr>
          <a:xfrm flipH="1">
            <a:off x="770563" y="3649418"/>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 cm</a:t>
            </a:r>
            <a:endParaRPr sz="1800">
              <a:solidFill>
                <a:schemeClr val="dk1"/>
              </a:solidFill>
              <a:latin typeface="Lexend"/>
              <a:ea typeface="Lexend"/>
              <a:cs typeface="Lexend"/>
              <a:sym typeface="Lexend"/>
            </a:endParaRPr>
          </a:p>
        </p:txBody>
      </p:sp>
      <p:sp>
        <p:nvSpPr>
          <p:cNvPr id="2085" name="Google Shape;2085;p100"/>
          <p:cNvSpPr txBox="1"/>
          <p:nvPr/>
        </p:nvSpPr>
        <p:spPr>
          <a:xfrm flipH="1">
            <a:off x="2422798" y="3896322"/>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0.48 cm</a:t>
            </a:r>
            <a:endParaRPr sz="1800">
              <a:solidFill>
                <a:schemeClr val="dk1"/>
              </a:solidFill>
              <a:latin typeface="Lexend"/>
              <a:ea typeface="Lexend"/>
              <a:cs typeface="Lexend"/>
              <a:sym typeface="Lexend"/>
            </a:endParaRPr>
          </a:p>
        </p:txBody>
      </p:sp>
      <p:sp>
        <p:nvSpPr>
          <p:cNvPr id="2086" name="Google Shape;2086;p100"/>
          <p:cNvSpPr txBox="1"/>
          <p:nvPr/>
        </p:nvSpPr>
        <p:spPr>
          <a:xfrm flipH="1">
            <a:off x="975684" y="4118127"/>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d</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087" name="Google Shape;2087;p100"/>
          <p:cNvSpPr/>
          <p:nvPr/>
        </p:nvSpPr>
        <p:spPr>
          <a:xfrm>
            <a:off x="5014894" y="4586482"/>
            <a:ext cx="183300" cy="18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8" name="Google Shape;2088;p100"/>
          <p:cNvSpPr txBox="1"/>
          <p:nvPr/>
        </p:nvSpPr>
        <p:spPr>
          <a:xfrm flipH="1">
            <a:off x="3905751" y="3772096"/>
            <a:ext cx="771900" cy="2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0.5 cm</a:t>
            </a:r>
            <a:endParaRPr sz="1800">
              <a:solidFill>
                <a:schemeClr val="dk1"/>
              </a:solidFill>
              <a:latin typeface="Lexend"/>
              <a:ea typeface="Lexend"/>
              <a:cs typeface="Lexend"/>
              <a:sym typeface="Lexend"/>
            </a:endParaRPr>
          </a:p>
        </p:txBody>
      </p:sp>
      <p:sp>
        <p:nvSpPr>
          <p:cNvPr id="2089" name="Google Shape;2089;p100"/>
          <p:cNvSpPr txBox="1"/>
          <p:nvPr/>
        </p:nvSpPr>
        <p:spPr>
          <a:xfrm flipH="1">
            <a:off x="5292774" y="4092541"/>
            <a:ext cx="542700" cy="2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0.48 cm</a:t>
            </a:r>
            <a:endParaRPr sz="1800">
              <a:solidFill>
                <a:schemeClr val="dk1"/>
              </a:solidFill>
              <a:latin typeface="Lexend"/>
              <a:ea typeface="Lexend"/>
              <a:cs typeface="Lexend"/>
              <a:sym typeface="Lexend"/>
            </a:endParaRPr>
          </a:p>
        </p:txBody>
      </p:sp>
      <p:sp>
        <p:nvSpPr>
          <p:cNvPr id="2090" name="Google Shape;2090;p100"/>
          <p:cNvSpPr txBox="1"/>
          <p:nvPr/>
        </p:nvSpPr>
        <p:spPr>
          <a:xfrm flipH="1">
            <a:off x="4315012" y="4526079"/>
            <a:ext cx="3885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e</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091" name="Google Shape;2091;p100"/>
          <p:cNvSpPr/>
          <p:nvPr/>
        </p:nvSpPr>
        <p:spPr>
          <a:xfrm rot="10800000">
            <a:off x="6058595" y="3575631"/>
            <a:ext cx="1331100" cy="1331400"/>
          </a:xfrm>
          <a:prstGeom prst="arc">
            <a:avLst>
              <a:gd fmla="val 9151910"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92" name="Google Shape;2092;p100"/>
          <p:cNvGrpSpPr/>
          <p:nvPr/>
        </p:nvGrpSpPr>
        <p:grpSpPr>
          <a:xfrm>
            <a:off x="6618803" y="3530804"/>
            <a:ext cx="1395014" cy="719745"/>
            <a:chOff x="-2082328" y="1227614"/>
            <a:chExt cx="1103825" cy="1896561"/>
          </a:xfrm>
        </p:grpSpPr>
        <p:sp>
          <p:nvSpPr>
            <p:cNvPr id="2093" name="Google Shape;2093;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94" name="Google Shape;2094;p100"/>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095" name="Google Shape;2095;p100"/>
            <p:cNvCxnSpPr/>
            <p:nvPr/>
          </p:nvCxnSpPr>
          <p:spPr>
            <a:xfrm rot="10800000">
              <a:off x="-978503"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096" name="Google Shape;2096;p100"/>
          <p:cNvSpPr/>
          <p:nvPr/>
        </p:nvSpPr>
        <p:spPr>
          <a:xfrm>
            <a:off x="7756242" y="4097679"/>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7" name="Google Shape;2097;p100"/>
          <p:cNvSpPr txBox="1"/>
          <p:nvPr/>
        </p:nvSpPr>
        <p:spPr>
          <a:xfrm flipH="1">
            <a:off x="6559458" y="3573245"/>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0.5 cm</a:t>
            </a:r>
            <a:endParaRPr sz="1800">
              <a:solidFill>
                <a:schemeClr val="dk1"/>
              </a:solidFill>
              <a:latin typeface="Lexend"/>
              <a:ea typeface="Lexend"/>
              <a:cs typeface="Lexend"/>
              <a:sym typeface="Lexend"/>
            </a:endParaRPr>
          </a:p>
        </p:txBody>
      </p:sp>
      <p:sp>
        <p:nvSpPr>
          <p:cNvPr id="2098" name="Google Shape;2098;p100"/>
          <p:cNvSpPr txBox="1"/>
          <p:nvPr/>
        </p:nvSpPr>
        <p:spPr>
          <a:xfrm flipH="1">
            <a:off x="8038103" y="3820150"/>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0.24 cm</a:t>
            </a:r>
            <a:endParaRPr sz="1800">
              <a:solidFill>
                <a:schemeClr val="dk1"/>
              </a:solidFill>
              <a:latin typeface="Lexend"/>
              <a:ea typeface="Lexend"/>
              <a:cs typeface="Lexend"/>
              <a:sym typeface="Lexend"/>
            </a:endParaRPr>
          </a:p>
        </p:txBody>
      </p:sp>
      <p:sp>
        <p:nvSpPr>
          <p:cNvPr id="2099" name="Google Shape;2099;p100"/>
          <p:cNvSpPr txBox="1"/>
          <p:nvPr/>
        </p:nvSpPr>
        <p:spPr>
          <a:xfrm flipH="1">
            <a:off x="7097945" y="3985876"/>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f</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sp>
        <p:nvSpPr>
          <p:cNvPr id="2104" name="Google Shape;2104;p101"/>
          <p:cNvSpPr/>
          <p:nvPr/>
        </p:nvSpPr>
        <p:spPr>
          <a:xfrm>
            <a:off x="7818925" y="2534075"/>
            <a:ext cx="1619400" cy="1620000"/>
          </a:xfrm>
          <a:prstGeom prst="arc">
            <a:avLst>
              <a:gd fmla="val 8615988" name="adj1"/>
              <a:gd fmla="val 9886583"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5" name="Google Shape;2105;p101"/>
          <p:cNvSpPr/>
          <p:nvPr/>
        </p:nvSpPr>
        <p:spPr>
          <a:xfrm>
            <a:off x="7660300" y="1386825"/>
            <a:ext cx="1093800" cy="1094400"/>
          </a:xfrm>
          <a:prstGeom prst="arc">
            <a:avLst>
              <a:gd fmla="val 10661581" name="adj1"/>
              <a:gd fmla="val 14113998"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6" name="Google Shape;2106;p101"/>
          <p:cNvSpPr/>
          <p:nvPr/>
        </p:nvSpPr>
        <p:spPr>
          <a:xfrm flipH="1">
            <a:off x="2714750" y="1460375"/>
            <a:ext cx="1488600" cy="1488900"/>
          </a:xfrm>
          <a:prstGeom prst="arc">
            <a:avLst>
              <a:gd fmla="val 10794690" name="adj1"/>
              <a:gd fmla="val 1278716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7" name="Google Shape;2107;p101"/>
          <p:cNvSpPr/>
          <p:nvPr/>
        </p:nvSpPr>
        <p:spPr>
          <a:xfrm rot="10800000">
            <a:off x="4180150" y="3776950"/>
            <a:ext cx="1123200" cy="1123500"/>
          </a:xfrm>
          <a:prstGeom prst="arc">
            <a:avLst>
              <a:gd fmla="val 1986025" name="adj1"/>
              <a:gd fmla="val 536355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8" name="Google Shape;2108;p101"/>
          <p:cNvSpPr/>
          <p:nvPr/>
        </p:nvSpPr>
        <p:spPr>
          <a:xfrm flipH="1" rot="3231512">
            <a:off x="7246837" y="2617638"/>
            <a:ext cx="745357" cy="2019053"/>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9" name="Google Shape;2109;p101"/>
          <p:cNvSpPr/>
          <p:nvPr/>
        </p:nvSpPr>
        <p:spPr>
          <a:xfrm flipH="1" rot="-7497553">
            <a:off x="7036173" y="1325186"/>
            <a:ext cx="835616" cy="1282821"/>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10" name="Google Shape;2110;p101"/>
          <p:cNvGrpSpPr/>
          <p:nvPr/>
        </p:nvGrpSpPr>
        <p:grpSpPr>
          <a:xfrm>
            <a:off x="3392364" y="1304247"/>
            <a:ext cx="1443297" cy="904133"/>
            <a:chOff x="-2066623" y="1336998"/>
            <a:chExt cx="1070219" cy="1787177"/>
          </a:xfrm>
        </p:grpSpPr>
        <p:sp>
          <p:nvSpPr>
            <p:cNvPr id="2111" name="Google Shape;2111;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12" name="Google Shape;2112;p101"/>
            <p:cNvCxnSpPr/>
            <p:nvPr/>
          </p:nvCxnSpPr>
          <p:spPr>
            <a:xfrm flipH="1">
              <a:off x="-2066623" y="1336998"/>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113" name="Google Shape;2113;p101"/>
            <p:cNvCxnSpPr/>
            <p:nvPr/>
          </p:nvCxnSpPr>
          <p:spPr>
            <a:xfrm rot="10800000">
              <a:off x="-996404"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grpSp>
        <p:nvGrpSpPr>
          <p:cNvPr id="2114" name="Google Shape;2114;p101"/>
          <p:cNvGrpSpPr/>
          <p:nvPr/>
        </p:nvGrpSpPr>
        <p:grpSpPr>
          <a:xfrm flipH="1" rot="10800000">
            <a:off x="3392364" y="3501317"/>
            <a:ext cx="1356014" cy="904133"/>
            <a:chOff x="-2066623" y="1336998"/>
            <a:chExt cx="1005498" cy="1787177"/>
          </a:xfrm>
        </p:grpSpPr>
        <p:sp>
          <p:nvSpPr>
            <p:cNvPr id="2115" name="Google Shape;2115;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16" name="Google Shape;2116;p101"/>
            <p:cNvCxnSpPr/>
            <p:nvPr/>
          </p:nvCxnSpPr>
          <p:spPr>
            <a:xfrm flipH="1">
              <a:off x="-2066623" y="1336998"/>
              <a:ext cx="96090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117" name="Google Shape;2117;p101"/>
          <p:cNvSpPr txBox="1"/>
          <p:nvPr/>
        </p:nvSpPr>
        <p:spPr>
          <a:xfrm>
            <a:off x="5995221" y="249455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b</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2118" name="Google Shape;2118;p101"/>
          <p:cNvSpPr txBox="1"/>
          <p:nvPr/>
        </p:nvSpPr>
        <p:spPr>
          <a:xfrm>
            <a:off x="2887200" y="612996"/>
            <a:ext cx="59328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 Using this table of trig values, find the size of each missing angle marked with a letter.</a:t>
            </a:r>
            <a:endParaRPr sz="1800">
              <a:solidFill>
                <a:schemeClr val="dk1"/>
              </a:solidFill>
              <a:latin typeface="Lexend"/>
              <a:ea typeface="Lexend"/>
              <a:cs typeface="Lexend"/>
              <a:sym typeface="Lexend"/>
            </a:endParaRPr>
          </a:p>
        </p:txBody>
      </p:sp>
      <p:sp>
        <p:nvSpPr>
          <p:cNvPr id="2119" name="Google Shape;2119;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graphicFrame>
        <p:nvGraphicFramePr>
          <p:cNvPr id="2120" name="Google Shape;2120;p101"/>
          <p:cNvGraphicFramePr/>
          <p:nvPr/>
        </p:nvGraphicFramePr>
        <p:xfrm>
          <a:off x="324000" y="629400"/>
          <a:ext cx="3000000" cy="3000000"/>
        </p:xfrm>
        <a:graphic>
          <a:graphicData uri="http://schemas.openxmlformats.org/drawingml/2006/table">
            <a:tbl>
              <a:tblPr>
                <a:noFill/>
                <a:tableStyleId>{A9BE48FB-78EB-4247-964A-A29AEC6ECE5A}</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angle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cosine</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tangent</a:t>
                      </a:r>
                      <a:endParaRPr sz="1200">
                        <a:solidFill>
                          <a:srgbClr val="FFFFFF"/>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121" name="Google Shape;2121;p101"/>
          <p:cNvSpPr/>
          <p:nvPr/>
        </p:nvSpPr>
        <p:spPr>
          <a:xfrm>
            <a:off x="4595250" y="2055265"/>
            <a:ext cx="153300" cy="15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2" name="Google Shape;2122;p101"/>
          <p:cNvSpPr/>
          <p:nvPr/>
        </p:nvSpPr>
        <p:spPr>
          <a:xfrm flipH="1" rot="8700479">
            <a:off x="7617260" y="1297371"/>
            <a:ext cx="194084" cy="19408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3" name="Google Shape;2123;p101"/>
          <p:cNvSpPr/>
          <p:nvPr/>
        </p:nvSpPr>
        <p:spPr>
          <a:xfrm flipH="1" rot="-2168667">
            <a:off x="6948009" y="4291002"/>
            <a:ext cx="194296" cy="194296"/>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4" name="Google Shape;2124;p101"/>
          <p:cNvSpPr txBox="1"/>
          <p:nvPr/>
        </p:nvSpPr>
        <p:spPr>
          <a:xfrm>
            <a:off x="3278272" y="1483300"/>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25 cm</a:t>
            </a:r>
            <a:endParaRPr sz="1800">
              <a:solidFill>
                <a:schemeClr val="dk1"/>
              </a:solidFill>
              <a:latin typeface="Lexend"/>
              <a:ea typeface="Lexend"/>
              <a:cs typeface="Lexend"/>
              <a:sym typeface="Lexend"/>
            </a:endParaRPr>
          </a:p>
        </p:txBody>
      </p:sp>
      <p:sp>
        <p:nvSpPr>
          <p:cNvPr id="2125" name="Google Shape;2125;p101"/>
          <p:cNvSpPr txBox="1"/>
          <p:nvPr/>
        </p:nvSpPr>
        <p:spPr>
          <a:xfrm>
            <a:off x="4835670" y="1690625"/>
            <a:ext cx="5541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8.55 cm</a:t>
            </a:r>
            <a:endParaRPr sz="1800">
              <a:solidFill>
                <a:schemeClr val="dk1"/>
              </a:solidFill>
              <a:latin typeface="Lexend"/>
              <a:ea typeface="Lexend"/>
              <a:cs typeface="Lexend"/>
              <a:sym typeface="Lexend"/>
            </a:endParaRPr>
          </a:p>
        </p:txBody>
      </p:sp>
      <p:grpSp>
        <p:nvGrpSpPr>
          <p:cNvPr id="2126" name="Google Shape;2126;p101"/>
          <p:cNvGrpSpPr/>
          <p:nvPr/>
        </p:nvGrpSpPr>
        <p:grpSpPr>
          <a:xfrm>
            <a:off x="4012759" y="2419696"/>
            <a:ext cx="723300" cy="448000"/>
            <a:chOff x="4885901" y="2729095"/>
            <a:chExt cx="723300" cy="448000"/>
          </a:xfrm>
        </p:grpSpPr>
        <p:sp>
          <p:nvSpPr>
            <p:cNvPr id="2127" name="Google Shape;2127;p101"/>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25</a:t>
              </a:r>
              <a:endParaRPr sz="1900">
                <a:latin typeface="Times New Roman"/>
                <a:ea typeface="Times New Roman"/>
                <a:cs typeface="Times New Roman"/>
                <a:sym typeface="Times New Roman"/>
              </a:endParaRPr>
            </a:p>
          </p:txBody>
        </p:sp>
        <p:sp>
          <p:nvSpPr>
            <p:cNvPr id="2128" name="Google Shape;2128;p101"/>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8.55</a:t>
              </a:r>
              <a:endParaRPr sz="1900">
                <a:latin typeface="Times New Roman"/>
                <a:ea typeface="Times New Roman"/>
                <a:cs typeface="Times New Roman"/>
                <a:sym typeface="Times New Roman"/>
              </a:endParaRPr>
            </a:p>
          </p:txBody>
        </p:sp>
        <p:cxnSp>
          <p:nvCxnSpPr>
            <p:cNvPr id="2129" name="Google Shape;2129;p101"/>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130" name="Google Shape;2130;p101"/>
          <p:cNvSpPr/>
          <p:nvPr/>
        </p:nvSpPr>
        <p:spPr>
          <a:xfrm>
            <a:off x="4854415" y="2436305"/>
            <a:ext cx="7017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1" name="Google Shape;2131;p101"/>
          <p:cNvSpPr txBox="1"/>
          <p:nvPr/>
        </p:nvSpPr>
        <p:spPr>
          <a:xfrm>
            <a:off x="4682654" y="2511421"/>
            <a:ext cx="1941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grpSp>
        <p:nvGrpSpPr>
          <p:cNvPr id="2132" name="Google Shape;2132;p101"/>
          <p:cNvGrpSpPr/>
          <p:nvPr/>
        </p:nvGrpSpPr>
        <p:grpSpPr>
          <a:xfrm>
            <a:off x="2786465" y="1122037"/>
            <a:ext cx="6041240" cy="3698439"/>
            <a:chOff x="6404375" y="1596575"/>
            <a:chExt cx="1850700" cy="1850700"/>
          </a:xfrm>
        </p:grpSpPr>
        <p:cxnSp>
          <p:nvCxnSpPr>
            <p:cNvPr id="2133" name="Google Shape;2133;p101"/>
            <p:cNvCxnSpPr/>
            <p:nvPr/>
          </p:nvCxnSpPr>
          <p:spPr>
            <a:xfrm>
              <a:off x="7329725" y="1596575"/>
              <a:ext cx="0" cy="1850700"/>
            </a:xfrm>
            <a:prstGeom prst="straightConnector1">
              <a:avLst/>
            </a:prstGeom>
            <a:noFill/>
            <a:ln cap="flat" cmpd="sng" w="28575">
              <a:solidFill>
                <a:schemeClr val="accent5"/>
              </a:solidFill>
              <a:prstDash val="solid"/>
              <a:round/>
              <a:headEnd len="med" w="med" type="none"/>
              <a:tailEnd len="med" w="med" type="none"/>
            </a:ln>
          </p:spPr>
        </p:cxnSp>
        <p:cxnSp>
          <p:nvCxnSpPr>
            <p:cNvPr id="2134" name="Google Shape;2134;p101"/>
            <p:cNvCxnSpPr/>
            <p:nvPr/>
          </p:nvCxnSpPr>
          <p:spPr>
            <a:xfrm>
              <a:off x="7329725" y="1596575"/>
              <a:ext cx="0" cy="1850700"/>
            </a:xfrm>
            <a:prstGeom prst="straightConnector1">
              <a:avLst/>
            </a:prstGeom>
            <a:noFill/>
            <a:ln cap="flat" cmpd="sng" w="28575">
              <a:solidFill>
                <a:schemeClr val="accent5"/>
              </a:solidFill>
              <a:prstDash val="solid"/>
              <a:round/>
              <a:headEnd len="med" w="med" type="none"/>
              <a:tailEnd len="med" w="med" type="none"/>
            </a:ln>
          </p:spPr>
        </p:cxnSp>
      </p:grpSp>
      <p:grpSp>
        <p:nvGrpSpPr>
          <p:cNvPr id="2135" name="Google Shape;2135;p101"/>
          <p:cNvGrpSpPr/>
          <p:nvPr/>
        </p:nvGrpSpPr>
        <p:grpSpPr>
          <a:xfrm>
            <a:off x="7045209" y="2419696"/>
            <a:ext cx="723300" cy="448000"/>
            <a:chOff x="4885901" y="2729095"/>
            <a:chExt cx="723300" cy="448000"/>
          </a:xfrm>
        </p:grpSpPr>
        <p:sp>
          <p:nvSpPr>
            <p:cNvPr id="2136" name="Google Shape;2136;p101"/>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137" name="Google Shape;2137;p101"/>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138" name="Google Shape;2138;p101"/>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139" name="Google Shape;2139;p101"/>
          <p:cNvSpPr/>
          <p:nvPr/>
        </p:nvSpPr>
        <p:spPr>
          <a:xfrm>
            <a:off x="7886865" y="2436305"/>
            <a:ext cx="7017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0" name="Google Shape;2140;p101"/>
          <p:cNvSpPr txBox="1"/>
          <p:nvPr/>
        </p:nvSpPr>
        <p:spPr>
          <a:xfrm>
            <a:off x="7715104" y="2511421"/>
            <a:ext cx="1941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2141" name="Google Shape;2141;p101"/>
          <p:cNvSpPr txBox="1"/>
          <p:nvPr/>
        </p:nvSpPr>
        <p:spPr>
          <a:xfrm>
            <a:off x="6279967" y="1315200"/>
            <a:ext cx="876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45.3 cm</a:t>
            </a:r>
            <a:endParaRPr sz="1800">
              <a:solidFill>
                <a:schemeClr val="dk1"/>
              </a:solidFill>
              <a:latin typeface="Lexend"/>
              <a:ea typeface="Lexend"/>
              <a:cs typeface="Lexend"/>
              <a:sym typeface="Lexend"/>
            </a:endParaRPr>
          </a:p>
        </p:txBody>
      </p:sp>
      <p:sp>
        <p:nvSpPr>
          <p:cNvPr id="2142" name="Google Shape;2142;p101"/>
          <p:cNvSpPr txBox="1"/>
          <p:nvPr/>
        </p:nvSpPr>
        <p:spPr>
          <a:xfrm>
            <a:off x="6828200" y="2089550"/>
            <a:ext cx="139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solidFill>
                <a:schemeClr val="dk1"/>
              </a:solidFill>
              <a:latin typeface="Lexend"/>
              <a:ea typeface="Lexend"/>
              <a:cs typeface="Lexend"/>
              <a:sym typeface="Lexend"/>
            </a:endParaRPr>
          </a:p>
        </p:txBody>
      </p:sp>
      <p:sp>
        <p:nvSpPr>
          <p:cNvPr id="2143" name="Google Shape;2143;p101"/>
          <p:cNvSpPr txBox="1"/>
          <p:nvPr/>
        </p:nvSpPr>
        <p:spPr>
          <a:xfrm>
            <a:off x="6103187" y="4307411"/>
            <a:ext cx="5541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17.4</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cm</a:t>
            </a:r>
            <a:endParaRPr sz="1800">
              <a:latin typeface="Lexend"/>
              <a:ea typeface="Lexend"/>
              <a:cs typeface="Lexend"/>
              <a:sym typeface="Lexend"/>
            </a:endParaRPr>
          </a:p>
        </p:txBody>
      </p:sp>
      <p:sp>
        <p:nvSpPr>
          <p:cNvPr id="2144" name="Google Shape;2144;p101"/>
          <p:cNvSpPr txBox="1"/>
          <p:nvPr/>
        </p:nvSpPr>
        <p:spPr>
          <a:xfrm>
            <a:off x="7896436" y="3530874"/>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5°</a:t>
            </a:r>
            <a:endParaRPr sz="1800">
              <a:latin typeface="Lexend"/>
              <a:ea typeface="Lexend"/>
              <a:cs typeface="Lexend"/>
              <a:sym typeface="Lexend"/>
            </a:endParaRPr>
          </a:p>
        </p:txBody>
      </p:sp>
      <p:sp>
        <p:nvSpPr>
          <p:cNvPr id="2145" name="Google Shape;2145;p101"/>
          <p:cNvSpPr txBox="1"/>
          <p:nvPr/>
        </p:nvSpPr>
        <p:spPr>
          <a:xfrm>
            <a:off x="6759424" y="3225713"/>
            <a:ext cx="139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200 cm</a:t>
            </a:r>
            <a:endParaRPr sz="1800">
              <a:solidFill>
                <a:schemeClr val="dk1"/>
              </a:solidFill>
              <a:latin typeface="Lexend"/>
              <a:ea typeface="Lexend"/>
              <a:cs typeface="Lexend"/>
              <a:sym typeface="Lexend"/>
            </a:endParaRPr>
          </a:p>
        </p:txBody>
      </p:sp>
      <p:sp>
        <p:nvSpPr>
          <p:cNvPr id="2146" name="Google Shape;2146;p101"/>
          <p:cNvSpPr txBox="1"/>
          <p:nvPr/>
        </p:nvSpPr>
        <p:spPr>
          <a:xfrm>
            <a:off x="7683409" y="1733870"/>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65°</a:t>
            </a:r>
            <a:endParaRPr sz="1800">
              <a:latin typeface="Lexend"/>
              <a:ea typeface="Lexend"/>
              <a:cs typeface="Lexend"/>
              <a:sym typeface="Lexend"/>
            </a:endParaRPr>
          </a:p>
        </p:txBody>
      </p:sp>
      <p:sp>
        <p:nvSpPr>
          <p:cNvPr id="2147" name="Google Shape;2147;p101"/>
          <p:cNvSpPr/>
          <p:nvPr/>
        </p:nvSpPr>
        <p:spPr>
          <a:xfrm flipH="1" rot="10800000">
            <a:off x="4595250" y="3501132"/>
            <a:ext cx="153300" cy="15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8" name="Google Shape;2148;p101"/>
          <p:cNvSpPr txBox="1"/>
          <p:nvPr/>
        </p:nvSpPr>
        <p:spPr>
          <a:xfrm flipH="1">
            <a:off x="4356103" y="3898080"/>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60°</a:t>
            </a:r>
            <a:endParaRPr i="1" sz="2200">
              <a:solidFill>
                <a:schemeClr val="dk1"/>
              </a:solidFill>
              <a:latin typeface="Times New Roman"/>
              <a:ea typeface="Times New Roman"/>
              <a:cs typeface="Times New Roman"/>
              <a:sym typeface="Times New Roman"/>
            </a:endParaRPr>
          </a:p>
        </p:txBody>
      </p:sp>
      <p:sp>
        <p:nvSpPr>
          <p:cNvPr id="2149" name="Google Shape;2149;p101"/>
          <p:cNvSpPr txBox="1"/>
          <p:nvPr/>
        </p:nvSpPr>
        <p:spPr>
          <a:xfrm flipH="1">
            <a:off x="3278272" y="400769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 cm</a:t>
            </a:r>
            <a:endParaRPr sz="1800">
              <a:solidFill>
                <a:schemeClr val="dk1"/>
              </a:solidFill>
              <a:latin typeface="Lexend"/>
              <a:ea typeface="Lexend"/>
              <a:cs typeface="Lexend"/>
              <a:sym typeface="Lexend"/>
            </a:endParaRPr>
          </a:p>
        </p:txBody>
      </p:sp>
      <p:cxnSp>
        <p:nvCxnSpPr>
          <p:cNvPr id="2150" name="Google Shape;2150;p101"/>
          <p:cNvCxnSpPr/>
          <p:nvPr/>
        </p:nvCxnSpPr>
        <p:spPr>
          <a:xfrm rot="10800000">
            <a:off x="3445825" y="3405350"/>
            <a:ext cx="1299300" cy="0"/>
          </a:xfrm>
          <a:prstGeom prst="straightConnector1">
            <a:avLst/>
          </a:prstGeom>
          <a:noFill/>
          <a:ln cap="flat" cmpd="sng" w="28575">
            <a:solidFill>
              <a:srgbClr val="845AD9"/>
            </a:solidFill>
            <a:prstDash val="solid"/>
            <a:round/>
            <a:headEnd len="med" w="med" type="triangle"/>
            <a:tailEnd len="med" w="med" type="triangle"/>
          </a:ln>
        </p:spPr>
      </p:cxnSp>
      <p:sp>
        <p:nvSpPr>
          <p:cNvPr id="2151" name="Google Shape;2151;p101"/>
          <p:cNvSpPr txBox="1"/>
          <p:nvPr/>
        </p:nvSpPr>
        <p:spPr>
          <a:xfrm flipH="1">
            <a:off x="3444182" y="3069425"/>
            <a:ext cx="12993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0.866 cm</a:t>
            </a:r>
            <a:endParaRPr sz="1800">
              <a:solidFill>
                <a:schemeClr val="dk1"/>
              </a:solidFill>
              <a:latin typeface="Lexend"/>
              <a:ea typeface="Lexend"/>
              <a:cs typeface="Lexend"/>
              <a:sym typeface="Lexend"/>
            </a:endParaRPr>
          </a:p>
        </p:txBody>
      </p:sp>
      <p:sp>
        <p:nvSpPr>
          <p:cNvPr id="2152" name="Google Shape;2152;p101"/>
          <p:cNvSpPr txBox="1"/>
          <p:nvPr/>
        </p:nvSpPr>
        <p:spPr>
          <a:xfrm>
            <a:off x="3038940" y="249455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a</a:t>
            </a:r>
            <a:r>
              <a:rPr lang="en-GB" sz="20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2153" name="Google Shape;2153;p101"/>
          <p:cNvSpPr txBox="1"/>
          <p:nvPr/>
        </p:nvSpPr>
        <p:spPr>
          <a:xfrm>
            <a:off x="4751813" y="2503641"/>
            <a:ext cx="876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0.342</a:t>
            </a:r>
            <a:endParaRPr sz="2000">
              <a:solidFill>
                <a:schemeClr val="dk1"/>
              </a:solidFill>
              <a:latin typeface="Kalam"/>
              <a:ea typeface="Kalam"/>
              <a:cs typeface="Kalam"/>
              <a:sym typeface="Kalam"/>
            </a:endParaRPr>
          </a:p>
        </p:txBody>
      </p:sp>
      <p:sp>
        <p:nvSpPr>
          <p:cNvPr id="2154" name="Google Shape;2154;p101"/>
          <p:cNvSpPr txBox="1"/>
          <p:nvPr/>
        </p:nvSpPr>
        <p:spPr>
          <a:xfrm>
            <a:off x="3766533" y="1991861"/>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20°</a:t>
            </a:r>
            <a:endParaRPr sz="2000">
              <a:latin typeface="Kalam"/>
              <a:ea typeface="Kalam"/>
              <a:cs typeface="Kalam"/>
              <a:sym typeface="Kalam"/>
            </a:endParaRPr>
          </a:p>
        </p:txBody>
      </p:sp>
      <p:sp>
        <p:nvSpPr>
          <p:cNvPr id="2155" name="Google Shape;2155;p101"/>
          <p:cNvSpPr txBox="1"/>
          <p:nvPr/>
        </p:nvSpPr>
        <p:spPr>
          <a:xfrm>
            <a:off x="7162750" y="2644156"/>
            <a:ext cx="4881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50</a:t>
            </a:r>
            <a:endParaRPr sz="2000">
              <a:solidFill>
                <a:schemeClr val="dk1"/>
              </a:solidFill>
              <a:latin typeface="Kalam"/>
              <a:ea typeface="Kalam"/>
              <a:cs typeface="Kalam"/>
              <a:sym typeface="Kalam"/>
            </a:endParaRPr>
          </a:p>
        </p:txBody>
      </p:sp>
      <p:sp>
        <p:nvSpPr>
          <p:cNvPr id="2156" name="Google Shape;2156;p101"/>
          <p:cNvSpPr txBox="1"/>
          <p:nvPr/>
        </p:nvSpPr>
        <p:spPr>
          <a:xfrm>
            <a:off x="7162750" y="2366406"/>
            <a:ext cx="4881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45.3</a:t>
            </a:r>
            <a:endParaRPr sz="2000">
              <a:solidFill>
                <a:schemeClr val="dk1"/>
              </a:solidFill>
              <a:latin typeface="Kalam"/>
              <a:ea typeface="Kalam"/>
              <a:cs typeface="Kalam"/>
              <a:sym typeface="Kalam"/>
            </a:endParaRPr>
          </a:p>
        </p:txBody>
      </p:sp>
      <p:sp>
        <p:nvSpPr>
          <p:cNvPr id="2157" name="Google Shape;2157;p101"/>
          <p:cNvSpPr txBox="1"/>
          <p:nvPr/>
        </p:nvSpPr>
        <p:spPr>
          <a:xfrm>
            <a:off x="7900050" y="2505100"/>
            <a:ext cx="675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0.906</a:t>
            </a:r>
            <a:endParaRPr sz="2000">
              <a:solidFill>
                <a:schemeClr val="dk1"/>
              </a:solidFill>
              <a:latin typeface="Kalam"/>
              <a:ea typeface="Kalam"/>
              <a:cs typeface="Kalam"/>
              <a:sym typeface="Kalam"/>
            </a:endParaRPr>
          </a:p>
        </p:txBody>
      </p:sp>
      <p:pic>
        <p:nvPicPr>
          <p:cNvPr id="2158" name="Google Shape;2158;p101"/>
          <p:cNvPicPr preferRelativeResize="0"/>
          <p:nvPr/>
        </p:nvPicPr>
        <p:blipFill>
          <a:blip r:embed="rId3">
            <a:alphaModFix/>
          </a:blip>
          <a:stretch>
            <a:fillRect/>
          </a:stretch>
        </p:blipFill>
        <p:spPr>
          <a:xfrm>
            <a:off x="6355598" y="3143396"/>
            <a:ext cx="2464402" cy="1620000"/>
          </a:xfrm>
          <a:prstGeom prst="rect">
            <a:avLst/>
          </a:prstGeom>
          <a:noFill/>
          <a:ln>
            <a:noFill/>
          </a:ln>
        </p:spPr>
      </p:pic>
      <p:pic>
        <p:nvPicPr>
          <p:cNvPr id="2159" name="Google Shape;2159;p101"/>
          <p:cNvPicPr preferRelativeResize="0"/>
          <p:nvPr/>
        </p:nvPicPr>
        <p:blipFill>
          <a:blip r:embed="rId4">
            <a:alphaModFix/>
          </a:blip>
          <a:stretch>
            <a:fillRect/>
          </a:stretch>
        </p:blipFill>
        <p:spPr>
          <a:xfrm>
            <a:off x="6517088" y="1080744"/>
            <a:ext cx="1873800" cy="109631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102"/>
          <p:cNvSpPr/>
          <p:nvPr/>
        </p:nvSpPr>
        <p:spPr>
          <a:xfrm flipH="1" rot="10800000">
            <a:off x="6213575" y="2953375"/>
            <a:ext cx="1472400" cy="1473300"/>
          </a:xfrm>
          <a:prstGeom prst="arc">
            <a:avLst>
              <a:gd fmla="val 19399439" name="adj1"/>
              <a:gd fmla="val 2153406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5" name="Google Shape;2165;p102"/>
          <p:cNvSpPr/>
          <p:nvPr/>
        </p:nvSpPr>
        <p:spPr>
          <a:xfrm rot="-3302447">
            <a:off x="7264773" y="3069601"/>
            <a:ext cx="835616" cy="1282821"/>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6" name="Google Shape;2166;p102"/>
          <p:cNvSpPr/>
          <p:nvPr/>
        </p:nvSpPr>
        <p:spPr>
          <a:xfrm rot="10800000">
            <a:off x="5178725" y="2452650"/>
            <a:ext cx="1626300" cy="1626600"/>
          </a:xfrm>
          <a:prstGeom prst="arc">
            <a:avLst>
              <a:gd fmla="val 16161905" name="adj1"/>
              <a:gd fmla="val 18023683"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67" name="Google Shape;2167;p102"/>
          <p:cNvGrpSpPr/>
          <p:nvPr/>
        </p:nvGrpSpPr>
        <p:grpSpPr>
          <a:xfrm>
            <a:off x="5195501" y="3172067"/>
            <a:ext cx="802836" cy="1393881"/>
            <a:chOff x="-2153419" y="1366062"/>
            <a:chExt cx="1092294" cy="1896437"/>
          </a:xfrm>
        </p:grpSpPr>
        <p:sp>
          <p:nvSpPr>
            <p:cNvPr id="2168" name="Google Shape;2168;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69" name="Google Shape;2169;p102"/>
            <p:cNvCxnSpPr/>
            <p:nvPr/>
          </p:nvCxnSpPr>
          <p:spPr>
            <a:xfrm flipH="1">
              <a:off x="-2153419" y="1366062"/>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170" name="Google Shape;2170;p102"/>
            <p:cNvCxnSpPr/>
            <p:nvPr/>
          </p:nvCxnSpPr>
          <p:spPr>
            <a:xfrm rot="10800000">
              <a:off x="-2022025" y="3262499"/>
              <a:ext cx="960900" cy="0"/>
            </a:xfrm>
            <a:prstGeom prst="straightConnector1">
              <a:avLst/>
            </a:prstGeom>
            <a:noFill/>
            <a:ln cap="flat" cmpd="sng" w="28575">
              <a:solidFill>
                <a:srgbClr val="845AD9"/>
              </a:solidFill>
              <a:prstDash val="solid"/>
              <a:round/>
              <a:headEnd len="med" w="med" type="triangle"/>
              <a:tailEnd len="med" w="med" type="triangle"/>
            </a:ln>
          </p:spPr>
        </p:cxnSp>
      </p:grpSp>
      <p:grpSp>
        <p:nvGrpSpPr>
          <p:cNvPr id="2171" name="Google Shape;2171;p102"/>
          <p:cNvGrpSpPr/>
          <p:nvPr/>
        </p:nvGrpSpPr>
        <p:grpSpPr>
          <a:xfrm flipH="1" rot="10800000">
            <a:off x="7202364" y="2205917"/>
            <a:ext cx="1356014" cy="904133"/>
            <a:chOff x="-2066623" y="1336998"/>
            <a:chExt cx="1005498" cy="1787177"/>
          </a:xfrm>
        </p:grpSpPr>
        <p:sp>
          <p:nvSpPr>
            <p:cNvPr id="2172" name="Google Shape;2172;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73" name="Google Shape;2173;p102"/>
            <p:cNvCxnSpPr/>
            <p:nvPr/>
          </p:nvCxnSpPr>
          <p:spPr>
            <a:xfrm flipH="1">
              <a:off x="-2066623" y="1336998"/>
              <a:ext cx="96090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174" name="Google Shape;2174;p102"/>
          <p:cNvSpPr txBox="1"/>
          <p:nvPr/>
        </p:nvSpPr>
        <p:spPr>
          <a:xfrm>
            <a:off x="4740803" y="2040672"/>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sin(</a:t>
            </a:r>
            <a:r>
              <a:rPr i="1" lang="en-GB" sz="2000">
                <a:solidFill>
                  <a:schemeClr val="dk1"/>
                </a:solidFill>
                <a:latin typeface="Times New Roman"/>
                <a:ea typeface="Times New Roman"/>
                <a:cs typeface="Times New Roman"/>
                <a:sym typeface="Times New Roman"/>
              </a:rPr>
              <a:t>a</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2175" name="Google Shape;2175;p102"/>
          <p:cNvSpPr/>
          <p:nvPr/>
        </p:nvSpPr>
        <p:spPr>
          <a:xfrm rot="10800000">
            <a:off x="8097700" y="2589075"/>
            <a:ext cx="908100" cy="908400"/>
          </a:xfrm>
          <a:prstGeom prst="arc">
            <a:avLst>
              <a:gd fmla="val 1986025" name="adj1"/>
              <a:gd fmla="val 536355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76" name="Google Shape;2176;p102"/>
          <p:cNvSpPr txBox="1"/>
          <p:nvPr/>
        </p:nvSpPr>
        <p:spPr>
          <a:xfrm>
            <a:off x="4730925" y="613000"/>
            <a:ext cx="40890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2) </a:t>
            </a:r>
            <a:endParaRPr sz="1800">
              <a:solidFill>
                <a:schemeClr val="dk1"/>
              </a:solidFill>
              <a:latin typeface="Lexend"/>
              <a:ea typeface="Lexend"/>
              <a:cs typeface="Lexend"/>
              <a:sym typeface="Lexend"/>
            </a:endParaRPr>
          </a:p>
        </p:txBody>
      </p:sp>
      <p:sp>
        <p:nvSpPr>
          <p:cNvPr id="2177" name="Google Shape;2177;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pic>
        <p:nvPicPr>
          <p:cNvPr id="2178" name="Google Shape;2178;p102"/>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2179" name="Google Shape;2179;p102"/>
          <p:cNvSpPr/>
          <p:nvPr/>
        </p:nvSpPr>
        <p:spPr>
          <a:xfrm flipH="1" rot="10800000">
            <a:off x="8405250" y="2205732"/>
            <a:ext cx="153300" cy="15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0" name="Google Shape;2180;p102"/>
          <p:cNvSpPr txBox="1"/>
          <p:nvPr/>
        </p:nvSpPr>
        <p:spPr>
          <a:xfrm flipH="1">
            <a:off x="8244277" y="2652998"/>
            <a:ext cx="3744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181" name="Google Shape;2181;p102"/>
          <p:cNvSpPr txBox="1"/>
          <p:nvPr/>
        </p:nvSpPr>
        <p:spPr>
          <a:xfrm flipH="1">
            <a:off x="7088272" y="271229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15 cm</a:t>
            </a:r>
            <a:endParaRPr sz="1800">
              <a:solidFill>
                <a:schemeClr val="dk1"/>
              </a:solidFill>
              <a:latin typeface="Lexend"/>
              <a:ea typeface="Lexend"/>
              <a:cs typeface="Lexend"/>
              <a:sym typeface="Lexend"/>
            </a:endParaRPr>
          </a:p>
        </p:txBody>
      </p:sp>
      <p:cxnSp>
        <p:nvCxnSpPr>
          <p:cNvPr id="2182" name="Google Shape;2182;p102"/>
          <p:cNvCxnSpPr/>
          <p:nvPr/>
        </p:nvCxnSpPr>
        <p:spPr>
          <a:xfrm rot="10800000">
            <a:off x="7255825" y="2109950"/>
            <a:ext cx="1299300" cy="0"/>
          </a:xfrm>
          <a:prstGeom prst="straightConnector1">
            <a:avLst/>
          </a:prstGeom>
          <a:noFill/>
          <a:ln cap="flat" cmpd="sng" w="28575">
            <a:solidFill>
              <a:srgbClr val="845AD9"/>
            </a:solidFill>
            <a:prstDash val="solid"/>
            <a:round/>
            <a:headEnd len="med" w="med" type="triangle"/>
            <a:tailEnd len="med" w="med" type="triangle"/>
          </a:ln>
        </p:spPr>
      </p:cxnSp>
      <p:cxnSp>
        <p:nvCxnSpPr>
          <p:cNvPr id="2183" name="Google Shape;2183;p102"/>
          <p:cNvCxnSpPr/>
          <p:nvPr/>
        </p:nvCxnSpPr>
        <p:spPr>
          <a:xfrm rot="10800000">
            <a:off x="4792875" y="3158025"/>
            <a:ext cx="3905700" cy="0"/>
          </a:xfrm>
          <a:prstGeom prst="straightConnector1">
            <a:avLst/>
          </a:prstGeom>
          <a:noFill/>
          <a:ln cap="flat" cmpd="sng" w="28575">
            <a:solidFill>
              <a:schemeClr val="accent5"/>
            </a:solidFill>
            <a:prstDash val="solid"/>
            <a:round/>
            <a:headEnd len="med" w="med" type="none"/>
            <a:tailEnd len="med" w="med" type="none"/>
          </a:ln>
        </p:spPr>
      </p:cxnSp>
      <p:sp>
        <p:nvSpPr>
          <p:cNvPr id="2184" name="Google Shape;2184;p102"/>
          <p:cNvSpPr txBox="1"/>
          <p:nvPr/>
        </p:nvSpPr>
        <p:spPr>
          <a:xfrm flipH="1">
            <a:off x="7254182" y="1835698"/>
            <a:ext cx="12993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12 cm</a:t>
            </a:r>
            <a:endParaRPr sz="1800">
              <a:solidFill>
                <a:schemeClr val="dk1"/>
              </a:solidFill>
              <a:latin typeface="Lexend"/>
              <a:ea typeface="Lexend"/>
              <a:cs typeface="Lexend"/>
              <a:sym typeface="Lexend"/>
            </a:endParaRPr>
          </a:p>
        </p:txBody>
      </p:sp>
      <p:sp>
        <p:nvSpPr>
          <p:cNvPr id="2185" name="Google Shape;2185;p102"/>
          <p:cNvSpPr txBox="1"/>
          <p:nvPr/>
        </p:nvSpPr>
        <p:spPr>
          <a:xfrm>
            <a:off x="6223357" y="2056419"/>
            <a:ext cx="194100" cy="221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nvGrpSpPr>
          <p:cNvPr id="2186" name="Google Shape;2186;p102"/>
          <p:cNvGrpSpPr/>
          <p:nvPr/>
        </p:nvGrpSpPr>
        <p:grpSpPr>
          <a:xfrm>
            <a:off x="5791349" y="1962500"/>
            <a:ext cx="394488" cy="448000"/>
            <a:chOff x="4885901" y="2729095"/>
            <a:chExt cx="723300" cy="448000"/>
          </a:xfrm>
        </p:grpSpPr>
        <p:sp>
          <p:nvSpPr>
            <p:cNvPr id="2187" name="Google Shape;2187;p102"/>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15</a:t>
              </a:r>
              <a:endParaRPr sz="1900">
                <a:latin typeface="Times New Roman"/>
                <a:ea typeface="Times New Roman"/>
                <a:cs typeface="Times New Roman"/>
                <a:sym typeface="Times New Roman"/>
              </a:endParaRPr>
            </a:p>
          </p:txBody>
        </p:sp>
        <p:sp>
          <p:nvSpPr>
            <p:cNvPr id="2188" name="Google Shape;2188;p102"/>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12</a:t>
              </a:r>
              <a:endParaRPr sz="1900">
                <a:latin typeface="Times New Roman"/>
                <a:ea typeface="Times New Roman"/>
                <a:cs typeface="Times New Roman"/>
                <a:sym typeface="Times New Roman"/>
              </a:endParaRPr>
            </a:p>
          </p:txBody>
        </p:sp>
        <p:cxnSp>
          <p:nvCxnSpPr>
            <p:cNvPr id="2189" name="Google Shape;2189;p102"/>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190" name="Google Shape;2190;p102"/>
          <p:cNvSpPr txBox="1"/>
          <p:nvPr/>
        </p:nvSpPr>
        <p:spPr>
          <a:xfrm flipH="1">
            <a:off x="6393911" y="2074483"/>
            <a:ext cx="3360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0.8</a:t>
            </a:r>
            <a:endParaRPr sz="2000">
              <a:solidFill>
                <a:schemeClr val="dk1"/>
              </a:solidFill>
              <a:latin typeface="Times New Roman"/>
              <a:ea typeface="Times New Roman"/>
              <a:cs typeface="Times New Roman"/>
              <a:sym typeface="Times New Roman"/>
            </a:endParaRPr>
          </a:p>
        </p:txBody>
      </p:sp>
      <p:sp>
        <p:nvSpPr>
          <p:cNvPr id="2191" name="Google Shape;2191;p102"/>
          <p:cNvSpPr/>
          <p:nvPr/>
        </p:nvSpPr>
        <p:spPr>
          <a:xfrm>
            <a:off x="407896" y="134187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92" name="Google Shape;2192;p102"/>
          <p:cNvCxnSpPr/>
          <p:nvPr/>
        </p:nvCxnSpPr>
        <p:spPr>
          <a:xfrm rot="10800000">
            <a:off x="6745725" y="3166625"/>
            <a:ext cx="0" cy="1654800"/>
          </a:xfrm>
          <a:prstGeom prst="straightConnector1">
            <a:avLst/>
          </a:prstGeom>
          <a:noFill/>
          <a:ln cap="flat" cmpd="sng" w="28575">
            <a:solidFill>
              <a:schemeClr val="accent5"/>
            </a:solidFill>
            <a:prstDash val="solid"/>
            <a:round/>
            <a:headEnd len="med" w="med" type="none"/>
            <a:tailEnd len="med" w="med" type="none"/>
          </a:ln>
        </p:spPr>
      </p:cxnSp>
      <p:sp>
        <p:nvSpPr>
          <p:cNvPr id="2193" name="Google Shape;2193;p102"/>
          <p:cNvSpPr/>
          <p:nvPr/>
        </p:nvSpPr>
        <p:spPr>
          <a:xfrm>
            <a:off x="5855688" y="4321616"/>
            <a:ext cx="142800" cy="1428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4" name="Google Shape;2194;p102"/>
          <p:cNvSpPr txBox="1"/>
          <p:nvPr/>
        </p:nvSpPr>
        <p:spPr>
          <a:xfrm flipH="1">
            <a:off x="4972357" y="4595444"/>
            <a:ext cx="12993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12.6 cm</a:t>
            </a:r>
            <a:endParaRPr sz="1800">
              <a:solidFill>
                <a:schemeClr val="dk1"/>
              </a:solidFill>
              <a:latin typeface="Lexend"/>
              <a:ea typeface="Lexend"/>
              <a:cs typeface="Lexend"/>
              <a:sym typeface="Lexend"/>
            </a:endParaRPr>
          </a:p>
        </p:txBody>
      </p:sp>
      <p:sp>
        <p:nvSpPr>
          <p:cNvPr id="2195" name="Google Shape;2195;p102"/>
          <p:cNvSpPr txBox="1"/>
          <p:nvPr/>
        </p:nvSpPr>
        <p:spPr>
          <a:xfrm>
            <a:off x="4969403" y="2610521"/>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a</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2196" name="Google Shape;2196;p102"/>
          <p:cNvSpPr txBox="1"/>
          <p:nvPr/>
        </p:nvSpPr>
        <p:spPr>
          <a:xfrm flipH="1">
            <a:off x="4838598" y="3630475"/>
            <a:ext cx="696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42 cm</a:t>
            </a:r>
            <a:endParaRPr sz="1800">
              <a:solidFill>
                <a:schemeClr val="dk1"/>
              </a:solidFill>
              <a:latin typeface="Lexend"/>
              <a:ea typeface="Lexend"/>
              <a:cs typeface="Lexend"/>
              <a:sym typeface="Lexend"/>
            </a:endParaRPr>
          </a:p>
        </p:txBody>
      </p:sp>
      <p:sp>
        <p:nvSpPr>
          <p:cNvPr id="2197" name="Google Shape;2197;p102"/>
          <p:cNvSpPr/>
          <p:nvPr/>
        </p:nvSpPr>
        <p:spPr>
          <a:xfrm rot="2099521">
            <a:off x="7845860" y="4186153"/>
            <a:ext cx="194084" cy="19408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8" name="Google Shape;2198;p102"/>
          <p:cNvSpPr txBox="1"/>
          <p:nvPr/>
        </p:nvSpPr>
        <p:spPr>
          <a:xfrm flipH="1">
            <a:off x="7056800" y="3369358"/>
            <a:ext cx="139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25 cm</a:t>
            </a:r>
            <a:endParaRPr sz="1800">
              <a:solidFill>
                <a:schemeClr val="dk1"/>
              </a:solidFill>
              <a:latin typeface="Lexend"/>
              <a:ea typeface="Lexend"/>
              <a:cs typeface="Lexend"/>
              <a:sym typeface="Lexend"/>
            </a:endParaRPr>
          </a:p>
        </p:txBody>
      </p:sp>
      <p:cxnSp>
        <p:nvCxnSpPr>
          <p:cNvPr id="2199" name="Google Shape;2199;p102"/>
          <p:cNvCxnSpPr/>
          <p:nvPr/>
        </p:nvCxnSpPr>
        <p:spPr>
          <a:xfrm rot="10800000">
            <a:off x="670825" y="1605250"/>
            <a:ext cx="2236800" cy="0"/>
          </a:xfrm>
          <a:prstGeom prst="straightConnector1">
            <a:avLst/>
          </a:prstGeom>
          <a:noFill/>
          <a:ln cap="flat" cmpd="sng" w="28575">
            <a:solidFill>
              <a:srgbClr val="D02AA7"/>
            </a:solidFill>
            <a:prstDash val="dash"/>
            <a:round/>
            <a:headEnd len="med" w="med" type="none"/>
            <a:tailEnd len="med" w="med" type="none"/>
          </a:ln>
        </p:spPr>
      </p:cxnSp>
      <p:sp>
        <p:nvSpPr>
          <p:cNvPr id="2200" name="Google Shape;2200;p102"/>
          <p:cNvSpPr txBox="1"/>
          <p:nvPr/>
        </p:nvSpPr>
        <p:spPr>
          <a:xfrm>
            <a:off x="5824499" y="2658400"/>
            <a:ext cx="5301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53°</a:t>
            </a:r>
            <a:endParaRPr sz="1800">
              <a:latin typeface="Lexend"/>
              <a:ea typeface="Lexend"/>
              <a:cs typeface="Lexend"/>
              <a:sym typeface="Lexend"/>
            </a:endParaRPr>
          </a:p>
        </p:txBody>
      </p:sp>
      <p:sp>
        <p:nvSpPr>
          <p:cNvPr id="2201" name="Google Shape;2201;p102"/>
          <p:cNvSpPr txBox="1"/>
          <p:nvPr/>
        </p:nvSpPr>
        <p:spPr>
          <a:xfrm>
            <a:off x="4924521" y="1092475"/>
            <a:ext cx="39057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Any angle ± 2° of what is given is a sensible estimate.</a:t>
            </a:r>
            <a:endParaRPr sz="1800">
              <a:latin typeface="Lexend"/>
              <a:ea typeface="Lexend"/>
              <a:cs typeface="Lexend"/>
              <a:sym typeface="Lexend"/>
            </a:endParaRPr>
          </a:p>
        </p:txBody>
      </p:sp>
      <p:sp>
        <p:nvSpPr>
          <p:cNvPr id="2202" name="Google Shape;2202;p102"/>
          <p:cNvSpPr txBox="1"/>
          <p:nvPr/>
        </p:nvSpPr>
        <p:spPr>
          <a:xfrm>
            <a:off x="5551552" y="3789984"/>
            <a:ext cx="5301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17°</a:t>
            </a:r>
            <a:endParaRPr sz="1800">
              <a:latin typeface="Lexend"/>
              <a:ea typeface="Lexend"/>
              <a:cs typeface="Lexend"/>
              <a:sym typeface="Lexend"/>
            </a:endParaRPr>
          </a:p>
        </p:txBody>
      </p:sp>
      <p:sp>
        <p:nvSpPr>
          <p:cNvPr id="2203" name="Google Shape;2203;p102"/>
          <p:cNvSpPr/>
          <p:nvPr/>
        </p:nvSpPr>
        <p:spPr>
          <a:xfrm>
            <a:off x="407896" y="3207434"/>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04" name="Google Shape;2204;p102"/>
          <p:cNvCxnSpPr/>
          <p:nvPr/>
        </p:nvCxnSpPr>
        <p:spPr>
          <a:xfrm rot="10800000">
            <a:off x="670750" y="3470800"/>
            <a:ext cx="3546000" cy="0"/>
          </a:xfrm>
          <a:prstGeom prst="straightConnector1">
            <a:avLst/>
          </a:prstGeom>
          <a:noFill/>
          <a:ln cap="flat" cmpd="sng" w="28575">
            <a:solidFill>
              <a:srgbClr val="D02AA7"/>
            </a:solidFill>
            <a:prstDash val="dash"/>
            <a:round/>
            <a:headEnd len="med" w="med" type="none"/>
            <a:tailEnd len="med" w="med" type="none"/>
          </a:ln>
        </p:spPr>
      </p:cxnSp>
      <p:sp>
        <p:nvSpPr>
          <p:cNvPr id="2205" name="Google Shape;2205;p102"/>
          <p:cNvSpPr/>
          <p:nvPr/>
        </p:nvSpPr>
        <p:spPr>
          <a:xfrm>
            <a:off x="407896" y="2685155"/>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06" name="Google Shape;2206;p102"/>
          <p:cNvCxnSpPr/>
          <p:nvPr/>
        </p:nvCxnSpPr>
        <p:spPr>
          <a:xfrm rot="10800000">
            <a:off x="670800" y="2948525"/>
            <a:ext cx="3354000" cy="0"/>
          </a:xfrm>
          <a:prstGeom prst="straightConnector1">
            <a:avLst/>
          </a:prstGeom>
          <a:noFill/>
          <a:ln cap="flat" cmpd="sng" w="28575">
            <a:solidFill>
              <a:srgbClr val="D02AA7"/>
            </a:solidFill>
            <a:prstDash val="dash"/>
            <a:round/>
            <a:headEnd len="med" w="med" type="none"/>
            <a:tailEnd len="med" w="med" type="none"/>
          </a:ln>
        </p:spPr>
      </p:cxnSp>
      <p:sp>
        <p:nvSpPr>
          <p:cNvPr id="2207" name="Google Shape;2207;p102"/>
          <p:cNvSpPr txBox="1"/>
          <p:nvPr/>
        </p:nvSpPr>
        <p:spPr>
          <a:xfrm flipH="1">
            <a:off x="8083952" y="4100327"/>
            <a:ext cx="876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p>
            <a:pPr indent="0" lvl="0" marL="0" rtl="0" algn="ctr">
              <a:spcBef>
                <a:spcPts val="0"/>
              </a:spcBef>
              <a:spcAft>
                <a:spcPts val="0"/>
              </a:spcAft>
              <a:buNone/>
            </a:pPr>
            <a:r>
              <a:rPr lang="en-GB" sz="1800">
                <a:latin typeface="Lexend"/>
                <a:ea typeface="Lexend"/>
                <a:cs typeface="Lexend"/>
                <a:sym typeface="Lexend"/>
              </a:rPr>
              <a:t>cm</a:t>
            </a:r>
            <a:endParaRPr sz="1800">
              <a:solidFill>
                <a:schemeClr val="dk1"/>
              </a:solidFill>
              <a:latin typeface="Lexend"/>
              <a:ea typeface="Lexend"/>
              <a:cs typeface="Lexend"/>
              <a:sym typeface="Lexend"/>
            </a:endParaRPr>
          </a:p>
        </p:txBody>
      </p:sp>
      <p:sp>
        <p:nvSpPr>
          <p:cNvPr id="2208" name="Google Shape;2208;p102"/>
          <p:cNvSpPr txBox="1"/>
          <p:nvPr/>
        </p:nvSpPr>
        <p:spPr>
          <a:xfrm>
            <a:off x="7180684" y="3733994"/>
            <a:ext cx="5301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26°</a:t>
            </a:r>
            <a:endParaRPr sz="1800">
              <a:latin typeface="Lexend"/>
              <a:ea typeface="Lexend"/>
              <a:cs typeface="Lexend"/>
              <a:sym typeface="Lexend"/>
            </a:endParaRPr>
          </a:p>
        </p:txBody>
      </p:sp>
      <p:sp>
        <p:nvSpPr>
          <p:cNvPr id="2209" name="Google Shape;2209;p102"/>
          <p:cNvSpPr/>
          <p:nvPr/>
        </p:nvSpPr>
        <p:spPr>
          <a:xfrm>
            <a:off x="4630800" y="4630800"/>
            <a:ext cx="131700" cy="153000"/>
          </a:xfrm>
          <a:prstGeom prst="rect">
            <a:avLst/>
          </a:prstGeom>
          <a:solidFill>
            <a:srgbClr val="E6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210" name="Google Shape;2210;p102"/>
          <p:cNvPicPr preferRelativeResize="0"/>
          <p:nvPr/>
        </p:nvPicPr>
        <p:blipFill>
          <a:blip r:embed="rId4">
            <a:alphaModFix/>
          </a:blip>
          <a:stretch>
            <a:fillRect/>
          </a:stretch>
        </p:blipFill>
        <p:spPr>
          <a:xfrm>
            <a:off x="6831186" y="3517025"/>
            <a:ext cx="1787490" cy="10824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4" name="Shape 2214"/>
        <p:cNvGrpSpPr/>
        <p:nvPr/>
      </p:nvGrpSpPr>
      <p:grpSpPr>
        <a:xfrm>
          <a:off x="0" y="0"/>
          <a:ext cx="0" cy="0"/>
          <a:chOff x="0" y="0"/>
          <a:chExt cx="0" cy="0"/>
        </a:xfrm>
      </p:grpSpPr>
      <p:sp>
        <p:nvSpPr>
          <p:cNvPr id="2215" name="Google Shape;2215;p103"/>
          <p:cNvSpPr/>
          <p:nvPr/>
        </p:nvSpPr>
        <p:spPr>
          <a:xfrm rot="10800000">
            <a:off x="3779225" y="4317926"/>
            <a:ext cx="906000" cy="906300"/>
          </a:xfrm>
          <a:prstGeom prst="arc">
            <a:avLst>
              <a:gd fmla="val 7644222"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16" name="Google Shape;2216;p103"/>
          <p:cNvSpPr/>
          <p:nvPr/>
        </p:nvSpPr>
        <p:spPr>
          <a:xfrm rot="10800000">
            <a:off x="469282" y="1200229"/>
            <a:ext cx="1331100" cy="1331400"/>
          </a:xfrm>
          <a:prstGeom prst="arc">
            <a:avLst>
              <a:gd fmla="val 9151910"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17" name="Google Shape;2217;p103"/>
          <p:cNvSpPr/>
          <p:nvPr/>
        </p:nvSpPr>
        <p:spPr>
          <a:xfrm rot="10800000">
            <a:off x="-222650" y="3567075"/>
            <a:ext cx="1500600" cy="1500900"/>
          </a:xfrm>
          <a:prstGeom prst="arc">
            <a:avLst>
              <a:gd fmla="val 9585297"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18" name="Google Shape;2218;p103"/>
          <p:cNvGrpSpPr/>
          <p:nvPr/>
        </p:nvGrpSpPr>
        <p:grpSpPr>
          <a:xfrm>
            <a:off x="381871" y="3606972"/>
            <a:ext cx="2016669" cy="719745"/>
            <a:chOff x="-2082328" y="1227614"/>
            <a:chExt cx="1088973" cy="1896561"/>
          </a:xfrm>
        </p:grpSpPr>
        <p:sp>
          <p:nvSpPr>
            <p:cNvPr id="2219" name="Google Shape;2219;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20" name="Google Shape;2220;p103"/>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221" name="Google Shape;2221;p103"/>
            <p:cNvCxnSpPr/>
            <p:nvPr/>
          </p:nvCxnSpPr>
          <p:spPr>
            <a:xfrm rot="10800000">
              <a:off x="-993355"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grpSp>
        <p:nvGrpSpPr>
          <p:cNvPr id="2222" name="Google Shape;2222;p103"/>
          <p:cNvGrpSpPr/>
          <p:nvPr/>
        </p:nvGrpSpPr>
        <p:grpSpPr>
          <a:xfrm>
            <a:off x="4115880" y="3449747"/>
            <a:ext cx="1176213" cy="1321370"/>
            <a:chOff x="-2133561" y="1365630"/>
            <a:chExt cx="1165260" cy="1758545"/>
          </a:xfrm>
        </p:grpSpPr>
        <p:sp>
          <p:nvSpPr>
            <p:cNvPr id="2223" name="Google Shape;2223;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24" name="Google Shape;2224;p103"/>
            <p:cNvCxnSpPr/>
            <p:nvPr/>
          </p:nvCxnSpPr>
          <p:spPr>
            <a:xfrm flipH="1">
              <a:off x="-2133561" y="136563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225" name="Google Shape;2225;p103"/>
            <p:cNvCxnSpPr/>
            <p:nvPr/>
          </p:nvCxnSpPr>
          <p:spPr>
            <a:xfrm rot="10800000">
              <a:off x="-968301"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226" name="Google Shape;2226;p103"/>
          <p:cNvSpPr/>
          <p:nvPr/>
        </p:nvSpPr>
        <p:spPr>
          <a:xfrm rot="10800000">
            <a:off x="6058595" y="1428829"/>
            <a:ext cx="1331100" cy="1331400"/>
          </a:xfrm>
          <a:prstGeom prst="arc">
            <a:avLst>
              <a:gd fmla="val 9151910"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27" name="Google Shape;2227;p103"/>
          <p:cNvGrpSpPr/>
          <p:nvPr/>
        </p:nvGrpSpPr>
        <p:grpSpPr>
          <a:xfrm>
            <a:off x="1029490" y="1155401"/>
            <a:ext cx="1395014" cy="719745"/>
            <a:chOff x="-2082328" y="1227614"/>
            <a:chExt cx="1103825" cy="1896561"/>
          </a:xfrm>
        </p:grpSpPr>
        <p:sp>
          <p:nvSpPr>
            <p:cNvPr id="2228" name="Google Shape;2228;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29" name="Google Shape;2229;p103"/>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230" name="Google Shape;2230;p103"/>
            <p:cNvCxnSpPr/>
            <p:nvPr/>
          </p:nvCxnSpPr>
          <p:spPr>
            <a:xfrm rot="10800000">
              <a:off x="-978503"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231" name="Google Shape;2231;p103"/>
          <p:cNvSpPr txBox="1"/>
          <p:nvPr/>
        </p:nvSpPr>
        <p:spPr>
          <a:xfrm>
            <a:off x="324000" y="613000"/>
            <a:ext cx="80859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3) Use your calculator to find </a:t>
            </a:r>
            <a:r>
              <a:rPr lang="en-GB" sz="1800">
                <a:solidFill>
                  <a:schemeClr val="dk1"/>
                </a:solidFill>
                <a:latin typeface="Lexend"/>
                <a:ea typeface="Lexend"/>
                <a:cs typeface="Lexend"/>
                <a:sym typeface="Lexend"/>
              </a:rPr>
              <a:t>the size of each angle marked with a letter (1 d.p.)</a:t>
            </a:r>
            <a:endParaRPr sz="1800">
              <a:latin typeface="Lexend"/>
              <a:ea typeface="Lexend"/>
              <a:cs typeface="Lexend"/>
              <a:sym typeface="Lexend"/>
            </a:endParaRPr>
          </a:p>
        </p:txBody>
      </p:sp>
      <p:sp>
        <p:nvSpPr>
          <p:cNvPr id="2232" name="Google Shape;2232;p103"/>
          <p:cNvSpPr txBox="1"/>
          <p:nvPr/>
        </p:nvSpPr>
        <p:spPr>
          <a:xfrm>
            <a:off x="2197225"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 </a:t>
            </a:r>
            <a:endParaRPr sz="3000">
              <a:solidFill>
                <a:schemeClr val="dk1"/>
              </a:solidFill>
              <a:latin typeface="Times New Roman"/>
              <a:ea typeface="Times New Roman"/>
              <a:cs typeface="Times New Roman"/>
              <a:sym typeface="Times New Roman"/>
            </a:endParaRPr>
          </a:p>
        </p:txBody>
      </p:sp>
      <p:sp>
        <p:nvSpPr>
          <p:cNvPr id="2233" name="Google Shape;2233;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sine formula</a:t>
            </a:r>
            <a:endParaRPr/>
          </a:p>
        </p:txBody>
      </p:sp>
      <p:cxnSp>
        <p:nvCxnSpPr>
          <p:cNvPr id="2234" name="Google Shape;2234;p103"/>
          <p:cNvCxnSpPr/>
          <p:nvPr/>
        </p:nvCxnSpPr>
        <p:spPr>
          <a:xfrm rot="10800000">
            <a:off x="5988000" y="1189625"/>
            <a:ext cx="0" cy="3631800"/>
          </a:xfrm>
          <a:prstGeom prst="straightConnector1">
            <a:avLst/>
          </a:prstGeom>
          <a:noFill/>
          <a:ln cap="flat" cmpd="sng" w="28575">
            <a:solidFill>
              <a:schemeClr val="accent5"/>
            </a:solidFill>
            <a:prstDash val="solid"/>
            <a:round/>
            <a:headEnd len="med" w="med" type="none"/>
            <a:tailEnd len="med" w="med" type="none"/>
          </a:ln>
        </p:spPr>
      </p:cxnSp>
      <p:cxnSp>
        <p:nvCxnSpPr>
          <p:cNvPr id="2235" name="Google Shape;2235;p103"/>
          <p:cNvCxnSpPr/>
          <p:nvPr/>
        </p:nvCxnSpPr>
        <p:spPr>
          <a:xfrm rot="10800000">
            <a:off x="3156000" y="1189625"/>
            <a:ext cx="0" cy="3631800"/>
          </a:xfrm>
          <a:prstGeom prst="straightConnector1">
            <a:avLst/>
          </a:prstGeom>
          <a:noFill/>
          <a:ln cap="flat" cmpd="sng" w="28575">
            <a:solidFill>
              <a:schemeClr val="accent5"/>
            </a:solidFill>
            <a:prstDash val="solid"/>
            <a:round/>
            <a:headEnd len="med" w="med" type="none"/>
            <a:tailEnd len="med" w="med" type="none"/>
          </a:ln>
        </p:spPr>
      </p:cxnSp>
      <p:cxnSp>
        <p:nvCxnSpPr>
          <p:cNvPr id="2236" name="Google Shape;2236;p103"/>
          <p:cNvCxnSpPr/>
          <p:nvPr/>
        </p:nvCxnSpPr>
        <p:spPr>
          <a:xfrm>
            <a:off x="336950" y="3310325"/>
            <a:ext cx="8486100" cy="0"/>
          </a:xfrm>
          <a:prstGeom prst="straightConnector1">
            <a:avLst/>
          </a:prstGeom>
          <a:noFill/>
          <a:ln cap="flat" cmpd="sng" w="28575">
            <a:solidFill>
              <a:schemeClr val="accent5"/>
            </a:solidFill>
            <a:prstDash val="solid"/>
            <a:round/>
            <a:headEnd len="med" w="med" type="none"/>
            <a:tailEnd len="med" w="med" type="none"/>
          </a:ln>
        </p:spPr>
      </p:cxnSp>
      <p:sp>
        <p:nvSpPr>
          <p:cNvPr id="2237" name="Google Shape;2237;p103"/>
          <p:cNvSpPr/>
          <p:nvPr/>
        </p:nvSpPr>
        <p:spPr>
          <a:xfrm>
            <a:off x="2166930" y="17222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38" name="Google Shape;2238;p103"/>
          <p:cNvSpPr txBox="1"/>
          <p:nvPr/>
        </p:nvSpPr>
        <p:spPr>
          <a:xfrm>
            <a:off x="549803" y="24037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Times New Roman"/>
                <a:ea typeface="Times New Roman"/>
                <a:cs typeface="Times New Roman"/>
                <a:sym typeface="Times New Roman"/>
              </a:rPr>
              <a:t>(</a:t>
            </a:r>
            <a:r>
              <a:rPr i="1" lang="en-GB" sz="2200">
                <a:solidFill>
                  <a:schemeClr val="dk1"/>
                </a:solidFill>
                <a:latin typeface="Times New Roman"/>
                <a:ea typeface="Times New Roman"/>
                <a:cs typeface="Times New Roman"/>
                <a:sym typeface="Times New Roman"/>
              </a:rPr>
              <a:t>a</a:t>
            </a:r>
            <a:r>
              <a:rPr lang="en-GB" sz="1800">
                <a:solidFill>
                  <a:schemeClr val="dk1"/>
                </a:solidFill>
                <a:latin typeface="Times New Roman"/>
                <a:ea typeface="Times New Roman"/>
                <a:cs typeface="Times New Roman"/>
                <a:sym typeface="Times New Roman"/>
              </a:rPr>
              <a:t>°) = </a:t>
            </a:r>
            <a:endParaRPr sz="1800">
              <a:solidFill>
                <a:schemeClr val="dk1"/>
              </a:solidFill>
              <a:latin typeface="Times New Roman"/>
              <a:ea typeface="Times New Roman"/>
              <a:cs typeface="Times New Roman"/>
              <a:sym typeface="Times New Roman"/>
            </a:endParaRPr>
          </a:p>
        </p:txBody>
      </p:sp>
      <p:grpSp>
        <p:nvGrpSpPr>
          <p:cNvPr id="2239" name="Google Shape;2239;p103"/>
          <p:cNvGrpSpPr/>
          <p:nvPr/>
        </p:nvGrpSpPr>
        <p:grpSpPr>
          <a:xfrm>
            <a:off x="1600349" y="2325541"/>
            <a:ext cx="394488" cy="448000"/>
            <a:chOff x="4885901" y="2729095"/>
            <a:chExt cx="723300" cy="448000"/>
          </a:xfrm>
        </p:grpSpPr>
        <p:sp>
          <p:nvSpPr>
            <p:cNvPr id="2240" name="Google Shape;2240;p103"/>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24</a:t>
              </a:r>
              <a:endParaRPr sz="1900">
                <a:latin typeface="Times New Roman"/>
                <a:ea typeface="Times New Roman"/>
                <a:cs typeface="Times New Roman"/>
                <a:sym typeface="Times New Roman"/>
              </a:endParaRPr>
            </a:p>
          </p:txBody>
        </p:sp>
        <p:sp>
          <p:nvSpPr>
            <p:cNvPr id="2241" name="Google Shape;2241;p10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9</a:t>
              </a:r>
              <a:endParaRPr sz="1900">
                <a:latin typeface="Times New Roman"/>
                <a:ea typeface="Times New Roman"/>
                <a:cs typeface="Times New Roman"/>
                <a:sym typeface="Times New Roman"/>
              </a:endParaRPr>
            </a:p>
          </p:txBody>
        </p:sp>
        <p:cxnSp>
          <p:nvCxnSpPr>
            <p:cNvPr id="2242" name="Google Shape;2242;p103"/>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243" name="Google Shape;2243;p103"/>
          <p:cNvSpPr txBox="1"/>
          <p:nvPr/>
        </p:nvSpPr>
        <p:spPr>
          <a:xfrm flipH="1">
            <a:off x="997651" y="11978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24 cm</a:t>
            </a:r>
            <a:endParaRPr sz="1800">
              <a:solidFill>
                <a:schemeClr val="dk1"/>
              </a:solidFill>
              <a:latin typeface="Lexend"/>
              <a:ea typeface="Lexend"/>
              <a:cs typeface="Lexend"/>
              <a:sym typeface="Lexend"/>
            </a:endParaRPr>
          </a:p>
        </p:txBody>
      </p:sp>
      <p:sp>
        <p:nvSpPr>
          <p:cNvPr id="2244" name="Google Shape;2244;p103"/>
          <p:cNvSpPr txBox="1"/>
          <p:nvPr/>
        </p:nvSpPr>
        <p:spPr>
          <a:xfrm flipH="1">
            <a:off x="2448791" y="1444747"/>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9 cm</a:t>
            </a:r>
            <a:endParaRPr sz="1800">
              <a:solidFill>
                <a:schemeClr val="dk1"/>
              </a:solidFill>
              <a:latin typeface="Lexend"/>
              <a:ea typeface="Lexend"/>
              <a:cs typeface="Lexend"/>
              <a:sym typeface="Lexend"/>
            </a:endParaRPr>
          </a:p>
        </p:txBody>
      </p:sp>
      <p:grpSp>
        <p:nvGrpSpPr>
          <p:cNvPr id="2245" name="Google Shape;2245;p103"/>
          <p:cNvGrpSpPr/>
          <p:nvPr/>
        </p:nvGrpSpPr>
        <p:grpSpPr>
          <a:xfrm>
            <a:off x="1600349" y="2814491"/>
            <a:ext cx="394488" cy="448000"/>
            <a:chOff x="4885901" y="2729095"/>
            <a:chExt cx="723300" cy="448000"/>
          </a:xfrm>
        </p:grpSpPr>
        <p:sp>
          <p:nvSpPr>
            <p:cNvPr id="2246" name="Google Shape;2246;p103"/>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24</a:t>
              </a:r>
              <a:endParaRPr sz="1900">
                <a:latin typeface="Times New Roman"/>
                <a:ea typeface="Times New Roman"/>
                <a:cs typeface="Times New Roman"/>
                <a:sym typeface="Times New Roman"/>
              </a:endParaRPr>
            </a:p>
          </p:txBody>
        </p:sp>
        <p:sp>
          <p:nvSpPr>
            <p:cNvPr id="2247" name="Google Shape;2247;p10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9</a:t>
              </a:r>
              <a:endParaRPr sz="1900">
                <a:latin typeface="Times New Roman"/>
                <a:ea typeface="Times New Roman"/>
                <a:cs typeface="Times New Roman"/>
                <a:sym typeface="Times New Roman"/>
              </a:endParaRPr>
            </a:p>
          </p:txBody>
        </p:sp>
        <p:cxnSp>
          <p:nvCxnSpPr>
            <p:cNvPr id="2248" name="Google Shape;2248;p103"/>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249" name="Google Shape;2249;p103"/>
          <p:cNvSpPr txBox="1"/>
          <p:nvPr/>
        </p:nvSpPr>
        <p:spPr>
          <a:xfrm>
            <a:off x="464400"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Times New Roman"/>
                <a:ea typeface="Times New Roman"/>
                <a:cs typeface="Times New Roman"/>
                <a:sym typeface="Times New Roman"/>
              </a:rPr>
              <a:t>° = </a:t>
            </a:r>
            <a:r>
              <a:rPr lang="en-GB" sz="2200">
                <a:solidFill>
                  <a:schemeClr val="dk1"/>
                </a:solidFill>
                <a:latin typeface="Times New Roman"/>
                <a:ea typeface="Times New Roman"/>
                <a:cs typeface="Times New Roman"/>
                <a:sym typeface="Times New Roman"/>
              </a:rPr>
              <a:t>sin</a:t>
            </a:r>
            <a:r>
              <a:rPr baseline="30000" lang="en-GB" sz="2200">
                <a:solidFill>
                  <a:schemeClr val="dk1"/>
                </a:solidFill>
                <a:latin typeface="Times New Roman"/>
                <a:ea typeface="Times New Roman"/>
                <a:cs typeface="Times New Roman"/>
                <a:sym typeface="Times New Roman"/>
              </a:rPr>
              <a:t>-1</a:t>
            </a: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250" name="Google Shape;2250;p103"/>
          <p:cNvSpPr txBox="1"/>
          <p:nvPr/>
        </p:nvSpPr>
        <p:spPr>
          <a:xfrm>
            <a:off x="1936605"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251" name="Google Shape;2251;p103"/>
          <p:cNvSpPr/>
          <p:nvPr/>
        </p:nvSpPr>
        <p:spPr>
          <a:xfrm>
            <a:off x="2389150"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2" name="Google Shape;2252;p103"/>
          <p:cNvSpPr txBox="1"/>
          <p:nvPr/>
        </p:nvSpPr>
        <p:spPr>
          <a:xfrm flipH="1">
            <a:off x="3898960" y="101773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22 cm</a:t>
            </a:r>
            <a:endParaRPr sz="1800">
              <a:solidFill>
                <a:schemeClr val="dk1"/>
              </a:solidFill>
              <a:latin typeface="Lexend"/>
              <a:ea typeface="Lexend"/>
              <a:cs typeface="Lexend"/>
              <a:sym typeface="Lexend"/>
            </a:endParaRPr>
          </a:p>
        </p:txBody>
      </p:sp>
      <p:sp>
        <p:nvSpPr>
          <p:cNvPr id="2253" name="Google Shape;2253;p103"/>
          <p:cNvSpPr txBox="1"/>
          <p:nvPr/>
        </p:nvSpPr>
        <p:spPr>
          <a:xfrm flipH="1">
            <a:off x="4287652" y="1783795"/>
            <a:ext cx="771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18 cm</a:t>
            </a:r>
            <a:endParaRPr sz="1800">
              <a:solidFill>
                <a:schemeClr val="dk1"/>
              </a:solidFill>
              <a:latin typeface="Lexend"/>
              <a:ea typeface="Lexend"/>
              <a:cs typeface="Lexend"/>
              <a:sym typeface="Lexend"/>
            </a:endParaRPr>
          </a:p>
        </p:txBody>
      </p:sp>
      <p:sp>
        <p:nvSpPr>
          <p:cNvPr id="2254" name="Google Shape;2254;p103"/>
          <p:cNvSpPr/>
          <p:nvPr/>
        </p:nvSpPr>
        <p:spPr>
          <a:xfrm>
            <a:off x="5099055" y="152062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5" name="Google Shape;2255;p103"/>
          <p:cNvSpPr txBox="1"/>
          <p:nvPr/>
        </p:nvSpPr>
        <p:spPr>
          <a:xfrm flipH="1">
            <a:off x="1408782" y="16470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256" name="Google Shape;2256;p103"/>
          <p:cNvSpPr/>
          <p:nvPr/>
        </p:nvSpPr>
        <p:spPr>
          <a:xfrm rot="10800000">
            <a:off x="4850175" y="645770"/>
            <a:ext cx="810300" cy="810300"/>
          </a:xfrm>
          <a:prstGeom prst="arc">
            <a:avLst>
              <a:gd fmla="val 16177816" name="adj1"/>
              <a:gd fmla="val 1991822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7" name="Google Shape;2257;p103"/>
          <p:cNvSpPr txBox="1"/>
          <p:nvPr/>
        </p:nvSpPr>
        <p:spPr>
          <a:xfrm flipH="1">
            <a:off x="4974508" y="1173670"/>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2258" name="Google Shape;2258;p103"/>
          <p:cNvGrpSpPr/>
          <p:nvPr/>
        </p:nvGrpSpPr>
        <p:grpSpPr>
          <a:xfrm>
            <a:off x="3969363" y="955030"/>
            <a:ext cx="1290596" cy="811576"/>
            <a:chOff x="-2082328" y="1227614"/>
            <a:chExt cx="1021203" cy="2138541"/>
          </a:xfrm>
        </p:grpSpPr>
        <p:sp>
          <p:nvSpPr>
            <p:cNvPr id="2259" name="Google Shape;2259;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60" name="Google Shape;2260;p103"/>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261" name="Google Shape;2261;p103"/>
            <p:cNvCxnSpPr/>
            <p:nvPr/>
          </p:nvCxnSpPr>
          <p:spPr>
            <a:xfrm rot="10800000">
              <a:off x="-2022025" y="3366155"/>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2262" name="Google Shape;2262;p103"/>
          <p:cNvSpPr txBox="1"/>
          <p:nvPr/>
        </p:nvSpPr>
        <p:spPr>
          <a:xfrm>
            <a:off x="4985150"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 </a:t>
            </a:r>
            <a:endParaRPr sz="3000">
              <a:solidFill>
                <a:schemeClr val="dk1"/>
              </a:solidFill>
              <a:latin typeface="Times New Roman"/>
              <a:ea typeface="Times New Roman"/>
              <a:cs typeface="Times New Roman"/>
              <a:sym typeface="Times New Roman"/>
            </a:endParaRPr>
          </a:p>
        </p:txBody>
      </p:sp>
      <p:sp>
        <p:nvSpPr>
          <p:cNvPr id="2263" name="Google Shape;2263;p103"/>
          <p:cNvSpPr txBox="1"/>
          <p:nvPr/>
        </p:nvSpPr>
        <p:spPr>
          <a:xfrm>
            <a:off x="3337728" y="23275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solidFill>
                  <a:schemeClr val="dk1"/>
                </a:solidFill>
                <a:latin typeface="Times New Roman"/>
                <a:ea typeface="Times New Roman"/>
                <a:cs typeface="Times New Roman"/>
                <a:sym typeface="Times New Roman"/>
              </a:rPr>
              <a:t>sin</a:t>
            </a:r>
            <a:r>
              <a:rPr lang="en-GB" sz="1800">
                <a:solidFill>
                  <a:schemeClr val="dk1"/>
                </a:solidFill>
                <a:latin typeface="Times New Roman"/>
                <a:ea typeface="Times New Roman"/>
                <a:cs typeface="Times New Roman"/>
                <a:sym typeface="Times New Roman"/>
              </a:rPr>
              <a:t>(</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Times New Roman"/>
                <a:ea typeface="Times New Roman"/>
                <a:cs typeface="Times New Roman"/>
                <a:sym typeface="Times New Roman"/>
              </a:rPr>
              <a:t>°) = </a:t>
            </a:r>
            <a:endParaRPr sz="1800">
              <a:solidFill>
                <a:schemeClr val="dk1"/>
              </a:solidFill>
              <a:latin typeface="Times New Roman"/>
              <a:ea typeface="Times New Roman"/>
              <a:cs typeface="Times New Roman"/>
              <a:sym typeface="Times New Roman"/>
            </a:endParaRPr>
          </a:p>
        </p:txBody>
      </p:sp>
      <p:grpSp>
        <p:nvGrpSpPr>
          <p:cNvPr id="2264" name="Google Shape;2264;p103"/>
          <p:cNvGrpSpPr/>
          <p:nvPr/>
        </p:nvGrpSpPr>
        <p:grpSpPr>
          <a:xfrm>
            <a:off x="4388274" y="2249341"/>
            <a:ext cx="394488" cy="448000"/>
            <a:chOff x="4885901" y="2729095"/>
            <a:chExt cx="723300" cy="448000"/>
          </a:xfrm>
        </p:grpSpPr>
        <p:sp>
          <p:nvSpPr>
            <p:cNvPr id="2265" name="Google Shape;2265;p103"/>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266" name="Google Shape;2266;p10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267" name="Google Shape;2267;p103"/>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grpSp>
        <p:nvGrpSpPr>
          <p:cNvPr id="2268" name="Google Shape;2268;p103"/>
          <p:cNvGrpSpPr/>
          <p:nvPr/>
        </p:nvGrpSpPr>
        <p:grpSpPr>
          <a:xfrm>
            <a:off x="4388274" y="2814491"/>
            <a:ext cx="394488" cy="448000"/>
            <a:chOff x="4885901" y="2729095"/>
            <a:chExt cx="723300" cy="448000"/>
          </a:xfrm>
        </p:grpSpPr>
        <p:sp>
          <p:nvSpPr>
            <p:cNvPr id="2269" name="Google Shape;2269;p103"/>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270" name="Google Shape;2270;p10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271" name="Google Shape;2271;p103"/>
            <p:cNvCxnSpPr/>
            <p:nvPr/>
          </p:nvCxnSpPr>
          <p:spPr>
            <a:xfrm>
              <a:off x="5004101" y="2953112"/>
              <a:ext cx="486900" cy="0"/>
            </a:xfrm>
            <a:prstGeom prst="straightConnector1">
              <a:avLst/>
            </a:prstGeom>
            <a:noFill/>
            <a:ln cap="flat" cmpd="sng" w="19050">
              <a:solidFill>
                <a:schemeClr val="dk1"/>
              </a:solidFill>
              <a:prstDash val="solid"/>
              <a:round/>
              <a:headEnd len="med" w="med" type="none"/>
              <a:tailEnd len="med" w="med" type="none"/>
            </a:ln>
          </p:spPr>
        </p:cxnSp>
      </p:grpSp>
      <p:sp>
        <p:nvSpPr>
          <p:cNvPr id="2272" name="Google Shape;2272;p103"/>
          <p:cNvSpPr txBox="1"/>
          <p:nvPr/>
        </p:nvSpPr>
        <p:spPr>
          <a:xfrm>
            <a:off x="3252325"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Times New Roman"/>
                <a:ea typeface="Times New Roman"/>
                <a:cs typeface="Times New Roman"/>
                <a:sym typeface="Times New Roman"/>
              </a:rPr>
              <a:t>° = </a:t>
            </a:r>
            <a:r>
              <a:rPr lang="en-GB" sz="2200">
                <a:solidFill>
                  <a:schemeClr val="dk1"/>
                </a:solidFill>
                <a:latin typeface="Times New Roman"/>
                <a:ea typeface="Times New Roman"/>
                <a:cs typeface="Times New Roman"/>
                <a:sym typeface="Times New Roman"/>
              </a:rPr>
              <a:t>sin</a:t>
            </a:r>
            <a:r>
              <a:rPr baseline="30000" lang="en-GB" sz="2200">
                <a:solidFill>
                  <a:schemeClr val="dk1"/>
                </a:solidFill>
                <a:latin typeface="Times New Roman"/>
                <a:ea typeface="Times New Roman"/>
                <a:cs typeface="Times New Roman"/>
                <a:sym typeface="Times New Roman"/>
              </a:rPr>
              <a:t>-1</a:t>
            </a: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273" name="Google Shape;2273;p103"/>
          <p:cNvSpPr txBox="1"/>
          <p:nvPr/>
        </p:nvSpPr>
        <p:spPr>
          <a:xfrm>
            <a:off x="4724530"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p:txBody>
      </p:sp>
      <p:sp>
        <p:nvSpPr>
          <p:cNvPr id="2274" name="Google Shape;2274;p103"/>
          <p:cNvSpPr/>
          <p:nvPr/>
        </p:nvSpPr>
        <p:spPr>
          <a:xfrm>
            <a:off x="5177075"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75" name="Google Shape;2275;p103"/>
          <p:cNvGrpSpPr/>
          <p:nvPr/>
        </p:nvGrpSpPr>
        <p:grpSpPr>
          <a:xfrm>
            <a:off x="6618803" y="1384001"/>
            <a:ext cx="1395014" cy="719745"/>
            <a:chOff x="-2082328" y="1227614"/>
            <a:chExt cx="1103825" cy="1896561"/>
          </a:xfrm>
        </p:grpSpPr>
        <p:sp>
          <p:nvSpPr>
            <p:cNvPr id="2276" name="Google Shape;2276;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77" name="Google Shape;2277;p103"/>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278" name="Google Shape;2278;p103"/>
            <p:cNvCxnSpPr/>
            <p:nvPr/>
          </p:nvCxnSpPr>
          <p:spPr>
            <a:xfrm rot="10800000">
              <a:off x="-978503"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279" name="Google Shape;2279;p103"/>
          <p:cNvSpPr/>
          <p:nvPr/>
        </p:nvSpPr>
        <p:spPr>
          <a:xfrm>
            <a:off x="7756242" y="19508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0" name="Google Shape;2280;p103"/>
          <p:cNvSpPr txBox="1"/>
          <p:nvPr/>
        </p:nvSpPr>
        <p:spPr>
          <a:xfrm flipH="1">
            <a:off x="6586963" y="14264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 cm</a:t>
            </a:r>
            <a:endParaRPr sz="1800">
              <a:solidFill>
                <a:schemeClr val="dk1"/>
              </a:solidFill>
              <a:latin typeface="Lexend"/>
              <a:ea typeface="Lexend"/>
              <a:cs typeface="Lexend"/>
              <a:sym typeface="Lexend"/>
            </a:endParaRPr>
          </a:p>
        </p:txBody>
      </p:sp>
      <p:sp>
        <p:nvSpPr>
          <p:cNvPr id="2281" name="Google Shape;2281;p103"/>
          <p:cNvSpPr txBox="1"/>
          <p:nvPr/>
        </p:nvSpPr>
        <p:spPr>
          <a:xfrm flipH="1">
            <a:off x="8038103" y="1673347"/>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0.48 cm</a:t>
            </a:r>
            <a:endParaRPr sz="1800">
              <a:solidFill>
                <a:schemeClr val="dk1"/>
              </a:solidFill>
              <a:latin typeface="Lexend"/>
              <a:ea typeface="Lexend"/>
              <a:cs typeface="Lexend"/>
              <a:sym typeface="Lexend"/>
            </a:endParaRPr>
          </a:p>
        </p:txBody>
      </p:sp>
      <p:sp>
        <p:nvSpPr>
          <p:cNvPr id="2282" name="Google Shape;2282;p103"/>
          <p:cNvSpPr txBox="1"/>
          <p:nvPr/>
        </p:nvSpPr>
        <p:spPr>
          <a:xfrm flipH="1">
            <a:off x="6998094" y="18756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283" name="Google Shape;2283;p103"/>
          <p:cNvSpPr/>
          <p:nvPr/>
        </p:nvSpPr>
        <p:spPr>
          <a:xfrm>
            <a:off x="2118311" y="417385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4" name="Google Shape;2284;p103"/>
          <p:cNvSpPr txBox="1"/>
          <p:nvPr/>
        </p:nvSpPr>
        <p:spPr>
          <a:xfrm flipH="1">
            <a:off x="770563" y="3649418"/>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 cm</a:t>
            </a:r>
            <a:endParaRPr sz="1800">
              <a:solidFill>
                <a:schemeClr val="dk1"/>
              </a:solidFill>
              <a:latin typeface="Lexend"/>
              <a:ea typeface="Lexend"/>
              <a:cs typeface="Lexend"/>
              <a:sym typeface="Lexend"/>
            </a:endParaRPr>
          </a:p>
        </p:txBody>
      </p:sp>
      <p:sp>
        <p:nvSpPr>
          <p:cNvPr id="2285" name="Google Shape;2285;p103"/>
          <p:cNvSpPr txBox="1"/>
          <p:nvPr/>
        </p:nvSpPr>
        <p:spPr>
          <a:xfrm flipH="1">
            <a:off x="2422798" y="3896322"/>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0.48 cm</a:t>
            </a:r>
            <a:endParaRPr sz="1800">
              <a:solidFill>
                <a:schemeClr val="dk1"/>
              </a:solidFill>
              <a:latin typeface="Lexend"/>
              <a:ea typeface="Lexend"/>
              <a:cs typeface="Lexend"/>
              <a:sym typeface="Lexend"/>
            </a:endParaRPr>
          </a:p>
        </p:txBody>
      </p:sp>
      <p:sp>
        <p:nvSpPr>
          <p:cNvPr id="2286" name="Google Shape;2286;p103"/>
          <p:cNvSpPr txBox="1"/>
          <p:nvPr/>
        </p:nvSpPr>
        <p:spPr>
          <a:xfrm flipH="1">
            <a:off x="975684" y="4118127"/>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d</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287" name="Google Shape;2287;p103"/>
          <p:cNvSpPr/>
          <p:nvPr/>
        </p:nvSpPr>
        <p:spPr>
          <a:xfrm>
            <a:off x="5014894" y="4586482"/>
            <a:ext cx="183300" cy="183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8" name="Google Shape;2288;p103"/>
          <p:cNvSpPr txBox="1"/>
          <p:nvPr/>
        </p:nvSpPr>
        <p:spPr>
          <a:xfrm flipH="1">
            <a:off x="3905751" y="3772096"/>
            <a:ext cx="771900" cy="2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0.5 cm</a:t>
            </a:r>
            <a:endParaRPr sz="1800">
              <a:solidFill>
                <a:schemeClr val="dk1"/>
              </a:solidFill>
              <a:latin typeface="Lexend"/>
              <a:ea typeface="Lexend"/>
              <a:cs typeface="Lexend"/>
              <a:sym typeface="Lexend"/>
            </a:endParaRPr>
          </a:p>
        </p:txBody>
      </p:sp>
      <p:sp>
        <p:nvSpPr>
          <p:cNvPr id="2289" name="Google Shape;2289;p103"/>
          <p:cNvSpPr txBox="1"/>
          <p:nvPr/>
        </p:nvSpPr>
        <p:spPr>
          <a:xfrm flipH="1">
            <a:off x="5292774" y="4092541"/>
            <a:ext cx="542700" cy="2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0.48 cm</a:t>
            </a:r>
            <a:endParaRPr sz="1800">
              <a:solidFill>
                <a:schemeClr val="dk1"/>
              </a:solidFill>
              <a:latin typeface="Lexend"/>
              <a:ea typeface="Lexend"/>
              <a:cs typeface="Lexend"/>
              <a:sym typeface="Lexend"/>
            </a:endParaRPr>
          </a:p>
        </p:txBody>
      </p:sp>
      <p:sp>
        <p:nvSpPr>
          <p:cNvPr id="2290" name="Google Shape;2290;p103"/>
          <p:cNvSpPr txBox="1"/>
          <p:nvPr/>
        </p:nvSpPr>
        <p:spPr>
          <a:xfrm flipH="1">
            <a:off x="4315012" y="4526079"/>
            <a:ext cx="388500" cy="21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e</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291" name="Google Shape;2291;p103"/>
          <p:cNvSpPr/>
          <p:nvPr/>
        </p:nvSpPr>
        <p:spPr>
          <a:xfrm rot="10800000">
            <a:off x="6058595" y="3575631"/>
            <a:ext cx="1331100" cy="1331400"/>
          </a:xfrm>
          <a:prstGeom prst="arc">
            <a:avLst>
              <a:gd fmla="val 9151910" name="adj1"/>
              <a:gd fmla="val 1080995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92" name="Google Shape;2292;p103"/>
          <p:cNvGrpSpPr/>
          <p:nvPr/>
        </p:nvGrpSpPr>
        <p:grpSpPr>
          <a:xfrm>
            <a:off x="6618803" y="3530804"/>
            <a:ext cx="1395014" cy="719745"/>
            <a:chOff x="-2082328" y="1227614"/>
            <a:chExt cx="1103825" cy="1896561"/>
          </a:xfrm>
        </p:grpSpPr>
        <p:sp>
          <p:nvSpPr>
            <p:cNvPr id="2293" name="Google Shape;2293;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94" name="Google Shape;2294;p103"/>
            <p:cNvCxnSpPr/>
            <p:nvPr/>
          </p:nvCxnSpPr>
          <p:spPr>
            <a:xfrm flipH="1">
              <a:off x="-2082328" y="1227614"/>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2295" name="Google Shape;2295;p103"/>
            <p:cNvCxnSpPr/>
            <p:nvPr/>
          </p:nvCxnSpPr>
          <p:spPr>
            <a:xfrm rot="10800000">
              <a:off x="-978503"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2296" name="Google Shape;2296;p103"/>
          <p:cNvSpPr/>
          <p:nvPr/>
        </p:nvSpPr>
        <p:spPr>
          <a:xfrm>
            <a:off x="7756242" y="4097679"/>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97" name="Google Shape;2297;p103"/>
          <p:cNvSpPr txBox="1"/>
          <p:nvPr/>
        </p:nvSpPr>
        <p:spPr>
          <a:xfrm flipH="1">
            <a:off x="6559458" y="3573245"/>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0.5 cm</a:t>
            </a:r>
            <a:endParaRPr sz="1800">
              <a:solidFill>
                <a:schemeClr val="dk1"/>
              </a:solidFill>
              <a:latin typeface="Lexend"/>
              <a:ea typeface="Lexend"/>
              <a:cs typeface="Lexend"/>
              <a:sym typeface="Lexend"/>
            </a:endParaRPr>
          </a:p>
        </p:txBody>
      </p:sp>
      <p:sp>
        <p:nvSpPr>
          <p:cNvPr id="2298" name="Google Shape;2298;p103"/>
          <p:cNvSpPr txBox="1"/>
          <p:nvPr/>
        </p:nvSpPr>
        <p:spPr>
          <a:xfrm flipH="1">
            <a:off x="8038103" y="3820150"/>
            <a:ext cx="558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0.24 cm</a:t>
            </a:r>
            <a:endParaRPr sz="1800">
              <a:solidFill>
                <a:schemeClr val="dk1"/>
              </a:solidFill>
              <a:latin typeface="Lexend"/>
              <a:ea typeface="Lexend"/>
              <a:cs typeface="Lexend"/>
              <a:sym typeface="Lexend"/>
            </a:endParaRPr>
          </a:p>
        </p:txBody>
      </p:sp>
      <p:sp>
        <p:nvSpPr>
          <p:cNvPr id="2299" name="Google Shape;2299;p103"/>
          <p:cNvSpPr txBox="1"/>
          <p:nvPr/>
        </p:nvSpPr>
        <p:spPr>
          <a:xfrm>
            <a:off x="2389050" y="2834950"/>
            <a:ext cx="7146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22.0°</a:t>
            </a:r>
            <a:endParaRPr sz="1800">
              <a:latin typeface="Lexend"/>
              <a:ea typeface="Lexend"/>
              <a:cs typeface="Lexend"/>
              <a:sym typeface="Lexend"/>
            </a:endParaRPr>
          </a:p>
        </p:txBody>
      </p:sp>
      <p:sp>
        <p:nvSpPr>
          <p:cNvPr id="2300" name="Google Shape;2300;p103"/>
          <p:cNvSpPr txBox="1"/>
          <p:nvPr/>
        </p:nvSpPr>
        <p:spPr>
          <a:xfrm>
            <a:off x="5177075" y="2834950"/>
            <a:ext cx="7146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54.9°</a:t>
            </a:r>
            <a:endParaRPr sz="1800">
              <a:latin typeface="Lexend"/>
              <a:ea typeface="Lexend"/>
              <a:cs typeface="Lexend"/>
              <a:sym typeface="Lexend"/>
            </a:endParaRPr>
          </a:p>
        </p:txBody>
      </p:sp>
      <p:sp>
        <p:nvSpPr>
          <p:cNvPr id="2301" name="Google Shape;2301;p103"/>
          <p:cNvSpPr txBox="1"/>
          <p:nvPr/>
        </p:nvSpPr>
        <p:spPr>
          <a:xfrm>
            <a:off x="6449825" y="2682550"/>
            <a:ext cx="16248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c° = 28.7°</a:t>
            </a:r>
            <a:endParaRPr sz="1800">
              <a:latin typeface="Lexend"/>
              <a:ea typeface="Lexend"/>
              <a:cs typeface="Lexend"/>
              <a:sym typeface="Lexend"/>
            </a:endParaRPr>
          </a:p>
        </p:txBody>
      </p:sp>
      <p:sp>
        <p:nvSpPr>
          <p:cNvPr id="2302" name="Google Shape;2302;p103"/>
          <p:cNvSpPr txBox="1"/>
          <p:nvPr/>
        </p:nvSpPr>
        <p:spPr>
          <a:xfrm>
            <a:off x="1028600" y="4406175"/>
            <a:ext cx="11298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d° = 9.2°</a:t>
            </a:r>
            <a:endParaRPr sz="1800">
              <a:latin typeface="Lexend"/>
              <a:ea typeface="Lexend"/>
              <a:cs typeface="Lexend"/>
              <a:sym typeface="Lexend"/>
            </a:endParaRPr>
          </a:p>
        </p:txBody>
      </p:sp>
      <p:sp>
        <p:nvSpPr>
          <p:cNvPr id="2303" name="Google Shape;2303;p103"/>
          <p:cNvSpPr txBox="1"/>
          <p:nvPr/>
        </p:nvSpPr>
        <p:spPr>
          <a:xfrm>
            <a:off x="3209025" y="3313125"/>
            <a:ext cx="12144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e° = 73.7°</a:t>
            </a:r>
            <a:endParaRPr sz="1800">
              <a:latin typeface="Lexend"/>
              <a:ea typeface="Lexend"/>
              <a:cs typeface="Lexend"/>
              <a:sym typeface="Lexend"/>
            </a:endParaRPr>
          </a:p>
        </p:txBody>
      </p:sp>
      <p:sp>
        <p:nvSpPr>
          <p:cNvPr id="2304" name="Google Shape;2304;p103"/>
          <p:cNvSpPr txBox="1"/>
          <p:nvPr/>
        </p:nvSpPr>
        <p:spPr>
          <a:xfrm>
            <a:off x="6449825" y="4406175"/>
            <a:ext cx="16248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f° = 28.7°</a:t>
            </a:r>
            <a:endParaRPr sz="1800">
              <a:latin typeface="Lexend"/>
              <a:ea typeface="Lexend"/>
              <a:cs typeface="Lexend"/>
              <a:sym typeface="Lexend"/>
            </a:endParaRPr>
          </a:p>
        </p:txBody>
      </p:sp>
      <p:sp>
        <p:nvSpPr>
          <p:cNvPr id="2305" name="Google Shape;2305;p103"/>
          <p:cNvSpPr txBox="1"/>
          <p:nvPr/>
        </p:nvSpPr>
        <p:spPr>
          <a:xfrm flipH="1">
            <a:off x="7097945" y="3985876"/>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f</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2306" name="Google Shape;2306;p103"/>
          <p:cNvSpPr txBox="1"/>
          <p:nvPr/>
        </p:nvSpPr>
        <p:spPr>
          <a:xfrm>
            <a:off x="4436475" y="2240750"/>
            <a:ext cx="313800" cy="246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18</a:t>
            </a:r>
            <a:endParaRPr sz="1800">
              <a:latin typeface="Lexend"/>
              <a:ea typeface="Lexend"/>
              <a:cs typeface="Lexend"/>
              <a:sym typeface="Lexend"/>
            </a:endParaRPr>
          </a:p>
        </p:txBody>
      </p:sp>
      <p:sp>
        <p:nvSpPr>
          <p:cNvPr id="2307" name="Google Shape;2307;p103"/>
          <p:cNvSpPr txBox="1"/>
          <p:nvPr/>
        </p:nvSpPr>
        <p:spPr>
          <a:xfrm>
            <a:off x="4436475" y="2473675"/>
            <a:ext cx="313800" cy="246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22</a:t>
            </a:r>
            <a:endParaRPr sz="1800">
              <a:latin typeface="Lexend"/>
              <a:ea typeface="Lexend"/>
              <a:cs typeface="Lexend"/>
              <a:sym typeface="Lexend"/>
            </a:endParaRPr>
          </a:p>
        </p:txBody>
      </p:sp>
      <p:sp>
        <p:nvSpPr>
          <p:cNvPr id="2308" name="Google Shape;2308;p103"/>
          <p:cNvSpPr txBox="1"/>
          <p:nvPr/>
        </p:nvSpPr>
        <p:spPr>
          <a:xfrm>
            <a:off x="4436475" y="2798150"/>
            <a:ext cx="313800" cy="246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18</a:t>
            </a:r>
            <a:endParaRPr sz="1800">
              <a:latin typeface="Lexend"/>
              <a:ea typeface="Lexend"/>
              <a:cs typeface="Lexend"/>
              <a:sym typeface="Lexend"/>
            </a:endParaRPr>
          </a:p>
        </p:txBody>
      </p:sp>
      <p:sp>
        <p:nvSpPr>
          <p:cNvPr id="2309" name="Google Shape;2309;p103"/>
          <p:cNvSpPr txBox="1"/>
          <p:nvPr/>
        </p:nvSpPr>
        <p:spPr>
          <a:xfrm>
            <a:off x="4436475" y="3031075"/>
            <a:ext cx="313800" cy="246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22</a:t>
            </a:r>
            <a:endParaRPr sz="1800">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104"/>
          <p:cNvSpPr txBox="1"/>
          <p:nvPr/>
        </p:nvSpPr>
        <p:spPr>
          <a:xfrm>
            <a:off x="324000" y="2422956"/>
            <a:ext cx="8496000" cy="170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sine formula can be used to find the length of the hypotenuse, the length of the </a:t>
            </a:r>
            <a:r>
              <a:rPr lang="en-GB" sz="1800">
                <a:solidFill>
                  <a:schemeClr val="dk1"/>
                </a:solidFill>
                <a:latin typeface="Lexend"/>
                <a:ea typeface="Lexend"/>
                <a:cs typeface="Lexend"/>
                <a:sym typeface="Lexend"/>
              </a:rPr>
              <a:t>side opposite an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or the size of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itself.</a:t>
            </a:r>
            <a:endParaRPr sz="1800">
              <a:solidFill>
                <a:schemeClr val="dk1"/>
              </a:solidFill>
              <a:latin typeface="Lexend"/>
              <a:ea typeface="Lexend"/>
              <a:cs typeface="Lexend"/>
              <a:sym typeface="Lexend"/>
            </a:endParaRPr>
          </a:p>
          <a:p>
            <a:pPr indent="0" lvl="0" marL="0" rtl="0" algn="l">
              <a:spcBef>
                <a:spcPts val="1000"/>
              </a:spcBef>
              <a:spcAft>
                <a:spcPts val="0"/>
              </a:spcAft>
              <a:buNone/>
            </a:pPr>
            <a:r>
              <a:rPr lang="en-GB" sz="1800">
                <a:solidFill>
                  <a:schemeClr val="dk1"/>
                </a:solidFill>
                <a:latin typeface="Lexend"/>
                <a:ea typeface="Lexend"/>
                <a:cs typeface="Lexend"/>
                <a:sym typeface="Lexend"/>
              </a:rPr>
              <a:t>In order to find the size of an angle, the function inverse to the sine function must be used: the arcsine function.</a:t>
            </a:r>
            <a:endParaRPr sz="1800">
              <a:solidFill>
                <a:schemeClr val="dk1"/>
              </a:solidFill>
              <a:latin typeface="Lexend"/>
              <a:ea typeface="Lexend"/>
              <a:cs typeface="Lexend"/>
              <a:sym typeface="Lexend"/>
            </a:endParaRPr>
          </a:p>
          <a:p>
            <a:pPr indent="0" lvl="0" marL="0" rtl="0" algn="l">
              <a:spcBef>
                <a:spcPts val="1000"/>
              </a:spcBef>
              <a:spcAft>
                <a:spcPts val="1000"/>
              </a:spcAft>
              <a:buNone/>
            </a:pPr>
            <a:r>
              <a:rPr lang="en-GB" sz="1800">
                <a:solidFill>
                  <a:schemeClr val="dk1"/>
                </a:solidFill>
                <a:latin typeface="Lexend"/>
                <a:ea typeface="Lexend"/>
                <a:cs typeface="Lexend"/>
                <a:sym typeface="Lexend"/>
              </a:rPr>
              <a:t>On a calculator, the arcsine function is usually written as </a:t>
            </a:r>
            <a:r>
              <a:rPr lang="en-GB" sz="2200">
                <a:solidFill>
                  <a:schemeClr val="dk1"/>
                </a:solidFill>
                <a:latin typeface="Times New Roman"/>
                <a:ea typeface="Times New Roman"/>
                <a:cs typeface="Times New Roman"/>
                <a:sym typeface="Times New Roman"/>
              </a:rPr>
              <a:t>sin</a:t>
            </a:r>
            <a:r>
              <a:rPr baseline="30000" lang="en-GB" sz="2200">
                <a:solidFill>
                  <a:schemeClr val="dk1"/>
                </a:solidFill>
                <a:latin typeface="Times New Roman"/>
                <a:ea typeface="Times New Roman"/>
                <a:cs typeface="Times New Roman"/>
                <a:sym typeface="Times New Roman"/>
              </a:rPr>
              <a:t>-1</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sp>
        <p:nvSpPr>
          <p:cNvPr id="2315" name="Google Shape;2315;p104"/>
          <p:cNvSpPr txBox="1"/>
          <p:nvPr/>
        </p:nvSpPr>
        <p:spPr>
          <a:xfrm>
            <a:off x="324000" y="633631"/>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relationship between the hypotenuse of a right-angled triangle and the side opposite an angle </a:t>
            </a:r>
            <a:r>
              <a:rPr i="1" lang="en-GB" sz="1800">
                <a:latin typeface="Lexend"/>
                <a:ea typeface="Lexend"/>
                <a:cs typeface="Lexend"/>
                <a:sym typeface="Lexend"/>
              </a:rPr>
              <a:t>θ</a:t>
            </a:r>
            <a:r>
              <a:rPr lang="en-GB" sz="1800">
                <a:latin typeface="Lexend"/>
                <a:ea typeface="Lexend"/>
                <a:cs typeface="Lexend"/>
                <a:sym typeface="Lexend"/>
              </a:rPr>
              <a:t>° can be written as a formula in different ways:</a:t>
            </a:r>
            <a:endParaRPr sz="1800">
              <a:solidFill>
                <a:schemeClr val="dk1"/>
              </a:solidFill>
              <a:latin typeface="Lexend"/>
              <a:ea typeface="Lexend"/>
              <a:cs typeface="Lexend"/>
              <a:sym typeface="Lexend"/>
            </a:endParaRPr>
          </a:p>
        </p:txBody>
      </p:sp>
      <p:sp>
        <p:nvSpPr>
          <p:cNvPr id="2316" name="Google Shape;2316;p104"/>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sine ratio</a:t>
            </a:r>
            <a:endParaRPr/>
          </a:p>
        </p:txBody>
      </p:sp>
      <p:pic>
        <p:nvPicPr>
          <p:cNvPr descr="&lt;math xmlns=&quot;http://www.w3.org/1998/Math/MathML&quot; display=&quot;block&quot; data-is-equatio=&quot;1&quot; data-latex=&quot;\frac{\text{opp}}{h}=\sin\left(\theta°\right)\ \ \ \ \ \frac{\text{opp}}{\sin\left(\theta°\right)}=h\ \ \ \ \ h\times\sin\left(\theta°\right)=\text{opp}&quot;&gt;&lt;mfrac&gt;&lt;mtext&gt;opp&lt;/mtext&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2317" name="Google Shape;2317;p104" title="opp over h equals sine theta degrees opp over sine theta degrees equals h h times sine theta degrees equals opp"/>
          <p:cNvPicPr preferRelativeResize="0"/>
          <p:nvPr/>
        </p:nvPicPr>
        <p:blipFill>
          <a:blip r:embed="rId3">
            <a:alphaModFix/>
          </a:blip>
          <a:stretch>
            <a:fillRect/>
          </a:stretch>
        </p:blipFill>
        <p:spPr>
          <a:xfrm>
            <a:off x="1859444" y="1449114"/>
            <a:ext cx="5392121" cy="5616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p10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323" name="Google Shape;2323;p10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