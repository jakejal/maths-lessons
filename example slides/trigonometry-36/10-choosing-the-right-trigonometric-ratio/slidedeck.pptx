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83A662-CB0C-4F0C-AD52-46217D66C8BC}">
  <a:tblStyle styleId="{6583A662-CB0C-4F0C-AD52-46217D66C8B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b9cac3710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b9cac3710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b9cac3710a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b9cac3710a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b9cac3710a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b9cac3710a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b9cac3710a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b9cac3710a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2ba6c933ed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2ba6c933ed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ba6c933ed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ba6c933ed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2ba6c933edb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2ba6c933edb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ba6c933edb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ba6c933edb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ba6c933edb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2ba6c933edb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2ba6c933edb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2ba6c933edb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269b412e35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269b412e35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ba6c933ed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ba6c933ed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2ba6c933edb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2ba6c933edb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2ba6c933ed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2ba6c933ed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ba6c933edb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ba6c933edb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ba6c933edb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ba6c933edb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2ba6c933edb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2ba6c933edb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2b9cac3710a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2b9cac3710a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ba6c933edb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ba6c933edb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2ba6c933edb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2ba6c933edb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2ba6c933edb_0_1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2ba6c933edb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2b9cac3710a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2b9cac3710a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g2b9cac3710a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g2b9cac3710a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g2babe05faa9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6" name="Google Shape;1596;g2babe05faa9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2b9cac3710a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2b9cac3710a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2babe05faa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2babe05fa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2ba6c933edb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2ba6c933edb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2babe05faa9_1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2babe05faa9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g2ba6c933edb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3" name="Google Shape;1783;g2ba6c933edb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2ba6c933edb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2ba6c933edb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g2babe05faa9_1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3" name="Google Shape;1873;g2babe05faa9_1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2ba6c933edb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g2ba6c933edb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g2b9cac3710a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8" name="Google Shape;1948;g2b9cac3710a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2babe05faa9_1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5" name="Google Shape;2025;g2babe05faa9_1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2babe05faa9_1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2" name="Google Shape;2102;g2babe05faa9_1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2babe05faa9_1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9" name="Google Shape;2149;g2babe05faa9_1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2babe05faa9_1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2babe05faa9_1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1" name="Shape 2301"/>
        <p:cNvGrpSpPr/>
        <p:nvPr/>
      </p:nvGrpSpPr>
      <p:grpSpPr>
        <a:xfrm>
          <a:off x="0" y="0"/>
          <a:ext cx="0" cy="0"/>
          <a:chOff x="0" y="0"/>
          <a:chExt cx="0" cy="0"/>
        </a:xfrm>
      </p:grpSpPr>
      <p:sp>
        <p:nvSpPr>
          <p:cNvPr id="2302" name="Google Shape;2302;g2babe05faa9_1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3" name="Google Shape;2303;g2babe05faa9_1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0" name="Google Shape;2350;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9.png"/><Relationship Id="rId4" Type="http://schemas.openxmlformats.org/officeDocument/2006/relationships/image" Target="../media/image70.pn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image" Target="../media/image2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70.png"/><Relationship Id="rId4" Type="http://schemas.openxmlformats.org/officeDocument/2006/relationships/image" Target="../media/image17.png"/><Relationship Id="rId9"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35.png"/><Relationship Id="rId7" Type="http://schemas.openxmlformats.org/officeDocument/2006/relationships/image" Target="../media/image24.png"/><Relationship Id="rId8"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70.png"/><Relationship Id="rId4" Type="http://schemas.openxmlformats.org/officeDocument/2006/relationships/image" Target="../media/image32.png"/><Relationship Id="rId11" Type="http://schemas.openxmlformats.org/officeDocument/2006/relationships/image" Target="../media/image21.png"/><Relationship Id="rId10" Type="http://schemas.openxmlformats.org/officeDocument/2006/relationships/image" Target="../media/image38.png"/><Relationship Id="rId9"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35.png"/><Relationship Id="rId8"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6" name="Google Shape;746;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8" name="Google Shape;748;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4.png"/><Relationship Id="rId4"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54.png"/><Relationship Id="rId4" Type="http://schemas.openxmlformats.org/officeDocument/2006/relationships/image" Target="../media/image6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61.pn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52.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5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3.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the right trigonometric ratio</a:t>
            </a:r>
            <a:endParaRPr/>
          </a:p>
        </p:txBody>
      </p:sp>
      <p:sp>
        <p:nvSpPr>
          <p:cNvPr id="756" name="Google Shape;756;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choose the appropriate trigonometric ratio to use to solve problems in right-angled triangles.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2" type="subTitle"/>
          </p:nvPr>
        </p:nvSpPr>
        <p:spPr>
          <a:xfrm>
            <a:off x="324000" y="826800"/>
            <a:ext cx="8496000" cy="38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highlight>
                  <a:srgbClr val="FFFFFF"/>
                </a:highlight>
              </a:rPr>
              <a:t>The trigonometric ratios are ratios between each pair of lengths in a right-angled triangle:</a:t>
            </a:r>
            <a:endParaRPr>
              <a:highlight>
                <a:srgbClr val="FFFFFF"/>
              </a:highlight>
            </a:endParaRPr>
          </a:p>
          <a:p>
            <a:pPr indent="0" lvl="0" marL="0" rtl="0" algn="l">
              <a:spcBef>
                <a:spcPts val="0"/>
              </a:spcBef>
              <a:spcAft>
                <a:spcPts val="0"/>
              </a:spcAft>
              <a:buNone/>
            </a:pPr>
            <a:r>
              <a:rPr lang="en-GB">
                <a:highlight>
                  <a:srgbClr val="FFFFFF"/>
                </a:highlight>
              </a:rPr>
              <a:t>sin(</a:t>
            </a:r>
            <a:r>
              <a:rPr i="1" lang="en-GB">
                <a:highlight>
                  <a:srgbClr val="FFFFFF"/>
                </a:highlight>
              </a:rPr>
              <a:t>θ</a:t>
            </a:r>
            <a:r>
              <a:rPr lang="en-GB">
                <a:highlight>
                  <a:srgbClr val="FFFFFF"/>
                </a:highlight>
              </a:rPr>
              <a:t>°) =   opposite         </a:t>
            </a:r>
            <a:r>
              <a:rPr lang="en-GB">
                <a:highlight>
                  <a:srgbClr val="FFFFFF"/>
                </a:highlight>
              </a:rPr>
              <a:t>cos(</a:t>
            </a:r>
            <a:r>
              <a:rPr i="1" lang="en-GB">
                <a:highlight>
                  <a:srgbClr val="FFFFFF"/>
                </a:highlight>
              </a:rPr>
              <a:t>θ</a:t>
            </a:r>
            <a:r>
              <a:rPr lang="en-GB">
                <a:highlight>
                  <a:srgbClr val="FFFFFF"/>
                </a:highlight>
              </a:rPr>
              <a:t>°) =   adjacent          tan(</a:t>
            </a:r>
            <a:r>
              <a:rPr i="1" lang="en-GB">
                <a:highlight>
                  <a:srgbClr val="FFFFFF"/>
                </a:highlight>
              </a:rPr>
              <a:t>θ</a:t>
            </a:r>
            <a:r>
              <a:rPr lang="en-GB">
                <a:highlight>
                  <a:srgbClr val="FFFFFF"/>
                </a:highlight>
              </a:rPr>
              <a:t>°) = opposite</a:t>
            </a:r>
            <a:endParaRPr>
              <a:highlight>
                <a:srgbClr val="FFFFFF"/>
              </a:highlight>
            </a:endParaRPr>
          </a:p>
          <a:p>
            <a:pPr indent="0" lvl="0" marL="0" rtl="0" algn="l">
              <a:spcBef>
                <a:spcPts val="0"/>
              </a:spcBef>
              <a:spcAft>
                <a:spcPts val="0"/>
              </a:spcAft>
              <a:buNone/>
            </a:pPr>
            <a:r>
              <a:rPr lang="en-GB">
                <a:highlight>
                  <a:srgbClr val="FFFFFF"/>
                </a:highlight>
              </a:rPr>
              <a:t>               hypotenuse</a:t>
            </a:r>
            <a:r>
              <a:rPr lang="en-GB">
                <a:highlight>
                  <a:srgbClr val="FFFFFF"/>
                </a:highlight>
              </a:rPr>
              <a:t>                       hypotenuse                      adjacent</a:t>
            </a:r>
            <a:endParaRPr>
              <a:highlight>
                <a:srgbClr val="FFFFFF"/>
              </a:highlight>
            </a:endParaRPr>
          </a:p>
          <a:p>
            <a:pPr indent="0" lvl="0" marL="0" rtl="0" algn="l">
              <a:spcBef>
                <a:spcPts val="0"/>
              </a:spcBef>
              <a:spcAft>
                <a:spcPts val="0"/>
              </a:spcAft>
              <a:buClr>
                <a:schemeClr val="dk1"/>
              </a:buClr>
              <a:buSzPts val="1100"/>
              <a:buFont typeface="Arial"/>
              <a:buNone/>
            </a:pPr>
            <a:r>
              <a:t/>
            </a:r>
            <a:endParaRPr>
              <a:highlight>
                <a:srgbClr val="FFFFFF"/>
              </a:highlight>
            </a:endParaRPr>
          </a:p>
          <a:p>
            <a:pPr indent="0" lvl="0" marL="0" rtl="0" algn="l">
              <a:spcBef>
                <a:spcPts val="0"/>
              </a:spcBef>
              <a:spcAft>
                <a:spcPts val="1000"/>
              </a:spcAft>
              <a:buNone/>
            </a:pPr>
            <a:r>
              <a:t/>
            </a:r>
            <a:endParaRPr sz="1800"/>
          </a:p>
        </p:txBody>
      </p:sp>
      <p:cxnSp>
        <p:nvCxnSpPr>
          <p:cNvPr id="772" name="Google Shape;772;p66"/>
          <p:cNvCxnSpPr/>
          <p:nvPr/>
        </p:nvCxnSpPr>
        <p:spPr>
          <a:xfrm>
            <a:off x="1405250" y="1860018"/>
            <a:ext cx="1364400" cy="0"/>
          </a:xfrm>
          <a:prstGeom prst="straightConnector1">
            <a:avLst/>
          </a:prstGeom>
          <a:noFill/>
          <a:ln cap="flat" cmpd="sng" w="19050">
            <a:solidFill>
              <a:schemeClr val="dk1"/>
            </a:solidFill>
            <a:prstDash val="solid"/>
            <a:round/>
            <a:headEnd len="med" w="med" type="none"/>
            <a:tailEnd len="med" w="med" type="none"/>
          </a:ln>
        </p:spPr>
      </p:cxnSp>
      <p:cxnSp>
        <p:nvCxnSpPr>
          <p:cNvPr id="773" name="Google Shape;773;p66"/>
          <p:cNvCxnSpPr/>
          <p:nvPr/>
        </p:nvCxnSpPr>
        <p:spPr>
          <a:xfrm>
            <a:off x="4495800" y="1860018"/>
            <a:ext cx="1364400" cy="0"/>
          </a:xfrm>
          <a:prstGeom prst="straightConnector1">
            <a:avLst/>
          </a:prstGeom>
          <a:noFill/>
          <a:ln cap="flat" cmpd="sng" w="19050">
            <a:solidFill>
              <a:schemeClr val="dk1"/>
            </a:solidFill>
            <a:prstDash val="solid"/>
            <a:round/>
            <a:headEnd len="med" w="med" type="none"/>
            <a:tailEnd len="med" w="med" type="none"/>
          </a:ln>
        </p:spPr>
      </p:cxnSp>
      <p:cxnSp>
        <p:nvCxnSpPr>
          <p:cNvPr id="774" name="Google Shape;774;p66"/>
          <p:cNvCxnSpPr/>
          <p:nvPr/>
        </p:nvCxnSpPr>
        <p:spPr>
          <a:xfrm>
            <a:off x="7490125" y="1860025"/>
            <a:ext cx="10812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a:t>
            </a:r>
            <a:r>
              <a:rPr lang="en-GB"/>
              <a:t>trigonometric</a:t>
            </a:r>
            <a:r>
              <a:rPr lang="en-GB"/>
              <a:t> function</a:t>
            </a:r>
            <a:endParaRPr/>
          </a:p>
        </p:txBody>
      </p:sp>
      <p:sp>
        <p:nvSpPr>
          <p:cNvPr id="780" name="Google Shape;780;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781" name="Google Shape;781;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the right trigonometric ratio</a:t>
            </a:r>
            <a:endParaRPr/>
          </a:p>
        </p:txBody>
      </p:sp>
      <p:pic>
        <p:nvPicPr>
          <p:cNvPr id="782" name="Google Shape;782;p67"/>
          <p:cNvPicPr preferRelativeResize="0"/>
          <p:nvPr/>
        </p:nvPicPr>
        <p:blipFill>
          <a:blip r:embed="rId3">
            <a:alphaModFix/>
          </a:blip>
          <a:stretch>
            <a:fillRect/>
          </a:stretch>
        </p:blipFill>
        <p:spPr>
          <a:xfrm>
            <a:off x="418390" y="205319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grpSp>
        <p:nvGrpSpPr>
          <p:cNvPr id="788" name="Google Shape;788;p68"/>
          <p:cNvGrpSpPr/>
          <p:nvPr/>
        </p:nvGrpSpPr>
        <p:grpSpPr>
          <a:xfrm rot="5400000">
            <a:off x="1295334" y="2631053"/>
            <a:ext cx="1037100" cy="1860230"/>
            <a:chOff x="-2098225" y="1379675"/>
            <a:chExt cx="1037100" cy="1860230"/>
          </a:xfrm>
        </p:grpSpPr>
        <p:sp>
          <p:nvSpPr>
            <p:cNvPr id="789" name="Google Shape;789;p6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90" name="Google Shape;790;p68"/>
            <p:cNvCxnSpPr/>
            <p:nvPr/>
          </p:nvCxnSpPr>
          <p:spPr>
            <a:xfrm flipH="1">
              <a:off x="-2098225" y="1379675"/>
              <a:ext cx="960900" cy="1668300"/>
            </a:xfrm>
            <a:prstGeom prst="straightConnector1">
              <a:avLst/>
            </a:prstGeom>
            <a:noFill/>
            <a:ln cap="flat" cmpd="sng" w="28575">
              <a:solidFill>
                <a:srgbClr val="9E9E9E"/>
              </a:solidFill>
              <a:prstDash val="solid"/>
              <a:round/>
              <a:headEnd len="med" w="med" type="triangle"/>
              <a:tailEnd len="med" w="med" type="triangle"/>
            </a:ln>
          </p:spPr>
        </p:cxnSp>
        <p:cxnSp>
          <p:nvCxnSpPr>
            <p:cNvPr id="791" name="Google Shape;791;p68"/>
            <p:cNvCxnSpPr/>
            <p:nvPr/>
          </p:nvCxnSpPr>
          <p:spPr>
            <a:xfrm rot="10800000">
              <a:off x="-2022025" y="3239905"/>
              <a:ext cx="960900" cy="0"/>
            </a:xfrm>
            <a:prstGeom prst="straightConnector1">
              <a:avLst/>
            </a:prstGeom>
            <a:noFill/>
            <a:ln cap="flat" cmpd="sng" w="28575">
              <a:solidFill>
                <a:srgbClr val="9E9E9E"/>
              </a:solidFill>
              <a:prstDash val="solid"/>
              <a:round/>
              <a:headEnd len="med" w="med" type="triangle"/>
              <a:tailEnd len="med" w="med" type="triangle"/>
            </a:ln>
          </p:spPr>
        </p:cxnSp>
      </p:grpSp>
      <p:sp>
        <p:nvSpPr>
          <p:cNvPr id="792" name="Google Shape;792;p68"/>
          <p:cNvSpPr/>
          <p:nvPr/>
        </p:nvSpPr>
        <p:spPr>
          <a:xfrm>
            <a:off x="1004995" y="3883593"/>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3" name="Google Shape;793;p68"/>
          <p:cNvSpPr txBox="1"/>
          <p:nvPr>
            <p:ph idx="1" type="body"/>
          </p:nvPr>
        </p:nvSpPr>
        <p:spPr>
          <a:xfrm>
            <a:off x="324000" y="1492954"/>
            <a:ext cx="8237700" cy="67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Each of the trigonometric functions (sine, cosine, tangent) find the multiplier between two sides of a right-angled triangle given one of the other angles. </a:t>
            </a:r>
            <a:endParaRPr sz="1800"/>
          </a:p>
        </p:txBody>
      </p:sp>
      <p:sp>
        <p:nvSpPr>
          <p:cNvPr id="794" name="Google Shape;794;p68"/>
          <p:cNvSpPr/>
          <p:nvPr/>
        </p:nvSpPr>
        <p:spPr>
          <a:xfrm>
            <a:off x="2303820" y="3721543"/>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5" name="Google Shape;795;p68"/>
          <p:cNvSpPr txBox="1"/>
          <p:nvPr>
            <p:ph idx="1" type="body"/>
          </p:nvPr>
        </p:nvSpPr>
        <p:spPr>
          <a:xfrm>
            <a:off x="2039089" y="3805017"/>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796" name="Google Shape;796;p68"/>
          <p:cNvSpPr txBox="1"/>
          <p:nvPr>
            <p:ph idx="1" type="body"/>
          </p:nvPr>
        </p:nvSpPr>
        <p:spPr>
          <a:xfrm>
            <a:off x="380972" y="3448606"/>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opp</a:t>
            </a:r>
            <a:endParaRPr sz="1800"/>
          </a:p>
        </p:txBody>
      </p:sp>
      <p:sp>
        <p:nvSpPr>
          <p:cNvPr id="797" name="Google Shape;797;p68"/>
          <p:cNvSpPr txBox="1"/>
          <p:nvPr>
            <p:ph idx="1" type="body"/>
          </p:nvPr>
        </p:nvSpPr>
        <p:spPr>
          <a:xfrm>
            <a:off x="1840783" y="3189434"/>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hyp</a:t>
            </a:r>
            <a:endParaRPr sz="1800"/>
          </a:p>
        </p:txBody>
      </p:sp>
      <p:grpSp>
        <p:nvGrpSpPr>
          <p:cNvPr id="798" name="Google Shape;798;p68"/>
          <p:cNvGrpSpPr/>
          <p:nvPr/>
        </p:nvGrpSpPr>
        <p:grpSpPr>
          <a:xfrm rot="5400000">
            <a:off x="3657337" y="2737151"/>
            <a:ext cx="1133566" cy="1744500"/>
            <a:chOff x="-2098225" y="1379675"/>
            <a:chExt cx="1133566" cy="1744500"/>
          </a:xfrm>
        </p:grpSpPr>
        <p:sp>
          <p:nvSpPr>
            <p:cNvPr id="799" name="Google Shape;799;p6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0" name="Google Shape;800;p68"/>
            <p:cNvCxnSpPr/>
            <p:nvPr/>
          </p:nvCxnSpPr>
          <p:spPr>
            <a:xfrm flipH="1">
              <a:off x="-2098225" y="1379675"/>
              <a:ext cx="960900" cy="1668300"/>
            </a:xfrm>
            <a:prstGeom prst="straightConnector1">
              <a:avLst/>
            </a:prstGeom>
            <a:noFill/>
            <a:ln cap="flat" cmpd="sng" w="28575">
              <a:solidFill>
                <a:srgbClr val="9E9E9E"/>
              </a:solidFill>
              <a:prstDash val="solid"/>
              <a:round/>
              <a:headEnd len="med" w="med" type="triangle"/>
              <a:tailEnd len="med" w="med" type="triangle"/>
            </a:ln>
          </p:spPr>
        </p:cxnSp>
        <p:cxnSp>
          <p:nvCxnSpPr>
            <p:cNvPr id="801" name="Google Shape;801;p68"/>
            <p:cNvCxnSpPr/>
            <p:nvPr/>
          </p:nvCxnSpPr>
          <p:spPr>
            <a:xfrm rot="10800000">
              <a:off x="-964659" y="1455875"/>
              <a:ext cx="0" cy="1668300"/>
            </a:xfrm>
            <a:prstGeom prst="straightConnector1">
              <a:avLst/>
            </a:prstGeom>
            <a:noFill/>
            <a:ln cap="flat" cmpd="sng" w="28575">
              <a:solidFill>
                <a:srgbClr val="9E9E9E"/>
              </a:solidFill>
              <a:prstDash val="solid"/>
              <a:round/>
              <a:headEnd len="med" w="med" type="triangle"/>
              <a:tailEnd len="med" w="med" type="triangle"/>
            </a:ln>
          </p:spPr>
        </p:cxnSp>
      </p:grpSp>
      <p:sp>
        <p:nvSpPr>
          <p:cNvPr id="802" name="Google Shape;802;p68"/>
          <p:cNvSpPr/>
          <p:nvPr/>
        </p:nvSpPr>
        <p:spPr>
          <a:xfrm>
            <a:off x="3357366" y="3883593"/>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68"/>
          <p:cNvSpPr/>
          <p:nvPr/>
        </p:nvSpPr>
        <p:spPr>
          <a:xfrm>
            <a:off x="4656191" y="3721543"/>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68"/>
          <p:cNvSpPr txBox="1"/>
          <p:nvPr>
            <p:ph idx="1" type="body"/>
          </p:nvPr>
        </p:nvSpPr>
        <p:spPr>
          <a:xfrm>
            <a:off x="4391460" y="3805017"/>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805" name="Google Shape;805;p68"/>
          <p:cNvSpPr txBox="1"/>
          <p:nvPr>
            <p:ph idx="1" type="body"/>
          </p:nvPr>
        </p:nvSpPr>
        <p:spPr>
          <a:xfrm>
            <a:off x="4005579" y="4163309"/>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adj</a:t>
            </a:r>
            <a:endParaRPr sz="1800"/>
          </a:p>
        </p:txBody>
      </p:sp>
      <p:sp>
        <p:nvSpPr>
          <p:cNvPr id="806" name="Google Shape;806;p68"/>
          <p:cNvSpPr txBox="1"/>
          <p:nvPr>
            <p:ph idx="1" type="body"/>
          </p:nvPr>
        </p:nvSpPr>
        <p:spPr>
          <a:xfrm>
            <a:off x="4193154" y="3189434"/>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hyp</a:t>
            </a:r>
            <a:endParaRPr sz="1800"/>
          </a:p>
        </p:txBody>
      </p:sp>
      <p:grpSp>
        <p:nvGrpSpPr>
          <p:cNvPr id="807" name="Google Shape;807;p68"/>
          <p:cNvGrpSpPr/>
          <p:nvPr/>
        </p:nvGrpSpPr>
        <p:grpSpPr>
          <a:xfrm rot="5400000">
            <a:off x="6882050" y="2831686"/>
            <a:ext cx="1057366" cy="1784030"/>
            <a:chOff x="-2022025" y="1455875"/>
            <a:chExt cx="1057366" cy="1784030"/>
          </a:xfrm>
        </p:grpSpPr>
        <p:sp>
          <p:nvSpPr>
            <p:cNvPr id="808" name="Google Shape;808;p6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9" name="Google Shape;809;p68"/>
            <p:cNvCxnSpPr/>
            <p:nvPr/>
          </p:nvCxnSpPr>
          <p:spPr>
            <a:xfrm rot="10800000">
              <a:off x="-2022025" y="3239905"/>
              <a:ext cx="960900" cy="0"/>
            </a:xfrm>
            <a:prstGeom prst="straightConnector1">
              <a:avLst/>
            </a:prstGeom>
            <a:noFill/>
            <a:ln cap="flat" cmpd="sng" w="28575">
              <a:solidFill>
                <a:srgbClr val="9E9E9E"/>
              </a:solidFill>
              <a:prstDash val="solid"/>
              <a:round/>
              <a:headEnd len="med" w="med" type="triangle"/>
              <a:tailEnd len="med" w="med" type="triangle"/>
            </a:ln>
          </p:spPr>
        </p:cxnSp>
        <p:cxnSp>
          <p:nvCxnSpPr>
            <p:cNvPr id="810" name="Google Shape;810;p68"/>
            <p:cNvCxnSpPr/>
            <p:nvPr/>
          </p:nvCxnSpPr>
          <p:spPr>
            <a:xfrm rot="10800000">
              <a:off x="-964659" y="1455875"/>
              <a:ext cx="0" cy="1668300"/>
            </a:xfrm>
            <a:prstGeom prst="straightConnector1">
              <a:avLst/>
            </a:prstGeom>
            <a:noFill/>
            <a:ln cap="flat" cmpd="sng" w="28575">
              <a:solidFill>
                <a:srgbClr val="9E9E9E"/>
              </a:solidFill>
              <a:prstDash val="solid"/>
              <a:round/>
              <a:headEnd len="med" w="med" type="triangle"/>
              <a:tailEnd len="med" w="med" type="triangle"/>
            </a:ln>
          </p:spPr>
        </p:cxnSp>
      </p:grpSp>
      <p:sp>
        <p:nvSpPr>
          <p:cNvPr id="811" name="Google Shape;811;p68"/>
          <p:cNvSpPr/>
          <p:nvPr/>
        </p:nvSpPr>
        <p:spPr>
          <a:xfrm>
            <a:off x="6639945" y="3959793"/>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2" name="Google Shape;812;p68"/>
          <p:cNvSpPr/>
          <p:nvPr/>
        </p:nvSpPr>
        <p:spPr>
          <a:xfrm>
            <a:off x="7938770" y="3797743"/>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3" name="Google Shape;813;p68"/>
          <p:cNvSpPr txBox="1"/>
          <p:nvPr>
            <p:ph idx="1" type="body"/>
          </p:nvPr>
        </p:nvSpPr>
        <p:spPr>
          <a:xfrm>
            <a:off x="7674038" y="3881217"/>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814" name="Google Shape;814;p68"/>
          <p:cNvSpPr txBox="1"/>
          <p:nvPr>
            <p:ph idx="1" type="body"/>
          </p:nvPr>
        </p:nvSpPr>
        <p:spPr>
          <a:xfrm>
            <a:off x="6015921" y="3524806"/>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opp</a:t>
            </a:r>
            <a:endParaRPr sz="1800"/>
          </a:p>
        </p:txBody>
      </p:sp>
      <p:sp>
        <p:nvSpPr>
          <p:cNvPr id="815" name="Google Shape;815;p68"/>
          <p:cNvSpPr txBox="1"/>
          <p:nvPr>
            <p:ph idx="1" type="body"/>
          </p:nvPr>
        </p:nvSpPr>
        <p:spPr>
          <a:xfrm>
            <a:off x="7288158" y="4239509"/>
            <a:ext cx="502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adj</a:t>
            </a:r>
            <a:endParaRPr sz="1800"/>
          </a:p>
        </p:txBody>
      </p:sp>
      <p:sp>
        <p:nvSpPr>
          <p:cNvPr id="816" name="Google Shape;816;p68"/>
          <p:cNvSpPr/>
          <p:nvPr/>
        </p:nvSpPr>
        <p:spPr>
          <a:xfrm flipH="1" rot="1621420">
            <a:off x="6262292" y="4088213"/>
            <a:ext cx="645559" cy="334246"/>
          </a:xfrm>
          <a:custGeom>
            <a:rect b="b" l="l" r="r" t="t"/>
            <a:pathLst>
              <a:path extrusionOk="0" h="5484" w="25820">
                <a:moveTo>
                  <a:pt x="0" y="315"/>
                </a:moveTo>
                <a:cubicBezTo>
                  <a:pt x="3392" y="8226"/>
                  <a:pt x="19739" y="6091"/>
                  <a:pt x="25820" y="0"/>
                </a:cubicBezTo>
              </a:path>
            </a:pathLst>
          </a:custGeom>
          <a:noFill/>
          <a:ln cap="flat" cmpd="sng" w="28575">
            <a:solidFill>
              <a:schemeClr val="accent4"/>
            </a:solidFill>
            <a:prstDash val="solid"/>
            <a:round/>
            <a:headEnd len="med" w="med" type="none"/>
            <a:tailEnd len="med" w="med" type="triangle"/>
          </a:ln>
        </p:spPr>
      </p:sp>
      <p:grpSp>
        <p:nvGrpSpPr>
          <p:cNvPr id="817" name="Google Shape;817;p68"/>
          <p:cNvGrpSpPr/>
          <p:nvPr/>
        </p:nvGrpSpPr>
        <p:grpSpPr>
          <a:xfrm rot="344">
            <a:off x="628445" y="2538954"/>
            <a:ext cx="1207970" cy="895256"/>
            <a:chOff x="628319" y="2538777"/>
            <a:chExt cx="1207970" cy="738660"/>
          </a:xfrm>
        </p:grpSpPr>
        <p:sp>
          <p:nvSpPr>
            <p:cNvPr id="818" name="Google Shape;818;p68"/>
            <p:cNvSpPr/>
            <p:nvPr/>
          </p:nvSpPr>
          <p:spPr>
            <a:xfrm rot="9747074">
              <a:off x="686086" y="2854037"/>
              <a:ext cx="632190" cy="344103"/>
            </a:xfrm>
            <a:custGeom>
              <a:rect b="b" l="l" r="r" t="t"/>
              <a:pathLst>
                <a:path extrusionOk="0" h="5484" w="25820">
                  <a:moveTo>
                    <a:pt x="0" y="315"/>
                  </a:moveTo>
                  <a:cubicBezTo>
                    <a:pt x="3392" y="8226"/>
                    <a:pt x="19739" y="6091"/>
                    <a:pt x="25820" y="0"/>
                  </a:cubicBezTo>
                </a:path>
              </a:pathLst>
            </a:custGeom>
            <a:noFill/>
            <a:ln cap="flat" cmpd="sng" w="28575">
              <a:solidFill>
                <a:srgbClr val="845AD9"/>
              </a:solidFill>
              <a:prstDash val="solid"/>
              <a:round/>
              <a:headEnd len="med" w="med" type="none"/>
              <a:tailEnd len="med" w="med" type="triangle"/>
            </a:ln>
          </p:spPr>
        </p:sp>
        <p:sp>
          <p:nvSpPr>
            <p:cNvPr id="819" name="Google Shape;819;p68"/>
            <p:cNvSpPr txBox="1"/>
            <p:nvPr/>
          </p:nvSpPr>
          <p:spPr>
            <a:xfrm>
              <a:off x="646189" y="2538777"/>
              <a:ext cx="11901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accent4"/>
                  </a:solidFill>
                  <a:latin typeface="Lexend"/>
                  <a:ea typeface="Lexend"/>
                  <a:cs typeface="Lexend"/>
                  <a:sym typeface="Lexend"/>
                </a:rPr>
                <a:t>× sin(</a:t>
              </a:r>
              <a:r>
                <a:rPr lang="en-GB" sz="1800">
                  <a:solidFill>
                    <a:schemeClr val="accent4"/>
                  </a:solidFill>
                  <a:latin typeface="Lexend"/>
                  <a:ea typeface="Lexend"/>
                  <a:cs typeface="Lexend"/>
                  <a:sym typeface="Lexend"/>
                </a:rPr>
                <a:t>𝜃°)</a:t>
              </a:r>
              <a:endParaRPr sz="1800">
                <a:solidFill>
                  <a:schemeClr val="accent4"/>
                </a:solidFill>
                <a:latin typeface="Lexend"/>
                <a:ea typeface="Lexend"/>
                <a:cs typeface="Lexend"/>
                <a:sym typeface="Lexend"/>
              </a:endParaRPr>
            </a:p>
          </p:txBody>
        </p:sp>
      </p:grpSp>
      <p:grpSp>
        <p:nvGrpSpPr>
          <p:cNvPr id="820" name="Google Shape;820;p68"/>
          <p:cNvGrpSpPr/>
          <p:nvPr/>
        </p:nvGrpSpPr>
        <p:grpSpPr>
          <a:xfrm>
            <a:off x="4726956" y="3393922"/>
            <a:ext cx="1190100" cy="1046803"/>
            <a:chOff x="4726956" y="3393922"/>
            <a:chExt cx="1190100" cy="1046803"/>
          </a:xfrm>
        </p:grpSpPr>
        <p:sp>
          <p:nvSpPr>
            <p:cNvPr id="821" name="Google Shape;821;p68"/>
            <p:cNvSpPr/>
            <p:nvPr/>
          </p:nvSpPr>
          <p:spPr>
            <a:xfrm flipH="1" rot="-4827739">
              <a:off x="4725385" y="3927624"/>
              <a:ext cx="645515" cy="334235"/>
            </a:xfrm>
            <a:custGeom>
              <a:rect b="b" l="l" r="r" t="t"/>
              <a:pathLst>
                <a:path extrusionOk="0" h="5484" w="25820">
                  <a:moveTo>
                    <a:pt x="0" y="315"/>
                  </a:moveTo>
                  <a:cubicBezTo>
                    <a:pt x="3392" y="8226"/>
                    <a:pt x="19739" y="6091"/>
                    <a:pt x="25820" y="0"/>
                  </a:cubicBezTo>
                </a:path>
              </a:pathLst>
            </a:custGeom>
            <a:noFill/>
            <a:ln cap="flat" cmpd="sng" w="28575">
              <a:solidFill>
                <a:schemeClr val="accent4"/>
              </a:solidFill>
              <a:prstDash val="solid"/>
              <a:round/>
              <a:headEnd len="med" w="med" type="none"/>
              <a:tailEnd len="med" w="med" type="triangle"/>
            </a:ln>
          </p:spPr>
        </p:sp>
        <p:sp>
          <p:nvSpPr>
            <p:cNvPr id="822" name="Google Shape;822;p68"/>
            <p:cNvSpPr txBox="1"/>
            <p:nvPr/>
          </p:nvSpPr>
          <p:spPr>
            <a:xfrm rot="-867">
              <a:off x="4726956" y="3394072"/>
              <a:ext cx="11901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accent4"/>
                  </a:solidFill>
                  <a:latin typeface="Lexend"/>
                  <a:ea typeface="Lexend"/>
                  <a:cs typeface="Lexend"/>
                  <a:sym typeface="Lexend"/>
                </a:rPr>
                <a:t>× cos(𝜃°)</a:t>
              </a:r>
              <a:endParaRPr sz="1800">
                <a:solidFill>
                  <a:schemeClr val="accent4"/>
                </a:solidFill>
                <a:latin typeface="Lexend"/>
                <a:ea typeface="Lexend"/>
                <a:cs typeface="Lexend"/>
                <a:sym typeface="Lexend"/>
              </a:endParaRPr>
            </a:p>
          </p:txBody>
        </p:sp>
      </p:grpSp>
      <p:sp>
        <p:nvSpPr>
          <p:cNvPr id="823" name="Google Shape;823;p68"/>
          <p:cNvSpPr txBox="1"/>
          <p:nvPr/>
        </p:nvSpPr>
        <p:spPr>
          <a:xfrm>
            <a:off x="6079685" y="4320011"/>
            <a:ext cx="11901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accent4"/>
                </a:solidFill>
                <a:latin typeface="Lexend"/>
                <a:ea typeface="Lexend"/>
                <a:cs typeface="Lexend"/>
                <a:sym typeface="Lexend"/>
              </a:rPr>
              <a:t>× tan(𝜃°)</a:t>
            </a:r>
            <a:endParaRPr sz="1800">
              <a:solidFill>
                <a:schemeClr val="accent4"/>
              </a:solidFill>
              <a:latin typeface="Lexend"/>
              <a:ea typeface="Lexend"/>
              <a:cs typeface="Lexend"/>
              <a:sym typeface="Lexend"/>
            </a:endParaRPr>
          </a:p>
        </p:txBody>
      </p:sp>
      <p:sp>
        <p:nvSpPr>
          <p:cNvPr id="824" name="Google Shape;824;p68"/>
          <p:cNvSpPr txBox="1"/>
          <p:nvPr>
            <p:ph idx="1" type="body"/>
          </p:nvPr>
        </p:nvSpPr>
        <p:spPr>
          <a:xfrm>
            <a:off x="324000" y="744900"/>
            <a:ext cx="8361300" cy="67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 a triangle the proportional relationship between each pair of sides is set by the angles.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9"/>
          <p:cNvSpPr txBox="1"/>
          <p:nvPr>
            <p:ph idx="1" type="body"/>
          </p:nvPr>
        </p:nvSpPr>
        <p:spPr>
          <a:xfrm>
            <a:off x="324000" y="759300"/>
            <a:ext cx="56499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trigonometric function can we use to calculate the value of</a:t>
            </a:r>
            <a:r>
              <a:rPr lang="en-GB"/>
              <a:t> </a:t>
            </a:r>
            <a:r>
              <a:rPr i="1" lang="en-GB" sz="2000">
                <a:latin typeface="Times New Roman"/>
                <a:ea typeface="Times New Roman"/>
                <a:cs typeface="Times New Roman"/>
                <a:sym typeface="Times New Roman"/>
              </a:rPr>
              <a:t>x</a:t>
            </a:r>
            <a:r>
              <a:rPr lang="en-GB" sz="1800"/>
              <a:t>?</a:t>
            </a:r>
            <a:endParaRPr sz="1800"/>
          </a:p>
        </p:txBody>
      </p:sp>
      <p:sp>
        <p:nvSpPr>
          <p:cNvPr id="830" name="Google Shape;83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grpSp>
        <p:nvGrpSpPr>
          <p:cNvPr id="831" name="Google Shape;831;p69"/>
          <p:cNvGrpSpPr/>
          <p:nvPr/>
        </p:nvGrpSpPr>
        <p:grpSpPr>
          <a:xfrm rot="5400000">
            <a:off x="6576445" y="623108"/>
            <a:ext cx="1133566" cy="1744500"/>
            <a:chOff x="-2098225" y="1379675"/>
            <a:chExt cx="1133566" cy="1744500"/>
          </a:xfrm>
        </p:grpSpPr>
        <p:sp>
          <p:nvSpPr>
            <p:cNvPr id="832" name="Google Shape;832;p6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3" name="Google Shape;833;p69"/>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834" name="Google Shape;834;p69"/>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835" name="Google Shape;835;p69"/>
          <p:cNvSpPr/>
          <p:nvPr/>
        </p:nvSpPr>
        <p:spPr>
          <a:xfrm>
            <a:off x="6276475" y="1769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6" name="Google Shape;836;p69"/>
          <p:cNvSpPr/>
          <p:nvPr/>
        </p:nvSpPr>
        <p:spPr>
          <a:xfrm>
            <a:off x="7575300" y="1607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69"/>
          <p:cNvSpPr txBox="1"/>
          <p:nvPr>
            <p:ph idx="1" type="body"/>
          </p:nvPr>
        </p:nvSpPr>
        <p:spPr>
          <a:xfrm>
            <a:off x="7179523" y="16909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r>
              <a:rPr lang="en-GB" sz="1800"/>
              <a:t>°</a:t>
            </a:r>
            <a:endParaRPr sz="1800"/>
          </a:p>
        </p:txBody>
      </p:sp>
      <p:sp>
        <p:nvSpPr>
          <p:cNvPr id="838" name="Google Shape;838;p69"/>
          <p:cNvSpPr txBox="1"/>
          <p:nvPr>
            <p:ph idx="1" type="body"/>
          </p:nvPr>
        </p:nvSpPr>
        <p:spPr>
          <a:xfrm>
            <a:off x="6924705" y="20492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839" name="Google Shape;839;p69"/>
          <p:cNvSpPr txBox="1"/>
          <p:nvPr>
            <p:ph idx="1" type="body"/>
          </p:nvPr>
        </p:nvSpPr>
        <p:spPr>
          <a:xfrm>
            <a:off x="7112280" y="1075400"/>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i="1" lang="en-GB" sz="2000">
                <a:latin typeface="Times New Roman"/>
                <a:ea typeface="Times New Roman"/>
                <a:cs typeface="Times New Roman"/>
                <a:sym typeface="Times New Roman"/>
              </a:rPr>
              <a:t> </a:t>
            </a:r>
            <a:r>
              <a:rPr lang="en-GB" sz="1800"/>
              <a:t>cm</a:t>
            </a:r>
            <a:endParaRPr sz="1800"/>
          </a:p>
        </p:txBody>
      </p:sp>
      <p:sp>
        <p:nvSpPr>
          <p:cNvPr id="840" name="Google Shape;840;p69"/>
          <p:cNvSpPr txBox="1"/>
          <p:nvPr>
            <p:ph idx="1" type="body"/>
          </p:nvPr>
        </p:nvSpPr>
        <p:spPr>
          <a:xfrm>
            <a:off x="6341323" y="1233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r>
              <a:rPr lang="en-GB" sz="1800"/>
              <a:t>°</a:t>
            </a:r>
            <a:endParaRPr sz="1800"/>
          </a:p>
        </p:txBody>
      </p:sp>
      <p:sp>
        <p:nvSpPr>
          <p:cNvPr id="841" name="Google Shape;841;p69"/>
          <p:cNvSpPr/>
          <p:nvPr/>
        </p:nvSpPr>
        <p:spPr>
          <a:xfrm>
            <a:off x="6006416" y="7461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42" name="Google Shape;842;p69"/>
          <p:cNvPicPr preferRelativeResize="0"/>
          <p:nvPr/>
        </p:nvPicPr>
        <p:blipFill>
          <a:blip r:embed="rId3">
            <a:alphaModFix/>
          </a:blip>
          <a:stretch>
            <a:fillRect/>
          </a:stretch>
        </p:blipFill>
        <p:spPr>
          <a:xfrm flipH="1">
            <a:off x="369612" y="2353912"/>
            <a:ext cx="727175" cy="895749"/>
          </a:xfrm>
          <a:prstGeom prst="rect">
            <a:avLst/>
          </a:prstGeom>
          <a:noFill/>
          <a:ln>
            <a:noFill/>
          </a:ln>
        </p:spPr>
      </p:pic>
      <p:sp>
        <p:nvSpPr>
          <p:cNvPr id="843" name="Google Shape;843;p69"/>
          <p:cNvSpPr txBox="1"/>
          <p:nvPr/>
        </p:nvSpPr>
        <p:spPr>
          <a:xfrm>
            <a:off x="369600" y="33136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sp>
        <p:nvSpPr>
          <p:cNvPr id="844" name="Google Shape;844;p69"/>
          <p:cNvSpPr txBox="1"/>
          <p:nvPr>
            <p:ph idx="1" type="body"/>
          </p:nvPr>
        </p:nvSpPr>
        <p:spPr>
          <a:xfrm>
            <a:off x="1238400" y="1521300"/>
            <a:ext cx="23622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Sine - the 6 cm is opposite the 58° and </a:t>
            </a:r>
            <a:r>
              <a:rPr i="1" lang="en-GB" sz="2000">
                <a:latin typeface="Times New Roman"/>
                <a:ea typeface="Times New Roman"/>
                <a:cs typeface="Times New Roman"/>
                <a:sym typeface="Times New Roman"/>
              </a:rPr>
              <a:t>x</a:t>
            </a:r>
            <a:r>
              <a:rPr lang="en-GB" sz="1800"/>
              <a:t> is the hypotenuse.</a:t>
            </a:r>
            <a:endParaRPr sz="1800"/>
          </a:p>
        </p:txBody>
      </p:sp>
      <p:pic>
        <p:nvPicPr>
          <p:cNvPr id="845" name="Google Shape;845;p69"/>
          <p:cNvPicPr preferRelativeResize="0"/>
          <p:nvPr/>
        </p:nvPicPr>
        <p:blipFill>
          <a:blip r:embed="rId4">
            <a:alphaModFix/>
          </a:blip>
          <a:stretch>
            <a:fillRect/>
          </a:stretch>
        </p:blipFill>
        <p:spPr>
          <a:xfrm>
            <a:off x="6624937" y="3465149"/>
            <a:ext cx="788350" cy="1016564"/>
          </a:xfrm>
          <a:prstGeom prst="rect">
            <a:avLst/>
          </a:prstGeom>
          <a:noFill/>
          <a:ln>
            <a:noFill/>
          </a:ln>
        </p:spPr>
      </p:pic>
      <p:sp>
        <p:nvSpPr>
          <p:cNvPr id="846" name="Google Shape;846;p69"/>
          <p:cNvSpPr txBox="1"/>
          <p:nvPr/>
        </p:nvSpPr>
        <p:spPr>
          <a:xfrm>
            <a:off x="6539825" y="4514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
        <p:nvSpPr>
          <p:cNvPr id="847" name="Google Shape;847;p69"/>
          <p:cNvSpPr txBox="1"/>
          <p:nvPr>
            <p:ph idx="1" type="body"/>
          </p:nvPr>
        </p:nvSpPr>
        <p:spPr>
          <a:xfrm>
            <a:off x="4057800" y="2435700"/>
            <a:ext cx="24474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cos</a:t>
            </a:r>
            <a:r>
              <a:rPr lang="en-GB" sz="1800"/>
              <a:t>ine - the 6 cm is adjacent to the 90° and 32° and </a:t>
            </a:r>
            <a:r>
              <a:rPr i="1" lang="en-GB" sz="2000">
                <a:latin typeface="Times New Roman"/>
                <a:ea typeface="Times New Roman"/>
                <a:cs typeface="Times New Roman"/>
                <a:sym typeface="Times New Roman"/>
              </a:rPr>
              <a:t>x</a:t>
            </a:r>
            <a:r>
              <a:rPr lang="en-GB" sz="1800"/>
              <a:t> is the hypotenuse.</a:t>
            </a:r>
            <a:endParaRPr sz="1800"/>
          </a:p>
        </p:txBody>
      </p:sp>
      <p:pic>
        <p:nvPicPr>
          <p:cNvPr id="848" name="Google Shape;848;p69"/>
          <p:cNvPicPr preferRelativeResize="0"/>
          <p:nvPr/>
        </p:nvPicPr>
        <p:blipFill rotWithShape="1">
          <a:blip r:embed="rId5">
            <a:alphaModFix/>
          </a:blip>
          <a:srcRect b="43690" l="0" r="57905" t="0"/>
          <a:stretch/>
        </p:blipFill>
        <p:spPr>
          <a:xfrm>
            <a:off x="3950475" y="2329225"/>
            <a:ext cx="2662052" cy="1695301"/>
          </a:xfrm>
          <a:prstGeom prst="rect">
            <a:avLst/>
          </a:prstGeom>
          <a:noFill/>
          <a:ln>
            <a:noFill/>
          </a:ln>
        </p:spPr>
      </p:pic>
      <p:pic>
        <p:nvPicPr>
          <p:cNvPr id="849" name="Google Shape;849;p69"/>
          <p:cNvPicPr preferRelativeResize="0"/>
          <p:nvPr/>
        </p:nvPicPr>
        <p:blipFill rotWithShape="1">
          <a:blip r:embed="rId5">
            <a:alphaModFix/>
          </a:blip>
          <a:srcRect b="43690" l="0" r="57905" t="0"/>
          <a:stretch/>
        </p:blipFill>
        <p:spPr>
          <a:xfrm flipH="1">
            <a:off x="1026298" y="1419300"/>
            <a:ext cx="2662052" cy="1387700"/>
          </a:xfrm>
          <a:prstGeom prst="rect">
            <a:avLst/>
          </a:prstGeom>
          <a:noFill/>
          <a:ln>
            <a:noFill/>
          </a:ln>
        </p:spPr>
      </p:pic>
      <p:sp>
        <p:nvSpPr>
          <p:cNvPr id="850" name="Google Shape;850;p69"/>
          <p:cNvSpPr txBox="1"/>
          <p:nvPr>
            <p:ph idx="1" type="body"/>
          </p:nvPr>
        </p:nvSpPr>
        <p:spPr>
          <a:xfrm>
            <a:off x="324000" y="3727025"/>
            <a:ext cx="2825100" cy="43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Who do you agree with?</a:t>
            </a:r>
            <a:endParaRPr sz="1800"/>
          </a:p>
        </p:txBody>
      </p:sp>
      <p:sp>
        <p:nvSpPr>
          <p:cNvPr id="851" name="Google Shape;851;p69"/>
          <p:cNvSpPr txBox="1"/>
          <p:nvPr>
            <p:ph idx="1" type="body"/>
          </p:nvPr>
        </p:nvSpPr>
        <p:spPr>
          <a:xfrm>
            <a:off x="324000" y="4091400"/>
            <a:ext cx="5769300" cy="43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They are both correct. They have just chosen to use a different focus angle.</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pic>
        <p:nvPicPr>
          <p:cNvPr id="856" name="Google Shape;856;p70"/>
          <p:cNvPicPr preferRelativeResize="0"/>
          <p:nvPr/>
        </p:nvPicPr>
        <p:blipFill rotWithShape="1">
          <a:blip r:embed="rId3">
            <a:alphaModFix/>
          </a:blip>
          <a:srcRect b="43690" l="0" r="57905" t="0"/>
          <a:stretch/>
        </p:blipFill>
        <p:spPr>
          <a:xfrm>
            <a:off x="3809075" y="2377225"/>
            <a:ext cx="2792950" cy="2066500"/>
          </a:xfrm>
          <a:prstGeom prst="rect">
            <a:avLst/>
          </a:prstGeom>
          <a:noFill/>
          <a:ln>
            <a:noFill/>
          </a:ln>
        </p:spPr>
      </p:pic>
      <p:pic>
        <p:nvPicPr>
          <p:cNvPr id="857" name="Google Shape;857;p70"/>
          <p:cNvPicPr preferRelativeResize="0"/>
          <p:nvPr/>
        </p:nvPicPr>
        <p:blipFill rotWithShape="1">
          <a:blip r:embed="rId3">
            <a:alphaModFix/>
          </a:blip>
          <a:srcRect b="43690" l="0" r="57905" t="0"/>
          <a:stretch/>
        </p:blipFill>
        <p:spPr>
          <a:xfrm flipH="1">
            <a:off x="910177" y="1493125"/>
            <a:ext cx="2745073" cy="2066500"/>
          </a:xfrm>
          <a:prstGeom prst="rect">
            <a:avLst/>
          </a:prstGeom>
          <a:noFill/>
          <a:ln>
            <a:noFill/>
          </a:ln>
        </p:spPr>
      </p:pic>
      <p:sp>
        <p:nvSpPr>
          <p:cNvPr id="858" name="Google Shape;858;p70"/>
          <p:cNvSpPr txBox="1"/>
          <p:nvPr>
            <p:ph idx="1" type="body"/>
          </p:nvPr>
        </p:nvSpPr>
        <p:spPr>
          <a:xfrm>
            <a:off x="324000" y="759300"/>
            <a:ext cx="56499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trigonometric function can we use to calculate the value of</a:t>
            </a:r>
            <a:r>
              <a:rPr lang="en-GB"/>
              <a:t> </a:t>
            </a:r>
            <a:r>
              <a:rPr i="1" lang="en-GB" sz="2000">
                <a:latin typeface="Times New Roman"/>
                <a:ea typeface="Times New Roman"/>
                <a:cs typeface="Times New Roman"/>
                <a:sym typeface="Times New Roman"/>
              </a:rPr>
              <a:t>x</a:t>
            </a:r>
            <a:r>
              <a:rPr lang="en-GB" sz="1800"/>
              <a:t>?</a:t>
            </a:r>
            <a:endParaRPr sz="1800"/>
          </a:p>
        </p:txBody>
      </p:sp>
      <p:sp>
        <p:nvSpPr>
          <p:cNvPr id="859" name="Google Shape;859;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grpSp>
        <p:nvGrpSpPr>
          <p:cNvPr id="860" name="Google Shape;860;p70"/>
          <p:cNvGrpSpPr/>
          <p:nvPr/>
        </p:nvGrpSpPr>
        <p:grpSpPr>
          <a:xfrm rot="5400000">
            <a:off x="6576445" y="623108"/>
            <a:ext cx="1133566" cy="1744500"/>
            <a:chOff x="-2098225" y="1379675"/>
            <a:chExt cx="1133566" cy="1744500"/>
          </a:xfrm>
        </p:grpSpPr>
        <p:sp>
          <p:nvSpPr>
            <p:cNvPr id="861" name="Google Shape;861;p7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62" name="Google Shape;862;p70"/>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863" name="Google Shape;863;p70"/>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864" name="Google Shape;864;p70"/>
          <p:cNvSpPr/>
          <p:nvPr/>
        </p:nvSpPr>
        <p:spPr>
          <a:xfrm>
            <a:off x="6276475" y="1769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5" name="Google Shape;865;p70"/>
          <p:cNvSpPr/>
          <p:nvPr/>
        </p:nvSpPr>
        <p:spPr>
          <a:xfrm>
            <a:off x="7575300" y="1607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6" name="Google Shape;866;p70"/>
          <p:cNvSpPr txBox="1"/>
          <p:nvPr>
            <p:ph idx="1" type="body"/>
          </p:nvPr>
        </p:nvSpPr>
        <p:spPr>
          <a:xfrm>
            <a:off x="7179523" y="16909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867" name="Google Shape;867;p70"/>
          <p:cNvSpPr txBox="1"/>
          <p:nvPr>
            <p:ph idx="1" type="body"/>
          </p:nvPr>
        </p:nvSpPr>
        <p:spPr>
          <a:xfrm>
            <a:off x="6924705" y="20492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868" name="Google Shape;868;p70"/>
          <p:cNvSpPr txBox="1"/>
          <p:nvPr>
            <p:ph idx="1" type="body"/>
          </p:nvPr>
        </p:nvSpPr>
        <p:spPr>
          <a:xfrm>
            <a:off x="7112280" y="1075400"/>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869" name="Google Shape;869;p70"/>
          <p:cNvSpPr txBox="1"/>
          <p:nvPr>
            <p:ph idx="1" type="body"/>
          </p:nvPr>
        </p:nvSpPr>
        <p:spPr>
          <a:xfrm>
            <a:off x="6341323" y="1233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870" name="Google Shape;870;p70"/>
          <p:cNvSpPr/>
          <p:nvPr/>
        </p:nvSpPr>
        <p:spPr>
          <a:xfrm>
            <a:off x="6006416" y="7461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71" name="Google Shape;871;p70"/>
          <p:cNvPicPr preferRelativeResize="0"/>
          <p:nvPr/>
        </p:nvPicPr>
        <p:blipFill>
          <a:blip r:embed="rId4">
            <a:alphaModFix/>
          </a:blip>
          <a:stretch>
            <a:fillRect/>
          </a:stretch>
        </p:blipFill>
        <p:spPr>
          <a:xfrm flipH="1">
            <a:off x="598212" y="3192112"/>
            <a:ext cx="727175" cy="895749"/>
          </a:xfrm>
          <a:prstGeom prst="rect">
            <a:avLst/>
          </a:prstGeom>
          <a:noFill/>
          <a:ln>
            <a:noFill/>
          </a:ln>
        </p:spPr>
      </p:pic>
      <p:sp>
        <p:nvSpPr>
          <p:cNvPr id="872" name="Google Shape;872;p70"/>
          <p:cNvSpPr txBox="1"/>
          <p:nvPr/>
        </p:nvSpPr>
        <p:spPr>
          <a:xfrm>
            <a:off x="598200" y="41518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sp>
        <p:nvSpPr>
          <p:cNvPr id="873" name="Google Shape;873;p70"/>
          <p:cNvSpPr txBox="1"/>
          <p:nvPr>
            <p:ph idx="1" type="body"/>
          </p:nvPr>
        </p:nvSpPr>
        <p:spPr>
          <a:xfrm>
            <a:off x="1135696" y="1673700"/>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sin(58°) = </a:t>
            </a:r>
            <a:endParaRPr sz="2000">
              <a:latin typeface="Times New Roman"/>
              <a:ea typeface="Times New Roman"/>
              <a:cs typeface="Times New Roman"/>
              <a:sym typeface="Times New Roman"/>
            </a:endParaRPr>
          </a:p>
        </p:txBody>
      </p:sp>
      <p:pic>
        <p:nvPicPr>
          <p:cNvPr id="874" name="Google Shape;874;p70"/>
          <p:cNvPicPr preferRelativeResize="0"/>
          <p:nvPr/>
        </p:nvPicPr>
        <p:blipFill>
          <a:blip r:embed="rId5">
            <a:alphaModFix/>
          </a:blip>
          <a:stretch>
            <a:fillRect/>
          </a:stretch>
        </p:blipFill>
        <p:spPr>
          <a:xfrm>
            <a:off x="6548737" y="3769949"/>
            <a:ext cx="788350" cy="1016564"/>
          </a:xfrm>
          <a:prstGeom prst="rect">
            <a:avLst/>
          </a:prstGeom>
          <a:noFill/>
          <a:ln>
            <a:noFill/>
          </a:ln>
        </p:spPr>
      </p:pic>
      <p:sp>
        <p:nvSpPr>
          <p:cNvPr id="875" name="Google Shape;875;p70"/>
          <p:cNvSpPr txBox="1"/>
          <p:nvPr/>
        </p:nvSpPr>
        <p:spPr>
          <a:xfrm>
            <a:off x="7149425" y="4514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
        <p:nvSpPr>
          <p:cNvPr id="876" name="Google Shape;876;p70"/>
          <p:cNvSpPr txBox="1"/>
          <p:nvPr>
            <p:ph idx="1" type="body"/>
          </p:nvPr>
        </p:nvSpPr>
        <p:spPr>
          <a:xfrm>
            <a:off x="2355294" y="154979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877" name="Google Shape;877;p70"/>
          <p:cNvSpPr txBox="1"/>
          <p:nvPr>
            <p:ph idx="1" type="body"/>
          </p:nvPr>
        </p:nvSpPr>
        <p:spPr>
          <a:xfrm>
            <a:off x="2346475" y="182813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878" name="Google Shape;878;p70"/>
          <p:cNvCxnSpPr/>
          <p:nvPr/>
        </p:nvCxnSpPr>
        <p:spPr>
          <a:xfrm>
            <a:off x="2238750" y="1851775"/>
            <a:ext cx="361500" cy="0"/>
          </a:xfrm>
          <a:prstGeom prst="straightConnector1">
            <a:avLst/>
          </a:prstGeom>
          <a:noFill/>
          <a:ln cap="flat" cmpd="sng" w="19050">
            <a:solidFill>
              <a:schemeClr val="dk1"/>
            </a:solidFill>
            <a:prstDash val="solid"/>
            <a:round/>
            <a:headEnd len="med" w="med" type="none"/>
            <a:tailEnd len="med" w="med" type="none"/>
          </a:ln>
        </p:spPr>
      </p:cxnSp>
      <p:sp>
        <p:nvSpPr>
          <p:cNvPr id="879" name="Google Shape;879;p70"/>
          <p:cNvSpPr txBox="1"/>
          <p:nvPr>
            <p:ph idx="1" type="body"/>
          </p:nvPr>
        </p:nvSpPr>
        <p:spPr>
          <a:xfrm>
            <a:off x="2246823" y="2435700"/>
            <a:ext cx="924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sin(58°</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880" name="Google Shape;880;p70"/>
          <p:cNvSpPr txBox="1"/>
          <p:nvPr>
            <p:ph idx="1" type="body"/>
          </p:nvPr>
        </p:nvSpPr>
        <p:spPr>
          <a:xfrm>
            <a:off x="1853653" y="22627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881" name="Google Shape;881;p70"/>
          <p:cNvSpPr txBox="1"/>
          <p:nvPr>
            <p:ph idx="1" type="body"/>
          </p:nvPr>
        </p:nvSpPr>
        <p:spPr>
          <a:xfrm>
            <a:off x="2599340" y="2150578"/>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882" name="Google Shape;882;p70"/>
          <p:cNvCxnSpPr/>
          <p:nvPr/>
        </p:nvCxnSpPr>
        <p:spPr>
          <a:xfrm>
            <a:off x="2238750" y="2443736"/>
            <a:ext cx="866400" cy="0"/>
          </a:xfrm>
          <a:prstGeom prst="straightConnector1">
            <a:avLst/>
          </a:prstGeom>
          <a:noFill/>
          <a:ln cap="flat" cmpd="sng" w="19050">
            <a:solidFill>
              <a:schemeClr val="dk1"/>
            </a:solidFill>
            <a:prstDash val="solid"/>
            <a:round/>
            <a:headEnd len="med" w="med" type="none"/>
            <a:tailEnd len="med" w="med" type="none"/>
          </a:ln>
        </p:spPr>
      </p:cxnSp>
      <p:sp>
        <p:nvSpPr>
          <p:cNvPr id="883" name="Google Shape;883;p70"/>
          <p:cNvSpPr txBox="1"/>
          <p:nvPr>
            <p:ph idx="1" type="body"/>
          </p:nvPr>
        </p:nvSpPr>
        <p:spPr>
          <a:xfrm>
            <a:off x="1853651" y="2849092"/>
            <a:ext cx="1744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7.1 cm (1dp)  </a:t>
            </a:r>
            <a:endParaRPr sz="2000">
              <a:latin typeface="Times New Roman"/>
              <a:ea typeface="Times New Roman"/>
              <a:cs typeface="Times New Roman"/>
              <a:sym typeface="Times New Roman"/>
            </a:endParaRPr>
          </a:p>
        </p:txBody>
      </p:sp>
      <p:sp>
        <p:nvSpPr>
          <p:cNvPr id="884" name="Google Shape;884;p70"/>
          <p:cNvSpPr txBox="1"/>
          <p:nvPr>
            <p:ph idx="1" type="body"/>
          </p:nvPr>
        </p:nvSpPr>
        <p:spPr>
          <a:xfrm>
            <a:off x="3905400" y="2511900"/>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885" name="Google Shape;885;p70"/>
          <p:cNvSpPr txBox="1"/>
          <p:nvPr>
            <p:ph idx="1" type="body"/>
          </p:nvPr>
        </p:nvSpPr>
        <p:spPr>
          <a:xfrm>
            <a:off x="5174694" y="238799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886" name="Google Shape;886;p70"/>
          <p:cNvSpPr txBox="1"/>
          <p:nvPr>
            <p:ph idx="1" type="body"/>
          </p:nvPr>
        </p:nvSpPr>
        <p:spPr>
          <a:xfrm>
            <a:off x="5165875" y="266633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887" name="Google Shape;887;p70"/>
          <p:cNvCxnSpPr/>
          <p:nvPr/>
        </p:nvCxnSpPr>
        <p:spPr>
          <a:xfrm>
            <a:off x="5058150" y="2689975"/>
            <a:ext cx="361500" cy="0"/>
          </a:xfrm>
          <a:prstGeom prst="straightConnector1">
            <a:avLst/>
          </a:prstGeom>
          <a:noFill/>
          <a:ln cap="flat" cmpd="sng" w="19050">
            <a:solidFill>
              <a:schemeClr val="dk1"/>
            </a:solidFill>
            <a:prstDash val="solid"/>
            <a:round/>
            <a:headEnd len="med" w="med" type="none"/>
            <a:tailEnd len="med" w="med" type="none"/>
          </a:ln>
        </p:spPr>
      </p:cxnSp>
      <p:sp>
        <p:nvSpPr>
          <p:cNvPr id="888" name="Google Shape;888;p70"/>
          <p:cNvSpPr txBox="1"/>
          <p:nvPr>
            <p:ph idx="1" type="body"/>
          </p:nvPr>
        </p:nvSpPr>
        <p:spPr>
          <a:xfrm>
            <a:off x="5082788" y="3273900"/>
            <a:ext cx="924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889" name="Google Shape;889;p70"/>
          <p:cNvSpPr txBox="1"/>
          <p:nvPr>
            <p:ph idx="1" type="body"/>
          </p:nvPr>
        </p:nvSpPr>
        <p:spPr>
          <a:xfrm>
            <a:off x="4673053" y="31009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890" name="Google Shape;890;p70"/>
          <p:cNvSpPr txBox="1"/>
          <p:nvPr>
            <p:ph idx="1" type="body"/>
          </p:nvPr>
        </p:nvSpPr>
        <p:spPr>
          <a:xfrm>
            <a:off x="5412114" y="2988778"/>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891" name="Google Shape;891;p70"/>
          <p:cNvCxnSpPr/>
          <p:nvPr/>
        </p:nvCxnSpPr>
        <p:spPr>
          <a:xfrm>
            <a:off x="5058150" y="3281936"/>
            <a:ext cx="888000" cy="0"/>
          </a:xfrm>
          <a:prstGeom prst="straightConnector1">
            <a:avLst/>
          </a:prstGeom>
          <a:noFill/>
          <a:ln cap="flat" cmpd="sng" w="19050">
            <a:solidFill>
              <a:schemeClr val="dk1"/>
            </a:solidFill>
            <a:prstDash val="solid"/>
            <a:round/>
            <a:headEnd len="med" w="med" type="none"/>
            <a:tailEnd len="med" w="med" type="none"/>
          </a:ln>
        </p:spPr>
      </p:cxnSp>
      <p:sp>
        <p:nvSpPr>
          <p:cNvPr id="892" name="Google Shape;892;p70"/>
          <p:cNvSpPr txBox="1"/>
          <p:nvPr>
            <p:ph idx="1" type="body"/>
          </p:nvPr>
        </p:nvSpPr>
        <p:spPr>
          <a:xfrm>
            <a:off x="4673051" y="3687292"/>
            <a:ext cx="1744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7.1 cm (1dp)  </a:t>
            </a:r>
            <a:endParaRPr sz="2000">
              <a:latin typeface="Times New Roman"/>
              <a:ea typeface="Times New Roman"/>
              <a:cs typeface="Times New Roman"/>
              <a:sym typeface="Times New Roman"/>
            </a:endParaRPr>
          </a:p>
        </p:txBody>
      </p:sp>
      <p:sp>
        <p:nvSpPr>
          <p:cNvPr id="893" name="Google Shape;893;p70"/>
          <p:cNvSpPr txBox="1"/>
          <p:nvPr>
            <p:ph idx="1" type="body"/>
          </p:nvPr>
        </p:nvSpPr>
        <p:spPr>
          <a:xfrm>
            <a:off x="1771800" y="4188300"/>
            <a:ext cx="37890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Both work out </a:t>
            </a:r>
            <a:r>
              <a:rPr i="1" lang="en-GB" sz="2000">
                <a:latin typeface="Times New Roman"/>
                <a:ea typeface="Times New Roman"/>
                <a:cs typeface="Times New Roman"/>
                <a:sym typeface="Times New Roman"/>
              </a:rPr>
              <a:t>x</a:t>
            </a:r>
            <a:r>
              <a:rPr lang="en-GB" sz="1800"/>
              <a:t> correctly.</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71"/>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If the 26</a:t>
            </a:r>
            <a:r>
              <a:rPr lang="en-GB" sz="2000"/>
              <a:t>° is the focus angle, </a:t>
            </a:r>
            <a:r>
              <a:rPr lang="en-GB" sz="2000"/>
              <a:t>which</a:t>
            </a:r>
            <a:r>
              <a:rPr lang="en-GB" sz="2000"/>
              <a:t> trigonometric function will you use to calculate the value of </a:t>
            </a:r>
            <a:r>
              <a:rPr i="1" lang="en-GB">
                <a:latin typeface="Times New Roman"/>
                <a:ea typeface="Times New Roman"/>
                <a:cs typeface="Times New Roman"/>
                <a:sym typeface="Times New Roman"/>
              </a:rPr>
              <a:t>x</a:t>
            </a:r>
            <a:r>
              <a:rPr lang="en-GB" sz="2000"/>
              <a:t>?</a:t>
            </a:r>
            <a:endParaRPr sz="2000"/>
          </a:p>
        </p:txBody>
      </p:sp>
      <p:sp>
        <p:nvSpPr>
          <p:cNvPr id="899" name="Google Shape;899;p71"/>
          <p:cNvSpPr txBox="1"/>
          <p:nvPr>
            <p:ph idx="1" type="subTitle"/>
          </p:nvPr>
        </p:nvSpPr>
        <p:spPr>
          <a:xfrm>
            <a:off x="990328" y="1837775"/>
            <a:ext cx="81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sine</a:t>
            </a:r>
            <a:endParaRPr/>
          </a:p>
        </p:txBody>
      </p:sp>
      <p:sp>
        <p:nvSpPr>
          <p:cNvPr id="900" name="Google Shape;900;p71"/>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grpSp>
        <p:nvGrpSpPr>
          <p:cNvPr id="901" name="Google Shape;901;p71"/>
          <p:cNvGrpSpPr/>
          <p:nvPr/>
        </p:nvGrpSpPr>
        <p:grpSpPr>
          <a:xfrm rot="5400000">
            <a:off x="6464577" y="803206"/>
            <a:ext cx="1120757" cy="1981054"/>
            <a:chOff x="-2098225" y="1379675"/>
            <a:chExt cx="1133566" cy="1744500"/>
          </a:xfrm>
        </p:grpSpPr>
        <p:sp>
          <p:nvSpPr>
            <p:cNvPr id="902" name="Google Shape;902;p7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3" name="Google Shape;903;p71"/>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904" name="Google Shape;904;p71"/>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905" name="Google Shape;905;p71"/>
          <p:cNvSpPr/>
          <p:nvPr/>
        </p:nvSpPr>
        <p:spPr>
          <a:xfrm>
            <a:off x="6038491" y="2064966"/>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6" name="Google Shape;906;p71"/>
          <p:cNvSpPr/>
          <p:nvPr/>
        </p:nvSpPr>
        <p:spPr>
          <a:xfrm>
            <a:off x="7575300" y="1912300"/>
            <a:ext cx="746400" cy="746400"/>
          </a:xfrm>
          <a:prstGeom prst="arc">
            <a:avLst>
              <a:gd fmla="val 11045053"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7" name="Google Shape;907;p71"/>
          <p:cNvSpPr txBox="1"/>
          <p:nvPr>
            <p:ph idx="4294967295" type="body"/>
          </p:nvPr>
        </p:nvSpPr>
        <p:spPr>
          <a:xfrm>
            <a:off x="6710402" y="2314167"/>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908" name="Google Shape;908;p71"/>
          <p:cNvSpPr txBox="1"/>
          <p:nvPr>
            <p:ph idx="4294967295" type="body"/>
          </p:nvPr>
        </p:nvSpPr>
        <p:spPr>
          <a:xfrm>
            <a:off x="6112723" y="1538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64</a:t>
            </a:r>
            <a:r>
              <a:rPr lang="en-GB" sz="1800"/>
              <a:t>°</a:t>
            </a:r>
            <a:endParaRPr sz="1800"/>
          </a:p>
        </p:txBody>
      </p:sp>
      <p:sp>
        <p:nvSpPr>
          <p:cNvPr id="909" name="Google Shape;909;p71"/>
          <p:cNvSpPr/>
          <p:nvPr/>
        </p:nvSpPr>
        <p:spPr>
          <a:xfrm>
            <a:off x="5777816" y="1050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0" name="Google Shape;910;p71"/>
          <p:cNvSpPr txBox="1"/>
          <p:nvPr>
            <p:ph idx="4294967295" type="body"/>
          </p:nvPr>
        </p:nvSpPr>
        <p:spPr>
          <a:xfrm>
            <a:off x="7153065" y="2004594"/>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26</a:t>
            </a:r>
            <a:r>
              <a:rPr lang="en-GB" sz="1800"/>
              <a:t>°</a:t>
            </a:r>
            <a:endParaRPr sz="1800"/>
          </a:p>
        </p:txBody>
      </p:sp>
      <p:sp>
        <p:nvSpPr>
          <p:cNvPr id="911" name="Google Shape;911;p71"/>
          <p:cNvSpPr txBox="1"/>
          <p:nvPr>
            <p:ph idx="4294967295" type="body"/>
          </p:nvPr>
        </p:nvSpPr>
        <p:spPr>
          <a:xfrm>
            <a:off x="7000905" y="13634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9.2</a:t>
            </a:r>
            <a:r>
              <a:rPr lang="en-GB" sz="1800"/>
              <a:t> cm</a:t>
            </a:r>
            <a:endParaRPr sz="1800"/>
          </a:p>
        </p:txBody>
      </p:sp>
      <p:sp>
        <p:nvSpPr>
          <p:cNvPr id="912" name="Google Shape;912;p71"/>
          <p:cNvSpPr txBox="1"/>
          <p:nvPr>
            <p:ph idx="1" type="subTitle"/>
          </p:nvPr>
        </p:nvSpPr>
        <p:spPr>
          <a:xfrm>
            <a:off x="990328" y="2810400"/>
            <a:ext cx="1134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co</a:t>
            </a:r>
            <a:r>
              <a:rPr lang="en-GB"/>
              <a:t>sine</a:t>
            </a:r>
            <a:endParaRPr/>
          </a:p>
        </p:txBody>
      </p:sp>
      <p:sp>
        <p:nvSpPr>
          <p:cNvPr id="913" name="Google Shape;913;p71"/>
          <p:cNvSpPr txBox="1"/>
          <p:nvPr>
            <p:ph idx="1" type="subTitle"/>
          </p:nvPr>
        </p:nvSpPr>
        <p:spPr>
          <a:xfrm>
            <a:off x="990328" y="3783028"/>
            <a:ext cx="1134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tangent</a:t>
            </a:r>
            <a:endParaRPr/>
          </a:p>
        </p:txBody>
      </p:sp>
      <p:pic>
        <p:nvPicPr>
          <p:cNvPr id="914" name="Google Shape;914;p71"/>
          <p:cNvPicPr preferRelativeResize="0"/>
          <p:nvPr/>
        </p:nvPicPr>
        <p:blipFill>
          <a:blip r:embed="rId3">
            <a:alphaModFix/>
          </a:blip>
          <a:stretch>
            <a:fillRect/>
          </a:stretch>
        </p:blipFill>
        <p:spPr>
          <a:xfrm>
            <a:off x="2203808" y="28104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72"/>
          <p:cNvSpPr txBox="1"/>
          <p:nvPr>
            <p:ph idx="1" type="body"/>
          </p:nvPr>
        </p:nvSpPr>
        <p:spPr>
          <a:xfrm>
            <a:off x="324000" y="810000"/>
            <a:ext cx="54504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Given this information, what methods could be used to calculate the value of </a:t>
            </a:r>
            <a:r>
              <a:rPr i="1" lang="en-GB" sz="2000">
                <a:latin typeface="Times New Roman"/>
                <a:ea typeface="Times New Roman"/>
                <a:cs typeface="Times New Roman"/>
                <a:sym typeface="Times New Roman"/>
              </a:rPr>
              <a:t>x</a:t>
            </a:r>
            <a:r>
              <a:rPr lang="en-GB" sz="1800"/>
              <a:t>?</a:t>
            </a:r>
            <a:endParaRPr sz="1800"/>
          </a:p>
        </p:txBody>
      </p:sp>
      <p:sp>
        <p:nvSpPr>
          <p:cNvPr id="920" name="Google Shape;92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921" name="Google Shape;921;p72"/>
          <p:cNvSpPr/>
          <p:nvPr/>
        </p:nvSpPr>
        <p:spPr>
          <a:xfrm>
            <a:off x="6809875" y="1693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2" name="Google Shape;922;p72"/>
          <p:cNvSpPr/>
          <p:nvPr/>
        </p:nvSpPr>
        <p:spPr>
          <a:xfrm>
            <a:off x="8108700" y="1531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72"/>
          <p:cNvSpPr txBox="1"/>
          <p:nvPr>
            <p:ph idx="1" type="body"/>
          </p:nvPr>
        </p:nvSpPr>
        <p:spPr>
          <a:xfrm>
            <a:off x="7712923" y="1614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924" name="Google Shape;924;p72"/>
          <p:cNvSpPr txBox="1"/>
          <p:nvPr>
            <p:ph idx="1" type="body"/>
          </p:nvPr>
        </p:nvSpPr>
        <p:spPr>
          <a:xfrm>
            <a:off x="7458105" y="19730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925" name="Google Shape;925;p72"/>
          <p:cNvSpPr txBox="1"/>
          <p:nvPr>
            <p:ph idx="1" type="body"/>
          </p:nvPr>
        </p:nvSpPr>
        <p:spPr>
          <a:xfrm>
            <a:off x="6122152" y="12585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926" name="Google Shape;926;p72"/>
          <p:cNvSpPr txBox="1"/>
          <p:nvPr>
            <p:ph idx="1" type="body"/>
          </p:nvPr>
        </p:nvSpPr>
        <p:spPr>
          <a:xfrm>
            <a:off x="6874723" y="1157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927" name="Google Shape;927;p72"/>
          <p:cNvSpPr/>
          <p:nvPr/>
        </p:nvSpPr>
        <p:spPr>
          <a:xfrm>
            <a:off x="6539816" y="669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28" name="Google Shape;928;p72"/>
          <p:cNvGrpSpPr/>
          <p:nvPr/>
        </p:nvGrpSpPr>
        <p:grpSpPr>
          <a:xfrm rot="5400000">
            <a:off x="7051980" y="565243"/>
            <a:ext cx="1057366" cy="1784030"/>
            <a:chOff x="-2022025" y="1455875"/>
            <a:chExt cx="1057366" cy="1784030"/>
          </a:xfrm>
        </p:grpSpPr>
        <p:sp>
          <p:nvSpPr>
            <p:cNvPr id="929" name="Google Shape;929;p7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0" name="Google Shape;930;p72"/>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931" name="Google Shape;931;p72"/>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cxnSp>
        <p:nvCxnSpPr>
          <p:cNvPr id="932" name="Google Shape;932;p72"/>
          <p:cNvCxnSpPr/>
          <p:nvPr/>
        </p:nvCxnSpPr>
        <p:spPr>
          <a:xfrm rot="10800000">
            <a:off x="6882950" y="852200"/>
            <a:ext cx="1664700" cy="950100"/>
          </a:xfrm>
          <a:prstGeom prst="straightConnector1">
            <a:avLst/>
          </a:prstGeom>
          <a:noFill/>
          <a:ln cap="flat" cmpd="sng" w="28575">
            <a:solidFill>
              <a:srgbClr val="845AD9"/>
            </a:solidFill>
            <a:prstDash val="solid"/>
            <a:round/>
            <a:headEnd len="med" w="med" type="triangle"/>
            <a:tailEnd len="med" w="med" type="triangle"/>
          </a:ln>
        </p:spPr>
      </p:cxnSp>
      <p:sp>
        <p:nvSpPr>
          <p:cNvPr id="933" name="Google Shape;933;p72"/>
          <p:cNvSpPr txBox="1"/>
          <p:nvPr>
            <p:ph idx="1" type="body"/>
          </p:nvPr>
        </p:nvSpPr>
        <p:spPr>
          <a:xfrm>
            <a:off x="7712927" y="10216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i="1" lang="en-GB" sz="2000">
                <a:latin typeface="Times New Roman"/>
                <a:ea typeface="Times New Roman"/>
                <a:cs typeface="Times New Roman"/>
                <a:sym typeface="Times New Roman"/>
              </a:rPr>
              <a:t> </a:t>
            </a:r>
            <a:r>
              <a:rPr lang="en-GB" sz="1800"/>
              <a:t>cm</a:t>
            </a:r>
            <a:endParaRPr sz="1800"/>
          </a:p>
        </p:txBody>
      </p:sp>
      <p:pic>
        <p:nvPicPr>
          <p:cNvPr id="934" name="Google Shape;934;p72"/>
          <p:cNvPicPr preferRelativeResize="0"/>
          <p:nvPr/>
        </p:nvPicPr>
        <p:blipFill>
          <a:blip r:embed="rId3">
            <a:alphaModFix/>
          </a:blip>
          <a:stretch>
            <a:fillRect/>
          </a:stretch>
        </p:blipFill>
        <p:spPr>
          <a:xfrm flipH="1">
            <a:off x="247809" y="3320638"/>
            <a:ext cx="777007" cy="896096"/>
          </a:xfrm>
          <a:prstGeom prst="rect">
            <a:avLst/>
          </a:prstGeom>
          <a:noFill/>
          <a:ln>
            <a:noFill/>
          </a:ln>
        </p:spPr>
      </p:pic>
      <p:sp>
        <p:nvSpPr>
          <p:cNvPr id="935" name="Google Shape;935;p72"/>
          <p:cNvSpPr txBox="1"/>
          <p:nvPr/>
        </p:nvSpPr>
        <p:spPr>
          <a:xfrm>
            <a:off x="327925" y="42167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sp>
        <p:nvSpPr>
          <p:cNvPr id="936" name="Google Shape;936;p72"/>
          <p:cNvSpPr txBox="1"/>
          <p:nvPr>
            <p:ph idx="1" type="body"/>
          </p:nvPr>
        </p:nvSpPr>
        <p:spPr>
          <a:xfrm>
            <a:off x="593734" y="1827125"/>
            <a:ext cx="29688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would use sine, to calculate the length of the hypotenuse, and then use sine again to calculate </a:t>
            </a:r>
            <a:r>
              <a:rPr i="1" lang="en-GB" sz="2000">
                <a:latin typeface="Times New Roman"/>
                <a:ea typeface="Times New Roman"/>
                <a:cs typeface="Times New Roman"/>
                <a:sym typeface="Times New Roman"/>
              </a:rPr>
              <a:t>x</a:t>
            </a:r>
            <a:r>
              <a:rPr lang="en-GB" sz="1800"/>
              <a:t>.</a:t>
            </a:r>
            <a:endParaRPr sz="1800"/>
          </a:p>
        </p:txBody>
      </p:sp>
      <p:pic>
        <p:nvPicPr>
          <p:cNvPr id="937" name="Google Shape;937;p72"/>
          <p:cNvPicPr preferRelativeResize="0"/>
          <p:nvPr/>
        </p:nvPicPr>
        <p:blipFill rotWithShape="1">
          <a:blip r:embed="rId4">
            <a:alphaModFix/>
          </a:blip>
          <a:srcRect b="43690" l="0" r="57905" t="0"/>
          <a:stretch/>
        </p:blipFill>
        <p:spPr>
          <a:xfrm flipH="1">
            <a:off x="345245" y="1757230"/>
            <a:ext cx="3217224" cy="1695301"/>
          </a:xfrm>
          <a:prstGeom prst="rect">
            <a:avLst/>
          </a:prstGeom>
          <a:noFill/>
          <a:ln>
            <a:noFill/>
          </a:ln>
        </p:spPr>
      </p:pic>
      <p:sp>
        <p:nvSpPr>
          <p:cNvPr id="938" name="Google Shape;938;p72"/>
          <p:cNvSpPr txBox="1"/>
          <p:nvPr>
            <p:ph idx="1" type="body"/>
          </p:nvPr>
        </p:nvSpPr>
        <p:spPr>
          <a:xfrm>
            <a:off x="3684820" y="2435700"/>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sin(58°</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939" name="Google Shape;939;p72"/>
          <p:cNvSpPr txBox="1"/>
          <p:nvPr>
            <p:ph idx="1" type="body"/>
          </p:nvPr>
        </p:nvSpPr>
        <p:spPr>
          <a:xfrm>
            <a:off x="4905201" y="231179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940" name="Google Shape;940;p72"/>
          <p:cNvSpPr txBox="1"/>
          <p:nvPr>
            <p:ph idx="1" type="body"/>
          </p:nvPr>
        </p:nvSpPr>
        <p:spPr>
          <a:xfrm>
            <a:off x="4896382" y="259013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941" name="Google Shape;941;p72"/>
          <p:cNvCxnSpPr/>
          <p:nvPr/>
        </p:nvCxnSpPr>
        <p:spPr>
          <a:xfrm>
            <a:off x="4788657" y="2613775"/>
            <a:ext cx="361500" cy="0"/>
          </a:xfrm>
          <a:prstGeom prst="straightConnector1">
            <a:avLst/>
          </a:prstGeom>
          <a:noFill/>
          <a:ln cap="flat" cmpd="sng" w="19050">
            <a:solidFill>
              <a:schemeClr val="dk1"/>
            </a:solidFill>
            <a:prstDash val="solid"/>
            <a:round/>
            <a:headEnd len="med" w="med" type="none"/>
            <a:tailEnd len="med" w="med" type="none"/>
          </a:ln>
        </p:spPr>
      </p:cxnSp>
      <p:sp>
        <p:nvSpPr>
          <p:cNvPr id="942" name="Google Shape;942;p72"/>
          <p:cNvSpPr txBox="1"/>
          <p:nvPr>
            <p:ph idx="1" type="body"/>
          </p:nvPr>
        </p:nvSpPr>
        <p:spPr>
          <a:xfrm>
            <a:off x="4764007" y="3197700"/>
            <a:ext cx="852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sin(58°</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43" name="Google Shape;943;p72"/>
          <p:cNvSpPr txBox="1"/>
          <p:nvPr>
            <p:ph idx="1" type="body"/>
          </p:nvPr>
        </p:nvSpPr>
        <p:spPr>
          <a:xfrm>
            <a:off x="4368398" y="30247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44" name="Google Shape;944;p72"/>
          <p:cNvSpPr txBox="1"/>
          <p:nvPr>
            <p:ph idx="1" type="body"/>
          </p:nvPr>
        </p:nvSpPr>
        <p:spPr>
          <a:xfrm>
            <a:off x="5058546" y="2912578"/>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945" name="Google Shape;945;p72"/>
          <p:cNvCxnSpPr/>
          <p:nvPr/>
        </p:nvCxnSpPr>
        <p:spPr>
          <a:xfrm>
            <a:off x="4780782" y="3205736"/>
            <a:ext cx="719700" cy="0"/>
          </a:xfrm>
          <a:prstGeom prst="straightConnector1">
            <a:avLst/>
          </a:prstGeom>
          <a:noFill/>
          <a:ln cap="flat" cmpd="sng" w="19050">
            <a:solidFill>
              <a:schemeClr val="dk1"/>
            </a:solidFill>
            <a:prstDash val="solid"/>
            <a:round/>
            <a:headEnd len="med" w="med" type="none"/>
            <a:tailEnd len="med" w="med" type="none"/>
          </a:ln>
        </p:spPr>
      </p:cxnSp>
      <p:sp>
        <p:nvSpPr>
          <p:cNvPr id="946" name="Google Shape;946;p72"/>
          <p:cNvSpPr txBox="1"/>
          <p:nvPr>
            <p:ph idx="1" type="body"/>
          </p:nvPr>
        </p:nvSpPr>
        <p:spPr>
          <a:xfrm>
            <a:off x="4368396" y="3611092"/>
            <a:ext cx="1744500" cy="38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h</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7.07…</a:t>
            </a:r>
            <a:endParaRPr sz="2000">
              <a:latin typeface="Times New Roman"/>
              <a:ea typeface="Times New Roman"/>
              <a:cs typeface="Times New Roman"/>
              <a:sym typeface="Times New Roman"/>
            </a:endParaRPr>
          </a:p>
          <a:p>
            <a:pPr indent="0" lvl="0" marL="0" rtl="0" algn="l">
              <a:spcBef>
                <a:spcPts val="1000"/>
              </a:spcBef>
              <a:spcAft>
                <a:spcPts val="1000"/>
              </a:spcAft>
              <a:buNone/>
            </a:pPr>
            <a:r>
              <a:rPr lang="en-GB" sz="2000">
                <a:latin typeface="Times New Roman"/>
                <a:ea typeface="Times New Roman"/>
                <a:cs typeface="Times New Roman"/>
                <a:sym typeface="Times New Roman"/>
              </a:rPr>
              <a:t>   = 7.1 (1dp)  </a:t>
            </a:r>
            <a:endParaRPr sz="2000">
              <a:latin typeface="Times New Roman"/>
              <a:ea typeface="Times New Roman"/>
              <a:cs typeface="Times New Roman"/>
              <a:sym typeface="Times New Roman"/>
            </a:endParaRPr>
          </a:p>
        </p:txBody>
      </p:sp>
      <p:sp>
        <p:nvSpPr>
          <p:cNvPr id="947" name="Google Shape;947;p72"/>
          <p:cNvSpPr txBox="1"/>
          <p:nvPr>
            <p:ph idx="1" type="body"/>
          </p:nvPr>
        </p:nvSpPr>
        <p:spPr>
          <a:xfrm>
            <a:off x="5957080" y="2435700"/>
            <a:ext cx="1181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948" name="Google Shape;948;p72"/>
          <p:cNvSpPr txBox="1"/>
          <p:nvPr>
            <p:ph idx="1" type="body"/>
          </p:nvPr>
        </p:nvSpPr>
        <p:spPr>
          <a:xfrm>
            <a:off x="7172304" y="2594101"/>
            <a:ext cx="7887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7.07…</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49" name="Google Shape;949;p72"/>
          <p:cNvSpPr txBox="1"/>
          <p:nvPr>
            <p:ph idx="1" type="body"/>
          </p:nvPr>
        </p:nvSpPr>
        <p:spPr>
          <a:xfrm>
            <a:off x="7428276" y="230067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950" name="Google Shape;950;p72"/>
          <p:cNvCxnSpPr/>
          <p:nvPr/>
        </p:nvCxnSpPr>
        <p:spPr>
          <a:xfrm>
            <a:off x="7203927" y="2613776"/>
            <a:ext cx="657600" cy="0"/>
          </a:xfrm>
          <a:prstGeom prst="straightConnector1">
            <a:avLst/>
          </a:prstGeom>
          <a:noFill/>
          <a:ln cap="flat" cmpd="sng" w="19050">
            <a:solidFill>
              <a:schemeClr val="dk1"/>
            </a:solidFill>
            <a:prstDash val="solid"/>
            <a:round/>
            <a:headEnd len="med" w="med" type="none"/>
            <a:tailEnd len="med" w="med" type="none"/>
          </a:ln>
        </p:spPr>
      </p:cxnSp>
      <p:sp>
        <p:nvSpPr>
          <p:cNvPr id="951" name="Google Shape;951;p72"/>
          <p:cNvSpPr txBox="1"/>
          <p:nvPr>
            <p:ph idx="1" type="body"/>
          </p:nvPr>
        </p:nvSpPr>
        <p:spPr>
          <a:xfrm>
            <a:off x="7112210" y="3021900"/>
            <a:ext cx="2037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7.07… × </a:t>
            </a: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52" name="Google Shape;952;p72"/>
          <p:cNvSpPr txBox="1"/>
          <p:nvPr>
            <p:ph idx="1" type="body"/>
          </p:nvPr>
        </p:nvSpPr>
        <p:spPr>
          <a:xfrm>
            <a:off x="6663526" y="3024778"/>
            <a:ext cx="426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53" name="Google Shape;953;p72"/>
          <p:cNvSpPr txBox="1"/>
          <p:nvPr>
            <p:ph idx="1" type="body"/>
          </p:nvPr>
        </p:nvSpPr>
        <p:spPr>
          <a:xfrm>
            <a:off x="6840867" y="3611098"/>
            <a:ext cx="1843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3.7 (1dp)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73"/>
          <p:cNvSpPr txBox="1"/>
          <p:nvPr>
            <p:ph idx="1" type="body"/>
          </p:nvPr>
        </p:nvSpPr>
        <p:spPr>
          <a:xfrm>
            <a:off x="324000" y="810000"/>
            <a:ext cx="54504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Given this information, what methods could be used to calculate the value of </a:t>
            </a:r>
            <a:r>
              <a:rPr i="1" lang="en-GB" sz="2000">
                <a:latin typeface="Times New Roman"/>
                <a:ea typeface="Times New Roman"/>
                <a:cs typeface="Times New Roman"/>
                <a:sym typeface="Times New Roman"/>
              </a:rPr>
              <a:t>x</a:t>
            </a:r>
            <a:r>
              <a:rPr lang="en-GB" sz="1800"/>
              <a:t>?</a:t>
            </a:r>
            <a:endParaRPr sz="1800"/>
          </a:p>
        </p:txBody>
      </p:sp>
      <p:sp>
        <p:nvSpPr>
          <p:cNvPr id="959" name="Google Shape;959;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960" name="Google Shape;960;p73"/>
          <p:cNvSpPr/>
          <p:nvPr/>
        </p:nvSpPr>
        <p:spPr>
          <a:xfrm>
            <a:off x="6809875" y="1693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1" name="Google Shape;961;p73"/>
          <p:cNvSpPr/>
          <p:nvPr/>
        </p:nvSpPr>
        <p:spPr>
          <a:xfrm>
            <a:off x="8108700" y="1531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2" name="Google Shape;962;p73"/>
          <p:cNvSpPr txBox="1"/>
          <p:nvPr>
            <p:ph idx="1" type="body"/>
          </p:nvPr>
        </p:nvSpPr>
        <p:spPr>
          <a:xfrm>
            <a:off x="7712923" y="1614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963" name="Google Shape;963;p73"/>
          <p:cNvSpPr txBox="1"/>
          <p:nvPr>
            <p:ph idx="1" type="body"/>
          </p:nvPr>
        </p:nvSpPr>
        <p:spPr>
          <a:xfrm>
            <a:off x="7458105" y="19730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964" name="Google Shape;964;p73"/>
          <p:cNvSpPr txBox="1"/>
          <p:nvPr>
            <p:ph idx="1" type="body"/>
          </p:nvPr>
        </p:nvSpPr>
        <p:spPr>
          <a:xfrm>
            <a:off x="6122152" y="12585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965" name="Google Shape;965;p73"/>
          <p:cNvSpPr txBox="1"/>
          <p:nvPr>
            <p:ph idx="1" type="body"/>
          </p:nvPr>
        </p:nvSpPr>
        <p:spPr>
          <a:xfrm>
            <a:off x="6874723" y="1157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966" name="Google Shape;966;p73"/>
          <p:cNvSpPr/>
          <p:nvPr/>
        </p:nvSpPr>
        <p:spPr>
          <a:xfrm>
            <a:off x="6539816" y="669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67" name="Google Shape;967;p73"/>
          <p:cNvGrpSpPr/>
          <p:nvPr/>
        </p:nvGrpSpPr>
        <p:grpSpPr>
          <a:xfrm rot="5400000">
            <a:off x="7051980" y="565243"/>
            <a:ext cx="1057366" cy="1784030"/>
            <a:chOff x="-2022025" y="1455875"/>
            <a:chExt cx="1057366" cy="1784030"/>
          </a:xfrm>
        </p:grpSpPr>
        <p:sp>
          <p:nvSpPr>
            <p:cNvPr id="968" name="Google Shape;968;p7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69" name="Google Shape;969;p73"/>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970" name="Google Shape;970;p73"/>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cxnSp>
        <p:nvCxnSpPr>
          <p:cNvPr id="971" name="Google Shape;971;p73"/>
          <p:cNvCxnSpPr/>
          <p:nvPr/>
        </p:nvCxnSpPr>
        <p:spPr>
          <a:xfrm rot="10800000">
            <a:off x="6882950" y="852200"/>
            <a:ext cx="1664700" cy="950100"/>
          </a:xfrm>
          <a:prstGeom prst="straightConnector1">
            <a:avLst/>
          </a:prstGeom>
          <a:noFill/>
          <a:ln cap="flat" cmpd="sng" w="28575">
            <a:solidFill>
              <a:srgbClr val="845AD9"/>
            </a:solidFill>
            <a:prstDash val="solid"/>
            <a:round/>
            <a:headEnd len="med" w="med" type="triangle"/>
            <a:tailEnd len="med" w="med" type="triangle"/>
          </a:ln>
        </p:spPr>
      </p:cxnSp>
      <p:sp>
        <p:nvSpPr>
          <p:cNvPr id="972" name="Google Shape;972;p73"/>
          <p:cNvSpPr txBox="1"/>
          <p:nvPr>
            <p:ph idx="1" type="body"/>
          </p:nvPr>
        </p:nvSpPr>
        <p:spPr>
          <a:xfrm>
            <a:off x="7712927" y="10216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 </a:t>
            </a:r>
            <a:r>
              <a:rPr lang="en-GB" sz="1800"/>
              <a:t>cm</a:t>
            </a:r>
            <a:endParaRPr sz="1800"/>
          </a:p>
        </p:txBody>
      </p:sp>
      <p:pic>
        <p:nvPicPr>
          <p:cNvPr id="973" name="Google Shape;973;p73"/>
          <p:cNvPicPr preferRelativeResize="0"/>
          <p:nvPr/>
        </p:nvPicPr>
        <p:blipFill rotWithShape="1">
          <a:blip r:embed="rId3">
            <a:alphaModFix/>
          </a:blip>
          <a:srcRect b="43690" l="0" r="57905" t="0"/>
          <a:stretch/>
        </p:blipFill>
        <p:spPr>
          <a:xfrm flipH="1">
            <a:off x="150479" y="1571593"/>
            <a:ext cx="3433324" cy="1695301"/>
          </a:xfrm>
          <a:prstGeom prst="rect">
            <a:avLst/>
          </a:prstGeom>
          <a:noFill/>
          <a:ln>
            <a:noFill/>
          </a:ln>
        </p:spPr>
      </p:pic>
      <p:sp>
        <p:nvSpPr>
          <p:cNvPr id="974" name="Google Shape;974;p73"/>
          <p:cNvSpPr txBox="1"/>
          <p:nvPr>
            <p:ph idx="1" type="body"/>
          </p:nvPr>
        </p:nvSpPr>
        <p:spPr>
          <a:xfrm>
            <a:off x="506150" y="1604350"/>
            <a:ext cx="29958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would use cosine, to calculate the length of the hypotenuse, and then use sine to calculate </a:t>
            </a:r>
            <a:r>
              <a:rPr i="1" lang="en-GB" sz="2000">
                <a:latin typeface="Times New Roman"/>
                <a:ea typeface="Times New Roman"/>
                <a:cs typeface="Times New Roman"/>
                <a:sym typeface="Times New Roman"/>
              </a:rPr>
              <a:t>x</a:t>
            </a:r>
            <a:r>
              <a:rPr lang="en-GB" sz="1800"/>
              <a:t>.</a:t>
            </a:r>
            <a:endParaRPr sz="1800"/>
          </a:p>
        </p:txBody>
      </p:sp>
      <p:sp>
        <p:nvSpPr>
          <p:cNvPr id="975" name="Google Shape;975;p73"/>
          <p:cNvSpPr txBox="1"/>
          <p:nvPr>
            <p:ph idx="1" type="body"/>
          </p:nvPr>
        </p:nvSpPr>
        <p:spPr>
          <a:xfrm>
            <a:off x="3629209" y="2376003"/>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976" name="Google Shape;976;p73"/>
          <p:cNvSpPr txBox="1"/>
          <p:nvPr>
            <p:ph idx="1" type="body"/>
          </p:nvPr>
        </p:nvSpPr>
        <p:spPr>
          <a:xfrm>
            <a:off x="4910864" y="223559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977" name="Google Shape;977;p73"/>
          <p:cNvSpPr txBox="1"/>
          <p:nvPr>
            <p:ph idx="1" type="body"/>
          </p:nvPr>
        </p:nvSpPr>
        <p:spPr>
          <a:xfrm>
            <a:off x="4902044" y="251393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978" name="Google Shape;978;p73"/>
          <p:cNvCxnSpPr/>
          <p:nvPr/>
        </p:nvCxnSpPr>
        <p:spPr>
          <a:xfrm>
            <a:off x="4800160" y="2537575"/>
            <a:ext cx="361500" cy="0"/>
          </a:xfrm>
          <a:prstGeom prst="straightConnector1">
            <a:avLst/>
          </a:prstGeom>
          <a:noFill/>
          <a:ln cap="flat" cmpd="sng" w="19050">
            <a:solidFill>
              <a:schemeClr val="dk1"/>
            </a:solidFill>
            <a:prstDash val="solid"/>
            <a:round/>
            <a:headEnd len="med" w="med" type="none"/>
            <a:tailEnd len="med" w="med" type="none"/>
          </a:ln>
        </p:spPr>
      </p:cxnSp>
      <p:sp>
        <p:nvSpPr>
          <p:cNvPr id="979" name="Google Shape;979;p73"/>
          <p:cNvSpPr txBox="1"/>
          <p:nvPr>
            <p:ph idx="1" type="body"/>
          </p:nvPr>
        </p:nvSpPr>
        <p:spPr>
          <a:xfrm>
            <a:off x="4736611" y="3121500"/>
            <a:ext cx="885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80" name="Google Shape;980;p73"/>
          <p:cNvSpPr txBox="1"/>
          <p:nvPr>
            <p:ph idx="1" type="body"/>
          </p:nvPr>
        </p:nvSpPr>
        <p:spPr>
          <a:xfrm>
            <a:off x="4368289" y="29485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81" name="Google Shape;981;p73"/>
          <p:cNvSpPr txBox="1"/>
          <p:nvPr>
            <p:ph idx="1" type="body"/>
          </p:nvPr>
        </p:nvSpPr>
        <p:spPr>
          <a:xfrm>
            <a:off x="5107350" y="2836378"/>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982" name="Google Shape;982;p73"/>
          <p:cNvCxnSpPr/>
          <p:nvPr/>
        </p:nvCxnSpPr>
        <p:spPr>
          <a:xfrm>
            <a:off x="4767030" y="3129536"/>
            <a:ext cx="836100" cy="0"/>
          </a:xfrm>
          <a:prstGeom prst="straightConnector1">
            <a:avLst/>
          </a:prstGeom>
          <a:noFill/>
          <a:ln cap="flat" cmpd="sng" w="19050">
            <a:solidFill>
              <a:schemeClr val="dk1"/>
            </a:solidFill>
            <a:prstDash val="solid"/>
            <a:round/>
            <a:headEnd len="med" w="med" type="none"/>
            <a:tailEnd len="med" w="med" type="none"/>
          </a:ln>
        </p:spPr>
      </p:cxnSp>
      <p:sp>
        <p:nvSpPr>
          <p:cNvPr id="983" name="Google Shape;983;p73"/>
          <p:cNvSpPr txBox="1"/>
          <p:nvPr>
            <p:ph idx="1" type="body"/>
          </p:nvPr>
        </p:nvSpPr>
        <p:spPr>
          <a:xfrm>
            <a:off x="4368287" y="3534892"/>
            <a:ext cx="1744500" cy="38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h </a:t>
            </a:r>
            <a:r>
              <a:rPr lang="en-GB" sz="2000">
                <a:latin typeface="Times New Roman"/>
                <a:ea typeface="Times New Roman"/>
                <a:cs typeface="Times New Roman"/>
                <a:sym typeface="Times New Roman"/>
              </a:rPr>
              <a:t>= 7.0750…</a:t>
            </a:r>
            <a:endParaRPr sz="2000">
              <a:latin typeface="Times New Roman"/>
              <a:ea typeface="Times New Roman"/>
              <a:cs typeface="Times New Roman"/>
              <a:sym typeface="Times New Roman"/>
            </a:endParaRPr>
          </a:p>
          <a:p>
            <a:pPr indent="0" lvl="0" marL="0" rtl="0" algn="l">
              <a:spcBef>
                <a:spcPts val="1000"/>
              </a:spcBef>
              <a:spcAft>
                <a:spcPts val="1000"/>
              </a:spcAft>
              <a:buNone/>
            </a:pPr>
            <a:r>
              <a:rPr lang="en-GB" sz="2000">
                <a:latin typeface="Times New Roman"/>
                <a:ea typeface="Times New Roman"/>
                <a:cs typeface="Times New Roman"/>
                <a:sym typeface="Times New Roman"/>
              </a:rPr>
              <a:t>   = 7.1 (1dp)  </a:t>
            </a:r>
            <a:endParaRPr sz="2000">
              <a:latin typeface="Times New Roman"/>
              <a:ea typeface="Times New Roman"/>
              <a:cs typeface="Times New Roman"/>
              <a:sym typeface="Times New Roman"/>
            </a:endParaRPr>
          </a:p>
        </p:txBody>
      </p:sp>
      <p:sp>
        <p:nvSpPr>
          <p:cNvPr id="984" name="Google Shape;984;p73"/>
          <p:cNvSpPr txBox="1"/>
          <p:nvPr>
            <p:ph idx="1" type="body"/>
          </p:nvPr>
        </p:nvSpPr>
        <p:spPr>
          <a:xfrm>
            <a:off x="5943280" y="2359500"/>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985" name="Google Shape;985;p73"/>
          <p:cNvSpPr txBox="1"/>
          <p:nvPr>
            <p:ph idx="1" type="body"/>
          </p:nvPr>
        </p:nvSpPr>
        <p:spPr>
          <a:xfrm>
            <a:off x="7142286" y="2517900"/>
            <a:ext cx="717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7.07… </a:t>
            </a:r>
            <a:endParaRPr sz="2000">
              <a:latin typeface="Times New Roman"/>
              <a:ea typeface="Times New Roman"/>
              <a:cs typeface="Times New Roman"/>
              <a:sym typeface="Times New Roman"/>
            </a:endParaRPr>
          </a:p>
        </p:txBody>
      </p:sp>
      <p:sp>
        <p:nvSpPr>
          <p:cNvPr id="986" name="Google Shape;986;p73"/>
          <p:cNvSpPr txBox="1"/>
          <p:nvPr>
            <p:ph idx="1" type="body"/>
          </p:nvPr>
        </p:nvSpPr>
        <p:spPr>
          <a:xfrm>
            <a:off x="7304322" y="222447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987" name="Google Shape;987;p73"/>
          <p:cNvCxnSpPr/>
          <p:nvPr/>
        </p:nvCxnSpPr>
        <p:spPr>
          <a:xfrm>
            <a:off x="7101877" y="2537700"/>
            <a:ext cx="791400" cy="0"/>
          </a:xfrm>
          <a:prstGeom prst="straightConnector1">
            <a:avLst/>
          </a:prstGeom>
          <a:noFill/>
          <a:ln cap="flat" cmpd="sng" w="19050">
            <a:solidFill>
              <a:schemeClr val="dk1"/>
            </a:solidFill>
            <a:prstDash val="solid"/>
            <a:round/>
            <a:headEnd len="med" w="med" type="none"/>
            <a:tailEnd len="med" w="med" type="none"/>
          </a:ln>
        </p:spPr>
      </p:cxnSp>
      <p:sp>
        <p:nvSpPr>
          <p:cNvPr id="988" name="Google Shape;988;p73"/>
          <p:cNvSpPr txBox="1"/>
          <p:nvPr>
            <p:ph idx="1" type="body"/>
          </p:nvPr>
        </p:nvSpPr>
        <p:spPr>
          <a:xfrm>
            <a:off x="7051444" y="2945700"/>
            <a:ext cx="1926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7.07… × sin(32°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89" name="Google Shape;989;p73"/>
          <p:cNvSpPr txBox="1"/>
          <p:nvPr>
            <p:ph idx="1" type="body"/>
          </p:nvPr>
        </p:nvSpPr>
        <p:spPr>
          <a:xfrm>
            <a:off x="6648412" y="29485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90" name="Google Shape;990;p73"/>
          <p:cNvSpPr txBox="1"/>
          <p:nvPr>
            <p:ph idx="1" type="body"/>
          </p:nvPr>
        </p:nvSpPr>
        <p:spPr>
          <a:xfrm>
            <a:off x="6641784" y="3534892"/>
            <a:ext cx="1744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3.7 (1dp)  </a:t>
            </a:r>
            <a:endParaRPr sz="2000">
              <a:latin typeface="Times New Roman"/>
              <a:ea typeface="Times New Roman"/>
              <a:cs typeface="Times New Roman"/>
              <a:sym typeface="Times New Roman"/>
            </a:endParaRPr>
          </a:p>
        </p:txBody>
      </p:sp>
      <p:pic>
        <p:nvPicPr>
          <p:cNvPr id="991" name="Google Shape;991;p73"/>
          <p:cNvPicPr preferRelativeResize="0"/>
          <p:nvPr/>
        </p:nvPicPr>
        <p:blipFill>
          <a:blip r:embed="rId4">
            <a:alphaModFix/>
          </a:blip>
          <a:stretch>
            <a:fillRect/>
          </a:stretch>
        </p:blipFill>
        <p:spPr>
          <a:xfrm>
            <a:off x="366132" y="3141168"/>
            <a:ext cx="623346" cy="1177024"/>
          </a:xfrm>
          <a:prstGeom prst="rect">
            <a:avLst/>
          </a:prstGeom>
          <a:noFill/>
          <a:ln>
            <a:noFill/>
          </a:ln>
        </p:spPr>
      </p:pic>
      <p:sp>
        <p:nvSpPr>
          <p:cNvPr id="992" name="Google Shape;992;p73"/>
          <p:cNvSpPr txBox="1"/>
          <p:nvPr/>
        </p:nvSpPr>
        <p:spPr>
          <a:xfrm>
            <a:off x="340957" y="43465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4"/>
          <p:cNvSpPr txBox="1"/>
          <p:nvPr>
            <p:ph idx="1" type="body"/>
          </p:nvPr>
        </p:nvSpPr>
        <p:spPr>
          <a:xfrm>
            <a:off x="324000" y="810000"/>
            <a:ext cx="54504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Given this information, what methods could be used to calculate the length of </a:t>
            </a:r>
            <a:r>
              <a:rPr i="1" lang="en-GB" sz="2000">
                <a:latin typeface="Times New Roman"/>
                <a:ea typeface="Times New Roman"/>
                <a:cs typeface="Times New Roman"/>
                <a:sym typeface="Times New Roman"/>
              </a:rPr>
              <a:t>x</a:t>
            </a:r>
            <a:r>
              <a:rPr lang="en-GB" sz="1800"/>
              <a:t>?</a:t>
            </a:r>
            <a:endParaRPr sz="1800"/>
          </a:p>
        </p:txBody>
      </p:sp>
      <p:sp>
        <p:nvSpPr>
          <p:cNvPr id="998" name="Google Shape;99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999" name="Google Shape;999;p74"/>
          <p:cNvSpPr/>
          <p:nvPr/>
        </p:nvSpPr>
        <p:spPr>
          <a:xfrm>
            <a:off x="6809875" y="1693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0" name="Google Shape;1000;p74"/>
          <p:cNvSpPr/>
          <p:nvPr/>
        </p:nvSpPr>
        <p:spPr>
          <a:xfrm>
            <a:off x="8108700" y="1531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1" name="Google Shape;1001;p74"/>
          <p:cNvSpPr txBox="1"/>
          <p:nvPr>
            <p:ph idx="1" type="body"/>
          </p:nvPr>
        </p:nvSpPr>
        <p:spPr>
          <a:xfrm>
            <a:off x="7712923" y="1614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002" name="Google Shape;1002;p74"/>
          <p:cNvSpPr txBox="1"/>
          <p:nvPr>
            <p:ph idx="1" type="body"/>
          </p:nvPr>
        </p:nvSpPr>
        <p:spPr>
          <a:xfrm>
            <a:off x="7458105" y="19730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003" name="Google Shape;1003;p74"/>
          <p:cNvSpPr txBox="1"/>
          <p:nvPr>
            <p:ph idx="1" type="body"/>
          </p:nvPr>
        </p:nvSpPr>
        <p:spPr>
          <a:xfrm>
            <a:off x="6122152" y="12585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004" name="Google Shape;1004;p74"/>
          <p:cNvSpPr txBox="1"/>
          <p:nvPr>
            <p:ph idx="1" type="body"/>
          </p:nvPr>
        </p:nvSpPr>
        <p:spPr>
          <a:xfrm>
            <a:off x="6874723" y="1157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1005" name="Google Shape;1005;p74"/>
          <p:cNvSpPr/>
          <p:nvPr/>
        </p:nvSpPr>
        <p:spPr>
          <a:xfrm>
            <a:off x="6539816" y="669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06" name="Google Shape;1006;p74"/>
          <p:cNvGrpSpPr/>
          <p:nvPr/>
        </p:nvGrpSpPr>
        <p:grpSpPr>
          <a:xfrm rot="5400000">
            <a:off x="7051980" y="565243"/>
            <a:ext cx="1057366" cy="1784030"/>
            <a:chOff x="-2022025" y="1455875"/>
            <a:chExt cx="1057366" cy="1784030"/>
          </a:xfrm>
        </p:grpSpPr>
        <p:sp>
          <p:nvSpPr>
            <p:cNvPr id="1007" name="Google Shape;1007;p7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8" name="Google Shape;1008;p74"/>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09" name="Google Shape;1009;p74"/>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cxnSp>
        <p:nvCxnSpPr>
          <p:cNvPr id="1010" name="Google Shape;1010;p74"/>
          <p:cNvCxnSpPr/>
          <p:nvPr/>
        </p:nvCxnSpPr>
        <p:spPr>
          <a:xfrm rot="10800000">
            <a:off x="6882950" y="852200"/>
            <a:ext cx="1664700" cy="950100"/>
          </a:xfrm>
          <a:prstGeom prst="straightConnector1">
            <a:avLst/>
          </a:prstGeom>
          <a:noFill/>
          <a:ln cap="flat" cmpd="sng" w="28575">
            <a:solidFill>
              <a:srgbClr val="845AD9"/>
            </a:solidFill>
            <a:prstDash val="solid"/>
            <a:round/>
            <a:headEnd len="med" w="med" type="triangle"/>
            <a:tailEnd len="med" w="med" type="triangle"/>
          </a:ln>
        </p:spPr>
      </p:cxnSp>
      <p:sp>
        <p:nvSpPr>
          <p:cNvPr id="1011" name="Google Shape;1011;p74"/>
          <p:cNvSpPr txBox="1"/>
          <p:nvPr>
            <p:ph idx="1" type="body"/>
          </p:nvPr>
        </p:nvSpPr>
        <p:spPr>
          <a:xfrm>
            <a:off x="7712927" y="10216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 </a:t>
            </a:r>
            <a:r>
              <a:rPr lang="en-GB" sz="1800"/>
              <a:t>cm</a:t>
            </a:r>
            <a:endParaRPr sz="1800"/>
          </a:p>
        </p:txBody>
      </p:sp>
      <p:pic>
        <p:nvPicPr>
          <p:cNvPr id="1012" name="Google Shape;1012;p74"/>
          <p:cNvPicPr preferRelativeResize="0"/>
          <p:nvPr/>
        </p:nvPicPr>
        <p:blipFill rotWithShape="1">
          <a:blip r:embed="rId3">
            <a:alphaModFix/>
          </a:blip>
          <a:srcRect b="43690" l="0" r="57905" t="0"/>
          <a:stretch/>
        </p:blipFill>
        <p:spPr>
          <a:xfrm flipH="1">
            <a:off x="782744" y="1833430"/>
            <a:ext cx="3217224" cy="1695301"/>
          </a:xfrm>
          <a:prstGeom prst="rect">
            <a:avLst/>
          </a:prstGeom>
          <a:noFill/>
          <a:ln>
            <a:noFill/>
          </a:ln>
        </p:spPr>
      </p:pic>
      <p:sp>
        <p:nvSpPr>
          <p:cNvPr id="1013" name="Google Shape;1013;p74"/>
          <p:cNvSpPr txBox="1"/>
          <p:nvPr>
            <p:ph idx="1" type="body"/>
          </p:nvPr>
        </p:nvSpPr>
        <p:spPr>
          <a:xfrm>
            <a:off x="1031232" y="1903325"/>
            <a:ext cx="29688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would use cosine or sine, to calculate the length of the hypotenuse, and then use Pythagoras’ Theorem.</a:t>
            </a:r>
            <a:endParaRPr sz="1800"/>
          </a:p>
        </p:txBody>
      </p:sp>
      <p:sp>
        <p:nvSpPr>
          <p:cNvPr id="1014" name="Google Shape;1014;p74"/>
          <p:cNvSpPr txBox="1"/>
          <p:nvPr>
            <p:ph idx="1" type="body"/>
          </p:nvPr>
        </p:nvSpPr>
        <p:spPr>
          <a:xfrm>
            <a:off x="4079282" y="2359500"/>
            <a:ext cx="23622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015" name="Google Shape;1015;p74"/>
          <p:cNvSpPr txBox="1"/>
          <p:nvPr>
            <p:ph idx="1" type="body"/>
          </p:nvPr>
        </p:nvSpPr>
        <p:spPr>
          <a:xfrm>
            <a:off x="5334897" y="223559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1016" name="Google Shape;1016;p74"/>
          <p:cNvSpPr txBox="1"/>
          <p:nvPr>
            <p:ph idx="1" type="body"/>
          </p:nvPr>
        </p:nvSpPr>
        <p:spPr>
          <a:xfrm>
            <a:off x="5326077" y="251393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lang="en-GB" sz="1800"/>
              <a:t>  </a:t>
            </a:r>
            <a:endParaRPr sz="1800"/>
          </a:p>
        </p:txBody>
      </p:sp>
      <p:cxnSp>
        <p:nvCxnSpPr>
          <p:cNvPr id="1017" name="Google Shape;1017;p74"/>
          <p:cNvCxnSpPr/>
          <p:nvPr/>
        </p:nvCxnSpPr>
        <p:spPr>
          <a:xfrm>
            <a:off x="5218352" y="2537575"/>
            <a:ext cx="361500" cy="0"/>
          </a:xfrm>
          <a:prstGeom prst="straightConnector1">
            <a:avLst/>
          </a:prstGeom>
          <a:noFill/>
          <a:ln cap="flat" cmpd="sng" w="19050">
            <a:solidFill>
              <a:schemeClr val="dk1"/>
            </a:solidFill>
            <a:prstDash val="solid"/>
            <a:round/>
            <a:headEnd len="med" w="med" type="none"/>
            <a:tailEnd len="med" w="med" type="none"/>
          </a:ln>
        </p:spPr>
      </p:cxnSp>
      <p:sp>
        <p:nvSpPr>
          <p:cNvPr id="1018" name="Google Shape;1018;p74"/>
          <p:cNvSpPr txBox="1"/>
          <p:nvPr>
            <p:ph idx="1" type="body"/>
          </p:nvPr>
        </p:nvSpPr>
        <p:spPr>
          <a:xfrm>
            <a:off x="5204089" y="3121500"/>
            <a:ext cx="885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019" name="Google Shape;1019;p74"/>
          <p:cNvSpPr txBox="1"/>
          <p:nvPr>
            <p:ph idx="1" type="body"/>
          </p:nvPr>
        </p:nvSpPr>
        <p:spPr>
          <a:xfrm>
            <a:off x="4808407" y="2948575"/>
            <a:ext cx="4035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 </a:t>
            </a:r>
            <a:r>
              <a:rPr lang="en-GB" sz="2000">
                <a:latin typeface="Times New Roman"/>
                <a:ea typeface="Times New Roman"/>
                <a:cs typeface="Times New Roman"/>
                <a:sym typeface="Times New Roman"/>
              </a:rPr>
              <a:t>=</a:t>
            </a:r>
            <a:r>
              <a:rPr lang="en-GB" sz="1800"/>
              <a:t>  </a:t>
            </a:r>
            <a:endParaRPr sz="1800"/>
          </a:p>
        </p:txBody>
      </p:sp>
      <p:sp>
        <p:nvSpPr>
          <p:cNvPr id="1020" name="Google Shape;1020;p74"/>
          <p:cNvSpPr txBox="1"/>
          <p:nvPr>
            <p:ph idx="1" type="body"/>
          </p:nvPr>
        </p:nvSpPr>
        <p:spPr>
          <a:xfrm>
            <a:off x="5498628" y="2836378"/>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1021" name="Google Shape;1021;p74"/>
          <p:cNvCxnSpPr/>
          <p:nvPr/>
        </p:nvCxnSpPr>
        <p:spPr>
          <a:xfrm>
            <a:off x="5220864" y="3129536"/>
            <a:ext cx="719700" cy="0"/>
          </a:xfrm>
          <a:prstGeom prst="straightConnector1">
            <a:avLst/>
          </a:prstGeom>
          <a:noFill/>
          <a:ln cap="flat" cmpd="sng" w="19050">
            <a:solidFill>
              <a:schemeClr val="dk1"/>
            </a:solidFill>
            <a:prstDash val="solid"/>
            <a:round/>
            <a:headEnd len="med" w="med" type="none"/>
            <a:tailEnd len="med" w="med" type="none"/>
          </a:ln>
        </p:spPr>
      </p:cxnSp>
      <p:sp>
        <p:nvSpPr>
          <p:cNvPr id="1022" name="Google Shape;1022;p74"/>
          <p:cNvSpPr txBox="1"/>
          <p:nvPr>
            <p:ph idx="1" type="body"/>
          </p:nvPr>
        </p:nvSpPr>
        <p:spPr>
          <a:xfrm>
            <a:off x="4813001" y="3534892"/>
            <a:ext cx="1744500" cy="38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h </a:t>
            </a:r>
            <a:r>
              <a:rPr lang="en-GB" sz="2000">
                <a:latin typeface="Times New Roman"/>
                <a:ea typeface="Times New Roman"/>
                <a:cs typeface="Times New Roman"/>
                <a:sym typeface="Times New Roman"/>
              </a:rPr>
              <a:t>= 7.07… </a:t>
            </a:r>
            <a:endParaRPr sz="2000">
              <a:latin typeface="Times New Roman"/>
              <a:ea typeface="Times New Roman"/>
              <a:cs typeface="Times New Roman"/>
              <a:sym typeface="Times New Roman"/>
            </a:endParaRPr>
          </a:p>
          <a:p>
            <a:pPr indent="0" lvl="0" marL="0" rtl="0" algn="l">
              <a:spcBef>
                <a:spcPts val="1000"/>
              </a:spcBef>
              <a:spcAft>
                <a:spcPts val="1000"/>
              </a:spcAft>
              <a:buNone/>
            </a:pPr>
            <a:r>
              <a:rPr lang="en-GB" sz="2000">
                <a:latin typeface="Times New Roman"/>
                <a:ea typeface="Times New Roman"/>
                <a:cs typeface="Times New Roman"/>
                <a:sym typeface="Times New Roman"/>
              </a:rPr>
              <a:t>  </a:t>
            </a:r>
            <a:r>
              <a:rPr lang="en-GB" sz="15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7.1 (1dp)  </a:t>
            </a:r>
            <a:endParaRPr sz="2000">
              <a:latin typeface="Times New Roman"/>
              <a:ea typeface="Times New Roman"/>
              <a:cs typeface="Times New Roman"/>
              <a:sym typeface="Times New Roman"/>
            </a:endParaRPr>
          </a:p>
        </p:txBody>
      </p:sp>
      <p:pic>
        <p:nvPicPr>
          <p:cNvPr id="1023" name="Google Shape;1023;p74"/>
          <p:cNvPicPr preferRelativeResize="0"/>
          <p:nvPr/>
        </p:nvPicPr>
        <p:blipFill>
          <a:blip r:embed="rId4">
            <a:alphaModFix/>
          </a:blip>
          <a:stretch>
            <a:fillRect/>
          </a:stretch>
        </p:blipFill>
        <p:spPr>
          <a:xfrm>
            <a:off x="529437" y="3240000"/>
            <a:ext cx="727174" cy="909325"/>
          </a:xfrm>
          <a:prstGeom prst="rect">
            <a:avLst/>
          </a:prstGeom>
          <a:noFill/>
          <a:ln>
            <a:noFill/>
          </a:ln>
        </p:spPr>
      </p:pic>
      <p:sp>
        <p:nvSpPr>
          <p:cNvPr id="1024" name="Google Shape;1024;p74"/>
          <p:cNvSpPr txBox="1"/>
          <p:nvPr/>
        </p:nvSpPr>
        <p:spPr>
          <a:xfrm>
            <a:off x="529425" y="41632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pic>
        <p:nvPicPr>
          <p:cNvPr descr="&lt;math xmlns=&quot;http://www.w3.org/1998/Math/MathML&quot; display=&quot;block&quot; data-is-equatio=&quot;1&quot; data-latex=&quot;x^2=h^2-6^2&quot;&gt;&lt;msup&gt;&lt;mi&gt;x&lt;/mi&gt;&lt;mn&gt;2&lt;/mn&gt;&lt;/msup&gt;&lt;mo&gt;=&lt;/mo&gt;&lt;msup&gt;&lt;mi&gt;h&lt;/mi&gt;&lt;mn&gt;2&lt;/mn&gt;&lt;/msup&gt;&lt;mo&gt;−&lt;/mo&gt;&lt;msup&gt;&lt;mn&gt;6&lt;/mn&gt;&lt;mn&gt;2&lt;/mn&gt;&lt;/msup&gt;&lt;/math&gt;" id="1025" name="Google Shape;1025;p74" title="x squared equals h squared minus 6 squared"/>
          <p:cNvPicPr preferRelativeResize="0"/>
          <p:nvPr/>
        </p:nvPicPr>
        <p:blipFill>
          <a:blip r:embed="rId5">
            <a:alphaModFix/>
          </a:blip>
          <a:stretch>
            <a:fillRect/>
          </a:stretch>
        </p:blipFill>
        <p:spPr>
          <a:xfrm>
            <a:off x="6675568" y="2398725"/>
            <a:ext cx="1288635" cy="227025"/>
          </a:xfrm>
          <a:prstGeom prst="rect">
            <a:avLst/>
          </a:prstGeom>
          <a:noFill/>
          <a:ln>
            <a:noFill/>
          </a:ln>
        </p:spPr>
      </p:pic>
      <p:pic>
        <p:nvPicPr>
          <p:cNvPr descr="&lt;math xmlns=&quot;http://www.w3.org/1998/Math/MathML&quot; display=&quot;block&quot; data-is-equatio=&quot;1&quot; data-latex=&quot;x^2=14.05662145&quot;&gt;&lt;msup&gt;&lt;mi&gt;x&lt;/mi&gt;&lt;mn&gt;2&lt;/mn&gt;&lt;/msup&gt;&lt;mo&gt;=&lt;/mo&gt;&lt;mn&gt;14.05662145&lt;/mn&gt;&lt;/math&gt;" id="1026" name="Google Shape;1026;p74" title="x squared equals 14.05662145"/>
          <p:cNvPicPr preferRelativeResize="0"/>
          <p:nvPr/>
        </p:nvPicPr>
        <p:blipFill>
          <a:blip r:embed="rId6">
            <a:alphaModFix/>
          </a:blip>
          <a:stretch>
            <a:fillRect/>
          </a:stretch>
        </p:blipFill>
        <p:spPr>
          <a:xfrm>
            <a:off x="6688736" y="3240100"/>
            <a:ext cx="1744501" cy="213743"/>
          </a:xfrm>
          <a:prstGeom prst="rect">
            <a:avLst/>
          </a:prstGeom>
          <a:noFill/>
          <a:ln>
            <a:noFill/>
          </a:ln>
        </p:spPr>
      </p:pic>
      <p:pic>
        <p:nvPicPr>
          <p:cNvPr descr="&lt;math xmlns=&quot;http://www.w3.org/1998/Math/MathML&quot; display=&quot;block&quot; data-is-equatio=&quot;1&quot; data-latex=&quot;x=\sqrt[]{14.05662145}&quot;&gt;&lt;mi&gt;x&lt;/mi&gt;&lt;mo&gt;=&lt;/mo&gt;&lt;msqrt&gt;&lt;mn&gt;14.05662145&lt;/mn&gt;&lt;/msqrt&gt;&lt;/math&gt;" id="1027" name="Google Shape;1027;p74" title="x equals the square root of 14.05662145"/>
          <p:cNvPicPr preferRelativeResize="0"/>
          <p:nvPr/>
        </p:nvPicPr>
        <p:blipFill>
          <a:blip r:embed="rId7">
            <a:alphaModFix/>
          </a:blip>
          <a:stretch>
            <a:fillRect/>
          </a:stretch>
        </p:blipFill>
        <p:spPr>
          <a:xfrm>
            <a:off x="6795417" y="3650450"/>
            <a:ext cx="1784026" cy="278114"/>
          </a:xfrm>
          <a:prstGeom prst="rect">
            <a:avLst/>
          </a:prstGeom>
          <a:noFill/>
          <a:ln>
            <a:noFill/>
          </a:ln>
        </p:spPr>
      </p:pic>
      <p:pic>
        <p:nvPicPr>
          <p:cNvPr descr="&lt;math xmlns=&quot;http://www.w3.org/1998/Math/MathML&quot; display=&quot;block&quot; data-is-equatio=&quot;1&quot; data-latex=&quot;x=3.7&quot;&gt;&lt;mi&gt;x&lt;/mi&gt;&lt;mo&gt;=&lt;/mo&gt;&lt;mn&gt;3.7&lt;/mn&gt;&lt;/math&gt;" id="1028" name="Google Shape;1028;p74" title="x equals 3.7"/>
          <p:cNvPicPr preferRelativeResize="0"/>
          <p:nvPr/>
        </p:nvPicPr>
        <p:blipFill>
          <a:blip r:embed="rId8">
            <a:alphaModFix/>
          </a:blip>
          <a:stretch>
            <a:fillRect/>
          </a:stretch>
        </p:blipFill>
        <p:spPr>
          <a:xfrm>
            <a:off x="6790783" y="4125175"/>
            <a:ext cx="678450" cy="158925"/>
          </a:xfrm>
          <a:prstGeom prst="rect">
            <a:avLst/>
          </a:prstGeom>
          <a:noFill/>
          <a:ln>
            <a:noFill/>
          </a:ln>
        </p:spPr>
      </p:pic>
      <p:sp>
        <p:nvSpPr>
          <p:cNvPr id="1029" name="Google Shape;1029;p74"/>
          <p:cNvSpPr txBox="1"/>
          <p:nvPr>
            <p:ph idx="1" type="body"/>
          </p:nvPr>
        </p:nvSpPr>
        <p:spPr>
          <a:xfrm>
            <a:off x="7593226" y="4052700"/>
            <a:ext cx="885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(1d.p.)  </a:t>
            </a:r>
            <a:endParaRPr sz="2000">
              <a:latin typeface="Times New Roman"/>
              <a:ea typeface="Times New Roman"/>
              <a:cs typeface="Times New Roman"/>
              <a:sym typeface="Times New Roman"/>
            </a:endParaRPr>
          </a:p>
        </p:txBody>
      </p:sp>
      <p:pic>
        <p:nvPicPr>
          <p:cNvPr descr="&lt;math xmlns=&quot;http://www.w3.org/1998/Math/MathML&quot; display=&quot;block&quot; data-is-equatio=&quot;1&quot; data-latex=&quot;x^2=7.07...^2-6^2&quot;&gt;&lt;msup&gt;&lt;mi&gt;x&lt;/mi&gt;&lt;mn&gt;2&lt;/mn&gt;&lt;/msup&gt;&lt;mo&gt;=&lt;/mo&gt;&lt;mn&gt;7.07&lt;/mn&gt;&lt;mo&gt;.&lt;/mo&gt;&lt;mo&gt;.&lt;/mo&gt;&lt;msup&gt;&lt;mo&gt;.&lt;/mo&gt;&lt;mn&gt;2&lt;/mn&gt;&lt;/msup&gt;&lt;mo&gt;−&lt;/mo&gt;&lt;msup&gt;&lt;mn&gt;6&lt;/mn&gt;&lt;mn&gt;2&lt;/mn&gt;&lt;/msup&gt;&lt;/math&gt;" id="1030" name="Google Shape;1030;p74" title="x squared equals 7.07 period period period squared negative 6 squared"/>
          <p:cNvPicPr preferRelativeResize="0"/>
          <p:nvPr/>
        </p:nvPicPr>
        <p:blipFill>
          <a:blip r:embed="rId9">
            <a:alphaModFix/>
          </a:blip>
          <a:stretch>
            <a:fillRect/>
          </a:stretch>
        </p:blipFill>
        <p:spPr>
          <a:xfrm>
            <a:off x="6668432" y="2798655"/>
            <a:ext cx="1763489" cy="227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75"/>
          <p:cNvSpPr txBox="1"/>
          <p:nvPr>
            <p:ph idx="1" type="body"/>
          </p:nvPr>
        </p:nvSpPr>
        <p:spPr>
          <a:xfrm>
            <a:off x="324000" y="810000"/>
            <a:ext cx="54504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Given this information, what methods could be used to calculate the length of </a:t>
            </a:r>
            <a:r>
              <a:rPr i="1" lang="en-GB" sz="2000">
                <a:latin typeface="Times New Roman"/>
                <a:ea typeface="Times New Roman"/>
                <a:cs typeface="Times New Roman"/>
                <a:sym typeface="Times New Roman"/>
              </a:rPr>
              <a:t>x</a:t>
            </a:r>
            <a:r>
              <a:rPr lang="en-GB" sz="1800"/>
              <a:t>?</a:t>
            </a:r>
            <a:endParaRPr sz="1800"/>
          </a:p>
        </p:txBody>
      </p:sp>
      <p:sp>
        <p:nvSpPr>
          <p:cNvPr id="1036" name="Google Shape;1036;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037" name="Google Shape;1037;p75"/>
          <p:cNvSpPr/>
          <p:nvPr/>
        </p:nvSpPr>
        <p:spPr>
          <a:xfrm>
            <a:off x="6809875" y="1693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8" name="Google Shape;1038;p75"/>
          <p:cNvSpPr/>
          <p:nvPr/>
        </p:nvSpPr>
        <p:spPr>
          <a:xfrm>
            <a:off x="8108700" y="1531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9" name="Google Shape;1039;p75"/>
          <p:cNvSpPr txBox="1"/>
          <p:nvPr>
            <p:ph idx="1" type="body"/>
          </p:nvPr>
        </p:nvSpPr>
        <p:spPr>
          <a:xfrm>
            <a:off x="7712923" y="1614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040" name="Google Shape;1040;p75"/>
          <p:cNvSpPr txBox="1"/>
          <p:nvPr>
            <p:ph idx="1" type="body"/>
          </p:nvPr>
        </p:nvSpPr>
        <p:spPr>
          <a:xfrm>
            <a:off x="7458105" y="19730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041" name="Google Shape;1041;p75"/>
          <p:cNvSpPr txBox="1"/>
          <p:nvPr>
            <p:ph idx="1" type="body"/>
          </p:nvPr>
        </p:nvSpPr>
        <p:spPr>
          <a:xfrm>
            <a:off x="6122152" y="12585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042" name="Google Shape;1042;p75"/>
          <p:cNvSpPr txBox="1"/>
          <p:nvPr>
            <p:ph idx="1" type="body"/>
          </p:nvPr>
        </p:nvSpPr>
        <p:spPr>
          <a:xfrm>
            <a:off x="6874723" y="1157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1043" name="Google Shape;1043;p75"/>
          <p:cNvSpPr/>
          <p:nvPr/>
        </p:nvSpPr>
        <p:spPr>
          <a:xfrm>
            <a:off x="6539816" y="669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44" name="Google Shape;1044;p75"/>
          <p:cNvGrpSpPr/>
          <p:nvPr/>
        </p:nvGrpSpPr>
        <p:grpSpPr>
          <a:xfrm rot="5400000">
            <a:off x="7051980" y="565243"/>
            <a:ext cx="1057366" cy="1784030"/>
            <a:chOff x="-2022025" y="1455875"/>
            <a:chExt cx="1057366" cy="1784030"/>
          </a:xfrm>
        </p:grpSpPr>
        <p:sp>
          <p:nvSpPr>
            <p:cNvPr id="1045" name="Google Shape;1045;p7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6" name="Google Shape;1046;p75"/>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47" name="Google Shape;1047;p75"/>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048" name="Google Shape;1048;p75"/>
          <p:cNvSpPr txBox="1"/>
          <p:nvPr>
            <p:ph idx="1" type="body"/>
          </p:nvPr>
        </p:nvSpPr>
        <p:spPr>
          <a:xfrm>
            <a:off x="1526125" y="2469575"/>
            <a:ext cx="16866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would just use tangent to find </a:t>
            </a:r>
            <a:r>
              <a:rPr i="1" lang="en-GB" sz="2000">
                <a:latin typeface="Times New Roman"/>
                <a:ea typeface="Times New Roman"/>
                <a:cs typeface="Times New Roman"/>
                <a:sym typeface="Times New Roman"/>
              </a:rPr>
              <a:t>x. </a:t>
            </a:r>
            <a:endParaRPr sz="1800"/>
          </a:p>
        </p:txBody>
      </p:sp>
      <p:pic>
        <p:nvPicPr>
          <p:cNvPr id="1049" name="Google Shape;1049;p75"/>
          <p:cNvPicPr preferRelativeResize="0"/>
          <p:nvPr/>
        </p:nvPicPr>
        <p:blipFill>
          <a:blip r:embed="rId3">
            <a:alphaModFix/>
          </a:blip>
          <a:stretch>
            <a:fillRect/>
          </a:stretch>
        </p:blipFill>
        <p:spPr>
          <a:xfrm flipH="1">
            <a:off x="660640" y="3331950"/>
            <a:ext cx="807760" cy="896090"/>
          </a:xfrm>
          <a:prstGeom prst="rect">
            <a:avLst/>
          </a:prstGeom>
          <a:noFill/>
          <a:ln>
            <a:noFill/>
          </a:ln>
        </p:spPr>
      </p:pic>
      <p:sp>
        <p:nvSpPr>
          <p:cNvPr id="1050" name="Google Shape;1050;p75"/>
          <p:cNvSpPr txBox="1"/>
          <p:nvPr/>
        </p:nvSpPr>
        <p:spPr>
          <a:xfrm>
            <a:off x="621875" y="4320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pic>
        <p:nvPicPr>
          <p:cNvPr id="1051" name="Google Shape;1051;p75"/>
          <p:cNvPicPr preferRelativeResize="0"/>
          <p:nvPr/>
        </p:nvPicPr>
        <p:blipFill rotWithShape="1">
          <a:blip r:embed="rId4">
            <a:alphaModFix/>
          </a:blip>
          <a:srcRect b="0" l="0" r="69082" t="56280"/>
          <a:stretch/>
        </p:blipFill>
        <p:spPr>
          <a:xfrm flipH="1">
            <a:off x="1373748" y="2314575"/>
            <a:ext cx="1955251" cy="1316250"/>
          </a:xfrm>
          <a:prstGeom prst="rect">
            <a:avLst/>
          </a:prstGeom>
          <a:noFill/>
          <a:ln>
            <a:noFill/>
          </a:ln>
        </p:spPr>
      </p:pic>
      <p:sp>
        <p:nvSpPr>
          <p:cNvPr id="1052" name="Google Shape;1052;p75"/>
          <p:cNvSpPr txBox="1"/>
          <p:nvPr>
            <p:ph idx="1" type="body"/>
          </p:nvPr>
        </p:nvSpPr>
        <p:spPr>
          <a:xfrm>
            <a:off x="4171538" y="228920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053" name="Google Shape;1053;p75"/>
          <p:cNvSpPr txBox="1"/>
          <p:nvPr>
            <p:ph idx="1" type="body"/>
          </p:nvPr>
        </p:nvSpPr>
        <p:spPr>
          <a:xfrm>
            <a:off x="5372961" y="2470106"/>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1054" name="Google Shape;1054;p75"/>
          <p:cNvSpPr txBox="1"/>
          <p:nvPr>
            <p:ph idx="1" type="body"/>
          </p:nvPr>
        </p:nvSpPr>
        <p:spPr>
          <a:xfrm>
            <a:off x="5390600" y="21388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055" name="Google Shape;1055;p75"/>
          <p:cNvCxnSpPr/>
          <p:nvPr/>
        </p:nvCxnSpPr>
        <p:spPr>
          <a:xfrm>
            <a:off x="5282875" y="2467283"/>
            <a:ext cx="361500" cy="0"/>
          </a:xfrm>
          <a:prstGeom prst="straightConnector1">
            <a:avLst/>
          </a:prstGeom>
          <a:noFill/>
          <a:ln cap="flat" cmpd="sng" w="19050">
            <a:solidFill>
              <a:schemeClr val="dk1"/>
            </a:solidFill>
            <a:prstDash val="solid"/>
            <a:round/>
            <a:headEnd len="med" w="med" type="none"/>
            <a:tailEnd len="med" w="med" type="none"/>
          </a:ln>
        </p:spPr>
      </p:cxnSp>
      <p:sp>
        <p:nvSpPr>
          <p:cNvPr id="1056" name="Google Shape;1056;p75"/>
          <p:cNvSpPr txBox="1"/>
          <p:nvPr>
            <p:ph idx="1" type="body"/>
          </p:nvPr>
        </p:nvSpPr>
        <p:spPr>
          <a:xfrm>
            <a:off x="4812450" y="2853325"/>
            <a:ext cx="1686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6 × tan(32°)</a:t>
            </a:r>
            <a:endParaRPr sz="2000">
              <a:latin typeface="Times New Roman"/>
              <a:ea typeface="Times New Roman"/>
              <a:cs typeface="Times New Roman"/>
              <a:sym typeface="Times New Roman"/>
            </a:endParaRPr>
          </a:p>
        </p:txBody>
      </p:sp>
      <p:sp>
        <p:nvSpPr>
          <p:cNvPr id="1057" name="Google Shape;1057;p75"/>
          <p:cNvSpPr txBox="1"/>
          <p:nvPr>
            <p:ph idx="1" type="body"/>
          </p:nvPr>
        </p:nvSpPr>
        <p:spPr>
          <a:xfrm>
            <a:off x="4886355" y="3331950"/>
            <a:ext cx="1686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3.7 (1dp)</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6"/>
          <p:cNvSpPr txBox="1"/>
          <p:nvPr>
            <p:ph idx="1" type="body"/>
          </p:nvPr>
        </p:nvSpPr>
        <p:spPr>
          <a:xfrm>
            <a:off x="324000" y="759300"/>
            <a:ext cx="56499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most efficient way to calculate </a:t>
            </a:r>
            <a:r>
              <a:rPr i="1" lang="en-GB" sz="2000">
                <a:latin typeface="Times New Roman"/>
                <a:ea typeface="Times New Roman"/>
                <a:cs typeface="Times New Roman"/>
                <a:sym typeface="Times New Roman"/>
              </a:rPr>
              <a:t>x</a:t>
            </a:r>
            <a:r>
              <a:rPr lang="en-GB" sz="1800"/>
              <a:t> is to use the </a:t>
            </a:r>
            <a:r>
              <a:rPr lang="en-GB" sz="1800">
                <a:solidFill>
                  <a:schemeClr val="accent4"/>
                </a:solidFill>
              </a:rPr>
              <a:t>tangent </a:t>
            </a:r>
            <a:r>
              <a:rPr lang="en-GB" sz="1800"/>
              <a:t>function.</a:t>
            </a:r>
            <a:endParaRPr sz="1800"/>
          </a:p>
        </p:txBody>
      </p:sp>
      <p:sp>
        <p:nvSpPr>
          <p:cNvPr id="1063" name="Google Shape;1063;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064" name="Google Shape;1064;p76"/>
          <p:cNvSpPr/>
          <p:nvPr/>
        </p:nvSpPr>
        <p:spPr>
          <a:xfrm>
            <a:off x="6809875" y="1693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5" name="Google Shape;1065;p76"/>
          <p:cNvSpPr/>
          <p:nvPr/>
        </p:nvSpPr>
        <p:spPr>
          <a:xfrm>
            <a:off x="8108700" y="1531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6" name="Google Shape;1066;p76"/>
          <p:cNvSpPr txBox="1"/>
          <p:nvPr>
            <p:ph idx="1" type="body"/>
          </p:nvPr>
        </p:nvSpPr>
        <p:spPr>
          <a:xfrm>
            <a:off x="7712923" y="16147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067" name="Google Shape;1067;p76"/>
          <p:cNvSpPr txBox="1"/>
          <p:nvPr>
            <p:ph idx="1" type="body"/>
          </p:nvPr>
        </p:nvSpPr>
        <p:spPr>
          <a:xfrm>
            <a:off x="7458105" y="197307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068" name="Google Shape;1068;p76"/>
          <p:cNvSpPr txBox="1"/>
          <p:nvPr>
            <p:ph idx="1" type="body"/>
          </p:nvPr>
        </p:nvSpPr>
        <p:spPr>
          <a:xfrm>
            <a:off x="6122152" y="12585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069" name="Google Shape;1069;p76"/>
          <p:cNvSpPr txBox="1"/>
          <p:nvPr>
            <p:ph idx="1" type="body"/>
          </p:nvPr>
        </p:nvSpPr>
        <p:spPr>
          <a:xfrm>
            <a:off x="6874723" y="1157575"/>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1070" name="Google Shape;1070;p76"/>
          <p:cNvSpPr/>
          <p:nvPr/>
        </p:nvSpPr>
        <p:spPr>
          <a:xfrm>
            <a:off x="6539816" y="669982"/>
            <a:ext cx="510600" cy="510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1" name="Google Shape;1071;p76"/>
          <p:cNvSpPr txBox="1"/>
          <p:nvPr>
            <p:ph idx="1" type="body"/>
          </p:nvPr>
        </p:nvSpPr>
        <p:spPr>
          <a:xfrm>
            <a:off x="2951625" y="2294250"/>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072" name="Google Shape;1072;p76"/>
          <p:cNvSpPr txBox="1"/>
          <p:nvPr>
            <p:ph idx="1" type="body"/>
          </p:nvPr>
        </p:nvSpPr>
        <p:spPr>
          <a:xfrm>
            <a:off x="4220919" y="21703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a:t>
            </a:r>
            <a:endParaRPr sz="1800"/>
          </a:p>
        </p:txBody>
      </p:sp>
      <p:sp>
        <p:nvSpPr>
          <p:cNvPr id="1073" name="Google Shape;1073;p76"/>
          <p:cNvSpPr txBox="1"/>
          <p:nvPr>
            <p:ph idx="1" type="body"/>
          </p:nvPr>
        </p:nvSpPr>
        <p:spPr>
          <a:xfrm>
            <a:off x="4212100" y="244868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a:t>
            </a:r>
            <a:endParaRPr sz="1800"/>
          </a:p>
        </p:txBody>
      </p:sp>
      <p:cxnSp>
        <p:nvCxnSpPr>
          <p:cNvPr id="1074" name="Google Shape;1074;p76"/>
          <p:cNvCxnSpPr/>
          <p:nvPr/>
        </p:nvCxnSpPr>
        <p:spPr>
          <a:xfrm>
            <a:off x="4104375" y="2472325"/>
            <a:ext cx="361500" cy="0"/>
          </a:xfrm>
          <a:prstGeom prst="straightConnector1">
            <a:avLst/>
          </a:prstGeom>
          <a:noFill/>
          <a:ln cap="flat" cmpd="sng" w="19050">
            <a:solidFill>
              <a:schemeClr val="dk1"/>
            </a:solidFill>
            <a:prstDash val="solid"/>
            <a:round/>
            <a:headEnd len="med" w="med" type="none"/>
            <a:tailEnd len="med" w="med" type="none"/>
          </a:ln>
        </p:spPr>
      </p:cxnSp>
      <p:grpSp>
        <p:nvGrpSpPr>
          <p:cNvPr id="1075" name="Google Shape;1075;p76"/>
          <p:cNvGrpSpPr/>
          <p:nvPr/>
        </p:nvGrpSpPr>
        <p:grpSpPr>
          <a:xfrm rot="5400000">
            <a:off x="7051980" y="565243"/>
            <a:ext cx="1057366" cy="1784030"/>
            <a:chOff x="-2022025" y="1455875"/>
            <a:chExt cx="1057366" cy="1784030"/>
          </a:xfrm>
        </p:grpSpPr>
        <p:sp>
          <p:nvSpPr>
            <p:cNvPr id="1076" name="Google Shape;1076;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77" name="Google Shape;1077;p76"/>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78" name="Google Shape;1078;p76"/>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079" name="Google Shape;1079;p76"/>
          <p:cNvSpPr txBox="1"/>
          <p:nvPr>
            <p:ph idx="1" type="body"/>
          </p:nvPr>
        </p:nvSpPr>
        <p:spPr>
          <a:xfrm>
            <a:off x="853525" y="228920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tan(32°</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080" name="Google Shape;1080;p76"/>
          <p:cNvSpPr txBox="1"/>
          <p:nvPr>
            <p:ph idx="1" type="body"/>
          </p:nvPr>
        </p:nvSpPr>
        <p:spPr>
          <a:xfrm>
            <a:off x="2020161" y="2470106"/>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1081" name="Google Shape;1081;p76"/>
          <p:cNvSpPr txBox="1"/>
          <p:nvPr>
            <p:ph idx="1" type="body"/>
          </p:nvPr>
        </p:nvSpPr>
        <p:spPr>
          <a:xfrm>
            <a:off x="2037800" y="21388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a:t>
            </a:r>
            <a:endParaRPr sz="1800"/>
          </a:p>
        </p:txBody>
      </p:sp>
      <p:cxnSp>
        <p:nvCxnSpPr>
          <p:cNvPr id="1082" name="Google Shape;1082;p76"/>
          <p:cNvCxnSpPr/>
          <p:nvPr/>
        </p:nvCxnSpPr>
        <p:spPr>
          <a:xfrm>
            <a:off x="1930075" y="2467283"/>
            <a:ext cx="361500" cy="0"/>
          </a:xfrm>
          <a:prstGeom prst="straightConnector1">
            <a:avLst/>
          </a:prstGeom>
          <a:noFill/>
          <a:ln cap="flat" cmpd="sng" w="19050">
            <a:solidFill>
              <a:schemeClr val="dk1"/>
            </a:solidFill>
            <a:prstDash val="solid"/>
            <a:round/>
            <a:headEnd len="med" w="med" type="none"/>
            <a:tailEnd len="med" w="med" type="none"/>
          </a:ln>
        </p:spPr>
      </p:cxnSp>
      <p:sp>
        <p:nvSpPr>
          <p:cNvPr id="1083" name="Google Shape;1083;p76"/>
          <p:cNvSpPr txBox="1"/>
          <p:nvPr>
            <p:ph idx="1" type="body"/>
          </p:nvPr>
        </p:nvSpPr>
        <p:spPr>
          <a:xfrm>
            <a:off x="5049725" y="2294250"/>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tan(58°</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084" name="Google Shape;1084;p76"/>
          <p:cNvSpPr txBox="1"/>
          <p:nvPr>
            <p:ph idx="1" type="body"/>
          </p:nvPr>
        </p:nvSpPr>
        <p:spPr>
          <a:xfrm>
            <a:off x="6319019" y="21703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1085" name="Google Shape;1085;p76"/>
          <p:cNvSpPr txBox="1"/>
          <p:nvPr>
            <p:ph idx="1" type="body"/>
          </p:nvPr>
        </p:nvSpPr>
        <p:spPr>
          <a:xfrm>
            <a:off x="6310200" y="244868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a:t>
            </a:r>
            <a:endParaRPr sz="1800"/>
          </a:p>
        </p:txBody>
      </p:sp>
      <p:cxnSp>
        <p:nvCxnSpPr>
          <p:cNvPr id="1086" name="Google Shape;1086;p76"/>
          <p:cNvCxnSpPr/>
          <p:nvPr/>
        </p:nvCxnSpPr>
        <p:spPr>
          <a:xfrm>
            <a:off x="6202475" y="2472325"/>
            <a:ext cx="361500" cy="0"/>
          </a:xfrm>
          <a:prstGeom prst="straightConnector1">
            <a:avLst/>
          </a:prstGeom>
          <a:noFill/>
          <a:ln cap="flat" cmpd="sng" w="19050">
            <a:solidFill>
              <a:schemeClr val="dk1"/>
            </a:solidFill>
            <a:prstDash val="solid"/>
            <a:round/>
            <a:headEnd len="med" w="med" type="none"/>
            <a:tailEnd len="med" w="med" type="none"/>
          </a:ln>
        </p:spPr>
      </p:cxnSp>
      <p:sp>
        <p:nvSpPr>
          <p:cNvPr id="1087" name="Google Shape;1087;p76"/>
          <p:cNvSpPr txBox="1"/>
          <p:nvPr>
            <p:ph idx="1" type="body"/>
          </p:nvPr>
        </p:nvSpPr>
        <p:spPr>
          <a:xfrm>
            <a:off x="324000" y="1676650"/>
            <a:ext cx="56499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Are all of these methods equivalent?</a:t>
            </a:r>
            <a:endParaRPr sz="1800"/>
          </a:p>
        </p:txBody>
      </p:sp>
      <p:sp>
        <p:nvSpPr>
          <p:cNvPr id="1088" name="Google Shape;1088;p76"/>
          <p:cNvSpPr txBox="1"/>
          <p:nvPr>
            <p:ph idx="1" type="body"/>
          </p:nvPr>
        </p:nvSpPr>
        <p:spPr>
          <a:xfrm>
            <a:off x="324000" y="4107600"/>
            <a:ext cx="84960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With the tangent function, it is really important to make sure the ‘opposite’ for your chosen angle is divided by the ‘adjacent’.</a:t>
            </a:r>
            <a:br>
              <a:rPr lang="en-GB" sz="1800"/>
            </a:br>
            <a:endParaRPr sz="1800"/>
          </a:p>
        </p:txBody>
      </p:sp>
      <p:pic>
        <p:nvPicPr>
          <p:cNvPr id="1089" name="Google Shape;1089;p76"/>
          <p:cNvPicPr preferRelativeResize="0"/>
          <p:nvPr/>
        </p:nvPicPr>
        <p:blipFill>
          <a:blip r:embed="rId3">
            <a:alphaModFix/>
          </a:blip>
          <a:stretch>
            <a:fillRect/>
          </a:stretch>
        </p:blipFill>
        <p:spPr>
          <a:xfrm>
            <a:off x="2230408" y="2429350"/>
            <a:ext cx="396000" cy="419100"/>
          </a:xfrm>
          <a:prstGeom prst="rect">
            <a:avLst/>
          </a:prstGeom>
          <a:noFill/>
          <a:ln>
            <a:noFill/>
          </a:ln>
        </p:spPr>
      </p:pic>
      <p:pic>
        <p:nvPicPr>
          <p:cNvPr id="1090" name="Google Shape;1090;p76"/>
          <p:cNvPicPr preferRelativeResize="0"/>
          <p:nvPr/>
        </p:nvPicPr>
        <p:blipFill>
          <a:blip r:embed="rId3">
            <a:alphaModFix/>
          </a:blip>
          <a:stretch>
            <a:fillRect/>
          </a:stretch>
        </p:blipFill>
        <p:spPr>
          <a:xfrm>
            <a:off x="6435388" y="2472471"/>
            <a:ext cx="396000" cy="419100"/>
          </a:xfrm>
          <a:prstGeom prst="rect">
            <a:avLst/>
          </a:prstGeom>
          <a:noFill/>
          <a:ln>
            <a:noFill/>
          </a:ln>
        </p:spPr>
      </p:pic>
      <p:grpSp>
        <p:nvGrpSpPr>
          <p:cNvPr id="1091" name="Google Shape;1091;p76"/>
          <p:cNvGrpSpPr/>
          <p:nvPr/>
        </p:nvGrpSpPr>
        <p:grpSpPr>
          <a:xfrm>
            <a:off x="2886525" y="2177695"/>
            <a:ext cx="1922988" cy="714381"/>
            <a:chOff x="2886525" y="2177695"/>
            <a:chExt cx="1922988" cy="714381"/>
          </a:xfrm>
        </p:grpSpPr>
        <p:sp>
          <p:nvSpPr>
            <p:cNvPr id="1092" name="Google Shape;1092;p76"/>
            <p:cNvSpPr/>
            <p:nvPr/>
          </p:nvSpPr>
          <p:spPr>
            <a:xfrm>
              <a:off x="2886525" y="2177695"/>
              <a:ext cx="1579500" cy="613500"/>
            </a:xfrm>
            <a:prstGeom prst="rect">
              <a:avLst/>
            </a:prstGeom>
            <a:solidFill>
              <a:srgbClr val="FFFFFF">
                <a:alpha val="478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93" name="Google Shape;1093;p76"/>
            <p:cNvPicPr preferRelativeResize="0"/>
            <p:nvPr/>
          </p:nvPicPr>
          <p:blipFill>
            <a:blip r:embed="rId4">
              <a:alphaModFix/>
            </a:blip>
            <a:stretch>
              <a:fillRect/>
            </a:stretch>
          </p:blipFill>
          <p:spPr>
            <a:xfrm>
              <a:off x="4413513" y="2472317"/>
              <a:ext cx="396000" cy="419760"/>
            </a:xfrm>
            <a:prstGeom prst="rect">
              <a:avLst/>
            </a:prstGeom>
            <a:noFill/>
            <a:ln>
              <a:noFill/>
            </a:ln>
          </p:spPr>
        </p:pic>
      </p:grpSp>
      <p:sp>
        <p:nvSpPr>
          <p:cNvPr id="1094" name="Google Shape;1094;p76"/>
          <p:cNvSpPr txBox="1"/>
          <p:nvPr/>
        </p:nvSpPr>
        <p:spPr>
          <a:xfrm>
            <a:off x="324000" y="3524657"/>
            <a:ext cx="86499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200"/>
              </a:spcAft>
              <a:buNone/>
            </a:pPr>
            <a:r>
              <a:rPr lang="en-GB" sz="2000">
                <a:solidFill>
                  <a:schemeClr val="dk1"/>
                </a:solidFill>
                <a:latin typeface="Kalam"/>
                <a:ea typeface="Kalam"/>
                <a:cs typeface="Kalam"/>
                <a:sym typeface="Kalam"/>
              </a:rPr>
              <a:t>If the focus angle is 58° then the opposite is 6 cm and the adjacent is </a:t>
            </a:r>
            <a:r>
              <a:rPr i="1" lang="en-GB" sz="2000">
                <a:solidFill>
                  <a:schemeClr val="dk1"/>
                </a:solidFill>
                <a:latin typeface="Kalam"/>
                <a:ea typeface="Kalam"/>
                <a:cs typeface="Kalam"/>
                <a:sym typeface="Kalam"/>
              </a:rPr>
              <a:t>x</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095" name="Google Shape;1095;p76"/>
          <p:cNvSpPr txBox="1"/>
          <p:nvPr/>
        </p:nvSpPr>
        <p:spPr>
          <a:xfrm>
            <a:off x="324000" y="3130669"/>
            <a:ext cx="86499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200"/>
              </a:spcAft>
              <a:buNone/>
            </a:pPr>
            <a:r>
              <a:rPr lang="en-GB" sz="2000">
                <a:solidFill>
                  <a:schemeClr val="dk1"/>
                </a:solidFill>
                <a:latin typeface="Kalam"/>
                <a:ea typeface="Kalam"/>
                <a:cs typeface="Kalam"/>
                <a:sym typeface="Kalam"/>
              </a:rPr>
              <a:t>If the focus angle is 32° then the opposite is </a:t>
            </a:r>
            <a:r>
              <a:rPr i="1" lang="en-GB" sz="2000">
                <a:solidFill>
                  <a:schemeClr val="dk1"/>
                </a:solidFill>
                <a:latin typeface="Kalam"/>
                <a:ea typeface="Kalam"/>
                <a:cs typeface="Kalam"/>
                <a:sym typeface="Kalam"/>
              </a:rPr>
              <a:t>x</a:t>
            </a:r>
            <a:r>
              <a:rPr lang="en-GB" sz="2000">
                <a:solidFill>
                  <a:schemeClr val="dk1"/>
                </a:solidFill>
                <a:latin typeface="Kalam"/>
                <a:ea typeface="Kalam"/>
                <a:cs typeface="Kalam"/>
                <a:sym typeface="Kalam"/>
              </a:rPr>
              <a:t> cm and the adjacent is 6 cm.</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grpSp>
        <p:nvGrpSpPr>
          <p:cNvPr id="1100" name="Google Shape;1100;p77"/>
          <p:cNvGrpSpPr/>
          <p:nvPr/>
        </p:nvGrpSpPr>
        <p:grpSpPr>
          <a:xfrm flipH="1" rot="-5400000">
            <a:off x="6103474" y="61099"/>
            <a:ext cx="1044466" cy="2779497"/>
            <a:chOff x="-2022025" y="1455875"/>
            <a:chExt cx="1057366" cy="1736426"/>
          </a:xfrm>
        </p:grpSpPr>
        <p:sp>
          <p:nvSpPr>
            <p:cNvPr id="1101" name="Google Shape;1101;p77"/>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2" name="Google Shape;1102;p77"/>
            <p:cNvCxnSpPr/>
            <p:nvPr/>
          </p:nvCxnSpPr>
          <p:spPr>
            <a:xfrm rot="10800000">
              <a:off x="-2022025" y="3192301"/>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103" name="Google Shape;1103;p77"/>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104" name="Google Shape;1104;p77"/>
          <p:cNvSpPr txBox="1"/>
          <p:nvPr>
            <p:ph idx="1" type="body"/>
          </p:nvPr>
        </p:nvSpPr>
        <p:spPr>
          <a:xfrm>
            <a:off x="324000" y="759300"/>
            <a:ext cx="8237700" cy="42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Complete the equation.</a:t>
            </a:r>
            <a:endParaRPr/>
          </a:p>
        </p:txBody>
      </p:sp>
      <p:sp>
        <p:nvSpPr>
          <p:cNvPr id="1105" name="Google Shape;1105;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106" name="Google Shape;1106;p77"/>
          <p:cNvSpPr/>
          <p:nvPr/>
        </p:nvSpPr>
        <p:spPr>
          <a:xfrm>
            <a:off x="7713725" y="16796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7" name="Google Shape;1107;p77"/>
          <p:cNvSpPr/>
          <p:nvPr/>
        </p:nvSpPr>
        <p:spPr>
          <a:xfrm flipH="1">
            <a:off x="5020200" y="15176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8" name="Google Shape;1108;p77"/>
          <p:cNvSpPr txBox="1"/>
          <p:nvPr>
            <p:ph idx="1" type="body"/>
          </p:nvPr>
        </p:nvSpPr>
        <p:spPr>
          <a:xfrm>
            <a:off x="6025375" y="1568008"/>
            <a:ext cx="486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19</a:t>
            </a:r>
            <a:r>
              <a:rPr lang="en-GB"/>
              <a:t>°</a:t>
            </a:r>
            <a:endParaRPr/>
          </a:p>
        </p:txBody>
      </p:sp>
      <p:sp>
        <p:nvSpPr>
          <p:cNvPr id="1109" name="Google Shape;1109;p77"/>
          <p:cNvSpPr txBox="1"/>
          <p:nvPr>
            <p:ph idx="1" type="body"/>
          </p:nvPr>
        </p:nvSpPr>
        <p:spPr>
          <a:xfrm>
            <a:off x="8087724" y="1281795"/>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a:t>
            </a:r>
            <a:r>
              <a:rPr lang="en-GB"/>
              <a:t> cm</a:t>
            </a:r>
            <a:endParaRPr/>
          </a:p>
        </p:txBody>
      </p:sp>
      <p:sp>
        <p:nvSpPr>
          <p:cNvPr id="1110" name="Google Shape;1110;p77"/>
          <p:cNvSpPr txBox="1"/>
          <p:nvPr>
            <p:ph idx="1" type="body"/>
          </p:nvPr>
        </p:nvSpPr>
        <p:spPr>
          <a:xfrm>
            <a:off x="6409277" y="1961510"/>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400">
                <a:latin typeface="Times New Roman"/>
                <a:ea typeface="Times New Roman"/>
                <a:cs typeface="Times New Roman"/>
                <a:sym typeface="Times New Roman"/>
              </a:rPr>
              <a:t>x</a:t>
            </a:r>
            <a:r>
              <a:rPr i="1" lang="en-GB">
                <a:latin typeface="Times New Roman"/>
                <a:ea typeface="Times New Roman"/>
                <a:cs typeface="Times New Roman"/>
                <a:sym typeface="Times New Roman"/>
              </a:rPr>
              <a:t> </a:t>
            </a:r>
            <a:r>
              <a:rPr lang="en-GB"/>
              <a:t>cm</a:t>
            </a:r>
            <a:endParaRPr/>
          </a:p>
        </p:txBody>
      </p:sp>
      <p:sp>
        <p:nvSpPr>
          <p:cNvPr id="1111" name="Google Shape;1111;p77"/>
          <p:cNvSpPr txBox="1"/>
          <p:nvPr>
            <p:ph idx="1" type="body"/>
          </p:nvPr>
        </p:nvSpPr>
        <p:spPr>
          <a:xfrm>
            <a:off x="7393767" y="1131200"/>
            <a:ext cx="486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71</a:t>
            </a:r>
            <a:r>
              <a:rPr lang="en-GB"/>
              <a:t>°</a:t>
            </a:r>
            <a:endParaRPr/>
          </a:p>
        </p:txBody>
      </p:sp>
      <p:sp>
        <p:nvSpPr>
          <p:cNvPr id="1112" name="Google Shape;1112;p77"/>
          <p:cNvSpPr/>
          <p:nvPr/>
        </p:nvSpPr>
        <p:spPr>
          <a:xfrm flipH="1">
            <a:off x="7621801" y="598499"/>
            <a:ext cx="558900" cy="588600"/>
          </a:xfrm>
          <a:prstGeom prst="arc">
            <a:avLst>
              <a:gd fmla="val 1669315" name="adj1"/>
              <a:gd fmla="val 53514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3" name="Google Shape;1113;p77"/>
          <p:cNvSpPr txBox="1"/>
          <p:nvPr>
            <p:ph idx="1" type="body"/>
          </p:nvPr>
        </p:nvSpPr>
        <p:spPr>
          <a:xfrm>
            <a:off x="1226675" y="1855300"/>
            <a:ext cx="1480800" cy="42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t</a:t>
            </a:r>
            <a:r>
              <a:rPr lang="en-GB" sz="2400">
                <a:latin typeface="Times New Roman"/>
                <a:ea typeface="Times New Roman"/>
                <a:cs typeface="Times New Roman"/>
                <a:sym typeface="Times New Roman"/>
              </a:rPr>
              <a:t>an (      </a:t>
            </a:r>
            <a:r>
              <a:rPr lang="en-GB" sz="1800"/>
              <a:t>°</a:t>
            </a:r>
            <a:r>
              <a:rPr lang="en-GB"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1114" name="Google Shape;1114;p77"/>
          <p:cNvSpPr txBox="1"/>
          <p:nvPr>
            <p:ph idx="1" type="body"/>
          </p:nvPr>
        </p:nvSpPr>
        <p:spPr>
          <a:xfrm>
            <a:off x="2892153" y="2058814"/>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4</a:t>
            </a:r>
            <a:r>
              <a:rPr lang="en-GB"/>
              <a:t> </a:t>
            </a:r>
            <a:endParaRPr/>
          </a:p>
        </p:txBody>
      </p:sp>
      <p:sp>
        <p:nvSpPr>
          <p:cNvPr id="1115" name="Google Shape;1115;p77"/>
          <p:cNvSpPr txBox="1"/>
          <p:nvPr>
            <p:ph idx="1" type="body"/>
          </p:nvPr>
        </p:nvSpPr>
        <p:spPr>
          <a:xfrm>
            <a:off x="2909792" y="1679089"/>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400">
                <a:latin typeface="Times New Roman"/>
                <a:ea typeface="Times New Roman"/>
                <a:cs typeface="Times New Roman"/>
                <a:sym typeface="Times New Roman"/>
              </a:rPr>
              <a:t>x</a:t>
            </a:r>
            <a:r>
              <a:rPr lang="en-GB" sz="2400"/>
              <a:t>  </a:t>
            </a:r>
            <a:endParaRPr sz="2400"/>
          </a:p>
        </p:txBody>
      </p:sp>
      <p:cxnSp>
        <p:nvCxnSpPr>
          <p:cNvPr id="1116" name="Google Shape;1116;p77"/>
          <p:cNvCxnSpPr/>
          <p:nvPr/>
        </p:nvCxnSpPr>
        <p:spPr>
          <a:xfrm>
            <a:off x="2802067" y="2055992"/>
            <a:ext cx="361500" cy="0"/>
          </a:xfrm>
          <a:prstGeom prst="straightConnector1">
            <a:avLst/>
          </a:prstGeom>
          <a:noFill/>
          <a:ln cap="flat" cmpd="sng" w="19050">
            <a:solidFill>
              <a:schemeClr val="dk1"/>
            </a:solidFill>
            <a:prstDash val="solid"/>
            <a:round/>
            <a:headEnd len="med" w="med" type="none"/>
            <a:tailEnd len="med" w="med" type="none"/>
          </a:ln>
        </p:spPr>
      </p:cxnSp>
      <p:cxnSp>
        <p:nvCxnSpPr>
          <p:cNvPr id="1117" name="Google Shape;1117;p77"/>
          <p:cNvCxnSpPr/>
          <p:nvPr/>
        </p:nvCxnSpPr>
        <p:spPr>
          <a:xfrm>
            <a:off x="1816900" y="2209450"/>
            <a:ext cx="393600" cy="0"/>
          </a:xfrm>
          <a:prstGeom prst="straightConnector1">
            <a:avLst/>
          </a:prstGeom>
          <a:noFill/>
          <a:ln cap="flat" cmpd="sng" w="38100">
            <a:solidFill>
              <a:schemeClr val="dk1"/>
            </a:solidFill>
            <a:prstDash val="solid"/>
            <a:round/>
            <a:headEnd len="med" w="med" type="none"/>
            <a:tailEnd len="med" w="med" type="none"/>
          </a:ln>
        </p:spPr>
      </p:cxnSp>
      <p:sp>
        <p:nvSpPr>
          <p:cNvPr id="1118" name="Google Shape;1118;p77"/>
          <p:cNvSpPr txBox="1"/>
          <p:nvPr>
            <p:ph idx="1" type="body"/>
          </p:nvPr>
        </p:nvSpPr>
        <p:spPr>
          <a:xfrm>
            <a:off x="1884648" y="1908400"/>
            <a:ext cx="403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71</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78"/>
          <p:cNvSpPr txBox="1"/>
          <p:nvPr>
            <p:ph idx="1" type="body"/>
          </p:nvPr>
        </p:nvSpPr>
        <p:spPr>
          <a:xfrm>
            <a:off x="324000" y="759300"/>
            <a:ext cx="56499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most efficient way to calculate </a:t>
            </a:r>
            <a:r>
              <a:rPr i="1" lang="en-GB" sz="2000">
                <a:latin typeface="Times New Roman"/>
                <a:ea typeface="Times New Roman"/>
                <a:cs typeface="Times New Roman"/>
                <a:sym typeface="Times New Roman"/>
              </a:rPr>
              <a:t>x</a:t>
            </a:r>
            <a:r>
              <a:rPr lang="en-GB" sz="1800"/>
              <a:t> here is to use the </a:t>
            </a:r>
            <a:r>
              <a:rPr lang="en-GB" sz="1800">
                <a:solidFill>
                  <a:schemeClr val="accent4"/>
                </a:solidFill>
              </a:rPr>
              <a:t>sine</a:t>
            </a:r>
            <a:r>
              <a:rPr lang="en-GB" sz="1800">
                <a:solidFill>
                  <a:schemeClr val="accent4"/>
                </a:solidFill>
              </a:rPr>
              <a:t> </a:t>
            </a:r>
            <a:r>
              <a:rPr lang="en-GB" sz="1800"/>
              <a:t>function, but is there another way?</a:t>
            </a:r>
            <a:endParaRPr sz="1800"/>
          </a:p>
        </p:txBody>
      </p:sp>
      <p:sp>
        <p:nvSpPr>
          <p:cNvPr id="1124" name="Google Shape;1124;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125" name="Google Shape;1125;p78"/>
          <p:cNvSpPr txBox="1"/>
          <p:nvPr>
            <p:ph idx="1" type="body"/>
          </p:nvPr>
        </p:nvSpPr>
        <p:spPr>
          <a:xfrm>
            <a:off x="6092577" y="12863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grpSp>
        <p:nvGrpSpPr>
          <p:cNvPr id="1126" name="Google Shape;1126;p78"/>
          <p:cNvGrpSpPr/>
          <p:nvPr/>
        </p:nvGrpSpPr>
        <p:grpSpPr>
          <a:xfrm rot="5400000">
            <a:off x="7100213" y="517010"/>
            <a:ext cx="1037100" cy="1860230"/>
            <a:chOff x="-2098225" y="1379675"/>
            <a:chExt cx="1037100" cy="1860230"/>
          </a:xfrm>
        </p:grpSpPr>
        <p:sp>
          <p:nvSpPr>
            <p:cNvPr id="1127" name="Google Shape;1127;p7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28" name="Google Shape;1128;p78"/>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29" name="Google Shape;1129;p78"/>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30" name="Google Shape;1130;p78"/>
          <p:cNvSpPr/>
          <p:nvPr/>
        </p:nvSpPr>
        <p:spPr>
          <a:xfrm>
            <a:off x="6809875" y="1769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1" name="Google Shape;1131;p78"/>
          <p:cNvSpPr/>
          <p:nvPr/>
        </p:nvSpPr>
        <p:spPr>
          <a:xfrm>
            <a:off x="8108700" y="1607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2" name="Google Shape;1132;p78"/>
          <p:cNvSpPr txBox="1"/>
          <p:nvPr>
            <p:ph idx="1" type="body"/>
          </p:nvPr>
        </p:nvSpPr>
        <p:spPr>
          <a:xfrm>
            <a:off x="7710903" y="1690975"/>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a:t>
            </a:r>
            <a:r>
              <a:rPr lang="en-GB" sz="1800"/>
              <a:t>°</a:t>
            </a:r>
            <a:endParaRPr sz="1800"/>
          </a:p>
        </p:txBody>
      </p:sp>
      <p:sp>
        <p:nvSpPr>
          <p:cNvPr id="1133" name="Google Shape;1133;p78"/>
          <p:cNvSpPr txBox="1"/>
          <p:nvPr>
            <p:ph idx="1" type="body"/>
          </p:nvPr>
        </p:nvSpPr>
        <p:spPr>
          <a:xfrm>
            <a:off x="7645674" y="1075400"/>
            <a:ext cx="903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14.1 cm</a:t>
            </a:r>
            <a:endParaRPr sz="1800"/>
          </a:p>
        </p:txBody>
      </p:sp>
      <p:sp>
        <p:nvSpPr>
          <p:cNvPr id="1134" name="Google Shape;1134;p78"/>
          <p:cNvSpPr txBox="1"/>
          <p:nvPr>
            <p:ph idx="1" type="body"/>
          </p:nvPr>
        </p:nvSpPr>
        <p:spPr>
          <a:xfrm>
            <a:off x="324000" y="1651500"/>
            <a:ext cx="56499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third angle of this triangle can be calculated as 63°, then the edge marked </a:t>
            </a:r>
            <a:r>
              <a:rPr i="1" lang="en-GB">
                <a:latin typeface="Times New Roman"/>
                <a:ea typeface="Times New Roman"/>
                <a:cs typeface="Times New Roman"/>
                <a:sym typeface="Times New Roman"/>
              </a:rPr>
              <a:t>x</a:t>
            </a:r>
            <a:r>
              <a:rPr lang="en-GB" sz="2000">
                <a:latin typeface="Kalam"/>
                <a:ea typeface="Kalam"/>
                <a:cs typeface="Kalam"/>
                <a:sym typeface="Kalam"/>
              </a:rPr>
              <a:t> is the adjacent to the third angle and </a:t>
            </a:r>
            <a:r>
              <a:rPr lang="en-GB" sz="2000">
                <a:solidFill>
                  <a:schemeClr val="accent4"/>
                </a:solidFill>
                <a:latin typeface="Kalam"/>
                <a:ea typeface="Kalam"/>
                <a:cs typeface="Kalam"/>
                <a:sym typeface="Kalam"/>
              </a:rPr>
              <a:t>cosine </a:t>
            </a:r>
            <a:r>
              <a:rPr lang="en-GB" sz="2000">
                <a:latin typeface="Kalam"/>
                <a:ea typeface="Kalam"/>
                <a:cs typeface="Kalam"/>
                <a:sym typeface="Kalam"/>
              </a:rPr>
              <a:t>could</a:t>
            </a:r>
            <a:r>
              <a:rPr lang="en-GB" sz="2000">
                <a:latin typeface="Kalam"/>
                <a:ea typeface="Kalam"/>
                <a:cs typeface="Kalam"/>
                <a:sym typeface="Kalam"/>
              </a:rPr>
              <a:t> be used instead.</a:t>
            </a:r>
            <a:endParaRPr sz="2000">
              <a:latin typeface="Kalam"/>
              <a:ea typeface="Kalam"/>
              <a:cs typeface="Kalam"/>
              <a:sym typeface="Kalam"/>
            </a:endParaRPr>
          </a:p>
        </p:txBody>
      </p:sp>
      <p:sp>
        <p:nvSpPr>
          <p:cNvPr id="1135" name="Google Shape;1135;p78"/>
          <p:cNvSpPr txBox="1"/>
          <p:nvPr>
            <p:ph idx="1" type="body"/>
          </p:nvPr>
        </p:nvSpPr>
        <p:spPr>
          <a:xfrm>
            <a:off x="6836596" y="1202204"/>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63</a:t>
            </a:r>
            <a:r>
              <a:rPr lang="en-GB" sz="2000">
                <a:latin typeface="Kalam"/>
                <a:ea typeface="Kalam"/>
                <a:cs typeface="Kalam"/>
                <a:sym typeface="Kalam"/>
              </a:rPr>
              <a:t>°</a:t>
            </a:r>
            <a:endParaRPr sz="2000">
              <a:latin typeface="Kalam"/>
              <a:ea typeface="Kalam"/>
              <a:cs typeface="Kalam"/>
              <a:sym typeface="Kalam"/>
            </a:endParaRPr>
          </a:p>
        </p:txBody>
      </p:sp>
      <p:sp>
        <p:nvSpPr>
          <p:cNvPr id="1136" name="Google Shape;1136;p78"/>
          <p:cNvSpPr/>
          <p:nvPr/>
        </p:nvSpPr>
        <p:spPr>
          <a:xfrm>
            <a:off x="6565848" y="765546"/>
            <a:ext cx="476100" cy="476100"/>
          </a:xfrm>
          <a:prstGeom prst="arc">
            <a:avLst>
              <a:gd fmla="val 1776288" name="adj1"/>
              <a:gd fmla="val 540667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7" name="Google Shape;1137;p78"/>
          <p:cNvSpPr txBox="1"/>
          <p:nvPr>
            <p:ph idx="1" type="body"/>
          </p:nvPr>
        </p:nvSpPr>
        <p:spPr>
          <a:xfrm>
            <a:off x="777325" y="305120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27°</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138" name="Google Shape;1138;p78"/>
          <p:cNvSpPr txBox="1"/>
          <p:nvPr>
            <p:ph idx="1" type="body"/>
          </p:nvPr>
        </p:nvSpPr>
        <p:spPr>
          <a:xfrm>
            <a:off x="1905179" y="325694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14.1</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139" name="Google Shape;1139;p78"/>
          <p:cNvSpPr txBox="1"/>
          <p:nvPr>
            <p:ph idx="1" type="body"/>
          </p:nvPr>
        </p:nvSpPr>
        <p:spPr>
          <a:xfrm>
            <a:off x="2060617" y="29008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a:t>
            </a:r>
            <a:endParaRPr sz="1800"/>
          </a:p>
        </p:txBody>
      </p:sp>
      <p:cxnSp>
        <p:nvCxnSpPr>
          <p:cNvPr id="1140" name="Google Shape;1140;p78"/>
          <p:cNvCxnSpPr/>
          <p:nvPr/>
        </p:nvCxnSpPr>
        <p:spPr>
          <a:xfrm>
            <a:off x="1894914" y="3229283"/>
            <a:ext cx="447000" cy="0"/>
          </a:xfrm>
          <a:prstGeom prst="straightConnector1">
            <a:avLst/>
          </a:prstGeom>
          <a:noFill/>
          <a:ln cap="flat" cmpd="sng" w="19050">
            <a:solidFill>
              <a:schemeClr val="dk1"/>
            </a:solidFill>
            <a:prstDash val="solid"/>
            <a:round/>
            <a:headEnd len="med" w="med" type="none"/>
            <a:tailEnd len="med" w="med" type="none"/>
          </a:ln>
        </p:spPr>
      </p:cxnSp>
      <p:sp>
        <p:nvSpPr>
          <p:cNvPr id="1141" name="Google Shape;1141;p78"/>
          <p:cNvSpPr txBox="1"/>
          <p:nvPr>
            <p:ph idx="1" type="body"/>
          </p:nvPr>
        </p:nvSpPr>
        <p:spPr>
          <a:xfrm>
            <a:off x="2905725" y="3051200"/>
            <a:ext cx="1911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(90° - 27°</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142" name="Google Shape;1142;p78"/>
          <p:cNvSpPr txBox="1"/>
          <p:nvPr>
            <p:ph idx="1" type="body"/>
          </p:nvPr>
        </p:nvSpPr>
        <p:spPr>
          <a:xfrm>
            <a:off x="4683541" y="325694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14.1 </a:t>
            </a:r>
            <a:endParaRPr sz="2000">
              <a:latin typeface="Times New Roman"/>
              <a:ea typeface="Times New Roman"/>
              <a:cs typeface="Times New Roman"/>
              <a:sym typeface="Times New Roman"/>
            </a:endParaRPr>
          </a:p>
        </p:txBody>
      </p:sp>
      <p:sp>
        <p:nvSpPr>
          <p:cNvPr id="1143" name="Google Shape;1143;p78"/>
          <p:cNvSpPr txBox="1"/>
          <p:nvPr>
            <p:ph idx="1" type="body"/>
          </p:nvPr>
        </p:nvSpPr>
        <p:spPr>
          <a:xfrm>
            <a:off x="4838978" y="29008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144" name="Google Shape;1144;p78"/>
          <p:cNvCxnSpPr/>
          <p:nvPr/>
        </p:nvCxnSpPr>
        <p:spPr>
          <a:xfrm>
            <a:off x="4673275" y="3229283"/>
            <a:ext cx="447000" cy="0"/>
          </a:xfrm>
          <a:prstGeom prst="straightConnector1">
            <a:avLst/>
          </a:prstGeom>
          <a:noFill/>
          <a:ln cap="flat" cmpd="sng" w="19050">
            <a:solidFill>
              <a:schemeClr val="dk1"/>
            </a:solidFill>
            <a:prstDash val="solid"/>
            <a:round/>
            <a:headEnd len="med" w="med" type="none"/>
            <a:tailEnd len="med" w="med" type="none"/>
          </a:ln>
        </p:spPr>
      </p:cxnSp>
      <p:sp>
        <p:nvSpPr>
          <p:cNvPr id="1145" name="Google Shape;1145;p78"/>
          <p:cNvSpPr txBox="1"/>
          <p:nvPr>
            <p:ph idx="1" type="body"/>
          </p:nvPr>
        </p:nvSpPr>
        <p:spPr>
          <a:xfrm>
            <a:off x="3495677" y="373700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63°</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146" name="Google Shape;1146;p78"/>
          <p:cNvSpPr txBox="1"/>
          <p:nvPr>
            <p:ph idx="1" type="body"/>
          </p:nvPr>
        </p:nvSpPr>
        <p:spPr>
          <a:xfrm>
            <a:off x="4683541" y="394274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14.1 </a:t>
            </a:r>
            <a:endParaRPr sz="2000">
              <a:latin typeface="Times New Roman"/>
              <a:ea typeface="Times New Roman"/>
              <a:cs typeface="Times New Roman"/>
              <a:sym typeface="Times New Roman"/>
            </a:endParaRPr>
          </a:p>
        </p:txBody>
      </p:sp>
      <p:sp>
        <p:nvSpPr>
          <p:cNvPr id="1147" name="Google Shape;1147;p78"/>
          <p:cNvSpPr txBox="1"/>
          <p:nvPr>
            <p:ph idx="1" type="body"/>
          </p:nvPr>
        </p:nvSpPr>
        <p:spPr>
          <a:xfrm>
            <a:off x="4838978" y="3586647"/>
            <a:ext cx="1926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a:t>
            </a:r>
            <a:endParaRPr sz="1800"/>
          </a:p>
        </p:txBody>
      </p:sp>
      <p:cxnSp>
        <p:nvCxnSpPr>
          <p:cNvPr id="1148" name="Google Shape;1148;p78"/>
          <p:cNvCxnSpPr/>
          <p:nvPr/>
        </p:nvCxnSpPr>
        <p:spPr>
          <a:xfrm>
            <a:off x="4673275" y="3915083"/>
            <a:ext cx="447000" cy="0"/>
          </a:xfrm>
          <a:prstGeom prst="straightConnector1">
            <a:avLst/>
          </a:prstGeom>
          <a:noFill/>
          <a:ln cap="flat" cmpd="sng" w="19050">
            <a:solidFill>
              <a:schemeClr val="dk1"/>
            </a:solidFill>
            <a:prstDash val="solid"/>
            <a:round/>
            <a:headEnd len="med" w="med" type="none"/>
            <a:tailEnd len="med" w="med" type="none"/>
          </a:ln>
        </p:spPr>
      </p:cxnSp>
      <p:pic>
        <p:nvPicPr>
          <p:cNvPr id="1149" name="Google Shape;1149;p78"/>
          <p:cNvPicPr preferRelativeResize="0"/>
          <p:nvPr/>
        </p:nvPicPr>
        <p:blipFill rotWithShape="1">
          <a:blip r:embed="rId3">
            <a:alphaModFix/>
          </a:blip>
          <a:srcRect b="0" l="0" r="70143" t="56280"/>
          <a:stretch/>
        </p:blipFill>
        <p:spPr>
          <a:xfrm>
            <a:off x="5666734" y="2522325"/>
            <a:ext cx="2374200" cy="1392751"/>
          </a:xfrm>
          <a:prstGeom prst="rect">
            <a:avLst/>
          </a:prstGeom>
          <a:noFill/>
          <a:ln>
            <a:noFill/>
          </a:ln>
        </p:spPr>
      </p:pic>
      <p:sp>
        <p:nvSpPr>
          <p:cNvPr id="1150" name="Google Shape;1150;p78"/>
          <p:cNvSpPr txBox="1"/>
          <p:nvPr>
            <p:ph idx="1" type="body"/>
          </p:nvPr>
        </p:nvSpPr>
        <p:spPr>
          <a:xfrm>
            <a:off x="5791984" y="2717850"/>
            <a:ext cx="21105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is always the case and it works the other way too.</a:t>
            </a:r>
            <a:endParaRPr sz="1800"/>
          </a:p>
        </p:txBody>
      </p:sp>
      <p:pic>
        <p:nvPicPr>
          <p:cNvPr id="1151" name="Google Shape;1151;p78"/>
          <p:cNvPicPr preferRelativeResize="0"/>
          <p:nvPr/>
        </p:nvPicPr>
        <p:blipFill>
          <a:blip r:embed="rId4">
            <a:alphaModFix/>
          </a:blip>
          <a:stretch>
            <a:fillRect/>
          </a:stretch>
        </p:blipFill>
        <p:spPr>
          <a:xfrm flipH="1">
            <a:off x="8001877" y="3431602"/>
            <a:ext cx="807750" cy="1057915"/>
          </a:xfrm>
          <a:prstGeom prst="rect">
            <a:avLst/>
          </a:prstGeom>
          <a:noFill/>
          <a:ln>
            <a:noFill/>
          </a:ln>
        </p:spPr>
      </p:pic>
      <p:sp>
        <p:nvSpPr>
          <p:cNvPr id="1152" name="Google Shape;1152;p78"/>
          <p:cNvSpPr txBox="1"/>
          <p:nvPr/>
        </p:nvSpPr>
        <p:spPr>
          <a:xfrm>
            <a:off x="7563750" y="44717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79"/>
          <p:cNvSpPr txBox="1"/>
          <p:nvPr>
            <p:ph idx="1" type="body"/>
          </p:nvPr>
        </p:nvSpPr>
        <p:spPr>
          <a:xfrm>
            <a:off x="5065638" y="2473275"/>
            <a:ext cx="35436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Opposite edges of a rectangle are equal. </a:t>
            </a:r>
            <a:endParaRPr sz="1800"/>
          </a:p>
        </p:txBody>
      </p:sp>
      <p:sp>
        <p:nvSpPr>
          <p:cNvPr id="1158" name="Google Shape;1158;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pic>
        <p:nvPicPr>
          <p:cNvPr id="1159" name="Google Shape;1159;p79"/>
          <p:cNvPicPr preferRelativeResize="0"/>
          <p:nvPr/>
        </p:nvPicPr>
        <p:blipFill>
          <a:blip r:embed="rId3">
            <a:alphaModFix/>
          </a:blip>
          <a:stretch>
            <a:fillRect/>
          </a:stretch>
        </p:blipFill>
        <p:spPr>
          <a:xfrm>
            <a:off x="1073225" y="862900"/>
            <a:ext cx="3991200" cy="3818101"/>
          </a:xfrm>
          <a:prstGeom prst="rect">
            <a:avLst/>
          </a:prstGeom>
          <a:noFill/>
          <a:ln>
            <a:noFill/>
          </a:ln>
        </p:spPr>
      </p:pic>
      <p:sp>
        <p:nvSpPr>
          <p:cNvPr id="1160" name="Google Shape;1160;p79"/>
          <p:cNvSpPr txBox="1"/>
          <p:nvPr>
            <p:ph idx="1" type="body"/>
          </p:nvPr>
        </p:nvSpPr>
        <p:spPr>
          <a:xfrm flipH="1">
            <a:off x="8214000" y="1286324"/>
            <a:ext cx="71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grpSp>
        <p:nvGrpSpPr>
          <p:cNvPr id="1161" name="Google Shape;1161;p79"/>
          <p:cNvGrpSpPr/>
          <p:nvPr/>
        </p:nvGrpSpPr>
        <p:grpSpPr>
          <a:xfrm flipH="1" rot="-5400000">
            <a:off x="6657964" y="517010"/>
            <a:ext cx="1037100" cy="1860230"/>
            <a:chOff x="-2098225" y="1379675"/>
            <a:chExt cx="1037100" cy="1860230"/>
          </a:xfrm>
        </p:grpSpPr>
        <p:sp>
          <p:nvSpPr>
            <p:cNvPr id="1162" name="Google Shape;1162;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63" name="Google Shape;1163;p79"/>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64" name="Google Shape;1164;p79"/>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65" name="Google Shape;1165;p79"/>
          <p:cNvSpPr/>
          <p:nvPr/>
        </p:nvSpPr>
        <p:spPr>
          <a:xfrm>
            <a:off x="7800475" y="1769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6" name="Google Shape;1166;p79"/>
          <p:cNvSpPr txBox="1"/>
          <p:nvPr>
            <p:ph idx="1" type="body"/>
          </p:nvPr>
        </p:nvSpPr>
        <p:spPr>
          <a:xfrm flipH="1">
            <a:off x="6722875" y="1690975"/>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a:t>
            </a:r>
            <a:endParaRPr sz="1800"/>
          </a:p>
        </p:txBody>
      </p:sp>
      <p:sp>
        <p:nvSpPr>
          <p:cNvPr id="1167" name="Google Shape;1167;p79"/>
          <p:cNvSpPr txBox="1"/>
          <p:nvPr>
            <p:ph idx="1" type="body"/>
          </p:nvPr>
        </p:nvSpPr>
        <p:spPr>
          <a:xfrm flipH="1">
            <a:off x="6490079" y="1166525"/>
            <a:ext cx="903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r>
              <a:rPr lang="en-GB" sz="1800"/>
              <a:t>cm</a:t>
            </a:r>
            <a:endParaRPr sz="1800"/>
          </a:p>
        </p:txBody>
      </p:sp>
      <p:sp>
        <p:nvSpPr>
          <p:cNvPr id="1168" name="Google Shape;1168;p79"/>
          <p:cNvSpPr txBox="1"/>
          <p:nvPr>
            <p:ph idx="1" type="body"/>
          </p:nvPr>
        </p:nvSpPr>
        <p:spPr>
          <a:xfrm flipH="1">
            <a:off x="7603808" y="1253556"/>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63°</a:t>
            </a:r>
            <a:endParaRPr sz="1800"/>
          </a:p>
        </p:txBody>
      </p:sp>
      <p:sp>
        <p:nvSpPr>
          <p:cNvPr id="1169" name="Google Shape;1169;p79"/>
          <p:cNvSpPr/>
          <p:nvPr/>
        </p:nvSpPr>
        <p:spPr>
          <a:xfrm flipH="1">
            <a:off x="7753329" y="765546"/>
            <a:ext cx="476100" cy="476100"/>
          </a:xfrm>
          <a:prstGeom prst="arc">
            <a:avLst>
              <a:gd fmla="val 1776288" name="adj1"/>
              <a:gd fmla="val 540667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79"/>
          <p:cNvSpPr/>
          <p:nvPr/>
        </p:nvSpPr>
        <p:spPr>
          <a:xfrm flipH="1">
            <a:off x="5940177" y="1607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71" name="Google Shape;1171;p79"/>
          <p:cNvCxnSpPr/>
          <p:nvPr/>
        </p:nvCxnSpPr>
        <p:spPr>
          <a:xfrm flipH="1" rot="10800000">
            <a:off x="1461471" y="2895007"/>
            <a:ext cx="2988300" cy="1519200"/>
          </a:xfrm>
          <a:prstGeom prst="straightConnector1">
            <a:avLst/>
          </a:prstGeom>
          <a:noFill/>
          <a:ln cap="flat" cmpd="sng" w="28575">
            <a:solidFill>
              <a:schemeClr val="accent3"/>
            </a:solidFill>
            <a:prstDash val="solid"/>
            <a:round/>
            <a:headEnd len="med" w="med" type="none"/>
            <a:tailEnd len="med" w="med" type="none"/>
          </a:ln>
        </p:spPr>
      </p:cxnSp>
      <p:sp>
        <p:nvSpPr>
          <p:cNvPr id="1172" name="Google Shape;1172;p79"/>
          <p:cNvSpPr txBox="1"/>
          <p:nvPr>
            <p:ph idx="1" type="body"/>
          </p:nvPr>
        </p:nvSpPr>
        <p:spPr>
          <a:xfrm flipH="1">
            <a:off x="1894111" y="4140910"/>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a:t>
            </a:r>
            <a:endParaRPr sz="1800"/>
          </a:p>
        </p:txBody>
      </p:sp>
      <p:sp>
        <p:nvSpPr>
          <p:cNvPr id="1173" name="Google Shape;1173;p79"/>
          <p:cNvSpPr/>
          <p:nvPr/>
        </p:nvSpPr>
        <p:spPr>
          <a:xfrm flipH="1">
            <a:off x="1111414" y="40574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4" name="Google Shape;1174;p79"/>
          <p:cNvSpPr/>
          <p:nvPr/>
        </p:nvSpPr>
        <p:spPr>
          <a:xfrm>
            <a:off x="4246625" y="4227418"/>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75" name="Google Shape;1175;p79"/>
          <p:cNvCxnSpPr/>
          <p:nvPr/>
        </p:nvCxnSpPr>
        <p:spPr>
          <a:xfrm>
            <a:off x="4439218" y="2895843"/>
            <a:ext cx="0" cy="1533000"/>
          </a:xfrm>
          <a:prstGeom prst="straightConnector1">
            <a:avLst/>
          </a:prstGeom>
          <a:noFill/>
          <a:ln cap="flat" cmpd="sng" w="28575">
            <a:solidFill>
              <a:schemeClr val="accent2"/>
            </a:solidFill>
            <a:prstDash val="dash"/>
            <a:round/>
            <a:headEnd len="med" w="med" type="none"/>
            <a:tailEnd len="med" w="med" type="none"/>
          </a:ln>
        </p:spPr>
      </p:cxnSp>
      <p:cxnSp>
        <p:nvCxnSpPr>
          <p:cNvPr id="1176" name="Google Shape;1176;p79"/>
          <p:cNvCxnSpPr/>
          <p:nvPr/>
        </p:nvCxnSpPr>
        <p:spPr>
          <a:xfrm>
            <a:off x="1452850" y="4422800"/>
            <a:ext cx="2999700" cy="0"/>
          </a:xfrm>
          <a:prstGeom prst="straightConnector1">
            <a:avLst/>
          </a:prstGeom>
          <a:noFill/>
          <a:ln cap="flat" cmpd="sng" w="28575">
            <a:solidFill>
              <a:schemeClr val="accent6"/>
            </a:solidFill>
            <a:prstDash val="lgDash"/>
            <a:round/>
            <a:headEnd len="med" w="med" type="none"/>
            <a:tailEnd len="med" w="med" type="none"/>
          </a:ln>
        </p:spPr>
      </p:cxnSp>
      <p:sp>
        <p:nvSpPr>
          <p:cNvPr id="1177" name="Google Shape;1177;p79"/>
          <p:cNvSpPr txBox="1"/>
          <p:nvPr>
            <p:ph idx="1" type="body"/>
          </p:nvPr>
        </p:nvSpPr>
        <p:spPr>
          <a:xfrm flipH="1">
            <a:off x="4490550" y="3471550"/>
            <a:ext cx="8715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27°</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78" name="Google Shape;1178;p79"/>
          <p:cNvSpPr txBox="1"/>
          <p:nvPr>
            <p:ph idx="1" type="body"/>
          </p:nvPr>
        </p:nvSpPr>
        <p:spPr>
          <a:xfrm flipH="1">
            <a:off x="2602325" y="4442825"/>
            <a:ext cx="10098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(27°</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79" name="Google Shape;1179;p79"/>
          <p:cNvSpPr/>
          <p:nvPr/>
        </p:nvSpPr>
        <p:spPr>
          <a:xfrm flipH="1" rot="-1305683">
            <a:off x="1048577" y="4059134"/>
            <a:ext cx="717750" cy="717750"/>
          </a:xfrm>
          <a:prstGeom prst="arc">
            <a:avLst>
              <a:gd fmla="val 10867472" name="adj1"/>
              <a:gd fmla="val 1434180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0" name="Google Shape;1180;p79"/>
          <p:cNvSpPr txBox="1"/>
          <p:nvPr>
            <p:ph idx="1" type="body"/>
          </p:nvPr>
        </p:nvSpPr>
        <p:spPr>
          <a:xfrm flipH="1">
            <a:off x="1552089" y="3819288"/>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63</a:t>
            </a:r>
            <a:r>
              <a:rPr lang="en-GB" sz="1800"/>
              <a:t>°</a:t>
            </a:r>
            <a:endParaRPr sz="1800"/>
          </a:p>
        </p:txBody>
      </p:sp>
      <p:sp>
        <p:nvSpPr>
          <p:cNvPr id="1181" name="Google Shape;1181;p79"/>
          <p:cNvSpPr txBox="1"/>
          <p:nvPr>
            <p:ph idx="1" type="body"/>
          </p:nvPr>
        </p:nvSpPr>
        <p:spPr>
          <a:xfrm flipH="1">
            <a:off x="2579650" y="2566850"/>
            <a:ext cx="8715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63°</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82" name="Google Shape;1182;p79"/>
          <p:cNvSpPr/>
          <p:nvPr/>
        </p:nvSpPr>
        <p:spPr>
          <a:xfrm>
            <a:off x="1461475" y="2888443"/>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83" name="Google Shape;1183;p79"/>
          <p:cNvCxnSpPr/>
          <p:nvPr/>
        </p:nvCxnSpPr>
        <p:spPr>
          <a:xfrm>
            <a:off x="1452850" y="2888438"/>
            <a:ext cx="2999700" cy="0"/>
          </a:xfrm>
          <a:prstGeom prst="straightConnector1">
            <a:avLst/>
          </a:prstGeom>
          <a:noFill/>
          <a:ln cap="flat" cmpd="sng" w="28575">
            <a:solidFill>
              <a:schemeClr val="accent6"/>
            </a:solidFill>
            <a:prstDash val="lgDash"/>
            <a:round/>
            <a:headEnd len="med" w="med" type="none"/>
            <a:tailEnd len="med" w="med" type="none"/>
          </a:ln>
        </p:spPr>
      </p:cxnSp>
      <p:cxnSp>
        <p:nvCxnSpPr>
          <p:cNvPr id="1184" name="Google Shape;1184;p79"/>
          <p:cNvCxnSpPr/>
          <p:nvPr/>
        </p:nvCxnSpPr>
        <p:spPr>
          <a:xfrm>
            <a:off x="1457079" y="2887064"/>
            <a:ext cx="0" cy="1533000"/>
          </a:xfrm>
          <a:prstGeom prst="straightConnector1">
            <a:avLst/>
          </a:prstGeom>
          <a:noFill/>
          <a:ln cap="flat" cmpd="sng" w="28575">
            <a:solidFill>
              <a:schemeClr val="accent2"/>
            </a:solidFill>
            <a:prstDash val="dash"/>
            <a:round/>
            <a:headEnd len="med" w="med" type="none"/>
            <a:tailEnd len="med" w="med" type="none"/>
          </a:ln>
        </p:spPr>
      </p:cxnSp>
      <p:sp>
        <p:nvSpPr>
          <p:cNvPr id="1185" name="Google Shape;1185;p79"/>
          <p:cNvSpPr txBox="1"/>
          <p:nvPr>
            <p:ph idx="1" type="body"/>
          </p:nvPr>
        </p:nvSpPr>
        <p:spPr>
          <a:xfrm flipH="1">
            <a:off x="517402" y="3471550"/>
            <a:ext cx="9033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63°</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86" name="Google Shape;1186;p79"/>
          <p:cNvSpPr txBox="1"/>
          <p:nvPr>
            <p:ph idx="1" type="body"/>
          </p:nvPr>
        </p:nvSpPr>
        <p:spPr>
          <a:xfrm flipH="1">
            <a:off x="6018125" y="3206150"/>
            <a:ext cx="22113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sin(27°) = cos(63°</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87" name="Google Shape;1187;p79"/>
          <p:cNvSpPr txBox="1"/>
          <p:nvPr>
            <p:ph idx="1" type="body"/>
          </p:nvPr>
        </p:nvSpPr>
        <p:spPr>
          <a:xfrm flipH="1">
            <a:off x="6018275" y="3739550"/>
            <a:ext cx="23628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63°</a:t>
            </a:r>
            <a:r>
              <a:rPr lang="en-GB" sz="2000">
                <a:latin typeface="Times New Roman"/>
                <a:ea typeface="Times New Roman"/>
                <a:cs typeface="Times New Roman"/>
                <a:sym typeface="Times New Roman"/>
              </a:rPr>
              <a:t>) = cos(</a:t>
            </a:r>
            <a:r>
              <a:rPr lang="en-GB" sz="2000">
                <a:latin typeface="Times New Roman"/>
                <a:ea typeface="Times New Roman"/>
                <a:cs typeface="Times New Roman"/>
                <a:sym typeface="Times New Roman"/>
              </a:rPr>
              <a:t>27°</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188" name="Google Shape;1188;p79"/>
          <p:cNvSpPr txBox="1"/>
          <p:nvPr>
            <p:ph idx="1" type="body"/>
          </p:nvPr>
        </p:nvSpPr>
        <p:spPr>
          <a:xfrm>
            <a:off x="5065647" y="2093825"/>
            <a:ext cx="3754200" cy="298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see this on the unit circle.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80"/>
          <p:cNvSpPr txBox="1"/>
          <p:nvPr>
            <p:ph idx="1" type="body"/>
          </p:nvPr>
        </p:nvSpPr>
        <p:spPr>
          <a:xfrm>
            <a:off x="5122675" y="2473275"/>
            <a:ext cx="35436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More </a:t>
            </a:r>
            <a:r>
              <a:rPr lang="en-GB" sz="1800"/>
              <a:t>generally,</a:t>
            </a:r>
            <a:endParaRPr sz="1800"/>
          </a:p>
        </p:txBody>
      </p:sp>
      <p:sp>
        <p:nvSpPr>
          <p:cNvPr id="1194" name="Google Shape;1194;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pic>
        <p:nvPicPr>
          <p:cNvPr id="1195" name="Google Shape;1195;p80"/>
          <p:cNvPicPr preferRelativeResize="0"/>
          <p:nvPr/>
        </p:nvPicPr>
        <p:blipFill>
          <a:blip r:embed="rId3">
            <a:alphaModFix/>
          </a:blip>
          <a:stretch>
            <a:fillRect/>
          </a:stretch>
        </p:blipFill>
        <p:spPr>
          <a:xfrm>
            <a:off x="1073225" y="862900"/>
            <a:ext cx="3991200" cy="3818101"/>
          </a:xfrm>
          <a:prstGeom prst="rect">
            <a:avLst/>
          </a:prstGeom>
          <a:noFill/>
          <a:ln>
            <a:noFill/>
          </a:ln>
        </p:spPr>
      </p:pic>
      <p:grpSp>
        <p:nvGrpSpPr>
          <p:cNvPr id="1196" name="Google Shape;1196;p80"/>
          <p:cNvGrpSpPr/>
          <p:nvPr/>
        </p:nvGrpSpPr>
        <p:grpSpPr>
          <a:xfrm flipH="1" rot="-5400000">
            <a:off x="6429364" y="517010"/>
            <a:ext cx="1037100" cy="1860230"/>
            <a:chOff x="-2098225" y="1379675"/>
            <a:chExt cx="1037100" cy="1860230"/>
          </a:xfrm>
        </p:grpSpPr>
        <p:sp>
          <p:nvSpPr>
            <p:cNvPr id="1197" name="Google Shape;1197;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8" name="Google Shape;1198;p80"/>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99" name="Google Shape;1199;p80"/>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00" name="Google Shape;1200;p80"/>
          <p:cNvSpPr/>
          <p:nvPr/>
        </p:nvSpPr>
        <p:spPr>
          <a:xfrm>
            <a:off x="7571875" y="1769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1" name="Google Shape;1201;p80"/>
          <p:cNvSpPr txBox="1"/>
          <p:nvPr>
            <p:ph idx="1" type="body"/>
          </p:nvPr>
        </p:nvSpPr>
        <p:spPr>
          <a:xfrm flipH="1">
            <a:off x="6494275" y="1690975"/>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1202" name="Google Shape;1202;p80"/>
          <p:cNvSpPr txBox="1"/>
          <p:nvPr>
            <p:ph idx="1" type="body"/>
          </p:nvPr>
        </p:nvSpPr>
        <p:spPr>
          <a:xfrm flipH="1">
            <a:off x="6261479" y="1166525"/>
            <a:ext cx="903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cm</a:t>
            </a:r>
            <a:endParaRPr sz="1800"/>
          </a:p>
        </p:txBody>
      </p:sp>
      <p:sp>
        <p:nvSpPr>
          <p:cNvPr id="1203" name="Google Shape;1203;p80"/>
          <p:cNvSpPr txBox="1"/>
          <p:nvPr>
            <p:ph idx="1" type="body"/>
          </p:nvPr>
        </p:nvSpPr>
        <p:spPr>
          <a:xfrm flipH="1">
            <a:off x="7878025" y="720150"/>
            <a:ext cx="903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(90 - </a:t>
            </a:r>
            <a:r>
              <a:rPr lang="en-GB" sz="1800"/>
              <a:t>𝜃)</a:t>
            </a:r>
            <a:r>
              <a:rPr lang="en-GB" sz="1800"/>
              <a:t>°</a:t>
            </a:r>
            <a:endParaRPr sz="1800"/>
          </a:p>
        </p:txBody>
      </p:sp>
      <p:sp>
        <p:nvSpPr>
          <p:cNvPr id="1204" name="Google Shape;1204;p80"/>
          <p:cNvSpPr/>
          <p:nvPr/>
        </p:nvSpPr>
        <p:spPr>
          <a:xfrm flipH="1">
            <a:off x="7524729" y="765546"/>
            <a:ext cx="476100" cy="476100"/>
          </a:xfrm>
          <a:prstGeom prst="arc">
            <a:avLst>
              <a:gd fmla="val 1776288" name="adj1"/>
              <a:gd fmla="val 540667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5" name="Google Shape;1205;p80"/>
          <p:cNvSpPr/>
          <p:nvPr/>
        </p:nvSpPr>
        <p:spPr>
          <a:xfrm flipH="1">
            <a:off x="5711577" y="1607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6" name="Google Shape;1206;p80"/>
          <p:cNvCxnSpPr/>
          <p:nvPr/>
        </p:nvCxnSpPr>
        <p:spPr>
          <a:xfrm flipH="1" rot="10800000">
            <a:off x="1461471" y="2895007"/>
            <a:ext cx="2988300" cy="1519200"/>
          </a:xfrm>
          <a:prstGeom prst="straightConnector1">
            <a:avLst/>
          </a:prstGeom>
          <a:noFill/>
          <a:ln cap="flat" cmpd="sng" w="28575">
            <a:solidFill>
              <a:schemeClr val="accent3"/>
            </a:solidFill>
            <a:prstDash val="solid"/>
            <a:round/>
            <a:headEnd len="med" w="med" type="none"/>
            <a:tailEnd len="med" w="med" type="none"/>
          </a:ln>
        </p:spPr>
      </p:cxnSp>
      <p:sp>
        <p:nvSpPr>
          <p:cNvPr id="1207" name="Google Shape;1207;p80"/>
          <p:cNvSpPr txBox="1"/>
          <p:nvPr>
            <p:ph idx="1" type="body"/>
          </p:nvPr>
        </p:nvSpPr>
        <p:spPr>
          <a:xfrm flipH="1">
            <a:off x="1894111" y="4140910"/>
            <a:ext cx="437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208" name="Google Shape;1208;p80"/>
          <p:cNvSpPr/>
          <p:nvPr/>
        </p:nvSpPr>
        <p:spPr>
          <a:xfrm flipH="1">
            <a:off x="1111414" y="40574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80"/>
          <p:cNvSpPr/>
          <p:nvPr/>
        </p:nvSpPr>
        <p:spPr>
          <a:xfrm>
            <a:off x="4246625" y="4227418"/>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0" name="Google Shape;1210;p80"/>
          <p:cNvCxnSpPr/>
          <p:nvPr/>
        </p:nvCxnSpPr>
        <p:spPr>
          <a:xfrm>
            <a:off x="4439218" y="2895843"/>
            <a:ext cx="0" cy="1533000"/>
          </a:xfrm>
          <a:prstGeom prst="straightConnector1">
            <a:avLst/>
          </a:prstGeom>
          <a:noFill/>
          <a:ln cap="flat" cmpd="sng" w="28575">
            <a:solidFill>
              <a:schemeClr val="accent2"/>
            </a:solidFill>
            <a:prstDash val="dash"/>
            <a:round/>
            <a:headEnd len="med" w="med" type="none"/>
            <a:tailEnd len="med" w="med" type="none"/>
          </a:ln>
        </p:spPr>
      </p:cxnSp>
      <p:cxnSp>
        <p:nvCxnSpPr>
          <p:cNvPr id="1211" name="Google Shape;1211;p80"/>
          <p:cNvCxnSpPr/>
          <p:nvPr/>
        </p:nvCxnSpPr>
        <p:spPr>
          <a:xfrm>
            <a:off x="1452850" y="4422800"/>
            <a:ext cx="2999700" cy="0"/>
          </a:xfrm>
          <a:prstGeom prst="straightConnector1">
            <a:avLst/>
          </a:prstGeom>
          <a:noFill/>
          <a:ln cap="flat" cmpd="sng" w="28575">
            <a:solidFill>
              <a:schemeClr val="accent6"/>
            </a:solidFill>
            <a:prstDash val="lgDash"/>
            <a:round/>
            <a:headEnd len="med" w="med" type="none"/>
            <a:tailEnd len="med" w="med" type="none"/>
          </a:ln>
        </p:spPr>
      </p:cxnSp>
      <p:sp>
        <p:nvSpPr>
          <p:cNvPr id="1212" name="Google Shape;1212;p80"/>
          <p:cNvSpPr txBox="1"/>
          <p:nvPr>
            <p:ph idx="1" type="body"/>
          </p:nvPr>
        </p:nvSpPr>
        <p:spPr>
          <a:xfrm flipH="1">
            <a:off x="4515401" y="3504959"/>
            <a:ext cx="7464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213" name="Google Shape;1213;p80"/>
          <p:cNvSpPr txBox="1"/>
          <p:nvPr>
            <p:ph idx="1" type="body"/>
          </p:nvPr>
        </p:nvSpPr>
        <p:spPr>
          <a:xfrm flipH="1">
            <a:off x="2602351" y="4442818"/>
            <a:ext cx="8715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1800"/>
              <a:t>𝜃°</a:t>
            </a:r>
            <a:r>
              <a:rPr lang="en-GB" sz="2000">
                <a:latin typeface="Times New Roman"/>
                <a:ea typeface="Times New Roman"/>
                <a:cs typeface="Times New Roman"/>
                <a:sym typeface="Times New Roman"/>
              </a:rPr>
              <a:t>)</a:t>
            </a:r>
            <a:endParaRPr sz="1800"/>
          </a:p>
        </p:txBody>
      </p:sp>
      <p:sp>
        <p:nvSpPr>
          <p:cNvPr id="1214" name="Google Shape;1214;p80"/>
          <p:cNvSpPr/>
          <p:nvPr/>
        </p:nvSpPr>
        <p:spPr>
          <a:xfrm flipH="1" rot="-1305683">
            <a:off x="1048577" y="4059134"/>
            <a:ext cx="717750" cy="717750"/>
          </a:xfrm>
          <a:prstGeom prst="arc">
            <a:avLst>
              <a:gd fmla="val 10867472" name="adj1"/>
              <a:gd fmla="val 1434180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5" name="Google Shape;1215;p80"/>
          <p:cNvSpPr txBox="1"/>
          <p:nvPr>
            <p:ph idx="1" type="body"/>
          </p:nvPr>
        </p:nvSpPr>
        <p:spPr>
          <a:xfrm flipH="1">
            <a:off x="1485825" y="3753050"/>
            <a:ext cx="112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(90 - </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216" name="Google Shape;1216;p80"/>
          <p:cNvSpPr txBox="1"/>
          <p:nvPr>
            <p:ph idx="1" type="body"/>
          </p:nvPr>
        </p:nvSpPr>
        <p:spPr>
          <a:xfrm flipH="1">
            <a:off x="2536537" y="2564800"/>
            <a:ext cx="14244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90 - 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217" name="Google Shape;1217;p80"/>
          <p:cNvSpPr/>
          <p:nvPr/>
        </p:nvSpPr>
        <p:spPr>
          <a:xfrm>
            <a:off x="1461475" y="2888443"/>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8" name="Google Shape;1218;p80"/>
          <p:cNvCxnSpPr/>
          <p:nvPr/>
        </p:nvCxnSpPr>
        <p:spPr>
          <a:xfrm>
            <a:off x="1452850" y="2888438"/>
            <a:ext cx="2999700" cy="0"/>
          </a:xfrm>
          <a:prstGeom prst="straightConnector1">
            <a:avLst/>
          </a:prstGeom>
          <a:noFill/>
          <a:ln cap="flat" cmpd="sng" w="28575">
            <a:solidFill>
              <a:schemeClr val="accent6"/>
            </a:solidFill>
            <a:prstDash val="lgDash"/>
            <a:round/>
            <a:headEnd len="med" w="med" type="none"/>
            <a:tailEnd len="med" w="med" type="none"/>
          </a:ln>
        </p:spPr>
      </p:cxnSp>
      <p:cxnSp>
        <p:nvCxnSpPr>
          <p:cNvPr id="1219" name="Google Shape;1219;p80"/>
          <p:cNvCxnSpPr/>
          <p:nvPr/>
        </p:nvCxnSpPr>
        <p:spPr>
          <a:xfrm>
            <a:off x="1457079" y="2887064"/>
            <a:ext cx="0" cy="1533000"/>
          </a:xfrm>
          <a:prstGeom prst="straightConnector1">
            <a:avLst/>
          </a:prstGeom>
          <a:noFill/>
          <a:ln cap="flat" cmpd="sng" w="28575">
            <a:solidFill>
              <a:schemeClr val="accent2"/>
            </a:solidFill>
            <a:prstDash val="dash"/>
            <a:round/>
            <a:headEnd len="med" w="med" type="none"/>
            <a:tailEnd len="med" w="med" type="none"/>
          </a:ln>
        </p:spPr>
      </p:cxnSp>
      <p:sp>
        <p:nvSpPr>
          <p:cNvPr id="1220" name="Google Shape;1220;p80"/>
          <p:cNvSpPr txBox="1"/>
          <p:nvPr>
            <p:ph idx="1" type="body"/>
          </p:nvPr>
        </p:nvSpPr>
        <p:spPr>
          <a:xfrm flipH="1" rot="-5400000">
            <a:off x="317925" y="3471550"/>
            <a:ext cx="14205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((90 - 𝜃)°)</a:t>
            </a:r>
            <a:endParaRPr sz="2000">
              <a:latin typeface="Times New Roman"/>
              <a:ea typeface="Times New Roman"/>
              <a:cs typeface="Times New Roman"/>
              <a:sym typeface="Times New Roman"/>
            </a:endParaRPr>
          </a:p>
        </p:txBody>
      </p:sp>
      <p:sp>
        <p:nvSpPr>
          <p:cNvPr id="1221" name="Google Shape;1221;p80"/>
          <p:cNvSpPr txBox="1"/>
          <p:nvPr>
            <p:ph idx="1" type="body"/>
          </p:nvPr>
        </p:nvSpPr>
        <p:spPr>
          <a:xfrm flipH="1">
            <a:off x="6018350" y="3206150"/>
            <a:ext cx="24207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 cos(</a:t>
            </a:r>
            <a:r>
              <a:rPr lang="en-GB" sz="2000">
                <a:latin typeface="Times New Roman"/>
                <a:ea typeface="Times New Roman"/>
                <a:cs typeface="Times New Roman"/>
                <a:sym typeface="Times New Roman"/>
              </a:rPr>
              <a:t>90° - 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222" name="Google Shape;1222;p80"/>
          <p:cNvSpPr txBox="1"/>
          <p:nvPr>
            <p:ph idx="1" type="body"/>
          </p:nvPr>
        </p:nvSpPr>
        <p:spPr>
          <a:xfrm flipH="1">
            <a:off x="6018375" y="3739550"/>
            <a:ext cx="2503500" cy="3216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90° - 𝜃°</a:t>
            </a:r>
            <a:r>
              <a:rPr lang="en-GB" sz="2000">
                <a:latin typeface="Times New Roman"/>
                <a:ea typeface="Times New Roman"/>
                <a:cs typeface="Times New Roman"/>
                <a:sym typeface="Times New Roman"/>
              </a:rPr>
              <a:t>) = cos(</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cxnSp>
        <p:nvCxnSpPr>
          <p:cNvPr id="1223" name="Google Shape;1223;p80"/>
          <p:cNvCxnSpPr/>
          <p:nvPr/>
        </p:nvCxnSpPr>
        <p:spPr>
          <a:xfrm flipH="1" rot="9774234">
            <a:off x="7667298" y="908102"/>
            <a:ext cx="190832" cy="190832"/>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81"/>
          <p:cNvSpPr txBox="1"/>
          <p:nvPr>
            <p:ph idx="1" type="body"/>
          </p:nvPr>
        </p:nvSpPr>
        <p:spPr>
          <a:xfrm>
            <a:off x="324000" y="803750"/>
            <a:ext cx="8496000" cy="613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For every right-angled triangle, given either two edge lengths or one edge and one of the other angles, all three trigonometric functions can be used. </a:t>
            </a:r>
            <a:endParaRPr sz="1800"/>
          </a:p>
          <a:p>
            <a:pPr indent="0" lvl="0" marL="0" rtl="0" algn="l">
              <a:spcBef>
                <a:spcPts val="1000"/>
              </a:spcBef>
              <a:spcAft>
                <a:spcPts val="0"/>
              </a:spcAft>
              <a:buClr>
                <a:schemeClr val="dk1"/>
              </a:buClr>
              <a:buSzPts val="1100"/>
              <a:buFont typeface="Arial"/>
              <a:buNone/>
            </a:pPr>
            <a:r>
              <a:rPr lang="en-GB" sz="1800"/>
              <a:t>However one is normally more efficient than the other two in each question.</a:t>
            </a:r>
            <a:endParaRPr sz="1800"/>
          </a:p>
          <a:p>
            <a:pPr indent="0" lvl="0" marL="0" rtl="0" algn="l">
              <a:spcBef>
                <a:spcPts val="1000"/>
              </a:spcBef>
              <a:spcAft>
                <a:spcPts val="1000"/>
              </a:spcAft>
              <a:buNone/>
            </a:pPr>
            <a:r>
              <a:t/>
            </a:r>
            <a:endParaRPr sz="1800"/>
          </a:p>
        </p:txBody>
      </p:sp>
      <p:sp>
        <p:nvSpPr>
          <p:cNvPr id="1229" name="Google Shape;1229;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grpSp>
        <p:nvGrpSpPr>
          <p:cNvPr id="1230" name="Google Shape;1230;p81"/>
          <p:cNvGrpSpPr/>
          <p:nvPr/>
        </p:nvGrpSpPr>
        <p:grpSpPr>
          <a:xfrm rot="5400000">
            <a:off x="1613813" y="2193410"/>
            <a:ext cx="1037100" cy="1860230"/>
            <a:chOff x="-2098225" y="1379675"/>
            <a:chExt cx="1037100" cy="1860230"/>
          </a:xfrm>
        </p:grpSpPr>
        <p:sp>
          <p:nvSpPr>
            <p:cNvPr id="1231" name="Google Shape;1231;p8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2" name="Google Shape;1232;p81"/>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33" name="Google Shape;1233;p81"/>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34" name="Google Shape;1234;p81"/>
          <p:cNvSpPr/>
          <p:nvPr/>
        </p:nvSpPr>
        <p:spPr>
          <a:xfrm>
            <a:off x="1323475" y="34459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5" name="Google Shape;1235;p81"/>
          <p:cNvSpPr/>
          <p:nvPr/>
        </p:nvSpPr>
        <p:spPr>
          <a:xfrm>
            <a:off x="2622300" y="32839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6" name="Google Shape;1236;p81"/>
          <p:cNvSpPr txBox="1"/>
          <p:nvPr>
            <p:ph idx="1" type="body"/>
          </p:nvPr>
        </p:nvSpPr>
        <p:spPr>
          <a:xfrm>
            <a:off x="2357568" y="3367374"/>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237" name="Google Shape;1237;p81"/>
          <p:cNvSpPr txBox="1"/>
          <p:nvPr>
            <p:ph idx="1" type="body"/>
          </p:nvPr>
        </p:nvSpPr>
        <p:spPr>
          <a:xfrm>
            <a:off x="541799" y="3010975"/>
            <a:ext cx="660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238" name="Google Shape;1238;p81"/>
          <p:cNvSpPr txBox="1"/>
          <p:nvPr>
            <p:ph idx="1" type="body"/>
          </p:nvPr>
        </p:nvSpPr>
        <p:spPr>
          <a:xfrm>
            <a:off x="2159280" y="2751800"/>
            <a:ext cx="705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239" name="Google Shape;1239;p81"/>
          <p:cNvSpPr txBox="1"/>
          <p:nvPr>
            <p:ph idx="1" type="body"/>
          </p:nvPr>
        </p:nvSpPr>
        <p:spPr>
          <a:xfrm>
            <a:off x="3736375" y="2556350"/>
            <a:ext cx="50385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Given this information and asked to </a:t>
            </a:r>
            <a:r>
              <a:rPr lang="en-GB" sz="1800"/>
              <a:t>calculate the value of 𝜃 using </a:t>
            </a:r>
            <a:r>
              <a:rPr lang="en-GB" sz="1800">
                <a:solidFill>
                  <a:schemeClr val="accent4"/>
                </a:solidFill>
              </a:rPr>
              <a:t>sine</a:t>
            </a:r>
            <a:r>
              <a:rPr lang="en-GB" sz="1800"/>
              <a:t> would be the most efficient method.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82"/>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trigonometric function </a:t>
            </a:r>
            <a:r>
              <a:rPr lang="en-GB"/>
              <a:t>would</a:t>
            </a:r>
            <a:r>
              <a:rPr lang="en-GB"/>
              <a:t> be the best to use for this question?</a:t>
            </a:r>
            <a:endParaRPr/>
          </a:p>
        </p:txBody>
      </p:sp>
      <p:sp>
        <p:nvSpPr>
          <p:cNvPr id="1245" name="Google Shape;1245;p82"/>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246" name="Google Shape;1246;p8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sine</a:t>
            </a:r>
            <a:endParaRPr/>
          </a:p>
        </p:txBody>
      </p:sp>
      <p:sp>
        <p:nvSpPr>
          <p:cNvPr id="1247" name="Google Shape;1247;p8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cosine</a:t>
            </a:r>
            <a:endParaRPr/>
          </a:p>
        </p:txBody>
      </p:sp>
      <p:sp>
        <p:nvSpPr>
          <p:cNvPr id="1248" name="Google Shape;1248;p8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tangent</a:t>
            </a:r>
            <a:endParaRPr/>
          </a:p>
        </p:txBody>
      </p:sp>
      <p:grpSp>
        <p:nvGrpSpPr>
          <p:cNvPr id="1249" name="Google Shape;1249;p82"/>
          <p:cNvGrpSpPr/>
          <p:nvPr/>
        </p:nvGrpSpPr>
        <p:grpSpPr>
          <a:xfrm flipH="1" rot="-5400000">
            <a:off x="5314982" y="1327243"/>
            <a:ext cx="1057366" cy="1784030"/>
            <a:chOff x="-2022025" y="1455875"/>
            <a:chExt cx="1057366" cy="1784030"/>
          </a:xfrm>
        </p:grpSpPr>
        <p:sp>
          <p:nvSpPr>
            <p:cNvPr id="1250" name="Google Shape;1250;p8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1" name="Google Shape;1251;p82"/>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252" name="Google Shape;1252;p82"/>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253" name="Google Shape;1253;p82"/>
          <p:cNvSpPr/>
          <p:nvPr/>
        </p:nvSpPr>
        <p:spPr>
          <a:xfrm flipH="1">
            <a:off x="6421854" y="2455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4" name="Google Shape;1254;p82"/>
          <p:cNvSpPr txBox="1"/>
          <p:nvPr>
            <p:ph idx="4294967295" type="body"/>
          </p:nvPr>
        </p:nvSpPr>
        <p:spPr>
          <a:xfrm flipH="1">
            <a:off x="5376813" y="23767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1255" name="Google Shape;1255;p82"/>
          <p:cNvSpPr txBox="1"/>
          <p:nvPr>
            <p:ph idx="4294967295" type="body"/>
          </p:nvPr>
        </p:nvSpPr>
        <p:spPr>
          <a:xfrm flipH="1">
            <a:off x="6811878" y="2020375"/>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3.8</a:t>
            </a:r>
            <a:r>
              <a:rPr lang="en-GB" sz="1800"/>
              <a:t> cm</a:t>
            </a:r>
            <a:endParaRPr sz="1800"/>
          </a:p>
        </p:txBody>
      </p:sp>
      <p:sp>
        <p:nvSpPr>
          <p:cNvPr id="1256" name="Google Shape;1256;p82"/>
          <p:cNvSpPr txBox="1"/>
          <p:nvPr>
            <p:ph idx="4294967295" type="body"/>
          </p:nvPr>
        </p:nvSpPr>
        <p:spPr>
          <a:xfrm flipH="1">
            <a:off x="5463425" y="2735075"/>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257" name="Google Shape;1257;p82"/>
          <p:cNvSpPr/>
          <p:nvPr/>
        </p:nvSpPr>
        <p:spPr>
          <a:xfrm flipH="1">
            <a:off x="4593680" y="2279464"/>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58" name="Google Shape;1258;p82"/>
          <p:cNvPicPr preferRelativeResize="0"/>
          <p:nvPr/>
        </p:nvPicPr>
        <p:blipFill>
          <a:blip r:embed="rId3">
            <a:alphaModFix/>
          </a:blip>
          <a:stretch>
            <a:fillRect/>
          </a:stretch>
        </p:blipFill>
        <p:spPr>
          <a:xfrm>
            <a:off x="2297458" y="37197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264" name="Google Shape;1264;p83"/>
          <p:cNvSpPr txBox="1"/>
          <p:nvPr>
            <p:ph idx="1" type="body"/>
          </p:nvPr>
        </p:nvSpPr>
        <p:spPr>
          <a:xfrm>
            <a:off x="324000" y="759300"/>
            <a:ext cx="8237700" cy="68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Sort these triangles into the table, by which the most efficient trigonometric function to use is.</a:t>
            </a:r>
            <a:endParaRPr sz="1800"/>
          </a:p>
        </p:txBody>
      </p:sp>
      <p:cxnSp>
        <p:nvCxnSpPr>
          <p:cNvPr id="1265" name="Google Shape;1265;p83"/>
          <p:cNvCxnSpPr/>
          <p:nvPr/>
        </p:nvCxnSpPr>
        <p:spPr>
          <a:xfrm flipH="1" rot="10800000">
            <a:off x="371800" y="1835275"/>
            <a:ext cx="3097800" cy="8400"/>
          </a:xfrm>
          <a:prstGeom prst="straightConnector1">
            <a:avLst/>
          </a:prstGeom>
          <a:noFill/>
          <a:ln cap="flat" cmpd="sng" w="38100">
            <a:solidFill>
              <a:schemeClr val="dk1"/>
            </a:solidFill>
            <a:prstDash val="solid"/>
            <a:round/>
            <a:headEnd len="med" w="med" type="none"/>
            <a:tailEnd len="med" w="med" type="none"/>
          </a:ln>
        </p:spPr>
      </p:cxnSp>
      <p:cxnSp>
        <p:nvCxnSpPr>
          <p:cNvPr id="1266" name="Google Shape;1266;p83"/>
          <p:cNvCxnSpPr/>
          <p:nvPr/>
        </p:nvCxnSpPr>
        <p:spPr>
          <a:xfrm flipH="1" rot="-5400000">
            <a:off x="-212975" y="3097525"/>
            <a:ext cx="3097800" cy="8400"/>
          </a:xfrm>
          <a:prstGeom prst="straightConnector1">
            <a:avLst/>
          </a:prstGeom>
          <a:noFill/>
          <a:ln cap="flat" cmpd="sng" w="38100">
            <a:solidFill>
              <a:schemeClr val="dk1"/>
            </a:solidFill>
            <a:prstDash val="solid"/>
            <a:round/>
            <a:headEnd len="med" w="med" type="none"/>
            <a:tailEnd len="med" w="med" type="none"/>
          </a:ln>
        </p:spPr>
      </p:cxnSp>
      <p:cxnSp>
        <p:nvCxnSpPr>
          <p:cNvPr id="1267" name="Google Shape;1267;p83"/>
          <p:cNvCxnSpPr/>
          <p:nvPr/>
        </p:nvCxnSpPr>
        <p:spPr>
          <a:xfrm flipH="1" rot="-5400000">
            <a:off x="809100" y="3097525"/>
            <a:ext cx="3097800" cy="8400"/>
          </a:xfrm>
          <a:prstGeom prst="straightConnector1">
            <a:avLst/>
          </a:prstGeom>
          <a:noFill/>
          <a:ln cap="flat" cmpd="sng" w="38100">
            <a:solidFill>
              <a:schemeClr val="dk1"/>
            </a:solidFill>
            <a:prstDash val="solid"/>
            <a:round/>
            <a:headEnd len="med" w="med" type="none"/>
            <a:tailEnd len="med" w="med" type="none"/>
          </a:ln>
        </p:spPr>
      </p:cxnSp>
      <p:sp>
        <p:nvSpPr>
          <p:cNvPr id="1268" name="Google Shape;1268;p83"/>
          <p:cNvSpPr txBox="1"/>
          <p:nvPr>
            <p:ph idx="1" type="body"/>
          </p:nvPr>
        </p:nvSpPr>
        <p:spPr>
          <a:xfrm>
            <a:off x="592375" y="1552825"/>
            <a:ext cx="48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sine</a:t>
            </a:r>
            <a:endParaRPr sz="1800"/>
          </a:p>
        </p:txBody>
      </p:sp>
      <p:sp>
        <p:nvSpPr>
          <p:cNvPr id="1269" name="Google Shape;1269;p83"/>
          <p:cNvSpPr txBox="1"/>
          <p:nvPr>
            <p:ph idx="1" type="body"/>
          </p:nvPr>
        </p:nvSpPr>
        <p:spPr>
          <a:xfrm>
            <a:off x="1513401" y="1552825"/>
            <a:ext cx="786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a:t>
            </a:r>
            <a:r>
              <a:rPr lang="en-GB" sz="1800"/>
              <a:t>sine</a:t>
            </a:r>
            <a:endParaRPr sz="1800"/>
          </a:p>
        </p:txBody>
      </p:sp>
      <p:sp>
        <p:nvSpPr>
          <p:cNvPr id="1270" name="Google Shape;1270;p83"/>
          <p:cNvSpPr txBox="1"/>
          <p:nvPr>
            <p:ph idx="1" type="body"/>
          </p:nvPr>
        </p:nvSpPr>
        <p:spPr>
          <a:xfrm>
            <a:off x="2444365" y="1552825"/>
            <a:ext cx="10482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tangent</a:t>
            </a:r>
            <a:endParaRPr sz="1800"/>
          </a:p>
        </p:txBody>
      </p:sp>
      <p:grpSp>
        <p:nvGrpSpPr>
          <p:cNvPr id="1271" name="Google Shape;1271;p83"/>
          <p:cNvGrpSpPr/>
          <p:nvPr/>
        </p:nvGrpSpPr>
        <p:grpSpPr>
          <a:xfrm flipH="1" rot="-5400000">
            <a:off x="4548821" y="948951"/>
            <a:ext cx="827918" cy="1396895"/>
            <a:chOff x="-2022025" y="1455875"/>
            <a:chExt cx="1057366" cy="1784030"/>
          </a:xfrm>
        </p:grpSpPr>
        <p:sp>
          <p:nvSpPr>
            <p:cNvPr id="1272" name="Google Shape;1272;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3" name="Google Shape;1273;p83"/>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274" name="Google Shape;1274;p83"/>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275" name="Google Shape;1275;p83"/>
          <p:cNvSpPr/>
          <p:nvPr/>
        </p:nvSpPr>
        <p:spPr>
          <a:xfrm flipH="1">
            <a:off x="5415506" y="1832218"/>
            <a:ext cx="150900" cy="150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6" name="Google Shape;1276;p83"/>
          <p:cNvSpPr txBox="1"/>
          <p:nvPr>
            <p:ph idx="4294967295" type="body"/>
          </p:nvPr>
        </p:nvSpPr>
        <p:spPr>
          <a:xfrm flipH="1">
            <a:off x="4597250" y="1727630"/>
            <a:ext cx="4128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1277" name="Google Shape;1277;p83"/>
          <p:cNvSpPr txBox="1"/>
          <p:nvPr>
            <p:ph idx="4294967295" type="body"/>
          </p:nvPr>
        </p:nvSpPr>
        <p:spPr>
          <a:xfrm flipH="1">
            <a:off x="5721050" y="1491625"/>
            <a:ext cx="7866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5.3</a:t>
            </a:r>
            <a:r>
              <a:rPr lang="en-GB" sz="1800"/>
              <a:t> cm</a:t>
            </a:r>
            <a:endParaRPr sz="1800"/>
          </a:p>
        </p:txBody>
      </p:sp>
      <p:sp>
        <p:nvSpPr>
          <p:cNvPr id="1278" name="Google Shape;1278;p83"/>
          <p:cNvSpPr txBox="1"/>
          <p:nvPr>
            <p:ph idx="4294967295" type="body"/>
          </p:nvPr>
        </p:nvSpPr>
        <p:spPr>
          <a:xfrm flipH="1">
            <a:off x="4665222" y="2051252"/>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279" name="Google Shape;1279;p83"/>
          <p:cNvSpPr/>
          <p:nvPr/>
        </p:nvSpPr>
        <p:spPr>
          <a:xfrm flipH="1">
            <a:off x="3984131" y="1694494"/>
            <a:ext cx="584400" cy="584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80" name="Google Shape;1280;p83"/>
          <p:cNvGrpSpPr/>
          <p:nvPr/>
        </p:nvGrpSpPr>
        <p:grpSpPr>
          <a:xfrm rot="7509089">
            <a:off x="7633523" y="3250302"/>
            <a:ext cx="827909" cy="1396881"/>
            <a:chOff x="-2022025" y="1455875"/>
            <a:chExt cx="1057366" cy="1784030"/>
          </a:xfrm>
        </p:grpSpPr>
        <p:sp>
          <p:nvSpPr>
            <p:cNvPr id="1281" name="Google Shape;1281;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2" name="Google Shape;1282;p83"/>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283" name="Google Shape;1283;p83"/>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284" name="Google Shape;1284;p83"/>
          <p:cNvSpPr/>
          <p:nvPr/>
        </p:nvSpPr>
        <p:spPr>
          <a:xfrm rot="2112399">
            <a:off x="7390072" y="3782096"/>
            <a:ext cx="150904" cy="150904"/>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5" name="Google Shape;1285;p83"/>
          <p:cNvSpPr txBox="1"/>
          <p:nvPr>
            <p:ph idx="4294967295" type="body"/>
          </p:nvPr>
        </p:nvSpPr>
        <p:spPr>
          <a:xfrm flipH="1">
            <a:off x="7562460" y="3509280"/>
            <a:ext cx="4128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70</a:t>
            </a:r>
            <a:r>
              <a:rPr lang="en-GB" sz="1800"/>
              <a:t>°</a:t>
            </a:r>
            <a:endParaRPr sz="1800"/>
          </a:p>
        </p:txBody>
      </p:sp>
      <p:sp>
        <p:nvSpPr>
          <p:cNvPr id="1286" name="Google Shape;1286;p83"/>
          <p:cNvSpPr txBox="1"/>
          <p:nvPr>
            <p:ph idx="4294967295" type="body"/>
          </p:nvPr>
        </p:nvSpPr>
        <p:spPr>
          <a:xfrm flipH="1">
            <a:off x="7302900" y="4313400"/>
            <a:ext cx="7866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r>
              <a:rPr lang="en-GB" sz="1800"/>
              <a:t> cm</a:t>
            </a:r>
            <a:endParaRPr sz="1800"/>
          </a:p>
        </p:txBody>
      </p:sp>
      <p:sp>
        <p:nvSpPr>
          <p:cNvPr id="1287" name="Google Shape;1287;p83"/>
          <p:cNvSpPr txBox="1"/>
          <p:nvPr>
            <p:ph idx="4294967295" type="body"/>
          </p:nvPr>
        </p:nvSpPr>
        <p:spPr>
          <a:xfrm flipH="1">
            <a:off x="6999993" y="3235462"/>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288" name="Google Shape;1288;p83"/>
          <p:cNvSpPr/>
          <p:nvPr/>
        </p:nvSpPr>
        <p:spPr>
          <a:xfrm rot="-5684353">
            <a:off x="7476545" y="2913803"/>
            <a:ext cx="584599" cy="584599"/>
          </a:xfrm>
          <a:prstGeom prst="arc">
            <a:avLst>
              <a:gd fmla="val 9558863"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89" name="Google Shape;1289;p83"/>
          <p:cNvGrpSpPr/>
          <p:nvPr/>
        </p:nvGrpSpPr>
        <p:grpSpPr>
          <a:xfrm rot="5400000">
            <a:off x="6929094" y="1211811"/>
            <a:ext cx="1059047" cy="2618723"/>
            <a:chOff x="-2120172" y="1418432"/>
            <a:chExt cx="1059047" cy="1778661"/>
          </a:xfrm>
        </p:grpSpPr>
        <p:sp>
          <p:nvSpPr>
            <p:cNvPr id="1290" name="Google Shape;1290;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1" name="Google Shape;1291;p83"/>
            <p:cNvCxnSpPr/>
            <p:nvPr/>
          </p:nvCxnSpPr>
          <p:spPr>
            <a:xfrm flipH="1">
              <a:off x="-2120172" y="1418432"/>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92" name="Google Shape;1292;p83"/>
            <p:cNvCxnSpPr/>
            <p:nvPr/>
          </p:nvCxnSpPr>
          <p:spPr>
            <a:xfrm rot="10800000">
              <a:off x="-2022025" y="3197093"/>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93" name="Google Shape;1293;p83"/>
          <p:cNvSpPr/>
          <p:nvPr/>
        </p:nvSpPr>
        <p:spPr>
          <a:xfrm>
            <a:off x="6264670" y="2854572"/>
            <a:ext cx="1944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4" name="Google Shape;1294;p83"/>
          <p:cNvSpPr/>
          <p:nvPr/>
        </p:nvSpPr>
        <p:spPr>
          <a:xfrm>
            <a:off x="5950421" y="1910629"/>
            <a:ext cx="660000" cy="448200"/>
          </a:xfrm>
          <a:prstGeom prst="arc">
            <a:avLst>
              <a:gd fmla="val 947758" name="adj1"/>
              <a:gd fmla="val 57333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5" name="Google Shape;1295;p83"/>
          <p:cNvSpPr txBox="1"/>
          <p:nvPr>
            <p:ph idx="4294967295" type="body"/>
          </p:nvPr>
        </p:nvSpPr>
        <p:spPr>
          <a:xfrm>
            <a:off x="6384776" y="2297547"/>
            <a:ext cx="4482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296" name="Google Shape;1296;p83"/>
          <p:cNvSpPr txBox="1"/>
          <p:nvPr>
            <p:ph idx="4294967295" type="body"/>
          </p:nvPr>
        </p:nvSpPr>
        <p:spPr>
          <a:xfrm>
            <a:off x="5687450" y="2397372"/>
            <a:ext cx="972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a:t>
            </a:r>
            <a:r>
              <a:rPr lang="en-GB" sz="1800"/>
              <a:t>m</a:t>
            </a:r>
            <a:endParaRPr sz="1800"/>
          </a:p>
        </p:txBody>
      </p:sp>
      <p:sp>
        <p:nvSpPr>
          <p:cNvPr id="1297" name="Google Shape;1297;p83"/>
          <p:cNvSpPr txBox="1"/>
          <p:nvPr>
            <p:ph idx="4294967295" type="body"/>
          </p:nvPr>
        </p:nvSpPr>
        <p:spPr>
          <a:xfrm>
            <a:off x="7495235" y="2160423"/>
            <a:ext cx="1038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17 </a:t>
            </a:r>
            <a:r>
              <a:rPr lang="en-GB" sz="1800"/>
              <a:t>m</a:t>
            </a:r>
            <a:endParaRPr sz="1800"/>
          </a:p>
        </p:txBody>
      </p:sp>
      <p:grpSp>
        <p:nvGrpSpPr>
          <p:cNvPr id="1298" name="Google Shape;1298;p83"/>
          <p:cNvGrpSpPr/>
          <p:nvPr/>
        </p:nvGrpSpPr>
        <p:grpSpPr>
          <a:xfrm rot="5400000">
            <a:off x="4661813" y="2041010"/>
            <a:ext cx="1037100" cy="1860230"/>
            <a:chOff x="-2098225" y="1379675"/>
            <a:chExt cx="1037100" cy="1860230"/>
          </a:xfrm>
        </p:grpSpPr>
        <p:sp>
          <p:nvSpPr>
            <p:cNvPr id="1299" name="Google Shape;1299;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00" name="Google Shape;1300;p83"/>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301" name="Google Shape;1301;p83"/>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302" name="Google Shape;1302;p83"/>
          <p:cNvSpPr/>
          <p:nvPr/>
        </p:nvSpPr>
        <p:spPr>
          <a:xfrm>
            <a:off x="4371475" y="3293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3" name="Google Shape;1303;p83"/>
          <p:cNvSpPr/>
          <p:nvPr/>
        </p:nvSpPr>
        <p:spPr>
          <a:xfrm>
            <a:off x="5670300" y="3131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4" name="Google Shape;1304;p83"/>
          <p:cNvSpPr txBox="1"/>
          <p:nvPr>
            <p:ph idx="4294967295" type="body"/>
          </p:nvPr>
        </p:nvSpPr>
        <p:spPr>
          <a:xfrm>
            <a:off x="5405568" y="3214974"/>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305" name="Google Shape;1305;p83"/>
          <p:cNvSpPr txBox="1"/>
          <p:nvPr>
            <p:ph idx="4294967295" type="body"/>
          </p:nvPr>
        </p:nvSpPr>
        <p:spPr>
          <a:xfrm>
            <a:off x="3498691" y="2858575"/>
            <a:ext cx="849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1.8 cm</a:t>
            </a:r>
            <a:endParaRPr sz="1800"/>
          </a:p>
        </p:txBody>
      </p:sp>
      <p:sp>
        <p:nvSpPr>
          <p:cNvPr id="1306" name="Google Shape;1306;p83"/>
          <p:cNvSpPr txBox="1"/>
          <p:nvPr>
            <p:ph idx="4294967295" type="body"/>
          </p:nvPr>
        </p:nvSpPr>
        <p:spPr>
          <a:xfrm>
            <a:off x="5207280" y="2599400"/>
            <a:ext cx="705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cm</a:t>
            </a:r>
            <a:endParaRPr sz="1800"/>
          </a:p>
        </p:txBody>
      </p:sp>
      <p:grpSp>
        <p:nvGrpSpPr>
          <p:cNvPr id="1307" name="Google Shape;1307;p83"/>
          <p:cNvGrpSpPr/>
          <p:nvPr/>
        </p:nvGrpSpPr>
        <p:grpSpPr>
          <a:xfrm rot="3698160">
            <a:off x="4813878" y="2955394"/>
            <a:ext cx="1037162" cy="1860342"/>
            <a:chOff x="-2098225" y="1379675"/>
            <a:chExt cx="1037100" cy="1860230"/>
          </a:xfrm>
        </p:grpSpPr>
        <p:sp>
          <p:nvSpPr>
            <p:cNvPr id="1308" name="Google Shape;1308;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09" name="Google Shape;1309;p83"/>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310" name="Google Shape;1310;p83"/>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311" name="Google Shape;1311;p83"/>
          <p:cNvSpPr/>
          <p:nvPr/>
        </p:nvSpPr>
        <p:spPr>
          <a:xfrm rot="-1701672">
            <a:off x="4808207" y="4496230"/>
            <a:ext cx="192620" cy="19262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2" name="Google Shape;1312;p83"/>
          <p:cNvSpPr txBox="1"/>
          <p:nvPr>
            <p:ph idx="4294967295" type="body"/>
          </p:nvPr>
        </p:nvSpPr>
        <p:spPr>
          <a:xfrm>
            <a:off x="5131080" y="3546930"/>
            <a:ext cx="705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r>
              <a:rPr lang="en-GB" sz="1800"/>
              <a:t> cm</a:t>
            </a:r>
            <a:endParaRPr sz="1800"/>
          </a:p>
        </p:txBody>
      </p:sp>
      <p:sp>
        <p:nvSpPr>
          <p:cNvPr id="1313" name="Google Shape;1313;p83"/>
          <p:cNvSpPr txBox="1"/>
          <p:nvPr>
            <p:ph idx="4294967295" type="body"/>
          </p:nvPr>
        </p:nvSpPr>
        <p:spPr>
          <a:xfrm flipH="1">
            <a:off x="4024464" y="4280271"/>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314" name="Google Shape;1314;p83"/>
          <p:cNvSpPr/>
          <p:nvPr/>
        </p:nvSpPr>
        <p:spPr>
          <a:xfrm rot="-834467">
            <a:off x="5915413" y="3664987"/>
            <a:ext cx="746381" cy="746381"/>
          </a:xfrm>
          <a:prstGeom prst="arc">
            <a:avLst>
              <a:gd fmla="val 10607815"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5" name="Google Shape;1315;p83"/>
          <p:cNvSpPr txBox="1"/>
          <p:nvPr>
            <p:ph idx="4294967295" type="body"/>
          </p:nvPr>
        </p:nvSpPr>
        <p:spPr>
          <a:xfrm>
            <a:off x="5553573" y="3923224"/>
            <a:ext cx="372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r>
              <a:rPr lang="en-GB" sz="1800"/>
              <a:t>°</a:t>
            </a:r>
            <a:endParaRPr sz="1800"/>
          </a:p>
        </p:txBody>
      </p:sp>
      <p:grpSp>
        <p:nvGrpSpPr>
          <p:cNvPr id="1316" name="Google Shape;1316;p83"/>
          <p:cNvGrpSpPr/>
          <p:nvPr/>
        </p:nvGrpSpPr>
        <p:grpSpPr>
          <a:xfrm rot="5400000">
            <a:off x="7418870" y="880762"/>
            <a:ext cx="785722" cy="1100605"/>
            <a:chOff x="-2164308" y="1379675"/>
            <a:chExt cx="1245399" cy="1744500"/>
          </a:xfrm>
        </p:grpSpPr>
        <p:sp>
          <p:nvSpPr>
            <p:cNvPr id="1317" name="Google Shape;1317;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18" name="Google Shape;1318;p83"/>
            <p:cNvCxnSpPr/>
            <p:nvPr/>
          </p:nvCxnSpPr>
          <p:spPr>
            <a:xfrm flipH="1">
              <a:off x="-2164308"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319" name="Google Shape;1319;p83"/>
            <p:cNvCxnSpPr/>
            <p:nvPr/>
          </p:nvCxnSpPr>
          <p:spPr>
            <a:xfrm rot="10800000">
              <a:off x="-91890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320" name="Google Shape;1320;p83"/>
          <p:cNvSpPr txBox="1"/>
          <p:nvPr>
            <p:ph idx="4294967295" type="body"/>
          </p:nvPr>
        </p:nvSpPr>
        <p:spPr>
          <a:xfrm>
            <a:off x="7650569" y="1496770"/>
            <a:ext cx="4128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33°</a:t>
            </a:r>
            <a:endParaRPr sz="1800"/>
          </a:p>
        </p:txBody>
      </p:sp>
      <p:sp>
        <p:nvSpPr>
          <p:cNvPr id="1321" name="Google Shape;1321;p83"/>
          <p:cNvSpPr txBox="1"/>
          <p:nvPr>
            <p:ph idx="4294967295" type="body"/>
          </p:nvPr>
        </p:nvSpPr>
        <p:spPr>
          <a:xfrm>
            <a:off x="7589123" y="1787000"/>
            <a:ext cx="7464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cm</a:t>
            </a:r>
            <a:endParaRPr sz="1800"/>
          </a:p>
        </p:txBody>
      </p:sp>
      <p:sp>
        <p:nvSpPr>
          <p:cNvPr id="1322" name="Google Shape;1322;p83"/>
          <p:cNvSpPr txBox="1"/>
          <p:nvPr>
            <p:ph idx="4294967295" type="body"/>
          </p:nvPr>
        </p:nvSpPr>
        <p:spPr>
          <a:xfrm>
            <a:off x="7792335" y="1020225"/>
            <a:ext cx="9039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323" name="Google Shape;1323;p83"/>
          <p:cNvSpPr/>
          <p:nvPr/>
        </p:nvSpPr>
        <p:spPr>
          <a:xfrm>
            <a:off x="8063511" y="1497850"/>
            <a:ext cx="471000" cy="4710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4" name="Google Shape;1324;p83"/>
          <p:cNvSpPr/>
          <p:nvPr/>
        </p:nvSpPr>
        <p:spPr>
          <a:xfrm>
            <a:off x="7263738" y="1600313"/>
            <a:ext cx="135000" cy="133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25" name="Google Shape;1325;p83"/>
          <p:cNvGrpSpPr/>
          <p:nvPr/>
        </p:nvGrpSpPr>
        <p:grpSpPr>
          <a:xfrm>
            <a:off x="4311321" y="1328616"/>
            <a:ext cx="372298" cy="382814"/>
            <a:chOff x="1020916" y="1442088"/>
            <a:chExt cx="457200" cy="457200"/>
          </a:xfrm>
        </p:grpSpPr>
        <p:pic>
          <p:nvPicPr>
            <p:cNvPr id="1326" name="Google Shape;1326;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27" name="Google Shape;1327;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28" name="Google Shape;1328;p83"/>
          <p:cNvGrpSpPr/>
          <p:nvPr/>
        </p:nvGrpSpPr>
        <p:grpSpPr>
          <a:xfrm>
            <a:off x="6784962" y="1205843"/>
            <a:ext cx="412806" cy="382814"/>
            <a:chOff x="1020916" y="1442088"/>
            <a:chExt cx="457200" cy="457200"/>
          </a:xfrm>
        </p:grpSpPr>
        <p:pic>
          <p:nvPicPr>
            <p:cNvPr id="1329" name="Google Shape;1329;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30" name="Google Shape;1330;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31" name="Google Shape;1331;p83"/>
          <p:cNvGrpSpPr/>
          <p:nvPr/>
        </p:nvGrpSpPr>
        <p:grpSpPr>
          <a:xfrm>
            <a:off x="4656421" y="2990265"/>
            <a:ext cx="372298" cy="382814"/>
            <a:chOff x="1020916" y="1442088"/>
            <a:chExt cx="457200" cy="457200"/>
          </a:xfrm>
        </p:grpSpPr>
        <p:pic>
          <p:nvPicPr>
            <p:cNvPr id="1332" name="Google Shape;1332;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33" name="Google Shape;1333;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334" name="Google Shape;1334;p83"/>
          <p:cNvGrpSpPr/>
          <p:nvPr/>
        </p:nvGrpSpPr>
        <p:grpSpPr>
          <a:xfrm>
            <a:off x="6698169" y="2545843"/>
            <a:ext cx="372298" cy="382814"/>
            <a:chOff x="1020916" y="1442088"/>
            <a:chExt cx="457200" cy="457200"/>
          </a:xfrm>
        </p:grpSpPr>
        <p:pic>
          <p:nvPicPr>
            <p:cNvPr id="1335" name="Google Shape;1335;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36" name="Google Shape;1336;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337" name="Google Shape;1337;p83"/>
          <p:cNvGrpSpPr/>
          <p:nvPr/>
        </p:nvGrpSpPr>
        <p:grpSpPr>
          <a:xfrm>
            <a:off x="4901668" y="4011118"/>
            <a:ext cx="372298" cy="382814"/>
            <a:chOff x="1020916" y="1442088"/>
            <a:chExt cx="457200" cy="457200"/>
          </a:xfrm>
        </p:grpSpPr>
        <p:pic>
          <p:nvPicPr>
            <p:cNvPr id="1338" name="Google Shape;1338;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39" name="Google Shape;1339;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340" name="Google Shape;1340;p83"/>
          <p:cNvGrpSpPr/>
          <p:nvPr/>
        </p:nvGrpSpPr>
        <p:grpSpPr>
          <a:xfrm>
            <a:off x="6773482" y="3671893"/>
            <a:ext cx="412806" cy="382814"/>
            <a:chOff x="1020916" y="1442088"/>
            <a:chExt cx="457200" cy="457200"/>
          </a:xfrm>
        </p:grpSpPr>
        <p:pic>
          <p:nvPicPr>
            <p:cNvPr id="1341" name="Google Shape;1341;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42" name="Google Shape;1342;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84"/>
          <p:cNvSpPr/>
          <p:nvPr/>
        </p:nvSpPr>
        <p:spPr>
          <a:xfrm>
            <a:off x="6311869"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8" name="Google Shape;1348;p84"/>
          <p:cNvSpPr/>
          <p:nvPr/>
        </p:nvSpPr>
        <p:spPr>
          <a:xfrm>
            <a:off x="3855403"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84"/>
          <p:cNvSpPr/>
          <p:nvPr/>
        </p:nvSpPr>
        <p:spPr>
          <a:xfrm>
            <a:off x="1398936"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84"/>
          <p:cNvSpPr/>
          <p:nvPr/>
        </p:nvSpPr>
        <p:spPr>
          <a:xfrm>
            <a:off x="6054904"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1" name="Google Shape;1351;p84"/>
          <p:cNvSpPr/>
          <p:nvPr/>
        </p:nvSpPr>
        <p:spPr>
          <a:xfrm>
            <a:off x="3594560"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2" name="Google Shape;1352;p84"/>
          <p:cNvSpPr/>
          <p:nvPr/>
        </p:nvSpPr>
        <p:spPr>
          <a:xfrm>
            <a:off x="1138075"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3" name="Google Shape;1353;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354" name="Google Shape;1354;p84"/>
          <p:cNvSpPr txBox="1"/>
          <p:nvPr>
            <p:ph idx="1" type="body"/>
          </p:nvPr>
        </p:nvSpPr>
        <p:spPr>
          <a:xfrm>
            <a:off x="324000" y="759300"/>
            <a:ext cx="8237700" cy="68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Match the equation to the correct triangle.</a:t>
            </a:r>
            <a:endParaRPr sz="1800"/>
          </a:p>
        </p:txBody>
      </p:sp>
      <p:sp>
        <p:nvSpPr>
          <p:cNvPr id="1355" name="Google Shape;1355;p84"/>
          <p:cNvSpPr/>
          <p:nvPr/>
        </p:nvSpPr>
        <p:spPr>
          <a:xfrm>
            <a:off x="2246099" y="28388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56" name="Google Shape;1356;p84"/>
          <p:cNvGrpSpPr/>
          <p:nvPr/>
        </p:nvGrpSpPr>
        <p:grpSpPr>
          <a:xfrm>
            <a:off x="1479300" y="1364625"/>
            <a:ext cx="1057366" cy="1764766"/>
            <a:chOff x="-2022025" y="1455875"/>
            <a:chExt cx="1057366" cy="1764766"/>
          </a:xfrm>
        </p:grpSpPr>
        <p:sp>
          <p:nvSpPr>
            <p:cNvPr id="1357" name="Google Shape;1357;p8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8" name="Google Shape;1358;p84"/>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359" name="Google Shape;1359;p84"/>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360" name="Google Shape;1360;p84"/>
          <p:cNvSpPr/>
          <p:nvPr/>
        </p:nvSpPr>
        <p:spPr>
          <a:xfrm>
            <a:off x="2021493" y="968532"/>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1" name="Google Shape;1361;p84"/>
          <p:cNvSpPr txBox="1"/>
          <p:nvPr>
            <p:ph idx="4294967295" type="body"/>
          </p:nvPr>
        </p:nvSpPr>
        <p:spPr>
          <a:xfrm flipH="1">
            <a:off x="2596299" y="204811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362" name="Google Shape;1362;p84"/>
          <p:cNvSpPr txBox="1"/>
          <p:nvPr>
            <p:ph idx="4294967295" type="body"/>
          </p:nvPr>
        </p:nvSpPr>
        <p:spPr>
          <a:xfrm flipH="1">
            <a:off x="1608603" y="3255059"/>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r>
              <a:rPr lang="en-GB" sz="1800"/>
              <a:t> cm</a:t>
            </a:r>
            <a:endParaRPr sz="1800"/>
          </a:p>
        </p:txBody>
      </p:sp>
      <p:sp>
        <p:nvSpPr>
          <p:cNvPr id="1363" name="Google Shape;1363;p84"/>
          <p:cNvSpPr txBox="1"/>
          <p:nvPr>
            <p:ph idx="4294967295" type="body"/>
          </p:nvPr>
        </p:nvSpPr>
        <p:spPr>
          <a:xfrm>
            <a:off x="2184860" y="1740124"/>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364" name="Google Shape;1364;p84"/>
          <p:cNvSpPr/>
          <p:nvPr/>
        </p:nvSpPr>
        <p:spPr>
          <a:xfrm>
            <a:off x="4989299" y="29150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65" name="Google Shape;1365;p84"/>
          <p:cNvGrpSpPr/>
          <p:nvPr/>
        </p:nvGrpSpPr>
        <p:grpSpPr>
          <a:xfrm>
            <a:off x="4146300" y="1364625"/>
            <a:ext cx="1037100" cy="1840966"/>
            <a:chOff x="-2098225" y="1379675"/>
            <a:chExt cx="1037100" cy="1840966"/>
          </a:xfrm>
        </p:grpSpPr>
        <p:sp>
          <p:nvSpPr>
            <p:cNvPr id="1366" name="Google Shape;1366;p8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7" name="Google Shape;1367;p84"/>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368" name="Google Shape;1368;p84"/>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369" name="Google Shape;1369;p84"/>
          <p:cNvSpPr txBox="1"/>
          <p:nvPr>
            <p:ph idx="4294967295" type="body"/>
          </p:nvPr>
        </p:nvSpPr>
        <p:spPr>
          <a:xfrm flipH="1">
            <a:off x="3914628" y="192836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370" name="Google Shape;1370;p84"/>
          <p:cNvSpPr txBox="1"/>
          <p:nvPr>
            <p:ph idx="4294967295" type="body"/>
          </p:nvPr>
        </p:nvSpPr>
        <p:spPr>
          <a:xfrm flipH="1">
            <a:off x="4409918" y="3255059"/>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cm</a:t>
            </a:r>
            <a:endParaRPr sz="1800"/>
          </a:p>
        </p:txBody>
      </p:sp>
      <p:sp>
        <p:nvSpPr>
          <p:cNvPr id="1371" name="Google Shape;1371;p84"/>
          <p:cNvSpPr txBox="1"/>
          <p:nvPr>
            <p:ph idx="4294967295" type="body"/>
          </p:nvPr>
        </p:nvSpPr>
        <p:spPr>
          <a:xfrm>
            <a:off x="4916371" y="1838399"/>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372" name="Google Shape;1372;p84"/>
          <p:cNvSpPr/>
          <p:nvPr/>
        </p:nvSpPr>
        <p:spPr>
          <a:xfrm>
            <a:off x="7199099" y="29912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73" name="Google Shape;1373;p84"/>
          <p:cNvGrpSpPr/>
          <p:nvPr/>
        </p:nvGrpSpPr>
        <p:grpSpPr>
          <a:xfrm>
            <a:off x="6356100" y="1440825"/>
            <a:ext cx="1133566" cy="1744500"/>
            <a:chOff x="-2098225" y="1379675"/>
            <a:chExt cx="1133566" cy="1744500"/>
          </a:xfrm>
        </p:grpSpPr>
        <p:sp>
          <p:nvSpPr>
            <p:cNvPr id="1374" name="Google Shape;1374;p8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5" name="Google Shape;1375;p84"/>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376" name="Google Shape;1376;p84"/>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377" name="Google Shape;1377;p84"/>
          <p:cNvSpPr txBox="1"/>
          <p:nvPr>
            <p:ph idx="4294967295" type="body"/>
          </p:nvPr>
        </p:nvSpPr>
        <p:spPr>
          <a:xfrm flipH="1">
            <a:off x="6148528" y="1999188"/>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378" name="Google Shape;1378;p84"/>
          <p:cNvSpPr txBox="1"/>
          <p:nvPr>
            <p:ph idx="4294967295" type="body"/>
          </p:nvPr>
        </p:nvSpPr>
        <p:spPr>
          <a:xfrm flipH="1">
            <a:off x="7526153" y="224996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cm</a:t>
            </a:r>
            <a:endParaRPr sz="1800"/>
          </a:p>
        </p:txBody>
      </p:sp>
      <p:sp>
        <p:nvSpPr>
          <p:cNvPr id="1379" name="Google Shape;1379;p84"/>
          <p:cNvSpPr txBox="1"/>
          <p:nvPr>
            <p:ph idx="4294967295" type="body"/>
          </p:nvPr>
        </p:nvSpPr>
        <p:spPr>
          <a:xfrm>
            <a:off x="7125803" y="1916317"/>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380" name="Google Shape;1380;p84"/>
          <p:cNvSpPr txBox="1"/>
          <p:nvPr>
            <p:ph idx="4294967295" type="body"/>
          </p:nvPr>
        </p:nvSpPr>
        <p:spPr>
          <a:xfrm>
            <a:off x="1512328" y="394605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1800"/>
              <a:t>𝜃</a:t>
            </a:r>
            <a:r>
              <a:rPr lang="en-GB" sz="1800"/>
              <a:t>°</a:t>
            </a:r>
            <a:r>
              <a:rPr lang="en-GB" sz="2000">
                <a:latin typeface="Times New Roman"/>
                <a:ea typeface="Times New Roman"/>
                <a:cs typeface="Times New Roman"/>
                <a:sym typeface="Times New Roman"/>
              </a:rPr>
              <a:t>)</a:t>
            </a:r>
            <a:r>
              <a:rPr lang="en-GB" sz="1800"/>
              <a:t> = </a:t>
            </a:r>
            <a:endParaRPr sz="1800"/>
          </a:p>
        </p:txBody>
      </p:sp>
      <p:sp>
        <p:nvSpPr>
          <p:cNvPr id="1381" name="Google Shape;1381;p84"/>
          <p:cNvSpPr txBox="1"/>
          <p:nvPr>
            <p:ph idx="4294967295" type="body"/>
          </p:nvPr>
        </p:nvSpPr>
        <p:spPr>
          <a:xfrm>
            <a:off x="2565141" y="41517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382" name="Google Shape;1382;p84"/>
          <p:cNvCxnSpPr/>
          <p:nvPr/>
        </p:nvCxnSpPr>
        <p:spPr>
          <a:xfrm>
            <a:off x="2506650" y="4124133"/>
            <a:ext cx="447000" cy="0"/>
          </a:xfrm>
          <a:prstGeom prst="straightConnector1">
            <a:avLst/>
          </a:prstGeom>
          <a:noFill/>
          <a:ln cap="flat" cmpd="sng" w="19050">
            <a:solidFill>
              <a:schemeClr val="dk1"/>
            </a:solidFill>
            <a:prstDash val="solid"/>
            <a:round/>
            <a:headEnd len="med" w="med" type="none"/>
            <a:tailEnd len="med" w="med" type="none"/>
          </a:ln>
        </p:spPr>
      </p:cxnSp>
      <p:sp>
        <p:nvSpPr>
          <p:cNvPr id="1383" name="Google Shape;1383;p84"/>
          <p:cNvSpPr txBox="1"/>
          <p:nvPr>
            <p:ph idx="4294967295" type="body"/>
          </p:nvPr>
        </p:nvSpPr>
        <p:spPr>
          <a:xfrm>
            <a:off x="2565141" y="383397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0</a:t>
            </a:r>
            <a:endParaRPr sz="1800"/>
          </a:p>
        </p:txBody>
      </p:sp>
      <p:sp>
        <p:nvSpPr>
          <p:cNvPr id="1384" name="Google Shape;1384;p84"/>
          <p:cNvSpPr/>
          <p:nvPr/>
        </p:nvSpPr>
        <p:spPr>
          <a:xfrm>
            <a:off x="4742018" y="1042557"/>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5" name="Google Shape;1385;p84"/>
          <p:cNvSpPr/>
          <p:nvPr/>
        </p:nvSpPr>
        <p:spPr>
          <a:xfrm>
            <a:off x="6980268" y="1116582"/>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6" name="Google Shape;1386;p84"/>
          <p:cNvSpPr txBox="1"/>
          <p:nvPr>
            <p:ph idx="4294967295" type="body"/>
          </p:nvPr>
        </p:nvSpPr>
        <p:spPr>
          <a:xfrm>
            <a:off x="3956253" y="3958183"/>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1800"/>
              <a:t>𝜃°</a:t>
            </a:r>
            <a:r>
              <a:rPr lang="en-GB" sz="2000">
                <a:latin typeface="Times New Roman"/>
                <a:ea typeface="Times New Roman"/>
                <a:cs typeface="Times New Roman"/>
                <a:sym typeface="Times New Roman"/>
              </a:rPr>
              <a:t>)</a:t>
            </a:r>
            <a:r>
              <a:rPr lang="en-GB" sz="1800"/>
              <a:t> = </a:t>
            </a:r>
            <a:endParaRPr sz="1800"/>
          </a:p>
        </p:txBody>
      </p:sp>
      <p:sp>
        <p:nvSpPr>
          <p:cNvPr id="1387" name="Google Shape;1387;p84"/>
          <p:cNvSpPr txBox="1"/>
          <p:nvPr>
            <p:ph idx="4294967295" type="body"/>
          </p:nvPr>
        </p:nvSpPr>
        <p:spPr>
          <a:xfrm>
            <a:off x="5009066" y="416392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388" name="Google Shape;1388;p84"/>
          <p:cNvCxnSpPr/>
          <p:nvPr/>
        </p:nvCxnSpPr>
        <p:spPr>
          <a:xfrm>
            <a:off x="4950575" y="4136258"/>
            <a:ext cx="447000" cy="0"/>
          </a:xfrm>
          <a:prstGeom prst="straightConnector1">
            <a:avLst/>
          </a:prstGeom>
          <a:noFill/>
          <a:ln cap="flat" cmpd="sng" w="19050">
            <a:solidFill>
              <a:schemeClr val="dk1"/>
            </a:solidFill>
            <a:prstDash val="solid"/>
            <a:round/>
            <a:headEnd len="med" w="med" type="none"/>
            <a:tailEnd len="med" w="med" type="none"/>
          </a:ln>
        </p:spPr>
      </p:cxnSp>
      <p:sp>
        <p:nvSpPr>
          <p:cNvPr id="1389" name="Google Shape;1389;p84"/>
          <p:cNvSpPr txBox="1"/>
          <p:nvPr>
            <p:ph idx="4294967295" type="body"/>
          </p:nvPr>
        </p:nvSpPr>
        <p:spPr>
          <a:xfrm>
            <a:off x="5009066" y="38460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390" name="Google Shape;1390;p84"/>
          <p:cNvSpPr txBox="1"/>
          <p:nvPr>
            <p:ph idx="4294967295" type="body"/>
          </p:nvPr>
        </p:nvSpPr>
        <p:spPr>
          <a:xfrm>
            <a:off x="6425128" y="3991283"/>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a:t>
            </a:r>
            <a:r>
              <a:rPr lang="en-GB" sz="1800"/>
              <a:t>𝜃°</a:t>
            </a:r>
            <a:r>
              <a:rPr lang="en-GB" sz="2000">
                <a:latin typeface="Times New Roman"/>
                <a:ea typeface="Times New Roman"/>
                <a:cs typeface="Times New Roman"/>
                <a:sym typeface="Times New Roman"/>
              </a:rPr>
              <a:t>)</a:t>
            </a:r>
            <a:r>
              <a:rPr lang="en-GB" sz="1800"/>
              <a:t> = </a:t>
            </a:r>
            <a:endParaRPr sz="1800"/>
          </a:p>
        </p:txBody>
      </p:sp>
      <p:sp>
        <p:nvSpPr>
          <p:cNvPr id="1391" name="Google Shape;1391;p84"/>
          <p:cNvSpPr txBox="1"/>
          <p:nvPr>
            <p:ph idx="4294967295" type="body"/>
          </p:nvPr>
        </p:nvSpPr>
        <p:spPr>
          <a:xfrm>
            <a:off x="7477941" y="419702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392" name="Google Shape;1392;p84"/>
          <p:cNvCxnSpPr/>
          <p:nvPr/>
        </p:nvCxnSpPr>
        <p:spPr>
          <a:xfrm>
            <a:off x="7419450" y="4169358"/>
            <a:ext cx="447000" cy="0"/>
          </a:xfrm>
          <a:prstGeom prst="straightConnector1">
            <a:avLst/>
          </a:prstGeom>
          <a:noFill/>
          <a:ln cap="flat" cmpd="sng" w="19050">
            <a:solidFill>
              <a:schemeClr val="dk1"/>
            </a:solidFill>
            <a:prstDash val="solid"/>
            <a:round/>
            <a:headEnd len="med" w="med" type="none"/>
            <a:tailEnd len="med" w="med" type="none"/>
          </a:ln>
        </p:spPr>
      </p:cxnSp>
      <p:sp>
        <p:nvSpPr>
          <p:cNvPr id="1393" name="Google Shape;1393;p84"/>
          <p:cNvSpPr txBox="1"/>
          <p:nvPr>
            <p:ph idx="4294967295" type="body"/>
          </p:nvPr>
        </p:nvSpPr>
        <p:spPr>
          <a:xfrm>
            <a:off x="7477941" y="38791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399" name="Google Shape;1399;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Sort these triangles into the table, regarding the most efficient trigonometric function to use.</a:t>
            </a:r>
            <a:endParaRPr sz="1800"/>
          </a:p>
        </p:txBody>
      </p:sp>
      <p:cxnSp>
        <p:nvCxnSpPr>
          <p:cNvPr id="1400" name="Google Shape;1400;p85"/>
          <p:cNvCxnSpPr/>
          <p:nvPr/>
        </p:nvCxnSpPr>
        <p:spPr>
          <a:xfrm flipH="1" rot="10800000">
            <a:off x="371800" y="1835275"/>
            <a:ext cx="3097800" cy="8400"/>
          </a:xfrm>
          <a:prstGeom prst="straightConnector1">
            <a:avLst/>
          </a:prstGeom>
          <a:noFill/>
          <a:ln cap="flat" cmpd="sng" w="38100">
            <a:solidFill>
              <a:schemeClr val="dk1"/>
            </a:solidFill>
            <a:prstDash val="solid"/>
            <a:round/>
            <a:headEnd len="med" w="med" type="none"/>
            <a:tailEnd len="med" w="med" type="none"/>
          </a:ln>
        </p:spPr>
      </p:cxnSp>
      <p:cxnSp>
        <p:nvCxnSpPr>
          <p:cNvPr id="1401" name="Google Shape;1401;p85"/>
          <p:cNvCxnSpPr/>
          <p:nvPr/>
        </p:nvCxnSpPr>
        <p:spPr>
          <a:xfrm flipH="1" rot="-5400000">
            <a:off x="-212975" y="3097525"/>
            <a:ext cx="3097800" cy="8400"/>
          </a:xfrm>
          <a:prstGeom prst="straightConnector1">
            <a:avLst/>
          </a:prstGeom>
          <a:noFill/>
          <a:ln cap="flat" cmpd="sng" w="38100">
            <a:solidFill>
              <a:schemeClr val="dk1"/>
            </a:solidFill>
            <a:prstDash val="solid"/>
            <a:round/>
            <a:headEnd len="med" w="med" type="none"/>
            <a:tailEnd len="med" w="med" type="none"/>
          </a:ln>
        </p:spPr>
      </p:cxnSp>
      <p:cxnSp>
        <p:nvCxnSpPr>
          <p:cNvPr id="1402" name="Google Shape;1402;p85"/>
          <p:cNvCxnSpPr/>
          <p:nvPr/>
        </p:nvCxnSpPr>
        <p:spPr>
          <a:xfrm flipH="1" rot="-5400000">
            <a:off x="809100" y="3097525"/>
            <a:ext cx="3097800" cy="8400"/>
          </a:xfrm>
          <a:prstGeom prst="straightConnector1">
            <a:avLst/>
          </a:prstGeom>
          <a:noFill/>
          <a:ln cap="flat" cmpd="sng" w="38100">
            <a:solidFill>
              <a:schemeClr val="dk1"/>
            </a:solidFill>
            <a:prstDash val="solid"/>
            <a:round/>
            <a:headEnd len="med" w="med" type="none"/>
            <a:tailEnd len="med" w="med" type="none"/>
          </a:ln>
        </p:spPr>
      </p:cxnSp>
      <p:sp>
        <p:nvSpPr>
          <p:cNvPr id="1403" name="Google Shape;1403;p85"/>
          <p:cNvSpPr txBox="1"/>
          <p:nvPr>
            <p:ph idx="1" type="body"/>
          </p:nvPr>
        </p:nvSpPr>
        <p:spPr>
          <a:xfrm>
            <a:off x="592375" y="1552825"/>
            <a:ext cx="48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sine</a:t>
            </a:r>
            <a:endParaRPr sz="1800"/>
          </a:p>
        </p:txBody>
      </p:sp>
      <p:sp>
        <p:nvSpPr>
          <p:cNvPr id="1404" name="Google Shape;1404;p85"/>
          <p:cNvSpPr txBox="1"/>
          <p:nvPr>
            <p:ph idx="1" type="body"/>
          </p:nvPr>
        </p:nvSpPr>
        <p:spPr>
          <a:xfrm>
            <a:off x="1513401" y="1552825"/>
            <a:ext cx="786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cosine</a:t>
            </a:r>
            <a:endParaRPr sz="1800"/>
          </a:p>
        </p:txBody>
      </p:sp>
      <p:sp>
        <p:nvSpPr>
          <p:cNvPr id="1405" name="Google Shape;1405;p85"/>
          <p:cNvSpPr txBox="1"/>
          <p:nvPr>
            <p:ph idx="1" type="body"/>
          </p:nvPr>
        </p:nvSpPr>
        <p:spPr>
          <a:xfrm>
            <a:off x="2444365" y="1552825"/>
            <a:ext cx="10482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tangent</a:t>
            </a:r>
            <a:endParaRPr sz="1800"/>
          </a:p>
        </p:txBody>
      </p:sp>
      <p:grpSp>
        <p:nvGrpSpPr>
          <p:cNvPr id="1406" name="Google Shape;1406;p85"/>
          <p:cNvGrpSpPr/>
          <p:nvPr/>
        </p:nvGrpSpPr>
        <p:grpSpPr>
          <a:xfrm flipH="1" rot="-5400000">
            <a:off x="4548821" y="948951"/>
            <a:ext cx="827918" cy="1396895"/>
            <a:chOff x="-2022025" y="1455875"/>
            <a:chExt cx="1057366" cy="1784030"/>
          </a:xfrm>
        </p:grpSpPr>
        <p:sp>
          <p:nvSpPr>
            <p:cNvPr id="1407" name="Google Shape;1407;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08" name="Google Shape;1408;p85"/>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409" name="Google Shape;1409;p85"/>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410" name="Google Shape;1410;p85"/>
          <p:cNvSpPr/>
          <p:nvPr/>
        </p:nvSpPr>
        <p:spPr>
          <a:xfrm flipH="1">
            <a:off x="5415506" y="1832218"/>
            <a:ext cx="150900" cy="150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1" name="Google Shape;1411;p85"/>
          <p:cNvSpPr txBox="1"/>
          <p:nvPr>
            <p:ph idx="4294967295" type="body"/>
          </p:nvPr>
        </p:nvSpPr>
        <p:spPr>
          <a:xfrm flipH="1">
            <a:off x="4597250" y="1727630"/>
            <a:ext cx="4128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1412" name="Google Shape;1412;p85"/>
          <p:cNvSpPr txBox="1"/>
          <p:nvPr>
            <p:ph idx="4294967295" type="body"/>
          </p:nvPr>
        </p:nvSpPr>
        <p:spPr>
          <a:xfrm flipH="1">
            <a:off x="5721050" y="1491625"/>
            <a:ext cx="7866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5.3 cm</a:t>
            </a:r>
            <a:endParaRPr sz="1800"/>
          </a:p>
        </p:txBody>
      </p:sp>
      <p:sp>
        <p:nvSpPr>
          <p:cNvPr id="1413" name="Google Shape;1413;p85"/>
          <p:cNvSpPr txBox="1"/>
          <p:nvPr>
            <p:ph idx="4294967295" type="body"/>
          </p:nvPr>
        </p:nvSpPr>
        <p:spPr>
          <a:xfrm flipH="1">
            <a:off x="4665222" y="2051252"/>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414" name="Google Shape;1414;p85"/>
          <p:cNvSpPr/>
          <p:nvPr/>
        </p:nvSpPr>
        <p:spPr>
          <a:xfrm flipH="1">
            <a:off x="3984131" y="1694494"/>
            <a:ext cx="584400" cy="584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15" name="Google Shape;1415;p85"/>
          <p:cNvGrpSpPr/>
          <p:nvPr/>
        </p:nvGrpSpPr>
        <p:grpSpPr>
          <a:xfrm rot="7509089">
            <a:off x="7633523" y="3250302"/>
            <a:ext cx="827909" cy="1396881"/>
            <a:chOff x="-2022025" y="1455875"/>
            <a:chExt cx="1057366" cy="1784030"/>
          </a:xfrm>
        </p:grpSpPr>
        <p:sp>
          <p:nvSpPr>
            <p:cNvPr id="1416" name="Google Shape;1416;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17" name="Google Shape;1417;p85"/>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418" name="Google Shape;1418;p85"/>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419" name="Google Shape;1419;p85"/>
          <p:cNvSpPr/>
          <p:nvPr/>
        </p:nvSpPr>
        <p:spPr>
          <a:xfrm rot="2112399">
            <a:off x="7390072" y="3782096"/>
            <a:ext cx="150904" cy="150904"/>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0" name="Google Shape;1420;p85"/>
          <p:cNvSpPr txBox="1"/>
          <p:nvPr>
            <p:ph idx="4294967295" type="body"/>
          </p:nvPr>
        </p:nvSpPr>
        <p:spPr>
          <a:xfrm flipH="1">
            <a:off x="7562460" y="3509280"/>
            <a:ext cx="4128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70°</a:t>
            </a:r>
            <a:endParaRPr sz="1800"/>
          </a:p>
        </p:txBody>
      </p:sp>
      <p:sp>
        <p:nvSpPr>
          <p:cNvPr id="1421" name="Google Shape;1421;p85"/>
          <p:cNvSpPr txBox="1"/>
          <p:nvPr>
            <p:ph idx="4294967295" type="body"/>
          </p:nvPr>
        </p:nvSpPr>
        <p:spPr>
          <a:xfrm flipH="1">
            <a:off x="7302900" y="4313400"/>
            <a:ext cx="7866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cm</a:t>
            </a:r>
            <a:endParaRPr sz="1800"/>
          </a:p>
        </p:txBody>
      </p:sp>
      <p:sp>
        <p:nvSpPr>
          <p:cNvPr id="1422" name="Google Shape;1422;p85"/>
          <p:cNvSpPr txBox="1"/>
          <p:nvPr>
            <p:ph idx="4294967295" type="body"/>
          </p:nvPr>
        </p:nvSpPr>
        <p:spPr>
          <a:xfrm flipH="1">
            <a:off x="6999993" y="3235462"/>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423" name="Google Shape;1423;p85"/>
          <p:cNvSpPr/>
          <p:nvPr/>
        </p:nvSpPr>
        <p:spPr>
          <a:xfrm rot="-5684353">
            <a:off x="7476545" y="2913803"/>
            <a:ext cx="584599" cy="584599"/>
          </a:xfrm>
          <a:prstGeom prst="arc">
            <a:avLst>
              <a:gd fmla="val 9558863"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24" name="Google Shape;1424;p85"/>
          <p:cNvGrpSpPr/>
          <p:nvPr/>
        </p:nvGrpSpPr>
        <p:grpSpPr>
          <a:xfrm rot="5400000">
            <a:off x="6929094" y="1211811"/>
            <a:ext cx="1059047" cy="2618723"/>
            <a:chOff x="-2120172" y="1418432"/>
            <a:chExt cx="1059047" cy="1778661"/>
          </a:xfrm>
        </p:grpSpPr>
        <p:sp>
          <p:nvSpPr>
            <p:cNvPr id="1425" name="Google Shape;1425;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6" name="Google Shape;1426;p85"/>
            <p:cNvCxnSpPr/>
            <p:nvPr/>
          </p:nvCxnSpPr>
          <p:spPr>
            <a:xfrm flipH="1">
              <a:off x="-2120172" y="1418432"/>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427" name="Google Shape;1427;p85"/>
            <p:cNvCxnSpPr/>
            <p:nvPr/>
          </p:nvCxnSpPr>
          <p:spPr>
            <a:xfrm rot="10800000">
              <a:off x="-2022025" y="3197093"/>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28" name="Google Shape;1428;p85"/>
          <p:cNvSpPr/>
          <p:nvPr/>
        </p:nvSpPr>
        <p:spPr>
          <a:xfrm>
            <a:off x="6264670" y="2854572"/>
            <a:ext cx="1944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9" name="Google Shape;1429;p85"/>
          <p:cNvSpPr/>
          <p:nvPr/>
        </p:nvSpPr>
        <p:spPr>
          <a:xfrm>
            <a:off x="5950421" y="1910629"/>
            <a:ext cx="660000" cy="448200"/>
          </a:xfrm>
          <a:prstGeom prst="arc">
            <a:avLst>
              <a:gd fmla="val 947758" name="adj1"/>
              <a:gd fmla="val 57333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0" name="Google Shape;1430;p85"/>
          <p:cNvSpPr txBox="1"/>
          <p:nvPr>
            <p:ph idx="4294967295" type="body"/>
          </p:nvPr>
        </p:nvSpPr>
        <p:spPr>
          <a:xfrm>
            <a:off x="6384776" y="2297547"/>
            <a:ext cx="4482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431" name="Google Shape;1431;p85"/>
          <p:cNvSpPr txBox="1"/>
          <p:nvPr>
            <p:ph idx="4294967295" type="body"/>
          </p:nvPr>
        </p:nvSpPr>
        <p:spPr>
          <a:xfrm>
            <a:off x="5687450" y="2397372"/>
            <a:ext cx="972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m</a:t>
            </a:r>
            <a:endParaRPr sz="1800"/>
          </a:p>
        </p:txBody>
      </p:sp>
      <p:sp>
        <p:nvSpPr>
          <p:cNvPr id="1432" name="Google Shape;1432;p85"/>
          <p:cNvSpPr txBox="1"/>
          <p:nvPr>
            <p:ph idx="4294967295" type="body"/>
          </p:nvPr>
        </p:nvSpPr>
        <p:spPr>
          <a:xfrm>
            <a:off x="7495235" y="2160423"/>
            <a:ext cx="1038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17 m</a:t>
            </a:r>
            <a:endParaRPr sz="1800"/>
          </a:p>
        </p:txBody>
      </p:sp>
      <p:grpSp>
        <p:nvGrpSpPr>
          <p:cNvPr id="1433" name="Google Shape;1433;p85"/>
          <p:cNvGrpSpPr/>
          <p:nvPr/>
        </p:nvGrpSpPr>
        <p:grpSpPr>
          <a:xfrm rot="5400000">
            <a:off x="4661813" y="2041010"/>
            <a:ext cx="1037100" cy="1860230"/>
            <a:chOff x="-2098225" y="1379675"/>
            <a:chExt cx="1037100" cy="1860230"/>
          </a:xfrm>
        </p:grpSpPr>
        <p:sp>
          <p:nvSpPr>
            <p:cNvPr id="1434" name="Google Shape;1434;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35" name="Google Shape;1435;p85"/>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436" name="Google Shape;1436;p85"/>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37" name="Google Shape;1437;p85"/>
          <p:cNvSpPr/>
          <p:nvPr/>
        </p:nvSpPr>
        <p:spPr>
          <a:xfrm>
            <a:off x="4371475" y="3293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8" name="Google Shape;1438;p85"/>
          <p:cNvSpPr/>
          <p:nvPr/>
        </p:nvSpPr>
        <p:spPr>
          <a:xfrm>
            <a:off x="5670300" y="3131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9" name="Google Shape;1439;p85"/>
          <p:cNvSpPr txBox="1"/>
          <p:nvPr>
            <p:ph idx="4294967295" type="body"/>
          </p:nvPr>
        </p:nvSpPr>
        <p:spPr>
          <a:xfrm>
            <a:off x="5405568" y="3214974"/>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440" name="Google Shape;1440;p85"/>
          <p:cNvSpPr txBox="1"/>
          <p:nvPr>
            <p:ph idx="4294967295" type="body"/>
          </p:nvPr>
        </p:nvSpPr>
        <p:spPr>
          <a:xfrm>
            <a:off x="3498691" y="2858575"/>
            <a:ext cx="849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1.8 cm</a:t>
            </a:r>
            <a:endParaRPr sz="1800"/>
          </a:p>
        </p:txBody>
      </p:sp>
      <p:sp>
        <p:nvSpPr>
          <p:cNvPr id="1441" name="Google Shape;1441;p85"/>
          <p:cNvSpPr txBox="1"/>
          <p:nvPr>
            <p:ph idx="4294967295" type="body"/>
          </p:nvPr>
        </p:nvSpPr>
        <p:spPr>
          <a:xfrm>
            <a:off x="5207280" y="2599400"/>
            <a:ext cx="705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cm</a:t>
            </a:r>
            <a:endParaRPr sz="1800"/>
          </a:p>
        </p:txBody>
      </p:sp>
      <p:grpSp>
        <p:nvGrpSpPr>
          <p:cNvPr id="1442" name="Google Shape;1442;p85"/>
          <p:cNvGrpSpPr/>
          <p:nvPr/>
        </p:nvGrpSpPr>
        <p:grpSpPr>
          <a:xfrm rot="3698160">
            <a:off x="4813878" y="2955394"/>
            <a:ext cx="1037162" cy="1860342"/>
            <a:chOff x="-2098225" y="1379675"/>
            <a:chExt cx="1037100" cy="1860230"/>
          </a:xfrm>
        </p:grpSpPr>
        <p:sp>
          <p:nvSpPr>
            <p:cNvPr id="1443" name="Google Shape;1443;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44" name="Google Shape;1444;p85"/>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445" name="Google Shape;1445;p85"/>
            <p:cNvCxnSpPr/>
            <p:nvPr/>
          </p:nvCxnSpPr>
          <p:spPr>
            <a:xfrm rot="10800000">
              <a:off x="-2022025" y="323990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46" name="Google Shape;1446;p85"/>
          <p:cNvSpPr/>
          <p:nvPr/>
        </p:nvSpPr>
        <p:spPr>
          <a:xfrm rot="-1701672">
            <a:off x="4808207" y="4496230"/>
            <a:ext cx="192620" cy="19262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7" name="Google Shape;1447;p85"/>
          <p:cNvSpPr txBox="1"/>
          <p:nvPr>
            <p:ph idx="4294967295" type="body"/>
          </p:nvPr>
        </p:nvSpPr>
        <p:spPr>
          <a:xfrm>
            <a:off x="5131080" y="3546930"/>
            <a:ext cx="705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cm</a:t>
            </a:r>
            <a:endParaRPr sz="1800"/>
          </a:p>
        </p:txBody>
      </p:sp>
      <p:sp>
        <p:nvSpPr>
          <p:cNvPr id="1448" name="Google Shape;1448;p85"/>
          <p:cNvSpPr txBox="1"/>
          <p:nvPr>
            <p:ph idx="4294967295" type="body"/>
          </p:nvPr>
        </p:nvSpPr>
        <p:spPr>
          <a:xfrm flipH="1">
            <a:off x="4024464" y="4280271"/>
            <a:ext cx="512700" cy="25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1449" name="Google Shape;1449;p85"/>
          <p:cNvSpPr/>
          <p:nvPr/>
        </p:nvSpPr>
        <p:spPr>
          <a:xfrm rot="-834467">
            <a:off x="5915413" y="3664987"/>
            <a:ext cx="746381" cy="746381"/>
          </a:xfrm>
          <a:prstGeom prst="arc">
            <a:avLst>
              <a:gd fmla="val 10607815"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0" name="Google Shape;1450;p85"/>
          <p:cNvSpPr txBox="1"/>
          <p:nvPr>
            <p:ph idx="4294967295" type="body"/>
          </p:nvPr>
        </p:nvSpPr>
        <p:spPr>
          <a:xfrm>
            <a:off x="5553573" y="3923224"/>
            <a:ext cx="372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endParaRPr sz="1800"/>
          </a:p>
        </p:txBody>
      </p:sp>
      <p:grpSp>
        <p:nvGrpSpPr>
          <p:cNvPr id="1451" name="Google Shape;1451;p85"/>
          <p:cNvGrpSpPr/>
          <p:nvPr/>
        </p:nvGrpSpPr>
        <p:grpSpPr>
          <a:xfrm rot="5400000">
            <a:off x="7418870" y="880762"/>
            <a:ext cx="785722" cy="1100605"/>
            <a:chOff x="-2164308" y="1379675"/>
            <a:chExt cx="1245399" cy="1744500"/>
          </a:xfrm>
        </p:grpSpPr>
        <p:sp>
          <p:nvSpPr>
            <p:cNvPr id="1452" name="Google Shape;1452;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53" name="Google Shape;1453;p85"/>
            <p:cNvCxnSpPr/>
            <p:nvPr/>
          </p:nvCxnSpPr>
          <p:spPr>
            <a:xfrm flipH="1">
              <a:off x="-2164308"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454" name="Google Shape;1454;p85"/>
            <p:cNvCxnSpPr/>
            <p:nvPr/>
          </p:nvCxnSpPr>
          <p:spPr>
            <a:xfrm rot="10800000">
              <a:off x="-91890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455" name="Google Shape;1455;p85"/>
          <p:cNvSpPr txBox="1"/>
          <p:nvPr>
            <p:ph idx="4294967295" type="body"/>
          </p:nvPr>
        </p:nvSpPr>
        <p:spPr>
          <a:xfrm>
            <a:off x="7650569" y="1496770"/>
            <a:ext cx="4128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33°</a:t>
            </a:r>
            <a:endParaRPr sz="1800"/>
          </a:p>
        </p:txBody>
      </p:sp>
      <p:sp>
        <p:nvSpPr>
          <p:cNvPr id="1456" name="Google Shape;1456;p85"/>
          <p:cNvSpPr txBox="1"/>
          <p:nvPr>
            <p:ph idx="4294967295" type="body"/>
          </p:nvPr>
        </p:nvSpPr>
        <p:spPr>
          <a:xfrm>
            <a:off x="7589123" y="1787000"/>
            <a:ext cx="7464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1457" name="Google Shape;1457;p85"/>
          <p:cNvSpPr txBox="1"/>
          <p:nvPr>
            <p:ph idx="4294967295" type="body"/>
          </p:nvPr>
        </p:nvSpPr>
        <p:spPr>
          <a:xfrm>
            <a:off x="7792335" y="1020225"/>
            <a:ext cx="903900" cy="2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458" name="Google Shape;1458;p85"/>
          <p:cNvSpPr/>
          <p:nvPr/>
        </p:nvSpPr>
        <p:spPr>
          <a:xfrm>
            <a:off x="8063511" y="1497850"/>
            <a:ext cx="471000" cy="4710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9" name="Google Shape;1459;p85"/>
          <p:cNvSpPr/>
          <p:nvPr/>
        </p:nvSpPr>
        <p:spPr>
          <a:xfrm>
            <a:off x="7263738" y="1600313"/>
            <a:ext cx="135000" cy="133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60" name="Google Shape;1460;p85"/>
          <p:cNvGrpSpPr/>
          <p:nvPr/>
        </p:nvGrpSpPr>
        <p:grpSpPr>
          <a:xfrm>
            <a:off x="4517482" y="1205817"/>
            <a:ext cx="412806" cy="382814"/>
            <a:chOff x="1020916" y="1442088"/>
            <a:chExt cx="457200" cy="457200"/>
          </a:xfrm>
        </p:grpSpPr>
        <p:pic>
          <p:nvPicPr>
            <p:cNvPr id="1461" name="Google Shape;1461;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2" name="Google Shape;1462;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63" name="Google Shape;1463;p85"/>
          <p:cNvGrpSpPr/>
          <p:nvPr/>
        </p:nvGrpSpPr>
        <p:grpSpPr>
          <a:xfrm>
            <a:off x="6825444" y="1205843"/>
            <a:ext cx="372298" cy="382814"/>
            <a:chOff x="1020916" y="1442088"/>
            <a:chExt cx="457200" cy="457200"/>
          </a:xfrm>
        </p:grpSpPr>
        <p:pic>
          <p:nvPicPr>
            <p:cNvPr id="1464" name="Google Shape;1464;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5" name="Google Shape;1465;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66" name="Google Shape;1466;p85"/>
          <p:cNvGrpSpPr/>
          <p:nvPr/>
        </p:nvGrpSpPr>
        <p:grpSpPr>
          <a:xfrm>
            <a:off x="4615939" y="2990266"/>
            <a:ext cx="412806" cy="382814"/>
            <a:chOff x="1020916" y="1442088"/>
            <a:chExt cx="457200" cy="457200"/>
          </a:xfrm>
        </p:grpSpPr>
        <p:pic>
          <p:nvPicPr>
            <p:cNvPr id="1467" name="Google Shape;1467;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8" name="Google Shape;1468;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69" name="Google Shape;1469;p85"/>
          <p:cNvGrpSpPr/>
          <p:nvPr/>
        </p:nvGrpSpPr>
        <p:grpSpPr>
          <a:xfrm>
            <a:off x="6657687" y="2545843"/>
            <a:ext cx="412806" cy="382814"/>
            <a:chOff x="1020916" y="1442088"/>
            <a:chExt cx="457200" cy="457200"/>
          </a:xfrm>
        </p:grpSpPr>
        <p:pic>
          <p:nvPicPr>
            <p:cNvPr id="1470" name="Google Shape;1470;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1" name="Google Shape;1471;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472" name="Google Shape;1472;p85"/>
          <p:cNvGrpSpPr/>
          <p:nvPr/>
        </p:nvGrpSpPr>
        <p:grpSpPr>
          <a:xfrm>
            <a:off x="4861187" y="4011118"/>
            <a:ext cx="412806" cy="382814"/>
            <a:chOff x="1020916" y="1442088"/>
            <a:chExt cx="457200" cy="457200"/>
          </a:xfrm>
        </p:grpSpPr>
        <p:pic>
          <p:nvPicPr>
            <p:cNvPr id="1473" name="Google Shape;1473;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4" name="Google Shape;1474;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475" name="Google Shape;1475;p85"/>
          <p:cNvGrpSpPr/>
          <p:nvPr/>
        </p:nvGrpSpPr>
        <p:grpSpPr>
          <a:xfrm>
            <a:off x="6782907" y="3625817"/>
            <a:ext cx="412806" cy="382814"/>
            <a:chOff x="1020916" y="1442088"/>
            <a:chExt cx="457200" cy="457200"/>
          </a:xfrm>
        </p:grpSpPr>
        <p:pic>
          <p:nvPicPr>
            <p:cNvPr id="1476" name="Google Shape;1476;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7" name="Google Shape;1477;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grpSp>
        <p:nvGrpSpPr>
          <p:cNvPr id="1478" name="Google Shape;1478;p85"/>
          <p:cNvGrpSpPr/>
          <p:nvPr/>
        </p:nvGrpSpPr>
        <p:grpSpPr>
          <a:xfrm>
            <a:off x="2679941" y="1948500"/>
            <a:ext cx="457200" cy="457200"/>
            <a:chOff x="1020916" y="1442088"/>
            <a:chExt cx="457200" cy="457200"/>
          </a:xfrm>
        </p:grpSpPr>
        <p:pic>
          <p:nvPicPr>
            <p:cNvPr id="1479" name="Google Shape;1479;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0" name="Google Shape;1480;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81" name="Google Shape;1481;p85"/>
          <p:cNvGrpSpPr/>
          <p:nvPr/>
        </p:nvGrpSpPr>
        <p:grpSpPr>
          <a:xfrm>
            <a:off x="1678091" y="1948500"/>
            <a:ext cx="457200" cy="457200"/>
            <a:chOff x="1020916" y="1442088"/>
            <a:chExt cx="457200" cy="457200"/>
          </a:xfrm>
        </p:grpSpPr>
        <p:pic>
          <p:nvPicPr>
            <p:cNvPr id="1482" name="Google Shape;1482;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3" name="Google Shape;1483;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84" name="Google Shape;1484;p85"/>
          <p:cNvGrpSpPr/>
          <p:nvPr/>
        </p:nvGrpSpPr>
        <p:grpSpPr>
          <a:xfrm>
            <a:off x="600228" y="1919925"/>
            <a:ext cx="457200" cy="457200"/>
            <a:chOff x="1020916" y="1442088"/>
            <a:chExt cx="457200" cy="457200"/>
          </a:xfrm>
        </p:grpSpPr>
        <p:pic>
          <p:nvPicPr>
            <p:cNvPr id="1485" name="Google Shape;1485;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6" name="Google Shape;1486;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87" name="Google Shape;1487;p85"/>
          <p:cNvGrpSpPr/>
          <p:nvPr/>
        </p:nvGrpSpPr>
        <p:grpSpPr>
          <a:xfrm>
            <a:off x="1689641" y="2523875"/>
            <a:ext cx="457200" cy="457200"/>
            <a:chOff x="1020916" y="1442088"/>
            <a:chExt cx="457200" cy="457200"/>
          </a:xfrm>
        </p:grpSpPr>
        <p:pic>
          <p:nvPicPr>
            <p:cNvPr id="1488" name="Google Shape;1488;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9" name="Google Shape;148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490" name="Google Shape;1490;p85"/>
          <p:cNvGrpSpPr/>
          <p:nvPr/>
        </p:nvGrpSpPr>
        <p:grpSpPr>
          <a:xfrm>
            <a:off x="605566" y="2542950"/>
            <a:ext cx="457200" cy="457200"/>
            <a:chOff x="1020916" y="1442088"/>
            <a:chExt cx="457200" cy="457200"/>
          </a:xfrm>
        </p:grpSpPr>
        <p:pic>
          <p:nvPicPr>
            <p:cNvPr id="1491" name="Google Shape;1491;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92" name="Google Shape;1492;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493" name="Google Shape;1493;p85"/>
          <p:cNvGrpSpPr/>
          <p:nvPr/>
        </p:nvGrpSpPr>
        <p:grpSpPr>
          <a:xfrm>
            <a:off x="2701841" y="2510525"/>
            <a:ext cx="457200" cy="457200"/>
            <a:chOff x="1020916" y="1442088"/>
            <a:chExt cx="457200" cy="457200"/>
          </a:xfrm>
        </p:grpSpPr>
        <p:pic>
          <p:nvPicPr>
            <p:cNvPr id="1494" name="Google Shape;1494;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95" name="Google Shape;1495;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86"/>
          <p:cNvSpPr/>
          <p:nvPr/>
        </p:nvSpPr>
        <p:spPr>
          <a:xfrm>
            <a:off x="6311869"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1" name="Google Shape;1501;p86"/>
          <p:cNvSpPr/>
          <p:nvPr/>
        </p:nvSpPr>
        <p:spPr>
          <a:xfrm>
            <a:off x="3855403"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2" name="Google Shape;1502;p86"/>
          <p:cNvSpPr/>
          <p:nvPr/>
        </p:nvSpPr>
        <p:spPr>
          <a:xfrm>
            <a:off x="1398936" y="3715251"/>
            <a:ext cx="1683000" cy="8751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3" name="Google Shape;1503;p86"/>
          <p:cNvSpPr/>
          <p:nvPr/>
        </p:nvSpPr>
        <p:spPr>
          <a:xfrm>
            <a:off x="6054904"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4" name="Google Shape;1504;p86"/>
          <p:cNvSpPr/>
          <p:nvPr/>
        </p:nvSpPr>
        <p:spPr>
          <a:xfrm>
            <a:off x="3594560"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5" name="Google Shape;1505;p86"/>
          <p:cNvSpPr/>
          <p:nvPr/>
        </p:nvSpPr>
        <p:spPr>
          <a:xfrm>
            <a:off x="1138075" y="1263575"/>
            <a:ext cx="2204700" cy="22980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6" name="Google Shape;1506;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507" name="Google Shape;1507;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Match the equation to the correct triangle.</a:t>
            </a:r>
            <a:endParaRPr sz="1800"/>
          </a:p>
        </p:txBody>
      </p:sp>
      <p:sp>
        <p:nvSpPr>
          <p:cNvPr id="1508" name="Google Shape;1508;p86"/>
          <p:cNvSpPr/>
          <p:nvPr/>
        </p:nvSpPr>
        <p:spPr>
          <a:xfrm>
            <a:off x="2246099" y="28388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09" name="Google Shape;1509;p86"/>
          <p:cNvGrpSpPr/>
          <p:nvPr/>
        </p:nvGrpSpPr>
        <p:grpSpPr>
          <a:xfrm>
            <a:off x="1479300" y="1364625"/>
            <a:ext cx="1057366" cy="1764766"/>
            <a:chOff x="-2022025" y="1455875"/>
            <a:chExt cx="1057366" cy="1764766"/>
          </a:xfrm>
        </p:grpSpPr>
        <p:sp>
          <p:nvSpPr>
            <p:cNvPr id="1510" name="Google Shape;1510;p8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11" name="Google Shape;1511;p86"/>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512" name="Google Shape;1512;p86"/>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513" name="Google Shape;1513;p86"/>
          <p:cNvSpPr/>
          <p:nvPr/>
        </p:nvSpPr>
        <p:spPr>
          <a:xfrm>
            <a:off x="2021493" y="968532"/>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4" name="Google Shape;1514;p86"/>
          <p:cNvSpPr txBox="1"/>
          <p:nvPr>
            <p:ph idx="4294967295" type="body"/>
          </p:nvPr>
        </p:nvSpPr>
        <p:spPr>
          <a:xfrm flipH="1">
            <a:off x="2596299" y="204811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515" name="Google Shape;1515;p86"/>
          <p:cNvSpPr txBox="1"/>
          <p:nvPr>
            <p:ph idx="4294967295" type="body"/>
          </p:nvPr>
        </p:nvSpPr>
        <p:spPr>
          <a:xfrm flipH="1">
            <a:off x="1608603" y="3255059"/>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cm</a:t>
            </a:r>
            <a:endParaRPr sz="1800"/>
          </a:p>
        </p:txBody>
      </p:sp>
      <p:sp>
        <p:nvSpPr>
          <p:cNvPr id="1516" name="Google Shape;1516;p86"/>
          <p:cNvSpPr txBox="1"/>
          <p:nvPr>
            <p:ph idx="4294967295" type="body"/>
          </p:nvPr>
        </p:nvSpPr>
        <p:spPr>
          <a:xfrm>
            <a:off x="2184860" y="1740124"/>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517" name="Google Shape;1517;p86"/>
          <p:cNvSpPr/>
          <p:nvPr/>
        </p:nvSpPr>
        <p:spPr>
          <a:xfrm>
            <a:off x="4989299" y="29150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18" name="Google Shape;1518;p86"/>
          <p:cNvGrpSpPr/>
          <p:nvPr/>
        </p:nvGrpSpPr>
        <p:grpSpPr>
          <a:xfrm>
            <a:off x="4146300" y="1364625"/>
            <a:ext cx="1037100" cy="1840966"/>
            <a:chOff x="-2098225" y="1379675"/>
            <a:chExt cx="1037100" cy="1840966"/>
          </a:xfrm>
        </p:grpSpPr>
        <p:sp>
          <p:nvSpPr>
            <p:cNvPr id="1519" name="Google Shape;1519;p8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20" name="Google Shape;1520;p86"/>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521" name="Google Shape;1521;p86"/>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522" name="Google Shape;1522;p86"/>
          <p:cNvSpPr txBox="1"/>
          <p:nvPr>
            <p:ph idx="4294967295" type="body"/>
          </p:nvPr>
        </p:nvSpPr>
        <p:spPr>
          <a:xfrm flipH="1">
            <a:off x="3914628" y="192836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523" name="Google Shape;1523;p86"/>
          <p:cNvSpPr txBox="1"/>
          <p:nvPr>
            <p:ph idx="4294967295" type="body"/>
          </p:nvPr>
        </p:nvSpPr>
        <p:spPr>
          <a:xfrm flipH="1">
            <a:off x="4409918" y="3255059"/>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cm</a:t>
            </a:r>
            <a:endParaRPr sz="1800"/>
          </a:p>
        </p:txBody>
      </p:sp>
      <p:sp>
        <p:nvSpPr>
          <p:cNvPr id="1524" name="Google Shape;1524;p86"/>
          <p:cNvSpPr txBox="1"/>
          <p:nvPr>
            <p:ph idx="4294967295" type="body"/>
          </p:nvPr>
        </p:nvSpPr>
        <p:spPr>
          <a:xfrm>
            <a:off x="4916371" y="1838399"/>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525" name="Google Shape;1525;p86"/>
          <p:cNvSpPr/>
          <p:nvPr/>
        </p:nvSpPr>
        <p:spPr>
          <a:xfrm>
            <a:off x="7199099" y="29912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26" name="Google Shape;1526;p86"/>
          <p:cNvGrpSpPr/>
          <p:nvPr/>
        </p:nvGrpSpPr>
        <p:grpSpPr>
          <a:xfrm>
            <a:off x="6356100" y="1440825"/>
            <a:ext cx="1133566" cy="1744500"/>
            <a:chOff x="-2098225" y="1379675"/>
            <a:chExt cx="1133566" cy="1744500"/>
          </a:xfrm>
        </p:grpSpPr>
        <p:sp>
          <p:nvSpPr>
            <p:cNvPr id="1527" name="Google Shape;1527;p8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28" name="Google Shape;1528;p86"/>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529" name="Google Shape;1529;p86"/>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530" name="Google Shape;1530;p86"/>
          <p:cNvSpPr txBox="1"/>
          <p:nvPr>
            <p:ph idx="4294967295" type="body"/>
          </p:nvPr>
        </p:nvSpPr>
        <p:spPr>
          <a:xfrm flipH="1">
            <a:off x="6148528" y="1999188"/>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531" name="Google Shape;1531;p86"/>
          <p:cNvSpPr txBox="1"/>
          <p:nvPr>
            <p:ph idx="4294967295" type="body"/>
          </p:nvPr>
        </p:nvSpPr>
        <p:spPr>
          <a:xfrm flipH="1">
            <a:off x="7526153" y="2249963"/>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cm</a:t>
            </a:r>
            <a:endParaRPr sz="1800"/>
          </a:p>
        </p:txBody>
      </p:sp>
      <p:sp>
        <p:nvSpPr>
          <p:cNvPr id="1532" name="Google Shape;1532;p86"/>
          <p:cNvSpPr txBox="1"/>
          <p:nvPr>
            <p:ph idx="4294967295" type="body"/>
          </p:nvPr>
        </p:nvSpPr>
        <p:spPr>
          <a:xfrm>
            <a:off x="7125803" y="1916317"/>
            <a:ext cx="304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533" name="Google Shape;1533;p86"/>
          <p:cNvSpPr txBox="1"/>
          <p:nvPr>
            <p:ph idx="4294967295" type="body"/>
          </p:nvPr>
        </p:nvSpPr>
        <p:spPr>
          <a:xfrm>
            <a:off x="1512328" y="3946058"/>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1800"/>
              <a:t>𝜃°</a:t>
            </a:r>
            <a:r>
              <a:rPr lang="en-GB" sz="2000">
                <a:latin typeface="Times New Roman"/>
                <a:ea typeface="Times New Roman"/>
                <a:cs typeface="Times New Roman"/>
                <a:sym typeface="Times New Roman"/>
              </a:rPr>
              <a:t>)</a:t>
            </a:r>
            <a:r>
              <a:rPr lang="en-GB" sz="1800"/>
              <a:t> = </a:t>
            </a:r>
            <a:endParaRPr sz="1800"/>
          </a:p>
        </p:txBody>
      </p:sp>
      <p:sp>
        <p:nvSpPr>
          <p:cNvPr id="1534" name="Google Shape;1534;p86"/>
          <p:cNvSpPr txBox="1"/>
          <p:nvPr>
            <p:ph idx="4294967295" type="body"/>
          </p:nvPr>
        </p:nvSpPr>
        <p:spPr>
          <a:xfrm>
            <a:off x="2565141" y="41517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535" name="Google Shape;1535;p86"/>
          <p:cNvCxnSpPr/>
          <p:nvPr/>
        </p:nvCxnSpPr>
        <p:spPr>
          <a:xfrm>
            <a:off x="2506650" y="4124133"/>
            <a:ext cx="447000" cy="0"/>
          </a:xfrm>
          <a:prstGeom prst="straightConnector1">
            <a:avLst/>
          </a:prstGeom>
          <a:noFill/>
          <a:ln cap="flat" cmpd="sng" w="19050">
            <a:solidFill>
              <a:schemeClr val="dk1"/>
            </a:solidFill>
            <a:prstDash val="solid"/>
            <a:round/>
            <a:headEnd len="med" w="med" type="none"/>
            <a:tailEnd len="med" w="med" type="none"/>
          </a:ln>
        </p:spPr>
      </p:cxnSp>
      <p:sp>
        <p:nvSpPr>
          <p:cNvPr id="1536" name="Google Shape;1536;p86"/>
          <p:cNvSpPr txBox="1"/>
          <p:nvPr>
            <p:ph idx="4294967295" type="body"/>
          </p:nvPr>
        </p:nvSpPr>
        <p:spPr>
          <a:xfrm>
            <a:off x="2565141" y="383397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537" name="Google Shape;1537;p86"/>
          <p:cNvSpPr/>
          <p:nvPr/>
        </p:nvSpPr>
        <p:spPr>
          <a:xfrm>
            <a:off x="4742018" y="1042557"/>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8" name="Google Shape;1538;p86"/>
          <p:cNvSpPr/>
          <p:nvPr/>
        </p:nvSpPr>
        <p:spPr>
          <a:xfrm>
            <a:off x="6980268" y="1116582"/>
            <a:ext cx="771600" cy="771600"/>
          </a:xfrm>
          <a:prstGeom prst="arc">
            <a:avLst>
              <a:gd fmla="val 5046191" name="adj1"/>
              <a:gd fmla="val 681361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9" name="Google Shape;1539;p86"/>
          <p:cNvSpPr txBox="1"/>
          <p:nvPr>
            <p:ph idx="4294967295" type="body"/>
          </p:nvPr>
        </p:nvSpPr>
        <p:spPr>
          <a:xfrm>
            <a:off x="3956253" y="3958183"/>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1800"/>
              <a:t>𝜃°</a:t>
            </a:r>
            <a:r>
              <a:rPr lang="en-GB" sz="2000">
                <a:latin typeface="Times New Roman"/>
                <a:ea typeface="Times New Roman"/>
                <a:cs typeface="Times New Roman"/>
                <a:sym typeface="Times New Roman"/>
              </a:rPr>
              <a:t>)</a:t>
            </a:r>
            <a:r>
              <a:rPr lang="en-GB" sz="1800"/>
              <a:t> = </a:t>
            </a:r>
            <a:endParaRPr sz="1800"/>
          </a:p>
        </p:txBody>
      </p:sp>
      <p:sp>
        <p:nvSpPr>
          <p:cNvPr id="1540" name="Google Shape;1540;p86"/>
          <p:cNvSpPr txBox="1"/>
          <p:nvPr>
            <p:ph idx="4294967295" type="body"/>
          </p:nvPr>
        </p:nvSpPr>
        <p:spPr>
          <a:xfrm>
            <a:off x="5009066" y="416392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541" name="Google Shape;1541;p86"/>
          <p:cNvCxnSpPr/>
          <p:nvPr/>
        </p:nvCxnSpPr>
        <p:spPr>
          <a:xfrm>
            <a:off x="4950575" y="4136258"/>
            <a:ext cx="447000" cy="0"/>
          </a:xfrm>
          <a:prstGeom prst="straightConnector1">
            <a:avLst/>
          </a:prstGeom>
          <a:noFill/>
          <a:ln cap="flat" cmpd="sng" w="19050">
            <a:solidFill>
              <a:schemeClr val="dk1"/>
            </a:solidFill>
            <a:prstDash val="solid"/>
            <a:round/>
            <a:headEnd len="med" w="med" type="none"/>
            <a:tailEnd len="med" w="med" type="none"/>
          </a:ln>
        </p:spPr>
      </p:cxnSp>
      <p:sp>
        <p:nvSpPr>
          <p:cNvPr id="1542" name="Google Shape;1542;p86"/>
          <p:cNvSpPr txBox="1"/>
          <p:nvPr>
            <p:ph idx="4294967295" type="body"/>
          </p:nvPr>
        </p:nvSpPr>
        <p:spPr>
          <a:xfrm>
            <a:off x="5009066" y="38460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543" name="Google Shape;1543;p86"/>
          <p:cNvSpPr txBox="1"/>
          <p:nvPr>
            <p:ph idx="4294967295" type="body"/>
          </p:nvPr>
        </p:nvSpPr>
        <p:spPr>
          <a:xfrm>
            <a:off x="6425128" y="3991283"/>
            <a:ext cx="14493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a:t>
            </a:r>
            <a:r>
              <a:rPr lang="en-GB" sz="1800"/>
              <a:t>𝜃°</a:t>
            </a:r>
            <a:r>
              <a:rPr lang="en-GB" sz="2000">
                <a:latin typeface="Times New Roman"/>
                <a:ea typeface="Times New Roman"/>
                <a:cs typeface="Times New Roman"/>
                <a:sym typeface="Times New Roman"/>
              </a:rPr>
              <a:t>)</a:t>
            </a:r>
            <a:r>
              <a:rPr lang="en-GB" sz="1800"/>
              <a:t> = </a:t>
            </a:r>
            <a:endParaRPr sz="1800"/>
          </a:p>
        </p:txBody>
      </p:sp>
      <p:sp>
        <p:nvSpPr>
          <p:cNvPr id="1544" name="Google Shape;1544;p86"/>
          <p:cNvSpPr txBox="1"/>
          <p:nvPr>
            <p:ph idx="4294967295" type="body"/>
          </p:nvPr>
        </p:nvSpPr>
        <p:spPr>
          <a:xfrm>
            <a:off x="7477941" y="4197023"/>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cxnSp>
        <p:nvCxnSpPr>
          <p:cNvPr id="1545" name="Google Shape;1545;p86"/>
          <p:cNvCxnSpPr/>
          <p:nvPr/>
        </p:nvCxnSpPr>
        <p:spPr>
          <a:xfrm>
            <a:off x="7419450" y="4169358"/>
            <a:ext cx="447000" cy="0"/>
          </a:xfrm>
          <a:prstGeom prst="straightConnector1">
            <a:avLst/>
          </a:prstGeom>
          <a:noFill/>
          <a:ln cap="flat" cmpd="sng" w="19050">
            <a:solidFill>
              <a:schemeClr val="dk1"/>
            </a:solidFill>
            <a:prstDash val="solid"/>
            <a:round/>
            <a:headEnd len="med" w="med" type="none"/>
            <a:tailEnd len="med" w="med" type="none"/>
          </a:ln>
        </p:spPr>
      </p:cxnSp>
      <p:sp>
        <p:nvSpPr>
          <p:cNvPr id="1546" name="Google Shape;1546;p86"/>
          <p:cNvSpPr txBox="1"/>
          <p:nvPr>
            <p:ph idx="4294967295" type="body"/>
          </p:nvPr>
        </p:nvSpPr>
        <p:spPr>
          <a:xfrm>
            <a:off x="7477941" y="3879198"/>
            <a:ext cx="476100" cy="3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cxnSp>
        <p:nvCxnSpPr>
          <p:cNvPr id="1547" name="Google Shape;1547;p86"/>
          <p:cNvCxnSpPr/>
          <p:nvPr/>
        </p:nvCxnSpPr>
        <p:spPr>
          <a:xfrm>
            <a:off x="2782500" y="3385600"/>
            <a:ext cx="3858300" cy="452100"/>
          </a:xfrm>
          <a:prstGeom prst="straightConnector1">
            <a:avLst/>
          </a:prstGeom>
          <a:noFill/>
          <a:ln cap="flat" cmpd="sng" w="38100">
            <a:solidFill>
              <a:schemeClr val="dk1"/>
            </a:solidFill>
            <a:prstDash val="solid"/>
            <a:round/>
            <a:headEnd len="med" w="med" type="none"/>
            <a:tailEnd len="med" w="med" type="none"/>
          </a:ln>
        </p:spPr>
      </p:cxnSp>
      <p:cxnSp>
        <p:nvCxnSpPr>
          <p:cNvPr id="1548" name="Google Shape;1548;p86"/>
          <p:cNvCxnSpPr/>
          <p:nvPr/>
        </p:nvCxnSpPr>
        <p:spPr>
          <a:xfrm flipH="1" rot="10800000">
            <a:off x="2270075" y="3337350"/>
            <a:ext cx="1688100" cy="440100"/>
          </a:xfrm>
          <a:prstGeom prst="straightConnector1">
            <a:avLst/>
          </a:prstGeom>
          <a:noFill/>
          <a:ln cap="flat" cmpd="sng" w="38100">
            <a:solidFill>
              <a:schemeClr val="dk1"/>
            </a:solidFill>
            <a:prstDash val="solid"/>
            <a:round/>
            <a:headEnd len="med" w="med" type="none"/>
            <a:tailEnd len="med" w="med" type="none"/>
          </a:ln>
        </p:spPr>
      </p:cxnSp>
      <p:cxnSp>
        <p:nvCxnSpPr>
          <p:cNvPr id="1549" name="Google Shape;1549;p86"/>
          <p:cNvCxnSpPr/>
          <p:nvPr/>
        </p:nvCxnSpPr>
        <p:spPr>
          <a:xfrm flipH="1" rot="10800000">
            <a:off x="4824000" y="3351700"/>
            <a:ext cx="1688100" cy="4401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8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Choosing the correct trigonometric function</a:t>
            </a:r>
            <a:endParaRPr/>
          </a:p>
        </p:txBody>
      </p:sp>
      <p:sp>
        <p:nvSpPr>
          <p:cNvPr id="1555" name="Google Shape;1555;p8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556" name="Google Shape;1556;p8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the right trigonometric ratio</a:t>
            </a:r>
            <a:endParaRPr/>
          </a:p>
        </p:txBody>
      </p:sp>
      <p:pic>
        <p:nvPicPr>
          <p:cNvPr id="1557" name="Google Shape;1557;p87"/>
          <p:cNvPicPr preferRelativeResize="0"/>
          <p:nvPr/>
        </p:nvPicPr>
        <p:blipFill>
          <a:blip r:embed="rId3">
            <a:alphaModFix/>
          </a:blip>
          <a:stretch>
            <a:fillRect/>
          </a:stretch>
        </p:blipFill>
        <p:spPr>
          <a:xfrm>
            <a:off x="418400" y="2994665"/>
            <a:ext cx="450575" cy="44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88"/>
          <p:cNvSpPr txBox="1"/>
          <p:nvPr>
            <p:ph idx="1" type="body"/>
          </p:nvPr>
        </p:nvSpPr>
        <p:spPr>
          <a:xfrm>
            <a:off x="324000" y="759300"/>
            <a:ext cx="8237700" cy="683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trigonometric functions allow either an </a:t>
            </a:r>
            <a:r>
              <a:rPr lang="en-GB" sz="1800">
                <a:solidFill>
                  <a:schemeClr val="accent5"/>
                </a:solidFill>
              </a:rPr>
              <a:t>angle</a:t>
            </a:r>
            <a:r>
              <a:rPr lang="en-GB" sz="1800"/>
              <a:t> or an </a:t>
            </a:r>
            <a:r>
              <a:rPr lang="en-GB" sz="1800">
                <a:solidFill>
                  <a:schemeClr val="accent5"/>
                </a:solidFill>
              </a:rPr>
              <a:t>edge length</a:t>
            </a:r>
            <a:r>
              <a:rPr lang="en-GB" sz="1800"/>
              <a:t> to be calculated</a:t>
            </a:r>
            <a:r>
              <a:rPr lang="en-GB" sz="1800"/>
              <a:t>. </a:t>
            </a:r>
            <a:endParaRPr sz="1800"/>
          </a:p>
        </p:txBody>
      </p:sp>
      <p:sp>
        <p:nvSpPr>
          <p:cNvPr id="1563" name="Google Shape;1563;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grpSp>
        <p:nvGrpSpPr>
          <p:cNvPr id="1564" name="Google Shape;1564;p88"/>
          <p:cNvGrpSpPr/>
          <p:nvPr/>
        </p:nvGrpSpPr>
        <p:grpSpPr>
          <a:xfrm flipH="1" rot="-5400000">
            <a:off x="1615155" y="1564491"/>
            <a:ext cx="1146442" cy="2261430"/>
            <a:chOff x="-2124204" y="1436541"/>
            <a:chExt cx="1159545" cy="1687634"/>
          </a:xfrm>
        </p:grpSpPr>
        <p:sp>
          <p:nvSpPr>
            <p:cNvPr id="1565" name="Google Shape;1565;p8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6" name="Google Shape;1566;p88"/>
            <p:cNvCxnSpPr/>
            <p:nvPr/>
          </p:nvCxnSpPr>
          <p:spPr>
            <a:xfrm flipH="1">
              <a:off x="-2124204" y="1436541"/>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567" name="Google Shape;1567;p8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568" name="Google Shape;1568;p88"/>
          <p:cNvSpPr txBox="1"/>
          <p:nvPr>
            <p:ph idx="1" type="body"/>
          </p:nvPr>
        </p:nvSpPr>
        <p:spPr>
          <a:xfrm flipH="1">
            <a:off x="1551180" y="2927306"/>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34°</a:t>
            </a:r>
            <a:endParaRPr sz="1800"/>
          </a:p>
        </p:txBody>
      </p:sp>
      <p:sp>
        <p:nvSpPr>
          <p:cNvPr id="1569" name="Google Shape;1569;p88"/>
          <p:cNvSpPr txBox="1"/>
          <p:nvPr>
            <p:ph idx="1" type="body"/>
          </p:nvPr>
        </p:nvSpPr>
        <p:spPr>
          <a:xfrm flipH="1">
            <a:off x="1712248" y="223585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a:t>
            </a:r>
            <a:r>
              <a:rPr lang="en-GB" sz="1800"/>
              <a:t> cm</a:t>
            </a:r>
            <a:endParaRPr sz="1800"/>
          </a:p>
        </p:txBody>
      </p:sp>
      <p:sp>
        <p:nvSpPr>
          <p:cNvPr id="1570" name="Google Shape;1570;p88"/>
          <p:cNvSpPr txBox="1"/>
          <p:nvPr>
            <p:ph idx="1" type="body"/>
          </p:nvPr>
        </p:nvSpPr>
        <p:spPr>
          <a:xfrm flipH="1">
            <a:off x="2024717" y="322037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1800"/>
              <a:t> cm</a:t>
            </a:r>
            <a:endParaRPr sz="1800"/>
          </a:p>
        </p:txBody>
      </p:sp>
      <p:sp>
        <p:nvSpPr>
          <p:cNvPr id="1571" name="Google Shape;1571;p88"/>
          <p:cNvSpPr/>
          <p:nvPr/>
        </p:nvSpPr>
        <p:spPr>
          <a:xfrm flipH="1">
            <a:off x="708378" y="2810135"/>
            <a:ext cx="746400" cy="746400"/>
          </a:xfrm>
          <a:prstGeom prst="arc">
            <a:avLst>
              <a:gd fmla="val 10867472" name="adj1"/>
              <a:gd fmla="val 1227177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2" name="Google Shape;1572;p88"/>
          <p:cNvSpPr/>
          <p:nvPr/>
        </p:nvSpPr>
        <p:spPr>
          <a:xfrm>
            <a:off x="3182000" y="3034296"/>
            <a:ext cx="137100" cy="137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3" name="Google Shape;1573;p88"/>
          <p:cNvSpPr txBox="1"/>
          <p:nvPr>
            <p:ph idx="1" type="body"/>
          </p:nvPr>
        </p:nvSpPr>
        <p:spPr>
          <a:xfrm>
            <a:off x="324000" y="373110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Calculate the length of </a:t>
            </a:r>
            <a:r>
              <a:rPr i="1" lang="en-GB" sz="2000">
                <a:latin typeface="Times New Roman"/>
                <a:ea typeface="Times New Roman"/>
                <a:cs typeface="Times New Roman"/>
                <a:sym typeface="Times New Roman"/>
              </a:rPr>
              <a:t>t</a:t>
            </a:r>
            <a:r>
              <a:rPr lang="en-GB" sz="1800"/>
              <a:t>, to 1 d.p.</a:t>
            </a:r>
            <a:endParaRPr sz="1800"/>
          </a:p>
        </p:txBody>
      </p:sp>
      <p:sp>
        <p:nvSpPr>
          <p:cNvPr id="1574" name="Google Shape;1574;p88"/>
          <p:cNvSpPr txBox="1"/>
          <p:nvPr>
            <p:ph idx="1" type="body"/>
          </p:nvPr>
        </p:nvSpPr>
        <p:spPr>
          <a:xfrm>
            <a:off x="4483325" y="198765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definition triangle.</a:t>
            </a:r>
            <a:endParaRPr sz="1800">
              <a:solidFill>
                <a:schemeClr val="accent5"/>
              </a:solidFill>
            </a:endParaRPr>
          </a:p>
        </p:txBody>
      </p:sp>
      <p:grpSp>
        <p:nvGrpSpPr>
          <p:cNvPr id="1575" name="Google Shape;1575;p88"/>
          <p:cNvGrpSpPr/>
          <p:nvPr/>
        </p:nvGrpSpPr>
        <p:grpSpPr>
          <a:xfrm flipH="1" rot="-5400000">
            <a:off x="7627434" y="1922123"/>
            <a:ext cx="771831" cy="1431400"/>
            <a:chOff x="-2160600" y="1415653"/>
            <a:chExt cx="1248513" cy="1708522"/>
          </a:xfrm>
        </p:grpSpPr>
        <p:sp>
          <p:nvSpPr>
            <p:cNvPr id="1576" name="Google Shape;1576;p8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77" name="Google Shape;1577;p88"/>
            <p:cNvCxnSpPr/>
            <p:nvPr/>
          </p:nvCxnSpPr>
          <p:spPr>
            <a:xfrm flipH="1">
              <a:off x="-2160600" y="1415653"/>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578" name="Google Shape;1578;p88"/>
            <p:cNvCxnSpPr/>
            <p:nvPr/>
          </p:nvCxnSpPr>
          <p:spPr>
            <a:xfrm rot="10800000">
              <a:off x="-912087"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579" name="Google Shape;1579;p88"/>
          <p:cNvSpPr txBox="1"/>
          <p:nvPr>
            <p:ph idx="1" type="body"/>
          </p:nvPr>
        </p:nvSpPr>
        <p:spPr>
          <a:xfrm flipH="1">
            <a:off x="7752002" y="2701725"/>
            <a:ext cx="4191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34°</a:t>
            </a:r>
            <a:endParaRPr sz="1800"/>
          </a:p>
        </p:txBody>
      </p:sp>
      <p:sp>
        <p:nvSpPr>
          <p:cNvPr id="1580" name="Google Shape;1580;p88"/>
          <p:cNvSpPr txBox="1"/>
          <p:nvPr>
            <p:ph idx="1" type="body"/>
          </p:nvPr>
        </p:nvSpPr>
        <p:spPr>
          <a:xfrm flipH="1">
            <a:off x="7535403" y="2298075"/>
            <a:ext cx="6480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cm</a:t>
            </a:r>
            <a:endParaRPr sz="1800"/>
          </a:p>
        </p:txBody>
      </p:sp>
      <p:sp>
        <p:nvSpPr>
          <p:cNvPr id="1581" name="Google Shape;1581;p88"/>
          <p:cNvSpPr txBox="1"/>
          <p:nvPr>
            <p:ph idx="1" type="body"/>
          </p:nvPr>
        </p:nvSpPr>
        <p:spPr>
          <a:xfrm flipH="1">
            <a:off x="7387475" y="3001175"/>
            <a:ext cx="14139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1800"/>
              <a:t>34°</a:t>
            </a:r>
            <a:r>
              <a:rPr lang="en-GB" sz="2000">
                <a:latin typeface="Times New Roman"/>
                <a:ea typeface="Times New Roman"/>
                <a:cs typeface="Times New Roman"/>
                <a:sym typeface="Times New Roman"/>
              </a:rPr>
              <a:t>)</a:t>
            </a:r>
            <a:r>
              <a:rPr lang="en-GB" sz="1800"/>
              <a:t> cm</a:t>
            </a:r>
            <a:endParaRPr sz="1800"/>
          </a:p>
        </p:txBody>
      </p:sp>
      <p:sp>
        <p:nvSpPr>
          <p:cNvPr id="1582" name="Google Shape;1582;p88"/>
          <p:cNvSpPr/>
          <p:nvPr/>
        </p:nvSpPr>
        <p:spPr>
          <a:xfrm flipH="1">
            <a:off x="7096926" y="2647260"/>
            <a:ext cx="558300" cy="558300"/>
          </a:xfrm>
          <a:prstGeom prst="arc">
            <a:avLst>
              <a:gd fmla="val 10867472" name="adj1"/>
              <a:gd fmla="val 1227177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3" name="Google Shape;1583;p88"/>
          <p:cNvSpPr/>
          <p:nvPr/>
        </p:nvSpPr>
        <p:spPr>
          <a:xfrm>
            <a:off x="8643568" y="2844826"/>
            <a:ext cx="85800" cy="85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584" name="Google Shape;1584;p88"/>
          <p:cNvGraphicFramePr/>
          <p:nvPr/>
        </p:nvGraphicFramePr>
        <p:xfrm>
          <a:off x="4736788" y="3442325"/>
          <a:ext cx="3000000" cy="3000000"/>
        </p:xfrm>
        <a:graphic>
          <a:graphicData uri="http://schemas.openxmlformats.org/drawingml/2006/table">
            <a:tbl>
              <a:tblPr>
                <a:noFill/>
                <a:tableStyleId>{6583A662-CB0C-4F0C-AD52-46217D66C8BC}</a:tableStyleId>
              </a:tblPr>
              <a:tblGrid>
                <a:gridCol w="798125"/>
                <a:gridCol w="1070900"/>
                <a:gridCol w="890050"/>
              </a:tblGrid>
              <a:tr h="315475">
                <a:tc>
                  <a:txBody>
                    <a:bodyPr/>
                    <a:lstStyle/>
                    <a:p>
                      <a:pPr indent="0" lvl="0" marL="0" rtl="0" algn="ctr">
                        <a:lnSpc>
                          <a:spcPct val="115000"/>
                        </a:lnSpc>
                        <a:spcBef>
                          <a:spcPts val="0"/>
                        </a:spcBef>
                        <a:spcAft>
                          <a:spcPts val="1000"/>
                        </a:spcAft>
                        <a:buNone/>
                      </a:pPr>
                      <a:r>
                        <a:rPr lang="en-GB" sz="1800">
                          <a:latin typeface="Lexend"/>
                          <a:ea typeface="Lexend"/>
                          <a:cs typeface="Lexend"/>
                          <a:sym typeface="Lexend"/>
                        </a:rPr>
                        <a:t>adj</a:t>
                      </a:r>
                      <a:endParaRPr sz="1800">
                        <a:latin typeface="Lexend"/>
                        <a:ea typeface="Lexend"/>
                        <a:cs typeface="Lexend"/>
                        <a:sym typeface="Lexend"/>
                      </a:endParaRPr>
                    </a:p>
                  </a:txBody>
                  <a:tcPr marT="0" marB="0" marR="0" marL="0" anchor="ctr"/>
                </a:tc>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cos</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34</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i="1" lang="en-GB" sz="2000">
                          <a:latin typeface="Times New Roman"/>
                          <a:ea typeface="Times New Roman"/>
                          <a:cs typeface="Times New Roman"/>
                          <a:sym typeface="Times New Roman"/>
                        </a:rPr>
                        <a:t>t</a:t>
                      </a:r>
                      <a:endParaRPr i="1"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1800">
                          <a:latin typeface="Lexend"/>
                          <a:ea typeface="Lexend"/>
                          <a:cs typeface="Lexend"/>
                          <a:sym typeface="Lexend"/>
                        </a:rPr>
                        <a:t>hyp</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10</a:t>
                      </a:r>
                      <a:endParaRPr sz="2000">
                        <a:latin typeface="Times New Roman"/>
                        <a:ea typeface="Times New Roman"/>
                        <a:cs typeface="Times New Roman"/>
                        <a:sym typeface="Times New Roman"/>
                      </a:endParaRPr>
                    </a:p>
                  </a:txBody>
                  <a:tcPr marT="0" marB="0" marR="0" marL="0" anchor="ctr"/>
                </a:tc>
              </a:tr>
            </a:tbl>
          </a:graphicData>
        </a:graphic>
      </p:graphicFrame>
      <p:sp>
        <p:nvSpPr>
          <p:cNvPr id="1585" name="Google Shape;1585;p88"/>
          <p:cNvSpPr/>
          <p:nvPr/>
        </p:nvSpPr>
        <p:spPr>
          <a:xfrm>
            <a:off x="6165825" y="4077036"/>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586" name="Google Shape;1586;p88"/>
          <p:cNvSpPr txBox="1"/>
          <p:nvPr/>
        </p:nvSpPr>
        <p:spPr>
          <a:xfrm>
            <a:off x="6323269" y="4242786"/>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a:t>
            </a:r>
            <a:r>
              <a:rPr lang="en-GB" sz="1800">
                <a:solidFill>
                  <a:schemeClr val="accent5"/>
                </a:solidFill>
                <a:latin typeface="Lexend"/>
                <a:ea typeface="Lexend"/>
                <a:cs typeface="Lexend"/>
                <a:sym typeface="Lexend"/>
              </a:rPr>
              <a:t>10</a:t>
            </a:r>
            <a:endParaRPr sz="1800">
              <a:solidFill>
                <a:schemeClr val="accent5"/>
              </a:solidFill>
              <a:latin typeface="Lexend"/>
              <a:ea typeface="Lexend"/>
              <a:cs typeface="Lexend"/>
              <a:sym typeface="Lexend"/>
            </a:endParaRPr>
          </a:p>
        </p:txBody>
      </p:sp>
      <p:sp>
        <p:nvSpPr>
          <p:cNvPr id="1587" name="Google Shape;1587;p88"/>
          <p:cNvSpPr/>
          <p:nvPr/>
        </p:nvSpPr>
        <p:spPr>
          <a:xfrm flipH="1" rot="10800000">
            <a:off x="6165825" y="3298416"/>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588" name="Google Shape;1588;p88"/>
          <p:cNvSpPr txBox="1"/>
          <p:nvPr/>
        </p:nvSpPr>
        <p:spPr>
          <a:xfrm>
            <a:off x="6274069" y="3026053"/>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a:t>
            </a:r>
            <a:r>
              <a:rPr lang="en-GB" sz="1800">
                <a:solidFill>
                  <a:schemeClr val="accent5"/>
                </a:solidFill>
                <a:latin typeface="Lexend"/>
                <a:ea typeface="Lexend"/>
                <a:cs typeface="Lexend"/>
                <a:sym typeface="Lexend"/>
              </a:rPr>
              <a:t>10</a:t>
            </a:r>
            <a:endParaRPr sz="1800">
              <a:solidFill>
                <a:schemeClr val="accent5"/>
              </a:solidFill>
              <a:latin typeface="Lexend"/>
              <a:ea typeface="Lexend"/>
              <a:cs typeface="Lexend"/>
              <a:sym typeface="Lexend"/>
            </a:endParaRPr>
          </a:p>
        </p:txBody>
      </p:sp>
      <p:sp>
        <p:nvSpPr>
          <p:cNvPr id="1589" name="Google Shape;1589;p88"/>
          <p:cNvSpPr txBox="1"/>
          <p:nvPr>
            <p:ph idx="1" type="body"/>
          </p:nvPr>
        </p:nvSpPr>
        <p:spPr>
          <a:xfrm>
            <a:off x="1888026" y="4130350"/>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2000">
                <a:latin typeface="Times New Roman"/>
                <a:ea typeface="Times New Roman"/>
                <a:cs typeface="Times New Roman"/>
                <a:sym typeface="Times New Roman"/>
              </a:rPr>
              <a:t> = 10 × </a:t>
            </a:r>
            <a:r>
              <a:rPr lang="en-GB" sz="2000">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34</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590" name="Google Shape;1590;p88"/>
          <p:cNvSpPr txBox="1"/>
          <p:nvPr>
            <p:ph idx="1" type="body"/>
          </p:nvPr>
        </p:nvSpPr>
        <p:spPr>
          <a:xfrm>
            <a:off x="1888026" y="4435150"/>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2000">
                <a:latin typeface="Times New Roman"/>
                <a:ea typeface="Times New Roman"/>
                <a:cs typeface="Times New Roman"/>
                <a:sym typeface="Times New Roman"/>
              </a:rPr>
              <a:t> = 8.3 cm  </a:t>
            </a:r>
            <a:endParaRPr sz="2000">
              <a:latin typeface="Times New Roman"/>
              <a:ea typeface="Times New Roman"/>
              <a:cs typeface="Times New Roman"/>
              <a:sym typeface="Times New Roman"/>
            </a:endParaRPr>
          </a:p>
        </p:txBody>
      </p:sp>
      <p:grpSp>
        <p:nvGrpSpPr>
          <p:cNvPr id="1591" name="Google Shape;1591;p88"/>
          <p:cNvGrpSpPr/>
          <p:nvPr/>
        </p:nvGrpSpPr>
        <p:grpSpPr>
          <a:xfrm>
            <a:off x="7443600" y="3572347"/>
            <a:ext cx="1301650" cy="415315"/>
            <a:chOff x="7617925" y="3168610"/>
            <a:chExt cx="1301650" cy="415315"/>
          </a:xfrm>
        </p:grpSpPr>
        <p:sp>
          <p:nvSpPr>
            <p:cNvPr id="1592" name="Google Shape;1592;p88"/>
            <p:cNvSpPr/>
            <p:nvPr/>
          </p:nvSpPr>
          <p:spPr>
            <a:xfrm rot="-5400000">
              <a:off x="7478818" y="3307717"/>
              <a:ext cx="415315"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593" name="Google Shape;1593;p88"/>
            <p:cNvSpPr txBox="1"/>
            <p:nvPr/>
          </p:nvSpPr>
          <p:spPr>
            <a:xfrm>
              <a:off x="7800875" y="3240000"/>
              <a:ext cx="1118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cos(34°)</a:t>
              </a:r>
              <a:endParaRPr sz="2000">
                <a:solidFill>
                  <a:schemeClr val="accent5"/>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sp>
        <p:nvSpPr>
          <p:cNvPr id="1598" name="Google Shape;1598;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grpSp>
        <p:nvGrpSpPr>
          <p:cNvPr id="1599" name="Google Shape;1599;p89"/>
          <p:cNvGrpSpPr/>
          <p:nvPr/>
        </p:nvGrpSpPr>
        <p:grpSpPr>
          <a:xfrm flipH="1" rot="-5400000">
            <a:off x="1615155" y="1564491"/>
            <a:ext cx="1146442" cy="2261430"/>
            <a:chOff x="-2124204" y="1436541"/>
            <a:chExt cx="1159545" cy="1687634"/>
          </a:xfrm>
        </p:grpSpPr>
        <p:sp>
          <p:nvSpPr>
            <p:cNvPr id="1600" name="Google Shape;1600;p8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01" name="Google Shape;1601;p89"/>
            <p:cNvCxnSpPr/>
            <p:nvPr/>
          </p:nvCxnSpPr>
          <p:spPr>
            <a:xfrm flipH="1">
              <a:off x="-2124204" y="1436541"/>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02" name="Google Shape;1602;p8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603" name="Google Shape;1603;p89"/>
          <p:cNvSpPr txBox="1"/>
          <p:nvPr>
            <p:ph idx="1" type="body"/>
          </p:nvPr>
        </p:nvSpPr>
        <p:spPr>
          <a:xfrm flipH="1">
            <a:off x="1551180" y="2927306"/>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34°</a:t>
            </a:r>
            <a:endParaRPr sz="1800"/>
          </a:p>
        </p:txBody>
      </p:sp>
      <p:sp>
        <p:nvSpPr>
          <p:cNvPr id="1604" name="Google Shape;1604;p89"/>
          <p:cNvSpPr txBox="1"/>
          <p:nvPr>
            <p:ph idx="1" type="body"/>
          </p:nvPr>
        </p:nvSpPr>
        <p:spPr>
          <a:xfrm flipH="1">
            <a:off x="1712248" y="223585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1605" name="Google Shape;1605;p89"/>
          <p:cNvSpPr txBox="1"/>
          <p:nvPr>
            <p:ph idx="1" type="body"/>
          </p:nvPr>
        </p:nvSpPr>
        <p:spPr>
          <a:xfrm flipH="1">
            <a:off x="2024717" y="322037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1800"/>
              <a:t> cm</a:t>
            </a:r>
            <a:endParaRPr sz="1800"/>
          </a:p>
        </p:txBody>
      </p:sp>
      <p:sp>
        <p:nvSpPr>
          <p:cNvPr id="1606" name="Google Shape;1606;p89"/>
          <p:cNvSpPr/>
          <p:nvPr/>
        </p:nvSpPr>
        <p:spPr>
          <a:xfrm flipH="1">
            <a:off x="708378" y="2810135"/>
            <a:ext cx="746400" cy="746400"/>
          </a:xfrm>
          <a:prstGeom prst="arc">
            <a:avLst>
              <a:gd fmla="val 10867472" name="adj1"/>
              <a:gd fmla="val 1227177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7" name="Google Shape;1607;p89"/>
          <p:cNvSpPr/>
          <p:nvPr/>
        </p:nvSpPr>
        <p:spPr>
          <a:xfrm>
            <a:off x="3182000" y="3034296"/>
            <a:ext cx="137100" cy="137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8" name="Google Shape;1608;p89"/>
          <p:cNvSpPr txBox="1"/>
          <p:nvPr>
            <p:ph idx="1" type="body"/>
          </p:nvPr>
        </p:nvSpPr>
        <p:spPr>
          <a:xfrm>
            <a:off x="324000" y="373110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Calculate the length of </a:t>
            </a:r>
            <a:r>
              <a:rPr i="1" lang="en-GB" sz="2000">
                <a:latin typeface="Times New Roman"/>
                <a:ea typeface="Times New Roman"/>
                <a:cs typeface="Times New Roman"/>
                <a:sym typeface="Times New Roman"/>
              </a:rPr>
              <a:t>t</a:t>
            </a:r>
            <a:r>
              <a:rPr lang="en-GB" sz="1800"/>
              <a:t>, to 1 d.p.</a:t>
            </a:r>
            <a:endParaRPr sz="1800"/>
          </a:p>
        </p:txBody>
      </p:sp>
      <p:sp>
        <p:nvSpPr>
          <p:cNvPr id="1609" name="Google Shape;1609;p89"/>
          <p:cNvSpPr txBox="1"/>
          <p:nvPr>
            <p:ph idx="1" type="body"/>
          </p:nvPr>
        </p:nvSpPr>
        <p:spPr>
          <a:xfrm>
            <a:off x="4483325" y="198765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formula.</a:t>
            </a:r>
            <a:endParaRPr sz="1800">
              <a:solidFill>
                <a:schemeClr val="accent5"/>
              </a:solidFill>
            </a:endParaRPr>
          </a:p>
        </p:txBody>
      </p:sp>
      <p:sp>
        <p:nvSpPr>
          <p:cNvPr id="1610" name="Google Shape;1610;p89"/>
          <p:cNvSpPr txBox="1"/>
          <p:nvPr>
            <p:ph idx="1" type="body"/>
          </p:nvPr>
        </p:nvSpPr>
        <p:spPr>
          <a:xfrm>
            <a:off x="6231426" y="3749350"/>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2000">
                <a:latin typeface="Times New Roman"/>
                <a:ea typeface="Times New Roman"/>
                <a:cs typeface="Times New Roman"/>
                <a:sym typeface="Times New Roman"/>
              </a:rPr>
              <a:t> = 10 × cos(34°</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11" name="Google Shape;1611;p89"/>
          <p:cNvSpPr txBox="1"/>
          <p:nvPr>
            <p:ph idx="1" type="body"/>
          </p:nvPr>
        </p:nvSpPr>
        <p:spPr>
          <a:xfrm>
            <a:off x="6231426" y="4130350"/>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t</a:t>
            </a:r>
            <a:r>
              <a:rPr lang="en-GB" sz="2000">
                <a:latin typeface="Times New Roman"/>
                <a:ea typeface="Times New Roman"/>
                <a:cs typeface="Times New Roman"/>
                <a:sym typeface="Times New Roman"/>
              </a:rPr>
              <a:t> = 8.3 cm  </a:t>
            </a:r>
            <a:endParaRPr sz="2000">
              <a:latin typeface="Times New Roman"/>
              <a:ea typeface="Times New Roman"/>
              <a:cs typeface="Times New Roman"/>
              <a:sym typeface="Times New Roman"/>
            </a:endParaRPr>
          </a:p>
        </p:txBody>
      </p:sp>
      <p:sp>
        <p:nvSpPr>
          <p:cNvPr id="1612" name="Google Shape;1612;p89"/>
          <p:cNvSpPr txBox="1"/>
          <p:nvPr>
            <p:ph idx="1" type="body"/>
          </p:nvPr>
        </p:nvSpPr>
        <p:spPr>
          <a:xfrm>
            <a:off x="5441032" y="25086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a:t>
            </a:r>
            <a:r>
              <a:rPr lang="en-GB" sz="1800">
                <a:latin typeface="Times New Roman"/>
                <a:ea typeface="Times New Roman"/>
                <a:cs typeface="Times New Roman"/>
                <a:sym typeface="Times New Roman"/>
              </a:rPr>
              <a:t>(</a:t>
            </a:r>
            <a:r>
              <a:rPr lang="en-GB" sz="1800"/>
              <a:t>𝜃</a:t>
            </a:r>
            <a:r>
              <a:rPr lang="en-GB" sz="1800"/>
              <a:t>°</a:t>
            </a:r>
            <a:r>
              <a:rPr lang="en-GB" sz="1800">
                <a:latin typeface="Times New Roman"/>
                <a:ea typeface="Times New Roman"/>
                <a:cs typeface="Times New Roman"/>
                <a:sym typeface="Times New Roman"/>
              </a:rPr>
              <a:t>) </a:t>
            </a:r>
            <a:r>
              <a:rPr lang="en-GB" sz="1800"/>
              <a:t>= </a:t>
            </a:r>
            <a:endParaRPr sz="1800"/>
          </a:p>
        </p:txBody>
      </p:sp>
      <p:sp>
        <p:nvSpPr>
          <p:cNvPr id="1613" name="Google Shape;1613;p89"/>
          <p:cNvSpPr txBox="1"/>
          <p:nvPr>
            <p:ph idx="1" type="body"/>
          </p:nvPr>
        </p:nvSpPr>
        <p:spPr>
          <a:xfrm>
            <a:off x="6627425" y="2687150"/>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hyp</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614" name="Google Shape;1614;p89"/>
          <p:cNvCxnSpPr/>
          <p:nvPr/>
        </p:nvCxnSpPr>
        <p:spPr>
          <a:xfrm>
            <a:off x="6541599" y="2684636"/>
            <a:ext cx="508200" cy="0"/>
          </a:xfrm>
          <a:prstGeom prst="straightConnector1">
            <a:avLst/>
          </a:prstGeom>
          <a:noFill/>
          <a:ln cap="flat" cmpd="sng" w="19050">
            <a:solidFill>
              <a:schemeClr val="dk1"/>
            </a:solidFill>
            <a:prstDash val="solid"/>
            <a:round/>
            <a:headEnd len="med" w="med" type="none"/>
            <a:tailEnd len="med" w="med" type="none"/>
          </a:ln>
        </p:spPr>
      </p:cxnSp>
      <p:sp>
        <p:nvSpPr>
          <p:cNvPr id="1615" name="Google Shape;1615;p89"/>
          <p:cNvSpPr txBox="1"/>
          <p:nvPr>
            <p:ph idx="1" type="body"/>
          </p:nvPr>
        </p:nvSpPr>
        <p:spPr>
          <a:xfrm>
            <a:off x="5441032" y="31944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cos(34°) = </a:t>
            </a:r>
            <a:endParaRPr sz="2000">
              <a:latin typeface="Times New Roman"/>
              <a:ea typeface="Times New Roman"/>
              <a:cs typeface="Times New Roman"/>
              <a:sym typeface="Times New Roman"/>
            </a:endParaRPr>
          </a:p>
        </p:txBody>
      </p:sp>
      <p:sp>
        <p:nvSpPr>
          <p:cNvPr id="1616" name="Google Shape;1616;p89"/>
          <p:cNvSpPr txBox="1"/>
          <p:nvPr>
            <p:ph idx="1" type="body"/>
          </p:nvPr>
        </p:nvSpPr>
        <p:spPr>
          <a:xfrm>
            <a:off x="6551232" y="3372940"/>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10</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17" name="Google Shape;1617;p89"/>
          <p:cNvSpPr txBox="1"/>
          <p:nvPr/>
        </p:nvSpPr>
        <p:spPr>
          <a:xfrm flipH="1">
            <a:off x="6615760" y="3054750"/>
            <a:ext cx="192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618" name="Google Shape;1618;p89"/>
          <p:cNvCxnSpPr/>
          <p:nvPr/>
        </p:nvCxnSpPr>
        <p:spPr>
          <a:xfrm>
            <a:off x="6541599" y="3370436"/>
            <a:ext cx="305400" cy="0"/>
          </a:xfrm>
          <a:prstGeom prst="straightConnector1">
            <a:avLst/>
          </a:prstGeom>
          <a:noFill/>
          <a:ln cap="flat" cmpd="sng" w="19050">
            <a:solidFill>
              <a:schemeClr val="dk1"/>
            </a:solidFill>
            <a:prstDash val="solid"/>
            <a:round/>
            <a:headEnd len="med" w="med" type="none"/>
            <a:tailEnd len="med" w="med" type="none"/>
          </a:ln>
        </p:spPr>
      </p:cxnSp>
      <p:sp>
        <p:nvSpPr>
          <p:cNvPr id="1619" name="Google Shape;1619;p89"/>
          <p:cNvSpPr txBox="1"/>
          <p:nvPr>
            <p:ph idx="1" type="body"/>
          </p:nvPr>
        </p:nvSpPr>
        <p:spPr>
          <a:xfrm>
            <a:off x="6625718" y="2390092"/>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adj</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20" name="Google Shape;1620;p89"/>
          <p:cNvSpPr txBox="1"/>
          <p:nvPr>
            <p:ph idx="1" type="body"/>
          </p:nvPr>
        </p:nvSpPr>
        <p:spPr>
          <a:xfrm>
            <a:off x="324000" y="759300"/>
            <a:ext cx="8237700" cy="683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trigonometric functions allow either an </a:t>
            </a:r>
            <a:r>
              <a:rPr lang="en-GB" sz="1800">
                <a:solidFill>
                  <a:schemeClr val="accent5"/>
                </a:solidFill>
              </a:rPr>
              <a:t>angle</a:t>
            </a:r>
            <a:r>
              <a:rPr lang="en-GB" sz="1800"/>
              <a:t> or an </a:t>
            </a:r>
            <a:r>
              <a:rPr lang="en-GB" sz="1800">
                <a:solidFill>
                  <a:schemeClr val="accent5"/>
                </a:solidFill>
              </a:rPr>
              <a:t>edge length</a:t>
            </a:r>
            <a:r>
              <a:rPr lang="en-GB" sz="1800"/>
              <a:t> to be calculated.</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90"/>
          <p:cNvSpPr txBox="1"/>
          <p:nvPr>
            <p:ph idx="1" type="subTitle"/>
          </p:nvPr>
        </p:nvSpPr>
        <p:spPr>
          <a:xfrm>
            <a:off x="337825" y="810000"/>
            <a:ext cx="3982200" cy="171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000">
                <a:latin typeface="Times New Roman"/>
                <a:ea typeface="Times New Roman"/>
                <a:cs typeface="Times New Roman"/>
                <a:sym typeface="Times New Roman"/>
              </a:rPr>
              <a:t>x</a:t>
            </a:r>
            <a:r>
              <a:rPr lang="en-GB"/>
              <a:t>, to 1 d.p.</a:t>
            </a:r>
            <a:endParaRPr/>
          </a:p>
        </p:txBody>
      </p:sp>
      <p:sp>
        <p:nvSpPr>
          <p:cNvPr id="1626" name="Google Shape;1626;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627" name="Google Shape;1627;p90"/>
          <p:cNvSpPr txBox="1"/>
          <p:nvPr>
            <p:ph idx="2" type="subTitle"/>
          </p:nvPr>
        </p:nvSpPr>
        <p:spPr>
          <a:xfrm>
            <a:off x="4824000" y="810000"/>
            <a:ext cx="3982200" cy="363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Find the value of </a:t>
            </a:r>
            <a:r>
              <a:rPr i="1" lang="en-GB" sz="2000">
                <a:latin typeface="Times New Roman"/>
                <a:ea typeface="Times New Roman"/>
                <a:cs typeface="Times New Roman"/>
                <a:sym typeface="Times New Roman"/>
              </a:rPr>
              <a:t>y</a:t>
            </a:r>
            <a:r>
              <a:rPr lang="en-GB"/>
              <a:t>, to 1 d.p.</a:t>
            </a:r>
            <a:endParaRPr/>
          </a:p>
        </p:txBody>
      </p:sp>
      <p:grpSp>
        <p:nvGrpSpPr>
          <p:cNvPr id="1628" name="Google Shape;1628;p90"/>
          <p:cNvGrpSpPr/>
          <p:nvPr/>
        </p:nvGrpSpPr>
        <p:grpSpPr>
          <a:xfrm rot="5400000">
            <a:off x="1994813" y="821810"/>
            <a:ext cx="1037100" cy="1860230"/>
            <a:chOff x="-2098225" y="1379675"/>
            <a:chExt cx="1037100" cy="1860230"/>
          </a:xfrm>
        </p:grpSpPr>
        <p:sp>
          <p:nvSpPr>
            <p:cNvPr id="1629" name="Google Shape;1629;p9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30" name="Google Shape;1630;p90"/>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31" name="Google Shape;1631;p90"/>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632" name="Google Shape;1632;p90"/>
          <p:cNvSpPr/>
          <p:nvPr/>
        </p:nvSpPr>
        <p:spPr>
          <a:xfrm>
            <a:off x="17044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3" name="Google Shape;1633;p90"/>
          <p:cNvSpPr/>
          <p:nvPr/>
        </p:nvSpPr>
        <p:spPr>
          <a:xfrm>
            <a:off x="3003300" y="1912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4" name="Google Shape;1634;p90"/>
          <p:cNvSpPr txBox="1"/>
          <p:nvPr>
            <p:ph idx="4294967295" type="body"/>
          </p:nvPr>
        </p:nvSpPr>
        <p:spPr>
          <a:xfrm>
            <a:off x="2595628" y="1995775"/>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41</a:t>
            </a:r>
            <a:r>
              <a:rPr lang="en-GB" sz="1800"/>
              <a:t>°</a:t>
            </a:r>
            <a:endParaRPr sz="1800"/>
          </a:p>
        </p:txBody>
      </p:sp>
      <p:sp>
        <p:nvSpPr>
          <p:cNvPr id="1635" name="Google Shape;1635;p90"/>
          <p:cNvSpPr txBox="1"/>
          <p:nvPr>
            <p:ph idx="4294967295" type="body"/>
          </p:nvPr>
        </p:nvSpPr>
        <p:spPr>
          <a:xfrm>
            <a:off x="967925" y="163937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636" name="Google Shape;1636;p90"/>
          <p:cNvSpPr txBox="1"/>
          <p:nvPr>
            <p:ph idx="4294967295" type="body"/>
          </p:nvPr>
        </p:nvSpPr>
        <p:spPr>
          <a:xfrm>
            <a:off x="2540278" y="1380200"/>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graphicFrame>
        <p:nvGraphicFramePr>
          <p:cNvPr id="1637" name="Google Shape;1637;p90"/>
          <p:cNvGraphicFramePr/>
          <p:nvPr/>
        </p:nvGraphicFramePr>
        <p:xfrm>
          <a:off x="545788" y="2832725"/>
          <a:ext cx="3000000" cy="3000000"/>
        </p:xfrm>
        <a:graphic>
          <a:graphicData uri="http://schemas.openxmlformats.org/drawingml/2006/table">
            <a:tbl>
              <a:tblPr>
                <a:noFill/>
                <a:tableStyleId>{6583A662-CB0C-4F0C-AD52-46217D66C8BC}</a:tableStyleId>
              </a:tblPr>
              <a:tblGrid>
                <a:gridCol w="798125"/>
                <a:gridCol w="1070900"/>
                <a:gridCol w="890050"/>
              </a:tblGrid>
              <a:tr h="315475">
                <a:tc>
                  <a:txBody>
                    <a:bodyPr/>
                    <a:lstStyle/>
                    <a:p>
                      <a:pPr indent="0" lvl="0" marL="0" rtl="0" algn="ctr">
                        <a:lnSpc>
                          <a:spcPct val="115000"/>
                        </a:lnSpc>
                        <a:spcBef>
                          <a:spcPts val="0"/>
                        </a:spcBef>
                        <a:spcAft>
                          <a:spcPts val="1000"/>
                        </a:spcAft>
                        <a:buNone/>
                      </a:pPr>
                      <a:r>
                        <a:rPr lang="en-GB" sz="1800">
                          <a:latin typeface="Lexend"/>
                          <a:ea typeface="Lexend"/>
                          <a:cs typeface="Lexend"/>
                          <a:sym typeface="Lexend"/>
                        </a:rPr>
                        <a:t>opp</a:t>
                      </a:r>
                      <a:endParaRPr sz="1800">
                        <a:latin typeface="Lexend"/>
                        <a:ea typeface="Lexend"/>
                        <a:cs typeface="Lexend"/>
                        <a:sym typeface="Lexend"/>
                      </a:endParaRPr>
                    </a:p>
                  </a:txBody>
                  <a:tcPr marT="0" marB="0" marR="0" marL="0" anchor="ctr"/>
                </a:tc>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sin</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41</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1800">
                          <a:latin typeface="Lexend"/>
                          <a:ea typeface="Lexend"/>
                          <a:cs typeface="Lexend"/>
                          <a:sym typeface="Lexend"/>
                        </a:rPr>
                        <a:t>hyp</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0" marB="0" marR="0" marL="0" anchor="ctr"/>
                </a:tc>
              </a:tr>
            </a:tbl>
          </a:graphicData>
        </a:graphic>
      </p:graphicFrame>
      <p:sp>
        <p:nvSpPr>
          <p:cNvPr id="1638" name="Google Shape;1638;p90"/>
          <p:cNvSpPr/>
          <p:nvPr/>
        </p:nvSpPr>
        <p:spPr>
          <a:xfrm flipH="1" rot="10800000">
            <a:off x="1974825" y="2688816"/>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639" name="Google Shape;1639;p90"/>
          <p:cNvSpPr txBox="1"/>
          <p:nvPr/>
        </p:nvSpPr>
        <p:spPr>
          <a:xfrm>
            <a:off x="2083069" y="2416453"/>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6</a:t>
            </a:r>
            <a:endParaRPr sz="2000">
              <a:solidFill>
                <a:schemeClr val="accent5"/>
              </a:solidFill>
              <a:latin typeface="Times New Roman"/>
              <a:ea typeface="Times New Roman"/>
              <a:cs typeface="Times New Roman"/>
              <a:sym typeface="Times New Roman"/>
            </a:endParaRPr>
          </a:p>
        </p:txBody>
      </p:sp>
      <p:sp>
        <p:nvSpPr>
          <p:cNvPr id="1640" name="Google Shape;1640;p90"/>
          <p:cNvSpPr txBox="1"/>
          <p:nvPr>
            <p:ph idx="4294967295" type="body"/>
          </p:nvPr>
        </p:nvSpPr>
        <p:spPr>
          <a:xfrm>
            <a:off x="1542296" y="3923377"/>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6 × </a:t>
            </a:r>
            <a:r>
              <a:rPr lang="en-GB" sz="2000">
                <a:latin typeface="Times New Roman"/>
                <a:ea typeface="Times New Roman"/>
                <a:cs typeface="Times New Roman"/>
                <a:sym typeface="Times New Roman"/>
              </a:rPr>
              <a:t>sin(41°)</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41" name="Google Shape;1641;p90"/>
          <p:cNvSpPr txBox="1"/>
          <p:nvPr>
            <p:ph idx="4294967295" type="body"/>
          </p:nvPr>
        </p:nvSpPr>
        <p:spPr>
          <a:xfrm>
            <a:off x="1550002" y="4197481"/>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3.9 cm  </a:t>
            </a:r>
            <a:endParaRPr sz="2000">
              <a:latin typeface="Times New Roman"/>
              <a:ea typeface="Times New Roman"/>
              <a:cs typeface="Times New Roman"/>
              <a:sym typeface="Times New Roman"/>
            </a:endParaRPr>
          </a:p>
        </p:txBody>
      </p:sp>
      <p:grpSp>
        <p:nvGrpSpPr>
          <p:cNvPr id="1642" name="Google Shape;1642;p90"/>
          <p:cNvGrpSpPr/>
          <p:nvPr/>
        </p:nvGrpSpPr>
        <p:grpSpPr>
          <a:xfrm rot="5400000">
            <a:off x="6594780" y="946243"/>
            <a:ext cx="1057366" cy="1784030"/>
            <a:chOff x="-2022025" y="1455875"/>
            <a:chExt cx="1057366" cy="1784030"/>
          </a:xfrm>
        </p:grpSpPr>
        <p:sp>
          <p:nvSpPr>
            <p:cNvPr id="1643" name="Google Shape;1643;p9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44" name="Google Shape;1644;p90"/>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45" name="Google Shape;1645;p9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646" name="Google Shape;1646;p90"/>
          <p:cNvSpPr/>
          <p:nvPr/>
        </p:nvSpPr>
        <p:spPr>
          <a:xfrm>
            <a:off x="63526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7" name="Google Shape;1647;p90"/>
          <p:cNvSpPr/>
          <p:nvPr/>
        </p:nvSpPr>
        <p:spPr>
          <a:xfrm>
            <a:off x="7651500" y="1912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8" name="Google Shape;1648;p90"/>
          <p:cNvSpPr txBox="1"/>
          <p:nvPr>
            <p:ph idx="4294967295" type="body"/>
          </p:nvPr>
        </p:nvSpPr>
        <p:spPr>
          <a:xfrm>
            <a:off x="7279502" y="19957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1649" name="Google Shape;1649;p90"/>
          <p:cNvSpPr txBox="1"/>
          <p:nvPr>
            <p:ph idx="4294967295" type="body"/>
          </p:nvPr>
        </p:nvSpPr>
        <p:spPr>
          <a:xfrm>
            <a:off x="6905100" y="2371631"/>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cm</a:t>
            </a:r>
            <a:endParaRPr sz="1800"/>
          </a:p>
        </p:txBody>
      </p:sp>
      <p:sp>
        <p:nvSpPr>
          <p:cNvPr id="1650" name="Google Shape;1650;p90"/>
          <p:cNvSpPr txBox="1"/>
          <p:nvPr>
            <p:ph idx="4294967295" type="body"/>
          </p:nvPr>
        </p:nvSpPr>
        <p:spPr>
          <a:xfrm>
            <a:off x="5661608" y="1591125"/>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i="1" lang="en-GB" sz="2000">
                <a:latin typeface="Times New Roman"/>
                <a:ea typeface="Times New Roman"/>
                <a:cs typeface="Times New Roman"/>
                <a:sym typeface="Times New Roman"/>
              </a:rPr>
              <a:t> </a:t>
            </a:r>
            <a:r>
              <a:rPr lang="en-GB" sz="1800"/>
              <a:t>cm</a:t>
            </a:r>
            <a:endParaRPr sz="1800"/>
          </a:p>
        </p:txBody>
      </p:sp>
      <p:graphicFrame>
        <p:nvGraphicFramePr>
          <p:cNvPr id="1651" name="Google Shape;1651;p90"/>
          <p:cNvGraphicFramePr/>
          <p:nvPr/>
        </p:nvGraphicFramePr>
        <p:xfrm>
          <a:off x="4736788" y="3061325"/>
          <a:ext cx="3000000" cy="3000000"/>
        </p:xfrm>
        <a:graphic>
          <a:graphicData uri="http://schemas.openxmlformats.org/drawingml/2006/table">
            <a:tbl>
              <a:tblPr>
                <a:noFill/>
                <a:tableStyleId>{6583A662-CB0C-4F0C-AD52-46217D66C8BC}</a:tableStyleId>
              </a:tblPr>
              <a:tblGrid>
                <a:gridCol w="798125"/>
                <a:gridCol w="1070900"/>
                <a:gridCol w="890050"/>
              </a:tblGrid>
              <a:tr h="315475">
                <a:tc>
                  <a:txBody>
                    <a:bodyPr/>
                    <a:lstStyle/>
                    <a:p>
                      <a:pPr indent="0" lvl="0" marL="0" rtl="0" algn="ctr">
                        <a:lnSpc>
                          <a:spcPct val="115000"/>
                        </a:lnSpc>
                        <a:spcBef>
                          <a:spcPts val="0"/>
                        </a:spcBef>
                        <a:spcAft>
                          <a:spcPts val="1000"/>
                        </a:spcAft>
                        <a:buNone/>
                      </a:pPr>
                      <a:r>
                        <a:rPr lang="en-GB" sz="1800">
                          <a:latin typeface="Lexend"/>
                          <a:ea typeface="Lexend"/>
                          <a:cs typeface="Lexend"/>
                          <a:sym typeface="Lexend"/>
                        </a:rPr>
                        <a:t>opp</a:t>
                      </a:r>
                      <a:endParaRPr sz="1800">
                        <a:latin typeface="Lexend"/>
                        <a:ea typeface="Lexend"/>
                        <a:cs typeface="Lexend"/>
                        <a:sym typeface="Lexend"/>
                      </a:endParaRPr>
                    </a:p>
                  </a:txBody>
                  <a:tcPr marT="0" marB="0" marR="0" marL="0" anchor="ctr"/>
                </a:tc>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tan</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29</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i="1" lang="en-GB" sz="2000">
                          <a:latin typeface="Times New Roman"/>
                          <a:ea typeface="Times New Roman"/>
                          <a:cs typeface="Times New Roman"/>
                          <a:sym typeface="Times New Roman"/>
                        </a:rPr>
                        <a:t>y</a:t>
                      </a:r>
                      <a:endParaRPr i="1"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1800">
                          <a:latin typeface="Lexend"/>
                          <a:ea typeface="Lexend"/>
                          <a:cs typeface="Lexend"/>
                          <a:sym typeface="Lexend"/>
                        </a:rPr>
                        <a:t>adj</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0" marB="0" marR="0" marL="0" anchor="ctr"/>
                </a:tc>
              </a:tr>
            </a:tbl>
          </a:graphicData>
        </a:graphic>
      </p:graphicFrame>
      <p:sp>
        <p:nvSpPr>
          <p:cNvPr id="1652" name="Google Shape;1652;p90"/>
          <p:cNvSpPr/>
          <p:nvPr/>
        </p:nvSpPr>
        <p:spPr>
          <a:xfrm flipH="1" rot="10800000">
            <a:off x="6165825" y="2917416"/>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653" name="Google Shape;1653;p90"/>
          <p:cNvSpPr txBox="1"/>
          <p:nvPr/>
        </p:nvSpPr>
        <p:spPr>
          <a:xfrm>
            <a:off x="6274069" y="2645053"/>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4</a:t>
            </a:r>
            <a:endParaRPr sz="2000">
              <a:solidFill>
                <a:schemeClr val="accent5"/>
              </a:solidFill>
              <a:latin typeface="Times New Roman"/>
              <a:ea typeface="Times New Roman"/>
              <a:cs typeface="Times New Roman"/>
              <a:sym typeface="Times New Roman"/>
            </a:endParaRPr>
          </a:p>
        </p:txBody>
      </p:sp>
      <p:sp>
        <p:nvSpPr>
          <p:cNvPr id="1654" name="Google Shape;1654;p90"/>
          <p:cNvSpPr txBox="1"/>
          <p:nvPr>
            <p:ph idx="4294967295" type="body"/>
          </p:nvPr>
        </p:nvSpPr>
        <p:spPr>
          <a:xfrm>
            <a:off x="5809496" y="3923377"/>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4 × </a:t>
            </a: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29</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55" name="Google Shape;1655;p90"/>
          <p:cNvSpPr txBox="1"/>
          <p:nvPr>
            <p:ph idx="4294967295" type="body"/>
          </p:nvPr>
        </p:nvSpPr>
        <p:spPr>
          <a:xfrm>
            <a:off x="5817202" y="4197481"/>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2.2 cm  </a:t>
            </a:r>
            <a:endParaRPr sz="2000">
              <a:latin typeface="Times New Roman"/>
              <a:ea typeface="Times New Roman"/>
              <a:cs typeface="Times New Roman"/>
              <a:sym typeface="Times New Roman"/>
            </a:endParaRPr>
          </a:p>
        </p:txBody>
      </p:sp>
      <p:sp>
        <p:nvSpPr>
          <p:cNvPr id="1656" name="Google Shape;1656;p90"/>
          <p:cNvSpPr/>
          <p:nvPr/>
        </p:nvSpPr>
        <p:spPr>
          <a:xfrm>
            <a:off x="2658000" y="2928475"/>
            <a:ext cx="3765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7" name="Google Shape;1657;p90"/>
          <p:cNvSpPr/>
          <p:nvPr/>
        </p:nvSpPr>
        <p:spPr>
          <a:xfrm>
            <a:off x="2734200" y="3201377"/>
            <a:ext cx="3765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58" name="Google Shape;1658;p90"/>
          <p:cNvGrpSpPr/>
          <p:nvPr/>
        </p:nvGrpSpPr>
        <p:grpSpPr>
          <a:xfrm>
            <a:off x="3304475" y="2973094"/>
            <a:ext cx="1343775" cy="398854"/>
            <a:chOff x="3304475" y="2973094"/>
            <a:chExt cx="1343775" cy="398854"/>
          </a:xfrm>
        </p:grpSpPr>
        <p:sp>
          <p:nvSpPr>
            <p:cNvPr id="1659" name="Google Shape;1659;p90"/>
            <p:cNvSpPr/>
            <p:nvPr/>
          </p:nvSpPr>
          <p:spPr>
            <a:xfrm rot="-5400000">
              <a:off x="3173598" y="3103971"/>
              <a:ext cx="398854"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660" name="Google Shape;1660;p90"/>
            <p:cNvSpPr txBox="1"/>
            <p:nvPr/>
          </p:nvSpPr>
          <p:spPr>
            <a:xfrm>
              <a:off x="3529550" y="3012175"/>
              <a:ext cx="1118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sin(41°)</a:t>
              </a:r>
              <a:endParaRPr sz="2000">
                <a:solidFill>
                  <a:schemeClr val="accent5"/>
                </a:solidFill>
                <a:latin typeface="Times New Roman"/>
                <a:ea typeface="Times New Roman"/>
                <a:cs typeface="Times New Roman"/>
                <a:sym typeface="Times New Roman"/>
              </a:endParaRPr>
            </a:p>
          </p:txBody>
        </p:sp>
      </p:grpSp>
      <p:grpSp>
        <p:nvGrpSpPr>
          <p:cNvPr id="1661" name="Google Shape;1661;p90"/>
          <p:cNvGrpSpPr/>
          <p:nvPr/>
        </p:nvGrpSpPr>
        <p:grpSpPr>
          <a:xfrm>
            <a:off x="7541725" y="3168610"/>
            <a:ext cx="1301650" cy="415315"/>
            <a:chOff x="7617925" y="3168610"/>
            <a:chExt cx="1301650" cy="415315"/>
          </a:xfrm>
        </p:grpSpPr>
        <p:sp>
          <p:nvSpPr>
            <p:cNvPr id="1662" name="Google Shape;1662;p90"/>
            <p:cNvSpPr/>
            <p:nvPr/>
          </p:nvSpPr>
          <p:spPr>
            <a:xfrm rot="-5400000">
              <a:off x="7478818" y="3307717"/>
              <a:ext cx="415315"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663" name="Google Shape;1663;p90"/>
            <p:cNvSpPr txBox="1"/>
            <p:nvPr/>
          </p:nvSpPr>
          <p:spPr>
            <a:xfrm>
              <a:off x="7800875" y="3240000"/>
              <a:ext cx="1118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tan</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29</a:t>
              </a:r>
              <a:r>
                <a:rPr lang="en-GB" sz="2000">
                  <a:solidFill>
                    <a:schemeClr val="accent5"/>
                  </a:solidFill>
                  <a:latin typeface="Times New Roman"/>
                  <a:ea typeface="Times New Roman"/>
                  <a:cs typeface="Times New Roman"/>
                  <a:sym typeface="Times New Roman"/>
                </a:rPr>
                <a:t>°)</a:t>
              </a:r>
              <a:endParaRPr sz="2000">
                <a:solidFill>
                  <a:schemeClr val="accent5"/>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91"/>
          <p:cNvSpPr txBox="1"/>
          <p:nvPr>
            <p:ph idx="1" type="subTitle"/>
          </p:nvPr>
        </p:nvSpPr>
        <p:spPr>
          <a:xfrm>
            <a:off x="337825" y="810000"/>
            <a:ext cx="3982200" cy="171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000">
                <a:latin typeface="Times New Roman"/>
                <a:ea typeface="Times New Roman"/>
                <a:cs typeface="Times New Roman"/>
                <a:sym typeface="Times New Roman"/>
              </a:rPr>
              <a:t>x</a:t>
            </a:r>
            <a:r>
              <a:rPr lang="en-GB"/>
              <a:t>, to 1 d.p.</a:t>
            </a:r>
            <a:endParaRPr/>
          </a:p>
        </p:txBody>
      </p:sp>
      <p:sp>
        <p:nvSpPr>
          <p:cNvPr id="1669" name="Google Shape;1669;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670" name="Google Shape;1670;p91"/>
          <p:cNvSpPr txBox="1"/>
          <p:nvPr>
            <p:ph idx="2" type="subTitle"/>
          </p:nvPr>
        </p:nvSpPr>
        <p:spPr>
          <a:xfrm>
            <a:off x="4824000" y="810000"/>
            <a:ext cx="3982200" cy="363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Find the value of </a:t>
            </a:r>
            <a:r>
              <a:rPr i="1" lang="en-GB" sz="2000">
                <a:latin typeface="Times New Roman"/>
                <a:ea typeface="Times New Roman"/>
                <a:cs typeface="Times New Roman"/>
                <a:sym typeface="Times New Roman"/>
              </a:rPr>
              <a:t>y</a:t>
            </a:r>
            <a:r>
              <a:rPr lang="en-GB"/>
              <a:t>, to 1 d.p.</a:t>
            </a:r>
            <a:endParaRPr/>
          </a:p>
        </p:txBody>
      </p:sp>
      <p:grpSp>
        <p:nvGrpSpPr>
          <p:cNvPr id="1671" name="Google Shape;1671;p91"/>
          <p:cNvGrpSpPr/>
          <p:nvPr/>
        </p:nvGrpSpPr>
        <p:grpSpPr>
          <a:xfrm rot="5400000">
            <a:off x="1994813" y="821810"/>
            <a:ext cx="1037100" cy="1860230"/>
            <a:chOff x="-2098225" y="1379675"/>
            <a:chExt cx="1037100" cy="1860230"/>
          </a:xfrm>
        </p:grpSpPr>
        <p:sp>
          <p:nvSpPr>
            <p:cNvPr id="1672" name="Google Shape;1672;p9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73" name="Google Shape;1673;p9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74" name="Google Shape;1674;p91"/>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675" name="Google Shape;1675;p91"/>
          <p:cNvSpPr/>
          <p:nvPr/>
        </p:nvSpPr>
        <p:spPr>
          <a:xfrm>
            <a:off x="17044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6" name="Google Shape;1676;p91"/>
          <p:cNvSpPr/>
          <p:nvPr/>
        </p:nvSpPr>
        <p:spPr>
          <a:xfrm>
            <a:off x="3003300" y="1912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7" name="Google Shape;1677;p91"/>
          <p:cNvSpPr txBox="1"/>
          <p:nvPr>
            <p:ph idx="4294967295" type="body"/>
          </p:nvPr>
        </p:nvSpPr>
        <p:spPr>
          <a:xfrm>
            <a:off x="2595628" y="1995775"/>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43°</a:t>
            </a:r>
            <a:endParaRPr sz="1800"/>
          </a:p>
        </p:txBody>
      </p:sp>
      <p:sp>
        <p:nvSpPr>
          <p:cNvPr id="1678" name="Google Shape;1678;p91"/>
          <p:cNvSpPr txBox="1"/>
          <p:nvPr>
            <p:ph idx="4294967295" type="body"/>
          </p:nvPr>
        </p:nvSpPr>
        <p:spPr>
          <a:xfrm>
            <a:off x="967925" y="163937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679" name="Google Shape;1679;p91"/>
          <p:cNvSpPr txBox="1"/>
          <p:nvPr>
            <p:ph idx="4294967295" type="body"/>
          </p:nvPr>
        </p:nvSpPr>
        <p:spPr>
          <a:xfrm>
            <a:off x="2540278" y="1380200"/>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r>
              <a:rPr lang="en-GB" sz="1800"/>
              <a:t> cm</a:t>
            </a:r>
            <a:endParaRPr sz="1800"/>
          </a:p>
        </p:txBody>
      </p:sp>
      <p:sp>
        <p:nvSpPr>
          <p:cNvPr id="1680" name="Google Shape;1680;p91"/>
          <p:cNvSpPr txBox="1"/>
          <p:nvPr>
            <p:ph idx="4294967295" type="body"/>
          </p:nvPr>
        </p:nvSpPr>
        <p:spPr>
          <a:xfrm>
            <a:off x="2110643" y="3368726"/>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7 × sin</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43°</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81" name="Google Shape;1681;p91"/>
          <p:cNvSpPr txBox="1"/>
          <p:nvPr>
            <p:ph idx="4294967295" type="body"/>
          </p:nvPr>
        </p:nvSpPr>
        <p:spPr>
          <a:xfrm>
            <a:off x="2111489" y="3820539"/>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4.8 cm  </a:t>
            </a:r>
            <a:endParaRPr sz="2000">
              <a:latin typeface="Times New Roman"/>
              <a:ea typeface="Times New Roman"/>
              <a:cs typeface="Times New Roman"/>
              <a:sym typeface="Times New Roman"/>
            </a:endParaRPr>
          </a:p>
        </p:txBody>
      </p:sp>
      <p:grpSp>
        <p:nvGrpSpPr>
          <p:cNvPr id="1682" name="Google Shape;1682;p91"/>
          <p:cNvGrpSpPr/>
          <p:nvPr/>
        </p:nvGrpSpPr>
        <p:grpSpPr>
          <a:xfrm rot="5400000">
            <a:off x="6594780" y="946243"/>
            <a:ext cx="1057366" cy="1784030"/>
            <a:chOff x="-2022025" y="1455875"/>
            <a:chExt cx="1057366" cy="1784030"/>
          </a:xfrm>
        </p:grpSpPr>
        <p:sp>
          <p:nvSpPr>
            <p:cNvPr id="1683" name="Google Shape;1683;p9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84" name="Google Shape;1684;p91"/>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85" name="Google Shape;1685;p9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686" name="Google Shape;1686;p91"/>
          <p:cNvSpPr/>
          <p:nvPr/>
        </p:nvSpPr>
        <p:spPr>
          <a:xfrm>
            <a:off x="63526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7" name="Google Shape;1687;p91"/>
          <p:cNvSpPr/>
          <p:nvPr/>
        </p:nvSpPr>
        <p:spPr>
          <a:xfrm>
            <a:off x="7651500" y="1912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8" name="Google Shape;1688;p91"/>
          <p:cNvSpPr txBox="1"/>
          <p:nvPr>
            <p:ph idx="4294967295" type="body"/>
          </p:nvPr>
        </p:nvSpPr>
        <p:spPr>
          <a:xfrm>
            <a:off x="7279502" y="19957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r>
              <a:rPr lang="en-GB" sz="1800"/>
              <a:t>°</a:t>
            </a:r>
            <a:endParaRPr sz="1800"/>
          </a:p>
        </p:txBody>
      </p:sp>
      <p:sp>
        <p:nvSpPr>
          <p:cNvPr id="1689" name="Google Shape;1689;p91"/>
          <p:cNvSpPr txBox="1"/>
          <p:nvPr>
            <p:ph idx="4294967295" type="body"/>
          </p:nvPr>
        </p:nvSpPr>
        <p:spPr>
          <a:xfrm>
            <a:off x="6905100" y="2371631"/>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r>
              <a:rPr lang="en-GB" sz="1800"/>
              <a:t> cm</a:t>
            </a:r>
            <a:endParaRPr sz="1800"/>
          </a:p>
        </p:txBody>
      </p:sp>
      <p:sp>
        <p:nvSpPr>
          <p:cNvPr id="1690" name="Google Shape;1690;p91"/>
          <p:cNvSpPr txBox="1"/>
          <p:nvPr>
            <p:ph idx="4294967295" type="body"/>
          </p:nvPr>
        </p:nvSpPr>
        <p:spPr>
          <a:xfrm>
            <a:off x="5661608" y="1591125"/>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 </a:t>
            </a:r>
            <a:r>
              <a:rPr lang="en-GB" sz="1800"/>
              <a:t>cm</a:t>
            </a:r>
            <a:endParaRPr sz="1800"/>
          </a:p>
        </p:txBody>
      </p:sp>
      <p:sp>
        <p:nvSpPr>
          <p:cNvPr id="1691" name="Google Shape;1691;p91"/>
          <p:cNvSpPr txBox="1"/>
          <p:nvPr>
            <p:ph idx="4294967295" type="body"/>
          </p:nvPr>
        </p:nvSpPr>
        <p:spPr>
          <a:xfrm>
            <a:off x="6472969" y="3544675"/>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5 × tan(</a:t>
            </a:r>
            <a:r>
              <a:rPr lang="en-GB" sz="2000">
                <a:latin typeface="Times New Roman"/>
                <a:ea typeface="Times New Roman"/>
                <a:cs typeface="Times New Roman"/>
                <a:sym typeface="Times New Roman"/>
              </a:rPr>
              <a:t>30</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92" name="Google Shape;1692;p91"/>
          <p:cNvSpPr txBox="1"/>
          <p:nvPr>
            <p:ph idx="4294967295" type="body"/>
          </p:nvPr>
        </p:nvSpPr>
        <p:spPr>
          <a:xfrm>
            <a:off x="6467732" y="3965661"/>
            <a:ext cx="1759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2.9 cm  </a:t>
            </a:r>
            <a:endParaRPr sz="2000">
              <a:latin typeface="Times New Roman"/>
              <a:ea typeface="Times New Roman"/>
              <a:cs typeface="Times New Roman"/>
              <a:sym typeface="Times New Roman"/>
            </a:endParaRPr>
          </a:p>
        </p:txBody>
      </p:sp>
      <p:sp>
        <p:nvSpPr>
          <p:cNvPr id="1693" name="Google Shape;1693;p91"/>
          <p:cNvSpPr txBox="1"/>
          <p:nvPr>
            <p:ph idx="4294967295" type="body"/>
          </p:nvPr>
        </p:nvSpPr>
        <p:spPr>
          <a:xfrm>
            <a:off x="1402432" y="28134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43</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694" name="Google Shape;1694;p91"/>
          <p:cNvSpPr txBox="1"/>
          <p:nvPr>
            <p:ph idx="4294967295" type="body"/>
          </p:nvPr>
        </p:nvSpPr>
        <p:spPr>
          <a:xfrm>
            <a:off x="2588832" y="2991940"/>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7</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95" name="Google Shape;1695;p91"/>
          <p:cNvSpPr txBox="1"/>
          <p:nvPr/>
        </p:nvSpPr>
        <p:spPr>
          <a:xfrm flipH="1">
            <a:off x="2577160" y="2673750"/>
            <a:ext cx="192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696" name="Google Shape;1696;p91"/>
          <p:cNvCxnSpPr/>
          <p:nvPr/>
        </p:nvCxnSpPr>
        <p:spPr>
          <a:xfrm>
            <a:off x="2502999" y="2989436"/>
            <a:ext cx="305400" cy="0"/>
          </a:xfrm>
          <a:prstGeom prst="straightConnector1">
            <a:avLst/>
          </a:prstGeom>
          <a:noFill/>
          <a:ln cap="flat" cmpd="sng" w="19050">
            <a:solidFill>
              <a:schemeClr val="dk1"/>
            </a:solidFill>
            <a:prstDash val="solid"/>
            <a:round/>
            <a:headEnd len="med" w="med" type="none"/>
            <a:tailEnd len="med" w="med" type="none"/>
          </a:ln>
        </p:spPr>
      </p:cxnSp>
      <p:sp>
        <p:nvSpPr>
          <p:cNvPr id="1697" name="Google Shape;1697;p91"/>
          <p:cNvSpPr txBox="1"/>
          <p:nvPr>
            <p:ph idx="4294967295" type="body"/>
          </p:nvPr>
        </p:nvSpPr>
        <p:spPr>
          <a:xfrm>
            <a:off x="5745832" y="30420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a:t>
            </a:r>
            <a:r>
              <a:rPr lang="en-GB" sz="2000">
                <a:latin typeface="Times New Roman"/>
                <a:ea typeface="Times New Roman"/>
                <a:cs typeface="Times New Roman"/>
                <a:sym typeface="Times New Roman"/>
              </a:rPr>
              <a:t>n(</a:t>
            </a:r>
            <a:r>
              <a:rPr lang="en-GB" sz="2000">
                <a:latin typeface="Times New Roman"/>
                <a:ea typeface="Times New Roman"/>
                <a:cs typeface="Times New Roman"/>
                <a:sym typeface="Times New Roman"/>
              </a:rPr>
              <a:t>30</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98" name="Google Shape;1698;p91"/>
          <p:cNvSpPr txBox="1"/>
          <p:nvPr>
            <p:ph idx="4294967295" type="body"/>
          </p:nvPr>
        </p:nvSpPr>
        <p:spPr>
          <a:xfrm>
            <a:off x="6932232" y="3220540"/>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5</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699" name="Google Shape;1699;p91"/>
          <p:cNvSpPr txBox="1"/>
          <p:nvPr/>
        </p:nvSpPr>
        <p:spPr>
          <a:xfrm flipH="1">
            <a:off x="6920560" y="2902350"/>
            <a:ext cx="192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y</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700" name="Google Shape;1700;p91"/>
          <p:cNvCxnSpPr/>
          <p:nvPr/>
        </p:nvCxnSpPr>
        <p:spPr>
          <a:xfrm>
            <a:off x="6846399" y="3218036"/>
            <a:ext cx="3054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92"/>
          <p:cNvSpPr txBox="1"/>
          <p:nvPr>
            <p:ph idx="1" type="body"/>
          </p:nvPr>
        </p:nvSpPr>
        <p:spPr>
          <a:xfrm>
            <a:off x="324000" y="759300"/>
            <a:ext cx="8237700" cy="69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Each of the ratios includes two edges. How we calculate them depends on which edge it is. </a:t>
            </a:r>
            <a:endParaRPr sz="1800"/>
          </a:p>
        </p:txBody>
      </p:sp>
      <p:sp>
        <p:nvSpPr>
          <p:cNvPr id="1706" name="Google Shape;1706;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707" name="Google Shape;1707;p92"/>
          <p:cNvSpPr txBox="1"/>
          <p:nvPr>
            <p:ph idx="4294967295" type="subTitle"/>
          </p:nvPr>
        </p:nvSpPr>
        <p:spPr>
          <a:xfrm>
            <a:off x="337825" y="1648200"/>
            <a:ext cx="3411900" cy="42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Find the length of </a:t>
            </a:r>
            <a:r>
              <a:rPr i="1" lang="en-GB" sz="2000">
                <a:latin typeface="Times New Roman"/>
                <a:ea typeface="Times New Roman"/>
                <a:cs typeface="Times New Roman"/>
                <a:sym typeface="Times New Roman"/>
              </a:rPr>
              <a:t>m</a:t>
            </a:r>
            <a:r>
              <a:rPr lang="en-GB" sz="1800"/>
              <a:t>, to 1 d.p.</a:t>
            </a:r>
            <a:endParaRPr sz="1800"/>
          </a:p>
        </p:txBody>
      </p:sp>
      <p:grpSp>
        <p:nvGrpSpPr>
          <p:cNvPr id="1708" name="Google Shape;1708;p92"/>
          <p:cNvGrpSpPr/>
          <p:nvPr/>
        </p:nvGrpSpPr>
        <p:grpSpPr>
          <a:xfrm rot="5400000">
            <a:off x="1994813" y="1660010"/>
            <a:ext cx="1037100" cy="1860230"/>
            <a:chOff x="-2098225" y="1379675"/>
            <a:chExt cx="1037100" cy="1860230"/>
          </a:xfrm>
        </p:grpSpPr>
        <p:sp>
          <p:nvSpPr>
            <p:cNvPr id="1709" name="Google Shape;1709;p9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10" name="Google Shape;1710;p9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711" name="Google Shape;1711;p92"/>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712" name="Google Shape;1712;p92"/>
          <p:cNvSpPr/>
          <p:nvPr/>
        </p:nvSpPr>
        <p:spPr>
          <a:xfrm>
            <a:off x="1704475" y="2912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3" name="Google Shape;1713;p92"/>
          <p:cNvSpPr/>
          <p:nvPr/>
        </p:nvSpPr>
        <p:spPr>
          <a:xfrm>
            <a:off x="3003300" y="2750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4" name="Google Shape;1714;p92"/>
          <p:cNvSpPr txBox="1"/>
          <p:nvPr>
            <p:ph idx="1" type="body"/>
          </p:nvPr>
        </p:nvSpPr>
        <p:spPr>
          <a:xfrm>
            <a:off x="2595628" y="2833975"/>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41°</a:t>
            </a:r>
            <a:endParaRPr sz="1800"/>
          </a:p>
        </p:txBody>
      </p:sp>
      <p:sp>
        <p:nvSpPr>
          <p:cNvPr id="1715" name="Google Shape;1715;p92"/>
          <p:cNvSpPr txBox="1"/>
          <p:nvPr>
            <p:ph idx="1" type="body"/>
          </p:nvPr>
        </p:nvSpPr>
        <p:spPr>
          <a:xfrm>
            <a:off x="2579550" y="220522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a:t>
            </a:r>
            <a:r>
              <a:rPr lang="en-GB" sz="1800"/>
              <a:t> cm</a:t>
            </a:r>
            <a:endParaRPr sz="1800"/>
          </a:p>
        </p:txBody>
      </p:sp>
      <p:sp>
        <p:nvSpPr>
          <p:cNvPr id="1716" name="Google Shape;1716;p92"/>
          <p:cNvSpPr txBox="1"/>
          <p:nvPr>
            <p:ph idx="1" type="body"/>
          </p:nvPr>
        </p:nvSpPr>
        <p:spPr>
          <a:xfrm>
            <a:off x="967953" y="242932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717" name="Google Shape;1717;p92"/>
          <p:cNvSpPr txBox="1"/>
          <p:nvPr>
            <p:ph idx="1" type="body"/>
          </p:nvPr>
        </p:nvSpPr>
        <p:spPr>
          <a:xfrm>
            <a:off x="4026125" y="137805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definition triangle.</a:t>
            </a:r>
            <a:endParaRPr sz="1800">
              <a:solidFill>
                <a:schemeClr val="accent5"/>
              </a:solidFill>
            </a:endParaRPr>
          </a:p>
        </p:txBody>
      </p:sp>
      <p:grpSp>
        <p:nvGrpSpPr>
          <p:cNvPr id="1718" name="Google Shape;1718;p92"/>
          <p:cNvGrpSpPr/>
          <p:nvPr/>
        </p:nvGrpSpPr>
        <p:grpSpPr>
          <a:xfrm flipH="1" rot="-5400000">
            <a:off x="6301902" y="1418856"/>
            <a:ext cx="679695" cy="1431400"/>
            <a:chOff x="-2160600" y="1415653"/>
            <a:chExt cx="1099475" cy="1708522"/>
          </a:xfrm>
        </p:grpSpPr>
        <p:sp>
          <p:nvSpPr>
            <p:cNvPr id="1719" name="Google Shape;1719;p9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20" name="Google Shape;1720;p92"/>
            <p:cNvCxnSpPr/>
            <p:nvPr/>
          </p:nvCxnSpPr>
          <p:spPr>
            <a:xfrm flipH="1">
              <a:off x="-2160600" y="1415653"/>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721" name="Google Shape;1721;p92"/>
          <p:cNvSpPr txBox="1"/>
          <p:nvPr>
            <p:ph idx="1" type="body"/>
          </p:nvPr>
        </p:nvSpPr>
        <p:spPr>
          <a:xfrm flipH="1">
            <a:off x="6380402" y="2231682"/>
            <a:ext cx="4191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41</a:t>
            </a:r>
            <a:r>
              <a:rPr lang="en-GB" sz="1800"/>
              <a:t>°</a:t>
            </a:r>
            <a:endParaRPr sz="1800"/>
          </a:p>
        </p:txBody>
      </p:sp>
      <p:sp>
        <p:nvSpPr>
          <p:cNvPr id="1722" name="Google Shape;1722;p92"/>
          <p:cNvSpPr txBox="1"/>
          <p:nvPr>
            <p:ph idx="1" type="body"/>
          </p:nvPr>
        </p:nvSpPr>
        <p:spPr>
          <a:xfrm flipH="1">
            <a:off x="6163803" y="1813589"/>
            <a:ext cx="6480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cm</a:t>
            </a:r>
            <a:endParaRPr sz="1800"/>
          </a:p>
        </p:txBody>
      </p:sp>
      <p:sp>
        <p:nvSpPr>
          <p:cNvPr id="1723" name="Google Shape;1723;p92"/>
          <p:cNvSpPr txBox="1"/>
          <p:nvPr>
            <p:ph idx="1" type="body"/>
          </p:nvPr>
        </p:nvSpPr>
        <p:spPr>
          <a:xfrm flipH="1">
            <a:off x="7534725" y="2003925"/>
            <a:ext cx="14139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sin</a:t>
            </a:r>
            <a:r>
              <a:rPr lang="en-GB" sz="2000">
                <a:latin typeface="Times New Roman"/>
                <a:ea typeface="Times New Roman"/>
                <a:cs typeface="Times New Roman"/>
                <a:sym typeface="Times New Roman"/>
              </a:rPr>
              <a:t>(</a:t>
            </a:r>
            <a:r>
              <a:rPr lang="en-GB" sz="1800"/>
              <a:t>41</a:t>
            </a:r>
            <a:r>
              <a:rPr lang="en-GB" sz="1800"/>
              <a:t>°</a:t>
            </a:r>
            <a:r>
              <a:rPr lang="en-GB" sz="2000">
                <a:latin typeface="Times New Roman"/>
                <a:ea typeface="Times New Roman"/>
                <a:cs typeface="Times New Roman"/>
                <a:sym typeface="Times New Roman"/>
              </a:rPr>
              <a:t>)</a:t>
            </a:r>
            <a:r>
              <a:rPr lang="en-GB" sz="1800"/>
              <a:t> cm</a:t>
            </a:r>
            <a:endParaRPr sz="1800"/>
          </a:p>
        </p:txBody>
      </p:sp>
      <p:sp>
        <p:nvSpPr>
          <p:cNvPr id="1724" name="Google Shape;1724;p92"/>
          <p:cNvSpPr/>
          <p:nvPr/>
        </p:nvSpPr>
        <p:spPr>
          <a:xfrm flipH="1">
            <a:off x="5725326" y="2190060"/>
            <a:ext cx="558300" cy="558300"/>
          </a:xfrm>
          <a:prstGeom prst="arc">
            <a:avLst>
              <a:gd fmla="val 10867472" name="adj1"/>
              <a:gd fmla="val 1227177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725" name="Google Shape;1725;p92"/>
          <p:cNvGraphicFramePr/>
          <p:nvPr/>
        </p:nvGraphicFramePr>
        <p:xfrm>
          <a:off x="5441863" y="3324225"/>
          <a:ext cx="3000000" cy="3000000"/>
        </p:xfrm>
        <a:graphic>
          <a:graphicData uri="http://schemas.openxmlformats.org/drawingml/2006/table">
            <a:tbl>
              <a:tblPr>
                <a:noFill/>
                <a:tableStyleId>{6583A662-CB0C-4F0C-AD52-46217D66C8BC}</a:tableStyleId>
              </a:tblPr>
              <a:tblGrid>
                <a:gridCol w="1070900"/>
                <a:gridCol w="8900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sin</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41</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i="1" lang="en-GB" sz="2000">
                          <a:latin typeface="Times New Roman"/>
                          <a:ea typeface="Times New Roman"/>
                          <a:cs typeface="Times New Roman"/>
                          <a:sym typeface="Times New Roman"/>
                        </a:rPr>
                        <a:t>m</a:t>
                      </a:r>
                      <a:endParaRPr i="1" sz="2000">
                        <a:latin typeface="Times New Roman"/>
                        <a:ea typeface="Times New Roman"/>
                        <a:cs typeface="Times New Roman"/>
                        <a:sym typeface="Times New Roman"/>
                      </a:endParaRPr>
                    </a:p>
                  </a:txBody>
                  <a:tcPr marT="0" marB="0" marR="0" marL="0" anchor="ctr"/>
                </a:tc>
              </a:tr>
            </a:tbl>
          </a:graphicData>
        </a:graphic>
      </p:graphicFrame>
      <p:sp>
        <p:nvSpPr>
          <p:cNvPr id="1726" name="Google Shape;1726;p92"/>
          <p:cNvSpPr/>
          <p:nvPr/>
        </p:nvSpPr>
        <p:spPr>
          <a:xfrm>
            <a:off x="7271968" y="2387626"/>
            <a:ext cx="85800" cy="85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27" name="Google Shape;1727;p92"/>
          <p:cNvCxnSpPr/>
          <p:nvPr/>
        </p:nvCxnSpPr>
        <p:spPr>
          <a:xfrm rot="10800000">
            <a:off x="7448075" y="1875075"/>
            <a:ext cx="0" cy="605700"/>
          </a:xfrm>
          <a:prstGeom prst="straightConnector1">
            <a:avLst/>
          </a:prstGeom>
          <a:noFill/>
          <a:ln cap="flat" cmpd="sng" w="28575">
            <a:solidFill>
              <a:schemeClr val="accent5"/>
            </a:solidFill>
            <a:prstDash val="solid"/>
            <a:round/>
            <a:headEnd len="med" w="med" type="triangle"/>
            <a:tailEnd len="med" w="med" type="triangle"/>
          </a:ln>
        </p:spPr>
      </p:cxnSp>
      <p:sp>
        <p:nvSpPr>
          <p:cNvPr id="1728" name="Google Shape;1728;p92"/>
          <p:cNvSpPr/>
          <p:nvPr/>
        </p:nvSpPr>
        <p:spPr>
          <a:xfrm flipH="1" rot="-5400000">
            <a:off x="7203221" y="3561547"/>
            <a:ext cx="370452"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729" name="Google Shape;1729;p92"/>
          <p:cNvSpPr txBox="1"/>
          <p:nvPr/>
        </p:nvSpPr>
        <p:spPr>
          <a:xfrm>
            <a:off x="4317955" y="3431375"/>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sin</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41</a:t>
            </a:r>
            <a:r>
              <a:rPr lang="en-GB" sz="2000">
                <a:solidFill>
                  <a:schemeClr val="accent5"/>
                </a:solidFill>
                <a:latin typeface="Times New Roman"/>
                <a:ea typeface="Times New Roman"/>
                <a:cs typeface="Times New Roman"/>
                <a:sym typeface="Times New Roman"/>
              </a:rPr>
              <a:t>°) </a:t>
            </a:r>
            <a:endParaRPr sz="2000">
              <a:solidFill>
                <a:schemeClr val="accent5"/>
              </a:solidFill>
              <a:latin typeface="Times New Roman"/>
              <a:ea typeface="Times New Roman"/>
              <a:cs typeface="Times New Roman"/>
              <a:sym typeface="Times New Roman"/>
            </a:endParaRPr>
          </a:p>
        </p:txBody>
      </p:sp>
      <p:sp>
        <p:nvSpPr>
          <p:cNvPr id="1730" name="Google Shape;1730;p92"/>
          <p:cNvSpPr txBox="1"/>
          <p:nvPr/>
        </p:nvSpPr>
        <p:spPr>
          <a:xfrm flipH="1">
            <a:off x="7492754" y="3431375"/>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sin</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41</a:t>
            </a:r>
            <a:r>
              <a:rPr lang="en-GB" sz="2000">
                <a:solidFill>
                  <a:schemeClr val="accent5"/>
                </a:solidFill>
                <a:latin typeface="Times New Roman"/>
                <a:ea typeface="Times New Roman"/>
                <a:cs typeface="Times New Roman"/>
                <a:sym typeface="Times New Roman"/>
              </a:rPr>
              <a:t>°) </a:t>
            </a:r>
            <a:endParaRPr sz="2000">
              <a:solidFill>
                <a:schemeClr val="accent5"/>
              </a:solidFill>
              <a:latin typeface="Times New Roman"/>
              <a:ea typeface="Times New Roman"/>
              <a:cs typeface="Times New Roman"/>
              <a:sym typeface="Times New Roman"/>
            </a:endParaRPr>
          </a:p>
        </p:txBody>
      </p:sp>
      <p:sp>
        <p:nvSpPr>
          <p:cNvPr id="1731" name="Google Shape;1731;p92"/>
          <p:cNvSpPr txBox="1"/>
          <p:nvPr>
            <p:ph idx="1" type="body"/>
          </p:nvPr>
        </p:nvSpPr>
        <p:spPr>
          <a:xfrm>
            <a:off x="1429827" y="3893475"/>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a:t>
            </a:r>
            <a:r>
              <a:rPr i="1" lang="en-GB" sz="2000">
                <a:latin typeface="Times New Roman"/>
                <a:ea typeface="Times New Roman"/>
                <a:cs typeface="Times New Roman"/>
                <a:sym typeface="Times New Roman"/>
              </a:rPr>
              <a:t> </a:t>
            </a:r>
            <a:r>
              <a:rPr lang="en-GB" sz="1800"/>
              <a:t>= </a:t>
            </a:r>
            <a:endParaRPr sz="1800"/>
          </a:p>
        </p:txBody>
      </p:sp>
      <p:sp>
        <p:nvSpPr>
          <p:cNvPr id="1732" name="Google Shape;1732;p92"/>
          <p:cNvSpPr txBox="1"/>
          <p:nvPr>
            <p:ph idx="1" type="body"/>
          </p:nvPr>
        </p:nvSpPr>
        <p:spPr>
          <a:xfrm>
            <a:off x="2233469" y="3776775"/>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r>
              <a:rPr lang="en-GB" sz="1800"/>
              <a:t> </a:t>
            </a:r>
            <a:endParaRPr sz="1800"/>
          </a:p>
        </p:txBody>
      </p:sp>
      <p:sp>
        <p:nvSpPr>
          <p:cNvPr id="1733" name="Google Shape;1733;p92"/>
          <p:cNvSpPr txBox="1"/>
          <p:nvPr/>
        </p:nvSpPr>
        <p:spPr>
          <a:xfrm flipH="1">
            <a:off x="1936261" y="4042500"/>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Times New Roman"/>
                <a:ea typeface="Times New Roman"/>
                <a:cs typeface="Times New Roman"/>
                <a:sym typeface="Times New Roman"/>
              </a:rPr>
              <a:t>sin</a:t>
            </a: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41</a:t>
            </a: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734" name="Google Shape;1734;p92"/>
          <p:cNvCxnSpPr/>
          <p:nvPr/>
        </p:nvCxnSpPr>
        <p:spPr>
          <a:xfrm>
            <a:off x="1894207" y="4072650"/>
            <a:ext cx="868200" cy="0"/>
          </a:xfrm>
          <a:prstGeom prst="straightConnector1">
            <a:avLst/>
          </a:prstGeom>
          <a:noFill/>
          <a:ln cap="flat" cmpd="sng" w="19050">
            <a:solidFill>
              <a:schemeClr val="dk1"/>
            </a:solidFill>
            <a:prstDash val="solid"/>
            <a:round/>
            <a:headEnd len="med" w="med" type="none"/>
            <a:tailEnd len="med" w="med" type="none"/>
          </a:ln>
        </p:spPr>
      </p:cxnSp>
      <p:sp>
        <p:nvSpPr>
          <p:cNvPr id="1735" name="Google Shape;1735;p92"/>
          <p:cNvSpPr txBox="1"/>
          <p:nvPr>
            <p:ph idx="1" type="body"/>
          </p:nvPr>
        </p:nvSpPr>
        <p:spPr>
          <a:xfrm>
            <a:off x="2821981" y="3893475"/>
            <a:ext cx="102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9.1 cm</a:t>
            </a:r>
            <a:r>
              <a:rPr lang="en-GB" sz="1800"/>
              <a:t> </a:t>
            </a:r>
            <a:endParaRPr sz="1800"/>
          </a:p>
        </p:txBody>
      </p:sp>
      <p:grpSp>
        <p:nvGrpSpPr>
          <p:cNvPr id="1736" name="Google Shape;1736;p92"/>
          <p:cNvGrpSpPr/>
          <p:nvPr/>
        </p:nvGrpSpPr>
        <p:grpSpPr>
          <a:xfrm>
            <a:off x="5958500" y="2632975"/>
            <a:ext cx="1443394" cy="2150072"/>
            <a:chOff x="5958500" y="2632975"/>
            <a:chExt cx="1443394" cy="2150072"/>
          </a:xfrm>
        </p:grpSpPr>
        <p:sp>
          <p:nvSpPr>
            <p:cNvPr id="1737" name="Google Shape;1737;p92"/>
            <p:cNvSpPr/>
            <p:nvPr/>
          </p:nvSpPr>
          <p:spPr>
            <a:xfrm>
              <a:off x="6165825" y="4014479"/>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4"/>
              </a:solidFill>
              <a:prstDash val="solid"/>
              <a:round/>
              <a:headEnd len="med" w="med" type="none"/>
              <a:tailEnd len="med" w="med" type="triangle"/>
            </a:ln>
          </p:spPr>
        </p:sp>
        <p:sp>
          <p:nvSpPr>
            <p:cNvPr id="1738" name="Google Shape;1738;p92"/>
            <p:cNvSpPr/>
            <p:nvPr/>
          </p:nvSpPr>
          <p:spPr>
            <a:xfrm flipH="1" rot="10800000">
              <a:off x="6165825" y="3235859"/>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4"/>
              </a:solidFill>
              <a:prstDash val="solid"/>
              <a:round/>
              <a:headEnd len="med" w="med" type="none"/>
              <a:tailEnd len="med" w="med" type="triangle"/>
            </a:ln>
          </p:spPr>
        </p:sp>
        <p:grpSp>
          <p:nvGrpSpPr>
            <p:cNvPr id="1739" name="Google Shape;1739;p92"/>
            <p:cNvGrpSpPr/>
            <p:nvPr/>
          </p:nvGrpSpPr>
          <p:grpSpPr>
            <a:xfrm>
              <a:off x="6187800" y="2632975"/>
              <a:ext cx="1214094" cy="605479"/>
              <a:chOff x="6187800" y="2632975"/>
              <a:chExt cx="1214094" cy="605479"/>
            </a:xfrm>
          </p:grpSpPr>
          <p:sp>
            <p:nvSpPr>
              <p:cNvPr id="1740" name="Google Shape;1740;p92"/>
              <p:cNvSpPr txBox="1"/>
              <p:nvPr/>
            </p:nvSpPr>
            <p:spPr>
              <a:xfrm>
                <a:off x="6766996" y="2632975"/>
                <a:ext cx="326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6</a:t>
                </a:r>
                <a:endParaRPr sz="2000">
                  <a:solidFill>
                    <a:schemeClr val="accent4"/>
                  </a:solidFill>
                  <a:latin typeface="Times New Roman"/>
                  <a:ea typeface="Times New Roman"/>
                  <a:cs typeface="Times New Roman"/>
                  <a:sym typeface="Times New Roman"/>
                </a:endParaRPr>
              </a:p>
            </p:txBody>
          </p:sp>
          <p:cxnSp>
            <p:nvCxnSpPr>
              <p:cNvPr id="1741" name="Google Shape;1741;p92"/>
              <p:cNvCxnSpPr/>
              <p:nvPr/>
            </p:nvCxnSpPr>
            <p:spPr>
              <a:xfrm>
                <a:off x="6491144" y="2925666"/>
                <a:ext cx="726000" cy="0"/>
              </a:xfrm>
              <a:prstGeom prst="straightConnector1">
                <a:avLst/>
              </a:prstGeom>
              <a:noFill/>
              <a:ln cap="flat" cmpd="sng" w="19050">
                <a:solidFill>
                  <a:schemeClr val="accent4"/>
                </a:solidFill>
                <a:prstDash val="solid"/>
                <a:round/>
                <a:headEnd len="med" w="med" type="none"/>
                <a:tailEnd len="med" w="med" type="none"/>
              </a:ln>
            </p:spPr>
          </p:cxnSp>
          <p:sp>
            <p:nvSpPr>
              <p:cNvPr id="1742" name="Google Shape;1742;p92"/>
              <p:cNvSpPr txBox="1"/>
              <p:nvPr/>
            </p:nvSpPr>
            <p:spPr>
              <a:xfrm>
                <a:off x="6380394" y="2917754"/>
                <a:ext cx="10215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 sin(41</a:t>
                </a:r>
                <a:r>
                  <a:rPr lang="en-GB" sz="2000">
                    <a:solidFill>
                      <a:schemeClr val="accent4"/>
                    </a:solidFill>
                    <a:latin typeface="Times New Roman"/>
                    <a:ea typeface="Times New Roman"/>
                    <a:cs typeface="Times New Roman"/>
                    <a:sym typeface="Times New Roman"/>
                  </a:rPr>
                  <a:t>°</a:t>
                </a:r>
                <a:r>
                  <a:rPr lang="en-GB" sz="2000">
                    <a:solidFill>
                      <a:schemeClr val="accent4"/>
                    </a:solidFill>
                    <a:latin typeface="Times New Roman"/>
                    <a:ea typeface="Times New Roman"/>
                    <a:cs typeface="Times New Roman"/>
                    <a:sym typeface="Times New Roman"/>
                  </a:rPr>
                  <a:t>)</a:t>
                </a:r>
                <a:endParaRPr sz="2000">
                  <a:solidFill>
                    <a:schemeClr val="accent4"/>
                  </a:solidFill>
                  <a:latin typeface="Times New Roman"/>
                  <a:ea typeface="Times New Roman"/>
                  <a:cs typeface="Times New Roman"/>
                  <a:sym typeface="Times New Roman"/>
                </a:endParaRPr>
              </a:p>
            </p:txBody>
          </p:sp>
          <p:sp>
            <p:nvSpPr>
              <p:cNvPr id="1743" name="Google Shape;1743;p92"/>
              <p:cNvSpPr txBox="1"/>
              <p:nvPr/>
            </p:nvSpPr>
            <p:spPr>
              <a:xfrm>
                <a:off x="6187800" y="2697925"/>
                <a:ext cx="3267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a:t>
                </a:r>
                <a:endParaRPr sz="2000">
                  <a:solidFill>
                    <a:schemeClr val="accent4"/>
                  </a:solidFill>
                  <a:latin typeface="Times New Roman"/>
                  <a:ea typeface="Times New Roman"/>
                  <a:cs typeface="Times New Roman"/>
                  <a:sym typeface="Times New Roman"/>
                </a:endParaRPr>
              </a:p>
            </p:txBody>
          </p:sp>
        </p:grpSp>
        <p:grpSp>
          <p:nvGrpSpPr>
            <p:cNvPr id="1744" name="Google Shape;1744;p92"/>
            <p:cNvGrpSpPr/>
            <p:nvPr/>
          </p:nvGrpSpPr>
          <p:grpSpPr>
            <a:xfrm>
              <a:off x="5958500" y="4196957"/>
              <a:ext cx="1221630" cy="586091"/>
              <a:chOff x="6111600" y="2722818"/>
              <a:chExt cx="1221630" cy="586091"/>
            </a:xfrm>
          </p:grpSpPr>
          <p:sp>
            <p:nvSpPr>
              <p:cNvPr id="1745" name="Google Shape;1745;p92"/>
              <p:cNvSpPr txBox="1"/>
              <p:nvPr/>
            </p:nvSpPr>
            <p:spPr>
              <a:xfrm>
                <a:off x="6690796" y="2722818"/>
                <a:ext cx="326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6</a:t>
                </a:r>
                <a:endParaRPr sz="2000">
                  <a:solidFill>
                    <a:schemeClr val="accent4"/>
                  </a:solidFill>
                  <a:latin typeface="Times New Roman"/>
                  <a:ea typeface="Times New Roman"/>
                  <a:cs typeface="Times New Roman"/>
                  <a:sym typeface="Times New Roman"/>
                </a:endParaRPr>
              </a:p>
            </p:txBody>
          </p:sp>
          <p:cxnSp>
            <p:nvCxnSpPr>
              <p:cNvPr id="1746" name="Google Shape;1746;p92"/>
              <p:cNvCxnSpPr/>
              <p:nvPr/>
            </p:nvCxnSpPr>
            <p:spPr>
              <a:xfrm>
                <a:off x="6414944" y="3001866"/>
                <a:ext cx="726000" cy="0"/>
              </a:xfrm>
              <a:prstGeom prst="straightConnector1">
                <a:avLst/>
              </a:prstGeom>
              <a:noFill/>
              <a:ln cap="flat" cmpd="sng" w="19050">
                <a:solidFill>
                  <a:schemeClr val="accent4"/>
                </a:solidFill>
                <a:prstDash val="solid"/>
                <a:round/>
                <a:headEnd len="med" w="med" type="none"/>
                <a:tailEnd len="med" w="med" type="none"/>
              </a:ln>
            </p:spPr>
          </p:cxnSp>
          <p:sp>
            <p:nvSpPr>
              <p:cNvPr id="1747" name="Google Shape;1747;p92"/>
              <p:cNvSpPr txBox="1"/>
              <p:nvPr/>
            </p:nvSpPr>
            <p:spPr>
              <a:xfrm>
                <a:off x="6311730" y="2988209"/>
                <a:ext cx="10215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 sin(41°)</a:t>
                </a:r>
                <a:endParaRPr sz="2000">
                  <a:solidFill>
                    <a:schemeClr val="accent4"/>
                  </a:solidFill>
                  <a:latin typeface="Times New Roman"/>
                  <a:ea typeface="Times New Roman"/>
                  <a:cs typeface="Times New Roman"/>
                  <a:sym typeface="Times New Roman"/>
                </a:endParaRPr>
              </a:p>
            </p:txBody>
          </p:sp>
          <p:sp>
            <p:nvSpPr>
              <p:cNvPr id="1748" name="Google Shape;1748;p92"/>
              <p:cNvSpPr txBox="1"/>
              <p:nvPr/>
            </p:nvSpPr>
            <p:spPr>
              <a:xfrm>
                <a:off x="6111600" y="2774125"/>
                <a:ext cx="3267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accent4"/>
                    </a:solidFill>
                    <a:latin typeface="Times New Roman"/>
                    <a:ea typeface="Times New Roman"/>
                    <a:cs typeface="Times New Roman"/>
                    <a:sym typeface="Times New Roman"/>
                  </a:rPr>
                  <a:t>×</a:t>
                </a:r>
                <a:endParaRPr sz="2000">
                  <a:solidFill>
                    <a:schemeClr val="accent4"/>
                  </a:solidFill>
                  <a:latin typeface="Times New Roman"/>
                  <a:ea typeface="Times New Roman"/>
                  <a:cs typeface="Times New Roman"/>
                  <a:sym typeface="Times New Roman"/>
                </a:endParaRPr>
              </a:p>
            </p:txBody>
          </p:sp>
        </p:grpSp>
      </p:grpSp>
      <p:sp>
        <p:nvSpPr>
          <p:cNvPr id="1749" name="Google Shape;1749;p92"/>
          <p:cNvSpPr/>
          <p:nvPr/>
        </p:nvSpPr>
        <p:spPr>
          <a:xfrm flipH="1" rot="5400000">
            <a:off x="5280114" y="3573012"/>
            <a:ext cx="338823"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93"/>
          <p:cNvSpPr txBox="1"/>
          <p:nvPr>
            <p:ph idx="1" type="body"/>
          </p:nvPr>
        </p:nvSpPr>
        <p:spPr>
          <a:xfrm>
            <a:off x="324000" y="759300"/>
            <a:ext cx="8237700" cy="69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Each of the ratios includes two edges. How we calculate them depends on which edge it is. </a:t>
            </a:r>
            <a:endParaRPr sz="1800"/>
          </a:p>
        </p:txBody>
      </p:sp>
      <p:sp>
        <p:nvSpPr>
          <p:cNvPr id="1755" name="Google Shape;1755;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grpSp>
        <p:nvGrpSpPr>
          <p:cNvPr id="1756" name="Google Shape;1756;p93"/>
          <p:cNvGrpSpPr/>
          <p:nvPr/>
        </p:nvGrpSpPr>
        <p:grpSpPr>
          <a:xfrm rot="5400000">
            <a:off x="1994813" y="1660010"/>
            <a:ext cx="1037100" cy="1860230"/>
            <a:chOff x="-2098225" y="1379675"/>
            <a:chExt cx="1037100" cy="1860230"/>
          </a:xfrm>
        </p:grpSpPr>
        <p:sp>
          <p:nvSpPr>
            <p:cNvPr id="1757" name="Google Shape;1757;p9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58" name="Google Shape;1758;p93"/>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759" name="Google Shape;1759;p93"/>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760" name="Google Shape;1760;p93"/>
          <p:cNvSpPr/>
          <p:nvPr/>
        </p:nvSpPr>
        <p:spPr>
          <a:xfrm>
            <a:off x="1704475" y="29125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1" name="Google Shape;1761;p93"/>
          <p:cNvSpPr/>
          <p:nvPr/>
        </p:nvSpPr>
        <p:spPr>
          <a:xfrm>
            <a:off x="3003300" y="27505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2" name="Google Shape;1762;p93"/>
          <p:cNvSpPr txBox="1"/>
          <p:nvPr>
            <p:ph idx="1" type="body"/>
          </p:nvPr>
        </p:nvSpPr>
        <p:spPr>
          <a:xfrm>
            <a:off x="2595628" y="2833975"/>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41°</a:t>
            </a:r>
            <a:endParaRPr sz="1800"/>
          </a:p>
        </p:txBody>
      </p:sp>
      <p:sp>
        <p:nvSpPr>
          <p:cNvPr id="1763" name="Google Shape;1763;p93"/>
          <p:cNvSpPr txBox="1"/>
          <p:nvPr>
            <p:ph idx="1" type="body"/>
          </p:nvPr>
        </p:nvSpPr>
        <p:spPr>
          <a:xfrm>
            <a:off x="2579550" y="220522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a:t>
            </a:r>
            <a:r>
              <a:rPr lang="en-GB" sz="1800"/>
              <a:t> cm</a:t>
            </a:r>
            <a:endParaRPr sz="1800"/>
          </a:p>
        </p:txBody>
      </p:sp>
      <p:sp>
        <p:nvSpPr>
          <p:cNvPr id="1764" name="Google Shape;1764;p93"/>
          <p:cNvSpPr txBox="1"/>
          <p:nvPr>
            <p:ph idx="1" type="body"/>
          </p:nvPr>
        </p:nvSpPr>
        <p:spPr>
          <a:xfrm>
            <a:off x="967953" y="2429325"/>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765" name="Google Shape;1765;p93"/>
          <p:cNvSpPr txBox="1"/>
          <p:nvPr>
            <p:ph idx="1" type="body"/>
          </p:nvPr>
        </p:nvSpPr>
        <p:spPr>
          <a:xfrm>
            <a:off x="4559525" y="153045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formula.</a:t>
            </a:r>
            <a:endParaRPr sz="1800">
              <a:solidFill>
                <a:schemeClr val="accent5"/>
              </a:solidFill>
            </a:endParaRPr>
          </a:p>
        </p:txBody>
      </p:sp>
      <p:sp>
        <p:nvSpPr>
          <p:cNvPr id="1766" name="Google Shape;1766;p93"/>
          <p:cNvSpPr txBox="1"/>
          <p:nvPr>
            <p:ph idx="1" type="body"/>
          </p:nvPr>
        </p:nvSpPr>
        <p:spPr>
          <a:xfrm>
            <a:off x="5003381" y="3137464"/>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 </a:t>
            </a:r>
            <a:r>
              <a:rPr lang="en-GB" sz="2000">
                <a:latin typeface="Times New Roman"/>
                <a:ea typeface="Times New Roman"/>
                <a:cs typeface="Times New Roman"/>
                <a:sym typeface="Times New Roman"/>
              </a:rPr>
              <a:t>× sin(41°) = 6</a:t>
            </a:r>
            <a:endParaRPr sz="2000">
              <a:latin typeface="Times New Roman"/>
              <a:ea typeface="Times New Roman"/>
              <a:cs typeface="Times New Roman"/>
              <a:sym typeface="Times New Roman"/>
            </a:endParaRPr>
          </a:p>
        </p:txBody>
      </p:sp>
      <p:sp>
        <p:nvSpPr>
          <p:cNvPr id="1767" name="Google Shape;1767;p93"/>
          <p:cNvSpPr txBox="1"/>
          <p:nvPr>
            <p:ph idx="1" type="body"/>
          </p:nvPr>
        </p:nvSpPr>
        <p:spPr>
          <a:xfrm>
            <a:off x="6086576" y="3579549"/>
            <a:ext cx="406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a:t>
            </a:r>
            <a:r>
              <a:rPr lang="en-GB" sz="1800"/>
              <a:t> </a:t>
            </a:r>
            <a:endParaRPr sz="1800"/>
          </a:p>
        </p:txBody>
      </p:sp>
      <p:sp>
        <p:nvSpPr>
          <p:cNvPr id="1768" name="Google Shape;1768;p93"/>
          <p:cNvSpPr txBox="1"/>
          <p:nvPr>
            <p:ph idx="1" type="body"/>
          </p:nvPr>
        </p:nvSpPr>
        <p:spPr>
          <a:xfrm>
            <a:off x="6849468" y="3462838"/>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sp>
        <p:nvSpPr>
          <p:cNvPr id="1769" name="Google Shape;1769;p93"/>
          <p:cNvSpPr txBox="1"/>
          <p:nvPr/>
        </p:nvSpPr>
        <p:spPr>
          <a:xfrm flipH="1">
            <a:off x="6552260" y="3728563"/>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Times New Roman"/>
                <a:ea typeface="Times New Roman"/>
                <a:cs typeface="Times New Roman"/>
                <a:sym typeface="Times New Roman"/>
              </a:rPr>
              <a:t>sin(41°</a:t>
            </a:r>
            <a:r>
              <a:rPr lang="en-GB" sz="2000">
                <a:solidFill>
                  <a:schemeClr val="dk1"/>
                </a:solidFill>
                <a:latin typeface="Times New Roman"/>
                <a:ea typeface="Times New Roman"/>
                <a:cs typeface="Times New Roman"/>
                <a:sym typeface="Times New Roman"/>
              </a:rPr>
              <a:t>)</a:t>
            </a:r>
            <a:r>
              <a:rPr lang="en-GB" sz="2000">
                <a:solidFill>
                  <a:srgbClr val="000000"/>
                </a:solidFill>
                <a:latin typeface="Times New Roman"/>
                <a:ea typeface="Times New Roman"/>
                <a:cs typeface="Times New Roman"/>
                <a:sym typeface="Times New Roman"/>
              </a:rPr>
              <a:t> </a:t>
            </a:r>
            <a:endParaRPr sz="2000">
              <a:solidFill>
                <a:srgbClr val="000000"/>
              </a:solidFill>
              <a:latin typeface="Times New Roman"/>
              <a:ea typeface="Times New Roman"/>
              <a:cs typeface="Times New Roman"/>
              <a:sym typeface="Times New Roman"/>
            </a:endParaRPr>
          </a:p>
        </p:txBody>
      </p:sp>
      <p:cxnSp>
        <p:nvCxnSpPr>
          <p:cNvPr id="1770" name="Google Shape;1770;p93"/>
          <p:cNvCxnSpPr/>
          <p:nvPr/>
        </p:nvCxnSpPr>
        <p:spPr>
          <a:xfrm>
            <a:off x="6497506" y="3758713"/>
            <a:ext cx="868200" cy="0"/>
          </a:xfrm>
          <a:prstGeom prst="straightConnector1">
            <a:avLst/>
          </a:prstGeom>
          <a:noFill/>
          <a:ln cap="flat" cmpd="sng" w="19050">
            <a:solidFill>
              <a:schemeClr val="dk1"/>
            </a:solidFill>
            <a:prstDash val="solid"/>
            <a:round/>
            <a:headEnd len="med" w="med" type="none"/>
            <a:tailEnd len="med" w="med" type="none"/>
          </a:ln>
        </p:spPr>
      </p:cxnSp>
      <p:sp>
        <p:nvSpPr>
          <p:cNvPr id="1771" name="Google Shape;1771;p93"/>
          <p:cNvSpPr txBox="1"/>
          <p:nvPr>
            <p:ph idx="1" type="body"/>
          </p:nvPr>
        </p:nvSpPr>
        <p:spPr>
          <a:xfrm>
            <a:off x="7437980" y="3579538"/>
            <a:ext cx="102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9.1 cm </a:t>
            </a:r>
            <a:endParaRPr sz="2000">
              <a:latin typeface="Times New Roman"/>
              <a:ea typeface="Times New Roman"/>
              <a:cs typeface="Times New Roman"/>
              <a:sym typeface="Times New Roman"/>
            </a:endParaRPr>
          </a:p>
        </p:txBody>
      </p:sp>
      <p:sp>
        <p:nvSpPr>
          <p:cNvPr id="1772" name="Google Shape;1772;p93"/>
          <p:cNvSpPr txBox="1"/>
          <p:nvPr>
            <p:ph idx="1" type="body"/>
          </p:nvPr>
        </p:nvSpPr>
        <p:spPr>
          <a:xfrm>
            <a:off x="5568032" y="20514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(𝜃°) = </a:t>
            </a:r>
            <a:endParaRPr sz="2000">
              <a:latin typeface="Times New Roman"/>
              <a:ea typeface="Times New Roman"/>
              <a:cs typeface="Times New Roman"/>
              <a:sym typeface="Times New Roman"/>
            </a:endParaRPr>
          </a:p>
        </p:txBody>
      </p:sp>
      <p:sp>
        <p:nvSpPr>
          <p:cNvPr id="1773" name="Google Shape;1773;p93"/>
          <p:cNvSpPr txBox="1"/>
          <p:nvPr>
            <p:ph idx="1" type="body"/>
          </p:nvPr>
        </p:nvSpPr>
        <p:spPr>
          <a:xfrm>
            <a:off x="6569919" y="2229950"/>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hyp </a:t>
            </a:r>
            <a:endParaRPr sz="2000">
              <a:latin typeface="Times New Roman"/>
              <a:ea typeface="Times New Roman"/>
              <a:cs typeface="Times New Roman"/>
              <a:sym typeface="Times New Roman"/>
            </a:endParaRPr>
          </a:p>
        </p:txBody>
      </p:sp>
      <p:cxnSp>
        <p:nvCxnSpPr>
          <p:cNvPr id="1774" name="Google Shape;1774;p93"/>
          <p:cNvCxnSpPr/>
          <p:nvPr/>
        </p:nvCxnSpPr>
        <p:spPr>
          <a:xfrm>
            <a:off x="6516199" y="2227436"/>
            <a:ext cx="508200" cy="0"/>
          </a:xfrm>
          <a:prstGeom prst="straightConnector1">
            <a:avLst/>
          </a:prstGeom>
          <a:noFill/>
          <a:ln cap="flat" cmpd="sng" w="19050">
            <a:solidFill>
              <a:schemeClr val="dk1"/>
            </a:solidFill>
            <a:prstDash val="solid"/>
            <a:round/>
            <a:headEnd len="med" w="med" type="none"/>
            <a:tailEnd len="med" w="med" type="none"/>
          </a:ln>
        </p:spPr>
      </p:cxnSp>
      <p:sp>
        <p:nvSpPr>
          <p:cNvPr id="1775" name="Google Shape;1775;p93"/>
          <p:cNvSpPr txBox="1"/>
          <p:nvPr>
            <p:ph idx="1" type="body"/>
          </p:nvPr>
        </p:nvSpPr>
        <p:spPr>
          <a:xfrm>
            <a:off x="6549803" y="1932892"/>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opp</a:t>
            </a:r>
            <a:endParaRPr sz="2000">
              <a:latin typeface="Times New Roman"/>
              <a:ea typeface="Times New Roman"/>
              <a:cs typeface="Times New Roman"/>
              <a:sym typeface="Times New Roman"/>
            </a:endParaRPr>
          </a:p>
        </p:txBody>
      </p:sp>
      <p:sp>
        <p:nvSpPr>
          <p:cNvPr id="1776" name="Google Shape;1776;p93"/>
          <p:cNvSpPr txBox="1"/>
          <p:nvPr>
            <p:ph idx="1" type="body"/>
          </p:nvPr>
        </p:nvSpPr>
        <p:spPr>
          <a:xfrm>
            <a:off x="5460296" y="2661000"/>
            <a:ext cx="1900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41</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777" name="Google Shape;1777;p93"/>
          <p:cNvSpPr txBox="1"/>
          <p:nvPr>
            <p:ph idx="1" type="body"/>
          </p:nvPr>
        </p:nvSpPr>
        <p:spPr>
          <a:xfrm>
            <a:off x="6576055" y="2776193"/>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m</a:t>
            </a:r>
            <a:r>
              <a:rPr lang="en-GB" sz="1800"/>
              <a:t> </a:t>
            </a:r>
            <a:endParaRPr sz="1800"/>
          </a:p>
        </p:txBody>
      </p:sp>
      <p:cxnSp>
        <p:nvCxnSpPr>
          <p:cNvPr id="1778" name="Google Shape;1778;p93"/>
          <p:cNvCxnSpPr/>
          <p:nvPr/>
        </p:nvCxnSpPr>
        <p:spPr>
          <a:xfrm>
            <a:off x="6541599" y="2837036"/>
            <a:ext cx="258000" cy="0"/>
          </a:xfrm>
          <a:prstGeom prst="straightConnector1">
            <a:avLst/>
          </a:prstGeom>
          <a:noFill/>
          <a:ln cap="flat" cmpd="sng" w="19050">
            <a:solidFill>
              <a:schemeClr val="dk1"/>
            </a:solidFill>
            <a:prstDash val="solid"/>
            <a:round/>
            <a:headEnd len="med" w="med" type="none"/>
            <a:tailEnd len="med" w="med" type="none"/>
          </a:ln>
        </p:spPr>
      </p:cxnSp>
      <p:sp>
        <p:nvSpPr>
          <p:cNvPr id="1779" name="Google Shape;1779;p93"/>
          <p:cNvSpPr txBox="1"/>
          <p:nvPr>
            <p:ph idx="1" type="body"/>
          </p:nvPr>
        </p:nvSpPr>
        <p:spPr>
          <a:xfrm>
            <a:off x="6588044" y="2561764"/>
            <a:ext cx="192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p:txBody>
      </p:sp>
      <p:sp>
        <p:nvSpPr>
          <p:cNvPr id="1780" name="Google Shape;1780;p93"/>
          <p:cNvSpPr txBox="1"/>
          <p:nvPr>
            <p:ph idx="4294967295" type="subTitle"/>
          </p:nvPr>
        </p:nvSpPr>
        <p:spPr>
          <a:xfrm>
            <a:off x="337825" y="1648200"/>
            <a:ext cx="3411900" cy="42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Find the length of </a:t>
            </a:r>
            <a:r>
              <a:rPr i="1" lang="en-GB" sz="2000">
                <a:latin typeface="Times New Roman"/>
                <a:ea typeface="Times New Roman"/>
                <a:cs typeface="Times New Roman"/>
                <a:sym typeface="Times New Roman"/>
              </a:rPr>
              <a:t>m</a:t>
            </a:r>
            <a:r>
              <a:rPr lang="en-GB" sz="1800"/>
              <a:t>, to 1 d.p.</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94"/>
          <p:cNvSpPr txBox="1"/>
          <p:nvPr>
            <p:ph idx="1" type="subTitle"/>
          </p:nvPr>
        </p:nvSpPr>
        <p:spPr>
          <a:xfrm>
            <a:off x="316200" y="733800"/>
            <a:ext cx="4128000" cy="74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000">
                <a:latin typeface="Times New Roman"/>
                <a:ea typeface="Times New Roman"/>
                <a:cs typeface="Times New Roman"/>
                <a:sym typeface="Times New Roman"/>
              </a:rPr>
              <a:t>x</a:t>
            </a:r>
            <a:r>
              <a:rPr lang="en-GB"/>
              <a:t> to 1 d.p.</a:t>
            </a:r>
            <a:endParaRPr i="1" sz="2000">
              <a:latin typeface="Times New Roman"/>
              <a:ea typeface="Times New Roman"/>
              <a:cs typeface="Times New Roman"/>
              <a:sym typeface="Times New Roman"/>
            </a:endParaRPr>
          </a:p>
        </p:txBody>
      </p:sp>
      <p:sp>
        <p:nvSpPr>
          <p:cNvPr id="1786" name="Google Shape;1786;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787" name="Google Shape;1787;p94"/>
          <p:cNvSpPr txBox="1"/>
          <p:nvPr>
            <p:ph idx="2" type="subTitle"/>
          </p:nvPr>
        </p:nvSpPr>
        <p:spPr>
          <a:xfrm>
            <a:off x="4824000" y="810000"/>
            <a:ext cx="3119400" cy="37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000">
                <a:latin typeface="Times New Roman"/>
                <a:ea typeface="Times New Roman"/>
                <a:cs typeface="Times New Roman"/>
                <a:sym typeface="Times New Roman"/>
              </a:rPr>
              <a:t>y</a:t>
            </a:r>
            <a:r>
              <a:rPr lang="en-GB"/>
              <a:t> to 1 d.p.</a:t>
            </a:r>
            <a:endParaRPr/>
          </a:p>
        </p:txBody>
      </p:sp>
      <p:grpSp>
        <p:nvGrpSpPr>
          <p:cNvPr id="1788" name="Google Shape;1788;p94"/>
          <p:cNvGrpSpPr/>
          <p:nvPr/>
        </p:nvGrpSpPr>
        <p:grpSpPr>
          <a:xfrm rot="5400000">
            <a:off x="1794180" y="946243"/>
            <a:ext cx="1057366" cy="1784030"/>
            <a:chOff x="-2022025" y="1455875"/>
            <a:chExt cx="1057366" cy="1784030"/>
          </a:xfrm>
        </p:grpSpPr>
        <p:sp>
          <p:nvSpPr>
            <p:cNvPr id="1789" name="Google Shape;1789;p9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90" name="Google Shape;1790;p94"/>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791" name="Google Shape;1791;p94"/>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792" name="Google Shape;1792;p94"/>
          <p:cNvSpPr/>
          <p:nvPr/>
        </p:nvSpPr>
        <p:spPr>
          <a:xfrm>
            <a:off x="15520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3" name="Google Shape;1793;p94"/>
          <p:cNvSpPr/>
          <p:nvPr/>
        </p:nvSpPr>
        <p:spPr>
          <a:xfrm>
            <a:off x="2850900" y="19123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4" name="Google Shape;1794;p94"/>
          <p:cNvSpPr txBox="1"/>
          <p:nvPr>
            <p:ph idx="4294967295" type="body"/>
          </p:nvPr>
        </p:nvSpPr>
        <p:spPr>
          <a:xfrm>
            <a:off x="2478902" y="19957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1795" name="Google Shape;1795;p94"/>
          <p:cNvSpPr txBox="1"/>
          <p:nvPr>
            <p:ph idx="4294967295" type="body"/>
          </p:nvPr>
        </p:nvSpPr>
        <p:spPr>
          <a:xfrm>
            <a:off x="838525" y="15907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r>
              <a:rPr lang="en-GB" sz="1800"/>
              <a:t> cm</a:t>
            </a:r>
            <a:endParaRPr sz="1800"/>
          </a:p>
        </p:txBody>
      </p:sp>
      <p:sp>
        <p:nvSpPr>
          <p:cNvPr id="1796" name="Google Shape;1796;p94"/>
          <p:cNvSpPr txBox="1"/>
          <p:nvPr>
            <p:ph idx="4294967295" type="body"/>
          </p:nvPr>
        </p:nvSpPr>
        <p:spPr>
          <a:xfrm>
            <a:off x="2114283" y="2342836"/>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i="1" lang="en-GB" sz="2000">
                <a:latin typeface="Times New Roman"/>
                <a:ea typeface="Times New Roman"/>
                <a:cs typeface="Times New Roman"/>
                <a:sym typeface="Times New Roman"/>
              </a:rPr>
              <a:t> </a:t>
            </a:r>
            <a:r>
              <a:rPr lang="en-GB" sz="1800"/>
              <a:t>cm</a:t>
            </a:r>
            <a:endParaRPr sz="1800"/>
          </a:p>
        </p:txBody>
      </p:sp>
      <p:graphicFrame>
        <p:nvGraphicFramePr>
          <p:cNvPr id="1797" name="Google Shape;1797;p94"/>
          <p:cNvGraphicFramePr/>
          <p:nvPr/>
        </p:nvGraphicFramePr>
        <p:xfrm>
          <a:off x="1484599" y="2781763"/>
          <a:ext cx="3000000" cy="3000000"/>
        </p:xfrm>
        <a:graphic>
          <a:graphicData uri="http://schemas.openxmlformats.org/drawingml/2006/table">
            <a:tbl>
              <a:tblPr>
                <a:noFill/>
                <a:tableStyleId>{6583A662-CB0C-4F0C-AD52-46217D66C8BC}</a:tableStyleId>
              </a:tblPr>
              <a:tblGrid>
                <a:gridCol w="974275"/>
                <a:gridCol w="8097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tan</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29</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Clr>
                          <a:schemeClr val="dk1"/>
                        </a:buClr>
                        <a:buSzPts val="1100"/>
                        <a:buFont typeface="Arial"/>
                        <a:buNone/>
                      </a:pPr>
                      <a:r>
                        <a:rPr i="1" lang="en-GB" sz="2000">
                          <a:solidFill>
                            <a:schemeClr val="dk1"/>
                          </a:solidFill>
                          <a:latin typeface="Times New Roman"/>
                          <a:ea typeface="Times New Roman"/>
                          <a:cs typeface="Times New Roman"/>
                          <a:sym typeface="Times New Roman"/>
                        </a:rPr>
                        <a:t>x</a:t>
                      </a:r>
                      <a:endParaRPr sz="2000">
                        <a:latin typeface="Times New Roman"/>
                        <a:ea typeface="Times New Roman"/>
                        <a:cs typeface="Times New Roman"/>
                        <a:sym typeface="Times New Roman"/>
                      </a:endParaRPr>
                    </a:p>
                  </a:txBody>
                  <a:tcPr marT="0" marB="0" marR="0" marL="0" anchor="ctr"/>
                </a:tc>
              </a:tr>
            </a:tbl>
          </a:graphicData>
        </a:graphic>
      </p:graphicFrame>
      <p:sp>
        <p:nvSpPr>
          <p:cNvPr id="1798" name="Google Shape;1798;p94"/>
          <p:cNvSpPr/>
          <p:nvPr/>
        </p:nvSpPr>
        <p:spPr>
          <a:xfrm flipH="1" rot="5400000">
            <a:off x="1216049" y="3028147"/>
            <a:ext cx="370452"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799" name="Google Shape;1799;p94"/>
          <p:cNvSpPr txBox="1"/>
          <p:nvPr/>
        </p:nvSpPr>
        <p:spPr>
          <a:xfrm>
            <a:off x="316205" y="3179725"/>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tan(29°) </a:t>
            </a:r>
            <a:endParaRPr sz="2000">
              <a:solidFill>
                <a:schemeClr val="accent5"/>
              </a:solidFill>
              <a:latin typeface="Times New Roman"/>
              <a:ea typeface="Times New Roman"/>
              <a:cs typeface="Times New Roman"/>
              <a:sym typeface="Times New Roman"/>
            </a:endParaRPr>
          </a:p>
        </p:txBody>
      </p:sp>
      <p:sp>
        <p:nvSpPr>
          <p:cNvPr id="1800" name="Google Shape;1800;p94"/>
          <p:cNvSpPr/>
          <p:nvPr/>
        </p:nvSpPr>
        <p:spPr>
          <a:xfrm flipH="1" rot="-5400000">
            <a:off x="3164621" y="3028147"/>
            <a:ext cx="370452"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801" name="Google Shape;1801;p94"/>
          <p:cNvSpPr txBox="1"/>
          <p:nvPr/>
        </p:nvSpPr>
        <p:spPr>
          <a:xfrm flipH="1">
            <a:off x="3310691" y="3179719"/>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tan(29°</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a:t>
            </a:r>
            <a:endParaRPr sz="2000">
              <a:solidFill>
                <a:schemeClr val="accent5"/>
              </a:solidFill>
              <a:latin typeface="Times New Roman"/>
              <a:ea typeface="Times New Roman"/>
              <a:cs typeface="Times New Roman"/>
              <a:sym typeface="Times New Roman"/>
            </a:endParaRPr>
          </a:p>
        </p:txBody>
      </p:sp>
      <p:sp>
        <p:nvSpPr>
          <p:cNvPr id="1802" name="Google Shape;1802;p94"/>
          <p:cNvSpPr txBox="1"/>
          <p:nvPr>
            <p:ph idx="4294967295" type="body"/>
          </p:nvPr>
        </p:nvSpPr>
        <p:spPr>
          <a:xfrm>
            <a:off x="1168912" y="3820125"/>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03" name="Google Shape;1803;p94"/>
          <p:cNvSpPr txBox="1"/>
          <p:nvPr>
            <p:ph idx="4294967295" type="body"/>
          </p:nvPr>
        </p:nvSpPr>
        <p:spPr>
          <a:xfrm>
            <a:off x="1906235" y="3703425"/>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5</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04" name="Google Shape;1804;p94"/>
          <p:cNvSpPr txBox="1"/>
          <p:nvPr/>
        </p:nvSpPr>
        <p:spPr>
          <a:xfrm flipH="1">
            <a:off x="1609026" y="3969150"/>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Times New Roman"/>
                <a:ea typeface="Times New Roman"/>
                <a:cs typeface="Times New Roman"/>
                <a:sym typeface="Times New Roman"/>
              </a:rPr>
              <a:t>tan(29°</a:t>
            </a:r>
            <a:r>
              <a:rPr lang="en-GB" sz="2000">
                <a:solidFill>
                  <a:schemeClr val="dk1"/>
                </a:solidFill>
                <a:latin typeface="Times New Roman"/>
                <a:ea typeface="Times New Roman"/>
                <a:cs typeface="Times New Roman"/>
                <a:sym typeface="Times New Roman"/>
              </a:rPr>
              <a:t>)</a:t>
            </a:r>
            <a:r>
              <a:rPr lang="en-GB" sz="2000">
                <a:solidFill>
                  <a:srgbClr val="000000"/>
                </a:solidFill>
                <a:latin typeface="Times New Roman"/>
                <a:ea typeface="Times New Roman"/>
                <a:cs typeface="Times New Roman"/>
                <a:sym typeface="Times New Roman"/>
              </a:rPr>
              <a:t> </a:t>
            </a:r>
            <a:endParaRPr sz="2000">
              <a:solidFill>
                <a:srgbClr val="000000"/>
              </a:solidFill>
              <a:latin typeface="Times New Roman"/>
              <a:ea typeface="Times New Roman"/>
              <a:cs typeface="Times New Roman"/>
              <a:sym typeface="Times New Roman"/>
            </a:endParaRPr>
          </a:p>
        </p:txBody>
      </p:sp>
      <p:cxnSp>
        <p:nvCxnSpPr>
          <p:cNvPr id="1805" name="Google Shape;1805;p94"/>
          <p:cNvCxnSpPr/>
          <p:nvPr/>
        </p:nvCxnSpPr>
        <p:spPr>
          <a:xfrm>
            <a:off x="1566972" y="3999300"/>
            <a:ext cx="868200" cy="0"/>
          </a:xfrm>
          <a:prstGeom prst="straightConnector1">
            <a:avLst/>
          </a:prstGeom>
          <a:noFill/>
          <a:ln cap="flat" cmpd="sng" w="19050">
            <a:solidFill>
              <a:schemeClr val="dk1"/>
            </a:solidFill>
            <a:prstDash val="solid"/>
            <a:round/>
            <a:headEnd len="med" w="med" type="none"/>
            <a:tailEnd len="med" w="med" type="none"/>
          </a:ln>
        </p:spPr>
      </p:cxnSp>
      <p:sp>
        <p:nvSpPr>
          <p:cNvPr id="1806" name="Google Shape;1806;p94"/>
          <p:cNvSpPr txBox="1"/>
          <p:nvPr>
            <p:ph idx="4294967295" type="body"/>
          </p:nvPr>
        </p:nvSpPr>
        <p:spPr>
          <a:xfrm>
            <a:off x="2508390" y="3820125"/>
            <a:ext cx="102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9.0 </a:t>
            </a:r>
            <a:endParaRPr sz="2000">
              <a:latin typeface="Times New Roman"/>
              <a:ea typeface="Times New Roman"/>
              <a:cs typeface="Times New Roman"/>
              <a:sym typeface="Times New Roman"/>
            </a:endParaRPr>
          </a:p>
        </p:txBody>
      </p:sp>
      <p:graphicFrame>
        <p:nvGraphicFramePr>
          <p:cNvPr id="1807" name="Google Shape;1807;p94"/>
          <p:cNvGraphicFramePr/>
          <p:nvPr/>
        </p:nvGraphicFramePr>
        <p:xfrm>
          <a:off x="5904199" y="2934163"/>
          <a:ext cx="3000000" cy="3000000"/>
        </p:xfrm>
        <a:graphic>
          <a:graphicData uri="http://schemas.openxmlformats.org/drawingml/2006/table">
            <a:tbl>
              <a:tblPr>
                <a:noFill/>
                <a:tableStyleId>{6583A662-CB0C-4F0C-AD52-46217D66C8BC}</a:tableStyleId>
              </a:tblPr>
              <a:tblGrid>
                <a:gridCol w="974275"/>
                <a:gridCol w="8097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cos</a:t>
                      </a:r>
                      <a:r>
                        <a:rPr lang="en-GB" sz="20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34</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y</a:t>
                      </a:r>
                      <a:endParaRPr sz="2000">
                        <a:latin typeface="Times New Roman"/>
                        <a:ea typeface="Times New Roman"/>
                        <a:cs typeface="Times New Roman"/>
                        <a:sym typeface="Times New Roman"/>
                      </a:endParaRPr>
                    </a:p>
                  </a:txBody>
                  <a:tcPr marT="0" marB="0" marR="0" marL="0" anchor="ctr"/>
                </a:tc>
              </a:tr>
            </a:tbl>
          </a:graphicData>
        </a:graphic>
      </p:graphicFrame>
      <p:sp>
        <p:nvSpPr>
          <p:cNvPr id="1808" name="Google Shape;1808;p94"/>
          <p:cNvSpPr/>
          <p:nvPr/>
        </p:nvSpPr>
        <p:spPr>
          <a:xfrm flipH="1" rot="5400000">
            <a:off x="5659763" y="3180547"/>
            <a:ext cx="370452"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809" name="Google Shape;1809;p94"/>
          <p:cNvSpPr txBox="1"/>
          <p:nvPr/>
        </p:nvSpPr>
        <p:spPr>
          <a:xfrm>
            <a:off x="4763098" y="2838539"/>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 cos(34°) </a:t>
            </a:r>
            <a:endParaRPr sz="2000">
              <a:solidFill>
                <a:schemeClr val="accent5"/>
              </a:solidFill>
              <a:latin typeface="Times New Roman"/>
              <a:ea typeface="Times New Roman"/>
              <a:cs typeface="Times New Roman"/>
              <a:sym typeface="Times New Roman"/>
            </a:endParaRPr>
          </a:p>
        </p:txBody>
      </p:sp>
      <p:sp>
        <p:nvSpPr>
          <p:cNvPr id="1810" name="Google Shape;1810;p94"/>
          <p:cNvSpPr/>
          <p:nvPr/>
        </p:nvSpPr>
        <p:spPr>
          <a:xfrm flipH="1" rot="-5400000">
            <a:off x="7584221" y="3180547"/>
            <a:ext cx="370452"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811" name="Google Shape;1811;p94"/>
          <p:cNvSpPr txBox="1"/>
          <p:nvPr/>
        </p:nvSpPr>
        <p:spPr>
          <a:xfrm flipH="1">
            <a:off x="7700904" y="2824895"/>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a:t>
            </a:r>
            <a:r>
              <a:rPr lang="en-GB" sz="2000">
                <a:solidFill>
                  <a:schemeClr val="accent5"/>
                </a:solidFill>
                <a:latin typeface="Times New Roman"/>
                <a:ea typeface="Times New Roman"/>
                <a:cs typeface="Times New Roman"/>
                <a:sym typeface="Times New Roman"/>
              </a:rPr>
              <a:t>cos</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34</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a:t>
            </a:r>
            <a:r>
              <a:rPr lang="en-GB" sz="2000">
                <a:solidFill>
                  <a:schemeClr val="accent5"/>
                </a:solidFill>
                <a:latin typeface="Times New Roman"/>
                <a:ea typeface="Times New Roman"/>
                <a:cs typeface="Times New Roman"/>
                <a:sym typeface="Times New Roman"/>
              </a:rPr>
              <a:t> </a:t>
            </a:r>
            <a:endParaRPr sz="2000">
              <a:solidFill>
                <a:schemeClr val="accent5"/>
              </a:solidFill>
              <a:latin typeface="Times New Roman"/>
              <a:ea typeface="Times New Roman"/>
              <a:cs typeface="Times New Roman"/>
              <a:sym typeface="Times New Roman"/>
            </a:endParaRPr>
          </a:p>
        </p:txBody>
      </p:sp>
      <p:sp>
        <p:nvSpPr>
          <p:cNvPr id="1812" name="Google Shape;1812;p94"/>
          <p:cNvSpPr txBox="1"/>
          <p:nvPr>
            <p:ph idx="4294967295" type="body"/>
          </p:nvPr>
        </p:nvSpPr>
        <p:spPr>
          <a:xfrm>
            <a:off x="5740912" y="3820125"/>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13" name="Google Shape;1813;p94"/>
          <p:cNvSpPr txBox="1"/>
          <p:nvPr>
            <p:ph idx="4294967295" type="body"/>
          </p:nvPr>
        </p:nvSpPr>
        <p:spPr>
          <a:xfrm>
            <a:off x="6450948" y="3703425"/>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8</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14" name="Google Shape;1814;p94"/>
          <p:cNvSpPr txBox="1"/>
          <p:nvPr/>
        </p:nvSpPr>
        <p:spPr>
          <a:xfrm flipH="1">
            <a:off x="6153740" y="3969150"/>
            <a:ext cx="110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34</a:t>
            </a: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a:t>
            </a:r>
            <a:r>
              <a:rPr lang="en-GB" sz="2000">
                <a:solidFill>
                  <a:srgbClr val="000000"/>
                </a:solidFill>
                <a:latin typeface="Times New Roman"/>
                <a:ea typeface="Times New Roman"/>
                <a:cs typeface="Times New Roman"/>
                <a:sym typeface="Times New Roman"/>
              </a:rPr>
              <a:t> </a:t>
            </a:r>
            <a:endParaRPr sz="2000">
              <a:solidFill>
                <a:srgbClr val="000000"/>
              </a:solidFill>
              <a:latin typeface="Times New Roman"/>
              <a:ea typeface="Times New Roman"/>
              <a:cs typeface="Times New Roman"/>
              <a:sym typeface="Times New Roman"/>
            </a:endParaRPr>
          </a:p>
        </p:txBody>
      </p:sp>
      <p:cxnSp>
        <p:nvCxnSpPr>
          <p:cNvPr id="1815" name="Google Shape;1815;p94"/>
          <p:cNvCxnSpPr/>
          <p:nvPr/>
        </p:nvCxnSpPr>
        <p:spPr>
          <a:xfrm>
            <a:off x="6111686" y="3999300"/>
            <a:ext cx="868200" cy="0"/>
          </a:xfrm>
          <a:prstGeom prst="straightConnector1">
            <a:avLst/>
          </a:prstGeom>
          <a:noFill/>
          <a:ln cap="flat" cmpd="sng" w="19050">
            <a:solidFill>
              <a:schemeClr val="dk1"/>
            </a:solidFill>
            <a:prstDash val="solid"/>
            <a:round/>
            <a:headEnd len="med" w="med" type="none"/>
            <a:tailEnd len="med" w="med" type="none"/>
          </a:ln>
        </p:spPr>
      </p:cxnSp>
      <p:sp>
        <p:nvSpPr>
          <p:cNvPr id="1816" name="Google Shape;1816;p94"/>
          <p:cNvSpPr txBox="1"/>
          <p:nvPr>
            <p:ph idx="4294967295" type="body"/>
          </p:nvPr>
        </p:nvSpPr>
        <p:spPr>
          <a:xfrm>
            <a:off x="7066747" y="3820125"/>
            <a:ext cx="102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9.6</a:t>
            </a:r>
            <a:endParaRPr sz="2000">
              <a:latin typeface="Times New Roman"/>
              <a:ea typeface="Times New Roman"/>
              <a:cs typeface="Times New Roman"/>
              <a:sym typeface="Times New Roman"/>
            </a:endParaRPr>
          </a:p>
        </p:txBody>
      </p:sp>
      <p:grpSp>
        <p:nvGrpSpPr>
          <p:cNvPr id="1817" name="Google Shape;1817;p94"/>
          <p:cNvGrpSpPr/>
          <p:nvPr/>
        </p:nvGrpSpPr>
        <p:grpSpPr>
          <a:xfrm rot="5400000">
            <a:off x="6271645" y="927908"/>
            <a:ext cx="1133566" cy="1744500"/>
            <a:chOff x="-2098225" y="1379675"/>
            <a:chExt cx="1133566" cy="1744500"/>
          </a:xfrm>
        </p:grpSpPr>
        <p:sp>
          <p:nvSpPr>
            <p:cNvPr id="1818" name="Google Shape;1818;p9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19" name="Google Shape;1819;p94"/>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820" name="Google Shape;1820;p94"/>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821" name="Google Shape;1821;p94"/>
          <p:cNvSpPr txBox="1"/>
          <p:nvPr>
            <p:ph idx="4294967295" type="body"/>
          </p:nvPr>
        </p:nvSpPr>
        <p:spPr>
          <a:xfrm>
            <a:off x="6846400" y="1995775"/>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34°</a:t>
            </a:r>
            <a:endParaRPr sz="1800"/>
          </a:p>
        </p:txBody>
      </p:sp>
      <p:sp>
        <p:nvSpPr>
          <p:cNvPr id="1822" name="Google Shape;1822;p94"/>
          <p:cNvSpPr txBox="1"/>
          <p:nvPr>
            <p:ph idx="4294967295" type="body"/>
          </p:nvPr>
        </p:nvSpPr>
        <p:spPr>
          <a:xfrm>
            <a:off x="6485400" y="23540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 cm</a:t>
            </a:r>
            <a:endParaRPr sz="1800"/>
          </a:p>
        </p:txBody>
      </p:sp>
      <p:sp>
        <p:nvSpPr>
          <p:cNvPr id="1823" name="Google Shape;1823;p94"/>
          <p:cNvSpPr txBox="1"/>
          <p:nvPr>
            <p:ph idx="4294967295" type="body"/>
          </p:nvPr>
        </p:nvSpPr>
        <p:spPr>
          <a:xfrm>
            <a:off x="6807481" y="138020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1800"/>
              <a:t> cm</a:t>
            </a:r>
            <a:endParaRPr sz="1800"/>
          </a:p>
        </p:txBody>
      </p:sp>
      <p:sp>
        <p:nvSpPr>
          <p:cNvPr id="1824" name="Google Shape;1824;p94"/>
          <p:cNvSpPr/>
          <p:nvPr/>
        </p:nvSpPr>
        <p:spPr>
          <a:xfrm>
            <a:off x="7237370" y="18957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5" name="Google Shape;1825;p94"/>
          <p:cNvSpPr/>
          <p:nvPr/>
        </p:nvSpPr>
        <p:spPr>
          <a:xfrm>
            <a:off x="2743675" y="2816482"/>
            <a:ext cx="251100" cy="26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6" name="Google Shape;1826;p94"/>
          <p:cNvSpPr/>
          <p:nvPr/>
        </p:nvSpPr>
        <p:spPr>
          <a:xfrm>
            <a:off x="2743675" y="3166823"/>
            <a:ext cx="2511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7" name="Google Shape;1827;p94"/>
          <p:cNvSpPr txBox="1"/>
          <p:nvPr/>
        </p:nvSpPr>
        <p:spPr>
          <a:xfrm>
            <a:off x="316200" y="4419750"/>
            <a:ext cx="4255800" cy="32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The side labelled </a:t>
            </a:r>
            <a:r>
              <a:rPr i="1" lang="en-GB" sz="2000">
                <a:solidFill>
                  <a:schemeClr val="dk1"/>
                </a:solidFill>
                <a:latin typeface="Times New Roman"/>
                <a:ea typeface="Times New Roman"/>
                <a:cs typeface="Times New Roman"/>
                <a:sym typeface="Times New Roman"/>
              </a:rPr>
              <a:t>x </a:t>
            </a:r>
            <a:r>
              <a:rPr lang="en-GB" sz="2000">
                <a:solidFill>
                  <a:schemeClr val="dk1"/>
                </a:solidFill>
                <a:latin typeface="Times New Roman"/>
                <a:ea typeface="Times New Roman"/>
                <a:cs typeface="Times New Roman"/>
                <a:sym typeface="Times New Roman"/>
              </a:rPr>
              <a:t>is 9.0</a:t>
            </a:r>
            <a:r>
              <a:rPr lang="en-GB" sz="1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cm long </a:t>
            </a:r>
            <a:r>
              <a:rPr lang="en-GB" sz="1800">
                <a:solidFill>
                  <a:schemeClr val="dk1"/>
                </a:solidFill>
                <a:latin typeface="Times New Roman"/>
                <a:ea typeface="Times New Roman"/>
                <a:cs typeface="Times New Roman"/>
                <a:sym typeface="Times New Roman"/>
              </a:rPr>
              <a:t>(1 d.p.)</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1828" name="Google Shape;1828;p94"/>
          <p:cNvSpPr txBox="1"/>
          <p:nvPr/>
        </p:nvSpPr>
        <p:spPr>
          <a:xfrm>
            <a:off x="4826575" y="4397800"/>
            <a:ext cx="3993300" cy="32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The side </a:t>
            </a:r>
            <a:r>
              <a:rPr i="1" lang="en-GB" sz="2000">
                <a:solidFill>
                  <a:schemeClr val="dk1"/>
                </a:solidFill>
                <a:latin typeface="Times New Roman"/>
                <a:ea typeface="Times New Roman"/>
                <a:cs typeface="Times New Roman"/>
                <a:sym typeface="Times New Roman"/>
              </a:rPr>
              <a:t>y</a:t>
            </a:r>
            <a:r>
              <a:rPr i="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is 9.6</a:t>
            </a:r>
            <a:r>
              <a:rPr lang="en-GB" sz="12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cm long </a:t>
            </a:r>
            <a:r>
              <a:rPr lang="en-GB" sz="1800">
                <a:solidFill>
                  <a:schemeClr val="dk1"/>
                </a:solidFill>
                <a:latin typeface="Times New Roman"/>
                <a:ea typeface="Times New Roman"/>
                <a:cs typeface="Times New Roman"/>
                <a:sym typeface="Times New Roman"/>
              </a:rPr>
              <a:t>(1 d.p.)</a:t>
            </a:r>
            <a:r>
              <a:rPr lang="en-GB"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p:txBody>
      </p:sp>
      <p:sp>
        <p:nvSpPr>
          <p:cNvPr id="1829" name="Google Shape;1829;p94"/>
          <p:cNvSpPr/>
          <p:nvPr/>
        </p:nvSpPr>
        <p:spPr>
          <a:xfrm>
            <a:off x="59716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95"/>
          <p:cNvSpPr txBox="1"/>
          <p:nvPr>
            <p:ph idx="1" type="body"/>
          </p:nvPr>
        </p:nvSpPr>
        <p:spPr>
          <a:xfrm>
            <a:off x="324000" y="759300"/>
            <a:ext cx="8237700" cy="35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angle can also be calculated if the two edges are known.</a:t>
            </a:r>
            <a:endParaRPr sz="1800"/>
          </a:p>
        </p:txBody>
      </p:sp>
      <p:sp>
        <p:nvSpPr>
          <p:cNvPr id="1835" name="Google Shape;1835;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grpSp>
        <p:nvGrpSpPr>
          <p:cNvPr id="1836" name="Google Shape;1836;p95"/>
          <p:cNvGrpSpPr/>
          <p:nvPr/>
        </p:nvGrpSpPr>
        <p:grpSpPr>
          <a:xfrm rot="5400000">
            <a:off x="1794180" y="1251043"/>
            <a:ext cx="1057366" cy="1784030"/>
            <a:chOff x="-2022025" y="1455875"/>
            <a:chExt cx="1057366" cy="1784030"/>
          </a:xfrm>
        </p:grpSpPr>
        <p:sp>
          <p:nvSpPr>
            <p:cNvPr id="1837" name="Google Shape;1837;p9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38" name="Google Shape;1838;p95"/>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839" name="Google Shape;1839;p95"/>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840" name="Google Shape;1840;p95"/>
          <p:cNvSpPr/>
          <p:nvPr/>
        </p:nvSpPr>
        <p:spPr>
          <a:xfrm>
            <a:off x="1552075" y="23791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1" name="Google Shape;1841;p95"/>
          <p:cNvSpPr/>
          <p:nvPr/>
        </p:nvSpPr>
        <p:spPr>
          <a:xfrm>
            <a:off x="2850900" y="22171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2" name="Google Shape;1842;p95"/>
          <p:cNvSpPr txBox="1"/>
          <p:nvPr>
            <p:ph idx="1" type="body"/>
          </p:nvPr>
        </p:nvSpPr>
        <p:spPr>
          <a:xfrm>
            <a:off x="2593630" y="2313418"/>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1843" name="Google Shape;1843;p95"/>
          <p:cNvSpPr txBox="1"/>
          <p:nvPr>
            <p:ph idx="1" type="body"/>
          </p:nvPr>
        </p:nvSpPr>
        <p:spPr>
          <a:xfrm>
            <a:off x="838525" y="18955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844" name="Google Shape;1844;p95"/>
          <p:cNvSpPr txBox="1"/>
          <p:nvPr>
            <p:ph idx="1" type="body"/>
          </p:nvPr>
        </p:nvSpPr>
        <p:spPr>
          <a:xfrm>
            <a:off x="2065975" y="267175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a:t>
            </a:r>
            <a:r>
              <a:rPr lang="en-GB" sz="1800"/>
              <a:t> cm</a:t>
            </a:r>
            <a:endParaRPr sz="1800"/>
          </a:p>
        </p:txBody>
      </p:sp>
      <p:graphicFrame>
        <p:nvGraphicFramePr>
          <p:cNvPr id="1845" name="Google Shape;1845;p95"/>
          <p:cNvGraphicFramePr/>
          <p:nvPr/>
        </p:nvGraphicFramePr>
        <p:xfrm>
          <a:off x="4227799" y="2705563"/>
          <a:ext cx="3000000" cy="3000000"/>
        </p:xfrm>
        <a:graphic>
          <a:graphicData uri="http://schemas.openxmlformats.org/drawingml/2006/table">
            <a:tbl>
              <a:tblPr>
                <a:noFill/>
                <a:tableStyleId>{6583A662-CB0C-4F0C-AD52-46217D66C8BC}</a:tableStyleId>
              </a:tblPr>
              <a:tblGrid>
                <a:gridCol w="974275"/>
                <a:gridCol w="8097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tan</a:t>
                      </a:r>
                      <a:r>
                        <a:rPr lang="en-GB" sz="2000">
                          <a:solidFill>
                            <a:srgbClr val="000000"/>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𝜃</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11</a:t>
                      </a:r>
                      <a:endParaRPr sz="2000">
                        <a:latin typeface="Times New Roman"/>
                        <a:ea typeface="Times New Roman"/>
                        <a:cs typeface="Times New Roman"/>
                        <a:sym typeface="Times New Roman"/>
                      </a:endParaRPr>
                    </a:p>
                  </a:txBody>
                  <a:tcPr marT="0" marB="0" marR="0" marL="0" anchor="ctr"/>
                </a:tc>
              </a:tr>
            </a:tbl>
          </a:graphicData>
        </a:graphic>
      </p:graphicFrame>
      <p:sp>
        <p:nvSpPr>
          <p:cNvPr id="1846" name="Google Shape;1846;p95"/>
          <p:cNvSpPr/>
          <p:nvPr/>
        </p:nvSpPr>
        <p:spPr>
          <a:xfrm>
            <a:off x="4870425" y="3345178"/>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847" name="Google Shape;1847;p95"/>
          <p:cNvSpPr txBox="1"/>
          <p:nvPr/>
        </p:nvSpPr>
        <p:spPr>
          <a:xfrm>
            <a:off x="5027869" y="3510928"/>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11</a:t>
            </a:r>
            <a:endParaRPr sz="1800">
              <a:solidFill>
                <a:schemeClr val="accent5"/>
              </a:solidFill>
              <a:latin typeface="Lexend"/>
              <a:ea typeface="Lexend"/>
              <a:cs typeface="Lexend"/>
              <a:sym typeface="Lexend"/>
            </a:endParaRPr>
          </a:p>
        </p:txBody>
      </p:sp>
      <p:sp>
        <p:nvSpPr>
          <p:cNvPr id="1848" name="Google Shape;1848;p95"/>
          <p:cNvSpPr/>
          <p:nvPr/>
        </p:nvSpPr>
        <p:spPr>
          <a:xfrm flipH="1" rot="10800000">
            <a:off x="4870425" y="2566558"/>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849" name="Google Shape;1849;p95"/>
          <p:cNvSpPr txBox="1"/>
          <p:nvPr/>
        </p:nvSpPr>
        <p:spPr>
          <a:xfrm>
            <a:off x="4978669" y="2294196"/>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11</a:t>
            </a:r>
            <a:endParaRPr sz="1800">
              <a:solidFill>
                <a:schemeClr val="accent5"/>
              </a:solidFill>
              <a:latin typeface="Lexend"/>
              <a:ea typeface="Lexend"/>
              <a:cs typeface="Lexend"/>
              <a:sym typeface="Lexend"/>
            </a:endParaRPr>
          </a:p>
        </p:txBody>
      </p:sp>
      <p:sp>
        <p:nvSpPr>
          <p:cNvPr id="1850" name="Google Shape;1850;p95"/>
          <p:cNvSpPr txBox="1"/>
          <p:nvPr>
            <p:ph idx="4294967295" type="subTitle"/>
          </p:nvPr>
        </p:nvSpPr>
        <p:spPr>
          <a:xfrm>
            <a:off x="6160800" y="2790700"/>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latin typeface="Times New Roman"/>
                <a:ea typeface="Times New Roman"/>
                <a:cs typeface="Times New Roman"/>
                <a:sym typeface="Times New Roman"/>
              </a:rPr>
              <a:t>11</a:t>
            </a: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(𝜃°) = 6</a:t>
            </a:r>
            <a:endParaRPr sz="2000">
              <a:latin typeface="Times New Roman"/>
              <a:ea typeface="Times New Roman"/>
              <a:cs typeface="Times New Roman"/>
              <a:sym typeface="Times New Roman"/>
            </a:endParaRPr>
          </a:p>
        </p:txBody>
      </p:sp>
      <p:sp>
        <p:nvSpPr>
          <p:cNvPr id="1851" name="Google Shape;1851;p95"/>
          <p:cNvSpPr txBox="1"/>
          <p:nvPr>
            <p:ph idx="4294967295" type="subTitle"/>
          </p:nvPr>
        </p:nvSpPr>
        <p:spPr>
          <a:xfrm>
            <a:off x="6396427" y="323402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(𝜃°) = </a:t>
            </a:r>
            <a:endParaRPr sz="2000">
              <a:latin typeface="Times New Roman"/>
              <a:ea typeface="Times New Roman"/>
              <a:cs typeface="Times New Roman"/>
              <a:sym typeface="Times New Roman"/>
            </a:endParaRPr>
          </a:p>
        </p:txBody>
      </p:sp>
      <p:sp>
        <p:nvSpPr>
          <p:cNvPr id="1852" name="Google Shape;1852;p95"/>
          <p:cNvSpPr txBox="1"/>
          <p:nvPr>
            <p:ph idx="4294967295" type="subTitle"/>
          </p:nvPr>
        </p:nvSpPr>
        <p:spPr>
          <a:xfrm>
            <a:off x="6884244" y="373546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a:t>
            </a:r>
            <a:r>
              <a:rPr lang="en-GB" sz="1800"/>
              <a:t> </a:t>
            </a:r>
            <a:r>
              <a:rPr lang="en-GB" sz="2000">
                <a:latin typeface="Times New Roman"/>
                <a:ea typeface="Times New Roman"/>
                <a:cs typeface="Times New Roman"/>
                <a:sym typeface="Times New Roman"/>
              </a:rPr>
              <a:t>tan</a:t>
            </a:r>
            <a:r>
              <a:rPr baseline="30000" lang="en-GB" sz="2000">
                <a:latin typeface="Times New Roman"/>
                <a:ea typeface="Times New Roman"/>
                <a:cs typeface="Times New Roman"/>
                <a:sym typeface="Times New Roman"/>
              </a:rPr>
              <a:t>-1</a:t>
            </a:r>
            <a:r>
              <a:rPr lang="en-GB">
                <a:latin typeface="Times New Roman"/>
                <a:ea typeface="Times New Roman"/>
                <a:cs typeface="Times New Roman"/>
                <a:sym typeface="Times New Roman"/>
              </a:rPr>
              <a:t>( </a:t>
            </a:r>
            <a:r>
              <a:rPr lang="en-GB" sz="1800"/>
              <a:t>    </a:t>
            </a:r>
            <a:r>
              <a:rPr lang="en-GB">
                <a:latin typeface="Times New Roman"/>
                <a:ea typeface="Times New Roman"/>
                <a:cs typeface="Times New Roman"/>
                <a:sym typeface="Times New Roman"/>
              </a:rPr>
              <a:t>)</a:t>
            </a:r>
            <a:r>
              <a:rPr lang="en-GB"/>
              <a:t> </a:t>
            </a:r>
            <a:endParaRPr sz="2000"/>
          </a:p>
        </p:txBody>
      </p:sp>
      <p:sp>
        <p:nvSpPr>
          <p:cNvPr id="1853" name="Google Shape;1853;p95"/>
          <p:cNvSpPr txBox="1"/>
          <p:nvPr>
            <p:ph idx="4294967295" type="subTitle"/>
          </p:nvPr>
        </p:nvSpPr>
        <p:spPr>
          <a:xfrm>
            <a:off x="6884244" y="4166863"/>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29</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54" name="Google Shape;1854;p95"/>
          <p:cNvSpPr txBox="1"/>
          <p:nvPr>
            <p:ph idx="1" type="body"/>
          </p:nvPr>
        </p:nvSpPr>
        <p:spPr>
          <a:xfrm>
            <a:off x="7578648" y="316360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855" name="Google Shape;1855;p95"/>
          <p:cNvCxnSpPr/>
          <p:nvPr/>
        </p:nvCxnSpPr>
        <p:spPr>
          <a:xfrm>
            <a:off x="7493671" y="3440215"/>
            <a:ext cx="305400" cy="0"/>
          </a:xfrm>
          <a:prstGeom prst="straightConnector1">
            <a:avLst/>
          </a:prstGeom>
          <a:noFill/>
          <a:ln cap="flat" cmpd="sng" w="19050">
            <a:solidFill>
              <a:schemeClr val="dk1"/>
            </a:solidFill>
            <a:prstDash val="solid"/>
            <a:round/>
            <a:headEnd len="med" w="med" type="none"/>
            <a:tailEnd len="med" w="med" type="none"/>
          </a:ln>
        </p:spPr>
      </p:cxnSp>
      <p:sp>
        <p:nvSpPr>
          <p:cNvPr id="1856" name="Google Shape;1856;p95"/>
          <p:cNvSpPr txBox="1"/>
          <p:nvPr>
            <p:ph idx="1" type="body"/>
          </p:nvPr>
        </p:nvSpPr>
        <p:spPr>
          <a:xfrm>
            <a:off x="7540976" y="342345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11 </a:t>
            </a:r>
            <a:endParaRPr sz="2000">
              <a:latin typeface="Times New Roman"/>
              <a:ea typeface="Times New Roman"/>
              <a:cs typeface="Times New Roman"/>
              <a:sym typeface="Times New Roman"/>
            </a:endParaRPr>
          </a:p>
        </p:txBody>
      </p:sp>
      <p:sp>
        <p:nvSpPr>
          <p:cNvPr id="1857" name="Google Shape;1857;p95"/>
          <p:cNvSpPr txBox="1"/>
          <p:nvPr>
            <p:ph idx="1" type="body"/>
          </p:nvPr>
        </p:nvSpPr>
        <p:spPr>
          <a:xfrm>
            <a:off x="8029427" y="3665753"/>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858" name="Google Shape;1858;p95"/>
          <p:cNvCxnSpPr/>
          <p:nvPr/>
        </p:nvCxnSpPr>
        <p:spPr>
          <a:xfrm>
            <a:off x="7944450" y="3929521"/>
            <a:ext cx="305400" cy="0"/>
          </a:xfrm>
          <a:prstGeom prst="straightConnector1">
            <a:avLst/>
          </a:prstGeom>
          <a:noFill/>
          <a:ln cap="flat" cmpd="sng" w="19050">
            <a:solidFill>
              <a:schemeClr val="dk1"/>
            </a:solidFill>
            <a:prstDash val="solid"/>
            <a:round/>
            <a:headEnd len="med" w="med" type="none"/>
            <a:tailEnd len="med" w="med" type="none"/>
          </a:ln>
        </p:spPr>
      </p:cxnSp>
      <p:sp>
        <p:nvSpPr>
          <p:cNvPr id="1859" name="Google Shape;1859;p95"/>
          <p:cNvSpPr txBox="1"/>
          <p:nvPr>
            <p:ph idx="1" type="body"/>
          </p:nvPr>
        </p:nvSpPr>
        <p:spPr>
          <a:xfrm>
            <a:off x="7991755" y="392560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11 </a:t>
            </a:r>
            <a:endParaRPr sz="2000">
              <a:latin typeface="Times New Roman"/>
              <a:ea typeface="Times New Roman"/>
              <a:cs typeface="Times New Roman"/>
              <a:sym typeface="Times New Roman"/>
            </a:endParaRPr>
          </a:p>
        </p:txBody>
      </p:sp>
      <p:sp>
        <p:nvSpPr>
          <p:cNvPr id="1860" name="Google Shape;1860;p95"/>
          <p:cNvSpPr txBox="1"/>
          <p:nvPr>
            <p:ph idx="1" type="body"/>
          </p:nvPr>
        </p:nvSpPr>
        <p:spPr>
          <a:xfrm>
            <a:off x="4032550" y="121650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definition triangle.</a:t>
            </a:r>
            <a:endParaRPr sz="1800">
              <a:solidFill>
                <a:schemeClr val="accent5"/>
              </a:solidFill>
            </a:endParaRPr>
          </a:p>
        </p:txBody>
      </p:sp>
      <p:grpSp>
        <p:nvGrpSpPr>
          <p:cNvPr id="1861" name="Google Shape;1861;p95"/>
          <p:cNvGrpSpPr/>
          <p:nvPr/>
        </p:nvGrpSpPr>
        <p:grpSpPr>
          <a:xfrm flipH="1" rot="-5400000">
            <a:off x="6696517" y="1296006"/>
            <a:ext cx="686164" cy="1397702"/>
            <a:chOff x="-2022025" y="1455875"/>
            <a:chExt cx="1109938" cy="1668300"/>
          </a:xfrm>
        </p:grpSpPr>
        <p:sp>
          <p:nvSpPr>
            <p:cNvPr id="1862" name="Google Shape;1862;p9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63" name="Google Shape;1863;p95"/>
            <p:cNvCxnSpPr/>
            <p:nvPr/>
          </p:nvCxnSpPr>
          <p:spPr>
            <a:xfrm rot="10800000">
              <a:off x="-912087"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864" name="Google Shape;1864;p95"/>
          <p:cNvSpPr txBox="1"/>
          <p:nvPr>
            <p:ph idx="1" type="body"/>
          </p:nvPr>
        </p:nvSpPr>
        <p:spPr>
          <a:xfrm flipH="1">
            <a:off x="6761402" y="2003082"/>
            <a:ext cx="4191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865" name="Google Shape;1865;p95"/>
          <p:cNvSpPr txBox="1"/>
          <p:nvPr>
            <p:ph idx="1" type="body"/>
          </p:nvPr>
        </p:nvSpPr>
        <p:spPr>
          <a:xfrm flipH="1">
            <a:off x="6767528" y="2343675"/>
            <a:ext cx="648000" cy="20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cm</a:t>
            </a:r>
            <a:endParaRPr sz="1800"/>
          </a:p>
        </p:txBody>
      </p:sp>
      <p:sp>
        <p:nvSpPr>
          <p:cNvPr id="1866" name="Google Shape;1866;p95"/>
          <p:cNvSpPr/>
          <p:nvPr/>
        </p:nvSpPr>
        <p:spPr>
          <a:xfrm flipH="1">
            <a:off x="6106326" y="1961460"/>
            <a:ext cx="558300" cy="558300"/>
          </a:xfrm>
          <a:prstGeom prst="arc">
            <a:avLst>
              <a:gd fmla="val 10867472" name="adj1"/>
              <a:gd fmla="val 1227177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7" name="Google Shape;1867;p95"/>
          <p:cNvSpPr/>
          <p:nvPr/>
        </p:nvSpPr>
        <p:spPr>
          <a:xfrm>
            <a:off x="7652968" y="2159026"/>
            <a:ext cx="85800" cy="85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68" name="Google Shape;1868;p95"/>
          <p:cNvCxnSpPr/>
          <p:nvPr/>
        </p:nvCxnSpPr>
        <p:spPr>
          <a:xfrm rot="10800000">
            <a:off x="7842750" y="1631525"/>
            <a:ext cx="0" cy="622800"/>
          </a:xfrm>
          <a:prstGeom prst="straightConnector1">
            <a:avLst/>
          </a:prstGeom>
          <a:noFill/>
          <a:ln cap="flat" cmpd="sng" w="28575">
            <a:solidFill>
              <a:schemeClr val="accent5"/>
            </a:solidFill>
            <a:prstDash val="solid"/>
            <a:round/>
            <a:headEnd len="med" w="med" type="triangle"/>
            <a:tailEnd len="med" w="med" type="triangle"/>
          </a:ln>
        </p:spPr>
      </p:cxnSp>
      <p:sp>
        <p:nvSpPr>
          <p:cNvPr id="1869" name="Google Shape;1869;p95"/>
          <p:cNvSpPr txBox="1"/>
          <p:nvPr>
            <p:ph idx="1" type="body"/>
          </p:nvPr>
        </p:nvSpPr>
        <p:spPr>
          <a:xfrm>
            <a:off x="7905348" y="1635825"/>
            <a:ext cx="800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a:t>
            </a:r>
            <a:r>
              <a:rPr lang="en-GB" sz="1800">
                <a:latin typeface="Times New Roman"/>
                <a:ea typeface="Times New Roman"/>
                <a:cs typeface="Times New Roman"/>
                <a:sym typeface="Times New Roman"/>
              </a:rPr>
              <a:t>(</a:t>
            </a:r>
            <a:r>
              <a:rPr lang="en-GB" sz="1800"/>
              <a:t>𝜃</a:t>
            </a:r>
            <a:r>
              <a:rPr lang="en-GB" sz="1800"/>
              <a:t>°</a:t>
            </a:r>
            <a:r>
              <a:rPr lang="en-GB" sz="1800">
                <a:latin typeface="Times New Roman"/>
                <a:ea typeface="Times New Roman"/>
                <a:cs typeface="Times New Roman"/>
                <a:sym typeface="Times New Roman"/>
              </a:rPr>
              <a:t>) </a:t>
            </a:r>
            <a:r>
              <a:rPr lang="en-GB" sz="1800"/>
              <a:t>cm</a:t>
            </a:r>
            <a:r>
              <a:rPr lang="en-GB" sz="1800"/>
              <a:t> </a:t>
            </a:r>
            <a:endParaRPr sz="1800"/>
          </a:p>
        </p:txBody>
      </p:sp>
      <p:sp>
        <p:nvSpPr>
          <p:cNvPr id="1870" name="Google Shape;1870;p95"/>
          <p:cNvSpPr txBox="1"/>
          <p:nvPr>
            <p:ph idx="4294967295" type="subTitle"/>
          </p:nvPr>
        </p:nvSpPr>
        <p:spPr>
          <a:xfrm>
            <a:off x="337825" y="1267200"/>
            <a:ext cx="39822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Find </a:t>
            </a:r>
            <a:r>
              <a:rPr lang="en-GB" sz="1800"/>
              <a:t>𝜃</a:t>
            </a:r>
            <a:r>
              <a:rPr lang="en-GB" sz="1800"/>
              <a:t>, to the nearest degree.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grpSp>
        <p:nvGrpSpPr>
          <p:cNvPr id="1876" name="Google Shape;1876;p96"/>
          <p:cNvGrpSpPr/>
          <p:nvPr/>
        </p:nvGrpSpPr>
        <p:grpSpPr>
          <a:xfrm rot="5400000">
            <a:off x="1794180" y="1251043"/>
            <a:ext cx="1057366" cy="1784030"/>
            <a:chOff x="-2022025" y="1455875"/>
            <a:chExt cx="1057366" cy="1784030"/>
          </a:xfrm>
        </p:grpSpPr>
        <p:sp>
          <p:nvSpPr>
            <p:cNvPr id="1877" name="Google Shape;1877;p9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78" name="Google Shape;1878;p96"/>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879" name="Google Shape;1879;p96"/>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880" name="Google Shape;1880;p96"/>
          <p:cNvSpPr/>
          <p:nvPr/>
        </p:nvSpPr>
        <p:spPr>
          <a:xfrm>
            <a:off x="1552075" y="23791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1" name="Google Shape;1881;p96"/>
          <p:cNvSpPr/>
          <p:nvPr/>
        </p:nvSpPr>
        <p:spPr>
          <a:xfrm>
            <a:off x="2850900" y="22171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2" name="Google Shape;1882;p96"/>
          <p:cNvSpPr txBox="1"/>
          <p:nvPr>
            <p:ph idx="1" type="body"/>
          </p:nvPr>
        </p:nvSpPr>
        <p:spPr>
          <a:xfrm>
            <a:off x="2593630" y="2313418"/>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883" name="Google Shape;1883;p96"/>
          <p:cNvSpPr txBox="1"/>
          <p:nvPr>
            <p:ph idx="1" type="body"/>
          </p:nvPr>
        </p:nvSpPr>
        <p:spPr>
          <a:xfrm>
            <a:off x="838525" y="18955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884" name="Google Shape;1884;p96"/>
          <p:cNvSpPr txBox="1"/>
          <p:nvPr>
            <p:ph idx="1" type="body"/>
          </p:nvPr>
        </p:nvSpPr>
        <p:spPr>
          <a:xfrm>
            <a:off x="2065975" y="267175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 cm</a:t>
            </a:r>
            <a:endParaRPr sz="1800"/>
          </a:p>
        </p:txBody>
      </p:sp>
      <p:sp>
        <p:nvSpPr>
          <p:cNvPr id="1885" name="Google Shape;1885;p96"/>
          <p:cNvSpPr txBox="1"/>
          <p:nvPr>
            <p:ph idx="4294967295" type="subTitle"/>
          </p:nvPr>
        </p:nvSpPr>
        <p:spPr>
          <a:xfrm>
            <a:off x="4796227" y="239582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tan(𝜃°) = </a:t>
            </a:r>
            <a:endParaRPr sz="2000">
              <a:latin typeface="Times New Roman"/>
              <a:ea typeface="Times New Roman"/>
              <a:cs typeface="Times New Roman"/>
              <a:sym typeface="Times New Roman"/>
            </a:endParaRPr>
          </a:p>
        </p:txBody>
      </p:sp>
      <p:sp>
        <p:nvSpPr>
          <p:cNvPr id="1886" name="Google Shape;1886;p96"/>
          <p:cNvSpPr txBox="1"/>
          <p:nvPr>
            <p:ph idx="4294967295" type="subTitle"/>
          </p:nvPr>
        </p:nvSpPr>
        <p:spPr>
          <a:xfrm>
            <a:off x="5284044" y="289726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tan</a:t>
            </a:r>
            <a:r>
              <a:rPr baseline="30000" lang="en-GB" sz="2000">
                <a:latin typeface="Times New Roman"/>
                <a:ea typeface="Times New Roman"/>
                <a:cs typeface="Times New Roman"/>
                <a:sym typeface="Times New Roman"/>
              </a:rPr>
              <a:t>-1</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887" name="Google Shape;1887;p96"/>
          <p:cNvSpPr txBox="1"/>
          <p:nvPr>
            <p:ph idx="4294967295" type="subTitle"/>
          </p:nvPr>
        </p:nvSpPr>
        <p:spPr>
          <a:xfrm>
            <a:off x="5284044" y="3404863"/>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29° </a:t>
            </a:r>
            <a:endParaRPr sz="2000">
              <a:latin typeface="Times New Roman"/>
              <a:ea typeface="Times New Roman"/>
              <a:cs typeface="Times New Roman"/>
              <a:sym typeface="Times New Roman"/>
            </a:endParaRPr>
          </a:p>
        </p:txBody>
      </p:sp>
      <p:sp>
        <p:nvSpPr>
          <p:cNvPr id="1888" name="Google Shape;1888;p96"/>
          <p:cNvSpPr txBox="1"/>
          <p:nvPr>
            <p:ph idx="1" type="body"/>
          </p:nvPr>
        </p:nvSpPr>
        <p:spPr>
          <a:xfrm>
            <a:off x="5978448" y="232540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1889" name="Google Shape;1889;p96"/>
          <p:cNvCxnSpPr/>
          <p:nvPr/>
        </p:nvCxnSpPr>
        <p:spPr>
          <a:xfrm>
            <a:off x="5893471" y="2602015"/>
            <a:ext cx="305400" cy="0"/>
          </a:xfrm>
          <a:prstGeom prst="straightConnector1">
            <a:avLst/>
          </a:prstGeom>
          <a:noFill/>
          <a:ln cap="flat" cmpd="sng" w="19050">
            <a:solidFill>
              <a:schemeClr val="dk1"/>
            </a:solidFill>
            <a:prstDash val="solid"/>
            <a:round/>
            <a:headEnd len="med" w="med" type="none"/>
            <a:tailEnd len="med" w="med" type="none"/>
          </a:ln>
        </p:spPr>
      </p:cxnSp>
      <p:sp>
        <p:nvSpPr>
          <p:cNvPr id="1890" name="Google Shape;1890;p96"/>
          <p:cNvSpPr txBox="1"/>
          <p:nvPr>
            <p:ph idx="1" type="body"/>
          </p:nvPr>
        </p:nvSpPr>
        <p:spPr>
          <a:xfrm>
            <a:off x="5940776" y="258525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11 </a:t>
            </a:r>
            <a:endParaRPr sz="2000">
              <a:latin typeface="Times New Roman"/>
              <a:ea typeface="Times New Roman"/>
              <a:cs typeface="Times New Roman"/>
              <a:sym typeface="Times New Roman"/>
            </a:endParaRPr>
          </a:p>
        </p:txBody>
      </p:sp>
      <p:sp>
        <p:nvSpPr>
          <p:cNvPr id="1891" name="Google Shape;1891;p96"/>
          <p:cNvSpPr txBox="1"/>
          <p:nvPr>
            <p:ph idx="1" type="body"/>
          </p:nvPr>
        </p:nvSpPr>
        <p:spPr>
          <a:xfrm>
            <a:off x="6416527" y="2827553"/>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 </a:t>
            </a:r>
            <a:endParaRPr sz="2000">
              <a:latin typeface="Times New Roman"/>
              <a:ea typeface="Times New Roman"/>
              <a:cs typeface="Times New Roman"/>
              <a:sym typeface="Times New Roman"/>
            </a:endParaRPr>
          </a:p>
        </p:txBody>
      </p:sp>
      <p:cxnSp>
        <p:nvCxnSpPr>
          <p:cNvPr id="1892" name="Google Shape;1892;p96"/>
          <p:cNvCxnSpPr/>
          <p:nvPr/>
        </p:nvCxnSpPr>
        <p:spPr>
          <a:xfrm>
            <a:off x="6344250" y="3104164"/>
            <a:ext cx="305400" cy="0"/>
          </a:xfrm>
          <a:prstGeom prst="straightConnector1">
            <a:avLst/>
          </a:prstGeom>
          <a:noFill/>
          <a:ln cap="flat" cmpd="sng" w="19050">
            <a:solidFill>
              <a:schemeClr val="dk1"/>
            </a:solidFill>
            <a:prstDash val="solid"/>
            <a:round/>
            <a:headEnd len="med" w="med" type="none"/>
            <a:tailEnd len="med" w="med" type="none"/>
          </a:ln>
        </p:spPr>
      </p:cxnSp>
      <p:sp>
        <p:nvSpPr>
          <p:cNvPr id="1893" name="Google Shape;1893;p96"/>
          <p:cNvSpPr txBox="1"/>
          <p:nvPr>
            <p:ph idx="1" type="body"/>
          </p:nvPr>
        </p:nvSpPr>
        <p:spPr>
          <a:xfrm>
            <a:off x="6378855" y="3087404"/>
            <a:ext cx="3267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11 </a:t>
            </a:r>
            <a:endParaRPr sz="2000">
              <a:latin typeface="Times New Roman"/>
              <a:ea typeface="Times New Roman"/>
              <a:cs typeface="Times New Roman"/>
              <a:sym typeface="Times New Roman"/>
            </a:endParaRPr>
          </a:p>
        </p:txBody>
      </p:sp>
      <p:sp>
        <p:nvSpPr>
          <p:cNvPr id="1894" name="Google Shape;1894;p96"/>
          <p:cNvSpPr txBox="1"/>
          <p:nvPr>
            <p:ph idx="1" type="body"/>
          </p:nvPr>
        </p:nvSpPr>
        <p:spPr>
          <a:xfrm>
            <a:off x="4559525" y="1454250"/>
            <a:ext cx="3670200" cy="34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Using the formula.</a:t>
            </a:r>
            <a:endParaRPr sz="1800">
              <a:solidFill>
                <a:schemeClr val="accent5"/>
              </a:solidFill>
            </a:endParaRPr>
          </a:p>
        </p:txBody>
      </p:sp>
      <p:sp>
        <p:nvSpPr>
          <p:cNvPr id="1895" name="Google Shape;1895;p96"/>
          <p:cNvSpPr txBox="1"/>
          <p:nvPr>
            <p:ph idx="1" type="body"/>
          </p:nvPr>
        </p:nvSpPr>
        <p:spPr>
          <a:xfrm>
            <a:off x="324000" y="759300"/>
            <a:ext cx="8237700" cy="35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angle can also be calculated if the two edges are known.</a:t>
            </a:r>
            <a:endParaRPr sz="1800"/>
          </a:p>
        </p:txBody>
      </p:sp>
      <p:sp>
        <p:nvSpPr>
          <p:cNvPr id="1896" name="Google Shape;1896;p96"/>
          <p:cNvSpPr txBox="1"/>
          <p:nvPr>
            <p:ph idx="4294967295" type="subTitle"/>
          </p:nvPr>
        </p:nvSpPr>
        <p:spPr>
          <a:xfrm>
            <a:off x="337825" y="1267200"/>
            <a:ext cx="39822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Find 𝜃, to the nearest degree.</a:t>
            </a:r>
            <a:endParaRPr sz="1800"/>
          </a:p>
        </p:txBody>
      </p:sp>
      <p:sp>
        <p:nvSpPr>
          <p:cNvPr id="1897" name="Google Shape;1897;p96"/>
          <p:cNvSpPr txBox="1"/>
          <p:nvPr>
            <p:ph idx="4294967295" type="subTitle"/>
          </p:nvPr>
        </p:nvSpPr>
        <p:spPr>
          <a:xfrm>
            <a:off x="4796227" y="186242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tan(𝜃°) = </a:t>
            </a:r>
            <a:endParaRPr sz="2000">
              <a:latin typeface="Times New Roman"/>
              <a:ea typeface="Times New Roman"/>
              <a:cs typeface="Times New Roman"/>
              <a:sym typeface="Times New Roman"/>
            </a:endParaRPr>
          </a:p>
        </p:txBody>
      </p:sp>
      <p:sp>
        <p:nvSpPr>
          <p:cNvPr id="1898" name="Google Shape;1898;p96"/>
          <p:cNvSpPr txBox="1"/>
          <p:nvPr>
            <p:ph idx="1" type="body"/>
          </p:nvPr>
        </p:nvSpPr>
        <p:spPr>
          <a:xfrm>
            <a:off x="5909519" y="2077550"/>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adj</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cxnSp>
        <p:nvCxnSpPr>
          <p:cNvPr id="1899" name="Google Shape;1899;p96"/>
          <p:cNvCxnSpPr/>
          <p:nvPr/>
        </p:nvCxnSpPr>
        <p:spPr>
          <a:xfrm>
            <a:off x="5855799" y="2075036"/>
            <a:ext cx="508200" cy="0"/>
          </a:xfrm>
          <a:prstGeom prst="straightConnector1">
            <a:avLst/>
          </a:prstGeom>
          <a:noFill/>
          <a:ln cap="flat" cmpd="sng" w="19050">
            <a:solidFill>
              <a:schemeClr val="dk1"/>
            </a:solidFill>
            <a:prstDash val="solid"/>
            <a:round/>
            <a:headEnd len="med" w="med" type="none"/>
            <a:tailEnd len="med" w="med" type="none"/>
          </a:ln>
        </p:spPr>
      </p:cxnSp>
      <p:sp>
        <p:nvSpPr>
          <p:cNvPr id="1900" name="Google Shape;1900;p96"/>
          <p:cNvSpPr txBox="1"/>
          <p:nvPr>
            <p:ph idx="1" type="body"/>
          </p:nvPr>
        </p:nvSpPr>
        <p:spPr>
          <a:xfrm>
            <a:off x="5889403" y="1780492"/>
            <a:ext cx="49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opp</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97"/>
          <p:cNvSpPr txBox="1"/>
          <p:nvPr>
            <p:ph idx="1" type="subTitle"/>
          </p:nvPr>
        </p:nvSpPr>
        <p:spPr>
          <a:xfrm>
            <a:off x="337825" y="810000"/>
            <a:ext cx="3982200" cy="35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size of </a:t>
            </a:r>
            <a:r>
              <a:rPr lang="en-GB" sz="2000">
                <a:latin typeface="Times New Roman"/>
                <a:ea typeface="Times New Roman"/>
                <a:cs typeface="Times New Roman"/>
                <a:sym typeface="Times New Roman"/>
              </a:rPr>
              <a:t>𝜃</a:t>
            </a:r>
            <a:r>
              <a:rPr lang="en-GB"/>
              <a:t>, to the nearest degree.</a:t>
            </a:r>
            <a:endParaRPr/>
          </a:p>
        </p:txBody>
      </p:sp>
      <p:sp>
        <p:nvSpPr>
          <p:cNvPr id="1906" name="Google Shape;1906;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907" name="Google Shape;1907;p9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size of </a:t>
            </a:r>
            <a:r>
              <a:rPr lang="en-GB" sz="2000">
                <a:latin typeface="Times New Roman"/>
                <a:ea typeface="Times New Roman"/>
                <a:cs typeface="Times New Roman"/>
                <a:sym typeface="Times New Roman"/>
              </a:rPr>
              <a:t>𝜃</a:t>
            </a:r>
            <a:r>
              <a:rPr lang="en-GB"/>
              <a:t>, to the nearest degree.</a:t>
            </a:r>
            <a:endParaRPr/>
          </a:p>
        </p:txBody>
      </p:sp>
      <p:grpSp>
        <p:nvGrpSpPr>
          <p:cNvPr id="1908" name="Google Shape;1908;p97"/>
          <p:cNvGrpSpPr/>
          <p:nvPr/>
        </p:nvGrpSpPr>
        <p:grpSpPr>
          <a:xfrm rot="5400000">
            <a:off x="2233045" y="927908"/>
            <a:ext cx="1133566" cy="1744500"/>
            <a:chOff x="-2098225" y="1379675"/>
            <a:chExt cx="1133566" cy="1744500"/>
          </a:xfrm>
        </p:grpSpPr>
        <p:sp>
          <p:nvSpPr>
            <p:cNvPr id="1909" name="Google Shape;1909;p97"/>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10" name="Google Shape;1910;p97"/>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11" name="Google Shape;1911;p97"/>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12" name="Google Shape;1912;p97"/>
          <p:cNvSpPr txBox="1"/>
          <p:nvPr>
            <p:ph idx="4294967295" type="body"/>
          </p:nvPr>
        </p:nvSpPr>
        <p:spPr>
          <a:xfrm>
            <a:off x="2904255" y="1971661"/>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𝜃</a:t>
            </a:r>
            <a:r>
              <a:rPr lang="en-GB" sz="1800"/>
              <a:t>°</a:t>
            </a:r>
            <a:endParaRPr sz="1800"/>
          </a:p>
        </p:txBody>
      </p:sp>
      <p:sp>
        <p:nvSpPr>
          <p:cNvPr id="1913" name="Google Shape;1913;p97"/>
          <p:cNvSpPr txBox="1"/>
          <p:nvPr>
            <p:ph idx="4294967295" type="body"/>
          </p:nvPr>
        </p:nvSpPr>
        <p:spPr>
          <a:xfrm>
            <a:off x="2446800" y="23540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cm</a:t>
            </a:r>
            <a:endParaRPr sz="1800"/>
          </a:p>
        </p:txBody>
      </p:sp>
      <p:sp>
        <p:nvSpPr>
          <p:cNvPr id="1914" name="Google Shape;1914;p97"/>
          <p:cNvSpPr txBox="1"/>
          <p:nvPr>
            <p:ph idx="4294967295" type="body"/>
          </p:nvPr>
        </p:nvSpPr>
        <p:spPr>
          <a:xfrm>
            <a:off x="2769406" y="1374164"/>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915" name="Google Shape;1915;p97"/>
          <p:cNvSpPr/>
          <p:nvPr/>
        </p:nvSpPr>
        <p:spPr>
          <a:xfrm>
            <a:off x="3198770" y="18957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916" name="Google Shape;1916;p97"/>
          <p:cNvGraphicFramePr/>
          <p:nvPr/>
        </p:nvGraphicFramePr>
        <p:xfrm>
          <a:off x="341599" y="3010363"/>
          <a:ext cx="3000000" cy="3000000"/>
        </p:xfrm>
        <a:graphic>
          <a:graphicData uri="http://schemas.openxmlformats.org/drawingml/2006/table">
            <a:tbl>
              <a:tblPr>
                <a:noFill/>
                <a:tableStyleId>{6583A662-CB0C-4F0C-AD52-46217D66C8BC}</a:tableStyleId>
              </a:tblPr>
              <a:tblGrid>
                <a:gridCol w="974275"/>
                <a:gridCol w="8097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cos</a:t>
                      </a:r>
                      <a:r>
                        <a:rPr lang="en-GB" sz="2000">
                          <a:solidFill>
                            <a:srgbClr val="000000"/>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𝜃</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12</a:t>
                      </a:r>
                      <a:endParaRPr sz="2000">
                        <a:latin typeface="Times New Roman"/>
                        <a:ea typeface="Times New Roman"/>
                        <a:cs typeface="Times New Roman"/>
                        <a:sym typeface="Times New Roman"/>
                      </a:endParaRPr>
                    </a:p>
                  </a:txBody>
                  <a:tcPr marT="0" marB="0" marR="0" marL="0" anchor="ctr"/>
                </a:tc>
              </a:tr>
            </a:tbl>
          </a:graphicData>
        </a:graphic>
      </p:graphicFrame>
      <p:sp>
        <p:nvSpPr>
          <p:cNvPr id="1917" name="Google Shape;1917;p97"/>
          <p:cNvSpPr/>
          <p:nvPr/>
        </p:nvSpPr>
        <p:spPr>
          <a:xfrm>
            <a:off x="984225" y="3649978"/>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918" name="Google Shape;1918;p97"/>
          <p:cNvSpPr txBox="1"/>
          <p:nvPr/>
        </p:nvSpPr>
        <p:spPr>
          <a:xfrm>
            <a:off x="1141669" y="3815728"/>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a:t>
            </a:r>
            <a:r>
              <a:rPr lang="en-GB" sz="1800">
                <a:solidFill>
                  <a:schemeClr val="accent5"/>
                </a:solidFill>
                <a:latin typeface="Lexend"/>
                <a:ea typeface="Lexend"/>
                <a:cs typeface="Lexend"/>
                <a:sym typeface="Lexend"/>
              </a:rPr>
              <a:t>12</a:t>
            </a:r>
            <a:endParaRPr sz="1800">
              <a:solidFill>
                <a:schemeClr val="accent5"/>
              </a:solidFill>
              <a:latin typeface="Lexend"/>
              <a:ea typeface="Lexend"/>
              <a:cs typeface="Lexend"/>
              <a:sym typeface="Lexend"/>
            </a:endParaRPr>
          </a:p>
        </p:txBody>
      </p:sp>
      <p:sp>
        <p:nvSpPr>
          <p:cNvPr id="1919" name="Google Shape;1919;p97"/>
          <p:cNvSpPr/>
          <p:nvPr/>
        </p:nvSpPr>
        <p:spPr>
          <a:xfrm flipH="1" rot="10800000">
            <a:off x="984225" y="2871358"/>
            <a:ext cx="645500" cy="137100"/>
          </a:xfrm>
          <a:custGeom>
            <a:rect b="b" l="l" r="r" t="t"/>
            <a:pathLst>
              <a:path extrusionOk="0" h="5484" w="25820">
                <a:moveTo>
                  <a:pt x="0" y="315"/>
                </a:moveTo>
                <a:cubicBezTo>
                  <a:pt x="3392" y="8226"/>
                  <a:pt x="19739" y="6091"/>
                  <a:pt x="25820" y="0"/>
                </a:cubicBezTo>
              </a:path>
            </a:pathLst>
          </a:custGeom>
          <a:noFill/>
          <a:ln cap="flat" cmpd="sng" w="28575">
            <a:solidFill>
              <a:schemeClr val="accent5"/>
            </a:solidFill>
            <a:prstDash val="solid"/>
            <a:round/>
            <a:headEnd len="med" w="med" type="none"/>
            <a:tailEnd len="med" w="med" type="triangle"/>
          </a:ln>
        </p:spPr>
      </p:sp>
      <p:sp>
        <p:nvSpPr>
          <p:cNvPr id="1920" name="Google Shape;1920;p97"/>
          <p:cNvSpPr txBox="1"/>
          <p:nvPr/>
        </p:nvSpPr>
        <p:spPr>
          <a:xfrm>
            <a:off x="1092469" y="2598996"/>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accent5"/>
                </a:solidFill>
                <a:latin typeface="Lexend"/>
                <a:ea typeface="Lexend"/>
                <a:cs typeface="Lexend"/>
                <a:sym typeface="Lexend"/>
              </a:rPr>
              <a:t>× </a:t>
            </a:r>
            <a:r>
              <a:rPr lang="en-GB" sz="1800">
                <a:solidFill>
                  <a:schemeClr val="accent5"/>
                </a:solidFill>
                <a:latin typeface="Lexend"/>
                <a:ea typeface="Lexend"/>
                <a:cs typeface="Lexend"/>
                <a:sym typeface="Lexend"/>
              </a:rPr>
              <a:t>12</a:t>
            </a:r>
            <a:endParaRPr sz="1800">
              <a:solidFill>
                <a:schemeClr val="accent5"/>
              </a:solidFill>
              <a:latin typeface="Lexend"/>
              <a:ea typeface="Lexend"/>
              <a:cs typeface="Lexend"/>
              <a:sym typeface="Lexend"/>
            </a:endParaRPr>
          </a:p>
        </p:txBody>
      </p:sp>
      <p:sp>
        <p:nvSpPr>
          <p:cNvPr id="1921" name="Google Shape;1921;p97"/>
          <p:cNvSpPr txBox="1"/>
          <p:nvPr>
            <p:ph idx="1" type="subTitle"/>
          </p:nvPr>
        </p:nvSpPr>
        <p:spPr>
          <a:xfrm>
            <a:off x="2274600" y="3095500"/>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latin typeface="Times New Roman"/>
                <a:ea typeface="Times New Roman"/>
                <a:cs typeface="Times New Roman"/>
                <a:sym typeface="Times New Roman"/>
              </a:rPr>
              <a:t>12</a:t>
            </a:r>
            <a:r>
              <a:rPr lang="en-GB" sz="2000">
                <a:latin typeface="Times New Roman"/>
                <a:ea typeface="Times New Roman"/>
                <a:cs typeface="Times New Roman"/>
                <a:sym typeface="Times New Roman"/>
              </a:rPr>
              <a:t>cos(𝜃°) = 9</a:t>
            </a:r>
            <a:endParaRPr sz="2000">
              <a:latin typeface="Times New Roman"/>
              <a:ea typeface="Times New Roman"/>
              <a:cs typeface="Times New Roman"/>
              <a:sym typeface="Times New Roman"/>
            </a:endParaRPr>
          </a:p>
        </p:txBody>
      </p:sp>
      <p:sp>
        <p:nvSpPr>
          <p:cNvPr id="1922" name="Google Shape;1922;p97"/>
          <p:cNvSpPr txBox="1"/>
          <p:nvPr>
            <p:ph idx="1" type="subTitle"/>
          </p:nvPr>
        </p:nvSpPr>
        <p:spPr>
          <a:xfrm>
            <a:off x="2510227" y="353882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cos(𝜃°) = 0.75 </a:t>
            </a:r>
            <a:endParaRPr sz="2000">
              <a:latin typeface="Times New Roman"/>
              <a:ea typeface="Times New Roman"/>
              <a:cs typeface="Times New Roman"/>
              <a:sym typeface="Times New Roman"/>
            </a:endParaRPr>
          </a:p>
        </p:txBody>
      </p:sp>
      <p:sp>
        <p:nvSpPr>
          <p:cNvPr id="1923" name="Google Shape;1923;p97"/>
          <p:cNvSpPr txBox="1"/>
          <p:nvPr>
            <p:ph idx="1" type="subTitle"/>
          </p:nvPr>
        </p:nvSpPr>
        <p:spPr>
          <a:xfrm>
            <a:off x="2998044" y="396406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cos</a:t>
            </a:r>
            <a:r>
              <a:rPr baseline="30000" lang="en-GB" sz="2000">
                <a:latin typeface="Times New Roman"/>
                <a:ea typeface="Times New Roman"/>
                <a:cs typeface="Times New Roman"/>
                <a:sym typeface="Times New Roman"/>
              </a:rPr>
              <a:t>-1</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0.75</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924" name="Google Shape;1924;p97"/>
          <p:cNvSpPr txBox="1"/>
          <p:nvPr>
            <p:ph idx="1" type="subTitle"/>
          </p:nvPr>
        </p:nvSpPr>
        <p:spPr>
          <a:xfrm>
            <a:off x="2998044" y="4319263"/>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41°</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graphicFrame>
        <p:nvGraphicFramePr>
          <p:cNvPr id="1925" name="Google Shape;1925;p97"/>
          <p:cNvGraphicFramePr/>
          <p:nvPr/>
        </p:nvGraphicFramePr>
        <p:xfrm>
          <a:off x="4608799" y="3010363"/>
          <a:ext cx="3000000" cy="3000000"/>
        </p:xfrm>
        <a:graphic>
          <a:graphicData uri="http://schemas.openxmlformats.org/drawingml/2006/table">
            <a:tbl>
              <a:tblPr>
                <a:noFill/>
                <a:tableStyleId>{6583A662-CB0C-4F0C-AD52-46217D66C8BC}</a:tableStyleId>
              </a:tblPr>
              <a:tblGrid>
                <a:gridCol w="974275"/>
                <a:gridCol w="809750"/>
              </a:tblGrid>
              <a:tr h="315475">
                <a:tc>
                  <a:txBody>
                    <a:bodyPr/>
                    <a:lstStyle/>
                    <a:p>
                      <a:pPr indent="0" lvl="0" marL="0" rtl="0" algn="ctr">
                        <a:lnSpc>
                          <a:spcPct val="115000"/>
                        </a:lnSpc>
                        <a:spcBef>
                          <a:spcPts val="0"/>
                        </a:spcBef>
                        <a:spcAft>
                          <a:spcPts val="1000"/>
                        </a:spcAft>
                        <a:buClr>
                          <a:srgbClr val="000000"/>
                        </a:buClr>
                        <a:buSzPts val="1100"/>
                        <a:buFont typeface="Arial"/>
                        <a:buNone/>
                      </a:pPr>
                      <a:r>
                        <a:rPr lang="en-GB" sz="2000">
                          <a:latin typeface="Times New Roman"/>
                          <a:ea typeface="Times New Roman"/>
                          <a:cs typeface="Times New Roman"/>
                          <a:sym typeface="Times New Roman"/>
                        </a:rPr>
                        <a:t>sin</a:t>
                      </a:r>
                      <a:r>
                        <a:rPr lang="en-GB" sz="2000">
                          <a:solidFill>
                            <a:srgbClr val="000000"/>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𝜃</a:t>
                      </a:r>
                      <a:r>
                        <a:rPr lang="en-GB" sz="2000">
                          <a:solidFill>
                            <a:srgbClr val="000000"/>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3.5</a:t>
                      </a:r>
                      <a:endParaRPr sz="2000">
                        <a:latin typeface="Times New Roman"/>
                        <a:ea typeface="Times New Roman"/>
                        <a:cs typeface="Times New Roman"/>
                        <a:sym typeface="Times New Roman"/>
                      </a:endParaRPr>
                    </a:p>
                  </a:txBody>
                  <a:tcPr marT="0" marB="0" marR="0" marL="0" anchor="ctr"/>
                </a:tc>
              </a:tr>
              <a:tr h="3144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7</a:t>
                      </a:r>
                      <a:endParaRPr sz="2000">
                        <a:latin typeface="Times New Roman"/>
                        <a:ea typeface="Times New Roman"/>
                        <a:cs typeface="Times New Roman"/>
                        <a:sym typeface="Times New Roman"/>
                      </a:endParaRPr>
                    </a:p>
                  </a:txBody>
                  <a:tcPr marT="0" marB="0" marR="0" marL="0" anchor="ctr"/>
                </a:tc>
              </a:tr>
            </a:tbl>
          </a:graphicData>
        </a:graphic>
      </p:graphicFrame>
      <p:sp>
        <p:nvSpPr>
          <p:cNvPr id="1926" name="Google Shape;1926;p97"/>
          <p:cNvSpPr/>
          <p:nvPr/>
        </p:nvSpPr>
        <p:spPr>
          <a:xfrm>
            <a:off x="5251425" y="3649978"/>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1927" name="Google Shape;1927;p97"/>
          <p:cNvSpPr txBox="1"/>
          <p:nvPr/>
        </p:nvSpPr>
        <p:spPr>
          <a:xfrm>
            <a:off x="5408869" y="3815728"/>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7</a:t>
            </a:r>
            <a:endParaRPr sz="1800">
              <a:solidFill>
                <a:srgbClr val="000000"/>
              </a:solidFill>
              <a:latin typeface="Lexend"/>
              <a:ea typeface="Lexend"/>
              <a:cs typeface="Lexend"/>
              <a:sym typeface="Lexend"/>
            </a:endParaRPr>
          </a:p>
        </p:txBody>
      </p:sp>
      <p:sp>
        <p:nvSpPr>
          <p:cNvPr id="1928" name="Google Shape;1928;p97"/>
          <p:cNvSpPr/>
          <p:nvPr/>
        </p:nvSpPr>
        <p:spPr>
          <a:xfrm flipH="1" rot="10800000">
            <a:off x="5251425" y="2871358"/>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1929" name="Google Shape;1929;p97"/>
          <p:cNvSpPr txBox="1"/>
          <p:nvPr/>
        </p:nvSpPr>
        <p:spPr>
          <a:xfrm>
            <a:off x="5359669" y="2598996"/>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7</a:t>
            </a:r>
            <a:endParaRPr sz="1800">
              <a:solidFill>
                <a:srgbClr val="000000"/>
              </a:solidFill>
              <a:latin typeface="Lexend"/>
              <a:ea typeface="Lexend"/>
              <a:cs typeface="Lexend"/>
              <a:sym typeface="Lexend"/>
            </a:endParaRPr>
          </a:p>
        </p:txBody>
      </p:sp>
      <p:sp>
        <p:nvSpPr>
          <p:cNvPr id="1930" name="Google Shape;1930;p97"/>
          <p:cNvSpPr txBox="1"/>
          <p:nvPr>
            <p:ph idx="1" type="subTitle"/>
          </p:nvPr>
        </p:nvSpPr>
        <p:spPr>
          <a:xfrm>
            <a:off x="6541800" y="3095500"/>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7</a:t>
            </a: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(𝜃°) = 3.5</a:t>
            </a:r>
            <a:endParaRPr sz="2000">
              <a:latin typeface="Times New Roman"/>
              <a:ea typeface="Times New Roman"/>
              <a:cs typeface="Times New Roman"/>
              <a:sym typeface="Times New Roman"/>
            </a:endParaRPr>
          </a:p>
        </p:txBody>
      </p:sp>
      <p:sp>
        <p:nvSpPr>
          <p:cNvPr id="1931" name="Google Shape;1931;p97"/>
          <p:cNvSpPr txBox="1"/>
          <p:nvPr>
            <p:ph idx="1" type="subTitle"/>
          </p:nvPr>
        </p:nvSpPr>
        <p:spPr>
          <a:xfrm>
            <a:off x="6777427" y="353882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(𝜃°) = 0.5 </a:t>
            </a:r>
            <a:endParaRPr sz="2000">
              <a:latin typeface="Times New Roman"/>
              <a:ea typeface="Times New Roman"/>
              <a:cs typeface="Times New Roman"/>
              <a:sym typeface="Times New Roman"/>
            </a:endParaRPr>
          </a:p>
        </p:txBody>
      </p:sp>
      <p:sp>
        <p:nvSpPr>
          <p:cNvPr id="1932" name="Google Shape;1932;p97"/>
          <p:cNvSpPr txBox="1"/>
          <p:nvPr>
            <p:ph idx="1" type="subTitle"/>
          </p:nvPr>
        </p:nvSpPr>
        <p:spPr>
          <a:xfrm>
            <a:off x="7265244" y="3964065"/>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sin</a:t>
            </a:r>
            <a:r>
              <a:rPr baseline="30000" lang="en-GB" sz="2000">
                <a:latin typeface="Times New Roman"/>
                <a:ea typeface="Times New Roman"/>
                <a:cs typeface="Times New Roman"/>
                <a:sym typeface="Times New Roman"/>
              </a:rPr>
              <a:t>-1</a:t>
            </a:r>
            <a:r>
              <a:rPr lang="en-GB" sz="2000">
                <a:latin typeface="Times New Roman"/>
                <a:ea typeface="Times New Roman"/>
                <a:cs typeface="Times New Roman"/>
                <a:sym typeface="Times New Roman"/>
              </a:rPr>
              <a:t>(0.5</a:t>
            </a: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1933" name="Google Shape;1933;p97"/>
          <p:cNvSpPr txBox="1"/>
          <p:nvPr>
            <p:ph idx="1" type="subTitle"/>
          </p:nvPr>
        </p:nvSpPr>
        <p:spPr>
          <a:xfrm>
            <a:off x="7265244" y="4319263"/>
            <a:ext cx="2045400" cy="359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30° </a:t>
            </a:r>
            <a:endParaRPr sz="2000">
              <a:latin typeface="Times New Roman"/>
              <a:ea typeface="Times New Roman"/>
              <a:cs typeface="Times New Roman"/>
              <a:sym typeface="Times New Roman"/>
            </a:endParaRPr>
          </a:p>
        </p:txBody>
      </p:sp>
      <p:grpSp>
        <p:nvGrpSpPr>
          <p:cNvPr id="1934" name="Google Shape;1934;p97"/>
          <p:cNvGrpSpPr/>
          <p:nvPr/>
        </p:nvGrpSpPr>
        <p:grpSpPr>
          <a:xfrm rot="5400000">
            <a:off x="7024013" y="974210"/>
            <a:ext cx="1037100" cy="1860230"/>
            <a:chOff x="-2098225" y="1379675"/>
            <a:chExt cx="1037100" cy="1860230"/>
          </a:xfrm>
        </p:grpSpPr>
        <p:sp>
          <p:nvSpPr>
            <p:cNvPr id="1935" name="Google Shape;1935;p97"/>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36" name="Google Shape;1936;p97"/>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37" name="Google Shape;1937;p97"/>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938" name="Google Shape;1938;p97"/>
          <p:cNvSpPr/>
          <p:nvPr/>
        </p:nvSpPr>
        <p:spPr>
          <a:xfrm>
            <a:off x="6733675" y="22267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9" name="Google Shape;1939;p97"/>
          <p:cNvSpPr/>
          <p:nvPr/>
        </p:nvSpPr>
        <p:spPr>
          <a:xfrm>
            <a:off x="8032500" y="20647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0" name="Google Shape;1940;p97"/>
          <p:cNvSpPr txBox="1"/>
          <p:nvPr>
            <p:ph idx="4294967295" type="body"/>
          </p:nvPr>
        </p:nvSpPr>
        <p:spPr>
          <a:xfrm>
            <a:off x="7569478" y="1532600"/>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r>
              <a:rPr lang="en-GB" sz="1800"/>
              <a:t> cm</a:t>
            </a:r>
            <a:endParaRPr sz="1800"/>
          </a:p>
        </p:txBody>
      </p:sp>
      <p:sp>
        <p:nvSpPr>
          <p:cNvPr id="1941" name="Google Shape;1941;p97"/>
          <p:cNvSpPr txBox="1"/>
          <p:nvPr>
            <p:ph idx="4294967295" type="body"/>
          </p:nvPr>
        </p:nvSpPr>
        <p:spPr>
          <a:xfrm>
            <a:off x="7734998" y="2136118"/>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𝜃</a:t>
            </a:r>
            <a:r>
              <a:rPr lang="en-GB" sz="1800"/>
              <a:t>°</a:t>
            </a:r>
            <a:endParaRPr sz="1800"/>
          </a:p>
        </p:txBody>
      </p:sp>
      <p:sp>
        <p:nvSpPr>
          <p:cNvPr id="1942" name="Google Shape;1942;p97"/>
          <p:cNvSpPr txBox="1"/>
          <p:nvPr>
            <p:ph idx="4294967295" type="body"/>
          </p:nvPr>
        </p:nvSpPr>
        <p:spPr>
          <a:xfrm>
            <a:off x="5808000" y="17424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3.5</a:t>
            </a:r>
            <a:r>
              <a:rPr lang="en-GB" sz="1800"/>
              <a:t> cm</a:t>
            </a:r>
            <a:endParaRPr sz="1800"/>
          </a:p>
        </p:txBody>
      </p:sp>
      <p:sp>
        <p:nvSpPr>
          <p:cNvPr id="1943" name="Google Shape;1943;p97"/>
          <p:cNvSpPr/>
          <p:nvPr/>
        </p:nvSpPr>
        <p:spPr>
          <a:xfrm>
            <a:off x="1564625" y="3068750"/>
            <a:ext cx="3174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4" name="Google Shape;1944;p97"/>
          <p:cNvSpPr/>
          <p:nvPr/>
        </p:nvSpPr>
        <p:spPr>
          <a:xfrm>
            <a:off x="1564625" y="3395633"/>
            <a:ext cx="3174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5" name="Google Shape;1945;p97"/>
          <p:cNvSpPr/>
          <p:nvPr/>
        </p:nvSpPr>
        <p:spPr>
          <a:xfrm>
            <a:off x="1933075" y="20743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sp>
        <p:nvSpPr>
          <p:cNvPr id="1950" name="Google Shape;1950;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1951" name="Google Shape;1951;p98"/>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length of the edge marked </a:t>
            </a:r>
            <a:r>
              <a:rPr i="1" lang="en-GB" sz="2000">
                <a:latin typeface="Times New Roman"/>
                <a:ea typeface="Times New Roman"/>
                <a:cs typeface="Times New Roman"/>
                <a:sym typeface="Times New Roman"/>
              </a:rPr>
              <a:t>x</a:t>
            </a:r>
            <a:r>
              <a:rPr lang="en-GB" sz="1800"/>
              <a:t>, giving your answers to 1d.p. </a:t>
            </a:r>
            <a:endParaRPr sz="1800"/>
          </a:p>
        </p:txBody>
      </p:sp>
      <p:sp>
        <p:nvSpPr>
          <p:cNvPr id="1952" name="Google Shape;1952;p98"/>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1953" name="Google Shape;1953;p98"/>
          <p:cNvSpPr/>
          <p:nvPr/>
        </p:nvSpPr>
        <p:spPr>
          <a:xfrm>
            <a:off x="1619399" y="27032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54" name="Google Shape;1954;p98"/>
          <p:cNvGrpSpPr/>
          <p:nvPr/>
        </p:nvGrpSpPr>
        <p:grpSpPr>
          <a:xfrm>
            <a:off x="776400" y="1152800"/>
            <a:ext cx="1037100" cy="1840966"/>
            <a:chOff x="-2098225" y="1379675"/>
            <a:chExt cx="1037100" cy="1840966"/>
          </a:xfrm>
        </p:grpSpPr>
        <p:sp>
          <p:nvSpPr>
            <p:cNvPr id="1955" name="Google Shape;1955;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56" name="Google Shape;1956;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57" name="Google Shape;1957;p98"/>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958" name="Google Shape;1958;p98"/>
          <p:cNvSpPr/>
          <p:nvPr/>
        </p:nvSpPr>
        <p:spPr>
          <a:xfrm rot="5400000">
            <a:off x="2957565" y="2120899"/>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59" name="Google Shape;1959;p98"/>
          <p:cNvGrpSpPr/>
          <p:nvPr/>
        </p:nvGrpSpPr>
        <p:grpSpPr>
          <a:xfrm rot="5400000">
            <a:off x="3263033" y="972433"/>
            <a:ext cx="1133566" cy="1744500"/>
            <a:chOff x="-2098225" y="1379675"/>
            <a:chExt cx="1133566" cy="1744500"/>
          </a:xfrm>
        </p:grpSpPr>
        <p:sp>
          <p:nvSpPr>
            <p:cNvPr id="1960" name="Google Shape;1960;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61" name="Google Shape;1961;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62" name="Google Shape;1962;p9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63" name="Google Shape;1963;p98"/>
          <p:cNvSpPr/>
          <p:nvPr/>
        </p:nvSpPr>
        <p:spPr>
          <a:xfrm rot="-7245981">
            <a:off x="6555729" y="15115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64" name="Google Shape;1964;p98"/>
          <p:cNvGrpSpPr/>
          <p:nvPr/>
        </p:nvGrpSpPr>
        <p:grpSpPr>
          <a:xfrm rot="-7251812">
            <a:off x="5611857" y="1454373"/>
            <a:ext cx="1133577" cy="1744517"/>
            <a:chOff x="-2098225" y="1379675"/>
            <a:chExt cx="1133566" cy="1744500"/>
          </a:xfrm>
        </p:grpSpPr>
        <p:sp>
          <p:nvSpPr>
            <p:cNvPr id="1965" name="Google Shape;1965;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66" name="Google Shape;1966;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67" name="Google Shape;1967;p9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68" name="Google Shape;1968;p98"/>
          <p:cNvSpPr/>
          <p:nvPr/>
        </p:nvSpPr>
        <p:spPr>
          <a:xfrm flipH="1" rot="7245981">
            <a:off x="1346848" y="35689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69" name="Google Shape;1969;p98"/>
          <p:cNvGrpSpPr/>
          <p:nvPr/>
        </p:nvGrpSpPr>
        <p:grpSpPr>
          <a:xfrm flipH="1" rot="7251812">
            <a:off x="1334801" y="3424646"/>
            <a:ext cx="1057376" cy="1764783"/>
            <a:chOff x="-2022025" y="1455875"/>
            <a:chExt cx="1057366" cy="1764766"/>
          </a:xfrm>
        </p:grpSpPr>
        <p:sp>
          <p:nvSpPr>
            <p:cNvPr id="1970" name="Google Shape;1970;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1" name="Google Shape;1971;p98"/>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72" name="Google Shape;1972;p9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73" name="Google Shape;1973;p98"/>
          <p:cNvSpPr/>
          <p:nvPr/>
        </p:nvSpPr>
        <p:spPr>
          <a:xfrm flipH="1" rot="-8954019">
            <a:off x="4301691" y="3143687"/>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4" name="Google Shape;1974;p98"/>
          <p:cNvSpPr/>
          <p:nvPr/>
        </p:nvSpPr>
        <p:spPr>
          <a:xfrm flipH="1" rot="-5474261">
            <a:off x="6781449" y="4010572"/>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75" name="Google Shape;1975;p98"/>
          <p:cNvGrpSpPr/>
          <p:nvPr/>
        </p:nvGrpSpPr>
        <p:grpSpPr>
          <a:xfrm flipH="1" rot="-5471853">
            <a:off x="5528854" y="2878439"/>
            <a:ext cx="1133587" cy="1744532"/>
            <a:chOff x="-2098225" y="1379675"/>
            <a:chExt cx="1133566" cy="1744500"/>
          </a:xfrm>
        </p:grpSpPr>
        <p:sp>
          <p:nvSpPr>
            <p:cNvPr id="1976" name="Google Shape;1976;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7" name="Google Shape;1977;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78" name="Google Shape;1978;p9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79" name="Google Shape;1979;p98"/>
          <p:cNvSpPr/>
          <p:nvPr/>
        </p:nvSpPr>
        <p:spPr>
          <a:xfrm flipH="1" rot="-74261">
            <a:off x="7669750" y="3777676"/>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80" name="Google Shape;1980;p98"/>
          <p:cNvGrpSpPr/>
          <p:nvPr/>
        </p:nvGrpSpPr>
        <p:grpSpPr>
          <a:xfrm flipH="1" rot="-71853">
            <a:off x="7654734" y="2218589"/>
            <a:ext cx="1037119" cy="1841000"/>
            <a:chOff x="-2098225" y="1379675"/>
            <a:chExt cx="1037100" cy="1840966"/>
          </a:xfrm>
        </p:grpSpPr>
        <p:sp>
          <p:nvSpPr>
            <p:cNvPr id="1981" name="Google Shape;1981;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82" name="Google Shape;1982;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83" name="Google Shape;1983;p98"/>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grpSp>
        <p:nvGrpSpPr>
          <p:cNvPr id="1984" name="Google Shape;1984;p98"/>
          <p:cNvGrpSpPr/>
          <p:nvPr/>
        </p:nvGrpSpPr>
        <p:grpSpPr>
          <a:xfrm flipH="1" rot="-8948188">
            <a:off x="3113917" y="2842632"/>
            <a:ext cx="1133577" cy="1744517"/>
            <a:chOff x="-2098225" y="1379675"/>
            <a:chExt cx="1133566" cy="1744500"/>
          </a:xfrm>
        </p:grpSpPr>
        <p:sp>
          <p:nvSpPr>
            <p:cNvPr id="1985" name="Google Shape;1985;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86" name="Google Shape;1986;p98"/>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87" name="Google Shape;1987;p9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88" name="Google Shape;1988;p98"/>
          <p:cNvSpPr txBox="1"/>
          <p:nvPr>
            <p:ph idx="1" type="body"/>
          </p:nvPr>
        </p:nvSpPr>
        <p:spPr>
          <a:xfrm>
            <a:off x="32400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r>
              <a:rPr lang="en-GB" sz="1800"/>
              <a:t>) </a:t>
            </a:r>
            <a:endParaRPr sz="1800"/>
          </a:p>
        </p:txBody>
      </p:sp>
      <p:sp>
        <p:nvSpPr>
          <p:cNvPr id="1989" name="Google Shape;1989;p98"/>
          <p:cNvSpPr txBox="1"/>
          <p:nvPr>
            <p:ph idx="1" type="body"/>
          </p:nvPr>
        </p:nvSpPr>
        <p:spPr>
          <a:xfrm>
            <a:off x="244775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a:t>
            </a:r>
            <a:endParaRPr sz="1800"/>
          </a:p>
        </p:txBody>
      </p:sp>
      <p:sp>
        <p:nvSpPr>
          <p:cNvPr id="1990" name="Google Shape;1990;p98"/>
          <p:cNvSpPr txBox="1"/>
          <p:nvPr>
            <p:ph idx="1" type="body"/>
          </p:nvPr>
        </p:nvSpPr>
        <p:spPr>
          <a:xfrm>
            <a:off x="5175100" y="134315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 </a:t>
            </a:r>
            <a:endParaRPr sz="1800"/>
          </a:p>
        </p:txBody>
      </p:sp>
      <p:sp>
        <p:nvSpPr>
          <p:cNvPr id="1991" name="Google Shape;1991;p98"/>
          <p:cNvSpPr txBox="1"/>
          <p:nvPr>
            <p:ph idx="1" type="body"/>
          </p:nvPr>
        </p:nvSpPr>
        <p:spPr>
          <a:xfrm>
            <a:off x="324000" y="33738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 </a:t>
            </a:r>
            <a:endParaRPr sz="1800"/>
          </a:p>
        </p:txBody>
      </p:sp>
      <p:sp>
        <p:nvSpPr>
          <p:cNvPr id="1992" name="Google Shape;1992;p98"/>
          <p:cNvSpPr txBox="1"/>
          <p:nvPr>
            <p:ph idx="1" type="body"/>
          </p:nvPr>
        </p:nvSpPr>
        <p:spPr>
          <a:xfrm>
            <a:off x="2861100" y="28973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r>
              <a:rPr lang="en-GB" sz="1800"/>
              <a:t>) </a:t>
            </a:r>
            <a:endParaRPr sz="1800"/>
          </a:p>
        </p:txBody>
      </p:sp>
      <p:sp>
        <p:nvSpPr>
          <p:cNvPr id="1993" name="Google Shape;1993;p98"/>
          <p:cNvSpPr txBox="1"/>
          <p:nvPr>
            <p:ph idx="1" type="body"/>
          </p:nvPr>
        </p:nvSpPr>
        <p:spPr>
          <a:xfrm>
            <a:off x="5200138" y="29399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r>
              <a:rPr lang="en-GB" sz="1800"/>
              <a:t>) </a:t>
            </a:r>
            <a:endParaRPr sz="1800"/>
          </a:p>
        </p:txBody>
      </p:sp>
      <p:sp>
        <p:nvSpPr>
          <p:cNvPr id="1994" name="Google Shape;1994;p98"/>
          <p:cNvSpPr txBox="1"/>
          <p:nvPr>
            <p:ph idx="1" type="body"/>
          </p:nvPr>
        </p:nvSpPr>
        <p:spPr>
          <a:xfrm>
            <a:off x="7076013" y="2639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a:t>
            </a:r>
            <a:r>
              <a:rPr lang="en-GB" sz="1800"/>
              <a:t>) </a:t>
            </a:r>
            <a:endParaRPr sz="1800"/>
          </a:p>
        </p:txBody>
      </p:sp>
      <p:sp>
        <p:nvSpPr>
          <p:cNvPr id="1995" name="Google Shape;1995;p98"/>
          <p:cNvSpPr/>
          <p:nvPr/>
        </p:nvSpPr>
        <p:spPr>
          <a:xfrm>
            <a:off x="435968" y="2495550"/>
            <a:ext cx="777300" cy="777300"/>
          </a:xfrm>
          <a:prstGeom prst="arc">
            <a:avLst>
              <a:gd fmla="val 18261900"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6" name="Google Shape;1996;p98"/>
          <p:cNvSpPr/>
          <p:nvPr/>
        </p:nvSpPr>
        <p:spPr>
          <a:xfrm>
            <a:off x="2575457" y="957502"/>
            <a:ext cx="777300" cy="777300"/>
          </a:xfrm>
          <a:prstGeom prst="arc">
            <a:avLst>
              <a:gd fmla="val 1904514" name="adj1"/>
              <a:gd fmla="val 548075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7" name="Google Shape;1997;p98"/>
          <p:cNvSpPr/>
          <p:nvPr/>
        </p:nvSpPr>
        <p:spPr>
          <a:xfrm>
            <a:off x="4906029" y="1935087"/>
            <a:ext cx="777300" cy="777300"/>
          </a:xfrm>
          <a:prstGeom prst="arc">
            <a:avLst>
              <a:gd fmla="val 19568717"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8" name="Google Shape;1998;p98"/>
          <p:cNvSpPr/>
          <p:nvPr/>
        </p:nvSpPr>
        <p:spPr>
          <a:xfrm>
            <a:off x="550707" y="3969890"/>
            <a:ext cx="777300" cy="777300"/>
          </a:xfrm>
          <a:prstGeom prst="arc">
            <a:avLst>
              <a:gd fmla="val 17901978"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9" name="Google Shape;1999;p98"/>
          <p:cNvSpPr/>
          <p:nvPr/>
        </p:nvSpPr>
        <p:spPr>
          <a:xfrm>
            <a:off x="3321780" y="2335640"/>
            <a:ext cx="777300" cy="777300"/>
          </a:xfrm>
          <a:prstGeom prst="arc">
            <a:avLst>
              <a:gd fmla="val 1814274" name="adj1"/>
              <a:gd fmla="val 531390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0" name="Google Shape;2000;p98"/>
          <p:cNvSpPr/>
          <p:nvPr/>
        </p:nvSpPr>
        <p:spPr>
          <a:xfrm>
            <a:off x="6567330" y="2794690"/>
            <a:ext cx="777300" cy="777300"/>
          </a:xfrm>
          <a:prstGeom prst="arc">
            <a:avLst>
              <a:gd fmla="val 5286777" name="adj1"/>
              <a:gd fmla="val 845451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1" name="Google Shape;2001;p98"/>
          <p:cNvSpPr/>
          <p:nvPr/>
        </p:nvSpPr>
        <p:spPr>
          <a:xfrm>
            <a:off x="8238730" y="3571990"/>
            <a:ext cx="777300" cy="777300"/>
          </a:xfrm>
          <a:prstGeom prst="arc">
            <a:avLst>
              <a:gd fmla="val 10809261" name="adj1"/>
              <a:gd fmla="val 1430711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2" name="Google Shape;2002;p98"/>
          <p:cNvSpPr txBox="1"/>
          <p:nvPr>
            <p:ph idx="4294967295" type="body"/>
          </p:nvPr>
        </p:nvSpPr>
        <p:spPr>
          <a:xfrm>
            <a:off x="1086972" y="2930344"/>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3" name="Google Shape;2003;p98"/>
          <p:cNvSpPr txBox="1"/>
          <p:nvPr>
            <p:ph idx="4294967295" type="body"/>
          </p:nvPr>
        </p:nvSpPr>
        <p:spPr>
          <a:xfrm>
            <a:off x="3767671" y="1406344"/>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4" name="Google Shape;2004;p98"/>
          <p:cNvSpPr txBox="1"/>
          <p:nvPr>
            <p:ph idx="4294967295" type="body"/>
          </p:nvPr>
        </p:nvSpPr>
        <p:spPr>
          <a:xfrm>
            <a:off x="5901271" y="2396944"/>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5" name="Google Shape;2005;p98"/>
          <p:cNvSpPr txBox="1"/>
          <p:nvPr>
            <p:ph idx="4294967295" type="body"/>
          </p:nvPr>
        </p:nvSpPr>
        <p:spPr>
          <a:xfrm>
            <a:off x="535164" y="3640973"/>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6" name="Google Shape;2006;p98"/>
          <p:cNvSpPr txBox="1"/>
          <p:nvPr>
            <p:ph idx="4294967295" type="body"/>
          </p:nvPr>
        </p:nvSpPr>
        <p:spPr>
          <a:xfrm>
            <a:off x="4205607" y="3869573"/>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7" name="Google Shape;2007;p98"/>
          <p:cNvSpPr txBox="1"/>
          <p:nvPr>
            <p:ph idx="4294967295" type="body"/>
          </p:nvPr>
        </p:nvSpPr>
        <p:spPr>
          <a:xfrm>
            <a:off x="5653407" y="3336173"/>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8" name="Google Shape;2008;p98"/>
          <p:cNvSpPr txBox="1"/>
          <p:nvPr>
            <p:ph idx="4294967295" type="body"/>
          </p:nvPr>
        </p:nvSpPr>
        <p:spPr>
          <a:xfrm>
            <a:off x="8244207" y="2726573"/>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1800"/>
              <a:t>cm</a:t>
            </a:r>
            <a:endParaRPr sz="1800"/>
          </a:p>
        </p:txBody>
      </p:sp>
      <p:sp>
        <p:nvSpPr>
          <p:cNvPr id="2009" name="Google Shape;2009;p98"/>
          <p:cNvSpPr txBox="1"/>
          <p:nvPr>
            <p:ph idx="4294967295" type="body"/>
          </p:nvPr>
        </p:nvSpPr>
        <p:spPr>
          <a:xfrm>
            <a:off x="618000" y="173891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7 cm</a:t>
            </a:r>
            <a:endParaRPr sz="1800"/>
          </a:p>
        </p:txBody>
      </p:sp>
      <p:sp>
        <p:nvSpPr>
          <p:cNvPr id="2010" name="Google Shape;2010;p98"/>
          <p:cNvSpPr txBox="1"/>
          <p:nvPr>
            <p:ph idx="4294967295" type="body"/>
          </p:nvPr>
        </p:nvSpPr>
        <p:spPr>
          <a:xfrm>
            <a:off x="3513600" y="2387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 cm</a:t>
            </a:r>
            <a:endParaRPr sz="1800"/>
          </a:p>
        </p:txBody>
      </p:sp>
      <p:sp>
        <p:nvSpPr>
          <p:cNvPr id="2011" name="Google Shape;2011;p98"/>
          <p:cNvSpPr txBox="1"/>
          <p:nvPr>
            <p:ph idx="4294967295" type="body"/>
          </p:nvPr>
        </p:nvSpPr>
        <p:spPr>
          <a:xfrm>
            <a:off x="5494800" y="152315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r>
              <a:rPr lang="en-GB" sz="1800"/>
              <a:t> cm</a:t>
            </a:r>
            <a:endParaRPr sz="1800"/>
          </a:p>
        </p:txBody>
      </p:sp>
      <p:sp>
        <p:nvSpPr>
          <p:cNvPr id="2012" name="Google Shape;2012;p98"/>
          <p:cNvSpPr txBox="1"/>
          <p:nvPr>
            <p:ph idx="4294967295" type="body"/>
          </p:nvPr>
        </p:nvSpPr>
        <p:spPr>
          <a:xfrm>
            <a:off x="2065800" y="347952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r>
              <a:rPr lang="en-GB" sz="1800"/>
              <a:t> cm</a:t>
            </a:r>
            <a:endParaRPr sz="1800"/>
          </a:p>
        </p:txBody>
      </p:sp>
      <p:sp>
        <p:nvSpPr>
          <p:cNvPr id="2013" name="Google Shape;2013;p98"/>
          <p:cNvSpPr txBox="1"/>
          <p:nvPr>
            <p:ph idx="4294967295" type="body"/>
          </p:nvPr>
        </p:nvSpPr>
        <p:spPr>
          <a:xfrm>
            <a:off x="2904000" y="34538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a:t>
            </a:r>
            <a:r>
              <a:rPr lang="en-GB" sz="1800"/>
              <a:t> cm</a:t>
            </a:r>
            <a:endParaRPr sz="1800"/>
          </a:p>
        </p:txBody>
      </p:sp>
      <p:sp>
        <p:nvSpPr>
          <p:cNvPr id="2014" name="Google Shape;2014;p98"/>
          <p:cNvSpPr txBox="1"/>
          <p:nvPr>
            <p:ph idx="4294967295" type="body"/>
          </p:nvPr>
        </p:nvSpPr>
        <p:spPr>
          <a:xfrm>
            <a:off x="5932736" y="4292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 cm</a:t>
            </a:r>
            <a:endParaRPr sz="1800"/>
          </a:p>
        </p:txBody>
      </p:sp>
      <p:sp>
        <p:nvSpPr>
          <p:cNvPr id="2015" name="Google Shape;2015;p98"/>
          <p:cNvSpPr txBox="1"/>
          <p:nvPr>
            <p:ph idx="4294967295" type="body"/>
          </p:nvPr>
        </p:nvSpPr>
        <p:spPr>
          <a:xfrm>
            <a:off x="7857000" y="407628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r>
              <a:rPr lang="en-GB" sz="1800"/>
              <a:t> cm</a:t>
            </a:r>
            <a:endParaRPr sz="1800"/>
          </a:p>
        </p:txBody>
      </p:sp>
      <p:sp>
        <p:nvSpPr>
          <p:cNvPr id="2016" name="Google Shape;2016;p98"/>
          <p:cNvSpPr txBox="1"/>
          <p:nvPr>
            <p:ph idx="4294967295" type="body"/>
          </p:nvPr>
        </p:nvSpPr>
        <p:spPr>
          <a:xfrm>
            <a:off x="1183502" y="24529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r>
              <a:rPr lang="en-GB" sz="1800"/>
              <a:t>1°</a:t>
            </a:r>
            <a:endParaRPr sz="1800"/>
          </a:p>
        </p:txBody>
      </p:sp>
      <p:sp>
        <p:nvSpPr>
          <p:cNvPr id="2017" name="Google Shape;2017;p98"/>
          <p:cNvSpPr txBox="1"/>
          <p:nvPr>
            <p:ph idx="4294967295" type="body"/>
          </p:nvPr>
        </p:nvSpPr>
        <p:spPr>
          <a:xfrm>
            <a:off x="3088502" y="16909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63</a:t>
            </a:r>
            <a:r>
              <a:rPr lang="en-GB" sz="1800"/>
              <a:t>°</a:t>
            </a:r>
            <a:endParaRPr sz="1800"/>
          </a:p>
        </p:txBody>
      </p:sp>
      <p:sp>
        <p:nvSpPr>
          <p:cNvPr id="2018" name="Google Shape;2018;p98"/>
          <p:cNvSpPr txBox="1"/>
          <p:nvPr>
            <p:ph idx="4294967295" type="body"/>
          </p:nvPr>
        </p:nvSpPr>
        <p:spPr>
          <a:xfrm>
            <a:off x="5761067" y="2027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a:t>
            </a:r>
            <a:r>
              <a:rPr lang="en-GB" sz="1800"/>
              <a:t>°</a:t>
            </a:r>
            <a:endParaRPr sz="1800"/>
          </a:p>
        </p:txBody>
      </p:sp>
      <p:sp>
        <p:nvSpPr>
          <p:cNvPr id="2019" name="Google Shape;2019;p98"/>
          <p:cNvSpPr txBox="1"/>
          <p:nvPr>
            <p:ph idx="4294967295" type="body"/>
          </p:nvPr>
        </p:nvSpPr>
        <p:spPr>
          <a:xfrm>
            <a:off x="1341467" y="3932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79</a:t>
            </a:r>
            <a:r>
              <a:rPr lang="en-GB" sz="1800"/>
              <a:t>°</a:t>
            </a:r>
            <a:endParaRPr sz="1800"/>
          </a:p>
        </p:txBody>
      </p:sp>
      <p:sp>
        <p:nvSpPr>
          <p:cNvPr id="2020" name="Google Shape;2020;p98"/>
          <p:cNvSpPr txBox="1"/>
          <p:nvPr>
            <p:ph idx="4294967295" type="body"/>
          </p:nvPr>
        </p:nvSpPr>
        <p:spPr>
          <a:xfrm>
            <a:off x="3779867" y="30946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57</a:t>
            </a:r>
            <a:r>
              <a:rPr lang="en-GB" sz="1800"/>
              <a:t>°</a:t>
            </a:r>
            <a:endParaRPr sz="1800"/>
          </a:p>
        </p:txBody>
      </p:sp>
      <p:sp>
        <p:nvSpPr>
          <p:cNvPr id="2021" name="Google Shape;2021;p98"/>
          <p:cNvSpPr txBox="1"/>
          <p:nvPr>
            <p:ph idx="4294967295" type="body"/>
          </p:nvPr>
        </p:nvSpPr>
        <p:spPr>
          <a:xfrm>
            <a:off x="6523067" y="3551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59</a:t>
            </a:r>
            <a:r>
              <a:rPr lang="en-GB" sz="1800"/>
              <a:t>°</a:t>
            </a:r>
            <a:endParaRPr sz="1800"/>
          </a:p>
        </p:txBody>
      </p:sp>
      <p:sp>
        <p:nvSpPr>
          <p:cNvPr id="2022" name="Google Shape;2022;p98"/>
          <p:cNvSpPr txBox="1"/>
          <p:nvPr>
            <p:ph idx="4294967295" type="body"/>
          </p:nvPr>
        </p:nvSpPr>
        <p:spPr>
          <a:xfrm>
            <a:off x="7970867" y="3551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72</a:t>
            </a:r>
            <a:r>
              <a:rPr lang="en-GB" sz="1800"/>
              <a:t>°</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2028" name="Google Shape;2028;p99"/>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Calculate the size of the angle marked </a:t>
            </a:r>
            <a:r>
              <a:rPr lang="en-GB" sz="1800"/>
              <a:t>𝜃</a:t>
            </a:r>
            <a:r>
              <a:rPr lang="en-GB" sz="1800"/>
              <a:t>, giving your answer to 1d.p. </a:t>
            </a:r>
            <a:endParaRPr sz="1800"/>
          </a:p>
        </p:txBody>
      </p:sp>
      <p:sp>
        <p:nvSpPr>
          <p:cNvPr id="2029" name="Google Shape;2029;p99"/>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2030" name="Google Shape;2030;p99"/>
          <p:cNvSpPr/>
          <p:nvPr/>
        </p:nvSpPr>
        <p:spPr>
          <a:xfrm>
            <a:off x="1619399" y="27032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31" name="Google Shape;2031;p99"/>
          <p:cNvGrpSpPr/>
          <p:nvPr/>
        </p:nvGrpSpPr>
        <p:grpSpPr>
          <a:xfrm>
            <a:off x="852600" y="1229000"/>
            <a:ext cx="1073100" cy="1668300"/>
            <a:chOff x="-2022025" y="1455875"/>
            <a:chExt cx="1073100" cy="1668300"/>
          </a:xfrm>
        </p:grpSpPr>
        <p:sp>
          <p:nvSpPr>
            <p:cNvPr id="2032" name="Google Shape;2032;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33" name="Google Shape;2033;p99"/>
            <p:cNvCxnSpPr/>
            <p:nvPr/>
          </p:nvCxnSpPr>
          <p:spPr>
            <a:xfrm rot="10800000">
              <a:off x="-948925" y="1463450"/>
              <a:ext cx="0" cy="1656900"/>
            </a:xfrm>
            <a:prstGeom prst="straightConnector1">
              <a:avLst/>
            </a:prstGeom>
            <a:noFill/>
            <a:ln cap="flat" cmpd="sng" w="28575">
              <a:solidFill>
                <a:schemeClr val="accent5"/>
              </a:solidFill>
              <a:prstDash val="solid"/>
              <a:round/>
              <a:headEnd len="med" w="med" type="triangle"/>
              <a:tailEnd len="med" w="med" type="triangle"/>
            </a:ln>
          </p:spPr>
        </p:cxnSp>
      </p:grpSp>
      <p:sp>
        <p:nvSpPr>
          <p:cNvPr id="2034" name="Google Shape;2034;p99"/>
          <p:cNvSpPr/>
          <p:nvPr/>
        </p:nvSpPr>
        <p:spPr>
          <a:xfrm rot="5400000">
            <a:off x="2957565" y="2120899"/>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35" name="Google Shape;2035;p99"/>
          <p:cNvGrpSpPr/>
          <p:nvPr/>
        </p:nvGrpSpPr>
        <p:grpSpPr>
          <a:xfrm rot="5400000">
            <a:off x="3263033" y="972433"/>
            <a:ext cx="1133566" cy="1744500"/>
            <a:chOff x="-2098225" y="1379675"/>
            <a:chExt cx="1133566" cy="1744500"/>
          </a:xfrm>
        </p:grpSpPr>
        <p:sp>
          <p:nvSpPr>
            <p:cNvPr id="2036" name="Google Shape;2036;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37" name="Google Shape;2037;p99"/>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038" name="Google Shape;2038;p9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39" name="Google Shape;2039;p99"/>
          <p:cNvSpPr/>
          <p:nvPr/>
        </p:nvSpPr>
        <p:spPr>
          <a:xfrm rot="-7245981">
            <a:off x="6555729" y="15115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40" name="Google Shape;2040;p99"/>
          <p:cNvGrpSpPr/>
          <p:nvPr/>
        </p:nvGrpSpPr>
        <p:grpSpPr>
          <a:xfrm rot="-7251812">
            <a:off x="5611857" y="1454373"/>
            <a:ext cx="1133577" cy="1744517"/>
            <a:chOff x="-2098225" y="1379675"/>
            <a:chExt cx="1133566" cy="1744500"/>
          </a:xfrm>
        </p:grpSpPr>
        <p:sp>
          <p:nvSpPr>
            <p:cNvPr id="2041" name="Google Shape;2041;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42" name="Google Shape;2042;p99"/>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043" name="Google Shape;2043;p9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44" name="Google Shape;2044;p99"/>
          <p:cNvSpPr/>
          <p:nvPr/>
        </p:nvSpPr>
        <p:spPr>
          <a:xfrm flipH="1" rot="7245981">
            <a:off x="1346848" y="35689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45" name="Google Shape;2045;p99"/>
          <p:cNvGrpSpPr/>
          <p:nvPr/>
        </p:nvGrpSpPr>
        <p:grpSpPr>
          <a:xfrm flipH="1" rot="7251812">
            <a:off x="1294384" y="3502306"/>
            <a:ext cx="1070042" cy="1808241"/>
            <a:chOff x="-2131157" y="1412418"/>
            <a:chExt cx="1070032" cy="1808223"/>
          </a:xfrm>
        </p:grpSpPr>
        <p:sp>
          <p:nvSpPr>
            <p:cNvPr id="2046" name="Google Shape;2046;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47" name="Google Shape;2047;p99"/>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48" name="Google Shape;2048;p99"/>
            <p:cNvCxnSpPr/>
            <p:nvPr/>
          </p:nvCxnSpPr>
          <p:spPr>
            <a:xfrm flipH="1" rot="7251591">
              <a:off x="-2580261" y="2220440"/>
              <a:ext cx="1900808" cy="32156"/>
            </a:xfrm>
            <a:prstGeom prst="straightConnector1">
              <a:avLst/>
            </a:prstGeom>
            <a:noFill/>
            <a:ln cap="flat" cmpd="sng" w="28575">
              <a:solidFill>
                <a:schemeClr val="accent5"/>
              </a:solidFill>
              <a:prstDash val="solid"/>
              <a:round/>
              <a:headEnd len="med" w="med" type="triangle"/>
              <a:tailEnd len="med" w="med" type="triangle"/>
            </a:ln>
          </p:spPr>
        </p:cxnSp>
      </p:grpSp>
      <p:sp>
        <p:nvSpPr>
          <p:cNvPr id="2049" name="Google Shape;2049;p99"/>
          <p:cNvSpPr/>
          <p:nvPr/>
        </p:nvSpPr>
        <p:spPr>
          <a:xfrm flipH="1" rot="-8954019">
            <a:off x="4301691" y="3143687"/>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50" name="Google Shape;2050;p99"/>
          <p:cNvSpPr/>
          <p:nvPr/>
        </p:nvSpPr>
        <p:spPr>
          <a:xfrm flipH="1" rot="-5474261">
            <a:off x="6781449" y="4010572"/>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51" name="Google Shape;2051;p99"/>
          <p:cNvGrpSpPr/>
          <p:nvPr/>
        </p:nvGrpSpPr>
        <p:grpSpPr>
          <a:xfrm flipH="1" rot="-5471853">
            <a:off x="5528854" y="2878439"/>
            <a:ext cx="1133587" cy="1744532"/>
            <a:chOff x="-2098225" y="1379675"/>
            <a:chExt cx="1133566" cy="1744500"/>
          </a:xfrm>
        </p:grpSpPr>
        <p:sp>
          <p:nvSpPr>
            <p:cNvPr id="2052" name="Google Shape;2052;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53" name="Google Shape;2053;p99"/>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054" name="Google Shape;2054;p9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55" name="Google Shape;2055;p99"/>
          <p:cNvSpPr/>
          <p:nvPr/>
        </p:nvSpPr>
        <p:spPr>
          <a:xfrm flipH="1" rot="-74261">
            <a:off x="7669750" y="3777676"/>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56" name="Google Shape;2056;p99"/>
          <p:cNvGrpSpPr/>
          <p:nvPr/>
        </p:nvGrpSpPr>
        <p:grpSpPr>
          <a:xfrm flipH="1" rot="-71853">
            <a:off x="7654734" y="2218589"/>
            <a:ext cx="1037119" cy="1841000"/>
            <a:chOff x="-2098225" y="1379675"/>
            <a:chExt cx="1037100" cy="1840966"/>
          </a:xfrm>
        </p:grpSpPr>
        <p:sp>
          <p:nvSpPr>
            <p:cNvPr id="2057" name="Google Shape;2057;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58" name="Google Shape;2058;p99"/>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059" name="Google Shape;2059;p99"/>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grpSp>
        <p:nvGrpSpPr>
          <p:cNvPr id="2060" name="Google Shape;2060;p99"/>
          <p:cNvGrpSpPr/>
          <p:nvPr/>
        </p:nvGrpSpPr>
        <p:grpSpPr>
          <a:xfrm flipH="1" rot="-8948188">
            <a:off x="3113917" y="2842632"/>
            <a:ext cx="1133577" cy="1744517"/>
            <a:chOff x="-2098225" y="1379675"/>
            <a:chExt cx="1133566" cy="1744500"/>
          </a:xfrm>
        </p:grpSpPr>
        <p:sp>
          <p:nvSpPr>
            <p:cNvPr id="2061" name="Google Shape;2061;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62" name="Google Shape;2062;p99"/>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063" name="Google Shape;2063;p9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64" name="Google Shape;2064;p99"/>
          <p:cNvSpPr txBox="1"/>
          <p:nvPr>
            <p:ph idx="1" type="body"/>
          </p:nvPr>
        </p:nvSpPr>
        <p:spPr>
          <a:xfrm>
            <a:off x="32400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2065" name="Google Shape;2065;p99"/>
          <p:cNvSpPr txBox="1"/>
          <p:nvPr>
            <p:ph idx="1" type="body"/>
          </p:nvPr>
        </p:nvSpPr>
        <p:spPr>
          <a:xfrm>
            <a:off x="244775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2066" name="Google Shape;2066;p99"/>
          <p:cNvSpPr txBox="1"/>
          <p:nvPr>
            <p:ph idx="1" type="body"/>
          </p:nvPr>
        </p:nvSpPr>
        <p:spPr>
          <a:xfrm>
            <a:off x="5175100" y="134315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t>
            </a:r>
            <a:endParaRPr sz="1800"/>
          </a:p>
        </p:txBody>
      </p:sp>
      <p:sp>
        <p:nvSpPr>
          <p:cNvPr id="2067" name="Google Shape;2067;p99"/>
          <p:cNvSpPr txBox="1"/>
          <p:nvPr>
            <p:ph idx="1" type="body"/>
          </p:nvPr>
        </p:nvSpPr>
        <p:spPr>
          <a:xfrm>
            <a:off x="324000" y="33738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t>
            </a:r>
            <a:endParaRPr sz="1800"/>
          </a:p>
        </p:txBody>
      </p:sp>
      <p:sp>
        <p:nvSpPr>
          <p:cNvPr id="2068" name="Google Shape;2068;p99"/>
          <p:cNvSpPr txBox="1"/>
          <p:nvPr>
            <p:ph idx="1" type="body"/>
          </p:nvPr>
        </p:nvSpPr>
        <p:spPr>
          <a:xfrm>
            <a:off x="2861100" y="28973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a:t>
            </a:r>
            <a:endParaRPr sz="1800"/>
          </a:p>
        </p:txBody>
      </p:sp>
      <p:sp>
        <p:nvSpPr>
          <p:cNvPr id="2069" name="Google Shape;2069;p99"/>
          <p:cNvSpPr txBox="1"/>
          <p:nvPr>
            <p:ph idx="1" type="body"/>
          </p:nvPr>
        </p:nvSpPr>
        <p:spPr>
          <a:xfrm>
            <a:off x="5200138" y="29399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 </a:t>
            </a:r>
            <a:endParaRPr sz="1800"/>
          </a:p>
        </p:txBody>
      </p:sp>
      <p:sp>
        <p:nvSpPr>
          <p:cNvPr id="2070" name="Google Shape;2070;p99"/>
          <p:cNvSpPr txBox="1"/>
          <p:nvPr>
            <p:ph idx="1" type="body"/>
          </p:nvPr>
        </p:nvSpPr>
        <p:spPr>
          <a:xfrm>
            <a:off x="7076013" y="2639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 </a:t>
            </a:r>
            <a:endParaRPr sz="1800"/>
          </a:p>
        </p:txBody>
      </p:sp>
      <p:sp>
        <p:nvSpPr>
          <p:cNvPr id="2071" name="Google Shape;2071;p99"/>
          <p:cNvSpPr/>
          <p:nvPr/>
        </p:nvSpPr>
        <p:spPr>
          <a:xfrm>
            <a:off x="435968" y="2495550"/>
            <a:ext cx="777300" cy="777300"/>
          </a:xfrm>
          <a:prstGeom prst="arc">
            <a:avLst>
              <a:gd fmla="val 18261900"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2" name="Google Shape;2072;p99"/>
          <p:cNvSpPr/>
          <p:nvPr/>
        </p:nvSpPr>
        <p:spPr>
          <a:xfrm>
            <a:off x="4242082" y="1895590"/>
            <a:ext cx="777300" cy="777300"/>
          </a:xfrm>
          <a:prstGeom prst="arc">
            <a:avLst>
              <a:gd fmla="val 10382076" name="adj1"/>
              <a:gd fmla="val 1224246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3" name="Google Shape;2073;p99"/>
          <p:cNvSpPr/>
          <p:nvPr/>
        </p:nvSpPr>
        <p:spPr>
          <a:xfrm>
            <a:off x="4906029" y="1935087"/>
            <a:ext cx="777300" cy="777300"/>
          </a:xfrm>
          <a:prstGeom prst="arc">
            <a:avLst>
              <a:gd fmla="val 19568717"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4" name="Google Shape;2074;p99"/>
          <p:cNvSpPr/>
          <p:nvPr/>
        </p:nvSpPr>
        <p:spPr>
          <a:xfrm>
            <a:off x="2418035" y="3982732"/>
            <a:ext cx="777300" cy="777300"/>
          </a:xfrm>
          <a:prstGeom prst="arc">
            <a:avLst>
              <a:gd fmla="val 10759829" name="adj1"/>
              <a:gd fmla="val 1274089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5" name="Google Shape;2075;p99"/>
          <p:cNvSpPr/>
          <p:nvPr/>
        </p:nvSpPr>
        <p:spPr>
          <a:xfrm>
            <a:off x="3302516" y="4240640"/>
            <a:ext cx="777300" cy="777300"/>
          </a:xfrm>
          <a:prstGeom prst="arc">
            <a:avLst>
              <a:gd fmla="val 16247758" name="adj1"/>
              <a:gd fmla="val 1796722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6" name="Google Shape;2076;p99"/>
          <p:cNvSpPr/>
          <p:nvPr/>
        </p:nvSpPr>
        <p:spPr>
          <a:xfrm>
            <a:off x="6567330" y="2794690"/>
            <a:ext cx="777300" cy="777300"/>
          </a:xfrm>
          <a:prstGeom prst="arc">
            <a:avLst>
              <a:gd fmla="val 5286777" name="adj1"/>
              <a:gd fmla="val 845451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7" name="Google Shape;2077;p99"/>
          <p:cNvSpPr/>
          <p:nvPr/>
        </p:nvSpPr>
        <p:spPr>
          <a:xfrm>
            <a:off x="7248130" y="1895590"/>
            <a:ext cx="777300" cy="777300"/>
          </a:xfrm>
          <a:prstGeom prst="arc">
            <a:avLst>
              <a:gd fmla="val 3721787" name="adj1"/>
              <a:gd fmla="val 533252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8" name="Google Shape;2078;p99"/>
          <p:cNvSpPr txBox="1"/>
          <p:nvPr>
            <p:ph idx="4294967295" type="body"/>
          </p:nvPr>
        </p:nvSpPr>
        <p:spPr>
          <a:xfrm>
            <a:off x="3513600" y="2387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 cm</a:t>
            </a:r>
            <a:endParaRPr sz="1800"/>
          </a:p>
        </p:txBody>
      </p:sp>
      <p:sp>
        <p:nvSpPr>
          <p:cNvPr id="2079" name="Google Shape;2079;p99"/>
          <p:cNvSpPr txBox="1"/>
          <p:nvPr>
            <p:ph idx="4294967295" type="body"/>
          </p:nvPr>
        </p:nvSpPr>
        <p:spPr>
          <a:xfrm>
            <a:off x="5494800" y="144695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6.1 cm</a:t>
            </a:r>
            <a:endParaRPr sz="1800"/>
          </a:p>
        </p:txBody>
      </p:sp>
      <p:sp>
        <p:nvSpPr>
          <p:cNvPr id="2080" name="Google Shape;2080;p99"/>
          <p:cNvSpPr txBox="1"/>
          <p:nvPr>
            <p:ph idx="4294967295" type="body"/>
          </p:nvPr>
        </p:nvSpPr>
        <p:spPr>
          <a:xfrm>
            <a:off x="1539250" y="450899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7.1</a:t>
            </a:r>
            <a:r>
              <a:rPr lang="en-GB" sz="1800"/>
              <a:t> cm</a:t>
            </a:r>
            <a:endParaRPr sz="1800"/>
          </a:p>
        </p:txBody>
      </p:sp>
      <p:sp>
        <p:nvSpPr>
          <p:cNvPr id="2081" name="Google Shape;2081;p99"/>
          <p:cNvSpPr txBox="1"/>
          <p:nvPr>
            <p:ph idx="4294967295" type="body"/>
          </p:nvPr>
        </p:nvSpPr>
        <p:spPr>
          <a:xfrm>
            <a:off x="2904000" y="34538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 cm</a:t>
            </a:r>
            <a:endParaRPr sz="1800"/>
          </a:p>
        </p:txBody>
      </p:sp>
      <p:sp>
        <p:nvSpPr>
          <p:cNvPr id="2082" name="Google Shape;2082;p99"/>
          <p:cNvSpPr txBox="1"/>
          <p:nvPr>
            <p:ph idx="4294967295" type="body"/>
          </p:nvPr>
        </p:nvSpPr>
        <p:spPr>
          <a:xfrm>
            <a:off x="5932736" y="43682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7.9</a:t>
            </a:r>
            <a:r>
              <a:rPr lang="en-GB" sz="1800"/>
              <a:t> cm</a:t>
            </a:r>
            <a:endParaRPr sz="1800"/>
          </a:p>
        </p:txBody>
      </p:sp>
      <p:sp>
        <p:nvSpPr>
          <p:cNvPr id="2083" name="Google Shape;2083;p99"/>
          <p:cNvSpPr txBox="1"/>
          <p:nvPr>
            <p:ph idx="4294967295" type="body"/>
          </p:nvPr>
        </p:nvSpPr>
        <p:spPr>
          <a:xfrm>
            <a:off x="7857000" y="407628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2.2</a:t>
            </a:r>
            <a:r>
              <a:rPr lang="en-GB" sz="1800"/>
              <a:t> cm</a:t>
            </a:r>
            <a:endParaRPr sz="1800"/>
          </a:p>
        </p:txBody>
      </p:sp>
      <p:sp>
        <p:nvSpPr>
          <p:cNvPr id="2084" name="Google Shape;2084;p99"/>
          <p:cNvSpPr txBox="1"/>
          <p:nvPr>
            <p:ph idx="4294967295" type="body"/>
          </p:nvPr>
        </p:nvSpPr>
        <p:spPr>
          <a:xfrm>
            <a:off x="1183502" y="24529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85" name="Google Shape;2085;p99"/>
          <p:cNvSpPr txBox="1"/>
          <p:nvPr>
            <p:ph idx="4294967295" type="body"/>
          </p:nvPr>
        </p:nvSpPr>
        <p:spPr>
          <a:xfrm>
            <a:off x="3977993" y="2031763"/>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86" name="Google Shape;2086;p99"/>
          <p:cNvSpPr txBox="1"/>
          <p:nvPr>
            <p:ph idx="4294967295" type="body"/>
          </p:nvPr>
        </p:nvSpPr>
        <p:spPr>
          <a:xfrm>
            <a:off x="5761067" y="2027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87" name="Google Shape;2087;p99"/>
          <p:cNvSpPr txBox="1"/>
          <p:nvPr>
            <p:ph idx="4294967295" type="body"/>
          </p:nvPr>
        </p:nvSpPr>
        <p:spPr>
          <a:xfrm>
            <a:off x="2148417" y="407329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88" name="Google Shape;2088;p99"/>
          <p:cNvSpPr txBox="1"/>
          <p:nvPr>
            <p:ph idx="4294967295" type="body"/>
          </p:nvPr>
        </p:nvSpPr>
        <p:spPr>
          <a:xfrm>
            <a:off x="3703667" y="3932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89" name="Google Shape;2089;p99"/>
          <p:cNvSpPr txBox="1"/>
          <p:nvPr>
            <p:ph idx="4294967295" type="body"/>
          </p:nvPr>
        </p:nvSpPr>
        <p:spPr>
          <a:xfrm>
            <a:off x="6523067" y="3551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90" name="Google Shape;2090;p99"/>
          <p:cNvSpPr txBox="1"/>
          <p:nvPr>
            <p:ph idx="4294967295" type="body"/>
          </p:nvPr>
        </p:nvSpPr>
        <p:spPr>
          <a:xfrm>
            <a:off x="7684475" y="273765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r>
              <a:rPr lang="en-GB" sz="1800"/>
              <a:t>°</a:t>
            </a:r>
            <a:endParaRPr sz="1800"/>
          </a:p>
        </p:txBody>
      </p:sp>
      <p:sp>
        <p:nvSpPr>
          <p:cNvPr id="2091" name="Google Shape;2091;p99"/>
          <p:cNvSpPr txBox="1"/>
          <p:nvPr>
            <p:ph idx="4294967295" type="body"/>
          </p:nvPr>
        </p:nvSpPr>
        <p:spPr>
          <a:xfrm>
            <a:off x="521075" y="369449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cm</a:t>
            </a:r>
            <a:endParaRPr sz="1800"/>
          </a:p>
        </p:txBody>
      </p:sp>
      <p:sp>
        <p:nvSpPr>
          <p:cNvPr id="2092" name="Google Shape;2092;p99"/>
          <p:cNvSpPr txBox="1"/>
          <p:nvPr>
            <p:ph idx="4294967295" type="body"/>
          </p:nvPr>
        </p:nvSpPr>
        <p:spPr>
          <a:xfrm>
            <a:off x="1938542" y="193508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2093" name="Google Shape;2093;p99"/>
          <p:cNvSpPr txBox="1"/>
          <p:nvPr>
            <p:ph idx="4294967295" type="body"/>
          </p:nvPr>
        </p:nvSpPr>
        <p:spPr>
          <a:xfrm>
            <a:off x="3695125" y="138811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cm</a:t>
            </a:r>
            <a:endParaRPr sz="1800"/>
          </a:p>
        </p:txBody>
      </p:sp>
      <p:sp>
        <p:nvSpPr>
          <p:cNvPr id="2094" name="Google Shape;2094;p99"/>
          <p:cNvSpPr txBox="1"/>
          <p:nvPr>
            <p:ph idx="4294967295" type="body"/>
          </p:nvPr>
        </p:nvSpPr>
        <p:spPr>
          <a:xfrm>
            <a:off x="5889900" y="241129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6.8</a:t>
            </a:r>
            <a:r>
              <a:rPr lang="en-GB" sz="1800"/>
              <a:t> cm</a:t>
            </a:r>
            <a:endParaRPr sz="1800"/>
          </a:p>
        </p:txBody>
      </p:sp>
      <p:sp>
        <p:nvSpPr>
          <p:cNvPr id="2095" name="Google Shape;2095;p99"/>
          <p:cNvSpPr txBox="1"/>
          <p:nvPr>
            <p:ph idx="4294967295" type="body"/>
          </p:nvPr>
        </p:nvSpPr>
        <p:spPr>
          <a:xfrm>
            <a:off x="5454736" y="335166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8.8 cm</a:t>
            </a:r>
            <a:endParaRPr sz="1800"/>
          </a:p>
        </p:txBody>
      </p:sp>
      <p:sp>
        <p:nvSpPr>
          <p:cNvPr id="2096" name="Google Shape;2096;p99"/>
          <p:cNvSpPr txBox="1"/>
          <p:nvPr>
            <p:ph idx="4294967295" type="body"/>
          </p:nvPr>
        </p:nvSpPr>
        <p:spPr>
          <a:xfrm>
            <a:off x="4207137" y="394966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 cm</a:t>
            </a:r>
            <a:endParaRPr sz="1800"/>
          </a:p>
        </p:txBody>
      </p:sp>
      <p:sp>
        <p:nvSpPr>
          <p:cNvPr id="2097" name="Google Shape;2097;p99"/>
          <p:cNvSpPr txBox="1"/>
          <p:nvPr>
            <p:ph idx="4294967295" type="body"/>
          </p:nvPr>
        </p:nvSpPr>
        <p:spPr>
          <a:xfrm>
            <a:off x="8109900" y="261833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4.5 cm</a:t>
            </a:r>
            <a:endParaRPr sz="1800"/>
          </a:p>
        </p:txBody>
      </p:sp>
      <p:cxnSp>
        <p:nvCxnSpPr>
          <p:cNvPr id="2098" name="Google Shape;2098;p99"/>
          <p:cNvCxnSpPr/>
          <p:nvPr/>
        </p:nvCxnSpPr>
        <p:spPr>
          <a:xfrm rot="10800000">
            <a:off x="847050" y="2996300"/>
            <a:ext cx="975900" cy="0"/>
          </a:xfrm>
          <a:prstGeom prst="straightConnector1">
            <a:avLst/>
          </a:prstGeom>
          <a:noFill/>
          <a:ln cap="flat" cmpd="sng" w="28575">
            <a:solidFill>
              <a:schemeClr val="accent5"/>
            </a:solidFill>
            <a:prstDash val="solid"/>
            <a:round/>
            <a:headEnd len="med" w="med" type="triangle"/>
            <a:tailEnd len="med" w="med" type="triangle"/>
          </a:ln>
        </p:spPr>
      </p:cxnSp>
      <p:sp>
        <p:nvSpPr>
          <p:cNvPr id="2099" name="Google Shape;2099;p99"/>
          <p:cNvSpPr txBox="1"/>
          <p:nvPr>
            <p:ph idx="4294967295" type="body"/>
          </p:nvPr>
        </p:nvSpPr>
        <p:spPr>
          <a:xfrm>
            <a:off x="1077000" y="3029522"/>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5.5 cm</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2105" name="Google Shape;2105;p10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Calculate the size of the angle marked 𝜃 or the edge marked </a:t>
            </a:r>
            <a:r>
              <a:rPr i="1" lang="en-GB" sz="2000">
                <a:latin typeface="Times New Roman"/>
                <a:ea typeface="Times New Roman"/>
                <a:cs typeface="Times New Roman"/>
                <a:sym typeface="Times New Roman"/>
              </a:rPr>
              <a:t>y</a:t>
            </a:r>
            <a:r>
              <a:rPr lang="en-GB" sz="1800"/>
              <a:t>, giving your answer to 1d.p. </a:t>
            </a:r>
            <a:endParaRPr sz="1800"/>
          </a:p>
        </p:txBody>
      </p:sp>
      <p:sp>
        <p:nvSpPr>
          <p:cNvPr id="2106" name="Google Shape;2106;p100"/>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2107" name="Google Shape;2107;p100"/>
          <p:cNvSpPr txBox="1"/>
          <p:nvPr>
            <p:ph idx="1" type="body"/>
          </p:nvPr>
        </p:nvSpPr>
        <p:spPr>
          <a:xfrm>
            <a:off x="324000" y="14368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2108" name="Google Shape;2108;p100"/>
          <p:cNvSpPr txBox="1"/>
          <p:nvPr>
            <p:ph idx="1" type="body"/>
          </p:nvPr>
        </p:nvSpPr>
        <p:spPr>
          <a:xfrm>
            <a:off x="3819350" y="14368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2109" name="Google Shape;2109;p100"/>
          <p:cNvSpPr txBox="1"/>
          <p:nvPr>
            <p:ph idx="1" type="body"/>
          </p:nvPr>
        </p:nvSpPr>
        <p:spPr>
          <a:xfrm>
            <a:off x="324000" y="3306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t>
            </a:r>
            <a:endParaRPr sz="1800"/>
          </a:p>
        </p:txBody>
      </p:sp>
      <p:sp>
        <p:nvSpPr>
          <p:cNvPr id="2110" name="Google Shape;2110;p100"/>
          <p:cNvSpPr txBox="1"/>
          <p:nvPr>
            <p:ph idx="1" type="body"/>
          </p:nvPr>
        </p:nvSpPr>
        <p:spPr>
          <a:xfrm>
            <a:off x="3819350" y="3306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t>
            </a:r>
            <a:endParaRPr sz="1800"/>
          </a:p>
        </p:txBody>
      </p:sp>
      <p:grpSp>
        <p:nvGrpSpPr>
          <p:cNvPr id="2111" name="Google Shape;2111;p100"/>
          <p:cNvGrpSpPr/>
          <p:nvPr/>
        </p:nvGrpSpPr>
        <p:grpSpPr>
          <a:xfrm rot="5400000">
            <a:off x="1794180" y="1251043"/>
            <a:ext cx="1057366" cy="1784030"/>
            <a:chOff x="-2022025" y="1455875"/>
            <a:chExt cx="1057366" cy="1784030"/>
          </a:xfrm>
        </p:grpSpPr>
        <p:sp>
          <p:nvSpPr>
            <p:cNvPr id="2112" name="Google Shape;2112;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3" name="Google Shape;2113;p100"/>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14" name="Google Shape;2114;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15" name="Google Shape;2115;p100"/>
          <p:cNvSpPr/>
          <p:nvPr/>
        </p:nvSpPr>
        <p:spPr>
          <a:xfrm>
            <a:off x="1552075" y="23791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6" name="Google Shape;2116;p100"/>
          <p:cNvSpPr/>
          <p:nvPr/>
        </p:nvSpPr>
        <p:spPr>
          <a:xfrm>
            <a:off x="2850900" y="22171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7" name="Google Shape;2117;p100"/>
          <p:cNvSpPr txBox="1"/>
          <p:nvPr>
            <p:ph idx="4294967295" type="body"/>
          </p:nvPr>
        </p:nvSpPr>
        <p:spPr>
          <a:xfrm>
            <a:off x="2593630" y="2313418"/>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2118" name="Google Shape;2118;p100"/>
          <p:cNvSpPr txBox="1"/>
          <p:nvPr>
            <p:ph idx="4294967295" type="body"/>
          </p:nvPr>
        </p:nvSpPr>
        <p:spPr>
          <a:xfrm>
            <a:off x="838525" y="18955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a:t>
            </a:r>
            <a:r>
              <a:rPr lang="en-GB" sz="1800"/>
              <a:t>m</a:t>
            </a:r>
            <a:endParaRPr sz="1800"/>
          </a:p>
        </p:txBody>
      </p:sp>
      <p:sp>
        <p:nvSpPr>
          <p:cNvPr id="2119" name="Google Shape;2119;p100"/>
          <p:cNvSpPr txBox="1"/>
          <p:nvPr>
            <p:ph idx="4294967295" type="body"/>
          </p:nvPr>
        </p:nvSpPr>
        <p:spPr>
          <a:xfrm>
            <a:off x="2065975" y="267175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a:t>
            </a:r>
            <a:r>
              <a:rPr lang="en-GB" sz="1800"/>
              <a:t>m</a:t>
            </a:r>
            <a:endParaRPr sz="1800"/>
          </a:p>
        </p:txBody>
      </p:sp>
      <p:grpSp>
        <p:nvGrpSpPr>
          <p:cNvPr id="2120" name="Google Shape;2120;p100"/>
          <p:cNvGrpSpPr/>
          <p:nvPr/>
        </p:nvGrpSpPr>
        <p:grpSpPr>
          <a:xfrm flipH="1" rot="-5400000">
            <a:off x="5096937" y="1156508"/>
            <a:ext cx="1133566" cy="1744500"/>
            <a:chOff x="-2098225" y="1379675"/>
            <a:chExt cx="1133566" cy="1744500"/>
          </a:xfrm>
        </p:grpSpPr>
        <p:sp>
          <p:nvSpPr>
            <p:cNvPr id="2121" name="Google Shape;2121;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22" name="Google Shape;2122;p100"/>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23" name="Google Shape;2123;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24" name="Google Shape;2124;p100"/>
          <p:cNvSpPr txBox="1"/>
          <p:nvPr>
            <p:ph idx="4294967295" type="body"/>
          </p:nvPr>
        </p:nvSpPr>
        <p:spPr>
          <a:xfrm flipH="1">
            <a:off x="5299955" y="2224375"/>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a:t>
            </a:r>
            <a:r>
              <a:rPr lang="en-GB" sz="1800"/>
              <a:t>°</a:t>
            </a:r>
            <a:endParaRPr sz="1800"/>
          </a:p>
        </p:txBody>
      </p:sp>
      <p:sp>
        <p:nvSpPr>
          <p:cNvPr id="2125" name="Google Shape;2125;p100"/>
          <p:cNvSpPr txBox="1"/>
          <p:nvPr>
            <p:ph idx="4294967295" type="body"/>
          </p:nvPr>
        </p:nvSpPr>
        <p:spPr>
          <a:xfrm flipH="1">
            <a:off x="5385690" y="25826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r>
              <a:rPr lang="en-GB" sz="1800"/>
              <a:t> cm</a:t>
            </a:r>
            <a:endParaRPr sz="1800"/>
          </a:p>
        </p:txBody>
      </p:sp>
      <p:sp>
        <p:nvSpPr>
          <p:cNvPr id="2126" name="Google Shape;2126;p100"/>
          <p:cNvSpPr txBox="1"/>
          <p:nvPr>
            <p:ph idx="4294967295" type="body"/>
          </p:nvPr>
        </p:nvSpPr>
        <p:spPr>
          <a:xfrm flipH="1">
            <a:off x="5189467" y="160880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1800"/>
              <a:t> cm</a:t>
            </a:r>
            <a:endParaRPr sz="1800"/>
          </a:p>
        </p:txBody>
      </p:sp>
      <p:sp>
        <p:nvSpPr>
          <p:cNvPr id="2127" name="Google Shape;2127;p100"/>
          <p:cNvSpPr/>
          <p:nvPr/>
        </p:nvSpPr>
        <p:spPr>
          <a:xfrm flipH="1">
            <a:off x="4518378" y="21243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8" name="Google Shape;2128;p100"/>
          <p:cNvSpPr/>
          <p:nvPr/>
        </p:nvSpPr>
        <p:spPr>
          <a:xfrm>
            <a:off x="6343375" y="2301718"/>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29" name="Google Shape;2129;p100"/>
          <p:cNvGrpSpPr/>
          <p:nvPr/>
        </p:nvGrpSpPr>
        <p:grpSpPr>
          <a:xfrm rot="2341546">
            <a:off x="1446691" y="2748950"/>
            <a:ext cx="1057417" cy="1784115"/>
            <a:chOff x="-2022025" y="1455875"/>
            <a:chExt cx="1057366" cy="1784030"/>
          </a:xfrm>
        </p:grpSpPr>
        <p:sp>
          <p:nvSpPr>
            <p:cNvPr id="2130" name="Google Shape;2130;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31" name="Google Shape;2131;p100"/>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32" name="Google Shape;2132;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33" name="Google Shape;2133;p100"/>
          <p:cNvSpPr/>
          <p:nvPr/>
        </p:nvSpPr>
        <p:spPr>
          <a:xfrm rot="-3060342">
            <a:off x="1712779" y="4277940"/>
            <a:ext cx="192612" cy="192612"/>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4" name="Google Shape;2134;p100"/>
          <p:cNvSpPr/>
          <p:nvPr/>
        </p:nvSpPr>
        <p:spPr>
          <a:xfrm rot="-3058188">
            <a:off x="2517292" y="2849277"/>
            <a:ext cx="746511" cy="746511"/>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5" name="Google Shape;2135;p100"/>
          <p:cNvSpPr txBox="1"/>
          <p:nvPr>
            <p:ph idx="4294967295" type="body"/>
          </p:nvPr>
        </p:nvSpPr>
        <p:spPr>
          <a:xfrm>
            <a:off x="2193366" y="34435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2136" name="Google Shape;2136;p100"/>
          <p:cNvSpPr txBox="1"/>
          <p:nvPr>
            <p:ph idx="4294967295" type="body"/>
          </p:nvPr>
        </p:nvSpPr>
        <p:spPr>
          <a:xfrm>
            <a:off x="2365550" y="39984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5 cm</a:t>
            </a:r>
            <a:endParaRPr sz="1800"/>
          </a:p>
        </p:txBody>
      </p:sp>
      <p:sp>
        <p:nvSpPr>
          <p:cNvPr id="2137" name="Google Shape;2137;p100"/>
          <p:cNvSpPr txBox="1"/>
          <p:nvPr>
            <p:ph idx="4294967295" type="body"/>
          </p:nvPr>
        </p:nvSpPr>
        <p:spPr>
          <a:xfrm>
            <a:off x="925927" y="4270918"/>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i="1" lang="en-GB" sz="2000">
                <a:latin typeface="Times New Roman"/>
                <a:ea typeface="Times New Roman"/>
                <a:cs typeface="Times New Roman"/>
                <a:sym typeface="Times New Roman"/>
              </a:rPr>
              <a:t> </a:t>
            </a:r>
            <a:r>
              <a:rPr lang="en-GB" sz="1800"/>
              <a:t>cm</a:t>
            </a:r>
            <a:endParaRPr sz="1800"/>
          </a:p>
        </p:txBody>
      </p:sp>
      <p:grpSp>
        <p:nvGrpSpPr>
          <p:cNvPr id="2138" name="Google Shape;2138;p100"/>
          <p:cNvGrpSpPr/>
          <p:nvPr/>
        </p:nvGrpSpPr>
        <p:grpSpPr>
          <a:xfrm rot="-7260302">
            <a:off x="5049267" y="3389539"/>
            <a:ext cx="1037073" cy="1860182"/>
            <a:chOff x="-2098225" y="1379675"/>
            <a:chExt cx="1037100" cy="1860230"/>
          </a:xfrm>
        </p:grpSpPr>
        <p:sp>
          <p:nvSpPr>
            <p:cNvPr id="2139" name="Google Shape;2139;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0" name="Google Shape;2140;p100"/>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41" name="Google Shape;2141;p100"/>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2142" name="Google Shape;2142;p100"/>
          <p:cNvSpPr/>
          <p:nvPr/>
        </p:nvSpPr>
        <p:spPr>
          <a:xfrm rot="8937582">
            <a:off x="5866664" y="3497439"/>
            <a:ext cx="192576" cy="192576"/>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3" name="Google Shape;2143;p100"/>
          <p:cNvSpPr/>
          <p:nvPr/>
        </p:nvSpPr>
        <p:spPr>
          <a:xfrm rot="8940753">
            <a:off x="4180017" y="3933510"/>
            <a:ext cx="746431" cy="746431"/>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4" name="Google Shape;2144;p100"/>
          <p:cNvSpPr txBox="1"/>
          <p:nvPr>
            <p:ph idx="4294967295" type="body"/>
          </p:nvPr>
        </p:nvSpPr>
        <p:spPr>
          <a:xfrm>
            <a:off x="4957828" y="4021924"/>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42°</a:t>
            </a:r>
            <a:endParaRPr sz="1800"/>
          </a:p>
        </p:txBody>
      </p:sp>
      <p:sp>
        <p:nvSpPr>
          <p:cNvPr id="2145" name="Google Shape;2145;p100"/>
          <p:cNvSpPr txBox="1"/>
          <p:nvPr>
            <p:ph idx="4294967295" type="body"/>
          </p:nvPr>
        </p:nvSpPr>
        <p:spPr>
          <a:xfrm>
            <a:off x="5367894" y="4354321"/>
            <a:ext cx="615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1800"/>
              <a:t> mm</a:t>
            </a:r>
            <a:endParaRPr sz="1800"/>
          </a:p>
        </p:txBody>
      </p:sp>
      <p:sp>
        <p:nvSpPr>
          <p:cNvPr id="2146" name="Google Shape;2146;p100"/>
          <p:cNvSpPr txBox="1"/>
          <p:nvPr>
            <p:ph idx="4294967295" type="body"/>
          </p:nvPr>
        </p:nvSpPr>
        <p:spPr>
          <a:xfrm>
            <a:off x="6426475" y="3590000"/>
            <a:ext cx="81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r>
              <a:rPr lang="en-GB" sz="1800"/>
              <a:t> mm</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2152" name="Google Shape;2152;p10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length of the edge marked </a:t>
            </a:r>
            <a:r>
              <a:rPr i="1" lang="en-GB" sz="2000">
                <a:latin typeface="Times New Roman"/>
                <a:ea typeface="Times New Roman"/>
                <a:cs typeface="Times New Roman"/>
                <a:sym typeface="Times New Roman"/>
              </a:rPr>
              <a:t>x</a:t>
            </a:r>
            <a:r>
              <a:rPr lang="en-GB" sz="1800"/>
              <a:t>, giving your answer to 1d.p. </a:t>
            </a:r>
            <a:endParaRPr sz="1800"/>
          </a:p>
        </p:txBody>
      </p:sp>
      <p:sp>
        <p:nvSpPr>
          <p:cNvPr id="2153" name="Google Shape;2153;p101"/>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2154" name="Google Shape;2154;p101"/>
          <p:cNvSpPr/>
          <p:nvPr/>
        </p:nvSpPr>
        <p:spPr>
          <a:xfrm>
            <a:off x="1619399" y="27032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55" name="Google Shape;2155;p101"/>
          <p:cNvGrpSpPr/>
          <p:nvPr/>
        </p:nvGrpSpPr>
        <p:grpSpPr>
          <a:xfrm>
            <a:off x="776400" y="1152800"/>
            <a:ext cx="1037100" cy="1840966"/>
            <a:chOff x="-2098225" y="1379675"/>
            <a:chExt cx="1037100" cy="1840966"/>
          </a:xfrm>
        </p:grpSpPr>
        <p:sp>
          <p:nvSpPr>
            <p:cNvPr id="2156" name="Google Shape;2156;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57" name="Google Shape;2157;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58" name="Google Shape;2158;p101"/>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2159" name="Google Shape;2159;p101"/>
          <p:cNvSpPr/>
          <p:nvPr/>
        </p:nvSpPr>
        <p:spPr>
          <a:xfrm rot="5400000">
            <a:off x="2957565" y="2120899"/>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60" name="Google Shape;2160;p101"/>
          <p:cNvGrpSpPr/>
          <p:nvPr/>
        </p:nvGrpSpPr>
        <p:grpSpPr>
          <a:xfrm rot="5400000">
            <a:off x="3263033" y="972433"/>
            <a:ext cx="1133566" cy="1744500"/>
            <a:chOff x="-2098225" y="1379675"/>
            <a:chExt cx="1133566" cy="1744500"/>
          </a:xfrm>
        </p:grpSpPr>
        <p:sp>
          <p:nvSpPr>
            <p:cNvPr id="2161" name="Google Shape;2161;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62" name="Google Shape;2162;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63" name="Google Shape;2163;p10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64" name="Google Shape;2164;p101"/>
          <p:cNvSpPr/>
          <p:nvPr/>
        </p:nvSpPr>
        <p:spPr>
          <a:xfrm rot="-7245981">
            <a:off x="6555729" y="15115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65" name="Google Shape;2165;p101"/>
          <p:cNvGrpSpPr/>
          <p:nvPr/>
        </p:nvGrpSpPr>
        <p:grpSpPr>
          <a:xfrm rot="-7251812">
            <a:off x="5611857" y="1454373"/>
            <a:ext cx="1133577" cy="1744517"/>
            <a:chOff x="-2098225" y="1379675"/>
            <a:chExt cx="1133566" cy="1744500"/>
          </a:xfrm>
        </p:grpSpPr>
        <p:sp>
          <p:nvSpPr>
            <p:cNvPr id="2166" name="Google Shape;2166;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67" name="Google Shape;2167;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68" name="Google Shape;2168;p10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69" name="Google Shape;2169;p101"/>
          <p:cNvSpPr/>
          <p:nvPr/>
        </p:nvSpPr>
        <p:spPr>
          <a:xfrm flipH="1" rot="7245981">
            <a:off x="1346848" y="35689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70" name="Google Shape;2170;p101"/>
          <p:cNvGrpSpPr/>
          <p:nvPr/>
        </p:nvGrpSpPr>
        <p:grpSpPr>
          <a:xfrm flipH="1" rot="7251812">
            <a:off x="1334801" y="3424646"/>
            <a:ext cx="1057376" cy="1764783"/>
            <a:chOff x="-2022025" y="1455875"/>
            <a:chExt cx="1057366" cy="1764766"/>
          </a:xfrm>
        </p:grpSpPr>
        <p:sp>
          <p:nvSpPr>
            <p:cNvPr id="2171" name="Google Shape;2171;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72" name="Google Shape;2172;p101"/>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73" name="Google Shape;2173;p10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74" name="Google Shape;2174;p101"/>
          <p:cNvSpPr/>
          <p:nvPr/>
        </p:nvSpPr>
        <p:spPr>
          <a:xfrm flipH="1" rot="-8954019">
            <a:off x="4301691" y="3143687"/>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75" name="Google Shape;2175;p101"/>
          <p:cNvSpPr/>
          <p:nvPr/>
        </p:nvSpPr>
        <p:spPr>
          <a:xfrm flipH="1" rot="-5474261">
            <a:off x="6781449" y="4010572"/>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76" name="Google Shape;2176;p101"/>
          <p:cNvGrpSpPr/>
          <p:nvPr/>
        </p:nvGrpSpPr>
        <p:grpSpPr>
          <a:xfrm flipH="1" rot="-5471853">
            <a:off x="5528854" y="2878439"/>
            <a:ext cx="1133587" cy="1744532"/>
            <a:chOff x="-2098225" y="1379675"/>
            <a:chExt cx="1133566" cy="1744500"/>
          </a:xfrm>
        </p:grpSpPr>
        <p:sp>
          <p:nvSpPr>
            <p:cNvPr id="2177" name="Google Shape;2177;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78" name="Google Shape;2178;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79" name="Google Shape;2179;p10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80" name="Google Shape;2180;p101"/>
          <p:cNvSpPr/>
          <p:nvPr/>
        </p:nvSpPr>
        <p:spPr>
          <a:xfrm flipH="1" rot="-74261">
            <a:off x="7669750" y="3777676"/>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81" name="Google Shape;2181;p101"/>
          <p:cNvGrpSpPr/>
          <p:nvPr/>
        </p:nvGrpSpPr>
        <p:grpSpPr>
          <a:xfrm flipH="1" rot="-71853">
            <a:off x="7654734" y="2218589"/>
            <a:ext cx="1037119" cy="1841000"/>
            <a:chOff x="-2098225" y="1379675"/>
            <a:chExt cx="1037100" cy="1840966"/>
          </a:xfrm>
        </p:grpSpPr>
        <p:sp>
          <p:nvSpPr>
            <p:cNvPr id="2182" name="Google Shape;2182;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83" name="Google Shape;2183;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84" name="Google Shape;2184;p101"/>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grpSp>
        <p:nvGrpSpPr>
          <p:cNvPr id="2185" name="Google Shape;2185;p101"/>
          <p:cNvGrpSpPr/>
          <p:nvPr/>
        </p:nvGrpSpPr>
        <p:grpSpPr>
          <a:xfrm flipH="1" rot="-8948188">
            <a:off x="3113917" y="2842632"/>
            <a:ext cx="1133577" cy="1744517"/>
            <a:chOff x="-2098225" y="1379675"/>
            <a:chExt cx="1133566" cy="1744500"/>
          </a:xfrm>
        </p:grpSpPr>
        <p:sp>
          <p:nvSpPr>
            <p:cNvPr id="2186" name="Google Shape;2186;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87" name="Google Shape;2187;p101"/>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188" name="Google Shape;2188;p101"/>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89" name="Google Shape;2189;p101"/>
          <p:cNvSpPr txBox="1"/>
          <p:nvPr>
            <p:ph idx="1" type="body"/>
          </p:nvPr>
        </p:nvSpPr>
        <p:spPr>
          <a:xfrm>
            <a:off x="32400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2190" name="Google Shape;2190;p101"/>
          <p:cNvSpPr txBox="1"/>
          <p:nvPr>
            <p:ph idx="1" type="body"/>
          </p:nvPr>
        </p:nvSpPr>
        <p:spPr>
          <a:xfrm>
            <a:off x="244775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2191" name="Google Shape;2191;p101"/>
          <p:cNvSpPr txBox="1"/>
          <p:nvPr>
            <p:ph idx="1" type="body"/>
          </p:nvPr>
        </p:nvSpPr>
        <p:spPr>
          <a:xfrm>
            <a:off x="5175100" y="134315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t>
            </a:r>
            <a:endParaRPr sz="1800"/>
          </a:p>
        </p:txBody>
      </p:sp>
      <p:sp>
        <p:nvSpPr>
          <p:cNvPr id="2192" name="Google Shape;2192;p101"/>
          <p:cNvSpPr txBox="1"/>
          <p:nvPr>
            <p:ph idx="1" type="body"/>
          </p:nvPr>
        </p:nvSpPr>
        <p:spPr>
          <a:xfrm>
            <a:off x="324000" y="33738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t>
            </a:r>
            <a:endParaRPr sz="1800"/>
          </a:p>
        </p:txBody>
      </p:sp>
      <p:sp>
        <p:nvSpPr>
          <p:cNvPr id="2193" name="Google Shape;2193;p101"/>
          <p:cNvSpPr txBox="1"/>
          <p:nvPr>
            <p:ph idx="1" type="body"/>
          </p:nvPr>
        </p:nvSpPr>
        <p:spPr>
          <a:xfrm>
            <a:off x="2861100" y="28973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a:t>
            </a:r>
            <a:endParaRPr sz="1800"/>
          </a:p>
        </p:txBody>
      </p:sp>
      <p:sp>
        <p:nvSpPr>
          <p:cNvPr id="2194" name="Google Shape;2194;p101"/>
          <p:cNvSpPr txBox="1"/>
          <p:nvPr>
            <p:ph idx="1" type="body"/>
          </p:nvPr>
        </p:nvSpPr>
        <p:spPr>
          <a:xfrm>
            <a:off x="5200138" y="29399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 </a:t>
            </a:r>
            <a:endParaRPr sz="1800"/>
          </a:p>
        </p:txBody>
      </p:sp>
      <p:sp>
        <p:nvSpPr>
          <p:cNvPr id="2195" name="Google Shape;2195;p101"/>
          <p:cNvSpPr txBox="1"/>
          <p:nvPr>
            <p:ph idx="1" type="body"/>
          </p:nvPr>
        </p:nvSpPr>
        <p:spPr>
          <a:xfrm>
            <a:off x="7076013" y="2639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 </a:t>
            </a:r>
            <a:endParaRPr sz="1800"/>
          </a:p>
        </p:txBody>
      </p:sp>
      <p:sp>
        <p:nvSpPr>
          <p:cNvPr id="2196" name="Google Shape;2196;p101"/>
          <p:cNvSpPr/>
          <p:nvPr/>
        </p:nvSpPr>
        <p:spPr>
          <a:xfrm>
            <a:off x="435968" y="2495550"/>
            <a:ext cx="777300" cy="777300"/>
          </a:xfrm>
          <a:prstGeom prst="arc">
            <a:avLst>
              <a:gd fmla="val 18261900"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7" name="Google Shape;2197;p101"/>
          <p:cNvSpPr/>
          <p:nvPr/>
        </p:nvSpPr>
        <p:spPr>
          <a:xfrm>
            <a:off x="2575457" y="957502"/>
            <a:ext cx="777300" cy="777300"/>
          </a:xfrm>
          <a:prstGeom prst="arc">
            <a:avLst>
              <a:gd fmla="val 1904514" name="adj1"/>
              <a:gd fmla="val 548075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8" name="Google Shape;2198;p101"/>
          <p:cNvSpPr/>
          <p:nvPr/>
        </p:nvSpPr>
        <p:spPr>
          <a:xfrm>
            <a:off x="4906029" y="1935087"/>
            <a:ext cx="777300" cy="777300"/>
          </a:xfrm>
          <a:prstGeom prst="arc">
            <a:avLst>
              <a:gd fmla="val 19568717"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9" name="Google Shape;2199;p101"/>
          <p:cNvSpPr/>
          <p:nvPr/>
        </p:nvSpPr>
        <p:spPr>
          <a:xfrm>
            <a:off x="550707" y="3969890"/>
            <a:ext cx="777300" cy="777300"/>
          </a:xfrm>
          <a:prstGeom prst="arc">
            <a:avLst>
              <a:gd fmla="val 17901978"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0" name="Google Shape;2200;p101"/>
          <p:cNvSpPr/>
          <p:nvPr/>
        </p:nvSpPr>
        <p:spPr>
          <a:xfrm>
            <a:off x="3321780" y="2335640"/>
            <a:ext cx="777300" cy="777300"/>
          </a:xfrm>
          <a:prstGeom prst="arc">
            <a:avLst>
              <a:gd fmla="val 1814274" name="adj1"/>
              <a:gd fmla="val 531390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1" name="Google Shape;2201;p101"/>
          <p:cNvSpPr/>
          <p:nvPr/>
        </p:nvSpPr>
        <p:spPr>
          <a:xfrm>
            <a:off x="6567330" y="2794690"/>
            <a:ext cx="777300" cy="777300"/>
          </a:xfrm>
          <a:prstGeom prst="arc">
            <a:avLst>
              <a:gd fmla="val 5286777" name="adj1"/>
              <a:gd fmla="val 845451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2" name="Google Shape;2202;p101"/>
          <p:cNvSpPr/>
          <p:nvPr/>
        </p:nvSpPr>
        <p:spPr>
          <a:xfrm>
            <a:off x="8238730" y="3571990"/>
            <a:ext cx="777300" cy="777300"/>
          </a:xfrm>
          <a:prstGeom prst="arc">
            <a:avLst>
              <a:gd fmla="val 10809261" name="adj1"/>
              <a:gd fmla="val 1430711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3" name="Google Shape;2203;p101"/>
          <p:cNvSpPr txBox="1"/>
          <p:nvPr>
            <p:ph idx="4294967295" type="body"/>
          </p:nvPr>
        </p:nvSpPr>
        <p:spPr>
          <a:xfrm>
            <a:off x="1008075" y="298172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5.5</a:t>
            </a:r>
            <a:r>
              <a:rPr i="1" lang="en-GB" sz="2000">
                <a:latin typeface="Times New Roman"/>
                <a:ea typeface="Times New Roman"/>
                <a:cs typeface="Times New Roman"/>
                <a:sym typeface="Times New Roman"/>
              </a:rPr>
              <a:t> </a:t>
            </a:r>
            <a:r>
              <a:rPr lang="en-GB" sz="1800"/>
              <a:t>cm</a:t>
            </a:r>
            <a:endParaRPr sz="1800"/>
          </a:p>
        </p:txBody>
      </p:sp>
      <p:sp>
        <p:nvSpPr>
          <p:cNvPr id="2204" name="Google Shape;2204;p101"/>
          <p:cNvSpPr txBox="1"/>
          <p:nvPr>
            <p:ph idx="4294967295" type="body"/>
          </p:nvPr>
        </p:nvSpPr>
        <p:spPr>
          <a:xfrm>
            <a:off x="3767676" y="1406350"/>
            <a:ext cx="77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7.9</a:t>
            </a:r>
            <a:r>
              <a:rPr i="1" lang="en-GB" sz="2000">
                <a:latin typeface="Times New Roman"/>
                <a:ea typeface="Times New Roman"/>
                <a:cs typeface="Times New Roman"/>
                <a:sym typeface="Times New Roman"/>
              </a:rPr>
              <a:t> </a:t>
            </a:r>
            <a:r>
              <a:rPr lang="en-GB" sz="1800"/>
              <a:t>cm</a:t>
            </a:r>
            <a:endParaRPr sz="1800"/>
          </a:p>
        </p:txBody>
      </p:sp>
      <p:sp>
        <p:nvSpPr>
          <p:cNvPr id="2205" name="Google Shape;2205;p101"/>
          <p:cNvSpPr txBox="1"/>
          <p:nvPr>
            <p:ph idx="4294967295" type="body"/>
          </p:nvPr>
        </p:nvSpPr>
        <p:spPr>
          <a:xfrm>
            <a:off x="5901276" y="2396950"/>
            <a:ext cx="8082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6.7</a:t>
            </a:r>
            <a:r>
              <a:rPr i="1" lang="en-GB" sz="2000">
                <a:latin typeface="Times New Roman"/>
                <a:ea typeface="Times New Roman"/>
                <a:cs typeface="Times New Roman"/>
                <a:sym typeface="Times New Roman"/>
              </a:rPr>
              <a:t> </a:t>
            </a:r>
            <a:r>
              <a:rPr lang="en-GB" sz="1800"/>
              <a:t>cm</a:t>
            </a:r>
            <a:endParaRPr sz="1800"/>
          </a:p>
        </p:txBody>
      </p:sp>
      <p:sp>
        <p:nvSpPr>
          <p:cNvPr id="2206" name="Google Shape;2206;p101"/>
          <p:cNvSpPr txBox="1"/>
          <p:nvPr>
            <p:ph idx="4294967295" type="body"/>
          </p:nvPr>
        </p:nvSpPr>
        <p:spPr>
          <a:xfrm>
            <a:off x="458964" y="3640973"/>
            <a:ext cx="654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1.1</a:t>
            </a:r>
            <a:r>
              <a:rPr i="1" lang="en-GB" sz="2000">
                <a:latin typeface="Times New Roman"/>
                <a:ea typeface="Times New Roman"/>
                <a:cs typeface="Times New Roman"/>
                <a:sym typeface="Times New Roman"/>
              </a:rPr>
              <a:t> </a:t>
            </a:r>
            <a:r>
              <a:rPr lang="en-GB" sz="1800"/>
              <a:t>cm</a:t>
            </a:r>
            <a:endParaRPr sz="1800"/>
          </a:p>
        </p:txBody>
      </p:sp>
      <p:sp>
        <p:nvSpPr>
          <p:cNvPr id="2207" name="Google Shape;2207;p101"/>
          <p:cNvSpPr txBox="1"/>
          <p:nvPr>
            <p:ph idx="4294967295" type="body"/>
          </p:nvPr>
        </p:nvSpPr>
        <p:spPr>
          <a:xfrm>
            <a:off x="4205599" y="38695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9.2</a:t>
            </a:r>
            <a:r>
              <a:rPr i="1" lang="en-GB" sz="2000">
                <a:latin typeface="Times New Roman"/>
                <a:ea typeface="Times New Roman"/>
                <a:cs typeface="Times New Roman"/>
                <a:sym typeface="Times New Roman"/>
              </a:rPr>
              <a:t> </a:t>
            </a:r>
            <a:r>
              <a:rPr lang="en-GB" sz="1800"/>
              <a:t>cm</a:t>
            </a:r>
            <a:endParaRPr sz="1800"/>
          </a:p>
        </p:txBody>
      </p:sp>
      <p:sp>
        <p:nvSpPr>
          <p:cNvPr id="2208" name="Google Shape;2208;p101"/>
          <p:cNvSpPr txBox="1"/>
          <p:nvPr>
            <p:ph idx="4294967295" type="body"/>
          </p:nvPr>
        </p:nvSpPr>
        <p:spPr>
          <a:xfrm>
            <a:off x="5442306" y="3336175"/>
            <a:ext cx="8082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9.3</a:t>
            </a:r>
            <a:r>
              <a:rPr i="1" lang="en-GB" sz="2000">
                <a:latin typeface="Times New Roman"/>
                <a:ea typeface="Times New Roman"/>
                <a:cs typeface="Times New Roman"/>
                <a:sym typeface="Times New Roman"/>
              </a:rPr>
              <a:t> </a:t>
            </a:r>
            <a:r>
              <a:rPr lang="en-GB" sz="1800"/>
              <a:t>cm</a:t>
            </a:r>
            <a:endParaRPr sz="1800"/>
          </a:p>
        </p:txBody>
      </p:sp>
      <p:sp>
        <p:nvSpPr>
          <p:cNvPr id="2209" name="Google Shape;2209;p101"/>
          <p:cNvSpPr txBox="1"/>
          <p:nvPr>
            <p:ph idx="4294967295" type="body"/>
          </p:nvPr>
        </p:nvSpPr>
        <p:spPr>
          <a:xfrm>
            <a:off x="8244199" y="2497975"/>
            <a:ext cx="777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12.9</a:t>
            </a:r>
            <a:r>
              <a:rPr i="1" lang="en-GB" sz="2000">
                <a:latin typeface="Times New Roman"/>
                <a:ea typeface="Times New Roman"/>
                <a:cs typeface="Times New Roman"/>
                <a:sym typeface="Times New Roman"/>
              </a:rPr>
              <a:t> </a:t>
            </a:r>
            <a:r>
              <a:rPr lang="en-GB" sz="1800"/>
              <a:t>cm</a:t>
            </a:r>
            <a:endParaRPr sz="1800"/>
          </a:p>
        </p:txBody>
      </p:sp>
      <p:sp>
        <p:nvSpPr>
          <p:cNvPr id="2210" name="Google Shape;2210;p101"/>
          <p:cNvSpPr txBox="1"/>
          <p:nvPr>
            <p:ph idx="4294967295" type="body"/>
          </p:nvPr>
        </p:nvSpPr>
        <p:spPr>
          <a:xfrm>
            <a:off x="618000" y="173891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17 cm</a:t>
            </a:r>
            <a:endParaRPr sz="1800"/>
          </a:p>
        </p:txBody>
      </p:sp>
      <p:sp>
        <p:nvSpPr>
          <p:cNvPr id="2211" name="Google Shape;2211;p101"/>
          <p:cNvSpPr txBox="1"/>
          <p:nvPr>
            <p:ph idx="4294967295" type="body"/>
          </p:nvPr>
        </p:nvSpPr>
        <p:spPr>
          <a:xfrm>
            <a:off x="3513600" y="2387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 cm</a:t>
            </a:r>
            <a:endParaRPr sz="1800"/>
          </a:p>
        </p:txBody>
      </p:sp>
      <p:sp>
        <p:nvSpPr>
          <p:cNvPr id="2212" name="Google Shape;2212;p101"/>
          <p:cNvSpPr txBox="1"/>
          <p:nvPr>
            <p:ph idx="4294967295" type="body"/>
          </p:nvPr>
        </p:nvSpPr>
        <p:spPr>
          <a:xfrm>
            <a:off x="5494800" y="152315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2213" name="Google Shape;2213;p101"/>
          <p:cNvSpPr txBox="1"/>
          <p:nvPr>
            <p:ph idx="4294967295" type="body"/>
          </p:nvPr>
        </p:nvSpPr>
        <p:spPr>
          <a:xfrm>
            <a:off x="2065800" y="347952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2214" name="Google Shape;2214;p101"/>
          <p:cNvSpPr txBox="1"/>
          <p:nvPr>
            <p:ph idx="4294967295" type="body"/>
          </p:nvPr>
        </p:nvSpPr>
        <p:spPr>
          <a:xfrm>
            <a:off x="2904000" y="34538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 cm</a:t>
            </a:r>
            <a:endParaRPr sz="1800"/>
          </a:p>
        </p:txBody>
      </p:sp>
      <p:sp>
        <p:nvSpPr>
          <p:cNvPr id="2215" name="Google Shape;2215;p101"/>
          <p:cNvSpPr txBox="1"/>
          <p:nvPr>
            <p:ph idx="4294967295" type="body"/>
          </p:nvPr>
        </p:nvSpPr>
        <p:spPr>
          <a:xfrm>
            <a:off x="5932736" y="4292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2216" name="Google Shape;2216;p101"/>
          <p:cNvSpPr txBox="1"/>
          <p:nvPr>
            <p:ph idx="4294967295" type="body"/>
          </p:nvPr>
        </p:nvSpPr>
        <p:spPr>
          <a:xfrm>
            <a:off x="7857000" y="407628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cm</a:t>
            </a:r>
            <a:endParaRPr sz="1800"/>
          </a:p>
        </p:txBody>
      </p:sp>
      <p:sp>
        <p:nvSpPr>
          <p:cNvPr id="2217" name="Google Shape;2217;p101"/>
          <p:cNvSpPr txBox="1"/>
          <p:nvPr>
            <p:ph idx="4294967295" type="body"/>
          </p:nvPr>
        </p:nvSpPr>
        <p:spPr>
          <a:xfrm>
            <a:off x="1183502" y="24529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71°</a:t>
            </a:r>
            <a:endParaRPr sz="1800"/>
          </a:p>
        </p:txBody>
      </p:sp>
      <p:sp>
        <p:nvSpPr>
          <p:cNvPr id="2218" name="Google Shape;2218;p101"/>
          <p:cNvSpPr txBox="1"/>
          <p:nvPr>
            <p:ph idx="4294967295" type="body"/>
          </p:nvPr>
        </p:nvSpPr>
        <p:spPr>
          <a:xfrm>
            <a:off x="3088502" y="16909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63°</a:t>
            </a:r>
            <a:endParaRPr sz="1800"/>
          </a:p>
        </p:txBody>
      </p:sp>
      <p:sp>
        <p:nvSpPr>
          <p:cNvPr id="2219" name="Google Shape;2219;p101"/>
          <p:cNvSpPr txBox="1"/>
          <p:nvPr>
            <p:ph idx="4294967295" type="body"/>
          </p:nvPr>
        </p:nvSpPr>
        <p:spPr>
          <a:xfrm>
            <a:off x="5761067" y="2027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a:t>
            </a:r>
            <a:endParaRPr sz="1800"/>
          </a:p>
        </p:txBody>
      </p:sp>
      <p:sp>
        <p:nvSpPr>
          <p:cNvPr id="2220" name="Google Shape;2220;p101"/>
          <p:cNvSpPr txBox="1"/>
          <p:nvPr>
            <p:ph idx="4294967295" type="body"/>
          </p:nvPr>
        </p:nvSpPr>
        <p:spPr>
          <a:xfrm>
            <a:off x="1341467" y="3932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79°</a:t>
            </a:r>
            <a:endParaRPr sz="1800"/>
          </a:p>
        </p:txBody>
      </p:sp>
      <p:sp>
        <p:nvSpPr>
          <p:cNvPr id="2221" name="Google Shape;2221;p101"/>
          <p:cNvSpPr txBox="1"/>
          <p:nvPr>
            <p:ph idx="4294967295" type="body"/>
          </p:nvPr>
        </p:nvSpPr>
        <p:spPr>
          <a:xfrm>
            <a:off x="3779867" y="30946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57°</a:t>
            </a:r>
            <a:endParaRPr sz="1800"/>
          </a:p>
        </p:txBody>
      </p:sp>
      <p:sp>
        <p:nvSpPr>
          <p:cNvPr id="2222" name="Google Shape;2222;p101"/>
          <p:cNvSpPr txBox="1"/>
          <p:nvPr>
            <p:ph idx="4294967295" type="body"/>
          </p:nvPr>
        </p:nvSpPr>
        <p:spPr>
          <a:xfrm>
            <a:off x="6523067" y="3551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59°</a:t>
            </a:r>
            <a:endParaRPr sz="1800"/>
          </a:p>
        </p:txBody>
      </p:sp>
      <p:sp>
        <p:nvSpPr>
          <p:cNvPr id="2223" name="Google Shape;2223;p101"/>
          <p:cNvSpPr txBox="1"/>
          <p:nvPr>
            <p:ph idx="4294967295" type="body"/>
          </p:nvPr>
        </p:nvSpPr>
        <p:spPr>
          <a:xfrm>
            <a:off x="7970867" y="3551882"/>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72°</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2229" name="Google Shape;2229;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Calculate the size of the angle marked 𝜃, giving your answer to 1d.p. </a:t>
            </a:r>
            <a:endParaRPr sz="1800"/>
          </a:p>
        </p:txBody>
      </p:sp>
      <p:sp>
        <p:nvSpPr>
          <p:cNvPr id="2230" name="Google Shape;2230;p102"/>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2231" name="Google Shape;2231;p102"/>
          <p:cNvSpPr/>
          <p:nvPr/>
        </p:nvSpPr>
        <p:spPr>
          <a:xfrm>
            <a:off x="1619399" y="27032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32" name="Google Shape;2232;p102"/>
          <p:cNvGrpSpPr/>
          <p:nvPr/>
        </p:nvGrpSpPr>
        <p:grpSpPr>
          <a:xfrm>
            <a:off x="847050" y="1229000"/>
            <a:ext cx="1078650" cy="1767300"/>
            <a:chOff x="-2027575" y="1455875"/>
            <a:chExt cx="1078650" cy="1767300"/>
          </a:xfrm>
        </p:grpSpPr>
        <p:sp>
          <p:nvSpPr>
            <p:cNvPr id="2233" name="Google Shape;2233;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34" name="Google Shape;2234;p102"/>
            <p:cNvCxnSpPr/>
            <p:nvPr/>
          </p:nvCxnSpPr>
          <p:spPr>
            <a:xfrm rot="10800000">
              <a:off x="-2027575" y="3223175"/>
              <a:ext cx="975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235" name="Google Shape;2235;p102"/>
            <p:cNvCxnSpPr/>
            <p:nvPr/>
          </p:nvCxnSpPr>
          <p:spPr>
            <a:xfrm rot="10800000">
              <a:off x="-948925" y="1463450"/>
              <a:ext cx="0" cy="1656900"/>
            </a:xfrm>
            <a:prstGeom prst="straightConnector1">
              <a:avLst/>
            </a:prstGeom>
            <a:noFill/>
            <a:ln cap="flat" cmpd="sng" w="28575">
              <a:solidFill>
                <a:schemeClr val="accent5"/>
              </a:solidFill>
              <a:prstDash val="solid"/>
              <a:round/>
              <a:headEnd len="med" w="med" type="triangle"/>
              <a:tailEnd len="med" w="med" type="triangle"/>
            </a:ln>
          </p:spPr>
        </p:cxnSp>
      </p:grpSp>
      <p:sp>
        <p:nvSpPr>
          <p:cNvPr id="2236" name="Google Shape;2236;p102"/>
          <p:cNvSpPr/>
          <p:nvPr/>
        </p:nvSpPr>
        <p:spPr>
          <a:xfrm rot="5400000">
            <a:off x="2957565" y="2120899"/>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37" name="Google Shape;2237;p102"/>
          <p:cNvGrpSpPr/>
          <p:nvPr/>
        </p:nvGrpSpPr>
        <p:grpSpPr>
          <a:xfrm rot="5400000">
            <a:off x="3263033" y="972433"/>
            <a:ext cx="1133566" cy="1744500"/>
            <a:chOff x="-2098225" y="1379675"/>
            <a:chExt cx="1133566" cy="1744500"/>
          </a:xfrm>
        </p:grpSpPr>
        <p:sp>
          <p:nvSpPr>
            <p:cNvPr id="2238" name="Google Shape;2238;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39" name="Google Shape;2239;p10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240" name="Google Shape;2240;p102"/>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41" name="Google Shape;2241;p102"/>
          <p:cNvSpPr/>
          <p:nvPr/>
        </p:nvSpPr>
        <p:spPr>
          <a:xfrm rot="-7245981">
            <a:off x="6555729" y="15115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42" name="Google Shape;2242;p102"/>
          <p:cNvGrpSpPr/>
          <p:nvPr/>
        </p:nvGrpSpPr>
        <p:grpSpPr>
          <a:xfrm rot="-7251812">
            <a:off x="5611857" y="1454373"/>
            <a:ext cx="1133577" cy="1744517"/>
            <a:chOff x="-2098225" y="1379675"/>
            <a:chExt cx="1133566" cy="1744500"/>
          </a:xfrm>
        </p:grpSpPr>
        <p:sp>
          <p:nvSpPr>
            <p:cNvPr id="2243" name="Google Shape;2243;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44" name="Google Shape;2244;p10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245" name="Google Shape;2245;p102"/>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46" name="Google Shape;2246;p102"/>
          <p:cNvSpPr/>
          <p:nvPr/>
        </p:nvSpPr>
        <p:spPr>
          <a:xfrm flipH="1" rot="7245981">
            <a:off x="1346848" y="3568926"/>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47" name="Google Shape;2247;p102"/>
          <p:cNvGrpSpPr/>
          <p:nvPr/>
        </p:nvGrpSpPr>
        <p:grpSpPr>
          <a:xfrm flipH="1" rot="7251812">
            <a:off x="1294384" y="3502306"/>
            <a:ext cx="1070042" cy="1808241"/>
            <a:chOff x="-2131157" y="1412418"/>
            <a:chExt cx="1070032" cy="1808223"/>
          </a:xfrm>
        </p:grpSpPr>
        <p:sp>
          <p:nvSpPr>
            <p:cNvPr id="2248" name="Google Shape;2248;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49" name="Google Shape;2249;p102"/>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250" name="Google Shape;2250;p102"/>
            <p:cNvCxnSpPr/>
            <p:nvPr/>
          </p:nvCxnSpPr>
          <p:spPr>
            <a:xfrm flipH="1" rot="7251591">
              <a:off x="-2580261" y="2220440"/>
              <a:ext cx="1900808" cy="32156"/>
            </a:xfrm>
            <a:prstGeom prst="straightConnector1">
              <a:avLst/>
            </a:prstGeom>
            <a:noFill/>
            <a:ln cap="flat" cmpd="sng" w="28575">
              <a:solidFill>
                <a:schemeClr val="accent5"/>
              </a:solidFill>
              <a:prstDash val="solid"/>
              <a:round/>
              <a:headEnd len="med" w="med" type="triangle"/>
              <a:tailEnd len="med" w="med" type="triangle"/>
            </a:ln>
          </p:spPr>
        </p:cxnSp>
      </p:grpSp>
      <p:sp>
        <p:nvSpPr>
          <p:cNvPr id="2251" name="Google Shape;2251;p102"/>
          <p:cNvSpPr/>
          <p:nvPr/>
        </p:nvSpPr>
        <p:spPr>
          <a:xfrm flipH="1" rot="-8954019">
            <a:off x="4301691" y="3143687"/>
            <a:ext cx="194120" cy="19412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2" name="Google Shape;2252;p102"/>
          <p:cNvSpPr/>
          <p:nvPr/>
        </p:nvSpPr>
        <p:spPr>
          <a:xfrm flipH="1" rot="-5474261">
            <a:off x="6781449" y="4010572"/>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53" name="Google Shape;2253;p102"/>
          <p:cNvGrpSpPr/>
          <p:nvPr/>
        </p:nvGrpSpPr>
        <p:grpSpPr>
          <a:xfrm flipH="1" rot="-5471853">
            <a:off x="5528854" y="2878439"/>
            <a:ext cx="1133587" cy="1744532"/>
            <a:chOff x="-2098225" y="1379675"/>
            <a:chExt cx="1133566" cy="1744500"/>
          </a:xfrm>
        </p:grpSpPr>
        <p:sp>
          <p:nvSpPr>
            <p:cNvPr id="2254" name="Google Shape;2254;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55" name="Google Shape;2255;p10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256" name="Google Shape;2256;p102"/>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57" name="Google Shape;2257;p102"/>
          <p:cNvSpPr/>
          <p:nvPr/>
        </p:nvSpPr>
        <p:spPr>
          <a:xfrm flipH="1" rot="-74261">
            <a:off x="7669750" y="3777676"/>
            <a:ext cx="194445" cy="194445"/>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58" name="Google Shape;2258;p102"/>
          <p:cNvGrpSpPr/>
          <p:nvPr/>
        </p:nvGrpSpPr>
        <p:grpSpPr>
          <a:xfrm flipH="1" rot="-71853">
            <a:off x="7654734" y="2218589"/>
            <a:ext cx="1037119" cy="1841000"/>
            <a:chOff x="-2098225" y="1379675"/>
            <a:chExt cx="1037100" cy="1840966"/>
          </a:xfrm>
        </p:grpSpPr>
        <p:sp>
          <p:nvSpPr>
            <p:cNvPr id="2259" name="Google Shape;2259;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60" name="Google Shape;2260;p10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261" name="Google Shape;2261;p102"/>
            <p:cNvCxnSpPr/>
            <p:nvPr/>
          </p:nvCxnSpPr>
          <p:spPr>
            <a:xfrm rot="10800000">
              <a:off x="-2022025" y="3220641"/>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2262" name="Google Shape;2262;p102"/>
          <p:cNvSpPr txBox="1"/>
          <p:nvPr>
            <p:ph idx="1" type="body"/>
          </p:nvPr>
        </p:nvSpPr>
        <p:spPr>
          <a:xfrm>
            <a:off x="32400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2263" name="Google Shape;2263;p102"/>
          <p:cNvSpPr txBox="1"/>
          <p:nvPr>
            <p:ph idx="1" type="body"/>
          </p:nvPr>
        </p:nvSpPr>
        <p:spPr>
          <a:xfrm>
            <a:off x="2447750" y="12844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2264" name="Google Shape;2264;p102"/>
          <p:cNvSpPr txBox="1"/>
          <p:nvPr>
            <p:ph idx="1" type="body"/>
          </p:nvPr>
        </p:nvSpPr>
        <p:spPr>
          <a:xfrm>
            <a:off x="5175100" y="134315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t>
            </a:r>
            <a:endParaRPr sz="1800"/>
          </a:p>
        </p:txBody>
      </p:sp>
      <p:grpSp>
        <p:nvGrpSpPr>
          <p:cNvPr id="2265" name="Google Shape;2265;p102"/>
          <p:cNvGrpSpPr/>
          <p:nvPr/>
        </p:nvGrpSpPr>
        <p:grpSpPr>
          <a:xfrm flipH="1" rot="-8948188">
            <a:off x="3113917" y="2842632"/>
            <a:ext cx="1133577" cy="1744517"/>
            <a:chOff x="-2098225" y="1379675"/>
            <a:chExt cx="1133566" cy="1744500"/>
          </a:xfrm>
        </p:grpSpPr>
        <p:sp>
          <p:nvSpPr>
            <p:cNvPr id="2266" name="Google Shape;2266;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67" name="Google Shape;2267;p102"/>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268" name="Google Shape;2268;p102"/>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69" name="Google Shape;2269;p102"/>
          <p:cNvSpPr txBox="1"/>
          <p:nvPr>
            <p:ph idx="1" type="body"/>
          </p:nvPr>
        </p:nvSpPr>
        <p:spPr>
          <a:xfrm>
            <a:off x="324000" y="33738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t>
            </a:r>
            <a:endParaRPr sz="1800"/>
          </a:p>
        </p:txBody>
      </p:sp>
      <p:sp>
        <p:nvSpPr>
          <p:cNvPr id="2270" name="Google Shape;2270;p102"/>
          <p:cNvSpPr txBox="1"/>
          <p:nvPr>
            <p:ph idx="1" type="body"/>
          </p:nvPr>
        </p:nvSpPr>
        <p:spPr>
          <a:xfrm>
            <a:off x="2861100" y="28973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a:t>
            </a:r>
            <a:endParaRPr sz="1800"/>
          </a:p>
        </p:txBody>
      </p:sp>
      <p:sp>
        <p:nvSpPr>
          <p:cNvPr id="2271" name="Google Shape;2271;p102"/>
          <p:cNvSpPr txBox="1"/>
          <p:nvPr>
            <p:ph idx="1" type="body"/>
          </p:nvPr>
        </p:nvSpPr>
        <p:spPr>
          <a:xfrm>
            <a:off x="5200138" y="29399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 </a:t>
            </a:r>
            <a:endParaRPr sz="1800"/>
          </a:p>
        </p:txBody>
      </p:sp>
      <p:sp>
        <p:nvSpPr>
          <p:cNvPr id="2272" name="Google Shape;2272;p102"/>
          <p:cNvSpPr txBox="1"/>
          <p:nvPr>
            <p:ph idx="1" type="body"/>
          </p:nvPr>
        </p:nvSpPr>
        <p:spPr>
          <a:xfrm>
            <a:off x="7076013" y="2639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 </a:t>
            </a:r>
            <a:endParaRPr sz="1800"/>
          </a:p>
        </p:txBody>
      </p:sp>
      <p:sp>
        <p:nvSpPr>
          <p:cNvPr id="2273" name="Google Shape;2273;p102"/>
          <p:cNvSpPr/>
          <p:nvPr/>
        </p:nvSpPr>
        <p:spPr>
          <a:xfrm>
            <a:off x="435968" y="2495550"/>
            <a:ext cx="777300" cy="777300"/>
          </a:xfrm>
          <a:prstGeom prst="arc">
            <a:avLst>
              <a:gd fmla="val 18261900"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4" name="Google Shape;2274;p102"/>
          <p:cNvSpPr/>
          <p:nvPr/>
        </p:nvSpPr>
        <p:spPr>
          <a:xfrm>
            <a:off x="4242082" y="1895590"/>
            <a:ext cx="777300" cy="777300"/>
          </a:xfrm>
          <a:prstGeom prst="arc">
            <a:avLst>
              <a:gd fmla="val 10382076" name="adj1"/>
              <a:gd fmla="val 1224246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5" name="Google Shape;2275;p102"/>
          <p:cNvSpPr/>
          <p:nvPr/>
        </p:nvSpPr>
        <p:spPr>
          <a:xfrm>
            <a:off x="4906029" y="1935087"/>
            <a:ext cx="777300" cy="777300"/>
          </a:xfrm>
          <a:prstGeom prst="arc">
            <a:avLst>
              <a:gd fmla="val 19568717" name="adj1"/>
              <a:gd fmla="val 2158920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6" name="Google Shape;2276;p102"/>
          <p:cNvSpPr/>
          <p:nvPr/>
        </p:nvSpPr>
        <p:spPr>
          <a:xfrm>
            <a:off x="2418035" y="3982732"/>
            <a:ext cx="777300" cy="777300"/>
          </a:xfrm>
          <a:prstGeom prst="arc">
            <a:avLst>
              <a:gd fmla="val 10759829" name="adj1"/>
              <a:gd fmla="val 1274089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7" name="Google Shape;2277;p102"/>
          <p:cNvSpPr/>
          <p:nvPr/>
        </p:nvSpPr>
        <p:spPr>
          <a:xfrm>
            <a:off x="3302516" y="4240640"/>
            <a:ext cx="777300" cy="777300"/>
          </a:xfrm>
          <a:prstGeom prst="arc">
            <a:avLst>
              <a:gd fmla="val 16247758" name="adj1"/>
              <a:gd fmla="val 1796722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8" name="Google Shape;2278;p102"/>
          <p:cNvSpPr/>
          <p:nvPr/>
        </p:nvSpPr>
        <p:spPr>
          <a:xfrm>
            <a:off x="6567330" y="2794690"/>
            <a:ext cx="777300" cy="777300"/>
          </a:xfrm>
          <a:prstGeom prst="arc">
            <a:avLst>
              <a:gd fmla="val 5286777" name="adj1"/>
              <a:gd fmla="val 845451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9" name="Google Shape;2279;p102"/>
          <p:cNvSpPr/>
          <p:nvPr/>
        </p:nvSpPr>
        <p:spPr>
          <a:xfrm>
            <a:off x="7248130" y="1895590"/>
            <a:ext cx="777300" cy="777300"/>
          </a:xfrm>
          <a:prstGeom prst="arc">
            <a:avLst>
              <a:gd fmla="val 3721787" name="adj1"/>
              <a:gd fmla="val 533252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0" name="Google Shape;2280;p102"/>
          <p:cNvSpPr txBox="1"/>
          <p:nvPr>
            <p:ph idx="4294967295" type="body"/>
          </p:nvPr>
        </p:nvSpPr>
        <p:spPr>
          <a:xfrm>
            <a:off x="1077000" y="3029522"/>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5.5</a:t>
            </a:r>
            <a:r>
              <a:rPr lang="en-GB" sz="1800"/>
              <a:t> cm</a:t>
            </a:r>
            <a:endParaRPr sz="1800"/>
          </a:p>
        </p:txBody>
      </p:sp>
      <p:sp>
        <p:nvSpPr>
          <p:cNvPr id="2281" name="Google Shape;2281;p102"/>
          <p:cNvSpPr txBox="1"/>
          <p:nvPr>
            <p:ph idx="4294967295" type="body"/>
          </p:nvPr>
        </p:nvSpPr>
        <p:spPr>
          <a:xfrm>
            <a:off x="3513600" y="23870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2282" name="Google Shape;2282;p102"/>
          <p:cNvSpPr txBox="1"/>
          <p:nvPr>
            <p:ph idx="4294967295" type="body"/>
          </p:nvPr>
        </p:nvSpPr>
        <p:spPr>
          <a:xfrm>
            <a:off x="5494800" y="144695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6.1 cm</a:t>
            </a:r>
            <a:endParaRPr sz="1800"/>
          </a:p>
        </p:txBody>
      </p:sp>
      <p:sp>
        <p:nvSpPr>
          <p:cNvPr id="2283" name="Google Shape;2283;p102"/>
          <p:cNvSpPr txBox="1"/>
          <p:nvPr>
            <p:ph idx="4294967295" type="body"/>
          </p:nvPr>
        </p:nvSpPr>
        <p:spPr>
          <a:xfrm>
            <a:off x="1539250" y="450899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7.1 cm</a:t>
            </a:r>
            <a:endParaRPr sz="1800"/>
          </a:p>
        </p:txBody>
      </p:sp>
      <p:sp>
        <p:nvSpPr>
          <p:cNvPr id="2284" name="Google Shape;2284;p102"/>
          <p:cNvSpPr txBox="1"/>
          <p:nvPr>
            <p:ph idx="4294967295" type="body"/>
          </p:nvPr>
        </p:nvSpPr>
        <p:spPr>
          <a:xfrm>
            <a:off x="2904000" y="34538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 cm</a:t>
            </a:r>
            <a:endParaRPr sz="1800"/>
          </a:p>
        </p:txBody>
      </p:sp>
      <p:sp>
        <p:nvSpPr>
          <p:cNvPr id="2285" name="Google Shape;2285;p102"/>
          <p:cNvSpPr txBox="1"/>
          <p:nvPr>
            <p:ph idx="4294967295" type="body"/>
          </p:nvPr>
        </p:nvSpPr>
        <p:spPr>
          <a:xfrm>
            <a:off x="5932736" y="436823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7.9 cm</a:t>
            </a:r>
            <a:endParaRPr sz="1800"/>
          </a:p>
        </p:txBody>
      </p:sp>
      <p:sp>
        <p:nvSpPr>
          <p:cNvPr id="2286" name="Google Shape;2286;p102"/>
          <p:cNvSpPr txBox="1"/>
          <p:nvPr>
            <p:ph idx="4294967295" type="body"/>
          </p:nvPr>
        </p:nvSpPr>
        <p:spPr>
          <a:xfrm>
            <a:off x="7857000" y="407628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2.2 cm</a:t>
            </a:r>
            <a:endParaRPr sz="1800"/>
          </a:p>
        </p:txBody>
      </p:sp>
      <p:sp>
        <p:nvSpPr>
          <p:cNvPr id="2287" name="Google Shape;2287;p102"/>
          <p:cNvSpPr txBox="1"/>
          <p:nvPr>
            <p:ph idx="4294967295" type="body"/>
          </p:nvPr>
        </p:nvSpPr>
        <p:spPr>
          <a:xfrm>
            <a:off x="1164235" y="2376775"/>
            <a:ext cx="575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65.4</a:t>
            </a:r>
            <a:r>
              <a:rPr lang="en-GB" sz="2000">
                <a:latin typeface="Kalam"/>
                <a:ea typeface="Kalam"/>
                <a:cs typeface="Kalam"/>
                <a:sym typeface="Kalam"/>
              </a:rPr>
              <a:t>°</a:t>
            </a:r>
            <a:endParaRPr sz="2000">
              <a:latin typeface="Kalam"/>
              <a:ea typeface="Kalam"/>
              <a:cs typeface="Kalam"/>
              <a:sym typeface="Kalam"/>
            </a:endParaRPr>
          </a:p>
        </p:txBody>
      </p:sp>
      <p:sp>
        <p:nvSpPr>
          <p:cNvPr id="2288" name="Google Shape;2288;p102"/>
          <p:cNvSpPr txBox="1"/>
          <p:nvPr>
            <p:ph idx="4294967295" type="body"/>
          </p:nvPr>
        </p:nvSpPr>
        <p:spPr>
          <a:xfrm>
            <a:off x="521075" y="3694498"/>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cm</a:t>
            </a:r>
            <a:endParaRPr sz="1800"/>
          </a:p>
        </p:txBody>
      </p:sp>
      <p:sp>
        <p:nvSpPr>
          <p:cNvPr id="2289" name="Google Shape;2289;p102"/>
          <p:cNvSpPr txBox="1"/>
          <p:nvPr>
            <p:ph idx="4294967295" type="body"/>
          </p:nvPr>
        </p:nvSpPr>
        <p:spPr>
          <a:xfrm>
            <a:off x="1938542" y="193508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2290" name="Google Shape;2290;p102"/>
          <p:cNvSpPr txBox="1"/>
          <p:nvPr>
            <p:ph idx="4294967295" type="body"/>
          </p:nvPr>
        </p:nvSpPr>
        <p:spPr>
          <a:xfrm>
            <a:off x="3695125" y="138811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2291" name="Google Shape;2291;p102"/>
          <p:cNvSpPr txBox="1"/>
          <p:nvPr>
            <p:ph idx="4294967295" type="body"/>
          </p:nvPr>
        </p:nvSpPr>
        <p:spPr>
          <a:xfrm>
            <a:off x="5889900" y="2411290"/>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6.8 cm</a:t>
            </a:r>
            <a:endParaRPr sz="1800"/>
          </a:p>
        </p:txBody>
      </p:sp>
      <p:sp>
        <p:nvSpPr>
          <p:cNvPr id="2292" name="Google Shape;2292;p102"/>
          <p:cNvSpPr txBox="1"/>
          <p:nvPr>
            <p:ph idx="4294967295" type="body"/>
          </p:nvPr>
        </p:nvSpPr>
        <p:spPr>
          <a:xfrm>
            <a:off x="5454736" y="335166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8.8 cm</a:t>
            </a:r>
            <a:endParaRPr sz="1800"/>
          </a:p>
        </p:txBody>
      </p:sp>
      <p:sp>
        <p:nvSpPr>
          <p:cNvPr id="2293" name="Google Shape;2293;p102"/>
          <p:cNvSpPr txBox="1"/>
          <p:nvPr>
            <p:ph idx="4294967295" type="body"/>
          </p:nvPr>
        </p:nvSpPr>
        <p:spPr>
          <a:xfrm>
            <a:off x="4207137" y="3949663"/>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11 cm</a:t>
            </a:r>
            <a:endParaRPr sz="1800"/>
          </a:p>
        </p:txBody>
      </p:sp>
      <p:sp>
        <p:nvSpPr>
          <p:cNvPr id="2294" name="Google Shape;2294;p102"/>
          <p:cNvSpPr txBox="1"/>
          <p:nvPr>
            <p:ph idx="4294967295" type="body"/>
          </p:nvPr>
        </p:nvSpPr>
        <p:spPr>
          <a:xfrm>
            <a:off x="8109900" y="2618331"/>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4.5 cm</a:t>
            </a:r>
            <a:endParaRPr sz="1800"/>
          </a:p>
        </p:txBody>
      </p:sp>
      <p:sp>
        <p:nvSpPr>
          <p:cNvPr id="2295" name="Google Shape;2295;p102"/>
          <p:cNvSpPr txBox="1"/>
          <p:nvPr>
            <p:ph idx="4294967295" type="body"/>
          </p:nvPr>
        </p:nvSpPr>
        <p:spPr>
          <a:xfrm>
            <a:off x="3613728" y="2044605"/>
            <a:ext cx="575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27.3</a:t>
            </a:r>
            <a:r>
              <a:rPr lang="en-GB" sz="2000">
                <a:latin typeface="Kalam"/>
                <a:ea typeface="Kalam"/>
                <a:cs typeface="Kalam"/>
                <a:sym typeface="Kalam"/>
              </a:rPr>
              <a:t>°</a:t>
            </a:r>
            <a:endParaRPr sz="2000">
              <a:latin typeface="Kalam"/>
              <a:ea typeface="Kalam"/>
              <a:cs typeface="Kalam"/>
              <a:sym typeface="Kalam"/>
            </a:endParaRPr>
          </a:p>
        </p:txBody>
      </p:sp>
      <p:sp>
        <p:nvSpPr>
          <p:cNvPr id="2296" name="Google Shape;2296;p102"/>
          <p:cNvSpPr txBox="1"/>
          <p:nvPr>
            <p:ph idx="4294967295" type="body"/>
          </p:nvPr>
        </p:nvSpPr>
        <p:spPr>
          <a:xfrm>
            <a:off x="5721651" y="2031775"/>
            <a:ext cx="679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26.2</a:t>
            </a:r>
            <a:r>
              <a:rPr lang="en-GB" sz="2000">
                <a:latin typeface="Kalam"/>
                <a:ea typeface="Kalam"/>
                <a:cs typeface="Kalam"/>
                <a:sym typeface="Kalam"/>
              </a:rPr>
              <a:t>°</a:t>
            </a:r>
            <a:endParaRPr sz="2000">
              <a:latin typeface="Kalam"/>
              <a:ea typeface="Kalam"/>
              <a:cs typeface="Kalam"/>
              <a:sym typeface="Kalam"/>
            </a:endParaRPr>
          </a:p>
        </p:txBody>
      </p:sp>
      <p:sp>
        <p:nvSpPr>
          <p:cNvPr id="2297" name="Google Shape;2297;p102"/>
          <p:cNvSpPr txBox="1"/>
          <p:nvPr>
            <p:ph idx="4294967295" type="body"/>
          </p:nvPr>
        </p:nvSpPr>
        <p:spPr>
          <a:xfrm>
            <a:off x="6350507" y="3555763"/>
            <a:ext cx="575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63.9</a:t>
            </a:r>
            <a:r>
              <a:rPr lang="en-GB" sz="2000">
                <a:latin typeface="Kalam"/>
                <a:ea typeface="Kalam"/>
                <a:cs typeface="Kalam"/>
                <a:sym typeface="Kalam"/>
              </a:rPr>
              <a:t>°</a:t>
            </a:r>
            <a:endParaRPr sz="2000">
              <a:latin typeface="Kalam"/>
              <a:ea typeface="Kalam"/>
              <a:cs typeface="Kalam"/>
              <a:sym typeface="Kalam"/>
            </a:endParaRPr>
          </a:p>
        </p:txBody>
      </p:sp>
      <p:sp>
        <p:nvSpPr>
          <p:cNvPr id="2298" name="Google Shape;2298;p102"/>
          <p:cNvSpPr txBox="1"/>
          <p:nvPr>
            <p:ph idx="4294967295" type="body"/>
          </p:nvPr>
        </p:nvSpPr>
        <p:spPr>
          <a:xfrm>
            <a:off x="3962625" y="4393975"/>
            <a:ext cx="6522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32.2</a:t>
            </a:r>
            <a:r>
              <a:rPr lang="en-GB" sz="2000">
                <a:latin typeface="Kalam"/>
                <a:ea typeface="Kalam"/>
                <a:cs typeface="Kalam"/>
                <a:sym typeface="Kalam"/>
              </a:rPr>
              <a:t>°</a:t>
            </a:r>
            <a:endParaRPr sz="2000">
              <a:latin typeface="Kalam"/>
              <a:ea typeface="Kalam"/>
              <a:cs typeface="Kalam"/>
              <a:sym typeface="Kalam"/>
            </a:endParaRPr>
          </a:p>
        </p:txBody>
      </p:sp>
      <p:sp>
        <p:nvSpPr>
          <p:cNvPr id="2299" name="Google Shape;2299;p102"/>
          <p:cNvSpPr txBox="1"/>
          <p:nvPr>
            <p:ph idx="4294967295" type="body"/>
          </p:nvPr>
        </p:nvSpPr>
        <p:spPr>
          <a:xfrm>
            <a:off x="1829022" y="4089163"/>
            <a:ext cx="575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25.0</a:t>
            </a:r>
            <a:r>
              <a:rPr lang="en-GB" sz="2000">
                <a:latin typeface="Kalam"/>
                <a:ea typeface="Kalam"/>
                <a:cs typeface="Kalam"/>
                <a:sym typeface="Kalam"/>
              </a:rPr>
              <a:t>°</a:t>
            </a:r>
            <a:endParaRPr sz="2000">
              <a:latin typeface="Kalam"/>
              <a:ea typeface="Kalam"/>
              <a:cs typeface="Kalam"/>
              <a:sym typeface="Kalam"/>
            </a:endParaRPr>
          </a:p>
        </p:txBody>
      </p:sp>
      <p:sp>
        <p:nvSpPr>
          <p:cNvPr id="2300" name="Google Shape;2300;p102"/>
          <p:cNvSpPr txBox="1"/>
          <p:nvPr>
            <p:ph idx="4294967295" type="body"/>
          </p:nvPr>
        </p:nvSpPr>
        <p:spPr>
          <a:xfrm>
            <a:off x="7925022" y="2260363"/>
            <a:ext cx="575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29.3</a:t>
            </a:r>
            <a:r>
              <a:rPr lang="en-GB" sz="2000">
                <a:latin typeface="Kalam"/>
                <a:ea typeface="Kalam"/>
                <a:cs typeface="Kalam"/>
                <a:sym typeface="Kalam"/>
              </a:rPr>
              <a:t>°</a:t>
            </a:r>
            <a:endParaRPr sz="2000">
              <a:latin typeface="Kalam"/>
              <a:ea typeface="Kalam"/>
              <a:cs typeface="Kalam"/>
              <a:sym typeface="Kala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ratios</a:t>
            </a:r>
            <a:endParaRPr/>
          </a:p>
        </p:txBody>
      </p:sp>
      <p:sp>
        <p:nvSpPr>
          <p:cNvPr id="2306" name="Google Shape;2306;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Calculate the size of the angle marked 𝜃 or the edge marked </a:t>
            </a:r>
            <a:r>
              <a:rPr i="1" lang="en-GB" sz="2000">
                <a:latin typeface="Times New Roman"/>
                <a:ea typeface="Times New Roman"/>
                <a:cs typeface="Times New Roman"/>
                <a:sym typeface="Times New Roman"/>
              </a:rPr>
              <a:t>y</a:t>
            </a:r>
            <a:r>
              <a:rPr lang="en-GB" sz="1800"/>
              <a:t>, giving your answer to 1d.p. </a:t>
            </a:r>
            <a:endParaRPr sz="1800"/>
          </a:p>
        </p:txBody>
      </p:sp>
      <p:sp>
        <p:nvSpPr>
          <p:cNvPr id="2307" name="Google Shape;2307;p103"/>
          <p:cNvSpPr/>
          <p:nvPr/>
        </p:nvSpPr>
        <p:spPr>
          <a:xfrm>
            <a:off x="7237850" y="1181525"/>
            <a:ext cx="1464000" cy="526500"/>
          </a:xfrm>
          <a:prstGeom prst="rect">
            <a:avLst/>
          </a:prstGeom>
          <a:noFill/>
          <a:ln cap="flat" cmpd="sng" w="9525">
            <a:solidFill>
              <a:schemeClr val="dk1"/>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exend"/>
                <a:ea typeface="Lexend"/>
                <a:cs typeface="Lexend"/>
                <a:sym typeface="Lexend"/>
              </a:rPr>
              <a:t>Diagrams not drawn to scale</a:t>
            </a:r>
            <a:endParaRPr>
              <a:latin typeface="Lexend"/>
              <a:ea typeface="Lexend"/>
              <a:cs typeface="Lexend"/>
              <a:sym typeface="Lexend"/>
            </a:endParaRPr>
          </a:p>
        </p:txBody>
      </p:sp>
      <p:sp>
        <p:nvSpPr>
          <p:cNvPr id="2308" name="Google Shape;2308;p103"/>
          <p:cNvSpPr txBox="1"/>
          <p:nvPr>
            <p:ph idx="1" type="body"/>
          </p:nvPr>
        </p:nvSpPr>
        <p:spPr>
          <a:xfrm>
            <a:off x="324000" y="14368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2309" name="Google Shape;2309;p103"/>
          <p:cNvSpPr txBox="1"/>
          <p:nvPr>
            <p:ph idx="1" type="body"/>
          </p:nvPr>
        </p:nvSpPr>
        <p:spPr>
          <a:xfrm>
            <a:off x="3819350" y="1436825"/>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2310" name="Google Shape;2310;p103"/>
          <p:cNvSpPr txBox="1"/>
          <p:nvPr>
            <p:ph idx="1" type="body"/>
          </p:nvPr>
        </p:nvSpPr>
        <p:spPr>
          <a:xfrm>
            <a:off x="324000" y="3306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t>
            </a:r>
            <a:endParaRPr sz="1800"/>
          </a:p>
        </p:txBody>
      </p:sp>
      <p:sp>
        <p:nvSpPr>
          <p:cNvPr id="2311" name="Google Shape;2311;p103"/>
          <p:cNvSpPr txBox="1"/>
          <p:nvPr>
            <p:ph idx="1" type="body"/>
          </p:nvPr>
        </p:nvSpPr>
        <p:spPr>
          <a:xfrm>
            <a:off x="3819350" y="3306900"/>
            <a:ext cx="26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t>
            </a:r>
            <a:endParaRPr sz="1800"/>
          </a:p>
        </p:txBody>
      </p:sp>
      <p:grpSp>
        <p:nvGrpSpPr>
          <p:cNvPr id="2312" name="Google Shape;2312;p103"/>
          <p:cNvGrpSpPr/>
          <p:nvPr/>
        </p:nvGrpSpPr>
        <p:grpSpPr>
          <a:xfrm rot="5400000">
            <a:off x="1794180" y="1251043"/>
            <a:ext cx="1057366" cy="1784030"/>
            <a:chOff x="-2022025" y="1455875"/>
            <a:chExt cx="1057366" cy="1784030"/>
          </a:xfrm>
        </p:grpSpPr>
        <p:sp>
          <p:nvSpPr>
            <p:cNvPr id="2313" name="Google Shape;2313;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14" name="Google Shape;2314;p103"/>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315" name="Google Shape;2315;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16" name="Google Shape;2316;p103"/>
          <p:cNvSpPr/>
          <p:nvPr/>
        </p:nvSpPr>
        <p:spPr>
          <a:xfrm>
            <a:off x="1552075" y="2379150"/>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7" name="Google Shape;2317;p103"/>
          <p:cNvSpPr/>
          <p:nvPr/>
        </p:nvSpPr>
        <p:spPr>
          <a:xfrm>
            <a:off x="2850900" y="2217100"/>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8" name="Google Shape;2318;p103"/>
          <p:cNvSpPr txBox="1"/>
          <p:nvPr>
            <p:ph idx="4294967295" type="body"/>
          </p:nvPr>
        </p:nvSpPr>
        <p:spPr>
          <a:xfrm>
            <a:off x="2206862" y="2294161"/>
            <a:ext cx="81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24.0°</a:t>
            </a:r>
            <a:endParaRPr sz="2000">
              <a:latin typeface="Kalam"/>
              <a:ea typeface="Kalam"/>
              <a:cs typeface="Kalam"/>
              <a:sym typeface="Kalam"/>
            </a:endParaRPr>
          </a:p>
        </p:txBody>
      </p:sp>
      <p:sp>
        <p:nvSpPr>
          <p:cNvPr id="2319" name="Google Shape;2319;p103"/>
          <p:cNvSpPr txBox="1"/>
          <p:nvPr>
            <p:ph idx="4294967295" type="body"/>
          </p:nvPr>
        </p:nvSpPr>
        <p:spPr>
          <a:xfrm>
            <a:off x="838525" y="18955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m</a:t>
            </a:r>
            <a:endParaRPr sz="1800"/>
          </a:p>
        </p:txBody>
      </p:sp>
      <p:sp>
        <p:nvSpPr>
          <p:cNvPr id="2320" name="Google Shape;2320;p103"/>
          <p:cNvSpPr txBox="1"/>
          <p:nvPr>
            <p:ph idx="4294967295" type="body"/>
          </p:nvPr>
        </p:nvSpPr>
        <p:spPr>
          <a:xfrm>
            <a:off x="2065975" y="267175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m</a:t>
            </a:r>
            <a:endParaRPr sz="1800"/>
          </a:p>
        </p:txBody>
      </p:sp>
      <p:grpSp>
        <p:nvGrpSpPr>
          <p:cNvPr id="2321" name="Google Shape;2321;p103"/>
          <p:cNvGrpSpPr/>
          <p:nvPr/>
        </p:nvGrpSpPr>
        <p:grpSpPr>
          <a:xfrm flipH="1" rot="-5400000">
            <a:off x="5096937" y="1156508"/>
            <a:ext cx="1133566" cy="1744500"/>
            <a:chOff x="-2098225" y="1379675"/>
            <a:chExt cx="1133566" cy="1744500"/>
          </a:xfrm>
        </p:grpSpPr>
        <p:sp>
          <p:nvSpPr>
            <p:cNvPr id="2322" name="Google Shape;2322;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23" name="Google Shape;2323;p103"/>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324" name="Google Shape;2324;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25" name="Google Shape;2325;p103"/>
          <p:cNvSpPr txBox="1"/>
          <p:nvPr>
            <p:ph idx="4294967295" type="body"/>
          </p:nvPr>
        </p:nvSpPr>
        <p:spPr>
          <a:xfrm flipH="1">
            <a:off x="5299955" y="2224375"/>
            <a:ext cx="4641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a:t>
            </a:r>
            <a:endParaRPr sz="1800"/>
          </a:p>
        </p:txBody>
      </p:sp>
      <p:sp>
        <p:nvSpPr>
          <p:cNvPr id="2326" name="Google Shape;2326;p103"/>
          <p:cNvSpPr txBox="1"/>
          <p:nvPr>
            <p:ph idx="4294967295" type="body"/>
          </p:nvPr>
        </p:nvSpPr>
        <p:spPr>
          <a:xfrm flipH="1">
            <a:off x="5385690" y="2582675"/>
            <a:ext cx="7338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2327" name="Google Shape;2327;p103"/>
          <p:cNvSpPr txBox="1"/>
          <p:nvPr>
            <p:ph idx="4294967295" type="body"/>
          </p:nvPr>
        </p:nvSpPr>
        <p:spPr>
          <a:xfrm flipH="1">
            <a:off x="4989076" y="1608800"/>
            <a:ext cx="858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6.6</a:t>
            </a:r>
            <a:r>
              <a:rPr lang="en-GB" sz="1800"/>
              <a:t> cm</a:t>
            </a:r>
            <a:endParaRPr sz="1800"/>
          </a:p>
        </p:txBody>
      </p:sp>
      <p:sp>
        <p:nvSpPr>
          <p:cNvPr id="2328" name="Google Shape;2328;p103"/>
          <p:cNvSpPr/>
          <p:nvPr/>
        </p:nvSpPr>
        <p:spPr>
          <a:xfrm flipH="1">
            <a:off x="4518378" y="2124335"/>
            <a:ext cx="746400" cy="746400"/>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29" name="Google Shape;2329;p103"/>
          <p:cNvSpPr/>
          <p:nvPr/>
        </p:nvSpPr>
        <p:spPr>
          <a:xfrm>
            <a:off x="6343375" y="2301718"/>
            <a:ext cx="192600" cy="192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330" name="Google Shape;2330;p103"/>
          <p:cNvGrpSpPr/>
          <p:nvPr/>
        </p:nvGrpSpPr>
        <p:grpSpPr>
          <a:xfrm rot="2341546">
            <a:off x="1446691" y="2748950"/>
            <a:ext cx="1057417" cy="1784115"/>
            <a:chOff x="-2022025" y="1455875"/>
            <a:chExt cx="1057366" cy="1784030"/>
          </a:xfrm>
        </p:grpSpPr>
        <p:sp>
          <p:nvSpPr>
            <p:cNvPr id="2331" name="Google Shape;2331;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32" name="Google Shape;2332;p103"/>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333" name="Google Shape;2333;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34" name="Google Shape;2334;p103"/>
          <p:cNvSpPr/>
          <p:nvPr/>
        </p:nvSpPr>
        <p:spPr>
          <a:xfrm rot="-3060342">
            <a:off x="1712779" y="4277940"/>
            <a:ext cx="192612" cy="192612"/>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5" name="Google Shape;2335;p103"/>
          <p:cNvSpPr/>
          <p:nvPr/>
        </p:nvSpPr>
        <p:spPr>
          <a:xfrm rot="-3058188">
            <a:off x="2517292" y="2849277"/>
            <a:ext cx="746511" cy="746511"/>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6" name="Google Shape;2336;p103"/>
          <p:cNvSpPr txBox="1"/>
          <p:nvPr>
            <p:ph idx="4294967295" type="body"/>
          </p:nvPr>
        </p:nvSpPr>
        <p:spPr>
          <a:xfrm>
            <a:off x="2193366" y="3443575"/>
            <a:ext cx="4119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29°</a:t>
            </a:r>
            <a:endParaRPr sz="1800"/>
          </a:p>
        </p:txBody>
      </p:sp>
      <p:sp>
        <p:nvSpPr>
          <p:cNvPr id="2337" name="Google Shape;2337;p103"/>
          <p:cNvSpPr txBox="1"/>
          <p:nvPr>
            <p:ph idx="4294967295" type="body"/>
          </p:nvPr>
        </p:nvSpPr>
        <p:spPr>
          <a:xfrm>
            <a:off x="2365550" y="3998406"/>
            <a:ext cx="7464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8.5 cm</a:t>
            </a:r>
            <a:endParaRPr sz="1800"/>
          </a:p>
        </p:txBody>
      </p:sp>
      <p:sp>
        <p:nvSpPr>
          <p:cNvPr id="2338" name="Google Shape;2338;p103"/>
          <p:cNvSpPr txBox="1"/>
          <p:nvPr>
            <p:ph idx="4294967295" type="body"/>
          </p:nvPr>
        </p:nvSpPr>
        <p:spPr>
          <a:xfrm>
            <a:off x="722824" y="4270925"/>
            <a:ext cx="858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4.7</a:t>
            </a:r>
            <a:r>
              <a:rPr i="1" lang="en-GB" sz="2000">
                <a:latin typeface="Times New Roman"/>
                <a:ea typeface="Times New Roman"/>
                <a:cs typeface="Times New Roman"/>
                <a:sym typeface="Times New Roman"/>
              </a:rPr>
              <a:t> </a:t>
            </a:r>
            <a:r>
              <a:rPr lang="en-GB" sz="1800"/>
              <a:t>cm</a:t>
            </a:r>
            <a:endParaRPr sz="1800"/>
          </a:p>
        </p:txBody>
      </p:sp>
      <p:grpSp>
        <p:nvGrpSpPr>
          <p:cNvPr id="2339" name="Google Shape;2339;p103"/>
          <p:cNvGrpSpPr/>
          <p:nvPr/>
        </p:nvGrpSpPr>
        <p:grpSpPr>
          <a:xfrm rot="-7260302">
            <a:off x="5049267" y="3389539"/>
            <a:ext cx="1037073" cy="1860182"/>
            <a:chOff x="-2098225" y="1379675"/>
            <a:chExt cx="1037100" cy="1860230"/>
          </a:xfrm>
        </p:grpSpPr>
        <p:sp>
          <p:nvSpPr>
            <p:cNvPr id="2340" name="Google Shape;2340;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41" name="Google Shape;2341;p103"/>
            <p:cNvCxnSpPr/>
            <p:nvPr/>
          </p:nvCxnSpPr>
          <p:spPr>
            <a:xfrm flipH="1">
              <a:off x="-2098225" y="1379675"/>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2342" name="Google Shape;2342;p103"/>
            <p:cNvCxnSpPr/>
            <p:nvPr/>
          </p:nvCxnSpPr>
          <p:spPr>
            <a:xfrm rot="10800000">
              <a:off x="-2022025" y="3239905"/>
              <a:ext cx="9609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2343" name="Google Shape;2343;p103"/>
          <p:cNvSpPr/>
          <p:nvPr/>
        </p:nvSpPr>
        <p:spPr>
          <a:xfrm rot="8937582">
            <a:off x="5866664" y="3497439"/>
            <a:ext cx="192576" cy="192576"/>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4" name="Google Shape;2344;p103"/>
          <p:cNvSpPr/>
          <p:nvPr/>
        </p:nvSpPr>
        <p:spPr>
          <a:xfrm rot="8940753">
            <a:off x="4180017" y="3933510"/>
            <a:ext cx="746431" cy="746431"/>
          </a:xfrm>
          <a:prstGeom prst="arc">
            <a:avLst>
              <a:gd fmla="val 10867472" name="adj1"/>
              <a:gd fmla="val 1263170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5" name="Google Shape;2345;p103"/>
          <p:cNvSpPr txBox="1"/>
          <p:nvPr>
            <p:ph idx="4294967295" type="body"/>
          </p:nvPr>
        </p:nvSpPr>
        <p:spPr>
          <a:xfrm>
            <a:off x="4957828" y="4021924"/>
            <a:ext cx="4476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42°</a:t>
            </a:r>
            <a:endParaRPr sz="1800"/>
          </a:p>
        </p:txBody>
      </p:sp>
      <p:sp>
        <p:nvSpPr>
          <p:cNvPr id="2346" name="Google Shape;2346;p103"/>
          <p:cNvSpPr txBox="1"/>
          <p:nvPr>
            <p:ph idx="4294967295" type="body"/>
          </p:nvPr>
        </p:nvSpPr>
        <p:spPr>
          <a:xfrm>
            <a:off x="5191851" y="4430525"/>
            <a:ext cx="1020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47.8</a:t>
            </a:r>
            <a:r>
              <a:rPr lang="en-GB" sz="1800"/>
              <a:t> mm</a:t>
            </a:r>
            <a:endParaRPr sz="1800"/>
          </a:p>
        </p:txBody>
      </p:sp>
      <p:sp>
        <p:nvSpPr>
          <p:cNvPr id="2347" name="Google Shape;2347;p103"/>
          <p:cNvSpPr txBox="1"/>
          <p:nvPr>
            <p:ph idx="4294967295" type="body"/>
          </p:nvPr>
        </p:nvSpPr>
        <p:spPr>
          <a:xfrm>
            <a:off x="6426475" y="3590000"/>
            <a:ext cx="8115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 mm</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id="2352" name="Google Shape;2352;p104"/>
          <p:cNvSpPr txBox="1"/>
          <p:nvPr>
            <p:ph idx="1" type="body"/>
          </p:nvPr>
        </p:nvSpPr>
        <p:spPr>
          <a:xfrm>
            <a:off x="324000" y="8298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trigonometric ratios describe the proportional relationship between two lengths in a right-angled triangle based on the size of the focus angle.</a:t>
            </a:r>
            <a:endParaRPr/>
          </a:p>
          <a:p>
            <a:pPr indent="0" lvl="0" marL="0" rtl="0" algn="l">
              <a:spcBef>
                <a:spcPts val="1000"/>
              </a:spcBef>
              <a:spcAft>
                <a:spcPts val="0"/>
              </a:spcAft>
              <a:buNone/>
            </a:pPr>
            <a:r>
              <a:rPr lang="en-GB"/>
              <a:t>Determining which ratio to use is the first step in answering a question on trigonometry.</a:t>
            </a:r>
            <a:endParaRPr/>
          </a:p>
          <a:p>
            <a:pPr indent="0" lvl="0" marL="0" rtl="0" algn="l">
              <a:spcBef>
                <a:spcPts val="1000"/>
              </a:spcBef>
              <a:spcAft>
                <a:spcPts val="1000"/>
              </a:spcAft>
              <a:buNone/>
            </a:pPr>
            <a:r>
              <a:rPr lang="en-GB"/>
              <a:t>Sometimes what you need to calculate is not achieved in one calculation, so consider what you can calculate with the given information first. Consider accuracy, and don’t round until your final answer.</a:t>
            </a:r>
            <a:endParaRPr/>
          </a:p>
        </p:txBody>
      </p:sp>
      <p:sp>
        <p:nvSpPr>
          <p:cNvPr id="2353" name="Google Shape;2353;p104"/>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Choosing the right trigonometric ratio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sp>
        <p:nvSpPr>
          <p:cNvPr id="2358" name="Google Shape;2358;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359" name="Google Shape;2359;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