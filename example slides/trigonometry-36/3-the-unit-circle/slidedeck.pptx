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FCCF7C-625F-4281-A7AD-6F072ADDF248}">
  <a:tblStyle styleId="{FDFCCF7C-625F-4281-A7AD-6F072ADDF2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ba8f4154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ba8f4154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a8f415485_0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a8f415485_0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a8f415485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a8f415485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ba8f415485_0_1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ba8f415485_0_1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baa9de982f_0_1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baa9de982f_0_1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baa9de982f_0_2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baa9de982f_0_2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baa9de982f_0_2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baa9de982f_0_2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baa9de982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baa9de982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baa9de982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baa9de982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baa9de982f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baa9de982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baa9de982f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baa9de982f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baa9de982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baa9de982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baa9de982f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baa9de982f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baa9de982f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baa9de982f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baa9de982f_0_6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baa9de982f_0_6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baa9de982f_0_8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baa9de982f_0_8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2baa9de982f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2baa9de982f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baa9de982f_0_1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baa9de982f_0_1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baa9de982f_0_1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baa9de982f_0_1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2baa9de982f_0_1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2baa9de982f_0_1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baa9de982f_0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baa9de982f_0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baa9de982f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baa9de982f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2baa9de982f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2baa9de982f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baa9de982f_0_1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baa9de982f_0_1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baa9de982f_0_2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baa9de982f_0_2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baa9de982f_0_2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baa9de982f_0_2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2baa9de982f_0_2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2baa9de982f_0_2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baa9de982f_0_2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baa9de982f_0_2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ba8f415485_0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ba8f415485_0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2baa9de982f_0_2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2baa9de982f_0_2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2baa9de982f_0_2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2baa9de982f_0_2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g2baa9de982f_0_29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3" name="Google Shape;1613;g2baa9de982f_0_2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2baa9de982f_0_3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2baa9de982f_0_3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g2baa9de982f_0_3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0" name="Google Shape;1680;g2baa9de982f_0_3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2baa9de982f_0_3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2baa9de982f_0_3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2baa9de982f_0_3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2baa9de982f_0_3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g2baa9de982f_0_3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7" name="Google Shape;1747;g2baa9de982f_0_3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g2baa9de982f_0_3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1" name="Google Shape;1771;g2baa9de982f_0_3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2baa9de982f_0_3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2baa9de982f_0_3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g2baa9de982f_0_3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4" name="Google Shape;1794;g2baa9de982f_0_3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0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g2baa9de982f_0_3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2" name="Google Shape;1812;g2baa9de982f_0_3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2" name="Google Shape;183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1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29.png"/><Relationship Id="rId6" Type="http://schemas.openxmlformats.org/officeDocument/2006/relationships/image" Target="../media/image21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6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8.png"/><Relationship Id="rId4" Type="http://schemas.openxmlformats.org/officeDocument/2006/relationships/image" Target="../media/image22.png"/><Relationship Id="rId9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30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8.png"/><Relationship Id="rId4" Type="http://schemas.openxmlformats.org/officeDocument/2006/relationships/image" Target="../media/image31.png"/><Relationship Id="rId11" Type="http://schemas.openxmlformats.org/officeDocument/2006/relationships/image" Target="../media/image13.png"/><Relationship Id="rId10" Type="http://schemas.openxmlformats.org/officeDocument/2006/relationships/image" Target="../media/image37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Relationship Id="rId6" Type="http://schemas.openxmlformats.org/officeDocument/2006/relationships/hyperlink" Target="https://www.geogebra.org/calculator/yzweqzjb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Relationship Id="rId4" Type="http://schemas.openxmlformats.org/officeDocument/2006/relationships/image" Target="../media/image52.png"/><Relationship Id="rId5" Type="http://schemas.openxmlformats.org/officeDocument/2006/relationships/image" Target="../media/image5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7.png"/><Relationship Id="rId4" Type="http://schemas.openxmlformats.org/officeDocument/2006/relationships/hyperlink" Target="https://www.geogebra.org/m/wjtp2ksn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Relationship Id="rId4" Type="http://schemas.openxmlformats.org/officeDocument/2006/relationships/hyperlink" Target="https://www.geogebra.org/m/wjtp2ksn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4.png"/><Relationship Id="rId4" Type="http://schemas.openxmlformats.org/officeDocument/2006/relationships/hyperlink" Target="https://www.geogebra.org/m/ppd5afr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www.geogebra.org/m/ppd5afr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geogebra.org/m/ppd5afr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7.png"/><Relationship Id="rId4" Type="http://schemas.openxmlformats.org/officeDocument/2006/relationships/hyperlink" Target="https://www.geogebra.org/calculator/qhyyqph2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7.png"/><Relationship Id="rId4" Type="http://schemas.openxmlformats.org/officeDocument/2006/relationships/hyperlink" Target="https://www.geogebra.org/m/jgvnzfjc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7.png"/><Relationship Id="rId4" Type="http://schemas.openxmlformats.org/officeDocument/2006/relationships/image" Target="../media/image62.png"/><Relationship Id="rId5" Type="http://schemas.openxmlformats.org/officeDocument/2006/relationships/hyperlink" Target="https://www.geogebra.org/m/jgvnzfjc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3.png"/><Relationship Id="rId4" Type="http://schemas.openxmlformats.org/officeDocument/2006/relationships/hyperlink" Target="https://www.geogebra.org/m/ppd5afr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3.png"/><Relationship Id="rId4" Type="http://schemas.openxmlformats.org/officeDocument/2006/relationships/image" Target="../media/image6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6.png"/><Relationship Id="rId4" Type="http://schemas.openxmlformats.org/officeDocument/2006/relationships/hyperlink" Target="https://www.geogebra.org/m/ppd5afr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6.png"/><Relationship Id="rId4" Type="http://schemas.openxmlformats.org/officeDocument/2006/relationships/hyperlink" Target="https://www.geogebra.org/m/ppd5afr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unit circle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Trigonometry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the trigonometric functions are derived from measurements within a unit circle.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2" type="subTitle"/>
          </p:nvPr>
        </p:nvSpPr>
        <p:spPr>
          <a:xfrm>
            <a:off x="324000" y="1941841"/>
            <a:ext cx="8496000" cy="8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hypotenuse is the side of a right-angle triangle which is opposite the right angle.</a:t>
            </a:r>
            <a:endParaRPr sz="2000"/>
          </a:p>
        </p:txBody>
      </p:sp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048850"/>
            <a:ext cx="84960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radius is any line segment that joins the centre of a circle to any part on its circumference.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 &#10;tan 9 &#10;Sin 9 &#10;9 &#10;cos 9 " id="775" name="Google Shape;77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6887" y="810000"/>
            <a:ext cx="2924625" cy="2582075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7"/>
          <p:cNvSpPr txBox="1"/>
          <p:nvPr>
            <p:ph idx="2" type="subTitle"/>
          </p:nvPr>
        </p:nvSpPr>
        <p:spPr>
          <a:xfrm>
            <a:off x="324000" y="2158500"/>
            <a:ext cx="5856300" cy="8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</a:t>
            </a:r>
            <a:r>
              <a:rPr b="1" lang="en-GB" sz="1800"/>
              <a:t>cosine</a:t>
            </a:r>
            <a:r>
              <a:rPr lang="en-GB" sz="1800"/>
              <a:t> of an angle (cos(</a:t>
            </a:r>
            <a:r>
              <a:rPr i="1" lang="en-GB" sz="1800">
                <a:solidFill>
                  <a:schemeClr val="dk1"/>
                </a:solidFill>
              </a:rPr>
              <a:t>θ</a:t>
            </a:r>
            <a:r>
              <a:rPr lang="en-GB" sz="1800">
                <a:solidFill>
                  <a:schemeClr val="dk1"/>
                </a:solidFill>
              </a:rPr>
              <a:t>°</a:t>
            </a:r>
            <a:r>
              <a:rPr lang="en-GB" sz="1800"/>
              <a:t>)) is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of point P </a:t>
            </a:r>
            <a:r>
              <a:rPr lang="en-GB" sz="1800">
                <a:solidFill>
                  <a:schemeClr val="dk1"/>
                </a:solidFill>
              </a:rPr>
              <a:t>on the triangle formed inside the unit circle. </a:t>
            </a:r>
            <a:endParaRPr sz="1800"/>
          </a:p>
        </p:txBody>
      </p:sp>
      <p:sp>
        <p:nvSpPr>
          <p:cNvPr id="777" name="Google Shape;777;p67"/>
          <p:cNvSpPr txBox="1"/>
          <p:nvPr>
            <p:ph idx="1" type="subTitle"/>
          </p:nvPr>
        </p:nvSpPr>
        <p:spPr>
          <a:xfrm>
            <a:off x="324000" y="3224896"/>
            <a:ext cx="6060900" cy="4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</a:t>
            </a:r>
            <a:r>
              <a:rPr b="1" lang="en-GB" sz="1800"/>
              <a:t>tangent</a:t>
            </a:r>
            <a:r>
              <a:rPr lang="en-GB" sz="1800"/>
              <a:t> to a circle is a line that intersects the circle exactly once.</a:t>
            </a:r>
            <a:endParaRPr sz="1800"/>
          </a:p>
        </p:txBody>
      </p:sp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24000" y="1369250"/>
            <a:ext cx="57609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</a:t>
            </a:r>
            <a:r>
              <a:rPr b="1" lang="en-GB" sz="1800"/>
              <a:t>sine </a:t>
            </a:r>
            <a:r>
              <a:rPr lang="en-GB" sz="1800"/>
              <a:t>of an angle (sin(</a:t>
            </a:r>
            <a:r>
              <a:rPr i="1" lang="en-GB" sz="1800">
                <a:solidFill>
                  <a:schemeClr val="dk1"/>
                </a:solidFill>
              </a:rPr>
              <a:t>θ</a:t>
            </a:r>
            <a:r>
              <a:rPr lang="en-GB" sz="1800">
                <a:solidFill>
                  <a:schemeClr val="dk1"/>
                </a:solidFill>
              </a:rPr>
              <a:t>°</a:t>
            </a:r>
            <a:r>
              <a:rPr lang="en-GB" sz="1800"/>
              <a:t>)) is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-coordinate of point P </a:t>
            </a:r>
            <a:r>
              <a:rPr lang="en-GB" sz="1800">
                <a:solidFill>
                  <a:schemeClr val="dk1"/>
                </a:solidFill>
              </a:rPr>
              <a:t>on the triangle formed inside the unit circle. </a:t>
            </a:r>
            <a:endParaRPr sz="1800"/>
          </a:p>
        </p:txBody>
      </p:sp>
      <p:sp>
        <p:nvSpPr>
          <p:cNvPr id="779" name="Google Shape;779;p67"/>
          <p:cNvSpPr txBox="1"/>
          <p:nvPr>
            <p:ph idx="1" type="subTitle"/>
          </p:nvPr>
        </p:nvSpPr>
        <p:spPr>
          <a:xfrm>
            <a:off x="324000" y="3935200"/>
            <a:ext cx="78483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highlight>
                  <a:srgbClr val="FFFFFF"/>
                </a:highlight>
              </a:rPr>
              <a:t>The </a:t>
            </a:r>
            <a:r>
              <a:rPr b="1" lang="en-GB" sz="1800">
                <a:highlight>
                  <a:srgbClr val="FFFFFF"/>
                </a:highlight>
              </a:rPr>
              <a:t>tangent</a:t>
            </a:r>
            <a:r>
              <a:rPr lang="en-GB" sz="1800">
                <a:highlight>
                  <a:srgbClr val="FFFFFF"/>
                </a:highlight>
              </a:rPr>
              <a:t> of an angle (tan(</a:t>
            </a:r>
            <a:r>
              <a:rPr i="1" lang="en-GB" sz="1800">
                <a:solidFill>
                  <a:schemeClr val="dk1"/>
                </a:solidFill>
                <a:highlight>
                  <a:srgbClr val="FFFFFF"/>
                </a:highlight>
              </a:rPr>
              <a:t>θ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°</a:t>
            </a:r>
            <a:r>
              <a:rPr lang="en-GB" sz="1800">
                <a:highlight>
                  <a:srgbClr val="FFFFFF"/>
                </a:highlight>
              </a:rPr>
              <a:t>)) is the </a:t>
            </a:r>
            <a:r>
              <a:rPr i="1" lang="en-GB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highlight>
                  <a:srgbClr val="FFFFFF"/>
                </a:highlight>
              </a:rPr>
              <a:t>-coordinate of point Q on the triangle which extends from the unit circle. </a:t>
            </a:r>
            <a:endParaRPr sz="1800"/>
          </a:p>
        </p:txBody>
      </p:sp>
      <p:sp>
        <p:nvSpPr>
          <p:cNvPr id="780" name="Google Shape;780;p67"/>
          <p:cNvSpPr txBox="1"/>
          <p:nvPr/>
        </p:nvSpPr>
        <p:spPr>
          <a:xfrm>
            <a:off x="324000" y="664350"/>
            <a:ext cx="656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Trigonometric functions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commonly defined as ratios of two sides of a right-angled triangle for a given angle.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786" name="Google Shape;786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 </a:t>
            </a:r>
            <a:endParaRPr/>
          </a:p>
        </p:txBody>
      </p:sp>
      <p:sp>
        <p:nvSpPr>
          <p:cNvPr id="787" name="Google Shape;787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unit circle</a:t>
            </a:r>
            <a:endParaRPr/>
          </a:p>
        </p:txBody>
      </p:sp>
      <p:pic>
        <p:nvPicPr>
          <p:cNvPr id="788" name="Google Shape;78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536" y="1679300"/>
            <a:ext cx="3085771" cy="30857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4" name="Google Shape;794;p69"/>
          <p:cNvGrpSpPr/>
          <p:nvPr/>
        </p:nvGrpSpPr>
        <p:grpSpPr>
          <a:xfrm>
            <a:off x="2120248" y="2303699"/>
            <a:ext cx="1259669" cy="934719"/>
            <a:chOff x="2120248" y="2303699"/>
            <a:chExt cx="1259669" cy="934719"/>
          </a:xfrm>
        </p:grpSpPr>
        <p:sp>
          <p:nvSpPr>
            <p:cNvPr id="795" name="Google Shape;795;p69"/>
            <p:cNvSpPr/>
            <p:nvPr/>
          </p:nvSpPr>
          <p:spPr>
            <a:xfrm>
              <a:off x="2120248" y="2303699"/>
              <a:ext cx="1259669" cy="934719"/>
            </a:xfrm>
            <a:custGeom>
              <a:rect b="b" l="l" r="r" t="t"/>
              <a:pathLst>
                <a:path extrusionOk="0" h="38781" w="52263">
                  <a:moveTo>
                    <a:pt x="0" y="38558"/>
                  </a:moveTo>
                  <a:lnTo>
                    <a:pt x="52263" y="0"/>
                  </a:lnTo>
                  <a:lnTo>
                    <a:pt x="52263" y="38781"/>
                  </a:lnTo>
                  <a:close/>
                </a:path>
              </a:pathLst>
            </a:cu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796" name="Google Shape;796;p69"/>
            <p:cNvCxnSpPr/>
            <p:nvPr/>
          </p:nvCxnSpPr>
          <p:spPr>
            <a:xfrm flipH="1" rot="10800000">
              <a:off x="2146758" y="2330921"/>
              <a:ext cx="1192200" cy="8937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7" name="Google Shape;797;p69"/>
            <p:cNvSpPr/>
            <p:nvPr/>
          </p:nvSpPr>
          <p:spPr>
            <a:xfrm>
              <a:off x="3283645" y="3142295"/>
              <a:ext cx="86400" cy="864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8" name="Google Shape;798;p69"/>
          <p:cNvSpPr txBox="1"/>
          <p:nvPr>
            <p:ph idx="1" type="body"/>
          </p:nvPr>
        </p:nvSpPr>
        <p:spPr>
          <a:xfrm>
            <a:off x="324000" y="683100"/>
            <a:ext cx="8496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far is the point with coordinates (4, 3) from the origin?</a:t>
            </a:r>
            <a:endParaRPr sz="2000"/>
          </a:p>
        </p:txBody>
      </p:sp>
      <p:sp>
        <p:nvSpPr>
          <p:cNvPr id="799" name="Google Shape;79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5924675" y="1392325"/>
            <a:ext cx="3648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6305675" y="1392325"/>
            <a:ext cx="7533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+ 3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5238875" y="1392325"/>
            <a:ext cx="7533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5238875" y="1925725"/>
            <a:ext cx="7533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4" name="Google Shape;804;p69"/>
          <p:cNvSpPr txBox="1"/>
          <p:nvPr>
            <p:ph idx="1" type="body"/>
          </p:nvPr>
        </p:nvSpPr>
        <p:spPr>
          <a:xfrm>
            <a:off x="5924675" y="1925725"/>
            <a:ext cx="3648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25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5" name="Google Shape;805;p69"/>
          <p:cNvSpPr txBox="1"/>
          <p:nvPr>
            <p:ph idx="1" type="body"/>
          </p:nvPr>
        </p:nvSpPr>
        <p:spPr>
          <a:xfrm>
            <a:off x="5315075" y="2459125"/>
            <a:ext cx="7533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69"/>
          <p:cNvSpPr txBox="1"/>
          <p:nvPr>
            <p:ph idx="1" type="body"/>
          </p:nvPr>
        </p:nvSpPr>
        <p:spPr>
          <a:xfrm>
            <a:off x="5924675" y="2459125"/>
            <a:ext cx="10377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 units</a:t>
            </a:r>
            <a:endParaRPr baseline="30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7" name="Google Shape;807;p69"/>
          <p:cNvSpPr txBox="1"/>
          <p:nvPr/>
        </p:nvSpPr>
        <p:spPr>
          <a:xfrm>
            <a:off x="3536824" y="3126258"/>
            <a:ext cx="25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9"/>
          <p:cNvSpPr txBox="1"/>
          <p:nvPr/>
        </p:nvSpPr>
        <p:spPr>
          <a:xfrm>
            <a:off x="1823778" y="4540266"/>
            <a:ext cx="61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9"/>
          <p:cNvSpPr txBox="1"/>
          <p:nvPr/>
        </p:nvSpPr>
        <p:spPr>
          <a:xfrm>
            <a:off x="1884533" y="1484954"/>
            <a:ext cx="22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9"/>
          <p:cNvSpPr txBox="1"/>
          <p:nvPr>
            <p:ph idx="1" type="body"/>
          </p:nvPr>
        </p:nvSpPr>
        <p:spPr>
          <a:xfrm>
            <a:off x="1940184" y="2990622"/>
            <a:ext cx="2826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1" name="Google Shape;811;p69"/>
          <p:cNvCxnSpPr/>
          <p:nvPr/>
        </p:nvCxnSpPr>
        <p:spPr>
          <a:xfrm rot="10800000">
            <a:off x="2136691" y="1410921"/>
            <a:ext cx="0" cy="33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69"/>
          <p:cNvCxnSpPr/>
          <p:nvPr/>
        </p:nvCxnSpPr>
        <p:spPr>
          <a:xfrm>
            <a:off x="604040" y="3230780"/>
            <a:ext cx="3398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69"/>
          <p:cNvSpPr txBox="1"/>
          <p:nvPr>
            <p:ph idx="1" type="body"/>
          </p:nvPr>
        </p:nvSpPr>
        <p:spPr>
          <a:xfrm>
            <a:off x="2265044" y="1355650"/>
            <a:ext cx="256500" cy="3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14" name="Google Shape;814;p69"/>
          <p:cNvSpPr txBox="1"/>
          <p:nvPr>
            <p:ph idx="1" type="body"/>
          </p:nvPr>
        </p:nvSpPr>
        <p:spPr>
          <a:xfrm>
            <a:off x="3960319" y="2917078"/>
            <a:ext cx="256500" cy="3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15" name="Google Shape;815;p69"/>
          <p:cNvSpPr txBox="1"/>
          <p:nvPr/>
        </p:nvSpPr>
        <p:spPr>
          <a:xfrm>
            <a:off x="3242943" y="3126258"/>
            <a:ext cx="25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69"/>
          <p:cNvSpPr txBox="1"/>
          <p:nvPr/>
        </p:nvSpPr>
        <p:spPr>
          <a:xfrm>
            <a:off x="2929383" y="3126258"/>
            <a:ext cx="25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69"/>
          <p:cNvSpPr txBox="1"/>
          <p:nvPr/>
        </p:nvSpPr>
        <p:spPr>
          <a:xfrm>
            <a:off x="2615822" y="3126258"/>
            <a:ext cx="25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69"/>
          <p:cNvSpPr txBox="1"/>
          <p:nvPr/>
        </p:nvSpPr>
        <p:spPr>
          <a:xfrm>
            <a:off x="2315381" y="3126258"/>
            <a:ext cx="25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9"/>
          <p:cNvSpPr txBox="1"/>
          <p:nvPr/>
        </p:nvSpPr>
        <p:spPr>
          <a:xfrm>
            <a:off x="1644044" y="3126263"/>
            <a:ext cx="3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69"/>
          <p:cNvSpPr txBox="1"/>
          <p:nvPr/>
        </p:nvSpPr>
        <p:spPr>
          <a:xfrm>
            <a:off x="1348156" y="3126263"/>
            <a:ext cx="3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9"/>
          <p:cNvSpPr txBox="1"/>
          <p:nvPr/>
        </p:nvSpPr>
        <p:spPr>
          <a:xfrm>
            <a:off x="1032588" y="3126263"/>
            <a:ext cx="38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9"/>
          <p:cNvSpPr txBox="1"/>
          <p:nvPr/>
        </p:nvSpPr>
        <p:spPr>
          <a:xfrm>
            <a:off x="730152" y="3126275"/>
            <a:ext cx="44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9"/>
          <p:cNvSpPr txBox="1"/>
          <p:nvPr/>
        </p:nvSpPr>
        <p:spPr>
          <a:xfrm>
            <a:off x="413025" y="3126263"/>
            <a:ext cx="39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-5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9"/>
          <p:cNvSpPr txBox="1"/>
          <p:nvPr/>
        </p:nvSpPr>
        <p:spPr>
          <a:xfrm>
            <a:off x="1884533" y="1778835"/>
            <a:ext cx="22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9"/>
          <p:cNvSpPr txBox="1"/>
          <p:nvPr/>
        </p:nvSpPr>
        <p:spPr>
          <a:xfrm>
            <a:off x="1884533" y="2079276"/>
            <a:ext cx="22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9"/>
          <p:cNvSpPr txBox="1"/>
          <p:nvPr/>
        </p:nvSpPr>
        <p:spPr>
          <a:xfrm>
            <a:off x="1884533" y="2379717"/>
            <a:ext cx="22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69"/>
          <p:cNvSpPr txBox="1"/>
          <p:nvPr/>
        </p:nvSpPr>
        <p:spPr>
          <a:xfrm>
            <a:off x="1884533" y="2693277"/>
            <a:ext cx="22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9"/>
          <p:cNvSpPr txBox="1"/>
          <p:nvPr/>
        </p:nvSpPr>
        <p:spPr>
          <a:xfrm>
            <a:off x="1839333" y="3321725"/>
            <a:ext cx="44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>
            <a:off x="1829859" y="3628719"/>
            <a:ext cx="39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9"/>
          <p:cNvSpPr txBox="1"/>
          <p:nvPr/>
        </p:nvSpPr>
        <p:spPr>
          <a:xfrm>
            <a:off x="1836419" y="3935713"/>
            <a:ext cx="39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9"/>
          <p:cNvSpPr txBox="1"/>
          <p:nvPr/>
        </p:nvSpPr>
        <p:spPr>
          <a:xfrm>
            <a:off x="1816739" y="4229594"/>
            <a:ext cx="397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2" name="Google Shape;832;p69"/>
          <p:cNvCxnSpPr/>
          <p:nvPr/>
        </p:nvCxnSpPr>
        <p:spPr>
          <a:xfrm rot="10800000">
            <a:off x="3370562" y="2320995"/>
            <a:ext cx="0" cy="906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3" name="Google Shape;833;p69"/>
          <p:cNvCxnSpPr/>
          <p:nvPr/>
        </p:nvCxnSpPr>
        <p:spPr>
          <a:xfrm rot="10800000">
            <a:off x="2121681" y="3232784"/>
            <a:ext cx="12657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4" name="Google Shape;834;p69"/>
          <p:cNvSpPr txBox="1"/>
          <p:nvPr>
            <p:ph idx="1" type="body"/>
          </p:nvPr>
        </p:nvSpPr>
        <p:spPr>
          <a:xfrm>
            <a:off x="3400510" y="2019644"/>
            <a:ext cx="6828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(4,3) </a:t>
            </a:r>
            <a:endParaRPr sz="2000"/>
          </a:p>
        </p:txBody>
      </p:sp>
      <p:sp>
        <p:nvSpPr>
          <p:cNvPr id="835" name="Google Shape;835;p69"/>
          <p:cNvSpPr txBox="1"/>
          <p:nvPr>
            <p:ph idx="1" type="body"/>
          </p:nvPr>
        </p:nvSpPr>
        <p:spPr>
          <a:xfrm>
            <a:off x="2787057" y="2324782"/>
            <a:ext cx="2658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6" name="Google Shape;836;p69"/>
          <p:cNvCxnSpPr/>
          <p:nvPr/>
        </p:nvCxnSpPr>
        <p:spPr>
          <a:xfrm flipH="1" rot="10800000">
            <a:off x="2136025" y="2313075"/>
            <a:ext cx="1227300" cy="916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69"/>
          <p:cNvSpPr/>
          <p:nvPr/>
        </p:nvSpPr>
        <p:spPr>
          <a:xfrm>
            <a:off x="3316113" y="2250130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69"/>
          <p:cNvSpPr/>
          <p:nvPr/>
        </p:nvSpPr>
        <p:spPr>
          <a:xfrm>
            <a:off x="2086175" y="3180477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0"/>
          <p:cNvSpPr/>
          <p:nvPr/>
        </p:nvSpPr>
        <p:spPr>
          <a:xfrm>
            <a:off x="1629051" y="2630794"/>
            <a:ext cx="1096086" cy="813335"/>
          </a:xfrm>
          <a:custGeom>
            <a:rect b="b" l="l" r="r" t="t"/>
            <a:pathLst>
              <a:path extrusionOk="0" h="38781" w="52263">
                <a:moveTo>
                  <a:pt x="0" y="38558"/>
                </a:moveTo>
                <a:lnTo>
                  <a:pt x="52263" y="0"/>
                </a:lnTo>
                <a:lnTo>
                  <a:pt x="52263" y="38781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844" name="Google Shape;844;p70"/>
          <p:cNvCxnSpPr/>
          <p:nvPr/>
        </p:nvCxnSpPr>
        <p:spPr>
          <a:xfrm flipH="1" rot="10800000">
            <a:off x="1652119" y="2654537"/>
            <a:ext cx="1037400" cy="777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70"/>
          <p:cNvSpPr txBox="1"/>
          <p:nvPr>
            <p:ph idx="1" type="body"/>
          </p:nvPr>
        </p:nvSpPr>
        <p:spPr>
          <a:xfrm>
            <a:off x="324000" y="683100"/>
            <a:ext cx="84960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length of the hypotenuse is 5 units and has a vertex at the origin. </a:t>
            </a:r>
            <a:endParaRPr sz="1900"/>
          </a:p>
        </p:txBody>
      </p:sp>
      <p:sp>
        <p:nvSpPr>
          <p:cNvPr id="846" name="Google Shape;84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847" name="Google Shape;847;p70"/>
          <p:cNvSpPr txBox="1"/>
          <p:nvPr>
            <p:ph idx="1" type="body"/>
          </p:nvPr>
        </p:nvSpPr>
        <p:spPr>
          <a:xfrm>
            <a:off x="1472368" y="3228523"/>
            <a:ext cx="24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48" name="Google Shape;848;p70"/>
          <p:cNvCxnSpPr/>
          <p:nvPr/>
        </p:nvCxnSpPr>
        <p:spPr>
          <a:xfrm rot="10800000">
            <a:off x="1643359" y="1853827"/>
            <a:ext cx="0" cy="292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9" name="Google Shape;849;p70"/>
          <p:cNvCxnSpPr/>
          <p:nvPr/>
        </p:nvCxnSpPr>
        <p:spPr>
          <a:xfrm>
            <a:off x="351300" y="3437492"/>
            <a:ext cx="2915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0" name="Google Shape;850;p70"/>
          <p:cNvSpPr txBox="1"/>
          <p:nvPr>
            <p:ph idx="1" type="body"/>
          </p:nvPr>
        </p:nvSpPr>
        <p:spPr>
          <a:xfrm>
            <a:off x="1755046" y="1805847"/>
            <a:ext cx="2232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51" name="Google Shape;851;p70"/>
          <p:cNvSpPr txBox="1"/>
          <p:nvPr>
            <p:ph idx="1" type="body"/>
          </p:nvPr>
        </p:nvSpPr>
        <p:spPr>
          <a:xfrm>
            <a:off x="3230193" y="3363445"/>
            <a:ext cx="223200" cy="32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52" name="Google Shape;852;p70"/>
          <p:cNvSpPr txBox="1"/>
          <p:nvPr>
            <p:ph idx="1" type="body"/>
          </p:nvPr>
        </p:nvSpPr>
        <p:spPr>
          <a:xfrm>
            <a:off x="2014630" y="2729736"/>
            <a:ext cx="2232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5</a:t>
            </a:r>
            <a:endParaRPr sz="2000"/>
          </a:p>
        </p:txBody>
      </p:sp>
      <p:sp>
        <p:nvSpPr>
          <p:cNvPr id="853" name="Google Shape;853;p70"/>
          <p:cNvSpPr/>
          <p:nvPr/>
        </p:nvSpPr>
        <p:spPr>
          <a:xfrm>
            <a:off x="2641384" y="3360501"/>
            <a:ext cx="75300" cy="75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4" name="Google Shape;854;p70"/>
          <p:cNvCxnSpPr/>
          <p:nvPr/>
        </p:nvCxnSpPr>
        <p:spPr>
          <a:xfrm rot="10800000">
            <a:off x="2717014" y="2645804"/>
            <a:ext cx="0" cy="788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5" name="Google Shape;855;p70"/>
          <p:cNvCxnSpPr/>
          <p:nvPr/>
        </p:nvCxnSpPr>
        <p:spPr>
          <a:xfrm rot="10800000">
            <a:off x="1630350" y="3439240"/>
            <a:ext cx="11013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70"/>
          <p:cNvSpPr/>
          <p:nvPr/>
        </p:nvSpPr>
        <p:spPr>
          <a:xfrm>
            <a:off x="1599403" y="3393725"/>
            <a:ext cx="89400" cy="89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0"/>
          <p:cNvSpPr/>
          <p:nvPr/>
        </p:nvSpPr>
        <p:spPr>
          <a:xfrm>
            <a:off x="2669636" y="2584182"/>
            <a:ext cx="95700" cy="957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0"/>
          <p:cNvSpPr txBox="1"/>
          <p:nvPr>
            <p:ph idx="1" type="body"/>
          </p:nvPr>
        </p:nvSpPr>
        <p:spPr>
          <a:xfrm>
            <a:off x="2743063" y="2317323"/>
            <a:ext cx="7293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(4, 3) </a:t>
            </a:r>
            <a:endParaRPr sz="2000"/>
          </a:p>
        </p:txBody>
      </p:sp>
      <p:sp>
        <p:nvSpPr>
          <p:cNvPr id="859" name="Google Shape;859;p70"/>
          <p:cNvSpPr/>
          <p:nvPr/>
        </p:nvSpPr>
        <p:spPr>
          <a:xfrm>
            <a:off x="4862013" y="2795650"/>
            <a:ext cx="851103" cy="631549"/>
          </a:xfrm>
          <a:custGeom>
            <a:rect b="b" l="l" r="r" t="t"/>
            <a:pathLst>
              <a:path extrusionOk="0" h="38781" w="52263">
                <a:moveTo>
                  <a:pt x="0" y="38558"/>
                </a:moveTo>
                <a:lnTo>
                  <a:pt x="52263" y="0"/>
                </a:lnTo>
                <a:lnTo>
                  <a:pt x="52263" y="38781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860" name="Google Shape;860;p70"/>
          <p:cNvCxnSpPr/>
          <p:nvPr/>
        </p:nvCxnSpPr>
        <p:spPr>
          <a:xfrm flipH="1" rot="10800000">
            <a:off x="4879925" y="2813998"/>
            <a:ext cx="805500" cy="603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70"/>
          <p:cNvSpPr txBox="1"/>
          <p:nvPr>
            <p:ph idx="1" type="body"/>
          </p:nvPr>
        </p:nvSpPr>
        <p:spPr>
          <a:xfrm>
            <a:off x="4683384" y="3177040"/>
            <a:ext cx="282600" cy="3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62" name="Google Shape;862;p70"/>
          <p:cNvCxnSpPr/>
          <p:nvPr/>
        </p:nvCxnSpPr>
        <p:spPr>
          <a:xfrm rot="10800000">
            <a:off x="4881075" y="2143720"/>
            <a:ext cx="0" cy="2373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3" name="Google Shape;863;p70"/>
          <p:cNvCxnSpPr/>
          <p:nvPr/>
        </p:nvCxnSpPr>
        <p:spPr>
          <a:xfrm>
            <a:off x="3797601" y="3430333"/>
            <a:ext cx="240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4" name="Google Shape;864;p70"/>
          <p:cNvSpPr txBox="1"/>
          <p:nvPr>
            <p:ph idx="1" type="body"/>
          </p:nvPr>
        </p:nvSpPr>
        <p:spPr>
          <a:xfrm>
            <a:off x="4952454" y="1965250"/>
            <a:ext cx="256500" cy="3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65" name="Google Shape;865;p70"/>
          <p:cNvSpPr txBox="1"/>
          <p:nvPr>
            <p:ph idx="1" type="body"/>
          </p:nvPr>
        </p:nvSpPr>
        <p:spPr>
          <a:xfrm>
            <a:off x="6197334" y="3332096"/>
            <a:ext cx="256500" cy="3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866" name="Google Shape;866;p70"/>
          <p:cNvSpPr txBox="1"/>
          <p:nvPr>
            <p:ph idx="1" type="body"/>
          </p:nvPr>
        </p:nvSpPr>
        <p:spPr>
          <a:xfrm>
            <a:off x="5128120" y="2769933"/>
            <a:ext cx="173400" cy="2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</a:t>
            </a:r>
            <a:endParaRPr sz="2000"/>
          </a:p>
        </p:txBody>
      </p:sp>
      <p:sp>
        <p:nvSpPr>
          <p:cNvPr id="867" name="Google Shape;867;p70"/>
          <p:cNvSpPr txBox="1"/>
          <p:nvPr>
            <p:ph idx="1" type="body"/>
          </p:nvPr>
        </p:nvSpPr>
        <p:spPr>
          <a:xfrm>
            <a:off x="5803250" y="2556636"/>
            <a:ext cx="394200" cy="2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868" name="Google Shape;868;p70"/>
          <p:cNvSpPr txBox="1"/>
          <p:nvPr>
            <p:ph idx="1" type="body"/>
          </p:nvPr>
        </p:nvSpPr>
        <p:spPr>
          <a:xfrm>
            <a:off x="2134635" y="3506496"/>
            <a:ext cx="2232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</a:t>
            </a:r>
            <a:endParaRPr sz="2000"/>
          </a:p>
        </p:txBody>
      </p:sp>
      <p:cxnSp>
        <p:nvCxnSpPr>
          <p:cNvPr id="869" name="Google Shape;869;p70"/>
          <p:cNvCxnSpPr/>
          <p:nvPr/>
        </p:nvCxnSpPr>
        <p:spPr>
          <a:xfrm flipH="1" rot="10800000">
            <a:off x="1689355" y="2585919"/>
            <a:ext cx="953100" cy="71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0" name="Google Shape;870;p70"/>
          <p:cNvCxnSpPr/>
          <p:nvPr/>
        </p:nvCxnSpPr>
        <p:spPr>
          <a:xfrm>
            <a:off x="1687875" y="3525411"/>
            <a:ext cx="101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71" name="Google Shape;871;p70"/>
          <p:cNvCxnSpPr/>
          <p:nvPr/>
        </p:nvCxnSpPr>
        <p:spPr>
          <a:xfrm rot="10800000">
            <a:off x="2807533" y="2677378"/>
            <a:ext cx="0" cy="72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72" name="Google Shape;872;p70"/>
          <p:cNvSpPr txBox="1"/>
          <p:nvPr>
            <p:ph idx="1" type="body"/>
          </p:nvPr>
        </p:nvSpPr>
        <p:spPr>
          <a:xfrm>
            <a:off x="2856557" y="2891646"/>
            <a:ext cx="2232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</a:t>
            </a:r>
            <a:endParaRPr sz="2000"/>
          </a:p>
        </p:txBody>
      </p:sp>
      <p:sp>
        <p:nvSpPr>
          <p:cNvPr id="873" name="Google Shape;873;p70"/>
          <p:cNvSpPr/>
          <p:nvPr/>
        </p:nvSpPr>
        <p:spPr>
          <a:xfrm>
            <a:off x="5611827" y="3328712"/>
            <a:ext cx="86400" cy="86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4" name="Google Shape;874;p70"/>
          <p:cNvCxnSpPr/>
          <p:nvPr/>
        </p:nvCxnSpPr>
        <p:spPr>
          <a:xfrm rot="10800000">
            <a:off x="5706818" y="2807202"/>
            <a:ext cx="0" cy="612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70"/>
          <p:cNvCxnSpPr/>
          <p:nvPr/>
        </p:nvCxnSpPr>
        <p:spPr>
          <a:xfrm rot="10800000">
            <a:off x="4862883" y="3423413"/>
            <a:ext cx="8553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70"/>
          <p:cNvSpPr/>
          <p:nvPr/>
        </p:nvSpPr>
        <p:spPr>
          <a:xfrm>
            <a:off x="4829375" y="3366895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0"/>
          <p:cNvSpPr/>
          <p:nvPr/>
        </p:nvSpPr>
        <p:spPr>
          <a:xfrm>
            <a:off x="5644295" y="2754955"/>
            <a:ext cx="110100" cy="110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8" name="Google Shape;87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6099" y="1992402"/>
            <a:ext cx="624025" cy="6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70"/>
          <p:cNvSpPr txBox="1"/>
          <p:nvPr>
            <p:ph idx="1" type="body"/>
          </p:nvPr>
        </p:nvSpPr>
        <p:spPr>
          <a:xfrm>
            <a:off x="7082150" y="2175300"/>
            <a:ext cx="1908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scale factor =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80" name="Google Shape;880;p70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2147" y="2088964"/>
            <a:ext cx="144335" cy="46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81" name="Google Shape;881;p70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4347" y="2698564"/>
            <a:ext cx="144335" cy="4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70"/>
          <p:cNvSpPr txBox="1"/>
          <p:nvPr>
            <p:ph idx="1" type="body"/>
          </p:nvPr>
        </p:nvSpPr>
        <p:spPr>
          <a:xfrm>
            <a:off x="7386950" y="2784900"/>
            <a:ext cx="1908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of 4 = 0.8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83" name="Google Shape;883;p70" title="one fif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4347" y="3384364"/>
            <a:ext cx="144335" cy="46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0"/>
          <p:cNvSpPr txBox="1"/>
          <p:nvPr>
            <p:ph idx="1" type="body"/>
          </p:nvPr>
        </p:nvSpPr>
        <p:spPr>
          <a:xfrm>
            <a:off x="7386950" y="3470700"/>
            <a:ext cx="1908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of 3 = 0.6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5" name="Google Shape;885;p70"/>
          <p:cNvSpPr txBox="1"/>
          <p:nvPr>
            <p:ph idx="1" type="body"/>
          </p:nvPr>
        </p:nvSpPr>
        <p:spPr>
          <a:xfrm>
            <a:off x="7061739" y="4080300"/>
            <a:ext cx="11313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(0.8, 0.6)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6" name="Google Shape;886;p70"/>
          <p:cNvSpPr txBox="1"/>
          <p:nvPr>
            <p:ph idx="1" type="body"/>
          </p:nvPr>
        </p:nvSpPr>
        <p:spPr>
          <a:xfrm>
            <a:off x="5158015" y="3542279"/>
            <a:ext cx="4998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0.8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87" name="Google Shape;887;p70"/>
          <p:cNvCxnSpPr/>
          <p:nvPr/>
        </p:nvCxnSpPr>
        <p:spPr>
          <a:xfrm>
            <a:off x="4908289" y="3531838"/>
            <a:ext cx="823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8" name="Google Shape;888;p70"/>
          <p:cNvCxnSpPr/>
          <p:nvPr/>
        </p:nvCxnSpPr>
        <p:spPr>
          <a:xfrm rot="10800000">
            <a:off x="5810054" y="2834686"/>
            <a:ext cx="0" cy="539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89" name="Google Shape;889;p70"/>
          <p:cNvCxnSpPr/>
          <p:nvPr/>
        </p:nvCxnSpPr>
        <p:spPr>
          <a:xfrm flipH="1" rot="10800000">
            <a:off x="4916950" y="2796991"/>
            <a:ext cx="673200" cy="50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90" name="Google Shape;890;p70"/>
          <p:cNvSpPr txBox="1"/>
          <p:nvPr>
            <p:ph idx="1" type="body"/>
          </p:nvPr>
        </p:nvSpPr>
        <p:spPr>
          <a:xfrm>
            <a:off x="5839570" y="2961545"/>
            <a:ext cx="4998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0.6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1" name="Google Shape;891;p70"/>
          <p:cNvSpPr txBox="1"/>
          <p:nvPr>
            <p:ph idx="1" type="body"/>
          </p:nvPr>
        </p:nvSpPr>
        <p:spPr>
          <a:xfrm>
            <a:off x="324000" y="1055936"/>
            <a:ext cx="8496000" cy="6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Izzy creates a </a:t>
            </a:r>
            <a:r>
              <a:rPr lang="en-GB" sz="1900">
                <a:solidFill>
                  <a:schemeClr val="accent4"/>
                </a:solidFill>
              </a:rPr>
              <a:t>similar triangle</a:t>
            </a:r>
            <a:r>
              <a:rPr lang="en-GB" sz="1900"/>
              <a:t> on a coordinate grid with a hypotenuse length of </a:t>
            </a:r>
            <a:r>
              <a:rPr lang="en-GB" sz="1900">
                <a:solidFill>
                  <a:schemeClr val="accent4"/>
                </a:solidFill>
              </a:rPr>
              <a:t>1 unit</a:t>
            </a:r>
            <a:r>
              <a:rPr lang="en-GB" sz="1900"/>
              <a:t>. What are the coordinates of point P?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1"/>
          <p:cNvSpPr/>
          <p:nvPr/>
        </p:nvSpPr>
        <p:spPr>
          <a:xfrm>
            <a:off x="3273351" y="1696745"/>
            <a:ext cx="2613300" cy="2613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7" name="Google Shape;897;p7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238575" y="1509789"/>
            <a:ext cx="2784850" cy="195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1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>
            <a:off x="6198695" y="1301600"/>
            <a:ext cx="2613376" cy="1881801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1"/>
          <p:cNvSpPr txBox="1"/>
          <p:nvPr>
            <p:ph idx="1" type="body"/>
          </p:nvPr>
        </p:nvSpPr>
        <p:spPr>
          <a:xfrm>
            <a:off x="324000" y="683100"/>
            <a:ext cx="8496000" cy="77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triangle below has a hypotenuse of length </a:t>
            </a:r>
            <a:r>
              <a:rPr lang="en-GB" sz="2000">
                <a:solidFill>
                  <a:schemeClr val="accent4"/>
                </a:solidFill>
              </a:rPr>
              <a:t>1 unit</a:t>
            </a:r>
            <a:r>
              <a:rPr lang="en-GB" sz="2000"/>
              <a:t> with one of its vertices at the </a:t>
            </a:r>
            <a:r>
              <a:rPr lang="en-GB" sz="2000">
                <a:solidFill>
                  <a:schemeClr val="accent4"/>
                </a:solidFill>
              </a:rPr>
              <a:t>origin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00" name="Google Shape;90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901" name="Google Shape;901;p71"/>
          <p:cNvSpPr/>
          <p:nvPr/>
        </p:nvSpPr>
        <p:spPr>
          <a:xfrm>
            <a:off x="4538378" y="2203759"/>
            <a:ext cx="1095302" cy="812753"/>
          </a:xfrm>
          <a:custGeom>
            <a:rect b="b" l="l" r="r" t="t"/>
            <a:pathLst>
              <a:path extrusionOk="0" h="38781" w="52263">
                <a:moveTo>
                  <a:pt x="0" y="38558"/>
                </a:moveTo>
                <a:lnTo>
                  <a:pt x="52263" y="0"/>
                </a:lnTo>
                <a:lnTo>
                  <a:pt x="52263" y="38781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02" name="Google Shape;902;p71"/>
          <p:cNvCxnSpPr/>
          <p:nvPr/>
        </p:nvCxnSpPr>
        <p:spPr>
          <a:xfrm flipH="1" rot="10800000">
            <a:off x="4561430" y="2227231"/>
            <a:ext cx="1036500" cy="777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71"/>
          <p:cNvSpPr txBox="1"/>
          <p:nvPr>
            <p:ph idx="1" type="body"/>
          </p:nvPr>
        </p:nvSpPr>
        <p:spPr>
          <a:xfrm>
            <a:off x="4308500" y="2694572"/>
            <a:ext cx="363600" cy="43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04" name="Google Shape;904;p71"/>
          <p:cNvCxnSpPr/>
          <p:nvPr/>
        </p:nvCxnSpPr>
        <p:spPr>
          <a:xfrm rot="10800000">
            <a:off x="4562909" y="1364867"/>
            <a:ext cx="0" cy="3054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71"/>
          <p:cNvCxnSpPr/>
          <p:nvPr/>
        </p:nvCxnSpPr>
        <p:spPr>
          <a:xfrm>
            <a:off x="3168586" y="3020535"/>
            <a:ext cx="3091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p71"/>
          <p:cNvSpPr txBox="1"/>
          <p:nvPr>
            <p:ph idx="1" type="body"/>
          </p:nvPr>
        </p:nvSpPr>
        <p:spPr>
          <a:xfrm>
            <a:off x="4654767" y="1135117"/>
            <a:ext cx="330000" cy="4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07" name="Google Shape;907;p71"/>
          <p:cNvSpPr txBox="1"/>
          <p:nvPr>
            <p:ph idx="1" type="body"/>
          </p:nvPr>
        </p:nvSpPr>
        <p:spPr>
          <a:xfrm>
            <a:off x="6253123" y="2917078"/>
            <a:ext cx="256500" cy="37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08" name="Google Shape;908;p71"/>
          <p:cNvSpPr txBox="1"/>
          <p:nvPr>
            <p:ph idx="1" type="body"/>
          </p:nvPr>
        </p:nvSpPr>
        <p:spPr>
          <a:xfrm>
            <a:off x="4880832" y="2170664"/>
            <a:ext cx="223200" cy="2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</a:t>
            </a:r>
            <a:endParaRPr sz="2000"/>
          </a:p>
        </p:txBody>
      </p:sp>
      <p:sp>
        <p:nvSpPr>
          <p:cNvPr id="909" name="Google Shape;909;p71"/>
          <p:cNvSpPr/>
          <p:nvPr/>
        </p:nvSpPr>
        <p:spPr>
          <a:xfrm>
            <a:off x="4496376" y="2938896"/>
            <a:ext cx="132000" cy="1320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1"/>
          <p:cNvSpPr/>
          <p:nvPr/>
        </p:nvSpPr>
        <p:spPr>
          <a:xfrm>
            <a:off x="5545098" y="2151389"/>
            <a:ext cx="141600" cy="14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1" name="Google Shape;91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7324" y="3170389"/>
            <a:ext cx="624025" cy="60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2" name="Google Shape;912;p71"/>
          <p:cNvCxnSpPr/>
          <p:nvPr/>
        </p:nvCxnSpPr>
        <p:spPr>
          <a:xfrm flipH="1" rot="10800000">
            <a:off x="4609076" y="2205489"/>
            <a:ext cx="866400" cy="654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913" name="Google Shape;913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18505" y="3331393"/>
            <a:ext cx="468074" cy="539799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71"/>
          <p:cNvSpPr txBox="1"/>
          <p:nvPr>
            <p:ph idx="1" type="body"/>
          </p:nvPr>
        </p:nvSpPr>
        <p:spPr>
          <a:xfrm>
            <a:off x="5729118" y="1931677"/>
            <a:ext cx="223200" cy="2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</a:t>
            </a:r>
            <a:endParaRPr sz="2000"/>
          </a:p>
        </p:txBody>
      </p:sp>
      <p:sp>
        <p:nvSpPr>
          <p:cNvPr id="915" name="Google Shape;915;p71"/>
          <p:cNvSpPr txBox="1"/>
          <p:nvPr>
            <p:ph idx="1" type="body"/>
          </p:nvPr>
        </p:nvSpPr>
        <p:spPr>
          <a:xfrm>
            <a:off x="476332" y="1645350"/>
            <a:ext cx="24831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What would happen if we kept the hypotenuse </a:t>
            </a:r>
            <a:r>
              <a:rPr lang="en-GB" sz="1600"/>
              <a:t>at a </a:t>
            </a:r>
            <a:r>
              <a:rPr lang="en-GB" sz="1600"/>
              <a:t>fixed length of </a:t>
            </a:r>
            <a:r>
              <a:rPr lang="en-GB" sz="1600">
                <a:solidFill>
                  <a:schemeClr val="accent4"/>
                </a:solidFill>
              </a:rPr>
              <a:t>1 unit</a:t>
            </a:r>
            <a:r>
              <a:rPr lang="en-GB" sz="1600"/>
              <a:t> and changed the position of point P?</a:t>
            </a:r>
            <a:endParaRPr sz="1600"/>
          </a:p>
        </p:txBody>
      </p:sp>
      <p:sp>
        <p:nvSpPr>
          <p:cNvPr id="916" name="Google Shape;916;p71"/>
          <p:cNvSpPr txBox="1"/>
          <p:nvPr>
            <p:ph idx="1" type="body"/>
          </p:nvPr>
        </p:nvSpPr>
        <p:spPr>
          <a:xfrm>
            <a:off x="6253450" y="1492950"/>
            <a:ext cx="2401500" cy="5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Point P would move in a circle around the origin.</a:t>
            </a:r>
            <a:endParaRPr sz="1600"/>
          </a:p>
        </p:txBody>
      </p:sp>
      <p:sp>
        <p:nvSpPr>
          <p:cNvPr id="917" name="Google Shape;917;p71"/>
          <p:cNvSpPr txBox="1"/>
          <p:nvPr>
            <p:ph idx="1" type="body"/>
          </p:nvPr>
        </p:nvSpPr>
        <p:spPr>
          <a:xfrm>
            <a:off x="329379" y="3871200"/>
            <a:ext cx="499500" cy="2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Alex</a:t>
            </a:r>
            <a:endParaRPr sz="1600"/>
          </a:p>
        </p:txBody>
      </p:sp>
      <p:sp>
        <p:nvSpPr>
          <p:cNvPr id="918" name="Google Shape;918;p71"/>
          <p:cNvSpPr txBox="1"/>
          <p:nvPr>
            <p:ph idx="1" type="body"/>
          </p:nvPr>
        </p:nvSpPr>
        <p:spPr>
          <a:xfrm>
            <a:off x="8209204" y="3774300"/>
            <a:ext cx="499500" cy="29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Izzy</a:t>
            </a:r>
            <a:endParaRPr sz="1600"/>
          </a:p>
        </p:txBody>
      </p:sp>
      <p:sp>
        <p:nvSpPr>
          <p:cNvPr id="919" name="Google Shape;919;p71"/>
          <p:cNvSpPr txBox="1"/>
          <p:nvPr>
            <p:ph idx="1" type="body"/>
          </p:nvPr>
        </p:nvSpPr>
        <p:spPr>
          <a:xfrm>
            <a:off x="6253450" y="2178750"/>
            <a:ext cx="2401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radius of the circle would be 1 unit.</a:t>
            </a:r>
            <a:endParaRPr sz="1600"/>
          </a:p>
        </p:txBody>
      </p:sp>
      <p:sp>
        <p:nvSpPr>
          <p:cNvPr id="920" name="Google Shape;920;p71"/>
          <p:cNvSpPr txBox="1"/>
          <p:nvPr/>
        </p:nvSpPr>
        <p:spPr>
          <a:xfrm>
            <a:off x="840000" y="4477175"/>
            <a:ext cx="764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the link for an interactive version: </a:t>
            </a: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6"/>
              </a:rPr>
              <a:t>triangle with hypotenuse of 1 unit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9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2"/>
          <p:cNvSpPr/>
          <p:nvPr/>
        </p:nvSpPr>
        <p:spPr>
          <a:xfrm>
            <a:off x="30500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2"/>
          <p:cNvSpPr txBox="1"/>
          <p:nvPr>
            <p:ph idx="1" type="body"/>
          </p:nvPr>
        </p:nvSpPr>
        <p:spPr>
          <a:xfrm>
            <a:off x="324000" y="683100"/>
            <a:ext cx="8496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4"/>
                </a:solidFill>
              </a:rPr>
              <a:t>unit circle</a:t>
            </a:r>
            <a:r>
              <a:rPr lang="en-GB" sz="2000"/>
              <a:t> is a circle on a coordinate grid</a:t>
            </a:r>
            <a:endParaRPr sz="2000"/>
          </a:p>
        </p:txBody>
      </p:sp>
      <p:sp>
        <p:nvSpPr>
          <p:cNvPr id="928" name="Google Shape;92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929" name="Google Shape;929;p72"/>
          <p:cNvSpPr txBox="1"/>
          <p:nvPr/>
        </p:nvSpPr>
        <p:spPr>
          <a:xfrm>
            <a:off x="60218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2"/>
          <p:cNvSpPr txBox="1"/>
          <p:nvPr/>
        </p:nvSpPr>
        <p:spPr>
          <a:xfrm>
            <a:off x="28730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2"/>
          <p:cNvSpPr txBox="1"/>
          <p:nvPr/>
        </p:nvSpPr>
        <p:spPr>
          <a:xfrm>
            <a:off x="42756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2"/>
          <p:cNvSpPr txBox="1"/>
          <p:nvPr/>
        </p:nvSpPr>
        <p:spPr>
          <a:xfrm>
            <a:off x="43571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2"/>
          <p:cNvSpPr txBox="1"/>
          <p:nvPr>
            <p:ph idx="1" type="body"/>
          </p:nvPr>
        </p:nvSpPr>
        <p:spPr>
          <a:xfrm>
            <a:off x="43672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34" name="Google Shape;934;p72"/>
          <p:cNvGrpSpPr/>
          <p:nvPr/>
        </p:nvGrpSpPr>
        <p:grpSpPr>
          <a:xfrm>
            <a:off x="3043891" y="1409614"/>
            <a:ext cx="3392400" cy="3351900"/>
            <a:chOff x="3043891" y="1409614"/>
            <a:chExt cx="3392400" cy="3351900"/>
          </a:xfrm>
        </p:grpSpPr>
        <p:cxnSp>
          <p:nvCxnSpPr>
            <p:cNvPr id="935" name="Google Shape;935;p72"/>
            <p:cNvCxnSpPr/>
            <p:nvPr/>
          </p:nvCxnSpPr>
          <p:spPr>
            <a:xfrm rot="10800000">
              <a:off x="4573819" y="1409614"/>
              <a:ext cx="0" cy="3351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36" name="Google Shape;936;p72"/>
            <p:cNvCxnSpPr>
              <a:stCxn id="937" idx="1"/>
            </p:cNvCxnSpPr>
            <p:nvPr/>
          </p:nvCxnSpPr>
          <p:spPr>
            <a:xfrm>
              <a:off x="3043891" y="3226205"/>
              <a:ext cx="3392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38" name="Google Shape;938;p72"/>
            <p:cNvSpPr/>
            <p:nvPr/>
          </p:nvSpPr>
          <p:spPr>
            <a:xfrm>
              <a:off x="4523393" y="3175991"/>
              <a:ext cx="102600" cy="102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9" name="Google Shape;939;p72"/>
          <p:cNvSpPr txBox="1"/>
          <p:nvPr>
            <p:ph idx="1" type="body"/>
          </p:nvPr>
        </p:nvSpPr>
        <p:spPr>
          <a:xfrm>
            <a:off x="5908125" y="683100"/>
            <a:ext cx="29118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that is centred at the </a:t>
            </a:r>
            <a:endParaRPr sz="2000"/>
          </a:p>
        </p:txBody>
      </p:sp>
      <p:sp>
        <p:nvSpPr>
          <p:cNvPr id="940" name="Google Shape;940;p72"/>
          <p:cNvSpPr txBox="1"/>
          <p:nvPr>
            <p:ph idx="1" type="body"/>
          </p:nvPr>
        </p:nvSpPr>
        <p:spPr>
          <a:xfrm>
            <a:off x="324000" y="1033863"/>
            <a:ext cx="8292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origin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941" name="Google Shape;941;p72"/>
          <p:cNvSpPr txBox="1"/>
          <p:nvPr>
            <p:ph idx="1" type="body"/>
          </p:nvPr>
        </p:nvSpPr>
        <p:spPr>
          <a:xfrm>
            <a:off x="1108150" y="1038693"/>
            <a:ext cx="33414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 has a </a:t>
            </a:r>
            <a:r>
              <a:rPr lang="en-GB" sz="2000">
                <a:solidFill>
                  <a:schemeClr val="accent4"/>
                </a:solidFill>
              </a:rPr>
              <a:t>radius of 1 unit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42" name="Google Shape;942;p72"/>
          <p:cNvSpPr txBox="1"/>
          <p:nvPr/>
        </p:nvSpPr>
        <p:spPr>
          <a:xfrm>
            <a:off x="5053789" y="2386589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2"/>
          <p:cNvSpPr txBox="1"/>
          <p:nvPr/>
        </p:nvSpPr>
        <p:spPr>
          <a:xfrm>
            <a:off x="4013718" y="2384903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2"/>
          <p:cNvSpPr txBox="1"/>
          <p:nvPr/>
        </p:nvSpPr>
        <p:spPr>
          <a:xfrm>
            <a:off x="3911558" y="3548150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5" name="Google Shape;945;p72"/>
          <p:cNvGrpSpPr/>
          <p:nvPr/>
        </p:nvGrpSpPr>
        <p:grpSpPr>
          <a:xfrm>
            <a:off x="3046807" y="1709475"/>
            <a:ext cx="3066543" cy="3027300"/>
            <a:chOff x="3046807" y="1709475"/>
            <a:chExt cx="3066543" cy="3027300"/>
          </a:xfrm>
        </p:grpSpPr>
        <p:cxnSp>
          <p:nvCxnSpPr>
            <p:cNvPr id="946" name="Google Shape;946;p72"/>
            <p:cNvCxnSpPr/>
            <p:nvPr/>
          </p:nvCxnSpPr>
          <p:spPr>
            <a:xfrm flipH="1" rot="10800000">
              <a:off x="4593550" y="3223150"/>
              <a:ext cx="1519800" cy="27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7" name="Google Shape;947;p72"/>
            <p:cNvCxnSpPr/>
            <p:nvPr/>
          </p:nvCxnSpPr>
          <p:spPr>
            <a:xfrm flipH="1" rot="10800000">
              <a:off x="4573600" y="1709475"/>
              <a:ext cx="600" cy="15084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8" name="Google Shape;948;p72"/>
            <p:cNvCxnSpPr/>
            <p:nvPr/>
          </p:nvCxnSpPr>
          <p:spPr>
            <a:xfrm rot="10800000">
              <a:off x="3046807" y="3225739"/>
              <a:ext cx="15066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49" name="Google Shape;949;p72"/>
            <p:cNvCxnSpPr/>
            <p:nvPr/>
          </p:nvCxnSpPr>
          <p:spPr>
            <a:xfrm>
              <a:off x="4574700" y="3250575"/>
              <a:ext cx="0" cy="1486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50" name="Google Shape;950;p72"/>
          <p:cNvSpPr txBox="1"/>
          <p:nvPr/>
        </p:nvSpPr>
        <p:spPr>
          <a:xfrm>
            <a:off x="5198057" y="2912018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2"/>
          <p:cNvSpPr txBox="1"/>
          <p:nvPr/>
        </p:nvSpPr>
        <p:spPr>
          <a:xfrm>
            <a:off x="4534956" y="2219414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2"/>
          <p:cNvSpPr txBox="1"/>
          <p:nvPr/>
        </p:nvSpPr>
        <p:spPr>
          <a:xfrm>
            <a:off x="3667253" y="2905214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2"/>
          <p:cNvSpPr txBox="1"/>
          <p:nvPr/>
        </p:nvSpPr>
        <p:spPr>
          <a:xfrm>
            <a:off x="4540112" y="3714157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4" name="Google Shape;954;p72"/>
          <p:cNvGrpSpPr/>
          <p:nvPr/>
        </p:nvGrpSpPr>
        <p:grpSpPr>
          <a:xfrm>
            <a:off x="3582575" y="2087700"/>
            <a:ext cx="2262325" cy="2385550"/>
            <a:chOff x="3582575" y="2087700"/>
            <a:chExt cx="2262325" cy="2385550"/>
          </a:xfrm>
        </p:grpSpPr>
        <p:cxnSp>
          <p:nvCxnSpPr>
            <p:cNvPr id="955" name="Google Shape;955;p72"/>
            <p:cNvCxnSpPr/>
            <p:nvPr/>
          </p:nvCxnSpPr>
          <p:spPr>
            <a:xfrm flipH="1" rot="10800000">
              <a:off x="4583575" y="2320950"/>
              <a:ext cx="1206900" cy="8976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56" name="Google Shape;956;p72"/>
            <p:cNvCxnSpPr/>
            <p:nvPr/>
          </p:nvCxnSpPr>
          <p:spPr>
            <a:xfrm rot="10800000">
              <a:off x="3582575" y="2087700"/>
              <a:ext cx="983700" cy="11355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57" name="Google Shape;957;p72"/>
            <p:cNvCxnSpPr/>
            <p:nvPr/>
          </p:nvCxnSpPr>
          <p:spPr>
            <a:xfrm flipH="1">
              <a:off x="3710346" y="3241150"/>
              <a:ext cx="849300" cy="12321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958" name="Google Shape;958;p72"/>
            <p:cNvCxnSpPr/>
            <p:nvPr/>
          </p:nvCxnSpPr>
          <p:spPr>
            <a:xfrm>
              <a:off x="4574700" y="3250575"/>
              <a:ext cx="1270200" cy="7821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959" name="Google Shape;959;p72"/>
          <p:cNvSpPr txBox="1"/>
          <p:nvPr/>
        </p:nvSpPr>
        <p:spPr>
          <a:xfrm>
            <a:off x="5149712" y="3357210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2"/>
          <p:cNvSpPr txBox="1"/>
          <p:nvPr>
            <p:ph idx="1" type="body"/>
          </p:nvPr>
        </p:nvSpPr>
        <p:spPr>
          <a:xfrm>
            <a:off x="46960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61" name="Google Shape;961;p72"/>
          <p:cNvSpPr txBox="1"/>
          <p:nvPr>
            <p:ph idx="1" type="body"/>
          </p:nvPr>
        </p:nvSpPr>
        <p:spPr>
          <a:xfrm>
            <a:off x="6296254" y="29037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Google Shape;9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9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3"/>
          <p:cNvSpPr/>
          <p:nvPr/>
        </p:nvSpPr>
        <p:spPr>
          <a:xfrm>
            <a:off x="30500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8" name="Google Shape;968;p73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353839" y="1617800"/>
            <a:ext cx="2599450" cy="2028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9" name="Google Shape;969;p73"/>
          <p:cNvGrpSpPr/>
          <p:nvPr/>
        </p:nvGrpSpPr>
        <p:grpSpPr>
          <a:xfrm>
            <a:off x="4572780" y="2319750"/>
            <a:ext cx="1229525" cy="910750"/>
            <a:chOff x="4572780" y="2319750"/>
            <a:chExt cx="1229525" cy="910750"/>
          </a:xfrm>
        </p:grpSpPr>
        <p:sp>
          <p:nvSpPr>
            <p:cNvPr id="970" name="Google Shape;970;p73"/>
            <p:cNvSpPr/>
            <p:nvPr/>
          </p:nvSpPr>
          <p:spPr>
            <a:xfrm>
              <a:off x="4572780" y="2319750"/>
              <a:ext cx="1229525" cy="910750"/>
            </a:xfrm>
            <a:custGeom>
              <a:rect b="b" l="l" r="r" t="t"/>
              <a:pathLst>
                <a:path extrusionOk="0" h="36430" w="49181">
                  <a:moveTo>
                    <a:pt x="0" y="36430"/>
                  </a:moveTo>
                  <a:lnTo>
                    <a:pt x="49181" y="0"/>
                  </a:lnTo>
                  <a:lnTo>
                    <a:pt x="49181" y="36430"/>
                  </a:lnTo>
                  <a:close/>
                </a:path>
              </a:pathLst>
            </a:cu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71" name="Google Shape;971;p73"/>
            <p:cNvSpPr/>
            <p:nvPr/>
          </p:nvSpPr>
          <p:spPr>
            <a:xfrm>
              <a:off x="5710345" y="3134260"/>
              <a:ext cx="91500" cy="91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972" name="Google Shape;972;p73"/>
          <p:cNvCxnSpPr/>
          <p:nvPr/>
        </p:nvCxnSpPr>
        <p:spPr>
          <a:xfrm rot="10800000">
            <a:off x="45738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3" name="Google Shape;973;p73"/>
          <p:cNvCxnSpPr>
            <a:stCxn id="974" idx="1"/>
          </p:cNvCxnSpPr>
          <p:nvPr/>
        </p:nvCxnSpPr>
        <p:spPr>
          <a:xfrm>
            <a:off x="30438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5" name="Google Shape;975;p73"/>
          <p:cNvSpPr txBox="1"/>
          <p:nvPr>
            <p:ph idx="1" type="body"/>
          </p:nvPr>
        </p:nvSpPr>
        <p:spPr>
          <a:xfrm>
            <a:off x="324000" y="683100"/>
            <a:ext cx="8496000" cy="4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 </a:t>
            </a:r>
            <a:r>
              <a:rPr lang="en-GB" sz="1900">
                <a:solidFill>
                  <a:schemeClr val="accent4"/>
                </a:solidFill>
              </a:rPr>
              <a:t>right-angled triangle</a:t>
            </a:r>
            <a:r>
              <a:rPr lang="en-GB" sz="1900"/>
              <a:t> can be made between the radius and the 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900"/>
              <a:t>-axis.</a:t>
            </a:r>
            <a:endParaRPr sz="1900"/>
          </a:p>
        </p:txBody>
      </p:sp>
      <p:sp>
        <p:nvSpPr>
          <p:cNvPr id="976" name="Google Shape;97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977" name="Google Shape;977;p73"/>
          <p:cNvSpPr txBox="1"/>
          <p:nvPr/>
        </p:nvSpPr>
        <p:spPr>
          <a:xfrm>
            <a:off x="60218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3"/>
          <p:cNvSpPr txBox="1"/>
          <p:nvPr/>
        </p:nvSpPr>
        <p:spPr>
          <a:xfrm>
            <a:off x="28730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3"/>
          <p:cNvSpPr txBox="1"/>
          <p:nvPr/>
        </p:nvSpPr>
        <p:spPr>
          <a:xfrm>
            <a:off x="42756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3"/>
          <p:cNvSpPr txBox="1"/>
          <p:nvPr/>
        </p:nvSpPr>
        <p:spPr>
          <a:xfrm>
            <a:off x="43571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3"/>
          <p:cNvSpPr txBox="1"/>
          <p:nvPr>
            <p:ph idx="1" type="body"/>
          </p:nvPr>
        </p:nvSpPr>
        <p:spPr>
          <a:xfrm>
            <a:off x="43672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2" name="Google Shape;982;p73"/>
          <p:cNvCxnSpPr/>
          <p:nvPr/>
        </p:nvCxnSpPr>
        <p:spPr>
          <a:xfrm flipH="1" rot="10800000">
            <a:off x="4574075" y="2317050"/>
            <a:ext cx="1230600" cy="911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3" name="Google Shape;983;p73"/>
          <p:cNvSpPr/>
          <p:nvPr/>
        </p:nvSpPr>
        <p:spPr>
          <a:xfrm>
            <a:off x="45233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3"/>
          <p:cNvSpPr txBox="1"/>
          <p:nvPr/>
        </p:nvSpPr>
        <p:spPr>
          <a:xfrm>
            <a:off x="4989108" y="24281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5" name="Google Shape;985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730" y="3639342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3"/>
          <p:cNvSpPr txBox="1"/>
          <p:nvPr/>
        </p:nvSpPr>
        <p:spPr>
          <a:xfrm>
            <a:off x="233350" y="4243254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3"/>
          <p:cNvSpPr txBox="1"/>
          <p:nvPr>
            <p:ph idx="1" type="body"/>
          </p:nvPr>
        </p:nvSpPr>
        <p:spPr>
          <a:xfrm>
            <a:off x="625979" y="1762200"/>
            <a:ext cx="2245200" cy="15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The hypotenuse of the triangle is the radius of the circle.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So, the </a:t>
            </a:r>
            <a:r>
              <a:rPr lang="en-GB" sz="1600">
                <a:solidFill>
                  <a:schemeClr val="accent4"/>
                </a:solidFill>
              </a:rPr>
              <a:t>hypotenuse</a:t>
            </a:r>
            <a:r>
              <a:rPr lang="en-GB" sz="1600"/>
              <a:t> has a length of </a:t>
            </a:r>
            <a:r>
              <a:rPr lang="en-GB" sz="1600">
                <a:solidFill>
                  <a:schemeClr val="accent4"/>
                </a:solidFill>
              </a:rPr>
              <a:t>1 unit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988" name="Google Shape;988;p73"/>
          <p:cNvSpPr/>
          <p:nvPr/>
        </p:nvSpPr>
        <p:spPr>
          <a:xfrm>
            <a:off x="5753538" y="226148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3"/>
          <p:cNvSpPr txBox="1"/>
          <p:nvPr>
            <p:ph idx="1" type="body"/>
          </p:nvPr>
        </p:nvSpPr>
        <p:spPr>
          <a:xfrm>
            <a:off x="43912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990" name="Google Shape;990;p73"/>
          <p:cNvSpPr txBox="1"/>
          <p:nvPr>
            <p:ph idx="1" type="body"/>
          </p:nvPr>
        </p:nvSpPr>
        <p:spPr>
          <a:xfrm>
            <a:off x="63724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5" name="Google Shape;995;p74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353850" y="1925725"/>
            <a:ext cx="2519173" cy="161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9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7" name="Google Shape;997;p74"/>
          <p:cNvGrpSpPr/>
          <p:nvPr/>
        </p:nvGrpSpPr>
        <p:grpSpPr>
          <a:xfrm>
            <a:off x="4572780" y="2319750"/>
            <a:ext cx="1229525" cy="910750"/>
            <a:chOff x="4572780" y="2319750"/>
            <a:chExt cx="1229525" cy="910750"/>
          </a:xfrm>
        </p:grpSpPr>
        <p:sp>
          <p:nvSpPr>
            <p:cNvPr id="998" name="Google Shape;998;p74"/>
            <p:cNvSpPr/>
            <p:nvPr/>
          </p:nvSpPr>
          <p:spPr>
            <a:xfrm>
              <a:off x="4572780" y="2319750"/>
              <a:ext cx="1229525" cy="910750"/>
            </a:xfrm>
            <a:custGeom>
              <a:rect b="b" l="l" r="r" t="t"/>
              <a:pathLst>
                <a:path extrusionOk="0" h="36430" w="49181">
                  <a:moveTo>
                    <a:pt x="0" y="36430"/>
                  </a:moveTo>
                  <a:lnTo>
                    <a:pt x="49181" y="0"/>
                  </a:lnTo>
                  <a:lnTo>
                    <a:pt x="49181" y="36430"/>
                  </a:lnTo>
                  <a:close/>
                </a:path>
              </a:pathLst>
            </a:cu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99" name="Google Shape;999;p74"/>
            <p:cNvSpPr/>
            <p:nvPr/>
          </p:nvSpPr>
          <p:spPr>
            <a:xfrm>
              <a:off x="5710345" y="3134260"/>
              <a:ext cx="91500" cy="91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00" name="Google Shape;1000;p74"/>
          <p:cNvCxnSpPr/>
          <p:nvPr/>
        </p:nvCxnSpPr>
        <p:spPr>
          <a:xfrm rot="10800000">
            <a:off x="45738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1" name="Google Shape;1001;p74"/>
          <p:cNvCxnSpPr>
            <a:stCxn id="1002" idx="1"/>
          </p:cNvCxnSpPr>
          <p:nvPr/>
        </p:nvCxnSpPr>
        <p:spPr>
          <a:xfrm>
            <a:off x="30438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3" name="Google Shape;1003;p74"/>
          <p:cNvSpPr txBox="1"/>
          <p:nvPr>
            <p:ph idx="1" type="body"/>
          </p:nvPr>
        </p:nvSpPr>
        <p:spPr>
          <a:xfrm>
            <a:off x="324000" y="683100"/>
            <a:ext cx="8496000" cy="6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</a:t>
            </a:r>
            <a:r>
              <a:rPr lang="en-GB" sz="1900"/>
              <a:t>two</a:t>
            </a:r>
            <a:r>
              <a:rPr lang="en-GB" sz="1900"/>
              <a:t> other lengths on the triangle can be found from the </a:t>
            </a:r>
            <a:r>
              <a:rPr lang="en-GB" sz="1900">
                <a:solidFill>
                  <a:schemeClr val="accent4"/>
                </a:solidFill>
              </a:rPr>
              <a:t>coordinates</a:t>
            </a:r>
            <a:r>
              <a:rPr lang="en-GB" sz="1900"/>
              <a:t> of the point where the radius intersects the circle.</a:t>
            </a:r>
            <a:endParaRPr sz="1900"/>
          </a:p>
        </p:txBody>
      </p:sp>
      <p:sp>
        <p:nvSpPr>
          <p:cNvPr id="1004" name="Google Shape;100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005" name="Google Shape;1005;p74"/>
          <p:cNvSpPr txBox="1"/>
          <p:nvPr/>
        </p:nvSpPr>
        <p:spPr>
          <a:xfrm>
            <a:off x="60218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4"/>
          <p:cNvSpPr txBox="1"/>
          <p:nvPr/>
        </p:nvSpPr>
        <p:spPr>
          <a:xfrm>
            <a:off x="28730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4"/>
          <p:cNvSpPr txBox="1"/>
          <p:nvPr/>
        </p:nvSpPr>
        <p:spPr>
          <a:xfrm>
            <a:off x="42756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4"/>
          <p:cNvSpPr txBox="1"/>
          <p:nvPr/>
        </p:nvSpPr>
        <p:spPr>
          <a:xfrm>
            <a:off x="43571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4"/>
          <p:cNvSpPr txBox="1"/>
          <p:nvPr>
            <p:ph idx="1" type="body"/>
          </p:nvPr>
        </p:nvSpPr>
        <p:spPr>
          <a:xfrm>
            <a:off x="43672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0" name="Google Shape;1010;p74"/>
          <p:cNvCxnSpPr/>
          <p:nvPr/>
        </p:nvCxnSpPr>
        <p:spPr>
          <a:xfrm flipH="1" rot="10800000">
            <a:off x="4574075" y="2317050"/>
            <a:ext cx="1230600" cy="911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1" name="Google Shape;1011;p74"/>
          <p:cNvSpPr/>
          <p:nvPr/>
        </p:nvSpPr>
        <p:spPr>
          <a:xfrm>
            <a:off x="45233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2" name="Google Shape;1012;p74"/>
          <p:cNvSpPr txBox="1"/>
          <p:nvPr/>
        </p:nvSpPr>
        <p:spPr>
          <a:xfrm>
            <a:off x="4989108" y="24281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13" name="Google Shape;1013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730" y="3639342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74"/>
          <p:cNvSpPr txBox="1"/>
          <p:nvPr/>
        </p:nvSpPr>
        <p:spPr>
          <a:xfrm>
            <a:off x="233350" y="4243254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5" name="Google Shape;1015;p74"/>
          <p:cNvSpPr txBox="1"/>
          <p:nvPr>
            <p:ph idx="1" type="body"/>
          </p:nvPr>
        </p:nvSpPr>
        <p:spPr>
          <a:xfrm>
            <a:off x="587986" y="2066925"/>
            <a:ext cx="2243400" cy="115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length of the triangle’s </a:t>
            </a:r>
            <a:r>
              <a:rPr lang="en-GB" sz="1600">
                <a:solidFill>
                  <a:schemeClr val="accent4"/>
                </a:solidFill>
              </a:rPr>
              <a:t>horizontal</a:t>
            </a:r>
            <a:r>
              <a:rPr lang="en-GB" sz="1600"/>
              <a:t> edge can be deduced from the </a:t>
            </a:r>
            <a:r>
              <a:rPr i="1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>
                <a:solidFill>
                  <a:schemeClr val="accent4"/>
                </a:solidFill>
              </a:rPr>
              <a:t>-coordinate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016" name="Google Shape;1016;p74"/>
          <p:cNvSpPr/>
          <p:nvPr/>
        </p:nvSpPr>
        <p:spPr>
          <a:xfrm>
            <a:off x="30500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4"/>
          <p:cNvSpPr/>
          <p:nvPr/>
        </p:nvSpPr>
        <p:spPr>
          <a:xfrm>
            <a:off x="5753538" y="226148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8" name="Google Shape;1018;p74"/>
          <p:cNvCxnSpPr/>
          <p:nvPr/>
        </p:nvCxnSpPr>
        <p:spPr>
          <a:xfrm rot="10800000">
            <a:off x="4575867" y="3222005"/>
            <a:ext cx="1243200" cy="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9" name="Google Shape;1019;p74"/>
          <p:cNvSpPr txBox="1"/>
          <p:nvPr/>
        </p:nvSpPr>
        <p:spPr>
          <a:xfrm>
            <a:off x="5784391" y="1944825"/>
            <a:ext cx="106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(0.8, 0.6)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0" name="Google Shape;1020;p74"/>
          <p:cNvCxnSpPr/>
          <p:nvPr/>
        </p:nvCxnSpPr>
        <p:spPr>
          <a:xfrm rot="10800000">
            <a:off x="4593700" y="3448879"/>
            <a:ext cx="1202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21" name="Google Shape;1021;p74"/>
          <p:cNvSpPr txBox="1"/>
          <p:nvPr/>
        </p:nvSpPr>
        <p:spPr>
          <a:xfrm>
            <a:off x="4957053" y="3352046"/>
            <a:ext cx="6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4"/>
          <p:cNvSpPr txBox="1"/>
          <p:nvPr/>
        </p:nvSpPr>
        <p:spPr>
          <a:xfrm>
            <a:off x="5564683" y="3113925"/>
            <a:ext cx="49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3" name="Google Shape;1023;p74"/>
          <p:cNvCxnSpPr/>
          <p:nvPr/>
        </p:nvCxnSpPr>
        <p:spPr>
          <a:xfrm rot="10800000">
            <a:off x="5976261" y="2267975"/>
            <a:ext cx="243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4" name="Google Shape;1024;p74"/>
          <p:cNvSpPr txBox="1"/>
          <p:nvPr>
            <p:ph idx="1" type="body"/>
          </p:nvPr>
        </p:nvSpPr>
        <p:spPr>
          <a:xfrm>
            <a:off x="43912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25" name="Google Shape;1025;p74"/>
          <p:cNvSpPr txBox="1"/>
          <p:nvPr>
            <p:ph idx="1" type="body"/>
          </p:nvPr>
        </p:nvSpPr>
        <p:spPr>
          <a:xfrm>
            <a:off x="63724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75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353850" y="1925725"/>
            <a:ext cx="2519173" cy="161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9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2" name="Google Shape;1032;p75"/>
          <p:cNvGrpSpPr/>
          <p:nvPr/>
        </p:nvGrpSpPr>
        <p:grpSpPr>
          <a:xfrm>
            <a:off x="4572780" y="2319750"/>
            <a:ext cx="1229525" cy="910750"/>
            <a:chOff x="4572780" y="2319750"/>
            <a:chExt cx="1229525" cy="910750"/>
          </a:xfrm>
        </p:grpSpPr>
        <p:sp>
          <p:nvSpPr>
            <p:cNvPr id="1033" name="Google Shape;1033;p75"/>
            <p:cNvSpPr/>
            <p:nvPr/>
          </p:nvSpPr>
          <p:spPr>
            <a:xfrm>
              <a:off x="4572780" y="2319750"/>
              <a:ext cx="1229525" cy="910750"/>
            </a:xfrm>
            <a:custGeom>
              <a:rect b="b" l="l" r="r" t="t"/>
              <a:pathLst>
                <a:path extrusionOk="0" h="36430" w="49181">
                  <a:moveTo>
                    <a:pt x="0" y="36430"/>
                  </a:moveTo>
                  <a:lnTo>
                    <a:pt x="49181" y="0"/>
                  </a:lnTo>
                  <a:lnTo>
                    <a:pt x="49181" y="36430"/>
                  </a:lnTo>
                  <a:close/>
                </a:path>
              </a:pathLst>
            </a:custGeom>
            <a:solidFill>
              <a:srgbClr val="F3EEFB"/>
            </a:solidFill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34" name="Google Shape;1034;p75"/>
            <p:cNvSpPr/>
            <p:nvPr/>
          </p:nvSpPr>
          <p:spPr>
            <a:xfrm>
              <a:off x="5710345" y="3134260"/>
              <a:ext cx="91500" cy="91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035" name="Google Shape;1035;p75"/>
          <p:cNvCxnSpPr/>
          <p:nvPr/>
        </p:nvCxnSpPr>
        <p:spPr>
          <a:xfrm rot="10800000">
            <a:off x="45738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6" name="Google Shape;1036;p75"/>
          <p:cNvCxnSpPr>
            <a:stCxn id="1037" idx="1"/>
          </p:cNvCxnSpPr>
          <p:nvPr/>
        </p:nvCxnSpPr>
        <p:spPr>
          <a:xfrm>
            <a:off x="30438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8" name="Google Shape;1038;p75"/>
          <p:cNvSpPr txBox="1"/>
          <p:nvPr>
            <p:ph idx="1" type="body"/>
          </p:nvPr>
        </p:nvSpPr>
        <p:spPr>
          <a:xfrm>
            <a:off x="324000" y="683100"/>
            <a:ext cx="8496000" cy="6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The two other lengths on the triangle can be found from the </a:t>
            </a:r>
            <a:r>
              <a:rPr lang="en-GB" sz="1900">
                <a:solidFill>
                  <a:schemeClr val="accent4"/>
                </a:solidFill>
              </a:rPr>
              <a:t>coordinates</a:t>
            </a:r>
            <a:r>
              <a:rPr lang="en-GB" sz="1900"/>
              <a:t> of the point where the radius intersects the circle.</a:t>
            </a:r>
            <a:endParaRPr sz="2000"/>
          </a:p>
        </p:txBody>
      </p:sp>
      <p:sp>
        <p:nvSpPr>
          <p:cNvPr id="1039" name="Google Shape;103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040" name="Google Shape;1040;p75"/>
          <p:cNvSpPr txBox="1"/>
          <p:nvPr/>
        </p:nvSpPr>
        <p:spPr>
          <a:xfrm>
            <a:off x="60218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5"/>
          <p:cNvSpPr txBox="1"/>
          <p:nvPr/>
        </p:nvSpPr>
        <p:spPr>
          <a:xfrm>
            <a:off x="28730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5"/>
          <p:cNvSpPr txBox="1"/>
          <p:nvPr/>
        </p:nvSpPr>
        <p:spPr>
          <a:xfrm>
            <a:off x="42756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5"/>
          <p:cNvSpPr txBox="1"/>
          <p:nvPr/>
        </p:nvSpPr>
        <p:spPr>
          <a:xfrm>
            <a:off x="43571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5"/>
          <p:cNvSpPr txBox="1"/>
          <p:nvPr>
            <p:ph idx="1" type="body"/>
          </p:nvPr>
        </p:nvSpPr>
        <p:spPr>
          <a:xfrm>
            <a:off x="43672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45" name="Google Shape;1045;p75"/>
          <p:cNvCxnSpPr/>
          <p:nvPr/>
        </p:nvCxnSpPr>
        <p:spPr>
          <a:xfrm flipH="1" rot="10800000">
            <a:off x="4574075" y="2317050"/>
            <a:ext cx="1230600" cy="911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6" name="Google Shape;1046;p75"/>
          <p:cNvSpPr/>
          <p:nvPr/>
        </p:nvSpPr>
        <p:spPr>
          <a:xfrm>
            <a:off x="45233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5"/>
          <p:cNvSpPr txBox="1"/>
          <p:nvPr/>
        </p:nvSpPr>
        <p:spPr>
          <a:xfrm>
            <a:off x="4989108" y="24281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8" name="Google Shape;1048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730" y="3639342"/>
            <a:ext cx="54654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75"/>
          <p:cNvSpPr txBox="1"/>
          <p:nvPr/>
        </p:nvSpPr>
        <p:spPr>
          <a:xfrm>
            <a:off x="233350" y="4243254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5"/>
          <p:cNvSpPr txBox="1"/>
          <p:nvPr>
            <p:ph idx="1" type="body"/>
          </p:nvPr>
        </p:nvSpPr>
        <p:spPr>
          <a:xfrm>
            <a:off x="587986" y="2066925"/>
            <a:ext cx="2243400" cy="115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The length of the triangle’s </a:t>
            </a:r>
            <a:r>
              <a:rPr lang="en-GB" sz="1600">
                <a:solidFill>
                  <a:schemeClr val="accent4"/>
                </a:solidFill>
              </a:rPr>
              <a:t>vertical</a:t>
            </a:r>
            <a:r>
              <a:rPr lang="en-GB" sz="1600"/>
              <a:t> edge can be </a:t>
            </a:r>
            <a:r>
              <a:rPr lang="en-GB" sz="1600"/>
              <a:t>deduced</a:t>
            </a:r>
            <a:r>
              <a:rPr lang="en-GB" sz="1600"/>
              <a:t> from the </a:t>
            </a:r>
            <a:r>
              <a:rPr i="1" lang="en-GB" sz="1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600">
                <a:solidFill>
                  <a:schemeClr val="accent4"/>
                </a:solidFill>
              </a:rPr>
              <a:t>-coordinate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051" name="Google Shape;1051;p75"/>
          <p:cNvSpPr/>
          <p:nvPr/>
        </p:nvSpPr>
        <p:spPr>
          <a:xfrm>
            <a:off x="30500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2" name="Google Shape;1052;p75"/>
          <p:cNvCxnSpPr/>
          <p:nvPr/>
        </p:nvCxnSpPr>
        <p:spPr>
          <a:xfrm rot="10800000">
            <a:off x="4575867" y="3222005"/>
            <a:ext cx="1243200" cy="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3" name="Google Shape;1053;p75"/>
          <p:cNvSpPr txBox="1"/>
          <p:nvPr/>
        </p:nvSpPr>
        <p:spPr>
          <a:xfrm>
            <a:off x="5784391" y="1944825"/>
            <a:ext cx="106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(0.8, 0.6)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4" name="Google Shape;1054;p75"/>
          <p:cNvCxnSpPr/>
          <p:nvPr/>
        </p:nvCxnSpPr>
        <p:spPr>
          <a:xfrm rot="10800000">
            <a:off x="4593700" y="3448879"/>
            <a:ext cx="1202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55" name="Google Shape;1055;p75"/>
          <p:cNvSpPr txBox="1"/>
          <p:nvPr/>
        </p:nvSpPr>
        <p:spPr>
          <a:xfrm>
            <a:off x="4957053" y="3352046"/>
            <a:ext cx="6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5"/>
          <p:cNvSpPr txBox="1"/>
          <p:nvPr/>
        </p:nvSpPr>
        <p:spPr>
          <a:xfrm>
            <a:off x="5564683" y="3113925"/>
            <a:ext cx="49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7" name="Google Shape;1057;p75"/>
          <p:cNvCxnSpPr/>
          <p:nvPr/>
        </p:nvCxnSpPr>
        <p:spPr>
          <a:xfrm rot="10800000">
            <a:off x="5801850" y="2312175"/>
            <a:ext cx="0" cy="90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75"/>
          <p:cNvSpPr txBox="1"/>
          <p:nvPr/>
        </p:nvSpPr>
        <p:spPr>
          <a:xfrm>
            <a:off x="4137294" y="2096111"/>
            <a:ext cx="49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9" name="Google Shape;1059;p75"/>
          <p:cNvCxnSpPr/>
          <p:nvPr/>
        </p:nvCxnSpPr>
        <p:spPr>
          <a:xfrm rot="10800000">
            <a:off x="5961811" y="2330221"/>
            <a:ext cx="0" cy="877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60" name="Google Shape;1060;p75"/>
          <p:cNvSpPr txBox="1"/>
          <p:nvPr/>
        </p:nvSpPr>
        <p:spPr>
          <a:xfrm>
            <a:off x="5938887" y="2553300"/>
            <a:ext cx="6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1" name="Google Shape;1061;p75"/>
          <p:cNvCxnSpPr/>
          <p:nvPr/>
        </p:nvCxnSpPr>
        <p:spPr>
          <a:xfrm rot="10800000">
            <a:off x="4569064" y="2314408"/>
            <a:ext cx="1243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62" name="Google Shape;1062;p75"/>
          <p:cNvSpPr/>
          <p:nvPr/>
        </p:nvSpPr>
        <p:spPr>
          <a:xfrm>
            <a:off x="5753538" y="226148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3" name="Google Shape;1063;p75"/>
          <p:cNvCxnSpPr/>
          <p:nvPr/>
        </p:nvCxnSpPr>
        <p:spPr>
          <a:xfrm rot="10800000">
            <a:off x="6371692" y="2267975"/>
            <a:ext cx="243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4" name="Google Shape;1064;p75"/>
          <p:cNvSpPr txBox="1"/>
          <p:nvPr>
            <p:ph idx="1" type="body"/>
          </p:nvPr>
        </p:nvSpPr>
        <p:spPr>
          <a:xfrm>
            <a:off x="43912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65" name="Google Shape;1065;p75"/>
          <p:cNvSpPr txBox="1"/>
          <p:nvPr>
            <p:ph idx="1" type="body"/>
          </p:nvPr>
        </p:nvSpPr>
        <p:spPr>
          <a:xfrm>
            <a:off x="63724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9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76"/>
          <p:cNvSpPr/>
          <p:nvPr/>
        </p:nvSpPr>
        <p:spPr>
          <a:xfrm>
            <a:off x="30500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2" name="Google Shape;1072;p76"/>
          <p:cNvCxnSpPr/>
          <p:nvPr/>
        </p:nvCxnSpPr>
        <p:spPr>
          <a:xfrm rot="10800000">
            <a:off x="45738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76"/>
          <p:cNvCxnSpPr>
            <a:stCxn id="1074" idx="1"/>
          </p:cNvCxnSpPr>
          <p:nvPr/>
        </p:nvCxnSpPr>
        <p:spPr>
          <a:xfrm>
            <a:off x="30438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5" name="Google Shape;1075;p76"/>
          <p:cNvSpPr txBox="1"/>
          <p:nvPr>
            <p:ph idx="1" type="body"/>
          </p:nvPr>
        </p:nvSpPr>
        <p:spPr>
          <a:xfrm>
            <a:off x="324000" y="683100"/>
            <a:ext cx="8496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As the radius is rotated around the circle, we can consider how the </a:t>
            </a:r>
            <a:r>
              <a:rPr lang="en-GB" sz="2000">
                <a:solidFill>
                  <a:schemeClr val="accent4"/>
                </a:solidFill>
              </a:rPr>
              <a:t>angle of rotation</a:t>
            </a:r>
            <a:r>
              <a:rPr lang="en-GB" sz="2000"/>
              <a:t> affects the lengths on the triangle.</a:t>
            </a:r>
            <a:endParaRPr sz="2000"/>
          </a:p>
        </p:txBody>
      </p:sp>
      <p:sp>
        <p:nvSpPr>
          <p:cNvPr id="1076" name="Google Shape;107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077" name="Google Shape;1077;p76"/>
          <p:cNvSpPr txBox="1"/>
          <p:nvPr/>
        </p:nvSpPr>
        <p:spPr>
          <a:xfrm>
            <a:off x="60218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6"/>
          <p:cNvSpPr txBox="1"/>
          <p:nvPr/>
        </p:nvSpPr>
        <p:spPr>
          <a:xfrm>
            <a:off x="28730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6"/>
          <p:cNvSpPr txBox="1"/>
          <p:nvPr/>
        </p:nvSpPr>
        <p:spPr>
          <a:xfrm>
            <a:off x="42756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6"/>
          <p:cNvSpPr txBox="1"/>
          <p:nvPr/>
        </p:nvSpPr>
        <p:spPr>
          <a:xfrm>
            <a:off x="43571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6"/>
          <p:cNvSpPr txBox="1"/>
          <p:nvPr>
            <p:ph idx="1" type="body"/>
          </p:nvPr>
        </p:nvSpPr>
        <p:spPr>
          <a:xfrm>
            <a:off x="43672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82" name="Google Shape;1082;p76"/>
          <p:cNvCxnSpPr>
            <a:endCxn id="1083" idx="6"/>
          </p:cNvCxnSpPr>
          <p:nvPr/>
        </p:nvCxnSpPr>
        <p:spPr>
          <a:xfrm flipH="1" rot="10800000">
            <a:off x="4573988" y="3226206"/>
            <a:ext cx="1574700" cy="2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4" name="Google Shape;1084;p76"/>
          <p:cNvSpPr/>
          <p:nvPr/>
        </p:nvSpPr>
        <p:spPr>
          <a:xfrm>
            <a:off x="45233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76"/>
          <p:cNvSpPr txBox="1"/>
          <p:nvPr/>
        </p:nvSpPr>
        <p:spPr>
          <a:xfrm>
            <a:off x="6012997" y="2796625"/>
            <a:ext cx="71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(1, 0)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76"/>
          <p:cNvSpPr/>
          <p:nvPr/>
        </p:nvSpPr>
        <p:spPr>
          <a:xfrm>
            <a:off x="6046088" y="3174906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76"/>
          <p:cNvSpPr txBox="1"/>
          <p:nvPr>
            <p:ph idx="1" type="body"/>
          </p:nvPr>
        </p:nvSpPr>
        <p:spPr>
          <a:xfrm>
            <a:off x="43912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87" name="Google Shape;1087;p76"/>
          <p:cNvSpPr txBox="1"/>
          <p:nvPr>
            <p:ph idx="1" type="body"/>
          </p:nvPr>
        </p:nvSpPr>
        <p:spPr>
          <a:xfrm>
            <a:off x="63724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2" name="Google Shape;109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9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77"/>
          <p:cNvSpPr/>
          <p:nvPr/>
        </p:nvSpPr>
        <p:spPr>
          <a:xfrm>
            <a:off x="30500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7"/>
          <p:cNvSpPr/>
          <p:nvPr/>
        </p:nvSpPr>
        <p:spPr>
          <a:xfrm>
            <a:off x="4572775" y="2701050"/>
            <a:ext cx="1449350" cy="529450"/>
          </a:xfrm>
          <a:custGeom>
            <a:rect b="b" l="l" r="r" t="t"/>
            <a:pathLst>
              <a:path extrusionOk="0" h="21178" w="57974">
                <a:moveTo>
                  <a:pt x="0" y="21178"/>
                </a:moveTo>
                <a:lnTo>
                  <a:pt x="57878" y="0"/>
                </a:lnTo>
                <a:lnTo>
                  <a:pt x="57974" y="21017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095" name="Google Shape;1095;p77"/>
          <p:cNvCxnSpPr/>
          <p:nvPr/>
        </p:nvCxnSpPr>
        <p:spPr>
          <a:xfrm rot="10800000">
            <a:off x="45738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6" name="Google Shape;1096;p77"/>
          <p:cNvCxnSpPr>
            <a:stCxn id="1097" idx="1"/>
          </p:cNvCxnSpPr>
          <p:nvPr/>
        </p:nvCxnSpPr>
        <p:spPr>
          <a:xfrm>
            <a:off x="30438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8" name="Google Shape;1098;p77"/>
          <p:cNvSpPr txBox="1"/>
          <p:nvPr>
            <p:ph idx="1" type="body"/>
          </p:nvPr>
        </p:nvSpPr>
        <p:spPr>
          <a:xfrm>
            <a:off x="324000" y="683100"/>
            <a:ext cx="8496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As the radius is rotated around the circle, we can consider how the </a:t>
            </a:r>
            <a:r>
              <a:rPr lang="en-GB" sz="2000">
                <a:solidFill>
                  <a:schemeClr val="accent4"/>
                </a:solidFill>
              </a:rPr>
              <a:t>angle of rotation</a:t>
            </a:r>
            <a:r>
              <a:rPr lang="en-GB" sz="2000"/>
              <a:t> affects the lengths on the triangle.</a:t>
            </a:r>
            <a:endParaRPr sz="2000"/>
          </a:p>
        </p:txBody>
      </p:sp>
      <p:sp>
        <p:nvSpPr>
          <p:cNvPr id="1099" name="Google Shape;109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100" name="Google Shape;1100;p77"/>
          <p:cNvSpPr txBox="1"/>
          <p:nvPr/>
        </p:nvSpPr>
        <p:spPr>
          <a:xfrm>
            <a:off x="60218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7"/>
          <p:cNvSpPr txBox="1"/>
          <p:nvPr/>
        </p:nvSpPr>
        <p:spPr>
          <a:xfrm>
            <a:off x="28730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7"/>
          <p:cNvSpPr txBox="1"/>
          <p:nvPr/>
        </p:nvSpPr>
        <p:spPr>
          <a:xfrm>
            <a:off x="42756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7"/>
          <p:cNvSpPr txBox="1"/>
          <p:nvPr/>
        </p:nvSpPr>
        <p:spPr>
          <a:xfrm>
            <a:off x="43571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7"/>
          <p:cNvSpPr txBox="1"/>
          <p:nvPr>
            <p:ph idx="1" type="body"/>
          </p:nvPr>
        </p:nvSpPr>
        <p:spPr>
          <a:xfrm>
            <a:off x="43672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5" name="Google Shape;1105;p77"/>
          <p:cNvSpPr/>
          <p:nvPr/>
        </p:nvSpPr>
        <p:spPr>
          <a:xfrm>
            <a:off x="4082075" y="2740126"/>
            <a:ext cx="982200" cy="982200"/>
          </a:xfrm>
          <a:prstGeom prst="arc">
            <a:avLst>
              <a:gd fmla="val 20364113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7"/>
          <p:cNvSpPr txBox="1"/>
          <p:nvPr/>
        </p:nvSpPr>
        <p:spPr>
          <a:xfrm>
            <a:off x="5038890" y="2903532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7" name="Google Shape;1107;p77"/>
          <p:cNvCxnSpPr/>
          <p:nvPr/>
        </p:nvCxnSpPr>
        <p:spPr>
          <a:xfrm flipH="1" rot="10800000">
            <a:off x="4574075" y="2703750"/>
            <a:ext cx="1446900" cy="52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8" name="Google Shape;1108;p77"/>
          <p:cNvSpPr txBox="1"/>
          <p:nvPr/>
        </p:nvSpPr>
        <p:spPr>
          <a:xfrm>
            <a:off x="6013000" y="2339425"/>
            <a:ext cx="15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(0.94, 0.34)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77"/>
          <p:cNvSpPr/>
          <p:nvPr/>
        </p:nvSpPr>
        <p:spPr>
          <a:xfrm>
            <a:off x="5931525" y="31325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0" name="Google Shape;1110;p77"/>
          <p:cNvCxnSpPr/>
          <p:nvPr/>
        </p:nvCxnSpPr>
        <p:spPr>
          <a:xfrm flipH="1" rot="10800000">
            <a:off x="6016173" y="2700306"/>
            <a:ext cx="2100" cy="521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77"/>
          <p:cNvCxnSpPr/>
          <p:nvPr/>
        </p:nvCxnSpPr>
        <p:spPr>
          <a:xfrm rot="10800000">
            <a:off x="4571347" y="3222000"/>
            <a:ext cx="1464000" cy="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2" name="Google Shape;1112;p77"/>
          <p:cNvSpPr/>
          <p:nvPr/>
        </p:nvSpPr>
        <p:spPr>
          <a:xfrm>
            <a:off x="5967273" y="2648706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7"/>
          <p:cNvSpPr txBox="1"/>
          <p:nvPr/>
        </p:nvSpPr>
        <p:spPr>
          <a:xfrm>
            <a:off x="5200699" y="2612492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7"/>
          <p:cNvSpPr/>
          <p:nvPr/>
        </p:nvSpPr>
        <p:spPr>
          <a:xfrm>
            <a:off x="45233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7"/>
          <p:cNvSpPr txBox="1"/>
          <p:nvPr>
            <p:ph idx="1" type="body"/>
          </p:nvPr>
        </p:nvSpPr>
        <p:spPr>
          <a:xfrm>
            <a:off x="43912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16" name="Google Shape;1116;p77"/>
          <p:cNvSpPr txBox="1"/>
          <p:nvPr>
            <p:ph idx="1" type="body"/>
          </p:nvPr>
        </p:nvSpPr>
        <p:spPr>
          <a:xfrm>
            <a:off x="63724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Google Shape;112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9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78"/>
          <p:cNvSpPr/>
          <p:nvPr/>
        </p:nvSpPr>
        <p:spPr>
          <a:xfrm>
            <a:off x="4572780" y="2319750"/>
            <a:ext cx="1229525" cy="910750"/>
          </a:xfrm>
          <a:custGeom>
            <a:rect b="b" l="l" r="r" t="t"/>
            <a:pathLst>
              <a:path extrusionOk="0" h="36430" w="49181">
                <a:moveTo>
                  <a:pt x="0" y="36430"/>
                </a:moveTo>
                <a:lnTo>
                  <a:pt x="49181" y="0"/>
                </a:lnTo>
                <a:lnTo>
                  <a:pt x="49181" y="3643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123" name="Google Shape;1123;p78"/>
          <p:cNvCxnSpPr>
            <a:stCxn id="1124" idx="1"/>
          </p:cNvCxnSpPr>
          <p:nvPr/>
        </p:nvCxnSpPr>
        <p:spPr>
          <a:xfrm>
            <a:off x="30438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5" name="Google Shape;1125;p78"/>
          <p:cNvSpPr/>
          <p:nvPr/>
        </p:nvSpPr>
        <p:spPr>
          <a:xfrm>
            <a:off x="30500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8"/>
          <p:cNvSpPr txBox="1"/>
          <p:nvPr>
            <p:ph idx="1" type="body"/>
          </p:nvPr>
        </p:nvSpPr>
        <p:spPr>
          <a:xfrm>
            <a:off x="324000" y="683100"/>
            <a:ext cx="8496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As the radius is rotated around the circle, we can consider how the </a:t>
            </a:r>
            <a:r>
              <a:rPr lang="en-GB" sz="2000">
                <a:solidFill>
                  <a:schemeClr val="accent4"/>
                </a:solidFill>
              </a:rPr>
              <a:t>angle of rotation</a:t>
            </a:r>
            <a:r>
              <a:rPr lang="en-GB" sz="2000"/>
              <a:t> affects the lengths on the triangle.</a:t>
            </a:r>
            <a:endParaRPr sz="2000"/>
          </a:p>
        </p:txBody>
      </p:sp>
      <p:sp>
        <p:nvSpPr>
          <p:cNvPr id="1127" name="Google Shape;1127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128" name="Google Shape;1128;p78"/>
          <p:cNvSpPr txBox="1"/>
          <p:nvPr/>
        </p:nvSpPr>
        <p:spPr>
          <a:xfrm>
            <a:off x="60218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78"/>
          <p:cNvSpPr txBox="1"/>
          <p:nvPr/>
        </p:nvSpPr>
        <p:spPr>
          <a:xfrm>
            <a:off x="28730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78"/>
          <p:cNvSpPr txBox="1"/>
          <p:nvPr/>
        </p:nvSpPr>
        <p:spPr>
          <a:xfrm>
            <a:off x="42756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8"/>
          <p:cNvSpPr txBox="1"/>
          <p:nvPr/>
        </p:nvSpPr>
        <p:spPr>
          <a:xfrm>
            <a:off x="43571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78"/>
          <p:cNvSpPr txBox="1"/>
          <p:nvPr>
            <p:ph idx="1" type="body"/>
          </p:nvPr>
        </p:nvSpPr>
        <p:spPr>
          <a:xfrm>
            <a:off x="43672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3" name="Google Shape;1133;p78"/>
          <p:cNvSpPr/>
          <p:nvPr/>
        </p:nvSpPr>
        <p:spPr>
          <a:xfrm>
            <a:off x="4285026" y="2943074"/>
            <a:ext cx="576300" cy="576300"/>
          </a:xfrm>
          <a:prstGeom prst="arc">
            <a:avLst>
              <a:gd fmla="val 19424774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78"/>
          <p:cNvSpPr txBox="1"/>
          <p:nvPr/>
        </p:nvSpPr>
        <p:spPr>
          <a:xfrm>
            <a:off x="4810290" y="2889100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5" name="Google Shape;1135;p78"/>
          <p:cNvCxnSpPr/>
          <p:nvPr/>
        </p:nvCxnSpPr>
        <p:spPr>
          <a:xfrm flipH="1" rot="10800000">
            <a:off x="4574075" y="2317050"/>
            <a:ext cx="1230600" cy="911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78"/>
          <p:cNvSpPr txBox="1"/>
          <p:nvPr/>
        </p:nvSpPr>
        <p:spPr>
          <a:xfrm>
            <a:off x="4989108" y="24281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78"/>
          <p:cNvSpPr txBox="1"/>
          <p:nvPr/>
        </p:nvSpPr>
        <p:spPr>
          <a:xfrm>
            <a:off x="5784391" y="1958432"/>
            <a:ext cx="1064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(0.8, 0.6)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78"/>
          <p:cNvSpPr/>
          <p:nvPr/>
        </p:nvSpPr>
        <p:spPr>
          <a:xfrm>
            <a:off x="5712546" y="31325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9" name="Google Shape;1139;p78"/>
          <p:cNvCxnSpPr/>
          <p:nvPr/>
        </p:nvCxnSpPr>
        <p:spPr>
          <a:xfrm rot="10800000">
            <a:off x="5801850" y="2312175"/>
            <a:ext cx="0" cy="909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" name="Google Shape;1140;p78"/>
          <p:cNvCxnSpPr/>
          <p:nvPr/>
        </p:nvCxnSpPr>
        <p:spPr>
          <a:xfrm rot="10800000">
            <a:off x="4575867" y="3222005"/>
            <a:ext cx="1243200" cy="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1" name="Google Shape;1141;p78"/>
          <p:cNvSpPr/>
          <p:nvPr/>
        </p:nvSpPr>
        <p:spPr>
          <a:xfrm>
            <a:off x="5753538" y="226148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8"/>
          <p:cNvSpPr/>
          <p:nvPr/>
        </p:nvSpPr>
        <p:spPr>
          <a:xfrm>
            <a:off x="45233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8"/>
          <p:cNvSpPr txBox="1"/>
          <p:nvPr>
            <p:ph idx="1" type="body"/>
          </p:nvPr>
        </p:nvSpPr>
        <p:spPr>
          <a:xfrm>
            <a:off x="43912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44" name="Google Shape;1144;p78"/>
          <p:cNvSpPr txBox="1"/>
          <p:nvPr>
            <p:ph idx="1" type="body"/>
          </p:nvPr>
        </p:nvSpPr>
        <p:spPr>
          <a:xfrm>
            <a:off x="63724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145" name="Google Shape;1145;p78"/>
          <p:cNvCxnSpPr/>
          <p:nvPr/>
        </p:nvCxnSpPr>
        <p:spPr>
          <a:xfrm rot="10800000">
            <a:off x="45738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0" name="Google Shape;115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39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79"/>
          <p:cNvSpPr/>
          <p:nvPr/>
        </p:nvSpPr>
        <p:spPr>
          <a:xfrm>
            <a:off x="30500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79"/>
          <p:cNvSpPr/>
          <p:nvPr/>
        </p:nvSpPr>
        <p:spPr>
          <a:xfrm>
            <a:off x="4572775" y="1838525"/>
            <a:ext cx="618000" cy="1393950"/>
          </a:xfrm>
          <a:custGeom>
            <a:rect b="b" l="l" r="r" t="t"/>
            <a:pathLst>
              <a:path extrusionOk="0" h="55758" w="24720">
                <a:moveTo>
                  <a:pt x="0" y="55679"/>
                </a:moveTo>
                <a:lnTo>
                  <a:pt x="24720" y="0"/>
                </a:lnTo>
                <a:lnTo>
                  <a:pt x="24720" y="55758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153" name="Google Shape;1153;p79"/>
          <p:cNvCxnSpPr/>
          <p:nvPr/>
        </p:nvCxnSpPr>
        <p:spPr>
          <a:xfrm rot="10800000">
            <a:off x="45738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4" name="Google Shape;1154;p79"/>
          <p:cNvCxnSpPr>
            <a:stCxn id="1155" idx="1"/>
          </p:cNvCxnSpPr>
          <p:nvPr/>
        </p:nvCxnSpPr>
        <p:spPr>
          <a:xfrm>
            <a:off x="30438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6" name="Google Shape;1156;p79"/>
          <p:cNvSpPr txBox="1"/>
          <p:nvPr>
            <p:ph idx="1" type="body"/>
          </p:nvPr>
        </p:nvSpPr>
        <p:spPr>
          <a:xfrm>
            <a:off x="324000" y="683100"/>
            <a:ext cx="8496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As the radius is rotated around the circle, we can consider how the </a:t>
            </a:r>
            <a:r>
              <a:rPr lang="en-GB" sz="2000">
                <a:solidFill>
                  <a:schemeClr val="accent4"/>
                </a:solidFill>
              </a:rPr>
              <a:t>angle of rotation</a:t>
            </a:r>
            <a:r>
              <a:rPr lang="en-GB" sz="2000"/>
              <a:t> affects the lengths on the triangle.</a:t>
            </a:r>
            <a:endParaRPr sz="2000"/>
          </a:p>
        </p:txBody>
      </p:sp>
      <p:sp>
        <p:nvSpPr>
          <p:cNvPr id="1157" name="Google Shape;1157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158" name="Google Shape;1158;p79"/>
          <p:cNvSpPr txBox="1"/>
          <p:nvPr/>
        </p:nvSpPr>
        <p:spPr>
          <a:xfrm>
            <a:off x="60218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9"/>
          <p:cNvSpPr txBox="1"/>
          <p:nvPr/>
        </p:nvSpPr>
        <p:spPr>
          <a:xfrm>
            <a:off x="28730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9"/>
          <p:cNvSpPr txBox="1"/>
          <p:nvPr/>
        </p:nvSpPr>
        <p:spPr>
          <a:xfrm>
            <a:off x="42756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79"/>
          <p:cNvSpPr txBox="1"/>
          <p:nvPr/>
        </p:nvSpPr>
        <p:spPr>
          <a:xfrm>
            <a:off x="43571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79"/>
          <p:cNvSpPr txBox="1"/>
          <p:nvPr>
            <p:ph idx="1" type="body"/>
          </p:nvPr>
        </p:nvSpPr>
        <p:spPr>
          <a:xfrm>
            <a:off x="43672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3" name="Google Shape;1163;p79"/>
          <p:cNvSpPr/>
          <p:nvPr/>
        </p:nvSpPr>
        <p:spPr>
          <a:xfrm>
            <a:off x="4357625" y="3015675"/>
            <a:ext cx="431100" cy="431100"/>
          </a:xfrm>
          <a:prstGeom prst="arc">
            <a:avLst>
              <a:gd fmla="val 17736097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9"/>
          <p:cNvSpPr txBox="1"/>
          <p:nvPr/>
        </p:nvSpPr>
        <p:spPr>
          <a:xfrm>
            <a:off x="4657890" y="2812900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5" name="Google Shape;1165;p79"/>
          <p:cNvCxnSpPr/>
          <p:nvPr/>
        </p:nvCxnSpPr>
        <p:spPr>
          <a:xfrm flipH="1" rot="10800000">
            <a:off x="4574063" y="1832331"/>
            <a:ext cx="612600" cy="1396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6" name="Google Shape;1166;p79"/>
          <p:cNvSpPr txBox="1"/>
          <p:nvPr/>
        </p:nvSpPr>
        <p:spPr>
          <a:xfrm>
            <a:off x="4674711" y="2223508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9"/>
          <p:cNvSpPr txBox="1"/>
          <p:nvPr/>
        </p:nvSpPr>
        <p:spPr>
          <a:xfrm>
            <a:off x="5179601" y="1534825"/>
            <a:ext cx="119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(0.4, 0.92)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9"/>
          <p:cNvSpPr/>
          <p:nvPr/>
        </p:nvSpPr>
        <p:spPr>
          <a:xfrm>
            <a:off x="5100547" y="31325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9" name="Google Shape;1169;p79"/>
          <p:cNvCxnSpPr>
            <a:endCxn id="1170" idx="4"/>
          </p:cNvCxnSpPr>
          <p:nvPr/>
        </p:nvCxnSpPr>
        <p:spPr>
          <a:xfrm rot="10800000">
            <a:off x="5189363" y="1883031"/>
            <a:ext cx="7800" cy="1338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79"/>
          <p:cNvCxnSpPr/>
          <p:nvPr/>
        </p:nvCxnSpPr>
        <p:spPr>
          <a:xfrm rot="10800000">
            <a:off x="4575775" y="3222000"/>
            <a:ext cx="639000" cy="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0" name="Google Shape;1170;p79"/>
          <p:cNvSpPr/>
          <p:nvPr/>
        </p:nvSpPr>
        <p:spPr>
          <a:xfrm>
            <a:off x="5138063" y="178043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79"/>
          <p:cNvSpPr/>
          <p:nvPr/>
        </p:nvSpPr>
        <p:spPr>
          <a:xfrm>
            <a:off x="45233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79"/>
          <p:cNvSpPr txBox="1"/>
          <p:nvPr>
            <p:ph idx="1" type="body"/>
          </p:nvPr>
        </p:nvSpPr>
        <p:spPr>
          <a:xfrm>
            <a:off x="328900" y="1620000"/>
            <a:ext cx="2102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changes?</a:t>
            </a:r>
            <a:endParaRPr sz="1800"/>
          </a:p>
        </p:txBody>
      </p:sp>
      <p:sp>
        <p:nvSpPr>
          <p:cNvPr id="1174" name="Google Shape;1174;p79"/>
          <p:cNvSpPr txBox="1"/>
          <p:nvPr>
            <p:ph idx="1" type="body"/>
          </p:nvPr>
        </p:nvSpPr>
        <p:spPr>
          <a:xfrm>
            <a:off x="328900" y="3296400"/>
            <a:ext cx="2544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stays the same?</a:t>
            </a:r>
            <a:endParaRPr sz="1800"/>
          </a:p>
        </p:txBody>
      </p:sp>
      <p:sp>
        <p:nvSpPr>
          <p:cNvPr id="1175" name="Google Shape;1175;p79"/>
          <p:cNvSpPr txBox="1"/>
          <p:nvPr>
            <p:ph idx="1" type="body"/>
          </p:nvPr>
        </p:nvSpPr>
        <p:spPr>
          <a:xfrm>
            <a:off x="324000" y="1974900"/>
            <a:ext cx="2655900" cy="10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lengths of the horizontal and vertical edges vary.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6" name="Google Shape;1176;p79"/>
          <p:cNvSpPr txBox="1"/>
          <p:nvPr>
            <p:ph idx="1" type="body"/>
          </p:nvPr>
        </p:nvSpPr>
        <p:spPr>
          <a:xfrm>
            <a:off x="324000" y="3651300"/>
            <a:ext cx="2261400" cy="9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The length of the hypotenuse is always 1 unit.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79"/>
          <p:cNvSpPr txBox="1"/>
          <p:nvPr>
            <p:ph idx="1" type="body"/>
          </p:nvPr>
        </p:nvSpPr>
        <p:spPr>
          <a:xfrm>
            <a:off x="43912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178" name="Google Shape;1178;p79"/>
          <p:cNvSpPr txBox="1"/>
          <p:nvPr>
            <p:ph idx="1" type="body"/>
          </p:nvPr>
        </p:nvSpPr>
        <p:spPr>
          <a:xfrm>
            <a:off x="63724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80"/>
          <p:cNvSpPr txBox="1"/>
          <p:nvPr>
            <p:ph idx="1" type="body"/>
          </p:nvPr>
        </p:nvSpPr>
        <p:spPr>
          <a:xfrm>
            <a:off x="324000" y="683100"/>
            <a:ext cx="8496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As the radius is rotated around the circle the </a:t>
            </a:r>
            <a:r>
              <a:rPr lang="en-GB" sz="2000">
                <a:solidFill>
                  <a:schemeClr val="accent4"/>
                </a:solidFill>
              </a:rPr>
              <a:t>angle</a:t>
            </a:r>
            <a:r>
              <a:rPr lang="en-GB" sz="2000"/>
              <a:t> of rotation </a:t>
            </a:r>
            <a:r>
              <a:rPr lang="en-GB" sz="2000">
                <a:solidFill>
                  <a:schemeClr val="accent4"/>
                </a:solidFill>
              </a:rPr>
              <a:t>affects</a:t>
            </a:r>
            <a:r>
              <a:rPr lang="en-GB" sz="2000"/>
              <a:t> the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4"/>
                </a:solidFill>
              </a:rPr>
              <a:t>-coordinate</a:t>
            </a:r>
            <a:r>
              <a:rPr lang="en-GB" sz="2000"/>
              <a:t> of the point on the circle.</a:t>
            </a:r>
            <a:endParaRPr sz="2000"/>
          </a:p>
        </p:txBody>
      </p:sp>
      <p:sp>
        <p:nvSpPr>
          <p:cNvPr id="1184" name="Google Shape;118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pic>
        <p:nvPicPr>
          <p:cNvPr id="1185" name="Google Shape;118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80"/>
          <p:cNvSpPr/>
          <p:nvPr/>
        </p:nvSpPr>
        <p:spPr>
          <a:xfrm>
            <a:off x="5354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0"/>
          <p:cNvSpPr/>
          <p:nvPr/>
        </p:nvSpPr>
        <p:spPr>
          <a:xfrm>
            <a:off x="2058175" y="2316075"/>
            <a:ext cx="1222625" cy="914425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188" name="Google Shape;1188;p80"/>
          <p:cNvCxnSpPr/>
          <p:nvPr/>
        </p:nvCxnSpPr>
        <p:spPr>
          <a:xfrm rot="10800000">
            <a:off x="20592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9" name="Google Shape;1189;p80"/>
          <p:cNvCxnSpPr/>
          <p:nvPr/>
        </p:nvCxnSpPr>
        <p:spPr>
          <a:xfrm>
            <a:off x="5292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0" name="Google Shape;1190;p80"/>
          <p:cNvSpPr txBox="1"/>
          <p:nvPr/>
        </p:nvSpPr>
        <p:spPr>
          <a:xfrm>
            <a:off x="35072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80"/>
          <p:cNvSpPr txBox="1"/>
          <p:nvPr/>
        </p:nvSpPr>
        <p:spPr>
          <a:xfrm>
            <a:off x="3584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0"/>
          <p:cNvSpPr txBox="1"/>
          <p:nvPr/>
        </p:nvSpPr>
        <p:spPr>
          <a:xfrm>
            <a:off x="17610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0"/>
          <p:cNvSpPr txBox="1"/>
          <p:nvPr/>
        </p:nvSpPr>
        <p:spPr>
          <a:xfrm>
            <a:off x="18425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0"/>
          <p:cNvSpPr txBox="1"/>
          <p:nvPr>
            <p:ph idx="1" type="body"/>
          </p:nvPr>
        </p:nvSpPr>
        <p:spPr>
          <a:xfrm>
            <a:off x="18526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5" name="Google Shape;1195;p80"/>
          <p:cNvSpPr/>
          <p:nvPr/>
        </p:nvSpPr>
        <p:spPr>
          <a:xfrm>
            <a:off x="1717325" y="2889975"/>
            <a:ext cx="682500" cy="6825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80"/>
          <p:cNvSpPr txBox="1"/>
          <p:nvPr/>
        </p:nvSpPr>
        <p:spPr>
          <a:xfrm>
            <a:off x="2361684" y="2903532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7" name="Google Shape;1197;p80"/>
          <p:cNvCxnSpPr>
            <a:endCxn id="1198" idx="3"/>
          </p:cNvCxnSpPr>
          <p:nvPr/>
        </p:nvCxnSpPr>
        <p:spPr>
          <a:xfrm flipH="1" rot="10800000">
            <a:off x="2059398" y="2355280"/>
            <a:ext cx="1183800" cy="87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80"/>
          <p:cNvSpPr txBox="1"/>
          <p:nvPr/>
        </p:nvSpPr>
        <p:spPr>
          <a:xfrm>
            <a:off x="3325589" y="2093816"/>
            <a:ext cx="10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(0.8, 0.6)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0"/>
          <p:cNvSpPr/>
          <p:nvPr/>
        </p:nvSpPr>
        <p:spPr>
          <a:xfrm>
            <a:off x="3198530" y="31325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1" name="Google Shape;1201;p80"/>
          <p:cNvCxnSpPr>
            <a:endCxn id="1198" idx="4"/>
          </p:cNvCxnSpPr>
          <p:nvPr/>
        </p:nvCxnSpPr>
        <p:spPr>
          <a:xfrm rot="10800000">
            <a:off x="3279473" y="2370306"/>
            <a:ext cx="3600" cy="851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2" name="Google Shape;1202;p80"/>
          <p:cNvSpPr/>
          <p:nvPr/>
        </p:nvSpPr>
        <p:spPr>
          <a:xfrm>
            <a:off x="20087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3" name="Google Shape;1203;p80"/>
          <p:cNvCxnSpPr>
            <a:stCxn id="1198" idx="2"/>
          </p:cNvCxnSpPr>
          <p:nvPr/>
        </p:nvCxnSpPr>
        <p:spPr>
          <a:xfrm flipH="1">
            <a:off x="2056673" y="2319006"/>
            <a:ext cx="1171500" cy="21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98" name="Google Shape;1198;p80"/>
          <p:cNvSpPr/>
          <p:nvPr/>
        </p:nvSpPr>
        <p:spPr>
          <a:xfrm>
            <a:off x="3228173" y="2267706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0"/>
          <p:cNvSpPr txBox="1"/>
          <p:nvPr/>
        </p:nvSpPr>
        <p:spPr>
          <a:xfrm>
            <a:off x="1662783" y="2095401"/>
            <a:ext cx="68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5" name="Google Shape;1205;p80"/>
          <p:cNvSpPr txBox="1"/>
          <p:nvPr>
            <p:ph idx="1" type="body"/>
          </p:nvPr>
        </p:nvSpPr>
        <p:spPr>
          <a:xfrm>
            <a:off x="4884125" y="1612950"/>
            <a:ext cx="3735000" cy="14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sine</a:t>
            </a:r>
            <a:r>
              <a:rPr lang="en-GB" sz="2000"/>
              <a:t> of an angle is the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4"/>
                </a:solidFill>
              </a:rPr>
              <a:t>-coordinate</a:t>
            </a:r>
            <a:r>
              <a:rPr lang="en-GB" sz="2000"/>
              <a:t> of the point where the radius has been rotated through that angle.</a:t>
            </a:r>
            <a:endParaRPr sz="2000"/>
          </a:p>
        </p:txBody>
      </p:sp>
      <p:sp>
        <p:nvSpPr>
          <p:cNvPr id="1206" name="Google Shape;1206;p80"/>
          <p:cNvSpPr txBox="1"/>
          <p:nvPr>
            <p:ph idx="1" type="body"/>
          </p:nvPr>
        </p:nvSpPr>
        <p:spPr>
          <a:xfrm>
            <a:off x="4884125" y="3365550"/>
            <a:ext cx="37350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The </a:t>
            </a:r>
            <a:r>
              <a:rPr b="1" lang="en-GB" sz="2000"/>
              <a:t>sine</a:t>
            </a:r>
            <a:r>
              <a:rPr lang="en-GB" sz="2000"/>
              <a:t> of 37° is 0.6.</a:t>
            </a:r>
            <a:endParaRPr sz="2000"/>
          </a:p>
        </p:txBody>
      </p:sp>
      <p:sp>
        <p:nvSpPr>
          <p:cNvPr id="1207" name="Google Shape;1207;p80"/>
          <p:cNvSpPr txBox="1"/>
          <p:nvPr>
            <p:ph idx="1" type="body"/>
          </p:nvPr>
        </p:nvSpPr>
        <p:spPr>
          <a:xfrm>
            <a:off x="18766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08" name="Google Shape;1208;p80"/>
          <p:cNvSpPr txBox="1"/>
          <p:nvPr>
            <p:ph idx="1" type="body"/>
          </p:nvPr>
        </p:nvSpPr>
        <p:spPr>
          <a:xfrm>
            <a:off x="38578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09" name="Google Shape;1209;p80"/>
          <p:cNvCxnSpPr/>
          <p:nvPr/>
        </p:nvCxnSpPr>
        <p:spPr>
          <a:xfrm rot="10800000">
            <a:off x="3896490" y="2430625"/>
            <a:ext cx="2709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0" name="Google Shape;1210;p80"/>
          <p:cNvSpPr txBox="1"/>
          <p:nvPr/>
        </p:nvSpPr>
        <p:spPr>
          <a:xfrm>
            <a:off x="4797850" y="4240487"/>
            <a:ext cx="391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Link to interactive version: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unit circle (sine and cosine)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81"/>
          <p:cNvSpPr txBox="1"/>
          <p:nvPr>
            <p:ph idx="1" type="body"/>
          </p:nvPr>
        </p:nvSpPr>
        <p:spPr>
          <a:xfrm>
            <a:off x="324000" y="683100"/>
            <a:ext cx="8496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As the radius is rotated around the circle, the </a:t>
            </a:r>
            <a:r>
              <a:rPr lang="en-GB" sz="2000">
                <a:solidFill>
                  <a:schemeClr val="accent4"/>
                </a:solidFill>
              </a:rPr>
              <a:t>angle</a:t>
            </a:r>
            <a:r>
              <a:rPr lang="en-GB" sz="2000"/>
              <a:t> of rotation </a:t>
            </a:r>
            <a:r>
              <a:rPr lang="en-GB" sz="2000">
                <a:solidFill>
                  <a:schemeClr val="accent4"/>
                </a:solidFill>
              </a:rPr>
              <a:t>affects</a:t>
            </a:r>
            <a:r>
              <a:rPr lang="en-GB" sz="2000"/>
              <a:t> the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4"/>
                </a:solidFill>
              </a:rPr>
              <a:t>-coordinate</a:t>
            </a:r>
            <a:r>
              <a:rPr lang="en-GB" sz="2000"/>
              <a:t> of the point on the circle.</a:t>
            </a:r>
            <a:endParaRPr sz="2000"/>
          </a:p>
        </p:txBody>
      </p:sp>
      <p:sp>
        <p:nvSpPr>
          <p:cNvPr id="1216" name="Google Shape;121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pic>
        <p:nvPicPr>
          <p:cNvPr id="1217" name="Google Shape;121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00" y="16982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81"/>
          <p:cNvSpPr/>
          <p:nvPr/>
        </p:nvSpPr>
        <p:spPr>
          <a:xfrm>
            <a:off x="535443" y="17020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1"/>
          <p:cNvSpPr/>
          <p:nvPr/>
        </p:nvSpPr>
        <p:spPr>
          <a:xfrm>
            <a:off x="2058175" y="2701050"/>
            <a:ext cx="1449350" cy="529450"/>
          </a:xfrm>
          <a:custGeom>
            <a:rect b="b" l="l" r="r" t="t"/>
            <a:pathLst>
              <a:path extrusionOk="0" h="21178" w="57974">
                <a:moveTo>
                  <a:pt x="0" y="21178"/>
                </a:moveTo>
                <a:lnTo>
                  <a:pt x="57878" y="0"/>
                </a:lnTo>
                <a:lnTo>
                  <a:pt x="57974" y="21017"/>
                </a:lnTo>
                <a:close/>
              </a:path>
            </a:pathLst>
          </a:custGeom>
          <a:solidFill>
            <a:srgbClr val="F3EEFB"/>
          </a:solidFill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220" name="Google Shape;1220;p81"/>
          <p:cNvCxnSpPr/>
          <p:nvPr/>
        </p:nvCxnSpPr>
        <p:spPr>
          <a:xfrm rot="10800000">
            <a:off x="2059219" y="14096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1" name="Google Shape;1221;p81"/>
          <p:cNvCxnSpPr/>
          <p:nvPr/>
        </p:nvCxnSpPr>
        <p:spPr>
          <a:xfrm>
            <a:off x="529291" y="32262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2" name="Google Shape;1222;p81"/>
          <p:cNvSpPr txBox="1"/>
          <p:nvPr/>
        </p:nvSpPr>
        <p:spPr>
          <a:xfrm>
            <a:off x="3507290" y="31139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1"/>
          <p:cNvSpPr txBox="1"/>
          <p:nvPr/>
        </p:nvSpPr>
        <p:spPr>
          <a:xfrm>
            <a:off x="358432" y="31084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81"/>
          <p:cNvSpPr txBox="1"/>
          <p:nvPr/>
        </p:nvSpPr>
        <p:spPr>
          <a:xfrm>
            <a:off x="1761012" y="45314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1"/>
          <p:cNvSpPr txBox="1"/>
          <p:nvPr/>
        </p:nvSpPr>
        <p:spPr>
          <a:xfrm>
            <a:off x="1842595" y="14946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81"/>
          <p:cNvSpPr txBox="1"/>
          <p:nvPr>
            <p:ph idx="1" type="body"/>
          </p:nvPr>
        </p:nvSpPr>
        <p:spPr>
          <a:xfrm>
            <a:off x="1852688" y="31950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7" name="Google Shape;1227;p81"/>
          <p:cNvSpPr/>
          <p:nvPr/>
        </p:nvSpPr>
        <p:spPr>
          <a:xfrm>
            <a:off x="1567475" y="2740126"/>
            <a:ext cx="982200" cy="982200"/>
          </a:xfrm>
          <a:prstGeom prst="arc">
            <a:avLst>
              <a:gd fmla="val 20364113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81"/>
          <p:cNvSpPr txBox="1"/>
          <p:nvPr/>
        </p:nvSpPr>
        <p:spPr>
          <a:xfrm>
            <a:off x="2524290" y="2903532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9" name="Google Shape;1229;p81"/>
          <p:cNvCxnSpPr/>
          <p:nvPr/>
        </p:nvCxnSpPr>
        <p:spPr>
          <a:xfrm flipH="1" rot="10800000">
            <a:off x="2059475" y="2703750"/>
            <a:ext cx="1446900" cy="525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0" name="Google Shape;1230;p81"/>
          <p:cNvSpPr txBox="1"/>
          <p:nvPr/>
        </p:nvSpPr>
        <p:spPr>
          <a:xfrm>
            <a:off x="3498400" y="2339425"/>
            <a:ext cx="156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(0.94, 0.34)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81"/>
          <p:cNvSpPr/>
          <p:nvPr/>
        </p:nvSpPr>
        <p:spPr>
          <a:xfrm>
            <a:off x="3416925" y="31325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81"/>
          <p:cNvSpPr/>
          <p:nvPr/>
        </p:nvSpPr>
        <p:spPr>
          <a:xfrm>
            <a:off x="3452673" y="2648706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81"/>
          <p:cNvSpPr txBox="1"/>
          <p:nvPr>
            <p:ph idx="1" type="body"/>
          </p:nvPr>
        </p:nvSpPr>
        <p:spPr>
          <a:xfrm>
            <a:off x="4900200" y="1612950"/>
            <a:ext cx="3916200" cy="14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</a:t>
            </a:r>
            <a:r>
              <a:rPr b="1" lang="en-GB" sz="2000"/>
              <a:t>cosine</a:t>
            </a:r>
            <a:r>
              <a:rPr lang="en-GB" sz="2000"/>
              <a:t> of a given angle is the </a:t>
            </a:r>
            <a:r>
              <a:rPr i="1" lang="en-GB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4"/>
                </a:solidFill>
              </a:rPr>
              <a:t>-coordinate</a:t>
            </a:r>
            <a:r>
              <a:rPr lang="en-GB" sz="2000"/>
              <a:t> of the point where the radius has been rotated to form that angle.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34" name="Google Shape;1234;p81"/>
          <p:cNvSpPr txBox="1"/>
          <p:nvPr>
            <p:ph idx="1" type="body"/>
          </p:nvPr>
        </p:nvSpPr>
        <p:spPr>
          <a:xfrm>
            <a:off x="4900200" y="3365550"/>
            <a:ext cx="37350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The </a:t>
            </a:r>
            <a:r>
              <a:rPr b="1" lang="en-GB" sz="2000"/>
              <a:t>cosine</a:t>
            </a:r>
            <a:r>
              <a:rPr lang="en-GB" sz="2000"/>
              <a:t> of 20° is 0.94.</a:t>
            </a:r>
            <a:endParaRPr sz="2000"/>
          </a:p>
        </p:txBody>
      </p:sp>
      <p:cxnSp>
        <p:nvCxnSpPr>
          <p:cNvPr id="1235" name="Google Shape;1235;p81"/>
          <p:cNvCxnSpPr/>
          <p:nvPr/>
        </p:nvCxnSpPr>
        <p:spPr>
          <a:xfrm rot="10800000">
            <a:off x="3693479" y="2700000"/>
            <a:ext cx="3384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81"/>
          <p:cNvSpPr txBox="1"/>
          <p:nvPr>
            <p:ph idx="1" type="body"/>
          </p:nvPr>
        </p:nvSpPr>
        <p:spPr>
          <a:xfrm>
            <a:off x="1876654" y="12843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37" name="Google Shape;1237;p81"/>
          <p:cNvSpPr txBox="1"/>
          <p:nvPr>
            <p:ph idx="1" type="body"/>
          </p:nvPr>
        </p:nvSpPr>
        <p:spPr>
          <a:xfrm>
            <a:off x="3857854" y="31323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38" name="Google Shape;1238;p81"/>
          <p:cNvSpPr/>
          <p:nvPr/>
        </p:nvSpPr>
        <p:spPr>
          <a:xfrm>
            <a:off x="2008793" y="31759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1"/>
          <p:cNvSpPr txBox="1"/>
          <p:nvPr/>
        </p:nvSpPr>
        <p:spPr>
          <a:xfrm>
            <a:off x="3200507" y="3307076"/>
            <a:ext cx="68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0" name="Google Shape;1240;p81"/>
          <p:cNvCxnSpPr/>
          <p:nvPr/>
        </p:nvCxnSpPr>
        <p:spPr>
          <a:xfrm rot="10800000">
            <a:off x="2038447" y="3229790"/>
            <a:ext cx="1479600" cy="0"/>
          </a:xfrm>
          <a:prstGeom prst="straightConnector1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81"/>
          <p:cNvCxnSpPr/>
          <p:nvPr/>
        </p:nvCxnSpPr>
        <p:spPr>
          <a:xfrm>
            <a:off x="3508429" y="3201888"/>
            <a:ext cx="0" cy="22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2" name="Google Shape;1242;p81"/>
          <p:cNvSpPr txBox="1"/>
          <p:nvPr/>
        </p:nvSpPr>
        <p:spPr>
          <a:xfrm>
            <a:off x="4797850" y="4240487"/>
            <a:ext cx="391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Link to interactive version: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unit circle (sine and cosine)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248" name="Google Shape;1248;p82"/>
          <p:cNvSpPr/>
          <p:nvPr/>
        </p:nvSpPr>
        <p:spPr>
          <a:xfrm>
            <a:off x="5031243" y="13972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9" name="Google Shape;1249;p82"/>
          <p:cNvCxnSpPr/>
          <p:nvPr/>
        </p:nvCxnSpPr>
        <p:spPr>
          <a:xfrm rot="10800000">
            <a:off x="6555019" y="11048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0" name="Google Shape;1250;p82"/>
          <p:cNvCxnSpPr/>
          <p:nvPr/>
        </p:nvCxnSpPr>
        <p:spPr>
          <a:xfrm>
            <a:off x="5025091" y="29214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1" name="Google Shape;1251;p82"/>
          <p:cNvSpPr txBox="1"/>
          <p:nvPr/>
        </p:nvSpPr>
        <p:spPr>
          <a:xfrm>
            <a:off x="8003090" y="28091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82"/>
          <p:cNvSpPr txBox="1"/>
          <p:nvPr/>
        </p:nvSpPr>
        <p:spPr>
          <a:xfrm>
            <a:off x="4854232" y="28036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2"/>
          <p:cNvSpPr txBox="1"/>
          <p:nvPr/>
        </p:nvSpPr>
        <p:spPr>
          <a:xfrm>
            <a:off x="6256812" y="42266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2"/>
          <p:cNvSpPr txBox="1"/>
          <p:nvPr/>
        </p:nvSpPr>
        <p:spPr>
          <a:xfrm>
            <a:off x="6338395" y="11898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2"/>
          <p:cNvSpPr txBox="1"/>
          <p:nvPr>
            <p:ph idx="1" type="body"/>
          </p:nvPr>
        </p:nvSpPr>
        <p:spPr>
          <a:xfrm>
            <a:off x="6348488" y="28902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6" name="Google Shape;1256;p82"/>
          <p:cNvSpPr/>
          <p:nvPr/>
        </p:nvSpPr>
        <p:spPr>
          <a:xfrm>
            <a:off x="6213125" y="2585175"/>
            <a:ext cx="682500" cy="682500"/>
          </a:xfrm>
          <a:prstGeom prst="arc">
            <a:avLst>
              <a:gd fmla="val 18641675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82"/>
          <p:cNvSpPr txBox="1"/>
          <p:nvPr/>
        </p:nvSpPr>
        <p:spPr>
          <a:xfrm>
            <a:off x="6822106" y="2529335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52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8" name="Google Shape;1258;p82"/>
          <p:cNvCxnSpPr/>
          <p:nvPr/>
        </p:nvCxnSpPr>
        <p:spPr>
          <a:xfrm flipH="1" rot="10800000">
            <a:off x="6555198" y="1768180"/>
            <a:ext cx="974700" cy="1155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82"/>
          <p:cNvSpPr/>
          <p:nvPr/>
        </p:nvSpPr>
        <p:spPr>
          <a:xfrm>
            <a:off x="7443911" y="28277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2"/>
          <p:cNvSpPr/>
          <p:nvPr/>
        </p:nvSpPr>
        <p:spPr>
          <a:xfrm>
            <a:off x="6504593" y="28711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82"/>
          <p:cNvSpPr txBox="1"/>
          <p:nvPr>
            <p:ph idx="1" type="body"/>
          </p:nvPr>
        </p:nvSpPr>
        <p:spPr>
          <a:xfrm>
            <a:off x="6372454" y="9795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62" name="Google Shape;1262;p82"/>
          <p:cNvSpPr txBox="1"/>
          <p:nvPr>
            <p:ph idx="1" type="body"/>
          </p:nvPr>
        </p:nvSpPr>
        <p:spPr>
          <a:xfrm>
            <a:off x="8353654" y="28275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63" name="Google Shape;1263;p82"/>
          <p:cNvCxnSpPr>
            <a:endCxn id="1264" idx="4"/>
          </p:cNvCxnSpPr>
          <p:nvPr/>
        </p:nvCxnSpPr>
        <p:spPr>
          <a:xfrm rot="10800000">
            <a:off x="7534873" y="1806606"/>
            <a:ext cx="0" cy="1114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82"/>
          <p:cNvCxnSpPr/>
          <p:nvPr/>
        </p:nvCxnSpPr>
        <p:spPr>
          <a:xfrm rot="10800000">
            <a:off x="6549259" y="1751588"/>
            <a:ext cx="9951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66" name="Google Shape;1266;p82"/>
          <p:cNvSpPr txBox="1"/>
          <p:nvPr/>
        </p:nvSpPr>
        <p:spPr>
          <a:xfrm>
            <a:off x="476400" y="1676700"/>
            <a:ext cx="42207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of an angle is the </a:t>
            </a:r>
            <a:r>
              <a:rPr i="1"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-coordinate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point where the radius has been rotated through that angle.</a:t>
            </a:r>
            <a:endParaRPr sz="1600"/>
          </a:p>
        </p:txBody>
      </p:sp>
      <p:sp>
        <p:nvSpPr>
          <p:cNvPr id="1267" name="Google Shape;1267;p82"/>
          <p:cNvSpPr txBox="1"/>
          <p:nvPr/>
        </p:nvSpPr>
        <p:spPr>
          <a:xfrm>
            <a:off x="1080557" y="1649486"/>
            <a:ext cx="75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sine</a:t>
            </a:r>
            <a:endParaRPr b="1" sz="24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68" name="Google Shape;1268;p82"/>
          <p:cNvCxnSpPr/>
          <p:nvPr/>
        </p:nvCxnSpPr>
        <p:spPr>
          <a:xfrm>
            <a:off x="1125307" y="2066250"/>
            <a:ext cx="619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4" name="Google Shape;1264;p82"/>
          <p:cNvSpPr/>
          <p:nvPr/>
        </p:nvSpPr>
        <p:spPr>
          <a:xfrm>
            <a:off x="7483573" y="1704006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274" name="Google Shape;1274;p83"/>
          <p:cNvSpPr txBox="1"/>
          <p:nvPr/>
        </p:nvSpPr>
        <p:spPr>
          <a:xfrm>
            <a:off x="476400" y="1676700"/>
            <a:ext cx="4220700" cy="1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cosine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an angle is the </a:t>
            </a:r>
            <a:br>
              <a:rPr i="1"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1" lang="en-GB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of the point where the radius has been rotated through that angle.</a:t>
            </a:r>
            <a:endParaRPr sz="1600"/>
          </a:p>
        </p:txBody>
      </p:sp>
      <p:sp>
        <p:nvSpPr>
          <p:cNvPr id="1275" name="Google Shape;1275;p83"/>
          <p:cNvSpPr txBox="1"/>
          <p:nvPr/>
        </p:nvSpPr>
        <p:spPr>
          <a:xfrm>
            <a:off x="518551" y="2072657"/>
            <a:ext cx="205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-coordinate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76" name="Google Shape;1276;p83"/>
          <p:cNvCxnSpPr/>
          <p:nvPr/>
        </p:nvCxnSpPr>
        <p:spPr>
          <a:xfrm>
            <a:off x="587832" y="2491350"/>
            <a:ext cx="1609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7" name="Google Shape;1277;p83"/>
          <p:cNvSpPr/>
          <p:nvPr/>
        </p:nvSpPr>
        <p:spPr>
          <a:xfrm>
            <a:off x="5031243" y="13972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8" name="Google Shape;1278;p83"/>
          <p:cNvCxnSpPr/>
          <p:nvPr/>
        </p:nvCxnSpPr>
        <p:spPr>
          <a:xfrm rot="10800000">
            <a:off x="6555019" y="11048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9" name="Google Shape;1279;p83"/>
          <p:cNvCxnSpPr/>
          <p:nvPr/>
        </p:nvCxnSpPr>
        <p:spPr>
          <a:xfrm>
            <a:off x="5025091" y="29214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0" name="Google Shape;1280;p83"/>
          <p:cNvSpPr txBox="1"/>
          <p:nvPr/>
        </p:nvSpPr>
        <p:spPr>
          <a:xfrm>
            <a:off x="8003090" y="28091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83"/>
          <p:cNvSpPr txBox="1"/>
          <p:nvPr/>
        </p:nvSpPr>
        <p:spPr>
          <a:xfrm>
            <a:off x="4854232" y="28036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83"/>
          <p:cNvSpPr txBox="1"/>
          <p:nvPr/>
        </p:nvSpPr>
        <p:spPr>
          <a:xfrm>
            <a:off x="6256812" y="42266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83"/>
          <p:cNvSpPr txBox="1"/>
          <p:nvPr/>
        </p:nvSpPr>
        <p:spPr>
          <a:xfrm>
            <a:off x="6338395" y="11898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3"/>
          <p:cNvSpPr txBox="1"/>
          <p:nvPr>
            <p:ph idx="1" type="body"/>
          </p:nvPr>
        </p:nvSpPr>
        <p:spPr>
          <a:xfrm>
            <a:off x="6348488" y="28902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5" name="Google Shape;1285;p83"/>
          <p:cNvSpPr/>
          <p:nvPr/>
        </p:nvSpPr>
        <p:spPr>
          <a:xfrm>
            <a:off x="6213125" y="2585175"/>
            <a:ext cx="682500" cy="682500"/>
          </a:xfrm>
          <a:prstGeom prst="arc">
            <a:avLst>
              <a:gd fmla="val 18641675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83"/>
          <p:cNvSpPr txBox="1"/>
          <p:nvPr/>
        </p:nvSpPr>
        <p:spPr>
          <a:xfrm>
            <a:off x="6822106" y="2529335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52°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7" name="Google Shape;1287;p83"/>
          <p:cNvCxnSpPr/>
          <p:nvPr/>
        </p:nvCxnSpPr>
        <p:spPr>
          <a:xfrm flipH="1" rot="10800000">
            <a:off x="6555198" y="1768180"/>
            <a:ext cx="974700" cy="1155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83"/>
          <p:cNvSpPr/>
          <p:nvPr/>
        </p:nvSpPr>
        <p:spPr>
          <a:xfrm>
            <a:off x="7443911" y="28277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9" name="Google Shape;1289;p83"/>
          <p:cNvSpPr/>
          <p:nvPr/>
        </p:nvSpPr>
        <p:spPr>
          <a:xfrm>
            <a:off x="6504593" y="28711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0" name="Google Shape;1290;p83"/>
          <p:cNvSpPr txBox="1"/>
          <p:nvPr>
            <p:ph idx="1" type="body"/>
          </p:nvPr>
        </p:nvSpPr>
        <p:spPr>
          <a:xfrm>
            <a:off x="6372454" y="9795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291" name="Google Shape;1291;p83"/>
          <p:cNvSpPr txBox="1"/>
          <p:nvPr>
            <p:ph idx="1" type="body"/>
          </p:nvPr>
        </p:nvSpPr>
        <p:spPr>
          <a:xfrm>
            <a:off x="8353654" y="28275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292" name="Google Shape;1292;p83"/>
          <p:cNvCxnSpPr>
            <a:endCxn id="1293" idx="4"/>
          </p:cNvCxnSpPr>
          <p:nvPr/>
        </p:nvCxnSpPr>
        <p:spPr>
          <a:xfrm rot="10800000">
            <a:off x="7534873" y="1806606"/>
            <a:ext cx="0" cy="1114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83"/>
          <p:cNvCxnSpPr/>
          <p:nvPr/>
        </p:nvCxnSpPr>
        <p:spPr>
          <a:xfrm rot="10800000">
            <a:off x="6549259" y="1751588"/>
            <a:ext cx="9951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93" name="Google Shape;1293;p83"/>
          <p:cNvSpPr/>
          <p:nvPr/>
        </p:nvSpPr>
        <p:spPr>
          <a:xfrm>
            <a:off x="7483573" y="1704006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84"/>
          <p:cNvSpPr/>
          <p:nvPr/>
        </p:nvSpPr>
        <p:spPr>
          <a:xfrm>
            <a:off x="383811" y="1733020"/>
            <a:ext cx="2667000" cy="26667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0" name="Google Shape;1300;p84"/>
          <p:cNvGrpSpPr/>
          <p:nvPr/>
        </p:nvGrpSpPr>
        <p:grpSpPr>
          <a:xfrm>
            <a:off x="1330664" y="2685116"/>
            <a:ext cx="1268354" cy="1466851"/>
            <a:chOff x="1330664" y="2608916"/>
            <a:chExt cx="1268354" cy="1466851"/>
          </a:xfrm>
        </p:grpSpPr>
        <p:cxnSp>
          <p:nvCxnSpPr>
            <p:cNvPr id="1301" name="Google Shape;1301;p84"/>
            <p:cNvCxnSpPr>
              <a:stCxn id="1302" idx="1"/>
              <a:endCxn id="1303" idx="5"/>
            </p:cNvCxnSpPr>
            <p:nvPr/>
          </p:nvCxnSpPr>
          <p:spPr>
            <a:xfrm>
              <a:off x="1711214" y="2989466"/>
              <a:ext cx="874800" cy="10731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3" name="Google Shape;1303;p84"/>
            <p:cNvSpPr/>
            <p:nvPr/>
          </p:nvSpPr>
          <p:spPr>
            <a:xfrm>
              <a:off x="2509618" y="3986366"/>
              <a:ext cx="89400" cy="89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84"/>
            <p:cNvSpPr/>
            <p:nvPr/>
          </p:nvSpPr>
          <p:spPr>
            <a:xfrm>
              <a:off x="1330664" y="2608916"/>
              <a:ext cx="761100" cy="761100"/>
            </a:xfrm>
            <a:prstGeom prst="arc">
              <a:avLst>
                <a:gd fmla="val 3182245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5" name="Google Shape;1305;p84"/>
          <p:cNvSpPr txBox="1"/>
          <p:nvPr>
            <p:ph idx="1" type="body"/>
          </p:nvPr>
        </p:nvSpPr>
        <p:spPr>
          <a:xfrm>
            <a:off x="1531929" y="3034292"/>
            <a:ext cx="255600" cy="30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6" name="Google Shape;1306;p84"/>
          <p:cNvSpPr txBox="1"/>
          <p:nvPr>
            <p:ph idx="1" type="body"/>
          </p:nvPr>
        </p:nvSpPr>
        <p:spPr>
          <a:xfrm>
            <a:off x="324000" y="683100"/>
            <a:ext cx="84960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</a:t>
            </a:r>
            <a:r>
              <a:rPr lang="en-GB" sz="2000">
                <a:solidFill>
                  <a:schemeClr val="accent4"/>
                </a:solidFill>
              </a:rPr>
              <a:t>angle</a:t>
            </a:r>
            <a:r>
              <a:rPr lang="en-GB" sz="2000"/>
              <a:t> can be represented by the Greek letter </a:t>
            </a:r>
            <a:r>
              <a:rPr i="1" lang="en-GB" sz="2000"/>
              <a:t>θ</a:t>
            </a:r>
            <a:r>
              <a:rPr lang="en-GB" sz="2000"/>
              <a:t> (“theta”). </a:t>
            </a:r>
            <a:endParaRPr sz="2000"/>
          </a:p>
        </p:txBody>
      </p:sp>
      <p:sp>
        <p:nvSpPr>
          <p:cNvPr id="1307" name="Google Shape;130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cxnSp>
        <p:nvCxnSpPr>
          <p:cNvPr id="1308" name="Google Shape;1308;p84"/>
          <p:cNvCxnSpPr/>
          <p:nvPr/>
        </p:nvCxnSpPr>
        <p:spPr>
          <a:xfrm rot="10800000">
            <a:off x="1711943" y="1477946"/>
            <a:ext cx="0" cy="292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9" name="Google Shape;1309;p84"/>
          <p:cNvCxnSpPr/>
          <p:nvPr/>
        </p:nvCxnSpPr>
        <p:spPr>
          <a:xfrm>
            <a:off x="378449" y="3061458"/>
            <a:ext cx="2957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0" name="Google Shape;1310;p84"/>
          <p:cNvSpPr txBox="1"/>
          <p:nvPr/>
        </p:nvSpPr>
        <p:spPr>
          <a:xfrm>
            <a:off x="2974090" y="2963586"/>
            <a:ext cx="23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84"/>
          <p:cNvSpPr txBox="1"/>
          <p:nvPr/>
        </p:nvSpPr>
        <p:spPr>
          <a:xfrm>
            <a:off x="229524" y="2958850"/>
            <a:ext cx="45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4"/>
          <p:cNvSpPr txBox="1"/>
          <p:nvPr/>
        </p:nvSpPr>
        <p:spPr>
          <a:xfrm>
            <a:off x="1411204" y="4178739"/>
            <a:ext cx="502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84"/>
          <p:cNvSpPr txBox="1"/>
          <p:nvPr/>
        </p:nvSpPr>
        <p:spPr>
          <a:xfrm>
            <a:off x="1523132" y="1531796"/>
            <a:ext cx="20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84"/>
          <p:cNvSpPr txBox="1"/>
          <p:nvPr/>
        </p:nvSpPr>
        <p:spPr>
          <a:xfrm>
            <a:off x="2078756" y="2713797"/>
            <a:ext cx="5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15" name="Google Shape;1315;p84"/>
          <p:cNvGrpSpPr/>
          <p:nvPr/>
        </p:nvGrpSpPr>
        <p:grpSpPr>
          <a:xfrm>
            <a:off x="1330664" y="2229644"/>
            <a:ext cx="1489546" cy="1216571"/>
            <a:chOff x="1330664" y="2153444"/>
            <a:chExt cx="1489546" cy="1216571"/>
          </a:xfrm>
        </p:grpSpPr>
        <p:grpSp>
          <p:nvGrpSpPr>
            <p:cNvPr id="1316" name="Google Shape;1316;p84"/>
            <p:cNvGrpSpPr/>
            <p:nvPr/>
          </p:nvGrpSpPr>
          <p:grpSpPr>
            <a:xfrm>
              <a:off x="1330664" y="2229752"/>
              <a:ext cx="1413238" cy="1140264"/>
              <a:chOff x="1330664" y="2229752"/>
              <a:chExt cx="1413238" cy="1140264"/>
            </a:xfrm>
          </p:grpSpPr>
          <p:sp>
            <p:nvSpPr>
              <p:cNvPr id="1317" name="Google Shape;1317;p84"/>
              <p:cNvSpPr/>
              <p:nvPr/>
            </p:nvSpPr>
            <p:spPr>
              <a:xfrm>
                <a:off x="1330664" y="2608916"/>
                <a:ext cx="761100" cy="761100"/>
              </a:xfrm>
              <a:prstGeom prst="arc">
                <a:avLst>
                  <a:gd fmla="val 19541477" name="adj1"/>
                  <a:gd fmla="val 0" name="adj2"/>
                </a:avLst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triangl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18" name="Google Shape;1318;p84"/>
              <p:cNvCxnSpPr>
                <a:endCxn id="1319" idx="3"/>
              </p:cNvCxnSpPr>
              <p:nvPr/>
            </p:nvCxnSpPr>
            <p:spPr>
              <a:xfrm flipH="1" rot="10800000">
                <a:off x="1711902" y="2229752"/>
                <a:ext cx="1032000" cy="7611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19" name="Google Shape;1319;p84"/>
            <p:cNvSpPr/>
            <p:nvPr/>
          </p:nvSpPr>
          <p:spPr>
            <a:xfrm>
              <a:off x="2730810" y="2153444"/>
              <a:ext cx="89400" cy="89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0" name="Google Shape;1320;p84"/>
          <p:cNvSpPr txBox="1"/>
          <p:nvPr>
            <p:ph idx="1" type="body"/>
          </p:nvPr>
        </p:nvSpPr>
        <p:spPr>
          <a:xfrm>
            <a:off x="1552818" y="1368900"/>
            <a:ext cx="231600" cy="3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21" name="Google Shape;1321;p84"/>
          <p:cNvSpPr txBox="1"/>
          <p:nvPr>
            <p:ph idx="1" type="body"/>
          </p:nvPr>
        </p:nvSpPr>
        <p:spPr>
          <a:xfrm>
            <a:off x="3279643" y="2979669"/>
            <a:ext cx="231600" cy="3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22" name="Google Shape;1322;p84"/>
          <p:cNvSpPr txBox="1"/>
          <p:nvPr>
            <p:ph idx="1" type="body"/>
          </p:nvPr>
        </p:nvSpPr>
        <p:spPr>
          <a:xfrm>
            <a:off x="4167600" y="1292700"/>
            <a:ext cx="4440300" cy="11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the unit circle</a:t>
            </a:r>
            <a:r>
              <a:rPr lang="en-GB" sz="1800"/>
              <a:t> </a:t>
            </a:r>
            <a:r>
              <a:rPr i="1" lang="en-GB" sz="1800"/>
              <a:t>θ</a:t>
            </a:r>
            <a:r>
              <a:rPr lang="en-GB" sz="1800"/>
              <a:t> is the angle that the radius is rotated anticlockwise from its starting point at (0, 1). </a:t>
            </a:r>
            <a:endParaRPr sz="1800"/>
          </a:p>
        </p:txBody>
      </p:sp>
      <p:grpSp>
        <p:nvGrpSpPr>
          <p:cNvPr id="1323" name="Google Shape;1323;p84"/>
          <p:cNvGrpSpPr/>
          <p:nvPr/>
        </p:nvGrpSpPr>
        <p:grpSpPr>
          <a:xfrm>
            <a:off x="1712010" y="3015675"/>
            <a:ext cx="1381904" cy="89400"/>
            <a:chOff x="1712010" y="2939475"/>
            <a:chExt cx="1381904" cy="89400"/>
          </a:xfrm>
        </p:grpSpPr>
        <p:cxnSp>
          <p:nvCxnSpPr>
            <p:cNvPr id="1324" name="Google Shape;1324;p84"/>
            <p:cNvCxnSpPr/>
            <p:nvPr/>
          </p:nvCxnSpPr>
          <p:spPr>
            <a:xfrm flipH="1" rot="10800000">
              <a:off x="1712010" y="2984287"/>
              <a:ext cx="1381800" cy="33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5" name="Google Shape;1325;p84"/>
            <p:cNvSpPr/>
            <p:nvPr/>
          </p:nvSpPr>
          <p:spPr>
            <a:xfrm>
              <a:off x="3004514" y="2939475"/>
              <a:ext cx="89400" cy="89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6" name="Google Shape;1326;p84"/>
          <p:cNvGrpSpPr/>
          <p:nvPr/>
        </p:nvGrpSpPr>
        <p:grpSpPr>
          <a:xfrm>
            <a:off x="788131" y="2020846"/>
            <a:ext cx="1303633" cy="1425369"/>
            <a:chOff x="788131" y="1944646"/>
            <a:chExt cx="1303633" cy="1425369"/>
          </a:xfrm>
        </p:grpSpPr>
        <p:sp>
          <p:nvSpPr>
            <p:cNvPr id="1327" name="Google Shape;1327;p84"/>
            <p:cNvSpPr/>
            <p:nvPr/>
          </p:nvSpPr>
          <p:spPr>
            <a:xfrm>
              <a:off x="788131" y="1944646"/>
              <a:ext cx="89400" cy="89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28" name="Google Shape;1328;p84"/>
            <p:cNvCxnSpPr>
              <a:endCxn id="1327" idx="5"/>
            </p:cNvCxnSpPr>
            <p:nvPr/>
          </p:nvCxnSpPr>
          <p:spPr>
            <a:xfrm rot="10800000">
              <a:off x="864439" y="2020954"/>
              <a:ext cx="847800" cy="966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9" name="Google Shape;1329;p84"/>
            <p:cNvSpPr/>
            <p:nvPr/>
          </p:nvSpPr>
          <p:spPr>
            <a:xfrm>
              <a:off x="1330664" y="2608916"/>
              <a:ext cx="761100" cy="761100"/>
            </a:xfrm>
            <a:prstGeom prst="arc">
              <a:avLst>
                <a:gd fmla="val 13996742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0" name="Google Shape;1330;p84"/>
          <p:cNvGrpSpPr/>
          <p:nvPr/>
        </p:nvGrpSpPr>
        <p:grpSpPr>
          <a:xfrm>
            <a:off x="426865" y="2685116"/>
            <a:ext cx="1664899" cy="924687"/>
            <a:chOff x="426865" y="2608916"/>
            <a:chExt cx="1664899" cy="924687"/>
          </a:xfrm>
        </p:grpSpPr>
        <p:cxnSp>
          <p:nvCxnSpPr>
            <p:cNvPr id="1331" name="Google Shape;1331;p84"/>
            <p:cNvCxnSpPr/>
            <p:nvPr/>
          </p:nvCxnSpPr>
          <p:spPr>
            <a:xfrm flipH="1">
              <a:off x="473120" y="2987721"/>
              <a:ext cx="1239000" cy="497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2" name="Google Shape;1332;p84"/>
            <p:cNvSpPr/>
            <p:nvPr/>
          </p:nvSpPr>
          <p:spPr>
            <a:xfrm>
              <a:off x="426865" y="3440002"/>
              <a:ext cx="93600" cy="93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2" name="Google Shape;1302;p84"/>
            <p:cNvSpPr/>
            <p:nvPr/>
          </p:nvSpPr>
          <p:spPr>
            <a:xfrm>
              <a:off x="1330664" y="2608916"/>
              <a:ext cx="761100" cy="761100"/>
            </a:xfrm>
            <a:prstGeom prst="arc">
              <a:avLst>
                <a:gd fmla="val 9723052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triangl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33" name="Google Shape;1333;p84"/>
          <p:cNvSpPr txBox="1"/>
          <p:nvPr>
            <p:ph idx="1" type="body"/>
          </p:nvPr>
        </p:nvSpPr>
        <p:spPr>
          <a:xfrm>
            <a:off x="4167600" y="2511900"/>
            <a:ext cx="4440300" cy="11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short way to write “</a:t>
            </a:r>
            <a:r>
              <a:rPr b="1" lang="en-GB" sz="1800"/>
              <a:t>sine</a:t>
            </a:r>
            <a:r>
              <a:rPr lang="en-GB" sz="1800"/>
              <a:t> of the angle”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/>
              <a:t>,</a:t>
            </a:r>
            <a:r>
              <a:rPr lang="en-GB" sz="1800"/>
              <a:t> where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sin</a:t>
            </a:r>
            <a:r>
              <a:rPr lang="en-GB" sz="1800"/>
              <a:t> means </a:t>
            </a:r>
            <a:r>
              <a:rPr b="1" lang="en-GB" sz="1800"/>
              <a:t>sine</a:t>
            </a:r>
            <a:r>
              <a:rPr lang="en-GB" sz="1800"/>
              <a:t> 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 </a:t>
            </a:r>
            <a:r>
              <a:rPr lang="en-GB" sz="1800"/>
              <a:t>is the angle.</a:t>
            </a:r>
            <a:endParaRPr sz="1800"/>
          </a:p>
        </p:txBody>
      </p:sp>
      <p:sp>
        <p:nvSpPr>
          <p:cNvPr id="1334" name="Google Shape;1334;p84"/>
          <p:cNvSpPr txBox="1"/>
          <p:nvPr>
            <p:ph idx="1" type="body"/>
          </p:nvPr>
        </p:nvSpPr>
        <p:spPr>
          <a:xfrm>
            <a:off x="4167600" y="3731100"/>
            <a:ext cx="4701600" cy="11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short way to write “</a:t>
            </a:r>
            <a:r>
              <a:rPr b="1" lang="en-GB" sz="1800"/>
              <a:t>cosine</a:t>
            </a:r>
            <a:r>
              <a:rPr lang="en-GB" sz="1800"/>
              <a:t> of the angle”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/>
              <a:t>, where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1800"/>
              <a:t> means </a:t>
            </a:r>
            <a:r>
              <a:rPr b="1" lang="en-GB" sz="1800"/>
              <a:t>cosine</a:t>
            </a:r>
            <a:r>
              <a:rPr lang="en-GB" sz="1800"/>
              <a:t> and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 </a:t>
            </a:r>
            <a:r>
              <a:rPr lang="en-GB" sz="1800"/>
              <a:t>is the angle.</a:t>
            </a:r>
            <a:endParaRPr sz="1800"/>
          </a:p>
        </p:txBody>
      </p:sp>
      <p:sp>
        <p:nvSpPr>
          <p:cNvPr id="1335" name="Google Shape;1335;p84"/>
          <p:cNvSpPr txBox="1"/>
          <p:nvPr>
            <p:ph idx="1" type="body"/>
          </p:nvPr>
        </p:nvSpPr>
        <p:spPr>
          <a:xfrm>
            <a:off x="1847276" y="1373054"/>
            <a:ext cx="761100" cy="3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36" name="Google Shape;1336;p84"/>
          <p:cNvSpPr txBox="1"/>
          <p:nvPr>
            <p:ph idx="1" type="body"/>
          </p:nvPr>
        </p:nvSpPr>
        <p:spPr>
          <a:xfrm>
            <a:off x="3242019" y="3003817"/>
            <a:ext cx="761100" cy="34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37" name="Google Shape;1337;p84"/>
          <p:cNvSpPr/>
          <p:nvPr/>
        </p:nvSpPr>
        <p:spPr>
          <a:xfrm>
            <a:off x="1667991" y="3017692"/>
            <a:ext cx="89400" cy="894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5"/>
          <p:cNvSpPr/>
          <p:nvPr/>
        </p:nvSpPr>
        <p:spPr>
          <a:xfrm>
            <a:off x="384032" y="1732399"/>
            <a:ext cx="2665800" cy="26652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5"/>
          <p:cNvSpPr txBox="1"/>
          <p:nvPr>
            <p:ph idx="1" type="body"/>
          </p:nvPr>
        </p:nvSpPr>
        <p:spPr>
          <a:xfrm>
            <a:off x="324000" y="683100"/>
            <a:ext cx="8496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Triangles cannot have negative lengths. Therefore, for triangles in a unit circle,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/>
              <a:t>only equals the vertical length when its value is positive. </a:t>
            </a:r>
            <a:endParaRPr sz="1900"/>
          </a:p>
        </p:txBody>
      </p:sp>
      <p:sp>
        <p:nvSpPr>
          <p:cNvPr id="1344" name="Google Shape;1344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cxnSp>
        <p:nvCxnSpPr>
          <p:cNvPr id="1345" name="Google Shape;1345;p85"/>
          <p:cNvCxnSpPr/>
          <p:nvPr/>
        </p:nvCxnSpPr>
        <p:spPr>
          <a:xfrm rot="10800000">
            <a:off x="1711314" y="1477723"/>
            <a:ext cx="0" cy="291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6" name="Google Shape;1346;p85"/>
          <p:cNvCxnSpPr/>
          <p:nvPr/>
        </p:nvCxnSpPr>
        <p:spPr>
          <a:xfrm>
            <a:off x="378673" y="3059989"/>
            <a:ext cx="2955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7" name="Google Shape;1347;p85"/>
          <p:cNvSpPr txBox="1"/>
          <p:nvPr/>
        </p:nvSpPr>
        <p:spPr>
          <a:xfrm>
            <a:off x="2972654" y="2962179"/>
            <a:ext cx="231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8" name="Google Shape;1348;p85"/>
          <p:cNvSpPr txBox="1"/>
          <p:nvPr/>
        </p:nvSpPr>
        <p:spPr>
          <a:xfrm>
            <a:off x="229846" y="2957450"/>
            <a:ext cx="43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85"/>
          <p:cNvSpPr txBox="1"/>
          <p:nvPr/>
        </p:nvSpPr>
        <p:spPr>
          <a:xfrm>
            <a:off x="1372673" y="4196950"/>
            <a:ext cx="43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85"/>
          <p:cNvSpPr txBox="1"/>
          <p:nvPr/>
        </p:nvSpPr>
        <p:spPr>
          <a:xfrm>
            <a:off x="1522624" y="1551701"/>
            <a:ext cx="20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5"/>
          <p:cNvSpPr txBox="1"/>
          <p:nvPr>
            <p:ph idx="1" type="body"/>
          </p:nvPr>
        </p:nvSpPr>
        <p:spPr>
          <a:xfrm>
            <a:off x="1531415" y="3032841"/>
            <a:ext cx="255300" cy="30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52" name="Google Shape;1352;p85"/>
          <p:cNvGrpSpPr/>
          <p:nvPr/>
        </p:nvGrpSpPr>
        <p:grpSpPr>
          <a:xfrm>
            <a:off x="1360432" y="2389775"/>
            <a:ext cx="1571620" cy="1025362"/>
            <a:chOff x="1360432" y="2389775"/>
            <a:chExt cx="1571620" cy="1025362"/>
          </a:xfrm>
        </p:grpSpPr>
        <p:grpSp>
          <p:nvGrpSpPr>
            <p:cNvPr id="1353" name="Google Shape;1353;p85"/>
            <p:cNvGrpSpPr/>
            <p:nvPr/>
          </p:nvGrpSpPr>
          <p:grpSpPr>
            <a:xfrm>
              <a:off x="1693209" y="2389775"/>
              <a:ext cx="1238843" cy="680755"/>
              <a:chOff x="2044450" y="2522851"/>
              <a:chExt cx="1357042" cy="745624"/>
            </a:xfrm>
          </p:grpSpPr>
          <p:sp>
            <p:nvSpPr>
              <p:cNvPr id="1354" name="Google Shape;1354;p85"/>
              <p:cNvSpPr/>
              <p:nvPr/>
            </p:nvSpPr>
            <p:spPr>
              <a:xfrm>
                <a:off x="2063100" y="2591875"/>
                <a:ext cx="1292850" cy="676600"/>
              </a:xfrm>
              <a:custGeom>
                <a:rect b="b" l="l" r="r" t="t"/>
                <a:pathLst>
                  <a:path extrusionOk="0" h="27064" w="51714">
                    <a:moveTo>
                      <a:pt x="0" y="26769"/>
                    </a:moveTo>
                    <a:lnTo>
                      <a:pt x="51618" y="0"/>
                    </a:lnTo>
                    <a:lnTo>
                      <a:pt x="51714" y="27064"/>
                    </a:lnTo>
                    <a:close/>
                  </a:path>
                </a:pathLst>
              </a:cu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355" name="Google Shape;1355;p85"/>
              <p:cNvCxnSpPr>
                <a:endCxn id="1356" idx="3"/>
              </p:cNvCxnSpPr>
              <p:nvPr/>
            </p:nvCxnSpPr>
            <p:spPr>
              <a:xfrm flipH="1" rot="10800000">
                <a:off x="2065814" y="2606328"/>
                <a:ext cx="1252200" cy="652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7" name="Google Shape;1357;p85"/>
              <p:cNvSpPr/>
              <p:nvPr/>
            </p:nvSpPr>
            <p:spPr>
              <a:xfrm>
                <a:off x="3259983" y="3167620"/>
                <a:ext cx="85500" cy="85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58" name="Google Shape;1358;p85"/>
              <p:cNvCxnSpPr/>
              <p:nvPr/>
            </p:nvCxnSpPr>
            <p:spPr>
              <a:xfrm rot="10800000">
                <a:off x="2044450" y="3260400"/>
                <a:ext cx="132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374CF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59" name="Google Shape;1359;p85"/>
              <p:cNvCxnSpPr/>
              <p:nvPr/>
            </p:nvCxnSpPr>
            <p:spPr>
              <a:xfrm rot="10800000">
                <a:off x="3348692" y="2600551"/>
                <a:ext cx="0" cy="664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56" name="Google Shape;1356;p85"/>
              <p:cNvSpPr/>
              <p:nvPr/>
            </p:nvSpPr>
            <p:spPr>
              <a:xfrm>
                <a:off x="3303692" y="2522851"/>
                <a:ext cx="97800" cy="978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60" name="Google Shape;1360;p85"/>
            <p:cNvSpPr/>
            <p:nvPr/>
          </p:nvSpPr>
          <p:spPr>
            <a:xfrm>
              <a:off x="1360432" y="2714037"/>
              <a:ext cx="701100" cy="701100"/>
            </a:xfrm>
            <a:prstGeom prst="arc">
              <a:avLst>
                <a:gd fmla="val 19907077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61" name="Google Shape;1361;p85"/>
          <p:cNvSpPr txBox="1"/>
          <p:nvPr>
            <p:ph idx="1" type="body"/>
          </p:nvPr>
        </p:nvSpPr>
        <p:spPr>
          <a:xfrm>
            <a:off x="1817784" y="1434886"/>
            <a:ext cx="5943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sp>
        <p:nvSpPr>
          <p:cNvPr id="1362" name="Google Shape;1362;p85"/>
          <p:cNvSpPr txBox="1"/>
          <p:nvPr>
            <p:ph idx="1" type="body"/>
          </p:nvPr>
        </p:nvSpPr>
        <p:spPr>
          <a:xfrm>
            <a:off x="3278016" y="2978270"/>
            <a:ext cx="708900" cy="3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363" name="Google Shape;1363;p85"/>
          <p:cNvSpPr txBox="1"/>
          <p:nvPr>
            <p:ph idx="1" type="body"/>
          </p:nvPr>
        </p:nvSpPr>
        <p:spPr>
          <a:xfrm>
            <a:off x="4320000" y="1626075"/>
            <a:ext cx="4500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Als</a:t>
            </a:r>
            <a:r>
              <a:rPr lang="en-GB" sz="1900"/>
              <a:t>o,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9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900"/>
              <a:t>only equals the horizontal length when its value is positive. </a:t>
            </a:r>
            <a:endParaRPr sz="1900"/>
          </a:p>
        </p:txBody>
      </p:sp>
      <p:sp>
        <p:nvSpPr>
          <p:cNvPr id="1364" name="Google Shape;1364;p85"/>
          <p:cNvSpPr txBox="1"/>
          <p:nvPr/>
        </p:nvSpPr>
        <p:spPr>
          <a:xfrm>
            <a:off x="2036515" y="2710432"/>
            <a:ext cx="43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θ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85"/>
          <p:cNvSpPr txBox="1"/>
          <p:nvPr>
            <p:ph idx="1" type="body"/>
          </p:nvPr>
        </p:nvSpPr>
        <p:spPr>
          <a:xfrm>
            <a:off x="4321775" y="2540475"/>
            <a:ext cx="4500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In which quadrants do </a:t>
            </a:r>
            <a:r>
              <a:rPr lang="en-GB" sz="1900">
                <a:solidFill>
                  <a:schemeClr val="accent4"/>
                </a:solidFill>
              </a:rPr>
              <a:t>both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1900"/>
              <a:t>and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1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1900"/>
              <a:t>take positive values?</a:t>
            </a:r>
            <a:endParaRPr sz="1900"/>
          </a:p>
        </p:txBody>
      </p:sp>
      <p:sp>
        <p:nvSpPr>
          <p:cNvPr id="1366" name="Google Shape;1366;p85"/>
          <p:cNvSpPr txBox="1"/>
          <p:nvPr/>
        </p:nvSpPr>
        <p:spPr>
          <a:xfrm>
            <a:off x="2192695" y="2035965"/>
            <a:ext cx="23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7" name="Google Shape;1367;p85"/>
          <p:cNvSpPr txBox="1"/>
          <p:nvPr/>
        </p:nvSpPr>
        <p:spPr>
          <a:xfrm>
            <a:off x="870901" y="2035961"/>
            <a:ext cx="43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5"/>
          <p:cNvSpPr txBox="1"/>
          <p:nvPr/>
        </p:nvSpPr>
        <p:spPr>
          <a:xfrm>
            <a:off x="801323" y="3566494"/>
            <a:ext cx="5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III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9" name="Google Shape;1369;p85"/>
          <p:cNvSpPr txBox="1"/>
          <p:nvPr/>
        </p:nvSpPr>
        <p:spPr>
          <a:xfrm>
            <a:off x="2053567" y="3566494"/>
            <a:ext cx="594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IV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70" name="Google Shape;137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794" y="2007111"/>
            <a:ext cx="361540" cy="38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3770" y="2050276"/>
            <a:ext cx="361540" cy="383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3770" y="3575833"/>
            <a:ext cx="361540" cy="383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2775" y="3599742"/>
            <a:ext cx="361540" cy="3832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4" name="Google Shape;1374;p85"/>
          <p:cNvGrpSpPr/>
          <p:nvPr/>
        </p:nvGrpSpPr>
        <p:grpSpPr>
          <a:xfrm>
            <a:off x="497795" y="2389775"/>
            <a:ext cx="1563737" cy="1025362"/>
            <a:chOff x="497795" y="2389775"/>
            <a:chExt cx="1563737" cy="1025362"/>
          </a:xfrm>
        </p:grpSpPr>
        <p:grpSp>
          <p:nvGrpSpPr>
            <p:cNvPr id="1375" name="Google Shape;1375;p85"/>
            <p:cNvGrpSpPr/>
            <p:nvPr/>
          </p:nvGrpSpPr>
          <p:grpSpPr>
            <a:xfrm flipH="1">
              <a:off x="497795" y="2389775"/>
              <a:ext cx="1238843" cy="680755"/>
              <a:chOff x="2044450" y="2522851"/>
              <a:chExt cx="1357042" cy="745624"/>
            </a:xfrm>
          </p:grpSpPr>
          <p:sp>
            <p:nvSpPr>
              <p:cNvPr id="1376" name="Google Shape;1376;p85"/>
              <p:cNvSpPr/>
              <p:nvPr/>
            </p:nvSpPr>
            <p:spPr>
              <a:xfrm>
                <a:off x="2063100" y="2591875"/>
                <a:ext cx="1292850" cy="676600"/>
              </a:xfrm>
              <a:custGeom>
                <a:rect b="b" l="l" r="r" t="t"/>
                <a:pathLst>
                  <a:path extrusionOk="0" h="27064" w="51714">
                    <a:moveTo>
                      <a:pt x="0" y="26769"/>
                    </a:moveTo>
                    <a:lnTo>
                      <a:pt x="51618" y="0"/>
                    </a:lnTo>
                    <a:lnTo>
                      <a:pt x="51714" y="27064"/>
                    </a:lnTo>
                    <a:close/>
                  </a:path>
                </a:pathLst>
              </a:cu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377" name="Google Shape;1377;p85"/>
              <p:cNvCxnSpPr>
                <a:endCxn id="1378" idx="3"/>
              </p:cNvCxnSpPr>
              <p:nvPr/>
            </p:nvCxnSpPr>
            <p:spPr>
              <a:xfrm flipH="1" rot="10800000">
                <a:off x="2065814" y="2606328"/>
                <a:ext cx="1252200" cy="652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9" name="Google Shape;1379;p85"/>
              <p:cNvSpPr/>
              <p:nvPr/>
            </p:nvSpPr>
            <p:spPr>
              <a:xfrm>
                <a:off x="3259983" y="3167620"/>
                <a:ext cx="85500" cy="85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80" name="Google Shape;1380;p85"/>
              <p:cNvCxnSpPr/>
              <p:nvPr/>
            </p:nvCxnSpPr>
            <p:spPr>
              <a:xfrm rot="10800000">
                <a:off x="2044450" y="3260400"/>
                <a:ext cx="132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374CF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1" name="Google Shape;1381;p85"/>
              <p:cNvCxnSpPr/>
              <p:nvPr/>
            </p:nvCxnSpPr>
            <p:spPr>
              <a:xfrm rot="10800000">
                <a:off x="3348692" y="2600551"/>
                <a:ext cx="0" cy="664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8" name="Google Shape;1378;p85"/>
              <p:cNvSpPr/>
              <p:nvPr/>
            </p:nvSpPr>
            <p:spPr>
              <a:xfrm>
                <a:off x="3303692" y="2522851"/>
                <a:ext cx="97800" cy="978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82" name="Google Shape;1382;p85"/>
            <p:cNvSpPr/>
            <p:nvPr/>
          </p:nvSpPr>
          <p:spPr>
            <a:xfrm>
              <a:off x="1360432" y="2714037"/>
              <a:ext cx="701100" cy="701100"/>
            </a:xfrm>
            <a:prstGeom prst="arc">
              <a:avLst>
                <a:gd fmla="val 12644876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3" name="Google Shape;1383;p85"/>
          <p:cNvGrpSpPr/>
          <p:nvPr/>
        </p:nvGrpSpPr>
        <p:grpSpPr>
          <a:xfrm>
            <a:off x="493403" y="2714037"/>
            <a:ext cx="1568129" cy="1021375"/>
            <a:chOff x="493403" y="2714037"/>
            <a:chExt cx="1568129" cy="1021375"/>
          </a:xfrm>
        </p:grpSpPr>
        <p:grpSp>
          <p:nvGrpSpPr>
            <p:cNvPr id="1384" name="Google Shape;1384;p85"/>
            <p:cNvGrpSpPr/>
            <p:nvPr/>
          </p:nvGrpSpPr>
          <p:grpSpPr>
            <a:xfrm rot="10800000">
              <a:off x="493403" y="3054657"/>
              <a:ext cx="1238843" cy="680755"/>
              <a:chOff x="2044450" y="2522851"/>
              <a:chExt cx="1357042" cy="745624"/>
            </a:xfrm>
          </p:grpSpPr>
          <p:sp>
            <p:nvSpPr>
              <p:cNvPr id="1385" name="Google Shape;1385;p85"/>
              <p:cNvSpPr/>
              <p:nvPr/>
            </p:nvSpPr>
            <p:spPr>
              <a:xfrm>
                <a:off x="2063100" y="2591875"/>
                <a:ext cx="1292850" cy="676600"/>
              </a:xfrm>
              <a:custGeom>
                <a:rect b="b" l="l" r="r" t="t"/>
                <a:pathLst>
                  <a:path extrusionOk="0" h="27064" w="51714">
                    <a:moveTo>
                      <a:pt x="0" y="26769"/>
                    </a:moveTo>
                    <a:lnTo>
                      <a:pt x="51618" y="0"/>
                    </a:lnTo>
                    <a:lnTo>
                      <a:pt x="51714" y="27064"/>
                    </a:lnTo>
                    <a:close/>
                  </a:path>
                </a:pathLst>
              </a:cu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386" name="Google Shape;1386;p85"/>
              <p:cNvCxnSpPr>
                <a:endCxn id="1387" idx="3"/>
              </p:cNvCxnSpPr>
              <p:nvPr/>
            </p:nvCxnSpPr>
            <p:spPr>
              <a:xfrm flipH="1" rot="10800000">
                <a:off x="2065814" y="2606328"/>
                <a:ext cx="1252200" cy="652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8" name="Google Shape;1388;p85"/>
              <p:cNvSpPr/>
              <p:nvPr/>
            </p:nvSpPr>
            <p:spPr>
              <a:xfrm>
                <a:off x="3259983" y="3167620"/>
                <a:ext cx="85500" cy="85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89" name="Google Shape;1389;p85"/>
              <p:cNvCxnSpPr/>
              <p:nvPr/>
            </p:nvCxnSpPr>
            <p:spPr>
              <a:xfrm rot="10800000">
                <a:off x="2044450" y="3260400"/>
                <a:ext cx="132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374CF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" name="Google Shape;1390;p85"/>
              <p:cNvCxnSpPr/>
              <p:nvPr/>
            </p:nvCxnSpPr>
            <p:spPr>
              <a:xfrm rot="10800000">
                <a:off x="3348692" y="2600551"/>
                <a:ext cx="0" cy="664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7" name="Google Shape;1387;p85"/>
              <p:cNvSpPr/>
              <p:nvPr/>
            </p:nvSpPr>
            <p:spPr>
              <a:xfrm>
                <a:off x="3303692" y="2522851"/>
                <a:ext cx="97800" cy="978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91" name="Google Shape;1391;p85"/>
            <p:cNvSpPr/>
            <p:nvPr/>
          </p:nvSpPr>
          <p:spPr>
            <a:xfrm>
              <a:off x="1360432" y="2714037"/>
              <a:ext cx="701100" cy="701100"/>
            </a:xfrm>
            <a:prstGeom prst="arc">
              <a:avLst>
                <a:gd fmla="val 9331432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2" name="Google Shape;1392;p85"/>
          <p:cNvGrpSpPr/>
          <p:nvPr/>
        </p:nvGrpSpPr>
        <p:grpSpPr>
          <a:xfrm>
            <a:off x="1360432" y="2714037"/>
            <a:ext cx="1567228" cy="1021375"/>
            <a:chOff x="1360432" y="2714037"/>
            <a:chExt cx="1567228" cy="1021375"/>
          </a:xfrm>
        </p:grpSpPr>
        <p:grpSp>
          <p:nvGrpSpPr>
            <p:cNvPr id="1393" name="Google Shape;1393;p85"/>
            <p:cNvGrpSpPr/>
            <p:nvPr/>
          </p:nvGrpSpPr>
          <p:grpSpPr>
            <a:xfrm flipH="1" rot="10800000">
              <a:off x="1688817" y="3054657"/>
              <a:ext cx="1238843" cy="680755"/>
              <a:chOff x="2044450" y="2522851"/>
              <a:chExt cx="1357042" cy="745624"/>
            </a:xfrm>
          </p:grpSpPr>
          <p:sp>
            <p:nvSpPr>
              <p:cNvPr id="1394" name="Google Shape;1394;p85"/>
              <p:cNvSpPr/>
              <p:nvPr/>
            </p:nvSpPr>
            <p:spPr>
              <a:xfrm>
                <a:off x="2063100" y="2591875"/>
                <a:ext cx="1292850" cy="676600"/>
              </a:xfrm>
              <a:custGeom>
                <a:rect b="b" l="l" r="r" t="t"/>
                <a:pathLst>
                  <a:path extrusionOk="0" h="27064" w="51714">
                    <a:moveTo>
                      <a:pt x="0" y="26769"/>
                    </a:moveTo>
                    <a:lnTo>
                      <a:pt x="51618" y="0"/>
                    </a:lnTo>
                    <a:lnTo>
                      <a:pt x="51714" y="27064"/>
                    </a:lnTo>
                    <a:close/>
                  </a:path>
                </a:pathLst>
              </a:custGeom>
              <a:solidFill>
                <a:srgbClr val="F3EEFB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cxnSp>
            <p:nvCxnSpPr>
              <p:cNvPr id="1395" name="Google Shape;1395;p85"/>
              <p:cNvCxnSpPr>
                <a:endCxn id="1396" idx="3"/>
              </p:cNvCxnSpPr>
              <p:nvPr/>
            </p:nvCxnSpPr>
            <p:spPr>
              <a:xfrm flipH="1" rot="10800000">
                <a:off x="2065814" y="2606328"/>
                <a:ext cx="1252200" cy="652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4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7" name="Google Shape;1397;p85"/>
              <p:cNvSpPr/>
              <p:nvPr/>
            </p:nvSpPr>
            <p:spPr>
              <a:xfrm>
                <a:off x="3259983" y="3167620"/>
                <a:ext cx="85500" cy="85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98" name="Google Shape;1398;p85"/>
              <p:cNvCxnSpPr/>
              <p:nvPr/>
            </p:nvCxnSpPr>
            <p:spPr>
              <a:xfrm rot="10800000">
                <a:off x="2044450" y="3260400"/>
                <a:ext cx="132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374CF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" name="Google Shape;1399;p85"/>
              <p:cNvCxnSpPr/>
              <p:nvPr/>
            </p:nvCxnSpPr>
            <p:spPr>
              <a:xfrm rot="10800000">
                <a:off x="3348692" y="2600551"/>
                <a:ext cx="0" cy="6645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5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6" name="Google Shape;1396;p85"/>
              <p:cNvSpPr/>
              <p:nvPr/>
            </p:nvSpPr>
            <p:spPr>
              <a:xfrm>
                <a:off x="3303692" y="2522851"/>
                <a:ext cx="97800" cy="97800"/>
              </a:xfrm>
              <a:prstGeom prst="ellipse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400" name="Google Shape;1400;p85"/>
            <p:cNvSpPr/>
            <p:nvPr/>
          </p:nvSpPr>
          <p:spPr>
            <a:xfrm>
              <a:off x="1360432" y="2714037"/>
              <a:ext cx="701100" cy="701100"/>
            </a:xfrm>
            <a:prstGeom prst="arc">
              <a:avLst>
                <a:gd fmla="val 1820909" name="adj1"/>
                <a:gd fmla="val 0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01" name="Google Shape;1401;p85"/>
          <p:cNvSpPr txBox="1"/>
          <p:nvPr>
            <p:ph idx="1" type="body"/>
          </p:nvPr>
        </p:nvSpPr>
        <p:spPr>
          <a:xfrm>
            <a:off x="4320000" y="3566500"/>
            <a:ext cx="45000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first quadrant only.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2" name="Google Shape;1402;p85"/>
          <p:cNvSpPr/>
          <p:nvPr/>
        </p:nvSpPr>
        <p:spPr>
          <a:xfrm>
            <a:off x="1667390" y="3016250"/>
            <a:ext cx="89100" cy="89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203" y="1358875"/>
            <a:ext cx="3231751" cy="31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86"/>
          <p:cNvSpPr txBox="1"/>
          <p:nvPr>
            <p:ph idx="1" type="body"/>
          </p:nvPr>
        </p:nvSpPr>
        <p:spPr>
          <a:xfrm>
            <a:off x="324000" y="683100"/>
            <a:ext cx="8496000" cy="8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diagram shows the sector of the unit circle that lies in the first </a:t>
            </a:r>
            <a:r>
              <a:rPr lang="en-GB" sz="1800"/>
              <a:t>quadrant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409" name="Google Shape;140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410" name="Google Shape;1410;p86"/>
          <p:cNvSpPr txBox="1"/>
          <p:nvPr>
            <p:ph idx="1" type="body"/>
          </p:nvPr>
        </p:nvSpPr>
        <p:spPr>
          <a:xfrm>
            <a:off x="360083" y="1033397"/>
            <a:ext cx="6513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sp>
        <p:nvSpPr>
          <p:cNvPr id="1411" name="Google Shape;1411;p86"/>
          <p:cNvSpPr txBox="1"/>
          <p:nvPr>
            <p:ph idx="1" type="body"/>
          </p:nvPr>
        </p:nvSpPr>
        <p:spPr>
          <a:xfrm>
            <a:off x="4044104" y="4324060"/>
            <a:ext cx="6513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1412" name="Google Shape;1412;p86"/>
          <p:cNvSpPr txBox="1"/>
          <p:nvPr>
            <p:ph idx="1" type="body"/>
          </p:nvPr>
        </p:nvSpPr>
        <p:spPr>
          <a:xfrm>
            <a:off x="5128800" y="1549875"/>
            <a:ext cx="38757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points around the circumference show the </a:t>
            </a:r>
            <a:r>
              <a:rPr lang="en-GB" sz="1800">
                <a:solidFill>
                  <a:schemeClr val="accent4"/>
                </a:solidFill>
              </a:rPr>
              <a:t>angle of rotation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1800"/>
              <a:t>from the horizontal axis to the radius at each point.</a:t>
            </a:r>
            <a:endParaRPr sz="1800"/>
          </a:p>
        </p:txBody>
      </p:sp>
      <p:cxnSp>
        <p:nvCxnSpPr>
          <p:cNvPr id="1413" name="Google Shape;1413;p86"/>
          <p:cNvCxnSpPr/>
          <p:nvPr/>
        </p:nvCxnSpPr>
        <p:spPr>
          <a:xfrm rot="10800000">
            <a:off x="1005466" y="1163172"/>
            <a:ext cx="0" cy="3198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4" name="Google Shape;1414;p86"/>
          <p:cNvSpPr/>
          <p:nvPr/>
        </p:nvSpPr>
        <p:spPr>
          <a:xfrm>
            <a:off x="308850" y="3647522"/>
            <a:ext cx="1376100" cy="1375800"/>
          </a:xfrm>
          <a:prstGeom prst="arc">
            <a:avLst>
              <a:gd fmla="val 20435395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86"/>
          <p:cNvSpPr txBox="1"/>
          <p:nvPr/>
        </p:nvSpPr>
        <p:spPr>
          <a:xfrm>
            <a:off x="1647319" y="4000939"/>
            <a:ext cx="626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86"/>
          <p:cNvSpPr txBox="1"/>
          <p:nvPr>
            <p:ph idx="1" type="body"/>
          </p:nvPr>
        </p:nvSpPr>
        <p:spPr>
          <a:xfrm>
            <a:off x="5128800" y="3150075"/>
            <a:ext cx="1376100" cy="3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E.g.</a:t>
            </a:r>
            <a:r>
              <a:rPr lang="en-GB" sz="1800"/>
              <a:t>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/>
              <a:t>= 20°</a:t>
            </a:r>
            <a:endParaRPr sz="1800"/>
          </a:p>
        </p:txBody>
      </p:sp>
      <p:cxnSp>
        <p:nvCxnSpPr>
          <p:cNvPr id="1417" name="Google Shape;1417;p86"/>
          <p:cNvCxnSpPr/>
          <p:nvPr/>
        </p:nvCxnSpPr>
        <p:spPr>
          <a:xfrm>
            <a:off x="1000139" y="4347582"/>
            <a:ext cx="3153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18" name="Google Shape;1418;p86"/>
          <p:cNvGrpSpPr/>
          <p:nvPr/>
        </p:nvGrpSpPr>
        <p:grpSpPr>
          <a:xfrm>
            <a:off x="1006975" y="3344733"/>
            <a:ext cx="2689788" cy="991117"/>
            <a:chOff x="2052004" y="2264326"/>
            <a:chExt cx="2689788" cy="991117"/>
          </a:xfrm>
        </p:grpSpPr>
        <p:cxnSp>
          <p:nvCxnSpPr>
            <p:cNvPr id="1419" name="Google Shape;1419;p86"/>
            <p:cNvCxnSpPr/>
            <p:nvPr/>
          </p:nvCxnSpPr>
          <p:spPr>
            <a:xfrm flipH="1" rot="10800000">
              <a:off x="2052004" y="2319443"/>
              <a:ext cx="2633100" cy="9360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0" name="Google Shape;1420;p86"/>
            <p:cNvSpPr/>
            <p:nvPr/>
          </p:nvSpPr>
          <p:spPr>
            <a:xfrm>
              <a:off x="4643992" y="2264326"/>
              <a:ext cx="97800" cy="97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1" name="Google Shape;1421;p86"/>
          <p:cNvSpPr txBox="1"/>
          <p:nvPr>
            <p:ph idx="1" type="body"/>
          </p:nvPr>
        </p:nvSpPr>
        <p:spPr>
          <a:xfrm>
            <a:off x="5128800" y="4238650"/>
            <a:ext cx="3286800" cy="6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</a:t>
            </a:r>
            <a:r>
              <a:rPr lang="en-GB" sz="1600"/>
              <a:t>ink to an interactive version:</a:t>
            </a:r>
            <a:br>
              <a:rPr lang="en-GB" sz="1600"/>
            </a:br>
            <a:r>
              <a:rPr lang="en-GB" sz="1600" u="sng">
                <a:solidFill>
                  <a:schemeClr val="hlink"/>
                </a:solidFill>
                <a:hlinkClick r:id="rId4"/>
              </a:rPr>
              <a:t>unit circle in first quadrant</a:t>
            </a:r>
            <a:r>
              <a:rPr lang="en-GB" sz="1600"/>
              <a:t>🖇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967" y="1099809"/>
            <a:ext cx="3527430" cy="34120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87"/>
          <p:cNvSpPr txBox="1"/>
          <p:nvPr>
            <p:ph idx="1" type="body"/>
          </p:nvPr>
        </p:nvSpPr>
        <p:spPr>
          <a:xfrm>
            <a:off x="5205000" y="1368900"/>
            <a:ext cx="37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</a:t>
            </a:r>
            <a:r>
              <a:rPr b="1" lang="en-GB"/>
              <a:t>sine</a:t>
            </a:r>
            <a:r>
              <a:rPr lang="en-GB"/>
              <a:t> of 40°?</a:t>
            </a:r>
            <a:endParaRPr/>
          </a:p>
        </p:txBody>
      </p:sp>
      <p:sp>
        <p:nvSpPr>
          <p:cNvPr id="1428" name="Google Shape;142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429" name="Google Shape;1429;p87"/>
          <p:cNvSpPr txBox="1"/>
          <p:nvPr>
            <p:ph idx="1" type="body"/>
          </p:nvPr>
        </p:nvSpPr>
        <p:spPr>
          <a:xfrm>
            <a:off x="4391665" y="4336286"/>
            <a:ext cx="7110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 </a:t>
            </a:r>
            <a:endParaRPr sz="2000"/>
          </a:p>
        </p:txBody>
      </p:sp>
      <p:cxnSp>
        <p:nvCxnSpPr>
          <p:cNvPr id="1430" name="Google Shape;1430;p87"/>
          <p:cNvCxnSpPr/>
          <p:nvPr/>
        </p:nvCxnSpPr>
        <p:spPr>
          <a:xfrm rot="10800000">
            <a:off x="1075016" y="886293"/>
            <a:ext cx="0" cy="349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1" name="Google Shape;1431;p87"/>
          <p:cNvSpPr/>
          <p:nvPr/>
        </p:nvSpPr>
        <p:spPr>
          <a:xfrm>
            <a:off x="496849" y="3780000"/>
            <a:ext cx="1137600" cy="1137600"/>
          </a:xfrm>
          <a:prstGeom prst="arc">
            <a:avLst>
              <a:gd fmla="val 19427462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7"/>
          <p:cNvSpPr txBox="1"/>
          <p:nvPr/>
        </p:nvSpPr>
        <p:spPr>
          <a:xfrm>
            <a:off x="1561425" y="3907402"/>
            <a:ext cx="6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7"/>
          <p:cNvSpPr txBox="1"/>
          <p:nvPr/>
        </p:nvSpPr>
        <p:spPr>
          <a:xfrm>
            <a:off x="321475" y="2166236"/>
            <a:ext cx="91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4" name="Google Shape;1434;p87"/>
          <p:cNvCxnSpPr/>
          <p:nvPr/>
        </p:nvCxnSpPr>
        <p:spPr>
          <a:xfrm rot="10800000">
            <a:off x="776513" y="2385580"/>
            <a:ext cx="25911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87"/>
          <p:cNvCxnSpPr/>
          <p:nvPr/>
        </p:nvCxnSpPr>
        <p:spPr>
          <a:xfrm>
            <a:off x="1069202" y="4361960"/>
            <a:ext cx="3442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6" name="Google Shape;1436;p87"/>
          <p:cNvSpPr txBox="1"/>
          <p:nvPr/>
        </p:nvSpPr>
        <p:spPr>
          <a:xfrm>
            <a:off x="3118815" y="4469677"/>
            <a:ext cx="91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0.77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7" name="Google Shape;1437;p87"/>
          <p:cNvCxnSpPr/>
          <p:nvPr/>
        </p:nvCxnSpPr>
        <p:spPr>
          <a:xfrm rot="10800000">
            <a:off x="3407075" y="2397700"/>
            <a:ext cx="0" cy="2183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438" name="Google Shape;1438;p87"/>
          <p:cNvGrpSpPr/>
          <p:nvPr/>
        </p:nvGrpSpPr>
        <p:grpSpPr>
          <a:xfrm>
            <a:off x="1075025" y="2335285"/>
            <a:ext cx="2386462" cy="2027790"/>
            <a:chOff x="2555386" y="2264326"/>
            <a:chExt cx="2186406" cy="1857801"/>
          </a:xfrm>
        </p:grpSpPr>
        <p:cxnSp>
          <p:nvCxnSpPr>
            <p:cNvPr id="1439" name="Google Shape;1439;p87"/>
            <p:cNvCxnSpPr/>
            <p:nvPr/>
          </p:nvCxnSpPr>
          <p:spPr>
            <a:xfrm flipH="1" rot="10800000">
              <a:off x="2555386" y="2319427"/>
              <a:ext cx="2129700" cy="18027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0" name="Google Shape;1440;p87"/>
            <p:cNvSpPr/>
            <p:nvPr/>
          </p:nvSpPr>
          <p:spPr>
            <a:xfrm>
              <a:off x="4643992" y="2264326"/>
              <a:ext cx="97800" cy="97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41" name="Google Shape;1441;p87"/>
          <p:cNvSpPr txBox="1"/>
          <p:nvPr>
            <p:ph idx="1" type="body"/>
          </p:nvPr>
        </p:nvSpPr>
        <p:spPr>
          <a:xfrm>
            <a:off x="5281200" y="2235675"/>
            <a:ext cx="2239500" cy="3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40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°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400"/>
              <a:t> 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= 0.64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2" name="Google Shape;1442;p87"/>
          <p:cNvSpPr txBox="1"/>
          <p:nvPr>
            <p:ph idx="1" type="body"/>
          </p:nvPr>
        </p:nvSpPr>
        <p:spPr>
          <a:xfrm>
            <a:off x="436283" y="742204"/>
            <a:ext cx="6513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967" y="1099809"/>
            <a:ext cx="3527430" cy="341206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88"/>
          <p:cNvSpPr txBox="1"/>
          <p:nvPr>
            <p:ph idx="1" type="body"/>
          </p:nvPr>
        </p:nvSpPr>
        <p:spPr>
          <a:xfrm>
            <a:off x="5205000" y="1368900"/>
            <a:ext cx="37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</a:t>
            </a:r>
            <a:r>
              <a:rPr b="1" lang="en-GB"/>
              <a:t>cosine</a:t>
            </a:r>
            <a:r>
              <a:rPr lang="en-GB"/>
              <a:t> of 65°?</a:t>
            </a:r>
            <a:endParaRPr/>
          </a:p>
        </p:txBody>
      </p:sp>
      <p:sp>
        <p:nvSpPr>
          <p:cNvPr id="1449" name="Google Shape;144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450" name="Google Shape;1450;p88"/>
          <p:cNvSpPr txBox="1"/>
          <p:nvPr>
            <p:ph idx="1" type="body"/>
          </p:nvPr>
        </p:nvSpPr>
        <p:spPr>
          <a:xfrm>
            <a:off x="4391665" y="4336286"/>
            <a:ext cx="7110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 </a:t>
            </a:r>
            <a:endParaRPr sz="2000"/>
          </a:p>
        </p:txBody>
      </p:sp>
      <p:cxnSp>
        <p:nvCxnSpPr>
          <p:cNvPr id="1451" name="Google Shape;1451;p88"/>
          <p:cNvCxnSpPr/>
          <p:nvPr/>
        </p:nvCxnSpPr>
        <p:spPr>
          <a:xfrm rot="10800000">
            <a:off x="1075016" y="886293"/>
            <a:ext cx="0" cy="3490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2" name="Google Shape;1452;p88"/>
          <p:cNvSpPr/>
          <p:nvPr/>
        </p:nvSpPr>
        <p:spPr>
          <a:xfrm>
            <a:off x="496849" y="3780000"/>
            <a:ext cx="1137600" cy="1137600"/>
          </a:xfrm>
          <a:prstGeom prst="arc">
            <a:avLst>
              <a:gd fmla="val 17885209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8"/>
          <p:cNvSpPr txBox="1"/>
          <p:nvPr/>
        </p:nvSpPr>
        <p:spPr>
          <a:xfrm>
            <a:off x="1485225" y="3755002"/>
            <a:ext cx="6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4" name="Google Shape;1454;p88"/>
          <p:cNvCxnSpPr/>
          <p:nvPr/>
        </p:nvCxnSpPr>
        <p:spPr>
          <a:xfrm rot="10800000">
            <a:off x="808335" y="1574236"/>
            <a:ext cx="16074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88"/>
          <p:cNvCxnSpPr/>
          <p:nvPr/>
        </p:nvCxnSpPr>
        <p:spPr>
          <a:xfrm>
            <a:off x="1069202" y="4361960"/>
            <a:ext cx="3442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6" name="Google Shape;1456;p88"/>
          <p:cNvSpPr txBox="1"/>
          <p:nvPr/>
        </p:nvSpPr>
        <p:spPr>
          <a:xfrm>
            <a:off x="2085689" y="4484109"/>
            <a:ext cx="91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0.42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7" name="Google Shape;1457;p88"/>
          <p:cNvCxnSpPr/>
          <p:nvPr/>
        </p:nvCxnSpPr>
        <p:spPr>
          <a:xfrm rot="10800000">
            <a:off x="2369150" y="1525125"/>
            <a:ext cx="0" cy="3095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grpSp>
        <p:nvGrpSpPr>
          <p:cNvPr id="1458" name="Google Shape;1458;p88"/>
          <p:cNvGrpSpPr/>
          <p:nvPr/>
        </p:nvGrpSpPr>
        <p:grpSpPr>
          <a:xfrm>
            <a:off x="1095375" y="1525660"/>
            <a:ext cx="1325159" cy="2837415"/>
            <a:chOff x="3527721" y="2264326"/>
            <a:chExt cx="1214071" cy="2599555"/>
          </a:xfrm>
        </p:grpSpPr>
        <p:cxnSp>
          <p:nvCxnSpPr>
            <p:cNvPr id="1459" name="Google Shape;1459;p88"/>
            <p:cNvCxnSpPr/>
            <p:nvPr/>
          </p:nvCxnSpPr>
          <p:spPr>
            <a:xfrm flipH="1" rot="10800000">
              <a:off x="3527721" y="2319281"/>
              <a:ext cx="1157400" cy="254460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0" name="Google Shape;1460;p88"/>
            <p:cNvSpPr/>
            <p:nvPr/>
          </p:nvSpPr>
          <p:spPr>
            <a:xfrm>
              <a:off x="4643992" y="2264326"/>
              <a:ext cx="97800" cy="978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1" name="Google Shape;1461;p88"/>
          <p:cNvSpPr txBox="1"/>
          <p:nvPr>
            <p:ph idx="1" type="body"/>
          </p:nvPr>
        </p:nvSpPr>
        <p:spPr>
          <a:xfrm>
            <a:off x="5281200" y="2235675"/>
            <a:ext cx="2239500" cy="3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65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°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400"/>
              <a:t> 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= 0.42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2" name="Google Shape;1462;p88"/>
          <p:cNvSpPr txBox="1"/>
          <p:nvPr>
            <p:ph idx="1" type="body"/>
          </p:nvPr>
        </p:nvSpPr>
        <p:spPr>
          <a:xfrm>
            <a:off x="436283" y="742204"/>
            <a:ext cx="651300" cy="37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/>
          </a:p>
        </p:txBody>
      </p:sp>
      <p:sp>
        <p:nvSpPr>
          <p:cNvPr id="1463" name="Google Shape;1463;p88"/>
          <p:cNvSpPr txBox="1"/>
          <p:nvPr/>
        </p:nvSpPr>
        <p:spPr>
          <a:xfrm>
            <a:off x="321475" y="1356899"/>
            <a:ext cx="91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0.91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pic>
        <p:nvPicPr>
          <p:cNvPr id="1469" name="Google Shape;146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20" y="1761131"/>
            <a:ext cx="2827978" cy="2735482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89"/>
          <p:cNvSpPr txBox="1"/>
          <p:nvPr>
            <p:ph idx="4294967295" type="body"/>
          </p:nvPr>
        </p:nvSpPr>
        <p:spPr>
          <a:xfrm>
            <a:off x="2780473" y="4416938"/>
            <a:ext cx="5700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/>
              <a:t>  </a:t>
            </a:r>
            <a:endParaRPr sz="1800"/>
          </a:p>
        </p:txBody>
      </p:sp>
      <p:cxnSp>
        <p:nvCxnSpPr>
          <p:cNvPr id="1471" name="Google Shape;1471;p89"/>
          <p:cNvCxnSpPr/>
          <p:nvPr/>
        </p:nvCxnSpPr>
        <p:spPr>
          <a:xfrm rot="10800000">
            <a:off x="548463" y="1589923"/>
            <a:ext cx="0" cy="279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2" name="Google Shape;1472;p89"/>
          <p:cNvCxnSpPr/>
          <p:nvPr/>
        </p:nvCxnSpPr>
        <p:spPr>
          <a:xfrm>
            <a:off x="543802" y="4376431"/>
            <a:ext cx="2759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3" name="Google Shape;1473;p89"/>
          <p:cNvSpPr txBox="1"/>
          <p:nvPr>
            <p:ph idx="4294967295" type="body"/>
          </p:nvPr>
        </p:nvSpPr>
        <p:spPr>
          <a:xfrm>
            <a:off x="341043" y="1313779"/>
            <a:ext cx="5994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/>
          </a:p>
        </p:txBody>
      </p:sp>
      <p:graphicFrame>
        <p:nvGraphicFramePr>
          <p:cNvPr id="1474" name="Google Shape;1474;p89"/>
          <p:cNvGraphicFramePr/>
          <p:nvPr/>
        </p:nvGraphicFramePr>
        <p:xfrm>
          <a:off x="3713129" y="1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{FDFCCF7C-625F-4281-A7AD-6F072ADDF248}</a:tableStyleId>
              </a:tblPr>
              <a:tblGrid>
                <a:gridCol w="785400"/>
                <a:gridCol w="416525"/>
                <a:gridCol w="433300"/>
                <a:gridCol w="433300"/>
                <a:gridCol w="433300"/>
                <a:gridCol w="433300"/>
                <a:gridCol w="433300"/>
                <a:gridCol w="433300"/>
                <a:gridCol w="433300"/>
                <a:gridCol w="433300"/>
                <a:gridCol w="433300"/>
              </a:tblGrid>
              <a:tr h="1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5" name="Google Shape;1475;p89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diagram shows the sector of the unit circle that lies in the first quadrant.</a:t>
            </a:r>
            <a:endParaRPr sz="2000"/>
          </a:p>
        </p:txBody>
      </p:sp>
      <p:sp>
        <p:nvSpPr>
          <p:cNvPr id="1476" name="Google Shape;1476;p89"/>
          <p:cNvSpPr txBox="1"/>
          <p:nvPr>
            <p:ph idx="1" type="body"/>
          </p:nvPr>
        </p:nvSpPr>
        <p:spPr>
          <a:xfrm>
            <a:off x="3675450" y="1241850"/>
            <a:ext cx="4265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r>
              <a:rPr lang="en-GB" sz="1600"/>
              <a:t>) Use the diagram to complete the table.</a:t>
            </a:r>
            <a:endParaRPr sz="2000"/>
          </a:p>
        </p:txBody>
      </p:sp>
      <p:sp>
        <p:nvSpPr>
          <p:cNvPr id="1477" name="Google Shape;1477;p89"/>
          <p:cNvSpPr txBox="1"/>
          <p:nvPr>
            <p:ph idx="1" type="body"/>
          </p:nvPr>
        </p:nvSpPr>
        <p:spPr>
          <a:xfrm>
            <a:off x="3661843" y="2689650"/>
            <a:ext cx="5144400" cy="6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What happens to the value of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as the angle </a:t>
            </a:r>
            <a:br>
              <a:rPr lang="en-GB" sz="1600"/>
            </a:br>
            <a:r>
              <a:rPr lang="en-GB" sz="1600"/>
              <a:t>     increases in this quadrant?</a:t>
            </a:r>
            <a:endParaRPr sz="2000"/>
          </a:p>
        </p:txBody>
      </p:sp>
      <p:sp>
        <p:nvSpPr>
          <p:cNvPr id="1478" name="Google Shape;1478;p89"/>
          <p:cNvSpPr txBox="1"/>
          <p:nvPr>
            <p:ph idx="1" type="body"/>
          </p:nvPr>
        </p:nvSpPr>
        <p:spPr>
          <a:xfrm>
            <a:off x="3661843" y="3465250"/>
            <a:ext cx="51966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) Use your table to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</a:t>
            </a:r>
            <a:r>
              <a:rPr lang="en-GB" sz="1600"/>
              <a:t>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0.5.</a:t>
            </a:r>
            <a:endParaRPr sz="2000"/>
          </a:p>
        </p:txBody>
      </p:sp>
      <p:sp>
        <p:nvSpPr>
          <p:cNvPr id="1479" name="Google Shape;1479;p89"/>
          <p:cNvSpPr txBox="1"/>
          <p:nvPr>
            <p:ph idx="1" type="body"/>
          </p:nvPr>
        </p:nvSpPr>
        <p:spPr>
          <a:xfrm>
            <a:off x="3661850" y="4137450"/>
            <a:ext cx="4407300" cy="6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Use the diagram to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0.8.</a:t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pic>
        <p:nvPicPr>
          <p:cNvPr id="1485" name="Google Shape;148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20" y="1761131"/>
            <a:ext cx="2827978" cy="2735482"/>
          </a:xfrm>
          <a:prstGeom prst="rect">
            <a:avLst/>
          </a:prstGeom>
          <a:noFill/>
          <a:ln>
            <a:noFill/>
          </a:ln>
        </p:spPr>
      </p:pic>
      <p:sp>
        <p:nvSpPr>
          <p:cNvPr id="1486" name="Google Shape;1486;p90"/>
          <p:cNvSpPr txBox="1"/>
          <p:nvPr>
            <p:ph idx="4294967295" type="body"/>
          </p:nvPr>
        </p:nvSpPr>
        <p:spPr>
          <a:xfrm>
            <a:off x="2780473" y="4416938"/>
            <a:ext cx="5700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/>
              <a:t>  </a:t>
            </a:r>
            <a:endParaRPr sz="1800"/>
          </a:p>
        </p:txBody>
      </p:sp>
      <p:cxnSp>
        <p:nvCxnSpPr>
          <p:cNvPr id="1487" name="Google Shape;1487;p90"/>
          <p:cNvCxnSpPr/>
          <p:nvPr/>
        </p:nvCxnSpPr>
        <p:spPr>
          <a:xfrm rot="10800000">
            <a:off x="548463" y="1589923"/>
            <a:ext cx="0" cy="2798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8" name="Google Shape;1488;p90"/>
          <p:cNvCxnSpPr/>
          <p:nvPr/>
        </p:nvCxnSpPr>
        <p:spPr>
          <a:xfrm>
            <a:off x="543802" y="4376431"/>
            <a:ext cx="2759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9" name="Google Shape;1489;p90"/>
          <p:cNvSpPr txBox="1"/>
          <p:nvPr>
            <p:ph idx="4294967295" type="body"/>
          </p:nvPr>
        </p:nvSpPr>
        <p:spPr>
          <a:xfrm>
            <a:off x="341043" y="1313779"/>
            <a:ext cx="5994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/>
          </a:p>
        </p:txBody>
      </p:sp>
      <p:graphicFrame>
        <p:nvGraphicFramePr>
          <p:cNvPr id="1490" name="Google Shape;1490;p90"/>
          <p:cNvGraphicFramePr/>
          <p:nvPr/>
        </p:nvGraphicFramePr>
        <p:xfrm>
          <a:off x="3713129" y="15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{FDFCCF7C-625F-4281-A7AD-6F072ADDF248}</a:tableStyleId>
              </a:tblPr>
              <a:tblGrid>
                <a:gridCol w="785400"/>
                <a:gridCol w="416525"/>
                <a:gridCol w="433300"/>
                <a:gridCol w="433300"/>
                <a:gridCol w="433300"/>
                <a:gridCol w="433300"/>
                <a:gridCol w="433300"/>
                <a:gridCol w="433300"/>
                <a:gridCol w="433300"/>
                <a:gridCol w="433300"/>
                <a:gridCol w="433300"/>
              </a:tblGrid>
              <a:tr h="1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1" name="Google Shape;1491;p90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The diagram shows the sector of the unit circle that lies in the first quadrant.</a:t>
            </a:r>
            <a:endParaRPr sz="2000"/>
          </a:p>
        </p:txBody>
      </p:sp>
      <p:sp>
        <p:nvSpPr>
          <p:cNvPr id="1492" name="Google Shape;1492;p90"/>
          <p:cNvSpPr txBox="1"/>
          <p:nvPr>
            <p:ph idx="1" type="body"/>
          </p:nvPr>
        </p:nvSpPr>
        <p:spPr>
          <a:xfrm>
            <a:off x="3675450" y="1241850"/>
            <a:ext cx="4265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Use the diagram to complete the table.</a:t>
            </a:r>
            <a:endParaRPr sz="2000"/>
          </a:p>
        </p:txBody>
      </p:sp>
      <p:sp>
        <p:nvSpPr>
          <p:cNvPr id="1493" name="Google Shape;1493;p90"/>
          <p:cNvSpPr txBox="1"/>
          <p:nvPr>
            <p:ph idx="1" type="body"/>
          </p:nvPr>
        </p:nvSpPr>
        <p:spPr>
          <a:xfrm>
            <a:off x="3675450" y="2689650"/>
            <a:ext cx="5144400" cy="60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What happens to the value of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as the angle </a:t>
            </a:r>
            <a:br>
              <a:rPr lang="en-GB" sz="1600"/>
            </a:br>
            <a:r>
              <a:rPr lang="en-GB" sz="1600"/>
              <a:t>     increases in this quadrant?</a:t>
            </a:r>
            <a:endParaRPr sz="2000"/>
          </a:p>
        </p:txBody>
      </p:sp>
      <p:sp>
        <p:nvSpPr>
          <p:cNvPr id="1494" name="Google Shape;1494;p90"/>
          <p:cNvSpPr txBox="1"/>
          <p:nvPr>
            <p:ph idx="1" type="body"/>
          </p:nvPr>
        </p:nvSpPr>
        <p:spPr>
          <a:xfrm>
            <a:off x="3675450" y="3389054"/>
            <a:ext cx="46251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Find the </a:t>
            </a:r>
            <a:r>
              <a:rPr lang="en-GB" sz="1600"/>
              <a:t>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0.5.</a:t>
            </a:r>
            <a:endParaRPr sz="2000"/>
          </a:p>
        </p:txBody>
      </p:sp>
      <p:sp>
        <p:nvSpPr>
          <p:cNvPr id="1495" name="Google Shape;1495;p90"/>
          <p:cNvSpPr txBox="1"/>
          <p:nvPr>
            <p:ph idx="1" type="body"/>
          </p:nvPr>
        </p:nvSpPr>
        <p:spPr>
          <a:xfrm>
            <a:off x="3675450" y="4442250"/>
            <a:ext cx="38394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r>
              <a:rPr lang="en-GB" sz="1600"/>
              <a:t>)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.</a:t>
            </a:r>
            <a:endParaRPr sz="2000"/>
          </a:p>
        </p:txBody>
      </p:sp>
      <p:sp>
        <p:nvSpPr>
          <p:cNvPr id="1496" name="Google Shape;1496;p90"/>
          <p:cNvSpPr txBox="1"/>
          <p:nvPr>
            <p:ph idx="1" type="body"/>
          </p:nvPr>
        </p:nvSpPr>
        <p:spPr>
          <a:xfrm>
            <a:off x="3675450" y="3922454"/>
            <a:ext cx="46251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Find the value of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θ </a:t>
            </a:r>
            <a:r>
              <a:rPr lang="en-GB" sz="1600"/>
              <a:t>where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600"/>
              <a:t>40°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.</a:t>
            </a:r>
            <a:endParaRPr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graphicFrame>
        <p:nvGraphicFramePr>
          <p:cNvPr id="1502" name="Google Shape;1502;p91"/>
          <p:cNvGraphicFramePr/>
          <p:nvPr/>
        </p:nvGraphicFramePr>
        <p:xfrm>
          <a:off x="360329" y="149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{FDFCCF7C-625F-4281-A7AD-6F072ADDF248}</a:tableStyleId>
              </a:tblPr>
              <a:tblGrid>
                <a:gridCol w="1055400"/>
                <a:gridCol w="559725"/>
                <a:gridCol w="582250"/>
                <a:gridCol w="582250"/>
                <a:gridCol w="582250"/>
                <a:gridCol w="582250"/>
                <a:gridCol w="582250"/>
                <a:gridCol w="582250"/>
                <a:gridCol w="582250"/>
                <a:gridCol w="582250"/>
                <a:gridCol w="582250"/>
              </a:tblGrid>
              <a:tr h="1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3" name="Google Shape;1503;p91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diagram shows the sector of the unit circle that lies in the first quadrant.</a:t>
            </a:r>
            <a:endParaRPr sz="2000"/>
          </a:p>
        </p:txBody>
      </p:sp>
      <p:sp>
        <p:nvSpPr>
          <p:cNvPr id="1504" name="Google Shape;1504;p91"/>
          <p:cNvSpPr txBox="1"/>
          <p:nvPr>
            <p:ph idx="1" type="body"/>
          </p:nvPr>
        </p:nvSpPr>
        <p:spPr>
          <a:xfrm>
            <a:off x="322650" y="1165650"/>
            <a:ext cx="4265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Use the diagram to complete the table.</a:t>
            </a:r>
            <a:endParaRPr sz="2000"/>
          </a:p>
        </p:txBody>
      </p:sp>
      <p:sp>
        <p:nvSpPr>
          <p:cNvPr id="1505" name="Google Shape;1505;p91"/>
          <p:cNvSpPr txBox="1"/>
          <p:nvPr>
            <p:ph idx="1" type="body"/>
          </p:nvPr>
        </p:nvSpPr>
        <p:spPr>
          <a:xfrm>
            <a:off x="322650" y="3299250"/>
            <a:ext cx="83451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What happens to the value of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as the angle increases in this quadrant?</a:t>
            </a:r>
            <a:endParaRPr sz="2000"/>
          </a:p>
        </p:txBody>
      </p:sp>
      <p:sp>
        <p:nvSpPr>
          <p:cNvPr id="1506" name="Google Shape;1506;p91"/>
          <p:cNvSpPr txBox="1"/>
          <p:nvPr>
            <p:ph idx="1" type="body"/>
          </p:nvPr>
        </p:nvSpPr>
        <p:spPr>
          <a:xfrm>
            <a:off x="322650" y="3998650"/>
            <a:ext cx="72225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Use your table to find the </a:t>
            </a:r>
            <a:r>
              <a:rPr lang="en-GB" sz="1600"/>
              <a:t>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0.5.</a:t>
            </a:r>
            <a:endParaRPr sz="2000"/>
          </a:p>
        </p:txBody>
      </p:sp>
      <p:sp>
        <p:nvSpPr>
          <p:cNvPr id="1507" name="Google Shape;1507;p91"/>
          <p:cNvSpPr txBox="1"/>
          <p:nvPr>
            <p:ph idx="1" type="body"/>
          </p:nvPr>
        </p:nvSpPr>
        <p:spPr>
          <a:xfrm>
            <a:off x="322650" y="4518450"/>
            <a:ext cx="6275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Use the diagram to find the angle where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0.8.</a:t>
            </a:r>
            <a:endParaRPr sz="2000"/>
          </a:p>
        </p:txBody>
      </p:sp>
      <p:sp>
        <p:nvSpPr>
          <p:cNvPr id="1508" name="Google Shape;1508;p91"/>
          <p:cNvSpPr txBox="1"/>
          <p:nvPr>
            <p:ph idx="1" type="body"/>
          </p:nvPr>
        </p:nvSpPr>
        <p:spPr>
          <a:xfrm>
            <a:off x="2054839" y="2052836"/>
            <a:ext cx="3774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0.17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9" name="Google Shape;1509;p91"/>
          <p:cNvSpPr txBox="1"/>
          <p:nvPr>
            <p:ph idx="1" type="body"/>
          </p:nvPr>
        </p:nvSpPr>
        <p:spPr>
          <a:xfrm>
            <a:off x="1513274" y="2052825"/>
            <a:ext cx="1590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0" name="Google Shape;1510;p91"/>
          <p:cNvSpPr txBox="1"/>
          <p:nvPr>
            <p:ph idx="1" type="body"/>
          </p:nvPr>
        </p:nvSpPr>
        <p:spPr>
          <a:xfrm>
            <a:off x="2637225" y="2052825"/>
            <a:ext cx="4899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0.34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1" name="Google Shape;1511;p91"/>
          <p:cNvSpPr txBox="1"/>
          <p:nvPr>
            <p:ph idx="1" type="body"/>
          </p:nvPr>
        </p:nvSpPr>
        <p:spPr>
          <a:xfrm>
            <a:off x="3212807" y="2052836"/>
            <a:ext cx="3774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2" name="Google Shape;1512;p91"/>
          <p:cNvSpPr txBox="1"/>
          <p:nvPr>
            <p:ph idx="1" type="body"/>
          </p:nvPr>
        </p:nvSpPr>
        <p:spPr>
          <a:xfrm>
            <a:off x="3808800" y="2052825"/>
            <a:ext cx="4728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0.64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3" name="Google Shape;1513;p91"/>
          <p:cNvSpPr txBox="1"/>
          <p:nvPr>
            <p:ph idx="1" type="body"/>
          </p:nvPr>
        </p:nvSpPr>
        <p:spPr>
          <a:xfrm>
            <a:off x="4396624" y="2052825"/>
            <a:ext cx="4728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4" name="Google Shape;1514;p91"/>
          <p:cNvSpPr txBox="1"/>
          <p:nvPr>
            <p:ph idx="1" type="body"/>
          </p:nvPr>
        </p:nvSpPr>
        <p:spPr>
          <a:xfrm>
            <a:off x="4979027" y="2052825"/>
            <a:ext cx="4728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0.87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5" name="Google Shape;1515;p91"/>
          <p:cNvSpPr txBox="1"/>
          <p:nvPr>
            <p:ph idx="1" type="body"/>
          </p:nvPr>
        </p:nvSpPr>
        <p:spPr>
          <a:xfrm>
            <a:off x="5561400" y="2052825"/>
            <a:ext cx="4728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0.94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6" name="Google Shape;1516;p91"/>
          <p:cNvSpPr txBox="1"/>
          <p:nvPr>
            <p:ph idx="1" type="body"/>
          </p:nvPr>
        </p:nvSpPr>
        <p:spPr>
          <a:xfrm>
            <a:off x="6143774" y="2052825"/>
            <a:ext cx="4542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0.98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7" name="Google Shape;1517;p91"/>
          <p:cNvSpPr txBox="1"/>
          <p:nvPr>
            <p:ph idx="1" type="body"/>
          </p:nvPr>
        </p:nvSpPr>
        <p:spPr>
          <a:xfrm>
            <a:off x="6732975" y="2052836"/>
            <a:ext cx="3774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8" name="Google Shape;1518;p91"/>
          <p:cNvSpPr txBox="1"/>
          <p:nvPr>
            <p:ph idx="1" type="body"/>
          </p:nvPr>
        </p:nvSpPr>
        <p:spPr>
          <a:xfrm>
            <a:off x="607125" y="3605400"/>
            <a:ext cx="56115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It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increases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 Its lowest value is 0 and greatest value is 1.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9" name="Google Shape;1519;p91"/>
          <p:cNvSpPr txBox="1"/>
          <p:nvPr>
            <p:ph idx="1" type="body"/>
          </p:nvPr>
        </p:nvSpPr>
        <p:spPr>
          <a:xfrm>
            <a:off x="6017325" y="4533407"/>
            <a:ext cx="3774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53°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0" name="Google Shape;1520;p91"/>
          <p:cNvSpPr txBox="1"/>
          <p:nvPr>
            <p:ph idx="1" type="body"/>
          </p:nvPr>
        </p:nvSpPr>
        <p:spPr>
          <a:xfrm>
            <a:off x="325300" y="2516825"/>
            <a:ext cx="84948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vary slightly depending on how accurately they are read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from 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he graph.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1" name="Google Shape;1521;p91"/>
          <p:cNvSpPr txBox="1"/>
          <p:nvPr>
            <p:ph idx="1" type="body"/>
          </p:nvPr>
        </p:nvSpPr>
        <p:spPr>
          <a:xfrm>
            <a:off x="5712525" y="3993204"/>
            <a:ext cx="3774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2" name="Google Shape;1522;p91"/>
          <p:cNvSpPr txBox="1"/>
          <p:nvPr>
            <p:ph idx="4294967295" type="body"/>
          </p:nvPr>
        </p:nvSpPr>
        <p:spPr>
          <a:xfrm>
            <a:off x="332100" y="2867050"/>
            <a:ext cx="6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Use the link for an interactive version:</a:t>
            </a:r>
            <a:r>
              <a:rPr lang="en-GB" sz="1600"/>
              <a:t> </a:t>
            </a:r>
            <a:r>
              <a:rPr lang="en-GB" sz="1600" u="sng">
                <a:solidFill>
                  <a:schemeClr val="hlink"/>
                </a:solidFill>
                <a:hlinkClick r:id="rId3"/>
              </a:rPr>
              <a:t>unit circle in first quadrant</a:t>
            </a:r>
            <a:r>
              <a:rPr lang="en-GB" sz="1600"/>
              <a:t>🖇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92"/>
          <p:cNvSpPr txBox="1"/>
          <p:nvPr>
            <p:ph idx="1" type="body"/>
          </p:nvPr>
        </p:nvSpPr>
        <p:spPr>
          <a:xfrm>
            <a:off x="322650" y="3744200"/>
            <a:ext cx="46251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0.5.</a:t>
            </a:r>
            <a:endParaRPr sz="2000"/>
          </a:p>
        </p:txBody>
      </p:sp>
      <p:sp>
        <p:nvSpPr>
          <p:cNvPr id="1528" name="Google Shape;1528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graphicFrame>
        <p:nvGraphicFramePr>
          <p:cNvPr id="1529" name="Google Shape;1529;p92"/>
          <p:cNvGraphicFramePr/>
          <p:nvPr/>
        </p:nvGraphicFramePr>
        <p:xfrm>
          <a:off x="360329" y="14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{FDFCCF7C-625F-4281-A7AD-6F072ADDF248}</a:tableStyleId>
              </a:tblPr>
              <a:tblGrid>
                <a:gridCol w="1055400"/>
                <a:gridCol w="559725"/>
                <a:gridCol w="582250"/>
                <a:gridCol w="582250"/>
                <a:gridCol w="582250"/>
                <a:gridCol w="582250"/>
                <a:gridCol w="582250"/>
                <a:gridCol w="582250"/>
                <a:gridCol w="582250"/>
                <a:gridCol w="582250"/>
                <a:gridCol w="582250"/>
              </a:tblGrid>
              <a:tr h="1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0" name="Google Shape;1530;p92"/>
          <p:cNvSpPr txBox="1"/>
          <p:nvPr>
            <p:ph idx="1" type="body"/>
          </p:nvPr>
        </p:nvSpPr>
        <p:spPr>
          <a:xfrm>
            <a:off x="324000" y="759300"/>
            <a:ext cx="8237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The diagram shows the sector of the unit circle that lies in the first quadrant.</a:t>
            </a:r>
            <a:endParaRPr sz="2000"/>
          </a:p>
        </p:txBody>
      </p:sp>
      <p:sp>
        <p:nvSpPr>
          <p:cNvPr id="1531" name="Google Shape;1531;p92"/>
          <p:cNvSpPr txBox="1"/>
          <p:nvPr>
            <p:ph idx="1" type="body"/>
          </p:nvPr>
        </p:nvSpPr>
        <p:spPr>
          <a:xfrm>
            <a:off x="322650" y="1089450"/>
            <a:ext cx="4265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Use the diagram to complete the table.</a:t>
            </a:r>
            <a:endParaRPr sz="2000"/>
          </a:p>
        </p:txBody>
      </p:sp>
      <p:sp>
        <p:nvSpPr>
          <p:cNvPr id="1532" name="Google Shape;1532;p92"/>
          <p:cNvSpPr txBox="1"/>
          <p:nvPr>
            <p:ph idx="1" type="body"/>
          </p:nvPr>
        </p:nvSpPr>
        <p:spPr>
          <a:xfrm>
            <a:off x="2054852" y="1976625"/>
            <a:ext cx="4542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0.98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3" name="Google Shape;1533;p92"/>
          <p:cNvSpPr txBox="1"/>
          <p:nvPr>
            <p:ph idx="1" type="body"/>
          </p:nvPr>
        </p:nvSpPr>
        <p:spPr>
          <a:xfrm>
            <a:off x="1513274" y="1976625"/>
            <a:ext cx="1590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4" name="Google Shape;1534;p92"/>
          <p:cNvSpPr txBox="1"/>
          <p:nvPr>
            <p:ph idx="1" type="body"/>
          </p:nvPr>
        </p:nvSpPr>
        <p:spPr>
          <a:xfrm>
            <a:off x="2637225" y="1976625"/>
            <a:ext cx="4899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0.94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5" name="Google Shape;1535;p92"/>
          <p:cNvSpPr txBox="1"/>
          <p:nvPr>
            <p:ph idx="1" type="body"/>
          </p:nvPr>
        </p:nvSpPr>
        <p:spPr>
          <a:xfrm>
            <a:off x="3212799" y="1976625"/>
            <a:ext cx="4542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0.87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92"/>
          <p:cNvSpPr txBox="1"/>
          <p:nvPr>
            <p:ph idx="1" type="body"/>
          </p:nvPr>
        </p:nvSpPr>
        <p:spPr>
          <a:xfrm>
            <a:off x="3808800" y="1976625"/>
            <a:ext cx="4728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7" name="Google Shape;1537;p92"/>
          <p:cNvSpPr txBox="1"/>
          <p:nvPr>
            <p:ph idx="1" type="body"/>
          </p:nvPr>
        </p:nvSpPr>
        <p:spPr>
          <a:xfrm>
            <a:off x="4396624" y="1976625"/>
            <a:ext cx="4728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0.64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8" name="Google Shape;1538;p92"/>
          <p:cNvSpPr txBox="1"/>
          <p:nvPr>
            <p:ph idx="1" type="body"/>
          </p:nvPr>
        </p:nvSpPr>
        <p:spPr>
          <a:xfrm>
            <a:off x="4979027" y="1976625"/>
            <a:ext cx="4728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9" name="Google Shape;1539;p92"/>
          <p:cNvSpPr txBox="1"/>
          <p:nvPr>
            <p:ph idx="1" type="body"/>
          </p:nvPr>
        </p:nvSpPr>
        <p:spPr>
          <a:xfrm>
            <a:off x="5561400" y="1976625"/>
            <a:ext cx="4728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0.34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0" name="Google Shape;1540;p92"/>
          <p:cNvSpPr txBox="1"/>
          <p:nvPr>
            <p:ph idx="1" type="body"/>
          </p:nvPr>
        </p:nvSpPr>
        <p:spPr>
          <a:xfrm>
            <a:off x="6143774" y="1976625"/>
            <a:ext cx="4542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0.17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1" name="Google Shape;1541;p92"/>
          <p:cNvSpPr txBox="1"/>
          <p:nvPr>
            <p:ph idx="1" type="body"/>
          </p:nvPr>
        </p:nvSpPr>
        <p:spPr>
          <a:xfrm>
            <a:off x="6732975" y="1976636"/>
            <a:ext cx="377400" cy="2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2" name="Google Shape;1542;p92"/>
          <p:cNvSpPr txBox="1"/>
          <p:nvPr>
            <p:ph idx="1" type="body"/>
          </p:nvPr>
        </p:nvSpPr>
        <p:spPr>
          <a:xfrm>
            <a:off x="607125" y="3383614"/>
            <a:ext cx="58293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It decreases.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Its lowest value is 0 and greatest value is 1.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3" name="Google Shape;1543;p92"/>
          <p:cNvSpPr txBox="1"/>
          <p:nvPr>
            <p:ph idx="1" type="body"/>
          </p:nvPr>
        </p:nvSpPr>
        <p:spPr>
          <a:xfrm>
            <a:off x="4957329" y="4167375"/>
            <a:ext cx="3774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4" name="Google Shape;1544;p92"/>
          <p:cNvSpPr txBox="1"/>
          <p:nvPr>
            <p:ph idx="1" type="body"/>
          </p:nvPr>
        </p:nvSpPr>
        <p:spPr>
          <a:xfrm>
            <a:off x="325300" y="2432461"/>
            <a:ext cx="84948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vary slightly depending on how accurately they are read from the graph.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5" name="Google Shape;1545;p92"/>
          <p:cNvSpPr txBox="1"/>
          <p:nvPr>
            <p:ph idx="1" type="body"/>
          </p:nvPr>
        </p:nvSpPr>
        <p:spPr>
          <a:xfrm>
            <a:off x="4112325" y="3738750"/>
            <a:ext cx="3774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0°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6" name="Google Shape;1546;p92"/>
          <p:cNvSpPr txBox="1"/>
          <p:nvPr>
            <p:ph idx="1" type="body"/>
          </p:nvPr>
        </p:nvSpPr>
        <p:spPr>
          <a:xfrm>
            <a:off x="322650" y="3106029"/>
            <a:ext cx="84948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What happens to the value of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as the angle increases in this quadrant?</a:t>
            </a:r>
            <a:endParaRPr sz="2000"/>
          </a:p>
        </p:txBody>
      </p:sp>
      <p:sp>
        <p:nvSpPr>
          <p:cNvPr id="1547" name="Google Shape;1547;p92"/>
          <p:cNvSpPr txBox="1"/>
          <p:nvPr>
            <p:ph idx="1" type="body"/>
          </p:nvPr>
        </p:nvSpPr>
        <p:spPr>
          <a:xfrm>
            <a:off x="322650" y="4547025"/>
            <a:ext cx="38394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.</a:t>
            </a:r>
            <a:endParaRPr sz="2000"/>
          </a:p>
        </p:txBody>
      </p:sp>
      <p:sp>
        <p:nvSpPr>
          <p:cNvPr id="1548" name="Google Shape;1548;p92"/>
          <p:cNvSpPr txBox="1"/>
          <p:nvPr>
            <p:ph idx="1" type="body"/>
          </p:nvPr>
        </p:nvSpPr>
        <p:spPr>
          <a:xfrm>
            <a:off x="322650" y="4151054"/>
            <a:ext cx="4625100" cy="29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Find the value of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θ </a:t>
            </a:r>
            <a:r>
              <a:rPr lang="en-GB" sz="1600"/>
              <a:t>where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=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lang="en-GB" sz="1600"/>
              <a:t>40°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.</a:t>
            </a:r>
            <a:endParaRPr sz="2000"/>
          </a:p>
        </p:txBody>
      </p:sp>
      <p:sp>
        <p:nvSpPr>
          <p:cNvPr id="1549" name="Google Shape;1549;p92"/>
          <p:cNvSpPr txBox="1"/>
          <p:nvPr>
            <p:ph idx="1" type="body"/>
          </p:nvPr>
        </p:nvSpPr>
        <p:spPr>
          <a:xfrm>
            <a:off x="4278332" y="4568786"/>
            <a:ext cx="3774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0" name="Google Shape;1550;p92"/>
          <p:cNvSpPr txBox="1"/>
          <p:nvPr>
            <p:ph idx="4294967295" type="body"/>
          </p:nvPr>
        </p:nvSpPr>
        <p:spPr>
          <a:xfrm>
            <a:off x="332100" y="2750029"/>
            <a:ext cx="6933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Use the link for an interactive version:</a:t>
            </a:r>
            <a:r>
              <a:rPr lang="en-GB" sz="1600"/>
              <a:t> </a:t>
            </a:r>
            <a:r>
              <a:rPr lang="en-GB" sz="1600" u="sng">
                <a:solidFill>
                  <a:schemeClr val="hlink"/>
                </a:solidFill>
                <a:hlinkClick r:id="rId3"/>
              </a:rPr>
              <a:t>unit circle in first quadrant</a:t>
            </a:r>
            <a:r>
              <a:rPr lang="en-GB" sz="1600"/>
              <a:t>🖇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9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sine and cosine</a:t>
            </a:r>
            <a:endParaRPr/>
          </a:p>
        </p:txBody>
      </p:sp>
      <p:sp>
        <p:nvSpPr>
          <p:cNvPr id="1556" name="Google Shape;1556;p9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 </a:t>
            </a:r>
            <a:endParaRPr/>
          </a:p>
        </p:txBody>
      </p:sp>
      <p:sp>
        <p:nvSpPr>
          <p:cNvPr id="1557" name="Google Shape;1557;p9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unit circle</a:t>
            </a:r>
            <a:endParaRPr/>
          </a:p>
        </p:txBody>
      </p:sp>
      <p:pic>
        <p:nvPicPr>
          <p:cNvPr id="1558" name="Google Shape;155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94"/>
          <p:cNvSpPr txBox="1"/>
          <p:nvPr>
            <p:ph idx="1" type="body"/>
          </p:nvPr>
        </p:nvSpPr>
        <p:spPr>
          <a:xfrm>
            <a:off x="324000" y="759300"/>
            <a:ext cx="84960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b="1" lang="en-GB" sz="2000"/>
              <a:t>tangent</a:t>
            </a:r>
            <a:r>
              <a:rPr lang="en-GB" sz="2000"/>
              <a:t> of a circle is a line that intersects the circle </a:t>
            </a:r>
            <a:r>
              <a:rPr lang="en-GB" sz="2000">
                <a:solidFill>
                  <a:schemeClr val="accent5"/>
                </a:solidFill>
              </a:rPr>
              <a:t>exactly once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564" name="Google Shape;1564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sp>
        <p:nvSpPr>
          <p:cNvPr id="1565" name="Google Shape;1565;p94"/>
          <p:cNvSpPr/>
          <p:nvPr/>
        </p:nvSpPr>
        <p:spPr>
          <a:xfrm>
            <a:off x="535443" y="15496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6" name="Google Shape;1566;p94"/>
          <p:cNvCxnSpPr/>
          <p:nvPr/>
        </p:nvCxnSpPr>
        <p:spPr>
          <a:xfrm rot="10800000">
            <a:off x="3599050" y="1551084"/>
            <a:ext cx="0" cy="3064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67" name="Google Shape;1567;p94"/>
          <p:cNvGrpSpPr/>
          <p:nvPr/>
        </p:nvGrpSpPr>
        <p:grpSpPr>
          <a:xfrm>
            <a:off x="5573508" y="1578733"/>
            <a:ext cx="2776335" cy="1199244"/>
            <a:chOff x="5238657" y="1731133"/>
            <a:chExt cx="2776335" cy="1199244"/>
          </a:xfrm>
        </p:grpSpPr>
        <p:sp>
          <p:nvSpPr>
            <p:cNvPr id="1568" name="Google Shape;1568;p94"/>
            <p:cNvSpPr/>
            <p:nvPr/>
          </p:nvSpPr>
          <p:spPr>
            <a:xfrm>
              <a:off x="5238657" y="1938884"/>
              <a:ext cx="989400" cy="9894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69" name="Google Shape;1569;p94"/>
            <p:cNvCxnSpPr/>
            <p:nvPr/>
          </p:nvCxnSpPr>
          <p:spPr>
            <a:xfrm rot="10800000">
              <a:off x="5890565" y="1731133"/>
              <a:ext cx="632400" cy="1035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0" name="Google Shape;1570;p94"/>
            <p:cNvSpPr/>
            <p:nvPr/>
          </p:nvSpPr>
          <p:spPr>
            <a:xfrm>
              <a:off x="7025453" y="1940977"/>
              <a:ext cx="989400" cy="9894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1" name="Google Shape;1571;p94"/>
            <p:cNvCxnSpPr/>
            <p:nvPr/>
          </p:nvCxnSpPr>
          <p:spPr>
            <a:xfrm rot="10800000">
              <a:off x="7025592" y="1935507"/>
              <a:ext cx="989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72" name="Google Shape;1572;p94"/>
          <p:cNvGrpSpPr/>
          <p:nvPr/>
        </p:nvGrpSpPr>
        <p:grpSpPr>
          <a:xfrm>
            <a:off x="5573508" y="3563074"/>
            <a:ext cx="2721164" cy="1197151"/>
            <a:chOff x="5293836" y="3334474"/>
            <a:chExt cx="2721164" cy="1197151"/>
          </a:xfrm>
        </p:grpSpPr>
        <p:sp>
          <p:nvSpPr>
            <p:cNvPr id="1573" name="Google Shape;1573;p94"/>
            <p:cNvSpPr/>
            <p:nvPr/>
          </p:nvSpPr>
          <p:spPr>
            <a:xfrm>
              <a:off x="5293836" y="3542225"/>
              <a:ext cx="989400" cy="9894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4" name="Google Shape;1574;p94"/>
            <p:cNvCxnSpPr/>
            <p:nvPr/>
          </p:nvCxnSpPr>
          <p:spPr>
            <a:xfrm rot="10800000">
              <a:off x="5779034" y="3334474"/>
              <a:ext cx="632400" cy="10356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5" name="Google Shape;1575;p94"/>
            <p:cNvSpPr/>
            <p:nvPr/>
          </p:nvSpPr>
          <p:spPr>
            <a:xfrm>
              <a:off x="7025461" y="3537648"/>
              <a:ext cx="989400" cy="989400"/>
            </a:xfrm>
            <a:prstGeom prst="ellipse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6" name="Google Shape;1576;p94"/>
            <p:cNvCxnSpPr/>
            <p:nvPr/>
          </p:nvCxnSpPr>
          <p:spPr>
            <a:xfrm rot="10800000">
              <a:off x="7025600" y="3421040"/>
              <a:ext cx="9894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7" name="Google Shape;1577;p94"/>
          <p:cNvSpPr txBox="1"/>
          <p:nvPr>
            <p:ph idx="1" type="body"/>
          </p:nvPr>
        </p:nvSpPr>
        <p:spPr>
          <a:xfrm>
            <a:off x="5573508" y="1251850"/>
            <a:ext cx="1289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tangents</a:t>
            </a:r>
            <a:r>
              <a:rPr lang="en-GB" sz="2000"/>
              <a:t>:</a:t>
            </a:r>
            <a:endParaRPr sz="2000"/>
          </a:p>
        </p:txBody>
      </p:sp>
      <p:sp>
        <p:nvSpPr>
          <p:cNvPr id="1578" name="Google Shape;1578;p94"/>
          <p:cNvSpPr txBox="1"/>
          <p:nvPr>
            <p:ph idx="1" type="body"/>
          </p:nvPr>
        </p:nvSpPr>
        <p:spPr>
          <a:xfrm>
            <a:off x="5573508" y="3176925"/>
            <a:ext cx="1862100" cy="30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</a:t>
            </a:r>
            <a:r>
              <a:rPr lang="en-GB" sz="2000"/>
              <a:t>ot</a:t>
            </a:r>
            <a:r>
              <a:rPr b="1" lang="en-GB" sz="2000"/>
              <a:t> </a:t>
            </a:r>
            <a:r>
              <a:rPr b="1" lang="en-GB" sz="2000"/>
              <a:t>tangents</a:t>
            </a:r>
            <a:r>
              <a:rPr lang="en-GB" sz="2000"/>
              <a:t>:</a:t>
            </a:r>
            <a:endParaRPr sz="2000"/>
          </a:p>
        </p:txBody>
      </p:sp>
      <p:sp>
        <p:nvSpPr>
          <p:cNvPr id="1579" name="Google Shape;1579;p94"/>
          <p:cNvSpPr txBox="1"/>
          <p:nvPr>
            <p:ph idx="1" type="body"/>
          </p:nvPr>
        </p:nvSpPr>
        <p:spPr>
          <a:xfrm>
            <a:off x="3973308" y="1404250"/>
            <a:ext cx="12897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tangent</a:t>
            </a:r>
            <a:endParaRPr sz="2000"/>
          </a:p>
        </p:txBody>
      </p:sp>
      <p:cxnSp>
        <p:nvCxnSpPr>
          <p:cNvPr id="1580" name="Google Shape;1580;p94"/>
          <p:cNvCxnSpPr>
            <a:stCxn id="1579" idx="1"/>
          </p:cNvCxnSpPr>
          <p:nvPr/>
        </p:nvCxnSpPr>
        <p:spPr>
          <a:xfrm flipH="1">
            <a:off x="3640308" y="1588300"/>
            <a:ext cx="333000" cy="18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pic>
        <p:nvPicPr>
          <p:cNvPr id="1586" name="Google Shape;158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00" y="15458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87" name="Google Shape;1587;p95"/>
          <p:cNvSpPr/>
          <p:nvPr/>
        </p:nvSpPr>
        <p:spPr>
          <a:xfrm>
            <a:off x="535443" y="15496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88" name="Google Shape;1588;p95"/>
          <p:cNvCxnSpPr/>
          <p:nvPr/>
        </p:nvCxnSpPr>
        <p:spPr>
          <a:xfrm rot="10800000">
            <a:off x="2059219" y="12572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9" name="Google Shape;1589;p95"/>
          <p:cNvSpPr txBox="1"/>
          <p:nvPr/>
        </p:nvSpPr>
        <p:spPr>
          <a:xfrm>
            <a:off x="3522057" y="29615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95"/>
          <p:cNvSpPr txBox="1"/>
          <p:nvPr/>
        </p:nvSpPr>
        <p:spPr>
          <a:xfrm>
            <a:off x="358432" y="29560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1" name="Google Shape;1591;p95"/>
          <p:cNvSpPr txBox="1"/>
          <p:nvPr/>
        </p:nvSpPr>
        <p:spPr>
          <a:xfrm>
            <a:off x="1761012" y="43790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2" name="Google Shape;1592;p95"/>
          <p:cNvSpPr txBox="1"/>
          <p:nvPr/>
        </p:nvSpPr>
        <p:spPr>
          <a:xfrm>
            <a:off x="1842595" y="13422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3" name="Google Shape;1593;p95"/>
          <p:cNvSpPr txBox="1"/>
          <p:nvPr>
            <p:ph idx="1" type="body"/>
          </p:nvPr>
        </p:nvSpPr>
        <p:spPr>
          <a:xfrm>
            <a:off x="1852688" y="30426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4" name="Google Shape;1594;p95"/>
          <p:cNvSpPr txBox="1"/>
          <p:nvPr>
            <p:ph idx="1" type="body"/>
          </p:nvPr>
        </p:nvSpPr>
        <p:spPr>
          <a:xfrm>
            <a:off x="1876654" y="11319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95" name="Google Shape;1595;p95"/>
          <p:cNvSpPr txBox="1"/>
          <p:nvPr>
            <p:ph idx="1" type="body"/>
          </p:nvPr>
        </p:nvSpPr>
        <p:spPr>
          <a:xfrm>
            <a:off x="3857854" y="29799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596" name="Google Shape;1596;p95"/>
          <p:cNvSpPr txBox="1"/>
          <p:nvPr>
            <p:ph idx="1" type="body"/>
          </p:nvPr>
        </p:nvSpPr>
        <p:spPr>
          <a:xfrm>
            <a:off x="4382450" y="2945700"/>
            <a:ext cx="39960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The </a:t>
            </a:r>
            <a:r>
              <a:rPr b="1" lang="en-GB" sz="2000"/>
              <a:t>tangent</a:t>
            </a:r>
            <a:r>
              <a:rPr lang="en-GB" sz="2000"/>
              <a:t> of 45° is 1.</a:t>
            </a:r>
            <a:endParaRPr sz="2000"/>
          </a:p>
        </p:txBody>
      </p:sp>
      <p:cxnSp>
        <p:nvCxnSpPr>
          <p:cNvPr id="1597" name="Google Shape;1597;p95"/>
          <p:cNvCxnSpPr/>
          <p:nvPr/>
        </p:nvCxnSpPr>
        <p:spPr>
          <a:xfrm rot="10800000">
            <a:off x="2057157" y="1557236"/>
            <a:ext cx="1483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98" name="Google Shape;1598;p95"/>
          <p:cNvCxnSpPr/>
          <p:nvPr/>
        </p:nvCxnSpPr>
        <p:spPr>
          <a:xfrm rot="10800000">
            <a:off x="3700325" y="1602025"/>
            <a:ext cx="0" cy="1481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9" name="Google Shape;1599;p95"/>
          <p:cNvSpPr txBox="1"/>
          <p:nvPr/>
        </p:nvSpPr>
        <p:spPr>
          <a:xfrm>
            <a:off x="3650473" y="2008525"/>
            <a:ext cx="29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95"/>
          <p:cNvSpPr/>
          <p:nvPr/>
        </p:nvSpPr>
        <p:spPr>
          <a:xfrm>
            <a:off x="2008793" y="30235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95"/>
          <p:cNvSpPr/>
          <p:nvPr/>
        </p:nvSpPr>
        <p:spPr>
          <a:xfrm>
            <a:off x="2058175" y="1594978"/>
            <a:ext cx="1537329" cy="1483197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sp>
        <p:nvSpPr>
          <p:cNvPr id="1602" name="Google Shape;1602;p95"/>
          <p:cNvSpPr/>
          <p:nvPr/>
        </p:nvSpPr>
        <p:spPr>
          <a:xfrm>
            <a:off x="1717325" y="2737575"/>
            <a:ext cx="682500" cy="682500"/>
          </a:xfrm>
          <a:prstGeom prst="arc">
            <a:avLst>
              <a:gd fmla="val 19091646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3" name="Google Shape;1603;p95"/>
          <p:cNvSpPr txBox="1"/>
          <p:nvPr/>
        </p:nvSpPr>
        <p:spPr>
          <a:xfrm>
            <a:off x="2345552" y="2751132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4" name="Google Shape;1604;p95"/>
          <p:cNvCxnSpPr>
            <a:endCxn id="1605" idx="3"/>
          </p:cNvCxnSpPr>
          <p:nvPr/>
        </p:nvCxnSpPr>
        <p:spPr>
          <a:xfrm flipH="1" rot="10800000">
            <a:off x="537423" y="1594943"/>
            <a:ext cx="3029400" cy="3024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5" name="Google Shape;1605;p95"/>
          <p:cNvSpPr/>
          <p:nvPr/>
        </p:nvSpPr>
        <p:spPr>
          <a:xfrm>
            <a:off x="3551798" y="1507369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6" name="Google Shape;1606;p95"/>
          <p:cNvSpPr/>
          <p:nvPr/>
        </p:nvSpPr>
        <p:spPr>
          <a:xfrm>
            <a:off x="3507250" y="29801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7" name="Google Shape;1607;p95"/>
          <p:cNvCxnSpPr/>
          <p:nvPr/>
        </p:nvCxnSpPr>
        <p:spPr>
          <a:xfrm rot="10800000">
            <a:off x="3599050" y="1551084"/>
            <a:ext cx="0" cy="306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8" name="Google Shape;1608;p95"/>
          <p:cNvCxnSpPr/>
          <p:nvPr/>
        </p:nvCxnSpPr>
        <p:spPr>
          <a:xfrm>
            <a:off x="529291" y="30738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9" name="Google Shape;1609;p95"/>
          <p:cNvSpPr txBox="1"/>
          <p:nvPr>
            <p:ph idx="1" type="body"/>
          </p:nvPr>
        </p:nvSpPr>
        <p:spPr>
          <a:xfrm>
            <a:off x="4320000" y="1036200"/>
            <a:ext cx="4344600" cy="14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</a:rPr>
              <a:t>The </a:t>
            </a:r>
            <a:r>
              <a:rPr b="1" lang="en-GB" sz="2000">
                <a:solidFill>
                  <a:srgbClr val="282828"/>
                </a:solidFill>
              </a:rPr>
              <a:t>tangent</a:t>
            </a:r>
            <a:r>
              <a:rPr lang="en-GB" sz="2000">
                <a:solidFill>
                  <a:srgbClr val="282828"/>
                </a:solidFill>
              </a:rPr>
              <a:t> of an </a:t>
            </a:r>
            <a:r>
              <a:rPr lang="en-GB" sz="2000">
                <a:solidFill>
                  <a:schemeClr val="accent5"/>
                </a:solidFill>
              </a:rPr>
              <a:t>angle</a:t>
            </a:r>
            <a:r>
              <a:rPr lang="en-GB" sz="2000">
                <a:solidFill>
                  <a:srgbClr val="282828"/>
                </a:solidFill>
              </a:rPr>
              <a:t> is the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282828"/>
                </a:solidFill>
              </a:rPr>
              <a:t>-coordinate of the point where the line (the triangles hypotenuse)  intersects the </a:t>
            </a:r>
            <a:r>
              <a:rPr b="1" lang="en-GB" sz="2000">
                <a:solidFill>
                  <a:srgbClr val="282828"/>
                </a:solidFill>
              </a:rPr>
              <a:t>tangent </a:t>
            </a:r>
            <a:r>
              <a:rPr lang="en-GB" sz="2000">
                <a:solidFill>
                  <a:srgbClr val="282828"/>
                </a:solidFill>
              </a:rPr>
              <a:t>line. </a:t>
            </a:r>
            <a:endParaRPr sz="2000"/>
          </a:p>
        </p:txBody>
      </p:sp>
      <p:sp>
        <p:nvSpPr>
          <p:cNvPr id="1610" name="Google Shape;1610;p95"/>
          <p:cNvSpPr txBox="1"/>
          <p:nvPr/>
        </p:nvSpPr>
        <p:spPr>
          <a:xfrm>
            <a:off x="4406775" y="4204375"/>
            <a:ext cx="3274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Link to an interactive version: </a:t>
            </a: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unit circle (tangent)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96"/>
          <p:cNvSpPr txBox="1"/>
          <p:nvPr>
            <p:ph idx="1" type="body"/>
          </p:nvPr>
        </p:nvSpPr>
        <p:spPr>
          <a:xfrm>
            <a:off x="324000" y="759300"/>
            <a:ext cx="84960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1616" name="Google Shape;161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pic>
        <p:nvPicPr>
          <p:cNvPr id="1617" name="Google Shape;161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00" y="15458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96"/>
          <p:cNvSpPr/>
          <p:nvPr/>
        </p:nvSpPr>
        <p:spPr>
          <a:xfrm>
            <a:off x="535443" y="15496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19" name="Google Shape;1619;p96"/>
          <p:cNvCxnSpPr/>
          <p:nvPr/>
        </p:nvCxnSpPr>
        <p:spPr>
          <a:xfrm rot="10800000">
            <a:off x="2059219" y="12572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0" name="Google Shape;1620;p96"/>
          <p:cNvSpPr txBox="1"/>
          <p:nvPr/>
        </p:nvSpPr>
        <p:spPr>
          <a:xfrm>
            <a:off x="3522057" y="29615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96"/>
          <p:cNvSpPr txBox="1"/>
          <p:nvPr/>
        </p:nvSpPr>
        <p:spPr>
          <a:xfrm>
            <a:off x="358432" y="29560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96"/>
          <p:cNvSpPr txBox="1"/>
          <p:nvPr/>
        </p:nvSpPr>
        <p:spPr>
          <a:xfrm>
            <a:off x="1761012" y="43790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96"/>
          <p:cNvSpPr txBox="1"/>
          <p:nvPr/>
        </p:nvSpPr>
        <p:spPr>
          <a:xfrm>
            <a:off x="1842595" y="13422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96"/>
          <p:cNvSpPr txBox="1"/>
          <p:nvPr>
            <p:ph idx="1" type="body"/>
          </p:nvPr>
        </p:nvSpPr>
        <p:spPr>
          <a:xfrm>
            <a:off x="1852688" y="30426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5" name="Google Shape;1625;p96"/>
          <p:cNvSpPr txBox="1"/>
          <p:nvPr>
            <p:ph idx="1" type="body"/>
          </p:nvPr>
        </p:nvSpPr>
        <p:spPr>
          <a:xfrm>
            <a:off x="1876654" y="11319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26" name="Google Shape;1626;p96"/>
          <p:cNvSpPr txBox="1"/>
          <p:nvPr>
            <p:ph idx="1" type="body"/>
          </p:nvPr>
        </p:nvSpPr>
        <p:spPr>
          <a:xfrm>
            <a:off x="3857854" y="29799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27" name="Google Shape;1627;p96"/>
          <p:cNvSpPr txBox="1"/>
          <p:nvPr>
            <p:ph idx="1" type="body"/>
          </p:nvPr>
        </p:nvSpPr>
        <p:spPr>
          <a:xfrm>
            <a:off x="4824000" y="1308150"/>
            <a:ext cx="4039800" cy="148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short way to write “</a:t>
            </a:r>
            <a:r>
              <a:rPr b="1" lang="en-GB" sz="2000"/>
              <a:t>tangent</a:t>
            </a:r>
            <a:r>
              <a:rPr lang="en-GB" sz="2000"/>
              <a:t> of the angle” is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             </a:t>
            </a:r>
            <a:r>
              <a:rPr lang="en-GB" sz="2500"/>
              <a:t>    tan(</a:t>
            </a:r>
            <a:r>
              <a:rPr i="1" lang="en-GB" sz="2500"/>
              <a:t>θ</a:t>
            </a:r>
            <a:r>
              <a:rPr lang="en-GB" sz="2500"/>
              <a:t>)</a:t>
            </a:r>
            <a:endParaRPr sz="2700"/>
          </a:p>
        </p:txBody>
      </p:sp>
      <p:sp>
        <p:nvSpPr>
          <p:cNvPr id="1628" name="Google Shape;1628;p96"/>
          <p:cNvSpPr txBox="1"/>
          <p:nvPr>
            <p:ph idx="1" type="body"/>
          </p:nvPr>
        </p:nvSpPr>
        <p:spPr>
          <a:xfrm>
            <a:off x="4824000" y="3780000"/>
            <a:ext cx="20757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tan(45°) = 1</a:t>
            </a:r>
            <a:endParaRPr sz="2000"/>
          </a:p>
        </p:txBody>
      </p:sp>
      <p:cxnSp>
        <p:nvCxnSpPr>
          <p:cNvPr id="1629" name="Google Shape;1629;p96"/>
          <p:cNvCxnSpPr/>
          <p:nvPr/>
        </p:nvCxnSpPr>
        <p:spPr>
          <a:xfrm rot="10800000">
            <a:off x="2057157" y="1557236"/>
            <a:ext cx="1483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96"/>
          <p:cNvCxnSpPr/>
          <p:nvPr/>
        </p:nvCxnSpPr>
        <p:spPr>
          <a:xfrm rot="10800000">
            <a:off x="3700325" y="1602025"/>
            <a:ext cx="0" cy="1481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31" name="Google Shape;1631;p96"/>
          <p:cNvSpPr txBox="1"/>
          <p:nvPr/>
        </p:nvSpPr>
        <p:spPr>
          <a:xfrm>
            <a:off x="3650473" y="2008525"/>
            <a:ext cx="29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96"/>
          <p:cNvSpPr/>
          <p:nvPr/>
        </p:nvSpPr>
        <p:spPr>
          <a:xfrm>
            <a:off x="2008793" y="30235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96"/>
          <p:cNvSpPr/>
          <p:nvPr/>
        </p:nvSpPr>
        <p:spPr>
          <a:xfrm>
            <a:off x="2058175" y="1594978"/>
            <a:ext cx="1537329" cy="1483197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sp>
        <p:nvSpPr>
          <p:cNvPr id="1634" name="Google Shape;1634;p96"/>
          <p:cNvSpPr/>
          <p:nvPr/>
        </p:nvSpPr>
        <p:spPr>
          <a:xfrm>
            <a:off x="1717325" y="2737575"/>
            <a:ext cx="682500" cy="682500"/>
          </a:xfrm>
          <a:prstGeom prst="arc">
            <a:avLst>
              <a:gd fmla="val 19091646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6"/>
          <p:cNvSpPr txBox="1"/>
          <p:nvPr/>
        </p:nvSpPr>
        <p:spPr>
          <a:xfrm>
            <a:off x="2345552" y="2751132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6" name="Google Shape;1636;p96"/>
          <p:cNvCxnSpPr>
            <a:endCxn id="1637" idx="3"/>
          </p:cNvCxnSpPr>
          <p:nvPr/>
        </p:nvCxnSpPr>
        <p:spPr>
          <a:xfrm flipH="1" rot="10800000">
            <a:off x="537423" y="1594943"/>
            <a:ext cx="3029400" cy="3024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7" name="Google Shape;1637;p96"/>
          <p:cNvSpPr/>
          <p:nvPr/>
        </p:nvSpPr>
        <p:spPr>
          <a:xfrm>
            <a:off x="3551798" y="1507369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6"/>
          <p:cNvSpPr/>
          <p:nvPr/>
        </p:nvSpPr>
        <p:spPr>
          <a:xfrm>
            <a:off x="3507250" y="29801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9" name="Google Shape;1639;p96"/>
          <p:cNvCxnSpPr/>
          <p:nvPr/>
        </p:nvCxnSpPr>
        <p:spPr>
          <a:xfrm rot="10800000">
            <a:off x="3599050" y="1551084"/>
            <a:ext cx="0" cy="306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96"/>
          <p:cNvCxnSpPr/>
          <p:nvPr/>
        </p:nvCxnSpPr>
        <p:spPr>
          <a:xfrm>
            <a:off x="529291" y="30738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1" name="Google Shape;1641;p96"/>
          <p:cNvSpPr txBox="1"/>
          <p:nvPr/>
        </p:nvSpPr>
        <p:spPr>
          <a:xfrm>
            <a:off x="4737575" y="4204375"/>
            <a:ext cx="32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Link to an interactive version: </a:t>
            </a: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unit circle (tangent)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42" name="Google Shape;1642;p96"/>
          <p:cNvCxnSpPr/>
          <p:nvPr/>
        </p:nvCxnSpPr>
        <p:spPr>
          <a:xfrm flipH="1">
            <a:off x="6180400" y="2487625"/>
            <a:ext cx="259200" cy="33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3" name="Google Shape;1643;p96"/>
          <p:cNvSpPr txBox="1"/>
          <p:nvPr>
            <p:ph idx="1" type="body"/>
          </p:nvPr>
        </p:nvSpPr>
        <p:spPr>
          <a:xfrm>
            <a:off x="4993425" y="2821400"/>
            <a:ext cx="15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Abbreviation of </a:t>
            </a:r>
            <a:r>
              <a:rPr b="1" lang="en-GB" sz="1800"/>
              <a:t>tangent</a:t>
            </a:r>
            <a:endParaRPr b="1" sz="1800"/>
          </a:p>
        </p:txBody>
      </p:sp>
      <p:cxnSp>
        <p:nvCxnSpPr>
          <p:cNvPr id="1644" name="Google Shape;1644;p96"/>
          <p:cNvCxnSpPr/>
          <p:nvPr/>
        </p:nvCxnSpPr>
        <p:spPr>
          <a:xfrm>
            <a:off x="7053550" y="2542200"/>
            <a:ext cx="191100" cy="272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5" name="Google Shape;1645;p96"/>
          <p:cNvSpPr txBox="1"/>
          <p:nvPr>
            <p:ph idx="1" type="body"/>
          </p:nvPr>
        </p:nvSpPr>
        <p:spPr>
          <a:xfrm>
            <a:off x="6980400" y="2864900"/>
            <a:ext cx="15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Angle of rotation</a:t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97"/>
          <p:cNvSpPr txBox="1"/>
          <p:nvPr>
            <p:ph idx="1" type="body"/>
          </p:nvPr>
        </p:nvSpPr>
        <p:spPr>
          <a:xfrm>
            <a:off x="324000" y="759300"/>
            <a:ext cx="84960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Use the interactive </a:t>
            </a:r>
            <a:r>
              <a:rPr lang="en-GB" sz="2000"/>
              <a:t>version</a:t>
            </a:r>
            <a:r>
              <a:rPr lang="en-GB" sz="2000"/>
              <a:t> to explore what happens as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  </a:t>
            </a:r>
            <a:r>
              <a:rPr lang="en-GB" sz="2000"/>
              <a:t>varies </a:t>
            </a:r>
            <a:endParaRPr sz="2000"/>
          </a:p>
        </p:txBody>
      </p:sp>
      <p:sp>
        <p:nvSpPr>
          <p:cNvPr id="1651" name="Google Shape;165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pic>
        <p:nvPicPr>
          <p:cNvPr id="1652" name="Google Shape;165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300" y="1545801"/>
            <a:ext cx="3059850" cy="3063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97"/>
          <p:cNvSpPr/>
          <p:nvPr/>
        </p:nvSpPr>
        <p:spPr>
          <a:xfrm>
            <a:off x="535443" y="1549682"/>
            <a:ext cx="3060000" cy="3059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4" name="Google Shape;1654;p97"/>
          <p:cNvCxnSpPr/>
          <p:nvPr/>
        </p:nvCxnSpPr>
        <p:spPr>
          <a:xfrm rot="10800000">
            <a:off x="2059219" y="1257214"/>
            <a:ext cx="0" cy="33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5" name="Google Shape;1655;p97"/>
          <p:cNvSpPr txBox="1"/>
          <p:nvPr/>
        </p:nvSpPr>
        <p:spPr>
          <a:xfrm>
            <a:off x="3522057" y="2961516"/>
            <a:ext cx="26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97"/>
          <p:cNvSpPr txBox="1"/>
          <p:nvPr/>
        </p:nvSpPr>
        <p:spPr>
          <a:xfrm>
            <a:off x="358432" y="2956091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97"/>
          <p:cNvSpPr txBox="1"/>
          <p:nvPr/>
        </p:nvSpPr>
        <p:spPr>
          <a:xfrm>
            <a:off x="1761012" y="4379078"/>
            <a:ext cx="4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97"/>
          <p:cNvSpPr txBox="1"/>
          <p:nvPr/>
        </p:nvSpPr>
        <p:spPr>
          <a:xfrm>
            <a:off x="1842595" y="1342234"/>
            <a:ext cx="23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97"/>
          <p:cNvSpPr txBox="1"/>
          <p:nvPr>
            <p:ph idx="1" type="body"/>
          </p:nvPr>
        </p:nvSpPr>
        <p:spPr>
          <a:xfrm>
            <a:off x="1852688" y="3042637"/>
            <a:ext cx="29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0" name="Google Shape;1660;p97"/>
          <p:cNvSpPr txBox="1"/>
          <p:nvPr>
            <p:ph idx="1" type="body"/>
          </p:nvPr>
        </p:nvSpPr>
        <p:spPr>
          <a:xfrm>
            <a:off x="1876654" y="1131925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61" name="Google Shape;1661;p97"/>
          <p:cNvSpPr txBox="1"/>
          <p:nvPr>
            <p:ph idx="1" type="body"/>
          </p:nvPr>
        </p:nvSpPr>
        <p:spPr>
          <a:xfrm>
            <a:off x="3857854" y="2979967"/>
            <a:ext cx="265800" cy="3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662" name="Google Shape;1662;p97"/>
          <p:cNvCxnSpPr/>
          <p:nvPr/>
        </p:nvCxnSpPr>
        <p:spPr>
          <a:xfrm rot="10800000">
            <a:off x="2057157" y="1557236"/>
            <a:ext cx="1483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97"/>
          <p:cNvCxnSpPr/>
          <p:nvPr/>
        </p:nvCxnSpPr>
        <p:spPr>
          <a:xfrm rot="10800000">
            <a:off x="3700325" y="1602025"/>
            <a:ext cx="0" cy="1481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4" name="Google Shape;1664;p97"/>
          <p:cNvSpPr txBox="1"/>
          <p:nvPr/>
        </p:nvSpPr>
        <p:spPr>
          <a:xfrm>
            <a:off x="3650479" y="2008525"/>
            <a:ext cx="92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7"/>
          <p:cNvSpPr/>
          <p:nvPr/>
        </p:nvSpPr>
        <p:spPr>
          <a:xfrm>
            <a:off x="2008793" y="3023591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7"/>
          <p:cNvSpPr/>
          <p:nvPr/>
        </p:nvSpPr>
        <p:spPr>
          <a:xfrm>
            <a:off x="2058175" y="1594978"/>
            <a:ext cx="1537329" cy="1483197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sp>
        <p:nvSpPr>
          <p:cNvPr id="1667" name="Google Shape;1667;p97"/>
          <p:cNvSpPr/>
          <p:nvPr/>
        </p:nvSpPr>
        <p:spPr>
          <a:xfrm>
            <a:off x="1717325" y="2737575"/>
            <a:ext cx="682500" cy="682500"/>
          </a:xfrm>
          <a:prstGeom prst="arc">
            <a:avLst>
              <a:gd fmla="val 19091646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97"/>
          <p:cNvSpPr txBox="1"/>
          <p:nvPr/>
        </p:nvSpPr>
        <p:spPr>
          <a:xfrm>
            <a:off x="2399827" y="2664507"/>
            <a:ext cx="5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9" name="Google Shape;1669;p97"/>
          <p:cNvCxnSpPr>
            <a:endCxn id="1670" idx="3"/>
          </p:cNvCxnSpPr>
          <p:nvPr/>
        </p:nvCxnSpPr>
        <p:spPr>
          <a:xfrm flipH="1" rot="10800000">
            <a:off x="537423" y="1594943"/>
            <a:ext cx="3029400" cy="3024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0" name="Google Shape;1670;p97"/>
          <p:cNvSpPr/>
          <p:nvPr/>
        </p:nvSpPr>
        <p:spPr>
          <a:xfrm>
            <a:off x="3551798" y="1507369"/>
            <a:ext cx="102600" cy="102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97"/>
          <p:cNvSpPr/>
          <p:nvPr/>
        </p:nvSpPr>
        <p:spPr>
          <a:xfrm>
            <a:off x="3507250" y="2980150"/>
            <a:ext cx="89700" cy="8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2" name="Google Shape;1672;p97"/>
          <p:cNvCxnSpPr/>
          <p:nvPr/>
        </p:nvCxnSpPr>
        <p:spPr>
          <a:xfrm rot="10800000">
            <a:off x="3599050" y="1551084"/>
            <a:ext cx="0" cy="306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3" name="Google Shape;1673;p97"/>
          <p:cNvCxnSpPr/>
          <p:nvPr/>
        </p:nvCxnSpPr>
        <p:spPr>
          <a:xfrm>
            <a:off x="529291" y="3073805"/>
            <a:ext cx="3392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4" name="Google Shape;1674;p97"/>
          <p:cNvSpPr txBox="1"/>
          <p:nvPr>
            <p:ph idx="1" type="body"/>
          </p:nvPr>
        </p:nvSpPr>
        <p:spPr>
          <a:xfrm>
            <a:off x="5203025" y="2158275"/>
            <a:ext cx="3289800" cy="9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I wonder what happens to the value of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 as the </a:t>
            </a:r>
            <a:r>
              <a:rPr lang="en-GB" sz="1600"/>
              <a:t>angle changes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675" name="Google Shape;1675;p97"/>
          <p:cNvSpPr txBox="1"/>
          <p:nvPr/>
        </p:nvSpPr>
        <p:spPr>
          <a:xfrm>
            <a:off x="8058125" y="4054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76" name="Google Shape;1676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325271" y="3335742"/>
            <a:ext cx="398700" cy="752834"/>
          </a:xfrm>
          <a:prstGeom prst="rect">
            <a:avLst/>
          </a:prstGeom>
          <a:noFill/>
          <a:ln>
            <a:noFill/>
          </a:ln>
        </p:spPr>
      </p:pic>
      <p:sp>
        <p:nvSpPr>
          <p:cNvPr id="1677" name="Google Shape;1677;p97"/>
          <p:cNvSpPr txBox="1"/>
          <p:nvPr/>
        </p:nvSpPr>
        <p:spPr>
          <a:xfrm>
            <a:off x="4737575" y="4204375"/>
            <a:ext cx="3231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Link to an interactive version: </a:t>
            </a:r>
            <a:r>
              <a:rPr lang="en-GB" sz="16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unit circle (tangent)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98"/>
          <p:cNvSpPr txBox="1"/>
          <p:nvPr>
            <p:ph idx="1" type="body"/>
          </p:nvPr>
        </p:nvSpPr>
        <p:spPr>
          <a:xfrm>
            <a:off x="3750600" y="818700"/>
            <a:ext cx="4967700" cy="6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diagram shows the sector of the unit circle that lies in the first quadrant.</a:t>
            </a:r>
            <a:endParaRPr sz="2400"/>
          </a:p>
        </p:txBody>
      </p:sp>
      <p:sp>
        <p:nvSpPr>
          <p:cNvPr id="1683" name="Google Shape;1683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pic>
        <p:nvPicPr>
          <p:cNvPr id="1684" name="Google Shape;168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344" y="868112"/>
            <a:ext cx="2375301" cy="3940391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98"/>
          <p:cNvSpPr txBox="1"/>
          <p:nvPr>
            <p:ph idx="1" type="body"/>
          </p:nvPr>
        </p:nvSpPr>
        <p:spPr>
          <a:xfrm>
            <a:off x="3750600" y="1885500"/>
            <a:ext cx="4967700" cy="10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By drawing a </a:t>
            </a:r>
            <a:r>
              <a:rPr b="1" lang="en-GB" sz="2000"/>
              <a:t>tangent</a:t>
            </a:r>
            <a:r>
              <a:rPr lang="en-GB" sz="2000"/>
              <a:t> at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= 1, we can find the </a:t>
            </a:r>
            <a:r>
              <a:rPr b="1" lang="en-GB" sz="2000"/>
              <a:t>tangent</a:t>
            </a:r>
            <a:r>
              <a:rPr lang="en-GB" sz="2000"/>
              <a:t> of some angles in the unit circle</a:t>
            </a:r>
            <a:r>
              <a:rPr lang="en-GB" sz="2000"/>
              <a:t>.</a:t>
            </a:r>
            <a:endParaRPr sz="2400"/>
          </a:p>
        </p:txBody>
      </p:sp>
      <p:cxnSp>
        <p:nvCxnSpPr>
          <p:cNvPr id="1686" name="Google Shape;1686;p98"/>
          <p:cNvCxnSpPr/>
          <p:nvPr/>
        </p:nvCxnSpPr>
        <p:spPr>
          <a:xfrm flipH="1" rot="10800000">
            <a:off x="992991" y="2940800"/>
            <a:ext cx="2041800" cy="1720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7" name="Google Shape;1687;p98"/>
          <p:cNvCxnSpPr/>
          <p:nvPr/>
        </p:nvCxnSpPr>
        <p:spPr>
          <a:xfrm rot="10800000">
            <a:off x="767823" y="3081703"/>
            <a:ext cx="2116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88" name="Google Shape;1688;p98"/>
          <p:cNvSpPr txBox="1"/>
          <p:nvPr/>
        </p:nvSpPr>
        <p:spPr>
          <a:xfrm>
            <a:off x="252412" y="2856950"/>
            <a:ext cx="67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0.84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98"/>
          <p:cNvSpPr/>
          <p:nvPr/>
        </p:nvSpPr>
        <p:spPr>
          <a:xfrm>
            <a:off x="2778812" y="4576502"/>
            <a:ext cx="83100" cy="8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0" name="Google Shape;1690;p98"/>
          <p:cNvCxnSpPr/>
          <p:nvPr/>
        </p:nvCxnSpPr>
        <p:spPr>
          <a:xfrm rot="10800000">
            <a:off x="2868216" y="928775"/>
            <a:ext cx="0" cy="38754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1" name="Google Shape;1691;p98"/>
          <p:cNvSpPr/>
          <p:nvPr/>
        </p:nvSpPr>
        <p:spPr>
          <a:xfrm>
            <a:off x="2823219" y="3025549"/>
            <a:ext cx="95100" cy="951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98"/>
          <p:cNvSpPr/>
          <p:nvPr/>
        </p:nvSpPr>
        <p:spPr>
          <a:xfrm>
            <a:off x="693053" y="4365847"/>
            <a:ext cx="591300" cy="591300"/>
          </a:xfrm>
          <a:prstGeom prst="arc">
            <a:avLst>
              <a:gd fmla="val 19375944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98"/>
          <p:cNvSpPr txBox="1"/>
          <p:nvPr/>
        </p:nvSpPr>
        <p:spPr>
          <a:xfrm>
            <a:off x="1226400" y="4346975"/>
            <a:ext cx="60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98"/>
          <p:cNvSpPr txBox="1"/>
          <p:nvPr>
            <p:ph idx="1" type="body"/>
          </p:nvPr>
        </p:nvSpPr>
        <p:spPr>
          <a:xfrm>
            <a:off x="3757200" y="3365550"/>
            <a:ext cx="18447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</a:t>
            </a:r>
            <a:r>
              <a:rPr lang="en-GB" sz="2000"/>
              <a:t>tan(40°)</a:t>
            </a:r>
            <a:r>
              <a:rPr lang="en-GB" sz="2000"/>
              <a:t> = </a:t>
            </a:r>
            <a:endParaRPr sz="2000"/>
          </a:p>
        </p:txBody>
      </p:sp>
      <p:sp>
        <p:nvSpPr>
          <p:cNvPr id="1695" name="Google Shape;1695;p98"/>
          <p:cNvSpPr txBox="1"/>
          <p:nvPr>
            <p:ph idx="1" type="body"/>
          </p:nvPr>
        </p:nvSpPr>
        <p:spPr>
          <a:xfrm>
            <a:off x="5561996" y="3376319"/>
            <a:ext cx="604500" cy="41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0.84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696" name="Google Shape;1696;p98"/>
          <p:cNvSpPr txBox="1"/>
          <p:nvPr>
            <p:ph idx="1" type="body"/>
          </p:nvPr>
        </p:nvSpPr>
        <p:spPr>
          <a:xfrm>
            <a:off x="3757200" y="4238650"/>
            <a:ext cx="5319000" cy="6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Link to an interactive version:</a:t>
            </a:r>
            <a:br>
              <a:rPr lang="en-GB" sz="1600"/>
            </a:br>
            <a:r>
              <a:rPr lang="en-GB" sz="1600" u="sng">
                <a:solidFill>
                  <a:schemeClr val="hlink"/>
                </a:solidFill>
                <a:hlinkClick r:id="rId4"/>
              </a:rPr>
              <a:t>unit circle in first quadrant</a:t>
            </a:r>
            <a:r>
              <a:rPr lang="en-GB" sz="1600"/>
              <a:t>🖇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What is the value of tan(50°)?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Introduction to tangent</a:t>
            </a:r>
            <a:endParaRPr/>
          </a:p>
        </p:txBody>
      </p:sp>
      <p:sp>
        <p:nvSpPr>
          <p:cNvPr id="1703" name="Google Shape;1703;p99"/>
          <p:cNvSpPr txBox="1"/>
          <p:nvPr>
            <p:ph idx="1" type="subTitle"/>
          </p:nvPr>
        </p:nvSpPr>
        <p:spPr>
          <a:xfrm>
            <a:off x="1034425" y="1837775"/>
            <a:ext cx="1430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1.19</a:t>
            </a:r>
            <a:endParaRPr/>
          </a:p>
        </p:txBody>
      </p:sp>
      <p:sp>
        <p:nvSpPr>
          <p:cNvPr id="1704" name="Google Shape;1704;p99"/>
          <p:cNvSpPr txBox="1"/>
          <p:nvPr>
            <p:ph idx="3" type="subTitle"/>
          </p:nvPr>
        </p:nvSpPr>
        <p:spPr>
          <a:xfrm>
            <a:off x="1034425" y="2794251"/>
            <a:ext cx="1430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0.77</a:t>
            </a:r>
            <a:endParaRPr/>
          </a:p>
        </p:txBody>
      </p:sp>
      <p:sp>
        <p:nvSpPr>
          <p:cNvPr id="1705" name="Google Shape;1705;p99"/>
          <p:cNvSpPr txBox="1"/>
          <p:nvPr>
            <p:ph idx="4" type="subTitle"/>
          </p:nvPr>
        </p:nvSpPr>
        <p:spPr>
          <a:xfrm>
            <a:off x="1034425" y="3766974"/>
            <a:ext cx="142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0.64</a:t>
            </a:r>
            <a:endParaRPr/>
          </a:p>
        </p:txBody>
      </p:sp>
      <p:pic>
        <p:nvPicPr>
          <p:cNvPr id="1706" name="Google Shape;1706;p99"/>
          <p:cNvPicPr preferRelativeResize="0"/>
          <p:nvPr/>
        </p:nvPicPr>
        <p:blipFill rotWithShape="1">
          <a:blip r:embed="rId3">
            <a:alphaModFix/>
          </a:blip>
          <a:srcRect b="0" l="0" r="0" t="36636"/>
          <a:stretch/>
        </p:blipFill>
        <p:spPr>
          <a:xfrm>
            <a:off x="4981150" y="896628"/>
            <a:ext cx="3413225" cy="35876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7" name="Google Shape;1707;p99"/>
          <p:cNvCxnSpPr/>
          <p:nvPr/>
        </p:nvCxnSpPr>
        <p:spPr>
          <a:xfrm flipH="1" rot="10800000">
            <a:off x="5311136" y="939490"/>
            <a:ext cx="2807700" cy="3333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8" name="Google Shape;1708;p99"/>
          <p:cNvCxnSpPr>
            <a:endCxn id="1709" idx="3"/>
          </p:cNvCxnSpPr>
          <p:nvPr/>
        </p:nvCxnSpPr>
        <p:spPr>
          <a:xfrm rot="10800000">
            <a:off x="4903050" y="1087103"/>
            <a:ext cx="3125400" cy="15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09" name="Google Shape;1709;p99"/>
          <p:cNvSpPr txBox="1"/>
          <p:nvPr/>
        </p:nvSpPr>
        <p:spPr>
          <a:xfrm>
            <a:off x="4323150" y="871553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1.19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0" name="Google Shape;1710;p99"/>
          <p:cNvSpPr/>
          <p:nvPr/>
        </p:nvSpPr>
        <p:spPr>
          <a:xfrm>
            <a:off x="7877300" y="4150937"/>
            <a:ext cx="119400" cy="11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1" name="Google Shape;1711;p99"/>
          <p:cNvCxnSpPr/>
          <p:nvPr/>
        </p:nvCxnSpPr>
        <p:spPr>
          <a:xfrm rot="10800000">
            <a:off x="8005770" y="862197"/>
            <a:ext cx="0" cy="3615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2" name="Google Shape;1712;p99"/>
          <p:cNvSpPr/>
          <p:nvPr/>
        </p:nvSpPr>
        <p:spPr>
          <a:xfrm>
            <a:off x="7941112" y="1015008"/>
            <a:ext cx="136500" cy="136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9"/>
          <p:cNvSpPr/>
          <p:nvPr/>
        </p:nvSpPr>
        <p:spPr>
          <a:xfrm>
            <a:off x="4880136" y="3848233"/>
            <a:ext cx="849900" cy="849900"/>
          </a:xfrm>
          <a:prstGeom prst="arc">
            <a:avLst>
              <a:gd fmla="val 18743951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99"/>
          <p:cNvSpPr txBox="1"/>
          <p:nvPr/>
        </p:nvSpPr>
        <p:spPr>
          <a:xfrm>
            <a:off x="5646537" y="3821114"/>
            <a:ext cx="8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5" name="Google Shape;1715;p99"/>
          <p:cNvCxnSpPr/>
          <p:nvPr/>
        </p:nvCxnSpPr>
        <p:spPr>
          <a:xfrm rot="10800000">
            <a:off x="4874300" y="2213688"/>
            <a:ext cx="2149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16" name="Google Shape;1716;p99"/>
          <p:cNvSpPr txBox="1"/>
          <p:nvPr/>
        </p:nvSpPr>
        <p:spPr>
          <a:xfrm>
            <a:off x="4323150" y="1997884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0.77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7" name="Google Shape;1717;p99"/>
          <p:cNvCxnSpPr/>
          <p:nvPr/>
        </p:nvCxnSpPr>
        <p:spPr>
          <a:xfrm rot="10800000">
            <a:off x="7048434" y="2213738"/>
            <a:ext cx="0" cy="23928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18" name="Google Shape;1718;p99"/>
          <p:cNvSpPr txBox="1"/>
          <p:nvPr/>
        </p:nvSpPr>
        <p:spPr>
          <a:xfrm>
            <a:off x="6776344" y="4513688"/>
            <a:ext cx="75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99"/>
          <p:cNvSpPr/>
          <p:nvPr/>
        </p:nvSpPr>
        <p:spPr>
          <a:xfrm>
            <a:off x="6980187" y="2145433"/>
            <a:ext cx="136500" cy="136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20" name="Google Shape;172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2908" y="17915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is the value of </a:t>
            </a:r>
            <a:r>
              <a:rPr lang="en-GB" sz="2000"/>
              <a:t>sin</a:t>
            </a:r>
            <a:r>
              <a:rPr lang="en-GB" sz="2000"/>
              <a:t>(</a:t>
            </a:r>
            <a:r>
              <a:rPr lang="en-GB" sz="2000"/>
              <a:t>5</a:t>
            </a:r>
            <a:r>
              <a:rPr lang="en-GB" sz="2000"/>
              <a:t>0°)</a:t>
            </a:r>
            <a:r>
              <a:rPr lang="en-GB" sz="2000"/>
              <a:t>?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sp>
        <p:nvSpPr>
          <p:cNvPr id="1727" name="Google Shape;1727;p100"/>
          <p:cNvSpPr txBox="1"/>
          <p:nvPr>
            <p:ph idx="1" type="subTitle"/>
          </p:nvPr>
        </p:nvSpPr>
        <p:spPr>
          <a:xfrm>
            <a:off x="1034425" y="1837775"/>
            <a:ext cx="1430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1.19</a:t>
            </a:r>
            <a:endParaRPr/>
          </a:p>
        </p:txBody>
      </p:sp>
      <p:sp>
        <p:nvSpPr>
          <p:cNvPr id="1728" name="Google Shape;1728;p100"/>
          <p:cNvSpPr txBox="1"/>
          <p:nvPr>
            <p:ph idx="3" type="subTitle"/>
          </p:nvPr>
        </p:nvSpPr>
        <p:spPr>
          <a:xfrm>
            <a:off x="1034425" y="2794251"/>
            <a:ext cx="1430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0.77</a:t>
            </a:r>
            <a:endParaRPr/>
          </a:p>
        </p:txBody>
      </p:sp>
      <p:sp>
        <p:nvSpPr>
          <p:cNvPr id="1729" name="Google Shape;1729;p100"/>
          <p:cNvSpPr txBox="1"/>
          <p:nvPr>
            <p:ph idx="4" type="subTitle"/>
          </p:nvPr>
        </p:nvSpPr>
        <p:spPr>
          <a:xfrm>
            <a:off x="1034425" y="3766974"/>
            <a:ext cx="142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0.64</a:t>
            </a:r>
            <a:endParaRPr/>
          </a:p>
        </p:txBody>
      </p:sp>
      <p:pic>
        <p:nvPicPr>
          <p:cNvPr id="1730" name="Google Shape;1730;p100"/>
          <p:cNvPicPr preferRelativeResize="0"/>
          <p:nvPr/>
        </p:nvPicPr>
        <p:blipFill rotWithShape="1">
          <a:blip r:embed="rId3">
            <a:alphaModFix/>
          </a:blip>
          <a:srcRect b="0" l="0" r="0" t="36636"/>
          <a:stretch/>
        </p:blipFill>
        <p:spPr>
          <a:xfrm>
            <a:off x="4981150" y="896628"/>
            <a:ext cx="3413225" cy="35876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31" name="Google Shape;1731;p100"/>
          <p:cNvCxnSpPr/>
          <p:nvPr/>
        </p:nvCxnSpPr>
        <p:spPr>
          <a:xfrm flipH="1" rot="10800000">
            <a:off x="5311136" y="939490"/>
            <a:ext cx="2807700" cy="3333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2" name="Google Shape;1732;p100"/>
          <p:cNvCxnSpPr>
            <a:endCxn id="1733" idx="3"/>
          </p:cNvCxnSpPr>
          <p:nvPr/>
        </p:nvCxnSpPr>
        <p:spPr>
          <a:xfrm rot="10800000">
            <a:off x="4903050" y="1087103"/>
            <a:ext cx="3125400" cy="15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33" name="Google Shape;1733;p100"/>
          <p:cNvSpPr txBox="1"/>
          <p:nvPr/>
        </p:nvSpPr>
        <p:spPr>
          <a:xfrm>
            <a:off x="4323150" y="871553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1.19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4" name="Google Shape;1734;p100"/>
          <p:cNvSpPr/>
          <p:nvPr/>
        </p:nvSpPr>
        <p:spPr>
          <a:xfrm>
            <a:off x="7877300" y="4150937"/>
            <a:ext cx="119400" cy="11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5" name="Google Shape;1735;p100"/>
          <p:cNvCxnSpPr/>
          <p:nvPr/>
        </p:nvCxnSpPr>
        <p:spPr>
          <a:xfrm rot="10800000">
            <a:off x="8005770" y="862197"/>
            <a:ext cx="0" cy="3615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6" name="Google Shape;1736;p100"/>
          <p:cNvSpPr/>
          <p:nvPr/>
        </p:nvSpPr>
        <p:spPr>
          <a:xfrm>
            <a:off x="7941112" y="1015008"/>
            <a:ext cx="136500" cy="136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100"/>
          <p:cNvSpPr/>
          <p:nvPr/>
        </p:nvSpPr>
        <p:spPr>
          <a:xfrm>
            <a:off x="4880136" y="3848233"/>
            <a:ext cx="849900" cy="849900"/>
          </a:xfrm>
          <a:prstGeom prst="arc">
            <a:avLst>
              <a:gd fmla="val 18743951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100"/>
          <p:cNvSpPr txBox="1"/>
          <p:nvPr/>
        </p:nvSpPr>
        <p:spPr>
          <a:xfrm>
            <a:off x="5646537" y="3821114"/>
            <a:ext cx="8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9" name="Google Shape;1739;p100"/>
          <p:cNvCxnSpPr/>
          <p:nvPr/>
        </p:nvCxnSpPr>
        <p:spPr>
          <a:xfrm rot="10800000">
            <a:off x="4874300" y="2213688"/>
            <a:ext cx="2149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40" name="Google Shape;1740;p100"/>
          <p:cNvSpPr txBox="1"/>
          <p:nvPr/>
        </p:nvSpPr>
        <p:spPr>
          <a:xfrm>
            <a:off x="4323150" y="1997884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0.77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1" name="Google Shape;1741;p100"/>
          <p:cNvCxnSpPr/>
          <p:nvPr/>
        </p:nvCxnSpPr>
        <p:spPr>
          <a:xfrm rot="10800000">
            <a:off x="7048434" y="2213738"/>
            <a:ext cx="0" cy="23928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42" name="Google Shape;1742;p100"/>
          <p:cNvSpPr txBox="1"/>
          <p:nvPr/>
        </p:nvSpPr>
        <p:spPr>
          <a:xfrm>
            <a:off x="6776344" y="4513688"/>
            <a:ext cx="75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100"/>
          <p:cNvSpPr/>
          <p:nvPr/>
        </p:nvSpPr>
        <p:spPr>
          <a:xfrm>
            <a:off x="6980187" y="2145433"/>
            <a:ext cx="136500" cy="136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4" name="Google Shape;1744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4583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p10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is the value of </a:t>
            </a:r>
            <a:r>
              <a:rPr lang="en-GB" sz="2000"/>
              <a:t>cos</a:t>
            </a:r>
            <a:r>
              <a:rPr lang="en-GB" sz="2000"/>
              <a:t>(50°)</a:t>
            </a:r>
            <a:r>
              <a:rPr lang="en-GB" sz="2000"/>
              <a:t>?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sp>
        <p:nvSpPr>
          <p:cNvPr id="1751" name="Google Shape;1751;p101"/>
          <p:cNvSpPr txBox="1"/>
          <p:nvPr>
            <p:ph idx="1" type="subTitle"/>
          </p:nvPr>
        </p:nvSpPr>
        <p:spPr>
          <a:xfrm>
            <a:off x="1034425" y="1837775"/>
            <a:ext cx="1430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1.19</a:t>
            </a:r>
            <a:endParaRPr/>
          </a:p>
        </p:txBody>
      </p:sp>
      <p:sp>
        <p:nvSpPr>
          <p:cNvPr id="1752" name="Google Shape;1752;p101"/>
          <p:cNvSpPr txBox="1"/>
          <p:nvPr>
            <p:ph idx="3" type="subTitle"/>
          </p:nvPr>
        </p:nvSpPr>
        <p:spPr>
          <a:xfrm>
            <a:off x="1034425" y="2794251"/>
            <a:ext cx="14301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0.77</a:t>
            </a:r>
            <a:endParaRPr/>
          </a:p>
        </p:txBody>
      </p:sp>
      <p:sp>
        <p:nvSpPr>
          <p:cNvPr id="1753" name="Google Shape;1753;p101"/>
          <p:cNvSpPr txBox="1"/>
          <p:nvPr>
            <p:ph idx="4" type="subTitle"/>
          </p:nvPr>
        </p:nvSpPr>
        <p:spPr>
          <a:xfrm>
            <a:off x="1034425" y="3766974"/>
            <a:ext cx="1422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0.64</a:t>
            </a:r>
            <a:endParaRPr/>
          </a:p>
        </p:txBody>
      </p:sp>
      <p:pic>
        <p:nvPicPr>
          <p:cNvPr id="1754" name="Google Shape;1754;p101"/>
          <p:cNvPicPr preferRelativeResize="0"/>
          <p:nvPr/>
        </p:nvPicPr>
        <p:blipFill rotWithShape="1">
          <a:blip r:embed="rId3">
            <a:alphaModFix/>
          </a:blip>
          <a:srcRect b="0" l="0" r="0" t="36636"/>
          <a:stretch/>
        </p:blipFill>
        <p:spPr>
          <a:xfrm>
            <a:off x="4981150" y="896628"/>
            <a:ext cx="3413225" cy="35876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5" name="Google Shape;1755;p101"/>
          <p:cNvCxnSpPr/>
          <p:nvPr/>
        </p:nvCxnSpPr>
        <p:spPr>
          <a:xfrm flipH="1" rot="10800000">
            <a:off x="5311136" y="939490"/>
            <a:ext cx="2807700" cy="3333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6" name="Google Shape;1756;p101"/>
          <p:cNvCxnSpPr>
            <a:endCxn id="1757" idx="3"/>
          </p:cNvCxnSpPr>
          <p:nvPr/>
        </p:nvCxnSpPr>
        <p:spPr>
          <a:xfrm rot="10800000">
            <a:off x="4903050" y="1087103"/>
            <a:ext cx="3125400" cy="15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57" name="Google Shape;1757;p101"/>
          <p:cNvSpPr txBox="1"/>
          <p:nvPr/>
        </p:nvSpPr>
        <p:spPr>
          <a:xfrm>
            <a:off x="4323150" y="871553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1.19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01"/>
          <p:cNvSpPr/>
          <p:nvPr/>
        </p:nvSpPr>
        <p:spPr>
          <a:xfrm>
            <a:off x="7877300" y="4150937"/>
            <a:ext cx="119400" cy="119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9" name="Google Shape;1759;p101"/>
          <p:cNvCxnSpPr/>
          <p:nvPr/>
        </p:nvCxnSpPr>
        <p:spPr>
          <a:xfrm rot="10800000">
            <a:off x="8005770" y="862197"/>
            <a:ext cx="0" cy="3615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0" name="Google Shape;1760;p101"/>
          <p:cNvSpPr/>
          <p:nvPr/>
        </p:nvSpPr>
        <p:spPr>
          <a:xfrm>
            <a:off x="7941112" y="1015008"/>
            <a:ext cx="136500" cy="136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101"/>
          <p:cNvSpPr/>
          <p:nvPr/>
        </p:nvSpPr>
        <p:spPr>
          <a:xfrm>
            <a:off x="4880136" y="3848233"/>
            <a:ext cx="849900" cy="849900"/>
          </a:xfrm>
          <a:prstGeom prst="arc">
            <a:avLst>
              <a:gd fmla="val 18743951" name="adj1"/>
              <a:gd fmla="val 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101"/>
          <p:cNvSpPr txBox="1"/>
          <p:nvPr/>
        </p:nvSpPr>
        <p:spPr>
          <a:xfrm>
            <a:off x="5646537" y="3821114"/>
            <a:ext cx="86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50°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3" name="Google Shape;1763;p101"/>
          <p:cNvCxnSpPr/>
          <p:nvPr/>
        </p:nvCxnSpPr>
        <p:spPr>
          <a:xfrm rot="10800000">
            <a:off x="4874300" y="2213688"/>
            <a:ext cx="2149200" cy="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64" name="Google Shape;1764;p101"/>
          <p:cNvSpPr txBox="1"/>
          <p:nvPr/>
        </p:nvSpPr>
        <p:spPr>
          <a:xfrm>
            <a:off x="4323150" y="1997884"/>
            <a:ext cx="57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0.77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5" name="Google Shape;1765;p101"/>
          <p:cNvCxnSpPr/>
          <p:nvPr/>
        </p:nvCxnSpPr>
        <p:spPr>
          <a:xfrm rot="10800000">
            <a:off x="7048434" y="2213738"/>
            <a:ext cx="0" cy="2392800"/>
          </a:xfrm>
          <a:prstGeom prst="straightConnector1">
            <a:avLst/>
          </a:prstGeom>
          <a:noFill/>
          <a:ln cap="flat" cmpd="sng" w="28575">
            <a:solidFill>
              <a:srgbClr val="374CF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66" name="Google Shape;1766;p101"/>
          <p:cNvSpPr txBox="1"/>
          <p:nvPr/>
        </p:nvSpPr>
        <p:spPr>
          <a:xfrm>
            <a:off x="6776344" y="4513688"/>
            <a:ext cx="75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0.64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01"/>
          <p:cNvSpPr/>
          <p:nvPr/>
        </p:nvSpPr>
        <p:spPr>
          <a:xfrm>
            <a:off x="6980187" y="2145433"/>
            <a:ext cx="136500" cy="1365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8" name="Google Shape;1768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483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sp>
        <p:nvSpPr>
          <p:cNvPr id="1774" name="Google Shape;1774;p102"/>
          <p:cNvSpPr txBox="1"/>
          <p:nvPr>
            <p:ph idx="1" type="body"/>
          </p:nvPr>
        </p:nvSpPr>
        <p:spPr>
          <a:xfrm>
            <a:off x="3866125" y="1383175"/>
            <a:ext cx="4455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Draw a tangent at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= 1.</a:t>
            </a:r>
            <a:endParaRPr sz="1800"/>
          </a:p>
        </p:txBody>
      </p:sp>
      <p:sp>
        <p:nvSpPr>
          <p:cNvPr id="1775" name="Google Shape;1775;p102"/>
          <p:cNvSpPr txBox="1"/>
          <p:nvPr>
            <p:ph idx="1" type="body"/>
          </p:nvPr>
        </p:nvSpPr>
        <p:spPr>
          <a:xfrm>
            <a:off x="3866125" y="1840375"/>
            <a:ext cx="4455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Find the value of </a:t>
            </a:r>
            <a:r>
              <a:rPr lang="en-GB" sz="1600"/>
              <a:t>tan(35°)</a:t>
            </a:r>
            <a:endParaRPr sz="1600"/>
          </a:p>
        </p:txBody>
      </p:sp>
      <p:sp>
        <p:nvSpPr>
          <p:cNvPr id="1776" name="Google Shape;1776;p102"/>
          <p:cNvSpPr txBox="1"/>
          <p:nvPr>
            <p:ph idx="1" type="body"/>
          </p:nvPr>
        </p:nvSpPr>
        <p:spPr>
          <a:xfrm>
            <a:off x="3866125" y="2297575"/>
            <a:ext cx="4455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Find the value of </a:t>
            </a:r>
            <a:r>
              <a:rPr lang="en-GB" sz="1600"/>
              <a:t>tan(55°)</a:t>
            </a:r>
            <a:endParaRPr sz="1600"/>
          </a:p>
        </p:txBody>
      </p:sp>
      <p:pic>
        <p:nvPicPr>
          <p:cNvPr id="1777" name="Google Shape;177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00" y="810000"/>
            <a:ext cx="3357579" cy="40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8" name="Google Shape;1778;p102"/>
          <p:cNvSpPr txBox="1"/>
          <p:nvPr>
            <p:ph idx="1" type="body"/>
          </p:nvPr>
        </p:nvSpPr>
        <p:spPr>
          <a:xfrm>
            <a:off x="3866125" y="2754775"/>
            <a:ext cx="49539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Use the diagram to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tan(</a:t>
            </a:r>
            <a:r>
              <a:rPr i="1" lang="en-GB" sz="1600"/>
              <a:t>θ</a:t>
            </a:r>
            <a:r>
              <a:rPr lang="en-GB" sz="1600"/>
              <a:t>) = 1</a:t>
            </a:r>
            <a:r>
              <a:rPr lang="en-GB" sz="1600"/>
              <a:t>.</a:t>
            </a:r>
            <a:endParaRPr sz="1400"/>
          </a:p>
        </p:txBody>
      </p:sp>
      <p:sp>
        <p:nvSpPr>
          <p:cNvPr id="1779" name="Google Shape;1779;p102"/>
          <p:cNvSpPr txBox="1"/>
          <p:nvPr>
            <p:ph idx="1" type="body"/>
          </p:nvPr>
        </p:nvSpPr>
        <p:spPr>
          <a:xfrm>
            <a:off x="3866125" y="3440575"/>
            <a:ext cx="4869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 Use the diagram to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tan(</a:t>
            </a:r>
            <a:r>
              <a:rPr i="1" lang="en-GB" sz="1600"/>
              <a:t>θ</a:t>
            </a:r>
            <a:r>
              <a:rPr lang="en-GB" sz="1600"/>
              <a:t>) = 0.5</a:t>
            </a:r>
            <a:r>
              <a:rPr lang="en-GB" sz="1600"/>
              <a:t>.</a:t>
            </a:r>
            <a:endParaRPr sz="1400"/>
          </a:p>
        </p:txBody>
      </p:sp>
      <p:sp>
        <p:nvSpPr>
          <p:cNvPr id="1780" name="Google Shape;1780;p102"/>
          <p:cNvSpPr txBox="1"/>
          <p:nvPr>
            <p:ph idx="4294967295" type="body"/>
          </p:nvPr>
        </p:nvSpPr>
        <p:spPr>
          <a:xfrm>
            <a:off x="4076450" y="4258668"/>
            <a:ext cx="4536000" cy="5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For an</a:t>
            </a:r>
            <a:r>
              <a:rPr lang="en-GB" sz="1600"/>
              <a:t> interactive version of the diagram, click the link:</a:t>
            </a:r>
            <a:r>
              <a:rPr lang="en-GB" sz="1600"/>
              <a:t> </a:t>
            </a:r>
            <a:r>
              <a:rPr lang="en-GB" sz="1600" u="sng">
                <a:solidFill>
                  <a:schemeClr val="hlink"/>
                </a:solidFill>
                <a:hlinkClick r:id="rId4"/>
              </a:rPr>
              <a:t>unit circle in first quadrant</a:t>
            </a:r>
            <a:r>
              <a:rPr lang="en-GB" sz="1600"/>
              <a:t>🖇</a:t>
            </a:r>
            <a:endParaRPr sz="1600"/>
          </a:p>
        </p:txBody>
      </p:sp>
      <p:sp>
        <p:nvSpPr>
          <p:cNvPr id="1781" name="Google Shape;1781;p102"/>
          <p:cNvSpPr txBox="1"/>
          <p:nvPr>
            <p:ph idx="1" type="body"/>
          </p:nvPr>
        </p:nvSpPr>
        <p:spPr>
          <a:xfrm>
            <a:off x="3866125" y="773575"/>
            <a:ext cx="49539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diagram shows the first quadrant of the unit circle.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03"/>
          <p:cNvSpPr txBox="1"/>
          <p:nvPr>
            <p:ph idx="1" type="body"/>
          </p:nvPr>
        </p:nvSpPr>
        <p:spPr>
          <a:xfrm>
            <a:off x="3866125" y="773575"/>
            <a:ext cx="49539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a) </a:t>
            </a:r>
            <a:r>
              <a:rPr lang="en-GB" sz="1600"/>
              <a:t>Complete the table.</a:t>
            </a:r>
            <a:endParaRPr sz="1800"/>
          </a:p>
        </p:txBody>
      </p:sp>
      <p:sp>
        <p:nvSpPr>
          <p:cNvPr id="1787" name="Google Shape;1787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pic>
        <p:nvPicPr>
          <p:cNvPr id="1788" name="Google Shape;178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00" y="810000"/>
            <a:ext cx="3357579" cy="401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9" name="Google Shape;1789;p103"/>
          <p:cNvGraphicFramePr/>
          <p:nvPr/>
        </p:nvGraphicFramePr>
        <p:xfrm>
          <a:off x="4208957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{FDFCCF7C-625F-4281-A7AD-6F072ADDF248}</a:tableStyleId>
              </a:tblPr>
              <a:tblGrid>
                <a:gridCol w="1099675"/>
                <a:gridCol w="1099675"/>
                <a:gridCol w="1099675"/>
                <a:gridCol w="1099675"/>
              </a:tblGrid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tan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0" name="Google Shape;1790;p103"/>
          <p:cNvSpPr txBox="1"/>
          <p:nvPr>
            <p:ph idx="1" type="body"/>
          </p:nvPr>
        </p:nvSpPr>
        <p:spPr>
          <a:xfrm>
            <a:off x="3866125" y="3288175"/>
            <a:ext cx="4835100" cy="5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For each angle, divide the value of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1600"/>
              <a:t>by </a:t>
            </a:r>
            <a:br>
              <a:rPr lang="en-GB" sz="1600"/>
            </a:br>
            <a:r>
              <a:rPr lang="en-GB" sz="1600"/>
              <a:t>    the value of 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600"/>
              <a:t>. What do you notice?</a:t>
            </a:r>
            <a:endParaRPr sz="1800"/>
          </a:p>
        </p:txBody>
      </p:sp>
      <p:sp>
        <p:nvSpPr>
          <p:cNvPr id="1791" name="Google Shape;1791;p103"/>
          <p:cNvSpPr txBox="1"/>
          <p:nvPr>
            <p:ph idx="4294967295" type="body"/>
          </p:nvPr>
        </p:nvSpPr>
        <p:spPr>
          <a:xfrm>
            <a:off x="4076450" y="4258668"/>
            <a:ext cx="4536000" cy="5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For an interactive version of the diagram, click the link: </a:t>
            </a:r>
            <a:r>
              <a:rPr lang="en-GB" sz="1600" u="sng">
                <a:solidFill>
                  <a:schemeClr val="hlink"/>
                </a:solidFill>
                <a:hlinkClick r:id="rId4"/>
              </a:rPr>
              <a:t>unit circle in first quadrant</a:t>
            </a:r>
            <a:r>
              <a:rPr lang="en-GB" sz="1600"/>
              <a:t>🖇</a:t>
            </a:r>
            <a:endParaRPr sz="1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104"/>
          <p:cNvSpPr txBox="1"/>
          <p:nvPr>
            <p:ph idx="1" type="body"/>
          </p:nvPr>
        </p:nvSpPr>
        <p:spPr>
          <a:xfrm>
            <a:off x="3830500" y="759300"/>
            <a:ext cx="4731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1) The diagram shows the first quadrant of the unit circle.</a:t>
            </a:r>
            <a:endParaRPr sz="1800"/>
          </a:p>
        </p:txBody>
      </p:sp>
      <p:sp>
        <p:nvSpPr>
          <p:cNvPr id="1797" name="Google Shape;1797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sp>
        <p:nvSpPr>
          <p:cNvPr id="1798" name="Google Shape;1798;p104"/>
          <p:cNvSpPr txBox="1"/>
          <p:nvPr>
            <p:ph idx="1" type="body"/>
          </p:nvPr>
        </p:nvSpPr>
        <p:spPr>
          <a:xfrm>
            <a:off x="3866125" y="1383175"/>
            <a:ext cx="4455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Draw a tangent at 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600"/>
              <a:t> = 1.</a:t>
            </a:r>
            <a:endParaRPr sz="1800"/>
          </a:p>
        </p:txBody>
      </p:sp>
      <p:sp>
        <p:nvSpPr>
          <p:cNvPr id="1799" name="Google Shape;1799;p104"/>
          <p:cNvSpPr txBox="1"/>
          <p:nvPr>
            <p:ph idx="1" type="body"/>
          </p:nvPr>
        </p:nvSpPr>
        <p:spPr>
          <a:xfrm>
            <a:off x="3866125" y="1840375"/>
            <a:ext cx="4455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Find the value of </a:t>
            </a:r>
            <a:r>
              <a:rPr lang="en-GB" sz="1600"/>
              <a:t>tan(35°)</a:t>
            </a:r>
            <a:endParaRPr sz="1600"/>
          </a:p>
        </p:txBody>
      </p:sp>
      <p:sp>
        <p:nvSpPr>
          <p:cNvPr id="1800" name="Google Shape;1800;p104"/>
          <p:cNvSpPr txBox="1"/>
          <p:nvPr>
            <p:ph idx="1" type="body"/>
          </p:nvPr>
        </p:nvSpPr>
        <p:spPr>
          <a:xfrm>
            <a:off x="3866125" y="2297575"/>
            <a:ext cx="4455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Find the value of </a:t>
            </a:r>
            <a:r>
              <a:rPr lang="en-GB" sz="1600"/>
              <a:t>tan(55°)</a:t>
            </a:r>
            <a:endParaRPr sz="1600"/>
          </a:p>
        </p:txBody>
      </p:sp>
      <p:pic>
        <p:nvPicPr>
          <p:cNvPr id="1801" name="Google Shape;180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00" y="810000"/>
            <a:ext cx="3357579" cy="40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2" name="Google Shape;1802;p104"/>
          <p:cNvSpPr txBox="1"/>
          <p:nvPr>
            <p:ph idx="1" type="body"/>
          </p:nvPr>
        </p:nvSpPr>
        <p:spPr>
          <a:xfrm>
            <a:off x="3866125" y="2754775"/>
            <a:ext cx="49539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Use the diagram to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tan(</a:t>
            </a:r>
            <a:r>
              <a:rPr i="1" lang="en-GB" sz="1600"/>
              <a:t>θ</a:t>
            </a:r>
            <a:r>
              <a:rPr lang="en-GB" sz="1600"/>
              <a:t>) = 1.</a:t>
            </a:r>
            <a:endParaRPr sz="1600"/>
          </a:p>
        </p:txBody>
      </p:sp>
      <p:sp>
        <p:nvSpPr>
          <p:cNvPr id="1803" name="Google Shape;1803;p104"/>
          <p:cNvSpPr txBox="1"/>
          <p:nvPr>
            <p:ph idx="1" type="body"/>
          </p:nvPr>
        </p:nvSpPr>
        <p:spPr>
          <a:xfrm>
            <a:off x="3866125" y="3440575"/>
            <a:ext cx="4869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 Use the diagram to find the angle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600"/>
              <a:t>where</a:t>
            </a:r>
            <a:br>
              <a:rPr lang="en-GB" sz="1600"/>
            </a:br>
            <a:r>
              <a:rPr lang="en-GB" sz="1600"/>
              <a:t>    </a:t>
            </a:r>
            <a:r>
              <a:rPr lang="en-GB" sz="1600"/>
              <a:t>tan(</a:t>
            </a:r>
            <a:r>
              <a:rPr i="1" lang="en-GB" sz="1600"/>
              <a:t>θ</a:t>
            </a:r>
            <a:r>
              <a:rPr lang="en-GB" sz="1600"/>
              <a:t>) = 0.5</a:t>
            </a:r>
            <a:r>
              <a:rPr lang="en-GB" sz="1600"/>
              <a:t>.</a:t>
            </a:r>
            <a:endParaRPr sz="1400"/>
          </a:p>
        </p:txBody>
      </p:sp>
      <p:cxnSp>
        <p:nvCxnSpPr>
          <p:cNvPr id="1804" name="Google Shape;1804;p104"/>
          <p:cNvCxnSpPr/>
          <p:nvPr/>
        </p:nvCxnSpPr>
        <p:spPr>
          <a:xfrm>
            <a:off x="3106350" y="840950"/>
            <a:ext cx="0" cy="3969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5" name="Google Shape;1805;p104"/>
          <p:cNvSpPr txBox="1"/>
          <p:nvPr>
            <p:ph idx="1" type="body"/>
          </p:nvPr>
        </p:nvSpPr>
        <p:spPr>
          <a:xfrm>
            <a:off x="6855525" y="1849250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6" name="Google Shape;1806;p104"/>
          <p:cNvSpPr txBox="1"/>
          <p:nvPr>
            <p:ph idx="1" type="body"/>
          </p:nvPr>
        </p:nvSpPr>
        <p:spPr>
          <a:xfrm>
            <a:off x="6855525" y="2306450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7" name="Google Shape;1807;p104"/>
          <p:cNvSpPr txBox="1"/>
          <p:nvPr>
            <p:ph idx="1" type="body"/>
          </p:nvPr>
        </p:nvSpPr>
        <p:spPr>
          <a:xfrm>
            <a:off x="5285175" y="3087724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45°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8" name="Google Shape;1808;p104"/>
          <p:cNvSpPr txBox="1"/>
          <p:nvPr>
            <p:ph idx="1" type="body"/>
          </p:nvPr>
        </p:nvSpPr>
        <p:spPr>
          <a:xfrm>
            <a:off x="5437575" y="3746751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27°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9" name="Google Shape;1809;p104"/>
          <p:cNvSpPr txBox="1"/>
          <p:nvPr>
            <p:ph idx="1" type="body"/>
          </p:nvPr>
        </p:nvSpPr>
        <p:spPr>
          <a:xfrm>
            <a:off x="3830500" y="4185050"/>
            <a:ext cx="4630500" cy="6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vary slightly depending on how accurately they are read from the graph.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tangent</a:t>
            </a:r>
            <a:endParaRPr/>
          </a:p>
        </p:txBody>
      </p:sp>
      <p:pic>
        <p:nvPicPr>
          <p:cNvPr id="1815" name="Google Shape;1815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00" y="810000"/>
            <a:ext cx="3357579" cy="4016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16" name="Google Shape;1816;p105"/>
          <p:cNvGraphicFramePr/>
          <p:nvPr/>
        </p:nvGraphicFramePr>
        <p:xfrm>
          <a:off x="4208957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{FDFCCF7C-625F-4281-A7AD-6F072ADDF248}</a:tableStyleId>
              </a:tblPr>
              <a:tblGrid>
                <a:gridCol w="1099675"/>
                <a:gridCol w="1099675"/>
                <a:gridCol w="1099675"/>
                <a:gridCol w="1099675"/>
              </a:tblGrid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°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cos(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tan(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0" marR="0" marL="720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7" name="Google Shape;1817;p105"/>
          <p:cNvSpPr txBox="1"/>
          <p:nvPr>
            <p:ph idx="1" type="body"/>
          </p:nvPr>
        </p:nvSpPr>
        <p:spPr>
          <a:xfrm>
            <a:off x="3866125" y="3500643"/>
            <a:ext cx="4835100" cy="55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For each angle, divide the value of sin(</a:t>
            </a:r>
            <a:r>
              <a:rPr i="1" lang="en-GB" sz="1600"/>
              <a:t>θ</a:t>
            </a:r>
            <a:r>
              <a:rPr lang="en-GB" sz="1600"/>
              <a:t>) by </a:t>
            </a:r>
            <a:br>
              <a:rPr lang="en-GB" sz="1600"/>
            </a:br>
            <a:r>
              <a:rPr lang="en-GB" sz="1600"/>
              <a:t>    the value of cos(</a:t>
            </a:r>
            <a:r>
              <a:rPr i="1" lang="en-GB" sz="1600"/>
              <a:t>θ</a:t>
            </a:r>
            <a:r>
              <a:rPr lang="en-GB" sz="1600"/>
              <a:t>). What do you notice?</a:t>
            </a:r>
            <a:endParaRPr sz="1600"/>
          </a:p>
        </p:txBody>
      </p:sp>
      <p:sp>
        <p:nvSpPr>
          <p:cNvPr id="1818" name="Google Shape;1818;p105"/>
          <p:cNvSpPr txBox="1"/>
          <p:nvPr>
            <p:ph idx="4294967295" type="body"/>
          </p:nvPr>
        </p:nvSpPr>
        <p:spPr>
          <a:xfrm>
            <a:off x="4085031" y="4129959"/>
            <a:ext cx="4890900" cy="5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result of each division is approximately equal to the value of tan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i="1" lang="en-GB" sz="1800">
                <a:latin typeface="Kalam"/>
                <a:ea typeface="Kalam"/>
                <a:cs typeface="Kalam"/>
                <a:sym typeface="Kalam"/>
              </a:rPr>
              <a:t>θ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).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9" name="Google Shape;1819;p105"/>
          <p:cNvSpPr txBox="1"/>
          <p:nvPr>
            <p:ph idx="1" type="body"/>
          </p:nvPr>
        </p:nvSpPr>
        <p:spPr>
          <a:xfrm>
            <a:off x="3866125" y="773575"/>
            <a:ext cx="49539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2) a) Complete the table.</a:t>
            </a:r>
            <a:endParaRPr sz="1800"/>
          </a:p>
        </p:txBody>
      </p:sp>
      <p:sp>
        <p:nvSpPr>
          <p:cNvPr id="1820" name="Google Shape;1820;p105"/>
          <p:cNvSpPr txBox="1"/>
          <p:nvPr>
            <p:ph idx="1" type="body"/>
          </p:nvPr>
        </p:nvSpPr>
        <p:spPr>
          <a:xfrm>
            <a:off x="5395699" y="1665668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1" name="Google Shape;1821;p105"/>
          <p:cNvSpPr txBox="1"/>
          <p:nvPr>
            <p:ph idx="1" type="body"/>
          </p:nvPr>
        </p:nvSpPr>
        <p:spPr>
          <a:xfrm>
            <a:off x="6504375" y="1665668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0.64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2" name="Google Shape;1822;p105"/>
          <p:cNvSpPr txBox="1"/>
          <p:nvPr>
            <p:ph idx="1" type="body"/>
          </p:nvPr>
        </p:nvSpPr>
        <p:spPr>
          <a:xfrm>
            <a:off x="7595889" y="1665668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3" name="Google Shape;1823;p105"/>
          <p:cNvSpPr txBox="1"/>
          <p:nvPr>
            <p:ph idx="1" type="body"/>
          </p:nvPr>
        </p:nvSpPr>
        <p:spPr>
          <a:xfrm>
            <a:off x="5395699" y="2087524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0.87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4" name="Google Shape;1824;p105"/>
          <p:cNvSpPr txBox="1"/>
          <p:nvPr>
            <p:ph idx="1" type="body"/>
          </p:nvPr>
        </p:nvSpPr>
        <p:spPr>
          <a:xfrm>
            <a:off x="6504375" y="2087524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0.77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5" name="Google Shape;1825;p105"/>
          <p:cNvSpPr txBox="1"/>
          <p:nvPr>
            <p:ph idx="1" type="body"/>
          </p:nvPr>
        </p:nvSpPr>
        <p:spPr>
          <a:xfrm>
            <a:off x="7595889" y="2087524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0.64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6" name="Google Shape;1826;p105"/>
          <p:cNvSpPr txBox="1"/>
          <p:nvPr>
            <p:ph idx="1" type="body"/>
          </p:nvPr>
        </p:nvSpPr>
        <p:spPr>
          <a:xfrm>
            <a:off x="5395699" y="2529611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0.58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7" name="Google Shape;1827;p105"/>
          <p:cNvSpPr txBox="1"/>
          <p:nvPr>
            <p:ph idx="1" type="body"/>
          </p:nvPr>
        </p:nvSpPr>
        <p:spPr>
          <a:xfrm>
            <a:off x="6504375" y="2529611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0.84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8" name="Google Shape;1828;p105"/>
          <p:cNvSpPr txBox="1"/>
          <p:nvPr>
            <p:ph idx="1" type="body"/>
          </p:nvPr>
        </p:nvSpPr>
        <p:spPr>
          <a:xfrm>
            <a:off x="7595889" y="2529611"/>
            <a:ext cx="4641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1.19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9" name="Google Shape;1829;p105"/>
          <p:cNvSpPr txBox="1"/>
          <p:nvPr>
            <p:ph idx="1" type="body"/>
          </p:nvPr>
        </p:nvSpPr>
        <p:spPr>
          <a:xfrm>
            <a:off x="4211500" y="3102118"/>
            <a:ext cx="4630500" cy="6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vary depending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on accuracy.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 &#10;tan 9 &#10;Sin 9 &#10;9 &#10;cos 9 " id="1834" name="Google Shape;183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825" y="624152"/>
            <a:ext cx="2814776" cy="24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06"/>
          <p:cNvSpPr txBox="1"/>
          <p:nvPr>
            <p:ph idx="1" type="body"/>
          </p:nvPr>
        </p:nvSpPr>
        <p:spPr>
          <a:xfrm>
            <a:off x="324000" y="984027"/>
            <a:ext cx="8113800" cy="40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unit circle is a circle with a radius of 1 unit.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unit circle is centered on the origin.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sine</a:t>
            </a:r>
            <a:r>
              <a:rPr lang="en-GB" sz="1800"/>
              <a:t> of an angle is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-coordinate of the point                            where the radius has been rotated through that angle.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cosine</a:t>
            </a:r>
            <a:r>
              <a:rPr lang="en-GB" sz="1800"/>
              <a:t> of an angle is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-coordinate of the point                               where the radius has been rotated through that angle.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tangent</a:t>
            </a:r>
            <a:r>
              <a:rPr lang="en-GB" sz="1800"/>
              <a:t> (function) of an angle is the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-coordinate of the point where the extended radius intersects with the </a:t>
            </a:r>
            <a:r>
              <a:rPr b="1" lang="en-GB" sz="1800"/>
              <a:t>tangent</a:t>
            </a:r>
            <a:r>
              <a:rPr lang="en-GB" sz="1800"/>
              <a:t> (line) to the unit circle 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r>
              <a:rPr lang="en-GB" sz="1800"/>
              <a:t>).</a:t>
            </a:r>
            <a:endParaRPr sz="1800"/>
          </a:p>
        </p:txBody>
      </p:sp>
      <p:sp>
        <p:nvSpPr>
          <p:cNvPr id="1836" name="Google Shape;1836;p10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unit circle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842" name="Google Shape;1842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