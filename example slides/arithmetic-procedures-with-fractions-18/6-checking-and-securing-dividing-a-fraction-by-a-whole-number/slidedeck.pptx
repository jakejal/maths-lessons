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2" r:id="rId4"/>
    <p:sldMasterId id="214748377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2A8FC1-C4D5-4B53-BC34-5C94A1F7C70B}">
  <a:tblStyle styleId="{4A2A8FC1-C4D5-4B53-BC34-5C94A1F7C70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9" name="Google Shape;148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0" name="Google Shape;150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g29d43236d98_1_1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5" name="Google Shape;1505;g29d43236d98_1_1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29d43236d9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29d43236d9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9d43236d98_1_7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9d43236d98_1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29d43236d98_1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29d43236d98_1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g29d43236d98_1_8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3" name="Google Shape;1553;g29d43236d98_1_8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29d43236d98_1_24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9" name="Google Shape;1569;g29d43236d98_1_24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29d43236d98_1_8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29d43236d98_1_8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4" name="Shape 1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5" name="Google Shape;1605;g29d43236d98_1_2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6" name="Google Shape;1606;g29d43236d98_1_2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9d43236d98_1_2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9d43236d98_1_2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g29d43236d98_1_2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3" name="Google Shape;1643;g29d43236d98_1_2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9" name="Shape 1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0" name="Google Shape;1670;g29d43236d98_1_2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1" name="Google Shape;1671;g29d43236d98_1_2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g29d43236d98_1_25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9" name="Google Shape;1679;g29d43236d98_1_25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6" name="Shape 1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7" name="Google Shape;1687;g29d43236d98_3_1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g29d43236d98_3_1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7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29d43236d98_3_1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29d43236d98_3_1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8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29d43236d98_3_1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29d43236d98_3_1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0" name="Shape 1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1" name="Google Shape;1721;g29d43236d98_3_19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2" name="Google Shape;1722;g29d43236d98_3_19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4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29d43236d98_1_25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29d43236d98_1_25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2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g29d43236d98_1_2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4" name="Google Shape;1744;g29d43236d98_1_2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g29d43236d98_1_2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5" name="Google Shape;1785;g29d43236d98_1_2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29d43236d98_3_1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29d43236d98_3_1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g29d43236d98_1_25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9" name="Google Shape;1839;g29d43236d98_1_25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g29d43236d98_1_27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5" name="Google Shape;1855;g29d43236d98_1_27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g29d43236d98_1_29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4" name="Google Shape;1874;g29d43236d98_1_29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g29d43236d98_1_29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3" name="Google Shape;1893;g29d43236d98_1_29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3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4" name="Google Shape;1924;g29d43236d98_1_28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5" name="Google Shape;1925;g29d43236d98_1_28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3" name="Shape 1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Google Shape;1954;g29d43236d98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5" name="Google Shape;1955;g29d43236d98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9" name="Shape 1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" name="Google Shape;1990;g29d43236d98_1_2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1" name="Google Shape;1991;g29d43236d98_1_2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7" name="Shape 2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Google Shape;2008;g29d43236d98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9" name="Google Shape;2009;g29d43236d98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2" name="Shape 2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3" name="Google Shape;2023;g29d43236d98_3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4" name="Google Shape;2024;g29d43236d98_3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3" name="Shape 2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" name="Google Shape;2044;g29d43236d98_3_16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5" name="Google Shape;2045;g29d43236d98_3_1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1" name="Shape 2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Google Shape;2062;g29d43236d98_3_1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3" name="Google Shape;2063;g29d43236d98_3_1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5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g29d43236d98_3_1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7" name="Google Shape;2077;g29d43236d98_3_1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3" name="Shape 2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4" name="Google Shape;2094;g29d43236d98_3_1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5" name="Google Shape;2095;g29d43236d98_3_1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5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6" name="Google Shape;2106;g29d43236d98_3_1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7" name="Google Shape;2107;g29d43236d98_3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g29d43236d98_3_1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8" name="Google Shape;2128;g29d43236d98_3_1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g29d43236d98_3_1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6" name="Google Shape;2146;g29d43236d98_3_1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2" name="Shape 2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3" name="Google Shape;2163;g29d43236d98_3_1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4" name="Google Shape;2164;g29d43236d98_3_1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9" name="Google Shape;217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5" name="Shape 2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6" name="Google Shape;2186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7" name="Google Shape;2187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7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8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8.png"/><Relationship Id="rId4" Type="http://schemas.openxmlformats.org/officeDocument/2006/relationships/image" Target="../media/image33.png"/><Relationship Id="rId11" Type="http://schemas.openxmlformats.org/officeDocument/2006/relationships/image" Target="../media/image21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25.png"/><Relationship Id="rId4" Type="http://schemas.openxmlformats.org/officeDocument/2006/relationships/image" Target="../media/image78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21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78.png"/><Relationship Id="rId4" Type="http://schemas.openxmlformats.org/officeDocument/2006/relationships/image" Target="../media/image20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78.png"/><Relationship Id="rId4" Type="http://schemas.openxmlformats.org/officeDocument/2006/relationships/image" Target="../media/image33.png"/><Relationship Id="rId11" Type="http://schemas.openxmlformats.org/officeDocument/2006/relationships/image" Target="../media/image21.png"/><Relationship Id="rId10" Type="http://schemas.openxmlformats.org/officeDocument/2006/relationships/image" Target="../media/image37.png"/><Relationship Id="rId9" Type="http://schemas.openxmlformats.org/officeDocument/2006/relationships/image" Target="../media/image29.png"/><Relationship Id="rId5" Type="http://schemas.openxmlformats.org/officeDocument/2006/relationships/image" Target="../media/image20.png"/><Relationship Id="rId6" Type="http://schemas.openxmlformats.org/officeDocument/2006/relationships/image" Target="../media/image25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3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8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Google Shape;751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52" name="Google Shape;752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3" name="Google Shape;753;p65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4" name="Google Shape;754;p65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5" name="Google Shape;75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6" name="Google Shape;75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6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1" name="Google Shape;761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2" name="Google Shape;762;p66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3" name="Google Shape;7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5" name="Google Shape;765;p6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7" name="Google Shape;767;p6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8" name="Google Shape;76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0" name="Google Shape;770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2" name="Google Shape;772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6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7" name="Google Shape;777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8" name="Google Shape;778;p68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9" name="Google Shape;779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1" name="Google Shape;781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82" name="Google Shape;78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3" name="Google Shape;783;p68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4" name="Google Shape;784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8" name="Google Shape;788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9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0" name="Google Shape;790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2" name="Google Shape;792;p69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5" name="Google Shape;795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6" name="Google Shape;796;p70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7" name="Google Shape;797;p7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9" name="Google Shape;799;p7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0" name="Google Shape;800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01" name="Google Shape;801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3" name="Google Shape;803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5" name="Google Shape;805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8" name="Google Shape;808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0" name="Google Shape;81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3" name="Google Shape;813;p7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7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5" name="Google Shape;815;p7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6" name="Google Shape;816;p7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7" name="Google Shape;81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7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9" name="Google Shape;819;p7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20" name="Google Shape;820;p7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1" name="Google Shape;821;p72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22" name="Google Shape;822;p7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7" name="Google Shape;827;p7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8" name="Google Shape;828;p73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9" name="Google Shape;82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2" name="Google Shape;832;p7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4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5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5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8" name="Google Shape;838;p75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9" name="Google Shape;839;p75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0" name="Google Shape;840;p75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1" name="Google Shape;841;p75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42" name="Google Shape;842;p7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3" name="Google Shape;843;p7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4" name="Google Shape;844;p7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5" name="Google Shape;845;p7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6" name="Google Shape;846;p75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0" name="Google Shape;850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1" name="Google Shape;851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76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3" name="Google Shape;853;p76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4" name="Google Shape;854;p76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7" name="Google Shape;857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77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0" name="Google Shape;860;p77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1" name="Google Shape;861;p77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4" name="Google Shape;864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78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8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7" name="Google Shape;867;p78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8" name="Google Shape;868;p78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9" name="Google Shape;869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2" name="Google Shape;872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79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9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5" name="Google Shape;875;p79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6" name="Google Shape;876;p79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7" name="Google Shape;877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8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0" name="Google Shape;880;p8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80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80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4" name="Google Shape;884;p80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5" name="Google Shape;885;p80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6" name="Google Shape;886;p80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8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1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1" name="Google Shape;891;p81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81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3" name="Google Shape;893;p81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4" name="Google Shape;894;p81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5" name="Google Shape;895;p81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8" name="Google Shape;898;p82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82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0" name="Google Shape;900;p82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01" name="Google Shape;901;p82"/>
          <p:cNvCxnSpPr>
            <a:endCxn id="902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3" name="Google Shape;90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2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5" name="Google Shape;905;p82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2" name="Google Shape;902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82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82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3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3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3" name="Google Shape;913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83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3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6" name="Google Shape;916;p83"/>
          <p:cNvCxnSpPr>
            <a:endCxn id="917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7" name="Google Shape;917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83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0" name="Google Shape;920;p83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21" name="Google Shape;921;p83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22" name="Google Shape;922;p8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83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4" name="Google Shape;924;p83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83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6" name="Google Shape;926;p8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Google Shape;928;p84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4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4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3" name="Google Shape;933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84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4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6" name="Google Shape;936;p84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7" name="Google Shape;937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8" name="Google Shape;938;p8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84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1" name="Google Shape;941;p84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2" name="Google Shape;942;p84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3" name="Google Shape;943;p84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4" name="Google Shape;944;p8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84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6" name="Google Shape;946;p84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4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8" name="Google Shape;948;p84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0" name="Google Shape;950;p8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85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3" name="Google Shape;953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4" name="Google Shape;954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7" name="Google Shape;957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8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0" name="Google Shape;960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1" name="Google Shape;96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2" name="Google Shape;962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4" name="Google Shape;964;p8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8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7" name="Google Shape;967;p87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9" name="Google Shape;969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Google Shape;971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8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4" name="Google Shape;974;p88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6" name="Google Shape;976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9" name="Google Shape;979;p8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0" name="Google Shape;980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2" name="Google Shape;982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3" name="Google Shape;983;p89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4" name="Google Shape;984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5" name="Google Shape;985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8" name="Google Shape;98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9" name="Google Shape;989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2" name="Google Shape;992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9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5" name="Google Shape;995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6" name="Google Shape;99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7" name="Google Shape;997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8" name="Google Shape;998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00" name="Google Shape;1000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01" name="Google Shape;1001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3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91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5" name="Google Shape;1005;p9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91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8" name="Google Shape;1008;p91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9" name="Google Shape;1009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10" name="Google Shape;1010;p91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11" name="Google Shape;1011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91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3" name="Google Shape;1013;p91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4" name="Google Shape;10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5" name="Google Shape;1015;p91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92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8" name="Google Shape;1018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9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92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1" name="Google Shape;1021;p92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22" name="Google Shape;102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3" name="Google Shape;1023;p92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4" name="Google Shape;1024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2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6" name="Google Shape;1026;p92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7" name="Google Shape;102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8" name="Google Shape;1028;p92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5" name="Google Shape;1035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6" name="Google Shape;1036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7" name="Google Shape;1037;p93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3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9" name="Google Shape;103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40" name="Google Shape;1040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41" name="Google Shape;1041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3" name="Google Shape;104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5" name="Google Shape;1045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6" name="Google Shape;1046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7" name="Google Shape;1047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9" name="Google Shape;1049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50" name="Google Shape;1050;p9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1" name="Google Shape;1051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3" name="Google Shape;1053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9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5" name="Google Shape;1055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6" name="Google Shape;1056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7" name="Google Shape;1057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8" name="Google Shape;1058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9" name="Google Shape;1059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60" name="Google Shape;1060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1" name="Google Shape;1061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2" name="Google Shape;1062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3" name="Google Shape;1063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4" name="Google Shape;1064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5" name="Google Shape;1065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6" name="Google Shape;1066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8" name="Google Shape;1068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9" name="Google Shape;106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0" name="Google Shape;107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71" name="Google Shape;1071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2" name="Google Shape;1072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6" name="Google Shape;1076;p9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95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9" name="Google Shape;1079;p95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0" name="Google Shape;1080;p95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1" name="Google Shape;1081;p95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2" name="Google Shape;1082;p95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3" name="Google Shape;1083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6" name="Google Shape;1086;p95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7" name="Google Shape;1087;p9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8" name="Google Shape;1088;p95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9" name="Google Shape;108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91" name="Google Shape;1091;p95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92" name="Google Shape;109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3" name="Google Shape;109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4" name="Google Shape;1094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5" name="Google Shape;1095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95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0" name="Google Shape;1100;p9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96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2" name="Google Shape;1102;p96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3" name="Google Shape;1103;p96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4" name="Google Shape;1104;p96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5" name="Google Shape;1105;p96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6" name="Google Shape;1106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7" name="Google Shape;1107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8" name="Google Shape;1108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9" name="Google Shape;1109;p96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10" name="Google Shape;1110;p96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11" name="Google Shape;1111;p96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12" name="Google Shape;1112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4" name="Google Shape;1114;p96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5" name="Google Shape;1115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7" name="Google Shape;1117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8" name="Google Shape;1118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9" name="Google Shape;1119;p96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0" name="Google Shape;1120;p96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2" name="Google Shape;1122;p9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5" name="Google Shape;112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6" name="Google Shape;1126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8" name="Google Shape;1128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9" name="Google Shape;1129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30" name="Google Shape;1130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31" name="Google Shape;1131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32" name="Google Shape;1132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5" name="Google Shape;1135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7" name="Google Shape;1137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8" name="Google Shape;1138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9" name="Google Shape;1139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1" name="Google Shape;1141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4" name="Google Shape;1144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7" name="Google Shape;1147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8" name="Google Shape;1148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9" name="Google Shape;1149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50" name="Google Shape;1150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51" name="Google Shape;1151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4" name="Google Shape;1154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7" name="Google Shape;1157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8" name="Google Shape;1158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0" name="Google Shape;1160;p9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99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3" name="Google Shape;1163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4" name="Google Shape;1164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5" name="Google Shape;1165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6" name="Google Shape;1166;p99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7" name="Google Shape;1167;p99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8" name="Google Shape;1168;p99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9" name="Google Shape;1169;p99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70" name="Google Shape;1170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9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3" name="Google Shape;1173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5" name="Google Shape;1175;p99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6" name="Google Shape;117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7" name="Google Shape;117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9" name="Google Shape;1179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10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10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82" name="Google Shape;118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3" name="Google Shape;1183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5" name="Google Shape;1185;p100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6" name="Google Shape;1186;p100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7" name="Google Shape;1187;p100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8" name="Google Shape;1188;p100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9" name="Google Shape;118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100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92" name="Google Shape;119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4" name="Google Shape;1194;p100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5" name="Google Shape;119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6" name="Google Shape;119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8" name="Google Shape;1198;p10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0" name="Google Shape;1200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01" name="Google Shape;1201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3" name="Google Shape;1203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4" name="Google Shape;1204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5" name="Google Shape;1205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6" name="Google Shape;1206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7" name="Google Shape;1207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8" name="Google Shape;1208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9" name="Google Shape;1209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12" name="Google Shape;121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5" name="Google Shape;121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7" name="Google Shape;1217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8" name="Google Shape;121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9" name="Google Shape;121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1" name="Google Shape;1221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4" name="Google Shape;122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7" name="Google Shape;1227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8" name="Google Shape;1228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9" name="Google Shape;1229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30" name="Google Shape;1230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31" name="Google Shape;1231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41" name="Google Shape;124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2" name="Google Shape;124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4" name="Google Shape;1244;p10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103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7" name="Google Shape;1247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9" name="Google Shape;1249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50" name="Google Shape;1250;p103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1" name="Google Shape;1251;p103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2" name="Google Shape;1252;p103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3" name="Google Shape;1253;p103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4" name="Google Shape;1254;p103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3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3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3" name="Google Shape;1263;p103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4" name="Google Shape;1264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5" name="Google Shape;1265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04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70" name="Google Shape;1270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3" name="Google Shape;1273;p104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4" name="Google Shape;1274;p104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5" name="Google Shape;1275;p104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6" name="Google Shape;1276;p104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7" name="Google Shape;1277;p104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4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4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6" name="Google Shape;1286;p104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7" name="Google Shape;1287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8" name="Google Shape;1288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" name="Google Shape;1290;p10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3" name="Google Shape;129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4" name="Google Shape;1294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6" name="Google Shape;1296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7" name="Google Shape;1297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8" name="Google Shape;1298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9" name="Google Shape;1299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5" name="Google Shape;1305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6" name="Google Shape;1306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7" name="Google Shape;1307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9" name="Google Shape;1309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12" name="Google Shape;1312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3" name="Google Shape;1313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5" name="Google Shape;1315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6" name="Google Shape;1316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7" name="Google Shape;1317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8" name="Google Shape;1318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5" name="Google Shape;1325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6" name="Google Shape;1326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8" name="Google Shape;1328;p10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10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31" name="Google Shape;1331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2" name="Google Shape;1332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10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4" name="Google Shape;1334;p107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7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7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7" name="Google Shape;1337;p107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7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3" name="Google Shape;1343;p107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4" name="Google Shape;1344;p10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5" name="Google Shape;1345;p10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6" name="Shape 1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7" name="Google Shape;1347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10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50" name="Google Shape;1350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1" name="Google Shape;1351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10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3" name="Google Shape;1353;p108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4" name="Google Shape;1354;p108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5" name="Google Shape;1355;p108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6" name="Google Shape;1356;p108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8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2" name="Google Shape;1362;p108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3" name="Google Shape;1363;p10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4" name="Google Shape;1364;p10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6" name="Google Shape;1366;p10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9" name="Google Shape;1369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1" name="Google Shape;1371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72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3" name="Google Shape;1373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1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5" name="Google Shape;1375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6" name="Google Shape;1376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8" name="Google Shape;1378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0" name="Google Shape;1380;p11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2" name="Google Shape;1382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3" name="Google Shape;1383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4" name="Google Shape;1384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5" name="Google Shape;1385;p11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7" name="Google Shape;1387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9" name="Google Shape;1389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90" name="Google Shape;1390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4" name="Google Shape;1394;p1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7" name="Google Shape;1397;p113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8" name="Google Shape;1398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9" name="Google Shape;139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40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2" name="Google Shape;1402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11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5" name="Google Shape;1405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6" name="Google Shape;1406;p114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7" name="Google Shape;1407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8" name="Google Shape;1408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0" name="Google Shape;1410;p11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2" name="Google Shape;1412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3" name="Google Shape;1413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4" name="Google Shape;1414;p115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5" name="Google Shape;1415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6" name="Google Shape;141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8" name="Google Shape;1418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9" name="Google Shape;1419;p1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0" name="Google Shape;1420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1" name="Google Shape;1421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2" name="Google Shape;1422;p116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3" name="Google Shape;1423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4" name="Google Shape;142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6" name="Google Shape;1426;p1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7" name="Google Shape;1427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9" name="Google Shape;1429;p11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0" name="Google Shape;1430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31" name="Google Shape;1431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" name="Google Shape;1434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5" name="Google Shape;1435;p11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7" name="Google Shape;1437;p118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8" name="Google Shape;1438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9" name="Google Shape;1439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0" name="Google Shape;144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2" name="Google Shape;1442;p11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3" name="Google Shape;1443;p11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11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5" name="Google Shape;1445;p119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6" name="Google Shape;1446;p11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7" name="Google Shape;1447;p11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8" name="Google Shape;1448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0" name="Google Shape;1450;p12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1" name="Google Shape;1451;p12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1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3" name="Google Shape;1453;p120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4" name="Google Shape;1454;p12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5" name="Google Shape;1455;p12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6" name="Google Shape;1456;p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121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9" name="Google Shape;1459;p121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0" name="Google Shape;1460;p121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1" name="Google Shape;1461;p121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2" name="Google Shape;1462;p12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22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5" name="Google Shape;1465;p12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6" name="Google Shape;1466;p122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7" name="Google Shape;1467;p122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8" name="Google Shape;1468;p122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Google Shape;147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71" name="Google Shape;1471;p123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24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4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124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4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4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4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9" name="Google Shape;1479;p124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0" name="Google Shape;1480;p124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1" name="Google Shape;1481;p124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Google Shape;1483;p1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4" name="Google Shape;1484;p125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26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01.xml"/><Relationship Id="rId42" Type="http://schemas.openxmlformats.org/officeDocument/2006/relationships/slideLayout" Target="../slideLayouts/slideLayout103.xml"/><Relationship Id="rId41" Type="http://schemas.openxmlformats.org/officeDocument/2006/relationships/slideLayout" Target="../slideLayouts/slideLayout102.xml"/><Relationship Id="rId44" Type="http://schemas.openxmlformats.org/officeDocument/2006/relationships/slideLayout" Target="../slideLayouts/slideLayout105.xml"/><Relationship Id="rId43" Type="http://schemas.openxmlformats.org/officeDocument/2006/relationships/slideLayout" Target="../slideLayouts/slideLayout104.xml"/><Relationship Id="rId46" Type="http://schemas.openxmlformats.org/officeDocument/2006/relationships/slideLayout" Target="../slideLayouts/slideLayout107.xml"/><Relationship Id="rId45" Type="http://schemas.openxmlformats.org/officeDocument/2006/relationships/slideLayout" Target="../slideLayouts/slideLayout106.xml"/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Relationship Id="rId48" Type="http://schemas.openxmlformats.org/officeDocument/2006/relationships/slideLayout" Target="../slideLayouts/slideLayout109.xml"/><Relationship Id="rId47" Type="http://schemas.openxmlformats.org/officeDocument/2006/relationships/slideLayout" Target="../slideLayouts/slideLayout108.xml"/><Relationship Id="rId49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66.xml"/><Relationship Id="rId6" Type="http://schemas.openxmlformats.org/officeDocument/2006/relationships/slideLayout" Target="../slideLayouts/slideLayout67.xml"/><Relationship Id="rId7" Type="http://schemas.openxmlformats.org/officeDocument/2006/relationships/slideLayout" Target="../slideLayouts/slideLayout68.xml"/><Relationship Id="rId8" Type="http://schemas.openxmlformats.org/officeDocument/2006/relationships/slideLayout" Target="../slideLayouts/slideLayout69.xml"/><Relationship Id="rId31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4.xml"/><Relationship Id="rId32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6.xml"/><Relationship Id="rId34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98.xml"/><Relationship Id="rId36" Type="http://schemas.openxmlformats.org/officeDocument/2006/relationships/slideLayout" Target="../slideLayouts/slideLayout97.xml"/><Relationship Id="rId39" Type="http://schemas.openxmlformats.org/officeDocument/2006/relationships/slideLayout" Target="../slideLayouts/slideLayout100.xml"/><Relationship Id="rId38" Type="http://schemas.openxmlformats.org/officeDocument/2006/relationships/slideLayout" Target="../slideLayouts/slideLayout99.xml"/><Relationship Id="rId62" Type="http://schemas.openxmlformats.org/officeDocument/2006/relationships/slideLayout" Target="../slideLayouts/slideLayout123.xml"/><Relationship Id="rId61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81.xml"/><Relationship Id="rId64" Type="http://schemas.openxmlformats.org/officeDocument/2006/relationships/theme" Target="../theme/theme3.xml"/><Relationship Id="rId63" Type="http://schemas.openxmlformats.org/officeDocument/2006/relationships/slideLayout" Target="../slideLayouts/slideLayout124.xml"/><Relationship Id="rId22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82.xml"/><Relationship Id="rId24" Type="http://schemas.openxmlformats.org/officeDocument/2006/relationships/slideLayout" Target="../slideLayouts/slideLayout85.xml"/><Relationship Id="rId23" Type="http://schemas.openxmlformats.org/officeDocument/2006/relationships/slideLayout" Target="../slideLayouts/slideLayout84.xml"/><Relationship Id="rId60" Type="http://schemas.openxmlformats.org/officeDocument/2006/relationships/slideLayout" Target="../slideLayouts/slideLayout121.xml"/><Relationship Id="rId26" Type="http://schemas.openxmlformats.org/officeDocument/2006/relationships/slideLayout" Target="../slideLayouts/slideLayout87.xml"/><Relationship Id="rId25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89.xml"/><Relationship Id="rId27" Type="http://schemas.openxmlformats.org/officeDocument/2006/relationships/slideLayout" Target="../slideLayouts/slideLayout88.xml"/><Relationship Id="rId29" Type="http://schemas.openxmlformats.org/officeDocument/2006/relationships/slideLayout" Target="../slideLayouts/slideLayout90.xml"/><Relationship Id="rId51" Type="http://schemas.openxmlformats.org/officeDocument/2006/relationships/slideLayout" Target="../slideLayouts/slideLayout112.xml"/><Relationship Id="rId50" Type="http://schemas.openxmlformats.org/officeDocument/2006/relationships/slideLayout" Target="../slideLayouts/slideLayout111.xml"/><Relationship Id="rId53" Type="http://schemas.openxmlformats.org/officeDocument/2006/relationships/slideLayout" Target="../slideLayouts/slideLayout114.xml"/><Relationship Id="rId5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72.xml"/><Relationship Id="rId55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71.xml"/><Relationship Id="rId5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74.xml"/><Relationship Id="rId57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73.xml"/><Relationship Id="rId5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76.xml"/><Relationship Id="rId59" Type="http://schemas.openxmlformats.org/officeDocument/2006/relationships/slideLayout" Target="../slideLayouts/slideLayout120.xml"/><Relationship Id="rId14" Type="http://schemas.openxmlformats.org/officeDocument/2006/relationships/slideLayout" Target="../slideLayouts/slideLayout75.xml"/><Relationship Id="rId5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78.xml"/><Relationship Id="rId16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6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8" name="Google Shape;748;p64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9" name="Google Shape;749;p6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  <p:sldLayoutId id="2147483726" r:id="rId18"/>
    <p:sldLayoutId id="2147483727" r:id="rId19"/>
    <p:sldLayoutId id="2147483728" r:id="rId20"/>
    <p:sldLayoutId id="2147483729" r:id="rId21"/>
    <p:sldLayoutId id="2147483730" r:id="rId22"/>
    <p:sldLayoutId id="2147483731" r:id="rId23"/>
    <p:sldLayoutId id="2147483732" r:id="rId24"/>
    <p:sldLayoutId id="2147483733" r:id="rId25"/>
    <p:sldLayoutId id="2147483734" r:id="rId26"/>
    <p:sldLayoutId id="2147483735" r:id="rId27"/>
    <p:sldLayoutId id="2147483736" r:id="rId28"/>
    <p:sldLayoutId id="2147483737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47" r:id="rId39"/>
    <p:sldLayoutId id="2147483748" r:id="rId40"/>
    <p:sldLayoutId id="2147483749" r:id="rId41"/>
    <p:sldLayoutId id="2147483750" r:id="rId42"/>
    <p:sldLayoutId id="2147483751" r:id="rId43"/>
    <p:sldLayoutId id="2147483752" r:id="rId44"/>
    <p:sldLayoutId id="2147483753" r:id="rId45"/>
    <p:sldLayoutId id="2147483754" r:id="rId46"/>
    <p:sldLayoutId id="2147483755" r:id="rId47"/>
    <p:sldLayoutId id="2147483756" r:id="rId48"/>
    <p:sldLayoutId id="2147483757" r:id="rId49"/>
    <p:sldLayoutId id="2147483758" r:id="rId50"/>
    <p:sldLayoutId id="2147483759" r:id="rId51"/>
    <p:sldLayoutId id="2147483760" r:id="rId52"/>
    <p:sldLayoutId id="2147483761" r:id="rId53"/>
    <p:sldLayoutId id="2147483762" r:id="rId54"/>
    <p:sldLayoutId id="2147483763" r:id="rId55"/>
    <p:sldLayoutId id="2147483764" r:id="rId56"/>
    <p:sldLayoutId id="2147483765" r:id="rId57"/>
    <p:sldLayoutId id="2147483766" r:id="rId58"/>
    <p:sldLayoutId id="2147483767" r:id="rId59"/>
    <p:sldLayoutId id="2147483768" r:id="rId60"/>
    <p:sldLayoutId id="2147483769" r:id="rId61"/>
    <p:sldLayoutId id="2147483770" r:id="rId62"/>
    <p:sldLayoutId id="2147483771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5.png"/><Relationship Id="rId4" Type="http://schemas.openxmlformats.org/officeDocument/2006/relationships/image" Target="../media/image90.png"/><Relationship Id="rId9" Type="http://schemas.openxmlformats.org/officeDocument/2006/relationships/image" Target="../media/image102.png"/><Relationship Id="rId5" Type="http://schemas.openxmlformats.org/officeDocument/2006/relationships/image" Target="../media/image94.png"/><Relationship Id="rId6" Type="http://schemas.openxmlformats.org/officeDocument/2006/relationships/image" Target="../media/image97.png"/><Relationship Id="rId7" Type="http://schemas.openxmlformats.org/officeDocument/2006/relationships/image" Target="../media/image104.png"/><Relationship Id="rId8" Type="http://schemas.openxmlformats.org/officeDocument/2006/relationships/image" Target="../media/image100.png"/><Relationship Id="rId11" Type="http://schemas.openxmlformats.org/officeDocument/2006/relationships/image" Target="../media/image101.png"/><Relationship Id="rId10" Type="http://schemas.openxmlformats.org/officeDocument/2006/relationships/image" Target="../media/image96.png"/><Relationship Id="rId13" Type="http://schemas.openxmlformats.org/officeDocument/2006/relationships/image" Target="../media/image99.png"/><Relationship Id="rId12" Type="http://schemas.openxmlformats.org/officeDocument/2006/relationships/image" Target="../media/image98.png"/><Relationship Id="rId14" Type="http://schemas.openxmlformats.org/officeDocument/2006/relationships/image" Target="../media/image10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5.png"/><Relationship Id="rId4" Type="http://schemas.openxmlformats.org/officeDocument/2006/relationships/image" Target="../media/image10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5.png"/><Relationship Id="rId4" Type="http://schemas.openxmlformats.org/officeDocument/2006/relationships/image" Target="../media/image106.png"/><Relationship Id="rId5" Type="http://schemas.openxmlformats.org/officeDocument/2006/relationships/image" Target="../media/image107.png"/><Relationship Id="rId6" Type="http://schemas.openxmlformats.org/officeDocument/2006/relationships/image" Target="../media/image1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2.png"/><Relationship Id="rId4" Type="http://schemas.openxmlformats.org/officeDocument/2006/relationships/image" Target="../media/image10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6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0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9.png"/><Relationship Id="rId4" Type="http://schemas.openxmlformats.org/officeDocument/2006/relationships/image" Target="../media/image110.png"/><Relationship Id="rId5" Type="http://schemas.openxmlformats.org/officeDocument/2006/relationships/image" Target="../media/image111.png"/><Relationship Id="rId6" Type="http://schemas.openxmlformats.org/officeDocument/2006/relationships/image" Target="../media/image109.png"/><Relationship Id="rId7" Type="http://schemas.openxmlformats.org/officeDocument/2006/relationships/image" Target="../media/image122.png"/><Relationship Id="rId8" Type="http://schemas.openxmlformats.org/officeDocument/2006/relationships/image" Target="../media/image1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7.png"/><Relationship Id="rId4" Type="http://schemas.openxmlformats.org/officeDocument/2006/relationships/image" Target="../media/image1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6.png"/><Relationship Id="rId4" Type="http://schemas.openxmlformats.org/officeDocument/2006/relationships/image" Target="../media/image9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7.png"/><Relationship Id="rId4" Type="http://schemas.openxmlformats.org/officeDocument/2006/relationships/image" Target="../media/image1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5.png"/><Relationship Id="rId4" Type="http://schemas.openxmlformats.org/officeDocument/2006/relationships/image" Target="../media/image120.png"/><Relationship Id="rId5" Type="http://schemas.openxmlformats.org/officeDocument/2006/relationships/image" Target="../media/image1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6.png"/><Relationship Id="rId4" Type="http://schemas.openxmlformats.org/officeDocument/2006/relationships/image" Target="../media/image129.png"/><Relationship Id="rId5" Type="http://schemas.openxmlformats.org/officeDocument/2006/relationships/image" Target="../media/image1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1.png"/><Relationship Id="rId4" Type="http://schemas.openxmlformats.org/officeDocument/2006/relationships/image" Target="../media/image130.png"/><Relationship Id="rId5" Type="http://schemas.openxmlformats.org/officeDocument/2006/relationships/image" Target="../media/image13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6.png"/><Relationship Id="rId4" Type="http://schemas.openxmlformats.org/officeDocument/2006/relationships/image" Target="../media/image134.png"/><Relationship Id="rId5" Type="http://schemas.openxmlformats.org/officeDocument/2006/relationships/image" Target="../media/image133.png"/><Relationship Id="rId6" Type="http://schemas.openxmlformats.org/officeDocument/2006/relationships/image" Target="../media/image135.png"/><Relationship Id="rId7" Type="http://schemas.openxmlformats.org/officeDocument/2006/relationships/image" Target="../media/image137.png"/><Relationship Id="rId8" Type="http://schemas.openxmlformats.org/officeDocument/2006/relationships/image" Target="../media/image1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6.png"/><Relationship Id="rId4" Type="http://schemas.openxmlformats.org/officeDocument/2006/relationships/image" Target="../media/image1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8.png"/><Relationship Id="rId4" Type="http://schemas.openxmlformats.org/officeDocument/2006/relationships/image" Target="../media/image13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9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9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Relationship Id="rId6" Type="http://schemas.openxmlformats.org/officeDocument/2006/relationships/image" Target="../media/image1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0.png"/><Relationship Id="rId4" Type="http://schemas.openxmlformats.org/officeDocument/2006/relationships/image" Target="../media/image143.png"/><Relationship Id="rId5" Type="http://schemas.openxmlformats.org/officeDocument/2006/relationships/image" Target="../media/image139.png"/><Relationship Id="rId6" Type="http://schemas.openxmlformats.org/officeDocument/2006/relationships/image" Target="../media/image141.png"/><Relationship Id="rId7" Type="http://schemas.openxmlformats.org/officeDocument/2006/relationships/image" Target="../media/image142.png"/><Relationship Id="rId8" Type="http://schemas.openxmlformats.org/officeDocument/2006/relationships/image" Target="../media/image14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9.png"/><Relationship Id="rId4" Type="http://schemas.openxmlformats.org/officeDocument/2006/relationships/image" Target="../media/image139.png"/><Relationship Id="rId5" Type="http://schemas.openxmlformats.org/officeDocument/2006/relationships/image" Target="../media/image151.png"/><Relationship Id="rId6" Type="http://schemas.openxmlformats.org/officeDocument/2006/relationships/image" Target="../media/image152.png"/><Relationship Id="rId7" Type="http://schemas.openxmlformats.org/officeDocument/2006/relationships/image" Target="../media/image14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8.png"/><Relationship Id="rId4" Type="http://schemas.openxmlformats.org/officeDocument/2006/relationships/image" Target="../media/image14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7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7.png"/><Relationship Id="rId4" Type="http://schemas.openxmlformats.org/officeDocument/2006/relationships/image" Target="../media/image15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5.png"/><Relationship Id="rId4" Type="http://schemas.openxmlformats.org/officeDocument/2006/relationships/image" Target="../media/image15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0.png"/><Relationship Id="rId4" Type="http://schemas.openxmlformats.org/officeDocument/2006/relationships/image" Target="../media/image163.png"/><Relationship Id="rId5" Type="http://schemas.openxmlformats.org/officeDocument/2006/relationships/image" Target="../media/image162.png"/><Relationship Id="rId6" Type="http://schemas.openxmlformats.org/officeDocument/2006/relationships/image" Target="../media/image16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5.png"/><Relationship Id="rId4" Type="http://schemas.openxmlformats.org/officeDocument/2006/relationships/image" Target="../media/image164.png"/><Relationship Id="rId5" Type="http://schemas.openxmlformats.org/officeDocument/2006/relationships/image" Target="../media/image16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9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60.png"/><Relationship Id="rId4" Type="http://schemas.openxmlformats.org/officeDocument/2006/relationships/image" Target="../media/image163.png"/><Relationship Id="rId5" Type="http://schemas.openxmlformats.org/officeDocument/2006/relationships/image" Target="../media/image162.png"/><Relationship Id="rId6" Type="http://schemas.openxmlformats.org/officeDocument/2006/relationships/image" Target="../media/image16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5.png"/><Relationship Id="rId4" Type="http://schemas.openxmlformats.org/officeDocument/2006/relationships/image" Target="../media/image164.png"/><Relationship Id="rId5" Type="http://schemas.openxmlformats.org/officeDocument/2006/relationships/image" Target="../media/image16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2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dividing a fraction by a whole number</a:t>
            </a:r>
            <a:endParaRPr/>
          </a:p>
        </p:txBody>
      </p:sp>
      <p:sp>
        <p:nvSpPr>
          <p:cNvPr id="1492" name="Google Shape;1492;p127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Arithmetic procedures with fractions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128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29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the mathematical structures that underpin the division of fractions to divide a fraction by a whole number.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p130"/>
          <p:cNvSpPr txBox="1"/>
          <p:nvPr>
            <p:ph idx="1" type="subTitle"/>
          </p:nvPr>
        </p:nvSpPr>
        <p:spPr>
          <a:xfrm>
            <a:off x="324000" y="86460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lowest common multiple (LCM) is the lowest number that is a multiple of two or more numbers.</a:t>
            </a:r>
            <a:endParaRPr/>
          </a:p>
        </p:txBody>
      </p:sp>
      <p:sp>
        <p:nvSpPr>
          <p:cNvPr id="1508" name="Google Shape;1508;p130"/>
          <p:cNvSpPr txBox="1"/>
          <p:nvPr>
            <p:ph idx="1" type="subTitle"/>
          </p:nvPr>
        </p:nvSpPr>
        <p:spPr>
          <a:xfrm>
            <a:off x="324000" y="193140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The LCM of 3 and 4 is 12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LCM of 4 and 10 is 20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131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sp>
        <p:nvSpPr>
          <p:cNvPr id="1514" name="Google Shape;1514;p131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515" name="Google Shape;1515;p131"/>
          <p:cNvSpPr txBox="1"/>
          <p:nvPr>
            <p:ph idx="3" type="title"/>
          </p:nvPr>
        </p:nvSpPr>
        <p:spPr>
          <a:xfrm>
            <a:off x="324000" y="657600"/>
            <a:ext cx="8073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dividing a fraction by a whole number</a:t>
            </a:r>
            <a:endParaRPr/>
          </a:p>
        </p:txBody>
      </p:sp>
      <p:pic>
        <p:nvPicPr>
          <p:cNvPr id="1516" name="Google Shape;1516;p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41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32"/>
          <p:cNvSpPr txBox="1"/>
          <p:nvPr>
            <p:ph idx="1" type="body"/>
          </p:nvPr>
        </p:nvSpPr>
        <p:spPr>
          <a:xfrm>
            <a:off x="324000" y="759300"/>
            <a:ext cx="8237700" cy="9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use fractions in everyday life as fractions are useful when dividing quantities, such as money, time or food.</a:t>
            </a:r>
            <a:endParaRPr/>
          </a:p>
        </p:txBody>
      </p:sp>
      <p:sp>
        <p:nvSpPr>
          <p:cNvPr id="1522" name="Google Shape;1522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pic>
        <p:nvPicPr>
          <p:cNvPr id="1523" name="Google Shape;1523;p132"/>
          <p:cNvPicPr preferRelativeResize="0"/>
          <p:nvPr/>
        </p:nvPicPr>
        <p:blipFill rotWithShape="1">
          <a:blip r:embed="rId3">
            <a:alphaModFix/>
          </a:blip>
          <a:srcRect b="50236" l="0" r="0" t="0"/>
          <a:stretch/>
        </p:blipFill>
        <p:spPr>
          <a:xfrm>
            <a:off x="5926375" y="2160000"/>
            <a:ext cx="2451428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4" name="Google Shape;1524;p132"/>
          <p:cNvSpPr txBox="1"/>
          <p:nvPr>
            <p:ph idx="1" type="body"/>
          </p:nvPr>
        </p:nvSpPr>
        <p:spPr>
          <a:xfrm>
            <a:off x="324000" y="3561000"/>
            <a:ext cx="8237700" cy="97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Sometimes, we are not even aware we are using fractions and division </a:t>
            </a:r>
            <a:r>
              <a:rPr lang="en-GB"/>
              <a:t>when we are given everyday life questions. </a:t>
            </a:r>
            <a:endParaRPr/>
          </a:p>
        </p:txBody>
      </p:sp>
      <p:sp>
        <p:nvSpPr>
          <p:cNvPr id="1525" name="Google Shape;1525;p132"/>
          <p:cNvSpPr txBox="1"/>
          <p:nvPr/>
        </p:nvSpPr>
        <p:spPr>
          <a:xfrm>
            <a:off x="400200" y="1729350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32"/>
          <p:cNvSpPr txBox="1"/>
          <p:nvPr/>
        </p:nvSpPr>
        <p:spPr>
          <a:xfrm>
            <a:off x="3434825" y="1729350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132"/>
          <p:cNvSpPr txBox="1"/>
          <p:nvPr/>
        </p:nvSpPr>
        <p:spPr>
          <a:xfrm>
            <a:off x="6621850" y="1729350"/>
            <a:ext cx="13992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Example</a:t>
            </a:r>
            <a:endParaRPr sz="18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28" name="Google Shape;1528;p132"/>
          <p:cNvGrpSpPr/>
          <p:nvPr/>
        </p:nvGrpSpPr>
        <p:grpSpPr>
          <a:xfrm>
            <a:off x="3368375" y="2097854"/>
            <a:ext cx="1125624" cy="1016611"/>
            <a:chOff x="152400" y="152400"/>
            <a:chExt cx="5360113" cy="4838701"/>
          </a:xfrm>
        </p:grpSpPr>
        <p:pic>
          <p:nvPicPr>
            <p:cNvPr id="1529" name="Google Shape;1529;p1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52400" y="152400"/>
              <a:ext cx="5360113" cy="4838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0" name="Google Shape;1530;p13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395209">
              <a:off x="2661605" y="1902723"/>
              <a:ext cx="1221032" cy="633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1" name="Google Shape;1531;p13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-2341532">
              <a:off x="2372839" y="1705806"/>
              <a:ext cx="629517" cy="74396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32" name="Google Shape;1532;p1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1066" y="2244624"/>
            <a:ext cx="234072" cy="23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3" name="Google Shape;1533;p1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35433" y="2210550"/>
            <a:ext cx="309232" cy="30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4" name="Google Shape;1534;p1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16963" y="2261254"/>
            <a:ext cx="205797" cy="205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1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30576" y="2225959"/>
            <a:ext cx="274814" cy="2742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1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9225" y="2627754"/>
            <a:ext cx="250072" cy="25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1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5028" y="2589523"/>
            <a:ext cx="326734" cy="326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8" name="Google Shape;1538;p1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71092" y="2604075"/>
            <a:ext cx="296871" cy="297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9" name="Google Shape;1539;p13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87291" y="2571564"/>
            <a:ext cx="364608" cy="3641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33"/>
          <p:cNvSpPr txBox="1"/>
          <p:nvPr>
            <p:ph idx="1" type="body"/>
          </p:nvPr>
        </p:nvSpPr>
        <p:spPr>
          <a:xfrm>
            <a:off x="324000" y="683100"/>
            <a:ext cx="8237700" cy="78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is a </a:t>
            </a:r>
            <a:r>
              <a:rPr lang="en-GB"/>
              <a:t>chocolate bar. The chocolate bar has 16 equal pieces.</a:t>
            </a:r>
            <a:endParaRPr/>
          </a:p>
        </p:txBody>
      </p:sp>
      <p:sp>
        <p:nvSpPr>
          <p:cNvPr id="1545" name="Google Shape;1545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pic>
        <p:nvPicPr>
          <p:cNvPr id="1546" name="Google Shape;1546;p133"/>
          <p:cNvPicPr preferRelativeResize="0"/>
          <p:nvPr/>
        </p:nvPicPr>
        <p:blipFill rotWithShape="1">
          <a:blip r:embed="rId3">
            <a:alphaModFix/>
          </a:blip>
          <a:srcRect b="50236" l="0" r="0" t="0"/>
          <a:stretch/>
        </p:blipFill>
        <p:spPr>
          <a:xfrm>
            <a:off x="2467375" y="2497150"/>
            <a:ext cx="4056850" cy="10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33"/>
          <p:cNvSpPr txBox="1"/>
          <p:nvPr/>
        </p:nvSpPr>
        <p:spPr>
          <a:xfrm>
            <a:off x="256975" y="1463850"/>
            <a:ext cx="8014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Oak teacher has a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chocolate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bar takes one piece and shares the rest equally among five students.</a:t>
            </a:r>
            <a:endParaRPr/>
          </a:p>
        </p:txBody>
      </p:sp>
      <p:sp>
        <p:nvSpPr>
          <p:cNvPr id="1548" name="Google Shape;1548;p133"/>
          <p:cNvSpPr txBox="1"/>
          <p:nvPr/>
        </p:nvSpPr>
        <p:spPr>
          <a:xfrm>
            <a:off x="369600" y="3780000"/>
            <a:ext cx="8014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pieces will she give to each of her five students?</a:t>
            </a:r>
            <a:endParaRPr/>
          </a:p>
        </p:txBody>
      </p:sp>
      <p:sp>
        <p:nvSpPr>
          <p:cNvPr id="1549" name="Google Shape;1549;p133"/>
          <p:cNvSpPr txBox="1"/>
          <p:nvPr/>
        </p:nvSpPr>
        <p:spPr>
          <a:xfrm>
            <a:off x="6874600" y="2353638"/>
            <a:ext cx="21099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Oak teacher takes one piece.</a:t>
            </a:r>
            <a:endParaRPr/>
          </a:p>
        </p:txBody>
      </p:sp>
      <p:sp>
        <p:nvSpPr>
          <p:cNvPr id="1550" name="Google Shape;1550;p133"/>
          <p:cNvSpPr/>
          <p:nvPr/>
        </p:nvSpPr>
        <p:spPr>
          <a:xfrm>
            <a:off x="6010800" y="2473775"/>
            <a:ext cx="551400" cy="523200"/>
          </a:xfrm>
          <a:prstGeom prst="rect">
            <a:avLst/>
          </a:prstGeom>
          <a:solidFill>
            <a:srgbClr val="F0F0F0">
              <a:alpha val="62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34"/>
          <p:cNvSpPr txBox="1"/>
          <p:nvPr>
            <p:ph idx="1" type="body"/>
          </p:nvPr>
        </p:nvSpPr>
        <p:spPr>
          <a:xfrm>
            <a:off x="312750" y="683100"/>
            <a:ext cx="8237700" cy="93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There are now 15 pieces left for the students, so each student gets</a:t>
            </a:r>
            <a:r>
              <a:rPr lang="en-GB"/>
              <a:t> three</a:t>
            </a:r>
            <a:r>
              <a:rPr lang="en-GB"/>
              <a:t> pieces.</a:t>
            </a:r>
            <a:endParaRPr/>
          </a:p>
        </p:txBody>
      </p:sp>
      <p:sp>
        <p:nvSpPr>
          <p:cNvPr id="1556" name="Google Shape;1556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pic>
        <p:nvPicPr>
          <p:cNvPr id="1557" name="Google Shape;1557;p134"/>
          <p:cNvPicPr preferRelativeResize="0"/>
          <p:nvPr/>
        </p:nvPicPr>
        <p:blipFill rotWithShape="1">
          <a:blip r:embed="rId3">
            <a:alphaModFix/>
          </a:blip>
          <a:srcRect b="50236" l="0" r="0" t="0"/>
          <a:stretch/>
        </p:blipFill>
        <p:spPr>
          <a:xfrm>
            <a:off x="2467375" y="2497150"/>
            <a:ext cx="4056850" cy="10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8" name="Google Shape;1558;p134"/>
          <p:cNvSpPr txBox="1"/>
          <p:nvPr/>
        </p:nvSpPr>
        <p:spPr>
          <a:xfrm>
            <a:off x="236550" y="1537200"/>
            <a:ext cx="80145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fraction does each student receive from the whole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chocolate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bar?</a:t>
            </a:r>
            <a:endParaRPr/>
          </a:p>
        </p:txBody>
      </p:sp>
      <p:sp>
        <p:nvSpPr>
          <p:cNvPr id="1559" name="Google Shape;1559;p134"/>
          <p:cNvSpPr txBox="1"/>
          <p:nvPr/>
        </p:nvSpPr>
        <p:spPr>
          <a:xfrm>
            <a:off x="6874600" y="2353638"/>
            <a:ext cx="21099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Oak teacher takes one piece.</a:t>
            </a:r>
            <a:endParaRPr/>
          </a:p>
        </p:txBody>
      </p:sp>
      <p:sp>
        <p:nvSpPr>
          <p:cNvPr id="1560" name="Google Shape;1560;p134"/>
          <p:cNvSpPr/>
          <p:nvPr/>
        </p:nvSpPr>
        <p:spPr>
          <a:xfrm>
            <a:off x="6010800" y="2473775"/>
            <a:ext cx="551400" cy="523200"/>
          </a:xfrm>
          <a:prstGeom prst="rect">
            <a:avLst/>
          </a:prstGeom>
          <a:solidFill>
            <a:srgbClr val="F0F0F0">
              <a:alpha val="62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1" name="Google Shape;1561;p134"/>
          <p:cNvSpPr/>
          <p:nvPr/>
        </p:nvSpPr>
        <p:spPr>
          <a:xfrm>
            <a:off x="2466575" y="2487150"/>
            <a:ext cx="1014125" cy="1014100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2" name="Google Shape;1562;p134"/>
          <p:cNvSpPr/>
          <p:nvPr/>
        </p:nvSpPr>
        <p:spPr>
          <a:xfrm rot="10800000">
            <a:off x="2957325" y="2492999"/>
            <a:ext cx="1014125" cy="1014100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3" name="Google Shape;1563;p134"/>
          <p:cNvSpPr/>
          <p:nvPr/>
        </p:nvSpPr>
        <p:spPr>
          <a:xfrm>
            <a:off x="3971450" y="2494825"/>
            <a:ext cx="1014125" cy="1014100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4" name="Google Shape;1564;p134"/>
          <p:cNvSpPr/>
          <p:nvPr/>
        </p:nvSpPr>
        <p:spPr>
          <a:xfrm rot="10800000">
            <a:off x="4462200" y="2500674"/>
            <a:ext cx="1014125" cy="1014100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65" name="Google Shape;1565;p134"/>
          <p:cNvSpPr/>
          <p:nvPr/>
        </p:nvSpPr>
        <p:spPr>
          <a:xfrm rot="-5400000">
            <a:off x="5481233" y="2500674"/>
            <a:ext cx="1014125" cy="1014100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566" name="Google Shape;1566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650" y="3850753"/>
            <a:ext cx="5636000" cy="81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35"/>
          <p:cNvSpPr txBox="1"/>
          <p:nvPr>
            <p:ph idx="1" type="body"/>
          </p:nvPr>
        </p:nvSpPr>
        <p:spPr>
          <a:xfrm>
            <a:off x="324000" y="683100"/>
            <a:ext cx="8188500" cy="4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Summarising</a:t>
            </a:r>
            <a:r>
              <a:rPr lang="en-GB"/>
              <a:t>,</a:t>
            </a:r>
            <a:endParaRPr/>
          </a:p>
        </p:txBody>
      </p:sp>
      <p:sp>
        <p:nvSpPr>
          <p:cNvPr id="1572" name="Google Shape;1572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pic>
        <p:nvPicPr>
          <p:cNvPr id="1573" name="Google Shape;1573;p135"/>
          <p:cNvPicPr preferRelativeResize="0"/>
          <p:nvPr/>
        </p:nvPicPr>
        <p:blipFill rotWithShape="1">
          <a:blip r:embed="rId3">
            <a:alphaModFix/>
          </a:blip>
          <a:srcRect b="50236" l="0" r="0" t="0"/>
          <a:stretch/>
        </p:blipFill>
        <p:spPr>
          <a:xfrm>
            <a:off x="4571370" y="759300"/>
            <a:ext cx="3922584" cy="981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4" name="Google Shape;1574;p135"/>
          <p:cNvPicPr preferRelativeResize="0"/>
          <p:nvPr/>
        </p:nvPicPr>
        <p:blipFill rotWithShape="1">
          <a:blip r:embed="rId3">
            <a:alphaModFix/>
          </a:blip>
          <a:srcRect b="50236" l="0" r="0" t="0"/>
          <a:stretch/>
        </p:blipFill>
        <p:spPr>
          <a:xfrm>
            <a:off x="4553011" y="2170480"/>
            <a:ext cx="3922584" cy="981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75" name="Google Shape;1575;p135"/>
          <p:cNvSpPr/>
          <p:nvPr/>
        </p:nvSpPr>
        <p:spPr>
          <a:xfrm>
            <a:off x="7979162" y="2147879"/>
            <a:ext cx="533100" cy="505800"/>
          </a:xfrm>
          <a:prstGeom prst="rect">
            <a:avLst/>
          </a:prstGeom>
          <a:solidFill>
            <a:srgbClr val="F0F0F0">
              <a:alpha val="62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6" name="Google Shape;1576;p135"/>
          <p:cNvPicPr preferRelativeResize="0"/>
          <p:nvPr/>
        </p:nvPicPr>
        <p:blipFill rotWithShape="1">
          <a:blip r:embed="rId3">
            <a:alphaModFix/>
          </a:blip>
          <a:srcRect b="50236" l="0" r="0" t="0"/>
          <a:stretch/>
        </p:blipFill>
        <p:spPr>
          <a:xfrm>
            <a:off x="4553398" y="3552097"/>
            <a:ext cx="3922584" cy="981671"/>
          </a:xfrm>
          <a:prstGeom prst="rect">
            <a:avLst/>
          </a:prstGeom>
          <a:noFill/>
          <a:ln>
            <a:noFill/>
          </a:ln>
        </p:spPr>
      </p:pic>
      <p:sp>
        <p:nvSpPr>
          <p:cNvPr id="1577" name="Google Shape;1577;p135"/>
          <p:cNvSpPr/>
          <p:nvPr/>
        </p:nvSpPr>
        <p:spPr>
          <a:xfrm>
            <a:off x="7979549" y="3529495"/>
            <a:ext cx="533100" cy="505800"/>
          </a:xfrm>
          <a:prstGeom prst="rect">
            <a:avLst/>
          </a:prstGeom>
          <a:solidFill>
            <a:srgbClr val="F0F0F0">
              <a:alpha val="622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8" name="Google Shape;1578;p135"/>
          <p:cNvSpPr/>
          <p:nvPr/>
        </p:nvSpPr>
        <p:spPr>
          <a:xfrm>
            <a:off x="4552624" y="3542428"/>
            <a:ext cx="980557" cy="980533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79" name="Google Shape;1579;p135"/>
          <p:cNvSpPr/>
          <p:nvPr/>
        </p:nvSpPr>
        <p:spPr>
          <a:xfrm rot="10800000">
            <a:off x="5027136" y="3548084"/>
            <a:ext cx="980557" cy="980533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0" name="Google Shape;1580;p135"/>
          <p:cNvSpPr/>
          <p:nvPr/>
        </p:nvSpPr>
        <p:spPr>
          <a:xfrm>
            <a:off x="6007694" y="3549849"/>
            <a:ext cx="980557" cy="980533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1" name="Google Shape;1581;p135"/>
          <p:cNvSpPr/>
          <p:nvPr/>
        </p:nvSpPr>
        <p:spPr>
          <a:xfrm rot="10800000">
            <a:off x="6482205" y="3555505"/>
            <a:ext cx="980557" cy="980533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82" name="Google Shape;1582;p135"/>
          <p:cNvSpPr/>
          <p:nvPr/>
        </p:nvSpPr>
        <p:spPr>
          <a:xfrm rot="-5400000">
            <a:off x="7467508" y="3555505"/>
            <a:ext cx="980557" cy="980533"/>
          </a:xfrm>
          <a:custGeom>
            <a:rect b="b" l="l" r="r" t="t"/>
            <a:pathLst>
              <a:path extrusionOk="0" h="40564" w="40565">
                <a:moveTo>
                  <a:pt x="380" y="0"/>
                </a:moveTo>
                <a:lnTo>
                  <a:pt x="40565" y="190"/>
                </a:lnTo>
                <a:lnTo>
                  <a:pt x="40565" y="20282"/>
                </a:lnTo>
                <a:lnTo>
                  <a:pt x="19903" y="20282"/>
                </a:lnTo>
                <a:lnTo>
                  <a:pt x="19903" y="40564"/>
                </a:lnTo>
                <a:lnTo>
                  <a:pt x="0" y="4056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583" name="Google Shape;1583;p135"/>
          <p:cNvPicPr preferRelativeResize="0"/>
          <p:nvPr/>
        </p:nvPicPr>
        <p:blipFill rotWithShape="1">
          <a:blip r:embed="rId4">
            <a:alphaModFix/>
          </a:blip>
          <a:srcRect b="0" l="0" r="0" t="36366"/>
          <a:stretch/>
        </p:blipFill>
        <p:spPr>
          <a:xfrm>
            <a:off x="324000" y="1195701"/>
            <a:ext cx="307629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4" name="Google Shape;1584;p1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675" y="2136900"/>
            <a:ext cx="3327105" cy="116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5" name="Google Shape;1585;p1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675" y="3447325"/>
            <a:ext cx="3958175" cy="117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36"/>
          <p:cNvSpPr txBox="1"/>
          <p:nvPr>
            <p:ph idx="1" type="body"/>
          </p:nvPr>
        </p:nvSpPr>
        <p:spPr>
          <a:xfrm>
            <a:off x="324000" y="759300"/>
            <a:ext cx="8237700" cy="134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pizza is divided into nine equal pieces.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Oak teacher takes one piece and shares the rest equally between four </a:t>
            </a:r>
            <a:r>
              <a:rPr lang="en-GB"/>
              <a:t>students</a:t>
            </a:r>
            <a:r>
              <a:rPr lang="en-GB"/>
              <a:t>.</a:t>
            </a:r>
            <a:endParaRPr/>
          </a:p>
        </p:txBody>
      </p:sp>
      <p:sp>
        <p:nvSpPr>
          <p:cNvPr id="1591" name="Google Shape;1591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pic>
        <p:nvPicPr>
          <p:cNvPr id="1592" name="Google Shape;1592;p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851" y="2264584"/>
            <a:ext cx="2742851" cy="245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93" name="Google Shape;1593;p136"/>
          <p:cNvSpPr txBox="1"/>
          <p:nvPr/>
        </p:nvSpPr>
        <p:spPr>
          <a:xfrm>
            <a:off x="3590925" y="2160000"/>
            <a:ext cx="48198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fraction does each student receive from the whole pizza?</a:t>
            </a:r>
            <a:endParaRPr/>
          </a:p>
        </p:txBody>
      </p:sp>
      <p:grpSp>
        <p:nvGrpSpPr>
          <p:cNvPr id="1594" name="Google Shape;1594;p136"/>
          <p:cNvGrpSpPr/>
          <p:nvPr/>
        </p:nvGrpSpPr>
        <p:grpSpPr>
          <a:xfrm>
            <a:off x="1943158" y="2343268"/>
            <a:ext cx="857238" cy="1171560"/>
            <a:chOff x="1952650" y="2362350"/>
            <a:chExt cx="791175" cy="1089925"/>
          </a:xfrm>
        </p:grpSpPr>
        <p:sp>
          <p:nvSpPr>
            <p:cNvPr id="1595" name="Google Shape;1595;p136"/>
            <p:cNvSpPr/>
            <p:nvPr/>
          </p:nvSpPr>
          <p:spPr>
            <a:xfrm>
              <a:off x="1952650" y="2362350"/>
              <a:ext cx="791165" cy="1089925"/>
            </a:xfrm>
            <a:custGeom>
              <a:rect b="b" l="l" r="r" t="t"/>
              <a:pathLst>
                <a:path extrusionOk="0" h="43597" w="30177">
                  <a:moveTo>
                    <a:pt x="9280" y="0"/>
                  </a:moveTo>
                  <a:cubicBezTo>
                    <a:pt x="3765" y="12413"/>
                    <a:pt x="4858" y="26920"/>
                    <a:pt x="560" y="39806"/>
                  </a:cubicBezTo>
                  <a:cubicBezTo>
                    <a:pt x="160" y="41006"/>
                    <a:pt x="-515" y="43597"/>
                    <a:pt x="750" y="43597"/>
                  </a:cubicBezTo>
                  <a:cubicBezTo>
                    <a:pt x="2469" y="43597"/>
                    <a:pt x="2752" y="40802"/>
                    <a:pt x="3783" y="39427"/>
                  </a:cubicBezTo>
                  <a:cubicBezTo>
                    <a:pt x="6740" y="35484"/>
                    <a:pt x="8792" y="30730"/>
                    <a:pt x="12502" y="27485"/>
                  </a:cubicBezTo>
                  <a:cubicBezTo>
                    <a:pt x="17294" y="23293"/>
                    <a:pt x="23398" y="20345"/>
                    <a:pt x="27098" y="15164"/>
                  </a:cubicBezTo>
                  <a:cubicBezTo>
                    <a:pt x="28067" y="13807"/>
                    <a:pt x="30316" y="12842"/>
                    <a:pt x="30131" y="11184"/>
                  </a:cubicBezTo>
                  <a:cubicBezTo>
                    <a:pt x="29857" y="8722"/>
                    <a:pt x="26283" y="8055"/>
                    <a:pt x="24254" y="6634"/>
                  </a:cubicBezTo>
                  <a:cubicBezTo>
                    <a:pt x="19795" y="3511"/>
                    <a:pt x="14534" y="569"/>
                    <a:pt x="9090" y="569"/>
                  </a:cubicBezTo>
                </a:path>
              </a:pathLst>
            </a:cu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596" name="Google Shape;1596;p136"/>
            <p:cNvSpPr/>
            <p:nvPr/>
          </p:nvSpPr>
          <p:spPr>
            <a:xfrm>
              <a:off x="1957175" y="2376575"/>
              <a:ext cx="786650" cy="1070975"/>
            </a:xfrm>
            <a:custGeom>
              <a:rect b="b" l="l" r="r" t="t"/>
              <a:pathLst>
                <a:path extrusionOk="0" h="42839" w="31466">
                  <a:moveTo>
                    <a:pt x="9857" y="0"/>
                  </a:moveTo>
                  <a:lnTo>
                    <a:pt x="17818" y="1327"/>
                  </a:lnTo>
                  <a:lnTo>
                    <a:pt x="31466" y="9667"/>
                  </a:lnTo>
                  <a:lnTo>
                    <a:pt x="24831" y="17818"/>
                  </a:lnTo>
                  <a:lnTo>
                    <a:pt x="15354" y="24452"/>
                  </a:lnTo>
                  <a:lnTo>
                    <a:pt x="9288" y="32224"/>
                  </a:lnTo>
                  <a:lnTo>
                    <a:pt x="190" y="42839"/>
                  </a:lnTo>
                  <a:lnTo>
                    <a:pt x="0" y="38479"/>
                  </a:lnTo>
                  <a:lnTo>
                    <a:pt x="4170" y="24073"/>
                  </a:lnTo>
                  <a:lnTo>
                    <a:pt x="6066" y="9857"/>
                  </a:lnTo>
                  <a:close/>
                </a:path>
              </a:pathLst>
            </a:custGeom>
            <a:solidFill>
              <a:srgbClr val="FFFFFF">
                <a:alpha val="62890"/>
              </a:srgbClr>
            </a:solidFill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  <p:sp>
        <p:nvSpPr>
          <p:cNvPr id="1597" name="Google Shape;1597;p136"/>
          <p:cNvSpPr/>
          <p:nvPr/>
        </p:nvSpPr>
        <p:spPr>
          <a:xfrm>
            <a:off x="646125" y="2232600"/>
            <a:ext cx="1498700" cy="1312175"/>
          </a:xfrm>
          <a:custGeom>
            <a:rect b="b" l="l" r="r" t="t"/>
            <a:pathLst>
              <a:path extrusionOk="0" h="52487" w="59948">
                <a:moveTo>
                  <a:pt x="59948" y="2664"/>
                </a:moveTo>
                <a:lnTo>
                  <a:pt x="47958" y="0"/>
                </a:lnTo>
                <a:lnTo>
                  <a:pt x="30640" y="3730"/>
                </a:lnTo>
                <a:lnTo>
                  <a:pt x="16786" y="12789"/>
                </a:lnTo>
                <a:lnTo>
                  <a:pt x="2132" y="26643"/>
                </a:lnTo>
                <a:lnTo>
                  <a:pt x="0" y="35968"/>
                </a:lnTo>
                <a:lnTo>
                  <a:pt x="18118" y="43162"/>
                </a:lnTo>
                <a:lnTo>
                  <a:pt x="33838" y="49024"/>
                </a:lnTo>
                <a:lnTo>
                  <a:pt x="49557" y="52487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8" name="Google Shape;1598;p136"/>
          <p:cNvSpPr/>
          <p:nvPr/>
        </p:nvSpPr>
        <p:spPr>
          <a:xfrm>
            <a:off x="373050" y="3085175"/>
            <a:ext cx="1518675" cy="1658550"/>
          </a:xfrm>
          <a:custGeom>
            <a:rect b="b" l="l" r="r" t="t"/>
            <a:pathLst>
              <a:path extrusionOk="0" h="66342" w="60747">
                <a:moveTo>
                  <a:pt x="60747" y="19184"/>
                </a:moveTo>
                <a:lnTo>
                  <a:pt x="4263" y="0"/>
                </a:lnTo>
                <a:lnTo>
                  <a:pt x="533" y="11723"/>
                </a:lnTo>
                <a:lnTo>
                  <a:pt x="0" y="21315"/>
                </a:lnTo>
                <a:lnTo>
                  <a:pt x="8259" y="41564"/>
                </a:lnTo>
                <a:lnTo>
                  <a:pt x="16519" y="46093"/>
                </a:lnTo>
                <a:lnTo>
                  <a:pt x="22647" y="58083"/>
                </a:lnTo>
                <a:lnTo>
                  <a:pt x="39965" y="65809"/>
                </a:lnTo>
                <a:lnTo>
                  <a:pt x="44228" y="66342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599" name="Google Shape;1599;p136"/>
          <p:cNvSpPr/>
          <p:nvPr/>
        </p:nvSpPr>
        <p:spPr>
          <a:xfrm>
            <a:off x="1532025" y="3544775"/>
            <a:ext cx="1545325" cy="1245575"/>
          </a:xfrm>
          <a:custGeom>
            <a:rect b="b" l="l" r="r" t="t"/>
            <a:pathLst>
              <a:path extrusionOk="0" h="49823" w="61813">
                <a:moveTo>
                  <a:pt x="0" y="45294"/>
                </a:moveTo>
                <a:lnTo>
                  <a:pt x="15187" y="48491"/>
                </a:lnTo>
                <a:lnTo>
                  <a:pt x="31173" y="46626"/>
                </a:lnTo>
                <a:lnTo>
                  <a:pt x="35702" y="49823"/>
                </a:lnTo>
                <a:lnTo>
                  <a:pt x="51155" y="42363"/>
                </a:lnTo>
                <a:lnTo>
                  <a:pt x="61813" y="25045"/>
                </a:lnTo>
                <a:lnTo>
                  <a:pt x="47159" y="15986"/>
                </a:lnTo>
                <a:lnTo>
                  <a:pt x="15187" y="0"/>
                </a:lnTo>
                <a:lnTo>
                  <a:pt x="7993" y="18651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0" name="Google Shape;1600;p136"/>
          <p:cNvSpPr/>
          <p:nvPr/>
        </p:nvSpPr>
        <p:spPr>
          <a:xfrm>
            <a:off x="2024925" y="2618925"/>
            <a:ext cx="1205625" cy="1558625"/>
          </a:xfrm>
          <a:custGeom>
            <a:rect b="b" l="l" r="r" t="t"/>
            <a:pathLst>
              <a:path extrusionOk="0" h="62345" w="48225">
                <a:moveTo>
                  <a:pt x="35969" y="0"/>
                </a:moveTo>
                <a:lnTo>
                  <a:pt x="38367" y="8792"/>
                </a:lnTo>
                <a:lnTo>
                  <a:pt x="43429" y="16252"/>
                </a:lnTo>
                <a:lnTo>
                  <a:pt x="46893" y="28775"/>
                </a:lnTo>
                <a:lnTo>
                  <a:pt x="48225" y="39166"/>
                </a:lnTo>
                <a:lnTo>
                  <a:pt x="45560" y="54352"/>
                </a:lnTo>
                <a:lnTo>
                  <a:pt x="42630" y="62345"/>
                </a:lnTo>
                <a:lnTo>
                  <a:pt x="27443" y="53020"/>
                </a:lnTo>
                <a:lnTo>
                  <a:pt x="11723" y="45027"/>
                </a:lnTo>
                <a:lnTo>
                  <a:pt x="0" y="37567"/>
                </a:lnTo>
                <a:lnTo>
                  <a:pt x="4796" y="27709"/>
                </a:lnTo>
                <a:lnTo>
                  <a:pt x="13855" y="17052"/>
                </a:lnTo>
                <a:lnTo>
                  <a:pt x="27443" y="6661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01" name="Google Shape;1601;p136"/>
          <p:cNvSpPr txBox="1"/>
          <p:nvPr/>
        </p:nvSpPr>
        <p:spPr>
          <a:xfrm>
            <a:off x="3663050" y="3284700"/>
            <a:ext cx="47478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Each student gets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602" name="Google Shape;1602;p136" title="two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050" y="3804300"/>
            <a:ext cx="249500" cy="8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3" name="Google Shape;1603;p136"/>
          <p:cNvSpPr txBox="1"/>
          <p:nvPr/>
        </p:nvSpPr>
        <p:spPr>
          <a:xfrm>
            <a:off x="4090700" y="3945488"/>
            <a:ext cx="2207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the pizza.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8" name="Google Shape;1608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895985">
            <a:off x="3857713" y="3693996"/>
            <a:ext cx="1068799" cy="1166932"/>
          </a:xfrm>
          <a:prstGeom prst="rect">
            <a:avLst/>
          </a:prstGeom>
          <a:noFill/>
          <a:ln>
            <a:noFill/>
          </a:ln>
        </p:spPr>
      </p:pic>
      <p:sp>
        <p:nvSpPr>
          <p:cNvPr id="1609" name="Google Shape;1609;p137"/>
          <p:cNvSpPr txBox="1"/>
          <p:nvPr>
            <p:ph idx="1" type="body"/>
          </p:nvPr>
        </p:nvSpPr>
        <p:spPr>
          <a:xfrm>
            <a:off x="324000" y="1902300"/>
            <a:ext cx="82377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</a:t>
            </a:r>
            <a:r>
              <a:rPr lang="en-GB"/>
              <a:t> 2</a:t>
            </a:r>
            <a:r>
              <a:rPr lang="en-GB"/>
              <a:t> pieces is not an easy number to divide by </a:t>
            </a:r>
            <a:r>
              <a:rPr lang="en-GB"/>
              <a:t>3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10" name="Google Shape;1610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sp>
        <p:nvSpPr>
          <p:cNvPr id="1611" name="Google Shape;1611;p137"/>
          <p:cNvSpPr/>
          <p:nvPr/>
        </p:nvSpPr>
        <p:spPr>
          <a:xfrm>
            <a:off x="5172500" y="2234738"/>
            <a:ext cx="1378800" cy="930514"/>
          </a:xfrm>
          <a:custGeom>
            <a:rect b="b" l="l" r="r" t="t"/>
            <a:pathLst>
              <a:path extrusionOk="0" h="34903" w="55152">
                <a:moveTo>
                  <a:pt x="21315" y="0"/>
                </a:moveTo>
                <a:lnTo>
                  <a:pt x="10125" y="2664"/>
                </a:lnTo>
                <a:lnTo>
                  <a:pt x="5595" y="6661"/>
                </a:lnTo>
                <a:lnTo>
                  <a:pt x="0" y="10657"/>
                </a:lnTo>
                <a:lnTo>
                  <a:pt x="5595" y="16252"/>
                </a:lnTo>
                <a:lnTo>
                  <a:pt x="20516" y="30107"/>
                </a:lnTo>
                <a:lnTo>
                  <a:pt x="25312" y="34903"/>
                </a:lnTo>
                <a:lnTo>
                  <a:pt x="55152" y="24778"/>
                </a:lnTo>
                <a:lnTo>
                  <a:pt x="53820" y="18117"/>
                </a:lnTo>
                <a:lnTo>
                  <a:pt x="49823" y="13055"/>
                </a:lnTo>
                <a:lnTo>
                  <a:pt x="49291" y="9325"/>
                </a:lnTo>
                <a:lnTo>
                  <a:pt x="43429" y="4263"/>
                </a:lnTo>
                <a:lnTo>
                  <a:pt x="39166" y="2664"/>
                </a:lnTo>
                <a:close/>
              </a:path>
            </a:pathLst>
          </a:custGeom>
          <a:solidFill>
            <a:srgbClr val="FFFFFF">
              <a:alpha val="6250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12" name="Google Shape;1612;p137"/>
          <p:cNvSpPr txBox="1"/>
          <p:nvPr>
            <p:ph idx="1" type="body"/>
          </p:nvPr>
        </p:nvSpPr>
        <p:spPr>
          <a:xfrm>
            <a:off x="324000" y="2435700"/>
            <a:ext cx="82377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However, splitting </a:t>
            </a:r>
            <a:r>
              <a:rPr lang="en-GB"/>
              <a:t>2</a:t>
            </a:r>
            <a:r>
              <a:rPr lang="en-GB"/>
              <a:t> pieces into </a:t>
            </a:r>
            <a:r>
              <a:rPr lang="en-GB"/>
              <a:t>6</a:t>
            </a:r>
            <a:r>
              <a:rPr lang="en-GB"/>
              <a:t> pieces, makes it </a:t>
            </a:r>
            <a:r>
              <a:rPr lang="en-GB"/>
              <a:t>easier</a:t>
            </a:r>
            <a:r>
              <a:rPr lang="en-GB"/>
              <a:t>.</a:t>
            </a:r>
            <a:endParaRPr/>
          </a:p>
        </p:txBody>
      </p:sp>
      <p:pic>
        <p:nvPicPr>
          <p:cNvPr id="1613" name="Google Shape;1613;p1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326212">
            <a:off x="2717951" y="3672647"/>
            <a:ext cx="1219648" cy="107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4" name="Google Shape;1614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411786">
            <a:off x="3513823" y="2755441"/>
            <a:ext cx="999780" cy="1517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5" name="Google Shape;1615;p1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99239" y="3786970"/>
            <a:ext cx="953386" cy="110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616" name="Google Shape;1616;p137"/>
          <p:cNvSpPr txBox="1"/>
          <p:nvPr/>
        </p:nvSpPr>
        <p:spPr>
          <a:xfrm>
            <a:off x="224381" y="579961"/>
            <a:ext cx="8561700" cy="18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pizza is divided into 3 equal pieces. An Oak teacher takes 1 piece and the remaining pieces will be equally divided amongst 3 students.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7" name="Google Shape;1617;p1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53695">
            <a:off x="2905611" y="3570654"/>
            <a:ext cx="908299" cy="1288366"/>
          </a:xfrm>
          <a:prstGeom prst="rect">
            <a:avLst/>
          </a:prstGeom>
          <a:noFill/>
          <a:ln>
            <a:noFill/>
          </a:ln>
        </p:spPr>
      </p:pic>
      <p:sp>
        <p:nvSpPr>
          <p:cNvPr id="1618" name="Google Shape;1618;p137"/>
          <p:cNvSpPr/>
          <p:nvPr/>
        </p:nvSpPr>
        <p:spPr>
          <a:xfrm>
            <a:off x="3095600" y="3017575"/>
            <a:ext cx="1817349" cy="1010683"/>
          </a:xfrm>
          <a:custGeom>
            <a:rect b="b" l="l" r="r" t="t"/>
            <a:pathLst>
              <a:path extrusionOk="0" h="38850" w="69444">
                <a:moveTo>
                  <a:pt x="56681" y="9196"/>
                </a:moveTo>
                <a:lnTo>
                  <a:pt x="39602" y="1313"/>
                </a:lnTo>
                <a:lnTo>
                  <a:pt x="18957" y="0"/>
                </a:lnTo>
                <a:lnTo>
                  <a:pt x="3754" y="13513"/>
                </a:lnTo>
                <a:lnTo>
                  <a:pt x="0" y="20270"/>
                </a:lnTo>
                <a:lnTo>
                  <a:pt x="17831" y="31531"/>
                </a:lnTo>
                <a:lnTo>
                  <a:pt x="28153" y="38850"/>
                </a:lnTo>
                <a:lnTo>
                  <a:pt x="48799" y="32469"/>
                </a:lnTo>
                <a:lnTo>
                  <a:pt x="69444" y="25149"/>
                </a:lnTo>
                <a:close/>
              </a:path>
            </a:pathLst>
          </a:custGeom>
          <a:solidFill>
            <a:srgbClr val="FFFFFF">
              <a:alpha val="6688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3" name="Google Shape;1623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735800"/>
            <a:ext cx="5634948" cy="86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895985">
            <a:off x="3857713" y="3693996"/>
            <a:ext cx="1068799" cy="11669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5" name="Google Shape;1625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pic>
        <p:nvPicPr>
          <p:cNvPr id="1626" name="Google Shape;1626;p1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326212">
            <a:off x="2717951" y="3672647"/>
            <a:ext cx="1219648" cy="1079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7" name="Google Shape;1627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7411786">
            <a:off x="3513823" y="2755441"/>
            <a:ext cx="999780" cy="1517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28" name="Google Shape;1628;p138"/>
          <p:cNvSpPr txBox="1"/>
          <p:nvPr/>
        </p:nvSpPr>
        <p:spPr>
          <a:xfrm>
            <a:off x="224375" y="579951"/>
            <a:ext cx="8561700" cy="13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pizza is divided into 3 equal pieces. An Oak teacher takes 1 piece and the remaining pieces will be equally divided amongst 3 students.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9" name="Google Shape;1629;p138"/>
          <p:cNvSpPr/>
          <p:nvPr/>
        </p:nvSpPr>
        <p:spPr>
          <a:xfrm>
            <a:off x="3095600" y="3017575"/>
            <a:ext cx="1817349" cy="1010683"/>
          </a:xfrm>
          <a:custGeom>
            <a:rect b="b" l="l" r="r" t="t"/>
            <a:pathLst>
              <a:path extrusionOk="0" h="38850" w="69444">
                <a:moveTo>
                  <a:pt x="56681" y="9196"/>
                </a:moveTo>
                <a:lnTo>
                  <a:pt x="39602" y="1313"/>
                </a:lnTo>
                <a:lnTo>
                  <a:pt x="18957" y="0"/>
                </a:lnTo>
                <a:lnTo>
                  <a:pt x="3754" y="13513"/>
                </a:lnTo>
                <a:lnTo>
                  <a:pt x="0" y="20270"/>
                </a:lnTo>
                <a:lnTo>
                  <a:pt x="17831" y="31531"/>
                </a:lnTo>
                <a:lnTo>
                  <a:pt x="28153" y="38850"/>
                </a:lnTo>
                <a:lnTo>
                  <a:pt x="48799" y="32469"/>
                </a:lnTo>
                <a:lnTo>
                  <a:pt x="69444" y="25149"/>
                </a:lnTo>
                <a:close/>
              </a:path>
            </a:pathLst>
          </a:custGeom>
          <a:solidFill>
            <a:srgbClr val="FFFFFF">
              <a:alpha val="6688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30" name="Google Shape;1630;p138"/>
          <p:cNvSpPr/>
          <p:nvPr/>
        </p:nvSpPr>
        <p:spPr>
          <a:xfrm>
            <a:off x="2778025" y="3463000"/>
            <a:ext cx="929025" cy="1205875"/>
          </a:xfrm>
          <a:custGeom>
            <a:rect b="b" l="l" r="r" t="t"/>
            <a:pathLst>
              <a:path extrusionOk="0" h="48235" w="37161">
                <a:moveTo>
                  <a:pt x="9384" y="0"/>
                </a:moveTo>
                <a:lnTo>
                  <a:pt x="36223" y="22897"/>
                </a:lnTo>
                <a:lnTo>
                  <a:pt x="37161" y="25525"/>
                </a:lnTo>
                <a:lnTo>
                  <a:pt x="14639" y="48235"/>
                </a:lnTo>
                <a:lnTo>
                  <a:pt x="3566" y="33783"/>
                </a:lnTo>
                <a:lnTo>
                  <a:pt x="0" y="21208"/>
                </a:lnTo>
                <a:lnTo>
                  <a:pt x="4316" y="131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31" name="Google Shape;1631;p138"/>
          <p:cNvSpPr/>
          <p:nvPr/>
        </p:nvSpPr>
        <p:spPr>
          <a:xfrm>
            <a:off x="3161600" y="4090575"/>
            <a:ext cx="1431100" cy="835200"/>
          </a:xfrm>
          <a:custGeom>
            <a:rect b="b" l="l" r="r" t="t"/>
            <a:pathLst>
              <a:path extrusionOk="0" h="33408" w="57244">
                <a:moveTo>
                  <a:pt x="28903" y="0"/>
                </a:moveTo>
                <a:lnTo>
                  <a:pt x="20833" y="563"/>
                </a:lnTo>
                <a:lnTo>
                  <a:pt x="0" y="22146"/>
                </a:lnTo>
                <a:lnTo>
                  <a:pt x="22710" y="33408"/>
                </a:lnTo>
                <a:lnTo>
                  <a:pt x="49924" y="30217"/>
                </a:lnTo>
                <a:lnTo>
                  <a:pt x="57244" y="23085"/>
                </a:lnTo>
                <a:lnTo>
                  <a:pt x="35660" y="187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32" name="Google Shape;1632;p138"/>
          <p:cNvSpPr/>
          <p:nvPr/>
        </p:nvSpPr>
        <p:spPr>
          <a:xfrm>
            <a:off x="4057800" y="3701125"/>
            <a:ext cx="886800" cy="980650"/>
          </a:xfrm>
          <a:custGeom>
            <a:rect b="b" l="l" r="r" t="t"/>
            <a:pathLst>
              <a:path extrusionOk="0" h="39226" w="35472">
                <a:moveTo>
                  <a:pt x="32469" y="0"/>
                </a:moveTo>
                <a:lnTo>
                  <a:pt x="563" y="11449"/>
                </a:lnTo>
                <a:lnTo>
                  <a:pt x="0" y="15202"/>
                </a:lnTo>
                <a:lnTo>
                  <a:pt x="21771" y="39226"/>
                </a:lnTo>
                <a:lnTo>
                  <a:pt x="35472" y="21208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33" name="Google Shape;1633;p138"/>
          <p:cNvSpPr txBox="1"/>
          <p:nvPr>
            <p:ph idx="1" type="body"/>
          </p:nvPr>
        </p:nvSpPr>
        <p:spPr>
          <a:xfrm>
            <a:off x="324000" y="2588100"/>
            <a:ext cx="8237700" cy="42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Is she correct? Explain</a:t>
            </a:r>
            <a:endParaRPr/>
          </a:p>
        </p:txBody>
      </p:sp>
      <p:sp>
        <p:nvSpPr>
          <p:cNvPr id="1634" name="Google Shape;1634;p138"/>
          <p:cNvSpPr txBox="1"/>
          <p:nvPr/>
        </p:nvSpPr>
        <p:spPr>
          <a:xfrm>
            <a:off x="5120250" y="2783550"/>
            <a:ext cx="390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She is incorrect. The whole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}{9}&quot;&gt;&lt;mfrac&gt;&lt;mn&gt;2&lt;/mn&gt;&lt;mn&gt;9&lt;/mn&gt;&lt;/mfrac&gt;&lt;/math&gt;" id="1635" name="Google Shape;1635;p138" title="two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77350" y="3961550"/>
            <a:ext cx="190867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6" name="Google Shape;1636;p138"/>
          <p:cNvSpPr txBox="1"/>
          <p:nvPr/>
        </p:nvSpPr>
        <p:spPr>
          <a:xfrm>
            <a:off x="5120250" y="3164550"/>
            <a:ext cx="390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pizza needs to be divided </a:t>
            </a:r>
            <a:endParaRPr/>
          </a:p>
        </p:txBody>
      </p:sp>
      <p:sp>
        <p:nvSpPr>
          <p:cNvPr id="1637" name="Google Shape;1637;p138"/>
          <p:cNvSpPr txBox="1"/>
          <p:nvPr/>
        </p:nvSpPr>
        <p:spPr>
          <a:xfrm>
            <a:off x="5120250" y="3545550"/>
            <a:ext cx="390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equally, so this means each</a:t>
            </a:r>
            <a:endParaRPr/>
          </a:p>
        </p:txBody>
      </p:sp>
      <p:sp>
        <p:nvSpPr>
          <p:cNvPr id="1638" name="Google Shape;1638;p138"/>
          <p:cNvSpPr txBox="1"/>
          <p:nvPr/>
        </p:nvSpPr>
        <p:spPr>
          <a:xfrm>
            <a:off x="5120250" y="3926550"/>
            <a:ext cx="390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student</a:t>
            </a:r>
            <a:endParaRPr/>
          </a:p>
        </p:txBody>
      </p:sp>
      <p:sp>
        <p:nvSpPr>
          <p:cNvPr id="1639" name="Google Shape;1639;p138"/>
          <p:cNvSpPr txBox="1"/>
          <p:nvPr/>
        </p:nvSpPr>
        <p:spPr>
          <a:xfrm>
            <a:off x="6211075" y="3926550"/>
            <a:ext cx="2968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got</a:t>
            </a:r>
            <a:endParaRPr/>
          </a:p>
        </p:txBody>
      </p:sp>
      <p:sp>
        <p:nvSpPr>
          <p:cNvPr id="1640" name="Google Shape;1640;p138"/>
          <p:cNvSpPr txBox="1"/>
          <p:nvPr/>
        </p:nvSpPr>
        <p:spPr>
          <a:xfrm>
            <a:off x="7125425" y="3926550"/>
            <a:ext cx="2206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5" name="Google Shape;1645;p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950" y="2762325"/>
            <a:ext cx="7163999" cy="1018697"/>
          </a:xfrm>
          <a:prstGeom prst="rect">
            <a:avLst/>
          </a:prstGeom>
          <a:noFill/>
          <a:ln>
            <a:noFill/>
          </a:ln>
        </p:spPr>
      </p:pic>
      <p:sp>
        <p:nvSpPr>
          <p:cNvPr id="1646" name="Google Shape;1646;p139"/>
          <p:cNvSpPr txBox="1"/>
          <p:nvPr>
            <p:ph idx="1" type="body"/>
          </p:nvPr>
        </p:nvSpPr>
        <p:spPr>
          <a:xfrm>
            <a:off x="351200" y="683100"/>
            <a:ext cx="8237700" cy="45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Summarising</a:t>
            </a:r>
            <a:r>
              <a:rPr lang="en-GB" sz="2000"/>
              <a:t>,</a:t>
            </a:r>
            <a:endParaRPr sz="2000"/>
          </a:p>
        </p:txBody>
      </p:sp>
      <p:sp>
        <p:nvSpPr>
          <p:cNvPr id="1647" name="Google Shape;1647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sp>
        <p:nvSpPr>
          <p:cNvPr id="1648" name="Google Shape;1648;p139"/>
          <p:cNvSpPr txBox="1"/>
          <p:nvPr/>
        </p:nvSpPr>
        <p:spPr>
          <a:xfrm>
            <a:off x="275000" y="1150550"/>
            <a:ext cx="716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 started off with a whole pizza divided equally by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200"/>
          </a:p>
        </p:txBody>
      </p:sp>
      <p:pic>
        <p:nvPicPr>
          <p:cNvPr id="1649" name="Google Shape;1649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411782">
            <a:off x="7678863" y="542409"/>
            <a:ext cx="575322" cy="873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0" name="Google Shape;1650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53697">
            <a:off x="7328870" y="1011522"/>
            <a:ext cx="522678" cy="741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1" name="Google Shape;1651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00651" y="1136001"/>
            <a:ext cx="548623" cy="6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2" name="Google Shape;1652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411779">
            <a:off x="4547269" y="1617059"/>
            <a:ext cx="578401" cy="8780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3" name="Google Shape;1653;p139"/>
          <p:cNvSpPr/>
          <p:nvPr/>
        </p:nvSpPr>
        <p:spPr>
          <a:xfrm>
            <a:off x="4305317" y="1776568"/>
            <a:ext cx="1051382" cy="584692"/>
          </a:xfrm>
          <a:custGeom>
            <a:rect b="b" l="l" r="r" t="t"/>
            <a:pathLst>
              <a:path extrusionOk="0" h="38850" w="69444">
                <a:moveTo>
                  <a:pt x="56681" y="9196"/>
                </a:moveTo>
                <a:lnTo>
                  <a:pt x="39602" y="1313"/>
                </a:lnTo>
                <a:lnTo>
                  <a:pt x="18957" y="0"/>
                </a:lnTo>
                <a:lnTo>
                  <a:pt x="3754" y="13513"/>
                </a:lnTo>
                <a:lnTo>
                  <a:pt x="0" y="20270"/>
                </a:lnTo>
                <a:lnTo>
                  <a:pt x="17831" y="31531"/>
                </a:lnTo>
                <a:lnTo>
                  <a:pt x="28153" y="38850"/>
                </a:lnTo>
                <a:lnTo>
                  <a:pt x="48799" y="32469"/>
                </a:lnTo>
                <a:lnTo>
                  <a:pt x="69444" y="25149"/>
                </a:lnTo>
                <a:close/>
              </a:path>
            </a:pathLst>
          </a:custGeom>
          <a:solidFill>
            <a:srgbClr val="FFFFFF">
              <a:alpha val="6688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654" name="Google Shape;1654;p1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53697">
            <a:off x="4195404" y="2105655"/>
            <a:ext cx="525475" cy="745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5" name="Google Shape;1655;p1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0243" y="2230800"/>
            <a:ext cx="551559" cy="6382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6" name="Google Shape;1656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26206">
            <a:off x="4293216" y="4135680"/>
            <a:ext cx="663661" cy="58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7" name="Google Shape;1657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665720">
            <a:off x="4622356" y="3655812"/>
            <a:ext cx="665792" cy="726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8" name="Google Shape;1658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895986">
            <a:off x="4913409" y="4175659"/>
            <a:ext cx="581576" cy="634977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139"/>
          <p:cNvSpPr/>
          <p:nvPr/>
        </p:nvSpPr>
        <p:spPr>
          <a:xfrm>
            <a:off x="4493582" y="3744296"/>
            <a:ext cx="988883" cy="549922"/>
          </a:xfrm>
          <a:custGeom>
            <a:rect b="b" l="l" r="r" t="t"/>
            <a:pathLst>
              <a:path extrusionOk="0" h="38850" w="69444">
                <a:moveTo>
                  <a:pt x="56681" y="9196"/>
                </a:moveTo>
                <a:lnTo>
                  <a:pt x="39602" y="1313"/>
                </a:lnTo>
                <a:lnTo>
                  <a:pt x="18957" y="0"/>
                </a:lnTo>
                <a:lnTo>
                  <a:pt x="3754" y="13513"/>
                </a:lnTo>
                <a:lnTo>
                  <a:pt x="0" y="20270"/>
                </a:lnTo>
                <a:lnTo>
                  <a:pt x="17831" y="31531"/>
                </a:lnTo>
                <a:lnTo>
                  <a:pt x="28153" y="38850"/>
                </a:lnTo>
                <a:lnTo>
                  <a:pt x="48799" y="32469"/>
                </a:lnTo>
                <a:lnTo>
                  <a:pt x="69444" y="25149"/>
                </a:lnTo>
                <a:close/>
              </a:path>
            </a:pathLst>
          </a:custGeom>
          <a:solidFill>
            <a:srgbClr val="FFFFFF">
              <a:alpha val="6688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60" name="Google Shape;1660;p139"/>
          <p:cNvSpPr/>
          <p:nvPr/>
        </p:nvSpPr>
        <p:spPr>
          <a:xfrm>
            <a:off x="4325904" y="4021603"/>
            <a:ext cx="505483" cy="656117"/>
          </a:xfrm>
          <a:custGeom>
            <a:rect b="b" l="l" r="r" t="t"/>
            <a:pathLst>
              <a:path extrusionOk="0" h="48235" w="37161">
                <a:moveTo>
                  <a:pt x="9384" y="0"/>
                </a:moveTo>
                <a:lnTo>
                  <a:pt x="36223" y="22897"/>
                </a:lnTo>
                <a:lnTo>
                  <a:pt x="37161" y="25525"/>
                </a:lnTo>
                <a:lnTo>
                  <a:pt x="14639" y="48235"/>
                </a:lnTo>
                <a:lnTo>
                  <a:pt x="3566" y="33783"/>
                </a:lnTo>
                <a:lnTo>
                  <a:pt x="0" y="21208"/>
                </a:lnTo>
                <a:lnTo>
                  <a:pt x="4316" y="1314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61" name="Google Shape;1661;p139"/>
          <p:cNvSpPr/>
          <p:nvPr/>
        </p:nvSpPr>
        <p:spPr>
          <a:xfrm>
            <a:off x="4534623" y="4363091"/>
            <a:ext cx="778662" cy="454432"/>
          </a:xfrm>
          <a:custGeom>
            <a:rect b="b" l="l" r="r" t="t"/>
            <a:pathLst>
              <a:path extrusionOk="0" h="33408" w="57244">
                <a:moveTo>
                  <a:pt x="28903" y="0"/>
                </a:moveTo>
                <a:lnTo>
                  <a:pt x="20833" y="563"/>
                </a:lnTo>
                <a:lnTo>
                  <a:pt x="0" y="22146"/>
                </a:lnTo>
                <a:lnTo>
                  <a:pt x="22710" y="33408"/>
                </a:lnTo>
                <a:lnTo>
                  <a:pt x="49924" y="30217"/>
                </a:lnTo>
                <a:lnTo>
                  <a:pt x="57244" y="23085"/>
                </a:lnTo>
                <a:lnTo>
                  <a:pt x="35660" y="187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62" name="Google Shape;1662;p139"/>
          <p:cNvSpPr/>
          <p:nvPr/>
        </p:nvSpPr>
        <p:spPr>
          <a:xfrm>
            <a:off x="5022284" y="4151176"/>
            <a:ext cx="482508" cy="533572"/>
          </a:xfrm>
          <a:custGeom>
            <a:rect b="b" l="l" r="r" t="t"/>
            <a:pathLst>
              <a:path extrusionOk="0" h="39226" w="35472">
                <a:moveTo>
                  <a:pt x="32469" y="0"/>
                </a:moveTo>
                <a:lnTo>
                  <a:pt x="563" y="11449"/>
                </a:lnTo>
                <a:lnTo>
                  <a:pt x="0" y="15202"/>
                </a:lnTo>
                <a:lnTo>
                  <a:pt x="21771" y="39226"/>
                </a:lnTo>
                <a:lnTo>
                  <a:pt x="35472" y="21208"/>
                </a:lnTo>
                <a:close/>
              </a:path>
            </a:pathLst>
          </a:custGeom>
          <a:noFill/>
          <a:ln cap="flat" cmpd="sng" w="38100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663" name="Google Shape;1663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326206">
            <a:off x="7699191" y="3449418"/>
            <a:ext cx="663661" cy="58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4" name="Google Shape;1664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8665720">
            <a:off x="8028331" y="2969549"/>
            <a:ext cx="665792" cy="7269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5" name="Google Shape;1665;p13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895986">
            <a:off x="8319384" y="3489397"/>
            <a:ext cx="581576" cy="634977"/>
          </a:xfrm>
          <a:prstGeom prst="rect">
            <a:avLst/>
          </a:prstGeom>
          <a:noFill/>
          <a:ln>
            <a:noFill/>
          </a:ln>
        </p:spPr>
      </p:pic>
      <p:sp>
        <p:nvSpPr>
          <p:cNvPr id="1666" name="Google Shape;1666;p139"/>
          <p:cNvSpPr/>
          <p:nvPr/>
        </p:nvSpPr>
        <p:spPr>
          <a:xfrm>
            <a:off x="7899557" y="3058034"/>
            <a:ext cx="988883" cy="549922"/>
          </a:xfrm>
          <a:custGeom>
            <a:rect b="b" l="l" r="r" t="t"/>
            <a:pathLst>
              <a:path extrusionOk="0" h="38850" w="69444">
                <a:moveTo>
                  <a:pt x="56681" y="9196"/>
                </a:moveTo>
                <a:lnTo>
                  <a:pt x="39602" y="1313"/>
                </a:lnTo>
                <a:lnTo>
                  <a:pt x="18957" y="0"/>
                </a:lnTo>
                <a:lnTo>
                  <a:pt x="3754" y="13513"/>
                </a:lnTo>
                <a:lnTo>
                  <a:pt x="0" y="20270"/>
                </a:lnTo>
                <a:lnTo>
                  <a:pt x="17831" y="31531"/>
                </a:lnTo>
                <a:lnTo>
                  <a:pt x="28153" y="38850"/>
                </a:lnTo>
                <a:lnTo>
                  <a:pt x="48799" y="32469"/>
                </a:lnTo>
                <a:lnTo>
                  <a:pt x="69444" y="25149"/>
                </a:lnTo>
                <a:close/>
              </a:path>
            </a:pathLst>
          </a:custGeom>
          <a:solidFill>
            <a:srgbClr val="FFFFFF">
              <a:alpha val="6688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sp>
      <p:pic>
        <p:nvPicPr>
          <p:cNvPr id="1667" name="Google Shape;1667;p13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1200" y="1701450"/>
            <a:ext cx="3018400" cy="1007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8" name="Google Shape;1668;p13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1200" y="3719450"/>
            <a:ext cx="3558464" cy="97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140"/>
          <p:cNvSpPr txBox="1"/>
          <p:nvPr>
            <p:ph idx="1" type="body"/>
          </p:nvPr>
        </p:nvSpPr>
        <p:spPr>
          <a:xfrm>
            <a:off x="324000" y="759300"/>
            <a:ext cx="65931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1) </a:t>
            </a:r>
            <a:r>
              <a:rPr lang="en-GB" sz="1900"/>
              <a:t>A pizza is split into 12 equal pieces. A teacher takes </a:t>
            </a:r>
            <a:r>
              <a:rPr lang="en-GB" sz="1900"/>
              <a:t>2</a:t>
            </a:r>
            <a:r>
              <a:rPr lang="en-GB" sz="1900"/>
              <a:t> pieces and the </a:t>
            </a:r>
            <a:r>
              <a:rPr lang="en-GB" sz="1900"/>
              <a:t>remaining is given equally between 2 students. What fraction of the whole pizza does each student receive?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2) There are 14 crayons in a box. Two are lost and the rest are shared equally between a table of 4 students. What fraction of the full crayon box does each student receive?</a:t>
            </a:r>
            <a:endParaRPr sz="1900"/>
          </a:p>
        </p:txBody>
      </p:sp>
      <p:sp>
        <p:nvSpPr>
          <p:cNvPr id="1674" name="Google Shape;1674;p14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Contexts for dividing fractions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675" name="Google Shape;1675;p1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7603" y="902025"/>
            <a:ext cx="1704501" cy="162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6" name="Google Shape;1676;p1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6999" y="2789025"/>
            <a:ext cx="1625712" cy="198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141"/>
          <p:cNvSpPr txBox="1"/>
          <p:nvPr>
            <p:ph idx="1" type="body"/>
          </p:nvPr>
        </p:nvSpPr>
        <p:spPr>
          <a:xfrm>
            <a:off x="324000" y="759300"/>
            <a:ext cx="5248200" cy="17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3) A </a:t>
            </a:r>
            <a:r>
              <a:rPr lang="en-GB" sz="2000"/>
              <a:t>chocolate</a:t>
            </a:r>
            <a:r>
              <a:rPr lang="en-GB" sz="2000"/>
              <a:t> bar has 24 equal pieces. The teacher eats </a:t>
            </a:r>
            <a:r>
              <a:rPr lang="en-GB" sz="2000"/>
              <a:t>6</a:t>
            </a:r>
            <a:r>
              <a:rPr lang="en-GB" sz="2000"/>
              <a:t> pieces and shares the rest </a:t>
            </a:r>
            <a:r>
              <a:rPr lang="en-GB" sz="2000"/>
              <a:t>between</a:t>
            </a:r>
            <a:r>
              <a:rPr lang="en-GB" sz="2000"/>
              <a:t> </a:t>
            </a:r>
            <a:r>
              <a:rPr lang="en-GB" sz="2000"/>
              <a:t>3</a:t>
            </a:r>
            <a:r>
              <a:rPr lang="en-GB" sz="2000"/>
              <a:t> students. The teacher says everyone has had the same fraction of the chocolate bar. Is the teacher correct?</a:t>
            </a:r>
            <a:endParaRPr sz="2000"/>
          </a:p>
        </p:txBody>
      </p:sp>
      <p:sp>
        <p:nvSpPr>
          <p:cNvPr id="1682" name="Google Shape;1682;p14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Contexts for dividing fractions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683" name="Google Shape;1683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00" y="3195275"/>
            <a:ext cx="1372775" cy="1365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4" name="Google Shape;1684;p141"/>
          <p:cNvPicPr preferRelativeResize="0"/>
          <p:nvPr/>
        </p:nvPicPr>
        <p:blipFill rotWithShape="1">
          <a:blip r:embed="rId4">
            <a:alphaModFix/>
          </a:blip>
          <a:srcRect b="23710" l="0" r="0" t="0"/>
          <a:stretch/>
        </p:blipFill>
        <p:spPr>
          <a:xfrm>
            <a:off x="5717250" y="809998"/>
            <a:ext cx="2938525" cy="11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141"/>
          <p:cNvSpPr txBox="1"/>
          <p:nvPr>
            <p:ph idx="1" type="body"/>
          </p:nvPr>
        </p:nvSpPr>
        <p:spPr>
          <a:xfrm>
            <a:off x="2007475" y="3003813"/>
            <a:ext cx="6746100" cy="17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4) A pizza is cut into </a:t>
            </a:r>
            <a:r>
              <a:rPr lang="en-GB" sz="2000"/>
              <a:t>4</a:t>
            </a:r>
            <a:r>
              <a:rPr lang="en-GB" sz="2000"/>
              <a:t> equal pieces. There are </a:t>
            </a:r>
            <a:r>
              <a:rPr lang="en-GB" sz="2000"/>
              <a:t>6</a:t>
            </a:r>
            <a:r>
              <a:rPr lang="en-GB" sz="2000"/>
              <a:t> people who need to share the pizza equally.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should the pizza be cut so everyone receives an equal piece? What fraction does each person receive? 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9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42"/>
          <p:cNvSpPr txBox="1"/>
          <p:nvPr>
            <p:ph idx="1" type="body"/>
          </p:nvPr>
        </p:nvSpPr>
        <p:spPr>
          <a:xfrm>
            <a:off x="324000" y="759300"/>
            <a:ext cx="6600900" cy="15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A pizza is split into 12 equal pieces. A teacher takes </a:t>
            </a:r>
            <a:r>
              <a:rPr lang="en-GB" sz="1900"/>
              <a:t>2</a:t>
            </a:r>
            <a:r>
              <a:rPr lang="en-GB" sz="1900"/>
              <a:t> pieces and the remaining is given equally between </a:t>
            </a:r>
            <a:r>
              <a:rPr lang="en-GB" sz="1900"/>
              <a:t>2</a:t>
            </a:r>
            <a:r>
              <a:rPr lang="en-GB" sz="1900"/>
              <a:t> students. What fraction of the whole pizza does each student receive?</a:t>
            </a:r>
            <a:endParaRPr sz="1900"/>
          </a:p>
        </p:txBody>
      </p:sp>
      <p:sp>
        <p:nvSpPr>
          <p:cNvPr id="1691" name="Google Shape;1691;p14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Contexts for dividing fractions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692" name="Google Shape;1692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7603" y="902025"/>
            <a:ext cx="1704501" cy="162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3" name="Google Shape;1693;p142"/>
          <p:cNvSpPr txBox="1"/>
          <p:nvPr/>
        </p:nvSpPr>
        <p:spPr>
          <a:xfrm>
            <a:off x="609600" y="2571750"/>
            <a:ext cx="6600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Removing 2 pieces means there are 10 pieces left.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4" name="Google Shape;1694;p142"/>
          <p:cNvSpPr txBox="1"/>
          <p:nvPr/>
        </p:nvSpPr>
        <p:spPr>
          <a:xfrm>
            <a:off x="609600" y="3124200"/>
            <a:ext cx="8020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Dividing these 10 pieces by 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means each person gets 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pieces each.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95" name="Google Shape;1695;p142"/>
          <p:cNvSpPr txBox="1"/>
          <p:nvPr/>
        </p:nvSpPr>
        <p:spPr>
          <a:xfrm>
            <a:off x="609600" y="3676650"/>
            <a:ext cx="8020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means each person receives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12}&quot;&gt;&lt;mfrac&gt;&lt;mn&gt;5&lt;/mn&gt;&lt;mn&gt;12&lt;/mn&gt;&lt;/mfrac&gt;&lt;/math&gt;" id="1696" name="Google Shape;1696;p142" title="5 over 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4275" y="3607125"/>
            <a:ext cx="338125" cy="616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143"/>
          <p:cNvSpPr txBox="1"/>
          <p:nvPr>
            <p:ph idx="1" type="body"/>
          </p:nvPr>
        </p:nvSpPr>
        <p:spPr>
          <a:xfrm>
            <a:off x="324000" y="759300"/>
            <a:ext cx="6772200" cy="40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2) </a:t>
            </a:r>
            <a:r>
              <a:rPr lang="en-GB" sz="1900"/>
              <a:t>There are 14 crayons in a box. Two are lost and the rest are shared equally between a table of </a:t>
            </a:r>
            <a:r>
              <a:rPr lang="en-GB" sz="1900"/>
              <a:t>4</a:t>
            </a:r>
            <a:r>
              <a:rPr lang="en-GB" sz="1900"/>
              <a:t> students. What fraction of the full crayon box does each student receive?</a:t>
            </a:r>
            <a:endParaRPr sz="1900"/>
          </a:p>
        </p:txBody>
      </p:sp>
      <p:sp>
        <p:nvSpPr>
          <p:cNvPr id="1702" name="Google Shape;1702;p14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Contexts for dividing fractions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703" name="Google Shape;1703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6999" y="2789025"/>
            <a:ext cx="1625712" cy="198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43"/>
          <p:cNvSpPr txBox="1"/>
          <p:nvPr/>
        </p:nvSpPr>
        <p:spPr>
          <a:xfrm>
            <a:off x="609600" y="2414288"/>
            <a:ext cx="6600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Removing 2 crayons means there are 12 left.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5" name="Google Shape;1705;p143"/>
          <p:cNvSpPr txBox="1"/>
          <p:nvPr/>
        </p:nvSpPr>
        <p:spPr>
          <a:xfrm>
            <a:off x="609600" y="2966738"/>
            <a:ext cx="8020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Dividing these 12 pieces by 4 means each person gets 3.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06" name="Google Shape;1706;p143"/>
          <p:cNvSpPr txBox="1"/>
          <p:nvPr/>
        </p:nvSpPr>
        <p:spPr>
          <a:xfrm>
            <a:off x="609600" y="3519188"/>
            <a:ext cx="8020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means each person receives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14}&quot;&gt;&lt;mfrac&gt;&lt;mn&gt;3&lt;/mn&gt;&lt;mn&gt;14&lt;/mn&gt;&lt;/mfrac&gt;&lt;/math&gt;" id="1707" name="Google Shape;1707;p143" title="3 over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60335" y="3469875"/>
            <a:ext cx="319325" cy="57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144"/>
          <p:cNvSpPr txBox="1"/>
          <p:nvPr>
            <p:ph idx="1" type="body"/>
          </p:nvPr>
        </p:nvSpPr>
        <p:spPr>
          <a:xfrm>
            <a:off x="324000" y="759300"/>
            <a:ext cx="5229000" cy="189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3) A chocolate bar has 24 equal pieces. The teacher eats 6 pieces and shares the rest between 3 students. The teacher says everyone has had the same fraction of the chocolate bar. Is the teacher correct?</a:t>
            </a:r>
            <a:endParaRPr sz="1900"/>
          </a:p>
        </p:txBody>
      </p:sp>
      <p:sp>
        <p:nvSpPr>
          <p:cNvPr id="1713" name="Google Shape;1713;p14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Contexts for dividing fractions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714" name="Google Shape;1714;p144"/>
          <p:cNvPicPr preferRelativeResize="0"/>
          <p:nvPr/>
        </p:nvPicPr>
        <p:blipFill rotWithShape="1">
          <a:blip r:embed="rId3">
            <a:alphaModFix/>
          </a:blip>
          <a:srcRect b="23710" l="0" r="0" t="0"/>
          <a:stretch/>
        </p:blipFill>
        <p:spPr>
          <a:xfrm>
            <a:off x="5717250" y="809998"/>
            <a:ext cx="2938525" cy="11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5" name="Google Shape;1715;p144"/>
          <p:cNvSpPr txBox="1"/>
          <p:nvPr/>
        </p:nvSpPr>
        <p:spPr>
          <a:xfrm>
            <a:off x="324000" y="2650788"/>
            <a:ext cx="6600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Removing 6 pieces means there are 18 pieces left.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6" name="Google Shape;1716;p144"/>
          <p:cNvSpPr txBox="1"/>
          <p:nvPr/>
        </p:nvSpPr>
        <p:spPr>
          <a:xfrm>
            <a:off x="324000" y="3203238"/>
            <a:ext cx="80202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Dividing these 18 pieces by 3 means each person gets 6.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17" name="Google Shape;1717;p144"/>
          <p:cNvSpPr txBox="1"/>
          <p:nvPr/>
        </p:nvSpPr>
        <p:spPr>
          <a:xfrm>
            <a:off x="324000" y="3755688"/>
            <a:ext cx="8020200" cy="8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means that they all received the same fraction,    or   of the chocolate bar.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}{18}\ \frac{1}{4}&quot;&gt;&lt;mfrac&gt;&lt;mn&gt;6&lt;/mn&gt;&lt;mn&gt;18&lt;/mn&gt;&lt;/mfrac&gt;&lt;mtext&gt;&lt;/mtext&gt;&lt;mfrac&gt;&lt;mn&gt;1&lt;/mn&gt;&lt;mn&gt;4&lt;/mn&gt;&lt;/mfrac&gt;&lt;/math&gt;" id="1718" name="Google Shape;1718;p144" title="6 over 18 one fourth"/>
          <p:cNvPicPr preferRelativeResize="0"/>
          <p:nvPr/>
        </p:nvPicPr>
        <p:blipFill rotWithShape="1">
          <a:blip r:embed="rId4">
            <a:alphaModFix/>
          </a:blip>
          <a:srcRect b="0" l="66162" r="0" t="0"/>
          <a:stretch/>
        </p:blipFill>
        <p:spPr>
          <a:xfrm>
            <a:off x="6497640" y="3779999"/>
            <a:ext cx="170622" cy="4672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6 over 24 one fourth&#10;&#10;&lt;math xmlns=&quot;http://www.w3.org/1998/Math/MathML&quot; display=&quot;block&quot; data-is-equatio=&quot;1&quot; data-latex=&quot;\frac{6}{24}\ \frac{1}{4}&quot;&gt;&lt;mfrac&gt;&lt;mn&gt;6&lt;/mn&gt;&lt;mn&gt;24&lt;/mn&gt;&lt;/mfrac&gt;&lt;mtext&gt;&lt;/mtext&gt;&lt;mfrac&gt;&lt;mn&gt;1&lt;/mn&gt;&lt;mn&gt;4&lt;/mn&gt;&lt;/mfrac&gt;&lt;/math&gt;" id="1719" name="Google Shape;1719;p144"/>
          <p:cNvPicPr preferRelativeResize="0"/>
          <p:nvPr/>
        </p:nvPicPr>
        <p:blipFill rotWithShape="1">
          <a:blip r:embed="rId5">
            <a:alphaModFix/>
          </a:blip>
          <a:srcRect b="0" l="0" r="44249" t="0"/>
          <a:stretch/>
        </p:blipFill>
        <p:spPr>
          <a:xfrm>
            <a:off x="5915875" y="3780000"/>
            <a:ext cx="283400" cy="4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4" name="Google Shape;1724;p14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Contexts for dividing fractions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1725" name="Google Shape;1725;p1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663" y="869225"/>
            <a:ext cx="1372775" cy="1365766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145"/>
          <p:cNvSpPr txBox="1"/>
          <p:nvPr>
            <p:ph idx="1" type="body"/>
          </p:nvPr>
        </p:nvSpPr>
        <p:spPr>
          <a:xfrm>
            <a:off x="1948238" y="745650"/>
            <a:ext cx="6746100" cy="174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4) A pizza is cut into 4 equal pieces. There are 6 people who need to share the pizza equally.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should the pizza be cut so everyone receives an equal piece? What fraction does each person receive?</a:t>
            </a:r>
            <a:r>
              <a:rPr lang="en-GB" sz="2000"/>
              <a:t> </a:t>
            </a:r>
            <a:endParaRPr sz="2000"/>
          </a:p>
        </p:txBody>
      </p:sp>
      <p:pic>
        <p:nvPicPr>
          <p:cNvPr id="1727" name="Google Shape;1727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7638" y="2552150"/>
            <a:ext cx="1476818" cy="1375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8" name="Google Shape;1728;p145"/>
          <p:cNvSpPr txBox="1"/>
          <p:nvPr/>
        </p:nvSpPr>
        <p:spPr>
          <a:xfrm>
            <a:off x="1948250" y="2494350"/>
            <a:ext cx="510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Cut each ¼ into 3 pieces.</a:t>
            </a:r>
            <a:endParaRPr/>
          </a:p>
        </p:txBody>
      </p:sp>
      <p:sp>
        <p:nvSpPr>
          <p:cNvPr id="1729" name="Google Shape;1729;p145"/>
          <p:cNvSpPr txBox="1"/>
          <p:nvPr/>
        </p:nvSpPr>
        <p:spPr>
          <a:xfrm>
            <a:off x="1948250" y="2951550"/>
            <a:ext cx="510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This means there are 12 pieces.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30" name="Google Shape;1730;p145"/>
          <p:cNvSpPr txBox="1"/>
          <p:nvPr/>
        </p:nvSpPr>
        <p:spPr>
          <a:xfrm>
            <a:off x="1948250" y="3484950"/>
            <a:ext cx="510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Each person then gets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12}\ \ \frac{1}{6}&quot;&gt;&lt;mfrac&gt;&lt;mn&gt;2&lt;/mn&gt;&lt;mn&gt;12&lt;/mn&gt;&lt;/mfrac&gt;&lt;mtext&gt;&lt;/mtext&gt;&lt;mtext&gt;&lt;/mtext&gt;&lt;mfrac&gt;&lt;mn&gt;1&lt;/mn&gt;&lt;mn&gt;6&lt;/mn&gt;&lt;/mfrac&gt;&lt;/math&gt;" id="1731" name="Google Shape;1731;p145" title="2 over 12 one sixth"/>
          <p:cNvPicPr preferRelativeResize="0"/>
          <p:nvPr/>
        </p:nvPicPr>
        <p:blipFill rotWithShape="1">
          <a:blip r:embed="rId5">
            <a:alphaModFix/>
          </a:blip>
          <a:srcRect b="0" l="0" r="44720" t="0"/>
          <a:stretch/>
        </p:blipFill>
        <p:spPr>
          <a:xfrm>
            <a:off x="4824000" y="3432600"/>
            <a:ext cx="386175" cy="5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2" name="Google Shape;1732;p145"/>
          <p:cNvSpPr txBox="1"/>
          <p:nvPr/>
        </p:nvSpPr>
        <p:spPr>
          <a:xfrm>
            <a:off x="1948250" y="4018350"/>
            <a:ext cx="510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Which is the same as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2}{12}\ \ \frac{1}{6}&quot;&gt;&lt;mfrac&gt;&lt;mn&gt;2&lt;/mn&gt;&lt;mn&gt;12&lt;/mn&gt;&lt;/mfrac&gt;&lt;mtext&gt;&lt;/mtext&gt;&lt;mtext&gt;&lt;/mtext&gt;&lt;mfrac&gt;&lt;mn&gt;1&lt;/mn&gt;&lt;mn&gt;6&lt;/mn&gt;&lt;/mfrac&gt;&lt;/math&gt;" id="1733" name="Google Shape;1733;p145" title="2 over 12 one sixth"/>
          <p:cNvPicPr preferRelativeResize="0"/>
          <p:nvPr/>
        </p:nvPicPr>
        <p:blipFill rotWithShape="1">
          <a:blip r:embed="rId5">
            <a:alphaModFix/>
          </a:blip>
          <a:srcRect b="0" l="66188" r="0" t="0"/>
          <a:stretch/>
        </p:blipFill>
        <p:spPr>
          <a:xfrm>
            <a:off x="4762500" y="4118400"/>
            <a:ext cx="236200" cy="5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4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Contexts for dividing fractions</a:t>
            </a:r>
            <a:endParaRPr/>
          </a:p>
        </p:txBody>
      </p:sp>
      <p:sp>
        <p:nvSpPr>
          <p:cNvPr id="1739" name="Google Shape;1739;p14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740" name="Google Shape;1740;p146"/>
          <p:cNvSpPr txBox="1"/>
          <p:nvPr>
            <p:ph idx="3" type="title"/>
          </p:nvPr>
        </p:nvSpPr>
        <p:spPr>
          <a:xfrm>
            <a:off x="324000" y="657600"/>
            <a:ext cx="80739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dividing a fraction by a whole number</a:t>
            </a:r>
            <a:endParaRPr/>
          </a:p>
        </p:txBody>
      </p:sp>
      <p:pic>
        <p:nvPicPr>
          <p:cNvPr id="1741" name="Google Shape;1741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452" y="29977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5" name="Shape 1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6" name="Google Shape;1746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747" name="Google Shape;1747;p147"/>
          <p:cNvSpPr txBox="1"/>
          <p:nvPr/>
        </p:nvSpPr>
        <p:spPr>
          <a:xfrm>
            <a:off x="279350" y="1704901"/>
            <a:ext cx="77865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8" name="Google Shape;1748;p147"/>
          <p:cNvSpPr txBox="1"/>
          <p:nvPr/>
        </p:nvSpPr>
        <p:spPr>
          <a:xfrm>
            <a:off x="186641" y="1653126"/>
            <a:ext cx="788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9}{10}\div3&quot;&gt;&lt;mfrac&gt;&lt;mn&gt;9&lt;/mn&gt;&lt;mn&gt;10&lt;/mn&gt;&lt;/mfrac&gt;&lt;mo&gt;÷&lt;/mo&gt;&lt;mn&gt;3&lt;/mn&gt;&lt;/math&gt;" id="1749" name="Google Shape;1749;p147" title="nine tenths divided by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1675" y="1633701"/>
            <a:ext cx="931370" cy="7192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50" name="Google Shape;1750;p147"/>
          <p:cNvGraphicFramePr/>
          <p:nvPr/>
        </p:nvGraphicFramePr>
        <p:xfrm>
          <a:off x="3357450" y="26339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48517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51" name="Google Shape;1751;p147"/>
          <p:cNvGraphicFramePr/>
          <p:nvPr/>
        </p:nvGraphicFramePr>
        <p:xfrm>
          <a:off x="3357450" y="3241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485175"/>
                <a:gridCol w="485175"/>
                <a:gridCol w="485175"/>
                <a:gridCol w="485175"/>
                <a:gridCol w="485175"/>
                <a:gridCol w="485175"/>
                <a:gridCol w="485175"/>
                <a:gridCol w="485175"/>
                <a:gridCol w="485175"/>
                <a:gridCol w="485175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37B7D">
                        <a:alpha val="524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9}{10}\div3\ =\ \frac{3}{10}&quot;&gt;&lt;mfrac&gt;&lt;mn&gt;9&lt;/mn&gt;&lt;mn&gt;10&lt;/mn&gt;&lt;/mfrac&gt;&lt;mo&gt;÷&lt;/mo&gt;&lt;mn&gt;3&lt;/mn&gt;&lt;mtext&gt;&lt;/mtext&gt;&lt;mo&gt;=&lt;/mo&gt;&lt;mtext&gt;&lt;/mtext&gt;&lt;mfrac&gt;&lt;mn&gt;3&lt;/mn&gt;&lt;mn&gt;10&lt;/mn&gt;&lt;/mfrac&gt;&lt;/math&gt;" id="1752" name="Google Shape;1752;p147" title="nine tenths divided by 3 equals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3100" y="4112122"/>
            <a:ext cx="1986943" cy="719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3" name="Google Shape;1753;p147"/>
          <p:cNvGrpSpPr/>
          <p:nvPr/>
        </p:nvGrpSpPr>
        <p:grpSpPr>
          <a:xfrm>
            <a:off x="228492" y="4003452"/>
            <a:ext cx="3360600" cy="541475"/>
            <a:chOff x="367805" y="3457350"/>
            <a:chExt cx="3000000" cy="541475"/>
          </a:xfrm>
        </p:grpSpPr>
        <p:sp>
          <p:nvSpPr>
            <p:cNvPr id="1754" name="Google Shape;1754;p147"/>
            <p:cNvSpPr txBox="1"/>
            <p:nvPr/>
          </p:nvSpPr>
          <p:spPr>
            <a:xfrm>
              <a:off x="367805" y="3475625"/>
              <a:ext cx="3000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Can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frac{9}{10}\div3&quot;&gt;&lt;mfrac&gt;&lt;mn&gt;9&lt;/mn&gt;&lt;mn&gt;10&lt;/mn&gt;&lt;/mfrac&gt;&lt;mo&gt;÷&lt;/mo&gt;&lt;mn&gt;3&lt;/mn&gt;&lt;/math&gt;" id="1755" name="Google Shape;1755;p147" title="nine tenths divided by 3"/>
            <p:cNvPicPr preferRelativeResize="0"/>
            <p:nvPr/>
          </p:nvPicPr>
          <p:blipFill rotWithShape="1">
            <a:blip r:embed="rId3">
              <a:alphaModFix/>
            </a:blip>
            <a:srcRect b="0" l="0" r="48922" t="0"/>
            <a:stretch/>
          </p:blipFill>
          <p:spPr>
            <a:xfrm>
              <a:off x="1482503" y="3457350"/>
              <a:ext cx="346075" cy="523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56" name="Google Shape;1756;p147"/>
          <p:cNvSpPr txBox="1"/>
          <p:nvPr/>
        </p:nvSpPr>
        <p:spPr>
          <a:xfrm>
            <a:off x="279341" y="2463125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is the 1 </a:t>
            </a:r>
            <a:endParaRPr/>
          </a:p>
        </p:txBody>
      </p:sp>
      <p:grpSp>
        <p:nvGrpSpPr>
          <p:cNvPr id="1757" name="Google Shape;1757;p147"/>
          <p:cNvGrpSpPr/>
          <p:nvPr/>
        </p:nvGrpSpPr>
        <p:grpSpPr>
          <a:xfrm>
            <a:off x="195005" y="3120232"/>
            <a:ext cx="3000000" cy="532950"/>
            <a:chOff x="367800" y="2233950"/>
            <a:chExt cx="3000000" cy="532950"/>
          </a:xfrm>
        </p:grpSpPr>
        <p:sp>
          <p:nvSpPr>
            <p:cNvPr id="1758" name="Google Shape;1758;p147"/>
            <p:cNvSpPr txBox="1"/>
            <p:nvPr/>
          </p:nvSpPr>
          <p:spPr>
            <a:xfrm>
              <a:off x="367800" y="2243700"/>
              <a:ext cx="30000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What</a:t>
              </a:r>
              <a:endParaRPr/>
            </a:p>
          </p:txBody>
        </p:sp>
        <p:pic>
          <p:nvPicPr>
            <p:cNvPr descr="&lt;math xmlns=&quot;http://www.w3.org/1998/Math/MathML&quot; display=&quot;block&quot; data-is-equatio=&quot;1&quot; data-latex=&quot;\frac{9}{10}\div3&quot;&gt;&lt;mfrac&gt;&lt;mn&gt;9&lt;/mn&gt;&lt;mn&gt;10&lt;/mn&gt;&lt;/mfrac&gt;&lt;mo&gt;÷&lt;/mo&gt;&lt;mn&gt;3&lt;/mn&gt;&lt;/math&gt;" id="1759" name="Google Shape;1759;p147" title="nine tenths divided by 3"/>
            <p:cNvPicPr preferRelativeResize="0"/>
            <p:nvPr/>
          </p:nvPicPr>
          <p:blipFill rotWithShape="1">
            <a:blip r:embed="rId3">
              <a:alphaModFix/>
            </a:blip>
            <a:srcRect b="0" l="0" r="48922" t="0"/>
            <a:stretch/>
          </p:blipFill>
          <p:spPr>
            <a:xfrm>
              <a:off x="2541125" y="2233950"/>
              <a:ext cx="346075" cy="523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0" name="Google Shape;1760;p147"/>
          <p:cNvGrpSpPr/>
          <p:nvPr/>
        </p:nvGrpSpPr>
        <p:grpSpPr>
          <a:xfrm>
            <a:off x="3474793" y="3274368"/>
            <a:ext cx="4590830" cy="529312"/>
            <a:chOff x="3519443" y="2276318"/>
            <a:chExt cx="4590830" cy="529312"/>
          </a:xfrm>
        </p:grpSpPr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1" name="Google Shape;1761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519443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2" name="Google Shape;1762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76643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3" name="Google Shape;1763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433843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4" name="Google Shape;1764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938720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5" name="Google Shape;1765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386272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6" name="Google Shape;1766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81643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7" name="Google Shape;1767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386380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8" name="Google Shape;1768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43580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69" name="Google Shape;1769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338809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770" name="Google Shape;1770;p147" title="one t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824672" y="2276318"/>
              <a:ext cx="285600" cy="52931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71" name="Google Shape;1771;p147"/>
          <p:cNvSpPr/>
          <p:nvPr/>
        </p:nvSpPr>
        <p:spPr>
          <a:xfrm>
            <a:off x="3357450" y="3243100"/>
            <a:ext cx="1455600" cy="613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47"/>
          <p:cNvSpPr/>
          <p:nvPr/>
        </p:nvSpPr>
        <p:spPr>
          <a:xfrm>
            <a:off x="4812975" y="3241775"/>
            <a:ext cx="1455600" cy="613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47"/>
          <p:cNvSpPr/>
          <p:nvPr/>
        </p:nvSpPr>
        <p:spPr>
          <a:xfrm>
            <a:off x="6268500" y="3241800"/>
            <a:ext cx="1455600" cy="613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4" name="Google Shape;1774;p147"/>
          <p:cNvGrpSpPr/>
          <p:nvPr/>
        </p:nvGrpSpPr>
        <p:grpSpPr>
          <a:xfrm>
            <a:off x="195010" y="3096528"/>
            <a:ext cx="4447654" cy="904200"/>
            <a:chOff x="231296" y="2243700"/>
            <a:chExt cx="4447654" cy="904200"/>
          </a:xfrm>
        </p:grpSpPr>
        <p:sp>
          <p:nvSpPr>
            <p:cNvPr id="1775" name="Google Shape;1775;p147"/>
            <p:cNvSpPr txBox="1"/>
            <p:nvPr/>
          </p:nvSpPr>
          <p:spPr>
            <a:xfrm>
              <a:off x="231296" y="2624700"/>
              <a:ext cx="1767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look like? </a:t>
              </a:r>
              <a:endParaRPr/>
            </a:p>
          </p:txBody>
        </p:sp>
        <p:sp>
          <p:nvSpPr>
            <p:cNvPr id="1776" name="Google Shape;1776;p147"/>
            <p:cNvSpPr txBox="1"/>
            <p:nvPr/>
          </p:nvSpPr>
          <p:spPr>
            <a:xfrm>
              <a:off x="1046475" y="2243700"/>
              <a:ext cx="2946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does</a:t>
              </a:r>
              <a:endParaRPr/>
            </a:p>
          </p:txBody>
        </p:sp>
        <p:sp>
          <p:nvSpPr>
            <p:cNvPr id="1777" name="Google Shape;1777;p147"/>
            <p:cNvSpPr txBox="1"/>
            <p:nvPr/>
          </p:nvSpPr>
          <p:spPr>
            <a:xfrm>
              <a:off x="1760850" y="2243700"/>
              <a:ext cx="29181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</a:t>
              </a:r>
              <a:endParaRPr/>
            </a:p>
          </p:txBody>
        </p:sp>
      </p:grpSp>
      <p:grpSp>
        <p:nvGrpSpPr>
          <p:cNvPr id="1778" name="Google Shape;1778;p147"/>
          <p:cNvGrpSpPr/>
          <p:nvPr/>
        </p:nvGrpSpPr>
        <p:grpSpPr>
          <a:xfrm>
            <a:off x="228487" y="3988273"/>
            <a:ext cx="4960806" cy="904200"/>
            <a:chOff x="231319" y="3387950"/>
            <a:chExt cx="4960806" cy="904200"/>
          </a:xfrm>
        </p:grpSpPr>
        <p:sp>
          <p:nvSpPr>
            <p:cNvPr id="1779" name="Google Shape;1779;p147"/>
            <p:cNvSpPr txBox="1"/>
            <p:nvPr/>
          </p:nvSpPr>
          <p:spPr>
            <a:xfrm>
              <a:off x="231319" y="3768950"/>
              <a:ext cx="336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into 3 equal groups?</a:t>
              </a:r>
              <a:endParaRPr/>
            </a:p>
          </p:txBody>
        </p:sp>
        <p:sp>
          <p:nvSpPr>
            <p:cNvPr id="1780" name="Google Shape;1780;p147"/>
            <p:cNvSpPr txBox="1"/>
            <p:nvPr/>
          </p:nvSpPr>
          <p:spPr>
            <a:xfrm>
              <a:off x="840925" y="3387950"/>
              <a:ext cx="336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the</a:t>
              </a:r>
              <a:endParaRPr/>
            </a:p>
          </p:txBody>
        </p:sp>
        <p:sp>
          <p:nvSpPr>
            <p:cNvPr id="1781" name="Google Shape;1781;p147"/>
            <p:cNvSpPr txBox="1"/>
            <p:nvPr/>
          </p:nvSpPr>
          <p:spPr>
            <a:xfrm>
              <a:off x="1831525" y="3387950"/>
              <a:ext cx="3360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be divided</a:t>
              </a:r>
              <a:endParaRPr/>
            </a:p>
          </p:txBody>
        </p:sp>
      </p:grpSp>
      <p:sp>
        <p:nvSpPr>
          <p:cNvPr id="1782" name="Google Shape;1782;p147"/>
          <p:cNvSpPr txBox="1"/>
          <p:nvPr/>
        </p:nvSpPr>
        <p:spPr>
          <a:xfrm>
            <a:off x="186650" y="623700"/>
            <a:ext cx="89211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use bar models to show a quicker and more efficient way to do divide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fractions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whole numbers.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6" name="Shape 1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7" name="Google Shape;1787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788" name="Google Shape;1788;p148"/>
          <p:cNvSpPr txBox="1"/>
          <p:nvPr>
            <p:ph idx="4294967295" type="body"/>
          </p:nvPr>
        </p:nvSpPr>
        <p:spPr>
          <a:xfrm>
            <a:off x="324000" y="759300"/>
            <a:ext cx="4105200" cy="15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Using bar models, show the working out for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graphicFrame>
        <p:nvGraphicFramePr>
          <p:cNvPr id="1789" name="Google Shape;1789;p148"/>
          <p:cNvGraphicFramePr/>
          <p:nvPr/>
        </p:nvGraphicFramePr>
        <p:xfrm>
          <a:off x="324000" y="2278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39135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5}\div2\ =\ \frac{2}{5}&quot;&gt;&lt;mfrac&gt;&lt;mn&gt;4&lt;/mn&gt;&lt;mn&gt;5&lt;/mn&gt;&lt;/mfrac&gt;&lt;mo&gt;÷&lt;/mo&gt;&lt;mn&gt;2&lt;/mn&gt;&lt;mtext&gt;&lt;/mtext&gt;&lt;mo&gt;=&lt;/mo&gt;&lt;mtext&gt;&lt;/mtext&gt;&lt;mfrac&gt;&lt;mn&gt;2&lt;/mn&gt;&lt;mn&gt;5&lt;/mn&gt;&lt;/mfrac&gt;&lt;/math&gt;" id="1790" name="Google Shape;1790;p148" title="four fifths divided by 2 equals two fifths"/>
          <p:cNvPicPr preferRelativeResize="0"/>
          <p:nvPr/>
        </p:nvPicPr>
        <p:blipFill rotWithShape="1">
          <a:blip r:embed="rId3">
            <a:alphaModFix/>
          </a:blip>
          <a:srcRect b="0" l="0" r="46780" t="0"/>
          <a:stretch/>
        </p:blipFill>
        <p:spPr>
          <a:xfrm>
            <a:off x="2173438" y="1546500"/>
            <a:ext cx="744225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1" name="Google Shape;1791;p148"/>
          <p:cNvGraphicFramePr/>
          <p:nvPr/>
        </p:nvGraphicFramePr>
        <p:xfrm>
          <a:off x="323963" y="28832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782725"/>
                <a:gridCol w="782725"/>
                <a:gridCol w="782725"/>
                <a:gridCol w="782725"/>
                <a:gridCol w="782725"/>
              </a:tblGrid>
              <a:tr h="71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5}\div2\ =\ \frac{2}{5}&quot;&gt;&lt;mfrac&gt;&lt;mn&gt;4&lt;/mn&gt;&lt;mn&gt;5&lt;/mn&gt;&lt;/mfrac&gt;&lt;mo&gt;÷&lt;/mo&gt;&lt;mn&gt;2&lt;/mn&gt;&lt;mtext&gt;&lt;/mtext&gt;&lt;mo&gt;=&lt;/mo&gt;&lt;mtext&gt;&lt;/mtext&gt;&lt;mfrac&gt;&lt;mn&gt;2&lt;/mn&gt;&lt;mn&gt;5&lt;/mn&gt;&lt;/mfrac&gt;&lt;/math&gt;" id="1792" name="Google Shape;1792;p148" title="four fifths divided by 2 equals two fifths"/>
          <p:cNvPicPr preferRelativeResize="0"/>
          <p:nvPr/>
        </p:nvPicPr>
        <p:blipFill rotWithShape="1">
          <a:blip r:embed="rId3">
            <a:alphaModFix/>
          </a:blip>
          <a:srcRect b="0" l="0" r="-12208" t="0"/>
          <a:stretch/>
        </p:blipFill>
        <p:spPr>
          <a:xfrm>
            <a:off x="1761000" y="4102250"/>
            <a:ext cx="156911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3" name="Google Shape;1793;p148"/>
          <p:cNvSpPr txBox="1"/>
          <p:nvPr>
            <p:ph idx="4294967295" type="body"/>
          </p:nvPr>
        </p:nvSpPr>
        <p:spPr>
          <a:xfrm>
            <a:off x="4772175" y="759300"/>
            <a:ext cx="4105200" cy="15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Using bar models, show the working out for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6}{7}\div3=\frac{2}{7}&quot;&gt;&lt;mfrac&gt;&lt;mn&gt;6&lt;/mn&gt;&lt;mn&gt;7&lt;/mn&gt;&lt;/mfrac&gt;&lt;mo&gt;÷&lt;/mo&gt;&lt;mn&gt;3&lt;/mn&gt;&lt;mo&gt;=&lt;/mo&gt;&lt;mfrac&gt;&lt;mn&gt;2&lt;/mn&gt;&lt;mn&gt;7&lt;/mn&gt;&lt;/mfrac&gt;&lt;/math&gt;" id="1794" name="Google Shape;1794;p148" title="six sevenths divided by 3 equals two sevenths"/>
          <p:cNvPicPr preferRelativeResize="0"/>
          <p:nvPr/>
        </p:nvPicPr>
        <p:blipFill rotWithShape="1">
          <a:blip r:embed="rId4">
            <a:alphaModFix/>
          </a:blip>
          <a:srcRect b="0" l="0" r="41055" t="0"/>
          <a:stretch/>
        </p:blipFill>
        <p:spPr>
          <a:xfrm>
            <a:off x="6515988" y="1620000"/>
            <a:ext cx="744200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5" name="Google Shape;1795;p148"/>
          <p:cNvGraphicFramePr/>
          <p:nvPr/>
        </p:nvGraphicFramePr>
        <p:xfrm>
          <a:off x="4824000" y="226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3913550"/>
              </a:tblGrid>
              <a:tr h="622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796" name="Google Shape;1796;p148"/>
          <p:cNvGraphicFramePr/>
          <p:nvPr/>
        </p:nvGraphicFramePr>
        <p:xfrm>
          <a:off x="4824000" y="290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559100"/>
                <a:gridCol w="559100"/>
                <a:gridCol w="559100"/>
                <a:gridCol w="559100"/>
                <a:gridCol w="559100"/>
                <a:gridCol w="559100"/>
                <a:gridCol w="559100"/>
              </a:tblGrid>
              <a:tr h="68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6}{7}\div3=\frac{2}{7}&quot;&gt;&lt;mfrac&gt;&lt;mn&gt;6&lt;/mn&gt;&lt;mn&gt;7&lt;/mn&gt;&lt;/mfrac&gt;&lt;mo&gt;÷&lt;/mo&gt;&lt;mn&gt;3&lt;/mn&gt;&lt;mo&gt;=&lt;/mo&gt;&lt;mfrac&gt;&lt;mn&gt;2&lt;/mn&gt;&lt;mn&gt;7&lt;/mn&gt;&lt;/mfrac&gt;&lt;/math&gt;" id="1797" name="Google Shape;1797;p148" title="six sevenths divided by 3 equals two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6800" y="3991725"/>
            <a:ext cx="1262572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98" name="Google Shape;1798;p148"/>
          <p:cNvGraphicFramePr/>
          <p:nvPr/>
        </p:nvGraphicFramePr>
        <p:xfrm>
          <a:off x="323963" y="28984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782725"/>
                <a:gridCol w="782725"/>
                <a:gridCol w="782725"/>
                <a:gridCol w="782725"/>
                <a:gridCol w="782725"/>
              </a:tblGrid>
              <a:tr h="713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9" name="Google Shape;1799;p148"/>
          <p:cNvSpPr/>
          <p:nvPr/>
        </p:nvSpPr>
        <p:spPr>
          <a:xfrm>
            <a:off x="323975" y="2883300"/>
            <a:ext cx="1569000" cy="7134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0" name="Google Shape;1800;p148"/>
          <p:cNvSpPr/>
          <p:nvPr/>
        </p:nvSpPr>
        <p:spPr>
          <a:xfrm>
            <a:off x="1884242" y="2878935"/>
            <a:ext cx="1569000" cy="7134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01" name="Google Shape;1801;p148"/>
          <p:cNvGraphicFramePr/>
          <p:nvPr/>
        </p:nvGraphicFramePr>
        <p:xfrm>
          <a:off x="4823925" y="291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559100"/>
                <a:gridCol w="559100"/>
                <a:gridCol w="559100"/>
                <a:gridCol w="559100"/>
                <a:gridCol w="559100"/>
                <a:gridCol w="559100"/>
                <a:gridCol w="559100"/>
              </a:tblGrid>
              <a:tr h="68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802" name="Google Shape;1802;p148"/>
          <p:cNvGrpSpPr/>
          <p:nvPr/>
        </p:nvGrpSpPr>
        <p:grpSpPr>
          <a:xfrm>
            <a:off x="5038050" y="2913828"/>
            <a:ext cx="3501048" cy="637285"/>
            <a:chOff x="5038050" y="2913828"/>
            <a:chExt cx="3501048" cy="637285"/>
          </a:xfrm>
        </p:grpSpPr>
        <p:pic>
          <p:nvPicPr>
            <p:cNvPr descr="&lt;math xmlns=&quot;http://www.w3.org/1998/Math/MathML&quot; display=&quot;block&quot; data-is-equatio=&quot;1&quot; data-latex=&quot;\textcolor{#BFC4CA}{\frac{1}{7}}&quot;&gt;&lt;mstyle mathcolor=&quot;#BFC4CA&quot;&gt;&lt;mfrac&gt;&lt;mn&gt;1&lt;/mn&gt;&lt;mn&gt;7&lt;/mn&gt;&lt;/mfrac&gt;&lt;/mstyle&gt;&lt;/math&gt;" id="1803" name="Google Shape;1803;p148" title="one sev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38050" y="2937595"/>
              <a:ext cx="186725" cy="613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354A5F}{\frac{1}{7}}&quot;&gt;&lt;mstyle mathcolor=&quot;#354A5F&quot;&gt;&lt;mfrac&gt;&lt;mn&gt;1&lt;/mn&gt;&lt;mn&gt;7&lt;/mn&gt;&lt;/mfrac&gt;&lt;/mstyle&gt;&lt;/math&gt;" id="1804" name="Google Shape;1804;p148" title="one seventh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8352379" y="2937608"/>
              <a:ext cx="186720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7}}&quot;&gt;&lt;mstyle mathcolor=&quot;#BFC4CA&quot;&gt;&lt;mfrac&gt;&lt;mn&gt;1&lt;/mn&gt;&lt;mn&gt;7&lt;/mn&gt;&lt;/mfrac&gt;&lt;/mstyle&gt;&lt;/math&gt;" id="1805" name="Google Shape;1805;p148" title="one sev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96400" y="2931022"/>
              <a:ext cx="186725" cy="613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7}}&quot;&gt;&lt;mstyle mathcolor=&quot;#BFC4CA&quot;&gt;&lt;mfrac&gt;&lt;mn&gt;1&lt;/mn&gt;&lt;mn&gt;7&lt;/mn&gt;&lt;/mfrac&gt;&lt;/mstyle&gt;&lt;/math&gt;" id="1806" name="Google Shape;1806;p148" title="one sev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106842" y="2928863"/>
              <a:ext cx="186725" cy="613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7}}&quot;&gt;&lt;mstyle mathcolor=&quot;#BFC4CA&quot;&gt;&lt;mfrac&gt;&lt;mn&gt;1&lt;/mn&gt;&lt;mn&gt;7&lt;/mn&gt;&lt;/mfrac&gt;&lt;/mstyle&gt;&lt;/math&gt;" id="1807" name="Google Shape;1807;p148" title="one sev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690842" y="2913828"/>
              <a:ext cx="186725" cy="613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7}}&quot;&gt;&lt;mstyle mathcolor=&quot;#BFC4CA&quot;&gt;&lt;mfrac&gt;&lt;mn&gt;1&lt;/mn&gt;&lt;mn&gt;7&lt;/mn&gt;&lt;/mfrac&gt;&lt;/mstyle&gt;&lt;/math&gt;" id="1808" name="Google Shape;1808;p148" title="one sev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229605" y="2927088"/>
              <a:ext cx="186725" cy="613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7}}&quot;&gt;&lt;mstyle mathcolor=&quot;#BFC4CA&quot;&gt;&lt;mfrac&gt;&lt;mn&gt;1&lt;/mn&gt;&lt;mn&gt;7&lt;/mn&gt;&lt;/mfrac&gt;&lt;/mstyle&gt;&lt;/math&gt;" id="1809" name="Google Shape;1809;p148" title="one seven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90980" y="2933238"/>
              <a:ext cx="186725" cy="61351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0" name="Google Shape;1810;p148"/>
          <p:cNvSpPr/>
          <p:nvPr/>
        </p:nvSpPr>
        <p:spPr>
          <a:xfrm>
            <a:off x="4823925" y="2896360"/>
            <a:ext cx="1118400" cy="7134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1" name="Google Shape;1811;p148"/>
          <p:cNvSpPr/>
          <p:nvPr/>
        </p:nvSpPr>
        <p:spPr>
          <a:xfrm>
            <a:off x="5942325" y="2900758"/>
            <a:ext cx="1118400" cy="7134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2" name="Google Shape;1812;p148"/>
          <p:cNvSpPr/>
          <p:nvPr/>
        </p:nvSpPr>
        <p:spPr>
          <a:xfrm>
            <a:off x="7060725" y="2893240"/>
            <a:ext cx="1118400" cy="7134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13" name="Google Shape;1813;p148"/>
          <p:cNvGrpSpPr/>
          <p:nvPr/>
        </p:nvGrpSpPr>
        <p:grpSpPr>
          <a:xfrm>
            <a:off x="574625" y="2891667"/>
            <a:ext cx="3331175" cy="622920"/>
            <a:chOff x="615225" y="2931305"/>
            <a:chExt cx="3331175" cy="622920"/>
          </a:xfrm>
        </p:grpSpPr>
        <p:pic>
          <p:nvPicPr>
            <p:cNvPr descr="&lt;math xmlns=&quot;http://www.w3.org/1998/Math/MathML&quot; display=&quot;block&quot; data-is-equatio=&quot;1&quot; data-latex=&quot;\textcolor{#BFC4CA}{\frac{1}{5}}&quot;&gt;&lt;mstyle mathcolor=&quot;#BFC4CA&quot;&gt;&lt;mfrac&gt;&lt;mn&gt;1&lt;/mn&gt;&lt;mn&gt;5&lt;/mn&gt;&lt;/mfrac&gt;&lt;/mstyle&gt;&lt;/math&gt;" id="1814" name="Google Shape;1814;p148" title="one fift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15225" y="2933249"/>
              <a:ext cx="190870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5}}&quot;&gt;&lt;mstyle mathcolor=&quot;#BFC4CA&quot;&gt;&lt;mfrac&gt;&lt;mn&gt;1&lt;/mn&gt;&lt;mn&gt;5&lt;/mn&gt;&lt;/mfrac&gt;&lt;/mstyle&gt;&lt;/math&gt;" id="1815" name="Google Shape;1815;p148" title="one fift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378900" y="2933249"/>
              <a:ext cx="190870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5}}&quot;&gt;&lt;mstyle mathcolor=&quot;#BFC4CA&quot;&gt;&lt;mfrac&gt;&lt;mn&gt;1&lt;/mn&gt;&lt;mn&gt;5&lt;/mn&gt;&lt;/mfrac&gt;&lt;/mstyle&gt;&lt;/math&gt;" id="1816" name="Google Shape;1816;p148" title="one fift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185375" y="2940724"/>
              <a:ext cx="190870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5}}&quot;&gt;&lt;mstyle mathcolor=&quot;#BFC4CA&quot;&gt;&lt;mfrac&gt;&lt;mn&gt;1&lt;/mn&gt;&lt;mn&gt;5&lt;/mn&gt;&lt;/mfrac&gt;&lt;/mstyle&gt;&lt;/math&gt;" id="1817" name="Google Shape;1817;p148" title="one fifth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991850" y="2931305"/>
              <a:ext cx="190870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5}&quot;&gt;&lt;mfrac&gt;&lt;mn&gt;1&lt;/mn&gt;&lt;mn&gt;5&lt;/mn&gt;&lt;/mfrac&gt;&lt;/math&gt;" id="1818" name="Google Shape;1818;p148" title="one fifth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3755525" y="2933225"/>
              <a:ext cx="190875" cy="613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824" name="Google Shape;1824;p149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Can you see an easier way to divide the fraction by the integer without bar models?</a:t>
            </a:r>
            <a:endParaRPr sz="2000"/>
          </a:p>
        </p:txBody>
      </p:sp>
      <p:graphicFrame>
        <p:nvGraphicFramePr>
          <p:cNvPr id="1825" name="Google Shape;1825;p149"/>
          <p:cNvGraphicFramePr/>
          <p:nvPr/>
        </p:nvGraphicFramePr>
        <p:xfrm>
          <a:off x="324000" y="24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3913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6" name="Google Shape;1826;p149"/>
          <p:cNvGraphicFramePr/>
          <p:nvPr/>
        </p:nvGraphicFramePr>
        <p:xfrm>
          <a:off x="324000" y="2890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782725"/>
                <a:gridCol w="782725"/>
                <a:gridCol w="782725"/>
                <a:gridCol w="782725"/>
                <a:gridCol w="782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7" name="Google Shape;1827;p149"/>
          <p:cNvGraphicFramePr/>
          <p:nvPr/>
        </p:nvGraphicFramePr>
        <p:xfrm>
          <a:off x="4824000" y="241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39135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28" name="Google Shape;1828;p149"/>
          <p:cNvGraphicFramePr/>
          <p:nvPr/>
        </p:nvGraphicFramePr>
        <p:xfrm>
          <a:off x="4824000" y="2905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559100"/>
                <a:gridCol w="559100"/>
                <a:gridCol w="559100"/>
                <a:gridCol w="559100"/>
                <a:gridCol w="559100"/>
                <a:gridCol w="559100"/>
                <a:gridCol w="559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4}{5}\div2\ =\ \frac{2}{5}&quot;&gt;&lt;mfrac&gt;&lt;mn&gt;4&lt;/mn&gt;&lt;mn&gt;5&lt;/mn&gt;&lt;/mfrac&gt;&lt;mo&gt;÷&lt;/mo&gt;&lt;mn&gt;2&lt;/mn&gt;&lt;mtext&gt;&lt;/mtext&gt;&lt;mo&gt;=&lt;/mo&gt;&lt;mtext&gt;&lt;/mtext&gt;&lt;mfrac&gt;&lt;mn&gt;2&lt;/mn&gt;&lt;mn&gt;5&lt;/mn&gt;&lt;/mfrac&gt;&lt;/math&gt;" id="1829" name="Google Shape;1829;p149" title="four fifths divided by 2 equals two fifths"/>
          <p:cNvPicPr preferRelativeResize="0"/>
          <p:nvPr/>
        </p:nvPicPr>
        <p:blipFill rotWithShape="1">
          <a:blip r:embed="rId3">
            <a:alphaModFix/>
          </a:blip>
          <a:srcRect b="0" l="0" r="-12208" t="0"/>
          <a:stretch/>
        </p:blipFill>
        <p:spPr>
          <a:xfrm>
            <a:off x="1637250" y="1677425"/>
            <a:ext cx="156911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div3=\frac{2}{7}&quot;&gt;&lt;mfrac&gt;&lt;mn&gt;6&lt;/mn&gt;&lt;mn&gt;7&lt;/mn&gt;&lt;/mfrac&gt;&lt;mo&gt;÷&lt;/mo&gt;&lt;mn&gt;3&lt;/mn&gt;&lt;mo&gt;=&lt;/mo&gt;&lt;mfrac&gt;&lt;mn&gt;2&lt;/mn&gt;&lt;mn&gt;7&lt;/mn&gt;&lt;/mfrac&gt;&lt;/math&gt;" id="1830" name="Google Shape;1830;p149" title="six sevenths divided by 3 equals two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3050" y="1566900"/>
            <a:ext cx="1262572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1" name="Google Shape;1831;p149"/>
          <p:cNvSpPr txBox="1"/>
          <p:nvPr>
            <p:ph idx="1" type="body"/>
          </p:nvPr>
        </p:nvSpPr>
        <p:spPr>
          <a:xfrm>
            <a:off x="324000" y="36911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the numerator of the dividend is a multiple of the divisor, the division of the fraction by the integer can be quickly worked out.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2" name="Google Shape;1832;p149"/>
          <p:cNvSpPr/>
          <p:nvPr/>
        </p:nvSpPr>
        <p:spPr>
          <a:xfrm>
            <a:off x="323975" y="2881801"/>
            <a:ext cx="1569000" cy="469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3" name="Google Shape;1833;p149"/>
          <p:cNvSpPr/>
          <p:nvPr/>
        </p:nvSpPr>
        <p:spPr>
          <a:xfrm>
            <a:off x="1884246" y="2878928"/>
            <a:ext cx="1569000" cy="469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4" name="Google Shape;1834;p149"/>
          <p:cNvSpPr/>
          <p:nvPr/>
        </p:nvSpPr>
        <p:spPr>
          <a:xfrm>
            <a:off x="4824000" y="2908025"/>
            <a:ext cx="1118100" cy="469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5" name="Google Shape;1835;p149"/>
          <p:cNvSpPr/>
          <p:nvPr/>
        </p:nvSpPr>
        <p:spPr>
          <a:xfrm>
            <a:off x="5942100" y="2905123"/>
            <a:ext cx="1118100" cy="469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6" name="Google Shape;1836;p149"/>
          <p:cNvSpPr/>
          <p:nvPr/>
        </p:nvSpPr>
        <p:spPr>
          <a:xfrm>
            <a:off x="7085100" y="2905123"/>
            <a:ext cx="1118100" cy="4695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50"/>
          <p:cNvSpPr txBox="1"/>
          <p:nvPr>
            <p:ph idx="1" type="body"/>
          </p:nvPr>
        </p:nvSpPr>
        <p:spPr>
          <a:xfrm>
            <a:off x="324000" y="759300"/>
            <a:ext cx="8592000" cy="93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the numerator of the fraction is a multiple of the divisor, the division of the fraction by the integer can be quickly worked out.</a:t>
            </a:r>
            <a:endParaRPr sz="2000"/>
          </a:p>
        </p:txBody>
      </p:sp>
      <p:sp>
        <p:nvSpPr>
          <p:cNvPr id="1842" name="Google Shape;1842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843" name="Google Shape;1843;p150"/>
          <p:cNvSpPr txBox="1"/>
          <p:nvPr/>
        </p:nvSpPr>
        <p:spPr>
          <a:xfrm>
            <a:off x="324000" y="1608300"/>
            <a:ext cx="77865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4" name="Google Shape;1844;p150"/>
          <p:cNvSpPr txBox="1"/>
          <p:nvPr/>
        </p:nvSpPr>
        <p:spPr>
          <a:xfrm>
            <a:off x="323988" y="3277125"/>
            <a:ext cx="778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this next one, you need to divide 5 parts into 3 groups.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}{7}\div3\ =\ \frac{2}{7}\ \ \ \ \ \ \ \ \ \ \ \frac{9}{11}\div3\ \ =\ \frac{3}{11}\ \ \ \ \frac{16}{21}\div4\ =\frac{4}{21}\ &quot;&gt;&lt;mfrac&gt;&lt;mn&gt;6&lt;/mn&gt;&lt;mn&gt;7&lt;/mn&gt;&lt;/mfrac&gt;&lt;mo&gt;÷&lt;/mo&gt;&lt;mn&gt;3&lt;/mn&gt;&lt;mtext&gt;&lt;/mtext&gt;&lt;mo&gt;=&lt;/mo&gt;&lt;mtext&gt;&lt;/mtext&gt;&lt;mfrac&gt;&lt;mn&gt;2&lt;/mn&gt;&lt;mn&gt;7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text&gt;&lt;/mtext&gt;&lt;mo&gt;=&lt;/mo&gt;&lt;mtext&gt;&lt;/mtext&gt;&lt;mfrac&gt;&lt;mn&gt;3&lt;/mn&gt;&lt;mn&gt;11&lt;/mn&gt;&lt;/mfrac&gt;&lt;mtext&gt;&lt;/mtext&gt;&lt;mtext&gt;&lt;/mtext&gt;&lt;mtext&gt;&lt;/mtext&gt;&lt;mtext&gt;&lt;/mtext&gt;&lt;mfrac&gt;&lt;mn&gt;16&lt;/mn&gt;&lt;mn&gt;21&lt;/mn&gt;&lt;/mfrac&gt;&lt;mo&gt;÷&lt;/mo&gt;&lt;mn&gt;4&lt;/mn&gt;&lt;mtext&gt;&lt;/mtext&gt;&lt;mo&gt;=&lt;/mo&gt;&lt;mfrac&gt;&lt;mn&gt;4&lt;/mn&gt;&lt;mn&gt;21&lt;/mn&gt;&lt;/mfrac&gt;&lt;mtext&gt;&lt;/mtext&gt;&lt;/math&gt;" id="1845" name="Google Shape;1845;p150" title="six sevenths divided by 3 equals two sevenths 9 over 11 divided by 3 equals 3 over 11 16 over 21 divided by 4 equals 4 over 21"/>
          <p:cNvPicPr preferRelativeResize="0"/>
          <p:nvPr/>
        </p:nvPicPr>
        <p:blipFill rotWithShape="1">
          <a:blip r:embed="rId3">
            <a:alphaModFix/>
          </a:blip>
          <a:srcRect b="0" l="0" r="87643" t="0"/>
          <a:stretch/>
        </p:blipFill>
        <p:spPr>
          <a:xfrm>
            <a:off x="1083950" y="2160000"/>
            <a:ext cx="868249" cy="7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div3\ =\ \frac{2}{7}\ \ \ \ \ \ \ \ \ \ \ \frac{9}{11}\div3\ \ =\ \frac{3}{11}\ \ \ \ \frac{16}{21}\div4\ =\frac{4}{21}\ &quot;&gt;&lt;mfrac&gt;&lt;mn&gt;6&lt;/mn&gt;&lt;mn&gt;7&lt;/mn&gt;&lt;/mfrac&gt;&lt;mo&gt;÷&lt;/mo&gt;&lt;mn&gt;3&lt;/mn&gt;&lt;mtext&gt;&lt;/mtext&gt;&lt;mo&gt;=&lt;/mo&gt;&lt;mtext&gt;&lt;/mtext&gt;&lt;mfrac&gt;&lt;mn&gt;2&lt;/mn&gt;&lt;mn&gt;7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text&gt;&lt;/mtext&gt;&lt;mo&gt;=&lt;/mo&gt;&lt;mtext&gt;&lt;/mtext&gt;&lt;mfrac&gt;&lt;mn&gt;3&lt;/mn&gt;&lt;mn&gt;11&lt;/mn&gt;&lt;/mfrac&gt;&lt;mtext&gt;&lt;/mtext&gt;&lt;mtext&gt;&lt;/mtext&gt;&lt;mtext&gt;&lt;/mtext&gt;&lt;mtext&gt;&lt;/mtext&gt;&lt;mfrac&gt;&lt;mn&gt;16&lt;/mn&gt;&lt;mn&gt;21&lt;/mn&gt;&lt;/mfrac&gt;&lt;mo&gt;÷&lt;/mo&gt;&lt;mn&gt;4&lt;/mn&gt;&lt;mtext&gt;&lt;/mtext&gt;&lt;mo&gt;=&lt;/mo&gt;&lt;mfrac&gt;&lt;mn&gt;4&lt;/mn&gt;&lt;mn&gt;21&lt;/mn&gt;&lt;/mfrac&gt;&lt;mtext&gt;&lt;/mtext&gt;&lt;/math&gt;" id="1846" name="Google Shape;1846;p150" title="six sevenths divided by 3 equals two sevenths 9 over 11 divided by 3 equals 3 over 11 16 over 21 divided by 4 equals 4 over 21"/>
          <p:cNvPicPr preferRelativeResize="0"/>
          <p:nvPr/>
        </p:nvPicPr>
        <p:blipFill rotWithShape="1">
          <a:blip r:embed="rId3">
            <a:alphaModFix/>
          </a:blip>
          <a:srcRect b="0" l="35440" r="47380" t="0"/>
          <a:stretch/>
        </p:blipFill>
        <p:spPr>
          <a:xfrm>
            <a:off x="3574275" y="2160000"/>
            <a:ext cx="1207124" cy="7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div3\ =\ \frac{2}{7}\ \ \ \ \ \ \ \ \ \ \ \frac{9}{11}\div3\ \ =\ \frac{3}{11}\ \ \ \ \frac{16}{21}\div4\ =\frac{4}{21}\ &quot;&gt;&lt;mfrac&gt;&lt;mn&gt;6&lt;/mn&gt;&lt;mn&gt;7&lt;/mn&gt;&lt;/mfrac&gt;&lt;mo&gt;÷&lt;/mo&gt;&lt;mn&gt;3&lt;/mn&gt;&lt;mtext&gt;&lt;/mtext&gt;&lt;mo&gt;=&lt;/mo&gt;&lt;mtext&gt;&lt;/mtext&gt;&lt;mfrac&gt;&lt;mn&gt;2&lt;/mn&gt;&lt;mn&gt;7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text&gt;&lt;/mtext&gt;&lt;mo&gt;=&lt;/mo&gt;&lt;mtext&gt;&lt;/mtext&gt;&lt;mfrac&gt;&lt;mn&gt;3&lt;/mn&gt;&lt;mn&gt;11&lt;/mn&gt;&lt;/mfrac&gt;&lt;mtext&gt;&lt;/mtext&gt;&lt;mtext&gt;&lt;/mtext&gt;&lt;mtext&gt;&lt;/mtext&gt;&lt;mtext&gt;&lt;/mtext&gt;&lt;mfrac&gt;&lt;mn&gt;16&lt;/mn&gt;&lt;mn&gt;21&lt;/mn&gt;&lt;/mfrac&gt;&lt;mo&gt;÷&lt;/mo&gt;&lt;mn&gt;4&lt;/mn&gt;&lt;mtext&gt;&lt;/mtext&gt;&lt;mo&gt;=&lt;/mo&gt;&lt;mfrac&gt;&lt;mn&gt;4&lt;/mn&gt;&lt;mn&gt;21&lt;/mn&gt;&lt;/mfrac&gt;&lt;mtext&gt;&lt;/mtext&gt;&lt;/math&gt;" id="1847" name="Google Shape;1847;p150" title="six sevenths divided by 3 equals two sevenths 9 over 11 divided by 3 equals 3 over 11 16 over 21 divided by 4 equals 4 over 21"/>
          <p:cNvPicPr preferRelativeResize="0"/>
          <p:nvPr/>
        </p:nvPicPr>
        <p:blipFill rotWithShape="1">
          <a:blip r:embed="rId3">
            <a:alphaModFix/>
          </a:blip>
          <a:srcRect b="0" l="71251" r="11569" t="0"/>
          <a:stretch/>
        </p:blipFill>
        <p:spPr>
          <a:xfrm>
            <a:off x="6290325" y="2216850"/>
            <a:ext cx="1207124" cy="7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div3\ =\ \frac{2}{7}\ \ \ \ \ \ \ \ \ \ \ \frac{9}{11}\div3\ \ =\ \frac{3}{11}\ \ \ \ \frac{16}{21}\div4\ =\frac{4}{21}\ &quot;&gt;&lt;mfrac&gt;&lt;mn&gt;6&lt;/mn&gt;&lt;mn&gt;7&lt;/mn&gt;&lt;/mfrac&gt;&lt;mo&gt;÷&lt;/mo&gt;&lt;mn&gt;3&lt;/mn&gt;&lt;mtext&gt;&lt;/mtext&gt;&lt;mo&gt;=&lt;/mo&gt;&lt;mtext&gt;&lt;/mtext&gt;&lt;mfrac&gt;&lt;mn&gt;2&lt;/mn&gt;&lt;mn&gt;7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text&gt;&lt;/mtext&gt;&lt;mo&gt;=&lt;/mo&gt;&lt;mtext&gt;&lt;/mtext&gt;&lt;mfrac&gt;&lt;mn&gt;3&lt;/mn&gt;&lt;mn&gt;11&lt;/mn&gt;&lt;/mfrac&gt;&lt;mtext&gt;&lt;/mtext&gt;&lt;mtext&gt;&lt;/mtext&gt;&lt;mtext&gt;&lt;/mtext&gt;&lt;mtext&gt;&lt;/mtext&gt;&lt;mfrac&gt;&lt;mn&gt;16&lt;/mn&gt;&lt;mn&gt;21&lt;/mn&gt;&lt;/mfrac&gt;&lt;mo&gt;÷&lt;/mo&gt;&lt;mn&gt;4&lt;/mn&gt;&lt;mtext&gt;&lt;/mtext&gt;&lt;mo&gt;=&lt;/mo&gt;&lt;mfrac&gt;&lt;mn&gt;4&lt;/mn&gt;&lt;mn&gt;21&lt;/mn&gt;&lt;/mfrac&gt;&lt;mtext&gt;&lt;/mtext&gt;&lt;/math&gt;" id="1848" name="Google Shape;1848;p150" title="six sevenths divided by 3 equals two sevenths 9 over 11 divided by 3 equals 3 over 11 16 over 21 divided by 4 equals 4 over 21"/>
          <p:cNvPicPr preferRelativeResize="0"/>
          <p:nvPr/>
        </p:nvPicPr>
        <p:blipFill rotWithShape="1">
          <a:blip r:embed="rId3">
            <a:alphaModFix/>
          </a:blip>
          <a:srcRect b="0" l="12356" r="76369" t="0"/>
          <a:stretch/>
        </p:blipFill>
        <p:spPr>
          <a:xfrm>
            <a:off x="1952201" y="2160000"/>
            <a:ext cx="792174" cy="7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div3\ =\ \frac{2}{7}\ \ \ \ \ \ \ \ \ \ \ \frac{9}{11}\div3\ \ =\ \frac{3}{11}\ \ \ \ \frac{16}{21}\div4\ =\frac{4}{21}\ &quot;&gt;&lt;mfrac&gt;&lt;mn&gt;6&lt;/mn&gt;&lt;mn&gt;7&lt;/mn&gt;&lt;/mfrac&gt;&lt;mo&gt;÷&lt;/mo&gt;&lt;mn&gt;3&lt;/mn&gt;&lt;mtext&gt;&lt;/mtext&gt;&lt;mo&gt;=&lt;/mo&gt;&lt;mtext&gt;&lt;/mtext&gt;&lt;mfrac&gt;&lt;mn&gt;2&lt;/mn&gt;&lt;mn&gt;7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text&gt;&lt;/mtext&gt;&lt;mo&gt;=&lt;/mo&gt;&lt;mtext&gt;&lt;/mtext&gt;&lt;mfrac&gt;&lt;mn&gt;3&lt;/mn&gt;&lt;mn&gt;11&lt;/mn&gt;&lt;/mfrac&gt;&lt;mtext&gt;&lt;/mtext&gt;&lt;mtext&gt;&lt;/mtext&gt;&lt;mtext&gt;&lt;/mtext&gt;&lt;mtext&gt;&lt;/mtext&gt;&lt;mfrac&gt;&lt;mn&gt;16&lt;/mn&gt;&lt;mn&gt;21&lt;/mn&gt;&lt;/mfrac&gt;&lt;mo&gt;÷&lt;/mo&gt;&lt;mn&gt;4&lt;/mn&gt;&lt;mtext&gt;&lt;/mtext&gt;&lt;mo&gt;=&lt;/mo&gt;&lt;mfrac&gt;&lt;mn&gt;4&lt;/mn&gt;&lt;mn&gt;21&lt;/mn&gt;&lt;/mfrac&gt;&lt;mtext&gt;&lt;/mtext&gt;&lt;/math&gt;" id="1849" name="Google Shape;1849;p150" title="six sevenths divided by 3 equals two sevenths 9 over 11 divided by 3 equals 3 over 11 16 over 21 divided by 4 equals 4 over 21"/>
          <p:cNvPicPr preferRelativeResize="0"/>
          <p:nvPr/>
        </p:nvPicPr>
        <p:blipFill rotWithShape="1">
          <a:blip r:embed="rId3">
            <a:alphaModFix/>
          </a:blip>
          <a:srcRect b="0" l="52619" r="32616" t="0"/>
          <a:stretch/>
        </p:blipFill>
        <p:spPr>
          <a:xfrm>
            <a:off x="4781400" y="2160000"/>
            <a:ext cx="1037373" cy="7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div3\ =\ \frac{2}{7}\ \ \ \ \ \ \ \ \ \ \ \frac{9}{11}\div3\ \ =\ \frac{3}{11}\ \ \ \ \frac{16}{21}\div4\ =\frac{4}{21}\ &quot;&gt;&lt;mfrac&gt;&lt;mn&gt;6&lt;/mn&gt;&lt;mn&gt;7&lt;/mn&gt;&lt;/mfrac&gt;&lt;mo&gt;÷&lt;/mo&gt;&lt;mn&gt;3&lt;/mn&gt;&lt;mtext&gt;&lt;/mtext&gt;&lt;mo&gt;=&lt;/mo&gt;&lt;mtext&gt;&lt;/mtext&gt;&lt;mfrac&gt;&lt;mn&gt;2&lt;/mn&gt;&lt;mn&gt;7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text&gt;&lt;/mtext&gt;&lt;mo&gt;=&lt;/mo&gt;&lt;mtext&gt;&lt;/mtext&gt;&lt;mfrac&gt;&lt;mn&gt;3&lt;/mn&gt;&lt;mn&gt;11&lt;/mn&gt;&lt;/mfrac&gt;&lt;mtext&gt;&lt;/mtext&gt;&lt;mtext&gt;&lt;/mtext&gt;&lt;mtext&gt;&lt;/mtext&gt;&lt;mtext&gt;&lt;/mtext&gt;&lt;mfrac&gt;&lt;mn&gt;16&lt;/mn&gt;&lt;mn&gt;21&lt;/mn&gt;&lt;/mfrac&gt;&lt;mo&gt;÷&lt;/mo&gt;&lt;mn&gt;4&lt;/mn&gt;&lt;mtext&gt;&lt;/mtext&gt;&lt;mo&gt;=&lt;/mo&gt;&lt;mfrac&gt;&lt;mn&gt;4&lt;/mn&gt;&lt;mn&gt;21&lt;/mn&gt;&lt;/mfrac&gt;&lt;mtext&gt;&lt;/mtext&gt;&lt;/math&gt;" id="1850" name="Google Shape;1850;p150" title="six sevenths divided by 3 equals two sevenths 9 over 11 divided by 3 equals 3 over 11 16 over 21 divided by 4 equals 4 over 21"/>
          <p:cNvPicPr preferRelativeResize="0"/>
          <p:nvPr/>
        </p:nvPicPr>
        <p:blipFill rotWithShape="1">
          <a:blip r:embed="rId3">
            <a:alphaModFix/>
          </a:blip>
          <a:srcRect b="0" l="87885" r="-1850" t="0"/>
          <a:stretch/>
        </p:blipFill>
        <p:spPr>
          <a:xfrm>
            <a:off x="7459200" y="2216850"/>
            <a:ext cx="981301" cy="709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\ 3\ =\ \ \ \ \ \ \ \ \ \frac{5\ \times3}{6\times3}\div3\ \ \ \ \ \frac{15}{18}\div3\ =\ \frac{5}{18}&quot;&gt;&lt;mfrac&gt;&lt;mn&gt;5&lt;/mn&gt;&lt;mn&gt;6&lt;/mn&gt;&lt;/mfrac&gt;&lt;mo&gt;÷&lt;/mo&gt;&lt;mtext&gt;&lt;/mtext&gt;&lt;mn&gt;3&lt;/mn&gt;&lt;mtext&gt;&lt;/mtext&gt;&lt;mo&gt;=&lt;/mo&gt;&lt;mtext&gt;&lt;/mtext&gt;&lt;mtext&gt;&lt;/mtext&gt;&lt;mtext&gt;&lt;/mtext&gt;&lt;mtext&gt;&lt;/mtext&gt;&lt;mtext&gt;&lt;/mtext&gt;&lt;mtext&gt;&lt;/mtext&gt;&lt;mtext&gt;&lt;/mtext&gt;&lt;mtext&gt;&lt;/mtext&gt;&lt;mtext&gt;&lt;/mtext&gt;&lt;mfrac&gt;&lt;mrow&gt;&lt;mn&gt;5&lt;/mn&gt;&lt;mtext&gt;&lt;/mtext&gt;&lt;mo&gt;×&lt;/mo&gt;&lt;mn&gt;3&lt;/mn&gt;&lt;/mrow&gt;&lt;mrow&gt;&lt;mn&gt;6&lt;/mn&gt;&lt;mo&gt;×&lt;/mo&gt;&lt;mn&gt;3&lt;/mn&gt;&lt;/mrow&gt;&lt;/mfrac&gt;&lt;mo&gt;÷&lt;/mo&gt;&lt;mn&gt;3&lt;/mn&gt;&lt;mtext&gt;&lt;/mtext&gt;&lt;mtext&gt;&lt;/mtext&gt;&lt;mtext&gt;&lt;/mtext&gt;&lt;mtext&gt;&lt;/mtext&gt;&lt;mtext&gt;&lt;/mtext&gt;&lt;mfrac&gt;&lt;mn&gt;15&lt;/mn&gt;&lt;mn&gt;18&lt;/mn&gt;&lt;/mfrac&gt;&lt;mo&gt;÷&lt;/mo&gt;&lt;mn&gt;3&lt;/mn&gt;&lt;mtext&gt;&lt;/mtext&gt;&lt;mo&gt;=&lt;/mo&gt;&lt;mtext&gt;&lt;/mtext&gt;&lt;mfrac&gt;&lt;mn&gt;5&lt;/mn&gt;&lt;mn&gt;18&lt;/mn&gt;&lt;/mfrac&gt;&lt;/math&gt;" id="1851" name="Google Shape;1851;p150" title="five sixths division sign 3 equals the fraction with numerator 5 times 3 and denominator 6 times 3 divided by 3 15 over 18 divided by 3 equals 5 over 18"/>
          <p:cNvPicPr preferRelativeResize="0"/>
          <p:nvPr/>
        </p:nvPicPr>
        <p:blipFill rotWithShape="1">
          <a:blip r:embed="rId4">
            <a:alphaModFix/>
          </a:blip>
          <a:srcRect b="0" l="0" r="83699" t="0"/>
          <a:stretch/>
        </p:blipFill>
        <p:spPr>
          <a:xfrm>
            <a:off x="4114613" y="3677325"/>
            <a:ext cx="914774" cy="6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2" name="Google Shape;1852;p150"/>
          <p:cNvSpPr txBox="1"/>
          <p:nvPr>
            <p:ph idx="1" type="body"/>
          </p:nvPr>
        </p:nvSpPr>
        <p:spPr>
          <a:xfrm>
            <a:off x="333750" y="4397100"/>
            <a:ext cx="7972500" cy="4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numerator of the fraction is </a:t>
            </a:r>
            <a:r>
              <a:rPr lang="en-GB" sz="2000">
                <a:solidFill>
                  <a:schemeClr val="accent5"/>
                </a:solidFill>
              </a:rPr>
              <a:t>not</a:t>
            </a:r>
            <a:r>
              <a:rPr lang="en-GB" sz="2000"/>
              <a:t> a multiple of the divisor.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6" name="Shape 1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57" name="Google Shape;1857;p151"/>
          <p:cNvGraphicFramePr/>
          <p:nvPr/>
        </p:nvGraphicFramePr>
        <p:xfrm>
          <a:off x="2662350" y="20202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884950"/>
                <a:gridCol w="884950"/>
                <a:gridCol w="884950"/>
                <a:gridCol w="884950"/>
                <a:gridCol w="884950"/>
                <a:gridCol w="8849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8" name="Google Shape;1858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859" name="Google Shape;1859;p151"/>
          <p:cNvSpPr txBox="1"/>
          <p:nvPr/>
        </p:nvSpPr>
        <p:spPr>
          <a:xfrm>
            <a:off x="324000" y="693900"/>
            <a:ext cx="77865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 example, 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div\ 3\ =\ \ \ \ \ \ \ \ \ \frac{5\ \times3}{6\times3}\div3\ \ \ \ \ \frac{15}{18}\div3\ =\ \frac{5}{18}&quot;&gt;&lt;mfrac&gt;&lt;mn&gt;5&lt;/mn&gt;&lt;mn&gt;6&lt;/mn&gt;&lt;/mfrac&gt;&lt;mo&gt;÷&lt;/mo&gt;&lt;mtext&gt;&lt;/mtext&gt;&lt;mn&gt;3&lt;/mn&gt;&lt;mtext&gt;&lt;/mtext&gt;&lt;mo&gt;=&lt;/mo&gt;&lt;mtext&gt;&lt;/mtext&gt;&lt;mtext&gt;&lt;/mtext&gt;&lt;mtext&gt;&lt;/mtext&gt;&lt;mtext&gt;&lt;/mtext&gt;&lt;mtext&gt;&lt;/mtext&gt;&lt;mtext&gt;&lt;/mtext&gt;&lt;mtext&gt;&lt;/mtext&gt;&lt;mtext&gt;&lt;/mtext&gt;&lt;mtext&gt;&lt;/mtext&gt;&lt;mfrac&gt;&lt;mrow&gt;&lt;mn&gt;5&lt;/mn&gt;&lt;mtext&gt;&lt;/mtext&gt;&lt;mo&gt;×&lt;/mo&gt;&lt;mn&gt;3&lt;/mn&gt;&lt;/mrow&gt;&lt;mrow&gt;&lt;mn&gt;6&lt;/mn&gt;&lt;mo&gt;×&lt;/mo&gt;&lt;mn&gt;3&lt;/mn&gt;&lt;/mrow&gt;&lt;/mfrac&gt;&lt;mo&gt;÷&lt;/mo&gt;&lt;mn&gt;3&lt;/mn&gt;&lt;mtext&gt;&lt;/mtext&gt;&lt;mtext&gt;&lt;/mtext&gt;&lt;mtext&gt;&lt;/mtext&gt;&lt;mtext&gt;&lt;/mtext&gt;&lt;mtext&gt;&lt;/mtext&gt;&lt;mfrac&gt;&lt;mn&gt;15&lt;/mn&gt;&lt;mn&gt;18&lt;/mn&gt;&lt;/mfrac&gt;&lt;mo&gt;÷&lt;/mo&gt;&lt;mn&gt;3&lt;/mn&gt;&lt;mtext&gt;&lt;/mtext&gt;&lt;mo&gt;=&lt;/mo&gt;&lt;mtext&gt;&lt;/mtext&gt;&lt;mfrac&gt;&lt;mn&gt;5&lt;/mn&gt;&lt;mn&gt;18&lt;/mn&gt;&lt;/mfrac&gt;&lt;/math&gt;" id="1860" name="Google Shape;1860;p151" title="five sixths division sign 3 equals the fraction with numerator 5 times 3 and denominator 6 times 3 divided by 3 15 over 18 divided by 3 equals 5 over 18"/>
          <p:cNvPicPr preferRelativeResize="0"/>
          <p:nvPr/>
        </p:nvPicPr>
        <p:blipFill rotWithShape="1">
          <a:blip r:embed="rId3">
            <a:alphaModFix/>
          </a:blip>
          <a:srcRect b="0" l="0" r="83699" t="0"/>
          <a:stretch/>
        </p:blipFill>
        <p:spPr>
          <a:xfrm>
            <a:off x="2282388" y="644337"/>
            <a:ext cx="914774" cy="6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1" name="Google Shape;1861;p151"/>
          <p:cNvSpPr txBox="1"/>
          <p:nvPr/>
        </p:nvSpPr>
        <p:spPr>
          <a:xfrm>
            <a:off x="204907" y="1697175"/>
            <a:ext cx="207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Here is 1</a:t>
            </a:r>
            <a:endParaRPr/>
          </a:p>
        </p:txBody>
      </p:sp>
      <p:sp>
        <p:nvSpPr>
          <p:cNvPr id="1862" name="Google Shape;1862;p151"/>
          <p:cNvSpPr txBox="1"/>
          <p:nvPr/>
        </p:nvSpPr>
        <p:spPr>
          <a:xfrm>
            <a:off x="204907" y="2306775"/>
            <a:ext cx="2077500" cy="10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look like?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div\ 3\ =\ \ \ \ \ \ \ \ \ \frac{5\ \times3}{6\times3}\div3\ \ \ \ \ \frac{15}{18}\div3\ =\ \frac{5}{18}&quot;&gt;&lt;mfrac&gt;&lt;mn&gt;5&lt;/mn&gt;&lt;mn&gt;6&lt;/mn&gt;&lt;/mfrac&gt;&lt;mo&gt;÷&lt;/mo&gt;&lt;mtext&gt;&lt;/mtext&gt;&lt;mn&gt;3&lt;/mn&gt;&lt;mtext&gt;&lt;/mtext&gt;&lt;mo&gt;=&lt;/mo&gt;&lt;mtext&gt;&lt;/mtext&gt;&lt;mtext&gt;&lt;/mtext&gt;&lt;mtext&gt;&lt;/mtext&gt;&lt;mtext&gt;&lt;/mtext&gt;&lt;mtext&gt;&lt;/mtext&gt;&lt;mtext&gt;&lt;/mtext&gt;&lt;mtext&gt;&lt;/mtext&gt;&lt;mtext&gt;&lt;/mtext&gt;&lt;mtext&gt;&lt;/mtext&gt;&lt;mfrac&gt;&lt;mrow&gt;&lt;mn&gt;5&lt;/mn&gt;&lt;mtext&gt;&lt;/mtext&gt;&lt;mo&gt;×&lt;/mo&gt;&lt;mn&gt;3&lt;/mn&gt;&lt;/mrow&gt;&lt;mrow&gt;&lt;mn&gt;6&lt;/mn&gt;&lt;mo&gt;×&lt;/mo&gt;&lt;mn&gt;3&lt;/mn&gt;&lt;/mrow&gt;&lt;/mfrac&gt;&lt;mo&gt;÷&lt;/mo&gt;&lt;mn&gt;3&lt;/mn&gt;&lt;mtext&gt;&lt;/mtext&gt;&lt;mtext&gt;&lt;/mtext&gt;&lt;mtext&gt;&lt;/mtext&gt;&lt;mtext&gt;&lt;/mtext&gt;&lt;mtext&gt;&lt;/mtext&gt;&lt;mfrac&gt;&lt;mn&gt;15&lt;/mn&gt;&lt;mn&gt;18&lt;/mn&gt;&lt;/mfrac&gt;&lt;mo&gt;÷&lt;/mo&gt;&lt;mn&gt;3&lt;/mn&gt;&lt;mtext&gt;&lt;/mtext&gt;&lt;mo&gt;=&lt;/mo&gt;&lt;mtext&gt;&lt;/mtext&gt;&lt;mfrac&gt;&lt;mn&gt;5&lt;/mn&gt;&lt;mn&gt;18&lt;/mn&gt;&lt;/mfrac&gt;&lt;/math&gt;" id="1863" name="Google Shape;1863;p151" title="five sixths division sign 3 equals the fraction with numerator 5 times 3 and denominator 6 times 3 divided by 3 15 over 18 divided by 3 equals 5 over 18"/>
          <p:cNvPicPr preferRelativeResize="0"/>
          <p:nvPr/>
        </p:nvPicPr>
        <p:blipFill rotWithShape="1">
          <a:blip r:embed="rId3">
            <a:alphaModFix/>
          </a:blip>
          <a:srcRect b="0" l="0" r="95090" t="0"/>
          <a:stretch/>
        </p:blipFill>
        <p:spPr>
          <a:xfrm>
            <a:off x="1907849" y="2306775"/>
            <a:ext cx="251900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64" name="Google Shape;1864;p151"/>
          <p:cNvGraphicFramePr/>
          <p:nvPr/>
        </p:nvGraphicFramePr>
        <p:xfrm>
          <a:off x="2662350" y="134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884950"/>
                <a:gridCol w="884950"/>
                <a:gridCol w="884950"/>
                <a:gridCol w="884950"/>
                <a:gridCol w="884950"/>
                <a:gridCol w="884950"/>
              </a:tblGrid>
              <a:tr h="6710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pSp>
        <p:nvGrpSpPr>
          <p:cNvPr id="1865" name="Google Shape;1865;p151"/>
          <p:cNvGrpSpPr/>
          <p:nvPr/>
        </p:nvGrpSpPr>
        <p:grpSpPr>
          <a:xfrm>
            <a:off x="3021295" y="2032132"/>
            <a:ext cx="4613780" cy="577563"/>
            <a:chOff x="3021295" y="2032132"/>
            <a:chExt cx="4613780" cy="577563"/>
          </a:xfrm>
        </p:grpSpPr>
        <p:pic>
          <p:nvPicPr>
  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66" name="Google Shape;1866;p151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21295" y="2032132"/>
              <a:ext cx="175867" cy="56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354A5F}{\frac{1}{6}}&quot;&gt;&lt;mstyle mathcolor=&quot;#354A5F&quot;&gt;&lt;mfrac&gt;&lt;mn&gt;1&lt;/mn&gt;&lt;mn&gt;6&lt;/mn&gt;&lt;/mfrac&gt;&lt;/mstyle&gt;&lt;/math&gt;" id="1867" name="Google Shape;1867;p151" title="one sixth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459209" y="2044420"/>
              <a:ext cx="175867" cy="56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68" name="Google Shape;1868;p151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02083" y="2032132"/>
              <a:ext cx="175867" cy="56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69" name="Google Shape;1869;p151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82870" y="2032132"/>
              <a:ext cx="175867" cy="56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70" name="Google Shape;1870;p151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671795" y="2032132"/>
              <a:ext cx="175867" cy="56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71" name="Google Shape;1871;p151" title="one sixth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65495" y="2044407"/>
              <a:ext cx="175867" cy="5652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877" name="Google Shape;1877;p152"/>
          <p:cNvSpPr/>
          <p:nvPr/>
        </p:nvSpPr>
        <p:spPr>
          <a:xfrm rot="5400000">
            <a:off x="4697453" y="710557"/>
            <a:ext cx="316200" cy="4387200"/>
          </a:xfrm>
          <a:prstGeom prst="rightBrace">
            <a:avLst>
              <a:gd fmla="val 50000" name="adj1"/>
              <a:gd fmla="val 49871" name="adj2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8" name="Google Shape;1878;p152"/>
          <p:cNvSpPr txBox="1"/>
          <p:nvPr/>
        </p:nvSpPr>
        <p:spPr>
          <a:xfrm>
            <a:off x="2626161" y="3124950"/>
            <a:ext cx="536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This cannot be divided into 3 easily</a:t>
            </a:r>
            <a:endParaRPr/>
          </a:p>
        </p:txBody>
      </p:sp>
      <p:sp>
        <p:nvSpPr>
          <p:cNvPr id="1879" name="Google Shape;1879;p152"/>
          <p:cNvSpPr txBox="1"/>
          <p:nvPr/>
        </p:nvSpPr>
        <p:spPr>
          <a:xfrm>
            <a:off x="324000" y="693900"/>
            <a:ext cx="201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6}\div\ 3\ =\ \ \ \ \ \ \ \ \ \frac{5\ \times3}{6\times3}\div3\ \ \ \ \ \frac{15}{18}\div3\ =\ \frac{5}{18}&quot;&gt;&lt;mfrac&gt;&lt;mn&gt;5&lt;/mn&gt;&lt;mn&gt;6&lt;/mn&gt;&lt;/mfrac&gt;&lt;mo&gt;÷&lt;/mo&gt;&lt;mtext&gt;&lt;/mtext&gt;&lt;mn&gt;3&lt;/mn&gt;&lt;mtext&gt;&lt;/mtext&gt;&lt;mo&gt;=&lt;/mo&gt;&lt;mtext&gt;&lt;/mtext&gt;&lt;mtext&gt;&lt;/mtext&gt;&lt;mtext&gt;&lt;/mtext&gt;&lt;mtext&gt;&lt;/mtext&gt;&lt;mtext&gt;&lt;/mtext&gt;&lt;mtext&gt;&lt;/mtext&gt;&lt;mtext&gt;&lt;/mtext&gt;&lt;mtext&gt;&lt;/mtext&gt;&lt;mtext&gt;&lt;/mtext&gt;&lt;mfrac&gt;&lt;mrow&gt;&lt;mn&gt;5&lt;/mn&gt;&lt;mtext&gt;&lt;/mtext&gt;&lt;mo&gt;×&lt;/mo&gt;&lt;mn&gt;3&lt;/mn&gt;&lt;/mrow&gt;&lt;mrow&gt;&lt;mn&gt;6&lt;/mn&gt;&lt;mo&gt;×&lt;/mo&gt;&lt;mn&gt;3&lt;/mn&gt;&lt;/mrow&gt;&lt;/mfrac&gt;&lt;mo&gt;÷&lt;/mo&gt;&lt;mn&gt;3&lt;/mn&gt;&lt;mtext&gt;&lt;/mtext&gt;&lt;mtext&gt;&lt;/mtext&gt;&lt;mtext&gt;&lt;/mtext&gt;&lt;mtext&gt;&lt;/mtext&gt;&lt;mtext&gt;&lt;/mtext&gt;&lt;mfrac&gt;&lt;mn&gt;15&lt;/mn&gt;&lt;mn&gt;18&lt;/mn&gt;&lt;/mfrac&gt;&lt;mo&gt;÷&lt;/mo&gt;&lt;mn&gt;3&lt;/mn&gt;&lt;mtext&gt;&lt;/mtext&gt;&lt;mo&gt;=&lt;/mo&gt;&lt;mtext&gt;&lt;/mtext&gt;&lt;mfrac&gt;&lt;mn&gt;5&lt;/mn&gt;&lt;mn&gt;18&lt;/mn&gt;&lt;/mfrac&gt;&lt;/math&gt;" id="1880" name="Google Shape;1880;p152" title="five sixths division sign 3 equals the fraction with numerator 5 times 3 and denominator 6 times 3 divided by 3 15 over 18 divided by 3 equals 5 over 18"/>
          <p:cNvPicPr preferRelativeResize="0"/>
          <p:nvPr/>
        </p:nvPicPr>
        <p:blipFill rotWithShape="1">
          <a:blip r:embed="rId3">
            <a:alphaModFix/>
          </a:blip>
          <a:srcRect b="0" l="0" r="83699" t="0"/>
          <a:stretch/>
        </p:blipFill>
        <p:spPr>
          <a:xfrm>
            <a:off x="2282388" y="644337"/>
            <a:ext cx="914774" cy="67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81" name="Google Shape;1881;p152"/>
          <p:cNvGraphicFramePr/>
          <p:nvPr/>
        </p:nvGraphicFramePr>
        <p:xfrm>
          <a:off x="2662350" y="134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884950"/>
                <a:gridCol w="884950"/>
                <a:gridCol w="884950"/>
                <a:gridCol w="884950"/>
                <a:gridCol w="884950"/>
                <a:gridCol w="884950"/>
              </a:tblGrid>
              <a:tr h="6710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882" name="Google Shape;1882;p152"/>
          <p:cNvGraphicFramePr/>
          <p:nvPr/>
        </p:nvGraphicFramePr>
        <p:xfrm>
          <a:off x="2662350" y="20202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884950"/>
                <a:gridCol w="884950"/>
                <a:gridCol w="884950"/>
                <a:gridCol w="884950"/>
                <a:gridCol w="884950"/>
                <a:gridCol w="8849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83" name="Google Shape;1883;p152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1295" y="2032132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354A5F}{\frac{1}{6}}&quot;&gt;&lt;mstyle mathcolor=&quot;#354A5F&quot;&gt;&lt;mfrac&gt;&lt;mn&gt;1&lt;/mn&gt;&lt;mn&gt;6&lt;/mn&gt;&lt;/mfrac&gt;&lt;/mstyle&gt;&lt;/math&gt;" id="1884" name="Google Shape;1884;p152" title="one six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59209" y="2044420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85" name="Google Shape;1885;p152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2083" y="2032132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86" name="Google Shape;1886;p152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2870" y="2032132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87" name="Google Shape;1887;p152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1795" y="2032132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888" name="Google Shape;1888;p152" title="one six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5495" y="2044407"/>
            <a:ext cx="175867" cy="56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9" name="Google Shape;1889;p152"/>
          <p:cNvSpPr txBox="1"/>
          <p:nvPr/>
        </p:nvSpPr>
        <p:spPr>
          <a:xfrm>
            <a:off x="857400" y="693900"/>
            <a:ext cx="201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90" name="Google Shape;1890;p1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001" y="1764200"/>
            <a:ext cx="2151300" cy="1287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4" name="Shape 1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5" name="Google Shape;1895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graphicFrame>
        <p:nvGraphicFramePr>
          <p:cNvPr id="1896" name="Google Shape;1896;p153"/>
          <p:cNvGraphicFramePr/>
          <p:nvPr/>
        </p:nvGraphicFramePr>
        <p:xfrm>
          <a:off x="2814750" y="2644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  <a:gridCol w="2949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2C4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5}{6}\div\ 3\ =\ \ \ \ \frac{15}{18}\div3\ =\ \frac{5}{18}&quot;&gt;&lt;mfrac&gt;&lt;mn&gt;5&lt;/mn&gt;&lt;mn&gt;6&lt;/mn&gt;&lt;/mfrac&gt;&lt;mo&gt;÷&lt;/mo&gt;&lt;mtext&gt;&lt;/mtext&gt;&lt;mn&gt;3&lt;/mn&gt;&lt;mtext&gt;&lt;/mtext&gt;&lt;mo&gt;=&lt;/mo&gt;&lt;mtext&gt;&lt;/mtext&gt;&lt;mtext&gt;&lt;/mtext&gt;&lt;mtext&gt;&lt;/mtext&gt;&lt;mtext&gt;&lt;/mtext&gt;&lt;mfrac&gt;&lt;mn&gt;15&lt;/mn&gt;&lt;mn&gt;18&lt;/mn&gt;&lt;/mfrac&gt;&lt;mo&gt;÷&lt;/mo&gt;&lt;mn&gt;3&lt;/mn&gt;&lt;mtext&gt;&lt;/mtext&gt;&lt;mo&gt;=&lt;/mo&gt;&lt;mtext&gt;&lt;/mtext&gt;&lt;mfrac&gt;&lt;mn&gt;5&lt;/mn&gt;&lt;mn&gt;18&lt;/mn&gt;&lt;/mfrac&gt;&lt;/math&gt;" id="1897" name="Google Shape;1897;p153" title="five sixths division sign 3 equals 15 over 18 divided by 3 equals 5 over 18"/>
          <p:cNvPicPr preferRelativeResize="0"/>
          <p:nvPr/>
        </p:nvPicPr>
        <p:blipFill rotWithShape="1">
          <a:blip r:embed="rId3">
            <a:alphaModFix/>
          </a:blip>
          <a:srcRect b="0" l="0" r="64301" t="0"/>
          <a:stretch/>
        </p:blipFill>
        <p:spPr>
          <a:xfrm>
            <a:off x="4034325" y="3895538"/>
            <a:ext cx="1577775" cy="848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\ 3\ =\ \ \ \ \frac{15}{18}\div3\ =\ \frac{5}{18}&quot;&gt;&lt;mfrac&gt;&lt;mn&gt;5&lt;/mn&gt;&lt;mn&gt;6&lt;/mn&gt;&lt;/mfrac&gt;&lt;mo&gt;÷&lt;/mo&gt;&lt;mtext&gt;&lt;/mtext&gt;&lt;mn&gt;3&lt;/mn&gt;&lt;mtext&gt;&lt;/mtext&gt;&lt;mo&gt;=&lt;/mo&gt;&lt;mtext&gt;&lt;/mtext&gt;&lt;mtext&gt;&lt;/mtext&gt;&lt;mtext&gt;&lt;/mtext&gt;&lt;mtext&gt;&lt;/mtext&gt;&lt;mfrac&gt;&lt;mn&gt;15&lt;/mn&gt;&lt;mn&gt;18&lt;/mn&gt;&lt;/mfrac&gt;&lt;mo&gt;÷&lt;/mo&gt;&lt;mn&gt;3&lt;/mn&gt;&lt;mtext&gt;&lt;/mtext&gt;&lt;mo&gt;=&lt;/mo&gt;&lt;mtext&gt;&lt;/mtext&gt;&lt;mfrac&gt;&lt;mn&gt;5&lt;/mn&gt;&lt;mn&gt;18&lt;/mn&gt;&lt;/mfrac&gt;&lt;/math&gt;" id="1898" name="Google Shape;1898;p153" title="five sixths division sign 3 equals 15 over 18 divided by 3 equals 5 over 18"/>
          <p:cNvPicPr preferRelativeResize="0"/>
          <p:nvPr/>
        </p:nvPicPr>
        <p:blipFill rotWithShape="1">
          <a:blip r:embed="rId3">
            <a:alphaModFix/>
          </a:blip>
          <a:srcRect b="-12448" l="85943" r="-1093" t="-4441"/>
          <a:stretch/>
        </p:blipFill>
        <p:spPr>
          <a:xfrm>
            <a:off x="5570300" y="3895550"/>
            <a:ext cx="572814" cy="84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9" name="Google Shape;1899;p153"/>
          <p:cNvSpPr txBox="1"/>
          <p:nvPr/>
        </p:nvSpPr>
        <p:spPr>
          <a:xfrm>
            <a:off x="242632" y="2004150"/>
            <a:ext cx="2077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900" name="Google Shape;1900;p153"/>
          <p:cNvSpPr txBox="1"/>
          <p:nvPr/>
        </p:nvSpPr>
        <p:spPr>
          <a:xfrm>
            <a:off x="242625" y="1886850"/>
            <a:ext cx="264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Let’s divide each</a:t>
            </a:r>
            <a:endParaRPr/>
          </a:p>
        </p:txBody>
      </p:sp>
      <p:sp>
        <p:nvSpPr>
          <p:cNvPr id="1901" name="Google Shape;1901;p153"/>
          <p:cNvSpPr txBox="1"/>
          <p:nvPr/>
        </p:nvSpPr>
        <p:spPr>
          <a:xfrm>
            <a:off x="204900" y="3221175"/>
            <a:ext cx="2457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5}{18}&quot;&gt;&lt;mfrac&gt;&lt;mn&gt;15&lt;/mn&gt;&lt;mn&gt;18&lt;/mn&gt;&lt;/mfrac&gt;&lt;/math&gt;" id="1902" name="Google Shape;1902;p153" title="15 over 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6820" y="3247466"/>
            <a:ext cx="258950" cy="47244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03" name="Google Shape;1903;p153"/>
          <p:cNvGrpSpPr/>
          <p:nvPr/>
        </p:nvGrpSpPr>
        <p:grpSpPr>
          <a:xfrm>
            <a:off x="2814600" y="2662459"/>
            <a:ext cx="4425300" cy="469500"/>
            <a:chOff x="2662200" y="2662459"/>
            <a:chExt cx="4425300" cy="469500"/>
          </a:xfrm>
        </p:grpSpPr>
        <p:sp>
          <p:nvSpPr>
            <p:cNvPr id="1904" name="Google Shape;1904;p153"/>
            <p:cNvSpPr/>
            <p:nvPr/>
          </p:nvSpPr>
          <p:spPr>
            <a:xfrm>
              <a:off x="2662200" y="2662459"/>
              <a:ext cx="1475100" cy="4695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5" name="Google Shape;1905;p153"/>
            <p:cNvSpPr/>
            <p:nvPr/>
          </p:nvSpPr>
          <p:spPr>
            <a:xfrm>
              <a:off x="4137300" y="2662459"/>
              <a:ext cx="1475100" cy="4695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6" name="Google Shape;1906;p153"/>
            <p:cNvSpPr/>
            <p:nvPr/>
          </p:nvSpPr>
          <p:spPr>
            <a:xfrm>
              <a:off x="5612400" y="2662459"/>
              <a:ext cx="1475100" cy="469500"/>
            </a:xfrm>
            <a:prstGeom prst="rect">
              <a:avLst/>
            </a:prstGeom>
            <a:noFill/>
            <a:ln cap="flat" cmpd="sng" w="38100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5}{6}\div\ 3\ =\ \ \ \ \ \ \ \ \ \frac{5\ \times3}{6\times3}\div3\ \ \ \ \ \frac{15}{18}\div3\ =\ \frac{5}{18}&quot;&gt;&lt;mfrac&gt;&lt;mn&gt;5&lt;/mn&gt;&lt;mn&gt;6&lt;/mn&gt;&lt;/mfrac&gt;&lt;mo&gt;÷&lt;/mo&gt;&lt;mtext&gt;&lt;/mtext&gt;&lt;mn&gt;3&lt;/mn&gt;&lt;mtext&gt;&lt;/mtext&gt;&lt;mo&gt;=&lt;/mo&gt;&lt;mtext&gt;&lt;/mtext&gt;&lt;mtext&gt;&lt;/mtext&gt;&lt;mtext&gt;&lt;/mtext&gt;&lt;mtext&gt;&lt;/mtext&gt;&lt;mtext&gt;&lt;/mtext&gt;&lt;mtext&gt;&lt;/mtext&gt;&lt;mtext&gt;&lt;/mtext&gt;&lt;mtext&gt;&lt;/mtext&gt;&lt;mtext&gt;&lt;/mtext&gt;&lt;mfrac&gt;&lt;mrow&gt;&lt;mn&gt;5&lt;/mn&gt;&lt;mtext&gt;&lt;/mtext&gt;&lt;mo&gt;×&lt;/mo&gt;&lt;mn&gt;3&lt;/mn&gt;&lt;/mrow&gt;&lt;mrow&gt;&lt;mn&gt;6&lt;/mn&gt;&lt;mo&gt;×&lt;/mo&gt;&lt;mn&gt;3&lt;/mn&gt;&lt;/mrow&gt;&lt;/mfrac&gt;&lt;mo&gt;÷&lt;/mo&gt;&lt;mn&gt;3&lt;/mn&gt;&lt;mtext&gt;&lt;/mtext&gt;&lt;mtext&gt;&lt;/mtext&gt;&lt;mtext&gt;&lt;/mtext&gt;&lt;mtext&gt;&lt;/mtext&gt;&lt;mtext&gt;&lt;/mtext&gt;&lt;mfrac&gt;&lt;mn&gt;15&lt;/mn&gt;&lt;mn&gt;18&lt;/mn&gt;&lt;/mfrac&gt;&lt;mo&gt;÷&lt;/mo&gt;&lt;mn&gt;3&lt;/mn&gt;&lt;mtext&gt;&lt;/mtext&gt;&lt;mo&gt;=&lt;/mo&gt;&lt;mtext&gt;&lt;/mtext&gt;&lt;mfrac&gt;&lt;mn&gt;5&lt;/mn&gt;&lt;mn&gt;18&lt;/mn&gt;&lt;/mfrac&gt;&lt;/math&gt;" id="1907" name="Google Shape;1907;p153" title="five sixths division sign 3 equals the fraction with numerator 5 times 3 and denominator 6 times 3 divided by 3 15 over 18 divided by 3 equals 5 over 18"/>
          <p:cNvPicPr preferRelativeResize="0"/>
          <p:nvPr/>
        </p:nvPicPr>
        <p:blipFill rotWithShape="1">
          <a:blip r:embed="rId5">
            <a:alphaModFix/>
          </a:blip>
          <a:srcRect b="0" l="0" r="83699" t="0"/>
          <a:stretch/>
        </p:blipFill>
        <p:spPr>
          <a:xfrm>
            <a:off x="2282388" y="644337"/>
            <a:ext cx="914774" cy="671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8" name="Google Shape;1908;p153"/>
          <p:cNvGraphicFramePr/>
          <p:nvPr/>
        </p:nvGraphicFramePr>
        <p:xfrm>
          <a:off x="2814750" y="1346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884950"/>
                <a:gridCol w="884950"/>
                <a:gridCol w="884950"/>
                <a:gridCol w="884950"/>
                <a:gridCol w="884950"/>
                <a:gridCol w="884950"/>
              </a:tblGrid>
              <a:tr h="671000">
                <a:tc gridSpan="6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9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909" name="Google Shape;1909;p153"/>
          <p:cNvGraphicFramePr/>
          <p:nvPr/>
        </p:nvGraphicFramePr>
        <p:xfrm>
          <a:off x="2814750" y="20202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884950"/>
                <a:gridCol w="884950"/>
                <a:gridCol w="884950"/>
                <a:gridCol w="884950"/>
                <a:gridCol w="884950"/>
                <a:gridCol w="88495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910" name="Google Shape;1910;p153" title="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73695" y="2032132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354A5F}{\frac{1}{6}}&quot;&gt;&lt;mstyle mathcolor=&quot;#354A5F&quot;&gt;&lt;mfrac&gt;&lt;mn&gt;1&lt;/mn&gt;&lt;mn&gt;6&lt;/mn&gt;&lt;/mfrac&gt;&lt;/mstyle&gt;&lt;/math&gt;" id="1911" name="Google Shape;1911;p153" title="one six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11609" y="2044420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912" name="Google Shape;1912;p153" title="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54483" y="2032132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913" name="Google Shape;1913;p153" title="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5270" y="2032132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914" name="Google Shape;1914;p153" title="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24195" y="2032132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extcolor{#BFC4CA}{\frac{1}{6}}&quot;&gt;&lt;mstyle mathcolor=&quot;#BFC4CA&quot;&gt;&lt;mfrac&gt;&lt;mn&gt;1&lt;/mn&gt;&lt;mn&gt;6&lt;/mn&gt;&lt;/mfrac&gt;&lt;/mstyle&gt;&lt;/math&gt;" id="1915" name="Google Shape;1915;p153" title="one six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17895" y="2044407"/>
            <a:ext cx="175867" cy="56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916" name="Google Shape;1916;p153" title="one sixt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0168" y="2336830"/>
            <a:ext cx="175850" cy="565232"/>
          </a:xfrm>
          <a:prstGeom prst="rect">
            <a:avLst/>
          </a:prstGeom>
          <a:noFill/>
          <a:ln>
            <a:noFill/>
          </a:ln>
        </p:spPr>
      </p:pic>
      <p:sp>
        <p:nvSpPr>
          <p:cNvPr id="1917" name="Google Shape;1917;p153"/>
          <p:cNvSpPr txBox="1"/>
          <p:nvPr/>
        </p:nvSpPr>
        <p:spPr>
          <a:xfrm>
            <a:off x="324000" y="693900"/>
            <a:ext cx="201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8" name="Google Shape;1918;p153"/>
          <p:cNvSpPr txBox="1"/>
          <p:nvPr/>
        </p:nvSpPr>
        <p:spPr>
          <a:xfrm>
            <a:off x="857400" y="693900"/>
            <a:ext cx="2019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example,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9" name="Google Shape;1919;p153"/>
          <p:cNvSpPr txBox="1"/>
          <p:nvPr/>
        </p:nvSpPr>
        <p:spPr>
          <a:xfrm>
            <a:off x="242625" y="2344050"/>
            <a:ext cx="2644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by 3 </a:t>
            </a:r>
            <a:endParaRPr/>
          </a:p>
        </p:txBody>
      </p:sp>
      <p:grpSp>
        <p:nvGrpSpPr>
          <p:cNvPr id="1920" name="Google Shape;1920;p153"/>
          <p:cNvGrpSpPr/>
          <p:nvPr/>
        </p:nvGrpSpPr>
        <p:grpSpPr>
          <a:xfrm>
            <a:off x="204900" y="3221175"/>
            <a:ext cx="3524100" cy="904200"/>
            <a:chOff x="204900" y="3221175"/>
            <a:chExt cx="3524100" cy="904200"/>
          </a:xfrm>
        </p:grpSpPr>
        <p:sp>
          <p:nvSpPr>
            <p:cNvPr id="1921" name="Google Shape;1921;p153"/>
            <p:cNvSpPr txBox="1"/>
            <p:nvPr/>
          </p:nvSpPr>
          <p:spPr>
            <a:xfrm>
              <a:off x="204900" y="3602175"/>
              <a:ext cx="2457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divided by 3?</a:t>
              </a:r>
              <a:endParaRPr/>
            </a:p>
          </p:txBody>
        </p:sp>
        <p:sp>
          <p:nvSpPr>
            <p:cNvPr id="1922" name="Google Shape;1922;p153"/>
            <p:cNvSpPr txBox="1"/>
            <p:nvPr/>
          </p:nvSpPr>
          <p:spPr>
            <a:xfrm>
              <a:off x="1271700" y="3221175"/>
              <a:ext cx="24573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be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6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154"/>
          <p:cNvSpPr txBox="1"/>
          <p:nvPr>
            <p:ph idx="1" type="body"/>
          </p:nvPr>
        </p:nvSpPr>
        <p:spPr>
          <a:xfrm>
            <a:off x="400200" y="683100"/>
            <a:ext cx="4203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Summarising</a:t>
            </a:r>
            <a:r>
              <a:rPr lang="en-GB" sz="2100"/>
              <a:t>, </a:t>
            </a:r>
            <a:r>
              <a:rPr lang="en-GB" sz="2100"/>
              <a:t> </a:t>
            </a:r>
            <a:endParaRPr sz="2100"/>
          </a:p>
        </p:txBody>
      </p:sp>
      <p:sp>
        <p:nvSpPr>
          <p:cNvPr id="1928" name="Google Shape;1928;p154"/>
          <p:cNvSpPr txBox="1"/>
          <p:nvPr>
            <p:ph idx="1" type="body"/>
          </p:nvPr>
        </p:nvSpPr>
        <p:spPr>
          <a:xfrm>
            <a:off x="400200" y="1154850"/>
            <a:ext cx="538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 </a:t>
            </a:r>
            <a:r>
              <a:rPr lang="en-GB" sz="2100"/>
              <a:t>could not divide the</a:t>
            </a:r>
            <a:endParaRPr sz="2100"/>
          </a:p>
        </p:txBody>
      </p:sp>
      <p:sp>
        <p:nvSpPr>
          <p:cNvPr id="1929" name="Google Shape;1929;p154"/>
          <p:cNvSpPr txBox="1"/>
          <p:nvPr>
            <p:ph idx="1" type="body"/>
          </p:nvPr>
        </p:nvSpPr>
        <p:spPr>
          <a:xfrm>
            <a:off x="400200" y="2490500"/>
            <a:ext cx="495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So</a:t>
            </a:r>
            <a:endParaRPr sz="2100"/>
          </a:p>
        </p:txBody>
      </p:sp>
      <p:sp>
        <p:nvSpPr>
          <p:cNvPr id="1930" name="Google Shape;1930;p154"/>
          <p:cNvSpPr txBox="1"/>
          <p:nvPr>
            <p:ph idx="1" type="body"/>
          </p:nvPr>
        </p:nvSpPr>
        <p:spPr>
          <a:xfrm>
            <a:off x="324000" y="4166900"/>
            <a:ext cx="5892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So</a:t>
            </a:r>
            <a:endParaRPr sz="2100"/>
          </a:p>
        </p:txBody>
      </p:sp>
      <p:graphicFrame>
        <p:nvGraphicFramePr>
          <p:cNvPr id="1931" name="Google Shape;1931;p154"/>
          <p:cNvGraphicFramePr/>
          <p:nvPr/>
        </p:nvGraphicFramePr>
        <p:xfrm>
          <a:off x="4850100" y="1588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438725"/>
                <a:gridCol w="438725"/>
                <a:gridCol w="438725"/>
                <a:gridCol w="438725"/>
                <a:gridCol w="438725"/>
                <a:gridCol w="438725"/>
              </a:tblGrid>
              <a:tr h="373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9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32" name="Google Shape;1932;p154"/>
          <p:cNvPicPr preferRelativeResize="0"/>
          <p:nvPr/>
        </p:nvPicPr>
        <p:blipFill rotWithShape="1">
          <a:blip r:embed="rId3">
            <a:alphaModFix/>
          </a:blip>
          <a:srcRect b="-20459" l="-2070" r="2069" t="-18719"/>
          <a:stretch/>
        </p:blipFill>
        <p:spPr>
          <a:xfrm>
            <a:off x="5926788" y="2593575"/>
            <a:ext cx="2774775" cy="87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\ 3\ =\ \ \ \ \ \ \ \ \ \frac{5\ \times3}{6\times3}\div3\ \ \ \ \ \frac{15}{18}\div3\ =\ \frac{5}{18}&quot;&gt;&lt;mfrac&gt;&lt;mn&gt;5&lt;/mn&gt;&lt;mn&gt;6&lt;/mn&gt;&lt;/mfrac&gt;&lt;mo&gt;÷&lt;/mo&gt;&lt;mtext&gt;&lt;/mtext&gt;&lt;mn&gt;3&lt;/mn&gt;&lt;mtext&gt;&lt;/mtext&gt;&lt;mo&gt;=&lt;/mo&gt;&lt;mtext&gt;&lt;/mtext&gt;&lt;mtext&gt;&lt;/mtext&gt;&lt;mtext&gt;&lt;/mtext&gt;&lt;mtext&gt;&lt;/mtext&gt;&lt;mtext&gt;&lt;/mtext&gt;&lt;mtext&gt;&lt;/mtext&gt;&lt;mtext&gt;&lt;/mtext&gt;&lt;mtext&gt;&lt;/mtext&gt;&lt;mtext&gt;&lt;/mtext&gt;&lt;mfrac&gt;&lt;mrow&gt;&lt;mn&gt;5&lt;/mn&gt;&lt;mtext&gt;&lt;/mtext&gt;&lt;mo&gt;×&lt;/mo&gt;&lt;mn&gt;3&lt;/mn&gt;&lt;/mrow&gt;&lt;mrow&gt;&lt;mn&gt;6&lt;/mn&gt;&lt;mo&gt;×&lt;/mo&gt;&lt;mn&gt;3&lt;/mn&gt;&lt;/mrow&gt;&lt;/mfrac&gt;&lt;mo&gt;÷&lt;/mo&gt;&lt;mn&gt;3&lt;/mn&gt;&lt;mtext&gt;&lt;/mtext&gt;&lt;mtext&gt;&lt;/mtext&gt;&lt;mtext&gt;&lt;/mtext&gt;&lt;mtext&gt;&lt;/mtext&gt;&lt;mtext&gt;&lt;/mtext&gt;&lt;mfrac&gt;&lt;mn&gt;15&lt;/mn&gt;&lt;mn&gt;18&lt;/mn&gt;&lt;/mfrac&gt;&lt;mo&gt;÷&lt;/mo&gt;&lt;mn&gt;3&lt;/mn&gt;&lt;mtext&gt;&lt;/mtext&gt;&lt;mo&gt;=&lt;/mo&gt;&lt;mtext&gt;&lt;/mtext&gt;&lt;mfrac&gt;&lt;mn&gt;5&lt;/mn&gt;&lt;mn&gt;18&lt;/mn&gt;&lt;/mfrac&gt;&lt;/math&gt;" id="1933" name="Google Shape;1933;p154" title="five sixths division sign 3 equals the fraction with numerator 5 times 3 and denominator 6 times 3 divided by 3 15 over 18 divided by 3 equals 5 over 18"/>
          <p:cNvPicPr preferRelativeResize="0"/>
          <p:nvPr/>
        </p:nvPicPr>
        <p:blipFill rotWithShape="1">
          <a:blip r:embed="rId4">
            <a:alphaModFix/>
          </a:blip>
          <a:srcRect b="0" l="0" r="95882" t="0"/>
          <a:stretch/>
        </p:blipFill>
        <p:spPr>
          <a:xfrm>
            <a:off x="521916" y="1519700"/>
            <a:ext cx="231100" cy="67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5}{18}\div3&quot;&gt;&lt;mfrac&gt;&lt;mn&gt;15&lt;/mn&gt;&lt;mn&gt;18&lt;/mn&gt;&lt;/mfrac&gt;&lt;mo&gt;÷&lt;/mo&gt;&lt;mn&gt;3&lt;/mn&gt;&lt;/math&gt;" id="1934" name="Google Shape;1934;p154" title="15 over 18 divided by 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8975" y="2928600"/>
            <a:ext cx="869832" cy="67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\div3\ =\frac{15}{18}\div3\ =\frac{5}{18}&quot;&gt;&lt;mfrac&gt;&lt;mn&gt;5&lt;/mn&gt;&lt;mn&gt;6&lt;/mn&gt;&lt;/mfrac&gt;&lt;mo&gt;÷&lt;/mo&gt;&lt;mn&gt;3&lt;/mn&gt;&lt;mtext&gt;&lt;/mtext&gt;&lt;mo&gt;=&lt;/mo&gt;&lt;mfrac&gt;&lt;mn&gt;15&lt;/mn&gt;&lt;mn&gt;18&lt;/mn&gt;&lt;/mfrac&gt;&lt;mo&gt;÷&lt;/mo&gt;&lt;mn&gt;3&lt;/mn&gt;&lt;mtext&gt;&lt;/mtext&gt;&lt;mo&gt;=&lt;/mo&gt;&lt;mfrac&gt;&lt;mn&gt;5&lt;/mn&gt;&lt;mn&gt;18&lt;/mn&gt;&lt;/mfrac&gt;&lt;/math&gt;" id="1935" name="Google Shape;1935;p154" title="five sixths divided by 3 equals 15 over 18 divided by 3 equals 5 over 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33669" y="3991750"/>
            <a:ext cx="3006695" cy="67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6" name="Google Shape;1936;p154"/>
          <p:cNvPicPr preferRelativeResize="0"/>
          <p:nvPr/>
        </p:nvPicPr>
        <p:blipFill rotWithShape="1">
          <a:blip r:embed="rId3">
            <a:alphaModFix/>
          </a:blip>
          <a:srcRect b="-20459" l="-2070" r="2069" t="-18719"/>
          <a:stretch/>
        </p:blipFill>
        <p:spPr>
          <a:xfrm>
            <a:off x="5926788" y="3715250"/>
            <a:ext cx="2774775" cy="87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37" name="Google Shape;1937;p154"/>
          <p:cNvSpPr/>
          <p:nvPr/>
        </p:nvSpPr>
        <p:spPr>
          <a:xfrm>
            <a:off x="6036925" y="3909317"/>
            <a:ext cx="732900" cy="4437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8" name="Google Shape;1938;p154"/>
          <p:cNvSpPr/>
          <p:nvPr/>
        </p:nvSpPr>
        <p:spPr>
          <a:xfrm>
            <a:off x="6760489" y="3909317"/>
            <a:ext cx="732900" cy="4437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9" name="Google Shape;1939;p154"/>
          <p:cNvSpPr/>
          <p:nvPr/>
        </p:nvSpPr>
        <p:spPr>
          <a:xfrm>
            <a:off x="7522489" y="3909317"/>
            <a:ext cx="732900" cy="4437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6}&quot;&gt;&lt;mfrac&gt;&lt;mn&gt;1&lt;/mn&gt;&lt;mn&gt;6&lt;/mn&gt;&lt;/mfrac&gt;&lt;/math&gt;" id="1940" name="Google Shape;1940;p154" title="one six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032700" y="2261950"/>
            <a:ext cx="231100" cy="74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1" name="Google Shape;1941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942" name="Google Shape;1942;p154"/>
          <p:cNvSpPr txBox="1"/>
          <p:nvPr>
            <p:ph idx="1" type="body"/>
          </p:nvPr>
        </p:nvSpPr>
        <p:spPr>
          <a:xfrm>
            <a:off x="857400" y="1652300"/>
            <a:ext cx="538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by 3 easily </a:t>
            </a:r>
            <a:endParaRPr sz="2100"/>
          </a:p>
        </p:txBody>
      </p:sp>
      <p:sp>
        <p:nvSpPr>
          <p:cNvPr id="1943" name="Google Shape;1943;p154"/>
          <p:cNvSpPr txBox="1"/>
          <p:nvPr>
            <p:ph idx="1" type="body"/>
          </p:nvPr>
        </p:nvSpPr>
        <p:spPr>
          <a:xfrm>
            <a:off x="400200" y="3100100"/>
            <a:ext cx="1643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by</a:t>
            </a:r>
            <a:endParaRPr sz="2100"/>
          </a:p>
        </p:txBody>
      </p:sp>
      <p:sp>
        <p:nvSpPr>
          <p:cNvPr id="1944" name="Google Shape;1944;p154"/>
          <p:cNvSpPr txBox="1"/>
          <p:nvPr>
            <p:ph idx="1" type="body"/>
          </p:nvPr>
        </p:nvSpPr>
        <p:spPr>
          <a:xfrm>
            <a:off x="810450" y="2490500"/>
            <a:ext cx="2603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we</a:t>
            </a:r>
            <a:endParaRPr sz="2100"/>
          </a:p>
        </p:txBody>
      </p:sp>
      <p:sp>
        <p:nvSpPr>
          <p:cNvPr id="1945" name="Google Shape;1945;p154"/>
          <p:cNvSpPr txBox="1"/>
          <p:nvPr>
            <p:ph idx="1" type="body"/>
          </p:nvPr>
        </p:nvSpPr>
        <p:spPr>
          <a:xfrm>
            <a:off x="1239075" y="2490500"/>
            <a:ext cx="2327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divided</a:t>
            </a:r>
            <a:endParaRPr sz="2100"/>
          </a:p>
        </p:txBody>
      </p:sp>
      <p:sp>
        <p:nvSpPr>
          <p:cNvPr id="1946" name="Google Shape;1946;p154"/>
          <p:cNvSpPr txBox="1"/>
          <p:nvPr>
            <p:ph idx="1" type="body"/>
          </p:nvPr>
        </p:nvSpPr>
        <p:spPr>
          <a:xfrm>
            <a:off x="2286825" y="2490500"/>
            <a:ext cx="1431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each</a:t>
            </a:r>
            <a:endParaRPr sz="2100"/>
          </a:p>
        </p:txBody>
      </p:sp>
      <p:sp>
        <p:nvSpPr>
          <p:cNvPr id="1947" name="Google Shape;1947;p154"/>
          <p:cNvSpPr txBox="1"/>
          <p:nvPr>
            <p:ph idx="1" type="body"/>
          </p:nvPr>
        </p:nvSpPr>
        <p:spPr>
          <a:xfrm>
            <a:off x="810450" y="3100100"/>
            <a:ext cx="1385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3</a:t>
            </a:r>
            <a:endParaRPr sz="2100"/>
          </a:p>
        </p:txBody>
      </p:sp>
      <p:sp>
        <p:nvSpPr>
          <p:cNvPr id="1948" name="Google Shape;1948;p154"/>
          <p:cNvSpPr txBox="1"/>
          <p:nvPr>
            <p:ph idx="1" type="body"/>
          </p:nvPr>
        </p:nvSpPr>
        <p:spPr>
          <a:xfrm>
            <a:off x="1027425" y="3100100"/>
            <a:ext cx="1320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to</a:t>
            </a:r>
            <a:endParaRPr sz="2100"/>
          </a:p>
        </p:txBody>
      </p:sp>
      <p:sp>
        <p:nvSpPr>
          <p:cNvPr id="1949" name="Google Shape;1949;p154"/>
          <p:cNvSpPr txBox="1"/>
          <p:nvPr>
            <p:ph idx="1" type="body"/>
          </p:nvPr>
        </p:nvSpPr>
        <p:spPr>
          <a:xfrm>
            <a:off x="1360800" y="3100100"/>
            <a:ext cx="1140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give </a:t>
            </a:r>
            <a:endParaRPr sz="2100"/>
          </a:p>
        </p:txBody>
      </p:sp>
      <p:sp>
        <p:nvSpPr>
          <p:cNvPr id="1950" name="Google Shape;1950;p154"/>
          <p:cNvSpPr txBox="1"/>
          <p:nvPr>
            <p:ph idx="1" type="body"/>
          </p:nvPr>
        </p:nvSpPr>
        <p:spPr>
          <a:xfrm>
            <a:off x="728975" y="4166900"/>
            <a:ext cx="5639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we</a:t>
            </a:r>
            <a:endParaRPr sz="2100"/>
          </a:p>
        </p:txBody>
      </p:sp>
      <p:sp>
        <p:nvSpPr>
          <p:cNvPr id="1951" name="Google Shape;1951;p154"/>
          <p:cNvSpPr txBox="1"/>
          <p:nvPr>
            <p:ph idx="1" type="body"/>
          </p:nvPr>
        </p:nvSpPr>
        <p:spPr>
          <a:xfrm>
            <a:off x="1173475" y="4166900"/>
            <a:ext cx="5347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could</a:t>
            </a:r>
            <a:endParaRPr sz="2100"/>
          </a:p>
        </p:txBody>
      </p:sp>
      <p:sp>
        <p:nvSpPr>
          <p:cNvPr id="1952" name="Google Shape;1952;p154"/>
          <p:cNvSpPr txBox="1"/>
          <p:nvPr>
            <p:ph idx="1" type="body"/>
          </p:nvPr>
        </p:nvSpPr>
        <p:spPr>
          <a:xfrm>
            <a:off x="1946050" y="4166900"/>
            <a:ext cx="4727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see                    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155"/>
          <p:cNvSpPr txBox="1"/>
          <p:nvPr>
            <p:ph idx="1" type="body"/>
          </p:nvPr>
        </p:nvSpPr>
        <p:spPr>
          <a:xfrm>
            <a:off x="3565300" y="3138200"/>
            <a:ext cx="25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</a:t>
            </a:r>
            <a:endParaRPr sz="1900"/>
          </a:p>
        </p:txBody>
      </p:sp>
      <p:sp>
        <p:nvSpPr>
          <p:cNvPr id="1958" name="Google Shape;1958;p155"/>
          <p:cNvSpPr/>
          <p:nvPr/>
        </p:nvSpPr>
        <p:spPr>
          <a:xfrm>
            <a:off x="3676650" y="1145800"/>
            <a:ext cx="1466700" cy="91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9" name="Google Shape;1959;p155"/>
          <p:cNvSpPr txBox="1"/>
          <p:nvPr>
            <p:ph idx="1" type="body"/>
          </p:nvPr>
        </p:nvSpPr>
        <p:spPr>
          <a:xfrm>
            <a:off x="324000" y="759300"/>
            <a:ext cx="8237700" cy="40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Work out the missing numbers</a:t>
            </a:r>
            <a:endParaRPr sz="1900"/>
          </a:p>
        </p:txBody>
      </p:sp>
      <p:sp>
        <p:nvSpPr>
          <p:cNvPr id="1960" name="Google Shape;1960;p155"/>
          <p:cNvSpPr txBox="1"/>
          <p:nvPr>
            <p:ph idx="1" type="body"/>
          </p:nvPr>
        </p:nvSpPr>
        <p:spPr>
          <a:xfrm>
            <a:off x="324000" y="2223800"/>
            <a:ext cx="538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</a:t>
            </a:r>
            <a:endParaRPr sz="1900"/>
          </a:p>
        </p:txBody>
      </p:sp>
      <p:sp>
        <p:nvSpPr>
          <p:cNvPr id="1961" name="Google Shape;1961;p155"/>
          <p:cNvSpPr txBox="1"/>
          <p:nvPr>
            <p:ph idx="1" type="body"/>
          </p:nvPr>
        </p:nvSpPr>
        <p:spPr>
          <a:xfrm>
            <a:off x="324000" y="3138200"/>
            <a:ext cx="5892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</a:t>
            </a:r>
            <a:endParaRPr sz="1900"/>
          </a:p>
        </p:txBody>
      </p:sp>
      <p:sp>
        <p:nvSpPr>
          <p:cNvPr id="1962" name="Google Shape;1962;p155"/>
          <p:cNvSpPr txBox="1"/>
          <p:nvPr>
            <p:ph idx="1" type="body"/>
          </p:nvPr>
        </p:nvSpPr>
        <p:spPr>
          <a:xfrm>
            <a:off x="324000" y="3976400"/>
            <a:ext cx="5892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So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frac{3}{4}\div2\ \ \ =\ \frac{6}{8}\div2\ =\ \frac{3}{8}&quot;&gt;&lt;mfrac&gt;&lt;mn&gt;3&lt;/mn&gt;&lt;mn&gt;4&lt;/mn&gt;&lt;/mfrac&gt;&lt;mo&gt;÷&lt;/mo&gt;&lt;mn&gt;2&lt;/mn&gt;&lt;mtext&gt;&lt;/mtext&gt;&lt;mtext&gt;&lt;/mtext&gt;&lt;mtext&gt;&lt;/mtext&gt;&lt;mo&gt;=&lt;/mo&gt;&lt;mtext&gt;&lt;/mtext&gt;&lt;mfrac&gt;&lt;mn&gt;6&lt;/mn&gt;&lt;mn&gt;8&lt;/mn&gt;&lt;/mfrac&gt;&lt;mo&gt;÷&lt;/mo&gt;&lt;mn&gt;2&lt;/mn&gt;&lt;mtext&gt;&lt;/mtext&gt;&lt;mo&gt;=&lt;/mo&gt;&lt;mtext&gt;&lt;/mtext&gt;&lt;mfrac&gt;&lt;mn&gt;3&lt;/mn&gt;&lt;mn&gt;8&lt;/mn&gt;&lt;/mfrac&gt;&lt;/math&gt;" id="1963" name="Google Shape;1963;p155" title="three fourths divided by 2 equals six eighths divided by 2 equals three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7850" y="3887525"/>
            <a:ext cx="2762975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2\ \ \ =\ \frac{6}{8}\div2\ =\ \frac{3}{8}&quot;&gt;&lt;mfrac&gt;&lt;mn&gt;3&lt;/mn&gt;&lt;mn&gt;4&lt;/mn&gt;&lt;/mfrac&gt;&lt;mo&gt;÷&lt;/mo&gt;&lt;mn&gt;2&lt;/mn&gt;&lt;mtext&gt;&lt;/mtext&gt;&lt;mtext&gt;&lt;/mtext&gt;&lt;mtext&gt;&lt;/mtext&gt;&lt;mo&gt;=&lt;/mo&gt;&lt;mtext&gt;&lt;/mtext&gt;&lt;mfrac&gt;&lt;mn&gt;6&lt;/mn&gt;&lt;mn&gt;8&lt;/mn&gt;&lt;/mfrac&gt;&lt;mo&gt;÷&lt;/mo&gt;&lt;mn&gt;2&lt;/mn&gt;&lt;mtext&gt;&lt;/mtext&gt;&lt;mo&gt;=&lt;/mo&gt;&lt;mtext&gt;&lt;/mtext&gt;&lt;mfrac&gt;&lt;mn&gt;3&lt;/mn&gt;&lt;mn&gt;8&lt;/mn&gt;&lt;/mfrac&gt;&lt;/math&gt;" id="1964" name="Google Shape;1964;p155" title="three fourths divided by 2 equals six eighths divided by 2 equals three eighths"/>
          <p:cNvPicPr preferRelativeResize="0"/>
          <p:nvPr/>
        </p:nvPicPr>
        <p:blipFill rotWithShape="1">
          <a:blip r:embed="rId3">
            <a:alphaModFix/>
          </a:blip>
          <a:srcRect b="0" l="0" r="72721" t="0"/>
          <a:stretch/>
        </p:blipFill>
        <p:spPr>
          <a:xfrm>
            <a:off x="4043063" y="1310700"/>
            <a:ext cx="799580" cy="650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div2\ \ \ =\ \frac{6}{8}\div2\ =\ \frac{3}{8}&quot;&gt;&lt;mfrac&gt;&lt;mn&gt;3&lt;/mn&gt;&lt;mn&gt;4&lt;/mn&gt;&lt;/mfrac&gt;&lt;mo&gt;÷&lt;/mo&gt;&lt;mn&gt;2&lt;/mn&gt;&lt;mtext&gt;&lt;/mtext&gt;&lt;mtext&gt;&lt;/mtext&gt;&lt;mtext&gt;&lt;/mtext&gt;&lt;mo&gt;=&lt;/mo&gt;&lt;mtext&gt;&lt;/mtext&gt;&lt;mfrac&gt;&lt;mn&gt;6&lt;/mn&gt;&lt;mn&gt;8&lt;/mn&gt;&lt;/mfrac&gt;&lt;mo&gt;÷&lt;/mo&gt;&lt;mn&gt;2&lt;/mn&gt;&lt;mtext&gt;&lt;/mtext&gt;&lt;mo&gt;=&lt;/mo&gt;&lt;mtext&gt;&lt;/mtext&gt;&lt;mfrac&gt;&lt;mn&gt;3&lt;/mn&gt;&lt;mn&gt;8&lt;/mn&gt;&lt;/mfrac&gt;&lt;/math&gt;" id="1965" name="Google Shape;1965;p155" title="three fourths divided by 2 equals six eighths divided by 2 equals three eighths"/>
          <p:cNvPicPr preferRelativeResize="0"/>
          <p:nvPr/>
        </p:nvPicPr>
        <p:blipFill rotWithShape="1">
          <a:blip r:embed="rId3">
            <a:alphaModFix/>
          </a:blip>
          <a:srcRect b="0" l="0" r="89888" t="0"/>
          <a:stretch/>
        </p:blipFill>
        <p:spPr>
          <a:xfrm>
            <a:off x="3189750" y="2058725"/>
            <a:ext cx="296400" cy="650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6" name="Google Shape;1966;p155"/>
          <p:cNvGraphicFramePr/>
          <p:nvPr/>
        </p:nvGraphicFramePr>
        <p:xfrm>
          <a:off x="5742225" y="218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657225"/>
                <a:gridCol w="657225"/>
                <a:gridCol w="657225"/>
                <a:gridCol w="657225"/>
              </a:tblGrid>
              <a:tr h="381000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1967" name="Google Shape;1967;p155"/>
          <p:cNvGraphicFramePr/>
          <p:nvPr/>
        </p:nvGraphicFramePr>
        <p:xfrm>
          <a:off x="5742225" y="266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657225"/>
                <a:gridCol w="657225"/>
                <a:gridCol w="657225"/>
                <a:gridCol w="6572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4}&quot;&gt;&lt;mfrac&gt;&lt;mn&gt;1&lt;/mn&gt;&lt;mn&gt;4&lt;/mn&gt;&lt;/mfrac&gt;&lt;/math&gt;" id="1968" name="Google Shape;1968;p155" title="one fourt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0850" y="2991800"/>
            <a:ext cx="192556" cy="61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69" name="Google Shape;1969;p155"/>
          <p:cNvGraphicFramePr/>
          <p:nvPr/>
        </p:nvGraphicFramePr>
        <p:xfrm>
          <a:off x="5742275" y="31632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{4A2A8FC1-C4D5-4B53-BC34-5C94A1F7C70B}</a:tableStyleId>
              </a:tblPr>
              <a:tblGrid>
                <a:gridCol w="328600"/>
                <a:gridCol w="328600"/>
                <a:gridCol w="328600"/>
                <a:gridCol w="328600"/>
                <a:gridCol w="328600"/>
                <a:gridCol w="328600"/>
                <a:gridCol w="328600"/>
                <a:gridCol w="328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0" name="Google Shape;1970;p155"/>
          <p:cNvSpPr/>
          <p:nvPr/>
        </p:nvSpPr>
        <p:spPr>
          <a:xfrm>
            <a:off x="3486150" y="3084200"/>
            <a:ext cx="333300" cy="4287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1" name="Google Shape;1971;p155"/>
          <p:cNvSpPr/>
          <p:nvPr/>
        </p:nvSpPr>
        <p:spPr>
          <a:xfrm>
            <a:off x="3676650" y="3868400"/>
            <a:ext cx="333300" cy="6507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2" name="Google Shape;1972;p155"/>
          <p:cNvSpPr/>
          <p:nvPr/>
        </p:nvSpPr>
        <p:spPr>
          <a:xfrm>
            <a:off x="4962525" y="3868400"/>
            <a:ext cx="333300" cy="650700"/>
          </a:xfrm>
          <a:prstGeom prst="rect">
            <a:avLst/>
          </a:prstGeom>
          <a:solidFill>
            <a:srgbClr val="E6F2F2"/>
          </a:solidFill>
          <a:ln cap="flat" cmpd="sng" w="9525">
            <a:solidFill>
              <a:schemeClr val="accent5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3" name="Google Shape;1973;p155"/>
          <p:cNvSpPr/>
          <p:nvPr/>
        </p:nvSpPr>
        <p:spPr>
          <a:xfrm>
            <a:off x="5742225" y="3172350"/>
            <a:ext cx="985800" cy="469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4" name="Google Shape;1974;p155"/>
          <p:cNvSpPr/>
          <p:nvPr/>
        </p:nvSpPr>
        <p:spPr>
          <a:xfrm>
            <a:off x="6721650" y="3172350"/>
            <a:ext cx="985800" cy="4695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5" name="Google Shape;1975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976" name="Google Shape;1976;p155"/>
          <p:cNvSpPr txBox="1"/>
          <p:nvPr>
            <p:ph idx="1" type="body"/>
          </p:nvPr>
        </p:nvSpPr>
        <p:spPr>
          <a:xfrm>
            <a:off x="776600" y="2223800"/>
            <a:ext cx="5084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could</a:t>
            </a:r>
            <a:endParaRPr sz="1900"/>
          </a:p>
        </p:txBody>
      </p:sp>
      <p:sp>
        <p:nvSpPr>
          <p:cNvPr id="1977" name="Google Shape;1977;p155"/>
          <p:cNvSpPr txBox="1"/>
          <p:nvPr>
            <p:ph idx="1" type="body"/>
          </p:nvPr>
        </p:nvSpPr>
        <p:spPr>
          <a:xfrm>
            <a:off x="1464500" y="2223800"/>
            <a:ext cx="4548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not</a:t>
            </a:r>
            <a:endParaRPr sz="1900"/>
          </a:p>
        </p:txBody>
      </p:sp>
      <p:sp>
        <p:nvSpPr>
          <p:cNvPr id="1978" name="Google Shape;1978;p155"/>
          <p:cNvSpPr txBox="1"/>
          <p:nvPr>
            <p:ph idx="1" type="body"/>
          </p:nvPr>
        </p:nvSpPr>
        <p:spPr>
          <a:xfrm>
            <a:off x="1919600" y="2223800"/>
            <a:ext cx="4246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divide</a:t>
            </a:r>
            <a:endParaRPr sz="1900"/>
          </a:p>
        </p:txBody>
      </p:sp>
      <p:sp>
        <p:nvSpPr>
          <p:cNvPr id="1979" name="Google Shape;1979;p155"/>
          <p:cNvSpPr txBox="1"/>
          <p:nvPr>
            <p:ph idx="1" type="body"/>
          </p:nvPr>
        </p:nvSpPr>
        <p:spPr>
          <a:xfrm>
            <a:off x="2713350" y="2223800"/>
            <a:ext cx="360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</a:t>
            </a:r>
            <a:endParaRPr sz="1900"/>
          </a:p>
        </p:txBody>
      </p:sp>
      <p:sp>
        <p:nvSpPr>
          <p:cNvPr id="1980" name="Google Shape;1980;p155"/>
          <p:cNvSpPr txBox="1"/>
          <p:nvPr>
            <p:ph idx="1" type="body"/>
          </p:nvPr>
        </p:nvSpPr>
        <p:spPr>
          <a:xfrm>
            <a:off x="3512375" y="2223800"/>
            <a:ext cx="2958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by 2 easily. </a:t>
            </a:r>
            <a:endParaRPr sz="1900"/>
          </a:p>
        </p:txBody>
      </p:sp>
      <p:sp>
        <p:nvSpPr>
          <p:cNvPr id="1981" name="Google Shape;1981;p155"/>
          <p:cNvSpPr txBox="1"/>
          <p:nvPr>
            <p:ph idx="1" type="body"/>
          </p:nvPr>
        </p:nvSpPr>
        <p:spPr>
          <a:xfrm>
            <a:off x="705000" y="3138200"/>
            <a:ext cx="5892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</a:t>
            </a:r>
            <a:endParaRPr sz="1900"/>
          </a:p>
        </p:txBody>
      </p:sp>
      <p:sp>
        <p:nvSpPr>
          <p:cNvPr id="1982" name="Google Shape;1982;p155"/>
          <p:cNvSpPr txBox="1"/>
          <p:nvPr>
            <p:ph idx="1" type="body"/>
          </p:nvPr>
        </p:nvSpPr>
        <p:spPr>
          <a:xfrm>
            <a:off x="1086000" y="3138200"/>
            <a:ext cx="5892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divided</a:t>
            </a:r>
            <a:endParaRPr sz="1900"/>
          </a:p>
        </p:txBody>
      </p:sp>
      <p:sp>
        <p:nvSpPr>
          <p:cNvPr id="1983" name="Google Shape;1983;p155"/>
          <p:cNvSpPr txBox="1"/>
          <p:nvPr>
            <p:ph idx="1" type="body"/>
          </p:nvPr>
        </p:nvSpPr>
        <p:spPr>
          <a:xfrm>
            <a:off x="2030725" y="3138200"/>
            <a:ext cx="5862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each</a:t>
            </a:r>
            <a:endParaRPr sz="1900"/>
          </a:p>
        </p:txBody>
      </p:sp>
      <p:sp>
        <p:nvSpPr>
          <p:cNvPr id="1984" name="Google Shape;1984;p155"/>
          <p:cNvSpPr txBox="1"/>
          <p:nvPr>
            <p:ph idx="1" type="body"/>
          </p:nvPr>
        </p:nvSpPr>
        <p:spPr>
          <a:xfrm>
            <a:off x="3120800" y="3138200"/>
            <a:ext cx="5838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by</a:t>
            </a:r>
            <a:endParaRPr sz="1900"/>
          </a:p>
        </p:txBody>
      </p:sp>
      <p:sp>
        <p:nvSpPr>
          <p:cNvPr id="1985" name="Google Shape;1985;p155"/>
          <p:cNvSpPr txBox="1"/>
          <p:nvPr>
            <p:ph idx="1" type="body"/>
          </p:nvPr>
        </p:nvSpPr>
        <p:spPr>
          <a:xfrm>
            <a:off x="3946300" y="3138200"/>
            <a:ext cx="5546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to give </a:t>
            </a:r>
            <a:endParaRPr sz="1900"/>
          </a:p>
        </p:txBody>
      </p:sp>
      <p:sp>
        <p:nvSpPr>
          <p:cNvPr id="1986" name="Google Shape;1986;p155"/>
          <p:cNvSpPr txBox="1"/>
          <p:nvPr>
            <p:ph idx="1" type="body"/>
          </p:nvPr>
        </p:nvSpPr>
        <p:spPr>
          <a:xfrm>
            <a:off x="681350" y="3976400"/>
            <a:ext cx="591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</a:t>
            </a:r>
            <a:endParaRPr sz="1900"/>
          </a:p>
        </p:txBody>
      </p:sp>
      <p:sp>
        <p:nvSpPr>
          <p:cNvPr id="1987" name="Google Shape;1987;p155"/>
          <p:cNvSpPr txBox="1"/>
          <p:nvPr>
            <p:ph idx="1" type="body"/>
          </p:nvPr>
        </p:nvSpPr>
        <p:spPr>
          <a:xfrm>
            <a:off x="1086000" y="3976400"/>
            <a:ext cx="566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could</a:t>
            </a:r>
            <a:endParaRPr sz="1900"/>
          </a:p>
        </p:txBody>
      </p:sp>
      <p:sp>
        <p:nvSpPr>
          <p:cNvPr id="1988" name="Google Shape;1988;p155"/>
          <p:cNvSpPr txBox="1"/>
          <p:nvPr>
            <p:ph idx="1" type="body"/>
          </p:nvPr>
        </p:nvSpPr>
        <p:spPr>
          <a:xfrm>
            <a:off x="1771425" y="3976400"/>
            <a:ext cx="5130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see                    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1994" name="Google Shape;1994;p156"/>
          <p:cNvSpPr txBox="1"/>
          <p:nvPr>
            <p:ph idx="1" type="body"/>
          </p:nvPr>
        </p:nvSpPr>
        <p:spPr>
          <a:xfrm>
            <a:off x="324000" y="759300"/>
            <a:ext cx="7581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Removing the bar </a:t>
            </a:r>
            <a:r>
              <a:rPr lang="en-GB" sz="2100"/>
              <a:t>models</a:t>
            </a:r>
            <a:r>
              <a:rPr lang="en-GB" sz="2100"/>
              <a:t> and using equivalent fractions can make the calculation easier.</a:t>
            </a:r>
            <a:endParaRPr sz="2100"/>
          </a:p>
        </p:txBody>
      </p:sp>
      <p:sp>
        <p:nvSpPr>
          <p:cNvPr id="1995" name="Google Shape;1995;p156"/>
          <p:cNvSpPr txBox="1"/>
          <p:nvPr>
            <p:ph idx="1" type="body"/>
          </p:nvPr>
        </p:nvSpPr>
        <p:spPr>
          <a:xfrm>
            <a:off x="324000" y="1702275"/>
            <a:ext cx="1775400" cy="4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For</a:t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frac{7}{10}\div\ 2\ \ \ \ \ \ \ \frac{7\times2}{10\times2}\div2\ \ =\ \frac{14}{20}\div2\ =\ \frac{7}{20}&quot;&gt;&lt;mfrac&gt;&lt;mn&gt;7&lt;/mn&gt;&lt;mn&gt;10&lt;/mn&gt;&lt;/mfrac&gt;&lt;mo&gt;÷&lt;/mo&gt;&lt;mtext&gt;&lt;/mtext&gt;&lt;mn&gt;2&lt;/mn&gt;&lt;mtext&gt;&lt;/mtext&gt;&lt;mtext&gt;&lt;/mtext&gt;&lt;mtext&gt;&lt;/mtext&gt;&lt;mtext&gt;&lt;/mtext&gt;&lt;mtext&gt;&lt;/mtext&gt;&lt;mtext&gt;&lt;/mtext&gt;&lt;mtext&gt;&lt;/mtext&gt;&lt;mfrac&gt;&lt;mrow&gt;&lt;mn&gt;7&lt;/mn&gt;&lt;mo&gt;×&lt;/mo&gt;&lt;mn&gt;2&lt;/mn&gt;&lt;/mrow&gt;&lt;mrow&gt;&lt;mn&gt;10&lt;/mn&gt;&lt;mo&gt;×&lt;/mo&gt;&lt;mn&gt;2&lt;/mn&gt;&lt;/mrow&gt;&lt;/mfrac&gt;&lt;mo&gt;÷&lt;/mo&gt;&lt;mn&gt;2&lt;/mn&gt;&lt;mtext&gt;&lt;/mtext&gt;&lt;mtext&gt;&lt;/mtext&gt;&lt;mo&gt;=&lt;/mo&gt;&lt;mtext&gt;&lt;/mtext&gt;&lt;mfrac&gt;&lt;mn&gt;14&lt;/mn&gt;&lt;mn&gt;20&lt;/mn&gt;&lt;/mfrac&gt;&lt;mo&gt;÷&lt;/mo&gt;&lt;mn&gt;2&lt;/mn&gt;&lt;mtext&gt;&lt;/mtext&gt;&lt;mo&gt;=&lt;/mo&gt;&lt;mtext&gt;&lt;/mtext&gt;&lt;mfrac&gt;&lt;mn&gt;7&lt;/mn&gt;&lt;mn&gt;20&lt;/mn&gt;&lt;/mfrac&gt;&lt;/math&gt;" id="1996" name="Google Shape;1996;p156" title="seven tenths division sign 2 the fraction with numerator 7 times 2 and denominator 10 times 2 divided by 2 equals 14 over 20 divided by 2 equals 7 over 20"/>
          <p:cNvPicPr preferRelativeResize="0"/>
          <p:nvPr/>
        </p:nvPicPr>
        <p:blipFill rotWithShape="1">
          <a:blip r:embed="rId3">
            <a:alphaModFix/>
          </a:blip>
          <a:srcRect b="0" l="539" r="79471" t="0"/>
          <a:stretch/>
        </p:blipFill>
        <p:spPr>
          <a:xfrm>
            <a:off x="2219725" y="1603300"/>
            <a:ext cx="920750" cy="56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\div\ 2\ \ \ \ \ \ \ \frac{7\times2}{10\times2}\div2\ \ =\ \frac{14}{20}\div2\ =\ \frac{7}{20}&quot;&gt;&lt;mfrac&gt;&lt;mn&gt;7&lt;/mn&gt;&lt;mn&gt;10&lt;/mn&gt;&lt;/mfrac&gt;&lt;mo&gt;÷&lt;/mo&gt;&lt;mtext&gt;&lt;/mtext&gt;&lt;mn&gt;2&lt;/mn&gt;&lt;mtext&gt;&lt;/mtext&gt;&lt;mtext&gt;&lt;/mtext&gt;&lt;mtext&gt;&lt;/mtext&gt;&lt;mtext&gt;&lt;/mtext&gt;&lt;mtext&gt;&lt;/mtext&gt;&lt;mtext&gt;&lt;/mtext&gt;&lt;mtext&gt;&lt;/mtext&gt;&lt;mfrac&gt;&lt;mrow&gt;&lt;mn&gt;7&lt;/mn&gt;&lt;mo&gt;×&lt;/mo&gt;&lt;mn&gt;2&lt;/mn&gt;&lt;/mrow&gt;&lt;mrow&gt;&lt;mn&gt;10&lt;/mn&gt;&lt;mo&gt;×&lt;/mo&gt;&lt;mn&gt;2&lt;/mn&gt;&lt;/mrow&gt;&lt;/mfrac&gt;&lt;mo&gt;÷&lt;/mo&gt;&lt;mn&gt;2&lt;/mn&gt;&lt;mtext&gt;&lt;/mtext&gt;&lt;mtext&gt;&lt;/mtext&gt;&lt;mo&gt;=&lt;/mo&gt;&lt;mtext&gt;&lt;/mtext&gt;&lt;mfrac&gt;&lt;mn&gt;14&lt;/mn&gt;&lt;mn&gt;20&lt;/mn&gt;&lt;/mfrac&gt;&lt;mo&gt;÷&lt;/mo&gt;&lt;mn&gt;2&lt;/mn&gt;&lt;mtext&gt;&lt;/mtext&gt;&lt;mo&gt;=&lt;/mo&gt;&lt;mtext&gt;&lt;/mtext&gt;&lt;mfrac&gt;&lt;mn&gt;7&lt;/mn&gt;&lt;mn&gt;20&lt;/mn&gt;&lt;/mfrac&gt;&lt;/math&gt;" id="1997" name="Google Shape;1997;p156" title="seven tenths division sign 2 the fraction with numerator 7 times 2 and denominator 10 times 2 divided by 2 equals 14 over 20 divided by 2 equals 7 over 20"/>
          <p:cNvPicPr preferRelativeResize="0"/>
          <p:nvPr/>
        </p:nvPicPr>
        <p:blipFill rotWithShape="1">
          <a:blip r:embed="rId3">
            <a:alphaModFix/>
          </a:blip>
          <a:srcRect b="0" l="539" r="92049" t="0"/>
          <a:stretch/>
        </p:blipFill>
        <p:spPr>
          <a:xfrm>
            <a:off x="419788" y="2861575"/>
            <a:ext cx="341376" cy="56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\div\ 2\ \ \ \ \ \ \ \frac{7\times2}{10\times2}\div2\ \ =\ \frac{14}{20}\div2\ =\ \frac{7}{20}&quot;&gt;&lt;mfrac&gt;&lt;mn&gt;7&lt;/mn&gt;&lt;mn&gt;10&lt;/mn&gt;&lt;/mfrac&gt;&lt;mo&gt;÷&lt;/mo&gt;&lt;mtext&gt;&lt;/mtext&gt;&lt;mn&gt;2&lt;/mn&gt;&lt;mtext&gt;&lt;/mtext&gt;&lt;mtext&gt;&lt;/mtext&gt;&lt;mtext&gt;&lt;/mtext&gt;&lt;mtext&gt;&lt;/mtext&gt;&lt;mtext&gt;&lt;/mtext&gt;&lt;mtext&gt;&lt;/mtext&gt;&lt;mtext&gt;&lt;/mtext&gt;&lt;mfrac&gt;&lt;mrow&gt;&lt;mn&gt;7&lt;/mn&gt;&lt;mo&gt;×&lt;/mo&gt;&lt;mn&gt;2&lt;/mn&gt;&lt;/mrow&gt;&lt;mrow&gt;&lt;mn&gt;10&lt;/mn&gt;&lt;mo&gt;×&lt;/mo&gt;&lt;mn&gt;2&lt;/mn&gt;&lt;/mrow&gt;&lt;/mfrac&gt;&lt;mo&gt;÷&lt;/mo&gt;&lt;mn&gt;2&lt;/mn&gt;&lt;mtext&gt;&lt;/mtext&gt;&lt;mtext&gt;&lt;/mtext&gt;&lt;mo&gt;=&lt;/mo&gt;&lt;mtext&gt;&lt;/mtext&gt;&lt;mfrac&gt;&lt;mn&gt;14&lt;/mn&gt;&lt;mn&gt;20&lt;/mn&gt;&lt;/mfrac&gt;&lt;mo&gt;÷&lt;/mo&gt;&lt;mn&gt;2&lt;/mn&gt;&lt;mtext&gt;&lt;/mtext&gt;&lt;mo&gt;=&lt;/mo&gt;&lt;mtext&gt;&lt;/mtext&gt;&lt;mfrac&gt;&lt;mn&gt;7&lt;/mn&gt;&lt;mn&gt;20&lt;/mn&gt;&lt;/mfrac&gt;&lt;/math&gt;" id="1998" name="Google Shape;1998;p156" title="seven tenths division sign 2 the fraction with numerator 7 times 2 and denominator 10 times 2 divided by 2 equals 14 over 20 divided by 2 equals 7 over 20"/>
          <p:cNvPicPr preferRelativeResize="0"/>
          <p:nvPr/>
        </p:nvPicPr>
        <p:blipFill rotWithShape="1">
          <a:blip r:embed="rId3">
            <a:alphaModFix/>
          </a:blip>
          <a:srcRect b="0" l="64142" r="25440" t="0"/>
          <a:stretch/>
        </p:blipFill>
        <p:spPr>
          <a:xfrm>
            <a:off x="4817473" y="3009450"/>
            <a:ext cx="52252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8}{40}&quot;&gt;&lt;mfrac&gt;&lt;mn&gt;28&lt;/mn&gt;&lt;mn&gt;40&lt;/mn&gt;&lt;/mfrac&gt;&lt;/math&gt;" id="1999" name="Google Shape;1999;p156" title="28 over 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0413" y="2999850"/>
            <a:ext cx="341375" cy="632686"/>
          </a:xfrm>
          <a:prstGeom prst="rect">
            <a:avLst/>
          </a:prstGeom>
          <a:noFill/>
          <a:ln>
            <a:noFill/>
          </a:ln>
        </p:spPr>
      </p:pic>
      <p:sp>
        <p:nvSpPr>
          <p:cNvPr id="2000" name="Google Shape;2000;p156"/>
          <p:cNvSpPr txBox="1"/>
          <p:nvPr/>
        </p:nvSpPr>
        <p:spPr>
          <a:xfrm>
            <a:off x="5341200" y="3062250"/>
            <a:ext cx="52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endParaRPr/>
          </a:p>
        </p:txBody>
      </p:sp>
      <p:sp>
        <p:nvSpPr>
          <p:cNvPr id="2001" name="Google Shape;2001;p156"/>
          <p:cNvSpPr txBox="1"/>
          <p:nvPr/>
        </p:nvSpPr>
        <p:spPr>
          <a:xfrm>
            <a:off x="235800" y="3671850"/>
            <a:ext cx="89073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Writing an equivalent fraction where the numerator of the  dividend is a multiple of the divisor makes the calculation easier.</a:t>
            </a:r>
            <a:endParaRPr/>
          </a:p>
        </p:txBody>
      </p:sp>
      <p:sp>
        <p:nvSpPr>
          <p:cNvPr id="2002" name="Google Shape;2002;p156"/>
          <p:cNvSpPr txBox="1"/>
          <p:nvPr/>
        </p:nvSpPr>
        <p:spPr>
          <a:xfrm>
            <a:off x="6331800" y="3062250"/>
            <a:ext cx="52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40}{200}&quot;&gt;&lt;mfrac&gt;&lt;mn&gt;140&lt;/mn&gt;&lt;mn&gt;200&lt;/mn&gt;&lt;/mfrac&gt;&lt;/math&gt;" id="2003" name="Google Shape;2003;p156" title="140 over 2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62224" y="3009450"/>
            <a:ext cx="477659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4" name="Google Shape;2004;p156"/>
          <p:cNvSpPr txBox="1"/>
          <p:nvPr>
            <p:ph idx="1" type="body"/>
          </p:nvPr>
        </p:nvSpPr>
        <p:spPr>
          <a:xfrm>
            <a:off x="324000" y="2464275"/>
            <a:ext cx="8700900" cy="36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Which equivalent fraction should be used for</a:t>
            </a:r>
            <a:endParaRPr sz="2100"/>
          </a:p>
        </p:txBody>
      </p:sp>
      <p:sp>
        <p:nvSpPr>
          <p:cNvPr id="2005" name="Google Shape;2005;p156"/>
          <p:cNvSpPr txBox="1"/>
          <p:nvPr>
            <p:ph idx="1" type="body"/>
          </p:nvPr>
        </p:nvSpPr>
        <p:spPr>
          <a:xfrm>
            <a:off x="781200" y="2921475"/>
            <a:ext cx="8700900" cy="77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to make the division easier? </a:t>
            </a:r>
            <a:endParaRPr sz="2100"/>
          </a:p>
        </p:txBody>
      </p:sp>
      <p:sp>
        <p:nvSpPr>
          <p:cNvPr id="2006" name="Google Shape;2006;p156"/>
          <p:cNvSpPr txBox="1"/>
          <p:nvPr>
            <p:ph idx="1" type="body"/>
          </p:nvPr>
        </p:nvSpPr>
        <p:spPr>
          <a:xfrm>
            <a:off x="857400" y="1702275"/>
            <a:ext cx="1775400" cy="4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example,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sp>
        <p:nvSpPr>
          <p:cNvPr id="2012" name="Google Shape;2012;p157"/>
          <p:cNvSpPr txBox="1"/>
          <p:nvPr>
            <p:ph idx="1" type="body"/>
          </p:nvPr>
        </p:nvSpPr>
        <p:spPr>
          <a:xfrm>
            <a:off x="385175" y="1044488"/>
            <a:ext cx="8700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For example,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100"/>
          </a:p>
        </p:txBody>
      </p:sp>
      <p:pic>
        <p:nvPicPr>
          <p:cNvPr descr="&lt;math xmlns=&quot;http://www.w3.org/1998/Math/MathML&quot; display=&quot;block&quot; data-is-equatio=&quot;1&quot; data-latex=&quot;\frac{7}{10}\div\ 2\ \ \ \ \ \ \ \frac{7\times2}{10\times2}\div2\ \ =\ \frac{14}{20}\div2\ =\ \frac{7}{20}&quot;&gt;&lt;mfrac&gt;&lt;mn&gt;7&lt;/mn&gt;&lt;mn&gt;10&lt;/mn&gt;&lt;/mfrac&gt;&lt;mo&gt;÷&lt;/mo&gt;&lt;mtext&gt;&lt;/mtext&gt;&lt;mn&gt;2&lt;/mn&gt;&lt;mtext&gt;&lt;/mtext&gt;&lt;mtext&gt;&lt;/mtext&gt;&lt;mtext&gt;&lt;/mtext&gt;&lt;mtext&gt;&lt;/mtext&gt;&lt;mtext&gt;&lt;/mtext&gt;&lt;mtext&gt;&lt;/mtext&gt;&lt;mtext&gt;&lt;/mtext&gt;&lt;mfrac&gt;&lt;mrow&gt;&lt;mn&gt;7&lt;/mn&gt;&lt;mo&gt;×&lt;/mo&gt;&lt;mn&gt;2&lt;/mn&gt;&lt;/mrow&gt;&lt;mrow&gt;&lt;mn&gt;10&lt;/mn&gt;&lt;mo&gt;×&lt;/mo&gt;&lt;mn&gt;2&lt;/mn&gt;&lt;/mrow&gt;&lt;/mfrac&gt;&lt;mo&gt;÷&lt;/mo&gt;&lt;mn&gt;2&lt;/mn&gt;&lt;mtext&gt;&lt;/mtext&gt;&lt;mtext&gt;&lt;/mtext&gt;&lt;mo&gt;=&lt;/mo&gt;&lt;mtext&gt;&lt;/mtext&gt;&lt;mfrac&gt;&lt;mn&gt;14&lt;/mn&gt;&lt;mn&gt;20&lt;/mn&gt;&lt;/mfrac&gt;&lt;mo&gt;÷&lt;/mo&gt;&lt;mn&gt;2&lt;/mn&gt;&lt;mtext&gt;&lt;/mtext&gt;&lt;mo&gt;=&lt;/mo&gt;&lt;mtext&gt;&lt;/mtext&gt;&lt;mfrac&gt;&lt;mn&gt;7&lt;/mn&gt;&lt;mn&gt;20&lt;/mn&gt;&lt;/mfrac&gt;&lt;/math&gt;" id="2013" name="Google Shape;2013;p157" title="seven tenths division sign 2 the fraction with numerator 7 times 2 and denominator 10 times 2 divided by 2 equals 14 over 20 divided by 2 equals 7 over 20"/>
          <p:cNvPicPr preferRelativeResize="0"/>
          <p:nvPr/>
        </p:nvPicPr>
        <p:blipFill rotWithShape="1">
          <a:blip r:embed="rId3">
            <a:alphaModFix/>
          </a:blip>
          <a:srcRect b="0" l="-7129" r="79740" t="0"/>
          <a:stretch/>
        </p:blipFill>
        <p:spPr>
          <a:xfrm>
            <a:off x="480275" y="1913963"/>
            <a:ext cx="1704949" cy="76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\div\ 2\ \ \ \ \ \ \ \frac{7\times2}{10\times2}\div2\ \ =\ \frac{14}{20}\div2\ =\ \frac{7}{20}&quot;&gt;&lt;mfrac&gt;&lt;mn&gt;7&lt;/mn&gt;&lt;mn&gt;10&lt;/mn&gt;&lt;/mfrac&gt;&lt;mo&gt;÷&lt;/mo&gt;&lt;mtext&gt;&lt;/mtext&gt;&lt;mn&gt;2&lt;/mn&gt;&lt;mtext&gt;&lt;/mtext&gt;&lt;mtext&gt;&lt;/mtext&gt;&lt;mtext&gt;&lt;/mtext&gt;&lt;mtext&gt;&lt;/mtext&gt;&lt;mtext&gt;&lt;/mtext&gt;&lt;mtext&gt;&lt;/mtext&gt;&lt;mtext&gt;&lt;/mtext&gt;&lt;mfrac&gt;&lt;mrow&gt;&lt;mn&gt;7&lt;/mn&gt;&lt;mo&gt;×&lt;/mo&gt;&lt;mn&gt;2&lt;/mn&gt;&lt;/mrow&gt;&lt;mrow&gt;&lt;mn&gt;10&lt;/mn&gt;&lt;mo&gt;×&lt;/mo&gt;&lt;mn&gt;2&lt;/mn&gt;&lt;/mrow&gt;&lt;/mfrac&gt;&lt;mo&gt;÷&lt;/mo&gt;&lt;mn&gt;2&lt;/mn&gt;&lt;mtext&gt;&lt;/mtext&gt;&lt;mtext&gt;&lt;/mtext&gt;&lt;mo&gt;=&lt;/mo&gt;&lt;mtext&gt;&lt;/mtext&gt;&lt;mfrac&gt;&lt;mn&gt;14&lt;/mn&gt;&lt;mn&gt;20&lt;/mn&gt;&lt;/mfrac&gt;&lt;mo&gt;÷&lt;/mo&gt;&lt;mn&gt;2&lt;/mn&gt;&lt;mtext&gt;&lt;/mtext&gt;&lt;mo&gt;=&lt;/mo&gt;&lt;mtext&gt;&lt;/mtext&gt;&lt;mfrac&gt;&lt;mn&gt;7&lt;/mn&gt;&lt;mn&gt;20&lt;/mn&gt;&lt;/mfrac&gt;&lt;/math&gt;" id="2014" name="Google Shape;2014;p157" title="seven tenths division sign 2 the fraction with numerator 7 times 2 and denominator 10 times 2 divided by 2 equals 14 over 20 divided by 2 equals 7 over 20"/>
          <p:cNvPicPr preferRelativeResize="0"/>
          <p:nvPr/>
        </p:nvPicPr>
        <p:blipFill rotWithShape="1">
          <a:blip r:embed="rId3">
            <a:alphaModFix/>
          </a:blip>
          <a:srcRect b="0" l="539" r="79471" t="0"/>
          <a:stretch/>
        </p:blipFill>
        <p:spPr>
          <a:xfrm>
            <a:off x="2280900" y="945513"/>
            <a:ext cx="920750" cy="56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5" name="Google Shape;2015;p1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5213" y="2166075"/>
            <a:ext cx="35242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\div\ 2\ \ \ \ \ \ \ \frac{7\times2}{10\times2}\div2\ \ =\ \frac{14}{20}\div2\ =\ \frac{7}{20}&quot;&gt;&lt;mfrac&gt;&lt;mn&gt;7&lt;/mn&gt;&lt;mn&gt;10&lt;/mn&gt;&lt;/mfrac&gt;&lt;mo&gt;÷&lt;/mo&gt;&lt;mtext&gt;&lt;/mtext&gt;&lt;mn&gt;2&lt;/mn&gt;&lt;mtext&gt;&lt;/mtext&gt;&lt;mtext&gt;&lt;/mtext&gt;&lt;mtext&gt;&lt;/mtext&gt;&lt;mtext&gt;&lt;/mtext&gt;&lt;mtext&gt;&lt;/mtext&gt;&lt;mtext&gt;&lt;/mtext&gt;&lt;mtext&gt;&lt;/mtext&gt;&lt;mfrac&gt;&lt;mrow&gt;&lt;mn&gt;7&lt;/mn&gt;&lt;mo&gt;×&lt;/mo&gt;&lt;mn&gt;2&lt;/mn&gt;&lt;/mrow&gt;&lt;mrow&gt;&lt;mn&gt;10&lt;/mn&gt;&lt;mo&gt;×&lt;/mo&gt;&lt;mn&gt;2&lt;/mn&gt;&lt;/mrow&gt;&lt;/mfrac&gt;&lt;mo&gt;÷&lt;/mo&gt;&lt;mn&gt;2&lt;/mn&gt;&lt;mtext&gt;&lt;/mtext&gt;&lt;mtext&gt;&lt;/mtext&gt;&lt;mo&gt;=&lt;/mo&gt;&lt;mtext&gt;&lt;/mtext&gt;&lt;mfrac&gt;&lt;mn&gt;14&lt;/mn&gt;&lt;mn&gt;20&lt;/mn&gt;&lt;/mfrac&gt;&lt;mo&gt;÷&lt;/mo&gt;&lt;mn&gt;2&lt;/mn&gt;&lt;mtext&gt;&lt;/mtext&gt;&lt;mo&gt;=&lt;/mo&gt;&lt;mtext&gt;&lt;/mtext&gt;&lt;mfrac&gt;&lt;mn&gt;7&lt;/mn&gt;&lt;mn&gt;20&lt;/mn&gt;&lt;/mfrac&gt;&lt;/math&gt;" id="2016" name="Google Shape;2016;p157" title="seven tenths division sign 2 the fraction with numerator 7 times 2 and denominator 10 times 2 divided by 2 equals 14 over 20 divided by 2 equals 7 over 20"/>
          <p:cNvPicPr preferRelativeResize="0"/>
          <p:nvPr/>
        </p:nvPicPr>
        <p:blipFill rotWithShape="1">
          <a:blip r:embed="rId3">
            <a:alphaModFix/>
          </a:blip>
          <a:srcRect b="0" l="24847" r="43784" t="0"/>
          <a:stretch/>
        </p:blipFill>
        <p:spPr>
          <a:xfrm>
            <a:off x="2537650" y="1913963"/>
            <a:ext cx="1952725" cy="76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\div\ 2\ \ \ \ \ \ \ \frac{7\times2}{10\times2}\div2\ \ =\ \frac{14}{20}\div2\ =\ \frac{7}{20}&quot;&gt;&lt;mfrac&gt;&lt;mn&gt;7&lt;/mn&gt;&lt;mn&gt;10&lt;/mn&gt;&lt;/mfrac&gt;&lt;mo&gt;÷&lt;/mo&gt;&lt;mtext&gt;&lt;/mtext&gt;&lt;mn&gt;2&lt;/mn&gt;&lt;mtext&gt;&lt;/mtext&gt;&lt;mtext&gt;&lt;/mtext&gt;&lt;mtext&gt;&lt;/mtext&gt;&lt;mtext&gt;&lt;/mtext&gt;&lt;mtext&gt;&lt;/mtext&gt;&lt;mtext&gt;&lt;/mtext&gt;&lt;mtext&gt;&lt;/mtext&gt;&lt;mfrac&gt;&lt;mrow&gt;&lt;mn&gt;7&lt;/mn&gt;&lt;mo&gt;×&lt;/mo&gt;&lt;mn&gt;2&lt;/mn&gt;&lt;/mrow&gt;&lt;mrow&gt;&lt;mn&gt;10&lt;/mn&gt;&lt;mo&gt;×&lt;/mo&gt;&lt;mn&gt;2&lt;/mn&gt;&lt;/mrow&gt;&lt;/mfrac&gt;&lt;mo&gt;÷&lt;/mo&gt;&lt;mn&gt;2&lt;/mn&gt;&lt;mtext&gt;&lt;/mtext&gt;&lt;mtext&gt;&lt;/mtext&gt;&lt;mo&gt;=&lt;/mo&gt;&lt;mtext&gt;&lt;/mtext&gt;&lt;mfrac&gt;&lt;mn&gt;14&lt;/mn&gt;&lt;mn&gt;20&lt;/mn&gt;&lt;/mfrac&gt;&lt;mo&gt;÷&lt;/mo&gt;&lt;mn&gt;2&lt;/mn&gt;&lt;mtext&gt;&lt;/mtext&gt;&lt;mo&gt;=&lt;/mo&gt;&lt;mtext&gt;&lt;/mtext&gt;&lt;mfrac&gt;&lt;mn&gt;7&lt;/mn&gt;&lt;mn&gt;20&lt;/mn&gt;&lt;/mfrac&gt;&lt;/math&gt;" id="2017" name="Google Shape;2017;p157" title="seven tenths division sign 2 the fraction with numerator 7 times 2 and denominator 10 times 2 divided by 2 equals 14 over 20 divided by 2 equals 7 over 20"/>
          <p:cNvPicPr preferRelativeResize="0"/>
          <p:nvPr/>
        </p:nvPicPr>
        <p:blipFill rotWithShape="1">
          <a:blip r:embed="rId3">
            <a:alphaModFix/>
          </a:blip>
          <a:srcRect b="0" l="56980" r="15630" t="0"/>
          <a:stretch/>
        </p:blipFill>
        <p:spPr>
          <a:xfrm>
            <a:off x="4538025" y="1913963"/>
            <a:ext cx="1704949" cy="76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\div\ 2\ \ \ \ \ \ \ \frac{7\times2}{10\times2}\div2\ \ =\ \frac{14}{20}\div2\ =\ \frac{7}{20}&quot;&gt;&lt;mfrac&gt;&lt;mn&gt;7&lt;/mn&gt;&lt;mn&gt;10&lt;/mn&gt;&lt;/mfrac&gt;&lt;mo&gt;÷&lt;/mo&gt;&lt;mtext&gt;&lt;/mtext&gt;&lt;mn&gt;2&lt;/mn&gt;&lt;mtext&gt;&lt;/mtext&gt;&lt;mtext&gt;&lt;/mtext&gt;&lt;mtext&gt;&lt;/mtext&gt;&lt;mtext&gt;&lt;/mtext&gt;&lt;mtext&gt;&lt;/mtext&gt;&lt;mtext&gt;&lt;/mtext&gt;&lt;mtext&gt;&lt;/mtext&gt;&lt;mfrac&gt;&lt;mrow&gt;&lt;mn&gt;7&lt;/mn&gt;&lt;mo&gt;×&lt;/mo&gt;&lt;mn&gt;2&lt;/mn&gt;&lt;/mrow&gt;&lt;mrow&gt;&lt;mn&gt;10&lt;/mn&gt;&lt;mo&gt;×&lt;/mo&gt;&lt;mn&gt;2&lt;/mn&gt;&lt;/mrow&gt;&lt;/mfrac&gt;&lt;mo&gt;÷&lt;/mo&gt;&lt;mn&gt;2&lt;/mn&gt;&lt;mtext&gt;&lt;/mtext&gt;&lt;mtext&gt;&lt;/mtext&gt;&lt;mo&gt;=&lt;/mo&gt;&lt;mtext&gt;&lt;/mtext&gt;&lt;mfrac&gt;&lt;mn&gt;14&lt;/mn&gt;&lt;mn&gt;20&lt;/mn&gt;&lt;/mfrac&gt;&lt;mo&gt;÷&lt;/mo&gt;&lt;mn&gt;2&lt;/mn&gt;&lt;mtext&gt;&lt;/mtext&gt;&lt;mo&gt;=&lt;/mo&gt;&lt;mtext&gt;&lt;/mtext&gt;&lt;mfrac&gt;&lt;mn&gt;7&lt;/mn&gt;&lt;mn&gt;20&lt;/mn&gt;&lt;/mfrac&gt;&lt;/math&gt;" id="2018" name="Google Shape;2018;p157" title="seven tenths division sign 2 the fraction with numerator 7 times 2 and denominator 10 times 2 divided by 2 equals 14 over 20 divided by 2 equals 7 over 20"/>
          <p:cNvPicPr preferRelativeResize="0"/>
          <p:nvPr/>
        </p:nvPicPr>
        <p:blipFill rotWithShape="1">
          <a:blip r:embed="rId3">
            <a:alphaModFix/>
          </a:blip>
          <a:srcRect b="0" l="82836" r="-5176" t="0"/>
          <a:stretch/>
        </p:blipFill>
        <p:spPr>
          <a:xfrm>
            <a:off x="6242975" y="1913963"/>
            <a:ext cx="1390651" cy="76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9" name="Google Shape;2019;p157"/>
          <p:cNvSpPr txBox="1"/>
          <p:nvPr/>
        </p:nvSpPr>
        <p:spPr>
          <a:xfrm>
            <a:off x="284353" y="3088325"/>
            <a:ext cx="8427900" cy="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the LCM of the numerator of the dividend and the divisor means you can divide more 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efficiently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cxnSp>
        <p:nvCxnSpPr>
          <p:cNvPr id="2020" name="Google Shape;2020;p157"/>
          <p:cNvCxnSpPr/>
          <p:nvPr/>
        </p:nvCxnSpPr>
        <p:spPr>
          <a:xfrm flipH="1">
            <a:off x="5349875" y="1241063"/>
            <a:ext cx="485700" cy="5619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1" name="Google Shape;2021;p157"/>
          <p:cNvSpPr txBox="1"/>
          <p:nvPr/>
        </p:nvSpPr>
        <p:spPr>
          <a:xfrm>
            <a:off x="5890475" y="723788"/>
            <a:ext cx="18003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14 is the LCM of 7 and 2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5" name="Shape 2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6" name="Google Shape;2026;p158"/>
          <p:cNvSpPr txBox="1"/>
          <p:nvPr>
            <p:ph idx="1" type="subTitle"/>
          </p:nvPr>
        </p:nvSpPr>
        <p:spPr>
          <a:xfrm>
            <a:off x="337825" y="733800"/>
            <a:ext cx="4234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answer to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</a:t>
            </a:r>
            <a:r>
              <a:rPr lang="en-GB"/>
              <a:t>how all your working out.</a:t>
            </a:r>
            <a:endParaRPr/>
          </a:p>
        </p:txBody>
      </p:sp>
      <p:sp>
        <p:nvSpPr>
          <p:cNvPr id="2027" name="Google Shape;2027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Dividing any fraction by a whole number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div4\ =\ \frac{3\times4}{5\times4}\div4=\frac{12}{20}\div4\ =\ \frac{3}{20}&quot;&gt;&lt;mfrac&gt;&lt;mn&gt;3&lt;/mn&gt;&lt;mn&gt;5&lt;/mn&gt;&lt;/mfrac&gt;&lt;mo&gt;÷&lt;/mo&gt;&lt;mn&gt;4&lt;/mn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÷&lt;/mo&gt;&lt;mn&gt;4&lt;/mn&gt;&lt;mo&gt;=&lt;/mo&gt;&lt;mfrac&gt;&lt;mn&gt;12&lt;/mn&gt;&lt;mn&gt;20&lt;/mn&gt;&lt;/mfrac&gt;&lt;mo&gt;÷&lt;/mo&gt;&lt;mn&gt;4&lt;/mn&gt;&lt;mtext&gt;&lt;/mtext&gt;&lt;mo&gt;=&lt;/mo&gt;&lt;mtext&gt;&lt;/mtext&gt;&lt;mfrac&gt;&lt;mn&gt;3&lt;/mn&gt;&lt;mn&gt;20&lt;/mn&gt;&lt;/mfrac&gt;&lt;/math&gt;" id="2028" name="Google Shape;2028;p158" title="three fifths divided by 4 equals the fraction with numerator 3 times 4 and denominator 5 times 4 divided by 4 equals 12 over 20 divided by 4 equals 3 over 20"/>
          <p:cNvPicPr preferRelativeResize="0"/>
          <p:nvPr/>
        </p:nvPicPr>
        <p:blipFill rotWithShape="1">
          <a:blip r:embed="rId3">
            <a:alphaModFix/>
          </a:blip>
          <a:srcRect b="0" l="0" r="82075" t="0"/>
          <a:stretch/>
        </p:blipFill>
        <p:spPr>
          <a:xfrm>
            <a:off x="1873215" y="1234500"/>
            <a:ext cx="1013974" cy="79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div4\ =\ \frac{3\times4}{5\times4}\div4=\frac{12}{20}\div4\ =\ \frac{3}{20}&quot;&gt;&lt;mfrac&gt;&lt;mn&gt;3&lt;/mn&gt;&lt;mn&gt;5&lt;/mn&gt;&lt;/mfrac&gt;&lt;mo&gt;÷&lt;/mo&gt;&lt;mn&gt;4&lt;/mn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÷&lt;/mo&gt;&lt;mn&gt;4&lt;/mn&gt;&lt;mo&gt;=&lt;/mo&gt;&lt;mfrac&gt;&lt;mn&gt;12&lt;/mn&gt;&lt;mn&gt;20&lt;/mn&gt;&lt;/mfrac&gt;&lt;mo&gt;÷&lt;/mo&gt;&lt;mn&gt;4&lt;/mn&gt;&lt;mtext&gt;&lt;/mtext&gt;&lt;mo&gt;=&lt;/mo&gt;&lt;mtext&gt;&lt;/mtext&gt;&lt;mfrac&gt;&lt;mn&gt;3&lt;/mn&gt;&lt;mn&gt;20&lt;/mn&gt;&lt;/mfrac&gt;&lt;/math&gt;" id="2029" name="Google Shape;2029;p158" title="three fifths divided by 4 equals the fraction with numerator 3 times 4 and denominator 5 times 4 divided by 4 equals 12 over 20 divided by 4 equals 3 over 20"/>
          <p:cNvPicPr preferRelativeResize="0"/>
          <p:nvPr/>
        </p:nvPicPr>
        <p:blipFill rotWithShape="1">
          <a:blip r:embed="rId3">
            <a:alphaModFix/>
          </a:blip>
          <a:srcRect b="0" l="0" r="45259" t="0"/>
          <a:stretch/>
        </p:blipFill>
        <p:spPr>
          <a:xfrm>
            <a:off x="796925" y="2623800"/>
            <a:ext cx="2322525" cy="628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div4\ =\ \frac{3\times4}{5\times4}\div4=\frac{12}{20}\div4\ =\ \frac{3}{20}&quot;&gt;&lt;mfrac&gt;&lt;mn&gt;3&lt;/mn&gt;&lt;mn&gt;5&lt;/mn&gt;&lt;/mfrac&gt;&lt;mo&gt;÷&lt;/mo&gt;&lt;mn&gt;4&lt;/mn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÷&lt;/mo&gt;&lt;mn&gt;4&lt;/mn&gt;&lt;mo&gt;=&lt;/mo&gt;&lt;mfrac&gt;&lt;mn&gt;12&lt;/mn&gt;&lt;mn&gt;20&lt;/mn&gt;&lt;/mfrac&gt;&lt;mo&gt;÷&lt;/mo&gt;&lt;mn&gt;4&lt;/mn&gt;&lt;mtext&gt;&lt;/mtext&gt;&lt;mo&gt;=&lt;/mo&gt;&lt;mtext&gt;&lt;/mtext&gt;&lt;mfrac&gt;&lt;mn&gt;3&lt;/mn&gt;&lt;mn&gt;20&lt;/mn&gt;&lt;/mfrac&gt;&lt;/math&gt;" id="2030" name="Google Shape;2030;p158" title="three fifths divided by 4 equals the fraction with numerator 3 times 4 and denominator 5 times 4 divided by 4 equals 12 over 20 divided by 4 equals 3 over 20"/>
          <p:cNvPicPr preferRelativeResize="0"/>
          <p:nvPr/>
        </p:nvPicPr>
        <p:blipFill rotWithShape="1">
          <a:blip r:embed="rId3">
            <a:alphaModFix/>
          </a:blip>
          <a:srcRect b="0" l="53569" r="18509" t="0"/>
          <a:stretch/>
        </p:blipFill>
        <p:spPr>
          <a:xfrm>
            <a:off x="1539248" y="3468087"/>
            <a:ext cx="1184638" cy="6284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div4\ =\ \frac{3\times4}{5\times4}\div4=\frac{12}{20}\div4\ =\ \frac{3}{20}&quot;&gt;&lt;mfrac&gt;&lt;mn&gt;3&lt;/mn&gt;&lt;mn&gt;5&lt;/mn&gt;&lt;/mfrac&gt;&lt;mo&gt;÷&lt;/mo&gt;&lt;mn&gt;4&lt;/mn&gt;&lt;mtext&gt;&lt;/mtext&gt;&lt;mo&gt;=&lt;/mo&gt;&lt;mtext&gt;&lt;/mtext&gt;&lt;mfrac&gt;&lt;mrow&gt;&lt;mn&gt;3&lt;/mn&gt;&lt;mo&gt;×&lt;/mo&gt;&lt;mn&gt;4&lt;/mn&gt;&lt;/mrow&gt;&lt;mrow&gt;&lt;mn&gt;5&lt;/mn&gt;&lt;mo&gt;×&lt;/mo&gt;&lt;mn&gt;4&lt;/mn&gt;&lt;/mrow&gt;&lt;/mfrac&gt;&lt;mo&gt;÷&lt;/mo&gt;&lt;mn&gt;4&lt;/mn&gt;&lt;mo&gt;=&lt;/mo&gt;&lt;mfrac&gt;&lt;mn&gt;12&lt;/mn&gt;&lt;mn&gt;20&lt;/mn&gt;&lt;/mfrac&gt;&lt;mo&gt;÷&lt;/mo&gt;&lt;mn&gt;4&lt;/mn&gt;&lt;mtext&gt;&lt;/mtext&gt;&lt;mo&gt;=&lt;/mo&gt;&lt;mtext&gt;&lt;/mtext&gt;&lt;mfrac&gt;&lt;mn&gt;3&lt;/mn&gt;&lt;mn&gt;20&lt;/mn&gt;&lt;/mfrac&gt;&lt;/math&gt;" id="2031" name="Google Shape;2031;p158" title="three fifths divided by 4 equals the fraction with numerator 3 times 4 and denominator 5 times 4 divided by 4 equals 12 over 20 divided by 4 equals 3 over 20"/>
          <p:cNvPicPr preferRelativeResize="0"/>
          <p:nvPr/>
        </p:nvPicPr>
        <p:blipFill rotWithShape="1">
          <a:blip r:embed="rId3">
            <a:alphaModFix/>
          </a:blip>
          <a:srcRect b="0" l="82914" r="-10836" t="0"/>
          <a:stretch/>
        </p:blipFill>
        <p:spPr>
          <a:xfrm>
            <a:off x="1548773" y="4230010"/>
            <a:ext cx="1184638" cy="628490"/>
          </a:xfrm>
          <a:prstGeom prst="rect">
            <a:avLst/>
          </a:prstGeom>
          <a:noFill/>
          <a:ln>
            <a:noFill/>
          </a:ln>
        </p:spPr>
      </p:pic>
      <p:sp>
        <p:nvSpPr>
          <p:cNvPr id="2032" name="Google Shape;2032;p158"/>
          <p:cNvSpPr txBox="1"/>
          <p:nvPr>
            <p:ph idx="1" type="subTitle"/>
          </p:nvPr>
        </p:nvSpPr>
        <p:spPr>
          <a:xfrm>
            <a:off x="4681225" y="733800"/>
            <a:ext cx="4191300" cy="20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 out the answer to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</a:t>
            </a:r>
            <a:r>
              <a:rPr lang="en-GB"/>
              <a:t>how all your working out.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8}\div3\ =\ \frac{5\times3}{8\times3}\div3=\frac{15}{24}\div3=\frac{5}{24}&quot;&gt;&lt;mfrac&gt;&lt;mn&gt;5&lt;/mn&gt;&lt;mn&gt;8&lt;/mn&gt;&lt;/mfrac&gt;&lt;mo&gt;÷&lt;/mo&gt;&lt;mn&gt;3&lt;/mn&gt;&lt;mtext&gt;&lt;/mtext&gt;&lt;mo&gt;=&lt;/mo&gt;&lt;mtext&gt;&lt;/mtext&gt;&lt;mfrac&gt;&lt;mrow&gt;&lt;mn&gt;5&lt;/mn&gt;&lt;mo&gt;×&lt;/mo&gt;&lt;mn&gt;3&lt;/mn&gt;&lt;/mrow&gt;&lt;mrow&gt;&lt;mn&gt;8&lt;/mn&gt;&lt;mo&gt;×&lt;/mo&gt;&lt;mn&gt;3&lt;/mn&gt;&lt;/mrow&gt;&lt;/mfrac&gt;&lt;mo&gt;÷&lt;/mo&gt;&lt;mn&gt;3&lt;/mn&gt;&lt;mo&gt;=&lt;/mo&gt;&lt;mfrac&gt;&lt;mn&gt;15&lt;/mn&gt;&lt;mn&gt;24&lt;/mn&gt;&lt;/mfrac&gt;&lt;mo&gt;÷&lt;/mo&gt;&lt;mn&gt;3&lt;/mn&gt;&lt;mo&gt;=&lt;/mo&gt;&lt;mfrac&gt;&lt;mn&gt;5&lt;/mn&gt;&lt;mn&gt;24&lt;/mn&gt;&lt;/mfrac&gt;&lt;/math&gt;" id="2033" name="Google Shape;2033;p158" title="five eighths divided by 3 equals the fraction with numerator 5 times 3 and denominator 8 times 3 divided by 3 equals 15 over 24 divided by 3 equals 5 over 24"/>
          <p:cNvPicPr preferRelativeResize="0"/>
          <p:nvPr/>
        </p:nvPicPr>
        <p:blipFill rotWithShape="1">
          <a:blip r:embed="rId4">
            <a:alphaModFix/>
          </a:blip>
          <a:srcRect b="0" l="0" r="81463" t="0"/>
          <a:stretch/>
        </p:blipFill>
        <p:spPr>
          <a:xfrm>
            <a:off x="6498488" y="1225000"/>
            <a:ext cx="1013976" cy="79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3\ =\ \frac{5\times3}{8\times3}\div3=\frac{15}{24}\div3=\frac{5}{24}&quot;&gt;&lt;mfrac&gt;&lt;mn&gt;5&lt;/mn&gt;&lt;mn&gt;8&lt;/mn&gt;&lt;/mfrac&gt;&lt;mo&gt;÷&lt;/mo&gt;&lt;mn&gt;3&lt;/mn&gt;&lt;mtext&gt;&lt;/mtext&gt;&lt;mo&gt;=&lt;/mo&gt;&lt;mtext&gt;&lt;/mtext&gt;&lt;mfrac&gt;&lt;mrow&gt;&lt;mn&gt;5&lt;/mn&gt;&lt;mo&gt;×&lt;/mo&gt;&lt;mn&gt;3&lt;/mn&gt;&lt;/mrow&gt;&lt;mrow&gt;&lt;mn&gt;8&lt;/mn&gt;&lt;mo&gt;×&lt;/mo&gt;&lt;mn&gt;3&lt;/mn&gt;&lt;/mrow&gt;&lt;/mfrac&gt;&lt;mo&gt;÷&lt;/mo&gt;&lt;mn&gt;3&lt;/mn&gt;&lt;mo&gt;=&lt;/mo&gt;&lt;mfrac&gt;&lt;mn&gt;15&lt;/mn&gt;&lt;mn&gt;24&lt;/mn&gt;&lt;/mfrac&gt;&lt;mo&gt;÷&lt;/mo&gt;&lt;mn&gt;3&lt;/mn&gt;&lt;mo&gt;=&lt;/mo&gt;&lt;mfrac&gt;&lt;mn&gt;5&lt;/mn&gt;&lt;mn&gt;24&lt;/mn&gt;&lt;/mfrac&gt;&lt;/math&gt;" id="2034" name="Google Shape;2034;p158" title="five eighths divided by 3 equals the fraction with numerator 5 times 3 and denominator 8 times 3 divided by 3 equals 15 over 24 divided by 3 equals 5 over 24"/>
          <p:cNvPicPr preferRelativeResize="0"/>
          <p:nvPr/>
        </p:nvPicPr>
        <p:blipFill rotWithShape="1">
          <a:blip r:embed="rId4">
            <a:alphaModFix/>
          </a:blip>
          <a:srcRect b="0" l="0" r="43785" t="0"/>
          <a:stretch/>
        </p:blipFill>
        <p:spPr>
          <a:xfrm>
            <a:off x="5282925" y="2571750"/>
            <a:ext cx="2322524" cy="5966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3\ =\ \frac{5\times3}{8\times3}\div3=\frac{15}{24}\div3=\frac{5}{24}&quot;&gt;&lt;mfrac&gt;&lt;mn&gt;5&lt;/mn&gt;&lt;mn&gt;8&lt;/mn&gt;&lt;/mfrac&gt;&lt;mo&gt;÷&lt;/mo&gt;&lt;mn&gt;3&lt;/mn&gt;&lt;mtext&gt;&lt;/mtext&gt;&lt;mo&gt;=&lt;/mo&gt;&lt;mtext&gt;&lt;/mtext&gt;&lt;mfrac&gt;&lt;mrow&gt;&lt;mn&gt;5&lt;/mn&gt;&lt;mo&gt;×&lt;/mo&gt;&lt;mn&gt;3&lt;/mn&gt;&lt;/mrow&gt;&lt;mrow&gt;&lt;mn&gt;8&lt;/mn&gt;&lt;mo&gt;×&lt;/mo&gt;&lt;mn&gt;3&lt;/mn&gt;&lt;/mrow&gt;&lt;/mfrac&gt;&lt;mo&gt;÷&lt;/mo&gt;&lt;mn&gt;3&lt;/mn&gt;&lt;mo&gt;=&lt;/mo&gt;&lt;mfrac&gt;&lt;mn&gt;15&lt;/mn&gt;&lt;mn&gt;24&lt;/mn&gt;&lt;/mfrac&gt;&lt;mo&gt;÷&lt;/mo&gt;&lt;mn&gt;3&lt;/mn&gt;&lt;mo&gt;=&lt;/mo&gt;&lt;mfrac&gt;&lt;mn&gt;5&lt;/mn&gt;&lt;mn&gt;24&lt;/mn&gt;&lt;/mfrac&gt;&lt;/math&gt;" id="2035" name="Google Shape;2035;p158" title="five eighths divided by 3 equals the fraction with numerator 5 times 3 and denominator 8 times 3 divided by 3 equals 15 over 24 divided by 3 equals 5 over 24"/>
          <p:cNvPicPr preferRelativeResize="0"/>
          <p:nvPr/>
        </p:nvPicPr>
        <p:blipFill rotWithShape="1">
          <a:blip r:embed="rId4">
            <a:alphaModFix/>
          </a:blip>
          <a:srcRect b="-12119" l="55364" r="15745" t="-6928"/>
          <a:stretch/>
        </p:blipFill>
        <p:spPr>
          <a:xfrm>
            <a:off x="6041110" y="3282343"/>
            <a:ext cx="1193597" cy="7103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3\ =\ \frac{5\times3}{8\times3}\div3=\frac{15}{24}\div3=\frac{5}{24}&quot;&gt;&lt;mfrac&gt;&lt;mn&gt;5&lt;/mn&gt;&lt;mn&gt;8&lt;/mn&gt;&lt;/mfrac&gt;&lt;mo&gt;÷&lt;/mo&gt;&lt;mn&gt;3&lt;/mn&gt;&lt;mtext&gt;&lt;/mtext&gt;&lt;mo&gt;=&lt;/mo&gt;&lt;mtext&gt;&lt;/mtext&gt;&lt;mfrac&gt;&lt;mrow&gt;&lt;mn&gt;5&lt;/mn&gt;&lt;mo&gt;×&lt;/mo&gt;&lt;mn&gt;3&lt;/mn&gt;&lt;/mrow&gt;&lt;mrow&gt;&lt;mn&gt;8&lt;/mn&gt;&lt;mo&gt;×&lt;/mo&gt;&lt;mn&gt;3&lt;/mn&gt;&lt;/mrow&gt;&lt;/mfrac&gt;&lt;mo&gt;÷&lt;/mo&gt;&lt;mn&gt;3&lt;/mn&gt;&lt;mo&gt;=&lt;/mo&gt;&lt;mfrac&gt;&lt;mn&gt;15&lt;/mn&gt;&lt;mn&gt;24&lt;/mn&gt;&lt;/mfrac&gt;&lt;mo&gt;÷&lt;/mo&gt;&lt;mn&gt;3&lt;/mn&gt;&lt;mo&gt;=&lt;/mo&gt;&lt;mfrac&gt;&lt;mn&gt;5&lt;/mn&gt;&lt;mn&gt;24&lt;/mn&gt;&lt;/mfrac&gt;&lt;/math&gt;" id="2036" name="Google Shape;2036;p158" title="five eighths divided by 3 equals the fraction with numerator 5 times 3 and denominator 8 times 3 divided by 3 equals 15 over 24 divided by 3 equals 5 over 24"/>
          <p:cNvPicPr preferRelativeResize="0"/>
          <p:nvPr/>
        </p:nvPicPr>
        <p:blipFill rotWithShape="1">
          <a:blip r:embed="rId4">
            <a:alphaModFix/>
          </a:blip>
          <a:srcRect b="-9523" l="83823" r="-11043" t="-9523"/>
          <a:stretch/>
        </p:blipFill>
        <p:spPr>
          <a:xfrm>
            <a:off x="6064724" y="4064825"/>
            <a:ext cx="1124604" cy="71034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37" name="Google Shape;2037;p158"/>
          <p:cNvGrpSpPr/>
          <p:nvPr/>
        </p:nvGrpSpPr>
        <p:grpSpPr>
          <a:xfrm>
            <a:off x="2347350" y="2961650"/>
            <a:ext cx="2206950" cy="625750"/>
            <a:chOff x="2347350" y="2961650"/>
            <a:chExt cx="2206950" cy="625750"/>
          </a:xfrm>
        </p:grpSpPr>
        <p:cxnSp>
          <p:nvCxnSpPr>
            <p:cNvPr id="2038" name="Google Shape;2038;p158"/>
            <p:cNvCxnSpPr/>
            <p:nvPr/>
          </p:nvCxnSpPr>
          <p:spPr>
            <a:xfrm flipH="1">
              <a:off x="2347350" y="3240000"/>
              <a:ext cx="1079700" cy="3474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39" name="Google Shape;2039;p158"/>
            <p:cNvSpPr txBox="1"/>
            <p:nvPr/>
          </p:nvSpPr>
          <p:spPr>
            <a:xfrm>
              <a:off x="3369600" y="2961650"/>
              <a:ext cx="1184700" cy="32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12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is the LCM of 3 and 4</a:t>
              </a:r>
              <a:endPara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0" name="Google Shape;2040;p158"/>
          <p:cNvGrpSpPr/>
          <p:nvPr/>
        </p:nvGrpSpPr>
        <p:grpSpPr>
          <a:xfrm>
            <a:off x="6858283" y="2961625"/>
            <a:ext cx="1922623" cy="506227"/>
            <a:chOff x="2347694" y="2961651"/>
            <a:chExt cx="2162680" cy="625512"/>
          </a:xfrm>
        </p:grpSpPr>
        <p:cxnSp>
          <p:nvCxnSpPr>
            <p:cNvPr id="2041" name="Google Shape;2041;p158"/>
            <p:cNvCxnSpPr/>
            <p:nvPr/>
          </p:nvCxnSpPr>
          <p:spPr>
            <a:xfrm flipH="1">
              <a:off x="2347694" y="3277264"/>
              <a:ext cx="899400" cy="3099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042" name="Google Shape;2042;p158"/>
            <p:cNvSpPr txBox="1"/>
            <p:nvPr/>
          </p:nvSpPr>
          <p:spPr>
            <a:xfrm>
              <a:off x="3177775" y="2961651"/>
              <a:ext cx="13326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15</a:t>
              </a:r>
              <a:r>
                <a:rPr lang="en-GB" sz="19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 is the LCM of 5 and 3</a:t>
              </a:r>
              <a:endPara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159"/>
          <p:cNvSpPr/>
          <p:nvPr/>
        </p:nvSpPr>
        <p:spPr>
          <a:xfrm>
            <a:off x="2733800" y="2369986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8" name="Google Shape;2048;p159"/>
          <p:cNvSpPr txBox="1"/>
          <p:nvPr>
            <p:ph idx="4294967295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the questions and answers.</a:t>
            </a:r>
            <a:endParaRPr/>
          </a:p>
        </p:txBody>
      </p:sp>
      <p:sp>
        <p:nvSpPr>
          <p:cNvPr id="2049" name="Google Shape;2049;p15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Dividing any fraction by a whole number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50" name="Google Shape;2050;p159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0" r="85452" t="0"/>
          <a:stretch/>
        </p:blipFill>
        <p:spPr>
          <a:xfrm>
            <a:off x="2796620" y="1434044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51" name="Google Shape;2051;p159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36314" r="49138" t="0"/>
          <a:stretch/>
        </p:blipFill>
        <p:spPr>
          <a:xfrm>
            <a:off x="2796620" y="2519185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52" name="Google Shape;2052;p159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73231" r="12221" t="0"/>
          <a:stretch/>
        </p:blipFill>
        <p:spPr>
          <a:xfrm>
            <a:off x="2796620" y="3604327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53" name="Google Shape;2053;p159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19073" r="66379" t="0"/>
          <a:stretch/>
        </p:blipFill>
        <p:spPr>
          <a:xfrm>
            <a:off x="4948427" y="2513158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54" name="Google Shape;2054;p159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55602" r="29849" t="0"/>
          <a:stretch/>
        </p:blipFill>
        <p:spPr>
          <a:xfrm>
            <a:off x="4948427" y="1325224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055" name="Google Shape;2055;p159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93696" r="-8243" t="0"/>
          <a:stretch/>
        </p:blipFill>
        <p:spPr>
          <a:xfrm>
            <a:off x="5080928" y="3604327"/>
            <a:ext cx="1129374" cy="763982"/>
          </a:xfrm>
          <a:prstGeom prst="rect">
            <a:avLst/>
          </a:prstGeom>
          <a:noFill/>
          <a:ln>
            <a:noFill/>
          </a:ln>
        </p:spPr>
      </p:pic>
      <p:sp>
        <p:nvSpPr>
          <p:cNvPr id="2056" name="Google Shape;2056;p159"/>
          <p:cNvSpPr/>
          <p:nvPr/>
        </p:nvSpPr>
        <p:spPr>
          <a:xfrm>
            <a:off x="2733800" y="1234650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7" name="Google Shape;2057;p159"/>
          <p:cNvSpPr/>
          <p:nvPr/>
        </p:nvSpPr>
        <p:spPr>
          <a:xfrm>
            <a:off x="2733800" y="3505343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8" name="Google Shape;2058;p159"/>
          <p:cNvSpPr/>
          <p:nvPr/>
        </p:nvSpPr>
        <p:spPr>
          <a:xfrm>
            <a:off x="4760121" y="1234650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9" name="Google Shape;2059;p159"/>
          <p:cNvSpPr/>
          <p:nvPr/>
        </p:nvSpPr>
        <p:spPr>
          <a:xfrm>
            <a:off x="4760121" y="2419488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0" name="Google Shape;2060;p159"/>
          <p:cNvSpPr/>
          <p:nvPr/>
        </p:nvSpPr>
        <p:spPr>
          <a:xfrm>
            <a:off x="4760121" y="3543593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4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5" name="Google Shape;2065;p160"/>
          <p:cNvSpPr txBox="1"/>
          <p:nvPr>
            <p:ph idx="4294967295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Work out the answers to the following. You can draw bar models if needed.</a:t>
            </a:r>
            <a:endParaRPr/>
          </a:p>
        </p:txBody>
      </p:sp>
      <p:sp>
        <p:nvSpPr>
          <p:cNvPr id="2066" name="Google Shape;2066;p16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Dividing any fraction by a whole number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67" name="Google Shape;2067;p160"/>
          <p:cNvSpPr txBox="1"/>
          <p:nvPr/>
        </p:nvSpPr>
        <p:spPr>
          <a:xfrm>
            <a:off x="324000" y="17760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068" name="Google Shape;2068;p160"/>
          <p:cNvSpPr txBox="1"/>
          <p:nvPr/>
        </p:nvSpPr>
        <p:spPr>
          <a:xfrm>
            <a:off x="5105550" y="17760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2069" name="Google Shape;2069;p160"/>
          <p:cNvSpPr txBox="1"/>
          <p:nvPr/>
        </p:nvSpPr>
        <p:spPr>
          <a:xfrm>
            <a:off x="324000" y="33162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2070" name="Google Shape;2070;p160"/>
          <p:cNvSpPr txBox="1"/>
          <p:nvPr/>
        </p:nvSpPr>
        <p:spPr>
          <a:xfrm>
            <a:off x="5105550" y="33162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071" name="Google Shape;2071;p160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0" r="89037" t="0"/>
          <a:stretch/>
        </p:blipFill>
        <p:spPr>
          <a:xfrm>
            <a:off x="838200" y="1776000"/>
            <a:ext cx="1209676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072" name="Google Shape;2072;p160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27793" r="60294" t="0"/>
          <a:stretch/>
        </p:blipFill>
        <p:spPr>
          <a:xfrm>
            <a:off x="785775" y="3179925"/>
            <a:ext cx="1314523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073" name="Google Shape;2073;p160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53505" r="31949" t="0"/>
          <a:stretch/>
        </p:blipFill>
        <p:spPr>
          <a:xfrm>
            <a:off x="5357775" y="1762125"/>
            <a:ext cx="1605000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074" name="Google Shape;2074;p160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80827" r="8210" t="0"/>
          <a:stretch/>
        </p:blipFill>
        <p:spPr>
          <a:xfrm>
            <a:off x="5651962" y="3316200"/>
            <a:ext cx="1209676" cy="7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161"/>
          <p:cNvSpPr txBox="1"/>
          <p:nvPr>
            <p:ph idx="4294967295" type="body"/>
          </p:nvPr>
        </p:nvSpPr>
        <p:spPr>
          <a:xfrm>
            <a:off x="324000" y="683100"/>
            <a:ext cx="82296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</a:t>
            </a:r>
            <a:r>
              <a:rPr lang="en-GB" sz="1900"/>
              <a:t>) Jacob has used equivalent fractions to work out his answer but has spilt ink all over his work. Can you identify what his missing numbers were?</a:t>
            </a:r>
            <a:endParaRPr sz="1900"/>
          </a:p>
        </p:txBody>
      </p:sp>
      <p:sp>
        <p:nvSpPr>
          <p:cNvPr id="2080" name="Google Shape;2080;p16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Dividing any fraction by a whole number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81" name="Google Shape;2081;p161"/>
          <p:cNvSpPr txBox="1"/>
          <p:nvPr/>
        </p:nvSpPr>
        <p:spPr>
          <a:xfrm>
            <a:off x="324000" y="19284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082" name="Google Shape;2082;p161"/>
          <p:cNvSpPr txBox="1"/>
          <p:nvPr/>
        </p:nvSpPr>
        <p:spPr>
          <a:xfrm>
            <a:off x="5105550" y="19284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4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4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083" name="Google Shape;2083;p161" title="5 lines Line 1: three fourths divided by 2 equals the fraction with numerator 3 times 2 and denominator 2 times 2 divided by 2 Line 2: equals six fourths divided by 2 equals three fourths Line 3: blank Line 4: blank"/>
          <p:cNvPicPr preferRelativeResize="0"/>
          <p:nvPr/>
        </p:nvPicPr>
        <p:blipFill rotWithShape="1">
          <a:blip r:embed="rId3">
            <a:alphaModFix/>
          </a:blip>
          <a:srcRect b="-18933" l="30000" r="20526" t="52616"/>
          <a:stretch/>
        </p:blipFill>
        <p:spPr>
          <a:xfrm>
            <a:off x="1881150" y="2854237"/>
            <a:ext cx="1790699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4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084" name="Google Shape;2084;p161" title="5 lines Line 1: three fourths divided by 2 equals the fraction with numerator 3 times 2 and denominator 2 times 2 divided by 2 Line 2: equals six fourths divided by 2 equals three fourths Line 3: blank Line 4: blank"/>
          <p:cNvPicPr preferRelativeResize="0"/>
          <p:nvPr/>
        </p:nvPicPr>
        <p:blipFill rotWithShape="1">
          <a:blip r:embed="rId3">
            <a:alphaModFix/>
          </a:blip>
          <a:srcRect b="-18933" l="79867" r="-3024" t="52616"/>
          <a:stretch/>
        </p:blipFill>
        <p:spPr>
          <a:xfrm>
            <a:off x="2049000" y="3780025"/>
            <a:ext cx="838201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085" name="Google Shape;2085;p16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4">
            <a:alphaModFix/>
          </a:blip>
          <a:srcRect b="0" l="0" r="46941" t="0"/>
          <a:stretch/>
        </p:blipFill>
        <p:spPr>
          <a:xfrm>
            <a:off x="5822023" y="2003450"/>
            <a:ext cx="2731575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086" name="Google Shape;2086;p16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4">
            <a:alphaModFix/>
          </a:blip>
          <a:srcRect b="0" l="53060" r="16784" t="0"/>
          <a:stretch/>
        </p:blipFill>
        <p:spPr>
          <a:xfrm>
            <a:off x="6682988" y="2891738"/>
            <a:ext cx="1552425" cy="69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087" name="Google Shape;2087;p161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4">
            <a:alphaModFix/>
          </a:blip>
          <a:srcRect b="0" l="81961" r="-12116" t="0"/>
          <a:stretch/>
        </p:blipFill>
        <p:spPr>
          <a:xfrm>
            <a:off x="6635376" y="3780000"/>
            <a:ext cx="1552425" cy="6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8" name="Google Shape;2088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8100" y="1696200"/>
            <a:ext cx="838200" cy="67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9" name="Google Shape;2089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163676">
            <a:off x="2336387" y="2969759"/>
            <a:ext cx="647477" cy="613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0" name="Google Shape;2090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26941">
            <a:off x="6940032" y="1891268"/>
            <a:ext cx="1000258" cy="92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1" name="Google Shape;2091;p1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26941">
            <a:off x="6959082" y="3620243"/>
            <a:ext cx="1000258" cy="920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 lines Line 1: three halves divided by 2 equals the fraction with numerator 3 times 2 and denominator 2 times 2 divided by 2 Line 2: equals six fourths divided by 2 equals three fourths Line 3: blank Line 4: blank&#10;&#10;&lt;math xmlns=&quot;http://www.w3.org/1998/Math/MathML&quot; display=&quot;block&quot; data-is-equatio=&quot;1&quot; data-latex=&quot;\begin{array}{l}\frac{3}{2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2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092" name="Google Shape;2092;p161"/>
          <p:cNvPicPr preferRelativeResize="0"/>
          <p:nvPr/>
        </p:nvPicPr>
        <p:blipFill rotWithShape="1">
          <a:blip r:embed="rId6">
            <a:alphaModFix/>
          </a:blip>
          <a:srcRect b="45740" l="0" r="0" t="0"/>
          <a:stretch/>
        </p:blipFill>
        <p:spPr>
          <a:xfrm>
            <a:off x="775300" y="1986925"/>
            <a:ext cx="3769649" cy="78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162"/>
          <p:cNvSpPr txBox="1"/>
          <p:nvPr>
            <p:ph idx="4294967295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</a:t>
            </a:r>
            <a:r>
              <a:rPr lang="en-GB"/>
              <a:t>Work out the answers to the following, g</a:t>
            </a:r>
            <a:r>
              <a:rPr lang="en-GB"/>
              <a:t>iving</a:t>
            </a:r>
            <a:r>
              <a:rPr lang="en-GB"/>
              <a:t> your answer in its simplest form.</a:t>
            </a:r>
            <a:endParaRPr/>
          </a:p>
        </p:txBody>
      </p:sp>
      <p:sp>
        <p:nvSpPr>
          <p:cNvPr id="2098" name="Google Shape;2098;p16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Dividing any fraction by a whole number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162"/>
          <p:cNvSpPr txBox="1"/>
          <p:nvPr/>
        </p:nvSpPr>
        <p:spPr>
          <a:xfrm>
            <a:off x="324000" y="17760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100" name="Google Shape;2100;p162"/>
          <p:cNvSpPr txBox="1"/>
          <p:nvPr/>
        </p:nvSpPr>
        <p:spPr>
          <a:xfrm>
            <a:off x="324000" y="27930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sp>
        <p:nvSpPr>
          <p:cNvPr id="2101" name="Google Shape;2101;p162"/>
          <p:cNvSpPr txBox="1"/>
          <p:nvPr/>
        </p:nvSpPr>
        <p:spPr>
          <a:xfrm>
            <a:off x="324000" y="4011525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9}\div4\ =\ \frac{5\times4}{9\times4}\div4\ =\ \frac{20}{36}\div4\ =\ \frac{5}{36}&quot;&gt;&lt;mfrac&gt;&lt;mn&gt;5&lt;/mn&gt;&lt;mn&gt;9&lt;/mn&gt;&lt;/mfrac&gt;&lt;mo&gt;÷&lt;/mo&gt;&lt;mn&gt;4&lt;/mn&gt;&lt;mtext&gt;&lt;/mtext&gt;&lt;mo&gt;=&lt;/mo&gt;&lt;mtext&gt;&lt;/mtext&gt;&lt;mfrac&gt;&lt;mrow&gt;&lt;mn&gt;5&lt;/mn&gt;&lt;mo&gt;×&lt;/mo&gt;&lt;mn&gt;4&lt;/mn&gt;&lt;/mrow&gt;&lt;mrow&gt;&lt;mn&gt;9&lt;/mn&gt;&lt;mo&gt;×&lt;/mo&gt;&lt;mn&gt;4&lt;/mn&gt;&lt;/mrow&gt;&lt;/mfrac&gt;&lt;mo&gt;÷&lt;/mo&gt;&lt;mn&gt;4&lt;/mn&gt;&lt;mtext&gt;&lt;/mtext&gt;&lt;mo&gt;=&lt;/mo&gt;&lt;mtext&gt;&lt;/mtext&gt;&lt;mfrac&gt;&lt;mn&gt;20&lt;/mn&gt;&lt;mn&gt;36&lt;/mn&gt;&lt;/mfrac&gt;&lt;mo&gt;÷&lt;/mo&gt;&lt;mn&gt;4&lt;/mn&gt;&lt;mtext&gt;&lt;/mtext&gt;&lt;mo&gt;=&lt;/mo&gt;&lt;mtext&gt;&lt;/mtext&gt;&lt;mfrac&gt;&lt;mn&gt;5&lt;/mn&gt;&lt;mn&gt;36&lt;/mn&gt;&lt;/mfrac&gt;&lt;/math&gt;" id="2102" name="Google Shape;2102;p162" title="five ninths divided by 4 equals the fraction with numerator 5 times 4 and denominator 9 times 4 divided by 4 equals 20 over 36 divided by 4 equals 5 over 36"/>
          <p:cNvPicPr preferRelativeResize="0"/>
          <p:nvPr/>
        </p:nvPicPr>
        <p:blipFill rotWithShape="1">
          <a:blip r:embed="rId3">
            <a:alphaModFix/>
          </a:blip>
          <a:srcRect b="0" l="0" r="76488" t="0"/>
          <a:stretch/>
        </p:blipFill>
        <p:spPr>
          <a:xfrm>
            <a:off x="952425" y="1729950"/>
            <a:ext cx="1314524" cy="75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div5\ =\ \frac{6\times5}{11\times5}\div5\ =\ \frac{30}{55}\div5\ =\ \frac{6}{55}&quot;&gt;&lt;mfrac&gt;&lt;mn&gt;6&lt;/mn&gt;&lt;mn&gt;11&lt;/mn&gt;&lt;/mfrac&gt;&lt;mo&gt;÷&lt;/mo&gt;&lt;mn&gt;5&lt;/mn&gt;&lt;mtext&gt;&lt;/mtext&gt;&lt;mo&gt;=&lt;/mo&gt;&lt;mtext&gt;&lt;/mtext&gt;&lt;mfrac&gt;&lt;mrow&gt;&lt;mn&gt;6&lt;/mn&gt;&lt;mo&gt;×&lt;/mo&gt;&lt;mn&gt;5&lt;/mn&gt;&lt;/mrow&gt;&lt;mrow&gt;&lt;mn&gt;11&lt;/mn&gt;&lt;mo&gt;×&lt;/mo&gt;&lt;mn&gt;5&lt;/mn&gt;&lt;/mrow&gt;&lt;/mfrac&gt;&lt;mo&gt;÷&lt;/mo&gt;&lt;mn&gt;5&lt;/mn&gt;&lt;mtext&gt;&lt;/mtext&gt;&lt;mo&gt;=&lt;/mo&gt;&lt;mtext&gt;&lt;/mtext&gt;&lt;mfrac&gt;&lt;mn&gt;30&lt;/mn&gt;&lt;mn&gt;55&lt;/mn&gt;&lt;/mfrac&gt;&lt;mo&gt;÷&lt;/mo&gt;&lt;mn&gt;5&lt;/mn&gt;&lt;mtext&gt;&lt;/mtext&gt;&lt;mo&gt;=&lt;/mo&gt;&lt;mtext&gt;&lt;/mtext&gt;&lt;mfrac&gt;&lt;mn&gt;6&lt;/mn&gt;&lt;mn&gt;55&lt;/mn&gt;&lt;/mfrac&gt;&lt;/math&gt;" id="2103" name="Google Shape;2103;p162" title="6 over 11 divided by 5 equals the fraction with numerator 6 times 5 and denominator 11 times 5 divided by 5 equals 30 over 55 divided by 5 equals 6 over 55"/>
          <p:cNvPicPr preferRelativeResize="0"/>
          <p:nvPr/>
        </p:nvPicPr>
        <p:blipFill rotWithShape="1">
          <a:blip r:embed="rId4">
            <a:alphaModFix/>
          </a:blip>
          <a:srcRect b="0" l="0" r="74511" t="0"/>
          <a:stretch/>
        </p:blipFill>
        <p:spPr>
          <a:xfrm>
            <a:off x="843050" y="2812425"/>
            <a:ext cx="1519149" cy="75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div4\ =\ \frac{10\times2}{13\times2}\div4\ =\ \frac{20}{26}\div4\ =\ \frac{5}{26}&quot;&gt;&lt;mfrac&gt;&lt;mn&gt;10&lt;/mn&gt;&lt;mn&gt;13&lt;/mn&gt;&lt;/mfrac&gt;&lt;mo&gt;÷&lt;/mo&gt;&lt;mn&gt;4&lt;/mn&gt;&lt;mtext&gt;&lt;/mtext&gt;&lt;mo&gt;=&lt;/mo&gt;&lt;mtext&gt;&lt;/mtext&gt;&lt;mfrac&gt;&lt;mrow&gt;&lt;mn&gt;10&lt;/mn&gt;&lt;mo&gt;×&lt;/mo&gt;&lt;mn&gt;2&lt;/mn&gt;&lt;/mrow&gt;&lt;mrow&gt;&lt;mn&gt;13&lt;/mn&gt;&lt;mo&gt;×&lt;/mo&gt;&lt;mn&gt;2&lt;/mn&gt;&lt;/mrow&gt;&lt;/mfrac&gt;&lt;mo&gt;÷&lt;/mo&gt;&lt;mn&gt;4&lt;/mn&gt;&lt;mtext&gt;&lt;/mtext&gt;&lt;mo&gt;=&lt;/mo&gt;&lt;mtext&gt;&lt;/mtext&gt;&lt;mfrac&gt;&lt;mn&gt;20&lt;/mn&gt;&lt;mn&gt;26&lt;/mn&gt;&lt;/mfrac&gt;&lt;mo&gt;÷&lt;/mo&gt;&lt;mn&gt;4&lt;/mn&gt;&lt;mtext&gt;&lt;/mtext&gt;&lt;mo&gt;=&lt;/mo&gt;&lt;mtext&gt;&lt;/mtext&gt;&lt;mfrac&gt;&lt;mn&gt;5&lt;/mn&gt;&lt;mn&gt;26&lt;/mn&gt;&lt;/mfrac&gt;&lt;/math&gt;" id="2104" name="Google Shape;2104;p162" title="10 over 13 divided by 4 equals the fraction with numerator 10 times 2 and denominator 13 times 2 divided by 4 equals 20 over 26 divided by 4 equals 5 over 26"/>
          <p:cNvPicPr preferRelativeResize="0"/>
          <p:nvPr/>
        </p:nvPicPr>
        <p:blipFill rotWithShape="1">
          <a:blip r:embed="rId5">
            <a:alphaModFix/>
          </a:blip>
          <a:srcRect b="0" l="0" r="72592" t="0"/>
          <a:stretch/>
        </p:blipFill>
        <p:spPr>
          <a:xfrm>
            <a:off x="843000" y="3894900"/>
            <a:ext cx="1633499" cy="7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8" name="Shape 2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" name="Google Shape;2109;p163"/>
          <p:cNvSpPr/>
          <p:nvPr/>
        </p:nvSpPr>
        <p:spPr>
          <a:xfrm>
            <a:off x="2733800" y="2369986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0" name="Google Shape;2110;p163"/>
          <p:cNvSpPr txBox="1"/>
          <p:nvPr>
            <p:ph idx="4294967295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Match the questions and answers.</a:t>
            </a:r>
            <a:endParaRPr/>
          </a:p>
        </p:txBody>
      </p:sp>
      <p:sp>
        <p:nvSpPr>
          <p:cNvPr id="2111" name="Google Shape;2111;p16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Dividing any fraction by a whole number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112" name="Google Shape;2112;p163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0" r="85452" t="0"/>
          <a:stretch/>
        </p:blipFill>
        <p:spPr>
          <a:xfrm>
            <a:off x="2796620" y="1434044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113" name="Google Shape;2113;p163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36314" r="49138" t="0"/>
          <a:stretch/>
        </p:blipFill>
        <p:spPr>
          <a:xfrm>
            <a:off x="2796620" y="2519185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114" name="Google Shape;2114;p163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73231" r="12221" t="0"/>
          <a:stretch/>
        </p:blipFill>
        <p:spPr>
          <a:xfrm>
            <a:off x="2796620" y="3604327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115" name="Google Shape;2115;p163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19073" r="66379" t="0"/>
          <a:stretch/>
        </p:blipFill>
        <p:spPr>
          <a:xfrm>
            <a:off x="4796027" y="2513158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116" name="Google Shape;2116;p163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55602" r="29849" t="0"/>
          <a:stretch/>
        </p:blipFill>
        <p:spPr>
          <a:xfrm>
            <a:off x="4796027" y="1325224"/>
            <a:ext cx="1129374" cy="763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2}{19}\div4\ =\ \frac{3}{19}\ \ \ \ \ \ \ \frac{12}{19}\div3\ =\ \frac{4}{19}\ \ \ \ \ \ \ \frac{12}{19}\div2\ =\ \frac{6}{19}\ \ \ \ \ \ \ \ \ \ &quot;&gt;&lt;mfrac&gt;&lt;mn&gt;12&lt;/mn&gt;&lt;mn&gt;19&lt;/mn&gt;&lt;/mfrac&gt;&lt;mo&gt;÷&lt;/mo&gt;&lt;mn&gt;4&lt;/mn&gt;&lt;mtext&gt;&lt;/mtext&gt;&lt;mo&gt;=&lt;/mo&gt;&lt;mtext&gt;&lt;/mtext&gt;&lt;mfrac&gt;&lt;mn&gt;3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3&lt;/mn&gt;&lt;mtext&gt;&lt;/mtext&gt;&lt;mo&gt;=&lt;/mo&gt;&lt;mtext&gt;&lt;/mtext&gt;&lt;mfrac&gt;&lt;mn&gt;4&lt;/mn&gt;&lt;mn&gt;19&lt;/mn&gt;&lt;/mfrac&gt;&lt;mtext&gt;&lt;/mtext&gt;&lt;mtext&gt;&lt;/mtext&gt;&lt;mtext&gt;&lt;/mtext&gt;&lt;mtext&gt;&lt;/mtext&gt;&lt;mtext&gt;&lt;/mtext&gt;&lt;mtext&gt;&lt;/mtext&gt;&lt;mtext&gt;&lt;/mtext&gt;&lt;mfrac&gt;&lt;mn&gt;12&lt;/mn&gt;&lt;mn&gt;19&lt;/mn&gt;&lt;/mfrac&gt;&lt;mo&gt;÷&lt;/mo&gt;&lt;mn&gt;2&lt;/mn&gt;&lt;mtext&gt;&lt;/mtext&gt;&lt;mo&gt;=&lt;/mo&gt;&lt;mtext&gt;&lt;/mtext&gt;&lt;mfrac&gt;&lt;mn&gt;6&lt;/mn&gt;&lt;mn&gt;19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/math&gt;" id="2117" name="Google Shape;2117;p163" title="12 over 19 divided by 4 equals 3 over 19 12 over 19 divided by 3 equals 4 over 19 12 over 19 divided by 2 equals 6 over 19"/>
          <p:cNvPicPr preferRelativeResize="0"/>
          <p:nvPr/>
        </p:nvPicPr>
        <p:blipFill rotWithShape="1">
          <a:blip r:embed="rId3">
            <a:alphaModFix/>
          </a:blip>
          <a:srcRect b="0" l="93696" r="-8243" t="0"/>
          <a:stretch/>
        </p:blipFill>
        <p:spPr>
          <a:xfrm>
            <a:off x="4928528" y="3604327"/>
            <a:ext cx="1129374" cy="763982"/>
          </a:xfrm>
          <a:prstGeom prst="rect">
            <a:avLst/>
          </a:prstGeom>
          <a:noFill/>
          <a:ln>
            <a:noFill/>
          </a:ln>
        </p:spPr>
      </p:pic>
      <p:sp>
        <p:nvSpPr>
          <p:cNvPr id="2118" name="Google Shape;2118;p163"/>
          <p:cNvSpPr/>
          <p:nvPr/>
        </p:nvSpPr>
        <p:spPr>
          <a:xfrm>
            <a:off x="2733800" y="1234650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9" name="Google Shape;2119;p163"/>
          <p:cNvSpPr/>
          <p:nvPr/>
        </p:nvSpPr>
        <p:spPr>
          <a:xfrm>
            <a:off x="2733800" y="3505343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0" name="Google Shape;2120;p163"/>
          <p:cNvSpPr/>
          <p:nvPr/>
        </p:nvSpPr>
        <p:spPr>
          <a:xfrm>
            <a:off x="4607721" y="1234650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1" name="Google Shape;2121;p163"/>
          <p:cNvSpPr/>
          <p:nvPr/>
        </p:nvSpPr>
        <p:spPr>
          <a:xfrm>
            <a:off x="4607721" y="2419488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2" name="Google Shape;2122;p163"/>
          <p:cNvSpPr/>
          <p:nvPr/>
        </p:nvSpPr>
        <p:spPr>
          <a:xfrm>
            <a:off x="4607721" y="3543593"/>
            <a:ext cx="1254900" cy="10623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3" name="Google Shape;2123;p163"/>
          <p:cNvCxnSpPr>
            <a:stCxn id="2118" idx="3"/>
            <a:endCxn id="2121" idx="1"/>
          </p:cNvCxnSpPr>
          <p:nvPr/>
        </p:nvCxnSpPr>
        <p:spPr>
          <a:xfrm>
            <a:off x="3988700" y="1765800"/>
            <a:ext cx="618900" cy="1184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4" name="Google Shape;2124;p163"/>
          <p:cNvCxnSpPr>
            <a:endCxn id="2120" idx="1"/>
          </p:cNvCxnSpPr>
          <p:nvPr/>
        </p:nvCxnSpPr>
        <p:spPr>
          <a:xfrm flipH="1" rot="10800000">
            <a:off x="3988821" y="1765800"/>
            <a:ext cx="618900" cy="1121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5" name="Google Shape;2125;p163"/>
          <p:cNvCxnSpPr>
            <a:endCxn id="2122" idx="1"/>
          </p:cNvCxnSpPr>
          <p:nvPr/>
        </p:nvCxnSpPr>
        <p:spPr>
          <a:xfrm>
            <a:off x="3988821" y="4009343"/>
            <a:ext cx="618900" cy="65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164"/>
          <p:cNvSpPr txBox="1"/>
          <p:nvPr>
            <p:ph idx="4294967295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Work out the answers to the following. You can draw bar models if needed.</a:t>
            </a:r>
            <a:endParaRPr/>
          </a:p>
        </p:txBody>
      </p:sp>
      <p:sp>
        <p:nvSpPr>
          <p:cNvPr id="2131" name="Google Shape;2131;p16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Dividing any fraction by a whole number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32" name="Google Shape;2132;p164"/>
          <p:cNvSpPr txBox="1"/>
          <p:nvPr/>
        </p:nvSpPr>
        <p:spPr>
          <a:xfrm>
            <a:off x="324000" y="17760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133" name="Google Shape;2133;p164"/>
          <p:cNvSpPr txBox="1"/>
          <p:nvPr/>
        </p:nvSpPr>
        <p:spPr>
          <a:xfrm>
            <a:off x="5105550" y="17760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2134" name="Google Shape;2134;p164"/>
          <p:cNvSpPr txBox="1"/>
          <p:nvPr/>
        </p:nvSpPr>
        <p:spPr>
          <a:xfrm>
            <a:off x="324000" y="33162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sp>
        <p:nvSpPr>
          <p:cNvPr id="2135" name="Google Shape;2135;p164"/>
          <p:cNvSpPr txBox="1"/>
          <p:nvPr/>
        </p:nvSpPr>
        <p:spPr>
          <a:xfrm>
            <a:off x="5105550" y="33162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136" name="Google Shape;2136;p164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0" r="85121" t="0"/>
          <a:stretch/>
        </p:blipFill>
        <p:spPr>
          <a:xfrm>
            <a:off x="838200" y="1776000"/>
            <a:ext cx="1641848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137" name="Google Shape;2137;p164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27792" r="56221" t="0"/>
          <a:stretch/>
        </p:blipFill>
        <p:spPr>
          <a:xfrm>
            <a:off x="785775" y="3179925"/>
            <a:ext cx="1764150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138" name="Google Shape;2138;p164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53505" r="28494" t="0"/>
          <a:stretch/>
        </p:blipFill>
        <p:spPr>
          <a:xfrm>
            <a:off x="5357775" y="1762125"/>
            <a:ext cx="1986349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139" name="Google Shape;2139;p164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80826" r="5342" t="0"/>
          <a:stretch/>
        </p:blipFill>
        <p:spPr>
          <a:xfrm>
            <a:off x="5651946" y="3316200"/>
            <a:ext cx="1526250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140" name="Google Shape;2140;p164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0" r="76522" t="0"/>
          <a:stretch/>
        </p:blipFill>
        <p:spPr>
          <a:xfrm>
            <a:off x="838200" y="1776000"/>
            <a:ext cx="2590798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141" name="Google Shape;2141;p164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27792" r="48729" t="0"/>
          <a:stretch/>
        </p:blipFill>
        <p:spPr>
          <a:xfrm>
            <a:off x="785775" y="3179925"/>
            <a:ext cx="2590798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142" name="Google Shape;2142;p164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53505" r="22369" t="0"/>
          <a:stretch/>
        </p:blipFill>
        <p:spPr>
          <a:xfrm>
            <a:off x="5357775" y="1762125"/>
            <a:ext cx="2662273" cy="7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4}{25}\div6\ =\ \frac{4}{25}\ \ \ \ \ \ \ \ \ \ \frac{9}{11}\div3\ =\ \frac{3}{11}\ \ \ \ \ \ \ \ \frac{21}{31}\div7\ =\ \frac{3}{31}\ \ \ \ \ \frac{10}{19}\div5=\frac{2}{19}&quot;&gt;&lt;mfrac&gt;&lt;mn&gt;24&lt;/mn&gt;&lt;mn&gt;25&lt;/mn&gt;&lt;/mfrac&gt;&lt;mo&gt;÷&lt;/mo&gt;&lt;mn&gt;6&lt;/mn&gt;&lt;mtext&gt;&lt;/mtext&gt;&lt;mo&gt;=&lt;/mo&gt;&lt;mtext&gt;&lt;/mtext&gt;&lt;mfrac&gt;&lt;mn&gt;4&lt;/mn&gt;&lt;mn&gt;25&lt;/mn&gt;&lt;/mfrac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9&lt;/mn&gt;&lt;mn&gt;11&lt;/mn&gt;&lt;/mfrac&gt;&lt;mo&gt;÷&lt;/mo&gt;&lt;mn&gt;3&lt;/mn&gt;&lt;mtext&gt;&lt;/mtext&gt;&lt;mo&gt;=&lt;/mo&gt;&lt;mtext&gt;&lt;/mtext&gt;&lt;mfrac&gt;&lt;mn&gt;3&lt;/mn&gt;&lt;mn&gt;11&lt;/mn&gt;&lt;/mfrac&gt;&lt;mtext&gt;&lt;/mtext&gt;&lt;mtext&gt;&lt;/mtext&gt;&lt;mtext&gt;&lt;/mtext&gt;&lt;mtext&gt;&lt;/mtext&gt;&lt;mtext&gt;&lt;/mtext&gt;&lt;mtext&gt;&lt;/mtext&gt;&lt;mtext&gt;&lt;/mtext&gt;&lt;mtext&gt;&lt;/mtext&gt;&lt;mfrac&gt;&lt;mn&gt;21&lt;/mn&gt;&lt;mn&gt;31&lt;/mn&gt;&lt;/mfrac&gt;&lt;mo&gt;÷&lt;/mo&gt;&lt;mn&gt;7&lt;/mn&gt;&lt;mtext&gt;&lt;/mtext&gt;&lt;mo&gt;=&lt;/mo&gt;&lt;mtext&gt;&lt;/mtext&gt;&lt;mfrac&gt;&lt;mn&gt;3&lt;/mn&gt;&lt;mn&gt;31&lt;/mn&gt;&lt;/mfrac&gt;&lt;mtext&gt;&lt;/mtext&gt;&lt;mtext&gt;&lt;/mtext&gt;&lt;mtext&gt;&lt;/mtext&gt;&lt;mtext&gt;&lt;/mtext&gt;&lt;mtext&gt;&lt;/mtext&gt;&lt;mfrac&gt;&lt;mn&gt;10&lt;/mn&gt;&lt;mn&gt;19&lt;/mn&gt;&lt;/mfrac&gt;&lt;mo&gt;÷&lt;/mo&gt;&lt;mn&gt;5&lt;/mn&gt;&lt;mo&gt;=&lt;/mo&gt;&lt;mfrac&gt;&lt;mn&gt;2&lt;/mn&gt;&lt;mn&gt;19&lt;/mn&gt;&lt;/mfrac&gt;&lt;/math&gt;" id="2143" name="Google Shape;2143;p164" title="24 over 25 divided by 6 equals 4 over 25 9 over 11 divided by 3 equals 3 over 11 21 over 31 divided by 7 equals 3 over 31 10 over 19 divided by 5 equals 2 over 19"/>
          <p:cNvPicPr preferRelativeResize="0"/>
          <p:nvPr/>
        </p:nvPicPr>
        <p:blipFill rotWithShape="1">
          <a:blip r:embed="rId3">
            <a:alphaModFix/>
          </a:blip>
          <a:srcRect b="0" l="80825" r="-2285" t="0"/>
          <a:stretch/>
        </p:blipFill>
        <p:spPr>
          <a:xfrm>
            <a:off x="5651939" y="3316200"/>
            <a:ext cx="2368099" cy="79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p165"/>
          <p:cNvSpPr txBox="1"/>
          <p:nvPr>
            <p:ph idx="4294967295" type="body"/>
          </p:nvPr>
        </p:nvSpPr>
        <p:spPr>
          <a:xfrm>
            <a:off x="324000" y="683100"/>
            <a:ext cx="82296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3) Jacob has used equivalent fractions to work out his answer but has spilt ink all over his work. Can you identify what his missing numbers were?</a:t>
            </a:r>
            <a:endParaRPr sz="1900"/>
          </a:p>
        </p:txBody>
      </p:sp>
      <p:sp>
        <p:nvSpPr>
          <p:cNvPr id="2149" name="Google Shape;2149;p16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Dividing any fraction by a whole number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165"/>
          <p:cNvSpPr txBox="1"/>
          <p:nvPr/>
        </p:nvSpPr>
        <p:spPr>
          <a:xfrm>
            <a:off x="324000" y="19284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151" name="Google Shape;2151;p165"/>
          <p:cNvSpPr txBox="1"/>
          <p:nvPr/>
        </p:nvSpPr>
        <p:spPr>
          <a:xfrm>
            <a:off x="5105550" y="19284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begin{array}{l}\frac{3}{4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4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152" name="Google Shape;2152;p165" title="5 lines Line 1: three fourths divided by 2 equals the fraction with numerator 3 times 2 and denominator 2 times 2 divided by 2 Line 2: equals six fourths divided by 2 equals three fourths Line 3: blank Line 4: blank"/>
          <p:cNvPicPr preferRelativeResize="0"/>
          <p:nvPr/>
        </p:nvPicPr>
        <p:blipFill rotWithShape="1">
          <a:blip r:embed="rId3">
            <a:alphaModFix/>
          </a:blip>
          <a:srcRect b="-18933" l="30000" r="20526" t="52616"/>
          <a:stretch/>
        </p:blipFill>
        <p:spPr>
          <a:xfrm>
            <a:off x="1881150" y="2854237"/>
            <a:ext cx="1790699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4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153" name="Google Shape;2153;p165" title="5 lines Line 1: three fourths divided by 2 equals the fraction with numerator 3 times 2 and denominator 2 times 2 divided by 2 Line 2: equals six fourths divided by 2 equals three fourths Line 3: blank Line 4: blank"/>
          <p:cNvPicPr preferRelativeResize="0"/>
          <p:nvPr/>
        </p:nvPicPr>
        <p:blipFill rotWithShape="1">
          <a:blip r:embed="rId3">
            <a:alphaModFix/>
          </a:blip>
          <a:srcRect b="-18933" l="79867" r="-3024" t="52616"/>
          <a:stretch/>
        </p:blipFill>
        <p:spPr>
          <a:xfrm>
            <a:off x="2049000" y="3780025"/>
            <a:ext cx="838201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154" name="Google Shape;2154;p165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4">
            <a:alphaModFix/>
          </a:blip>
          <a:srcRect b="0" l="0" r="46941" t="0"/>
          <a:stretch/>
        </p:blipFill>
        <p:spPr>
          <a:xfrm>
            <a:off x="5822023" y="2003450"/>
            <a:ext cx="2731575" cy="69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155" name="Google Shape;2155;p165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4">
            <a:alphaModFix/>
          </a:blip>
          <a:srcRect b="0" l="53060" r="16784" t="0"/>
          <a:stretch/>
        </p:blipFill>
        <p:spPr>
          <a:xfrm>
            <a:off x="6682988" y="2891738"/>
            <a:ext cx="1552425" cy="69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8}\div4\ =\ \frac{5\times4}{8\times4}\div4\ =\ \frac{20}{32}\div4\ =\ \frac{5}{32}&quot;&gt;&lt;mfrac&gt;&lt;mn&gt;5&lt;/mn&gt;&lt;mn&gt;8&lt;/mn&gt;&lt;/mfrac&gt;&lt;mo&gt;÷&lt;/mo&gt;&lt;mn&gt;4&lt;/mn&gt;&lt;mtext&gt;&lt;/mtext&gt;&lt;mo&gt;=&lt;/mo&gt;&lt;mtext&gt;&lt;/mtext&gt;&lt;mfrac&gt;&lt;mrow&gt;&lt;mn&gt;5&lt;/mn&gt;&lt;mo&gt;×&lt;/mo&gt;&lt;mn&gt;4&lt;/mn&gt;&lt;/mrow&gt;&lt;mrow&gt;&lt;mn&gt;8&lt;/mn&gt;&lt;mo&gt;×&lt;/mo&gt;&lt;mn&gt;4&lt;/mn&gt;&lt;/mrow&gt;&lt;/mfrac&gt;&lt;mo&gt;÷&lt;/mo&gt;&lt;mn&gt;4&lt;/mn&gt;&lt;mtext&gt;&lt;/mtext&gt;&lt;mo&gt;=&lt;/mo&gt;&lt;mtext&gt;&lt;/mtext&gt;&lt;mfrac&gt;&lt;mn&gt;20&lt;/mn&gt;&lt;mn&gt;32&lt;/mn&gt;&lt;/mfrac&gt;&lt;mo&gt;÷&lt;/mo&gt;&lt;mn&gt;4&lt;/mn&gt;&lt;mtext&gt;&lt;/mtext&gt;&lt;mo&gt;=&lt;/mo&gt;&lt;mtext&gt;&lt;/mtext&gt;&lt;mfrac&gt;&lt;mn&gt;5&lt;/mn&gt;&lt;mn&gt;32&lt;/mn&gt;&lt;/mfrac&gt;&lt;/math&gt;" id="2156" name="Google Shape;2156;p165" title="five eighths divided by 4 equals the fraction with numerator 5 times 4 and denominator 8 times 4 divided by 4 equals 20 over 32 divided by 4 equals 5 over 32"/>
          <p:cNvPicPr preferRelativeResize="0"/>
          <p:nvPr/>
        </p:nvPicPr>
        <p:blipFill rotWithShape="1">
          <a:blip r:embed="rId4">
            <a:alphaModFix/>
          </a:blip>
          <a:srcRect b="0" l="81961" r="-12116" t="0"/>
          <a:stretch/>
        </p:blipFill>
        <p:spPr>
          <a:xfrm>
            <a:off x="6635376" y="3780000"/>
            <a:ext cx="1552425" cy="69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7" name="Google Shape;2157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96700" y="1620000"/>
            <a:ext cx="838200" cy="677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8" name="Google Shape;2158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163676">
            <a:off x="2336387" y="2969759"/>
            <a:ext cx="647477" cy="6135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9" name="Google Shape;2159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26941">
            <a:off x="6940032" y="1891268"/>
            <a:ext cx="1000258" cy="92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0" name="Google Shape;2160;p1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26941">
            <a:off x="6959082" y="3620243"/>
            <a:ext cx="1000258" cy="9209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5 lines Line 1: three halves divided by 2 equals the fraction with numerator 3 times 2 and denominator 2 times 2 divided by 2 Line 2: equals six fourths divided by 2 equals three fourths Line 3: blank Line 4: blank&#10;&#10;&lt;math xmlns=&quot;http://www.w3.org/1998/Math/MathML&quot; display=&quot;block&quot; data-is-equatio=&quot;1&quot; data-latex=&quot;\begin{array}{l}\frac{3}{2}\div2\ =\ \frac{3\times2}{2\times2}\div2\ \\&amp;#13;&amp;#10;\ \ \ \ \ \ \ \ \ \ \ =\ \frac{6}{4}\div2=\frac{3}{4}\\&amp;#13;&amp;#10;\\&amp;#13;&amp;#10;\\&amp;#13;&amp;#10;\ \ \ \ \ \end{array}&quot;&gt;&lt;mtable columnalign=&quot;left&quot; columnspacing=&quot;1em&quot; rowspacing=&quot;4pt&quot;&gt;&lt;mtr&gt;&lt;mtd&gt;&lt;mfrac&gt;&lt;mn&gt;3&lt;/mn&gt;&lt;mn&gt;2&lt;/mn&gt;&lt;/mfrac&gt;&lt;mo&gt;÷&lt;/mo&gt;&lt;mn&gt;2&lt;/mn&gt;&lt;mtext&gt;&lt;/mtext&gt;&lt;mo&gt;=&lt;/mo&gt;&lt;mtext&gt;&lt;/mtext&gt;&lt;mfrac&gt;&lt;mrow&gt;&lt;mn&gt;3&lt;/mn&gt;&lt;mo&gt;×&lt;/mo&gt;&lt;mn&gt;2&lt;/mn&gt;&lt;/mrow&gt;&lt;mrow&gt;&lt;mn&gt;2&lt;/mn&gt;&lt;mo&gt;×&lt;/mo&gt;&lt;mn&gt;2&lt;/mn&gt;&lt;/mrow&gt;&lt;/mfrac&gt;&lt;mo&gt;÷&lt;/mo&gt;&lt;mn&gt;2&lt;/mn&gt;&lt;mtext&gt;&lt;/mtext&gt;&lt;/mtd&gt;&lt;/mtr&gt;&lt;mtr&gt;&lt;mtd&gt;&lt;mtext&gt;&lt;/mtext&gt;&lt;mtext&gt;&lt;/mtext&gt;&lt;mtext&gt;&lt;/mtext&gt;&lt;mtext&gt;&lt;/mtext&gt;&lt;mtext&gt;&lt;/mtext&gt;&lt;mtext&gt;&lt;/mtext&gt;&lt;mtext&gt;&lt;/mtext&gt;&lt;mtext&gt;&lt;/mtext&gt;&lt;mtext&gt;&lt;/mtext&gt;&lt;mtext&gt;&lt;/mtext&gt;&lt;mtext&gt;&lt;/mtext&gt;&lt;mo&gt;=&lt;/mo&gt;&lt;mtext&gt;&lt;/mtext&gt;&lt;mfrac&gt;&lt;mn&gt;6&lt;/mn&gt;&lt;mn&gt;4&lt;/mn&gt;&lt;/mfrac&gt;&lt;mo&gt;÷&lt;/mo&gt;&lt;mn&gt;2&lt;/mn&gt;&lt;mo&gt;=&lt;/mo&gt;&lt;mfrac&gt;&lt;mn&gt;3&lt;/mn&gt;&lt;mn&gt;4&lt;/mn&gt;&lt;/mfrac&gt;&lt;/mtd&gt;&lt;/mtr&gt;&lt;mtr&gt;&lt;mtd/&gt;&lt;/mtr&gt;&lt;mtr&gt;&lt;mtd/&gt;&lt;/mtr&gt;&lt;mtr&gt;&lt;mtd&gt;&lt;mtext&gt;&lt;/mtext&gt;&lt;mtext&gt;&lt;/mtext&gt;&lt;mtext&gt;&lt;/mtext&gt;&lt;mtext&gt;&lt;/mtext&gt;&lt;mtext&gt;&lt;/mtext&gt;&lt;/mtd&gt;&lt;/mtr&gt;&lt;/mtable&gt;&lt;/math&gt;" id="2161" name="Google Shape;2161;p165"/>
          <p:cNvPicPr preferRelativeResize="0"/>
          <p:nvPr/>
        </p:nvPicPr>
        <p:blipFill rotWithShape="1">
          <a:blip r:embed="rId6">
            <a:alphaModFix/>
          </a:blip>
          <a:srcRect b="49718" l="0" r="0" t="0"/>
          <a:stretch/>
        </p:blipFill>
        <p:spPr>
          <a:xfrm>
            <a:off x="765075" y="1859275"/>
            <a:ext cx="4151974" cy="80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5" name="Shape 2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6" name="Google Shape;2166;p166"/>
          <p:cNvSpPr txBox="1"/>
          <p:nvPr>
            <p:ph idx="4294967295" type="body"/>
          </p:nvPr>
        </p:nvSpPr>
        <p:spPr>
          <a:xfrm>
            <a:off x="324000" y="759300"/>
            <a:ext cx="8237700" cy="101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4) Work out the answers to the following, giving your answer in its simplest form.</a:t>
            </a:r>
            <a:endParaRPr/>
          </a:p>
        </p:txBody>
      </p:sp>
      <p:sp>
        <p:nvSpPr>
          <p:cNvPr id="2167" name="Google Shape;2167;p16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Dividing any fraction by a whole number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166"/>
          <p:cNvSpPr txBox="1"/>
          <p:nvPr/>
        </p:nvSpPr>
        <p:spPr>
          <a:xfrm>
            <a:off x="324000" y="17760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/>
          </a:p>
        </p:txBody>
      </p:sp>
      <p:sp>
        <p:nvSpPr>
          <p:cNvPr id="2169" name="Google Shape;2169;p166"/>
          <p:cNvSpPr txBox="1"/>
          <p:nvPr/>
        </p:nvSpPr>
        <p:spPr>
          <a:xfrm>
            <a:off x="324000" y="2793000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/>
          </a:p>
        </p:txBody>
      </p:sp>
      <p:sp>
        <p:nvSpPr>
          <p:cNvPr id="2170" name="Google Shape;2170;p166"/>
          <p:cNvSpPr txBox="1"/>
          <p:nvPr/>
        </p:nvSpPr>
        <p:spPr>
          <a:xfrm>
            <a:off x="324000" y="4011525"/>
            <a:ext cx="580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}{9}\div4\ =\ \frac{5\times4}{9\times4}\div4\ =\ \frac{20}{36}\div4\ =\ \frac{5}{36}&quot;&gt;&lt;mfrac&gt;&lt;mn&gt;5&lt;/mn&gt;&lt;mn&gt;9&lt;/mn&gt;&lt;/mfrac&gt;&lt;mo&gt;÷&lt;/mo&gt;&lt;mn&gt;4&lt;/mn&gt;&lt;mtext&gt;&lt;/mtext&gt;&lt;mo&gt;=&lt;/mo&gt;&lt;mtext&gt;&lt;/mtext&gt;&lt;mfrac&gt;&lt;mrow&gt;&lt;mn&gt;5&lt;/mn&gt;&lt;mo&gt;×&lt;/mo&gt;&lt;mn&gt;4&lt;/mn&gt;&lt;/mrow&gt;&lt;mrow&gt;&lt;mn&gt;9&lt;/mn&gt;&lt;mo&gt;×&lt;/mo&gt;&lt;mn&gt;4&lt;/mn&gt;&lt;/mrow&gt;&lt;/mfrac&gt;&lt;mo&gt;÷&lt;/mo&gt;&lt;mn&gt;4&lt;/mn&gt;&lt;mtext&gt;&lt;/mtext&gt;&lt;mo&gt;=&lt;/mo&gt;&lt;mtext&gt;&lt;/mtext&gt;&lt;mfrac&gt;&lt;mn&gt;20&lt;/mn&gt;&lt;mn&gt;36&lt;/mn&gt;&lt;/mfrac&gt;&lt;mo&gt;÷&lt;/mo&gt;&lt;mn&gt;4&lt;/mn&gt;&lt;mtext&gt;&lt;/mtext&gt;&lt;mo&gt;=&lt;/mo&gt;&lt;mtext&gt;&lt;/mtext&gt;&lt;mfrac&gt;&lt;mn&gt;5&lt;/mn&gt;&lt;mn&gt;36&lt;/mn&gt;&lt;/mfrac&gt;&lt;/math&gt;" id="2171" name="Google Shape;2171;p166" title="five ninths divided by 4 equals the fraction with numerator 5 times 4 and denominator 9 times 4 divided by 4 equals 20 over 36 divided by 4 equals 5 over 36"/>
          <p:cNvPicPr preferRelativeResize="0"/>
          <p:nvPr/>
        </p:nvPicPr>
        <p:blipFill rotWithShape="1">
          <a:blip r:embed="rId3">
            <a:alphaModFix/>
          </a:blip>
          <a:srcRect b="0" l="0" r="76894" t="0"/>
          <a:stretch/>
        </p:blipFill>
        <p:spPr>
          <a:xfrm>
            <a:off x="952425" y="1729950"/>
            <a:ext cx="1291851" cy="75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div5\ =\ \frac{6\times5}{11\times5}\div5\ =\ \frac{30}{55}\div5\ =\ \frac{6}{55}&quot;&gt;&lt;mfrac&gt;&lt;mn&gt;6&lt;/mn&gt;&lt;mn&gt;11&lt;/mn&gt;&lt;/mfrac&gt;&lt;mo&gt;÷&lt;/mo&gt;&lt;mn&gt;5&lt;/mn&gt;&lt;mtext&gt;&lt;/mtext&gt;&lt;mo&gt;=&lt;/mo&gt;&lt;mtext&gt;&lt;/mtext&gt;&lt;mfrac&gt;&lt;mrow&gt;&lt;mn&gt;6&lt;/mn&gt;&lt;mo&gt;×&lt;/mo&gt;&lt;mn&gt;5&lt;/mn&gt;&lt;/mrow&gt;&lt;mrow&gt;&lt;mn&gt;11&lt;/mn&gt;&lt;mo&gt;×&lt;/mo&gt;&lt;mn&gt;5&lt;/mn&gt;&lt;/mrow&gt;&lt;/mfrac&gt;&lt;mo&gt;÷&lt;/mo&gt;&lt;mn&gt;5&lt;/mn&gt;&lt;mtext&gt;&lt;/mtext&gt;&lt;mo&gt;=&lt;/mo&gt;&lt;mtext&gt;&lt;/mtext&gt;&lt;mfrac&gt;&lt;mn&gt;30&lt;/mn&gt;&lt;mn&gt;55&lt;/mn&gt;&lt;/mfrac&gt;&lt;mo&gt;÷&lt;/mo&gt;&lt;mn&gt;5&lt;/mn&gt;&lt;mtext&gt;&lt;/mtext&gt;&lt;mo&gt;=&lt;/mo&gt;&lt;mtext&gt;&lt;/mtext&gt;&lt;mfrac&gt;&lt;mn&gt;6&lt;/mn&gt;&lt;mn&gt;55&lt;/mn&gt;&lt;/mfrac&gt;&lt;/math&gt;" id="2172" name="Google Shape;2172;p166" title="6 over 11 divided by 5 equals the fraction with numerator 6 times 5 and denominator 11 times 5 divided by 5 equals 30 over 55 divided by 5 equals 6 over 55"/>
          <p:cNvPicPr preferRelativeResize="0"/>
          <p:nvPr/>
        </p:nvPicPr>
        <p:blipFill rotWithShape="1">
          <a:blip r:embed="rId4">
            <a:alphaModFix/>
          </a:blip>
          <a:srcRect b="0" l="0" r="74291" t="0"/>
          <a:stretch/>
        </p:blipFill>
        <p:spPr>
          <a:xfrm>
            <a:off x="843050" y="2812425"/>
            <a:ext cx="1532224" cy="75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div4\ =\ \frac{10\times2}{13\times2}\div4\ =\ \frac{20}{26}\div4\ =\ \frac{5}{26}&quot;&gt;&lt;mfrac&gt;&lt;mn&gt;10&lt;/mn&gt;&lt;mn&gt;13&lt;/mn&gt;&lt;/mfrac&gt;&lt;mo&gt;÷&lt;/mo&gt;&lt;mn&gt;4&lt;/mn&gt;&lt;mtext&gt;&lt;/mtext&gt;&lt;mo&gt;=&lt;/mo&gt;&lt;mtext&gt;&lt;/mtext&gt;&lt;mfrac&gt;&lt;mrow&gt;&lt;mn&gt;10&lt;/mn&gt;&lt;mo&gt;×&lt;/mo&gt;&lt;mn&gt;2&lt;/mn&gt;&lt;/mrow&gt;&lt;mrow&gt;&lt;mn&gt;13&lt;/mn&gt;&lt;mo&gt;×&lt;/mo&gt;&lt;mn&gt;2&lt;/mn&gt;&lt;/mrow&gt;&lt;/mfrac&gt;&lt;mo&gt;÷&lt;/mo&gt;&lt;mn&gt;4&lt;/mn&gt;&lt;mtext&gt;&lt;/mtext&gt;&lt;mo&gt;=&lt;/mo&gt;&lt;mtext&gt;&lt;/mtext&gt;&lt;mfrac&gt;&lt;mn&gt;20&lt;/mn&gt;&lt;mn&gt;26&lt;/mn&gt;&lt;/mfrac&gt;&lt;mo&gt;÷&lt;/mo&gt;&lt;mn&gt;4&lt;/mn&gt;&lt;mtext&gt;&lt;/mtext&gt;&lt;mo&gt;=&lt;/mo&gt;&lt;mtext&gt;&lt;/mtext&gt;&lt;mfrac&gt;&lt;mn&gt;5&lt;/mn&gt;&lt;mn&gt;26&lt;/mn&gt;&lt;/mfrac&gt;&lt;/math&gt;" id="2173" name="Google Shape;2173;p166" title="10 over 13 divided by 4 equals the fraction with numerator 10 times 2 and denominator 13 times 2 divided by 4 equals 20 over 26 divided by 4 equals 5 over 26"/>
          <p:cNvPicPr preferRelativeResize="0"/>
          <p:nvPr/>
        </p:nvPicPr>
        <p:blipFill rotWithShape="1">
          <a:blip r:embed="rId5">
            <a:alphaModFix/>
          </a:blip>
          <a:srcRect b="0" l="0" r="75024" t="0"/>
          <a:stretch/>
        </p:blipFill>
        <p:spPr>
          <a:xfrm>
            <a:off x="843000" y="3894900"/>
            <a:ext cx="1488599" cy="75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}\div4\ =\ \frac{5\times4}{9\times4}\div4\ =\ \frac{20}{36}\div4\ =\ \frac{5}{36}&quot;&gt;&lt;mfrac&gt;&lt;mn&gt;5&lt;/mn&gt;&lt;mn&gt;9&lt;/mn&gt;&lt;/mfrac&gt;&lt;mo&gt;÷&lt;/mo&gt;&lt;mn&gt;4&lt;/mn&gt;&lt;mtext&gt;&lt;/mtext&gt;&lt;mo&gt;=&lt;/mo&gt;&lt;mtext&gt;&lt;/mtext&gt;&lt;mfrac&gt;&lt;mrow&gt;&lt;mn&gt;5&lt;/mn&gt;&lt;mo&gt;×&lt;/mo&gt;&lt;mn&gt;4&lt;/mn&gt;&lt;/mrow&gt;&lt;mrow&gt;&lt;mn&gt;9&lt;/mn&gt;&lt;mo&gt;×&lt;/mo&gt;&lt;mn&gt;4&lt;/mn&gt;&lt;/mrow&gt;&lt;/mfrac&gt;&lt;mo&gt;÷&lt;/mo&gt;&lt;mn&gt;4&lt;/mn&gt;&lt;mtext&gt;&lt;/mtext&gt;&lt;mo&gt;=&lt;/mo&gt;&lt;mtext&gt;&lt;/mtext&gt;&lt;mfrac&gt;&lt;mn&gt;20&lt;/mn&gt;&lt;mn&gt;36&lt;/mn&gt;&lt;/mfrac&gt;&lt;mo&gt;÷&lt;/mo&gt;&lt;mn&gt;4&lt;/mn&gt;&lt;mtext&gt;&lt;/mtext&gt;&lt;mo&gt;=&lt;/mo&gt;&lt;mtext&gt;&lt;/mtext&gt;&lt;mfrac&gt;&lt;mn&gt;5&lt;/mn&gt;&lt;mn&gt;36&lt;/mn&gt;&lt;/mfrac&gt;&lt;/math&gt;" id="2174" name="Google Shape;2174;p166" title="five ninths divided by 4 equals the fraction with numerator 5 times 4 and denominator 9 times 4 divided by 4 equals 20 over 36 divided by 4 equals 5 over 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425" y="1729941"/>
            <a:ext cx="5591100" cy="7564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11}\div5\ =\ \frac{6\times5}{11\times5}\div5\ =\ \frac{30}{55}\div5\ =\ \frac{6}{55}&quot;&gt;&lt;mfrac&gt;&lt;mn&gt;6&lt;/mn&gt;&lt;mn&gt;11&lt;/mn&gt;&lt;/mfrac&gt;&lt;mo&gt;÷&lt;/mo&gt;&lt;mn&gt;5&lt;/mn&gt;&lt;mtext&gt;&lt;/mtext&gt;&lt;mo&gt;=&lt;/mo&gt;&lt;mtext&gt;&lt;/mtext&gt;&lt;mfrac&gt;&lt;mrow&gt;&lt;mn&gt;6&lt;/mn&gt;&lt;mo&gt;×&lt;/mo&gt;&lt;mn&gt;5&lt;/mn&gt;&lt;/mrow&gt;&lt;mrow&gt;&lt;mn&gt;11&lt;/mn&gt;&lt;mo&gt;×&lt;/mo&gt;&lt;mn&gt;5&lt;/mn&gt;&lt;/mrow&gt;&lt;/mfrac&gt;&lt;mo&gt;÷&lt;/mo&gt;&lt;mn&gt;5&lt;/mn&gt;&lt;mtext&gt;&lt;/mtext&gt;&lt;mo&gt;=&lt;/mo&gt;&lt;mtext&gt;&lt;/mtext&gt;&lt;mfrac&gt;&lt;mn&gt;30&lt;/mn&gt;&lt;mn&gt;55&lt;/mn&gt;&lt;/mfrac&gt;&lt;mo&gt;÷&lt;/mo&gt;&lt;mn&gt;5&lt;/mn&gt;&lt;mtext&gt;&lt;/mtext&gt;&lt;mo&gt;=&lt;/mo&gt;&lt;mtext&gt;&lt;/mtext&gt;&lt;mfrac&gt;&lt;mn&gt;6&lt;/mn&gt;&lt;mn&gt;55&lt;/mn&gt;&lt;/mfrac&gt;&lt;/math&gt;" id="2175" name="Google Shape;2175;p166" title="6 over 11 divided by 5 equals the fraction with numerator 6 times 5 and denominator 11 times 5 divided by 5 equals 30 over 55 divided by 5 equals 6 over 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050" y="2812413"/>
            <a:ext cx="5960042" cy="75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3}\div4\ =\ \frac{10\times2}{13\times2}\div4\ =\ \frac{20}{26}\div4\ =\ \frac{5}{26}&quot;&gt;&lt;mfrac&gt;&lt;mn&gt;10&lt;/mn&gt;&lt;mn&gt;13&lt;/mn&gt;&lt;/mfrac&gt;&lt;mo&gt;÷&lt;/mo&gt;&lt;mn&gt;4&lt;/mn&gt;&lt;mtext&gt;&lt;/mtext&gt;&lt;mo&gt;=&lt;/mo&gt;&lt;mtext&gt;&lt;/mtext&gt;&lt;mfrac&gt;&lt;mrow&gt;&lt;mn&gt;10&lt;/mn&gt;&lt;mo&gt;×&lt;/mo&gt;&lt;mn&gt;2&lt;/mn&gt;&lt;/mrow&gt;&lt;mrow&gt;&lt;mn&gt;13&lt;/mn&gt;&lt;mo&gt;×&lt;/mo&gt;&lt;mn&gt;2&lt;/mn&gt;&lt;/mrow&gt;&lt;/mfrac&gt;&lt;mo&gt;÷&lt;/mo&gt;&lt;mn&gt;4&lt;/mn&gt;&lt;mtext&gt;&lt;/mtext&gt;&lt;mo&gt;=&lt;/mo&gt;&lt;mtext&gt;&lt;/mtext&gt;&lt;mfrac&gt;&lt;mn&gt;20&lt;/mn&gt;&lt;mn&gt;26&lt;/mn&gt;&lt;/mfrac&gt;&lt;mo&gt;÷&lt;/mo&gt;&lt;mn&gt;4&lt;/mn&gt;&lt;mtext&gt;&lt;/mtext&gt;&lt;mo&gt;=&lt;/mo&gt;&lt;mtext&gt;&lt;/mtext&gt;&lt;mfrac&gt;&lt;mn&gt;5&lt;/mn&gt;&lt;mn&gt;26&lt;/mn&gt;&lt;/mfrac&gt;&lt;/math&gt;" id="2176" name="Google Shape;2176;p166" title="10 over 13 divided by 4 equals the fraction with numerator 10 times 2 and denominator 13 times 2 divided by 4 equals 20 over 26 divided by 4 equals 5 over 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3000" y="3894900"/>
            <a:ext cx="5960162" cy="75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0" name="Shape 2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" name="Google Shape;2181;p167"/>
          <p:cNvSpPr txBox="1"/>
          <p:nvPr>
            <p:ph idx="1" type="body"/>
          </p:nvPr>
        </p:nvSpPr>
        <p:spPr>
          <a:xfrm>
            <a:off x="453600" y="829800"/>
            <a:ext cx="8113800" cy="8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use fractions in everyday life as fractions are useful when dividing quantities, such as money, time or food.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167"/>
          <p:cNvSpPr txBox="1"/>
          <p:nvPr>
            <p:ph type="title"/>
          </p:nvPr>
        </p:nvSpPr>
        <p:spPr>
          <a:xfrm>
            <a:off x="1684800" y="157525"/>
            <a:ext cx="73737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dividing a fraction by a whole number</a:t>
            </a:r>
            <a:endParaRPr/>
          </a:p>
        </p:txBody>
      </p:sp>
      <p:sp>
        <p:nvSpPr>
          <p:cNvPr id="2183" name="Google Shape;2183;p167"/>
          <p:cNvSpPr txBox="1"/>
          <p:nvPr>
            <p:ph idx="1" type="body"/>
          </p:nvPr>
        </p:nvSpPr>
        <p:spPr>
          <a:xfrm>
            <a:off x="453600" y="1850700"/>
            <a:ext cx="8113800" cy="8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Sometimes</a:t>
            </a:r>
            <a:r>
              <a:rPr lang="en-GB"/>
              <a:t> we can </a:t>
            </a:r>
            <a:r>
              <a:rPr lang="en-GB"/>
              <a:t>divide</a:t>
            </a:r>
            <a:r>
              <a:rPr lang="en-GB"/>
              <a:t> a fraction by an integer by simply looking at the numerator of the </a:t>
            </a:r>
            <a:r>
              <a:rPr lang="en-GB"/>
              <a:t>dividend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167"/>
          <p:cNvSpPr txBox="1"/>
          <p:nvPr>
            <p:ph idx="1" type="body"/>
          </p:nvPr>
        </p:nvSpPr>
        <p:spPr>
          <a:xfrm>
            <a:off x="453600" y="2993700"/>
            <a:ext cx="8113800" cy="84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Sometimes we need to use an equivalent fraction to divide the fraction by an integer and make the calculation easier.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p16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190" name="Google Shape;2190;p1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