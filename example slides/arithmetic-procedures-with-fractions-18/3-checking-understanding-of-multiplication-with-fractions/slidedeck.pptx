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747775"/>
          </p15:clr>
        </p15:guide>
        <p15:guide id="2" orient="horz" pos="113">
          <p15:clr>
            <a:srgbClr val="747775"/>
          </p15:clr>
        </p15:guide>
        <p15:guide id="3" pos="14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6E5903-C209-4E59-9D5F-04E7E731CE5B}">
  <a:tblStyle styleId="{276E5903-C209-4E59-9D5F-04E7E731CE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113" orient="horz"/>
        <p:guide pos="14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c0cc7f1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c0cc7f1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9c0cc7f12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9c0cc7f12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9e97cd72d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9e97cd72d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NCETM checkpoint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9c0cc7f12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9c0cc7f12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29c0cc7f12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29c0cc7f12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9c0cc7f12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9c0cc7f12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9c0cc7f12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9c0cc7f12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9c0cc7f12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9c0cc7f12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29c0cc7f12e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29c0cc7f12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29c0cc7f12e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9c0cc7f12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9c0cc7f12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9c0cc7f12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29daabfaebc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29daabfaeb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2a079aa04ff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2a079aa04ff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a079aa04ff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a079aa04ff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29c0cc7f12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29c0cc7f12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29c0cc7f12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29c0cc7f12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29c0cc7f12e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29c0cc7f12e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29c0cc7f12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29c0cc7f12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29c0cc7f12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29c0cc7f12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2a079aa04ff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2a079aa04f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1ec631ca4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1ec631ca4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2a079aa04f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2a079aa04f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2a079aa04ff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2a079aa04f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29daabfaeb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29daabfaeb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29daabfaeb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29daabfaeb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9e97cd72d6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29e97cd72d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29e97cd72d6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29e97cd72d6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89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Relationship Id="rId7" Type="http://schemas.openxmlformats.org/officeDocument/2006/relationships/image" Target="../media/image2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89.png"/><Relationship Id="rId4" Type="http://schemas.openxmlformats.org/officeDocument/2006/relationships/image" Target="../media/image23.png"/><Relationship Id="rId9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27.png"/><Relationship Id="rId8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89.png"/><Relationship Id="rId4" Type="http://schemas.openxmlformats.org/officeDocument/2006/relationships/image" Target="../media/image32.png"/><Relationship Id="rId11" Type="http://schemas.openxmlformats.org/officeDocument/2006/relationships/image" Target="../media/image22.png"/><Relationship Id="rId10" Type="http://schemas.openxmlformats.org/officeDocument/2006/relationships/image" Target="../media/image35.png"/><Relationship Id="rId9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5.png"/><Relationship Id="rId4" Type="http://schemas.openxmlformats.org/officeDocument/2006/relationships/image" Target="../media/image5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5.png"/><Relationship Id="rId4" Type="http://schemas.openxmlformats.org/officeDocument/2006/relationships/image" Target="../media/image56.png"/><Relationship Id="rId5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Relationship Id="rId4" Type="http://schemas.openxmlformats.org/officeDocument/2006/relationships/image" Target="../media/image45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45.png"/><Relationship Id="rId5" Type="http://schemas.openxmlformats.org/officeDocument/2006/relationships/image" Target="../media/image5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5.png"/><Relationship Id="rId4" Type="http://schemas.openxmlformats.org/officeDocument/2006/relationships/image" Target="../media/image57.png"/><Relationship Id="rId5" Type="http://schemas.openxmlformats.org/officeDocument/2006/relationships/image" Target="../media/image6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7.png"/><Relationship Id="rId4" Type="http://schemas.openxmlformats.org/officeDocument/2006/relationships/image" Target="../media/image61.png"/><Relationship Id="rId5" Type="http://schemas.openxmlformats.org/officeDocument/2006/relationships/image" Target="../media/image6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3.png"/><Relationship Id="rId4" Type="http://schemas.openxmlformats.org/officeDocument/2006/relationships/image" Target="../media/image62.png"/><Relationship Id="rId5" Type="http://schemas.openxmlformats.org/officeDocument/2006/relationships/image" Target="../media/image6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6.png"/><Relationship Id="rId4" Type="http://schemas.openxmlformats.org/officeDocument/2006/relationships/image" Target="../media/image6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2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67.png"/><Relationship Id="rId7" Type="http://schemas.openxmlformats.org/officeDocument/2006/relationships/image" Target="../media/image7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3.png"/><Relationship Id="rId4" Type="http://schemas.openxmlformats.org/officeDocument/2006/relationships/image" Target="../media/image76.png"/><Relationship Id="rId5" Type="http://schemas.openxmlformats.org/officeDocument/2006/relationships/image" Target="../media/image81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0.png"/><Relationship Id="rId4" Type="http://schemas.openxmlformats.org/officeDocument/2006/relationships/image" Target="../media/image7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4.png"/><Relationship Id="rId4" Type="http://schemas.openxmlformats.org/officeDocument/2006/relationships/image" Target="../media/image8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3.png"/><Relationship Id="rId4" Type="http://schemas.openxmlformats.org/officeDocument/2006/relationships/image" Target="../media/image8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5.png"/><Relationship Id="rId4" Type="http://schemas.openxmlformats.org/officeDocument/2006/relationships/image" Target="../media/image87.png"/><Relationship Id="rId5" Type="http://schemas.openxmlformats.org/officeDocument/2006/relationships/image" Target="../media/image86.png"/><Relationship Id="rId6" Type="http://schemas.openxmlformats.org/officeDocument/2006/relationships/image" Target="../media/image7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1.png"/><Relationship Id="rId6" Type="http://schemas.openxmlformats.org/officeDocument/2006/relationships/image" Target="../media/image90.png"/><Relationship Id="rId7" Type="http://schemas.openxmlformats.org/officeDocument/2006/relationships/image" Target="../media/image9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9" Type="http://schemas.openxmlformats.org/officeDocument/2006/relationships/image" Target="../media/image105.png"/><Relationship Id="rId5" Type="http://schemas.openxmlformats.org/officeDocument/2006/relationships/image" Target="../media/image97.png"/><Relationship Id="rId6" Type="http://schemas.openxmlformats.org/officeDocument/2006/relationships/image" Target="../media/image99.png"/><Relationship Id="rId7" Type="http://schemas.openxmlformats.org/officeDocument/2006/relationships/image" Target="../media/image107.png"/><Relationship Id="rId8" Type="http://schemas.openxmlformats.org/officeDocument/2006/relationships/image" Target="../media/image108.png"/><Relationship Id="rId11" Type="http://schemas.openxmlformats.org/officeDocument/2006/relationships/image" Target="../media/image111.png"/><Relationship Id="rId10" Type="http://schemas.openxmlformats.org/officeDocument/2006/relationships/image" Target="../media/image98.png"/><Relationship Id="rId13" Type="http://schemas.openxmlformats.org/officeDocument/2006/relationships/image" Target="../media/image103.png"/><Relationship Id="rId12" Type="http://schemas.openxmlformats.org/officeDocument/2006/relationships/image" Target="../media/image1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3.png"/><Relationship Id="rId4" Type="http://schemas.openxmlformats.org/officeDocument/2006/relationships/image" Target="../media/image114.png"/><Relationship Id="rId9" Type="http://schemas.openxmlformats.org/officeDocument/2006/relationships/image" Target="../media/image100.png"/><Relationship Id="rId5" Type="http://schemas.openxmlformats.org/officeDocument/2006/relationships/image" Target="../media/image109.png"/><Relationship Id="rId6" Type="http://schemas.openxmlformats.org/officeDocument/2006/relationships/image" Target="../media/image102.png"/><Relationship Id="rId7" Type="http://schemas.openxmlformats.org/officeDocument/2006/relationships/image" Target="../media/image104.png"/><Relationship Id="rId8" Type="http://schemas.openxmlformats.org/officeDocument/2006/relationships/image" Target="../media/image110.png"/><Relationship Id="rId10" Type="http://schemas.openxmlformats.org/officeDocument/2006/relationships/image" Target="../media/image10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10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3.png"/><Relationship Id="rId4" Type="http://schemas.openxmlformats.org/officeDocument/2006/relationships/image" Target="../media/image114.png"/><Relationship Id="rId9" Type="http://schemas.openxmlformats.org/officeDocument/2006/relationships/image" Target="../media/image100.png"/><Relationship Id="rId5" Type="http://schemas.openxmlformats.org/officeDocument/2006/relationships/image" Target="../media/image109.png"/><Relationship Id="rId6" Type="http://schemas.openxmlformats.org/officeDocument/2006/relationships/image" Target="../media/image102.png"/><Relationship Id="rId7" Type="http://schemas.openxmlformats.org/officeDocument/2006/relationships/image" Target="../media/image104.png"/><Relationship Id="rId8" Type="http://schemas.openxmlformats.org/officeDocument/2006/relationships/image" Target="../media/image110.png"/><Relationship Id="rId10" Type="http://schemas.openxmlformats.org/officeDocument/2006/relationships/image" Target="../media/image10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multiplication with fractions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procedures with fractions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mathematical structures that underpin the multiplication of fractions.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Denominator − </a:t>
            </a:r>
            <a:r>
              <a:rPr b="0" lang="en-GB"/>
              <a:t>The expression in a fraction that is written below the fraction line. It is the divisor.</a:t>
            </a:r>
            <a:endParaRPr b="0"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Numerator − The expression in a fraction that is written above the fraction line. It is the dividend. 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768" name="Google Shape;768;p67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6400" y="3174825"/>
            <a:ext cx="292900" cy="969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9" name="Google Shape;769;p67"/>
          <p:cNvCxnSpPr/>
          <p:nvPr/>
        </p:nvCxnSpPr>
        <p:spPr>
          <a:xfrm flipH="1">
            <a:off x="5416675" y="3213200"/>
            <a:ext cx="605100" cy="1560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0" name="Google Shape;770;p67"/>
          <p:cNvCxnSpPr/>
          <p:nvPr/>
        </p:nvCxnSpPr>
        <p:spPr>
          <a:xfrm rot="10800000">
            <a:off x="5416550" y="3973325"/>
            <a:ext cx="614400" cy="1659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1" name="Google Shape;771;p67"/>
          <p:cNvSpPr txBox="1"/>
          <p:nvPr/>
        </p:nvSpPr>
        <p:spPr>
          <a:xfrm>
            <a:off x="6001200" y="2938750"/>
            <a:ext cx="177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numerator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2" name="Google Shape;772;p67"/>
          <p:cNvSpPr txBox="1"/>
          <p:nvPr/>
        </p:nvSpPr>
        <p:spPr>
          <a:xfrm>
            <a:off x="6025800" y="3840517"/>
            <a:ext cx="219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denominator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the area model</a:t>
            </a:r>
            <a:endParaRPr/>
          </a:p>
        </p:txBody>
      </p:sp>
      <p:sp>
        <p:nvSpPr>
          <p:cNvPr id="778" name="Google Shape;778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 of fractions</a:t>
            </a:r>
            <a:endParaRPr/>
          </a:p>
        </p:txBody>
      </p:sp>
      <p:sp>
        <p:nvSpPr>
          <p:cNvPr id="779" name="Google Shape;779;p68"/>
          <p:cNvSpPr txBox="1"/>
          <p:nvPr>
            <p:ph idx="3" type="title"/>
          </p:nvPr>
        </p:nvSpPr>
        <p:spPr>
          <a:xfrm>
            <a:off x="324000" y="657600"/>
            <a:ext cx="75759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multiplication with fractions</a:t>
            </a:r>
            <a:endParaRPr/>
          </a:p>
        </p:txBody>
      </p:sp>
      <p:pic>
        <p:nvPicPr>
          <p:cNvPr id="780" name="Google Shape;78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0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the area model</a:t>
            </a:r>
            <a:endParaRPr/>
          </a:p>
        </p:txBody>
      </p:sp>
      <p:cxnSp>
        <p:nvCxnSpPr>
          <p:cNvPr id="786" name="Google Shape;786;p69"/>
          <p:cNvCxnSpPr>
            <a:stCxn id="787" idx="0"/>
            <a:endCxn id="787" idx="0"/>
          </p:cNvCxnSpPr>
          <p:nvPr/>
        </p:nvCxnSpPr>
        <p:spPr>
          <a:xfrm>
            <a:off x="5187041" y="1507275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8" name="Google Shape;788;p69"/>
          <p:cNvSpPr txBox="1"/>
          <p:nvPr/>
        </p:nvSpPr>
        <p:spPr>
          <a:xfrm>
            <a:off x="337964" y="605500"/>
            <a:ext cx="835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 of these large squares has an area of 1 m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area of each shaded section?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89" name="Google Shape;789;p69"/>
          <p:cNvGraphicFramePr/>
          <p:nvPr/>
        </p:nvGraphicFramePr>
        <p:xfrm>
          <a:off x="6877875" y="320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405000"/>
                <a:gridCol w="405000"/>
                <a:gridCol w="405000"/>
                <a:gridCol w="405000"/>
              </a:tblGrid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0" name="Google Shape;790;p69"/>
          <p:cNvGraphicFramePr/>
          <p:nvPr/>
        </p:nvGraphicFramePr>
        <p:xfrm>
          <a:off x="4697904" y="320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540000"/>
                <a:gridCol w="540000"/>
                <a:gridCol w="540000"/>
              </a:tblGrid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1" name="Google Shape;791;p69"/>
          <p:cNvGraphicFramePr/>
          <p:nvPr/>
        </p:nvGraphicFramePr>
        <p:xfrm>
          <a:off x="2517933" y="320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540000"/>
                <a:gridCol w="540000"/>
                <a:gridCol w="540000"/>
              </a:tblGrid>
              <a:tr h="40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2" name="Google Shape;792;p69"/>
          <p:cNvGraphicFramePr/>
          <p:nvPr/>
        </p:nvGraphicFramePr>
        <p:xfrm>
          <a:off x="337963" y="320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540000"/>
                <a:gridCol w="540000"/>
                <a:gridCol w="540000"/>
              </a:tblGrid>
              <a:tr h="81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1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3" name="Google Shape;793;p69"/>
          <p:cNvGraphicFramePr/>
          <p:nvPr/>
        </p:nvGraphicFramePr>
        <p:xfrm>
          <a:off x="6877863" y="134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810000"/>
                <a:gridCol w="810000"/>
              </a:tblGrid>
              <a:tr h="40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4" name="Google Shape;794;p69"/>
          <p:cNvGraphicFramePr/>
          <p:nvPr/>
        </p:nvGraphicFramePr>
        <p:xfrm>
          <a:off x="4697896" y="134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540000"/>
                <a:gridCol w="540000"/>
                <a:gridCol w="540000"/>
              </a:tblGrid>
              <a:tr h="81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1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5" name="Google Shape;795;p69"/>
          <p:cNvGraphicFramePr/>
          <p:nvPr/>
        </p:nvGraphicFramePr>
        <p:xfrm>
          <a:off x="2517929" y="134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810000"/>
                <a:gridCol w="810000"/>
              </a:tblGrid>
              <a:tr h="81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1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6" name="Google Shape;796;p69"/>
          <p:cNvGraphicFramePr/>
          <p:nvPr/>
        </p:nvGraphicFramePr>
        <p:xfrm>
          <a:off x="337963" y="134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810000"/>
                <a:gridCol w="810000"/>
              </a:tblGrid>
              <a:tr h="16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1" name="Google Shape;801;p70"/>
          <p:cNvGraphicFramePr/>
          <p:nvPr/>
        </p:nvGraphicFramePr>
        <p:xfrm>
          <a:off x="1136538" y="161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1116000"/>
                <a:gridCol w="1116000"/>
              </a:tblGrid>
              <a:tr h="223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02" name="Google Shape;80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the area model</a:t>
            </a:r>
            <a:endParaRPr/>
          </a:p>
        </p:txBody>
      </p:sp>
      <p:sp>
        <p:nvSpPr>
          <p:cNvPr id="803" name="Google Shape;803;p70"/>
          <p:cNvSpPr txBox="1"/>
          <p:nvPr>
            <p:ph idx="1" type="body"/>
          </p:nvPr>
        </p:nvSpPr>
        <p:spPr>
          <a:xfrm>
            <a:off x="427923" y="2488813"/>
            <a:ext cx="59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 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804" name="Google Shape;804;p70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767" y="949800"/>
            <a:ext cx="150277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0"/>
          <p:cNvSpPr txBox="1"/>
          <p:nvPr/>
        </p:nvSpPr>
        <p:spPr>
          <a:xfrm>
            <a:off x="3659425" y="1648975"/>
            <a:ext cx="512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shape is split into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2 equal parts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806" name="Google Shape;806;p70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0849" y="3073625"/>
            <a:ext cx="192552" cy="61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7" name="Google Shape;807;p70"/>
          <p:cNvCxnSpPr/>
          <p:nvPr/>
        </p:nvCxnSpPr>
        <p:spPr>
          <a:xfrm>
            <a:off x="1178075" y="1524300"/>
            <a:ext cx="1078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08" name="Google Shape;808;p70"/>
          <p:cNvCxnSpPr/>
          <p:nvPr/>
        </p:nvCxnSpPr>
        <p:spPr>
          <a:xfrm>
            <a:off x="1024025" y="1620000"/>
            <a:ext cx="0" cy="220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09" name="Google Shape;809;p70"/>
          <p:cNvSpPr txBox="1"/>
          <p:nvPr>
            <p:ph idx="1" type="body"/>
          </p:nvPr>
        </p:nvSpPr>
        <p:spPr>
          <a:xfrm>
            <a:off x="1756498" y="952638"/>
            <a:ext cx="59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1\ \times\ \frac{1}{2}=\ \frac{1}{2}\text{ m}^2&quot;&gt;&lt;mn&gt;1&lt;/mn&gt;&lt;mtext&gt;&lt;/mtext&gt;&lt;mo&gt;×&lt;/mo&gt;&lt;mtext&gt;&lt;/mtext&gt;&lt;mfrac&gt;&lt;mn&gt;1&lt;/mn&gt;&lt;mn&gt;2&lt;/mn&gt;&lt;/mfrac&gt;&lt;mo&gt;=&lt;/mo&gt;&lt;mtext&gt;&lt;/mtext&gt;&lt;mfrac&gt;&lt;mn&gt;1&lt;/mn&gt;&lt;mn&gt;2&lt;/mn&gt;&lt;/mfrac&gt;&lt;msup&gt;&lt;mtext&gt; m&lt;/mtext&gt;&lt;mn&gt;2&lt;/mn&gt;&lt;/msup&gt;&lt;/math&gt;" id="810" name="Google Shape;810;p70" title="1 times one half equals one half m squared"/>
          <p:cNvPicPr preferRelativeResize="0"/>
          <p:nvPr/>
        </p:nvPicPr>
        <p:blipFill rotWithShape="1">
          <a:blip r:embed="rId4">
            <a:alphaModFix/>
          </a:blip>
          <a:srcRect b="0" l="0" r="18340" t="0"/>
          <a:stretch/>
        </p:blipFill>
        <p:spPr>
          <a:xfrm>
            <a:off x="4320000" y="3992050"/>
            <a:ext cx="1936801" cy="746950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/>
        </p:nvSpPr>
        <p:spPr>
          <a:xfrm>
            <a:off x="4007650" y="3211025"/>
            <a:ext cx="410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the square is 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 txBox="1"/>
          <p:nvPr/>
        </p:nvSpPr>
        <p:spPr>
          <a:xfrm>
            <a:off x="3661713" y="2430000"/>
            <a:ext cx="403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 equal part is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/>
          <p:nvPr/>
        </p:nvSpPr>
        <p:spPr>
          <a:xfrm>
            <a:off x="1319250" y="2370750"/>
            <a:ext cx="731100" cy="6585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\ \times\ \frac{1}{2}=\ \frac{1}{2}\text{ m}^2&quot;&gt;&lt;mn&gt;1&lt;/mn&gt;&lt;mtext&gt;&lt;/mtext&gt;&lt;mo&gt;×&lt;/mo&gt;&lt;mtext&gt;&lt;/mtext&gt;&lt;mfrac&gt;&lt;mn&gt;1&lt;/mn&gt;&lt;mn&gt;2&lt;/mn&gt;&lt;/mfrac&gt;&lt;mo&gt;=&lt;/mo&gt;&lt;mtext&gt;&lt;/mtext&gt;&lt;mfrac&gt;&lt;mn&gt;1&lt;/mn&gt;&lt;mn&gt;2&lt;/mn&gt;&lt;/mfrac&gt;&lt;msup&gt;&lt;mtext&gt; m&lt;/mtext&gt;&lt;mn&gt;2&lt;/mn&gt;&lt;/msup&gt;&lt;/math&gt;" id="814" name="Google Shape;814;p70" title="1 times one half equals one half m squared"/>
          <p:cNvPicPr preferRelativeResize="0"/>
          <p:nvPr/>
        </p:nvPicPr>
        <p:blipFill rotWithShape="1">
          <a:blip r:embed="rId4">
            <a:alphaModFix/>
          </a:blip>
          <a:srcRect b="0" l="65033" r="0" t="0"/>
          <a:stretch/>
        </p:blipFill>
        <p:spPr>
          <a:xfrm>
            <a:off x="1369799" y="2416263"/>
            <a:ext cx="630025" cy="56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" name="Google Shape;819;p71"/>
          <p:cNvGraphicFramePr/>
          <p:nvPr/>
        </p:nvGraphicFramePr>
        <p:xfrm>
          <a:off x="1136554" y="161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1116000"/>
                <a:gridCol w="1116000"/>
              </a:tblGrid>
              <a:tr h="111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1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20" name="Google Shape;820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the area model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821" name="Google Shape;821;p71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334" y="1932150"/>
            <a:ext cx="150277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/>
        </p:nvSpPr>
        <p:spPr>
          <a:xfrm>
            <a:off x="3659425" y="1648975"/>
            <a:ext cx="512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shape is split into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4 equal parts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1"/>
          <p:cNvSpPr txBox="1"/>
          <p:nvPr/>
        </p:nvSpPr>
        <p:spPr>
          <a:xfrm>
            <a:off x="4007650" y="3211025"/>
            <a:ext cx="410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the square is 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m^2&quot;&gt;&lt;mfrac&gt;&lt;mn&gt;1&lt;/mn&gt;&lt;mn&gt;4&lt;/mn&gt;&lt;/mfrac&gt;&lt;msup&gt;&lt;mi&gt;m&lt;/mi&gt;&lt;mn&gt;2&lt;/mn&gt;&lt;/msup&gt;&lt;/math&gt;" id="824" name="Google Shape;824;p71" title="one fourth m squared"/>
          <p:cNvPicPr preferRelativeResize="0"/>
          <p:nvPr/>
        </p:nvPicPr>
        <p:blipFill rotWithShape="1">
          <a:blip r:embed="rId4">
            <a:alphaModFix/>
          </a:blip>
          <a:srcRect b="0" l="0" r="58099" t="0"/>
          <a:stretch/>
        </p:blipFill>
        <p:spPr>
          <a:xfrm>
            <a:off x="3681502" y="3073625"/>
            <a:ext cx="225161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1"/>
          <p:cNvSpPr txBox="1"/>
          <p:nvPr/>
        </p:nvSpPr>
        <p:spPr>
          <a:xfrm>
            <a:off x="3661713" y="2430000"/>
            <a:ext cx="403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equal part is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26" name="Google Shape;826;p71"/>
          <p:cNvCxnSpPr/>
          <p:nvPr/>
        </p:nvCxnSpPr>
        <p:spPr>
          <a:xfrm>
            <a:off x="1024025" y="1620000"/>
            <a:ext cx="0" cy="110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27" name="Google Shape;827;p71"/>
          <p:cNvSpPr txBox="1"/>
          <p:nvPr>
            <p:ph idx="1" type="body"/>
          </p:nvPr>
        </p:nvSpPr>
        <p:spPr>
          <a:xfrm>
            <a:off x="1756498" y="1028838"/>
            <a:ext cx="59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8" name="Google Shape;828;p71"/>
          <p:cNvSpPr txBox="1"/>
          <p:nvPr>
            <p:ph idx="1" type="body"/>
          </p:nvPr>
        </p:nvSpPr>
        <p:spPr>
          <a:xfrm>
            <a:off x="669898" y="2011188"/>
            <a:ext cx="59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829" name="Google Shape;829;p71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767" y="949800"/>
            <a:ext cx="150277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times\ \frac{1}{2}=\ \frac{1}{4}\text{ m}^2&quot;&gt;&lt;mfrac&gt;&lt;mn&gt;1&lt;/mn&gt;&lt;mn&gt;2&lt;/mn&gt;&lt;/mfrac&gt;&lt;mtext&gt;&lt;/mtext&gt;&lt;mo&gt;×&lt;/mo&gt;&lt;mtext&gt;&lt;/mtext&gt;&lt;mfrac&gt;&lt;mn&gt;1&lt;/mn&gt;&lt;mn&gt;2&lt;/mn&gt;&lt;/mfrac&gt;&lt;mo&gt;=&lt;/mo&gt;&lt;mtext&gt;&lt;/mtext&gt;&lt;mfrac&gt;&lt;mn&gt;1&lt;/mn&gt;&lt;mn&gt;4&lt;/mn&gt;&lt;/mfrac&gt;&lt;msup&gt;&lt;mtext&gt; m&lt;/mtext&gt;&lt;mn&gt;2&lt;/mn&gt;&lt;/msup&gt;&lt;/math&gt;" id="830" name="Google Shape;830;p71" title="one half times one half equals one fourth m squared"/>
          <p:cNvPicPr preferRelativeResize="0"/>
          <p:nvPr/>
        </p:nvPicPr>
        <p:blipFill rotWithShape="1">
          <a:blip r:embed="rId5">
            <a:alphaModFix/>
          </a:blip>
          <a:srcRect b="0" l="0" r="17423" t="0"/>
          <a:stretch/>
        </p:blipFill>
        <p:spPr>
          <a:xfrm>
            <a:off x="4190224" y="3992050"/>
            <a:ext cx="2066575" cy="74695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71"/>
          <p:cNvSpPr/>
          <p:nvPr/>
        </p:nvSpPr>
        <p:spPr>
          <a:xfrm>
            <a:off x="1351625" y="1830750"/>
            <a:ext cx="731100" cy="6585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times\ \frac{1}{2}=\ \frac{1}{4}\text{ m}^2&quot;&gt;&lt;mfrac&gt;&lt;mn&gt;1&lt;/mn&gt;&lt;mn&gt;2&lt;/mn&gt;&lt;/mfrac&gt;&lt;mtext&gt;&lt;/mtext&gt;&lt;mo&gt;×&lt;/mo&gt;&lt;mtext&gt;&lt;/mtext&gt;&lt;mfrac&gt;&lt;mn&gt;1&lt;/mn&gt;&lt;mn&gt;2&lt;/mn&gt;&lt;/mfrac&gt;&lt;mo&gt;=&lt;/mo&gt;&lt;mtext&gt;&lt;/mtext&gt;&lt;mfrac&gt;&lt;mn&gt;1&lt;/mn&gt;&lt;mn&gt;4&lt;/mn&gt;&lt;/mfrac&gt;&lt;msup&gt;&lt;mtext&gt; m&lt;/mtext&gt;&lt;mn&gt;2&lt;/mn&gt;&lt;/msup&gt;&lt;/math&gt;" id="832" name="Google Shape;832;p71" title="one half times one half equals one fourth m squared"/>
          <p:cNvPicPr preferRelativeResize="0"/>
          <p:nvPr/>
        </p:nvPicPr>
        <p:blipFill rotWithShape="1">
          <a:blip r:embed="rId5">
            <a:alphaModFix/>
          </a:blip>
          <a:srcRect b="0" l="68273" r="0" t="0"/>
          <a:stretch/>
        </p:blipFill>
        <p:spPr>
          <a:xfrm>
            <a:off x="1391050" y="1846200"/>
            <a:ext cx="652132" cy="61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3" name="Google Shape;833;p71"/>
          <p:cNvCxnSpPr/>
          <p:nvPr/>
        </p:nvCxnSpPr>
        <p:spPr>
          <a:xfrm>
            <a:off x="1134150" y="1497525"/>
            <a:ext cx="1122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8" name="Google Shape;838;p72"/>
          <p:cNvGraphicFramePr/>
          <p:nvPr/>
        </p:nvGraphicFramePr>
        <p:xfrm>
          <a:off x="1136546" y="1619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744000"/>
                <a:gridCol w="744000"/>
                <a:gridCol w="744000"/>
              </a:tblGrid>
              <a:tr h="111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1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39" name="Google Shape;839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the area model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840" name="Google Shape;840;p72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6009" y="820225"/>
            <a:ext cx="150275" cy="497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841" name="Google Shape;841;p72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234" y="1920588"/>
            <a:ext cx="150277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2"/>
          <p:cNvSpPr txBox="1"/>
          <p:nvPr/>
        </p:nvSpPr>
        <p:spPr>
          <a:xfrm>
            <a:off x="3659425" y="1648975"/>
            <a:ext cx="512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shape is split into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equal parts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2"/>
          <p:cNvSpPr txBox="1"/>
          <p:nvPr/>
        </p:nvSpPr>
        <p:spPr>
          <a:xfrm>
            <a:off x="4007650" y="3211025"/>
            <a:ext cx="410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the square is 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2"/>
          <p:cNvSpPr txBox="1"/>
          <p:nvPr/>
        </p:nvSpPr>
        <p:spPr>
          <a:xfrm>
            <a:off x="3661713" y="2430000"/>
            <a:ext cx="403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 equal part is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5" name="Google Shape;845;p72"/>
          <p:cNvCxnSpPr/>
          <p:nvPr/>
        </p:nvCxnSpPr>
        <p:spPr>
          <a:xfrm>
            <a:off x="1024025" y="1620000"/>
            <a:ext cx="0" cy="110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6" name="Google Shape;846;p72"/>
          <p:cNvSpPr txBox="1"/>
          <p:nvPr>
            <p:ph idx="1" type="body"/>
          </p:nvPr>
        </p:nvSpPr>
        <p:spPr>
          <a:xfrm>
            <a:off x="1468523" y="846689"/>
            <a:ext cx="59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7" name="Google Shape;847;p72"/>
          <p:cNvSpPr txBox="1"/>
          <p:nvPr>
            <p:ph idx="1" type="body"/>
          </p:nvPr>
        </p:nvSpPr>
        <p:spPr>
          <a:xfrm>
            <a:off x="629723" y="1923438"/>
            <a:ext cx="59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848" name="Google Shape;848;p72" title="one six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1725" y="3041487"/>
            <a:ext cx="210861" cy="67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times\frac{1}{3}=\frac{1}{6}\ \text{m}^2&quot;&gt;&lt;mfrac&gt;&lt;mn&gt;1&lt;/mn&gt;&lt;mn&gt;2&lt;/mn&gt;&lt;/mfrac&gt;&lt;mo&gt;×&lt;/mo&gt;&lt;mfrac&gt;&lt;mn&gt;1&lt;/mn&gt;&lt;mn&gt;3&lt;/mn&gt;&lt;/mfrac&gt;&lt;mo&gt;=&lt;/mo&gt;&lt;mfrac&gt;&lt;mn&gt;1&lt;/mn&gt;&lt;mn&gt;6&lt;/mn&gt;&lt;/mfrac&gt;&lt;mtext&gt;&lt;/mtext&gt;&lt;msup&gt;&lt;mtext&gt;m&lt;/mtext&gt;&lt;mn&gt;2&lt;/mn&gt;&lt;/msup&gt;&lt;/math&gt;" id="849" name="Google Shape;849;p72" title="one half times one third equals one sixth m to the second power"/>
          <p:cNvPicPr preferRelativeResize="0"/>
          <p:nvPr/>
        </p:nvPicPr>
        <p:blipFill rotWithShape="1">
          <a:blip r:embed="rId6">
            <a:alphaModFix/>
          </a:blip>
          <a:srcRect b="0" l="0" r="19961" t="0"/>
          <a:stretch/>
        </p:blipFill>
        <p:spPr>
          <a:xfrm>
            <a:off x="4286523" y="3992050"/>
            <a:ext cx="1767050" cy="746950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72"/>
          <p:cNvSpPr/>
          <p:nvPr/>
        </p:nvSpPr>
        <p:spPr>
          <a:xfrm>
            <a:off x="1225825" y="1842300"/>
            <a:ext cx="561600" cy="6585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times\frac{1}{3}=\frac{1}{6}\ \text{m}^2&quot;&gt;&lt;mfrac&gt;&lt;mn&gt;1&lt;/mn&gt;&lt;mn&gt;2&lt;/mn&gt;&lt;/mfrac&gt;&lt;mo&gt;×&lt;/mo&gt;&lt;mfrac&gt;&lt;mn&gt;1&lt;/mn&gt;&lt;mn&gt;3&lt;/mn&gt;&lt;/mfrac&gt;&lt;mo&gt;=&lt;/mo&gt;&lt;mfrac&gt;&lt;mn&gt;1&lt;/mn&gt;&lt;mn&gt;6&lt;/mn&gt;&lt;/mfrac&gt;&lt;mtext&gt;&lt;/mtext&gt;&lt;msup&gt;&lt;mtext&gt;m&lt;/mtext&gt;&lt;mn&gt;2&lt;/mn&gt;&lt;/msup&gt;&lt;/math&gt;" id="851" name="Google Shape;851;p72" title="one half times one third equals one sixth m to the second power"/>
          <p:cNvPicPr preferRelativeResize="0"/>
          <p:nvPr/>
        </p:nvPicPr>
        <p:blipFill rotWithShape="1">
          <a:blip r:embed="rId6">
            <a:alphaModFix/>
          </a:blip>
          <a:srcRect b="0" l="63223" r="0" t="0"/>
          <a:stretch/>
        </p:blipFill>
        <p:spPr>
          <a:xfrm>
            <a:off x="1225825" y="1941276"/>
            <a:ext cx="520447" cy="47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2" name="Google Shape;852;p72"/>
          <p:cNvCxnSpPr/>
          <p:nvPr/>
        </p:nvCxnSpPr>
        <p:spPr>
          <a:xfrm>
            <a:off x="1134150" y="1497525"/>
            <a:ext cx="753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7" name="Google Shape;857;p73"/>
          <p:cNvGraphicFramePr/>
          <p:nvPr/>
        </p:nvGraphicFramePr>
        <p:xfrm>
          <a:off x="1136538" y="161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1116000"/>
                <a:gridCol w="1116000"/>
              </a:tblGrid>
              <a:tr h="5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8" name="Google Shape;85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the area model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}{4}\end{array}&quot;&gt;&lt;mtable columnalign=&quot;left&quot; columnspacing=&quot;1em&quot; rowspacing=&quot;4pt&quot;&gt;&lt;mtr&gt;&lt;mtd&gt;&lt;mfrac&gt;&lt;mn&gt;1&lt;/mn&gt;&lt;mn&gt;4&lt;/mn&gt;&lt;/mfrac&gt;&lt;/mtd&gt;&lt;/mtr&gt;&lt;/mtable&gt;&lt;/math&gt;" id="859" name="Google Shape;859;p73" title="1 lines Line 1: 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509" y="1663253"/>
            <a:ext cx="165511" cy="472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860" name="Google Shape;860;p73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9209" y="949788"/>
            <a:ext cx="150277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3"/>
          <p:cNvSpPr txBox="1"/>
          <p:nvPr/>
        </p:nvSpPr>
        <p:spPr>
          <a:xfrm>
            <a:off x="3659425" y="1648975"/>
            <a:ext cx="512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shape is split into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equal parts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3"/>
          <p:cNvSpPr txBox="1"/>
          <p:nvPr/>
        </p:nvSpPr>
        <p:spPr>
          <a:xfrm>
            <a:off x="4007650" y="3211025"/>
            <a:ext cx="410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the square is 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3"/>
          <p:cNvSpPr txBox="1"/>
          <p:nvPr/>
        </p:nvSpPr>
        <p:spPr>
          <a:xfrm>
            <a:off x="3661713" y="2430000"/>
            <a:ext cx="403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 equal part is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64" name="Google Shape;864;p73"/>
          <p:cNvCxnSpPr/>
          <p:nvPr/>
        </p:nvCxnSpPr>
        <p:spPr>
          <a:xfrm>
            <a:off x="1024148" y="1620088"/>
            <a:ext cx="0" cy="57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65" name="Google Shape;865;p73"/>
          <p:cNvSpPr txBox="1"/>
          <p:nvPr>
            <p:ph idx="1" type="body"/>
          </p:nvPr>
        </p:nvSpPr>
        <p:spPr>
          <a:xfrm>
            <a:off x="1684798" y="991388"/>
            <a:ext cx="59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6" name="Google Shape;866;p73"/>
          <p:cNvSpPr txBox="1"/>
          <p:nvPr>
            <p:ph idx="1" type="body"/>
          </p:nvPr>
        </p:nvSpPr>
        <p:spPr>
          <a:xfrm>
            <a:off x="615323" y="1670488"/>
            <a:ext cx="59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\times\frac{1}{2}=\frac{1}{8}\ \text{m}^2&quot;&gt;&lt;mfrac&gt;&lt;mn&gt;1&lt;/mn&gt;&lt;mn&gt;4&lt;/mn&gt;&lt;/mfrac&gt;&lt;mo&gt;×&lt;/mo&gt;&lt;mfrac&gt;&lt;mn&gt;1&lt;/mn&gt;&lt;mn&gt;2&lt;/mn&gt;&lt;/mfrac&gt;&lt;mo&gt;=&lt;/mo&gt;&lt;mfrac&gt;&lt;mn&gt;1&lt;/mn&gt;&lt;mn&gt;8&lt;/mn&gt;&lt;/mfrac&gt;&lt;mtext&gt;&lt;/mtext&gt;&lt;msup&gt;&lt;mtext&gt;m&lt;/mtext&gt;&lt;mn&gt;2&lt;/mn&gt;&lt;/msup&gt;&lt;/math&gt;" id="867" name="Google Shape;867;p73" title="one fourth times one half equals one eighth m to the second power"/>
          <p:cNvPicPr preferRelativeResize="0"/>
          <p:nvPr/>
        </p:nvPicPr>
        <p:blipFill rotWithShape="1">
          <a:blip r:embed="rId5">
            <a:alphaModFix/>
          </a:blip>
          <a:srcRect b="0" l="0" r="20754" t="0"/>
          <a:stretch/>
        </p:blipFill>
        <p:spPr>
          <a:xfrm>
            <a:off x="4285675" y="3992050"/>
            <a:ext cx="1754525" cy="746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73"/>
          <p:cNvSpPr/>
          <p:nvPr/>
        </p:nvSpPr>
        <p:spPr>
          <a:xfrm>
            <a:off x="1465175" y="1660300"/>
            <a:ext cx="504000" cy="4788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\times\frac{1}{2}=\frac{1}{8}\ \text{m}^2&quot;&gt;&lt;mfrac&gt;&lt;mn&gt;1&lt;/mn&gt;&lt;mn&gt;4&lt;/mn&gt;&lt;/mfrac&gt;&lt;mo&gt;×&lt;/mo&gt;&lt;mfrac&gt;&lt;mn&gt;1&lt;/mn&gt;&lt;mn&gt;2&lt;/mn&gt;&lt;/mfrac&gt;&lt;mo&gt;=&lt;/mo&gt;&lt;mfrac&gt;&lt;mn&gt;1&lt;/mn&gt;&lt;mn&gt;8&lt;/mn&gt;&lt;/mfrac&gt;&lt;mtext&gt;&lt;/mtext&gt;&lt;msup&gt;&lt;mtext&gt;m&lt;/mtext&gt;&lt;mn&gt;2&lt;/mn&gt;&lt;/msup&gt;&lt;/math&gt;" id="869" name="Google Shape;869;p73" title="one fourth times one half equals one eighth m to the second power"/>
          <p:cNvPicPr preferRelativeResize="0"/>
          <p:nvPr/>
        </p:nvPicPr>
        <p:blipFill rotWithShape="1">
          <a:blip r:embed="rId5">
            <a:alphaModFix/>
          </a:blip>
          <a:srcRect b="0" l="64031" r="0" t="0"/>
          <a:stretch/>
        </p:blipFill>
        <p:spPr>
          <a:xfrm>
            <a:off x="1476882" y="1666997"/>
            <a:ext cx="478900" cy="449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times\frac{1}{2}=\frac{1}{8}\ \text{m}^2&quot;&gt;&lt;mfrac&gt;&lt;mn&gt;1&lt;/mn&gt;&lt;mn&gt;4&lt;/mn&gt;&lt;/mfrac&gt;&lt;mo&gt;×&lt;/mo&gt;&lt;mfrac&gt;&lt;mn&gt;1&lt;/mn&gt;&lt;mn&gt;2&lt;/mn&gt;&lt;/mfrac&gt;&lt;mo&gt;=&lt;/mo&gt;&lt;mfrac&gt;&lt;mn&gt;1&lt;/mn&gt;&lt;mn&gt;8&lt;/mn&gt;&lt;/mfrac&gt;&lt;mtext&gt;&lt;/mtext&gt;&lt;msup&gt;&lt;mtext&gt;m&lt;/mtext&gt;&lt;mn&gt;2&lt;/mn&gt;&lt;/msup&gt;&lt;/math&gt;" id="870" name="Google Shape;870;p73" title="one fourth times one half equals one eighth m to the second power"/>
          <p:cNvPicPr preferRelativeResize="0"/>
          <p:nvPr/>
        </p:nvPicPr>
        <p:blipFill rotWithShape="1">
          <a:blip r:embed="rId5">
            <a:alphaModFix/>
          </a:blip>
          <a:srcRect b="0" l="63398" r="20471" t="0"/>
          <a:stretch/>
        </p:blipFill>
        <p:spPr>
          <a:xfrm>
            <a:off x="3661725" y="3073625"/>
            <a:ext cx="293302" cy="61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1" name="Google Shape;871;p73"/>
          <p:cNvCxnSpPr/>
          <p:nvPr/>
        </p:nvCxnSpPr>
        <p:spPr>
          <a:xfrm>
            <a:off x="1134150" y="1497525"/>
            <a:ext cx="1122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6" name="Google Shape;876;p74"/>
          <p:cNvGraphicFramePr/>
          <p:nvPr/>
        </p:nvGraphicFramePr>
        <p:xfrm>
          <a:off x="1136538" y="161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744000"/>
                <a:gridCol w="744000"/>
                <a:gridCol w="744000"/>
              </a:tblGrid>
              <a:tr h="111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1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77" name="Google Shape;87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the area model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878" name="Google Shape;878;p74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037" y="1946038"/>
            <a:ext cx="150277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}{3}\end{array}&quot;&gt;&lt;mtable columnalign=&quot;left&quot; columnspacing=&quot;1em&quot; rowspacing=&quot;4pt&quot;&gt;&lt;mtr&gt;&lt;mtd&gt;&lt;mfrac&gt;&lt;mn&gt;2&lt;/mn&gt;&lt;mn&gt;3&lt;/mn&gt;&lt;/mfrac&gt;&lt;/mtd&gt;&lt;/mtr&gt;&lt;/mtable&gt;&lt;/math&gt;" id="879" name="Google Shape;879;p74" title="1 lines Line 1: 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1316" y="978100"/>
            <a:ext cx="178064" cy="497350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74"/>
          <p:cNvSpPr txBox="1"/>
          <p:nvPr/>
        </p:nvSpPr>
        <p:spPr>
          <a:xfrm>
            <a:off x="3659425" y="1648975"/>
            <a:ext cx="512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shape is split into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equal parts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4"/>
          <p:cNvSpPr txBox="1"/>
          <p:nvPr/>
        </p:nvSpPr>
        <p:spPr>
          <a:xfrm>
            <a:off x="4007650" y="3211025"/>
            <a:ext cx="410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the square is 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4"/>
          <p:cNvSpPr txBox="1"/>
          <p:nvPr/>
        </p:nvSpPr>
        <p:spPr>
          <a:xfrm>
            <a:off x="3661713" y="2430000"/>
            <a:ext cx="403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equal parts are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3" name="Google Shape;883;p74"/>
          <p:cNvCxnSpPr/>
          <p:nvPr/>
        </p:nvCxnSpPr>
        <p:spPr>
          <a:xfrm>
            <a:off x="1024025" y="1620000"/>
            <a:ext cx="0" cy="110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4" name="Google Shape;884;p74"/>
          <p:cNvSpPr txBox="1"/>
          <p:nvPr>
            <p:ph idx="1" type="body"/>
          </p:nvPr>
        </p:nvSpPr>
        <p:spPr>
          <a:xfrm>
            <a:off x="1937723" y="990213"/>
            <a:ext cx="59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5" name="Google Shape;885;p74"/>
          <p:cNvSpPr txBox="1"/>
          <p:nvPr>
            <p:ph idx="1" type="body"/>
          </p:nvPr>
        </p:nvSpPr>
        <p:spPr>
          <a:xfrm>
            <a:off x="669898" y="1934988"/>
            <a:ext cx="59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6" name="Google Shape;886;p74"/>
          <p:cNvSpPr/>
          <p:nvPr/>
        </p:nvSpPr>
        <p:spPr>
          <a:xfrm>
            <a:off x="1573175" y="1840050"/>
            <a:ext cx="629400" cy="6585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times\frac{2}{3}=\frac{2}{6}\ \text{m}^2\ =\frac{1}{3}\ \text{m}^2\ &quot;&gt;&lt;mfrac&gt;&lt;mn&gt;1&lt;/mn&gt;&lt;mn&gt;2&lt;/mn&gt;&lt;/mfrac&gt;&lt;mo&gt;×&lt;/mo&gt;&lt;mfrac&gt;&lt;mn&gt;2&lt;/mn&gt;&lt;mn&gt;3&lt;/mn&gt;&lt;/mfrac&gt;&lt;mo&gt;=&lt;/mo&gt;&lt;mfrac&gt;&lt;mn&gt;2&lt;/mn&gt;&lt;mn&gt;6&lt;/mn&gt;&lt;/mfrac&gt;&lt;mtext&gt;&lt;/mtext&gt;&lt;msup&gt;&lt;mtext&gt;m&lt;/mtext&gt;&lt;mn&gt;2&lt;/mn&gt;&lt;/msup&gt;&lt;mtext&gt;&lt;/mtext&gt;&lt;mo&gt;=&lt;/mo&gt;&lt;mfrac&gt;&lt;mn&gt;1&lt;/mn&gt;&lt;mn&gt;3&lt;/mn&gt;&lt;/mfrac&gt;&lt;mtext&gt;&lt;/mtext&gt;&lt;msup&gt;&lt;mtext&gt;m&lt;/mtext&gt;&lt;mn&gt;2&lt;/mn&gt;&lt;/msup&gt;&lt;mtext&gt;&lt;/mtext&gt;&lt;/math&gt;" id="887" name="Google Shape;887;p74" title="one half times two thirds equals two sixths m to the second power equals one third m to the second power"/>
          <p:cNvPicPr preferRelativeResize="0"/>
          <p:nvPr/>
        </p:nvPicPr>
        <p:blipFill rotWithShape="1">
          <a:blip r:embed="rId5">
            <a:alphaModFix/>
          </a:blip>
          <a:srcRect b="0" l="0" r="51028" t="0"/>
          <a:stretch/>
        </p:blipFill>
        <p:spPr>
          <a:xfrm>
            <a:off x="4284450" y="3992050"/>
            <a:ext cx="1755750" cy="74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times\frac{2}{3}=\frac{2}{6}\ \text{m}^2\ =\frac{1}{3}\ \text{m}^2\ &quot;&gt;&lt;mfrac&gt;&lt;mn&gt;1&lt;/mn&gt;&lt;mn&gt;2&lt;/mn&gt;&lt;/mfrac&gt;&lt;mo&gt;×&lt;/mo&gt;&lt;mfrac&gt;&lt;mn&gt;2&lt;/mn&gt;&lt;mn&gt;3&lt;/mn&gt;&lt;/mfrac&gt;&lt;mo&gt;=&lt;/mo&gt;&lt;mfrac&gt;&lt;mn&gt;2&lt;/mn&gt;&lt;mn&gt;6&lt;/mn&gt;&lt;/mfrac&gt;&lt;mtext&gt;&lt;/mtext&gt;&lt;msup&gt;&lt;mtext&gt;m&lt;/mtext&gt;&lt;mn&gt;2&lt;/mn&gt;&lt;/msup&gt;&lt;mtext&gt;&lt;/mtext&gt;&lt;mo&gt;=&lt;/mo&gt;&lt;mfrac&gt;&lt;mn&gt;1&lt;/mn&gt;&lt;mn&gt;3&lt;/mn&gt;&lt;/mfrac&gt;&lt;mtext&gt;&lt;/mtext&gt;&lt;msup&gt;&lt;mtext&gt;m&lt;/mtext&gt;&lt;mn&gt;2&lt;/mn&gt;&lt;/msup&gt;&lt;mtext&gt;&lt;/mtext&gt;&lt;/math&gt;" id="888" name="Google Shape;888;p74" title="one half times two thirds equals two sixths m to the second power equals one third m to the second power"/>
          <p:cNvPicPr preferRelativeResize="0"/>
          <p:nvPr/>
        </p:nvPicPr>
        <p:blipFill rotWithShape="1">
          <a:blip r:embed="rId5">
            <a:alphaModFix/>
          </a:blip>
          <a:srcRect b="0" l="38979" r="51295" t="0"/>
          <a:stretch/>
        </p:blipFill>
        <p:spPr>
          <a:xfrm>
            <a:off x="3659425" y="2995400"/>
            <a:ext cx="328150" cy="70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times\frac{2}{3}=\frac{2}{6}\ \text{m}^2\ =\frac{1}{3}\ \text{m}^2\ &quot;&gt;&lt;mfrac&gt;&lt;mn&gt;1&lt;/mn&gt;&lt;mn&gt;2&lt;/mn&gt;&lt;/mfrac&gt;&lt;mo&gt;×&lt;/mo&gt;&lt;mfrac&gt;&lt;mn&gt;2&lt;/mn&gt;&lt;mn&gt;3&lt;/mn&gt;&lt;/mfrac&gt;&lt;mo&gt;=&lt;/mo&gt;&lt;mfrac&gt;&lt;mn&gt;2&lt;/mn&gt;&lt;mn&gt;6&lt;/mn&gt;&lt;/mfrac&gt;&lt;mtext&gt;&lt;/mtext&gt;&lt;msup&gt;&lt;mtext&gt;m&lt;/mtext&gt;&lt;mn&gt;2&lt;/mn&gt;&lt;/msup&gt;&lt;mtext&gt;&lt;/mtext&gt;&lt;mo&gt;=&lt;/mo&gt;&lt;mfrac&gt;&lt;mn&gt;1&lt;/mn&gt;&lt;mn&gt;3&lt;/mn&gt;&lt;/mfrac&gt;&lt;mtext&gt;&lt;/mtext&gt;&lt;msup&gt;&lt;mtext&gt;m&lt;/mtext&gt;&lt;mn&gt;2&lt;/mn&gt;&lt;/msup&gt;&lt;mtext&gt;&lt;/mtext&gt;&lt;/math&gt;" id="889" name="Google Shape;889;p74" title="one half times two thirds equals two sixths m to the second power equals one third m to the second power"/>
          <p:cNvPicPr preferRelativeResize="0"/>
          <p:nvPr/>
        </p:nvPicPr>
        <p:blipFill rotWithShape="1">
          <a:blip r:embed="rId5">
            <a:alphaModFix/>
          </a:blip>
          <a:srcRect b="0" l="38899" r="37083" t="0"/>
          <a:stretch/>
        </p:blipFill>
        <p:spPr>
          <a:xfrm>
            <a:off x="1573175" y="1900325"/>
            <a:ext cx="629435" cy="545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times\frac{2}{3}=\frac{2}{6}\ \text{m}^2\ =\frac{1}{3}\ \text{m}^2\ &quot;&gt;&lt;mfrac&gt;&lt;mn&gt;1&lt;/mn&gt;&lt;mn&gt;2&lt;/mn&gt;&lt;/mfrac&gt;&lt;mo&gt;×&lt;/mo&gt;&lt;mfrac&gt;&lt;mn&gt;2&lt;/mn&gt;&lt;mn&gt;3&lt;/mn&gt;&lt;/mfrac&gt;&lt;mo&gt;=&lt;/mo&gt;&lt;mfrac&gt;&lt;mn&gt;2&lt;/mn&gt;&lt;mn&gt;6&lt;/mn&gt;&lt;/mfrac&gt;&lt;mtext&gt;&lt;/mtext&gt;&lt;msup&gt;&lt;mtext&gt;m&lt;/mtext&gt;&lt;mn&gt;2&lt;/mn&gt;&lt;/msup&gt;&lt;mtext&gt;&lt;/mtext&gt;&lt;mo&gt;=&lt;/mo&gt;&lt;mfrac&gt;&lt;mn&gt;1&lt;/mn&gt;&lt;mn&gt;3&lt;/mn&gt;&lt;/mfrac&gt;&lt;mtext&gt;&lt;/mtext&gt;&lt;msup&gt;&lt;mtext&gt;m&lt;/mtext&gt;&lt;mn&gt;2&lt;/mn&gt;&lt;/msup&gt;&lt;mtext&gt;&lt;/mtext&gt;&lt;/math&gt;" id="890" name="Google Shape;890;p74" title="one half times two thirds equals two sixths m to the second power equals one third m to the second power"/>
          <p:cNvPicPr preferRelativeResize="0"/>
          <p:nvPr/>
        </p:nvPicPr>
        <p:blipFill rotWithShape="1">
          <a:blip r:embed="rId5">
            <a:alphaModFix/>
          </a:blip>
          <a:srcRect b="0" l="76932" r="13341" t="0"/>
          <a:stretch/>
        </p:blipFill>
        <p:spPr>
          <a:xfrm>
            <a:off x="3659425" y="2995400"/>
            <a:ext cx="328150" cy="70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times\frac{2}{3}=\frac{2}{6}\ \text{m}^2\ =\frac{1}{3}\ \text{m}^2\ &quot;&gt;&lt;mfrac&gt;&lt;mn&gt;1&lt;/mn&gt;&lt;mn&gt;2&lt;/mn&gt;&lt;/mfrac&gt;&lt;mo&gt;×&lt;/mo&gt;&lt;mfrac&gt;&lt;mn&gt;2&lt;/mn&gt;&lt;mn&gt;3&lt;/mn&gt;&lt;/mfrac&gt;&lt;mo&gt;=&lt;/mo&gt;&lt;mfrac&gt;&lt;mn&gt;2&lt;/mn&gt;&lt;mn&gt;6&lt;/mn&gt;&lt;/mfrac&gt;&lt;mtext&gt;&lt;/mtext&gt;&lt;msup&gt;&lt;mtext&gt;m&lt;/mtext&gt;&lt;mn&gt;2&lt;/mn&gt;&lt;/msup&gt;&lt;mtext&gt;&lt;/mtext&gt;&lt;mo&gt;=&lt;/mo&gt;&lt;mfrac&gt;&lt;mn&gt;1&lt;/mn&gt;&lt;mn&gt;3&lt;/mn&gt;&lt;/mfrac&gt;&lt;mtext&gt;&lt;/mtext&gt;&lt;msup&gt;&lt;mtext&gt;m&lt;/mtext&gt;&lt;mn&gt;2&lt;/mn&gt;&lt;/msup&gt;&lt;mtext&gt;&lt;/mtext&gt;&lt;/math&gt;" id="891" name="Google Shape;891;p74" title="one half times two thirds equals two sixths m to the second power equals one third m to the second power"/>
          <p:cNvPicPr preferRelativeResize="0"/>
          <p:nvPr/>
        </p:nvPicPr>
        <p:blipFill rotWithShape="1">
          <a:blip r:embed="rId5">
            <a:alphaModFix/>
          </a:blip>
          <a:srcRect b="0" l="76932" r="0" t="0"/>
          <a:stretch/>
        </p:blipFill>
        <p:spPr>
          <a:xfrm>
            <a:off x="1565517" y="1899059"/>
            <a:ext cx="604542" cy="5459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2" name="Google Shape;892;p74"/>
          <p:cNvCxnSpPr/>
          <p:nvPr/>
        </p:nvCxnSpPr>
        <p:spPr>
          <a:xfrm>
            <a:off x="1134150" y="1497525"/>
            <a:ext cx="149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1}{2}\times\frac{2}{3}=\frac{2}{6}\ \text{m}^2\ =\frac{1}{3}\ \text{m}^2\ &quot;&gt;&lt;mfrac&gt;&lt;mn&gt;1&lt;/mn&gt;&lt;mn&gt;2&lt;/mn&gt;&lt;/mfrac&gt;&lt;mo&gt;×&lt;/mo&gt;&lt;mfrac&gt;&lt;mn&gt;2&lt;/mn&gt;&lt;mn&gt;3&lt;/mn&gt;&lt;/mfrac&gt;&lt;mo&gt;=&lt;/mo&gt;&lt;mfrac&gt;&lt;mn&gt;2&lt;/mn&gt;&lt;mn&gt;6&lt;/mn&gt;&lt;/mfrac&gt;&lt;mtext&gt;&lt;/mtext&gt;&lt;msup&gt;&lt;mtext&gt;m&lt;/mtext&gt;&lt;mn&gt;2&lt;/mn&gt;&lt;/msup&gt;&lt;mtext&gt;&lt;/mtext&gt;&lt;mo&gt;=&lt;/mo&gt;&lt;mfrac&gt;&lt;mn&gt;1&lt;/mn&gt;&lt;mn&gt;3&lt;/mn&gt;&lt;/mfrac&gt;&lt;mtext&gt;&lt;/mtext&gt;&lt;msup&gt;&lt;mtext&gt;m&lt;/mtext&gt;&lt;mn&gt;2&lt;/mn&gt;&lt;/msup&gt;&lt;mtext&gt;&lt;/mtext&gt;&lt;/math&gt;" id="893" name="Google Shape;893;p74" title="one half times two thirds equals two sixths m to the second power equals one third m to the second power"/>
          <p:cNvPicPr preferRelativeResize="0"/>
          <p:nvPr/>
        </p:nvPicPr>
        <p:blipFill rotWithShape="1">
          <a:blip r:embed="rId5">
            <a:alphaModFix/>
          </a:blip>
          <a:srcRect b="0" l="66200" r="11451" t="0"/>
          <a:stretch/>
        </p:blipFill>
        <p:spPr>
          <a:xfrm>
            <a:off x="6133950" y="3992050"/>
            <a:ext cx="801250" cy="746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74"/>
          <p:cNvSpPr/>
          <p:nvPr/>
        </p:nvSpPr>
        <p:spPr>
          <a:xfrm>
            <a:off x="6146400" y="3851950"/>
            <a:ext cx="1005600" cy="94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9" name="Google Shape;899;p75"/>
          <p:cNvGraphicFramePr/>
          <p:nvPr/>
        </p:nvGraphicFramePr>
        <p:xfrm>
          <a:off x="1133246" y="161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744000"/>
                <a:gridCol w="744000"/>
                <a:gridCol w="744000"/>
              </a:tblGrid>
              <a:tr h="5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00" name="Google Shape;900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the area model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2}{3}\end{array}&quot;&gt;&lt;mtable columnalign=&quot;left&quot; columnspacing=&quot;1em&quot; rowspacing=&quot;4pt&quot;&gt;&lt;mtr&gt;&lt;mtd&gt;&lt;mfrac&gt;&lt;mn&gt;2&lt;/mn&gt;&lt;mn&gt;3&lt;/mn&gt;&lt;/mfrac&gt;&lt;/mtd&gt;&lt;/mtr&gt;&lt;/mtable&gt;&lt;/math&gt;" id="901" name="Google Shape;901;p75" title="1 lines Line 1: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789" y="931300"/>
            <a:ext cx="178064" cy="49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4}\end{array}&quot;&gt;&lt;mtable columnalign=&quot;left&quot; columnspacing=&quot;1em&quot; rowspacing=&quot;4pt&quot;&gt;&lt;mtr&gt;&lt;mtd&gt;&lt;mfrac&gt;&lt;mn&gt;3&lt;/mn&gt;&lt;mn&gt;4&lt;/mn&gt;&lt;/mfrac&gt;&lt;/mtd&gt;&lt;/mtr&gt;&lt;/mtable&gt;&lt;/math&gt;" id="902" name="Google Shape;902;p75" title="1 lines Line 1: 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606" y="2177200"/>
            <a:ext cx="180289" cy="497350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75"/>
          <p:cNvSpPr txBox="1"/>
          <p:nvPr/>
        </p:nvSpPr>
        <p:spPr>
          <a:xfrm>
            <a:off x="3659425" y="1648975"/>
            <a:ext cx="512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shape is split into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equal parts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5"/>
          <p:cNvSpPr txBox="1"/>
          <p:nvPr/>
        </p:nvSpPr>
        <p:spPr>
          <a:xfrm>
            <a:off x="4007650" y="3211025"/>
            <a:ext cx="410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the square is 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5"/>
          <p:cNvSpPr txBox="1"/>
          <p:nvPr/>
        </p:nvSpPr>
        <p:spPr>
          <a:xfrm>
            <a:off x="3661713" y="2430000"/>
            <a:ext cx="403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equal parts are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5"/>
          <p:cNvSpPr/>
          <p:nvPr/>
        </p:nvSpPr>
        <p:spPr>
          <a:xfrm>
            <a:off x="1533025" y="2075050"/>
            <a:ext cx="731700" cy="7470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5"/>
          <p:cNvSpPr txBox="1"/>
          <p:nvPr>
            <p:ph idx="1" type="body"/>
          </p:nvPr>
        </p:nvSpPr>
        <p:spPr>
          <a:xfrm>
            <a:off x="1987134" y="914013"/>
            <a:ext cx="59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8" name="Google Shape;908;p75"/>
          <p:cNvSpPr txBox="1"/>
          <p:nvPr>
            <p:ph idx="1" type="body"/>
          </p:nvPr>
        </p:nvSpPr>
        <p:spPr>
          <a:xfrm>
            <a:off x="716773" y="2189325"/>
            <a:ext cx="59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\times\frac{2}{3}=\frac{6}{12}\ \text{m}^2\ =\frac{1}{2}\ \text{m}^2\ &quot;&gt;&lt;mfrac&gt;&lt;mn&gt;3&lt;/mn&gt;&lt;mn&gt;4&lt;/mn&gt;&lt;/mfrac&gt;&lt;mo&gt;×&lt;/mo&gt;&lt;mfrac&gt;&lt;mn&gt;2&lt;/mn&gt;&lt;mn&gt;3&lt;/mn&gt;&lt;/mfrac&gt;&lt;mo&gt;=&lt;/mo&gt;&lt;mfrac&gt;&lt;mn&gt;6&lt;/mn&gt;&lt;mn&gt;12&lt;/mn&gt;&lt;/mfrac&gt;&lt;mtext&gt;&lt;/mtext&gt;&lt;msup&gt;&lt;mtext&gt;m&lt;/mtext&gt;&lt;mn&gt;2&lt;/mn&gt;&lt;/msup&gt;&lt;mtext&gt;&lt;/mtext&gt;&lt;mo&gt;=&lt;/mo&gt;&lt;mfrac&gt;&lt;mn&gt;1&lt;/mn&gt;&lt;mn&gt;2&lt;/mn&gt;&lt;/mfrac&gt;&lt;mtext&gt;&lt;/mtext&gt;&lt;msup&gt;&lt;mtext&gt;m&lt;/mtext&gt;&lt;mn&gt;2&lt;/mn&gt;&lt;/msup&gt;&lt;mtext&gt;&lt;/mtext&gt;&lt;/math&gt;" id="909" name="Google Shape;909;p75" title="three fourths times two thirds equals 6 over 12 m to the second power equals one half m to the second power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7730" y="3992050"/>
            <a:ext cx="3772364" cy="74695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75"/>
          <p:cNvSpPr/>
          <p:nvPr/>
        </p:nvSpPr>
        <p:spPr>
          <a:xfrm>
            <a:off x="6824875" y="3956275"/>
            <a:ext cx="1312800" cy="88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\times\frac{2}{3}=\frac{6}{12}\ \text{m}^2\ =\frac{1}{2}\ \text{m}^2\ &quot;&gt;&lt;mfrac&gt;&lt;mn&gt;3&lt;/mn&gt;&lt;mn&gt;4&lt;/mn&gt;&lt;/mfrac&gt;&lt;mo&gt;×&lt;/mo&gt;&lt;mfrac&gt;&lt;mn&gt;2&lt;/mn&gt;&lt;mn&gt;3&lt;/mn&gt;&lt;/mfrac&gt;&lt;mo&gt;=&lt;/mo&gt;&lt;mfrac&gt;&lt;mn&gt;6&lt;/mn&gt;&lt;mn&gt;12&lt;/mn&gt;&lt;/mfrac&gt;&lt;mtext&gt;&lt;/mtext&gt;&lt;msup&gt;&lt;mtext&gt;m&lt;/mtext&gt;&lt;mn&gt;2&lt;/mn&gt;&lt;/msup&gt;&lt;mtext&gt;&lt;/mtext&gt;&lt;mo&gt;=&lt;/mo&gt;&lt;mfrac&gt;&lt;mn&gt;1&lt;/mn&gt;&lt;mn&gt;2&lt;/mn&gt;&lt;/mfrac&gt;&lt;mtext&gt;&lt;/mtext&gt;&lt;msup&gt;&lt;mtext&gt;m&lt;/mtext&gt;&lt;mn&gt;2&lt;/mn&gt;&lt;/msup&gt;&lt;mtext&gt;&lt;/mtext&gt;&lt;/math&gt;" id="911" name="Google Shape;911;p75" title="three fourths times two thirds equals 6 over 12 m to the second power equals one half m to the second power"/>
          <p:cNvPicPr preferRelativeResize="0"/>
          <p:nvPr/>
        </p:nvPicPr>
        <p:blipFill rotWithShape="1">
          <a:blip r:embed="rId5">
            <a:alphaModFix/>
          </a:blip>
          <a:srcRect b="0" l="37057" r="34537" t="0"/>
          <a:stretch/>
        </p:blipFill>
        <p:spPr>
          <a:xfrm>
            <a:off x="1515625" y="2164129"/>
            <a:ext cx="766512" cy="534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frac{2}{3}=\frac{6}{12}\ \text{m}^2\ =\frac{1}{2}\ \text{m}^2\ &quot;&gt;&lt;mfrac&gt;&lt;mn&gt;3&lt;/mn&gt;&lt;mn&gt;4&lt;/mn&gt;&lt;/mfrac&gt;&lt;mo&gt;×&lt;/mo&gt;&lt;mfrac&gt;&lt;mn&gt;2&lt;/mn&gt;&lt;mn&gt;3&lt;/mn&gt;&lt;/mfrac&gt;&lt;mo&gt;=&lt;/mo&gt;&lt;mfrac&gt;&lt;mn&gt;6&lt;/mn&gt;&lt;mn&gt;12&lt;/mn&gt;&lt;/mfrac&gt;&lt;mtext&gt;&lt;/mtext&gt;&lt;msup&gt;&lt;mtext&gt;m&lt;/mtext&gt;&lt;mn&gt;2&lt;/mn&gt;&lt;/msup&gt;&lt;mtext&gt;&lt;/mtext&gt;&lt;mo&gt;=&lt;/mo&gt;&lt;mfrac&gt;&lt;mn&gt;1&lt;/mn&gt;&lt;mn&gt;2&lt;/mn&gt;&lt;/mfrac&gt;&lt;mtext&gt;&lt;/mtext&gt;&lt;msup&gt;&lt;mtext&gt;m&lt;/mtext&gt;&lt;mn&gt;2&lt;/mn&gt;&lt;/msup&gt;&lt;mtext&gt;&lt;/mtext&gt;&lt;/math&gt;" id="912" name="Google Shape;912;p75" title="three fourths times two thirds equals 6 over 12 m to the second power equals one half m to the second power"/>
          <p:cNvPicPr preferRelativeResize="0"/>
          <p:nvPr/>
        </p:nvPicPr>
        <p:blipFill rotWithShape="1">
          <a:blip r:embed="rId5">
            <a:alphaModFix/>
          </a:blip>
          <a:srcRect b="0" l="78364" r="0" t="0"/>
          <a:stretch/>
        </p:blipFill>
        <p:spPr>
          <a:xfrm>
            <a:off x="1646001" y="2161300"/>
            <a:ext cx="583834" cy="534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frac{2}{3}=\frac{6}{12}\ \text{m}^2\ =\frac{1}{2}\ \text{m}^2\ &quot;&gt;&lt;mfrac&gt;&lt;mn&gt;3&lt;/mn&gt;&lt;mn&gt;4&lt;/mn&gt;&lt;/mfrac&gt;&lt;mo&gt;×&lt;/mo&gt;&lt;mfrac&gt;&lt;mn&gt;2&lt;/mn&gt;&lt;mn&gt;3&lt;/mn&gt;&lt;/mfrac&gt;&lt;mo&gt;=&lt;/mo&gt;&lt;mfrac&gt;&lt;mn&gt;6&lt;/mn&gt;&lt;mn&gt;12&lt;/mn&gt;&lt;/mfrac&gt;&lt;mtext&gt;&lt;/mtext&gt;&lt;msup&gt;&lt;mtext&gt;m&lt;/mtext&gt;&lt;mn&gt;2&lt;/mn&gt;&lt;/msup&gt;&lt;mtext&gt;&lt;/mtext&gt;&lt;mo&gt;=&lt;/mo&gt;&lt;mfrac&gt;&lt;mn&gt;1&lt;/mn&gt;&lt;mn&gt;2&lt;/mn&gt;&lt;/mfrac&gt;&lt;mtext&gt;&lt;/mtext&gt;&lt;msup&gt;&lt;mtext&gt;m&lt;/mtext&gt;&lt;mn&gt;2&lt;/mn&gt;&lt;/msup&gt;&lt;mtext&gt;&lt;/mtext&gt;&lt;/math&gt;" id="913" name="Google Shape;913;p75" title="three fourths times two thirds equals 6 over 12 m to the second power equals one half m to the second power"/>
          <p:cNvPicPr preferRelativeResize="0"/>
          <p:nvPr/>
        </p:nvPicPr>
        <p:blipFill rotWithShape="1">
          <a:blip r:embed="rId5">
            <a:alphaModFix/>
          </a:blip>
          <a:srcRect b="-1169" l="37412" r="48917" t="1170"/>
          <a:stretch/>
        </p:blipFill>
        <p:spPr>
          <a:xfrm>
            <a:off x="3557201" y="3073637"/>
            <a:ext cx="423573" cy="613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frac{2}{3}=\frac{6}{12}\ \text{m}^2\ =\frac{1}{2}\ \text{m}^2\ &quot;&gt;&lt;mfrac&gt;&lt;mn&gt;3&lt;/mn&gt;&lt;mn&gt;4&lt;/mn&gt;&lt;/mfrac&gt;&lt;mo&gt;×&lt;/mo&gt;&lt;mfrac&gt;&lt;mn&gt;2&lt;/mn&gt;&lt;mn&gt;3&lt;/mn&gt;&lt;/mfrac&gt;&lt;mo&gt;=&lt;/mo&gt;&lt;mfrac&gt;&lt;mn&gt;6&lt;/mn&gt;&lt;mn&gt;12&lt;/mn&gt;&lt;/mfrac&gt;&lt;mtext&gt;&lt;/mtext&gt;&lt;msup&gt;&lt;mtext&gt;m&lt;/mtext&gt;&lt;mn&gt;2&lt;/mn&gt;&lt;/msup&gt;&lt;mtext&gt;&lt;/mtext&gt;&lt;mo&gt;=&lt;/mo&gt;&lt;mfrac&gt;&lt;mn&gt;1&lt;/mn&gt;&lt;mn&gt;2&lt;/mn&gt;&lt;/mfrac&gt;&lt;mtext&gt;&lt;/mtext&gt;&lt;msup&gt;&lt;mtext&gt;m&lt;/mtext&gt;&lt;mn&gt;2&lt;/mn&gt;&lt;/msup&gt;&lt;mtext&gt;&lt;/mtext&gt;&lt;/math&gt;" id="914" name="Google Shape;914;p75" title="three fourths times two thirds equals 6 over 12 m to the second power equals one half m to the second power"/>
          <p:cNvPicPr preferRelativeResize="0"/>
          <p:nvPr/>
        </p:nvPicPr>
        <p:blipFill rotWithShape="1">
          <a:blip r:embed="rId5">
            <a:alphaModFix/>
          </a:blip>
          <a:srcRect b="0" l="75759" r="13411" t="0"/>
          <a:stretch/>
        </p:blipFill>
        <p:spPr>
          <a:xfrm>
            <a:off x="3525016" y="3066929"/>
            <a:ext cx="335544" cy="61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5" name="Google Shape;915;p75"/>
          <p:cNvCxnSpPr/>
          <p:nvPr/>
        </p:nvCxnSpPr>
        <p:spPr>
          <a:xfrm>
            <a:off x="1024025" y="1620000"/>
            <a:ext cx="0" cy="167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16" name="Google Shape;916;p75"/>
          <p:cNvCxnSpPr/>
          <p:nvPr/>
        </p:nvCxnSpPr>
        <p:spPr>
          <a:xfrm>
            <a:off x="1134150" y="1497525"/>
            <a:ext cx="149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" name="Google Shape;921;p76"/>
          <p:cNvGraphicFramePr/>
          <p:nvPr/>
        </p:nvGraphicFramePr>
        <p:xfrm>
          <a:off x="1136542" y="1619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744000"/>
                <a:gridCol w="744000"/>
                <a:gridCol w="744000"/>
              </a:tblGrid>
              <a:tr h="44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4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4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4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4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22" name="Google Shape;922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the area model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2}{3}\end{array}&quot;&gt;&lt;mtable columnalign=&quot;left&quot; columnspacing=&quot;1em&quot; rowspacing=&quot;4pt&quot;&gt;&lt;mtr&gt;&lt;mtd&gt;&lt;mfrac&gt;&lt;mn&gt;2&lt;/mn&gt;&lt;mn&gt;3&lt;/mn&gt;&lt;/mfrac&gt;&lt;/mtd&gt;&lt;/mtr&gt;&lt;/mtable&gt;&lt;/math&gt;" id="923" name="Google Shape;923;p76" title="1 lines Line 1: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0195" y="914037"/>
            <a:ext cx="178064" cy="49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4}{5}\end{array}&quot;&gt;&lt;mtable columnalign=&quot;left&quot; columnspacing=&quot;1em&quot; rowspacing=&quot;4pt&quot;&gt;&lt;mtr&gt;&lt;mtd&gt;&lt;mfrac&gt;&lt;mn&gt;4&lt;/mn&gt;&lt;mn&gt;5&lt;/mn&gt;&lt;/mfrac&gt;&lt;/mtd&gt;&lt;/mtr&gt;&lt;/mtable&gt;&lt;/math&gt;" id="924" name="Google Shape;924;p76" title="1 lines Line 1: 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391" y="2234412"/>
            <a:ext cx="179046" cy="490719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76"/>
          <p:cNvSpPr txBox="1"/>
          <p:nvPr/>
        </p:nvSpPr>
        <p:spPr>
          <a:xfrm>
            <a:off x="3659425" y="1648975"/>
            <a:ext cx="512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shape is split into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equal parts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6"/>
          <p:cNvSpPr txBox="1"/>
          <p:nvPr/>
        </p:nvSpPr>
        <p:spPr>
          <a:xfrm>
            <a:off x="4007650" y="3211025"/>
            <a:ext cx="410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the square is 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6"/>
          <p:cNvSpPr txBox="1"/>
          <p:nvPr/>
        </p:nvSpPr>
        <p:spPr>
          <a:xfrm>
            <a:off x="3661713" y="2430000"/>
            <a:ext cx="403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equal parts are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6"/>
          <p:cNvSpPr txBox="1"/>
          <p:nvPr>
            <p:ph idx="1" type="body"/>
          </p:nvPr>
        </p:nvSpPr>
        <p:spPr>
          <a:xfrm>
            <a:off x="2005573" y="908538"/>
            <a:ext cx="59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9" name="Google Shape;929;p76"/>
          <p:cNvSpPr txBox="1"/>
          <p:nvPr>
            <p:ph idx="1" type="body"/>
          </p:nvPr>
        </p:nvSpPr>
        <p:spPr>
          <a:xfrm>
            <a:off x="710073" y="2234400"/>
            <a:ext cx="59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5}\times\frac{2}{3}=\frac{8}{15}\ \text{m}^2\ &quot;&gt;&lt;mfrac&gt;&lt;mn&gt;4&lt;/mn&gt;&lt;mn&gt;5&lt;/mn&gt;&lt;/mfrac&gt;&lt;mo&gt;×&lt;/mo&gt;&lt;mfrac&gt;&lt;mn&gt;2&lt;/mn&gt;&lt;mn&gt;3&lt;/mn&gt;&lt;/mfrac&gt;&lt;mo&gt;=&lt;/mo&gt;&lt;mfrac&gt;&lt;mn&gt;8&lt;/mn&gt;&lt;mn&gt;15&lt;/mn&gt;&lt;/mfrac&gt;&lt;mtext&gt;&lt;/mtext&gt;&lt;msup&gt;&lt;mtext&gt;m&lt;/mtext&gt;&lt;mn&gt;2&lt;/mn&gt;&lt;/msup&gt;&lt;mtext&gt;&lt;/mtext&gt;&lt;/math&gt;" id="930" name="Google Shape;930;p76" title="four fifths times two thirds equals 8 over 15 m to the second power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93980" y="3992050"/>
            <a:ext cx="2383634" cy="74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times\frac{2}{3}=\frac{8}{15}\ \text{m}^2\ &quot;&gt;&lt;mfrac&gt;&lt;mn&gt;4&lt;/mn&gt;&lt;mn&gt;5&lt;/mn&gt;&lt;/mfrac&gt;&lt;mo&gt;×&lt;/mo&gt;&lt;mfrac&gt;&lt;mn&gt;2&lt;/mn&gt;&lt;mn&gt;3&lt;/mn&gt;&lt;/mfrac&gt;&lt;mo&gt;=&lt;/mo&gt;&lt;mfrac&gt;&lt;mn&gt;8&lt;/mn&gt;&lt;mn&gt;15&lt;/mn&gt;&lt;/mfrac&gt;&lt;mtext&gt;&lt;/mtext&gt;&lt;msup&gt;&lt;mtext&gt;m&lt;/mtext&gt;&lt;mn&gt;2&lt;/mn&gt;&lt;/msup&gt;&lt;mtext&gt;&lt;/mtext&gt;&lt;/math&gt;" id="931" name="Google Shape;931;p76" title="four fifths times two thirds equals 8 over 15 m to the second power"/>
          <p:cNvPicPr preferRelativeResize="0"/>
          <p:nvPr/>
        </p:nvPicPr>
        <p:blipFill rotWithShape="1">
          <a:blip r:embed="rId5">
            <a:alphaModFix/>
          </a:blip>
          <a:srcRect b="0" l="58716" r="18805" t="0"/>
          <a:stretch/>
        </p:blipFill>
        <p:spPr>
          <a:xfrm>
            <a:off x="3593550" y="3091725"/>
            <a:ext cx="414100" cy="577300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76"/>
          <p:cNvSpPr/>
          <p:nvPr/>
        </p:nvSpPr>
        <p:spPr>
          <a:xfrm>
            <a:off x="1534975" y="2089358"/>
            <a:ext cx="721200" cy="7944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5}\times\frac{2}{3}=\frac{8}{15}\ \text{m}^2\ &quot;&gt;&lt;mfrac&gt;&lt;mn&gt;4&lt;/mn&gt;&lt;mn&gt;5&lt;/mn&gt;&lt;/mfrac&gt;&lt;mo&gt;×&lt;/mo&gt;&lt;mfrac&gt;&lt;mn&gt;2&lt;/mn&gt;&lt;mn&gt;3&lt;/mn&gt;&lt;/mfrac&gt;&lt;mo&gt;=&lt;/mo&gt;&lt;mfrac&gt;&lt;mn&gt;8&lt;/mn&gt;&lt;mn&gt;15&lt;/mn&gt;&lt;/mfrac&gt;&lt;mtext&gt;&lt;/mtext&gt;&lt;msup&gt;&lt;mtext&gt;m&lt;/mtext&gt;&lt;mn&gt;2&lt;/mn&gt;&lt;/msup&gt;&lt;mtext&gt;&lt;/mtext&gt;&lt;/math&gt;" id="933" name="Google Shape;933;p76" title="four fifths times two thirds equals 8 over 15 m to the second power"/>
          <p:cNvPicPr preferRelativeResize="0"/>
          <p:nvPr/>
        </p:nvPicPr>
        <p:blipFill rotWithShape="1">
          <a:blip r:embed="rId5">
            <a:alphaModFix/>
          </a:blip>
          <a:srcRect b="0" l="57940" r="0" t="0"/>
          <a:stretch/>
        </p:blipFill>
        <p:spPr>
          <a:xfrm>
            <a:off x="1508150" y="2211091"/>
            <a:ext cx="721200" cy="5373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4" name="Google Shape;934;p76"/>
          <p:cNvCxnSpPr/>
          <p:nvPr/>
        </p:nvCxnSpPr>
        <p:spPr>
          <a:xfrm>
            <a:off x="1024025" y="1620000"/>
            <a:ext cx="0" cy="167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35" name="Google Shape;935;p76"/>
          <p:cNvCxnSpPr/>
          <p:nvPr/>
        </p:nvCxnSpPr>
        <p:spPr>
          <a:xfrm>
            <a:off x="1134150" y="1497525"/>
            <a:ext cx="149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0" name="Google Shape;940;p77"/>
          <p:cNvGraphicFramePr/>
          <p:nvPr/>
        </p:nvGraphicFramePr>
        <p:xfrm>
          <a:off x="1136550" y="161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558000"/>
                <a:gridCol w="558000"/>
                <a:gridCol w="558000"/>
                <a:gridCol w="558000"/>
              </a:tblGrid>
              <a:tr h="44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4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4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4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4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41" name="Google Shape;941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the area model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3}{5}\end{array}&quot;&gt;&lt;mtable columnalign=&quot;left&quot; columnspacing=&quot;1em&quot; rowspacing=&quot;4pt&quot;&gt;&lt;mtr&gt;&lt;mtd&gt;&lt;mfrac&gt;&lt;mn&gt;3&lt;/mn&gt;&lt;mn&gt;5&lt;/mn&gt;&lt;/mfrac&gt;&lt;/mtd&gt;&lt;/mtr&gt;&lt;/mtable&gt;&lt;/math&gt;" id="942" name="Google Shape;942;p77" title="1 lines Line 1: 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829" y="1987675"/>
            <a:ext cx="179050" cy="497361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77"/>
          <p:cNvSpPr txBox="1"/>
          <p:nvPr/>
        </p:nvSpPr>
        <p:spPr>
          <a:xfrm>
            <a:off x="3659425" y="1648975"/>
            <a:ext cx="512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shape is split into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equal parts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7"/>
          <p:cNvSpPr txBox="1"/>
          <p:nvPr/>
        </p:nvSpPr>
        <p:spPr>
          <a:xfrm>
            <a:off x="4007650" y="3211025"/>
            <a:ext cx="410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the square is 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7"/>
          <p:cNvSpPr txBox="1"/>
          <p:nvPr/>
        </p:nvSpPr>
        <p:spPr>
          <a:xfrm>
            <a:off x="3661713" y="2430000"/>
            <a:ext cx="403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equal parts are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6" name="Google Shape;946;p77"/>
          <p:cNvCxnSpPr/>
          <p:nvPr/>
        </p:nvCxnSpPr>
        <p:spPr>
          <a:xfrm>
            <a:off x="1134150" y="1497525"/>
            <a:ext cx="22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47" name="Google Shape;947;p77"/>
          <p:cNvSpPr txBox="1"/>
          <p:nvPr>
            <p:ph idx="1" type="body"/>
          </p:nvPr>
        </p:nvSpPr>
        <p:spPr>
          <a:xfrm>
            <a:off x="1939323" y="1022138"/>
            <a:ext cx="59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8" name="Google Shape;948;p77"/>
          <p:cNvSpPr txBox="1"/>
          <p:nvPr>
            <p:ph idx="1" type="body"/>
          </p:nvPr>
        </p:nvSpPr>
        <p:spPr>
          <a:xfrm>
            <a:off x="725973" y="1999650"/>
            <a:ext cx="59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49" name="Google Shape;949;p77"/>
          <p:cNvCxnSpPr/>
          <p:nvPr/>
        </p:nvCxnSpPr>
        <p:spPr>
          <a:xfrm>
            <a:off x="1024025" y="1620000"/>
            <a:ext cx="0" cy="134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12}{20}&quot;&gt;&lt;mfrac&gt;&lt;mn&gt;12&lt;/mn&gt;&lt;mn&gt;20&lt;/mn&gt;&lt;/mfrac&gt;&lt;/math&gt;" id="950" name="Google Shape;950;p77" title="12 over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1425" y="3023149"/>
            <a:ext cx="33102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times1=\frac{3}{5}\ \text{m}^2\ &quot;&gt;&lt;mfrac&gt;&lt;mn&gt;3&lt;/mn&gt;&lt;mn&gt;5&lt;/mn&gt;&lt;/mfrac&gt;&lt;mo&gt;×&lt;/mo&gt;&lt;mn&gt;1&lt;/mn&gt;&lt;mo&gt;=&lt;/mo&gt;&lt;mfrac&gt;&lt;mn&gt;3&lt;/mn&gt;&lt;mn&gt;5&lt;/mn&gt;&lt;/mfrac&gt;&lt;mtext&gt;&lt;/mtext&gt;&lt;msup&gt;&lt;mtext&gt;m&lt;/mtext&gt;&lt;mn&gt;2&lt;/mn&gt;&lt;/msup&gt;&lt;mtext&gt;&lt;/mtext&gt;&lt;/math&gt;" id="951" name="Google Shape;951;p77" title="three fifths times 1 equals three fifths m to the second power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93212" y="3992050"/>
            <a:ext cx="2080389" cy="74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times1=\frac{3}{5}\ \text{m}^2\ &quot;&gt;&lt;mfrac&gt;&lt;mn&gt;3&lt;/mn&gt;&lt;mn&gt;5&lt;/mn&gt;&lt;/mfrac&gt;&lt;mo&gt;×&lt;/mo&gt;&lt;mn&gt;1&lt;/mn&gt;&lt;mo&gt;=&lt;/mo&gt;&lt;mfrac&gt;&lt;mn&gt;3&lt;/mn&gt;&lt;mn&gt;5&lt;/mn&gt;&lt;/mfrac&gt;&lt;mtext&gt;&lt;/mtext&gt;&lt;msup&gt;&lt;mtext&gt;m&lt;/mtext&gt;&lt;mn&gt;2&lt;/mn&gt;&lt;/msup&gt;&lt;mtext&gt;&lt;/mtext&gt;&lt;/math&gt;" id="952" name="Google Shape;952;p77" title="three fifths times 1 equals three fifths m to the second power"/>
          <p:cNvPicPr preferRelativeResize="0"/>
          <p:nvPr/>
        </p:nvPicPr>
        <p:blipFill rotWithShape="1">
          <a:blip r:embed="rId5">
            <a:alphaModFix/>
          </a:blip>
          <a:srcRect b="0" l="61290" r="22797" t="0"/>
          <a:stretch/>
        </p:blipFill>
        <p:spPr>
          <a:xfrm>
            <a:off x="3651000" y="3023150"/>
            <a:ext cx="271884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53" name="Google Shape;953;p77"/>
          <p:cNvGraphicFramePr/>
          <p:nvPr/>
        </p:nvGraphicFramePr>
        <p:xfrm>
          <a:off x="1133092" y="1619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558000"/>
                <a:gridCol w="558000"/>
                <a:gridCol w="558000"/>
                <a:gridCol w="558000"/>
              </a:tblGrid>
              <a:tr h="446400"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  <a:tc hMerge="1"/>
              </a:tr>
              <a:tr h="446400"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  <a:tc hMerge="1"/>
              </a:tr>
              <a:tr h="446400"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  <a:tc hMerge="1"/>
              </a:tr>
              <a:tr h="446400"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446400"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sp>
        <p:nvSpPr>
          <p:cNvPr id="954" name="Google Shape;954;p77"/>
          <p:cNvSpPr/>
          <p:nvPr/>
        </p:nvSpPr>
        <p:spPr>
          <a:xfrm>
            <a:off x="1968300" y="1942800"/>
            <a:ext cx="561600" cy="6585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\times1=\frac{3}{5}\ \text{m}^2\ &quot;&gt;&lt;mfrac&gt;&lt;mn&gt;3&lt;/mn&gt;&lt;mn&gt;5&lt;/mn&gt;&lt;/mfrac&gt;&lt;mo&gt;×&lt;/mo&gt;&lt;mn&gt;1&lt;/mn&gt;&lt;mo&gt;=&lt;/mo&gt;&lt;mfrac&gt;&lt;mn&gt;3&lt;/mn&gt;&lt;mn&gt;5&lt;/mn&gt;&lt;/mfrac&gt;&lt;mtext&gt;&lt;/mtext&gt;&lt;msup&gt;&lt;mtext&gt;m&lt;/mtext&gt;&lt;mn&gt;2&lt;/mn&gt;&lt;/msup&gt;&lt;mtext&gt;&lt;/mtext&gt;&lt;/math&gt;" id="955" name="Google Shape;955;p77" title="three fifths times 1 equals three fifths m to the second power"/>
          <p:cNvPicPr preferRelativeResize="0"/>
          <p:nvPr/>
        </p:nvPicPr>
        <p:blipFill rotWithShape="1">
          <a:blip r:embed="rId5">
            <a:alphaModFix/>
          </a:blip>
          <a:srcRect b="0" l="61291" r="0" t="0"/>
          <a:stretch/>
        </p:blipFill>
        <p:spPr>
          <a:xfrm>
            <a:off x="1956575" y="2011600"/>
            <a:ext cx="561600" cy="5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78"/>
          <p:cNvSpPr txBox="1"/>
          <p:nvPr/>
        </p:nvSpPr>
        <p:spPr>
          <a:xfrm>
            <a:off x="6660775" y="1648975"/>
            <a:ext cx="2883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30 equal parts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6}\times\frac{2}{5}=\frac{10}{30}=\frac{1}{3}&quot;&gt;&lt;mfrac&gt;&lt;mn&gt;5&lt;/mn&gt;&lt;mn&gt;6&lt;/mn&gt;&lt;/mfrac&gt;&lt;mo&gt;×&lt;/mo&gt;&lt;mfrac&gt;&lt;mn&gt;2&lt;/mn&gt;&lt;mn&gt;5&lt;/mn&gt;&lt;/mfrac&gt;&lt;mo&gt;=&lt;/mo&gt;&lt;mfrac&gt;&lt;mn&gt;10&lt;/mn&gt;&lt;mn&gt;30&lt;/mn&gt;&lt;/mfrac&gt;&lt;mo&gt;=&lt;/mo&gt;&lt;mfrac&gt;&lt;mn&gt;1&lt;/mn&gt;&lt;mn&gt;3&lt;/mn&gt;&lt;/mfrac&gt;&lt;/math&gt;" id="961" name="Google Shape;961;p78" title="five sixths times two fifths equals 10 over 30 equals one third"/>
          <p:cNvPicPr preferRelativeResize="0"/>
          <p:nvPr/>
        </p:nvPicPr>
        <p:blipFill rotWithShape="1">
          <a:blip r:embed="rId3">
            <a:alphaModFix/>
          </a:blip>
          <a:srcRect b="0" l="52667" r="25837" t="0"/>
          <a:stretch/>
        </p:blipFill>
        <p:spPr>
          <a:xfrm>
            <a:off x="3497113" y="3023144"/>
            <a:ext cx="529115" cy="710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times\frac{2}{5}=\frac{10}{30}=\frac{1}{3}&quot;&gt;&lt;mfrac&gt;&lt;mn&gt;5&lt;/mn&gt;&lt;mn&gt;6&lt;/mn&gt;&lt;/mfrac&gt;&lt;mo&gt;×&lt;/mo&gt;&lt;mfrac&gt;&lt;mn&gt;2&lt;/mn&gt;&lt;mn&gt;5&lt;/mn&gt;&lt;/mfrac&gt;&lt;mo&gt;=&lt;/mo&gt;&lt;mfrac&gt;&lt;mn&gt;10&lt;/mn&gt;&lt;mn&gt;30&lt;/mn&gt;&lt;/mfrac&gt;&lt;mo&gt;=&lt;/mo&gt;&lt;mfrac&gt;&lt;mn&gt;1&lt;/mn&gt;&lt;mn&gt;3&lt;/mn&gt;&lt;/mfrac&gt;&lt;/math&gt;" id="962" name="Google Shape;962;p78" title="five sixths times two fifths equals 10 over 30 equal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3050" y="3950650"/>
            <a:ext cx="2773150" cy="8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78"/>
          <p:cNvSpPr txBox="1"/>
          <p:nvPr>
            <p:ph idx="1" type="body"/>
          </p:nvPr>
        </p:nvSpPr>
        <p:spPr>
          <a:xfrm>
            <a:off x="324000" y="593408"/>
            <a:ext cx="84960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Fill in the blanks:</a:t>
            </a:r>
            <a:endParaRPr sz="2100"/>
          </a:p>
        </p:txBody>
      </p:sp>
      <p:sp>
        <p:nvSpPr>
          <p:cNvPr id="964" name="Google Shape;964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the area model</a:t>
            </a:r>
            <a:endParaRPr/>
          </a:p>
        </p:txBody>
      </p:sp>
      <p:sp>
        <p:nvSpPr>
          <p:cNvPr id="965" name="Google Shape;965;p78"/>
          <p:cNvSpPr txBox="1"/>
          <p:nvPr/>
        </p:nvSpPr>
        <p:spPr>
          <a:xfrm>
            <a:off x="3659425" y="1648975"/>
            <a:ext cx="512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8"/>
          <p:cNvSpPr txBox="1"/>
          <p:nvPr/>
        </p:nvSpPr>
        <p:spPr>
          <a:xfrm>
            <a:off x="4007650" y="3211025"/>
            <a:ext cx="410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the square is 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8"/>
          <p:cNvSpPr txBox="1"/>
          <p:nvPr/>
        </p:nvSpPr>
        <p:spPr>
          <a:xfrm>
            <a:off x="3661713" y="2430000"/>
            <a:ext cx="403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22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 equal parts are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8"/>
          <p:cNvSpPr/>
          <p:nvPr/>
        </p:nvSpPr>
        <p:spPr>
          <a:xfrm>
            <a:off x="6613775" y="1607575"/>
            <a:ext cx="1783800" cy="4215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9" name="Google Shape;969;p78"/>
          <p:cNvCxnSpPr/>
          <p:nvPr/>
        </p:nvCxnSpPr>
        <p:spPr>
          <a:xfrm>
            <a:off x="6613775" y="1979300"/>
            <a:ext cx="1766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70" name="Google Shape;970;p78"/>
          <p:cNvGrpSpPr/>
          <p:nvPr/>
        </p:nvGrpSpPr>
        <p:grpSpPr>
          <a:xfrm>
            <a:off x="3659263" y="2388600"/>
            <a:ext cx="2152940" cy="421500"/>
            <a:chOff x="3659425" y="2769588"/>
            <a:chExt cx="2485500" cy="421500"/>
          </a:xfrm>
        </p:grpSpPr>
        <p:sp>
          <p:nvSpPr>
            <p:cNvPr id="971" name="Google Shape;971;p78"/>
            <p:cNvSpPr/>
            <p:nvPr/>
          </p:nvSpPr>
          <p:spPr>
            <a:xfrm>
              <a:off x="3659425" y="2769588"/>
              <a:ext cx="2485500" cy="421500"/>
            </a:xfrm>
            <a:prstGeom prst="roundRect">
              <a:avLst>
                <a:gd fmla="val 16667" name="adj"/>
              </a:avLst>
            </a:prstGeom>
            <a:solidFill>
              <a:srgbClr val="F3EE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72" name="Google Shape;972;p78"/>
            <p:cNvCxnSpPr/>
            <p:nvPr/>
          </p:nvCxnSpPr>
          <p:spPr>
            <a:xfrm>
              <a:off x="3659425" y="3141313"/>
              <a:ext cx="24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973" name="Google Shape;973;p78"/>
          <p:cNvGraphicFramePr/>
          <p:nvPr/>
        </p:nvGraphicFramePr>
        <p:xfrm>
          <a:off x="1140225" y="161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446400"/>
                <a:gridCol w="446400"/>
                <a:gridCol w="446400"/>
                <a:gridCol w="446400"/>
                <a:gridCol w="446400"/>
              </a:tblGrid>
              <a:tr h="37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974" name="Google Shape;974;p78"/>
          <p:cNvCxnSpPr/>
          <p:nvPr/>
        </p:nvCxnSpPr>
        <p:spPr>
          <a:xfrm>
            <a:off x="1134150" y="1497525"/>
            <a:ext cx="901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75" name="Google Shape;975;p78"/>
          <p:cNvSpPr txBox="1"/>
          <p:nvPr>
            <p:ph idx="1" type="body"/>
          </p:nvPr>
        </p:nvSpPr>
        <p:spPr>
          <a:xfrm>
            <a:off x="1684798" y="1054388"/>
            <a:ext cx="59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6" name="Google Shape;976;p78"/>
          <p:cNvSpPr txBox="1"/>
          <p:nvPr>
            <p:ph idx="1" type="body"/>
          </p:nvPr>
        </p:nvSpPr>
        <p:spPr>
          <a:xfrm>
            <a:off x="699173" y="2327975"/>
            <a:ext cx="59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77" name="Google Shape;977;p78"/>
          <p:cNvCxnSpPr/>
          <p:nvPr/>
        </p:nvCxnSpPr>
        <p:spPr>
          <a:xfrm>
            <a:off x="1024025" y="1620000"/>
            <a:ext cx="0" cy="186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78" name="Google Shape;978;p78"/>
          <p:cNvSpPr/>
          <p:nvPr/>
        </p:nvSpPr>
        <p:spPr>
          <a:xfrm>
            <a:off x="324000" y="2254300"/>
            <a:ext cx="336600" cy="5247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8"/>
          <p:cNvSpPr/>
          <p:nvPr/>
        </p:nvSpPr>
        <p:spPr>
          <a:xfrm>
            <a:off x="1295275" y="905875"/>
            <a:ext cx="336600" cy="5247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8"/>
          <p:cNvSpPr/>
          <p:nvPr/>
        </p:nvSpPr>
        <p:spPr>
          <a:xfrm>
            <a:off x="4186850" y="3938100"/>
            <a:ext cx="385200" cy="8010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8"/>
          <p:cNvSpPr/>
          <p:nvPr/>
        </p:nvSpPr>
        <p:spPr>
          <a:xfrm>
            <a:off x="4915225" y="3938100"/>
            <a:ext cx="385200" cy="8010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8"/>
          <p:cNvSpPr/>
          <p:nvPr/>
        </p:nvSpPr>
        <p:spPr>
          <a:xfrm>
            <a:off x="5745500" y="3938100"/>
            <a:ext cx="562500" cy="8010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8"/>
          <p:cNvSpPr/>
          <p:nvPr/>
        </p:nvSpPr>
        <p:spPr>
          <a:xfrm>
            <a:off x="6733775" y="3938100"/>
            <a:ext cx="385200" cy="8010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8"/>
          <p:cNvSpPr/>
          <p:nvPr/>
        </p:nvSpPr>
        <p:spPr>
          <a:xfrm>
            <a:off x="3569075" y="2979875"/>
            <a:ext cx="385200" cy="8010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8"/>
          <p:cNvSpPr/>
          <p:nvPr/>
        </p:nvSpPr>
        <p:spPr>
          <a:xfrm>
            <a:off x="1211450" y="2171250"/>
            <a:ext cx="786900" cy="8010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6}\times\frac{2}{5}=\frac{10}{30}=\frac{1}{3}&quot;&gt;&lt;mfrac&gt;&lt;mn&gt;5&lt;/mn&gt;&lt;mn&gt;6&lt;/mn&gt;&lt;/mfrac&gt;&lt;mo&gt;×&lt;/mo&gt;&lt;mfrac&gt;&lt;mn&gt;2&lt;/mn&gt;&lt;mn&gt;5&lt;/mn&gt;&lt;/mfrac&gt;&lt;mo&gt;=&lt;/mo&gt;&lt;mfrac&gt;&lt;mn&gt;10&lt;/mn&gt;&lt;mn&gt;30&lt;/mn&gt;&lt;/mfrac&gt;&lt;mo&gt;=&lt;/mo&gt;&lt;mfrac&gt;&lt;mn&gt;1&lt;/mn&gt;&lt;mn&gt;3&lt;/mn&gt;&lt;/mfrac&gt;&lt;/math&gt;" id="986" name="Google Shape;986;p78" title="five sixths times two fifths equals 10 over 30 equals one third"/>
          <p:cNvPicPr preferRelativeResize="0"/>
          <p:nvPr/>
        </p:nvPicPr>
        <p:blipFill rotWithShape="1">
          <a:blip r:embed="rId3">
            <a:alphaModFix/>
          </a:blip>
          <a:srcRect b="0" l="0" r="89380" t="0"/>
          <a:stretch/>
        </p:blipFill>
        <p:spPr>
          <a:xfrm>
            <a:off x="405594" y="2275828"/>
            <a:ext cx="178284" cy="4849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times\frac{2}{5}=\frac{10}{30}=\frac{1}{3}&quot;&gt;&lt;mfrac&gt;&lt;mn&gt;5&lt;/mn&gt;&lt;mn&gt;6&lt;/mn&gt;&lt;/mfrac&gt;&lt;mo&gt;×&lt;/mo&gt;&lt;mfrac&gt;&lt;mn&gt;2&lt;/mn&gt;&lt;mn&gt;5&lt;/mn&gt;&lt;/mfrac&gt;&lt;mo&gt;=&lt;/mo&gt;&lt;mfrac&gt;&lt;mn&gt;10&lt;/mn&gt;&lt;mn&gt;30&lt;/mn&gt;&lt;/mfrac&gt;&lt;mo&gt;=&lt;/mo&gt;&lt;mfrac&gt;&lt;mn&gt;1&lt;/mn&gt;&lt;mn&gt;3&lt;/mn&gt;&lt;/mfrac&gt;&lt;/math&gt;" id="987" name="Google Shape;987;p78" title="five sixths times two fifths equals 10 over 30 equals one third"/>
          <p:cNvPicPr preferRelativeResize="0"/>
          <p:nvPr/>
        </p:nvPicPr>
        <p:blipFill rotWithShape="1">
          <a:blip r:embed="rId3">
            <a:alphaModFix/>
          </a:blip>
          <a:srcRect b="0" l="24596" r="61512" t="0"/>
          <a:stretch/>
        </p:blipFill>
        <p:spPr>
          <a:xfrm>
            <a:off x="1346984" y="925775"/>
            <a:ext cx="233191" cy="4849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times\frac{2}{5}=\frac{10}{30}=\frac{1}{3}&quot;&gt;&lt;mfrac&gt;&lt;mn&gt;5&lt;/mn&gt;&lt;mn&gt;6&lt;/mn&gt;&lt;/mfrac&gt;&lt;mo&gt;×&lt;/mo&gt;&lt;mfrac&gt;&lt;mn&gt;2&lt;/mn&gt;&lt;mn&gt;5&lt;/mn&gt;&lt;/mfrac&gt;&lt;mo&gt;=&lt;/mo&gt;&lt;mfrac&gt;&lt;mn&gt;10&lt;/mn&gt;&lt;mn&gt;30&lt;/mn&gt;&lt;/mfrac&gt;&lt;mo&gt;=&lt;/mo&gt;&lt;mfrac&gt;&lt;mn&gt;1&lt;/mn&gt;&lt;mn&gt;3&lt;/mn&gt;&lt;/mfrac&gt;&lt;/math&gt;" id="988" name="Google Shape;988;p78" title="five sixths times two fifths equals 10 over 30 equals one third"/>
          <p:cNvPicPr preferRelativeResize="0"/>
          <p:nvPr/>
        </p:nvPicPr>
        <p:blipFill rotWithShape="1">
          <a:blip r:embed="rId3">
            <a:alphaModFix/>
          </a:blip>
          <a:srcRect b="0" l="89380" r="0" t="0"/>
          <a:stretch/>
        </p:blipFill>
        <p:spPr>
          <a:xfrm>
            <a:off x="3630971" y="3023150"/>
            <a:ext cx="261406" cy="710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times\frac{2}{5}=\frac{10}{30}\ \text{m}^2\ \frac{1}{3}\ \text{m}^2&quot;&gt;&lt;mfrac&gt;&lt;mn&gt;5&lt;/mn&gt;&lt;mn&gt;6&lt;/mn&gt;&lt;/mfrac&gt;&lt;mo&gt;×&lt;/mo&gt;&lt;mfrac&gt;&lt;mn&gt;2&lt;/mn&gt;&lt;mn&gt;5&lt;/mn&gt;&lt;/mfrac&gt;&lt;mo&gt;=&lt;/mo&gt;&lt;mfrac&gt;&lt;mn&gt;10&lt;/mn&gt;&lt;mn&gt;30&lt;/mn&gt;&lt;/mfrac&gt;&lt;mtext&gt;&lt;/mtext&gt;&lt;msup&gt;&lt;mtext&gt;m&lt;/mtext&gt;&lt;mn&gt;2&lt;/mn&gt;&lt;/msup&gt;&lt;mtext&gt;&lt;/mtext&gt;&lt;mfrac&gt;&lt;mn&gt;1&lt;/mn&gt;&lt;mn&gt;3&lt;/mn&gt;&lt;/mfrac&gt;&lt;mtext&gt;&lt;/mtext&gt;&lt;msup&gt;&lt;mtext&gt;m&lt;/mtext&gt;&lt;mn&gt;2&lt;/mn&gt;&lt;/msup&gt;&lt;/math&gt;" id="989" name="Google Shape;989;p78" title="five sixths times two fifths equals 10 over 30 m to the second power one third m to the second power"/>
          <p:cNvPicPr preferRelativeResize="0"/>
          <p:nvPr/>
        </p:nvPicPr>
        <p:blipFill rotWithShape="1">
          <a:blip r:embed="rId4">
            <a:alphaModFix/>
          </a:blip>
          <a:srcRect b="0" l="42391" r="25694" t="0"/>
          <a:stretch/>
        </p:blipFill>
        <p:spPr>
          <a:xfrm>
            <a:off x="1229912" y="2304800"/>
            <a:ext cx="749964" cy="53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times\frac{2}{5}=\frac{10}{30}\ \text{m}^2\ \frac{1}{3}\ \text{m}^2&quot;&gt;&lt;mfrac&gt;&lt;mn&gt;5&lt;/mn&gt;&lt;mn&gt;6&lt;/mn&gt;&lt;/mfrac&gt;&lt;mo&gt;×&lt;/mo&gt;&lt;mfrac&gt;&lt;mn&gt;2&lt;/mn&gt;&lt;mn&gt;5&lt;/mn&gt;&lt;/mfrac&gt;&lt;mo&gt;=&lt;/mo&gt;&lt;mfrac&gt;&lt;mn&gt;10&lt;/mn&gt;&lt;mn&gt;30&lt;/mn&gt;&lt;/mfrac&gt;&lt;mtext&gt;&lt;/mtext&gt;&lt;msup&gt;&lt;mtext&gt;m&lt;/mtext&gt;&lt;mn&gt;2&lt;/mn&gt;&lt;/msup&gt;&lt;mtext&gt;&lt;/mtext&gt;&lt;mfrac&gt;&lt;mn&gt;1&lt;/mn&gt;&lt;mn&gt;3&lt;/mn&gt;&lt;/mfrac&gt;&lt;mtext&gt;&lt;/mtext&gt;&lt;msup&gt;&lt;mtext&gt;m&lt;/mtext&gt;&lt;mn&gt;2&lt;/mn&gt;&lt;/msup&gt;&lt;/math&gt;" id="990" name="Google Shape;990;p78" title="five sixths times two fifths equals 10 over 30 m to the second power one third m to the second power"/>
          <p:cNvPicPr preferRelativeResize="0"/>
          <p:nvPr/>
        </p:nvPicPr>
        <p:blipFill rotWithShape="1">
          <a:blip r:embed="rId4">
            <a:alphaModFix/>
          </a:blip>
          <a:srcRect b="0" l="73535" r="-523" t="0"/>
          <a:stretch/>
        </p:blipFill>
        <p:spPr>
          <a:xfrm>
            <a:off x="1301176" y="2305614"/>
            <a:ext cx="634207" cy="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78"/>
          <p:cNvSpPr txBox="1"/>
          <p:nvPr/>
        </p:nvSpPr>
        <p:spPr>
          <a:xfrm>
            <a:off x="4231075" y="1648975"/>
            <a:ext cx="470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78"/>
          <p:cNvSpPr txBox="1"/>
          <p:nvPr/>
        </p:nvSpPr>
        <p:spPr>
          <a:xfrm>
            <a:off x="5119350" y="1648975"/>
            <a:ext cx="396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8"/>
          <p:cNvSpPr txBox="1"/>
          <p:nvPr/>
        </p:nvSpPr>
        <p:spPr>
          <a:xfrm>
            <a:off x="5425025" y="1648975"/>
            <a:ext cx="381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split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8"/>
          <p:cNvSpPr txBox="1"/>
          <p:nvPr/>
        </p:nvSpPr>
        <p:spPr>
          <a:xfrm>
            <a:off x="6065100" y="1648975"/>
            <a:ext cx="332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into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Exploring the area model</a:t>
            </a:r>
            <a:endParaRPr/>
          </a:p>
        </p:txBody>
      </p:sp>
      <p:sp>
        <p:nvSpPr>
          <p:cNvPr id="1000" name="Google Shape;1000;p79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Each of the large squares have an area of 1 m</a:t>
            </a:r>
            <a:r>
              <a:rPr baseline="30000" lang="en-GB" sz="1800"/>
              <a:t>2</a:t>
            </a:r>
            <a:r>
              <a:rPr lang="en-GB" sz="1800"/>
              <a:t>. For each square: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Label the dimensions of the shaded rectangle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Write the calculation represented by the area of the shaded rectangle.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Work out the area of the square that is shaded.</a:t>
            </a:r>
            <a:endParaRPr sz="1800"/>
          </a:p>
        </p:txBody>
      </p:sp>
      <p:sp>
        <p:nvSpPr>
          <p:cNvPr id="1001" name="Google Shape;1001;p79"/>
          <p:cNvSpPr txBox="1"/>
          <p:nvPr/>
        </p:nvSpPr>
        <p:spPr>
          <a:xfrm>
            <a:off x="2961850" y="3312287"/>
            <a:ext cx="313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02" name="Google Shape;1002;p79"/>
          <p:cNvGraphicFramePr/>
          <p:nvPr/>
        </p:nvGraphicFramePr>
        <p:xfrm>
          <a:off x="6017127" y="2695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336000"/>
                <a:gridCol w="336000"/>
                <a:gridCol w="336000"/>
              </a:tblGrid>
              <a:tr h="25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3" name="Google Shape;1003;p79"/>
          <p:cNvGraphicFramePr/>
          <p:nvPr/>
        </p:nvGraphicFramePr>
        <p:xfrm>
          <a:off x="7811988" y="2695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336000"/>
                <a:gridCol w="336000"/>
                <a:gridCol w="336000"/>
              </a:tblGrid>
              <a:tr h="1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4" name="Google Shape;1004;p79"/>
          <p:cNvGraphicFramePr/>
          <p:nvPr/>
        </p:nvGraphicFramePr>
        <p:xfrm>
          <a:off x="632546" y="2695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201600"/>
                <a:gridCol w="201600"/>
                <a:gridCol w="201600"/>
                <a:gridCol w="201600"/>
                <a:gridCol w="201600"/>
              </a:tblGrid>
              <a:tr h="5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5" name="Google Shape;1005;p79"/>
          <p:cNvGraphicFramePr/>
          <p:nvPr/>
        </p:nvGraphicFramePr>
        <p:xfrm>
          <a:off x="2427406" y="2695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504000"/>
                <a:gridCol w="504000"/>
              </a:tblGrid>
              <a:tr h="25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6" name="Google Shape;1006;p79"/>
          <p:cNvGraphicFramePr/>
          <p:nvPr/>
        </p:nvGraphicFramePr>
        <p:xfrm>
          <a:off x="4222267" y="2695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201600"/>
                <a:gridCol w="201600"/>
                <a:gridCol w="201600"/>
                <a:gridCol w="201600"/>
                <a:gridCol w="201600"/>
              </a:tblGrid>
              <a:tr h="33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07" name="Google Shape;1007;p79"/>
          <p:cNvCxnSpPr/>
          <p:nvPr/>
        </p:nvCxnSpPr>
        <p:spPr>
          <a:xfrm>
            <a:off x="642200" y="2624337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08" name="Google Shape;1008;p79"/>
          <p:cNvCxnSpPr/>
          <p:nvPr/>
        </p:nvCxnSpPr>
        <p:spPr>
          <a:xfrm>
            <a:off x="2427400" y="2624337"/>
            <a:ext cx="505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09" name="Google Shape;1009;p79"/>
          <p:cNvCxnSpPr/>
          <p:nvPr/>
        </p:nvCxnSpPr>
        <p:spPr>
          <a:xfrm>
            <a:off x="4190250" y="2624337"/>
            <a:ext cx="84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10" name="Google Shape;1010;p79"/>
          <p:cNvCxnSpPr/>
          <p:nvPr/>
        </p:nvCxnSpPr>
        <p:spPr>
          <a:xfrm>
            <a:off x="6004200" y="2624337"/>
            <a:ext cx="67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11" name="Google Shape;1011;p79"/>
          <p:cNvCxnSpPr/>
          <p:nvPr/>
        </p:nvCxnSpPr>
        <p:spPr>
          <a:xfrm>
            <a:off x="7812000" y="2624337"/>
            <a:ext cx="686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12" name="Google Shape;1012;p79"/>
          <p:cNvCxnSpPr/>
          <p:nvPr/>
        </p:nvCxnSpPr>
        <p:spPr>
          <a:xfrm>
            <a:off x="5946425" y="2698012"/>
            <a:ext cx="0" cy="75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13" name="Google Shape;1013;p79"/>
          <p:cNvCxnSpPr/>
          <p:nvPr/>
        </p:nvCxnSpPr>
        <p:spPr>
          <a:xfrm>
            <a:off x="566900" y="2698012"/>
            <a:ext cx="0" cy="501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14" name="Google Shape;1014;p79"/>
          <p:cNvCxnSpPr/>
          <p:nvPr/>
        </p:nvCxnSpPr>
        <p:spPr>
          <a:xfrm>
            <a:off x="2373525" y="2698012"/>
            <a:ext cx="0" cy="75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15" name="Google Shape;1015;p79"/>
          <p:cNvCxnSpPr/>
          <p:nvPr/>
        </p:nvCxnSpPr>
        <p:spPr>
          <a:xfrm>
            <a:off x="4153350" y="2698012"/>
            <a:ext cx="0" cy="33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16" name="Google Shape;1016;p79"/>
          <p:cNvCxnSpPr/>
          <p:nvPr/>
        </p:nvCxnSpPr>
        <p:spPr>
          <a:xfrm>
            <a:off x="7741450" y="2698012"/>
            <a:ext cx="0" cy="83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80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Each of the large squares have an area of 1 m</a:t>
            </a:r>
            <a:r>
              <a:rPr baseline="30000" lang="en-GB" sz="1800"/>
              <a:t>2</a:t>
            </a:r>
            <a:r>
              <a:rPr lang="en-GB" sz="1800"/>
              <a:t>. For each square: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Label the dimensions of the shaded rectangle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Write the calculation represented by the area of the shaded rectangle.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Work out the area of the square that is shaded.</a:t>
            </a:r>
            <a:endParaRPr sz="1800"/>
          </a:p>
        </p:txBody>
      </p:sp>
      <p:sp>
        <p:nvSpPr>
          <p:cNvPr id="1022" name="Google Shape;1022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Exploring the area model</a:t>
            </a:r>
            <a:endParaRPr/>
          </a:p>
        </p:txBody>
      </p:sp>
      <p:sp>
        <p:nvSpPr>
          <p:cNvPr id="1023" name="Google Shape;1023;p80"/>
          <p:cNvSpPr txBox="1"/>
          <p:nvPr/>
        </p:nvSpPr>
        <p:spPr>
          <a:xfrm>
            <a:off x="2961850" y="3312287"/>
            <a:ext cx="313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24" name="Google Shape;1024;p80"/>
          <p:cNvGraphicFramePr/>
          <p:nvPr/>
        </p:nvGraphicFramePr>
        <p:xfrm>
          <a:off x="6017127" y="2695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336000"/>
                <a:gridCol w="336000"/>
                <a:gridCol w="336000"/>
              </a:tblGrid>
              <a:tr h="25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5" name="Google Shape;1025;p80"/>
          <p:cNvGraphicFramePr/>
          <p:nvPr/>
        </p:nvGraphicFramePr>
        <p:xfrm>
          <a:off x="7811988" y="2695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336000"/>
                <a:gridCol w="336000"/>
                <a:gridCol w="336000"/>
              </a:tblGrid>
              <a:tr h="1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6" name="Google Shape;1026;p80"/>
          <p:cNvGraphicFramePr/>
          <p:nvPr/>
        </p:nvGraphicFramePr>
        <p:xfrm>
          <a:off x="632546" y="2695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201600"/>
                <a:gridCol w="201600"/>
                <a:gridCol w="201600"/>
                <a:gridCol w="201600"/>
                <a:gridCol w="201600"/>
              </a:tblGrid>
              <a:tr h="5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7" name="Google Shape;1027;p80"/>
          <p:cNvGraphicFramePr/>
          <p:nvPr/>
        </p:nvGraphicFramePr>
        <p:xfrm>
          <a:off x="2427406" y="2695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504000"/>
                <a:gridCol w="504000"/>
              </a:tblGrid>
              <a:tr h="25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8" name="Google Shape;1028;p80"/>
          <p:cNvGraphicFramePr/>
          <p:nvPr/>
        </p:nvGraphicFramePr>
        <p:xfrm>
          <a:off x="4222267" y="2695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201600"/>
                <a:gridCol w="201600"/>
                <a:gridCol w="201600"/>
                <a:gridCol w="201600"/>
                <a:gridCol w="201600"/>
              </a:tblGrid>
              <a:tr h="33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029" name="Google Shape;1029;p80"/>
          <p:cNvCxnSpPr/>
          <p:nvPr/>
        </p:nvCxnSpPr>
        <p:spPr>
          <a:xfrm>
            <a:off x="642200" y="2624337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0" name="Google Shape;1030;p80"/>
          <p:cNvCxnSpPr/>
          <p:nvPr/>
        </p:nvCxnSpPr>
        <p:spPr>
          <a:xfrm>
            <a:off x="2427400" y="2624337"/>
            <a:ext cx="505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1" name="Google Shape;1031;p80"/>
          <p:cNvCxnSpPr/>
          <p:nvPr/>
        </p:nvCxnSpPr>
        <p:spPr>
          <a:xfrm>
            <a:off x="4190250" y="2624337"/>
            <a:ext cx="84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2" name="Google Shape;1032;p80"/>
          <p:cNvCxnSpPr/>
          <p:nvPr/>
        </p:nvCxnSpPr>
        <p:spPr>
          <a:xfrm>
            <a:off x="6004200" y="2624337"/>
            <a:ext cx="67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3" name="Google Shape;1033;p80"/>
          <p:cNvCxnSpPr/>
          <p:nvPr/>
        </p:nvCxnSpPr>
        <p:spPr>
          <a:xfrm>
            <a:off x="7812000" y="2624337"/>
            <a:ext cx="686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4" name="Google Shape;1034;p80"/>
          <p:cNvCxnSpPr/>
          <p:nvPr/>
        </p:nvCxnSpPr>
        <p:spPr>
          <a:xfrm>
            <a:off x="5946425" y="2698012"/>
            <a:ext cx="0" cy="75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5" name="Google Shape;1035;p80"/>
          <p:cNvCxnSpPr/>
          <p:nvPr/>
        </p:nvCxnSpPr>
        <p:spPr>
          <a:xfrm>
            <a:off x="566900" y="2698012"/>
            <a:ext cx="0" cy="501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6" name="Google Shape;1036;p80"/>
          <p:cNvCxnSpPr/>
          <p:nvPr/>
        </p:nvCxnSpPr>
        <p:spPr>
          <a:xfrm>
            <a:off x="2373525" y="2698012"/>
            <a:ext cx="0" cy="75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7" name="Google Shape;1037;p80"/>
          <p:cNvCxnSpPr/>
          <p:nvPr/>
        </p:nvCxnSpPr>
        <p:spPr>
          <a:xfrm>
            <a:off x="4153350" y="2698012"/>
            <a:ext cx="0" cy="33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8" name="Google Shape;1038;p80"/>
          <p:cNvCxnSpPr/>
          <p:nvPr/>
        </p:nvCxnSpPr>
        <p:spPr>
          <a:xfrm>
            <a:off x="7741450" y="2698012"/>
            <a:ext cx="0" cy="83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1}{2}\times\frac{3}{5}=\frac{3}{10}\ \text{m}^2\ &quot;&gt;&lt;mfrac&gt;&lt;mn&gt;1&lt;/mn&gt;&lt;mn&gt;2&lt;/mn&gt;&lt;/mfrac&gt;&lt;mo&gt;×&lt;/mo&gt;&lt;mfrac&gt;&lt;mn&gt;3&lt;/mn&gt;&lt;mn&gt;5&lt;/mn&gt;&lt;/mfrac&gt;&lt;mo&gt;=&lt;/mo&gt;&lt;mfrac&gt;&lt;mn&gt;3&lt;/mn&gt;&lt;mn&gt;10&lt;/mn&gt;&lt;/mfrac&gt;&lt;mtext&gt;&lt;/mtext&gt;&lt;msup&gt;&lt;mtext&gt;m&lt;/mtext&gt;&lt;mn&gt;2&lt;/mn&gt;&lt;/msup&gt;&lt;mtext&gt;&lt;/mtext&gt;&lt;/math&gt;" id="1039" name="Google Shape;1039;p80" title="one half times three fifths equals three tenths m to the second power"/>
          <p:cNvPicPr preferRelativeResize="0"/>
          <p:nvPr/>
        </p:nvPicPr>
        <p:blipFill rotWithShape="1">
          <a:blip r:embed="rId3">
            <a:alphaModFix/>
          </a:blip>
          <a:srcRect b="0" l="0" r="19426" t="0"/>
          <a:stretch/>
        </p:blipFill>
        <p:spPr>
          <a:xfrm>
            <a:off x="634819" y="3796950"/>
            <a:ext cx="1074206" cy="41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frac{1}{2}=\frac{3}{8}\ \text{m}^2\ &quot;&gt;&lt;mfrac&gt;&lt;mn&gt;3&lt;/mn&gt;&lt;mn&gt;4&lt;/mn&gt;&lt;/mfrac&gt;&lt;mo&gt;×&lt;/mo&gt;&lt;mfrac&gt;&lt;mn&gt;1&lt;/mn&gt;&lt;mn&gt;2&lt;/mn&gt;&lt;/mfrac&gt;&lt;mo&gt;=&lt;/mo&gt;&lt;mfrac&gt;&lt;mn&gt;3&lt;/mn&gt;&lt;mn&gt;8&lt;/mn&gt;&lt;/mfrac&gt;&lt;mtext&gt;&lt;/mtext&gt;&lt;msup&gt;&lt;mtext&gt;m&lt;/mtext&gt;&lt;mn&gt;2&lt;/mn&gt;&lt;/msup&gt;&lt;mtext&gt;&lt;/mtext&gt;&lt;/math&gt;" id="1040" name="Google Shape;1040;p80" title="three fourths times one half equals three eighths m to the second power"/>
          <p:cNvPicPr preferRelativeResize="0"/>
          <p:nvPr/>
        </p:nvPicPr>
        <p:blipFill rotWithShape="1">
          <a:blip r:embed="rId4">
            <a:alphaModFix/>
          </a:blip>
          <a:srcRect b="0" l="0" r="20854" t="0"/>
          <a:stretch/>
        </p:blipFill>
        <p:spPr>
          <a:xfrm>
            <a:off x="2427400" y="3796950"/>
            <a:ext cx="1008000" cy="42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times\frac{4}{5}=\frac{4}{15}\ \text{m}^2\ &quot;&gt;&lt;mfrac&gt;&lt;mn&gt;1&lt;/mn&gt;&lt;mn&gt;3&lt;/mn&gt;&lt;/mfrac&gt;&lt;mo&gt;×&lt;/mo&gt;&lt;mfrac&gt;&lt;mn&gt;4&lt;/mn&gt;&lt;mn&gt;5&lt;/mn&gt;&lt;/mfrac&gt;&lt;mo&gt;=&lt;/mo&gt;&lt;mfrac&gt;&lt;mn&gt;4&lt;/mn&gt;&lt;mn&gt;15&lt;/mn&gt;&lt;/mfrac&gt;&lt;mtext&gt;&lt;/mtext&gt;&lt;msup&gt;&lt;mtext&gt;m&lt;/mtext&gt;&lt;mn&gt;2&lt;/mn&gt;&lt;/msup&gt;&lt;mtext&gt;&lt;/mtext&gt;&lt;/math&gt;" id="1041" name="Google Shape;1041;p80" title="one third times four fifths equals 4 over 15 m to the second power"/>
          <p:cNvPicPr preferRelativeResize="0"/>
          <p:nvPr/>
        </p:nvPicPr>
        <p:blipFill rotWithShape="1">
          <a:blip r:embed="rId5">
            <a:alphaModFix/>
          </a:blip>
          <a:srcRect b="0" l="0" r="19929" t="0"/>
          <a:stretch/>
        </p:blipFill>
        <p:spPr>
          <a:xfrm>
            <a:off x="4222277" y="3796950"/>
            <a:ext cx="1074200" cy="420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frac{2}{3}=\frac{6}{12}\ \text{m}^2\ =\frac{1}{2}\ \text{m}^2&quot;&gt;&lt;mfrac&gt;&lt;mn&gt;3&lt;/mn&gt;&lt;mn&gt;4&lt;/mn&gt;&lt;/mfrac&gt;&lt;mo&gt;×&lt;/mo&gt;&lt;mfrac&gt;&lt;mn&gt;2&lt;/mn&gt;&lt;mn&gt;3&lt;/mn&gt;&lt;/mfrac&gt;&lt;mo&gt;=&lt;/mo&gt;&lt;mfrac&gt;&lt;mn&gt;6&lt;/mn&gt;&lt;mn&gt;12&lt;/mn&gt;&lt;/mfrac&gt;&lt;mtext&gt;&lt;/mtext&gt;&lt;msup&gt;&lt;mtext&gt;m&lt;/mtext&gt;&lt;mn&gt;2&lt;/mn&gt;&lt;/msup&gt;&lt;mtext&gt;&lt;/mtext&gt;&lt;mo&gt;=&lt;/mo&gt;&lt;mfrac&gt;&lt;mn&gt;1&lt;/mn&gt;&lt;mn&gt;2&lt;/mn&gt;&lt;/mfrac&gt;&lt;mtext&gt;&lt;/mtext&gt;&lt;msup&gt;&lt;mtext&gt;m&lt;/mtext&gt;&lt;mn&gt;2&lt;/mn&gt;&lt;/msup&gt;&lt;/math&gt;" id="1042" name="Google Shape;1042;p80" title="three fourths times two thirds equals 6 over 12 m to the second power equals one half m to the second power"/>
          <p:cNvPicPr preferRelativeResize="0"/>
          <p:nvPr/>
        </p:nvPicPr>
        <p:blipFill rotWithShape="1">
          <a:blip r:embed="rId6">
            <a:alphaModFix/>
          </a:blip>
          <a:srcRect b="0" l="0" r="48011" t="0"/>
          <a:stretch/>
        </p:blipFill>
        <p:spPr>
          <a:xfrm>
            <a:off x="6004205" y="3796950"/>
            <a:ext cx="1128188" cy="42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times\frac{2}{3}=\frac{10}{18}\ \text{m}^2\ =\frac{5}{9}\ \text{m}^2&quot;&gt;&lt;mfrac&gt;&lt;mn&gt;5&lt;/mn&gt;&lt;mn&gt;6&lt;/mn&gt;&lt;/mfrac&gt;&lt;mo&gt;×&lt;/mo&gt;&lt;mfrac&gt;&lt;mn&gt;2&lt;/mn&gt;&lt;mn&gt;3&lt;/mn&gt;&lt;/mfrac&gt;&lt;mo&gt;=&lt;/mo&gt;&lt;mfrac&gt;&lt;mn&gt;10&lt;/mn&gt;&lt;mn&gt;18&lt;/mn&gt;&lt;/mfrac&gt;&lt;mtext&gt;&lt;/mtext&gt;&lt;msup&gt;&lt;mtext&gt;m&lt;/mtext&gt;&lt;mn&gt;2&lt;/mn&gt;&lt;/msup&gt;&lt;mtext&gt;&lt;/mtext&gt;&lt;mo&gt;=&lt;/mo&gt;&lt;mfrac&gt;&lt;mn&gt;5&lt;/mn&gt;&lt;mn&gt;9&lt;/mn&gt;&lt;/mfrac&gt;&lt;mtext&gt;&lt;/mtext&gt;&lt;msup&gt;&lt;mtext&gt;m&lt;/mtext&gt;&lt;mn&gt;2&lt;/mn&gt;&lt;/msup&gt;&lt;/math&gt;" id="1043" name="Google Shape;1043;p80" title="five sixths times two thirds equals 10 over 18 m to the second power equals five ninths m to the second power"/>
          <p:cNvPicPr preferRelativeResize="0"/>
          <p:nvPr/>
        </p:nvPicPr>
        <p:blipFill rotWithShape="1">
          <a:blip r:embed="rId7">
            <a:alphaModFix/>
          </a:blip>
          <a:srcRect b="0" l="0" r="50519" t="0"/>
          <a:stretch/>
        </p:blipFill>
        <p:spPr>
          <a:xfrm>
            <a:off x="7801429" y="3796950"/>
            <a:ext cx="1008000" cy="4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times\frac{3}{5}=\frac{3}{10}\ \text{m}^2\ &quot;&gt;&lt;mfrac&gt;&lt;mn&gt;1&lt;/mn&gt;&lt;mn&gt;2&lt;/mn&gt;&lt;/mfrac&gt;&lt;mo&gt;×&lt;/mo&gt;&lt;mfrac&gt;&lt;mn&gt;3&lt;/mn&gt;&lt;mn&gt;5&lt;/mn&gt;&lt;/mfrac&gt;&lt;mo&gt;=&lt;/mo&gt;&lt;mfrac&gt;&lt;mn&gt;3&lt;/mn&gt;&lt;mn&gt;10&lt;/mn&gt;&lt;/mfrac&gt;&lt;mtext&gt;&lt;/mtext&gt;&lt;msup&gt;&lt;mtext&gt;m&lt;/mtext&gt;&lt;mn&gt;2&lt;/mn&gt;&lt;/msup&gt;&lt;mtext&gt;&lt;/mtext&gt;&lt;/math&gt;" id="1044" name="Google Shape;1044;p80" title="one half times three fifths equals three tenths m to the second power"/>
          <p:cNvPicPr preferRelativeResize="0"/>
          <p:nvPr/>
        </p:nvPicPr>
        <p:blipFill rotWithShape="1">
          <a:blip r:embed="rId3">
            <a:alphaModFix/>
          </a:blip>
          <a:srcRect b="0" l="27022" r="59403" t="0"/>
          <a:stretch/>
        </p:blipFill>
        <p:spPr>
          <a:xfrm>
            <a:off x="854775" y="2141289"/>
            <a:ext cx="180955" cy="41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times\frac{3}{5}=\frac{3}{10}\ \text{m}^2\ &quot;&gt;&lt;mfrac&gt;&lt;mn&gt;1&lt;/mn&gt;&lt;mn&gt;2&lt;/mn&gt;&lt;/mfrac&gt;&lt;mo&gt;×&lt;/mo&gt;&lt;mfrac&gt;&lt;mn&gt;3&lt;/mn&gt;&lt;mn&gt;5&lt;/mn&gt;&lt;/mfrac&gt;&lt;mo&gt;=&lt;/mo&gt;&lt;mfrac&gt;&lt;mn&gt;3&lt;/mn&gt;&lt;mn&gt;10&lt;/mn&gt;&lt;/mfrac&gt;&lt;mtext&gt;&lt;/mtext&gt;&lt;msup&gt;&lt;mtext&gt;m&lt;/mtext&gt;&lt;mn&gt;2&lt;/mn&gt;&lt;/msup&gt;&lt;mtext&gt;&lt;/mtext&gt;&lt;/math&gt;" id="1045" name="Google Shape;1045;p80" title="one half times three fifths equals three tenths m to the second power"/>
          <p:cNvPicPr preferRelativeResize="0"/>
          <p:nvPr/>
        </p:nvPicPr>
        <p:blipFill rotWithShape="1">
          <a:blip r:embed="rId3">
            <a:alphaModFix/>
          </a:blip>
          <a:srcRect b="0" l="55691" r="0" t="0"/>
          <a:stretch/>
        </p:blipFill>
        <p:spPr>
          <a:xfrm>
            <a:off x="876587" y="4402863"/>
            <a:ext cx="590700" cy="41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times\frac{3}{5}=\frac{3}{10}\ \text{m}^2\ &quot;&gt;&lt;mfrac&gt;&lt;mn&gt;1&lt;/mn&gt;&lt;mn&gt;2&lt;/mn&gt;&lt;/mfrac&gt;&lt;mo&gt;×&lt;/mo&gt;&lt;mfrac&gt;&lt;mn&gt;3&lt;/mn&gt;&lt;mn&gt;5&lt;/mn&gt;&lt;/mfrac&gt;&lt;mo&gt;=&lt;/mo&gt;&lt;mfrac&gt;&lt;mn&gt;3&lt;/mn&gt;&lt;mn&gt;10&lt;/mn&gt;&lt;/mfrac&gt;&lt;mtext&gt;&lt;/mtext&gt;&lt;msup&gt;&lt;mtext&gt;m&lt;/mtext&gt;&lt;mn&gt;2&lt;/mn&gt;&lt;/msup&gt;&lt;mtext&gt;&lt;/mtext&gt;&lt;/math&gt;" id="1046" name="Google Shape;1046;p80" title="one half times three fifths equals three tenths m to the second power"/>
          <p:cNvPicPr preferRelativeResize="0"/>
          <p:nvPr/>
        </p:nvPicPr>
        <p:blipFill rotWithShape="1">
          <a:blip r:embed="rId3">
            <a:alphaModFix/>
          </a:blip>
          <a:srcRect b="0" l="0" r="86426" t="0"/>
          <a:stretch/>
        </p:blipFill>
        <p:spPr>
          <a:xfrm>
            <a:off x="343826" y="2740189"/>
            <a:ext cx="180950" cy="417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times\frac{4}{5}=\frac{4}{15}\ \text{m}^2\ &quot;&gt;&lt;mfrac&gt;&lt;mn&gt;1&lt;/mn&gt;&lt;mn&gt;3&lt;/mn&gt;&lt;/mfrac&gt;&lt;mo&gt;×&lt;/mo&gt;&lt;mfrac&gt;&lt;mn&gt;4&lt;/mn&gt;&lt;mn&gt;5&lt;/mn&gt;&lt;/mfrac&gt;&lt;mo&gt;=&lt;/mo&gt;&lt;mfrac&gt;&lt;mn&gt;4&lt;/mn&gt;&lt;mn&gt;15&lt;/mn&gt;&lt;/mfrac&gt;&lt;mtext&gt;&lt;/mtext&gt;&lt;msup&gt;&lt;mtext&gt;m&lt;/mtext&gt;&lt;mn&gt;2&lt;/mn&gt;&lt;/msup&gt;&lt;mtext&gt;&lt;/mtext&gt;&lt;/math&gt;" id="1047" name="Google Shape;1047;p80" title="one third times four fifths equals 4 over 15 m to the second power"/>
          <p:cNvPicPr preferRelativeResize="0"/>
          <p:nvPr/>
        </p:nvPicPr>
        <p:blipFill rotWithShape="1">
          <a:blip r:embed="rId5">
            <a:alphaModFix/>
          </a:blip>
          <a:srcRect b="0" l="55970" r="0" t="0"/>
          <a:stretch/>
        </p:blipFill>
        <p:spPr>
          <a:xfrm>
            <a:off x="4445938" y="4400013"/>
            <a:ext cx="590700" cy="420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times\frac{4}{5}=\frac{4}{15}\ \text{m}^2\ &quot;&gt;&lt;mfrac&gt;&lt;mn&gt;1&lt;/mn&gt;&lt;mn&gt;3&lt;/mn&gt;&lt;/mfrac&gt;&lt;mo&gt;×&lt;/mo&gt;&lt;mfrac&gt;&lt;mn&gt;4&lt;/mn&gt;&lt;mn&gt;5&lt;/mn&gt;&lt;/mfrac&gt;&lt;mo&gt;=&lt;/mo&gt;&lt;mfrac&gt;&lt;mn&gt;4&lt;/mn&gt;&lt;mn&gt;15&lt;/mn&gt;&lt;/mfrac&gt;&lt;mtext&gt;&lt;/mtext&gt;&lt;msup&gt;&lt;mtext&gt;m&lt;/mtext&gt;&lt;mn&gt;2&lt;/mn&gt;&lt;/msup&gt;&lt;mtext&gt;&lt;/mtext&gt;&lt;/math&gt;" id="1048" name="Google Shape;1048;p80" title="one third times four fifths equals 4 over 15 m to the second power"/>
          <p:cNvPicPr preferRelativeResize="0"/>
          <p:nvPr/>
        </p:nvPicPr>
        <p:blipFill rotWithShape="1">
          <a:blip r:embed="rId5">
            <a:alphaModFix/>
          </a:blip>
          <a:srcRect b="0" l="24868" r="56905" t="0"/>
          <a:stretch/>
        </p:blipFill>
        <p:spPr>
          <a:xfrm>
            <a:off x="4488438" y="2138439"/>
            <a:ext cx="244525" cy="420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times\frac{4}{5}=\frac{4}{15}\ \text{m}^2\ &quot;&gt;&lt;mfrac&gt;&lt;mn&gt;1&lt;/mn&gt;&lt;mn&gt;3&lt;/mn&gt;&lt;/mfrac&gt;&lt;mo&gt;×&lt;/mo&gt;&lt;mfrac&gt;&lt;mn&gt;4&lt;/mn&gt;&lt;mn&gt;5&lt;/mn&gt;&lt;/mfrac&gt;&lt;mo&gt;=&lt;/mo&gt;&lt;mfrac&gt;&lt;mn&gt;4&lt;/mn&gt;&lt;mn&gt;15&lt;/mn&gt;&lt;/mfrac&gt;&lt;mtext&gt;&lt;/mtext&gt;&lt;msup&gt;&lt;mtext&gt;m&lt;/mtext&gt;&lt;mn&gt;2&lt;/mn&gt;&lt;/msup&gt;&lt;mtext&gt;&lt;/mtext&gt;&lt;/math&gt;" id="1049" name="Google Shape;1049;p80" title="one third times four fifths equals 4 over 15 m to the second power"/>
          <p:cNvPicPr preferRelativeResize="0"/>
          <p:nvPr/>
        </p:nvPicPr>
        <p:blipFill rotWithShape="1">
          <a:blip r:embed="rId5">
            <a:alphaModFix/>
          </a:blip>
          <a:srcRect b="0" l="0" r="86512" t="0"/>
          <a:stretch/>
        </p:blipFill>
        <p:spPr>
          <a:xfrm>
            <a:off x="3903485" y="2656088"/>
            <a:ext cx="180950" cy="420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frac{2}{3}=\frac{6}{12}\ \text{m}^2\ =\frac{1}{2}\ \text{m}^2&quot;&gt;&lt;mfrac&gt;&lt;mn&gt;3&lt;/mn&gt;&lt;mn&gt;4&lt;/mn&gt;&lt;/mfrac&gt;&lt;mo&gt;×&lt;/mo&gt;&lt;mfrac&gt;&lt;mn&gt;2&lt;/mn&gt;&lt;mn&gt;3&lt;/mn&gt;&lt;/mfrac&gt;&lt;mo&gt;=&lt;/mo&gt;&lt;mfrac&gt;&lt;mn&gt;6&lt;/mn&gt;&lt;mn&gt;12&lt;/mn&gt;&lt;/mfrac&gt;&lt;mtext&gt;&lt;/mtext&gt;&lt;msup&gt;&lt;mtext&gt;m&lt;/mtext&gt;&lt;mn&gt;2&lt;/mn&gt;&lt;/msup&gt;&lt;mtext&gt;&lt;/mtext&gt;&lt;mo&gt;=&lt;/mo&gt;&lt;mfrac&gt;&lt;mn&gt;1&lt;/mn&gt;&lt;mn&gt;2&lt;/mn&gt;&lt;/mfrac&gt;&lt;mtext&gt;&lt;/mtext&gt;&lt;msup&gt;&lt;mtext&gt;m&lt;/mtext&gt;&lt;mn&gt;2&lt;/mn&gt;&lt;/msup&gt;&lt;/math&gt;" id="1050" name="Google Shape;1050;p80" title="three fourths times two thirds equals 6 over 12 m to the second power equals one half m to the second power"/>
          <p:cNvPicPr preferRelativeResize="0"/>
          <p:nvPr/>
        </p:nvPicPr>
        <p:blipFill rotWithShape="1">
          <a:blip r:embed="rId6">
            <a:alphaModFix/>
          </a:blip>
          <a:srcRect b="0" l="35442" r="0" t="0"/>
          <a:stretch/>
        </p:blipFill>
        <p:spPr>
          <a:xfrm>
            <a:off x="5867808" y="4390738"/>
            <a:ext cx="1400974" cy="42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frac{2}{3}=\frac{6}{12}\ \text{m}^2\ =\frac{1}{2}\ \text{m}^2&quot;&gt;&lt;mfrac&gt;&lt;mn&gt;3&lt;/mn&gt;&lt;mn&gt;4&lt;/mn&gt;&lt;/mfrac&gt;&lt;mo&gt;×&lt;/mo&gt;&lt;mfrac&gt;&lt;mn&gt;2&lt;/mn&gt;&lt;mn&gt;3&lt;/mn&gt;&lt;/mfrac&gt;&lt;mo&gt;=&lt;/mo&gt;&lt;mfrac&gt;&lt;mn&gt;6&lt;/mn&gt;&lt;mn&gt;12&lt;/mn&gt;&lt;/mfrac&gt;&lt;mtext&gt;&lt;/mtext&gt;&lt;msup&gt;&lt;mtext&gt;m&lt;/mtext&gt;&lt;mn&gt;2&lt;/mn&gt;&lt;/msup&gt;&lt;mtext&gt;&lt;/mtext&gt;&lt;mo&gt;=&lt;/mo&gt;&lt;mfrac&gt;&lt;mn&gt;1&lt;/mn&gt;&lt;mn&gt;2&lt;/mn&gt;&lt;/mfrac&gt;&lt;mtext&gt;&lt;/mtext&gt;&lt;msup&gt;&lt;mtext&gt;m&lt;/mtext&gt;&lt;mn&gt;2&lt;/mn&gt;&lt;/msup&gt;&lt;/math&gt;" id="1051" name="Google Shape;1051;p80" title="three fourths times two thirds equals 6 over 12 m to the second power equals one half m to the second power"/>
          <p:cNvPicPr preferRelativeResize="0"/>
          <p:nvPr/>
        </p:nvPicPr>
        <p:blipFill rotWithShape="1">
          <a:blip r:embed="rId6">
            <a:alphaModFix/>
          </a:blip>
          <a:srcRect b="0" l="17238" r="71493" t="0"/>
          <a:stretch/>
        </p:blipFill>
        <p:spPr>
          <a:xfrm>
            <a:off x="6221386" y="2129164"/>
            <a:ext cx="244524" cy="42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frac{2}{3}=\frac{6}{12}\ \text{m}^2\ =\frac{1}{2}\ \text{m}^2&quot;&gt;&lt;mfrac&gt;&lt;mn&gt;3&lt;/mn&gt;&lt;mn&gt;4&lt;/mn&gt;&lt;/mfrac&gt;&lt;mo&gt;×&lt;/mo&gt;&lt;mfrac&gt;&lt;mn&gt;2&lt;/mn&gt;&lt;mn&gt;3&lt;/mn&gt;&lt;/mfrac&gt;&lt;mo&gt;=&lt;/mo&gt;&lt;mfrac&gt;&lt;mn&gt;6&lt;/mn&gt;&lt;mn&gt;12&lt;/mn&gt;&lt;/mfrac&gt;&lt;mtext&gt;&lt;/mtext&gt;&lt;msup&gt;&lt;mtext&gt;m&lt;/mtext&gt;&lt;mn&gt;2&lt;/mn&gt;&lt;/msup&gt;&lt;mtext&gt;&lt;/mtext&gt;&lt;mo&gt;=&lt;/mo&gt;&lt;mfrac&gt;&lt;mn&gt;1&lt;/mn&gt;&lt;mn&gt;2&lt;/mn&gt;&lt;/mfrac&gt;&lt;mtext&gt;&lt;/mtext&gt;&lt;msup&gt;&lt;mtext&gt;m&lt;/mtext&gt;&lt;mn&gt;2&lt;/mn&gt;&lt;/msup&gt;&lt;/math&gt;" id="1052" name="Google Shape;1052;p80" title="three fourths times two thirds equals 6 over 12 m to the second power equals one half m to the second power"/>
          <p:cNvPicPr preferRelativeResize="0"/>
          <p:nvPr/>
        </p:nvPicPr>
        <p:blipFill rotWithShape="1">
          <a:blip r:embed="rId6">
            <a:alphaModFix/>
          </a:blip>
          <a:srcRect b="0" l="0" r="91660" t="0"/>
          <a:stretch/>
        </p:blipFill>
        <p:spPr>
          <a:xfrm>
            <a:off x="5662235" y="2858150"/>
            <a:ext cx="180976" cy="42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frac{1}{2}=\frac{3}{8}\ \text{m}^2\ &quot;&gt;&lt;mfrac&gt;&lt;mn&gt;3&lt;/mn&gt;&lt;mn&gt;4&lt;/mn&gt;&lt;/mfrac&gt;&lt;mo&gt;×&lt;/mo&gt;&lt;mfrac&gt;&lt;mn&gt;1&lt;/mn&gt;&lt;mn&gt;2&lt;/mn&gt;&lt;/mfrac&gt;&lt;mo&gt;=&lt;/mo&gt;&lt;mfrac&gt;&lt;mn&gt;3&lt;/mn&gt;&lt;mn&gt;8&lt;/mn&gt;&lt;/mfrac&gt;&lt;mtext&gt;&lt;/mtext&gt;&lt;msup&gt;&lt;mtext&gt;m&lt;/mtext&gt;&lt;mn&gt;2&lt;/mn&gt;&lt;/msup&gt;&lt;mtext&gt;&lt;/mtext&gt;&lt;/math&gt;" id="1053" name="Google Shape;1053;p80" title="three fourths times one half equals three eighths m to the second power"/>
          <p:cNvPicPr preferRelativeResize="0"/>
          <p:nvPr/>
        </p:nvPicPr>
        <p:blipFill rotWithShape="1">
          <a:blip r:embed="rId4">
            <a:alphaModFix/>
          </a:blip>
          <a:srcRect b="0" l="0" r="85792" t="0"/>
          <a:stretch/>
        </p:blipFill>
        <p:spPr>
          <a:xfrm>
            <a:off x="2144712" y="2898200"/>
            <a:ext cx="180950" cy="42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frac{1}{2}=\frac{3}{8}\ \text{m}^2\ &quot;&gt;&lt;mfrac&gt;&lt;mn&gt;3&lt;/mn&gt;&lt;mn&gt;4&lt;/mn&gt;&lt;/mfrac&gt;&lt;mo&gt;×&lt;/mo&gt;&lt;mfrac&gt;&lt;mn&gt;1&lt;/mn&gt;&lt;mn&gt;2&lt;/mn&gt;&lt;/mfrac&gt;&lt;mo&gt;=&lt;/mo&gt;&lt;mfrac&gt;&lt;mn&gt;3&lt;/mn&gt;&lt;mn&gt;8&lt;/mn&gt;&lt;/mfrac&gt;&lt;mtext&gt;&lt;/mtext&gt;&lt;msup&gt;&lt;mtext&gt;m&lt;/mtext&gt;&lt;mn&gt;2&lt;/mn&gt;&lt;/msup&gt;&lt;mtext&gt;&lt;/mtext&gt;&lt;/math&gt;" id="1054" name="Google Shape;1054;p80" title="three fourths times one half equals three eighths m to the second power"/>
          <p:cNvPicPr preferRelativeResize="0"/>
          <p:nvPr/>
        </p:nvPicPr>
        <p:blipFill rotWithShape="1">
          <a:blip r:embed="rId4">
            <a:alphaModFix/>
          </a:blip>
          <a:srcRect b="0" l="29238" r="51561" t="0"/>
          <a:stretch/>
        </p:blipFill>
        <p:spPr>
          <a:xfrm>
            <a:off x="2557737" y="2129164"/>
            <a:ext cx="244525" cy="42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frac{1}{2}=\frac{3}{8}\ \text{m}^2\ &quot;&gt;&lt;mfrac&gt;&lt;mn&gt;3&lt;/mn&gt;&lt;mn&gt;4&lt;/mn&gt;&lt;/mfrac&gt;&lt;mo&gt;×&lt;/mo&gt;&lt;mfrac&gt;&lt;mn&gt;1&lt;/mn&gt;&lt;mn&gt;2&lt;/mn&gt;&lt;/mfrac&gt;&lt;mo&gt;=&lt;/mo&gt;&lt;mfrac&gt;&lt;mn&gt;3&lt;/mn&gt;&lt;mn&gt;8&lt;/mn&gt;&lt;/mfrac&gt;&lt;mtext&gt;&lt;/mtext&gt;&lt;msup&gt;&lt;mtext&gt;m&lt;/mtext&gt;&lt;mn&gt;2&lt;/mn&gt;&lt;/msup&gt;&lt;mtext&gt;&lt;/mtext&gt;&lt;/math&gt;" id="1055" name="Google Shape;1055;p80" title="three fourths times one half equals three eighths m to the second power"/>
          <p:cNvPicPr preferRelativeResize="0"/>
          <p:nvPr/>
        </p:nvPicPr>
        <p:blipFill rotWithShape="1">
          <a:blip r:embed="rId4">
            <a:alphaModFix/>
          </a:blip>
          <a:srcRect b="0" l="60333" r="0" t="0"/>
          <a:stretch/>
        </p:blipFill>
        <p:spPr>
          <a:xfrm>
            <a:off x="2668379" y="4390738"/>
            <a:ext cx="505200" cy="42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times\frac{2}{3}=\frac{10}{18}\ \text{m}^2\ =\frac{5}{9}\ \text{m}^2&quot;&gt;&lt;mfrac&gt;&lt;mn&gt;5&lt;/mn&gt;&lt;mn&gt;6&lt;/mn&gt;&lt;/mfrac&gt;&lt;mo&gt;×&lt;/mo&gt;&lt;mfrac&gt;&lt;mn&gt;2&lt;/mn&gt;&lt;mn&gt;3&lt;/mn&gt;&lt;/mfrac&gt;&lt;mo&gt;=&lt;/mo&gt;&lt;mfrac&gt;&lt;mn&gt;10&lt;/mn&gt;&lt;mn&gt;18&lt;/mn&gt;&lt;/mfrac&gt;&lt;mtext&gt;&lt;/mtext&gt;&lt;msup&gt;&lt;mtext&gt;m&lt;/mtext&gt;&lt;mn&gt;2&lt;/mn&gt;&lt;/msup&gt;&lt;mtext&gt;&lt;/mtext&gt;&lt;mo&gt;=&lt;/mo&gt;&lt;mfrac&gt;&lt;mn&gt;5&lt;/mn&gt;&lt;mn&gt;9&lt;/mn&gt;&lt;/mfrac&gt;&lt;mtext&gt;&lt;/mtext&gt;&lt;msup&gt;&lt;mtext&gt;m&lt;/mtext&gt;&lt;mn&gt;2&lt;/mn&gt;&lt;/msup&gt;&lt;/math&gt;" id="1056" name="Google Shape;1056;p80" title="five sixths times two thirds equals 10 over 18 m to the second power equals five ninths m to the second power"/>
          <p:cNvPicPr preferRelativeResize="0"/>
          <p:nvPr/>
        </p:nvPicPr>
        <p:blipFill rotWithShape="1">
          <a:blip r:embed="rId7">
            <a:alphaModFix/>
          </a:blip>
          <a:srcRect b="0" l="16993" r="74124" t="0"/>
          <a:stretch/>
        </p:blipFill>
        <p:spPr>
          <a:xfrm>
            <a:off x="8064572" y="2153913"/>
            <a:ext cx="180950" cy="40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times\frac{2}{3}=\frac{10}{18}\ \text{m}^2\ =\frac{5}{9}\ \text{m}^2&quot;&gt;&lt;mfrac&gt;&lt;mn&gt;5&lt;/mn&gt;&lt;mn&gt;6&lt;/mn&gt;&lt;/mfrac&gt;&lt;mo&gt;×&lt;/mo&gt;&lt;mfrac&gt;&lt;mn&gt;2&lt;/mn&gt;&lt;mn&gt;3&lt;/mn&gt;&lt;/mfrac&gt;&lt;mo&gt;=&lt;/mo&gt;&lt;mfrac&gt;&lt;mn&gt;10&lt;/mn&gt;&lt;mn&gt;18&lt;/mn&gt;&lt;/mfrac&gt;&lt;mtext&gt;&lt;/mtext&gt;&lt;msup&gt;&lt;mtext&gt;m&lt;/mtext&gt;&lt;mn&gt;2&lt;/mn&gt;&lt;/msup&gt;&lt;mtext&gt;&lt;/mtext&gt;&lt;mo&gt;=&lt;/mo&gt;&lt;mfrac&gt;&lt;mn&gt;5&lt;/mn&gt;&lt;mn&gt;9&lt;/mn&gt;&lt;/mfrac&gt;&lt;mtext&gt;&lt;/mtext&gt;&lt;msup&gt;&lt;mtext&gt;m&lt;/mtext&gt;&lt;mn&gt;2&lt;/mn&gt;&lt;/msup&gt;&lt;/math&gt;" id="1057" name="Google Shape;1057;p80" title="five sixths times two thirds equals 10 over 18 m to the second power equals five ninths m to the second power"/>
          <p:cNvPicPr preferRelativeResize="0"/>
          <p:nvPr/>
        </p:nvPicPr>
        <p:blipFill rotWithShape="1">
          <a:blip r:embed="rId7">
            <a:alphaModFix/>
          </a:blip>
          <a:srcRect b="0" l="0" r="91116" t="0"/>
          <a:stretch/>
        </p:blipFill>
        <p:spPr>
          <a:xfrm>
            <a:off x="7489932" y="2910563"/>
            <a:ext cx="180975" cy="4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80"/>
          <p:cNvSpPr/>
          <p:nvPr/>
        </p:nvSpPr>
        <p:spPr>
          <a:xfrm>
            <a:off x="8255000" y="4377550"/>
            <a:ext cx="686100" cy="4296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6}\times\frac{2}{3}=\frac{10}{18}\ \text{m}^2\ =\frac{5}{9}\ \text{m}^2&quot;&gt;&lt;mfrac&gt;&lt;mn&gt;5&lt;/mn&gt;&lt;mn&gt;6&lt;/mn&gt;&lt;/mfrac&gt;&lt;mo&gt;×&lt;/mo&gt;&lt;mfrac&gt;&lt;mn&gt;2&lt;/mn&gt;&lt;mn&gt;3&lt;/mn&gt;&lt;/mfrac&gt;&lt;mo&gt;=&lt;/mo&gt;&lt;mfrac&gt;&lt;mn&gt;10&lt;/mn&gt;&lt;mn&gt;18&lt;/mn&gt;&lt;/mfrac&gt;&lt;mtext&gt;&lt;/mtext&gt;&lt;msup&gt;&lt;mtext&gt;m&lt;/mtext&gt;&lt;mn&gt;2&lt;/mn&gt;&lt;/msup&gt;&lt;mtext&gt;&lt;/mtext&gt;&lt;mo&gt;=&lt;/mo&gt;&lt;mfrac&gt;&lt;mn&gt;5&lt;/mn&gt;&lt;mn&gt;9&lt;/mn&gt;&lt;/mfrac&gt;&lt;mtext&gt;&lt;/mtext&gt;&lt;msup&gt;&lt;mtext&gt;m&lt;/mtext&gt;&lt;mn&gt;2&lt;/mn&gt;&lt;/msup&gt;&lt;/math&gt;" id="1059" name="Google Shape;1059;p80" title="five sixths times two thirds equals 10 over 18 m to the second power equals five ninths m to the second power"/>
          <p:cNvPicPr preferRelativeResize="0"/>
          <p:nvPr/>
        </p:nvPicPr>
        <p:blipFill rotWithShape="1">
          <a:blip r:embed="rId7">
            <a:alphaModFix/>
          </a:blip>
          <a:srcRect b="0" l="36702" r="6" t="0"/>
          <a:stretch/>
        </p:blipFill>
        <p:spPr>
          <a:xfrm>
            <a:off x="7510366" y="4415463"/>
            <a:ext cx="1289375" cy="4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8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the area model</a:t>
            </a:r>
            <a:endParaRPr/>
          </a:p>
        </p:txBody>
      </p:sp>
      <p:sp>
        <p:nvSpPr>
          <p:cNvPr id="1065" name="Google Shape;1065;p8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 of fractions</a:t>
            </a:r>
            <a:endParaRPr/>
          </a:p>
        </p:txBody>
      </p:sp>
      <p:sp>
        <p:nvSpPr>
          <p:cNvPr id="1066" name="Google Shape;1066;p8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multiplication with fractions</a:t>
            </a:r>
            <a:endParaRPr/>
          </a:p>
        </p:txBody>
      </p:sp>
      <p:pic>
        <p:nvPicPr>
          <p:cNvPr id="1067" name="Google Shape;106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80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Multiplication of fractions</a:t>
            </a:r>
            <a:endParaRPr/>
          </a:p>
        </p:txBody>
      </p:sp>
      <p:sp>
        <p:nvSpPr>
          <p:cNvPr id="1073" name="Google Shape;1073;p82"/>
          <p:cNvSpPr txBox="1"/>
          <p:nvPr>
            <p:ph idx="1" type="body"/>
          </p:nvPr>
        </p:nvSpPr>
        <p:spPr>
          <a:xfrm>
            <a:off x="324000" y="759303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would the diagram to represent this calculation look like?</a:t>
            </a:r>
            <a:endParaRPr/>
          </a:p>
        </p:txBody>
      </p:sp>
      <p:cxnSp>
        <p:nvCxnSpPr>
          <p:cNvPr id="1074" name="Google Shape;1074;p82"/>
          <p:cNvCxnSpPr/>
          <p:nvPr/>
        </p:nvCxnSpPr>
        <p:spPr>
          <a:xfrm>
            <a:off x="1989600" y="1675888"/>
            <a:ext cx="1631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graphicFrame>
        <p:nvGraphicFramePr>
          <p:cNvPr id="1075" name="Google Shape;1075;p82"/>
          <p:cNvGraphicFramePr/>
          <p:nvPr/>
        </p:nvGraphicFramePr>
        <p:xfrm>
          <a:off x="1989600" y="1837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2160000"/>
              </a:tblGrid>
              <a:tr h="21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76" name="Google Shape;1076;p82"/>
          <p:cNvGraphicFramePr/>
          <p:nvPr/>
        </p:nvGraphicFramePr>
        <p:xfrm>
          <a:off x="1989613" y="18374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21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77" name="Google Shape;1077;p82"/>
          <p:cNvGraphicFramePr/>
          <p:nvPr/>
        </p:nvGraphicFramePr>
        <p:xfrm>
          <a:off x="1989600" y="18374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2160000"/>
              </a:tblGrid>
              <a:tr h="36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78" name="Google Shape;1078;p82"/>
          <p:cNvCxnSpPr/>
          <p:nvPr/>
        </p:nvCxnSpPr>
        <p:spPr>
          <a:xfrm>
            <a:off x="1824700" y="1837453"/>
            <a:ext cx="0" cy="180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9" name="Google Shape;1079;p82"/>
          <p:cNvSpPr/>
          <p:nvPr/>
        </p:nvSpPr>
        <p:spPr>
          <a:xfrm>
            <a:off x="2002125" y="1848300"/>
            <a:ext cx="1607400" cy="1773900"/>
          </a:xfrm>
          <a:prstGeom prst="rect">
            <a:avLst/>
          </a:prstGeom>
          <a:solidFill>
            <a:srgbClr val="037B7D">
              <a:alpha val="3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6}\ \times\ \frac{3}{4}&quot;&gt;&lt;mfrac&gt;&lt;mn&gt;5&lt;/mn&gt;&lt;mn&gt;6&lt;/mn&gt;&lt;/mfrac&gt;&lt;mtext&gt;&lt;/mtext&gt;&lt;mo&gt;×&lt;/mo&gt;&lt;mtext&gt;&lt;/mtext&gt;&lt;mfrac&gt;&lt;mn&gt;3&lt;/mn&gt;&lt;mn&gt;4&lt;/mn&gt;&lt;/mfrac&gt;&lt;/math&gt;" id="1080" name="Google Shape;1080;p82" title="five sixths times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626900"/>
            <a:ext cx="90853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 \times\ \frac{3}{4}&quot;&gt;&lt;mfrac&gt;&lt;mn&gt;5&lt;/mn&gt;&lt;mn&gt;6&lt;/mn&gt;&lt;/mfrac&gt;&lt;mtext&gt;&lt;/mtext&gt;&lt;mo&gt;×&lt;/mo&gt;&lt;mtext&gt;&lt;/mtext&gt;&lt;mfrac&gt;&lt;mn&gt;3&lt;/mn&gt;&lt;mn&gt;4&lt;/mn&gt;&lt;/mfrac&gt;&lt;/math&gt;" id="1081" name="Google Shape;1081;p82" title="five sixths times three fourths"/>
          <p:cNvPicPr preferRelativeResize="0"/>
          <p:nvPr/>
        </p:nvPicPr>
        <p:blipFill rotWithShape="1">
          <a:blip r:embed="rId3">
            <a:alphaModFix/>
          </a:blip>
          <a:srcRect b="0" l="74709" r="0" t="0"/>
          <a:stretch/>
        </p:blipFill>
        <p:spPr>
          <a:xfrm>
            <a:off x="2718249" y="1124124"/>
            <a:ext cx="198814" cy="530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 \times\ \frac{3}{4}&quot;&gt;&lt;mfrac&gt;&lt;mn&gt;5&lt;/mn&gt;&lt;mn&gt;6&lt;/mn&gt;&lt;/mfrac&gt;&lt;mtext&gt;&lt;/mtext&gt;&lt;mo&gt;×&lt;/mo&gt;&lt;mtext&gt;&lt;/mtext&gt;&lt;mfrac&gt;&lt;mn&gt;3&lt;/mn&gt;&lt;mn&gt;4&lt;/mn&gt;&lt;/mfrac&gt;&lt;/math&gt;" id="1082" name="Google Shape;1082;p82" title="five sixths times three fourths"/>
          <p:cNvPicPr preferRelativeResize="0"/>
          <p:nvPr/>
        </p:nvPicPr>
        <p:blipFill rotWithShape="1">
          <a:blip r:embed="rId3">
            <a:alphaModFix/>
          </a:blip>
          <a:srcRect b="0" l="0" r="74709" t="0"/>
          <a:stretch/>
        </p:blipFill>
        <p:spPr>
          <a:xfrm>
            <a:off x="1506225" y="2540237"/>
            <a:ext cx="198814" cy="530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 \times\ \frac{3}{4}=\ \frac{15}{24}\ =\ \frac{5}{8}&quot;&gt;&lt;mfrac&gt;&lt;mn&gt;5&lt;/mn&gt;&lt;mn&gt;6&lt;/mn&gt;&lt;/mfrac&gt;&lt;mtext&gt;&lt;/mtext&gt;&lt;mo&gt;×&lt;/mo&gt;&lt;mtext&gt;&lt;/mtext&gt;&lt;mfrac&gt;&lt;mn&gt;3&lt;/mn&gt;&lt;mn&gt;4&lt;/mn&gt;&lt;/mfrac&gt;&lt;mo&gt;=&lt;/mo&gt;&lt;mtext&gt;&lt;/mtext&gt;&lt;mfrac&gt;&lt;mn&gt;15&lt;/mn&gt;&lt;mn&gt;24&lt;/mn&gt;&lt;/mfrac&gt;&lt;mtext&gt;&lt;/mtext&gt;&lt;mo&gt;=&lt;/mo&gt;&lt;mtext&gt;&lt;/mtext&gt;&lt;mfrac&gt;&lt;mn&gt;5&lt;/mn&gt;&lt;mn&gt;8&lt;/mn&gt;&lt;/mfrac&gt;&lt;/math&gt;" id="1083" name="Google Shape;1083;p82" title="five sixths times three fourths equals 15 over 24 equals five eighths"/>
          <p:cNvPicPr preferRelativeResize="0"/>
          <p:nvPr/>
        </p:nvPicPr>
        <p:blipFill rotWithShape="1">
          <a:blip r:embed="rId4">
            <a:alphaModFix/>
          </a:blip>
          <a:srcRect b="0" l="0" r="60721" t="0"/>
          <a:stretch/>
        </p:blipFill>
        <p:spPr>
          <a:xfrm>
            <a:off x="4402800" y="1118653"/>
            <a:ext cx="987726" cy="61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 \times\ \frac{3}{4}=\ \frac{15}{24}\ =\ \frac{5}{8}&quot;&gt;&lt;mfrac&gt;&lt;mn&gt;5&lt;/mn&gt;&lt;mn&gt;6&lt;/mn&gt;&lt;/mfrac&gt;&lt;mtext&gt;&lt;/mtext&gt;&lt;mo&gt;×&lt;/mo&gt;&lt;mtext&gt;&lt;/mtext&gt;&lt;mfrac&gt;&lt;mn&gt;3&lt;/mn&gt;&lt;mn&gt;4&lt;/mn&gt;&lt;/mfrac&gt;&lt;mo&gt;=&lt;/mo&gt;&lt;mtext&gt;&lt;/mtext&gt;&lt;mfrac&gt;&lt;mn&gt;15&lt;/mn&gt;&lt;mn&gt;24&lt;/mn&gt;&lt;/mfrac&gt;&lt;mtext&gt;&lt;/mtext&gt;&lt;mo&gt;=&lt;/mo&gt;&lt;mtext&gt;&lt;/mtext&gt;&lt;mfrac&gt;&lt;mn&gt;5&lt;/mn&gt;&lt;mn&gt;8&lt;/mn&gt;&lt;/mfrac&gt;&lt;/math&gt;" id="1084" name="Google Shape;1084;p82" title="five sixths times three fourths equals 15 over 24 equals five eighths"/>
          <p:cNvPicPr preferRelativeResize="0"/>
          <p:nvPr/>
        </p:nvPicPr>
        <p:blipFill rotWithShape="1">
          <a:blip r:embed="rId4">
            <a:alphaModFix/>
          </a:blip>
          <a:srcRect b="0" l="39032" r="27544" t="0"/>
          <a:stretch/>
        </p:blipFill>
        <p:spPr>
          <a:xfrm>
            <a:off x="5414823" y="1118653"/>
            <a:ext cx="840500" cy="61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5\times3}{6\times4}&quot;&gt;&lt;mo&gt;=&lt;/mo&gt;&lt;mfrac&gt;&lt;mrow&gt;&lt;mn&gt;5&lt;/mn&gt;&lt;mo&gt;×&lt;/mo&gt;&lt;mn&gt;3&lt;/mn&gt;&lt;/mrow&gt;&lt;mrow&gt;&lt;mn&gt;6&lt;/mn&gt;&lt;mo&gt;×&lt;/mo&gt;&lt;mn&gt;4&lt;/mn&gt;&lt;/mrow&gt;&lt;/mfrac&gt;&lt;/math&gt;" id="1085" name="Google Shape;1085;p82" title="equals the fraction with numerator 5 times 3 and denominator 6 times 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6825" y="1102303"/>
            <a:ext cx="998547" cy="64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p82"/>
          <p:cNvSpPr txBox="1"/>
          <p:nvPr/>
        </p:nvSpPr>
        <p:spPr>
          <a:xfrm>
            <a:off x="7627925" y="4514100"/>
            <a:ext cx="671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7" name="Google Shape;1087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59740" y="3622288"/>
            <a:ext cx="807760" cy="896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8" name="Google Shape;1088;p82"/>
          <p:cNvGrpSpPr/>
          <p:nvPr/>
        </p:nvGrpSpPr>
        <p:grpSpPr>
          <a:xfrm>
            <a:off x="4445926" y="2013169"/>
            <a:ext cx="3210701" cy="2072854"/>
            <a:chOff x="4445925" y="2523939"/>
            <a:chExt cx="3210701" cy="1631526"/>
          </a:xfrm>
        </p:grpSpPr>
        <p:pic>
          <p:nvPicPr>
            <p:cNvPr id="1089" name="Google Shape;1089;p82"/>
            <p:cNvPicPr preferRelativeResize="0"/>
            <p:nvPr/>
          </p:nvPicPr>
          <p:blipFill rotWithShape="1">
            <a:blip r:embed="rId7">
              <a:alphaModFix/>
            </a:blip>
            <a:srcRect b="0" l="0" r="69082" t="56280"/>
            <a:stretch/>
          </p:blipFill>
          <p:spPr>
            <a:xfrm>
              <a:off x="4445925" y="2523939"/>
              <a:ext cx="3210701" cy="1631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82"/>
            <p:cNvSpPr txBox="1"/>
            <p:nvPr/>
          </p:nvSpPr>
          <p:spPr>
            <a:xfrm>
              <a:off x="4595400" y="2750113"/>
              <a:ext cx="26091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It looks like you just multiply the numerators together and denominators together.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91" name="Google Shape;1091;p82"/>
          <p:cNvSpPr txBox="1"/>
          <p:nvPr/>
        </p:nvSpPr>
        <p:spPr>
          <a:xfrm>
            <a:off x="374800" y="4434000"/>
            <a:ext cx="372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 you agree with Sofia?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 of fractions</a:t>
            </a:r>
            <a:endParaRPr/>
          </a:p>
        </p:txBody>
      </p:sp>
      <p:sp>
        <p:nvSpPr>
          <p:cNvPr id="1097" name="Google Shape;1097;p83"/>
          <p:cNvSpPr txBox="1"/>
          <p:nvPr>
            <p:ph idx="1" type="body"/>
          </p:nvPr>
        </p:nvSpPr>
        <p:spPr>
          <a:xfrm>
            <a:off x="324000" y="759300"/>
            <a:ext cx="8496000" cy="112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multiplying two proper fractions you multiply the numerators to get the numerator of the product and multiply the denominators to get the denominator.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\times\frac{3}{4}=\frac{3\times3}{5\times4}=\frac{9}{20}&quot;&gt;&lt;mfrac&gt;&lt;mn&gt;3&lt;/mn&gt;&lt;mn&gt;5&lt;/mn&gt;&lt;/mfrac&gt;&lt;mo&gt;×&lt;/mo&gt;&lt;mfrac&gt;&lt;mn&gt;3&lt;/mn&gt;&lt;mn&gt;4&lt;/mn&gt;&lt;/mfrac&gt;&lt;mo&gt;=&lt;/mo&gt;&lt;mfrac&gt;&lt;mrow&gt;&lt;mn&gt;3&lt;/mn&gt;&lt;mo&gt;×&lt;/mo&gt;&lt;mn&gt;3&lt;/mn&gt;&lt;/mrow&gt;&lt;mrow&gt;&lt;mn&gt;5&lt;/mn&gt;&lt;mo&gt;×&lt;/mo&gt;&lt;mn&gt;4&lt;/mn&gt;&lt;/mrow&gt;&lt;/mfrac&gt;&lt;mo&gt;=&lt;/mo&gt;&lt;mfrac&gt;&lt;mn&gt;9&lt;/mn&gt;&lt;mn&gt;20&lt;/mn&gt;&lt;/mfrac&gt;&lt;/math&gt;" id="1098" name="Google Shape;1098;p83" title="three fifths times three fourths equals the fraction with numerator 3 times 3 and denominator 5 times 4 equals 9 over 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3025" y="2054025"/>
            <a:ext cx="3003400" cy="71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a}{b}\times\frac{c}{d}=\frac{a\times c}{b\times d}&quot;&gt;&lt;mfrac&gt;&lt;mi&gt;a&lt;/mi&gt;&lt;mi&gt;b&lt;/mi&gt;&lt;/mfrac&gt;&lt;mo&gt;×&lt;/mo&gt;&lt;mfrac&gt;&lt;mi&gt;c&lt;/mi&gt;&lt;mi&gt;d&lt;/mi&gt;&lt;/mfrac&gt;&lt;mo&gt;=&lt;/mo&gt;&lt;mfrac&gt;&lt;mrow&gt;&lt;mi&gt;a&lt;/mi&gt;&lt;mo&gt;×&lt;/mo&gt;&lt;mi&gt;c&lt;/mi&gt;&lt;/mrow&gt;&lt;mrow&gt;&lt;mi&gt;b&lt;/mi&gt;&lt;mo&gt;×&lt;/mo&gt;&lt;mi&gt;d&lt;/mi&gt;&lt;/mrow&gt;&lt;/mfrac&gt;&lt;/math&gt;" id="1099" name="Google Shape;1099;p83" title="a over b times c over d equals the fraction with numerator a times c and denominator b times 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1625" y="3240000"/>
            <a:ext cx="2491300" cy="76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83"/>
          <p:cNvSpPr txBox="1"/>
          <p:nvPr/>
        </p:nvSpPr>
        <p:spPr>
          <a:xfrm>
            <a:off x="324000" y="3188400"/>
            <a:ext cx="1841700" cy="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general,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1" name="Google Shape;1101;p83"/>
          <p:cNvCxnSpPr/>
          <p:nvPr/>
        </p:nvCxnSpPr>
        <p:spPr>
          <a:xfrm>
            <a:off x="6058425" y="2456528"/>
            <a:ext cx="0" cy="1180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2" name="Google Shape;1102;p83"/>
          <p:cNvCxnSpPr/>
          <p:nvPr/>
        </p:nvCxnSpPr>
        <p:spPr>
          <a:xfrm>
            <a:off x="6185156" y="2298544"/>
            <a:ext cx="774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03" name="Google Shape;1103;p83"/>
          <p:cNvSpPr/>
          <p:nvPr/>
        </p:nvSpPr>
        <p:spPr>
          <a:xfrm>
            <a:off x="6172975" y="2416200"/>
            <a:ext cx="797400" cy="1200300"/>
          </a:xfrm>
          <a:prstGeom prst="rect">
            <a:avLst/>
          </a:prstGeom>
          <a:solidFill>
            <a:srgbClr val="037B7D">
              <a:alpha val="396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04" name="Google Shape;1104;p83"/>
          <p:cNvGraphicFramePr/>
          <p:nvPr/>
        </p:nvGraphicFramePr>
        <p:xfrm>
          <a:off x="6172986" y="24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1800000"/>
              </a:tblGrid>
              <a:tr h="18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05" name="Google Shape;1105;p83"/>
          <p:cNvCxnSpPr/>
          <p:nvPr/>
        </p:nvCxnSpPr>
        <p:spPr>
          <a:xfrm>
            <a:off x="8094900" y="2409303"/>
            <a:ext cx="0" cy="17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6" name="Google Shape;1106;p83"/>
          <p:cNvCxnSpPr/>
          <p:nvPr/>
        </p:nvCxnSpPr>
        <p:spPr>
          <a:xfrm>
            <a:off x="6184231" y="4335019"/>
            <a:ext cx="1782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07" name="Google Shape;1107;p83"/>
          <p:cNvSpPr txBox="1"/>
          <p:nvPr/>
        </p:nvSpPr>
        <p:spPr>
          <a:xfrm>
            <a:off x="5684325" y="2676025"/>
            <a:ext cx="3741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8" name="Google Shape;1108;p83"/>
          <p:cNvSpPr txBox="1"/>
          <p:nvPr/>
        </p:nvSpPr>
        <p:spPr>
          <a:xfrm>
            <a:off x="8149950" y="3036600"/>
            <a:ext cx="3741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9" name="Google Shape;1109;p83"/>
          <p:cNvSpPr txBox="1"/>
          <p:nvPr/>
        </p:nvSpPr>
        <p:spPr>
          <a:xfrm>
            <a:off x="6384625" y="1758250"/>
            <a:ext cx="3741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0" name="Google Shape;1110;p83"/>
          <p:cNvSpPr txBox="1"/>
          <p:nvPr/>
        </p:nvSpPr>
        <p:spPr>
          <a:xfrm>
            <a:off x="6888325" y="4333850"/>
            <a:ext cx="3741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1" name="Google Shape;1111;p83"/>
          <p:cNvSpPr txBox="1"/>
          <p:nvPr/>
        </p:nvSpPr>
        <p:spPr>
          <a:xfrm>
            <a:off x="324000" y="2032500"/>
            <a:ext cx="1841700" cy="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e.g.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 of fractions</a:t>
            </a:r>
            <a:endParaRPr/>
          </a:p>
        </p:txBody>
      </p:sp>
      <p:sp>
        <p:nvSpPr>
          <p:cNvPr id="1117" name="Google Shape;1117;p84"/>
          <p:cNvSpPr txBox="1"/>
          <p:nvPr>
            <p:ph idx="1" type="body"/>
          </p:nvPr>
        </p:nvSpPr>
        <p:spPr>
          <a:xfrm>
            <a:off x="324000" y="759300"/>
            <a:ext cx="8569200" cy="128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Sofia is interested to know if you had more than two fractions if you would still just do the same.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do you think?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3}\times\frac{2}{5}\times\frac{3}{4}=\frac{1\times2}{3\times5}\times\frac{3}{4}=\frac{2}{15}\times\frac{3}{4}=\frac{2\times3}{15\times4}=\frac{6}{60}&quot;&gt;&lt;mfrac&gt;&lt;mn&gt;1&lt;/mn&gt;&lt;mn&gt;3&lt;/mn&gt;&lt;/mfrac&gt;&lt;mo&gt;×&lt;/mo&gt;&lt;mfrac&gt;&lt;mn&gt;2&lt;/mn&gt;&lt;mn&gt;5&lt;/mn&gt;&lt;/mfrac&gt;&lt;mo&gt;×&lt;/mo&gt;&lt;mfrac&gt;&lt;mn&gt;3&lt;/mn&gt;&lt;mn&gt;4&lt;/mn&gt;&lt;/mfrac&gt;&lt;mo&gt;=&lt;/mo&gt;&lt;mfrac&gt;&lt;mrow&gt;&lt;mn&gt;1&lt;/mn&gt;&lt;mo&gt;×&lt;/mo&gt;&lt;mn&gt;2&lt;/mn&gt;&lt;/mrow&gt;&lt;mrow&gt;&lt;mn&gt;3&lt;/mn&gt;&lt;mo&gt;×&lt;/mo&gt;&lt;mn&gt;5&lt;/mn&gt;&lt;/mrow&gt;&lt;/mfrac&gt;&lt;mo&gt;×&lt;/mo&gt;&lt;mfrac&gt;&lt;mn&gt;3&lt;/mn&gt;&lt;mn&gt;4&lt;/mn&gt;&lt;/mfrac&gt;&lt;mo&gt;=&lt;/mo&gt;&lt;mfrac&gt;&lt;mn&gt;2&lt;/mn&gt;&lt;mn&gt;15&lt;/mn&gt;&lt;/mfrac&gt;&lt;mo&gt;×&lt;/mo&gt;&lt;mfrac&gt;&lt;mn&gt;3&lt;/mn&gt;&lt;mn&gt;4&lt;/mn&gt;&lt;/mfrac&gt;&lt;mo&gt;=&lt;/mo&gt;&lt;mfrac&gt;&lt;mrow&gt;&lt;mn&gt;2&lt;/mn&gt;&lt;mo&gt;×&lt;/mo&gt;&lt;mn&gt;3&lt;/mn&gt;&lt;/mrow&gt;&lt;mrow&gt;&lt;mn&gt;15&lt;/mn&gt;&lt;mo&gt;×&lt;/mo&gt;&lt;mn&gt;4&lt;/mn&gt;&lt;/mrow&gt;&lt;/mfrac&gt;&lt;mo&gt;=&lt;/mo&gt;&lt;mfrac&gt;&lt;mn&gt;6&lt;/mn&gt;&lt;mn&gt;60&lt;/mn&gt;&lt;/mfrac&gt;&lt;/math&gt;" id="1118" name="Google Shape;1118;p84" title="one third times two fifths times three fourths equals the fraction with numerator 1 times 2 and denominator 3 times 5 times three fourths equals 2 over 15 times three fourths equals the fraction with numerator 2 times 3 and denominator 15 times 4 equals 6 over 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290283"/>
            <a:ext cx="6467698" cy="6318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times\frac{2}{5}\times\frac{3}{4}=\frac{1\times2\times3}{3\times5\times4}=\frac{6}{60}&quot;&gt;&lt;mfrac&gt;&lt;mn&gt;1&lt;/mn&gt;&lt;mn&gt;3&lt;/mn&gt;&lt;/mfrac&gt;&lt;mo&gt;×&lt;/mo&gt;&lt;mfrac&gt;&lt;mn&gt;2&lt;/mn&gt;&lt;mn&gt;5&lt;/mn&gt;&lt;/mfrac&gt;&lt;mo&gt;×&lt;/mo&gt;&lt;mfrac&gt;&lt;mn&gt;3&lt;/mn&gt;&lt;mn&gt;4&lt;/mn&gt;&lt;/mfrac&gt;&lt;mo&gt;=&lt;/mo&gt;&lt;mfrac&gt;&lt;mrow&gt;&lt;mn&gt;1&lt;/mn&gt;&lt;mo&gt;×&lt;/mo&gt;&lt;mn&gt;2&lt;/mn&gt;&lt;mo&gt;×&lt;/mo&gt;&lt;mn&gt;3&lt;/mn&gt;&lt;/mrow&gt;&lt;mrow&gt;&lt;mn&gt;3&lt;/mn&gt;&lt;mo&gt;×&lt;/mo&gt;&lt;mn&gt;5&lt;/mn&gt;&lt;mo&gt;×&lt;/mo&gt;&lt;mn&gt;4&lt;/mn&gt;&lt;/mrow&gt;&lt;/mfrac&gt;&lt;mo&gt;=&lt;/mo&gt;&lt;mfrac&gt;&lt;mn&gt;6&lt;/mn&gt;&lt;mn&gt;60&lt;/mn&gt;&lt;/mfrac&gt;&lt;/math&gt;" id="1119" name="Google Shape;1119;p84" title="one third times two fifths times three fourths equals the fraction with numerator 1 times 2 times 3 and denominator 3 times 5 times 4 equals 6 over 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992" y="3780000"/>
            <a:ext cx="3899119" cy="65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84"/>
          <p:cNvSpPr/>
          <p:nvPr/>
        </p:nvSpPr>
        <p:spPr>
          <a:xfrm>
            <a:off x="1773225" y="2225100"/>
            <a:ext cx="1674900" cy="79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84"/>
          <p:cNvSpPr/>
          <p:nvPr/>
        </p:nvSpPr>
        <p:spPr>
          <a:xfrm>
            <a:off x="4849650" y="2260975"/>
            <a:ext cx="2104200" cy="79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84"/>
          <p:cNvSpPr/>
          <p:nvPr/>
        </p:nvSpPr>
        <p:spPr>
          <a:xfrm>
            <a:off x="1825050" y="3712425"/>
            <a:ext cx="1674900" cy="79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84"/>
          <p:cNvSpPr/>
          <p:nvPr/>
        </p:nvSpPr>
        <p:spPr>
          <a:xfrm>
            <a:off x="3429150" y="3780000"/>
            <a:ext cx="794100" cy="79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84"/>
          <p:cNvSpPr/>
          <p:nvPr/>
        </p:nvSpPr>
        <p:spPr>
          <a:xfrm>
            <a:off x="3429150" y="2260975"/>
            <a:ext cx="1394700" cy="79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 of fractions</a:t>
            </a:r>
            <a:endParaRPr/>
          </a:p>
        </p:txBody>
      </p:sp>
      <p:sp>
        <p:nvSpPr>
          <p:cNvPr id="1130" name="Google Shape;1130;p85"/>
          <p:cNvSpPr txBox="1"/>
          <p:nvPr>
            <p:ph idx="1" type="subTitle"/>
          </p:nvPr>
        </p:nvSpPr>
        <p:spPr>
          <a:xfrm>
            <a:off x="337825" y="810000"/>
            <a:ext cx="4234200" cy="9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Calculate the answer to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Give your answer in its simplest form.</a:t>
            </a:r>
            <a:endParaRPr/>
          </a:p>
        </p:txBody>
      </p:sp>
      <p:sp>
        <p:nvSpPr>
          <p:cNvPr id="1131" name="Google Shape;1131;p85"/>
          <p:cNvSpPr txBox="1"/>
          <p:nvPr>
            <p:ph idx="2" type="subTitle"/>
          </p:nvPr>
        </p:nvSpPr>
        <p:spPr>
          <a:xfrm>
            <a:off x="4671600" y="810000"/>
            <a:ext cx="4142700" cy="9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Calculate the answer to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Give your answer in its simplest form.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\times\frac{1}{2}\times\frac{2}{3}=\frac{2\times1\times2}{5\times2\times3}=\frac{4}{30}=\frac{2}{15}&quot;&gt;&lt;mfrac&gt;&lt;mn&gt;2&lt;/mn&gt;&lt;mn&gt;5&lt;/mn&gt;&lt;/mfrac&gt;&lt;mo&gt;×&lt;/mo&gt;&lt;mfrac&gt;&lt;mn&gt;1&lt;/mn&gt;&lt;mn&gt;2&lt;/mn&gt;&lt;/mfrac&gt;&lt;mo&gt;×&lt;/mo&gt;&lt;mfrac&gt;&lt;mn&gt;2&lt;/mn&gt;&lt;mn&gt;3&lt;/mn&gt;&lt;/mfrac&gt;&lt;mo&gt;=&lt;/mo&gt;&lt;mfrac&gt;&lt;mrow&gt;&lt;mn&gt;2&lt;/mn&gt;&lt;mo&gt;×&lt;/mo&gt;&lt;mn&gt;1&lt;/mn&gt;&lt;mo&gt;×&lt;/mo&gt;&lt;mn&gt;2&lt;/mn&gt;&lt;/mrow&gt;&lt;mrow&gt;&lt;mn&gt;5&lt;/mn&gt;&lt;mo&gt;×&lt;/mo&gt;&lt;mn&gt;2&lt;/mn&gt;&lt;mo&gt;×&lt;/mo&gt;&lt;mn&gt;3&lt;/mn&gt;&lt;/mrow&gt;&lt;/mfrac&gt;&lt;mo&gt;=&lt;/mo&gt;&lt;mfrac&gt;&lt;mn&gt;4&lt;/mn&gt;&lt;mn&gt;30&lt;/mn&gt;&lt;/mfrac&gt;&lt;mo&gt;=&lt;/mo&gt;&lt;mfrac&gt;&lt;mn&gt;2&lt;/mn&gt;&lt;mn&gt;15&lt;/mn&gt;&lt;/mfrac&gt;&lt;/math&gt;" id="1132" name="Google Shape;1132;p85" title="two fifths times one half times two thirds equals the fraction with numerator 2 times 1 times 2 and denominator 5 times 2 times 3 equals 4 over 30 equals 2 over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7088" y="2291862"/>
            <a:ext cx="3996025" cy="5597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times\frac{2}{3}\times\frac{3}{4}=\frac{5\times2\times3}{6\times3\times4}=\frac{30}{72}=\frac{5}{12}&quot;&gt;&lt;mfrac&gt;&lt;mn&gt;5&lt;/mn&gt;&lt;mn&gt;6&lt;/mn&gt;&lt;/mfrac&gt;&lt;mo&gt;×&lt;/mo&gt;&lt;mfrac&gt;&lt;mn&gt;2&lt;/mn&gt;&lt;mn&gt;3&lt;/mn&gt;&lt;/mfrac&gt;&lt;mo&gt;×&lt;/mo&gt;&lt;mfrac&gt;&lt;mn&gt;3&lt;/mn&gt;&lt;mn&gt;4&lt;/mn&gt;&lt;/mfrac&gt;&lt;mo&gt;=&lt;/mo&gt;&lt;mfrac&gt;&lt;mrow&gt;&lt;mn&gt;5&lt;/mn&gt;&lt;mo&gt;×&lt;/mo&gt;&lt;mn&gt;2&lt;/mn&gt;&lt;mo&gt;×&lt;/mo&gt;&lt;mn&gt;3&lt;/mn&gt;&lt;/mrow&gt;&lt;mrow&gt;&lt;mn&gt;6&lt;/mn&gt;&lt;mo&gt;×&lt;/mo&gt;&lt;mn&gt;3&lt;/mn&gt;&lt;mo&gt;×&lt;/mo&gt;&lt;mn&gt;4&lt;/mn&gt;&lt;/mrow&gt;&lt;/mfrac&gt;&lt;mo&gt;=&lt;/mo&gt;&lt;mfrac&gt;&lt;mn&gt;30&lt;/mn&gt;&lt;mn&gt;72&lt;/mn&gt;&lt;/mfrac&gt;&lt;mo&gt;=&lt;/mo&gt;&lt;mfrac&gt;&lt;mn&gt;5&lt;/mn&gt;&lt;mn&gt;12&lt;/mn&gt;&lt;/mfrac&gt;&lt;/math&gt;" id="1133" name="Google Shape;1133;p85" title="five sixths times two thirds times three fourths equals the fraction with numerator 5 times 2 times 3 and denominator 6 times 3 times 4 equals 30 over 72 equals 5 over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3" y="2297015"/>
            <a:ext cx="3925263" cy="54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times\frac{2}{3}\times\frac{3}{4}=\frac{5\times2\times3}{6\times3\times4}=\frac{30}{72}=\frac{5}{12}&quot;&gt;&lt;mfrac&gt;&lt;mn&gt;5&lt;/mn&gt;&lt;mn&gt;6&lt;/mn&gt;&lt;/mfrac&gt;&lt;mo&gt;×&lt;/mo&gt;&lt;mfrac&gt;&lt;mn&gt;2&lt;/mn&gt;&lt;mn&gt;3&lt;/mn&gt;&lt;/mfrac&gt;&lt;mo&gt;×&lt;/mo&gt;&lt;mfrac&gt;&lt;mn&gt;3&lt;/mn&gt;&lt;mn&gt;4&lt;/mn&gt;&lt;/mfrac&gt;&lt;mo&gt;=&lt;/mo&gt;&lt;mfrac&gt;&lt;mrow&gt;&lt;mn&gt;5&lt;/mn&gt;&lt;mo&gt;×&lt;/mo&gt;&lt;mn&gt;2&lt;/mn&gt;&lt;mo&gt;×&lt;/mo&gt;&lt;mn&gt;3&lt;/mn&gt;&lt;/mrow&gt;&lt;mrow&gt;&lt;mn&gt;6&lt;/mn&gt;&lt;mo&gt;×&lt;/mo&gt;&lt;mn&gt;3&lt;/mn&gt;&lt;mo&gt;×&lt;/mo&gt;&lt;mn&gt;4&lt;/mn&gt;&lt;/mrow&gt;&lt;/mfrac&gt;&lt;mo&gt;=&lt;/mo&gt;&lt;mfrac&gt;&lt;mn&gt;30&lt;/mn&gt;&lt;mn&gt;72&lt;/mn&gt;&lt;/mfrac&gt;&lt;mo&gt;=&lt;/mo&gt;&lt;mfrac&gt;&lt;mn&gt;5&lt;/mn&gt;&lt;mn&gt;12&lt;/mn&gt;&lt;/mfrac&gt;&lt;/math&gt;" id="1134" name="Google Shape;1134;p85" title="five sixths times two thirds times three fourths equals the fraction with numerator 5 times 2 times 3 and denominator 6 times 3 times 4 equals 30 over 72 equals 5 over 12"/>
          <p:cNvPicPr preferRelativeResize="0"/>
          <p:nvPr/>
        </p:nvPicPr>
        <p:blipFill rotWithShape="1">
          <a:blip r:embed="rId4">
            <a:alphaModFix/>
          </a:blip>
          <a:srcRect b="0" l="0" r="67927" t="0"/>
          <a:stretch/>
        </p:blipFill>
        <p:spPr>
          <a:xfrm>
            <a:off x="3047675" y="722027"/>
            <a:ext cx="1125402" cy="4911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\times\frac{1}{2}\times\frac{2}{3}=\frac{2\times1\times2}{5\times2\times3}=\frac{4}{30}=\frac{2}{15}&quot;&gt;&lt;mfrac&gt;&lt;mn&gt;2&lt;/mn&gt;&lt;mn&gt;5&lt;/mn&gt;&lt;/mfrac&gt;&lt;mo&gt;×&lt;/mo&gt;&lt;mfrac&gt;&lt;mn&gt;1&lt;/mn&gt;&lt;mn&gt;2&lt;/mn&gt;&lt;/mfrac&gt;&lt;mo&gt;×&lt;/mo&gt;&lt;mfrac&gt;&lt;mn&gt;2&lt;/mn&gt;&lt;mn&gt;3&lt;/mn&gt;&lt;/mfrac&gt;&lt;mo&gt;=&lt;/mo&gt;&lt;mfrac&gt;&lt;mrow&gt;&lt;mn&gt;2&lt;/mn&gt;&lt;mo&gt;×&lt;/mo&gt;&lt;mn&gt;1&lt;/mn&gt;&lt;mo&gt;×&lt;/mo&gt;&lt;mn&gt;2&lt;/mn&gt;&lt;/mrow&gt;&lt;mrow&gt;&lt;mn&gt;5&lt;/mn&gt;&lt;mo&gt;×&lt;/mo&gt;&lt;mn&gt;2&lt;/mn&gt;&lt;mo&gt;×&lt;/mo&gt;&lt;mn&gt;3&lt;/mn&gt;&lt;/mrow&gt;&lt;/mfrac&gt;&lt;mo&gt;=&lt;/mo&gt;&lt;mfrac&gt;&lt;mn&gt;4&lt;/mn&gt;&lt;mn&gt;30&lt;/mn&gt;&lt;/mfrac&gt;&lt;mo&gt;=&lt;/mo&gt;&lt;mfrac&gt;&lt;mn&gt;2&lt;/mn&gt;&lt;mn&gt;15&lt;/mn&gt;&lt;/mfrac&gt;&lt;/math&gt;" id="1135" name="Google Shape;1135;p85" title="two fifths times one half times two thirds equals the fraction with numerator 2 times 1 times 2 and denominator 5 times 2 times 3 equals 4 over 30 equals 2 over 15"/>
          <p:cNvPicPr preferRelativeResize="0"/>
          <p:nvPr/>
        </p:nvPicPr>
        <p:blipFill rotWithShape="1">
          <a:blip r:embed="rId3">
            <a:alphaModFix/>
          </a:blip>
          <a:srcRect b="0" l="0" r="68496" t="0"/>
          <a:stretch/>
        </p:blipFill>
        <p:spPr>
          <a:xfrm>
            <a:off x="7351096" y="717412"/>
            <a:ext cx="1125404" cy="500384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85"/>
          <p:cNvSpPr/>
          <p:nvPr/>
        </p:nvSpPr>
        <p:spPr>
          <a:xfrm>
            <a:off x="1577225" y="2235700"/>
            <a:ext cx="1342500" cy="70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85"/>
          <p:cNvSpPr/>
          <p:nvPr/>
        </p:nvSpPr>
        <p:spPr>
          <a:xfrm>
            <a:off x="2944500" y="2219550"/>
            <a:ext cx="709200" cy="70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85"/>
          <p:cNvSpPr/>
          <p:nvPr/>
        </p:nvSpPr>
        <p:spPr>
          <a:xfrm>
            <a:off x="3678475" y="2266025"/>
            <a:ext cx="641400" cy="70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86"/>
          <p:cNvSpPr txBox="1"/>
          <p:nvPr>
            <p:ph idx="1" type="body"/>
          </p:nvPr>
        </p:nvSpPr>
        <p:spPr>
          <a:xfrm>
            <a:off x="324000" y="759300"/>
            <a:ext cx="8237700" cy="42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may have noticed that some products need simplifying.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 of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6}\times\frac{3}{5}=\frac{15}{30}=\frac{1}{2}&quot;&gt;&lt;mfrac&gt;&lt;mn&gt;5&lt;/mn&gt;&lt;mn&gt;6&lt;/mn&gt;&lt;/mfrac&gt;&lt;mo&gt;×&lt;/mo&gt;&lt;mfrac&gt;&lt;mn&gt;3&lt;/mn&gt;&lt;mn&gt;5&lt;/mn&gt;&lt;/mfrac&gt;&lt;mo&gt;=&lt;/mo&gt;&lt;mfrac&gt;&lt;mn&gt;15&lt;/mn&gt;&lt;mn&gt;30&lt;/mn&gt;&lt;/mfrac&gt;&lt;mo&gt;=&lt;/mo&gt;&lt;mfrac&gt;&lt;mn&gt;1&lt;/mn&gt;&lt;mn&gt;2&lt;/mn&gt;&lt;/mfrac&gt;&lt;/math&gt;" id="1145" name="Google Shape;1145;p86" title="five sixths times three fifths equals 15 over 30 equals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0175" y="1265400"/>
            <a:ext cx="2603650" cy="75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86"/>
          <p:cNvSpPr txBox="1"/>
          <p:nvPr>
            <p:ph idx="1" type="body"/>
          </p:nvPr>
        </p:nvSpPr>
        <p:spPr>
          <a:xfrm>
            <a:off x="324000" y="2802875"/>
            <a:ext cx="8496000" cy="14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could have noticed some common factors to simplify first.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6}\times\frac{3}{5}=\frac{5\times3}{\textcolor{#9958B4}{6}\times5}=\frac{5\times3\textcolor{#18A089}{\times1}}{5\times\textcolor{#9958B4}{3\times2}}=1\times\frac{1}{2}&quot;&gt;&lt;mfrac&gt;&lt;mn&gt;5&lt;/mn&gt;&lt;mn&gt;6&lt;/mn&gt;&lt;/mfrac&gt;&lt;mo&gt;×&lt;/mo&gt;&lt;mfrac&gt;&lt;mn&gt;3&lt;/mn&gt;&lt;mn&gt;5&lt;/mn&gt;&lt;/mfrac&gt;&lt;mo&gt;=&lt;/mo&gt;&lt;mfrac&gt;&lt;mrow&gt;&lt;mn&gt;5&lt;/mn&gt;&lt;mo&gt;×&lt;/mo&gt;&lt;mn&gt;3&lt;/mn&gt;&lt;/mrow&gt;&lt;mrow&gt;&lt;mstyle mathcolor=&quot;#9958B4&quot;&gt;&lt;mn&gt;6&lt;/mn&gt;&lt;/mstyle&gt;&lt;mo&gt;×&lt;/mo&gt;&lt;mn&gt;5&lt;/mn&gt;&lt;/mrow&gt;&lt;/mfrac&gt;&lt;mo&gt;=&lt;/mo&gt;&lt;mfrac&gt;&lt;mrow&gt;&lt;mn&gt;5&lt;/mn&gt;&lt;mo&gt;×&lt;/mo&gt;&lt;mn&gt;3&lt;/mn&gt;&lt;mstyle mathcolor=&quot;#18A089&quot;&gt;&lt;mo&gt;×&lt;/mo&gt;&lt;mn&gt;1&lt;/mn&gt;&lt;/mstyle&gt;&lt;/mrow&gt;&lt;mrow&gt;&lt;mn&gt;5&lt;/mn&gt;&lt;mo&gt;×&lt;/mo&gt;&lt;mstyle mathcolor=&quot;#9958B4&quot;&gt;&lt;mn&gt;3&lt;/mn&gt;&lt;mo&gt;×&lt;/mo&gt;&lt;mn&gt;2&lt;/mn&gt;&lt;/mstyle&gt;&lt;/mrow&gt;&lt;/mfrac&gt;&lt;mo&gt;=&lt;/mo&gt;&lt;mn&gt;1&lt;/mn&gt;&lt;mo&gt;×&lt;/mo&gt;&lt;mfrac&gt;&lt;mn&gt;1&lt;/mn&gt;&lt;mn&gt;2&lt;/mn&gt;&lt;/mfrac&gt;&lt;/math&gt;" id="1147" name="Google Shape;1147;p86" title="five sixths times three fifths equals the fraction with numerator 5 times 3 and denominator 6 times 5 equals the fraction with numerator 5 times 3 times 1 and denominator 5 times 3 times 2 equals 1 times one half"/>
          <p:cNvPicPr preferRelativeResize="0"/>
          <p:nvPr/>
        </p:nvPicPr>
        <p:blipFill rotWithShape="1">
          <a:blip r:embed="rId4">
            <a:alphaModFix/>
          </a:blip>
          <a:srcRect b="0" l="77251" r="0" t="0"/>
          <a:stretch/>
        </p:blipFill>
        <p:spPr>
          <a:xfrm>
            <a:off x="6490725" y="3356075"/>
            <a:ext cx="1239074" cy="75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8" name="Google Shape;1148;p86"/>
          <p:cNvSpPr/>
          <p:nvPr/>
        </p:nvSpPr>
        <p:spPr>
          <a:xfrm>
            <a:off x="5014875" y="3205250"/>
            <a:ext cx="847800" cy="1074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86"/>
          <p:cNvSpPr/>
          <p:nvPr/>
        </p:nvSpPr>
        <p:spPr>
          <a:xfrm>
            <a:off x="6821075" y="3205250"/>
            <a:ext cx="318600" cy="1074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6}\times\frac{3}{5}=\frac{5\times3}{\textcolor{#9958B4}{6}\times5}=\frac{5\times3\textcolor{#18A089}{\times1}}{5\times\textcolor{#9958B4}{3\times2}}=1\times\frac{1}{2}&quot;&gt;&lt;mfrac&gt;&lt;mn&gt;5&lt;/mn&gt;&lt;mn&gt;6&lt;/mn&gt;&lt;/mfrac&gt;&lt;mo&gt;×&lt;/mo&gt;&lt;mfrac&gt;&lt;mn&gt;3&lt;/mn&gt;&lt;mn&gt;5&lt;/mn&gt;&lt;/mfrac&gt;&lt;mo&gt;=&lt;/mo&gt;&lt;mfrac&gt;&lt;mrow&gt;&lt;mn&gt;5&lt;/mn&gt;&lt;mo&gt;×&lt;/mo&gt;&lt;mn&gt;3&lt;/mn&gt;&lt;/mrow&gt;&lt;mrow&gt;&lt;mstyle mathcolor=&quot;#9958B4&quot;&gt;&lt;mn&gt;6&lt;/mn&gt;&lt;/mstyle&gt;&lt;mo&gt;×&lt;/mo&gt;&lt;mn&gt;5&lt;/mn&gt;&lt;/mrow&gt;&lt;/mfrac&gt;&lt;mo&gt;=&lt;/mo&gt;&lt;mfrac&gt;&lt;mrow&gt;&lt;mn&gt;5&lt;/mn&gt;&lt;mo&gt;×&lt;/mo&gt;&lt;mn&gt;3&lt;/mn&gt;&lt;mstyle mathcolor=&quot;#18A089&quot;&gt;&lt;mo&gt;×&lt;/mo&gt;&lt;mn&gt;1&lt;/mn&gt;&lt;/mstyle&gt;&lt;/mrow&gt;&lt;mrow&gt;&lt;mn&gt;5&lt;/mn&gt;&lt;mo&gt;×&lt;/mo&gt;&lt;mstyle mathcolor=&quot;#9958B4&quot;&gt;&lt;mn&gt;3&lt;/mn&gt;&lt;mo&gt;×&lt;/mo&gt;&lt;mn&gt;2&lt;/mn&gt;&lt;/mstyle&gt;&lt;/mrow&gt;&lt;/mfrac&gt;&lt;mo&gt;=&lt;/mo&gt;&lt;mn&gt;1&lt;/mn&gt;&lt;mo&gt;×&lt;/mo&gt;&lt;mfrac&gt;&lt;mn&gt;1&lt;/mn&gt;&lt;mn&gt;2&lt;/mn&gt;&lt;/mfrac&gt;&lt;/math&gt;" id="1150" name="Google Shape;1150;p86" title="five sixths times three fifths equals the fraction with numerator 5 times 3 and denominator 6 times 5 equals the fraction with numerator 5 times 3 times 1 and denominator 5 times 3 times 2 equals 1 times one half"/>
          <p:cNvPicPr preferRelativeResize="0"/>
          <p:nvPr/>
        </p:nvPicPr>
        <p:blipFill rotWithShape="1">
          <a:blip r:embed="rId4">
            <a:alphaModFix/>
          </a:blip>
          <a:srcRect b="0" l="0" r="56954" t="0"/>
          <a:stretch/>
        </p:blipFill>
        <p:spPr>
          <a:xfrm>
            <a:off x="2282950" y="3361591"/>
            <a:ext cx="2344650" cy="75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times\frac{3}{5}=\frac{5\times3}{\textcolor{#9958B4}{6}\times5}=\frac{5\times3\textcolor{#18A089}{\times1}}{5\times\textcolor{#9958B4}{3\times2}}=1\times\frac{1}{2}&quot;&gt;&lt;mfrac&gt;&lt;mn&gt;5&lt;/mn&gt;&lt;mn&gt;6&lt;/mn&gt;&lt;/mfrac&gt;&lt;mo&gt;×&lt;/mo&gt;&lt;mfrac&gt;&lt;mn&gt;3&lt;/mn&gt;&lt;mn&gt;5&lt;/mn&gt;&lt;/mfrac&gt;&lt;mo&gt;=&lt;/mo&gt;&lt;mfrac&gt;&lt;mrow&gt;&lt;mn&gt;5&lt;/mn&gt;&lt;mo&gt;×&lt;/mo&gt;&lt;mn&gt;3&lt;/mn&gt;&lt;/mrow&gt;&lt;mrow&gt;&lt;mstyle mathcolor=&quot;#9958B4&quot;&gt;&lt;mn&gt;6&lt;/mn&gt;&lt;/mstyle&gt;&lt;mo&gt;×&lt;/mo&gt;&lt;mn&gt;5&lt;/mn&gt;&lt;/mrow&gt;&lt;/mfrac&gt;&lt;mo&gt;=&lt;/mo&gt;&lt;mfrac&gt;&lt;mrow&gt;&lt;mn&gt;5&lt;/mn&gt;&lt;mo&gt;×&lt;/mo&gt;&lt;mn&gt;3&lt;/mn&gt;&lt;mstyle mathcolor=&quot;#18A089&quot;&gt;&lt;mo&gt;×&lt;/mo&gt;&lt;mn&gt;1&lt;/mn&gt;&lt;/mstyle&gt;&lt;/mrow&gt;&lt;mrow&gt;&lt;mn&gt;5&lt;/mn&gt;&lt;mo&gt;×&lt;/mo&gt;&lt;mstyle mathcolor=&quot;#9958B4&quot;&gt;&lt;mn&gt;3&lt;/mn&gt;&lt;mo&gt;×&lt;/mo&gt;&lt;mn&gt;2&lt;/mn&gt;&lt;/mstyle&gt;&lt;/mrow&gt;&lt;/mfrac&gt;&lt;mo&gt;=&lt;/mo&gt;&lt;mn&gt;1&lt;/mn&gt;&lt;mo&gt;×&lt;/mo&gt;&lt;mfrac&gt;&lt;mn&gt;1&lt;/mn&gt;&lt;mn&gt;2&lt;/mn&gt;&lt;/mfrac&gt;&lt;/math&gt;" id="1151" name="Google Shape;1151;p86" title="five sixths times three fifths equals the fraction with numerator 5 times 3 and denominator 6 times 5 equals the fraction with numerator 5 times 3 times 1 and denominator 5 times 3 times 2 equals 1 times one half"/>
          <p:cNvPicPr preferRelativeResize="0"/>
          <p:nvPr/>
        </p:nvPicPr>
        <p:blipFill rotWithShape="1">
          <a:blip r:embed="rId4">
            <a:alphaModFix/>
          </a:blip>
          <a:srcRect b="0" l="42023" r="21981" t="0"/>
          <a:stretch/>
        </p:blipFill>
        <p:spPr>
          <a:xfrm>
            <a:off x="4572000" y="3362133"/>
            <a:ext cx="1960601" cy="75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86"/>
          <p:cNvSpPr txBox="1"/>
          <p:nvPr/>
        </p:nvSpPr>
        <p:spPr>
          <a:xfrm>
            <a:off x="324000" y="2207375"/>
            <a:ext cx="8496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can simplify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before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multiplying to be more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efficient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87"/>
          <p:cNvSpPr txBox="1"/>
          <p:nvPr>
            <p:ph idx="1" type="body"/>
          </p:nvPr>
        </p:nvSpPr>
        <p:spPr>
          <a:xfrm>
            <a:off x="324000" y="759300"/>
            <a:ext cx="8237700" cy="33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Andeep tried to simplify this calculation before multiplying.</a:t>
            </a:r>
            <a:endParaRPr/>
          </a:p>
        </p:txBody>
      </p:sp>
      <p:sp>
        <p:nvSpPr>
          <p:cNvPr id="1158" name="Google Shape;115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 of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4}{5}\times\frac{2}{3}=\frac{8}{15}\ \text{m}^2\ &quot;&gt;&lt;mfrac&gt;&lt;mn&gt;4&lt;/mn&gt;&lt;mn&gt;5&lt;/mn&gt;&lt;/mfrac&gt;&lt;mo&gt;×&lt;/mo&gt;&lt;mfrac&gt;&lt;mn&gt;2&lt;/mn&gt;&lt;mn&gt;3&lt;/mn&gt;&lt;/mfrac&gt;&lt;mo&gt;=&lt;/mo&gt;&lt;mfrac&gt;&lt;mn&gt;8&lt;/mn&gt;&lt;mn&gt;15&lt;/mn&gt;&lt;/mfrac&gt;&lt;mtext&gt;&lt;/mtext&gt;&lt;msup&gt;&lt;mtext&gt;m&lt;/mtext&gt;&lt;mn&gt;2&lt;/mn&gt;&lt;/msup&gt;&lt;mtext&gt;&lt;/mtext&gt;&lt;/math&gt;" id="1159" name="Google Shape;1159;p87" title="four fifths times two thirds equals 8 over 15 m to the second power"/>
          <p:cNvPicPr preferRelativeResize="0"/>
          <p:nvPr/>
        </p:nvPicPr>
        <p:blipFill rotWithShape="1">
          <a:blip r:embed="rId3">
            <a:alphaModFix/>
          </a:blip>
          <a:srcRect b="0" l="0" r="55349" t="0"/>
          <a:stretch/>
        </p:blipFill>
        <p:spPr>
          <a:xfrm>
            <a:off x="4198500" y="1230150"/>
            <a:ext cx="87415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times\frac{2}{3}=\frac{8}{15}\ \text{m}^2\ &quot;&gt;&lt;mfrac&gt;&lt;mn&gt;4&lt;/mn&gt;&lt;mn&gt;5&lt;/mn&gt;&lt;/mfrac&gt;&lt;mo&gt;×&lt;/mo&gt;&lt;mfrac&gt;&lt;mn&gt;2&lt;/mn&gt;&lt;mn&gt;3&lt;/mn&gt;&lt;/mfrac&gt;&lt;mo&gt;=&lt;/mo&gt;&lt;mfrac&gt;&lt;mn&gt;8&lt;/mn&gt;&lt;mn&gt;15&lt;/mn&gt;&lt;/mfrac&gt;&lt;mtext&gt;&lt;/mtext&gt;&lt;msup&gt;&lt;mtext&gt;m&lt;/mtext&gt;&lt;mn&gt;2&lt;/mn&gt;&lt;/msup&gt;&lt;mtext&gt;&lt;/mtext&gt;&lt;/math&gt;" id="1160" name="Google Shape;1160;p87" title="four fifths times two thirds equals 8 over 15 m to the second power"/>
          <p:cNvPicPr preferRelativeResize="0"/>
          <p:nvPr/>
        </p:nvPicPr>
        <p:blipFill rotWithShape="1">
          <a:blip r:embed="rId3">
            <a:alphaModFix/>
          </a:blip>
          <a:srcRect b="0" l="0" r="17641" t="0"/>
          <a:stretch/>
        </p:blipFill>
        <p:spPr>
          <a:xfrm>
            <a:off x="323989" y="3434125"/>
            <a:ext cx="161246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times\frac{2}{3}=\frac{4\times2}{5\times3}\ =\frac{2\times2\times2}{5\times3}=\frac{2\times2\times2}{5\times3}=\frac{2}{15}&quot;&gt;&lt;mfrac&gt;&lt;mn&gt;4&lt;/mn&gt;&lt;mn&gt;5&lt;/mn&gt;&lt;/mfrac&gt;&lt;mo&gt;×&lt;/mo&gt;&lt;mfrac&gt;&lt;mn&gt;2&lt;/mn&gt;&lt;mn&gt;3&lt;/mn&gt;&lt;/mfrac&gt;&lt;mo&gt;=&lt;/mo&gt;&lt;mfrac&gt;&lt;mrow&gt;&lt;mn&gt;4&lt;/mn&gt;&lt;mo&gt;×&lt;/mo&gt;&lt;mn&gt;2&lt;/mn&gt;&lt;/mrow&gt;&lt;mrow&gt;&lt;mn&gt;5&lt;/mn&gt;&lt;mo&gt;×&lt;/mo&gt;&lt;mn&gt;3&lt;/mn&gt;&lt;/mrow&gt;&lt;/mfrac&gt;&lt;mtext&gt;&lt;/mtext&gt;&lt;mo&gt;=&lt;/mo&gt;&lt;mfrac&gt;&lt;mrow&gt;&lt;mn&gt;2&lt;/mn&gt;&lt;mo&gt;×&lt;/mo&gt;&lt;mn&gt;2&lt;/mn&gt;&lt;mo&gt;×&lt;/mo&gt;&lt;mn&gt;2&lt;/mn&gt;&lt;/mrow&gt;&lt;mrow&gt;&lt;mn&gt;5&lt;/mn&gt;&lt;mo&gt;×&lt;/mo&gt;&lt;mn&gt;3&lt;/mn&gt;&lt;/mrow&gt;&lt;/mfrac&gt;&lt;mo&gt;=&lt;/mo&gt;&lt;mfrac&gt;&lt;mrow&gt;&lt;mn&gt;2&lt;/mn&gt;&lt;mo&gt;×&lt;/mo&gt;&lt;mn&gt;2&lt;/mn&gt;&lt;mo&gt;×&lt;/mo&gt;&lt;mn&gt;2&lt;/mn&gt;&lt;/mrow&gt;&lt;mrow&gt;&lt;mn&gt;5&lt;/mn&gt;&lt;mo&gt;×&lt;/mo&gt;&lt;mn&gt;3&lt;/mn&gt;&lt;/mrow&gt;&lt;/mfrac&gt;&lt;mo&gt;=&lt;/mo&gt;&lt;mfrac&gt;&lt;mn&gt;2&lt;/mn&gt;&lt;mn&gt;15&lt;/mn&gt;&lt;/mfrac&gt;&lt;/math&gt;" id="1161" name="Google Shape;1161;p87" title="four fifths times two thirds equals the fraction with numerator 4 times 2 and denominator 5 times 3 equals the fraction with numerator 2 times 2 times 2 and denominator 5 times 3 equals the fraction with numerator 2 times 2 times 2 and denominator 5 times 3 equals 2 over 15"/>
          <p:cNvPicPr preferRelativeResize="0"/>
          <p:nvPr/>
        </p:nvPicPr>
        <p:blipFill rotWithShape="1">
          <a:blip r:embed="rId4">
            <a:alphaModFix/>
          </a:blip>
          <a:srcRect b="0" l="0" r="38118" t="0"/>
          <a:stretch/>
        </p:blipFill>
        <p:spPr>
          <a:xfrm>
            <a:off x="1953550" y="2160000"/>
            <a:ext cx="3552476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87"/>
          <p:cNvSpPr txBox="1"/>
          <p:nvPr/>
        </p:nvSpPr>
        <p:spPr>
          <a:xfrm>
            <a:off x="324000" y="3003025"/>
            <a:ext cx="849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mistake has he made?</a:t>
            </a:r>
            <a:endParaRPr/>
          </a:p>
        </p:txBody>
      </p:sp>
      <p:grpSp>
        <p:nvGrpSpPr>
          <p:cNvPr id="1163" name="Google Shape;1163;p87"/>
          <p:cNvGrpSpPr/>
          <p:nvPr/>
        </p:nvGrpSpPr>
        <p:grpSpPr>
          <a:xfrm>
            <a:off x="4718100" y="2106475"/>
            <a:ext cx="787925" cy="296700"/>
            <a:chOff x="4718100" y="2106475"/>
            <a:chExt cx="787925" cy="296700"/>
          </a:xfrm>
        </p:grpSpPr>
        <p:cxnSp>
          <p:nvCxnSpPr>
            <p:cNvPr id="1164" name="Google Shape;1164;p87"/>
            <p:cNvCxnSpPr/>
            <p:nvPr/>
          </p:nvCxnSpPr>
          <p:spPr>
            <a:xfrm flipH="1">
              <a:off x="4718100" y="2106475"/>
              <a:ext cx="317700" cy="2967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5" name="Google Shape;1165;p87"/>
            <p:cNvCxnSpPr/>
            <p:nvPr/>
          </p:nvCxnSpPr>
          <p:spPr>
            <a:xfrm flipH="1">
              <a:off x="5188325" y="2106475"/>
              <a:ext cx="317700" cy="2967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4}{5}\times\frac{2}{3}=\frac{4\times2}{5\times3}\ =\frac{2\times2\times2}{5\times3}=\frac{2\times2\times2}{5\times3}=\frac{2}{15}&quot;&gt;&lt;mfrac&gt;&lt;mn&gt;4&lt;/mn&gt;&lt;mn&gt;5&lt;/mn&gt;&lt;/mfrac&gt;&lt;mo&gt;×&lt;/mo&gt;&lt;mfrac&gt;&lt;mn&gt;2&lt;/mn&gt;&lt;mn&gt;3&lt;/mn&gt;&lt;/mfrac&gt;&lt;mo&gt;=&lt;/mo&gt;&lt;mfrac&gt;&lt;mrow&gt;&lt;mn&gt;4&lt;/mn&gt;&lt;mo&gt;×&lt;/mo&gt;&lt;mn&gt;2&lt;/mn&gt;&lt;/mrow&gt;&lt;mrow&gt;&lt;mn&gt;5&lt;/mn&gt;&lt;mo&gt;×&lt;/mo&gt;&lt;mn&gt;3&lt;/mn&gt;&lt;/mrow&gt;&lt;/mfrac&gt;&lt;mtext&gt;&lt;/mtext&gt;&lt;mo&gt;=&lt;/mo&gt;&lt;mfrac&gt;&lt;mrow&gt;&lt;mn&gt;2&lt;/mn&gt;&lt;mo&gt;×&lt;/mo&gt;&lt;mn&gt;2&lt;/mn&gt;&lt;mo&gt;×&lt;/mo&gt;&lt;mn&gt;2&lt;/mn&gt;&lt;/mrow&gt;&lt;mrow&gt;&lt;mn&gt;5&lt;/mn&gt;&lt;mo&gt;×&lt;/mo&gt;&lt;mn&gt;3&lt;/mn&gt;&lt;/mrow&gt;&lt;/mfrac&gt;&lt;mo&gt;=&lt;/mo&gt;&lt;mfrac&gt;&lt;mrow&gt;&lt;mn&gt;2&lt;/mn&gt;&lt;mo&gt;×&lt;/mo&gt;&lt;mn&gt;2&lt;/mn&gt;&lt;mo&gt;×&lt;/mo&gt;&lt;mn&gt;2&lt;/mn&gt;&lt;/mrow&gt;&lt;mrow&gt;&lt;mn&gt;5&lt;/mn&gt;&lt;mo&gt;×&lt;/mo&gt;&lt;mn&gt;3&lt;/mn&gt;&lt;/mrow&gt;&lt;/mfrac&gt;&lt;mo&gt;=&lt;/mo&gt;&lt;mfrac&gt;&lt;mn&gt;2&lt;/mn&gt;&lt;mn&gt;15&lt;/mn&gt;&lt;/mfrac&gt;&lt;/math&gt;" id="1166" name="Google Shape;1166;p87" title="four fifths times two thirds equals the fraction with numerator 4 times 2 and denominator 5 times 3 equals the fraction with numerator 2 times 2 times 2 and denominator 5 times 3 equals the fraction with numerator 2 times 2 times 2 and denominator 5 times 3 equals 2 over 15"/>
          <p:cNvPicPr preferRelativeResize="0"/>
          <p:nvPr/>
        </p:nvPicPr>
        <p:blipFill rotWithShape="1">
          <a:blip r:embed="rId4">
            <a:alphaModFix/>
          </a:blip>
          <a:srcRect b="0" l="88327" r="0" t="0"/>
          <a:stretch/>
        </p:blipFill>
        <p:spPr>
          <a:xfrm>
            <a:off x="5586700" y="2160000"/>
            <a:ext cx="670101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Google Shape;1167;p87"/>
          <p:cNvSpPr txBox="1"/>
          <p:nvPr/>
        </p:nvSpPr>
        <p:spPr>
          <a:xfrm>
            <a:off x="2260175" y="3375175"/>
            <a:ext cx="6204000" cy="15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does not simplify to    . Andeep has tried to take out common factors just of the numerator.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We can simplify if the factors are common to the numerator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and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denominator.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5}\times\frac{2}{3}=\frac{4\times2}{5\times3}\ =\frac{2\times2\times2}{5\times3}=\frac{2\times2\times2}{5\times3}=\frac{2}{15}&quot;&gt;&lt;mfrac&gt;&lt;mn&gt;4&lt;/mn&gt;&lt;mn&gt;5&lt;/mn&gt;&lt;/mfrac&gt;&lt;mo&gt;×&lt;/mo&gt;&lt;mfrac&gt;&lt;mn&gt;2&lt;/mn&gt;&lt;mn&gt;3&lt;/mn&gt;&lt;/mfrac&gt;&lt;mo&gt;=&lt;/mo&gt;&lt;mfrac&gt;&lt;mrow&gt;&lt;mn&gt;4&lt;/mn&gt;&lt;mo&gt;×&lt;/mo&gt;&lt;mn&gt;2&lt;/mn&gt;&lt;/mrow&gt;&lt;mrow&gt;&lt;mn&gt;5&lt;/mn&gt;&lt;mo&gt;×&lt;/mo&gt;&lt;mn&gt;3&lt;/mn&gt;&lt;/mrow&gt;&lt;/mfrac&gt;&lt;mtext&gt;&lt;/mtext&gt;&lt;mo&gt;=&lt;/mo&gt;&lt;mfrac&gt;&lt;mrow&gt;&lt;mn&gt;2&lt;/mn&gt;&lt;mo&gt;×&lt;/mo&gt;&lt;mn&gt;2&lt;/mn&gt;&lt;mo&gt;×&lt;/mo&gt;&lt;mn&gt;2&lt;/mn&gt;&lt;/mrow&gt;&lt;mrow&gt;&lt;mn&gt;5&lt;/mn&gt;&lt;mo&gt;×&lt;/mo&gt;&lt;mn&gt;3&lt;/mn&gt;&lt;/mrow&gt;&lt;/mfrac&gt;&lt;mo&gt;=&lt;/mo&gt;&lt;mfrac&gt;&lt;mrow&gt;&lt;mn&gt;2&lt;/mn&gt;&lt;mo&gt;×&lt;/mo&gt;&lt;mn&gt;2&lt;/mn&gt;&lt;mo&gt;×&lt;/mo&gt;&lt;mn&gt;2&lt;/mn&gt;&lt;/mrow&gt;&lt;mrow&gt;&lt;mn&gt;5&lt;/mn&gt;&lt;mo&gt;×&lt;/mo&gt;&lt;mn&gt;3&lt;/mn&gt;&lt;/mrow&gt;&lt;/mfrac&gt;&lt;mo&gt;=&lt;/mo&gt;&lt;mfrac&gt;&lt;mn&gt;2&lt;/mn&gt;&lt;mn&gt;15&lt;/mn&gt;&lt;/mfrac&gt;&lt;/math&gt;" id="1168" name="Google Shape;1168;p87" title="four fifths times two thirds equals the fraction with numerator 4 times 2 and denominator 5 times 3 equals the fraction with numerator 2 times 2 times 2 and denominator 5 times 3 equals the fraction with numerator 2 times 2 times 2 and denominator 5 times 3 equals 2 over 15"/>
          <p:cNvPicPr preferRelativeResize="0"/>
          <p:nvPr/>
        </p:nvPicPr>
        <p:blipFill rotWithShape="1">
          <a:blip r:embed="rId4">
            <a:alphaModFix/>
          </a:blip>
          <a:srcRect b="0" l="93469" r="0" t="0"/>
          <a:stretch/>
        </p:blipFill>
        <p:spPr>
          <a:xfrm>
            <a:off x="5072650" y="3287025"/>
            <a:ext cx="263457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9" name="Google Shape;1169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4000" y="1754450"/>
            <a:ext cx="633825" cy="817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0" name="Google Shape;1170;p87"/>
          <p:cNvGrpSpPr/>
          <p:nvPr/>
        </p:nvGrpSpPr>
        <p:grpSpPr>
          <a:xfrm>
            <a:off x="894874" y="1080000"/>
            <a:ext cx="1955251" cy="1079976"/>
            <a:chOff x="894874" y="1080000"/>
            <a:chExt cx="1955251" cy="1079976"/>
          </a:xfrm>
        </p:grpSpPr>
        <p:pic>
          <p:nvPicPr>
            <p:cNvPr id="1171" name="Google Shape;1171;p87"/>
            <p:cNvPicPr preferRelativeResize="0"/>
            <p:nvPr/>
          </p:nvPicPr>
          <p:blipFill rotWithShape="1">
            <a:blip r:embed="rId6">
              <a:alphaModFix/>
            </a:blip>
            <a:srcRect b="0" l="0" r="69082" t="56280"/>
            <a:stretch/>
          </p:blipFill>
          <p:spPr>
            <a:xfrm flipH="1">
              <a:off x="894874" y="1080000"/>
              <a:ext cx="1955251" cy="1079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2" name="Google Shape;1172;p87"/>
            <p:cNvSpPr txBox="1"/>
            <p:nvPr/>
          </p:nvSpPr>
          <p:spPr>
            <a:xfrm>
              <a:off x="1015275" y="1221875"/>
              <a:ext cx="1779900" cy="93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Now I can cancel the 2s</a:t>
              </a:r>
              <a:endPara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8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 of fractions</a:t>
            </a:r>
            <a:endParaRPr/>
          </a:p>
        </p:txBody>
      </p:sp>
      <p:sp>
        <p:nvSpPr>
          <p:cNvPr id="1178" name="Google Shape;1178;p8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could you </a:t>
            </a:r>
            <a:r>
              <a:rPr lang="en-GB"/>
              <a:t>simplify</a:t>
            </a:r>
            <a:r>
              <a:rPr lang="en-GB"/>
              <a:t> before multiplying?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6}\times\frac{2}{3}=\frac{5\times2}{6\times3}=\frac{5\times2}{2\times3\times3}=\frac{2\times5}{2\times3\times3}=\frac{5}{9}&quot;&gt;&lt;mfrac&gt;&lt;mn&gt;5&lt;/mn&gt;&lt;mn&gt;6&lt;/mn&gt;&lt;/mfrac&gt;&lt;mo&gt;×&lt;/mo&gt;&lt;mfrac&gt;&lt;mn&gt;2&lt;/mn&gt;&lt;mn&gt;3&lt;/mn&gt;&lt;/mfrac&gt;&lt;mo&gt;=&lt;/mo&gt;&lt;mfrac&gt;&lt;mrow&gt;&lt;mn&gt;5&lt;/mn&gt;&lt;mo&gt;×&lt;/mo&gt;&lt;mn&gt;2&lt;/mn&gt;&lt;/mrow&gt;&lt;mrow&gt;&lt;mn&gt;6&lt;/mn&gt;&lt;mo&gt;×&lt;/mo&gt;&lt;mn&gt;3&lt;/mn&gt;&lt;/mrow&gt;&lt;/mfrac&gt;&lt;mo&gt;=&lt;/mo&gt;&lt;mfrac&gt;&lt;mrow&gt;&lt;mn&gt;5&lt;/mn&gt;&lt;mo&gt;×&lt;/mo&gt;&lt;mn&gt;2&lt;/mn&gt;&lt;/mrow&gt;&lt;mrow&gt;&lt;mn&gt;2&lt;/mn&gt;&lt;mo&gt;×&lt;/mo&gt;&lt;mn&gt;3&lt;/mn&gt;&lt;mo&gt;×&lt;/mo&gt;&lt;mn&gt;3&lt;/mn&gt;&lt;/mrow&gt;&lt;/mfrac&gt;&lt;mo&gt;=&lt;/mo&gt;&lt;mfrac&gt;&lt;mrow&gt;&lt;mn&gt;2&lt;/mn&gt;&lt;mo&gt;×&lt;/mo&gt;&lt;mn&gt;5&lt;/mn&gt;&lt;/mrow&gt;&lt;mrow&gt;&lt;mn&gt;2&lt;/mn&gt;&lt;mo&gt;×&lt;/mo&gt;&lt;mn&gt;3&lt;/mn&gt;&lt;mo&gt;×&lt;/mo&gt;&lt;mn&gt;3&lt;/mn&gt;&lt;/mrow&gt;&lt;/mfrac&gt;&lt;mo&gt;=&lt;/mo&gt;&lt;mfrac&gt;&lt;mn&gt;5&lt;/mn&gt;&lt;mn&gt;9&lt;/mn&gt;&lt;/mfrac&gt;&lt;/math&gt;" id="1179" name="Google Shape;1179;p88" title="five sixths times two thirds equals the fraction with numerator 5 times 2 and denominator 6 times 3 equals the fraction with numerator 5 times 2 and denominator 2 times 3 times 3 equals the fraction with numerator 2 times 5 and denominator 2 times 3 times 3 equals five ninths"/>
          <p:cNvPicPr preferRelativeResize="0"/>
          <p:nvPr/>
        </p:nvPicPr>
        <p:blipFill rotWithShape="1">
          <a:blip r:embed="rId3">
            <a:alphaModFix/>
          </a:blip>
          <a:srcRect b="0" l="0" r="84476" t="0"/>
          <a:stretch/>
        </p:blipFill>
        <p:spPr>
          <a:xfrm>
            <a:off x="1210800" y="3238675"/>
            <a:ext cx="758176" cy="54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times\frac{5}{8}=\frac{4\times5}{5\times8}=\frac{5\times4}{5\times4\times2}=\frac{1}{2}&quot;&gt;&lt;mfrac&gt;&lt;mn&gt;4&lt;/mn&gt;&lt;mn&gt;5&lt;/mn&gt;&lt;/mfrac&gt;&lt;mo&gt;×&lt;/mo&gt;&lt;mfrac&gt;&lt;mn&gt;5&lt;/mn&gt;&lt;mn&gt;8&lt;/mn&gt;&lt;/mfrac&gt;&lt;mo&gt;=&lt;/mo&gt;&lt;mfrac&gt;&lt;mrow&gt;&lt;mn&gt;4&lt;/mn&gt;&lt;mo&gt;×&lt;/mo&gt;&lt;mn&gt;5&lt;/mn&gt;&lt;/mrow&gt;&lt;mrow&gt;&lt;mn&gt;5&lt;/mn&gt;&lt;mo&gt;×&lt;/mo&gt;&lt;mn&gt;8&lt;/mn&gt;&lt;/mrow&gt;&lt;/mfrac&gt;&lt;mo&gt;=&lt;/mo&gt;&lt;mfrac&gt;&lt;mrow&gt;&lt;mn&gt;5&lt;/mn&gt;&lt;mo&gt;×&lt;/mo&gt;&lt;mn&gt;4&lt;/mn&gt;&lt;/mrow&gt;&lt;mrow&gt;&lt;mn&gt;5&lt;/mn&gt;&lt;mo&gt;×&lt;/mo&gt;&lt;mn&gt;4&lt;/mn&gt;&lt;mo&gt;×&lt;/mo&gt;&lt;mn&gt;2&lt;/mn&gt;&lt;/mrow&gt;&lt;/mfrac&gt;&lt;mo&gt;=&lt;/mo&gt;&lt;mfrac&gt;&lt;mn&gt;1&lt;/mn&gt;&lt;mn&gt;2&lt;/mn&gt;&lt;/mfrac&gt;&lt;/math&gt;" id="1180" name="Google Shape;1180;p88" title="four fifths times five eighths equals the fraction with numerator 4 times 5 and denominator 5 times 8 equals the fraction with numerator 5 times 4 and denominator 5 times 4 times 2 equals one half"/>
          <p:cNvPicPr preferRelativeResize="0"/>
          <p:nvPr/>
        </p:nvPicPr>
        <p:blipFill rotWithShape="1">
          <a:blip r:embed="rId4">
            <a:alphaModFix/>
          </a:blip>
          <a:srcRect b="0" l="0" r="78468" t="0"/>
          <a:stretch/>
        </p:blipFill>
        <p:spPr>
          <a:xfrm>
            <a:off x="1210800" y="1620000"/>
            <a:ext cx="758176" cy="54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9}\times\frac{3}{10}=\frac{8\times3}{9\times10}=\frac{3\times2\times4}{3\times3\times2\times5}=\frac{4}{15}&quot;&gt;&lt;mfrac&gt;&lt;mn&gt;8&lt;/mn&gt;&lt;mn&gt;9&lt;/mn&gt;&lt;/mfrac&gt;&lt;mo&gt;×&lt;/mo&gt;&lt;mfrac&gt;&lt;mn&gt;3&lt;/mn&gt;&lt;mn&gt;10&lt;/mn&gt;&lt;/mfrac&gt;&lt;mo&gt;=&lt;/mo&gt;&lt;mfrac&gt;&lt;mrow&gt;&lt;mn&gt;8&lt;/mn&gt;&lt;mo&gt;×&lt;/mo&gt;&lt;mn&gt;3&lt;/mn&gt;&lt;/mrow&gt;&lt;mrow&gt;&lt;mn&gt;9&lt;/mn&gt;&lt;mo&gt;×&lt;/mo&gt;&lt;mn&gt;10&lt;/mn&gt;&lt;/mrow&gt;&lt;/mfrac&gt;&lt;mo&gt;=&lt;/mo&gt;&lt;mfrac&gt;&lt;mrow&gt;&lt;mn&gt;3&lt;/mn&gt;&lt;mo&gt;×&lt;/mo&gt;&lt;mn&gt;2&lt;/mn&gt;&lt;mo&gt;×&lt;/mo&gt;&lt;mn&gt;4&lt;/mn&gt;&lt;/mrow&gt;&lt;mrow&gt;&lt;mn&gt;3&lt;/mn&gt;&lt;mo&gt;×&lt;/mo&gt;&lt;mn&gt;3&lt;/mn&gt;&lt;mo&gt;×&lt;/mo&gt;&lt;mn&gt;2&lt;/mn&gt;&lt;mo&gt;×&lt;/mo&gt;&lt;mn&gt;5&lt;/mn&gt;&lt;/mrow&gt;&lt;/mfrac&gt;&lt;mo&gt;=&lt;/mo&gt;&lt;mfrac&gt;&lt;mn&gt;4&lt;/mn&gt;&lt;mn&gt;15&lt;/mn&gt;&lt;/mfrac&gt;&lt;/math&gt;" id="1181" name="Google Shape;1181;p88" title="eight ninths times three tenths equals the fraction with numerator 8 times 3 and denominator 9 times 10 equals the fraction with numerator 3 times 2 times 4 and denominator 3 times 3 times 2 times 5 equals 4 over 15"/>
          <p:cNvPicPr preferRelativeResize="0"/>
          <p:nvPr/>
        </p:nvPicPr>
        <p:blipFill rotWithShape="1">
          <a:blip r:embed="rId5">
            <a:alphaModFix/>
          </a:blip>
          <a:srcRect b="0" l="0" r="79288" t="0"/>
          <a:stretch/>
        </p:blipFill>
        <p:spPr>
          <a:xfrm>
            <a:off x="1210800" y="4048675"/>
            <a:ext cx="894225" cy="54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times\frac{5}{9}&quot;&gt;&lt;mfrac&gt;&lt;mn&gt;5&lt;/mn&gt;&lt;mn&gt;6&lt;/mn&gt;&lt;/mfrac&gt;&lt;mo&gt;×&lt;/mo&gt;&lt;mfrac&gt;&lt;mn&gt;5&lt;/mn&gt;&lt;mn&gt;9&lt;/mn&gt;&lt;/mfrac&gt;&lt;/math&gt;" id="1182" name="Google Shape;1182;p88" title="five sixths times five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10800" y="2429350"/>
            <a:ext cx="675194" cy="54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3" name="Google Shape;1183;p8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80733" y="168178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4" name="Google Shape;1184;p8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3895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5" name="Google Shape;1185;p8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80733" y="330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Multiplication of fractions</a:t>
            </a:r>
            <a:endParaRPr/>
          </a:p>
        </p:txBody>
      </p:sp>
      <p:sp>
        <p:nvSpPr>
          <p:cNvPr id="1191" name="Google Shape;1191;p89"/>
          <p:cNvSpPr txBox="1"/>
          <p:nvPr>
            <p:ph idx="1" type="body"/>
          </p:nvPr>
        </p:nvSpPr>
        <p:spPr>
          <a:xfrm>
            <a:off x="324000" y="759300"/>
            <a:ext cx="8237700" cy="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Calculate these by </a:t>
            </a:r>
            <a:r>
              <a:rPr lang="en-GB"/>
              <a:t>simplifying</a:t>
            </a:r>
            <a:r>
              <a:rPr lang="en-GB"/>
              <a:t> first. Show the steps you took.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6}\times\frac{2}{3}=\frac{5\times2}{6\times3}=\frac{5\times2}{2\times3\times3}=\frac{2\times5}{2\times3\times3}=\frac{5}{9}&quot;&gt;&lt;mfrac&gt;&lt;mn&gt;5&lt;/mn&gt;&lt;mn&gt;6&lt;/mn&gt;&lt;/mfrac&gt;&lt;mo&gt;×&lt;/mo&gt;&lt;mfrac&gt;&lt;mn&gt;2&lt;/mn&gt;&lt;mn&gt;3&lt;/mn&gt;&lt;/mfrac&gt;&lt;mo&gt;=&lt;/mo&gt;&lt;mfrac&gt;&lt;mrow&gt;&lt;mn&gt;5&lt;/mn&gt;&lt;mo&gt;×&lt;/mo&gt;&lt;mn&gt;2&lt;/mn&gt;&lt;/mrow&gt;&lt;mrow&gt;&lt;mn&gt;6&lt;/mn&gt;&lt;mo&gt;×&lt;/mo&gt;&lt;mn&gt;3&lt;/mn&gt;&lt;/mrow&gt;&lt;/mfrac&gt;&lt;mo&gt;=&lt;/mo&gt;&lt;mfrac&gt;&lt;mrow&gt;&lt;mn&gt;5&lt;/mn&gt;&lt;mo&gt;×&lt;/mo&gt;&lt;mn&gt;2&lt;/mn&gt;&lt;/mrow&gt;&lt;mrow&gt;&lt;mn&gt;2&lt;/mn&gt;&lt;mo&gt;×&lt;/mo&gt;&lt;mn&gt;3&lt;/mn&gt;&lt;mo&gt;×&lt;/mo&gt;&lt;mn&gt;3&lt;/mn&gt;&lt;/mrow&gt;&lt;/mfrac&gt;&lt;mo&gt;=&lt;/mo&gt;&lt;mfrac&gt;&lt;mrow&gt;&lt;mn&gt;2&lt;/mn&gt;&lt;mo&gt;×&lt;/mo&gt;&lt;mn&gt;5&lt;/mn&gt;&lt;/mrow&gt;&lt;mrow&gt;&lt;mn&gt;2&lt;/mn&gt;&lt;mo&gt;×&lt;/mo&gt;&lt;mn&gt;3&lt;/mn&gt;&lt;mo&gt;×&lt;/mo&gt;&lt;mn&gt;3&lt;/mn&gt;&lt;/mrow&gt;&lt;/mfrac&gt;&lt;mo&gt;=&lt;/mo&gt;&lt;mfrac&gt;&lt;mn&gt;5&lt;/mn&gt;&lt;mn&gt;9&lt;/mn&gt;&lt;/mfrac&gt;&lt;/math&gt;" id="1192" name="Google Shape;1192;p89" title="five sixths times two thirds equals the fraction with numerator 5 times 2 and denominator 6 times 3 equals the fraction with numerator 5 times 2 and denominator 2 times 3 times 3 equals the fraction with numerator 2 times 5 and denominator 2 times 3 times 3 equals five ninths"/>
          <p:cNvPicPr preferRelativeResize="0"/>
          <p:nvPr/>
        </p:nvPicPr>
        <p:blipFill rotWithShape="1">
          <a:blip r:embed="rId3">
            <a:alphaModFix/>
          </a:blip>
          <a:srcRect b="0" l="14632" r="0" t="0"/>
          <a:stretch/>
        </p:blipFill>
        <p:spPr>
          <a:xfrm>
            <a:off x="2198075" y="1620114"/>
            <a:ext cx="5800324" cy="75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times\frac{5}{8}=\frac{4\times5}{5\times8}=\frac{5\times4}{5\times4\times2}=\frac{1}{2}&quot;&gt;&lt;mfrac&gt;&lt;mn&gt;4&lt;/mn&gt;&lt;mn&gt;5&lt;/mn&gt;&lt;/mfrac&gt;&lt;mo&gt;×&lt;/mo&gt;&lt;mfrac&gt;&lt;mn&gt;5&lt;/mn&gt;&lt;mn&gt;8&lt;/mn&gt;&lt;/mfrac&gt;&lt;mo&gt;=&lt;/mo&gt;&lt;mfrac&gt;&lt;mrow&gt;&lt;mn&gt;4&lt;/mn&gt;&lt;mo&gt;×&lt;/mo&gt;&lt;mn&gt;5&lt;/mn&gt;&lt;/mrow&gt;&lt;mrow&gt;&lt;mn&gt;5&lt;/mn&gt;&lt;mo&gt;×&lt;/mo&gt;&lt;mn&gt;8&lt;/mn&gt;&lt;/mrow&gt;&lt;/mfrac&gt;&lt;mo&gt;=&lt;/mo&gt;&lt;mfrac&gt;&lt;mrow&gt;&lt;mn&gt;5&lt;/mn&gt;&lt;mo&gt;×&lt;/mo&gt;&lt;mn&gt;4&lt;/mn&gt;&lt;/mrow&gt;&lt;mrow&gt;&lt;mn&gt;5&lt;/mn&gt;&lt;mo&gt;×&lt;/mo&gt;&lt;mn&gt;4&lt;/mn&gt;&lt;mo&gt;×&lt;/mo&gt;&lt;mn&gt;2&lt;/mn&gt;&lt;/mrow&gt;&lt;/mfrac&gt;&lt;mo&gt;=&lt;/mo&gt;&lt;mfrac&gt;&lt;mn&gt;1&lt;/mn&gt;&lt;mn&gt;2&lt;/mn&gt;&lt;/mfrac&gt;&lt;/math&gt;" id="1193" name="Google Shape;1193;p89" title="four fifths times five eighths equals the fraction with numerator 4 times 5 and denominator 5 times 8 equals the fraction with numerator 5 times 4 and denominator 5 times 4 times 2 equals one half"/>
          <p:cNvPicPr preferRelativeResize="0"/>
          <p:nvPr/>
        </p:nvPicPr>
        <p:blipFill rotWithShape="1">
          <a:blip r:embed="rId4">
            <a:alphaModFix/>
          </a:blip>
          <a:srcRect b="0" l="21204" r="0" t="0"/>
          <a:stretch/>
        </p:blipFill>
        <p:spPr>
          <a:xfrm>
            <a:off x="2260173" y="2831277"/>
            <a:ext cx="3860076" cy="75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9}\times\frac{3}{10}=\frac{8\times3}{9\times10}=\frac{3\times2\times4}{3\times3\times2\times5}=\frac{4}{15}&quot;&gt;&lt;mfrac&gt;&lt;mn&gt;8&lt;/mn&gt;&lt;mn&gt;9&lt;/mn&gt;&lt;/mfrac&gt;&lt;mo&gt;×&lt;/mo&gt;&lt;mfrac&gt;&lt;mn&gt;3&lt;/mn&gt;&lt;mn&gt;10&lt;/mn&gt;&lt;/mfrac&gt;&lt;mo&gt;=&lt;/mo&gt;&lt;mfrac&gt;&lt;mrow&gt;&lt;mn&gt;8&lt;/mn&gt;&lt;mo&gt;×&lt;/mo&gt;&lt;mn&gt;3&lt;/mn&gt;&lt;/mrow&gt;&lt;mrow&gt;&lt;mn&gt;9&lt;/mn&gt;&lt;mo&gt;×&lt;/mo&gt;&lt;mn&gt;10&lt;/mn&gt;&lt;/mrow&gt;&lt;/mfrac&gt;&lt;mo&gt;=&lt;/mo&gt;&lt;mfrac&gt;&lt;mrow&gt;&lt;mn&gt;3&lt;/mn&gt;&lt;mo&gt;×&lt;/mo&gt;&lt;mn&gt;2&lt;/mn&gt;&lt;mo&gt;×&lt;/mo&gt;&lt;mn&gt;4&lt;/mn&gt;&lt;/mrow&gt;&lt;mrow&gt;&lt;mn&gt;3&lt;/mn&gt;&lt;mo&gt;×&lt;/mo&gt;&lt;mn&gt;3&lt;/mn&gt;&lt;mo&gt;×&lt;/mo&gt;&lt;mn&gt;2&lt;/mn&gt;&lt;mo&gt;×&lt;/mo&gt;&lt;mn&gt;5&lt;/mn&gt;&lt;/mrow&gt;&lt;/mfrac&gt;&lt;mo&gt;=&lt;/mo&gt;&lt;mfrac&gt;&lt;mn&gt;4&lt;/mn&gt;&lt;mn&gt;15&lt;/mn&gt;&lt;/mfrac&gt;&lt;/math&gt;" id="1194" name="Google Shape;1194;p89" title="eight ninths times three tenths equals the fraction with numerator 8 times 3 and denominator 9 times 10 equals the fraction with numerator 3 times 2 times 4 and denominator 3 times 3 times 2 times 5 equals 4 over 15"/>
          <p:cNvPicPr preferRelativeResize="0"/>
          <p:nvPr/>
        </p:nvPicPr>
        <p:blipFill rotWithShape="1">
          <a:blip r:embed="rId5">
            <a:alphaModFix/>
          </a:blip>
          <a:srcRect b="0" l="20590" r="0" t="0"/>
          <a:stretch/>
        </p:blipFill>
        <p:spPr>
          <a:xfrm>
            <a:off x="2275811" y="4049850"/>
            <a:ext cx="4769900" cy="75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times\frac{2}{3}=\frac{5\times2}{6\times3}=\frac{5\times2}{2\times3\times3}=\frac{2\times5}{2\times3\times3}=\frac{5}{9}&quot;&gt;&lt;mfrac&gt;&lt;mn&gt;5&lt;/mn&gt;&lt;mn&gt;6&lt;/mn&gt;&lt;/mfrac&gt;&lt;mo&gt;×&lt;/mo&gt;&lt;mfrac&gt;&lt;mn&gt;2&lt;/mn&gt;&lt;mn&gt;3&lt;/mn&gt;&lt;/mfrac&gt;&lt;mo&gt;=&lt;/mo&gt;&lt;mfrac&gt;&lt;mrow&gt;&lt;mn&gt;5&lt;/mn&gt;&lt;mo&gt;×&lt;/mo&gt;&lt;mn&gt;2&lt;/mn&gt;&lt;/mrow&gt;&lt;mrow&gt;&lt;mn&gt;6&lt;/mn&gt;&lt;mo&gt;×&lt;/mo&gt;&lt;mn&gt;3&lt;/mn&gt;&lt;/mrow&gt;&lt;/mfrac&gt;&lt;mo&gt;=&lt;/mo&gt;&lt;mfrac&gt;&lt;mrow&gt;&lt;mn&gt;5&lt;/mn&gt;&lt;mo&gt;×&lt;/mo&gt;&lt;mn&gt;2&lt;/mn&gt;&lt;/mrow&gt;&lt;mrow&gt;&lt;mn&gt;2&lt;/mn&gt;&lt;mo&gt;×&lt;/mo&gt;&lt;mn&gt;3&lt;/mn&gt;&lt;mo&gt;×&lt;/mo&gt;&lt;mn&gt;3&lt;/mn&gt;&lt;/mrow&gt;&lt;/mfrac&gt;&lt;mo&gt;=&lt;/mo&gt;&lt;mfrac&gt;&lt;mrow&gt;&lt;mn&gt;2&lt;/mn&gt;&lt;mo&gt;×&lt;/mo&gt;&lt;mn&gt;5&lt;/mn&gt;&lt;/mrow&gt;&lt;mrow&gt;&lt;mn&gt;2&lt;/mn&gt;&lt;mo&gt;×&lt;/mo&gt;&lt;mn&gt;3&lt;/mn&gt;&lt;mo&gt;×&lt;/mo&gt;&lt;mn&gt;3&lt;/mn&gt;&lt;/mrow&gt;&lt;/mfrac&gt;&lt;mo&gt;=&lt;/mo&gt;&lt;mfrac&gt;&lt;mn&gt;5&lt;/mn&gt;&lt;mn&gt;9&lt;/mn&gt;&lt;/mfrac&gt;&lt;/math&gt;" id="1195" name="Google Shape;1195;p89" title="five sixths times two thirds equals the fraction with numerator 5 times 2 and denominator 6 times 3 equals the fraction with numerator 5 times 2 and denominator 2 times 3 times 3 equals the fraction with numerator 2 times 5 and denominator 2 times 3 times 3 equals five ninths"/>
          <p:cNvPicPr preferRelativeResize="0"/>
          <p:nvPr/>
        </p:nvPicPr>
        <p:blipFill rotWithShape="1">
          <a:blip r:embed="rId3">
            <a:alphaModFix/>
          </a:blip>
          <a:srcRect b="0" l="0" r="84478" t="0"/>
          <a:stretch/>
        </p:blipFill>
        <p:spPr>
          <a:xfrm>
            <a:off x="705000" y="1611850"/>
            <a:ext cx="1054626" cy="75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times\frac{5}{8}=\frac{4\times5}{5\times8}=\frac{5\times4}{5\times4\times2}=\frac{1}{2}&quot;&gt;&lt;mfrac&gt;&lt;mn&gt;4&lt;/mn&gt;&lt;mn&gt;5&lt;/mn&gt;&lt;/mfrac&gt;&lt;mo&gt;×&lt;/mo&gt;&lt;mfrac&gt;&lt;mn&gt;5&lt;/mn&gt;&lt;mn&gt;8&lt;/mn&gt;&lt;/mfrac&gt;&lt;mo&gt;=&lt;/mo&gt;&lt;mfrac&gt;&lt;mrow&gt;&lt;mn&gt;4&lt;/mn&gt;&lt;mo&gt;×&lt;/mo&gt;&lt;mn&gt;5&lt;/mn&gt;&lt;/mrow&gt;&lt;mrow&gt;&lt;mn&gt;5&lt;/mn&gt;&lt;mo&gt;×&lt;/mo&gt;&lt;mn&gt;8&lt;/mn&gt;&lt;/mrow&gt;&lt;/mfrac&gt;&lt;mo&gt;=&lt;/mo&gt;&lt;mfrac&gt;&lt;mrow&gt;&lt;mn&gt;5&lt;/mn&gt;&lt;mo&gt;×&lt;/mo&gt;&lt;mn&gt;4&lt;/mn&gt;&lt;/mrow&gt;&lt;mrow&gt;&lt;mn&gt;5&lt;/mn&gt;&lt;mo&gt;×&lt;/mo&gt;&lt;mn&gt;4&lt;/mn&gt;&lt;mo&gt;×&lt;/mo&gt;&lt;mn&gt;2&lt;/mn&gt;&lt;/mrow&gt;&lt;/mfrac&gt;&lt;mo&gt;=&lt;/mo&gt;&lt;mfrac&gt;&lt;mn&gt;1&lt;/mn&gt;&lt;mn&gt;2&lt;/mn&gt;&lt;/mfrac&gt;&lt;/math&gt;" id="1196" name="Google Shape;1196;p89" title="four fifths times five eighths equals the fraction with numerator 4 times 5 and denominator 5 times 8 equals the fraction with numerator 5 times 4 and denominator 5 times 4 times 2 equals one half"/>
          <p:cNvPicPr preferRelativeResize="0"/>
          <p:nvPr/>
        </p:nvPicPr>
        <p:blipFill rotWithShape="1">
          <a:blip r:embed="rId4">
            <a:alphaModFix/>
          </a:blip>
          <a:srcRect b="0" l="0" r="78471" t="0"/>
          <a:stretch/>
        </p:blipFill>
        <p:spPr>
          <a:xfrm>
            <a:off x="705000" y="2830850"/>
            <a:ext cx="1054625" cy="75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9}\times\frac{3}{10}=\frac{8\times3}{9\times10}=\frac{3\times2\times4}{3\times3\times2\times5}=\frac{4}{15}&quot;&gt;&lt;mfrac&gt;&lt;mn&gt;8&lt;/mn&gt;&lt;mn&gt;9&lt;/mn&gt;&lt;/mfrac&gt;&lt;mo&gt;×&lt;/mo&gt;&lt;mfrac&gt;&lt;mn&gt;3&lt;/mn&gt;&lt;mn&gt;10&lt;/mn&gt;&lt;/mfrac&gt;&lt;mo&gt;=&lt;/mo&gt;&lt;mfrac&gt;&lt;mrow&gt;&lt;mn&gt;8&lt;/mn&gt;&lt;mo&gt;×&lt;/mo&gt;&lt;mn&gt;3&lt;/mn&gt;&lt;/mrow&gt;&lt;mrow&gt;&lt;mn&gt;9&lt;/mn&gt;&lt;mo&gt;×&lt;/mo&gt;&lt;mn&gt;10&lt;/mn&gt;&lt;/mrow&gt;&lt;/mfrac&gt;&lt;mo&gt;=&lt;/mo&gt;&lt;mfrac&gt;&lt;mrow&gt;&lt;mn&gt;3&lt;/mn&gt;&lt;mo&gt;×&lt;/mo&gt;&lt;mn&gt;2&lt;/mn&gt;&lt;mo&gt;×&lt;/mo&gt;&lt;mn&gt;4&lt;/mn&gt;&lt;/mrow&gt;&lt;mrow&gt;&lt;mn&gt;3&lt;/mn&gt;&lt;mo&gt;×&lt;/mo&gt;&lt;mn&gt;3&lt;/mn&gt;&lt;mo&gt;×&lt;/mo&gt;&lt;mn&gt;2&lt;/mn&gt;&lt;mo&gt;×&lt;/mo&gt;&lt;mn&gt;5&lt;/mn&gt;&lt;/mrow&gt;&lt;/mfrac&gt;&lt;mo&gt;=&lt;/mo&gt;&lt;mfrac&gt;&lt;mn&gt;4&lt;/mn&gt;&lt;mn&gt;15&lt;/mn&gt;&lt;/mfrac&gt;&lt;/math&gt;" id="1197" name="Google Shape;1197;p89" title="eight ninths times three tenths equals the fraction with numerator 8 times 3 and denominator 9 times 10 equals the fraction with numerator 3 times 2 times 4 and denominator 3 times 3 times 2 times 5 equals 4 over 15"/>
          <p:cNvPicPr preferRelativeResize="0"/>
          <p:nvPr/>
        </p:nvPicPr>
        <p:blipFill rotWithShape="1">
          <a:blip r:embed="rId5">
            <a:alphaModFix/>
          </a:blip>
          <a:srcRect b="0" l="0" r="79131" t="0"/>
          <a:stretch/>
        </p:blipFill>
        <p:spPr>
          <a:xfrm>
            <a:off x="705000" y="4049850"/>
            <a:ext cx="1253500" cy="75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90"/>
          <p:cNvSpPr txBox="1"/>
          <p:nvPr>
            <p:ph idx="1" type="body"/>
          </p:nvPr>
        </p:nvSpPr>
        <p:spPr>
          <a:xfrm>
            <a:off x="324000" y="683100"/>
            <a:ext cx="8237700" cy="8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r>
              <a:rPr lang="en-GB" sz="1800"/>
              <a:t>)  Calculate the answers to the following.  Simplify all answers.  Find them in the table and write down which letter each gives.  Rearrange your letters to make a word.</a:t>
            </a:r>
            <a:endParaRPr sz="1800"/>
          </a:p>
        </p:txBody>
      </p:sp>
      <p:sp>
        <p:nvSpPr>
          <p:cNvPr id="1203" name="Google Shape;1203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Multiplication of fractions</a:t>
            </a:r>
            <a:endParaRPr/>
          </a:p>
        </p:txBody>
      </p:sp>
      <p:graphicFrame>
        <p:nvGraphicFramePr>
          <p:cNvPr id="1204" name="Google Shape;1204;p90"/>
          <p:cNvGraphicFramePr/>
          <p:nvPr/>
        </p:nvGraphicFramePr>
        <p:xfrm>
          <a:off x="952475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</a:tblGrid>
              <a:tr h="302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17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205" name="Google Shape;1205;p90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79938" r="8916" t="0"/>
          <a:stretch/>
        </p:blipFill>
        <p:spPr>
          <a:xfrm>
            <a:off x="1684800" y="2808338"/>
            <a:ext cx="231099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206" name="Google Shape;1206;p90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68379" r="18153" t="0"/>
          <a:stretch/>
        </p:blipFill>
        <p:spPr>
          <a:xfrm>
            <a:off x="4432375" y="2808338"/>
            <a:ext cx="279250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207" name="Google Shape;1207;p90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58868" r="29986" t="0"/>
          <a:stretch/>
        </p:blipFill>
        <p:spPr>
          <a:xfrm>
            <a:off x="1136775" y="1992625"/>
            <a:ext cx="231099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208" name="Google Shape;1208;p90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47598" r="41255" t="0"/>
          <a:stretch/>
        </p:blipFill>
        <p:spPr>
          <a:xfrm>
            <a:off x="3366713" y="2808338"/>
            <a:ext cx="231099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209" name="Google Shape;1209;p90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30478" r="53919" t="0"/>
          <a:stretch/>
        </p:blipFill>
        <p:spPr>
          <a:xfrm>
            <a:off x="3320500" y="1992625"/>
            <a:ext cx="323525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210" name="Google Shape;1210;p90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21011" r="67843" t="0"/>
          <a:stretch/>
        </p:blipFill>
        <p:spPr>
          <a:xfrm>
            <a:off x="7830209" y="1992625"/>
            <a:ext cx="231099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211" name="Google Shape;1211;p90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10072" r="80863" t="0"/>
          <a:stretch/>
        </p:blipFill>
        <p:spPr>
          <a:xfrm>
            <a:off x="5057000" y="2808338"/>
            <a:ext cx="187949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212" name="Google Shape;1212;p90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0" r="90935" t="0"/>
          <a:stretch/>
        </p:blipFill>
        <p:spPr>
          <a:xfrm>
            <a:off x="1158361" y="2808338"/>
            <a:ext cx="187949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13" name="Google Shape;1213;p90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0" r="96135" t="0"/>
          <a:stretch/>
        </p:blipFill>
        <p:spPr>
          <a:xfrm>
            <a:off x="2250213" y="1992625"/>
            <a:ext cx="187949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14" name="Google Shape;1214;p90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3400" r="90857" t="0"/>
          <a:stretch/>
        </p:blipFill>
        <p:spPr>
          <a:xfrm>
            <a:off x="6117175" y="1992625"/>
            <a:ext cx="279251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15" name="Google Shape;1215;p90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8608" r="84738" t="0"/>
          <a:stretch/>
        </p:blipFill>
        <p:spPr>
          <a:xfrm>
            <a:off x="6647626" y="2808338"/>
            <a:ext cx="323527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16" name="Google Shape;1216;p90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14900" r="80347" t="0"/>
          <a:stretch/>
        </p:blipFill>
        <p:spPr>
          <a:xfrm>
            <a:off x="2773788" y="2808338"/>
            <a:ext cx="231098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17" name="Google Shape;1217;p90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20134" r="75113" t="0"/>
          <a:stretch/>
        </p:blipFill>
        <p:spPr>
          <a:xfrm>
            <a:off x="5008701" y="1992625"/>
            <a:ext cx="231098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18" name="Google Shape;1218;p90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24345" r="70903" t="0"/>
          <a:stretch/>
        </p:blipFill>
        <p:spPr>
          <a:xfrm>
            <a:off x="7797701" y="2808338"/>
            <a:ext cx="231076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19" name="Google Shape;1219;p90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29760" r="65487" t="0"/>
          <a:stretch/>
        </p:blipFill>
        <p:spPr>
          <a:xfrm>
            <a:off x="3900227" y="1992625"/>
            <a:ext cx="231098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20" name="Google Shape;1220;p90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34404" r="60843" t="0"/>
          <a:stretch/>
        </p:blipFill>
        <p:spPr>
          <a:xfrm>
            <a:off x="5583949" y="2808338"/>
            <a:ext cx="231076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21" name="Google Shape;1221;p90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39091" r="56156" t="0"/>
          <a:stretch/>
        </p:blipFill>
        <p:spPr>
          <a:xfrm>
            <a:off x="2791773" y="1992625"/>
            <a:ext cx="231076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22" name="Google Shape;1222;p90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44121" r="49225" t="0"/>
          <a:stretch/>
        </p:blipFill>
        <p:spPr>
          <a:xfrm>
            <a:off x="7225652" y="1992625"/>
            <a:ext cx="323527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23" name="Google Shape;1223;p90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10" l="50845" r="44402" t="0"/>
          <a:stretch/>
        </p:blipFill>
        <p:spPr>
          <a:xfrm>
            <a:off x="7268878" y="2808362"/>
            <a:ext cx="231098" cy="43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24" name="Google Shape;1224;p90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94257" r="0" t="0"/>
          <a:stretch/>
        </p:blipFill>
        <p:spPr>
          <a:xfrm>
            <a:off x="6101640" y="2808338"/>
            <a:ext cx="279251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25" name="Google Shape;1225;p90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10" l="54836" r="39420" t="0"/>
          <a:stretch/>
        </p:blipFill>
        <p:spPr>
          <a:xfrm>
            <a:off x="4430391" y="1992650"/>
            <a:ext cx="279251" cy="43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26" name="Google Shape;1226;p90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79908" r="12488" t="0"/>
          <a:stretch/>
        </p:blipFill>
        <p:spPr>
          <a:xfrm>
            <a:off x="1624172" y="1992625"/>
            <a:ext cx="369750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27" name="Google Shape;1227;p90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73410" r="18986" t="0"/>
          <a:stretch/>
        </p:blipFill>
        <p:spPr>
          <a:xfrm>
            <a:off x="3830216" y="2808338"/>
            <a:ext cx="369750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28" name="Google Shape;1228;p90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66097" r="26298" t="0"/>
          <a:stretch/>
        </p:blipFill>
        <p:spPr>
          <a:xfrm>
            <a:off x="6626166" y="1992625"/>
            <a:ext cx="369750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29" name="Google Shape;1229;p90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60012" r="33334" t="0"/>
          <a:stretch/>
        </p:blipFill>
        <p:spPr>
          <a:xfrm>
            <a:off x="2194747" y="2808338"/>
            <a:ext cx="323527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30" name="Google Shape;1230;p90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10" l="87265" r="5131" t="0"/>
          <a:stretch/>
        </p:blipFill>
        <p:spPr>
          <a:xfrm>
            <a:off x="5493615" y="1992650"/>
            <a:ext cx="369750" cy="43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4}\times\frac{7}{10}&quot;&gt;&lt;mfrac&gt;&lt;mn&gt;5&lt;/mn&gt;&lt;mn&gt;14&lt;/mn&gt;&lt;/mfrac&gt;&lt;mo&gt;×&lt;/mo&gt;&lt;mfrac&gt;&lt;mn&gt;7&lt;/mn&gt;&lt;mn&gt;10&lt;/mn&gt;&lt;/mfrac&gt;&lt;/math&gt;" id="1231" name="Google Shape;1231;p90" title="5 over 14 times seven t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991" y="3514075"/>
            <a:ext cx="876463" cy="509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\times\frac{7}{15}&quot;&gt;&lt;mfrac&gt;&lt;mn&gt;6&lt;/mn&gt;&lt;mn&gt;7&lt;/mn&gt;&lt;/mfrac&gt;&lt;mo&gt;×&lt;/mo&gt;&lt;mfrac&gt;&lt;mn&gt;7&lt;/mn&gt;&lt;mn&gt;15&lt;/mn&gt;&lt;/mfrac&gt;&lt;/math&gt;" id="1232" name="Google Shape;1232;p90" title="six sevenths times 7 over 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9380" y="3514075"/>
            <a:ext cx="749114" cy="509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\times\frac{5}{9}\times\frac{2}{5}&quot;&gt;&lt;mfrac&gt;&lt;mn&gt;3&lt;/mn&gt;&lt;mn&gt;2&lt;/mn&gt;&lt;/mfrac&gt;&lt;mo&gt;×&lt;/mo&gt;&lt;mfrac&gt;&lt;mn&gt;5&lt;/mn&gt;&lt;mn&gt;9&lt;/mn&gt;&lt;/mfrac&gt;&lt;mo&gt;×&lt;/mo&gt;&lt;mfrac&gt;&lt;mn&gt;2&lt;/mn&gt;&lt;mn&gt;5&lt;/mn&gt;&lt;/mfrac&gt;&lt;/math&gt;" id="1233" name="Google Shape;1233;p90" title="three halves times five ninths times two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2994" y="4253976"/>
            <a:ext cx="1067487" cy="494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9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58420" y="3514075"/>
            <a:ext cx="1217310" cy="50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12}\times\frac{10}{13}\times\frac{3}{5}&quot;&gt;&lt;mfrac&gt;&lt;mn&gt;13&lt;/mn&gt;&lt;mn&gt;12&lt;/mn&gt;&lt;/mfrac&gt;&lt;mo&gt;×&lt;/mo&gt;&lt;mfrac&gt;&lt;mn&gt;10&lt;/mn&gt;&lt;mn&gt;13&lt;/mn&gt;&lt;/mfrac&gt;&lt;mo&gt;×&lt;/mo&gt;&lt;mfrac&gt;&lt;mn&gt;3&lt;/mn&gt;&lt;mn&gt;5&lt;/mn&gt;&lt;/mfrac&gt;&lt;/math&gt;" id="1235" name="Google Shape;1235;p90" title="13 over 12 times 10 over 13 times three fif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58420" y="4319990"/>
            <a:ext cx="1340914" cy="50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\times\frac{7}{8}&quot;&gt;&lt;mfrac&gt;&lt;mn&gt;6&lt;/mn&gt;&lt;mn&gt;7&lt;/mn&gt;&lt;/mfrac&gt;&lt;mo&gt;×&lt;/mo&gt;&lt;mfrac&gt;&lt;mn&gt;7&lt;/mn&gt;&lt;mn&gt;8&lt;/mn&gt;&lt;/mfrac&gt;&lt;/math&gt;" id="1236" name="Google Shape;1236;p90" title="six sevenths times seven eigh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199380" y="4253975"/>
            <a:ext cx="629457" cy="509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7" name="Google Shape;1237;p9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85656" y="4317694"/>
            <a:ext cx="1104943" cy="509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times\frac{6}{9}\times\frac{3}{4}&quot;&gt;&lt;mfrac&gt;&lt;mn&gt;2&lt;/mn&gt;&lt;mn&gt;3&lt;/mn&gt;&lt;/mfrac&gt;&lt;mo&gt;×&lt;/mo&gt;&lt;mfrac&gt;&lt;mn&gt;6&lt;/mn&gt;&lt;mn&gt;9&lt;/mn&gt;&lt;/mfrac&gt;&lt;mo&gt;×&lt;/mo&gt;&lt;mfrac&gt;&lt;mn&gt;3&lt;/mn&gt;&lt;mn&gt;4&lt;/mn&gt;&lt;/mfrac&gt;&lt;/math&gt;" id="1238" name="Google Shape;1238;p90" title="two thirds times six ninths times three four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585656" y="3514075"/>
            <a:ext cx="1101198" cy="50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times\frac{9}{25}\times\frac{5}{2}&quot;&gt;&lt;mfrac&gt;&lt;mn&gt;2&lt;/mn&gt;&lt;mn&gt;3&lt;/mn&gt;&lt;/mfrac&gt;&lt;mo&gt;×&lt;/mo&gt;&lt;mfrac&gt;&lt;mn&gt;9&lt;/mn&gt;&lt;mn&gt;25&lt;/mn&gt;&lt;/mfrac&gt;&lt;mo&gt;×&lt;/mo&gt;&lt;mfrac&gt;&lt;mn&gt;5&lt;/mn&gt;&lt;mn&gt;2&lt;/mn&gt;&lt;/mfrac&gt;&lt;/math&gt;" id="1239" name="Google Shape;1239;p90" title="two thirds times 9 over 25 times five halve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396780" y="3514075"/>
            <a:ext cx="1179855" cy="494413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90"/>
          <p:cNvSpPr txBox="1"/>
          <p:nvPr/>
        </p:nvSpPr>
        <p:spPr>
          <a:xfrm>
            <a:off x="307442" y="3459300"/>
            <a:ext cx="3234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90"/>
          <p:cNvSpPr txBox="1"/>
          <p:nvPr/>
        </p:nvSpPr>
        <p:spPr>
          <a:xfrm>
            <a:off x="1886709" y="3459300"/>
            <a:ext cx="3234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0"/>
          <p:cNvSpPr txBox="1"/>
          <p:nvPr/>
        </p:nvSpPr>
        <p:spPr>
          <a:xfrm>
            <a:off x="3334509" y="3459300"/>
            <a:ext cx="3234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90"/>
          <p:cNvSpPr txBox="1"/>
          <p:nvPr/>
        </p:nvSpPr>
        <p:spPr>
          <a:xfrm>
            <a:off x="5262259" y="3459300"/>
            <a:ext cx="3234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90"/>
          <p:cNvSpPr txBox="1"/>
          <p:nvPr/>
        </p:nvSpPr>
        <p:spPr>
          <a:xfrm>
            <a:off x="7044684" y="3459300"/>
            <a:ext cx="32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91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 What are the missing digits in the following calculations?</a:t>
            </a:r>
            <a:r>
              <a:rPr lang="en-GB"/>
              <a:t> </a:t>
            </a:r>
            <a:endParaRPr/>
          </a:p>
        </p:txBody>
      </p:sp>
      <p:sp>
        <p:nvSpPr>
          <p:cNvPr id="1250" name="Google Shape;1250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Multiplication of fractions</a:t>
            </a:r>
            <a:endParaRPr/>
          </a:p>
        </p:txBody>
      </p:sp>
      <p:sp>
        <p:nvSpPr>
          <p:cNvPr id="1251" name="Google Shape;1251;p91"/>
          <p:cNvSpPr txBox="1"/>
          <p:nvPr/>
        </p:nvSpPr>
        <p:spPr>
          <a:xfrm>
            <a:off x="323992" y="1195200"/>
            <a:ext cx="323400" cy="30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times\frac{4}{7}=\frac{8}{21}&quot;&gt;&lt;mfrac&gt;&lt;mn&gt;2&lt;/mn&gt;&lt;mn&gt;3&lt;/mn&gt;&lt;/mfrac&gt;&lt;mo&gt;×&lt;/mo&gt;&lt;mfrac&gt;&lt;mn&gt;4&lt;/mn&gt;&lt;mn&gt;7&lt;/mn&gt;&lt;/mfrac&gt;&lt;mo&gt;=&lt;/mo&gt;&lt;mfrac&gt;&lt;mn&gt;8&lt;/mn&gt;&lt;mn&gt;21&lt;/mn&gt;&lt;/mfrac&gt;&lt;/math&gt;" id="1252" name="Google Shape;1252;p91" title="two thirds times four sevenths equals 8 over 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581" y="1248900"/>
            <a:ext cx="1642131" cy="6606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times\frac{4}{9}=\frac{4}{15}&quot;&gt;&lt;mfrac&gt;&lt;mn&gt;3&lt;/mn&gt;&lt;mn&gt;5&lt;/mn&gt;&lt;/mfrac&gt;&lt;mo&gt;×&lt;/mo&gt;&lt;mfrac&gt;&lt;mn&gt;4&lt;/mn&gt;&lt;mn&gt;9&lt;/mn&gt;&lt;/mfrac&gt;&lt;mo&gt;=&lt;/mo&gt;&lt;mfrac&gt;&lt;mn&gt;4&lt;/mn&gt;&lt;mn&gt;15&lt;/mn&gt;&lt;/mfrac&gt;&lt;/math&gt;" id="1253" name="Google Shape;1253;p91" title="three fifths times four ninths equals 4 over 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9040" y="2158852"/>
            <a:ext cx="1590225" cy="6417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\times\frac{7}{8}=\frac{21}{80}&quot;&gt;&lt;mfrac&gt;&lt;mn&gt;3&lt;/mn&gt;&lt;mn&gt;10&lt;/mn&gt;&lt;/mfrac&gt;&lt;mo&gt;×&lt;/mo&gt;&lt;mfrac&gt;&lt;mn&gt;7&lt;/mn&gt;&lt;mn&gt;8&lt;/mn&gt;&lt;/mfrac&gt;&lt;mo&gt;=&lt;/mo&gt;&lt;mfrac&gt;&lt;mn&gt;21&lt;/mn&gt;&lt;mn&gt;80&lt;/mn&gt;&lt;/mfrac&gt;&lt;/math&gt;" id="1254" name="Google Shape;1254;p91" title="three tenths times seven eighths equals 21 over 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581" y="3049910"/>
            <a:ext cx="1802569" cy="6606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\times\frac{3}{5}=\frac{9}{50}&quot;&gt;&lt;mfrac&gt;&lt;mn&gt;3&lt;/mn&gt;&lt;mn&gt;10&lt;/mn&gt;&lt;/mfrac&gt;&lt;mo&gt;×&lt;/mo&gt;&lt;mfrac&gt;&lt;mn&gt;3&lt;/mn&gt;&lt;mn&gt;5&lt;/mn&gt;&lt;/mfrac&gt;&lt;mo&gt;=&lt;/mo&gt;&lt;mfrac&gt;&lt;mn&gt;9&lt;/mn&gt;&lt;mn&gt;50&lt;/mn&gt;&lt;/mfrac&gt;&lt;/math&gt;" id="1255" name="Google Shape;1255;p91" title="three tenths times three fifths equals 9 over 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6581" y="2161202"/>
            <a:ext cx="1736506" cy="637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times\frac{2}{5}=\frac{6}{25}&quot;&gt;&lt;mfrac&gt;&lt;mn&gt;3&lt;/mn&gt;&lt;mn&gt;5&lt;/mn&gt;&lt;/mfrac&gt;&lt;mo&gt;×&lt;/mo&gt;&lt;mfrac&gt;&lt;mn&gt;2&lt;/mn&gt;&lt;mn&gt;5&lt;/mn&gt;&lt;/mfrac&gt;&lt;mo&gt;=&lt;/mo&gt;&lt;mfrac&gt;&lt;mn&gt;6&lt;/mn&gt;&lt;mn&gt;25&lt;/mn&gt;&lt;/mfrac&gt;&lt;/math&gt;" id="1256" name="Google Shape;1256;p91" title="three fifths times two fifths equals 6 over 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6581" y="3962212"/>
            <a:ext cx="1580787" cy="637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1}\times\frac{5}{9}=\frac{10}{33}&quot;&gt;&lt;mfrac&gt;&lt;mn&gt;6&lt;/mn&gt;&lt;mn&gt;11&lt;/mn&gt;&lt;/mfrac&gt;&lt;mo&gt;×&lt;/mo&gt;&lt;mfrac&gt;&lt;mn&gt;5&lt;/mn&gt;&lt;mn&gt;9&lt;/mn&gt;&lt;/mfrac&gt;&lt;mo&gt;=&lt;/mo&gt;&lt;mfrac&gt;&lt;mn&gt;10&lt;/mn&gt;&lt;mn&gt;33&lt;/mn&gt;&lt;/mfrac&gt;&lt;/math&gt;" id="1257" name="Google Shape;1257;p91" title="6 over 11 times five ninths equals 10 over 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49040" y="3061736"/>
            <a:ext cx="1684600" cy="618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times\frac{5}{8}=\frac{5}{12}&quot;&gt;&lt;mfrac&gt;&lt;mn&gt;2&lt;/mn&gt;&lt;mn&gt;3&lt;/mn&gt;&lt;/mfrac&gt;&lt;mo&gt;×&lt;/mo&gt;&lt;mfrac&gt;&lt;mn&gt;5&lt;/mn&gt;&lt;mn&gt;8&lt;/mn&gt;&lt;/mfrac&gt;&lt;mo&gt;=&lt;/mo&gt;&lt;mfrac&gt;&lt;mn&gt;5&lt;/mn&gt;&lt;mn&gt;12&lt;/mn&gt;&lt;/mfrac&gt;&lt;/math&gt;" id="1258" name="Google Shape;1258;p91" title="two thirds times five eighths equals 5 over 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49040" y="1260687"/>
            <a:ext cx="1580787" cy="637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2}\times\frac{3}{5}=\frac{7}{20}&quot;&gt;&lt;mfrac&gt;&lt;mn&gt;7&lt;/mn&gt;&lt;mn&gt;12&lt;/mn&gt;&lt;/mfrac&gt;&lt;mo&gt;×&lt;/mo&gt;&lt;mfrac&gt;&lt;mn&gt;3&lt;/mn&gt;&lt;mn&gt;5&lt;/mn&gt;&lt;/mfrac&gt;&lt;mo&gt;=&lt;/mo&gt;&lt;mfrac&gt;&lt;mn&gt;7&lt;/mn&gt;&lt;mn&gt;20&lt;/mn&gt;&lt;/mfrac&gt;&lt;/math&gt;" id="1259" name="Google Shape;1259;p91" title="7 over 12 times three fifths equals 7 over 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49040" y="3941025"/>
            <a:ext cx="1750663" cy="641757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p91"/>
          <p:cNvSpPr txBox="1"/>
          <p:nvPr/>
        </p:nvSpPr>
        <p:spPr>
          <a:xfrm>
            <a:off x="4599505" y="1195200"/>
            <a:ext cx="323400" cy="30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91"/>
          <p:cNvSpPr/>
          <p:nvPr/>
        </p:nvSpPr>
        <p:spPr>
          <a:xfrm>
            <a:off x="2044750" y="1195200"/>
            <a:ext cx="323400" cy="33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91"/>
          <p:cNvSpPr/>
          <p:nvPr/>
        </p:nvSpPr>
        <p:spPr>
          <a:xfrm>
            <a:off x="2169675" y="2557879"/>
            <a:ext cx="323400" cy="33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91"/>
          <p:cNvSpPr/>
          <p:nvPr/>
        </p:nvSpPr>
        <p:spPr>
          <a:xfrm>
            <a:off x="756575" y="2990325"/>
            <a:ext cx="323400" cy="33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91"/>
          <p:cNvSpPr/>
          <p:nvPr/>
        </p:nvSpPr>
        <p:spPr>
          <a:xfrm>
            <a:off x="1290525" y="4333239"/>
            <a:ext cx="323400" cy="33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91"/>
          <p:cNvSpPr/>
          <p:nvPr/>
        </p:nvSpPr>
        <p:spPr>
          <a:xfrm>
            <a:off x="6306425" y="1639859"/>
            <a:ext cx="323400" cy="33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91"/>
          <p:cNvSpPr/>
          <p:nvPr/>
        </p:nvSpPr>
        <p:spPr>
          <a:xfrm>
            <a:off x="5586220" y="2538029"/>
            <a:ext cx="323400" cy="33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91"/>
          <p:cNvSpPr/>
          <p:nvPr/>
        </p:nvSpPr>
        <p:spPr>
          <a:xfrm>
            <a:off x="5708941" y="3022209"/>
            <a:ext cx="323400" cy="33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91"/>
          <p:cNvSpPr/>
          <p:nvPr/>
        </p:nvSpPr>
        <p:spPr>
          <a:xfrm>
            <a:off x="5049050" y="3904234"/>
            <a:ext cx="323400" cy="33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92"/>
          <p:cNvSpPr txBox="1"/>
          <p:nvPr>
            <p:ph idx="1" type="body"/>
          </p:nvPr>
        </p:nvSpPr>
        <p:spPr>
          <a:xfrm>
            <a:off x="324000" y="6831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 Calculate the answers to the following.  Simplify all answers.  Find them in the table and write down which letter each gives.  Rearrange your letters to make a word.</a:t>
            </a:r>
            <a:endParaRPr sz="1800"/>
          </a:p>
        </p:txBody>
      </p:sp>
      <p:sp>
        <p:nvSpPr>
          <p:cNvPr id="1274" name="Google Shape;1274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Multiplication of fractions</a:t>
            </a:r>
            <a:endParaRPr/>
          </a:p>
        </p:txBody>
      </p:sp>
      <p:graphicFrame>
        <p:nvGraphicFramePr>
          <p:cNvPr id="1275" name="Google Shape;1275;p92"/>
          <p:cNvGraphicFramePr/>
          <p:nvPr/>
        </p:nvGraphicFramePr>
        <p:xfrm>
          <a:off x="952475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{276E5903-C209-4E59-9D5F-04E7E731CE5B}</a:tableStyleId>
              </a:tblPr>
              <a:tblGrid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</a:tblGrid>
              <a:tr h="302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17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276" name="Google Shape;1276;p92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79938" r="8916" t="0"/>
          <a:stretch/>
        </p:blipFill>
        <p:spPr>
          <a:xfrm>
            <a:off x="1684800" y="2808338"/>
            <a:ext cx="231099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277" name="Google Shape;1277;p92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68379" r="18153" t="0"/>
          <a:stretch/>
        </p:blipFill>
        <p:spPr>
          <a:xfrm>
            <a:off x="4432375" y="2808338"/>
            <a:ext cx="279250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278" name="Google Shape;1278;p92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58868" r="29986" t="0"/>
          <a:stretch/>
        </p:blipFill>
        <p:spPr>
          <a:xfrm>
            <a:off x="1136775" y="1992625"/>
            <a:ext cx="231099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279" name="Google Shape;1279;p92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47598" r="41255" t="0"/>
          <a:stretch/>
        </p:blipFill>
        <p:spPr>
          <a:xfrm>
            <a:off x="3366713" y="2808338"/>
            <a:ext cx="231099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280" name="Google Shape;1280;p92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30478" r="53919" t="0"/>
          <a:stretch/>
        </p:blipFill>
        <p:spPr>
          <a:xfrm>
            <a:off x="3320500" y="1992625"/>
            <a:ext cx="323525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281" name="Google Shape;1281;p92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21011" r="67843" t="0"/>
          <a:stretch/>
        </p:blipFill>
        <p:spPr>
          <a:xfrm>
            <a:off x="7830209" y="1992625"/>
            <a:ext cx="231099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282" name="Google Shape;1282;p92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10072" r="80863" t="0"/>
          <a:stretch/>
        </p:blipFill>
        <p:spPr>
          <a:xfrm>
            <a:off x="5057000" y="2808338"/>
            <a:ext cx="187949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1283" name="Google Shape;1283;p92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0" r="90935" t="0"/>
          <a:stretch/>
        </p:blipFill>
        <p:spPr>
          <a:xfrm>
            <a:off x="1158361" y="2808338"/>
            <a:ext cx="187949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84" name="Google Shape;1284;p92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0" r="96135" t="0"/>
          <a:stretch/>
        </p:blipFill>
        <p:spPr>
          <a:xfrm>
            <a:off x="2250213" y="1992625"/>
            <a:ext cx="187949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85" name="Google Shape;1285;p92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3400" r="90857" t="0"/>
          <a:stretch/>
        </p:blipFill>
        <p:spPr>
          <a:xfrm>
            <a:off x="6117175" y="1992625"/>
            <a:ext cx="279251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86" name="Google Shape;1286;p92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8608" r="84738" t="0"/>
          <a:stretch/>
        </p:blipFill>
        <p:spPr>
          <a:xfrm>
            <a:off x="6647626" y="2808338"/>
            <a:ext cx="323527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87" name="Google Shape;1287;p92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14900" r="80347" t="0"/>
          <a:stretch/>
        </p:blipFill>
        <p:spPr>
          <a:xfrm>
            <a:off x="2773788" y="2808338"/>
            <a:ext cx="231098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88" name="Google Shape;1288;p92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20134" r="75113" t="0"/>
          <a:stretch/>
        </p:blipFill>
        <p:spPr>
          <a:xfrm>
            <a:off x="5008701" y="1992625"/>
            <a:ext cx="231098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89" name="Google Shape;1289;p92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24345" r="70903" t="0"/>
          <a:stretch/>
        </p:blipFill>
        <p:spPr>
          <a:xfrm>
            <a:off x="7797701" y="2808338"/>
            <a:ext cx="231076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90" name="Google Shape;1290;p92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29760" r="65487" t="0"/>
          <a:stretch/>
        </p:blipFill>
        <p:spPr>
          <a:xfrm>
            <a:off x="3900227" y="1992625"/>
            <a:ext cx="231098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91" name="Google Shape;1291;p92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34404" r="60843" t="0"/>
          <a:stretch/>
        </p:blipFill>
        <p:spPr>
          <a:xfrm>
            <a:off x="5583949" y="2808338"/>
            <a:ext cx="231076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92" name="Google Shape;1292;p92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39091" r="56156" t="0"/>
          <a:stretch/>
        </p:blipFill>
        <p:spPr>
          <a:xfrm>
            <a:off x="2791773" y="1992625"/>
            <a:ext cx="231076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93" name="Google Shape;1293;p92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44121" r="49225" t="0"/>
          <a:stretch/>
        </p:blipFill>
        <p:spPr>
          <a:xfrm>
            <a:off x="7225652" y="1992625"/>
            <a:ext cx="323527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94" name="Google Shape;1294;p92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10" l="50845" r="44402" t="0"/>
          <a:stretch/>
        </p:blipFill>
        <p:spPr>
          <a:xfrm>
            <a:off x="7268878" y="2808362"/>
            <a:ext cx="231098" cy="43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95" name="Google Shape;1295;p92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94257" r="0" t="0"/>
          <a:stretch/>
        </p:blipFill>
        <p:spPr>
          <a:xfrm>
            <a:off x="6101640" y="2808338"/>
            <a:ext cx="279251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96" name="Google Shape;1296;p92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10" l="54836" r="39420" t="0"/>
          <a:stretch/>
        </p:blipFill>
        <p:spPr>
          <a:xfrm>
            <a:off x="4430391" y="1992650"/>
            <a:ext cx="279251" cy="43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97" name="Google Shape;1297;p92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79908" r="12488" t="0"/>
          <a:stretch/>
        </p:blipFill>
        <p:spPr>
          <a:xfrm>
            <a:off x="1624172" y="1992625"/>
            <a:ext cx="369750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98" name="Google Shape;1298;p92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73410" r="18986" t="0"/>
          <a:stretch/>
        </p:blipFill>
        <p:spPr>
          <a:xfrm>
            <a:off x="3830216" y="2808338"/>
            <a:ext cx="369750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299" name="Google Shape;1299;p92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66097" r="26298" t="0"/>
          <a:stretch/>
        </p:blipFill>
        <p:spPr>
          <a:xfrm>
            <a:off x="6626166" y="1992625"/>
            <a:ext cx="369750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300" name="Google Shape;1300;p92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60012" r="33334" t="0"/>
          <a:stretch/>
        </p:blipFill>
        <p:spPr>
          <a:xfrm>
            <a:off x="2194747" y="2808338"/>
            <a:ext cx="323527" cy="43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1301" name="Google Shape;1301;p92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10" l="87265" r="5131" t="0"/>
          <a:stretch/>
        </p:blipFill>
        <p:spPr>
          <a:xfrm>
            <a:off x="5493615" y="1992650"/>
            <a:ext cx="369750" cy="43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92"/>
          <p:cNvSpPr txBox="1"/>
          <p:nvPr/>
        </p:nvSpPr>
        <p:spPr>
          <a:xfrm>
            <a:off x="307442" y="3459300"/>
            <a:ext cx="3234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92"/>
          <p:cNvSpPr txBox="1"/>
          <p:nvPr/>
        </p:nvSpPr>
        <p:spPr>
          <a:xfrm>
            <a:off x="1886709" y="3459300"/>
            <a:ext cx="3234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92"/>
          <p:cNvSpPr txBox="1"/>
          <p:nvPr/>
        </p:nvSpPr>
        <p:spPr>
          <a:xfrm>
            <a:off x="3334509" y="3459300"/>
            <a:ext cx="3234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92"/>
          <p:cNvSpPr txBox="1"/>
          <p:nvPr/>
        </p:nvSpPr>
        <p:spPr>
          <a:xfrm>
            <a:off x="5262259" y="3459300"/>
            <a:ext cx="3234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92"/>
          <p:cNvSpPr txBox="1"/>
          <p:nvPr/>
        </p:nvSpPr>
        <p:spPr>
          <a:xfrm>
            <a:off x="7044684" y="3459300"/>
            <a:ext cx="32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\ \frac{2}{5}\ \frac{5}{8}\ \frac{1}{3}\ \frac{3}{5}\ \frac{3}{4}\ \frac{1}{2}\ \frac{7}{10}&quot;&gt;&lt;mfrac&gt;&lt;mn&gt;1&lt;/mn&gt;&lt;mn&gt;4&lt;/mn&gt;&lt;/mfrac&gt;&lt;mtext&gt;&lt;/mtext&gt;&lt;mfrac&gt;&lt;mn&gt;2&lt;/mn&gt;&lt;mn&gt;5&lt;/mn&gt;&lt;/mfrac&gt;&lt;mtext&gt;&lt;/mtext&gt;&lt;mfrac&gt;&lt;mn&gt;5&lt;/mn&gt;&lt;mn&gt;8&lt;/mn&gt;&lt;/mfrac&gt;&lt;mtext&gt;&lt;/mtext&gt;&lt;mfrac&gt;&lt;mn&gt;1&lt;/mn&gt;&lt;mn&gt;3&lt;/mn&gt;&lt;/mfrac&gt;&lt;mtext&gt;&lt;/mtext&gt;&lt;mfrac&gt;&lt;mn&gt;3&lt;/mn&gt;&lt;mn&gt;5&lt;/mn&gt;&lt;/mfrac&gt;&lt;mtext&gt;&lt;/mtext&gt;&lt;mfrac&gt;&lt;mn&gt;3&lt;/mn&gt;&lt;mn&gt;4&lt;/mn&gt;&lt;/mfrac&gt;&lt;mtext&gt;&lt;/mtext&gt;&lt;mfrac&gt;&lt;mn&gt;1&lt;/mn&gt;&lt;mn&gt;2&lt;/mn&gt;&lt;/mfrac&gt;&lt;mtext&gt;&lt;/mtext&gt;&lt;mfrac&gt;&lt;mn&gt;7&lt;/mn&gt;&lt;mn&gt;10&lt;/mn&gt;&lt;/mfrac&gt;&lt;/math&gt;" id="1307" name="Google Shape;1307;p92" title="one fourth two fifths five eighths one third three fifths three fourths one half seven tenths"/>
          <p:cNvPicPr preferRelativeResize="0"/>
          <p:nvPr/>
        </p:nvPicPr>
        <p:blipFill rotWithShape="1">
          <a:blip r:embed="rId5">
            <a:alphaModFix/>
          </a:blip>
          <a:srcRect b="0" l="22011" r="63017" t="0"/>
          <a:stretch/>
        </p:blipFill>
        <p:spPr>
          <a:xfrm>
            <a:off x="3676073" y="3433875"/>
            <a:ext cx="323400" cy="50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\frac{2}{5}\ \frac{5}{8}\ \frac{1}{3}\ \frac{3}{5}\ \frac{3}{4}\ \frac{1}{2}\ \frac{7}{10}&quot;&gt;&lt;mfrac&gt;&lt;mn&gt;1&lt;/mn&gt;&lt;mn&gt;4&lt;/mn&gt;&lt;/mfrac&gt;&lt;mtext&gt;&lt;/mtext&gt;&lt;mfrac&gt;&lt;mn&gt;2&lt;/mn&gt;&lt;mn&gt;5&lt;/mn&gt;&lt;/mfrac&gt;&lt;mtext&gt;&lt;/mtext&gt;&lt;mfrac&gt;&lt;mn&gt;5&lt;/mn&gt;&lt;mn&gt;8&lt;/mn&gt;&lt;/mfrac&gt;&lt;mtext&gt;&lt;/mtext&gt;&lt;mfrac&gt;&lt;mn&gt;1&lt;/mn&gt;&lt;mn&gt;3&lt;/mn&gt;&lt;/mfrac&gt;&lt;mtext&gt;&lt;/mtext&gt;&lt;mfrac&gt;&lt;mn&gt;3&lt;/mn&gt;&lt;mn&gt;5&lt;/mn&gt;&lt;/mfrac&gt;&lt;mtext&gt;&lt;/mtext&gt;&lt;mfrac&gt;&lt;mn&gt;3&lt;/mn&gt;&lt;mn&gt;4&lt;/mn&gt;&lt;/mfrac&gt;&lt;mtext&gt;&lt;/mtext&gt;&lt;mfrac&gt;&lt;mn&gt;1&lt;/mn&gt;&lt;mn&gt;2&lt;/mn&gt;&lt;/mfrac&gt;&lt;mtext&gt;&lt;/mtext&gt;&lt;mfrac&gt;&lt;mn&gt;7&lt;/mn&gt;&lt;mn&gt;10&lt;/mn&gt;&lt;/mfrac&gt;&lt;/math&gt;" id="1308" name="Google Shape;1308;p92" title="one fourth two fifths five eighths one third three fifths three fourths one half seven tenths"/>
          <p:cNvPicPr preferRelativeResize="0"/>
          <p:nvPr/>
        </p:nvPicPr>
        <p:blipFill rotWithShape="1">
          <a:blip r:embed="rId5">
            <a:alphaModFix/>
          </a:blip>
          <a:srcRect b="0" l="11307" r="77993" t="0"/>
          <a:stretch/>
        </p:blipFill>
        <p:spPr>
          <a:xfrm>
            <a:off x="2194749" y="3433875"/>
            <a:ext cx="231100" cy="50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\frac{2}{5}\ \frac{5}{8}\ \frac{1}{3}\ \frac{3}{5}\ \frac{3}{4}\ \frac{1}{2}\ \frac{7}{10}&quot;&gt;&lt;mfrac&gt;&lt;mn&gt;1&lt;/mn&gt;&lt;mn&gt;4&lt;/mn&gt;&lt;/mfrac&gt;&lt;mtext&gt;&lt;/mtext&gt;&lt;mfrac&gt;&lt;mn&gt;2&lt;/mn&gt;&lt;mn&gt;5&lt;/mn&gt;&lt;/mfrac&gt;&lt;mtext&gt;&lt;/mtext&gt;&lt;mfrac&gt;&lt;mn&gt;5&lt;/mn&gt;&lt;mn&gt;8&lt;/mn&gt;&lt;/mfrac&gt;&lt;mtext&gt;&lt;/mtext&gt;&lt;mfrac&gt;&lt;mn&gt;1&lt;/mn&gt;&lt;mn&gt;3&lt;/mn&gt;&lt;/mfrac&gt;&lt;mtext&gt;&lt;/mtext&gt;&lt;mfrac&gt;&lt;mn&gt;3&lt;/mn&gt;&lt;mn&gt;5&lt;/mn&gt;&lt;/mfrac&gt;&lt;mtext&gt;&lt;/mtext&gt;&lt;mfrac&gt;&lt;mn&gt;3&lt;/mn&gt;&lt;mn&gt;4&lt;/mn&gt;&lt;/mfrac&gt;&lt;mtext&gt;&lt;/mtext&gt;&lt;mfrac&gt;&lt;mn&gt;1&lt;/mn&gt;&lt;mn&gt;2&lt;/mn&gt;&lt;/mfrac&gt;&lt;mtext&gt;&lt;/mtext&gt;&lt;mfrac&gt;&lt;mn&gt;7&lt;/mn&gt;&lt;mn&gt;10&lt;/mn&gt;&lt;/mfrac&gt;&lt;/math&gt;" id="1309" name="Google Shape;1309;p92" title="one fourth two fifths five eighths one third three fifths three fourths one half seven tenths"/>
          <p:cNvPicPr preferRelativeResize="0"/>
          <p:nvPr/>
        </p:nvPicPr>
        <p:blipFill rotWithShape="1">
          <a:blip r:embed="rId5">
            <a:alphaModFix/>
          </a:blip>
          <a:srcRect b="0" l="0" r="89302" t="0"/>
          <a:stretch/>
        </p:blipFill>
        <p:spPr>
          <a:xfrm>
            <a:off x="641575" y="3382425"/>
            <a:ext cx="231075" cy="50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\frac{2}{5}\ \frac{5}{8}\ \frac{1}{3}\ \frac{3}{5}\ \frac{3}{4}\ \frac{1}{2}\ \frac{7}{10}&quot;&gt;&lt;mfrac&gt;&lt;mn&gt;1&lt;/mn&gt;&lt;mn&gt;4&lt;/mn&gt;&lt;/mfrac&gt;&lt;mtext&gt;&lt;/mtext&gt;&lt;mfrac&gt;&lt;mn&gt;2&lt;/mn&gt;&lt;mn&gt;5&lt;/mn&gt;&lt;/mfrac&gt;&lt;mtext&gt;&lt;/mtext&gt;&lt;mfrac&gt;&lt;mn&gt;5&lt;/mn&gt;&lt;mn&gt;8&lt;/mn&gt;&lt;/mfrac&gt;&lt;mtext&gt;&lt;/mtext&gt;&lt;mfrac&gt;&lt;mn&gt;1&lt;/mn&gt;&lt;mn&gt;3&lt;/mn&gt;&lt;/mfrac&gt;&lt;mtext&gt;&lt;/mtext&gt;&lt;mfrac&gt;&lt;mn&gt;3&lt;/mn&gt;&lt;mn&gt;5&lt;/mn&gt;&lt;/mfrac&gt;&lt;mtext&gt;&lt;/mtext&gt;&lt;mfrac&gt;&lt;mn&gt;3&lt;/mn&gt;&lt;mn&gt;4&lt;/mn&gt;&lt;/mfrac&gt;&lt;mtext&gt;&lt;/mtext&gt;&lt;mfrac&gt;&lt;mn&gt;1&lt;/mn&gt;&lt;mn&gt;2&lt;/mn&gt;&lt;/mfrac&gt;&lt;mtext&gt;&lt;/mtext&gt;&lt;mfrac&gt;&lt;mn&gt;7&lt;/mn&gt;&lt;mn&gt;10&lt;/mn&gt;&lt;/mfrac&gt;&lt;/math&gt;" id="1310" name="Google Shape;1310;p92" title="one fourth two fifths five eighths one third three fifths three fourths one half seven tenths"/>
          <p:cNvPicPr preferRelativeResize="0"/>
          <p:nvPr/>
        </p:nvPicPr>
        <p:blipFill rotWithShape="1">
          <a:blip r:embed="rId5">
            <a:alphaModFix/>
          </a:blip>
          <a:srcRect b="0" l="85023" r="0" t="0"/>
          <a:stretch/>
        </p:blipFill>
        <p:spPr>
          <a:xfrm>
            <a:off x="5612628" y="4253975"/>
            <a:ext cx="323525" cy="50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\frac{2}{5}\ \frac{5}{8}\ \frac{1}{3}\ \frac{3}{5}\ \frac{3}{4}\ \frac{1}{2}\ \frac{7}{10}&quot;&gt;&lt;mfrac&gt;&lt;mn&gt;1&lt;/mn&gt;&lt;mn&gt;4&lt;/mn&gt;&lt;/mfrac&gt;&lt;mtext&gt;&lt;/mtext&gt;&lt;mfrac&gt;&lt;mn&gt;2&lt;/mn&gt;&lt;mn&gt;5&lt;/mn&gt;&lt;/mfrac&gt;&lt;mtext&gt;&lt;/mtext&gt;&lt;mfrac&gt;&lt;mn&gt;5&lt;/mn&gt;&lt;mn&gt;8&lt;/mn&gt;&lt;/mfrac&gt;&lt;mtext&gt;&lt;/mtext&gt;&lt;mfrac&gt;&lt;mn&gt;1&lt;/mn&gt;&lt;mn&gt;3&lt;/mn&gt;&lt;/mfrac&gt;&lt;mtext&gt;&lt;/mtext&gt;&lt;mfrac&gt;&lt;mn&gt;3&lt;/mn&gt;&lt;mn&gt;5&lt;/mn&gt;&lt;/mfrac&gt;&lt;mtext&gt;&lt;/mtext&gt;&lt;mfrac&gt;&lt;mn&gt;3&lt;/mn&gt;&lt;mn&gt;4&lt;/mn&gt;&lt;/mfrac&gt;&lt;mtext&gt;&lt;/mtext&gt;&lt;mfrac&gt;&lt;mn&gt;1&lt;/mn&gt;&lt;mn&gt;2&lt;/mn&gt;&lt;/mfrac&gt;&lt;mtext&gt;&lt;/mtext&gt;&lt;mfrac&gt;&lt;mn&gt;7&lt;/mn&gt;&lt;mn&gt;10&lt;/mn&gt;&lt;/mfrac&gt;&lt;/math&gt;" id="1311" name="Google Shape;1311;p92" title="one fourth two fifths five eighths one third three fifths three fourths one half seven tenths"/>
          <p:cNvPicPr preferRelativeResize="0"/>
          <p:nvPr/>
        </p:nvPicPr>
        <p:blipFill rotWithShape="1">
          <a:blip r:embed="rId5">
            <a:alphaModFix/>
          </a:blip>
          <a:srcRect b="0" l="73399" r="13673" t="0"/>
          <a:stretch/>
        </p:blipFill>
        <p:spPr>
          <a:xfrm>
            <a:off x="3657896" y="4253975"/>
            <a:ext cx="279250" cy="50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\frac{2}{5}\ \frac{5}{8}\ \frac{1}{3}\ \frac{3}{5}\ \frac{3}{4}\ \frac{1}{2}\ \frac{7}{10}&quot;&gt;&lt;mfrac&gt;&lt;mn&gt;1&lt;/mn&gt;&lt;mn&gt;4&lt;/mn&gt;&lt;/mfrac&gt;&lt;mtext&gt;&lt;/mtext&gt;&lt;mfrac&gt;&lt;mn&gt;2&lt;/mn&gt;&lt;mn&gt;5&lt;/mn&gt;&lt;/mfrac&gt;&lt;mtext&gt;&lt;/mtext&gt;&lt;mfrac&gt;&lt;mn&gt;5&lt;/mn&gt;&lt;mn&gt;8&lt;/mn&gt;&lt;/mfrac&gt;&lt;mtext&gt;&lt;/mtext&gt;&lt;mfrac&gt;&lt;mn&gt;1&lt;/mn&gt;&lt;mn&gt;3&lt;/mn&gt;&lt;/mfrac&gt;&lt;mtext&gt;&lt;/mtext&gt;&lt;mfrac&gt;&lt;mn&gt;3&lt;/mn&gt;&lt;mn&gt;5&lt;/mn&gt;&lt;/mfrac&gt;&lt;mtext&gt;&lt;/mtext&gt;&lt;mfrac&gt;&lt;mn&gt;3&lt;/mn&gt;&lt;mn&gt;4&lt;/mn&gt;&lt;/mfrac&gt;&lt;mtext&gt;&lt;/mtext&gt;&lt;mfrac&gt;&lt;mn&gt;1&lt;/mn&gt;&lt;mn&gt;2&lt;/mn&gt;&lt;/mfrac&gt;&lt;mtext&gt;&lt;/mtext&gt;&lt;mfrac&gt;&lt;mn&gt;7&lt;/mn&gt;&lt;mn&gt;10&lt;/mn&gt;&lt;/mfrac&gt;&lt;/math&gt;" id="1312" name="Google Shape;1312;p92" title="one fourth two fifths five eighths one third three fifths three fourths one half seven tenths"/>
          <p:cNvPicPr preferRelativeResize="0"/>
          <p:nvPr/>
        </p:nvPicPr>
        <p:blipFill rotWithShape="1">
          <a:blip r:embed="rId5">
            <a:alphaModFix/>
          </a:blip>
          <a:srcRect b="0" l="60304" r="26769" t="0"/>
          <a:stretch/>
        </p:blipFill>
        <p:spPr>
          <a:xfrm>
            <a:off x="2204563" y="4253975"/>
            <a:ext cx="279251" cy="50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\frac{2}{5}\ \frac{5}{8}\ \frac{1}{3}\ \frac{3}{5}\ \frac{3}{4}\ \frac{1}{2}\ \frac{7}{10}&quot;&gt;&lt;mfrac&gt;&lt;mn&gt;1&lt;/mn&gt;&lt;mn&gt;4&lt;/mn&gt;&lt;/mfrac&gt;&lt;mtext&gt;&lt;/mtext&gt;&lt;mfrac&gt;&lt;mn&gt;2&lt;/mn&gt;&lt;mn&gt;5&lt;/mn&gt;&lt;/mfrac&gt;&lt;mtext&gt;&lt;/mtext&gt;&lt;mfrac&gt;&lt;mn&gt;5&lt;/mn&gt;&lt;mn&gt;8&lt;/mn&gt;&lt;/mfrac&gt;&lt;mtext&gt;&lt;/mtext&gt;&lt;mfrac&gt;&lt;mn&gt;1&lt;/mn&gt;&lt;mn&gt;3&lt;/mn&gt;&lt;/mfrac&gt;&lt;mtext&gt;&lt;/mtext&gt;&lt;mfrac&gt;&lt;mn&gt;3&lt;/mn&gt;&lt;mn&gt;5&lt;/mn&gt;&lt;/mfrac&gt;&lt;mtext&gt;&lt;/mtext&gt;&lt;mfrac&gt;&lt;mn&gt;3&lt;/mn&gt;&lt;mn&gt;4&lt;/mn&gt;&lt;/mfrac&gt;&lt;mtext&gt;&lt;/mtext&gt;&lt;mfrac&gt;&lt;mn&gt;1&lt;/mn&gt;&lt;mn&gt;2&lt;/mn&gt;&lt;/mfrac&gt;&lt;mtext&gt;&lt;/mtext&gt;&lt;mfrac&gt;&lt;mn&gt;7&lt;/mn&gt;&lt;mn&gt;10&lt;/mn&gt;&lt;/mfrac&gt;&lt;/math&gt;" id="1313" name="Google Shape;1313;p92" title="one fourth two fifths five eighths one third three fifths three fourths one half seven tenths"/>
          <p:cNvPicPr preferRelativeResize="0"/>
          <p:nvPr/>
        </p:nvPicPr>
        <p:blipFill rotWithShape="1">
          <a:blip r:embed="rId5">
            <a:alphaModFix/>
          </a:blip>
          <a:srcRect b="0" l="48848" r="40452" t="0"/>
          <a:stretch/>
        </p:blipFill>
        <p:spPr>
          <a:xfrm>
            <a:off x="7271858" y="3498525"/>
            <a:ext cx="231100" cy="50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\frac{2}{5}\ \frac{5}{8}\ \frac{1}{3}\ \frac{3}{5}\ \frac{3}{4}\ \frac{1}{2}\ \frac{7}{10}&quot;&gt;&lt;mfrac&gt;&lt;mn&gt;1&lt;/mn&gt;&lt;mn&gt;4&lt;/mn&gt;&lt;/mfrac&gt;&lt;mtext&gt;&lt;/mtext&gt;&lt;mfrac&gt;&lt;mn&gt;2&lt;/mn&gt;&lt;mn&gt;5&lt;/mn&gt;&lt;/mfrac&gt;&lt;mtext&gt;&lt;/mtext&gt;&lt;mfrac&gt;&lt;mn&gt;5&lt;/mn&gt;&lt;mn&gt;8&lt;/mn&gt;&lt;/mfrac&gt;&lt;mtext&gt;&lt;/mtext&gt;&lt;mfrac&gt;&lt;mn&gt;1&lt;/mn&gt;&lt;mn&gt;3&lt;/mn&gt;&lt;/mfrac&gt;&lt;mtext&gt;&lt;/mtext&gt;&lt;mfrac&gt;&lt;mn&gt;3&lt;/mn&gt;&lt;mn&gt;5&lt;/mn&gt;&lt;/mfrac&gt;&lt;mtext&gt;&lt;/mtext&gt;&lt;mfrac&gt;&lt;mn&gt;3&lt;/mn&gt;&lt;mn&gt;4&lt;/mn&gt;&lt;/mfrac&gt;&lt;mtext&gt;&lt;/mtext&gt;&lt;mfrac&gt;&lt;mn&gt;1&lt;/mn&gt;&lt;mn&gt;2&lt;/mn&gt;&lt;/mfrac&gt;&lt;mtext&gt;&lt;/mtext&gt;&lt;mfrac&gt;&lt;mn&gt;7&lt;/mn&gt;&lt;mn&gt;10&lt;/mn&gt;&lt;/mfrac&gt;&lt;/math&gt;" id="1314" name="Google Shape;1314;p92" title="one fourth two fifths five eighths one third three fifths three fourths one half seven tenths"/>
          <p:cNvPicPr preferRelativeResize="0"/>
          <p:nvPr/>
        </p:nvPicPr>
        <p:blipFill rotWithShape="1">
          <a:blip r:embed="rId5">
            <a:alphaModFix/>
          </a:blip>
          <a:srcRect b="0" l="34959" r="52113" t="0"/>
          <a:stretch/>
        </p:blipFill>
        <p:spPr>
          <a:xfrm>
            <a:off x="5634775" y="3525313"/>
            <a:ext cx="279250" cy="50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\frac{2}{5}\ \frac{5}{8}\ \frac{1}{3}\ \frac{3}{5}\ \frac{3}{4}\ \frac{1}{2}\ \frac{7}{10}&quot;&gt;&lt;mfrac&gt;&lt;mn&gt;1&lt;/mn&gt;&lt;mn&gt;4&lt;/mn&gt;&lt;/mfrac&gt;&lt;mtext&gt;&lt;/mtext&gt;&lt;mfrac&gt;&lt;mn&gt;2&lt;/mn&gt;&lt;mn&gt;5&lt;/mn&gt;&lt;/mfrac&gt;&lt;mtext&gt;&lt;/mtext&gt;&lt;mfrac&gt;&lt;mn&gt;5&lt;/mn&gt;&lt;mn&gt;8&lt;/mn&gt;&lt;/mfrac&gt;&lt;mtext&gt;&lt;/mtext&gt;&lt;mfrac&gt;&lt;mn&gt;1&lt;/mn&gt;&lt;mn&gt;3&lt;/mn&gt;&lt;/mfrac&gt;&lt;mtext&gt;&lt;/mtext&gt;&lt;mfrac&gt;&lt;mn&gt;3&lt;/mn&gt;&lt;mn&gt;5&lt;/mn&gt;&lt;/mfrac&gt;&lt;mtext&gt;&lt;/mtext&gt;&lt;mfrac&gt;&lt;mn&gt;3&lt;/mn&gt;&lt;mn&gt;4&lt;/mn&gt;&lt;/mfrac&gt;&lt;mtext&gt;&lt;/mtext&gt;&lt;mfrac&gt;&lt;mn&gt;1&lt;/mn&gt;&lt;mn&gt;2&lt;/mn&gt;&lt;/mfrac&gt;&lt;mtext&gt;&lt;/mtext&gt;&lt;mfrac&gt;&lt;mn&gt;7&lt;/mn&gt;&lt;mn&gt;10&lt;/mn&gt;&lt;/mfrac&gt;&lt;/math&gt;" id="1315" name="Google Shape;1315;p92" title="one fourth two fifths five eighths one third three fifths three fourths one half seven tenths"/>
          <p:cNvPicPr preferRelativeResize="0"/>
          <p:nvPr/>
        </p:nvPicPr>
        <p:blipFill rotWithShape="1">
          <a:blip r:embed="rId5">
            <a:alphaModFix/>
          </a:blip>
          <a:srcRect b="0" l="34959" r="52113" t="0"/>
          <a:stretch/>
        </p:blipFill>
        <p:spPr>
          <a:xfrm>
            <a:off x="617488" y="4227163"/>
            <a:ext cx="279251" cy="50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92"/>
          <p:cNvSpPr txBox="1"/>
          <p:nvPr/>
        </p:nvSpPr>
        <p:spPr>
          <a:xfrm>
            <a:off x="1034217" y="3467775"/>
            <a:ext cx="32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7" name="Google Shape;1317;p92"/>
          <p:cNvSpPr txBox="1"/>
          <p:nvPr/>
        </p:nvSpPr>
        <p:spPr>
          <a:xfrm>
            <a:off x="1030492" y="4227175"/>
            <a:ext cx="32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8" name="Google Shape;1318;p92"/>
          <p:cNvSpPr txBox="1"/>
          <p:nvPr/>
        </p:nvSpPr>
        <p:spPr>
          <a:xfrm>
            <a:off x="2612455" y="3462364"/>
            <a:ext cx="32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9" name="Google Shape;1319;p92"/>
          <p:cNvSpPr txBox="1"/>
          <p:nvPr/>
        </p:nvSpPr>
        <p:spPr>
          <a:xfrm>
            <a:off x="2608730" y="4221764"/>
            <a:ext cx="32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0" name="Google Shape;1320;p92"/>
          <p:cNvSpPr txBox="1"/>
          <p:nvPr/>
        </p:nvSpPr>
        <p:spPr>
          <a:xfrm>
            <a:off x="4041305" y="3458807"/>
            <a:ext cx="32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1" name="Google Shape;1321;p92"/>
          <p:cNvSpPr txBox="1"/>
          <p:nvPr/>
        </p:nvSpPr>
        <p:spPr>
          <a:xfrm>
            <a:off x="4037580" y="4218207"/>
            <a:ext cx="32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2" name="Google Shape;1322;p92"/>
          <p:cNvSpPr txBox="1"/>
          <p:nvPr/>
        </p:nvSpPr>
        <p:spPr>
          <a:xfrm>
            <a:off x="6199617" y="3467775"/>
            <a:ext cx="32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3" name="Google Shape;1323;p92"/>
          <p:cNvSpPr txBox="1"/>
          <p:nvPr/>
        </p:nvSpPr>
        <p:spPr>
          <a:xfrm>
            <a:off x="6195892" y="4227175"/>
            <a:ext cx="32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4" name="Google Shape;1324;p92"/>
          <p:cNvSpPr txBox="1"/>
          <p:nvPr/>
        </p:nvSpPr>
        <p:spPr>
          <a:xfrm>
            <a:off x="7634667" y="3467775"/>
            <a:ext cx="32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5" name="Google Shape;1325;p92"/>
          <p:cNvSpPr txBox="1"/>
          <p:nvPr/>
        </p:nvSpPr>
        <p:spPr>
          <a:xfrm>
            <a:off x="6722303" y="3989600"/>
            <a:ext cx="1611000" cy="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word is NUMERATOR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9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 What are the missing digits in the following calculations? </a:t>
            </a:r>
            <a:endParaRPr/>
          </a:p>
        </p:txBody>
      </p:sp>
      <p:sp>
        <p:nvSpPr>
          <p:cNvPr id="1331" name="Google Shape;1331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Multiplication of fractions</a:t>
            </a:r>
            <a:endParaRPr/>
          </a:p>
        </p:txBody>
      </p:sp>
      <p:sp>
        <p:nvSpPr>
          <p:cNvPr id="1332" name="Google Shape;1332;p93"/>
          <p:cNvSpPr txBox="1"/>
          <p:nvPr/>
        </p:nvSpPr>
        <p:spPr>
          <a:xfrm>
            <a:off x="323992" y="1195200"/>
            <a:ext cx="323400" cy="30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times\frac{4}{7}=\frac{8}{21}&quot;&gt;&lt;mfrac&gt;&lt;mn&gt;2&lt;/mn&gt;&lt;mn&gt;3&lt;/mn&gt;&lt;/mfrac&gt;&lt;mo&gt;×&lt;/mo&gt;&lt;mfrac&gt;&lt;mn&gt;4&lt;/mn&gt;&lt;mn&gt;7&lt;/mn&gt;&lt;/mfrac&gt;&lt;mo&gt;=&lt;/mo&gt;&lt;mfrac&gt;&lt;mn&gt;8&lt;/mn&gt;&lt;mn&gt;21&lt;/mn&gt;&lt;/mfrac&gt;&lt;/math&gt;" id="1333" name="Google Shape;1333;p93" title="two thirds times four sevenths equals 8 over 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581" y="1248900"/>
            <a:ext cx="1642131" cy="6606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times\frac{4}{9}=\frac{4}{15}&quot;&gt;&lt;mfrac&gt;&lt;mn&gt;3&lt;/mn&gt;&lt;mn&gt;5&lt;/mn&gt;&lt;/mfrac&gt;&lt;mo&gt;×&lt;/mo&gt;&lt;mfrac&gt;&lt;mn&gt;4&lt;/mn&gt;&lt;mn&gt;9&lt;/mn&gt;&lt;/mfrac&gt;&lt;mo&gt;=&lt;/mo&gt;&lt;mfrac&gt;&lt;mn&gt;4&lt;/mn&gt;&lt;mn&gt;15&lt;/mn&gt;&lt;/mfrac&gt;&lt;/math&gt;" id="1334" name="Google Shape;1334;p93" title="three fifths times four ninths equals 4 over 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9040" y="2158852"/>
            <a:ext cx="1590225" cy="6417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\times\frac{7}{8}=\frac{21}{80}&quot;&gt;&lt;mfrac&gt;&lt;mn&gt;3&lt;/mn&gt;&lt;mn&gt;10&lt;/mn&gt;&lt;/mfrac&gt;&lt;mo&gt;×&lt;/mo&gt;&lt;mfrac&gt;&lt;mn&gt;7&lt;/mn&gt;&lt;mn&gt;8&lt;/mn&gt;&lt;/mfrac&gt;&lt;mo&gt;=&lt;/mo&gt;&lt;mfrac&gt;&lt;mn&gt;21&lt;/mn&gt;&lt;mn&gt;80&lt;/mn&gt;&lt;/mfrac&gt;&lt;/math&gt;" id="1335" name="Google Shape;1335;p93" title="three tenths times seven eighths equals 21 over 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581" y="3049910"/>
            <a:ext cx="1802569" cy="6606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\times\frac{3}{5}=\frac{9}{50}&quot;&gt;&lt;mfrac&gt;&lt;mn&gt;3&lt;/mn&gt;&lt;mn&gt;10&lt;/mn&gt;&lt;/mfrac&gt;&lt;mo&gt;×&lt;/mo&gt;&lt;mfrac&gt;&lt;mn&gt;3&lt;/mn&gt;&lt;mn&gt;5&lt;/mn&gt;&lt;/mfrac&gt;&lt;mo&gt;=&lt;/mo&gt;&lt;mfrac&gt;&lt;mn&gt;9&lt;/mn&gt;&lt;mn&gt;50&lt;/mn&gt;&lt;/mfrac&gt;&lt;/math&gt;" id="1336" name="Google Shape;1336;p93" title="three tenths times three fifths equals 9 over 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6581" y="2161202"/>
            <a:ext cx="1736506" cy="637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times\frac{2}{5}=\frac{6}{25}&quot;&gt;&lt;mfrac&gt;&lt;mn&gt;3&lt;/mn&gt;&lt;mn&gt;5&lt;/mn&gt;&lt;/mfrac&gt;&lt;mo&gt;×&lt;/mo&gt;&lt;mfrac&gt;&lt;mn&gt;2&lt;/mn&gt;&lt;mn&gt;5&lt;/mn&gt;&lt;/mfrac&gt;&lt;mo&gt;=&lt;/mo&gt;&lt;mfrac&gt;&lt;mn&gt;6&lt;/mn&gt;&lt;mn&gt;25&lt;/mn&gt;&lt;/mfrac&gt;&lt;/math&gt;" id="1337" name="Google Shape;1337;p93" title="three fifths times two fifths equals 6 over 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6581" y="3962212"/>
            <a:ext cx="1580787" cy="637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1}\times\frac{5}{9}=\frac{10}{33}&quot;&gt;&lt;mfrac&gt;&lt;mn&gt;6&lt;/mn&gt;&lt;mn&gt;11&lt;/mn&gt;&lt;/mfrac&gt;&lt;mo&gt;×&lt;/mo&gt;&lt;mfrac&gt;&lt;mn&gt;5&lt;/mn&gt;&lt;mn&gt;9&lt;/mn&gt;&lt;/mfrac&gt;&lt;mo&gt;=&lt;/mo&gt;&lt;mfrac&gt;&lt;mn&gt;10&lt;/mn&gt;&lt;mn&gt;33&lt;/mn&gt;&lt;/mfrac&gt;&lt;/math&gt;" id="1338" name="Google Shape;1338;p93" title="6 over 11 times five ninths equals 10 over 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49040" y="3061736"/>
            <a:ext cx="1684600" cy="618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times\frac{5}{8}=\frac{5}{12}&quot;&gt;&lt;mfrac&gt;&lt;mn&gt;2&lt;/mn&gt;&lt;mn&gt;3&lt;/mn&gt;&lt;/mfrac&gt;&lt;mo&gt;×&lt;/mo&gt;&lt;mfrac&gt;&lt;mn&gt;5&lt;/mn&gt;&lt;mn&gt;8&lt;/mn&gt;&lt;/mfrac&gt;&lt;mo&gt;=&lt;/mo&gt;&lt;mfrac&gt;&lt;mn&gt;5&lt;/mn&gt;&lt;mn&gt;12&lt;/mn&gt;&lt;/mfrac&gt;&lt;/math&gt;" id="1339" name="Google Shape;1339;p93" title="two thirds times five eighths equals 5 over 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49040" y="1260687"/>
            <a:ext cx="1580787" cy="637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2}\times\frac{3}{5}=\frac{7}{20}&quot;&gt;&lt;mfrac&gt;&lt;mn&gt;7&lt;/mn&gt;&lt;mn&gt;12&lt;/mn&gt;&lt;/mfrac&gt;&lt;mo&gt;×&lt;/mo&gt;&lt;mfrac&gt;&lt;mn&gt;3&lt;/mn&gt;&lt;mn&gt;5&lt;/mn&gt;&lt;/mfrac&gt;&lt;mo&gt;=&lt;/mo&gt;&lt;mfrac&gt;&lt;mn&gt;7&lt;/mn&gt;&lt;mn&gt;20&lt;/mn&gt;&lt;/mfrac&gt;&lt;/math&gt;" id="1340" name="Google Shape;1340;p93" title="7 over 12 times three fifths equals 7 over 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49040" y="3941025"/>
            <a:ext cx="1750663" cy="641757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93"/>
          <p:cNvSpPr txBox="1"/>
          <p:nvPr/>
        </p:nvSpPr>
        <p:spPr>
          <a:xfrm>
            <a:off x="4599505" y="1195200"/>
            <a:ext cx="323400" cy="30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93"/>
          <p:cNvSpPr/>
          <p:nvPr/>
        </p:nvSpPr>
        <p:spPr>
          <a:xfrm>
            <a:off x="2044750" y="1195200"/>
            <a:ext cx="323400" cy="337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93"/>
          <p:cNvSpPr/>
          <p:nvPr/>
        </p:nvSpPr>
        <p:spPr>
          <a:xfrm>
            <a:off x="2169675" y="2557879"/>
            <a:ext cx="323400" cy="337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93"/>
          <p:cNvSpPr/>
          <p:nvPr/>
        </p:nvSpPr>
        <p:spPr>
          <a:xfrm>
            <a:off x="756575" y="2990325"/>
            <a:ext cx="323400" cy="337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93"/>
          <p:cNvSpPr/>
          <p:nvPr/>
        </p:nvSpPr>
        <p:spPr>
          <a:xfrm>
            <a:off x="1290525" y="4333239"/>
            <a:ext cx="323400" cy="337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93"/>
          <p:cNvSpPr/>
          <p:nvPr/>
        </p:nvSpPr>
        <p:spPr>
          <a:xfrm>
            <a:off x="6306425" y="1639859"/>
            <a:ext cx="323400" cy="337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93"/>
          <p:cNvSpPr/>
          <p:nvPr/>
        </p:nvSpPr>
        <p:spPr>
          <a:xfrm>
            <a:off x="5586220" y="2538029"/>
            <a:ext cx="323400" cy="337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93"/>
          <p:cNvSpPr/>
          <p:nvPr/>
        </p:nvSpPr>
        <p:spPr>
          <a:xfrm>
            <a:off x="5708941" y="3022209"/>
            <a:ext cx="323400" cy="337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93"/>
          <p:cNvSpPr/>
          <p:nvPr/>
        </p:nvSpPr>
        <p:spPr>
          <a:xfrm>
            <a:off x="5049050" y="3904234"/>
            <a:ext cx="323400" cy="337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94"/>
          <p:cNvSpPr txBox="1"/>
          <p:nvPr>
            <p:ph idx="1" type="body"/>
          </p:nvPr>
        </p:nvSpPr>
        <p:spPr>
          <a:xfrm>
            <a:off x="324000" y="7752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</a:t>
            </a:r>
            <a:r>
              <a:rPr lang="en-GB"/>
              <a:t>hen multiplying a fraction by a fraction you multiply across the numerators and across the denominators.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E.g.</a:t>
            </a:r>
            <a:endParaRPr/>
          </a:p>
        </p:txBody>
      </p:sp>
      <p:sp>
        <p:nvSpPr>
          <p:cNvPr id="1355" name="Google Shape;1355;p94"/>
          <p:cNvSpPr txBox="1"/>
          <p:nvPr>
            <p:ph type="title"/>
          </p:nvPr>
        </p:nvSpPr>
        <p:spPr>
          <a:xfrm>
            <a:off x="1684800" y="157525"/>
            <a:ext cx="6810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multiplication with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\times\frac{3}{4}=\frac{3\times3}{5\times4}=\frac{9}{20}&quot;&gt;&lt;mfrac&gt;&lt;mn&gt;3&lt;/mn&gt;&lt;mn&gt;5&lt;/mn&gt;&lt;/mfrac&gt;&lt;mo&gt;×&lt;/mo&gt;&lt;mfrac&gt;&lt;mn&gt;3&lt;/mn&gt;&lt;mn&gt;4&lt;/mn&gt;&lt;/mfrac&gt;&lt;mo&gt;=&lt;/mo&gt;&lt;mfrac&gt;&lt;mrow&gt;&lt;mn&gt;3&lt;/mn&gt;&lt;mo&gt;×&lt;/mo&gt;&lt;mn&gt;3&lt;/mn&gt;&lt;/mrow&gt;&lt;mrow&gt;&lt;mn&gt;5&lt;/mn&gt;&lt;mo&gt;×&lt;/mo&gt;&lt;mn&gt;4&lt;/mn&gt;&lt;/mrow&gt;&lt;/mfrac&gt;&lt;mo&gt;=&lt;/mo&gt;&lt;mfrac&gt;&lt;mn&gt;9&lt;/mn&gt;&lt;mn&gt;20&lt;/mn&gt;&lt;/mfrac&gt;&lt;/math&gt;" id="1356" name="Google Shape;1356;p94" title="three fifths times three fourths equals the fraction with numerator 3 times 3 and denominator 5 times 4 equals 9 over 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250" y="2088450"/>
            <a:ext cx="2589361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9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62" name="Google Shape;1362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