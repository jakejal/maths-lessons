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1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997">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997"/>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7" Type="http://schemas.openxmlformats.org/officeDocument/2006/relationships/slide" Target="slides/slide4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29f432c55a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29f432c55a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29f432c55a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g29f432c55a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29f432c55a9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3" name="Google Shape;783;g29f432c55a9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29f432c55a9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29f432c55a9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g29f432c55a9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8" name="Google Shape;838;g29f432c55a9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29f432c55a9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5" name="Google Shape;875;g29f432c55a9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29f432c55a9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8" name="Google Shape;898;g29f432c55a9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g29f432c55a9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4" name="Google Shape;934;g29f432c55a9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g29f432c55a9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4" name="Google Shape;974;g29f432c55a9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g29f432c55a9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8" name="Google Shape;988;g29f432c55a9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g29f432c55a9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8" name="Google Shape;998;g29f432c55a9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g29f432c55a9_0_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7" name="Google Shape;1027;g29f432c55a9_0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g29f432c55a9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9" name="Google Shape;1049;g29f432c55a9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g29f432c55a9_0_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8" name="Google Shape;1058;g29f432c55a9_0_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g29f432c55a9_0_1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2" name="Google Shape;1082;g29f432c55a9_0_1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7" name="Shape 1107"/>
        <p:cNvGrpSpPr/>
        <p:nvPr/>
      </p:nvGrpSpPr>
      <p:grpSpPr>
        <a:xfrm>
          <a:off x="0" y="0"/>
          <a:ext cx="0" cy="0"/>
          <a:chOff x="0" y="0"/>
          <a:chExt cx="0" cy="0"/>
        </a:xfrm>
      </p:grpSpPr>
      <p:sp>
        <p:nvSpPr>
          <p:cNvPr id="1108" name="Google Shape;1108;g29f432c55a9_0_1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9" name="Google Shape;1109;g29f432c55a9_0_1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29f432c55a9_0_1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0" name="Google Shape;1130;g29f432c55a9_0_1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g29f432c55a9_0_1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8" name="Google Shape;1148;g29f432c55a9_0_1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g29f432c55a9_0_1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4" name="Google Shape;1174;g29f432c55a9_0_1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29f432c55a9_0_16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6" name="Google Shape;1186;g29f432c55a9_0_16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g29f432c55a9_0_1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3" name="Google Shape;1203;g29f432c55a9_0_1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8" name="Shape 1208"/>
        <p:cNvGrpSpPr/>
        <p:nvPr/>
      </p:nvGrpSpPr>
      <p:grpSpPr>
        <a:xfrm>
          <a:off x="0" y="0"/>
          <a:ext cx="0" cy="0"/>
          <a:chOff x="0" y="0"/>
          <a:chExt cx="0" cy="0"/>
        </a:xfrm>
      </p:grpSpPr>
      <p:sp>
        <p:nvSpPr>
          <p:cNvPr id="1209" name="Google Shape;1209;g29f432c55a9_0_1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0" name="Google Shape;1210;g29f432c55a9_0_1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g29f432c55a9_0_1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8" name="Google Shape;1218;g29f432c55a9_0_1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3" name="Shape 1233"/>
        <p:cNvGrpSpPr/>
        <p:nvPr/>
      </p:nvGrpSpPr>
      <p:grpSpPr>
        <a:xfrm>
          <a:off x="0" y="0"/>
          <a:ext cx="0" cy="0"/>
          <a:chOff x="0" y="0"/>
          <a:chExt cx="0" cy="0"/>
        </a:xfrm>
      </p:grpSpPr>
      <p:sp>
        <p:nvSpPr>
          <p:cNvPr id="1234" name="Google Shape;1234;g29f432c55a9_0_16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5" name="Google Shape;1235;g29f432c55a9_0_16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9" name="Shape 1249"/>
        <p:cNvGrpSpPr/>
        <p:nvPr/>
      </p:nvGrpSpPr>
      <p:grpSpPr>
        <a:xfrm>
          <a:off x="0" y="0"/>
          <a:ext cx="0" cy="0"/>
          <a:chOff x="0" y="0"/>
          <a:chExt cx="0" cy="0"/>
        </a:xfrm>
      </p:grpSpPr>
      <p:sp>
        <p:nvSpPr>
          <p:cNvPr id="1250" name="Google Shape;1250;g29f432c55a9_0_16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1" name="Google Shape;1251;g29f432c55a9_0_16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1" name="Shape 1261"/>
        <p:cNvGrpSpPr/>
        <p:nvPr/>
      </p:nvGrpSpPr>
      <p:grpSpPr>
        <a:xfrm>
          <a:off x="0" y="0"/>
          <a:ext cx="0" cy="0"/>
          <a:chOff x="0" y="0"/>
          <a:chExt cx="0" cy="0"/>
        </a:xfrm>
      </p:grpSpPr>
      <p:sp>
        <p:nvSpPr>
          <p:cNvPr id="1262" name="Google Shape;1262;g29f432c55a9_0_16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3" name="Google Shape;1263;g29f432c55a9_0_16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4" name="Shape 1274"/>
        <p:cNvGrpSpPr/>
        <p:nvPr/>
      </p:nvGrpSpPr>
      <p:grpSpPr>
        <a:xfrm>
          <a:off x="0" y="0"/>
          <a:ext cx="0" cy="0"/>
          <a:chOff x="0" y="0"/>
          <a:chExt cx="0" cy="0"/>
        </a:xfrm>
      </p:grpSpPr>
      <p:sp>
        <p:nvSpPr>
          <p:cNvPr id="1275" name="Google Shape;1275;g29f432c55a9_0_1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6" name="Google Shape;1276;g29f432c55a9_0_1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g29f432c55a9_0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5" name="Google Shape;1285;g29f432c55a9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3" name="Shape 1303"/>
        <p:cNvGrpSpPr/>
        <p:nvPr/>
      </p:nvGrpSpPr>
      <p:grpSpPr>
        <a:xfrm>
          <a:off x="0" y="0"/>
          <a:ext cx="0" cy="0"/>
          <a:chOff x="0" y="0"/>
          <a:chExt cx="0" cy="0"/>
        </a:xfrm>
      </p:grpSpPr>
      <p:sp>
        <p:nvSpPr>
          <p:cNvPr id="1304" name="Google Shape;1304;g29f432c55a9_0_1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5" name="Google Shape;1305;g29f432c55a9_0_1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6" name="Shape 1326"/>
        <p:cNvGrpSpPr/>
        <p:nvPr/>
      </p:nvGrpSpPr>
      <p:grpSpPr>
        <a:xfrm>
          <a:off x="0" y="0"/>
          <a:ext cx="0" cy="0"/>
          <a:chOff x="0" y="0"/>
          <a:chExt cx="0" cy="0"/>
        </a:xfrm>
      </p:grpSpPr>
      <p:sp>
        <p:nvSpPr>
          <p:cNvPr id="1327" name="Google Shape;1327;g29f432c55a9_0_14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8" name="Google Shape;1328;g29f432c55a9_0_1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8" name="Shape 1338"/>
        <p:cNvGrpSpPr/>
        <p:nvPr/>
      </p:nvGrpSpPr>
      <p:grpSpPr>
        <a:xfrm>
          <a:off x="0" y="0"/>
          <a:ext cx="0" cy="0"/>
          <a:chOff x="0" y="0"/>
          <a:chExt cx="0" cy="0"/>
        </a:xfrm>
      </p:grpSpPr>
      <p:sp>
        <p:nvSpPr>
          <p:cNvPr id="1339" name="Google Shape;1339;g29f432c55a9_0_1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0" name="Google Shape;1340;g29f432c55a9_0_1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1" name="Shape 1351"/>
        <p:cNvGrpSpPr/>
        <p:nvPr/>
      </p:nvGrpSpPr>
      <p:grpSpPr>
        <a:xfrm>
          <a:off x="0" y="0"/>
          <a:ext cx="0" cy="0"/>
          <a:chOff x="0" y="0"/>
          <a:chExt cx="0" cy="0"/>
        </a:xfrm>
      </p:grpSpPr>
      <p:sp>
        <p:nvSpPr>
          <p:cNvPr id="1352" name="Google Shape;1352;g29f432c55a9_0_1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3" name="Google Shape;1353;g29f432c55a9_0_1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6" name="Shape 1366"/>
        <p:cNvGrpSpPr/>
        <p:nvPr/>
      </p:nvGrpSpPr>
      <p:grpSpPr>
        <a:xfrm>
          <a:off x="0" y="0"/>
          <a:ext cx="0" cy="0"/>
          <a:chOff x="0" y="0"/>
          <a:chExt cx="0" cy="0"/>
        </a:xfrm>
      </p:grpSpPr>
      <p:sp>
        <p:nvSpPr>
          <p:cNvPr id="1367" name="Google Shape;1367;g29f432c55a9_0_1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8" name="Google Shape;1368;g29f432c55a9_0_1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7" name="Shape 1377"/>
        <p:cNvGrpSpPr/>
        <p:nvPr/>
      </p:nvGrpSpPr>
      <p:grpSpPr>
        <a:xfrm>
          <a:off x="0" y="0"/>
          <a:ext cx="0" cy="0"/>
          <a:chOff x="0" y="0"/>
          <a:chExt cx="0" cy="0"/>
        </a:xfrm>
      </p:grpSpPr>
      <p:sp>
        <p:nvSpPr>
          <p:cNvPr id="1378" name="Google Shape;1378;g29f432c55a9_0_1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9" name="Google Shape;1379;g29f432c55a9_0_1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7" name="Shape 1387"/>
        <p:cNvGrpSpPr/>
        <p:nvPr/>
      </p:nvGrpSpPr>
      <p:grpSpPr>
        <a:xfrm>
          <a:off x="0" y="0"/>
          <a:ext cx="0" cy="0"/>
          <a:chOff x="0" y="0"/>
          <a:chExt cx="0" cy="0"/>
        </a:xfrm>
      </p:grpSpPr>
      <p:sp>
        <p:nvSpPr>
          <p:cNvPr id="1388" name="Google Shape;1388;g29f432c55a9_0_1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9" name="Google Shape;1389;g29f432c55a9_0_1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2" name="Shape 1402"/>
        <p:cNvGrpSpPr/>
        <p:nvPr/>
      </p:nvGrpSpPr>
      <p:grpSpPr>
        <a:xfrm>
          <a:off x="0" y="0"/>
          <a:ext cx="0" cy="0"/>
          <a:chOff x="0" y="0"/>
          <a:chExt cx="0" cy="0"/>
        </a:xfrm>
      </p:grpSpPr>
      <p:sp>
        <p:nvSpPr>
          <p:cNvPr id="1403" name="Google Shape;1403;g29f432c55a9_0_15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4" name="Google Shape;1404;g29f432c55a9_0_15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6" name="Shape 1426"/>
        <p:cNvGrpSpPr/>
        <p:nvPr/>
      </p:nvGrpSpPr>
      <p:grpSpPr>
        <a:xfrm>
          <a:off x="0" y="0"/>
          <a:ext cx="0" cy="0"/>
          <a:chOff x="0" y="0"/>
          <a:chExt cx="0" cy="0"/>
        </a:xfrm>
      </p:grpSpPr>
      <p:sp>
        <p:nvSpPr>
          <p:cNvPr id="1427" name="Google Shape;1427;g29f432c55a9_0_1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8" name="Google Shape;1428;g29f432c55a9_0_15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5" name="Shape 1445"/>
        <p:cNvGrpSpPr/>
        <p:nvPr/>
      </p:nvGrpSpPr>
      <p:grpSpPr>
        <a:xfrm>
          <a:off x="0" y="0"/>
          <a:ext cx="0" cy="0"/>
          <a:chOff x="0" y="0"/>
          <a:chExt cx="0" cy="0"/>
        </a:xfrm>
      </p:grpSpPr>
      <p:sp>
        <p:nvSpPr>
          <p:cNvPr id="1446" name="Google Shape;1446;g279955a40ae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7" name="Google Shape;1447;g279955a40ae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8" name="Shape 1468"/>
        <p:cNvGrpSpPr/>
        <p:nvPr/>
      </p:nvGrpSpPr>
      <p:grpSpPr>
        <a:xfrm>
          <a:off x="0" y="0"/>
          <a:ext cx="0" cy="0"/>
          <a:chOff x="0" y="0"/>
          <a:chExt cx="0" cy="0"/>
        </a:xfrm>
      </p:grpSpPr>
      <p:sp>
        <p:nvSpPr>
          <p:cNvPr id="1469" name="Google Shape;1469;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0" name="Google Shape;1470;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0.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9.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20.png"/><Relationship Id="rId5" Type="http://schemas.openxmlformats.org/officeDocument/2006/relationships/image" Target="../media/image1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7.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1.png"/><Relationship Id="rId4" Type="http://schemas.openxmlformats.org/officeDocument/2006/relationships/image" Target="../media/image18.png"/><Relationship Id="rId5" Type="http://schemas.openxmlformats.org/officeDocument/2006/relationships/image" Target="../media/image16.png"/><Relationship Id="rId6" Type="http://schemas.openxmlformats.org/officeDocument/2006/relationships/image" Target="../media/image15.png"/><Relationship Id="rId7" Type="http://schemas.openxmlformats.org/officeDocument/2006/relationships/image" Target="../media/image2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25.png"/><Relationship Id="rId4" Type="http://schemas.openxmlformats.org/officeDocument/2006/relationships/image" Target="../media/image84.png"/><Relationship Id="rId5" Type="http://schemas.openxmlformats.org/officeDocument/2006/relationships/image" Target="../media/image29.png"/><Relationship Id="rId6" Type="http://schemas.openxmlformats.org/officeDocument/2006/relationships/image" Target="../media/image31.png"/><Relationship Id="rId7" Type="http://schemas.openxmlformats.org/officeDocument/2006/relationships/image" Target="../media/image1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84.png"/><Relationship Id="rId4" Type="http://schemas.openxmlformats.org/officeDocument/2006/relationships/image" Target="../media/image23.png"/><Relationship Id="rId9" Type="http://schemas.openxmlformats.org/officeDocument/2006/relationships/image" Target="../media/image12.png"/><Relationship Id="rId5" Type="http://schemas.openxmlformats.org/officeDocument/2006/relationships/image" Target="../media/image25.png"/><Relationship Id="rId6" Type="http://schemas.openxmlformats.org/officeDocument/2006/relationships/image" Target="../media/image33.png"/><Relationship Id="rId7" Type="http://schemas.openxmlformats.org/officeDocument/2006/relationships/image" Target="../media/image29.png"/><Relationship Id="rId8" Type="http://schemas.openxmlformats.org/officeDocument/2006/relationships/image" Target="../media/image3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84.png"/><Relationship Id="rId4" Type="http://schemas.openxmlformats.org/officeDocument/2006/relationships/image" Target="../media/image28.png"/><Relationship Id="rId11" Type="http://schemas.openxmlformats.org/officeDocument/2006/relationships/image" Target="../media/image12.png"/><Relationship Id="rId10" Type="http://schemas.openxmlformats.org/officeDocument/2006/relationships/image" Target="../media/image34.png"/><Relationship Id="rId9" Type="http://schemas.openxmlformats.org/officeDocument/2006/relationships/image" Target="../media/image31.png"/><Relationship Id="rId5" Type="http://schemas.openxmlformats.org/officeDocument/2006/relationships/image" Target="../media/image23.png"/><Relationship Id="rId6" Type="http://schemas.openxmlformats.org/officeDocument/2006/relationships/image" Target="../media/image25.png"/><Relationship Id="rId7" Type="http://schemas.openxmlformats.org/officeDocument/2006/relationships/image" Target="../media/image33.png"/><Relationship Id="rId8" Type="http://schemas.openxmlformats.org/officeDocument/2006/relationships/image" Target="../media/image2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7.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7.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40.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7.png"/><Relationship Id="rId4" Type="http://schemas.openxmlformats.org/officeDocument/2006/relationships/image" Target="../media/image4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7.png"/><Relationship Id="rId4" Type="http://schemas.openxmlformats.org/officeDocument/2006/relationships/image" Target="../media/image40.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7.png"/><Relationship Id="rId4" Type="http://schemas.openxmlformats.org/officeDocument/2006/relationships/image" Target="../media/image40.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 Id="rId3" Type="http://schemas.openxmlformats.org/officeDocument/2006/relationships/image" Target="../media/image36.png"/><Relationship Id="rId4" Type="http://schemas.openxmlformats.org/officeDocument/2006/relationships/image" Target="../media/image40.png"/><Relationship Id="rId5" Type="http://schemas.openxmlformats.org/officeDocument/2006/relationships/image" Target="../media/image4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0.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0.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0.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0.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0.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6.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6.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6.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6.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5.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5.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5.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5.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177375" y="7248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a:t>
            </a:r>
            <a:r>
              <a:rPr lang="en-GB" sz="1200">
                <a:latin typeface="Lexend"/>
                <a:ea typeface="Lexend"/>
                <a:cs typeface="Lexend"/>
                <a:sym typeface="Lexend"/>
              </a:rPr>
              <a:t>These are indicated through colour in the slide deck:</a:t>
            </a:r>
            <a:endParaRPr sz="1200">
              <a:latin typeface="Lexend"/>
              <a:ea typeface="Lexend"/>
              <a:cs typeface="Lexend"/>
              <a:sym typeface="Lexend"/>
            </a:endParaRPr>
          </a:p>
        </p:txBody>
      </p:sp>
      <p:sp>
        <p:nvSpPr>
          <p:cNvPr id="96" name="Google Shape;96;p12"/>
          <p:cNvSpPr txBox="1"/>
          <p:nvPr/>
        </p:nvSpPr>
        <p:spPr>
          <a:xfrm>
            <a:off x="177375" y="248475"/>
            <a:ext cx="424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Oak’s lesson structure</a:t>
            </a:r>
            <a:endParaRPr b="1" sz="1800">
              <a:latin typeface="Lexend"/>
              <a:ea typeface="Lexend"/>
              <a:cs typeface="Lexend"/>
              <a:sym typeface="Lexend"/>
            </a:endParaRPr>
          </a:p>
        </p:txBody>
      </p:sp>
      <p:sp>
        <p:nvSpPr>
          <p:cNvPr id="97" name="Google Shape;97;p12"/>
          <p:cNvSpPr txBox="1"/>
          <p:nvPr/>
        </p:nvSpPr>
        <p:spPr>
          <a:xfrm>
            <a:off x="4825725" y="248475"/>
            <a:ext cx="401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Useful links</a:t>
            </a:r>
            <a:endParaRPr b="1" sz="1800">
              <a:latin typeface="Lexend"/>
              <a:ea typeface="Lexend"/>
              <a:cs typeface="Lexend"/>
              <a:sym typeface="Lexend"/>
            </a:endParaRPr>
          </a:p>
        </p:txBody>
      </p:sp>
      <p:sp>
        <p:nvSpPr>
          <p:cNvPr id="98" name="Google Shape;98;p12"/>
          <p:cNvSpPr txBox="1"/>
          <p:nvPr/>
        </p:nvSpPr>
        <p:spPr>
          <a:xfrm>
            <a:off x="177375" y="30535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825725" y="7248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a:t>
            </a:r>
            <a:r>
              <a:rPr lang="en-GB" sz="1200">
                <a:latin typeface="Lexend"/>
                <a:ea typeface="Lexend"/>
                <a:cs typeface="Lexend"/>
                <a:sym typeface="Lexend"/>
              </a:rPr>
              <a:t>                                          </a:t>
            </a:r>
            <a:r>
              <a:rPr lang="en-GB" sz="1200">
                <a:latin typeface="Lexend"/>
                <a:ea typeface="Lexend"/>
                <a:cs typeface="Lexend"/>
                <a:sym typeface="Lexend"/>
              </a:rPr>
              <a:t>to </a:t>
            </a:r>
            <a:r>
              <a:rPr lang="en-GB" sz="1200">
                <a:solidFill>
                  <a:schemeClr val="dk1"/>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498516" y="1415817"/>
            <a:ext cx="1745270" cy="1430724"/>
            <a:chOff x="2642961" y="1644312"/>
            <a:chExt cx="1454634" cy="1195657"/>
          </a:xfrm>
        </p:grpSpPr>
        <p:pic>
          <p:nvPicPr>
            <p:cNvPr id="101" name="Google Shape;101;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4" name="Google Shape;104;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5" name="Google Shape;105;p12"/>
          <p:cNvPicPr preferRelativeResize="0"/>
          <p:nvPr/>
        </p:nvPicPr>
        <p:blipFill rotWithShape="1">
          <a:blip r:embed="rId6">
            <a:alphaModFix/>
          </a:blip>
          <a:srcRect b="5222" l="3910" r="0" t="0"/>
          <a:stretch/>
        </p:blipFill>
        <p:spPr>
          <a:xfrm>
            <a:off x="1252313" y="3417350"/>
            <a:ext cx="2057336" cy="1195675"/>
          </a:xfrm>
          <a:prstGeom prst="rect">
            <a:avLst/>
          </a:prstGeom>
          <a:noFill/>
          <a:ln>
            <a:noFill/>
          </a:ln>
        </p:spPr>
      </p:pic>
      <p:pic>
        <p:nvPicPr>
          <p:cNvPr id="106" name="Google Shape;106;p12"/>
          <p:cNvPicPr preferRelativeResize="0"/>
          <p:nvPr/>
        </p:nvPicPr>
        <p:blipFill>
          <a:blip r:embed="rId7">
            <a:alphaModFix/>
          </a:blip>
          <a:stretch>
            <a:fillRect/>
          </a:stretch>
        </p:blipFill>
        <p:spPr>
          <a:xfrm>
            <a:off x="246350" y="1549488"/>
            <a:ext cx="2057324" cy="1163398"/>
          </a:xfrm>
          <a:prstGeom prst="rect">
            <a:avLst/>
          </a:prstGeom>
          <a:noFill/>
          <a:ln>
            <a:noFill/>
          </a:ln>
          <a:effectLst>
            <a:outerShdw blurRad="57150" rotWithShape="0" algn="bl" dir="5400000" dist="19050">
              <a:srgbClr val="000000">
                <a:alpha val="50000"/>
              </a:srgbClr>
            </a:outerShdw>
          </a:effectLst>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7" name="Shape 107"/>
        <p:cNvGrpSpPr/>
        <p:nvPr/>
      </p:nvGrpSpPr>
      <p:grpSpPr>
        <a:xfrm>
          <a:off x="0" y="0"/>
          <a:ext cx="0" cy="0"/>
          <a:chOff x="0" y="0"/>
          <a:chExt cx="0" cy="0"/>
        </a:xfrm>
      </p:grpSpPr>
      <p:sp>
        <p:nvSpPr>
          <p:cNvPr id="108" name="Google Shape;108;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0" name="Google Shape;110;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1" name="Google Shape;111;p13"/>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2" name="Google Shape;112;p13"/>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3" name="Google Shape;113;p13"/>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1 Keywords definitions (3)">
  <p:cSld name="CUSTOM_3_1_1">
    <p:spTree>
      <p:nvGrpSpPr>
        <p:cNvPr id="114" name="Shape 114"/>
        <p:cNvGrpSpPr/>
        <p:nvPr/>
      </p:nvGrpSpPr>
      <p:grpSpPr>
        <a:xfrm>
          <a:off x="0" y="0"/>
          <a:ext cx="0" cy="0"/>
          <a:chOff x="0" y="0"/>
          <a:chExt cx="0" cy="0"/>
        </a:xfrm>
      </p:grpSpPr>
      <p:sp>
        <p:nvSpPr>
          <p:cNvPr id="115" name="Google Shape;115;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6" name="Google Shape;116;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7" name="Google Shape;117;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8" name="Google Shape;118;p14"/>
          <p:cNvSpPr txBox="1"/>
          <p:nvPr>
            <p:ph idx="1" type="subTitle"/>
          </p:nvPr>
        </p:nvSpPr>
        <p:spPr>
          <a:xfrm>
            <a:off x="324000" y="993650"/>
            <a:ext cx="8496000" cy="544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9" name="Google Shape;119;p14"/>
          <p:cNvSpPr txBox="1"/>
          <p:nvPr>
            <p:ph idx="2" type="subTitle"/>
          </p:nvPr>
        </p:nvSpPr>
        <p:spPr>
          <a:xfrm>
            <a:off x="324001" y="22387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0" name="Google Shape;120;p14"/>
          <p:cNvSpPr txBox="1"/>
          <p:nvPr>
            <p:ph idx="3" type="subTitle"/>
          </p:nvPr>
        </p:nvSpPr>
        <p:spPr>
          <a:xfrm>
            <a:off x="324001" y="34838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 Keyword (4)">
  <p:cSld name="CUSTOM_27_1">
    <p:spTree>
      <p:nvGrpSpPr>
        <p:cNvPr id="121" name="Shape 121"/>
        <p:cNvGrpSpPr/>
        <p:nvPr/>
      </p:nvGrpSpPr>
      <p:grpSpPr>
        <a:xfrm>
          <a:off x="0" y="0"/>
          <a:ext cx="0" cy="0"/>
          <a:chOff x="0" y="0"/>
          <a:chExt cx="0" cy="0"/>
        </a:xfrm>
      </p:grpSpPr>
      <p:sp>
        <p:nvSpPr>
          <p:cNvPr id="122" name="Google Shape;122;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3" name="Google Shape;123;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4" name="Google Shape;124;p15"/>
          <p:cNvSpPr txBox="1"/>
          <p:nvPr>
            <p:ph idx="1" type="subTitle"/>
          </p:nvPr>
        </p:nvSpPr>
        <p:spPr>
          <a:xfrm>
            <a:off x="324000" y="9084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5" name="Google Shape;125;p15"/>
          <p:cNvSpPr txBox="1"/>
          <p:nvPr>
            <p:ph idx="2" type="subTitle"/>
          </p:nvPr>
        </p:nvSpPr>
        <p:spPr>
          <a:xfrm>
            <a:off x="324000" y="190562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6" name="Google Shape;126;p15"/>
          <p:cNvSpPr txBox="1"/>
          <p:nvPr>
            <p:ph idx="3" type="subTitle"/>
          </p:nvPr>
        </p:nvSpPr>
        <p:spPr>
          <a:xfrm>
            <a:off x="324000" y="28976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7" name="Google Shape;127;p15"/>
          <p:cNvSpPr txBox="1"/>
          <p:nvPr>
            <p:ph idx="4" type="subTitle"/>
          </p:nvPr>
        </p:nvSpPr>
        <p:spPr>
          <a:xfrm>
            <a:off x="324000" y="3887250"/>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8" name="Google Shape;128;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1 Keyword definitions (4)">
  <p:cSld name="CUSTOM_27_1_2">
    <p:spTree>
      <p:nvGrpSpPr>
        <p:cNvPr id="129" name="Shape 129"/>
        <p:cNvGrpSpPr/>
        <p:nvPr/>
      </p:nvGrpSpPr>
      <p:grpSpPr>
        <a:xfrm>
          <a:off x="0" y="0"/>
          <a:ext cx="0" cy="0"/>
          <a:chOff x="0" y="0"/>
          <a:chExt cx="0" cy="0"/>
        </a:xfrm>
      </p:grpSpPr>
      <p:sp>
        <p:nvSpPr>
          <p:cNvPr id="130" name="Google Shape;130;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 name="Google Shape;131;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2" name="Google Shape;132;p16"/>
          <p:cNvSpPr txBox="1"/>
          <p:nvPr>
            <p:ph idx="1" type="subTitle"/>
          </p:nvPr>
        </p:nvSpPr>
        <p:spPr>
          <a:xfrm>
            <a:off x="324000" y="9084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3" name="Google Shape;133;p16"/>
          <p:cNvSpPr txBox="1"/>
          <p:nvPr>
            <p:ph idx="2" type="subTitle"/>
          </p:nvPr>
        </p:nvSpPr>
        <p:spPr>
          <a:xfrm>
            <a:off x="324000" y="190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4" name="Google Shape;134;p16"/>
          <p:cNvSpPr txBox="1"/>
          <p:nvPr>
            <p:ph idx="3" type="subTitle"/>
          </p:nvPr>
        </p:nvSpPr>
        <p:spPr>
          <a:xfrm>
            <a:off x="324000" y="28976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6"/>
          <p:cNvSpPr txBox="1"/>
          <p:nvPr>
            <p:ph idx="4" type="subTitle"/>
          </p:nvPr>
        </p:nvSpPr>
        <p:spPr>
          <a:xfrm>
            <a:off x="324000" y="38872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6" name="Google Shape;136;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 Keywords (5)">
  <p:cSld name="CUSTOM_27_1_1">
    <p:spTree>
      <p:nvGrpSpPr>
        <p:cNvPr id="137" name="Shape 137"/>
        <p:cNvGrpSpPr/>
        <p:nvPr/>
      </p:nvGrpSpPr>
      <p:grpSpPr>
        <a:xfrm>
          <a:off x="0" y="0"/>
          <a:ext cx="0" cy="0"/>
          <a:chOff x="0" y="0"/>
          <a:chExt cx="0" cy="0"/>
        </a:xfrm>
      </p:grpSpPr>
      <p:sp>
        <p:nvSpPr>
          <p:cNvPr id="138" name="Google Shape;138;p1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9" name="Google Shape;139;p1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0" name="Google Shape;140;p17"/>
          <p:cNvSpPr txBox="1"/>
          <p:nvPr>
            <p:ph idx="1" type="subTitle"/>
          </p:nvPr>
        </p:nvSpPr>
        <p:spPr>
          <a:xfrm>
            <a:off x="324000" y="74403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7"/>
          <p:cNvSpPr txBox="1"/>
          <p:nvPr>
            <p:ph idx="2" type="subTitle"/>
          </p:nvPr>
        </p:nvSpPr>
        <p:spPr>
          <a:xfrm>
            <a:off x="324000" y="158878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2" name="Google Shape;142;p17"/>
          <p:cNvSpPr txBox="1"/>
          <p:nvPr>
            <p:ph idx="3" type="subTitle"/>
          </p:nvPr>
        </p:nvSpPr>
        <p:spPr>
          <a:xfrm>
            <a:off x="324000" y="2428437"/>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7"/>
          <p:cNvSpPr txBox="1"/>
          <p:nvPr>
            <p:ph idx="4" type="subTitle"/>
          </p:nvPr>
        </p:nvSpPr>
        <p:spPr>
          <a:xfrm>
            <a:off x="324000" y="32656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4" name="Google Shape;144;p17"/>
          <p:cNvSpPr txBox="1"/>
          <p:nvPr>
            <p:ph idx="5" type="subTitle"/>
          </p:nvPr>
        </p:nvSpPr>
        <p:spPr>
          <a:xfrm>
            <a:off x="324000" y="41038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5" name="Google Shape;145;p1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1 Keywords definitions (5)">
  <p:cSld name="CUSTOM_27_1_1_1">
    <p:spTree>
      <p:nvGrpSpPr>
        <p:cNvPr id="146" name="Shape 146"/>
        <p:cNvGrpSpPr/>
        <p:nvPr/>
      </p:nvGrpSpPr>
      <p:grpSpPr>
        <a:xfrm>
          <a:off x="0" y="0"/>
          <a:ext cx="0" cy="0"/>
          <a:chOff x="0" y="0"/>
          <a:chExt cx="0" cy="0"/>
        </a:xfrm>
      </p:grpSpPr>
      <p:sp>
        <p:nvSpPr>
          <p:cNvPr id="147" name="Google Shape;147;p18"/>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8" name="Google Shape;148;p18"/>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9" name="Google Shape;149;p18"/>
          <p:cNvSpPr txBox="1"/>
          <p:nvPr>
            <p:ph idx="1" type="subTitle"/>
          </p:nvPr>
        </p:nvSpPr>
        <p:spPr>
          <a:xfrm>
            <a:off x="324000" y="7440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0" name="Google Shape;150;p18"/>
          <p:cNvSpPr txBox="1"/>
          <p:nvPr>
            <p:ph idx="2" type="subTitle"/>
          </p:nvPr>
        </p:nvSpPr>
        <p:spPr>
          <a:xfrm>
            <a:off x="324000" y="158880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8"/>
          <p:cNvSpPr txBox="1"/>
          <p:nvPr>
            <p:ph idx="3" type="subTitle"/>
          </p:nvPr>
        </p:nvSpPr>
        <p:spPr>
          <a:xfrm>
            <a:off x="324000" y="24284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52" name="Google Shape;152;p18"/>
          <p:cNvSpPr txBox="1"/>
          <p:nvPr>
            <p:ph idx="4" type="subTitle"/>
          </p:nvPr>
        </p:nvSpPr>
        <p:spPr>
          <a:xfrm>
            <a:off x="324000" y="326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53" name="Google Shape;153;p18"/>
          <p:cNvSpPr txBox="1"/>
          <p:nvPr>
            <p:ph idx="5" type="subTitle"/>
          </p:nvPr>
        </p:nvSpPr>
        <p:spPr>
          <a:xfrm>
            <a:off x="324000" y="41038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4" name="Google Shape;154;p18"/>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5" name="Shape 155"/>
        <p:cNvGrpSpPr/>
        <p:nvPr/>
      </p:nvGrpSpPr>
      <p:grpSpPr>
        <a:xfrm>
          <a:off x="0" y="0"/>
          <a:ext cx="0" cy="0"/>
          <a:chOff x="0" y="0"/>
          <a:chExt cx="0" cy="0"/>
        </a:xfrm>
      </p:grpSpPr>
      <p:sp>
        <p:nvSpPr>
          <p:cNvPr id="156" name="Google Shape;156;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7" name="Google Shape;157;p19"/>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8" name="Google Shape;158;p19"/>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9" name="Google Shape;159;p19"/>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60" name="Google Shape;160;p19"/>
          <p:cNvCxnSpPr>
            <a:endCxn id="161"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62" name="Google Shape;162;p19"/>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63" name="Google Shape;163;p19"/>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4" name="Google Shape;164;p19"/>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61" name="Google Shape;161;p19"/>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5" name="Google Shape;165;p19"/>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6" name="Google Shape;166;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7" name="Google Shape;167;p19"/>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8" name="Shape 168"/>
        <p:cNvGrpSpPr/>
        <p:nvPr/>
      </p:nvGrpSpPr>
      <p:grpSpPr>
        <a:xfrm>
          <a:off x="0" y="0"/>
          <a:ext cx="0" cy="0"/>
          <a:chOff x="0" y="0"/>
          <a:chExt cx="0" cy="0"/>
        </a:xfrm>
      </p:grpSpPr>
      <p:pic>
        <p:nvPicPr>
          <p:cNvPr id="169" name="Google Shape;169;p20"/>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70" name="Google Shape;170;p20"/>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71" name="Google Shape;171;p20"/>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72" name="Google Shape;172;p20"/>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73" name="Google Shape;173;p20"/>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4" name="Google Shape;174;p20"/>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5" name="Google Shape;175;p20"/>
          <p:cNvCxnSpPr>
            <a:endCxn id="176"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6" name="Google Shape;176;p20"/>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7" name="Google Shape;177;p20"/>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8" name="Google Shape;178;p20"/>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9" name="Google Shape;179;p20"/>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80" name="Google Shape;180;p20"/>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81" name="Google Shape;181;p20"/>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82" name="Google Shape;182;p20"/>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3" name="Google Shape;183;p20"/>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4" name="Google Shape;184;p20"/>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5" name="Google Shape;185;p20"/>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6" name="Shape 186"/>
        <p:cNvGrpSpPr/>
        <p:nvPr/>
      </p:nvGrpSpPr>
      <p:grpSpPr>
        <a:xfrm>
          <a:off x="0" y="0"/>
          <a:ext cx="0" cy="0"/>
          <a:chOff x="0" y="0"/>
          <a:chExt cx="0" cy="0"/>
        </a:xfrm>
      </p:grpSpPr>
      <p:pic>
        <p:nvPicPr>
          <p:cNvPr id="187" name="Google Shape;187;p21"/>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8" name="Google Shape;188;p21"/>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9" name="Google Shape;189;p21"/>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90" name="Google Shape;190;p21"/>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91" name="Google Shape;191;p21"/>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92" name="Google Shape;192;p21"/>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93" name="Google Shape;193;p21"/>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4" name="Google Shape;194;p21"/>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5" name="Google Shape;195;p21"/>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6" name="Google Shape;196;p21"/>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7" name="Google Shape;197;p21"/>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8" name="Google Shape;198;p21"/>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9" name="Google Shape;199;p21"/>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0" name="Google Shape;200;p21"/>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1" name="Google Shape;201;p21"/>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2" name="Google Shape;202;p21"/>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03" name="Google Shape;203;p21"/>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4" name="Google Shape;204;p21"/>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5" name="Google Shape;205;p21"/>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6" name="Google Shape;206;p21"/>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7" name="Google Shape;207;p21"/>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8" name="Shape 208"/>
        <p:cNvGrpSpPr/>
        <p:nvPr/>
      </p:nvGrpSpPr>
      <p:grpSpPr>
        <a:xfrm>
          <a:off x="0" y="0"/>
          <a:ext cx="0" cy="0"/>
          <a:chOff x="0" y="0"/>
          <a:chExt cx="0" cy="0"/>
        </a:xfrm>
      </p:grpSpPr>
      <p:pic>
        <p:nvPicPr>
          <p:cNvPr id="209" name="Google Shape;209;p22"/>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10" name="Google Shape;210;p22"/>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2" name="Google Shape;212;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3" name="Google Shape;213;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4" name="Google Shape;214;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5" name="Shape 215"/>
        <p:cNvGrpSpPr/>
        <p:nvPr/>
      </p:nvGrpSpPr>
      <p:grpSpPr>
        <a:xfrm>
          <a:off x="0" y="0"/>
          <a:ext cx="0" cy="0"/>
          <a:chOff x="0" y="0"/>
          <a:chExt cx="0" cy="0"/>
        </a:xfrm>
      </p:grpSpPr>
      <p:pic>
        <p:nvPicPr>
          <p:cNvPr id="216" name="Google Shape;216;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7" name="Google Shape;217;p2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9" name="Google Shape;219;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20" name="Google Shape;220;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1" name="Google Shape;221;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22" name="Shape 222"/>
        <p:cNvGrpSpPr/>
        <p:nvPr/>
      </p:nvGrpSpPr>
      <p:grpSpPr>
        <a:xfrm>
          <a:off x="0" y="0"/>
          <a:ext cx="0" cy="0"/>
          <a:chOff x="0" y="0"/>
          <a:chExt cx="0" cy="0"/>
        </a:xfrm>
      </p:grpSpPr>
      <p:pic>
        <p:nvPicPr>
          <p:cNvPr id="223" name="Google Shape;223;p2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4" name="Google Shape;224;p2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6" name="Google Shape;226;p2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7" name="Google Shape;227;p2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8" name="Google Shape;228;p24"/>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9" name="Shape 229"/>
        <p:cNvGrpSpPr/>
        <p:nvPr/>
      </p:nvGrpSpPr>
      <p:grpSpPr>
        <a:xfrm>
          <a:off x="0" y="0"/>
          <a:ext cx="0" cy="0"/>
          <a:chOff x="0" y="0"/>
          <a:chExt cx="0" cy="0"/>
        </a:xfrm>
      </p:grpSpPr>
      <p:pic>
        <p:nvPicPr>
          <p:cNvPr id="230" name="Google Shape;230;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31" name="Google Shape;231;p2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33" name="Google Shape;233;p25"/>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4" name="Google Shape;234;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5" name="Google Shape;235;p25"/>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6" name="Shape 236"/>
        <p:cNvGrpSpPr/>
        <p:nvPr/>
      </p:nvGrpSpPr>
      <p:grpSpPr>
        <a:xfrm>
          <a:off x="0" y="0"/>
          <a:ext cx="0" cy="0"/>
          <a:chOff x="0" y="0"/>
          <a:chExt cx="0" cy="0"/>
        </a:xfrm>
      </p:grpSpPr>
      <p:sp>
        <p:nvSpPr>
          <p:cNvPr id="237" name="Google Shape;237;p26"/>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8" name="Google Shape;238;p26"/>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9" name="Google Shape;239;p2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41" name="Google Shape;241;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42" name="Google Shape;242;p26"/>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43" name="Google Shape;243;p26"/>
          <p:cNvGrpSpPr/>
          <p:nvPr/>
        </p:nvGrpSpPr>
        <p:grpSpPr>
          <a:xfrm>
            <a:off x="7834231" y="1285"/>
            <a:ext cx="828900" cy="576065"/>
            <a:chOff x="7801496" y="1285"/>
            <a:chExt cx="828900" cy="576065"/>
          </a:xfrm>
        </p:grpSpPr>
        <p:pic>
          <p:nvPicPr>
            <p:cNvPr id="244" name="Google Shape;244;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5" name="Google Shape;245;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6" name="Google Shape;246;p26"/>
          <p:cNvGrpSpPr/>
          <p:nvPr/>
        </p:nvGrpSpPr>
        <p:grpSpPr>
          <a:xfrm>
            <a:off x="8635663" y="1285"/>
            <a:ext cx="499700" cy="576065"/>
            <a:chOff x="8635663" y="1285"/>
            <a:chExt cx="499700" cy="576065"/>
          </a:xfrm>
        </p:grpSpPr>
        <p:pic>
          <p:nvPicPr>
            <p:cNvPr id="247" name="Google Shape;247;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8" name="Google Shape;248;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9" name="Shape 249"/>
        <p:cNvGrpSpPr/>
        <p:nvPr/>
      </p:nvGrpSpPr>
      <p:grpSpPr>
        <a:xfrm>
          <a:off x="0" y="0"/>
          <a:ext cx="0" cy="0"/>
          <a:chOff x="0" y="0"/>
          <a:chExt cx="0" cy="0"/>
        </a:xfrm>
      </p:grpSpPr>
      <p:sp>
        <p:nvSpPr>
          <p:cNvPr id="250" name="Google Shape;250;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1" name="Google Shape;251;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52" name="Google Shape;252;p2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4" name="Google Shape;254;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5" name="Google Shape;255;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6" name="Google Shape;256;p27"/>
          <p:cNvGrpSpPr/>
          <p:nvPr/>
        </p:nvGrpSpPr>
        <p:grpSpPr>
          <a:xfrm>
            <a:off x="7834231" y="1285"/>
            <a:ext cx="828900" cy="576065"/>
            <a:chOff x="7801496" y="1285"/>
            <a:chExt cx="828900" cy="576065"/>
          </a:xfrm>
        </p:grpSpPr>
        <p:pic>
          <p:nvPicPr>
            <p:cNvPr id="257" name="Google Shape;257;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8" name="Google Shape;258;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9" name="Google Shape;259;p27"/>
          <p:cNvGrpSpPr/>
          <p:nvPr/>
        </p:nvGrpSpPr>
        <p:grpSpPr>
          <a:xfrm>
            <a:off x="8635663" y="1285"/>
            <a:ext cx="499700" cy="576065"/>
            <a:chOff x="8635663" y="1285"/>
            <a:chExt cx="499700" cy="576065"/>
          </a:xfrm>
        </p:grpSpPr>
        <p:pic>
          <p:nvPicPr>
            <p:cNvPr id="260" name="Google Shape;260;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61" name="Google Shape;261;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62" name="Shape 262"/>
        <p:cNvGrpSpPr/>
        <p:nvPr/>
      </p:nvGrpSpPr>
      <p:grpSpPr>
        <a:xfrm>
          <a:off x="0" y="0"/>
          <a:ext cx="0" cy="0"/>
          <a:chOff x="0" y="0"/>
          <a:chExt cx="0" cy="0"/>
        </a:xfrm>
      </p:grpSpPr>
      <p:sp>
        <p:nvSpPr>
          <p:cNvPr id="263" name="Google Shape;263;p28"/>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4" name="Google Shape;264;p2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5" name="Google Shape;265;p2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8"/>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7" name="Google Shape;267;p28"/>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8" name="Google Shape;268;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9" name="Google Shape;269;p28"/>
          <p:cNvGrpSpPr/>
          <p:nvPr/>
        </p:nvGrpSpPr>
        <p:grpSpPr>
          <a:xfrm>
            <a:off x="7834231" y="1285"/>
            <a:ext cx="828900" cy="576065"/>
            <a:chOff x="7801496" y="1285"/>
            <a:chExt cx="828900" cy="576065"/>
          </a:xfrm>
        </p:grpSpPr>
        <p:pic>
          <p:nvPicPr>
            <p:cNvPr id="270" name="Google Shape;270;p28"/>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71" name="Google Shape;271;p28"/>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72" name="Google Shape;272;p28"/>
          <p:cNvGrpSpPr/>
          <p:nvPr/>
        </p:nvGrpSpPr>
        <p:grpSpPr>
          <a:xfrm>
            <a:off x="8635663" y="1285"/>
            <a:ext cx="499700" cy="576065"/>
            <a:chOff x="8635663" y="1285"/>
            <a:chExt cx="499700" cy="576065"/>
          </a:xfrm>
        </p:grpSpPr>
        <p:pic>
          <p:nvPicPr>
            <p:cNvPr id="273" name="Google Shape;273;p28"/>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4" name="Google Shape;274;p28"/>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5" name="Shape 275"/>
        <p:cNvGrpSpPr/>
        <p:nvPr/>
      </p:nvGrpSpPr>
      <p:grpSpPr>
        <a:xfrm>
          <a:off x="0" y="0"/>
          <a:ext cx="0" cy="0"/>
          <a:chOff x="0" y="0"/>
          <a:chExt cx="0" cy="0"/>
        </a:xfrm>
      </p:grpSpPr>
      <p:sp>
        <p:nvSpPr>
          <p:cNvPr id="276" name="Google Shape;276;p29"/>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7" name="Google Shape;277;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8" name="Google Shape;278;p2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9"/>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0" name="Google Shape;280;p29"/>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1" name="Google Shape;281;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82" name="Google Shape;282;p29"/>
          <p:cNvGrpSpPr/>
          <p:nvPr/>
        </p:nvGrpSpPr>
        <p:grpSpPr>
          <a:xfrm>
            <a:off x="7834231" y="1285"/>
            <a:ext cx="828900" cy="576065"/>
            <a:chOff x="7801496" y="1285"/>
            <a:chExt cx="828900" cy="576065"/>
          </a:xfrm>
        </p:grpSpPr>
        <p:pic>
          <p:nvPicPr>
            <p:cNvPr id="283" name="Google Shape;283;p29"/>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4" name="Google Shape;284;p29"/>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5" name="Google Shape;285;p29"/>
          <p:cNvGrpSpPr/>
          <p:nvPr/>
        </p:nvGrpSpPr>
        <p:grpSpPr>
          <a:xfrm>
            <a:off x="8635663" y="1285"/>
            <a:ext cx="499700" cy="576065"/>
            <a:chOff x="8635663" y="1285"/>
            <a:chExt cx="499700" cy="576065"/>
          </a:xfrm>
        </p:grpSpPr>
        <p:pic>
          <p:nvPicPr>
            <p:cNvPr id="286" name="Google Shape;286;p29"/>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7" name="Google Shape;287;p29"/>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8" name="Shape 288"/>
        <p:cNvGrpSpPr/>
        <p:nvPr/>
      </p:nvGrpSpPr>
      <p:grpSpPr>
        <a:xfrm>
          <a:off x="0" y="0"/>
          <a:ext cx="0" cy="0"/>
          <a:chOff x="0" y="0"/>
          <a:chExt cx="0" cy="0"/>
        </a:xfrm>
      </p:grpSpPr>
      <p:pic>
        <p:nvPicPr>
          <p:cNvPr id="289" name="Google Shape;289;p30"/>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90" name="Google Shape;290;p30"/>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91" name="Google Shape;291;p30"/>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92" name="Google Shape;292;p3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4" name="Google Shape;294;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5" name="Google Shape;295;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6" name="Google Shape;296;p30"/>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7" name="Google Shape;297;p30"/>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8" name="Google Shape;298;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9" name="Google Shape;299;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00" name="Google Shape;300;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01" name="Google Shape;301;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302" name="Google Shape;302;p30"/>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303" name="Google Shape;303;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4" name="Google Shape;304;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5" name="Google Shape;305;p30"/>
          <p:cNvGrpSpPr/>
          <p:nvPr/>
        </p:nvGrpSpPr>
        <p:grpSpPr>
          <a:xfrm>
            <a:off x="324128" y="3139463"/>
            <a:ext cx="457200" cy="457200"/>
            <a:chOff x="1020916" y="1442088"/>
            <a:chExt cx="457200" cy="457200"/>
          </a:xfrm>
        </p:grpSpPr>
        <p:pic>
          <p:nvPicPr>
            <p:cNvPr id="306" name="Google Shape;306;p30"/>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7" name="Google Shape;307;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8" name="Google Shape;308;p30"/>
          <p:cNvGrpSpPr/>
          <p:nvPr/>
        </p:nvGrpSpPr>
        <p:grpSpPr>
          <a:xfrm>
            <a:off x="324128" y="3987825"/>
            <a:ext cx="457200" cy="457200"/>
            <a:chOff x="1020916" y="1442088"/>
            <a:chExt cx="457200" cy="457200"/>
          </a:xfrm>
        </p:grpSpPr>
        <p:pic>
          <p:nvPicPr>
            <p:cNvPr id="309" name="Google Shape;309;p30"/>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10" name="Google Shape;310;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11" name="Shape 311"/>
        <p:cNvGrpSpPr/>
        <p:nvPr/>
      </p:nvGrpSpPr>
      <p:grpSpPr>
        <a:xfrm>
          <a:off x="0" y="0"/>
          <a:ext cx="0" cy="0"/>
          <a:chOff x="0" y="0"/>
          <a:chExt cx="0" cy="0"/>
        </a:xfrm>
      </p:grpSpPr>
      <p:pic>
        <p:nvPicPr>
          <p:cNvPr id="312" name="Google Shape;312;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3" name="Google Shape;313;p3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5" name="Google Shape;315;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6" name="Google Shape;316;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7" name="Google Shape;317;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8" name="Google Shape;318;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9" name="Google Shape;319;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20" name="Google Shape;320;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21" name="Google Shape;321;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2" name="Google Shape;322;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23" name="Google Shape;323;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4" name="Google Shape;324;p31"/>
          <p:cNvGrpSpPr/>
          <p:nvPr/>
        </p:nvGrpSpPr>
        <p:grpSpPr>
          <a:xfrm>
            <a:off x="324128" y="3139463"/>
            <a:ext cx="457200" cy="457200"/>
            <a:chOff x="1020916" y="1442088"/>
            <a:chExt cx="457200" cy="457200"/>
          </a:xfrm>
        </p:grpSpPr>
        <p:pic>
          <p:nvPicPr>
            <p:cNvPr id="325" name="Google Shape;325;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6" name="Google Shape;326;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7" name="Google Shape;327;p31"/>
          <p:cNvGrpSpPr/>
          <p:nvPr/>
        </p:nvGrpSpPr>
        <p:grpSpPr>
          <a:xfrm>
            <a:off x="324128" y="3987825"/>
            <a:ext cx="457200" cy="457200"/>
            <a:chOff x="1020916" y="1442088"/>
            <a:chExt cx="457200" cy="457200"/>
          </a:xfrm>
        </p:grpSpPr>
        <p:pic>
          <p:nvPicPr>
            <p:cNvPr id="328" name="Google Shape;328;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9" name="Google Shape;329;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30" name="Google Shape;330;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31" name="Google Shape;331;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32" name="Google Shape;332;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33" name="Google Shape;333;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4" name="Shape 334"/>
        <p:cNvGrpSpPr/>
        <p:nvPr/>
      </p:nvGrpSpPr>
      <p:grpSpPr>
        <a:xfrm>
          <a:off x="0" y="0"/>
          <a:ext cx="0" cy="0"/>
          <a:chOff x="0" y="0"/>
          <a:chExt cx="0" cy="0"/>
        </a:xfrm>
      </p:grpSpPr>
      <p:pic>
        <p:nvPicPr>
          <p:cNvPr id="335" name="Google Shape;335;p3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6" name="Google Shape;336;p3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2"/>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8" name="Google Shape;338;p32"/>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9" name="Google Shape;339;p32"/>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40" name="Google Shape;340;p32"/>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1" name="Google Shape;341;p3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42" name="Google Shape;342;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43" name="Google Shape;343;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4" name="Google Shape;344;p3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5" name="Google Shape;345;p32"/>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6" name="Google Shape;346;p32"/>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7" name="Google Shape;347;p32"/>
          <p:cNvGrpSpPr/>
          <p:nvPr/>
        </p:nvGrpSpPr>
        <p:grpSpPr>
          <a:xfrm>
            <a:off x="324128" y="3139463"/>
            <a:ext cx="457200" cy="457200"/>
            <a:chOff x="1020916" y="1442088"/>
            <a:chExt cx="457200" cy="457200"/>
          </a:xfrm>
        </p:grpSpPr>
        <p:pic>
          <p:nvPicPr>
            <p:cNvPr id="348" name="Google Shape;348;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9" name="Google Shape;349;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50" name="Google Shape;350;p32"/>
          <p:cNvGrpSpPr/>
          <p:nvPr/>
        </p:nvGrpSpPr>
        <p:grpSpPr>
          <a:xfrm>
            <a:off x="324128" y="3987825"/>
            <a:ext cx="457200" cy="457200"/>
            <a:chOff x="1020916" y="1442088"/>
            <a:chExt cx="457200" cy="457200"/>
          </a:xfrm>
        </p:grpSpPr>
        <p:pic>
          <p:nvPicPr>
            <p:cNvPr id="351" name="Google Shape;351;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52" name="Google Shape;352;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53" name="Google Shape;353;p32"/>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4" name="Google Shape;354;p32"/>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5" name="Google Shape;355;p32"/>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6" name="Google Shape;356;p32"/>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7" name="Shape 357"/>
        <p:cNvGrpSpPr/>
        <p:nvPr/>
      </p:nvGrpSpPr>
      <p:grpSpPr>
        <a:xfrm>
          <a:off x="0" y="0"/>
          <a:ext cx="0" cy="0"/>
          <a:chOff x="0" y="0"/>
          <a:chExt cx="0" cy="0"/>
        </a:xfrm>
      </p:grpSpPr>
      <p:pic>
        <p:nvPicPr>
          <p:cNvPr id="358" name="Google Shape;358;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9" name="Google Shape;359;p3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3"/>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61" name="Google Shape;361;p33"/>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62" name="Google Shape;362;p33"/>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63" name="Google Shape;363;p33"/>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4" name="Google Shape;364;p33"/>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5" name="Google Shape;365;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6" name="Google Shape;366;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7" name="Google Shape;367;p3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8" name="Google Shape;368;p33"/>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9" name="Google Shape;369;p33"/>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70" name="Google Shape;370;p33"/>
          <p:cNvGrpSpPr/>
          <p:nvPr/>
        </p:nvGrpSpPr>
        <p:grpSpPr>
          <a:xfrm>
            <a:off x="324128" y="3139463"/>
            <a:ext cx="457200" cy="457200"/>
            <a:chOff x="1020916" y="1442088"/>
            <a:chExt cx="457200" cy="457200"/>
          </a:xfrm>
        </p:grpSpPr>
        <p:pic>
          <p:nvPicPr>
            <p:cNvPr id="371" name="Google Shape;371;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2" name="Google Shape;372;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73" name="Google Shape;373;p33"/>
          <p:cNvGrpSpPr/>
          <p:nvPr/>
        </p:nvGrpSpPr>
        <p:grpSpPr>
          <a:xfrm>
            <a:off x="324128" y="3987825"/>
            <a:ext cx="457200" cy="457200"/>
            <a:chOff x="1020916" y="1442088"/>
            <a:chExt cx="457200" cy="457200"/>
          </a:xfrm>
        </p:grpSpPr>
        <p:pic>
          <p:nvPicPr>
            <p:cNvPr id="374" name="Google Shape;374;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5" name="Google Shape;375;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6" name="Google Shape;376;p33"/>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7" name="Google Shape;377;p33"/>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8" name="Google Shape;378;p33"/>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9" name="Google Shape;379;p33"/>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80" name="Shape 380"/>
        <p:cNvGrpSpPr/>
        <p:nvPr/>
      </p:nvGrpSpPr>
      <p:grpSpPr>
        <a:xfrm>
          <a:off x="0" y="0"/>
          <a:ext cx="0" cy="0"/>
          <a:chOff x="0" y="0"/>
          <a:chExt cx="0" cy="0"/>
        </a:xfrm>
      </p:grpSpPr>
      <p:pic>
        <p:nvPicPr>
          <p:cNvPr id="381" name="Google Shape;381;p3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82" name="Google Shape;382;p3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4" name="Google Shape;384;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5" name="Google Shape;385;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6" name="Google Shape;386;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7" name="Google Shape;387;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8" name="Google Shape;388;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9" name="Google Shape;389;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90" name="Google Shape;390;p34"/>
          <p:cNvGrpSpPr/>
          <p:nvPr/>
        </p:nvGrpSpPr>
        <p:grpSpPr>
          <a:xfrm>
            <a:off x="323653" y="1804438"/>
            <a:ext cx="457200" cy="457200"/>
            <a:chOff x="1020916" y="1442088"/>
            <a:chExt cx="457200" cy="457200"/>
          </a:xfrm>
        </p:grpSpPr>
        <p:pic>
          <p:nvPicPr>
            <p:cNvPr id="391" name="Google Shape;391;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2" name="Google Shape;392;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93" name="Google Shape;393;p34"/>
          <p:cNvGrpSpPr/>
          <p:nvPr/>
        </p:nvGrpSpPr>
        <p:grpSpPr>
          <a:xfrm>
            <a:off x="323653" y="2766575"/>
            <a:ext cx="457200" cy="457200"/>
            <a:chOff x="1020916" y="1442088"/>
            <a:chExt cx="457200" cy="457200"/>
          </a:xfrm>
        </p:grpSpPr>
        <p:pic>
          <p:nvPicPr>
            <p:cNvPr id="394" name="Google Shape;394;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5" name="Google Shape;395;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6" name="Google Shape;396;p34"/>
          <p:cNvGrpSpPr/>
          <p:nvPr/>
        </p:nvGrpSpPr>
        <p:grpSpPr>
          <a:xfrm>
            <a:off x="323641" y="3729038"/>
            <a:ext cx="457200" cy="457200"/>
            <a:chOff x="1020916" y="1442088"/>
            <a:chExt cx="457200" cy="457200"/>
          </a:xfrm>
        </p:grpSpPr>
        <p:pic>
          <p:nvPicPr>
            <p:cNvPr id="397" name="Google Shape;397;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8" name="Google Shape;398;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9" name="Shape 399"/>
        <p:cNvGrpSpPr/>
        <p:nvPr/>
      </p:nvGrpSpPr>
      <p:grpSpPr>
        <a:xfrm>
          <a:off x="0" y="0"/>
          <a:ext cx="0" cy="0"/>
          <a:chOff x="0" y="0"/>
          <a:chExt cx="0" cy="0"/>
        </a:xfrm>
      </p:grpSpPr>
      <p:pic>
        <p:nvPicPr>
          <p:cNvPr id="400" name="Google Shape;400;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01" name="Google Shape;401;p3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3" name="Google Shape;403;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4" name="Google Shape;404;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5" name="Google Shape;405;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6" name="Google Shape;406;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7" name="Google Shape;407;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8" name="Google Shape;408;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9" name="Google Shape;409;p35"/>
          <p:cNvGrpSpPr/>
          <p:nvPr/>
        </p:nvGrpSpPr>
        <p:grpSpPr>
          <a:xfrm>
            <a:off x="323653" y="1804438"/>
            <a:ext cx="457200" cy="457200"/>
            <a:chOff x="1020916" y="1442088"/>
            <a:chExt cx="457200" cy="457200"/>
          </a:xfrm>
        </p:grpSpPr>
        <p:pic>
          <p:nvPicPr>
            <p:cNvPr id="410" name="Google Shape;410;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1" name="Google Shape;411;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12" name="Google Shape;412;p35"/>
          <p:cNvGrpSpPr/>
          <p:nvPr/>
        </p:nvGrpSpPr>
        <p:grpSpPr>
          <a:xfrm>
            <a:off x="323653" y="2766575"/>
            <a:ext cx="457200" cy="457200"/>
            <a:chOff x="1020916" y="1442088"/>
            <a:chExt cx="457200" cy="457200"/>
          </a:xfrm>
        </p:grpSpPr>
        <p:pic>
          <p:nvPicPr>
            <p:cNvPr id="413" name="Google Shape;413;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4" name="Google Shape;414;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5" name="Google Shape;415;p35"/>
          <p:cNvGrpSpPr/>
          <p:nvPr/>
        </p:nvGrpSpPr>
        <p:grpSpPr>
          <a:xfrm>
            <a:off x="323641" y="3729038"/>
            <a:ext cx="457200" cy="457200"/>
            <a:chOff x="1020916" y="1442088"/>
            <a:chExt cx="457200" cy="457200"/>
          </a:xfrm>
        </p:grpSpPr>
        <p:pic>
          <p:nvPicPr>
            <p:cNvPr id="416" name="Google Shape;416;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7" name="Google Shape;417;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8" name="Shape 418"/>
        <p:cNvGrpSpPr/>
        <p:nvPr/>
      </p:nvGrpSpPr>
      <p:grpSpPr>
        <a:xfrm>
          <a:off x="0" y="0"/>
          <a:ext cx="0" cy="0"/>
          <a:chOff x="0" y="0"/>
          <a:chExt cx="0" cy="0"/>
        </a:xfrm>
      </p:grpSpPr>
      <p:pic>
        <p:nvPicPr>
          <p:cNvPr id="419" name="Google Shape;419;p3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20" name="Google Shape;420;p3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22" name="Google Shape;422;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3" name="Google Shape;423;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4" name="Google Shape;424;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5" name="Google Shape;425;p36"/>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6" name="Google Shape;426;p36"/>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7" name="Google Shape;427;p36"/>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8" name="Google Shape;428;p36"/>
          <p:cNvGrpSpPr/>
          <p:nvPr/>
        </p:nvGrpSpPr>
        <p:grpSpPr>
          <a:xfrm>
            <a:off x="323653" y="1804438"/>
            <a:ext cx="457200" cy="457200"/>
            <a:chOff x="1020916" y="1442088"/>
            <a:chExt cx="457200" cy="457200"/>
          </a:xfrm>
        </p:grpSpPr>
        <p:pic>
          <p:nvPicPr>
            <p:cNvPr id="429" name="Google Shape;429;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0" name="Google Shape;430;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31" name="Google Shape;431;p36"/>
          <p:cNvGrpSpPr/>
          <p:nvPr/>
        </p:nvGrpSpPr>
        <p:grpSpPr>
          <a:xfrm>
            <a:off x="323653" y="2766575"/>
            <a:ext cx="457200" cy="457200"/>
            <a:chOff x="1020916" y="1442088"/>
            <a:chExt cx="457200" cy="457200"/>
          </a:xfrm>
        </p:grpSpPr>
        <p:pic>
          <p:nvPicPr>
            <p:cNvPr id="432" name="Google Shape;432;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3" name="Google Shape;433;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4" name="Google Shape;434;p36"/>
          <p:cNvGrpSpPr/>
          <p:nvPr/>
        </p:nvGrpSpPr>
        <p:grpSpPr>
          <a:xfrm>
            <a:off x="323641" y="3729038"/>
            <a:ext cx="457200" cy="457200"/>
            <a:chOff x="1020916" y="1442088"/>
            <a:chExt cx="457200" cy="457200"/>
          </a:xfrm>
        </p:grpSpPr>
        <p:pic>
          <p:nvPicPr>
            <p:cNvPr id="435" name="Google Shape;435;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6" name="Google Shape;436;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7" name="Shape 437"/>
        <p:cNvGrpSpPr/>
        <p:nvPr/>
      </p:nvGrpSpPr>
      <p:grpSpPr>
        <a:xfrm>
          <a:off x="0" y="0"/>
          <a:ext cx="0" cy="0"/>
          <a:chOff x="0" y="0"/>
          <a:chExt cx="0" cy="0"/>
        </a:xfrm>
      </p:grpSpPr>
      <p:pic>
        <p:nvPicPr>
          <p:cNvPr id="438" name="Google Shape;438;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9" name="Google Shape;439;p3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7"/>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41" name="Google Shape;441;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42" name="Google Shape;442;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43" name="Google Shape;443;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4" name="Google Shape;444;p37"/>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5" name="Google Shape;445;p37"/>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6" name="Google Shape;446;p37"/>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7" name="Google Shape;447;p37"/>
          <p:cNvGrpSpPr/>
          <p:nvPr/>
        </p:nvGrpSpPr>
        <p:grpSpPr>
          <a:xfrm>
            <a:off x="323653" y="1804438"/>
            <a:ext cx="457200" cy="457200"/>
            <a:chOff x="1020916" y="1442088"/>
            <a:chExt cx="457200" cy="457200"/>
          </a:xfrm>
        </p:grpSpPr>
        <p:pic>
          <p:nvPicPr>
            <p:cNvPr id="448" name="Google Shape;448;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9" name="Google Shape;449;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50" name="Google Shape;450;p37"/>
          <p:cNvGrpSpPr/>
          <p:nvPr/>
        </p:nvGrpSpPr>
        <p:grpSpPr>
          <a:xfrm>
            <a:off x="323653" y="2766575"/>
            <a:ext cx="457200" cy="457200"/>
            <a:chOff x="1020916" y="1442088"/>
            <a:chExt cx="457200" cy="457200"/>
          </a:xfrm>
        </p:grpSpPr>
        <p:pic>
          <p:nvPicPr>
            <p:cNvPr id="451" name="Google Shape;451;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2" name="Google Shape;452;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53" name="Google Shape;453;p37"/>
          <p:cNvGrpSpPr/>
          <p:nvPr/>
        </p:nvGrpSpPr>
        <p:grpSpPr>
          <a:xfrm>
            <a:off x="323641" y="3729038"/>
            <a:ext cx="457200" cy="457200"/>
            <a:chOff x="1020916" y="1442088"/>
            <a:chExt cx="457200" cy="457200"/>
          </a:xfrm>
        </p:grpSpPr>
        <p:pic>
          <p:nvPicPr>
            <p:cNvPr id="454" name="Google Shape;454;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5" name="Google Shape;455;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6" name="Shape 456"/>
        <p:cNvGrpSpPr/>
        <p:nvPr/>
      </p:nvGrpSpPr>
      <p:grpSpPr>
        <a:xfrm>
          <a:off x="0" y="0"/>
          <a:ext cx="0" cy="0"/>
          <a:chOff x="0" y="0"/>
          <a:chExt cx="0" cy="0"/>
        </a:xfrm>
      </p:grpSpPr>
      <p:pic>
        <p:nvPicPr>
          <p:cNvPr id="457" name="Google Shape;457;p3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8" name="Google Shape;458;p3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60" name="Google Shape;460;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61" name="Google Shape;461;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62" name="Google Shape;462;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3" name="Google Shape;463;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4" name="Google Shape;464;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5" name="Google Shape;465;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6" name="Google Shape;466;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7" name="Google Shape;467;p38"/>
          <p:cNvGrpSpPr/>
          <p:nvPr/>
        </p:nvGrpSpPr>
        <p:grpSpPr>
          <a:xfrm>
            <a:off x="323653" y="1652038"/>
            <a:ext cx="457200" cy="457200"/>
            <a:chOff x="1020916" y="1442088"/>
            <a:chExt cx="457200" cy="457200"/>
          </a:xfrm>
        </p:grpSpPr>
        <p:pic>
          <p:nvPicPr>
            <p:cNvPr id="468" name="Google Shape;468;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9" name="Google Shape;469;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70" name="Google Shape;470;p38"/>
          <p:cNvGrpSpPr/>
          <p:nvPr/>
        </p:nvGrpSpPr>
        <p:grpSpPr>
          <a:xfrm>
            <a:off x="323653" y="2461775"/>
            <a:ext cx="457200" cy="457200"/>
            <a:chOff x="1020916" y="1442088"/>
            <a:chExt cx="457200" cy="457200"/>
          </a:xfrm>
        </p:grpSpPr>
        <p:pic>
          <p:nvPicPr>
            <p:cNvPr id="471" name="Google Shape;471;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2" name="Google Shape;472;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73" name="Google Shape;473;p38"/>
          <p:cNvGrpSpPr/>
          <p:nvPr/>
        </p:nvGrpSpPr>
        <p:grpSpPr>
          <a:xfrm>
            <a:off x="323641" y="3271838"/>
            <a:ext cx="457200" cy="457200"/>
            <a:chOff x="1020916" y="1442088"/>
            <a:chExt cx="457200" cy="457200"/>
          </a:xfrm>
        </p:grpSpPr>
        <p:pic>
          <p:nvPicPr>
            <p:cNvPr id="474" name="Google Shape;474;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5" name="Google Shape;475;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6" name="Google Shape;476;p38"/>
          <p:cNvGrpSpPr/>
          <p:nvPr/>
        </p:nvGrpSpPr>
        <p:grpSpPr>
          <a:xfrm>
            <a:off x="323641" y="4081763"/>
            <a:ext cx="457200" cy="457200"/>
            <a:chOff x="1020916" y="1442088"/>
            <a:chExt cx="457200" cy="457200"/>
          </a:xfrm>
        </p:grpSpPr>
        <p:pic>
          <p:nvPicPr>
            <p:cNvPr id="477" name="Google Shape;477;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8" name="Google Shape;478;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9" name="Shape 479"/>
        <p:cNvGrpSpPr/>
        <p:nvPr/>
      </p:nvGrpSpPr>
      <p:grpSpPr>
        <a:xfrm>
          <a:off x="0" y="0"/>
          <a:ext cx="0" cy="0"/>
          <a:chOff x="0" y="0"/>
          <a:chExt cx="0" cy="0"/>
        </a:xfrm>
      </p:grpSpPr>
      <p:pic>
        <p:nvPicPr>
          <p:cNvPr id="480" name="Google Shape;480;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81" name="Google Shape;481;p3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3" name="Google Shape;483;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4" name="Google Shape;484;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5" name="Google Shape;485;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6" name="Google Shape;486;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7" name="Google Shape;487;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8" name="Google Shape;488;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9" name="Google Shape;489;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90" name="Google Shape;490;p39"/>
          <p:cNvGrpSpPr/>
          <p:nvPr/>
        </p:nvGrpSpPr>
        <p:grpSpPr>
          <a:xfrm>
            <a:off x="323653" y="1652038"/>
            <a:ext cx="457200" cy="457200"/>
            <a:chOff x="1020916" y="1442088"/>
            <a:chExt cx="457200" cy="457200"/>
          </a:xfrm>
        </p:grpSpPr>
        <p:pic>
          <p:nvPicPr>
            <p:cNvPr id="491" name="Google Shape;491;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2" name="Google Shape;492;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3" name="Google Shape;493;p39"/>
          <p:cNvGrpSpPr/>
          <p:nvPr/>
        </p:nvGrpSpPr>
        <p:grpSpPr>
          <a:xfrm>
            <a:off x="323653" y="2461775"/>
            <a:ext cx="457200" cy="457200"/>
            <a:chOff x="1020916" y="1442088"/>
            <a:chExt cx="457200" cy="457200"/>
          </a:xfrm>
        </p:grpSpPr>
        <p:pic>
          <p:nvPicPr>
            <p:cNvPr id="494" name="Google Shape;494;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5" name="Google Shape;495;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6" name="Google Shape;496;p39"/>
          <p:cNvGrpSpPr/>
          <p:nvPr/>
        </p:nvGrpSpPr>
        <p:grpSpPr>
          <a:xfrm>
            <a:off x="323641" y="3271838"/>
            <a:ext cx="457200" cy="457200"/>
            <a:chOff x="1020916" y="1442088"/>
            <a:chExt cx="457200" cy="457200"/>
          </a:xfrm>
        </p:grpSpPr>
        <p:pic>
          <p:nvPicPr>
            <p:cNvPr id="497" name="Google Shape;497;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8" name="Google Shape;498;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9" name="Google Shape;499;p39"/>
          <p:cNvGrpSpPr/>
          <p:nvPr/>
        </p:nvGrpSpPr>
        <p:grpSpPr>
          <a:xfrm>
            <a:off x="323641" y="4081763"/>
            <a:ext cx="457200" cy="457200"/>
            <a:chOff x="1020916" y="1442088"/>
            <a:chExt cx="457200" cy="457200"/>
          </a:xfrm>
        </p:grpSpPr>
        <p:pic>
          <p:nvPicPr>
            <p:cNvPr id="500" name="Google Shape;500;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01" name="Google Shape;501;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502" name="Shape 502"/>
        <p:cNvGrpSpPr/>
        <p:nvPr/>
      </p:nvGrpSpPr>
      <p:grpSpPr>
        <a:xfrm>
          <a:off x="0" y="0"/>
          <a:ext cx="0" cy="0"/>
          <a:chOff x="0" y="0"/>
          <a:chExt cx="0" cy="0"/>
        </a:xfrm>
      </p:grpSpPr>
      <p:pic>
        <p:nvPicPr>
          <p:cNvPr id="503" name="Google Shape;503;p4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4" name="Google Shape;504;p4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40"/>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6" name="Google Shape;506;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7" name="Google Shape;507;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8" name="Google Shape;508;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9" name="Google Shape;509;p40"/>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0" name="Google Shape;510;p40"/>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1" name="Google Shape;511;p40"/>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2" name="Google Shape;512;p40"/>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3" name="Google Shape;513;p40"/>
          <p:cNvGrpSpPr/>
          <p:nvPr/>
        </p:nvGrpSpPr>
        <p:grpSpPr>
          <a:xfrm>
            <a:off x="323653" y="1652038"/>
            <a:ext cx="457200" cy="457200"/>
            <a:chOff x="1020916" y="1442088"/>
            <a:chExt cx="457200" cy="457200"/>
          </a:xfrm>
        </p:grpSpPr>
        <p:pic>
          <p:nvPicPr>
            <p:cNvPr id="514" name="Google Shape;514;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6" name="Google Shape;516;p40"/>
          <p:cNvGrpSpPr/>
          <p:nvPr/>
        </p:nvGrpSpPr>
        <p:grpSpPr>
          <a:xfrm>
            <a:off x="323653" y="2461775"/>
            <a:ext cx="457200" cy="457200"/>
            <a:chOff x="1020916" y="1442088"/>
            <a:chExt cx="457200" cy="457200"/>
          </a:xfrm>
        </p:grpSpPr>
        <p:pic>
          <p:nvPicPr>
            <p:cNvPr id="517" name="Google Shape;517;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9" name="Google Shape;519;p40"/>
          <p:cNvGrpSpPr/>
          <p:nvPr/>
        </p:nvGrpSpPr>
        <p:grpSpPr>
          <a:xfrm>
            <a:off x="323641" y="3271838"/>
            <a:ext cx="457200" cy="457200"/>
            <a:chOff x="1020916" y="1442088"/>
            <a:chExt cx="457200" cy="457200"/>
          </a:xfrm>
        </p:grpSpPr>
        <p:pic>
          <p:nvPicPr>
            <p:cNvPr id="520" name="Google Shape;520;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22" name="Google Shape;522;p40"/>
          <p:cNvGrpSpPr/>
          <p:nvPr/>
        </p:nvGrpSpPr>
        <p:grpSpPr>
          <a:xfrm>
            <a:off x="323641" y="4081763"/>
            <a:ext cx="457200" cy="457200"/>
            <a:chOff x="1020916" y="1442088"/>
            <a:chExt cx="457200" cy="457200"/>
          </a:xfrm>
        </p:grpSpPr>
        <p:pic>
          <p:nvPicPr>
            <p:cNvPr id="523" name="Google Shape;523;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4" name="Google Shape;524;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5" name="Shape 525"/>
        <p:cNvGrpSpPr/>
        <p:nvPr/>
      </p:nvGrpSpPr>
      <p:grpSpPr>
        <a:xfrm>
          <a:off x="0" y="0"/>
          <a:ext cx="0" cy="0"/>
          <a:chOff x="0" y="0"/>
          <a:chExt cx="0" cy="0"/>
        </a:xfrm>
      </p:grpSpPr>
      <p:pic>
        <p:nvPicPr>
          <p:cNvPr id="526" name="Google Shape;526;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7" name="Google Shape;527;p4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1"/>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9" name="Google Shape;529;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30" name="Google Shape;530;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31" name="Google Shape;531;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2" name="Google Shape;532;p41"/>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3" name="Google Shape;533;p41"/>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4" name="Google Shape;534;p41"/>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5" name="Google Shape;535;p41"/>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6" name="Google Shape;536;p41"/>
          <p:cNvGrpSpPr/>
          <p:nvPr/>
        </p:nvGrpSpPr>
        <p:grpSpPr>
          <a:xfrm>
            <a:off x="323653" y="1652038"/>
            <a:ext cx="457200" cy="457200"/>
            <a:chOff x="1020916" y="1442088"/>
            <a:chExt cx="457200" cy="457200"/>
          </a:xfrm>
        </p:grpSpPr>
        <p:pic>
          <p:nvPicPr>
            <p:cNvPr id="537" name="Google Shape;537;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8" name="Google Shape;538;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9" name="Google Shape;539;p41"/>
          <p:cNvGrpSpPr/>
          <p:nvPr/>
        </p:nvGrpSpPr>
        <p:grpSpPr>
          <a:xfrm>
            <a:off x="323653" y="2461775"/>
            <a:ext cx="457200" cy="457200"/>
            <a:chOff x="1020916" y="1442088"/>
            <a:chExt cx="457200" cy="457200"/>
          </a:xfrm>
        </p:grpSpPr>
        <p:pic>
          <p:nvPicPr>
            <p:cNvPr id="540" name="Google Shape;540;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1" name="Google Shape;541;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42" name="Google Shape;542;p41"/>
          <p:cNvGrpSpPr/>
          <p:nvPr/>
        </p:nvGrpSpPr>
        <p:grpSpPr>
          <a:xfrm>
            <a:off x="323641" y="3271838"/>
            <a:ext cx="457200" cy="457200"/>
            <a:chOff x="1020916" y="1442088"/>
            <a:chExt cx="457200" cy="457200"/>
          </a:xfrm>
        </p:grpSpPr>
        <p:pic>
          <p:nvPicPr>
            <p:cNvPr id="543" name="Google Shape;543;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4" name="Google Shape;544;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5" name="Google Shape;545;p41"/>
          <p:cNvGrpSpPr/>
          <p:nvPr/>
        </p:nvGrpSpPr>
        <p:grpSpPr>
          <a:xfrm>
            <a:off x="323641" y="4081763"/>
            <a:ext cx="457200" cy="457200"/>
            <a:chOff x="1020916" y="1442088"/>
            <a:chExt cx="457200" cy="457200"/>
          </a:xfrm>
        </p:grpSpPr>
        <p:pic>
          <p:nvPicPr>
            <p:cNvPr id="546" name="Google Shape;546;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7" name="Google Shape;547;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8" name="Shape 548"/>
        <p:cNvGrpSpPr/>
        <p:nvPr/>
      </p:nvGrpSpPr>
      <p:grpSpPr>
        <a:xfrm>
          <a:off x="0" y="0"/>
          <a:ext cx="0" cy="0"/>
          <a:chOff x="0" y="0"/>
          <a:chExt cx="0" cy="0"/>
        </a:xfrm>
      </p:grpSpPr>
      <p:pic>
        <p:nvPicPr>
          <p:cNvPr id="549" name="Google Shape;549;p4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50" name="Google Shape;550;p4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52" name="Google Shape;552;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3" name="Google Shape;553;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4" name="Google Shape;554;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5" name="Google Shape;555;p42"/>
          <p:cNvSpPr/>
          <p:nvPr>
            <p:ph idx="3" type="pic"/>
          </p:nvPr>
        </p:nvSpPr>
        <p:spPr>
          <a:xfrm>
            <a:off x="324000" y="1893950"/>
            <a:ext cx="2555400" cy="1939500"/>
          </a:xfrm>
          <a:prstGeom prst="rect">
            <a:avLst/>
          </a:prstGeom>
          <a:noFill/>
          <a:ln>
            <a:noFill/>
          </a:ln>
        </p:spPr>
      </p:sp>
      <p:sp>
        <p:nvSpPr>
          <p:cNvPr id="556" name="Google Shape;556;p42"/>
          <p:cNvSpPr/>
          <p:nvPr>
            <p:ph idx="4" type="pic"/>
          </p:nvPr>
        </p:nvSpPr>
        <p:spPr>
          <a:xfrm>
            <a:off x="6256800" y="1893950"/>
            <a:ext cx="2555400" cy="1939500"/>
          </a:xfrm>
          <a:prstGeom prst="rect">
            <a:avLst/>
          </a:prstGeom>
          <a:noFill/>
          <a:ln>
            <a:noFill/>
          </a:ln>
        </p:spPr>
      </p:sp>
      <p:sp>
        <p:nvSpPr>
          <p:cNvPr id="557" name="Google Shape;557;p42"/>
          <p:cNvSpPr/>
          <p:nvPr>
            <p:ph idx="5" type="pic"/>
          </p:nvPr>
        </p:nvSpPr>
        <p:spPr>
          <a:xfrm>
            <a:off x="3294300" y="1893950"/>
            <a:ext cx="2555400" cy="1939500"/>
          </a:xfrm>
          <a:prstGeom prst="rect">
            <a:avLst/>
          </a:prstGeom>
          <a:noFill/>
          <a:ln>
            <a:noFill/>
          </a:ln>
        </p:spPr>
      </p:sp>
      <p:grpSp>
        <p:nvGrpSpPr>
          <p:cNvPr id="558" name="Google Shape;558;p42"/>
          <p:cNvGrpSpPr/>
          <p:nvPr/>
        </p:nvGrpSpPr>
        <p:grpSpPr>
          <a:xfrm>
            <a:off x="1381028" y="4148538"/>
            <a:ext cx="457200" cy="457200"/>
            <a:chOff x="1020916" y="1442088"/>
            <a:chExt cx="457200" cy="457200"/>
          </a:xfrm>
        </p:grpSpPr>
        <p:pic>
          <p:nvPicPr>
            <p:cNvPr id="559" name="Google Shape;559;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61" name="Google Shape;561;p42"/>
          <p:cNvGrpSpPr/>
          <p:nvPr/>
        </p:nvGrpSpPr>
        <p:grpSpPr>
          <a:xfrm>
            <a:off x="4331066" y="4148550"/>
            <a:ext cx="457200" cy="457200"/>
            <a:chOff x="1020916" y="1442088"/>
            <a:chExt cx="457200" cy="457200"/>
          </a:xfrm>
        </p:grpSpPr>
        <p:pic>
          <p:nvPicPr>
            <p:cNvPr id="562" name="Google Shape;562;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4" name="Google Shape;564;p42"/>
          <p:cNvGrpSpPr/>
          <p:nvPr/>
        </p:nvGrpSpPr>
        <p:grpSpPr>
          <a:xfrm>
            <a:off x="7305791" y="4148538"/>
            <a:ext cx="457200" cy="457200"/>
            <a:chOff x="1020916" y="1442088"/>
            <a:chExt cx="457200" cy="457200"/>
          </a:xfrm>
        </p:grpSpPr>
        <p:pic>
          <p:nvPicPr>
            <p:cNvPr id="565" name="Google Shape;565;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6" name="Google Shape;566;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7" name="Shape 567"/>
        <p:cNvGrpSpPr/>
        <p:nvPr/>
      </p:nvGrpSpPr>
      <p:grpSpPr>
        <a:xfrm>
          <a:off x="0" y="0"/>
          <a:ext cx="0" cy="0"/>
          <a:chOff x="0" y="0"/>
          <a:chExt cx="0" cy="0"/>
        </a:xfrm>
      </p:grpSpPr>
      <p:pic>
        <p:nvPicPr>
          <p:cNvPr id="568" name="Google Shape;568;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9" name="Google Shape;569;p4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71" name="Google Shape;571;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72" name="Google Shape;572;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3" name="Google Shape;573;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4" name="Google Shape;574;p43"/>
          <p:cNvSpPr/>
          <p:nvPr>
            <p:ph idx="3" type="pic"/>
          </p:nvPr>
        </p:nvSpPr>
        <p:spPr>
          <a:xfrm>
            <a:off x="324000" y="1893950"/>
            <a:ext cx="2555400" cy="1939500"/>
          </a:xfrm>
          <a:prstGeom prst="rect">
            <a:avLst/>
          </a:prstGeom>
          <a:noFill/>
          <a:ln>
            <a:noFill/>
          </a:ln>
        </p:spPr>
      </p:sp>
      <p:sp>
        <p:nvSpPr>
          <p:cNvPr id="575" name="Google Shape;575;p43"/>
          <p:cNvSpPr/>
          <p:nvPr>
            <p:ph idx="4" type="pic"/>
          </p:nvPr>
        </p:nvSpPr>
        <p:spPr>
          <a:xfrm>
            <a:off x="6256800" y="1893950"/>
            <a:ext cx="2555400" cy="1939500"/>
          </a:xfrm>
          <a:prstGeom prst="rect">
            <a:avLst/>
          </a:prstGeom>
          <a:noFill/>
          <a:ln>
            <a:noFill/>
          </a:ln>
        </p:spPr>
      </p:sp>
      <p:sp>
        <p:nvSpPr>
          <p:cNvPr id="576" name="Google Shape;576;p43"/>
          <p:cNvSpPr/>
          <p:nvPr>
            <p:ph idx="5" type="pic"/>
          </p:nvPr>
        </p:nvSpPr>
        <p:spPr>
          <a:xfrm>
            <a:off x="3294300" y="1893950"/>
            <a:ext cx="2555400" cy="1939500"/>
          </a:xfrm>
          <a:prstGeom prst="rect">
            <a:avLst/>
          </a:prstGeom>
          <a:noFill/>
          <a:ln>
            <a:noFill/>
          </a:ln>
        </p:spPr>
      </p:sp>
      <p:grpSp>
        <p:nvGrpSpPr>
          <p:cNvPr id="577" name="Google Shape;577;p43"/>
          <p:cNvGrpSpPr/>
          <p:nvPr/>
        </p:nvGrpSpPr>
        <p:grpSpPr>
          <a:xfrm>
            <a:off x="1381028" y="4148538"/>
            <a:ext cx="457200" cy="457200"/>
            <a:chOff x="1020916" y="1442088"/>
            <a:chExt cx="457200" cy="457200"/>
          </a:xfrm>
        </p:grpSpPr>
        <p:pic>
          <p:nvPicPr>
            <p:cNvPr id="578" name="Google Shape;578;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9" name="Google Shape;579;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80" name="Google Shape;580;p43"/>
          <p:cNvGrpSpPr/>
          <p:nvPr/>
        </p:nvGrpSpPr>
        <p:grpSpPr>
          <a:xfrm>
            <a:off x="4331066" y="4148550"/>
            <a:ext cx="457200" cy="457200"/>
            <a:chOff x="1020916" y="1442088"/>
            <a:chExt cx="457200" cy="457200"/>
          </a:xfrm>
        </p:grpSpPr>
        <p:pic>
          <p:nvPicPr>
            <p:cNvPr id="581" name="Google Shape;581;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2" name="Google Shape;582;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3" name="Google Shape;583;p43"/>
          <p:cNvGrpSpPr/>
          <p:nvPr/>
        </p:nvGrpSpPr>
        <p:grpSpPr>
          <a:xfrm>
            <a:off x="7305791" y="4148538"/>
            <a:ext cx="457200" cy="457200"/>
            <a:chOff x="1020916" y="1442088"/>
            <a:chExt cx="457200" cy="457200"/>
          </a:xfrm>
        </p:grpSpPr>
        <p:pic>
          <p:nvPicPr>
            <p:cNvPr id="584" name="Google Shape;584;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5" name="Google Shape;585;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6" name="Shape 586"/>
        <p:cNvGrpSpPr/>
        <p:nvPr/>
      </p:nvGrpSpPr>
      <p:grpSpPr>
        <a:xfrm>
          <a:off x="0" y="0"/>
          <a:ext cx="0" cy="0"/>
          <a:chOff x="0" y="0"/>
          <a:chExt cx="0" cy="0"/>
        </a:xfrm>
      </p:grpSpPr>
      <p:pic>
        <p:nvPicPr>
          <p:cNvPr id="587" name="Google Shape;587;p4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8" name="Google Shape;588;p4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90" name="Google Shape;590;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91" name="Google Shape;591;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92" name="Google Shape;592;p4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3" name="Google Shape;593;p44"/>
          <p:cNvSpPr/>
          <p:nvPr>
            <p:ph idx="3" type="pic"/>
          </p:nvPr>
        </p:nvSpPr>
        <p:spPr>
          <a:xfrm>
            <a:off x="324000" y="1893950"/>
            <a:ext cx="2555400" cy="1939500"/>
          </a:xfrm>
          <a:prstGeom prst="rect">
            <a:avLst/>
          </a:prstGeom>
          <a:noFill/>
          <a:ln>
            <a:noFill/>
          </a:ln>
        </p:spPr>
      </p:sp>
      <p:sp>
        <p:nvSpPr>
          <p:cNvPr id="594" name="Google Shape;594;p44"/>
          <p:cNvSpPr/>
          <p:nvPr>
            <p:ph idx="4" type="pic"/>
          </p:nvPr>
        </p:nvSpPr>
        <p:spPr>
          <a:xfrm>
            <a:off x="6256800" y="1893950"/>
            <a:ext cx="2555400" cy="1939500"/>
          </a:xfrm>
          <a:prstGeom prst="rect">
            <a:avLst/>
          </a:prstGeom>
          <a:noFill/>
          <a:ln>
            <a:noFill/>
          </a:ln>
        </p:spPr>
      </p:sp>
      <p:sp>
        <p:nvSpPr>
          <p:cNvPr id="595" name="Google Shape;595;p44"/>
          <p:cNvSpPr/>
          <p:nvPr>
            <p:ph idx="5" type="pic"/>
          </p:nvPr>
        </p:nvSpPr>
        <p:spPr>
          <a:xfrm>
            <a:off x="3294300" y="1893950"/>
            <a:ext cx="2555400" cy="1939500"/>
          </a:xfrm>
          <a:prstGeom prst="rect">
            <a:avLst/>
          </a:prstGeom>
          <a:noFill/>
          <a:ln>
            <a:noFill/>
          </a:ln>
        </p:spPr>
      </p:sp>
      <p:grpSp>
        <p:nvGrpSpPr>
          <p:cNvPr id="596" name="Google Shape;596;p44"/>
          <p:cNvGrpSpPr/>
          <p:nvPr/>
        </p:nvGrpSpPr>
        <p:grpSpPr>
          <a:xfrm>
            <a:off x="1381028" y="4148538"/>
            <a:ext cx="457200" cy="457200"/>
            <a:chOff x="1020916" y="1442088"/>
            <a:chExt cx="457200" cy="457200"/>
          </a:xfrm>
        </p:grpSpPr>
        <p:pic>
          <p:nvPicPr>
            <p:cNvPr id="597" name="Google Shape;597;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9" name="Google Shape;599;p44"/>
          <p:cNvGrpSpPr/>
          <p:nvPr/>
        </p:nvGrpSpPr>
        <p:grpSpPr>
          <a:xfrm>
            <a:off x="4331066" y="4148550"/>
            <a:ext cx="457200" cy="457200"/>
            <a:chOff x="1020916" y="1442088"/>
            <a:chExt cx="457200" cy="457200"/>
          </a:xfrm>
        </p:grpSpPr>
        <p:pic>
          <p:nvPicPr>
            <p:cNvPr id="600" name="Google Shape;600;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02" name="Google Shape;602;p44"/>
          <p:cNvGrpSpPr/>
          <p:nvPr/>
        </p:nvGrpSpPr>
        <p:grpSpPr>
          <a:xfrm>
            <a:off x="7305791" y="4148538"/>
            <a:ext cx="457200" cy="457200"/>
            <a:chOff x="1020916" y="1442088"/>
            <a:chExt cx="457200" cy="457200"/>
          </a:xfrm>
        </p:grpSpPr>
        <p:pic>
          <p:nvPicPr>
            <p:cNvPr id="603" name="Google Shape;603;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4" name="Google Shape;604;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5" name="Shape 605"/>
        <p:cNvGrpSpPr/>
        <p:nvPr/>
      </p:nvGrpSpPr>
      <p:grpSpPr>
        <a:xfrm>
          <a:off x="0" y="0"/>
          <a:ext cx="0" cy="0"/>
          <a:chOff x="0" y="0"/>
          <a:chExt cx="0" cy="0"/>
        </a:xfrm>
      </p:grpSpPr>
      <p:pic>
        <p:nvPicPr>
          <p:cNvPr id="606" name="Google Shape;606;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7" name="Google Shape;607;p4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9" name="Google Shape;609;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10" name="Google Shape;610;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11" name="Google Shape;611;p4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2" name="Google Shape;612;p45"/>
          <p:cNvSpPr/>
          <p:nvPr>
            <p:ph idx="3" type="pic"/>
          </p:nvPr>
        </p:nvSpPr>
        <p:spPr>
          <a:xfrm>
            <a:off x="324000" y="1893950"/>
            <a:ext cx="2555400" cy="1939500"/>
          </a:xfrm>
          <a:prstGeom prst="rect">
            <a:avLst/>
          </a:prstGeom>
          <a:noFill/>
          <a:ln>
            <a:noFill/>
          </a:ln>
        </p:spPr>
      </p:sp>
      <p:sp>
        <p:nvSpPr>
          <p:cNvPr id="613" name="Google Shape;613;p45"/>
          <p:cNvSpPr/>
          <p:nvPr>
            <p:ph idx="4" type="pic"/>
          </p:nvPr>
        </p:nvSpPr>
        <p:spPr>
          <a:xfrm>
            <a:off x="6256800" y="1893950"/>
            <a:ext cx="2555400" cy="1939500"/>
          </a:xfrm>
          <a:prstGeom prst="rect">
            <a:avLst/>
          </a:prstGeom>
          <a:noFill/>
          <a:ln>
            <a:noFill/>
          </a:ln>
        </p:spPr>
      </p:sp>
      <p:sp>
        <p:nvSpPr>
          <p:cNvPr id="614" name="Google Shape;614;p45"/>
          <p:cNvSpPr/>
          <p:nvPr>
            <p:ph idx="5" type="pic"/>
          </p:nvPr>
        </p:nvSpPr>
        <p:spPr>
          <a:xfrm>
            <a:off x="3294300" y="1893950"/>
            <a:ext cx="2555400" cy="1939500"/>
          </a:xfrm>
          <a:prstGeom prst="rect">
            <a:avLst/>
          </a:prstGeom>
          <a:noFill/>
          <a:ln>
            <a:noFill/>
          </a:ln>
        </p:spPr>
      </p:sp>
      <p:grpSp>
        <p:nvGrpSpPr>
          <p:cNvPr id="615" name="Google Shape;615;p45"/>
          <p:cNvGrpSpPr/>
          <p:nvPr/>
        </p:nvGrpSpPr>
        <p:grpSpPr>
          <a:xfrm>
            <a:off x="1381028" y="4148538"/>
            <a:ext cx="457200" cy="457200"/>
            <a:chOff x="1020916" y="1442088"/>
            <a:chExt cx="457200" cy="457200"/>
          </a:xfrm>
        </p:grpSpPr>
        <p:pic>
          <p:nvPicPr>
            <p:cNvPr id="616" name="Google Shape;616;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7" name="Google Shape;617;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8" name="Google Shape;618;p45"/>
          <p:cNvGrpSpPr/>
          <p:nvPr/>
        </p:nvGrpSpPr>
        <p:grpSpPr>
          <a:xfrm>
            <a:off x="4331066" y="4148550"/>
            <a:ext cx="457200" cy="457200"/>
            <a:chOff x="1020916" y="1442088"/>
            <a:chExt cx="457200" cy="457200"/>
          </a:xfrm>
        </p:grpSpPr>
        <p:pic>
          <p:nvPicPr>
            <p:cNvPr id="619" name="Google Shape;619;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0" name="Google Shape;620;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21" name="Google Shape;621;p45"/>
          <p:cNvGrpSpPr/>
          <p:nvPr/>
        </p:nvGrpSpPr>
        <p:grpSpPr>
          <a:xfrm>
            <a:off x="7305791" y="4148538"/>
            <a:ext cx="457200" cy="457200"/>
            <a:chOff x="1020916" y="1442088"/>
            <a:chExt cx="457200" cy="457200"/>
          </a:xfrm>
        </p:grpSpPr>
        <p:pic>
          <p:nvPicPr>
            <p:cNvPr id="622" name="Google Shape;622;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3" name="Google Shape;623;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4" name="Shape 624"/>
        <p:cNvGrpSpPr/>
        <p:nvPr/>
      </p:nvGrpSpPr>
      <p:grpSpPr>
        <a:xfrm>
          <a:off x="0" y="0"/>
          <a:ext cx="0" cy="0"/>
          <a:chOff x="0" y="0"/>
          <a:chExt cx="0" cy="0"/>
        </a:xfrm>
      </p:grpSpPr>
      <p:pic>
        <p:nvPicPr>
          <p:cNvPr id="625" name="Google Shape;625;p4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6" name="Google Shape;626;p4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8" name="Google Shape;628;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9" name="Google Shape;629;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30" name="Google Shape;630;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31" name="Shape 631"/>
        <p:cNvGrpSpPr/>
        <p:nvPr/>
      </p:nvGrpSpPr>
      <p:grpSpPr>
        <a:xfrm>
          <a:off x="0" y="0"/>
          <a:ext cx="0" cy="0"/>
          <a:chOff x="0" y="0"/>
          <a:chExt cx="0" cy="0"/>
        </a:xfrm>
      </p:grpSpPr>
      <p:pic>
        <p:nvPicPr>
          <p:cNvPr id="632" name="Google Shape;632;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3" name="Google Shape;633;p4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5" name="Google Shape;63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6" name="Google Shape;63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7" name="Google Shape;637;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8" name="Shape 638"/>
        <p:cNvGrpSpPr/>
        <p:nvPr/>
      </p:nvGrpSpPr>
      <p:grpSpPr>
        <a:xfrm>
          <a:off x="0" y="0"/>
          <a:ext cx="0" cy="0"/>
          <a:chOff x="0" y="0"/>
          <a:chExt cx="0" cy="0"/>
        </a:xfrm>
      </p:grpSpPr>
      <p:pic>
        <p:nvPicPr>
          <p:cNvPr id="639" name="Google Shape;639;p4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0" name="Google Shape;640;p4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2" name="Google Shape;642;p4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3" name="Google Shape;643;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4" name="Google Shape;644;p4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5" name="Shape 645"/>
        <p:cNvGrpSpPr/>
        <p:nvPr/>
      </p:nvGrpSpPr>
      <p:grpSpPr>
        <a:xfrm>
          <a:off x="0" y="0"/>
          <a:ext cx="0" cy="0"/>
          <a:chOff x="0" y="0"/>
          <a:chExt cx="0" cy="0"/>
        </a:xfrm>
      </p:grpSpPr>
      <p:pic>
        <p:nvPicPr>
          <p:cNvPr id="646" name="Google Shape;646;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7" name="Google Shape;647;p4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9" name="Google Shape;649;p4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50" name="Google Shape;650;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51" name="Google Shape;651;p4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52" name="Shape 652"/>
        <p:cNvGrpSpPr/>
        <p:nvPr/>
      </p:nvGrpSpPr>
      <p:grpSpPr>
        <a:xfrm>
          <a:off x="0" y="0"/>
          <a:ext cx="0" cy="0"/>
          <a:chOff x="0" y="0"/>
          <a:chExt cx="0" cy="0"/>
        </a:xfrm>
      </p:grpSpPr>
      <p:pic>
        <p:nvPicPr>
          <p:cNvPr id="653" name="Google Shape;653;p5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4" name="Google Shape;654;p5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56" name="Google Shape;656;p50"/>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57" name="Google Shape;657;p5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58" name="Google Shape;658;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9" name="Google Shape;659;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60" name="Shape 660"/>
        <p:cNvGrpSpPr/>
        <p:nvPr/>
      </p:nvGrpSpPr>
      <p:grpSpPr>
        <a:xfrm>
          <a:off x="0" y="0"/>
          <a:ext cx="0" cy="0"/>
          <a:chOff x="0" y="0"/>
          <a:chExt cx="0" cy="0"/>
        </a:xfrm>
      </p:grpSpPr>
      <p:pic>
        <p:nvPicPr>
          <p:cNvPr id="661" name="Google Shape;661;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2" name="Google Shape;662;p5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4" name="Google Shape;664;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sp>
        <p:nvSpPr>
          <p:cNvPr id="665" name="Google Shape;665;p51"/>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66" name="Google Shape;666;p5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67" name="Google Shape;667;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8" name="Shape 668"/>
        <p:cNvGrpSpPr/>
        <p:nvPr/>
      </p:nvGrpSpPr>
      <p:grpSpPr>
        <a:xfrm>
          <a:off x="0" y="0"/>
          <a:ext cx="0" cy="0"/>
          <a:chOff x="0" y="0"/>
          <a:chExt cx="0" cy="0"/>
        </a:xfrm>
      </p:grpSpPr>
      <p:pic>
        <p:nvPicPr>
          <p:cNvPr id="669" name="Google Shape;669;p5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0" name="Google Shape;670;p5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2" name="Google Shape;672;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73" name="Google Shape;673;p52"/>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674" name="Google Shape;674;p5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75" name="Google Shape;675;p5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6" name="Shape 676"/>
        <p:cNvGrpSpPr/>
        <p:nvPr/>
      </p:nvGrpSpPr>
      <p:grpSpPr>
        <a:xfrm>
          <a:off x="0" y="0"/>
          <a:ext cx="0" cy="0"/>
          <a:chOff x="0" y="0"/>
          <a:chExt cx="0" cy="0"/>
        </a:xfrm>
      </p:grpSpPr>
      <p:pic>
        <p:nvPicPr>
          <p:cNvPr id="677" name="Google Shape;677;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8" name="Google Shape;678;p5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0" name="Google Shape;680;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sp>
        <p:nvSpPr>
          <p:cNvPr id="681" name="Google Shape;681;p53"/>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682" name="Google Shape;682;p5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83" name="Google Shape;683;p53"/>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4" name="Shape 684"/>
        <p:cNvGrpSpPr/>
        <p:nvPr/>
      </p:nvGrpSpPr>
      <p:grpSpPr>
        <a:xfrm>
          <a:off x="0" y="0"/>
          <a:ext cx="0" cy="0"/>
          <a:chOff x="0" y="0"/>
          <a:chExt cx="0" cy="0"/>
        </a:xfrm>
      </p:grpSpPr>
      <p:pic>
        <p:nvPicPr>
          <p:cNvPr id="685" name="Google Shape;685;p5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6" name="Google Shape;686;p5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8" name="Google Shape;688;p54"/>
          <p:cNvSpPr txBox="1"/>
          <p:nvPr/>
        </p:nvSpPr>
        <p:spPr>
          <a:xfrm>
            <a:off x="324000" y="45525"/>
            <a:ext cx="10920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89" name="Google Shape;689;p5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90" name="Google Shape;690;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1" name="Google Shape;691;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92" name="Shape 692"/>
        <p:cNvGrpSpPr/>
        <p:nvPr/>
      </p:nvGrpSpPr>
      <p:grpSpPr>
        <a:xfrm>
          <a:off x="0" y="0"/>
          <a:ext cx="0" cy="0"/>
          <a:chOff x="0" y="0"/>
          <a:chExt cx="0" cy="0"/>
        </a:xfrm>
      </p:grpSpPr>
      <p:pic>
        <p:nvPicPr>
          <p:cNvPr id="693" name="Google Shape;693;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4" name="Google Shape;694;p5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6" name="Google Shape;696;p55"/>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97" name="Google Shape;697;p5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698" name="Google Shape;698;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9" name="Google Shape;699;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700" name="Shape 700"/>
        <p:cNvGrpSpPr/>
        <p:nvPr/>
      </p:nvGrpSpPr>
      <p:grpSpPr>
        <a:xfrm>
          <a:off x="0" y="0"/>
          <a:ext cx="0" cy="0"/>
          <a:chOff x="0" y="0"/>
          <a:chExt cx="0" cy="0"/>
        </a:xfrm>
      </p:grpSpPr>
      <p:pic>
        <p:nvPicPr>
          <p:cNvPr id="701" name="Google Shape;701;p5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2" name="Google Shape;702;p5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5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4" name="Google Shape;704;p56"/>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705" name="Google Shape;705;p5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06" name="Google Shape;706;p5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7" name="Google Shape;707;p5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8" name="Shape 708"/>
        <p:cNvGrpSpPr/>
        <p:nvPr/>
      </p:nvGrpSpPr>
      <p:grpSpPr>
        <a:xfrm>
          <a:off x="0" y="0"/>
          <a:ext cx="0" cy="0"/>
          <a:chOff x="0" y="0"/>
          <a:chExt cx="0" cy="0"/>
        </a:xfrm>
      </p:grpSpPr>
      <p:pic>
        <p:nvPicPr>
          <p:cNvPr id="709" name="Google Shape;709;p5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10" name="Google Shape;710;p5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5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2" name="Google Shape;712;p57"/>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3" name="Google Shape;713;p5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14" name="Google Shape;714;p5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15" name="Google Shape;715;p5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
    <p:spTree>
      <p:nvGrpSpPr>
        <p:cNvPr id="716" name="Shape 716"/>
        <p:cNvGrpSpPr/>
        <p:nvPr/>
      </p:nvGrpSpPr>
      <p:grpSpPr>
        <a:xfrm>
          <a:off x="0" y="0"/>
          <a:ext cx="0" cy="0"/>
          <a:chOff x="0" y="0"/>
          <a:chExt cx="0" cy="0"/>
        </a:xfrm>
      </p:grpSpPr>
      <p:sp>
        <p:nvSpPr>
          <p:cNvPr id="717" name="Google Shape;717;p58"/>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8" name="Google Shape;718;p58"/>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9" name="Google Shape;719;p58"/>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0" name="Google Shape;720;p58"/>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1" name="Google Shape;721;p58"/>
          <p:cNvSpPr txBox="1"/>
          <p:nvPr>
            <p:ph type="title"/>
          </p:nvPr>
        </p:nvSpPr>
        <p:spPr>
          <a:xfrm>
            <a:off x="1684800" y="157525"/>
            <a:ext cx="5741400" cy="3828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22" name="Shape 722"/>
        <p:cNvGrpSpPr/>
        <p:nvPr/>
      </p:nvGrpSpPr>
      <p:grpSpPr>
        <a:xfrm>
          <a:off x="0" y="0"/>
          <a:ext cx="0" cy="0"/>
          <a:chOff x="0" y="0"/>
          <a:chExt cx="0" cy="0"/>
        </a:xfrm>
      </p:grpSpPr>
      <p:sp>
        <p:nvSpPr>
          <p:cNvPr id="723" name="Google Shape;723;p59"/>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4" name="Google Shape;724;p59"/>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5" name="Google Shape;725;p59"/>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6" name="Google Shape;726;p59"/>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7" name="Google Shape;727;p59"/>
          <p:cNvSpPr txBox="1"/>
          <p:nvPr>
            <p:ph type="title"/>
          </p:nvPr>
        </p:nvSpPr>
        <p:spPr>
          <a:xfrm>
            <a:off x="1684800" y="157525"/>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8" name="Shape 728"/>
        <p:cNvGrpSpPr/>
        <p:nvPr/>
      </p:nvGrpSpPr>
      <p:grpSpPr>
        <a:xfrm>
          <a:off x="0" y="0"/>
          <a:ext cx="0" cy="0"/>
          <a:chOff x="0" y="0"/>
          <a:chExt cx="0" cy="0"/>
        </a:xfrm>
      </p:grpSpPr>
      <p:pic>
        <p:nvPicPr>
          <p:cNvPr id="729" name="Google Shape;729;p60"/>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30" name="Google Shape;730;p60"/>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31" name="Shape 731"/>
        <p:cNvGrpSpPr/>
        <p:nvPr/>
      </p:nvGrpSpPr>
      <p:grpSpPr>
        <a:xfrm>
          <a:off x="0" y="0"/>
          <a:ext cx="0" cy="0"/>
          <a:chOff x="0" y="0"/>
          <a:chExt cx="0" cy="0"/>
        </a:xfrm>
      </p:grpSpPr>
      <p:sp>
        <p:nvSpPr>
          <p:cNvPr id="732" name="Google Shape;732;p61"/>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33" name="Google Shape;733;p61"/>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4" name="Google Shape;734;p61"/>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5" name="Google Shape;735;p61"/>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6" name="Google Shape;736;p61"/>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7" name="Google Shape;737;p61"/>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8" name="Google Shape;738;p61"/>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9" name="Google Shape;739;p61"/>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40" name="Google Shape;740;p61"/>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41" name="Shape 741"/>
        <p:cNvGrpSpPr/>
        <p:nvPr/>
      </p:nvGrpSpPr>
      <p:grpSpPr>
        <a:xfrm>
          <a:off x="0" y="0"/>
          <a:ext cx="0" cy="0"/>
          <a:chOff x="0" y="0"/>
          <a:chExt cx="0" cy="0"/>
        </a:xfrm>
      </p:grpSpPr>
      <p:pic>
        <p:nvPicPr>
          <p:cNvPr id="742" name="Google Shape;742;p62"/>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43" name="Google Shape;743;p62"/>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4" name="Shape 744"/>
        <p:cNvGrpSpPr/>
        <p:nvPr/>
      </p:nvGrpSpPr>
      <p:grpSpPr>
        <a:xfrm>
          <a:off x="0" y="0"/>
          <a:ext cx="0" cy="0"/>
          <a:chOff x="0" y="0"/>
          <a:chExt cx="0" cy="0"/>
        </a:xfrm>
      </p:grpSpPr>
      <p:sp>
        <p:nvSpPr>
          <p:cNvPr id="745" name="Google Shape;745;p63"/>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theme" Target="../theme/theme1.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 Id="rId3" Type="http://schemas.openxmlformats.org/officeDocument/2006/relationships/image" Target="../media/image4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 Id="rId3" Type="http://schemas.openxmlformats.org/officeDocument/2006/relationships/image" Target="../media/image4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 Id="rId3" Type="http://schemas.openxmlformats.org/officeDocument/2006/relationships/image" Target="../media/image47.png"/><Relationship Id="rId4" Type="http://schemas.openxmlformats.org/officeDocument/2006/relationships/image" Target="../media/image4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4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9.xml"/><Relationship Id="rId3" Type="http://schemas.openxmlformats.org/officeDocument/2006/relationships/image" Target="../media/image5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 Id="rId3" Type="http://schemas.openxmlformats.org/officeDocument/2006/relationships/image" Target="../media/image47.png"/><Relationship Id="rId4" Type="http://schemas.openxmlformats.org/officeDocument/2006/relationships/image" Target="../media/image54.png"/><Relationship Id="rId5" Type="http://schemas.openxmlformats.org/officeDocument/2006/relationships/image" Target="../media/image52.png"/><Relationship Id="rId6" Type="http://schemas.openxmlformats.org/officeDocument/2006/relationships/image" Target="../media/image53.png"/><Relationship Id="rId7" Type="http://schemas.openxmlformats.org/officeDocument/2006/relationships/image" Target="../media/image5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1.xml"/><Relationship Id="rId3" Type="http://schemas.openxmlformats.org/officeDocument/2006/relationships/image" Target="../media/image47.png"/><Relationship Id="rId4" Type="http://schemas.openxmlformats.org/officeDocument/2006/relationships/image" Target="../media/image60.png"/><Relationship Id="rId9" Type="http://schemas.openxmlformats.org/officeDocument/2006/relationships/image" Target="../media/image61.png"/><Relationship Id="rId5" Type="http://schemas.openxmlformats.org/officeDocument/2006/relationships/image" Target="../media/image59.png"/><Relationship Id="rId6" Type="http://schemas.openxmlformats.org/officeDocument/2006/relationships/image" Target="../media/image57.png"/><Relationship Id="rId7" Type="http://schemas.openxmlformats.org/officeDocument/2006/relationships/image" Target="../media/image58.png"/><Relationship Id="rId8" Type="http://schemas.openxmlformats.org/officeDocument/2006/relationships/image" Target="../media/image5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2.xml"/><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3.xml"/><Relationship Id="rId3" Type="http://schemas.openxmlformats.org/officeDocument/2006/relationships/image" Target="../media/image65.png"/><Relationship Id="rId4" Type="http://schemas.openxmlformats.org/officeDocument/2006/relationships/image" Target="../media/image6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4.xml"/><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image" Target="../media/image6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5.xml"/><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6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 Id="rId3" Type="http://schemas.openxmlformats.org/officeDocument/2006/relationships/image" Target="../media/image4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7.xml"/><Relationship Id="rId3" Type="http://schemas.openxmlformats.org/officeDocument/2006/relationships/image" Target="../media/image4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8.xml"/><Relationship Id="rId3" Type="http://schemas.openxmlformats.org/officeDocument/2006/relationships/image" Target="../media/image47.png"/><Relationship Id="rId4" Type="http://schemas.openxmlformats.org/officeDocument/2006/relationships/image" Target="../media/image6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9.xml"/><Relationship Id="rId3" Type="http://schemas.openxmlformats.org/officeDocument/2006/relationships/image" Target="../media/image72.png"/><Relationship Id="rId4" Type="http://schemas.openxmlformats.org/officeDocument/2006/relationships/image" Target="../media/image70.png"/><Relationship Id="rId5" Type="http://schemas.openxmlformats.org/officeDocument/2006/relationships/image" Target="../media/image71.png"/><Relationship Id="rId6" Type="http://schemas.openxmlformats.org/officeDocument/2006/relationships/image" Target="../media/image75.png"/><Relationship Id="rId7" Type="http://schemas.openxmlformats.org/officeDocument/2006/relationships/image" Target="../media/image73.png"/><Relationship Id="rId8" Type="http://schemas.openxmlformats.org/officeDocument/2006/relationships/image" Target="../media/image7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0.xml"/><Relationship Id="rId3" Type="http://schemas.openxmlformats.org/officeDocument/2006/relationships/image" Target="../media/image7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 Id="rId3" Type="http://schemas.openxmlformats.org/officeDocument/2006/relationships/image" Target="../media/image47.png"/><Relationship Id="rId4" Type="http://schemas.openxmlformats.org/officeDocument/2006/relationships/image" Target="../media/image7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2.xml"/><Relationship Id="rId3" Type="http://schemas.openxmlformats.org/officeDocument/2006/relationships/image" Target="../media/image78.png"/><Relationship Id="rId4" Type="http://schemas.openxmlformats.org/officeDocument/2006/relationships/image" Target="../media/image7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3.xml"/><Relationship Id="rId3" Type="http://schemas.openxmlformats.org/officeDocument/2006/relationships/image" Target="../media/image8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4.xml"/><Relationship Id="rId3" Type="http://schemas.openxmlformats.org/officeDocument/2006/relationships/image" Target="../media/image8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5.xml"/><Relationship Id="rId3" Type="http://schemas.openxmlformats.org/officeDocument/2006/relationships/image" Target="../media/image8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26.xml"/><Relationship Id="rId3" Type="http://schemas.openxmlformats.org/officeDocument/2006/relationships/image" Target="../media/image8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27.xml"/><Relationship Id="rId3" Type="http://schemas.openxmlformats.org/officeDocument/2006/relationships/image" Target="../media/image81.png"/><Relationship Id="rId4" Type="http://schemas.openxmlformats.org/officeDocument/2006/relationships/image" Target="../media/image8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28.xml"/><Relationship Id="rId3" Type="http://schemas.openxmlformats.org/officeDocument/2006/relationships/image" Target="../media/image8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29.xml"/><Relationship Id="rId3" Type="http://schemas.openxmlformats.org/officeDocument/2006/relationships/image" Target="../media/image82.png"/><Relationship Id="rId4" Type="http://schemas.openxmlformats.org/officeDocument/2006/relationships/image" Target="../media/image8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0.xml"/><Relationship Id="rId3" Type="http://schemas.openxmlformats.org/officeDocument/2006/relationships/image" Target="../media/image4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1.xml"/><Relationship Id="rId3" Type="http://schemas.openxmlformats.org/officeDocument/2006/relationships/image" Target="../media/image4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2.xml"/><Relationship Id="rId3" Type="http://schemas.openxmlformats.org/officeDocument/2006/relationships/image" Target="../media/image89.png"/><Relationship Id="rId4" Type="http://schemas.openxmlformats.org/officeDocument/2006/relationships/image" Target="../media/image86.png"/><Relationship Id="rId5" Type="http://schemas.openxmlformats.org/officeDocument/2006/relationships/image" Target="../media/image88.png"/><Relationship Id="rId6" Type="http://schemas.openxmlformats.org/officeDocument/2006/relationships/image" Target="../media/image8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33.xml"/><Relationship Id="rId3" Type="http://schemas.openxmlformats.org/officeDocument/2006/relationships/image" Target="../media/image91.png"/><Relationship Id="rId4" Type="http://schemas.openxmlformats.org/officeDocument/2006/relationships/image" Target="../media/image9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34.xml"/><Relationship Id="rId3" Type="http://schemas.openxmlformats.org/officeDocument/2006/relationships/image" Target="../media/image90.png"/><Relationship Id="rId4" Type="http://schemas.openxmlformats.org/officeDocument/2006/relationships/image" Target="../media/image91.png"/><Relationship Id="rId5" Type="http://schemas.openxmlformats.org/officeDocument/2006/relationships/image" Target="../media/image9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35.xml"/><Relationship Id="rId3" Type="http://schemas.openxmlformats.org/officeDocument/2006/relationships/image" Target="../media/image9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36.xml"/><Relationship Id="rId3" Type="http://schemas.openxmlformats.org/officeDocument/2006/relationships/image" Target="../media/image93.png"/><Relationship Id="rId4" Type="http://schemas.openxmlformats.org/officeDocument/2006/relationships/image" Target="../media/image9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37.xml"/><Relationship Id="rId3" Type="http://schemas.openxmlformats.org/officeDocument/2006/relationships/image" Target="../media/image98.png"/><Relationship Id="rId4" Type="http://schemas.openxmlformats.org/officeDocument/2006/relationships/image" Target="../media/image9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8.xml"/><Relationship Id="rId3" Type="http://schemas.openxmlformats.org/officeDocument/2006/relationships/image" Target="../media/image9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9.xml"/><Relationship Id="rId3" Type="http://schemas.openxmlformats.org/officeDocument/2006/relationships/image" Target="../media/image94.png"/><Relationship Id="rId4" Type="http://schemas.openxmlformats.org/officeDocument/2006/relationships/image" Target="../media/image99.png"/><Relationship Id="rId5" Type="http://schemas.openxmlformats.org/officeDocument/2006/relationships/image" Target="../media/image93.png"/><Relationship Id="rId6" Type="http://schemas.openxmlformats.org/officeDocument/2006/relationships/image" Target="../media/image95.png"/><Relationship Id="rId7" Type="http://schemas.openxmlformats.org/officeDocument/2006/relationships/image" Target="../media/image100.png"/><Relationship Id="rId8" Type="http://schemas.openxmlformats.org/officeDocument/2006/relationships/image" Target="../media/image8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0.xml"/><Relationship Id="rId3" Type="http://schemas.openxmlformats.org/officeDocument/2006/relationships/image" Target="../media/image98.png"/><Relationship Id="rId4" Type="http://schemas.openxmlformats.org/officeDocument/2006/relationships/image" Target="../media/image102.png"/><Relationship Id="rId5" Type="http://schemas.openxmlformats.org/officeDocument/2006/relationships/image" Target="../media/image96.png"/><Relationship Id="rId6" Type="http://schemas.openxmlformats.org/officeDocument/2006/relationships/image" Target="../media/image10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41.xml"/><Relationship Id="rId3" Type="http://schemas.openxmlformats.org/officeDocument/2006/relationships/image" Target="../media/image4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2.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10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64"/>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Priority of operations with positive and negative integers, decimals and fractions</a:t>
            </a:r>
            <a:endParaRPr/>
          </a:p>
        </p:txBody>
      </p:sp>
      <p:sp>
        <p:nvSpPr>
          <p:cNvPr id="751" name="Google Shape;751;p64"/>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Arithmetic procedures with fractions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5" name="Shape 755"/>
        <p:cNvGrpSpPr/>
        <p:nvPr/>
      </p:nvGrpSpPr>
      <p:grpSpPr>
        <a:xfrm>
          <a:off x="0" y="0"/>
          <a:ext cx="0" cy="0"/>
          <a:chOff x="0" y="0"/>
          <a:chExt cx="0" cy="0"/>
        </a:xfrm>
      </p:grpSpPr>
      <p:sp>
        <p:nvSpPr>
          <p:cNvPr id="756" name="Google Shape;756;p65"/>
          <p:cNvSpPr txBox="1"/>
          <p:nvPr/>
        </p:nvSpPr>
        <p:spPr>
          <a:xfrm>
            <a:off x="5578975" y="724425"/>
            <a:ext cx="1928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66"/>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calculate using priority of operations, including brackets, powers, exponents and reciprocals with positive and negative integers, decimals and fractions.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67"/>
          <p:cNvSpPr txBox="1"/>
          <p:nvPr/>
        </p:nvSpPr>
        <p:spPr>
          <a:xfrm>
            <a:off x="311990" y="730051"/>
            <a:ext cx="8014200" cy="8466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2000">
                <a:solidFill>
                  <a:srgbClr val="282828"/>
                </a:solidFill>
                <a:latin typeface="Lexend"/>
                <a:ea typeface="Lexend"/>
                <a:cs typeface="Lexend"/>
                <a:sym typeface="Lexend"/>
              </a:rPr>
              <a:t>The additive inverse of a number is a number that, when added to the original number, gives the sum of 0.</a:t>
            </a:r>
            <a:endParaRPr sz="2000"/>
          </a:p>
        </p:txBody>
      </p:sp>
      <p:sp>
        <p:nvSpPr>
          <p:cNvPr id="767" name="Google Shape;767;p67"/>
          <p:cNvSpPr txBox="1"/>
          <p:nvPr/>
        </p:nvSpPr>
        <p:spPr>
          <a:xfrm>
            <a:off x="336294" y="1709700"/>
            <a:ext cx="3642600" cy="9087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0"/>
              </a:spcAft>
              <a:buNone/>
            </a:pPr>
            <a:r>
              <a:rPr lang="en-GB" sz="1800">
                <a:solidFill>
                  <a:srgbClr val="282828"/>
                </a:solidFill>
                <a:latin typeface="Lexend"/>
                <a:ea typeface="Lexend"/>
                <a:cs typeface="Lexend"/>
                <a:sym typeface="Lexend"/>
              </a:rPr>
              <a:t>Example</a:t>
            </a:r>
            <a:endParaRPr sz="1800">
              <a:solidFill>
                <a:srgbClr val="282828"/>
              </a:solidFill>
              <a:latin typeface="Lexend"/>
              <a:ea typeface="Lexend"/>
              <a:cs typeface="Lexend"/>
              <a:sym typeface="Lexend"/>
            </a:endParaRPr>
          </a:p>
          <a:p>
            <a:pPr indent="0" lvl="0" marL="0" rtl="0" algn="l">
              <a:lnSpc>
                <a:spcPct val="115000"/>
              </a:lnSpc>
              <a:spcBef>
                <a:spcPts val="1000"/>
              </a:spcBef>
              <a:spcAft>
                <a:spcPts val="1000"/>
              </a:spcAft>
              <a:buNone/>
            </a:pPr>
            <a:r>
              <a:rPr lang="en-GB" sz="1800">
                <a:solidFill>
                  <a:srgbClr val="282828"/>
                </a:solidFill>
                <a:latin typeface="Lexend"/>
                <a:ea typeface="Lexend"/>
                <a:cs typeface="Lexend"/>
                <a:sym typeface="Lexend"/>
              </a:rPr>
              <a:t>8 is the additive inverse of (-8)</a:t>
            </a:r>
            <a:endParaRPr sz="1800">
              <a:solidFill>
                <a:srgbClr val="282828"/>
              </a:solidFill>
              <a:latin typeface="Lexend"/>
              <a:ea typeface="Lexend"/>
              <a:cs typeface="Lexend"/>
              <a:sym typeface="Lexend"/>
            </a:endParaRPr>
          </a:p>
        </p:txBody>
      </p:sp>
      <p:sp>
        <p:nvSpPr>
          <p:cNvPr id="768" name="Google Shape;768;p67"/>
          <p:cNvSpPr txBox="1"/>
          <p:nvPr/>
        </p:nvSpPr>
        <p:spPr>
          <a:xfrm>
            <a:off x="4361125" y="1705650"/>
            <a:ext cx="4154100" cy="90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800">
                <a:solidFill>
                  <a:srgbClr val="282828"/>
                </a:solidFill>
                <a:latin typeface="Lexend"/>
                <a:ea typeface="Lexend"/>
                <a:cs typeface="Lexend"/>
                <a:sym typeface="Lexend"/>
              </a:rPr>
              <a:t>Example</a:t>
            </a:r>
            <a:endParaRPr sz="1800">
              <a:solidFill>
                <a:srgbClr val="282828"/>
              </a:solidFill>
              <a:latin typeface="Lexend"/>
              <a:ea typeface="Lexend"/>
              <a:cs typeface="Lexend"/>
              <a:sym typeface="Lexend"/>
            </a:endParaRPr>
          </a:p>
          <a:p>
            <a:pPr indent="0" lvl="0" marL="0" rtl="0" algn="l">
              <a:lnSpc>
                <a:spcPct val="115000"/>
              </a:lnSpc>
              <a:spcBef>
                <a:spcPts val="1000"/>
              </a:spcBef>
              <a:spcAft>
                <a:spcPts val="1000"/>
              </a:spcAft>
              <a:buNone/>
            </a:pPr>
            <a:r>
              <a:rPr lang="en-GB" sz="1800">
                <a:solidFill>
                  <a:srgbClr val="282828"/>
                </a:solidFill>
                <a:latin typeface="Lexend"/>
                <a:ea typeface="Lexend"/>
                <a:cs typeface="Lexend"/>
                <a:sym typeface="Lexend"/>
              </a:rPr>
              <a:t>(-4.5) is the additive inverse of 4.5</a:t>
            </a:r>
            <a:endParaRPr sz="1800">
              <a:solidFill>
                <a:srgbClr val="282828"/>
              </a:solidFill>
              <a:latin typeface="Lexend"/>
              <a:ea typeface="Lexend"/>
              <a:cs typeface="Lexend"/>
              <a:sym typeface="Lexend"/>
            </a:endParaRPr>
          </a:p>
        </p:txBody>
      </p:sp>
      <p:grpSp>
        <p:nvGrpSpPr>
          <p:cNvPr id="769" name="Google Shape;769;p67"/>
          <p:cNvGrpSpPr/>
          <p:nvPr/>
        </p:nvGrpSpPr>
        <p:grpSpPr>
          <a:xfrm>
            <a:off x="311990" y="2697751"/>
            <a:ext cx="7784100" cy="2109299"/>
            <a:chOff x="616790" y="2697751"/>
            <a:chExt cx="7784100" cy="2109299"/>
          </a:xfrm>
        </p:grpSpPr>
        <p:sp>
          <p:nvSpPr>
            <p:cNvPr id="770" name="Google Shape;770;p67"/>
            <p:cNvSpPr txBox="1"/>
            <p:nvPr/>
          </p:nvSpPr>
          <p:spPr>
            <a:xfrm>
              <a:off x="616790" y="2697751"/>
              <a:ext cx="7784100" cy="12006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2000">
                  <a:solidFill>
                    <a:srgbClr val="282828"/>
                  </a:solidFill>
                  <a:latin typeface="Lexend"/>
                  <a:ea typeface="Lexend"/>
                  <a:cs typeface="Lexend"/>
                  <a:sym typeface="Lexend"/>
                </a:rPr>
                <a:t>An operation is commutative if the values it is operating on can be written in either order without changing the calculation. </a:t>
              </a:r>
              <a:endParaRPr sz="2000"/>
            </a:p>
          </p:txBody>
        </p:sp>
        <p:sp>
          <p:nvSpPr>
            <p:cNvPr id="771" name="Google Shape;771;p67"/>
            <p:cNvSpPr txBox="1"/>
            <p:nvPr/>
          </p:nvSpPr>
          <p:spPr>
            <a:xfrm>
              <a:off x="625636" y="3898350"/>
              <a:ext cx="3340800" cy="9087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0"/>
                </a:spcAft>
                <a:buNone/>
              </a:pPr>
              <a:r>
                <a:rPr lang="en-GB" sz="1800">
                  <a:solidFill>
                    <a:srgbClr val="282828"/>
                  </a:solidFill>
                  <a:latin typeface="Lexend"/>
                  <a:ea typeface="Lexend"/>
                  <a:cs typeface="Lexend"/>
                  <a:sym typeface="Lexend"/>
                </a:rPr>
                <a:t>Example</a:t>
              </a:r>
              <a:endParaRPr sz="1800">
                <a:solidFill>
                  <a:srgbClr val="282828"/>
                </a:solidFill>
                <a:latin typeface="Lexend"/>
                <a:ea typeface="Lexend"/>
                <a:cs typeface="Lexend"/>
                <a:sym typeface="Lexend"/>
              </a:endParaRPr>
            </a:p>
            <a:p>
              <a:pPr indent="0" lvl="0" marL="0" rtl="0" algn="l">
                <a:lnSpc>
                  <a:spcPct val="115000"/>
                </a:lnSpc>
                <a:spcBef>
                  <a:spcPts val="1000"/>
                </a:spcBef>
                <a:spcAft>
                  <a:spcPts val="1000"/>
                </a:spcAft>
                <a:buNone/>
              </a:pPr>
              <a:r>
                <a:rPr lang="en-GB" sz="1800">
                  <a:solidFill>
                    <a:srgbClr val="282828"/>
                  </a:solidFill>
                  <a:latin typeface="Lexend"/>
                  <a:ea typeface="Lexend"/>
                  <a:cs typeface="Lexend"/>
                  <a:sym typeface="Lexend"/>
                </a:rPr>
                <a:t>(-3) + 4 + 10 = 10 + (-3) + 4</a:t>
              </a:r>
              <a:endParaRPr sz="1800">
                <a:solidFill>
                  <a:srgbClr val="282828"/>
                </a:solidFill>
                <a:latin typeface="Lexend"/>
                <a:ea typeface="Lexend"/>
                <a:cs typeface="Lexend"/>
                <a:sym typeface="Lexend"/>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68"/>
          <p:cNvSpPr txBox="1"/>
          <p:nvPr>
            <p:ph type="title"/>
          </p:nvPr>
        </p:nvSpPr>
        <p:spPr>
          <a:xfrm>
            <a:off x="1225200" y="1779713"/>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Reviewing priority of operations</a:t>
            </a:r>
            <a:endParaRPr/>
          </a:p>
        </p:txBody>
      </p:sp>
      <p:sp>
        <p:nvSpPr>
          <p:cNvPr id="777" name="Google Shape;777;p68"/>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Powers and roots of fractions</a:t>
            </a:r>
            <a:endParaRPr/>
          </a:p>
        </p:txBody>
      </p:sp>
      <p:sp>
        <p:nvSpPr>
          <p:cNvPr id="778" name="Google Shape;778;p68"/>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efficiently</a:t>
            </a:r>
            <a:endParaRPr/>
          </a:p>
        </p:txBody>
      </p:sp>
      <p:sp>
        <p:nvSpPr>
          <p:cNvPr id="779" name="Google Shape;779;p68"/>
          <p:cNvSpPr txBox="1"/>
          <p:nvPr>
            <p:ph idx="4" type="title"/>
          </p:nvPr>
        </p:nvSpPr>
        <p:spPr>
          <a:xfrm>
            <a:off x="324000" y="657600"/>
            <a:ext cx="84960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Priority of operations with positive and negative integers, decimals and fractions</a:t>
            </a:r>
            <a:endParaRPr/>
          </a:p>
        </p:txBody>
      </p:sp>
      <p:pic>
        <p:nvPicPr>
          <p:cNvPr id="780" name="Google Shape;780;p68"/>
          <p:cNvPicPr preferRelativeResize="0"/>
          <p:nvPr/>
        </p:nvPicPr>
        <p:blipFill>
          <a:blip r:embed="rId3">
            <a:alphaModFix/>
          </a:blip>
          <a:stretch>
            <a:fillRect/>
          </a:stretch>
        </p:blipFill>
        <p:spPr>
          <a:xfrm>
            <a:off x="407200" y="1741000"/>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6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Reviewing priority of operations</a:t>
            </a:r>
            <a:endParaRPr/>
          </a:p>
        </p:txBody>
      </p:sp>
      <p:grpSp>
        <p:nvGrpSpPr>
          <p:cNvPr id="786" name="Google Shape;786;p69"/>
          <p:cNvGrpSpPr/>
          <p:nvPr/>
        </p:nvGrpSpPr>
        <p:grpSpPr>
          <a:xfrm>
            <a:off x="2528947" y="1855128"/>
            <a:ext cx="3916346" cy="2889197"/>
            <a:chOff x="2529025" y="1931250"/>
            <a:chExt cx="3584100" cy="2617500"/>
          </a:xfrm>
        </p:grpSpPr>
        <p:sp>
          <p:nvSpPr>
            <p:cNvPr id="787" name="Google Shape;787;p69"/>
            <p:cNvSpPr/>
            <p:nvPr/>
          </p:nvSpPr>
          <p:spPr>
            <a:xfrm>
              <a:off x="2529025" y="1931250"/>
              <a:ext cx="3584100" cy="2617500"/>
            </a:xfrm>
            <a:prstGeom prst="triangle">
              <a:avLst>
                <a:gd fmla="val 50000" name="adj"/>
              </a:avLst>
            </a:prstGeom>
            <a:no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788" name="Google Shape;788;p69"/>
            <p:cNvCxnSpPr/>
            <p:nvPr/>
          </p:nvCxnSpPr>
          <p:spPr>
            <a:xfrm>
              <a:off x="3766742" y="2706800"/>
              <a:ext cx="1095900" cy="0"/>
            </a:xfrm>
            <a:prstGeom prst="straightConnector1">
              <a:avLst/>
            </a:prstGeom>
            <a:noFill/>
            <a:ln cap="flat" cmpd="sng" w="38100">
              <a:solidFill>
                <a:srgbClr val="845AD9"/>
              </a:solidFill>
              <a:prstDash val="solid"/>
              <a:round/>
              <a:headEnd len="med" w="med" type="none"/>
              <a:tailEnd len="med" w="med" type="none"/>
            </a:ln>
          </p:spPr>
        </p:cxnSp>
        <p:cxnSp>
          <p:nvCxnSpPr>
            <p:cNvPr id="789" name="Google Shape;789;p69"/>
            <p:cNvCxnSpPr/>
            <p:nvPr/>
          </p:nvCxnSpPr>
          <p:spPr>
            <a:xfrm>
              <a:off x="3369600" y="3320300"/>
              <a:ext cx="1899300" cy="0"/>
            </a:xfrm>
            <a:prstGeom prst="straightConnector1">
              <a:avLst/>
            </a:prstGeom>
            <a:noFill/>
            <a:ln cap="flat" cmpd="sng" w="38100">
              <a:solidFill>
                <a:srgbClr val="845AD9"/>
              </a:solidFill>
              <a:prstDash val="solid"/>
              <a:round/>
              <a:headEnd len="med" w="med" type="none"/>
              <a:tailEnd len="med" w="med" type="none"/>
            </a:ln>
          </p:spPr>
        </p:cxnSp>
        <p:cxnSp>
          <p:nvCxnSpPr>
            <p:cNvPr id="790" name="Google Shape;790;p69"/>
            <p:cNvCxnSpPr/>
            <p:nvPr/>
          </p:nvCxnSpPr>
          <p:spPr>
            <a:xfrm flipH="1" rot="10800000">
              <a:off x="2996850" y="3910986"/>
              <a:ext cx="2653800" cy="3900"/>
            </a:xfrm>
            <a:prstGeom prst="straightConnector1">
              <a:avLst/>
            </a:prstGeom>
            <a:noFill/>
            <a:ln cap="flat" cmpd="sng" w="38100">
              <a:solidFill>
                <a:srgbClr val="845AD9"/>
              </a:solidFill>
              <a:prstDash val="solid"/>
              <a:round/>
              <a:headEnd len="med" w="med" type="none"/>
              <a:tailEnd len="med" w="med" type="none"/>
            </a:ln>
          </p:spPr>
        </p:cxnSp>
      </p:grpSp>
      <p:sp>
        <p:nvSpPr>
          <p:cNvPr id="791" name="Google Shape;791;p69"/>
          <p:cNvSpPr txBox="1"/>
          <p:nvPr/>
        </p:nvSpPr>
        <p:spPr>
          <a:xfrm>
            <a:off x="4120302" y="2172250"/>
            <a:ext cx="12471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Lexend"/>
                <a:ea typeface="Lexend"/>
                <a:cs typeface="Lexend"/>
                <a:sym typeface="Lexend"/>
              </a:rPr>
              <a:t>( …. )</a:t>
            </a:r>
            <a:endParaRPr sz="2000">
              <a:latin typeface="Lexend"/>
              <a:ea typeface="Lexend"/>
              <a:cs typeface="Lexend"/>
              <a:sym typeface="Lexend"/>
            </a:endParaRPr>
          </a:p>
        </p:txBody>
      </p:sp>
      <p:grpSp>
        <p:nvGrpSpPr>
          <p:cNvPr id="792" name="Google Shape;792;p69"/>
          <p:cNvGrpSpPr/>
          <p:nvPr/>
        </p:nvGrpSpPr>
        <p:grpSpPr>
          <a:xfrm>
            <a:off x="4500978" y="2662725"/>
            <a:ext cx="817925" cy="656513"/>
            <a:chOff x="1546176" y="2521625"/>
            <a:chExt cx="817925" cy="656513"/>
          </a:xfrm>
        </p:grpSpPr>
        <p:sp>
          <p:nvSpPr>
            <p:cNvPr id="793" name="Google Shape;793;p69"/>
            <p:cNvSpPr txBox="1"/>
            <p:nvPr/>
          </p:nvSpPr>
          <p:spPr>
            <a:xfrm>
              <a:off x="1873601" y="2521625"/>
              <a:ext cx="4905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latin typeface="Lexend"/>
                  <a:ea typeface="Lexend"/>
                  <a:cs typeface="Lexend"/>
                  <a:sym typeface="Lexend"/>
                </a:rPr>
                <a:t>⬚</a:t>
              </a:r>
              <a:endParaRPr b="1" sz="2000">
                <a:latin typeface="Lexend"/>
                <a:ea typeface="Lexend"/>
                <a:cs typeface="Lexend"/>
                <a:sym typeface="Lexend"/>
              </a:endParaRPr>
            </a:p>
          </p:txBody>
        </p:sp>
        <p:sp>
          <p:nvSpPr>
            <p:cNvPr id="794" name="Google Shape;794;p69"/>
            <p:cNvSpPr txBox="1"/>
            <p:nvPr/>
          </p:nvSpPr>
          <p:spPr>
            <a:xfrm>
              <a:off x="1546176" y="2641138"/>
              <a:ext cx="4905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3100">
                  <a:latin typeface="Lexend"/>
                  <a:ea typeface="Lexend"/>
                  <a:cs typeface="Lexend"/>
                  <a:sym typeface="Lexend"/>
                </a:rPr>
                <a:t>⬚</a:t>
              </a:r>
              <a:endParaRPr b="1" sz="3100">
                <a:latin typeface="Lexend"/>
                <a:ea typeface="Lexend"/>
                <a:cs typeface="Lexend"/>
                <a:sym typeface="Lexend"/>
              </a:endParaRPr>
            </a:p>
          </p:txBody>
        </p:sp>
      </p:grpSp>
      <p:grpSp>
        <p:nvGrpSpPr>
          <p:cNvPr id="795" name="Google Shape;795;p69"/>
          <p:cNvGrpSpPr/>
          <p:nvPr/>
        </p:nvGrpSpPr>
        <p:grpSpPr>
          <a:xfrm>
            <a:off x="3734648" y="2700785"/>
            <a:ext cx="627511" cy="537000"/>
            <a:chOff x="3734648" y="2776985"/>
            <a:chExt cx="627511" cy="537000"/>
          </a:xfrm>
        </p:grpSpPr>
        <p:pic>
          <p:nvPicPr>
            <p:cNvPr descr="&lt;math xmlns=&quot;http://www.w3.org/1998/Math/MathML&quot; display=&quot;block&quot; data-is-equatio=&quot;1&quot; data-latex=&quot;\begin{array}{l}\sqrt[\ \ ]{\ \ \ }\\&amp;#13;&amp;#10;\end{array}&quot;&gt;&lt;mtable columnalign=&quot;left&quot; columnspacing=&quot;1em&quot; rowspacing=&quot;4pt&quot;&gt;&lt;mtr&gt;&lt;mtd&gt;&lt;mroot&gt;&lt;mrow&gt;&lt;mtext&gt;&lt;/mtext&gt;&lt;mtext&gt;&lt;/mtext&gt;&lt;mtext&gt;&lt;/mtext&gt;&lt;/mrow&gt;&lt;mrow&gt;&lt;mtext&gt;&lt;/mtext&gt;&lt;mtext&gt;&lt;/mtext&gt;&lt;/mrow&gt;&lt;/mroot&gt;&lt;/mtd&gt;&lt;/mtr&gt;&lt;/mtable&gt;&lt;/math&gt;" id="796" name="Google Shape;796;p69" title="1 lines Line 1: the root of"/>
            <p:cNvPicPr preferRelativeResize="0"/>
            <p:nvPr/>
          </p:nvPicPr>
          <p:blipFill>
            <a:blip r:embed="rId3">
              <a:alphaModFix/>
            </a:blip>
            <a:stretch>
              <a:fillRect/>
            </a:stretch>
          </p:blipFill>
          <p:spPr>
            <a:xfrm>
              <a:off x="3871597" y="2929810"/>
              <a:ext cx="490562" cy="384175"/>
            </a:xfrm>
            <a:prstGeom prst="rect">
              <a:avLst/>
            </a:prstGeom>
            <a:noFill/>
            <a:ln>
              <a:noFill/>
            </a:ln>
          </p:spPr>
        </p:pic>
        <p:sp>
          <p:nvSpPr>
            <p:cNvPr id="797" name="Google Shape;797;p69"/>
            <p:cNvSpPr txBox="1"/>
            <p:nvPr/>
          </p:nvSpPr>
          <p:spPr>
            <a:xfrm>
              <a:off x="3734648" y="2776985"/>
              <a:ext cx="4905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latin typeface="Lexend"/>
                  <a:ea typeface="Lexend"/>
                  <a:cs typeface="Lexend"/>
                  <a:sym typeface="Lexend"/>
                </a:rPr>
                <a:t>⬚</a:t>
              </a:r>
              <a:endParaRPr sz="1700">
                <a:latin typeface="Lexend"/>
                <a:ea typeface="Lexend"/>
                <a:cs typeface="Lexend"/>
                <a:sym typeface="Lexend"/>
              </a:endParaRPr>
            </a:p>
          </p:txBody>
        </p:sp>
      </p:grpSp>
      <p:sp>
        <p:nvSpPr>
          <p:cNvPr id="798" name="Google Shape;798;p69"/>
          <p:cNvSpPr txBox="1"/>
          <p:nvPr/>
        </p:nvSpPr>
        <p:spPr>
          <a:xfrm>
            <a:off x="3691500" y="3237775"/>
            <a:ext cx="2082900" cy="65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4700">
                <a:latin typeface="Lexend"/>
                <a:ea typeface="Lexend"/>
                <a:cs typeface="Lexend"/>
                <a:sym typeface="Lexend"/>
              </a:rPr>
              <a:t>×    ÷</a:t>
            </a:r>
            <a:endParaRPr sz="4700">
              <a:latin typeface="Lexend"/>
              <a:ea typeface="Lexend"/>
              <a:cs typeface="Lexend"/>
              <a:sym typeface="Lexend"/>
            </a:endParaRPr>
          </a:p>
        </p:txBody>
      </p:sp>
      <p:sp>
        <p:nvSpPr>
          <p:cNvPr id="799" name="Google Shape;799;p69"/>
          <p:cNvSpPr txBox="1"/>
          <p:nvPr/>
        </p:nvSpPr>
        <p:spPr>
          <a:xfrm>
            <a:off x="3637750" y="3894175"/>
            <a:ext cx="2082900" cy="65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4700">
                <a:latin typeface="Lexend"/>
                <a:ea typeface="Lexend"/>
                <a:cs typeface="Lexend"/>
                <a:sym typeface="Lexend"/>
              </a:rPr>
              <a:t>+    −</a:t>
            </a:r>
            <a:endParaRPr sz="4700">
              <a:latin typeface="Lexend"/>
              <a:ea typeface="Lexend"/>
              <a:cs typeface="Lexend"/>
              <a:sym typeface="Lexend"/>
            </a:endParaRPr>
          </a:p>
        </p:txBody>
      </p:sp>
      <p:sp>
        <p:nvSpPr>
          <p:cNvPr id="800" name="Google Shape;800;p69"/>
          <p:cNvSpPr/>
          <p:nvPr/>
        </p:nvSpPr>
        <p:spPr>
          <a:xfrm>
            <a:off x="6819350" y="1834368"/>
            <a:ext cx="432900" cy="656400"/>
          </a:xfrm>
          <a:prstGeom prst="downArrow">
            <a:avLst>
              <a:gd fmla="val 50000" name="adj1"/>
              <a:gd fmla="val 50000" name="adj2"/>
            </a:avLst>
          </a:prstGeom>
          <a:no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01" name="Google Shape;801;p69"/>
          <p:cNvSpPr/>
          <p:nvPr/>
        </p:nvSpPr>
        <p:spPr>
          <a:xfrm>
            <a:off x="6819350" y="2566968"/>
            <a:ext cx="432900" cy="656400"/>
          </a:xfrm>
          <a:prstGeom prst="downArrow">
            <a:avLst>
              <a:gd fmla="val 50000" name="adj1"/>
              <a:gd fmla="val 50000" name="adj2"/>
            </a:avLst>
          </a:prstGeom>
          <a:no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02" name="Google Shape;802;p69"/>
          <p:cNvSpPr/>
          <p:nvPr/>
        </p:nvSpPr>
        <p:spPr>
          <a:xfrm>
            <a:off x="6819350" y="3361343"/>
            <a:ext cx="432900" cy="656400"/>
          </a:xfrm>
          <a:prstGeom prst="downArrow">
            <a:avLst>
              <a:gd fmla="val 50000" name="adj1"/>
              <a:gd fmla="val 50000" name="adj2"/>
            </a:avLst>
          </a:prstGeom>
          <a:no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03" name="Google Shape;803;p69"/>
          <p:cNvSpPr/>
          <p:nvPr/>
        </p:nvSpPr>
        <p:spPr>
          <a:xfrm>
            <a:off x="6819350" y="4143293"/>
            <a:ext cx="432900" cy="656400"/>
          </a:xfrm>
          <a:prstGeom prst="downArrow">
            <a:avLst>
              <a:gd fmla="val 50000" name="adj1"/>
              <a:gd fmla="val 50000" name="adj2"/>
            </a:avLst>
          </a:prstGeom>
          <a:no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04" name="Google Shape;804;p69"/>
          <p:cNvSpPr txBox="1"/>
          <p:nvPr/>
        </p:nvSpPr>
        <p:spPr>
          <a:xfrm>
            <a:off x="324000" y="759300"/>
            <a:ext cx="8431800" cy="108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100">
                <a:solidFill>
                  <a:srgbClr val="000000"/>
                </a:solidFill>
                <a:latin typeface="Lexend"/>
                <a:ea typeface="Lexend"/>
                <a:cs typeface="Lexend"/>
                <a:sym typeface="Lexend"/>
              </a:rPr>
              <a:t>The priority of operations is important as it ensures that everyone can understand and approach a mathematical problem the same way. </a:t>
            </a:r>
            <a:endParaRPr sz="2100">
              <a:solidFill>
                <a:srgbClr val="000000"/>
              </a:solidFill>
              <a:latin typeface="Lexend"/>
              <a:ea typeface="Lexend"/>
              <a:cs typeface="Lexend"/>
              <a:sym typeface="Lexend"/>
            </a:endParaRPr>
          </a:p>
        </p:txBody>
      </p:sp>
      <p:sp>
        <p:nvSpPr>
          <p:cNvPr id="805" name="Google Shape;805;p69"/>
          <p:cNvSpPr txBox="1"/>
          <p:nvPr/>
        </p:nvSpPr>
        <p:spPr>
          <a:xfrm>
            <a:off x="324000" y="2160000"/>
            <a:ext cx="3045600" cy="16230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2100">
                <a:solidFill>
                  <a:schemeClr val="dk1"/>
                </a:solidFill>
                <a:latin typeface="Lexend"/>
                <a:ea typeface="Lexend"/>
                <a:cs typeface="Lexend"/>
                <a:sym typeface="Lexend"/>
              </a:rPr>
              <a:t>This applies to positive and negative </a:t>
            </a:r>
            <a:r>
              <a:rPr lang="en-GB" sz="2100">
                <a:solidFill>
                  <a:schemeClr val="dk1"/>
                </a:solidFill>
                <a:latin typeface="Lexend"/>
                <a:ea typeface="Lexend"/>
                <a:cs typeface="Lexend"/>
                <a:sym typeface="Lexend"/>
              </a:rPr>
              <a:t>integers, fractions and decimals.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Reviewing priority of operations</a:t>
            </a:r>
            <a:endParaRPr/>
          </a:p>
        </p:txBody>
      </p:sp>
      <p:sp>
        <p:nvSpPr>
          <p:cNvPr id="811" name="Google Shape;811;p70"/>
          <p:cNvSpPr txBox="1"/>
          <p:nvPr/>
        </p:nvSpPr>
        <p:spPr>
          <a:xfrm>
            <a:off x="324000" y="683100"/>
            <a:ext cx="8431800" cy="108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100">
                <a:latin typeface="Lexend"/>
                <a:ea typeface="Lexend"/>
                <a:cs typeface="Lexend"/>
                <a:sym typeface="Lexend"/>
              </a:rPr>
              <a:t>When using the priority of operations, a preferred method for the row of addition and subtraction, is to simply use addition with the additive inverses.</a:t>
            </a:r>
            <a:endParaRPr sz="2100">
              <a:solidFill>
                <a:srgbClr val="000000"/>
              </a:solidFill>
              <a:latin typeface="Lexend"/>
              <a:ea typeface="Lexend"/>
              <a:cs typeface="Lexend"/>
              <a:sym typeface="Lexend"/>
            </a:endParaRPr>
          </a:p>
        </p:txBody>
      </p:sp>
      <p:grpSp>
        <p:nvGrpSpPr>
          <p:cNvPr id="812" name="Google Shape;812;p70"/>
          <p:cNvGrpSpPr/>
          <p:nvPr/>
        </p:nvGrpSpPr>
        <p:grpSpPr>
          <a:xfrm>
            <a:off x="525984" y="2186277"/>
            <a:ext cx="3131902" cy="2310490"/>
            <a:chOff x="700147" y="1855128"/>
            <a:chExt cx="3916346" cy="2889197"/>
          </a:xfrm>
        </p:grpSpPr>
        <p:grpSp>
          <p:nvGrpSpPr>
            <p:cNvPr id="813" name="Google Shape;813;p70"/>
            <p:cNvGrpSpPr/>
            <p:nvPr/>
          </p:nvGrpSpPr>
          <p:grpSpPr>
            <a:xfrm>
              <a:off x="700147" y="1855128"/>
              <a:ext cx="3916346" cy="2889197"/>
              <a:chOff x="2529025" y="1931250"/>
              <a:chExt cx="3584100" cy="2617500"/>
            </a:xfrm>
          </p:grpSpPr>
          <p:sp>
            <p:nvSpPr>
              <p:cNvPr id="814" name="Google Shape;814;p70"/>
              <p:cNvSpPr/>
              <p:nvPr/>
            </p:nvSpPr>
            <p:spPr>
              <a:xfrm>
                <a:off x="2529025" y="1931250"/>
                <a:ext cx="3584100" cy="2617500"/>
              </a:xfrm>
              <a:prstGeom prst="triangle">
                <a:avLst>
                  <a:gd fmla="val 50000" name="adj"/>
                </a:avLst>
              </a:prstGeom>
              <a:no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15" name="Google Shape;815;p70"/>
              <p:cNvCxnSpPr/>
              <p:nvPr/>
            </p:nvCxnSpPr>
            <p:spPr>
              <a:xfrm>
                <a:off x="3766742" y="2706800"/>
                <a:ext cx="1095900" cy="0"/>
              </a:xfrm>
              <a:prstGeom prst="straightConnector1">
                <a:avLst/>
              </a:prstGeom>
              <a:noFill/>
              <a:ln cap="flat" cmpd="sng" w="38100">
                <a:solidFill>
                  <a:srgbClr val="845AD9"/>
                </a:solidFill>
                <a:prstDash val="solid"/>
                <a:round/>
                <a:headEnd len="med" w="med" type="none"/>
                <a:tailEnd len="med" w="med" type="none"/>
              </a:ln>
            </p:spPr>
          </p:cxnSp>
          <p:cxnSp>
            <p:nvCxnSpPr>
              <p:cNvPr id="816" name="Google Shape;816;p70"/>
              <p:cNvCxnSpPr/>
              <p:nvPr/>
            </p:nvCxnSpPr>
            <p:spPr>
              <a:xfrm>
                <a:off x="3369600" y="3320300"/>
                <a:ext cx="1899300" cy="0"/>
              </a:xfrm>
              <a:prstGeom prst="straightConnector1">
                <a:avLst/>
              </a:prstGeom>
              <a:noFill/>
              <a:ln cap="flat" cmpd="sng" w="38100">
                <a:solidFill>
                  <a:srgbClr val="845AD9"/>
                </a:solidFill>
                <a:prstDash val="solid"/>
                <a:round/>
                <a:headEnd len="med" w="med" type="none"/>
                <a:tailEnd len="med" w="med" type="none"/>
              </a:ln>
            </p:spPr>
          </p:cxnSp>
          <p:cxnSp>
            <p:nvCxnSpPr>
              <p:cNvPr id="817" name="Google Shape;817;p70"/>
              <p:cNvCxnSpPr/>
              <p:nvPr/>
            </p:nvCxnSpPr>
            <p:spPr>
              <a:xfrm flipH="1" rot="10800000">
                <a:off x="2996850" y="3910986"/>
                <a:ext cx="2653800" cy="3900"/>
              </a:xfrm>
              <a:prstGeom prst="straightConnector1">
                <a:avLst/>
              </a:prstGeom>
              <a:noFill/>
              <a:ln cap="flat" cmpd="sng" w="38100">
                <a:solidFill>
                  <a:srgbClr val="845AD9"/>
                </a:solidFill>
                <a:prstDash val="solid"/>
                <a:round/>
                <a:headEnd len="med" w="med" type="none"/>
                <a:tailEnd len="med" w="med" type="none"/>
              </a:ln>
            </p:spPr>
          </p:cxnSp>
        </p:grpSp>
        <p:sp>
          <p:nvSpPr>
            <p:cNvPr id="818" name="Google Shape;818;p70"/>
            <p:cNvSpPr txBox="1"/>
            <p:nvPr/>
          </p:nvSpPr>
          <p:spPr>
            <a:xfrm>
              <a:off x="2223184" y="2145282"/>
              <a:ext cx="12471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Lexend"/>
                  <a:ea typeface="Lexend"/>
                  <a:cs typeface="Lexend"/>
                  <a:sym typeface="Lexend"/>
                </a:rPr>
                <a:t>( …. )</a:t>
              </a:r>
              <a:endParaRPr sz="2000">
                <a:latin typeface="Lexend"/>
                <a:ea typeface="Lexend"/>
                <a:cs typeface="Lexend"/>
                <a:sym typeface="Lexend"/>
              </a:endParaRPr>
            </a:p>
          </p:txBody>
        </p:sp>
        <p:grpSp>
          <p:nvGrpSpPr>
            <p:cNvPr id="819" name="Google Shape;819;p70"/>
            <p:cNvGrpSpPr/>
            <p:nvPr/>
          </p:nvGrpSpPr>
          <p:grpSpPr>
            <a:xfrm>
              <a:off x="2537340" y="2581822"/>
              <a:ext cx="844893" cy="669996"/>
              <a:chOff x="1411338" y="2440722"/>
              <a:chExt cx="844893" cy="669996"/>
            </a:xfrm>
          </p:grpSpPr>
          <p:sp>
            <p:nvSpPr>
              <p:cNvPr id="820" name="Google Shape;820;p70"/>
              <p:cNvSpPr txBox="1"/>
              <p:nvPr/>
            </p:nvSpPr>
            <p:spPr>
              <a:xfrm>
                <a:off x="1765730" y="2440722"/>
                <a:ext cx="4905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latin typeface="Lexend"/>
                    <a:ea typeface="Lexend"/>
                    <a:cs typeface="Lexend"/>
                    <a:sym typeface="Lexend"/>
                  </a:rPr>
                  <a:t>⬚</a:t>
                </a:r>
                <a:endParaRPr b="1" sz="2000">
                  <a:latin typeface="Lexend"/>
                  <a:ea typeface="Lexend"/>
                  <a:cs typeface="Lexend"/>
                  <a:sym typeface="Lexend"/>
                </a:endParaRPr>
              </a:p>
            </p:txBody>
          </p:sp>
          <p:sp>
            <p:nvSpPr>
              <p:cNvPr id="821" name="Google Shape;821;p70"/>
              <p:cNvSpPr txBox="1"/>
              <p:nvPr/>
            </p:nvSpPr>
            <p:spPr>
              <a:xfrm>
                <a:off x="1411338" y="2573718"/>
                <a:ext cx="4905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3100">
                    <a:latin typeface="Lexend"/>
                    <a:ea typeface="Lexend"/>
                    <a:cs typeface="Lexend"/>
                    <a:sym typeface="Lexend"/>
                  </a:rPr>
                  <a:t>⬚</a:t>
                </a:r>
                <a:endParaRPr b="1" sz="3100">
                  <a:latin typeface="Lexend"/>
                  <a:ea typeface="Lexend"/>
                  <a:cs typeface="Lexend"/>
                  <a:sym typeface="Lexend"/>
                </a:endParaRPr>
              </a:p>
            </p:txBody>
          </p:sp>
        </p:grpSp>
        <p:grpSp>
          <p:nvGrpSpPr>
            <p:cNvPr id="822" name="Google Shape;822;p70"/>
            <p:cNvGrpSpPr/>
            <p:nvPr/>
          </p:nvGrpSpPr>
          <p:grpSpPr>
            <a:xfrm>
              <a:off x="1905848" y="2700785"/>
              <a:ext cx="627511" cy="537000"/>
              <a:chOff x="3734648" y="2776985"/>
              <a:chExt cx="627511" cy="537000"/>
            </a:xfrm>
          </p:grpSpPr>
          <p:pic>
            <p:nvPicPr>
              <p:cNvPr descr="&lt;math xmlns=&quot;http://www.w3.org/1998/Math/MathML&quot; display=&quot;block&quot; data-is-equatio=&quot;1&quot; data-latex=&quot;\begin{array}{l}\sqrt[\ \ ]{\ \ \ }\\&amp;#13;&amp;#10;\end{array}&quot;&gt;&lt;mtable columnalign=&quot;left&quot; columnspacing=&quot;1em&quot; rowspacing=&quot;4pt&quot;&gt;&lt;mtr&gt;&lt;mtd&gt;&lt;mroot&gt;&lt;mrow&gt;&lt;mtext&gt;&lt;/mtext&gt;&lt;mtext&gt;&lt;/mtext&gt;&lt;mtext&gt;&lt;/mtext&gt;&lt;/mrow&gt;&lt;mrow&gt;&lt;mtext&gt;&lt;/mtext&gt;&lt;mtext&gt;&lt;/mtext&gt;&lt;/mrow&gt;&lt;/mroot&gt;&lt;/mtd&gt;&lt;/mtr&gt;&lt;/mtable&gt;&lt;/math&gt;" id="823" name="Google Shape;823;p70" title="1 lines Line 1: the root of"/>
              <p:cNvPicPr preferRelativeResize="0"/>
              <p:nvPr/>
            </p:nvPicPr>
            <p:blipFill>
              <a:blip r:embed="rId3">
                <a:alphaModFix/>
              </a:blip>
              <a:stretch>
                <a:fillRect/>
              </a:stretch>
            </p:blipFill>
            <p:spPr>
              <a:xfrm>
                <a:off x="3871597" y="2929810"/>
                <a:ext cx="490562" cy="384175"/>
              </a:xfrm>
              <a:prstGeom prst="rect">
                <a:avLst/>
              </a:prstGeom>
              <a:noFill/>
              <a:ln>
                <a:noFill/>
              </a:ln>
            </p:spPr>
          </p:pic>
          <p:sp>
            <p:nvSpPr>
              <p:cNvPr id="824" name="Google Shape;824;p70"/>
              <p:cNvSpPr txBox="1"/>
              <p:nvPr/>
            </p:nvSpPr>
            <p:spPr>
              <a:xfrm>
                <a:off x="3734648" y="2776985"/>
                <a:ext cx="4905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latin typeface="Lexend"/>
                    <a:ea typeface="Lexend"/>
                    <a:cs typeface="Lexend"/>
                    <a:sym typeface="Lexend"/>
                  </a:rPr>
                  <a:t>⬚</a:t>
                </a:r>
                <a:endParaRPr sz="1700">
                  <a:latin typeface="Lexend"/>
                  <a:ea typeface="Lexend"/>
                  <a:cs typeface="Lexend"/>
                  <a:sym typeface="Lexend"/>
                </a:endParaRPr>
              </a:p>
            </p:txBody>
          </p:sp>
        </p:grpSp>
        <p:sp>
          <p:nvSpPr>
            <p:cNvPr id="825" name="Google Shape;825;p70"/>
            <p:cNvSpPr txBox="1"/>
            <p:nvPr/>
          </p:nvSpPr>
          <p:spPr>
            <a:xfrm>
              <a:off x="1862700" y="3156872"/>
              <a:ext cx="2082900" cy="65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4700">
                  <a:latin typeface="Lexend"/>
                  <a:ea typeface="Lexend"/>
                  <a:cs typeface="Lexend"/>
                  <a:sym typeface="Lexend"/>
                </a:rPr>
                <a:t>×    ÷</a:t>
              </a:r>
              <a:endParaRPr sz="4700">
                <a:latin typeface="Lexend"/>
                <a:ea typeface="Lexend"/>
                <a:cs typeface="Lexend"/>
                <a:sym typeface="Lexend"/>
              </a:endParaRPr>
            </a:p>
          </p:txBody>
        </p:sp>
        <p:sp>
          <p:nvSpPr>
            <p:cNvPr id="826" name="Google Shape;826;p70"/>
            <p:cNvSpPr txBox="1"/>
            <p:nvPr/>
          </p:nvSpPr>
          <p:spPr>
            <a:xfrm>
              <a:off x="1808950" y="3826756"/>
              <a:ext cx="2082900" cy="65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4700">
                  <a:latin typeface="Lexend"/>
                  <a:ea typeface="Lexend"/>
                  <a:cs typeface="Lexend"/>
                  <a:sym typeface="Lexend"/>
                </a:rPr>
                <a:t>+    −</a:t>
              </a:r>
              <a:endParaRPr sz="4700">
                <a:latin typeface="Lexend"/>
                <a:ea typeface="Lexend"/>
                <a:cs typeface="Lexend"/>
                <a:sym typeface="Lexend"/>
              </a:endParaRPr>
            </a:p>
          </p:txBody>
        </p:sp>
        <p:sp>
          <p:nvSpPr>
            <p:cNvPr id="827" name="Google Shape;827;p70"/>
            <p:cNvSpPr/>
            <p:nvPr/>
          </p:nvSpPr>
          <p:spPr>
            <a:xfrm>
              <a:off x="1905836" y="4204330"/>
              <a:ext cx="490500" cy="490500"/>
            </a:xfrm>
            <a:prstGeom prst="ellipse">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828" name="Google Shape;828;p70"/>
          <p:cNvSpPr txBox="1"/>
          <p:nvPr/>
        </p:nvSpPr>
        <p:spPr>
          <a:xfrm>
            <a:off x="4043300" y="2120325"/>
            <a:ext cx="6195600" cy="378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100">
                <a:solidFill>
                  <a:srgbClr val="000000"/>
                </a:solidFill>
                <a:latin typeface="Lexend"/>
                <a:ea typeface="Lexend"/>
                <a:cs typeface="Lexend"/>
                <a:sym typeface="Lexend"/>
              </a:rPr>
              <a:t>Example</a:t>
            </a:r>
            <a:endParaRPr sz="2100">
              <a:solidFill>
                <a:srgbClr val="000000"/>
              </a:solidFill>
              <a:latin typeface="Lexend"/>
              <a:ea typeface="Lexend"/>
              <a:cs typeface="Lexend"/>
              <a:sym typeface="Lexend"/>
            </a:endParaRPr>
          </a:p>
        </p:txBody>
      </p:sp>
      <p:cxnSp>
        <p:nvCxnSpPr>
          <p:cNvPr id="829" name="Google Shape;829;p70"/>
          <p:cNvCxnSpPr/>
          <p:nvPr/>
        </p:nvCxnSpPr>
        <p:spPr>
          <a:xfrm>
            <a:off x="6496463" y="2856450"/>
            <a:ext cx="0" cy="1296900"/>
          </a:xfrm>
          <a:prstGeom prst="straightConnector1">
            <a:avLst/>
          </a:prstGeom>
          <a:noFill/>
          <a:ln cap="flat" cmpd="sng" w="28575">
            <a:solidFill>
              <a:srgbClr val="845AD9"/>
            </a:solidFill>
            <a:prstDash val="solid"/>
            <a:round/>
            <a:headEnd len="med" w="med" type="none"/>
            <a:tailEnd len="med" w="med" type="triangle"/>
          </a:ln>
        </p:spPr>
      </p:cxnSp>
      <p:cxnSp>
        <p:nvCxnSpPr>
          <p:cNvPr id="830" name="Google Shape;830;p70"/>
          <p:cNvCxnSpPr/>
          <p:nvPr/>
        </p:nvCxnSpPr>
        <p:spPr>
          <a:xfrm>
            <a:off x="8128142" y="2827742"/>
            <a:ext cx="0" cy="1249500"/>
          </a:xfrm>
          <a:prstGeom prst="straightConnector1">
            <a:avLst/>
          </a:prstGeom>
          <a:noFill/>
          <a:ln cap="flat" cmpd="sng" w="28575">
            <a:solidFill>
              <a:srgbClr val="845AD9"/>
            </a:solidFill>
            <a:prstDash val="solid"/>
            <a:round/>
            <a:headEnd len="med" w="med" type="none"/>
            <a:tailEnd len="med" w="med" type="triangle"/>
          </a:ln>
        </p:spPr>
      </p:cxnSp>
      <p:pic>
        <p:nvPicPr>
          <p:cNvPr id="831" name="Google Shape;831;p70"/>
          <p:cNvPicPr preferRelativeResize="0"/>
          <p:nvPr/>
        </p:nvPicPr>
        <p:blipFill rotWithShape="1">
          <a:blip r:embed="rId4">
            <a:alphaModFix/>
          </a:blip>
          <a:srcRect b="52487" l="0" r="0" t="0"/>
          <a:stretch/>
        </p:blipFill>
        <p:spPr>
          <a:xfrm>
            <a:off x="5689175" y="2127850"/>
            <a:ext cx="3973505" cy="613500"/>
          </a:xfrm>
          <a:prstGeom prst="rect">
            <a:avLst/>
          </a:prstGeom>
          <a:noFill/>
          <a:ln>
            <a:noFill/>
          </a:ln>
        </p:spPr>
      </p:pic>
      <p:pic>
        <p:nvPicPr>
          <p:cNvPr id="832" name="Google Shape;832;p70"/>
          <p:cNvPicPr preferRelativeResize="0"/>
          <p:nvPr/>
        </p:nvPicPr>
        <p:blipFill rotWithShape="1">
          <a:blip r:embed="rId4">
            <a:alphaModFix/>
          </a:blip>
          <a:srcRect b="-4104" l="6967" r="58022" t="51945"/>
          <a:stretch/>
        </p:blipFill>
        <p:spPr>
          <a:xfrm>
            <a:off x="5219775" y="3106100"/>
            <a:ext cx="1109245" cy="537000"/>
          </a:xfrm>
          <a:prstGeom prst="rect">
            <a:avLst/>
          </a:prstGeom>
          <a:noFill/>
          <a:ln>
            <a:noFill/>
          </a:ln>
        </p:spPr>
      </p:pic>
      <p:pic>
        <p:nvPicPr>
          <p:cNvPr id="833" name="Google Shape;833;p70"/>
          <p:cNvPicPr preferRelativeResize="0"/>
          <p:nvPr/>
        </p:nvPicPr>
        <p:blipFill rotWithShape="1">
          <a:blip r:embed="rId4">
            <a:alphaModFix/>
          </a:blip>
          <a:srcRect b="-3360" l="63372" r="-4105" t="43769"/>
          <a:stretch/>
        </p:blipFill>
        <p:spPr>
          <a:xfrm>
            <a:off x="6791267" y="3034782"/>
            <a:ext cx="1290550" cy="613500"/>
          </a:xfrm>
          <a:prstGeom prst="rect">
            <a:avLst/>
          </a:prstGeom>
          <a:noFill/>
          <a:ln>
            <a:noFill/>
          </a:ln>
        </p:spPr>
      </p:pic>
      <p:pic>
        <p:nvPicPr>
          <p:cNvPr id="834" name="Google Shape;834;p70"/>
          <p:cNvPicPr preferRelativeResize="0"/>
          <p:nvPr/>
        </p:nvPicPr>
        <p:blipFill rotWithShape="1">
          <a:blip r:embed="rId4">
            <a:alphaModFix/>
          </a:blip>
          <a:srcRect b="-10985" l="-1567" r="-5042" t="49990"/>
          <a:stretch/>
        </p:blipFill>
        <p:spPr>
          <a:xfrm>
            <a:off x="5132288" y="4165575"/>
            <a:ext cx="3531300" cy="656525"/>
          </a:xfrm>
          <a:prstGeom prst="rect">
            <a:avLst/>
          </a:prstGeom>
          <a:noFill/>
          <a:ln>
            <a:noFill/>
          </a:ln>
        </p:spPr>
      </p:pic>
      <p:sp>
        <p:nvSpPr>
          <p:cNvPr id="835" name="Google Shape;835;p70"/>
          <p:cNvSpPr/>
          <p:nvPr/>
        </p:nvSpPr>
        <p:spPr>
          <a:xfrm>
            <a:off x="2513123" y="4054151"/>
            <a:ext cx="392400" cy="392400"/>
          </a:xfrm>
          <a:prstGeom prst="ellipse">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Reviewing priority of operations</a:t>
            </a:r>
            <a:endParaRPr/>
          </a:p>
        </p:txBody>
      </p:sp>
      <p:sp>
        <p:nvSpPr>
          <p:cNvPr id="841" name="Google Shape;841;p71"/>
          <p:cNvSpPr txBox="1"/>
          <p:nvPr/>
        </p:nvSpPr>
        <p:spPr>
          <a:xfrm>
            <a:off x="324000" y="683100"/>
            <a:ext cx="8431800" cy="108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100">
                <a:latin typeface="Lexend"/>
                <a:ea typeface="Lexend"/>
                <a:cs typeface="Lexend"/>
                <a:sym typeface="Lexend"/>
              </a:rPr>
              <a:t>When using the priority of operations, a preferred method for the row of addition and subtraction, is to simply use addition with the additive inverses.</a:t>
            </a:r>
            <a:endParaRPr sz="2100">
              <a:solidFill>
                <a:srgbClr val="000000"/>
              </a:solidFill>
              <a:latin typeface="Lexend"/>
              <a:ea typeface="Lexend"/>
              <a:cs typeface="Lexend"/>
              <a:sym typeface="Lexend"/>
            </a:endParaRPr>
          </a:p>
        </p:txBody>
      </p:sp>
      <p:sp>
        <p:nvSpPr>
          <p:cNvPr id="842" name="Google Shape;842;p71"/>
          <p:cNvSpPr txBox="1"/>
          <p:nvPr/>
        </p:nvSpPr>
        <p:spPr>
          <a:xfrm>
            <a:off x="3234464" y="1699019"/>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Summing the positives</a:t>
            </a:r>
            <a:endParaRPr sz="1100">
              <a:solidFill>
                <a:srgbClr val="000000"/>
              </a:solidFill>
            </a:endParaRPr>
          </a:p>
        </p:txBody>
      </p:sp>
      <p:sp>
        <p:nvSpPr>
          <p:cNvPr id="843" name="Google Shape;843;p71"/>
          <p:cNvSpPr txBox="1"/>
          <p:nvPr/>
        </p:nvSpPr>
        <p:spPr>
          <a:xfrm>
            <a:off x="5962064" y="1699006"/>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Summing the negatives</a:t>
            </a:r>
            <a:endParaRPr sz="1100">
              <a:solidFill>
                <a:srgbClr val="000000"/>
              </a:solidFill>
            </a:endParaRPr>
          </a:p>
        </p:txBody>
      </p:sp>
      <p:pic>
        <p:nvPicPr>
          <p:cNvPr descr="&lt;math xmlns=&quot;http://www.w3.org/1998/Math/MathML&quot; display=&quot;block&quot; data-is-equatio=&quot;1&quot; data-latex=&quot;\begin{array}{l}\frac{3}{4}+\frac{3}{8}\ =\ \frac{6}{8}+\frac{3}{8}=\frac{9}{8}\\&amp;#13;&amp;#10;\\&amp;#13;&amp;#10;\left(-\frac{2}{5}\right)+\left(-\frac{1}{10}\right)=\left(-\frac{4}{10}\right)+\left(-\frac{1}{10}\right)=\left(-\frac{5}{10}\right)=\left(-\frac{1}{2}\right)\end{array}&quot;&gt;&lt;mtable columnalign=&quot;left&quot; columnspacing=&quot;1em&quot; rowspacing=&quot;4pt&quot;&gt;&lt;mtr&gt;&lt;mtd&gt;&lt;mfrac&gt;&lt;mn&gt;3&lt;/mn&gt;&lt;mn&gt;4&lt;/mn&gt;&lt;/mfrac&gt;&lt;mo&gt;+&lt;/mo&gt;&lt;mfrac&gt;&lt;mn&gt;3&lt;/mn&gt;&lt;mn&gt;8&lt;/mn&gt;&lt;/mfrac&gt;&lt;mtext&gt;&lt;/mtext&gt;&lt;mo&gt;=&lt;/mo&gt;&lt;mtext&gt;&lt;/mtext&gt;&lt;mfrac&gt;&lt;mn&gt;6&lt;/mn&gt;&lt;mn&gt;8&lt;/mn&gt;&lt;/mfrac&gt;&lt;mo&gt;+&lt;/mo&gt;&lt;mfrac&gt;&lt;mn&gt;3&lt;/mn&gt;&lt;mn&gt;8&lt;/mn&gt;&lt;/mfrac&gt;&lt;mo&gt;=&lt;/mo&gt;&lt;mfrac&gt;&lt;mn&gt;9&lt;/mn&gt;&lt;mn&gt;8&lt;/mn&gt;&lt;/mfrac&gt;&lt;/mtd&gt;&lt;/mtr&gt;&lt;mtr&gt;&lt;mtd/&gt;&lt;/mtr&gt;&lt;mtr&gt;&lt;mtd&gt;&lt;mrow data-mjx-texclass=&quot;INNER&quot;&gt;&lt;mo data-mjx-texclass=&quot;OPEN&quot;&gt;(&lt;/mo&gt;&lt;mo&gt;−&lt;/mo&gt;&lt;mfrac&gt;&lt;mn&gt;2&lt;/mn&gt;&lt;mn&gt;5&lt;/mn&gt;&lt;/mfrac&gt;&lt;mo data-mjx-texclass=&quot;CLOSE&quot;&gt;)&lt;/mo&gt;&lt;/mrow&gt;&lt;mo&gt;+&lt;/mo&gt;&lt;mrow data-mjx-texclass=&quot;INNER&quot;&gt;&lt;mo data-mjx-texclass=&quot;OPEN&quot;&gt;(&lt;/mo&gt;&lt;mo&gt;−&lt;/mo&gt;&lt;mfrac&gt;&lt;mn&gt;1&lt;/mn&gt;&lt;mn&gt;10&lt;/mn&gt;&lt;/mfrac&gt;&lt;mo data-mjx-texclass=&quot;CLOSE&quot;&gt;)&lt;/mo&gt;&lt;/mrow&gt;&lt;mo&gt;=&lt;/mo&gt;&lt;mrow data-mjx-texclass=&quot;INNER&quot;&gt;&lt;mo data-mjx-texclass=&quot;OPEN&quot;&gt;(&lt;/mo&gt;&lt;mo&gt;−&lt;/mo&gt;&lt;mfrac&gt;&lt;mn&gt;4&lt;/mn&gt;&lt;mn&gt;10&lt;/mn&gt;&lt;/mfrac&gt;&lt;mo data-mjx-texclass=&quot;CLOSE&quot;&gt;)&lt;/mo&gt;&lt;/mrow&gt;&lt;mo&gt;+&lt;/mo&gt;&lt;mrow data-mjx-texclass=&quot;INNER&quot;&gt;&lt;mo data-mjx-texclass=&quot;OPEN&quot;&gt;(&lt;/mo&gt;&lt;mo&gt;−&lt;/mo&gt;&lt;mfrac&gt;&lt;mn&gt;1&lt;/mn&gt;&lt;mn&gt;10&lt;/mn&gt;&lt;/mfrac&gt;&lt;mo data-mjx-texclass=&quot;CLOSE&quot;&gt;)&lt;/mo&gt;&lt;/mrow&gt;&lt;mo&gt;=&lt;/mo&gt;&lt;mrow data-mjx-texclass=&quot;INNER&quot;&gt;&lt;mo data-mjx-texclass=&quot;OPEN&quot;&gt;(&lt;/mo&gt;&lt;mo&gt;−&lt;/mo&gt;&lt;mfrac&gt;&lt;mn&gt;5&lt;/mn&gt;&lt;mn&gt;10&lt;/mn&gt;&lt;/mfrac&gt;&lt;mo data-mjx-texclass=&quot;CLOSE&quot;&gt;)&lt;/mo&gt;&lt;/mrow&gt;&lt;mo&gt;=&lt;/mo&gt;&lt;mrow data-mjx-texclass=&quot;INNER&quot;&gt;&lt;mo data-mjx-texclass=&quot;OPEN&quot;&gt;(&lt;/mo&gt;&lt;mo&gt;−&lt;/mo&gt;&lt;mfrac&gt;&lt;mn&gt;1&lt;/mn&gt;&lt;mn&gt;2&lt;/mn&gt;&lt;/mfrac&gt;&lt;mo data-mjx-texclass=&quot;CLOSE&quot;&gt;)&lt;/mo&gt;&lt;/mrow&gt;&lt;/mtd&gt;&lt;/mtr&gt;&lt;/mtable&gt;&lt;/math&gt;" id="844" name="Google Shape;844;p71" title="3 lines Line 1: three fourths plus three eighths equals six eighths plus three eighths equals nine eighths Line 2: blank Line 3: negative two fifths plus negative one tenth equals negative four tenths plus negative one tenth equals negative five tenths equals negative one half"/>
          <p:cNvPicPr preferRelativeResize="0"/>
          <p:nvPr/>
        </p:nvPicPr>
        <p:blipFill rotWithShape="1">
          <a:blip r:embed="rId3">
            <a:alphaModFix/>
          </a:blip>
          <a:srcRect b="58942" l="0" r="81814" t="0"/>
          <a:stretch/>
        </p:blipFill>
        <p:spPr>
          <a:xfrm>
            <a:off x="3920439" y="2213044"/>
            <a:ext cx="1489149" cy="718850"/>
          </a:xfrm>
          <a:prstGeom prst="rect">
            <a:avLst/>
          </a:prstGeom>
          <a:noFill/>
          <a:ln>
            <a:noFill/>
          </a:ln>
        </p:spPr>
      </p:pic>
      <p:pic>
        <p:nvPicPr>
          <p:cNvPr descr="&lt;math xmlns=&quot;http://www.w3.org/1998/Math/MathML&quot; display=&quot;block&quot; data-is-equatio=&quot;1&quot; data-latex=&quot;\begin{array}{l}\frac{3}{4}+\frac{3}{8}\ =\ \frac{6}{8}+\frac{3}{8}=\frac{9}{8}\\&amp;#13;&amp;#10;\\&amp;#13;&amp;#10;\left(-\frac{2}{5}\right)+\left(-\frac{1}{10}\right)=\left(-\frac{4}{10}\right)+\left(-\frac{1}{10}\right)=\left(-\frac{5}{10}\right)=\left(-\frac{1}{2}\right)\end{array}&quot;&gt;&lt;mtable columnalign=&quot;left&quot; columnspacing=&quot;1em&quot; rowspacing=&quot;4pt&quot;&gt;&lt;mtr&gt;&lt;mtd&gt;&lt;mfrac&gt;&lt;mn&gt;3&lt;/mn&gt;&lt;mn&gt;4&lt;/mn&gt;&lt;/mfrac&gt;&lt;mo&gt;+&lt;/mo&gt;&lt;mfrac&gt;&lt;mn&gt;3&lt;/mn&gt;&lt;mn&gt;8&lt;/mn&gt;&lt;/mfrac&gt;&lt;mtext&gt;&lt;/mtext&gt;&lt;mo&gt;=&lt;/mo&gt;&lt;mtext&gt;&lt;/mtext&gt;&lt;mfrac&gt;&lt;mn&gt;6&lt;/mn&gt;&lt;mn&gt;8&lt;/mn&gt;&lt;/mfrac&gt;&lt;mo&gt;+&lt;/mo&gt;&lt;mfrac&gt;&lt;mn&gt;3&lt;/mn&gt;&lt;mn&gt;8&lt;/mn&gt;&lt;/mfrac&gt;&lt;mo&gt;=&lt;/mo&gt;&lt;mfrac&gt;&lt;mn&gt;9&lt;/mn&gt;&lt;mn&gt;8&lt;/mn&gt;&lt;/mfrac&gt;&lt;/mtd&gt;&lt;/mtr&gt;&lt;mtr&gt;&lt;mtd/&gt;&lt;/mtr&gt;&lt;mtr&gt;&lt;mtd&gt;&lt;mrow data-mjx-texclass=&quot;INNER&quot;&gt;&lt;mo data-mjx-texclass=&quot;OPEN&quot;&gt;(&lt;/mo&gt;&lt;mo&gt;−&lt;/mo&gt;&lt;mfrac&gt;&lt;mn&gt;2&lt;/mn&gt;&lt;mn&gt;5&lt;/mn&gt;&lt;/mfrac&gt;&lt;mo data-mjx-texclass=&quot;CLOSE&quot;&gt;)&lt;/mo&gt;&lt;/mrow&gt;&lt;mo&gt;+&lt;/mo&gt;&lt;mrow data-mjx-texclass=&quot;INNER&quot;&gt;&lt;mo data-mjx-texclass=&quot;OPEN&quot;&gt;(&lt;/mo&gt;&lt;mo&gt;−&lt;/mo&gt;&lt;mfrac&gt;&lt;mn&gt;1&lt;/mn&gt;&lt;mn&gt;10&lt;/mn&gt;&lt;/mfrac&gt;&lt;mo data-mjx-texclass=&quot;CLOSE&quot;&gt;)&lt;/mo&gt;&lt;/mrow&gt;&lt;mo&gt;=&lt;/mo&gt;&lt;mrow data-mjx-texclass=&quot;INNER&quot;&gt;&lt;mo data-mjx-texclass=&quot;OPEN&quot;&gt;(&lt;/mo&gt;&lt;mo&gt;−&lt;/mo&gt;&lt;mfrac&gt;&lt;mn&gt;4&lt;/mn&gt;&lt;mn&gt;10&lt;/mn&gt;&lt;/mfrac&gt;&lt;mo data-mjx-texclass=&quot;CLOSE&quot;&gt;)&lt;/mo&gt;&lt;/mrow&gt;&lt;mo&gt;+&lt;/mo&gt;&lt;mrow data-mjx-texclass=&quot;INNER&quot;&gt;&lt;mo data-mjx-texclass=&quot;OPEN&quot;&gt;(&lt;/mo&gt;&lt;mo&gt;−&lt;/mo&gt;&lt;mfrac&gt;&lt;mn&gt;1&lt;/mn&gt;&lt;mn&gt;10&lt;/mn&gt;&lt;/mfrac&gt;&lt;mo data-mjx-texclass=&quot;CLOSE&quot;&gt;)&lt;/mo&gt;&lt;/mrow&gt;&lt;mo&gt;=&lt;/mo&gt;&lt;mrow data-mjx-texclass=&quot;INNER&quot;&gt;&lt;mo data-mjx-texclass=&quot;OPEN&quot;&gt;(&lt;/mo&gt;&lt;mo&gt;−&lt;/mo&gt;&lt;mfrac&gt;&lt;mn&gt;5&lt;/mn&gt;&lt;mn&gt;10&lt;/mn&gt;&lt;/mfrac&gt;&lt;mo data-mjx-texclass=&quot;CLOSE&quot;&gt;)&lt;/mo&gt;&lt;/mrow&gt;&lt;mo&gt;=&lt;/mo&gt;&lt;mrow data-mjx-texclass=&quot;INNER&quot;&gt;&lt;mo data-mjx-texclass=&quot;OPEN&quot;&gt;(&lt;/mo&gt;&lt;mo&gt;−&lt;/mo&gt;&lt;mfrac&gt;&lt;mn&gt;1&lt;/mn&gt;&lt;mn&gt;2&lt;/mn&gt;&lt;/mfrac&gt;&lt;mo data-mjx-texclass=&quot;CLOSE&quot;&gt;)&lt;/mo&gt;&lt;/mrow&gt;&lt;/mtd&gt;&lt;/mtr&gt;&lt;/mtable&gt;&lt;/math&gt;" id="845" name="Google Shape;845;p71" title="3 lines Line 1: three fourths plus three eighths equals six eighths plus three eighths equals nine eighths Line 2: blank Line 3: negative two fifths plus negative one tenth equals negative four tenths plus negative one tenth equals negative five tenths equals negative one half"/>
          <p:cNvPicPr preferRelativeResize="0"/>
          <p:nvPr/>
        </p:nvPicPr>
        <p:blipFill rotWithShape="1">
          <a:blip r:embed="rId3">
            <a:alphaModFix/>
          </a:blip>
          <a:srcRect b="58942" l="19041" r="63431" t="0"/>
          <a:stretch/>
        </p:blipFill>
        <p:spPr>
          <a:xfrm>
            <a:off x="3920462" y="2881294"/>
            <a:ext cx="1435249" cy="718850"/>
          </a:xfrm>
          <a:prstGeom prst="rect">
            <a:avLst/>
          </a:prstGeom>
          <a:noFill/>
          <a:ln>
            <a:noFill/>
          </a:ln>
        </p:spPr>
      </p:pic>
      <p:pic>
        <p:nvPicPr>
          <p:cNvPr descr="&lt;math xmlns=&quot;http://www.w3.org/1998/Math/MathML&quot; display=&quot;block&quot; data-is-equatio=&quot;1&quot; data-latex=&quot;\begin{array}{l}\frac{3}{4}+\frac{3}{8}\ =\ \frac{6}{8}+\frac{3}{8}=\frac{9}{8}\\&amp;#13;&amp;#10;\\&amp;#13;&amp;#10;\left(-\frac{2}{5}\right)+\left(-\frac{1}{10}\right)=\left(-\frac{4}{10}\right)+\left(-\frac{1}{10}\right)=\left(-\frac{5}{10}\right)=\left(-\frac{1}{2}\right)\end{array}&quot;&gt;&lt;mtable columnalign=&quot;left&quot; columnspacing=&quot;1em&quot; rowspacing=&quot;4pt&quot;&gt;&lt;mtr&gt;&lt;mtd&gt;&lt;mfrac&gt;&lt;mn&gt;3&lt;/mn&gt;&lt;mn&gt;4&lt;/mn&gt;&lt;/mfrac&gt;&lt;mo&gt;+&lt;/mo&gt;&lt;mfrac&gt;&lt;mn&gt;3&lt;/mn&gt;&lt;mn&gt;8&lt;/mn&gt;&lt;/mfrac&gt;&lt;mtext&gt;&lt;/mtext&gt;&lt;mo&gt;=&lt;/mo&gt;&lt;mtext&gt;&lt;/mtext&gt;&lt;mfrac&gt;&lt;mn&gt;6&lt;/mn&gt;&lt;mn&gt;8&lt;/mn&gt;&lt;/mfrac&gt;&lt;mo&gt;+&lt;/mo&gt;&lt;mfrac&gt;&lt;mn&gt;3&lt;/mn&gt;&lt;mn&gt;8&lt;/mn&gt;&lt;/mfrac&gt;&lt;mo&gt;=&lt;/mo&gt;&lt;mfrac&gt;&lt;mn&gt;9&lt;/mn&gt;&lt;mn&gt;8&lt;/mn&gt;&lt;/mfrac&gt;&lt;/mtd&gt;&lt;/mtr&gt;&lt;mtr&gt;&lt;mtd/&gt;&lt;/mtr&gt;&lt;mtr&gt;&lt;mtd&gt;&lt;mrow data-mjx-texclass=&quot;INNER&quot;&gt;&lt;mo data-mjx-texclass=&quot;OPEN&quot;&gt;(&lt;/mo&gt;&lt;mo&gt;−&lt;/mo&gt;&lt;mfrac&gt;&lt;mn&gt;2&lt;/mn&gt;&lt;mn&gt;5&lt;/mn&gt;&lt;/mfrac&gt;&lt;mo data-mjx-texclass=&quot;CLOSE&quot;&gt;)&lt;/mo&gt;&lt;/mrow&gt;&lt;mo&gt;+&lt;/mo&gt;&lt;mrow data-mjx-texclass=&quot;INNER&quot;&gt;&lt;mo data-mjx-texclass=&quot;OPEN&quot;&gt;(&lt;/mo&gt;&lt;mo&gt;−&lt;/mo&gt;&lt;mfrac&gt;&lt;mn&gt;1&lt;/mn&gt;&lt;mn&gt;10&lt;/mn&gt;&lt;/mfrac&gt;&lt;mo data-mjx-texclass=&quot;CLOSE&quot;&gt;)&lt;/mo&gt;&lt;/mrow&gt;&lt;mo&gt;=&lt;/mo&gt;&lt;mrow data-mjx-texclass=&quot;INNER&quot;&gt;&lt;mo data-mjx-texclass=&quot;OPEN&quot;&gt;(&lt;/mo&gt;&lt;mo&gt;−&lt;/mo&gt;&lt;mfrac&gt;&lt;mn&gt;4&lt;/mn&gt;&lt;mn&gt;10&lt;/mn&gt;&lt;/mfrac&gt;&lt;mo data-mjx-texclass=&quot;CLOSE&quot;&gt;)&lt;/mo&gt;&lt;/mrow&gt;&lt;mo&gt;+&lt;/mo&gt;&lt;mrow data-mjx-texclass=&quot;INNER&quot;&gt;&lt;mo data-mjx-texclass=&quot;OPEN&quot;&gt;(&lt;/mo&gt;&lt;mo&gt;−&lt;/mo&gt;&lt;mfrac&gt;&lt;mn&gt;1&lt;/mn&gt;&lt;mn&gt;10&lt;/mn&gt;&lt;/mfrac&gt;&lt;mo data-mjx-texclass=&quot;CLOSE&quot;&gt;)&lt;/mo&gt;&lt;/mrow&gt;&lt;mo&gt;=&lt;/mo&gt;&lt;mrow data-mjx-texclass=&quot;INNER&quot;&gt;&lt;mo data-mjx-texclass=&quot;OPEN&quot;&gt;(&lt;/mo&gt;&lt;mo&gt;−&lt;/mo&gt;&lt;mfrac&gt;&lt;mn&gt;5&lt;/mn&gt;&lt;mn&gt;10&lt;/mn&gt;&lt;/mfrac&gt;&lt;mo data-mjx-texclass=&quot;CLOSE&quot;&gt;)&lt;/mo&gt;&lt;/mrow&gt;&lt;mo&gt;=&lt;/mo&gt;&lt;mrow data-mjx-texclass=&quot;INNER&quot;&gt;&lt;mo data-mjx-texclass=&quot;OPEN&quot;&gt;(&lt;/mo&gt;&lt;mo&gt;−&lt;/mo&gt;&lt;mfrac&gt;&lt;mn&gt;1&lt;/mn&gt;&lt;mn&gt;2&lt;/mn&gt;&lt;/mfrac&gt;&lt;mo data-mjx-texclass=&quot;CLOSE&quot;&gt;)&lt;/mo&gt;&lt;/mrow&gt;&lt;/mtd&gt;&lt;/mtr&gt;&lt;/mtable&gt;&lt;/math&gt;" id="846" name="Google Shape;846;p71" title="3 lines Line 1: three fourths plus three eighths equals six eighths plus three eighths equals nine eighths Line 2: blank Line 3: negative two fifths plus negative one tenth equals negative four tenths plus negative one tenth equals negative five tenths equals negative one half"/>
          <p:cNvPicPr preferRelativeResize="0"/>
          <p:nvPr/>
        </p:nvPicPr>
        <p:blipFill rotWithShape="1">
          <a:blip r:embed="rId3">
            <a:alphaModFix/>
          </a:blip>
          <a:srcRect b="58942" l="36671" r="57600" t="0"/>
          <a:stretch/>
        </p:blipFill>
        <p:spPr>
          <a:xfrm>
            <a:off x="5317585" y="2881294"/>
            <a:ext cx="469026" cy="718850"/>
          </a:xfrm>
          <a:prstGeom prst="rect">
            <a:avLst/>
          </a:prstGeom>
          <a:noFill/>
          <a:ln>
            <a:noFill/>
          </a:ln>
        </p:spPr>
      </p:pic>
      <p:pic>
        <p:nvPicPr>
          <p:cNvPr descr="&lt;math xmlns=&quot;http://www.w3.org/1998/Math/MathML&quot; display=&quot;block&quot; data-is-equatio=&quot;1&quot; data-latex=&quot;\begin{array}{l}\frac{3}{4}+\frac{3}{8}\ =\ \frac{6}{8}+\frac{3}{8}=\frac{9}{8}\\&amp;#13;&amp;#10;\\&amp;#13;&amp;#10;\left(-\frac{2}{5}\right)+\left(-\frac{1}{10}\right)=\left(-\frac{4}{10}\right)+\left(-\frac{1}{10}\right)=\left(-\frac{5}{10}\right)=\left(-\frac{1}{2}\right)\end{array}&quot;&gt;&lt;mtable columnalign=&quot;left&quot; columnspacing=&quot;1em&quot; rowspacing=&quot;4pt&quot;&gt;&lt;mtr&gt;&lt;mtd&gt;&lt;mfrac&gt;&lt;mn&gt;3&lt;/mn&gt;&lt;mn&gt;4&lt;/mn&gt;&lt;/mfrac&gt;&lt;mo&gt;+&lt;/mo&gt;&lt;mfrac&gt;&lt;mn&gt;3&lt;/mn&gt;&lt;mn&gt;8&lt;/mn&gt;&lt;/mfrac&gt;&lt;mtext&gt;&lt;/mtext&gt;&lt;mo&gt;=&lt;/mo&gt;&lt;mtext&gt;&lt;/mtext&gt;&lt;mfrac&gt;&lt;mn&gt;6&lt;/mn&gt;&lt;mn&gt;8&lt;/mn&gt;&lt;/mfrac&gt;&lt;mo&gt;+&lt;/mo&gt;&lt;mfrac&gt;&lt;mn&gt;3&lt;/mn&gt;&lt;mn&gt;8&lt;/mn&gt;&lt;/mfrac&gt;&lt;mo&gt;=&lt;/mo&gt;&lt;mfrac&gt;&lt;mn&gt;9&lt;/mn&gt;&lt;mn&gt;8&lt;/mn&gt;&lt;/mfrac&gt;&lt;/mtd&gt;&lt;/mtr&gt;&lt;mtr&gt;&lt;mtd/&gt;&lt;/mtr&gt;&lt;mtr&gt;&lt;mtd&gt;&lt;mrow data-mjx-texclass=&quot;INNER&quot;&gt;&lt;mo data-mjx-texclass=&quot;OPEN&quot;&gt;(&lt;/mo&gt;&lt;mo&gt;−&lt;/mo&gt;&lt;mfrac&gt;&lt;mn&gt;2&lt;/mn&gt;&lt;mn&gt;5&lt;/mn&gt;&lt;/mfrac&gt;&lt;mo data-mjx-texclass=&quot;CLOSE&quot;&gt;)&lt;/mo&gt;&lt;/mrow&gt;&lt;mo&gt;+&lt;/mo&gt;&lt;mrow data-mjx-texclass=&quot;INNER&quot;&gt;&lt;mo data-mjx-texclass=&quot;OPEN&quot;&gt;(&lt;/mo&gt;&lt;mo&gt;−&lt;/mo&gt;&lt;mfrac&gt;&lt;mn&gt;1&lt;/mn&gt;&lt;mn&gt;10&lt;/mn&gt;&lt;/mfrac&gt;&lt;mo data-mjx-texclass=&quot;CLOSE&quot;&gt;)&lt;/mo&gt;&lt;/mrow&gt;&lt;mo&gt;=&lt;/mo&gt;&lt;mrow data-mjx-texclass=&quot;INNER&quot;&gt;&lt;mo data-mjx-texclass=&quot;OPEN&quot;&gt;(&lt;/mo&gt;&lt;mo&gt;−&lt;/mo&gt;&lt;mfrac&gt;&lt;mn&gt;4&lt;/mn&gt;&lt;mn&gt;10&lt;/mn&gt;&lt;/mfrac&gt;&lt;mo data-mjx-texclass=&quot;CLOSE&quot;&gt;)&lt;/mo&gt;&lt;/mrow&gt;&lt;mo&gt;+&lt;/mo&gt;&lt;mrow data-mjx-texclass=&quot;INNER&quot;&gt;&lt;mo data-mjx-texclass=&quot;OPEN&quot;&gt;(&lt;/mo&gt;&lt;mo&gt;−&lt;/mo&gt;&lt;mfrac&gt;&lt;mn&gt;1&lt;/mn&gt;&lt;mn&gt;10&lt;/mn&gt;&lt;/mfrac&gt;&lt;mo data-mjx-texclass=&quot;CLOSE&quot;&gt;)&lt;/mo&gt;&lt;/mrow&gt;&lt;mo&gt;=&lt;/mo&gt;&lt;mrow data-mjx-texclass=&quot;INNER&quot;&gt;&lt;mo data-mjx-texclass=&quot;OPEN&quot;&gt;(&lt;/mo&gt;&lt;mo&gt;−&lt;/mo&gt;&lt;mfrac&gt;&lt;mn&gt;5&lt;/mn&gt;&lt;mn&gt;10&lt;/mn&gt;&lt;/mfrac&gt;&lt;mo data-mjx-texclass=&quot;CLOSE&quot;&gt;)&lt;/mo&gt;&lt;/mrow&gt;&lt;mo&gt;=&lt;/mo&gt;&lt;mrow data-mjx-texclass=&quot;INNER&quot;&gt;&lt;mo data-mjx-texclass=&quot;OPEN&quot;&gt;(&lt;/mo&gt;&lt;mo&gt;−&lt;/mo&gt;&lt;mfrac&gt;&lt;mn&gt;1&lt;/mn&gt;&lt;mn&gt;2&lt;/mn&gt;&lt;/mfrac&gt;&lt;mo data-mjx-texclass=&quot;CLOSE&quot;&gt;)&lt;/mo&gt;&lt;/mrow&gt;&lt;/mtd&gt;&lt;/mtr&gt;&lt;/mtable&gt;&lt;/math&gt;" id="847" name="Google Shape;847;p71" title="3 lines Line 1: three fourths plus three eighths equals six eighths plus three eighths equals nine eighths Line 2: blank Line 3: negative two fifths plus negative one tenth equals negative four tenths plus negative one tenth equals negative five tenths equals negative one half"/>
          <p:cNvPicPr preferRelativeResize="0"/>
          <p:nvPr/>
        </p:nvPicPr>
        <p:blipFill rotWithShape="1">
          <a:blip r:embed="rId3">
            <a:alphaModFix/>
          </a:blip>
          <a:srcRect b="-9530" l="0" r="65634" t="61686"/>
          <a:stretch/>
        </p:blipFill>
        <p:spPr>
          <a:xfrm>
            <a:off x="6477489" y="2172970"/>
            <a:ext cx="2060912" cy="613500"/>
          </a:xfrm>
          <a:prstGeom prst="rect">
            <a:avLst/>
          </a:prstGeom>
          <a:noFill/>
          <a:ln>
            <a:noFill/>
          </a:ln>
        </p:spPr>
      </p:pic>
      <p:pic>
        <p:nvPicPr>
          <p:cNvPr descr="&lt;math xmlns=&quot;http://www.w3.org/1998/Math/MathML&quot; display=&quot;block&quot; data-is-equatio=&quot;1&quot; data-latex=&quot;\begin{array}{l}\frac{3}{4}+\frac{3}{8}\ =\ \frac{6}{8}+\frac{3}{8}=\frac{9}{8}\\&amp;#13;&amp;#10;\\&amp;#13;&amp;#10;\left(-\frac{2}{5}\right)+\left(-\frac{1}{10}\right)=\left(-\frac{4}{10}\right)+\left(-\frac{1}{10}\right)=\left(-\frac{5}{10}\right)=\left(-\frac{1}{2}\right)\end{array}&quot;&gt;&lt;mtable columnalign=&quot;left&quot; columnspacing=&quot;1em&quot; rowspacing=&quot;4pt&quot;&gt;&lt;mtr&gt;&lt;mtd&gt;&lt;mfrac&gt;&lt;mn&gt;3&lt;/mn&gt;&lt;mn&gt;4&lt;/mn&gt;&lt;/mfrac&gt;&lt;mo&gt;+&lt;/mo&gt;&lt;mfrac&gt;&lt;mn&gt;3&lt;/mn&gt;&lt;mn&gt;8&lt;/mn&gt;&lt;/mfrac&gt;&lt;mtext&gt;&lt;/mtext&gt;&lt;mo&gt;=&lt;/mo&gt;&lt;mtext&gt;&lt;/mtext&gt;&lt;mfrac&gt;&lt;mn&gt;6&lt;/mn&gt;&lt;mn&gt;8&lt;/mn&gt;&lt;/mfrac&gt;&lt;mo&gt;+&lt;/mo&gt;&lt;mfrac&gt;&lt;mn&gt;3&lt;/mn&gt;&lt;mn&gt;8&lt;/mn&gt;&lt;/mfrac&gt;&lt;mo&gt;=&lt;/mo&gt;&lt;mfrac&gt;&lt;mn&gt;9&lt;/mn&gt;&lt;mn&gt;8&lt;/mn&gt;&lt;/mfrac&gt;&lt;/mtd&gt;&lt;/mtr&gt;&lt;mtr&gt;&lt;mtd/&gt;&lt;/mtr&gt;&lt;mtr&gt;&lt;mtd&gt;&lt;mrow data-mjx-texclass=&quot;INNER&quot;&gt;&lt;mo data-mjx-texclass=&quot;OPEN&quot;&gt;(&lt;/mo&gt;&lt;mo&gt;−&lt;/mo&gt;&lt;mfrac&gt;&lt;mn&gt;2&lt;/mn&gt;&lt;mn&gt;5&lt;/mn&gt;&lt;/mfrac&gt;&lt;mo data-mjx-texclass=&quot;CLOSE&quot;&gt;)&lt;/mo&gt;&lt;/mrow&gt;&lt;mo&gt;+&lt;/mo&gt;&lt;mrow data-mjx-texclass=&quot;INNER&quot;&gt;&lt;mo data-mjx-texclass=&quot;OPEN&quot;&gt;(&lt;/mo&gt;&lt;mo&gt;−&lt;/mo&gt;&lt;mfrac&gt;&lt;mn&gt;1&lt;/mn&gt;&lt;mn&gt;10&lt;/mn&gt;&lt;/mfrac&gt;&lt;mo data-mjx-texclass=&quot;CLOSE&quot;&gt;)&lt;/mo&gt;&lt;/mrow&gt;&lt;mo&gt;=&lt;/mo&gt;&lt;mrow data-mjx-texclass=&quot;INNER&quot;&gt;&lt;mo data-mjx-texclass=&quot;OPEN&quot;&gt;(&lt;/mo&gt;&lt;mo&gt;−&lt;/mo&gt;&lt;mfrac&gt;&lt;mn&gt;4&lt;/mn&gt;&lt;mn&gt;10&lt;/mn&gt;&lt;/mfrac&gt;&lt;mo data-mjx-texclass=&quot;CLOSE&quot;&gt;)&lt;/mo&gt;&lt;/mrow&gt;&lt;mo&gt;+&lt;/mo&gt;&lt;mrow data-mjx-texclass=&quot;INNER&quot;&gt;&lt;mo data-mjx-texclass=&quot;OPEN&quot;&gt;(&lt;/mo&gt;&lt;mo&gt;−&lt;/mo&gt;&lt;mfrac&gt;&lt;mn&gt;1&lt;/mn&gt;&lt;mn&gt;10&lt;/mn&gt;&lt;/mfrac&gt;&lt;mo data-mjx-texclass=&quot;CLOSE&quot;&gt;)&lt;/mo&gt;&lt;/mrow&gt;&lt;mo&gt;=&lt;/mo&gt;&lt;mrow data-mjx-texclass=&quot;INNER&quot;&gt;&lt;mo data-mjx-texclass=&quot;OPEN&quot;&gt;(&lt;/mo&gt;&lt;mo&gt;−&lt;/mo&gt;&lt;mfrac&gt;&lt;mn&gt;5&lt;/mn&gt;&lt;mn&gt;10&lt;/mn&gt;&lt;/mfrac&gt;&lt;mo data-mjx-texclass=&quot;CLOSE&quot;&gt;)&lt;/mo&gt;&lt;/mrow&gt;&lt;mo&gt;=&lt;/mo&gt;&lt;mrow data-mjx-texclass=&quot;INNER&quot;&gt;&lt;mo data-mjx-texclass=&quot;OPEN&quot;&gt;(&lt;/mo&gt;&lt;mo&gt;−&lt;/mo&gt;&lt;mfrac&gt;&lt;mn&gt;1&lt;/mn&gt;&lt;mn&gt;2&lt;/mn&gt;&lt;/mfrac&gt;&lt;mo data-mjx-texclass=&quot;CLOSE&quot;&gt;)&lt;/mo&gt;&lt;/mrow&gt;&lt;/mtd&gt;&lt;/mtr&gt;&lt;/mtable&gt;&lt;/math&gt;" id="848" name="Google Shape;848;p71" title="3 lines Line 1: three fourths plus three eighths equals six eighths plus three eighths equals nine eighths Line 2: blank Line 3: negative two fifths plus negative one tenth equals negative four tenths plus negative one tenth equals negative five tenths equals negative one half"/>
          <p:cNvPicPr preferRelativeResize="0"/>
          <p:nvPr/>
        </p:nvPicPr>
        <p:blipFill rotWithShape="1">
          <a:blip r:embed="rId3">
            <a:alphaModFix/>
          </a:blip>
          <a:srcRect b="-9530" l="34226" r="30171" t="61686"/>
          <a:stretch/>
        </p:blipFill>
        <p:spPr>
          <a:xfrm>
            <a:off x="6329839" y="2786469"/>
            <a:ext cx="2135048" cy="613500"/>
          </a:xfrm>
          <a:prstGeom prst="rect">
            <a:avLst/>
          </a:prstGeom>
          <a:noFill/>
          <a:ln>
            <a:noFill/>
          </a:ln>
        </p:spPr>
      </p:pic>
      <p:pic>
        <p:nvPicPr>
          <p:cNvPr descr="&lt;math xmlns=&quot;http://www.w3.org/1998/Math/MathML&quot; display=&quot;block&quot; data-is-equatio=&quot;1&quot; data-latex=&quot;\begin{array}{l}\frac{3}{4}+\frac{3}{8}\ =\ \frac{6}{8}+\frac{3}{8}=\frac{9}{8}\\&amp;#13;&amp;#10;\\&amp;#13;&amp;#10;\left(-\frac{2}{5}\right)+\left(-\frac{1}{10}\right)=\left(-\frac{4}{10}\right)+\left(-\frac{1}{10}\right)=\left(-\frac{5}{10}\right)=\left(-\frac{1}{2}\right)\end{array}&quot;&gt;&lt;mtable columnalign=&quot;left&quot; columnspacing=&quot;1em&quot; rowspacing=&quot;4pt&quot;&gt;&lt;mtr&gt;&lt;mtd&gt;&lt;mfrac&gt;&lt;mn&gt;3&lt;/mn&gt;&lt;mn&gt;4&lt;/mn&gt;&lt;/mfrac&gt;&lt;mo&gt;+&lt;/mo&gt;&lt;mfrac&gt;&lt;mn&gt;3&lt;/mn&gt;&lt;mn&gt;8&lt;/mn&gt;&lt;/mfrac&gt;&lt;mtext&gt;&lt;/mtext&gt;&lt;mo&gt;=&lt;/mo&gt;&lt;mtext&gt;&lt;/mtext&gt;&lt;mfrac&gt;&lt;mn&gt;6&lt;/mn&gt;&lt;mn&gt;8&lt;/mn&gt;&lt;/mfrac&gt;&lt;mo&gt;+&lt;/mo&gt;&lt;mfrac&gt;&lt;mn&gt;3&lt;/mn&gt;&lt;mn&gt;8&lt;/mn&gt;&lt;/mfrac&gt;&lt;mo&gt;=&lt;/mo&gt;&lt;mfrac&gt;&lt;mn&gt;9&lt;/mn&gt;&lt;mn&gt;8&lt;/mn&gt;&lt;/mfrac&gt;&lt;/mtd&gt;&lt;/mtr&gt;&lt;mtr&gt;&lt;mtd/&gt;&lt;/mtr&gt;&lt;mtr&gt;&lt;mtd&gt;&lt;mrow data-mjx-texclass=&quot;INNER&quot;&gt;&lt;mo data-mjx-texclass=&quot;OPEN&quot;&gt;(&lt;/mo&gt;&lt;mo&gt;−&lt;/mo&gt;&lt;mfrac&gt;&lt;mn&gt;2&lt;/mn&gt;&lt;mn&gt;5&lt;/mn&gt;&lt;/mfrac&gt;&lt;mo data-mjx-texclass=&quot;CLOSE&quot;&gt;)&lt;/mo&gt;&lt;/mrow&gt;&lt;mo&gt;+&lt;/mo&gt;&lt;mrow data-mjx-texclass=&quot;INNER&quot;&gt;&lt;mo data-mjx-texclass=&quot;OPEN&quot;&gt;(&lt;/mo&gt;&lt;mo&gt;−&lt;/mo&gt;&lt;mfrac&gt;&lt;mn&gt;1&lt;/mn&gt;&lt;mn&gt;10&lt;/mn&gt;&lt;/mfrac&gt;&lt;mo data-mjx-texclass=&quot;CLOSE&quot;&gt;)&lt;/mo&gt;&lt;/mrow&gt;&lt;mo&gt;=&lt;/mo&gt;&lt;mrow data-mjx-texclass=&quot;INNER&quot;&gt;&lt;mo data-mjx-texclass=&quot;OPEN&quot;&gt;(&lt;/mo&gt;&lt;mo&gt;−&lt;/mo&gt;&lt;mfrac&gt;&lt;mn&gt;4&lt;/mn&gt;&lt;mn&gt;10&lt;/mn&gt;&lt;/mfrac&gt;&lt;mo data-mjx-texclass=&quot;CLOSE&quot;&gt;)&lt;/mo&gt;&lt;/mrow&gt;&lt;mo&gt;+&lt;/mo&gt;&lt;mrow data-mjx-texclass=&quot;INNER&quot;&gt;&lt;mo data-mjx-texclass=&quot;OPEN&quot;&gt;(&lt;/mo&gt;&lt;mo&gt;−&lt;/mo&gt;&lt;mfrac&gt;&lt;mn&gt;1&lt;/mn&gt;&lt;mn&gt;10&lt;/mn&gt;&lt;/mfrac&gt;&lt;mo data-mjx-texclass=&quot;CLOSE&quot;&gt;)&lt;/mo&gt;&lt;/mrow&gt;&lt;mo&gt;=&lt;/mo&gt;&lt;mrow data-mjx-texclass=&quot;INNER&quot;&gt;&lt;mo data-mjx-texclass=&quot;OPEN&quot;&gt;(&lt;/mo&gt;&lt;mo&gt;−&lt;/mo&gt;&lt;mfrac&gt;&lt;mn&gt;5&lt;/mn&gt;&lt;mn&gt;10&lt;/mn&gt;&lt;/mfrac&gt;&lt;mo data-mjx-texclass=&quot;CLOSE&quot;&gt;)&lt;/mo&gt;&lt;/mrow&gt;&lt;mo&gt;=&lt;/mo&gt;&lt;mrow data-mjx-texclass=&quot;INNER&quot;&gt;&lt;mo data-mjx-texclass=&quot;OPEN&quot;&gt;(&lt;/mo&gt;&lt;mo&gt;−&lt;/mo&gt;&lt;mfrac&gt;&lt;mn&gt;1&lt;/mn&gt;&lt;mn&gt;2&lt;/mn&gt;&lt;/mfrac&gt;&lt;mo data-mjx-texclass=&quot;CLOSE&quot;&gt;)&lt;/mo&gt;&lt;/mrow&gt;&lt;/mtd&gt;&lt;/mtr&gt;&lt;/mtable&gt;&lt;/math&gt;" id="849" name="Google Shape;849;p71" title="3 lines Line 1: three fourths plus three eighths equals six eighths plus three eighths equals nine eighths Line 2: blank Line 3: negative two fifths plus negative one tenth equals negative four tenths plus negative one tenth equals negative five tenths equals negative one half"/>
          <p:cNvPicPr preferRelativeResize="0"/>
          <p:nvPr/>
        </p:nvPicPr>
        <p:blipFill rotWithShape="1">
          <a:blip r:embed="rId3">
            <a:alphaModFix/>
          </a:blip>
          <a:srcRect b="-9530" l="69826" r="-1253" t="61686"/>
          <a:stretch/>
        </p:blipFill>
        <p:spPr>
          <a:xfrm>
            <a:off x="6454965" y="3397919"/>
            <a:ext cx="1884774" cy="613500"/>
          </a:xfrm>
          <a:prstGeom prst="rect">
            <a:avLst/>
          </a:prstGeom>
          <a:noFill/>
          <a:ln>
            <a:noFill/>
          </a:ln>
        </p:spPr>
      </p:pic>
      <p:pic>
        <p:nvPicPr>
          <p:cNvPr descr="&lt;math xmlns=&quot;http://www.w3.org/1998/Math/MathML&quot; display=&quot;block&quot; data-is-equatio=&quot;1&quot; data-latex=&quot;\frac{9}{8}+\left(-\frac{1}{2}\right)=\frac{9}{8}+\left(-\frac{4}{8}\right)=\frac{5}{8}&quot;&gt;&lt;mfrac&gt;&lt;mn&gt;9&lt;/mn&gt;&lt;mn&gt;8&lt;/mn&gt;&lt;/mfrac&gt;&lt;mo&gt;+&lt;/mo&gt;&lt;mrow data-mjx-texclass=&quot;INNER&quot;&gt;&lt;mo data-mjx-texclass=&quot;OPEN&quot;&gt;(&lt;/mo&gt;&lt;mo&gt;−&lt;/mo&gt;&lt;mfrac&gt;&lt;mn&gt;1&lt;/mn&gt;&lt;mn&gt;2&lt;/mn&gt;&lt;/mfrac&gt;&lt;mo data-mjx-texclass=&quot;CLOSE&quot;&gt;)&lt;/mo&gt;&lt;/mrow&gt;&lt;mo&gt;=&lt;/mo&gt;&lt;mfrac&gt;&lt;mn&gt;9&lt;/mn&gt;&lt;mn&gt;8&lt;/mn&gt;&lt;/mfrac&gt;&lt;mo&gt;+&lt;/mo&gt;&lt;mrow data-mjx-texclass=&quot;INNER&quot;&gt;&lt;mo data-mjx-texclass=&quot;OPEN&quot;&gt;(&lt;/mo&gt;&lt;mo&gt;−&lt;/mo&gt;&lt;mfrac&gt;&lt;mn&gt;4&lt;/mn&gt;&lt;mn&gt;8&lt;/mn&gt;&lt;/mfrac&gt;&lt;mo data-mjx-texclass=&quot;CLOSE&quot;&gt;)&lt;/mo&gt;&lt;/mrow&gt;&lt;mo&gt;=&lt;/mo&gt;&lt;mfrac&gt;&lt;mn&gt;5&lt;/mn&gt;&lt;mn&gt;8&lt;/mn&gt;&lt;/mfrac&gt;&lt;/math&gt;" id="850" name="Google Shape;850;p71" title="nine eighths plus negative one half equals nine eighths plus negative four eighths equals five eighths"/>
          <p:cNvPicPr preferRelativeResize="0"/>
          <p:nvPr/>
        </p:nvPicPr>
        <p:blipFill rotWithShape="1">
          <a:blip r:embed="rId4">
            <a:alphaModFix/>
          </a:blip>
          <a:srcRect b="0" l="0" r="52847" t="0"/>
          <a:stretch/>
        </p:blipFill>
        <p:spPr>
          <a:xfrm>
            <a:off x="4366800" y="4130825"/>
            <a:ext cx="1648176" cy="656400"/>
          </a:xfrm>
          <a:prstGeom prst="rect">
            <a:avLst/>
          </a:prstGeom>
          <a:noFill/>
          <a:ln>
            <a:noFill/>
          </a:ln>
        </p:spPr>
      </p:pic>
      <p:cxnSp>
        <p:nvCxnSpPr>
          <p:cNvPr id="851" name="Google Shape;851;p71"/>
          <p:cNvCxnSpPr/>
          <p:nvPr/>
        </p:nvCxnSpPr>
        <p:spPr>
          <a:xfrm>
            <a:off x="5965688" y="1833406"/>
            <a:ext cx="0" cy="2031600"/>
          </a:xfrm>
          <a:prstGeom prst="straightConnector1">
            <a:avLst/>
          </a:prstGeom>
          <a:noFill/>
          <a:ln cap="flat" cmpd="sng" w="28575">
            <a:solidFill>
              <a:schemeClr val="accent4"/>
            </a:solidFill>
            <a:prstDash val="solid"/>
            <a:round/>
            <a:headEnd len="med" w="med" type="none"/>
            <a:tailEnd len="med" w="med" type="none"/>
          </a:ln>
        </p:spPr>
      </p:cxnSp>
      <p:pic>
        <p:nvPicPr>
          <p:cNvPr descr="&lt;math xmlns=&quot;http://www.w3.org/1998/Math/MathML&quot; display=&quot;block&quot; data-is-equatio=&quot;1&quot; data-latex=&quot;\frac{9}{8}+\left(-\frac{1}{2}\right)=\frac{9}{8}+\left(-\frac{4}{8}\right)=\frac{5}{8}&quot;&gt;&lt;mfrac&gt;&lt;mn&gt;9&lt;/mn&gt;&lt;mn&gt;8&lt;/mn&gt;&lt;/mfrac&gt;&lt;mo&gt;+&lt;/mo&gt;&lt;mrow data-mjx-texclass=&quot;INNER&quot;&gt;&lt;mo data-mjx-texclass=&quot;OPEN&quot;&gt;(&lt;/mo&gt;&lt;mo&gt;−&lt;/mo&gt;&lt;mfrac&gt;&lt;mn&gt;1&lt;/mn&gt;&lt;mn&gt;2&lt;/mn&gt;&lt;/mfrac&gt;&lt;mo data-mjx-texclass=&quot;CLOSE&quot;&gt;)&lt;/mo&gt;&lt;/mrow&gt;&lt;mo&gt;=&lt;/mo&gt;&lt;mfrac&gt;&lt;mn&gt;9&lt;/mn&gt;&lt;mn&gt;8&lt;/mn&gt;&lt;/mfrac&gt;&lt;mo&gt;+&lt;/mo&gt;&lt;mrow data-mjx-texclass=&quot;INNER&quot;&gt;&lt;mo data-mjx-texclass=&quot;OPEN&quot;&gt;(&lt;/mo&gt;&lt;mo&gt;−&lt;/mo&gt;&lt;mfrac&gt;&lt;mn&gt;4&lt;/mn&gt;&lt;mn&gt;8&lt;/mn&gt;&lt;/mfrac&gt;&lt;mo data-mjx-texclass=&quot;CLOSE&quot;&gt;)&lt;/mo&gt;&lt;/mrow&gt;&lt;mo&gt;=&lt;/mo&gt;&lt;mfrac&gt;&lt;mn&gt;5&lt;/mn&gt;&lt;mn&gt;8&lt;/mn&gt;&lt;/mfrac&gt;&lt;/math&gt;" id="852" name="Google Shape;852;p71" title="nine eighths plus negative one half equals nine eighths plus negative four eighths equals five eighths"/>
          <p:cNvPicPr preferRelativeResize="0"/>
          <p:nvPr/>
        </p:nvPicPr>
        <p:blipFill rotWithShape="1">
          <a:blip r:embed="rId4">
            <a:alphaModFix/>
          </a:blip>
          <a:srcRect b="0" l="38672" r="14177" t="0"/>
          <a:stretch/>
        </p:blipFill>
        <p:spPr>
          <a:xfrm>
            <a:off x="5723400" y="4130932"/>
            <a:ext cx="1648176" cy="656400"/>
          </a:xfrm>
          <a:prstGeom prst="rect">
            <a:avLst/>
          </a:prstGeom>
          <a:noFill/>
          <a:ln>
            <a:noFill/>
          </a:ln>
        </p:spPr>
      </p:pic>
      <p:pic>
        <p:nvPicPr>
          <p:cNvPr descr="&lt;math xmlns=&quot;http://www.w3.org/1998/Math/MathML&quot; display=&quot;block&quot; data-is-equatio=&quot;1&quot; data-latex=&quot;\frac{9}{8}+\left(-\frac{1}{2}\right)=\frac{9}{8}+\left(-\frac{4}{8}\right)=\frac{5}{8}&quot;&gt;&lt;mfrac&gt;&lt;mn&gt;9&lt;/mn&gt;&lt;mn&gt;8&lt;/mn&gt;&lt;/mfrac&gt;&lt;mo&gt;+&lt;/mo&gt;&lt;mrow data-mjx-texclass=&quot;INNER&quot;&gt;&lt;mo data-mjx-texclass=&quot;OPEN&quot;&gt;(&lt;/mo&gt;&lt;mo&gt;−&lt;/mo&gt;&lt;mfrac&gt;&lt;mn&gt;1&lt;/mn&gt;&lt;mn&gt;2&lt;/mn&gt;&lt;/mfrac&gt;&lt;mo data-mjx-texclass=&quot;CLOSE&quot;&gt;)&lt;/mo&gt;&lt;/mrow&gt;&lt;mo&gt;=&lt;/mo&gt;&lt;mfrac&gt;&lt;mn&gt;9&lt;/mn&gt;&lt;mn&gt;8&lt;/mn&gt;&lt;/mfrac&gt;&lt;mo&gt;+&lt;/mo&gt;&lt;mrow data-mjx-texclass=&quot;INNER&quot;&gt;&lt;mo data-mjx-texclass=&quot;OPEN&quot;&gt;(&lt;/mo&gt;&lt;mo&gt;−&lt;/mo&gt;&lt;mfrac&gt;&lt;mn&gt;4&lt;/mn&gt;&lt;mn&gt;8&lt;/mn&gt;&lt;/mfrac&gt;&lt;mo data-mjx-texclass=&quot;CLOSE&quot;&gt;)&lt;/mo&gt;&lt;/mrow&gt;&lt;mo&gt;=&lt;/mo&gt;&lt;mfrac&gt;&lt;mn&gt;5&lt;/mn&gt;&lt;mn&gt;8&lt;/mn&gt;&lt;/mfrac&gt;&lt;/math&gt;" id="853" name="Google Shape;853;p71" title="nine eighths plus negative one half equals nine eighths plus negative four eighths equals five eighths"/>
          <p:cNvPicPr preferRelativeResize="0"/>
          <p:nvPr/>
        </p:nvPicPr>
        <p:blipFill rotWithShape="1">
          <a:blip r:embed="rId4">
            <a:alphaModFix/>
          </a:blip>
          <a:srcRect b="0" l="86931" r="-4885" t="0"/>
          <a:stretch/>
        </p:blipFill>
        <p:spPr>
          <a:xfrm>
            <a:off x="7368560" y="4130825"/>
            <a:ext cx="627601" cy="656400"/>
          </a:xfrm>
          <a:prstGeom prst="rect">
            <a:avLst/>
          </a:prstGeom>
          <a:noFill/>
          <a:ln>
            <a:noFill/>
          </a:ln>
        </p:spPr>
      </p:pic>
      <p:grpSp>
        <p:nvGrpSpPr>
          <p:cNvPr id="854" name="Google Shape;854;p71"/>
          <p:cNvGrpSpPr/>
          <p:nvPr/>
        </p:nvGrpSpPr>
        <p:grpSpPr>
          <a:xfrm>
            <a:off x="525984" y="2186277"/>
            <a:ext cx="3131902" cy="2310490"/>
            <a:chOff x="700147" y="1855128"/>
            <a:chExt cx="3916346" cy="2889197"/>
          </a:xfrm>
        </p:grpSpPr>
        <p:grpSp>
          <p:nvGrpSpPr>
            <p:cNvPr id="855" name="Google Shape;855;p71"/>
            <p:cNvGrpSpPr/>
            <p:nvPr/>
          </p:nvGrpSpPr>
          <p:grpSpPr>
            <a:xfrm>
              <a:off x="700147" y="1855128"/>
              <a:ext cx="3916346" cy="2889197"/>
              <a:chOff x="2529025" y="1931250"/>
              <a:chExt cx="3584100" cy="2617500"/>
            </a:xfrm>
          </p:grpSpPr>
          <p:sp>
            <p:nvSpPr>
              <p:cNvPr id="856" name="Google Shape;856;p71"/>
              <p:cNvSpPr/>
              <p:nvPr/>
            </p:nvSpPr>
            <p:spPr>
              <a:xfrm>
                <a:off x="2529025" y="1931250"/>
                <a:ext cx="3584100" cy="2617500"/>
              </a:xfrm>
              <a:prstGeom prst="triangle">
                <a:avLst>
                  <a:gd fmla="val 50000" name="adj"/>
                </a:avLst>
              </a:prstGeom>
              <a:no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57" name="Google Shape;857;p71"/>
              <p:cNvCxnSpPr/>
              <p:nvPr/>
            </p:nvCxnSpPr>
            <p:spPr>
              <a:xfrm>
                <a:off x="3766742" y="2706800"/>
                <a:ext cx="1095900" cy="0"/>
              </a:xfrm>
              <a:prstGeom prst="straightConnector1">
                <a:avLst/>
              </a:prstGeom>
              <a:noFill/>
              <a:ln cap="flat" cmpd="sng" w="38100">
                <a:solidFill>
                  <a:srgbClr val="845AD9"/>
                </a:solidFill>
                <a:prstDash val="solid"/>
                <a:round/>
                <a:headEnd len="med" w="med" type="none"/>
                <a:tailEnd len="med" w="med" type="none"/>
              </a:ln>
            </p:spPr>
          </p:cxnSp>
          <p:cxnSp>
            <p:nvCxnSpPr>
              <p:cNvPr id="858" name="Google Shape;858;p71"/>
              <p:cNvCxnSpPr/>
              <p:nvPr/>
            </p:nvCxnSpPr>
            <p:spPr>
              <a:xfrm>
                <a:off x="3369600" y="3320300"/>
                <a:ext cx="1899300" cy="0"/>
              </a:xfrm>
              <a:prstGeom prst="straightConnector1">
                <a:avLst/>
              </a:prstGeom>
              <a:noFill/>
              <a:ln cap="flat" cmpd="sng" w="38100">
                <a:solidFill>
                  <a:srgbClr val="845AD9"/>
                </a:solidFill>
                <a:prstDash val="solid"/>
                <a:round/>
                <a:headEnd len="med" w="med" type="none"/>
                <a:tailEnd len="med" w="med" type="none"/>
              </a:ln>
            </p:spPr>
          </p:cxnSp>
          <p:cxnSp>
            <p:nvCxnSpPr>
              <p:cNvPr id="859" name="Google Shape;859;p71"/>
              <p:cNvCxnSpPr/>
              <p:nvPr/>
            </p:nvCxnSpPr>
            <p:spPr>
              <a:xfrm flipH="1" rot="10800000">
                <a:off x="2996850" y="3910986"/>
                <a:ext cx="2653800" cy="3900"/>
              </a:xfrm>
              <a:prstGeom prst="straightConnector1">
                <a:avLst/>
              </a:prstGeom>
              <a:noFill/>
              <a:ln cap="flat" cmpd="sng" w="38100">
                <a:solidFill>
                  <a:srgbClr val="845AD9"/>
                </a:solidFill>
                <a:prstDash val="solid"/>
                <a:round/>
                <a:headEnd len="med" w="med" type="none"/>
                <a:tailEnd len="med" w="med" type="none"/>
              </a:ln>
            </p:spPr>
          </p:cxnSp>
        </p:grpSp>
        <p:sp>
          <p:nvSpPr>
            <p:cNvPr id="860" name="Google Shape;860;p71"/>
            <p:cNvSpPr txBox="1"/>
            <p:nvPr/>
          </p:nvSpPr>
          <p:spPr>
            <a:xfrm>
              <a:off x="2223184" y="2145282"/>
              <a:ext cx="12471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Lexend"/>
                  <a:ea typeface="Lexend"/>
                  <a:cs typeface="Lexend"/>
                  <a:sym typeface="Lexend"/>
                </a:rPr>
                <a:t>( …. )</a:t>
              </a:r>
              <a:endParaRPr sz="2000">
                <a:latin typeface="Lexend"/>
                <a:ea typeface="Lexend"/>
                <a:cs typeface="Lexend"/>
                <a:sym typeface="Lexend"/>
              </a:endParaRPr>
            </a:p>
          </p:txBody>
        </p:sp>
        <p:grpSp>
          <p:nvGrpSpPr>
            <p:cNvPr id="861" name="Google Shape;861;p71"/>
            <p:cNvGrpSpPr/>
            <p:nvPr/>
          </p:nvGrpSpPr>
          <p:grpSpPr>
            <a:xfrm>
              <a:off x="2537340" y="2581822"/>
              <a:ext cx="844893" cy="669996"/>
              <a:chOff x="1411338" y="2440722"/>
              <a:chExt cx="844893" cy="669996"/>
            </a:xfrm>
          </p:grpSpPr>
          <p:sp>
            <p:nvSpPr>
              <p:cNvPr id="862" name="Google Shape;862;p71"/>
              <p:cNvSpPr txBox="1"/>
              <p:nvPr/>
            </p:nvSpPr>
            <p:spPr>
              <a:xfrm>
                <a:off x="1765730" y="2440722"/>
                <a:ext cx="4905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latin typeface="Lexend"/>
                    <a:ea typeface="Lexend"/>
                    <a:cs typeface="Lexend"/>
                    <a:sym typeface="Lexend"/>
                  </a:rPr>
                  <a:t>⬚</a:t>
                </a:r>
                <a:endParaRPr b="1" sz="2000">
                  <a:latin typeface="Lexend"/>
                  <a:ea typeface="Lexend"/>
                  <a:cs typeface="Lexend"/>
                  <a:sym typeface="Lexend"/>
                </a:endParaRPr>
              </a:p>
            </p:txBody>
          </p:sp>
          <p:sp>
            <p:nvSpPr>
              <p:cNvPr id="863" name="Google Shape;863;p71"/>
              <p:cNvSpPr txBox="1"/>
              <p:nvPr/>
            </p:nvSpPr>
            <p:spPr>
              <a:xfrm>
                <a:off x="1411338" y="2573718"/>
                <a:ext cx="4905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3100">
                    <a:latin typeface="Lexend"/>
                    <a:ea typeface="Lexend"/>
                    <a:cs typeface="Lexend"/>
                    <a:sym typeface="Lexend"/>
                  </a:rPr>
                  <a:t>⬚</a:t>
                </a:r>
                <a:endParaRPr b="1" sz="3100">
                  <a:latin typeface="Lexend"/>
                  <a:ea typeface="Lexend"/>
                  <a:cs typeface="Lexend"/>
                  <a:sym typeface="Lexend"/>
                </a:endParaRPr>
              </a:p>
            </p:txBody>
          </p:sp>
        </p:grpSp>
        <p:grpSp>
          <p:nvGrpSpPr>
            <p:cNvPr id="864" name="Google Shape;864;p71"/>
            <p:cNvGrpSpPr/>
            <p:nvPr/>
          </p:nvGrpSpPr>
          <p:grpSpPr>
            <a:xfrm>
              <a:off x="1905848" y="2700785"/>
              <a:ext cx="627511" cy="537000"/>
              <a:chOff x="3734648" y="2776985"/>
              <a:chExt cx="627511" cy="537000"/>
            </a:xfrm>
          </p:grpSpPr>
          <p:pic>
            <p:nvPicPr>
              <p:cNvPr descr="&lt;math xmlns=&quot;http://www.w3.org/1998/Math/MathML&quot; display=&quot;block&quot; data-is-equatio=&quot;1&quot; data-latex=&quot;\begin{array}{l}\sqrt[\ \ ]{\ \ \ }\\&amp;#13;&amp;#10;\end{array}&quot;&gt;&lt;mtable columnalign=&quot;left&quot; columnspacing=&quot;1em&quot; rowspacing=&quot;4pt&quot;&gt;&lt;mtr&gt;&lt;mtd&gt;&lt;mroot&gt;&lt;mrow&gt;&lt;mtext&gt;&lt;/mtext&gt;&lt;mtext&gt;&lt;/mtext&gt;&lt;mtext&gt;&lt;/mtext&gt;&lt;/mrow&gt;&lt;mrow&gt;&lt;mtext&gt;&lt;/mtext&gt;&lt;mtext&gt;&lt;/mtext&gt;&lt;/mrow&gt;&lt;/mroot&gt;&lt;/mtd&gt;&lt;/mtr&gt;&lt;/mtable&gt;&lt;/math&gt;" id="865" name="Google Shape;865;p71" title="1 lines Line 1: the root of"/>
              <p:cNvPicPr preferRelativeResize="0"/>
              <p:nvPr/>
            </p:nvPicPr>
            <p:blipFill>
              <a:blip r:embed="rId5">
                <a:alphaModFix/>
              </a:blip>
              <a:stretch>
                <a:fillRect/>
              </a:stretch>
            </p:blipFill>
            <p:spPr>
              <a:xfrm>
                <a:off x="3871597" y="2929810"/>
                <a:ext cx="490562" cy="384175"/>
              </a:xfrm>
              <a:prstGeom prst="rect">
                <a:avLst/>
              </a:prstGeom>
              <a:noFill/>
              <a:ln>
                <a:noFill/>
              </a:ln>
            </p:spPr>
          </p:pic>
          <p:sp>
            <p:nvSpPr>
              <p:cNvPr id="866" name="Google Shape;866;p71"/>
              <p:cNvSpPr txBox="1"/>
              <p:nvPr/>
            </p:nvSpPr>
            <p:spPr>
              <a:xfrm>
                <a:off x="3734648" y="2776985"/>
                <a:ext cx="4905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latin typeface="Lexend"/>
                    <a:ea typeface="Lexend"/>
                    <a:cs typeface="Lexend"/>
                    <a:sym typeface="Lexend"/>
                  </a:rPr>
                  <a:t>⬚</a:t>
                </a:r>
                <a:endParaRPr sz="1700">
                  <a:latin typeface="Lexend"/>
                  <a:ea typeface="Lexend"/>
                  <a:cs typeface="Lexend"/>
                  <a:sym typeface="Lexend"/>
                </a:endParaRPr>
              </a:p>
            </p:txBody>
          </p:sp>
        </p:grpSp>
        <p:sp>
          <p:nvSpPr>
            <p:cNvPr id="867" name="Google Shape;867;p71"/>
            <p:cNvSpPr txBox="1"/>
            <p:nvPr/>
          </p:nvSpPr>
          <p:spPr>
            <a:xfrm>
              <a:off x="1862700" y="3156872"/>
              <a:ext cx="2082900" cy="65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4700">
                  <a:latin typeface="Lexend"/>
                  <a:ea typeface="Lexend"/>
                  <a:cs typeface="Lexend"/>
                  <a:sym typeface="Lexend"/>
                </a:rPr>
                <a:t>×    ÷</a:t>
              </a:r>
              <a:endParaRPr sz="4700">
                <a:latin typeface="Lexend"/>
                <a:ea typeface="Lexend"/>
                <a:cs typeface="Lexend"/>
                <a:sym typeface="Lexend"/>
              </a:endParaRPr>
            </a:p>
          </p:txBody>
        </p:sp>
        <p:sp>
          <p:nvSpPr>
            <p:cNvPr id="868" name="Google Shape;868;p71"/>
            <p:cNvSpPr txBox="1"/>
            <p:nvPr/>
          </p:nvSpPr>
          <p:spPr>
            <a:xfrm>
              <a:off x="1808950" y="3826756"/>
              <a:ext cx="2082900" cy="65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4700">
                  <a:latin typeface="Lexend"/>
                  <a:ea typeface="Lexend"/>
                  <a:cs typeface="Lexend"/>
                  <a:sym typeface="Lexend"/>
                </a:rPr>
                <a:t>+    −</a:t>
              </a:r>
              <a:endParaRPr sz="4700">
                <a:latin typeface="Lexend"/>
                <a:ea typeface="Lexend"/>
                <a:cs typeface="Lexend"/>
                <a:sym typeface="Lexend"/>
              </a:endParaRPr>
            </a:p>
          </p:txBody>
        </p:sp>
        <p:sp>
          <p:nvSpPr>
            <p:cNvPr id="869" name="Google Shape;869;p71"/>
            <p:cNvSpPr/>
            <p:nvPr/>
          </p:nvSpPr>
          <p:spPr>
            <a:xfrm>
              <a:off x="1905836" y="4204330"/>
              <a:ext cx="490500" cy="490500"/>
            </a:xfrm>
            <a:prstGeom prst="ellipse">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870" name="Google Shape;870;p71"/>
          <p:cNvSpPr/>
          <p:nvPr/>
        </p:nvSpPr>
        <p:spPr>
          <a:xfrm>
            <a:off x="2513123" y="4054151"/>
            <a:ext cx="392400" cy="392400"/>
          </a:xfrm>
          <a:prstGeom prst="ellipse">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71" name="Google Shape;871;p71"/>
          <p:cNvSpPr/>
          <p:nvPr/>
        </p:nvSpPr>
        <p:spPr>
          <a:xfrm>
            <a:off x="6016000" y="1716600"/>
            <a:ext cx="2761800" cy="418500"/>
          </a:xfrm>
          <a:prstGeom prst="roundRect">
            <a:avLst>
              <a:gd fmla="val 16667" name="adj"/>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72" name="Google Shape;872;p71"/>
          <p:cNvSpPr/>
          <p:nvPr/>
        </p:nvSpPr>
        <p:spPr>
          <a:xfrm>
            <a:off x="3228600" y="1729650"/>
            <a:ext cx="2686800" cy="392400"/>
          </a:xfrm>
          <a:prstGeom prst="roundRect">
            <a:avLst>
              <a:gd fmla="val 16667" name="adj"/>
            </a:avLst>
          </a:prstGeom>
          <a:no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p72"/>
          <p:cNvSpPr/>
          <p:nvPr/>
        </p:nvSpPr>
        <p:spPr>
          <a:xfrm>
            <a:off x="5019900" y="3022900"/>
            <a:ext cx="3800100" cy="1430100"/>
          </a:xfrm>
          <a:prstGeom prst="roundRect">
            <a:avLst>
              <a:gd fmla="val 16667" name="adj"/>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78" name="Google Shape;878;p72"/>
          <p:cNvSpPr/>
          <p:nvPr/>
        </p:nvSpPr>
        <p:spPr>
          <a:xfrm>
            <a:off x="4981600" y="1425000"/>
            <a:ext cx="3800100" cy="1507500"/>
          </a:xfrm>
          <a:prstGeom prst="roundRect">
            <a:avLst>
              <a:gd fmla="val 16667" name="adj"/>
            </a:avLst>
          </a:prstGeom>
          <a:no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79" name="Google Shape;879;p72"/>
          <p:cNvSpPr txBox="1"/>
          <p:nvPr>
            <p:ph idx="1" type="body"/>
          </p:nvPr>
        </p:nvSpPr>
        <p:spPr>
          <a:xfrm>
            <a:off x="324000" y="683100"/>
            <a:ext cx="8237700" cy="86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Work out the following question, giving your answer in its </a:t>
            </a:r>
            <a:r>
              <a:rPr lang="en-GB"/>
              <a:t>simplest</a:t>
            </a:r>
            <a:r>
              <a:rPr lang="en-GB"/>
              <a:t> form.</a:t>
            </a:r>
            <a:endParaRPr/>
          </a:p>
        </p:txBody>
      </p:sp>
      <p:sp>
        <p:nvSpPr>
          <p:cNvPr id="880" name="Google Shape;880;p7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Reviewing priority of operations</a:t>
            </a:r>
            <a:endParaRPr/>
          </a:p>
        </p:txBody>
      </p:sp>
      <p:pic>
        <p:nvPicPr>
          <p:cNvPr descr="&lt;math xmlns=&quot;http://www.w3.org/1998/Math/MathML&quot; display=&quot;block&quot; data-is-equatio=&quot;1&quot; data-latex=&quot;\begin{array}{l}\frac{9}{10}-\ \frac{2}{3}+\frac{5}{6}-\frac{17}{30}\\&amp;#13;&amp;#10;\frac{9}{10}+\left(-\ \frac{2}{3}\right)+\frac{5}{6}+\left(-\frac{17}{30}\right)\\&amp;#13;&amp;#10;\begin{array}{l}\frac{9}{10}+\frac{5}{6}=\ \frac{27}{30}+\frac{25}{30}=\frac{52}{30}\\&amp;#13;&amp;#10;\left(-\ \frac{2}{3}\right)+\left(-\frac{17}{30}\right)=\left(-\frac{20}{30}\right)+\left(-\frac{17}{30}\right)=\left(-\frac{37}{30}\right)\\&amp;#13;&amp;#10;\frac{52}{30}+\left(-\frac{37}{30}\right)=\frac{15}{30}=\frac{1}{2}\end{array}\end{array}&quot;&gt;&lt;mtable columnalign=&quot;left&quot; columnspacing=&quot;1em&quot; rowspacing=&quot;4pt&quot;&gt;&lt;mtr&gt;&lt;mtd&gt;&lt;mfrac&gt;&lt;mn&gt;9&lt;/mn&gt;&lt;mn&gt;10&lt;/mn&gt;&lt;/mfrac&gt;&lt;mo&gt;−&lt;/mo&gt;&lt;mtext&gt;&lt;/mtext&gt;&lt;mfrac&gt;&lt;mn&gt;2&lt;/mn&gt;&lt;mn&gt;3&lt;/mn&gt;&lt;/mfrac&gt;&lt;mo&gt;+&lt;/mo&gt;&lt;mfrac&gt;&lt;mn&gt;5&lt;/mn&gt;&lt;mn&gt;6&lt;/mn&gt;&lt;/mfrac&gt;&lt;mo&gt;−&lt;/mo&gt;&lt;mfrac&gt;&lt;mn&gt;17&lt;/mn&gt;&lt;mn&gt;30&lt;/mn&gt;&lt;/mfrac&gt;&lt;/mtd&gt;&lt;/mtr&gt;&lt;mtr&gt;&lt;mtd&gt;&lt;mfrac&gt;&lt;mn&gt;9&lt;/mn&gt;&lt;mn&gt;10&lt;/mn&gt;&lt;/mfrac&gt;&lt;mo&gt;+&lt;/mo&gt;&lt;mrow data-mjx-texclass=&quot;INNER&quot;&gt;&lt;mo data-mjx-texclass=&quot;OPEN&quot;&gt;(&lt;/mo&gt;&lt;mo&gt;−&lt;/mo&gt;&lt;mtext&gt;&lt;/mtext&gt;&lt;mfrac&gt;&lt;mn&gt;2&lt;/mn&gt;&lt;mn&gt;3&lt;/mn&gt;&lt;/mfrac&gt;&lt;mo data-mjx-texclass=&quot;CLOSE&quot;&gt;)&lt;/mo&gt;&lt;/mrow&gt;&lt;mo&gt;+&lt;/mo&gt;&lt;mfrac&gt;&lt;mn&gt;5&lt;/mn&gt;&lt;mn&gt;6&lt;/mn&gt;&lt;/mfrac&gt;&lt;mo&gt;+&lt;/mo&gt;&lt;mrow data-mjx-texclass=&quot;INNER&quot;&gt;&lt;mo data-mjx-texclass=&quot;OPEN&quot;&gt;(&lt;/mo&gt;&lt;mo&gt;−&lt;/mo&gt;&lt;mfrac&gt;&lt;mn&gt;17&lt;/mn&gt;&lt;mn&gt;30&lt;/mn&gt;&lt;/mfrac&gt;&lt;mo data-mjx-texclass=&quot;CLOSE&quot;&gt;)&lt;/mo&gt;&lt;/mrow&gt;&lt;/mtd&gt;&lt;/mtr&gt;&lt;mtr&gt;&lt;mtd&gt;&lt;mtable columnspacing=&quot;1em&quot; rowspacing=&quot;4pt&quot;&gt;&lt;mtr&gt;&lt;mtd&gt;&lt;mfrac&gt;&lt;mn&gt;9&lt;/mn&gt;&lt;mn&gt;10&lt;/mn&gt;&lt;/mfrac&gt;&lt;mo&gt;+&lt;/mo&gt;&lt;mfrac&gt;&lt;mn&gt;5&lt;/mn&gt;&lt;mn&gt;6&lt;/mn&gt;&lt;/mfrac&gt;&lt;mo&gt;=&lt;/mo&gt;&lt;mtext&gt;&lt;/mtext&gt;&lt;mfrac&gt;&lt;mn&gt;27&lt;/mn&gt;&lt;mn&gt;30&lt;/mn&gt;&lt;/mfrac&gt;&lt;mo&gt;+&lt;/mo&gt;&lt;mfrac&gt;&lt;mn&gt;25&lt;/mn&gt;&lt;mn&gt;30&lt;/mn&gt;&lt;/mfrac&gt;&lt;mo&gt;=&lt;/mo&gt;&lt;mfrac&gt;&lt;mn&gt;52&lt;/mn&gt;&lt;mn&gt;30&lt;/mn&gt;&lt;/mfrac&gt;&lt;/mtd&gt;&lt;/mtr&gt;&lt;mtr&gt;&lt;mtd&gt;&lt;mrow data-mjx-texclass=&quot;INNER&quot;&gt;&lt;mo data-mjx-texclass=&quot;OPEN&quot;&gt;(&lt;/mo&gt;&lt;mo&gt;−&lt;/mo&gt;&lt;mtext&gt;&lt;/mtext&gt;&lt;mfrac&gt;&lt;mn&gt;2&lt;/mn&gt;&lt;mn&gt;3&lt;/mn&gt;&lt;/mfrac&gt;&lt;mo data-mjx-texclass=&quot;CLOSE&quot;&gt;)&lt;/mo&gt;&lt;/mrow&gt;&lt;mo&gt;+&lt;/mo&gt;&lt;mrow data-mjx-texclass=&quot;INNER&quot;&gt;&lt;mo data-mjx-texclass=&quot;OPEN&quot;&gt;(&lt;/mo&gt;&lt;mo&gt;−&lt;/mo&gt;&lt;mfrac&gt;&lt;mn&gt;17&lt;/mn&gt;&lt;mn&gt;30&lt;/mn&gt;&lt;/mfrac&gt;&lt;mo data-mjx-texclass=&quot;CLOSE&quot;&gt;)&lt;/mo&gt;&lt;/mrow&gt;&lt;mo&gt;=&lt;/mo&gt;&lt;mrow data-mjx-texclass=&quot;INNER&quot;&gt;&lt;mo data-mjx-texclass=&quot;OPEN&quot;&gt;(&lt;/mo&gt;&lt;mo&gt;−&lt;/mo&gt;&lt;mfrac&gt;&lt;mn&gt;20&lt;/mn&gt;&lt;mn&gt;30&lt;/mn&gt;&lt;/mfrac&gt;&lt;mo data-mjx-texclass=&quot;CLOSE&quot;&gt;)&lt;/mo&gt;&lt;/mrow&gt;&lt;mo&gt;+&lt;/mo&gt;&lt;mrow data-mjx-texclass=&quot;INNER&quot;&gt;&lt;mo data-mjx-texclass=&quot;OPEN&quot;&gt;(&lt;/mo&gt;&lt;mo&gt;−&lt;/mo&gt;&lt;mfrac&gt;&lt;mn&gt;17&lt;/mn&gt;&lt;mn&gt;30&lt;/mn&gt;&lt;/mfrac&gt;&lt;mo data-mjx-texclass=&quot;CLOSE&quot;&gt;)&lt;/mo&gt;&lt;/mrow&gt;&lt;mo&gt;=&lt;/mo&gt;&lt;mrow data-mjx-texclass=&quot;INNER&quot;&gt;&lt;mo data-mjx-texclass=&quot;OPEN&quot;&gt;(&lt;/mo&gt;&lt;mo&gt;−&lt;/mo&gt;&lt;mfrac&gt;&lt;mn&gt;37&lt;/mn&gt;&lt;mn&gt;30&lt;/mn&gt;&lt;/mfrac&gt;&lt;mo data-mjx-texclass=&quot;CLOSE&quot;&gt;)&lt;/mo&gt;&lt;/mrow&gt;&lt;/mtd&gt;&lt;/mtr&gt;&lt;mtr&gt;&lt;mtd&gt;&lt;mfrac&gt;&lt;mn&gt;52&lt;/mn&gt;&lt;mn&gt;30&lt;/mn&gt;&lt;/mfrac&gt;&lt;mo&gt;+&lt;/mo&gt;&lt;mrow data-mjx-texclass=&quot;INNER&quot;&gt;&lt;mo data-mjx-texclass=&quot;OPEN&quot;&gt;(&lt;/mo&gt;&lt;mo&gt;−&lt;/mo&gt;&lt;mfrac&gt;&lt;mn&gt;37&lt;/mn&gt;&lt;mn&gt;30&lt;/mn&gt;&lt;/mfrac&gt;&lt;mo data-mjx-texclass=&quot;CLOSE&quot;&gt;)&lt;/mo&gt;&lt;/mrow&gt;&lt;mo&gt;=&lt;/mo&gt;&lt;mfrac&gt;&lt;mn&gt;15&lt;/mn&gt;&lt;mn&gt;30&lt;/mn&gt;&lt;/mfrac&gt;&lt;mo&gt;=&lt;/mo&gt;&lt;mfrac&gt;&lt;mn&gt;1&lt;/mn&gt;&lt;mn&gt;2&lt;/mn&gt;&lt;/mfrac&gt;&lt;/mtd&gt;&lt;/mtr&gt;&lt;/mtable&gt;&lt;/mtd&gt;&lt;/mtr&gt;&lt;/mtable&gt;&lt;/math&gt;" id="881" name="Google Shape;881;p72" title="3 lines Line 1: nine tenths minus two thirds plus five sixths minus 17 over 30 Line 2: nine tenths plus open paren minus two thirds close paren plus five sixths plus open paren negative 17 over 30 close paren Line 3: Line 1: nine tenths plus five sixths equals 27 over 30 plus 25 over 30 equals 52 over 30 Line 2: open paren minus two thirds close paren plus open paren negative 17 over 30 close paren equals open paren negative 20 over 30 close paren plus open paren negative 17 over 30 close paren equals open paren negative 37 over 30 close paren Line 3: 52 over 30 plus open paren negative 37 over 30 close paren equals 15 over 30 equals one half"/>
          <p:cNvPicPr preferRelativeResize="0"/>
          <p:nvPr/>
        </p:nvPicPr>
        <p:blipFill rotWithShape="1">
          <a:blip r:embed="rId3">
            <a:alphaModFix/>
          </a:blip>
          <a:srcRect b="79228" l="0" r="57414" t="0"/>
          <a:stretch/>
        </p:blipFill>
        <p:spPr>
          <a:xfrm>
            <a:off x="830434" y="1555302"/>
            <a:ext cx="2663375" cy="613500"/>
          </a:xfrm>
          <a:prstGeom prst="rect">
            <a:avLst/>
          </a:prstGeom>
          <a:noFill/>
          <a:ln>
            <a:noFill/>
          </a:ln>
        </p:spPr>
      </p:pic>
      <p:pic>
        <p:nvPicPr>
          <p:cNvPr descr="&lt;math xmlns=&quot;http://www.w3.org/1998/Math/MathML&quot; display=&quot;block&quot; data-is-equatio=&quot;1&quot; data-latex=&quot;\begin{array}{l}\frac{9}{10}-\ \frac{2}{3}+\frac{5}{6}-\frac{17}{30}\\&amp;#13;&amp;#10;\frac{9}{10}+\left(-\ \frac{2}{3}\right)+\frac{5}{6}+\left(-\frac{17}{30}\right)\\&amp;#13;&amp;#10;\begin{array}{l}\frac{9}{10}+\frac{5}{6}=\ \frac{27}{30}+\frac{25}{30}=\frac{52}{30}\\&amp;#13;&amp;#10;\left(-\ \frac{2}{3}\right)+\left(-\frac{17}{30}\right)=\left(-\frac{20}{30}\right)+\left(-\frac{17}{30}\right)=\left(-\frac{37}{30}\right)\\&amp;#13;&amp;#10;\frac{52}{30}+\left(-\frac{37}{30}\right)=\frac{15}{30}=\frac{1}{2}\end{array}\end{array}&quot;&gt;&lt;mtable columnalign=&quot;left&quot; columnspacing=&quot;1em&quot; rowspacing=&quot;4pt&quot;&gt;&lt;mtr&gt;&lt;mtd&gt;&lt;mfrac&gt;&lt;mn&gt;9&lt;/mn&gt;&lt;mn&gt;10&lt;/mn&gt;&lt;/mfrac&gt;&lt;mo&gt;−&lt;/mo&gt;&lt;mtext&gt;&lt;/mtext&gt;&lt;mfrac&gt;&lt;mn&gt;2&lt;/mn&gt;&lt;mn&gt;3&lt;/mn&gt;&lt;/mfrac&gt;&lt;mo&gt;+&lt;/mo&gt;&lt;mfrac&gt;&lt;mn&gt;5&lt;/mn&gt;&lt;mn&gt;6&lt;/mn&gt;&lt;/mfrac&gt;&lt;mo&gt;−&lt;/mo&gt;&lt;mfrac&gt;&lt;mn&gt;17&lt;/mn&gt;&lt;mn&gt;30&lt;/mn&gt;&lt;/mfrac&gt;&lt;/mtd&gt;&lt;/mtr&gt;&lt;mtr&gt;&lt;mtd&gt;&lt;mfrac&gt;&lt;mn&gt;9&lt;/mn&gt;&lt;mn&gt;10&lt;/mn&gt;&lt;/mfrac&gt;&lt;mo&gt;+&lt;/mo&gt;&lt;mrow data-mjx-texclass=&quot;INNER&quot;&gt;&lt;mo data-mjx-texclass=&quot;OPEN&quot;&gt;(&lt;/mo&gt;&lt;mo&gt;−&lt;/mo&gt;&lt;mtext&gt;&lt;/mtext&gt;&lt;mfrac&gt;&lt;mn&gt;2&lt;/mn&gt;&lt;mn&gt;3&lt;/mn&gt;&lt;/mfrac&gt;&lt;mo data-mjx-texclass=&quot;CLOSE&quot;&gt;)&lt;/mo&gt;&lt;/mrow&gt;&lt;mo&gt;+&lt;/mo&gt;&lt;mfrac&gt;&lt;mn&gt;5&lt;/mn&gt;&lt;mn&gt;6&lt;/mn&gt;&lt;/mfrac&gt;&lt;mo&gt;+&lt;/mo&gt;&lt;mrow data-mjx-texclass=&quot;INNER&quot;&gt;&lt;mo data-mjx-texclass=&quot;OPEN&quot;&gt;(&lt;/mo&gt;&lt;mo&gt;−&lt;/mo&gt;&lt;mfrac&gt;&lt;mn&gt;17&lt;/mn&gt;&lt;mn&gt;30&lt;/mn&gt;&lt;/mfrac&gt;&lt;mo data-mjx-texclass=&quot;CLOSE&quot;&gt;)&lt;/mo&gt;&lt;/mrow&gt;&lt;/mtd&gt;&lt;/mtr&gt;&lt;mtr&gt;&lt;mtd&gt;&lt;mtable columnspacing=&quot;1em&quot; rowspacing=&quot;4pt&quot;&gt;&lt;mtr&gt;&lt;mtd&gt;&lt;mfrac&gt;&lt;mn&gt;9&lt;/mn&gt;&lt;mn&gt;10&lt;/mn&gt;&lt;/mfrac&gt;&lt;mo&gt;+&lt;/mo&gt;&lt;mfrac&gt;&lt;mn&gt;5&lt;/mn&gt;&lt;mn&gt;6&lt;/mn&gt;&lt;/mfrac&gt;&lt;mo&gt;=&lt;/mo&gt;&lt;mtext&gt;&lt;/mtext&gt;&lt;mfrac&gt;&lt;mn&gt;27&lt;/mn&gt;&lt;mn&gt;30&lt;/mn&gt;&lt;/mfrac&gt;&lt;mo&gt;+&lt;/mo&gt;&lt;mfrac&gt;&lt;mn&gt;25&lt;/mn&gt;&lt;mn&gt;30&lt;/mn&gt;&lt;/mfrac&gt;&lt;mo&gt;=&lt;/mo&gt;&lt;mfrac&gt;&lt;mn&gt;52&lt;/mn&gt;&lt;mn&gt;30&lt;/mn&gt;&lt;/mfrac&gt;&lt;/mtd&gt;&lt;/mtr&gt;&lt;mtr&gt;&lt;mtd&gt;&lt;mrow data-mjx-texclass=&quot;INNER&quot;&gt;&lt;mo data-mjx-texclass=&quot;OPEN&quot;&gt;(&lt;/mo&gt;&lt;mo&gt;−&lt;/mo&gt;&lt;mtext&gt;&lt;/mtext&gt;&lt;mfrac&gt;&lt;mn&gt;2&lt;/mn&gt;&lt;mn&gt;3&lt;/mn&gt;&lt;/mfrac&gt;&lt;mo data-mjx-texclass=&quot;CLOSE&quot;&gt;)&lt;/mo&gt;&lt;/mrow&gt;&lt;mo&gt;+&lt;/mo&gt;&lt;mrow data-mjx-texclass=&quot;INNER&quot;&gt;&lt;mo data-mjx-texclass=&quot;OPEN&quot;&gt;(&lt;/mo&gt;&lt;mo&gt;−&lt;/mo&gt;&lt;mfrac&gt;&lt;mn&gt;17&lt;/mn&gt;&lt;mn&gt;30&lt;/mn&gt;&lt;/mfrac&gt;&lt;mo data-mjx-texclass=&quot;CLOSE&quot;&gt;)&lt;/mo&gt;&lt;/mrow&gt;&lt;mo&gt;=&lt;/mo&gt;&lt;mrow data-mjx-texclass=&quot;INNER&quot;&gt;&lt;mo data-mjx-texclass=&quot;OPEN&quot;&gt;(&lt;/mo&gt;&lt;mo&gt;−&lt;/mo&gt;&lt;mfrac&gt;&lt;mn&gt;20&lt;/mn&gt;&lt;mn&gt;30&lt;/mn&gt;&lt;/mfrac&gt;&lt;mo data-mjx-texclass=&quot;CLOSE&quot;&gt;)&lt;/mo&gt;&lt;/mrow&gt;&lt;mo&gt;+&lt;/mo&gt;&lt;mrow data-mjx-texclass=&quot;INNER&quot;&gt;&lt;mo data-mjx-texclass=&quot;OPEN&quot;&gt;(&lt;/mo&gt;&lt;mo&gt;−&lt;/mo&gt;&lt;mfrac&gt;&lt;mn&gt;17&lt;/mn&gt;&lt;mn&gt;30&lt;/mn&gt;&lt;/mfrac&gt;&lt;mo data-mjx-texclass=&quot;CLOSE&quot;&gt;)&lt;/mo&gt;&lt;/mrow&gt;&lt;mo&gt;=&lt;/mo&gt;&lt;mrow data-mjx-texclass=&quot;INNER&quot;&gt;&lt;mo data-mjx-texclass=&quot;OPEN&quot;&gt;(&lt;/mo&gt;&lt;mo&gt;−&lt;/mo&gt;&lt;mfrac&gt;&lt;mn&gt;37&lt;/mn&gt;&lt;mn&gt;30&lt;/mn&gt;&lt;/mfrac&gt;&lt;mo data-mjx-texclass=&quot;CLOSE&quot;&gt;)&lt;/mo&gt;&lt;/mrow&gt;&lt;/mtd&gt;&lt;/mtr&gt;&lt;mtr&gt;&lt;mtd&gt;&lt;mfrac&gt;&lt;mn&gt;52&lt;/mn&gt;&lt;mn&gt;30&lt;/mn&gt;&lt;/mfrac&gt;&lt;mo&gt;+&lt;/mo&gt;&lt;mrow data-mjx-texclass=&quot;INNER&quot;&gt;&lt;mo data-mjx-texclass=&quot;OPEN&quot;&gt;(&lt;/mo&gt;&lt;mo&gt;−&lt;/mo&gt;&lt;mfrac&gt;&lt;mn&gt;37&lt;/mn&gt;&lt;mn&gt;30&lt;/mn&gt;&lt;/mfrac&gt;&lt;mo data-mjx-texclass=&quot;CLOSE&quot;&gt;)&lt;/mo&gt;&lt;/mrow&gt;&lt;mo&gt;=&lt;/mo&gt;&lt;mfrac&gt;&lt;mn&gt;15&lt;/mn&gt;&lt;mn&gt;30&lt;/mn&gt;&lt;/mfrac&gt;&lt;mo&gt;=&lt;/mo&gt;&lt;mfrac&gt;&lt;mn&gt;1&lt;/mn&gt;&lt;mn&gt;2&lt;/mn&gt;&lt;/mfrac&gt;&lt;/mtd&gt;&lt;/mtr&gt;&lt;/mtable&gt;&lt;/mtd&gt;&lt;/mtr&gt;&lt;/mtable&gt;&lt;/math&gt;" id="882" name="Google Shape;882;p72" title="3 lines Line 1: nine tenths minus two thirds plus five sixths minus 17 over 30 Line 2: nine tenths plus open paren minus two thirds close paren plus five sixths plus open paren negative 17 over 30 close paren Line 3: Line 1: nine tenths plus five sixths equals 27 over 30 plus 25 over 30 equals 52 over 30 Line 2: open paren minus two thirds close paren plus open paren negative 17 over 30 close paren equals open paren negative 20 over 30 close paren plus open paren negative 17 over 30 close paren equals open paren negative 37 over 30 close paren Line 3: 52 over 30 plus open paren negative 37 over 30 close paren equals 15 over 30 equals one half"/>
          <p:cNvPicPr preferRelativeResize="0"/>
          <p:nvPr/>
        </p:nvPicPr>
        <p:blipFill rotWithShape="1">
          <a:blip r:embed="rId3">
            <a:alphaModFix/>
          </a:blip>
          <a:srcRect b="59792" l="0" r="37930" t="17206"/>
          <a:stretch/>
        </p:blipFill>
        <p:spPr>
          <a:xfrm>
            <a:off x="809234" y="2300039"/>
            <a:ext cx="3881850" cy="679325"/>
          </a:xfrm>
          <a:prstGeom prst="rect">
            <a:avLst/>
          </a:prstGeom>
          <a:noFill/>
          <a:ln>
            <a:noFill/>
          </a:ln>
        </p:spPr>
      </p:pic>
      <p:pic>
        <p:nvPicPr>
          <p:cNvPr descr="&lt;math xmlns=&quot;http://www.w3.org/1998/Math/MathML&quot; display=&quot;block&quot; data-is-equatio=&quot;1&quot; data-latex=&quot;\begin{array}{l}\frac{9}{10}-\ \frac{2}{3}+\frac{5}{6}-\frac{17}{30}\\&amp;#13;&amp;#10;\frac{9}{10}+\left(-\ \frac{2}{3}\right)+\frac{5}{6}+\left(-\frac{17}{30}\right)\\&amp;#13;&amp;#10;\begin{array}{l}\frac{9}{10}+\frac{5}{6}=\ \frac{27}{30}+\frac{25}{30}=\frac{52}{30}\\&amp;#13;&amp;#10;\left(-\ \frac{2}{3}\right)+\left(-\frac{17}{30}\right)=\left(-\frac{20}{30}\right)+\left(-\frac{17}{30}\right)=\left(-\frac{37}{30}\right)\\&amp;#13;&amp;#10;\frac{52}{30}+\left(-\frac{37}{30}\right)=\frac{15}{30}=\frac{1}{2}\end{array}\end{array}&quot;&gt;&lt;mtable columnalign=&quot;left&quot; columnspacing=&quot;1em&quot; rowspacing=&quot;4pt&quot;&gt;&lt;mtr&gt;&lt;mtd&gt;&lt;mfrac&gt;&lt;mn&gt;9&lt;/mn&gt;&lt;mn&gt;10&lt;/mn&gt;&lt;/mfrac&gt;&lt;mo&gt;−&lt;/mo&gt;&lt;mtext&gt;&lt;/mtext&gt;&lt;mfrac&gt;&lt;mn&gt;2&lt;/mn&gt;&lt;mn&gt;3&lt;/mn&gt;&lt;/mfrac&gt;&lt;mo&gt;+&lt;/mo&gt;&lt;mfrac&gt;&lt;mn&gt;5&lt;/mn&gt;&lt;mn&gt;6&lt;/mn&gt;&lt;/mfrac&gt;&lt;mo&gt;−&lt;/mo&gt;&lt;mfrac&gt;&lt;mn&gt;17&lt;/mn&gt;&lt;mn&gt;30&lt;/mn&gt;&lt;/mfrac&gt;&lt;/mtd&gt;&lt;/mtr&gt;&lt;mtr&gt;&lt;mtd&gt;&lt;mfrac&gt;&lt;mn&gt;9&lt;/mn&gt;&lt;mn&gt;10&lt;/mn&gt;&lt;/mfrac&gt;&lt;mo&gt;+&lt;/mo&gt;&lt;mrow data-mjx-texclass=&quot;INNER&quot;&gt;&lt;mo data-mjx-texclass=&quot;OPEN&quot;&gt;(&lt;/mo&gt;&lt;mo&gt;−&lt;/mo&gt;&lt;mtext&gt;&lt;/mtext&gt;&lt;mfrac&gt;&lt;mn&gt;2&lt;/mn&gt;&lt;mn&gt;3&lt;/mn&gt;&lt;/mfrac&gt;&lt;mo data-mjx-texclass=&quot;CLOSE&quot;&gt;)&lt;/mo&gt;&lt;/mrow&gt;&lt;mo&gt;+&lt;/mo&gt;&lt;mfrac&gt;&lt;mn&gt;5&lt;/mn&gt;&lt;mn&gt;6&lt;/mn&gt;&lt;/mfrac&gt;&lt;mo&gt;+&lt;/mo&gt;&lt;mrow data-mjx-texclass=&quot;INNER&quot;&gt;&lt;mo data-mjx-texclass=&quot;OPEN&quot;&gt;(&lt;/mo&gt;&lt;mo&gt;−&lt;/mo&gt;&lt;mfrac&gt;&lt;mn&gt;17&lt;/mn&gt;&lt;mn&gt;30&lt;/mn&gt;&lt;/mfrac&gt;&lt;mo data-mjx-texclass=&quot;CLOSE&quot;&gt;)&lt;/mo&gt;&lt;/mrow&gt;&lt;/mtd&gt;&lt;/mtr&gt;&lt;mtr&gt;&lt;mtd&gt;&lt;mtable columnspacing=&quot;1em&quot; rowspacing=&quot;4pt&quot;&gt;&lt;mtr&gt;&lt;mtd&gt;&lt;mfrac&gt;&lt;mn&gt;9&lt;/mn&gt;&lt;mn&gt;10&lt;/mn&gt;&lt;/mfrac&gt;&lt;mo&gt;+&lt;/mo&gt;&lt;mfrac&gt;&lt;mn&gt;5&lt;/mn&gt;&lt;mn&gt;6&lt;/mn&gt;&lt;/mfrac&gt;&lt;mo&gt;=&lt;/mo&gt;&lt;mtext&gt;&lt;/mtext&gt;&lt;mfrac&gt;&lt;mn&gt;27&lt;/mn&gt;&lt;mn&gt;30&lt;/mn&gt;&lt;/mfrac&gt;&lt;mo&gt;+&lt;/mo&gt;&lt;mfrac&gt;&lt;mn&gt;25&lt;/mn&gt;&lt;mn&gt;30&lt;/mn&gt;&lt;/mfrac&gt;&lt;mo&gt;=&lt;/mo&gt;&lt;mfrac&gt;&lt;mn&gt;52&lt;/mn&gt;&lt;mn&gt;30&lt;/mn&gt;&lt;/mfrac&gt;&lt;/mtd&gt;&lt;/mtr&gt;&lt;mtr&gt;&lt;mtd&gt;&lt;mrow data-mjx-texclass=&quot;INNER&quot;&gt;&lt;mo data-mjx-texclass=&quot;OPEN&quot;&gt;(&lt;/mo&gt;&lt;mo&gt;−&lt;/mo&gt;&lt;mtext&gt;&lt;/mtext&gt;&lt;mfrac&gt;&lt;mn&gt;2&lt;/mn&gt;&lt;mn&gt;3&lt;/mn&gt;&lt;/mfrac&gt;&lt;mo data-mjx-texclass=&quot;CLOSE&quot;&gt;)&lt;/mo&gt;&lt;/mrow&gt;&lt;mo&gt;+&lt;/mo&gt;&lt;mrow data-mjx-texclass=&quot;INNER&quot;&gt;&lt;mo data-mjx-texclass=&quot;OPEN&quot;&gt;(&lt;/mo&gt;&lt;mo&gt;−&lt;/mo&gt;&lt;mfrac&gt;&lt;mn&gt;17&lt;/mn&gt;&lt;mn&gt;30&lt;/mn&gt;&lt;/mfrac&gt;&lt;mo data-mjx-texclass=&quot;CLOSE&quot;&gt;)&lt;/mo&gt;&lt;/mrow&gt;&lt;mo&gt;=&lt;/mo&gt;&lt;mrow data-mjx-texclass=&quot;INNER&quot;&gt;&lt;mo data-mjx-texclass=&quot;OPEN&quot;&gt;(&lt;/mo&gt;&lt;mo&gt;−&lt;/mo&gt;&lt;mfrac&gt;&lt;mn&gt;20&lt;/mn&gt;&lt;mn&gt;30&lt;/mn&gt;&lt;/mfrac&gt;&lt;mo data-mjx-texclass=&quot;CLOSE&quot;&gt;)&lt;/mo&gt;&lt;/mrow&gt;&lt;mo&gt;+&lt;/mo&gt;&lt;mrow data-mjx-texclass=&quot;INNER&quot;&gt;&lt;mo data-mjx-texclass=&quot;OPEN&quot;&gt;(&lt;/mo&gt;&lt;mo&gt;−&lt;/mo&gt;&lt;mfrac&gt;&lt;mn&gt;17&lt;/mn&gt;&lt;mn&gt;30&lt;/mn&gt;&lt;/mfrac&gt;&lt;mo data-mjx-texclass=&quot;CLOSE&quot;&gt;)&lt;/mo&gt;&lt;/mrow&gt;&lt;mo&gt;=&lt;/mo&gt;&lt;mrow data-mjx-texclass=&quot;INNER&quot;&gt;&lt;mo data-mjx-texclass=&quot;OPEN&quot;&gt;(&lt;/mo&gt;&lt;mo&gt;−&lt;/mo&gt;&lt;mfrac&gt;&lt;mn&gt;37&lt;/mn&gt;&lt;mn&gt;30&lt;/mn&gt;&lt;/mfrac&gt;&lt;mo data-mjx-texclass=&quot;CLOSE&quot;&gt;)&lt;/mo&gt;&lt;/mrow&gt;&lt;/mtd&gt;&lt;/mtr&gt;&lt;mtr&gt;&lt;mtd&gt;&lt;mfrac&gt;&lt;mn&gt;52&lt;/mn&gt;&lt;mn&gt;30&lt;/mn&gt;&lt;/mfrac&gt;&lt;mo&gt;+&lt;/mo&gt;&lt;mrow data-mjx-texclass=&quot;INNER&quot;&gt;&lt;mo data-mjx-texclass=&quot;OPEN&quot;&gt;(&lt;/mo&gt;&lt;mo&gt;−&lt;/mo&gt;&lt;mfrac&gt;&lt;mn&gt;37&lt;/mn&gt;&lt;mn&gt;30&lt;/mn&gt;&lt;/mfrac&gt;&lt;mo data-mjx-texclass=&quot;CLOSE&quot;&gt;)&lt;/mo&gt;&lt;/mrow&gt;&lt;mo&gt;=&lt;/mo&gt;&lt;mfrac&gt;&lt;mn&gt;15&lt;/mn&gt;&lt;mn&gt;30&lt;/mn&gt;&lt;/mfrac&gt;&lt;mo&gt;=&lt;/mo&gt;&lt;mfrac&gt;&lt;mn&gt;1&lt;/mn&gt;&lt;mn&gt;2&lt;/mn&gt;&lt;/mfrac&gt;&lt;/mtd&gt;&lt;/mtr&gt;&lt;/mtable&gt;&lt;/mtd&gt;&lt;/mtr&gt;&lt;/mtable&gt;&lt;/math&gt;" id="883" name="Google Shape;883;p72" title="3 lines Line 1: nine tenths minus two thirds plus five sixths minus 17 over 30 Line 2: nine tenths plus open paren minus two thirds close paren plus five sixths plus open paren negative 17 over 30 close paren Line 3: Line 1: nine tenths plus five sixths equals 27 over 30 plus 25 over 30 equals 52 over 30 Line 2: open paren minus two thirds close paren plus open paren negative 17 over 30 close paren equals open paren negative 20 over 30 close paren plus open paren negative 17 over 30 close paren equals open paren negative 37 over 30 close paren Line 3: 52 over 30 plus open paren negative 37 over 30 close paren equals 15 over 30 equals one half"/>
          <p:cNvPicPr preferRelativeResize="0"/>
          <p:nvPr/>
        </p:nvPicPr>
        <p:blipFill rotWithShape="1">
          <a:blip r:embed="rId3">
            <a:alphaModFix/>
          </a:blip>
          <a:srcRect b="40001" l="0" r="82730" t="39226"/>
          <a:stretch/>
        </p:blipFill>
        <p:spPr>
          <a:xfrm>
            <a:off x="5689656" y="1675875"/>
            <a:ext cx="1080051" cy="613500"/>
          </a:xfrm>
          <a:prstGeom prst="rect">
            <a:avLst/>
          </a:prstGeom>
          <a:noFill/>
          <a:ln>
            <a:noFill/>
          </a:ln>
        </p:spPr>
      </p:pic>
      <p:pic>
        <p:nvPicPr>
          <p:cNvPr descr="&lt;math xmlns=&quot;http://www.w3.org/1998/Math/MathML&quot; display=&quot;block&quot; data-is-equatio=&quot;1&quot; data-latex=&quot;\begin{array}{l}\frac{9}{10}-\ \frac{2}{3}+\frac{5}{6}-\frac{17}{30}\\&amp;#13;&amp;#10;\frac{9}{10}+\left(-\ \frac{2}{3}\right)+\frac{5}{6}+\left(-\frac{17}{30}\right)\\&amp;#13;&amp;#10;\begin{array}{l}\frac{9}{10}+\frac{5}{6}=\ \frac{27}{30}+\frac{25}{30}=\frac{52}{30}\\&amp;#13;&amp;#10;\left(-\ \frac{2}{3}\right)+\left(-\frac{17}{30}\right)=\left(-\frac{20}{30}\right)+\left(-\frac{17}{30}\right)=\left(-\frac{37}{30}\right)\\&amp;#13;&amp;#10;\frac{52}{30}+\left(-\frac{37}{30}\right)=\frac{15}{30}=\frac{1}{2}\end{array}\end{array}&quot;&gt;&lt;mtable columnalign=&quot;left&quot; columnspacing=&quot;1em&quot; rowspacing=&quot;4pt&quot;&gt;&lt;mtr&gt;&lt;mtd&gt;&lt;mfrac&gt;&lt;mn&gt;9&lt;/mn&gt;&lt;mn&gt;10&lt;/mn&gt;&lt;/mfrac&gt;&lt;mo&gt;−&lt;/mo&gt;&lt;mtext&gt;&lt;/mtext&gt;&lt;mfrac&gt;&lt;mn&gt;2&lt;/mn&gt;&lt;mn&gt;3&lt;/mn&gt;&lt;/mfrac&gt;&lt;mo&gt;+&lt;/mo&gt;&lt;mfrac&gt;&lt;mn&gt;5&lt;/mn&gt;&lt;mn&gt;6&lt;/mn&gt;&lt;/mfrac&gt;&lt;mo&gt;−&lt;/mo&gt;&lt;mfrac&gt;&lt;mn&gt;17&lt;/mn&gt;&lt;mn&gt;30&lt;/mn&gt;&lt;/mfrac&gt;&lt;/mtd&gt;&lt;/mtr&gt;&lt;mtr&gt;&lt;mtd&gt;&lt;mfrac&gt;&lt;mn&gt;9&lt;/mn&gt;&lt;mn&gt;10&lt;/mn&gt;&lt;/mfrac&gt;&lt;mo&gt;+&lt;/mo&gt;&lt;mrow data-mjx-texclass=&quot;INNER&quot;&gt;&lt;mo data-mjx-texclass=&quot;OPEN&quot;&gt;(&lt;/mo&gt;&lt;mo&gt;−&lt;/mo&gt;&lt;mtext&gt;&lt;/mtext&gt;&lt;mfrac&gt;&lt;mn&gt;2&lt;/mn&gt;&lt;mn&gt;3&lt;/mn&gt;&lt;/mfrac&gt;&lt;mo data-mjx-texclass=&quot;CLOSE&quot;&gt;)&lt;/mo&gt;&lt;/mrow&gt;&lt;mo&gt;+&lt;/mo&gt;&lt;mfrac&gt;&lt;mn&gt;5&lt;/mn&gt;&lt;mn&gt;6&lt;/mn&gt;&lt;/mfrac&gt;&lt;mo&gt;+&lt;/mo&gt;&lt;mrow data-mjx-texclass=&quot;INNER&quot;&gt;&lt;mo data-mjx-texclass=&quot;OPEN&quot;&gt;(&lt;/mo&gt;&lt;mo&gt;−&lt;/mo&gt;&lt;mfrac&gt;&lt;mn&gt;17&lt;/mn&gt;&lt;mn&gt;30&lt;/mn&gt;&lt;/mfrac&gt;&lt;mo data-mjx-texclass=&quot;CLOSE&quot;&gt;)&lt;/mo&gt;&lt;/mrow&gt;&lt;/mtd&gt;&lt;/mtr&gt;&lt;mtr&gt;&lt;mtd&gt;&lt;mtable columnspacing=&quot;1em&quot; rowspacing=&quot;4pt&quot;&gt;&lt;mtr&gt;&lt;mtd&gt;&lt;mfrac&gt;&lt;mn&gt;9&lt;/mn&gt;&lt;mn&gt;10&lt;/mn&gt;&lt;/mfrac&gt;&lt;mo&gt;+&lt;/mo&gt;&lt;mfrac&gt;&lt;mn&gt;5&lt;/mn&gt;&lt;mn&gt;6&lt;/mn&gt;&lt;/mfrac&gt;&lt;mo&gt;=&lt;/mo&gt;&lt;mtext&gt;&lt;/mtext&gt;&lt;mfrac&gt;&lt;mn&gt;27&lt;/mn&gt;&lt;mn&gt;30&lt;/mn&gt;&lt;/mfrac&gt;&lt;mo&gt;+&lt;/mo&gt;&lt;mfrac&gt;&lt;mn&gt;25&lt;/mn&gt;&lt;mn&gt;30&lt;/mn&gt;&lt;/mfrac&gt;&lt;mo&gt;=&lt;/mo&gt;&lt;mfrac&gt;&lt;mn&gt;52&lt;/mn&gt;&lt;mn&gt;30&lt;/mn&gt;&lt;/mfrac&gt;&lt;/mtd&gt;&lt;/mtr&gt;&lt;mtr&gt;&lt;mtd&gt;&lt;mrow data-mjx-texclass=&quot;INNER&quot;&gt;&lt;mo data-mjx-texclass=&quot;OPEN&quot;&gt;(&lt;/mo&gt;&lt;mo&gt;−&lt;/mo&gt;&lt;mtext&gt;&lt;/mtext&gt;&lt;mfrac&gt;&lt;mn&gt;2&lt;/mn&gt;&lt;mn&gt;3&lt;/mn&gt;&lt;/mfrac&gt;&lt;mo data-mjx-texclass=&quot;CLOSE&quot;&gt;)&lt;/mo&gt;&lt;/mrow&gt;&lt;mo&gt;+&lt;/mo&gt;&lt;mrow data-mjx-texclass=&quot;INNER&quot;&gt;&lt;mo data-mjx-texclass=&quot;OPEN&quot;&gt;(&lt;/mo&gt;&lt;mo&gt;−&lt;/mo&gt;&lt;mfrac&gt;&lt;mn&gt;17&lt;/mn&gt;&lt;mn&gt;30&lt;/mn&gt;&lt;/mfrac&gt;&lt;mo data-mjx-texclass=&quot;CLOSE&quot;&gt;)&lt;/mo&gt;&lt;/mrow&gt;&lt;mo&gt;=&lt;/mo&gt;&lt;mrow data-mjx-texclass=&quot;INNER&quot;&gt;&lt;mo data-mjx-texclass=&quot;OPEN&quot;&gt;(&lt;/mo&gt;&lt;mo&gt;−&lt;/mo&gt;&lt;mfrac&gt;&lt;mn&gt;20&lt;/mn&gt;&lt;mn&gt;30&lt;/mn&gt;&lt;/mfrac&gt;&lt;mo data-mjx-texclass=&quot;CLOSE&quot;&gt;)&lt;/mo&gt;&lt;/mrow&gt;&lt;mo&gt;+&lt;/mo&gt;&lt;mrow data-mjx-texclass=&quot;INNER&quot;&gt;&lt;mo data-mjx-texclass=&quot;OPEN&quot;&gt;(&lt;/mo&gt;&lt;mo&gt;−&lt;/mo&gt;&lt;mfrac&gt;&lt;mn&gt;17&lt;/mn&gt;&lt;mn&gt;30&lt;/mn&gt;&lt;/mfrac&gt;&lt;mo data-mjx-texclass=&quot;CLOSE&quot;&gt;)&lt;/mo&gt;&lt;/mrow&gt;&lt;mo&gt;=&lt;/mo&gt;&lt;mrow data-mjx-texclass=&quot;INNER&quot;&gt;&lt;mo data-mjx-texclass=&quot;OPEN&quot;&gt;(&lt;/mo&gt;&lt;mo&gt;−&lt;/mo&gt;&lt;mfrac&gt;&lt;mn&gt;37&lt;/mn&gt;&lt;mn&gt;30&lt;/mn&gt;&lt;/mfrac&gt;&lt;mo data-mjx-texclass=&quot;CLOSE&quot;&gt;)&lt;/mo&gt;&lt;/mrow&gt;&lt;/mtd&gt;&lt;/mtr&gt;&lt;mtr&gt;&lt;mtd&gt;&lt;mfrac&gt;&lt;mn&gt;52&lt;/mn&gt;&lt;mn&gt;30&lt;/mn&gt;&lt;/mfrac&gt;&lt;mo&gt;+&lt;/mo&gt;&lt;mrow data-mjx-texclass=&quot;INNER&quot;&gt;&lt;mo data-mjx-texclass=&quot;OPEN&quot;&gt;(&lt;/mo&gt;&lt;mo&gt;−&lt;/mo&gt;&lt;mfrac&gt;&lt;mn&gt;37&lt;/mn&gt;&lt;mn&gt;30&lt;/mn&gt;&lt;/mfrac&gt;&lt;mo data-mjx-texclass=&quot;CLOSE&quot;&gt;)&lt;/mo&gt;&lt;/mrow&gt;&lt;mo&gt;=&lt;/mo&gt;&lt;mfrac&gt;&lt;mn&gt;15&lt;/mn&gt;&lt;mn&gt;30&lt;/mn&gt;&lt;/mfrac&gt;&lt;mo&gt;=&lt;/mo&gt;&lt;mfrac&gt;&lt;mn&gt;1&lt;/mn&gt;&lt;mn&gt;2&lt;/mn&gt;&lt;/mfrac&gt;&lt;/mtd&gt;&lt;/mtr&gt;&lt;/mtable&gt;&lt;/mtd&gt;&lt;/mtr&gt;&lt;/mtable&gt;&lt;/math&gt;" id="884" name="Google Shape;884;p72" title="3 lines Line 1: nine tenths minus two thirds plus five sixths minus 17 over 30 Line 2: nine tenths plus open paren minus two thirds close paren plus five sixths plus open paren negative 17 over 30 close paren Line 3: Line 1: nine tenths plus five sixths equals 27 over 30 plus 25 over 30 equals 52 over 30 Line 2: open paren minus two thirds close paren plus open paren negative 17 over 30 close paren equals open paren negative 20 over 30 close paren plus open paren negative 17 over 30 close paren equals open paren negative 37 over 30 close paren Line 3: 52 over 30 plus open paren negative 37 over 30 close paren equals 15 over 30 equals one half"/>
          <p:cNvPicPr preferRelativeResize="0"/>
          <p:nvPr/>
        </p:nvPicPr>
        <p:blipFill rotWithShape="1">
          <a:blip r:embed="rId3">
            <a:alphaModFix/>
          </a:blip>
          <a:srcRect b="17001" l="0" r="63715" t="59998"/>
          <a:stretch/>
        </p:blipFill>
        <p:spPr>
          <a:xfrm>
            <a:off x="5590781" y="3288275"/>
            <a:ext cx="2049426" cy="613500"/>
          </a:xfrm>
          <a:prstGeom prst="rect">
            <a:avLst/>
          </a:prstGeom>
          <a:noFill/>
          <a:ln>
            <a:noFill/>
          </a:ln>
        </p:spPr>
      </p:pic>
      <p:pic>
        <p:nvPicPr>
          <p:cNvPr descr="&lt;math xmlns=&quot;http://www.w3.org/1998/Math/MathML&quot; display=&quot;block&quot; data-is-equatio=&quot;1&quot; data-latex=&quot;\begin{array}{l}\frac{9}{10}-\ \frac{2}{3}+\frac{5}{6}-\frac{17}{30}\\&amp;#13;&amp;#10;\frac{9}{10}+\left(-\ \frac{2}{3}\right)+\frac{5}{6}+\left(-\frac{17}{30}\right)\\&amp;#13;&amp;#10;\begin{array}{l}\frac{9}{10}+\frac{5}{6}=\ \frac{27}{30}+\frac{25}{30}=\frac{52}{30}\\&amp;#13;&amp;#10;\left(-\ \frac{2}{3}\right)+\left(-\frac{17}{30}\right)=\left(-\frac{20}{30}\right)+\left(-\frac{17}{30}\right)=\left(-\frac{37}{30}\right)\\&amp;#13;&amp;#10;\frac{52}{30}+\left(-\frac{37}{30}\right)=\frac{15}{30}=\frac{1}{2}\end{array}\end{array}&quot;&gt;&lt;mtable columnalign=&quot;left&quot; columnspacing=&quot;1em&quot; rowspacing=&quot;4pt&quot;&gt;&lt;mtr&gt;&lt;mtd&gt;&lt;mfrac&gt;&lt;mn&gt;9&lt;/mn&gt;&lt;mn&gt;10&lt;/mn&gt;&lt;/mfrac&gt;&lt;mo&gt;−&lt;/mo&gt;&lt;mtext&gt;&lt;/mtext&gt;&lt;mfrac&gt;&lt;mn&gt;2&lt;/mn&gt;&lt;mn&gt;3&lt;/mn&gt;&lt;/mfrac&gt;&lt;mo&gt;+&lt;/mo&gt;&lt;mfrac&gt;&lt;mn&gt;5&lt;/mn&gt;&lt;mn&gt;6&lt;/mn&gt;&lt;/mfrac&gt;&lt;mo&gt;−&lt;/mo&gt;&lt;mfrac&gt;&lt;mn&gt;17&lt;/mn&gt;&lt;mn&gt;30&lt;/mn&gt;&lt;/mfrac&gt;&lt;/mtd&gt;&lt;/mtr&gt;&lt;mtr&gt;&lt;mtd&gt;&lt;mfrac&gt;&lt;mn&gt;9&lt;/mn&gt;&lt;mn&gt;10&lt;/mn&gt;&lt;/mfrac&gt;&lt;mo&gt;+&lt;/mo&gt;&lt;mrow data-mjx-texclass=&quot;INNER&quot;&gt;&lt;mo data-mjx-texclass=&quot;OPEN&quot;&gt;(&lt;/mo&gt;&lt;mo&gt;−&lt;/mo&gt;&lt;mtext&gt;&lt;/mtext&gt;&lt;mfrac&gt;&lt;mn&gt;2&lt;/mn&gt;&lt;mn&gt;3&lt;/mn&gt;&lt;/mfrac&gt;&lt;mo data-mjx-texclass=&quot;CLOSE&quot;&gt;)&lt;/mo&gt;&lt;/mrow&gt;&lt;mo&gt;+&lt;/mo&gt;&lt;mfrac&gt;&lt;mn&gt;5&lt;/mn&gt;&lt;mn&gt;6&lt;/mn&gt;&lt;/mfrac&gt;&lt;mo&gt;+&lt;/mo&gt;&lt;mrow data-mjx-texclass=&quot;INNER&quot;&gt;&lt;mo data-mjx-texclass=&quot;OPEN&quot;&gt;(&lt;/mo&gt;&lt;mo&gt;−&lt;/mo&gt;&lt;mfrac&gt;&lt;mn&gt;17&lt;/mn&gt;&lt;mn&gt;30&lt;/mn&gt;&lt;/mfrac&gt;&lt;mo data-mjx-texclass=&quot;CLOSE&quot;&gt;)&lt;/mo&gt;&lt;/mrow&gt;&lt;/mtd&gt;&lt;/mtr&gt;&lt;mtr&gt;&lt;mtd&gt;&lt;mtable columnspacing=&quot;1em&quot; rowspacing=&quot;4pt&quot;&gt;&lt;mtr&gt;&lt;mtd&gt;&lt;mfrac&gt;&lt;mn&gt;9&lt;/mn&gt;&lt;mn&gt;10&lt;/mn&gt;&lt;/mfrac&gt;&lt;mo&gt;+&lt;/mo&gt;&lt;mfrac&gt;&lt;mn&gt;5&lt;/mn&gt;&lt;mn&gt;6&lt;/mn&gt;&lt;/mfrac&gt;&lt;mo&gt;=&lt;/mo&gt;&lt;mtext&gt;&lt;/mtext&gt;&lt;mfrac&gt;&lt;mn&gt;27&lt;/mn&gt;&lt;mn&gt;30&lt;/mn&gt;&lt;/mfrac&gt;&lt;mo&gt;+&lt;/mo&gt;&lt;mfrac&gt;&lt;mn&gt;25&lt;/mn&gt;&lt;mn&gt;30&lt;/mn&gt;&lt;/mfrac&gt;&lt;mo&gt;=&lt;/mo&gt;&lt;mfrac&gt;&lt;mn&gt;52&lt;/mn&gt;&lt;mn&gt;30&lt;/mn&gt;&lt;/mfrac&gt;&lt;/mtd&gt;&lt;/mtr&gt;&lt;mtr&gt;&lt;mtd&gt;&lt;mrow data-mjx-texclass=&quot;INNER&quot;&gt;&lt;mo data-mjx-texclass=&quot;OPEN&quot;&gt;(&lt;/mo&gt;&lt;mo&gt;−&lt;/mo&gt;&lt;mtext&gt;&lt;/mtext&gt;&lt;mfrac&gt;&lt;mn&gt;2&lt;/mn&gt;&lt;mn&gt;3&lt;/mn&gt;&lt;/mfrac&gt;&lt;mo data-mjx-texclass=&quot;CLOSE&quot;&gt;)&lt;/mo&gt;&lt;/mrow&gt;&lt;mo&gt;+&lt;/mo&gt;&lt;mrow data-mjx-texclass=&quot;INNER&quot;&gt;&lt;mo data-mjx-texclass=&quot;OPEN&quot;&gt;(&lt;/mo&gt;&lt;mo&gt;−&lt;/mo&gt;&lt;mfrac&gt;&lt;mn&gt;17&lt;/mn&gt;&lt;mn&gt;30&lt;/mn&gt;&lt;/mfrac&gt;&lt;mo data-mjx-texclass=&quot;CLOSE&quot;&gt;)&lt;/mo&gt;&lt;/mrow&gt;&lt;mo&gt;=&lt;/mo&gt;&lt;mrow data-mjx-texclass=&quot;INNER&quot;&gt;&lt;mo data-mjx-texclass=&quot;OPEN&quot;&gt;(&lt;/mo&gt;&lt;mo&gt;−&lt;/mo&gt;&lt;mfrac&gt;&lt;mn&gt;20&lt;/mn&gt;&lt;mn&gt;30&lt;/mn&gt;&lt;/mfrac&gt;&lt;mo data-mjx-texclass=&quot;CLOSE&quot;&gt;)&lt;/mo&gt;&lt;/mrow&gt;&lt;mo&gt;+&lt;/mo&gt;&lt;mrow data-mjx-texclass=&quot;INNER&quot;&gt;&lt;mo data-mjx-texclass=&quot;OPEN&quot;&gt;(&lt;/mo&gt;&lt;mo&gt;−&lt;/mo&gt;&lt;mfrac&gt;&lt;mn&gt;17&lt;/mn&gt;&lt;mn&gt;30&lt;/mn&gt;&lt;/mfrac&gt;&lt;mo data-mjx-texclass=&quot;CLOSE&quot;&gt;)&lt;/mo&gt;&lt;/mrow&gt;&lt;mo&gt;=&lt;/mo&gt;&lt;mrow data-mjx-texclass=&quot;INNER&quot;&gt;&lt;mo data-mjx-texclass=&quot;OPEN&quot;&gt;(&lt;/mo&gt;&lt;mo&gt;−&lt;/mo&gt;&lt;mfrac&gt;&lt;mn&gt;37&lt;/mn&gt;&lt;mn&gt;30&lt;/mn&gt;&lt;/mfrac&gt;&lt;mo data-mjx-texclass=&quot;CLOSE&quot;&gt;)&lt;/mo&gt;&lt;/mrow&gt;&lt;/mtd&gt;&lt;/mtr&gt;&lt;mtr&gt;&lt;mtd&gt;&lt;mfrac&gt;&lt;mn&gt;52&lt;/mn&gt;&lt;mn&gt;30&lt;/mn&gt;&lt;/mfrac&gt;&lt;mo&gt;+&lt;/mo&gt;&lt;mrow data-mjx-texclass=&quot;INNER&quot;&gt;&lt;mo data-mjx-texclass=&quot;OPEN&quot;&gt;(&lt;/mo&gt;&lt;mo&gt;−&lt;/mo&gt;&lt;mfrac&gt;&lt;mn&gt;37&lt;/mn&gt;&lt;mn&gt;30&lt;/mn&gt;&lt;/mfrac&gt;&lt;mo data-mjx-texclass=&quot;CLOSE&quot;&gt;)&lt;/mo&gt;&lt;/mrow&gt;&lt;mo&gt;=&lt;/mo&gt;&lt;mfrac&gt;&lt;mn&gt;15&lt;/mn&gt;&lt;mn&gt;30&lt;/mn&gt;&lt;/mfrac&gt;&lt;mo&gt;=&lt;/mo&gt;&lt;mfrac&gt;&lt;mn&gt;1&lt;/mn&gt;&lt;mn&gt;2&lt;/mn&gt;&lt;/mfrac&gt;&lt;/mtd&gt;&lt;/mtr&gt;&lt;/mtable&gt;&lt;/mtd&gt;&lt;/mtr&gt;&lt;/mtable&gt;&lt;/math&gt;" id="885" name="Google Shape;885;p72" title="3 lines Line 1: nine tenths minus two thirds plus five sixths minus 17 over 30 Line 2: nine tenths plus open paren minus two thirds close paren plus five sixths plus open paren negative 17 over 30 close paren Line 3: Line 1: nine tenths plus five sixths equals 27 over 30 plus 25 over 30 equals 52 over 30 Line 2: open paren minus two thirds close paren plus open paren negative 17 over 30 close paren equals open paren negative 20 over 30 close paren plus open paren negative 17 over 30 close paren equals open paren negative 37 over 30 close paren Line 3: 52 over 30 plus open paren negative 37 over 30 close paren equals 15 over 30 equals one half"/>
          <p:cNvPicPr preferRelativeResize="0"/>
          <p:nvPr/>
        </p:nvPicPr>
        <p:blipFill rotWithShape="1">
          <a:blip r:embed="rId3">
            <a:alphaModFix/>
          </a:blip>
          <a:srcRect b="-3615" l="-1031" r="46455" t="80615"/>
          <a:stretch/>
        </p:blipFill>
        <p:spPr>
          <a:xfrm>
            <a:off x="675901" y="3110600"/>
            <a:ext cx="3677599" cy="731949"/>
          </a:xfrm>
          <a:prstGeom prst="rect">
            <a:avLst/>
          </a:prstGeom>
          <a:noFill/>
          <a:ln>
            <a:noFill/>
          </a:ln>
        </p:spPr>
      </p:pic>
      <p:pic>
        <p:nvPicPr>
          <p:cNvPr descr="&lt;math xmlns=&quot;http://www.w3.org/1998/Math/MathML&quot; display=&quot;block&quot; data-is-equatio=&quot;1&quot; data-latex=&quot;\begin{array}{l}\frac{9}{10}-\ \frac{2}{3}+\frac{5}{6}-\frac{17}{30}\\&amp;#13;&amp;#10;\frac{9}{10}+\left(-\ \frac{2}{3}\right)+\frac{5}{6}+\left(-\frac{17}{30}\right)\\&amp;#13;&amp;#10;\begin{array}{l}\frac{9}{10}+\frac{5}{6}=\ \frac{27}{30}+\frac{25}{30}=\frac{52}{30}\\&amp;#13;&amp;#10;\left(-\ \frac{2}{3}\right)+\left(-\frac{17}{30}\right)=\left(-\frac{20}{30}\right)+\left(-\frac{17}{30}\right)=\left(-\frac{37}{30}\right)\\&amp;#13;&amp;#10;\frac{52}{30}+\left(-\frac{37}{30}\right)=\frac{15}{30}=\frac{1}{2}\end{array}\end{array}&quot;&gt;&lt;mtable columnalign=&quot;left&quot; columnspacing=&quot;1em&quot; rowspacing=&quot;4pt&quot;&gt;&lt;mtr&gt;&lt;mtd&gt;&lt;mfrac&gt;&lt;mn&gt;9&lt;/mn&gt;&lt;mn&gt;10&lt;/mn&gt;&lt;/mfrac&gt;&lt;mo&gt;−&lt;/mo&gt;&lt;mtext&gt;&lt;/mtext&gt;&lt;mfrac&gt;&lt;mn&gt;2&lt;/mn&gt;&lt;mn&gt;3&lt;/mn&gt;&lt;/mfrac&gt;&lt;mo&gt;+&lt;/mo&gt;&lt;mfrac&gt;&lt;mn&gt;5&lt;/mn&gt;&lt;mn&gt;6&lt;/mn&gt;&lt;/mfrac&gt;&lt;mo&gt;−&lt;/mo&gt;&lt;mfrac&gt;&lt;mn&gt;17&lt;/mn&gt;&lt;mn&gt;30&lt;/mn&gt;&lt;/mfrac&gt;&lt;/mtd&gt;&lt;/mtr&gt;&lt;mtr&gt;&lt;mtd&gt;&lt;mfrac&gt;&lt;mn&gt;9&lt;/mn&gt;&lt;mn&gt;10&lt;/mn&gt;&lt;/mfrac&gt;&lt;mo&gt;+&lt;/mo&gt;&lt;mrow data-mjx-texclass=&quot;INNER&quot;&gt;&lt;mo data-mjx-texclass=&quot;OPEN&quot;&gt;(&lt;/mo&gt;&lt;mo&gt;−&lt;/mo&gt;&lt;mtext&gt;&lt;/mtext&gt;&lt;mfrac&gt;&lt;mn&gt;2&lt;/mn&gt;&lt;mn&gt;3&lt;/mn&gt;&lt;/mfrac&gt;&lt;mo data-mjx-texclass=&quot;CLOSE&quot;&gt;)&lt;/mo&gt;&lt;/mrow&gt;&lt;mo&gt;+&lt;/mo&gt;&lt;mfrac&gt;&lt;mn&gt;5&lt;/mn&gt;&lt;mn&gt;6&lt;/mn&gt;&lt;/mfrac&gt;&lt;mo&gt;+&lt;/mo&gt;&lt;mrow data-mjx-texclass=&quot;INNER&quot;&gt;&lt;mo data-mjx-texclass=&quot;OPEN&quot;&gt;(&lt;/mo&gt;&lt;mo&gt;−&lt;/mo&gt;&lt;mfrac&gt;&lt;mn&gt;17&lt;/mn&gt;&lt;mn&gt;30&lt;/mn&gt;&lt;/mfrac&gt;&lt;mo data-mjx-texclass=&quot;CLOSE&quot;&gt;)&lt;/mo&gt;&lt;/mrow&gt;&lt;/mtd&gt;&lt;/mtr&gt;&lt;mtr&gt;&lt;mtd&gt;&lt;mtable columnspacing=&quot;1em&quot; rowspacing=&quot;4pt&quot;&gt;&lt;mtr&gt;&lt;mtd&gt;&lt;mfrac&gt;&lt;mn&gt;9&lt;/mn&gt;&lt;mn&gt;10&lt;/mn&gt;&lt;/mfrac&gt;&lt;mo&gt;+&lt;/mo&gt;&lt;mfrac&gt;&lt;mn&gt;5&lt;/mn&gt;&lt;mn&gt;6&lt;/mn&gt;&lt;/mfrac&gt;&lt;mo&gt;=&lt;/mo&gt;&lt;mtext&gt;&lt;/mtext&gt;&lt;mfrac&gt;&lt;mn&gt;27&lt;/mn&gt;&lt;mn&gt;30&lt;/mn&gt;&lt;/mfrac&gt;&lt;mo&gt;+&lt;/mo&gt;&lt;mfrac&gt;&lt;mn&gt;25&lt;/mn&gt;&lt;mn&gt;30&lt;/mn&gt;&lt;/mfrac&gt;&lt;mo&gt;=&lt;/mo&gt;&lt;mfrac&gt;&lt;mn&gt;52&lt;/mn&gt;&lt;mn&gt;30&lt;/mn&gt;&lt;/mfrac&gt;&lt;/mtd&gt;&lt;/mtr&gt;&lt;mtr&gt;&lt;mtd&gt;&lt;mrow data-mjx-texclass=&quot;INNER&quot;&gt;&lt;mo data-mjx-texclass=&quot;OPEN&quot;&gt;(&lt;/mo&gt;&lt;mo&gt;−&lt;/mo&gt;&lt;mtext&gt;&lt;/mtext&gt;&lt;mfrac&gt;&lt;mn&gt;2&lt;/mn&gt;&lt;mn&gt;3&lt;/mn&gt;&lt;/mfrac&gt;&lt;mo data-mjx-texclass=&quot;CLOSE&quot;&gt;)&lt;/mo&gt;&lt;/mrow&gt;&lt;mo&gt;+&lt;/mo&gt;&lt;mrow data-mjx-texclass=&quot;INNER&quot;&gt;&lt;mo data-mjx-texclass=&quot;OPEN&quot;&gt;(&lt;/mo&gt;&lt;mo&gt;−&lt;/mo&gt;&lt;mfrac&gt;&lt;mn&gt;17&lt;/mn&gt;&lt;mn&gt;30&lt;/mn&gt;&lt;/mfrac&gt;&lt;mo data-mjx-texclass=&quot;CLOSE&quot;&gt;)&lt;/mo&gt;&lt;/mrow&gt;&lt;mo&gt;=&lt;/mo&gt;&lt;mrow data-mjx-texclass=&quot;INNER&quot;&gt;&lt;mo data-mjx-texclass=&quot;OPEN&quot;&gt;(&lt;/mo&gt;&lt;mo&gt;−&lt;/mo&gt;&lt;mfrac&gt;&lt;mn&gt;20&lt;/mn&gt;&lt;mn&gt;30&lt;/mn&gt;&lt;/mfrac&gt;&lt;mo data-mjx-texclass=&quot;CLOSE&quot;&gt;)&lt;/mo&gt;&lt;/mrow&gt;&lt;mo&gt;+&lt;/mo&gt;&lt;mrow data-mjx-texclass=&quot;INNER&quot;&gt;&lt;mo data-mjx-texclass=&quot;OPEN&quot;&gt;(&lt;/mo&gt;&lt;mo&gt;−&lt;/mo&gt;&lt;mfrac&gt;&lt;mn&gt;17&lt;/mn&gt;&lt;mn&gt;30&lt;/mn&gt;&lt;/mfrac&gt;&lt;mo data-mjx-texclass=&quot;CLOSE&quot;&gt;)&lt;/mo&gt;&lt;/mrow&gt;&lt;mo&gt;=&lt;/mo&gt;&lt;mrow data-mjx-texclass=&quot;INNER&quot;&gt;&lt;mo data-mjx-texclass=&quot;OPEN&quot;&gt;(&lt;/mo&gt;&lt;mo&gt;−&lt;/mo&gt;&lt;mfrac&gt;&lt;mn&gt;37&lt;/mn&gt;&lt;mn&gt;30&lt;/mn&gt;&lt;/mfrac&gt;&lt;mo data-mjx-texclass=&quot;CLOSE&quot;&gt;)&lt;/mo&gt;&lt;/mrow&gt;&lt;/mtd&gt;&lt;/mtr&gt;&lt;mtr&gt;&lt;mtd&gt;&lt;mfrac&gt;&lt;mn&gt;52&lt;/mn&gt;&lt;mn&gt;30&lt;/mn&gt;&lt;/mfrac&gt;&lt;mo&gt;+&lt;/mo&gt;&lt;mrow data-mjx-texclass=&quot;INNER&quot;&gt;&lt;mo data-mjx-texclass=&quot;OPEN&quot;&gt;(&lt;/mo&gt;&lt;mo&gt;−&lt;/mo&gt;&lt;mfrac&gt;&lt;mn&gt;37&lt;/mn&gt;&lt;mn&gt;30&lt;/mn&gt;&lt;/mfrac&gt;&lt;mo data-mjx-texclass=&quot;CLOSE&quot;&gt;)&lt;/mo&gt;&lt;/mrow&gt;&lt;mo&gt;=&lt;/mo&gt;&lt;mfrac&gt;&lt;mn&gt;15&lt;/mn&gt;&lt;mn&gt;30&lt;/mn&gt;&lt;/mfrac&gt;&lt;mo&gt;=&lt;/mo&gt;&lt;mfrac&gt;&lt;mn&gt;1&lt;/mn&gt;&lt;mn&gt;2&lt;/mn&gt;&lt;/mfrac&gt;&lt;/mtd&gt;&lt;/mtr&gt;&lt;/mtable&gt;&lt;/mtd&gt;&lt;/mtr&gt;&lt;/mtable&gt;&lt;/math&gt;" id="886" name="Google Shape;886;p72" title="3 lines Line 1: nine tenths minus two thirds plus five sixths minus 17 over 30 Line 2: nine tenths plus open paren minus two thirds close paren plus five sixths plus open paren negative 17 over 30 close paren Line 3: Line 1: nine tenths plus five sixths equals 27 over 30 plus 25 over 30 equals 52 over 30 Line 2: open paren minus two thirds close paren plus open paren negative 17 over 30 close paren equals open paren negative 20 over 30 close paren plus open paren negative 17 over 30 close paren equals open paren negative 37 over 30 close paren Line 3: 52 over 30 plus open paren negative 37 over 30 close paren equals 15 over 30 equals one half"/>
          <p:cNvPicPr preferRelativeResize="0"/>
          <p:nvPr/>
        </p:nvPicPr>
        <p:blipFill rotWithShape="1">
          <a:blip r:embed="rId3">
            <a:alphaModFix/>
          </a:blip>
          <a:srcRect b="40001" l="17629" r="37929" t="39226"/>
          <a:stretch/>
        </p:blipFill>
        <p:spPr>
          <a:xfrm>
            <a:off x="5253003" y="2318900"/>
            <a:ext cx="2779374" cy="613500"/>
          </a:xfrm>
          <a:prstGeom prst="rect">
            <a:avLst/>
          </a:prstGeom>
          <a:noFill/>
          <a:ln>
            <a:noFill/>
          </a:ln>
        </p:spPr>
      </p:pic>
      <p:pic>
        <p:nvPicPr>
          <p:cNvPr descr="&lt;math xmlns=&quot;http://www.w3.org/1998/Math/MathML&quot; display=&quot;block&quot; data-is-equatio=&quot;1&quot; data-latex=&quot;\begin{array}{l}\frac{9}{10}-\ \frac{2}{3}+\frac{5}{6}-\frac{17}{30}\\&amp;#13;&amp;#10;\frac{9}{10}+\left(-\ \frac{2}{3}\right)+\frac{5}{6}+\left(-\frac{17}{30}\right)\\&amp;#13;&amp;#10;\begin{array}{l}\frac{9}{10}+\frac{5}{6}=\ \frac{27}{30}+\frac{25}{30}=\frac{52}{30}\\&amp;#13;&amp;#10;\left(-\ \frac{2}{3}\right)+\left(-\frac{17}{30}\right)=\left(-\frac{20}{30}\right)+\left(-\frac{17}{30}\right)=\left(-\frac{37}{30}\right)\\&amp;#13;&amp;#10;\frac{52}{30}+\left(-\frac{37}{30}\right)=\frac{15}{30}=\frac{1}{2}\end{array}\end{array}&quot;&gt;&lt;mtable columnalign=&quot;left&quot; columnspacing=&quot;1em&quot; rowspacing=&quot;4pt&quot;&gt;&lt;mtr&gt;&lt;mtd&gt;&lt;mfrac&gt;&lt;mn&gt;9&lt;/mn&gt;&lt;mn&gt;10&lt;/mn&gt;&lt;/mfrac&gt;&lt;mo&gt;−&lt;/mo&gt;&lt;mtext&gt;&lt;/mtext&gt;&lt;mfrac&gt;&lt;mn&gt;2&lt;/mn&gt;&lt;mn&gt;3&lt;/mn&gt;&lt;/mfrac&gt;&lt;mo&gt;+&lt;/mo&gt;&lt;mfrac&gt;&lt;mn&gt;5&lt;/mn&gt;&lt;mn&gt;6&lt;/mn&gt;&lt;/mfrac&gt;&lt;mo&gt;−&lt;/mo&gt;&lt;mfrac&gt;&lt;mn&gt;17&lt;/mn&gt;&lt;mn&gt;30&lt;/mn&gt;&lt;/mfrac&gt;&lt;/mtd&gt;&lt;/mtr&gt;&lt;mtr&gt;&lt;mtd&gt;&lt;mfrac&gt;&lt;mn&gt;9&lt;/mn&gt;&lt;mn&gt;10&lt;/mn&gt;&lt;/mfrac&gt;&lt;mo&gt;+&lt;/mo&gt;&lt;mrow data-mjx-texclass=&quot;INNER&quot;&gt;&lt;mo data-mjx-texclass=&quot;OPEN&quot;&gt;(&lt;/mo&gt;&lt;mo&gt;−&lt;/mo&gt;&lt;mtext&gt;&lt;/mtext&gt;&lt;mfrac&gt;&lt;mn&gt;2&lt;/mn&gt;&lt;mn&gt;3&lt;/mn&gt;&lt;/mfrac&gt;&lt;mo data-mjx-texclass=&quot;CLOSE&quot;&gt;)&lt;/mo&gt;&lt;/mrow&gt;&lt;mo&gt;+&lt;/mo&gt;&lt;mfrac&gt;&lt;mn&gt;5&lt;/mn&gt;&lt;mn&gt;6&lt;/mn&gt;&lt;/mfrac&gt;&lt;mo&gt;+&lt;/mo&gt;&lt;mrow data-mjx-texclass=&quot;INNER&quot;&gt;&lt;mo data-mjx-texclass=&quot;OPEN&quot;&gt;(&lt;/mo&gt;&lt;mo&gt;−&lt;/mo&gt;&lt;mfrac&gt;&lt;mn&gt;17&lt;/mn&gt;&lt;mn&gt;30&lt;/mn&gt;&lt;/mfrac&gt;&lt;mo data-mjx-texclass=&quot;CLOSE&quot;&gt;)&lt;/mo&gt;&lt;/mrow&gt;&lt;/mtd&gt;&lt;/mtr&gt;&lt;mtr&gt;&lt;mtd&gt;&lt;mtable columnspacing=&quot;1em&quot; rowspacing=&quot;4pt&quot;&gt;&lt;mtr&gt;&lt;mtd&gt;&lt;mfrac&gt;&lt;mn&gt;9&lt;/mn&gt;&lt;mn&gt;10&lt;/mn&gt;&lt;/mfrac&gt;&lt;mo&gt;+&lt;/mo&gt;&lt;mfrac&gt;&lt;mn&gt;5&lt;/mn&gt;&lt;mn&gt;6&lt;/mn&gt;&lt;/mfrac&gt;&lt;mo&gt;=&lt;/mo&gt;&lt;mtext&gt;&lt;/mtext&gt;&lt;mfrac&gt;&lt;mn&gt;27&lt;/mn&gt;&lt;mn&gt;30&lt;/mn&gt;&lt;/mfrac&gt;&lt;mo&gt;+&lt;/mo&gt;&lt;mfrac&gt;&lt;mn&gt;25&lt;/mn&gt;&lt;mn&gt;30&lt;/mn&gt;&lt;/mfrac&gt;&lt;mo&gt;=&lt;/mo&gt;&lt;mfrac&gt;&lt;mn&gt;52&lt;/mn&gt;&lt;mn&gt;30&lt;/mn&gt;&lt;/mfrac&gt;&lt;/mtd&gt;&lt;/mtr&gt;&lt;mtr&gt;&lt;mtd&gt;&lt;mrow data-mjx-texclass=&quot;INNER&quot;&gt;&lt;mo data-mjx-texclass=&quot;OPEN&quot;&gt;(&lt;/mo&gt;&lt;mo&gt;−&lt;/mo&gt;&lt;mtext&gt;&lt;/mtext&gt;&lt;mfrac&gt;&lt;mn&gt;2&lt;/mn&gt;&lt;mn&gt;3&lt;/mn&gt;&lt;/mfrac&gt;&lt;mo data-mjx-texclass=&quot;CLOSE&quot;&gt;)&lt;/mo&gt;&lt;/mrow&gt;&lt;mo&gt;+&lt;/mo&gt;&lt;mrow data-mjx-texclass=&quot;INNER&quot;&gt;&lt;mo data-mjx-texclass=&quot;OPEN&quot;&gt;(&lt;/mo&gt;&lt;mo&gt;−&lt;/mo&gt;&lt;mfrac&gt;&lt;mn&gt;17&lt;/mn&gt;&lt;mn&gt;30&lt;/mn&gt;&lt;/mfrac&gt;&lt;mo data-mjx-texclass=&quot;CLOSE&quot;&gt;)&lt;/mo&gt;&lt;/mrow&gt;&lt;mo&gt;=&lt;/mo&gt;&lt;mrow data-mjx-texclass=&quot;INNER&quot;&gt;&lt;mo data-mjx-texclass=&quot;OPEN&quot;&gt;(&lt;/mo&gt;&lt;mo&gt;−&lt;/mo&gt;&lt;mfrac&gt;&lt;mn&gt;20&lt;/mn&gt;&lt;mn&gt;30&lt;/mn&gt;&lt;/mfrac&gt;&lt;mo data-mjx-texclass=&quot;CLOSE&quot;&gt;)&lt;/mo&gt;&lt;/mrow&gt;&lt;mo&gt;+&lt;/mo&gt;&lt;mrow data-mjx-texclass=&quot;INNER&quot;&gt;&lt;mo data-mjx-texclass=&quot;OPEN&quot;&gt;(&lt;/mo&gt;&lt;mo&gt;−&lt;/mo&gt;&lt;mfrac&gt;&lt;mn&gt;17&lt;/mn&gt;&lt;mn&gt;30&lt;/mn&gt;&lt;/mfrac&gt;&lt;mo data-mjx-texclass=&quot;CLOSE&quot;&gt;)&lt;/mo&gt;&lt;/mrow&gt;&lt;mo&gt;=&lt;/mo&gt;&lt;mrow data-mjx-texclass=&quot;INNER&quot;&gt;&lt;mo data-mjx-texclass=&quot;OPEN&quot;&gt;(&lt;/mo&gt;&lt;mo&gt;−&lt;/mo&gt;&lt;mfrac&gt;&lt;mn&gt;37&lt;/mn&gt;&lt;mn&gt;30&lt;/mn&gt;&lt;/mfrac&gt;&lt;mo data-mjx-texclass=&quot;CLOSE&quot;&gt;)&lt;/mo&gt;&lt;/mrow&gt;&lt;/mtd&gt;&lt;/mtr&gt;&lt;mtr&gt;&lt;mtd&gt;&lt;mfrac&gt;&lt;mn&gt;52&lt;/mn&gt;&lt;mn&gt;30&lt;/mn&gt;&lt;/mfrac&gt;&lt;mo&gt;+&lt;/mo&gt;&lt;mrow data-mjx-texclass=&quot;INNER&quot;&gt;&lt;mo data-mjx-texclass=&quot;OPEN&quot;&gt;(&lt;/mo&gt;&lt;mo&gt;−&lt;/mo&gt;&lt;mfrac&gt;&lt;mn&gt;37&lt;/mn&gt;&lt;mn&gt;30&lt;/mn&gt;&lt;/mfrac&gt;&lt;mo data-mjx-texclass=&quot;CLOSE&quot;&gt;)&lt;/mo&gt;&lt;/mrow&gt;&lt;mo&gt;=&lt;/mo&gt;&lt;mfrac&gt;&lt;mn&gt;15&lt;/mn&gt;&lt;mn&gt;30&lt;/mn&gt;&lt;/mfrac&gt;&lt;mo&gt;=&lt;/mo&gt;&lt;mfrac&gt;&lt;mn&gt;1&lt;/mn&gt;&lt;mn&gt;2&lt;/mn&gt;&lt;/mfrac&gt;&lt;/mtd&gt;&lt;/mtr&gt;&lt;/mtable&gt;&lt;/mtd&gt;&lt;/mtr&gt;&lt;/mtable&gt;&lt;/math&gt;" id="887" name="Google Shape;887;p72" title="3 lines Line 1: nine tenths minus two thirds plus five sixths minus 17 over 30 Line 2: nine tenths plus open paren minus two thirds close paren plus five sixths plus open paren negative 17 over 30 close paren Line 3: Line 1: nine tenths plus five sixths equals 27 over 30 plus 25 over 30 equals 52 over 30 Line 2: open paren minus two thirds close paren plus open paren negative 17 over 30 close paren equals open paren negative 20 over 30 close paren plus open paren negative 17 over 30 close paren equals open paren negative 37 over 30 close paren Line 3: 52 over 30 plus open paren negative 37 over 30 close paren equals 15 over 30 equals one half"/>
          <p:cNvPicPr preferRelativeResize="0"/>
          <p:nvPr/>
        </p:nvPicPr>
        <p:blipFill rotWithShape="1">
          <a:blip r:embed="rId3">
            <a:alphaModFix/>
          </a:blip>
          <a:srcRect b="17001" l="36310" r="-2078" t="59998"/>
          <a:stretch/>
        </p:blipFill>
        <p:spPr>
          <a:xfrm>
            <a:off x="5214124" y="3877500"/>
            <a:ext cx="3714550" cy="613500"/>
          </a:xfrm>
          <a:prstGeom prst="rect">
            <a:avLst/>
          </a:prstGeom>
          <a:noFill/>
          <a:ln>
            <a:noFill/>
          </a:ln>
        </p:spPr>
      </p:pic>
      <p:sp>
        <p:nvSpPr>
          <p:cNvPr id="888" name="Google Shape;888;p72"/>
          <p:cNvSpPr txBox="1"/>
          <p:nvPr/>
        </p:nvSpPr>
        <p:spPr>
          <a:xfrm>
            <a:off x="5142677" y="1322919"/>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Summing the positives</a:t>
            </a:r>
            <a:endParaRPr sz="1100">
              <a:solidFill>
                <a:srgbClr val="000000"/>
              </a:solidFill>
            </a:endParaRPr>
          </a:p>
        </p:txBody>
      </p:sp>
      <p:sp>
        <p:nvSpPr>
          <p:cNvPr id="889" name="Google Shape;889;p72"/>
          <p:cNvSpPr txBox="1"/>
          <p:nvPr/>
        </p:nvSpPr>
        <p:spPr>
          <a:xfrm>
            <a:off x="5115489" y="2932406"/>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Summing the negatives</a:t>
            </a:r>
            <a:endParaRPr sz="1100">
              <a:solidFill>
                <a:srgbClr val="000000"/>
              </a:solidFill>
            </a:endParaRPr>
          </a:p>
        </p:txBody>
      </p:sp>
      <p:sp>
        <p:nvSpPr>
          <p:cNvPr id="890" name="Google Shape;890;p72"/>
          <p:cNvSpPr/>
          <p:nvPr/>
        </p:nvSpPr>
        <p:spPr>
          <a:xfrm>
            <a:off x="2779225" y="2365875"/>
            <a:ext cx="360300" cy="613500"/>
          </a:xfrm>
          <a:prstGeom prst="roundRect">
            <a:avLst>
              <a:gd fmla="val 16667" name="adj"/>
            </a:avLst>
          </a:prstGeom>
          <a:no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91" name="Google Shape;891;p72"/>
          <p:cNvSpPr/>
          <p:nvPr/>
        </p:nvSpPr>
        <p:spPr>
          <a:xfrm>
            <a:off x="780975" y="2365875"/>
            <a:ext cx="360300" cy="613500"/>
          </a:xfrm>
          <a:prstGeom prst="roundRect">
            <a:avLst>
              <a:gd fmla="val 16667" name="adj"/>
            </a:avLst>
          </a:prstGeom>
          <a:no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92" name="Google Shape;892;p72"/>
          <p:cNvSpPr/>
          <p:nvPr/>
        </p:nvSpPr>
        <p:spPr>
          <a:xfrm>
            <a:off x="1515425" y="2355075"/>
            <a:ext cx="896700" cy="613500"/>
          </a:xfrm>
          <a:prstGeom prst="roundRect">
            <a:avLst>
              <a:gd fmla="val 16667" name="adj"/>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93" name="Google Shape;893;p72"/>
          <p:cNvSpPr/>
          <p:nvPr/>
        </p:nvSpPr>
        <p:spPr>
          <a:xfrm>
            <a:off x="3496031" y="2355075"/>
            <a:ext cx="896700" cy="613500"/>
          </a:xfrm>
          <a:prstGeom prst="roundRect">
            <a:avLst>
              <a:gd fmla="val 16667" name="adj"/>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begin{array}{l}\frac{9}{10}-\ \frac{2}{3}+\frac{5}{6}-\frac{17}{30}\\&amp;#13;&amp;#10;\frac{9}{10}+\left(-\ \frac{2}{3}\right)+\frac{5}{6}+\left(-\frac{17}{30}\right)\\&amp;#13;&amp;#10;\begin{array}{l}\frac{9}{10}+\frac{5}{6}=\ \frac{27}{30}+\frac{25}{30}=\frac{52}{30}\\&amp;#13;&amp;#10;\left(-\ \frac{2}{3}\right)+\left(-\frac{17}{30}\right)=\left(-\frac{20}{30}\right)+\left(-\frac{17}{30}\right)=\left(-\frac{37}{30}\right)\\&amp;#13;&amp;#10;\frac{52}{30}+\left(-\frac{37}{30}\right)=\frac{15}{30}=\frac{1}{2}\end{array}\end{array}&quot;&gt;&lt;mtable columnalign=&quot;left&quot; columnspacing=&quot;1em&quot; rowspacing=&quot;4pt&quot;&gt;&lt;mtr&gt;&lt;mtd&gt;&lt;mfrac&gt;&lt;mn&gt;9&lt;/mn&gt;&lt;mn&gt;10&lt;/mn&gt;&lt;/mfrac&gt;&lt;mo&gt;−&lt;/mo&gt;&lt;mtext&gt;&lt;/mtext&gt;&lt;mfrac&gt;&lt;mn&gt;2&lt;/mn&gt;&lt;mn&gt;3&lt;/mn&gt;&lt;/mfrac&gt;&lt;mo&gt;+&lt;/mo&gt;&lt;mfrac&gt;&lt;mn&gt;5&lt;/mn&gt;&lt;mn&gt;6&lt;/mn&gt;&lt;/mfrac&gt;&lt;mo&gt;−&lt;/mo&gt;&lt;mfrac&gt;&lt;mn&gt;17&lt;/mn&gt;&lt;mn&gt;30&lt;/mn&gt;&lt;/mfrac&gt;&lt;/mtd&gt;&lt;/mtr&gt;&lt;mtr&gt;&lt;mtd&gt;&lt;mfrac&gt;&lt;mn&gt;9&lt;/mn&gt;&lt;mn&gt;10&lt;/mn&gt;&lt;/mfrac&gt;&lt;mo&gt;+&lt;/mo&gt;&lt;mrow data-mjx-texclass=&quot;INNER&quot;&gt;&lt;mo data-mjx-texclass=&quot;OPEN&quot;&gt;(&lt;/mo&gt;&lt;mo&gt;−&lt;/mo&gt;&lt;mtext&gt;&lt;/mtext&gt;&lt;mfrac&gt;&lt;mn&gt;2&lt;/mn&gt;&lt;mn&gt;3&lt;/mn&gt;&lt;/mfrac&gt;&lt;mo data-mjx-texclass=&quot;CLOSE&quot;&gt;)&lt;/mo&gt;&lt;/mrow&gt;&lt;mo&gt;+&lt;/mo&gt;&lt;mfrac&gt;&lt;mn&gt;5&lt;/mn&gt;&lt;mn&gt;6&lt;/mn&gt;&lt;/mfrac&gt;&lt;mo&gt;+&lt;/mo&gt;&lt;mrow data-mjx-texclass=&quot;INNER&quot;&gt;&lt;mo data-mjx-texclass=&quot;OPEN&quot;&gt;(&lt;/mo&gt;&lt;mo&gt;−&lt;/mo&gt;&lt;mfrac&gt;&lt;mn&gt;17&lt;/mn&gt;&lt;mn&gt;30&lt;/mn&gt;&lt;/mfrac&gt;&lt;mo data-mjx-texclass=&quot;CLOSE&quot;&gt;)&lt;/mo&gt;&lt;/mrow&gt;&lt;/mtd&gt;&lt;/mtr&gt;&lt;mtr&gt;&lt;mtd&gt;&lt;mtable columnspacing=&quot;1em&quot; rowspacing=&quot;4pt&quot;&gt;&lt;mtr&gt;&lt;mtd&gt;&lt;mfrac&gt;&lt;mn&gt;9&lt;/mn&gt;&lt;mn&gt;10&lt;/mn&gt;&lt;/mfrac&gt;&lt;mo&gt;+&lt;/mo&gt;&lt;mfrac&gt;&lt;mn&gt;5&lt;/mn&gt;&lt;mn&gt;6&lt;/mn&gt;&lt;/mfrac&gt;&lt;mo&gt;=&lt;/mo&gt;&lt;mtext&gt;&lt;/mtext&gt;&lt;mfrac&gt;&lt;mn&gt;27&lt;/mn&gt;&lt;mn&gt;30&lt;/mn&gt;&lt;/mfrac&gt;&lt;mo&gt;+&lt;/mo&gt;&lt;mfrac&gt;&lt;mn&gt;25&lt;/mn&gt;&lt;mn&gt;30&lt;/mn&gt;&lt;/mfrac&gt;&lt;mo&gt;=&lt;/mo&gt;&lt;mfrac&gt;&lt;mn&gt;52&lt;/mn&gt;&lt;mn&gt;30&lt;/mn&gt;&lt;/mfrac&gt;&lt;/mtd&gt;&lt;/mtr&gt;&lt;mtr&gt;&lt;mtd&gt;&lt;mrow data-mjx-texclass=&quot;INNER&quot;&gt;&lt;mo data-mjx-texclass=&quot;OPEN&quot;&gt;(&lt;/mo&gt;&lt;mo&gt;−&lt;/mo&gt;&lt;mtext&gt;&lt;/mtext&gt;&lt;mfrac&gt;&lt;mn&gt;2&lt;/mn&gt;&lt;mn&gt;3&lt;/mn&gt;&lt;/mfrac&gt;&lt;mo data-mjx-texclass=&quot;CLOSE&quot;&gt;)&lt;/mo&gt;&lt;/mrow&gt;&lt;mo&gt;+&lt;/mo&gt;&lt;mrow data-mjx-texclass=&quot;INNER&quot;&gt;&lt;mo data-mjx-texclass=&quot;OPEN&quot;&gt;(&lt;/mo&gt;&lt;mo&gt;−&lt;/mo&gt;&lt;mfrac&gt;&lt;mn&gt;17&lt;/mn&gt;&lt;mn&gt;30&lt;/mn&gt;&lt;/mfrac&gt;&lt;mo data-mjx-texclass=&quot;CLOSE&quot;&gt;)&lt;/mo&gt;&lt;/mrow&gt;&lt;mo&gt;=&lt;/mo&gt;&lt;mrow data-mjx-texclass=&quot;INNER&quot;&gt;&lt;mo data-mjx-texclass=&quot;OPEN&quot;&gt;(&lt;/mo&gt;&lt;mo&gt;−&lt;/mo&gt;&lt;mfrac&gt;&lt;mn&gt;20&lt;/mn&gt;&lt;mn&gt;30&lt;/mn&gt;&lt;/mfrac&gt;&lt;mo data-mjx-texclass=&quot;CLOSE&quot;&gt;)&lt;/mo&gt;&lt;/mrow&gt;&lt;mo&gt;+&lt;/mo&gt;&lt;mrow data-mjx-texclass=&quot;INNER&quot;&gt;&lt;mo data-mjx-texclass=&quot;OPEN&quot;&gt;(&lt;/mo&gt;&lt;mo&gt;−&lt;/mo&gt;&lt;mfrac&gt;&lt;mn&gt;17&lt;/mn&gt;&lt;mn&gt;30&lt;/mn&gt;&lt;/mfrac&gt;&lt;mo data-mjx-texclass=&quot;CLOSE&quot;&gt;)&lt;/mo&gt;&lt;/mrow&gt;&lt;mo&gt;=&lt;/mo&gt;&lt;mrow data-mjx-texclass=&quot;INNER&quot;&gt;&lt;mo data-mjx-texclass=&quot;OPEN&quot;&gt;(&lt;/mo&gt;&lt;mo&gt;−&lt;/mo&gt;&lt;mfrac&gt;&lt;mn&gt;37&lt;/mn&gt;&lt;mn&gt;30&lt;/mn&gt;&lt;/mfrac&gt;&lt;mo data-mjx-texclass=&quot;CLOSE&quot;&gt;)&lt;/mo&gt;&lt;/mrow&gt;&lt;/mtd&gt;&lt;/mtr&gt;&lt;mtr&gt;&lt;mtd&gt;&lt;mfrac&gt;&lt;mn&gt;52&lt;/mn&gt;&lt;mn&gt;30&lt;/mn&gt;&lt;/mfrac&gt;&lt;mo&gt;+&lt;/mo&gt;&lt;mrow data-mjx-texclass=&quot;INNER&quot;&gt;&lt;mo data-mjx-texclass=&quot;OPEN&quot;&gt;(&lt;/mo&gt;&lt;mo&gt;−&lt;/mo&gt;&lt;mfrac&gt;&lt;mn&gt;37&lt;/mn&gt;&lt;mn&gt;30&lt;/mn&gt;&lt;/mfrac&gt;&lt;mo data-mjx-texclass=&quot;CLOSE&quot;&gt;)&lt;/mo&gt;&lt;/mrow&gt;&lt;mo&gt;=&lt;/mo&gt;&lt;mfrac&gt;&lt;mn&gt;15&lt;/mn&gt;&lt;mn&gt;30&lt;/mn&gt;&lt;/mfrac&gt;&lt;mo&gt;=&lt;/mo&gt;&lt;mfrac&gt;&lt;mn&gt;1&lt;/mn&gt;&lt;mn&gt;2&lt;/mn&gt;&lt;/mfrac&gt;&lt;/mtd&gt;&lt;/mtr&gt;&lt;/mtable&gt;&lt;/mtd&gt;&lt;/mtr&gt;&lt;/mtable&gt;&lt;/math&gt;" id="894" name="Google Shape;894;p72" title="3 lines Line 1: nine tenths minus two thirds plus five sixths minus 17 over 30 Line 2: nine tenths plus open paren minus two thirds close paren plus five sixths plus open paren negative 17 over 30 close paren Line 3: Line 1: nine tenths plus five sixths equals 27 over 30 plus 25 over 30 equals 52 over 30 Line 2: open paren minus two thirds close paren plus open paren negative 17 over 30 close paren equals open paren negative 20 over 30 close paren plus open paren negative 17 over 30 close paren equals open paren negative 37 over 30 close paren Line 3: 52 over 30 plus open paren negative 37 over 30 close paren equals 15 over 30 equals one half"/>
          <p:cNvPicPr preferRelativeResize="0"/>
          <p:nvPr/>
        </p:nvPicPr>
        <p:blipFill rotWithShape="1">
          <a:blip r:embed="rId3">
            <a:alphaModFix/>
          </a:blip>
          <a:srcRect b="-3615" l="27528" r="65946" t="80615"/>
          <a:stretch/>
        </p:blipFill>
        <p:spPr>
          <a:xfrm>
            <a:off x="324000" y="2343500"/>
            <a:ext cx="382408" cy="636650"/>
          </a:xfrm>
          <a:prstGeom prst="rect">
            <a:avLst/>
          </a:prstGeom>
          <a:noFill/>
          <a:ln>
            <a:noFill/>
          </a:ln>
        </p:spPr>
      </p:pic>
      <p:pic>
        <p:nvPicPr>
          <p:cNvPr descr="&lt;math xmlns=&quot;http://www.w3.org/1998/Math/MathML&quot; display=&quot;block&quot; data-is-equatio=&quot;1&quot; data-latex=&quot;\begin{array}{l}\frac{9}{10}-\ \frac{2}{3}+\frac{5}{6}-\frac{17}{30}\\&amp;#13;&amp;#10;\frac{9}{10}+\left(-\ \frac{2}{3}\right)+\frac{5}{6}+\left(-\frac{17}{30}\right)\\&amp;#13;&amp;#10;\begin{array}{l}\frac{9}{10}+\frac{5}{6}=\ \frac{27}{30}+\frac{25}{30}=\frac{52}{30}\\&amp;#13;&amp;#10;\left(-\ \frac{2}{3}\right)+\left(-\frac{17}{30}\right)=\left(-\frac{20}{30}\right)+\left(-\frac{17}{30}\right)=\left(-\frac{37}{30}\right)\\&amp;#13;&amp;#10;\frac{52}{30}+\left(-\frac{37}{30}\right)=\frac{15}{30}=\frac{1}{2}\end{array}\end{array}&quot;&gt;&lt;mtable columnalign=&quot;left&quot; columnspacing=&quot;1em&quot; rowspacing=&quot;4pt&quot;&gt;&lt;mtr&gt;&lt;mtd&gt;&lt;mfrac&gt;&lt;mn&gt;9&lt;/mn&gt;&lt;mn&gt;10&lt;/mn&gt;&lt;/mfrac&gt;&lt;mo&gt;−&lt;/mo&gt;&lt;mtext&gt;&lt;/mtext&gt;&lt;mfrac&gt;&lt;mn&gt;2&lt;/mn&gt;&lt;mn&gt;3&lt;/mn&gt;&lt;/mfrac&gt;&lt;mo&gt;+&lt;/mo&gt;&lt;mfrac&gt;&lt;mn&gt;5&lt;/mn&gt;&lt;mn&gt;6&lt;/mn&gt;&lt;/mfrac&gt;&lt;mo&gt;−&lt;/mo&gt;&lt;mfrac&gt;&lt;mn&gt;17&lt;/mn&gt;&lt;mn&gt;30&lt;/mn&gt;&lt;/mfrac&gt;&lt;/mtd&gt;&lt;/mtr&gt;&lt;mtr&gt;&lt;mtd&gt;&lt;mfrac&gt;&lt;mn&gt;9&lt;/mn&gt;&lt;mn&gt;10&lt;/mn&gt;&lt;/mfrac&gt;&lt;mo&gt;+&lt;/mo&gt;&lt;mrow data-mjx-texclass=&quot;INNER&quot;&gt;&lt;mo data-mjx-texclass=&quot;OPEN&quot;&gt;(&lt;/mo&gt;&lt;mo&gt;−&lt;/mo&gt;&lt;mtext&gt;&lt;/mtext&gt;&lt;mfrac&gt;&lt;mn&gt;2&lt;/mn&gt;&lt;mn&gt;3&lt;/mn&gt;&lt;/mfrac&gt;&lt;mo data-mjx-texclass=&quot;CLOSE&quot;&gt;)&lt;/mo&gt;&lt;/mrow&gt;&lt;mo&gt;+&lt;/mo&gt;&lt;mfrac&gt;&lt;mn&gt;5&lt;/mn&gt;&lt;mn&gt;6&lt;/mn&gt;&lt;/mfrac&gt;&lt;mo&gt;+&lt;/mo&gt;&lt;mrow data-mjx-texclass=&quot;INNER&quot;&gt;&lt;mo data-mjx-texclass=&quot;OPEN&quot;&gt;(&lt;/mo&gt;&lt;mo&gt;−&lt;/mo&gt;&lt;mfrac&gt;&lt;mn&gt;17&lt;/mn&gt;&lt;mn&gt;30&lt;/mn&gt;&lt;/mfrac&gt;&lt;mo data-mjx-texclass=&quot;CLOSE&quot;&gt;)&lt;/mo&gt;&lt;/mrow&gt;&lt;/mtd&gt;&lt;/mtr&gt;&lt;mtr&gt;&lt;mtd&gt;&lt;mtable columnspacing=&quot;1em&quot; rowspacing=&quot;4pt&quot;&gt;&lt;mtr&gt;&lt;mtd&gt;&lt;mfrac&gt;&lt;mn&gt;9&lt;/mn&gt;&lt;mn&gt;10&lt;/mn&gt;&lt;/mfrac&gt;&lt;mo&gt;+&lt;/mo&gt;&lt;mfrac&gt;&lt;mn&gt;5&lt;/mn&gt;&lt;mn&gt;6&lt;/mn&gt;&lt;/mfrac&gt;&lt;mo&gt;=&lt;/mo&gt;&lt;mtext&gt;&lt;/mtext&gt;&lt;mfrac&gt;&lt;mn&gt;27&lt;/mn&gt;&lt;mn&gt;30&lt;/mn&gt;&lt;/mfrac&gt;&lt;mo&gt;+&lt;/mo&gt;&lt;mfrac&gt;&lt;mn&gt;25&lt;/mn&gt;&lt;mn&gt;30&lt;/mn&gt;&lt;/mfrac&gt;&lt;mo&gt;=&lt;/mo&gt;&lt;mfrac&gt;&lt;mn&gt;52&lt;/mn&gt;&lt;mn&gt;30&lt;/mn&gt;&lt;/mfrac&gt;&lt;/mtd&gt;&lt;/mtr&gt;&lt;mtr&gt;&lt;mtd&gt;&lt;mrow data-mjx-texclass=&quot;INNER&quot;&gt;&lt;mo data-mjx-texclass=&quot;OPEN&quot;&gt;(&lt;/mo&gt;&lt;mo&gt;−&lt;/mo&gt;&lt;mtext&gt;&lt;/mtext&gt;&lt;mfrac&gt;&lt;mn&gt;2&lt;/mn&gt;&lt;mn&gt;3&lt;/mn&gt;&lt;/mfrac&gt;&lt;mo data-mjx-texclass=&quot;CLOSE&quot;&gt;)&lt;/mo&gt;&lt;/mrow&gt;&lt;mo&gt;+&lt;/mo&gt;&lt;mrow data-mjx-texclass=&quot;INNER&quot;&gt;&lt;mo data-mjx-texclass=&quot;OPEN&quot;&gt;(&lt;/mo&gt;&lt;mo&gt;−&lt;/mo&gt;&lt;mfrac&gt;&lt;mn&gt;17&lt;/mn&gt;&lt;mn&gt;30&lt;/mn&gt;&lt;/mfrac&gt;&lt;mo data-mjx-texclass=&quot;CLOSE&quot;&gt;)&lt;/mo&gt;&lt;/mrow&gt;&lt;mo&gt;=&lt;/mo&gt;&lt;mrow data-mjx-texclass=&quot;INNER&quot;&gt;&lt;mo data-mjx-texclass=&quot;OPEN&quot;&gt;(&lt;/mo&gt;&lt;mo&gt;−&lt;/mo&gt;&lt;mfrac&gt;&lt;mn&gt;20&lt;/mn&gt;&lt;mn&gt;30&lt;/mn&gt;&lt;/mfrac&gt;&lt;mo data-mjx-texclass=&quot;CLOSE&quot;&gt;)&lt;/mo&gt;&lt;/mrow&gt;&lt;mo&gt;+&lt;/mo&gt;&lt;mrow data-mjx-texclass=&quot;INNER&quot;&gt;&lt;mo data-mjx-texclass=&quot;OPEN&quot;&gt;(&lt;/mo&gt;&lt;mo&gt;−&lt;/mo&gt;&lt;mfrac&gt;&lt;mn&gt;17&lt;/mn&gt;&lt;mn&gt;30&lt;/mn&gt;&lt;/mfrac&gt;&lt;mo data-mjx-texclass=&quot;CLOSE&quot;&gt;)&lt;/mo&gt;&lt;/mrow&gt;&lt;mo&gt;=&lt;/mo&gt;&lt;mrow data-mjx-texclass=&quot;INNER&quot;&gt;&lt;mo data-mjx-texclass=&quot;OPEN&quot;&gt;(&lt;/mo&gt;&lt;mo&gt;−&lt;/mo&gt;&lt;mfrac&gt;&lt;mn&gt;37&lt;/mn&gt;&lt;mn&gt;30&lt;/mn&gt;&lt;/mfrac&gt;&lt;mo data-mjx-texclass=&quot;CLOSE&quot;&gt;)&lt;/mo&gt;&lt;/mrow&gt;&lt;/mtd&gt;&lt;/mtr&gt;&lt;mtr&gt;&lt;mtd&gt;&lt;mfrac&gt;&lt;mn&gt;52&lt;/mn&gt;&lt;mn&gt;30&lt;/mn&gt;&lt;/mfrac&gt;&lt;mo&gt;+&lt;/mo&gt;&lt;mrow data-mjx-texclass=&quot;INNER&quot;&gt;&lt;mo data-mjx-texclass=&quot;OPEN&quot;&gt;(&lt;/mo&gt;&lt;mo&gt;−&lt;/mo&gt;&lt;mfrac&gt;&lt;mn&gt;37&lt;/mn&gt;&lt;mn&gt;30&lt;/mn&gt;&lt;/mfrac&gt;&lt;mo data-mjx-texclass=&quot;CLOSE&quot;&gt;)&lt;/mo&gt;&lt;/mrow&gt;&lt;mo&gt;=&lt;/mo&gt;&lt;mfrac&gt;&lt;mn&gt;15&lt;/mn&gt;&lt;mn&gt;30&lt;/mn&gt;&lt;/mfrac&gt;&lt;mo&gt;=&lt;/mo&gt;&lt;mfrac&gt;&lt;mn&gt;1&lt;/mn&gt;&lt;mn&gt;2&lt;/mn&gt;&lt;/mfrac&gt;&lt;/mtd&gt;&lt;/mtr&gt;&lt;/mtable&gt;&lt;/mtd&gt;&lt;/mtr&gt;&lt;/mtable&gt;&lt;/math&gt;" id="895" name="Google Shape;895;p72" title="3 lines Line 1: nine tenths minus two thirds plus five sixths minus 17 over 30 Line 2: nine tenths plus open paren minus two thirds close paren plus five sixths plus open paren negative 17 over 30 close paren Line 3: Line 1: nine tenths plus five sixths equals 27 over 30 plus 25 over 30 equals 52 over 30 Line 2: open paren minus two thirds close paren plus open paren negative 17 over 30 close paren equals open paren negative 20 over 30 close paren plus open paren negative 17 over 30 close paren equals open paren negative 37 over 30 close paren Line 3: 52 over 30 plus open paren negative 37 over 30 close paren equals 15 over 30 equals one half"/>
          <p:cNvPicPr preferRelativeResize="0"/>
          <p:nvPr/>
        </p:nvPicPr>
        <p:blipFill rotWithShape="1">
          <a:blip r:embed="rId3">
            <a:alphaModFix/>
          </a:blip>
          <a:srcRect b="-3615" l="27528" r="65946" t="80615"/>
          <a:stretch/>
        </p:blipFill>
        <p:spPr>
          <a:xfrm>
            <a:off x="324000" y="3158250"/>
            <a:ext cx="382408" cy="636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7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Reviewing priority of operations</a:t>
            </a:r>
            <a:endParaRPr/>
          </a:p>
        </p:txBody>
      </p:sp>
      <p:sp>
        <p:nvSpPr>
          <p:cNvPr id="901" name="Google Shape;901;p73"/>
          <p:cNvSpPr txBox="1"/>
          <p:nvPr/>
        </p:nvSpPr>
        <p:spPr>
          <a:xfrm>
            <a:off x="324000" y="683100"/>
            <a:ext cx="8431800" cy="108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Lexend"/>
                <a:ea typeface="Lexend"/>
                <a:cs typeface="Lexend"/>
                <a:sym typeface="Lexend"/>
              </a:rPr>
              <a:t>When using the priority of operations, the row with multiplication and division can be done in any order.</a:t>
            </a:r>
            <a:endParaRPr sz="2000">
              <a:solidFill>
                <a:srgbClr val="000000"/>
              </a:solidFill>
              <a:latin typeface="Lexend"/>
              <a:ea typeface="Lexend"/>
              <a:cs typeface="Lexend"/>
              <a:sym typeface="Lexend"/>
            </a:endParaRPr>
          </a:p>
        </p:txBody>
      </p:sp>
      <p:grpSp>
        <p:nvGrpSpPr>
          <p:cNvPr id="902" name="Google Shape;902;p73"/>
          <p:cNvGrpSpPr/>
          <p:nvPr/>
        </p:nvGrpSpPr>
        <p:grpSpPr>
          <a:xfrm>
            <a:off x="525984" y="2338677"/>
            <a:ext cx="3131902" cy="2310490"/>
            <a:chOff x="700147" y="1855128"/>
            <a:chExt cx="3916346" cy="2889197"/>
          </a:xfrm>
        </p:grpSpPr>
        <p:grpSp>
          <p:nvGrpSpPr>
            <p:cNvPr id="903" name="Google Shape;903;p73"/>
            <p:cNvGrpSpPr/>
            <p:nvPr/>
          </p:nvGrpSpPr>
          <p:grpSpPr>
            <a:xfrm>
              <a:off x="700147" y="1855128"/>
              <a:ext cx="3916346" cy="2889197"/>
              <a:chOff x="2529025" y="1931250"/>
              <a:chExt cx="3584100" cy="2617500"/>
            </a:xfrm>
          </p:grpSpPr>
          <p:sp>
            <p:nvSpPr>
              <p:cNvPr id="904" name="Google Shape;904;p73"/>
              <p:cNvSpPr/>
              <p:nvPr/>
            </p:nvSpPr>
            <p:spPr>
              <a:xfrm>
                <a:off x="2529025" y="1931250"/>
                <a:ext cx="3584100" cy="2617500"/>
              </a:xfrm>
              <a:prstGeom prst="triangle">
                <a:avLst>
                  <a:gd fmla="val 50000" name="adj"/>
                </a:avLst>
              </a:prstGeom>
              <a:no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05" name="Google Shape;905;p73"/>
              <p:cNvCxnSpPr/>
              <p:nvPr/>
            </p:nvCxnSpPr>
            <p:spPr>
              <a:xfrm>
                <a:off x="3766742" y="2706800"/>
                <a:ext cx="1095900" cy="0"/>
              </a:xfrm>
              <a:prstGeom prst="straightConnector1">
                <a:avLst/>
              </a:prstGeom>
              <a:noFill/>
              <a:ln cap="flat" cmpd="sng" w="38100">
                <a:solidFill>
                  <a:srgbClr val="845AD9"/>
                </a:solidFill>
                <a:prstDash val="solid"/>
                <a:round/>
                <a:headEnd len="med" w="med" type="none"/>
                <a:tailEnd len="med" w="med" type="none"/>
              </a:ln>
            </p:spPr>
          </p:cxnSp>
          <p:cxnSp>
            <p:nvCxnSpPr>
              <p:cNvPr id="906" name="Google Shape;906;p73"/>
              <p:cNvCxnSpPr/>
              <p:nvPr/>
            </p:nvCxnSpPr>
            <p:spPr>
              <a:xfrm>
                <a:off x="3369600" y="3320300"/>
                <a:ext cx="1899300" cy="0"/>
              </a:xfrm>
              <a:prstGeom prst="straightConnector1">
                <a:avLst/>
              </a:prstGeom>
              <a:noFill/>
              <a:ln cap="flat" cmpd="sng" w="38100">
                <a:solidFill>
                  <a:srgbClr val="845AD9"/>
                </a:solidFill>
                <a:prstDash val="solid"/>
                <a:round/>
                <a:headEnd len="med" w="med" type="none"/>
                <a:tailEnd len="med" w="med" type="none"/>
              </a:ln>
            </p:spPr>
          </p:cxnSp>
          <p:cxnSp>
            <p:nvCxnSpPr>
              <p:cNvPr id="907" name="Google Shape;907;p73"/>
              <p:cNvCxnSpPr/>
              <p:nvPr/>
            </p:nvCxnSpPr>
            <p:spPr>
              <a:xfrm flipH="1" rot="10800000">
                <a:off x="2996850" y="3910986"/>
                <a:ext cx="2653800" cy="3900"/>
              </a:xfrm>
              <a:prstGeom prst="straightConnector1">
                <a:avLst/>
              </a:prstGeom>
              <a:noFill/>
              <a:ln cap="flat" cmpd="sng" w="38100">
                <a:solidFill>
                  <a:srgbClr val="845AD9"/>
                </a:solidFill>
                <a:prstDash val="solid"/>
                <a:round/>
                <a:headEnd len="med" w="med" type="none"/>
                <a:tailEnd len="med" w="med" type="none"/>
              </a:ln>
            </p:spPr>
          </p:cxnSp>
        </p:grpSp>
        <p:sp>
          <p:nvSpPr>
            <p:cNvPr id="908" name="Google Shape;908;p73"/>
            <p:cNvSpPr txBox="1"/>
            <p:nvPr/>
          </p:nvSpPr>
          <p:spPr>
            <a:xfrm>
              <a:off x="2223184" y="2145282"/>
              <a:ext cx="12471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Lexend"/>
                  <a:ea typeface="Lexend"/>
                  <a:cs typeface="Lexend"/>
                  <a:sym typeface="Lexend"/>
                </a:rPr>
                <a:t>( …. )</a:t>
              </a:r>
              <a:endParaRPr sz="2000">
                <a:latin typeface="Lexend"/>
                <a:ea typeface="Lexend"/>
                <a:cs typeface="Lexend"/>
                <a:sym typeface="Lexend"/>
              </a:endParaRPr>
            </a:p>
          </p:txBody>
        </p:sp>
        <p:grpSp>
          <p:nvGrpSpPr>
            <p:cNvPr id="909" name="Google Shape;909;p73"/>
            <p:cNvGrpSpPr/>
            <p:nvPr/>
          </p:nvGrpSpPr>
          <p:grpSpPr>
            <a:xfrm>
              <a:off x="2537340" y="2581822"/>
              <a:ext cx="844893" cy="669996"/>
              <a:chOff x="1411338" y="2440722"/>
              <a:chExt cx="844893" cy="669996"/>
            </a:xfrm>
          </p:grpSpPr>
          <p:sp>
            <p:nvSpPr>
              <p:cNvPr id="910" name="Google Shape;910;p73"/>
              <p:cNvSpPr txBox="1"/>
              <p:nvPr/>
            </p:nvSpPr>
            <p:spPr>
              <a:xfrm>
                <a:off x="1765730" y="2440722"/>
                <a:ext cx="4905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latin typeface="Lexend"/>
                    <a:ea typeface="Lexend"/>
                    <a:cs typeface="Lexend"/>
                    <a:sym typeface="Lexend"/>
                  </a:rPr>
                  <a:t>⬚</a:t>
                </a:r>
                <a:endParaRPr b="1" sz="2000">
                  <a:latin typeface="Lexend"/>
                  <a:ea typeface="Lexend"/>
                  <a:cs typeface="Lexend"/>
                  <a:sym typeface="Lexend"/>
                </a:endParaRPr>
              </a:p>
            </p:txBody>
          </p:sp>
          <p:sp>
            <p:nvSpPr>
              <p:cNvPr id="911" name="Google Shape;911;p73"/>
              <p:cNvSpPr txBox="1"/>
              <p:nvPr/>
            </p:nvSpPr>
            <p:spPr>
              <a:xfrm>
                <a:off x="1411338" y="2573718"/>
                <a:ext cx="4905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3100">
                    <a:latin typeface="Lexend"/>
                    <a:ea typeface="Lexend"/>
                    <a:cs typeface="Lexend"/>
                    <a:sym typeface="Lexend"/>
                  </a:rPr>
                  <a:t>⬚</a:t>
                </a:r>
                <a:endParaRPr b="1" sz="3100">
                  <a:latin typeface="Lexend"/>
                  <a:ea typeface="Lexend"/>
                  <a:cs typeface="Lexend"/>
                  <a:sym typeface="Lexend"/>
                </a:endParaRPr>
              </a:p>
            </p:txBody>
          </p:sp>
        </p:grpSp>
        <p:grpSp>
          <p:nvGrpSpPr>
            <p:cNvPr id="912" name="Google Shape;912;p73"/>
            <p:cNvGrpSpPr/>
            <p:nvPr/>
          </p:nvGrpSpPr>
          <p:grpSpPr>
            <a:xfrm>
              <a:off x="1905848" y="2700785"/>
              <a:ext cx="627511" cy="537000"/>
              <a:chOff x="3734648" y="2776985"/>
              <a:chExt cx="627511" cy="537000"/>
            </a:xfrm>
          </p:grpSpPr>
          <p:pic>
            <p:nvPicPr>
              <p:cNvPr descr="&lt;math xmlns=&quot;http://www.w3.org/1998/Math/MathML&quot; display=&quot;block&quot; data-is-equatio=&quot;1&quot; data-latex=&quot;\begin{array}{l}\sqrt[\ \ ]{\ \ \ }\\&amp;#13;&amp;#10;\end{array}&quot;&gt;&lt;mtable columnalign=&quot;left&quot; columnspacing=&quot;1em&quot; rowspacing=&quot;4pt&quot;&gt;&lt;mtr&gt;&lt;mtd&gt;&lt;mroot&gt;&lt;mrow&gt;&lt;mtext&gt;&lt;/mtext&gt;&lt;mtext&gt;&lt;/mtext&gt;&lt;mtext&gt;&lt;/mtext&gt;&lt;/mrow&gt;&lt;mrow&gt;&lt;mtext&gt;&lt;/mtext&gt;&lt;mtext&gt;&lt;/mtext&gt;&lt;/mrow&gt;&lt;/mroot&gt;&lt;/mtd&gt;&lt;/mtr&gt;&lt;/mtable&gt;&lt;/math&gt;" id="913" name="Google Shape;913;p73" title="1 lines Line 1: the root of"/>
              <p:cNvPicPr preferRelativeResize="0"/>
              <p:nvPr/>
            </p:nvPicPr>
            <p:blipFill>
              <a:blip r:embed="rId3">
                <a:alphaModFix/>
              </a:blip>
              <a:stretch>
                <a:fillRect/>
              </a:stretch>
            </p:blipFill>
            <p:spPr>
              <a:xfrm>
                <a:off x="3871597" y="2929810"/>
                <a:ext cx="490562" cy="384175"/>
              </a:xfrm>
              <a:prstGeom prst="rect">
                <a:avLst/>
              </a:prstGeom>
              <a:noFill/>
              <a:ln>
                <a:noFill/>
              </a:ln>
            </p:spPr>
          </p:pic>
          <p:sp>
            <p:nvSpPr>
              <p:cNvPr id="914" name="Google Shape;914;p73"/>
              <p:cNvSpPr txBox="1"/>
              <p:nvPr/>
            </p:nvSpPr>
            <p:spPr>
              <a:xfrm>
                <a:off x="3734648" y="2776985"/>
                <a:ext cx="4905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latin typeface="Lexend"/>
                    <a:ea typeface="Lexend"/>
                    <a:cs typeface="Lexend"/>
                    <a:sym typeface="Lexend"/>
                  </a:rPr>
                  <a:t>⬚</a:t>
                </a:r>
                <a:endParaRPr sz="1700">
                  <a:latin typeface="Lexend"/>
                  <a:ea typeface="Lexend"/>
                  <a:cs typeface="Lexend"/>
                  <a:sym typeface="Lexend"/>
                </a:endParaRPr>
              </a:p>
            </p:txBody>
          </p:sp>
        </p:grpSp>
        <p:sp>
          <p:nvSpPr>
            <p:cNvPr id="915" name="Google Shape;915;p73"/>
            <p:cNvSpPr txBox="1"/>
            <p:nvPr/>
          </p:nvSpPr>
          <p:spPr>
            <a:xfrm>
              <a:off x="1862696" y="3156864"/>
              <a:ext cx="798300" cy="107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4700">
                  <a:latin typeface="Lexend"/>
                  <a:ea typeface="Lexend"/>
                  <a:cs typeface="Lexend"/>
                  <a:sym typeface="Lexend"/>
                </a:rPr>
                <a:t>×</a:t>
              </a:r>
              <a:endParaRPr sz="4700">
                <a:latin typeface="Lexend"/>
                <a:ea typeface="Lexend"/>
                <a:cs typeface="Lexend"/>
                <a:sym typeface="Lexend"/>
              </a:endParaRPr>
            </a:p>
          </p:txBody>
        </p:sp>
        <p:sp>
          <p:nvSpPr>
            <p:cNvPr id="916" name="Google Shape;916;p73"/>
            <p:cNvSpPr txBox="1"/>
            <p:nvPr/>
          </p:nvSpPr>
          <p:spPr>
            <a:xfrm>
              <a:off x="1808950" y="3826756"/>
              <a:ext cx="2082900" cy="65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4700">
                  <a:latin typeface="Lexend"/>
                  <a:ea typeface="Lexend"/>
                  <a:cs typeface="Lexend"/>
                  <a:sym typeface="Lexend"/>
                </a:rPr>
                <a:t>+</a:t>
              </a:r>
              <a:endParaRPr sz="4700">
                <a:latin typeface="Lexend"/>
                <a:ea typeface="Lexend"/>
                <a:cs typeface="Lexend"/>
                <a:sym typeface="Lexend"/>
              </a:endParaRPr>
            </a:p>
          </p:txBody>
        </p:sp>
      </p:grpSp>
      <p:sp>
        <p:nvSpPr>
          <p:cNvPr id="917" name="Google Shape;917;p73"/>
          <p:cNvSpPr txBox="1"/>
          <p:nvPr/>
        </p:nvSpPr>
        <p:spPr>
          <a:xfrm>
            <a:off x="324000" y="1548825"/>
            <a:ext cx="8496000" cy="378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Lexend"/>
                <a:ea typeface="Lexend"/>
                <a:cs typeface="Lexend"/>
                <a:sym typeface="Lexend"/>
              </a:rPr>
              <a:t>You now know that </a:t>
            </a:r>
            <a:r>
              <a:rPr lang="en-GB" sz="2000">
                <a:solidFill>
                  <a:schemeClr val="accent4"/>
                </a:solidFill>
                <a:latin typeface="Lexend"/>
                <a:ea typeface="Lexend"/>
                <a:cs typeface="Lexend"/>
                <a:sym typeface="Lexend"/>
              </a:rPr>
              <a:t>division can be written as multiplication by the reciprocal</a:t>
            </a:r>
            <a:r>
              <a:rPr lang="en-GB" sz="2000">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918" name="Google Shape;918;p73"/>
          <p:cNvSpPr/>
          <p:nvPr/>
        </p:nvSpPr>
        <p:spPr>
          <a:xfrm>
            <a:off x="2480055" y="3694717"/>
            <a:ext cx="392400" cy="392400"/>
          </a:xfrm>
          <a:prstGeom prst="ellipse">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19" name="Google Shape;919;p73"/>
          <p:cNvSpPr/>
          <p:nvPr/>
        </p:nvSpPr>
        <p:spPr>
          <a:xfrm>
            <a:off x="1489455" y="3672432"/>
            <a:ext cx="392400" cy="392400"/>
          </a:xfrm>
          <a:prstGeom prst="ellipse">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20" name="Google Shape;920;p73"/>
          <p:cNvSpPr txBox="1"/>
          <p:nvPr/>
        </p:nvSpPr>
        <p:spPr>
          <a:xfrm>
            <a:off x="2671150" y="2119425"/>
            <a:ext cx="1866600" cy="378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Lexend"/>
                <a:ea typeface="Lexend"/>
                <a:cs typeface="Lexend"/>
                <a:sym typeface="Lexend"/>
              </a:rPr>
              <a:t>For example,</a:t>
            </a:r>
            <a:endParaRPr sz="20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frac{3}{5}+\frac{1}{2}\times\frac{3}{5}\div\frac{3}{7}&quot;&gt;&lt;mfrac&gt;&lt;mn&gt;3&lt;/mn&gt;&lt;mn&gt;5&lt;/mn&gt;&lt;/mfrac&gt;&lt;mo&gt;+&lt;/mo&gt;&lt;mfrac&gt;&lt;mn&gt;1&lt;/mn&gt;&lt;mn&gt;2&lt;/mn&gt;&lt;/mfrac&gt;&lt;mo&gt;×&lt;/mo&gt;&lt;mfrac&gt;&lt;mn&gt;3&lt;/mn&gt;&lt;mn&gt;5&lt;/mn&gt;&lt;/mfrac&gt;&lt;mo&gt;÷&lt;/mo&gt;&lt;mfrac&gt;&lt;mn&gt;3&lt;/mn&gt;&lt;mn&gt;7&lt;/mn&gt;&lt;/mfrac&gt;&lt;/math&gt;" id="921" name="Google Shape;921;p73" title="three fifths plus one half times three fifths divided by three sevenths"/>
          <p:cNvPicPr preferRelativeResize="0"/>
          <p:nvPr/>
        </p:nvPicPr>
        <p:blipFill>
          <a:blip r:embed="rId4">
            <a:alphaModFix/>
          </a:blip>
          <a:stretch>
            <a:fillRect/>
          </a:stretch>
        </p:blipFill>
        <p:spPr>
          <a:xfrm>
            <a:off x="4757700" y="2002900"/>
            <a:ext cx="1777178" cy="575350"/>
          </a:xfrm>
          <a:prstGeom prst="rect">
            <a:avLst/>
          </a:prstGeom>
          <a:noFill/>
          <a:ln>
            <a:noFill/>
          </a:ln>
        </p:spPr>
      </p:pic>
      <p:pic>
        <p:nvPicPr>
          <p:cNvPr descr="&lt;math xmlns=&quot;http://www.w3.org/1998/Math/MathML&quot; display=&quot;block&quot; data-is-equatio=&quot;1&quot; data-latex=&quot;\frac{3}{5}+\frac{1}{2}\times\frac{3}{5}\times\frac{7}{3}&quot;&gt;&lt;mfrac&gt;&lt;mn&gt;3&lt;/mn&gt;&lt;mn&gt;5&lt;/mn&gt;&lt;/mfrac&gt;&lt;mo&gt;+&lt;/mo&gt;&lt;mfrac&gt;&lt;mn&gt;1&lt;/mn&gt;&lt;mn&gt;2&lt;/mn&gt;&lt;/mfrac&gt;&lt;mo&gt;×&lt;/mo&gt;&lt;mfrac&gt;&lt;mn&gt;3&lt;/mn&gt;&lt;mn&gt;5&lt;/mn&gt;&lt;/mfrac&gt;&lt;mo&gt;×&lt;/mo&gt;&lt;mfrac&gt;&lt;mn&gt;7&lt;/mn&gt;&lt;mn&gt;3&lt;/mn&gt;&lt;/mfrac&gt;&lt;/math&gt;" id="922" name="Google Shape;922;p73" title="three fifths plus one half times three fifths times seven thirds"/>
          <p:cNvPicPr preferRelativeResize="0"/>
          <p:nvPr/>
        </p:nvPicPr>
        <p:blipFill>
          <a:blip r:embed="rId5">
            <a:alphaModFix/>
          </a:blip>
          <a:stretch>
            <a:fillRect/>
          </a:stretch>
        </p:blipFill>
        <p:spPr>
          <a:xfrm>
            <a:off x="4757700" y="2808225"/>
            <a:ext cx="1714119" cy="549808"/>
          </a:xfrm>
          <a:prstGeom prst="rect">
            <a:avLst/>
          </a:prstGeom>
          <a:noFill/>
          <a:ln>
            <a:noFill/>
          </a:ln>
        </p:spPr>
      </p:pic>
      <p:pic>
        <p:nvPicPr>
          <p:cNvPr descr="&lt;math xmlns=&quot;http://www.w3.org/1998/Math/MathML&quot; display=&quot;block&quot; data-is-equatio=&quot;1&quot; data-latex=&quot;=\frac{3}{5}+\frac{1\times3\times7}{2\times5\times3}&quot;&gt;&lt;mo&gt;=&lt;/mo&gt;&lt;mfrac&gt;&lt;mn&gt;3&lt;/mn&gt;&lt;mn&gt;5&lt;/mn&gt;&lt;/mfrac&gt;&lt;mo&gt;+&lt;/mo&gt;&lt;mfrac&gt;&lt;mrow&gt;&lt;mn&gt;1&lt;/mn&gt;&lt;mo&gt;×&lt;/mo&gt;&lt;mn&gt;3&lt;/mn&gt;&lt;mo&gt;×&lt;/mo&gt;&lt;mn&gt;7&lt;/mn&gt;&lt;/mrow&gt;&lt;mrow&gt;&lt;mn&gt;2&lt;/mn&gt;&lt;mo&gt;×&lt;/mo&gt;&lt;mn&gt;5&lt;/mn&gt;&lt;mo&gt;×&lt;/mo&gt;&lt;mn&gt;3&lt;/mn&gt;&lt;/mrow&gt;&lt;/mfrac&gt;&lt;/math&gt;" id="923" name="Google Shape;923;p73" title="equals three fifths plus the fraction with numerator 1 times 3 times 7 and denominator 2 times 5 times 3"/>
          <p:cNvPicPr preferRelativeResize="0"/>
          <p:nvPr/>
        </p:nvPicPr>
        <p:blipFill>
          <a:blip r:embed="rId6">
            <a:alphaModFix/>
          </a:blip>
          <a:stretch>
            <a:fillRect/>
          </a:stretch>
        </p:blipFill>
        <p:spPr>
          <a:xfrm>
            <a:off x="4492392" y="3521357"/>
            <a:ext cx="1799016" cy="553851"/>
          </a:xfrm>
          <a:prstGeom prst="rect">
            <a:avLst/>
          </a:prstGeom>
          <a:noFill/>
          <a:ln>
            <a:noFill/>
          </a:ln>
        </p:spPr>
      </p:pic>
      <p:pic>
        <p:nvPicPr>
          <p:cNvPr descr="&lt;math xmlns=&quot;http://www.w3.org/1998/Math/MathML&quot; display=&quot;block&quot; data-is-equatio=&quot;1&quot; data-latex=&quot;=\frac{3}{5}+\frac{7}{10}=\frac{6}{10}+\frac{7}{10}=\frac{13}{10}=1\frac{3}{10}&quot;&gt;&lt;mo&gt;=&lt;/mo&gt;&lt;mfrac&gt;&lt;mn&gt;3&lt;/mn&gt;&lt;mn&gt;5&lt;/mn&gt;&lt;/mfrac&gt;&lt;mo&gt;+&lt;/mo&gt;&lt;mfrac&gt;&lt;mn&gt;7&lt;/mn&gt;&lt;mn&gt;10&lt;/mn&gt;&lt;/mfrac&gt;&lt;mo&gt;=&lt;/mo&gt;&lt;mfrac&gt;&lt;mn&gt;6&lt;/mn&gt;&lt;mn&gt;10&lt;/mn&gt;&lt;/mfrac&gt;&lt;mo&gt;+&lt;/mo&gt;&lt;mfrac&gt;&lt;mn&gt;7&lt;/mn&gt;&lt;mn&gt;10&lt;/mn&gt;&lt;/mfrac&gt;&lt;mo&gt;=&lt;/mo&gt;&lt;mfrac&gt;&lt;mn&gt;13&lt;/mn&gt;&lt;mn&gt;10&lt;/mn&gt;&lt;/mfrac&gt;&lt;mo&gt;=&lt;/mo&gt;&lt;mn&gt;1&lt;/mn&gt;&lt;mfrac&gt;&lt;mn&gt;3&lt;/mn&gt;&lt;mn&gt;10&lt;/mn&gt;&lt;/mfrac&gt;&lt;/math&gt;" id="924" name="Google Shape;924;p73" title="equals three fifths plus seven tenths equals six tenths plus seven tenths equals thirteen tenths equals 1 and three tenths"/>
          <p:cNvPicPr preferRelativeResize="0"/>
          <p:nvPr/>
        </p:nvPicPr>
        <p:blipFill rotWithShape="1">
          <a:blip r:embed="rId7">
            <a:alphaModFix/>
          </a:blip>
          <a:srcRect b="0" l="0" r="70166" t="0"/>
          <a:stretch/>
        </p:blipFill>
        <p:spPr>
          <a:xfrm>
            <a:off x="4492383" y="4238525"/>
            <a:ext cx="1157876" cy="541350"/>
          </a:xfrm>
          <a:prstGeom prst="rect">
            <a:avLst/>
          </a:prstGeom>
          <a:noFill/>
          <a:ln>
            <a:noFill/>
          </a:ln>
        </p:spPr>
      </p:pic>
      <p:pic>
        <p:nvPicPr>
          <p:cNvPr descr="&lt;math xmlns=&quot;http://www.w3.org/1998/Math/MathML&quot; display=&quot;block&quot; data-is-equatio=&quot;1&quot; data-latex=&quot;=\frac{3}{5}+\frac{1\times3\times7}{2\times5\times3}&quot;&gt;&lt;mo&gt;=&lt;/mo&gt;&lt;mfrac&gt;&lt;mn&gt;3&lt;/mn&gt;&lt;mn&gt;5&lt;/mn&gt;&lt;/mfrac&gt;&lt;mo&gt;+&lt;/mo&gt;&lt;mfrac&gt;&lt;mrow&gt;&lt;mn&gt;1&lt;/mn&gt;&lt;mo&gt;×&lt;/mo&gt;&lt;mn&gt;3&lt;/mn&gt;&lt;mo&gt;×&lt;/mo&gt;&lt;mn&gt;7&lt;/mn&gt;&lt;/mrow&gt;&lt;mrow&gt;&lt;mn&gt;2&lt;/mn&gt;&lt;mo&gt;×&lt;/mo&gt;&lt;mn&gt;5&lt;/mn&gt;&lt;mo&gt;×&lt;/mo&gt;&lt;mn&gt;3&lt;/mn&gt;&lt;/mrow&gt;&lt;/mfrac&gt;&lt;/math&gt;" id="925" name="Google Shape;925;p73" title="equals three fifths plus the fraction with numerator 1 times 3 times 7 and denominator 2 times 5 times 3"/>
          <p:cNvPicPr preferRelativeResize="0"/>
          <p:nvPr/>
        </p:nvPicPr>
        <p:blipFill rotWithShape="1">
          <a:blip r:embed="rId6">
            <a:alphaModFix/>
          </a:blip>
          <a:srcRect b="0" l="0" r="84744" t="0"/>
          <a:stretch/>
        </p:blipFill>
        <p:spPr>
          <a:xfrm>
            <a:off x="4492393" y="2806200"/>
            <a:ext cx="274450" cy="553850"/>
          </a:xfrm>
          <a:prstGeom prst="rect">
            <a:avLst/>
          </a:prstGeom>
          <a:noFill/>
          <a:ln>
            <a:noFill/>
          </a:ln>
        </p:spPr>
      </p:pic>
      <p:pic>
        <p:nvPicPr>
          <p:cNvPr descr="&lt;math xmlns=&quot;http://www.w3.org/1998/Math/MathML&quot; display=&quot;block&quot; data-is-equatio=&quot;1&quot; data-latex=&quot;=\frac{3}{5}+\frac{7}{10}=\frac{6}{10}+\frac{7}{10}=\frac{13}{10}=1\frac{3}{10}&quot;&gt;&lt;mo&gt;=&lt;/mo&gt;&lt;mfrac&gt;&lt;mn&gt;3&lt;/mn&gt;&lt;mn&gt;5&lt;/mn&gt;&lt;/mfrac&gt;&lt;mo&gt;+&lt;/mo&gt;&lt;mfrac&gt;&lt;mn&gt;7&lt;/mn&gt;&lt;mn&gt;10&lt;/mn&gt;&lt;/mfrac&gt;&lt;mo&gt;=&lt;/mo&gt;&lt;mfrac&gt;&lt;mn&gt;6&lt;/mn&gt;&lt;mn&gt;10&lt;/mn&gt;&lt;/mfrac&gt;&lt;mo&gt;+&lt;/mo&gt;&lt;mfrac&gt;&lt;mn&gt;7&lt;/mn&gt;&lt;mn&gt;10&lt;/mn&gt;&lt;/mfrac&gt;&lt;mo&gt;=&lt;/mo&gt;&lt;mfrac&gt;&lt;mn&gt;13&lt;/mn&gt;&lt;mn&gt;10&lt;/mn&gt;&lt;/mfrac&gt;&lt;mo&gt;=&lt;/mo&gt;&lt;mn&gt;1&lt;/mn&gt;&lt;mfrac&gt;&lt;mn&gt;3&lt;/mn&gt;&lt;mn&gt;10&lt;/mn&gt;&lt;/mfrac&gt;&lt;/math&gt;" id="926" name="Google Shape;926;p73" title="equals three fifths plus seven tenths equals six tenths plus seven tenths equals thirteen tenths equals 1 and three tenths"/>
          <p:cNvPicPr preferRelativeResize="0"/>
          <p:nvPr/>
        </p:nvPicPr>
        <p:blipFill rotWithShape="1">
          <a:blip r:embed="rId7">
            <a:alphaModFix/>
          </a:blip>
          <a:srcRect b="0" l="29593" r="36284" t="0"/>
          <a:stretch/>
        </p:blipFill>
        <p:spPr>
          <a:xfrm>
            <a:off x="5650260" y="4238525"/>
            <a:ext cx="1324274" cy="541350"/>
          </a:xfrm>
          <a:prstGeom prst="rect">
            <a:avLst/>
          </a:prstGeom>
          <a:noFill/>
          <a:ln>
            <a:noFill/>
          </a:ln>
        </p:spPr>
      </p:pic>
      <p:pic>
        <p:nvPicPr>
          <p:cNvPr descr="&lt;math xmlns=&quot;http://www.w3.org/1998/Math/MathML&quot; display=&quot;block&quot; data-is-equatio=&quot;1&quot; data-latex=&quot;=\frac{3}{5}+\frac{7}{10}=\frac{6}{10}+\frac{7}{10}=\frac{13}{10}=1\frac{3}{10}&quot;&gt;&lt;mo&gt;=&lt;/mo&gt;&lt;mfrac&gt;&lt;mn&gt;3&lt;/mn&gt;&lt;mn&gt;5&lt;/mn&gt;&lt;/mfrac&gt;&lt;mo&gt;+&lt;/mo&gt;&lt;mfrac&gt;&lt;mn&gt;7&lt;/mn&gt;&lt;mn&gt;10&lt;/mn&gt;&lt;/mfrac&gt;&lt;mo&gt;=&lt;/mo&gt;&lt;mfrac&gt;&lt;mn&gt;6&lt;/mn&gt;&lt;mn&gt;10&lt;/mn&gt;&lt;/mfrac&gt;&lt;mo&gt;+&lt;/mo&gt;&lt;mfrac&gt;&lt;mn&gt;7&lt;/mn&gt;&lt;mn&gt;10&lt;/mn&gt;&lt;/mfrac&gt;&lt;mo&gt;=&lt;/mo&gt;&lt;mfrac&gt;&lt;mn&gt;13&lt;/mn&gt;&lt;mn&gt;10&lt;/mn&gt;&lt;/mfrac&gt;&lt;mo&gt;=&lt;/mo&gt;&lt;mn&gt;1&lt;/mn&gt;&lt;mfrac&gt;&lt;mn&gt;3&lt;/mn&gt;&lt;mn&gt;10&lt;/mn&gt;&lt;/mfrac&gt;&lt;/math&gt;" id="927" name="Google Shape;927;p73" title="equals three fifths plus seven tenths equals six tenths plus seven tenths equals thirteen tenths equals 1 and three tenths"/>
          <p:cNvPicPr preferRelativeResize="0"/>
          <p:nvPr/>
        </p:nvPicPr>
        <p:blipFill rotWithShape="1">
          <a:blip r:embed="rId7">
            <a:alphaModFix/>
          </a:blip>
          <a:srcRect b="0" l="63666" r="0" t="0"/>
          <a:stretch/>
        </p:blipFill>
        <p:spPr>
          <a:xfrm>
            <a:off x="6962471" y="4237370"/>
            <a:ext cx="1410125" cy="541350"/>
          </a:xfrm>
          <a:prstGeom prst="rect">
            <a:avLst/>
          </a:prstGeom>
          <a:noFill/>
          <a:ln>
            <a:noFill/>
          </a:ln>
        </p:spPr>
      </p:pic>
      <p:sp>
        <p:nvSpPr>
          <p:cNvPr id="928" name="Google Shape;928;p73"/>
          <p:cNvSpPr/>
          <p:nvPr/>
        </p:nvSpPr>
        <p:spPr>
          <a:xfrm>
            <a:off x="6799800" y="2388625"/>
            <a:ext cx="2020200" cy="572400"/>
          </a:xfrm>
          <a:prstGeom prst="roundRect">
            <a:avLst>
              <a:gd fmla="val 16667" name="adj"/>
            </a:avLst>
          </a:prstGeom>
          <a:solidFill>
            <a:srgbClr val="F3EEFB"/>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Multiply by the reciprocal</a:t>
            </a:r>
            <a:endParaRPr sz="1800">
              <a:latin typeface="Lexend"/>
              <a:ea typeface="Lexend"/>
              <a:cs typeface="Lexend"/>
              <a:sym typeface="Lexend"/>
            </a:endParaRPr>
          </a:p>
        </p:txBody>
      </p:sp>
      <p:sp>
        <p:nvSpPr>
          <p:cNvPr id="929" name="Google Shape;929;p73"/>
          <p:cNvSpPr/>
          <p:nvPr/>
        </p:nvSpPr>
        <p:spPr>
          <a:xfrm>
            <a:off x="6772025" y="3512076"/>
            <a:ext cx="2020200" cy="572400"/>
          </a:xfrm>
          <a:prstGeom prst="roundRect">
            <a:avLst>
              <a:gd fmla="val 16667" name="adj"/>
            </a:avLst>
          </a:prstGeom>
          <a:solidFill>
            <a:srgbClr val="F3EEFB"/>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Multiplication before addition</a:t>
            </a:r>
            <a:endParaRPr sz="1800">
              <a:latin typeface="Lexend"/>
              <a:ea typeface="Lexend"/>
              <a:cs typeface="Lexend"/>
              <a:sym typeface="Lexend"/>
            </a:endParaRPr>
          </a:p>
        </p:txBody>
      </p:sp>
      <p:sp>
        <p:nvSpPr>
          <p:cNvPr id="930" name="Google Shape;930;p73"/>
          <p:cNvSpPr txBox="1"/>
          <p:nvPr/>
        </p:nvSpPr>
        <p:spPr>
          <a:xfrm>
            <a:off x="2417950" y="3379675"/>
            <a:ext cx="855900" cy="85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4700">
                <a:latin typeface="Lexend"/>
                <a:ea typeface="Lexend"/>
                <a:cs typeface="Lexend"/>
                <a:sym typeface="Lexend"/>
              </a:rPr>
              <a:t>÷</a:t>
            </a:r>
            <a:endParaRPr sz="4700">
              <a:latin typeface="Lexend"/>
              <a:ea typeface="Lexend"/>
              <a:cs typeface="Lexend"/>
              <a:sym typeface="Lexend"/>
            </a:endParaRPr>
          </a:p>
        </p:txBody>
      </p:sp>
      <p:sp>
        <p:nvSpPr>
          <p:cNvPr id="931" name="Google Shape;931;p73"/>
          <p:cNvSpPr txBox="1"/>
          <p:nvPr/>
        </p:nvSpPr>
        <p:spPr>
          <a:xfrm>
            <a:off x="2444075" y="3915375"/>
            <a:ext cx="786900" cy="52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4700">
                <a:latin typeface="Lexend"/>
                <a:ea typeface="Lexend"/>
                <a:cs typeface="Lexend"/>
                <a:sym typeface="Lexend"/>
              </a:rPr>
              <a:t>−</a:t>
            </a:r>
            <a:endParaRPr sz="47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p7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Reviewing priority of operations</a:t>
            </a:r>
            <a:endParaRPr/>
          </a:p>
        </p:txBody>
      </p:sp>
      <p:sp>
        <p:nvSpPr>
          <p:cNvPr id="937" name="Google Shape;937;p74"/>
          <p:cNvSpPr txBox="1"/>
          <p:nvPr/>
        </p:nvSpPr>
        <p:spPr>
          <a:xfrm>
            <a:off x="324000" y="683100"/>
            <a:ext cx="1326900" cy="655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100">
                <a:latin typeface="Lexend"/>
                <a:ea typeface="Lexend"/>
                <a:cs typeface="Lexend"/>
                <a:sym typeface="Lexend"/>
              </a:rPr>
              <a:t>Calculate:</a:t>
            </a:r>
            <a:endParaRPr sz="2100">
              <a:solidFill>
                <a:srgbClr val="000000"/>
              </a:solidFill>
              <a:latin typeface="Lexend"/>
              <a:ea typeface="Lexend"/>
              <a:cs typeface="Lexend"/>
              <a:sym typeface="Lexend"/>
            </a:endParaRPr>
          </a:p>
        </p:txBody>
      </p:sp>
      <p:grpSp>
        <p:nvGrpSpPr>
          <p:cNvPr id="938" name="Google Shape;938;p74"/>
          <p:cNvGrpSpPr/>
          <p:nvPr/>
        </p:nvGrpSpPr>
        <p:grpSpPr>
          <a:xfrm>
            <a:off x="525984" y="2186277"/>
            <a:ext cx="3131902" cy="2310490"/>
            <a:chOff x="700147" y="1855128"/>
            <a:chExt cx="3916346" cy="2889197"/>
          </a:xfrm>
        </p:grpSpPr>
        <p:grpSp>
          <p:nvGrpSpPr>
            <p:cNvPr id="939" name="Google Shape;939;p74"/>
            <p:cNvGrpSpPr/>
            <p:nvPr/>
          </p:nvGrpSpPr>
          <p:grpSpPr>
            <a:xfrm>
              <a:off x="700147" y="1855128"/>
              <a:ext cx="3916346" cy="2889197"/>
              <a:chOff x="2529025" y="1931250"/>
              <a:chExt cx="3584100" cy="2617500"/>
            </a:xfrm>
          </p:grpSpPr>
          <p:sp>
            <p:nvSpPr>
              <p:cNvPr id="940" name="Google Shape;940;p74"/>
              <p:cNvSpPr/>
              <p:nvPr/>
            </p:nvSpPr>
            <p:spPr>
              <a:xfrm>
                <a:off x="2529025" y="1931250"/>
                <a:ext cx="3584100" cy="2617500"/>
              </a:xfrm>
              <a:prstGeom prst="triangle">
                <a:avLst>
                  <a:gd fmla="val 50000" name="adj"/>
                </a:avLst>
              </a:prstGeom>
              <a:no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41" name="Google Shape;941;p74"/>
              <p:cNvCxnSpPr/>
              <p:nvPr/>
            </p:nvCxnSpPr>
            <p:spPr>
              <a:xfrm>
                <a:off x="3766742" y="2706800"/>
                <a:ext cx="1095900" cy="0"/>
              </a:xfrm>
              <a:prstGeom prst="straightConnector1">
                <a:avLst/>
              </a:prstGeom>
              <a:noFill/>
              <a:ln cap="flat" cmpd="sng" w="38100">
                <a:solidFill>
                  <a:srgbClr val="845AD9"/>
                </a:solidFill>
                <a:prstDash val="solid"/>
                <a:round/>
                <a:headEnd len="med" w="med" type="none"/>
                <a:tailEnd len="med" w="med" type="none"/>
              </a:ln>
            </p:spPr>
          </p:cxnSp>
          <p:cxnSp>
            <p:nvCxnSpPr>
              <p:cNvPr id="942" name="Google Shape;942;p74"/>
              <p:cNvCxnSpPr/>
              <p:nvPr/>
            </p:nvCxnSpPr>
            <p:spPr>
              <a:xfrm>
                <a:off x="3369600" y="3320300"/>
                <a:ext cx="1899300" cy="0"/>
              </a:xfrm>
              <a:prstGeom prst="straightConnector1">
                <a:avLst/>
              </a:prstGeom>
              <a:noFill/>
              <a:ln cap="flat" cmpd="sng" w="38100">
                <a:solidFill>
                  <a:srgbClr val="845AD9"/>
                </a:solidFill>
                <a:prstDash val="solid"/>
                <a:round/>
                <a:headEnd len="med" w="med" type="none"/>
                <a:tailEnd len="med" w="med" type="none"/>
              </a:ln>
            </p:spPr>
          </p:cxnSp>
          <p:cxnSp>
            <p:nvCxnSpPr>
              <p:cNvPr id="943" name="Google Shape;943;p74"/>
              <p:cNvCxnSpPr/>
              <p:nvPr/>
            </p:nvCxnSpPr>
            <p:spPr>
              <a:xfrm flipH="1" rot="10800000">
                <a:off x="2996850" y="3910986"/>
                <a:ext cx="2653800" cy="3900"/>
              </a:xfrm>
              <a:prstGeom prst="straightConnector1">
                <a:avLst/>
              </a:prstGeom>
              <a:noFill/>
              <a:ln cap="flat" cmpd="sng" w="38100">
                <a:solidFill>
                  <a:srgbClr val="845AD9"/>
                </a:solidFill>
                <a:prstDash val="solid"/>
                <a:round/>
                <a:headEnd len="med" w="med" type="none"/>
                <a:tailEnd len="med" w="med" type="none"/>
              </a:ln>
            </p:spPr>
          </p:cxnSp>
        </p:grpSp>
        <p:sp>
          <p:nvSpPr>
            <p:cNvPr id="944" name="Google Shape;944;p74"/>
            <p:cNvSpPr txBox="1"/>
            <p:nvPr/>
          </p:nvSpPr>
          <p:spPr>
            <a:xfrm>
              <a:off x="2223184" y="2145282"/>
              <a:ext cx="12471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Lexend"/>
                  <a:ea typeface="Lexend"/>
                  <a:cs typeface="Lexend"/>
                  <a:sym typeface="Lexend"/>
                </a:rPr>
                <a:t>( …. )</a:t>
              </a:r>
              <a:endParaRPr sz="2000">
                <a:latin typeface="Lexend"/>
                <a:ea typeface="Lexend"/>
                <a:cs typeface="Lexend"/>
                <a:sym typeface="Lexend"/>
              </a:endParaRPr>
            </a:p>
          </p:txBody>
        </p:sp>
        <p:grpSp>
          <p:nvGrpSpPr>
            <p:cNvPr id="945" name="Google Shape;945;p74"/>
            <p:cNvGrpSpPr/>
            <p:nvPr/>
          </p:nvGrpSpPr>
          <p:grpSpPr>
            <a:xfrm>
              <a:off x="2537340" y="2581822"/>
              <a:ext cx="844893" cy="669996"/>
              <a:chOff x="1411338" y="2440722"/>
              <a:chExt cx="844893" cy="669996"/>
            </a:xfrm>
          </p:grpSpPr>
          <p:sp>
            <p:nvSpPr>
              <p:cNvPr id="946" name="Google Shape;946;p74"/>
              <p:cNvSpPr txBox="1"/>
              <p:nvPr/>
            </p:nvSpPr>
            <p:spPr>
              <a:xfrm>
                <a:off x="1765730" y="2440722"/>
                <a:ext cx="4905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latin typeface="Lexend"/>
                    <a:ea typeface="Lexend"/>
                    <a:cs typeface="Lexend"/>
                    <a:sym typeface="Lexend"/>
                  </a:rPr>
                  <a:t>⬚</a:t>
                </a:r>
                <a:endParaRPr b="1" sz="2000">
                  <a:latin typeface="Lexend"/>
                  <a:ea typeface="Lexend"/>
                  <a:cs typeface="Lexend"/>
                  <a:sym typeface="Lexend"/>
                </a:endParaRPr>
              </a:p>
            </p:txBody>
          </p:sp>
          <p:sp>
            <p:nvSpPr>
              <p:cNvPr id="947" name="Google Shape;947;p74"/>
              <p:cNvSpPr txBox="1"/>
              <p:nvPr/>
            </p:nvSpPr>
            <p:spPr>
              <a:xfrm>
                <a:off x="1411338" y="2573718"/>
                <a:ext cx="4905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3100">
                    <a:latin typeface="Lexend"/>
                    <a:ea typeface="Lexend"/>
                    <a:cs typeface="Lexend"/>
                    <a:sym typeface="Lexend"/>
                  </a:rPr>
                  <a:t>⬚</a:t>
                </a:r>
                <a:endParaRPr b="1" sz="3100">
                  <a:latin typeface="Lexend"/>
                  <a:ea typeface="Lexend"/>
                  <a:cs typeface="Lexend"/>
                  <a:sym typeface="Lexend"/>
                </a:endParaRPr>
              </a:p>
            </p:txBody>
          </p:sp>
        </p:grpSp>
        <p:grpSp>
          <p:nvGrpSpPr>
            <p:cNvPr id="948" name="Google Shape;948;p74"/>
            <p:cNvGrpSpPr/>
            <p:nvPr/>
          </p:nvGrpSpPr>
          <p:grpSpPr>
            <a:xfrm>
              <a:off x="1905848" y="2700785"/>
              <a:ext cx="627511" cy="537000"/>
              <a:chOff x="3734648" y="2776985"/>
              <a:chExt cx="627511" cy="537000"/>
            </a:xfrm>
          </p:grpSpPr>
          <p:pic>
            <p:nvPicPr>
              <p:cNvPr descr="&lt;math xmlns=&quot;http://www.w3.org/1998/Math/MathML&quot; display=&quot;block&quot; data-is-equatio=&quot;1&quot; data-latex=&quot;\begin{array}{l}\sqrt[\ \ ]{\ \ \ }\\&amp;#13;&amp;#10;\end{array}&quot;&gt;&lt;mtable columnalign=&quot;left&quot; columnspacing=&quot;1em&quot; rowspacing=&quot;4pt&quot;&gt;&lt;mtr&gt;&lt;mtd&gt;&lt;mroot&gt;&lt;mrow&gt;&lt;mtext&gt;&lt;/mtext&gt;&lt;mtext&gt;&lt;/mtext&gt;&lt;mtext&gt;&lt;/mtext&gt;&lt;/mrow&gt;&lt;mrow&gt;&lt;mtext&gt;&lt;/mtext&gt;&lt;mtext&gt;&lt;/mtext&gt;&lt;/mrow&gt;&lt;/mroot&gt;&lt;/mtd&gt;&lt;/mtr&gt;&lt;/mtable&gt;&lt;/math&gt;" id="949" name="Google Shape;949;p74" title="1 lines Line 1: the root of"/>
              <p:cNvPicPr preferRelativeResize="0"/>
              <p:nvPr/>
            </p:nvPicPr>
            <p:blipFill>
              <a:blip r:embed="rId3">
                <a:alphaModFix/>
              </a:blip>
              <a:stretch>
                <a:fillRect/>
              </a:stretch>
            </p:blipFill>
            <p:spPr>
              <a:xfrm>
                <a:off x="3871597" y="2929810"/>
                <a:ext cx="490562" cy="384175"/>
              </a:xfrm>
              <a:prstGeom prst="rect">
                <a:avLst/>
              </a:prstGeom>
              <a:noFill/>
              <a:ln>
                <a:noFill/>
              </a:ln>
            </p:spPr>
          </p:pic>
          <p:sp>
            <p:nvSpPr>
              <p:cNvPr id="950" name="Google Shape;950;p74"/>
              <p:cNvSpPr txBox="1"/>
              <p:nvPr/>
            </p:nvSpPr>
            <p:spPr>
              <a:xfrm>
                <a:off x="3734648" y="2776985"/>
                <a:ext cx="4905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latin typeface="Lexend"/>
                    <a:ea typeface="Lexend"/>
                    <a:cs typeface="Lexend"/>
                    <a:sym typeface="Lexend"/>
                  </a:rPr>
                  <a:t>⬚</a:t>
                </a:r>
                <a:endParaRPr sz="1700">
                  <a:latin typeface="Lexend"/>
                  <a:ea typeface="Lexend"/>
                  <a:cs typeface="Lexend"/>
                  <a:sym typeface="Lexend"/>
                </a:endParaRPr>
              </a:p>
            </p:txBody>
          </p:sp>
        </p:grpSp>
        <p:sp>
          <p:nvSpPr>
            <p:cNvPr id="951" name="Google Shape;951;p74"/>
            <p:cNvSpPr txBox="1"/>
            <p:nvPr/>
          </p:nvSpPr>
          <p:spPr>
            <a:xfrm>
              <a:off x="1862700" y="3156872"/>
              <a:ext cx="2082900" cy="65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4700">
                  <a:latin typeface="Lexend"/>
                  <a:ea typeface="Lexend"/>
                  <a:cs typeface="Lexend"/>
                  <a:sym typeface="Lexend"/>
                </a:rPr>
                <a:t>× </a:t>
              </a:r>
              <a:endParaRPr sz="4700">
                <a:latin typeface="Lexend"/>
                <a:ea typeface="Lexend"/>
                <a:cs typeface="Lexend"/>
                <a:sym typeface="Lexend"/>
              </a:endParaRPr>
            </a:p>
          </p:txBody>
        </p:sp>
        <p:sp>
          <p:nvSpPr>
            <p:cNvPr id="952" name="Google Shape;952;p74"/>
            <p:cNvSpPr txBox="1"/>
            <p:nvPr/>
          </p:nvSpPr>
          <p:spPr>
            <a:xfrm>
              <a:off x="1808950" y="3826756"/>
              <a:ext cx="2082900" cy="65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4700">
                  <a:latin typeface="Lexend"/>
                  <a:ea typeface="Lexend"/>
                  <a:cs typeface="Lexend"/>
                  <a:sym typeface="Lexend"/>
                </a:rPr>
                <a:t>+ </a:t>
              </a:r>
              <a:endParaRPr sz="4700">
                <a:latin typeface="Lexend"/>
                <a:ea typeface="Lexend"/>
                <a:cs typeface="Lexend"/>
                <a:sym typeface="Lexend"/>
              </a:endParaRPr>
            </a:p>
          </p:txBody>
        </p:sp>
      </p:grpSp>
      <p:sp>
        <p:nvSpPr>
          <p:cNvPr id="953" name="Google Shape;953;p74"/>
          <p:cNvSpPr/>
          <p:nvPr/>
        </p:nvSpPr>
        <p:spPr>
          <a:xfrm>
            <a:off x="2480055" y="3542317"/>
            <a:ext cx="392400" cy="392400"/>
          </a:xfrm>
          <a:prstGeom prst="ellipse">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54" name="Google Shape;954;p74"/>
          <p:cNvSpPr/>
          <p:nvPr/>
        </p:nvSpPr>
        <p:spPr>
          <a:xfrm>
            <a:off x="1489455" y="3520032"/>
            <a:ext cx="392400" cy="392400"/>
          </a:xfrm>
          <a:prstGeom prst="ellipse">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frac{2}{3}+\frac{1}{6}\div\frac{4}{5}-\frac{7}{8}&quot;&gt;&lt;mfrac&gt;&lt;mn&gt;2&lt;/mn&gt;&lt;mn&gt;3&lt;/mn&gt;&lt;/mfrac&gt;&lt;mo&gt;+&lt;/mo&gt;&lt;mfrac&gt;&lt;mn&gt;1&lt;/mn&gt;&lt;mn&gt;6&lt;/mn&gt;&lt;/mfrac&gt;&lt;mo&gt;÷&lt;/mo&gt;&lt;mfrac&gt;&lt;mn&gt;4&lt;/mn&gt;&lt;mn&gt;5&lt;/mn&gt;&lt;/mfrac&gt;&lt;mo&gt;−&lt;/mo&gt;&lt;mfrac&gt;&lt;mn&gt;7&lt;/mn&gt;&lt;mn&gt;8&lt;/mn&gt;&lt;/mfrac&gt;&lt;/math&gt;" id="955" name="Google Shape;955;p74" title="two thirds plus one sixth divided by four fifths minus seven eighths"/>
          <p:cNvPicPr preferRelativeResize="0"/>
          <p:nvPr/>
        </p:nvPicPr>
        <p:blipFill>
          <a:blip r:embed="rId4">
            <a:alphaModFix/>
          </a:blip>
          <a:stretch>
            <a:fillRect/>
          </a:stretch>
        </p:blipFill>
        <p:spPr>
          <a:xfrm>
            <a:off x="1852400" y="683100"/>
            <a:ext cx="1903655" cy="613500"/>
          </a:xfrm>
          <a:prstGeom prst="rect">
            <a:avLst/>
          </a:prstGeom>
          <a:noFill/>
          <a:ln>
            <a:noFill/>
          </a:ln>
        </p:spPr>
      </p:pic>
      <p:pic>
        <p:nvPicPr>
          <p:cNvPr descr="&lt;math xmlns=&quot;http://www.w3.org/1998/Math/MathML&quot; display=&quot;block&quot; data-is-equatio=&quot;1&quot; data-latex=&quot;\frac{2}{3}+\frac{1}{6}\times\frac{5}{4}-\frac{7}{8}&quot;&gt;&lt;mfrac&gt;&lt;mn&gt;2&lt;/mn&gt;&lt;mn&gt;3&lt;/mn&gt;&lt;/mfrac&gt;&lt;mo&gt;+&lt;/mo&gt;&lt;mfrac&gt;&lt;mn&gt;1&lt;/mn&gt;&lt;mn&gt;6&lt;/mn&gt;&lt;/mfrac&gt;&lt;mo&gt;×&lt;/mo&gt;&lt;mfrac&gt;&lt;mn&gt;5&lt;/mn&gt;&lt;mn&gt;4&lt;/mn&gt;&lt;/mfrac&gt;&lt;mo&gt;−&lt;/mo&gt;&lt;mfrac&gt;&lt;mn&gt;7&lt;/mn&gt;&lt;mn&gt;8&lt;/mn&gt;&lt;/mfrac&gt;&lt;/math&gt;" id="956" name="Google Shape;956;p74" title="two thirds plus one sixth times five fourths minus seven eighths"/>
          <p:cNvPicPr preferRelativeResize="0"/>
          <p:nvPr/>
        </p:nvPicPr>
        <p:blipFill>
          <a:blip r:embed="rId5">
            <a:alphaModFix/>
          </a:blip>
          <a:stretch>
            <a:fillRect/>
          </a:stretch>
        </p:blipFill>
        <p:spPr>
          <a:xfrm>
            <a:off x="4757703" y="710525"/>
            <a:ext cx="1842530" cy="586066"/>
          </a:xfrm>
          <a:prstGeom prst="rect">
            <a:avLst/>
          </a:prstGeom>
          <a:noFill/>
          <a:ln>
            <a:noFill/>
          </a:ln>
        </p:spPr>
      </p:pic>
      <p:pic>
        <p:nvPicPr>
          <p:cNvPr descr="&lt;math xmlns=&quot;http://www.w3.org/1998/Math/MathML&quot; display=&quot;block&quot; data-is-equatio=&quot;1&quot; data-latex=&quot;\frac{2}{3}+\frac{5}{24}-\frac{7}{8}&quot;&gt;&lt;mfrac&gt;&lt;mn&gt;2&lt;/mn&gt;&lt;mn&gt;3&lt;/mn&gt;&lt;/mfrac&gt;&lt;mo&gt;+&lt;/mo&gt;&lt;mfrac&gt;&lt;mn&gt;5&lt;/mn&gt;&lt;mn&gt;24&lt;/mn&gt;&lt;/mfrac&gt;&lt;mo&gt;−&lt;/mo&gt;&lt;mfrac&gt;&lt;mn&gt;7&lt;/mn&gt;&lt;mn&gt;8&lt;/mn&gt;&lt;/mfrac&gt;&lt;/math&gt;" id="957" name="Google Shape;957;p74" title="two thirds plus 5 over 24 minus seven eighths"/>
          <p:cNvPicPr preferRelativeResize="0"/>
          <p:nvPr/>
        </p:nvPicPr>
        <p:blipFill>
          <a:blip r:embed="rId6">
            <a:alphaModFix/>
          </a:blip>
          <a:stretch>
            <a:fillRect/>
          </a:stretch>
        </p:blipFill>
        <p:spPr>
          <a:xfrm>
            <a:off x="4757702" y="1483810"/>
            <a:ext cx="1482904" cy="603826"/>
          </a:xfrm>
          <a:prstGeom prst="rect">
            <a:avLst/>
          </a:prstGeom>
          <a:noFill/>
          <a:ln>
            <a:noFill/>
          </a:ln>
        </p:spPr>
      </p:pic>
      <p:pic>
        <p:nvPicPr>
          <p:cNvPr descr="&lt;math xmlns=&quot;http://www.w3.org/1998/Math/MathML&quot; display=&quot;block&quot; data-is-equatio=&quot;1&quot; data-latex=&quot;\frac{2}{3}+\frac{5}{24}+\left(-\frac{7}{8}\right)&quot;&gt;&lt;mfrac&gt;&lt;mn&gt;2&lt;/mn&gt;&lt;mn&gt;3&lt;/mn&gt;&lt;/mfrac&gt;&lt;mo&gt;+&lt;/mo&gt;&lt;mfrac&gt;&lt;mn&gt;5&lt;/mn&gt;&lt;mn&gt;24&lt;/mn&gt;&lt;/mfrac&gt;&lt;mo&gt;+&lt;/mo&gt;&lt;mrow data-mjx-texclass=&quot;INNER&quot;&gt;&lt;mo data-mjx-texclass=&quot;OPEN&quot;&gt;(&lt;/mo&gt;&lt;mo&gt;−&lt;/mo&gt;&lt;mfrac&gt;&lt;mn&gt;7&lt;/mn&gt;&lt;mn&gt;8&lt;/mn&gt;&lt;/mfrac&gt;&lt;mo data-mjx-texclass=&quot;CLOSE&quot;&gt;)&lt;/mo&gt;&lt;/mrow&gt;&lt;/math&gt;" id="958" name="Google Shape;958;p74" title="two thirds plus 5 over 24 plus negative seven eighths"/>
          <p:cNvPicPr preferRelativeResize="0"/>
          <p:nvPr/>
        </p:nvPicPr>
        <p:blipFill>
          <a:blip r:embed="rId7">
            <a:alphaModFix/>
          </a:blip>
          <a:stretch>
            <a:fillRect/>
          </a:stretch>
        </p:blipFill>
        <p:spPr>
          <a:xfrm>
            <a:off x="4757691" y="2274854"/>
            <a:ext cx="2113360" cy="723703"/>
          </a:xfrm>
          <a:prstGeom prst="rect">
            <a:avLst/>
          </a:prstGeom>
          <a:noFill/>
          <a:ln>
            <a:noFill/>
          </a:ln>
        </p:spPr>
      </p:pic>
      <p:pic>
        <p:nvPicPr>
          <p:cNvPr descr="&lt;math xmlns=&quot;http://www.w3.org/1998/Math/MathML&quot; display=&quot;block&quot; data-is-equatio=&quot;1&quot; data-latex=&quot;\frac{16}{24}+\frac{5}{24}+\left(-\frac{21}{24}\right)&quot;&gt;&lt;mfrac&gt;&lt;mn&gt;16&lt;/mn&gt;&lt;mn&gt;24&lt;/mn&gt;&lt;/mfrac&gt;&lt;mo&gt;+&lt;/mo&gt;&lt;mfrac&gt;&lt;mn&gt;5&lt;/mn&gt;&lt;mn&gt;24&lt;/mn&gt;&lt;/mfrac&gt;&lt;mo&gt;+&lt;/mo&gt;&lt;mrow data-mjx-texclass=&quot;INNER&quot;&gt;&lt;mo data-mjx-texclass=&quot;OPEN&quot;&gt;(&lt;/mo&gt;&lt;mo&gt;−&lt;/mo&gt;&lt;mfrac&gt;&lt;mn&gt;21&lt;/mn&gt;&lt;mn&gt;24&lt;/mn&gt;&lt;/mfrac&gt;&lt;mo data-mjx-texclass=&quot;CLOSE&quot;&gt;)&lt;/mo&gt;&lt;/mrow&gt;&lt;/math&gt;" id="959" name="Google Shape;959;p74" title="16 over 24 plus 5 over 24 plus open paren negative 21 over 24 close paren"/>
          <p:cNvPicPr preferRelativeResize="0"/>
          <p:nvPr/>
        </p:nvPicPr>
        <p:blipFill>
          <a:blip r:embed="rId8">
            <a:alphaModFix/>
          </a:blip>
          <a:stretch>
            <a:fillRect/>
          </a:stretch>
        </p:blipFill>
        <p:spPr>
          <a:xfrm>
            <a:off x="4757700" y="3185776"/>
            <a:ext cx="2401949" cy="723703"/>
          </a:xfrm>
          <a:prstGeom prst="rect">
            <a:avLst/>
          </a:prstGeom>
          <a:noFill/>
          <a:ln>
            <a:noFill/>
          </a:ln>
        </p:spPr>
      </p:pic>
      <p:pic>
        <p:nvPicPr>
          <p:cNvPr descr="&lt;math xmlns=&quot;http://www.w3.org/1998/Math/MathML&quot; display=&quot;block&quot; data-is-equatio=&quot;1&quot; data-latex=&quot;=\frac{21}{24}+\left(-\frac{21}{24}\right)=0&quot;&gt;&lt;mo&gt;=&lt;/mo&gt;&lt;mfrac&gt;&lt;mn&gt;21&lt;/mn&gt;&lt;mn&gt;24&lt;/mn&gt;&lt;/mfrac&gt;&lt;mo&gt;+&lt;/mo&gt;&lt;mrow data-mjx-texclass=&quot;INNER&quot;&gt;&lt;mo data-mjx-texclass=&quot;OPEN&quot;&gt;(&lt;/mo&gt;&lt;mo&gt;−&lt;/mo&gt;&lt;mfrac&gt;&lt;mn&gt;21&lt;/mn&gt;&lt;mn&gt;24&lt;/mn&gt;&lt;/mfrac&gt;&lt;mo data-mjx-texclass=&quot;CLOSE&quot;&gt;)&lt;/mo&gt;&lt;/mrow&gt;&lt;mo&gt;=&lt;/mo&gt;&lt;mn&gt;0&lt;/mn&gt;&lt;/math&gt;" id="960" name="Google Shape;960;p74"/>
          <p:cNvPicPr preferRelativeResize="0"/>
          <p:nvPr/>
        </p:nvPicPr>
        <p:blipFill>
          <a:blip r:embed="rId9">
            <a:alphaModFix/>
          </a:blip>
          <a:stretch>
            <a:fillRect/>
          </a:stretch>
        </p:blipFill>
        <p:spPr>
          <a:xfrm>
            <a:off x="4506831" y="4096697"/>
            <a:ext cx="2535144" cy="723703"/>
          </a:xfrm>
          <a:prstGeom prst="rect">
            <a:avLst/>
          </a:prstGeom>
          <a:noFill/>
          <a:ln>
            <a:noFill/>
          </a:ln>
        </p:spPr>
      </p:pic>
      <p:pic>
        <p:nvPicPr>
          <p:cNvPr descr="&lt;math xmlns=&quot;http://www.w3.org/1998/Math/MathML&quot; display=&quot;block&quot; data-is-equatio=&quot;1&quot; data-latex=&quot;=\frac{21}{24}+\left(-\frac{21}{24}\right)=0&quot;&gt;&lt;mo&gt;=&lt;/mo&gt;&lt;mfrac&gt;&lt;mn&gt;21&lt;/mn&gt;&lt;mn&gt;24&lt;/mn&gt;&lt;/mfrac&gt;&lt;mo&gt;+&lt;/mo&gt;&lt;mrow data-mjx-texclass=&quot;INNER&quot;&gt;&lt;mo data-mjx-texclass=&quot;OPEN&quot;&gt;(&lt;/mo&gt;&lt;mo&gt;−&lt;/mo&gt;&lt;mfrac&gt;&lt;mn&gt;21&lt;/mn&gt;&lt;mn&gt;24&lt;/mn&gt;&lt;/mfrac&gt;&lt;mo data-mjx-texclass=&quot;CLOSE&quot;&gt;)&lt;/mo&gt;&lt;/mrow&gt;&lt;mo&gt;=&lt;/mo&gt;&lt;mn&gt;0&lt;/mn&gt;&lt;/math&gt;" id="961" name="Google Shape;961;p74"/>
          <p:cNvPicPr preferRelativeResize="0"/>
          <p:nvPr/>
        </p:nvPicPr>
        <p:blipFill rotWithShape="1">
          <a:blip r:embed="rId9">
            <a:alphaModFix/>
          </a:blip>
          <a:srcRect b="0" l="0" r="90104" t="0"/>
          <a:stretch/>
        </p:blipFill>
        <p:spPr>
          <a:xfrm>
            <a:off x="4506830" y="4096700"/>
            <a:ext cx="250875" cy="723700"/>
          </a:xfrm>
          <a:prstGeom prst="rect">
            <a:avLst/>
          </a:prstGeom>
          <a:noFill/>
          <a:ln>
            <a:noFill/>
          </a:ln>
        </p:spPr>
      </p:pic>
      <p:pic>
        <p:nvPicPr>
          <p:cNvPr descr="&lt;math xmlns=&quot;http://www.w3.org/1998/Math/MathML&quot; display=&quot;block&quot; data-is-equatio=&quot;1&quot; data-latex=&quot;=\frac{21}{24}+\left(-\frac{21}{24}\right)=0&quot;&gt;&lt;mo&gt;=&lt;/mo&gt;&lt;mfrac&gt;&lt;mn&gt;21&lt;/mn&gt;&lt;mn&gt;24&lt;/mn&gt;&lt;/mfrac&gt;&lt;mo&gt;+&lt;/mo&gt;&lt;mrow data-mjx-texclass=&quot;INNER&quot;&gt;&lt;mo data-mjx-texclass=&quot;OPEN&quot;&gt;(&lt;/mo&gt;&lt;mo&gt;−&lt;/mo&gt;&lt;mfrac&gt;&lt;mn&gt;21&lt;/mn&gt;&lt;mn&gt;24&lt;/mn&gt;&lt;/mfrac&gt;&lt;mo data-mjx-texclass=&quot;CLOSE&quot;&gt;)&lt;/mo&gt;&lt;/mrow&gt;&lt;mo&gt;=&lt;/mo&gt;&lt;mn&gt;0&lt;/mn&gt;&lt;/math&gt;" id="962" name="Google Shape;962;p74"/>
          <p:cNvPicPr preferRelativeResize="0"/>
          <p:nvPr/>
        </p:nvPicPr>
        <p:blipFill rotWithShape="1">
          <a:blip r:embed="rId9">
            <a:alphaModFix/>
          </a:blip>
          <a:srcRect b="0" l="0" r="90104" t="0"/>
          <a:stretch/>
        </p:blipFill>
        <p:spPr>
          <a:xfrm>
            <a:off x="4506818" y="702863"/>
            <a:ext cx="250875" cy="723700"/>
          </a:xfrm>
          <a:prstGeom prst="rect">
            <a:avLst/>
          </a:prstGeom>
          <a:noFill/>
          <a:ln>
            <a:noFill/>
          </a:ln>
        </p:spPr>
      </p:pic>
      <p:pic>
        <p:nvPicPr>
          <p:cNvPr descr="&lt;math xmlns=&quot;http://www.w3.org/1998/Math/MathML&quot; display=&quot;block&quot; data-is-equatio=&quot;1&quot; data-latex=&quot;=\frac{21}{24}+\left(-\frac{21}{24}\right)=0&quot;&gt;&lt;mo&gt;=&lt;/mo&gt;&lt;mfrac&gt;&lt;mn&gt;21&lt;/mn&gt;&lt;mn&gt;24&lt;/mn&gt;&lt;/mfrac&gt;&lt;mo&gt;+&lt;/mo&gt;&lt;mrow data-mjx-texclass=&quot;INNER&quot;&gt;&lt;mo data-mjx-texclass=&quot;OPEN&quot;&gt;(&lt;/mo&gt;&lt;mo&gt;−&lt;/mo&gt;&lt;mfrac&gt;&lt;mn&gt;21&lt;/mn&gt;&lt;mn&gt;24&lt;/mn&gt;&lt;/mfrac&gt;&lt;mo data-mjx-texclass=&quot;CLOSE&quot;&gt;)&lt;/mo&gt;&lt;/mrow&gt;&lt;mo&gt;=&lt;/mo&gt;&lt;mn&gt;0&lt;/mn&gt;&lt;/math&gt;" id="963" name="Google Shape;963;p74"/>
          <p:cNvPicPr preferRelativeResize="0"/>
          <p:nvPr/>
        </p:nvPicPr>
        <p:blipFill rotWithShape="1">
          <a:blip r:embed="rId9">
            <a:alphaModFix/>
          </a:blip>
          <a:srcRect b="0" l="0" r="90104" t="0"/>
          <a:stretch/>
        </p:blipFill>
        <p:spPr>
          <a:xfrm>
            <a:off x="4506818" y="2306094"/>
            <a:ext cx="250875" cy="723700"/>
          </a:xfrm>
          <a:prstGeom prst="rect">
            <a:avLst/>
          </a:prstGeom>
          <a:noFill/>
          <a:ln>
            <a:noFill/>
          </a:ln>
        </p:spPr>
      </p:pic>
      <p:pic>
        <p:nvPicPr>
          <p:cNvPr descr="&lt;math xmlns=&quot;http://www.w3.org/1998/Math/MathML&quot; display=&quot;block&quot; data-is-equatio=&quot;1&quot; data-latex=&quot;=\frac{21}{24}+\left(-\frac{21}{24}\right)=0&quot;&gt;&lt;mo&gt;=&lt;/mo&gt;&lt;mfrac&gt;&lt;mn&gt;21&lt;/mn&gt;&lt;mn&gt;24&lt;/mn&gt;&lt;/mfrac&gt;&lt;mo&gt;+&lt;/mo&gt;&lt;mrow data-mjx-texclass=&quot;INNER&quot;&gt;&lt;mo data-mjx-texclass=&quot;OPEN&quot;&gt;(&lt;/mo&gt;&lt;mo&gt;−&lt;/mo&gt;&lt;mfrac&gt;&lt;mn&gt;21&lt;/mn&gt;&lt;mn&gt;24&lt;/mn&gt;&lt;/mfrac&gt;&lt;mo data-mjx-texclass=&quot;CLOSE&quot;&gt;)&lt;/mo&gt;&lt;/mrow&gt;&lt;mo&gt;=&lt;/mo&gt;&lt;mn&gt;0&lt;/mn&gt;&lt;/math&gt;" id="964" name="Google Shape;964;p74"/>
          <p:cNvPicPr preferRelativeResize="0"/>
          <p:nvPr/>
        </p:nvPicPr>
        <p:blipFill rotWithShape="1">
          <a:blip r:embed="rId9">
            <a:alphaModFix/>
          </a:blip>
          <a:srcRect b="0" l="0" r="90104" t="0"/>
          <a:stretch/>
        </p:blipFill>
        <p:spPr>
          <a:xfrm>
            <a:off x="4506818" y="3185766"/>
            <a:ext cx="250875" cy="723700"/>
          </a:xfrm>
          <a:prstGeom prst="rect">
            <a:avLst/>
          </a:prstGeom>
          <a:noFill/>
          <a:ln>
            <a:noFill/>
          </a:ln>
        </p:spPr>
      </p:pic>
      <p:pic>
        <p:nvPicPr>
          <p:cNvPr descr="&lt;math xmlns=&quot;http://www.w3.org/1998/Math/MathML&quot; display=&quot;block&quot; data-is-equatio=&quot;1&quot; data-latex=&quot;=\frac{21}{24}+\left(-\frac{21}{24}\right)=0&quot;&gt;&lt;mo&gt;=&lt;/mo&gt;&lt;mfrac&gt;&lt;mn&gt;21&lt;/mn&gt;&lt;mn&gt;24&lt;/mn&gt;&lt;/mfrac&gt;&lt;mo&gt;+&lt;/mo&gt;&lt;mrow data-mjx-texclass=&quot;INNER&quot;&gt;&lt;mo data-mjx-texclass=&quot;OPEN&quot;&gt;(&lt;/mo&gt;&lt;mo&gt;−&lt;/mo&gt;&lt;mfrac&gt;&lt;mn&gt;21&lt;/mn&gt;&lt;mn&gt;24&lt;/mn&gt;&lt;/mfrac&gt;&lt;mo data-mjx-texclass=&quot;CLOSE&quot;&gt;)&lt;/mo&gt;&lt;/mrow&gt;&lt;mo&gt;=&lt;/mo&gt;&lt;mn&gt;0&lt;/mn&gt;&lt;/math&gt;" id="965" name="Google Shape;965;p74"/>
          <p:cNvPicPr preferRelativeResize="0"/>
          <p:nvPr/>
        </p:nvPicPr>
        <p:blipFill rotWithShape="1">
          <a:blip r:embed="rId9">
            <a:alphaModFix/>
          </a:blip>
          <a:srcRect b="0" l="0" r="90104" t="0"/>
          <a:stretch/>
        </p:blipFill>
        <p:spPr>
          <a:xfrm>
            <a:off x="4506818" y="1488859"/>
            <a:ext cx="250875" cy="723700"/>
          </a:xfrm>
          <a:prstGeom prst="rect">
            <a:avLst/>
          </a:prstGeom>
          <a:noFill/>
          <a:ln>
            <a:noFill/>
          </a:ln>
        </p:spPr>
      </p:pic>
      <p:sp>
        <p:nvSpPr>
          <p:cNvPr id="966" name="Google Shape;966;p74"/>
          <p:cNvSpPr/>
          <p:nvPr/>
        </p:nvSpPr>
        <p:spPr>
          <a:xfrm>
            <a:off x="6898825" y="741225"/>
            <a:ext cx="1892400" cy="572400"/>
          </a:xfrm>
          <a:prstGeom prst="roundRect">
            <a:avLst>
              <a:gd fmla="val 16667" name="adj"/>
            </a:avLst>
          </a:prstGeom>
          <a:solidFill>
            <a:srgbClr val="F3EEFB"/>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Multiply by the reciprocal</a:t>
            </a:r>
            <a:endParaRPr sz="1800">
              <a:latin typeface="Lexend"/>
              <a:ea typeface="Lexend"/>
              <a:cs typeface="Lexend"/>
              <a:sym typeface="Lexend"/>
            </a:endParaRPr>
          </a:p>
        </p:txBody>
      </p:sp>
      <p:sp>
        <p:nvSpPr>
          <p:cNvPr id="967" name="Google Shape;967;p74"/>
          <p:cNvSpPr/>
          <p:nvPr/>
        </p:nvSpPr>
        <p:spPr>
          <a:xfrm>
            <a:off x="6898825" y="1483801"/>
            <a:ext cx="1892400" cy="572400"/>
          </a:xfrm>
          <a:prstGeom prst="roundRect">
            <a:avLst>
              <a:gd fmla="val 16667" name="adj"/>
            </a:avLst>
          </a:prstGeom>
          <a:solidFill>
            <a:srgbClr val="F3EEFB"/>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Multiplication before addition</a:t>
            </a:r>
            <a:endParaRPr sz="1800">
              <a:latin typeface="Lexend"/>
              <a:ea typeface="Lexend"/>
              <a:cs typeface="Lexend"/>
              <a:sym typeface="Lexend"/>
            </a:endParaRPr>
          </a:p>
        </p:txBody>
      </p:sp>
      <p:sp>
        <p:nvSpPr>
          <p:cNvPr id="968" name="Google Shape;968;p74"/>
          <p:cNvSpPr/>
          <p:nvPr/>
        </p:nvSpPr>
        <p:spPr>
          <a:xfrm>
            <a:off x="6927468" y="2285550"/>
            <a:ext cx="1892400" cy="572400"/>
          </a:xfrm>
          <a:prstGeom prst="roundRect">
            <a:avLst>
              <a:gd fmla="val 16667" name="adj"/>
            </a:avLst>
          </a:prstGeom>
          <a:solidFill>
            <a:srgbClr val="F3EEFB"/>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Use additive inverse</a:t>
            </a:r>
            <a:endParaRPr sz="1800">
              <a:latin typeface="Lexend"/>
              <a:ea typeface="Lexend"/>
              <a:cs typeface="Lexend"/>
              <a:sym typeface="Lexend"/>
            </a:endParaRPr>
          </a:p>
        </p:txBody>
      </p:sp>
      <p:sp>
        <p:nvSpPr>
          <p:cNvPr id="969" name="Google Shape;969;p74"/>
          <p:cNvSpPr/>
          <p:nvPr/>
        </p:nvSpPr>
        <p:spPr>
          <a:xfrm>
            <a:off x="7244699" y="3240000"/>
            <a:ext cx="1575300" cy="572400"/>
          </a:xfrm>
          <a:prstGeom prst="roundRect">
            <a:avLst>
              <a:gd fmla="val 16667" name="adj"/>
            </a:avLst>
          </a:prstGeom>
          <a:solidFill>
            <a:srgbClr val="F3EEFB"/>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Common denominator</a:t>
            </a:r>
            <a:endParaRPr sz="1800">
              <a:latin typeface="Lexend"/>
              <a:ea typeface="Lexend"/>
              <a:cs typeface="Lexend"/>
              <a:sym typeface="Lexend"/>
            </a:endParaRPr>
          </a:p>
        </p:txBody>
      </p:sp>
      <p:sp>
        <p:nvSpPr>
          <p:cNvPr id="970" name="Google Shape;970;p74"/>
          <p:cNvSpPr txBox="1"/>
          <p:nvPr/>
        </p:nvSpPr>
        <p:spPr>
          <a:xfrm>
            <a:off x="2417950" y="3227275"/>
            <a:ext cx="855900" cy="85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4700">
                <a:latin typeface="Lexend"/>
                <a:ea typeface="Lexend"/>
                <a:cs typeface="Lexend"/>
                <a:sym typeface="Lexend"/>
              </a:rPr>
              <a:t>÷</a:t>
            </a:r>
            <a:endParaRPr sz="4700">
              <a:latin typeface="Lexend"/>
              <a:ea typeface="Lexend"/>
              <a:cs typeface="Lexend"/>
              <a:sym typeface="Lexend"/>
            </a:endParaRPr>
          </a:p>
        </p:txBody>
      </p:sp>
      <p:sp>
        <p:nvSpPr>
          <p:cNvPr id="971" name="Google Shape;971;p74"/>
          <p:cNvSpPr txBox="1"/>
          <p:nvPr/>
        </p:nvSpPr>
        <p:spPr>
          <a:xfrm>
            <a:off x="2444075" y="3762975"/>
            <a:ext cx="786900" cy="52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4700">
                <a:latin typeface="Lexend"/>
                <a:ea typeface="Lexend"/>
                <a:cs typeface="Lexend"/>
                <a:sym typeface="Lexend"/>
              </a:rPr>
              <a:t>−</a:t>
            </a:r>
            <a:endParaRPr sz="47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sp>
        <p:nvSpPr>
          <p:cNvPr id="976" name="Google Shape;976;p75"/>
          <p:cNvSpPr txBox="1"/>
          <p:nvPr>
            <p:ph idx="1" type="body"/>
          </p:nvPr>
        </p:nvSpPr>
        <p:spPr>
          <a:xfrm>
            <a:off x="286463" y="726950"/>
            <a:ext cx="8237700" cy="396600"/>
          </a:xfrm>
          <a:prstGeom prst="rect">
            <a:avLst/>
          </a:prstGeom>
        </p:spPr>
        <p:txBody>
          <a:bodyPr anchorCtr="0" anchor="t" bIns="0" lIns="0" spcFirstLastPara="1" rIns="0" wrap="square" tIns="0">
            <a:noAutofit/>
          </a:bodyPr>
          <a:lstStyle/>
          <a:p>
            <a:pPr indent="-349250" lvl="0" marL="457200" rtl="0" algn="l">
              <a:spcBef>
                <a:spcPts val="0"/>
              </a:spcBef>
              <a:spcAft>
                <a:spcPts val="0"/>
              </a:spcAft>
              <a:buSzPts val="1900"/>
              <a:buAutoNum type="arabicParenR"/>
            </a:pPr>
            <a:r>
              <a:rPr lang="en-GB" sz="1900"/>
              <a:t>Work out the following using the </a:t>
            </a:r>
            <a:r>
              <a:rPr lang="en-GB" sz="1900"/>
              <a:t>priority</a:t>
            </a:r>
            <a:r>
              <a:rPr lang="en-GB" sz="1900"/>
              <a:t> of operations, giving your answer in its simplest form where possible.</a:t>
            </a:r>
            <a:endParaRPr sz="1900"/>
          </a:p>
        </p:txBody>
      </p:sp>
      <p:sp>
        <p:nvSpPr>
          <p:cNvPr id="977" name="Google Shape;977;p7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GB"/>
              <a:t>Reviewing priority of operations</a:t>
            </a:r>
            <a:endParaRPr/>
          </a:p>
          <a:p>
            <a:pPr indent="0" lvl="0" marL="0" rtl="0" algn="l">
              <a:spcBef>
                <a:spcPts val="0"/>
              </a:spcBef>
              <a:spcAft>
                <a:spcPts val="1000"/>
              </a:spcAft>
              <a:buNone/>
            </a:pPr>
            <a:r>
              <a:t/>
            </a:r>
            <a:endParaRPr/>
          </a:p>
        </p:txBody>
      </p:sp>
      <p:sp>
        <p:nvSpPr>
          <p:cNvPr id="978" name="Google Shape;978;p75"/>
          <p:cNvSpPr txBox="1"/>
          <p:nvPr/>
        </p:nvSpPr>
        <p:spPr>
          <a:xfrm>
            <a:off x="171600" y="1480875"/>
            <a:ext cx="6036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a)</a:t>
            </a:r>
            <a:endParaRPr/>
          </a:p>
        </p:txBody>
      </p:sp>
      <p:sp>
        <p:nvSpPr>
          <p:cNvPr id="979" name="Google Shape;979;p75"/>
          <p:cNvSpPr txBox="1"/>
          <p:nvPr/>
        </p:nvSpPr>
        <p:spPr>
          <a:xfrm>
            <a:off x="3284275" y="1557075"/>
            <a:ext cx="6036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b</a:t>
            </a:r>
            <a:r>
              <a:rPr lang="en-GB" sz="2200">
                <a:solidFill>
                  <a:schemeClr val="dk1"/>
                </a:solidFill>
                <a:latin typeface="Lexend"/>
                <a:ea typeface="Lexend"/>
                <a:cs typeface="Lexend"/>
                <a:sym typeface="Lexend"/>
              </a:rPr>
              <a:t>)</a:t>
            </a:r>
            <a:endParaRPr/>
          </a:p>
        </p:txBody>
      </p:sp>
      <p:sp>
        <p:nvSpPr>
          <p:cNvPr id="980" name="Google Shape;980;p75"/>
          <p:cNvSpPr txBox="1"/>
          <p:nvPr/>
        </p:nvSpPr>
        <p:spPr>
          <a:xfrm>
            <a:off x="6016800" y="1557075"/>
            <a:ext cx="6036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c</a:t>
            </a:r>
            <a:r>
              <a:rPr lang="en-GB" sz="2200">
                <a:solidFill>
                  <a:schemeClr val="dk1"/>
                </a:solidFill>
                <a:latin typeface="Lexend"/>
                <a:ea typeface="Lexend"/>
                <a:cs typeface="Lexend"/>
                <a:sym typeface="Lexend"/>
              </a:rPr>
              <a:t>)</a:t>
            </a:r>
            <a:endParaRPr/>
          </a:p>
        </p:txBody>
      </p:sp>
      <p:pic>
        <p:nvPicPr>
          <p:cNvPr descr="&lt;math xmlns=&quot;http://www.w3.org/1998/Math/MathML&quot; display=&quot;block&quot; data-is-equatio=&quot;1&quot; data-latex=&quot;\begin{array}{l}\frac{9}{10}+\frac{3}{4}\times\frac{2}{5}=\\&amp;#13;&amp;#10;\frac{9}{10\ }+\frac{6}{20}=\frac{9}{10}+\frac{3}{10}=\frac{12}{10}=\frac{6}{5}=1\frac{1}{5}\end{array}&quot;&gt;&lt;mtable columnalign=&quot;left&quot; columnspacing=&quot;1em&quot; rowspacing=&quot;4pt&quot;&gt;&lt;mtr&gt;&lt;mtd&gt;&lt;mfrac&gt;&lt;mn&gt;9&lt;/mn&gt;&lt;mn&gt;10&lt;/mn&gt;&lt;/mfrac&gt;&lt;mo&gt;+&lt;/mo&gt;&lt;mfrac&gt;&lt;mn&gt;3&lt;/mn&gt;&lt;mn&gt;4&lt;/mn&gt;&lt;/mfrac&gt;&lt;mo&gt;×&lt;/mo&gt;&lt;mfrac&gt;&lt;mn&gt;2&lt;/mn&gt;&lt;mn&gt;5&lt;/mn&gt;&lt;/mfrac&gt;&lt;mo&gt;=&lt;/mo&gt;&lt;/mtd&gt;&lt;/mtr&gt;&lt;mtr&gt;&lt;mtd&gt;&lt;mfrac&gt;&lt;mn&gt;9&lt;/mn&gt;&lt;mrow&gt;&lt;mn&gt;10&lt;/mn&gt;&lt;mtext&gt;&lt;/mtext&gt;&lt;/mrow&gt;&lt;/mfrac&gt;&lt;mo&gt;+&lt;/mo&gt;&lt;mfrac&gt;&lt;mn&gt;6&lt;/mn&gt;&lt;mn&gt;20&lt;/mn&gt;&lt;/mfrac&gt;&lt;mo&gt;=&lt;/mo&gt;&lt;mfrac&gt;&lt;mn&gt;9&lt;/mn&gt;&lt;mn&gt;10&lt;/mn&gt;&lt;/mfrac&gt;&lt;mo&gt;+&lt;/mo&gt;&lt;mfrac&gt;&lt;mn&gt;3&lt;/mn&gt;&lt;mn&gt;10&lt;/mn&gt;&lt;/mfrac&gt;&lt;mo&gt;=&lt;/mo&gt;&lt;mfrac&gt;&lt;mn&gt;12&lt;/mn&gt;&lt;mn&gt;10&lt;/mn&gt;&lt;/mfrac&gt;&lt;mo&gt;=&lt;/mo&gt;&lt;mfrac&gt;&lt;mn&gt;6&lt;/mn&gt;&lt;mn&gt;5&lt;/mn&gt;&lt;/mfrac&gt;&lt;mo&gt;=&lt;/mo&gt;&lt;mn&gt;1&lt;/mn&gt;&lt;mfrac&gt;&lt;mn&gt;1&lt;/mn&gt;&lt;mn&gt;5&lt;/mn&gt;&lt;/mfrac&gt;&lt;/mtd&gt;&lt;/mtr&gt;&lt;/mtable&gt;&lt;/math&gt;" id="981" name="Google Shape;981;p75" title="2 lines Line 1: nine tenths plus three fourths times two fifths equals Line 2: 9 over 10 plus 6 over 20 equals nine tenths plus three tenths equals twelve tenths equals six fifths equals 1 and one fifth"/>
          <p:cNvPicPr preferRelativeResize="0"/>
          <p:nvPr/>
        </p:nvPicPr>
        <p:blipFill rotWithShape="1">
          <a:blip r:embed="rId3">
            <a:alphaModFix/>
          </a:blip>
          <a:srcRect b="48924" l="0" r="67306" t="0"/>
          <a:stretch/>
        </p:blipFill>
        <p:spPr>
          <a:xfrm>
            <a:off x="622800" y="1543800"/>
            <a:ext cx="2199600" cy="754225"/>
          </a:xfrm>
          <a:prstGeom prst="rect">
            <a:avLst/>
          </a:prstGeom>
          <a:noFill/>
          <a:ln>
            <a:noFill/>
          </a:ln>
        </p:spPr>
      </p:pic>
      <p:pic>
        <p:nvPicPr>
          <p:cNvPr descr="&lt;math xmlns=&quot;http://www.w3.org/1998/Math/MathML&quot; display=&quot;block&quot; data-is-equatio=&quot;1&quot; data-latex=&quot;\begin{array}{l}\frac{11}{15}-\frac{3}{5}\div\frac{9}{10}\\&amp;#13;&amp;#10;\frac{11}{15}-\frac{3}{5}\times\frac{10}{9}\\&amp;#13;&amp;#10;\frac{11}{15}-\frac{30}{45}=\frac{11}{15}-\frac{10}{15}=\frac{1}{15}\end{array}&quot;&gt;&lt;mtable columnalign=&quot;left&quot; columnspacing=&quot;1em&quot; rowspacing=&quot;4pt&quot;&gt;&lt;mtr&gt;&lt;mtd&gt;&lt;mfrac&gt;&lt;mn&gt;11&lt;/mn&gt;&lt;mn&gt;15&lt;/mn&gt;&lt;/mfrac&gt;&lt;mo&gt;−&lt;/mo&gt;&lt;mfrac&gt;&lt;mn&gt;3&lt;/mn&gt;&lt;mn&gt;5&lt;/mn&gt;&lt;/mfrac&gt;&lt;mo&gt;÷&lt;/mo&gt;&lt;mfrac&gt;&lt;mn&gt;9&lt;/mn&gt;&lt;mn&gt;10&lt;/mn&gt;&lt;/mfrac&gt;&lt;/mtd&gt;&lt;/mtr&gt;&lt;mtr&gt;&lt;mtd&gt;&lt;mfrac&gt;&lt;mn&gt;11&lt;/mn&gt;&lt;mn&gt;15&lt;/mn&gt;&lt;/mfrac&gt;&lt;mo&gt;−&lt;/mo&gt;&lt;mfrac&gt;&lt;mn&gt;3&lt;/mn&gt;&lt;mn&gt;5&lt;/mn&gt;&lt;/mfrac&gt;&lt;mo&gt;×&lt;/mo&gt;&lt;mfrac&gt;&lt;mn&gt;10&lt;/mn&gt;&lt;mn&gt;9&lt;/mn&gt;&lt;/mfrac&gt;&lt;/mtd&gt;&lt;/mtr&gt;&lt;mtr&gt;&lt;mtd&gt;&lt;mfrac&gt;&lt;mn&gt;11&lt;/mn&gt;&lt;mn&gt;15&lt;/mn&gt;&lt;/mfrac&gt;&lt;mo&gt;−&lt;/mo&gt;&lt;mfrac&gt;&lt;mn&gt;30&lt;/mn&gt;&lt;mn&gt;45&lt;/mn&gt;&lt;/mfrac&gt;&lt;mo&gt;=&lt;/mo&gt;&lt;mfrac&gt;&lt;mn&gt;11&lt;/mn&gt;&lt;mn&gt;15&lt;/mn&gt;&lt;/mfrac&gt;&lt;mo&gt;−&lt;/mo&gt;&lt;mfrac&gt;&lt;mn&gt;10&lt;/mn&gt;&lt;mn&gt;15&lt;/mn&gt;&lt;/mfrac&gt;&lt;mo&gt;=&lt;/mo&gt;&lt;mfrac&gt;&lt;mn&gt;1&lt;/mn&gt;&lt;mn&gt;15&lt;/mn&gt;&lt;/mfrac&gt;&lt;/mtd&gt;&lt;/mtr&gt;&lt;/mtable&gt;&lt;/math&gt;" id="982" name="Google Shape;982;p75" title="3 lines Line 1: 11 over 15 minus three fifths divided by nine tenths Line 2: 11 over 15 minus three fifths times ten ninths Line 3: 11 over 15 minus 30 over 45 equals 11 over 15 minus 10 over 15 equals 1 over 15"/>
          <p:cNvPicPr preferRelativeResize="0"/>
          <p:nvPr/>
        </p:nvPicPr>
        <p:blipFill rotWithShape="1">
          <a:blip r:embed="rId4">
            <a:alphaModFix/>
          </a:blip>
          <a:srcRect b="67781" l="0" r="48815" t="0"/>
          <a:stretch/>
        </p:blipFill>
        <p:spPr>
          <a:xfrm>
            <a:off x="3807291" y="1552575"/>
            <a:ext cx="2065548" cy="652117"/>
          </a:xfrm>
          <a:prstGeom prst="rect">
            <a:avLst/>
          </a:prstGeom>
          <a:noFill/>
          <a:ln>
            <a:noFill/>
          </a:ln>
        </p:spPr>
      </p:pic>
      <p:cxnSp>
        <p:nvCxnSpPr>
          <p:cNvPr id="983" name="Google Shape;983;p75"/>
          <p:cNvCxnSpPr/>
          <p:nvPr/>
        </p:nvCxnSpPr>
        <p:spPr>
          <a:xfrm>
            <a:off x="3310000" y="1570975"/>
            <a:ext cx="0" cy="3074100"/>
          </a:xfrm>
          <a:prstGeom prst="straightConnector1">
            <a:avLst/>
          </a:prstGeom>
          <a:noFill/>
          <a:ln cap="flat" cmpd="sng" w="28575">
            <a:solidFill>
              <a:schemeClr val="accent4"/>
            </a:solidFill>
            <a:prstDash val="solid"/>
            <a:round/>
            <a:headEnd len="med" w="med" type="none"/>
            <a:tailEnd len="med" w="med" type="none"/>
          </a:ln>
        </p:spPr>
      </p:cxnSp>
      <p:cxnSp>
        <p:nvCxnSpPr>
          <p:cNvPr id="984" name="Google Shape;984;p75"/>
          <p:cNvCxnSpPr/>
          <p:nvPr/>
        </p:nvCxnSpPr>
        <p:spPr>
          <a:xfrm>
            <a:off x="6016800" y="1570975"/>
            <a:ext cx="0" cy="3074100"/>
          </a:xfrm>
          <a:prstGeom prst="straightConnector1">
            <a:avLst/>
          </a:prstGeom>
          <a:noFill/>
          <a:ln cap="flat" cmpd="sng" w="28575">
            <a:solidFill>
              <a:schemeClr val="accent4"/>
            </a:solidFill>
            <a:prstDash val="solid"/>
            <a:round/>
            <a:headEnd len="med" w="med" type="none"/>
            <a:tailEnd len="med" w="med" type="none"/>
          </a:ln>
        </p:spPr>
      </p:cxnSp>
      <p:pic>
        <p:nvPicPr>
          <p:cNvPr descr="&lt;math xmlns=&quot;http://www.w3.org/1998/Math/MathML&quot; display=&quot;block&quot; data-is-equatio=&quot;1&quot; data-latex=&quot;\begin{array}{l}\frac{9}{10}\times\frac{1}{2}-\frac{3}{5}\div\frac{4}{5}\\&amp;#13;&amp;#10;\ \ \ \ \ \ \ \ \frac{9}{10}-\frac{3}{5}\times\frac{5}{4}\\&amp;#13;&amp;#10;\ \ \ \ \ \ \ \ \ \frac{9}{10}-\frac{15}{20}=\frac{18}{20}-\frac{15}{20}=\frac{3}{20}\end{array}&quot;&gt;&lt;mtable columnalign=&quot;left&quot; columnspacing=&quot;1em&quot; rowspacing=&quot;4pt&quot;&gt;&lt;mtr&gt;&lt;mtd&gt;&lt;mfrac&gt;&lt;mn&gt;9&lt;/mn&gt;&lt;mn&gt;10&lt;/mn&gt;&lt;/mfrac&gt;&lt;mo&gt;×&lt;/mo&gt;&lt;mfrac&gt;&lt;mn&gt;1&lt;/mn&gt;&lt;mn&gt;2&lt;/mn&gt;&lt;/mfrac&gt;&lt;mo&gt;−&lt;/mo&gt;&lt;mfrac&gt;&lt;mn&gt;3&lt;/mn&gt;&lt;mn&gt;5&lt;/mn&gt;&lt;/mfrac&gt;&lt;mo&gt;÷&lt;/mo&gt;&lt;mfrac&gt;&lt;mn&gt;4&lt;/mn&gt;&lt;mn&gt;5&lt;/mn&gt;&lt;/mfrac&gt;&lt;/mtd&gt;&lt;/mtr&gt;&lt;mtr&gt;&lt;mtd&gt;&lt;mtext&gt;&lt;/mtext&gt;&lt;mtext&gt;&lt;/mtext&gt;&lt;mtext&gt;&lt;/mtext&gt;&lt;mtext&gt;&lt;/mtext&gt;&lt;mtext&gt;&lt;/mtext&gt;&lt;mtext&gt;&lt;/mtext&gt;&lt;mtext&gt;&lt;/mtext&gt;&lt;mtext&gt;&lt;/mtext&gt;&lt;mfrac&gt;&lt;mn&gt;9&lt;/mn&gt;&lt;mn&gt;10&lt;/mn&gt;&lt;/mfrac&gt;&lt;mo&gt;−&lt;/mo&gt;&lt;mfrac&gt;&lt;mn&gt;3&lt;/mn&gt;&lt;mn&gt;5&lt;/mn&gt;&lt;/mfrac&gt;&lt;mo&gt;×&lt;/mo&gt;&lt;mfrac&gt;&lt;mn&gt;5&lt;/mn&gt;&lt;mn&gt;4&lt;/mn&gt;&lt;/mfrac&gt;&lt;/mtd&gt;&lt;/mtr&gt;&lt;mtr&gt;&lt;mtd&gt;&lt;mtext&gt;&lt;/mtext&gt;&lt;mtext&gt;&lt;/mtext&gt;&lt;mtext&gt;&lt;/mtext&gt;&lt;mtext&gt;&lt;/mtext&gt;&lt;mtext&gt;&lt;/mtext&gt;&lt;mtext&gt;&lt;/mtext&gt;&lt;mtext&gt;&lt;/mtext&gt;&lt;mtext&gt;&lt;/mtext&gt;&lt;mtext&gt;&lt;/mtext&gt;&lt;mfrac&gt;&lt;mn&gt;9&lt;/mn&gt;&lt;mn&gt;10&lt;/mn&gt;&lt;/mfrac&gt;&lt;mo&gt;−&lt;/mo&gt;&lt;mfrac&gt;&lt;mn&gt;15&lt;/mn&gt;&lt;mn&gt;20&lt;/mn&gt;&lt;/mfrac&gt;&lt;mo&gt;=&lt;/mo&gt;&lt;mfrac&gt;&lt;mn&gt;18&lt;/mn&gt;&lt;mn&gt;20&lt;/mn&gt;&lt;/mfrac&gt;&lt;mo&gt;−&lt;/mo&gt;&lt;mfrac&gt;&lt;mn&gt;15&lt;/mn&gt;&lt;mn&gt;20&lt;/mn&gt;&lt;/mfrac&gt;&lt;mo&gt;=&lt;/mo&gt;&lt;mfrac&gt;&lt;mn&gt;3&lt;/mn&gt;&lt;mn&gt;20&lt;/mn&gt;&lt;/mfrac&gt;&lt;/mtd&gt;&lt;/mtr&gt;&lt;/mtable&gt;&lt;/math&gt;" id="985" name="Google Shape;985;p75" title="3 lines Line 1: nine tenths times one half minus three fifths divided by four fifths Line 2: nine tenths minus three fifths times five fourths Line 3: nine tenths minus 15 over 20 equals 18 over 20 minus 15 over 20 equals 3 over 20"/>
          <p:cNvPicPr preferRelativeResize="0"/>
          <p:nvPr/>
        </p:nvPicPr>
        <p:blipFill rotWithShape="1">
          <a:blip r:embed="rId5">
            <a:alphaModFix/>
          </a:blip>
          <a:srcRect b="65301" l="0" r="46351" t="0"/>
          <a:stretch/>
        </p:blipFill>
        <p:spPr>
          <a:xfrm>
            <a:off x="6483225" y="1570975"/>
            <a:ext cx="2468175" cy="6521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76"/>
          <p:cNvSpPr txBox="1"/>
          <p:nvPr>
            <p:ph idx="1" type="body"/>
          </p:nvPr>
        </p:nvSpPr>
        <p:spPr>
          <a:xfrm>
            <a:off x="286463" y="726950"/>
            <a:ext cx="8237700" cy="396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t>2) </a:t>
            </a:r>
            <a:r>
              <a:rPr lang="en-GB" sz="1900"/>
              <a:t>Work out the following using the priority of operations, giving your answer in its simplest form and a mixed number where possible.</a:t>
            </a:r>
            <a:endParaRPr sz="1900"/>
          </a:p>
          <a:p>
            <a:pPr indent="0" lvl="0" marL="0" rtl="0" algn="l">
              <a:spcBef>
                <a:spcPts val="1000"/>
              </a:spcBef>
              <a:spcAft>
                <a:spcPts val="0"/>
              </a:spcAft>
              <a:buNone/>
            </a:pPr>
            <a:r>
              <a:t/>
            </a:r>
            <a:endParaRPr sz="100"/>
          </a:p>
          <a:p>
            <a:pPr indent="-374650" lvl="0" marL="457200" rtl="0" algn="l">
              <a:spcBef>
                <a:spcPts val="1000"/>
              </a:spcBef>
              <a:spcAft>
                <a:spcPts val="0"/>
              </a:spcAft>
              <a:buSzPts val="2300"/>
              <a:buAutoNum type="alphaLcParenR"/>
            </a:pPr>
            <a:r>
              <a:t/>
            </a:r>
            <a:endParaRPr sz="1900"/>
          </a:p>
        </p:txBody>
      </p:sp>
      <p:sp>
        <p:nvSpPr>
          <p:cNvPr id="991" name="Google Shape;991;p7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Reviewing priority of operations</a:t>
            </a:r>
            <a:endParaRPr/>
          </a:p>
          <a:p>
            <a:pPr indent="0" lvl="0" marL="0" rtl="0" algn="l">
              <a:spcBef>
                <a:spcPts val="0"/>
              </a:spcBef>
              <a:spcAft>
                <a:spcPts val="1000"/>
              </a:spcAft>
              <a:buNone/>
            </a:pPr>
            <a:r>
              <a:t/>
            </a:r>
            <a:endParaRPr/>
          </a:p>
        </p:txBody>
      </p:sp>
      <p:pic>
        <p:nvPicPr>
          <p:cNvPr descr="&lt;math xmlns=&quot;http://www.w3.org/1998/Math/MathML&quot; display=&quot;block&quot; data-is-equatio=&quot;1&quot; data-latex=&quot;\begin{array}{l}2\frac{1}{2}+\ 3\frac{2}{3}\times\frac{3}{4}\\&amp;#13;&amp;#10;\frac{5}{2}+\frac{11}{3}\times\frac{3}{4}\\&amp;#13;&amp;#10;\frac{5}{2}+\frac{33}{12}=\frac{30}{12}+\frac{33}{12}=\frac{63}{12}=\frac{21}{4}=4\frac{1}{4}\end{array}&quot;&gt;&lt;mtable columnalign=&quot;left&quot; columnspacing=&quot;1em&quot; rowspacing=&quot;4pt&quot;&gt;&lt;mtr&gt;&lt;mtd&gt;&lt;mn&gt;2&lt;/mn&gt;&lt;mfrac&gt;&lt;mn&gt;1&lt;/mn&gt;&lt;mn&gt;2&lt;/mn&gt;&lt;/mfrac&gt;&lt;mo&gt;+&lt;/mo&gt;&lt;mtext&gt;&lt;/mtext&gt;&lt;mn&gt;3&lt;/mn&gt;&lt;mfrac&gt;&lt;mn&gt;2&lt;/mn&gt;&lt;mn&gt;3&lt;/mn&gt;&lt;/mfrac&gt;&lt;mo&gt;×&lt;/mo&gt;&lt;mfrac&gt;&lt;mn&gt;3&lt;/mn&gt;&lt;mn&gt;4&lt;/mn&gt;&lt;/mfrac&gt;&lt;/mtd&gt;&lt;/mtr&gt;&lt;mtr&gt;&lt;mtd&gt;&lt;mfrac&gt;&lt;mn&gt;5&lt;/mn&gt;&lt;mn&gt;2&lt;/mn&gt;&lt;/mfrac&gt;&lt;mo&gt;+&lt;/mo&gt;&lt;mfrac&gt;&lt;mn&gt;11&lt;/mn&gt;&lt;mn&gt;3&lt;/mn&gt;&lt;/mfrac&gt;&lt;mo&gt;×&lt;/mo&gt;&lt;mfrac&gt;&lt;mn&gt;3&lt;/mn&gt;&lt;mn&gt;4&lt;/mn&gt;&lt;/mfrac&gt;&lt;/mtd&gt;&lt;/mtr&gt;&lt;mtr&gt;&lt;mtd&gt;&lt;mfrac&gt;&lt;mn&gt;5&lt;/mn&gt;&lt;mn&gt;2&lt;/mn&gt;&lt;/mfrac&gt;&lt;mo&gt;+&lt;/mo&gt;&lt;mfrac&gt;&lt;mn&gt;33&lt;/mn&gt;&lt;mn&gt;12&lt;/mn&gt;&lt;/mfrac&gt;&lt;mo&gt;=&lt;/mo&gt;&lt;mfrac&gt;&lt;mn&gt;30&lt;/mn&gt;&lt;mn&gt;12&lt;/mn&gt;&lt;/mfrac&gt;&lt;mo&gt;+&lt;/mo&gt;&lt;mfrac&gt;&lt;mn&gt;33&lt;/mn&gt;&lt;mn&gt;12&lt;/mn&gt;&lt;/mfrac&gt;&lt;mo&gt;=&lt;/mo&gt;&lt;mfrac&gt;&lt;mn&gt;63&lt;/mn&gt;&lt;mn&gt;12&lt;/mn&gt;&lt;/mfrac&gt;&lt;mo&gt;=&lt;/mo&gt;&lt;mfrac&gt;&lt;mn&gt;21&lt;/mn&gt;&lt;mn&gt;4&lt;/mn&gt;&lt;/mfrac&gt;&lt;mo&gt;=&lt;/mo&gt;&lt;mn&gt;4&lt;/mn&gt;&lt;mfrac&gt;&lt;mn&gt;1&lt;/mn&gt;&lt;mn&gt;4&lt;/mn&gt;&lt;/mfrac&gt;&lt;/mtd&gt;&lt;/mtr&gt;&lt;/mtable&gt;&lt;/math&gt;" id="992" name="Google Shape;992;p76" title="3 lines Line 1: 2 and one half plus 3 and two thirds times three fourths Line 2: five halves plus eleven thirds times three fourths Line 3: five halves plus 33 over 12 equals 30 over 12 plus 33 over 12 equals 63 over 12 equals 21 over 4 equals 4 and one fourth"/>
          <p:cNvPicPr preferRelativeResize="0"/>
          <p:nvPr/>
        </p:nvPicPr>
        <p:blipFill rotWithShape="1">
          <a:blip r:embed="rId3">
            <a:alphaModFix/>
          </a:blip>
          <a:srcRect b="68887" l="0" r="58362" t="0"/>
          <a:stretch/>
        </p:blipFill>
        <p:spPr>
          <a:xfrm>
            <a:off x="715600" y="1618025"/>
            <a:ext cx="2345799" cy="601525"/>
          </a:xfrm>
          <a:prstGeom prst="rect">
            <a:avLst/>
          </a:prstGeom>
          <a:noFill/>
          <a:ln>
            <a:noFill/>
          </a:ln>
        </p:spPr>
      </p:pic>
      <p:cxnSp>
        <p:nvCxnSpPr>
          <p:cNvPr id="993" name="Google Shape;993;p76"/>
          <p:cNvCxnSpPr/>
          <p:nvPr/>
        </p:nvCxnSpPr>
        <p:spPr>
          <a:xfrm>
            <a:off x="4790730" y="1644475"/>
            <a:ext cx="0" cy="3074100"/>
          </a:xfrm>
          <a:prstGeom prst="straightConnector1">
            <a:avLst/>
          </a:prstGeom>
          <a:noFill/>
          <a:ln cap="flat" cmpd="sng" w="28575">
            <a:solidFill>
              <a:schemeClr val="accent4"/>
            </a:solidFill>
            <a:prstDash val="solid"/>
            <a:round/>
            <a:headEnd len="med" w="med" type="none"/>
            <a:tailEnd len="med" w="med" type="none"/>
          </a:ln>
        </p:spPr>
      </p:cxnSp>
      <p:sp>
        <p:nvSpPr>
          <p:cNvPr id="994" name="Google Shape;994;p76"/>
          <p:cNvSpPr txBox="1"/>
          <p:nvPr/>
        </p:nvSpPr>
        <p:spPr>
          <a:xfrm>
            <a:off x="4769075" y="1553063"/>
            <a:ext cx="6036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b)</a:t>
            </a:r>
            <a:endParaRPr/>
          </a:p>
        </p:txBody>
      </p:sp>
      <p:pic>
        <p:nvPicPr>
          <p:cNvPr descr="&lt;math xmlns=&quot;http://www.w3.org/1998/Math/MathML&quot; display=&quot;block&quot; data-is-equatio=&quot;1&quot; data-latex=&quot;\begin{array}{l}2\frac{1}{4}\times\frac{4}{5}-\frac{3}{5}\div1\frac{3}{10}\\&amp;#13;&amp;#10;\ \ \frac{9}{4}\times\frac{4}{5}-\frac{3}{5}\div\frac{13}{10}\\&amp;#13;&amp;#10;\ \ \ \frac{36}{20}-\frac{3}{5}\times\frac{10}{13}\\&amp;#13;&amp;#10;\ \ \ \ \ \frac{36}{20}-\frac{30}{65}=\frac{9}{5}-\frac{6}{13}=\frac{117}{65}-\frac{30}{65}=\frac{87}{65}=1\frac{22}{65}\end{array}&quot;&gt;&lt;mtable columnalign=&quot;left&quot; columnspacing=&quot;1em&quot; rowspacing=&quot;4pt&quot;&gt;&lt;mtr&gt;&lt;mtd&gt;&lt;mn&gt;2&lt;/mn&gt;&lt;mfrac&gt;&lt;mn&gt;1&lt;/mn&gt;&lt;mn&gt;4&lt;/mn&gt;&lt;/mfrac&gt;&lt;mo&gt;×&lt;/mo&gt;&lt;mfrac&gt;&lt;mn&gt;4&lt;/mn&gt;&lt;mn&gt;5&lt;/mn&gt;&lt;/mfrac&gt;&lt;mo&gt;−&lt;/mo&gt;&lt;mfrac&gt;&lt;mn&gt;3&lt;/mn&gt;&lt;mn&gt;5&lt;/mn&gt;&lt;/mfrac&gt;&lt;mo&gt;÷&lt;/mo&gt;&lt;mn&gt;1&lt;/mn&gt;&lt;mfrac&gt;&lt;mn&gt;3&lt;/mn&gt;&lt;mn&gt;10&lt;/mn&gt;&lt;/mfrac&gt;&lt;/mtd&gt;&lt;/mtr&gt;&lt;mtr&gt;&lt;mtd&gt;&lt;mtext&gt;&lt;/mtext&gt;&lt;mtext&gt;&lt;/mtext&gt;&lt;mfrac&gt;&lt;mn&gt;9&lt;/mn&gt;&lt;mn&gt;4&lt;/mn&gt;&lt;/mfrac&gt;&lt;mo&gt;×&lt;/mo&gt;&lt;mfrac&gt;&lt;mn&gt;4&lt;/mn&gt;&lt;mn&gt;5&lt;/mn&gt;&lt;/mfrac&gt;&lt;mo&gt;−&lt;/mo&gt;&lt;mfrac&gt;&lt;mn&gt;3&lt;/mn&gt;&lt;mn&gt;5&lt;/mn&gt;&lt;/mfrac&gt;&lt;mo&gt;÷&lt;/mo&gt;&lt;mfrac&gt;&lt;mn&gt;13&lt;/mn&gt;&lt;mn&gt;10&lt;/mn&gt;&lt;/mfrac&gt;&lt;/mtd&gt;&lt;/mtr&gt;&lt;mtr&gt;&lt;mtd&gt;&lt;mtext&gt;&lt;/mtext&gt;&lt;mtext&gt;&lt;/mtext&gt;&lt;mtext&gt;&lt;/mtext&gt;&lt;mfrac&gt;&lt;mn&gt;36&lt;/mn&gt;&lt;mn&gt;20&lt;/mn&gt;&lt;/mfrac&gt;&lt;mo&gt;−&lt;/mo&gt;&lt;mfrac&gt;&lt;mn&gt;3&lt;/mn&gt;&lt;mn&gt;5&lt;/mn&gt;&lt;/mfrac&gt;&lt;mo&gt;×&lt;/mo&gt;&lt;mfrac&gt;&lt;mn&gt;10&lt;/mn&gt;&lt;mn&gt;13&lt;/mn&gt;&lt;/mfrac&gt;&lt;/mtd&gt;&lt;/mtr&gt;&lt;mtr&gt;&lt;mtd&gt;&lt;mtext&gt;&lt;/mtext&gt;&lt;mtext&gt;&lt;/mtext&gt;&lt;mtext&gt;&lt;/mtext&gt;&lt;mtext&gt;&lt;/mtext&gt;&lt;mtext&gt;&lt;/mtext&gt;&lt;mfrac&gt;&lt;mn&gt;36&lt;/mn&gt;&lt;mn&gt;20&lt;/mn&gt;&lt;/mfrac&gt;&lt;mo&gt;−&lt;/mo&gt;&lt;mfrac&gt;&lt;mn&gt;30&lt;/mn&gt;&lt;mn&gt;65&lt;/mn&gt;&lt;/mfrac&gt;&lt;mo&gt;=&lt;/mo&gt;&lt;mfrac&gt;&lt;mn&gt;9&lt;/mn&gt;&lt;mn&gt;5&lt;/mn&gt;&lt;/mfrac&gt;&lt;mo&gt;−&lt;/mo&gt;&lt;mfrac&gt;&lt;mn&gt;6&lt;/mn&gt;&lt;mn&gt;13&lt;/mn&gt;&lt;/mfrac&gt;&lt;mo&gt;=&lt;/mo&gt;&lt;mfrac&gt;&lt;mn&gt;117&lt;/mn&gt;&lt;mn&gt;65&lt;/mn&gt;&lt;/mfrac&gt;&lt;mo&gt;−&lt;/mo&gt;&lt;mfrac&gt;&lt;mn&gt;30&lt;/mn&gt;&lt;mn&gt;65&lt;/mn&gt;&lt;/mfrac&gt;&lt;mo&gt;=&lt;/mo&gt;&lt;mfrac&gt;&lt;mn&gt;87&lt;/mn&gt;&lt;mn&gt;65&lt;/mn&gt;&lt;/mfrac&gt;&lt;mo&gt;=&lt;/mo&gt;&lt;mn&gt;1&lt;/mn&gt;&lt;mfrac&gt;&lt;mn&gt;22&lt;/mn&gt;&lt;mn&gt;65&lt;/mn&gt;&lt;/mfrac&gt;&lt;/mtd&gt;&lt;/mtr&gt;&lt;/mtable&gt;&lt;/math&gt;" id="995" name="Google Shape;995;p76" title="4 lines Line 1: 2 and one fourth times four fifths minus three fifths divided by 1 and three tenths Line 2: nine fourths times four fifths minus three fifths divided by thirteen tenths Line 3: 36 over 20 minus three fifths times 10 over 13 Line 4: 36 over 20 minus 30 over 65 equals nine fifths minus 6 over 13 equals 117 over 65 minus 30 over 65 equals 87 over 65 equals 1 and 22 over 65"/>
          <p:cNvPicPr preferRelativeResize="0"/>
          <p:nvPr/>
        </p:nvPicPr>
        <p:blipFill rotWithShape="1">
          <a:blip r:embed="rId4">
            <a:alphaModFix/>
          </a:blip>
          <a:srcRect b="77178" l="0" r="56941" t="0"/>
          <a:stretch/>
        </p:blipFill>
        <p:spPr>
          <a:xfrm>
            <a:off x="5350900" y="1553075"/>
            <a:ext cx="2944675" cy="5806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7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349250" lvl="0" marL="457200" rtl="0" algn="l">
              <a:spcBef>
                <a:spcPts val="0"/>
              </a:spcBef>
              <a:spcAft>
                <a:spcPts val="0"/>
              </a:spcAft>
              <a:buSzPts val="1900"/>
              <a:buAutoNum type="arabicParenR"/>
            </a:pPr>
            <a:r>
              <a:rPr lang="en-GB" sz="1900"/>
              <a:t>Work out the following using the priority of operations, giving your answer in its simplest form where possible.</a:t>
            </a:r>
            <a:endParaRPr sz="1900"/>
          </a:p>
        </p:txBody>
      </p:sp>
      <p:sp>
        <p:nvSpPr>
          <p:cNvPr id="1001" name="Google Shape;1001;p7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Reviewing priority of operations</a:t>
            </a:r>
            <a:endParaRPr/>
          </a:p>
          <a:p>
            <a:pPr indent="0" lvl="0" marL="0" rtl="0" algn="l">
              <a:spcBef>
                <a:spcPts val="0"/>
              </a:spcBef>
              <a:spcAft>
                <a:spcPts val="1000"/>
              </a:spcAft>
              <a:buNone/>
            </a:pPr>
            <a:r>
              <a:t/>
            </a:r>
            <a:endParaRPr/>
          </a:p>
        </p:txBody>
      </p:sp>
      <p:sp>
        <p:nvSpPr>
          <p:cNvPr id="1002" name="Google Shape;1002;p77"/>
          <p:cNvSpPr txBox="1"/>
          <p:nvPr/>
        </p:nvSpPr>
        <p:spPr>
          <a:xfrm>
            <a:off x="171600" y="1480875"/>
            <a:ext cx="6036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a)</a:t>
            </a:r>
            <a:endParaRPr/>
          </a:p>
        </p:txBody>
      </p:sp>
      <p:sp>
        <p:nvSpPr>
          <p:cNvPr id="1003" name="Google Shape;1003;p77"/>
          <p:cNvSpPr txBox="1"/>
          <p:nvPr/>
        </p:nvSpPr>
        <p:spPr>
          <a:xfrm>
            <a:off x="3284275" y="1557075"/>
            <a:ext cx="6036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b)</a:t>
            </a:r>
            <a:endParaRPr/>
          </a:p>
        </p:txBody>
      </p:sp>
      <p:sp>
        <p:nvSpPr>
          <p:cNvPr id="1004" name="Google Shape;1004;p77"/>
          <p:cNvSpPr txBox="1"/>
          <p:nvPr/>
        </p:nvSpPr>
        <p:spPr>
          <a:xfrm>
            <a:off x="6016800" y="1557075"/>
            <a:ext cx="6036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c)</a:t>
            </a:r>
            <a:endParaRPr/>
          </a:p>
        </p:txBody>
      </p:sp>
      <p:pic>
        <p:nvPicPr>
          <p:cNvPr descr="&lt;math xmlns=&quot;http://www.w3.org/1998/Math/MathML&quot; display=&quot;block&quot; data-is-equatio=&quot;1&quot; data-latex=&quot;\begin{array}{l}\frac{9}{10}+\frac{3}{4}\times\frac{2}{5}=\\&amp;#13;&amp;#10;\frac{9}{10\ }+\frac{6}{20}=\frac{9}{10}+\frac{3}{10}=\frac{12}{10}=\frac{6}{5}=1\frac{1}{5}\end{array}&quot;&gt;&lt;mtable columnalign=&quot;left&quot; columnspacing=&quot;1em&quot; rowspacing=&quot;4pt&quot;&gt;&lt;mtr&gt;&lt;mtd&gt;&lt;mfrac&gt;&lt;mn&gt;9&lt;/mn&gt;&lt;mn&gt;10&lt;/mn&gt;&lt;/mfrac&gt;&lt;mo&gt;+&lt;/mo&gt;&lt;mfrac&gt;&lt;mn&gt;3&lt;/mn&gt;&lt;mn&gt;4&lt;/mn&gt;&lt;/mfrac&gt;&lt;mo&gt;×&lt;/mo&gt;&lt;mfrac&gt;&lt;mn&gt;2&lt;/mn&gt;&lt;mn&gt;5&lt;/mn&gt;&lt;/mfrac&gt;&lt;mo&gt;=&lt;/mo&gt;&lt;/mtd&gt;&lt;/mtr&gt;&lt;mtr&gt;&lt;mtd&gt;&lt;mfrac&gt;&lt;mn&gt;9&lt;/mn&gt;&lt;mrow&gt;&lt;mn&gt;10&lt;/mn&gt;&lt;mtext&gt;&lt;/mtext&gt;&lt;/mrow&gt;&lt;/mfrac&gt;&lt;mo&gt;+&lt;/mo&gt;&lt;mfrac&gt;&lt;mn&gt;6&lt;/mn&gt;&lt;mn&gt;20&lt;/mn&gt;&lt;/mfrac&gt;&lt;mo&gt;=&lt;/mo&gt;&lt;mfrac&gt;&lt;mn&gt;9&lt;/mn&gt;&lt;mn&gt;10&lt;/mn&gt;&lt;/mfrac&gt;&lt;mo&gt;+&lt;/mo&gt;&lt;mfrac&gt;&lt;mn&gt;3&lt;/mn&gt;&lt;mn&gt;10&lt;/mn&gt;&lt;/mfrac&gt;&lt;mo&gt;=&lt;/mo&gt;&lt;mfrac&gt;&lt;mn&gt;12&lt;/mn&gt;&lt;mn&gt;10&lt;/mn&gt;&lt;/mfrac&gt;&lt;mo&gt;=&lt;/mo&gt;&lt;mfrac&gt;&lt;mn&gt;6&lt;/mn&gt;&lt;mn&gt;5&lt;/mn&gt;&lt;/mfrac&gt;&lt;mo&gt;=&lt;/mo&gt;&lt;mn&gt;1&lt;/mn&gt;&lt;mfrac&gt;&lt;mn&gt;1&lt;/mn&gt;&lt;mn&gt;5&lt;/mn&gt;&lt;/mfrac&gt;&lt;/mtd&gt;&lt;/mtr&gt;&lt;/mtable&gt;&lt;/math&gt;" id="1005" name="Google Shape;1005;p77" title="2 lines Line 1: nine tenths plus three fourths times two fifths equals Line 2: 9 over 10 plus 6 over 20 equals nine tenths plus three tenths equals twelve tenths equals six fifths equals 1 and one fifth"/>
          <p:cNvPicPr preferRelativeResize="0"/>
          <p:nvPr/>
        </p:nvPicPr>
        <p:blipFill rotWithShape="1">
          <a:blip r:embed="rId3">
            <a:alphaModFix/>
          </a:blip>
          <a:srcRect b="48924" l="0" r="67306" t="0"/>
          <a:stretch/>
        </p:blipFill>
        <p:spPr>
          <a:xfrm>
            <a:off x="622800" y="1543800"/>
            <a:ext cx="2199600" cy="754225"/>
          </a:xfrm>
          <a:prstGeom prst="rect">
            <a:avLst/>
          </a:prstGeom>
          <a:noFill/>
          <a:ln>
            <a:noFill/>
          </a:ln>
        </p:spPr>
      </p:pic>
      <p:pic>
        <p:nvPicPr>
          <p:cNvPr descr="&lt;math xmlns=&quot;http://www.w3.org/1998/Math/MathML&quot; display=&quot;block&quot; data-is-equatio=&quot;1&quot; data-latex=&quot;\begin{array}{l}\frac{9}{10}+\frac{3}{4}\times\frac{2}{5}=\\&amp;#13;&amp;#10;\frac{9}{10\ }+\frac{6}{20}=\frac{9}{10}+\frac{3}{10}=\frac{12}{10}=\frac{6}{5}=1\frac{1}{5}\end{array}&quot;&gt;&lt;mtable columnalign=&quot;left&quot; columnspacing=&quot;1em&quot; rowspacing=&quot;4pt&quot;&gt;&lt;mtr&gt;&lt;mtd&gt;&lt;mfrac&gt;&lt;mn&gt;9&lt;/mn&gt;&lt;mn&gt;10&lt;/mn&gt;&lt;/mfrac&gt;&lt;mo&gt;+&lt;/mo&gt;&lt;mfrac&gt;&lt;mn&gt;3&lt;/mn&gt;&lt;mn&gt;4&lt;/mn&gt;&lt;/mfrac&gt;&lt;mo&gt;×&lt;/mo&gt;&lt;mfrac&gt;&lt;mn&gt;2&lt;/mn&gt;&lt;mn&gt;5&lt;/mn&gt;&lt;/mfrac&gt;&lt;mo&gt;=&lt;/mo&gt;&lt;/mtd&gt;&lt;/mtr&gt;&lt;mtr&gt;&lt;mtd&gt;&lt;mfrac&gt;&lt;mn&gt;9&lt;/mn&gt;&lt;mrow&gt;&lt;mn&gt;10&lt;/mn&gt;&lt;mtext&gt;&lt;/mtext&gt;&lt;/mrow&gt;&lt;/mfrac&gt;&lt;mo&gt;+&lt;/mo&gt;&lt;mfrac&gt;&lt;mn&gt;6&lt;/mn&gt;&lt;mn&gt;20&lt;/mn&gt;&lt;/mfrac&gt;&lt;mo&gt;=&lt;/mo&gt;&lt;mfrac&gt;&lt;mn&gt;9&lt;/mn&gt;&lt;mn&gt;10&lt;/mn&gt;&lt;/mfrac&gt;&lt;mo&gt;+&lt;/mo&gt;&lt;mfrac&gt;&lt;mn&gt;3&lt;/mn&gt;&lt;mn&gt;10&lt;/mn&gt;&lt;/mfrac&gt;&lt;mo&gt;=&lt;/mo&gt;&lt;mfrac&gt;&lt;mn&gt;12&lt;/mn&gt;&lt;mn&gt;10&lt;/mn&gt;&lt;/mfrac&gt;&lt;mo&gt;=&lt;/mo&gt;&lt;mfrac&gt;&lt;mn&gt;6&lt;/mn&gt;&lt;mn&gt;5&lt;/mn&gt;&lt;/mfrac&gt;&lt;mo&gt;=&lt;/mo&gt;&lt;mn&gt;1&lt;/mn&gt;&lt;mfrac&gt;&lt;mn&gt;1&lt;/mn&gt;&lt;mn&gt;5&lt;/mn&gt;&lt;/mfrac&gt;&lt;/mtd&gt;&lt;/mtr&gt;&lt;/mtable&gt;&lt;/math&gt;" id="1006" name="Google Shape;1006;p77" title="2 lines Line 1: nine tenths plus three fourths times two fifths equals Line 2: 9 over 10 plus 6 over 20 equals nine tenths plus three tenths equals twelve tenths equals six fifths equals 1 and one fifth"/>
          <p:cNvPicPr preferRelativeResize="0"/>
          <p:nvPr/>
        </p:nvPicPr>
        <p:blipFill rotWithShape="1">
          <a:blip r:embed="rId3">
            <a:alphaModFix/>
          </a:blip>
          <a:srcRect b="0" l="0" r="68040" t="48924"/>
          <a:stretch/>
        </p:blipFill>
        <p:spPr>
          <a:xfrm>
            <a:off x="939500" y="2281125"/>
            <a:ext cx="1989401" cy="697825"/>
          </a:xfrm>
          <a:prstGeom prst="rect">
            <a:avLst/>
          </a:prstGeom>
          <a:noFill/>
          <a:ln>
            <a:noFill/>
          </a:ln>
        </p:spPr>
      </p:pic>
      <p:pic>
        <p:nvPicPr>
          <p:cNvPr descr="&lt;math xmlns=&quot;http://www.w3.org/1998/Math/MathML&quot; display=&quot;block&quot; data-is-equatio=&quot;1&quot; data-latex=&quot;\begin{array}{l}\frac{9}{10}+\frac{3}{4}\times\frac{2}{5}=\\&amp;#13;&amp;#10;\frac{9}{10\ }+\frac{6}{20}=\frac{9}{10}+\frac{3}{10}=\frac{12}{10}=\frac{6}{5}=1\frac{1}{5}\end{array}&quot;&gt;&lt;mtable columnalign=&quot;left&quot; columnspacing=&quot;1em&quot; rowspacing=&quot;4pt&quot;&gt;&lt;mtr&gt;&lt;mtd&gt;&lt;mfrac&gt;&lt;mn&gt;9&lt;/mn&gt;&lt;mn&gt;10&lt;/mn&gt;&lt;/mfrac&gt;&lt;mo&gt;+&lt;/mo&gt;&lt;mfrac&gt;&lt;mn&gt;3&lt;/mn&gt;&lt;mn&gt;4&lt;/mn&gt;&lt;/mfrac&gt;&lt;mo&gt;×&lt;/mo&gt;&lt;mfrac&gt;&lt;mn&gt;2&lt;/mn&gt;&lt;mn&gt;5&lt;/mn&gt;&lt;/mfrac&gt;&lt;mo&gt;=&lt;/mo&gt;&lt;/mtd&gt;&lt;/mtr&gt;&lt;mtr&gt;&lt;mtd&gt;&lt;mfrac&gt;&lt;mn&gt;9&lt;/mn&gt;&lt;mrow&gt;&lt;mn&gt;10&lt;/mn&gt;&lt;mtext&gt;&lt;/mtext&gt;&lt;/mrow&gt;&lt;/mfrac&gt;&lt;mo&gt;+&lt;/mo&gt;&lt;mfrac&gt;&lt;mn&gt;6&lt;/mn&gt;&lt;mn&gt;20&lt;/mn&gt;&lt;/mfrac&gt;&lt;mo&gt;=&lt;/mo&gt;&lt;mfrac&gt;&lt;mn&gt;9&lt;/mn&gt;&lt;mn&gt;10&lt;/mn&gt;&lt;/mfrac&gt;&lt;mo&gt;+&lt;/mo&gt;&lt;mfrac&gt;&lt;mn&gt;3&lt;/mn&gt;&lt;mn&gt;10&lt;/mn&gt;&lt;/mfrac&gt;&lt;mo&gt;=&lt;/mo&gt;&lt;mfrac&gt;&lt;mn&gt;12&lt;/mn&gt;&lt;mn&gt;10&lt;/mn&gt;&lt;/mfrac&gt;&lt;mo&gt;=&lt;/mo&gt;&lt;mfrac&gt;&lt;mn&gt;6&lt;/mn&gt;&lt;mn&gt;5&lt;/mn&gt;&lt;/mfrac&gt;&lt;mo&gt;=&lt;/mo&gt;&lt;mn&gt;1&lt;/mn&gt;&lt;mfrac&gt;&lt;mn&gt;1&lt;/mn&gt;&lt;mn&gt;5&lt;/mn&gt;&lt;/mfrac&gt;&lt;/mtd&gt;&lt;/mtr&gt;&lt;/mtable&gt;&lt;/math&gt;" id="1007" name="Google Shape;1007;p77" title="2 lines Line 1: nine tenths plus three fourths times two fifths equals Line 2: 9 over 10 plus 6 over 20 equals nine tenths plus three tenths equals twelve tenths equals six fifths equals 1 and one fifth"/>
          <p:cNvPicPr preferRelativeResize="0"/>
          <p:nvPr/>
        </p:nvPicPr>
        <p:blipFill rotWithShape="1">
          <a:blip r:embed="rId3">
            <a:alphaModFix/>
          </a:blip>
          <a:srcRect b="-7557" l="31166" r="36139" t="48927"/>
          <a:stretch/>
        </p:blipFill>
        <p:spPr>
          <a:xfrm>
            <a:off x="893800" y="3060550"/>
            <a:ext cx="2035100" cy="801025"/>
          </a:xfrm>
          <a:prstGeom prst="rect">
            <a:avLst/>
          </a:prstGeom>
          <a:noFill/>
          <a:ln>
            <a:noFill/>
          </a:ln>
        </p:spPr>
      </p:pic>
      <p:pic>
        <p:nvPicPr>
          <p:cNvPr descr="&lt;math xmlns=&quot;http://www.w3.org/1998/Math/MathML&quot; display=&quot;block&quot; data-is-equatio=&quot;1&quot; data-latex=&quot;\begin{array}{l}\frac{9}{10}+\frac{3}{4}\times\frac{2}{5}=\\&amp;#13;&amp;#10;\frac{9}{10\ }+\frac{6}{20}=\frac{9}{10}+\frac{3}{10}=\frac{12}{10}=\frac{6}{5}=1\frac{1}{5}\end{array}&quot;&gt;&lt;mtable columnalign=&quot;left&quot; columnspacing=&quot;1em&quot; rowspacing=&quot;4pt&quot;&gt;&lt;mtr&gt;&lt;mtd&gt;&lt;mfrac&gt;&lt;mn&gt;9&lt;/mn&gt;&lt;mn&gt;10&lt;/mn&gt;&lt;/mfrac&gt;&lt;mo&gt;+&lt;/mo&gt;&lt;mfrac&gt;&lt;mn&gt;3&lt;/mn&gt;&lt;mn&gt;4&lt;/mn&gt;&lt;/mfrac&gt;&lt;mo&gt;×&lt;/mo&gt;&lt;mfrac&gt;&lt;mn&gt;2&lt;/mn&gt;&lt;mn&gt;5&lt;/mn&gt;&lt;/mfrac&gt;&lt;mo&gt;=&lt;/mo&gt;&lt;/mtd&gt;&lt;/mtr&gt;&lt;mtr&gt;&lt;mtd&gt;&lt;mfrac&gt;&lt;mn&gt;9&lt;/mn&gt;&lt;mrow&gt;&lt;mn&gt;10&lt;/mn&gt;&lt;mtext&gt;&lt;/mtext&gt;&lt;/mrow&gt;&lt;/mfrac&gt;&lt;mo&gt;+&lt;/mo&gt;&lt;mfrac&gt;&lt;mn&gt;6&lt;/mn&gt;&lt;mn&gt;20&lt;/mn&gt;&lt;/mfrac&gt;&lt;mo&gt;=&lt;/mo&gt;&lt;mfrac&gt;&lt;mn&gt;9&lt;/mn&gt;&lt;mn&gt;10&lt;/mn&gt;&lt;/mfrac&gt;&lt;mo&gt;+&lt;/mo&gt;&lt;mfrac&gt;&lt;mn&gt;3&lt;/mn&gt;&lt;mn&gt;10&lt;/mn&gt;&lt;/mfrac&gt;&lt;mo&gt;=&lt;/mo&gt;&lt;mfrac&gt;&lt;mn&gt;12&lt;/mn&gt;&lt;mn&gt;10&lt;/mn&gt;&lt;/mfrac&gt;&lt;mo&gt;=&lt;/mo&gt;&lt;mfrac&gt;&lt;mn&gt;6&lt;/mn&gt;&lt;mn&gt;5&lt;/mn&gt;&lt;/mfrac&gt;&lt;mo&gt;=&lt;/mo&gt;&lt;mn&gt;1&lt;/mn&gt;&lt;mfrac&gt;&lt;mn&gt;1&lt;/mn&gt;&lt;mn&gt;5&lt;/mn&gt;&lt;/mfrac&gt;&lt;/mtd&gt;&lt;/mtr&gt;&lt;/mtable&gt;&lt;/math&gt;" id="1008" name="Google Shape;1008;p77" title="2 lines Line 1: nine tenths plus three fourths times two fifths equals Line 2: 9 over 10 plus 6 over 20 equals nine tenths plus three tenths equals twelve tenths equals six fifths equals 1 and one fifth"/>
          <p:cNvPicPr preferRelativeResize="0"/>
          <p:nvPr/>
        </p:nvPicPr>
        <p:blipFill rotWithShape="1">
          <a:blip r:embed="rId3">
            <a:alphaModFix/>
          </a:blip>
          <a:srcRect b="-7100" l="61116" r="22429" t="48469"/>
          <a:stretch/>
        </p:blipFill>
        <p:spPr>
          <a:xfrm>
            <a:off x="787325" y="3943175"/>
            <a:ext cx="1024251" cy="801025"/>
          </a:xfrm>
          <a:prstGeom prst="rect">
            <a:avLst/>
          </a:prstGeom>
          <a:noFill/>
          <a:ln>
            <a:noFill/>
          </a:ln>
        </p:spPr>
      </p:pic>
      <p:pic>
        <p:nvPicPr>
          <p:cNvPr descr="&lt;math xmlns=&quot;http://www.w3.org/1998/Math/MathML&quot; display=&quot;block&quot; data-is-equatio=&quot;1&quot; data-latex=&quot;\begin{array}{l}\frac{9}{10}+\frac{3}{4}\times\frac{2}{5}=\\&amp;#13;&amp;#10;\frac{9}{10\ }+\frac{6}{20}=\frac{9}{10}+\frac{3}{10}=\frac{12}{10}=\frac{6}{5}=1\frac{1}{5}\end{array}&quot;&gt;&lt;mtable columnalign=&quot;left&quot; columnspacing=&quot;1em&quot; rowspacing=&quot;4pt&quot;&gt;&lt;mtr&gt;&lt;mtd&gt;&lt;mfrac&gt;&lt;mn&gt;9&lt;/mn&gt;&lt;mn&gt;10&lt;/mn&gt;&lt;/mfrac&gt;&lt;mo&gt;+&lt;/mo&gt;&lt;mfrac&gt;&lt;mn&gt;3&lt;/mn&gt;&lt;mn&gt;4&lt;/mn&gt;&lt;/mfrac&gt;&lt;mo&gt;×&lt;/mo&gt;&lt;mfrac&gt;&lt;mn&gt;2&lt;/mn&gt;&lt;mn&gt;5&lt;/mn&gt;&lt;/mfrac&gt;&lt;mo&gt;=&lt;/mo&gt;&lt;/mtd&gt;&lt;/mtr&gt;&lt;mtr&gt;&lt;mtd&gt;&lt;mfrac&gt;&lt;mn&gt;9&lt;/mn&gt;&lt;mrow&gt;&lt;mn&gt;10&lt;/mn&gt;&lt;mtext&gt;&lt;/mtext&gt;&lt;/mrow&gt;&lt;/mfrac&gt;&lt;mo&gt;+&lt;/mo&gt;&lt;mfrac&gt;&lt;mn&gt;6&lt;/mn&gt;&lt;mn&gt;20&lt;/mn&gt;&lt;/mfrac&gt;&lt;mo&gt;=&lt;/mo&gt;&lt;mfrac&gt;&lt;mn&gt;9&lt;/mn&gt;&lt;mn&gt;10&lt;/mn&gt;&lt;/mfrac&gt;&lt;mo&gt;+&lt;/mo&gt;&lt;mfrac&gt;&lt;mn&gt;3&lt;/mn&gt;&lt;mn&gt;10&lt;/mn&gt;&lt;/mfrac&gt;&lt;mo&gt;=&lt;/mo&gt;&lt;mfrac&gt;&lt;mn&gt;12&lt;/mn&gt;&lt;mn&gt;10&lt;/mn&gt;&lt;/mfrac&gt;&lt;mo&gt;=&lt;/mo&gt;&lt;mfrac&gt;&lt;mn&gt;6&lt;/mn&gt;&lt;mn&gt;5&lt;/mn&gt;&lt;/mfrac&gt;&lt;mo&gt;=&lt;/mo&gt;&lt;mn&gt;1&lt;/mn&gt;&lt;mfrac&gt;&lt;mn&gt;1&lt;/mn&gt;&lt;mn&gt;5&lt;/mn&gt;&lt;/mfrac&gt;&lt;/mtd&gt;&lt;/mtr&gt;&lt;/mtable&gt;&lt;/math&gt;" id="1009" name="Google Shape;1009;p77" title="2 lines Line 1: nine tenths plus three fourths times two fifths equals Line 2: 9 over 10 plus 6 over 20 equals nine tenths plus three tenths equals twelve tenths equals six fifths equals 1 and one fifth"/>
          <p:cNvPicPr preferRelativeResize="0"/>
          <p:nvPr/>
        </p:nvPicPr>
        <p:blipFill rotWithShape="1">
          <a:blip r:embed="rId3">
            <a:alphaModFix/>
          </a:blip>
          <a:srcRect b="-7100" l="78567" r="-2624" t="48469"/>
          <a:stretch/>
        </p:blipFill>
        <p:spPr>
          <a:xfrm>
            <a:off x="1862950" y="3943175"/>
            <a:ext cx="1497525" cy="801025"/>
          </a:xfrm>
          <a:prstGeom prst="rect">
            <a:avLst/>
          </a:prstGeom>
          <a:noFill/>
          <a:ln>
            <a:noFill/>
          </a:ln>
        </p:spPr>
      </p:pic>
      <p:sp>
        <p:nvSpPr>
          <p:cNvPr id="1010" name="Google Shape;1010;p77"/>
          <p:cNvSpPr/>
          <p:nvPr/>
        </p:nvSpPr>
        <p:spPr>
          <a:xfrm rot="-5400000">
            <a:off x="2078625" y="1684200"/>
            <a:ext cx="155400" cy="1132800"/>
          </a:xfrm>
          <a:prstGeom prst="leftBrace">
            <a:avLst>
              <a:gd fmla="val 0" name="adj1"/>
              <a:gd fmla="val 51737" name="adj2"/>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begin{array}{l}\frac{11}{15}-\frac{3}{5}\div\frac{9}{10}\\&amp;#13;&amp;#10;\frac{11}{15}-\frac{3}{5}\times\frac{10}{9}\\&amp;#13;&amp;#10;\frac{11}{15}-\frac{30}{45}=\frac{11}{15}-\frac{10}{15}=\frac{1}{15}\end{array}&quot;&gt;&lt;mtable columnalign=&quot;left&quot; columnspacing=&quot;1em&quot; rowspacing=&quot;4pt&quot;&gt;&lt;mtr&gt;&lt;mtd&gt;&lt;mfrac&gt;&lt;mn&gt;11&lt;/mn&gt;&lt;mn&gt;15&lt;/mn&gt;&lt;/mfrac&gt;&lt;mo&gt;−&lt;/mo&gt;&lt;mfrac&gt;&lt;mn&gt;3&lt;/mn&gt;&lt;mn&gt;5&lt;/mn&gt;&lt;/mfrac&gt;&lt;mo&gt;÷&lt;/mo&gt;&lt;mfrac&gt;&lt;mn&gt;9&lt;/mn&gt;&lt;mn&gt;10&lt;/mn&gt;&lt;/mfrac&gt;&lt;/mtd&gt;&lt;/mtr&gt;&lt;mtr&gt;&lt;mtd&gt;&lt;mfrac&gt;&lt;mn&gt;11&lt;/mn&gt;&lt;mn&gt;15&lt;/mn&gt;&lt;/mfrac&gt;&lt;mo&gt;−&lt;/mo&gt;&lt;mfrac&gt;&lt;mn&gt;3&lt;/mn&gt;&lt;mn&gt;5&lt;/mn&gt;&lt;/mfrac&gt;&lt;mo&gt;×&lt;/mo&gt;&lt;mfrac&gt;&lt;mn&gt;10&lt;/mn&gt;&lt;mn&gt;9&lt;/mn&gt;&lt;/mfrac&gt;&lt;/mtd&gt;&lt;/mtr&gt;&lt;mtr&gt;&lt;mtd&gt;&lt;mfrac&gt;&lt;mn&gt;11&lt;/mn&gt;&lt;mn&gt;15&lt;/mn&gt;&lt;/mfrac&gt;&lt;mo&gt;−&lt;/mo&gt;&lt;mfrac&gt;&lt;mn&gt;30&lt;/mn&gt;&lt;mn&gt;45&lt;/mn&gt;&lt;/mfrac&gt;&lt;mo&gt;=&lt;/mo&gt;&lt;mfrac&gt;&lt;mn&gt;11&lt;/mn&gt;&lt;mn&gt;15&lt;/mn&gt;&lt;/mfrac&gt;&lt;mo&gt;−&lt;/mo&gt;&lt;mfrac&gt;&lt;mn&gt;10&lt;/mn&gt;&lt;mn&gt;15&lt;/mn&gt;&lt;/mfrac&gt;&lt;mo&gt;=&lt;/mo&gt;&lt;mfrac&gt;&lt;mn&gt;1&lt;/mn&gt;&lt;mn&gt;15&lt;/mn&gt;&lt;/mfrac&gt;&lt;/mtd&gt;&lt;/mtr&gt;&lt;/mtable&gt;&lt;/math&gt;" id="1011" name="Google Shape;1011;p77" title="3 lines Line 1: 11 over 15 minus three fifths divided by nine tenths Line 2: 11 over 15 minus three fifths times ten ninths Line 3: 11 over 15 minus 30 over 45 equals 11 over 15 minus 10 over 15 equals 1 over 15"/>
          <p:cNvPicPr preferRelativeResize="0"/>
          <p:nvPr/>
        </p:nvPicPr>
        <p:blipFill rotWithShape="1">
          <a:blip r:embed="rId4">
            <a:alphaModFix/>
          </a:blip>
          <a:srcRect b="67781" l="0" r="48815" t="0"/>
          <a:stretch/>
        </p:blipFill>
        <p:spPr>
          <a:xfrm>
            <a:off x="3807291" y="1552575"/>
            <a:ext cx="2065548" cy="652117"/>
          </a:xfrm>
          <a:prstGeom prst="rect">
            <a:avLst/>
          </a:prstGeom>
          <a:noFill/>
          <a:ln>
            <a:noFill/>
          </a:ln>
        </p:spPr>
      </p:pic>
      <p:pic>
        <p:nvPicPr>
          <p:cNvPr descr="&lt;math xmlns=&quot;http://www.w3.org/1998/Math/MathML&quot; display=&quot;block&quot; data-is-equatio=&quot;1&quot; data-latex=&quot;\begin{array}{l}\frac{11}{15}-\frac{3}{5}\div\frac{9}{10}\\&amp;#13;&amp;#10;\frac{11}{15}-\frac{3}{5}\times\frac{10}{9}\\&amp;#13;&amp;#10;\frac{11}{15}-\frac{30}{45}=\frac{11}{15}-\frac{10}{15}=\frac{1}{15}\end{array}&quot;&gt;&lt;mtable columnalign=&quot;left&quot; columnspacing=&quot;1em&quot; rowspacing=&quot;4pt&quot;&gt;&lt;mtr&gt;&lt;mtd&gt;&lt;mfrac&gt;&lt;mn&gt;11&lt;/mn&gt;&lt;mn&gt;15&lt;/mn&gt;&lt;/mfrac&gt;&lt;mo&gt;−&lt;/mo&gt;&lt;mfrac&gt;&lt;mn&gt;3&lt;/mn&gt;&lt;mn&gt;5&lt;/mn&gt;&lt;/mfrac&gt;&lt;mo&gt;÷&lt;/mo&gt;&lt;mfrac&gt;&lt;mn&gt;9&lt;/mn&gt;&lt;mn&gt;10&lt;/mn&gt;&lt;/mfrac&gt;&lt;/mtd&gt;&lt;/mtr&gt;&lt;mtr&gt;&lt;mtd&gt;&lt;mfrac&gt;&lt;mn&gt;11&lt;/mn&gt;&lt;mn&gt;15&lt;/mn&gt;&lt;/mfrac&gt;&lt;mo&gt;−&lt;/mo&gt;&lt;mfrac&gt;&lt;mn&gt;3&lt;/mn&gt;&lt;mn&gt;5&lt;/mn&gt;&lt;/mfrac&gt;&lt;mo&gt;×&lt;/mo&gt;&lt;mfrac&gt;&lt;mn&gt;10&lt;/mn&gt;&lt;mn&gt;9&lt;/mn&gt;&lt;/mfrac&gt;&lt;/mtd&gt;&lt;/mtr&gt;&lt;mtr&gt;&lt;mtd&gt;&lt;mfrac&gt;&lt;mn&gt;11&lt;/mn&gt;&lt;mn&gt;15&lt;/mn&gt;&lt;/mfrac&gt;&lt;mo&gt;−&lt;/mo&gt;&lt;mfrac&gt;&lt;mn&gt;30&lt;/mn&gt;&lt;mn&gt;45&lt;/mn&gt;&lt;/mfrac&gt;&lt;mo&gt;=&lt;/mo&gt;&lt;mfrac&gt;&lt;mn&gt;11&lt;/mn&gt;&lt;mn&gt;15&lt;/mn&gt;&lt;/mfrac&gt;&lt;mo&gt;−&lt;/mo&gt;&lt;mfrac&gt;&lt;mn&gt;10&lt;/mn&gt;&lt;mn&gt;15&lt;/mn&gt;&lt;/mfrac&gt;&lt;mo&gt;=&lt;/mo&gt;&lt;mfrac&gt;&lt;mn&gt;1&lt;/mn&gt;&lt;mn&gt;15&lt;/mn&gt;&lt;/mfrac&gt;&lt;/mtd&gt;&lt;/mtr&gt;&lt;/mtable&gt;&lt;/math&gt;" id="1012" name="Google Shape;1012;p77" title="3 lines Line 1: 11 over 15 minus three fifths divided by nine tenths Line 2: 11 over 15 minus three fifths times ten ninths Line 3: 11 over 15 minus 30 over 45 equals 11 over 15 minus 10 over 15 equals 1 over 15"/>
          <p:cNvPicPr preferRelativeResize="0"/>
          <p:nvPr/>
        </p:nvPicPr>
        <p:blipFill rotWithShape="1">
          <a:blip r:embed="rId4">
            <a:alphaModFix/>
          </a:blip>
          <a:srcRect b="33890" l="0" r="48815" t="33890"/>
          <a:stretch/>
        </p:blipFill>
        <p:spPr>
          <a:xfrm>
            <a:off x="3807291" y="2380413"/>
            <a:ext cx="2065548" cy="652117"/>
          </a:xfrm>
          <a:prstGeom prst="rect">
            <a:avLst/>
          </a:prstGeom>
          <a:noFill/>
          <a:ln>
            <a:noFill/>
          </a:ln>
        </p:spPr>
      </p:pic>
      <p:sp>
        <p:nvSpPr>
          <p:cNvPr id="1013" name="Google Shape;1013;p77"/>
          <p:cNvSpPr/>
          <p:nvPr/>
        </p:nvSpPr>
        <p:spPr>
          <a:xfrm rot="-5400000">
            <a:off x="5110931" y="1613638"/>
            <a:ext cx="150000" cy="1206600"/>
          </a:xfrm>
          <a:prstGeom prst="leftBrace">
            <a:avLst>
              <a:gd fmla="val 0" name="adj1"/>
              <a:gd fmla="val 51737" name="adj2"/>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begin{array}{l}\frac{11}{15}-\frac{3}{5}\div\frac{9}{10}\\&amp;#13;&amp;#10;\frac{11}{15}-\frac{3}{5}\times\frac{10}{9}\\&amp;#13;&amp;#10;\frac{11}{15}-\frac{30}{45}=\frac{11}{15}-\frac{10}{15}=\frac{1}{15}\end{array}&quot;&gt;&lt;mtable columnalign=&quot;left&quot; columnspacing=&quot;1em&quot; rowspacing=&quot;4pt&quot;&gt;&lt;mtr&gt;&lt;mtd&gt;&lt;mfrac&gt;&lt;mn&gt;11&lt;/mn&gt;&lt;mn&gt;15&lt;/mn&gt;&lt;/mfrac&gt;&lt;mo&gt;−&lt;/mo&gt;&lt;mfrac&gt;&lt;mn&gt;3&lt;/mn&gt;&lt;mn&gt;5&lt;/mn&gt;&lt;/mfrac&gt;&lt;mo&gt;÷&lt;/mo&gt;&lt;mfrac&gt;&lt;mn&gt;9&lt;/mn&gt;&lt;mn&gt;10&lt;/mn&gt;&lt;/mfrac&gt;&lt;/mtd&gt;&lt;/mtr&gt;&lt;mtr&gt;&lt;mtd&gt;&lt;mfrac&gt;&lt;mn&gt;11&lt;/mn&gt;&lt;mn&gt;15&lt;/mn&gt;&lt;/mfrac&gt;&lt;mo&gt;−&lt;/mo&gt;&lt;mfrac&gt;&lt;mn&gt;3&lt;/mn&gt;&lt;mn&gt;5&lt;/mn&gt;&lt;/mfrac&gt;&lt;mo&gt;×&lt;/mo&gt;&lt;mfrac&gt;&lt;mn&gt;10&lt;/mn&gt;&lt;mn&gt;9&lt;/mn&gt;&lt;/mfrac&gt;&lt;/mtd&gt;&lt;/mtr&gt;&lt;mtr&gt;&lt;mtd&gt;&lt;mfrac&gt;&lt;mn&gt;11&lt;/mn&gt;&lt;mn&gt;15&lt;/mn&gt;&lt;/mfrac&gt;&lt;mo&gt;−&lt;/mo&gt;&lt;mfrac&gt;&lt;mn&gt;30&lt;/mn&gt;&lt;mn&gt;45&lt;/mn&gt;&lt;/mfrac&gt;&lt;mo&gt;=&lt;/mo&gt;&lt;mfrac&gt;&lt;mn&gt;11&lt;/mn&gt;&lt;mn&gt;15&lt;/mn&gt;&lt;/mfrac&gt;&lt;mo&gt;−&lt;/mo&gt;&lt;mfrac&gt;&lt;mn&gt;10&lt;/mn&gt;&lt;mn&gt;15&lt;/mn&gt;&lt;/mfrac&gt;&lt;mo&gt;=&lt;/mo&gt;&lt;mfrac&gt;&lt;mn&gt;1&lt;/mn&gt;&lt;mn&gt;15&lt;/mn&gt;&lt;/mfrac&gt;&lt;/mtd&gt;&lt;/mtr&gt;&lt;/mtable&gt;&lt;/math&gt;" id="1014" name="Google Shape;1014;p77" title="3 lines Line 1: 11 over 15 minus three fifths divided by nine tenths Line 2: 11 over 15 minus three fifths times ten ninths Line 3: 11 over 15 minus 30 over 45 equals 11 over 15 minus 10 over 15 equals 1 over 15"/>
          <p:cNvPicPr preferRelativeResize="0"/>
          <p:nvPr/>
        </p:nvPicPr>
        <p:blipFill rotWithShape="1">
          <a:blip r:embed="rId4">
            <a:alphaModFix/>
          </a:blip>
          <a:srcRect b="-3028" l="0" r="56646" t="70809"/>
          <a:stretch/>
        </p:blipFill>
        <p:spPr>
          <a:xfrm>
            <a:off x="3757989" y="3132052"/>
            <a:ext cx="1749527" cy="652117"/>
          </a:xfrm>
          <a:prstGeom prst="rect">
            <a:avLst/>
          </a:prstGeom>
          <a:noFill/>
          <a:ln>
            <a:noFill/>
          </a:ln>
        </p:spPr>
      </p:pic>
      <p:pic>
        <p:nvPicPr>
          <p:cNvPr descr="&lt;math xmlns=&quot;http://www.w3.org/1998/Math/MathML&quot; display=&quot;block&quot; data-is-equatio=&quot;1&quot; data-latex=&quot;\begin{array}{l}\frac{11}{15}-\frac{3}{5}\div\frac{9}{10}\\&amp;#13;&amp;#10;\frac{11}{15}-\frac{3}{5}\times\frac{10}{9}\\&amp;#13;&amp;#10;\frac{11}{15}-\frac{30}{45}=\frac{11}{15}-\frac{10}{15}=\frac{1}{15}\end{array}&quot;&gt;&lt;mtable columnalign=&quot;left&quot; columnspacing=&quot;1em&quot; rowspacing=&quot;4pt&quot;&gt;&lt;mtr&gt;&lt;mtd&gt;&lt;mfrac&gt;&lt;mn&gt;11&lt;/mn&gt;&lt;mn&gt;15&lt;/mn&gt;&lt;/mfrac&gt;&lt;mo&gt;−&lt;/mo&gt;&lt;mfrac&gt;&lt;mn&gt;3&lt;/mn&gt;&lt;mn&gt;5&lt;/mn&gt;&lt;/mfrac&gt;&lt;mo&gt;÷&lt;/mo&gt;&lt;mfrac&gt;&lt;mn&gt;9&lt;/mn&gt;&lt;mn&gt;10&lt;/mn&gt;&lt;/mfrac&gt;&lt;/mtd&gt;&lt;/mtr&gt;&lt;mtr&gt;&lt;mtd&gt;&lt;mfrac&gt;&lt;mn&gt;11&lt;/mn&gt;&lt;mn&gt;15&lt;/mn&gt;&lt;/mfrac&gt;&lt;mo&gt;−&lt;/mo&gt;&lt;mfrac&gt;&lt;mn&gt;3&lt;/mn&gt;&lt;mn&gt;5&lt;/mn&gt;&lt;/mfrac&gt;&lt;mo&gt;×&lt;/mo&gt;&lt;mfrac&gt;&lt;mn&gt;10&lt;/mn&gt;&lt;mn&gt;9&lt;/mn&gt;&lt;/mfrac&gt;&lt;/mtd&gt;&lt;/mtr&gt;&lt;mtr&gt;&lt;mtd&gt;&lt;mfrac&gt;&lt;mn&gt;11&lt;/mn&gt;&lt;mn&gt;15&lt;/mn&gt;&lt;/mfrac&gt;&lt;mo&gt;−&lt;/mo&gt;&lt;mfrac&gt;&lt;mn&gt;30&lt;/mn&gt;&lt;mn&gt;45&lt;/mn&gt;&lt;/mfrac&gt;&lt;mo&gt;=&lt;/mo&gt;&lt;mfrac&gt;&lt;mn&gt;11&lt;/mn&gt;&lt;mn&gt;15&lt;/mn&gt;&lt;/mfrac&gt;&lt;mo&gt;−&lt;/mo&gt;&lt;mfrac&gt;&lt;mn&gt;10&lt;/mn&gt;&lt;mn&gt;15&lt;/mn&gt;&lt;/mfrac&gt;&lt;mo&gt;=&lt;/mo&gt;&lt;mfrac&gt;&lt;mn&gt;1&lt;/mn&gt;&lt;mn&gt;15&lt;/mn&gt;&lt;/mfrac&gt;&lt;/mtd&gt;&lt;/mtr&gt;&lt;/mtable&gt;&lt;/math&gt;" id="1015" name="Google Shape;1015;p77" title="3 lines Line 1: 11 over 15 minus three fifths divided by nine tenths Line 2: 11 over 15 minus three fifths times ten ninths Line 3: 11 over 15 minus 30 over 45 equals 11 over 15 minus 10 over 15 equals 1 over 15"/>
          <p:cNvPicPr preferRelativeResize="0"/>
          <p:nvPr/>
        </p:nvPicPr>
        <p:blipFill rotWithShape="1">
          <a:blip r:embed="rId4">
            <a:alphaModFix/>
          </a:blip>
          <a:srcRect b="-5793" l="41782" r="20189" t="68077"/>
          <a:stretch/>
        </p:blipFill>
        <p:spPr>
          <a:xfrm>
            <a:off x="3599914" y="3883712"/>
            <a:ext cx="1534653" cy="763375"/>
          </a:xfrm>
          <a:prstGeom prst="rect">
            <a:avLst/>
          </a:prstGeom>
          <a:noFill/>
          <a:ln>
            <a:noFill/>
          </a:ln>
        </p:spPr>
      </p:pic>
      <p:pic>
        <p:nvPicPr>
          <p:cNvPr descr="&lt;math xmlns=&quot;http://www.w3.org/1998/Math/MathML&quot; display=&quot;block&quot; data-is-equatio=&quot;1&quot; data-latex=&quot;\begin{array}{l}\frac{11}{15}-\frac{3}{5}\div\frac{9}{10}\\&amp;#13;&amp;#10;\frac{11}{15}-\frac{3}{5}\times\frac{10}{9}\\&amp;#13;&amp;#10;\frac{11}{15}-\frac{30}{45}=\frac{11}{15}-\frac{10}{15}=\frac{1}{15}\end{array}&quot;&gt;&lt;mtable columnalign=&quot;left&quot; columnspacing=&quot;1em&quot; rowspacing=&quot;4pt&quot;&gt;&lt;mtr&gt;&lt;mtd&gt;&lt;mfrac&gt;&lt;mn&gt;11&lt;/mn&gt;&lt;mn&gt;15&lt;/mn&gt;&lt;/mfrac&gt;&lt;mo&gt;−&lt;/mo&gt;&lt;mfrac&gt;&lt;mn&gt;3&lt;/mn&gt;&lt;mn&gt;5&lt;/mn&gt;&lt;/mfrac&gt;&lt;mo&gt;÷&lt;/mo&gt;&lt;mfrac&gt;&lt;mn&gt;9&lt;/mn&gt;&lt;mn&gt;10&lt;/mn&gt;&lt;/mfrac&gt;&lt;/mtd&gt;&lt;/mtr&gt;&lt;mtr&gt;&lt;mtd&gt;&lt;mfrac&gt;&lt;mn&gt;11&lt;/mn&gt;&lt;mn&gt;15&lt;/mn&gt;&lt;/mfrac&gt;&lt;mo&gt;−&lt;/mo&gt;&lt;mfrac&gt;&lt;mn&gt;3&lt;/mn&gt;&lt;mn&gt;5&lt;/mn&gt;&lt;/mfrac&gt;&lt;mo&gt;×&lt;/mo&gt;&lt;mfrac&gt;&lt;mn&gt;10&lt;/mn&gt;&lt;mn&gt;9&lt;/mn&gt;&lt;/mfrac&gt;&lt;/mtd&gt;&lt;/mtr&gt;&lt;mtr&gt;&lt;mtd&gt;&lt;mfrac&gt;&lt;mn&gt;11&lt;/mn&gt;&lt;mn&gt;15&lt;/mn&gt;&lt;/mfrac&gt;&lt;mo&gt;−&lt;/mo&gt;&lt;mfrac&gt;&lt;mn&gt;30&lt;/mn&gt;&lt;mn&gt;45&lt;/mn&gt;&lt;/mfrac&gt;&lt;mo&gt;=&lt;/mo&gt;&lt;mfrac&gt;&lt;mn&gt;11&lt;/mn&gt;&lt;mn&gt;15&lt;/mn&gt;&lt;/mfrac&gt;&lt;mo&gt;−&lt;/mo&gt;&lt;mfrac&gt;&lt;mn&gt;10&lt;/mn&gt;&lt;mn&gt;15&lt;/mn&gt;&lt;/mfrac&gt;&lt;mo&gt;=&lt;/mo&gt;&lt;mfrac&gt;&lt;mn&gt;1&lt;/mn&gt;&lt;mn&gt;15&lt;/mn&gt;&lt;/mfrac&gt;&lt;/mtd&gt;&lt;/mtr&gt;&lt;/mtable&gt;&lt;/math&gt;" id="1016" name="Google Shape;1016;p77" title="3 lines Line 1: 11 over 15 minus three fifths divided by nine tenths Line 2: 11 over 15 minus three fifths times ten ninths Line 3: 11 over 15 minus 30 over 45 equals 11 over 15 minus 10 over 15 equals 1 over 15"/>
          <p:cNvPicPr preferRelativeResize="0"/>
          <p:nvPr/>
        </p:nvPicPr>
        <p:blipFill rotWithShape="1">
          <a:blip r:embed="rId4">
            <a:alphaModFix/>
          </a:blip>
          <a:srcRect b="-5793" l="79197" r="-4578" t="68076"/>
          <a:stretch/>
        </p:blipFill>
        <p:spPr>
          <a:xfrm>
            <a:off x="5091264" y="3883700"/>
            <a:ext cx="1024249" cy="763400"/>
          </a:xfrm>
          <a:prstGeom prst="rect">
            <a:avLst/>
          </a:prstGeom>
          <a:noFill/>
          <a:ln>
            <a:noFill/>
          </a:ln>
        </p:spPr>
      </p:pic>
      <p:cxnSp>
        <p:nvCxnSpPr>
          <p:cNvPr id="1017" name="Google Shape;1017;p77"/>
          <p:cNvCxnSpPr/>
          <p:nvPr/>
        </p:nvCxnSpPr>
        <p:spPr>
          <a:xfrm>
            <a:off x="3310000" y="1570975"/>
            <a:ext cx="0" cy="3074100"/>
          </a:xfrm>
          <a:prstGeom prst="straightConnector1">
            <a:avLst/>
          </a:prstGeom>
          <a:noFill/>
          <a:ln cap="flat" cmpd="sng" w="9525">
            <a:solidFill>
              <a:schemeClr val="dk2"/>
            </a:solidFill>
            <a:prstDash val="solid"/>
            <a:round/>
            <a:headEnd len="med" w="med" type="none"/>
            <a:tailEnd len="med" w="med" type="none"/>
          </a:ln>
        </p:spPr>
      </p:cxnSp>
      <p:cxnSp>
        <p:nvCxnSpPr>
          <p:cNvPr id="1018" name="Google Shape;1018;p77"/>
          <p:cNvCxnSpPr/>
          <p:nvPr/>
        </p:nvCxnSpPr>
        <p:spPr>
          <a:xfrm>
            <a:off x="6093000" y="1570975"/>
            <a:ext cx="0" cy="3074100"/>
          </a:xfrm>
          <a:prstGeom prst="straightConnector1">
            <a:avLst/>
          </a:prstGeom>
          <a:noFill/>
          <a:ln cap="flat" cmpd="sng" w="9525">
            <a:solidFill>
              <a:schemeClr val="dk2"/>
            </a:solidFill>
            <a:prstDash val="solid"/>
            <a:round/>
            <a:headEnd len="med" w="med" type="none"/>
            <a:tailEnd len="med" w="med" type="none"/>
          </a:ln>
        </p:spPr>
      </p:cxnSp>
      <p:pic>
        <p:nvPicPr>
          <p:cNvPr descr="&lt;math xmlns=&quot;http://www.w3.org/1998/Math/MathML&quot; display=&quot;block&quot; data-is-equatio=&quot;1&quot; data-latex=&quot;\begin{array}{l}\frac{9}{10}\times\frac{1}{2}-\frac{3}{5}\div\frac{4}{5}\\&amp;#13;&amp;#10;\ \ \ \ \ \ \ \ \frac{9}{10}-\frac{3}{5}\times\frac{5}{4}\\&amp;#13;&amp;#10;\ \ \ \ \ \ \ \ \ \frac{9}{10}-\frac{15}{20}=\frac{18}{20}-\frac{15}{20}=\frac{3}{20}\end{array}&quot;&gt;&lt;mtable columnalign=&quot;left&quot; columnspacing=&quot;1em&quot; rowspacing=&quot;4pt&quot;&gt;&lt;mtr&gt;&lt;mtd&gt;&lt;mfrac&gt;&lt;mn&gt;9&lt;/mn&gt;&lt;mn&gt;10&lt;/mn&gt;&lt;/mfrac&gt;&lt;mo&gt;×&lt;/mo&gt;&lt;mfrac&gt;&lt;mn&gt;1&lt;/mn&gt;&lt;mn&gt;2&lt;/mn&gt;&lt;/mfrac&gt;&lt;mo&gt;−&lt;/mo&gt;&lt;mfrac&gt;&lt;mn&gt;3&lt;/mn&gt;&lt;mn&gt;5&lt;/mn&gt;&lt;/mfrac&gt;&lt;mo&gt;÷&lt;/mo&gt;&lt;mfrac&gt;&lt;mn&gt;4&lt;/mn&gt;&lt;mn&gt;5&lt;/mn&gt;&lt;/mfrac&gt;&lt;/mtd&gt;&lt;/mtr&gt;&lt;mtr&gt;&lt;mtd&gt;&lt;mtext&gt;&lt;/mtext&gt;&lt;mtext&gt;&lt;/mtext&gt;&lt;mtext&gt;&lt;/mtext&gt;&lt;mtext&gt;&lt;/mtext&gt;&lt;mtext&gt;&lt;/mtext&gt;&lt;mtext&gt;&lt;/mtext&gt;&lt;mtext&gt;&lt;/mtext&gt;&lt;mtext&gt;&lt;/mtext&gt;&lt;mfrac&gt;&lt;mn&gt;9&lt;/mn&gt;&lt;mn&gt;10&lt;/mn&gt;&lt;/mfrac&gt;&lt;mo&gt;−&lt;/mo&gt;&lt;mfrac&gt;&lt;mn&gt;3&lt;/mn&gt;&lt;mn&gt;5&lt;/mn&gt;&lt;/mfrac&gt;&lt;mo&gt;×&lt;/mo&gt;&lt;mfrac&gt;&lt;mn&gt;5&lt;/mn&gt;&lt;mn&gt;4&lt;/mn&gt;&lt;/mfrac&gt;&lt;/mtd&gt;&lt;/mtr&gt;&lt;mtr&gt;&lt;mtd&gt;&lt;mtext&gt;&lt;/mtext&gt;&lt;mtext&gt;&lt;/mtext&gt;&lt;mtext&gt;&lt;/mtext&gt;&lt;mtext&gt;&lt;/mtext&gt;&lt;mtext&gt;&lt;/mtext&gt;&lt;mtext&gt;&lt;/mtext&gt;&lt;mtext&gt;&lt;/mtext&gt;&lt;mtext&gt;&lt;/mtext&gt;&lt;mtext&gt;&lt;/mtext&gt;&lt;mfrac&gt;&lt;mn&gt;9&lt;/mn&gt;&lt;mn&gt;10&lt;/mn&gt;&lt;/mfrac&gt;&lt;mo&gt;−&lt;/mo&gt;&lt;mfrac&gt;&lt;mn&gt;15&lt;/mn&gt;&lt;mn&gt;20&lt;/mn&gt;&lt;/mfrac&gt;&lt;mo&gt;=&lt;/mo&gt;&lt;mfrac&gt;&lt;mn&gt;18&lt;/mn&gt;&lt;mn&gt;20&lt;/mn&gt;&lt;/mfrac&gt;&lt;mo&gt;−&lt;/mo&gt;&lt;mfrac&gt;&lt;mn&gt;15&lt;/mn&gt;&lt;mn&gt;20&lt;/mn&gt;&lt;/mfrac&gt;&lt;mo&gt;=&lt;/mo&gt;&lt;mfrac&gt;&lt;mn&gt;3&lt;/mn&gt;&lt;mn&gt;20&lt;/mn&gt;&lt;/mfrac&gt;&lt;/mtd&gt;&lt;/mtr&gt;&lt;/mtable&gt;&lt;/math&gt;" id="1019" name="Google Shape;1019;p77" title="3 lines Line 1: nine tenths times one half minus three fifths divided by four fifths Line 2: nine tenths minus three fifths times five fourths Line 3: nine tenths minus 15 over 20 equals 18 over 20 minus 15 over 20 equals 3 over 20"/>
          <p:cNvPicPr preferRelativeResize="0"/>
          <p:nvPr/>
        </p:nvPicPr>
        <p:blipFill rotWithShape="1">
          <a:blip r:embed="rId5">
            <a:alphaModFix/>
          </a:blip>
          <a:srcRect b="65301" l="0" r="46351" t="0"/>
          <a:stretch/>
        </p:blipFill>
        <p:spPr>
          <a:xfrm>
            <a:off x="6483225" y="1570975"/>
            <a:ext cx="2468175" cy="652100"/>
          </a:xfrm>
          <a:prstGeom prst="rect">
            <a:avLst/>
          </a:prstGeom>
          <a:noFill/>
          <a:ln>
            <a:noFill/>
          </a:ln>
        </p:spPr>
      </p:pic>
      <p:sp>
        <p:nvSpPr>
          <p:cNvPr id="1020" name="Google Shape;1020;p77"/>
          <p:cNvSpPr/>
          <p:nvPr/>
        </p:nvSpPr>
        <p:spPr>
          <a:xfrm rot="-5400000">
            <a:off x="6885475" y="1593600"/>
            <a:ext cx="155400" cy="1132800"/>
          </a:xfrm>
          <a:prstGeom prst="leftBrace">
            <a:avLst>
              <a:gd fmla="val 0" name="adj1"/>
              <a:gd fmla="val 51737" name="adj2"/>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21" name="Google Shape;1021;p77"/>
          <p:cNvSpPr/>
          <p:nvPr/>
        </p:nvSpPr>
        <p:spPr>
          <a:xfrm rot="-5400000">
            <a:off x="8343625" y="1651650"/>
            <a:ext cx="155400" cy="1016700"/>
          </a:xfrm>
          <a:prstGeom prst="leftBrace">
            <a:avLst>
              <a:gd fmla="val 0" name="adj1"/>
              <a:gd fmla="val 51737" name="adj2"/>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begin{array}{l}\frac{9}{10}\times\frac{1}{2}-\frac{3}{5}\div\frac{4}{5}\\&amp;#13;&amp;#10;\ \ \ \ \ \ \ \ \frac{9}{20}-\frac{3}{5}\times\frac{5}{4}\\&amp;#13;&amp;#10;\ \ \ \ \ \ \ \ \ \frac{9}{20}-\frac{15}{20}=\left(-\frac{6}{20}\right)=\left(-\frac{3}{10}\right)\end{array}&quot;&gt;&lt;mtable columnalign=&quot;left&quot; columnspacing=&quot;1em&quot; rowspacing=&quot;4pt&quot;&gt;&lt;mtr&gt;&lt;mtd&gt;&lt;mfrac&gt;&lt;mn&gt;9&lt;/mn&gt;&lt;mn&gt;10&lt;/mn&gt;&lt;/mfrac&gt;&lt;mo&gt;×&lt;/mo&gt;&lt;mfrac&gt;&lt;mn&gt;1&lt;/mn&gt;&lt;mn&gt;2&lt;/mn&gt;&lt;/mfrac&gt;&lt;mo&gt;−&lt;/mo&gt;&lt;mfrac&gt;&lt;mn&gt;3&lt;/mn&gt;&lt;mn&gt;5&lt;/mn&gt;&lt;/mfrac&gt;&lt;mo&gt;÷&lt;/mo&gt;&lt;mfrac&gt;&lt;mn&gt;4&lt;/mn&gt;&lt;mn&gt;5&lt;/mn&gt;&lt;/mfrac&gt;&lt;/mtd&gt;&lt;/mtr&gt;&lt;mtr&gt;&lt;mtd&gt;&lt;mtext&gt;&lt;/mtext&gt;&lt;mtext&gt;&lt;/mtext&gt;&lt;mtext&gt;&lt;/mtext&gt;&lt;mtext&gt;&lt;/mtext&gt;&lt;mtext&gt;&lt;/mtext&gt;&lt;mtext&gt;&lt;/mtext&gt;&lt;mtext&gt;&lt;/mtext&gt;&lt;mtext&gt;&lt;/mtext&gt;&lt;mfrac&gt;&lt;mn&gt;9&lt;/mn&gt;&lt;mn&gt;20&lt;/mn&gt;&lt;/mfrac&gt;&lt;mo&gt;−&lt;/mo&gt;&lt;mfrac&gt;&lt;mn&gt;3&lt;/mn&gt;&lt;mn&gt;5&lt;/mn&gt;&lt;/mfrac&gt;&lt;mo&gt;×&lt;/mo&gt;&lt;mfrac&gt;&lt;mn&gt;5&lt;/mn&gt;&lt;mn&gt;4&lt;/mn&gt;&lt;/mfrac&gt;&lt;/mtd&gt;&lt;/mtr&gt;&lt;mtr&gt;&lt;mtd&gt;&lt;mtext&gt;&lt;/mtext&gt;&lt;mtext&gt;&lt;/mtext&gt;&lt;mtext&gt;&lt;/mtext&gt;&lt;mtext&gt;&lt;/mtext&gt;&lt;mtext&gt;&lt;/mtext&gt;&lt;mtext&gt;&lt;/mtext&gt;&lt;mtext&gt;&lt;/mtext&gt;&lt;mtext&gt;&lt;/mtext&gt;&lt;mtext&gt;&lt;/mtext&gt;&lt;mfrac&gt;&lt;mn&gt;9&lt;/mn&gt;&lt;mn&gt;20&lt;/mn&gt;&lt;/mfrac&gt;&lt;mo&gt;−&lt;/mo&gt;&lt;mfrac&gt;&lt;mn&gt;15&lt;/mn&gt;&lt;mn&gt;20&lt;/mn&gt;&lt;/mfrac&gt;&lt;mo&gt;=&lt;/mo&gt;&lt;mrow data-mjx-texclass=&quot;INNER&quot;&gt;&lt;mo data-mjx-texclass=&quot;OPEN&quot;&gt;(&lt;/mo&gt;&lt;mo&gt;−&lt;/mo&gt;&lt;mfrac&gt;&lt;mn&gt;6&lt;/mn&gt;&lt;mn&gt;20&lt;/mn&gt;&lt;/mfrac&gt;&lt;mo data-mjx-texclass=&quot;CLOSE&quot;&gt;)&lt;/mo&gt;&lt;/mrow&gt;&lt;mo&gt;=&lt;/mo&gt;&lt;mrow data-mjx-texclass=&quot;INNER&quot;&gt;&lt;mo data-mjx-texclass=&quot;OPEN&quot;&gt;(&lt;/mo&gt;&lt;mo&gt;−&lt;/mo&gt;&lt;mfrac&gt;&lt;mn&gt;3&lt;/mn&gt;&lt;mn&gt;10&lt;/mn&gt;&lt;/mfrac&gt;&lt;mo data-mjx-texclass=&quot;CLOSE&quot;&gt;)&lt;/mo&gt;&lt;/mrow&gt;&lt;/mtd&gt;&lt;/mtr&gt;&lt;/mtable&gt;&lt;/math&gt;" id="1022" name="Google Shape;1022;p77" title="3 lines Line 1: nine tenths times one half minus three fifths divided by four fifths Line 2: 9 over 20 minus three fifths times five fourths Line 3: 9 over 20 minus 15 over 20 equals open paren negative 6 over 20 close paren equals negative three tenths"/>
          <p:cNvPicPr preferRelativeResize="0"/>
          <p:nvPr/>
        </p:nvPicPr>
        <p:blipFill rotWithShape="1">
          <a:blip r:embed="rId6">
            <a:alphaModFix/>
          </a:blip>
          <a:srcRect b="27936" l="13919" r="48184" t="31669"/>
          <a:stretch/>
        </p:blipFill>
        <p:spPr>
          <a:xfrm>
            <a:off x="6842550" y="2357900"/>
            <a:ext cx="1749526" cy="697135"/>
          </a:xfrm>
          <a:prstGeom prst="rect">
            <a:avLst/>
          </a:prstGeom>
          <a:noFill/>
          <a:ln>
            <a:noFill/>
          </a:ln>
        </p:spPr>
      </p:pic>
      <p:pic>
        <p:nvPicPr>
          <p:cNvPr descr="&lt;math xmlns=&quot;http://www.w3.org/1998/Math/MathML&quot; display=&quot;block&quot; data-is-equatio=&quot;1&quot; data-latex=&quot;\begin{array}{l}\frac{9}{10}\times\frac{1}{2}-\frac{3}{5}\div\frac{4}{5}\\&amp;#13;&amp;#10;\ \ \ \ \ \ \ \ \frac{9}{20}-\frac{3}{5}\times\frac{5}{4}\\&amp;#13;&amp;#10;\ \ \ \ \ \ \ \ \ \frac{9}{20}-\frac{15}{20}=\left(-\frac{6}{20}\right)=\left(-\frac{3}{10}\right)\end{array}&quot;&gt;&lt;mtable columnalign=&quot;left&quot; columnspacing=&quot;1em&quot; rowspacing=&quot;4pt&quot;&gt;&lt;mtr&gt;&lt;mtd&gt;&lt;mfrac&gt;&lt;mn&gt;9&lt;/mn&gt;&lt;mn&gt;10&lt;/mn&gt;&lt;/mfrac&gt;&lt;mo&gt;×&lt;/mo&gt;&lt;mfrac&gt;&lt;mn&gt;1&lt;/mn&gt;&lt;mn&gt;2&lt;/mn&gt;&lt;/mfrac&gt;&lt;mo&gt;−&lt;/mo&gt;&lt;mfrac&gt;&lt;mn&gt;3&lt;/mn&gt;&lt;mn&gt;5&lt;/mn&gt;&lt;/mfrac&gt;&lt;mo&gt;÷&lt;/mo&gt;&lt;mfrac&gt;&lt;mn&gt;4&lt;/mn&gt;&lt;mn&gt;5&lt;/mn&gt;&lt;/mfrac&gt;&lt;/mtd&gt;&lt;/mtr&gt;&lt;mtr&gt;&lt;mtd&gt;&lt;mtext&gt;&lt;/mtext&gt;&lt;mtext&gt;&lt;/mtext&gt;&lt;mtext&gt;&lt;/mtext&gt;&lt;mtext&gt;&lt;/mtext&gt;&lt;mtext&gt;&lt;/mtext&gt;&lt;mtext&gt;&lt;/mtext&gt;&lt;mtext&gt;&lt;/mtext&gt;&lt;mtext&gt;&lt;/mtext&gt;&lt;mfrac&gt;&lt;mn&gt;9&lt;/mn&gt;&lt;mn&gt;20&lt;/mn&gt;&lt;/mfrac&gt;&lt;mo&gt;−&lt;/mo&gt;&lt;mfrac&gt;&lt;mn&gt;3&lt;/mn&gt;&lt;mn&gt;5&lt;/mn&gt;&lt;/mfrac&gt;&lt;mo&gt;×&lt;/mo&gt;&lt;mfrac&gt;&lt;mn&gt;5&lt;/mn&gt;&lt;mn&gt;4&lt;/mn&gt;&lt;/mfrac&gt;&lt;/mtd&gt;&lt;/mtr&gt;&lt;mtr&gt;&lt;mtd&gt;&lt;mtext&gt;&lt;/mtext&gt;&lt;mtext&gt;&lt;/mtext&gt;&lt;mtext&gt;&lt;/mtext&gt;&lt;mtext&gt;&lt;/mtext&gt;&lt;mtext&gt;&lt;/mtext&gt;&lt;mtext&gt;&lt;/mtext&gt;&lt;mtext&gt;&lt;/mtext&gt;&lt;mtext&gt;&lt;/mtext&gt;&lt;mtext&gt;&lt;/mtext&gt;&lt;mfrac&gt;&lt;mn&gt;9&lt;/mn&gt;&lt;mn&gt;20&lt;/mn&gt;&lt;/mfrac&gt;&lt;mo&gt;−&lt;/mo&gt;&lt;mfrac&gt;&lt;mn&gt;15&lt;/mn&gt;&lt;mn&gt;20&lt;/mn&gt;&lt;/mfrac&gt;&lt;mo&gt;=&lt;/mo&gt;&lt;mrow data-mjx-texclass=&quot;INNER&quot;&gt;&lt;mo data-mjx-texclass=&quot;OPEN&quot;&gt;(&lt;/mo&gt;&lt;mo&gt;−&lt;/mo&gt;&lt;mfrac&gt;&lt;mn&gt;6&lt;/mn&gt;&lt;mn&gt;20&lt;/mn&gt;&lt;/mfrac&gt;&lt;mo data-mjx-texclass=&quot;CLOSE&quot;&gt;)&lt;/mo&gt;&lt;/mrow&gt;&lt;mo&gt;=&lt;/mo&gt;&lt;mrow data-mjx-texclass=&quot;INNER&quot;&gt;&lt;mo data-mjx-texclass=&quot;OPEN&quot;&gt;(&lt;/mo&gt;&lt;mo&gt;−&lt;/mo&gt;&lt;mfrac&gt;&lt;mn&gt;3&lt;/mn&gt;&lt;mn&gt;10&lt;/mn&gt;&lt;/mfrac&gt;&lt;mo data-mjx-texclass=&quot;CLOSE&quot;&gt;)&lt;/mo&gt;&lt;/mrow&gt;&lt;/mtd&gt;&lt;/mtr&gt;&lt;/mtable&gt;&lt;/math&gt;" id="1023" name="Google Shape;1023;p77" title="3 lines Line 1: nine tenths times one half minus three fifths divided by four fifths Line 2: 9 over 20 minus three fifths times five fourths Line 3: 9 over 20 minus 15 over 20 equals open paren negative 6 over 20 close paren equals negative three tenths"/>
          <p:cNvPicPr preferRelativeResize="0"/>
          <p:nvPr/>
        </p:nvPicPr>
        <p:blipFill rotWithShape="1">
          <a:blip r:embed="rId6">
            <a:alphaModFix/>
          </a:blip>
          <a:srcRect b="-6576" l="14153" r="50637" t="66181"/>
          <a:stretch/>
        </p:blipFill>
        <p:spPr>
          <a:xfrm>
            <a:off x="6799850" y="3108725"/>
            <a:ext cx="1625474" cy="697125"/>
          </a:xfrm>
          <a:prstGeom prst="rect">
            <a:avLst/>
          </a:prstGeom>
          <a:noFill/>
          <a:ln>
            <a:noFill/>
          </a:ln>
        </p:spPr>
      </p:pic>
      <p:pic>
        <p:nvPicPr>
          <p:cNvPr descr="&lt;math xmlns=&quot;http://www.w3.org/1998/Math/MathML&quot; display=&quot;block&quot; data-is-equatio=&quot;1&quot; data-latex=&quot;\begin{array}{l}\frac{9}{10}\times\frac{1}{2}-\frac{3}{5}\div\frac{4}{5}\\&amp;#13;&amp;#10;\ \ \ \ \ \ \ \ \frac{9}{20}-\frac{3}{5}\times\frac{5}{4}\\&amp;#13;&amp;#10;\ \ \ \ \ \ \ \ \ \frac{9}{20}-\frac{15}{20}=\left(-\frac{6}{20}\right)=\left(-\frac{3}{10}\right)\end{array}&quot;&gt;&lt;mtable columnalign=&quot;left&quot; columnspacing=&quot;1em&quot; rowspacing=&quot;4pt&quot;&gt;&lt;mtr&gt;&lt;mtd&gt;&lt;mfrac&gt;&lt;mn&gt;9&lt;/mn&gt;&lt;mn&gt;10&lt;/mn&gt;&lt;/mfrac&gt;&lt;mo&gt;×&lt;/mo&gt;&lt;mfrac&gt;&lt;mn&gt;1&lt;/mn&gt;&lt;mn&gt;2&lt;/mn&gt;&lt;/mfrac&gt;&lt;mo&gt;−&lt;/mo&gt;&lt;mfrac&gt;&lt;mn&gt;3&lt;/mn&gt;&lt;mn&gt;5&lt;/mn&gt;&lt;/mfrac&gt;&lt;mo&gt;÷&lt;/mo&gt;&lt;mfrac&gt;&lt;mn&gt;4&lt;/mn&gt;&lt;mn&gt;5&lt;/mn&gt;&lt;/mfrac&gt;&lt;/mtd&gt;&lt;/mtr&gt;&lt;mtr&gt;&lt;mtd&gt;&lt;mtext&gt;&lt;/mtext&gt;&lt;mtext&gt;&lt;/mtext&gt;&lt;mtext&gt;&lt;/mtext&gt;&lt;mtext&gt;&lt;/mtext&gt;&lt;mtext&gt;&lt;/mtext&gt;&lt;mtext&gt;&lt;/mtext&gt;&lt;mtext&gt;&lt;/mtext&gt;&lt;mtext&gt;&lt;/mtext&gt;&lt;mfrac&gt;&lt;mn&gt;9&lt;/mn&gt;&lt;mn&gt;20&lt;/mn&gt;&lt;/mfrac&gt;&lt;mo&gt;−&lt;/mo&gt;&lt;mfrac&gt;&lt;mn&gt;3&lt;/mn&gt;&lt;mn&gt;5&lt;/mn&gt;&lt;/mfrac&gt;&lt;mo&gt;×&lt;/mo&gt;&lt;mfrac&gt;&lt;mn&gt;5&lt;/mn&gt;&lt;mn&gt;4&lt;/mn&gt;&lt;/mfrac&gt;&lt;/mtd&gt;&lt;/mtr&gt;&lt;mtr&gt;&lt;mtd&gt;&lt;mtext&gt;&lt;/mtext&gt;&lt;mtext&gt;&lt;/mtext&gt;&lt;mtext&gt;&lt;/mtext&gt;&lt;mtext&gt;&lt;/mtext&gt;&lt;mtext&gt;&lt;/mtext&gt;&lt;mtext&gt;&lt;/mtext&gt;&lt;mtext&gt;&lt;/mtext&gt;&lt;mtext&gt;&lt;/mtext&gt;&lt;mtext&gt;&lt;/mtext&gt;&lt;mfrac&gt;&lt;mn&gt;9&lt;/mn&gt;&lt;mn&gt;20&lt;/mn&gt;&lt;/mfrac&gt;&lt;mo&gt;−&lt;/mo&gt;&lt;mfrac&gt;&lt;mn&gt;15&lt;/mn&gt;&lt;mn&gt;20&lt;/mn&gt;&lt;/mfrac&gt;&lt;mo&gt;=&lt;/mo&gt;&lt;mrow data-mjx-texclass=&quot;INNER&quot;&gt;&lt;mo data-mjx-texclass=&quot;OPEN&quot;&gt;(&lt;/mo&gt;&lt;mo&gt;−&lt;/mo&gt;&lt;mfrac&gt;&lt;mn&gt;6&lt;/mn&gt;&lt;mn&gt;20&lt;/mn&gt;&lt;/mfrac&gt;&lt;mo data-mjx-texclass=&quot;CLOSE&quot;&gt;)&lt;/mo&gt;&lt;/mrow&gt;&lt;mo&gt;=&lt;/mo&gt;&lt;mrow data-mjx-texclass=&quot;INNER&quot;&gt;&lt;mo data-mjx-texclass=&quot;OPEN&quot;&gt;(&lt;/mo&gt;&lt;mo&gt;−&lt;/mo&gt;&lt;mfrac&gt;&lt;mn&gt;3&lt;/mn&gt;&lt;mn&gt;10&lt;/mn&gt;&lt;/mfrac&gt;&lt;mo data-mjx-texclass=&quot;CLOSE&quot;&gt;)&lt;/mo&gt;&lt;/mrow&gt;&lt;/mtd&gt;&lt;/mtr&gt;&lt;/mtable&gt;&lt;/math&gt;" id="1024" name="Google Shape;1024;p77" title="3 lines Line 1: nine tenths times one half minus three fifths divided by four fifths Line 2: 9 over 20 minus three fifths times five fourths Line 3: 9 over 20 minus 15 over 20 equals open paren negative 6 over 20 close paren equals negative three tenths"/>
          <p:cNvPicPr preferRelativeResize="0"/>
          <p:nvPr/>
        </p:nvPicPr>
        <p:blipFill rotWithShape="1">
          <a:blip r:embed="rId6">
            <a:alphaModFix/>
          </a:blip>
          <a:srcRect b="-6576" l="49363" r="-1787" t="66181"/>
          <a:stretch/>
        </p:blipFill>
        <p:spPr>
          <a:xfrm>
            <a:off x="6842550" y="3860373"/>
            <a:ext cx="1989400" cy="57302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sp>
        <p:nvSpPr>
          <p:cNvPr id="1029" name="Google Shape;1029;p7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t>2) Work out the following using the priority of operations, giving your answer in its simplest form and a mixed number where possible.</a:t>
            </a:r>
            <a:endParaRPr sz="1900"/>
          </a:p>
          <a:p>
            <a:pPr indent="0" lvl="0" marL="0" rtl="0" algn="l">
              <a:spcBef>
                <a:spcPts val="1000"/>
              </a:spcBef>
              <a:spcAft>
                <a:spcPts val="0"/>
              </a:spcAft>
              <a:buNone/>
            </a:pPr>
            <a:r>
              <a:t/>
            </a:r>
            <a:endParaRPr sz="100"/>
          </a:p>
          <a:p>
            <a:pPr indent="-374650" lvl="0" marL="457200" rtl="0" algn="l">
              <a:spcBef>
                <a:spcPts val="1000"/>
              </a:spcBef>
              <a:spcAft>
                <a:spcPts val="0"/>
              </a:spcAft>
              <a:buSzPts val="2300"/>
              <a:buAutoNum type="alphaLcParenR"/>
            </a:pPr>
            <a:r>
              <a:t/>
            </a:r>
            <a:endParaRPr sz="1900"/>
          </a:p>
        </p:txBody>
      </p:sp>
      <p:sp>
        <p:nvSpPr>
          <p:cNvPr id="1030" name="Google Shape;1030;p7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Reviewing priority of operations</a:t>
            </a:r>
            <a:endParaRPr/>
          </a:p>
          <a:p>
            <a:pPr indent="0" lvl="0" marL="0" rtl="0" algn="l">
              <a:spcBef>
                <a:spcPts val="0"/>
              </a:spcBef>
              <a:spcAft>
                <a:spcPts val="1000"/>
              </a:spcAft>
              <a:buNone/>
            </a:pPr>
            <a:r>
              <a:t/>
            </a:r>
            <a:endParaRPr/>
          </a:p>
        </p:txBody>
      </p:sp>
      <p:pic>
        <p:nvPicPr>
          <p:cNvPr descr="&lt;math xmlns=&quot;http://www.w3.org/1998/Math/MathML&quot; display=&quot;block&quot; data-is-equatio=&quot;1&quot; data-latex=&quot;\begin{array}{l}2\frac{1}{2}+\ 3\frac{2}{3}\times\frac{3}{4}\\&amp;#13;&amp;#10;\frac{5}{2}+\frac{11}{3}\times\frac{3}{4}\\&amp;#13;&amp;#10;\frac{5}{2}+\frac{33}{12}=\frac{30}{12}+\frac{33}{12}=\frac{63}{12}=\frac{21}{4}=4\frac{1}{4}\end{array}&quot;&gt;&lt;mtable columnalign=&quot;left&quot; columnspacing=&quot;1em&quot; rowspacing=&quot;4pt&quot;&gt;&lt;mtr&gt;&lt;mtd&gt;&lt;mn&gt;2&lt;/mn&gt;&lt;mfrac&gt;&lt;mn&gt;1&lt;/mn&gt;&lt;mn&gt;2&lt;/mn&gt;&lt;/mfrac&gt;&lt;mo&gt;+&lt;/mo&gt;&lt;mtext&gt;&lt;/mtext&gt;&lt;mn&gt;3&lt;/mn&gt;&lt;mfrac&gt;&lt;mn&gt;2&lt;/mn&gt;&lt;mn&gt;3&lt;/mn&gt;&lt;/mfrac&gt;&lt;mo&gt;×&lt;/mo&gt;&lt;mfrac&gt;&lt;mn&gt;3&lt;/mn&gt;&lt;mn&gt;4&lt;/mn&gt;&lt;/mfrac&gt;&lt;/mtd&gt;&lt;/mtr&gt;&lt;mtr&gt;&lt;mtd&gt;&lt;mfrac&gt;&lt;mn&gt;5&lt;/mn&gt;&lt;mn&gt;2&lt;/mn&gt;&lt;/mfrac&gt;&lt;mo&gt;+&lt;/mo&gt;&lt;mfrac&gt;&lt;mn&gt;11&lt;/mn&gt;&lt;mn&gt;3&lt;/mn&gt;&lt;/mfrac&gt;&lt;mo&gt;×&lt;/mo&gt;&lt;mfrac&gt;&lt;mn&gt;3&lt;/mn&gt;&lt;mn&gt;4&lt;/mn&gt;&lt;/mfrac&gt;&lt;/mtd&gt;&lt;/mtr&gt;&lt;mtr&gt;&lt;mtd&gt;&lt;mfrac&gt;&lt;mn&gt;5&lt;/mn&gt;&lt;mn&gt;2&lt;/mn&gt;&lt;/mfrac&gt;&lt;mo&gt;+&lt;/mo&gt;&lt;mfrac&gt;&lt;mn&gt;33&lt;/mn&gt;&lt;mn&gt;12&lt;/mn&gt;&lt;/mfrac&gt;&lt;mo&gt;=&lt;/mo&gt;&lt;mfrac&gt;&lt;mn&gt;30&lt;/mn&gt;&lt;mn&gt;12&lt;/mn&gt;&lt;/mfrac&gt;&lt;mo&gt;+&lt;/mo&gt;&lt;mfrac&gt;&lt;mn&gt;33&lt;/mn&gt;&lt;mn&gt;12&lt;/mn&gt;&lt;/mfrac&gt;&lt;mo&gt;=&lt;/mo&gt;&lt;mfrac&gt;&lt;mn&gt;63&lt;/mn&gt;&lt;mn&gt;12&lt;/mn&gt;&lt;/mfrac&gt;&lt;mo&gt;=&lt;/mo&gt;&lt;mfrac&gt;&lt;mn&gt;21&lt;/mn&gt;&lt;mn&gt;4&lt;/mn&gt;&lt;/mfrac&gt;&lt;mo&gt;=&lt;/mo&gt;&lt;mn&gt;4&lt;/mn&gt;&lt;mfrac&gt;&lt;mn&gt;1&lt;/mn&gt;&lt;mn&gt;4&lt;/mn&gt;&lt;/mfrac&gt;&lt;/mtd&gt;&lt;/mtr&gt;&lt;/mtable&gt;&lt;/math&gt;" id="1031" name="Google Shape;1031;p78" title="3 lines Line 1: 2 and one half plus 3 and two thirds times three fourths Line 2: five halves plus eleven thirds times three fourths Line 3: five halves plus 33 over 12 equals 30 over 12 plus 33 over 12 equals 63 over 12 equals 21 over 4 equals 4 and one fourth"/>
          <p:cNvPicPr preferRelativeResize="0"/>
          <p:nvPr/>
        </p:nvPicPr>
        <p:blipFill rotWithShape="1">
          <a:blip r:embed="rId3">
            <a:alphaModFix/>
          </a:blip>
          <a:srcRect b="68887" l="0" r="58362" t="0"/>
          <a:stretch/>
        </p:blipFill>
        <p:spPr>
          <a:xfrm>
            <a:off x="715600" y="1618025"/>
            <a:ext cx="2345799" cy="601525"/>
          </a:xfrm>
          <a:prstGeom prst="rect">
            <a:avLst/>
          </a:prstGeom>
          <a:noFill/>
          <a:ln>
            <a:noFill/>
          </a:ln>
        </p:spPr>
      </p:pic>
      <p:pic>
        <p:nvPicPr>
          <p:cNvPr descr="&lt;math xmlns=&quot;http://www.w3.org/1998/Math/MathML&quot; display=&quot;block&quot; data-is-equatio=&quot;1&quot; data-latex=&quot;\begin{array}{l}2\frac{1}{2}+\ 3\frac{2}{3}\times\frac{3}{4}\\&amp;#13;&amp;#10;\frac{5}{2}+\frac{11}{3}\times\frac{3}{4}\\&amp;#13;&amp;#10;\frac{5}{2}+\frac{33}{12}=\frac{30}{12}+\frac{33}{12}=\frac{63}{12}=\frac{21}{4}=4\frac{1}{4}\end{array}&quot;&gt;&lt;mtable columnalign=&quot;left&quot; columnspacing=&quot;1em&quot; rowspacing=&quot;4pt&quot;&gt;&lt;mtr&gt;&lt;mtd&gt;&lt;mn&gt;2&lt;/mn&gt;&lt;mfrac&gt;&lt;mn&gt;1&lt;/mn&gt;&lt;mn&gt;2&lt;/mn&gt;&lt;/mfrac&gt;&lt;mo&gt;+&lt;/mo&gt;&lt;mtext&gt;&lt;/mtext&gt;&lt;mn&gt;3&lt;/mn&gt;&lt;mfrac&gt;&lt;mn&gt;2&lt;/mn&gt;&lt;mn&gt;3&lt;/mn&gt;&lt;/mfrac&gt;&lt;mo&gt;×&lt;/mo&gt;&lt;mfrac&gt;&lt;mn&gt;3&lt;/mn&gt;&lt;mn&gt;4&lt;/mn&gt;&lt;/mfrac&gt;&lt;/mtd&gt;&lt;/mtr&gt;&lt;mtr&gt;&lt;mtd&gt;&lt;mfrac&gt;&lt;mn&gt;5&lt;/mn&gt;&lt;mn&gt;2&lt;/mn&gt;&lt;/mfrac&gt;&lt;mo&gt;+&lt;/mo&gt;&lt;mfrac&gt;&lt;mn&gt;11&lt;/mn&gt;&lt;mn&gt;3&lt;/mn&gt;&lt;/mfrac&gt;&lt;mo&gt;×&lt;/mo&gt;&lt;mfrac&gt;&lt;mn&gt;3&lt;/mn&gt;&lt;mn&gt;4&lt;/mn&gt;&lt;/mfrac&gt;&lt;/mtd&gt;&lt;/mtr&gt;&lt;mtr&gt;&lt;mtd&gt;&lt;mfrac&gt;&lt;mn&gt;5&lt;/mn&gt;&lt;mn&gt;2&lt;/mn&gt;&lt;/mfrac&gt;&lt;mo&gt;+&lt;/mo&gt;&lt;mfrac&gt;&lt;mn&gt;33&lt;/mn&gt;&lt;mn&gt;12&lt;/mn&gt;&lt;/mfrac&gt;&lt;mo&gt;=&lt;/mo&gt;&lt;mfrac&gt;&lt;mn&gt;30&lt;/mn&gt;&lt;mn&gt;12&lt;/mn&gt;&lt;/mfrac&gt;&lt;mo&gt;+&lt;/mo&gt;&lt;mfrac&gt;&lt;mn&gt;33&lt;/mn&gt;&lt;mn&gt;12&lt;/mn&gt;&lt;/mfrac&gt;&lt;mo&gt;=&lt;/mo&gt;&lt;mfrac&gt;&lt;mn&gt;63&lt;/mn&gt;&lt;mn&gt;12&lt;/mn&gt;&lt;/mfrac&gt;&lt;mo&gt;=&lt;/mo&gt;&lt;mfrac&gt;&lt;mn&gt;21&lt;/mn&gt;&lt;mn&gt;4&lt;/mn&gt;&lt;/mfrac&gt;&lt;mo&gt;=&lt;/mo&gt;&lt;mn&gt;4&lt;/mn&gt;&lt;mfrac&gt;&lt;mn&gt;1&lt;/mn&gt;&lt;mn&gt;4&lt;/mn&gt;&lt;/mfrac&gt;&lt;/mtd&gt;&lt;/mtr&gt;&lt;/mtable&gt;&lt;/math&gt;" id="1032" name="Google Shape;1032;p78" title="3 lines Line 1: 2 and one half plus 3 and two thirds times three fourths Line 2: five halves plus eleven thirds times three fourths Line 3: five halves plus 33 over 12 equals 30 over 12 plus 33 over 12 equals 63 over 12 equals 21 over 4 equals 4 and one fourth"/>
          <p:cNvPicPr preferRelativeResize="0"/>
          <p:nvPr/>
        </p:nvPicPr>
        <p:blipFill rotWithShape="1">
          <a:blip r:embed="rId3">
            <a:alphaModFix/>
          </a:blip>
          <a:srcRect b="34445" l="-1919" r="63373" t="34441"/>
          <a:stretch/>
        </p:blipFill>
        <p:spPr>
          <a:xfrm>
            <a:off x="769725" y="2295750"/>
            <a:ext cx="2171599" cy="601525"/>
          </a:xfrm>
          <a:prstGeom prst="rect">
            <a:avLst/>
          </a:prstGeom>
          <a:noFill/>
          <a:ln>
            <a:noFill/>
          </a:ln>
        </p:spPr>
      </p:pic>
      <p:pic>
        <p:nvPicPr>
          <p:cNvPr descr="&lt;math xmlns=&quot;http://www.w3.org/1998/Math/MathML&quot; display=&quot;block&quot; data-is-equatio=&quot;1&quot; data-latex=&quot;\begin{array}{l}2\frac{1}{2}+\ 3\frac{2}{3}\times\frac{3}{4}\\&amp;#13;&amp;#10;\frac{5}{2}+\frac{11}{3}\times\frac{3}{4}\\&amp;#13;&amp;#10;\frac{5}{2}+\frac{33}{12}=\frac{30}{12}+\frac{33}{12}=\frac{63}{12}=\frac{21}{4}=4\frac{1}{4}\end{array}&quot;&gt;&lt;mtable columnalign=&quot;left&quot; columnspacing=&quot;1em&quot; rowspacing=&quot;4pt&quot;&gt;&lt;mtr&gt;&lt;mtd&gt;&lt;mn&gt;2&lt;/mn&gt;&lt;mfrac&gt;&lt;mn&gt;1&lt;/mn&gt;&lt;mn&gt;2&lt;/mn&gt;&lt;/mfrac&gt;&lt;mo&gt;+&lt;/mo&gt;&lt;mtext&gt;&lt;/mtext&gt;&lt;mn&gt;3&lt;/mn&gt;&lt;mfrac&gt;&lt;mn&gt;2&lt;/mn&gt;&lt;mn&gt;3&lt;/mn&gt;&lt;/mfrac&gt;&lt;mo&gt;×&lt;/mo&gt;&lt;mfrac&gt;&lt;mn&gt;3&lt;/mn&gt;&lt;mn&gt;4&lt;/mn&gt;&lt;/mfrac&gt;&lt;/mtd&gt;&lt;/mtr&gt;&lt;mtr&gt;&lt;mtd&gt;&lt;mfrac&gt;&lt;mn&gt;5&lt;/mn&gt;&lt;mn&gt;2&lt;/mn&gt;&lt;/mfrac&gt;&lt;mo&gt;+&lt;/mo&gt;&lt;mfrac&gt;&lt;mn&gt;11&lt;/mn&gt;&lt;mn&gt;3&lt;/mn&gt;&lt;/mfrac&gt;&lt;mo&gt;×&lt;/mo&gt;&lt;mfrac&gt;&lt;mn&gt;3&lt;/mn&gt;&lt;mn&gt;4&lt;/mn&gt;&lt;/mfrac&gt;&lt;/mtd&gt;&lt;/mtr&gt;&lt;mtr&gt;&lt;mtd&gt;&lt;mfrac&gt;&lt;mn&gt;5&lt;/mn&gt;&lt;mn&gt;2&lt;/mn&gt;&lt;/mfrac&gt;&lt;mo&gt;+&lt;/mo&gt;&lt;mfrac&gt;&lt;mn&gt;33&lt;/mn&gt;&lt;mn&gt;12&lt;/mn&gt;&lt;/mfrac&gt;&lt;mo&gt;=&lt;/mo&gt;&lt;mfrac&gt;&lt;mn&gt;30&lt;/mn&gt;&lt;mn&gt;12&lt;/mn&gt;&lt;/mfrac&gt;&lt;mo&gt;+&lt;/mo&gt;&lt;mfrac&gt;&lt;mn&gt;33&lt;/mn&gt;&lt;mn&gt;12&lt;/mn&gt;&lt;/mfrac&gt;&lt;mo&gt;=&lt;/mo&gt;&lt;mfrac&gt;&lt;mn&gt;63&lt;/mn&gt;&lt;mn&gt;12&lt;/mn&gt;&lt;/mfrac&gt;&lt;mo&gt;=&lt;/mo&gt;&lt;mfrac&gt;&lt;mn&gt;21&lt;/mn&gt;&lt;mn&gt;4&lt;/mn&gt;&lt;/mfrac&gt;&lt;mo&gt;=&lt;/mo&gt;&lt;mn&gt;4&lt;/mn&gt;&lt;mfrac&gt;&lt;mn&gt;1&lt;/mn&gt;&lt;mn&gt;4&lt;/mn&gt;&lt;/mfrac&gt;&lt;/mtd&gt;&lt;/mtr&gt;&lt;/mtable&gt;&lt;/math&gt;" id="1033" name="Google Shape;1033;p78" title="3 lines Line 1: 2 and one half plus 3 and two thirds times three fourths Line 2: five halves plus eleven thirds times three fourths Line 3: five halves plus 33 over 12 equals 30 over 12 plus 33 over 12 equals 63 over 12 equals 21 over 4 equals 4 and one fourth"/>
          <p:cNvPicPr preferRelativeResize="0"/>
          <p:nvPr/>
        </p:nvPicPr>
        <p:blipFill rotWithShape="1">
          <a:blip r:embed="rId3">
            <a:alphaModFix/>
          </a:blip>
          <a:srcRect b="-5486" l="-1725" r="78499" t="68086"/>
          <a:stretch/>
        </p:blipFill>
        <p:spPr>
          <a:xfrm>
            <a:off x="769725" y="2973050"/>
            <a:ext cx="1308525" cy="723075"/>
          </a:xfrm>
          <a:prstGeom prst="rect">
            <a:avLst/>
          </a:prstGeom>
          <a:noFill/>
          <a:ln>
            <a:noFill/>
          </a:ln>
        </p:spPr>
      </p:pic>
      <p:pic>
        <p:nvPicPr>
          <p:cNvPr descr="&lt;math xmlns=&quot;http://www.w3.org/1998/Math/MathML&quot; display=&quot;block&quot; data-is-equatio=&quot;1&quot; data-latex=&quot;\begin{array}{l}2\frac{1}{2}+\ 3\frac{2}{3}\times\frac{3}{4}\\&amp;#13;&amp;#10;\frac{5}{2}+\frac{11}{3}\times\frac{3}{4}\\&amp;#13;&amp;#10;\frac{5}{2}+\frac{33}{12}=\frac{30}{12}+\frac{33}{12}=\frac{63}{12}=\frac{21}{4}=4\frac{1}{4}\end{array}&quot;&gt;&lt;mtable columnalign=&quot;left&quot; columnspacing=&quot;1em&quot; rowspacing=&quot;4pt&quot;&gt;&lt;mtr&gt;&lt;mtd&gt;&lt;mn&gt;2&lt;/mn&gt;&lt;mfrac&gt;&lt;mn&gt;1&lt;/mn&gt;&lt;mn&gt;2&lt;/mn&gt;&lt;/mfrac&gt;&lt;mo&gt;+&lt;/mo&gt;&lt;mtext&gt;&lt;/mtext&gt;&lt;mn&gt;3&lt;/mn&gt;&lt;mfrac&gt;&lt;mn&gt;2&lt;/mn&gt;&lt;mn&gt;3&lt;/mn&gt;&lt;/mfrac&gt;&lt;mo&gt;×&lt;/mo&gt;&lt;mfrac&gt;&lt;mn&gt;3&lt;/mn&gt;&lt;mn&gt;4&lt;/mn&gt;&lt;/mfrac&gt;&lt;/mtd&gt;&lt;/mtr&gt;&lt;mtr&gt;&lt;mtd&gt;&lt;mfrac&gt;&lt;mn&gt;5&lt;/mn&gt;&lt;mn&gt;2&lt;/mn&gt;&lt;/mfrac&gt;&lt;mo&gt;+&lt;/mo&gt;&lt;mfrac&gt;&lt;mn&gt;11&lt;/mn&gt;&lt;mn&gt;3&lt;/mn&gt;&lt;/mfrac&gt;&lt;mo&gt;×&lt;/mo&gt;&lt;mfrac&gt;&lt;mn&gt;3&lt;/mn&gt;&lt;mn&gt;4&lt;/mn&gt;&lt;/mfrac&gt;&lt;/mtd&gt;&lt;/mtr&gt;&lt;mtr&gt;&lt;mtd&gt;&lt;mfrac&gt;&lt;mn&gt;5&lt;/mn&gt;&lt;mn&gt;2&lt;/mn&gt;&lt;/mfrac&gt;&lt;mo&gt;+&lt;/mo&gt;&lt;mfrac&gt;&lt;mn&gt;33&lt;/mn&gt;&lt;mn&gt;12&lt;/mn&gt;&lt;/mfrac&gt;&lt;mo&gt;=&lt;/mo&gt;&lt;mfrac&gt;&lt;mn&gt;30&lt;/mn&gt;&lt;mn&gt;12&lt;/mn&gt;&lt;/mfrac&gt;&lt;mo&gt;+&lt;/mo&gt;&lt;mfrac&gt;&lt;mn&gt;33&lt;/mn&gt;&lt;mn&gt;12&lt;/mn&gt;&lt;/mfrac&gt;&lt;mo&gt;=&lt;/mo&gt;&lt;mfrac&gt;&lt;mn&gt;63&lt;/mn&gt;&lt;mn&gt;12&lt;/mn&gt;&lt;/mfrac&gt;&lt;mo&gt;=&lt;/mo&gt;&lt;mfrac&gt;&lt;mn&gt;21&lt;/mn&gt;&lt;mn&gt;4&lt;/mn&gt;&lt;/mfrac&gt;&lt;mo&gt;=&lt;/mo&gt;&lt;mn&gt;4&lt;/mn&gt;&lt;mfrac&gt;&lt;mn&gt;1&lt;/mn&gt;&lt;mn&gt;4&lt;/mn&gt;&lt;/mfrac&gt;&lt;/mtd&gt;&lt;/mtr&gt;&lt;/mtable&gt;&lt;/math&gt;" id="1034" name="Google Shape;1034;p78" title="3 lines Line 1: 2 and one half plus 3 and two thirds times three fourths Line 2: five halves plus eleven thirds times three fourths Line 3: five halves plus 33 over 12 equals 30 over 12 plus 33 over 12 equals 63 over 12 equals 21 over 4 equals 4 and one fourth"/>
          <p:cNvPicPr preferRelativeResize="0"/>
          <p:nvPr/>
        </p:nvPicPr>
        <p:blipFill rotWithShape="1">
          <a:blip r:embed="rId3">
            <a:alphaModFix/>
          </a:blip>
          <a:srcRect b="-5486" l="28757" r="48015" t="68086"/>
          <a:stretch/>
        </p:blipFill>
        <p:spPr>
          <a:xfrm>
            <a:off x="769725" y="3771900"/>
            <a:ext cx="1308525" cy="723075"/>
          </a:xfrm>
          <a:prstGeom prst="rect">
            <a:avLst/>
          </a:prstGeom>
          <a:noFill/>
          <a:ln>
            <a:noFill/>
          </a:ln>
        </p:spPr>
      </p:pic>
      <p:pic>
        <p:nvPicPr>
          <p:cNvPr descr="&lt;math xmlns=&quot;http://www.w3.org/1998/Math/MathML&quot; display=&quot;block&quot; data-is-equatio=&quot;1&quot; data-latex=&quot;\begin{array}{l}2\frac{1}{2}+\ 3\frac{2}{3}\times\frac{3}{4}\\&amp;#13;&amp;#10;\frac{5}{2}+\frac{11}{3}\times\frac{3}{4}\\&amp;#13;&amp;#10;\frac{5}{2}+\frac{33}{12}=\frac{30}{12}+\frac{33}{12}=\frac{63}{12}=\frac{21}{4}=4\frac{1}{4}\end{array}&quot;&gt;&lt;mtable columnalign=&quot;left&quot; columnspacing=&quot;1em&quot; rowspacing=&quot;4pt&quot;&gt;&lt;mtr&gt;&lt;mtd&gt;&lt;mn&gt;2&lt;/mn&gt;&lt;mfrac&gt;&lt;mn&gt;1&lt;/mn&gt;&lt;mn&gt;2&lt;/mn&gt;&lt;/mfrac&gt;&lt;mo&gt;+&lt;/mo&gt;&lt;mtext&gt;&lt;/mtext&gt;&lt;mn&gt;3&lt;/mn&gt;&lt;mfrac&gt;&lt;mn&gt;2&lt;/mn&gt;&lt;mn&gt;3&lt;/mn&gt;&lt;/mfrac&gt;&lt;mo&gt;×&lt;/mo&gt;&lt;mfrac&gt;&lt;mn&gt;3&lt;/mn&gt;&lt;mn&gt;4&lt;/mn&gt;&lt;/mfrac&gt;&lt;/mtd&gt;&lt;/mtr&gt;&lt;mtr&gt;&lt;mtd&gt;&lt;mfrac&gt;&lt;mn&gt;5&lt;/mn&gt;&lt;mn&gt;2&lt;/mn&gt;&lt;/mfrac&gt;&lt;mo&gt;+&lt;/mo&gt;&lt;mfrac&gt;&lt;mn&gt;11&lt;/mn&gt;&lt;mn&gt;3&lt;/mn&gt;&lt;/mfrac&gt;&lt;mo&gt;×&lt;/mo&gt;&lt;mfrac&gt;&lt;mn&gt;3&lt;/mn&gt;&lt;mn&gt;4&lt;/mn&gt;&lt;/mfrac&gt;&lt;/mtd&gt;&lt;/mtr&gt;&lt;mtr&gt;&lt;mtd&gt;&lt;mfrac&gt;&lt;mn&gt;5&lt;/mn&gt;&lt;mn&gt;2&lt;/mn&gt;&lt;/mfrac&gt;&lt;mo&gt;+&lt;/mo&gt;&lt;mfrac&gt;&lt;mn&gt;33&lt;/mn&gt;&lt;mn&gt;12&lt;/mn&gt;&lt;/mfrac&gt;&lt;mo&gt;=&lt;/mo&gt;&lt;mfrac&gt;&lt;mn&gt;30&lt;/mn&gt;&lt;mn&gt;12&lt;/mn&gt;&lt;/mfrac&gt;&lt;mo&gt;+&lt;/mo&gt;&lt;mfrac&gt;&lt;mn&gt;33&lt;/mn&gt;&lt;mn&gt;12&lt;/mn&gt;&lt;/mfrac&gt;&lt;mo&gt;=&lt;/mo&gt;&lt;mfrac&gt;&lt;mn&gt;63&lt;/mn&gt;&lt;mn&gt;12&lt;/mn&gt;&lt;/mfrac&gt;&lt;mo&gt;=&lt;/mo&gt;&lt;mfrac&gt;&lt;mn&gt;21&lt;/mn&gt;&lt;mn&gt;4&lt;/mn&gt;&lt;/mfrac&gt;&lt;mo&gt;=&lt;/mo&gt;&lt;mn&gt;4&lt;/mn&gt;&lt;mfrac&gt;&lt;mn&gt;1&lt;/mn&gt;&lt;mn&gt;4&lt;/mn&gt;&lt;/mfrac&gt;&lt;/mtd&gt;&lt;/mtr&gt;&lt;/mtable&gt;&lt;/math&gt;" id="1035" name="Google Shape;1035;p78" title="3 lines Line 1: 2 and one half plus 3 and two thirds times three fourths Line 2: five halves plus eleven thirds times three fourths Line 3: five halves plus 33 over 12 equals 30 over 12 plus 33 over 12 equals 63 over 12 equals 21 over 4 equals 4 and one fourth"/>
          <p:cNvPicPr preferRelativeResize="0"/>
          <p:nvPr/>
        </p:nvPicPr>
        <p:blipFill rotWithShape="1">
          <a:blip r:embed="rId3">
            <a:alphaModFix/>
          </a:blip>
          <a:srcRect b="-5486" l="51936" r="31117" t="68086"/>
          <a:stretch/>
        </p:blipFill>
        <p:spPr>
          <a:xfrm>
            <a:off x="1986650" y="3771900"/>
            <a:ext cx="954674" cy="723075"/>
          </a:xfrm>
          <a:prstGeom prst="rect">
            <a:avLst/>
          </a:prstGeom>
          <a:noFill/>
          <a:ln>
            <a:noFill/>
          </a:ln>
        </p:spPr>
      </p:pic>
      <p:pic>
        <p:nvPicPr>
          <p:cNvPr descr="&lt;math xmlns=&quot;http://www.w3.org/1998/Math/MathML&quot; display=&quot;block&quot; data-is-equatio=&quot;1&quot; data-latex=&quot;\begin{array}{l}2\frac{1}{2}+\ 3\frac{2}{3}\times\frac{3}{4}\\&amp;#13;&amp;#10;\frac{5}{2}+\frac{11}{3}\times\frac{3}{4}\\&amp;#13;&amp;#10;\frac{5}{2}+\frac{33}{12}=\frac{30}{12}+\frac{33}{12}=\frac{63}{12}=\frac{21}{4}=4\frac{1}{4}\end{array}&quot;&gt;&lt;mtable columnalign=&quot;left&quot; columnspacing=&quot;1em&quot; rowspacing=&quot;4pt&quot;&gt;&lt;mtr&gt;&lt;mtd&gt;&lt;mn&gt;2&lt;/mn&gt;&lt;mfrac&gt;&lt;mn&gt;1&lt;/mn&gt;&lt;mn&gt;2&lt;/mn&gt;&lt;/mfrac&gt;&lt;mo&gt;+&lt;/mo&gt;&lt;mtext&gt;&lt;/mtext&gt;&lt;mn&gt;3&lt;/mn&gt;&lt;mfrac&gt;&lt;mn&gt;2&lt;/mn&gt;&lt;mn&gt;3&lt;/mn&gt;&lt;/mfrac&gt;&lt;mo&gt;×&lt;/mo&gt;&lt;mfrac&gt;&lt;mn&gt;3&lt;/mn&gt;&lt;mn&gt;4&lt;/mn&gt;&lt;/mfrac&gt;&lt;/mtd&gt;&lt;/mtr&gt;&lt;mtr&gt;&lt;mtd&gt;&lt;mfrac&gt;&lt;mn&gt;5&lt;/mn&gt;&lt;mn&gt;2&lt;/mn&gt;&lt;/mfrac&gt;&lt;mo&gt;+&lt;/mo&gt;&lt;mfrac&gt;&lt;mn&gt;11&lt;/mn&gt;&lt;mn&gt;3&lt;/mn&gt;&lt;/mfrac&gt;&lt;mo&gt;×&lt;/mo&gt;&lt;mfrac&gt;&lt;mn&gt;3&lt;/mn&gt;&lt;mn&gt;4&lt;/mn&gt;&lt;/mfrac&gt;&lt;/mtd&gt;&lt;/mtr&gt;&lt;mtr&gt;&lt;mtd&gt;&lt;mfrac&gt;&lt;mn&gt;5&lt;/mn&gt;&lt;mn&gt;2&lt;/mn&gt;&lt;/mfrac&gt;&lt;mo&gt;+&lt;/mo&gt;&lt;mfrac&gt;&lt;mn&gt;33&lt;/mn&gt;&lt;mn&gt;12&lt;/mn&gt;&lt;/mfrac&gt;&lt;mo&gt;=&lt;/mo&gt;&lt;mfrac&gt;&lt;mn&gt;30&lt;/mn&gt;&lt;mn&gt;12&lt;/mn&gt;&lt;/mfrac&gt;&lt;mo&gt;+&lt;/mo&gt;&lt;mfrac&gt;&lt;mn&gt;33&lt;/mn&gt;&lt;mn&gt;12&lt;/mn&gt;&lt;/mfrac&gt;&lt;mo&gt;=&lt;/mo&gt;&lt;mfrac&gt;&lt;mn&gt;63&lt;/mn&gt;&lt;mn&gt;12&lt;/mn&gt;&lt;/mfrac&gt;&lt;mo&gt;=&lt;/mo&gt;&lt;mfrac&gt;&lt;mn&gt;21&lt;/mn&gt;&lt;mn&gt;4&lt;/mn&gt;&lt;/mfrac&gt;&lt;mo&gt;=&lt;/mo&gt;&lt;mn&gt;4&lt;/mn&gt;&lt;mfrac&gt;&lt;mn&gt;1&lt;/mn&gt;&lt;mn&gt;4&lt;/mn&gt;&lt;/mfrac&gt;&lt;/mtd&gt;&lt;/mtr&gt;&lt;/mtable&gt;&lt;/math&gt;" id="1036" name="Google Shape;1036;p78" title="3 lines Line 1: 2 and one half plus 3 and two thirds times three fourths Line 2: five halves plus eleven thirds times three fourths Line 3: five halves plus 33 over 12 equals 30 over 12 plus 33 over 12 equals 63 over 12 equals 21 over 4 equals 4 and one fourth"/>
          <p:cNvPicPr preferRelativeResize="0"/>
          <p:nvPr/>
        </p:nvPicPr>
        <p:blipFill rotWithShape="1">
          <a:blip r:embed="rId3">
            <a:alphaModFix/>
          </a:blip>
          <a:srcRect b="-5486" l="69076" r="15820" t="68086"/>
          <a:stretch/>
        </p:blipFill>
        <p:spPr>
          <a:xfrm>
            <a:off x="2887200" y="3771900"/>
            <a:ext cx="850799" cy="723075"/>
          </a:xfrm>
          <a:prstGeom prst="rect">
            <a:avLst/>
          </a:prstGeom>
          <a:noFill/>
          <a:ln>
            <a:noFill/>
          </a:ln>
        </p:spPr>
      </p:pic>
      <p:cxnSp>
        <p:nvCxnSpPr>
          <p:cNvPr id="1037" name="Google Shape;1037;p78"/>
          <p:cNvCxnSpPr/>
          <p:nvPr/>
        </p:nvCxnSpPr>
        <p:spPr>
          <a:xfrm>
            <a:off x="4790730" y="1644475"/>
            <a:ext cx="0" cy="3074100"/>
          </a:xfrm>
          <a:prstGeom prst="straightConnector1">
            <a:avLst/>
          </a:prstGeom>
          <a:noFill/>
          <a:ln cap="flat" cmpd="sng" w="28575">
            <a:solidFill>
              <a:schemeClr val="accent4"/>
            </a:solidFill>
            <a:prstDash val="solid"/>
            <a:round/>
            <a:headEnd len="med" w="med" type="none"/>
            <a:tailEnd len="med" w="med" type="none"/>
          </a:ln>
        </p:spPr>
      </p:cxnSp>
      <p:sp>
        <p:nvSpPr>
          <p:cNvPr id="1038" name="Google Shape;1038;p78"/>
          <p:cNvSpPr txBox="1"/>
          <p:nvPr/>
        </p:nvSpPr>
        <p:spPr>
          <a:xfrm>
            <a:off x="4769075" y="1553063"/>
            <a:ext cx="6036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b)</a:t>
            </a:r>
            <a:endParaRPr/>
          </a:p>
        </p:txBody>
      </p:sp>
      <p:pic>
        <p:nvPicPr>
          <p:cNvPr descr="&lt;math xmlns=&quot;http://www.w3.org/1998/Math/MathML&quot; display=&quot;block&quot; data-is-equatio=&quot;1&quot; data-latex=&quot;\begin{array}{l}2\frac{1}{4}\times\frac{4}{5}-\frac{3}{5}\div1\frac{3}{10}\\&amp;#13;&amp;#10;\ \ \frac{9}{4}\times\frac{4}{5}-\frac{3}{5}\div\frac{13}{10}\\&amp;#13;&amp;#10;\ \ \ \frac{36}{20}-\frac{3}{5}\times\frac{10}{13}\\&amp;#13;&amp;#10;\ \ \ \ \ \frac{36}{20}-\frac{30}{65}=\frac{9}{5}-\frac{6}{13}=\frac{117}{65}-\frac{30}{65}=\frac{87}{65}=1\frac{22}{65}\end{array}&quot;&gt;&lt;mtable columnalign=&quot;left&quot; columnspacing=&quot;1em&quot; rowspacing=&quot;4pt&quot;&gt;&lt;mtr&gt;&lt;mtd&gt;&lt;mn&gt;2&lt;/mn&gt;&lt;mfrac&gt;&lt;mn&gt;1&lt;/mn&gt;&lt;mn&gt;4&lt;/mn&gt;&lt;/mfrac&gt;&lt;mo&gt;×&lt;/mo&gt;&lt;mfrac&gt;&lt;mn&gt;4&lt;/mn&gt;&lt;mn&gt;5&lt;/mn&gt;&lt;/mfrac&gt;&lt;mo&gt;−&lt;/mo&gt;&lt;mfrac&gt;&lt;mn&gt;3&lt;/mn&gt;&lt;mn&gt;5&lt;/mn&gt;&lt;/mfrac&gt;&lt;mo&gt;÷&lt;/mo&gt;&lt;mn&gt;1&lt;/mn&gt;&lt;mfrac&gt;&lt;mn&gt;3&lt;/mn&gt;&lt;mn&gt;10&lt;/mn&gt;&lt;/mfrac&gt;&lt;/mtd&gt;&lt;/mtr&gt;&lt;mtr&gt;&lt;mtd&gt;&lt;mtext&gt;&lt;/mtext&gt;&lt;mtext&gt;&lt;/mtext&gt;&lt;mfrac&gt;&lt;mn&gt;9&lt;/mn&gt;&lt;mn&gt;4&lt;/mn&gt;&lt;/mfrac&gt;&lt;mo&gt;×&lt;/mo&gt;&lt;mfrac&gt;&lt;mn&gt;4&lt;/mn&gt;&lt;mn&gt;5&lt;/mn&gt;&lt;/mfrac&gt;&lt;mo&gt;−&lt;/mo&gt;&lt;mfrac&gt;&lt;mn&gt;3&lt;/mn&gt;&lt;mn&gt;5&lt;/mn&gt;&lt;/mfrac&gt;&lt;mo&gt;÷&lt;/mo&gt;&lt;mfrac&gt;&lt;mn&gt;13&lt;/mn&gt;&lt;mn&gt;10&lt;/mn&gt;&lt;/mfrac&gt;&lt;/mtd&gt;&lt;/mtr&gt;&lt;mtr&gt;&lt;mtd&gt;&lt;mtext&gt;&lt;/mtext&gt;&lt;mtext&gt;&lt;/mtext&gt;&lt;mtext&gt;&lt;/mtext&gt;&lt;mfrac&gt;&lt;mn&gt;36&lt;/mn&gt;&lt;mn&gt;20&lt;/mn&gt;&lt;/mfrac&gt;&lt;mo&gt;−&lt;/mo&gt;&lt;mfrac&gt;&lt;mn&gt;3&lt;/mn&gt;&lt;mn&gt;5&lt;/mn&gt;&lt;/mfrac&gt;&lt;mo&gt;×&lt;/mo&gt;&lt;mfrac&gt;&lt;mn&gt;10&lt;/mn&gt;&lt;mn&gt;13&lt;/mn&gt;&lt;/mfrac&gt;&lt;/mtd&gt;&lt;/mtr&gt;&lt;mtr&gt;&lt;mtd&gt;&lt;mtext&gt;&lt;/mtext&gt;&lt;mtext&gt;&lt;/mtext&gt;&lt;mtext&gt;&lt;/mtext&gt;&lt;mtext&gt;&lt;/mtext&gt;&lt;mtext&gt;&lt;/mtext&gt;&lt;mfrac&gt;&lt;mn&gt;36&lt;/mn&gt;&lt;mn&gt;20&lt;/mn&gt;&lt;/mfrac&gt;&lt;mo&gt;−&lt;/mo&gt;&lt;mfrac&gt;&lt;mn&gt;30&lt;/mn&gt;&lt;mn&gt;65&lt;/mn&gt;&lt;/mfrac&gt;&lt;mo&gt;=&lt;/mo&gt;&lt;mfrac&gt;&lt;mn&gt;9&lt;/mn&gt;&lt;mn&gt;5&lt;/mn&gt;&lt;/mfrac&gt;&lt;mo&gt;−&lt;/mo&gt;&lt;mfrac&gt;&lt;mn&gt;6&lt;/mn&gt;&lt;mn&gt;13&lt;/mn&gt;&lt;/mfrac&gt;&lt;mo&gt;=&lt;/mo&gt;&lt;mfrac&gt;&lt;mn&gt;117&lt;/mn&gt;&lt;mn&gt;65&lt;/mn&gt;&lt;/mfrac&gt;&lt;mo&gt;−&lt;/mo&gt;&lt;mfrac&gt;&lt;mn&gt;30&lt;/mn&gt;&lt;mn&gt;65&lt;/mn&gt;&lt;/mfrac&gt;&lt;mo&gt;=&lt;/mo&gt;&lt;mfrac&gt;&lt;mn&gt;87&lt;/mn&gt;&lt;mn&gt;65&lt;/mn&gt;&lt;/mfrac&gt;&lt;mo&gt;=&lt;/mo&gt;&lt;mn&gt;1&lt;/mn&gt;&lt;mfrac&gt;&lt;mn&gt;22&lt;/mn&gt;&lt;mn&gt;65&lt;/mn&gt;&lt;/mfrac&gt;&lt;/mtd&gt;&lt;/mtr&gt;&lt;/mtable&gt;&lt;/math&gt;" id="1039" name="Google Shape;1039;p78" title="4 lines Line 1: 2 and one fourth times four fifths minus three fifths divided by 1 and three tenths Line 2: nine fourths times four fifths minus three fifths divided by thirteen tenths Line 3: 36 over 20 minus three fifths times 10 over 13 Line 4: 36 over 20 minus 30 over 65 equals nine fifths minus 6 over 13 equals 117 over 65 minus 30 over 65 equals 87 over 65 equals 1 and 22 over 65"/>
          <p:cNvPicPr preferRelativeResize="0"/>
          <p:nvPr/>
        </p:nvPicPr>
        <p:blipFill rotWithShape="1">
          <a:blip r:embed="rId4">
            <a:alphaModFix/>
          </a:blip>
          <a:srcRect b="77178" l="0" r="56941" t="0"/>
          <a:stretch/>
        </p:blipFill>
        <p:spPr>
          <a:xfrm>
            <a:off x="5350900" y="1553075"/>
            <a:ext cx="2944675" cy="580676"/>
          </a:xfrm>
          <a:prstGeom prst="rect">
            <a:avLst/>
          </a:prstGeom>
          <a:noFill/>
          <a:ln>
            <a:noFill/>
          </a:ln>
        </p:spPr>
      </p:pic>
      <p:pic>
        <p:nvPicPr>
          <p:cNvPr descr="&lt;math xmlns=&quot;http://www.w3.org/1998/Math/MathML&quot; display=&quot;block&quot; data-is-equatio=&quot;1&quot; data-latex=&quot;\begin{array}{l}2\frac{1}{4}\times\frac{4}{5}-\frac{3}{5}\div1\frac{3}{10}\\&amp;#13;&amp;#10;\ \ \frac{9}{4}\times\frac{4}{5}-\frac{3}{5}\div\frac{13}{10}\\&amp;#13;&amp;#10;\ \ \ \frac{36}{20}-\frac{3}{5}\times\frac{10}{13}\\&amp;#13;&amp;#10;\ \ \ \ \ \frac{36}{20}-\frac{30}{65}=\frac{9}{5}-\frac{6}{13}=\frac{117}{65}-\frac{30}{65}=\frac{87}{65}=1\frac{22}{65}\end{array}&quot;&gt;&lt;mtable columnalign=&quot;left&quot; columnspacing=&quot;1em&quot; rowspacing=&quot;4pt&quot;&gt;&lt;mtr&gt;&lt;mtd&gt;&lt;mn&gt;2&lt;/mn&gt;&lt;mfrac&gt;&lt;mn&gt;1&lt;/mn&gt;&lt;mn&gt;4&lt;/mn&gt;&lt;/mfrac&gt;&lt;mo&gt;×&lt;/mo&gt;&lt;mfrac&gt;&lt;mn&gt;4&lt;/mn&gt;&lt;mn&gt;5&lt;/mn&gt;&lt;/mfrac&gt;&lt;mo&gt;−&lt;/mo&gt;&lt;mfrac&gt;&lt;mn&gt;3&lt;/mn&gt;&lt;mn&gt;5&lt;/mn&gt;&lt;/mfrac&gt;&lt;mo&gt;÷&lt;/mo&gt;&lt;mn&gt;1&lt;/mn&gt;&lt;mfrac&gt;&lt;mn&gt;3&lt;/mn&gt;&lt;mn&gt;10&lt;/mn&gt;&lt;/mfrac&gt;&lt;/mtd&gt;&lt;/mtr&gt;&lt;mtr&gt;&lt;mtd&gt;&lt;mtext&gt;&lt;/mtext&gt;&lt;mtext&gt;&lt;/mtext&gt;&lt;mfrac&gt;&lt;mn&gt;9&lt;/mn&gt;&lt;mn&gt;4&lt;/mn&gt;&lt;/mfrac&gt;&lt;mo&gt;×&lt;/mo&gt;&lt;mfrac&gt;&lt;mn&gt;4&lt;/mn&gt;&lt;mn&gt;5&lt;/mn&gt;&lt;/mfrac&gt;&lt;mo&gt;−&lt;/mo&gt;&lt;mfrac&gt;&lt;mn&gt;3&lt;/mn&gt;&lt;mn&gt;5&lt;/mn&gt;&lt;/mfrac&gt;&lt;mo&gt;÷&lt;/mo&gt;&lt;mfrac&gt;&lt;mn&gt;13&lt;/mn&gt;&lt;mn&gt;10&lt;/mn&gt;&lt;/mfrac&gt;&lt;/mtd&gt;&lt;/mtr&gt;&lt;mtr&gt;&lt;mtd&gt;&lt;mtext&gt;&lt;/mtext&gt;&lt;mtext&gt;&lt;/mtext&gt;&lt;mtext&gt;&lt;/mtext&gt;&lt;mfrac&gt;&lt;mn&gt;36&lt;/mn&gt;&lt;mn&gt;20&lt;/mn&gt;&lt;/mfrac&gt;&lt;mo&gt;−&lt;/mo&gt;&lt;mfrac&gt;&lt;mn&gt;3&lt;/mn&gt;&lt;mn&gt;5&lt;/mn&gt;&lt;/mfrac&gt;&lt;mo&gt;×&lt;/mo&gt;&lt;mfrac&gt;&lt;mn&gt;10&lt;/mn&gt;&lt;mn&gt;13&lt;/mn&gt;&lt;/mfrac&gt;&lt;/mtd&gt;&lt;/mtr&gt;&lt;mtr&gt;&lt;mtd&gt;&lt;mtext&gt;&lt;/mtext&gt;&lt;mtext&gt;&lt;/mtext&gt;&lt;mtext&gt;&lt;/mtext&gt;&lt;mtext&gt;&lt;/mtext&gt;&lt;mtext&gt;&lt;/mtext&gt;&lt;mfrac&gt;&lt;mn&gt;36&lt;/mn&gt;&lt;mn&gt;20&lt;/mn&gt;&lt;/mfrac&gt;&lt;mo&gt;−&lt;/mo&gt;&lt;mfrac&gt;&lt;mn&gt;30&lt;/mn&gt;&lt;mn&gt;65&lt;/mn&gt;&lt;/mfrac&gt;&lt;mo&gt;=&lt;/mo&gt;&lt;mfrac&gt;&lt;mn&gt;9&lt;/mn&gt;&lt;mn&gt;5&lt;/mn&gt;&lt;/mfrac&gt;&lt;mo&gt;−&lt;/mo&gt;&lt;mfrac&gt;&lt;mn&gt;6&lt;/mn&gt;&lt;mn&gt;13&lt;/mn&gt;&lt;/mfrac&gt;&lt;mo&gt;=&lt;/mo&gt;&lt;mfrac&gt;&lt;mn&gt;117&lt;/mn&gt;&lt;mn&gt;65&lt;/mn&gt;&lt;/mfrac&gt;&lt;mo&gt;−&lt;/mo&gt;&lt;mfrac&gt;&lt;mn&gt;30&lt;/mn&gt;&lt;mn&gt;65&lt;/mn&gt;&lt;/mfrac&gt;&lt;mo&gt;=&lt;/mo&gt;&lt;mfrac&gt;&lt;mn&gt;87&lt;/mn&gt;&lt;mn&gt;65&lt;/mn&gt;&lt;/mfrac&gt;&lt;mo&gt;=&lt;/mo&gt;&lt;mn&gt;1&lt;/mn&gt;&lt;mfrac&gt;&lt;mn&gt;22&lt;/mn&gt;&lt;mn&gt;65&lt;/mn&gt;&lt;/mfrac&gt;&lt;/mtd&gt;&lt;/mtr&gt;&lt;/mtable&gt;&lt;/math&gt;" id="1040" name="Google Shape;1040;p78" title="4 lines Line 1: 2 and one fourth times four fifths minus three fifths divided by 1 and three tenths Line 2: nine fourths times four fifths minus three fifths divided by thirteen tenths Line 3: 36 over 20 minus three fifths times 10 over 13 Line 4: 36 over 20 minus 30 over 65 equals nine fifths minus 6 over 13 equals 117 over 65 minus 30 over 65 equals 87 over 65 equals 1 and 22 over 65"/>
          <p:cNvPicPr preferRelativeResize="0"/>
          <p:nvPr/>
        </p:nvPicPr>
        <p:blipFill rotWithShape="1">
          <a:blip r:embed="rId4">
            <a:alphaModFix/>
          </a:blip>
          <a:srcRect b="49818" l="2695" r="54245" t="22747"/>
          <a:stretch/>
        </p:blipFill>
        <p:spPr>
          <a:xfrm>
            <a:off x="5101518" y="2133740"/>
            <a:ext cx="2944675" cy="698013"/>
          </a:xfrm>
          <a:prstGeom prst="rect">
            <a:avLst/>
          </a:prstGeom>
          <a:noFill/>
          <a:ln>
            <a:noFill/>
          </a:ln>
        </p:spPr>
      </p:pic>
      <p:pic>
        <p:nvPicPr>
          <p:cNvPr descr="&lt;math xmlns=&quot;http://www.w3.org/1998/Math/MathML&quot; display=&quot;block&quot; data-is-equatio=&quot;1&quot; data-latex=&quot;\begin{array}{l}2\frac{1}{4}\times\frac{4}{5}-\frac{3}{5}\div1\frac{3}{10}\\&amp;#13;&amp;#10;\ \ \frac{9}{4}\times\frac{4}{5}-\frac{3}{5}\div\frac{13}{10}\\&amp;#13;&amp;#10;\ \ \ \frac{36}{20}-\frac{3}{5}\times\frac{10}{13}\\&amp;#13;&amp;#10;\ \ \ \ \ \frac{36}{20}-\frac{30}{65}=\frac{9}{5}-\frac{6}{13}=\frac{117}{65}-\frac{30}{65}=\frac{87}{65}=1\frac{22}{65}\end{array}&quot;&gt;&lt;mtable columnalign=&quot;left&quot; columnspacing=&quot;1em&quot; rowspacing=&quot;4pt&quot;&gt;&lt;mtr&gt;&lt;mtd&gt;&lt;mn&gt;2&lt;/mn&gt;&lt;mfrac&gt;&lt;mn&gt;1&lt;/mn&gt;&lt;mn&gt;4&lt;/mn&gt;&lt;/mfrac&gt;&lt;mo&gt;×&lt;/mo&gt;&lt;mfrac&gt;&lt;mn&gt;4&lt;/mn&gt;&lt;mn&gt;5&lt;/mn&gt;&lt;/mfrac&gt;&lt;mo&gt;−&lt;/mo&gt;&lt;mfrac&gt;&lt;mn&gt;3&lt;/mn&gt;&lt;mn&gt;5&lt;/mn&gt;&lt;/mfrac&gt;&lt;mo&gt;÷&lt;/mo&gt;&lt;mn&gt;1&lt;/mn&gt;&lt;mfrac&gt;&lt;mn&gt;3&lt;/mn&gt;&lt;mn&gt;10&lt;/mn&gt;&lt;/mfrac&gt;&lt;/mtd&gt;&lt;/mtr&gt;&lt;mtr&gt;&lt;mtd&gt;&lt;mtext&gt;&lt;/mtext&gt;&lt;mtext&gt;&lt;/mtext&gt;&lt;mfrac&gt;&lt;mn&gt;9&lt;/mn&gt;&lt;mn&gt;4&lt;/mn&gt;&lt;/mfrac&gt;&lt;mo&gt;×&lt;/mo&gt;&lt;mfrac&gt;&lt;mn&gt;4&lt;/mn&gt;&lt;mn&gt;5&lt;/mn&gt;&lt;/mfrac&gt;&lt;mo&gt;−&lt;/mo&gt;&lt;mfrac&gt;&lt;mn&gt;3&lt;/mn&gt;&lt;mn&gt;5&lt;/mn&gt;&lt;/mfrac&gt;&lt;mo&gt;÷&lt;/mo&gt;&lt;mfrac&gt;&lt;mn&gt;13&lt;/mn&gt;&lt;mn&gt;10&lt;/mn&gt;&lt;/mfrac&gt;&lt;/mtd&gt;&lt;/mtr&gt;&lt;mtr&gt;&lt;mtd&gt;&lt;mtext&gt;&lt;/mtext&gt;&lt;mtext&gt;&lt;/mtext&gt;&lt;mtext&gt;&lt;/mtext&gt;&lt;mfrac&gt;&lt;mn&gt;36&lt;/mn&gt;&lt;mn&gt;20&lt;/mn&gt;&lt;/mfrac&gt;&lt;mo&gt;−&lt;/mo&gt;&lt;mfrac&gt;&lt;mn&gt;3&lt;/mn&gt;&lt;mn&gt;5&lt;/mn&gt;&lt;/mfrac&gt;&lt;mo&gt;×&lt;/mo&gt;&lt;mfrac&gt;&lt;mn&gt;10&lt;/mn&gt;&lt;mn&gt;13&lt;/mn&gt;&lt;/mfrac&gt;&lt;/mtd&gt;&lt;/mtr&gt;&lt;mtr&gt;&lt;mtd&gt;&lt;mtext&gt;&lt;/mtext&gt;&lt;mtext&gt;&lt;/mtext&gt;&lt;mtext&gt;&lt;/mtext&gt;&lt;mtext&gt;&lt;/mtext&gt;&lt;mtext&gt;&lt;/mtext&gt;&lt;mfrac&gt;&lt;mn&gt;36&lt;/mn&gt;&lt;mn&gt;20&lt;/mn&gt;&lt;/mfrac&gt;&lt;mo&gt;−&lt;/mo&gt;&lt;mfrac&gt;&lt;mn&gt;30&lt;/mn&gt;&lt;mn&gt;65&lt;/mn&gt;&lt;/mfrac&gt;&lt;mo&gt;=&lt;/mo&gt;&lt;mfrac&gt;&lt;mn&gt;9&lt;/mn&gt;&lt;mn&gt;5&lt;/mn&gt;&lt;/mfrac&gt;&lt;mo&gt;−&lt;/mo&gt;&lt;mfrac&gt;&lt;mn&gt;6&lt;/mn&gt;&lt;mn&gt;13&lt;/mn&gt;&lt;/mfrac&gt;&lt;mo&gt;=&lt;/mo&gt;&lt;mfrac&gt;&lt;mn&gt;117&lt;/mn&gt;&lt;mn&gt;65&lt;/mn&gt;&lt;/mfrac&gt;&lt;mo&gt;−&lt;/mo&gt;&lt;mfrac&gt;&lt;mn&gt;30&lt;/mn&gt;&lt;mn&gt;65&lt;/mn&gt;&lt;/mfrac&gt;&lt;mo&gt;=&lt;/mo&gt;&lt;mfrac&gt;&lt;mn&gt;87&lt;/mn&gt;&lt;mn&gt;65&lt;/mn&gt;&lt;/mfrac&gt;&lt;mo&gt;=&lt;/mo&gt;&lt;mn&gt;1&lt;/mn&gt;&lt;mfrac&gt;&lt;mn&gt;22&lt;/mn&gt;&lt;mn&gt;65&lt;/mn&gt;&lt;/mfrac&gt;&lt;/mtd&gt;&lt;/mtr&gt;&lt;/mtable&gt;&lt;/math&gt;" id="1041" name="Google Shape;1041;p78" title="4 lines Line 1: 2 and one fourth times four fifths minus three fifths divided by 1 and three tenths Line 2: nine fourths times four fifths minus three fifths divided by thirteen tenths Line 3: 36 over 20 minus three fifths times 10 over 13 Line 4: 36 over 20 minus 30 over 65 equals nine fifths minus 6 over 13 equals 117 over 65 minus 30 over 65 equals 87 over 65 equals 1 and 22 over 65"/>
          <p:cNvPicPr preferRelativeResize="0"/>
          <p:nvPr/>
        </p:nvPicPr>
        <p:blipFill rotWithShape="1">
          <a:blip r:embed="rId4">
            <a:alphaModFix/>
          </a:blip>
          <a:srcRect b="21894" l="2549" r="54392" t="50672"/>
          <a:stretch/>
        </p:blipFill>
        <p:spPr>
          <a:xfrm>
            <a:off x="5101518" y="2832513"/>
            <a:ext cx="2944675" cy="698013"/>
          </a:xfrm>
          <a:prstGeom prst="rect">
            <a:avLst/>
          </a:prstGeom>
          <a:noFill/>
          <a:ln>
            <a:noFill/>
          </a:ln>
        </p:spPr>
      </p:pic>
      <p:pic>
        <p:nvPicPr>
          <p:cNvPr descr="&lt;math xmlns=&quot;http://www.w3.org/1998/Math/MathML&quot; display=&quot;block&quot; data-is-equatio=&quot;1&quot; data-latex=&quot;\begin{array}{l}2\frac{1}{4}\times\frac{4}{5}-\frac{3}{5}\div1\frac{3}{10}\\&amp;#13;&amp;#10;\ \ \frac{9}{4}\times\frac{4}{5}-\frac{3}{5}\div\frac{13}{10}\\&amp;#13;&amp;#10;\ \ \ \frac{36}{20}-\frac{3}{5}\times\frac{10}{13}\\&amp;#13;&amp;#10;\ \ \ \ \ \frac{36}{20}-\frac{30}{65}=\frac{9}{5}-\frac{6}{13}=\frac{117}{65}-\frac{30}{65}=\frac{87}{65}=1\frac{22}{65}\end{array}&quot;&gt;&lt;mtable columnalign=&quot;left&quot; columnspacing=&quot;1em&quot; rowspacing=&quot;4pt&quot;&gt;&lt;mtr&gt;&lt;mtd&gt;&lt;mn&gt;2&lt;/mn&gt;&lt;mfrac&gt;&lt;mn&gt;1&lt;/mn&gt;&lt;mn&gt;4&lt;/mn&gt;&lt;/mfrac&gt;&lt;mo&gt;×&lt;/mo&gt;&lt;mfrac&gt;&lt;mn&gt;4&lt;/mn&gt;&lt;mn&gt;5&lt;/mn&gt;&lt;/mfrac&gt;&lt;mo&gt;−&lt;/mo&gt;&lt;mfrac&gt;&lt;mn&gt;3&lt;/mn&gt;&lt;mn&gt;5&lt;/mn&gt;&lt;/mfrac&gt;&lt;mo&gt;÷&lt;/mo&gt;&lt;mn&gt;1&lt;/mn&gt;&lt;mfrac&gt;&lt;mn&gt;3&lt;/mn&gt;&lt;mn&gt;10&lt;/mn&gt;&lt;/mfrac&gt;&lt;/mtd&gt;&lt;/mtr&gt;&lt;mtr&gt;&lt;mtd&gt;&lt;mtext&gt;&lt;/mtext&gt;&lt;mtext&gt;&lt;/mtext&gt;&lt;mfrac&gt;&lt;mn&gt;9&lt;/mn&gt;&lt;mn&gt;4&lt;/mn&gt;&lt;/mfrac&gt;&lt;mo&gt;×&lt;/mo&gt;&lt;mfrac&gt;&lt;mn&gt;4&lt;/mn&gt;&lt;mn&gt;5&lt;/mn&gt;&lt;/mfrac&gt;&lt;mo&gt;−&lt;/mo&gt;&lt;mfrac&gt;&lt;mn&gt;3&lt;/mn&gt;&lt;mn&gt;5&lt;/mn&gt;&lt;/mfrac&gt;&lt;mo&gt;÷&lt;/mo&gt;&lt;mfrac&gt;&lt;mn&gt;13&lt;/mn&gt;&lt;mn&gt;10&lt;/mn&gt;&lt;/mfrac&gt;&lt;/mtd&gt;&lt;/mtr&gt;&lt;mtr&gt;&lt;mtd&gt;&lt;mtext&gt;&lt;/mtext&gt;&lt;mtext&gt;&lt;/mtext&gt;&lt;mtext&gt;&lt;/mtext&gt;&lt;mfrac&gt;&lt;mn&gt;36&lt;/mn&gt;&lt;mn&gt;20&lt;/mn&gt;&lt;/mfrac&gt;&lt;mo&gt;−&lt;/mo&gt;&lt;mfrac&gt;&lt;mn&gt;3&lt;/mn&gt;&lt;mn&gt;5&lt;/mn&gt;&lt;/mfrac&gt;&lt;mo&gt;×&lt;/mo&gt;&lt;mfrac&gt;&lt;mn&gt;10&lt;/mn&gt;&lt;mn&gt;13&lt;/mn&gt;&lt;/mfrac&gt;&lt;/mtd&gt;&lt;/mtr&gt;&lt;mtr&gt;&lt;mtd&gt;&lt;mtext&gt;&lt;/mtext&gt;&lt;mtext&gt;&lt;/mtext&gt;&lt;mtext&gt;&lt;/mtext&gt;&lt;mtext&gt;&lt;/mtext&gt;&lt;mtext&gt;&lt;/mtext&gt;&lt;mfrac&gt;&lt;mn&gt;36&lt;/mn&gt;&lt;mn&gt;20&lt;/mn&gt;&lt;/mfrac&gt;&lt;mo&gt;−&lt;/mo&gt;&lt;mfrac&gt;&lt;mn&gt;30&lt;/mn&gt;&lt;mn&gt;65&lt;/mn&gt;&lt;/mfrac&gt;&lt;mo&gt;=&lt;/mo&gt;&lt;mfrac&gt;&lt;mn&gt;9&lt;/mn&gt;&lt;mn&gt;5&lt;/mn&gt;&lt;/mfrac&gt;&lt;mo&gt;−&lt;/mo&gt;&lt;mfrac&gt;&lt;mn&gt;6&lt;/mn&gt;&lt;mn&gt;13&lt;/mn&gt;&lt;/mfrac&gt;&lt;mo&gt;=&lt;/mo&gt;&lt;mfrac&gt;&lt;mn&gt;117&lt;/mn&gt;&lt;mn&gt;65&lt;/mn&gt;&lt;/mfrac&gt;&lt;mo&gt;−&lt;/mo&gt;&lt;mfrac&gt;&lt;mn&gt;30&lt;/mn&gt;&lt;mn&gt;65&lt;/mn&gt;&lt;/mfrac&gt;&lt;mo&gt;=&lt;/mo&gt;&lt;mfrac&gt;&lt;mn&gt;87&lt;/mn&gt;&lt;mn&gt;65&lt;/mn&gt;&lt;/mfrac&gt;&lt;mo&gt;=&lt;/mo&gt;&lt;mn&gt;1&lt;/mn&gt;&lt;mfrac&gt;&lt;mn&gt;22&lt;/mn&gt;&lt;mn&gt;65&lt;/mn&gt;&lt;/mfrac&gt;&lt;/mtd&gt;&lt;/mtr&gt;&lt;/mtable&gt;&lt;/math&gt;" id="1042" name="Google Shape;1042;p78" title="4 lines Line 1: 2 and one fourth times four fifths minus three fifths divided by 1 and three tenths Line 2: nine fourths times four fifths minus three fifths divided by thirteen tenths Line 3: 36 over 20 minus three fifths times 10 over 13 Line 4: 36 over 20 minus 30 over 65 equals nine fifths minus 6 over 13 equals 117 over 65 minus 30 over 65 equals 87 over 65 equals 1 and 22 over 65"/>
          <p:cNvPicPr preferRelativeResize="0"/>
          <p:nvPr/>
        </p:nvPicPr>
        <p:blipFill rotWithShape="1">
          <a:blip r:embed="rId4">
            <a:alphaModFix/>
          </a:blip>
          <a:srcRect b="-3714" l="3656" r="76175" t="76281"/>
          <a:stretch/>
        </p:blipFill>
        <p:spPr>
          <a:xfrm>
            <a:off x="4999793" y="3531300"/>
            <a:ext cx="1379226" cy="698000"/>
          </a:xfrm>
          <a:prstGeom prst="rect">
            <a:avLst/>
          </a:prstGeom>
          <a:noFill/>
          <a:ln>
            <a:noFill/>
          </a:ln>
        </p:spPr>
      </p:pic>
      <p:pic>
        <p:nvPicPr>
          <p:cNvPr descr="&lt;math xmlns=&quot;http://www.w3.org/1998/Math/MathML&quot; display=&quot;block&quot; data-is-equatio=&quot;1&quot; data-latex=&quot;\begin{array}{l}2\frac{1}{4}\times\frac{4}{5}-\frac{3}{5}\div1\frac{3}{10}\\&amp;#13;&amp;#10;\ \ \frac{9}{4}\times\frac{4}{5}-\frac{3}{5}\div\frac{13}{10}\\&amp;#13;&amp;#10;\ \ \ \frac{36}{20}-\frac{3}{5}\times\frac{10}{13}\\&amp;#13;&amp;#10;\ \ \ \ \ \frac{36}{20}-\frac{30}{65}=\frac{9}{5}-\frac{6}{13}=\frac{117}{65}-\frac{30}{65}=\frac{87}{65}=1\frac{22}{65}\end{array}&quot;&gt;&lt;mtable columnalign=&quot;left&quot; columnspacing=&quot;1em&quot; rowspacing=&quot;4pt&quot;&gt;&lt;mtr&gt;&lt;mtd&gt;&lt;mn&gt;2&lt;/mn&gt;&lt;mfrac&gt;&lt;mn&gt;1&lt;/mn&gt;&lt;mn&gt;4&lt;/mn&gt;&lt;/mfrac&gt;&lt;mo&gt;×&lt;/mo&gt;&lt;mfrac&gt;&lt;mn&gt;4&lt;/mn&gt;&lt;mn&gt;5&lt;/mn&gt;&lt;/mfrac&gt;&lt;mo&gt;−&lt;/mo&gt;&lt;mfrac&gt;&lt;mn&gt;3&lt;/mn&gt;&lt;mn&gt;5&lt;/mn&gt;&lt;/mfrac&gt;&lt;mo&gt;÷&lt;/mo&gt;&lt;mn&gt;1&lt;/mn&gt;&lt;mfrac&gt;&lt;mn&gt;3&lt;/mn&gt;&lt;mn&gt;10&lt;/mn&gt;&lt;/mfrac&gt;&lt;/mtd&gt;&lt;/mtr&gt;&lt;mtr&gt;&lt;mtd&gt;&lt;mtext&gt;&lt;/mtext&gt;&lt;mtext&gt;&lt;/mtext&gt;&lt;mfrac&gt;&lt;mn&gt;9&lt;/mn&gt;&lt;mn&gt;4&lt;/mn&gt;&lt;/mfrac&gt;&lt;mo&gt;×&lt;/mo&gt;&lt;mfrac&gt;&lt;mn&gt;4&lt;/mn&gt;&lt;mn&gt;5&lt;/mn&gt;&lt;/mfrac&gt;&lt;mo&gt;−&lt;/mo&gt;&lt;mfrac&gt;&lt;mn&gt;3&lt;/mn&gt;&lt;mn&gt;5&lt;/mn&gt;&lt;/mfrac&gt;&lt;mo&gt;÷&lt;/mo&gt;&lt;mfrac&gt;&lt;mn&gt;13&lt;/mn&gt;&lt;mn&gt;10&lt;/mn&gt;&lt;/mfrac&gt;&lt;/mtd&gt;&lt;/mtr&gt;&lt;mtr&gt;&lt;mtd&gt;&lt;mtext&gt;&lt;/mtext&gt;&lt;mtext&gt;&lt;/mtext&gt;&lt;mtext&gt;&lt;/mtext&gt;&lt;mfrac&gt;&lt;mn&gt;36&lt;/mn&gt;&lt;mn&gt;20&lt;/mn&gt;&lt;/mfrac&gt;&lt;mo&gt;−&lt;/mo&gt;&lt;mfrac&gt;&lt;mn&gt;3&lt;/mn&gt;&lt;mn&gt;5&lt;/mn&gt;&lt;/mfrac&gt;&lt;mo&gt;×&lt;/mo&gt;&lt;mfrac&gt;&lt;mn&gt;10&lt;/mn&gt;&lt;mn&gt;13&lt;/mn&gt;&lt;/mfrac&gt;&lt;/mtd&gt;&lt;/mtr&gt;&lt;mtr&gt;&lt;mtd&gt;&lt;mtext&gt;&lt;/mtext&gt;&lt;mtext&gt;&lt;/mtext&gt;&lt;mtext&gt;&lt;/mtext&gt;&lt;mtext&gt;&lt;/mtext&gt;&lt;mtext&gt;&lt;/mtext&gt;&lt;mfrac&gt;&lt;mn&gt;36&lt;/mn&gt;&lt;mn&gt;20&lt;/mn&gt;&lt;/mfrac&gt;&lt;mo&gt;−&lt;/mo&gt;&lt;mfrac&gt;&lt;mn&gt;30&lt;/mn&gt;&lt;mn&gt;65&lt;/mn&gt;&lt;/mfrac&gt;&lt;mo&gt;=&lt;/mo&gt;&lt;mfrac&gt;&lt;mn&gt;9&lt;/mn&gt;&lt;mn&gt;5&lt;/mn&gt;&lt;/mfrac&gt;&lt;mo&gt;−&lt;/mo&gt;&lt;mfrac&gt;&lt;mn&gt;6&lt;/mn&gt;&lt;mn&gt;13&lt;/mn&gt;&lt;/mfrac&gt;&lt;mo&gt;=&lt;/mo&gt;&lt;mfrac&gt;&lt;mn&gt;117&lt;/mn&gt;&lt;mn&gt;65&lt;/mn&gt;&lt;/mfrac&gt;&lt;mo&gt;−&lt;/mo&gt;&lt;mfrac&gt;&lt;mn&gt;30&lt;/mn&gt;&lt;mn&gt;65&lt;/mn&gt;&lt;/mfrac&gt;&lt;mo&gt;=&lt;/mo&gt;&lt;mfrac&gt;&lt;mn&gt;87&lt;/mn&gt;&lt;mn&gt;65&lt;/mn&gt;&lt;/mfrac&gt;&lt;mo&gt;=&lt;/mo&gt;&lt;mn&gt;1&lt;/mn&gt;&lt;mfrac&gt;&lt;mn&gt;22&lt;/mn&gt;&lt;mn&gt;65&lt;/mn&gt;&lt;/mfrac&gt;&lt;/mtd&gt;&lt;/mtr&gt;&lt;/mtable&gt;&lt;/math&gt;" id="1043" name="Google Shape;1043;p78" title="4 lines Line 1: 2 and one fourth times four fifths minus three fifths divided by 1 and three tenths Line 2: nine fourths times four fifths minus three fifths divided by thirteen tenths Line 3: 36 over 20 minus three fifths times 10 over 13 Line 4: 36 over 20 minus 30 over 65 equals nine fifths minus 6 over 13 equals 117 over 65 minus 30 over 65 equals 87 over 65 equals 1 and 22 over 65"/>
          <p:cNvPicPr preferRelativeResize="0"/>
          <p:nvPr/>
        </p:nvPicPr>
        <p:blipFill rotWithShape="1">
          <a:blip r:embed="rId4">
            <a:alphaModFix/>
          </a:blip>
          <a:srcRect b="-3714" l="25420" r="53284" t="76281"/>
          <a:stretch/>
        </p:blipFill>
        <p:spPr>
          <a:xfrm>
            <a:off x="6491018" y="3531300"/>
            <a:ext cx="1456325" cy="698000"/>
          </a:xfrm>
          <a:prstGeom prst="rect">
            <a:avLst/>
          </a:prstGeom>
          <a:noFill/>
          <a:ln>
            <a:noFill/>
          </a:ln>
        </p:spPr>
      </p:pic>
      <p:pic>
        <p:nvPicPr>
          <p:cNvPr descr="&lt;math xmlns=&quot;http://www.w3.org/1998/Math/MathML&quot; display=&quot;block&quot; data-is-equatio=&quot;1&quot; data-latex=&quot;\begin{array}{l}2\frac{1}{4}\times\frac{4}{5}-\frac{3}{5}\div1\frac{3}{10}\\&amp;#13;&amp;#10;\ \ \frac{9}{4}\times\frac{4}{5}-\frac{3}{5}\div\frac{13}{10}\\&amp;#13;&amp;#10;\ \ \ \frac{36}{20}-\frac{3}{5}\times\frac{10}{13}\\&amp;#13;&amp;#10;\ \ \ \ \ \frac{36}{20}-\frac{30}{65}=\frac{9}{5}-\frac{6}{13}=\frac{117}{65}-\frac{30}{65}=\frac{87}{65}=1\frac{22}{65}\end{array}&quot;&gt;&lt;mtable columnalign=&quot;left&quot; columnspacing=&quot;1em&quot; rowspacing=&quot;4pt&quot;&gt;&lt;mtr&gt;&lt;mtd&gt;&lt;mn&gt;2&lt;/mn&gt;&lt;mfrac&gt;&lt;mn&gt;1&lt;/mn&gt;&lt;mn&gt;4&lt;/mn&gt;&lt;/mfrac&gt;&lt;mo&gt;×&lt;/mo&gt;&lt;mfrac&gt;&lt;mn&gt;4&lt;/mn&gt;&lt;mn&gt;5&lt;/mn&gt;&lt;/mfrac&gt;&lt;mo&gt;−&lt;/mo&gt;&lt;mfrac&gt;&lt;mn&gt;3&lt;/mn&gt;&lt;mn&gt;5&lt;/mn&gt;&lt;/mfrac&gt;&lt;mo&gt;÷&lt;/mo&gt;&lt;mn&gt;1&lt;/mn&gt;&lt;mfrac&gt;&lt;mn&gt;3&lt;/mn&gt;&lt;mn&gt;10&lt;/mn&gt;&lt;/mfrac&gt;&lt;/mtd&gt;&lt;/mtr&gt;&lt;mtr&gt;&lt;mtd&gt;&lt;mtext&gt;&lt;/mtext&gt;&lt;mtext&gt;&lt;/mtext&gt;&lt;mfrac&gt;&lt;mn&gt;9&lt;/mn&gt;&lt;mn&gt;4&lt;/mn&gt;&lt;/mfrac&gt;&lt;mo&gt;×&lt;/mo&gt;&lt;mfrac&gt;&lt;mn&gt;4&lt;/mn&gt;&lt;mn&gt;5&lt;/mn&gt;&lt;/mfrac&gt;&lt;mo&gt;−&lt;/mo&gt;&lt;mfrac&gt;&lt;mn&gt;3&lt;/mn&gt;&lt;mn&gt;5&lt;/mn&gt;&lt;/mfrac&gt;&lt;mo&gt;÷&lt;/mo&gt;&lt;mfrac&gt;&lt;mn&gt;13&lt;/mn&gt;&lt;mn&gt;10&lt;/mn&gt;&lt;/mfrac&gt;&lt;/mtd&gt;&lt;/mtr&gt;&lt;mtr&gt;&lt;mtd&gt;&lt;mtext&gt;&lt;/mtext&gt;&lt;mtext&gt;&lt;/mtext&gt;&lt;mtext&gt;&lt;/mtext&gt;&lt;mfrac&gt;&lt;mn&gt;36&lt;/mn&gt;&lt;mn&gt;20&lt;/mn&gt;&lt;/mfrac&gt;&lt;mo&gt;−&lt;/mo&gt;&lt;mfrac&gt;&lt;mn&gt;3&lt;/mn&gt;&lt;mn&gt;5&lt;/mn&gt;&lt;/mfrac&gt;&lt;mo&gt;×&lt;/mo&gt;&lt;mfrac&gt;&lt;mn&gt;10&lt;/mn&gt;&lt;mn&gt;13&lt;/mn&gt;&lt;/mfrac&gt;&lt;/mtd&gt;&lt;/mtr&gt;&lt;mtr&gt;&lt;mtd&gt;&lt;mtext&gt;&lt;/mtext&gt;&lt;mtext&gt;&lt;/mtext&gt;&lt;mtext&gt;&lt;/mtext&gt;&lt;mtext&gt;&lt;/mtext&gt;&lt;mtext&gt;&lt;/mtext&gt;&lt;mfrac&gt;&lt;mn&gt;36&lt;/mn&gt;&lt;mn&gt;20&lt;/mn&gt;&lt;/mfrac&gt;&lt;mo&gt;−&lt;/mo&gt;&lt;mfrac&gt;&lt;mn&gt;30&lt;/mn&gt;&lt;mn&gt;65&lt;/mn&gt;&lt;/mfrac&gt;&lt;mo&gt;=&lt;/mo&gt;&lt;mfrac&gt;&lt;mn&gt;9&lt;/mn&gt;&lt;mn&gt;5&lt;/mn&gt;&lt;/mfrac&gt;&lt;mo&gt;−&lt;/mo&gt;&lt;mfrac&gt;&lt;mn&gt;6&lt;/mn&gt;&lt;mn&gt;13&lt;/mn&gt;&lt;/mfrac&gt;&lt;mo&gt;=&lt;/mo&gt;&lt;mfrac&gt;&lt;mn&gt;117&lt;/mn&gt;&lt;mn&gt;65&lt;/mn&gt;&lt;/mfrac&gt;&lt;mo&gt;−&lt;/mo&gt;&lt;mfrac&gt;&lt;mn&gt;30&lt;/mn&gt;&lt;mn&gt;65&lt;/mn&gt;&lt;/mfrac&gt;&lt;mo&gt;=&lt;/mo&gt;&lt;mfrac&gt;&lt;mn&gt;87&lt;/mn&gt;&lt;mn&gt;65&lt;/mn&gt;&lt;/mfrac&gt;&lt;mo&gt;=&lt;/mo&gt;&lt;mn&gt;1&lt;/mn&gt;&lt;mfrac&gt;&lt;mn&gt;22&lt;/mn&gt;&lt;mn&gt;65&lt;/mn&gt;&lt;/mfrac&gt;&lt;/mtd&gt;&lt;/mtr&gt;&lt;/mtable&gt;&lt;/math&gt;" id="1044" name="Google Shape;1044;p78" title="4 lines Line 1: 2 and one fourth times four fifths minus three fifths divided by 1 and three tenths Line 2: nine fourths times four fifths minus three fifths divided by thirteen tenths Line 3: 36 over 20 minus three fifths times 10 over 13 Line 4: 36 over 20 minus 30 over 65 equals nine fifths minus 6 over 13 equals 117 over 65 minus 30 over 65 equals 87 over 65 equals 1 and 22 over 65"/>
          <p:cNvPicPr preferRelativeResize="0"/>
          <p:nvPr/>
        </p:nvPicPr>
        <p:blipFill rotWithShape="1">
          <a:blip r:embed="rId4">
            <a:alphaModFix/>
          </a:blip>
          <a:srcRect b="-3714" l="52162" r="26542" t="76281"/>
          <a:stretch/>
        </p:blipFill>
        <p:spPr>
          <a:xfrm>
            <a:off x="5123293" y="4229300"/>
            <a:ext cx="1456325" cy="698000"/>
          </a:xfrm>
          <a:prstGeom prst="rect">
            <a:avLst/>
          </a:prstGeom>
          <a:noFill/>
          <a:ln>
            <a:noFill/>
          </a:ln>
        </p:spPr>
      </p:pic>
      <p:pic>
        <p:nvPicPr>
          <p:cNvPr descr="&lt;math xmlns=&quot;http://www.w3.org/1998/Math/MathML&quot; display=&quot;block&quot; data-is-equatio=&quot;1&quot; data-latex=&quot;\begin{array}{l}2\frac{1}{4}\times\frac{4}{5}-\frac{3}{5}\div1\frac{3}{10}\\&amp;#13;&amp;#10;\ \ \frac{9}{4}\times\frac{4}{5}-\frac{3}{5}\div\frac{13}{10}\\&amp;#13;&amp;#10;\ \ \ \frac{36}{20}-\frac{3}{5}\times\frac{10}{13}\\&amp;#13;&amp;#10;\ \ \ \ \ \frac{36}{20}-\frac{30}{65}=\frac{9}{5}-\frac{6}{13}=\frac{117}{65}-\frac{30}{65}=\frac{87}{65}=1\frac{22}{65}\end{array}&quot;&gt;&lt;mtable columnalign=&quot;left&quot; columnspacing=&quot;1em&quot; rowspacing=&quot;4pt&quot;&gt;&lt;mtr&gt;&lt;mtd&gt;&lt;mn&gt;2&lt;/mn&gt;&lt;mfrac&gt;&lt;mn&gt;1&lt;/mn&gt;&lt;mn&gt;4&lt;/mn&gt;&lt;/mfrac&gt;&lt;mo&gt;×&lt;/mo&gt;&lt;mfrac&gt;&lt;mn&gt;4&lt;/mn&gt;&lt;mn&gt;5&lt;/mn&gt;&lt;/mfrac&gt;&lt;mo&gt;−&lt;/mo&gt;&lt;mfrac&gt;&lt;mn&gt;3&lt;/mn&gt;&lt;mn&gt;5&lt;/mn&gt;&lt;/mfrac&gt;&lt;mo&gt;÷&lt;/mo&gt;&lt;mn&gt;1&lt;/mn&gt;&lt;mfrac&gt;&lt;mn&gt;3&lt;/mn&gt;&lt;mn&gt;10&lt;/mn&gt;&lt;/mfrac&gt;&lt;/mtd&gt;&lt;/mtr&gt;&lt;mtr&gt;&lt;mtd&gt;&lt;mtext&gt;&lt;/mtext&gt;&lt;mtext&gt;&lt;/mtext&gt;&lt;mfrac&gt;&lt;mn&gt;9&lt;/mn&gt;&lt;mn&gt;4&lt;/mn&gt;&lt;/mfrac&gt;&lt;mo&gt;×&lt;/mo&gt;&lt;mfrac&gt;&lt;mn&gt;4&lt;/mn&gt;&lt;mn&gt;5&lt;/mn&gt;&lt;/mfrac&gt;&lt;mo&gt;−&lt;/mo&gt;&lt;mfrac&gt;&lt;mn&gt;3&lt;/mn&gt;&lt;mn&gt;5&lt;/mn&gt;&lt;/mfrac&gt;&lt;mo&gt;÷&lt;/mo&gt;&lt;mfrac&gt;&lt;mn&gt;13&lt;/mn&gt;&lt;mn&gt;10&lt;/mn&gt;&lt;/mfrac&gt;&lt;/mtd&gt;&lt;/mtr&gt;&lt;mtr&gt;&lt;mtd&gt;&lt;mtext&gt;&lt;/mtext&gt;&lt;mtext&gt;&lt;/mtext&gt;&lt;mtext&gt;&lt;/mtext&gt;&lt;mfrac&gt;&lt;mn&gt;36&lt;/mn&gt;&lt;mn&gt;20&lt;/mn&gt;&lt;/mfrac&gt;&lt;mo&gt;−&lt;/mo&gt;&lt;mfrac&gt;&lt;mn&gt;3&lt;/mn&gt;&lt;mn&gt;5&lt;/mn&gt;&lt;/mfrac&gt;&lt;mo&gt;×&lt;/mo&gt;&lt;mfrac&gt;&lt;mn&gt;10&lt;/mn&gt;&lt;mn&gt;13&lt;/mn&gt;&lt;/mfrac&gt;&lt;/mtd&gt;&lt;/mtr&gt;&lt;mtr&gt;&lt;mtd&gt;&lt;mtext&gt;&lt;/mtext&gt;&lt;mtext&gt;&lt;/mtext&gt;&lt;mtext&gt;&lt;/mtext&gt;&lt;mtext&gt;&lt;/mtext&gt;&lt;mtext&gt;&lt;/mtext&gt;&lt;mfrac&gt;&lt;mn&gt;36&lt;/mn&gt;&lt;mn&gt;20&lt;/mn&gt;&lt;/mfrac&gt;&lt;mo&gt;−&lt;/mo&gt;&lt;mfrac&gt;&lt;mn&gt;30&lt;/mn&gt;&lt;mn&gt;65&lt;/mn&gt;&lt;/mfrac&gt;&lt;mo&gt;=&lt;/mo&gt;&lt;mfrac&gt;&lt;mn&gt;9&lt;/mn&gt;&lt;mn&gt;5&lt;/mn&gt;&lt;/mfrac&gt;&lt;mo&gt;−&lt;/mo&gt;&lt;mfrac&gt;&lt;mn&gt;6&lt;/mn&gt;&lt;mn&gt;13&lt;/mn&gt;&lt;/mfrac&gt;&lt;mo&gt;=&lt;/mo&gt;&lt;mfrac&gt;&lt;mn&gt;117&lt;/mn&gt;&lt;mn&gt;65&lt;/mn&gt;&lt;/mfrac&gt;&lt;mo&gt;−&lt;/mo&gt;&lt;mfrac&gt;&lt;mn&gt;30&lt;/mn&gt;&lt;mn&gt;65&lt;/mn&gt;&lt;/mfrac&gt;&lt;mo&gt;=&lt;/mo&gt;&lt;mfrac&gt;&lt;mn&gt;87&lt;/mn&gt;&lt;mn&gt;65&lt;/mn&gt;&lt;/mfrac&gt;&lt;mo&gt;=&lt;/mo&gt;&lt;mn&gt;1&lt;/mn&gt;&lt;mfrac&gt;&lt;mn&gt;22&lt;/mn&gt;&lt;mn&gt;65&lt;/mn&gt;&lt;/mfrac&gt;&lt;/mtd&gt;&lt;/mtr&gt;&lt;/mtable&gt;&lt;/math&gt;" id="1045" name="Google Shape;1045;p78" title="4 lines Line 1: 2 and one fourth times four fifths minus three fifths divided by 1 and three tenths Line 2: nine fourths times four fifths minus three fifths divided by thirteen tenths Line 3: 36 over 20 minus three fifths times 10 over 13 Line 4: 36 over 20 minus 30 over 65 equals nine fifths minus 6 over 13 equals 117 over 65 minus 30 over 65 equals 87 over 65 equals 1 and 22 over 65"/>
          <p:cNvPicPr preferRelativeResize="0"/>
          <p:nvPr/>
        </p:nvPicPr>
        <p:blipFill rotWithShape="1">
          <a:blip r:embed="rId4">
            <a:alphaModFix/>
          </a:blip>
          <a:srcRect b="-3714" l="73894" r="-1434" t="76281"/>
          <a:stretch/>
        </p:blipFill>
        <p:spPr>
          <a:xfrm>
            <a:off x="6576043" y="4230075"/>
            <a:ext cx="1883350" cy="698000"/>
          </a:xfrm>
          <a:prstGeom prst="rect">
            <a:avLst/>
          </a:prstGeom>
          <a:noFill/>
          <a:ln>
            <a:noFill/>
          </a:ln>
        </p:spPr>
      </p:pic>
      <p:pic>
        <p:nvPicPr>
          <p:cNvPr descr="&lt;math xmlns=&quot;http://www.w3.org/1998/Math/MathML&quot; display=&quot;block&quot; data-is-equatio=&quot;1&quot; data-latex=&quot;\begin{array}{l}2\frac{1}{2}+\ 3\frac{2}{3}\times\frac{3}{4}\\&amp;#13;&amp;#10;\frac{5}{2}+\frac{11}{3}\times\frac{3}{4}\\&amp;#13;&amp;#10;\frac{5}{2}+\frac{33}{12}=\frac{30}{12}+\frac{33}{12}=\frac{63}{12}=\frac{21}{4}=5\frac{1}{4}\end{array}&quot;&gt;&lt;mtable columnalign=&quot;left&quot; columnspacing=&quot;1em&quot; rowspacing=&quot;4pt&quot;&gt;&lt;mtr&gt;&lt;mtd&gt;&lt;mn&gt;2&lt;/mn&gt;&lt;mfrac&gt;&lt;mn&gt;1&lt;/mn&gt;&lt;mn&gt;2&lt;/mn&gt;&lt;/mfrac&gt;&lt;mo&gt;+&lt;/mo&gt;&lt;mtext&gt;&lt;/mtext&gt;&lt;mn&gt;3&lt;/mn&gt;&lt;mfrac&gt;&lt;mn&gt;2&lt;/mn&gt;&lt;mn&gt;3&lt;/mn&gt;&lt;/mfrac&gt;&lt;mo&gt;×&lt;/mo&gt;&lt;mfrac&gt;&lt;mn&gt;3&lt;/mn&gt;&lt;mn&gt;4&lt;/mn&gt;&lt;/mfrac&gt;&lt;/mtd&gt;&lt;/mtr&gt;&lt;mtr&gt;&lt;mtd&gt;&lt;mfrac&gt;&lt;mn&gt;5&lt;/mn&gt;&lt;mn&gt;2&lt;/mn&gt;&lt;/mfrac&gt;&lt;mo&gt;+&lt;/mo&gt;&lt;mfrac&gt;&lt;mn&gt;11&lt;/mn&gt;&lt;mn&gt;3&lt;/mn&gt;&lt;/mfrac&gt;&lt;mo&gt;×&lt;/mo&gt;&lt;mfrac&gt;&lt;mn&gt;3&lt;/mn&gt;&lt;mn&gt;4&lt;/mn&gt;&lt;/mfrac&gt;&lt;/mtd&gt;&lt;/mtr&gt;&lt;mtr&gt;&lt;mtd&gt;&lt;mfrac&gt;&lt;mn&gt;5&lt;/mn&gt;&lt;mn&gt;2&lt;/mn&gt;&lt;/mfrac&gt;&lt;mo&gt;+&lt;/mo&gt;&lt;mfrac&gt;&lt;mn&gt;33&lt;/mn&gt;&lt;mn&gt;12&lt;/mn&gt;&lt;/mfrac&gt;&lt;mo&gt;=&lt;/mo&gt;&lt;mfrac&gt;&lt;mn&gt;30&lt;/mn&gt;&lt;mn&gt;12&lt;/mn&gt;&lt;/mfrac&gt;&lt;mo&gt;+&lt;/mo&gt;&lt;mfrac&gt;&lt;mn&gt;33&lt;/mn&gt;&lt;mn&gt;12&lt;/mn&gt;&lt;/mfrac&gt;&lt;mo&gt;=&lt;/mo&gt;&lt;mfrac&gt;&lt;mn&gt;63&lt;/mn&gt;&lt;mn&gt;12&lt;/mn&gt;&lt;/mfrac&gt;&lt;mo&gt;=&lt;/mo&gt;&lt;mfrac&gt;&lt;mn&gt;21&lt;/mn&gt;&lt;mn&gt;4&lt;/mn&gt;&lt;/mfrac&gt;&lt;mo&gt;=&lt;/mo&gt;&lt;mn&gt;5&lt;/mn&gt;&lt;mfrac&gt;&lt;mn&gt;1&lt;/mn&gt;&lt;mn&gt;4&lt;/mn&gt;&lt;/mfrac&gt;&lt;/mtd&gt;&lt;/mtr&gt;&lt;/mtable&gt;&lt;/math&gt;" id="1046" name="Google Shape;1046;p78" title="3 lines Line 1: 2 and one half plus 3 and two thirds times three fourths Line 2: five halves plus eleven thirds times three fourths Line 3: five halves plus 33 over 12 equals 30 over 12 plus 33 over 12 equals 63 over 12 equals 21 over 4 equals 5 and one fourth"/>
          <p:cNvPicPr preferRelativeResize="0"/>
          <p:nvPr/>
        </p:nvPicPr>
        <p:blipFill rotWithShape="1">
          <a:blip r:embed="rId5">
            <a:alphaModFix/>
          </a:blip>
          <a:srcRect b="0" l="84510" r="0" t="70777"/>
          <a:stretch/>
        </p:blipFill>
        <p:spPr>
          <a:xfrm>
            <a:off x="3712149" y="3805904"/>
            <a:ext cx="896924" cy="580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p79"/>
          <p:cNvSpPr txBox="1"/>
          <p:nvPr>
            <p:ph type="title"/>
          </p:nvPr>
        </p:nvSpPr>
        <p:spPr>
          <a:xfrm>
            <a:off x="1225200" y="1779713"/>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Reviewing priority of operations</a:t>
            </a:r>
            <a:endParaRPr/>
          </a:p>
        </p:txBody>
      </p:sp>
      <p:sp>
        <p:nvSpPr>
          <p:cNvPr id="1052" name="Google Shape;1052;p79"/>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Powers and roots of fractions</a:t>
            </a:r>
            <a:endParaRPr/>
          </a:p>
        </p:txBody>
      </p:sp>
      <p:sp>
        <p:nvSpPr>
          <p:cNvPr id="1053" name="Google Shape;1053;p79"/>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efficiently</a:t>
            </a:r>
            <a:endParaRPr/>
          </a:p>
        </p:txBody>
      </p:sp>
      <p:sp>
        <p:nvSpPr>
          <p:cNvPr id="1054" name="Google Shape;1054;p79"/>
          <p:cNvSpPr txBox="1"/>
          <p:nvPr>
            <p:ph idx="4" type="title"/>
          </p:nvPr>
        </p:nvSpPr>
        <p:spPr>
          <a:xfrm>
            <a:off x="324000" y="657600"/>
            <a:ext cx="84960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Priority of operations with positive and negative integers, decimals and fractions</a:t>
            </a:r>
            <a:endParaRPr/>
          </a:p>
        </p:txBody>
      </p:sp>
      <p:pic>
        <p:nvPicPr>
          <p:cNvPr id="1055" name="Google Shape;1055;p79"/>
          <p:cNvPicPr preferRelativeResize="0"/>
          <p:nvPr/>
        </p:nvPicPr>
        <p:blipFill>
          <a:blip r:embed="rId3">
            <a:alphaModFix/>
          </a:blip>
          <a:stretch>
            <a:fillRect/>
          </a:stretch>
        </p:blipFill>
        <p:spPr>
          <a:xfrm>
            <a:off x="418025" y="2766075"/>
            <a:ext cx="450575" cy="4467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9" name="Shape 1059"/>
        <p:cNvGrpSpPr/>
        <p:nvPr/>
      </p:nvGrpSpPr>
      <p:grpSpPr>
        <a:xfrm>
          <a:off x="0" y="0"/>
          <a:ext cx="0" cy="0"/>
          <a:chOff x="0" y="0"/>
          <a:chExt cx="0" cy="0"/>
        </a:xfrm>
      </p:grpSpPr>
      <p:sp>
        <p:nvSpPr>
          <p:cNvPr id="1060" name="Google Shape;1060;p8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Powers and roots of fractions</a:t>
            </a:r>
            <a:endParaRPr/>
          </a:p>
        </p:txBody>
      </p:sp>
      <p:grpSp>
        <p:nvGrpSpPr>
          <p:cNvPr id="1061" name="Google Shape;1061;p80"/>
          <p:cNvGrpSpPr/>
          <p:nvPr/>
        </p:nvGrpSpPr>
        <p:grpSpPr>
          <a:xfrm>
            <a:off x="486922" y="1891253"/>
            <a:ext cx="3916346" cy="2889197"/>
            <a:chOff x="2529025" y="1931250"/>
            <a:chExt cx="3584100" cy="2617500"/>
          </a:xfrm>
        </p:grpSpPr>
        <p:sp>
          <p:nvSpPr>
            <p:cNvPr id="1062" name="Google Shape;1062;p80"/>
            <p:cNvSpPr/>
            <p:nvPr/>
          </p:nvSpPr>
          <p:spPr>
            <a:xfrm>
              <a:off x="2529025" y="1931250"/>
              <a:ext cx="3584100" cy="2617500"/>
            </a:xfrm>
            <a:prstGeom prst="triangle">
              <a:avLst>
                <a:gd fmla="val 50000"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063" name="Google Shape;1063;p80"/>
            <p:cNvCxnSpPr/>
            <p:nvPr/>
          </p:nvCxnSpPr>
          <p:spPr>
            <a:xfrm>
              <a:off x="3766742" y="2706800"/>
              <a:ext cx="1095900" cy="0"/>
            </a:xfrm>
            <a:prstGeom prst="straightConnector1">
              <a:avLst/>
            </a:prstGeom>
            <a:noFill/>
            <a:ln cap="flat" cmpd="sng" w="38100">
              <a:solidFill>
                <a:schemeClr val="accent5"/>
              </a:solidFill>
              <a:prstDash val="solid"/>
              <a:round/>
              <a:headEnd len="med" w="med" type="none"/>
              <a:tailEnd len="med" w="med" type="none"/>
            </a:ln>
          </p:spPr>
        </p:cxnSp>
        <p:cxnSp>
          <p:nvCxnSpPr>
            <p:cNvPr id="1064" name="Google Shape;1064;p80"/>
            <p:cNvCxnSpPr/>
            <p:nvPr/>
          </p:nvCxnSpPr>
          <p:spPr>
            <a:xfrm>
              <a:off x="3369600" y="3320300"/>
              <a:ext cx="1899300" cy="0"/>
            </a:xfrm>
            <a:prstGeom prst="straightConnector1">
              <a:avLst/>
            </a:prstGeom>
            <a:noFill/>
            <a:ln cap="flat" cmpd="sng" w="38100">
              <a:solidFill>
                <a:schemeClr val="accent5"/>
              </a:solidFill>
              <a:prstDash val="solid"/>
              <a:round/>
              <a:headEnd len="med" w="med" type="none"/>
              <a:tailEnd len="med" w="med" type="none"/>
            </a:ln>
          </p:spPr>
        </p:cxnSp>
        <p:cxnSp>
          <p:nvCxnSpPr>
            <p:cNvPr id="1065" name="Google Shape;1065;p80"/>
            <p:cNvCxnSpPr/>
            <p:nvPr/>
          </p:nvCxnSpPr>
          <p:spPr>
            <a:xfrm flipH="1" rot="10800000">
              <a:off x="2996850" y="3910986"/>
              <a:ext cx="2653800" cy="3900"/>
            </a:xfrm>
            <a:prstGeom prst="straightConnector1">
              <a:avLst/>
            </a:prstGeom>
            <a:noFill/>
            <a:ln cap="flat" cmpd="sng" w="38100">
              <a:solidFill>
                <a:schemeClr val="accent5"/>
              </a:solidFill>
              <a:prstDash val="solid"/>
              <a:round/>
              <a:headEnd len="med" w="med" type="none"/>
              <a:tailEnd len="med" w="med" type="none"/>
            </a:ln>
          </p:spPr>
        </p:cxnSp>
      </p:grpSp>
      <p:sp>
        <p:nvSpPr>
          <p:cNvPr id="1066" name="Google Shape;1066;p80"/>
          <p:cNvSpPr txBox="1"/>
          <p:nvPr/>
        </p:nvSpPr>
        <p:spPr>
          <a:xfrm>
            <a:off x="2078277" y="2208375"/>
            <a:ext cx="12471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Lexend"/>
                <a:ea typeface="Lexend"/>
                <a:cs typeface="Lexend"/>
                <a:sym typeface="Lexend"/>
              </a:rPr>
              <a:t>( …. )</a:t>
            </a:r>
            <a:endParaRPr sz="2000">
              <a:latin typeface="Lexend"/>
              <a:ea typeface="Lexend"/>
              <a:cs typeface="Lexend"/>
              <a:sym typeface="Lexend"/>
            </a:endParaRPr>
          </a:p>
        </p:txBody>
      </p:sp>
      <p:grpSp>
        <p:nvGrpSpPr>
          <p:cNvPr id="1067" name="Google Shape;1067;p80"/>
          <p:cNvGrpSpPr/>
          <p:nvPr/>
        </p:nvGrpSpPr>
        <p:grpSpPr>
          <a:xfrm>
            <a:off x="2458953" y="2698850"/>
            <a:ext cx="817925" cy="656513"/>
            <a:chOff x="1546176" y="2521625"/>
            <a:chExt cx="817925" cy="656513"/>
          </a:xfrm>
        </p:grpSpPr>
        <p:sp>
          <p:nvSpPr>
            <p:cNvPr id="1068" name="Google Shape;1068;p80"/>
            <p:cNvSpPr txBox="1"/>
            <p:nvPr/>
          </p:nvSpPr>
          <p:spPr>
            <a:xfrm>
              <a:off x="1873601" y="2521625"/>
              <a:ext cx="4905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latin typeface="Lexend"/>
                  <a:ea typeface="Lexend"/>
                  <a:cs typeface="Lexend"/>
                  <a:sym typeface="Lexend"/>
                </a:rPr>
                <a:t>⬚</a:t>
              </a:r>
              <a:endParaRPr b="1" sz="2000">
                <a:latin typeface="Lexend"/>
                <a:ea typeface="Lexend"/>
                <a:cs typeface="Lexend"/>
                <a:sym typeface="Lexend"/>
              </a:endParaRPr>
            </a:p>
          </p:txBody>
        </p:sp>
        <p:sp>
          <p:nvSpPr>
            <p:cNvPr id="1069" name="Google Shape;1069;p80"/>
            <p:cNvSpPr txBox="1"/>
            <p:nvPr/>
          </p:nvSpPr>
          <p:spPr>
            <a:xfrm>
              <a:off x="1546176" y="2641138"/>
              <a:ext cx="4905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3100">
                  <a:latin typeface="Lexend"/>
                  <a:ea typeface="Lexend"/>
                  <a:cs typeface="Lexend"/>
                  <a:sym typeface="Lexend"/>
                </a:rPr>
                <a:t>⬚</a:t>
              </a:r>
              <a:endParaRPr b="1" sz="3100">
                <a:latin typeface="Lexend"/>
                <a:ea typeface="Lexend"/>
                <a:cs typeface="Lexend"/>
                <a:sym typeface="Lexend"/>
              </a:endParaRPr>
            </a:p>
          </p:txBody>
        </p:sp>
      </p:grpSp>
      <p:grpSp>
        <p:nvGrpSpPr>
          <p:cNvPr id="1070" name="Google Shape;1070;p80"/>
          <p:cNvGrpSpPr/>
          <p:nvPr/>
        </p:nvGrpSpPr>
        <p:grpSpPr>
          <a:xfrm>
            <a:off x="1692623" y="2736910"/>
            <a:ext cx="627511" cy="537000"/>
            <a:chOff x="3734648" y="2776985"/>
            <a:chExt cx="627511" cy="537000"/>
          </a:xfrm>
        </p:grpSpPr>
        <p:pic>
          <p:nvPicPr>
            <p:cNvPr descr="&lt;math xmlns=&quot;http://www.w3.org/1998/Math/MathML&quot; display=&quot;block&quot; data-is-equatio=&quot;1&quot; data-latex=&quot;\begin{array}{l}\sqrt[\ \ ]{\ \ \ }\\&amp;#13;&amp;#10;\end{array}&quot;&gt;&lt;mtable columnalign=&quot;left&quot; columnspacing=&quot;1em&quot; rowspacing=&quot;4pt&quot;&gt;&lt;mtr&gt;&lt;mtd&gt;&lt;mroot&gt;&lt;mrow&gt;&lt;mtext&gt;&lt;/mtext&gt;&lt;mtext&gt;&lt;/mtext&gt;&lt;mtext&gt;&lt;/mtext&gt;&lt;/mrow&gt;&lt;mrow&gt;&lt;mtext&gt;&lt;/mtext&gt;&lt;mtext&gt;&lt;/mtext&gt;&lt;/mrow&gt;&lt;/mroot&gt;&lt;/mtd&gt;&lt;/mtr&gt;&lt;/mtable&gt;&lt;/math&gt;" id="1071" name="Google Shape;1071;p80" title="1 lines Line 1: the root of"/>
            <p:cNvPicPr preferRelativeResize="0"/>
            <p:nvPr/>
          </p:nvPicPr>
          <p:blipFill>
            <a:blip r:embed="rId3">
              <a:alphaModFix/>
            </a:blip>
            <a:stretch>
              <a:fillRect/>
            </a:stretch>
          </p:blipFill>
          <p:spPr>
            <a:xfrm>
              <a:off x="3871597" y="2929810"/>
              <a:ext cx="490562" cy="384175"/>
            </a:xfrm>
            <a:prstGeom prst="rect">
              <a:avLst/>
            </a:prstGeom>
            <a:noFill/>
            <a:ln>
              <a:noFill/>
            </a:ln>
          </p:spPr>
        </p:pic>
        <p:sp>
          <p:nvSpPr>
            <p:cNvPr id="1072" name="Google Shape;1072;p80"/>
            <p:cNvSpPr txBox="1"/>
            <p:nvPr/>
          </p:nvSpPr>
          <p:spPr>
            <a:xfrm>
              <a:off x="3734648" y="2776985"/>
              <a:ext cx="4905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latin typeface="Lexend"/>
                  <a:ea typeface="Lexend"/>
                  <a:cs typeface="Lexend"/>
                  <a:sym typeface="Lexend"/>
                </a:rPr>
                <a:t>⬚</a:t>
              </a:r>
              <a:endParaRPr sz="1700">
                <a:latin typeface="Lexend"/>
                <a:ea typeface="Lexend"/>
                <a:cs typeface="Lexend"/>
                <a:sym typeface="Lexend"/>
              </a:endParaRPr>
            </a:p>
          </p:txBody>
        </p:sp>
      </p:grpSp>
      <p:sp>
        <p:nvSpPr>
          <p:cNvPr id="1073" name="Google Shape;1073;p80"/>
          <p:cNvSpPr txBox="1"/>
          <p:nvPr/>
        </p:nvSpPr>
        <p:spPr>
          <a:xfrm>
            <a:off x="1649475" y="3273900"/>
            <a:ext cx="2082900" cy="65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4700">
                <a:latin typeface="Lexend"/>
                <a:ea typeface="Lexend"/>
                <a:cs typeface="Lexend"/>
                <a:sym typeface="Lexend"/>
              </a:rPr>
              <a:t>×    ÷</a:t>
            </a:r>
            <a:endParaRPr sz="4700">
              <a:latin typeface="Lexend"/>
              <a:ea typeface="Lexend"/>
              <a:cs typeface="Lexend"/>
              <a:sym typeface="Lexend"/>
            </a:endParaRPr>
          </a:p>
        </p:txBody>
      </p:sp>
      <p:sp>
        <p:nvSpPr>
          <p:cNvPr id="1074" name="Google Shape;1074;p80"/>
          <p:cNvSpPr txBox="1"/>
          <p:nvPr/>
        </p:nvSpPr>
        <p:spPr>
          <a:xfrm>
            <a:off x="1595725" y="3930300"/>
            <a:ext cx="2082900" cy="65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4700">
                <a:latin typeface="Lexend"/>
                <a:ea typeface="Lexend"/>
                <a:cs typeface="Lexend"/>
                <a:sym typeface="Lexend"/>
              </a:rPr>
              <a:t>+    −</a:t>
            </a:r>
            <a:endParaRPr sz="4700">
              <a:latin typeface="Lexend"/>
              <a:ea typeface="Lexend"/>
              <a:cs typeface="Lexend"/>
              <a:sym typeface="Lexend"/>
            </a:endParaRPr>
          </a:p>
        </p:txBody>
      </p:sp>
      <p:sp>
        <p:nvSpPr>
          <p:cNvPr id="1075" name="Google Shape;1075;p80"/>
          <p:cNvSpPr txBox="1"/>
          <p:nvPr>
            <p:ph idx="1" type="body"/>
          </p:nvPr>
        </p:nvSpPr>
        <p:spPr>
          <a:xfrm>
            <a:off x="4156450" y="2051750"/>
            <a:ext cx="4300500" cy="378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t>Similar to negative numbers, we use brackets or implicit brackets to show the root or exponent of a fraction.</a:t>
            </a:r>
            <a:endParaRPr sz="2100"/>
          </a:p>
        </p:txBody>
      </p:sp>
      <p:sp>
        <p:nvSpPr>
          <p:cNvPr id="1076" name="Google Shape;1076;p80"/>
          <p:cNvSpPr/>
          <p:nvPr/>
        </p:nvSpPr>
        <p:spPr>
          <a:xfrm>
            <a:off x="2408881" y="2773872"/>
            <a:ext cx="764400" cy="613500"/>
          </a:xfrm>
          <a:prstGeom prst="ellipse">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77" name="Google Shape;1077;p80"/>
          <p:cNvSpPr/>
          <p:nvPr/>
        </p:nvSpPr>
        <p:spPr>
          <a:xfrm>
            <a:off x="1726567" y="2806397"/>
            <a:ext cx="714300" cy="573300"/>
          </a:xfrm>
          <a:prstGeom prst="ellipse">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78" name="Google Shape;1078;p80"/>
          <p:cNvSpPr txBox="1"/>
          <p:nvPr>
            <p:ph idx="1" type="body"/>
          </p:nvPr>
        </p:nvSpPr>
        <p:spPr>
          <a:xfrm>
            <a:off x="324000" y="683100"/>
            <a:ext cx="8237700" cy="965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solidFill>
                  <a:srgbClr val="282828"/>
                </a:solidFill>
              </a:rPr>
              <a:t>T</a:t>
            </a:r>
            <a:r>
              <a:rPr lang="en-GB">
                <a:solidFill>
                  <a:srgbClr val="282828"/>
                </a:solidFill>
              </a:rPr>
              <a:t>he next operations we will be looking at with fractions are roots and powers. This will require previous knowledge of square and cube roots and evaluating using exponents. </a:t>
            </a:r>
            <a:endParaRPr/>
          </a:p>
        </p:txBody>
      </p:sp>
      <p:sp>
        <p:nvSpPr>
          <p:cNvPr id="1079" name="Google Shape;1079;p80"/>
          <p:cNvSpPr txBox="1"/>
          <p:nvPr/>
        </p:nvSpPr>
        <p:spPr>
          <a:xfrm>
            <a:off x="4211400" y="3670150"/>
            <a:ext cx="4350300" cy="5079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2100">
                <a:solidFill>
                  <a:schemeClr val="dk1"/>
                </a:solidFill>
                <a:latin typeface="Lexend"/>
                <a:ea typeface="Lexend"/>
                <a:cs typeface="Lexend"/>
                <a:sym typeface="Lexend"/>
              </a:rPr>
              <a:t>So let’s begin with notation first.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3" name="Shape 1083"/>
        <p:cNvGrpSpPr/>
        <p:nvPr/>
      </p:nvGrpSpPr>
      <p:grpSpPr>
        <a:xfrm>
          <a:off x="0" y="0"/>
          <a:ext cx="0" cy="0"/>
          <a:chOff x="0" y="0"/>
          <a:chExt cx="0" cy="0"/>
        </a:xfrm>
      </p:grpSpPr>
      <p:sp>
        <p:nvSpPr>
          <p:cNvPr id="1084" name="Google Shape;1084;p8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Powers and roots of fractions</a:t>
            </a:r>
            <a:endParaRPr/>
          </a:p>
        </p:txBody>
      </p:sp>
      <p:grpSp>
        <p:nvGrpSpPr>
          <p:cNvPr id="1085" name="Google Shape;1085;p81"/>
          <p:cNvGrpSpPr/>
          <p:nvPr/>
        </p:nvGrpSpPr>
        <p:grpSpPr>
          <a:xfrm>
            <a:off x="551950" y="2159993"/>
            <a:ext cx="3146481" cy="2321199"/>
            <a:chOff x="2529025" y="1931250"/>
            <a:chExt cx="3584100" cy="2617500"/>
          </a:xfrm>
        </p:grpSpPr>
        <p:sp>
          <p:nvSpPr>
            <p:cNvPr id="1086" name="Google Shape;1086;p81"/>
            <p:cNvSpPr/>
            <p:nvPr/>
          </p:nvSpPr>
          <p:spPr>
            <a:xfrm>
              <a:off x="2529025" y="1931250"/>
              <a:ext cx="3584100" cy="2617500"/>
            </a:xfrm>
            <a:prstGeom prst="triangle">
              <a:avLst>
                <a:gd fmla="val 50000"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087" name="Google Shape;1087;p81"/>
            <p:cNvCxnSpPr/>
            <p:nvPr/>
          </p:nvCxnSpPr>
          <p:spPr>
            <a:xfrm>
              <a:off x="3766742" y="2706800"/>
              <a:ext cx="1095900" cy="0"/>
            </a:xfrm>
            <a:prstGeom prst="straightConnector1">
              <a:avLst/>
            </a:prstGeom>
            <a:noFill/>
            <a:ln cap="flat" cmpd="sng" w="38100">
              <a:solidFill>
                <a:schemeClr val="accent5"/>
              </a:solidFill>
              <a:prstDash val="solid"/>
              <a:round/>
              <a:headEnd len="med" w="med" type="none"/>
              <a:tailEnd len="med" w="med" type="none"/>
            </a:ln>
          </p:spPr>
        </p:cxnSp>
        <p:cxnSp>
          <p:nvCxnSpPr>
            <p:cNvPr id="1088" name="Google Shape;1088;p81"/>
            <p:cNvCxnSpPr/>
            <p:nvPr/>
          </p:nvCxnSpPr>
          <p:spPr>
            <a:xfrm>
              <a:off x="3369600" y="3320300"/>
              <a:ext cx="1899300" cy="0"/>
            </a:xfrm>
            <a:prstGeom prst="straightConnector1">
              <a:avLst/>
            </a:prstGeom>
            <a:noFill/>
            <a:ln cap="flat" cmpd="sng" w="38100">
              <a:solidFill>
                <a:schemeClr val="accent5"/>
              </a:solidFill>
              <a:prstDash val="solid"/>
              <a:round/>
              <a:headEnd len="med" w="med" type="none"/>
              <a:tailEnd len="med" w="med" type="none"/>
            </a:ln>
          </p:spPr>
        </p:cxnSp>
        <p:cxnSp>
          <p:nvCxnSpPr>
            <p:cNvPr id="1089" name="Google Shape;1089;p81"/>
            <p:cNvCxnSpPr/>
            <p:nvPr/>
          </p:nvCxnSpPr>
          <p:spPr>
            <a:xfrm flipH="1" rot="10800000">
              <a:off x="2996850" y="3910986"/>
              <a:ext cx="2653800" cy="3900"/>
            </a:xfrm>
            <a:prstGeom prst="straightConnector1">
              <a:avLst/>
            </a:prstGeom>
            <a:noFill/>
            <a:ln cap="flat" cmpd="sng" w="38100">
              <a:solidFill>
                <a:schemeClr val="accent5"/>
              </a:solidFill>
              <a:prstDash val="solid"/>
              <a:round/>
              <a:headEnd len="med" w="med" type="none"/>
              <a:tailEnd len="med" w="med" type="none"/>
            </a:ln>
          </p:spPr>
        </p:cxnSp>
      </p:grpSp>
      <p:sp>
        <p:nvSpPr>
          <p:cNvPr id="1090" name="Google Shape;1090;p81"/>
          <p:cNvSpPr txBox="1"/>
          <p:nvPr/>
        </p:nvSpPr>
        <p:spPr>
          <a:xfrm>
            <a:off x="1830362" y="2414751"/>
            <a:ext cx="1002000" cy="43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Lexend"/>
                <a:ea typeface="Lexend"/>
                <a:cs typeface="Lexend"/>
                <a:sym typeface="Lexend"/>
              </a:rPr>
              <a:t>( …. )</a:t>
            </a:r>
            <a:endParaRPr sz="2000">
              <a:latin typeface="Lexend"/>
              <a:ea typeface="Lexend"/>
              <a:cs typeface="Lexend"/>
              <a:sym typeface="Lexend"/>
            </a:endParaRPr>
          </a:p>
        </p:txBody>
      </p:sp>
      <p:grpSp>
        <p:nvGrpSpPr>
          <p:cNvPr id="1091" name="Google Shape;1091;p81"/>
          <p:cNvGrpSpPr/>
          <p:nvPr/>
        </p:nvGrpSpPr>
        <p:grpSpPr>
          <a:xfrm>
            <a:off x="2062624" y="2776136"/>
            <a:ext cx="569930" cy="463866"/>
            <a:chOff x="1546176" y="2472208"/>
            <a:chExt cx="867342" cy="705929"/>
          </a:xfrm>
        </p:grpSpPr>
        <p:sp>
          <p:nvSpPr>
            <p:cNvPr id="1092" name="Google Shape;1092;p81"/>
            <p:cNvSpPr txBox="1"/>
            <p:nvPr/>
          </p:nvSpPr>
          <p:spPr>
            <a:xfrm>
              <a:off x="1923017" y="2472208"/>
              <a:ext cx="4905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latin typeface="Lexend"/>
                  <a:ea typeface="Lexend"/>
                  <a:cs typeface="Lexend"/>
                  <a:sym typeface="Lexend"/>
                </a:rPr>
                <a:t>⬚</a:t>
              </a:r>
              <a:endParaRPr b="1" sz="2000">
                <a:latin typeface="Lexend"/>
                <a:ea typeface="Lexend"/>
                <a:cs typeface="Lexend"/>
                <a:sym typeface="Lexend"/>
              </a:endParaRPr>
            </a:p>
          </p:txBody>
        </p:sp>
        <p:sp>
          <p:nvSpPr>
            <p:cNvPr id="1093" name="Google Shape;1093;p81"/>
            <p:cNvSpPr txBox="1"/>
            <p:nvPr/>
          </p:nvSpPr>
          <p:spPr>
            <a:xfrm>
              <a:off x="1546176" y="2641138"/>
              <a:ext cx="4905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3100">
                  <a:latin typeface="Lexend"/>
                  <a:ea typeface="Lexend"/>
                  <a:cs typeface="Lexend"/>
                  <a:sym typeface="Lexend"/>
                </a:rPr>
                <a:t>⬚</a:t>
              </a:r>
              <a:endParaRPr b="1" sz="3100">
                <a:latin typeface="Lexend"/>
                <a:ea typeface="Lexend"/>
                <a:cs typeface="Lexend"/>
                <a:sym typeface="Lexend"/>
              </a:endParaRPr>
            </a:p>
          </p:txBody>
        </p:sp>
      </p:grpSp>
      <p:grpSp>
        <p:nvGrpSpPr>
          <p:cNvPr id="1094" name="Google Shape;1094;p81"/>
          <p:cNvGrpSpPr/>
          <p:nvPr/>
        </p:nvGrpSpPr>
        <p:grpSpPr>
          <a:xfrm>
            <a:off x="1520545" y="2882675"/>
            <a:ext cx="504142" cy="431426"/>
            <a:chOff x="3734648" y="2776985"/>
            <a:chExt cx="627511" cy="537000"/>
          </a:xfrm>
        </p:grpSpPr>
        <p:pic>
          <p:nvPicPr>
            <p:cNvPr descr="&lt;math xmlns=&quot;http://www.w3.org/1998/Math/MathML&quot; display=&quot;block&quot; data-is-equatio=&quot;1&quot; data-latex=&quot;\begin{array}{l}\sqrt[\ \ ]{\ \ \ }\\&amp;#13;&amp;#10;\end{array}&quot;&gt;&lt;mtable columnalign=&quot;left&quot; columnspacing=&quot;1em&quot; rowspacing=&quot;4pt&quot;&gt;&lt;mtr&gt;&lt;mtd&gt;&lt;mroot&gt;&lt;mrow&gt;&lt;mtext&gt;&lt;/mtext&gt;&lt;mtext&gt;&lt;/mtext&gt;&lt;mtext&gt;&lt;/mtext&gt;&lt;/mrow&gt;&lt;mrow&gt;&lt;mtext&gt;&lt;/mtext&gt;&lt;mtext&gt;&lt;/mtext&gt;&lt;/mrow&gt;&lt;/mroot&gt;&lt;/mtd&gt;&lt;/mtr&gt;&lt;/mtable&gt;&lt;/math&gt;" id="1095" name="Google Shape;1095;p81" title="1 lines Line 1: the root of"/>
            <p:cNvPicPr preferRelativeResize="0"/>
            <p:nvPr/>
          </p:nvPicPr>
          <p:blipFill>
            <a:blip r:embed="rId3">
              <a:alphaModFix/>
            </a:blip>
            <a:stretch>
              <a:fillRect/>
            </a:stretch>
          </p:blipFill>
          <p:spPr>
            <a:xfrm>
              <a:off x="3871597" y="2929810"/>
              <a:ext cx="490562" cy="384175"/>
            </a:xfrm>
            <a:prstGeom prst="rect">
              <a:avLst/>
            </a:prstGeom>
            <a:noFill/>
            <a:ln>
              <a:noFill/>
            </a:ln>
          </p:spPr>
        </p:pic>
        <p:sp>
          <p:nvSpPr>
            <p:cNvPr id="1096" name="Google Shape;1096;p81"/>
            <p:cNvSpPr txBox="1"/>
            <p:nvPr/>
          </p:nvSpPr>
          <p:spPr>
            <a:xfrm>
              <a:off x="3734648" y="2776985"/>
              <a:ext cx="4905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latin typeface="Lexend"/>
                  <a:ea typeface="Lexend"/>
                  <a:cs typeface="Lexend"/>
                  <a:sym typeface="Lexend"/>
                </a:rPr>
                <a:t>⬚</a:t>
              </a:r>
              <a:endParaRPr sz="1700">
                <a:latin typeface="Lexend"/>
                <a:ea typeface="Lexend"/>
                <a:cs typeface="Lexend"/>
                <a:sym typeface="Lexend"/>
              </a:endParaRPr>
            </a:p>
          </p:txBody>
        </p:sp>
      </p:grpSp>
      <p:sp>
        <p:nvSpPr>
          <p:cNvPr id="1097" name="Google Shape;1097;p81"/>
          <p:cNvSpPr txBox="1"/>
          <p:nvPr/>
        </p:nvSpPr>
        <p:spPr>
          <a:xfrm>
            <a:off x="1485864" y="3270791"/>
            <a:ext cx="1673400" cy="52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4700">
                <a:latin typeface="Lexend"/>
                <a:ea typeface="Lexend"/>
                <a:cs typeface="Lexend"/>
                <a:sym typeface="Lexend"/>
              </a:rPr>
              <a:t>×    ÷</a:t>
            </a:r>
            <a:endParaRPr sz="4700">
              <a:latin typeface="Lexend"/>
              <a:ea typeface="Lexend"/>
              <a:cs typeface="Lexend"/>
              <a:sym typeface="Lexend"/>
            </a:endParaRPr>
          </a:p>
        </p:txBody>
      </p:sp>
      <p:sp>
        <p:nvSpPr>
          <p:cNvPr id="1098" name="Google Shape;1098;p81"/>
          <p:cNvSpPr txBox="1"/>
          <p:nvPr/>
        </p:nvSpPr>
        <p:spPr>
          <a:xfrm>
            <a:off x="1442682" y="3798142"/>
            <a:ext cx="1673400" cy="52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4700">
                <a:latin typeface="Lexend"/>
                <a:ea typeface="Lexend"/>
                <a:cs typeface="Lexend"/>
                <a:sym typeface="Lexend"/>
              </a:rPr>
              <a:t>+    −</a:t>
            </a:r>
            <a:endParaRPr sz="4700">
              <a:latin typeface="Lexend"/>
              <a:ea typeface="Lexend"/>
              <a:cs typeface="Lexend"/>
              <a:sym typeface="Lexend"/>
            </a:endParaRPr>
          </a:p>
        </p:txBody>
      </p:sp>
      <p:sp>
        <p:nvSpPr>
          <p:cNvPr id="1099" name="Google Shape;1099;p81"/>
          <p:cNvSpPr txBox="1"/>
          <p:nvPr>
            <p:ph idx="1" type="body"/>
          </p:nvPr>
        </p:nvSpPr>
        <p:spPr>
          <a:xfrm>
            <a:off x="324000" y="1031425"/>
            <a:ext cx="3515700" cy="965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solidFill>
                  <a:srgbClr val="282828"/>
                </a:solidFill>
              </a:rPr>
              <a:t>For example, </a:t>
            </a:r>
            <a:endParaRPr/>
          </a:p>
        </p:txBody>
      </p:sp>
      <p:pic>
        <p:nvPicPr>
          <p:cNvPr descr="&lt;math xmlns=&quot;http://www.w3.org/1998/Math/MathML&quot; display=&quot;block&quot; data-is-equatio=&quot;1&quot; data-latex=&quot;\begin{array}{l}\left(\frac{2}{3}\right)^2=\frac{2}{3}\times\frac{2}{3}=\frac{4}{9}\\&amp;#13;&amp;#10;\sqrt{\frac{4}{9}}=\ \frac{2}{3}\end{array}&quot;&gt;&lt;mtable columnalign=&quot;left&quot; columnspacing=&quot;1em&quot; rowspacing=&quot;4pt&quot;&gt;&lt;mtr&gt;&lt;mtd&gt;&lt;msup&gt;&lt;mrow data-mjx-texclass=&quot;INNER&quot;&gt;&lt;mo data-mjx-texclass=&quot;OPEN&quot;&gt;(&lt;/mo&gt;&lt;mfrac&gt;&lt;mn&gt;2&lt;/mn&gt;&lt;mn&gt;3&lt;/mn&gt;&lt;/mfrac&gt;&lt;mo data-mjx-texclass=&quot;CLOSE&quot;&gt;)&lt;/mo&gt;&lt;/mrow&gt;&lt;mn&gt;2&lt;/mn&gt;&lt;/msup&gt;&lt;mo&gt;=&lt;/mo&gt;&lt;mfrac&gt;&lt;mn&gt;2&lt;/mn&gt;&lt;mn&gt;3&lt;/mn&gt;&lt;/mfrac&gt;&lt;mo&gt;×&lt;/mo&gt;&lt;mfrac&gt;&lt;mn&gt;2&lt;/mn&gt;&lt;mn&gt;3&lt;/mn&gt;&lt;/mfrac&gt;&lt;mo&gt;=&lt;/mo&gt;&lt;mfrac&gt;&lt;mn&gt;4&lt;/mn&gt;&lt;mn&gt;9&lt;/mn&gt;&lt;/mfrac&gt;&lt;/mtd&gt;&lt;/mtr&gt;&lt;mtr&gt;&lt;mtd&gt;&lt;msqrt&gt;&lt;mfrac&gt;&lt;mn&gt;4&lt;/mn&gt;&lt;mn&gt;9&lt;/mn&gt;&lt;/mfrac&gt;&lt;/msqrt&gt;&lt;mo&gt;=&lt;/mo&gt;&lt;mtext&gt;&lt;/mtext&gt;&lt;mfrac&gt;&lt;mn&gt;2&lt;/mn&gt;&lt;mn&gt;3&lt;/mn&gt;&lt;/mfrac&gt;&lt;/mtd&gt;&lt;/mtr&gt;&lt;/mtable&gt;&lt;/math&gt;" id="1100" name="Google Shape;1100;p81" title="2 lines Line 1: two thirds squared equals two thirds times two thirds equals four ninths Line 2: the square root of four ninths equals two thirds"/>
          <p:cNvPicPr preferRelativeResize="0"/>
          <p:nvPr/>
        </p:nvPicPr>
        <p:blipFill rotWithShape="1">
          <a:blip r:embed="rId4">
            <a:alphaModFix/>
          </a:blip>
          <a:srcRect b="55359" l="0" r="72948" t="0"/>
          <a:stretch/>
        </p:blipFill>
        <p:spPr>
          <a:xfrm>
            <a:off x="4221200" y="1617950"/>
            <a:ext cx="1011692" cy="853200"/>
          </a:xfrm>
          <a:prstGeom prst="rect">
            <a:avLst/>
          </a:prstGeom>
          <a:noFill/>
          <a:ln>
            <a:noFill/>
          </a:ln>
        </p:spPr>
      </p:pic>
      <p:pic>
        <p:nvPicPr>
          <p:cNvPr descr="&lt;math xmlns=&quot;http://www.w3.org/1998/Math/MathML&quot; display=&quot;block&quot; data-is-equatio=&quot;1&quot; data-latex=&quot;\begin{array}{l}\left(\frac{2}{3}\right)^2=\frac{2}{3}\times\frac{2}{3}=\frac{4}{9}\\&amp;#13;&amp;#10;\sqrt{\frac{4}{9}}=\ \frac{2}{3}\end{array}&quot;&gt;&lt;mtable columnalign=&quot;left&quot; columnspacing=&quot;1em&quot; rowspacing=&quot;4pt&quot;&gt;&lt;mtr&gt;&lt;mtd&gt;&lt;msup&gt;&lt;mrow data-mjx-texclass=&quot;INNER&quot;&gt;&lt;mo data-mjx-texclass=&quot;OPEN&quot;&gt;(&lt;/mo&gt;&lt;mfrac&gt;&lt;mn&gt;2&lt;/mn&gt;&lt;mn&gt;3&lt;/mn&gt;&lt;/mfrac&gt;&lt;mo data-mjx-texclass=&quot;CLOSE&quot;&gt;)&lt;/mo&gt;&lt;/mrow&gt;&lt;mn&gt;2&lt;/mn&gt;&lt;/msup&gt;&lt;mo&gt;=&lt;/mo&gt;&lt;mfrac&gt;&lt;mn&gt;2&lt;/mn&gt;&lt;mn&gt;3&lt;/mn&gt;&lt;/mfrac&gt;&lt;mo&gt;×&lt;/mo&gt;&lt;mfrac&gt;&lt;mn&gt;2&lt;/mn&gt;&lt;mn&gt;3&lt;/mn&gt;&lt;/mfrac&gt;&lt;mo&gt;=&lt;/mo&gt;&lt;mfrac&gt;&lt;mn&gt;4&lt;/mn&gt;&lt;mn&gt;9&lt;/mn&gt;&lt;/mfrac&gt;&lt;/mtd&gt;&lt;/mtr&gt;&lt;mtr&gt;&lt;mtd&gt;&lt;msqrt&gt;&lt;mfrac&gt;&lt;mn&gt;4&lt;/mn&gt;&lt;mn&gt;9&lt;/mn&gt;&lt;/mfrac&gt;&lt;/msqrt&gt;&lt;mo&gt;=&lt;/mo&gt;&lt;mtext&gt;&lt;/mtext&gt;&lt;mfrac&gt;&lt;mn&gt;2&lt;/mn&gt;&lt;mn&gt;3&lt;/mn&gt;&lt;/mfrac&gt;&lt;/mtd&gt;&lt;/mtr&gt;&lt;/mtable&gt;&lt;/math&gt;" id="1101" name="Google Shape;1101;p81" title="2 lines Line 1: two thirds squared equals two thirds times two thirds equals four ninths Line 2: the square root of four ninths equals two thirds"/>
          <p:cNvPicPr preferRelativeResize="0"/>
          <p:nvPr/>
        </p:nvPicPr>
        <p:blipFill rotWithShape="1">
          <a:blip r:embed="rId4">
            <a:alphaModFix/>
          </a:blip>
          <a:srcRect b="55359" l="26980" r="20660" t="0"/>
          <a:stretch/>
        </p:blipFill>
        <p:spPr>
          <a:xfrm>
            <a:off x="5194824" y="1617950"/>
            <a:ext cx="1958149" cy="853200"/>
          </a:xfrm>
          <a:prstGeom prst="rect">
            <a:avLst/>
          </a:prstGeom>
          <a:noFill/>
          <a:ln>
            <a:noFill/>
          </a:ln>
        </p:spPr>
      </p:pic>
      <p:pic>
        <p:nvPicPr>
          <p:cNvPr descr="&lt;math xmlns=&quot;http://www.w3.org/1998/Math/MathML&quot; display=&quot;block&quot; data-is-equatio=&quot;1&quot; data-latex=&quot;\begin{array}{l}\left(\frac{2}{3}\right)^2=\frac{2}{3}\times\frac{2}{3}=\frac{4}{9}\\&amp;#13;&amp;#10;\sqrt{\frac{4}{9}}=\ \frac{2}{3}\end{array}&quot;&gt;&lt;mtable columnalign=&quot;left&quot; columnspacing=&quot;1em&quot; rowspacing=&quot;4pt&quot;&gt;&lt;mtr&gt;&lt;mtd&gt;&lt;msup&gt;&lt;mrow data-mjx-texclass=&quot;INNER&quot;&gt;&lt;mo data-mjx-texclass=&quot;OPEN&quot;&gt;(&lt;/mo&gt;&lt;mfrac&gt;&lt;mn&gt;2&lt;/mn&gt;&lt;mn&gt;3&lt;/mn&gt;&lt;/mfrac&gt;&lt;mo data-mjx-texclass=&quot;CLOSE&quot;&gt;)&lt;/mo&gt;&lt;/mrow&gt;&lt;mn&gt;2&lt;/mn&gt;&lt;/msup&gt;&lt;mo&gt;=&lt;/mo&gt;&lt;mfrac&gt;&lt;mn&gt;2&lt;/mn&gt;&lt;mn&gt;3&lt;/mn&gt;&lt;/mfrac&gt;&lt;mo&gt;×&lt;/mo&gt;&lt;mfrac&gt;&lt;mn&gt;2&lt;/mn&gt;&lt;mn&gt;3&lt;/mn&gt;&lt;/mfrac&gt;&lt;mo&gt;=&lt;/mo&gt;&lt;mfrac&gt;&lt;mn&gt;4&lt;/mn&gt;&lt;mn&gt;9&lt;/mn&gt;&lt;/mfrac&gt;&lt;/mtd&gt;&lt;/mtr&gt;&lt;mtr&gt;&lt;mtd&gt;&lt;msqrt&gt;&lt;mfrac&gt;&lt;mn&gt;4&lt;/mn&gt;&lt;mn&gt;9&lt;/mn&gt;&lt;/mfrac&gt;&lt;/msqrt&gt;&lt;mo&gt;=&lt;/mo&gt;&lt;mtext&gt;&lt;/mtext&gt;&lt;mfrac&gt;&lt;mn&gt;2&lt;/mn&gt;&lt;mn&gt;3&lt;/mn&gt;&lt;/mfrac&gt;&lt;/mtd&gt;&lt;/mtr&gt;&lt;/mtable&gt;&lt;/math&gt;" id="1102" name="Google Shape;1102;p81" title="2 lines Line 1: two thirds squared equals two thirds times two thirds equals four ninths Line 2: the square root of four ninths equals two thirds"/>
          <p:cNvPicPr preferRelativeResize="0"/>
          <p:nvPr/>
        </p:nvPicPr>
        <p:blipFill rotWithShape="1">
          <a:blip r:embed="rId4">
            <a:alphaModFix/>
          </a:blip>
          <a:srcRect b="55359" l="76458" r="-5496" t="0"/>
          <a:stretch/>
        </p:blipFill>
        <p:spPr>
          <a:xfrm>
            <a:off x="7076015" y="1617950"/>
            <a:ext cx="1085951" cy="853200"/>
          </a:xfrm>
          <a:prstGeom prst="rect">
            <a:avLst/>
          </a:prstGeom>
          <a:noFill/>
          <a:ln>
            <a:noFill/>
          </a:ln>
        </p:spPr>
      </p:pic>
      <p:pic>
        <p:nvPicPr>
          <p:cNvPr descr="&lt;math xmlns=&quot;http://www.w3.org/1998/Math/MathML&quot; display=&quot;block&quot; data-is-equatio=&quot;1&quot; data-latex=&quot;\begin{array}{l}\left(\frac{2}{3}\right)^2=\frac{2}{3}\times\frac{2}{3}=\frac{4}{9}\\&amp;#13;&amp;#10;\sqrt{\frac{4}{9}}=\ \frac{2}{3}\end{array}&quot;&gt;&lt;mtable columnalign=&quot;left&quot; columnspacing=&quot;1em&quot; rowspacing=&quot;4pt&quot;&gt;&lt;mtr&gt;&lt;mtd&gt;&lt;msup&gt;&lt;mrow data-mjx-texclass=&quot;INNER&quot;&gt;&lt;mo data-mjx-texclass=&quot;OPEN&quot;&gt;(&lt;/mo&gt;&lt;mfrac&gt;&lt;mn&gt;2&lt;/mn&gt;&lt;mn&gt;3&lt;/mn&gt;&lt;/mfrac&gt;&lt;mo data-mjx-texclass=&quot;CLOSE&quot;&gt;)&lt;/mo&gt;&lt;/mrow&gt;&lt;mn&gt;2&lt;/mn&gt;&lt;/msup&gt;&lt;mo&gt;=&lt;/mo&gt;&lt;mfrac&gt;&lt;mn&gt;2&lt;/mn&gt;&lt;mn&gt;3&lt;/mn&gt;&lt;/mfrac&gt;&lt;mo&gt;×&lt;/mo&gt;&lt;mfrac&gt;&lt;mn&gt;2&lt;/mn&gt;&lt;mn&gt;3&lt;/mn&gt;&lt;/mfrac&gt;&lt;mo&gt;=&lt;/mo&gt;&lt;mfrac&gt;&lt;mn&gt;4&lt;/mn&gt;&lt;mn&gt;9&lt;/mn&gt;&lt;/mfrac&gt;&lt;/mtd&gt;&lt;/mtr&gt;&lt;mtr&gt;&lt;mtd&gt;&lt;msqrt&gt;&lt;mfrac&gt;&lt;mn&gt;4&lt;/mn&gt;&lt;mn&gt;9&lt;/mn&gt;&lt;/mfrac&gt;&lt;/msqrt&gt;&lt;mo&gt;=&lt;/mo&gt;&lt;mtext&gt;&lt;/mtext&gt;&lt;mfrac&gt;&lt;mn&gt;2&lt;/mn&gt;&lt;mn&gt;3&lt;/mn&gt;&lt;/mfrac&gt;&lt;/mtd&gt;&lt;/mtr&gt;&lt;/mtable&gt;&lt;/math&gt;" id="1103" name="Google Shape;1103;p81" title="2 lines Line 1: two thirds squared equals two thirds times two thirds equals four ninths Line 2: the square root of four ninths equals two thirds"/>
          <p:cNvPicPr preferRelativeResize="0"/>
          <p:nvPr/>
        </p:nvPicPr>
        <p:blipFill rotWithShape="1">
          <a:blip r:embed="rId4">
            <a:alphaModFix/>
          </a:blip>
          <a:srcRect b="-5857" l="-10976" r="42072" t="45714"/>
          <a:stretch/>
        </p:blipFill>
        <p:spPr>
          <a:xfrm>
            <a:off x="6018949" y="3325000"/>
            <a:ext cx="2421214" cy="1080000"/>
          </a:xfrm>
          <a:prstGeom prst="rect">
            <a:avLst/>
          </a:prstGeom>
          <a:noFill/>
          <a:ln>
            <a:noFill/>
          </a:ln>
        </p:spPr>
      </p:pic>
      <p:sp>
        <p:nvSpPr>
          <p:cNvPr id="1104" name="Google Shape;1104;p81"/>
          <p:cNvSpPr txBox="1"/>
          <p:nvPr>
            <p:ph idx="1" type="body"/>
          </p:nvPr>
        </p:nvSpPr>
        <p:spPr>
          <a:xfrm>
            <a:off x="3698425" y="2837900"/>
            <a:ext cx="2979900" cy="46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solidFill>
                  <a:srgbClr val="282828"/>
                </a:solidFill>
              </a:rPr>
              <a:t>Therefore, </a:t>
            </a:r>
            <a:endParaRPr/>
          </a:p>
        </p:txBody>
      </p:sp>
      <p:cxnSp>
        <p:nvCxnSpPr>
          <p:cNvPr id="1105" name="Google Shape;1105;p81"/>
          <p:cNvCxnSpPr/>
          <p:nvPr/>
        </p:nvCxnSpPr>
        <p:spPr>
          <a:xfrm>
            <a:off x="5773525" y="3865000"/>
            <a:ext cx="444000" cy="0"/>
          </a:xfrm>
          <a:prstGeom prst="straightConnector1">
            <a:avLst/>
          </a:prstGeom>
          <a:noFill/>
          <a:ln cap="flat" cmpd="sng" w="28575">
            <a:solidFill>
              <a:schemeClr val="accent5"/>
            </a:solidFill>
            <a:prstDash val="solid"/>
            <a:round/>
            <a:headEnd len="med" w="med" type="none"/>
            <a:tailEnd len="med" w="med" type="triangle"/>
          </a:ln>
        </p:spPr>
      </p:cxnSp>
      <p:sp>
        <p:nvSpPr>
          <p:cNvPr id="1106" name="Google Shape;1106;p81"/>
          <p:cNvSpPr txBox="1"/>
          <p:nvPr/>
        </p:nvSpPr>
        <p:spPr>
          <a:xfrm>
            <a:off x="4459525" y="3475600"/>
            <a:ext cx="1472100" cy="85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Implicit brackets</a:t>
            </a:r>
            <a:endParaRPr sz="22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0" name="Shape 1110"/>
        <p:cNvGrpSpPr/>
        <p:nvPr/>
      </p:nvGrpSpPr>
      <p:grpSpPr>
        <a:xfrm>
          <a:off x="0" y="0"/>
          <a:ext cx="0" cy="0"/>
          <a:chOff x="0" y="0"/>
          <a:chExt cx="0" cy="0"/>
        </a:xfrm>
      </p:grpSpPr>
      <p:sp>
        <p:nvSpPr>
          <p:cNvPr id="1111" name="Google Shape;1111;p82"/>
          <p:cNvSpPr txBox="1"/>
          <p:nvPr/>
        </p:nvSpPr>
        <p:spPr>
          <a:xfrm>
            <a:off x="250200" y="3434275"/>
            <a:ext cx="8139600" cy="10578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Neither are correct as the answer is       </a:t>
            </a:r>
            <a:endParaRPr sz="1800">
              <a:solidFill>
                <a:schemeClr val="dk1"/>
              </a:solidFill>
              <a:latin typeface="Kalam"/>
              <a:ea typeface="Kalam"/>
              <a:cs typeface="Kalam"/>
              <a:sym typeface="Kalam"/>
            </a:endParaRPr>
          </a:p>
          <a:p>
            <a:pPr indent="0" lvl="0" marL="0" rtl="0" algn="l">
              <a:spcBef>
                <a:spcPts val="0"/>
              </a:spcBef>
              <a:spcAft>
                <a:spcPts val="0"/>
              </a:spcAft>
              <a:buNone/>
            </a:pPr>
            <a:r>
              <a:t/>
            </a:r>
            <a:endParaRPr sz="26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Kalam"/>
                <a:ea typeface="Kalam"/>
                <a:cs typeface="Kalam"/>
                <a:sym typeface="Kalam"/>
              </a:rPr>
              <a:t>Aisha thought the question was      . Laura thought the question was</a:t>
            </a:r>
            <a:endParaRPr sz="1800">
              <a:solidFill>
                <a:schemeClr val="dk1"/>
              </a:solidFill>
              <a:latin typeface="Kalam"/>
              <a:ea typeface="Kalam"/>
              <a:cs typeface="Kalam"/>
              <a:sym typeface="Kalam"/>
            </a:endParaRPr>
          </a:p>
        </p:txBody>
      </p:sp>
      <p:sp>
        <p:nvSpPr>
          <p:cNvPr id="1112" name="Google Shape;1112;p82"/>
          <p:cNvSpPr txBox="1"/>
          <p:nvPr>
            <p:ph idx="1" type="body"/>
          </p:nvPr>
        </p:nvSpPr>
        <p:spPr>
          <a:xfrm>
            <a:off x="324000" y="759300"/>
            <a:ext cx="5450400" cy="444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Aisha and Laura are given a question.</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1113" name="Google Shape;1113;p8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Powers and roots of fractions</a:t>
            </a:r>
            <a:endParaRPr/>
          </a:p>
        </p:txBody>
      </p:sp>
      <p:pic>
        <p:nvPicPr>
          <p:cNvPr id="1114" name="Google Shape;1114;p82"/>
          <p:cNvPicPr preferRelativeResize="0"/>
          <p:nvPr/>
        </p:nvPicPr>
        <p:blipFill>
          <a:blip r:embed="rId3">
            <a:alphaModFix/>
          </a:blip>
          <a:stretch>
            <a:fillRect/>
          </a:stretch>
        </p:blipFill>
        <p:spPr>
          <a:xfrm>
            <a:off x="547038" y="1767556"/>
            <a:ext cx="623346" cy="1177024"/>
          </a:xfrm>
          <a:prstGeom prst="rect">
            <a:avLst/>
          </a:prstGeom>
          <a:noFill/>
          <a:ln>
            <a:noFill/>
          </a:ln>
        </p:spPr>
      </p:pic>
      <p:pic>
        <p:nvPicPr>
          <p:cNvPr descr="&lt;math xmlns=&quot;http://www.w3.org/1998/Math/MathML&quot; display=&quot;block&quot; data-is-equatio=&quot;1&quot; data-latex=&quot;\begin{array}{l}\frac{\sqrt{25}}{36}\\&amp;#13;&amp;#10;\sqrt{\frac{25}{36}}\\&amp;#13;&amp;#10;\frac{25}{\sqrt{36}}\end{array}&quot;&gt;&lt;mtable columnalign=&quot;left&quot; columnspacing=&quot;1em&quot; rowspacing=&quot;4pt&quot;&gt;&lt;mtr&gt;&lt;mtd&gt;&lt;mfrac&gt;&lt;msqrt&gt;&lt;mn&gt;25&lt;/mn&gt;&lt;/msqrt&gt;&lt;mn&gt;36&lt;/mn&gt;&lt;/mfrac&gt;&lt;/mtd&gt;&lt;/mtr&gt;&lt;mtr&gt;&lt;mtd&gt;&lt;msqrt&gt;&lt;mfrac&gt;&lt;mn&gt;25&lt;/mn&gt;&lt;mn&gt;36&lt;/mn&gt;&lt;/mfrac&gt;&lt;/msqrt&gt;&lt;/mtd&gt;&lt;/mtr&gt;&lt;mtr&gt;&lt;mtd&gt;&lt;mfrac&gt;&lt;mn&gt;25&lt;/mn&gt;&lt;msqrt&gt;&lt;mn&gt;36&lt;/mn&gt;&lt;/msqrt&gt;&lt;/mfrac&gt;&lt;/mtd&gt;&lt;/mtr&gt;&lt;/mtable&gt;&lt;/math&gt;" id="1115" name="Google Shape;1115;p82" title="3 lines Line 1: the fraction with numerator the square root of 25 and denominator 36 Line 2: the square root of 25 over 36 Line 3: the fraction with numerator 25 and denominator the square root of 36"/>
          <p:cNvPicPr preferRelativeResize="0"/>
          <p:nvPr/>
        </p:nvPicPr>
        <p:blipFill rotWithShape="1">
          <a:blip r:embed="rId4">
            <a:alphaModFix/>
          </a:blip>
          <a:srcRect b="0" l="0" r="0" t="69065"/>
          <a:stretch/>
        </p:blipFill>
        <p:spPr>
          <a:xfrm>
            <a:off x="7230975" y="4021575"/>
            <a:ext cx="623325" cy="596842"/>
          </a:xfrm>
          <a:prstGeom prst="rect">
            <a:avLst/>
          </a:prstGeom>
          <a:noFill/>
          <a:ln>
            <a:noFill/>
          </a:ln>
        </p:spPr>
      </p:pic>
      <p:sp>
        <p:nvSpPr>
          <p:cNvPr id="1116" name="Google Shape;1116;p82"/>
          <p:cNvSpPr txBox="1"/>
          <p:nvPr>
            <p:ph idx="1" type="body"/>
          </p:nvPr>
        </p:nvSpPr>
        <p:spPr>
          <a:xfrm>
            <a:off x="325375" y="3087600"/>
            <a:ext cx="7941300" cy="444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Who is correct and can you </a:t>
            </a:r>
            <a:r>
              <a:rPr lang="en-GB" sz="2000"/>
              <a:t>explain</a:t>
            </a:r>
            <a:r>
              <a:rPr lang="en-GB" sz="2000"/>
              <a:t> how they made their error?</a:t>
            </a:r>
            <a:endParaRPr sz="2000"/>
          </a:p>
        </p:txBody>
      </p:sp>
      <p:pic>
        <p:nvPicPr>
          <p:cNvPr id="1117" name="Google Shape;1117;p82"/>
          <p:cNvPicPr preferRelativeResize="0"/>
          <p:nvPr/>
        </p:nvPicPr>
        <p:blipFill>
          <a:blip r:embed="rId5">
            <a:alphaModFix/>
          </a:blip>
          <a:stretch>
            <a:fillRect/>
          </a:stretch>
        </p:blipFill>
        <p:spPr>
          <a:xfrm>
            <a:off x="1315138" y="1372887"/>
            <a:ext cx="2389026" cy="1577100"/>
          </a:xfrm>
          <a:prstGeom prst="rect">
            <a:avLst/>
          </a:prstGeom>
          <a:noFill/>
          <a:ln>
            <a:noFill/>
          </a:ln>
        </p:spPr>
      </p:pic>
      <p:sp>
        <p:nvSpPr>
          <p:cNvPr id="1118" name="Google Shape;1118;p82"/>
          <p:cNvSpPr txBox="1"/>
          <p:nvPr/>
        </p:nvSpPr>
        <p:spPr>
          <a:xfrm>
            <a:off x="1431151" y="1441425"/>
            <a:ext cx="2273100" cy="11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The answer is…</a:t>
            </a:r>
            <a:endParaRPr sz="2200">
              <a:solidFill>
                <a:schemeClr val="dk1"/>
              </a:solidFill>
              <a:latin typeface="Lexend"/>
              <a:ea typeface="Lexend"/>
              <a:cs typeface="Lexend"/>
              <a:sym typeface="Lexend"/>
            </a:endParaRPr>
          </a:p>
        </p:txBody>
      </p:sp>
      <p:pic>
        <p:nvPicPr>
          <p:cNvPr id="1119" name="Google Shape;1119;p82"/>
          <p:cNvPicPr preferRelativeResize="0"/>
          <p:nvPr/>
        </p:nvPicPr>
        <p:blipFill>
          <a:blip r:embed="rId5">
            <a:alphaModFix/>
          </a:blip>
          <a:stretch>
            <a:fillRect/>
          </a:stretch>
        </p:blipFill>
        <p:spPr>
          <a:xfrm flipH="1">
            <a:off x="5282212" y="1367475"/>
            <a:ext cx="2317775" cy="1577100"/>
          </a:xfrm>
          <a:prstGeom prst="rect">
            <a:avLst/>
          </a:prstGeom>
          <a:noFill/>
          <a:ln>
            <a:noFill/>
          </a:ln>
        </p:spPr>
      </p:pic>
      <p:sp>
        <p:nvSpPr>
          <p:cNvPr id="1120" name="Google Shape;1120;p82"/>
          <p:cNvSpPr txBox="1"/>
          <p:nvPr/>
        </p:nvSpPr>
        <p:spPr>
          <a:xfrm>
            <a:off x="5282225" y="1367475"/>
            <a:ext cx="2317800" cy="128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The answer is…</a:t>
            </a:r>
            <a:endParaRPr sz="2200">
              <a:solidFill>
                <a:schemeClr val="dk1"/>
              </a:solidFill>
              <a:latin typeface="Lexend"/>
              <a:ea typeface="Lexend"/>
              <a:cs typeface="Lexend"/>
              <a:sym typeface="Lexend"/>
            </a:endParaRPr>
          </a:p>
        </p:txBody>
      </p:sp>
      <p:pic>
        <p:nvPicPr>
          <p:cNvPr id="1121" name="Google Shape;1121;p82"/>
          <p:cNvPicPr preferRelativeResize="0"/>
          <p:nvPr/>
        </p:nvPicPr>
        <p:blipFill>
          <a:blip r:embed="rId6">
            <a:alphaModFix/>
          </a:blip>
          <a:stretch>
            <a:fillRect/>
          </a:stretch>
        </p:blipFill>
        <p:spPr>
          <a:xfrm>
            <a:off x="7655002" y="1827102"/>
            <a:ext cx="807750" cy="1057915"/>
          </a:xfrm>
          <a:prstGeom prst="rect">
            <a:avLst/>
          </a:prstGeom>
          <a:noFill/>
          <a:ln>
            <a:noFill/>
          </a:ln>
        </p:spPr>
      </p:pic>
      <p:sp>
        <p:nvSpPr>
          <p:cNvPr id="1122" name="Google Shape;1122;p82"/>
          <p:cNvSpPr/>
          <p:nvPr/>
        </p:nvSpPr>
        <p:spPr>
          <a:xfrm>
            <a:off x="3801563" y="1203300"/>
            <a:ext cx="1368000" cy="17466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latin typeface="Lexend"/>
                <a:ea typeface="Lexend"/>
                <a:cs typeface="Lexend"/>
                <a:sym typeface="Lexend"/>
              </a:rPr>
              <a:t>Work out</a:t>
            </a:r>
            <a:endParaRPr sz="2000">
              <a:latin typeface="Lexend"/>
              <a:ea typeface="Lexend"/>
              <a:cs typeface="Lexend"/>
              <a:sym typeface="Lexend"/>
            </a:endParaRPr>
          </a:p>
          <a:p>
            <a:pPr indent="0" lvl="0" marL="0" rtl="0" algn="ctr">
              <a:spcBef>
                <a:spcPts val="0"/>
              </a:spcBef>
              <a:spcAft>
                <a:spcPts val="0"/>
              </a:spcAft>
              <a:buNone/>
            </a:pPr>
            <a:r>
              <a:t/>
            </a:r>
            <a:endParaRPr sz="2000">
              <a:latin typeface="Lexend"/>
              <a:ea typeface="Lexend"/>
              <a:cs typeface="Lexend"/>
              <a:sym typeface="Lexend"/>
            </a:endParaRPr>
          </a:p>
          <a:p>
            <a:pPr indent="0" lvl="0" marL="0" rtl="0" algn="ctr">
              <a:spcBef>
                <a:spcPts val="0"/>
              </a:spcBef>
              <a:spcAft>
                <a:spcPts val="0"/>
              </a:spcAft>
              <a:buNone/>
            </a:pPr>
            <a:r>
              <a:t/>
            </a:r>
            <a:endParaRPr sz="2000">
              <a:latin typeface="Lexend"/>
              <a:ea typeface="Lexend"/>
              <a:cs typeface="Lexend"/>
              <a:sym typeface="Lexend"/>
            </a:endParaRPr>
          </a:p>
          <a:p>
            <a:pPr indent="0" lvl="0" marL="0" rtl="0" algn="ctr">
              <a:spcBef>
                <a:spcPts val="0"/>
              </a:spcBef>
              <a:spcAft>
                <a:spcPts val="0"/>
              </a:spcAft>
              <a:buNone/>
            </a:pPr>
            <a:r>
              <a:t/>
            </a:r>
            <a:endParaRPr sz="2000">
              <a:latin typeface="Lexend"/>
              <a:ea typeface="Lexend"/>
              <a:cs typeface="Lexend"/>
              <a:sym typeface="Lexend"/>
            </a:endParaRPr>
          </a:p>
        </p:txBody>
      </p:sp>
      <p:pic>
        <p:nvPicPr>
          <p:cNvPr descr="&lt;math xmlns=&quot;http://www.w3.org/1998/Math/MathML&quot; display=&quot;block&quot; data-is-equatio=&quot;1&quot; data-latex=&quot;\begin{array}{l}\frac{\sqrt{25}}{36}\\&amp;#13;&amp;#10;\sqrt{\frac{25}{36}}\\&amp;#13;&amp;#10;\frac{25}{\sqrt{36}}\end{array}&quot;&gt;&lt;mtable columnalign=&quot;left&quot; columnspacing=&quot;1em&quot; rowspacing=&quot;4pt&quot;&gt;&lt;mtr&gt;&lt;mtd&gt;&lt;mfrac&gt;&lt;msqrt&gt;&lt;mn&gt;25&lt;/mn&gt;&lt;/msqrt&gt;&lt;mn&gt;36&lt;/mn&gt;&lt;/mfrac&gt;&lt;/mtd&gt;&lt;/mtr&gt;&lt;mtr&gt;&lt;mtd&gt;&lt;msqrt&gt;&lt;mfrac&gt;&lt;mn&gt;25&lt;/mn&gt;&lt;mn&gt;36&lt;/mn&gt;&lt;/mfrac&gt;&lt;/msqrt&gt;&lt;/mtd&gt;&lt;/mtr&gt;&lt;mtr&gt;&lt;mtd&gt;&lt;mfrac&gt;&lt;mn&gt;25&lt;/mn&gt;&lt;msqrt&gt;&lt;mn&gt;36&lt;/mn&gt;&lt;/msqrt&gt;&lt;/mfrac&gt;&lt;/mtd&gt;&lt;/mtr&gt;&lt;/mtable&gt;&lt;/math&gt;" id="1123" name="Google Shape;1123;p82" title="3 lines Line 1: the fraction with numerator the square root of 25 and denominator 36 Line 2: the square root of 25 over 36 Line 3: the fraction with numerator 25 and denominator the square root of 36"/>
          <p:cNvPicPr preferRelativeResize="0"/>
          <p:nvPr/>
        </p:nvPicPr>
        <p:blipFill rotWithShape="1">
          <a:blip r:embed="rId4">
            <a:alphaModFix/>
          </a:blip>
          <a:srcRect b="32664" l="0" r="0" t="32204"/>
          <a:stretch/>
        </p:blipFill>
        <p:spPr>
          <a:xfrm>
            <a:off x="4076188" y="1955588"/>
            <a:ext cx="736550" cy="800950"/>
          </a:xfrm>
          <a:prstGeom prst="rect">
            <a:avLst/>
          </a:prstGeom>
          <a:noFill/>
          <a:ln>
            <a:noFill/>
          </a:ln>
        </p:spPr>
      </p:pic>
      <p:pic>
        <p:nvPicPr>
          <p:cNvPr descr="&lt;math xmlns=&quot;http://www.w3.org/1998/Math/MathML&quot; display=&quot;block&quot; data-is-equatio=&quot;1&quot; data-latex=&quot;\frac{5}{6}&quot;&gt;&lt;mfrac&gt;&lt;mn&gt;5&lt;/mn&gt;&lt;mn&gt;6&lt;/mn&gt;&lt;/mfrac&gt;&lt;/math&gt;" id="1124" name="Google Shape;1124;p82" title="five sixths"/>
          <p:cNvPicPr preferRelativeResize="0"/>
          <p:nvPr/>
        </p:nvPicPr>
        <p:blipFill>
          <a:blip r:embed="rId7">
            <a:alphaModFix/>
          </a:blip>
          <a:stretch>
            <a:fillRect/>
          </a:stretch>
        </p:blipFill>
        <p:spPr>
          <a:xfrm>
            <a:off x="4005125" y="3434275"/>
            <a:ext cx="135588" cy="444000"/>
          </a:xfrm>
          <a:prstGeom prst="rect">
            <a:avLst/>
          </a:prstGeom>
          <a:noFill/>
          <a:ln>
            <a:noFill/>
          </a:ln>
        </p:spPr>
      </p:pic>
      <p:pic>
        <p:nvPicPr>
          <p:cNvPr descr="&lt;math xmlns=&quot;http://www.w3.org/1998/Math/MathML&quot; display=&quot;block&quot; data-is-equatio=&quot;1&quot; data-latex=&quot;=\frac{5}{36}\ \ \ =\frac{25}{6}&quot;&gt;&lt;mo&gt;=&lt;/mo&gt;&lt;mfrac&gt;&lt;mn&gt;5&lt;/mn&gt;&lt;mn&gt;36&lt;/mn&gt;&lt;/mfrac&gt;&lt;mtext&gt;&lt;/mtext&gt;&lt;mtext&gt;&lt;/mtext&gt;&lt;mtext&gt;&lt;/mtext&gt;&lt;mo&gt;=&lt;/mo&gt;&lt;mfrac&gt;&lt;mn&gt;25&lt;/mn&gt;&lt;mn&gt;6&lt;/mn&gt;&lt;/mfrac&gt;&lt;/math&gt;" id="1125" name="Google Shape;1125;p82" title="equals 5 over 36 equals 25 over 6"/>
          <p:cNvPicPr preferRelativeResize="0"/>
          <p:nvPr/>
        </p:nvPicPr>
        <p:blipFill rotWithShape="1">
          <a:blip r:embed="rId8">
            <a:alphaModFix/>
          </a:blip>
          <a:srcRect b="0" l="16950" r="58610" t="0"/>
          <a:stretch/>
        </p:blipFill>
        <p:spPr>
          <a:xfrm>
            <a:off x="2270062" y="1888124"/>
            <a:ext cx="431825" cy="667047"/>
          </a:xfrm>
          <a:prstGeom prst="rect">
            <a:avLst/>
          </a:prstGeom>
          <a:noFill/>
          <a:ln>
            <a:noFill/>
          </a:ln>
        </p:spPr>
      </p:pic>
      <p:pic>
        <p:nvPicPr>
          <p:cNvPr descr="&lt;math xmlns=&quot;http://www.w3.org/1998/Math/MathML&quot; display=&quot;block&quot; data-is-equatio=&quot;1&quot; data-latex=&quot;=\frac{5}{36}\ \ \ =\frac{25}{6}&quot;&gt;&lt;mo&gt;=&lt;/mo&gt;&lt;mfrac&gt;&lt;mn&gt;5&lt;/mn&gt;&lt;mn&gt;36&lt;/mn&gt;&lt;/mfrac&gt;&lt;mtext&gt;&lt;/mtext&gt;&lt;mtext&gt;&lt;/mtext&gt;&lt;mtext&gt;&lt;/mtext&gt;&lt;mo&gt;=&lt;/mo&gt;&lt;mfrac&gt;&lt;mn&gt;25&lt;/mn&gt;&lt;mn&gt;6&lt;/mn&gt;&lt;/mfrac&gt;&lt;/math&gt;" id="1126" name="Google Shape;1126;p82" title="equals 5 over 36 equals 25 over 6"/>
          <p:cNvPicPr preferRelativeResize="0"/>
          <p:nvPr/>
        </p:nvPicPr>
        <p:blipFill rotWithShape="1">
          <a:blip r:embed="rId8">
            <a:alphaModFix/>
          </a:blip>
          <a:srcRect b="0" l="75473" r="-3697" t="0"/>
          <a:stretch/>
        </p:blipFill>
        <p:spPr>
          <a:xfrm>
            <a:off x="6187075" y="1888125"/>
            <a:ext cx="498700" cy="667050"/>
          </a:xfrm>
          <a:prstGeom prst="rect">
            <a:avLst/>
          </a:prstGeom>
          <a:noFill/>
          <a:ln>
            <a:noFill/>
          </a:ln>
        </p:spPr>
      </p:pic>
      <p:pic>
        <p:nvPicPr>
          <p:cNvPr descr="&lt;math xmlns=&quot;http://www.w3.org/1998/Math/MathML&quot; display=&quot;block&quot; data-is-equatio=&quot;1&quot; data-latex=&quot;\begin{array}{l}\frac{\sqrt{25}}{36}\\&amp;#13;&amp;#10;\sqrt{\frac{25}{36}}\\&amp;#13;&amp;#10;\frac{25}{\sqrt{36}}\end{array}&quot;&gt;&lt;mtable columnalign=&quot;left&quot; columnspacing=&quot;1em&quot; rowspacing=&quot;4pt&quot;&gt;&lt;mtr&gt;&lt;mtd&gt;&lt;mfrac&gt;&lt;msqrt&gt;&lt;mn&gt;25&lt;/mn&gt;&lt;/msqrt&gt;&lt;mn&gt;36&lt;/mn&gt;&lt;/mfrac&gt;&lt;/mtd&gt;&lt;/mtr&gt;&lt;mtr&gt;&lt;mtd&gt;&lt;msqrt&gt;&lt;mfrac&gt;&lt;mn&gt;25&lt;/mn&gt;&lt;mn&gt;36&lt;/mn&gt;&lt;/mfrac&gt;&lt;/msqrt&gt;&lt;/mtd&gt;&lt;/mtr&gt;&lt;mtr&gt;&lt;mtd&gt;&lt;mfrac&gt;&lt;mn&gt;25&lt;/mn&gt;&lt;msqrt&gt;&lt;mn&gt;36&lt;/mn&gt;&lt;/msqrt&gt;&lt;/mfrac&gt;&lt;/mtd&gt;&lt;/mtr&gt;&lt;/mtable&gt;&lt;/math&gt;" id="1127" name="Google Shape;1127;p82" title="3 lines Line 1: the fraction with numerator the square root of 25 and denominator 36 Line 2: the square root of 25 over 36 Line 3: the fraction with numerator 25 and denominator the square root of 36"/>
          <p:cNvPicPr preferRelativeResize="0"/>
          <p:nvPr/>
        </p:nvPicPr>
        <p:blipFill rotWithShape="1">
          <a:blip r:embed="rId4">
            <a:alphaModFix/>
          </a:blip>
          <a:srcRect b="69046" l="0" r="0" t="0"/>
          <a:stretch/>
        </p:blipFill>
        <p:spPr>
          <a:xfrm>
            <a:off x="3422575" y="4081023"/>
            <a:ext cx="560909" cy="537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p83"/>
          <p:cNvSpPr txBox="1"/>
          <p:nvPr>
            <p:ph idx="1" type="body"/>
          </p:nvPr>
        </p:nvSpPr>
        <p:spPr>
          <a:xfrm>
            <a:off x="324000" y="683100"/>
            <a:ext cx="8237700" cy="454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Match up the calculation on the top row with the correct answer on the bottom row.</a:t>
            </a:r>
            <a:endParaRPr/>
          </a:p>
        </p:txBody>
      </p:sp>
      <p:sp>
        <p:nvSpPr>
          <p:cNvPr id="1133" name="Google Shape;1133;p8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Powers and roots of fractions</a:t>
            </a:r>
            <a:endParaRPr/>
          </a:p>
        </p:txBody>
      </p:sp>
      <p:pic>
        <p:nvPicPr>
          <p:cNvPr descr="&lt;math xmlns=&quot;http://www.w3.org/1998/Math/MathML&quot; display=&quot;block&quot; data-is-equatio=&quot;1&quot; data-latex=&quot;\frac{\ 5^2}{7}\ \ \frac{25}{7}\ \ \ \ \left(\frac{5}{7}\right)^2\ \ \ \frac{25}{49}\ \ \ \ \ \frac{5}{7^2}\ \ \ \ \frac{5}{49}\ \ \ \ \ \sqrt{\frac{25}{49}}\ \ \frac{5}{7}&quot;&gt;&lt;mfrac&gt;&lt;mrow&gt;&lt;mtext&gt;&lt;/mtext&gt;&lt;msup&gt;&lt;mn&gt;5&lt;/mn&gt;&lt;mn&gt;2&lt;/mn&gt;&lt;/msup&gt;&lt;/mrow&gt;&lt;mn&gt;7&lt;/mn&gt;&lt;/mfrac&gt;&lt;mtext&gt;&lt;/mtext&gt;&lt;mtext&gt;&lt;/mtext&gt;&lt;mfrac&gt;&lt;mn&gt;25&lt;/mn&gt;&lt;mn&gt;7&lt;/mn&gt;&lt;/mfrac&gt;&lt;mtext&gt;&lt;/mtext&gt;&lt;mtext&gt;&lt;/mtext&gt;&lt;mtext&gt;&lt;/mtext&gt;&lt;mtext&gt;&lt;/mtext&gt;&lt;msup&gt;&lt;mrow data-mjx-texclass=&quot;INNER&quot;&gt;&lt;mo data-mjx-texclass=&quot;OPEN&quot;&gt;(&lt;/mo&gt;&lt;mfrac&gt;&lt;mn&gt;5&lt;/mn&gt;&lt;mn&gt;7&lt;/mn&gt;&lt;/mfrac&gt;&lt;mo data-mjx-texclass=&quot;CLOSE&quot;&gt;)&lt;/mo&gt;&lt;/mrow&gt;&lt;mn&gt;2&lt;/mn&gt;&lt;/msup&gt;&lt;mtext&gt;&lt;/mtext&gt;&lt;mtext&gt;&lt;/mtext&gt;&lt;mtext&gt;&lt;/mtext&gt;&lt;mfrac&gt;&lt;mn&gt;25&lt;/mn&gt;&lt;mn&gt;49&lt;/mn&gt;&lt;/mfrac&gt;&lt;mtext&gt;&lt;/mtext&gt;&lt;mtext&gt;&lt;/mtext&gt;&lt;mtext&gt;&lt;/mtext&gt;&lt;mtext&gt;&lt;/mtext&gt;&lt;mtext&gt;&lt;/mtext&gt;&lt;mfrac&gt;&lt;mn&gt;5&lt;/mn&gt;&lt;msup&gt;&lt;mn&gt;7&lt;/mn&gt;&lt;mn&gt;2&lt;/mn&gt;&lt;/msup&gt;&lt;/mfrac&gt;&lt;mtext&gt;&lt;/mtext&gt;&lt;mtext&gt;&lt;/mtext&gt;&lt;mtext&gt;&lt;/mtext&gt;&lt;mtext&gt;&lt;/mtext&gt;&lt;mfrac&gt;&lt;mn&gt;5&lt;/mn&gt;&lt;mn&gt;49&lt;/mn&gt;&lt;/mfrac&gt;&lt;mtext&gt;&lt;/mtext&gt;&lt;mtext&gt;&lt;/mtext&gt;&lt;mtext&gt;&lt;/mtext&gt;&lt;mtext&gt;&lt;/mtext&gt;&lt;mtext&gt;&lt;/mtext&gt;&lt;msqrt&gt;&lt;mfrac&gt;&lt;mn&gt;25&lt;/mn&gt;&lt;mn&gt;49&lt;/mn&gt;&lt;/mfrac&gt;&lt;/msqrt&gt;&lt;mtext&gt;&lt;/mtext&gt;&lt;mtext&gt;&lt;/mtext&gt;&lt;mfrac&gt;&lt;mn&gt;5&lt;/mn&gt;&lt;mn&gt;7&lt;/mn&gt;&lt;/mfrac&gt;&lt;/math&gt;" id="1134" name="Google Shape;1134;p83" title="the fraction with numerator 5 squared and denominator 7 25 over 7 five sevenths squared 25 over 49 the fraction with numerator 5 and denominator 7 squared 5 over 49 the square root of 25 over 49 five sevenths"/>
          <p:cNvPicPr preferRelativeResize="0"/>
          <p:nvPr/>
        </p:nvPicPr>
        <p:blipFill rotWithShape="1">
          <a:blip r:embed="rId3">
            <a:alphaModFix/>
          </a:blip>
          <a:srcRect b="0" l="0" r="91203" t="0"/>
          <a:stretch/>
        </p:blipFill>
        <p:spPr>
          <a:xfrm>
            <a:off x="1155150" y="1533550"/>
            <a:ext cx="652523" cy="1038200"/>
          </a:xfrm>
          <a:prstGeom prst="rect">
            <a:avLst/>
          </a:prstGeom>
          <a:noFill/>
          <a:ln>
            <a:noFill/>
          </a:ln>
        </p:spPr>
      </p:pic>
      <p:pic>
        <p:nvPicPr>
          <p:cNvPr descr="&lt;math xmlns=&quot;http://www.w3.org/1998/Math/MathML&quot; display=&quot;block&quot; data-is-equatio=&quot;1&quot; data-latex=&quot;\frac{\ 5^2}{7}\ \ \frac{25}{7}\ \ \ \ \left(\frac{5}{7}\right)^2\ \ \ \frac{25}{49}\ \ \ \ \ \frac{5}{7^2}\ \ \ \ \frac{5}{49}\ \ \ \ \ \sqrt{\frac{25}{49}}\ \ \frac{5}{7}&quot;&gt;&lt;mfrac&gt;&lt;mrow&gt;&lt;mtext&gt;&lt;/mtext&gt;&lt;msup&gt;&lt;mn&gt;5&lt;/mn&gt;&lt;mn&gt;2&lt;/mn&gt;&lt;/msup&gt;&lt;/mrow&gt;&lt;mn&gt;7&lt;/mn&gt;&lt;/mfrac&gt;&lt;mtext&gt;&lt;/mtext&gt;&lt;mtext&gt;&lt;/mtext&gt;&lt;mfrac&gt;&lt;mn&gt;25&lt;/mn&gt;&lt;mn&gt;7&lt;/mn&gt;&lt;/mfrac&gt;&lt;mtext&gt;&lt;/mtext&gt;&lt;mtext&gt;&lt;/mtext&gt;&lt;mtext&gt;&lt;/mtext&gt;&lt;mtext&gt;&lt;/mtext&gt;&lt;msup&gt;&lt;mrow data-mjx-texclass=&quot;INNER&quot;&gt;&lt;mo data-mjx-texclass=&quot;OPEN&quot;&gt;(&lt;/mo&gt;&lt;mfrac&gt;&lt;mn&gt;5&lt;/mn&gt;&lt;mn&gt;7&lt;/mn&gt;&lt;/mfrac&gt;&lt;mo data-mjx-texclass=&quot;CLOSE&quot;&gt;)&lt;/mo&gt;&lt;/mrow&gt;&lt;mn&gt;2&lt;/mn&gt;&lt;/msup&gt;&lt;mtext&gt;&lt;/mtext&gt;&lt;mtext&gt;&lt;/mtext&gt;&lt;mtext&gt;&lt;/mtext&gt;&lt;mfrac&gt;&lt;mn&gt;25&lt;/mn&gt;&lt;mn&gt;49&lt;/mn&gt;&lt;/mfrac&gt;&lt;mtext&gt;&lt;/mtext&gt;&lt;mtext&gt;&lt;/mtext&gt;&lt;mtext&gt;&lt;/mtext&gt;&lt;mtext&gt;&lt;/mtext&gt;&lt;mtext&gt;&lt;/mtext&gt;&lt;mfrac&gt;&lt;mn&gt;5&lt;/mn&gt;&lt;msup&gt;&lt;mn&gt;7&lt;/mn&gt;&lt;mn&gt;2&lt;/mn&gt;&lt;/msup&gt;&lt;/mfrac&gt;&lt;mtext&gt;&lt;/mtext&gt;&lt;mtext&gt;&lt;/mtext&gt;&lt;mtext&gt;&lt;/mtext&gt;&lt;mtext&gt;&lt;/mtext&gt;&lt;mfrac&gt;&lt;mn&gt;5&lt;/mn&gt;&lt;mn&gt;49&lt;/mn&gt;&lt;/mfrac&gt;&lt;mtext&gt;&lt;/mtext&gt;&lt;mtext&gt;&lt;/mtext&gt;&lt;mtext&gt;&lt;/mtext&gt;&lt;mtext&gt;&lt;/mtext&gt;&lt;mtext&gt;&lt;/mtext&gt;&lt;msqrt&gt;&lt;mfrac&gt;&lt;mn&gt;25&lt;/mn&gt;&lt;mn&gt;49&lt;/mn&gt;&lt;/mfrac&gt;&lt;/msqrt&gt;&lt;mtext&gt;&lt;/mtext&gt;&lt;mtext&gt;&lt;/mtext&gt;&lt;mfrac&gt;&lt;mn&gt;5&lt;/mn&gt;&lt;mn&gt;7&lt;/mn&gt;&lt;/mfrac&gt;&lt;/math&gt;" id="1135" name="Google Shape;1135;p83" title="the fraction with numerator 5 squared and denominator 7 25 over 7 five sevenths squared 25 over 49 the fraction with numerator 5 and denominator 7 squared 5 over 49 the square root of 25 over 49 five sevenths"/>
          <p:cNvPicPr preferRelativeResize="0"/>
          <p:nvPr/>
        </p:nvPicPr>
        <p:blipFill rotWithShape="1">
          <a:blip r:embed="rId3">
            <a:alphaModFix/>
          </a:blip>
          <a:srcRect b="0" l="9519" r="81684" t="0"/>
          <a:stretch/>
        </p:blipFill>
        <p:spPr>
          <a:xfrm>
            <a:off x="6617113" y="3260900"/>
            <a:ext cx="652523" cy="1038200"/>
          </a:xfrm>
          <a:prstGeom prst="rect">
            <a:avLst/>
          </a:prstGeom>
          <a:noFill/>
          <a:ln>
            <a:noFill/>
          </a:ln>
        </p:spPr>
      </p:pic>
      <p:pic>
        <p:nvPicPr>
          <p:cNvPr descr="&lt;math xmlns=&quot;http://www.w3.org/1998/Math/MathML&quot; display=&quot;block&quot; data-is-equatio=&quot;1&quot; data-latex=&quot;\frac{\ 5^2}{7}\ \ \frac{25}{7}\ \ \ \ \left(\frac{5}{7}\right)^2\ \ \ \frac{25}{49}\ \ \ \ \ \frac{5}{7^2}\ \ \ \ \frac{5}{49}\ \ \ \ \ \sqrt{\frac{25}{49}}\ \ \frac{5}{7}&quot;&gt;&lt;mfrac&gt;&lt;mrow&gt;&lt;mtext&gt;&lt;/mtext&gt;&lt;msup&gt;&lt;mn&gt;5&lt;/mn&gt;&lt;mn&gt;2&lt;/mn&gt;&lt;/msup&gt;&lt;/mrow&gt;&lt;mn&gt;7&lt;/mn&gt;&lt;/mfrac&gt;&lt;mtext&gt;&lt;/mtext&gt;&lt;mtext&gt;&lt;/mtext&gt;&lt;mfrac&gt;&lt;mn&gt;25&lt;/mn&gt;&lt;mn&gt;7&lt;/mn&gt;&lt;/mfrac&gt;&lt;mtext&gt;&lt;/mtext&gt;&lt;mtext&gt;&lt;/mtext&gt;&lt;mtext&gt;&lt;/mtext&gt;&lt;mtext&gt;&lt;/mtext&gt;&lt;msup&gt;&lt;mrow data-mjx-texclass=&quot;INNER&quot;&gt;&lt;mo data-mjx-texclass=&quot;OPEN&quot;&gt;(&lt;/mo&gt;&lt;mfrac&gt;&lt;mn&gt;5&lt;/mn&gt;&lt;mn&gt;7&lt;/mn&gt;&lt;/mfrac&gt;&lt;mo data-mjx-texclass=&quot;CLOSE&quot;&gt;)&lt;/mo&gt;&lt;/mrow&gt;&lt;mn&gt;2&lt;/mn&gt;&lt;/msup&gt;&lt;mtext&gt;&lt;/mtext&gt;&lt;mtext&gt;&lt;/mtext&gt;&lt;mtext&gt;&lt;/mtext&gt;&lt;mfrac&gt;&lt;mn&gt;25&lt;/mn&gt;&lt;mn&gt;49&lt;/mn&gt;&lt;/mfrac&gt;&lt;mtext&gt;&lt;/mtext&gt;&lt;mtext&gt;&lt;/mtext&gt;&lt;mtext&gt;&lt;/mtext&gt;&lt;mtext&gt;&lt;/mtext&gt;&lt;mtext&gt;&lt;/mtext&gt;&lt;mfrac&gt;&lt;mn&gt;5&lt;/mn&gt;&lt;msup&gt;&lt;mn&gt;7&lt;/mn&gt;&lt;mn&gt;2&lt;/mn&gt;&lt;/msup&gt;&lt;/mfrac&gt;&lt;mtext&gt;&lt;/mtext&gt;&lt;mtext&gt;&lt;/mtext&gt;&lt;mtext&gt;&lt;/mtext&gt;&lt;mtext&gt;&lt;/mtext&gt;&lt;mfrac&gt;&lt;mn&gt;5&lt;/mn&gt;&lt;mn&gt;49&lt;/mn&gt;&lt;/mfrac&gt;&lt;mtext&gt;&lt;/mtext&gt;&lt;mtext&gt;&lt;/mtext&gt;&lt;mtext&gt;&lt;/mtext&gt;&lt;mtext&gt;&lt;/mtext&gt;&lt;mtext&gt;&lt;/mtext&gt;&lt;msqrt&gt;&lt;mfrac&gt;&lt;mn&gt;25&lt;/mn&gt;&lt;mn&gt;49&lt;/mn&gt;&lt;/mfrac&gt;&lt;/msqrt&gt;&lt;mtext&gt;&lt;/mtext&gt;&lt;mtext&gt;&lt;/mtext&gt;&lt;mfrac&gt;&lt;mn&gt;5&lt;/mn&gt;&lt;mn&gt;7&lt;/mn&gt;&lt;/mfrac&gt;&lt;/math&gt;" id="1136" name="Google Shape;1136;p83" title="the fraction with numerator 5 squared and denominator 7 25 over 7 five sevenths squared 25 over 49 the fraction with numerator 5 and denominator 7 squared 5 over 49 the square root of 25 over 49 five sevenths"/>
          <p:cNvPicPr preferRelativeResize="0"/>
          <p:nvPr/>
        </p:nvPicPr>
        <p:blipFill rotWithShape="1">
          <a:blip r:embed="rId3">
            <a:alphaModFix/>
          </a:blip>
          <a:srcRect b="0" l="20770" r="61720" t="0"/>
          <a:stretch/>
        </p:blipFill>
        <p:spPr>
          <a:xfrm>
            <a:off x="2467949" y="1533550"/>
            <a:ext cx="1298850" cy="1038200"/>
          </a:xfrm>
          <a:prstGeom prst="rect">
            <a:avLst/>
          </a:prstGeom>
          <a:noFill/>
          <a:ln>
            <a:noFill/>
          </a:ln>
        </p:spPr>
      </p:pic>
      <p:pic>
        <p:nvPicPr>
          <p:cNvPr descr="&lt;math xmlns=&quot;http://www.w3.org/1998/Math/MathML&quot; display=&quot;block&quot; data-is-equatio=&quot;1&quot; data-latex=&quot;\frac{\ 5^2}{7}\ \ \frac{25}{7}\ \ \ \ \left(\frac{5}{7}\right)^2\ \ \ \frac{25}{49}\ \ \ \ \ \frac{5}{7^2}\ \ \ \ \frac{5}{49}\ \ \ \ \ \sqrt{\frac{25}{49}}\ \ \frac{5}{7}&quot;&gt;&lt;mfrac&gt;&lt;mrow&gt;&lt;mtext&gt;&lt;/mtext&gt;&lt;msup&gt;&lt;mn&gt;5&lt;/mn&gt;&lt;mn&gt;2&lt;/mn&gt;&lt;/msup&gt;&lt;/mrow&gt;&lt;mn&gt;7&lt;/mn&gt;&lt;/mfrac&gt;&lt;mtext&gt;&lt;/mtext&gt;&lt;mtext&gt;&lt;/mtext&gt;&lt;mfrac&gt;&lt;mn&gt;25&lt;/mn&gt;&lt;mn&gt;7&lt;/mn&gt;&lt;/mfrac&gt;&lt;mtext&gt;&lt;/mtext&gt;&lt;mtext&gt;&lt;/mtext&gt;&lt;mtext&gt;&lt;/mtext&gt;&lt;mtext&gt;&lt;/mtext&gt;&lt;msup&gt;&lt;mrow data-mjx-texclass=&quot;INNER&quot;&gt;&lt;mo data-mjx-texclass=&quot;OPEN&quot;&gt;(&lt;/mo&gt;&lt;mfrac&gt;&lt;mn&gt;5&lt;/mn&gt;&lt;mn&gt;7&lt;/mn&gt;&lt;/mfrac&gt;&lt;mo data-mjx-texclass=&quot;CLOSE&quot;&gt;)&lt;/mo&gt;&lt;/mrow&gt;&lt;mn&gt;2&lt;/mn&gt;&lt;/msup&gt;&lt;mtext&gt;&lt;/mtext&gt;&lt;mtext&gt;&lt;/mtext&gt;&lt;mtext&gt;&lt;/mtext&gt;&lt;mfrac&gt;&lt;mn&gt;25&lt;/mn&gt;&lt;mn&gt;49&lt;/mn&gt;&lt;/mfrac&gt;&lt;mtext&gt;&lt;/mtext&gt;&lt;mtext&gt;&lt;/mtext&gt;&lt;mtext&gt;&lt;/mtext&gt;&lt;mtext&gt;&lt;/mtext&gt;&lt;mtext&gt;&lt;/mtext&gt;&lt;mfrac&gt;&lt;mn&gt;5&lt;/mn&gt;&lt;msup&gt;&lt;mn&gt;7&lt;/mn&gt;&lt;mn&gt;2&lt;/mn&gt;&lt;/msup&gt;&lt;/mfrac&gt;&lt;mtext&gt;&lt;/mtext&gt;&lt;mtext&gt;&lt;/mtext&gt;&lt;mtext&gt;&lt;/mtext&gt;&lt;mtext&gt;&lt;/mtext&gt;&lt;mfrac&gt;&lt;mn&gt;5&lt;/mn&gt;&lt;mn&gt;49&lt;/mn&gt;&lt;/mfrac&gt;&lt;mtext&gt;&lt;/mtext&gt;&lt;mtext&gt;&lt;/mtext&gt;&lt;mtext&gt;&lt;/mtext&gt;&lt;mtext&gt;&lt;/mtext&gt;&lt;mtext&gt;&lt;/mtext&gt;&lt;msqrt&gt;&lt;mfrac&gt;&lt;mn&gt;25&lt;/mn&gt;&lt;mn&gt;49&lt;/mn&gt;&lt;/mfrac&gt;&lt;/msqrt&gt;&lt;mtext&gt;&lt;/mtext&gt;&lt;mtext&gt;&lt;/mtext&gt;&lt;mfrac&gt;&lt;mn&gt;5&lt;/mn&gt;&lt;mn&gt;7&lt;/mn&gt;&lt;/mfrac&gt;&lt;/math&gt;" id="1137" name="Google Shape;1137;p83" title="the fraction with numerator 5 squared and denominator 7 25 over 7 five sevenths squared 25 over 49 the fraction with numerator 5 and denominator 7 squared 5 over 49 the square root of 25 over 49 five sevenths"/>
          <p:cNvPicPr preferRelativeResize="0"/>
          <p:nvPr/>
        </p:nvPicPr>
        <p:blipFill rotWithShape="1">
          <a:blip r:embed="rId3">
            <a:alphaModFix/>
          </a:blip>
          <a:srcRect b="0" l="53401" r="37802" t="0"/>
          <a:stretch/>
        </p:blipFill>
        <p:spPr>
          <a:xfrm>
            <a:off x="4463727" y="1533550"/>
            <a:ext cx="652523" cy="1038200"/>
          </a:xfrm>
          <a:prstGeom prst="rect">
            <a:avLst/>
          </a:prstGeom>
          <a:noFill/>
          <a:ln>
            <a:noFill/>
          </a:ln>
        </p:spPr>
      </p:pic>
      <p:pic>
        <p:nvPicPr>
          <p:cNvPr descr="&lt;math xmlns=&quot;http://www.w3.org/1998/Math/MathML&quot; display=&quot;block&quot; data-is-equatio=&quot;1&quot; data-latex=&quot;\frac{\ 5^2}{7}\ \ \frac{25}{7}\ \ \ \ \left(\frac{5}{7}\right)^2\ \ \ \frac{25}{49}\ \ \ \ \ \frac{5}{7^2}\ \ \ \ \frac{5}{49}\ \ \ \ \ \sqrt{\frac{25}{49}}\ \ \frac{5}{7}&quot;&gt;&lt;mfrac&gt;&lt;mrow&gt;&lt;mtext&gt;&lt;/mtext&gt;&lt;msup&gt;&lt;mn&gt;5&lt;/mn&gt;&lt;mn&gt;2&lt;/mn&gt;&lt;/msup&gt;&lt;/mrow&gt;&lt;mn&gt;7&lt;/mn&gt;&lt;/mfrac&gt;&lt;mtext&gt;&lt;/mtext&gt;&lt;mtext&gt;&lt;/mtext&gt;&lt;mfrac&gt;&lt;mn&gt;25&lt;/mn&gt;&lt;mn&gt;7&lt;/mn&gt;&lt;/mfrac&gt;&lt;mtext&gt;&lt;/mtext&gt;&lt;mtext&gt;&lt;/mtext&gt;&lt;mtext&gt;&lt;/mtext&gt;&lt;mtext&gt;&lt;/mtext&gt;&lt;msup&gt;&lt;mrow data-mjx-texclass=&quot;INNER&quot;&gt;&lt;mo data-mjx-texclass=&quot;OPEN&quot;&gt;(&lt;/mo&gt;&lt;mfrac&gt;&lt;mn&gt;5&lt;/mn&gt;&lt;mn&gt;7&lt;/mn&gt;&lt;/mfrac&gt;&lt;mo data-mjx-texclass=&quot;CLOSE&quot;&gt;)&lt;/mo&gt;&lt;/mrow&gt;&lt;mn&gt;2&lt;/mn&gt;&lt;/msup&gt;&lt;mtext&gt;&lt;/mtext&gt;&lt;mtext&gt;&lt;/mtext&gt;&lt;mtext&gt;&lt;/mtext&gt;&lt;mfrac&gt;&lt;mn&gt;25&lt;/mn&gt;&lt;mn&gt;49&lt;/mn&gt;&lt;/mfrac&gt;&lt;mtext&gt;&lt;/mtext&gt;&lt;mtext&gt;&lt;/mtext&gt;&lt;mtext&gt;&lt;/mtext&gt;&lt;mtext&gt;&lt;/mtext&gt;&lt;mtext&gt;&lt;/mtext&gt;&lt;mfrac&gt;&lt;mn&gt;5&lt;/mn&gt;&lt;msup&gt;&lt;mn&gt;7&lt;/mn&gt;&lt;mn&gt;2&lt;/mn&gt;&lt;/msup&gt;&lt;/mfrac&gt;&lt;mtext&gt;&lt;/mtext&gt;&lt;mtext&gt;&lt;/mtext&gt;&lt;mtext&gt;&lt;/mtext&gt;&lt;mtext&gt;&lt;/mtext&gt;&lt;mfrac&gt;&lt;mn&gt;5&lt;/mn&gt;&lt;mn&gt;49&lt;/mn&gt;&lt;/mfrac&gt;&lt;mtext&gt;&lt;/mtext&gt;&lt;mtext&gt;&lt;/mtext&gt;&lt;mtext&gt;&lt;/mtext&gt;&lt;mtext&gt;&lt;/mtext&gt;&lt;mtext&gt;&lt;/mtext&gt;&lt;msqrt&gt;&lt;mfrac&gt;&lt;mn&gt;25&lt;/mn&gt;&lt;mn&gt;49&lt;/mn&gt;&lt;/mfrac&gt;&lt;/msqrt&gt;&lt;mtext&gt;&lt;/mtext&gt;&lt;mtext&gt;&lt;/mtext&gt;&lt;mfrac&gt;&lt;mn&gt;5&lt;/mn&gt;&lt;mn&gt;7&lt;/mn&gt;&lt;/mfrac&gt;&lt;/math&gt;" id="1138" name="Google Shape;1138;p83" title="the fraction with numerator 5 squared and denominator 7 25 over 7 five sevenths squared 25 over 49 the fraction with numerator 5 and denominator 7 squared 5 over 49 the square root of 25 over 49 five sevenths"/>
          <p:cNvPicPr preferRelativeResize="0"/>
          <p:nvPr/>
        </p:nvPicPr>
        <p:blipFill rotWithShape="1">
          <a:blip r:embed="rId3">
            <a:alphaModFix/>
          </a:blip>
          <a:srcRect b="0" l="79305" r="5081" t="0"/>
          <a:stretch/>
        </p:blipFill>
        <p:spPr>
          <a:xfrm>
            <a:off x="6066647" y="1533550"/>
            <a:ext cx="1158150" cy="1038200"/>
          </a:xfrm>
          <a:prstGeom prst="rect">
            <a:avLst/>
          </a:prstGeom>
          <a:noFill/>
          <a:ln>
            <a:noFill/>
          </a:ln>
        </p:spPr>
      </p:pic>
      <p:pic>
        <p:nvPicPr>
          <p:cNvPr descr="&lt;math xmlns=&quot;http://www.w3.org/1998/Math/MathML&quot; display=&quot;block&quot; data-is-equatio=&quot;1&quot; data-latex=&quot;\frac{\ 5^2}{7}\ \ \frac{25}{7}\ \ \ \ \left(\frac{5}{7}\right)^2\ \ \ \frac{25}{49}\ \ \ \ \ \frac{5}{7^2}\ \ \ \ \frac{5}{49}\ \ \ \ \ \sqrt{\frac{25}{49}}\ \ \frac{5}{7}&quot;&gt;&lt;mfrac&gt;&lt;mrow&gt;&lt;mtext&gt;&lt;/mtext&gt;&lt;msup&gt;&lt;mn&gt;5&lt;/mn&gt;&lt;mn&gt;2&lt;/mn&gt;&lt;/msup&gt;&lt;/mrow&gt;&lt;mn&gt;7&lt;/mn&gt;&lt;/mfrac&gt;&lt;mtext&gt;&lt;/mtext&gt;&lt;mtext&gt;&lt;/mtext&gt;&lt;mfrac&gt;&lt;mn&gt;25&lt;/mn&gt;&lt;mn&gt;7&lt;/mn&gt;&lt;/mfrac&gt;&lt;mtext&gt;&lt;/mtext&gt;&lt;mtext&gt;&lt;/mtext&gt;&lt;mtext&gt;&lt;/mtext&gt;&lt;mtext&gt;&lt;/mtext&gt;&lt;msup&gt;&lt;mrow data-mjx-texclass=&quot;INNER&quot;&gt;&lt;mo data-mjx-texclass=&quot;OPEN&quot;&gt;(&lt;/mo&gt;&lt;mfrac&gt;&lt;mn&gt;5&lt;/mn&gt;&lt;mn&gt;7&lt;/mn&gt;&lt;/mfrac&gt;&lt;mo data-mjx-texclass=&quot;CLOSE&quot;&gt;)&lt;/mo&gt;&lt;/mrow&gt;&lt;mn&gt;2&lt;/mn&gt;&lt;/msup&gt;&lt;mtext&gt;&lt;/mtext&gt;&lt;mtext&gt;&lt;/mtext&gt;&lt;mtext&gt;&lt;/mtext&gt;&lt;mfrac&gt;&lt;mn&gt;25&lt;/mn&gt;&lt;mn&gt;49&lt;/mn&gt;&lt;/mfrac&gt;&lt;mtext&gt;&lt;/mtext&gt;&lt;mtext&gt;&lt;/mtext&gt;&lt;mtext&gt;&lt;/mtext&gt;&lt;mtext&gt;&lt;/mtext&gt;&lt;mtext&gt;&lt;/mtext&gt;&lt;mfrac&gt;&lt;mn&gt;5&lt;/mn&gt;&lt;msup&gt;&lt;mn&gt;7&lt;/mn&gt;&lt;mn&gt;2&lt;/mn&gt;&lt;/msup&gt;&lt;/mfrac&gt;&lt;mtext&gt;&lt;/mtext&gt;&lt;mtext&gt;&lt;/mtext&gt;&lt;mtext&gt;&lt;/mtext&gt;&lt;mtext&gt;&lt;/mtext&gt;&lt;mfrac&gt;&lt;mn&gt;5&lt;/mn&gt;&lt;mn&gt;49&lt;/mn&gt;&lt;/mfrac&gt;&lt;mtext&gt;&lt;/mtext&gt;&lt;mtext&gt;&lt;/mtext&gt;&lt;mtext&gt;&lt;/mtext&gt;&lt;mtext&gt;&lt;/mtext&gt;&lt;mtext&gt;&lt;/mtext&gt;&lt;msqrt&gt;&lt;mfrac&gt;&lt;mn&gt;25&lt;/mn&gt;&lt;mn&gt;49&lt;/mn&gt;&lt;/mfrac&gt;&lt;/msqrt&gt;&lt;mtext&gt;&lt;/mtext&gt;&lt;mtext&gt;&lt;/mtext&gt;&lt;mfrac&gt;&lt;mn&gt;5&lt;/mn&gt;&lt;mn&gt;7&lt;/mn&gt;&lt;/mfrac&gt;&lt;/math&gt;" id="1139" name="Google Shape;1139;p83" title="the fraction with numerator 5 squared and denominator 7 25 over 7 five sevenths squared 25 over 49 the fraction with numerator 5 and denominator 7 squared 5 over 49 the square root of 25 over 49 five sevenths"/>
          <p:cNvPicPr preferRelativeResize="0"/>
          <p:nvPr/>
        </p:nvPicPr>
        <p:blipFill rotWithShape="1">
          <a:blip r:embed="rId3">
            <a:alphaModFix/>
          </a:blip>
          <a:srcRect b="0" l="40024" r="50297" t="0"/>
          <a:stretch/>
        </p:blipFill>
        <p:spPr>
          <a:xfrm>
            <a:off x="4553292" y="3184800"/>
            <a:ext cx="717951" cy="1038200"/>
          </a:xfrm>
          <a:prstGeom prst="rect">
            <a:avLst/>
          </a:prstGeom>
          <a:noFill/>
          <a:ln>
            <a:noFill/>
          </a:ln>
        </p:spPr>
      </p:pic>
      <p:pic>
        <p:nvPicPr>
          <p:cNvPr descr="&lt;math xmlns=&quot;http://www.w3.org/1998/Math/MathML&quot; display=&quot;block&quot; data-is-equatio=&quot;1&quot; data-latex=&quot;\frac{\ 5^2}{7}\ \ \frac{25}{7}\ \ \ \ \left(\frac{5}{7}\right)^2\ \ \ \frac{25}{49}\ \ \ \ \ \frac{5}{7^2}\ \ \ \ \frac{5}{49}\ \ \ \ \ \sqrt{\frac{25}{49}}\ \ \frac{5}{7}&quot;&gt;&lt;mfrac&gt;&lt;mrow&gt;&lt;mtext&gt;&lt;/mtext&gt;&lt;msup&gt;&lt;mn&gt;5&lt;/mn&gt;&lt;mn&gt;2&lt;/mn&gt;&lt;/msup&gt;&lt;/mrow&gt;&lt;mn&gt;7&lt;/mn&gt;&lt;/mfrac&gt;&lt;mtext&gt;&lt;/mtext&gt;&lt;mtext&gt;&lt;/mtext&gt;&lt;mfrac&gt;&lt;mn&gt;25&lt;/mn&gt;&lt;mn&gt;7&lt;/mn&gt;&lt;/mfrac&gt;&lt;mtext&gt;&lt;/mtext&gt;&lt;mtext&gt;&lt;/mtext&gt;&lt;mtext&gt;&lt;/mtext&gt;&lt;mtext&gt;&lt;/mtext&gt;&lt;msup&gt;&lt;mrow data-mjx-texclass=&quot;INNER&quot;&gt;&lt;mo data-mjx-texclass=&quot;OPEN&quot;&gt;(&lt;/mo&gt;&lt;mfrac&gt;&lt;mn&gt;5&lt;/mn&gt;&lt;mn&gt;7&lt;/mn&gt;&lt;/mfrac&gt;&lt;mo data-mjx-texclass=&quot;CLOSE&quot;&gt;)&lt;/mo&gt;&lt;/mrow&gt;&lt;mn&gt;2&lt;/mn&gt;&lt;/msup&gt;&lt;mtext&gt;&lt;/mtext&gt;&lt;mtext&gt;&lt;/mtext&gt;&lt;mtext&gt;&lt;/mtext&gt;&lt;mfrac&gt;&lt;mn&gt;25&lt;/mn&gt;&lt;mn&gt;49&lt;/mn&gt;&lt;/mfrac&gt;&lt;mtext&gt;&lt;/mtext&gt;&lt;mtext&gt;&lt;/mtext&gt;&lt;mtext&gt;&lt;/mtext&gt;&lt;mtext&gt;&lt;/mtext&gt;&lt;mtext&gt;&lt;/mtext&gt;&lt;mfrac&gt;&lt;mn&gt;5&lt;/mn&gt;&lt;msup&gt;&lt;mn&gt;7&lt;/mn&gt;&lt;mn&gt;2&lt;/mn&gt;&lt;/msup&gt;&lt;/mfrac&gt;&lt;mtext&gt;&lt;/mtext&gt;&lt;mtext&gt;&lt;/mtext&gt;&lt;mtext&gt;&lt;/mtext&gt;&lt;mtext&gt;&lt;/mtext&gt;&lt;mfrac&gt;&lt;mn&gt;5&lt;/mn&gt;&lt;mn&gt;49&lt;/mn&gt;&lt;/mfrac&gt;&lt;mtext&gt;&lt;/mtext&gt;&lt;mtext&gt;&lt;/mtext&gt;&lt;mtext&gt;&lt;/mtext&gt;&lt;mtext&gt;&lt;/mtext&gt;&lt;mtext&gt;&lt;/mtext&gt;&lt;msqrt&gt;&lt;mfrac&gt;&lt;mn&gt;25&lt;/mn&gt;&lt;mn&gt;49&lt;/mn&gt;&lt;/mfrac&gt;&lt;/msqrt&gt;&lt;mtext&gt;&lt;/mtext&gt;&lt;mtext&gt;&lt;/mtext&gt;&lt;mfrac&gt;&lt;mn&gt;5&lt;/mn&gt;&lt;mn&gt;7&lt;/mn&gt;&lt;/mfrac&gt;&lt;/math&gt;" id="1140" name="Google Shape;1140;p83" title="the fraction with numerator 5 squared and denominator 7 25 over 7 five sevenths squared 25 over 49 the fraction with numerator 5 and denominator 7 squared 5 over 49 the square root of 25 over 49 five sevenths"/>
          <p:cNvPicPr preferRelativeResize="0"/>
          <p:nvPr/>
        </p:nvPicPr>
        <p:blipFill rotWithShape="1">
          <a:blip r:embed="rId3">
            <a:alphaModFix/>
          </a:blip>
          <a:srcRect b="0" l="64593" r="25728" t="0"/>
          <a:stretch/>
        </p:blipFill>
        <p:spPr>
          <a:xfrm>
            <a:off x="2686983" y="3146750"/>
            <a:ext cx="717951" cy="1038200"/>
          </a:xfrm>
          <a:prstGeom prst="rect">
            <a:avLst/>
          </a:prstGeom>
          <a:noFill/>
          <a:ln>
            <a:noFill/>
          </a:ln>
        </p:spPr>
      </p:pic>
      <p:pic>
        <p:nvPicPr>
          <p:cNvPr descr="&lt;math xmlns=&quot;http://www.w3.org/1998/Math/MathML&quot; display=&quot;block&quot; data-is-equatio=&quot;1&quot; data-latex=&quot;\frac{\ 5^2}{7}\ \ \frac{25}{7}\ \ \ \ \left(\frac{5}{7}\right)^2\ \ \ \frac{25}{49}\ \ \ \ \ \frac{5}{7^2}\ \ \ \ \frac{5}{49}\ \ \ \ \ \sqrt{\frac{25}{49}}\ \ \frac{5}{7}&quot;&gt;&lt;mfrac&gt;&lt;mrow&gt;&lt;mtext&gt;&lt;/mtext&gt;&lt;msup&gt;&lt;mn&gt;5&lt;/mn&gt;&lt;mn&gt;2&lt;/mn&gt;&lt;/msup&gt;&lt;/mrow&gt;&lt;mn&gt;7&lt;/mn&gt;&lt;/mfrac&gt;&lt;mtext&gt;&lt;/mtext&gt;&lt;mtext&gt;&lt;/mtext&gt;&lt;mfrac&gt;&lt;mn&gt;25&lt;/mn&gt;&lt;mn&gt;7&lt;/mn&gt;&lt;/mfrac&gt;&lt;mtext&gt;&lt;/mtext&gt;&lt;mtext&gt;&lt;/mtext&gt;&lt;mtext&gt;&lt;/mtext&gt;&lt;mtext&gt;&lt;/mtext&gt;&lt;msup&gt;&lt;mrow data-mjx-texclass=&quot;INNER&quot;&gt;&lt;mo data-mjx-texclass=&quot;OPEN&quot;&gt;(&lt;/mo&gt;&lt;mfrac&gt;&lt;mn&gt;5&lt;/mn&gt;&lt;mn&gt;7&lt;/mn&gt;&lt;/mfrac&gt;&lt;mo data-mjx-texclass=&quot;CLOSE&quot;&gt;)&lt;/mo&gt;&lt;/mrow&gt;&lt;mn&gt;2&lt;/mn&gt;&lt;/msup&gt;&lt;mtext&gt;&lt;/mtext&gt;&lt;mtext&gt;&lt;/mtext&gt;&lt;mtext&gt;&lt;/mtext&gt;&lt;mfrac&gt;&lt;mn&gt;25&lt;/mn&gt;&lt;mn&gt;49&lt;/mn&gt;&lt;/mfrac&gt;&lt;mtext&gt;&lt;/mtext&gt;&lt;mtext&gt;&lt;/mtext&gt;&lt;mtext&gt;&lt;/mtext&gt;&lt;mtext&gt;&lt;/mtext&gt;&lt;mtext&gt;&lt;/mtext&gt;&lt;mfrac&gt;&lt;mn&gt;5&lt;/mn&gt;&lt;msup&gt;&lt;mn&gt;7&lt;/mn&gt;&lt;mn&gt;2&lt;/mn&gt;&lt;/msup&gt;&lt;/mfrac&gt;&lt;mtext&gt;&lt;/mtext&gt;&lt;mtext&gt;&lt;/mtext&gt;&lt;mtext&gt;&lt;/mtext&gt;&lt;mtext&gt;&lt;/mtext&gt;&lt;mfrac&gt;&lt;mn&gt;5&lt;/mn&gt;&lt;mn&gt;49&lt;/mn&gt;&lt;/mfrac&gt;&lt;mtext&gt;&lt;/mtext&gt;&lt;mtext&gt;&lt;/mtext&gt;&lt;mtext&gt;&lt;/mtext&gt;&lt;mtext&gt;&lt;/mtext&gt;&lt;mtext&gt;&lt;/mtext&gt;&lt;msqrt&gt;&lt;mfrac&gt;&lt;mn&gt;25&lt;/mn&gt;&lt;mn&gt;49&lt;/mn&gt;&lt;/mfrac&gt;&lt;/msqrt&gt;&lt;mtext&gt;&lt;/mtext&gt;&lt;mtext&gt;&lt;/mtext&gt;&lt;mfrac&gt;&lt;mn&gt;5&lt;/mn&gt;&lt;mn&gt;7&lt;/mn&gt;&lt;/mfrac&gt;&lt;/math&gt;" id="1141" name="Google Shape;1141;p83" title="the fraction with numerator 5 squared and denominator 7 25 over 7 five sevenths squared 25 over 49 the fraction with numerator 5 and denominator 7 squared 5 over 49 the square root of 25 over 49 five sevenths"/>
          <p:cNvPicPr preferRelativeResize="0"/>
          <p:nvPr/>
        </p:nvPicPr>
        <p:blipFill rotWithShape="1">
          <a:blip r:embed="rId3">
            <a:alphaModFix/>
          </a:blip>
          <a:srcRect b="0" l="95421" r="-590" t="0"/>
          <a:stretch/>
        </p:blipFill>
        <p:spPr>
          <a:xfrm>
            <a:off x="1155150" y="3146750"/>
            <a:ext cx="383476" cy="1038200"/>
          </a:xfrm>
          <a:prstGeom prst="rect">
            <a:avLst/>
          </a:prstGeom>
          <a:noFill/>
          <a:ln>
            <a:noFill/>
          </a:ln>
        </p:spPr>
      </p:pic>
      <p:cxnSp>
        <p:nvCxnSpPr>
          <p:cNvPr id="1142" name="Google Shape;1142;p83"/>
          <p:cNvCxnSpPr>
            <a:stCxn id="1134" idx="2"/>
          </p:cNvCxnSpPr>
          <p:nvPr/>
        </p:nvCxnSpPr>
        <p:spPr>
          <a:xfrm>
            <a:off x="1481412" y="2571750"/>
            <a:ext cx="5142900" cy="796500"/>
          </a:xfrm>
          <a:prstGeom prst="straightConnector1">
            <a:avLst/>
          </a:prstGeom>
          <a:noFill/>
          <a:ln cap="flat" cmpd="sng" w="28575">
            <a:solidFill>
              <a:schemeClr val="accent5"/>
            </a:solidFill>
            <a:prstDash val="solid"/>
            <a:round/>
            <a:headEnd len="med" w="med" type="none"/>
            <a:tailEnd len="med" w="med" type="none"/>
          </a:ln>
        </p:spPr>
      </p:cxnSp>
      <p:cxnSp>
        <p:nvCxnSpPr>
          <p:cNvPr id="1143" name="Google Shape;1143;p83"/>
          <p:cNvCxnSpPr/>
          <p:nvPr/>
        </p:nvCxnSpPr>
        <p:spPr>
          <a:xfrm flipH="1">
            <a:off x="3246571" y="2373625"/>
            <a:ext cx="1381200" cy="950100"/>
          </a:xfrm>
          <a:prstGeom prst="straightConnector1">
            <a:avLst/>
          </a:prstGeom>
          <a:noFill/>
          <a:ln cap="flat" cmpd="sng" w="28575">
            <a:solidFill>
              <a:schemeClr val="accent5"/>
            </a:solidFill>
            <a:prstDash val="solid"/>
            <a:round/>
            <a:headEnd len="med" w="med" type="none"/>
            <a:tailEnd len="med" w="med" type="none"/>
          </a:ln>
        </p:spPr>
      </p:cxnSp>
      <p:cxnSp>
        <p:nvCxnSpPr>
          <p:cNvPr id="1144" name="Google Shape;1144;p83"/>
          <p:cNvCxnSpPr/>
          <p:nvPr/>
        </p:nvCxnSpPr>
        <p:spPr>
          <a:xfrm>
            <a:off x="3116230" y="2372125"/>
            <a:ext cx="1476900" cy="951900"/>
          </a:xfrm>
          <a:prstGeom prst="straightConnector1">
            <a:avLst/>
          </a:prstGeom>
          <a:noFill/>
          <a:ln cap="flat" cmpd="sng" w="28575">
            <a:solidFill>
              <a:schemeClr val="accent5"/>
            </a:solidFill>
            <a:prstDash val="solid"/>
            <a:round/>
            <a:headEnd len="med" w="med" type="none"/>
            <a:tailEnd len="med" w="med" type="none"/>
          </a:ln>
        </p:spPr>
      </p:cxnSp>
      <p:cxnSp>
        <p:nvCxnSpPr>
          <p:cNvPr id="1145" name="Google Shape;1145;p83"/>
          <p:cNvCxnSpPr>
            <a:stCxn id="1138" idx="2"/>
          </p:cNvCxnSpPr>
          <p:nvPr/>
        </p:nvCxnSpPr>
        <p:spPr>
          <a:xfrm flipH="1">
            <a:off x="1753622" y="2571750"/>
            <a:ext cx="4892100" cy="959700"/>
          </a:xfrm>
          <a:prstGeom prst="straightConnector1">
            <a:avLst/>
          </a:prstGeom>
          <a:noFill/>
          <a:ln cap="flat" cmpd="sng" w="28575">
            <a:solidFill>
              <a:schemeClr val="accent5"/>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9" name="Shape 1149"/>
        <p:cNvGrpSpPr/>
        <p:nvPr/>
      </p:nvGrpSpPr>
      <p:grpSpPr>
        <a:xfrm>
          <a:off x="0" y="0"/>
          <a:ext cx="0" cy="0"/>
          <a:chOff x="0" y="0"/>
          <a:chExt cx="0" cy="0"/>
        </a:xfrm>
      </p:grpSpPr>
      <p:sp>
        <p:nvSpPr>
          <p:cNvPr id="1150" name="Google Shape;1150;p8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Powers and roots of fractions</a:t>
            </a:r>
            <a:endParaRPr/>
          </a:p>
        </p:txBody>
      </p:sp>
      <p:grpSp>
        <p:nvGrpSpPr>
          <p:cNvPr id="1151" name="Google Shape;1151;p84"/>
          <p:cNvGrpSpPr/>
          <p:nvPr/>
        </p:nvGrpSpPr>
        <p:grpSpPr>
          <a:xfrm>
            <a:off x="551950" y="2159993"/>
            <a:ext cx="3146481" cy="2321199"/>
            <a:chOff x="2529025" y="1931250"/>
            <a:chExt cx="3584100" cy="2617500"/>
          </a:xfrm>
        </p:grpSpPr>
        <p:sp>
          <p:nvSpPr>
            <p:cNvPr id="1152" name="Google Shape;1152;p84"/>
            <p:cNvSpPr/>
            <p:nvPr/>
          </p:nvSpPr>
          <p:spPr>
            <a:xfrm>
              <a:off x="2529025" y="1931250"/>
              <a:ext cx="3584100" cy="2617500"/>
            </a:xfrm>
            <a:prstGeom prst="triangle">
              <a:avLst>
                <a:gd fmla="val 50000"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53" name="Google Shape;1153;p84"/>
            <p:cNvCxnSpPr/>
            <p:nvPr/>
          </p:nvCxnSpPr>
          <p:spPr>
            <a:xfrm>
              <a:off x="3766742" y="2706800"/>
              <a:ext cx="1095900" cy="0"/>
            </a:xfrm>
            <a:prstGeom prst="straightConnector1">
              <a:avLst/>
            </a:prstGeom>
            <a:noFill/>
            <a:ln cap="flat" cmpd="sng" w="38100">
              <a:solidFill>
                <a:schemeClr val="accent5"/>
              </a:solidFill>
              <a:prstDash val="solid"/>
              <a:round/>
              <a:headEnd len="med" w="med" type="none"/>
              <a:tailEnd len="med" w="med" type="none"/>
            </a:ln>
          </p:spPr>
        </p:cxnSp>
        <p:cxnSp>
          <p:nvCxnSpPr>
            <p:cNvPr id="1154" name="Google Shape;1154;p84"/>
            <p:cNvCxnSpPr/>
            <p:nvPr/>
          </p:nvCxnSpPr>
          <p:spPr>
            <a:xfrm>
              <a:off x="3369600" y="3320300"/>
              <a:ext cx="1899300" cy="0"/>
            </a:xfrm>
            <a:prstGeom prst="straightConnector1">
              <a:avLst/>
            </a:prstGeom>
            <a:noFill/>
            <a:ln cap="flat" cmpd="sng" w="38100">
              <a:solidFill>
                <a:schemeClr val="accent5"/>
              </a:solidFill>
              <a:prstDash val="solid"/>
              <a:round/>
              <a:headEnd len="med" w="med" type="none"/>
              <a:tailEnd len="med" w="med" type="none"/>
            </a:ln>
          </p:spPr>
        </p:cxnSp>
        <p:cxnSp>
          <p:nvCxnSpPr>
            <p:cNvPr id="1155" name="Google Shape;1155;p84"/>
            <p:cNvCxnSpPr/>
            <p:nvPr/>
          </p:nvCxnSpPr>
          <p:spPr>
            <a:xfrm flipH="1" rot="10800000">
              <a:off x="2996850" y="3910986"/>
              <a:ext cx="2653800" cy="3900"/>
            </a:xfrm>
            <a:prstGeom prst="straightConnector1">
              <a:avLst/>
            </a:prstGeom>
            <a:noFill/>
            <a:ln cap="flat" cmpd="sng" w="38100">
              <a:solidFill>
                <a:schemeClr val="accent5"/>
              </a:solidFill>
              <a:prstDash val="solid"/>
              <a:round/>
              <a:headEnd len="med" w="med" type="none"/>
              <a:tailEnd len="med" w="med" type="none"/>
            </a:ln>
          </p:spPr>
        </p:cxnSp>
      </p:grpSp>
      <p:sp>
        <p:nvSpPr>
          <p:cNvPr id="1156" name="Google Shape;1156;p84"/>
          <p:cNvSpPr txBox="1"/>
          <p:nvPr/>
        </p:nvSpPr>
        <p:spPr>
          <a:xfrm>
            <a:off x="1830362" y="2414751"/>
            <a:ext cx="1002000" cy="43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Lexend"/>
                <a:ea typeface="Lexend"/>
                <a:cs typeface="Lexend"/>
                <a:sym typeface="Lexend"/>
              </a:rPr>
              <a:t>( …. )</a:t>
            </a:r>
            <a:endParaRPr sz="2000">
              <a:latin typeface="Lexend"/>
              <a:ea typeface="Lexend"/>
              <a:cs typeface="Lexend"/>
              <a:sym typeface="Lexend"/>
            </a:endParaRPr>
          </a:p>
        </p:txBody>
      </p:sp>
      <p:grpSp>
        <p:nvGrpSpPr>
          <p:cNvPr id="1157" name="Google Shape;1157;p84"/>
          <p:cNvGrpSpPr/>
          <p:nvPr/>
        </p:nvGrpSpPr>
        <p:grpSpPr>
          <a:xfrm>
            <a:off x="2062624" y="2776136"/>
            <a:ext cx="569930" cy="463866"/>
            <a:chOff x="1546176" y="2472208"/>
            <a:chExt cx="867342" cy="705929"/>
          </a:xfrm>
        </p:grpSpPr>
        <p:sp>
          <p:nvSpPr>
            <p:cNvPr id="1158" name="Google Shape;1158;p84"/>
            <p:cNvSpPr txBox="1"/>
            <p:nvPr/>
          </p:nvSpPr>
          <p:spPr>
            <a:xfrm>
              <a:off x="1923017" y="2472208"/>
              <a:ext cx="4905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latin typeface="Lexend"/>
                  <a:ea typeface="Lexend"/>
                  <a:cs typeface="Lexend"/>
                  <a:sym typeface="Lexend"/>
                </a:rPr>
                <a:t>⬚</a:t>
              </a:r>
              <a:endParaRPr b="1" sz="2000">
                <a:latin typeface="Lexend"/>
                <a:ea typeface="Lexend"/>
                <a:cs typeface="Lexend"/>
                <a:sym typeface="Lexend"/>
              </a:endParaRPr>
            </a:p>
          </p:txBody>
        </p:sp>
        <p:sp>
          <p:nvSpPr>
            <p:cNvPr id="1159" name="Google Shape;1159;p84"/>
            <p:cNvSpPr txBox="1"/>
            <p:nvPr/>
          </p:nvSpPr>
          <p:spPr>
            <a:xfrm>
              <a:off x="1546176" y="2641138"/>
              <a:ext cx="4905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3100">
                  <a:latin typeface="Lexend"/>
                  <a:ea typeface="Lexend"/>
                  <a:cs typeface="Lexend"/>
                  <a:sym typeface="Lexend"/>
                </a:rPr>
                <a:t>⬚</a:t>
              </a:r>
              <a:endParaRPr b="1" sz="3100">
                <a:latin typeface="Lexend"/>
                <a:ea typeface="Lexend"/>
                <a:cs typeface="Lexend"/>
                <a:sym typeface="Lexend"/>
              </a:endParaRPr>
            </a:p>
          </p:txBody>
        </p:sp>
      </p:grpSp>
      <p:grpSp>
        <p:nvGrpSpPr>
          <p:cNvPr id="1160" name="Google Shape;1160;p84"/>
          <p:cNvGrpSpPr/>
          <p:nvPr/>
        </p:nvGrpSpPr>
        <p:grpSpPr>
          <a:xfrm>
            <a:off x="1520545" y="2882675"/>
            <a:ext cx="504142" cy="431426"/>
            <a:chOff x="3734648" y="2776985"/>
            <a:chExt cx="627511" cy="537000"/>
          </a:xfrm>
        </p:grpSpPr>
        <p:pic>
          <p:nvPicPr>
            <p:cNvPr descr="&lt;math xmlns=&quot;http://www.w3.org/1998/Math/MathML&quot; display=&quot;block&quot; data-is-equatio=&quot;1&quot; data-latex=&quot;\begin{array}{l}\sqrt[\ \ ]{\ \ \ }\\&amp;#13;&amp;#10;\end{array}&quot;&gt;&lt;mtable columnalign=&quot;left&quot; columnspacing=&quot;1em&quot; rowspacing=&quot;4pt&quot;&gt;&lt;mtr&gt;&lt;mtd&gt;&lt;mroot&gt;&lt;mrow&gt;&lt;mtext&gt;&lt;/mtext&gt;&lt;mtext&gt;&lt;/mtext&gt;&lt;mtext&gt;&lt;/mtext&gt;&lt;/mrow&gt;&lt;mrow&gt;&lt;mtext&gt;&lt;/mtext&gt;&lt;mtext&gt;&lt;/mtext&gt;&lt;/mrow&gt;&lt;/mroot&gt;&lt;/mtd&gt;&lt;/mtr&gt;&lt;/mtable&gt;&lt;/math&gt;" id="1161" name="Google Shape;1161;p84" title="1 lines Line 1: the root of"/>
            <p:cNvPicPr preferRelativeResize="0"/>
            <p:nvPr/>
          </p:nvPicPr>
          <p:blipFill>
            <a:blip r:embed="rId3">
              <a:alphaModFix/>
            </a:blip>
            <a:stretch>
              <a:fillRect/>
            </a:stretch>
          </p:blipFill>
          <p:spPr>
            <a:xfrm>
              <a:off x="3871597" y="2929810"/>
              <a:ext cx="490562" cy="384175"/>
            </a:xfrm>
            <a:prstGeom prst="rect">
              <a:avLst/>
            </a:prstGeom>
            <a:noFill/>
            <a:ln>
              <a:noFill/>
            </a:ln>
          </p:spPr>
        </p:pic>
        <p:sp>
          <p:nvSpPr>
            <p:cNvPr id="1162" name="Google Shape;1162;p84"/>
            <p:cNvSpPr txBox="1"/>
            <p:nvPr/>
          </p:nvSpPr>
          <p:spPr>
            <a:xfrm>
              <a:off x="3734648" y="2776985"/>
              <a:ext cx="4905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latin typeface="Lexend"/>
                  <a:ea typeface="Lexend"/>
                  <a:cs typeface="Lexend"/>
                  <a:sym typeface="Lexend"/>
                </a:rPr>
                <a:t>⬚</a:t>
              </a:r>
              <a:endParaRPr sz="1700">
                <a:latin typeface="Lexend"/>
                <a:ea typeface="Lexend"/>
                <a:cs typeface="Lexend"/>
                <a:sym typeface="Lexend"/>
              </a:endParaRPr>
            </a:p>
          </p:txBody>
        </p:sp>
      </p:grpSp>
      <p:sp>
        <p:nvSpPr>
          <p:cNvPr id="1163" name="Google Shape;1163;p84"/>
          <p:cNvSpPr txBox="1"/>
          <p:nvPr/>
        </p:nvSpPr>
        <p:spPr>
          <a:xfrm>
            <a:off x="1485864" y="3270791"/>
            <a:ext cx="1673400" cy="52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4700">
                <a:latin typeface="Lexend"/>
                <a:ea typeface="Lexend"/>
                <a:cs typeface="Lexend"/>
                <a:sym typeface="Lexend"/>
              </a:rPr>
              <a:t>×    ÷</a:t>
            </a:r>
            <a:endParaRPr sz="4700">
              <a:latin typeface="Lexend"/>
              <a:ea typeface="Lexend"/>
              <a:cs typeface="Lexend"/>
              <a:sym typeface="Lexend"/>
            </a:endParaRPr>
          </a:p>
        </p:txBody>
      </p:sp>
      <p:sp>
        <p:nvSpPr>
          <p:cNvPr id="1164" name="Google Shape;1164;p84"/>
          <p:cNvSpPr txBox="1"/>
          <p:nvPr/>
        </p:nvSpPr>
        <p:spPr>
          <a:xfrm>
            <a:off x="1442682" y="3798142"/>
            <a:ext cx="1673400" cy="52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4700">
                <a:latin typeface="Lexend"/>
                <a:ea typeface="Lexend"/>
                <a:cs typeface="Lexend"/>
                <a:sym typeface="Lexend"/>
              </a:rPr>
              <a:t>+    −</a:t>
            </a:r>
            <a:endParaRPr sz="4700">
              <a:latin typeface="Lexend"/>
              <a:ea typeface="Lexend"/>
              <a:cs typeface="Lexend"/>
              <a:sym typeface="Lexend"/>
            </a:endParaRPr>
          </a:p>
        </p:txBody>
      </p:sp>
      <p:sp>
        <p:nvSpPr>
          <p:cNvPr id="1165" name="Google Shape;1165;p84"/>
          <p:cNvSpPr txBox="1"/>
          <p:nvPr>
            <p:ph idx="1" type="body"/>
          </p:nvPr>
        </p:nvSpPr>
        <p:spPr>
          <a:xfrm>
            <a:off x="324000" y="810000"/>
            <a:ext cx="8496000" cy="965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solidFill>
                  <a:srgbClr val="282828"/>
                </a:solidFill>
              </a:rPr>
              <a:t>It is important to recognise we use our </a:t>
            </a:r>
            <a:r>
              <a:rPr lang="en-GB">
                <a:solidFill>
                  <a:srgbClr val="282828"/>
                </a:solidFill>
              </a:rPr>
              <a:t>knowledge</a:t>
            </a:r>
            <a:r>
              <a:rPr lang="en-GB">
                <a:solidFill>
                  <a:srgbClr val="282828"/>
                </a:solidFill>
              </a:rPr>
              <a:t> on square and cube numbers to work out the root or exponent of a fraction. </a:t>
            </a:r>
            <a:endParaRPr/>
          </a:p>
        </p:txBody>
      </p:sp>
      <p:sp>
        <p:nvSpPr>
          <p:cNvPr id="1166" name="Google Shape;1166;p84"/>
          <p:cNvSpPr txBox="1"/>
          <p:nvPr>
            <p:ph idx="1" type="body"/>
          </p:nvPr>
        </p:nvSpPr>
        <p:spPr>
          <a:xfrm>
            <a:off x="2887200" y="1710250"/>
            <a:ext cx="2979900" cy="46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solidFill>
                  <a:srgbClr val="282828"/>
                </a:solidFill>
              </a:rPr>
              <a:t>For example,</a:t>
            </a:r>
            <a:endParaRPr>
              <a:solidFill>
                <a:srgbClr val="282828"/>
              </a:solidFill>
            </a:endParaRPr>
          </a:p>
        </p:txBody>
      </p:sp>
      <p:pic>
        <p:nvPicPr>
          <p:cNvPr descr="&lt;math xmlns=&quot;http://www.w3.org/1998/Math/MathML&quot; display=&quot;block&quot; data-is-equatio=&quot;1&quot; data-latex=&quot;\begin{array}{l}\frac{3}{4}-\ \left(\frac{2}{5}\right)^2\ =\\&amp;#13;&amp;#10;\frac{3}{4}-\left(\frac{2}{5}\times\frac{2}{5}\right)=\\&amp;#13;&amp;#10;\frac{3}{4}-\frac{4}{25}=\frac{75}{100}-\frac{16}{100}=\frac{59}{100}\end{array}&quot;&gt;&lt;mtable columnalign=&quot;left&quot; columnspacing=&quot;1em&quot; rowspacing=&quot;4pt&quot;&gt;&lt;mtr&gt;&lt;mtd&gt;&lt;mfrac&gt;&lt;mn&gt;3&lt;/mn&gt;&lt;mn&gt;4&lt;/mn&gt;&lt;/mfrac&gt;&lt;mo&gt;−&lt;/mo&gt;&lt;mtext&gt;&lt;/mtext&gt;&lt;msup&gt;&lt;mrow data-mjx-texclass=&quot;INNER&quot;&gt;&lt;mo data-mjx-texclass=&quot;OPEN&quot;&gt;(&lt;/mo&gt;&lt;mfrac&gt;&lt;mn&gt;2&lt;/mn&gt;&lt;mn&gt;5&lt;/mn&gt;&lt;/mfrac&gt;&lt;mo data-mjx-texclass=&quot;CLOSE&quot;&gt;)&lt;/mo&gt;&lt;/mrow&gt;&lt;mn&gt;2&lt;/mn&gt;&lt;/msup&gt;&lt;mtext&gt;&lt;/mtext&gt;&lt;mo&gt;=&lt;/mo&gt;&lt;/mtd&gt;&lt;/mtr&gt;&lt;mtr&gt;&lt;mtd&gt;&lt;mfrac&gt;&lt;mn&gt;3&lt;/mn&gt;&lt;mn&gt;4&lt;/mn&gt;&lt;/mfrac&gt;&lt;mo&gt;−&lt;/mo&gt;&lt;mrow data-mjx-texclass=&quot;INNER&quot;&gt;&lt;mo data-mjx-texclass=&quot;OPEN&quot;&gt;(&lt;/mo&gt;&lt;mfrac&gt;&lt;mn&gt;2&lt;/mn&gt;&lt;mn&gt;5&lt;/mn&gt;&lt;/mfrac&gt;&lt;mo&gt;×&lt;/mo&gt;&lt;mfrac&gt;&lt;mn&gt;2&lt;/mn&gt;&lt;mn&gt;5&lt;/mn&gt;&lt;/mfrac&gt;&lt;mo data-mjx-texclass=&quot;CLOSE&quot;&gt;)&lt;/mo&gt;&lt;/mrow&gt;&lt;mo&gt;=&lt;/mo&gt;&lt;/mtd&gt;&lt;/mtr&gt;&lt;mtr&gt;&lt;mtd&gt;&lt;mfrac&gt;&lt;mn&gt;3&lt;/mn&gt;&lt;mn&gt;4&lt;/mn&gt;&lt;/mfrac&gt;&lt;mo&gt;−&lt;/mo&gt;&lt;mfrac&gt;&lt;mn&gt;4&lt;/mn&gt;&lt;mn&gt;25&lt;/mn&gt;&lt;/mfrac&gt;&lt;mo&gt;=&lt;/mo&gt;&lt;mfrac&gt;&lt;mn&gt;75&lt;/mn&gt;&lt;mn&gt;100&lt;/mn&gt;&lt;/mfrac&gt;&lt;mo&gt;−&lt;/mo&gt;&lt;mfrac&gt;&lt;mn&gt;16&lt;/mn&gt;&lt;mn&gt;100&lt;/mn&gt;&lt;/mfrac&gt;&lt;mo&gt;=&lt;/mo&gt;&lt;mfrac&gt;&lt;mn&gt;59&lt;/mn&gt;&lt;mn&gt;100&lt;/mn&gt;&lt;/mfrac&gt;&lt;/mtd&gt;&lt;/mtr&gt;&lt;/mtable&gt;&lt;/math&gt;" id="1167" name="Google Shape;1167;p84" title="3 lines Line 1: three fourths minus two fifths squared equals Line 2: three fourths minus open paren two fifths times two fifths close paren equals Line 3: three fourths minus 4 over 25 equals 75 over 100 minus 16 over 100 equals 59 over 100"/>
          <p:cNvPicPr preferRelativeResize="0"/>
          <p:nvPr/>
        </p:nvPicPr>
        <p:blipFill rotWithShape="1">
          <a:blip r:embed="rId4">
            <a:alphaModFix/>
          </a:blip>
          <a:srcRect b="66881" l="0" r="58143" t="0"/>
          <a:stretch/>
        </p:blipFill>
        <p:spPr>
          <a:xfrm>
            <a:off x="4002375" y="2160000"/>
            <a:ext cx="1824781" cy="705744"/>
          </a:xfrm>
          <a:prstGeom prst="rect">
            <a:avLst/>
          </a:prstGeom>
          <a:noFill/>
          <a:ln>
            <a:noFill/>
          </a:ln>
        </p:spPr>
      </p:pic>
      <p:pic>
        <p:nvPicPr>
          <p:cNvPr descr="&lt;math xmlns=&quot;http://www.w3.org/1998/Math/MathML&quot; display=&quot;block&quot; data-is-equatio=&quot;1&quot; data-latex=&quot;\begin{array}{l}\frac{3}{4}-\ \left(\frac{2}{5}\right)^2\ =\\&amp;#13;&amp;#10;\frac{3}{4}-\left(\frac{2}{5}\times\frac{2}{5}\right)=\\&amp;#13;&amp;#10;\frac{3}{4}-\frac{4}{25}=\frac{75}{100}-\frac{16}{100}=\frac{59}{100}\end{array}&quot;&gt;&lt;mtable columnalign=&quot;left&quot; columnspacing=&quot;1em&quot; rowspacing=&quot;4pt&quot;&gt;&lt;mtr&gt;&lt;mtd&gt;&lt;mfrac&gt;&lt;mn&gt;3&lt;/mn&gt;&lt;mn&gt;4&lt;/mn&gt;&lt;/mfrac&gt;&lt;mo&gt;−&lt;/mo&gt;&lt;mtext&gt;&lt;/mtext&gt;&lt;msup&gt;&lt;mrow data-mjx-texclass=&quot;INNER&quot;&gt;&lt;mo data-mjx-texclass=&quot;OPEN&quot;&gt;(&lt;/mo&gt;&lt;mfrac&gt;&lt;mn&gt;2&lt;/mn&gt;&lt;mn&gt;5&lt;/mn&gt;&lt;/mfrac&gt;&lt;mo data-mjx-texclass=&quot;CLOSE&quot;&gt;)&lt;/mo&gt;&lt;/mrow&gt;&lt;mn&gt;2&lt;/mn&gt;&lt;/msup&gt;&lt;mtext&gt;&lt;/mtext&gt;&lt;mo&gt;=&lt;/mo&gt;&lt;/mtd&gt;&lt;/mtr&gt;&lt;mtr&gt;&lt;mtd&gt;&lt;mfrac&gt;&lt;mn&gt;3&lt;/mn&gt;&lt;mn&gt;4&lt;/mn&gt;&lt;/mfrac&gt;&lt;mo&gt;−&lt;/mo&gt;&lt;mrow data-mjx-texclass=&quot;INNER&quot;&gt;&lt;mo data-mjx-texclass=&quot;OPEN&quot;&gt;(&lt;/mo&gt;&lt;mfrac&gt;&lt;mn&gt;2&lt;/mn&gt;&lt;mn&gt;5&lt;/mn&gt;&lt;/mfrac&gt;&lt;mo&gt;×&lt;/mo&gt;&lt;mfrac&gt;&lt;mn&gt;2&lt;/mn&gt;&lt;mn&gt;5&lt;/mn&gt;&lt;/mfrac&gt;&lt;mo data-mjx-texclass=&quot;CLOSE&quot;&gt;)&lt;/mo&gt;&lt;/mrow&gt;&lt;mo&gt;=&lt;/mo&gt;&lt;/mtd&gt;&lt;/mtr&gt;&lt;mtr&gt;&lt;mtd&gt;&lt;mfrac&gt;&lt;mn&gt;3&lt;/mn&gt;&lt;mn&gt;4&lt;/mn&gt;&lt;/mfrac&gt;&lt;mo&gt;−&lt;/mo&gt;&lt;mfrac&gt;&lt;mn&gt;4&lt;/mn&gt;&lt;mn&gt;25&lt;/mn&gt;&lt;/mfrac&gt;&lt;mo&gt;=&lt;/mo&gt;&lt;mfrac&gt;&lt;mn&gt;75&lt;/mn&gt;&lt;mn&gt;100&lt;/mn&gt;&lt;/mfrac&gt;&lt;mo&gt;−&lt;/mo&gt;&lt;mfrac&gt;&lt;mn&gt;16&lt;/mn&gt;&lt;mn&gt;100&lt;/mn&gt;&lt;/mfrac&gt;&lt;mo&gt;=&lt;/mo&gt;&lt;mfrac&gt;&lt;mn&gt;59&lt;/mn&gt;&lt;mn&gt;100&lt;/mn&gt;&lt;/mfrac&gt;&lt;/mtd&gt;&lt;/mtr&gt;&lt;/mtable&gt;&lt;/math&gt;" id="1168" name="Google Shape;1168;p84" title="3 lines Line 1: three fourths minus two fifths squared equals Line 2: three fourths minus open paren two fifths times two fifths close paren equals Line 3: three fourths minus 4 over 25 equals 75 over 100 minus 16 over 100 equals 59 over 100"/>
          <p:cNvPicPr preferRelativeResize="0"/>
          <p:nvPr/>
        </p:nvPicPr>
        <p:blipFill rotWithShape="1">
          <a:blip r:embed="rId4">
            <a:alphaModFix/>
          </a:blip>
          <a:srcRect b="31246" l="0" r="47140" t="35635"/>
          <a:stretch/>
        </p:blipFill>
        <p:spPr>
          <a:xfrm>
            <a:off x="4002375" y="2899532"/>
            <a:ext cx="2304407" cy="705744"/>
          </a:xfrm>
          <a:prstGeom prst="rect">
            <a:avLst/>
          </a:prstGeom>
          <a:noFill/>
          <a:ln>
            <a:noFill/>
          </a:ln>
        </p:spPr>
      </p:pic>
      <p:pic>
        <p:nvPicPr>
          <p:cNvPr descr="&lt;math xmlns=&quot;http://www.w3.org/1998/Math/MathML&quot; display=&quot;block&quot; data-is-equatio=&quot;1&quot; data-latex=&quot;\begin{array}{l}\frac{3}{4}-\ \left(\frac{2}{5}\right)^2\ =\\&amp;#13;&amp;#10;\frac{3}{4}-\left(\frac{2}{5}\times\frac{2}{5}\right)=\\&amp;#13;&amp;#10;\frac{3}{4}-\frac{4}{25}=\frac{75}{100}-\frac{16}{100}=\frac{59}{100}\end{array}&quot;&gt;&lt;mtable columnalign=&quot;left&quot; columnspacing=&quot;1em&quot; rowspacing=&quot;4pt&quot;&gt;&lt;mtr&gt;&lt;mtd&gt;&lt;mfrac&gt;&lt;mn&gt;3&lt;/mn&gt;&lt;mn&gt;4&lt;/mn&gt;&lt;/mfrac&gt;&lt;mo&gt;−&lt;/mo&gt;&lt;mtext&gt;&lt;/mtext&gt;&lt;msup&gt;&lt;mrow data-mjx-texclass=&quot;INNER&quot;&gt;&lt;mo data-mjx-texclass=&quot;OPEN&quot;&gt;(&lt;/mo&gt;&lt;mfrac&gt;&lt;mn&gt;2&lt;/mn&gt;&lt;mn&gt;5&lt;/mn&gt;&lt;/mfrac&gt;&lt;mo data-mjx-texclass=&quot;CLOSE&quot;&gt;)&lt;/mo&gt;&lt;/mrow&gt;&lt;mn&gt;2&lt;/mn&gt;&lt;/msup&gt;&lt;mtext&gt;&lt;/mtext&gt;&lt;mo&gt;=&lt;/mo&gt;&lt;/mtd&gt;&lt;/mtr&gt;&lt;mtr&gt;&lt;mtd&gt;&lt;mfrac&gt;&lt;mn&gt;3&lt;/mn&gt;&lt;mn&gt;4&lt;/mn&gt;&lt;/mfrac&gt;&lt;mo&gt;−&lt;/mo&gt;&lt;mrow data-mjx-texclass=&quot;INNER&quot;&gt;&lt;mo data-mjx-texclass=&quot;OPEN&quot;&gt;(&lt;/mo&gt;&lt;mfrac&gt;&lt;mn&gt;2&lt;/mn&gt;&lt;mn&gt;5&lt;/mn&gt;&lt;/mfrac&gt;&lt;mo&gt;×&lt;/mo&gt;&lt;mfrac&gt;&lt;mn&gt;2&lt;/mn&gt;&lt;mn&gt;5&lt;/mn&gt;&lt;/mfrac&gt;&lt;mo data-mjx-texclass=&quot;CLOSE&quot;&gt;)&lt;/mo&gt;&lt;/mrow&gt;&lt;mo&gt;=&lt;/mo&gt;&lt;/mtd&gt;&lt;/mtr&gt;&lt;mtr&gt;&lt;mtd&gt;&lt;mfrac&gt;&lt;mn&gt;3&lt;/mn&gt;&lt;mn&gt;4&lt;/mn&gt;&lt;/mfrac&gt;&lt;mo&gt;−&lt;/mo&gt;&lt;mfrac&gt;&lt;mn&gt;4&lt;/mn&gt;&lt;mn&gt;25&lt;/mn&gt;&lt;/mfrac&gt;&lt;mo&gt;=&lt;/mo&gt;&lt;mfrac&gt;&lt;mn&gt;75&lt;/mn&gt;&lt;mn&gt;100&lt;/mn&gt;&lt;/mfrac&gt;&lt;mo&gt;−&lt;/mo&gt;&lt;mfrac&gt;&lt;mn&gt;16&lt;/mn&gt;&lt;mn&gt;100&lt;/mn&gt;&lt;/mfrac&gt;&lt;mo&gt;=&lt;/mo&gt;&lt;mfrac&gt;&lt;mn&gt;59&lt;/mn&gt;&lt;mn&gt;100&lt;/mn&gt;&lt;/mfrac&gt;&lt;/mtd&gt;&lt;/mtr&gt;&lt;/mtable&gt;&lt;/math&gt;" id="1169" name="Google Shape;1169;p84" title="3 lines Line 1: three fourths minus two fifths squared equals Line 2: three fourths minus open paren two fifths times two fifths close paren equals Line 3: three fourths minus 4 over 25 equals 75 over 100 minus 16 over 100 equals 59 over 100"/>
          <p:cNvPicPr preferRelativeResize="0"/>
          <p:nvPr/>
        </p:nvPicPr>
        <p:blipFill rotWithShape="1">
          <a:blip r:embed="rId4">
            <a:alphaModFix/>
          </a:blip>
          <a:srcRect b="-3103" l="-1760" r="70922" t="69985"/>
          <a:stretch/>
        </p:blipFill>
        <p:spPr>
          <a:xfrm>
            <a:off x="4041502" y="3775455"/>
            <a:ext cx="1344402" cy="705744"/>
          </a:xfrm>
          <a:prstGeom prst="rect">
            <a:avLst/>
          </a:prstGeom>
          <a:noFill/>
          <a:ln>
            <a:noFill/>
          </a:ln>
        </p:spPr>
      </p:pic>
      <p:pic>
        <p:nvPicPr>
          <p:cNvPr descr="&lt;math xmlns=&quot;http://www.w3.org/1998/Math/MathML&quot; display=&quot;block&quot; data-is-equatio=&quot;1&quot; data-latex=&quot;\begin{array}{l}\frac{3}{4}-\ \left(\frac{2}{5}\right)^2\ =\\&amp;#13;&amp;#10;\frac{3}{4}-\left(\frac{2}{5}\times\frac{2}{5}\right)=\\&amp;#13;&amp;#10;\frac{3}{4}-\frac{4}{25}=\frac{75}{100}-\frac{16}{100}=\frac{59}{100}\end{array}&quot;&gt;&lt;mtable columnalign=&quot;left&quot; columnspacing=&quot;1em&quot; rowspacing=&quot;4pt&quot;&gt;&lt;mtr&gt;&lt;mtd&gt;&lt;mfrac&gt;&lt;mn&gt;3&lt;/mn&gt;&lt;mn&gt;4&lt;/mn&gt;&lt;/mfrac&gt;&lt;mo&gt;−&lt;/mo&gt;&lt;mtext&gt;&lt;/mtext&gt;&lt;msup&gt;&lt;mrow data-mjx-texclass=&quot;INNER&quot;&gt;&lt;mo data-mjx-texclass=&quot;OPEN&quot;&gt;(&lt;/mo&gt;&lt;mfrac&gt;&lt;mn&gt;2&lt;/mn&gt;&lt;mn&gt;5&lt;/mn&gt;&lt;/mfrac&gt;&lt;mo data-mjx-texclass=&quot;CLOSE&quot;&gt;)&lt;/mo&gt;&lt;/mrow&gt;&lt;mn&gt;2&lt;/mn&gt;&lt;/msup&gt;&lt;mtext&gt;&lt;/mtext&gt;&lt;mo&gt;=&lt;/mo&gt;&lt;/mtd&gt;&lt;/mtr&gt;&lt;mtr&gt;&lt;mtd&gt;&lt;mfrac&gt;&lt;mn&gt;3&lt;/mn&gt;&lt;mn&gt;4&lt;/mn&gt;&lt;/mfrac&gt;&lt;mo&gt;−&lt;/mo&gt;&lt;mrow data-mjx-texclass=&quot;INNER&quot;&gt;&lt;mo data-mjx-texclass=&quot;OPEN&quot;&gt;(&lt;/mo&gt;&lt;mfrac&gt;&lt;mn&gt;2&lt;/mn&gt;&lt;mn&gt;5&lt;/mn&gt;&lt;/mfrac&gt;&lt;mo&gt;×&lt;/mo&gt;&lt;mfrac&gt;&lt;mn&gt;2&lt;/mn&gt;&lt;mn&gt;5&lt;/mn&gt;&lt;/mfrac&gt;&lt;mo data-mjx-texclass=&quot;CLOSE&quot;&gt;)&lt;/mo&gt;&lt;/mrow&gt;&lt;mo&gt;=&lt;/mo&gt;&lt;/mtd&gt;&lt;/mtr&gt;&lt;mtr&gt;&lt;mtd&gt;&lt;mfrac&gt;&lt;mn&gt;3&lt;/mn&gt;&lt;mn&gt;4&lt;/mn&gt;&lt;/mfrac&gt;&lt;mo&gt;−&lt;/mo&gt;&lt;mfrac&gt;&lt;mn&gt;4&lt;/mn&gt;&lt;mn&gt;25&lt;/mn&gt;&lt;/mfrac&gt;&lt;mo&gt;=&lt;/mo&gt;&lt;mfrac&gt;&lt;mn&gt;75&lt;/mn&gt;&lt;mn&gt;100&lt;/mn&gt;&lt;/mfrac&gt;&lt;mo&gt;−&lt;/mo&gt;&lt;mfrac&gt;&lt;mn&gt;16&lt;/mn&gt;&lt;mn&gt;100&lt;/mn&gt;&lt;/mfrac&gt;&lt;mo&gt;=&lt;/mo&gt;&lt;mfrac&gt;&lt;mn&gt;59&lt;/mn&gt;&lt;mn&gt;100&lt;/mn&gt;&lt;/mfrac&gt;&lt;/mtd&gt;&lt;/mtr&gt;&lt;/mtable&gt;&lt;/math&gt;" id="1170" name="Google Shape;1170;p84" title="3 lines Line 1: three fourths minus two fifths squared equals Line 2: three fourths minus open paren two fifths times two fifths close paren equals Line 3: three fourths minus 4 over 25 equals 75 over 100 minus 16 over 100 equals 59 over 100"/>
          <p:cNvPicPr preferRelativeResize="0"/>
          <p:nvPr/>
        </p:nvPicPr>
        <p:blipFill rotWithShape="1">
          <a:blip r:embed="rId4">
            <a:alphaModFix/>
          </a:blip>
          <a:srcRect b="-3103" l="27302" r="23627" t="69985"/>
          <a:stretch/>
        </p:blipFill>
        <p:spPr>
          <a:xfrm>
            <a:off x="5183314" y="3775455"/>
            <a:ext cx="2139102" cy="705744"/>
          </a:xfrm>
          <a:prstGeom prst="rect">
            <a:avLst/>
          </a:prstGeom>
          <a:noFill/>
          <a:ln>
            <a:noFill/>
          </a:ln>
        </p:spPr>
      </p:pic>
      <p:pic>
        <p:nvPicPr>
          <p:cNvPr descr="&lt;math xmlns=&quot;http://www.w3.org/1998/Math/MathML&quot; display=&quot;block&quot; data-is-equatio=&quot;1&quot; data-latex=&quot;\begin{array}{l}\frac{3}{4}-\ \left(\frac{2}{5}\right)^2\ =\\&amp;#13;&amp;#10;\frac{3}{4}-\left(\frac{2}{5}\times\frac{2}{5}\right)=\\&amp;#13;&amp;#10;\frac{3}{4}-\frac{4}{25}=\frac{75}{100}-\frac{16}{100}=\frac{59}{100}\end{array}&quot;&gt;&lt;mtable columnalign=&quot;left&quot; columnspacing=&quot;1em&quot; rowspacing=&quot;4pt&quot;&gt;&lt;mtr&gt;&lt;mtd&gt;&lt;mfrac&gt;&lt;mn&gt;3&lt;/mn&gt;&lt;mn&gt;4&lt;/mn&gt;&lt;/mfrac&gt;&lt;mo&gt;−&lt;/mo&gt;&lt;mtext&gt;&lt;/mtext&gt;&lt;msup&gt;&lt;mrow data-mjx-texclass=&quot;INNER&quot;&gt;&lt;mo data-mjx-texclass=&quot;OPEN&quot;&gt;(&lt;/mo&gt;&lt;mfrac&gt;&lt;mn&gt;2&lt;/mn&gt;&lt;mn&gt;5&lt;/mn&gt;&lt;/mfrac&gt;&lt;mo data-mjx-texclass=&quot;CLOSE&quot;&gt;)&lt;/mo&gt;&lt;/mrow&gt;&lt;mn&gt;2&lt;/mn&gt;&lt;/msup&gt;&lt;mtext&gt;&lt;/mtext&gt;&lt;mo&gt;=&lt;/mo&gt;&lt;/mtd&gt;&lt;/mtr&gt;&lt;mtr&gt;&lt;mtd&gt;&lt;mfrac&gt;&lt;mn&gt;3&lt;/mn&gt;&lt;mn&gt;4&lt;/mn&gt;&lt;/mfrac&gt;&lt;mo&gt;−&lt;/mo&gt;&lt;mrow data-mjx-texclass=&quot;INNER&quot;&gt;&lt;mo data-mjx-texclass=&quot;OPEN&quot;&gt;(&lt;/mo&gt;&lt;mfrac&gt;&lt;mn&gt;2&lt;/mn&gt;&lt;mn&gt;5&lt;/mn&gt;&lt;/mfrac&gt;&lt;mo&gt;×&lt;/mo&gt;&lt;mfrac&gt;&lt;mn&gt;2&lt;/mn&gt;&lt;mn&gt;5&lt;/mn&gt;&lt;/mfrac&gt;&lt;mo data-mjx-texclass=&quot;CLOSE&quot;&gt;)&lt;/mo&gt;&lt;/mrow&gt;&lt;mo&gt;=&lt;/mo&gt;&lt;/mtd&gt;&lt;/mtr&gt;&lt;mtr&gt;&lt;mtd&gt;&lt;mfrac&gt;&lt;mn&gt;3&lt;/mn&gt;&lt;mn&gt;4&lt;/mn&gt;&lt;/mfrac&gt;&lt;mo&gt;−&lt;/mo&gt;&lt;mfrac&gt;&lt;mn&gt;4&lt;/mn&gt;&lt;mn&gt;25&lt;/mn&gt;&lt;/mfrac&gt;&lt;mo&gt;=&lt;/mo&gt;&lt;mfrac&gt;&lt;mn&gt;75&lt;/mn&gt;&lt;mn&gt;100&lt;/mn&gt;&lt;/mfrac&gt;&lt;mo&gt;−&lt;/mo&gt;&lt;mfrac&gt;&lt;mn&gt;16&lt;/mn&gt;&lt;mn&gt;100&lt;/mn&gt;&lt;/mfrac&gt;&lt;mo&gt;=&lt;/mo&gt;&lt;mfrac&gt;&lt;mn&gt;59&lt;/mn&gt;&lt;mn&gt;100&lt;/mn&gt;&lt;/mfrac&gt;&lt;/mtd&gt;&lt;/mtr&gt;&lt;/mtable&gt;&lt;/math&gt;" id="1171" name="Google Shape;1171;p84" title="3 lines Line 1: three fourths minus two fifths squared equals Line 2: three fourths minus open paren two fifths times two fifths close paren equals Line 3: three fourths minus 4 over 25 equals 75 over 100 minus 16 over 100 equals 59 over 100"/>
          <p:cNvPicPr preferRelativeResize="0"/>
          <p:nvPr/>
        </p:nvPicPr>
        <p:blipFill rotWithShape="1">
          <a:blip r:embed="rId4">
            <a:alphaModFix/>
          </a:blip>
          <a:srcRect b="-3103" l="77627" r="-5186" t="69985"/>
          <a:stretch/>
        </p:blipFill>
        <p:spPr>
          <a:xfrm>
            <a:off x="7322429" y="3798200"/>
            <a:ext cx="1201450" cy="705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pic>
        <p:nvPicPr>
          <p:cNvPr descr="&lt;math xmlns=&quot;http://www.w3.org/1998/Math/MathML&quot; display=&quot;block&quot; data-is-equatio=&quot;1&quot; data-latex=&quot;\begin{array}{l}\frac{5}{9}-\ \left(\frac{2}{3}\right)^3\times\sqrt{\frac{4}{25}}\\&amp;#13;&amp;#10;\frac{5}{9}-\frac{8}{27}\times\frac{2}{5}\\&amp;#13;&amp;#10;\frac{5}{9}-\frac{16}{135}\\&amp;#13;&amp;#10;\frac{75}{135}-\frac{16}{135}=\frac{59}{135}\end{array}&quot;&gt;&lt;mtable columnalign=&quot;left&quot; columnspacing=&quot;1em&quot; rowspacing=&quot;4pt&quot;&gt;&lt;mtr&gt;&lt;mtd&gt;&lt;mfrac&gt;&lt;mn&gt;5&lt;/mn&gt;&lt;mn&gt;9&lt;/mn&gt;&lt;/mfrac&gt;&lt;mo&gt;−&lt;/mo&gt;&lt;mtext&gt;&lt;/mtext&gt;&lt;msup&gt;&lt;mrow data-mjx-texclass=&quot;INNER&quot;&gt;&lt;mo data-mjx-texclass=&quot;OPEN&quot;&gt;(&lt;/mo&gt;&lt;mfrac&gt;&lt;mn&gt;2&lt;/mn&gt;&lt;mn&gt;3&lt;/mn&gt;&lt;/mfrac&gt;&lt;mo data-mjx-texclass=&quot;CLOSE&quot;&gt;)&lt;/mo&gt;&lt;/mrow&gt;&lt;mn&gt;3&lt;/mn&gt;&lt;/msup&gt;&lt;mo&gt;×&lt;/mo&gt;&lt;msqrt&gt;&lt;mfrac&gt;&lt;mn&gt;4&lt;/mn&gt;&lt;mn&gt;25&lt;/mn&gt;&lt;/mfrac&gt;&lt;/msqrt&gt;&lt;/mtd&gt;&lt;/mtr&gt;&lt;mtr&gt;&lt;mtd&gt;&lt;mfrac&gt;&lt;mn&gt;5&lt;/mn&gt;&lt;mn&gt;9&lt;/mn&gt;&lt;/mfrac&gt;&lt;mo&gt;−&lt;/mo&gt;&lt;mfrac&gt;&lt;mn&gt;8&lt;/mn&gt;&lt;mn&gt;27&lt;/mn&gt;&lt;/mfrac&gt;&lt;mo&gt;×&lt;/mo&gt;&lt;mfrac&gt;&lt;mn&gt;2&lt;/mn&gt;&lt;mn&gt;5&lt;/mn&gt;&lt;/mfrac&gt;&lt;/mtd&gt;&lt;/mtr&gt;&lt;mtr&gt;&lt;mtd&gt;&lt;mfrac&gt;&lt;mn&gt;5&lt;/mn&gt;&lt;mn&gt;9&lt;/mn&gt;&lt;/mfrac&gt;&lt;mo&gt;−&lt;/mo&gt;&lt;mfrac&gt;&lt;mn&gt;16&lt;/mn&gt;&lt;mn&gt;135&lt;/mn&gt;&lt;/mfrac&gt;&lt;/mtd&gt;&lt;/mtr&gt;&lt;mtr&gt;&lt;mtd&gt;&lt;mfrac&gt;&lt;mn&gt;75&lt;/mn&gt;&lt;mn&gt;135&lt;/mn&gt;&lt;/mfrac&gt;&lt;mo&gt;−&lt;/mo&gt;&lt;mfrac&gt;&lt;mn&gt;16&lt;/mn&gt;&lt;mn&gt;135&lt;/mn&gt;&lt;/mfrac&gt;&lt;mo&gt;=&lt;/mo&gt;&lt;mfrac&gt;&lt;mn&gt;59&lt;/mn&gt;&lt;mn&gt;135&lt;/mn&gt;&lt;/mfrac&gt;&lt;/mtd&gt;&lt;/mtr&gt;&lt;/mtable&gt;&lt;/math&gt;" id="1176" name="Google Shape;1176;p85" title="4 lines Line 1: five ninths minus two thirds cubed times the square root of 4 over 25 Line 2: five ninths minus 8 over 27 times two fifths Line 3: five ninths minus 16 over 135 Line 4: 75 over 135 minus 16 over 135 equals 59 over 135"/>
          <p:cNvPicPr preferRelativeResize="0"/>
          <p:nvPr/>
        </p:nvPicPr>
        <p:blipFill>
          <a:blip r:embed="rId3">
            <a:alphaModFix/>
          </a:blip>
          <a:stretch>
            <a:fillRect/>
          </a:stretch>
        </p:blipFill>
        <p:spPr>
          <a:xfrm>
            <a:off x="3449237" y="1387300"/>
            <a:ext cx="3308550" cy="3280694"/>
          </a:xfrm>
          <a:prstGeom prst="rect">
            <a:avLst/>
          </a:prstGeom>
          <a:noFill/>
          <a:ln>
            <a:noFill/>
          </a:ln>
        </p:spPr>
      </p:pic>
      <p:sp>
        <p:nvSpPr>
          <p:cNvPr id="1177" name="Google Shape;1177;p85"/>
          <p:cNvSpPr txBox="1"/>
          <p:nvPr>
            <p:ph idx="1" type="body"/>
          </p:nvPr>
        </p:nvSpPr>
        <p:spPr>
          <a:xfrm>
            <a:off x="324000" y="759300"/>
            <a:ext cx="8237700" cy="985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Jacob has spilt ink all over his work. Can you figure out what is under each ink blot?</a:t>
            </a:r>
            <a:endParaRPr/>
          </a:p>
        </p:txBody>
      </p:sp>
      <p:sp>
        <p:nvSpPr>
          <p:cNvPr id="1178" name="Google Shape;1178;p8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Powers and roots of fractions</a:t>
            </a:r>
            <a:endParaRPr/>
          </a:p>
        </p:txBody>
      </p:sp>
      <p:pic>
        <p:nvPicPr>
          <p:cNvPr id="1179" name="Google Shape;1179;p85"/>
          <p:cNvPicPr preferRelativeResize="0"/>
          <p:nvPr/>
        </p:nvPicPr>
        <p:blipFill>
          <a:blip r:embed="rId4">
            <a:alphaModFix/>
          </a:blip>
          <a:stretch>
            <a:fillRect/>
          </a:stretch>
        </p:blipFill>
        <p:spPr>
          <a:xfrm rot="-4981325">
            <a:off x="4037251" y="2305469"/>
            <a:ext cx="847472" cy="661415"/>
          </a:xfrm>
          <a:prstGeom prst="rect">
            <a:avLst/>
          </a:prstGeom>
          <a:noFill/>
          <a:ln>
            <a:noFill/>
          </a:ln>
        </p:spPr>
      </p:pic>
      <p:pic>
        <p:nvPicPr>
          <p:cNvPr id="1180" name="Google Shape;1180;p85"/>
          <p:cNvPicPr preferRelativeResize="0"/>
          <p:nvPr/>
        </p:nvPicPr>
        <p:blipFill>
          <a:blip r:embed="rId4">
            <a:alphaModFix/>
          </a:blip>
          <a:stretch>
            <a:fillRect/>
          </a:stretch>
        </p:blipFill>
        <p:spPr>
          <a:xfrm rot="-4981325">
            <a:off x="5077226" y="2447044"/>
            <a:ext cx="847472" cy="661415"/>
          </a:xfrm>
          <a:prstGeom prst="rect">
            <a:avLst/>
          </a:prstGeom>
          <a:noFill/>
          <a:ln>
            <a:noFill/>
          </a:ln>
        </p:spPr>
      </p:pic>
      <p:pic>
        <p:nvPicPr>
          <p:cNvPr id="1181" name="Google Shape;1181;p85"/>
          <p:cNvPicPr preferRelativeResize="0"/>
          <p:nvPr/>
        </p:nvPicPr>
        <p:blipFill>
          <a:blip r:embed="rId4">
            <a:alphaModFix/>
          </a:blip>
          <a:stretch>
            <a:fillRect/>
          </a:stretch>
        </p:blipFill>
        <p:spPr>
          <a:xfrm rot="-4981323">
            <a:off x="4166640" y="3153026"/>
            <a:ext cx="847467" cy="776697"/>
          </a:xfrm>
          <a:prstGeom prst="rect">
            <a:avLst/>
          </a:prstGeom>
          <a:noFill/>
          <a:ln>
            <a:noFill/>
          </a:ln>
        </p:spPr>
      </p:pic>
      <p:pic>
        <p:nvPicPr>
          <p:cNvPr id="1182" name="Google Shape;1182;p85"/>
          <p:cNvPicPr preferRelativeResize="0"/>
          <p:nvPr/>
        </p:nvPicPr>
        <p:blipFill>
          <a:blip r:embed="rId4">
            <a:alphaModFix/>
          </a:blip>
          <a:stretch>
            <a:fillRect/>
          </a:stretch>
        </p:blipFill>
        <p:spPr>
          <a:xfrm rot="-4981323">
            <a:off x="3281415" y="3987351"/>
            <a:ext cx="847467" cy="776697"/>
          </a:xfrm>
          <a:prstGeom prst="rect">
            <a:avLst/>
          </a:prstGeom>
          <a:noFill/>
          <a:ln>
            <a:noFill/>
          </a:ln>
        </p:spPr>
      </p:pic>
      <p:pic>
        <p:nvPicPr>
          <p:cNvPr id="1183" name="Google Shape;1183;p85"/>
          <p:cNvPicPr preferRelativeResize="0"/>
          <p:nvPr/>
        </p:nvPicPr>
        <p:blipFill>
          <a:blip r:embed="rId4">
            <a:alphaModFix/>
          </a:blip>
          <a:stretch>
            <a:fillRect/>
          </a:stretch>
        </p:blipFill>
        <p:spPr>
          <a:xfrm rot="-4981323">
            <a:off x="5731665" y="3987351"/>
            <a:ext cx="847467" cy="77669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7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8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8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8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8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p86"/>
          <p:cNvSpPr txBox="1"/>
          <p:nvPr>
            <p:ph idx="1" type="body"/>
          </p:nvPr>
        </p:nvSpPr>
        <p:spPr>
          <a:xfrm>
            <a:off x="324000" y="759300"/>
            <a:ext cx="8237700" cy="3975000"/>
          </a:xfrm>
          <a:prstGeom prst="rect">
            <a:avLst/>
          </a:prstGeom>
        </p:spPr>
        <p:txBody>
          <a:bodyPr anchorCtr="0" anchor="t" bIns="0" lIns="0" spcFirstLastPara="1" rIns="0" wrap="square" tIns="0">
            <a:noAutofit/>
          </a:bodyPr>
          <a:lstStyle/>
          <a:p>
            <a:pPr indent="-368300" lvl="0" marL="457200" rtl="0" algn="l">
              <a:lnSpc>
                <a:spcPct val="130000"/>
              </a:lnSpc>
              <a:spcBef>
                <a:spcPts val="0"/>
              </a:spcBef>
              <a:spcAft>
                <a:spcPts val="0"/>
              </a:spcAft>
              <a:buSzPts val="2200"/>
              <a:buAutoNum type="arabicParenR"/>
            </a:pPr>
            <a:r>
              <a:rPr lang="en-GB"/>
              <a:t>Fill in the blanks to complete the calculation.</a:t>
            </a:r>
            <a:endParaRPr/>
          </a:p>
        </p:txBody>
      </p:sp>
      <p:sp>
        <p:nvSpPr>
          <p:cNvPr id="1189" name="Google Shape;1189;p8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Powers and roots of fractions</a:t>
            </a:r>
            <a:endParaRPr/>
          </a:p>
          <a:p>
            <a:pPr indent="0" lvl="0" marL="0" rtl="0" algn="l">
              <a:spcBef>
                <a:spcPts val="1000"/>
              </a:spcBef>
              <a:spcAft>
                <a:spcPts val="1000"/>
              </a:spcAft>
              <a:buNone/>
            </a:pPr>
            <a:r>
              <a:t/>
            </a:r>
            <a:endParaRPr/>
          </a:p>
        </p:txBody>
      </p:sp>
      <p:pic>
        <p:nvPicPr>
          <p:cNvPr descr="&lt;math xmlns=&quot;http://www.w3.org/1998/Math/MathML&quot; display=&quot;block&quot; data-is-equatio=&quot;1&quot; data-latex=&quot;\begin{array}{l}\frac{3}{5}-\frac{4}{5}\times\frac{2}{3}+\left(\frac{3}{5}\right)^2\\&amp;#13;&amp;#10;\frac{3}{5}-\frac{4}{5}\times\frac{2}{3}+\frac{9}{25}\\&amp;#13;&amp;#10;\frac{3}{5}-\frac{8}{15}+\frac{9}{25}\\&amp;#13;&amp;#10;\frac{3}{5}+\frac{9}{25}+\left(-\frac{8}{15}\right)\\&amp;#13;&amp;#10;\frac{90}{150}+\frac{54}{150}+\left(-\frac{80}{150}\right)=\frac{64}{150}=\frac{32}{75}\end{array}&quot;&gt;&lt;mtable columnalign=&quot;left&quot; columnspacing=&quot;1em&quot; rowspacing=&quot;4pt&quot;&gt;&lt;mtr&gt;&lt;mtd&gt;&lt;mfrac&gt;&lt;mn&gt;3&lt;/mn&gt;&lt;mn&gt;5&lt;/mn&gt;&lt;/mfrac&gt;&lt;mo&gt;−&lt;/mo&gt;&lt;mfrac&gt;&lt;mn&gt;4&lt;/mn&gt;&lt;mn&gt;5&lt;/mn&gt;&lt;/mfrac&gt;&lt;mo&gt;×&lt;/mo&gt;&lt;mfrac&gt;&lt;mn&gt;2&lt;/mn&gt;&lt;mn&gt;3&lt;/mn&gt;&lt;/mfrac&gt;&lt;mo&gt;+&lt;/mo&gt;&lt;msup&gt;&lt;mrow data-mjx-texclass=&quot;INNER&quot;&gt;&lt;mo data-mjx-texclass=&quot;OPEN&quot;&gt;(&lt;/mo&gt;&lt;mfrac&gt;&lt;mn&gt;3&lt;/mn&gt;&lt;mn&gt;5&lt;/mn&gt;&lt;/mfrac&gt;&lt;mo data-mjx-texclass=&quot;CLOSE&quot;&gt;)&lt;/mo&gt;&lt;/mrow&gt;&lt;mn&gt;2&lt;/mn&gt;&lt;/msup&gt;&lt;/mtd&gt;&lt;/mtr&gt;&lt;mtr&gt;&lt;mtd&gt;&lt;mfrac&gt;&lt;mn&gt;3&lt;/mn&gt;&lt;mn&gt;5&lt;/mn&gt;&lt;/mfrac&gt;&lt;mo&gt;−&lt;/mo&gt;&lt;mfrac&gt;&lt;mn&gt;4&lt;/mn&gt;&lt;mn&gt;5&lt;/mn&gt;&lt;/mfrac&gt;&lt;mo&gt;×&lt;/mo&gt;&lt;mfrac&gt;&lt;mn&gt;2&lt;/mn&gt;&lt;mn&gt;3&lt;/mn&gt;&lt;/mfrac&gt;&lt;mo&gt;+&lt;/mo&gt;&lt;mfrac&gt;&lt;mn&gt;9&lt;/mn&gt;&lt;mn&gt;25&lt;/mn&gt;&lt;/mfrac&gt;&lt;/mtd&gt;&lt;/mtr&gt;&lt;mtr&gt;&lt;mtd&gt;&lt;mfrac&gt;&lt;mn&gt;3&lt;/mn&gt;&lt;mn&gt;5&lt;/mn&gt;&lt;/mfrac&gt;&lt;mo&gt;−&lt;/mo&gt;&lt;mfrac&gt;&lt;mn&gt;8&lt;/mn&gt;&lt;mn&gt;15&lt;/mn&gt;&lt;/mfrac&gt;&lt;mo&gt;+&lt;/mo&gt;&lt;mfrac&gt;&lt;mn&gt;9&lt;/mn&gt;&lt;mn&gt;25&lt;/mn&gt;&lt;/mfrac&gt;&lt;/mtd&gt;&lt;/mtr&gt;&lt;mtr&gt;&lt;mtd&gt;&lt;mfrac&gt;&lt;mn&gt;3&lt;/mn&gt;&lt;mn&gt;5&lt;/mn&gt;&lt;/mfrac&gt;&lt;mo&gt;+&lt;/mo&gt;&lt;mfrac&gt;&lt;mn&gt;9&lt;/mn&gt;&lt;mn&gt;25&lt;/mn&gt;&lt;/mfrac&gt;&lt;mo&gt;+&lt;/mo&gt;&lt;mrow data-mjx-texclass=&quot;INNER&quot;&gt;&lt;mo data-mjx-texclass=&quot;OPEN&quot;&gt;(&lt;/mo&gt;&lt;mo&gt;−&lt;/mo&gt;&lt;mfrac&gt;&lt;mn&gt;8&lt;/mn&gt;&lt;mn&gt;15&lt;/mn&gt;&lt;/mfrac&gt;&lt;mo data-mjx-texclass=&quot;CLOSE&quot;&gt;)&lt;/mo&gt;&lt;/mrow&gt;&lt;/mtd&gt;&lt;/mtr&gt;&lt;mtr&gt;&lt;mtd&gt;&lt;mfrac&gt;&lt;mn&gt;90&lt;/mn&gt;&lt;mn&gt;150&lt;/mn&gt;&lt;/mfrac&gt;&lt;mo&gt;+&lt;/mo&gt;&lt;mfrac&gt;&lt;mn&gt;54&lt;/mn&gt;&lt;mn&gt;150&lt;/mn&gt;&lt;/mfrac&gt;&lt;mo&gt;+&lt;/mo&gt;&lt;mrow data-mjx-texclass=&quot;INNER&quot;&gt;&lt;mo data-mjx-texclass=&quot;OPEN&quot;&gt;(&lt;/mo&gt;&lt;mo&gt;−&lt;/mo&gt;&lt;mfrac&gt;&lt;mn&gt;80&lt;/mn&gt;&lt;mn&gt;150&lt;/mn&gt;&lt;/mfrac&gt;&lt;mo data-mjx-texclass=&quot;CLOSE&quot;&gt;)&lt;/mo&gt;&lt;/mrow&gt;&lt;mo&gt;=&lt;/mo&gt;&lt;mfrac&gt;&lt;mn&gt;64&lt;/mn&gt;&lt;mn&gt;150&lt;/mn&gt;&lt;/mfrac&gt;&lt;mo&gt;=&lt;/mo&gt;&lt;mfrac&gt;&lt;mn&gt;32&lt;/mn&gt;&lt;mn&gt;75&lt;/mn&gt;&lt;/mfrac&gt;&lt;/mtd&gt;&lt;/mtr&gt;&lt;/mtable&gt;&lt;/math&gt;" id="1190" name="Google Shape;1190;p86" title="5 lines Line 1: three fifths minus four fifths times two thirds plus three fifths squared Line 2: three fifths minus four fifths times two thirds plus 9 over 25 Line 3: three fifths minus 8 over 15 plus 9 over 25 Line 4: three fifths plus 9 over 25 plus open paren negative 8 over 15 close paren Line 5: 90 over 150 plus 54 over 150 plus open paren negative 80 over 150 close paren equals 64 over 150 equals 32 over 75"/>
          <p:cNvPicPr preferRelativeResize="0"/>
          <p:nvPr/>
        </p:nvPicPr>
        <p:blipFill>
          <a:blip r:embed="rId3">
            <a:alphaModFix/>
          </a:blip>
          <a:stretch>
            <a:fillRect/>
          </a:stretch>
        </p:blipFill>
        <p:spPr>
          <a:xfrm>
            <a:off x="2405750" y="1181550"/>
            <a:ext cx="4997501" cy="3355550"/>
          </a:xfrm>
          <a:prstGeom prst="rect">
            <a:avLst/>
          </a:prstGeom>
          <a:noFill/>
          <a:ln>
            <a:noFill/>
          </a:ln>
        </p:spPr>
      </p:pic>
      <p:sp>
        <p:nvSpPr>
          <p:cNvPr id="1191" name="Google Shape;1191;p86"/>
          <p:cNvSpPr/>
          <p:nvPr/>
        </p:nvSpPr>
        <p:spPr>
          <a:xfrm>
            <a:off x="4506175" y="1894525"/>
            <a:ext cx="418800" cy="623100"/>
          </a:xfrm>
          <a:prstGeom prst="rect">
            <a:avLst/>
          </a:prstGeom>
          <a:solidFill>
            <a:schemeClr val="lt1"/>
          </a:solidFill>
          <a:ln cap="flat" cmpd="sng" w="19050">
            <a:solidFill>
              <a:schemeClr val="accent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92" name="Google Shape;1192;p86"/>
          <p:cNvSpPr/>
          <p:nvPr/>
        </p:nvSpPr>
        <p:spPr>
          <a:xfrm>
            <a:off x="3056650" y="2616900"/>
            <a:ext cx="418800" cy="623100"/>
          </a:xfrm>
          <a:prstGeom prst="rect">
            <a:avLst/>
          </a:prstGeom>
          <a:solidFill>
            <a:schemeClr val="lt1"/>
          </a:solidFill>
          <a:ln cap="flat" cmpd="sng" w="19050">
            <a:solidFill>
              <a:schemeClr val="accent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93" name="Google Shape;1193;p86"/>
          <p:cNvSpPr/>
          <p:nvPr/>
        </p:nvSpPr>
        <p:spPr>
          <a:xfrm>
            <a:off x="4362600" y="3240000"/>
            <a:ext cx="418800" cy="623100"/>
          </a:xfrm>
          <a:prstGeom prst="rect">
            <a:avLst/>
          </a:prstGeom>
          <a:solidFill>
            <a:schemeClr val="lt1"/>
          </a:solidFill>
          <a:ln cap="flat" cmpd="sng" w="19050">
            <a:solidFill>
              <a:schemeClr val="accent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94" name="Google Shape;1194;p86"/>
          <p:cNvSpPr/>
          <p:nvPr/>
        </p:nvSpPr>
        <p:spPr>
          <a:xfrm>
            <a:off x="3901200" y="2616900"/>
            <a:ext cx="418800" cy="623100"/>
          </a:xfrm>
          <a:prstGeom prst="rect">
            <a:avLst/>
          </a:prstGeom>
          <a:solidFill>
            <a:schemeClr val="lt1"/>
          </a:solidFill>
          <a:ln cap="flat" cmpd="sng" w="19050">
            <a:solidFill>
              <a:schemeClr val="accent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95" name="Google Shape;1195;p86"/>
          <p:cNvSpPr/>
          <p:nvPr/>
        </p:nvSpPr>
        <p:spPr>
          <a:xfrm>
            <a:off x="4878125" y="3939975"/>
            <a:ext cx="418800" cy="272400"/>
          </a:xfrm>
          <a:prstGeom prst="rect">
            <a:avLst/>
          </a:prstGeom>
          <a:solidFill>
            <a:schemeClr val="lt1"/>
          </a:solidFill>
          <a:ln cap="flat" cmpd="sng" w="19050">
            <a:solidFill>
              <a:schemeClr val="accent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96" name="Google Shape;1196;p86"/>
          <p:cNvSpPr/>
          <p:nvPr/>
        </p:nvSpPr>
        <p:spPr>
          <a:xfrm>
            <a:off x="3417775" y="3939975"/>
            <a:ext cx="418800" cy="272400"/>
          </a:xfrm>
          <a:prstGeom prst="rect">
            <a:avLst/>
          </a:prstGeom>
          <a:solidFill>
            <a:schemeClr val="lt1"/>
          </a:solidFill>
          <a:ln cap="flat" cmpd="sng" w="19050">
            <a:solidFill>
              <a:schemeClr val="accent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97" name="Google Shape;1197;p86"/>
          <p:cNvSpPr/>
          <p:nvPr/>
        </p:nvSpPr>
        <p:spPr>
          <a:xfrm>
            <a:off x="2405750" y="3939975"/>
            <a:ext cx="418800" cy="272400"/>
          </a:xfrm>
          <a:prstGeom prst="rect">
            <a:avLst/>
          </a:prstGeom>
          <a:solidFill>
            <a:schemeClr val="lt1"/>
          </a:solidFill>
          <a:ln cap="flat" cmpd="sng" w="19050">
            <a:solidFill>
              <a:schemeClr val="accent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98" name="Google Shape;1198;p86"/>
          <p:cNvSpPr/>
          <p:nvPr/>
        </p:nvSpPr>
        <p:spPr>
          <a:xfrm>
            <a:off x="3056650" y="3278438"/>
            <a:ext cx="418800" cy="623100"/>
          </a:xfrm>
          <a:prstGeom prst="rect">
            <a:avLst/>
          </a:prstGeom>
          <a:solidFill>
            <a:schemeClr val="lt1"/>
          </a:solidFill>
          <a:ln cap="flat" cmpd="sng" w="19050">
            <a:solidFill>
              <a:schemeClr val="accent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99" name="Google Shape;1199;p86"/>
          <p:cNvSpPr/>
          <p:nvPr/>
        </p:nvSpPr>
        <p:spPr>
          <a:xfrm>
            <a:off x="6047400" y="3939975"/>
            <a:ext cx="488100" cy="623100"/>
          </a:xfrm>
          <a:prstGeom prst="rect">
            <a:avLst/>
          </a:prstGeom>
          <a:solidFill>
            <a:schemeClr val="lt1"/>
          </a:solidFill>
          <a:ln cap="flat" cmpd="sng" w="19050">
            <a:solidFill>
              <a:schemeClr val="accent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00" name="Google Shape;1200;p86"/>
          <p:cNvSpPr/>
          <p:nvPr/>
        </p:nvSpPr>
        <p:spPr>
          <a:xfrm>
            <a:off x="7040400" y="3939963"/>
            <a:ext cx="418800" cy="623100"/>
          </a:xfrm>
          <a:prstGeom prst="rect">
            <a:avLst/>
          </a:prstGeom>
          <a:solidFill>
            <a:schemeClr val="lt1"/>
          </a:solidFill>
          <a:ln cap="flat" cmpd="sng" w="19050">
            <a:solidFill>
              <a:schemeClr val="accent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4" name="Shape 1204"/>
        <p:cNvGrpSpPr/>
        <p:nvPr/>
      </p:nvGrpSpPr>
      <p:grpSpPr>
        <a:xfrm>
          <a:off x="0" y="0"/>
          <a:ext cx="0" cy="0"/>
          <a:chOff x="0" y="0"/>
          <a:chExt cx="0" cy="0"/>
        </a:xfrm>
      </p:grpSpPr>
      <p:sp>
        <p:nvSpPr>
          <p:cNvPr id="1205" name="Google Shape;1205;p87"/>
          <p:cNvSpPr txBox="1"/>
          <p:nvPr>
            <p:ph idx="1" type="body"/>
          </p:nvPr>
        </p:nvSpPr>
        <p:spPr>
          <a:xfrm>
            <a:off x="324000" y="683100"/>
            <a:ext cx="8237700" cy="8607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2) </a:t>
            </a:r>
            <a:r>
              <a:rPr lang="en-GB"/>
              <a:t>Work out the answer to the following, giving your answer in its simplest form.</a:t>
            </a:r>
            <a:endParaRPr/>
          </a:p>
        </p:txBody>
      </p:sp>
      <p:sp>
        <p:nvSpPr>
          <p:cNvPr id="1206" name="Google Shape;1206;p8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Powers and roots of fractions</a:t>
            </a:r>
            <a:endParaRPr/>
          </a:p>
          <a:p>
            <a:pPr indent="0" lvl="0" marL="0" rtl="0" algn="l">
              <a:spcBef>
                <a:spcPts val="1000"/>
              </a:spcBef>
              <a:spcAft>
                <a:spcPts val="1000"/>
              </a:spcAft>
              <a:buNone/>
            </a:pPr>
            <a:r>
              <a:t/>
            </a:r>
            <a:endParaRPr/>
          </a:p>
        </p:txBody>
      </p:sp>
      <p:pic>
        <p:nvPicPr>
          <p:cNvPr descr="&lt;math xmlns=&quot;http://www.w3.org/1998/Math/MathML&quot; display=&quot;block&quot; data-is-equatio=&quot;1&quot; data-latex=&quot;\begin{array}{l}\frac{9}{10}\times\frac{4}{5}-\ \frac{2}{3}\times\sqrt[3]{\frac{8}{27}}\\&amp;#13;&amp;#10;\frac{9}{10}\times\frac{4}{5}-\frac{2}{3}\times\frac{2}{3}\\&amp;#13;&amp;#10;\ \ \ \ \ \ \ \ \frac{36}{50}-\frac{4}{9}=\frac{324}{450}-\frac{200}{450}=\frac{124}{240}=\frac{62}{225}\end{array}&quot;&gt;&lt;mtable columnalign=&quot;left&quot; columnspacing=&quot;1em&quot; rowspacing=&quot;4pt&quot;&gt;&lt;mtr&gt;&lt;mtd&gt;&lt;mfrac&gt;&lt;mn&gt;9&lt;/mn&gt;&lt;mn&gt;10&lt;/mn&gt;&lt;/mfrac&gt;&lt;mo&gt;×&lt;/mo&gt;&lt;mfrac&gt;&lt;mn&gt;4&lt;/mn&gt;&lt;mn&gt;5&lt;/mn&gt;&lt;/mfrac&gt;&lt;mo&gt;−&lt;/mo&gt;&lt;mtext&gt;&lt;/mtext&gt;&lt;mfrac&gt;&lt;mn&gt;2&lt;/mn&gt;&lt;mn&gt;3&lt;/mn&gt;&lt;/mfrac&gt;&lt;mo&gt;×&lt;/mo&gt;&lt;mroot&gt;&lt;mfrac&gt;&lt;mn&gt;8&lt;/mn&gt;&lt;mn&gt;27&lt;/mn&gt;&lt;/mfrac&gt;&lt;mn&gt;3&lt;/mn&gt;&lt;/mroot&gt;&lt;/mtd&gt;&lt;/mtr&gt;&lt;mtr&gt;&lt;mtd&gt;&lt;mfrac&gt;&lt;mn&gt;9&lt;/mn&gt;&lt;mn&gt;10&lt;/mn&gt;&lt;/mfrac&gt;&lt;mo&gt;×&lt;/mo&gt;&lt;mfrac&gt;&lt;mn&gt;4&lt;/mn&gt;&lt;mn&gt;5&lt;/mn&gt;&lt;/mfrac&gt;&lt;mo&gt;−&lt;/mo&gt;&lt;mfrac&gt;&lt;mn&gt;2&lt;/mn&gt;&lt;mn&gt;3&lt;/mn&gt;&lt;/mfrac&gt;&lt;mo&gt;×&lt;/mo&gt;&lt;mfrac&gt;&lt;mn&gt;2&lt;/mn&gt;&lt;mn&gt;3&lt;/mn&gt;&lt;/mfrac&gt;&lt;/mtd&gt;&lt;/mtr&gt;&lt;mtr&gt;&lt;mtd&gt;&lt;mtext&gt;&lt;/mtext&gt;&lt;mtext&gt;&lt;/mtext&gt;&lt;mtext&gt;&lt;/mtext&gt;&lt;mtext&gt;&lt;/mtext&gt;&lt;mtext&gt;&lt;/mtext&gt;&lt;mtext&gt;&lt;/mtext&gt;&lt;mtext&gt;&lt;/mtext&gt;&lt;mtext&gt;&lt;/mtext&gt;&lt;mfrac&gt;&lt;mn&gt;36&lt;/mn&gt;&lt;mn&gt;50&lt;/mn&gt;&lt;/mfrac&gt;&lt;mo&gt;−&lt;/mo&gt;&lt;mfrac&gt;&lt;mn&gt;4&lt;/mn&gt;&lt;mn&gt;9&lt;/mn&gt;&lt;/mfrac&gt;&lt;mo&gt;=&lt;/mo&gt;&lt;mfrac&gt;&lt;mn&gt;324&lt;/mn&gt;&lt;mn&gt;450&lt;/mn&gt;&lt;/mfrac&gt;&lt;mo&gt;−&lt;/mo&gt;&lt;mfrac&gt;&lt;mn&gt;200&lt;/mn&gt;&lt;mn&gt;450&lt;/mn&gt;&lt;/mfrac&gt;&lt;mo&gt;=&lt;/mo&gt;&lt;mfrac&gt;&lt;mn&gt;124&lt;/mn&gt;&lt;mn&gt;240&lt;/mn&gt;&lt;/mfrac&gt;&lt;mo&gt;=&lt;/mo&gt;&lt;mfrac&gt;&lt;mn&gt;62&lt;/mn&gt;&lt;mn&gt;225&lt;/mn&gt;&lt;/mfrac&gt;&lt;/mtd&gt;&lt;/mtr&gt;&lt;/mtable&gt;&lt;/math&gt;" id="1207" name="Google Shape;1207;p87" title="3 lines Line 1: nine tenths times four fifths minus two thirds times the cube root of 8 over 27 Line 2: nine tenths times four fifths minus two thirds times two thirds Line 3: 36 over 50 minus four ninths equals 324 over 450 minus 200 over 450 equals 124 over 240 equals 62 over 225"/>
          <p:cNvPicPr preferRelativeResize="0"/>
          <p:nvPr/>
        </p:nvPicPr>
        <p:blipFill rotWithShape="1">
          <a:blip r:embed="rId3">
            <a:alphaModFix/>
          </a:blip>
          <a:srcRect b="61993" l="0" r="46475" t="0"/>
          <a:stretch/>
        </p:blipFill>
        <p:spPr>
          <a:xfrm>
            <a:off x="3079025" y="1477187"/>
            <a:ext cx="2684892" cy="66372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1" name="Shape 1211"/>
        <p:cNvGrpSpPr/>
        <p:nvPr/>
      </p:nvGrpSpPr>
      <p:grpSpPr>
        <a:xfrm>
          <a:off x="0" y="0"/>
          <a:ext cx="0" cy="0"/>
          <a:chOff x="0" y="0"/>
          <a:chExt cx="0" cy="0"/>
        </a:xfrm>
      </p:grpSpPr>
      <p:sp>
        <p:nvSpPr>
          <p:cNvPr id="1212" name="Google Shape;1212;p88"/>
          <p:cNvSpPr/>
          <p:nvPr/>
        </p:nvSpPr>
        <p:spPr>
          <a:xfrm>
            <a:off x="638700" y="1582225"/>
            <a:ext cx="3831600" cy="3238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13" name="Google Shape;1213;p88"/>
          <p:cNvSpPr txBox="1"/>
          <p:nvPr>
            <p:ph idx="1" type="body"/>
          </p:nvPr>
        </p:nvSpPr>
        <p:spPr>
          <a:xfrm>
            <a:off x="324000" y="683100"/>
            <a:ext cx="8237700" cy="110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3) Lucas has made an error.</a:t>
            </a:r>
            <a:endParaRPr/>
          </a:p>
          <a:p>
            <a:pPr indent="0" lvl="0" marL="0" rtl="0" algn="l">
              <a:spcBef>
                <a:spcPts val="1000"/>
              </a:spcBef>
              <a:spcAft>
                <a:spcPts val="1000"/>
              </a:spcAft>
              <a:buNone/>
            </a:pPr>
            <a:r>
              <a:rPr lang="en-GB"/>
              <a:t>Find the error and correctly </a:t>
            </a:r>
            <a:r>
              <a:rPr lang="en-GB"/>
              <a:t>complete</a:t>
            </a:r>
            <a:r>
              <a:rPr lang="en-GB"/>
              <a:t> the calculation.</a:t>
            </a:r>
            <a:endParaRPr/>
          </a:p>
        </p:txBody>
      </p:sp>
      <p:sp>
        <p:nvSpPr>
          <p:cNvPr id="1214" name="Google Shape;1214;p8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Powers and roots of fractions</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1000"/>
              </a:spcAft>
              <a:buNone/>
            </a:pPr>
            <a:r>
              <a:t/>
            </a:r>
            <a:endParaRPr/>
          </a:p>
        </p:txBody>
      </p:sp>
      <p:pic>
        <p:nvPicPr>
          <p:cNvPr descr="&lt;math xmlns=&quot;http://www.w3.org/1998/Math/MathML&quot; display=&quot;block&quot; data-is-equatio=&quot;1&quot; data-latex=&quot;\begin{array}{l}\frac{2}{3}+\sqrt{6\frac{1}{4}}\times\frac{3}{5}\\&amp;#13;&amp;#10;\frac{2}{3}+\sqrt{6}+\ \frac{1}{2}\times\frac{3}{5}\\&amp;#13;&amp;#10;\frac{2}{3}+\sqrt{6}+\frac{3}{10}\\&amp;#13;&amp;#10;\sqrt{6}+\frac{2}{3}+\frac{3}{10}=\\&amp;#13;&amp;#10;\sqrt{6}+\frac{20}{30}+\frac{9}{30}=\sqrt{6}\ \frac{29}{30}\end{array}&quot;&gt;&lt;mtable columnalign=&quot;left&quot; columnspacing=&quot;1em&quot; rowspacing=&quot;4pt&quot;&gt;&lt;mtr&gt;&lt;mtd&gt;&lt;mfrac&gt;&lt;mn&gt;2&lt;/mn&gt;&lt;mn&gt;3&lt;/mn&gt;&lt;/mfrac&gt;&lt;mo&gt;+&lt;/mo&gt;&lt;msqrt&gt;&lt;mn&gt;6&lt;/mn&gt;&lt;mfrac&gt;&lt;mn&gt;1&lt;/mn&gt;&lt;mn&gt;4&lt;/mn&gt;&lt;/mfrac&gt;&lt;/msqrt&gt;&lt;mo&gt;×&lt;/mo&gt;&lt;mfrac&gt;&lt;mn&gt;3&lt;/mn&gt;&lt;mn&gt;5&lt;/mn&gt;&lt;/mfrac&gt;&lt;/mtd&gt;&lt;/mtr&gt;&lt;mtr&gt;&lt;mtd&gt;&lt;mfrac&gt;&lt;mn&gt;2&lt;/mn&gt;&lt;mn&gt;3&lt;/mn&gt;&lt;/mfrac&gt;&lt;mo&gt;+&lt;/mo&gt;&lt;msqrt&gt;&lt;mn&gt;6&lt;/mn&gt;&lt;/msqrt&gt;&lt;mo&gt;+&lt;/mo&gt;&lt;mtext&gt;&lt;/mtext&gt;&lt;mfrac&gt;&lt;mn&gt;1&lt;/mn&gt;&lt;mn&gt;2&lt;/mn&gt;&lt;/mfrac&gt;&lt;mo&gt;×&lt;/mo&gt;&lt;mfrac&gt;&lt;mn&gt;3&lt;/mn&gt;&lt;mn&gt;5&lt;/mn&gt;&lt;/mfrac&gt;&lt;/mtd&gt;&lt;/mtr&gt;&lt;mtr&gt;&lt;mtd&gt;&lt;mfrac&gt;&lt;mn&gt;2&lt;/mn&gt;&lt;mn&gt;3&lt;/mn&gt;&lt;/mfrac&gt;&lt;mo&gt;+&lt;/mo&gt;&lt;msqrt&gt;&lt;mn&gt;6&lt;/mn&gt;&lt;/msqrt&gt;&lt;mo&gt;+&lt;/mo&gt;&lt;mfrac&gt;&lt;mn&gt;3&lt;/mn&gt;&lt;mn&gt;10&lt;/mn&gt;&lt;/mfrac&gt;&lt;/mtd&gt;&lt;/mtr&gt;&lt;mtr&gt;&lt;mtd&gt;&lt;msqrt&gt;&lt;mn&gt;6&lt;/mn&gt;&lt;/msqrt&gt;&lt;mo&gt;+&lt;/mo&gt;&lt;mfrac&gt;&lt;mn&gt;2&lt;/mn&gt;&lt;mn&gt;3&lt;/mn&gt;&lt;/mfrac&gt;&lt;mo&gt;+&lt;/mo&gt;&lt;mfrac&gt;&lt;mn&gt;3&lt;/mn&gt;&lt;mn&gt;10&lt;/mn&gt;&lt;/mfrac&gt;&lt;mo&gt;=&lt;/mo&gt;&lt;/mtd&gt;&lt;/mtr&gt;&lt;mtr&gt;&lt;mtd&gt;&lt;msqrt&gt;&lt;mn&gt;6&lt;/mn&gt;&lt;/msqrt&gt;&lt;mo&gt;+&lt;/mo&gt;&lt;mfrac&gt;&lt;mn&gt;20&lt;/mn&gt;&lt;mn&gt;30&lt;/mn&gt;&lt;/mfrac&gt;&lt;mo&gt;+&lt;/mo&gt;&lt;mfrac&gt;&lt;mn&gt;9&lt;/mn&gt;&lt;mn&gt;30&lt;/mn&gt;&lt;/mfrac&gt;&lt;mo&gt;=&lt;/mo&gt;&lt;msqrt&gt;&lt;mn&gt;6&lt;/mn&gt;&lt;/msqrt&gt;&lt;mtext&gt;&lt;/mtext&gt;&lt;mfrac&gt;&lt;mn&gt;29&lt;/mn&gt;&lt;mn&gt;30&lt;/mn&gt;&lt;/mfrac&gt;&lt;/mtd&gt;&lt;/mtr&gt;&lt;/mtable&gt;&lt;/math&gt;" id="1215" name="Google Shape;1215;p88" title="5 lines Line 1: two thirds plus the square root of 6 and one fourth times three fifths Line 2: two thirds plus the square root of 6 plus one half times three fifths Line 3: two thirds plus the square root of 6 plus three tenths Line 4: the square root of 6 plus two thirds plus three tenths equals Line 5: the square root of 6 plus 20 over 30 plus 9 over 30 equals the square root of 6 29 over 30"/>
          <p:cNvPicPr preferRelativeResize="0"/>
          <p:nvPr/>
        </p:nvPicPr>
        <p:blipFill>
          <a:blip r:embed="rId3">
            <a:alphaModFix/>
          </a:blip>
          <a:stretch>
            <a:fillRect/>
          </a:stretch>
        </p:blipFill>
        <p:spPr>
          <a:xfrm>
            <a:off x="964175" y="1755150"/>
            <a:ext cx="3070940" cy="29697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9" name="Shape 1219"/>
        <p:cNvGrpSpPr/>
        <p:nvPr/>
      </p:nvGrpSpPr>
      <p:grpSpPr>
        <a:xfrm>
          <a:off x="0" y="0"/>
          <a:ext cx="0" cy="0"/>
          <a:chOff x="0" y="0"/>
          <a:chExt cx="0" cy="0"/>
        </a:xfrm>
      </p:grpSpPr>
      <p:sp>
        <p:nvSpPr>
          <p:cNvPr id="1220" name="Google Shape;1220;p8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368300" lvl="0" marL="457200" rtl="0" algn="l">
              <a:lnSpc>
                <a:spcPct val="130000"/>
              </a:lnSpc>
              <a:spcBef>
                <a:spcPts val="0"/>
              </a:spcBef>
              <a:spcAft>
                <a:spcPts val="0"/>
              </a:spcAft>
              <a:buSzPts val="2200"/>
              <a:buAutoNum type="arabicParenR"/>
            </a:pPr>
            <a:r>
              <a:rPr lang="en-GB"/>
              <a:t>Fill in the blanks to complete the calculation</a:t>
            </a:r>
            <a:endParaRPr/>
          </a:p>
        </p:txBody>
      </p:sp>
      <p:sp>
        <p:nvSpPr>
          <p:cNvPr id="1221" name="Google Shape;1221;p89"/>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Powers and roots of fractions</a:t>
            </a:r>
            <a:endParaRPr/>
          </a:p>
          <a:p>
            <a:pPr indent="0" lvl="0" marL="0" rtl="0" algn="l">
              <a:spcBef>
                <a:spcPts val="1000"/>
              </a:spcBef>
              <a:spcAft>
                <a:spcPts val="1000"/>
              </a:spcAft>
              <a:buNone/>
            </a:pPr>
            <a:r>
              <a:t/>
            </a:r>
            <a:endParaRPr/>
          </a:p>
        </p:txBody>
      </p:sp>
      <p:pic>
        <p:nvPicPr>
          <p:cNvPr descr="&lt;math xmlns=&quot;http://www.w3.org/1998/Math/MathML&quot; display=&quot;block&quot; data-is-equatio=&quot;1&quot; data-latex=&quot;\begin{array}{l}\frac{3}{5}-\frac{4}{5}\times\frac{2}{3}+\left(\frac{3}{5}\right)^2\\&amp;#13;&amp;#10;\frac{3}{5}-\frac{4}{5}\times\frac{2}{3}+\frac{9}{25}\\&amp;#13;&amp;#10;\frac{3}{5}-\frac{8}{15}+\frac{9}{25}\\&amp;#13;&amp;#10;\frac{3}{5}+\frac{9}{25}+\left(-\frac{8}{15}\right)\\&amp;#13;&amp;#10;\frac{90}{150}+\frac{54}{150}+\left(-\frac{80}{150}\right)=\frac{64}{150}=\frac{32}{75}\end{array}&quot;&gt;&lt;mtable columnalign=&quot;left&quot; columnspacing=&quot;1em&quot; rowspacing=&quot;4pt&quot;&gt;&lt;mtr&gt;&lt;mtd&gt;&lt;mfrac&gt;&lt;mn&gt;3&lt;/mn&gt;&lt;mn&gt;5&lt;/mn&gt;&lt;/mfrac&gt;&lt;mo&gt;−&lt;/mo&gt;&lt;mfrac&gt;&lt;mn&gt;4&lt;/mn&gt;&lt;mn&gt;5&lt;/mn&gt;&lt;/mfrac&gt;&lt;mo&gt;×&lt;/mo&gt;&lt;mfrac&gt;&lt;mn&gt;2&lt;/mn&gt;&lt;mn&gt;3&lt;/mn&gt;&lt;/mfrac&gt;&lt;mo&gt;+&lt;/mo&gt;&lt;msup&gt;&lt;mrow data-mjx-texclass=&quot;INNER&quot;&gt;&lt;mo data-mjx-texclass=&quot;OPEN&quot;&gt;(&lt;/mo&gt;&lt;mfrac&gt;&lt;mn&gt;3&lt;/mn&gt;&lt;mn&gt;5&lt;/mn&gt;&lt;/mfrac&gt;&lt;mo data-mjx-texclass=&quot;CLOSE&quot;&gt;)&lt;/mo&gt;&lt;/mrow&gt;&lt;mn&gt;2&lt;/mn&gt;&lt;/msup&gt;&lt;/mtd&gt;&lt;/mtr&gt;&lt;mtr&gt;&lt;mtd&gt;&lt;mfrac&gt;&lt;mn&gt;3&lt;/mn&gt;&lt;mn&gt;5&lt;/mn&gt;&lt;/mfrac&gt;&lt;mo&gt;−&lt;/mo&gt;&lt;mfrac&gt;&lt;mn&gt;4&lt;/mn&gt;&lt;mn&gt;5&lt;/mn&gt;&lt;/mfrac&gt;&lt;mo&gt;×&lt;/mo&gt;&lt;mfrac&gt;&lt;mn&gt;2&lt;/mn&gt;&lt;mn&gt;3&lt;/mn&gt;&lt;/mfrac&gt;&lt;mo&gt;+&lt;/mo&gt;&lt;mfrac&gt;&lt;mn&gt;9&lt;/mn&gt;&lt;mn&gt;25&lt;/mn&gt;&lt;/mfrac&gt;&lt;/mtd&gt;&lt;/mtr&gt;&lt;mtr&gt;&lt;mtd&gt;&lt;mfrac&gt;&lt;mn&gt;3&lt;/mn&gt;&lt;mn&gt;5&lt;/mn&gt;&lt;/mfrac&gt;&lt;mo&gt;−&lt;/mo&gt;&lt;mfrac&gt;&lt;mn&gt;8&lt;/mn&gt;&lt;mn&gt;15&lt;/mn&gt;&lt;/mfrac&gt;&lt;mo&gt;+&lt;/mo&gt;&lt;mfrac&gt;&lt;mn&gt;9&lt;/mn&gt;&lt;mn&gt;25&lt;/mn&gt;&lt;/mfrac&gt;&lt;/mtd&gt;&lt;/mtr&gt;&lt;mtr&gt;&lt;mtd&gt;&lt;mfrac&gt;&lt;mn&gt;3&lt;/mn&gt;&lt;mn&gt;5&lt;/mn&gt;&lt;/mfrac&gt;&lt;mo&gt;+&lt;/mo&gt;&lt;mfrac&gt;&lt;mn&gt;9&lt;/mn&gt;&lt;mn&gt;25&lt;/mn&gt;&lt;/mfrac&gt;&lt;mo&gt;+&lt;/mo&gt;&lt;mrow data-mjx-texclass=&quot;INNER&quot;&gt;&lt;mo data-mjx-texclass=&quot;OPEN&quot;&gt;(&lt;/mo&gt;&lt;mo&gt;−&lt;/mo&gt;&lt;mfrac&gt;&lt;mn&gt;8&lt;/mn&gt;&lt;mn&gt;15&lt;/mn&gt;&lt;/mfrac&gt;&lt;mo data-mjx-texclass=&quot;CLOSE&quot;&gt;)&lt;/mo&gt;&lt;/mrow&gt;&lt;/mtd&gt;&lt;/mtr&gt;&lt;mtr&gt;&lt;mtd&gt;&lt;mfrac&gt;&lt;mn&gt;90&lt;/mn&gt;&lt;mn&gt;150&lt;/mn&gt;&lt;/mfrac&gt;&lt;mo&gt;+&lt;/mo&gt;&lt;mfrac&gt;&lt;mn&gt;54&lt;/mn&gt;&lt;mn&gt;150&lt;/mn&gt;&lt;/mfrac&gt;&lt;mo&gt;+&lt;/mo&gt;&lt;mrow data-mjx-texclass=&quot;INNER&quot;&gt;&lt;mo data-mjx-texclass=&quot;OPEN&quot;&gt;(&lt;/mo&gt;&lt;mo&gt;−&lt;/mo&gt;&lt;mfrac&gt;&lt;mn&gt;80&lt;/mn&gt;&lt;mn&gt;150&lt;/mn&gt;&lt;/mfrac&gt;&lt;mo data-mjx-texclass=&quot;CLOSE&quot;&gt;)&lt;/mo&gt;&lt;/mrow&gt;&lt;mo&gt;=&lt;/mo&gt;&lt;mfrac&gt;&lt;mn&gt;64&lt;/mn&gt;&lt;mn&gt;150&lt;/mn&gt;&lt;/mfrac&gt;&lt;mo&gt;=&lt;/mo&gt;&lt;mfrac&gt;&lt;mn&gt;32&lt;/mn&gt;&lt;mn&gt;75&lt;/mn&gt;&lt;/mfrac&gt;&lt;/mtd&gt;&lt;/mtr&gt;&lt;/mtable&gt;&lt;/math&gt;" id="1222" name="Google Shape;1222;p89" title="5 lines Line 1: three fifths minus four fifths times two thirds plus three fifths squared Line 2: three fifths minus four fifths times two thirds plus 9 over 25 Line 3: three fifths minus 8 over 15 plus 9 over 25 Line 4: three fifths plus 9 over 25 plus open paren negative 8 over 15 close paren Line 5: 90 over 150 plus 54 over 150 plus open paren negative 80 over 150 close paren equals 64 over 150 equals 32 over 75"/>
          <p:cNvPicPr preferRelativeResize="0"/>
          <p:nvPr/>
        </p:nvPicPr>
        <p:blipFill>
          <a:blip r:embed="rId3">
            <a:alphaModFix/>
          </a:blip>
          <a:stretch>
            <a:fillRect/>
          </a:stretch>
        </p:blipFill>
        <p:spPr>
          <a:xfrm>
            <a:off x="2405750" y="1181550"/>
            <a:ext cx="4997501" cy="3355550"/>
          </a:xfrm>
          <a:prstGeom prst="rect">
            <a:avLst/>
          </a:prstGeom>
          <a:noFill/>
          <a:ln>
            <a:noFill/>
          </a:ln>
        </p:spPr>
      </p:pic>
      <p:sp>
        <p:nvSpPr>
          <p:cNvPr id="1223" name="Google Shape;1223;p89"/>
          <p:cNvSpPr/>
          <p:nvPr/>
        </p:nvSpPr>
        <p:spPr>
          <a:xfrm>
            <a:off x="4506175" y="1894525"/>
            <a:ext cx="418800" cy="623100"/>
          </a:xfrm>
          <a:prstGeom prst="rect">
            <a:avLst/>
          </a:prstGeom>
          <a:solidFill>
            <a:srgbClr val="E6F2F2"/>
          </a:solidFill>
          <a:ln cap="flat" cmpd="sng" w="19050">
            <a:solidFill>
              <a:schemeClr val="accent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24" name="Google Shape;1224;p89"/>
          <p:cNvSpPr/>
          <p:nvPr/>
        </p:nvSpPr>
        <p:spPr>
          <a:xfrm>
            <a:off x="3056650" y="2616900"/>
            <a:ext cx="418800" cy="623100"/>
          </a:xfrm>
          <a:prstGeom prst="rect">
            <a:avLst/>
          </a:prstGeom>
          <a:solidFill>
            <a:srgbClr val="E6F2F2"/>
          </a:solidFill>
          <a:ln cap="flat" cmpd="sng" w="19050">
            <a:solidFill>
              <a:schemeClr val="accent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25" name="Google Shape;1225;p89"/>
          <p:cNvSpPr/>
          <p:nvPr/>
        </p:nvSpPr>
        <p:spPr>
          <a:xfrm>
            <a:off x="4362600" y="3240000"/>
            <a:ext cx="418800" cy="623100"/>
          </a:xfrm>
          <a:prstGeom prst="rect">
            <a:avLst/>
          </a:prstGeom>
          <a:solidFill>
            <a:srgbClr val="E6F2F2"/>
          </a:solidFill>
          <a:ln cap="flat" cmpd="sng" w="19050">
            <a:solidFill>
              <a:schemeClr val="accent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26" name="Google Shape;1226;p89"/>
          <p:cNvSpPr/>
          <p:nvPr/>
        </p:nvSpPr>
        <p:spPr>
          <a:xfrm>
            <a:off x="3901200" y="2616900"/>
            <a:ext cx="418800" cy="623100"/>
          </a:xfrm>
          <a:prstGeom prst="rect">
            <a:avLst/>
          </a:prstGeom>
          <a:solidFill>
            <a:srgbClr val="E6F2F2"/>
          </a:solidFill>
          <a:ln cap="flat" cmpd="sng" w="19050">
            <a:solidFill>
              <a:schemeClr val="accent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27" name="Google Shape;1227;p89"/>
          <p:cNvSpPr/>
          <p:nvPr/>
        </p:nvSpPr>
        <p:spPr>
          <a:xfrm>
            <a:off x="4878125" y="3939975"/>
            <a:ext cx="418800" cy="272400"/>
          </a:xfrm>
          <a:prstGeom prst="rect">
            <a:avLst/>
          </a:prstGeom>
          <a:solidFill>
            <a:srgbClr val="E6F2F2"/>
          </a:solidFill>
          <a:ln cap="flat" cmpd="sng" w="19050">
            <a:solidFill>
              <a:schemeClr val="accent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28" name="Google Shape;1228;p89"/>
          <p:cNvSpPr/>
          <p:nvPr/>
        </p:nvSpPr>
        <p:spPr>
          <a:xfrm>
            <a:off x="3417775" y="3939975"/>
            <a:ext cx="418800" cy="272400"/>
          </a:xfrm>
          <a:prstGeom prst="rect">
            <a:avLst/>
          </a:prstGeom>
          <a:solidFill>
            <a:srgbClr val="E6F2F2"/>
          </a:solidFill>
          <a:ln cap="flat" cmpd="sng" w="19050">
            <a:solidFill>
              <a:schemeClr val="accent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29" name="Google Shape;1229;p89"/>
          <p:cNvSpPr/>
          <p:nvPr/>
        </p:nvSpPr>
        <p:spPr>
          <a:xfrm>
            <a:off x="2405750" y="3939975"/>
            <a:ext cx="418800" cy="272400"/>
          </a:xfrm>
          <a:prstGeom prst="rect">
            <a:avLst/>
          </a:prstGeom>
          <a:solidFill>
            <a:srgbClr val="E6F2F2"/>
          </a:solidFill>
          <a:ln cap="flat" cmpd="sng" w="19050">
            <a:solidFill>
              <a:schemeClr val="accent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0" name="Google Shape;1230;p89"/>
          <p:cNvSpPr/>
          <p:nvPr/>
        </p:nvSpPr>
        <p:spPr>
          <a:xfrm>
            <a:off x="3056650" y="3278438"/>
            <a:ext cx="418800" cy="623100"/>
          </a:xfrm>
          <a:prstGeom prst="rect">
            <a:avLst/>
          </a:prstGeom>
          <a:solidFill>
            <a:srgbClr val="E6F2F2"/>
          </a:solidFill>
          <a:ln cap="flat" cmpd="sng" w="19050">
            <a:solidFill>
              <a:schemeClr val="accent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1" name="Google Shape;1231;p89"/>
          <p:cNvSpPr/>
          <p:nvPr/>
        </p:nvSpPr>
        <p:spPr>
          <a:xfrm>
            <a:off x="6047400" y="3939975"/>
            <a:ext cx="468600" cy="623100"/>
          </a:xfrm>
          <a:prstGeom prst="rect">
            <a:avLst/>
          </a:prstGeom>
          <a:solidFill>
            <a:srgbClr val="E6F2F2"/>
          </a:solidFill>
          <a:ln cap="flat" cmpd="sng" w="19050">
            <a:solidFill>
              <a:schemeClr val="accent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2" name="Google Shape;1232;p89"/>
          <p:cNvSpPr/>
          <p:nvPr/>
        </p:nvSpPr>
        <p:spPr>
          <a:xfrm>
            <a:off x="7040400" y="3939963"/>
            <a:ext cx="418800" cy="623100"/>
          </a:xfrm>
          <a:prstGeom prst="rect">
            <a:avLst/>
          </a:prstGeom>
          <a:solidFill>
            <a:srgbClr val="E6F2F2"/>
          </a:solidFill>
          <a:ln cap="flat" cmpd="sng" w="19050">
            <a:solidFill>
              <a:schemeClr val="accent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2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2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2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3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2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2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2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2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3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3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6" name="Shape 1236"/>
        <p:cNvGrpSpPr/>
        <p:nvPr/>
      </p:nvGrpSpPr>
      <p:grpSpPr>
        <a:xfrm>
          <a:off x="0" y="0"/>
          <a:ext cx="0" cy="0"/>
          <a:chOff x="0" y="0"/>
          <a:chExt cx="0" cy="0"/>
        </a:xfrm>
      </p:grpSpPr>
      <p:sp>
        <p:nvSpPr>
          <p:cNvPr id="1237" name="Google Shape;1237;p90"/>
          <p:cNvSpPr txBox="1"/>
          <p:nvPr>
            <p:ph idx="1" type="body"/>
          </p:nvPr>
        </p:nvSpPr>
        <p:spPr>
          <a:xfrm>
            <a:off x="302625" y="780190"/>
            <a:ext cx="8237700" cy="663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2) Work out the answer to the following, giving your answer in its simplest form.</a:t>
            </a:r>
            <a:endParaRPr sz="2000"/>
          </a:p>
        </p:txBody>
      </p:sp>
      <p:sp>
        <p:nvSpPr>
          <p:cNvPr id="1238" name="Google Shape;1238;p9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Powers and roots of fractions</a:t>
            </a:r>
            <a:endParaRPr/>
          </a:p>
        </p:txBody>
      </p:sp>
      <p:pic>
        <p:nvPicPr>
          <p:cNvPr descr="&lt;math xmlns=&quot;http://www.w3.org/1998/Math/MathML&quot; display=&quot;block&quot; data-is-equatio=&quot;1&quot; data-latex=&quot;\begin{array}{l}\frac{9}{10}\times\frac{4}{5}-\ \frac{2}{3}\times\sqrt[3]{\frac{8}{27}}\\&amp;#13;&amp;#10;\frac{9}{10}\times\frac{4}{5}-\frac{2}{3}\times\frac{2}{3}\\&amp;#13;&amp;#10;\ \ \ \ \ \ \ \ \frac{36}{50}-\frac{4}{9}=\frac{324}{450}-\frac{200}{450}=\frac{124}{240}=\frac{62}{225}\end{array}&quot;&gt;&lt;mtable columnalign=&quot;left&quot; columnspacing=&quot;1em&quot; rowspacing=&quot;4pt&quot;&gt;&lt;mtr&gt;&lt;mtd&gt;&lt;mfrac&gt;&lt;mn&gt;9&lt;/mn&gt;&lt;mn&gt;10&lt;/mn&gt;&lt;/mfrac&gt;&lt;mo&gt;×&lt;/mo&gt;&lt;mfrac&gt;&lt;mn&gt;4&lt;/mn&gt;&lt;mn&gt;5&lt;/mn&gt;&lt;/mfrac&gt;&lt;mo&gt;−&lt;/mo&gt;&lt;mtext&gt;&lt;/mtext&gt;&lt;mfrac&gt;&lt;mn&gt;2&lt;/mn&gt;&lt;mn&gt;3&lt;/mn&gt;&lt;/mfrac&gt;&lt;mo&gt;×&lt;/mo&gt;&lt;mroot&gt;&lt;mfrac&gt;&lt;mn&gt;8&lt;/mn&gt;&lt;mn&gt;27&lt;/mn&gt;&lt;/mfrac&gt;&lt;mn&gt;3&lt;/mn&gt;&lt;/mroot&gt;&lt;/mtd&gt;&lt;/mtr&gt;&lt;mtr&gt;&lt;mtd&gt;&lt;mfrac&gt;&lt;mn&gt;9&lt;/mn&gt;&lt;mn&gt;10&lt;/mn&gt;&lt;/mfrac&gt;&lt;mo&gt;×&lt;/mo&gt;&lt;mfrac&gt;&lt;mn&gt;4&lt;/mn&gt;&lt;mn&gt;5&lt;/mn&gt;&lt;/mfrac&gt;&lt;mo&gt;−&lt;/mo&gt;&lt;mfrac&gt;&lt;mn&gt;2&lt;/mn&gt;&lt;mn&gt;3&lt;/mn&gt;&lt;/mfrac&gt;&lt;mo&gt;×&lt;/mo&gt;&lt;mfrac&gt;&lt;mn&gt;2&lt;/mn&gt;&lt;mn&gt;3&lt;/mn&gt;&lt;/mfrac&gt;&lt;/mtd&gt;&lt;/mtr&gt;&lt;mtr&gt;&lt;mtd&gt;&lt;mtext&gt;&lt;/mtext&gt;&lt;mtext&gt;&lt;/mtext&gt;&lt;mtext&gt;&lt;/mtext&gt;&lt;mtext&gt;&lt;/mtext&gt;&lt;mtext&gt;&lt;/mtext&gt;&lt;mtext&gt;&lt;/mtext&gt;&lt;mtext&gt;&lt;/mtext&gt;&lt;mtext&gt;&lt;/mtext&gt;&lt;mfrac&gt;&lt;mn&gt;36&lt;/mn&gt;&lt;mn&gt;50&lt;/mn&gt;&lt;/mfrac&gt;&lt;mo&gt;−&lt;/mo&gt;&lt;mfrac&gt;&lt;mn&gt;4&lt;/mn&gt;&lt;mn&gt;9&lt;/mn&gt;&lt;/mfrac&gt;&lt;mo&gt;=&lt;/mo&gt;&lt;mfrac&gt;&lt;mn&gt;324&lt;/mn&gt;&lt;mn&gt;450&lt;/mn&gt;&lt;/mfrac&gt;&lt;mo&gt;−&lt;/mo&gt;&lt;mfrac&gt;&lt;mn&gt;200&lt;/mn&gt;&lt;mn&gt;450&lt;/mn&gt;&lt;/mfrac&gt;&lt;mo&gt;=&lt;/mo&gt;&lt;mfrac&gt;&lt;mn&gt;124&lt;/mn&gt;&lt;mn&gt;240&lt;/mn&gt;&lt;/mfrac&gt;&lt;mo&gt;=&lt;/mo&gt;&lt;mfrac&gt;&lt;mn&gt;62&lt;/mn&gt;&lt;mn&gt;225&lt;/mn&gt;&lt;/mfrac&gt;&lt;/mtd&gt;&lt;/mtr&gt;&lt;/mtable&gt;&lt;/math&gt;" id="1239" name="Google Shape;1239;p90" title="3 lines Line 1: nine tenths times four fifths minus two thirds times the cube root of 8 over 27 Line 2: nine tenths times four fifths minus two thirds times two thirds Line 3: 36 over 50 minus four ninths equals 324 over 450 minus 200 over 450 equals 124 over 240 equals 62 over 225"/>
          <p:cNvPicPr preferRelativeResize="0"/>
          <p:nvPr/>
        </p:nvPicPr>
        <p:blipFill rotWithShape="1">
          <a:blip r:embed="rId3">
            <a:alphaModFix/>
          </a:blip>
          <a:srcRect b="61993" l="0" r="46475" t="0"/>
          <a:stretch/>
        </p:blipFill>
        <p:spPr>
          <a:xfrm>
            <a:off x="3078725" y="1236451"/>
            <a:ext cx="3152349" cy="779300"/>
          </a:xfrm>
          <a:prstGeom prst="rect">
            <a:avLst/>
          </a:prstGeom>
          <a:noFill/>
          <a:ln>
            <a:noFill/>
          </a:ln>
        </p:spPr>
      </p:pic>
      <p:pic>
        <p:nvPicPr>
          <p:cNvPr descr="&lt;math xmlns=&quot;http://www.w3.org/1998/Math/MathML&quot; display=&quot;block&quot; data-is-equatio=&quot;1&quot; data-latex=&quot;\begin{array}{l}\frac{9}{10}\times\frac{4}{5}-\ \frac{2}{3}\times\sqrt[3]{\frac{8}{27}}\\&amp;#13;&amp;#10;\frac{9}{10}\times\frac{4}{5}-\frac{2}{3}\times\frac{2}{3}\\&amp;#13;&amp;#10;\ \ \ \ \ \ \ \ \frac{36}{50}-\frac{4}{9}=\frac{324}{450}-\frac{200}{450}=\frac{124}{240}=\frac{62}{225}\end{array}&quot;&gt;&lt;mtable columnalign=&quot;left&quot; columnspacing=&quot;1em&quot; rowspacing=&quot;4pt&quot;&gt;&lt;mtr&gt;&lt;mtd&gt;&lt;mfrac&gt;&lt;mn&gt;9&lt;/mn&gt;&lt;mn&gt;10&lt;/mn&gt;&lt;/mfrac&gt;&lt;mo&gt;×&lt;/mo&gt;&lt;mfrac&gt;&lt;mn&gt;4&lt;/mn&gt;&lt;mn&gt;5&lt;/mn&gt;&lt;/mfrac&gt;&lt;mo&gt;−&lt;/mo&gt;&lt;mtext&gt;&lt;/mtext&gt;&lt;mfrac&gt;&lt;mn&gt;2&lt;/mn&gt;&lt;mn&gt;3&lt;/mn&gt;&lt;/mfrac&gt;&lt;mo&gt;×&lt;/mo&gt;&lt;mroot&gt;&lt;mfrac&gt;&lt;mn&gt;8&lt;/mn&gt;&lt;mn&gt;27&lt;/mn&gt;&lt;/mfrac&gt;&lt;mn&gt;3&lt;/mn&gt;&lt;/mroot&gt;&lt;/mtd&gt;&lt;/mtr&gt;&lt;mtr&gt;&lt;mtd&gt;&lt;mfrac&gt;&lt;mn&gt;9&lt;/mn&gt;&lt;mn&gt;10&lt;/mn&gt;&lt;/mfrac&gt;&lt;mo&gt;×&lt;/mo&gt;&lt;mfrac&gt;&lt;mn&gt;4&lt;/mn&gt;&lt;mn&gt;5&lt;/mn&gt;&lt;/mfrac&gt;&lt;mo&gt;−&lt;/mo&gt;&lt;mfrac&gt;&lt;mn&gt;2&lt;/mn&gt;&lt;mn&gt;3&lt;/mn&gt;&lt;/mfrac&gt;&lt;mo&gt;×&lt;/mo&gt;&lt;mfrac&gt;&lt;mn&gt;2&lt;/mn&gt;&lt;mn&gt;3&lt;/mn&gt;&lt;/mfrac&gt;&lt;/mtd&gt;&lt;/mtr&gt;&lt;mtr&gt;&lt;mtd&gt;&lt;mtext&gt;&lt;/mtext&gt;&lt;mtext&gt;&lt;/mtext&gt;&lt;mtext&gt;&lt;/mtext&gt;&lt;mtext&gt;&lt;/mtext&gt;&lt;mtext&gt;&lt;/mtext&gt;&lt;mtext&gt;&lt;/mtext&gt;&lt;mtext&gt;&lt;/mtext&gt;&lt;mtext&gt;&lt;/mtext&gt;&lt;mfrac&gt;&lt;mn&gt;36&lt;/mn&gt;&lt;mn&gt;50&lt;/mn&gt;&lt;/mfrac&gt;&lt;mo&gt;−&lt;/mo&gt;&lt;mfrac&gt;&lt;mn&gt;4&lt;/mn&gt;&lt;mn&gt;9&lt;/mn&gt;&lt;/mfrac&gt;&lt;mo&gt;=&lt;/mo&gt;&lt;mfrac&gt;&lt;mn&gt;324&lt;/mn&gt;&lt;mn&gt;450&lt;/mn&gt;&lt;/mfrac&gt;&lt;mo&gt;−&lt;/mo&gt;&lt;mfrac&gt;&lt;mn&gt;200&lt;/mn&gt;&lt;mn&gt;450&lt;/mn&gt;&lt;/mfrac&gt;&lt;mo&gt;=&lt;/mo&gt;&lt;mfrac&gt;&lt;mn&gt;124&lt;/mn&gt;&lt;mn&gt;240&lt;/mn&gt;&lt;/mfrac&gt;&lt;mo&gt;=&lt;/mo&gt;&lt;mfrac&gt;&lt;mn&gt;62&lt;/mn&gt;&lt;mn&gt;225&lt;/mn&gt;&lt;/mfrac&gt;&lt;/mtd&gt;&lt;/mtr&gt;&lt;/mtable&gt;&lt;/math&gt;" id="1240" name="Google Shape;1240;p90" title="3 lines Line 1: nine tenths times four fifths minus two thirds times the cube root of 8 over 27 Line 2: nine tenths times four fifths minus two thirds times two thirds Line 3: 36 over 50 minus four ninths equals 324 over 450 minus 200 over 450 equals 124 over 240 equals 62 over 225"/>
          <p:cNvPicPr preferRelativeResize="0"/>
          <p:nvPr/>
        </p:nvPicPr>
        <p:blipFill rotWithShape="1">
          <a:blip r:embed="rId3">
            <a:alphaModFix/>
          </a:blip>
          <a:srcRect b="30030" l="0" r="46475" t="38147"/>
          <a:stretch/>
        </p:blipFill>
        <p:spPr>
          <a:xfrm>
            <a:off x="3078725" y="2032616"/>
            <a:ext cx="2684892" cy="555710"/>
          </a:xfrm>
          <a:prstGeom prst="rect">
            <a:avLst/>
          </a:prstGeom>
          <a:noFill/>
          <a:ln>
            <a:noFill/>
          </a:ln>
        </p:spPr>
      </p:pic>
      <p:pic>
        <p:nvPicPr>
          <p:cNvPr descr="&lt;math xmlns=&quot;http://www.w3.org/1998/Math/MathML&quot; display=&quot;block&quot; data-is-equatio=&quot;1&quot; data-latex=&quot;\begin{array}{l}\frac{9}{10}\times\frac{4}{5}-\ \frac{2}{3}\times\sqrt[3]{\frac{8}{27}}\\&amp;#13;&amp;#10;\frac{9}{10}\times\frac{4}{5}-\frac{2}{3}\times\frac{2}{3}\\&amp;#13;&amp;#10;\ \ \ \ \ \ \ \ \frac{36}{50}-\frac{4}{9}=\frac{324}{450}-\frac{200}{450}=\frac{124}{240}=\frac{62}{225}\end{array}&quot;&gt;&lt;mtable columnalign=&quot;left&quot; columnspacing=&quot;1em&quot; rowspacing=&quot;4pt&quot;&gt;&lt;mtr&gt;&lt;mtd&gt;&lt;mfrac&gt;&lt;mn&gt;9&lt;/mn&gt;&lt;mn&gt;10&lt;/mn&gt;&lt;/mfrac&gt;&lt;mo&gt;×&lt;/mo&gt;&lt;mfrac&gt;&lt;mn&gt;4&lt;/mn&gt;&lt;mn&gt;5&lt;/mn&gt;&lt;/mfrac&gt;&lt;mo&gt;−&lt;/mo&gt;&lt;mtext&gt;&lt;/mtext&gt;&lt;mfrac&gt;&lt;mn&gt;2&lt;/mn&gt;&lt;mn&gt;3&lt;/mn&gt;&lt;/mfrac&gt;&lt;mo&gt;×&lt;/mo&gt;&lt;mroot&gt;&lt;mfrac&gt;&lt;mn&gt;8&lt;/mn&gt;&lt;mn&gt;27&lt;/mn&gt;&lt;/mfrac&gt;&lt;mn&gt;3&lt;/mn&gt;&lt;/mroot&gt;&lt;/mtd&gt;&lt;/mtr&gt;&lt;mtr&gt;&lt;mtd&gt;&lt;mfrac&gt;&lt;mn&gt;9&lt;/mn&gt;&lt;mn&gt;10&lt;/mn&gt;&lt;/mfrac&gt;&lt;mo&gt;×&lt;/mo&gt;&lt;mfrac&gt;&lt;mn&gt;4&lt;/mn&gt;&lt;mn&gt;5&lt;/mn&gt;&lt;/mfrac&gt;&lt;mo&gt;−&lt;/mo&gt;&lt;mfrac&gt;&lt;mn&gt;2&lt;/mn&gt;&lt;mn&gt;3&lt;/mn&gt;&lt;/mfrac&gt;&lt;mo&gt;×&lt;/mo&gt;&lt;mfrac&gt;&lt;mn&gt;2&lt;/mn&gt;&lt;mn&gt;3&lt;/mn&gt;&lt;/mfrac&gt;&lt;/mtd&gt;&lt;/mtr&gt;&lt;mtr&gt;&lt;mtd&gt;&lt;mtext&gt;&lt;/mtext&gt;&lt;mtext&gt;&lt;/mtext&gt;&lt;mtext&gt;&lt;/mtext&gt;&lt;mtext&gt;&lt;/mtext&gt;&lt;mtext&gt;&lt;/mtext&gt;&lt;mtext&gt;&lt;/mtext&gt;&lt;mtext&gt;&lt;/mtext&gt;&lt;mtext&gt;&lt;/mtext&gt;&lt;mfrac&gt;&lt;mn&gt;36&lt;/mn&gt;&lt;mn&gt;50&lt;/mn&gt;&lt;/mfrac&gt;&lt;mo&gt;−&lt;/mo&gt;&lt;mfrac&gt;&lt;mn&gt;4&lt;/mn&gt;&lt;mn&gt;9&lt;/mn&gt;&lt;/mfrac&gt;&lt;mo&gt;=&lt;/mo&gt;&lt;mfrac&gt;&lt;mn&gt;324&lt;/mn&gt;&lt;mn&gt;450&lt;/mn&gt;&lt;/mfrac&gt;&lt;mo&gt;−&lt;/mo&gt;&lt;mfrac&gt;&lt;mn&gt;200&lt;/mn&gt;&lt;mn&gt;450&lt;/mn&gt;&lt;/mfrac&gt;&lt;mo&gt;=&lt;/mo&gt;&lt;mfrac&gt;&lt;mn&gt;124&lt;/mn&gt;&lt;mn&gt;240&lt;/mn&gt;&lt;/mfrac&gt;&lt;mo&gt;=&lt;/mo&gt;&lt;mfrac&gt;&lt;mn&gt;62&lt;/mn&gt;&lt;mn&gt;225&lt;/mn&gt;&lt;/mfrac&gt;&lt;/mtd&gt;&lt;/mtr&gt;&lt;/mtable&gt;&lt;/math&gt;" id="1241" name="Google Shape;1241;p90" title="3 lines Line 1: nine tenths times four fifths minus two thirds times the cube root of 8 over 27 Line 2: nine tenths times four fifths minus two thirds times two thirds Line 3: 36 over 50 minus four ninths equals 324 over 450 minus 200 over 450 equals 124 over 240 equals 62 over 225"/>
          <p:cNvPicPr preferRelativeResize="0"/>
          <p:nvPr/>
        </p:nvPicPr>
        <p:blipFill rotWithShape="1">
          <a:blip r:embed="rId3">
            <a:alphaModFix/>
          </a:blip>
          <a:srcRect b="-8634" l="10243" r="67208" t="70629"/>
          <a:stretch/>
        </p:blipFill>
        <p:spPr>
          <a:xfrm>
            <a:off x="2926325" y="2605208"/>
            <a:ext cx="1131025" cy="663700"/>
          </a:xfrm>
          <a:prstGeom prst="rect">
            <a:avLst/>
          </a:prstGeom>
          <a:noFill/>
          <a:ln>
            <a:noFill/>
          </a:ln>
        </p:spPr>
      </p:pic>
      <p:pic>
        <p:nvPicPr>
          <p:cNvPr descr="&lt;math xmlns=&quot;http://www.w3.org/1998/Math/MathML&quot; display=&quot;block&quot; data-is-equatio=&quot;1&quot; data-latex=&quot;\begin{array}{l}\frac{9}{10}\times\frac{4}{5}-\ \frac{2}{3}\times\sqrt[3]{\frac{8}{27}}\\&amp;#13;&amp;#10;\frac{9}{10}\times\frac{4}{5}-\frac{2}{3}\times\frac{2}{3}\\&amp;#13;&amp;#10;\ \ \ \ \ \ \ \ \frac{36}{50}-\frac{4}{9}=\frac{324}{450}-\frac{200}{450}=\frac{124}{240}=\frac{62}{225}\end{array}&quot;&gt;&lt;mtable columnalign=&quot;left&quot; columnspacing=&quot;1em&quot; rowspacing=&quot;4pt&quot;&gt;&lt;mtr&gt;&lt;mtd&gt;&lt;mfrac&gt;&lt;mn&gt;9&lt;/mn&gt;&lt;mn&gt;10&lt;/mn&gt;&lt;/mfrac&gt;&lt;mo&gt;×&lt;/mo&gt;&lt;mfrac&gt;&lt;mn&gt;4&lt;/mn&gt;&lt;mn&gt;5&lt;/mn&gt;&lt;/mfrac&gt;&lt;mo&gt;−&lt;/mo&gt;&lt;mtext&gt;&lt;/mtext&gt;&lt;mfrac&gt;&lt;mn&gt;2&lt;/mn&gt;&lt;mn&gt;3&lt;/mn&gt;&lt;/mfrac&gt;&lt;mo&gt;×&lt;/mo&gt;&lt;mroot&gt;&lt;mfrac&gt;&lt;mn&gt;8&lt;/mn&gt;&lt;mn&gt;27&lt;/mn&gt;&lt;/mfrac&gt;&lt;mn&gt;3&lt;/mn&gt;&lt;/mroot&gt;&lt;/mtd&gt;&lt;/mtr&gt;&lt;mtr&gt;&lt;mtd&gt;&lt;mfrac&gt;&lt;mn&gt;9&lt;/mn&gt;&lt;mn&gt;10&lt;/mn&gt;&lt;/mfrac&gt;&lt;mo&gt;×&lt;/mo&gt;&lt;mfrac&gt;&lt;mn&gt;4&lt;/mn&gt;&lt;mn&gt;5&lt;/mn&gt;&lt;/mfrac&gt;&lt;mo&gt;−&lt;/mo&gt;&lt;mfrac&gt;&lt;mn&gt;2&lt;/mn&gt;&lt;mn&gt;3&lt;/mn&gt;&lt;/mfrac&gt;&lt;mo&gt;×&lt;/mo&gt;&lt;mfrac&gt;&lt;mn&gt;2&lt;/mn&gt;&lt;mn&gt;3&lt;/mn&gt;&lt;/mfrac&gt;&lt;/mtd&gt;&lt;/mtr&gt;&lt;mtr&gt;&lt;mtd&gt;&lt;mtext&gt;&lt;/mtext&gt;&lt;mtext&gt;&lt;/mtext&gt;&lt;mtext&gt;&lt;/mtext&gt;&lt;mtext&gt;&lt;/mtext&gt;&lt;mtext&gt;&lt;/mtext&gt;&lt;mtext&gt;&lt;/mtext&gt;&lt;mtext&gt;&lt;/mtext&gt;&lt;mtext&gt;&lt;/mtext&gt;&lt;mfrac&gt;&lt;mn&gt;36&lt;/mn&gt;&lt;mn&gt;50&lt;/mn&gt;&lt;/mfrac&gt;&lt;mo&gt;−&lt;/mo&gt;&lt;mfrac&gt;&lt;mn&gt;4&lt;/mn&gt;&lt;mn&gt;9&lt;/mn&gt;&lt;/mfrac&gt;&lt;mo&gt;=&lt;/mo&gt;&lt;mfrac&gt;&lt;mn&gt;324&lt;/mn&gt;&lt;mn&gt;450&lt;/mn&gt;&lt;/mfrac&gt;&lt;mo&gt;−&lt;/mo&gt;&lt;mfrac&gt;&lt;mn&gt;200&lt;/mn&gt;&lt;mn&gt;450&lt;/mn&gt;&lt;/mfrac&gt;&lt;mo&gt;=&lt;/mo&gt;&lt;mfrac&gt;&lt;mn&gt;124&lt;/mn&gt;&lt;mn&gt;240&lt;/mn&gt;&lt;/mfrac&gt;&lt;mo&gt;=&lt;/mo&gt;&lt;mfrac&gt;&lt;mn&gt;62&lt;/mn&gt;&lt;mn&gt;225&lt;/mn&gt;&lt;/mfrac&gt;&lt;/mtd&gt;&lt;/mtr&gt;&lt;/mtable&gt;&lt;/math&gt;" id="1242" name="Google Shape;1242;p90" title="3 lines Line 1: nine tenths times four fifths minus two thirds times the cube root of 8 over 27 Line 2: nine tenths times four fifths minus two thirds times two thirds Line 3: 36 over 50 minus four ninths equals 324 over 450 minus 200 over 450 equals 124 over 240 equals 62 over 225"/>
          <p:cNvPicPr preferRelativeResize="0"/>
          <p:nvPr/>
        </p:nvPicPr>
        <p:blipFill rotWithShape="1">
          <a:blip r:embed="rId3">
            <a:alphaModFix/>
          </a:blip>
          <a:srcRect b="-8634" l="39339" r="33237" t="70630"/>
          <a:stretch/>
        </p:blipFill>
        <p:spPr>
          <a:xfrm>
            <a:off x="3020457" y="3167033"/>
            <a:ext cx="1375724" cy="663675"/>
          </a:xfrm>
          <a:prstGeom prst="rect">
            <a:avLst/>
          </a:prstGeom>
          <a:noFill/>
          <a:ln>
            <a:noFill/>
          </a:ln>
        </p:spPr>
      </p:pic>
      <p:pic>
        <p:nvPicPr>
          <p:cNvPr descr="&lt;math xmlns=&quot;http://www.w3.org/1998/Math/MathML&quot; display=&quot;block&quot; data-is-equatio=&quot;1&quot; data-latex=&quot;\begin{array}{l}\frac{9}{10}\times\frac{4}{5}-\ \frac{2}{3}\times\sqrt[3]{\frac{8}{27}}\\&amp;#13;&amp;#10;\frac{9}{10}\times\frac{4}{5}-\frac{2}{3}\times\frac{2}{3}\\&amp;#13;&amp;#10;\ \ \ \ \ \ \ \ \frac{36}{50}-\frac{4}{9}=\frac{324}{450}-\frac{200}{450}=\frac{124}{450}=\frac{62}{225}\end{array}&quot;&gt;&lt;mtable columnalign=&quot;left&quot; columnspacing=&quot;1em&quot; rowspacing=&quot;4pt&quot;&gt;&lt;mtr&gt;&lt;mtd&gt;&lt;mfrac&gt;&lt;mn&gt;9&lt;/mn&gt;&lt;mn&gt;10&lt;/mn&gt;&lt;/mfrac&gt;&lt;mo&gt;×&lt;/mo&gt;&lt;mfrac&gt;&lt;mn&gt;4&lt;/mn&gt;&lt;mn&gt;5&lt;/mn&gt;&lt;/mfrac&gt;&lt;mo&gt;−&lt;/mo&gt;&lt;mtext&gt;&lt;/mtext&gt;&lt;mfrac&gt;&lt;mn&gt;2&lt;/mn&gt;&lt;mn&gt;3&lt;/mn&gt;&lt;/mfrac&gt;&lt;mo&gt;×&lt;/mo&gt;&lt;mroot&gt;&lt;mfrac&gt;&lt;mn&gt;8&lt;/mn&gt;&lt;mn&gt;27&lt;/mn&gt;&lt;/mfrac&gt;&lt;mn&gt;3&lt;/mn&gt;&lt;/mroot&gt;&lt;/mtd&gt;&lt;/mtr&gt;&lt;mtr&gt;&lt;mtd&gt;&lt;mfrac&gt;&lt;mn&gt;9&lt;/mn&gt;&lt;mn&gt;10&lt;/mn&gt;&lt;/mfrac&gt;&lt;mo&gt;×&lt;/mo&gt;&lt;mfrac&gt;&lt;mn&gt;4&lt;/mn&gt;&lt;mn&gt;5&lt;/mn&gt;&lt;/mfrac&gt;&lt;mo&gt;−&lt;/mo&gt;&lt;mfrac&gt;&lt;mn&gt;2&lt;/mn&gt;&lt;mn&gt;3&lt;/mn&gt;&lt;/mfrac&gt;&lt;mo&gt;×&lt;/mo&gt;&lt;mfrac&gt;&lt;mn&gt;2&lt;/mn&gt;&lt;mn&gt;3&lt;/mn&gt;&lt;/mfrac&gt;&lt;/mtd&gt;&lt;/mtr&gt;&lt;mtr&gt;&lt;mtd&gt;&lt;mtext&gt;&lt;/mtext&gt;&lt;mtext&gt;&lt;/mtext&gt;&lt;mtext&gt;&lt;/mtext&gt;&lt;mtext&gt;&lt;/mtext&gt;&lt;mtext&gt;&lt;/mtext&gt;&lt;mtext&gt;&lt;/mtext&gt;&lt;mtext&gt;&lt;/mtext&gt;&lt;mtext&gt;&lt;/mtext&gt;&lt;mfrac&gt;&lt;mn&gt;36&lt;/mn&gt;&lt;mn&gt;50&lt;/mn&gt;&lt;/mfrac&gt;&lt;mo&gt;−&lt;/mo&gt;&lt;mfrac&gt;&lt;mn&gt;4&lt;/mn&gt;&lt;mn&gt;9&lt;/mn&gt;&lt;/mfrac&gt;&lt;mo&gt;=&lt;/mo&gt;&lt;mfrac&gt;&lt;mn&gt;324&lt;/mn&gt;&lt;mn&gt;450&lt;/mn&gt;&lt;/mfrac&gt;&lt;mo&gt;−&lt;/mo&gt;&lt;mfrac&gt;&lt;mn&gt;200&lt;/mn&gt;&lt;mn&gt;450&lt;/mn&gt;&lt;/mfrac&gt;&lt;mo&gt;=&lt;/mo&gt;&lt;mfrac&gt;&lt;mn&gt;124&lt;/mn&gt;&lt;mn&gt;450&lt;/mn&gt;&lt;/mfrac&gt;&lt;mo&gt;=&lt;/mo&gt;&lt;mfrac&gt;&lt;mn&gt;62&lt;/mn&gt;&lt;mn&gt;225&lt;/mn&gt;&lt;/mfrac&gt;&lt;/mtd&gt;&lt;/mtr&gt;&lt;/mtable&gt;&lt;/math&gt;" id="1243" name="Google Shape;1243;p90" title="3 lines Line 1: nine tenths times four fifths minus two thirds times the cube root of 8 over 27 Line 2: nine tenths times four fifths minus two thirds times two thirds Line 3: 36 over 50 minus four ninths equals 324 over 450 minus 200 over 450 equals 124 over 450 equals 62 over 225"/>
          <p:cNvPicPr preferRelativeResize="0"/>
          <p:nvPr/>
        </p:nvPicPr>
        <p:blipFill rotWithShape="1">
          <a:blip r:embed="rId4">
            <a:alphaModFix/>
          </a:blip>
          <a:srcRect b="0" l="73531" r="16228" t="70802"/>
          <a:stretch/>
        </p:blipFill>
        <p:spPr>
          <a:xfrm>
            <a:off x="3031051" y="3757775"/>
            <a:ext cx="519924" cy="528725"/>
          </a:xfrm>
          <a:prstGeom prst="rect">
            <a:avLst/>
          </a:prstGeom>
          <a:noFill/>
          <a:ln>
            <a:noFill/>
          </a:ln>
        </p:spPr>
      </p:pic>
      <p:pic>
        <p:nvPicPr>
          <p:cNvPr descr="&lt;math xmlns=&quot;http://www.w3.org/1998/Math/MathML&quot; display=&quot;block&quot; data-is-equatio=&quot;1&quot; data-latex=&quot;\begin{array}{l}\frac{9}{10}\times\frac{4}{5}-\ \frac{2}{3}\times\sqrt[3]{\frac{8}{27}}\\&amp;#13;&amp;#10;\frac{9}{10}\times\frac{4}{5}-\frac{2}{3}\times\frac{2}{3}\\&amp;#13;&amp;#10;\ \ \ \ \ \ \ \ \frac{36}{50}-\frac{4}{9}=\frac{324}{450}-\frac{200}{450}=\frac{124}{240}=\frac{62}{225}\end{array}&quot;&gt;&lt;mtable columnalign=&quot;left&quot; columnspacing=&quot;1em&quot; rowspacing=&quot;4pt&quot;&gt;&lt;mtr&gt;&lt;mtd&gt;&lt;mfrac&gt;&lt;mn&gt;9&lt;/mn&gt;&lt;mn&gt;10&lt;/mn&gt;&lt;/mfrac&gt;&lt;mo&gt;×&lt;/mo&gt;&lt;mfrac&gt;&lt;mn&gt;4&lt;/mn&gt;&lt;mn&gt;5&lt;/mn&gt;&lt;/mfrac&gt;&lt;mo&gt;−&lt;/mo&gt;&lt;mtext&gt;&lt;/mtext&gt;&lt;mfrac&gt;&lt;mn&gt;2&lt;/mn&gt;&lt;mn&gt;3&lt;/mn&gt;&lt;/mfrac&gt;&lt;mo&gt;×&lt;/mo&gt;&lt;mroot&gt;&lt;mfrac&gt;&lt;mn&gt;8&lt;/mn&gt;&lt;mn&gt;27&lt;/mn&gt;&lt;/mfrac&gt;&lt;mn&gt;3&lt;/mn&gt;&lt;/mroot&gt;&lt;/mtd&gt;&lt;/mtr&gt;&lt;mtr&gt;&lt;mtd&gt;&lt;mfrac&gt;&lt;mn&gt;9&lt;/mn&gt;&lt;mn&gt;10&lt;/mn&gt;&lt;/mfrac&gt;&lt;mo&gt;×&lt;/mo&gt;&lt;mfrac&gt;&lt;mn&gt;4&lt;/mn&gt;&lt;mn&gt;5&lt;/mn&gt;&lt;/mfrac&gt;&lt;mo&gt;−&lt;/mo&gt;&lt;mfrac&gt;&lt;mn&gt;2&lt;/mn&gt;&lt;mn&gt;3&lt;/mn&gt;&lt;/mfrac&gt;&lt;mo&gt;×&lt;/mo&gt;&lt;mfrac&gt;&lt;mn&gt;2&lt;/mn&gt;&lt;mn&gt;3&lt;/mn&gt;&lt;/mfrac&gt;&lt;/mtd&gt;&lt;/mtr&gt;&lt;mtr&gt;&lt;mtd&gt;&lt;mtext&gt;&lt;/mtext&gt;&lt;mtext&gt;&lt;/mtext&gt;&lt;mtext&gt;&lt;/mtext&gt;&lt;mtext&gt;&lt;/mtext&gt;&lt;mtext&gt;&lt;/mtext&gt;&lt;mtext&gt;&lt;/mtext&gt;&lt;mtext&gt;&lt;/mtext&gt;&lt;mtext&gt;&lt;/mtext&gt;&lt;mfrac&gt;&lt;mn&gt;36&lt;/mn&gt;&lt;mn&gt;50&lt;/mn&gt;&lt;/mfrac&gt;&lt;mo&gt;−&lt;/mo&gt;&lt;mfrac&gt;&lt;mn&gt;4&lt;/mn&gt;&lt;mn&gt;9&lt;/mn&gt;&lt;/mfrac&gt;&lt;mo&gt;=&lt;/mo&gt;&lt;mfrac&gt;&lt;mn&gt;324&lt;/mn&gt;&lt;mn&gt;450&lt;/mn&gt;&lt;/mfrac&gt;&lt;mo&gt;−&lt;/mo&gt;&lt;mfrac&gt;&lt;mn&gt;200&lt;/mn&gt;&lt;mn&gt;450&lt;/mn&gt;&lt;/mfrac&gt;&lt;mo&gt;=&lt;/mo&gt;&lt;mfrac&gt;&lt;mn&gt;124&lt;/mn&gt;&lt;mn&gt;240&lt;/mn&gt;&lt;/mfrac&gt;&lt;mo&gt;=&lt;/mo&gt;&lt;mfrac&gt;&lt;mn&gt;62&lt;/mn&gt;&lt;mn&gt;225&lt;/mn&gt;&lt;/mfrac&gt;&lt;/mtd&gt;&lt;/mtr&gt;&lt;/mtable&gt;&lt;/math&gt;" id="1244" name="Google Shape;1244;p90" title="3 lines Line 1: nine tenths times four fifths minus two thirds times the cube root of 8 over 27 Line 2: nine tenths times four fifths minus two thirds times two thirds Line 3: 36 over 50 minus four ninths equals 324 over 450 minus 200 over 450 equals 124 over 240 equals 62 over 225"/>
          <p:cNvPicPr preferRelativeResize="0"/>
          <p:nvPr/>
        </p:nvPicPr>
        <p:blipFill rotWithShape="1">
          <a:blip r:embed="rId3">
            <a:alphaModFix/>
          </a:blip>
          <a:srcRect b="-8634" l="32395" r="61057" t="70630"/>
          <a:stretch/>
        </p:blipFill>
        <p:spPr>
          <a:xfrm>
            <a:off x="2662675" y="1978638"/>
            <a:ext cx="328426" cy="663675"/>
          </a:xfrm>
          <a:prstGeom prst="rect">
            <a:avLst/>
          </a:prstGeom>
          <a:noFill/>
          <a:ln>
            <a:noFill/>
          </a:ln>
        </p:spPr>
      </p:pic>
      <p:pic>
        <p:nvPicPr>
          <p:cNvPr descr="&lt;math xmlns=&quot;http://www.w3.org/1998/Math/MathML&quot; display=&quot;block&quot; data-is-equatio=&quot;1&quot; data-latex=&quot;\begin{array}{l}\frac{9}{10}\times\frac{4}{5}-\ \frac{2}{3}\times\sqrt[3]{\frac{8}{27}}\\&amp;#13;&amp;#10;\frac{9}{10}\times\frac{4}{5}-\frac{2}{3}\times\frac{2}{3}\\&amp;#13;&amp;#10;\ \ \ \ \ \ \ \ \frac{36}{50}-\frac{4}{9}=\frac{324}{450}-\frac{200}{450}=\frac{124}{240}=\frac{62}{225}\end{array}&quot;&gt;&lt;mtable columnalign=&quot;left&quot; columnspacing=&quot;1em&quot; rowspacing=&quot;4pt&quot;&gt;&lt;mtr&gt;&lt;mtd&gt;&lt;mfrac&gt;&lt;mn&gt;9&lt;/mn&gt;&lt;mn&gt;10&lt;/mn&gt;&lt;/mfrac&gt;&lt;mo&gt;×&lt;/mo&gt;&lt;mfrac&gt;&lt;mn&gt;4&lt;/mn&gt;&lt;mn&gt;5&lt;/mn&gt;&lt;/mfrac&gt;&lt;mo&gt;−&lt;/mo&gt;&lt;mtext&gt;&lt;/mtext&gt;&lt;mfrac&gt;&lt;mn&gt;2&lt;/mn&gt;&lt;mn&gt;3&lt;/mn&gt;&lt;/mfrac&gt;&lt;mo&gt;×&lt;/mo&gt;&lt;mroot&gt;&lt;mfrac&gt;&lt;mn&gt;8&lt;/mn&gt;&lt;mn&gt;27&lt;/mn&gt;&lt;/mfrac&gt;&lt;mn&gt;3&lt;/mn&gt;&lt;/mroot&gt;&lt;/mtd&gt;&lt;/mtr&gt;&lt;mtr&gt;&lt;mtd&gt;&lt;mfrac&gt;&lt;mn&gt;9&lt;/mn&gt;&lt;mn&gt;10&lt;/mn&gt;&lt;/mfrac&gt;&lt;mo&gt;×&lt;/mo&gt;&lt;mfrac&gt;&lt;mn&gt;4&lt;/mn&gt;&lt;mn&gt;5&lt;/mn&gt;&lt;/mfrac&gt;&lt;mo&gt;−&lt;/mo&gt;&lt;mfrac&gt;&lt;mn&gt;2&lt;/mn&gt;&lt;mn&gt;3&lt;/mn&gt;&lt;/mfrac&gt;&lt;mo&gt;×&lt;/mo&gt;&lt;mfrac&gt;&lt;mn&gt;2&lt;/mn&gt;&lt;mn&gt;3&lt;/mn&gt;&lt;/mfrac&gt;&lt;/mtd&gt;&lt;/mtr&gt;&lt;mtr&gt;&lt;mtd&gt;&lt;mtext&gt;&lt;/mtext&gt;&lt;mtext&gt;&lt;/mtext&gt;&lt;mtext&gt;&lt;/mtext&gt;&lt;mtext&gt;&lt;/mtext&gt;&lt;mtext&gt;&lt;/mtext&gt;&lt;mtext&gt;&lt;/mtext&gt;&lt;mtext&gt;&lt;/mtext&gt;&lt;mtext&gt;&lt;/mtext&gt;&lt;mfrac&gt;&lt;mn&gt;36&lt;/mn&gt;&lt;mn&gt;50&lt;/mn&gt;&lt;/mfrac&gt;&lt;mo&gt;−&lt;/mo&gt;&lt;mfrac&gt;&lt;mn&gt;4&lt;/mn&gt;&lt;mn&gt;9&lt;/mn&gt;&lt;/mfrac&gt;&lt;mo&gt;=&lt;/mo&gt;&lt;mfrac&gt;&lt;mn&gt;324&lt;/mn&gt;&lt;mn&gt;450&lt;/mn&gt;&lt;/mfrac&gt;&lt;mo&gt;−&lt;/mo&gt;&lt;mfrac&gt;&lt;mn&gt;200&lt;/mn&gt;&lt;mn&gt;450&lt;/mn&gt;&lt;/mfrac&gt;&lt;mo&gt;=&lt;/mo&gt;&lt;mfrac&gt;&lt;mn&gt;124&lt;/mn&gt;&lt;mn&gt;240&lt;/mn&gt;&lt;/mfrac&gt;&lt;mo&gt;=&lt;/mo&gt;&lt;mfrac&gt;&lt;mn&gt;62&lt;/mn&gt;&lt;mn&gt;225&lt;/mn&gt;&lt;/mfrac&gt;&lt;/mtd&gt;&lt;/mtr&gt;&lt;/mtable&gt;&lt;/math&gt;" id="1245" name="Google Shape;1245;p90" title="3 lines Line 1: nine tenths times four fifths minus two thirds times the cube root of 8 over 27 Line 2: nine tenths times four fifths minus two thirds times two thirds Line 3: 36 over 50 minus four ninths equals 324 over 450 minus 200 over 450 equals 124 over 240 equals 62 over 225"/>
          <p:cNvPicPr preferRelativeResize="0"/>
          <p:nvPr/>
        </p:nvPicPr>
        <p:blipFill rotWithShape="1">
          <a:blip r:embed="rId3">
            <a:alphaModFix/>
          </a:blip>
          <a:srcRect b="-8634" l="32395" r="61057" t="70630"/>
          <a:stretch/>
        </p:blipFill>
        <p:spPr>
          <a:xfrm>
            <a:off x="2662675" y="2632222"/>
            <a:ext cx="328426" cy="663675"/>
          </a:xfrm>
          <a:prstGeom prst="rect">
            <a:avLst/>
          </a:prstGeom>
          <a:noFill/>
          <a:ln>
            <a:noFill/>
          </a:ln>
        </p:spPr>
      </p:pic>
      <p:pic>
        <p:nvPicPr>
          <p:cNvPr descr="&lt;math xmlns=&quot;http://www.w3.org/1998/Math/MathML&quot; display=&quot;block&quot; data-is-equatio=&quot;1&quot; data-latex=&quot;\begin{array}{l}\frac{9}{10}\times\frac{4}{5}-\ \frac{2}{3}\times\sqrt[3]{\frac{8}{27}}\\&amp;#13;&amp;#10;\frac{9}{10}\times\frac{4}{5}-\frac{2}{3}\times\frac{2}{3}\\&amp;#13;&amp;#10;\ \ \ \ \ \ \ \ \frac{36}{50}-\frac{4}{9}=\frac{324}{450}-\frac{200}{450}=\frac{124}{240}=\frac{62}{225}\end{array}&quot;&gt;&lt;mtable columnalign=&quot;left&quot; columnspacing=&quot;1em&quot; rowspacing=&quot;4pt&quot;&gt;&lt;mtr&gt;&lt;mtd&gt;&lt;mfrac&gt;&lt;mn&gt;9&lt;/mn&gt;&lt;mn&gt;10&lt;/mn&gt;&lt;/mfrac&gt;&lt;mo&gt;×&lt;/mo&gt;&lt;mfrac&gt;&lt;mn&gt;4&lt;/mn&gt;&lt;mn&gt;5&lt;/mn&gt;&lt;/mfrac&gt;&lt;mo&gt;−&lt;/mo&gt;&lt;mtext&gt;&lt;/mtext&gt;&lt;mfrac&gt;&lt;mn&gt;2&lt;/mn&gt;&lt;mn&gt;3&lt;/mn&gt;&lt;/mfrac&gt;&lt;mo&gt;×&lt;/mo&gt;&lt;mroot&gt;&lt;mfrac&gt;&lt;mn&gt;8&lt;/mn&gt;&lt;mn&gt;27&lt;/mn&gt;&lt;/mfrac&gt;&lt;mn&gt;3&lt;/mn&gt;&lt;/mroot&gt;&lt;/mtd&gt;&lt;/mtr&gt;&lt;mtr&gt;&lt;mtd&gt;&lt;mfrac&gt;&lt;mn&gt;9&lt;/mn&gt;&lt;mn&gt;10&lt;/mn&gt;&lt;/mfrac&gt;&lt;mo&gt;×&lt;/mo&gt;&lt;mfrac&gt;&lt;mn&gt;4&lt;/mn&gt;&lt;mn&gt;5&lt;/mn&gt;&lt;/mfrac&gt;&lt;mo&gt;−&lt;/mo&gt;&lt;mfrac&gt;&lt;mn&gt;2&lt;/mn&gt;&lt;mn&gt;3&lt;/mn&gt;&lt;/mfrac&gt;&lt;mo&gt;×&lt;/mo&gt;&lt;mfrac&gt;&lt;mn&gt;2&lt;/mn&gt;&lt;mn&gt;3&lt;/mn&gt;&lt;/mfrac&gt;&lt;/mtd&gt;&lt;/mtr&gt;&lt;mtr&gt;&lt;mtd&gt;&lt;mtext&gt;&lt;/mtext&gt;&lt;mtext&gt;&lt;/mtext&gt;&lt;mtext&gt;&lt;/mtext&gt;&lt;mtext&gt;&lt;/mtext&gt;&lt;mtext&gt;&lt;/mtext&gt;&lt;mtext&gt;&lt;/mtext&gt;&lt;mtext&gt;&lt;/mtext&gt;&lt;mtext&gt;&lt;/mtext&gt;&lt;mfrac&gt;&lt;mn&gt;36&lt;/mn&gt;&lt;mn&gt;50&lt;/mn&gt;&lt;/mfrac&gt;&lt;mo&gt;−&lt;/mo&gt;&lt;mfrac&gt;&lt;mn&gt;4&lt;/mn&gt;&lt;mn&gt;9&lt;/mn&gt;&lt;/mfrac&gt;&lt;mo&gt;=&lt;/mo&gt;&lt;mfrac&gt;&lt;mn&gt;324&lt;/mn&gt;&lt;mn&gt;450&lt;/mn&gt;&lt;/mfrac&gt;&lt;mo&gt;−&lt;/mo&gt;&lt;mfrac&gt;&lt;mn&gt;200&lt;/mn&gt;&lt;mn&gt;450&lt;/mn&gt;&lt;/mfrac&gt;&lt;mo&gt;=&lt;/mo&gt;&lt;mfrac&gt;&lt;mn&gt;124&lt;/mn&gt;&lt;mn&gt;240&lt;/mn&gt;&lt;/mfrac&gt;&lt;mo&gt;=&lt;/mo&gt;&lt;mfrac&gt;&lt;mn&gt;62&lt;/mn&gt;&lt;mn&gt;225&lt;/mn&gt;&lt;/mfrac&gt;&lt;/mtd&gt;&lt;/mtr&gt;&lt;/mtable&gt;&lt;/math&gt;" id="1246" name="Google Shape;1246;p90" title="3 lines Line 1: nine tenths times four fifths minus two thirds times the cube root of 8 over 27 Line 2: nine tenths times four fifths minus two thirds times two thirds Line 3: 36 over 50 minus four ninths equals 324 over 450 minus 200 over 450 equals 124 over 240 equals 62 over 225"/>
          <p:cNvPicPr preferRelativeResize="0"/>
          <p:nvPr/>
        </p:nvPicPr>
        <p:blipFill rotWithShape="1">
          <a:blip r:embed="rId3">
            <a:alphaModFix/>
          </a:blip>
          <a:srcRect b="-8634" l="32395" r="61057" t="70630"/>
          <a:stretch/>
        </p:blipFill>
        <p:spPr>
          <a:xfrm>
            <a:off x="2662675" y="3167033"/>
            <a:ext cx="328426" cy="663675"/>
          </a:xfrm>
          <a:prstGeom prst="rect">
            <a:avLst/>
          </a:prstGeom>
          <a:noFill/>
          <a:ln>
            <a:noFill/>
          </a:ln>
        </p:spPr>
      </p:pic>
      <p:pic>
        <p:nvPicPr>
          <p:cNvPr descr="&lt;math xmlns=&quot;http://www.w3.org/1998/Math/MathML&quot; display=&quot;block&quot; data-is-equatio=&quot;1&quot; data-latex=&quot;\begin{array}{l}\frac{9}{10}\times\frac{4}{5}-\ \frac{2}{3}\times\sqrt[3]{\frac{8}{27}}\\&amp;#13;&amp;#10;\frac{9}{10}\times\frac{4}{5}-\frac{2}{3}\times\frac{2}{3}\\&amp;#13;&amp;#10;\ \ \ \ \ \ \ \ \frac{36}{50}-\frac{4}{9}=\frac{324}{450}-\frac{200}{450}=\frac{124}{240}=\frac{62}{225}\end{array}&quot;&gt;&lt;mtable columnalign=&quot;left&quot; columnspacing=&quot;1em&quot; rowspacing=&quot;4pt&quot;&gt;&lt;mtr&gt;&lt;mtd&gt;&lt;mfrac&gt;&lt;mn&gt;9&lt;/mn&gt;&lt;mn&gt;10&lt;/mn&gt;&lt;/mfrac&gt;&lt;mo&gt;×&lt;/mo&gt;&lt;mfrac&gt;&lt;mn&gt;4&lt;/mn&gt;&lt;mn&gt;5&lt;/mn&gt;&lt;/mfrac&gt;&lt;mo&gt;−&lt;/mo&gt;&lt;mtext&gt;&lt;/mtext&gt;&lt;mfrac&gt;&lt;mn&gt;2&lt;/mn&gt;&lt;mn&gt;3&lt;/mn&gt;&lt;/mfrac&gt;&lt;mo&gt;×&lt;/mo&gt;&lt;mroot&gt;&lt;mfrac&gt;&lt;mn&gt;8&lt;/mn&gt;&lt;mn&gt;27&lt;/mn&gt;&lt;/mfrac&gt;&lt;mn&gt;3&lt;/mn&gt;&lt;/mroot&gt;&lt;/mtd&gt;&lt;/mtr&gt;&lt;mtr&gt;&lt;mtd&gt;&lt;mfrac&gt;&lt;mn&gt;9&lt;/mn&gt;&lt;mn&gt;10&lt;/mn&gt;&lt;/mfrac&gt;&lt;mo&gt;×&lt;/mo&gt;&lt;mfrac&gt;&lt;mn&gt;4&lt;/mn&gt;&lt;mn&gt;5&lt;/mn&gt;&lt;/mfrac&gt;&lt;mo&gt;−&lt;/mo&gt;&lt;mfrac&gt;&lt;mn&gt;2&lt;/mn&gt;&lt;mn&gt;3&lt;/mn&gt;&lt;/mfrac&gt;&lt;mo&gt;×&lt;/mo&gt;&lt;mfrac&gt;&lt;mn&gt;2&lt;/mn&gt;&lt;mn&gt;3&lt;/mn&gt;&lt;/mfrac&gt;&lt;/mtd&gt;&lt;/mtr&gt;&lt;mtr&gt;&lt;mtd&gt;&lt;mtext&gt;&lt;/mtext&gt;&lt;mtext&gt;&lt;/mtext&gt;&lt;mtext&gt;&lt;/mtext&gt;&lt;mtext&gt;&lt;/mtext&gt;&lt;mtext&gt;&lt;/mtext&gt;&lt;mtext&gt;&lt;/mtext&gt;&lt;mtext&gt;&lt;/mtext&gt;&lt;mtext&gt;&lt;/mtext&gt;&lt;mfrac&gt;&lt;mn&gt;36&lt;/mn&gt;&lt;mn&gt;50&lt;/mn&gt;&lt;/mfrac&gt;&lt;mo&gt;−&lt;/mo&gt;&lt;mfrac&gt;&lt;mn&gt;4&lt;/mn&gt;&lt;mn&gt;9&lt;/mn&gt;&lt;/mfrac&gt;&lt;mo&gt;=&lt;/mo&gt;&lt;mfrac&gt;&lt;mn&gt;324&lt;/mn&gt;&lt;mn&gt;450&lt;/mn&gt;&lt;/mfrac&gt;&lt;mo&gt;−&lt;/mo&gt;&lt;mfrac&gt;&lt;mn&gt;200&lt;/mn&gt;&lt;mn&gt;450&lt;/mn&gt;&lt;/mfrac&gt;&lt;mo&gt;=&lt;/mo&gt;&lt;mfrac&gt;&lt;mn&gt;124&lt;/mn&gt;&lt;mn&gt;240&lt;/mn&gt;&lt;/mfrac&gt;&lt;mo&gt;=&lt;/mo&gt;&lt;mfrac&gt;&lt;mn&gt;62&lt;/mn&gt;&lt;mn&gt;225&lt;/mn&gt;&lt;/mfrac&gt;&lt;/mtd&gt;&lt;/mtr&gt;&lt;/mtable&gt;&lt;/math&gt;" id="1247" name="Google Shape;1247;p90" title="3 lines Line 1: nine tenths times four fifths minus two thirds times the cube root of 8 over 27 Line 2: nine tenths times four fifths minus two thirds times two thirds Line 3: 36 over 50 minus four ninths equals 324 over 450 minus 200 over 450 equals 124 over 240 equals 62 over 225"/>
          <p:cNvPicPr preferRelativeResize="0"/>
          <p:nvPr/>
        </p:nvPicPr>
        <p:blipFill rotWithShape="1">
          <a:blip r:embed="rId3">
            <a:alphaModFix/>
          </a:blip>
          <a:srcRect b="-8634" l="32395" r="61057" t="70630"/>
          <a:stretch/>
        </p:blipFill>
        <p:spPr>
          <a:xfrm>
            <a:off x="2662675" y="3757814"/>
            <a:ext cx="328426" cy="663675"/>
          </a:xfrm>
          <a:prstGeom prst="rect">
            <a:avLst/>
          </a:prstGeom>
          <a:noFill/>
          <a:ln>
            <a:noFill/>
          </a:ln>
        </p:spPr>
      </p:pic>
      <p:pic>
        <p:nvPicPr>
          <p:cNvPr descr="&lt;math xmlns=&quot;http://www.w3.org/1998/Math/MathML&quot; display=&quot;block&quot; data-is-equatio=&quot;1&quot; data-latex=&quot;\begin{array}{l}\frac{9}{10}\times\frac{4}{5}-\ \frac{2}{3}\times\sqrt[3]{\frac{8}{27}}\\&amp;#13;&amp;#10;\frac{9}{10}\times\frac{4}{5}-\frac{2}{3}\times\frac{2}{3}\\&amp;#13;&amp;#10;\ \ \ \ \ \ \ \ \frac{36}{50}-\frac{4}{9}=\frac{324}{450}-\frac{200}{450}=\frac{124}{450}=\frac{62}{225}\end{array}&quot;&gt;&lt;mtable columnalign=&quot;left&quot; columnspacing=&quot;1em&quot; rowspacing=&quot;4pt&quot;&gt;&lt;mtr&gt;&lt;mtd&gt;&lt;mfrac&gt;&lt;mn&gt;9&lt;/mn&gt;&lt;mn&gt;10&lt;/mn&gt;&lt;/mfrac&gt;&lt;mo&gt;×&lt;/mo&gt;&lt;mfrac&gt;&lt;mn&gt;4&lt;/mn&gt;&lt;mn&gt;5&lt;/mn&gt;&lt;/mfrac&gt;&lt;mo&gt;−&lt;/mo&gt;&lt;mtext&gt;&lt;/mtext&gt;&lt;mfrac&gt;&lt;mn&gt;2&lt;/mn&gt;&lt;mn&gt;3&lt;/mn&gt;&lt;/mfrac&gt;&lt;mo&gt;×&lt;/mo&gt;&lt;mroot&gt;&lt;mfrac&gt;&lt;mn&gt;8&lt;/mn&gt;&lt;mn&gt;27&lt;/mn&gt;&lt;/mfrac&gt;&lt;mn&gt;3&lt;/mn&gt;&lt;/mroot&gt;&lt;/mtd&gt;&lt;/mtr&gt;&lt;mtr&gt;&lt;mtd&gt;&lt;mfrac&gt;&lt;mn&gt;9&lt;/mn&gt;&lt;mn&gt;10&lt;/mn&gt;&lt;/mfrac&gt;&lt;mo&gt;×&lt;/mo&gt;&lt;mfrac&gt;&lt;mn&gt;4&lt;/mn&gt;&lt;mn&gt;5&lt;/mn&gt;&lt;/mfrac&gt;&lt;mo&gt;−&lt;/mo&gt;&lt;mfrac&gt;&lt;mn&gt;2&lt;/mn&gt;&lt;mn&gt;3&lt;/mn&gt;&lt;/mfrac&gt;&lt;mo&gt;×&lt;/mo&gt;&lt;mfrac&gt;&lt;mn&gt;2&lt;/mn&gt;&lt;mn&gt;3&lt;/mn&gt;&lt;/mfrac&gt;&lt;/mtd&gt;&lt;/mtr&gt;&lt;mtr&gt;&lt;mtd&gt;&lt;mtext&gt;&lt;/mtext&gt;&lt;mtext&gt;&lt;/mtext&gt;&lt;mtext&gt;&lt;/mtext&gt;&lt;mtext&gt;&lt;/mtext&gt;&lt;mtext&gt;&lt;/mtext&gt;&lt;mtext&gt;&lt;/mtext&gt;&lt;mtext&gt;&lt;/mtext&gt;&lt;mtext&gt;&lt;/mtext&gt;&lt;mfrac&gt;&lt;mn&gt;36&lt;/mn&gt;&lt;mn&gt;50&lt;/mn&gt;&lt;/mfrac&gt;&lt;mo&gt;−&lt;/mo&gt;&lt;mfrac&gt;&lt;mn&gt;4&lt;/mn&gt;&lt;mn&gt;9&lt;/mn&gt;&lt;/mfrac&gt;&lt;mo&gt;=&lt;/mo&gt;&lt;mfrac&gt;&lt;mn&gt;324&lt;/mn&gt;&lt;mn&gt;450&lt;/mn&gt;&lt;/mfrac&gt;&lt;mo&gt;−&lt;/mo&gt;&lt;mfrac&gt;&lt;mn&gt;200&lt;/mn&gt;&lt;mn&gt;450&lt;/mn&gt;&lt;/mfrac&gt;&lt;mo&gt;=&lt;/mo&gt;&lt;mfrac&gt;&lt;mn&gt;124&lt;/mn&gt;&lt;mn&gt;450&lt;/mn&gt;&lt;/mfrac&gt;&lt;mo&gt;=&lt;/mo&gt;&lt;mfrac&gt;&lt;mn&gt;62&lt;/mn&gt;&lt;mn&gt;225&lt;/mn&gt;&lt;/mfrac&gt;&lt;/mtd&gt;&lt;/mtr&gt;&lt;/mtable&gt;&lt;/math&gt;" id="1248" name="Google Shape;1248;p90" title="3 lines Line 1: nine tenths times four fifths minus two thirds times the cube root of 8 over 27 Line 2: nine tenths times four fifths minus two thirds times two thirds Line 3: 36 over 50 minus four ninths equals 324 over 450 minus 200 over 450 equals 124 over 450 equals 62 over 225"/>
          <p:cNvPicPr preferRelativeResize="0"/>
          <p:nvPr/>
        </p:nvPicPr>
        <p:blipFill rotWithShape="1">
          <a:blip r:embed="rId4">
            <a:alphaModFix/>
          </a:blip>
          <a:srcRect b="0" l="83908" r="0" t="70802"/>
          <a:stretch/>
        </p:blipFill>
        <p:spPr>
          <a:xfrm>
            <a:off x="2662670" y="4286500"/>
            <a:ext cx="817074" cy="528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2" name="Shape 1252"/>
        <p:cNvGrpSpPr/>
        <p:nvPr/>
      </p:nvGrpSpPr>
      <p:grpSpPr>
        <a:xfrm>
          <a:off x="0" y="0"/>
          <a:ext cx="0" cy="0"/>
          <a:chOff x="0" y="0"/>
          <a:chExt cx="0" cy="0"/>
        </a:xfrm>
      </p:grpSpPr>
      <p:sp>
        <p:nvSpPr>
          <p:cNvPr id="1253" name="Google Shape;1253;p91"/>
          <p:cNvSpPr/>
          <p:nvPr/>
        </p:nvSpPr>
        <p:spPr>
          <a:xfrm>
            <a:off x="638700" y="1582225"/>
            <a:ext cx="3831600" cy="3238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54" name="Google Shape;1254;p91"/>
          <p:cNvSpPr txBox="1"/>
          <p:nvPr>
            <p:ph idx="1" type="body"/>
          </p:nvPr>
        </p:nvSpPr>
        <p:spPr>
          <a:xfrm>
            <a:off x="324000" y="6831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3) </a:t>
            </a:r>
            <a:r>
              <a:rPr lang="en-GB"/>
              <a:t>Lucas has made an error.</a:t>
            </a:r>
            <a:endParaRPr/>
          </a:p>
          <a:p>
            <a:pPr indent="0" lvl="0" marL="0" rtl="0" algn="l">
              <a:spcBef>
                <a:spcPts val="1000"/>
              </a:spcBef>
              <a:spcAft>
                <a:spcPts val="1000"/>
              </a:spcAft>
              <a:buNone/>
            </a:pPr>
            <a:r>
              <a:rPr lang="en-GB"/>
              <a:t>Find the error and correctly complete the calculation.</a:t>
            </a:r>
            <a:endParaRPr/>
          </a:p>
        </p:txBody>
      </p:sp>
      <p:sp>
        <p:nvSpPr>
          <p:cNvPr id="1255" name="Google Shape;1255;p9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Powers and roots of fractions</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pic>
        <p:nvPicPr>
          <p:cNvPr descr="&lt;math xmlns=&quot;http://www.w3.org/1998/Math/MathML&quot; display=&quot;block&quot; data-is-equatio=&quot;1&quot; data-latex=&quot;\begin{array}{l}\frac{2}{3}+\sqrt{6\frac{1}{4}}\times\frac{3}{5}\\&amp;#13;&amp;#10;\frac{2}{3}+\sqrt{6}+\ \frac{1}{2}\times\frac{3}{5}\\&amp;#13;&amp;#10;\frac{2}{3}+\sqrt{6}+\frac{3}{10}\\&amp;#13;&amp;#10;\sqrt{6}+\frac{2}{3}+\frac{3}{10}=\\&amp;#13;&amp;#10;\sqrt{6}+\frac{20}{30}+\frac{9}{30}=\sqrt{6}\ \frac{29}{30}\end{array}&quot;&gt;&lt;mtable columnalign=&quot;left&quot; columnspacing=&quot;1em&quot; rowspacing=&quot;4pt&quot;&gt;&lt;mtr&gt;&lt;mtd&gt;&lt;mfrac&gt;&lt;mn&gt;2&lt;/mn&gt;&lt;mn&gt;3&lt;/mn&gt;&lt;/mfrac&gt;&lt;mo&gt;+&lt;/mo&gt;&lt;msqrt&gt;&lt;mn&gt;6&lt;/mn&gt;&lt;mfrac&gt;&lt;mn&gt;1&lt;/mn&gt;&lt;mn&gt;4&lt;/mn&gt;&lt;/mfrac&gt;&lt;/msqrt&gt;&lt;mo&gt;×&lt;/mo&gt;&lt;mfrac&gt;&lt;mn&gt;3&lt;/mn&gt;&lt;mn&gt;5&lt;/mn&gt;&lt;/mfrac&gt;&lt;/mtd&gt;&lt;/mtr&gt;&lt;mtr&gt;&lt;mtd&gt;&lt;mfrac&gt;&lt;mn&gt;2&lt;/mn&gt;&lt;mn&gt;3&lt;/mn&gt;&lt;/mfrac&gt;&lt;mo&gt;+&lt;/mo&gt;&lt;msqrt&gt;&lt;mn&gt;6&lt;/mn&gt;&lt;/msqrt&gt;&lt;mo&gt;+&lt;/mo&gt;&lt;mtext&gt;&lt;/mtext&gt;&lt;mfrac&gt;&lt;mn&gt;1&lt;/mn&gt;&lt;mn&gt;2&lt;/mn&gt;&lt;/mfrac&gt;&lt;mo&gt;×&lt;/mo&gt;&lt;mfrac&gt;&lt;mn&gt;3&lt;/mn&gt;&lt;mn&gt;5&lt;/mn&gt;&lt;/mfrac&gt;&lt;/mtd&gt;&lt;/mtr&gt;&lt;mtr&gt;&lt;mtd&gt;&lt;mfrac&gt;&lt;mn&gt;2&lt;/mn&gt;&lt;mn&gt;3&lt;/mn&gt;&lt;/mfrac&gt;&lt;mo&gt;+&lt;/mo&gt;&lt;msqrt&gt;&lt;mn&gt;6&lt;/mn&gt;&lt;/msqrt&gt;&lt;mo&gt;+&lt;/mo&gt;&lt;mfrac&gt;&lt;mn&gt;3&lt;/mn&gt;&lt;mn&gt;10&lt;/mn&gt;&lt;/mfrac&gt;&lt;/mtd&gt;&lt;/mtr&gt;&lt;mtr&gt;&lt;mtd&gt;&lt;msqrt&gt;&lt;mn&gt;6&lt;/mn&gt;&lt;/msqrt&gt;&lt;mo&gt;+&lt;/mo&gt;&lt;mfrac&gt;&lt;mn&gt;2&lt;/mn&gt;&lt;mn&gt;3&lt;/mn&gt;&lt;/mfrac&gt;&lt;mo&gt;+&lt;/mo&gt;&lt;mfrac&gt;&lt;mn&gt;3&lt;/mn&gt;&lt;mn&gt;10&lt;/mn&gt;&lt;/mfrac&gt;&lt;mo&gt;=&lt;/mo&gt;&lt;/mtd&gt;&lt;/mtr&gt;&lt;mtr&gt;&lt;mtd&gt;&lt;msqrt&gt;&lt;mn&gt;6&lt;/mn&gt;&lt;/msqrt&gt;&lt;mo&gt;+&lt;/mo&gt;&lt;mfrac&gt;&lt;mn&gt;20&lt;/mn&gt;&lt;mn&gt;30&lt;/mn&gt;&lt;/mfrac&gt;&lt;mo&gt;+&lt;/mo&gt;&lt;mfrac&gt;&lt;mn&gt;9&lt;/mn&gt;&lt;mn&gt;30&lt;/mn&gt;&lt;/mfrac&gt;&lt;mo&gt;=&lt;/mo&gt;&lt;msqrt&gt;&lt;mn&gt;6&lt;/mn&gt;&lt;/msqrt&gt;&lt;mtext&gt;&lt;/mtext&gt;&lt;mfrac&gt;&lt;mn&gt;29&lt;/mn&gt;&lt;mn&gt;30&lt;/mn&gt;&lt;/mfrac&gt;&lt;/mtd&gt;&lt;/mtr&gt;&lt;/mtable&gt;&lt;/math&gt;" id="1256" name="Google Shape;1256;p91" title="5 lines Line 1: two thirds plus the square root of 6 and one fourth times three fifths Line 2: two thirds plus the square root of 6 plus one half times three fifths Line 3: two thirds plus the square root of 6 plus three tenths Line 4: the square root of 6 plus two thirds plus three tenths equals Line 5: the square root of 6 plus 20 over 30 plus 9 over 30 equals the square root of 6 29 over 30"/>
          <p:cNvPicPr preferRelativeResize="0"/>
          <p:nvPr/>
        </p:nvPicPr>
        <p:blipFill>
          <a:blip r:embed="rId3">
            <a:alphaModFix/>
          </a:blip>
          <a:stretch>
            <a:fillRect/>
          </a:stretch>
        </p:blipFill>
        <p:spPr>
          <a:xfrm>
            <a:off x="964175" y="1716475"/>
            <a:ext cx="3070940" cy="2969701"/>
          </a:xfrm>
          <a:prstGeom prst="rect">
            <a:avLst/>
          </a:prstGeom>
          <a:noFill/>
          <a:ln>
            <a:noFill/>
          </a:ln>
        </p:spPr>
      </p:pic>
      <p:grpSp>
        <p:nvGrpSpPr>
          <p:cNvPr id="1257" name="Google Shape;1257;p91"/>
          <p:cNvGrpSpPr/>
          <p:nvPr/>
        </p:nvGrpSpPr>
        <p:grpSpPr>
          <a:xfrm>
            <a:off x="1363825" y="1620000"/>
            <a:ext cx="5801525" cy="1888800"/>
            <a:chOff x="1363825" y="1620000"/>
            <a:chExt cx="5801525" cy="1888800"/>
          </a:xfrm>
        </p:grpSpPr>
        <p:sp>
          <p:nvSpPr>
            <p:cNvPr id="1258" name="Google Shape;1258;p91"/>
            <p:cNvSpPr/>
            <p:nvPr/>
          </p:nvSpPr>
          <p:spPr>
            <a:xfrm>
              <a:off x="1363825" y="1620000"/>
              <a:ext cx="1028400" cy="1374600"/>
            </a:xfrm>
            <a:prstGeom prst="ellips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59" name="Google Shape;1259;p91"/>
            <p:cNvCxnSpPr>
              <a:stCxn id="1258" idx="6"/>
            </p:cNvCxnSpPr>
            <p:nvPr/>
          </p:nvCxnSpPr>
          <p:spPr>
            <a:xfrm>
              <a:off x="2392225" y="2307300"/>
              <a:ext cx="2727600" cy="292200"/>
            </a:xfrm>
            <a:prstGeom prst="straightConnector1">
              <a:avLst/>
            </a:prstGeom>
            <a:noFill/>
            <a:ln cap="flat" cmpd="sng" w="28575">
              <a:solidFill>
                <a:schemeClr val="dk1"/>
              </a:solidFill>
              <a:prstDash val="solid"/>
              <a:round/>
              <a:headEnd len="med" w="med" type="none"/>
              <a:tailEnd len="med" w="med" type="none"/>
            </a:ln>
          </p:spPr>
        </p:cxnSp>
        <p:sp>
          <p:nvSpPr>
            <p:cNvPr id="1260" name="Google Shape;1260;p91"/>
            <p:cNvSpPr txBox="1"/>
            <p:nvPr/>
          </p:nvSpPr>
          <p:spPr>
            <a:xfrm>
              <a:off x="5227950" y="2004300"/>
              <a:ext cx="1937400" cy="15045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Lucas needed to convert the mixed number into an improper fraction first.</a:t>
              </a:r>
              <a:endParaRPr sz="2200">
                <a:solidFill>
                  <a:schemeClr val="dk1"/>
                </a:solidFill>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4" name="Shape 1264"/>
        <p:cNvGrpSpPr/>
        <p:nvPr/>
      </p:nvGrpSpPr>
      <p:grpSpPr>
        <a:xfrm>
          <a:off x="0" y="0"/>
          <a:ext cx="0" cy="0"/>
          <a:chOff x="0" y="0"/>
          <a:chExt cx="0" cy="0"/>
        </a:xfrm>
      </p:grpSpPr>
      <p:sp>
        <p:nvSpPr>
          <p:cNvPr id="1265" name="Google Shape;1265;p92"/>
          <p:cNvSpPr/>
          <p:nvPr/>
        </p:nvSpPr>
        <p:spPr>
          <a:xfrm>
            <a:off x="638700" y="1582225"/>
            <a:ext cx="3831600" cy="3238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66" name="Google Shape;1266;p9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Lucas has made an error.</a:t>
            </a:r>
            <a:endParaRPr/>
          </a:p>
          <a:p>
            <a:pPr indent="0" lvl="0" marL="0" rtl="0" algn="l">
              <a:spcBef>
                <a:spcPts val="1000"/>
              </a:spcBef>
              <a:spcAft>
                <a:spcPts val="1000"/>
              </a:spcAft>
              <a:buNone/>
            </a:pPr>
            <a:r>
              <a:rPr lang="en-GB"/>
              <a:t>Find the error and correctly complete the calculation.</a:t>
            </a:r>
            <a:endParaRPr/>
          </a:p>
        </p:txBody>
      </p:sp>
      <p:sp>
        <p:nvSpPr>
          <p:cNvPr id="1267" name="Google Shape;1267;p9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Powers and roots of fractions</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pic>
        <p:nvPicPr>
          <p:cNvPr descr="&lt;math xmlns=&quot;http://www.w3.org/1998/Math/MathML&quot; display=&quot;block&quot; data-is-equatio=&quot;1&quot; data-latex=&quot;\begin{array}{l}\frac{2}{3}+\sqrt{6\frac{1}{4}}\times\frac{3}{5}\\&amp;#13;&amp;#10;\frac{2}{3}+\sqrt{6}+\ \frac{1}{2}\times\frac{3}{5}\\&amp;#13;&amp;#10;\frac{2}{3}+\sqrt{6}+\frac{3}{10}\\&amp;#13;&amp;#10;\sqrt{6}+\frac{2}{3}+\frac{3}{10}=\\&amp;#13;&amp;#10;\sqrt{6}+\frac{20}{30}+\frac{9}{30}=\sqrt{6}\ \frac{29}{30}\end{array}&quot;&gt;&lt;mtable columnalign=&quot;left&quot; columnspacing=&quot;1em&quot; rowspacing=&quot;4pt&quot;&gt;&lt;mtr&gt;&lt;mtd&gt;&lt;mfrac&gt;&lt;mn&gt;2&lt;/mn&gt;&lt;mn&gt;3&lt;/mn&gt;&lt;/mfrac&gt;&lt;mo&gt;+&lt;/mo&gt;&lt;msqrt&gt;&lt;mn&gt;6&lt;/mn&gt;&lt;mfrac&gt;&lt;mn&gt;1&lt;/mn&gt;&lt;mn&gt;4&lt;/mn&gt;&lt;/mfrac&gt;&lt;/msqrt&gt;&lt;mo&gt;×&lt;/mo&gt;&lt;mfrac&gt;&lt;mn&gt;3&lt;/mn&gt;&lt;mn&gt;5&lt;/mn&gt;&lt;/mfrac&gt;&lt;/mtd&gt;&lt;/mtr&gt;&lt;mtr&gt;&lt;mtd&gt;&lt;mfrac&gt;&lt;mn&gt;2&lt;/mn&gt;&lt;mn&gt;3&lt;/mn&gt;&lt;/mfrac&gt;&lt;mo&gt;+&lt;/mo&gt;&lt;msqrt&gt;&lt;mn&gt;6&lt;/mn&gt;&lt;/msqrt&gt;&lt;mo&gt;+&lt;/mo&gt;&lt;mtext&gt;&lt;/mtext&gt;&lt;mfrac&gt;&lt;mn&gt;1&lt;/mn&gt;&lt;mn&gt;2&lt;/mn&gt;&lt;/mfrac&gt;&lt;mo&gt;×&lt;/mo&gt;&lt;mfrac&gt;&lt;mn&gt;3&lt;/mn&gt;&lt;mn&gt;5&lt;/mn&gt;&lt;/mfrac&gt;&lt;/mtd&gt;&lt;/mtr&gt;&lt;mtr&gt;&lt;mtd&gt;&lt;mfrac&gt;&lt;mn&gt;2&lt;/mn&gt;&lt;mn&gt;3&lt;/mn&gt;&lt;/mfrac&gt;&lt;mo&gt;+&lt;/mo&gt;&lt;msqrt&gt;&lt;mn&gt;6&lt;/mn&gt;&lt;/msqrt&gt;&lt;mo&gt;+&lt;/mo&gt;&lt;mfrac&gt;&lt;mn&gt;3&lt;/mn&gt;&lt;mn&gt;10&lt;/mn&gt;&lt;/mfrac&gt;&lt;/mtd&gt;&lt;/mtr&gt;&lt;mtr&gt;&lt;mtd&gt;&lt;msqrt&gt;&lt;mn&gt;6&lt;/mn&gt;&lt;/msqrt&gt;&lt;mo&gt;+&lt;/mo&gt;&lt;mfrac&gt;&lt;mn&gt;2&lt;/mn&gt;&lt;mn&gt;3&lt;/mn&gt;&lt;/mfrac&gt;&lt;mo&gt;+&lt;/mo&gt;&lt;mfrac&gt;&lt;mn&gt;3&lt;/mn&gt;&lt;mn&gt;10&lt;/mn&gt;&lt;/mfrac&gt;&lt;mo&gt;=&lt;/mo&gt;&lt;/mtd&gt;&lt;/mtr&gt;&lt;mtr&gt;&lt;mtd&gt;&lt;msqrt&gt;&lt;mn&gt;6&lt;/mn&gt;&lt;/msqrt&gt;&lt;mo&gt;+&lt;/mo&gt;&lt;mfrac&gt;&lt;mn&gt;20&lt;/mn&gt;&lt;mn&gt;30&lt;/mn&gt;&lt;/mfrac&gt;&lt;mo&gt;+&lt;/mo&gt;&lt;mfrac&gt;&lt;mn&gt;9&lt;/mn&gt;&lt;mn&gt;30&lt;/mn&gt;&lt;/mfrac&gt;&lt;mo&gt;=&lt;/mo&gt;&lt;msqrt&gt;&lt;mn&gt;6&lt;/mn&gt;&lt;/msqrt&gt;&lt;mtext&gt;&lt;/mtext&gt;&lt;mfrac&gt;&lt;mn&gt;29&lt;/mn&gt;&lt;mn&gt;30&lt;/mn&gt;&lt;/mfrac&gt;&lt;/mtd&gt;&lt;/mtr&gt;&lt;/mtable&gt;&lt;/math&gt;" id="1268" name="Google Shape;1268;p92" title="5 lines Line 1: two thirds plus the square root of 6 and one fourth times three fifths Line 2: two thirds plus the square root of 6 plus one half times three fifths Line 3: two thirds plus the square root of 6 plus three tenths Line 4: the square root of 6 plus two thirds plus three tenths equals Line 5: the square root of 6 plus 20 over 30 plus 9 over 30 equals the square root of 6 29 over 30"/>
          <p:cNvPicPr preferRelativeResize="0"/>
          <p:nvPr/>
        </p:nvPicPr>
        <p:blipFill>
          <a:blip r:embed="rId3">
            <a:alphaModFix/>
          </a:blip>
          <a:stretch>
            <a:fillRect/>
          </a:stretch>
        </p:blipFill>
        <p:spPr>
          <a:xfrm>
            <a:off x="964175" y="1755150"/>
            <a:ext cx="3070940" cy="2969701"/>
          </a:xfrm>
          <a:prstGeom prst="rect">
            <a:avLst/>
          </a:prstGeom>
          <a:noFill/>
          <a:ln>
            <a:noFill/>
          </a:ln>
        </p:spPr>
      </p:pic>
      <p:pic>
        <p:nvPicPr>
          <p:cNvPr descr="&lt;math xmlns=&quot;http://www.w3.org/1998/Math/MathML&quot; display=&quot;block&quot; data-is-equatio=&quot;1&quot; data-latex=&quot;\begin{array}{l}\frac{2}{3}+\sqrt{6\frac{1}{4}}\times\frac{3}{5}\\&amp;#13;&amp;#10;\frac{2}{3}+\sqrt{\frac{25}{4}}\times\frac{3}{5}\\&amp;#13;&amp;#10;\frac{2}{3}+\frac{5}{2}\times\frac{3}{5}\\&amp;#13;&amp;#10;\frac{2}{3}+\frac{15}{10}=\\&amp;#13;&amp;#10;\frac{20}{30}+\frac{45}{30}=\frac{65}{30}=\frac{13}{6}\end{array}&quot;&gt;&lt;mtable columnalign=&quot;left&quot; columnspacing=&quot;1em&quot; rowspacing=&quot;4pt&quot;&gt;&lt;mtr&gt;&lt;mtd&gt;&lt;mfrac&gt;&lt;mn&gt;2&lt;/mn&gt;&lt;mn&gt;3&lt;/mn&gt;&lt;/mfrac&gt;&lt;mo&gt;+&lt;/mo&gt;&lt;msqrt&gt;&lt;mn&gt;6&lt;/mn&gt;&lt;mfrac&gt;&lt;mn&gt;1&lt;/mn&gt;&lt;mn&gt;4&lt;/mn&gt;&lt;/mfrac&gt;&lt;/msqrt&gt;&lt;mo&gt;×&lt;/mo&gt;&lt;mfrac&gt;&lt;mn&gt;3&lt;/mn&gt;&lt;mn&gt;5&lt;/mn&gt;&lt;/mfrac&gt;&lt;/mtd&gt;&lt;/mtr&gt;&lt;mtr&gt;&lt;mtd&gt;&lt;mfrac&gt;&lt;mn&gt;2&lt;/mn&gt;&lt;mn&gt;3&lt;/mn&gt;&lt;/mfrac&gt;&lt;mo&gt;+&lt;/mo&gt;&lt;msqrt&gt;&lt;mfrac&gt;&lt;mn&gt;25&lt;/mn&gt;&lt;mn&gt;4&lt;/mn&gt;&lt;/mfrac&gt;&lt;/msqrt&gt;&lt;mo&gt;×&lt;/mo&gt;&lt;mfrac&gt;&lt;mn&gt;3&lt;/mn&gt;&lt;mn&gt;5&lt;/mn&gt;&lt;/mfrac&gt;&lt;/mtd&gt;&lt;/mtr&gt;&lt;mtr&gt;&lt;mtd&gt;&lt;mfrac&gt;&lt;mn&gt;2&lt;/mn&gt;&lt;mn&gt;3&lt;/mn&gt;&lt;/mfrac&gt;&lt;mo&gt;+&lt;/mo&gt;&lt;mfrac&gt;&lt;mn&gt;5&lt;/mn&gt;&lt;mn&gt;2&lt;/mn&gt;&lt;/mfrac&gt;&lt;mo&gt;×&lt;/mo&gt;&lt;mfrac&gt;&lt;mn&gt;3&lt;/mn&gt;&lt;mn&gt;5&lt;/mn&gt;&lt;/mfrac&gt;&lt;/mtd&gt;&lt;/mtr&gt;&lt;mtr&gt;&lt;mtd&gt;&lt;mfrac&gt;&lt;mn&gt;2&lt;/mn&gt;&lt;mn&gt;3&lt;/mn&gt;&lt;/mfrac&gt;&lt;mo&gt;+&lt;/mo&gt;&lt;mfrac&gt;&lt;mn&gt;15&lt;/mn&gt;&lt;mn&gt;10&lt;/mn&gt;&lt;/mfrac&gt;&lt;mo&gt;=&lt;/mo&gt;&lt;/mtd&gt;&lt;/mtr&gt;&lt;mtr&gt;&lt;mtd&gt;&lt;mfrac&gt;&lt;mn&gt;20&lt;/mn&gt;&lt;mn&gt;30&lt;/mn&gt;&lt;/mfrac&gt;&lt;mo&gt;+&lt;/mo&gt;&lt;mfrac&gt;&lt;mn&gt;45&lt;/mn&gt;&lt;mn&gt;30&lt;/mn&gt;&lt;/mfrac&gt;&lt;mo&gt;=&lt;/mo&gt;&lt;mfrac&gt;&lt;mn&gt;65&lt;/mn&gt;&lt;mn&gt;30&lt;/mn&gt;&lt;/mfrac&gt;&lt;mo&gt;=&lt;/mo&gt;&lt;mfrac&gt;&lt;mn&gt;13&lt;/mn&gt;&lt;mn&gt;6&lt;/mn&gt;&lt;/mfrac&gt;&lt;/mtd&gt;&lt;/mtr&gt;&lt;/mtable&gt;&lt;/math&gt;" id="1269" name="Google Shape;1269;p92" title="5 lines Line 1: two thirds plus the square root of 6 and one fourth times three fifths Line 2: two thirds plus the square root of 25 over 4 times three fifths Line 3: two thirds plus five halves times three fifths Line 4: two thirds plus fifteen tenths equals Line 5: 20 over 30 plus 45 over 30 equals 65 over 30 equals thirteen sixths"/>
          <p:cNvPicPr preferRelativeResize="0"/>
          <p:nvPr/>
        </p:nvPicPr>
        <p:blipFill rotWithShape="1">
          <a:blip r:embed="rId4">
            <a:alphaModFix/>
          </a:blip>
          <a:srcRect b="77597" l="0" r="0" t="0"/>
          <a:stretch/>
        </p:blipFill>
        <p:spPr>
          <a:xfrm>
            <a:off x="5275378" y="1696200"/>
            <a:ext cx="2087253" cy="610913"/>
          </a:xfrm>
          <a:prstGeom prst="rect">
            <a:avLst/>
          </a:prstGeom>
          <a:noFill/>
          <a:ln>
            <a:noFill/>
          </a:ln>
        </p:spPr>
      </p:pic>
      <p:pic>
        <p:nvPicPr>
          <p:cNvPr descr="&lt;math xmlns=&quot;http://www.w3.org/1998/Math/MathML&quot; display=&quot;block&quot; data-is-equatio=&quot;1&quot; data-latex=&quot;\begin{array}{l}\frac{2}{3}+\sqrt{6\frac{1}{4}}\times\frac{3}{5}\\&amp;#13;&amp;#10;\frac{2}{3}+\sqrt{\frac{25}{4}}\times\frac{3}{5}\\&amp;#13;&amp;#10;\frac{2}{3}+\frac{5}{2}\times\frac{3}{5}\\&amp;#13;&amp;#10;\frac{2}{3}+\frac{15}{10}=\\&amp;#13;&amp;#10;\frac{20}{30}+\frac{45}{30}=\frac{65}{30}=\frac{13}{6}\end{array}&quot;&gt;&lt;mtable columnalign=&quot;left&quot; columnspacing=&quot;1em&quot; rowspacing=&quot;4pt&quot;&gt;&lt;mtr&gt;&lt;mtd&gt;&lt;mfrac&gt;&lt;mn&gt;2&lt;/mn&gt;&lt;mn&gt;3&lt;/mn&gt;&lt;/mfrac&gt;&lt;mo&gt;+&lt;/mo&gt;&lt;msqrt&gt;&lt;mn&gt;6&lt;/mn&gt;&lt;mfrac&gt;&lt;mn&gt;1&lt;/mn&gt;&lt;mn&gt;4&lt;/mn&gt;&lt;/mfrac&gt;&lt;/msqrt&gt;&lt;mo&gt;×&lt;/mo&gt;&lt;mfrac&gt;&lt;mn&gt;3&lt;/mn&gt;&lt;mn&gt;5&lt;/mn&gt;&lt;/mfrac&gt;&lt;/mtd&gt;&lt;/mtr&gt;&lt;mtr&gt;&lt;mtd&gt;&lt;mfrac&gt;&lt;mn&gt;2&lt;/mn&gt;&lt;mn&gt;3&lt;/mn&gt;&lt;/mfrac&gt;&lt;mo&gt;+&lt;/mo&gt;&lt;msqrt&gt;&lt;mfrac&gt;&lt;mn&gt;25&lt;/mn&gt;&lt;mn&gt;4&lt;/mn&gt;&lt;/mfrac&gt;&lt;/msqrt&gt;&lt;mo&gt;×&lt;/mo&gt;&lt;mfrac&gt;&lt;mn&gt;3&lt;/mn&gt;&lt;mn&gt;5&lt;/mn&gt;&lt;/mfrac&gt;&lt;/mtd&gt;&lt;/mtr&gt;&lt;mtr&gt;&lt;mtd&gt;&lt;mfrac&gt;&lt;mn&gt;2&lt;/mn&gt;&lt;mn&gt;3&lt;/mn&gt;&lt;/mfrac&gt;&lt;mo&gt;+&lt;/mo&gt;&lt;mfrac&gt;&lt;mn&gt;5&lt;/mn&gt;&lt;mn&gt;2&lt;/mn&gt;&lt;/mfrac&gt;&lt;mo&gt;×&lt;/mo&gt;&lt;mfrac&gt;&lt;mn&gt;3&lt;/mn&gt;&lt;mn&gt;5&lt;/mn&gt;&lt;/mfrac&gt;&lt;/mtd&gt;&lt;/mtr&gt;&lt;mtr&gt;&lt;mtd&gt;&lt;mfrac&gt;&lt;mn&gt;2&lt;/mn&gt;&lt;mn&gt;3&lt;/mn&gt;&lt;/mfrac&gt;&lt;mo&gt;+&lt;/mo&gt;&lt;mfrac&gt;&lt;mn&gt;15&lt;/mn&gt;&lt;mn&gt;10&lt;/mn&gt;&lt;/mfrac&gt;&lt;mo&gt;=&lt;/mo&gt;&lt;/mtd&gt;&lt;/mtr&gt;&lt;mtr&gt;&lt;mtd&gt;&lt;mfrac&gt;&lt;mn&gt;20&lt;/mn&gt;&lt;mn&gt;30&lt;/mn&gt;&lt;/mfrac&gt;&lt;mo&gt;+&lt;/mo&gt;&lt;mfrac&gt;&lt;mn&gt;45&lt;/mn&gt;&lt;mn&gt;30&lt;/mn&gt;&lt;/mfrac&gt;&lt;mo&gt;=&lt;/mo&gt;&lt;mfrac&gt;&lt;mn&gt;65&lt;/mn&gt;&lt;mn&gt;30&lt;/mn&gt;&lt;/mfrac&gt;&lt;mo&gt;=&lt;/mo&gt;&lt;mfrac&gt;&lt;mn&gt;13&lt;/mn&gt;&lt;mn&gt;6&lt;/mn&gt;&lt;/mfrac&gt;&lt;/mtd&gt;&lt;/mtr&gt;&lt;/mtable&gt;&lt;/math&gt;" id="1270" name="Google Shape;1270;p92" title="5 lines Line 1: two thirds plus the square root of 6 and one fourth times three fifths Line 2: two thirds plus the square root of 25 over 4 times three fifths Line 3: two thirds plus five halves times three fifths Line 4: two thirds plus fifteen tenths equals Line 5: 20 over 30 plus 45 over 30 equals 65 over 30 equals thirteen sixths"/>
          <p:cNvPicPr preferRelativeResize="0"/>
          <p:nvPr/>
        </p:nvPicPr>
        <p:blipFill rotWithShape="1">
          <a:blip r:embed="rId4">
            <a:alphaModFix/>
          </a:blip>
          <a:srcRect b="54272" l="0" r="0" t="20214"/>
          <a:stretch/>
        </p:blipFill>
        <p:spPr>
          <a:xfrm>
            <a:off x="5275378" y="2270073"/>
            <a:ext cx="2087253" cy="695736"/>
          </a:xfrm>
          <a:prstGeom prst="rect">
            <a:avLst/>
          </a:prstGeom>
          <a:noFill/>
          <a:ln>
            <a:noFill/>
          </a:ln>
        </p:spPr>
      </p:pic>
      <p:pic>
        <p:nvPicPr>
          <p:cNvPr descr="&lt;math xmlns=&quot;http://www.w3.org/1998/Math/MathML&quot; display=&quot;block&quot; data-is-equatio=&quot;1&quot; data-latex=&quot;\begin{array}{l}\frac{2}{3}+\sqrt{6\frac{1}{4}}\times\frac{3}{5}\\&amp;#13;&amp;#10;\frac{2}{3}+\sqrt{\frac{25}{4}}\times\frac{3}{5}\\&amp;#13;&amp;#10;\frac{2}{3}+\frac{5}{2}\times\frac{3}{5}\\&amp;#13;&amp;#10;\frac{2}{3}+\frac{15}{10}=\\&amp;#13;&amp;#10;\frac{20}{30}+\frac{45}{30}=\frac{65}{30}=\frac{13}{6}\end{array}&quot;&gt;&lt;mtable columnalign=&quot;left&quot; columnspacing=&quot;1em&quot; rowspacing=&quot;4pt&quot;&gt;&lt;mtr&gt;&lt;mtd&gt;&lt;mfrac&gt;&lt;mn&gt;2&lt;/mn&gt;&lt;mn&gt;3&lt;/mn&gt;&lt;/mfrac&gt;&lt;mo&gt;+&lt;/mo&gt;&lt;msqrt&gt;&lt;mn&gt;6&lt;/mn&gt;&lt;mfrac&gt;&lt;mn&gt;1&lt;/mn&gt;&lt;mn&gt;4&lt;/mn&gt;&lt;/mfrac&gt;&lt;/msqrt&gt;&lt;mo&gt;×&lt;/mo&gt;&lt;mfrac&gt;&lt;mn&gt;3&lt;/mn&gt;&lt;mn&gt;5&lt;/mn&gt;&lt;/mfrac&gt;&lt;/mtd&gt;&lt;/mtr&gt;&lt;mtr&gt;&lt;mtd&gt;&lt;mfrac&gt;&lt;mn&gt;2&lt;/mn&gt;&lt;mn&gt;3&lt;/mn&gt;&lt;/mfrac&gt;&lt;mo&gt;+&lt;/mo&gt;&lt;msqrt&gt;&lt;mfrac&gt;&lt;mn&gt;25&lt;/mn&gt;&lt;mn&gt;4&lt;/mn&gt;&lt;/mfrac&gt;&lt;/msqrt&gt;&lt;mo&gt;×&lt;/mo&gt;&lt;mfrac&gt;&lt;mn&gt;3&lt;/mn&gt;&lt;mn&gt;5&lt;/mn&gt;&lt;/mfrac&gt;&lt;/mtd&gt;&lt;/mtr&gt;&lt;mtr&gt;&lt;mtd&gt;&lt;mfrac&gt;&lt;mn&gt;2&lt;/mn&gt;&lt;mn&gt;3&lt;/mn&gt;&lt;/mfrac&gt;&lt;mo&gt;+&lt;/mo&gt;&lt;mfrac&gt;&lt;mn&gt;5&lt;/mn&gt;&lt;mn&gt;2&lt;/mn&gt;&lt;/mfrac&gt;&lt;mo&gt;×&lt;/mo&gt;&lt;mfrac&gt;&lt;mn&gt;3&lt;/mn&gt;&lt;mn&gt;5&lt;/mn&gt;&lt;/mfrac&gt;&lt;/mtd&gt;&lt;/mtr&gt;&lt;mtr&gt;&lt;mtd&gt;&lt;mfrac&gt;&lt;mn&gt;2&lt;/mn&gt;&lt;mn&gt;3&lt;/mn&gt;&lt;/mfrac&gt;&lt;mo&gt;+&lt;/mo&gt;&lt;mfrac&gt;&lt;mn&gt;15&lt;/mn&gt;&lt;mn&gt;10&lt;/mn&gt;&lt;/mfrac&gt;&lt;mo&gt;=&lt;/mo&gt;&lt;/mtd&gt;&lt;/mtr&gt;&lt;mtr&gt;&lt;mtd&gt;&lt;mfrac&gt;&lt;mn&gt;20&lt;/mn&gt;&lt;mn&gt;30&lt;/mn&gt;&lt;/mfrac&gt;&lt;mo&gt;+&lt;/mo&gt;&lt;mfrac&gt;&lt;mn&gt;45&lt;/mn&gt;&lt;mn&gt;30&lt;/mn&gt;&lt;/mfrac&gt;&lt;mo&gt;=&lt;/mo&gt;&lt;mfrac&gt;&lt;mn&gt;65&lt;/mn&gt;&lt;mn&gt;30&lt;/mn&gt;&lt;/mfrac&gt;&lt;mo&gt;=&lt;/mo&gt;&lt;mfrac&gt;&lt;mn&gt;13&lt;/mn&gt;&lt;mn&gt;6&lt;/mn&gt;&lt;/mfrac&gt;&lt;/mtd&gt;&lt;/mtr&gt;&lt;/mtable&gt;&lt;/math&gt;" id="1271" name="Google Shape;1271;p92" title="5 lines Line 1: two thirds plus the square root of 6 and one fourth times three fifths Line 2: two thirds plus the square root of 25 over 4 times three fifths Line 3: two thirds plus five halves times three fifths Line 4: two thirds plus fifteen tenths equals Line 5: 20 over 30 plus 45 over 30 equals 65 over 30 equals thirteen sixths"/>
          <p:cNvPicPr preferRelativeResize="0"/>
          <p:nvPr/>
        </p:nvPicPr>
        <p:blipFill rotWithShape="1">
          <a:blip r:embed="rId4">
            <a:alphaModFix/>
          </a:blip>
          <a:srcRect b="35032" l="-2720" r="2719" t="44302"/>
          <a:stretch/>
        </p:blipFill>
        <p:spPr>
          <a:xfrm>
            <a:off x="5275378" y="3046119"/>
            <a:ext cx="2087253" cy="563531"/>
          </a:xfrm>
          <a:prstGeom prst="rect">
            <a:avLst/>
          </a:prstGeom>
          <a:noFill/>
          <a:ln>
            <a:noFill/>
          </a:ln>
        </p:spPr>
      </p:pic>
      <p:pic>
        <p:nvPicPr>
          <p:cNvPr descr="&lt;math xmlns=&quot;http://www.w3.org/1998/Math/MathML&quot; display=&quot;block&quot; data-is-equatio=&quot;1&quot; data-latex=&quot;\begin{array}{l}\frac{2}{3}+\sqrt{6\frac{1}{4}}\times\frac{3}{5}\\&amp;#13;&amp;#10;\frac{2}{3}+\sqrt{\frac{25}{4}}\times\frac{3}{5}\\&amp;#13;&amp;#10;\frac{2}{3}+\frac{5}{2}\times\frac{3}{5}\\&amp;#13;&amp;#10;\frac{2}{3}+\frac{15}{10}=\\&amp;#13;&amp;#10;\frac{20}{30}+\frac{45}{30}=\frac{65}{30}=\frac{13}{6}\end{array}&quot;&gt;&lt;mtable columnalign=&quot;left&quot; columnspacing=&quot;1em&quot; rowspacing=&quot;4pt&quot;&gt;&lt;mtr&gt;&lt;mtd&gt;&lt;mfrac&gt;&lt;mn&gt;2&lt;/mn&gt;&lt;mn&gt;3&lt;/mn&gt;&lt;/mfrac&gt;&lt;mo&gt;+&lt;/mo&gt;&lt;msqrt&gt;&lt;mn&gt;6&lt;/mn&gt;&lt;mfrac&gt;&lt;mn&gt;1&lt;/mn&gt;&lt;mn&gt;4&lt;/mn&gt;&lt;/mfrac&gt;&lt;/msqrt&gt;&lt;mo&gt;×&lt;/mo&gt;&lt;mfrac&gt;&lt;mn&gt;3&lt;/mn&gt;&lt;mn&gt;5&lt;/mn&gt;&lt;/mfrac&gt;&lt;/mtd&gt;&lt;/mtr&gt;&lt;mtr&gt;&lt;mtd&gt;&lt;mfrac&gt;&lt;mn&gt;2&lt;/mn&gt;&lt;mn&gt;3&lt;/mn&gt;&lt;/mfrac&gt;&lt;mo&gt;+&lt;/mo&gt;&lt;msqrt&gt;&lt;mfrac&gt;&lt;mn&gt;25&lt;/mn&gt;&lt;mn&gt;4&lt;/mn&gt;&lt;/mfrac&gt;&lt;/msqrt&gt;&lt;mo&gt;×&lt;/mo&gt;&lt;mfrac&gt;&lt;mn&gt;3&lt;/mn&gt;&lt;mn&gt;5&lt;/mn&gt;&lt;/mfrac&gt;&lt;/mtd&gt;&lt;/mtr&gt;&lt;mtr&gt;&lt;mtd&gt;&lt;mfrac&gt;&lt;mn&gt;2&lt;/mn&gt;&lt;mn&gt;3&lt;/mn&gt;&lt;/mfrac&gt;&lt;mo&gt;+&lt;/mo&gt;&lt;mfrac&gt;&lt;mn&gt;5&lt;/mn&gt;&lt;mn&gt;2&lt;/mn&gt;&lt;/mfrac&gt;&lt;mo&gt;×&lt;/mo&gt;&lt;mfrac&gt;&lt;mn&gt;3&lt;/mn&gt;&lt;mn&gt;5&lt;/mn&gt;&lt;/mfrac&gt;&lt;/mtd&gt;&lt;/mtr&gt;&lt;mtr&gt;&lt;mtd&gt;&lt;mfrac&gt;&lt;mn&gt;2&lt;/mn&gt;&lt;mn&gt;3&lt;/mn&gt;&lt;/mfrac&gt;&lt;mo&gt;+&lt;/mo&gt;&lt;mfrac&gt;&lt;mn&gt;15&lt;/mn&gt;&lt;mn&gt;10&lt;/mn&gt;&lt;/mfrac&gt;&lt;mo&gt;=&lt;/mo&gt;&lt;/mtd&gt;&lt;/mtr&gt;&lt;mtr&gt;&lt;mtd&gt;&lt;mfrac&gt;&lt;mn&gt;20&lt;/mn&gt;&lt;mn&gt;30&lt;/mn&gt;&lt;/mfrac&gt;&lt;mo&gt;+&lt;/mo&gt;&lt;mfrac&gt;&lt;mn&gt;45&lt;/mn&gt;&lt;mn&gt;30&lt;/mn&gt;&lt;/mfrac&gt;&lt;mo&gt;=&lt;/mo&gt;&lt;mfrac&gt;&lt;mn&gt;65&lt;/mn&gt;&lt;mn&gt;30&lt;/mn&gt;&lt;/mfrac&gt;&lt;mo&gt;=&lt;/mo&gt;&lt;mfrac&gt;&lt;mn&gt;13&lt;/mn&gt;&lt;mn&gt;6&lt;/mn&gt;&lt;/mfrac&gt;&lt;/mtd&gt;&lt;/mtr&gt;&lt;/mtable&gt;&lt;/math&gt;" id="1272" name="Google Shape;1272;p92" title="5 lines Line 1: two thirds plus the square root of 6 and one fourth times three fifths Line 2: two thirds plus the square root of 25 over 4 times three fifths Line 3: two thirds plus five halves times three fifths Line 4: two thirds plus fifteen tenths equals Line 5: 20 over 30 plus 45 over 30 equals 65 over 30 equals thirteen sixths"/>
          <p:cNvPicPr preferRelativeResize="0"/>
          <p:nvPr/>
        </p:nvPicPr>
        <p:blipFill rotWithShape="1">
          <a:blip r:embed="rId4">
            <a:alphaModFix/>
          </a:blip>
          <a:srcRect b="16443" l="-4529" r="4530" t="62891"/>
          <a:stretch/>
        </p:blipFill>
        <p:spPr>
          <a:xfrm>
            <a:off x="5275378" y="3683018"/>
            <a:ext cx="2087253" cy="563531"/>
          </a:xfrm>
          <a:prstGeom prst="rect">
            <a:avLst/>
          </a:prstGeom>
          <a:noFill/>
          <a:ln>
            <a:noFill/>
          </a:ln>
        </p:spPr>
      </p:pic>
      <p:pic>
        <p:nvPicPr>
          <p:cNvPr descr="&lt;math xmlns=&quot;http://www.w3.org/1998/Math/MathML&quot; display=&quot;block&quot; data-is-equatio=&quot;1&quot; data-latex=&quot;\begin{array}{l}\frac{2}{3}+\sqrt{6\frac{1}{4}}\times\frac{3}{5}\\&amp;#13;&amp;#10;\frac{2}{3}+\sqrt{\frac{25}{4}}\times\frac{3}{5}\\&amp;#13;&amp;#10;\frac{2}{3}+\frac{5}{2}\times\frac{3}{5}\\&amp;#13;&amp;#10;\frac{2}{3}+\frac{15}{10}=\\&amp;#13;&amp;#10;\frac{20}{30}+\frac{45}{30}=\frac{65}{30}=\frac{13}{6}\end{array}&quot;&gt;&lt;mtable columnalign=&quot;left&quot; columnspacing=&quot;1em&quot; rowspacing=&quot;4pt&quot;&gt;&lt;mtr&gt;&lt;mtd&gt;&lt;mfrac&gt;&lt;mn&gt;2&lt;/mn&gt;&lt;mn&gt;3&lt;/mn&gt;&lt;/mfrac&gt;&lt;mo&gt;+&lt;/mo&gt;&lt;msqrt&gt;&lt;mn&gt;6&lt;/mn&gt;&lt;mfrac&gt;&lt;mn&gt;1&lt;/mn&gt;&lt;mn&gt;4&lt;/mn&gt;&lt;/mfrac&gt;&lt;/msqrt&gt;&lt;mo&gt;×&lt;/mo&gt;&lt;mfrac&gt;&lt;mn&gt;3&lt;/mn&gt;&lt;mn&gt;5&lt;/mn&gt;&lt;/mfrac&gt;&lt;/mtd&gt;&lt;/mtr&gt;&lt;mtr&gt;&lt;mtd&gt;&lt;mfrac&gt;&lt;mn&gt;2&lt;/mn&gt;&lt;mn&gt;3&lt;/mn&gt;&lt;/mfrac&gt;&lt;mo&gt;+&lt;/mo&gt;&lt;msqrt&gt;&lt;mfrac&gt;&lt;mn&gt;25&lt;/mn&gt;&lt;mn&gt;4&lt;/mn&gt;&lt;/mfrac&gt;&lt;/msqrt&gt;&lt;mo&gt;×&lt;/mo&gt;&lt;mfrac&gt;&lt;mn&gt;3&lt;/mn&gt;&lt;mn&gt;5&lt;/mn&gt;&lt;/mfrac&gt;&lt;/mtd&gt;&lt;/mtr&gt;&lt;mtr&gt;&lt;mtd&gt;&lt;mfrac&gt;&lt;mn&gt;2&lt;/mn&gt;&lt;mn&gt;3&lt;/mn&gt;&lt;/mfrac&gt;&lt;mo&gt;+&lt;/mo&gt;&lt;mfrac&gt;&lt;mn&gt;5&lt;/mn&gt;&lt;mn&gt;2&lt;/mn&gt;&lt;/mfrac&gt;&lt;mo&gt;×&lt;/mo&gt;&lt;mfrac&gt;&lt;mn&gt;3&lt;/mn&gt;&lt;mn&gt;5&lt;/mn&gt;&lt;/mfrac&gt;&lt;/mtd&gt;&lt;/mtr&gt;&lt;mtr&gt;&lt;mtd&gt;&lt;mfrac&gt;&lt;mn&gt;2&lt;/mn&gt;&lt;mn&gt;3&lt;/mn&gt;&lt;/mfrac&gt;&lt;mo&gt;+&lt;/mo&gt;&lt;mfrac&gt;&lt;mn&gt;15&lt;/mn&gt;&lt;mn&gt;10&lt;/mn&gt;&lt;/mfrac&gt;&lt;mo&gt;=&lt;/mo&gt;&lt;/mtd&gt;&lt;/mtr&gt;&lt;mtr&gt;&lt;mtd&gt;&lt;mfrac&gt;&lt;mn&gt;20&lt;/mn&gt;&lt;mn&gt;30&lt;/mn&gt;&lt;/mfrac&gt;&lt;mo&gt;+&lt;/mo&gt;&lt;mfrac&gt;&lt;mn&gt;45&lt;/mn&gt;&lt;mn&gt;30&lt;/mn&gt;&lt;/mfrac&gt;&lt;mo&gt;=&lt;/mo&gt;&lt;mfrac&gt;&lt;mn&gt;65&lt;/mn&gt;&lt;mn&gt;30&lt;/mn&gt;&lt;/mfrac&gt;&lt;mo&gt;=&lt;/mo&gt;&lt;mfrac&gt;&lt;mn&gt;13&lt;/mn&gt;&lt;mn&gt;6&lt;/mn&gt;&lt;/mfrac&gt;&lt;/mtd&gt;&lt;/mtr&gt;&lt;/mtable&gt;&lt;/math&gt;" id="1273" name="Google Shape;1273;p92" title="5 lines Line 1: two thirds plus the square root of 6 and one fourth times three fifths Line 2: two thirds plus the square root of 25 over 4 times three fifths Line 3: two thirds plus five halves times three fifths Line 4: two thirds plus fifteen tenths equals Line 5: 20 over 30 plus 45 over 30 equals 65 over 30 equals thirteen sixths"/>
          <p:cNvPicPr preferRelativeResize="0"/>
          <p:nvPr/>
        </p:nvPicPr>
        <p:blipFill rotWithShape="1">
          <a:blip r:embed="rId4">
            <a:alphaModFix/>
          </a:blip>
          <a:srcRect b="-3068" l="-5893" r="-7884" t="82403"/>
          <a:stretch/>
        </p:blipFill>
        <p:spPr>
          <a:xfrm>
            <a:off x="5169350" y="4319920"/>
            <a:ext cx="2374974" cy="56353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7" name="Shape 1277"/>
        <p:cNvGrpSpPr/>
        <p:nvPr/>
      </p:nvGrpSpPr>
      <p:grpSpPr>
        <a:xfrm>
          <a:off x="0" y="0"/>
          <a:ext cx="0" cy="0"/>
          <a:chOff x="0" y="0"/>
          <a:chExt cx="0" cy="0"/>
        </a:xfrm>
      </p:grpSpPr>
      <p:sp>
        <p:nvSpPr>
          <p:cNvPr id="1278" name="Google Shape;1278;p93"/>
          <p:cNvSpPr txBox="1"/>
          <p:nvPr>
            <p:ph type="title"/>
          </p:nvPr>
        </p:nvSpPr>
        <p:spPr>
          <a:xfrm>
            <a:off x="1225200" y="1779713"/>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Reviewing priority of operations</a:t>
            </a:r>
            <a:endParaRPr/>
          </a:p>
        </p:txBody>
      </p:sp>
      <p:sp>
        <p:nvSpPr>
          <p:cNvPr id="1279" name="Google Shape;1279;p93"/>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Powers and roots of fractions</a:t>
            </a:r>
            <a:endParaRPr/>
          </a:p>
        </p:txBody>
      </p:sp>
      <p:sp>
        <p:nvSpPr>
          <p:cNvPr id="1280" name="Google Shape;1280;p93"/>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efficiently</a:t>
            </a:r>
            <a:endParaRPr/>
          </a:p>
        </p:txBody>
      </p:sp>
      <p:sp>
        <p:nvSpPr>
          <p:cNvPr id="1281" name="Google Shape;1281;p93"/>
          <p:cNvSpPr txBox="1"/>
          <p:nvPr>
            <p:ph idx="4" type="title"/>
          </p:nvPr>
        </p:nvSpPr>
        <p:spPr>
          <a:xfrm>
            <a:off x="324000" y="657600"/>
            <a:ext cx="84960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Priority of operations with positive and negative integers, decimals and fractions</a:t>
            </a:r>
            <a:endParaRPr/>
          </a:p>
        </p:txBody>
      </p:sp>
      <p:pic>
        <p:nvPicPr>
          <p:cNvPr id="1282" name="Google Shape;1282;p93"/>
          <p:cNvPicPr preferRelativeResize="0"/>
          <p:nvPr/>
        </p:nvPicPr>
        <p:blipFill>
          <a:blip r:embed="rId3">
            <a:alphaModFix/>
          </a:blip>
          <a:stretch>
            <a:fillRect/>
          </a:stretch>
        </p:blipFill>
        <p:spPr>
          <a:xfrm>
            <a:off x="418025" y="3700475"/>
            <a:ext cx="450575" cy="4467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6" name="Shape 1286"/>
        <p:cNvGrpSpPr/>
        <p:nvPr/>
      </p:nvGrpSpPr>
      <p:grpSpPr>
        <a:xfrm>
          <a:off x="0" y="0"/>
          <a:ext cx="0" cy="0"/>
          <a:chOff x="0" y="0"/>
          <a:chExt cx="0" cy="0"/>
        </a:xfrm>
      </p:grpSpPr>
      <p:sp>
        <p:nvSpPr>
          <p:cNvPr id="1287" name="Google Shape;1287;p9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efficiently</a:t>
            </a:r>
            <a:endParaRPr/>
          </a:p>
        </p:txBody>
      </p:sp>
      <p:grpSp>
        <p:nvGrpSpPr>
          <p:cNvPr id="1288" name="Google Shape;1288;p94"/>
          <p:cNvGrpSpPr/>
          <p:nvPr/>
        </p:nvGrpSpPr>
        <p:grpSpPr>
          <a:xfrm>
            <a:off x="410722" y="1738853"/>
            <a:ext cx="3916346" cy="2889197"/>
            <a:chOff x="2529025" y="1931250"/>
            <a:chExt cx="3584100" cy="2617500"/>
          </a:xfrm>
        </p:grpSpPr>
        <p:sp>
          <p:nvSpPr>
            <p:cNvPr id="1289" name="Google Shape;1289;p94"/>
            <p:cNvSpPr/>
            <p:nvPr/>
          </p:nvSpPr>
          <p:spPr>
            <a:xfrm>
              <a:off x="2529025" y="1931250"/>
              <a:ext cx="3584100" cy="2617500"/>
            </a:xfrm>
            <a:prstGeom prst="triangle">
              <a:avLst>
                <a:gd fmla="val 50000"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90" name="Google Shape;1290;p94"/>
            <p:cNvCxnSpPr/>
            <p:nvPr/>
          </p:nvCxnSpPr>
          <p:spPr>
            <a:xfrm>
              <a:off x="3766742" y="2706800"/>
              <a:ext cx="1095900" cy="0"/>
            </a:xfrm>
            <a:prstGeom prst="straightConnector1">
              <a:avLst/>
            </a:prstGeom>
            <a:noFill/>
            <a:ln cap="flat" cmpd="sng" w="38100">
              <a:solidFill>
                <a:schemeClr val="accent2"/>
              </a:solidFill>
              <a:prstDash val="solid"/>
              <a:round/>
              <a:headEnd len="med" w="med" type="none"/>
              <a:tailEnd len="med" w="med" type="none"/>
            </a:ln>
          </p:spPr>
        </p:cxnSp>
        <p:cxnSp>
          <p:nvCxnSpPr>
            <p:cNvPr id="1291" name="Google Shape;1291;p94"/>
            <p:cNvCxnSpPr/>
            <p:nvPr/>
          </p:nvCxnSpPr>
          <p:spPr>
            <a:xfrm>
              <a:off x="3369600" y="3320300"/>
              <a:ext cx="1899300" cy="0"/>
            </a:xfrm>
            <a:prstGeom prst="straightConnector1">
              <a:avLst/>
            </a:prstGeom>
            <a:noFill/>
            <a:ln cap="flat" cmpd="sng" w="38100">
              <a:solidFill>
                <a:schemeClr val="accent2"/>
              </a:solidFill>
              <a:prstDash val="solid"/>
              <a:round/>
              <a:headEnd len="med" w="med" type="none"/>
              <a:tailEnd len="med" w="med" type="none"/>
            </a:ln>
          </p:spPr>
        </p:cxnSp>
        <p:cxnSp>
          <p:nvCxnSpPr>
            <p:cNvPr id="1292" name="Google Shape;1292;p94"/>
            <p:cNvCxnSpPr/>
            <p:nvPr/>
          </p:nvCxnSpPr>
          <p:spPr>
            <a:xfrm flipH="1" rot="10800000">
              <a:off x="2996850" y="3910986"/>
              <a:ext cx="2653800" cy="3900"/>
            </a:xfrm>
            <a:prstGeom prst="straightConnector1">
              <a:avLst/>
            </a:prstGeom>
            <a:noFill/>
            <a:ln cap="flat" cmpd="sng" w="38100">
              <a:solidFill>
                <a:schemeClr val="accent2"/>
              </a:solidFill>
              <a:prstDash val="solid"/>
              <a:round/>
              <a:headEnd len="med" w="med" type="none"/>
              <a:tailEnd len="med" w="med" type="none"/>
            </a:ln>
          </p:spPr>
        </p:cxnSp>
      </p:grpSp>
      <p:sp>
        <p:nvSpPr>
          <p:cNvPr id="1293" name="Google Shape;1293;p94"/>
          <p:cNvSpPr txBox="1"/>
          <p:nvPr/>
        </p:nvSpPr>
        <p:spPr>
          <a:xfrm>
            <a:off x="2002077" y="2055975"/>
            <a:ext cx="12471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Lexend"/>
                <a:ea typeface="Lexend"/>
                <a:cs typeface="Lexend"/>
                <a:sym typeface="Lexend"/>
              </a:rPr>
              <a:t>( …. )</a:t>
            </a:r>
            <a:endParaRPr sz="2000">
              <a:latin typeface="Lexend"/>
              <a:ea typeface="Lexend"/>
              <a:cs typeface="Lexend"/>
              <a:sym typeface="Lexend"/>
            </a:endParaRPr>
          </a:p>
        </p:txBody>
      </p:sp>
      <p:grpSp>
        <p:nvGrpSpPr>
          <p:cNvPr id="1294" name="Google Shape;1294;p94"/>
          <p:cNvGrpSpPr/>
          <p:nvPr/>
        </p:nvGrpSpPr>
        <p:grpSpPr>
          <a:xfrm>
            <a:off x="2382753" y="2546450"/>
            <a:ext cx="817925" cy="656513"/>
            <a:chOff x="1546176" y="2521625"/>
            <a:chExt cx="817925" cy="656513"/>
          </a:xfrm>
        </p:grpSpPr>
        <p:sp>
          <p:nvSpPr>
            <p:cNvPr id="1295" name="Google Shape;1295;p94"/>
            <p:cNvSpPr txBox="1"/>
            <p:nvPr/>
          </p:nvSpPr>
          <p:spPr>
            <a:xfrm>
              <a:off x="1873601" y="2521625"/>
              <a:ext cx="4905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latin typeface="Lexend"/>
                  <a:ea typeface="Lexend"/>
                  <a:cs typeface="Lexend"/>
                  <a:sym typeface="Lexend"/>
                </a:rPr>
                <a:t>⬚</a:t>
              </a:r>
              <a:endParaRPr b="1" sz="2000">
                <a:latin typeface="Lexend"/>
                <a:ea typeface="Lexend"/>
                <a:cs typeface="Lexend"/>
                <a:sym typeface="Lexend"/>
              </a:endParaRPr>
            </a:p>
          </p:txBody>
        </p:sp>
        <p:sp>
          <p:nvSpPr>
            <p:cNvPr id="1296" name="Google Shape;1296;p94"/>
            <p:cNvSpPr txBox="1"/>
            <p:nvPr/>
          </p:nvSpPr>
          <p:spPr>
            <a:xfrm>
              <a:off x="1546176" y="2641138"/>
              <a:ext cx="4905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3100">
                  <a:latin typeface="Lexend"/>
                  <a:ea typeface="Lexend"/>
                  <a:cs typeface="Lexend"/>
                  <a:sym typeface="Lexend"/>
                </a:rPr>
                <a:t>⬚</a:t>
              </a:r>
              <a:endParaRPr b="1" sz="3100">
                <a:latin typeface="Lexend"/>
                <a:ea typeface="Lexend"/>
                <a:cs typeface="Lexend"/>
                <a:sym typeface="Lexend"/>
              </a:endParaRPr>
            </a:p>
          </p:txBody>
        </p:sp>
      </p:grpSp>
      <p:grpSp>
        <p:nvGrpSpPr>
          <p:cNvPr id="1297" name="Google Shape;1297;p94"/>
          <p:cNvGrpSpPr/>
          <p:nvPr/>
        </p:nvGrpSpPr>
        <p:grpSpPr>
          <a:xfrm>
            <a:off x="1616423" y="2584510"/>
            <a:ext cx="627511" cy="537000"/>
            <a:chOff x="3734648" y="2776985"/>
            <a:chExt cx="627511" cy="537000"/>
          </a:xfrm>
        </p:grpSpPr>
        <p:pic>
          <p:nvPicPr>
            <p:cNvPr descr="&lt;math xmlns=&quot;http://www.w3.org/1998/Math/MathML&quot; display=&quot;block&quot; data-is-equatio=&quot;1&quot; data-latex=&quot;\begin{array}{l}\sqrt[\ \ ]{\ \ \ }\\&amp;#13;&amp;#10;\end{array}&quot;&gt;&lt;mtable columnalign=&quot;left&quot; columnspacing=&quot;1em&quot; rowspacing=&quot;4pt&quot;&gt;&lt;mtr&gt;&lt;mtd&gt;&lt;mroot&gt;&lt;mrow&gt;&lt;mtext&gt;&lt;/mtext&gt;&lt;mtext&gt;&lt;/mtext&gt;&lt;mtext&gt;&lt;/mtext&gt;&lt;/mrow&gt;&lt;mrow&gt;&lt;mtext&gt;&lt;/mtext&gt;&lt;mtext&gt;&lt;/mtext&gt;&lt;/mrow&gt;&lt;/mroot&gt;&lt;/mtd&gt;&lt;/mtr&gt;&lt;/mtable&gt;&lt;/math&gt;" id="1298" name="Google Shape;1298;p94" title="1 lines Line 1: the root of"/>
            <p:cNvPicPr preferRelativeResize="0"/>
            <p:nvPr/>
          </p:nvPicPr>
          <p:blipFill>
            <a:blip r:embed="rId3">
              <a:alphaModFix/>
            </a:blip>
            <a:stretch>
              <a:fillRect/>
            </a:stretch>
          </p:blipFill>
          <p:spPr>
            <a:xfrm>
              <a:off x="3871597" y="2929810"/>
              <a:ext cx="490562" cy="384175"/>
            </a:xfrm>
            <a:prstGeom prst="rect">
              <a:avLst/>
            </a:prstGeom>
            <a:noFill/>
            <a:ln>
              <a:noFill/>
            </a:ln>
          </p:spPr>
        </p:pic>
        <p:sp>
          <p:nvSpPr>
            <p:cNvPr id="1299" name="Google Shape;1299;p94"/>
            <p:cNvSpPr txBox="1"/>
            <p:nvPr/>
          </p:nvSpPr>
          <p:spPr>
            <a:xfrm>
              <a:off x="3734648" y="2776985"/>
              <a:ext cx="4905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latin typeface="Lexend"/>
                  <a:ea typeface="Lexend"/>
                  <a:cs typeface="Lexend"/>
                  <a:sym typeface="Lexend"/>
                </a:rPr>
                <a:t>⬚</a:t>
              </a:r>
              <a:endParaRPr sz="1700">
                <a:latin typeface="Lexend"/>
                <a:ea typeface="Lexend"/>
                <a:cs typeface="Lexend"/>
                <a:sym typeface="Lexend"/>
              </a:endParaRPr>
            </a:p>
          </p:txBody>
        </p:sp>
      </p:grpSp>
      <p:sp>
        <p:nvSpPr>
          <p:cNvPr id="1300" name="Google Shape;1300;p94"/>
          <p:cNvSpPr txBox="1"/>
          <p:nvPr/>
        </p:nvSpPr>
        <p:spPr>
          <a:xfrm>
            <a:off x="1573275" y="3121500"/>
            <a:ext cx="2082900" cy="65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4700">
                <a:latin typeface="Lexend"/>
                <a:ea typeface="Lexend"/>
                <a:cs typeface="Lexend"/>
                <a:sym typeface="Lexend"/>
              </a:rPr>
              <a:t>×    ÷</a:t>
            </a:r>
            <a:endParaRPr sz="4700">
              <a:latin typeface="Lexend"/>
              <a:ea typeface="Lexend"/>
              <a:cs typeface="Lexend"/>
              <a:sym typeface="Lexend"/>
            </a:endParaRPr>
          </a:p>
        </p:txBody>
      </p:sp>
      <p:sp>
        <p:nvSpPr>
          <p:cNvPr id="1301" name="Google Shape;1301;p94"/>
          <p:cNvSpPr txBox="1"/>
          <p:nvPr/>
        </p:nvSpPr>
        <p:spPr>
          <a:xfrm>
            <a:off x="1519525" y="3777900"/>
            <a:ext cx="2082900" cy="65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4700">
                <a:latin typeface="Lexend"/>
                <a:ea typeface="Lexend"/>
                <a:cs typeface="Lexend"/>
                <a:sym typeface="Lexend"/>
              </a:rPr>
              <a:t>+    −</a:t>
            </a:r>
            <a:endParaRPr sz="4700">
              <a:latin typeface="Lexend"/>
              <a:ea typeface="Lexend"/>
              <a:cs typeface="Lexend"/>
              <a:sym typeface="Lexend"/>
            </a:endParaRPr>
          </a:p>
        </p:txBody>
      </p:sp>
      <p:sp>
        <p:nvSpPr>
          <p:cNvPr id="1302" name="Google Shape;1302;p9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solidFill>
                  <a:srgbClr val="282828"/>
                </a:solidFill>
              </a:rPr>
              <a:t>Now let us use a combination of fractions and decimals with positive and negative integers.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6" name="Shape 1306"/>
        <p:cNvGrpSpPr/>
        <p:nvPr/>
      </p:nvGrpSpPr>
      <p:grpSpPr>
        <a:xfrm>
          <a:off x="0" y="0"/>
          <a:ext cx="0" cy="0"/>
          <a:chOff x="0" y="0"/>
          <a:chExt cx="0" cy="0"/>
        </a:xfrm>
      </p:grpSpPr>
      <p:pic>
        <p:nvPicPr>
          <p:cNvPr descr="&lt;math xmlns=&quot;http://www.w3.org/1998/Math/MathML&quot; display=&quot;block&quot; data-is-equatio=&quot;1&quot; data-latex=&quot;\begin{array}{l}3\ -\ \frac{3}{4}\times\frac{1}{5}+\left(\frac{3}{10}\right)^2\\&amp;#13;&amp;#10;3-\frac{3}{4}\times\frac{1}{5}\ +\ \frac{9}{100}\\&amp;#13;&amp;#10;3\ -\ \frac{3}{20}+\frac{9}{100}\\&amp;#13;&amp;#10;3\ +\ \frac{9}{100\ }+\left(-\frac{3}{20}\right)\\&amp;#13;&amp;#10;\frac{300}{100}+\frac{9}{100}+\left(-\frac{15}{100}\right)=\frac{294}{100}=\frac{147}{50}=2\frac{47}{50}\\&amp;#13;&amp;#10;\end{array}&quot;&gt;&lt;mtable columnalign=&quot;left&quot; columnspacing=&quot;1em&quot; rowspacing=&quot;4pt&quot;&gt;&lt;mtr&gt;&lt;mtd&gt;&lt;mn&gt;3&lt;/mn&gt;&lt;mtext&gt;&lt;/mtext&gt;&lt;mo&gt;−&lt;/mo&gt;&lt;mtext&gt;&lt;/mtext&gt;&lt;mfrac&gt;&lt;mn&gt;3&lt;/mn&gt;&lt;mn&gt;4&lt;/mn&gt;&lt;/mfrac&gt;&lt;mo&gt;×&lt;/mo&gt;&lt;mfrac&gt;&lt;mn&gt;1&lt;/mn&gt;&lt;mn&gt;5&lt;/mn&gt;&lt;/mfrac&gt;&lt;mo&gt;+&lt;/mo&gt;&lt;msup&gt;&lt;mrow data-mjx-texclass=&quot;INNER&quot;&gt;&lt;mo data-mjx-texclass=&quot;OPEN&quot;&gt;(&lt;/mo&gt;&lt;mfrac&gt;&lt;mn&gt;3&lt;/mn&gt;&lt;mn&gt;10&lt;/mn&gt;&lt;/mfrac&gt;&lt;mo data-mjx-texclass=&quot;CLOSE&quot;&gt;)&lt;/mo&gt;&lt;/mrow&gt;&lt;mn&gt;2&lt;/mn&gt;&lt;/msup&gt;&lt;/mtd&gt;&lt;/mtr&gt;&lt;mtr&gt;&lt;mtd&gt;&lt;mn&gt;3&lt;/mn&gt;&lt;mo&gt;−&lt;/mo&gt;&lt;mfrac&gt;&lt;mn&gt;3&lt;/mn&gt;&lt;mn&gt;4&lt;/mn&gt;&lt;/mfrac&gt;&lt;mo&gt;×&lt;/mo&gt;&lt;mfrac&gt;&lt;mn&gt;1&lt;/mn&gt;&lt;mn&gt;5&lt;/mn&gt;&lt;/mfrac&gt;&lt;mtext&gt;&lt;/mtext&gt;&lt;mo&gt;+&lt;/mo&gt;&lt;mtext&gt;&lt;/mtext&gt;&lt;mfrac&gt;&lt;mn&gt;9&lt;/mn&gt;&lt;mn&gt;100&lt;/mn&gt;&lt;/mfrac&gt;&lt;/mtd&gt;&lt;/mtr&gt;&lt;mtr&gt;&lt;mtd&gt;&lt;mn&gt;3&lt;/mn&gt;&lt;mtext&gt;&lt;/mtext&gt;&lt;mo&gt;−&lt;/mo&gt;&lt;mtext&gt;&lt;/mtext&gt;&lt;mfrac&gt;&lt;mn&gt;3&lt;/mn&gt;&lt;mn&gt;20&lt;/mn&gt;&lt;/mfrac&gt;&lt;mo&gt;+&lt;/mo&gt;&lt;mfrac&gt;&lt;mn&gt;9&lt;/mn&gt;&lt;mn&gt;100&lt;/mn&gt;&lt;/mfrac&gt;&lt;/mtd&gt;&lt;/mtr&gt;&lt;mtr&gt;&lt;mtd&gt;&lt;mn&gt;3&lt;/mn&gt;&lt;mtext&gt;&lt;/mtext&gt;&lt;mo&gt;+&lt;/mo&gt;&lt;mtext&gt;&lt;/mtext&gt;&lt;mfrac&gt;&lt;mn&gt;9&lt;/mn&gt;&lt;mrow&gt;&lt;mn&gt;100&lt;/mn&gt;&lt;mtext&gt;&lt;/mtext&gt;&lt;/mrow&gt;&lt;/mfrac&gt;&lt;mo&gt;+&lt;/mo&gt;&lt;mrow data-mjx-texclass=&quot;INNER&quot;&gt;&lt;mo data-mjx-texclass=&quot;OPEN&quot;&gt;(&lt;/mo&gt;&lt;mo&gt;−&lt;/mo&gt;&lt;mfrac&gt;&lt;mn&gt;3&lt;/mn&gt;&lt;mn&gt;20&lt;/mn&gt;&lt;/mfrac&gt;&lt;mo data-mjx-texclass=&quot;CLOSE&quot;&gt;)&lt;/mo&gt;&lt;/mrow&gt;&lt;/mtd&gt;&lt;/mtr&gt;&lt;mtr&gt;&lt;mtd&gt;&lt;mfrac&gt;&lt;mn&gt;300&lt;/mn&gt;&lt;mn&gt;100&lt;/mn&gt;&lt;/mfrac&gt;&lt;mo&gt;+&lt;/mo&gt;&lt;mfrac&gt;&lt;mn&gt;9&lt;/mn&gt;&lt;mn&gt;100&lt;/mn&gt;&lt;/mfrac&gt;&lt;mo&gt;+&lt;/mo&gt;&lt;mrow data-mjx-texclass=&quot;INNER&quot;&gt;&lt;mo data-mjx-texclass=&quot;OPEN&quot;&gt;(&lt;/mo&gt;&lt;mo&gt;−&lt;/mo&gt;&lt;mfrac&gt;&lt;mn&gt;15&lt;/mn&gt;&lt;mn&gt;100&lt;/mn&gt;&lt;/mfrac&gt;&lt;mo data-mjx-texclass=&quot;CLOSE&quot;&gt;)&lt;/mo&gt;&lt;/mrow&gt;&lt;mo&gt;=&lt;/mo&gt;&lt;mfrac&gt;&lt;mn&gt;294&lt;/mn&gt;&lt;mn&gt;100&lt;/mn&gt;&lt;/mfrac&gt;&lt;mo&gt;=&lt;/mo&gt;&lt;mfrac&gt;&lt;mn&gt;147&lt;/mn&gt;&lt;mn&gt;50&lt;/mn&gt;&lt;/mfrac&gt;&lt;mo&gt;=&lt;/mo&gt;&lt;mn&gt;2&lt;/mn&gt;&lt;mfrac&gt;&lt;mn&gt;47&lt;/mn&gt;&lt;mn&gt;50&lt;/mn&gt;&lt;/mfrac&gt;&lt;/mtd&gt;&lt;/mtr&gt;&lt;/mtable&gt;&lt;/math&gt;" id="1307" name="Google Shape;1307;p95" title="5 lines Line 1: 3 minus three fourths times one fifth plus three tenths squared Line 2: 3 minus three fourths times one fifth plus 9 over 100 Line 3: 3 minus 3 over 20 plus 9 over 100 Line 4: 3 plus 9 over 100 plus open paren negative 3 over 20 close paren Line 5: 300 over 100 plus 9 over 100 plus open paren negative 15 over 100 close paren equals 294 over 100 equals 147 over 50 equals 2 and 47 over 50"/>
          <p:cNvPicPr preferRelativeResize="0"/>
          <p:nvPr/>
        </p:nvPicPr>
        <p:blipFill rotWithShape="1">
          <a:blip r:embed="rId3">
            <a:alphaModFix/>
          </a:blip>
          <a:srcRect b="0" l="0" r="49029" t="0"/>
          <a:stretch/>
        </p:blipFill>
        <p:spPr>
          <a:xfrm>
            <a:off x="5072930" y="1670200"/>
            <a:ext cx="2367751" cy="2489375"/>
          </a:xfrm>
          <a:prstGeom prst="rect">
            <a:avLst/>
          </a:prstGeom>
          <a:noFill/>
          <a:ln>
            <a:noFill/>
          </a:ln>
        </p:spPr>
      </p:pic>
      <p:sp>
        <p:nvSpPr>
          <p:cNvPr id="1308" name="Google Shape;1308;p95"/>
          <p:cNvSpPr/>
          <p:nvPr/>
        </p:nvSpPr>
        <p:spPr>
          <a:xfrm>
            <a:off x="422225" y="1410451"/>
            <a:ext cx="3485400" cy="33810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09" name="Google Shape;1309;p95"/>
          <p:cNvSpPr/>
          <p:nvPr/>
        </p:nvSpPr>
        <p:spPr>
          <a:xfrm>
            <a:off x="4723800" y="1381500"/>
            <a:ext cx="3485400" cy="34389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0" name="Google Shape;1310;p9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t>Converting fractions to decimals is an option. For example, Andeep and Sofia both do the same question and both are correct.</a:t>
            </a:r>
            <a:endParaRPr sz="1900"/>
          </a:p>
          <a:p>
            <a:pPr indent="0" lvl="0" marL="0" rtl="0" algn="l">
              <a:spcBef>
                <a:spcPts val="1000"/>
              </a:spcBef>
              <a:spcAft>
                <a:spcPts val="0"/>
              </a:spcAft>
              <a:buNone/>
            </a:pPr>
            <a:r>
              <a:t/>
            </a:r>
            <a:endParaRPr sz="1900"/>
          </a:p>
          <a:p>
            <a:pPr indent="0" lvl="0" marL="0" rtl="0" algn="l">
              <a:spcBef>
                <a:spcPts val="1000"/>
              </a:spcBef>
              <a:spcAft>
                <a:spcPts val="1000"/>
              </a:spcAft>
              <a:buNone/>
            </a:pPr>
            <a:r>
              <a:t/>
            </a:r>
            <a:endParaRPr sz="1900"/>
          </a:p>
        </p:txBody>
      </p:sp>
      <p:sp>
        <p:nvSpPr>
          <p:cNvPr id="1311" name="Google Shape;1311;p9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efficiently</a:t>
            </a:r>
            <a:endParaRPr/>
          </a:p>
        </p:txBody>
      </p:sp>
      <p:pic>
        <p:nvPicPr>
          <p:cNvPr descr="&lt;math xmlns=&quot;http://www.w3.org/1998/Math/MathML&quot; display=&quot;block&quot; data-is-equatio=&quot;1&quot; data-latex=&quot;\begin{array}{l}3\ -\ \frac{3}{4}\times\frac{1}{5}+\left(\frac{3}{10}\right)^2\\&amp;#13;&amp;#10;3-0.75\ \times0.2\ +\ \frac{9}{100}\\&amp;#13;&amp;#10;3-0.75\ \times0.2\ +\ 0.09\\&amp;#13;&amp;#10;3\ -\ 0.150\ +\ 0.09\\&amp;#13;&amp;#10;3+\left(-0.15\right)+0.09\\&amp;#13;&amp;#10;3.09-0.15\ =\ 2.94\end{array}&quot;&gt;&lt;mtable columnalign=&quot;left&quot; columnspacing=&quot;1em&quot; rowspacing=&quot;4pt&quot;&gt;&lt;mtr&gt;&lt;mtd&gt;&lt;mn&gt;3&lt;/mn&gt;&lt;mtext&gt;&lt;/mtext&gt;&lt;mo&gt;−&lt;/mo&gt;&lt;mtext&gt;&lt;/mtext&gt;&lt;mfrac&gt;&lt;mn&gt;3&lt;/mn&gt;&lt;mn&gt;4&lt;/mn&gt;&lt;/mfrac&gt;&lt;mo&gt;×&lt;/mo&gt;&lt;mfrac&gt;&lt;mn&gt;1&lt;/mn&gt;&lt;mn&gt;5&lt;/mn&gt;&lt;/mfrac&gt;&lt;mo&gt;+&lt;/mo&gt;&lt;msup&gt;&lt;mrow data-mjx-texclass=&quot;INNER&quot;&gt;&lt;mo data-mjx-texclass=&quot;OPEN&quot;&gt;(&lt;/mo&gt;&lt;mfrac&gt;&lt;mn&gt;3&lt;/mn&gt;&lt;mn&gt;10&lt;/mn&gt;&lt;/mfrac&gt;&lt;mo data-mjx-texclass=&quot;CLOSE&quot;&gt;)&lt;/mo&gt;&lt;/mrow&gt;&lt;mn&gt;2&lt;/mn&gt;&lt;/msup&gt;&lt;/mtd&gt;&lt;/mtr&gt;&lt;mtr&gt;&lt;mtd&gt;&lt;mn&gt;3&lt;/mn&gt;&lt;mo&gt;−&lt;/mo&gt;&lt;mn&gt;0.75&lt;/mn&gt;&lt;mtext&gt;&lt;/mtext&gt;&lt;mo&gt;×&lt;/mo&gt;&lt;mn&gt;0.2&lt;/mn&gt;&lt;mtext&gt;&lt;/mtext&gt;&lt;mo&gt;+&lt;/mo&gt;&lt;mtext&gt;&lt;/mtext&gt;&lt;mfrac&gt;&lt;mn&gt;9&lt;/mn&gt;&lt;mn&gt;100&lt;/mn&gt;&lt;/mfrac&gt;&lt;/mtd&gt;&lt;/mtr&gt;&lt;mtr&gt;&lt;mtd&gt;&lt;mn&gt;3&lt;/mn&gt;&lt;mo&gt;−&lt;/mo&gt;&lt;mn&gt;0.75&lt;/mn&gt;&lt;mtext&gt;&lt;/mtext&gt;&lt;mo&gt;×&lt;/mo&gt;&lt;mn&gt;0.2&lt;/mn&gt;&lt;mtext&gt;&lt;/mtext&gt;&lt;mo&gt;+&lt;/mo&gt;&lt;mtext&gt;&lt;/mtext&gt;&lt;mn&gt;0.09&lt;/mn&gt;&lt;/mtd&gt;&lt;/mtr&gt;&lt;mtr&gt;&lt;mtd&gt;&lt;mn&gt;3&lt;/mn&gt;&lt;mtext&gt;&lt;/mtext&gt;&lt;mo&gt;−&lt;/mo&gt;&lt;mtext&gt;&lt;/mtext&gt;&lt;mn&gt;0.150&lt;/mn&gt;&lt;mtext&gt;&lt;/mtext&gt;&lt;mo&gt;+&lt;/mo&gt;&lt;mtext&gt;&lt;/mtext&gt;&lt;mn&gt;0.09&lt;/mn&gt;&lt;/mtd&gt;&lt;/mtr&gt;&lt;mtr&gt;&lt;mtd&gt;&lt;mn&gt;3&lt;/mn&gt;&lt;mo&gt;+&lt;/mo&gt;&lt;mrow data-mjx-texclass=&quot;INNER&quot;&gt;&lt;mo data-mjx-texclass=&quot;OPEN&quot;&gt;(&lt;/mo&gt;&lt;mo&gt;−&lt;/mo&gt;&lt;mn&gt;0.15&lt;/mn&gt;&lt;mo data-mjx-texclass=&quot;CLOSE&quot;&gt;)&lt;/mo&gt;&lt;/mrow&gt;&lt;mo&gt;+&lt;/mo&gt;&lt;mn&gt;0.09&lt;/mn&gt;&lt;/mtd&gt;&lt;/mtr&gt;&lt;mtr&gt;&lt;mtd&gt;&lt;mn&gt;3.09&lt;/mn&gt;&lt;mo&gt;−&lt;/mo&gt;&lt;mn&gt;0.15&lt;/mn&gt;&lt;mtext&gt;&lt;/mtext&gt;&lt;mo&gt;=&lt;/mo&gt;&lt;mtext&gt;&lt;/mtext&gt;&lt;mn&gt;2.94&lt;/mn&gt;&lt;/mtd&gt;&lt;/mtr&gt;&lt;/mtable&gt;&lt;/math&gt;" id="1312" name="Google Shape;1312;p95" title="6 lines Line 1: 3 minus three fourths times one fifth plus three tenths squared Line 2: 3 minus 0.75 times 0.2 plus 9 over 100 Line 3: 3 minus 0.75 times 0.2 plus 0.09 Line 4: 3 minus 0.150 plus 0.09 Line 5: 3 plus negative 0.15 plus 0.09 Line 6: 3.09 minus 0.15 equals 2.94"/>
          <p:cNvPicPr preferRelativeResize="0"/>
          <p:nvPr/>
        </p:nvPicPr>
        <p:blipFill>
          <a:blip r:embed="rId4">
            <a:alphaModFix/>
          </a:blip>
          <a:stretch>
            <a:fillRect/>
          </a:stretch>
        </p:blipFill>
        <p:spPr>
          <a:xfrm>
            <a:off x="644424" y="1790863"/>
            <a:ext cx="2890400" cy="2732583"/>
          </a:xfrm>
          <a:prstGeom prst="rect">
            <a:avLst/>
          </a:prstGeom>
          <a:noFill/>
          <a:ln>
            <a:noFill/>
          </a:ln>
        </p:spPr>
      </p:pic>
      <p:pic>
        <p:nvPicPr>
          <p:cNvPr descr="&lt;math xmlns=&quot;http://www.w3.org/1998/Math/MathML&quot; display=&quot;block&quot; data-is-equatio=&quot;1&quot; data-latex=&quot;\begin{array}{l}3\ -\ \frac{3}{4}\times\frac{1}{5}+\left(\frac{3}{10}\right)^2\\&amp;#13;&amp;#10;3-\frac{3}{4}\times\frac{1}{5}\ +\ \frac{9}{100}\\&amp;#13;&amp;#10;3\ -\ \frac{3}{20}+\frac{9}{100}\\&amp;#13;&amp;#10;3\ +\ \frac{9}{100\ }+\left(-\frac{3}{20}\right)\\&amp;#13;&amp;#10;\frac{300}{100}+\frac{9}{100}+\left(-\frac{12}{100}\right)=\frac{294}{100}=\frac{147}{50}=2\frac{47}{50}\\&amp;#13;&amp;#10;\end{array}&quot;&gt;&lt;mtable columnalign=&quot;left&quot; columnspacing=&quot;1em&quot; rowspacing=&quot;4pt&quot;&gt;&lt;mtr&gt;&lt;mtd&gt;&lt;mn&gt;3&lt;/mn&gt;&lt;mtext&gt;&lt;/mtext&gt;&lt;mo&gt;−&lt;/mo&gt;&lt;mtext&gt;&lt;/mtext&gt;&lt;mfrac&gt;&lt;mn&gt;3&lt;/mn&gt;&lt;mn&gt;4&lt;/mn&gt;&lt;/mfrac&gt;&lt;mo&gt;×&lt;/mo&gt;&lt;mfrac&gt;&lt;mn&gt;1&lt;/mn&gt;&lt;mn&gt;5&lt;/mn&gt;&lt;/mfrac&gt;&lt;mo&gt;+&lt;/mo&gt;&lt;msup&gt;&lt;mrow data-mjx-texclass=&quot;INNER&quot;&gt;&lt;mo data-mjx-texclass=&quot;OPEN&quot;&gt;(&lt;/mo&gt;&lt;mfrac&gt;&lt;mn&gt;3&lt;/mn&gt;&lt;mn&gt;10&lt;/mn&gt;&lt;/mfrac&gt;&lt;mo data-mjx-texclass=&quot;CLOSE&quot;&gt;)&lt;/mo&gt;&lt;/mrow&gt;&lt;mn&gt;2&lt;/mn&gt;&lt;/msup&gt;&lt;/mtd&gt;&lt;/mtr&gt;&lt;mtr&gt;&lt;mtd&gt;&lt;mn&gt;3&lt;/mn&gt;&lt;mo&gt;−&lt;/mo&gt;&lt;mfrac&gt;&lt;mn&gt;3&lt;/mn&gt;&lt;mn&gt;4&lt;/mn&gt;&lt;/mfrac&gt;&lt;mo&gt;×&lt;/mo&gt;&lt;mfrac&gt;&lt;mn&gt;1&lt;/mn&gt;&lt;mn&gt;5&lt;/mn&gt;&lt;/mfrac&gt;&lt;mtext&gt;&lt;/mtext&gt;&lt;mo&gt;+&lt;/mo&gt;&lt;mtext&gt;&lt;/mtext&gt;&lt;mfrac&gt;&lt;mn&gt;9&lt;/mn&gt;&lt;mn&gt;100&lt;/mn&gt;&lt;/mfrac&gt;&lt;/mtd&gt;&lt;/mtr&gt;&lt;mtr&gt;&lt;mtd&gt;&lt;mn&gt;3&lt;/mn&gt;&lt;mtext&gt;&lt;/mtext&gt;&lt;mo&gt;−&lt;/mo&gt;&lt;mtext&gt;&lt;/mtext&gt;&lt;mfrac&gt;&lt;mn&gt;3&lt;/mn&gt;&lt;mn&gt;20&lt;/mn&gt;&lt;/mfrac&gt;&lt;mo&gt;+&lt;/mo&gt;&lt;mfrac&gt;&lt;mn&gt;9&lt;/mn&gt;&lt;mn&gt;100&lt;/mn&gt;&lt;/mfrac&gt;&lt;/mtd&gt;&lt;/mtr&gt;&lt;mtr&gt;&lt;mtd&gt;&lt;mn&gt;3&lt;/mn&gt;&lt;mtext&gt;&lt;/mtext&gt;&lt;mo&gt;+&lt;/mo&gt;&lt;mtext&gt;&lt;/mtext&gt;&lt;mfrac&gt;&lt;mn&gt;9&lt;/mn&gt;&lt;mrow&gt;&lt;mn&gt;100&lt;/mn&gt;&lt;mtext&gt;&lt;/mtext&gt;&lt;/mrow&gt;&lt;/mfrac&gt;&lt;mo&gt;+&lt;/mo&gt;&lt;mrow data-mjx-texclass=&quot;INNER&quot;&gt;&lt;mo data-mjx-texclass=&quot;OPEN&quot;&gt;(&lt;/mo&gt;&lt;mo&gt;−&lt;/mo&gt;&lt;mfrac&gt;&lt;mn&gt;3&lt;/mn&gt;&lt;mn&gt;20&lt;/mn&gt;&lt;/mfrac&gt;&lt;mo data-mjx-texclass=&quot;CLOSE&quot;&gt;)&lt;/mo&gt;&lt;/mrow&gt;&lt;/mtd&gt;&lt;/mtr&gt;&lt;mtr&gt;&lt;mtd&gt;&lt;mfrac&gt;&lt;mn&gt;300&lt;/mn&gt;&lt;mn&gt;100&lt;/mn&gt;&lt;/mfrac&gt;&lt;mo&gt;+&lt;/mo&gt;&lt;mfrac&gt;&lt;mn&gt;9&lt;/mn&gt;&lt;mn&gt;100&lt;/mn&gt;&lt;/mfrac&gt;&lt;mo&gt;+&lt;/mo&gt;&lt;mrow data-mjx-texclass=&quot;INNER&quot;&gt;&lt;mo data-mjx-texclass=&quot;OPEN&quot;&gt;(&lt;/mo&gt;&lt;mo&gt;−&lt;/mo&gt;&lt;mfrac&gt;&lt;mn&gt;12&lt;/mn&gt;&lt;mn&gt;100&lt;/mn&gt;&lt;/mfrac&gt;&lt;mo data-mjx-texclass=&quot;CLOSE&quot;&gt;)&lt;/mo&gt;&lt;/mrow&gt;&lt;mo&gt;=&lt;/mo&gt;&lt;mfrac&gt;&lt;mn&gt;294&lt;/mn&gt;&lt;mn&gt;100&lt;/mn&gt;&lt;/mfrac&gt;&lt;mo&gt;=&lt;/mo&gt;&lt;mfrac&gt;&lt;mn&gt;147&lt;/mn&gt;&lt;mn&gt;50&lt;/mn&gt;&lt;/mfrac&gt;&lt;mo&gt;=&lt;/mo&gt;&lt;mn&gt;2&lt;/mn&gt;&lt;mfrac&gt;&lt;mn&gt;47&lt;/mn&gt;&lt;mn&gt;50&lt;/mn&gt;&lt;/mfrac&gt;&lt;/mtd&gt;&lt;/mtr&gt;&lt;/mtable&gt;&lt;/math&gt;" id="1313" name="Google Shape;1313;p95" title="5 lines Line 1: 3 minus three fourths times one fifth plus three tenths squared Line 2: 3 minus three fourths times one fifth plus 9 over 100 Line 3: 3 minus 3 over 20 plus 9 over 100 Line 4: 3 plus 9 over 100 plus open paren negative 3 over 20 close paren Line 5: 300 over 100 plus 9 over 100 plus open paren negative 12 over 100 close paren equals 294 over 100 equals 147 over 50 equals 2 and 47 over 50"/>
          <p:cNvPicPr preferRelativeResize="0"/>
          <p:nvPr/>
        </p:nvPicPr>
        <p:blipFill rotWithShape="1">
          <a:blip r:embed="rId5">
            <a:alphaModFix/>
          </a:blip>
          <a:srcRect b="0" l="58374" r="0" t="81397"/>
          <a:stretch/>
        </p:blipFill>
        <p:spPr>
          <a:xfrm>
            <a:off x="5094585" y="4247448"/>
            <a:ext cx="2099824" cy="505775"/>
          </a:xfrm>
          <a:prstGeom prst="rect">
            <a:avLst/>
          </a:prstGeom>
          <a:noFill/>
          <a:ln>
            <a:noFill/>
          </a:ln>
        </p:spPr>
      </p:pic>
      <p:sp>
        <p:nvSpPr>
          <p:cNvPr id="1314" name="Google Shape;1314;p95"/>
          <p:cNvSpPr txBox="1"/>
          <p:nvPr/>
        </p:nvSpPr>
        <p:spPr>
          <a:xfrm>
            <a:off x="1566425" y="1410450"/>
            <a:ext cx="1197000" cy="47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900">
                <a:solidFill>
                  <a:schemeClr val="dk1"/>
                </a:solidFill>
                <a:latin typeface="Lexend"/>
                <a:ea typeface="Lexend"/>
                <a:cs typeface="Lexend"/>
                <a:sym typeface="Lexend"/>
              </a:rPr>
              <a:t>Andeep</a:t>
            </a:r>
            <a:endParaRPr/>
          </a:p>
        </p:txBody>
      </p:sp>
      <p:sp>
        <p:nvSpPr>
          <p:cNvPr id="1315" name="Google Shape;1315;p95"/>
          <p:cNvSpPr txBox="1"/>
          <p:nvPr/>
        </p:nvSpPr>
        <p:spPr>
          <a:xfrm>
            <a:off x="5886649" y="1327381"/>
            <a:ext cx="1073100" cy="47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900">
                <a:solidFill>
                  <a:schemeClr val="dk1"/>
                </a:solidFill>
                <a:latin typeface="Lexend"/>
                <a:ea typeface="Lexend"/>
                <a:cs typeface="Lexend"/>
                <a:sym typeface="Lexend"/>
              </a:rPr>
              <a:t>Sofia</a:t>
            </a:r>
            <a:endParaRPr/>
          </a:p>
        </p:txBody>
      </p:sp>
      <p:pic>
        <p:nvPicPr>
          <p:cNvPr id="1316" name="Google Shape;1316;p95"/>
          <p:cNvPicPr preferRelativeResize="0"/>
          <p:nvPr/>
        </p:nvPicPr>
        <p:blipFill>
          <a:blip r:embed="rId6">
            <a:alphaModFix/>
          </a:blip>
          <a:stretch>
            <a:fillRect/>
          </a:stretch>
        </p:blipFill>
        <p:spPr>
          <a:xfrm>
            <a:off x="503475" y="2399150"/>
            <a:ext cx="3198375" cy="477000"/>
          </a:xfrm>
          <a:prstGeom prst="rect">
            <a:avLst/>
          </a:prstGeom>
          <a:noFill/>
          <a:ln>
            <a:noFill/>
          </a:ln>
        </p:spPr>
      </p:pic>
      <p:pic>
        <p:nvPicPr>
          <p:cNvPr id="1317" name="Google Shape;1317;p95"/>
          <p:cNvPicPr preferRelativeResize="0"/>
          <p:nvPr/>
        </p:nvPicPr>
        <p:blipFill>
          <a:blip r:embed="rId6">
            <a:alphaModFix/>
          </a:blip>
          <a:stretch>
            <a:fillRect/>
          </a:stretch>
        </p:blipFill>
        <p:spPr>
          <a:xfrm>
            <a:off x="565750" y="2967651"/>
            <a:ext cx="3198350" cy="428025"/>
          </a:xfrm>
          <a:prstGeom prst="rect">
            <a:avLst/>
          </a:prstGeom>
          <a:noFill/>
          <a:ln>
            <a:noFill/>
          </a:ln>
        </p:spPr>
      </p:pic>
      <p:pic>
        <p:nvPicPr>
          <p:cNvPr id="1318" name="Google Shape;1318;p95"/>
          <p:cNvPicPr preferRelativeResize="0"/>
          <p:nvPr/>
        </p:nvPicPr>
        <p:blipFill>
          <a:blip r:embed="rId6">
            <a:alphaModFix/>
          </a:blip>
          <a:stretch>
            <a:fillRect/>
          </a:stretch>
        </p:blipFill>
        <p:spPr>
          <a:xfrm>
            <a:off x="565750" y="3351975"/>
            <a:ext cx="3198350" cy="428025"/>
          </a:xfrm>
          <a:prstGeom prst="rect">
            <a:avLst/>
          </a:prstGeom>
          <a:noFill/>
          <a:ln>
            <a:noFill/>
          </a:ln>
        </p:spPr>
      </p:pic>
      <p:pic>
        <p:nvPicPr>
          <p:cNvPr id="1319" name="Google Shape;1319;p95"/>
          <p:cNvPicPr preferRelativeResize="0"/>
          <p:nvPr/>
        </p:nvPicPr>
        <p:blipFill>
          <a:blip r:embed="rId6">
            <a:alphaModFix/>
          </a:blip>
          <a:stretch>
            <a:fillRect/>
          </a:stretch>
        </p:blipFill>
        <p:spPr>
          <a:xfrm>
            <a:off x="565750" y="3780000"/>
            <a:ext cx="3198350" cy="428025"/>
          </a:xfrm>
          <a:prstGeom prst="rect">
            <a:avLst/>
          </a:prstGeom>
          <a:noFill/>
          <a:ln>
            <a:noFill/>
          </a:ln>
        </p:spPr>
      </p:pic>
      <p:pic>
        <p:nvPicPr>
          <p:cNvPr id="1320" name="Google Shape;1320;p95"/>
          <p:cNvPicPr preferRelativeResize="0"/>
          <p:nvPr/>
        </p:nvPicPr>
        <p:blipFill>
          <a:blip r:embed="rId6">
            <a:alphaModFix/>
          </a:blip>
          <a:stretch>
            <a:fillRect/>
          </a:stretch>
        </p:blipFill>
        <p:spPr>
          <a:xfrm>
            <a:off x="598222" y="4186377"/>
            <a:ext cx="2890400" cy="428025"/>
          </a:xfrm>
          <a:prstGeom prst="rect">
            <a:avLst/>
          </a:prstGeom>
          <a:noFill/>
          <a:ln>
            <a:noFill/>
          </a:ln>
        </p:spPr>
      </p:pic>
      <p:pic>
        <p:nvPicPr>
          <p:cNvPr id="1321" name="Google Shape;1321;p95"/>
          <p:cNvPicPr preferRelativeResize="0"/>
          <p:nvPr/>
        </p:nvPicPr>
        <p:blipFill>
          <a:blip r:embed="rId6">
            <a:alphaModFix/>
          </a:blip>
          <a:stretch>
            <a:fillRect/>
          </a:stretch>
        </p:blipFill>
        <p:spPr>
          <a:xfrm>
            <a:off x="4853900" y="2216463"/>
            <a:ext cx="2581175" cy="428025"/>
          </a:xfrm>
          <a:prstGeom prst="rect">
            <a:avLst/>
          </a:prstGeom>
          <a:noFill/>
          <a:ln>
            <a:noFill/>
          </a:ln>
        </p:spPr>
      </p:pic>
      <p:pic>
        <p:nvPicPr>
          <p:cNvPr id="1322" name="Google Shape;1322;p95"/>
          <p:cNvPicPr preferRelativeResize="0"/>
          <p:nvPr/>
        </p:nvPicPr>
        <p:blipFill>
          <a:blip r:embed="rId6">
            <a:alphaModFix/>
          </a:blip>
          <a:stretch>
            <a:fillRect/>
          </a:stretch>
        </p:blipFill>
        <p:spPr>
          <a:xfrm>
            <a:off x="4966200" y="2700877"/>
            <a:ext cx="2581175" cy="505775"/>
          </a:xfrm>
          <a:prstGeom prst="rect">
            <a:avLst/>
          </a:prstGeom>
          <a:noFill/>
          <a:ln>
            <a:noFill/>
          </a:ln>
        </p:spPr>
      </p:pic>
      <p:pic>
        <p:nvPicPr>
          <p:cNvPr id="1323" name="Google Shape;1323;p95"/>
          <p:cNvPicPr preferRelativeResize="0"/>
          <p:nvPr/>
        </p:nvPicPr>
        <p:blipFill>
          <a:blip r:embed="rId6">
            <a:alphaModFix/>
          </a:blip>
          <a:stretch>
            <a:fillRect/>
          </a:stretch>
        </p:blipFill>
        <p:spPr>
          <a:xfrm>
            <a:off x="5042400" y="3234263"/>
            <a:ext cx="2581175" cy="428025"/>
          </a:xfrm>
          <a:prstGeom prst="rect">
            <a:avLst/>
          </a:prstGeom>
          <a:noFill/>
          <a:ln>
            <a:noFill/>
          </a:ln>
        </p:spPr>
      </p:pic>
      <p:pic>
        <p:nvPicPr>
          <p:cNvPr id="1324" name="Google Shape;1324;p95"/>
          <p:cNvPicPr preferRelativeResize="0"/>
          <p:nvPr/>
        </p:nvPicPr>
        <p:blipFill>
          <a:blip r:embed="rId6">
            <a:alphaModFix/>
          </a:blip>
          <a:stretch>
            <a:fillRect/>
          </a:stretch>
        </p:blipFill>
        <p:spPr>
          <a:xfrm>
            <a:off x="5100128" y="4280850"/>
            <a:ext cx="2581175" cy="477000"/>
          </a:xfrm>
          <a:prstGeom prst="rect">
            <a:avLst/>
          </a:prstGeom>
          <a:noFill/>
          <a:ln>
            <a:noFill/>
          </a:ln>
        </p:spPr>
      </p:pic>
      <p:pic>
        <p:nvPicPr>
          <p:cNvPr id="1325" name="Google Shape;1325;p95"/>
          <p:cNvPicPr preferRelativeResize="0"/>
          <p:nvPr/>
        </p:nvPicPr>
        <p:blipFill>
          <a:blip r:embed="rId6">
            <a:alphaModFix/>
          </a:blip>
          <a:stretch>
            <a:fillRect/>
          </a:stretch>
        </p:blipFill>
        <p:spPr>
          <a:xfrm>
            <a:off x="5042400" y="3697258"/>
            <a:ext cx="2581175" cy="505775"/>
          </a:xfrm>
          <a:prstGeom prst="rect">
            <a:avLst/>
          </a:prstGeom>
          <a:noFill/>
          <a:ln cap="flat" cmpd="sng" w="9525">
            <a:solidFill>
              <a:schemeClr val="lt1"/>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1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1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1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1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2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2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2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2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2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2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9" name="Shape 1329"/>
        <p:cNvGrpSpPr/>
        <p:nvPr/>
      </p:nvGrpSpPr>
      <p:grpSpPr>
        <a:xfrm>
          <a:off x="0" y="0"/>
          <a:ext cx="0" cy="0"/>
          <a:chOff x="0" y="0"/>
          <a:chExt cx="0" cy="0"/>
        </a:xfrm>
      </p:grpSpPr>
      <p:sp>
        <p:nvSpPr>
          <p:cNvPr id="1330" name="Google Shape;1330;p96"/>
          <p:cNvSpPr/>
          <p:nvPr/>
        </p:nvSpPr>
        <p:spPr>
          <a:xfrm>
            <a:off x="422225" y="1410451"/>
            <a:ext cx="3485400" cy="33810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31" name="Google Shape;1331;p96"/>
          <p:cNvSpPr/>
          <p:nvPr/>
        </p:nvSpPr>
        <p:spPr>
          <a:xfrm>
            <a:off x="4723800" y="1381500"/>
            <a:ext cx="3485400" cy="34389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32" name="Google Shape;1332;p9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t>They both do another question, but now someone is less accurate. Who is less accurate and how did it happen?</a:t>
            </a:r>
            <a:endParaRPr sz="1900"/>
          </a:p>
          <a:p>
            <a:pPr indent="0" lvl="0" marL="0" rtl="0" algn="l">
              <a:spcBef>
                <a:spcPts val="1000"/>
              </a:spcBef>
              <a:spcAft>
                <a:spcPts val="0"/>
              </a:spcAft>
              <a:buNone/>
            </a:pPr>
            <a:r>
              <a:t/>
            </a:r>
            <a:endParaRPr sz="1900"/>
          </a:p>
          <a:p>
            <a:pPr indent="0" lvl="0" marL="0" rtl="0" algn="l">
              <a:spcBef>
                <a:spcPts val="1000"/>
              </a:spcBef>
              <a:spcAft>
                <a:spcPts val="1000"/>
              </a:spcAft>
              <a:buNone/>
            </a:pPr>
            <a:r>
              <a:t/>
            </a:r>
            <a:endParaRPr sz="1900"/>
          </a:p>
        </p:txBody>
      </p:sp>
      <p:sp>
        <p:nvSpPr>
          <p:cNvPr id="1333" name="Google Shape;1333;p9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efficiently</a:t>
            </a:r>
            <a:endParaRPr/>
          </a:p>
        </p:txBody>
      </p:sp>
      <p:sp>
        <p:nvSpPr>
          <p:cNvPr id="1334" name="Google Shape;1334;p96"/>
          <p:cNvSpPr txBox="1"/>
          <p:nvPr/>
        </p:nvSpPr>
        <p:spPr>
          <a:xfrm>
            <a:off x="1566425" y="1410450"/>
            <a:ext cx="1197000" cy="47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900">
                <a:solidFill>
                  <a:schemeClr val="dk1"/>
                </a:solidFill>
                <a:latin typeface="Lexend"/>
                <a:ea typeface="Lexend"/>
                <a:cs typeface="Lexend"/>
                <a:sym typeface="Lexend"/>
              </a:rPr>
              <a:t>Andeep</a:t>
            </a:r>
            <a:endParaRPr/>
          </a:p>
        </p:txBody>
      </p:sp>
      <p:sp>
        <p:nvSpPr>
          <p:cNvPr id="1335" name="Google Shape;1335;p96"/>
          <p:cNvSpPr txBox="1"/>
          <p:nvPr/>
        </p:nvSpPr>
        <p:spPr>
          <a:xfrm>
            <a:off x="5886649" y="1327381"/>
            <a:ext cx="1073100" cy="47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900">
                <a:solidFill>
                  <a:schemeClr val="dk1"/>
                </a:solidFill>
                <a:latin typeface="Lexend"/>
                <a:ea typeface="Lexend"/>
                <a:cs typeface="Lexend"/>
                <a:sym typeface="Lexend"/>
              </a:rPr>
              <a:t>Sofia</a:t>
            </a:r>
            <a:endParaRPr/>
          </a:p>
        </p:txBody>
      </p:sp>
      <p:pic>
        <p:nvPicPr>
          <p:cNvPr descr="&lt;math xmlns=&quot;http://www.w3.org/1998/Math/MathML&quot; display=&quot;block&quot; data-is-equatio=&quot;1&quot; data-latex=&quot;\begin{array}{l}3+\frac{2}{3}\times\sqrt{\frac{1}{4}}\\&amp;#13;&amp;#10;3+\frac{2}{3}\times\frac{1}{2}\\&amp;#13;&amp;#10;3\ +\ \frac{2}{6}\\&amp;#13;&amp;#10;3+\frac{1}{3}\ =\ 3\frac{1}{3}\end{array}&quot;&gt;&lt;mtable columnalign=&quot;left&quot; columnspacing=&quot;1em&quot; rowspacing=&quot;4pt&quot;&gt;&lt;mtr&gt;&lt;mtd&gt;&lt;mn&gt;3&lt;/mn&gt;&lt;mo&gt;+&lt;/mo&gt;&lt;mfrac&gt;&lt;mn&gt;2&lt;/mn&gt;&lt;mn&gt;3&lt;/mn&gt;&lt;/mfrac&gt;&lt;mo&gt;×&lt;/mo&gt;&lt;msqrt&gt;&lt;mfrac&gt;&lt;mn&gt;1&lt;/mn&gt;&lt;mn&gt;4&lt;/mn&gt;&lt;/mfrac&gt;&lt;/msqrt&gt;&lt;/mtd&gt;&lt;/mtr&gt;&lt;mtr&gt;&lt;mtd&gt;&lt;mn&gt;3&lt;/mn&gt;&lt;mo&gt;+&lt;/mo&gt;&lt;mfrac&gt;&lt;mn&gt;2&lt;/mn&gt;&lt;mn&gt;3&lt;/mn&gt;&lt;/mfrac&gt;&lt;mo&gt;×&lt;/mo&gt;&lt;mfrac&gt;&lt;mn&gt;1&lt;/mn&gt;&lt;mn&gt;2&lt;/mn&gt;&lt;/mfrac&gt;&lt;/mtd&gt;&lt;/mtr&gt;&lt;mtr&gt;&lt;mtd&gt;&lt;mn&gt;3&lt;/mn&gt;&lt;mtext&gt;&lt;/mtext&gt;&lt;mo&gt;+&lt;/mo&gt;&lt;mtext&gt;&lt;/mtext&gt;&lt;mfrac&gt;&lt;mn&gt;2&lt;/mn&gt;&lt;mn&gt;6&lt;/mn&gt;&lt;/mfrac&gt;&lt;/mtd&gt;&lt;/mtr&gt;&lt;mtr&gt;&lt;mtd&gt;&lt;mn&gt;3&lt;/mn&gt;&lt;mo&gt;+&lt;/mo&gt;&lt;mfrac&gt;&lt;mn&gt;1&lt;/mn&gt;&lt;mn&gt;3&lt;/mn&gt;&lt;/mfrac&gt;&lt;mtext&gt;&lt;/mtext&gt;&lt;mo&gt;=&lt;/mo&gt;&lt;mtext&gt;&lt;/mtext&gt;&lt;mn&gt;3&lt;/mn&gt;&lt;mfrac&gt;&lt;mn&gt;1&lt;/mn&gt;&lt;mn&gt;3&lt;/mn&gt;&lt;/mfrac&gt;&lt;/mtd&gt;&lt;/mtr&gt;&lt;/mtable&gt;&lt;/math&gt;" id="1336" name="Google Shape;1336;p96" title="4 lines Line 1: 3 plus two thirds times the square root of one fourth Line 2: 3 plus two thirds times one half Line 3: 3 plus two sixths Line 4: 3 plus one third equals 3 and one third"/>
          <p:cNvPicPr preferRelativeResize="0"/>
          <p:nvPr/>
        </p:nvPicPr>
        <p:blipFill>
          <a:blip r:embed="rId3">
            <a:alphaModFix/>
          </a:blip>
          <a:stretch>
            <a:fillRect/>
          </a:stretch>
        </p:blipFill>
        <p:spPr>
          <a:xfrm>
            <a:off x="5519250" y="1772225"/>
            <a:ext cx="2128750" cy="2935550"/>
          </a:xfrm>
          <a:prstGeom prst="rect">
            <a:avLst/>
          </a:prstGeom>
          <a:noFill/>
          <a:ln>
            <a:noFill/>
          </a:ln>
        </p:spPr>
      </p:pic>
      <p:pic>
        <p:nvPicPr>
          <p:cNvPr descr="4 lines Line 1: 3 plus two thirds times the square root of one fourth Line 2: 3 plus 0.667 times one half Line 3: 3 plus 0.667 times 0.5 Line 4: 3 plus 0.3335 equals 3.3335&#10;&#10;&lt;math xmlns=&quot;http://www.w3.org/1998/Math/MathML&quot; display=&quot;block&quot; data-is-equatio=&quot;1&quot; data-latex=&quot;\begin{array}{l}3+\frac{2}{3}\times\sqrt{\frac{1}{4}}\\&amp;#13;&amp;#10;3+0.667\ \times\frac{1}{2}\\&amp;#13;&amp;#10;3\ +\ 0.667\ \times0.5\\&amp;#13;&amp;#10;3+0.3335\ =\ 3.3335\end{array}&quot;&gt;&lt;mtable columnalign=&quot;left&quot; columnspacing=&quot;1em&quot; rowspacing=&quot;4pt&quot;&gt;&lt;mtr&gt;&lt;mtd&gt;&lt;mn&gt;3&lt;/mn&gt;&lt;mo&gt;+&lt;/mo&gt;&lt;mfrac&gt;&lt;mn&gt;2&lt;/mn&gt;&lt;mn&gt;3&lt;/mn&gt;&lt;/mfrac&gt;&lt;mo&gt;×&lt;/mo&gt;&lt;msqrt&gt;&lt;mfrac&gt;&lt;mn&gt;1&lt;/mn&gt;&lt;mn&gt;4&lt;/mn&gt;&lt;/mfrac&gt;&lt;/msqrt&gt;&lt;/mtd&gt;&lt;/mtr&gt;&lt;mtr&gt;&lt;mtd&gt;&lt;mn&gt;3&lt;/mn&gt;&lt;mo&gt;+&lt;/mo&gt;&lt;mn&gt;0.667&lt;/mn&gt;&lt;mtext&gt;&lt;/mtext&gt;&lt;mo&gt;×&lt;/mo&gt;&lt;mfrac&gt;&lt;mn&gt;1&lt;/mn&gt;&lt;mn&gt;2&lt;/mn&gt;&lt;/mfrac&gt;&lt;/mtd&gt;&lt;/mtr&gt;&lt;mtr&gt;&lt;mtd&gt;&lt;mn&gt;3&lt;/mn&gt;&lt;mtext&gt;&lt;/mtext&gt;&lt;mo&gt;+&lt;/mo&gt;&lt;mtext&gt;&lt;/mtext&gt;&lt;mn&gt;0.667&lt;/mn&gt;&lt;mtext&gt;&lt;/mtext&gt;&lt;mo&gt;×&lt;/mo&gt;&lt;mn&gt;0.5&lt;/mn&gt;&lt;/mtd&gt;&lt;/mtr&gt;&lt;mtr&gt;&lt;mtd&gt;&lt;mn&gt;3&lt;/mn&gt;&lt;mo&gt;+&lt;/mo&gt;&lt;mn&gt;0.3335&lt;/mn&gt;&lt;mtext&gt;&lt;/mtext&gt;&lt;mo&gt;=&lt;/mo&gt;&lt;mtext&gt;&lt;/mtext&gt;&lt;mn&gt;3.3335&lt;/mn&gt;&lt;/mtd&gt;&lt;/mtr&gt;&lt;/mtable&gt;&lt;/math&gt;" id="1337" name="Google Shape;1337;p96"/>
          <p:cNvPicPr preferRelativeResize="0"/>
          <p:nvPr/>
        </p:nvPicPr>
        <p:blipFill>
          <a:blip r:embed="rId4">
            <a:alphaModFix/>
          </a:blip>
          <a:stretch>
            <a:fillRect/>
          </a:stretch>
        </p:blipFill>
        <p:spPr>
          <a:xfrm>
            <a:off x="538650" y="2015648"/>
            <a:ext cx="3234175" cy="23043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1" name="Shape 1341"/>
        <p:cNvGrpSpPr/>
        <p:nvPr/>
      </p:nvGrpSpPr>
      <p:grpSpPr>
        <a:xfrm>
          <a:off x="0" y="0"/>
          <a:ext cx="0" cy="0"/>
          <a:chOff x="0" y="0"/>
          <a:chExt cx="0" cy="0"/>
        </a:xfrm>
      </p:grpSpPr>
      <p:sp>
        <p:nvSpPr>
          <p:cNvPr id="1342" name="Google Shape;1342;p97"/>
          <p:cNvSpPr/>
          <p:nvPr/>
        </p:nvSpPr>
        <p:spPr>
          <a:xfrm>
            <a:off x="422225" y="1410451"/>
            <a:ext cx="3485400" cy="33810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43" name="Google Shape;1343;p9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latin typeface="Kalam"/>
                <a:ea typeface="Kalam"/>
                <a:cs typeface="Kalam"/>
                <a:sym typeface="Kalam"/>
              </a:rPr>
              <a:t>The rounding of    made Andeep’s answer less accurate than Sofia’s. When using recurring decimals, fractional form ensures greater accuracy.</a:t>
            </a:r>
            <a:endParaRPr sz="1900">
              <a:latin typeface="Kalam"/>
              <a:ea typeface="Kalam"/>
              <a:cs typeface="Kalam"/>
              <a:sym typeface="Kalam"/>
            </a:endParaRPr>
          </a:p>
          <a:p>
            <a:pPr indent="0" lvl="0" marL="0" rtl="0" algn="l">
              <a:spcBef>
                <a:spcPts val="1000"/>
              </a:spcBef>
              <a:spcAft>
                <a:spcPts val="0"/>
              </a:spcAft>
              <a:buNone/>
            </a:pPr>
            <a:r>
              <a:t/>
            </a:r>
            <a:endParaRPr sz="1900">
              <a:latin typeface="Kalam"/>
              <a:ea typeface="Kalam"/>
              <a:cs typeface="Kalam"/>
              <a:sym typeface="Kalam"/>
            </a:endParaRPr>
          </a:p>
          <a:p>
            <a:pPr indent="0" lvl="0" marL="0" rtl="0" algn="l">
              <a:spcBef>
                <a:spcPts val="1000"/>
              </a:spcBef>
              <a:spcAft>
                <a:spcPts val="1000"/>
              </a:spcAft>
              <a:buNone/>
            </a:pPr>
            <a:r>
              <a:t/>
            </a:r>
            <a:endParaRPr sz="1900">
              <a:latin typeface="Kalam"/>
              <a:ea typeface="Kalam"/>
              <a:cs typeface="Kalam"/>
              <a:sym typeface="Kalam"/>
            </a:endParaRPr>
          </a:p>
        </p:txBody>
      </p:sp>
      <p:pic>
        <p:nvPicPr>
          <p:cNvPr descr="4 lines Line 1: 3 plus two thirds times the square root of one fourth Line 2: 3 plus 0.667 times one half Line 3: 3 plus 0.667 times 0.5 Line 4: 3 plus 0.3335 equals 3.3335&#10;&#10;&lt;math xmlns=&quot;http://www.w3.org/1998/Math/MathML&quot; display=&quot;block&quot; data-is-equatio=&quot;1&quot; data-latex=&quot;\begin{array}{l}3+\frac{2}{3}\times\sqrt{\frac{1}{4}}\\&amp;#13;&amp;#10;3+0.667\ \times\frac{1}{2}\\&amp;#13;&amp;#10;3\ +\ 0.667\ \times0.5\\&amp;#13;&amp;#10;3+0.3335\ =\ 3.3335\end{array}&quot;&gt;&lt;mtable columnalign=&quot;left&quot; columnspacing=&quot;1em&quot; rowspacing=&quot;4pt&quot;&gt;&lt;mtr&gt;&lt;mtd&gt;&lt;mn&gt;3&lt;/mn&gt;&lt;mo&gt;+&lt;/mo&gt;&lt;mfrac&gt;&lt;mn&gt;2&lt;/mn&gt;&lt;mn&gt;3&lt;/mn&gt;&lt;/mfrac&gt;&lt;mo&gt;×&lt;/mo&gt;&lt;msqrt&gt;&lt;mfrac&gt;&lt;mn&gt;1&lt;/mn&gt;&lt;mn&gt;4&lt;/mn&gt;&lt;/mfrac&gt;&lt;/msqrt&gt;&lt;/mtd&gt;&lt;/mtr&gt;&lt;mtr&gt;&lt;mtd&gt;&lt;mn&gt;3&lt;/mn&gt;&lt;mo&gt;+&lt;/mo&gt;&lt;mn&gt;0.667&lt;/mn&gt;&lt;mtext&gt;&lt;/mtext&gt;&lt;mo&gt;×&lt;/mo&gt;&lt;mfrac&gt;&lt;mn&gt;1&lt;/mn&gt;&lt;mn&gt;2&lt;/mn&gt;&lt;/mfrac&gt;&lt;/mtd&gt;&lt;/mtr&gt;&lt;mtr&gt;&lt;mtd&gt;&lt;mn&gt;3&lt;/mn&gt;&lt;mtext&gt;&lt;/mtext&gt;&lt;mo&gt;+&lt;/mo&gt;&lt;mtext&gt;&lt;/mtext&gt;&lt;mn&gt;0.667&lt;/mn&gt;&lt;mtext&gt;&lt;/mtext&gt;&lt;mo&gt;×&lt;/mo&gt;&lt;mn&gt;0.5&lt;/mn&gt;&lt;/mtd&gt;&lt;/mtr&gt;&lt;mtr&gt;&lt;mtd&gt;&lt;mn&gt;3&lt;/mn&gt;&lt;mo&gt;+&lt;/mo&gt;&lt;mn&gt;0.3335&lt;/mn&gt;&lt;mtext&gt;&lt;/mtext&gt;&lt;mo&gt;=&lt;/mo&gt;&lt;mtext&gt;&lt;/mtext&gt;&lt;mn&gt;3.3335&lt;/mn&gt;&lt;/mtd&gt;&lt;/mtr&gt;&lt;/mtable&gt;&lt;/math&gt;" id="1344" name="Google Shape;1344;p97"/>
          <p:cNvPicPr preferRelativeResize="0"/>
          <p:nvPr/>
        </p:nvPicPr>
        <p:blipFill>
          <a:blip r:embed="rId3">
            <a:alphaModFix/>
          </a:blip>
          <a:stretch>
            <a:fillRect/>
          </a:stretch>
        </p:blipFill>
        <p:spPr>
          <a:xfrm>
            <a:off x="538650" y="2015648"/>
            <a:ext cx="3234175" cy="2304350"/>
          </a:xfrm>
          <a:prstGeom prst="rect">
            <a:avLst/>
          </a:prstGeom>
          <a:noFill/>
          <a:ln>
            <a:noFill/>
          </a:ln>
        </p:spPr>
      </p:pic>
      <p:sp>
        <p:nvSpPr>
          <p:cNvPr id="1345" name="Google Shape;1345;p97"/>
          <p:cNvSpPr/>
          <p:nvPr/>
        </p:nvSpPr>
        <p:spPr>
          <a:xfrm>
            <a:off x="4723800" y="1381500"/>
            <a:ext cx="3485400" cy="34389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46" name="Google Shape;1346;p9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efficiently</a:t>
            </a:r>
            <a:endParaRPr/>
          </a:p>
        </p:txBody>
      </p:sp>
      <p:sp>
        <p:nvSpPr>
          <p:cNvPr id="1347" name="Google Shape;1347;p97"/>
          <p:cNvSpPr txBox="1"/>
          <p:nvPr/>
        </p:nvSpPr>
        <p:spPr>
          <a:xfrm>
            <a:off x="1566425" y="1410450"/>
            <a:ext cx="1197000" cy="47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900">
                <a:solidFill>
                  <a:schemeClr val="dk1"/>
                </a:solidFill>
                <a:latin typeface="Lexend"/>
                <a:ea typeface="Lexend"/>
                <a:cs typeface="Lexend"/>
                <a:sym typeface="Lexend"/>
              </a:rPr>
              <a:t>Andeep</a:t>
            </a:r>
            <a:endParaRPr/>
          </a:p>
        </p:txBody>
      </p:sp>
      <p:sp>
        <p:nvSpPr>
          <p:cNvPr id="1348" name="Google Shape;1348;p97"/>
          <p:cNvSpPr txBox="1"/>
          <p:nvPr/>
        </p:nvSpPr>
        <p:spPr>
          <a:xfrm>
            <a:off x="5886649" y="1327381"/>
            <a:ext cx="1073100" cy="47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900">
                <a:solidFill>
                  <a:schemeClr val="dk1"/>
                </a:solidFill>
                <a:latin typeface="Lexend"/>
                <a:ea typeface="Lexend"/>
                <a:cs typeface="Lexend"/>
                <a:sym typeface="Lexend"/>
              </a:rPr>
              <a:t>Sofia</a:t>
            </a:r>
            <a:endParaRPr/>
          </a:p>
        </p:txBody>
      </p:sp>
      <p:pic>
        <p:nvPicPr>
          <p:cNvPr descr="&lt;math xmlns=&quot;http://www.w3.org/1998/Math/MathML&quot; display=&quot;block&quot; data-is-equatio=&quot;1&quot; data-latex=&quot;\begin{array}{l}3+\frac{2}{3}\times\sqrt{\frac{1}{4}}\\&amp;#13;&amp;#10;3+\frac{2}{3}\times\frac{1}{2}\\&amp;#13;&amp;#10;3\ +\ \frac{2}{6}\\&amp;#13;&amp;#10;3+\frac{1}{3}\ =\ 3\frac{1}{3}\end{array}&quot;&gt;&lt;mtable columnalign=&quot;left&quot; columnspacing=&quot;1em&quot; rowspacing=&quot;4pt&quot;&gt;&lt;mtr&gt;&lt;mtd&gt;&lt;mn&gt;3&lt;/mn&gt;&lt;mo&gt;+&lt;/mo&gt;&lt;mfrac&gt;&lt;mn&gt;2&lt;/mn&gt;&lt;mn&gt;3&lt;/mn&gt;&lt;/mfrac&gt;&lt;mo&gt;×&lt;/mo&gt;&lt;msqrt&gt;&lt;mfrac&gt;&lt;mn&gt;1&lt;/mn&gt;&lt;mn&gt;4&lt;/mn&gt;&lt;/mfrac&gt;&lt;/msqrt&gt;&lt;/mtd&gt;&lt;/mtr&gt;&lt;mtr&gt;&lt;mtd&gt;&lt;mn&gt;3&lt;/mn&gt;&lt;mo&gt;+&lt;/mo&gt;&lt;mfrac&gt;&lt;mn&gt;2&lt;/mn&gt;&lt;mn&gt;3&lt;/mn&gt;&lt;/mfrac&gt;&lt;mo&gt;×&lt;/mo&gt;&lt;mfrac&gt;&lt;mn&gt;1&lt;/mn&gt;&lt;mn&gt;2&lt;/mn&gt;&lt;/mfrac&gt;&lt;/mtd&gt;&lt;/mtr&gt;&lt;mtr&gt;&lt;mtd&gt;&lt;mn&gt;3&lt;/mn&gt;&lt;mtext&gt;&lt;/mtext&gt;&lt;mo&gt;+&lt;/mo&gt;&lt;mtext&gt;&lt;/mtext&gt;&lt;mfrac&gt;&lt;mn&gt;2&lt;/mn&gt;&lt;mn&gt;6&lt;/mn&gt;&lt;/mfrac&gt;&lt;/mtd&gt;&lt;/mtr&gt;&lt;mtr&gt;&lt;mtd&gt;&lt;mn&gt;3&lt;/mn&gt;&lt;mo&gt;+&lt;/mo&gt;&lt;mfrac&gt;&lt;mn&gt;1&lt;/mn&gt;&lt;mn&gt;3&lt;/mn&gt;&lt;/mfrac&gt;&lt;mtext&gt;&lt;/mtext&gt;&lt;mo&gt;=&lt;/mo&gt;&lt;mtext&gt;&lt;/mtext&gt;&lt;mn&gt;3&lt;/mn&gt;&lt;mfrac&gt;&lt;mn&gt;1&lt;/mn&gt;&lt;mn&gt;3&lt;/mn&gt;&lt;/mfrac&gt;&lt;/mtd&gt;&lt;/mtr&gt;&lt;/mtable&gt;&lt;/math&gt;" id="1349" name="Google Shape;1349;p97" title="4 lines Line 1: 3 plus two thirds times the square root of one fourth Line 2: 3 plus two thirds times one half Line 3: 3 plus two sixths Line 4: 3 plus one third equals 3 and one third"/>
          <p:cNvPicPr preferRelativeResize="0"/>
          <p:nvPr/>
        </p:nvPicPr>
        <p:blipFill>
          <a:blip r:embed="rId4">
            <a:alphaModFix/>
          </a:blip>
          <a:stretch>
            <a:fillRect/>
          </a:stretch>
        </p:blipFill>
        <p:spPr>
          <a:xfrm>
            <a:off x="5519250" y="1772225"/>
            <a:ext cx="2128750" cy="2935550"/>
          </a:xfrm>
          <a:prstGeom prst="rect">
            <a:avLst/>
          </a:prstGeom>
          <a:noFill/>
          <a:ln>
            <a:noFill/>
          </a:ln>
        </p:spPr>
      </p:pic>
      <p:pic>
        <p:nvPicPr>
          <p:cNvPr descr="&lt;math xmlns=&quot;http://www.w3.org/1998/Math/MathML&quot; display=&quot;block&quot; data-is-equatio=&quot;1&quot; data-latex=&quot;\frac{2}{3}&quot;&gt;&lt;mfrac&gt;&lt;mn&gt;2&lt;/mn&gt;&lt;mn&gt;3&lt;/mn&gt;&lt;/mfrac&gt;&lt;/math&gt;" id="1350" name="Google Shape;1350;p97" title="two thirds"/>
          <p:cNvPicPr preferRelativeResize="0"/>
          <p:nvPr/>
        </p:nvPicPr>
        <p:blipFill>
          <a:blip r:embed="rId5">
            <a:alphaModFix/>
          </a:blip>
          <a:stretch>
            <a:fillRect/>
          </a:stretch>
        </p:blipFill>
        <p:spPr>
          <a:xfrm>
            <a:off x="2084200" y="613500"/>
            <a:ext cx="144130" cy="4770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4" name="Shape 1354"/>
        <p:cNvGrpSpPr/>
        <p:nvPr/>
      </p:nvGrpSpPr>
      <p:grpSpPr>
        <a:xfrm>
          <a:off x="0" y="0"/>
          <a:ext cx="0" cy="0"/>
          <a:chOff x="0" y="0"/>
          <a:chExt cx="0" cy="0"/>
        </a:xfrm>
      </p:grpSpPr>
      <p:sp>
        <p:nvSpPr>
          <p:cNvPr id="1355" name="Google Shape;1355;p9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Calculating efficiently</a:t>
            </a:r>
            <a:endParaRPr/>
          </a:p>
          <a:p>
            <a:pPr indent="0" lvl="0" marL="0" rtl="0" algn="l">
              <a:spcBef>
                <a:spcPts val="1000"/>
              </a:spcBef>
              <a:spcAft>
                <a:spcPts val="1000"/>
              </a:spcAft>
              <a:buNone/>
            </a:pPr>
            <a:r>
              <a:t/>
            </a:r>
            <a:endParaRPr/>
          </a:p>
        </p:txBody>
      </p:sp>
      <p:sp>
        <p:nvSpPr>
          <p:cNvPr id="1356" name="Google Shape;1356;p98"/>
          <p:cNvSpPr txBox="1"/>
          <p:nvPr>
            <p:ph idx="4294967295" type="subTitle"/>
          </p:nvPr>
        </p:nvSpPr>
        <p:spPr>
          <a:xfrm>
            <a:off x="337825" y="733800"/>
            <a:ext cx="8353800" cy="810000"/>
          </a:xfrm>
          <a:prstGeom prst="rect">
            <a:avLst/>
          </a:prstGeom>
        </p:spPr>
        <p:txBody>
          <a:bodyPr anchorCtr="0" anchor="t" bIns="0" lIns="0" spcFirstLastPara="1" rIns="0" wrap="square" tIns="0">
            <a:noAutofit/>
          </a:bodyPr>
          <a:lstStyle/>
          <a:p>
            <a:pPr indent="-368300" lvl="0" marL="457200" rtl="0" algn="l">
              <a:spcBef>
                <a:spcPts val="0"/>
              </a:spcBef>
              <a:spcAft>
                <a:spcPts val="0"/>
              </a:spcAft>
              <a:buSzPts val="2200"/>
              <a:buAutoNum type="arabicParenR"/>
            </a:pPr>
            <a:r>
              <a:rPr lang="en-GB"/>
              <a:t>Fill in the blanks to complete the calculation.</a:t>
            </a:r>
            <a:endParaRPr/>
          </a:p>
        </p:txBody>
      </p:sp>
      <p:pic>
        <p:nvPicPr>
          <p:cNvPr descr="&lt;math xmlns=&quot;http://www.w3.org/1998/Math/MathML&quot; display=&quot;block&quot; data-is-equatio=&quot;1&quot; data-latex=&quot;\begin{array}{l}2\ -\ \left(\frac{2}{5}\right)^2\times\sqrt{\frac{49}{100}}\\&amp;#13;&amp;#10;2\ -\frac{4}{25}\times\frac{7}{10}\\&amp;#13;&amp;#10;2\ -\ \frac{28}{250}\\&amp;#13;&amp;#10;\frac{500}{250}-\frac{28}{250}=\ \frac{472}{250}=\frac{236}{125}=1\frac{111}{125}\end{array}&quot;&gt;&lt;mtable columnalign=&quot;left&quot; columnspacing=&quot;1em&quot; rowspacing=&quot;4pt&quot;&gt;&lt;mtr&gt;&lt;mtd&gt;&lt;mn&gt;2&lt;/mn&gt;&lt;mtext&gt;&lt;/mtext&gt;&lt;mo&gt;−&lt;/mo&gt;&lt;mtext&gt;&lt;/mtext&gt;&lt;msup&gt;&lt;mrow data-mjx-texclass=&quot;INNER&quot;&gt;&lt;mo data-mjx-texclass=&quot;OPEN&quot;&gt;(&lt;/mo&gt;&lt;mfrac&gt;&lt;mn&gt;2&lt;/mn&gt;&lt;mn&gt;5&lt;/mn&gt;&lt;/mfrac&gt;&lt;mo data-mjx-texclass=&quot;CLOSE&quot;&gt;)&lt;/mo&gt;&lt;/mrow&gt;&lt;mn&gt;2&lt;/mn&gt;&lt;/msup&gt;&lt;mo&gt;×&lt;/mo&gt;&lt;msqrt&gt;&lt;mfrac&gt;&lt;mn&gt;49&lt;/mn&gt;&lt;mn&gt;100&lt;/mn&gt;&lt;/mfrac&gt;&lt;/msqrt&gt;&lt;/mtd&gt;&lt;/mtr&gt;&lt;mtr&gt;&lt;mtd&gt;&lt;mn&gt;2&lt;/mn&gt;&lt;mtext&gt;&lt;/mtext&gt;&lt;mo&gt;−&lt;/mo&gt;&lt;mfrac&gt;&lt;mn&gt;4&lt;/mn&gt;&lt;mn&gt;25&lt;/mn&gt;&lt;/mfrac&gt;&lt;mo&gt;×&lt;/mo&gt;&lt;mfrac&gt;&lt;mn&gt;7&lt;/mn&gt;&lt;mn&gt;10&lt;/mn&gt;&lt;/mfrac&gt;&lt;/mtd&gt;&lt;/mtr&gt;&lt;mtr&gt;&lt;mtd&gt;&lt;mn&gt;2&lt;/mn&gt;&lt;mtext&gt;&lt;/mtext&gt;&lt;mo&gt;−&lt;/mo&gt;&lt;mtext&gt;&lt;/mtext&gt;&lt;mfrac&gt;&lt;mn&gt;28&lt;/mn&gt;&lt;mn&gt;250&lt;/mn&gt;&lt;/mfrac&gt;&lt;/mtd&gt;&lt;/mtr&gt;&lt;mtr&gt;&lt;mtd&gt;&lt;mfrac&gt;&lt;mn&gt;500&lt;/mn&gt;&lt;mn&gt;250&lt;/mn&gt;&lt;/mfrac&gt;&lt;mo&gt;−&lt;/mo&gt;&lt;mfrac&gt;&lt;mn&gt;28&lt;/mn&gt;&lt;mn&gt;250&lt;/mn&gt;&lt;/mfrac&gt;&lt;mo&gt;=&lt;/mo&gt;&lt;mtext&gt;&lt;/mtext&gt;&lt;mfrac&gt;&lt;mn&gt;472&lt;/mn&gt;&lt;mn&gt;250&lt;/mn&gt;&lt;/mfrac&gt;&lt;mo&gt;=&lt;/mo&gt;&lt;mfrac&gt;&lt;mn&gt;236&lt;/mn&gt;&lt;mn&gt;125&lt;/mn&gt;&lt;/mfrac&gt;&lt;mo&gt;=&lt;/mo&gt;&lt;mn&gt;1&lt;/mn&gt;&lt;mfrac&gt;&lt;mn&gt;111&lt;/mn&gt;&lt;mn&gt;125&lt;/mn&gt;&lt;/mfrac&gt;&lt;/mtd&gt;&lt;/mtr&gt;&lt;/mtable&gt;&lt;/math&gt;" id="1357" name="Google Shape;1357;p98" title="4 lines Line 1: 2 minus two fifths squared times the square root of 49 over 100 Line 2: 2 negative 4 over 25 times seven tenths Line 3: 2 minus 28 over 250 Line 4: 500 over 250 minus 28 over 250 equals 472 over 250 equals 236 over 125 equals 1 and 111 over 125"/>
          <p:cNvPicPr preferRelativeResize="0"/>
          <p:nvPr/>
        </p:nvPicPr>
        <p:blipFill>
          <a:blip r:embed="rId3">
            <a:alphaModFix/>
          </a:blip>
          <a:stretch>
            <a:fillRect/>
          </a:stretch>
        </p:blipFill>
        <p:spPr>
          <a:xfrm>
            <a:off x="2343175" y="1203800"/>
            <a:ext cx="5450099" cy="3116200"/>
          </a:xfrm>
          <a:prstGeom prst="rect">
            <a:avLst/>
          </a:prstGeom>
          <a:noFill/>
          <a:ln>
            <a:noFill/>
          </a:ln>
        </p:spPr>
      </p:pic>
      <p:sp>
        <p:nvSpPr>
          <p:cNvPr id="1358" name="Google Shape;1358;p98"/>
          <p:cNvSpPr/>
          <p:nvPr/>
        </p:nvSpPr>
        <p:spPr>
          <a:xfrm>
            <a:off x="3142350" y="2112575"/>
            <a:ext cx="516300" cy="725100"/>
          </a:xfrm>
          <a:prstGeom prst="rect">
            <a:avLst/>
          </a:prstGeom>
          <a:solidFill>
            <a:schemeClr val="lt1"/>
          </a:solidFill>
          <a:ln cap="flat" cmpd="sng" w="19050">
            <a:solidFill>
              <a:schemeClr val="accent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59" name="Google Shape;1359;p98"/>
          <p:cNvSpPr/>
          <p:nvPr/>
        </p:nvSpPr>
        <p:spPr>
          <a:xfrm>
            <a:off x="4061850" y="2112575"/>
            <a:ext cx="516300" cy="725100"/>
          </a:xfrm>
          <a:prstGeom prst="rect">
            <a:avLst/>
          </a:prstGeom>
          <a:solidFill>
            <a:schemeClr val="lt1"/>
          </a:solidFill>
          <a:ln cap="flat" cmpd="sng" w="19050">
            <a:solidFill>
              <a:schemeClr val="accent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0" name="Google Shape;1360;p98"/>
          <p:cNvSpPr/>
          <p:nvPr/>
        </p:nvSpPr>
        <p:spPr>
          <a:xfrm>
            <a:off x="3250925" y="2877450"/>
            <a:ext cx="570000" cy="337200"/>
          </a:xfrm>
          <a:prstGeom prst="rect">
            <a:avLst/>
          </a:prstGeom>
          <a:solidFill>
            <a:schemeClr val="lt1"/>
          </a:solidFill>
          <a:ln cap="flat" cmpd="sng" w="19050">
            <a:solidFill>
              <a:schemeClr val="accent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1" name="Google Shape;1361;p98"/>
          <p:cNvSpPr/>
          <p:nvPr/>
        </p:nvSpPr>
        <p:spPr>
          <a:xfrm>
            <a:off x="2343175" y="3600600"/>
            <a:ext cx="570000" cy="337200"/>
          </a:xfrm>
          <a:prstGeom prst="rect">
            <a:avLst/>
          </a:prstGeom>
          <a:solidFill>
            <a:schemeClr val="lt1"/>
          </a:solidFill>
          <a:ln cap="flat" cmpd="sng" w="19050">
            <a:solidFill>
              <a:schemeClr val="accent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2" name="Google Shape;1362;p98"/>
          <p:cNvSpPr/>
          <p:nvPr/>
        </p:nvSpPr>
        <p:spPr>
          <a:xfrm>
            <a:off x="3415600" y="3611400"/>
            <a:ext cx="570000" cy="337200"/>
          </a:xfrm>
          <a:prstGeom prst="rect">
            <a:avLst/>
          </a:prstGeom>
          <a:solidFill>
            <a:schemeClr val="lt1"/>
          </a:solidFill>
          <a:ln cap="flat" cmpd="sng" w="19050">
            <a:solidFill>
              <a:schemeClr val="accent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3" name="Google Shape;1363;p98"/>
          <p:cNvSpPr/>
          <p:nvPr/>
        </p:nvSpPr>
        <p:spPr>
          <a:xfrm>
            <a:off x="4712675" y="3611400"/>
            <a:ext cx="570000" cy="337200"/>
          </a:xfrm>
          <a:prstGeom prst="rect">
            <a:avLst/>
          </a:prstGeom>
          <a:solidFill>
            <a:schemeClr val="lt1"/>
          </a:solidFill>
          <a:ln cap="flat" cmpd="sng" w="19050">
            <a:solidFill>
              <a:schemeClr val="accent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4" name="Google Shape;1364;p98"/>
          <p:cNvSpPr/>
          <p:nvPr/>
        </p:nvSpPr>
        <p:spPr>
          <a:xfrm>
            <a:off x="5860875" y="3611400"/>
            <a:ext cx="570000" cy="337200"/>
          </a:xfrm>
          <a:prstGeom prst="rect">
            <a:avLst/>
          </a:prstGeom>
          <a:solidFill>
            <a:schemeClr val="lt1"/>
          </a:solidFill>
          <a:ln cap="flat" cmpd="sng" w="19050">
            <a:solidFill>
              <a:schemeClr val="accent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5" name="Google Shape;1365;p98"/>
          <p:cNvSpPr/>
          <p:nvPr/>
        </p:nvSpPr>
        <p:spPr>
          <a:xfrm>
            <a:off x="7268825" y="3656425"/>
            <a:ext cx="570000" cy="337200"/>
          </a:xfrm>
          <a:prstGeom prst="rect">
            <a:avLst/>
          </a:prstGeom>
          <a:solidFill>
            <a:schemeClr val="lt1"/>
          </a:solidFill>
          <a:ln cap="flat" cmpd="sng" w="19050">
            <a:solidFill>
              <a:schemeClr val="accent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9" name="Shape 1369"/>
        <p:cNvGrpSpPr/>
        <p:nvPr/>
      </p:nvGrpSpPr>
      <p:grpSpPr>
        <a:xfrm>
          <a:off x="0" y="0"/>
          <a:ext cx="0" cy="0"/>
          <a:chOff x="0" y="0"/>
          <a:chExt cx="0" cy="0"/>
        </a:xfrm>
      </p:grpSpPr>
      <p:pic>
        <p:nvPicPr>
          <p:cNvPr descr="&lt;math xmlns=&quot;http://www.w3.org/1998/Math/MathML&quot; display=&quot;block&quot; data-is-equatio=&quot;1&quot; data-latex=&quot;\begin{array}{l}\frac{9}{10}+\left(2.4\ \div0.8\right)\ \times\frac{2}{3}\\&amp;#13;&amp;#10;\frac{9}{10}+\frac{2.4}{0.8}\times\frac{2}{3}\\&amp;#13;&amp;#10;\frac{9}{10}+\frac{24}{8}\times\frac{2}{3}\\&amp;#13;&amp;#10;\frac{9}{10}+\frac{48}{24}=\ \frac{9}{10}+2=2\frac{9}{10}\end{array}&quot;&gt;&lt;mtable columnalign=&quot;left&quot; columnspacing=&quot;1em&quot; rowspacing=&quot;4pt&quot;&gt;&lt;mtr&gt;&lt;mtd&gt;&lt;mfrac&gt;&lt;mn&gt;9&lt;/mn&gt;&lt;mn&gt;10&lt;/mn&gt;&lt;/mfrac&gt;&lt;mo&gt;+&lt;/mo&gt;&lt;mrow data-mjx-texclass=&quot;INNER&quot;&gt;&lt;mo data-mjx-texclass=&quot;OPEN&quot;&gt;(&lt;/mo&gt;&lt;mn&gt;2.4&lt;/mn&gt;&lt;mtext&gt;&lt;/mtext&gt;&lt;mo&gt;÷&lt;/mo&gt;&lt;mn&gt;0.8&lt;/mn&gt;&lt;mo data-mjx-texclass=&quot;CLOSE&quot;&gt;)&lt;/mo&gt;&lt;/mrow&gt;&lt;mtext&gt;&lt;/mtext&gt;&lt;mo&gt;×&lt;/mo&gt;&lt;mfrac&gt;&lt;mn&gt;2&lt;/mn&gt;&lt;mn&gt;3&lt;/mn&gt;&lt;/mfrac&gt;&lt;/mtd&gt;&lt;/mtr&gt;&lt;mtr&gt;&lt;mtd&gt;&lt;mfrac&gt;&lt;mn&gt;9&lt;/mn&gt;&lt;mn&gt;10&lt;/mn&gt;&lt;/mfrac&gt;&lt;mo&gt;+&lt;/mo&gt;&lt;mfrac&gt;&lt;mn&gt;2.4&lt;/mn&gt;&lt;mn&gt;0.8&lt;/mn&gt;&lt;/mfrac&gt;&lt;mo&gt;×&lt;/mo&gt;&lt;mfrac&gt;&lt;mn&gt;2&lt;/mn&gt;&lt;mn&gt;3&lt;/mn&gt;&lt;/mfrac&gt;&lt;/mtd&gt;&lt;/mtr&gt;&lt;mtr&gt;&lt;mtd&gt;&lt;mfrac&gt;&lt;mn&gt;9&lt;/mn&gt;&lt;mn&gt;10&lt;/mn&gt;&lt;/mfrac&gt;&lt;mo&gt;+&lt;/mo&gt;&lt;mfrac&gt;&lt;mn&gt;24&lt;/mn&gt;&lt;mn&gt;8&lt;/mn&gt;&lt;/mfrac&gt;&lt;mo&gt;×&lt;/mo&gt;&lt;mfrac&gt;&lt;mn&gt;2&lt;/mn&gt;&lt;mn&gt;3&lt;/mn&gt;&lt;/mfrac&gt;&lt;/mtd&gt;&lt;/mtr&gt;&lt;mtr&gt;&lt;mtd&gt;&lt;mfrac&gt;&lt;mn&gt;9&lt;/mn&gt;&lt;mn&gt;10&lt;/mn&gt;&lt;/mfrac&gt;&lt;mo&gt;+&lt;/mo&gt;&lt;mfrac&gt;&lt;mn&gt;48&lt;/mn&gt;&lt;mn&gt;24&lt;/mn&gt;&lt;/mfrac&gt;&lt;mo&gt;=&lt;/mo&gt;&lt;mtext&gt;&lt;/mtext&gt;&lt;mfrac&gt;&lt;mn&gt;9&lt;/mn&gt;&lt;mn&gt;10&lt;/mn&gt;&lt;/mfrac&gt;&lt;mo&gt;+&lt;/mo&gt;&lt;mn&gt;2&lt;/mn&gt;&lt;mo&gt;=&lt;/mo&gt;&lt;mn&gt;2&lt;/mn&gt;&lt;mfrac&gt;&lt;mn&gt;9&lt;/mn&gt;&lt;mn&gt;10&lt;/mn&gt;&lt;/mfrac&gt;&lt;/mtd&gt;&lt;/mtr&gt;&lt;/mtable&gt;&lt;/math&gt;" id="1370" name="Google Shape;1370;p99" title="4 lines Line 1: nine tenths plus open paren 2.4 division sign 0.8 close paren times two thirds Line 2: nine tenths plus 2.4 over 0.8 times two thirds Line 3: nine tenths plus 24 over 8 times two thirds Line 4: nine tenths plus 48 over 24 equals nine tenths plus 2 equals 2 and nine tenths"/>
          <p:cNvPicPr preferRelativeResize="0"/>
          <p:nvPr/>
        </p:nvPicPr>
        <p:blipFill rotWithShape="1">
          <a:blip r:embed="rId3">
            <a:alphaModFix/>
          </a:blip>
          <a:srcRect b="77957" l="0" r="0" t="0"/>
          <a:stretch/>
        </p:blipFill>
        <p:spPr>
          <a:xfrm>
            <a:off x="813300" y="1789225"/>
            <a:ext cx="4028151" cy="593777"/>
          </a:xfrm>
          <a:prstGeom prst="rect">
            <a:avLst/>
          </a:prstGeom>
          <a:noFill/>
          <a:ln>
            <a:noFill/>
          </a:ln>
        </p:spPr>
      </p:pic>
      <p:sp>
        <p:nvSpPr>
          <p:cNvPr id="1371" name="Google Shape;1371;p99"/>
          <p:cNvSpPr txBox="1"/>
          <p:nvPr/>
        </p:nvSpPr>
        <p:spPr>
          <a:xfrm>
            <a:off x="324000" y="755875"/>
            <a:ext cx="8670000" cy="963600"/>
          </a:xfrm>
          <a:prstGeom prst="rect">
            <a:avLst/>
          </a:prstGeom>
          <a:noFill/>
          <a:ln>
            <a:noFill/>
          </a:ln>
        </p:spPr>
        <p:txBody>
          <a:bodyPr anchorCtr="0" anchor="t" bIns="91425" lIns="0" spcFirstLastPara="1" rIns="91425" wrap="square" tIns="91425">
            <a:spAutoFit/>
          </a:bodyPr>
          <a:lstStyle/>
          <a:p>
            <a:pPr indent="0" lvl="0" marL="0" rtl="0" algn="l">
              <a:lnSpc>
                <a:spcPct val="130000"/>
              </a:lnSpc>
              <a:spcBef>
                <a:spcPts val="0"/>
              </a:spcBef>
              <a:spcAft>
                <a:spcPts val="1000"/>
              </a:spcAft>
              <a:buNone/>
            </a:pPr>
            <a:r>
              <a:rPr lang="en-GB" sz="2200">
                <a:solidFill>
                  <a:schemeClr val="dk1"/>
                </a:solidFill>
                <a:latin typeface="Lexend"/>
                <a:ea typeface="Lexend"/>
                <a:cs typeface="Lexend"/>
                <a:sym typeface="Lexend"/>
              </a:rPr>
              <a:t>2</a:t>
            </a:r>
            <a:r>
              <a:rPr lang="en-GB" sz="2200">
                <a:solidFill>
                  <a:schemeClr val="dk1"/>
                </a:solidFill>
                <a:latin typeface="Lexend"/>
                <a:ea typeface="Lexend"/>
                <a:cs typeface="Lexend"/>
                <a:sym typeface="Lexend"/>
              </a:rPr>
              <a:t>) Work out the answer to the following, making sure to give your answer as a mixed number in its simplest form.</a:t>
            </a:r>
            <a:endParaRPr/>
          </a:p>
        </p:txBody>
      </p:sp>
      <p:sp>
        <p:nvSpPr>
          <p:cNvPr id="1372" name="Google Shape;1372;p99"/>
          <p:cNvSpPr txBox="1"/>
          <p:nvPr/>
        </p:nvSpPr>
        <p:spPr>
          <a:xfrm>
            <a:off x="4841450" y="1782338"/>
            <a:ext cx="6036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b)</a:t>
            </a:r>
            <a:endParaRPr/>
          </a:p>
        </p:txBody>
      </p:sp>
      <p:sp>
        <p:nvSpPr>
          <p:cNvPr id="1373" name="Google Shape;1373;p99"/>
          <p:cNvSpPr txBox="1"/>
          <p:nvPr/>
        </p:nvSpPr>
        <p:spPr>
          <a:xfrm>
            <a:off x="209700" y="1782338"/>
            <a:ext cx="6036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a)</a:t>
            </a:r>
            <a:endParaRPr/>
          </a:p>
        </p:txBody>
      </p:sp>
      <p:sp>
        <p:nvSpPr>
          <p:cNvPr id="1374" name="Google Shape;1374;p99"/>
          <p:cNvSpPr txBox="1"/>
          <p:nvPr/>
        </p:nvSpPr>
        <p:spPr>
          <a:xfrm>
            <a:off x="1764825" y="2700000"/>
            <a:ext cx="1917600" cy="92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2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begin{array}{l}15+\left(3\div5\right)\ \times\left(0.3\ \div4\right)\\&amp;#13;&amp;#10;15+\frac{3}{5}\times\frac{0.3}{4}\\&amp;#13;&amp;#10;15+\frac{3}{5}\times\frac{30}{40}\\&amp;#13;&amp;#10;15+\frac{90}{200}=15+\frac{9}{20}=15\frac{9}{20}\end{array}&quot;&gt;&lt;mtable columnalign=&quot;left&quot; columnspacing=&quot;1em&quot; rowspacing=&quot;4pt&quot;&gt;&lt;mtr&gt;&lt;mtd&gt;&lt;mn&gt;15&lt;/mn&gt;&lt;mo&gt;+&lt;/mo&gt;&lt;mrow data-mjx-texclass=&quot;INNER&quot;&gt;&lt;mo data-mjx-texclass=&quot;OPEN&quot;&gt;(&lt;/mo&gt;&lt;mn&gt;3&lt;/mn&gt;&lt;mo&gt;÷&lt;/mo&gt;&lt;mn&gt;5&lt;/mn&gt;&lt;mo data-mjx-texclass=&quot;CLOSE&quot;&gt;)&lt;/mo&gt;&lt;/mrow&gt;&lt;mtext&gt;&lt;/mtext&gt;&lt;mo&gt;×&lt;/mo&gt;&lt;mrow data-mjx-texclass=&quot;INNER&quot;&gt;&lt;mo data-mjx-texclass=&quot;OPEN&quot;&gt;(&lt;/mo&gt;&lt;mn&gt;0.3&lt;/mn&gt;&lt;mtext&gt;&lt;/mtext&gt;&lt;mo&gt;÷&lt;/mo&gt;&lt;mn&gt;4&lt;/mn&gt;&lt;mo data-mjx-texclass=&quot;CLOSE&quot;&gt;)&lt;/mo&gt;&lt;/mrow&gt;&lt;/mtd&gt;&lt;/mtr&gt;&lt;mtr&gt;&lt;mtd&gt;&lt;mn&gt;15&lt;/mn&gt;&lt;mo&gt;+&lt;/mo&gt;&lt;mfrac&gt;&lt;mn&gt;3&lt;/mn&gt;&lt;mn&gt;5&lt;/mn&gt;&lt;/mfrac&gt;&lt;mo&gt;×&lt;/mo&gt;&lt;mfrac&gt;&lt;mn&gt;0.3&lt;/mn&gt;&lt;mn&gt;4&lt;/mn&gt;&lt;/mfrac&gt;&lt;/mtd&gt;&lt;/mtr&gt;&lt;mtr&gt;&lt;mtd&gt;&lt;mn&gt;15&lt;/mn&gt;&lt;mo&gt;+&lt;/mo&gt;&lt;mfrac&gt;&lt;mn&gt;3&lt;/mn&gt;&lt;mn&gt;5&lt;/mn&gt;&lt;/mfrac&gt;&lt;mo&gt;×&lt;/mo&gt;&lt;mfrac&gt;&lt;mn&gt;30&lt;/mn&gt;&lt;mn&gt;40&lt;/mn&gt;&lt;/mfrac&gt;&lt;/mtd&gt;&lt;/mtr&gt;&lt;mtr&gt;&lt;mtd&gt;&lt;mn&gt;15&lt;/mn&gt;&lt;mo&gt;+&lt;/mo&gt;&lt;mfrac&gt;&lt;mn&gt;90&lt;/mn&gt;&lt;mn&gt;200&lt;/mn&gt;&lt;/mfrac&gt;&lt;mo&gt;=&lt;/mo&gt;&lt;mn&gt;15&lt;/mn&gt;&lt;mo&gt;+&lt;/mo&gt;&lt;mfrac&gt;&lt;mn&gt;9&lt;/mn&gt;&lt;mn&gt;20&lt;/mn&gt;&lt;/mfrac&gt;&lt;mo&gt;=&lt;/mo&gt;&lt;mn&gt;15&lt;/mn&gt;&lt;mfrac&gt;&lt;mn&gt;9&lt;/mn&gt;&lt;mn&gt;20&lt;/mn&gt;&lt;/mfrac&gt;&lt;/mtd&gt;&lt;/mtr&gt;&lt;/mtable&gt;&lt;/math&gt;" id="1375" name="Google Shape;1375;p99" title="4 lines Line 1: 15 plus open paren 3 divided by 5 close paren times open paren 0.3 division sign 4 close paren Line 2: 15 plus three fifths times 0.3 over 4 Line 3: 15 plus three fifths times 30 over 40 Line 4: 15 plus 90 over 200 equals 15 plus 9 over 20 equals 15 and 9 over 20"/>
          <p:cNvPicPr preferRelativeResize="0"/>
          <p:nvPr/>
        </p:nvPicPr>
        <p:blipFill rotWithShape="1">
          <a:blip r:embed="rId4">
            <a:alphaModFix/>
          </a:blip>
          <a:srcRect b="82066" l="0" r="9239" t="0"/>
          <a:stretch/>
        </p:blipFill>
        <p:spPr>
          <a:xfrm>
            <a:off x="5359025" y="1897300"/>
            <a:ext cx="3400626" cy="377625"/>
          </a:xfrm>
          <a:prstGeom prst="rect">
            <a:avLst/>
          </a:prstGeom>
          <a:noFill/>
          <a:ln>
            <a:noFill/>
          </a:ln>
        </p:spPr>
      </p:pic>
      <p:sp>
        <p:nvSpPr>
          <p:cNvPr id="1376" name="Google Shape;1376;p99"/>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Calculating efficiently</a:t>
            </a:r>
            <a:endParaRPr/>
          </a:p>
          <a:p>
            <a:pPr indent="0" lvl="0" marL="0" rtl="0" algn="l">
              <a:spcBef>
                <a:spcPts val="1000"/>
              </a:spcBef>
              <a:spcAft>
                <a:spcPts val="100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0" name="Shape 1380"/>
        <p:cNvGrpSpPr/>
        <p:nvPr/>
      </p:nvGrpSpPr>
      <p:grpSpPr>
        <a:xfrm>
          <a:off x="0" y="0"/>
          <a:ext cx="0" cy="0"/>
          <a:chOff x="0" y="0"/>
          <a:chExt cx="0" cy="0"/>
        </a:xfrm>
      </p:grpSpPr>
      <p:sp>
        <p:nvSpPr>
          <p:cNvPr id="1381" name="Google Shape;1381;p100"/>
          <p:cNvSpPr txBox="1"/>
          <p:nvPr>
            <p:ph idx="4294967295" type="subTitle"/>
          </p:nvPr>
        </p:nvSpPr>
        <p:spPr>
          <a:xfrm>
            <a:off x="337825" y="733800"/>
            <a:ext cx="8353800" cy="810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3) </a:t>
            </a:r>
            <a:r>
              <a:rPr lang="en-GB"/>
              <a:t>Work out the answer to the following, making sure to give your answer as a mixed number in its simplest form.</a:t>
            </a:r>
            <a:endParaRPr/>
          </a:p>
        </p:txBody>
      </p:sp>
      <p:pic>
        <p:nvPicPr>
          <p:cNvPr descr="&lt;math xmlns=&quot;http://www.w3.org/1998/Math/MathML&quot; display=&quot;block&quot; data-is-equatio=&quot;1&quot; data-latex=&quot;\begin{array}{l}2\ -\frac{3}{4}\times\sqrt{\frac{49}{81}}\\&amp;#13;&amp;#10;2\ -\ \frac{3}{4}\times\frac{7}{9}\\&amp;#13;&amp;#10;2\ -\ \frac{21}{36}\ =\ \frac{72}{36}-\frac{21}{36}=\frac{51}{36}=\frac{17}{12}=1\frac{5}{12}\end{array}&quot;&gt;&lt;mtable columnalign=&quot;left&quot; columnspacing=&quot;1em&quot; rowspacing=&quot;4pt&quot;&gt;&lt;mtr&gt;&lt;mtd&gt;&lt;mn&gt;2&lt;/mn&gt;&lt;mtext&gt;&lt;/mtext&gt;&lt;mo&gt;−&lt;/mo&gt;&lt;mfrac&gt;&lt;mn&gt;3&lt;/mn&gt;&lt;mn&gt;4&lt;/mn&gt;&lt;/mfrac&gt;&lt;mo&gt;×&lt;/mo&gt;&lt;msqrt&gt;&lt;mfrac&gt;&lt;mn&gt;49&lt;/mn&gt;&lt;mn&gt;81&lt;/mn&gt;&lt;/mfrac&gt;&lt;/msqrt&gt;&lt;/mtd&gt;&lt;/mtr&gt;&lt;mtr&gt;&lt;mtd&gt;&lt;mn&gt;2&lt;/mn&gt;&lt;mtext&gt;&lt;/mtext&gt;&lt;mo&gt;−&lt;/mo&gt;&lt;mtext&gt;&lt;/mtext&gt;&lt;mfrac&gt;&lt;mn&gt;3&lt;/mn&gt;&lt;mn&gt;4&lt;/mn&gt;&lt;/mfrac&gt;&lt;mo&gt;×&lt;/mo&gt;&lt;mfrac&gt;&lt;mn&gt;7&lt;/mn&gt;&lt;mn&gt;9&lt;/mn&gt;&lt;/mfrac&gt;&lt;/mtd&gt;&lt;/mtr&gt;&lt;mtr&gt;&lt;mtd&gt;&lt;mn&gt;2&lt;/mn&gt;&lt;mtext&gt;&lt;/mtext&gt;&lt;mo&gt;−&lt;/mo&gt;&lt;mtext&gt;&lt;/mtext&gt;&lt;mfrac&gt;&lt;mn&gt;21&lt;/mn&gt;&lt;mn&gt;36&lt;/mn&gt;&lt;/mfrac&gt;&lt;mtext&gt;&lt;/mtext&gt;&lt;mo&gt;=&lt;/mo&gt;&lt;mtext&gt;&lt;/mtext&gt;&lt;mfrac&gt;&lt;mn&gt;72&lt;/mn&gt;&lt;mn&gt;36&lt;/mn&gt;&lt;/mfrac&gt;&lt;mo&gt;−&lt;/mo&gt;&lt;mfrac&gt;&lt;mn&gt;21&lt;/mn&gt;&lt;mn&gt;36&lt;/mn&gt;&lt;/mfrac&gt;&lt;mo&gt;=&lt;/mo&gt;&lt;mfrac&gt;&lt;mn&gt;51&lt;/mn&gt;&lt;mn&gt;36&lt;/mn&gt;&lt;/mfrac&gt;&lt;mo&gt;=&lt;/mo&gt;&lt;mfrac&gt;&lt;mn&gt;17&lt;/mn&gt;&lt;mn&gt;12&lt;/mn&gt;&lt;/mfrac&gt;&lt;mo&gt;=&lt;/mo&gt;&lt;mn&gt;1&lt;/mn&gt;&lt;mfrac&gt;&lt;mn&gt;5&lt;/mn&gt;&lt;mn&gt;12&lt;/mn&gt;&lt;/mfrac&gt;&lt;/mtd&gt;&lt;/mtr&gt;&lt;/mtable&gt;&lt;/math&gt;" id="1382" name="Google Shape;1382;p100" title="3 lines Line 1: 2 negative three fourths times the square root of 49 over 81 Line 2: 2 minus three fourths times seven ninths Line 3: 2 minus 21 over 36 equals 72 over 36 minus 21 over 36 equals 51 over 36 equals 17 over 12 equals 1 and 5 over 12"/>
          <p:cNvPicPr preferRelativeResize="0"/>
          <p:nvPr/>
        </p:nvPicPr>
        <p:blipFill rotWithShape="1">
          <a:blip r:embed="rId3">
            <a:alphaModFix/>
          </a:blip>
          <a:srcRect b="61238" l="0" r="61152" t="0"/>
          <a:stretch/>
        </p:blipFill>
        <p:spPr>
          <a:xfrm>
            <a:off x="735300" y="1741300"/>
            <a:ext cx="2317099" cy="810000"/>
          </a:xfrm>
          <a:prstGeom prst="rect">
            <a:avLst/>
          </a:prstGeom>
          <a:noFill/>
          <a:ln>
            <a:noFill/>
          </a:ln>
        </p:spPr>
      </p:pic>
      <p:sp>
        <p:nvSpPr>
          <p:cNvPr id="1383" name="Google Shape;1383;p100"/>
          <p:cNvSpPr txBox="1"/>
          <p:nvPr/>
        </p:nvSpPr>
        <p:spPr>
          <a:xfrm>
            <a:off x="4824000" y="1619988"/>
            <a:ext cx="6036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b)</a:t>
            </a:r>
            <a:endParaRPr/>
          </a:p>
        </p:txBody>
      </p:sp>
      <p:sp>
        <p:nvSpPr>
          <p:cNvPr id="1384" name="Google Shape;1384;p100"/>
          <p:cNvSpPr txBox="1"/>
          <p:nvPr/>
        </p:nvSpPr>
        <p:spPr>
          <a:xfrm>
            <a:off x="192250" y="1619988"/>
            <a:ext cx="6036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a</a:t>
            </a:r>
            <a:r>
              <a:rPr lang="en-GB" sz="2200">
                <a:solidFill>
                  <a:schemeClr val="dk1"/>
                </a:solidFill>
                <a:latin typeface="Lexend"/>
                <a:ea typeface="Lexend"/>
                <a:cs typeface="Lexend"/>
                <a:sym typeface="Lexend"/>
              </a:rPr>
              <a:t>)</a:t>
            </a:r>
            <a:endParaRPr/>
          </a:p>
        </p:txBody>
      </p:sp>
      <p:pic>
        <p:nvPicPr>
          <p:cNvPr descr="&lt;math xmlns=&quot;http://www.w3.org/1998/Math/MathML&quot; display=&quot;block&quot; data-is-equatio=&quot;1&quot; data-latex=&quot;\begin{array}{l}\left(\frac{9}{10}\right)^2-\left(2.5\div0.5\right)\ \times2\\&amp;#13;&amp;#10;\frac{81}{100}-\frac{2.5}{0.5}\times2\\&amp;#13;&amp;#10;\frac{81}{100}-\frac{25}{5}\times2\\&amp;#13;&amp;#10;\frac{81}{100}-\frac{25\times2}{5}\\&amp;#13;&amp;#10;\frac{81}{100}-\frac{50}{5}\\&amp;#13;&amp;#10;\frac{81}{100}-\frac{1000}{100}=-\frac{919}{1000}\end{array}&quot;&gt;&lt;mtable columnalign=&quot;left&quot; columnspacing=&quot;1em&quot; rowspacing=&quot;4pt&quot;&gt;&lt;mtr&gt;&lt;mtd&gt;&lt;msup&gt;&lt;mrow data-mjx-texclass=&quot;INNER&quot;&gt;&lt;mo data-mjx-texclass=&quot;OPEN&quot;&gt;(&lt;/mo&gt;&lt;mfrac&gt;&lt;mn&gt;9&lt;/mn&gt;&lt;mn&gt;10&lt;/mn&gt;&lt;/mfrac&gt;&lt;mo data-mjx-texclass=&quot;CLOSE&quot;&gt;)&lt;/mo&gt;&lt;/mrow&gt;&lt;mn&gt;2&lt;/mn&gt;&lt;/msup&gt;&lt;mo&gt;−&lt;/mo&gt;&lt;mrow data-mjx-texclass=&quot;INNER&quot;&gt;&lt;mo data-mjx-texclass=&quot;OPEN&quot;&gt;(&lt;/mo&gt;&lt;mn&gt;2.5&lt;/mn&gt;&lt;mo&gt;÷&lt;/mo&gt;&lt;mn&gt;0.5&lt;/mn&gt;&lt;mo data-mjx-texclass=&quot;CLOSE&quot;&gt;)&lt;/mo&gt;&lt;/mrow&gt;&lt;mtext&gt;&lt;/mtext&gt;&lt;mo&gt;×&lt;/mo&gt;&lt;mn&gt;2&lt;/mn&gt;&lt;/mtd&gt;&lt;/mtr&gt;&lt;mtr&gt;&lt;mtd&gt;&lt;mfrac&gt;&lt;mn&gt;81&lt;/mn&gt;&lt;mn&gt;100&lt;/mn&gt;&lt;/mfrac&gt;&lt;mo&gt;−&lt;/mo&gt;&lt;mfrac&gt;&lt;mn&gt;2.5&lt;/mn&gt;&lt;mn&gt;0.5&lt;/mn&gt;&lt;/mfrac&gt;&lt;mo&gt;×&lt;/mo&gt;&lt;mn&gt;2&lt;/mn&gt;&lt;/mtd&gt;&lt;/mtr&gt;&lt;mtr&gt;&lt;mtd&gt;&lt;mfrac&gt;&lt;mn&gt;81&lt;/mn&gt;&lt;mn&gt;100&lt;/mn&gt;&lt;/mfrac&gt;&lt;mo&gt;−&lt;/mo&gt;&lt;mfrac&gt;&lt;mn&gt;25&lt;/mn&gt;&lt;mn&gt;5&lt;/mn&gt;&lt;/mfrac&gt;&lt;mo&gt;×&lt;/mo&gt;&lt;mn&gt;2&lt;/mn&gt;&lt;/mtd&gt;&lt;/mtr&gt;&lt;mtr&gt;&lt;mtd&gt;&lt;mfrac&gt;&lt;mn&gt;81&lt;/mn&gt;&lt;mn&gt;100&lt;/mn&gt;&lt;/mfrac&gt;&lt;mo&gt;−&lt;/mo&gt;&lt;mfrac&gt;&lt;mrow&gt;&lt;mn&gt;25&lt;/mn&gt;&lt;mo&gt;×&lt;/mo&gt;&lt;mn&gt;2&lt;/mn&gt;&lt;/mrow&gt;&lt;mn&gt;5&lt;/mn&gt;&lt;/mfrac&gt;&lt;/mtd&gt;&lt;/mtr&gt;&lt;mtr&gt;&lt;mtd&gt;&lt;mfrac&gt;&lt;mn&gt;81&lt;/mn&gt;&lt;mn&gt;100&lt;/mn&gt;&lt;/mfrac&gt;&lt;mo&gt;−&lt;/mo&gt;&lt;mfrac&gt;&lt;mn&gt;50&lt;/mn&gt;&lt;mn&gt;5&lt;/mn&gt;&lt;/mfrac&gt;&lt;/mtd&gt;&lt;/mtr&gt;&lt;mtr&gt;&lt;mtd&gt;&lt;mfrac&gt;&lt;mn&gt;81&lt;/mn&gt;&lt;mn&gt;100&lt;/mn&gt;&lt;/mfrac&gt;&lt;mo&gt;−&lt;/mo&gt;&lt;mfrac&gt;&lt;mn&gt;1000&lt;/mn&gt;&lt;mn&gt;100&lt;/mn&gt;&lt;/mfrac&gt;&lt;mo&gt;=&lt;/mo&gt;&lt;mo&gt;−&lt;/mo&gt;&lt;mfrac&gt;&lt;mn&gt;919&lt;/mn&gt;&lt;mn&gt;1000&lt;/mn&gt;&lt;/mfrac&gt;&lt;/mtd&gt;&lt;/mtr&gt;&lt;/mtable&gt;&lt;/math&gt;" id="1385" name="Google Shape;1385;p100" title="6 lines Line 1: nine tenths squared minus open paren 2.5 divided by 0.5 close paren times 2 Line 2: 81 over 100 minus 2.5 over 0.5 times 2 Line 3: 81 over 100 minus 25 over 5 times 2 Line 4: 81 over 100 minus the fraction with numerator 25 times 2 and denominator 5 Line 5: 81 over 100 minus 50 over 5 Line 6: 81 over 100 minus 1000 over 100 equals negative 919 over 1000"/>
          <p:cNvPicPr preferRelativeResize="0"/>
          <p:nvPr/>
        </p:nvPicPr>
        <p:blipFill rotWithShape="1">
          <a:blip r:embed="rId4">
            <a:alphaModFix/>
          </a:blip>
          <a:srcRect b="84251" l="0" r="0" t="0"/>
          <a:stretch/>
        </p:blipFill>
        <p:spPr>
          <a:xfrm>
            <a:off x="5601925" y="1620000"/>
            <a:ext cx="3079100" cy="523200"/>
          </a:xfrm>
          <a:prstGeom prst="rect">
            <a:avLst/>
          </a:prstGeom>
          <a:noFill/>
          <a:ln>
            <a:noFill/>
          </a:ln>
        </p:spPr>
      </p:pic>
      <p:sp>
        <p:nvSpPr>
          <p:cNvPr id="1386" name="Google Shape;1386;p10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Calculating efficiently</a:t>
            </a:r>
            <a:endParaRPr/>
          </a:p>
          <a:p>
            <a:pPr indent="0" lvl="0" marL="0" rtl="0" algn="l">
              <a:spcBef>
                <a:spcPts val="1000"/>
              </a:spcBef>
              <a:spcAft>
                <a:spcPts val="100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0" name="Shape 1390"/>
        <p:cNvGrpSpPr/>
        <p:nvPr/>
      </p:nvGrpSpPr>
      <p:grpSpPr>
        <a:xfrm>
          <a:off x="0" y="0"/>
          <a:ext cx="0" cy="0"/>
          <a:chOff x="0" y="0"/>
          <a:chExt cx="0" cy="0"/>
        </a:xfrm>
      </p:grpSpPr>
      <p:sp>
        <p:nvSpPr>
          <p:cNvPr id="1391" name="Google Shape;1391;p101"/>
          <p:cNvSpPr txBox="1"/>
          <p:nvPr>
            <p:ph idx="4294967295" type="subTitle"/>
          </p:nvPr>
        </p:nvSpPr>
        <p:spPr>
          <a:xfrm>
            <a:off x="337825" y="733800"/>
            <a:ext cx="8353800" cy="810000"/>
          </a:xfrm>
          <a:prstGeom prst="rect">
            <a:avLst/>
          </a:prstGeom>
        </p:spPr>
        <p:txBody>
          <a:bodyPr anchorCtr="0" anchor="t" bIns="0" lIns="0" spcFirstLastPara="1" rIns="0" wrap="square" tIns="0">
            <a:noAutofit/>
          </a:bodyPr>
          <a:lstStyle/>
          <a:p>
            <a:pPr indent="-368300" lvl="0" marL="457200" rtl="0" algn="l">
              <a:spcBef>
                <a:spcPts val="0"/>
              </a:spcBef>
              <a:spcAft>
                <a:spcPts val="0"/>
              </a:spcAft>
              <a:buSzPts val="2200"/>
              <a:buAutoNum type="arabicParenR"/>
            </a:pPr>
            <a:r>
              <a:rPr lang="en-GB"/>
              <a:t>Fill in the blanks to complete the calculation.</a:t>
            </a:r>
            <a:endParaRPr/>
          </a:p>
        </p:txBody>
      </p:sp>
      <p:pic>
        <p:nvPicPr>
          <p:cNvPr descr="&lt;math xmlns=&quot;http://www.w3.org/1998/Math/MathML&quot; display=&quot;block&quot; data-is-equatio=&quot;1&quot; data-latex=&quot;\begin{array}{l}2\ -\ \left(\frac{2}{5}\right)^2\times\sqrt{\frac{49}{100}}\\&amp;#13;&amp;#10;2\ -\frac{4}{25}\times\frac{7}{10}\\&amp;#13;&amp;#10;2\ -\ \frac{28}{250}\\&amp;#13;&amp;#10;\frac{500}{250}-\frac{28}{250}=\ \frac{472}{250}=\frac{236}{125}=1\frac{111}{125}\end{array}&quot;&gt;&lt;mtable columnalign=&quot;left&quot; columnspacing=&quot;1em&quot; rowspacing=&quot;4pt&quot;&gt;&lt;mtr&gt;&lt;mtd&gt;&lt;mn&gt;2&lt;/mn&gt;&lt;mtext&gt;&lt;/mtext&gt;&lt;mo&gt;−&lt;/mo&gt;&lt;mtext&gt;&lt;/mtext&gt;&lt;msup&gt;&lt;mrow data-mjx-texclass=&quot;INNER&quot;&gt;&lt;mo data-mjx-texclass=&quot;OPEN&quot;&gt;(&lt;/mo&gt;&lt;mfrac&gt;&lt;mn&gt;2&lt;/mn&gt;&lt;mn&gt;5&lt;/mn&gt;&lt;/mfrac&gt;&lt;mo data-mjx-texclass=&quot;CLOSE&quot;&gt;)&lt;/mo&gt;&lt;/mrow&gt;&lt;mn&gt;2&lt;/mn&gt;&lt;/msup&gt;&lt;mo&gt;×&lt;/mo&gt;&lt;msqrt&gt;&lt;mfrac&gt;&lt;mn&gt;49&lt;/mn&gt;&lt;mn&gt;100&lt;/mn&gt;&lt;/mfrac&gt;&lt;/msqrt&gt;&lt;/mtd&gt;&lt;/mtr&gt;&lt;mtr&gt;&lt;mtd&gt;&lt;mn&gt;2&lt;/mn&gt;&lt;mtext&gt;&lt;/mtext&gt;&lt;mo&gt;−&lt;/mo&gt;&lt;mfrac&gt;&lt;mn&gt;4&lt;/mn&gt;&lt;mn&gt;25&lt;/mn&gt;&lt;/mfrac&gt;&lt;mo&gt;×&lt;/mo&gt;&lt;mfrac&gt;&lt;mn&gt;7&lt;/mn&gt;&lt;mn&gt;10&lt;/mn&gt;&lt;/mfrac&gt;&lt;/mtd&gt;&lt;/mtr&gt;&lt;mtr&gt;&lt;mtd&gt;&lt;mn&gt;2&lt;/mn&gt;&lt;mtext&gt;&lt;/mtext&gt;&lt;mo&gt;−&lt;/mo&gt;&lt;mtext&gt;&lt;/mtext&gt;&lt;mfrac&gt;&lt;mn&gt;28&lt;/mn&gt;&lt;mn&gt;250&lt;/mn&gt;&lt;/mfrac&gt;&lt;/mtd&gt;&lt;/mtr&gt;&lt;mtr&gt;&lt;mtd&gt;&lt;mfrac&gt;&lt;mn&gt;500&lt;/mn&gt;&lt;mn&gt;250&lt;/mn&gt;&lt;/mfrac&gt;&lt;mo&gt;−&lt;/mo&gt;&lt;mfrac&gt;&lt;mn&gt;28&lt;/mn&gt;&lt;mn&gt;250&lt;/mn&gt;&lt;/mfrac&gt;&lt;mo&gt;=&lt;/mo&gt;&lt;mtext&gt;&lt;/mtext&gt;&lt;mfrac&gt;&lt;mn&gt;472&lt;/mn&gt;&lt;mn&gt;250&lt;/mn&gt;&lt;/mfrac&gt;&lt;mo&gt;=&lt;/mo&gt;&lt;mfrac&gt;&lt;mn&gt;236&lt;/mn&gt;&lt;mn&gt;125&lt;/mn&gt;&lt;/mfrac&gt;&lt;mo&gt;=&lt;/mo&gt;&lt;mn&gt;1&lt;/mn&gt;&lt;mfrac&gt;&lt;mn&gt;111&lt;/mn&gt;&lt;mn&gt;125&lt;/mn&gt;&lt;/mfrac&gt;&lt;/mtd&gt;&lt;/mtr&gt;&lt;/mtable&gt;&lt;/math&gt;" id="1392" name="Google Shape;1392;p101" title="4 lines Line 1: 2 minus two fifths squared times the square root of 49 over 100 Line 2: 2 negative 4 over 25 times seven tenths Line 3: 2 minus 28 over 250 Line 4: 500 over 250 minus 28 over 250 equals 472 over 250 equals 236 over 125 equals 1 and 111 over 125"/>
          <p:cNvPicPr preferRelativeResize="0"/>
          <p:nvPr/>
        </p:nvPicPr>
        <p:blipFill>
          <a:blip r:embed="rId3">
            <a:alphaModFix/>
          </a:blip>
          <a:stretch>
            <a:fillRect/>
          </a:stretch>
        </p:blipFill>
        <p:spPr>
          <a:xfrm>
            <a:off x="2343175" y="1203800"/>
            <a:ext cx="5450099" cy="3116200"/>
          </a:xfrm>
          <a:prstGeom prst="rect">
            <a:avLst/>
          </a:prstGeom>
          <a:noFill/>
          <a:ln>
            <a:noFill/>
          </a:ln>
        </p:spPr>
      </p:pic>
      <p:sp>
        <p:nvSpPr>
          <p:cNvPr id="1393" name="Google Shape;1393;p101"/>
          <p:cNvSpPr/>
          <p:nvPr/>
        </p:nvSpPr>
        <p:spPr>
          <a:xfrm>
            <a:off x="3142350" y="2112575"/>
            <a:ext cx="516300" cy="725100"/>
          </a:xfrm>
          <a:prstGeom prst="rect">
            <a:avLst/>
          </a:prstGeom>
          <a:solidFill>
            <a:schemeClr val="lt1"/>
          </a:solidFill>
          <a:ln cap="flat" cmpd="sng" w="19050">
            <a:solidFill>
              <a:schemeClr val="accent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94" name="Google Shape;1394;p101"/>
          <p:cNvSpPr/>
          <p:nvPr/>
        </p:nvSpPr>
        <p:spPr>
          <a:xfrm>
            <a:off x="4061850" y="2112575"/>
            <a:ext cx="516300" cy="725100"/>
          </a:xfrm>
          <a:prstGeom prst="rect">
            <a:avLst/>
          </a:prstGeom>
          <a:solidFill>
            <a:schemeClr val="lt1"/>
          </a:solidFill>
          <a:ln cap="flat" cmpd="sng" w="19050">
            <a:solidFill>
              <a:schemeClr val="accent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95" name="Google Shape;1395;p101"/>
          <p:cNvSpPr/>
          <p:nvPr/>
        </p:nvSpPr>
        <p:spPr>
          <a:xfrm>
            <a:off x="3250925" y="2877450"/>
            <a:ext cx="570000" cy="337200"/>
          </a:xfrm>
          <a:prstGeom prst="rect">
            <a:avLst/>
          </a:prstGeom>
          <a:solidFill>
            <a:schemeClr val="lt1"/>
          </a:solidFill>
          <a:ln cap="flat" cmpd="sng" w="19050">
            <a:solidFill>
              <a:schemeClr val="accent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96" name="Google Shape;1396;p101"/>
          <p:cNvSpPr/>
          <p:nvPr/>
        </p:nvSpPr>
        <p:spPr>
          <a:xfrm>
            <a:off x="2343175" y="3600600"/>
            <a:ext cx="570000" cy="337200"/>
          </a:xfrm>
          <a:prstGeom prst="rect">
            <a:avLst/>
          </a:prstGeom>
          <a:solidFill>
            <a:schemeClr val="lt1"/>
          </a:solidFill>
          <a:ln cap="flat" cmpd="sng" w="19050">
            <a:solidFill>
              <a:schemeClr val="accent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97" name="Google Shape;1397;p101"/>
          <p:cNvSpPr/>
          <p:nvPr/>
        </p:nvSpPr>
        <p:spPr>
          <a:xfrm>
            <a:off x="3415600" y="3611400"/>
            <a:ext cx="570000" cy="337200"/>
          </a:xfrm>
          <a:prstGeom prst="rect">
            <a:avLst/>
          </a:prstGeom>
          <a:solidFill>
            <a:schemeClr val="lt1"/>
          </a:solidFill>
          <a:ln cap="flat" cmpd="sng" w="19050">
            <a:solidFill>
              <a:schemeClr val="accent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98" name="Google Shape;1398;p101"/>
          <p:cNvSpPr/>
          <p:nvPr/>
        </p:nvSpPr>
        <p:spPr>
          <a:xfrm>
            <a:off x="4712675" y="3611400"/>
            <a:ext cx="570000" cy="337200"/>
          </a:xfrm>
          <a:prstGeom prst="rect">
            <a:avLst/>
          </a:prstGeom>
          <a:solidFill>
            <a:schemeClr val="lt1"/>
          </a:solidFill>
          <a:ln cap="flat" cmpd="sng" w="19050">
            <a:solidFill>
              <a:schemeClr val="accent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99" name="Google Shape;1399;p101"/>
          <p:cNvSpPr/>
          <p:nvPr/>
        </p:nvSpPr>
        <p:spPr>
          <a:xfrm>
            <a:off x="5860875" y="3611400"/>
            <a:ext cx="570000" cy="337200"/>
          </a:xfrm>
          <a:prstGeom prst="rect">
            <a:avLst/>
          </a:prstGeom>
          <a:solidFill>
            <a:schemeClr val="lt1"/>
          </a:solidFill>
          <a:ln cap="flat" cmpd="sng" w="19050">
            <a:solidFill>
              <a:schemeClr val="accent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00" name="Google Shape;1400;p101"/>
          <p:cNvSpPr/>
          <p:nvPr/>
        </p:nvSpPr>
        <p:spPr>
          <a:xfrm>
            <a:off x="7268825" y="3656425"/>
            <a:ext cx="570000" cy="337200"/>
          </a:xfrm>
          <a:prstGeom prst="rect">
            <a:avLst/>
          </a:prstGeom>
          <a:solidFill>
            <a:schemeClr val="lt1"/>
          </a:solidFill>
          <a:ln cap="flat" cmpd="sng" w="19050">
            <a:solidFill>
              <a:schemeClr val="accent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01" name="Google Shape;1401;p10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Calculating efficiently</a:t>
            </a:r>
            <a:endParaRPr/>
          </a:p>
          <a:p>
            <a:pPr indent="0" lvl="0" marL="0" rtl="0" algn="l">
              <a:spcBef>
                <a:spcPts val="1000"/>
              </a:spcBef>
              <a:spcAft>
                <a:spcPts val="10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9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9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9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9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9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9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9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40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5" name="Shape 1405"/>
        <p:cNvGrpSpPr/>
        <p:nvPr/>
      </p:nvGrpSpPr>
      <p:grpSpPr>
        <a:xfrm>
          <a:off x="0" y="0"/>
          <a:ext cx="0" cy="0"/>
          <a:chOff x="0" y="0"/>
          <a:chExt cx="0" cy="0"/>
        </a:xfrm>
      </p:grpSpPr>
      <p:sp>
        <p:nvSpPr>
          <p:cNvPr id="1406" name="Google Shape;1406;p102"/>
          <p:cNvSpPr txBox="1"/>
          <p:nvPr/>
        </p:nvSpPr>
        <p:spPr>
          <a:xfrm>
            <a:off x="324000" y="755875"/>
            <a:ext cx="8670000" cy="963600"/>
          </a:xfrm>
          <a:prstGeom prst="rect">
            <a:avLst/>
          </a:prstGeom>
          <a:noFill/>
          <a:ln>
            <a:noFill/>
          </a:ln>
        </p:spPr>
        <p:txBody>
          <a:bodyPr anchorCtr="0" anchor="t" bIns="91425" lIns="0" spcFirstLastPara="1" rIns="91425" wrap="square" tIns="91425">
            <a:spAutoFit/>
          </a:bodyPr>
          <a:lstStyle/>
          <a:p>
            <a:pPr indent="0" lvl="0" marL="0" rtl="0" algn="l">
              <a:lnSpc>
                <a:spcPct val="130000"/>
              </a:lnSpc>
              <a:spcBef>
                <a:spcPts val="0"/>
              </a:spcBef>
              <a:spcAft>
                <a:spcPts val="1000"/>
              </a:spcAft>
              <a:buNone/>
            </a:pPr>
            <a:r>
              <a:rPr lang="en-GB" sz="2200">
                <a:solidFill>
                  <a:schemeClr val="dk1"/>
                </a:solidFill>
                <a:latin typeface="Lexend"/>
                <a:ea typeface="Lexend"/>
                <a:cs typeface="Lexend"/>
                <a:sym typeface="Lexend"/>
              </a:rPr>
              <a:t>2) Work out the answer to the following, making sure to give your answer as a mixed number in its simplest form.</a:t>
            </a:r>
            <a:endParaRPr/>
          </a:p>
        </p:txBody>
      </p:sp>
      <p:sp>
        <p:nvSpPr>
          <p:cNvPr id="1407" name="Google Shape;1407;p102"/>
          <p:cNvSpPr txBox="1"/>
          <p:nvPr/>
        </p:nvSpPr>
        <p:spPr>
          <a:xfrm>
            <a:off x="4841450" y="1782338"/>
            <a:ext cx="6036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b)</a:t>
            </a:r>
            <a:endParaRPr/>
          </a:p>
        </p:txBody>
      </p:sp>
      <p:sp>
        <p:nvSpPr>
          <p:cNvPr id="1408" name="Google Shape;1408;p102"/>
          <p:cNvSpPr txBox="1"/>
          <p:nvPr/>
        </p:nvSpPr>
        <p:spPr>
          <a:xfrm>
            <a:off x="209700" y="1782338"/>
            <a:ext cx="6036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a)</a:t>
            </a:r>
            <a:endParaRPr/>
          </a:p>
        </p:txBody>
      </p:sp>
      <p:pic>
        <p:nvPicPr>
          <p:cNvPr descr="&lt;math xmlns=&quot;http://www.w3.org/1998/Math/MathML&quot; display=&quot;block&quot; data-is-equatio=&quot;1&quot; data-latex=&quot;\begin{array}{l}\frac{9}{10}+2.4\ \div0.8\ \times\frac{2}{3}\\&amp;#13;&amp;#10;\frac{9}{10}+\frac{2.4}{0.8}\times\frac{2}{3}\\&amp;#13;&amp;#10;\frac{9}{10}+\frac{24}{8}\times\frac{2}{3}\\&amp;#13;&amp;#10;\frac{9}{10}+\frac{48}{24}=\ \frac{9}{10}+2=2\frac{9}{10}\end{array}&quot;&gt;&lt;mtable columnalign=&quot;left&quot; columnspacing=&quot;1em&quot; rowspacing=&quot;4pt&quot;&gt;&lt;mtr&gt;&lt;mtd&gt;&lt;mfrac&gt;&lt;mn&gt;9&lt;/mn&gt;&lt;mn&gt;10&lt;/mn&gt;&lt;/mfrac&gt;&lt;mo&gt;+&lt;/mo&gt;&lt;mn&gt;2.4&lt;/mn&gt;&lt;mtext&gt;&lt;/mtext&gt;&lt;mo&gt;÷&lt;/mo&gt;&lt;mn&gt;0.8&lt;/mn&gt;&lt;mtext&gt;&lt;/mtext&gt;&lt;mo&gt;×&lt;/mo&gt;&lt;mfrac&gt;&lt;mn&gt;2&lt;/mn&gt;&lt;mn&gt;3&lt;/mn&gt;&lt;/mfrac&gt;&lt;/mtd&gt;&lt;/mtr&gt;&lt;mtr&gt;&lt;mtd&gt;&lt;mfrac&gt;&lt;mn&gt;9&lt;/mn&gt;&lt;mn&gt;10&lt;/mn&gt;&lt;/mfrac&gt;&lt;mo&gt;+&lt;/mo&gt;&lt;mfrac&gt;&lt;mn&gt;2.4&lt;/mn&gt;&lt;mn&gt;0.8&lt;/mn&gt;&lt;/mfrac&gt;&lt;mo&gt;×&lt;/mo&gt;&lt;mfrac&gt;&lt;mn&gt;2&lt;/mn&gt;&lt;mn&gt;3&lt;/mn&gt;&lt;/mfrac&gt;&lt;/mtd&gt;&lt;/mtr&gt;&lt;mtr&gt;&lt;mtd&gt;&lt;mfrac&gt;&lt;mn&gt;9&lt;/mn&gt;&lt;mn&gt;10&lt;/mn&gt;&lt;/mfrac&gt;&lt;mo&gt;+&lt;/mo&gt;&lt;mfrac&gt;&lt;mn&gt;24&lt;/mn&gt;&lt;mn&gt;8&lt;/mn&gt;&lt;/mfrac&gt;&lt;mo&gt;×&lt;/mo&gt;&lt;mfrac&gt;&lt;mn&gt;2&lt;/mn&gt;&lt;mn&gt;3&lt;/mn&gt;&lt;/mfrac&gt;&lt;/mtd&gt;&lt;/mtr&gt;&lt;mtr&gt;&lt;mtd&gt;&lt;mfrac&gt;&lt;mn&gt;9&lt;/mn&gt;&lt;mn&gt;10&lt;/mn&gt;&lt;/mfrac&gt;&lt;mo&gt;+&lt;/mo&gt;&lt;mfrac&gt;&lt;mn&gt;48&lt;/mn&gt;&lt;mn&gt;24&lt;/mn&gt;&lt;/mfrac&gt;&lt;mo&gt;=&lt;/mo&gt;&lt;mtext&gt;&lt;/mtext&gt;&lt;mfrac&gt;&lt;mn&gt;9&lt;/mn&gt;&lt;mn&gt;10&lt;/mn&gt;&lt;/mfrac&gt;&lt;mo&gt;+&lt;/mo&gt;&lt;mn&gt;2&lt;/mn&gt;&lt;mo&gt;=&lt;/mo&gt;&lt;mn&gt;2&lt;/mn&gt;&lt;mfrac&gt;&lt;mn&gt;9&lt;/mn&gt;&lt;mn&gt;10&lt;/mn&gt;&lt;/mfrac&gt;&lt;/mtd&gt;&lt;/mtr&gt;&lt;/mtable&gt;&lt;/math&gt;" id="1409" name="Google Shape;1409;p102" title="4 lines Line 1: nine tenths plus 2.4 division sign 0.8 times two thirds Line 2: nine tenths plus 2.4 over 0.8 times two thirds Line 3: nine tenths plus 24 over 8 times two thirds Line 4: nine tenths plus 48 over 24 equals nine tenths plus 2 equals 2 and nine tenths"/>
          <p:cNvPicPr preferRelativeResize="0"/>
          <p:nvPr/>
        </p:nvPicPr>
        <p:blipFill rotWithShape="1">
          <a:blip r:embed="rId3">
            <a:alphaModFix/>
          </a:blip>
          <a:srcRect b="49570" l="0" r="0" t="22911"/>
          <a:stretch/>
        </p:blipFill>
        <p:spPr>
          <a:xfrm>
            <a:off x="813300" y="2368425"/>
            <a:ext cx="4079825" cy="750775"/>
          </a:xfrm>
          <a:prstGeom prst="rect">
            <a:avLst/>
          </a:prstGeom>
          <a:noFill/>
          <a:ln>
            <a:noFill/>
          </a:ln>
        </p:spPr>
      </p:pic>
      <p:pic>
        <p:nvPicPr>
          <p:cNvPr descr="&lt;math xmlns=&quot;http://www.w3.org/1998/Math/MathML&quot; display=&quot;block&quot; data-is-equatio=&quot;1&quot; data-latex=&quot;\begin{array}{l}\frac{9}{10}+2.4\ \div0.8\ \times\frac{2}{3}\\&amp;#13;&amp;#10;\frac{9}{10}+\frac{2.4}{0.8}\times\frac{2}{3}\\&amp;#13;&amp;#10;\frac{9}{10}+\frac{24}{8}\times\frac{2}{3}\\&amp;#13;&amp;#10;\frac{9}{10}+\frac{48}{24}=\ \frac{9}{10}+2=2\frac{9}{10}\end{array}&quot;&gt;&lt;mtable columnalign=&quot;left&quot; columnspacing=&quot;1em&quot; rowspacing=&quot;4pt&quot;&gt;&lt;mtr&gt;&lt;mtd&gt;&lt;mfrac&gt;&lt;mn&gt;9&lt;/mn&gt;&lt;mn&gt;10&lt;/mn&gt;&lt;/mfrac&gt;&lt;mo&gt;+&lt;/mo&gt;&lt;mn&gt;2.4&lt;/mn&gt;&lt;mtext&gt;&lt;/mtext&gt;&lt;mo&gt;÷&lt;/mo&gt;&lt;mn&gt;0.8&lt;/mn&gt;&lt;mtext&gt;&lt;/mtext&gt;&lt;mo&gt;×&lt;/mo&gt;&lt;mfrac&gt;&lt;mn&gt;2&lt;/mn&gt;&lt;mn&gt;3&lt;/mn&gt;&lt;/mfrac&gt;&lt;/mtd&gt;&lt;/mtr&gt;&lt;mtr&gt;&lt;mtd&gt;&lt;mfrac&gt;&lt;mn&gt;9&lt;/mn&gt;&lt;mn&gt;10&lt;/mn&gt;&lt;/mfrac&gt;&lt;mo&gt;+&lt;/mo&gt;&lt;mfrac&gt;&lt;mn&gt;2.4&lt;/mn&gt;&lt;mn&gt;0.8&lt;/mn&gt;&lt;/mfrac&gt;&lt;mo&gt;×&lt;/mo&gt;&lt;mfrac&gt;&lt;mn&gt;2&lt;/mn&gt;&lt;mn&gt;3&lt;/mn&gt;&lt;/mfrac&gt;&lt;/mtd&gt;&lt;/mtr&gt;&lt;mtr&gt;&lt;mtd&gt;&lt;mfrac&gt;&lt;mn&gt;9&lt;/mn&gt;&lt;mn&gt;10&lt;/mn&gt;&lt;/mfrac&gt;&lt;mo&gt;+&lt;/mo&gt;&lt;mfrac&gt;&lt;mn&gt;24&lt;/mn&gt;&lt;mn&gt;8&lt;/mn&gt;&lt;/mfrac&gt;&lt;mo&gt;×&lt;/mo&gt;&lt;mfrac&gt;&lt;mn&gt;2&lt;/mn&gt;&lt;mn&gt;3&lt;/mn&gt;&lt;/mfrac&gt;&lt;/mtd&gt;&lt;/mtr&gt;&lt;mtr&gt;&lt;mtd&gt;&lt;mfrac&gt;&lt;mn&gt;9&lt;/mn&gt;&lt;mn&gt;10&lt;/mn&gt;&lt;/mfrac&gt;&lt;mo&gt;+&lt;/mo&gt;&lt;mfrac&gt;&lt;mn&gt;48&lt;/mn&gt;&lt;mn&gt;24&lt;/mn&gt;&lt;/mfrac&gt;&lt;mo&gt;=&lt;/mo&gt;&lt;mtext&gt;&lt;/mtext&gt;&lt;mfrac&gt;&lt;mn&gt;9&lt;/mn&gt;&lt;mn&gt;10&lt;/mn&gt;&lt;/mfrac&gt;&lt;mo&gt;+&lt;/mo&gt;&lt;mn&gt;2&lt;/mn&gt;&lt;mo&gt;=&lt;/mo&gt;&lt;mn&gt;2&lt;/mn&gt;&lt;mfrac&gt;&lt;mn&gt;9&lt;/mn&gt;&lt;mn&gt;10&lt;/mn&gt;&lt;/mfrac&gt;&lt;/mtd&gt;&lt;/mtr&gt;&lt;/mtable&gt;&lt;/math&gt;" id="1410" name="Google Shape;1410;p102" title="4 lines Line 1: nine tenths plus 2.4 division sign 0.8 times two thirds Line 2: nine tenths plus 2.4 over 0.8 times two thirds Line 3: nine tenths plus 24 over 8 times two thirds Line 4: nine tenths plus 48 over 24 equals nine tenths plus 2 equals 2 and nine tenths"/>
          <p:cNvPicPr preferRelativeResize="0"/>
          <p:nvPr/>
        </p:nvPicPr>
        <p:blipFill rotWithShape="1">
          <a:blip r:embed="rId3">
            <a:alphaModFix/>
          </a:blip>
          <a:srcRect b="22418" l="-830" r="829" t="50063"/>
          <a:stretch/>
        </p:blipFill>
        <p:spPr>
          <a:xfrm>
            <a:off x="813300" y="3119200"/>
            <a:ext cx="4079825" cy="750775"/>
          </a:xfrm>
          <a:prstGeom prst="rect">
            <a:avLst/>
          </a:prstGeom>
          <a:noFill/>
          <a:ln>
            <a:noFill/>
          </a:ln>
        </p:spPr>
      </p:pic>
      <p:pic>
        <p:nvPicPr>
          <p:cNvPr descr="&lt;math xmlns=&quot;http://www.w3.org/1998/Math/MathML&quot; display=&quot;block&quot; data-is-equatio=&quot;1&quot; data-latex=&quot;\begin{array}{l}\frac{9}{10}+2.4\ \div0.8\ \times\frac{2}{3}\\&amp;#13;&amp;#10;\frac{9}{10}+\frac{2.4}{0.8}\times\frac{2}{3}\\&amp;#13;&amp;#10;\frac{9}{10}+\frac{24}{8}\times\frac{2}{3}\\&amp;#13;&amp;#10;\frac{9}{10}+\frac{48}{24}=\ \frac{9}{10}+2=2\frac{9}{10}\end{array}&quot;&gt;&lt;mtable columnalign=&quot;left&quot; columnspacing=&quot;1em&quot; rowspacing=&quot;4pt&quot;&gt;&lt;mtr&gt;&lt;mtd&gt;&lt;mfrac&gt;&lt;mn&gt;9&lt;/mn&gt;&lt;mn&gt;10&lt;/mn&gt;&lt;/mfrac&gt;&lt;mo&gt;+&lt;/mo&gt;&lt;mn&gt;2.4&lt;/mn&gt;&lt;mtext&gt;&lt;/mtext&gt;&lt;mo&gt;÷&lt;/mo&gt;&lt;mn&gt;0.8&lt;/mn&gt;&lt;mtext&gt;&lt;/mtext&gt;&lt;mo&gt;×&lt;/mo&gt;&lt;mfrac&gt;&lt;mn&gt;2&lt;/mn&gt;&lt;mn&gt;3&lt;/mn&gt;&lt;/mfrac&gt;&lt;/mtd&gt;&lt;/mtr&gt;&lt;mtr&gt;&lt;mtd&gt;&lt;mfrac&gt;&lt;mn&gt;9&lt;/mn&gt;&lt;mn&gt;10&lt;/mn&gt;&lt;/mfrac&gt;&lt;mo&gt;+&lt;/mo&gt;&lt;mfrac&gt;&lt;mn&gt;2.4&lt;/mn&gt;&lt;mn&gt;0.8&lt;/mn&gt;&lt;/mfrac&gt;&lt;mo&gt;×&lt;/mo&gt;&lt;mfrac&gt;&lt;mn&gt;2&lt;/mn&gt;&lt;mn&gt;3&lt;/mn&gt;&lt;/mfrac&gt;&lt;/mtd&gt;&lt;/mtr&gt;&lt;mtr&gt;&lt;mtd&gt;&lt;mfrac&gt;&lt;mn&gt;9&lt;/mn&gt;&lt;mn&gt;10&lt;/mn&gt;&lt;/mfrac&gt;&lt;mo&gt;+&lt;/mo&gt;&lt;mfrac&gt;&lt;mn&gt;24&lt;/mn&gt;&lt;mn&gt;8&lt;/mn&gt;&lt;/mfrac&gt;&lt;mo&gt;×&lt;/mo&gt;&lt;mfrac&gt;&lt;mn&gt;2&lt;/mn&gt;&lt;mn&gt;3&lt;/mn&gt;&lt;/mfrac&gt;&lt;/mtd&gt;&lt;/mtr&gt;&lt;mtr&gt;&lt;mtd&gt;&lt;mfrac&gt;&lt;mn&gt;9&lt;/mn&gt;&lt;mn&gt;10&lt;/mn&gt;&lt;/mfrac&gt;&lt;mo&gt;+&lt;/mo&gt;&lt;mfrac&gt;&lt;mn&gt;48&lt;/mn&gt;&lt;mn&gt;24&lt;/mn&gt;&lt;/mfrac&gt;&lt;mo&gt;=&lt;/mo&gt;&lt;mtext&gt;&lt;/mtext&gt;&lt;mfrac&gt;&lt;mn&gt;9&lt;/mn&gt;&lt;mn&gt;10&lt;/mn&gt;&lt;/mfrac&gt;&lt;mo&gt;+&lt;/mo&gt;&lt;mn&gt;2&lt;/mn&gt;&lt;mo&gt;=&lt;/mo&gt;&lt;mn&gt;2&lt;/mn&gt;&lt;mfrac&gt;&lt;mn&gt;9&lt;/mn&gt;&lt;mn&gt;10&lt;/mn&gt;&lt;/mfrac&gt;&lt;/mtd&gt;&lt;/mtr&gt;&lt;/mtable&gt;&lt;/math&gt;" id="1411" name="Google Shape;1411;p102" title="4 lines Line 1: nine tenths plus 2.4 division sign 0.8 times two thirds Line 2: nine tenths plus 2.4 over 0.8 times two thirds Line 3: nine tenths plus 24 over 8 times two thirds Line 4: nine tenths plus 48 over 24 equals nine tenths plus 2 equals 2 and nine tenths"/>
          <p:cNvPicPr preferRelativeResize="0"/>
          <p:nvPr/>
        </p:nvPicPr>
        <p:blipFill rotWithShape="1">
          <a:blip r:embed="rId3">
            <a:alphaModFix/>
          </a:blip>
          <a:srcRect b="-4268" l="-2419" r="59210" t="76750"/>
          <a:stretch/>
        </p:blipFill>
        <p:spPr>
          <a:xfrm>
            <a:off x="727588" y="3944613"/>
            <a:ext cx="1762875" cy="750775"/>
          </a:xfrm>
          <a:prstGeom prst="rect">
            <a:avLst/>
          </a:prstGeom>
          <a:noFill/>
          <a:ln>
            <a:noFill/>
          </a:ln>
        </p:spPr>
      </p:pic>
      <p:pic>
        <p:nvPicPr>
          <p:cNvPr descr="&lt;math xmlns=&quot;http://www.w3.org/1998/Math/MathML&quot; display=&quot;block&quot; data-is-equatio=&quot;1&quot; data-latex=&quot;\begin{array}{l}\frac{9}{10}+2.4\ \div0.8\ \times\frac{2}{3}\\&amp;#13;&amp;#10;\frac{9}{10}+\frac{2.4}{0.8}\times\frac{2}{3}\\&amp;#13;&amp;#10;\frac{9}{10}+\frac{24}{8}\times\frac{2}{3}\\&amp;#13;&amp;#10;\frac{9}{10}+\frac{48}{24}=\ \frac{9}{10}+2=2\frac{9}{10}\end{array}&quot;&gt;&lt;mtable columnalign=&quot;left&quot; columnspacing=&quot;1em&quot; rowspacing=&quot;4pt&quot;&gt;&lt;mtr&gt;&lt;mtd&gt;&lt;mfrac&gt;&lt;mn&gt;9&lt;/mn&gt;&lt;mn&gt;10&lt;/mn&gt;&lt;/mfrac&gt;&lt;mo&gt;+&lt;/mo&gt;&lt;mn&gt;2.4&lt;/mn&gt;&lt;mtext&gt;&lt;/mtext&gt;&lt;mo&gt;÷&lt;/mo&gt;&lt;mn&gt;0.8&lt;/mn&gt;&lt;mtext&gt;&lt;/mtext&gt;&lt;mo&gt;×&lt;/mo&gt;&lt;mfrac&gt;&lt;mn&gt;2&lt;/mn&gt;&lt;mn&gt;3&lt;/mn&gt;&lt;/mfrac&gt;&lt;/mtd&gt;&lt;/mtr&gt;&lt;mtr&gt;&lt;mtd&gt;&lt;mfrac&gt;&lt;mn&gt;9&lt;/mn&gt;&lt;mn&gt;10&lt;/mn&gt;&lt;/mfrac&gt;&lt;mo&gt;+&lt;/mo&gt;&lt;mfrac&gt;&lt;mn&gt;2.4&lt;/mn&gt;&lt;mn&gt;0.8&lt;/mn&gt;&lt;/mfrac&gt;&lt;mo&gt;×&lt;/mo&gt;&lt;mfrac&gt;&lt;mn&gt;2&lt;/mn&gt;&lt;mn&gt;3&lt;/mn&gt;&lt;/mfrac&gt;&lt;/mtd&gt;&lt;/mtr&gt;&lt;mtr&gt;&lt;mtd&gt;&lt;mfrac&gt;&lt;mn&gt;9&lt;/mn&gt;&lt;mn&gt;10&lt;/mn&gt;&lt;/mfrac&gt;&lt;mo&gt;+&lt;/mo&gt;&lt;mfrac&gt;&lt;mn&gt;24&lt;/mn&gt;&lt;mn&gt;8&lt;/mn&gt;&lt;/mfrac&gt;&lt;mo&gt;×&lt;/mo&gt;&lt;mfrac&gt;&lt;mn&gt;2&lt;/mn&gt;&lt;mn&gt;3&lt;/mn&gt;&lt;/mfrac&gt;&lt;/mtd&gt;&lt;/mtr&gt;&lt;mtr&gt;&lt;mtd&gt;&lt;mfrac&gt;&lt;mn&gt;9&lt;/mn&gt;&lt;mn&gt;10&lt;/mn&gt;&lt;/mfrac&gt;&lt;mo&gt;+&lt;/mo&gt;&lt;mfrac&gt;&lt;mn&gt;48&lt;/mn&gt;&lt;mn&gt;24&lt;/mn&gt;&lt;/mfrac&gt;&lt;mo&gt;=&lt;/mo&gt;&lt;mtext&gt;&lt;/mtext&gt;&lt;mfrac&gt;&lt;mn&gt;9&lt;/mn&gt;&lt;mn&gt;10&lt;/mn&gt;&lt;/mfrac&gt;&lt;mo&gt;+&lt;/mo&gt;&lt;mn&gt;2&lt;/mn&gt;&lt;mo&gt;=&lt;/mo&gt;&lt;mn&gt;2&lt;/mn&gt;&lt;mfrac&gt;&lt;mn&gt;9&lt;/mn&gt;&lt;mn&gt;10&lt;/mn&gt;&lt;/mfrac&gt;&lt;/mtd&gt;&lt;/mtr&gt;&lt;/mtable&gt;&lt;/math&gt;" id="1412" name="Google Shape;1412;p102" title="4 lines Line 1: nine tenths plus 2.4 division sign 0.8 times two thirds Line 2: nine tenths plus 2.4 over 0.8 times two thirds Line 3: nine tenths plus 24 over 8 times two thirds Line 4: nine tenths plus 48 over 24 equals nine tenths plus 2 equals 2 and nine tenths"/>
          <p:cNvPicPr preferRelativeResize="0"/>
          <p:nvPr/>
        </p:nvPicPr>
        <p:blipFill rotWithShape="1">
          <a:blip r:embed="rId3">
            <a:alphaModFix/>
          </a:blip>
          <a:srcRect b="-4267" l="44841" r="-5857" t="76750"/>
          <a:stretch/>
        </p:blipFill>
        <p:spPr>
          <a:xfrm>
            <a:off x="2490448" y="3944625"/>
            <a:ext cx="2489500" cy="750750"/>
          </a:xfrm>
          <a:prstGeom prst="rect">
            <a:avLst/>
          </a:prstGeom>
          <a:noFill/>
          <a:ln>
            <a:noFill/>
          </a:ln>
        </p:spPr>
      </p:pic>
      <p:pic>
        <p:nvPicPr>
          <p:cNvPr descr="&lt;math xmlns=&quot;http://www.w3.org/1998/Math/MathML&quot; display=&quot;block&quot; data-is-equatio=&quot;1&quot; data-latex=&quot;\begin{array}{l}15+3\div5\ \times0.3\ \div4\\&amp;#13;&amp;#10;15+\frac{3}{5}\times\frac{0.3}{4}\\&amp;#13;&amp;#10;15+\frac{3}{5}\times\frac{30}{40}\\&amp;#13;&amp;#10;15+\frac{90}{200}=15+\frac{9}{20}=15\frac{9}{20}\end{array}&quot;&gt;&lt;mtable columnalign=&quot;left&quot; columnspacing=&quot;1em&quot; rowspacing=&quot;4pt&quot;&gt;&lt;mtr&gt;&lt;mtd&gt;&lt;mn&gt;15&lt;/mn&gt;&lt;mo&gt;+&lt;/mo&gt;&lt;mn&gt;3&lt;/mn&gt;&lt;mo&gt;÷&lt;/mo&gt;&lt;mn&gt;5&lt;/mn&gt;&lt;mtext&gt;&lt;/mtext&gt;&lt;mo&gt;×&lt;/mo&gt;&lt;mn&gt;0.3&lt;/mn&gt;&lt;mtext&gt;&lt;/mtext&gt;&lt;mo&gt;÷&lt;/mo&gt;&lt;mn&gt;4&lt;/mn&gt;&lt;/mtd&gt;&lt;/mtr&gt;&lt;mtr&gt;&lt;mtd&gt;&lt;mn&gt;15&lt;/mn&gt;&lt;mo&gt;+&lt;/mo&gt;&lt;mfrac&gt;&lt;mn&gt;3&lt;/mn&gt;&lt;mn&gt;5&lt;/mn&gt;&lt;/mfrac&gt;&lt;mo&gt;×&lt;/mo&gt;&lt;mfrac&gt;&lt;mn&gt;0.3&lt;/mn&gt;&lt;mn&gt;4&lt;/mn&gt;&lt;/mfrac&gt;&lt;/mtd&gt;&lt;/mtr&gt;&lt;mtr&gt;&lt;mtd&gt;&lt;mn&gt;15&lt;/mn&gt;&lt;mo&gt;+&lt;/mo&gt;&lt;mfrac&gt;&lt;mn&gt;3&lt;/mn&gt;&lt;mn&gt;5&lt;/mn&gt;&lt;/mfrac&gt;&lt;mo&gt;×&lt;/mo&gt;&lt;mfrac&gt;&lt;mn&gt;30&lt;/mn&gt;&lt;mn&gt;40&lt;/mn&gt;&lt;/mfrac&gt;&lt;/mtd&gt;&lt;/mtr&gt;&lt;mtr&gt;&lt;mtd&gt;&lt;mn&gt;15&lt;/mn&gt;&lt;mo&gt;+&lt;/mo&gt;&lt;mfrac&gt;&lt;mn&gt;90&lt;/mn&gt;&lt;mn&gt;200&lt;/mn&gt;&lt;/mfrac&gt;&lt;mo&gt;=&lt;/mo&gt;&lt;mn&gt;15&lt;/mn&gt;&lt;mo&gt;+&lt;/mo&gt;&lt;mfrac&gt;&lt;mn&gt;9&lt;/mn&gt;&lt;mn&gt;20&lt;/mn&gt;&lt;/mfrac&gt;&lt;mo&gt;=&lt;/mo&gt;&lt;mn&gt;15&lt;/mn&gt;&lt;mfrac&gt;&lt;mn&gt;9&lt;/mn&gt;&lt;mn&gt;20&lt;/mn&gt;&lt;/mfrac&gt;&lt;/mtd&gt;&lt;/mtr&gt;&lt;/mtable&gt;&lt;/math&gt;" id="1413" name="Google Shape;1413;p102" title="4 lines Line 1: 15 plus 3 divided by 5 times 0.3 division sign 4 Line 2: 15 plus three fifths times 0.3 over 4 Line 3: 15 plus three fifths times 30 over 40 Line 4: 15 plus 90 over 200 equals 15 plus 9 over 20 equals 15 and 9 over 20"/>
          <p:cNvPicPr preferRelativeResize="0"/>
          <p:nvPr/>
        </p:nvPicPr>
        <p:blipFill rotWithShape="1">
          <a:blip r:embed="rId4">
            <a:alphaModFix/>
          </a:blip>
          <a:srcRect b="55968" l="0" r="51714" t="17986"/>
          <a:stretch/>
        </p:blipFill>
        <p:spPr>
          <a:xfrm>
            <a:off x="5560796" y="2316963"/>
            <a:ext cx="1898397" cy="575479"/>
          </a:xfrm>
          <a:prstGeom prst="rect">
            <a:avLst/>
          </a:prstGeom>
          <a:noFill/>
          <a:ln>
            <a:noFill/>
          </a:ln>
        </p:spPr>
      </p:pic>
      <p:pic>
        <p:nvPicPr>
          <p:cNvPr descr="&lt;math xmlns=&quot;http://www.w3.org/1998/Math/MathML&quot; display=&quot;block&quot; data-is-equatio=&quot;1&quot; data-latex=&quot;\begin{array}{l}\frac{9}{10}+\left(2.4\ \div0.8\right)\ \times\frac{2}{3}\\&amp;#13;&amp;#10;\frac{9}{10}+\frac{2.4}{0.8}\times\frac{2}{3}\\&amp;#13;&amp;#10;\frac{9}{10}+\frac{24}{8}\times\frac{2}{3}\\&amp;#13;&amp;#10;\frac{9}{10}+\frac{48}{24}=\ \frac{9}{10}+2=2\frac{9}{10}\end{array}&quot;&gt;&lt;mtable columnalign=&quot;left&quot; columnspacing=&quot;1em&quot; rowspacing=&quot;4pt&quot;&gt;&lt;mtr&gt;&lt;mtd&gt;&lt;mfrac&gt;&lt;mn&gt;9&lt;/mn&gt;&lt;mn&gt;10&lt;/mn&gt;&lt;/mfrac&gt;&lt;mo&gt;+&lt;/mo&gt;&lt;mrow data-mjx-texclass=&quot;INNER&quot;&gt;&lt;mo data-mjx-texclass=&quot;OPEN&quot;&gt;(&lt;/mo&gt;&lt;mn&gt;2.4&lt;/mn&gt;&lt;mtext&gt;&lt;/mtext&gt;&lt;mo&gt;÷&lt;/mo&gt;&lt;mn&gt;0.8&lt;/mn&gt;&lt;mo data-mjx-texclass=&quot;CLOSE&quot;&gt;)&lt;/mo&gt;&lt;/mrow&gt;&lt;mtext&gt;&lt;/mtext&gt;&lt;mo&gt;×&lt;/mo&gt;&lt;mfrac&gt;&lt;mn&gt;2&lt;/mn&gt;&lt;mn&gt;3&lt;/mn&gt;&lt;/mfrac&gt;&lt;/mtd&gt;&lt;/mtr&gt;&lt;mtr&gt;&lt;mtd&gt;&lt;mfrac&gt;&lt;mn&gt;9&lt;/mn&gt;&lt;mn&gt;10&lt;/mn&gt;&lt;/mfrac&gt;&lt;mo&gt;+&lt;/mo&gt;&lt;mfrac&gt;&lt;mn&gt;2.4&lt;/mn&gt;&lt;mn&gt;0.8&lt;/mn&gt;&lt;/mfrac&gt;&lt;mo&gt;×&lt;/mo&gt;&lt;mfrac&gt;&lt;mn&gt;2&lt;/mn&gt;&lt;mn&gt;3&lt;/mn&gt;&lt;/mfrac&gt;&lt;/mtd&gt;&lt;/mtr&gt;&lt;mtr&gt;&lt;mtd&gt;&lt;mfrac&gt;&lt;mn&gt;9&lt;/mn&gt;&lt;mn&gt;10&lt;/mn&gt;&lt;/mfrac&gt;&lt;mo&gt;+&lt;/mo&gt;&lt;mfrac&gt;&lt;mn&gt;24&lt;/mn&gt;&lt;mn&gt;8&lt;/mn&gt;&lt;/mfrac&gt;&lt;mo&gt;×&lt;/mo&gt;&lt;mfrac&gt;&lt;mn&gt;2&lt;/mn&gt;&lt;mn&gt;3&lt;/mn&gt;&lt;/mfrac&gt;&lt;/mtd&gt;&lt;/mtr&gt;&lt;mtr&gt;&lt;mtd&gt;&lt;mfrac&gt;&lt;mn&gt;9&lt;/mn&gt;&lt;mn&gt;10&lt;/mn&gt;&lt;/mfrac&gt;&lt;mo&gt;+&lt;/mo&gt;&lt;mfrac&gt;&lt;mn&gt;48&lt;/mn&gt;&lt;mn&gt;24&lt;/mn&gt;&lt;/mfrac&gt;&lt;mo&gt;=&lt;/mo&gt;&lt;mtext&gt;&lt;/mtext&gt;&lt;mfrac&gt;&lt;mn&gt;9&lt;/mn&gt;&lt;mn&gt;10&lt;/mn&gt;&lt;/mfrac&gt;&lt;mo&gt;+&lt;/mo&gt;&lt;mn&gt;2&lt;/mn&gt;&lt;mo&gt;=&lt;/mo&gt;&lt;mn&gt;2&lt;/mn&gt;&lt;mfrac&gt;&lt;mn&gt;9&lt;/mn&gt;&lt;mn&gt;10&lt;/mn&gt;&lt;/mfrac&gt;&lt;/mtd&gt;&lt;/mtr&gt;&lt;/mtable&gt;&lt;/math&gt;" id="1414" name="Google Shape;1414;p102" title="4 lines Line 1: nine tenths plus open paren 2.4 division sign 0.8 close paren times two thirds Line 2: nine tenths plus 2.4 over 0.8 times two thirds Line 3: nine tenths plus 24 over 8 times two thirds Line 4: nine tenths plus 48 over 24 equals nine tenths plus 2 equals 2 and nine tenths"/>
          <p:cNvPicPr preferRelativeResize="0"/>
          <p:nvPr/>
        </p:nvPicPr>
        <p:blipFill rotWithShape="1">
          <a:blip r:embed="rId5">
            <a:alphaModFix/>
          </a:blip>
          <a:srcRect b="77957" l="0" r="0" t="0"/>
          <a:stretch/>
        </p:blipFill>
        <p:spPr>
          <a:xfrm>
            <a:off x="813300" y="1821025"/>
            <a:ext cx="4028151" cy="593777"/>
          </a:xfrm>
          <a:prstGeom prst="rect">
            <a:avLst/>
          </a:prstGeom>
          <a:noFill/>
          <a:ln>
            <a:noFill/>
          </a:ln>
        </p:spPr>
      </p:pic>
      <p:pic>
        <p:nvPicPr>
          <p:cNvPr descr="&lt;math xmlns=&quot;http://www.w3.org/1998/Math/MathML&quot; display=&quot;block&quot; data-is-equatio=&quot;1&quot; data-latex=&quot;\begin{array}{l}15+\left(3\div5\right)\ \times\left(0.3\ \div4\right)\\&amp;#13;&amp;#10;15+\frac{3}{5}\times\frac{0.3}{4}\\&amp;#13;&amp;#10;15+\frac{3}{5}\times\frac{30}{40}\\&amp;#13;&amp;#10;15+\frac{90}{200}=15+\frac{9}{20}=15\frac{9}{20}\end{array}&quot;&gt;&lt;mtable columnalign=&quot;left&quot; columnspacing=&quot;1em&quot; rowspacing=&quot;4pt&quot;&gt;&lt;mtr&gt;&lt;mtd&gt;&lt;mn&gt;15&lt;/mn&gt;&lt;mo&gt;+&lt;/mo&gt;&lt;mrow data-mjx-texclass=&quot;INNER&quot;&gt;&lt;mo data-mjx-texclass=&quot;OPEN&quot;&gt;(&lt;/mo&gt;&lt;mn&gt;3&lt;/mn&gt;&lt;mo&gt;÷&lt;/mo&gt;&lt;mn&gt;5&lt;/mn&gt;&lt;mo data-mjx-texclass=&quot;CLOSE&quot;&gt;)&lt;/mo&gt;&lt;/mrow&gt;&lt;mtext&gt;&lt;/mtext&gt;&lt;mo&gt;×&lt;/mo&gt;&lt;mrow data-mjx-texclass=&quot;INNER&quot;&gt;&lt;mo data-mjx-texclass=&quot;OPEN&quot;&gt;(&lt;/mo&gt;&lt;mn&gt;0.3&lt;/mn&gt;&lt;mtext&gt;&lt;/mtext&gt;&lt;mo&gt;÷&lt;/mo&gt;&lt;mn&gt;4&lt;/mn&gt;&lt;mo data-mjx-texclass=&quot;CLOSE&quot;&gt;)&lt;/mo&gt;&lt;/mrow&gt;&lt;/mtd&gt;&lt;/mtr&gt;&lt;mtr&gt;&lt;mtd&gt;&lt;mn&gt;15&lt;/mn&gt;&lt;mo&gt;+&lt;/mo&gt;&lt;mfrac&gt;&lt;mn&gt;3&lt;/mn&gt;&lt;mn&gt;5&lt;/mn&gt;&lt;/mfrac&gt;&lt;mo&gt;×&lt;/mo&gt;&lt;mfrac&gt;&lt;mn&gt;0.3&lt;/mn&gt;&lt;mn&gt;4&lt;/mn&gt;&lt;/mfrac&gt;&lt;/mtd&gt;&lt;/mtr&gt;&lt;mtr&gt;&lt;mtd&gt;&lt;mn&gt;15&lt;/mn&gt;&lt;mo&gt;+&lt;/mo&gt;&lt;mfrac&gt;&lt;mn&gt;3&lt;/mn&gt;&lt;mn&gt;5&lt;/mn&gt;&lt;/mfrac&gt;&lt;mo&gt;×&lt;/mo&gt;&lt;mfrac&gt;&lt;mn&gt;30&lt;/mn&gt;&lt;mn&gt;40&lt;/mn&gt;&lt;/mfrac&gt;&lt;/mtd&gt;&lt;/mtr&gt;&lt;mtr&gt;&lt;mtd&gt;&lt;mn&gt;15&lt;/mn&gt;&lt;mo&gt;+&lt;/mo&gt;&lt;mfrac&gt;&lt;mn&gt;90&lt;/mn&gt;&lt;mn&gt;200&lt;/mn&gt;&lt;/mfrac&gt;&lt;mo&gt;=&lt;/mo&gt;&lt;mn&gt;15&lt;/mn&gt;&lt;mo&gt;+&lt;/mo&gt;&lt;mfrac&gt;&lt;mn&gt;9&lt;/mn&gt;&lt;mn&gt;20&lt;/mn&gt;&lt;/mfrac&gt;&lt;mo&gt;=&lt;/mo&gt;&lt;mn&gt;15&lt;/mn&gt;&lt;mfrac&gt;&lt;mn&gt;9&lt;/mn&gt;&lt;mn&gt;20&lt;/mn&gt;&lt;/mfrac&gt;&lt;/mtd&gt;&lt;/mtr&gt;&lt;/mtable&gt;&lt;/math&gt;" id="1415" name="Google Shape;1415;p102" title="4 lines Line 1: 15 plus open paren 3 divided by 5 close paren times open paren 0.3 division sign 4 close paren Line 2: 15 plus three fifths times 0.3 over 4 Line 3: 15 plus three fifths times 30 over 40 Line 4: 15 plus 90 over 200 equals 15 plus 9 over 20 equals 15 and 9 over 20"/>
          <p:cNvPicPr preferRelativeResize="0"/>
          <p:nvPr/>
        </p:nvPicPr>
        <p:blipFill rotWithShape="1">
          <a:blip r:embed="rId6">
            <a:alphaModFix/>
          </a:blip>
          <a:srcRect b="82066" l="0" r="9239" t="0"/>
          <a:stretch/>
        </p:blipFill>
        <p:spPr>
          <a:xfrm>
            <a:off x="5359025" y="1897300"/>
            <a:ext cx="3400626" cy="377625"/>
          </a:xfrm>
          <a:prstGeom prst="rect">
            <a:avLst/>
          </a:prstGeom>
          <a:noFill/>
          <a:ln>
            <a:noFill/>
          </a:ln>
        </p:spPr>
      </p:pic>
      <p:pic>
        <p:nvPicPr>
          <p:cNvPr descr="&lt;math xmlns=&quot;http://www.w3.org/1998/Math/MathML&quot; display=&quot;block&quot; data-is-equatio=&quot;1&quot; data-latex=&quot;\begin{array}{l}15+3\div5\ \times0.3\ \div4\\&amp;#13;&amp;#10;15+\frac{3}{5}\times\frac{0.3}{4}\\&amp;#13;&amp;#10;15+\frac{3}{5}\times\frac{3}{40}\\&amp;#13;&amp;#10;15+\frac{9}{200}=15+\frac{9}{200}=15\frac{9}{200}\end{array}&quot;&gt;&lt;mtable columnalign=&quot;left&quot; columnspacing=&quot;1em&quot; rowspacing=&quot;4pt&quot;&gt;&lt;mtr&gt;&lt;mtd&gt;&lt;mn&gt;15&lt;/mn&gt;&lt;mo&gt;+&lt;/mo&gt;&lt;mn&gt;3&lt;/mn&gt;&lt;mo&gt;÷&lt;/mo&gt;&lt;mn&gt;5&lt;/mn&gt;&lt;mtext&gt;&lt;/mtext&gt;&lt;mo&gt;×&lt;/mo&gt;&lt;mn&gt;0.3&lt;/mn&gt;&lt;mtext&gt;&lt;/mtext&gt;&lt;mo&gt;÷&lt;/mo&gt;&lt;mn&gt;4&lt;/mn&gt;&lt;/mtd&gt;&lt;/mtr&gt;&lt;mtr&gt;&lt;mtd&gt;&lt;mn&gt;15&lt;/mn&gt;&lt;mo&gt;+&lt;/mo&gt;&lt;mfrac&gt;&lt;mn&gt;3&lt;/mn&gt;&lt;mn&gt;5&lt;/mn&gt;&lt;/mfrac&gt;&lt;mo&gt;×&lt;/mo&gt;&lt;mfrac&gt;&lt;mn&gt;0.3&lt;/mn&gt;&lt;mn&gt;4&lt;/mn&gt;&lt;/mfrac&gt;&lt;/mtd&gt;&lt;/mtr&gt;&lt;mtr&gt;&lt;mtd&gt;&lt;mn&gt;15&lt;/mn&gt;&lt;mo&gt;+&lt;/mo&gt;&lt;mfrac&gt;&lt;mn&gt;3&lt;/mn&gt;&lt;mn&gt;5&lt;/mn&gt;&lt;/mfrac&gt;&lt;mo&gt;×&lt;/mo&gt;&lt;mfrac&gt;&lt;mn&gt;3&lt;/mn&gt;&lt;mn&gt;40&lt;/mn&gt;&lt;/mfrac&gt;&lt;/mtd&gt;&lt;/mtr&gt;&lt;mtr&gt;&lt;mtd&gt;&lt;mn&gt;15&lt;/mn&gt;&lt;mo&gt;+&lt;/mo&gt;&lt;mfrac&gt;&lt;mn&gt;9&lt;/mn&gt;&lt;mn&gt;200&lt;/mn&gt;&lt;/mfrac&gt;&lt;mo&gt;=&lt;/mo&gt;&lt;mn&gt;15&lt;/mn&gt;&lt;mo&gt;+&lt;/mo&gt;&lt;mfrac&gt;&lt;mn&gt;9&lt;/mn&gt;&lt;mn&gt;200&lt;/mn&gt;&lt;/mfrac&gt;&lt;mo&gt;=&lt;/mo&gt;&lt;mn&gt;15&lt;/mn&gt;&lt;mfrac&gt;&lt;mn&gt;9&lt;/mn&gt;&lt;mn&gt;200&lt;/mn&gt;&lt;/mfrac&gt;&lt;/mtd&gt;&lt;/mtr&gt;&lt;/mtable&gt;&lt;/math&gt;" id="1416" name="Google Shape;1416;p102" title="4 lines Line 1: 15 plus 3 divided by 5 times 0.3 division sign 4 Line 2: 15 plus three fifths times 0.3 over 4 Line 3: 15 plus three fifths times 3 over 40 Line 4: 15 plus 9 over 200 equals 15 plus 9 over 200 equals 15 and 9 over 200"/>
          <p:cNvPicPr preferRelativeResize="0"/>
          <p:nvPr/>
        </p:nvPicPr>
        <p:blipFill rotWithShape="1">
          <a:blip r:embed="rId7">
            <a:alphaModFix/>
          </a:blip>
          <a:srcRect b="27629" l="0" r="58270" t="45589"/>
          <a:stretch/>
        </p:blipFill>
        <p:spPr>
          <a:xfrm>
            <a:off x="5538450" y="2942633"/>
            <a:ext cx="1698797" cy="575479"/>
          </a:xfrm>
          <a:prstGeom prst="rect">
            <a:avLst/>
          </a:prstGeom>
          <a:noFill/>
          <a:ln>
            <a:noFill/>
          </a:ln>
        </p:spPr>
      </p:pic>
      <p:pic>
        <p:nvPicPr>
          <p:cNvPr descr="&lt;math xmlns=&quot;http://www.w3.org/1998/Math/MathML&quot; display=&quot;block&quot; data-is-equatio=&quot;1&quot; data-latex=&quot;\begin{array}{l}15+3\div5\ \times0.3\ \div4\\&amp;#13;&amp;#10;15+\frac{3}{5}\times\frac{0.3}{4}\\&amp;#13;&amp;#10;15+\frac{3}{5}\times\frac{3}{40}\\&amp;#13;&amp;#10;15+\frac{9}{200}=15+\frac{9}{200}=15\frac{9}{200}\end{array}&quot;&gt;&lt;mtable columnalign=&quot;left&quot; columnspacing=&quot;1em&quot; rowspacing=&quot;4pt&quot;&gt;&lt;mtr&gt;&lt;mtd&gt;&lt;mn&gt;15&lt;/mn&gt;&lt;mo&gt;+&lt;/mo&gt;&lt;mn&gt;3&lt;/mn&gt;&lt;mo&gt;÷&lt;/mo&gt;&lt;mn&gt;5&lt;/mn&gt;&lt;mtext&gt;&lt;/mtext&gt;&lt;mo&gt;×&lt;/mo&gt;&lt;mn&gt;0.3&lt;/mn&gt;&lt;mtext&gt;&lt;/mtext&gt;&lt;mo&gt;÷&lt;/mo&gt;&lt;mn&gt;4&lt;/mn&gt;&lt;/mtd&gt;&lt;/mtr&gt;&lt;mtr&gt;&lt;mtd&gt;&lt;mn&gt;15&lt;/mn&gt;&lt;mo&gt;+&lt;/mo&gt;&lt;mfrac&gt;&lt;mn&gt;3&lt;/mn&gt;&lt;mn&gt;5&lt;/mn&gt;&lt;/mfrac&gt;&lt;mo&gt;×&lt;/mo&gt;&lt;mfrac&gt;&lt;mn&gt;0.3&lt;/mn&gt;&lt;mn&gt;4&lt;/mn&gt;&lt;/mfrac&gt;&lt;/mtd&gt;&lt;/mtr&gt;&lt;mtr&gt;&lt;mtd&gt;&lt;mn&gt;15&lt;/mn&gt;&lt;mo&gt;+&lt;/mo&gt;&lt;mfrac&gt;&lt;mn&gt;3&lt;/mn&gt;&lt;mn&gt;5&lt;/mn&gt;&lt;/mfrac&gt;&lt;mo&gt;×&lt;/mo&gt;&lt;mfrac&gt;&lt;mn&gt;3&lt;/mn&gt;&lt;mn&gt;40&lt;/mn&gt;&lt;/mfrac&gt;&lt;/mtd&gt;&lt;/mtr&gt;&lt;mtr&gt;&lt;mtd&gt;&lt;mn&gt;15&lt;/mn&gt;&lt;mo&gt;+&lt;/mo&gt;&lt;mfrac&gt;&lt;mn&gt;9&lt;/mn&gt;&lt;mn&gt;200&lt;/mn&gt;&lt;/mfrac&gt;&lt;mo&gt;=&lt;/mo&gt;&lt;mn&gt;15&lt;/mn&gt;&lt;mo&gt;+&lt;/mo&gt;&lt;mfrac&gt;&lt;mn&gt;9&lt;/mn&gt;&lt;mn&gt;200&lt;/mn&gt;&lt;/mfrac&gt;&lt;mo&gt;=&lt;/mo&gt;&lt;mn&gt;15&lt;/mn&gt;&lt;mfrac&gt;&lt;mn&gt;9&lt;/mn&gt;&lt;mn&gt;200&lt;/mn&gt;&lt;/mfrac&gt;&lt;/mtd&gt;&lt;/mtr&gt;&lt;/mtable&gt;&lt;/math&gt;" id="1417" name="Google Shape;1417;p102" title="4 lines Line 1: 15 plus 3 divided by 5 times 0.3 division sign 4 Line 2: 15 plus three fifths times 0.3 over 4 Line 3: 15 plus three fifths times 3 over 40 Line 4: 15 plus 9 over 200 equals 15 plus 9 over 200 equals 15 and 9 over 200"/>
          <p:cNvPicPr preferRelativeResize="0"/>
          <p:nvPr/>
        </p:nvPicPr>
        <p:blipFill rotWithShape="1">
          <a:blip r:embed="rId7">
            <a:alphaModFix/>
          </a:blip>
          <a:srcRect b="-2" l="0" r="70596" t="73373"/>
          <a:stretch/>
        </p:blipFill>
        <p:spPr>
          <a:xfrm>
            <a:off x="5560798" y="3526855"/>
            <a:ext cx="1196992" cy="572202"/>
          </a:xfrm>
          <a:prstGeom prst="rect">
            <a:avLst/>
          </a:prstGeom>
          <a:noFill/>
          <a:ln>
            <a:noFill/>
          </a:ln>
        </p:spPr>
      </p:pic>
      <p:pic>
        <p:nvPicPr>
          <p:cNvPr descr="&lt;math xmlns=&quot;http://www.w3.org/1998/Math/MathML&quot; display=&quot;block&quot; data-is-equatio=&quot;1&quot; data-latex=&quot;\begin{array}{l}15+3\div5\ \times0.3\ \div4\\&amp;#13;&amp;#10;15+\frac{3}{5}\times\frac{0.3}{4}\\&amp;#13;&amp;#10;15+\frac{3}{5}\times\frac{3}{40}\\&amp;#13;&amp;#10;15+\frac{9}{200}=15+\frac{9}{200}=15\frac{9}{200}\end{array}&quot;&gt;&lt;mtable columnalign=&quot;left&quot; columnspacing=&quot;1em&quot; rowspacing=&quot;4pt&quot;&gt;&lt;mtr&gt;&lt;mtd&gt;&lt;mn&gt;15&lt;/mn&gt;&lt;mo&gt;+&lt;/mo&gt;&lt;mn&gt;3&lt;/mn&gt;&lt;mo&gt;÷&lt;/mo&gt;&lt;mn&gt;5&lt;/mn&gt;&lt;mtext&gt;&lt;/mtext&gt;&lt;mo&gt;×&lt;/mo&gt;&lt;mn&gt;0.3&lt;/mn&gt;&lt;mtext&gt;&lt;/mtext&gt;&lt;mo&gt;÷&lt;/mo&gt;&lt;mn&gt;4&lt;/mn&gt;&lt;/mtd&gt;&lt;/mtr&gt;&lt;mtr&gt;&lt;mtd&gt;&lt;mn&gt;15&lt;/mn&gt;&lt;mo&gt;+&lt;/mo&gt;&lt;mfrac&gt;&lt;mn&gt;3&lt;/mn&gt;&lt;mn&gt;5&lt;/mn&gt;&lt;/mfrac&gt;&lt;mo&gt;×&lt;/mo&gt;&lt;mfrac&gt;&lt;mn&gt;0.3&lt;/mn&gt;&lt;mn&gt;4&lt;/mn&gt;&lt;/mfrac&gt;&lt;/mtd&gt;&lt;/mtr&gt;&lt;mtr&gt;&lt;mtd&gt;&lt;mn&gt;15&lt;/mn&gt;&lt;mo&gt;+&lt;/mo&gt;&lt;mfrac&gt;&lt;mn&gt;3&lt;/mn&gt;&lt;mn&gt;5&lt;/mn&gt;&lt;/mfrac&gt;&lt;mo&gt;×&lt;/mo&gt;&lt;mfrac&gt;&lt;mn&gt;3&lt;/mn&gt;&lt;mn&gt;40&lt;/mn&gt;&lt;/mfrac&gt;&lt;/mtd&gt;&lt;/mtr&gt;&lt;mtr&gt;&lt;mtd&gt;&lt;mn&gt;15&lt;/mn&gt;&lt;mo&gt;+&lt;/mo&gt;&lt;mfrac&gt;&lt;mn&gt;9&lt;/mn&gt;&lt;mn&gt;200&lt;/mn&gt;&lt;/mfrac&gt;&lt;mo&gt;=&lt;/mo&gt;&lt;mn&gt;15&lt;/mn&gt;&lt;mo&gt;+&lt;/mo&gt;&lt;mfrac&gt;&lt;mn&gt;9&lt;/mn&gt;&lt;mn&gt;200&lt;/mn&gt;&lt;/mfrac&gt;&lt;mo&gt;=&lt;/mo&gt;&lt;mn&gt;15&lt;/mn&gt;&lt;mfrac&gt;&lt;mn&gt;9&lt;/mn&gt;&lt;mn&gt;200&lt;/mn&gt;&lt;/mfrac&gt;&lt;/mtd&gt;&lt;/mtr&gt;&lt;/mtable&gt;&lt;/math&gt;" id="1418" name="Google Shape;1418;p102" title="4 lines Line 1: 15 plus 3 divided by 5 times 0.3 division sign 4 Line 2: 15 plus three fifths times 0.3 over 4 Line 3: 15 plus three fifths times 3 over 40 Line 4: 15 plus 9 over 200 equals 15 plus 9 over 200 equals 15 and 9 over 200"/>
          <p:cNvPicPr preferRelativeResize="0"/>
          <p:nvPr/>
        </p:nvPicPr>
        <p:blipFill rotWithShape="1">
          <a:blip r:embed="rId7">
            <a:alphaModFix/>
          </a:blip>
          <a:srcRect b="0" l="70597" r="0" t="73219"/>
          <a:stretch/>
        </p:blipFill>
        <p:spPr>
          <a:xfrm>
            <a:off x="5144131" y="4099046"/>
            <a:ext cx="1196992" cy="575479"/>
          </a:xfrm>
          <a:prstGeom prst="rect">
            <a:avLst/>
          </a:prstGeom>
          <a:noFill/>
          <a:ln>
            <a:noFill/>
          </a:ln>
        </p:spPr>
      </p:pic>
      <p:pic>
        <p:nvPicPr>
          <p:cNvPr descr="&lt;math xmlns=&quot;http://www.w3.org/1998/Math/MathML&quot; display=&quot;block&quot; data-is-equatio=&quot;1&quot; data-latex=&quot;\begin{array}{l}\frac{9}{10}\times\frac{4}{5}-\ \frac{2}{3}\times\sqrt[3]{\frac{8}{27}}\\&amp;#13;&amp;#10;\frac{9}{10}\times\frac{4}{5}-\frac{2}{3}\times\frac{2}{3}\\&amp;#13;&amp;#10;\ \ \ \ \ \ \ \ \frac{36}{50}-\frac{4}{9}=\frac{324}{450}-\frac{200}{450}=\frac{124}{240}=\frac{62}{225}\end{array}&quot;&gt;&lt;mtable columnalign=&quot;left&quot; columnspacing=&quot;1em&quot; rowspacing=&quot;4pt&quot;&gt;&lt;mtr&gt;&lt;mtd&gt;&lt;mfrac&gt;&lt;mn&gt;9&lt;/mn&gt;&lt;mn&gt;10&lt;/mn&gt;&lt;/mfrac&gt;&lt;mo&gt;×&lt;/mo&gt;&lt;mfrac&gt;&lt;mn&gt;4&lt;/mn&gt;&lt;mn&gt;5&lt;/mn&gt;&lt;/mfrac&gt;&lt;mo&gt;−&lt;/mo&gt;&lt;mtext&gt;&lt;/mtext&gt;&lt;mfrac&gt;&lt;mn&gt;2&lt;/mn&gt;&lt;mn&gt;3&lt;/mn&gt;&lt;/mfrac&gt;&lt;mo&gt;×&lt;/mo&gt;&lt;mroot&gt;&lt;mfrac&gt;&lt;mn&gt;8&lt;/mn&gt;&lt;mn&gt;27&lt;/mn&gt;&lt;/mfrac&gt;&lt;mn&gt;3&lt;/mn&gt;&lt;/mroot&gt;&lt;/mtd&gt;&lt;/mtr&gt;&lt;mtr&gt;&lt;mtd&gt;&lt;mfrac&gt;&lt;mn&gt;9&lt;/mn&gt;&lt;mn&gt;10&lt;/mn&gt;&lt;/mfrac&gt;&lt;mo&gt;×&lt;/mo&gt;&lt;mfrac&gt;&lt;mn&gt;4&lt;/mn&gt;&lt;mn&gt;5&lt;/mn&gt;&lt;/mfrac&gt;&lt;mo&gt;−&lt;/mo&gt;&lt;mfrac&gt;&lt;mn&gt;2&lt;/mn&gt;&lt;mn&gt;3&lt;/mn&gt;&lt;/mfrac&gt;&lt;mo&gt;×&lt;/mo&gt;&lt;mfrac&gt;&lt;mn&gt;2&lt;/mn&gt;&lt;mn&gt;3&lt;/mn&gt;&lt;/mfrac&gt;&lt;/mtd&gt;&lt;/mtr&gt;&lt;mtr&gt;&lt;mtd&gt;&lt;mtext&gt;&lt;/mtext&gt;&lt;mtext&gt;&lt;/mtext&gt;&lt;mtext&gt;&lt;/mtext&gt;&lt;mtext&gt;&lt;/mtext&gt;&lt;mtext&gt;&lt;/mtext&gt;&lt;mtext&gt;&lt;/mtext&gt;&lt;mtext&gt;&lt;/mtext&gt;&lt;mtext&gt;&lt;/mtext&gt;&lt;mfrac&gt;&lt;mn&gt;36&lt;/mn&gt;&lt;mn&gt;50&lt;/mn&gt;&lt;/mfrac&gt;&lt;mo&gt;−&lt;/mo&gt;&lt;mfrac&gt;&lt;mn&gt;4&lt;/mn&gt;&lt;mn&gt;9&lt;/mn&gt;&lt;/mfrac&gt;&lt;mo&gt;=&lt;/mo&gt;&lt;mfrac&gt;&lt;mn&gt;324&lt;/mn&gt;&lt;mn&gt;450&lt;/mn&gt;&lt;/mfrac&gt;&lt;mo&gt;−&lt;/mo&gt;&lt;mfrac&gt;&lt;mn&gt;200&lt;/mn&gt;&lt;mn&gt;450&lt;/mn&gt;&lt;/mfrac&gt;&lt;mo&gt;=&lt;/mo&gt;&lt;mfrac&gt;&lt;mn&gt;124&lt;/mn&gt;&lt;mn&gt;240&lt;/mn&gt;&lt;/mfrac&gt;&lt;mo&gt;=&lt;/mo&gt;&lt;mfrac&gt;&lt;mn&gt;62&lt;/mn&gt;&lt;mn&gt;225&lt;/mn&gt;&lt;/mfrac&gt;&lt;/mtd&gt;&lt;/mtr&gt;&lt;/mtable&gt;&lt;/math&gt;" id="1419" name="Google Shape;1419;p102" title="3 lines Line 1: nine tenths times four fifths minus two thirds times the cube root of 8 over 27 Line 2: nine tenths times four fifths minus two thirds times two thirds Line 3: 36 over 50 minus four ninths equals 324 over 450 minus 200 over 450 equals 124 over 240 equals 62 over 225"/>
          <p:cNvPicPr preferRelativeResize="0"/>
          <p:nvPr/>
        </p:nvPicPr>
        <p:blipFill rotWithShape="1">
          <a:blip r:embed="rId8">
            <a:alphaModFix/>
          </a:blip>
          <a:srcRect b="-8634" l="32395" r="61057" t="70630"/>
          <a:stretch/>
        </p:blipFill>
        <p:spPr>
          <a:xfrm>
            <a:off x="5175900" y="2316963"/>
            <a:ext cx="328426" cy="663675"/>
          </a:xfrm>
          <a:prstGeom prst="rect">
            <a:avLst/>
          </a:prstGeom>
          <a:noFill/>
          <a:ln>
            <a:noFill/>
          </a:ln>
        </p:spPr>
      </p:pic>
      <p:pic>
        <p:nvPicPr>
          <p:cNvPr descr="&lt;math xmlns=&quot;http://www.w3.org/1998/Math/MathML&quot; display=&quot;block&quot; data-is-equatio=&quot;1&quot; data-latex=&quot;\begin{array}{l}\frac{9}{10}\times\frac{4}{5}-\ \frac{2}{3}\times\sqrt[3]{\frac{8}{27}}\\&amp;#13;&amp;#10;\frac{9}{10}\times\frac{4}{5}-\frac{2}{3}\times\frac{2}{3}\\&amp;#13;&amp;#10;\ \ \ \ \ \ \ \ \frac{36}{50}-\frac{4}{9}=\frac{324}{450}-\frac{200}{450}=\frac{124}{240}=\frac{62}{225}\end{array}&quot;&gt;&lt;mtable columnalign=&quot;left&quot; columnspacing=&quot;1em&quot; rowspacing=&quot;4pt&quot;&gt;&lt;mtr&gt;&lt;mtd&gt;&lt;mfrac&gt;&lt;mn&gt;9&lt;/mn&gt;&lt;mn&gt;10&lt;/mn&gt;&lt;/mfrac&gt;&lt;mo&gt;×&lt;/mo&gt;&lt;mfrac&gt;&lt;mn&gt;4&lt;/mn&gt;&lt;mn&gt;5&lt;/mn&gt;&lt;/mfrac&gt;&lt;mo&gt;−&lt;/mo&gt;&lt;mtext&gt;&lt;/mtext&gt;&lt;mfrac&gt;&lt;mn&gt;2&lt;/mn&gt;&lt;mn&gt;3&lt;/mn&gt;&lt;/mfrac&gt;&lt;mo&gt;×&lt;/mo&gt;&lt;mroot&gt;&lt;mfrac&gt;&lt;mn&gt;8&lt;/mn&gt;&lt;mn&gt;27&lt;/mn&gt;&lt;/mfrac&gt;&lt;mn&gt;3&lt;/mn&gt;&lt;/mroot&gt;&lt;/mtd&gt;&lt;/mtr&gt;&lt;mtr&gt;&lt;mtd&gt;&lt;mfrac&gt;&lt;mn&gt;9&lt;/mn&gt;&lt;mn&gt;10&lt;/mn&gt;&lt;/mfrac&gt;&lt;mo&gt;×&lt;/mo&gt;&lt;mfrac&gt;&lt;mn&gt;4&lt;/mn&gt;&lt;mn&gt;5&lt;/mn&gt;&lt;/mfrac&gt;&lt;mo&gt;−&lt;/mo&gt;&lt;mfrac&gt;&lt;mn&gt;2&lt;/mn&gt;&lt;mn&gt;3&lt;/mn&gt;&lt;/mfrac&gt;&lt;mo&gt;×&lt;/mo&gt;&lt;mfrac&gt;&lt;mn&gt;2&lt;/mn&gt;&lt;mn&gt;3&lt;/mn&gt;&lt;/mfrac&gt;&lt;/mtd&gt;&lt;/mtr&gt;&lt;mtr&gt;&lt;mtd&gt;&lt;mtext&gt;&lt;/mtext&gt;&lt;mtext&gt;&lt;/mtext&gt;&lt;mtext&gt;&lt;/mtext&gt;&lt;mtext&gt;&lt;/mtext&gt;&lt;mtext&gt;&lt;/mtext&gt;&lt;mtext&gt;&lt;/mtext&gt;&lt;mtext&gt;&lt;/mtext&gt;&lt;mtext&gt;&lt;/mtext&gt;&lt;mfrac&gt;&lt;mn&gt;36&lt;/mn&gt;&lt;mn&gt;50&lt;/mn&gt;&lt;/mfrac&gt;&lt;mo&gt;−&lt;/mo&gt;&lt;mfrac&gt;&lt;mn&gt;4&lt;/mn&gt;&lt;mn&gt;9&lt;/mn&gt;&lt;/mfrac&gt;&lt;mo&gt;=&lt;/mo&gt;&lt;mfrac&gt;&lt;mn&gt;324&lt;/mn&gt;&lt;mn&gt;450&lt;/mn&gt;&lt;/mfrac&gt;&lt;mo&gt;−&lt;/mo&gt;&lt;mfrac&gt;&lt;mn&gt;200&lt;/mn&gt;&lt;mn&gt;450&lt;/mn&gt;&lt;/mfrac&gt;&lt;mo&gt;=&lt;/mo&gt;&lt;mfrac&gt;&lt;mn&gt;124&lt;/mn&gt;&lt;mn&gt;240&lt;/mn&gt;&lt;/mfrac&gt;&lt;mo&gt;=&lt;/mo&gt;&lt;mfrac&gt;&lt;mn&gt;62&lt;/mn&gt;&lt;mn&gt;225&lt;/mn&gt;&lt;/mfrac&gt;&lt;/mtd&gt;&lt;/mtr&gt;&lt;/mtable&gt;&lt;/math&gt;" id="1420" name="Google Shape;1420;p102" title="3 lines Line 1: nine tenths times four fifths minus two thirds times the cube root of 8 over 27 Line 2: nine tenths times four fifths minus two thirds times two thirds Line 3: 36 over 50 minus four ninths equals 324 over 450 minus 200 over 450 equals 124 over 240 equals 62 over 225"/>
          <p:cNvPicPr preferRelativeResize="0"/>
          <p:nvPr/>
        </p:nvPicPr>
        <p:blipFill rotWithShape="1">
          <a:blip r:embed="rId8">
            <a:alphaModFix/>
          </a:blip>
          <a:srcRect b="-8634" l="32395" r="61057" t="70630"/>
          <a:stretch/>
        </p:blipFill>
        <p:spPr>
          <a:xfrm>
            <a:off x="5175900" y="2980622"/>
            <a:ext cx="328426" cy="663675"/>
          </a:xfrm>
          <a:prstGeom prst="rect">
            <a:avLst/>
          </a:prstGeom>
          <a:noFill/>
          <a:ln>
            <a:noFill/>
          </a:ln>
        </p:spPr>
      </p:pic>
      <p:pic>
        <p:nvPicPr>
          <p:cNvPr descr="&lt;math xmlns=&quot;http://www.w3.org/1998/Math/MathML&quot; display=&quot;block&quot; data-is-equatio=&quot;1&quot; data-latex=&quot;\begin{array}{l}\frac{9}{10}\times\frac{4}{5}-\ \frac{2}{3}\times\sqrt[3]{\frac{8}{27}}\\&amp;#13;&amp;#10;\frac{9}{10}\times\frac{4}{5}-\frac{2}{3}\times\frac{2}{3}\\&amp;#13;&amp;#10;\ \ \ \ \ \ \ \ \frac{36}{50}-\frac{4}{9}=\frac{324}{450}-\frac{200}{450}=\frac{124}{240}=\frac{62}{225}\end{array}&quot;&gt;&lt;mtable columnalign=&quot;left&quot; columnspacing=&quot;1em&quot; rowspacing=&quot;4pt&quot;&gt;&lt;mtr&gt;&lt;mtd&gt;&lt;mfrac&gt;&lt;mn&gt;9&lt;/mn&gt;&lt;mn&gt;10&lt;/mn&gt;&lt;/mfrac&gt;&lt;mo&gt;×&lt;/mo&gt;&lt;mfrac&gt;&lt;mn&gt;4&lt;/mn&gt;&lt;mn&gt;5&lt;/mn&gt;&lt;/mfrac&gt;&lt;mo&gt;−&lt;/mo&gt;&lt;mtext&gt;&lt;/mtext&gt;&lt;mfrac&gt;&lt;mn&gt;2&lt;/mn&gt;&lt;mn&gt;3&lt;/mn&gt;&lt;/mfrac&gt;&lt;mo&gt;×&lt;/mo&gt;&lt;mroot&gt;&lt;mfrac&gt;&lt;mn&gt;8&lt;/mn&gt;&lt;mn&gt;27&lt;/mn&gt;&lt;/mfrac&gt;&lt;mn&gt;3&lt;/mn&gt;&lt;/mroot&gt;&lt;/mtd&gt;&lt;/mtr&gt;&lt;mtr&gt;&lt;mtd&gt;&lt;mfrac&gt;&lt;mn&gt;9&lt;/mn&gt;&lt;mn&gt;10&lt;/mn&gt;&lt;/mfrac&gt;&lt;mo&gt;×&lt;/mo&gt;&lt;mfrac&gt;&lt;mn&gt;4&lt;/mn&gt;&lt;mn&gt;5&lt;/mn&gt;&lt;/mfrac&gt;&lt;mo&gt;−&lt;/mo&gt;&lt;mfrac&gt;&lt;mn&gt;2&lt;/mn&gt;&lt;mn&gt;3&lt;/mn&gt;&lt;/mfrac&gt;&lt;mo&gt;×&lt;/mo&gt;&lt;mfrac&gt;&lt;mn&gt;2&lt;/mn&gt;&lt;mn&gt;3&lt;/mn&gt;&lt;/mfrac&gt;&lt;/mtd&gt;&lt;/mtr&gt;&lt;mtr&gt;&lt;mtd&gt;&lt;mtext&gt;&lt;/mtext&gt;&lt;mtext&gt;&lt;/mtext&gt;&lt;mtext&gt;&lt;/mtext&gt;&lt;mtext&gt;&lt;/mtext&gt;&lt;mtext&gt;&lt;/mtext&gt;&lt;mtext&gt;&lt;/mtext&gt;&lt;mtext&gt;&lt;/mtext&gt;&lt;mtext&gt;&lt;/mtext&gt;&lt;mfrac&gt;&lt;mn&gt;36&lt;/mn&gt;&lt;mn&gt;50&lt;/mn&gt;&lt;/mfrac&gt;&lt;mo&gt;−&lt;/mo&gt;&lt;mfrac&gt;&lt;mn&gt;4&lt;/mn&gt;&lt;mn&gt;9&lt;/mn&gt;&lt;/mfrac&gt;&lt;mo&gt;=&lt;/mo&gt;&lt;mfrac&gt;&lt;mn&gt;324&lt;/mn&gt;&lt;mn&gt;450&lt;/mn&gt;&lt;/mfrac&gt;&lt;mo&gt;−&lt;/mo&gt;&lt;mfrac&gt;&lt;mn&gt;200&lt;/mn&gt;&lt;mn&gt;450&lt;/mn&gt;&lt;/mfrac&gt;&lt;mo&gt;=&lt;/mo&gt;&lt;mfrac&gt;&lt;mn&gt;124&lt;/mn&gt;&lt;mn&gt;240&lt;/mn&gt;&lt;/mfrac&gt;&lt;mo&gt;=&lt;/mo&gt;&lt;mfrac&gt;&lt;mn&gt;62&lt;/mn&gt;&lt;mn&gt;225&lt;/mn&gt;&lt;/mfrac&gt;&lt;/mtd&gt;&lt;/mtr&gt;&lt;/mtable&gt;&lt;/math&gt;" id="1421" name="Google Shape;1421;p102" title="3 lines Line 1: nine tenths times four fifths minus two thirds times the cube root of 8 over 27 Line 2: nine tenths times four fifths minus two thirds times two thirds Line 3: 36 over 50 minus four ninths equals 324 over 450 minus 200 over 450 equals 124 over 240 equals 62 over 225"/>
          <p:cNvPicPr preferRelativeResize="0"/>
          <p:nvPr/>
        </p:nvPicPr>
        <p:blipFill rotWithShape="1">
          <a:blip r:embed="rId8">
            <a:alphaModFix/>
          </a:blip>
          <a:srcRect b="-8634" l="32395" r="61057" t="70630"/>
          <a:stretch/>
        </p:blipFill>
        <p:spPr>
          <a:xfrm>
            <a:off x="5175900" y="3526858"/>
            <a:ext cx="328426" cy="663675"/>
          </a:xfrm>
          <a:prstGeom prst="rect">
            <a:avLst/>
          </a:prstGeom>
          <a:noFill/>
          <a:ln>
            <a:noFill/>
          </a:ln>
        </p:spPr>
      </p:pic>
      <p:pic>
        <p:nvPicPr>
          <p:cNvPr descr="&lt;math xmlns=&quot;http://www.w3.org/1998/Math/MathML&quot; display=&quot;block&quot; data-is-equatio=&quot;1&quot; data-latex=&quot;\begin{array}{l}\frac{9}{10}\times\frac{4}{5}-\ \frac{2}{3}\times\sqrt[3]{\frac{8}{27}}\\&amp;#13;&amp;#10;\frac{9}{10}\times\frac{4}{5}-\frac{2}{3}\times\frac{2}{3}\\&amp;#13;&amp;#10;\ \ \ \ \ \ \ \ \frac{36}{50}-\frac{4}{9}=\frac{324}{450}-\frac{200}{450}=\frac{124}{240}=\frac{62}{225}\end{array}&quot;&gt;&lt;mtable columnalign=&quot;left&quot; columnspacing=&quot;1em&quot; rowspacing=&quot;4pt&quot;&gt;&lt;mtr&gt;&lt;mtd&gt;&lt;mfrac&gt;&lt;mn&gt;9&lt;/mn&gt;&lt;mn&gt;10&lt;/mn&gt;&lt;/mfrac&gt;&lt;mo&gt;×&lt;/mo&gt;&lt;mfrac&gt;&lt;mn&gt;4&lt;/mn&gt;&lt;mn&gt;5&lt;/mn&gt;&lt;/mfrac&gt;&lt;mo&gt;−&lt;/mo&gt;&lt;mtext&gt;&lt;/mtext&gt;&lt;mfrac&gt;&lt;mn&gt;2&lt;/mn&gt;&lt;mn&gt;3&lt;/mn&gt;&lt;/mfrac&gt;&lt;mo&gt;×&lt;/mo&gt;&lt;mroot&gt;&lt;mfrac&gt;&lt;mn&gt;8&lt;/mn&gt;&lt;mn&gt;27&lt;/mn&gt;&lt;/mfrac&gt;&lt;mn&gt;3&lt;/mn&gt;&lt;/mroot&gt;&lt;/mtd&gt;&lt;/mtr&gt;&lt;mtr&gt;&lt;mtd&gt;&lt;mfrac&gt;&lt;mn&gt;9&lt;/mn&gt;&lt;mn&gt;10&lt;/mn&gt;&lt;/mfrac&gt;&lt;mo&gt;×&lt;/mo&gt;&lt;mfrac&gt;&lt;mn&gt;4&lt;/mn&gt;&lt;mn&gt;5&lt;/mn&gt;&lt;/mfrac&gt;&lt;mo&gt;−&lt;/mo&gt;&lt;mfrac&gt;&lt;mn&gt;2&lt;/mn&gt;&lt;mn&gt;3&lt;/mn&gt;&lt;/mfrac&gt;&lt;mo&gt;×&lt;/mo&gt;&lt;mfrac&gt;&lt;mn&gt;2&lt;/mn&gt;&lt;mn&gt;3&lt;/mn&gt;&lt;/mfrac&gt;&lt;/mtd&gt;&lt;/mtr&gt;&lt;mtr&gt;&lt;mtd&gt;&lt;mtext&gt;&lt;/mtext&gt;&lt;mtext&gt;&lt;/mtext&gt;&lt;mtext&gt;&lt;/mtext&gt;&lt;mtext&gt;&lt;/mtext&gt;&lt;mtext&gt;&lt;/mtext&gt;&lt;mtext&gt;&lt;/mtext&gt;&lt;mtext&gt;&lt;/mtext&gt;&lt;mtext&gt;&lt;/mtext&gt;&lt;mfrac&gt;&lt;mn&gt;36&lt;/mn&gt;&lt;mn&gt;50&lt;/mn&gt;&lt;/mfrac&gt;&lt;mo&gt;−&lt;/mo&gt;&lt;mfrac&gt;&lt;mn&gt;4&lt;/mn&gt;&lt;mn&gt;9&lt;/mn&gt;&lt;/mfrac&gt;&lt;mo&gt;=&lt;/mo&gt;&lt;mfrac&gt;&lt;mn&gt;324&lt;/mn&gt;&lt;mn&gt;450&lt;/mn&gt;&lt;/mfrac&gt;&lt;mo&gt;−&lt;/mo&gt;&lt;mfrac&gt;&lt;mn&gt;200&lt;/mn&gt;&lt;mn&gt;450&lt;/mn&gt;&lt;/mfrac&gt;&lt;mo&gt;=&lt;/mo&gt;&lt;mfrac&gt;&lt;mn&gt;124&lt;/mn&gt;&lt;mn&gt;240&lt;/mn&gt;&lt;/mfrac&gt;&lt;mo&gt;=&lt;/mo&gt;&lt;mfrac&gt;&lt;mn&gt;62&lt;/mn&gt;&lt;mn&gt;225&lt;/mn&gt;&lt;/mfrac&gt;&lt;/mtd&gt;&lt;/mtr&gt;&lt;/mtable&gt;&lt;/math&gt;" id="1422" name="Google Shape;1422;p102" title="3 lines Line 1: nine tenths times four fifths minus two thirds times the cube root of 8 over 27 Line 2: nine tenths times four fifths minus two thirds times two thirds Line 3: 36 over 50 minus four ninths equals 324 over 450 minus 200 over 450 equals 124 over 240 equals 62 over 225"/>
          <p:cNvPicPr preferRelativeResize="0"/>
          <p:nvPr/>
        </p:nvPicPr>
        <p:blipFill rotWithShape="1">
          <a:blip r:embed="rId8">
            <a:alphaModFix/>
          </a:blip>
          <a:srcRect b="-8634" l="32395" r="61057" t="70630"/>
          <a:stretch/>
        </p:blipFill>
        <p:spPr>
          <a:xfrm>
            <a:off x="399175" y="2455538"/>
            <a:ext cx="328426" cy="663675"/>
          </a:xfrm>
          <a:prstGeom prst="rect">
            <a:avLst/>
          </a:prstGeom>
          <a:noFill/>
          <a:ln>
            <a:noFill/>
          </a:ln>
        </p:spPr>
      </p:pic>
      <p:pic>
        <p:nvPicPr>
          <p:cNvPr descr="&lt;math xmlns=&quot;http://www.w3.org/1998/Math/MathML&quot; display=&quot;block&quot; data-is-equatio=&quot;1&quot; data-latex=&quot;\begin{array}{l}\frac{9}{10}\times\frac{4}{5}-\ \frac{2}{3}\times\sqrt[3]{\frac{8}{27}}\\&amp;#13;&amp;#10;\frac{9}{10}\times\frac{4}{5}-\frac{2}{3}\times\frac{2}{3}\\&amp;#13;&amp;#10;\ \ \ \ \ \ \ \ \frac{36}{50}-\frac{4}{9}=\frac{324}{450}-\frac{200}{450}=\frac{124}{240}=\frac{62}{225}\end{array}&quot;&gt;&lt;mtable columnalign=&quot;left&quot; columnspacing=&quot;1em&quot; rowspacing=&quot;4pt&quot;&gt;&lt;mtr&gt;&lt;mtd&gt;&lt;mfrac&gt;&lt;mn&gt;9&lt;/mn&gt;&lt;mn&gt;10&lt;/mn&gt;&lt;/mfrac&gt;&lt;mo&gt;×&lt;/mo&gt;&lt;mfrac&gt;&lt;mn&gt;4&lt;/mn&gt;&lt;mn&gt;5&lt;/mn&gt;&lt;/mfrac&gt;&lt;mo&gt;−&lt;/mo&gt;&lt;mtext&gt;&lt;/mtext&gt;&lt;mfrac&gt;&lt;mn&gt;2&lt;/mn&gt;&lt;mn&gt;3&lt;/mn&gt;&lt;/mfrac&gt;&lt;mo&gt;×&lt;/mo&gt;&lt;mroot&gt;&lt;mfrac&gt;&lt;mn&gt;8&lt;/mn&gt;&lt;mn&gt;27&lt;/mn&gt;&lt;/mfrac&gt;&lt;mn&gt;3&lt;/mn&gt;&lt;/mroot&gt;&lt;/mtd&gt;&lt;/mtr&gt;&lt;mtr&gt;&lt;mtd&gt;&lt;mfrac&gt;&lt;mn&gt;9&lt;/mn&gt;&lt;mn&gt;10&lt;/mn&gt;&lt;/mfrac&gt;&lt;mo&gt;×&lt;/mo&gt;&lt;mfrac&gt;&lt;mn&gt;4&lt;/mn&gt;&lt;mn&gt;5&lt;/mn&gt;&lt;/mfrac&gt;&lt;mo&gt;−&lt;/mo&gt;&lt;mfrac&gt;&lt;mn&gt;2&lt;/mn&gt;&lt;mn&gt;3&lt;/mn&gt;&lt;/mfrac&gt;&lt;mo&gt;×&lt;/mo&gt;&lt;mfrac&gt;&lt;mn&gt;2&lt;/mn&gt;&lt;mn&gt;3&lt;/mn&gt;&lt;/mfrac&gt;&lt;/mtd&gt;&lt;/mtr&gt;&lt;mtr&gt;&lt;mtd&gt;&lt;mtext&gt;&lt;/mtext&gt;&lt;mtext&gt;&lt;/mtext&gt;&lt;mtext&gt;&lt;/mtext&gt;&lt;mtext&gt;&lt;/mtext&gt;&lt;mtext&gt;&lt;/mtext&gt;&lt;mtext&gt;&lt;/mtext&gt;&lt;mtext&gt;&lt;/mtext&gt;&lt;mtext&gt;&lt;/mtext&gt;&lt;mfrac&gt;&lt;mn&gt;36&lt;/mn&gt;&lt;mn&gt;50&lt;/mn&gt;&lt;/mfrac&gt;&lt;mo&gt;−&lt;/mo&gt;&lt;mfrac&gt;&lt;mn&gt;4&lt;/mn&gt;&lt;mn&gt;9&lt;/mn&gt;&lt;/mfrac&gt;&lt;mo&gt;=&lt;/mo&gt;&lt;mfrac&gt;&lt;mn&gt;324&lt;/mn&gt;&lt;mn&gt;450&lt;/mn&gt;&lt;/mfrac&gt;&lt;mo&gt;−&lt;/mo&gt;&lt;mfrac&gt;&lt;mn&gt;200&lt;/mn&gt;&lt;mn&gt;450&lt;/mn&gt;&lt;/mfrac&gt;&lt;mo&gt;=&lt;/mo&gt;&lt;mfrac&gt;&lt;mn&gt;124&lt;/mn&gt;&lt;mn&gt;240&lt;/mn&gt;&lt;/mfrac&gt;&lt;mo&gt;=&lt;/mo&gt;&lt;mfrac&gt;&lt;mn&gt;62&lt;/mn&gt;&lt;mn&gt;225&lt;/mn&gt;&lt;/mfrac&gt;&lt;/mtd&gt;&lt;/mtr&gt;&lt;/mtable&gt;&lt;/math&gt;" id="1423" name="Google Shape;1423;p102" title="3 lines Line 1: nine tenths times four fifths minus two thirds times the cube root of 8 over 27 Line 2: nine tenths times four fifths minus two thirds times two thirds Line 3: 36 over 50 minus four ninths equals 324 over 450 minus 200 over 450 equals 124 over 240 equals 62 over 225"/>
          <p:cNvPicPr preferRelativeResize="0"/>
          <p:nvPr/>
        </p:nvPicPr>
        <p:blipFill rotWithShape="1">
          <a:blip r:embed="rId8">
            <a:alphaModFix/>
          </a:blip>
          <a:srcRect b="-8634" l="32395" r="61057" t="70630"/>
          <a:stretch/>
        </p:blipFill>
        <p:spPr>
          <a:xfrm>
            <a:off x="373775" y="3162747"/>
            <a:ext cx="328426" cy="663675"/>
          </a:xfrm>
          <a:prstGeom prst="rect">
            <a:avLst/>
          </a:prstGeom>
          <a:noFill/>
          <a:ln>
            <a:noFill/>
          </a:ln>
        </p:spPr>
      </p:pic>
      <p:pic>
        <p:nvPicPr>
          <p:cNvPr descr="&lt;math xmlns=&quot;http://www.w3.org/1998/Math/MathML&quot; display=&quot;block&quot; data-is-equatio=&quot;1&quot; data-latex=&quot;\begin{array}{l}\frac{9}{10}\times\frac{4}{5}-\ \frac{2}{3}\times\sqrt[3]{\frac{8}{27}}\\&amp;#13;&amp;#10;\frac{9}{10}\times\frac{4}{5}-\frac{2}{3}\times\frac{2}{3}\\&amp;#13;&amp;#10;\ \ \ \ \ \ \ \ \frac{36}{50}-\frac{4}{9}=\frac{324}{450}-\frac{200}{450}=\frac{124}{240}=\frac{62}{225}\end{array}&quot;&gt;&lt;mtable columnalign=&quot;left&quot; columnspacing=&quot;1em&quot; rowspacing=&quot;4pt&quot;&gt;&lt;mtr&gt;&lt;mtd&gt;&lt;mfrac&gt;&lt;mn&gt;9&lt;/mn&gt;&lt;mn&gt;10&lt;/mn&gt;&lt;/mfrac&gt;&lt;mo&gt;×&lt;/mo&gt;&lt;mfrac&gt;&lt;mn&gt;4&lt;/mn&gt;&lt;mn&gt;5&lt;/mn&gt;&lt;/mfrac&gt;&lt;mo&gt;−&lt;/mo&gt;&lt;mtext&gt;&lt;/mtext&gt;&lt;mfrac&gt;&lt;mn&gt;2&lt;/mn&gt;&lt;mn&gt;3&lt;/mn&gt;&lt;/mfrac&gt;&lt;mo&gt;×&lt;/mo&gt;&lt;mroot&gt;&lt;mfrac&gt;&lt;mn&gt;8&lt;/mn&gt;&lt;mn&gt;27&lt;/mn&gt;&lt;/mfrac&gt;&lt;mn&gt;3&lt;/mn&gt;&lt;/mroot&gt;&lt;/mtd&gt;&lt;/mtr&gt;&lt;mtr&gt;&lt;mtd&gt;&lt;mfrac&gt;&lt;mn&gt;9&lt;/mn&gt;&lt;mn&gt;10&lt;/mn&gt;&lt;/mfrac&gt;&lt;mo&gt;×&lt;/mo&gt;&lt;mfrac&gt;&lt;mn&gt;4&lt;/mn&gt;&lt;mn&gt;5&lt;/mn&gt;&lt;/mfrac&gt;&lt;mo&gt;−&lt;/mo&gt;&lt;mfrac&gt;&lt;mn&gt;2&lt;/mn&gt;&lt;mn&gt;3&lt;/mn&gt;&lt;/mfrac&gt;&lt;mo&gt;×&lt;/mo&gt;&lt;mfrac&gt;&lt;mn&gt;2&lt;/mn&gt;&lt;mn&gt;3&lt;/mn&gt;&lt;/mfrac&gt;&lt;/mtd&gt;&lt;/mtr&gt;&lt;mtr&gt;&lt;mtd&gt;&lt;mtext&gt;&lt;/mtext&gt;&lt;mtext&gt;&lt;/mtext&gt;&lt;mtext&gt;&lt;/mtext&gt;&lt;mtext&gt;&lt;/mtext&gt;&lt;mtext&gt;&lt;/mtext&gt;&lt;mtext&gt;&lt;/mtext&gt;&lt;mtext&gt;&lt;/mtext&gt;&lt;mtext&gt;&lt;/mtext&gt;&lt;mfrac&gt;&lt;mn&gt;36&lt;/mn&gt;&lt;mn&gt;50&lt;/mn&gt;&lt;/mfrac&gt;&lt;mo&gt;−&lt;/mo&gt;&lt;mfrac&gt;&lt;mn&gt;4&lt;/mn&gt;&lt;mn&gt;9&lt;/mn&gt;&lt;/mfrac&gt;&lt;mo&gt;=&lt;/mo&gt;&lt;mfrac&gt;&lt;mn&gt;324&lt;/mn&gt;&lt;mn&gt;450&lt;/mn&gt;&lt;/mfrac&gt;&lt;mo&gt;−&lt;/mo&gt;&lt;mfrac&gt;&lt;mn&gt;200&lt;/mn&gt;&lt;mn&gt;450&lt;/mn&gt;&lt;/mfrac&gt;&lt;mo&gt;=&lt;/mo&gt;&lt;mfrac&gt;&lt;mn&gt;124&lt;/mn&gt;&lt;mn&gt;240&lt;/mn&gt;&lt;/mfrac&gt;&lt;mo&gt;=&lt;/mo&gt;&lt;mfrac&gt;&lt;mn&gt;62&lt;/mn&gt;&lt;mn&gt;225&lt;/mn&gt;&lt;/mfrac&gt;&lt;/mtd&gt;&lt;/mtr&gt;&lt;/mtable&gt;&lt;/math&gt;" id="1424" name="Google Shape;1424;p102" title="3 lines Line 1: nine tenths times four fifths minus two thirds times the cube root of 8 over 27 Line 2: nine tenths times four fifths minus two thirds times two thirds Line 3: 36 over 50 minus four ninths equals 324 over 450 minus 200 over 450 equals 124 over 240 equals 62 over 225"/>
          <p:cNvPicPr preferRelativeResize="0"/>
          <p:nvPr/>
        </p:nvPicPr>
        <p:blipFill rotWithShape="1">
          <a:blip r:embed="rId8">
            <a:alphaModFix/>
          </a:blip>
          <a:srcRect b="-8634" l="32395" r="61057" t="70630"/>
          <a:stretch/>
        </p:blipFill>
        <p:spPr>
          <a:xfrm>
            <a:off x="373763" y="3988158"/>
            <a:ext cx="328426" cy="663675"/>
          </a:xfrm>
          <a:prstGeom prst="rect">
            <a:avLst/>
          </a:prstGeom>
          <a:noFill/>
          <a:ln>
            <a:noFill/>
          </a:ln>
        </p:spPr>
      </p:pic>
      <p:sp>
        <p:nvSpPr>
          <p:cNvPr id="1425" name="Google Shape;1425;p10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Calculating efficiently</a:t>
            </a:r>
            <a:endParaRPr/>
          </a:p>
          <a:p>
            <a:pPr indent="0" lvl="0" marL="0" rtl="0" algn="l">
              <a:spcBef>
                <a:spcPts val="1000"/>
              </a:spcBef>
              <a:spcAft>
                <a:spcPts val="10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9" name="Shape 1429"/>
        <p:cNvGrpSpPr/>
        <p:nvPr/>
      </p:nvGrpSpPr>
      <p:grpSpPr>
        <a:xfrm>
          <a:off x="0" y="0"/>
          <a:ext cx="0" cy="0"/>
          <a:chOff x="0" y="0"/>
          <a:chExt cx="0" cy="0"/>
        </a:xfrm>
      </p:grpSpPr>
      <p:sp>
        <p:nvSpPr>
          <p:cNvPr id="1430" name="Google Shape;1430;p103"/>
          <p:cNvSpPr txBox="1"/>
          <p:nvPr>
            <p:ph idx="4294967295" type="subTitle"/>
          </p:nvPr>
        </p:nvSpPr>
        <p:spPr>
          <a:xfrm>
            <a:off x="337825" y="733800"/>
            <a:ext cx="8353800" cy="810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3) Work out the answer to the following, making sure to give your answer as a mixed number in its simplest form.</a:t>
            </a:r>
            <a:endParaRPr/>
          </a:p>
        </p:txBody>
      </p:sp>
      <p:pic>
        <p:nvPicPr>
          <p:cNvPr descr="&lt;math xmlns=&quot;http://www.w3.org/1998/Math/MathML&quot; display=&quot;block&quot; data-is-equatio=&quot;1&quot; data-latex=&quot;\begin{array}{l}2\ -\frac{3}{4}\times\sqrt{\frac{49}{81}}\\&amp;#13;&amp;#10;2\ -\ \frac{3}{4}\times\frac{7}{9}\\&amp;#13;&amp;#10;2\ -\ \frac{21}{36}\ =\ \frac{72}{36}-\frac{21}{36}=\frac{51}{36}=\frac{17}{12}=1\frac{5}{12}\end{array}&quot;&gt;&lt;mtable columnalign=&quot;left&quot; columnspacing=&quot;1em&quot; rowspacing=&quot;4pt&quot;&gt;&lt;mtr&gt;&lt;mtd&gt;&lt;mn&gt;2&lt;/mn&gt;&lt;mtext&gt;&lt;/mtext&gt;&lt;mo&gt;−&lt;/mo&gt;&lt;mfrac&gt;&lt;mn&gt;3&lt;/mn&gt;&lt;mn&gt;4&lt;/mn&gt;&lt;/mfrac&gt;&lt;mo&gt;×&lt;/mo&gt;&lt;msqrt&gt;&lt;mfrac&gt;&lt;mn&gt;49&lt;/mn&gt;&lt;mn&gt;81&lt;/mn&gt;&lt;/mfrac&gt;&lt;/msqrt&gt;&lt;/mtd&gt;&lt;/mtr&gt;&lt;mtr&gt;&lt;mtd&gt;&lt;mn&gt;2&lt;/mn&gt;&lt;mtext&gt;&lt;/mtext&gt;&lt;mo&gt;−&lt;/mo&gt;&lt;mtext&gt;&lt;/mtext&gt;&lt;mfrac&gt;&lt;mn&gt;3&lt;/mn&gt;&lt;mn&gt;4&lt;/mn&gt;&lt;/mfrac&gt;&lt;mo&gt;×&lt;/mo&gt;&lt;mfrac&gt;&lt;mn&gt;7&lt;/mn&gt;&lt;mn&gt;9&lt;/mn&gt;&lt;/mfrac&gt;&lt;/mtd&gt;&lt;/mtr&gt;&lt;mtr&gt;&lt;mtd&gt;&lt;mn&gt;2&lt;/mn&gt;&lt;mtext&gt;&lt;/mtext&gt;&lt;mo&gt;−&lt;/mo&gt;&lt;mtext&gt;&lt;/mtext&gt;&lt;mfrac&gt;&lt;mn&gt;21&lt;/mn&gt;&lt;mn&gt;36&lt;/mn&gt;&lt;/mfrac&gt;&lt;mtext&gt;&lt;/mtext&gt;&lt;mo&gt;=&lt;/mo&gt;&lt;mtext&gt;&lt;/mtext&gt;&lt;mfrac&gt;&lt;mn&gt;72&lt;/mn&gt;&lt;mn&gt;36&lt;/mn&gt;&lt;/mfrac&gt;&lt;mo&gt;−&lt;/mo&gt;&lt;mfrac&gt;&lt;mn&gt;21&lt;/mn&gt;&lt;mn&gt;36&lt;/mn&gt;&lt;/mfrac&gt;&lt;mo&gt;=&lt;/mo&gt;&lt;mfrac&gt;&lt;mn&gt;51&lt;/mn&gt;&lt;mn&gt;36&lt;/mn&gt;&lt;/mfrac&gt;&lt;mo&gt;=&lt;/mo&gt;&lt;mfrac&gt;&lt;mn&gt;17&lt;/mn&gt;&lt;mn&gt;12&lt;/mn&gt;&lt;/mfrac&gt;&lt;mo&gt;=&lt;/mo&gt;&lt;mn&gt;1&lt;/mn&gt;&lt;mfrac&gt;&lt;mn&gt;5&lt;/mn&gt;&lt;mn&gt;12&lt;/mn&gt;&lt;/mfrac&gt;&lt;/mtd&gt;&lt;/mtr&gt;&lt;/mtable&gt;&lt;/math&gt;" id="1431" name="Google Shape;1431;p103" title="3 lines Line 1: 2 negative three fourths times the square root of 49 over 81 Line 2: 2 minus three fourths times seven ninths Line 3: 2 minus 21 over 36 equals 72 over 36 minus 21 over 36 equals 51 over 36 equals 17 over 12 equals 1 and 5 over 12"/>
          <p:cNvPicPr preferRelativeResize="0"/>
          <p:nvPr/>
        </p:nvPicPr>
        <p:blipFill rotWithShape="1">
          <a:blip r:embed="rId3">
            <a:alphaModFix/>
          </a:blip>
          <a:srcRect b="61238" l="0" r="61152" t="0"/>
          <a:stretch/>
        </p:blipFill>
        <p:spPr>
          <a:xfrm>
            <a:off x="735300" y="1741300"/>
            <a:ext cx="2317099" cy="810000"/>
          </a:xfrm>
          <a:prstGeom prst="rect">
            <a:avLst/>
          </a:prstGeom>
          <a:noFill/>
          <a:ln>
            <a:noFill/>
          </a:ln>
        </p:spPr>
      </p:pic>
      <p:pic>
        <p:nvPicPr>
          <p:cNvPr descr="&lt;math xmlns=&quot;http://www.w3.org/1998/Math/MathML&quot; display=&quot;block&quot; data-is-equatio=&quot;1&quot; data-latex=&quot;\begin{array}{l}2\ -\frac{3}{4}\times\sqrt{\frac{49}{81}}\\&amp;#13;&amp;#10;2\ -\ \frac{3}{4}\times\frac{7}{9}\\&amp;#13;&amp;#10;2\ -\ \frac{21}{36}\ =\ \frac{72}{36}-\frac{21}{36}=\frac{51}{36}=\frac{17}{12}=1\frac{5}{12}\end{array}&quot;&gt;&lt;mtable columnalign=&quot;left&quot; columnspacing=&quot;1em&quot; rowspacing=&quot;4pt&quot;&gt;&lt;mtr&gt;&lt;mtd&gt;&lt;mn&gt;2&lt;/mn&gt;&lt;mtext&gt;&lt;/mtext&gt;&lt;mo&gt;−&lt;/mo&gt;&lt;mfrac&gt;&lt;mn&gt;3&lt;/mn&gt;&lt;mn&gt;4&lt;/mn&gt;&lt;/mfrac&gt;&lt;mo&gt;×&lt;/mo&gt;&lt;msqrt&gt;&lt;mfrac&gt;&lt;mn&gt;49&lt;/mn&gt;&lt;mn&gt;81&lt;/mn&gt;&lt;/mfrac&gt;&lt;/msqrt&gt;&lt;/mtd&gt;&lt;/mtr&gt;&lt;mtr&gt;&lt;mtd&gt;&lt;mn&gt;2&lt;/mn&gt;&lt;mtext&gt;&lt;/mtext&gt;&lt;mo&gt;−&lt;/mo&gt;&lt;mtext&gt;&lt;/mtext&gt;&lt;mfrac&gt;&lt;mn&gt;3&lt;/mn&gt;&lt;mn&gt;4&lt;/mn&gt;&lt;/mfrac&gt;&lt;mo&gt;×&lt;/mo&gt;&lt;mfrac&gt;&lt;mn&gt;7&lt;/mn&gt;&lt;mn&gt;9&lt;/mn&gt;&lt;/mfrac&gt;&lt;/mtd&gt;&lt;/mtr&gt;&lt;mtr&gt;&lt;mtd&gt;&lt;mn&gt;2&lt;/mn&gt;&lt;mtext&gt;&lt;/mtext&gt;&lt;mo&gt;−&lt;/mo&gt;&lt;mtext&gt;&lt;/mtext&gt;&lt;mfrac&gt;&lt;mn&gt;21&lt;/mn&gt;&lt;mn&gt;36&lt;/mn&gt;&lt;/mfrac&gt;&lt;mtext&gt;&lt;/mtext&gt;&lt;mo&gt;=&lt;/mo&gt;&lt;mtext&gt;&lt;/mtext&gt;&lt;mfrac&gt;&lt;mn&gt;72&lt;/mn&gt;&lt;mn&gt;36&lt;/mn&gt;&lt;/mfrac&gt;&lt;mo&gt;−&lt;/mo&gt;&lt;mfrac&gt;&lt;mn&gt;21&lt;/mn&gt;&lt;mn&gt;36&lt;/mn&gt;&lt;/mfrac&gt;&lt;mo&gt;=&lt;/mo&gt;&lt;mfrac&gt;&lt;mn&gt;51&lt;/mn&gt;&lt;mn&gt;36&lt;/mn&gt;&lt;/mfrac&gt;&lt;mo&gt;=&lt;/mo&gt;&lt;mfrac&gt;&lt;mn&gt;17&lt;/mn&gt;&lt;mn&gt;12&lt;/mn&gt;&lt;/mfrac&gt;&lt;mo&gt;=&lt;/mo&gt;&lt;mn&gt;1&lt;/mn&gt;&lt;mfrac&gt;&lt;mn&gt;5&lt;/mn&gt;&lt;mn&gt;12&lt;/mn&gt;&lt;/mfrac&gt;&lt;/mtd&gt;&lt;/mtr&gt;&lt;/mtable&gt;&lt;/math&gt;" id="1432" name="Google Shape;1432;p103" title="3 lines Line 1: 2 negative three fourths times the square root of 49 over 81 Line 2: 2 minus three fourths times seven ninths Line 3: 2 minus 21 over 36 equals 72 over 36 minus 21 over 36 equals 51 over 36 equals 17 over 12 equals 1 and 5 over 12"/>
          <p:cNvPicPr preferRelativeResize="0"/>
          <p:nvPr/>
        </p:nvPicPr>
        <p:blipFill rotWithShape="1">
          <a:blip r:embed="rId3">
            <a:alphaModFix/>
          </a:blip>
          <a:srcRect b="28148" l="-2540" r="63693" t="36928"/>
          <a:stretch/>
        </p:blipFill>
        <p:spPr>
          <a:xfrm>
            <a:off x="637875" y="2551300"/>
            <a:ext cx="2317099" cy="729825"/>
          </a:xfrm>
          <a:prstGeom prst="rect">
            <a:avLst/>
          </a:prstGeom>
          <a:noFill/>
          <a:ln>
            <a:noFill/>
          </a:ln>
        </p:spPr>
      </p:pic>
      <p:pic>
        <p:nvPicPr>
          <p:cNvPr descr="&lt;math xmlns=&quot;http://www.w3.org/1998/Math/MathML&quot; display=&quot;block&quot; data-is-equatio=&quot;1&quot; data-latex=&quot;\begin{array}{l}2\ -\frac{3}{4}\times\sqrt{\frac{49}{81}}\\&amp;#13;&amp;#10;2\ -\ \frac{3}{4}\times\frac{7}{9}\\&amp;#13;&amp;#10;2\ -\ \frac{21}{36}\ =\ \frac{72}{36}-\frac{21}{36}=\frac{51}{36}=\frac{17}{12}=1\frac{5}{12}\end{array}&quot;&gt;&lt;mtable columnalign=&quot;left&quot; columnspacing=&quot;1em&quot; rowspacing=&quot;4pt&quot;&gt;&lt;mtr&gt;&lt;mtd&gt;&lt;mn&gt;2&lt;/mn&gt;&lt;mtext&gt;&lt;/mtext&gt;&lt;mo&gt;−&lt;/mo&gt;&lt;mfrac&gt;&lt;mn&gt;3&lt;/mn&gt;&lt;mn&gt;4&lt;/mn&gt;&lt;/mfrac&gt;&lt;mo&gt;×&lt;/mo&gt;&lt;msqrt&gt;&lt;mfrac&gt;&lt;mn&gt;49&lt;/mn&gt;&lt;mn&gt;81&lt;/mn&gt;&lt;/mfrac&gt;&lt;/msqrt&gt;&lt;/mtd&gt;&lt;/mtr&gt;&lt;mtr&gt;&lt;mtd&gt;&lt;mn&gt;2&lt;/mn&gt;&lt;mtext&gt;&lt;/mtext&gt;&lt;mo&gt;−&lt;/mo&gt;&lt;mtext&gt;&lt;/mtext&gt;&lt;mfrac&gt;&lt;mn&gt;3&lt;/mn&gt;&lt;mn&gt;4&lt;/mn&gt;&lt;/mfrac&gt;&lt;mo&gt;×&lt;/mo&gt;&lt;mfrac&gt;&lt;mn&gt;7&lt;/mn&gt;&lt;mn&gt;9&lt;/mn&gt;&lt;/mfrac&gt;&lt;/mtd&gt;&lt;/mtr&gt;&lt;mtr&gt;&lt;mtd&gt;&lt;mn&gt;2&lt;/mn&gt;&lt;mtext&gt;&lt;/mtext&gt;&lt;mo&gt;−&lt;/mo&gt;&lt;mtext&gt;&lt;/mtext&gt;&lt;mfrac&gt;&lt;mn&gt;21&lt;/mn&gt;&lt;mn&gt;36&lt;/mn&gt;&lt;/mfrac&gt;&lt;mtext&gt;&lt;/mtext&gt;&lt;mo&gt;=&lt;/mo&gt;&lt;mtext&gt;&lt;/mtext&gt;&lt;mfrac&gt;&lt;mn&gt;72&lt;/mn&gt;&lt;mn&gt;36&lt;/mn&gt;&lt;/mfrac&gt;&lt;mo&gt;−&lt;/mo&gt;&lt;mfrac&gt;&lt;mn&gt;21&lt;/mn&gt;&lt;mn&gt;36&lt;/mn&gt;&lt;/mfrac&gt;&lt;mo&gt;=&lt;/mo&gt;&lt;mfrac&gt;&lt;mn&gt;51&lt;/mn&gt;&lt;mn&gt;36&lt;/mn&gt;&lt;/mfrac&gt;&lt;mo&gt;=&lt;/mo&gt;&lt;mfrac&gt;&lt;mn&gt;17&lt;/mn&gt;&lt;mn&gt;12&lt;/mn&gt;&lt;/mfrac&gt;&lt;mo&gt;=&lt;/mo&gt;&lt;mn&gt;1&lt;/mn&gt;&lt;mfrac&gt;&lt;mn&gt;5&lt;/mn&gt;&lt;mn&gt;12&lt;/mn&gt;&lt;/mfrac&gt;&lt;/mtd&gt;&lt;/mtr&gt;&lt;/mtable&gt;&lt;/math&gt;" id="1433" name="Google Shape;1433;p103" title="3 lines Line 1: 2 negative three fourths times the square root of 49 over 81 Line 2: 2 minus three fourths times seven ninths Line 3: 2 minus 21 over 36 equals 72 over 36 minus 21 over 36 equals 51 over 36 equals 17 over 12 equals 1 and 5 over 12"/>
          <p:cNvPicPr preferRelativeResize="0"/>
          <p:nvPr/>
        </p:nvPicPr>
        <p:blipFill rotWithShape="1">
          <a:blip r:embed="rId3">
            <a:alphaModFix/>
          </a:blip>
          <a:srcRect b="-5515" l="-2357" r="76757" t="66755"/>
          <a:stretch/>
        </p:blipFill>
        <p:spPr>
          <a:xfrm>
            <a:off x="583775" y="3227000"/>
            <a:ext cx="1526974" cy="810000"/>
          </a:xfrm>
          <a:prstGeom prst="rect">
            <a:avLst/>
          </a:prstGeom>
          <a:noFill/>
          <a:ln>
            <a:noFill/>
          </a:ln>
        </p:spPr>
      </p:pic>
      <p:pic>
        <p:nvPicPr>
          <p:cNvPr descr="&lt;math xmlns=&quot;http://www.w3.org/1998/Math/MathML&quot; display=&quot;block&quot; data-is-equatio=&quot;1&quot; data-latex=&quot;\begin{array}{l}2\ -\frac{3}{4}\times\sqrt{\frac{49}{81}}\\&amp;#13;&amp;#10;2\ -\ \frac{3}{4}\times\frac{7}{9}\\&amp;#13;&amp;#10;2\ -\ \frac{21}{36}\ =\ \frac{72}{36}-\frac{21}{36}=\frac{51}{36}=\frac{17}{12}=1\frac{5}{12}\end{array}&quot;&gt;&lt;mtable columnalign=&quot;left&quot; columnspacing=&quot;1em&quot; rowspacing=&quot;4pt&quot;&gt;&lt;mtr&gt;&lt;mtd&gt;&lt;mn&gt;2&lt;/mn&gt;&lt;mtext&gt;&lt;/mtext&gt;&lt;mo&gt;−&lt;/mo&gt;&lt;mfrac&gt;&lt;mn&gt;3&lt;/mn&gt;&lt;mn&gt;4&lt;/mn&gt;&lt;/mfrac&gt;&lt;mo&gt;×&lt;/mo&gt;&lt;msqrt&gt;&lt;mfrac&gt;&lt;mn&gt;49&lt;/mn&gt;&lt;mn&gt;81&lt;/mn&gt;&lt;/mfrac&gt;&lt;/msqrt&gt;&lt;/mtd&gt;&lt;/mtr&gt;&lt;mtr&gt;&lt;mtd&gt;&lt;mn&gt;2&lt;/mn&gt;&lt;mtext&gt;&lt;/mtext&gt;&lt;mo&gt;−&lt;/mo&gt;&lt;mtext&gt;&lt;/mtext&gt;&lt;mfrac&gt;&lt;mn&gt;3&lt;/mn&gt;&lt;mn&gt;4&lt;/mn&gt;&lt;/mfrac&gt;&lt;mo&gt;×&lt;/mo&gt;&lt;mfrac&gt;&lt;mn&gt;7&lt;/mn&gt;&lt;mn&gt;9&lt;/mn&gt;&lt;/mfrac&gt;&lt;/mtd&gt;&lt;/mtr&gt;&lt;mtr&gt;&lt;mtd&gt;&lt;mn&gt;2&lt;/mn&gt;&lt;mtext&gt;&lt;/mtext&gt;&lt;mo&gt;−&lt;/mo&gt;&lt;mtext&gt;&lt;/mtext&gt;&lt;mfrac&gt;&lt;mn&gt;21&lt;/mn&gt;&lt;mn&gt;36&lt;/mn&gt;&lt;/mfrac&gt;&lt;mtext&gt;&lt;/mtext&gt;&lt;mo&gt;=&lt;/mo&gt;&lt;mtext&gt;&lt;/mtext&gt;&lt;mfrac&gt;&lt;mn&gt;72&lt;/mn&gt;&lt;mn&gt;36&lt;/mn&gt;&lt;/mfrac&gt;&lt;mo&gt;−&lt;/mo&gt;&lt;mfrac&gt;&lt;mn&gt;21&lt;/mn&gt;&lt;mn&gt;36&lt;/mn&gt;&lt;/mfrac&gt;&lt;mo&gt;=&lt;/mo&gt;&lt;mfrac&gt;&lt;mn&gt;51&lt;/mn&gt;&lt;mn&gt;36&lt;/mn&gt;&lt;/mfrac&gt;&lt;mo&gt;=&lt;/mo&gt;&lt;mfrac&gt;&lt;mn&gt;17&lt;/mn&gt;&lt;mn&gt;12&lt;/mn&gt;&lt;/mfrac&gt;&lt;mo&gt;=&lt;/mo&gt;&lt;mn&gt;1&lt;/mn&gt;&lt;mfrac&gt;&lt;mn&gt;5&lt;/mn&gt;&lt;mn&gt;12&lt;/mn&gt;&lt;/mfrac&gt;&lt;/mtd&gt;&lt;/mtr&gt;&lt;/mtable&gt;&lt;/math&gt;" id="1434" name="Google Shape;1434;p103" title="3 lines Line 1: 2 negative three fourths times the square root of 49 over 81 Line 2: 2 minus three fourths times seven ninths Line 3: 2 minus 21 over 36 equals 72 over 36 minus 21 over 36 equals 51 over 36 equals 17 over 12 equals 1 and 5 over 12"/>
          <p:cNvPicPr preferRelativeResize="0"/>
          <p:nvPr/>
        </p:nvPicPr>
        <p:blipFill rotWithShape="1">
          <a:blip r:embed="rId3">
            <a:alphaModFix/>
          </a:blip>
          <a:srcRect b="-5515" l="31046" r="40826" t="66755"/>
          <a:stretch/>
        </p:blipFill>
        <p:spPr>
          <a:xfrm>
            <a:off x="637875" y="3932400"/>
            <a:ext cx="1677699" cy="810000"/>
          </a:xfrm>
          <a:prstGeom prst="rect">
            <a:avLst/>
          </a:prstGeom>
          <a:noFill/>
          <a:ln>
            <a:noFill/>
          </a:ln>
        </p:spPr>
      </p:pic>
      <p:pic>
        <p:nvPicPr>
          <p:cNvPr descr="&lt;math xmlns=&quot;http://www.w3.org/1998/Math/MathML&quot; display=&quot;block&quot; data-is-equatio=&quot;1&quot; data-latex=&quot;\begin{array}{l}2\ -\frac{3}{4}\times\sqrt{\frac{49}{81}}\\&amp;#13;&amp;#10;2\ -\ \frac{3}{4}\times\frac{7}{9}\\&amp;#13;&amp;#10;2\ -\ \frac{21}{36}\ =\ \frac{72}{36}-\frac{21}{36}=\frac{51}{36}=\frac{17}{12}=1\frac{5}{12}\end{array}&quot;&gt;&lt;mtable columnalign=&quot;left&quot; columnspacing=&quot;1em&quot; rowspacing=&quot;4pt&quot;&gt;&lt;mtr&gt;&lt;mtd&gt;&lt;mn&gt;2&lt;/mn&gt;&lt;mtext&gt;&lt;/mtext&gt;&lt;mo&gt;−&lt;/mo&gt;&lt;mfrac&gt;&lt;mn&gt;3&lt;/mn&gt;&lt;mn&gt;4&lt;/mn&gt;&lt;/mfrac&gt;&lt;mo&gt;×&lt;/mo&gt;&lt;msqrt&gt;&lt;mfrac&gt;&lt;mn&gt;49&lt;/mn&gt;&lt;mn&gt;81&lt;/mn&gt;&lt;/mfrac&gt;&lt;/msqrt&gt;&lt;/mtd&gt;&lt;/mtr&gt;&lt;mtr&gt;&lt;mtd&gt;&lt;mn&gt;2&lt;/mn&gt;&lt;mtext&gt;&lt;/mtext&gt;&lt;mo&gt;−&lt;/mo&gt;&lt;mtext&gt;&lt;/mtext&gt;&lt;mfrac&gt;&lt;mn&gt;3&lt;/mn&gt;&lt;mn&gt;4&lt;/mn&gt;&lt;/mfrac&gt;&lt;mo&gt;×&lt;/mo&gt;&lt;mfrac&gt;&lt;mn&gt;7&lt;/mn&gt;&lt;mn&gt;9&lt;/mn&gt;&lt;/mfrac&gt;&lt;/mtd&gt;&lt;/mtr&gt;&lt;mtr&gt;&lt;mtd&gt;&lt;mn&gt;2&lt;/mn&gt;&lt;mtext&gt;&lt;/mtext&gt;&lt;mo&gt;−&lt;/mo&gt;&lt;mtext&gt;&lt;/mtext&gt;&lt;mfrac&gt;&lt;mn&gt;21&lt;/mn&gt;&lt;mn&gt;36&lt;/mn&gt;&lt;/mfrac&gt;&lt;mtext&gt;&lt;/mtext&gt;&lt;mo&gt;=&lt;/mo&gt;&lt;mtext&gt;&lt;/mtext&gt;&lt;mfrac&gt;&lt;mn&gt;72&lt;/mn&gt;&lt;mn&gt;36&lt;/mn&gt;&lt;/mfrac&gt;&lt;mo&gt;−&lt;/mo&gt;&lt;mfrac&gt;&lt;mn&gt;21&lt;/mn&gt;&lt;mn&gt;36&lt;/mn&gt;&lt;/mfrac&gt;&lt;mo&gt;=&lt;/mo&gt;&lt;mfrac&gt;&lt;mn&gt;51&lt;/mn&gt;&lt;mn&gt;36&lt;/mn&gt;&lt;/mfrac&gt;&lt;mo&gt;=&lt;/mo&gt;&lt;mfrac&gt;&lt;mn&gt;17&lt;/mn&gt;&lt;mn&gt;12&lt;/mn&gt;&lt;/mfrac&gt;&lt;mo&gt;=&lt;/mo&gt;&lt;mn&gt;1&lt;/mn&gt;&lt;mfrac&gt;&lt;mn&gt;5&lt;/mn&gt;&lt;mn&gt;12&lt;/mn&gt;&lt;/mfrac&gt;&lt;/mtd&gt;&lt;/mtr&gt;&lt;/mtable&gt;&lt;/math&gt;" id="1435" name="Google Shape;1435;p103" title="3 lines Line 1: 2 negative three fourths times the square root of 49 over 81 Line 2: 2 minus three fourths times seven ninths Line 3: 2 minus 21 over 36 equals 72 over 36 minus 21 over 36 equals 51 over 36 equals 17 over 12 equals 1 and 5 over 12"/>
          <p:cNvPicPr preferRelativeResize="0"/>
          <p:nvPr/>
        </p:nvPicPr>
        <p:blipFill rotWithShape="1">
          <a:blip r:embed="rId3">
            <a:alphaModFix/>
          </a:blip>
          <a:srcRect b="-5515" l="59900" r="32407" t="66755"/>
          <a:stretch/>
        </p:blipFill>
        <p:spPr>
          <a:xfrm>
            <a:off x="2370501" y="3932400"/>
            <a:ext cx="458851" cy="810000"/>
          </a:xfrm>
          <a:prstGeom prst="rect">
            <a:avLst/>
          </a:prstGeom>
          <a:noFill/>
          <a:ln>
            <a:noFill/>
          </a:ln>
        </p:spPr>
      </p:pic>
      <p:pic>
        <p:nvPicPr>
          <p:cNvPr descr="&lt;math xmlns=&quot;http://www.w3.org/1998/Math/MathML&quot; display=&quot;block&quot; data-is-equatio=&quot;1&quot; data-latex=&quot;\begin{array}{l}2\ -\frac{3}{4}\times\sqrt{\frac{49}{81}}\\&amp;#13;&amp;#10;2\ -\ \frac{3}{4}\times\frac{7}{9}\\&amp;#13;&amp;#10;2\ -\ \frac{21}{36}\ =\ \frac{72}{36}-\frac{21}{36}=\frac{51}{36}=\frac{17}{12}=1\frac{5}{12}\end{array}&quot;&gt;&lt;mtable columnalign=&quot;left&quot; columnspacing=&quot;1em&quot; rowspacing=&quot;4pt&quot;&gt;&lt;mtr&gt;&lt;mtd&gt;&lt;mn&gt;2&lt;/mn&gt;&lt;mtext&gt;&lt;/mtext&gt;&lt;mo&gt;−&lt;/mo&gt;&lt;mfrac&gt;&lt;mn&gt;3&lt;/mn&gt;&lt;mn&gt;4&lt;/mn&gt;&lt;/mfrac&gt;&lt;mo&gt;×&lt;/mo&gt;&lt;msqrt&gt;&lt;mfrac&gt;&lt;mn&gt;49&lt;/mn&gt;&lt;mn&gt;81&lt;/mn&gt;&lt;/mfrac&gt;&lt;/msqrt&gt;&lt;/mtd&gt;&lt;/mtr&gt;&lt;mtr&gt;&lt;mtd&gt;&lt;mn&gt;2&lt;/mn&gt;&lt;mtext&gt;&lt;/mtext&gt;&lt;mo&gt;−&lt;/mo&gt;&lt;mtext&gt;&lt;/mtext&gt;&lt;mfrac&gt;&lt;mn&gt;3&lt;/mn&gt;&lt;mn&gt;4&lt;/mn&gt;&lt;/mfrac&gt;&lt;mo&gt;×&lt;/mo&gt;&lt;mfrac&gt;&lt;mn&gt;7&lt;/mn&gt;&lt;mn&gt;9&lt;/mn&gt;&lt;/mfrac&gt;&lt;/mtd&gt;&lt;/mtr&gt;&lt;mtr&gt;&lt;mtd&gt;&lt;mn&gt;2&lt;/mn&gt;&lt;mtext&gt;&lt;/mtext&gt;&lt;mo&gt;−&lt;/mo&gt;&lt;mtext&gt;&lt;/mtext&gt;&lt;mfrac&gt;&lt;mn&gt;21&lt;/mn&gt;&lt;mn&gt;36&lt;/mn&gt;&lt;/mfrac&gt;&lt;mtext&gt;&lt;/mtext&gt;&lt;mo&gt;=&lt;/mo&gt;&lt;mtext&gt;&lt;/mtext&gt;&lt;mfrac&gt;&lt;mn&gt;72&lt;/mn&gt;&lt;mn&gt;36&lt;/mn&gt;&lt;/mfrac&gt;&lt;mo&gt;−&lt;/mo&gt;&lt;mfrac&gt;&lt;mn&gt;21&lt;/mn&gt;&lt;mn&gt;36&lt;/mn&gt;&lt;/mfrac&gt;&lt;mo&gt;=&lt;/mo&gt;&lt;mfrac&gt;&lt;mn&gt;51&lt;/mn&gt;&lt;mn&gt;36&lt;/mn&gt;&lt;/mfrac&gt;&lt;mo&gt;=&lt;/mo&gt;&lt;mfrac&gt;&lt;mn&gt;17&lt;/mn&gt;&lt;mn&gt;12&lt;/mn&gt;&lt;/mfrac&gt;&lt;mo&gt;=&lt;/mo&gt;&lt;mn&gt;1&lt;/mn&gt;&lt;mfrac&gt;&lt;mn&gt;5&lt;/mn&gt;&lt;mn&gt;12&lt;/mn&gt;&lt;/mfrac&gt;&lt;/mtd&gt;&lt;/mtr&gt;&lt;/mtable&gt;&lt;/math&gt;" id="1436" name="Google Shape;1436;p103" title="3 lines Line 1: 2 negative three fourths times the square root of 49 over 81 Line 2: 2 minus three fourths times seven ninths Line 3: 2 minus 21 over 36 equals 72 over 36 minus 21 over 36 equals 51 over 36 equals 17 over 12 equals 1 and 5 over 12"/>
          <p:cNvPicPr preferRelativeResize="0"/>
          <p:nvPr/>
        </p:nvPicPr>
        <p:blipFill rotWithShape="1">
          <a:blip r:embed="rId3">
            <a:alphaModFix/>
          </a:blip>
          <a:srcRect b="-5515" l="68789" r="-2360" t="66755"/>
          <a:stretch/>
        </p:blipFill>
        <p:spPr>
          <a:xfrm>
            <a:off x="2884274" y="3932400"/>
            <a:ext cx="2002401" cy="810000"/>
          </a:xfrm>
          <a:prstGeom prst="rect">
            <a:avLst/>
          </a:prstGeom>
          <a:noFill/>
          <a:ln>
            <a:noFill/>
          </a:ln>
        </p:spPr>
      </p:pic>
      <p:sp>
        <p:nvSpPr>
          <p:cNvPr id="1437" name="Google Shape;1437;p103"/>
          <p:cNvSpPr txBox="1"/>
          <p:nvPr/>
        </p:nvSpPr>
        <p:spPr>
          <a:xfrm>
            <a:off x="4824000" y="1619988"/>
            <a:ext cx="6036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b)</a:t>
            </a:r>
            <a:endParaRPr/>
          </a:p>
        </p:txBody>
      </p:sp>
      <p:sp>
        <p:nvSpPr>
          <p:cNvPr id="1438" name="Google Shape;1438;p103"/>
          <p:cNvSpPr txBox="1"/>
          <p:nvPr/>
        </p:nvSpPr>
        <p:spPr>
          <a:xfrm>
            <a:off x="192250" y="1619988"/>
            <a:ext cx="6036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a)</a:t>
            </a:r>
            <a:endParaRPr/>
          </a:p>
        </p:txBody>
      </p:sp>
      <p:pic>
        <p:nvPicPr>
          <p:cNvPr descr="&lt;math xmlns=&quot;http://www.w3.org/1998/Math/MathML&quot; display=&quot;block&quot; data-is-equatio=&quot;1&quot; data-latex=&quot;\begin{array}{l}\left(\frac{9}{10}\right)^2-2.5\div0.5\ \times2\\&amp;#13;&amp;#10;\frac{81}{100}-\frac{2.5}{0.5}\times2\\&amp;#13;&amp;#10;\frac{81}{100}-\frac{25}{5}\times2\\&amp;#13;&amp;#10;\frac{81}{100}-\frac{25\times2}{5}\\&amp;#13;&amp;#10;\frac{81}{100}-\frac{50}{5}\\&amp;#13;&amp;#10;\frac{81}{100}-\frac{1000}{100}=-\frac{919}{1000}\end{array}&quot;&gt;&lt;mtable columnalign=&quot;left&quot; columnspacing=&quot;1em&quot; rowspacing=&quot;4pt&quot;&gt;&lt;mtr&gt;&lt;mtd&gt;&lt;msup&gt;&lt;mrow data-mjx-texclass=&quot;INNER&quot;&gt;&lt;mo data-mjx-texclass=&quot;OPEN&quot;&gt;(&lt;/mo&gt;&lt;mfrac&gt;&lt;mn&gt;9&lt;/mn&gt;&lt;mn&gt;10&lt;/mn&gt;&lt;/mfrac&gt;&lt;mo data-mjx-texclass=&quot;CLOSE&quot;&gt;)&lt;/mo&gt;&lt;/mrow&gt;&lt;mn&gt;2&lt;/mn&gt;&lt;/msup&gt;&lt;mo&gt;−&lt;/mo&gt;&lt;mn&gt;2.5&lt;/mn&gt;&lt;mo&gt;÷&lt;/mo&gt;&lt;mn&gt;0.5&lt;/mn&gt;&lt;mtext&gt;&lt;/mtext&gt;&lt;mo&gt;×&lt;/mo&gt;&lt;mn&gt;2&lt;/mn&gt;&lt;/mtd&gt;&lt;/mtr&gt;&lt;mtr&gt;&lt;mtd&gt;&lt;mfrac&gt;&lt;mn&gt;81&lt;/mn&gt;&lt;mn&gt;100&lt;/mn&gt;&lt;/mfrac&gt;&lt;mo&gt;−&lt;/mo&gt;&lt;mfrac&gt;&lt;mn&gt;2.5&lt;/mn&gt;&lt;mn&gt;0.5&lt;/mn&gt;&lt;/mfrac&gt;&lt;mo&gt;×&lt;/mo&gt;&lt;mn&gt;2&lt;/mn&gt;&lt;/mtd&gt;&lt;/mtr&gt;&lt;mtr&gt;&lt;mtd&gt;&lt;mfrac&gt;&lt;mn&gt;81&lt;/mn&gt;&lt;mn&gt;100&lt;/mn&gt;&lt;/mfrac&gt;&lt;mo&gt;−&lt;/mo&gt;&lt;mfrac&gt;&lt;mn&gt;25&lt;/mn&gt;&lt;mn&gt;5&lt;/mn&gt;&lt;/mfrac&gt;&lt;mo&gt;×&lt;/mo&gt;&lt;mn&gt;2&lt;/mn&gt;&lt;/mtd&gt;&lt;/mtr&gt;&lt;mtr&gt;&lt;mtd&gt;&lt;mfrac&gt;&lt;mn&gt;81&lt;/mn&gt;&lt;mn&gt;100&lt;/mn&gt;&lt;/mfrac&gt;&lt;mo&gt;−&lt;/mo&gt;&lt;mfrac&gt;&lt;mrow&gt;&lt;mn&gt;25&lt;/mn&gt;&lt;mo&gt;×&lt;/mo&gt;&lt;mn&gt;2&lt;/mn&gt;&lt;/mrow&gt;&lt;mn&gt;5&lt;/mn&gt;&lt;/mfrac&gt;&lt;/mtd&gt;&lt;/mtr&gt;&lt;mtr&gt;&lt;mtd&gt;&lt;mfrac&gt;&lt;mn&gt;81&lt;/mn&gt;&lt;mn&gt;100&lt;/mn&gt;&lt;/mfrac&gt;&lt;mo&gt;−&lt;/mo&gt;&lt;mfrac&gt;&lt;mn&gt;50&lt;/mn&gt;&lt;mn&gt;5&lt;/mn&gt;&lt;/mfrac&gt;&lt;/mtd&gt;&lt;/mtr&gt;&lt;mtr&gt;&lt;mtd&gt;&lt;mfrac&gt;&lt;mn&gt;81&lt;/mn&gt;&lt;mn&gt;100&lt;/mn&gt;&lt;/mfrac&gt;&lt;mo&gt;−&lt;/mo&gt;&lt;mfrac&gt;&lt;mn&gt;1000&lt;/mn&gt;&lt;mn&gt;100&lt;/mn&gt;&lt;/mfrac&gt;&lt;mo&gt;=&lt;/mo&gt;&lt;mo&gt;−&lt;/mo&gt;&lt;mfrac&gt;&lt;mn&gt;919&lt;/mn&gt;&lt;mn&gt;1000&lt;/mn&gt;&lt;/mfrac&gt;&lt;/mtd&gt;&lt;/mtr&gt;&lt;/mtable&gt;&lt;/math&gt;" id="1439" name="Google Shape;1439;p103" title="6 lines Line 1: nine tenths squared minus 2.5 divided by 0.5 times 2 Line 2: 81 over 100 minus 2.5 over 0.5 times 2 Line 3: 81 over 100 minus 25 over 5 times 2 Line 4: 81 over 100 minus the fraction with numerator 25 times 2 and denominator 5 Line 5: 81 over 100 minus 50 over 5 Line 6: 81 over 100 minus 1000 over 100 equals negative 919 over 1000"/>
          <p:cNvPicPr preferRelativeResize="0"/>
          <p:nvPr/>
        </p:nvPicPr>
        <p:blipFill rotWithShape="1">
          <a:blip r:embed="rId4">
            <a:alphaModFix/>
          </a:blip>
          <a:srcRect b="66140" l="-4080" r="4079" t="17197"/>
          <a:stretch/>
        </p:blipFill>
        <p:spPr>
          <a:xfrm>
            <a:off x="5541125" y="2143200"/>
            <a:ext cx="2657999" cy="523200"/>
          </a:xfrm>
          <a:prstGeom prst="rect">
            <a:avLst/>
          </a:prstGeom>
          <a:noFill/>
          <a:ln>
            <a:noFill/>
          </a:ln>
        </p:spPr>
      </p:pic>
      <p:pic>
        <p:nvPicPr>
          <p:cNvPr descr="&lt;math xmlns=&quot;http://www.w3.org/1998/Math/MathML&quot; display=&quot;block&quot; data-is-equatio=&quot;1&quot; data-latex=&quot;\begin{array}{l}\left(\frac{9}{10}\right)^2-2.5\div0.5\ \times2\\&amp;#13;&amp;#10;\frac{81}{100}-\frac{2.5}{0.5}\times2\\&amp;#13;&amp;#10;\frac{81}{100}-\frac{25}{5}\times2\\&amp;#13;&amp;#10;\frac{81}{100}-\frac{25\times2}{5}\\&amp;#13;&amp;#10;\frac{81}{100}-\frac{50}{5}\\&amp;#13;&amp;#10;\frac{81}{100}-\frac{1000}{100}=-\frac{919}{1000}\end{array}&quot;&gt;&lt;mtable columnalign=&quot;left&quot; columnspacing=&quot;1em&quot; rowspacing=&quot;4pt&quot;&gt;&lt;mtr&gt;&lt;mtd&gt;&lt;msup&gt;&lt;mrow data-mjx-texclass=&quot;INNER&quot;&gt;&lt;mo data-mjx-texclass=&quot;OPEN&quot;&gt;(&lt;/mo&gt;&lt;mfrac&gt;&lt;mn&gt;9&lt;/mn&gt;&lt;mn&gt;10&lt;/mn&gt;&lt;/mfrac&gt;&lt;mo data-mjx-texclass=&quot;CLOSE&quot;&gt;)&lt;/mo&gt;&lt;/mrow&gt;&lt;mn&gt;2&lt;/mn&gt;&lt;/msup&gt;&lt;mo&gt;−&lt;/mo&gt;&lt;mn&gt;2.5&lt;/mn&gt;&lt;mo&gt;÷&lt;/mo&gt;&lt;mn&gt;0.5&lt;/mn&gt;&lt;mtext&gt;&lt;/mtext&gt;&lt;mo&gt;×&lt;/mo&gt;&lt;mn&gt;2&lt;/mn&gt;&lt;/mtd&gt;&lt;/mtr&gt;&lt;mtr&gt;&lt;mtd&gt;&lt;mfrac&gt;&lt;mn&gt;81&lt;/mn&gt;&lt;mn&gt;100&lt;/mn&gt;&lt;/mfrac&gt;&lt;mo&gt;−&lt;/mo&gt;&lt;mfrac&gt;&lt;mn&gt;2.5&lt;/mn&gt;&lt;mn&gt;0.5&lt;/mn&gt;&lt;/mfrac&gt;&lt;mo&gt;×&lt;/mo&gt;&lt;mn&gt;2&lt;/mn&gt;&lt;/mtd&gt;&lt;/mtr&gt;&lt;mtr&gt;&lt;mtd&gt;&lt;mfrac&gt;&lt;mn&gt;81&lt;/mn&gt;&lt;mn&gt;100&lt;/mn&gt;&lt;/mfrac&gt;&lt;mo&gt;−&lt;/mo&gt;&lt;mfrac&gt;&lt;mn&gt;25&lt;/mn&gt;&lt;mn&gt;5&lt;/mn&gt;&lt;/mfrac&gt;&lt;mo&gt;×&lt;/mo&gt;&lt;mn&gt;2&lt;/mn&gt;&lt;/mtd&gt;&lt;/mtr&gt;&lt;mtr&gt;&lt;mtd&gt;&lt;mfrac&gt;&lt;mn&gt;81&lt;/mn&gt;&lt;mn&gt;100&lt;/mn&gt;&lt;/mfrac&gt;&lt;mo&gt;−&lt;/mo&gt;&lt;mfrac&gt;&lt;mrow&gt;&lt;mn&gt;25&lt;/mn&gt;&lt;mo&gt;×&lt;/mo&gt;&lt;mn&gt;2&lt;/mn&gt;&lt;/mrow&gt;&lt;mn&gt;5&lt;/mn&gt;&lt;/mfrac&gt;&lt;/mtd&gt;&lt;/mtr&gt;&lt;mtr&gt;&lt;mtd&gt;&lt;mfrac&gt;&lt;mn&gt;81&lt;/mn&gt;&lt;mn&gt;100&lt;/mn&gt;&lt;/mfrac&gt;&lt;mo&gt;−&lt;/mo&gt;&lt;mfrac&gt;&lt;mn&gt;50&lt;/mn&gt;&lt;mn&gt;5&lt;/mn&gt;&lt;/mfrac&gt;&lt;/mtd&gt;&lt;/mtr&gt;&lt;mtr&gt;&lt;mtd&gt;&lt;mfrac&gt;&lt;mn&gt;81&lt;/mn&gt;&lt;mn&gt;100&lt;/mn&gt;&lt;/mfrac&gt;&lt;mo&gt;−&lt;/mo&gt;&lt;mfrac&gt;&lt;mn&gt;1000&lt;/mn&gt;&lt;mn&gt;100&lt;/mn&gt;&lt;/mfrac&gt;&lt;mo&gt;=&lt;/mo&gt;&lt;mo&gt;−&lt;/mo&gt;&lt;mfrac&gt;&lt;mn&gt;919&lt;/mn&gt;&lt;mn&gt;1000&lt;/mn&gt;&lt;/mfrac&gt;&lt;/mtd&gt;&lt;/mtr&gt;&lt;/mtable&gt;&lt;/math&gt;" id="1440" name="Google Shape;1440;p103" title="6 lines Line 1: nine tenths squared minus 2.5 divided by 0.5 times 2 Line 2: 81 over 100 minus 2.5 over 0.5 times 2 Line 3: 81 over 100 minus 25 over 5 times 2 Line 4: 81 over 100 minus the fraction with numerator 25 times 2 and denominator 5 Line 5: 81 over 100 minus 50 over 5 Line 6: 81 over 100 minus 1000 over 100 equals negative 919 over 1000"/>
          <p:cNvPicPr preferRelativeResize="0"/>
          <p:nvPr/>
        </p:nvPicPr>
        <p:blipFill rotWithShape="1">
          <a:blip r:embed="rId4">
            <a:alphaModFix/>
          </a:blip>
          <a:srcRect b="48877" l="-6119" r="33958" t="34459"/>
          <a:stretch/>
        </p:blipFill>
        <p:spPr>
          <a:xfrm>
            <a:off x="5481725" y="2654600"/>
            <a:ext cx="1918075" cy="523200"/>
          </a:xfrm>
          <a:prstGeom prst="rect">
            <a:avLst/>
          </a:prstGeom>
          <a:noFill/>
          <a:ln>
            <a:noFill/>
          </a:ln>
        </p:spPr>
      </p:pic>
      <p:pic>
        <p:nvPicPr>
          <p:cNvPr descr="&lt;math xmlns=&quot;http://www.w3.org/1998/Math/MathML&quot; display=&quot;block&quot; data-is-equatio=&quot;1&quot; data-latex=&quot;\begin{array}{l}\left(\frac{9}{10}\right)^2-\left(2.5\div0.5\right)\ \times2\\&amp;#13;&amp;#10;\frac{81}{100}-\frac{2.5}{0.5}\times2\\&amp;#13;&amp;#10;\frac{81}{100}-\frac{25}{5}\times2\\&amp;#13;&amp;#10;\frac{81}{100}-\frac{25\times2}{5}\\&amp;#13;&amp;#10;\frac{81}{100}-\frac{50}{5}\\&amp;#13;&amp;#10;\frac{81}{100}-\frac{1000}{100}=-\frac{919}{1000}\end{array}&quot;&gt;&lt;mtable columnalign=&quot;left&quot; columnspacing=&quot;1em&quot; rowspacing=&quot;4pt&quot;&gt;&lt;mtr&gt;&lt;mtd&gt;&lt;msup&gt;&lt;mrow data-mjx-texclass=&quot;INNER&quot;&gt;&lt;mo data-mjx-texclass=&quot;OPEN&quot;&gt;(&lt;/mo&gt;&lt;mfrac&gt;&lt;mn&gt;9&lt;/mn&gt;&lt;mn&gt;10&lt;/mn&gt;&lt;/mfrac&gt;&lt;mo data-mjx-texclass=&quot;CLOSE&quot;&gt;)&lt;/mo&gt;&lt;/mrow&gt;&lt;mn&gt;2&lt;/mn&gt;&lt;/msup&gt;&lt;mo&gt;−&lt;/mo&gt;&lt;mrow data-mjx-texclass=&quot;INNER&quot;&gt;&lt;mo data-mjx-texclass=&quot;OPEN&quot;&gt;(&lt;/mo&gt;&lt;mn&gt;2.5&lt;/mn&gt;&lt;mo&gt;÷&lt;/mo&gt;&lt;mn&gt;0.5&lt;/mn&gt;&lt;mo data-mjx-texclass=&quot;CLOSE&quot;&gt;)&lt;/mo&gt;&lt;/mrow&gt;&lt;mtext&gt;&lt;/mtext&gt;&lt;mo&gt;×&lt;/mo&gt;&lt;mn&gt;2&lt;/mn&gt;&lt;/mtd&gt;&lt;/mtr&gt;&lt;mtr&gt;&lt;mtd&gt;&lt;mfrac&gt;&lt;mn&gt;81&lt;/mn&gt;&lt;mn&gt;100&lt;/mn&gt;&lt;/mfrac&gt;&lt;mo&gt;−&lt;/mo&gt;&lt;mfrac&gt;&lt;mn&gt;2.5&lt;/mn&gt;&lt;mn&gt;0.5&lt;/mn&gt;&lt;/mfrac&gt;&lt;mo&gt;×&lt;/mo&gt;&lt;mn&gt;2&lt;/mn&gt;&lt;/mtd&gt;&lt;/mtr&gt;&lt;mtr&gt;&lt;mtd&gt;&lt;mfrac&gt;&lt;mn&gt;81&lt;/mn&gt;&lt;mn&gt;100&lt;/mn&gt;&lt;/mfrac&gt;&lt;mo&gt;−&lt;/mo&gt;&lt;mfrac&gt;&lt;mn&gt;25&lt;/mn&gt;&lt;mn&gt;5&lt;/mn&gt;&lt;/mfrac&gt;&lt;mo&gt;×&lt;/mo&gt;&lt;mn&gt;2&lt;/mn&gt;&lt;/mtd&gt;&lt;/mtr&gt;&lt;mtr&gt;&lt;mtd&gt;&lt;mfrac&gt;&lt;mn&gt;81&lt;/mn&gt;&lt;mn&gt;100&lt;/mn&gt;&lt;/mfrac&gt;&lt;mo&gt;−&lt;/mo&gt;&lt;mfrac&gt;&lt;mrow&gt;&lt;mn&gt;25&lt;/mn&gt;&lt;mo&gt;×&lt;/mo&gt;&lt;mn&gt;2&lt;/mn&gt;&lt;/mrow&gt;&lt;mn&gt;5&lt;/mn&gt;&lt;/mfrac&gt;&lt;/mtd&gt;&lt;/mtr&gt;&lt;mtr&gt;&lt;mtd&gt;&lt;mfrac&gt;&lt;mn&gt;81&lt;/mn&gt;&lt;mn&gt;100&lt;/mn&gt;&lt;/mfrac&gt;&lt;mo&gt;−&lt;/mo&gt;&lt;mfrac&gt;&lt;mn&gt;50&lt;/mn&gt;&lt;mn&gt;5&lt;/mn&gt;&lt;/mfrac&gt;&lt;/mtd&gt;&lt;/mtr&gt;&lt;mtr&gt;&lt;mtd&gt;&lt;mfrac&gt;&lt;mn&gt;81&lt;/mn&gt;&lt;mn&gt;100&lt;/mn&gt;&lt;/mfrac&gt;&lt;mo&gt;−&lt;/mo&gt;&lt;mfrac&gt;&lt;mn&gt;1000&lt;/mn&gt;&lt;mn&gt;100&lt;/mn&gt;&lt;/mfrac&gt;&lt;mo&gt;=&lt;/mo&gt;&lt;mo&gt;−&lt;/mo&gt;&lt;mfrac&gt;&lt;mn&gt;919&lt;/mn&gt;&lt;mn&gt;1000&lt;/mn&gt;&lt;/mfrac&gt;&lt;/mtd&gt;&lt;/mtr&gt;&lt;/mtable&gt;&lt;/math&gt;" id="1441" name="Google Shape;1441;p103" title="6 lines Line 1: nine tenths squared minus open paren 2.5 divided by 0.5 close paren times 2 Line 2: 81 over 100 minus 2.5 over 0.5 times 2 Line 3: 81 over 100 minus 25 over 5 times 2 Line 4: 81 over 100 minus the fraction with numerator 25 times 2 and denominator 5 Line 5: 81 over 100 minus 50 over 5 Line 6: 81 over 100 minus 1000 over 100 equals negative 919 over 1000"/>
          <p:cNvPicPr preferRelativeResize="0"/>
          <p:nvPr/>
        </p:nvPicPr>
        <p:blipFill rotWithShape="1">
          <a:blip r:embed="rId5">
            <a:alphaModFix/>
          </a:blip>
          <a:srcRect b="84251" l="0" r="0" t="0"/>
          <a:stretch/>
        </p:blipFill>
        <p:spPr>
          <a:xfrm>
            <a:off x="5601925" y="1620000"/>
            <a:ext cx="3079100" cy="523200"/>
          </a:xfrm>
          <a:prstGeom prst="rect">
            <a:avLst/>
          </a:prstGeom>
          <a:noFill/>
          <a:ln>
            <a:noFill/>
          </a:ln>
        </p:spPr>
      </p:pic>
      <p:pic>
        <p:nvPicPr>
          <p:cNvPr descr="&lt;math xmlns=&quot;http://www.w3.org/1998/Math/MathML&quot; display=&quot;block&quot; data-is-equatio=&quot;1&quot; data-latex=&quot;\begin{array}{l}\left(\frac{9}{10}\right)^2-2.5\div0.5\ \times2\\&amp;#13;&amp;#10;\frac{81}{100}-\frac{2.5}{0.5}\times2\\&amp;#13;&amp;#10;\frac{81}{100}-\frac{25}{5}\times2\\&amp;#13;&amp;#10;\frac{81}{100}-5\times2\\&amp;#13;&amp;#10;\frac{81}{100}-\frac{50}{5}\\&amp;#13;&amp;#10;\frac{81}{100}-10=-9\frac{19}{100}\end{array}&quot;&gt;&lt;mtable columnalign=&quot;left&quot; columnspacing=&quot;1em&quot; rowspacing=&quot;4pt&quot;&gt;&lt;mtr&gt;&lt;mtd&gt;&lt;msup&gt;&lt;mrow data-mjx-texclass=&quot;INNER&quot;&gt;&lt;mo data-mjx-texclass=&quot;OPEN&quot;&gt;(&lt;/mo&gt;&lt;mfrac&gt;&lt;mn&gt;9&lt;/mn&gt;&lt;mn&gt;10&lt;/mn&gt;&lt;/mfrac&gt;&lt;mo data-mjx-texclass=&quot;CLOSE&quot;&gt;)&lt;/mo&gt;&lt;/mrow&gt;&lt;mn&gt;2&lt;/mn&gt;&lt;/msup&gt;&lt;mo&gt;−&lt;/mo&gt;&lt;mn&gt;2.5&lt;/mn&gt;&lt;mo&gt;÷&lt;/mo&gt;&lt;mn&gt;0.5&lt;/mn&gt;&lt;mtext&gt;&lt;/mtext&gt;&lt;mo&gt;×&lt;/mo&gt;&lt;mn&gt;2&lt;/mn&gt;&lt;/mtd&gt;&lt;/mtr&gt;&lt;mtr&gt;&lt;mtd&gt;&lt;mfrac&gt;&lt;mn&gt;81&lt;/mn&gt;&lt;mn&gt;100&lt;/mn&gt;&lt;/mfrac&gt;&lt;mo&gt;−&lt;/mo&gt;&lt;mfrac&gt;&lt;mn&gt;2.5&lt;/mn&gt;&lt;mn&gt;0.5&lt;/mn&gt;&lt;/mfrac&gt;&lt;mo&gt;×&lt;/mo&gt;&lt;mn&gt;2&lt;/mn&gt;&lt;/mtd&gt;&lt;/mtr&gt;&lt;mtr&gt;&lt;mtd&gt;&lt;mfrac&gt;&lt;mn&gt;81&lt;/mn&gt;&lt;mn&gt;100&lt;/mn&gt;&lt;/mfrac&gt;&lt;mo&gt;−&lt;/mo&gt;&lt;mfrac&gt;&lt;mn&gt;25&lt;/mn&gt;&lt;mn&gt;5&lt;/mn&gt;&lt;/mfrac&gt;&lt;mo&gt;×&lt;/mo&gt;&lt;mn&gt;2&lt;/mn&gt;&lt;/mtd&gt;&lt;/mtr&gt;&lt;mtr&gt;&lt;mtd&gt;&lt;mfrac&gt;&lt;mn&gt;81&lt;/mn&gt;&lt;mn&gt;100&lt;/mn&gt;&lt;/mfrac&gt;&lt;mo&gt;−&lt;/mo&gt;&lt;mn&gt;5&lt;/mn&gt;&lt;mo&gt;×&lt;/mo&gt;&lt;mn&gt;2&lt;/mn&gt;&lt;/mtd&gt;&lt;/mtr&gt;&lt;mtr&gt;&lt;mtd&gt;&lt;mfrac&gt;&lt;mn&gt;81&lt;/mn&gt;&lt;mn&gt;100&lt;/mn&gt;&lt;/mfrac&gt;&lt;mo&gt;−&lt;/mo&gt;&lt;mfrac&gt;&lt;mn&gt;50&lt;/mn&gt;&lt;mn&gt;5&lt;/mn&gt;&lt;/mfrac&gt;&lt;/mtd&gt;&lt;/mtr&gt;&lt;mtr&gt;&lt;mtd&gt;&lt;mfrac&gt;&lt;mn&gt;81&lt;/mn&gt;&lt;mn&gt;100&lt;/mn&gt;&lt;/mfrac&gt;&lt;mo&gt;−&lt;/mo&gt;&lt;mn&gt;10&lt;/mn&gt;&lt;mo&gt;=&lt;/mo&gt;&lt;mo&gt;−&lt;/mo&gt;&lt;mn&gt;9&lt;/mn&gt;&lt;mfrac&gt;&lt;mn&gt;19&lt;/mn&gt;&lt;mn&gt;100&lt;/mn&gt;&lt;/mfrac&gt;&lt;/mtd&gt;&lt;/mtr&gt;&lt;/mtable&gt;&lt;/math&gt;" id="1442" name="Google Shape;1442;p103" title="6 lines Line 1: nine tenths squared minus 2.5 divided by 0.5 times 2 Line 2: 81 over 100 minus 2.5 over 0.5 times 2 Line 3: 81 over 100 minus 25 over 5 times 2 Line 4: 81 over 100 minus 5 times 2 Line 5: 81 over 100 minus 50 over 5 Line 6: 81 over 100 minus 10 equals negative 9 and 19 over 100"/>
          <p:cNvPicPr preferRelativeResize="0"/>
          <p:nvPr/>
        </p:nvPicPr>
        <p:blipFill rotWithShape="1">
          <a:blip r:embed="rId6">
            <a:alphaModFix/>
          </a:blip>
          <a:srcRect b="32640" l="0" r="45746" t="51611"/>
          <a:stretch/>
        </p:blipFill>
        <p:spPr>
          <a:xfrm>
            <a:off x="5666230" y="3265800"/>
            <a:ext cx="1453714" cy="497043"/>
          </a:xfrm>
          <a:prstGeom prst="rect">
            <a:avLst/>
          </a:prstGeom>
          <a:noFill/>
          <a:ln>
            <a:noFill/>
          </a:ln>
        </p:spPr>
      </p:pic>
      <p:pic>
        <p:nvPicPr>
          <p:cNvPr descr="&lt;math xmlns=&quot;http://www.w3.org/1998/Math/MathML&quot; display=&quot;block&quot; data-is-equatio=&quot;1&quot; data-latex=&quot;\begin{array}{l}\left(\frac{9}{10}\right)^2-2.5\div0.5\ \times2\\&amp;#13;&amp;#10;\frac{81}{100}-\frac{2.5}{0.5}\times2\\&amp;#13;&amp;#10;\frac{81}{100}-\frac{25}{5}\times2\\&amp;#13;&amp;#10;\frac{81}{100}-5\times2\\&amp;#13;&amp;#10;\frac{81}{100}-\frac{50}{5}\\&amp;#13;&amp;#10;\frac{81}{100}-10=-9\frac{19}{100}\end{array}&quot;&gt;&lt;mtable columnalign=&quot;left&quot; columnspacing=&quot;1em&quot; rowspacing=&quot;4pt&quot;&gt;&lt;mtr&gt;&lt;mtd&gt;&lt;msup&gt;&lt;mrow data-mjx-texclass=&quot;INNER&quot;&gt;&lt;mo data-mjx-texclass=&quot;OPEN&quot;&gt;(&lt;/mo&gt;&lt;mfrac&gt;&lt;mn&gt;9&lt;/mn&gt;&lt;mn&gt;10&lt;/mn&gt;&lt;/mfrac&gt;&lt;mo data-mjx-texclass=&quot;CLOSE&quot;&gt;)&lt;/mo&gt;&lt;/mrow&gt;&lt;mn&gt;2&lt;/mn&gt;&lt;/msup&gt;&lt;mo&gt;−&lt;/mo&gt;&lt;mn&gt;2.5&lt;/mn&gt;&lt;mo&gt;÷&lt;/mo&gt;&lt;mn&gt;0.5&lt;/mn&gt;&lt;mtext&gt;&lt;/mtext&gt;&lt;mo&gt;×&lt;/mo&gt;&lt;mn&gt;2&lt;/mn&gt;&lt;/mtd&gt;&lt;/mtr&gt;&lt;mtr&gt;&lt;mtd&gt;&lt;mfrac&gt;&lt;mn&gt;81&lt;/mn&gt;&lt;mn&gt;100&lt;/mn&gt;&lt;/mfrac&gt;&lt;mo&gt;−&lt;/mo&gt;&lt;mfrac&gt;&lt;mn&gt;2.5&lt;/mn&gt;&lt;mn&gt;0.5&lt;/mn&gt;&lt;/mfrac&gt;&lt;mo&gt;×&lt;/mo&gt;&lt;mn&gt;2&lt;/mn&gt;&lt;/mtd&gt;&lt;/mtr&gt;&lt;mtr&gt;&lt;mtd&gt;&lt;mfrac&gt;&lt;mn&gt;81&lt;/mn&gt;&lt;mn&gt;100&lt;/mn&gt;&lt;/mfrac&gt;&lt;mo&gt;−&lt;/mo&gt;&lt;mfrac&gt;&lt;mn&gt;25&lt;/mn&gt;&lt;mn&gt;5&lt;/mn&gt;&lt;/mfrac&gt;&lt;mo&gt;×&lt;/mo&gt;&lt;mn&gt;2&lt;/mn&gt;&lt;/mtd&gt;&lt;/mtr&gt;&lt;mtr&gt;&lt;mtd&gt;&lt;mfrac&gt;&lt;mn&gt;81&lt;/mn&gt;&lt;mn&gt;100&lt;/mn&gt;&lt;/mfrac&gt;&lt;mo&gt;−&lt;/mo&gt;&lt;mn&gt;5&lt;/mn&gt;&lt;mo&gt;×&lt;/mo&gt;&lt;mn&gt;2&lt;/mn&gt;&lt;/mtd&gt;&lt;/mtr&gt;&lt;mtr&gt;&lt;mtd&gt;&lt;mfrac&gt;&lt;mn&gt;81&lt;/mn&gt;&lt;mn&gt;100&lt;/mn&gt;&lt;/mfrac&gt;&lt;mo&gt;−&lt;/mo&gt;&lt;mfrac&gt;&lt;mn&gt;50&lt;/mn&gt;&lt;mn&gt;5&lt;/mn&gt;&lt;/mfrac&gt;&lt;/mtd&gt;&lt;/mtr&gt;&lt;mtr&gt;&lt;mtd&gt;&lt;mfrac&gt;&lt;mn&gt;81&lt;/mn&gt;&lt;mn&gt;100&lt;/mn&gt;&lt;/mfrac&gt;&lt;mo&gt;−&lt;/mo&gt;&lt;mn&gt;10&lt;/mn&gt;&lt;mo&gt;=&lt;/mo&gt;&lt;mo&gt;−&lt;/mo&gt;&lt;mn&gt;9&lt;/mn&gt;&lt;mfrac&gt;&lt;mn&gt;19&lt;/mn&gt;&lt;mn&gt;100&lt;/mn&gt;&lt;/mfrac&gt;&lt;/mtd&gt;&lt;/mtr&gt;&lt;/mtable&gt;&lt;/math&gt;" id="1443" name="Google Shape;1443;p103" title="6 lines Line 1: nine tenths squared minus 2.5 divided by 0.5 times 2 Line 2: 81 over 100 minus 2.5 over 0.5 times 2 Line 3: 81 over 100 minus 25 over 5 times 2 Line 4: 81 over 100 minus 5 times 2 Line 5: 81 over 100 minus 50 over 5 Line 6: 81 over 100 minus 10 equals negative 9 and 19 over 100"/>
          <p:cNvPicPr preferRelativeResize="0"/>
          <p:nvPr/>
        </p:nvPicPr>
        <p:blipFill rotWithShape="1">
          <a:blip r:embed="rId6">
            <a:alphaModFix/>
          </a:blip>
          <a:srcRect b="-618" l="0" r="17444" t="84871"/>
          <a:stretch/>
        </p:blipFill>
        <p:spPr>
          <a:xfrm>
            <a:off x="5660200" y="3822957"/>
            <a:ext cx="2212051" cy="497043"/>
          </a:xfrm>
          <a:prstGeom prst="rect">
            <a:avLst/>
          </a:prstGeom>
          <a:noFill/>
          <a:ln>
            <a:noFill/>
          </a:ln>
        </p:spPr>
      </p:pic>
      <p:sp>
        <p:nvSpPr>
          <p:cNvPr id="1444" name="Google Shape;1444;p10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Calculating efficiently</a:t>
            </a:r>
            <a:endParaRPr/>
          </a:p>
          <a:p>
            <a:pPr indent="0" lvl="0" marL="0" rtl="0" algn="l">
              <a:spcBef>
                <a:spcPts val="1000"/>
              </a:spcBef>
              <a:spcAft>
                <a:spcPts val="10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8" name="Shape 1448"/>
        <p:cNvGrpSpPr/>
        <p:nvPr/>
      </p:nvGrpSpPr>
      <p:grpSpPr>
        <a:xfrm>
          <a:off x="0" y="0"/>
          <a:ext cx="0" cy="0"/>
          <a:chOff x="0" y="0"/>
          <a:chExt cx="0" cy="0"/>
        </a:xfrm>
      </p:grpSpPr>
      <p:sp>
        <p:nvSpPr>
          <p:cNvPr id="1449" name="Google Shape;1449;p104"/>
          <p:cNvSpPr txBox="1"/>
          <p:nvPr>
            <p:ph type="title"/>
          </p:nvPr>
        </p:nvSpPr>
        <p:spPr>
          <a:xfrm>
            <a:off x="1684800" y="157525"/>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Priority of operations with positive and negative integers, decimals and fractions</a:t>
            </a:r>
            <a:endParaRPr/>
          </a:p>
        </p:txBody>
      </p:sp>
      <p:grpSp>
        <p:nvGrpSpPr>
          <p:cNvPr id="1450" name="Google Shape;1450;p104"/>
          <p:cNvGrpSpPr/>
          <p:nvPr/>
        </p:nvGrpSpPr>
        <p:grpSpPr>
          <a:xfrm>
            <a:off x="450772" y="1681903"/>
            <a:ext cx="3916346" cy="2889197"/>
            <a:chOff x="2529025" y="1931250"/>
            <a:chExt cx="3584100" cy="2617500"/>
          </a:xfrm>
        </p:grpSpPr>
        <p:sp>
          <p:nvSpPr>
            <p:cNvPr id="1451" name="Google Shape;1451;p104"/>
            <p:cNvSpPr/>
            <p:nvPr/>
          </p:nvSpPr>
          <p:spPr>
            <a:xfrm>
              <a:off x="2529025" y="1931250"/>
              <a:ext cx="3584100" cy="2617500"/>
            </a:xfrm>
            <a:prstGeom prst="triangle">
              <a:avLst>
                <a:gd fmla="val 50000" name="adj"/>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52" name="Google Shape;1452;p104"/>
            <p:cNvCxnSpPr/>
            <p:nvPr/>
          </p:nvCxnSpPr>
          <p:spPr>
            <a:xfrm>
              <a:off x="3766742" y="2706800"/>
              <a:ext cx="1095900" cy="0"/>
            </a:xfrm>
            <a:prstGeom prst="straightConnector1">
              <a:avLst/>
            </a:prstGeom>
            <a:noFill/>
            <a:ln cap="flat" cmpd="sng" w="38100">
              <a:solidFill>
                <a:schemeClr val="accent1"/>
              </a:solidFill>
              <a:prstDash val="solid"/>
              <a:round/>
              <a:headEnd len="med" w="med" type="none"/>
              <a:tailEnd len="med" w="med" type="none"/>
            </a:ln>
          </p:spPr>
        </p:cxnSp>
        <p:cxnSp>
          <p:nvCxnSpPr>
            <p:cNvPr id="1453" name="Google Shape;1453;p104"/>
            <p:cNvCxnSpPr/>
            <p:nvPr/>
          </p:nvCxnSpPr>
          <p:spPr>
            <a:xfrm>
              <a:off x="3369600" y="3320300"/>
              <a:ext cx="1899300" cy="0"/>
            </a:xfrm>
            <a:prstGeom prst="straightConnector1">
              <a:avLst/>
            </a:prstGeom>
            <a:noFill/>
            <a:ln cap="flat" cmpd="sng" w="38100">
              <a:solidFill>
                <a:schemeClr val="accent1"/>
              </a:solidFill>
              <a:prstDash val="solid"/>
              <a:round/>
              <a:headEnd len="med" w="med" type="none"/>
              <a:tailEnd len="med" w="med" type="none"/>
            </a:ln>
          </p:spPr>
        </p:cxnSp>
        <p:cxnSp>
          <p:nvCxnSpPr>
            <p:cNvPr id="1454" name="Google Shape;1454;p104"/>
            <p:cNvCxnSpPr/>
            <p:nvPr/>
          </p:nvCxnSpPr>
          <p:spPr>
            <a:xfrm flipH="1" rot="10800000">
              <a:off x="2996850" y="3910986"/>
              <a:ext cx="2653800" cy="3900"/>
            </a:xfrm>
            <a:prstGeom prst="straightConnector1">
              <a:avLst/>
            </a:prstGeom>
            <a:noFill/>
            <a:ln cap="flat" cmpd="sng" w="38100">
              <a:solidFill>
                <a:schemeClr val="accent1"/>
              </a:solidFill>
              <a:prstDash val="solid"/>
              <a:round/>
              <a:headEnd len="med" w="med" type="none"/>
              <a:tailEnd len="med" w="med" type="none"/>
            </a:ln>
          </p:spPr>
        </p:cxnSp>
      </p:grpSp>
      <p:sp>
        <p:nvSpPr>
          <p:cNvPr id="1455" name="Google Shape;1455;p104"/>
          <p:cNvSpPr txBox="1"/>
          <p:nvPr/>
        </p:nvSpPr>
        <p:spPr>
          <a:xfrm>
            <a:off x="2042127" y="2075225"/>
            <a:ext cx="12471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Lexend"/>
                <a:ea typeface="Lexend"/>
                <a:cs typeface="Lexend"/>
                <a:sym typeface="Lexend"/>
              </a:rPr>
              <a:t>( …. )</a:t>
            </a:r>
            <a:endParaRPr sz="2000">
              <a:latin typeface="Lexend"/>
              <a:ea typeface="Lexend"/>
              <a:cs typeface="Lexend"/>
              <a:sym typeface="Lexend"/>
            </a:endParaRPr>
          </a:p>
        </p:txBody>
      </p:sp>
      <p:grpSp>
        <p:nvGrpSpPr>
          <p:cNvPr id="1456" name="Google Shape;1456;p104"/>
          <p:cNvGrpSpPr/>
          <p:nvPr/>
        </p:nvGrpSpPr>
        <p:grpSpPr>
          <a:xfrm>
            <a:off x="2422803" y="2489500"/>
            <a:ext cx="817925" cy="656513"/>
            <a:chOff x="1546176" y="2521625"/>
            <a:chExt cx="817925" cy="656513"/>
          </a:xfrm>
        </p:grpSpPr>
        <p:sp>
          <p:nvSpPr>
            <p:cNvPr id="1457" name="Google Shape;1457;p104"/>
            <p:cNvSpPr txBox="1"/>
            <p:nvPr/>
          </p:nvSpPr>
          <p:spPr>
            <a:xfrm>
              <a:off x="1873601" y="2521625"/>
              <a:ext cx="4905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latin typeface="Lexend"/>
                  <a:ea typeface="Lexend"/>
                  <a:cs typeface="Lexend"/>
                  <a:sym typeface="Lexend"/>
                </a:rPr>
                <a:t>⬚</a:t>
              </a:r>
              <a:endParaRPr b="1" sz="2000">
                <a:latin typeface="Lexend"/>
                <a:ea typeface="Lexend"/>
                <a:cs typeface="Lexend"/>
                <a:sym typeface="Lexend"/>
              </a:endParaRPr>
            </a:p>
          </p:txBody>
        </p:sp>
        <p:sp>
          <p:nvSpPr>
            <p:cNvPr id="1458" name="Google Shape;1458;p104"/>
            <p:cNvSpPr txBox="1"/>
            <p:nvPr/>
          </p:nvSpPr>
          <p:spPr>
            <a:xfrm>
              <a:off x="1546176" y="2641138"/>
              <a:ext cx="4905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3100">
                  <a:latin typeface="Lexend"/>
                  <a:ea typeface="Lexend"/>
                  <a:cs typeface="Lexend"/>
                  <a:sym typeface="Lexend"/>
                </a:rPr>
                <a:t>⬚</a:t>
              </a:r>
              <a:endParaRPr b="1" sz="3100">
                <a:latin typeface="Lexend"/>
                <a:ea typeface="Lexend"/>
                <a:cs typeface="Lexend"/>
                <a:sym typeface="Lexend"/>
              </a:endParaRPr>
            </a:p>
          </p:txBody>
        </p:sp>
      </p:grpSp>
      <p:grpSp>
        <p:nvGrpSpPr>
          <p:cNvPr id="1459" name="Google Shape;1459;p104"/>
          <p:cNvGrpSpPr/>
          <p:nvPr/>
        </p:nvGrpSpPr>
        <p:grpSpPr>
          <a:xfrm>
            <a:off x="1656473" y="2527560"/>
            <a:ext cx="627511" cy="537000"/>
            <a:chOff x="3734648" y="2776985"/>
            <a:chExt cx="627511" cy="537000"/>
          </a:xfrm>
        </p:grpSpPr>
        <p:pic>
          <p:nvPicPr>
            <p:cNvPr descr="&lt;math xmlns=&quot;http://www.w3.org/1998/Math/MathML&quot; display=&quot;block&quot; data-is-equatio=&quot;1&quot; data-latex=&quot;\begin{array}{l}\sqrt[\ \ ]{\ \ \ }\\&amp;#13;&amp;#10;\end{array}&quot;&gt;&lt;mtable columnalign=&quot;left&quot; columnspacing=&quot;1em&quot; rowspacing=&quot;4pt&quot;&gt;&lt;mtr&gt;&lt;mtd&gt;&lt;mroot&gt;&lt;mrow&gt;&lt;mtext&gt;&lt;/mtext&gt;&lt;mtext&gt;&lt;/mtext&gt;&lt;mtext&gt;&lt;/mtext&gt;&lt;/mrow&gt;&lt;mrow&gt;&lt;mtext&gt;&lt;/mtext&gt;&lt;mtext&gt;&lt;/mtext&gt;&lt;/mrow&gt;&lt;/mroot&gt;&lt;/mtd&gt;&lt;/mtr&gt;&lt;/mtable&gt;&lt;/math&gt;" id="1460" name="Google Shape;1460;p104" title="1 lines Line 1: the root of"/>
            <p:cNvPicPr preferRelativeResize="0"/>
            <p:nvPr/>
          </p:nvPicPr>
          <p:blipFill>
            <a:blip r:embed="rId3">
              <a:alphaModFix/>
            </a:blip>
            <a:stretch>
              <a:fillRect/>
            </a:stretch>
          </p:blipFill>
          <p:spPr>
            <a:xfrm>
              <a:off x="3871597" y="2929810"/>
              <a:ext cx="490562" cy="384175"/>
            </a:xfrm>
            <a:prstGeom prst="rect">
              <a:avLst/>
            </a:prstGeom>
            <a:noFill/>
            <a:ln>
              <a:noFill/>
            </a:ln>
          </p:spPr>
        </p:pic>
        <p:sp>
          <p:nvSpPr>
            <p:cNvPr id="1461" name="Google Shape;1461;p104"/>
            <p:cNvSpPr txBox="1"/>
            <p:nvPr/>
          </p:nvSpPr>
          <p:spPr>
            <a:xfrm>
              <a:off x="3734648" y="2776985"/>
              <a:ext cx="4905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latin typeface="Lexend"/>
                  <a:ea typeface="Lexend"/>
                  <a:cs typeface="Lexend"/>
                  <a:sym typeface="Lexend"/>
                </a:rPr>
                <a:t>⬚</a:t>
              </a:r>
              <a:endParaRPr sz="1700">
                <a:latin typeface="Lexend"/>
                <a:ea typeface="Lexend"/>
                <a:cs typeface="Lexend"/>
                <a:sym typeface="Lexend"/>
              </a:endParaRPr>
            </a:p>
          </p:txBody>
        </p:sp>
      </p:grpSp>
      <p:sp>
        <p:nvSpPr>
          <p:cNvPr id="1462" name="Google Shape;1462;p104"/>
          <p:cNvSpPr txBox="1"/>
          <p:nvPr/>
        </p:nvSpPr>
        <p:spPr>
          <a:xfrm>
            <a:off x="1613325" y="3064550"/>
            <a:ext cx="2082900" cy="65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4700">
                <a:latin typeface="Lexend"/>
                <a:ea typeface="Lexend"/>
                <a:cs typeface="Lexend"/>
                <a:sym typeface="Lexend"/>
              </a:rPr>
              <a:t>×    ÷</a:t>
            </a:r>
            <a:endParaRPr sz="4700">
              <a:latin typeface="Lexend"/>
              <a:ea typeface="Lexend"/>
              <a:cs typeface="Lexend"/>
              <a:sym typeface="Lexend"/>
            </a:endParaRPr>
          </a:p>
        </p:txBody>
      </p:sp>
      <p:sp>
        <p:nvSpPr>
          <p:cNvPr id="1463" name="Google Shape;1463;p104"/>
          <p:cNvSpPr txBox="1"/>
          <p:nvPr/>
        </p:nvSpPr>
        <p:spPr>
          <a:xfrm>
            <a:off x="1559575" y="3720950"/>
            <a:ext cx="2082900" cy="65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4700">
                <a:latin typeface="Lexend"/>
                <a:ea typeface="Lexend"/>
                <a:cs typeface="Lexend"/>
                <a:sym typeface="Lexend"/>
              </a:rPr>
              <a:t>+    −</a:t>
            </a:r>
            <a:endParaRPr sz="4700">
              <a:latin typeface="Lexend"/>
              <a:ea typeface="Lexend"/>
              <a:cs typeface="Lexend"/>
              <a:sym typeface="Lexend"/>
            </a:endParaRPr>
          </a:p>
        </p:txBody>
      </p:sp>
      <p:sp>
        <p:nvSpPr>
          <p:cNvPr id="1464" name="Google Shape;1464;p104"/>
          <p:cNvSpPr txBox="1"/>
          <p:nvPr/>
        </p:nvSpPr>
        <p:spPr>
          <a:xfrm>
            <a:off x="324000" y="995225"/>
            <a:ext cx="8605800" cy="65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900">
                <a:solidFill>
                  <a:srgbClr val="000000"/>
                </a:solidFill>
                <a:latin typeface="Lexend"/>
                <a:ea typeface="Lexend"/>
                <a:cs typeface="Lexend"/>
                <a:sym typeface="Lexend"/>
              </a:rPr>
              <a:t>The priority of operations is important as it ensures that everyone can understand and approach a mathematical problem the same way.</a:t>
            </a:r>
            <a:r>
              <a:rPr lang="en-GB" sz="2100">
                <a:solidFill>
                  <a:srgbClr val="000000"/>
                </a:solidFill>
                <a:latin typeface="Lexend"/>
                <a:ea typeface="Lexend"/>
                <a:cs typeface="Lexend"/>
                <a:sym typeface="Lexend"/>
              </a:rPr>
              <a:t> </a:t>
            </a:r>
            <a:endParaRPr sz="2100">
              <a:solidFill>
                <a:srgbClr val="000000"/>
              </a:solidFill>
              <a:latin typeface="Lexend"/>
              <a:ea typeface="Lexend"/>
              <a:cs typeface="Lexend"/>
              <a:sym typeface="Lexend"/>
            </a:endParaRPr>
          </a:p>
        </p:txBody>
      </p:sp>
      <p:sp>
        <p:nvSpPr>
          <p:cNvPr id="1465" name="Google Shape;1465;p104"/>
          <p:cNvSpPr txBox="1"/>
          <p:nvPr/>
        </p:nvSpPr>
        <p:spPr>
          <a:xfrm>
            <a:off x="3164275" y="1681900"/>
            <a:ext cx="5124900" cy="8136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1900">
                <a:solidFill>
                  <a:schemeClr val="dk1"/>
                </a:solidFill>
                <a:latin typeface="Lexend"/>
                <a:ea typeface="Lexend"/>
                <a:cs typeface="Lexend"/>
                <a:sym typeface="Lexend"/>
              </a:rPr>
              <a:t>This applies to positive and negative integers, fractions and decimals.</a:t>
            </a:r>
            <a:endParaRPr sz="1200"/>
          </a:p>
        </p:txBody>
      </p:sp>
      <p:sp>
        <p:nvSpPr>
          <p:cNvPr id="1466" name="Google Shape;1466;p104"/>
          <p:cNvSpPr txBox="1"/>
          <p:nvPr/>
        </p:nvSpPr>
        <p:spPr>
          <a:xfrm>
            <a:off x="3945600" y="2466875"/>
            <a:ext cx="5124900" cy="11499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1900">
                <a:solidFill>
                  <a:schemeClr val="dk1"/>
                </a:solidFill>
                <a:latin typeface="Lexend"/>
                <a:ea typeface="Lexend"/>
                <a:cs typeface="Lexend"/>
                <a:sym typeface="Lexend"/>
              </a:rPr>
              <a:t>Writing division as a fraction and using the addition of the additive inverses can make calculations easier.</a:t>
            </a:r>
            <a:endParaRPr sz="1200"/>
          </a:p>
        </p:txBody>
      </p:sp>
      <p:sp>
        <p:nvSpPr>
          <p:cNvPr id="1467" name="Google Shape;1467;p104"/>
          <p:cNvSpPr txBox="1"/>
          <p:nvPr/>
        </p:nvSpPr>
        <p:spPr>
          <a:xfrm>
            <a:off x="4512300" y="3552275"/>
            <a:ext cx="4558200" cy="11499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1900">
                <a:solidFill>
                  <a:schemeClr val="dk1"/>
                </a:solidFill>
                <a:latin typeface="Lexend"/>
                <a:ea typeface="Lexend"/>
                <a:cs typeface="Lexend"/>
                <a:sym typeface="Lexend"/>
              </a:rPr>
              <a:t>Calculations can be written in decimal form but can lose accuracy when </a:t>
            </a:r>
            <a:r>
              <a:rPr lang="en-GB" sz="1900">
                <a:solidFill>
                  <a:schemeClr val="dk1"/>
                </a:solidFill>
                <a:latin typeface="Lexend"/>
                <a:ea typeface="Lexend"/>
                <a:cs typeface="Lexend"/>
                <a:sym typeface="Lexend"/>
              </a:rPr>
              <a:t>using recurring decimals. </a:t>
            </a:r>
            <a:endParaRPr sz="12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1" name="Shape 1471"/>
        <p:cNvGrpSpPr/>
        <p:nvPr/>
      </p:nvGrpSpPr>
      <p:grpSpPr>
        <a:xfrm>
          <a:off x="0" y="0"/>
          <a:ext cx="0" cy="0"/>
          <a:chOff x="0" y="0"/>
          <a:chExt cx="0" cy="0"/>
        </a:xfrm>
      </p:grpSpPr>
      <p:sp>
        <p:nvSpPr>
          <p:cNvPr id="1472" name="Google Shape;1472;p105"/>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2023.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a:t>
            </a:r>
            <a:r>
              <a:rPr lang="en-GB"/>
              <a:t>Mathematics in Education and Industry</a:t>
            </a:r>
            <a:r>
              <a:rPr lang="en-GB"/>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473" name="Google Shape;1473;p105"/>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