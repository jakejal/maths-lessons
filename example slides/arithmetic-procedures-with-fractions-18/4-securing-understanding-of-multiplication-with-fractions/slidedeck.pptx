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5143500"/>
  <p:notesSz cx="6858000" cy="9144000"/>
  <p:embeddedFontLst>
    <p:embeddedFont>
      <p:font typeface="Lexend" panose="00000000000000000000"/>
      <p:regular r:id="rId42"/>
    </p:embeddedFont>
    <p:embeddedFont>
      <p:font typeface="Lexend Medium" panose="00000000000000000000"/>
      <p:regular r:id="rId43"/>
    </p:embeddedFont>
    <p:embeddedFont>
      <p:font typeface="Kalam" panose="02000000000000000000"/>
      <p:regular r:id="rId44"/>
    </p:embeddedFont>
    <p:embeddedFont>
      <p:font typeface="Lexend Light" panose="00000000000000000000"/>
      <p:regular r:id="rId45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3D27A61-589C-43CB-BF33-4BDAF8CF8F17}">
  <a:tblStyle styleId="{13D27A61-589C-43CB-BF33-4BDAF8CF8F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tags" Target="tags/tag1.xml" /><Relationship Id="rId42" Type="http://schemas.openxmlformats.org/officeDocument/2006/relationships/font" Target="fonts/font1.fntdata" /><Relationship Id="rId43" Type="http://schemas.openxmlformats.org/officeDocument/2006/relationships/font" Target="fonts/font2.fntdata" /><Relationship Id="rId44" Type="http://schemas.openxmlformats.org/officeDocument/2006/relationships/font" Target="fonts/font3.fntdata" /><Relationship Id="rId45" Type="http://schemas.openxmlformats.org/officeDocument/2006/relationships/font" Target="fonts/font4.fntdata" /><Relationship Id="rId46" Type="http://schemas.openxmlformats.org/officeDocument/2006/relationships/presProps" Target="presProps.xml" /><Relationship Id="rId47" Type="http://schemas.openxmlformats.org/officeDocument/2006/relationships/viewProps" Target="viewProps.xml" /><Relationship Id="rId48" Type="http://schemas.openxmlformats.org/officeDocument/2006/relationships/theme" Target="theme/theme1.xml" /><Relationship Id="rId49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bfe376d1b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bfe376d1b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9bfe376d1b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bfe376d1b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g29bfe376d1b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bfe376d1b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3" name="Shape 803"/>
        <p:cNvGrpSpPr/>
        <p:nvPr/>
      </p:nvGrpSpPr>
      <p:grpSpPr>
        <a:xfrm>
          <a:off x="0" y="0"/>
          <a:ext cx="0" cy="0"/>
        </a:xfrm>
      </p:grpSpPr>
      <p:sp>
        <p:nvSpPr>
          <p:cNvPr id="804" name="Google Shape;804;g29bfe376d1b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9bfe376d1b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5" name="Shape 815"/>
        <p:cNvGrpSpPr/>
        <p:nvPr/>
      </p:nvGrpSpPr>
      <p:grpSpPr>
        <a:xfrm>
          <a:off x="0" y="0"/>
          <a:ext cx="0" cy="0"/>
        </a:xfrm>
      </p:grpSpPr>
      <p:sp>
        <p:nvSpPr>
          <p:cNvPr id="816" name="Google Shape;816;g29bfe376d1b_0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9bfe376d1b_0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g29bfe376d1b_0_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9bfe376d1b_0_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3" name="Shape 883"/>
        <p:cNvGrpSpPr/>
        <p:nvPr/>
      </p:nvGrpSpPr>
      <p:grpSpPr>
        <a:xfrm>
          <a:off x="0" y="0"/>
          <a:ext cx="0" cy="0"/>
        </a:xfrm>
      </p:grpSpPr>
      <p:sp>
        <p:nvSpPr>
          <p:cNvPr id="884" name="Google Shape;884;g29bfe376d1b_0_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bfe376d1b_0_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5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g29bfe376d1b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bfe376d1b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3" name="Shape 923"/>
        <p:cNvGrpSpPr/>
        <p:nvPr/>
      </p:nvGrpSpPr>
      <p:grpSpPr>
        <a:xfrm>
          <a:off x="0" y="0"/>
          <a:ext cx="0" cy="0"/>
        </a:xfrm>
      </p:grpSpPr>
      <p:sp>
        <p:nvSpPr>
          <p:cNvPr id="924" name="Google Shape;924;g29bfe376d1b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bfe376d1b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sp>
        <p:nvSpPr>
          <p:cNvPr id="950" name="Google Shape;950;g29bfe376d1b_0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9bfe376d1b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g29dca146a1b_1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9dca146a1b_1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g29dca146a1b_1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9dca146a1b_1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g29dca146a1b_1_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9dca146a1b_1_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4" name="Shape 1024"/>
        <p:cNvGrpSpPr/>
        <p:nvPr/>
      </p:nvGrpSpPr>
      <p:grpSpPr>
        <a:xfrm>
          <a:off x="0" y="0"/>
          <a:ext cx="0" cy="0"/>
        </a:xfrm>
      </p:grpSpPr>
      <p:sp>
        <p:nvSpPr>
          <p:cNvPr id="1025" name="Google Shape;1025;g29dca146a1b_1_1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9dca146a1b_1_1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0" name="Shape 1040"/>
        <p:cNvGrpSpPr/>
        <p:nvPr/>
      </p:nvGrpSpPr>
      <p:grpSpPr>
        <a:xfrm>
          <a:off x="0" y="0"/>
          <a:ext cx="0" cy="0"/>
        </a:xfrm>
      </p:grpSpPr>
      <p:sp>
        <p:nvSpPr>
          <p:cNvPr id="1041" name="Google Shape;1041;g29dca146a1b_1_1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9dca146a1b_1_1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1" name="Shape 1061"/>
        <p:cNvGrpSpPr/>
        <p:nvPr/>
      </p:nvGrpSpPr>
      <p:grpSpPr>
        <a:xfrm>
          <a:off x="0" y="0"/>
          <a:ext cx="0" cy="0"/>
        </a:xfrm>
      </p:grpSpPr>
      <p:sp>
        <p:nvSpPr>
          <p:cNvPr id="1062" name="Google Shape;1062;g1eb96e7d9a8_0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eb96e7d9a8_0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7" name="Shape 1077"/>
        <p:cNvGrpSpPr/>
        <p:nvPr/>
      </p:nvGrpSpPr>
      <p:grpSpPr>
        <a:xfrm>
          <a:off x="0" y="0"/>
          <a:ext cx="0" cy="0"/>
        </a:xfrm>
      </p:grpSpPr>
      <p:sp>
        <p:nvSpPr>
          <p:cNvPr id="1078" name="Google Shape;1078;g1eb96e7d9a8_0_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1eb96e7d9a8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6" name="Shape 1086"/>
        <p:cNvGrpSpPr/>
        <p:nvPr/>
      </p:nvGrpSpPr>
      <p:grpSpPr>
        <a:xfrm>
          <a:off x="0" y="0"/>
          <a:ext cx="0" cy="0"/>
        </a:xfrm>
      </p:grpSpPr>
      <p:sp>
        <p:nvSpPr>
          <p:cNvPr id="1087" name="Google Shape;1087;g29dca146a1b_1_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dca146a1b_1_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2" name="Shape 1102"/>
        <p:cNvGrpSpPr/>
        <p:nvPr/>
      </p:nvGrpSpPr>
      <p:grpSpPr>
        <a:xfrm>
          <a:off x="0" y="0"/>
          <a:ext cx="0" cy="0"/>
        </a:xfrm>
      </p:grpSpPr>
      <p:sp>
        <p:nvSpPr>
          <p:cNvPr id="1103" name="Google Shape;1103;g1eb96e7d9a8_0_1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1eb96e7d9a8_0_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7" name="Shape 1127"/>
        <p:cNvGrpSpPr/>
        <p:nvPr/>
      </p:nvGrpSpPr>
      <p:grpSpPr>
        <a:xfrm>
          <a:off x="0" y="0"/>
          <a:ext cx="0" cy="0"/>
        </a:xfrm>
      </p:grpSpPr>
      <p:sp>
        <p:nvSpPr>
          <p:cNvPr id="1128" name="Google Shape;1128;g29bfe376d1b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9bfe376d1b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5" name="Shape 1135"/>
        <p:cNvGrpSpPr/>
        <p:nvPr/>
      </p:nvGrpSpPr>
      <p:grpSpPr>
        <a:xfrm>
          <a:off x="0" y="0"/>
          <a:ext cx="0" cy="0"/>
        </a:xfrm>
      </p:grpSpPr>
      <p:sp>
        <p:nvSpPr>
          <p:cNvPr id="1136" name="Google Shape;1136;g29bfe376d1b_0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9bfe376d1b_0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4" name="Shape 1154"/>
        <p:cNvGrpSpPr/>
        <p:nvPr/>
      </p:nvGrpSpPr>
      <p:grpSpPr>
        <a:xfrm>
          <a:off x="0" y="0"/>
          <a:ext cx="0" cy="0"/>
        </a:xfrm>
      </p:grpSpPr>
      <p:sp>
        <p:nvSpPr>
          <p:cNvPr id="1155" name="Google Shape;1155;g29bfe376d1b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9bfe376d1b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5" name="Shape 1165"/>
        <p:cNvGrpSpPr/>
        <p:nvPr/>
      </p:nvGrpSpPr>
      <p:grpSpPr>
        <a:xfrm>
          <a:off x="0" y="0"/>
          <a:ext cx="0" cy="0"/>
        </a:xfrm>
      </p:grpSpPr>
      <p:sp>
        <p:nvSpPr>
          <p:cNvPr id="1166" name="Google Shape;1166;g29e088921d9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e088921d9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3" name="Shape 1183"/>
        <p:cNvGrpSpPr/>
        <p:nvPr/>
      </p:nvGrpSpPr>
      <p:grpSpPr>
        <a:xfrm>
          <a:off x="0" y="0"/>
          <a:ext cx="0" cy="0"/>
        </a:xfrm>
      </p:grpSpPr>
      <p:sp>
        <p:nvSpPr>
          <p:cNvPr id="1184" name="Google Shape;1184;g29bfe376d1b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9bfe376d1b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8" name="Shape 1198"/>
        <p:cNvGrpSpPr/>
        <p:nvPr/>
      </p:nvGrpSpPr>
      <p:grpSpPr>
        <a:xfrm>
          <a:off x="0" y="0"/>
          <a:ext cx="0" cy="0"/>
        </a:xfrm>
      </p:grpSpPr>
      <p:sp>
        <p:nvSpPr>
          <p:cNvPr id="1199" name="Google Shape;1199;g29bfe376d1b_0_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9bfe376d1b_0_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6" name="Shape 1216"/>
        <p:cNvGrpSpPr/>
        <p:nvPr/>
      </p:nvGrpSpPr>
      <p:grpSpPr>
        <a:xfrm>
          <a:off x="0" y="0"/>
          <a:ext cx="0" cy="0"/>
        </a:xfrm>
      </p:grpSpPr>
      <p:sp>
        <p:nvSpPr>
          <p:cNvPr id="1217" name="Google Shape;1217;g29bfe376d1b_0_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9bfe376d1b_0_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g29bfe376d1b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bfe376d1b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0" name="Shape 1250"/>
        <p:cNvGrpSpPr/>
        <p:nvPr/>
      </p:nvGrpSpPr>
      <p:grpSpPr>
        <a:xfrm>
          <a:off x="0" y="0"/>
          <a:ext cx="0" cy="0"/>
        </a:xfrm>
      </p:grpSpPr>
      <p:sp>
        <p:nvSpPr>
          <p:cNvPr id="1251" name="Google Shape;1251;g29bfe376d1b_0_1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9bfe376d1b_0_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sp>
        <p:nvSpPr>
          <p:cNvPr id="1264" name="Google Shape;1264;g29bfe376d1b_0_1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9bfe376d1b_0_1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sp>
        <p:nvSpPr>
          <p:cNvPr id="1283" name="Google Shape;1283;g29bfe376d1b_0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bfe376d1b_0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sp>
        <p:nvSpPr>
          <p:cNvPr id="1302" name="Google Shape;1302;g1eb96e7d9a8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1eb96e7d9a8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1" name="Shape 1321"/>
        <p:cNvGrpSpPr/>
        <p:nvPr/>
      </p:nvGrpSpPr>
      <p:grpSpPr>
        <a:xfrm>
          <a:off x="0" y="0"/>
          <a:ext cx="0" cy="0"/>
        </a:xfrm>
      </p:grpSpPr>
      <p:sp>
        <p:nvSpPr>
          <p:cNvPr id="1322" name="Google Shape;1322;g1eb96e7d9a8_0_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1eb96e7d9a8_0_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9" name="Shape 1329"/>
        <p:cNvGrpSpPr/>
        <p:nvPr/>
      </p:nvGrpSpPr>
      <p:grpSpPr>
        <a:xfrm>
          <a:off x="0" y="0"/>
          <a:ext cx="0" cy="0"/>
        </a:xfrm>
      </p:grpSpPr>
      <p:sp>
        <p:nvSpPr>
          <p:cNvPr id="1330" name="Google Shape;1330;g1eb9976b0d7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1eb9976b0d7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6" name="Shape 1336"/>
        <p:cNvGrpSpPr/>
        <p:nvPr/>
      </p:nvGrpSpPr>
      <p:grpSpPr>
        <a:xfrm>
          <a:off x="0" y="0"/>
          <a:ext cx="0" cy="0"/>
        </a:xfrm>
      </p:grpSpPr>
      <p:sp>
        <p:nvSpPr>
          <p:cNvPr id="1337" name="Google Shape;133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9" name="Shape 1349"/>
        <p:cNvGrpSpPr/>
        <p:nvPr/>
      </p:nvGrpSpPr>
      <p:grpSpPr>
        <a:xfrm>
          <a:off x="0" y="0"/>
          <a:ext cx="0" cy="0"/>
        </a:xfrm>
      </p:grpSpPr>
      <p:sp>
        <p:nvSpPr>
          <p:cNvPr id="1350" name="Google Shape;1350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Relationship Id="rId4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10" Type="http://schemas.openxmlformats.org/officeDocument/2006/relationships/image" Target="../media/image55.png" /><Relationship Id="rId11" Type="http://schemas.openxmlformats.org/officeDocument/2006/relationships/image" Target="../media/image56.png" /><Relationship Id="rId12" Type="http://schemas.openxmlformats.org/officeDocument/2006/relationships/image" Target="../media/image57.png" /><Relationship Id="rId13" Type="http://schemas.openxmlformats.org/officeDocument/2006/relationships/image" Target="../media/image58.png" /><Relationship Id="rId14" Type="http://schemas.openxmlformats.org/officeDocument/2006/relationships/image" Target="../media/image59.png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50.png" /><Relationship Id="rId6" Type="http://schemas.openxmlformats.org/officeDocument/2006/relationships/image" Target="../media/image51.png" /><Relationship Id="rId7" Type="http://schemas.openxmlformats.org/officeDocument/2006/relationships/image" Target="../media/image52.png" /><Relationship Id="rId8" Type="http://schemas.openxmlformats.org/officeDocument/2006/relationships/image" Target="../media/image53.png" /><Relationship Id="rId9" Type="http://schemas.openxmlformats.org/officeDocument/2006/relationships/image" Target="../media/image5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5.png" /><Relationship Id="rId4" Type="http://schemas.openxmlformats.org/officeDocument/2006/relationships/image" Target="../media/image6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61.png" /><Relationship Id="rId4" Type="http://schemas.openxmlformats.org/officeDocument/2006/relationships/image" Target="../media/image62.png" /><Relationship Id="rId5" Type="http://schemas.openxmlformats.org/officeDocument/2006/relationships/image" Target="../media/image63.png" /><Relationship Id="rId6" Type="http://schemas.openxmlformats.org/officeDocument/2006/relationships/image" Target="../media/image64.png" /><Relationship Id="rId7" Type="http://schemas.openxmlformats.org/officeDocument/2006/relationships/image" Target="../media/image65.png" /><Relationship Id="rId8" Type="http://schemas.openxmlformats.org/officeDocument/2006/relationships/image" Target="../media/image66.png" /><Relationship Id="rId9" Type="http://schemas.openxmlformats.org/officeDocument/2006/relationships/image" Target="../media/image6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68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7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72.png" /><Relationship Id="rId4" Type="http://schemas.openxmlformats.org/officeDocument/2006/relationships/image" Target="../media/image73.png" /><Relationship Id="rId5" Type="http://schemas.openxmlformats.org/officeDocument/2006/relationships/image" Target="../media/image74.png" /><Relationship Id="rId6" Type="http://schemas.openxmlformats.org/officeDocument/2006/relationships/image" Target="../media/image7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76.png" /><Relationship Id="rId6" Type="http://schemas.openxmlformats.org/officeDocument/2006/relationships/image" Target="../media/image46.png" /><Relationship Id="rId7" Type="http://schemas.openxmlformats.org/officeDocument/2006/relationships/image" Target="../media/image77.png" /><Relationship Id="rId8" Type="http://schemas.openxmlformats.org/officeDocument/2006/relationships/image" Target="../media/image7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79.png" /><Relationship Id="rId4" Type="http://schemas.openxmlformats.org/officeDocument/2006/relationships/image" Target="../media/image80.png" /><Relationship Id="rId5" Type="http://schemas.openxmlformats.org/officeDocument/2006/relationships/image" Target="../media/image81.png" /><Relationship Id="rId6" Type="http://schemas.openxmlformats.org/officeDocument/2006/relationships/image" Target="../media/image82.png" /><Relationship Id="rId7" Type="http://schemas.openxmlformats.org/officeDocument/2006/relationships/image" Target="../media/image83.png" /><Relationship Id="rId8" Type="http://schemas.openxmlformats.org/officeDocument/2006/relationships/image" Target="../media/image8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85.png" /><Relationship Id="rId4" Type="http://schemas.openxmlformats.org/officeDocument/2006/relationships/image" Target="../media/image86.png" /><Relationship Id="rId5" Type="http://schemas.openxmlformats.org/officeDocument/2006/relationships/image" Target="../media/image87.png" /><Relationship Id="rId6" Type="http://schemas.openxmlformats.org/officeDocument/2006/relationships/image" Target="../media/image88.png" /><Relationship Id="rId7" Type="http://schemas.openxmlformats.org/officeDocument/2006/relationships/image" Target="../media/image89.png" /><Relationship Id="rId8" Type="http://schemas.openxmlformats.org/officeDocument/2006/relationships/image" Target="../media/image90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91.png" /><Relationship Id="rId4" Type="http://schemas.openxmlformats.org/officeDocument/2006/relationships/image" Target="../media/image92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93.png" /><Relationship Id="rId4" Type="http://schemas.openxmlformats.org/officeDocument/2006/relationships/image" Target="../media/image9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95.png" /><Relationship Id="rId4" Type="http://schemas.openxmlformats.org/officeDocument/2006/relationships/image" Target="../media/image96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97.png" /><Relationship Id="rId4" Type="http://schemas.openxmlformats.org/officeDocument/2006/relationships/image" Target="../media/image98.png" /><Relationship Id="rId5" Type="http://schemas.openxmlformats.org/officeDocument/2006/relationships/image" Target="../media/image99.png" /><Relationship Id="rId6" Type="http://schemas.openxmlformats.org/officeDocument/2006/relationships/image" Target="../media/image100.png" /><Relationship Id="rId7" Type="http://schemas.openxmlformats.org/officeDocument/2006/relationships/image" Target="../media/image101.png" /><Relationship Id="rId8" Type="http://schemas.openxmlformats.org/officeDocument/2006/relationships/image" Target="../media/image102.png" /><Relationship Id="rId9" Type="http://schemas.openxmlformats.org/officeDocument/2006/relationships/image" Target="../media/image10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104.png" /><Relationship Id="rId4" Type="http://schemas.openxmlformats.org/officeDocument/2006/relationships/image" Target="../media/image105.png" /><Relationship Id="rId5" Type="http://schemas.openxmlformats.org/officeDocument/2006/relationships/image" Target="../media/image10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97.png" /><Relationship Id="rId4" Type="http://schemas.openxmlformats.org/officeDocument/2006/relationships/image" Target="../media/image98.png" /><Relationship Id="rId5" Type="http://schemas.openxmlformats.org/officeDocument/2006/relationships/image" Target="../media/image99.png" /><Relationship Id="rId6" Type="http://schemas.openxmlformats.org/officeDocument/2006/relationships/image" Target="../media/image100.png" /><Relationship Id="rId7" Type="http://schemas.openxmlformats.org/officeDocument/2006/relationships/image" Target="../media/image101.png" /><Relationship Id="rId8" Type="http://schemas.openxmlformats.org/officeDocument/2006/relationships/image" Target="../media/image102.png" /><Relationship Id="rId9" Type="http://schemas.openxmlformats.org/officeDocument/2006/relationships/image" Target="../media/image103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104.png" /><Relationship Id="rId4" Type="http://schemas.openxmlformats.org/officeDocument/2006/relationships/image" Target="../media/image105.png" /><Relationship Id="rId5" Type="http://schemas.openxmlformats.org/officeDocument/2006/relationships/image" Target="../media/image106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2.png" /><Relationship Id="rId4" Type="http://schemas.openxmlformats.org/officeDocument/2006/relationships/image" Target="../media/image73.png" /><Relationship Id="rId5" Type="http://schemas.openxmlformats.org/officeDocument/2006/relationships/image" Target="../media/image107.png" /><Relationship Id="rId6" Type="http://schemas.openxmlformats.org/officeDocument/2006/relationships/image" Target="../media/image108.png" /><Relationship Id="rId7" Type="http://schemas.openxmlformats.org/officeDocument/2006/relationships/image" Target="../media/image109.png" /><Relationship Id="rId8" Type="http://schemas.openxmlformats.org/officeDocument/2006/relationships/image" Target="../media/image11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111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112.png" /><Relationship Id="rId4" Type="http://schemas.openxmlformats.org/officeDocument/2006/relationships/image" Target="../media/image113.png" /><Relationship Id="rId5" Type="http://schemas.openxmlformats.org/officeDocument/2006/relationships/image" Target="../media/image44.png" /><Relationship Id="rId6" Type="http://schemas.openxmlformats.org/officeDocument/2006/relationships/image" Target="../media/image45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114.png" /><Relationship Id="rId4" Type="http://schemas.openxmlformats.org/officeDocument/2006/relationships/image" Target="../media/image115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116.png" /><Relationship Id="rId4" Type="http://schemas.openxmlformats.org/officeDocument/2006/relationships/image" Target="../media/image44.png" /><Relationship Id="rId5" Type="http://schemas.openxmlformats.org/officeDocument/2006/relationships/image" Target="../media/image45.png" /><Relationship Id="rId6" Type="http://schemas.openxmlformats.org/officeDocument/2006/relationships/image" Target="../media/image117.png" /><Relationship Id="rId7" Type="http://schemas.openxmlformats.org/officeDocument/2006/relationships/image" Target="../media/image11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119.png" /><Relationship Id="rId4" Type="http://schemas.openxmlformats.org/officeDocument/2006/relationships/image" Target="../media/image120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121.png" /><Relationship Id="rId4" Type="http://schemas.openxmlformats.org/officeDocument/2006/relationships/image" Target="../media/image44.png" /><Relationship Id="rId5" Type="http://schemas.openxmlformats.org/officeDocument/2006/relationships/image" Target="../media/image45.png" /><Relationship Id="rId6" Type="http://schemas.openxmlformats.org/officeDocument/2006/relationships/image" Target="../media/image46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122.png" /><Relationship Id="rId4" Type="http://schemas.openxmlformats.org/officeDocument/2006/relationships/image" Target="../media/image123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124.png" /><Relationship Id="rId4" Type="http://schemas.openxmlformats.org/officeDocument/2006/relationships/image" Target="../media/image125.png" /><Relationship Id="rId5" Type="http://schemas.openxmlformats.org/officeDocument/2006/relationships/image" Target="../media/image44.png" /><Relationship Id="rId6" Type="http://schemas.openxmlformats.org/officeDocument/2006/relationships/image" Target="../media/image45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124.png" /><Relationship Id="rId4" Type="http://schemas.openxmlformats.org/officeDocument/2006/relationships/image" Target="../media/image125.png" /><Relationship Id="rId5" Type="http://schemas.openxmlformats.org/officeDocument/2006/relationships/image" Target="../media/image126.png" /><Relationship Id="rId6" Type="http://schemas.openxmlformats.org/officeDocument/2006/relationships/image" Target="../media/image127.png" /><Relationship Id="rId7" Type="http://schemas.openxmlformats.org/officeDocument/2006/relationships/image" Target="../media/image128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129.png" /><Relationship Id="rId4" Type="http://schemas.openxmlformats.org/officeDocument/2006/relationships/image" Target="../media/image130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131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131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110.png" /><Relationship Id="rId4" Type="http://schemas.openxmlformats.org/officeDocument/2006/relationships/image" Target="../media/image132.png" /><Relationship Id="rId5" Type="http://schemas.openxmlformats.org/officeDocument/2006/relationships/image" Target="../media/image133.png" /><Relationship Id="rId6" Type="http://schemas.openxmlformats.org/officeDocument/2006/relationships/image" Target="../media/image134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8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13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multiply unit, non-unit and improper fractions.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2"/>
          </p:nvPr>
        </p:nvSpPr>
        <p:spPr>
          <a:xfrm>
            <a:off x="324001" y="2238738"/>
            <a:ext cx="83283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An operation is commutative if the values it is operating on can be written in either order without changing the calculation.  </a:t>
            </a:r>
            <a:endParaRPr b="0"/>
          </a:p>
        </p:txBody>
      </p:sp>
      <p:sp>
        <p:nvSpPr>
          <p:cNvPr id="767" name="Google Shape;767;p67"/>
          <p:cNvSpPr txBox="1"/>
          <p:nvPr>
            <p:ph type="subTitle" idx="1"/>
          </p:nvPr>
        </p:nvSpPr>
        <p:spPr>
          <a:xfrm>
            <a:off x="324001" y="993650"/>
            <a:ext cx="83283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A product is the result of two or more numbers multiplied together. </a:t>
            </a:r>
            <a:endParaRPr b="0"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4000" y="3635924"/>
            <a:ext cx="8328300" cy="8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Prime factors are the factors of a number that are, themselves, prime.   </a:t>
            </a:r>
            <a:endParaRPr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 </a:t>
            </a:r>
            <a:endParaRPr/>
          </a:p>
        </p:txBody>
      </p:sp>
      <p:sp>
        <p:nvSpPr>
          <p:cNvPr id="775" name="Google Shape;775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324000" y="683100"/>
            <a:ext cx="8496000" cy="6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has a piece of material, which is 6 metres long and 1 metre wide. </a:t>
            </a:r>
            <a:endParaRPr sz="1800"/>
          </a:p>
        </p:txBody>
      </p:sp>
      <p:sp>
        <p:nvSpPr>
          <p:cNvPr id="783" name="Google Shape;783;p69"/>
          <p:cNvSpPr txBox="1"/>
          <p:nvPr/>
        </p:nvSpPr>
        <p:spPr>
          <a:xfrm>
            <a:off x="494875" y="3112800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71" y="22543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70813" y="3108562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9"/>
          <p:cNvSpPr txBox="1"/>
          <p:nvPr/>
        </p:nvSpPr>
        <p:spPr>
          <a:xfrm>
            <a:off x="7866400" y="4103400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69"/>
          <p:cNvGrpSpPr/>
          <p:nvPr/>
        </p:nvGrpSpPr>
        <p:grpSpPr>
          <a:xfrm>
            <a:off x="3873750" y="2325175"/>
            <a:ext cx="4047324" cy="1316250"/>
            <a:chOff x="3873750" y="2325175"/>
            <a:chExt cx="4047324" cy="1316250"/>
          </a:xfrm>
        </p:grpSpPr>
        <p:pic>
          <p:nvPicPr>
            <p:cNvPr id="788" name="Google Shape;788;p69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3873750" y="2325175"/>
              <a:ext cx="40473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9" name="Google Shape;789;p69"/>
            <p:cNvSpPr txBox="1"/>
            <p:nvPr/>
          </p:nvSpPr>
          <p:spPr>
            <a:xfrm>
              <a:off x="4016775" y="2427475"/>
              <a:ext cx="36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But, half of 6 is 3 and when you multiply a number it should get bigger.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0" name="Google Shape;790;p69"/>
          <p:cNvGrpSpPr/>
          <p:nvPr/>
        </p:nvGrpSpPr>
        <p:grpSpPr>
          <a:xfrm>
            <a:off x="1006779" y="1738522"/>
            <a:ext cx="3356605" cy="788891"/>
            <a:chOff x="1006799" y="2364350"/>
            <a:chExt cx="2931533" cy="1343708"/>
          </a:xfrm>
        </p:grpSpPr>
        <p:pic>
          <p:nvPicPr>
            <p:cNvPr id="791" name="Google Shape;791;p69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006799" y="2391808"/>
              <a:ext cx="28376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9"/>
            <p:cNvSpPr txBox="1"/>
            <p:nvPr/>
          </p:nvSpPr>
          <p:spPr>
            <a:xfrm>
              <a:off x="1130932" y="2364350"/>
              <a:ext cx="2807400" cy="101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need to cut my material into two long strips.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3" name="Google Shape;793;p69"/>
          <p:cNvSpPr/>
          <p:nvPr/>
        </p:nvSpPr>
        <p:spPr>
          <a:xfrm>
            <a:off x="5688100" y="1528800"/>
            <a:ext cx="3049200" cy="554700"/>
          </a:xfrm>
          <a:prstGeom prst="rect">
            <a:avLst/>
          </a:prstGeom>
          <a:solidFill>
            <a:srgbClr val="845AD9">
              <a:alpha val="46250"/>
            </a:srgb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4" name="Google Shape;794;p69"/>
          <p:cNvCxnSpPr/>
          <p:nvPr/>
        </p:nvCxnSpPr>
        <p:spPr>
          <a:xfrm>
            <a:off x="5687050" y="1404600"/>
            <a:ext cx="3051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795" name="Google Shape;795;p69"/>
          <p:cNvSpPr txBox="1"/>
          <p:nvPr/>
        </p:nvSpPr>
        <p:spPr>
          <a:xfrm>
            <a:off x="6856900" y="993775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6" name="Google Shape;796;p69"/>
          <p:cNvCxnSpPr/>
          <p:nvPr/>
        </p:nvCxnSpPr>
        <p:spPr>
          <a:xfrm rot="10800000" flipH="1">
            <a:off x="5505900" y="1546110"/>
            <a:ext cx="0" cy="537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797" name="Google Shape;797;p69"/>
          <p:cNvSpPr txBox="1"/>
          <p:nvPr/>
        </p:nvSpPr>
        <p:spPr>
          <a:xfrm>
            <a:off x="4918975" y="1613600"/>
            <a:ext cx="4713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324000" y="1060500"/>
            <a:ext cx="51057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area of Lucas’ material?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6448275" y="1632471"/>
            <a:ext cx="20850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× 6 = 6 m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2000" baseline="30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00" name="Google Shape;800;p69"/>
          <p:cNvCxnSpPr>
            <a:stCxn id="793" idx="1"/>
            <a:endCxn id="793" idx="3"/>
          </p:cNvCxnSpPr>
          <p:nvPr/>
        </p:nvCxnSpPr>
        <p:spPr>
          <a:xfrm>
            <a:off x="5688100" y="1806150"/>
            <a:ext cx="304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01" name="Google Shape;801;p69"/>
          <p:cNvSpPr txBox="1"/>
          <p:nvPr/>
        </p:nvSpPr>
        <p:spPr>
          <a:xfrm>
            <a:off x="324000" y="3604875"/>
            <a:ext cx="66882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calculation will represent the area of Lucas’ new strip?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2" name="Google Shape;802;p69" descr="&lt;math xmlns=&quot;http://www.w3.org/1998/Math/MathML&quot; display=&quot;block&quot; data-is-equatio=&quot;1&quot; data-latex=&quot;\frac{1}{2}\times6\ &quot;&gt;&lt;mfrac&gt;&lt;mn&gt;1&lt;/mn&gt;&lt;mn&gt;2&lt;/mn&gt;&lt;/mfrac&gt;&lt;mo&gt;×&lt;/mo&gt;&lt;mn&gt;6&lt;/mn&gt;&lt;mtext&gt;&lt;/mtext&gt;&lt;/math&gt;" title="one half time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563" y="4080600"/>
            <a:ext cx="538225" cy="4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6" name="Shape 806"/>
        <p:cNvGrpSpPr/>
        <p:nvPr/>
      </p:nvGrpSpPr>
      <p:grpSpPr>
        <a:xfrm>
          <a:off x="0" y="0"/>
          <a:ext cx="0" cy="0"/>
        </a:xfrm>
      </p:grpSpPr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808" name="Google Shape;808;p70"/>
          <p:cNvSpPr txBox="1"/>
          <p:nvPr>
            <p:ph type="body" idx="1"/>
          </p:nvPr>
        </p:nvSpPr>
        <p:spPr>
          <a:xfrm>
            <a:off x="324000" y="759300"/>
            <a:ext cx="8237700" cy="3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will take a look at what Sam said. </a:t>
            </a:r>
            <a:endParaRPr/>
          </a:p>
        </p:txBody>
      </p:sp>
      <p:grpSp>
        <p:nvGrpSpPr>
          <p:cNvPr id="809" name="Google Shape;809;p70"/>
          <p:cNvGrpSpPr/>
          <p:nvPr/>
        </p:nvGrpSpPr>
        <p:grpSpPr>
          <a:xfrm>
            <a:off x="3873749" y="1106030"/>
            <a:ext cx="4047324" cy="976131"/>
            <a:chOff x="3873750" y="2325175"/>
            <a:chExt cx="4047324" cy="1316250"/>
          </a:xfrm>
        </p:grpSpPr>
        <p:pic>
          <p:nvPicPr>
            <p:cNvPr id="810" name="Google Shape;810;p70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>
              <a:off x="3873750" y="2325175"/>
              <a:ext cx="40473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70"/>
            <p:cNvSpPr txBox="1"/>
            <p:nvPr/>
          </p:nvSpPr>
          <p:spPr>
            <a:xfrm>
              <a:off x="4016775" y="2427475"/>
              <a:ext cx="3681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When you multiply a number it should get bigger.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2" name="Google Shape;81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70813" y="1736962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0"/>
          <p:cNvSpPr txBox="1"/>
          <p:nvPr/>
        </p:nvSpPr>
        <p:spPr>
          <a:xfrm>
            <a:off x="7866400" y="2731800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0"/>
          <p:cNvSpPr txBox="1"/>
          <p:nvPr>
            <p:ph type="body" idx="1"/>
          </p:nvPr>
        </p:nvSpPr>
        <p:spPr>
          <a:xfrm>
            <a:off x="324000" y="3168275"/>
            <a:ext cx="8237700" cy="69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Will the product of two numbers always be greater than either of those numbers?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Can you think of any pairs of numbers when that is not the case?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820" name="Google Shape;820;p71"/>
          <p:cNvSpPr txBox="1"/>
          <p:nvPr>
            <p:ph type="body" idx="1"/>
          </p:nvPr>
        </p:nvSpPr>
        <p:spPr>
          <a:xfrm>
            <a:off x="324000" y="606900"/>
            <a:ext cx="3559200" cy="3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Let’s look at the following:</a:t>
            </a:r>
            <a:endParaRPr/>
          </a:p>
        </p:txBody>
      </p:sp>
      <p:pic>
        <p:nvPicPr>
          <p:cNvPr id="821" name="Google Shape;821;p71" descr="&lt;math xmlns=&quot;http://www.w3.org/1998/Math/MathML&quot; display=&quot;block&quot; data-is-equatio=&quot;1&quot; data-latex=&quot;\frac{1}{2}\times4&quot;&gt;&lt;mfrac&gt;&lt;mn&gt;1&lt;/mn&gt;&lt;mn&gt;2&lt;/mn&gt;&lt;/mfrac&gt;&lt;mo&gt;×&lt;/mo&gt;&lt;mn&gt;4&lt;/mn&gt;&lt;/math&gt;" title="one half time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20" y="1080000"/>
            <a:ext cx="580390" cy="51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 descr="&lt;math xmlns=&quot;http://www.w3.org/1998/Math/MathML&quot; display=&quot;block&quot; data-is-equatio=&quot;1&quot; data-latex=&quot;\frac{1}{2}\times2&quot;&gt;&lt;mfrac&gt;&lt;mn&gt;1&lt;/mn&gt;&lt;mn&gt;2&lt;/mn&gt;&lt;/mfrac&gt;&lt;mo&gt;×&lt;/mo&gt;&lt;mn&gt;2&lt;/mn&gt;&lt;/math&gt;" title="one half time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20" y="1880157"/>
            <a:ext cx="580390" cy="51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1" descr="&lt;math xmlns=&quot;http://www.w3.org/1998/Math/MathML&quot; display=&quot;block&quot; data-is-equatio=&quot;1&quot; data-latex=&quot;\frac{1}{2}\times1&quot;&gt;&lt;mfrac&gt;&lt;mn&gt;1&lt;/mn&gt;&lt;mn&gt;2&lt;/mn&gt;&lt;/mfrac&gt;&lt;mo&gt;×&lt;/mo&gt;&lt;mn&gt;1&lt;/mn&gt;&lt;/math&gt;" title="one half time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120" y="2680314"/>
            <a:ext cx="557778" cy="51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71" descr="&lt;math xmlns=&quot;http://www.w3.org/1998/Math/MathML&quot; display=&quot;block&quot; data-is-equatio=&quot;1&quot; data-latex=&quot;\frac{1}{2}\times\frac{1}{2}&quot;&gt;&lt;mfrac&gt;&lt;mn&gt;1&lt;/mn&gt;&lt;mn&gt;2&lt;/mn&gt;&lt;/mfrac&gt;&lt;mo&gt;×&lt;/mo&gt;&lt;mfrac&gt;&lt;mn&gt;1&lt;/mn&gt;&lt;mn&gt;2&lt;/mn&gt;&lt;/mfrac&gt;&lt;/math&gt;" title="one half 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120" y="3480471"/>
            <a:ext cx="644458" cy="51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1" descr="&lt;math xmlns=&quot;http://www.w3.org/1998/Math/MathML&quot; display=&quot;block&quot; data-is-equatio=&quot;1&quot; data-latex=&quot;\frac{1}{2}\times\frac{1}{4}&quot;&gt;&lt;mfrac&gt;&lt;mn&gt;1&lt;/mn&gt;&lt;mn&gt;2&lt;/mn&gt;&lt;/mfrac&gt;&lt;mo&gt;×&lt;/mo&gt;&lt;mfrac&gt;&lt;mn&gt;1&lt;/mn&gt;&lt;mn&gt;4&lt;/mn&gt;&lt;/mfrac&gt;&lt;/math&gt;" title="one half times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120" y="4280627"/>
            <a:ext cx="644458" cy="51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>
            <a:off x="2559025" y="1061700"/>
            <a:ext cx="290775" cy="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 rot="10800000">
            <a:off x="2849800" y="1061700"/>
            <a:ext cx="290775" cy="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>
            <a:off x="3373550" y="1061700"/>
            <a:ext cx="290775" cy="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 rot="10800000">
            <a:off x="3664325" y="1061700"/>
            <a:ext cx="290775" cy="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>
            <a:off x="2553138" y="1823225"/>
            <a:ext cx="290775" cy="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 rot="10800000">
            <a:off x="2843913" y="1823225"/>
            <a:ext cx="290775" cy="58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1"/>
          <p:cNvSpPr txBox="1"/>
          <p:nvPr/>
        </p:nvSpPr>
        <p:spPr>
          <a:xfrm>
            <a:off x="4572000" y="1188125"/>
            <a:ext cx="2907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 txBox="1"/>
          <p:nvPr/>
        </p:nvSpPr>
        <p:spPr>
          <a:xfrm>
            <a:off x="4572000" y="1851465"/>
            <a:ext cx="2907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4" name="Google Shape;834;p71" descr="&lt;math xmlns=&quot;http://www.w3.org/1998/Math/MathML&quot; data-is-equatio=&quot;1&quot; data-equatio-url=&quot;https://equatio-api.texthelp.com/desmos/get/21-11-2023/cdcae763-8e16-4a31-bde1-dd65a2672efc&quot; data-equatio-type=&quot;image&quot;&gt;&lt;mglyph src=&quot;https://equatio-api.texthelp.com/desmos/get/21-11-2023/cdcae763-8e16-4a31-bde1-dd65a2672efc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rcRect r="50619"/>
          <a:stretch>
            <a:fillRect/>
          </a:stretch>
        </p:blipFill>
        <p:spPr>
          <a:xfrm>
            <a:off x="2553162" y="2584750"/>
            <a:ext cx="290775" cy="5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1" descr="&lt;math xmlns=&quot;http://www.w3.org/1998/Math/MathML&quot; display=&quot;block&quot; data-is-equatio=&quot;1&quot; data-latex=&quot;\frac{1}{2}\times1&quot;&gt;&lt;mfrac&gt;&lt;mn&gt;1&lt;/mn&gt;&lt;mn&gt;2&lt;/mn&gt;&lt;/mfrac&gt;&lt;mo&gt;×&lt;/mo&gt;&lt;mn&gt;1&lt;/mn&gt;&lt;/math&gt;" title="one half times 1"/>
          <p:cNvPicPr preferRelativeResize="0"/>
          <p:nvPr/>
        </p:nvPicPr>
        <p:blipFill>
          <a:blip r:embed="rId5">
            <a:alphaModFix/>
          </a:blip>
          <a:srcRect r="64606"/>
          <a:stretch>
            <a:fillRect/>
          </a:stretch>
        </p:blipFill>
        <p:spPr>
          <a:xfrm>
            <a:off x="4612512" y="2514806"/>
            <a:ext cx="209676" cy="5483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6" name="Google Shape;836;p71"/>
          <p:cNvGrpSpPr/>
          <p:nvPr/>
        </p:nvGrpSpPr>
        <p:grpSpPr>
          <a:xfrm>
            <a:off x="1026925" y="1299092"/>
            <a:ext cx="1240725" cy="798900"/>
            <a:chOff x="1026925" y="1299092"/>
            <a:chExt cx="1240725" cy="798900"/>
          </a:xfrm>
        </p:grpSpPr>
        <p:sp>
          <p:nvSpPr>
            <p:cNvPr id="837" name="Google Shape;837;p71"/>
            <p:cNvSpPr/>
            <p:nvPr/>
          </p:nvSpPr>
          <p:spPr>
            <a:xfrm rot="5400000">
              <a:off x="977125" y="1348892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8" name="Google Shape;838;p71"/>
            <p:cNvSpPr txBox="1"/>
            <p:nvPr/>
          </p:nvSpPr>
          <p:spPr>
            <a:xfrm>
              <a:off x="1772650" y="1487225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9" name="Google Shape;839;p71"/>
          <p:cNvGrpSpPr/>
          <p:nvPr/>
        </p:nvGrpSpPr>
        <p:grpSpPr>
          <a:xfrm>
            <a:off x="1044575" y="2158914"/>
            <a:ext cx="1223075" cy="798900"/>
            <a:chOff x="1044575" y="2158914"/>
            <a:chExt cx="1223075" cy="798900"/>
          </a:xfrm>
        </p:grpSpPr>
        <p:sp>
          <p:nvSpPr>
            <p:cNvPr id="840" name="Google Shape;840;p71"/>
            <p:cNvSpPr/>
            <p:nvPr/>
          </p:nvSpPr>
          <p:spPr>
            <a:xfrm rot="5400000">
              <a:off x="994775" y="2208714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1" name="Google Shape;841;p71"/>
            <p:cNvSpPr txBox="1"/>
            <p:nvPr/>
          </p:nvSpPr>
          <p:spPr>
            <a:xfrm>
              <a:off x="1772650" y="2369173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2" name="Google Shape;842;p71"/>
          <p:cNvGrpSpPr/>
          <p:nvPr/>
        </p:nvGrpSpPr>
        <p:grpSpPr>
          <a:xfrm>
            <a:off x="1026925" y="3001977"/>
            <a:ext cx="1240725" cy="798900"/>
            <a:chOff x="1026925" y="3001977"/>
            <a:chExt cx="1240725" cy="798900"/>
          </a:xfrm>
        </p:grpSpPr>
        <p:sp>
          <p:nvSpPr>
            <p:cNvPr id="843" name="Google Shape;843;p71"/>
            <p:cNvSpPr/>
            <p:nvPr/>
          </p:nvSpPr>
          <p:spPr>
            <a:xfrm rot="5400000">
              <a:off x="977125" y="3051777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4" name="Google Shape;844;p71"/>
            <p:cNvSpPr txBox="1"/>
            <p:nvPr/>
          </p:nvSpPr>
          <p:spPr>
            <a:xfrm>
              <a:off x="1772650" y="3194305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5" name="Google Shape;845;p71"/>
          <p:cNvGrpSpPr/>
          <p:nvPr/>
        </p:nvGrpSpPr>
        <p:grpSpPr>
          <a:xfrm>
            <a:off x="1044575" y="3835314"/>
            <a:ext cx="1223075" cy="798900"/>
            <a:chOff x="1044575" y="3835314"/>
            <a:chExt cx="1223075" cy="798900"/>
          </a:xfrm>
        </p:grpSpPr>
        <p:sp>
          <p:nvSpPr>
            <p:cNvPr id="846" name="Google Shape;846;p71"/>
            <p:cNvSpPr/>
            <p:nvPr/>
          </p:nvSpPr>
          <p:spPr>
            <a:xfrm rot="5400000">
              <a:off x="994775" y="3885114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7" name="Google Shape;847;p71"/>
            <p:cNvSpPr txBox="1"/>
            <p:nvPr/>
          </p:nvSpPr>
          <p:spPr>
            <a:xfrm>
              <a:off x="1772650" y="4066762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8" name="Google Shape;848;p71"/>
          <p:cNvGrpSpPr/>
          <p:nvPr/>
        </p:nvGrpSpPr>
        <p:grpSpPr>
          <a:xfrm>
            <a:off x="5104475" y="1287804"/>
            <a:ext cx="1240725" cy="798900"/>
            <a:chOff x="5104475" y="1287804"/>
            <a:chExt cx="1240725" cy="798900"/>
          </a:xfrm>
        </p:grpSpPr>
        <p:sp>
          <p:nvSpPr>
            <p:cNvPr id="849" name="Google Shape;849;p71"/>
            <p:cNvSpPr/>
            <p:nvPr/>
          </p:nvSpPr>
          <p:spPr>
            <a:xfrm rot="5400000">
              <a:off x="5054675" y="1337604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0" name="Google Shape;850;p71"/>
            <p:cNvSpPr txBox="1"/>
            <p:nvPr/>
          </p:nvSpPr>
          <p:spPr>
            <a:xfrm>
              <a:off x="5850200" y="1475938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1" name="Google Shape;851;p71"/>
          <p:cNvGrpSpPr/>
          <p:nvPr/>
        </p:nvGrpSpPr>
        <p:grpSpPr>
          <a:xfrm>
            <a:off x="5122125" y="2147626"/>
            <a:ext cx="1223075" cy="798900"/>
            <a:chOff x="5122125" y="2147626"/>
            <a:chExt cx="1223075" cy="798900"/>
          </a:xfrm>
        </p:grpSpPr>
        <p:sp>
          <p:nvSpPr>
            <p:cNvPr id="852" name="Google Shape;852;p71"/>
            <p:cNvSpPr/>
            <p:nvPr/>
          </p:nvSpPr>
          <p:spPr>
            <a:xfrm rot="5400000">
              <a:off x="5072325" y="2197426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3" name="Google Shape;853;p71"/>
            <p:cNvSpPr txBox="1"/>
            <p:nvPr/>
          </p:nvSpPr>
          <p:spPr>
            <a:xfrm>
              <a:off x="5850200" y="2357886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4" name="Google Shape;854;p71"/>
          <p:cNvGrpSpPr/>
          <p:nvPr/>
        </p:nvGrpSpPr>
        <p:grpSpPr>
          <a:xfrm>
            <a:off x="5104475" y="2990690"/>
            <a:ext cx="1240725" cy="798900"/>
            <a:chOff x="5104475" y="2990690"/>
            <a:chExt cx="1240725" cy="798900"/>
          </a:xfrm>
        </p:grpSpPr>
        <p:sp>
          <p:nvSpPr>
            <p:cNvPr id="855" name="Google Shape;855;p71"/>
            <p:cNvSpPr/>
            <p:nvPr/>
          </p:nvSpPr>
          <p:spPr>
            <a:xfrm rot="5400000">
              <a:off x="5054675" y="3040490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6" name="Google Shape;856;p71"/>
            <p:cNvSpPr txBox="1"/>
            <p:nvPr/>
          </p:nvSpPr>
          <p:spPr>
            <a:xfrm>
              <a:off x="5850200" y="3183017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7" name="Google Shape;857;p71"/>
          <p:cNvGrpSpPr/>
          <p:nvPr/>
        </p:nvGrpSpPr>
        <p:grpSpPr>
          <a:xfrm>
            <a:off x="5122125" y="3824026"/>
            <a:ext cx="1223075" cy="798900"/>
            <a:chOff x="5122125" y="3824026"/>
            <a:chExt cx="1223075" cy="798900"/>
          </a:xfrm>
        </p:grpSpPr>
        <p:sp>
          <p:nvSpPr>
            <p:cNvPr id="858" name="Google Shape;858;p71"/>
            <p:cNvSpPr/>
            <p:nvPr/>
          </p:nvSpPr>
          <p:spPr>
            <a:xfrm rot="5400000">
              <a:off x="5072325" y="3873826"/>
              <a:ext cx="798900" cy="6993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9" name="Google Shape;859;p71"/>
            <p:cNvSpPr txBox="1"/>
            <p:nvPr/>
          </p:nvSpPr>
          <p:spPr>
            <a:xfrm>
              <a:off x="5850200" y="4055474"/>
              <a:ext cx="4950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60" name="Google Shape;860;p71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2524" y="3390525"/>
            <a:ext cx="169652" cy="54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1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34497" y="4258375"/>
            <a:ext cx="165706" cy="5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1" descr="&lt;math xmlns=&quot;http://www.w3.org/1998/Math/MathML&quot; data-is-equatio=&quot;1&quot; data-equatio-url=&quot;https://equatio-api.texthelp.com/desmos/get/21-11-2023/e5776310-f0a8-45d0-adf6-f9f3e8c9ec16&quot; data-equatio-type=&quot;image&quot;&gt;&lt;mglyph src=&quot;https://equatio-api.texthelp.com/desmos/get/21-11-2023/e5776310-f0a8-45d0-adf6-f9f3e8c9ec16&quot; alt=&quot;Equatio Image&quot;/&gt;&lt;/math&gt;" title="Equatio Image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92200" y="4142950"/>
            <a:ext cx="61349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1" descr="&lt;math xmlns=&quot;http://www.w3.org/1998/Math/MathML&quot; data-is-equatio=&quot;1&quot; data-equatio-url=&quot;https://equatio-api.texthelp.com/desmos/get/21-11-2023/c5252b34-68b0-412c-87ac-8c0c821c3dad&quot; data-equatio-type=&quot;image&quot;&gt;&lt;mglyph src=&quot;https://equatio-api.texthelp.com/desmos/get/21-11-2023/c5252b34-68b0-412c-87ac-8c0c821c3dad&quot; alt=&quot;Equatio Image&quot;/&gt;&lt;/math&gt;" title="Equatio Image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31797" y="3279475"/>
            <a:ext cx="61349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1" descr="&lt;math xmlns=&quot;http://www.w3.org/1998/Math/MathML&quot; data-is-equatio=&quot;1&quot; data-equatio-url=&quot;https://equatio-api.texthelp.com/desmos/get/21-11-2023/3f1b496b-c41e-4a23-93e0-4c6c0e05c9da&quot; data-equatio-type=&quot;image&quot;&gt;&lt;mglyph src=&quot;https://equatio-api.texthelp.com/desmos/get/21-11-2023/3f1b496b-c41e-4a23-93e0-4c6c0e05c9da&quot; alt=&quot;Equatio Image&quot;/&gt;&lt;/math&gt;" title="Equatio Image"/>
          <p:cNvPicPr preferRelativeResize="0"/>
          <p:nvPr/>
        </p:nvPicPr>
        <p:blipFill>
          <a:blip r:embed="rId13">
            <a:alphaModFix/>
          </a:blip>
          <a:srcRect t="50504" r="47396"/>
          <a:stretch>
            <a:fillRect/>
          </a:stretch>
        </p:blipFill>
        <p:spPr>
          <a:xfrm>
            <a:off x="2528763" y="3586800"/>
            <a:ext cx="322725" cy="30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1" descr="&lt;math xmlns=&quot;http://www.w3.org/1998/Math/MathML&quot; data-is-equatio=&quot;1&quot; data-equatio-url=&quot;https://equatio-api.texthelp.com/desmos/get/21-11-2023/d3f1335a-42f8-4a49-b6c3-05d231ff81ba&quot; data-equatio-type=&quot;image&quot;&gt;&lt;mglyph src=&quot;https://equatio-api.texthelp.com/desmos/get/21-11-2023/d3f1335a-42f8-4a49-b6c3-05d231ff81ba&quot; alt=&quot;Equatio Image&quot;/&gt;&lt;/math&gt;" title="Equatio Image"/>
          <p:cNvPicPr preferRelativeResize="0"/>
          <p:nvPr/>
        </p:nvPicPr>
        <p:blipFill>
          <a:blip r:embed="rId14">
            <a:alphaModFix/>
          </a:blip>
          <a:srcRect t="50504" r="47398"/>
          <a:stretch>
            <a:fillRect/>
          </a:stretch>
        </p:blipFill>
        <p:spPr>
          <a:xfrm>
            <a:off x="2498225" y="4452800"/>
            <a:ext cx="322700" cy="30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1"/>
          <p:cNvSpPr txBox="1"/>
          <p:nvPr/>
        </p:nvSpPr>
        <p:spPr>
          <a:xfrm>
            <a:off x="6519450" y="641250"/>
            <a:ext cx="2357400" cy="1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When did the products start being less than one half?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1"/>
          <p:cNvSpPr txBox="1"/>
          <p:nvPr/>
        </p:nvSpPr>
        <p:spPr>
          <a:xfrm>
            <a:off x="6519450" y="2514800"/>
            <a:ext cx="2357400" cy="1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When we started multiplying by a number less than one.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p72"/>
          <p:cNvSpPr txBox="1"/>
          <p:nvPr>
            <p:ph type="body" idx="1"/>
          </p:nvPr>
        </p:nvSpPr>
        <p:spPr>
          <a:xfrm>
            <a:off x="324000" y="1744950"/>
            <a:ext cx="3045600" cy="106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E.g.	0.04 × 5 &lt; 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           5 ×     &lt; 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		   </a:t>
            </a:r>
            <a:endParaRPr/>
          </a:p>
        </p:txBody>
      </p:sp>
      <p:sp>
        <p:nvSpPr>
          <p:cNvPr id="873" name="Google Shape;873;p72"/>
          <p:cNvSpPr txBox="1"/>
          <p:nvPr>
            <p:ph type="body" idx="1"/>
          </p:nvPr>
        </p:nvSpPr>
        <p:spPr>
          <a:xfrm>
            <a:off x="324000" y="3757500"/>
            <a:ext cx="6808500" cy="88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E.g.	0.04 × 0.5 is less than both 0.04 and 0.5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×     is less than than both    and      </a:t>
            </a:r>
            <a:endParaRPr/>
          </a:p>
        </p:txBody>
      </p:sp>
      <p:sp>
        <p:nvSpPr>
          <p:cNvPr id="874" name="Google Shape;87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875" name="Google Shape;875;p72"/>
          <p:cNvSpPr txBox="1"/>
          <p:nvPr>
            <p:ph type="body" idx="1"/>
          </p:nvPr>
        </p:nvSpPr>
        <p:spPr>
          <a:xfrm>
            <a:off x="324000" y="759300"/>
            <a:ext cx="8403300" cy="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product of two numbers where one number is between zero and one, will give a product less than the larger number. </a:t>
            </a:r>
            <a:endParaRPr/>
          </a:p>
        </p:txBody>
      </p:sp>
      <p:pic>
        <p:nvPicPr>
          <p:cNvPr id="876" name="Google Shape;876;p72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2190750"/>
            <a:ext cx="18537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2" descr="&lt;math xmlns=&quot;http://www.w3.org/1998/Math/MathML&quot; display=&quot;block&quot; data-is-equatio=&quot;1&quot; data-latex=&quot;\frac{1}{3}\ \ \ \ \ \frac{4}{5}&quot;&gt;&lt;mfrac&gt;&lt;mn&gt;1&lt;/mn&gt;&lt;mn&gt;3&lt;/mn&gt;&lt;/mfrac&gt;&lt;mtext&gt;&lt;/mtext&gt;&lt;mtext&gt;&lt;/mtext&gt;&lt;mtext&gt;&lt;/mtext&gt;&lt;mtext&gt;&lt;/mtext&gt;&lt;mtext&gt;&lt;/mtext&gt;&lt;mfrac&gt;&lt;mn&gt;4&lt;/mn&gt;&lt;mn&gt;5&lt;/mn&gt;&lt;/mfrac&gt;&lt;/math&gt;" title="one third 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087" y="4155275"/>
            <a:ext cx="783457" cy="5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2"/>
          <p:cNvSpPr txBox="1"/>
          <p:nvPr>
            <p:ph type="body" idx="1"/>
          </p:nvPr>
        </p:nvSpPr>
        <p:spPr>
          <a:xfrm>
            <a:off x="324000" y="3004050"/>
            <a:ext cx="8403300" cy="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product of two numbers where both are between zero and one, will give a product less than either of the numbers. </a:t>
            </a:r>
            <a:endParaRPr/>
          </a:p>
        </p:txBody>
      </p:sp>
      <p:pic>
        <p:nvPicPr>
          <p:cNvPr id="879" name="Google Shape;879;p72" descr="&lt;math xmlns=&quot;http://www.w3.org/1998/Math/MathML&quot; display=&quot;block&quot; data-is-equatio=&quot;1&quot; data-latex=&quot;\frac{1}{3}\ \ \ \ \ \frac{4}{5}&quot;&gt;&lt;mfrac&gt;&lt;mn&gt;1&lt;/mn&gt;&lt;mn&gt;3&lt;/mn&gt;&lt;/mfrac&gt;&lt;mtext&gt;&lt;/mtext&gt;&lt;mtext&gt;&lt;/mtext&gt;&lt;mtext&gt;&lt;/mtext&gt;&lt;mtext&gt;&lt;/mtext&gt;&lt;mtext&gt;&lt;/mtext&gt;&lt;mfrac&gt;&lt;mn&gt;4&lt;/mn&gt;&lt;mn&gt;5&lt;/mn&gt;&lt;/mfrac&gt;&lt;/math&gt;" title="one third four fifths"/>
          <p:cNvPicPr preferRelativeResize="0"/>
          <p:nvPr/>
        </p:nvPicPr>
        <p:blipFill>
          <a:blip r:embed="rId4">
            <a:alphaModFix/>
          </a:blip>
          <a:srcRect r="73071"/>
          <a:stretch>
            <a:fillRect/>
          </a:stretch>
        </p:blipFill>
        <p:spPr>
          <a:xfrm>
            <a:off x="5016209" y="4225150"/>
            <a:ext cx="210975" cy="5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2" descr="&lt;math xmlns=&quot;http://www.w3.org/1998/Math/MathML&quot; display=&quot;block&quot; data-is-equatio=&quot;1&quot; data-latex=&quot;\frac{1}{3}\ \ \ \ \ \frac{4}{5}&quot;&gt;&lt;mfrac&gt;&lt;mn&gt;1&lt;/mn&gt;&lt;mn&gt;3&lt;/mn&gt;&lt;/mfrac&gt;&lt;mtext&gt;&lt;/mtext&gt;&lt;mtext&gt;&lt;/mtext&gt;&lt;mtext&gt;&lt;/mtext&gt;&lt;mtext&gt;&lt;/mtext&gt;&lt;mtext&gt;&lt;/mtext&gt;&lt;mfrac&gt;&lt;mn&gt;4&lt;/mn&gt;&lt;mn&gt;5&lt;/mn&gt;&lt;/mfrac&gt;&lt;/math&gt;" title="one third four fifths"/>
          <p:cNvPicPr preferRelativeResize="0"/>
          <p:nvPr/>
        </p:nvPicPr>
        <p:blipFill>
          <a:blip r:embed="rId4">
            <a:alphaModFix/>
          </a:blip>
          <a:srcRect l="73071"/>
          <a:stretch>
            <a:fillRect/>
          </a:stretch>
        </p:blipFill>
        <p:spPr>
          <a:xfrm>
            <a:off x="5877171" y="4225150"/>
            <a:ext cx="210975" cy="5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2"/>
          <p:cNvSpPr/>
          <p:nvPr/>
        </p:nvSpPr>
        <p:spPr>
          <a:xfrm>
            <a:off x="1191300" y="4069650"/>
            <a:ext cx="5073900" cy="766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/>
          <p:nvPr/>
        </p:nvSpPr>
        <p:spPr>
          <a:xfrm>
            <a:off x="1191288" y="2155800"/>
            <a:ext cx="1696500" cy="68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sp>
        <p:nvSpPr>
          <p:cNvPr id="887" name="Google Shape;88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888" name="Google Shape;888;p73"/>
          <p:cNvSpPr txBox="1"/>
          <p:nvPr>
            <p:ph type="body" idx="1"/>
          </p:nvPr>
        </p:nvSpPr>
        <p:spPr>
          <a:xfrm>
            <a:off x="324000" y="759300"/>
            <a:ext cx="82377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Sort the following into the correct group.</a:t>
            </a:r>
            <a:endParaRPr/>
          </a:p>
        </p:txBody>
      </p:sp>
      <p:sp>
        <p:nvSpPr>
          <p:cNvPr id="889" name="Google Shape;889;p73"/>
          <p:cNvSpPr/>
          <p:nvPr/>
        </p:nvSpPr>
        <p:spPr>
          <a:xfrm>
            <a:off x="1354750" y="2156225"/>
            <a:ext cx="2965200" cy="2163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Less than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3"/>
          <p:cNvSpPr/>
          <p:nvPr/>
        </p:nvSpPr>
        <p:spPr>
          <a:xfrm>
            <a:off x="4824000" y="2158050"/>
            <a:ext cx="2965200" cy="2163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Greater than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1" name="Google Shape;891;p73" descr="&lt;math xmlns=&quot;http://www.w3.org/1998/Math/MathML&quot; display=&quot;block&quot; data-is-equatio=&quot;1&quot; data-latex=&quot;10\times\frac{7}{10}&quot;&gt;&lt;mn&gt;10&lt;/mn&gt;&lt;mo&gt;×&lt;/mo&gt;&lt;mfrac&gt;&lt;mn&gt;7&lt;/mn&gt;&lt;mn&gt;10&lt;/mn&gt;&lt;/mfrac&gt;&lt;/math&gt;" title="10 times 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660" y="1263807"/>
            <a:ext cx="9577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3" descr="&lt;math xmlns=&quot;http://www.w3.org/1998/Math/MathML&quot; display=&quot;block&quot; data-is-equatio=&quot;1&quot; data-latex=&quot;\frac{1}{9}\times10&quot;&gt;&lt;mfrac&gt;&lt;mn&gt;1&lt;/mn&gt;&lt;mn&gt;9&lt;/mn&gt;&lt;/mfrac&gt;&lt;mo&gt;×&lt;/mo&gt;&lt;mn&gt;10&lt;/mn&gt;&lt;/math&gt;" title="one ninth time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1554" y="3482071"/>
            <a:ext cx="807702" cy="59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3" descr="&lt;math xmlns=&quot;http://www.w3.org/1998/Math/MathML&quot; display=&quot;block&quot; data-is-equatio=&quot;1&quot; data-latex=&quot;\frac{8}{9}\times10&quot;&gt;&lt;mfrac&gt;&lt;mn&gt;8&lt;/mn&gt;&lt;mn&gt;9&lt;/mn&gt;&lt;/mfrac&gt;&lt;mo&gt;×&lt;/mo&gt;&lt;mn&gt;10&lt;/mn&gt;&lt;/math&gt;" title="eight ninths time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660" y="1263807"/>
            <a:ext cx="807702" cy="59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3" descr="&lt;math xmlns=&quot;http://www.w3.org/1998/Math/MathML&quot; display=&quot;block&quot; data-is-equatio=&quot;1&quot; data-latex=&quot;10\times\frac{3}{2}&quot;&gt;&lt;mn&gt;10&lt;/mn&gt;&lt;mo&gt;×&lt;/mo&gt;&lt;mfrac&gt;&lt;mn&gt;3&lt;/mn&gt;&lt;mn&gt;2&lt;/mn&gt;&lt;/mfrac&gt;&lt;/math&gt;" title="10 times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660" y="1263807"/>
            <a:ext cx="794461" cy="6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3" descr="&lt;math xmlns=&quot;http://www.w3.org/1998/Math/MathML&quot; display=&quot;block&quot; data-is-equatio=&quot;1&quot; data-latex=&quot;\frac{20}{19}\times10&quot;&gt;&lt;mfrac&gt;&lt;mn&gt;20&lt;/mn&gt;&lt;mn&gt;19&lt;/mn&gt;&lt;/mfrac&gt;&lt;mo&gt;×&lt;/mo&gt;&lt;mn&gt;10&lt;/mn&gt;&lt;/math&gt;" title="20 over 19 time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660" y="1263807"/>
            <a:ext cx="944525" cy="59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3" descr="&lt;math xmlns=&quot;http://www.w3.org/1998/Math/MathML&quot; display=&quot;block&quot; data-is-equatio=&quot;1&quot; data-latex=&quot;10\times2\ \frac{4}{5}&quot;&gt;&lt;mn&gt;10&lt;/mn&gt;&lt;mo&gt;×&lt;/mo&gt;&lt;mn&gt;2&lt;/mn&gt;&lt;mtext&gt;&lt;/mtext&gt;&lt;mfrac&gt;&lt;mn&gt;4&lt;/mn&gt;&lt;mn&gt;5&lt;/mn&gt;&lt;/mfrac&gt;&lt;/math&gt;" title="10 times 2 four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1660" y="1263807"/>
            <a:ext cx="1001903" cy="600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3" descr="&lt;math xmlns=&quot;http://www.w3.org/1998/Math/MathML&quot; display=&quot;block&quot; data-is-equatio=&quot;1&quot; data-latex=&quot;6\ \frac{1}{7}\times10&quot;&gt;&lt;mn&gt;6&lt;/mn&gt;&lt;mtext&gt;&lt;/mtext&gt;&lt;mfrac&gt;&lt;mn&gt;1&lt;/mn&gt;&lt;mn&gt;7&lt;/mn&gt;&lt;/mfrac&gt;&lt;mo&gt;×&lt;/mo&gt;&lt;mn&gt;10&lt;/mn&gt;&lt;/math&gt;" title="6 one seventh times 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660" y="1263807"/>
            <a:ext cx="1076935" cy="60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3" descr="&lt;math xmlns=&quot;http://www.w3.org/1998/Math/MathML&quot; display=&quot;block&quot; data-is-equatio=&quot;1&quot; data-latex=&quot;10\times\frac{7}{10}&quot;&gt;&lt;mn&gt;10&lt;/mn&gt;&lt;mo&gt;×&lt;/mo&gt;&lt;mfrac&gt;&lt;mn&gt;7&lt;/mn&gt;&lt;mn&gt;10&lt;/mn&gt;&lt;/mfrac&gt;&lt;/math&gt;" title="10 times 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535" y="2652168"/>
            <a:ext cx="9577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3" descr="&lt;math xmlns=&quot;http://www.w3.org/1998/Math/MathML&quot; display=&quot;block&quot; data-is-equatio=&quot;1&quot; data-latex=&quot;\frac{1}{9}\times10&quot;&gt;&lt;mfrac&gt;&lt;mn&gt;1&lt;/mn&gt;&lt;mn&gt;9&lt;/mn&gt;&lt;/mfrac&gt;&lt;mo&gt;×&lt;/mo&gt;&lt;mn&gt;10&lt;/mn&gt;&lt;/math&gt;" title="one ninth time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660" y="1263807"/>
            <a:ext cx="807702" cy="59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3" descr="&lt;math xmlns=&quot;http://www.w3.org/1998/Math/MathML&quot; display=&quot;block&quot; data-is-equatio=&quot;1&quot; data-latex=&quot;10\times\frac{3}{2}&quot;&gt;&lt;mn&gt;10&lt;/mn&gt;&lt;mo&gt;×&lt;/mo&gt;&lt;mfrac&gt;&lt;mn&gt;3&lt;/mn&gt;&lt;mn&gt;2&lt;/mn&gt;&lt;/mfrac&gt;&lt;/math&gt;" title="10 times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1837" y="3531382"/>
            <a:ext cx="794461" cy="6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3" descr="&lt;math xmlns=&quot;http://www.w3.org/1998/Math/MathML&quot; display=&quot;block&quot; data-is-equatio=&quot;1&quot; data-latex=&quot;\frac{20}{19}\times10&quot;&gt;&lt;mfrac&gt;&lt;mn&gt;20&lt;/mn&gt;&lt;mn&gt;19&lt;/mn&gt;&lt;/mfrac&gt;&lt;mo&gt;×&lt;/mo&gt;&lt;mn&gt;10&lt;/mn&gt;&lt;/math&gt;" title="20 over 19 time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7005" y="3599333"/>
            <a:ext cx="944525" cy="59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3" descr="&lt;math xmlns=&quot;http://www.w3.org/1998/Math/MathML&quot; display=&quot;block&quot; data-is-equatio=&quot;1&quot; data-latex=&quot;6\ \frac{1}{7}\times10&quot;&gt;&lt;mn&gt;6&lt;/mn&gt;&lt;mtext&gt;&lt;/mtext&gt;&lt;mfrac&gt;&lt;mn&gt;1&lt;/mn&gt;&lt;mn&gt;7&lt;/mn&gt;&lt;/mfrac&gt;&lt;mo&gt;×&lt;/mo&gt;&lt;mn&gt;10&lt;/mn&gt;&lt;/math&gt;" title="6 one seventh times 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70800" y="2608050"/>
            <a:ext cx="1076935" cy="60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3" descr="&lt;math xmlns=&quot;http://www.w3.org/1998/Math/MathML&quot; display=&quot;block&quot; data-is-equatio=&quot;1&quot; data-latex=&quot;10\times2\ \frac{4}{5}&quot;&gt;&lt;mn&gt;10&lt;/mn&gt;&lt;mo&gt;×&lt;/mo&gt;&lt;mn&gt;2&lt;/mn&gt;&lt;mtext&gt;&lt;/mtext&gt;&lt;mfrac&gt;&lt;mn&gt;4&lt;/mn&gt;&lt;mn&gt;5&lt;/mn&gt;&lt;/mfrac&gt;&lt;/math&gt;" title="10 times 2 four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60691" y="2628026"/>
            <a:ext cx="1001903" cy="600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3" descr="&lt;math xmlns=&quot;http://www.w3.org/1998/Math/MathML&quot; display=&quot;block&quot; data-is-equatio=&quot;1&quot; data-latex=&quot;\frac{8}{9}\times10&quot;&gt;&lt;mfrac&gt;&lt;mn&gt;8&lt;/mn&gt;&lt;mn&gt;9&lt;/mn&gt;&lt;/mfrac&gt;&lt;mo&gt;×&lt;/mo&gt;&lt;mn&gt;10&lt;/mn&gt;&lt;/math&gt;" title="eight ninths time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8992" y="2700008"/>
            <a:ext cx="807702" cy="595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p7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910" name="Google Shape;910;p7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Use the symbols &lt; and &gt; to complete the following:</a:t>
            </a:r>
            <a:endParaRPr/>
          </a:p>
        </p:txBody>
      </p:sp>
      <p:pic>
        <p:nvPicPr>
          <p:cNvPr id="911" name="Google Shape;911;p74" descr="&lt;math xmlns=&quot;http://www.w3.org/1998/Math/MathML&quot; display=&quot;block&quot; data-is-equatio=&quot;1&quot; data-latex=&quot;25\times\frac{6}{5}\ \ \ \ \ \ \ 25&quot;&gt;&lt;mn&gt;25&lt;/mn&gt;&lt;mo&gt;×&lt;/mo&gt;&lt;mfrac&gt;&lt;mn&gt;6&lt;/mn&gt;&lt;mn&gt;5&lt;/mn&gt;&lt;/mfrac&gt;&lt;mtext&gt;&lt;/mtext&gt;&lt;mtext&gt;&lt;/mtext&gt;&lt;mtext&gt;&lt;/mtext&gt;&lt;mtext&gt;&lt;/mtext&gt;&lt;mtext&gt;&lt;/mtext&gt;&lt;mtext&gt;&lt;/mtext&gt;&lt;mtext&gt;&lt;/mtext&gt;&lt;mn&gt;25&lt;/mn&gt;&lt;/math&gt;" title="25 times six fifths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775" y="2437535"/>
            <a:ext cx="1387853" cy="57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4" descr="&lt;math xmlns=&quot;http://www.w3.org/1998/Math/MathML&quot; display=&quot;block&quot; data-is-equatio=&quot;1&quot; data-latex=&quot;12\ \times1\ \frac{1}{10}\ \ \ \ \ 12&quot;&gt;&lt;mn&gt;12&lt;/mn&gt;&lt;mtext&gt;&lt;/mtext&gt;&lt;mo&gt;×&lt;/mo&gt;&lt;mn&gt;1&lt;/mn&gt;&lt;mtext&gt;&lt;/mtext&gt;&lt;mfrac&gt;&lt;mn&gt;1&lt;/mn&gt;&lt;mn&gt;10&lt;/mn&gt;&lt;/mfrac&gt;&lt;mtext&gt;&lt;/mtext&gt;&lt;mtext&gt;&lt;/mtext&gt;&lt;mtext&gt;&lt;/mtext&gt;&lt;mtext&gt;&lt;/mtext&gt;&lt;mtext&gt;&lt;/mtext&gt;&lt;mn&gt;12&lt;/mn&gt;&lt;/math&gt;" title="12 times 1 one tenth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2775" y="3259264"/>
            <a:ext cx="1844880" cy="58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4" descr="&lt;math xmlns=&quot;http://www.w3.org/1998/Math/MathML&quot; display=&quot;block&quot; data-is-equatio=&quot;1&quot; data-latex=&quot;25\times\frac{6}{5}\ \ \ \ \ 25&quot;&gt;&lt;mn&gt;25&lt;/mn&gt;&lt;mo&gt;×&lt;/mo&gt;&lt;mfrac&gt;&lt;mn&gt;6&lt;/mn&gt;&lt;mn&gt;5&lt;/mn&gt;&lt;/mfrac&gt;&lt;mtext&gt;&lt;/mtext&gt;&lt;mtext&gt;&lt;/mtext&gt;&lt;mtext&gt;&lt;/mtext&gt;&lt;mtext&gt;&lt;/mtext&gt;&lt;mtext&gt;&lt;/mtext&gt;&lt;mn&gt;25&lt;/mn&gt;&lt;/math&gt;" title="25 times six fifths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2775" y="1620000"/>
            <a:ext cx="1387853" cy="566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4" descr="&lt;math xmlns=&quot;http://www.w3.org/1998/Math/MathML&quot; display=&quot;block&quot; data-is-equatio=&quot;1&quot; data-latex=&quot;\frac{12}{11}\times111\ \ \ \ \ 111&quot;&gt;&lt;mfrac&gt;&lt;mn&gt;12&lt;/mn&gt;&lt;mn&gt;11&lt;/mn&gt;&lt;/mfrac&gt;&lt;mo&gt;×&lt;/mo&gt;&lt;mn&gt;111&lt;/mn&gt;&lt;mtext&gt;&lt;/mtext&gt;&lt;mtext&gt;&lt;/mtext&gt;&lt;mtext&gt;&lt;/mtext&gt;&lt;mtext&gt;&lt;/mtext&gt;&lt;mtext&gt;&lt;/mtext&gt;&lt;mn&gt;111&lt;/mn&gt;&lt;/math&gt;" title="12 over 11 times 111 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2775" y="4093570"/>
            <a:ext cx="1802951" cy="57443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4"/>
          <p:cNvSpPr/>
          <p:nvPr/>
        </p:nvSpPr>
        <p:spPr>
          <a:xfrm>
            <a:off x="1895047" y="1637513"/>
            <a:ext cx="291300" cy="4896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4"/>
          <p:cNvSpPr/>
          <p:nvPr/>
        </p:nvSpPr>
        <p:spPr>
          <a:xfrm>
            <a:off x="1900344" y="2461971"/>
            <a:ext cx="291300" cy="4896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4"/>
          <p:cNvSpPr/>
          <p:nvPr/>
        </p:nvSpPr>
        <p:spPr>
          <a:xfrm>
            <a:off x="2364092" y="3284025"/>
            <a:ext cx="291300" cy="4896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/>
          <p:nvPr/>
        </p:nvSpPr>
        <p:spPr>
          <a:xfrm>
            <a:off x="2179863" y="4120050"/>
            <a:ext cx="291300" cy="4896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 txBox="1"/>
          <p:nvPr/>
        </p:nvSpPr>
        <p:spPr>
          <a:xfrm>
            <a:off x="1950656" y="1663607"/>
            <a:ext cx="16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4"/>
          <p:cNvSpPr txBox="1"/>
          <p:nvPr/>
        </p:nvSpPr>
        <p:spPr>
          <a:xfrm>
            <a:off x="2425006" y="3313282"/>
            <a:ext cx="16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4"/>
          <p:cNvSpPr txBox="1"/>
          <p:nvPr/>
        </p:nvSpPr>
        <p:spPr>
          <a:xfrm>
            <a:off x="2240781" y="4145707"/>
            <a:ext cx="16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4"/>
          <p:cNvSpPr txBox="1"/>
          <p:nvPr/>
        </p:nvSpPr>
        <p:spPr>
          <a:xfrm>
            <a:off x="1950656" y="2477657"/>
            <a:ext cx="16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928" name="Google Shape;928;p75"/>
          <p:cNvSpPr txBox="1"/>
          <p:nvPr>
            <p:ph type="body" idx="1"/>
          </p:nvPr>
        </p:nvSpPr>
        <p:spPr>
          <a:xfrm>
            <a:off x="324000" y="6831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>
                <a:solidFill>
                  <a:schemeClr val="accent4"/>
                </a:solidFill>
              </a:rPr>
              <a:t>same</a:t>
            </a:r>
            <a:r>
              <a:rPr lang="en-GB" sz="2000"/>
              <a:t> and what is </a:t>
            </a:r>
            <a:r>
              <a:rPr lang="en-GB" sz="2000">
                <a:solidFill>
                  <a:schemeClr val="accent4"/>
                </a:solidFill>
              </a:rPr>
              <a:t>different</a:t>
            </a:r>
            <a:r>
              <a:rPr lang="en-GB" sz="2000"/>
              <a:t> about these two calculations?</a:t>
            </a:r>
            <a:endParaRPr sz="2000"/>
          </a:p>
        </p:txBody>
      </p:sp>
      <p:pic>
        <p:nvPicPr>
          <p:cNvPr id="929" name="Google Shape;929;p75" descr="&lt;math xmlns=&quot;http://www.w3.org/1998/Math/MathML&quot; display=&quot;block&quot; data-is-equatio=&quot;1&quot; data-latex=&quot;\frac{1}{3}\times4&quot;&gt;&lt;mfrac&gt;&lt;mn&gt;1&lt;/mn&gt;&lt;mn&gt;3&lt;/mn&gt;&lt;/mfrac&gt;&lt;mo&gt;×&lt;/mo&gt;&lt;mn&gt;4&lt;/mn&gt;&lt;/math&gt;" title="one third time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00" y="3273823"/>
            <a:ext cx="602365" cy="5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5" descr="&lt;math xmlns=&quot;http://www.w3.org/1998/Math/MathML&quot; display=&quot;block&quot; data-is-equatio=&quot;1&quot; data-latex=&quot;4\times\frac{1}{3}&quot;&gt;&lt;mn&gt;4&lt;/mn&gt;&lt;mo&gt;×&lt;/mo&gt;&lt;mfrac&gt;&lt;mn&gt;1&lt;/mn&gt;&lt;mn&gt;3&lt;/mn&gt;&lt;/mfrac&gt;&lt;/math&gt;" title="4 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48" y="1756509"/>
            <a:ext cx="606277" cy="543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1" name="Google Shape;931;p75"/>
          <p:cNvGraphicFramePr>
            <a:graphicFrameLocks noGrp="1"/>
          </p:cNvGraphicFramePr>
          <p:nvPr/>
        </p:nvGraphicFramePr>
        <p:xfrm>
          <a:off x="1684800" y="17750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{13D27A61-589C-43CB-BF33-4BDAF8CF8F17}</a:tableStyleId>
              </a:tblPr>
              <a:tblGrid>
                <a:gridCol w="489575"/>
                <a:gridCol w="489575"/>
                <a:gridCol w="489575"/>
                <a:gridCol w="489575"/>
                <a:gridCol w="489575"/>
                <a:gridCol w="489575"/>
                <a:gridCol w="489575"/>
                <a:gridCol w="489575"/>
                <a:gridCol w="489575"/>
                <a:gridCol w="489575"/>
                <a:gridCol w="489575"/>
                <a:gridCol w="489575"/>
              </a:tblGrid>
              <a:tr h="510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graphicFrame>
        <p:nvGraphicFramePr>
          <p:cNvPr id="932" name="Google Shape;932;p75"/>
          <p:cNvGraphicFramePr>
            <a:graphicFrameLocks noGrp="1"/>
          </p:cNvGraphicFramePr>
          <p:nvPr/>
        </p:nvGraphicFramePr>
        <p:xfrm>
          <a:off x="1684800" y="2550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{13D27A61-589C-43CB-BF33-4BDAF8CF8F17}</a:tableStyleId>
              </a:tblPr>
              <a:tblGrid>
                <a:gridCol w="1468725"/>
                <a:gridCol w="1468725"/>
                <a:gridCol w="1468725"/>
                <a:gridCol w="1468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graphicFrame>
        <p:nvGraphicFramePr>
          <p:cNvPr id="933" name="Google Shape;933;p75"/>
          <p:cNvGraphicFramePr>
            <a:graphicFrameLocks noGrp="1"/>
          </p:cNvGraphicFramePr>
          <p:nvPr/>
        </p:nvGraphicFramePr>
        <p:xfrm>
          <a:off x="1684800" y="329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{13D27A61-589C-43CB-BF33-4BDAF8CF8F17}</a:tableStyleId>
              </a:tblPr>
              <a:tblGrid>
                <a:gridCol w="1468725"/>
                <a:gridCol w="1468725"/>
                <a:gridCol w="1468725"/>
                <a:gridCol w="1468725"/>
              </a:tblGrid>
              <a:tr h="518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graphicFrame>
        <p:nvGraphicFramePr>
          <p:cNvPr id="934" name="Google Shape;934;p75"/>
          <p:cNvGraphicFramePr>
            <a:graphicFrameLocks noGrp="1"/>
          </p:cNvGraphicFramePr>
          <p:nvPr/>
        </p:nvGraphicFramePr>
        <p:xfrm>
          <a:off x="1684800" y="2554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{13D27A61-589C-43CB-BF33-4BDAF8CF8F17}</a:tableStyleId>
              </a:tblPr>
              <a:tblGrid>
                <a:gridCol w="1958300"/>
                <a:gridCol w="1958300"/>
                <a:gridCol w="1958300"/>
              </a:tblGrid>
              <a:tr h="510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35" name="Google Shape;935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8093" y="1802789"/>
            <a:ext cx="136825" cy="4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4793" y="1817802"/>
            <a:ext cx="136825" cy="4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5601" y="1792189"/>
            <a:ext cx="136825" cy="4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2301" y="1807202"/>
            <a:ext cx="136825" cy="452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9" name="Google Shape;939;p75"/>
          <p:cNvGrpSpPr/>
          <p:nvPr/>
        </p:nvGrpSpPr>
        <p:grpSpPr>
          <a:xfrm>
            <a:off x="1913500" y="1117590"/>
            <a:ext cx="2392500" cy="543700"/>
            <a:chOff x="4572000" y="1121702"/>
            <a:chExt cx="2392500" cy="543700"/>
          </a:xfrm>
        </p:grpSpPr>
        <p:sp>
          <p:nvSpPr>
            <p:cNvPr id="940" name="Google Shape;940;p75"/>
            <p:cNvSpPr txBox="1"/>
            <p:nvPr/>
          </p:nvSpPr>
          <p:spPr>
            <a:xfrm>
              <a:off x="4572000" y="1188125"/>
              <a:ext cx="23925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 ‘lots of’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1" name="Google Shape;941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63125" y="1121702"/>
              <a:ext cx="164266" cy="543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42" name="Google Shape;942;p75"/>
          <p:cNvCxnSpPr/>
          <p:nvPr/>
        </p:nvCxnSpPr>
        <p:spPr>
          <a:xfrm rot="10800000">
            <a:off x="877925" y="3706925"/>
            <a:ext cx="1271400" cy="61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43" name="Google Shape;943;p75"/>
          <p:cNvGrpSpPr/>
          <p:nvPr/>
        </p:nvGrpSpPr>
        <p:grpSpPr>
          <a:xfrm>
            <a:off x="1753500" y="4264502"/>
            <a:ext cx="797875" cy="543700"/>
            <a:chOff x="2534575" y="4583877"/>
            <a:chExt cx="797875" cy="543700"/>
          </a:xfrm>
        </p:grpSpPr>
        <p:sp>
          <p:nvSpPr>
            <p:cNvPr id="944" name="Google Shape;944;p75"/>
            <p:cNvSpPr txBox="1"/>
            <p:nvPr/>
          </p:nvSpPr>
          <p:spPr>
            <a:xfrm>
              <a:off x="2775050" y="4652400"/>
              <a:ext cx="5574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of 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5" name="Google Shape;945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34575" y="4583877"/>
              <a:ext cx="164266" cy="5437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946" name="Google Shape;946;p75"/>
          <p:cNvGraphicFramePr>
            <a:graphicFrameLocks noGrp="1"/>
          </p:cNvGraphicFramePr>
          <p:nvPr/>
        </p:nvGraphicFramePr>
        <p:xfrm>
          <a:off x="1684800" y="330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{13D27A61-589C-43CB-BF33-4BDAF8CF8F17}</a:tableStyleId>
              </a:tblPr>
              <a:tblGrid>
                <a:gridCol w="1958300"/>
                <a:gridCol w="1958300"/>
                <a:gridCol w="1958300"/>
              </a:tblGrid>
              <a:tr h="510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47" name="Google Shape;947;p75" descr="&lt;math xmlns=&quot;http://www.w3.org/1998/Math/MathML&quot; display=&quot;block&quot; data-is-equatio=&quot;1&quot; data-latex=&quot;1\frac{1}{3}&quot;&gt;&lt;mn&gt;1&lt;/mn&gt;&lt;mfrac&gt;&lt;mn&gt;1&lt;/mn&gt;&lt;mn&gt;3&lt;/mn&gt;&lt;/mfrac&gt;&lt;/math&gt;" title="1 and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3663" y="4042875"/>
            <a:ext cx="338883" cy="61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8" name="Google Shape;948;p75"/>
          <p:cNvCxnSpPr/>
          <p:nvPr/>
        </p:nvCxnSpPr>
        <p:spPr>
          <a:xfrm flipH="1">
            <a:off x="3643100" y="1440300"/>
            <a:ext cx="0" cy="2606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sp>
        <p:nvSpPr>
          <p:cNvPr id="953" name="Google Shape;95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954" name="Google Shape;954;p76"/>
          <p:cNvSpPr txBox="1"/>
          <p:nvPr>
            <p:ph type="body" idx="1"/>
          </p:nvPr>
        </p:nvSpPr>
        <p:spPr>
          <a:xfrm>
            <a:off x="324000" y="759300"/>
            <a:ext cx="84960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Lucas and Sam have been given this fact from their teacher.</a:t>
            </a:r>
            <a:endParaRPr/>
          </a:p>
        </p:txBody>
      </p:sp>
      <p:sp>
        <p:nvSpPr>
          <p:cNvPr id="955" name="Google Shape;955;p76"/>
          <p:cNvSpPr txBox="1"/>
          <p:nvPr/>
        </p:nvSpPr>
        <p:spPr>
          <a:xfrm>
            <a:off x="457795" y="4530034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6" name="Google Shape;95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91" y="3671621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94613" y="3547831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6"/>
          <p:cNvSpPr txBox="1"/>
          <p:nvPr/>
        </p:nvSpPr>
        <p:spPr>
          <a:xfrm>
            <a:off x="7790200" y="4542668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9" name="Google Shape;959;p76" descr="&lt;math xmlns=&quot;http://www.w3.org/1998/Math/MathML&quot; display=&quot;block&quot; data-is-equatio=&quot;1&quot; data-latex=&quot;\frac{8}{15}\times\frac{465}{500}=\frac{248}{500}&quot;&gt;&lt;mfrac&gt;&lt;mn&gt;8&lt;/mn&gt;&lt;mn&gt;15&lt;/mn&gt;&lt;/mfrac&gt;&lt;mo&gt;×&lt;/mo&gt;&lt;mfrac&gt;&lt;mn&gt;465&lt;/mn&gt;&lt;mn&gt;500&lt;/mn&gt;&lt;/mfrac&gt;&lt;mo&gt;=&lt;/mo&gt;&lt;mfrac&gt;&lt;mn&gt;248&lt;/mn&gt;&lt;mn&gt;500&lt;/mn&gt;&lt;/mfrac&gt;&lt;/math&gt;" title="8 over 15 times 465 over 500 equals 248 over 5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725" y="1210625"/>
            <a:ext cx="1995400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6"/>
          <p:cNvPicPr preferRelativeResize="0"/>
          <p:nvPr/>
        </p:nvPicPr>
        <p:blipFill>
          <a:blip r:embed="rId6">
            <a:alphaModFix/>
          </a:blip>
          <a:srcRect t="56280" r="69082"/>
          <a:stretch>
            <a:fillRect/>
          </a:stretch>
        </p:blipFill>
        <p:spPr>
          <a:xfrm>
            <a:off x="5765425" y="3003750"/>
            <a:ext cx="1752376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6"/>
          <p:cNvSpPr txBox="1"/>
          <p:nvPr/>
        </p:nvSpPr>
        <p:spPr>
          <a:xfrm>
            <a:off x="5886389" y="3182250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did you do that so quickly?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2" name="Google Shape;962;p76"/>
          <p:cNvGrpSpPr/>
          <p:nvPr/>
        </p:nvGrpSpPr>
        <p:grpSpPr>
          <a:xfrm>
            <a:off x="1169400" y="2503825"/>
            <a:ext cx="1955251" cy="1316250"/>
            <a:chOff x="-676525" y="1443613"/>
            <a:chExt cx="1955251" cy="1316250"/>
          </a:xfrm>
        </p:grpSpPr>
        <p:pic>
          <p:nvPicPr>
            <p:cNvPr id="963" name="Google Shape;963;p76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-676525" y="1443613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76"/>
            <p:cNvSpPr txBox="1"/>
            <p:nvPr/>
          </p:nvSpPr>
          <p:spPr>
            <a:xfrm>
              <a:off x="-517723" y="1627411"/>
              <a:ext cx="1457700" cy="3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know that 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65" name="Google Shape;965;p76" descr="&lt;math xmlns=&quot;http://www.w3.org/1998/Math/MathML&quot; display=&quot;block&quot; data-is-equatio=&quot;1&quot; data-latex=&quot;\frac{4}{15}\times\frac{465}{500}=\frac{124}{500}&quot;&gt;&lt;mfrac&gt;&lt;mn&gt;4&lt;/mn&gt;&lt;mn&gt;15&lt;/mn&gt;&lt;/mfrac&gt;&lt;mo&gt;×&lt;/mo&gt;&lt;mfrac&gt;&lt;mn&gt;465&lt;/mn&gt;&lt;mn&gt;500&lt;/mn&gt;&lt;/mfrac&gt;&lt;mo&gt;=&lt;/mo&gt;&lt;mfrac&gt;&lt;mn&gt;124&lt;/mn&gt;&lt;mn&gt;500&lt;/mn&gt;&lt;/mfrac&gt;&lt;/math&gt;" title="4 over 15 times 465 over 500 equals 124 over 5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527206" y="2018415"/>
              <a:ext cx="1715727" cy="501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6" name="Google Shape;966;p76"/>
          <p:cNvPicPr preferRelativeResize="0"/>
          <p:nvPr/>
        </p:nvPicPr>
        <p:blipFill>
          <a:blip r:embed="rId6">
            <a:alphaModFix/>
          </a:blip>
          <a:srcRect t="56280" r="69082"/>
          <a:stretch>
            <a:fillRect/>
          </a:stretch>
        </p:blipFill>
        <p:spPr>
          <a:xfrm flipH="1">
            <a:off x="995699" y="2408913"/>
            <a:ext cx="2423501" cy="1502387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6"/>
          <p:cNvSpPr txBox="1"/>
          <p:nvPr/>
        </p:nvSpPr>
        <p:spPr>
          <a:xfrm>
            <a:off x="1179900" y="2684875"/>
            <a:ext cx="21447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know that      is half of      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8" name="Google Shape;968;p76" descr="&lt;math xmlns=&quot;http://www.w3.org/1998/Math/MathML&quot; display=&quot;block&quot; data-is-equatio=&quot;1&quot; data-latex=&quot;\frac{4}{15}\ \frac{8}{15}&quot;&gt;&lt;mfrac&gt;&lt;mn&gt;4&lt;/mn&gt;&lt;mn&gt;15&lt;/mn&gt;&lt;/mfrac&gt;&lt;mtext&gt;&lt;/mtext&gt;&lt;mfrac&gt;&lt;mn&gt;8&lt;/mn&gt;&lt;mn&gt;15&lt;/mn&gt;&lt;/mfrac&gt;&lt;/math&gt;" title="4 over 15 8 over 15"/>
          <p:cNvPicPr preferRelativeResize="0"/>
          <p:nvPr/>
        </p:nvPicPr>
        <p:blipFill>
          <a:blip r:embed="rId8">
            <a:alphaModFix/>
          </a:blip>
          <a:srcRect r="55355"/>
          <a:stretch>
            <a:fillRect/>
          </a:stretch>
        </p:blipFill>
        <p:spPr>
          <a:xfrm>
            <a:off x="2932188" y="2587350"/>
            <a:ext cx="267961" cy="457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6" descr="&lt;math xmlns=&quot;http://www.w3.org/1998/Math/MathML&quot; display=&quot;block&quot; data-is-equatio=&quot;1&quot; data-latex=&quot;\frac{4}{15}\ \frac{8}{15}&quot;&gt;&lt;mfrac&gt;&lt;mn&gt;4&lt;/mn&gt;&lt;mn&gt;15&lt;/mn&gt;&lt;/mfrac&gt;&lt;mtext&gt;&lt;/mtext&gt;&lt;mfrac&gt;&lt;mn&gt;8&lt;/mn&gt;&lt;mn&gt;15&lt;/mn&gt;&lt;/mfrac&gt;&lt;/math&gt;" title="4 over 15 8 over 15"/>
          <p:cNvPicPr preferRelativeResize="0"/>
          <p:nvPr/>
        </p:nvPicPr>
        <p:blipFill>
          <a:blip r:embed="rId8">
            <a:alphaModFix/>
          </a:blip>
          <a:srcRect l="55355"/>
          <a:stretch>
            <a:fillRect/>
          </a:stretch>
        </p:blipFill>
        <p:spPr>
          <a:xfrm>
            <a:off x="2315364" y="3045061"/>
            <a:ext cx="267961" cy="457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76"/>
          <p:cNvPicPr preferRelativeResize="0"/>
          <p:nvPr/>
        </p:nvPicPr>
        <p:blipFill>
          <a:blip r:embed="rId6">
            <a:alphaModFix/>
          </a:blip>
          <a:srcRect t="56280" r="69082"/>
          <a:stretch>
            <a:fillRect/>
          </a:stretch>
        </p:blipFill>
        <p:spPr>
          <a:xfrm>
            <a:off x="5373071" y="2257688"/>
            <a:ext cx="2144732" cy="2195768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6"/>
          <p:cNvSpPr txBox="1"/>
          <p:nvPr/>
        </p:nvSpPr>
        <p:spPr>
          <a:xfrm>
            <a:off x="5553407" y="2531999"/>
            <a:ext cx="1784100" cy="12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So, it must be half of        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 you were right.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2" name="Google Shape;972;p76" descr="&lt;math xmlns=&quot;http://www.w3.org/1998/Math/MathML&quot; display=&quot;block&quot; data-is-equatio=&quot;1&quot; data-latex=&quot;\frac{8}{15}\times\frac{465}{500}=\frac{248}{500}&quot;&gt;&lt;mfrac&gt;&lt;mn&gt;8&lt;/mn&gt;&lt;mn&gt;15&lt;/mn&gt;&lt;/mfrac&gt;&lt;mo&gt;×&lt;/mo&gt;&lt;mfrac&gt;&lt;mn&gt;465&lt;/mn&gt;&lt;mn&gt;500&lt;/mn&gt;&lt;/mfrac&gt;&lt;mo&gt;=&lt;/mo&gt;&lt;mfrac&gt;&lt;mn&gt;248&lt;/mn&gt;&lt;mn&gt;500&lt;/mn&gt;&lt;/mfrac&gt;&lt;/math&gt;" title="8 over 15 times 465 over 500 equals 248 over 500"/>
          <p:cNvPicPr preferRelativeResize="0"/>
          <p:nvPr/>
        </p:nvPicPr>
        <p:blipFill>
          <a:blip r:embed="rId5">
            <a:alphaModFix/>
          </a:blip>
          <a:srcRect l="73778"/>
          <a:stretch>
            <a:fillRect/>
          </a:stretch>
        </p:blipFill>
        <p:spPr>
          <a:xfrm>
            <a:off x="6356088" y="2825812"/>
            <a:ext cx="463549" cy="5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p77"/>
          <p:cNvSpPr/>
          <p:nvPr/>
        </p:nvSpPr>
        <p:spPr>
          <a:xfrm>
            <a:off x="4377825" y="1598325"/>
            <a:ext cx="1977300" cy="637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979" name="Google Shape;979;p77"/>
          <p:cNvSpPr txBox="1"/>
          <p:nvPr>
            <p:ph type="body" idx="1"/>
          </p:nvPr>
        </p:nvSpPr>
        <p:spPr>
          <a:xfrm>
            <a:off x="324000" y="1268992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Write down as many different products as you can using this fact.</a:t>
            </a:r>
            <a:endParaRPr sz="1800"/>
          </a:p>
        </p:txBody>
      </p:sp>
      <p:sp>
        <p:nvSpPr>
          <p:cNvPr id="980" name="Google Shape;980;p77"/>
          <p:cNvSpPr txBox="1"/>
          <p:nvPr>
            <p:ph type="body" idx="1"/>
          </p:nvPr>
        </p:nvSpPr>
        <p:spPr>
          <a:xfrm>
            <a:off x="324000" y="1609676"/>
            <a:ext cx="549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81" name="Google Shape;981;p77" descr="&lt;math xmlns=&quot;http://www.w3.org/1998/Math/MathML&quot; display=&quot;block&quot; data-is-equatio=&quot;1&quot; data-latex=&quot;\frac{8}{25}\times\frac{335}{500}=\frac{268}{1250}&quot;&gt;&lt;mfrac&gt;&lt;mn&gt;8&lt;/mn&gt;&lt;mn&gt;25&lt;/mn&gt;&lt;/mfrac&gt;&lt;mo&gt;×&lt;/mo&gt;&lt;mfrac&gt;&lt;mn&gt;335&lt;/mn&gt;&lt;mn&gt;500&lt;/mn&gt;&lt;/mfrac&gt;&lt;mo&gt;=&lt;/mo&gt;&lt;mfrac&gt;&lt;mn&gt;268&lt;/mn&gt;&lt;mn&gt;1250&lt;/mn&gt;&lt;/mfrac&gt;&lt;/math&gt;" title="8 over 25 times 335 over 500 equals 268 over 1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942" y="657600"/>
            <a:ext cx="2011068" cy="550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77" descr="&lt;math xmlns=&quot;http://www.w3.org/1998/Math/MathML&quot; display=&quot;block&quot; data-is-equatio=&quot;1&quot; data-latex=&quot;\frac{4}{25}\times\frac{335}{500}=\frac{134}{1250}&quot;&gt;&lt;mfrac&gt;&lt;mn&gt;4&lt;/mn&gt;&lt;mn&gt;25&lt;/mn&gt;&lt;/mfrac&gt;&lt;mo&gt;×&lt;/mo&gt;&lt;mfrac&gt;&lt;mn&gt;335&lt;/mn&gt;&lt;mn&gt;500&lt;/mn&gt;&lt;/mfrac&gt;&lt;mo&gt;=&lt;/mo&gt;&lt;mfrac&gt;&lt;mn&gt;134&lt;/mn&gt;&lt;mn&gt;1250&lt;/mn&gt;&lt;/mfrac&gt;&lt;/math&gt;" title="4 over 25 times 335 over 500 equals 134 over 12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000" y="1669931"/>
            <a:ext cx="1854548" cy="50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77" descr="&lt;math xmlns=&quot;http://www.w3.org/1998/Math/MathML&quot; display=&quot;block&quot; data-is-equatio=&quot;1&quot; data-latex=&quot;\frac{2}{25}\times\frac{335}{500}=\frac{67}{1250}&quot;&gt;&lt;mfrac&gt;&lt;mn&gt;2&lt;/mn&gt;&lt;mn&gt;25&lt;/mn&gt;&lt;/mfrac&gt;&lt;mo&gt;×&lt;/mo&gt;&lt;mfrac&gt;&lt;mn&gt;335&lt;/mn&gt;&lt;mn&gt;500&lt;/mn&gt;&lt;/mfrac&gt;&lt;mo&gt;=&lt;/mo&gt;&lt;mfrac&gt;&lt;mn&gt;67&lt;/mn&gt;&lt;mn&gt;1250&lt;/mn&gt;&lt;/mfrac&gt;&lt;/math&gt;" title="2 over 25 times 335 over 500 equals 67 over 12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257" y="2535726"/>
            <a:ext cx="1851291" cy="50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7" descr="&lt;math xmlns=&quot;http://www.w3.org/1998/Math/MathML&quot; display=&quot;block&quot; data-is-equatio=&quot;1&quot; data-latex=&quot;\frac{16}{25}\times\frac{335}{500}=\frac{536}{1250}&quot;&gt;&lt;mfrac&gt;&lt;mn&gt;16&lt;/mn&gt;&lt;mn&gt;25&lt;/mn&gt;&lt;/mfrac&gt;&lt;mo&gt;×&lt;/mo&gt;&lt;mfrac&gt;&lt;mn&gt;335&lt;/mn&gt;&lt;mn&gt;500&lt;/mn&gt;&lt;/mfrac&gt;&lt;mo&gt;=&lt;/mo&gt;&lt;mfrac&gt;&lt;mn&gt;536&lt;/mn&gt;&lt;mn&gt;1250&lt;/mn&gt;&lt;/mfrac&gt;&lt;/math&gt;" title="16 over 25 times 335 over 500 equals 536 over 12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264" y="3400629"/>
            <a:ext cx="1839284" cy="5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77" descr="&lt;math xmlns=&quot;http://www.w3.org/1998/Math/MathML&quot; display=&quot;block&quot; data-is-equatio=&quot;1&quot; data-latex=&quot;\frac{20}{25}\times\frac{335}{500}=\frac{670}{1250}&quot;&gt;&lt;mfrac&gt;&lt;mn&gt;20&lt;/mn&gt;&lt;mn&gt;25&lt;/mn&gt;&lt;/mfrac&gt;&lt;mo&gt;×&lt;/mo&gt;&lt;mfrac&gt;&lt;mn&gt;335&lt;/mn&gt;&lt;mn&gt;500&lt;/mn&gt;&lt;/mfrac&gt;&lt;mo&gt;=&lt;/mo&gt;&lt;mfrac&gt;&lt;mn&gt;670&lt;/mn&gt;&lt;mn&gt;1250&lt;/mn&gt;&lt;/mfrac&gt;&lt;/math&gt;" title="20 over 25 times 335 over 500 equals 670 over 12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0076" y="1669931"/>
            <a:ext cx="1854548" cy="50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77" descr="&lt;math xmlns=&quot;http://www.w3.org/1998/Math/MathML&quot; display=&quot;block&quot; data-is-equatio=&quot;1&quot; data-latex=&quot;\frac{32}{25}\times\frac{335}{500}=\frac{1072}{1250}&quot;&gt;&lt;mfrac&gt;&lt;mn&gt;32&lt;/mn&gt;&lt;mn&gt;25&lt;/mn&gt;&lt;/mfrac&gt;&lt;mo&gt;×&lt;/mo&gt;&lt;mfrac&gt;&lt;mn&gt;335&lt;/mn&gt;&lt;mn&gt;500&lt;/mn&gt;&lt;/mfrac&gt;&lt;mo&gt;=&lt;/mo&gt;&lt;mfrac&gt;&lt;mn&gt;1072&lt;/mn&gt;&lt;mn&gt;1250&lt;/mn&gt;&lt;/mfrac&gt;&lt;/math&gt;" title="32 over 25 times 335 over 500 equals 1072 over 12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4000" y="4262608"/>
            <a:ext cx="1854548" cy="5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77"/>
          <p:cNvSpPr txBox="1"/>
          <p:nvPr>
            <p:ph type="body" idx="1"/>
          </p:nvPr>
        </p:nvSpPr>
        <p:spPr>
          <a:xfrm>
            <a:off x="3498800" y="2650871"/>
            <a:ext cx="3269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did I find this one? </a:t>
            </a:r>
            <a:endParaRPr sz="1800"/>
          </a:p>
        </p:txBody>
      </p:sp>
      <p:cxnSp>
        <p:nvCxnSpPr>
          <p:cNvPr id="988" name="Google Shape;988;p77"/>
          <p:cNvCxnSpPr/>
          <p:nvPr/>
        </p:nvCxnSpPr>
        <p:spPr>
          <a:xfrm rot="10800000" flipH="1">
            <a:off x="4236375" y="2330850"/>
            <a:ext cx="392100" cy="270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89" name="Google Shape;989;p77"/>
          <p:cNvSpPr txBox="1"/>
          <p:nvPr>
            <p:ph type="body" idx="1"/>
          </p:nvPr>
        </p:nvSpPr>
        <p:spPr>
          <a:xfrm>
            <a:off x="3515912" y="3223256"/>
            <a:ext cx="4009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found the sum of       and      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90" name="Google Shape;990;p77" descr="&lt;math xmlns=&quot;http://www.w3.org/1998/Math/MathML&quot; display=&quot;block&quot; data-is-equatio=&quot;1&quot; data-latex=&quot;\frac{4}{25}\times\frac{335}{500}=\frac{134}{1250}&quot;&gt;&lt;mfrac&gt;&lt;mn&gt;4&lt;/mn&gt;&lt;mn&gt;25&lt;/mn&gt;&lt;/mfrac&gt;&lt;mo&gt;×&lt;/mo&gt;&lt;mfrac&gt;&lt;mn&gt;335&lt;/mn&gt;&lt;mn&gt;500&lt;/mn&gt;&lt;/mfrac&gt;&lt;mo&gt;=&lt;/mo&gt;&lt;mfrac&gt;&lt;mn&gt;134&lt;/mn&gt;&lt;mn&gt;1250&lt;/mn&gt;&lt;/mfrac&gt;&lt;/math&gt;" title="4 over 25 times 335 over 500 equals 134 over 1250"/>
          <p:cNvPicPr preferRelativeResize="0"/>
          <p:nvPr/>
        </p:nvPicPr>
        <p:blipFill>
          <a:blip r:embed="rId4">
            <a:alphaModFix/>
          </a:blip>
          <a:srcRect l="70787"/>
          <a:stretch>
            <a:fillRect/>
          </a:stretch>
        </p:blipFill>
        <p:spPr>
          <a:xfrm>
            <a:off x="5703854" y="3138049"/>
            <a:ext cx="462871" cy="43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7" descr="&lt;math xmlns=&quot;http://www.w3.org/1998/Math/MathML&quot; display=&quot;block&quot; data-is-equatio=&quot;1&quot; data-latex=&quot;\frac{16}{25}\times\frac{335}{500}=\frac{536}{1250}&quot;&gt;&lt;mfrac&gt;&lt;mn&gt;16&lt;/mn&gt;&lt;mn&gt;25&lt;/mn&gt;&lt;/mfrac&gt;&lt;mo&gt;×&lt;/mo&gt;&lt;mfrac&gt;&lt;mn&gt;335&lt;/mn&gt;&lt;mn&gt;500&lt;/mn&gt;&lt;/mfrac&gt;&lt;mo&gt;=&lt;/mo&gt;&lt;mfrac&gt;&lt;mn&gt;536&lt;/mn&gt;&lt;mn&gt;1250&lt;/mn&gt;&lt;/mfrac&gt;&lt;/math&gt;" title="16 over 25 times 335 over 500 equals 536 over 1250"/>
          <p:cNvPicPr preferRelativeResize="0"/>
          <p:nvPr/>
        </p:nvPicPr>
        <p:blipFill>
          <a:blip r:embed="rId6">
            <a:alphaModFix/>
          </a:blip>
          <a:srcRect l="68417"/>
          <a:stretch>
            <a:fillRect/>
          </a:stretch>
        </p:blipFill>
        <p:spPr>
          <a:xfrm>
            <a:off x="6739594" y="3139698"/>
            <a:ext cx="496307" cy="4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7"/>
          <p:cNvSpPr txBox="1"/>
          <p:nvPr>
            <p:ph type="body" idx="1"/>
          </p:nvPr>
        </p:nvSpPr>
        <p:spPr>
          <a:xfrm>
            <a:off x="3498800" y="3795640"/>
            <a:ext cx="3737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Why did I find the sum of those? </a:t>
            </a:r>
            <a:endParaRPr sz="1800"/>
          </a:p>
        </p:txBody>
      </p:sp>
      <p:sp>
        <p:nvSpPr>
          <p:cNvPr id="993" name="Google Shape;993;p77"/>
          <p:cNvSpPr txBox="1"/>
          <p:nvPr>
            <p:ph type="body" idx="1"/>
          </p:nvPr>
        </p:nvSpPr>
        <p:spPr>
          <a:xfrm>
            <a:off x="3498798" y="4368025"/>
            <a:ext cx="4811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they were the products for    and    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94" name="Google Shape;994;p77" descr="&lt;math xmlns=&quot;http://www.w3.org/1998/Math/MathML&quot; display=&quot;block&quot; data-is-equatio=&quot;1&quot; data-latex=&quot;\frac{4}{25}\times\frac{335}{500}=\frac{134}{1250}&quot;&gt;&lt;mfrac&gt;&lt;mn&gt;4&lt;/mn&gt;&lt;mn&gt;25&lt;/mn&gt;&lt;/mfrac&gt;&lt;mo&gt;×&lt;/mo&gt;&lt;mfrac&gt;&lt;mn&gt;335&lt;/mn&gt;&lt;mn&gt;500&lt;/mn&gt;&lt;/mfrac&gt;&lt;mo&gt;=&lt;/mo&gt;&lt;mfrac&gt;&lt;mn&gt;134&lt;/mn&gt;&lt;mn&gt;1250&lt;/mn&gt;&lt;/mfrac&gt;&lt;/math&gt;" title="4 over 25 times 335 over 500 equals 134 over 1250"/>
          <p:cNvPicPr preferRelativeResize="0"/>
          <p:nvPr/>
        </p:nvPicPr>
        <p:blipFill>
          <a:blip r:embed="rId4">
            <a:alphaModFix/>
          </a:blip>
          <a:srcRect r="81713"/>
          <a:stretch>
            <a:fillRect/>
          </a:stretch>
        </p:blipFill>
        <p:spPr>
          <a:xfrm>
            <a:off x="6818188" y="4306350"/>
            <a:ext cx="339125" cy="5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77" descr="&lt;math xmlns=&quot;http://www.w3.org/1998/Math/MathML&quot; display=&quot;block&quot; data-is-equatio=&quot;1&quot; data-latex=&quot;\frac{16}{25}\times\frac{335}{500}=\frac{536}{1250}&quot;&gt;&lt;mfrac&gt;&lt;mn&gt;16&lt;/mn&gt;&lt;mn&gt;25&lt;/mn&gt;&lt;/mfrac&gt;&lt;mo&gt;×&lt;/mo&gt;&lt;mfrac&gt;&lt;mn&gt;335&lt;/mn&gt;&lt;mn&gt;500&lt;/mn&gt;&lt;/mfrac&gt;&lt;mo&gt;=&lt;/mo&gt;&lt;mfrac&gt;&lt;mn&gt;536&lt;/mn&gt;&lt;mn&gt;1250&lt;/mn&gt;&lt;/mfrac&gt;&lt;/math&gt;" title="16 over 25 times 335 over 500 equals 536 over 1250"/>
          <p:cNvPicPr preferRelativeResize="0"/>
          <p:nvPr/>
        </p:nvPicPr>
        <p:blipFill>
          <a:blip r:embed="rId6">
            <a:alphaModFix/>
          </a:blip>
          <a:srcRect r="81563"/>
          <a:stretch>
            <a:fillRect/>
          </a:stretch>
        </p:blipFill>
        <p:spPr>
          <a:xfrm>
            <a:off x="7615291" y="4310175"/>
            <a:ext cx="339100" cy="5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p7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01" name="Google Shape;1001;p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Given that                               which of the following are true?</a:t>
            </a:r>
            <a:endParaRPr sz="1800"/>
          </a:p>
        </p:txBody>
      </p:sp>
      <p:pic>
        <p:nvPicPr>
          <p:cNvPr id="1002" name="Google Shape;1002;p78" descr="&lt;math xmlns=&quot;http://www.w3.org/1998/Math/MathML&quot; display=&quot;block&quot; data-is-equatio=&quot;1&quot; data-latex=&quot;\frac{8}{35}\times\frac{175}{600}=\frac{140}{2100}&quot;&gt;&lt;mfrac&gt;&lt;mn&gt;8&lt;/mn&gt;&lt;mn&gt;35&lt;/mn&gt;&lt;/mfrac&gt;&lt;mo&gt;×&lt;/mo&gt;&lt;mfrac&gt;&lt;mn&gt;175&lt;/mn&gt;&lt;mn&gt;600&lt;/mn&gt;&lt;/mfrac&gt;&lt;mo&gt;=&lt;/mo&gt;&lt;mfrac&gt;&lt;mn&gt;140&lt;/mn&gt;&lt;mn&gt;2100&lt;/mn&gt;&lt;/mfrac&gt;&lt;/math&gt;" title="8 over 35 times 175 over 600 equals 140 over 2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350" y="763400"/>
            <a:ext cx="1789126" cy="4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78" descr="&lt;math xmlns=&quot;http://www.w3.org/1998/Math/MathML&quot; display=&quot;block&quot; data-is-equatio=&quot;1&quot; data-latex=&quot;\frac{4}{35}\times\frac{175}{600}=\frac{70}{2100}&quot;&gt;&lt;mfrac&gt;&lt;mn&gt;4&lt;/mn&gt;&lt;mn&gt;35&lt;/mn&gt;&lt;/mfrac&gt;&lt;mo&gt;×&lt;/mo&gt;&lt;mfrac&gt;&lt;mn&gt;175&lt;/mn&gt;&lt;mn&gt;600&lt;/mn&gt;&lt;/mfrac&gt;&lt;mo&gt;=&lt;/mo&gt;&lt;mfrac&gt;&lt;mn&gt;70&lt;/mn&gt;&lt;mn&gt;2100&lt;/mn&gt;&lt;/mfrac&gt;&lt;/math&gt;" title="4 over 35 times 175 over 600 equals 70 over 2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400" y="1620000"/>
            <a:ext cx="1948717" cy="533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78" descr="&lt;math xmlns=&quot;http://www.w3.org/1998/Math/MathML&quot; display=&quot;block&quot; data-is-equatio=&quot;1&quot; data-latex=&quot;\frac{16}{35}\times\frac{175}{600}=\frac{280}{4200}&quot;&gt;&lt;mfrac&gt;&lt;mn&gt;16&lt;/mn&gt;&lt;mn&gt;35&lt;/mn&gt;&lt;/mfrac&gt;&lt;mo&gt;×&lt;/mo&gt;&lt;mfrac&gt;&lt;mn&gt;175&lt;/mn&gt;&lt;mn&gt;600&lt;/mn&gt;&lt;/mfrac&gt;&lt;mo&gt;=&lt;/mo&gt;&lt;mfrac&gt;&lt;mn&gt;280&lt;/mn&gt;&lt;mn&gt;4200&lt;/mn&gt;&lt;/mfrac&gt;&lt;/math&gt;" title="16 over 35 times 175 over 600 equals 280 over 4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9400" y="2427102"/>
            <a:ext cx="1948717" cy="533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78" descr="&lt;math xmlns=&quot;http://www.w3.org/1998/Math/MathML&quot; display=&quot;block&quot; data-is-equatio=&quot;1&quot; data-latex=&quot;\frac{2}{35}\times\frac{175}{600}=\frac{35}{2100}&quot;&gt;&lt;mfrac&gt;&lt;mn&gt;2&lt;/mn&gt;&lt;mn&gt;35&lt;/mn&gt;&lt;/mfrac&gt;&lt;mo&gt;×&lt;/mo&gt;&lt;mfrac&gt;&lt;mn&gt;175&lt;/mn&gt;&lt;mn&gt;600&lt;/mn&gt;&lt;/mfrac&gt;&lt;mo&gt;=&lt;/mo&gt;&lt;mfrac&gt;&lt;mn&gt;35&lt;/mn&gt;&lt;mn&gt;2100&lt;/mn&gt;&lt;/mfrac&gt;&lt;/math&gt;" title="2 over 35 times 175 over 600 equals 35 over 2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9400" y="4041307"/>
            <a:ext cx="1948717" cy="533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78" descr="&lt;math xmlns=&quot;http://www.w3.org/1998/Math/MathML&quot; display=&quot;block&quot; data-is-equatio=&quot;1&quot; data-latex=&quot;\frac{6}{35}\times\frac{175}{600}=\frac{115}{2100}&quot;&gt;&lt;mfrac&gt;&lt;mn&gt;6&lt;/mn&gt;&lt;mn&gt;35&lt;/mn&gt;&lt;/mfrac&gt;&lt;mo&gt;×&lt;/mo&gt;&lt;mfrac&gt;&lt;mn&gt;175&lt;/mn&gt;&lt;mn&gt;600&lt;/mn&gt;&lt;/mfrac&gt;&lt;mo&gt;=&lt;/mo&gt;&lt;mfrac&gt;&lt;mn&gt;115&lt;/mn&gt;&lt;mn&gt;2100&lt;/mn&gt;&lt;/mfrac&gt;&lt;/math&gt;" title="6 over 35 times 175 over 600 equals 115 over 2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9400" y="3234204"/>
            <a:ext cx="1948717" cy="533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9608" y="16770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9608" y="399071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2" name="Shape 1012"/>
        <p:cNvGrpSpPr/>
        <p:nvPr/>
      </p:nvGrpSpPr>
      <p:grpSpPr>
        <a:xfrm>
          <a:off x="0" y="0"/>
          <a:ext cx="0" cy="0"/>
        </a:xfrm>
      </p:grpSpPr>
      <p:sp>
        <p:nvSpPr>
          <p:cNvPr id="1013" name="Google Shape;101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14" name="Google Shape;1014;p79"/>
          <p:cNvSpPr txBox="1"/>
          <p:nvPr>
            <p:ph type="body" idx="1"/>
          </p:nvPr>
        </p:nvSpPr>
        <p:spPr>
          <a:xfrm>
            <a:off x="324000" y="759300"/>
            <a:ext cx="82377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Is it possible to tell which of the following has the greater product without calculating an answer?</a:t>
            </a:r>
            <a:endParaRPr sz="2100"/>
          </a:p>
        </p:txBody>
      </p:sp>
      <p:pic>
        <p:nvPicPr>
          <p:cNvPr id="1015" name="Google Shape;1015;p79" descr="&lt;math xmlns=&quot;http://www.w3.org/1998/Math/MathML&quot; display=&quot;block&quot; data-is-equatio=&quot;1&quot; data-latex=&quot;\frac{1}{5}\times\frac{1}{6}&quot;&gt;&lt;mfrac&gt;&lt;mn&gt;1&lt;/mn&gt;&lt;mn&gt;5&lt;/mn&gt;&lt;/mfrac&gt;&lt;mo&gt;×&lt;/mo&gt;&lt;mfrac&gt;&lt;mn&gt;1&lt;/mn&gt;&lt;mn&gt;6&lt;/mn&gt;&lt;/mfrac&gt;&lt;/math&gt;" title="one fifth times 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869" y="1770355"/>
            <a:ext cx="667015" cy="535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79" descr="&lt;math xmlns=&quot;http://www.w3.org/1998/Math/MathML&quot; display=&quot;block&quot; data-is-equatio=&quot;1&quot; data-latex=&quot;\frac{1}{6}\times\frac{1}{7}&quot;&gt;&lt;mfrac&gt;&lt;mn&gt;1&lt;/mn&gt;&lt;mn&gt;6&lt;/mn&gt;&lt;/mfrac&gt;&lt;mo&gt;×&lt;/mo&gt;&lt;mfrac&gt;&lt;mn&gt;1&lt;/mn&gt;&lt;mn&gt;7&lt;/mn&gt;&lt;/mfrac&gt;&lt;/math&gt;" title="one sixth times 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923" y="1770355"/>
            <a:ext cx="667015" cy="53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9"/>
          <p:cNvSpPr txBox="1"/>
          <p:nvPr>
            <p:ph type="body" idx="1"/>
          </p:nvPr>
        </p:nvSpPr>
        <p:spPr>
          <a:xfrm>
            <a:off x="323999" y="262425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If we drew out an area model for each they would both have one part shaded.</a:t>
            </a:r>
            <a:endParaRPr sz="2100"/>
          </a:p>
        </p:txBody>
      </p:sp>
      <p:sp>
        <p:nvSpPr>
          <p:cNvPr id="1018" name="Google Shape;1018;p79"/>
          <p:cNvSpPr txBox="1"/>
          <p:nvPr>
            <p:ph type="body" idx="1"/>
          </p:nvPr>
        </p:nvSpPr>
        <p:spPr>
          <a:xfrm>
            <a:off x="1146900" y="4184200"/>
            <a:ext cx="6998700" cy="3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because it has </a:t>
            </a:r>
            <a:r>
              <a:rPr lang="en-GB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more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parts, so each part will be </a:t>
            </a:r>
            <a:r>
              <a:rPr lang="en-GB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smaller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79"/>
          <p:cNvSpPr txBox="1"/>
          <p:nvPr>
            <p:ph type="body" idx="1"/>
          </p:nvPr>
        </p:nvSpPr>
        <p:spPr>
          <a:xfrm>
            <a:off x="324000" y="3557675"/>
            <a:ext cx="82377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Which product would the whole be divided into smaller parts?</a:t>
            </a:r>
            <a:endParaRPr sz="2100"/>
          </a:p>
        </p:txBody>
      </p:sp>
      <p:pic>
        <p:nvPicPr>
          <p:cNvPr id="1020" name="Google Shape;1020;p79" descr="&lt;math xmlns=&quot;http://www.w3.org/1998/Math/MathML&quot; display=&quot;block&quot; data-is-equatio=&quot;1&quot; data-latex=&quot;\frac{1}{6}\times\frac{1}{7}&quot;&gt;&lt;mfrac&gt;&lt;mn&gt;1&lt;/mn&gt;&lt;mn&gt;6&lt;/mn&gt;&lt;/mfrac&gt;&lt;mo&gt;×&lt;/mo&gt;&lt;mfrac&gt;&lt;mn&gt;1&lt;/mn&gt;&lt;mn&gt;7&lt;/mn&gt;&lt;/mfrac&gt;&lt;/math&gt;" title="one sixth times 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8" y="4104755"/>
            <a:ext cx="667015" cy="53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79"/>
          <p:cNvSpPr txBox="1"/>
          <p:nvPr>
            <p:ph type="body" idx="1"/>
          </p:nvPr>
        </p:nvSpPr>
        <p:spPr>
          <a:xfrm>
            <a:off x="4414573" y="1853525"/>
            <a:ext cx="2172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/>
              <a:t>&gt;</a:t>
            </a:r>
            <a:endParaRPr sz="2400"/>
          </a:p>
        </p:txBody>
      </p:sp>
      <p:sp>
        <p:nvSpPr>
          <p:cNvPr id="1022" name="Google Shape;1022;p79"/>
          <p:cNvSpPr/>
          <p:nvPr/>
        </p:nvSpPr>
        <p:spPr>
          <a:xfrm>
            <a:off x="3528400" y="1654350"/>
            <a:ext cx="791400" cy="768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9"/>
          <p:cNvSpPr/>
          <p:nvPr/>
        </p:nvSpPr>
        <p:spPr>
          <a:xfrm>
            <a:off x="4720526" y="1654350"/>
            <a:ext cx="767400" cy="768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7" name="Shape 1027"/>
        <p:cNvGrpSpPr/>
        <p:nvPr/>
      </p:nvGrpSpPr>
      <p:grpSpPr>
        <a:xfrm>
          <a:off x="0" y="0"/>
          <a:ext cx="0" cy="0"/>
        </a:xfrm>
      </p:grpSpPr>
      <p:sp>
        <p:nvSpPr>
          <p:cNvPr id="1028" name="Google Shape;102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29" name="Google Shape;1029;p80"/>
          <p:cNvSpPr txBox="1"/>
          <p:nvPr>
            <p:ph type="body" idx="1"/>
          </p:nvPr>
        </p:nvSpPr>
        <p:spPr>
          <a:xfrm>
            <a:off x="324000" y="759300"/>
            <a:ext cx="82377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Is it possible to tell which of the following has the greater product without calculating an answer?</a:t>
            </a:r>
            <a:endParaRPr sz="2100"/>
          </a:p>
        </p:txBody>
      </p:sp>
      <p:sp>
        <p:nvSpPr>
          <p:cNvPr id="1030" name="Google Shape;1030;p80"/>
          <p:cNvSpPr/>
          <p:nvPr/>
        </p:nvSpPr>
        <p:spPr>
          <a:xfrm>
            <a:off x="3470353" y="1654350"/>
            <a:ext cx="940500" cy="768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1" name="Google Shape;1031;p80" descr="&lt;math xmlns=&quot;http://www.w3.org/1998/Math/MathML&quot; display=&quot;block&quot; data-is-equatio=&quot;1&quot; data-latex=&quot;\frac{3}{4}\times\frac{8}{27}&quot;&gt;&lt;mfrac&gt;&lt;mn&gt;3&lt;/mn&gt;&lt;mn&gt;4&lt;/mn&gt;&lt;/mfrac&gt;&lt;mo&gt;×&lt;/mo&gt;&lt;mfrac&gt;&lt;mn&gt;8&lt;/mn&gt;&lt;mn&gt;27&lt;/mn&gt;&lt;/mfrac&gt;&lt;/math&gt;" title="three fourths times 8 over 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4103" y="1754474"/>
            <a:ext cx="817887" cy="55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80" descr="&lt;math xmlns=&quot;http://www.w3.org/1998/Math/MathML&quot; display=&quot;block&quot; data-is-equatio=&quot;1&quot; data-latex=&quot;\frac{3}{27}\times\frac{8}{4}&quot;&gt;&lt;mfrac&gt;&lt;mn&gt;3&lt;/mn&gt;&lt;mn&gt;27&lt;/mn&gt;&lt;/mfrac&gt;&lt;mo&gt;×&lt;/mo&gt;&lt;mfrac&gt;&lt;mn&gt;8&lt;/mn&gt;&lt;mn&gt;4&lt;/mn&gt;&lt;/mfrac&gt;&lt;/math&gt;" title="3 over 27 times eight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829" y="1754474"/>
            <a:ext cx="817887" cy="551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0"/>
          <p:cNvSpPr txBox="1"/>
          <p:nvPr>
            <p:ph type="body" idx="1"/>
          </p:nvPr>
        </p:nvSpPr>
        <p:spPr>
          <a:xfrm>
            <a:off x="324000" y="2643275"/>
            <a:ext cx="84678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What do you notice about the numerators of each product?</a:t>
            </a:r>
            <a:endParaRPr sz="2100"/>
          </a:p>
        </p:txBody>
      </p:sp>
      <p:sp>
        <p:nvSpPr>
          <p:cNvPr id="1034" name="Google Shape;1034;p80"/>
          <p:cNvSpPr txBox="1"/>
          <p:nvPr>
            <p:ph type="body" idx="1"/>
          </p:nvPr>
        </p:nvSpPr>
        <p:spPr>
          <a:xfrm>
            <a:off x="324000" y="3103634"/>
            <a:ext cx="26358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are the same.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0"/>
          <p:cNvSpPr txBox="1"/>
          <p:nvPr>
            <p:ph type="body" idx="1"/>
          </p:nvPr>
        </p:nvSpPr>
        <p:spPr>
          <a:xfrm>
            <a:off x="324000" y="3563992"/>
            <a:ext cx="84678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What do you notice about the denominators of each product?</a:t>
            </a:r>
            <a:endParaRPr sz="2100"/>
          </a:p>
        </p:txBody>
      </p:sp>
      <p:sp>
        <p:nvSpPr>
          <p:cNvPr id="1036" name="Google Shape;1036;p80"/>
          <p:cNvSpPr txBox="1"/>
          <p:nvPr>
            <p:ph type="body" idx="1"/>
          </p:nvPr>
        </p:nvSpPr>
        <p:spPr>
          <a:xfrm>
            <a:off x="324000" y="4024351"/>
            <a:ext cx="26358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are the same.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80"/>
          <p:cNvSpPr txBox="1"/>
          <p:nvPr>
            <p:ph type="body" idx="1"/>
          </p:nvPr>
        </p:nvSpPr>
        <p:spPr>
          <a:xfrm>
            <a:off x="324000" y="4484710"/>
            <a:ext cx="84678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Therefore, they must be equal.</a:t>
            </a:r>
            <a:endParaRPr sz="2100"/>
          </a:p>
        </p:txBody>
      </p:sp>
      <p:sp>
        <p:nvSpPr>
          <p:cNvPr id="1038" name="Google Shape;1038;p80"/>
          <p:cNvSpPr txBox="1"/>
          <p:nvPr>
            <p:ph type="body" idx="1"/>
          </p:nvPr>
        </p:nvSpPr>
        <p:spPr>
          <a:xfrm>
            <a:off x="4476839" y="1837634"/>
            <a:ext cx="2172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/>
              <a:t>=</a:t>
            </a:r>
            <a:endParaRPr sz="2400"/>
          </a:p>
        </p:txBody>
      </p:sp>
      <p:sp>
        <p:nvSpPr>
          <p:cNvPr id="1039" name="Google Shape;1039;p80"/>
          <p:cNvSpPr/>
          <p:nvPr/>
        </p:nvSpPr>
        <p:spPr>
          <a:xfrm>
            <a:off x="4720528" y="1654350"/>
            <a:ext cx="972000" cy="768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3" name="Shape 1043"/>
        <p:cNvGrpSpPr/>
        <p:nvPr/>
      </p:nvGrpSpPr>
      <p:grpSpPr>
        <a:xfrm>
          <a:off x="0" y="0"/>
          <a:ext cx="0" cy="0"/>
        </a:xfrm>
      </p:grpSpPr>
      <p:sp>
        <p:nvSpPr>
          <p:cNvPr id="1044" name="Google Shape;104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45" name="Google Shape;1045;p81"/>
          <p:cNvSpPr txBox="1"/>
          <p:nvPr>
            <p:ph type="body" idx="1"/>
          </p:nvPr>
        </p:nvSpPr>
        <p:spPr>
          <a:xfrm>
            <a:off x="324000" y="606900"/>
            <a:ext cx="82377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Is it possible to tell which of the following has the greater product without calculating an answer?</a:t>
            </a:r>
            <a:endParaRPr sz="2100"/>
          </a:p>
        </p:txBody>
      </p:sp>
      <p:pic>
        <p:nvPicPr>
          <p:cNvPr id="1046" name="Google Shape;1046;p81" descr="&lt;math xmlns=&quot;http://www.w3.org/1998/Math/MathML&quot; display=&quot;block&quot; data-is-equatio=&quot;1&quot; data-latex=&quot;\frac{2}{3}\times\frac{2}{5}&quot;&gt;&lt;mfrac&gt;&lt;mn&gt;2&lt;/mn&gt;&lt;mn&gt;3&lt;/mn&gt;&lt;/mfrac&gt;&lt;mo&gt;×&lt;/mo&gt;&lt;mfrac&gt;&lt;mn&gt;2&lt;/mn&gt;&lt;mn&gt;5&lt;/mn&gt;&lt;/mfrac&gt;&lt;/math&gt;" title="two thirds times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135" y="1629830"/>
            <a:ext cx="667015" cy="535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1" descr="&lt;math xmlns=&quot;http://www.w3.org/1998/Math/MathML&quot; display=&quot;block&quot; data-is-equatio=&quot;1&quot; data-latex=&quot;\frac{2}{3}\times\frac{5}{2}&quot;&gt;&lt;mfrac&gt;&lt;mn&gt;2&lt;/mn&gt;&lt;mn&gt;3&lt;/mn&gt;&lt;/mfrac&gt;&lt;mo&gt;×&lt;/mo&gt;&lt;mfrac&gt;&lt;mn&gt;5&lt;/mn&gt;&lt;mn&gt;2&lt;/mn&gt;&lt;/mfrac&gt;&lt;/math&gt;" title="two thirds times 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188" y="1629830"/>
            <a:ext cx="667015" cy="53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81"/>
          <p:cNvSpPr/>
          <p:nvPr/>
        </p:nvSpPr>
        <p:spPr>
          <a:xfrm>
            <a:off x="3643525" y="1577650"/>
            <a:ext cx="185400" cy="613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1"/>
          <p:cNvSpPr/>
          <p:nvPr/>
        </p:nvSpPr>
        <p:spPr>
          <a:xfrm>
            <a:off x="4823563" y="1591075"/>
            <a:ext cx="185400" cy="613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1"/>
          <p:cNvSpPr txBox="1"/>
          <p:nvPr>
            <p:ph type="body" idx="1"/>
          </p:nvPr>
        </p:nvSpPr>
        <p:spPr>
          <a:xfrm>
            <a:off x="324000" y="2281925"/>
            <a:ext cx="3742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Both calculations use </a:t>
            </a:r>
            <a:endParaRPr sz="2100"/>
          </a:p>
        </p:txBody>
      </p:sp>
      <p:pic>
        <p:nvPicPr>
          <p:cNvPr id="1051" name="Google Shape;1051;p81" descr="&lt;math xmlns=&quot;http://www.w3.org/1998/Math/MathML&quot; display=&quot;block&quot; data-is-equatio=&quot;1&quot; data-latex=&quot;\frac{2}{3}\times\frac{2}{5}&quot;&gt;&lt;mfrac&gt;&lt;mn&gt;2&lt;/mn&gt;&lt;mn&gt;3&lt;/mn&gt;&lt;/mfrac&gt;&lt;mo&gt;×&lt;/mo&gt;&lt;mfrac&gt;&lt;mn&gt;2&lt;/mn&gt;&lt;mn&gt;5&lt;/mn&gt;&lt;/mfrac&gt;&lt;/math&gt;" title="two thirds times two fifths"/>
          <p:cNvPicPr preferRelativeResize="0"/>
          <p:nvPr/>
        </p:nvPicPr>
        <p:blipFill>
          <a:blip r:embed="rId3">
            <a:alphaModFix/>
          </a:blip>
          <a:srcRect r="72204"/>
          <a:stretch>
            <a:fillRect/>
          </a:stretch>
        </p:blipFill>
        <p:spPr>
          <a:xfrm>
            <a:off x="3144107" y="2174283"/>
            <a:ext cx="185400" cy="5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1"/>
          <p:cNvSpPr txBox="1"/>
          <p:nvPr>
            <p:ph type="body" idx="1"/>
          </p:nvPr>
        </p:nvSpPr>
        <p:spPr>
          <a:xfrm>
            <a:off x="324000" y="2825867"/>
            <a:ext cx="8496000" cy="7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The 1</a:t>
            </a:r>
            <a:r>
              <a:rPr lang="en-GB" sz="2100" baseline="30000"/>
              <a:t>st</a:t>
            </a:r>
            <a:r>
              <a:rPr lang="en-GB" sz="2100"/>
              <a:t> calculation multiplies by     which is less than one.  </a:t>
            </a:r>
            <a:endParaRPr sz="2100"/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Meaning the product will be smaller than    . </a:t>
            </a:r>
            <a:endParaRPr sz="2100"/>
          </a:p>
        </p:txBody>
      </p:sp>
      <p:pic>
        <p:nvPicPr>
          <p:cNvPr id="1053" name="Google Shape;1053;p81" descr="&lt;math xmlns=&quot;http://www.w3.org/1998/Math/MathML&quot; display=&quot;block&quot; data-is-equatio=&quot;1&quot; data-latex=&quot;\frac{2}{3}\times\frac{2}{5}&quot;&gt;&lt;mfrac&gt;&lt;mn&gt;2&lt;/mn&gt;&lt;mn&gt;3&lt;/mn&gt;&lt;/mfrac&gt;&lt;mo&gt;×&lt;/mo&gt;&lt;mfrac&gt;&lt;mn&gt;2&lt;/mn&gt;&lt;mn&gt;5&lt;/mn&gt;&lt;/mfrac&gt;&lt;/math&gt;" title="two thirds times two fifths"/>
          <p:cNvPicPr preferRelativeResize="0"/>
          <p:nvPr/>
        </p:nvPicPr>
        <p:blipFill>
          <a:blip r:embed="rId3">
            <a:alphaModFix/>
          </a:blip>
          <a:srcRect l="72204"/>
          <a:stretch>
            <a:fillRect/>
          </a:stretch>
        </p:blipFill>
        <p:spPr>
          <a:xfrm>
            <a:off x="4422818" y="2756142"/>
            <a:ext cx="167369" cy="48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1" descr="&lt;math xmlns=&quot;http://www.w3.org/1998/Math/MathML&quot; display=&quot;block&quot; data-is-equatio=&quot;1&quot; data-latex=&quot;\frac{2}{3}\times\frac{2}{5}&quot;&gt;&lt;mfrac&gt;&lt;mn&gt;2&lt;/mn&gt;&lt;mn&gt;3&lt;/mn&gt;&lt;/mfrac&gt;&lt;mo&gt;×&lt;/mo&gt;&lt;mfrac&gt;&lt;mn&gt;2&lt;/mn&gt;&lt;mn&gt;5&lt;/mn&gt;&lt;/mfrac&gt;&lt;/math&gt;" title="two thirds times two fifths"/>
          <p:cNvPicPr preferRelativeResize="0"/>
          <p:nvPr/>
        </p:nvPicPr>
        <p:blipFill>
          <a:blip r:embed="rId3">
            <a:alphaModFix/>
          </a:blip>
          <a:srcRect r="72204"/>
          <a:stretch>
            <a:fillRect/>
          </a:stretch>
        </p:blipFill>
        <p:spPr>
          <a:xfrm>
            <a:off x="5689481" y="3239997"/>
            <a:ext cx="167369" cy="483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1"/>
          <p:cNvSpPr txBox="1"/>
          <p:nvPr>
            <p:ph type="body" idx="1"/>
          </p:nvPr>
        </p:nvSpPr>
        <p:spPr>
          <a:xfrm>
            <a:off x="324000" y="3892667"/>
            <a:ext cx="8496000" cy="7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The 2</a:t>
            </a:r>
            <a:r>
              <a:rPr lang="en-GB" sz="2100" baseline="30000"/>
              <a:t>nd</a:t>
            </a:r>
            <a:r>
              <a:rPr lang="en-GB" sz="2100"/>
              <a:t> calculation multiplies by     which is greater than one.  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Meaning the product will be greater than    . </a:t>
            </a:r>
            <a:endParaRPr sz="2100"/>
          </a:p>
        </p:txBody>
      </p:sp>
      <p:pic>
        <p:nvPicPr>
          <p:cNvPr id="1056" name="Google Shape;1056;p81" descr="&lt;math xmlns=&quot;http://www.w3.org/1998/Math/MathML&quot; display=&quot;block&quot; data-is-equatio=&quot;1&quot; data-latex=&quot;\frac{2}{3}\times\frac{5}{2}&quot;&gt;&lt;mfrac&gt;&lt;mn&gt;2&lt;/mn&gt;&lt;mn&gt;3&lt;/mn&gt;&lt;/mfrac&gt;&lt;mo&gt;×&lt;/mo&gt;&lt;mfrac&gt;&lt;mn&gt;5&lt;/mn&gt;&lt;mn&gt;2&lt;/mn&gt;&lt;/mfrac&gt;&lt;/math&gt;" title="two thirds times five halves"/>
          <p:cNvPicPr preferRelativeResize="0"/>
          <p:nvPr/>
        </p:nvPicPr>
        <p:blipFill>
          <a:blip r:embed="rId4">
            <a:alphaModFix/>
          </a:blip>
          <a:srcRect l="67759"/>
          <a:stretch>
            <a:fillRect/>
          </a:stretch>
        </p:blipFill>
        <p:spPr>
          <a:xfrm>
            <a:off x="4474733" y="3866197"/>
            <a:ext cx="191298" cy="47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1"/>
          <p:cNvSpPr txBox="1"/>
          <p:nvPr>
            <p:ph type="body" idx="1"/>
          </p:nvPr>
        </p:nvSpPr>
        <p:spPr>
          <a:xfrm>
            <a:off x="4461763" y="1689325"/>
            <a:ext cx="217200" cy="3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/>
              <a:t>&lt;</a:t>
            </a:r>
            <a:endParaRPr sz="2400"/>
          </a:p>
        </p:txBody>
      </p:sp>
      <p:sp>
        <p:nvSpPr>
          <p:cNvPr id="1058" name="Google Shape;1058;p81"/>
          <p:cNvSpPr/>
          <p:nvPr/>
        </p:nvSpPr>
        <p:spPr>
          <a:xfrm>
            <a:off x="3544375" y="1501950"/>
            <a:ext cx="866400" cy="768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1"/>
          <p:cNvSpPr/>
          <p:nvPr/>
        </p:nvSpPr>
        <p:spPr>
          <a:xfrm>
            <a:off x="4720525" y="1501950"/>
            <a:ext cx="866400" cy="768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0" name="Google Shape;1060;p81" descr="&lt;math xmlns=&quot;http://www.w3.org/1998/Math/MathML&quot; display=&quot;block&quot; data-is-equatio=&quot;1&quot; data-latex=&quot;\frac{2}{3}\times\frac{2}{5}&quot;&gt;&lt;mfrac&gt;&lt;mn&gt;2&lt;/mn&gt;&lt;mn&gt;3&lt;/mn&gt;&lt;/mfrac&gt;&lt;mo&gt;×&lt;/mo&gt;&lt;mfrac&gt;&lt;mn&gt;2&lt;/mn&gt;&lt;mn&gt;5&lt;/mn&gt;&lt;/mfrac&gt;&lt;/math&gt;" title="two thirds times two fifths"/>
          <p:cNvPicPr preferRelativeResize="0"/>
          <p:nvPr/>
        </p:nvPicPr>
        <p:blipFill>
          <a:blip r:embed="rId3">
            <a:alphaModFix/>
          </a:blip>
          <a:srcRect r="72204"/>
          <a:stretch>
            <a:fillRect/>
          </a:stretch>
        </p:blipFill>
        <p:spPr>
          <a:xfrm>
            <a:off x="5690719" y="4342972"/>
            <a:ext cx="167369" cy="48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4" name="Shape 1064"/>
        <p:cNvGrpSpPr/>
        <p:nvPr/>
      </p:nvGrpSpPr>
      <p:grpSpPr>
        <a:xfrm>
          <a:off x="0" y="0"/>
          <a:ext cx="0" cy="0"/>
        </a:xfrm>
      </p:grpSpPr>
      <p:sp>
        <p:nvSpPr>
          <p:cNvPr id="1065" name="Google Shape;1065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66" name="Google Shape;1066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Use this fact to answer the following questions:</a:t>
            </a:r>
            <a:endParaRPr/>
          </a:p>
        </p:txBody>
      </p:sp>
      <p:sp>
        <p:nvSpPr>
          <p:cNvPr id="1067" name="Google Shape;1067;p82"/>
          <p:cNvSpPr txBox="1"/>
          <p:nvPr/>
        </p:nvSpPr>
        <p:spPr>
          <a:xfrm>
            <a:off x="324000" y="1944750"/>
            <a:ext cx="3345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2"/>
          <p:cNvSpPr txBox="1"/>
          <p:nvPr/>
        </p:nvSpPr>
        <p:spPr>
          <a:xfrm>
            <a:off x="4830425" y="1944750"/>
            <a:ext cx="3345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9" name="Google Shape;1069;p82" descr="&lt;math xmlns=&quot;http://www.w3.org/1998/Math/MathML&quot; display=&quot;block&quot; data-is-equatio=&quot;1&quot; data-latex=&quot;\frac{8}{27}\times\frac{425}{1870}=\frac{340}{5049}&quot;&gt;&lt;mfrac&gt;&lt;mn&gt;8&lt;/mn&gt;&lt;mn&gt;27&lt;/mn&gt;&lt;/mfrac&gt;&lt;mo&gt;×&lt;/mo&gt;&lt;mfrac&gt;&lt;mn&gt;425&lt;/mn&gt;&lt;mn&gt;1870&lt;/mn&gt;&lt;/mfrac&gt;&lt;mo&gt;=&lt;/mo&gt;&lt;mfrac&gt;&lt;mn&gt;340&lt;/mn&gt;&lt;mn&gt;5049&lt;/mn&gt;&lt;/mfrac&gt;&lt;/math&gt;" title="8 over 27 times 425 over 1870 equals 340 over 50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175" y="1277999"/>
            <a:ext cx="1925649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82" descr="&lt;math xmlns=&quot;http://www.w3.org/1998/Math/MathML&quot; display=&quot;block&quot; data-is-equatio=&quot;1&quot; data-latex=&quot;\frac{4}{27}\times\frac{425}{1870}=\frac{170}{5049}&quot;&gt;&lt;mfrac&gt;&lt;mn&gt;4&lt;/mn&gt;&lt;mn&gt;27&lt;/mn&gt;&lt;/mfrac&gt;&lt;mo&gt;×&lt;/mo&gt;&lt;mfrac&gt;&lt;mn&gt;425&lt;/mn&gt;&lt;mn&gt;1870&lt;/mn&gt;&lt;/mfrac&gt;&lt;mo&gt;=&lt;/mo&gt;&lt;mfrac&gt;&lt;mn&gt;170&lt;/mn&gt;&lt;mn&gt;5049&lt;/mn&gt;&lt;/mfrac&gt;&lt;/math&gt;" title="4 over 27 times 425 over 1870 equals 170 over 5049"/>
          <p:cNvPicPr preferRelativeResize="0"/>
          <p:nvPr/>
        </p:nvPicPr>
        <p:blipFill>
          <a:blip r:embed="rId4">
            <a:alphaModFix/>
          </a:blip>
          <a:srcRect r="30415"/>
          <a:stretch>
            <a:fillRect/>
          </a:stretch>
        </p:blipFill>
        <p:spPr>
          <a:xfrm>
            <a:off x="734050" y="1913125"/>
            <a:ext cx="1323125" cy="4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82" descr="&lt;math xmlns=&quot;http://www.w3.org/1998/Math/MathML&quot; display=&quot;block&quot; data-is-equatio=&quot;1&quot; data-latex=&quot;\frac{16}{27}\times\frac{425}{1870}=\frac{680}{5049}&quot;&gt;&lt;mfrac&gt;&lt;mn&gt;16&lt;/mn&gt;&lt;mn&gt;27&lt;/mn&gt;&lt;/mfrac&gt;&lt;mo&gt;×&lt;/mo&gt;&lt;mfrac&gt;&lt;mn&gt;425&lt;/mn&gt;&lt;mn&gt;1870&lt;/mn&gt;&lt;/mfrac&gt;&lt;mo&gt;=&lt;/mo&gt;&lt;mfrac&gt;&lt;mn&gt;680&lt;/mn&gt;&lt;mn&gt;5049&lt;/mn&gt;&lt;/mfrac&gt;&lt;/math&gt;" title="16 over 27 times 425 over 1870 equals 680 over 5049"/>
          <p:cNvPicPr preferRelativeResize="0"/>
          <p:nvPr/>
        </p:nvPicPr>
        <p:blipFill>
          <a:blip r:embed="rId5">
            <a:alphaModFix/>
          </a:blip>
          <a:srcRect r="27436" b="10"/>
          <a:stretch>
            <a:fillRect/>
          </a:stretch>
        </p:blipFill>
        <p:spPr>
          <a:xfrm>
            <a:off x="734072" y="2885800"/>
            <a:ext cx="1379825" cy="4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82" descr="&lt;math xmlns=&quot;http://www.w3.org/1998/Math/MathML&quot; display=&quot;block&quot; data-is-equatio=&quot;1&quot; data-latex=&quot;\frac{2}{27}\times\frac{425}{1870}=\frac{85}{5049}&quot;&gt;&lt;mfrac&gt;&lt;mn&gt;2&lt;/mn&gt;&lt;mn&gt;27&lt;/mn&gt;&lt;/mfrac&gt;&lt;mo&gt;×&lt;/mo&gt;&lt;mfrac&gt;&lt;mn&gt;425&lt;/mn&gt;&lt;mn&gt;1870&lt;/mn&gt;&lt;/mfrac&gt;&lt;mo&gt;=&lt;/mo&gt;&lt;mfrac&gt;&lt;mn&gt;85&lt;/mn&gt;&lt;mn&gt;5049&lt;/mn&gt;&lt;/mfrac&gt;&lt;/math&gt;" title="2 over 27 times 425 over 1870 equals 85 over 5049"/>
          <p:cNvPicPr preferRelativeResize="0"/>
          <p:nvPr/>
        </p:nvPicPr>
        <p:blipFill>
          <a:blip r:embed="rId6">
            <a:alphaModFix/>
          </a:blip>
          <a:srcRect r="27436"/>
          <a:stretch>
            <a:fillRect/>
          </a:stretch>
        </p:blipFill>
        <p:spPr>
          <a:xfrm>
            <a:off x="734072" y="3932400"/>
            <a:ext cx="1379825" cy="4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82" descr="&lt;math xmlns=&quot;http://www.w3.org/1998/Math/MathML&quot; display=&quot;block&quot; data-is-equatio=&quot;1&quot; data-latex=&quot;\frac{20}{27}\times\frac{425}{1870}=\frac{850}{5049}&quot;&gt;&lt;mfrac&gt;&lt;mn&gt;20&lt;/mn&gt;&lt;mn&gt;27&lt;/mn&gt;&lt;/mfrac&gt;&lt;mo&gt;×&lt;/mo&gt;&lt;mfrac&gt;&lt;mn&gt;425&lt;/mn&gt;&lt;mn&gt;1870&lt;/mn&gt;&lt;/mfrac&gt;&lt;mo&gt;=&lt;/mo&gt;&lt;mfrac&gt;&lt;mn&gt;850&lt;/mn&gt;&lt;mn&gt;5049&lt;/mn&gt;&lt;/mfrac&gt;&lt;/math&gt;" title="20 over 27 times 425 over 1870 equals 850 over 5049"/>
          <p:cNvPicPr preferRelativeResize="0"/>
          <p:nvPr/>
        </p:nvPicPr>
        <p:blipFill>
          <a:blip r:embed="rId7">
            <a:alphaModFix/>
          </a:blip>
          <a:srcRect r="28341"/>
          <a:stretch>
            <a:fillRect/>
          </a:stretch>
        </p:blipFill>
        <p:spPr>
          <a:xfrm>
            <a:off x="5294025" y="1910025"/>
            <a:ext cx="1379825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82" descr="&lt;math xmlns=&quot;http://www.w3.org/1998/Math/MathML&quot; display=&quot;block&quot; data-is-equatio=&quot;1&quot; data-latex=&quot;\frac{6}{27}\times\frac{425}{1870}=\frac{255}{5049}&quot;&gt;&lt;mfrac&gt;&lt;mn&gt;6&lt;/mn&gt;&lt;mn&gt;27&lt;/mn&gt;&lt;/mfrac&gt;&lt;mo&gt;×&lt;/mo&gt;&lt;mfrac&gt;&lt;mn&gt;425&lt;/mn&gt;&lt;mn&gt;1870&lt;/mn&gt;&lt;/mfrac&gt;&lt;mo&gt;=&lt;/mo&gt;&lt;mfrac&gt;&lt;mn&gt;255&lt;/mn&gt;&lt;mn&gt;5049&lt;/mn&gt;&lt;/mfrac&gt;&lt;/math&gt;" title="6 over 27 times 425 over 1870 equals 255 over 5049"/>
          <p:cNvPicPr preferRelativeResize="0"/>
          <p:nvPr/>
        </p:nvPicPr>
        <p:blipFill>
          <a:blip r:embed="rId8">
            <a:alphaModFix/>
          </a:blip>
          <a:srcRect r="28341"/>
          <a:stretch>
            <a:fillRect/>
          </a:stretch>
        </p:blipFill>
        <p:spPr>
          <a:xfrm>
            <a:off x="5294025" y="2882700"/>
            <a:ext cx="1379825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2" descr="&lt;math xmlns=&quot;http://www.w3.org/1998/Math/MathML&quot; display=&quot;block&quot; data-is-equatio=&quot;1&quot; data-latex=&quot;\frac{22}{27}\times\frac{425}{1870}=\frac{935}{5049}&quot;&gt;&lt;mfrac&gt;&lt;mn&gt;22&lt;/mn&gt;&lt;mn&gt;27&lt;/mn&gt;&lt;/mfrac&gt;&lt;mo&gt;×&lt;/mo&gt;&lt;mfrac&gt;&lt;mn&gt;425&lt;/mn&gt;&lt;mn&gt;1870&lt;/mn&gt;&lt;/mfrac&gt;&lt;mo&gt;=&lt;/mo&gt;&lt;mfrac&gt;&lt;mn&gt;935&lt;/mn&gt;&lt;mn&gt;5049&lt;/mn&gt;&lt;/mfrac&gt;&lt;/math&gt;" title="22 over 27 times 425 over 1870 equals 935 over 5049"/>
          <p:cNvPicPr preferRelativeResize="0"/>
          <p:nvPr/>
        </p:nvPicPr>
        <p:blipFill>
          <a:blip r:embed="rId9">
            <a:alphaModFix/>
          </a:blip>
          <a:srcRect r="28341"/>
          <a:stretch>
            <a:fillRect/>
          </a:stretch>
        </p:blipFill>
        <p:spPr>
          <a:xfrm>
            <a:off x="5294025" y="3929300"/>
            <a:ext cx="1379825" cy="4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2"/>
          <p:cNvSpPr/>
          <p:nvPr/>
        </p:nvSpPr>
        <p:spPr>
          <a:xfrm>
            <a:off x="3503250" y="1218850"/>
            <a:ext cx="2115300" cy="6183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sp>
        <p:nvSpPr>
          <p:cNvPr id="1081" name="Google Shape;1081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82" name="Google Shape;1082;p83"/>
          <p:cNvSpPr txBox="1"/>
          <p:nvPr>
            <p:ph type="body" idx="1"/>
          </p:nvPr>
        </p:nvSpPr>
        <p:spPr>
          <a:xfrm>
            <a:off x="324000" y="606900"/>
            <a:ext cx="8237700" cy="329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2)   Without calculating, decide which is the greater product in each pair.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a)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b)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c)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d)  Write the six products in order from smallest to largest.</a:t>
            </a:r>
            <a:endParaRPr sz="1900"/>
          </a:p>
        </p:txBody>
      </p:sp>
      <p:pic>
        <p:nvPicPr>
          <p:cNvPr id="1083" name="Google Shape;1083;p83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94" y="3403381"/>
            <a:ext cx="243363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83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94" y="2358100"/>
            <a:ext cx="2205038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83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00" y="1454950"/>
            <a:ext cx="2176086" cy="5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9" name="Shape 1089"/>
        <p:cNvGrpSpPr/>
        <p:nvPr/>
      </p:nvGrpSpPr>
      <p:grpSpPr>
        <a:xfrm>
          <a:off x="0" y="0"/>
          <a:ext cx="0" cy="0"/>
        </a:xfrm>
      </p:grpSpPr>
      <p:sp>
        <p:nvSpPr>
          <p:cNvPr id="1090" name="Google Shape;1090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091" name="Google Shape;1091;p84"/>
          <p:cNvSpPr txBox="1"/>
          <p:nvPr>
            <p:ph type="body" idx="1"/>
          </p:nvPr>
        </p:nvSpPr>
        <p:spPr>
          <a:xfrm>
            <a:off x="324000" y="759300"/>
            <a:ext cx="8237700" cy="29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Use this fact to answer the following questions:</a:t>
            </a:r>
            <a:endParaRPr/>
          </a:p>
        </p:txBody>
      </p:sp>
      <p:sp>
        <p:nvSpPr>
          <p:cNvPr id="1092" name="Google Shape;1092;p84"/>
          <p:cNvSpPr txBox="1"/>
          <p:nvPr/>
        </p:nvSpPr>
        <p:spPr>
          <a:xfrm>
            <a:off x="324000" y="1944750"/>
            <a:ext cx="3345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4"/>
          <p:cNvSpPr txBox="1"/>
          <p:nvPr/>
        </p:nvSpPr>
        <p:spPr>
          <a:xfrm>
            <a:off x="4830425" y="1944750"/>
            <a:ext cx="3345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4" name="Google Shape;1094;p84" descr="&lt;math xmlns=&quot;http://www.w3.org/1998/Math/MathML&quot; display=&quot;block&quot; data-is-equatio=&quot;1&quot; data-latex=&quot;\frac{8}{27}\times\frac{425}{1870}=\frac{340}{5049}&quot;&gt;&lt;mfrac&gt;&lt;mn&gt;8&lt;/mn&gt;&lt;mn&gt;27&lt;/mn&gt;&lt;/mfrac&gt;&lt;mo&gt;×&lt;/mo&gt;&lt;mfrac&gt;&lt;mn&gt;425&lt;/mn&gt;&lt;mn&gt;1870&lt;/mn&gt;&lt;/mfrac&gt;&lt;mo&gt;=&lt;/mo&gt;&lt;mfrac&gt;&lt;mn&gt;340&lt;/mn&gt;&lt;mn&gt;5049&lt;/mn&gt;&lt;/mfrac&gt;&lt;/math&gt;" title="8 over 27 times 425 over 1870 equals 340 over 50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175" y="1277999"/>
            <a:ext cx="1925649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84" descr="&lt;math xmlns=&quot;http://www.w3.org/1998/Math/MathML&quot; display=&quot;block&quot; data-is-equatio=&quot;1&quot; data-latex=&quot;\frac{4}{27}\times\frac{425}{1870}=\frac{170}{5049}&quot;&gt;&lt;mfrac&gt;&lt;mn&gt;4&lt;/mn&gt;&lt;mn&gt;27&lt;/mn&gt;&lt;/mfrac&gt;&lt;mo&gt;×&lt;/mo&gt;&lt;mfrac&gt;&lt;mn&gt;425&lt;/mn&gt;&lt;mn&gt;1870&lt;/mn&gt;&lt;/mfrac&gt;&lt;mo&gt;=&lt;/mo&gt;&lt;mfrac&gt;&lt;mn&gt;170&lt;/mn&gt;&lt;mn&gt;5049&lt;/mn&gt;&lt;/mfrac&gt;&lt;/math&gt;" title="4 over 27 times 425 over 1870 equals 170 over 50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55" y="1913125"/>
            <a:ext cx="1901485" cy="4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84" descr="&lt;math xmlns=&quot;http://www.w3.org/1998/Math/MathML&quot; display=&quot;block&quot; data-is-equatio=&quot;1&quot; data-latex=&quot;\frac{16}{27}\times\frac{425}{1870}=\frac{680}{5049}&quot;&gt;&lt;mfrac&gt;&lt;mn&gt;16&lt;/mn&gt;&lt;mn&gt;27&lt;/mn&gt;&lt;/mfrac&gt;&lt;mo&gt;×&lt;/mo&gt;&lt;mfrac&gt;&lt;mn&gt;425&lt;/mn&gt;&lt;mn&gt;1870&lt;/mn&gt;&lt;/mfrac&gt;&lt;mo&gt;=&lt;/mo&gt;&lt;mfrac&gt;&lt;mn&gt;680&lt;/mn&gt;&lt;mn&gt;5049&lt;/mn&gt;&lt;/mfrac&gt;&lt;/math&gt;" title="16 over 27 times 425 over 1870 equals 680 over 50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062" y="2885788"/>
            <a:ext cx="1901485" cy="4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84" descr="&lt;math xmlns=&quot;http://www.w3.org/1998/Math/MathML&quot; display=&quot;block&quot; data-is-equatio=&quot;1&quot; data-latex=&quot;\frac{2}{27}\times\frac{425}{1870}=\frac{85}{5049}&quot;&gt;&lt;mfrac&gt;&lt;mn&gt;2&lt;/mn&gt;&lt;mn&gt;27&lt;/mn&gt;&lt;/mfrac&gt;&lt;mo&gt;×&lt;/mo&gt;&lt;mfrac&gt;&lt;mn&gt;425&lt;/mn&gt;&lt;mn&gt;1870&lt;/mn&gt;&lt;/mfrac&gt;&lt;mo&gt;=&lt;/mo&gt;&lt;mfrac&gt;&lt;mn&gt;85&lt;/mn&gt;&lt;mn&gt;5049&lt;/mn&gt;&lt;/mfrac&gt;&lt;/math&gt;" title="2 over 27 times 425 over 1870 equals 85 over 50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065" y="3932400"/>
            <a:ext cx="1901485" cy="4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4" descr="&lt;math xmlns=&quot;http://www.w3.org/1998/Math/MathML&quot; display=&quot;block&quot; data-is-equatio=&quot;1&quot; data-latex=&quot;\frac{20}{27}\times\frac{425}{1870}=\frac{850}{5049}&quot;&gt;&lt;mfrac&gt;&lt;mn&gt;20&lt;/mn&gt;&lt;mn&gt;27&lt;/mn&gt;&lt;/mfrac&gt;&lt;mo&gt;×&lt;/mo&gt;&lt;mfrac&gt;&lt;mn&gt;425&lt;/mn&gt;&lt;mn&gt;1870&lt;/mn&gt;&lt;/mfrac&gt;&lt;mo&gt;=&lt;/mo&gt;&lt;mfrac&gt;&lt;mn&gt;850&lt;/mn&gt;&lt;mn&gt;5049&lt;/mn&gt;&lt;/mfrac&gt;&lt;/math&gt;" title="20 over 27 times 425 over 1870 equals 850 over 50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4025" y="1910030"/>
            <a:ext cx="1925558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84" descr="&lt;math xmlns=&quot;http://www.w3.org/1998/Math/MathML&quot; display=&quot;block&quot; data-is-equatio=&quot;1&quot; data-latex=&quot;\frac{6}{27}\times\frac{425}{1870}=\frac{255}{5049}&quot;&gt;&lt;mfrac&gt;&lt;mn&gt;6&lt;/mn&gt;&lt;mn&gt;27&lt;/mn&gt;&lt;/mfrac&gt;&lt;mo&gt;×&lt;/mo&gt;&lt;mfrac&gt;&lt;mn&gt;425&lt;/mn&gt;&lt;mn&gt;1870&lt;/mn&gt;&lt;/mfrac&gt;&lt;mo&gt;=&lt;/mo&gt;&lt;mfrac&gt;&lt;mn&gt;255&lt;/mn&gt;&lt;mn&gt;5049&lt;/mn&gt;&lt;/mfrac&gt;&lt;/math&gt;" title="6 over 27 times 425 over 1870 equals 255 over 50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4025" y="2882693"/>
            <a:ext cx="1925558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84" descr="&lt;math xmlns=&quot;http://www.w3.org/1998/Math/MathML&quot; display=&quot;block&quot; data-is-equatio=&quot;1&quot; data-latex=&quot;\frac{22}{27}\times\frac{425}{1870}=\frac{935}{5049}&quot;&gt;&lt;mfrac&gt;&lt;mn&gt;22&lt;/mn&gt;&lt;mn&gt;27&lt;/mn&gt;&lt;/mfrac&gt;&lt;mo&gt;×&lt;/mo&gt;&lt;mfrac&gt;&lt;mn&gt;425&lt;/mn&gt;&lt;mn&gt;1870&lt;/mn&gt;&lt;/mfrac&gt;&lt;mo&gt;=&lt;/mo&gt;&lt;mfrac&gt;&lt;mn&gt;935&lt;/mn&gt;&lt;mn&gt;5049&lt;/mn&gt;&lt;/mfrac&gt;&lt;/math&gt;" title="22 over 27 times 425 over 1870 equals 935 over 50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94025" y="3929305"/>
            <a:ext cx="1925558" cy="4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4"/>
          <p:cNvSpPr/>
          <p:nvPr/>
        </p:nvSpPr>
        <p:spPr>
          <a:xfrm>
            <a:off x="3503250" y="1218850"/>
            <a:ext cx="2115300" cy="6183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5" name="Shape 1105"/>
        <p:cNvGrpSpPr/>
        <p:nvPr/>
      </p:nvGrpSpPr>
      <p:grpSpPr>
        <a:xfrm>
          <a:off x="0" y="0"/>
          <a:ext cx="0" cy="0"/>
        </a:xfrm>
      </p:grpSpPr>
      <p:sp>
        <p:nvSpPr>
          <p:cNvPr id="1106" name="Google Shape;1106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107" name="Google Shape;1107;p85"/>
          <p:cNvSpPr txBox="1"/>
          <p:nvPr>
            <p:ph type="body" idx="1"/>
          </p:nvPr>
        </p:nvSpPr>
        <p:spPr>
          <a:xfrm>
            <a:off x="324000" y="766326"/>
            <a:ext cx="8237700" cy="281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2)   Without calculating, decide which is the greater product in each pair.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a)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b)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900"/>
              <a:t>c)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d)  Write the six products in order from smallest to largest.</a:t>
            </a:r>
            <a:endParaRPr sz="1900"/>
          </a:p>
        </p:txBody>
      </p:sp>
      <p:pic>
        <p:nvPicPr>
          <p:cNvPr id="1108" name="Google Shape;1108;p85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24" y="3316207"/>
            <a:ext cx="2175130" cy="574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5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812" y="2385575"/>
            <a:ext cx="1900441" cy="5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85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00" y="1454950"/>
            <a:ext cx="2176086" cy="5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5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3">
            <a:alphaModFix/>
          </a:blip>
          <a:srcRect l="57202"/>
          <a:stretch>
            <a:fillRect/>
          </a:stretch>
        </p:blipFill>
        <p:spPr>
          <a:xfrm>
            <a:off x="1683073" y="4322664"/>
            <a:ext cx="683325" cy="42181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2" name="Google Shape;1112;p85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4">
            <a:alphaModFix/>
          </a:blip>
          <a:srcRect l="57848"/>
          <a:stretch>
            <a:fillRect/>
          </a:stretch>
        </p:blipFill>
        <p:spPr>
          <a:xfrm>
            <a:off x="4752697" y="4314850"/>
            <a:ext cx="609783" cy="437436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3" name="Google Shape;1113;p85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5">
            <a:alphaModFix/>
          </a:blip>
          <a:srcRect l="58747"/>
          <a:stretch>
            <a:fillRect/>
          </a:stretch>
        </p:blipFill>
        <p:spPr>
          <a:xfrm>
            <a:off x="2698572" y="4314850"/>
            <a:ext cx="683324" cy="437436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4" name="Google Shape;1114;p85" descr="&lt;math xmlns=&quot;http://www.w3.org/1998/Math/MathML&quot; display=&quot;block&quot; data-is-equatio=&quot;1&quot; data-latex=&quot;\frac{1}{10}\times\frac{1}{9}\ \ \ \ \ \ \frac{1}{8}\times\frac{1}{10}&quot;&gt;&lt;mfrac&gt;&lt;mn&gt;1&lt;/mn&gt;&lt;mn&gt;10&lt;/mn&gt;&lt;/mfrac&gt;&lt;mo&gt;×&lt;/mo&gt;&lt;mfrac&gt;&lt;mn&gt;1&lt;/mn&gt;&lt;mn&gt;9&lt;/mn&gt;&lt;/mfrac&gt;&lt;mtext&gt;&lt;/mtext&gt;&lt;mtext&gt;&lt;/mtext&gt;&lt;mtext&gt;&lt;/mtext&gt;&lt;mtext&gt;&lt;/mtext&gt;&lt;mtext&gt;&lt;/mtext&gt;&lt;mtext&gt;&lt;/mtext&gt;&lt;mfrac&gt;&lt;mn&gt;1&lt;/mn&gt;&lt;mn&gt;8&lt;/mn&gt;&lt;/mfrac&gt;&lt;mo&gt;×&lt;/mo&gt;&lt;mfrac&gt;&lt;mn&gt;1&lt;/mn&gt;&lt;mn&gt;10&lt;/mn&gt;&lt;/mfrac&gt;&lt;/math&gt;" title="one tenth times one ninth one eighth times one tenth"/>
          <p:cNvPicPr preferRelativeResize="0"/>
          <p:nvPr/>
        </p:nvPicPr>
        <p:blipFill>
          <a:blip r:embed="rId3">
            <a:alphaModFix/>
          </a:blip>
          <a:srcRect r="57202"/>
          <a:stretch>
            <a:fillRect/>
          </a:stretch>
        </p:blipFill>
        <p:spPr>
          <a:xfrm>
            <a:off x="667575" y="4322664"/>
            <a:ext cx="683325" cy="42181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5" name="Google Shape;1115;p85" descr="&lt;math xmlns=&quot;http://www.w3.org/1998/Math/MathML&quot; display=&quot;block&quot; data-is-equatio=&quot;1&quot; data-latex=&quot;\frac{3}{8}\times\frac{7}{4}\ \ \ \ \ \ \frac{4}{7}\times\frac{3}{8}&quot;&gt;&lt;mfrac&gt;&lt;mn&gt;3&lt;/mn&gt;&lt;mn&gt;8&lt;/mn&gt;&lt;/mfrac&gt;&lt;mo&gt;×&lt;/mo&gt;&lt;mfrac&gt;&lt;mn&gt;7&lt;/mn&gt;&lt;mn&gt;4&lt;/mn&gt;&lt;/mfrac&gt;&lt;mtext&gt;&lt;/mtext&gt;&lt;mtext&gt;&lt;/mtext&gt;&lt;mtext&gt;&lt;/mtext&gt;&lt;mtext&gt;&lt;/mtext&gt;&lt;mtext&gt;&lt;/mtext&gt;&lt;mtext&gt;&lt;/mtext&gt;&lt;mfrac&gt;&lt;mn&gt;4&lt;/mn&gt;&lt;mn&gt;7&lt;/mn&gt;&lt;/mfrac&gt;&lt;mo&gt;×&lt;/mo&gt;&lt;mfrac&gt;&lt;mn&gt;3&lt;/mn&gt;&lt;mn&gt;8&lt;/mn&gt;&lt;/mfrac&gt;&lt;/math&gt;" title="three eighths times seven fourths four sevenths times three eighths"/>
          <p:cNvPicPr preferRelativeResize="0"/>
          <p:nvPr/>
        </p:nvPicPr>
        <p:blipFill>
          <a:blip r:embed="rId4">
            <a:alphaModFix/>
          </a:blip>
          <a:srcRect r="57848"/>
          <a:stretch>
            <a:fillRect/>
          </a:stretch>
        </p:blipFill>
        <p:spPr>
          <a:xfrm>
            <a:off x="5904717" y="4322664"/>
            <a:ext cx="609783" cy="437436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16" name="Google Shape;1116;p85" descr="&lt;math xmlns=&quot;http://www.w3.org/1998/Math/MathML&quot; display=&quot;block&quot; data-is-equatio=&quot;1&quot; data-latex=&quot;\frac{4}{5}\times\frac{3}{19}\ \ \ \ \ \ \frac{3}{5}\times\frac{4}{19}&quot;&gt;&lt;mfrac&gt;&lt;mn&gt;4&lt;/mn&gt;&lt;mn&gt;5&lt;/mn&gt;&lt;/mfrac&gt;&lt;mo&gt;×&lt;/mo&gt;&lt;mfrac&gt;&lt;mn&gt;3&lt;/mn&gt;&lt;mn&gt;19&lt;/mn&gt;&lt;/mfrac&gt;&lt;mtext&gt;&lt;/mtext&gt;&lt;mtext&gt;&lt;/mtext&gt;&lt;mtext&gt;&lt;/mtext&gt;&lt;mtext&gt;&lt;/mtext&gt;&lt;mtext&gt;&lt;/mtext&gt;&lt;mtext&gt;&lt;/mtext&gt;&lt;mfrac&gt;&lt;mn&gt;3&lt;/mn&gt;&lt;mn&gt;5&lt;/mn&gt;&lt;/mfrac&gt;&lt;mo&gt;×&lt;/mo&gt;&lt;mfrac&gt;&lt;mn&gt;4&lt;/mn&gt;&lt;mn&gt;19&lt;/mn&gt;&lt;/mfrac&gt;&lt;/math&gt;" title="four fifths times 3 over 19 three fifths times 4 over 19"/>
          <p:cNvPicPr preferRelativeResize="0"/>
          <p:nvPr/>
        </p:nvPicPr>
        <p:blipFill>
          <a:blip r:embed="rId5">
            <a:alphaModFix/>
          </a:blip>
          <a:srcRect r="58747"/>
          <a:stretch>
            <a:fillRect/>
          </a:stretch>
        </p:blipFill>
        <p:spPr>
          <a:xfrm>
            <a:off x="3686434" y="4314850"/>
            <a:ext cx="683324" cy="437436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7" name="Google Shape;1117;p85"/>
          <p:cNvSpPr txBox="1"/>
          <p:nvPr/>
        </p:nvSpPr>
        <p:spPr>
          <a:xfrm>
            <a:off x="3352716" y="4347837"/>
            <a:ext cx="283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5"/>
          <p:cNvSpPr txBox="1"/>
          <p:nvPr/>
        </p:nvSpPr>
        <p:spPr>
          <a:xfrm>
            <a:off x="1678438" y="1506400"/>
            <a:ext cx="391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5"/>
          <p:cNvSpPr txBox="1"/>
          <p:nvPr/>
        </p:nvSpPr>
        <p:spPr>
          <a:xfrm>
            <a:off x="1678450" y="2437550"/>
            <a:ext cx="391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5"/>
          <p:cNvSpPr txBox="1"/>
          <p:nvPr/>
        </p:nvSpPr>
        <p:spPr>
          <a:xfrm>
            <a:off x="1678438" y="3341925"/>
            <a:ext cx="391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5"/>
          <p:cNvSpPr/>
          <p:nvPr/>
        </p:nvSpPr>
        <p:spPr>
          <a:xfrm>
            <a:off x="738325" y="1389100"/>
            <a:ext cx="968400" cy="693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5"/>
          <p:cNvSpPr/>
          <p:nvPr/>
        </p:nvSpPr>
        <p:spPr>
          <a:xfrm>
            <a:off x="738325" y="2352650"/>
            <a:ext cx="968400" cy="693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5"/>
          <p:cNvSpPr/>
          <p:nvPr/>
        </p:nvSpPr>
        <p:spPr>
          <a:xfrm>
            <a:off x="2035400" y="2352650"/>
            <a:ext cx="968400" cy="693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5"/>
          <p:cNvSpPr/>
          <p:nvPr/>
        </p:nvSpPr>
        <p:spPr>
          <a:xfrm>
            <a:off x="2035400" y="1389100"/>
            <a:ext cx="968400" cy="693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5"/>
          <p:cNvSpPr/>
          <p:nvPr/>
        </p:nvSpPr>
        <p:spPr>
          <a:xfrm>
            <a:off x="741288" y="3257100"/>
            <a:ext cx="968400" cy="693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5"/>
          <p:cNvSpPr/>
          <p:nvPr/>
        </p:nvSpPr>
        <p:spPr>
          <a:xfrm>
            <a:off x="2038363" y="3257100"/>
            <a:ext cx="968400" cy="693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0" name="Shape 1130"/>
        <p:cNvGrpSpPr/>
        <p:nvPr/>
      </p:nvGrpSpPr>
      <p:grpSpPr>
        <a:xfrm>
          <a:off x="0" y="0"/>
          <a:ext cx="0" cy="0"/>
        </a:xfrm>
      </p:grpSpPr>
      <p:sp>
        <p:nvSpPr>
          <p:cNvPr id="1131" name="Google Shape;1131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products</a:t>
            </a:r>
            <a:endParaRPr/>
          </a:p>
        </p:txBody>
      </p:sp>
      <p:sp>
        <p:nvSpPr>
          <p:cNvPr id="1132" name="Google Shape;1132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 </a:t>
            </a:r>
            <a:endParaRPr/>
          </a:p>
        </p:txBody>
      </p:sp>
      <p:sp>
        <p:nvSpPr>
          <p:cNvPr id="1133" name="Google Shape;1133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pic>
        <p:nvPicPr>
          <p:cNvPr id="1134" name="Google Shape;113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63" y="299118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8" name="Shape 1138"/>
        <p:cNvGrpSpPr/>
        <p:nvPr/>
      </p:nvGrpSpPr>
      <p:grpSpPr>
        <a:xfrm>
          <a:off x="0" y="0"/>
          <a:ext cx="0" cy="0"/>
        </a:xfrm>
      </p:grpSpPr>
      <p:sp>
        <p:nvSpPr>
          <p:cNvPr id="1139" name="Google Shape;113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140" name="Google Shape;1140;p87"/>
          <p:cNvSpPr txBox="1"/>
          <p:nvPr>
            <p:ph type="body" idx="1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Earlier we looked at these two calculations.</a:t>
            </a:r>
            <a:endParaRPr sz="1800"/>
          </a:p>
        </p:txBody>
      </p:sp>
      <p:pic>
        <p:nvPicPr>
          <p:cNvPr id="1141" name="Google Shape;1141;p87" descr="&lt;math xmlns=&quot;http://www.w3.org/1998/Math/MathML&quot; display=&quot;block&quot; data-is-equatio=&quot;1&quot; data-latex=&quot;\frac{1}{3}\times4&quot;&gt;&lt;mfrac&gt;&lt;mn&gt;1&lt;/mn&gt;&lt;mn&gt;3&lt;/mn&gt;&lt;/mfrac&gt;&lt;mo&gt;×&lt;/mo&gt;&lt;mn&gt;4&lt;/mn&gt;&lt;/math&gt;" title="one third time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934198"/>
            <a:ext cx="602365" cy="5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7" descr="&lt;math xmlns=&quot;http://www.w3.org/1998/Math/MathML&quot; display=&quot;block&quot; data-is-equatio=&quot;1&quot; data-latex=&quot;4\times\frac{1}{3}&quot;&gt;&lt;mn&gt;4&lt;/mn&gt;&lt;mo&gt;×&lt;/mo&gt;&lt;mfrac&gt;&lt;mn&gt;1&lt;/mn&gt;&lt;mn&gt;3&lt;/mn&gt;&lt;/mfrac&gt;&lt;/math&gt;" title="4 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673" y="934209"/>
            <a:ext cx="606277" cy="5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87" descr="&lt;math xmlns=&quot;http://www.w3.org/1998/Math/MathML&quot; display=&quot;block&quot; data-is-equatio=&quot;1&quot; data-latex=&quot;=1\ \frac{1}{3}&quot;&gt;&lt;mo&gt;=&lt;/mo&gt;&lt;mn&gt;1&lt;/mn&gt;&lt;mtext&gt;&lt;/mtext&gt;&lt;mfrac&gt;&lt;mn&gt;1&lt;/mn&gt;&lt;mn&gt;3&lt;/mn&gt;&lt;/mfrac&gt;&lt;/math&gt;" title="equals 1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6075" y="934200"/>
            <a:ext cx="629759" cy="5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7" descr="&lt;math xmlns=&quot;http://www.w3.org/1998/Math/MathML&quot; display=&quot;block&quot; data-is-equatio=&quot;1&quot; data-latex=&quot;=1\ \frac{1}{3}&quot;&gt;&lt;mo&gt;=&lt;/mo&gt;&lt;mn&gt;1&lt;/mn&gt;&lt;mtext&gt;&lt;/mtext&gt;&lt;mfrac&gt;&lt;mn&gt;1&lt;/mn&gt;&lt;mn&gt;3&lt;/mn&gt;&lt;/mfrac&gt;&lt;/math&gt;" title="equals 1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0000" y="934200"/>
            <a:ext cx="629759" cy="5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87"/>
          <p:cNvSpPr txBox="1"/>
          <p:nvPr>
            <p:ph type="body" idx="1"/>
          </p:nvPr>
        </p:nvSpPr>
        <p:spPr>
          <a:xfrm>
            <a:off x="324000" y="1581150"/>
            <a:ext cx="6481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was the product as an improper fraction? </a:t>
            </a:r>
            <a:endParaRPr sz="1800"/>
          </a:p>
        </p:txBody>
      </p:sp>
      <p:sp>
        <p:nvSpPr>
          <p:cNvPr id="1146" name="Google Shape;1146;p87"/>
          <p:cNvSpPr txBox="1"/>
          <p:nvPr>
            <p:ph type="body" idx="1"/>
          </p:nvPr>
        </p:nvSpPr>
        <p:spPr>
          <a:xfrm>
            <a:off x="324000" y="2608750"/>
            <a:ext cx="1438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Therefore, </a:t>
            </a:r>
            <a:endParaRPr sz="1800"/>
          </a:p>
        </p:txBody>
      </p:sp>
      <p:pic>
        <p:nvPicPr>
          <p:cNvPr id="1147" name="Google Shape;1147;p87" descr="&lt;math xmlns=&quot;http://www.w3.org/1998/Math/MathML&quot; display=&quot;block&quot; data-is-equatio=&quot;1&quot; data-latex=&quot;1\ \frac{1}{3}=\frac{4}{3}&quot;&gt;&lt;mn&gt;1&lt;/mn&gt;&lt;mtext&gt;&lt;/mtext&gt;&lt;mfrac&gt;&lt;mn&gt;1&lt;/mn&gt;&lt;mn&gt;3&lt;/mn&gt;&lt;/mfrac&gt;&lt;mo&gt;=&lt;/mo&gt;&lt;mfrac&gt;&lt;mn&gt;4&lt;/mn&gt;&lt;mn&gt;3&lt;/mn&gt;&lt;/mfrac&gt;&lt;/math&gt;" title="1 one third equals 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900" y="1913850"/>
            <a:ext cx="870673" cy="5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7" descr="&lt;math xmlns=&quot;http://www.w3.org/1998/Math/MathML&quot; display=&quot;block&quot; data-is-equatio=&quot;1&quot; data-latex=&quot;4\times\frac{1}{3}&quot;&gt;&lt;mn&gt;4&lt;/mn&gt;&lt;mo&gt;×&lt;/mo&gt;&lt;mfrac&gt;&lt;mn&gt;1&lt;/mn&gt;&lt;mn&gt;3&lt;/mn&gt;&lt;/mfrac&gt;&lt;/math&gt;" title="4 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7586" y="2521709"/>
            <a:ext cx="606277" cy="5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7" descr="&lt;math xmlns=&quot;http://www.w3.org/1998/Math/MathML&quot; display=&quot;block&quot; data-is-equatio=&quot;1&quot; data-latex=&quot;1\ \frac{1}{3}=\frac{4}{3}&quot;&gt;&lt;mn&gt;1&lt;/mn&gt;&lt;mtext&gt;&lt;/mtext&gt;&lt;mfrac&gt;&lt;mn&gt;1&lt;/mn&gt;&lt;mn&gt;3&lt;/mn&gt;&lt;/mfrac&gt;&lt;mo&gt;=&lt;/mo&gt;&lt;mfrac&gt;&lt;mn&gt;4&lt;/mn&gt;&lt;mn&gt;3&lt;/mn&gt;&lt;/mfrac&gt;&lt;/math&gt;" title="1 one third equals four thirds"/>
          <p:cNvPicPr preferRelativeResize="0"/>
          <p:nvPr/>
        </p:nvPicPr>
        <p:blipFill>
          <a:blip r:embed="rId6">
            <a:alphaModFix/>
          </a:blip>
          <a:srcRect l="47448"/>
          <a:stretch>
            <a:fillRect/>
          </a:stretch>
        </p:blipFill>
        <p:spPr>
          <a:xfrm>
            <a:off x="2329174" y="2534200"/>
            <a:ext cx="457550" cy="51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87"/>
          <p:cNvSpPr txBox="1"/>
          <p:nvPr>
            <p:ph type="body" idx="1"/>
          </p:nvPr>
        </p:nvSpPr>
        <p:spPr>
          <a:xfrm>
            <a:off x="324000" y="3225725"/>
            <a:ext cx="7389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does this link to our generalisation that:                              ?</a:t>
            </a:r>
            <a:endParaRPr sz="1800"/>
          </a:p>
        </p:txBody>
      </p:sp>
      <p:pic>
        <p:nvPicPr>
          <p:cNvPr id="1151" name="Google Shape;1151;p87" descr="&lt;math xmlns=&quot;http://www.w3.org/1998/Math/MathML&quot; display=&quot;block&quot; data-is-equatio=&quot;1&quot; data-latex=&quot;\frac{a}{b}\times\frac{c}{d}=\frac{a\times c}{b\times d}&quot;&gt;&lt;mfrac&gt;&lt;mi&gt;a&lt;/mi&gt;&lt;mi&gt;b&lt;/mi&gt;&lt;/mfrac&gt;&lt;mo&gt;×&lt;/mo&gt;&lt;mfrac&gt;&lt;mi&gt;c&lt;/mi&gt;&lt;mi&gt;d&lt;/mi&gt;&lt;/mfrac&gt;&lt;mo&gt;=&lt;/mo&gt;&lt;mfrac&gt;&lt;mrow&gt;&lt;mi&gt;a&lt;/mi&gt;&lt;mo&gt;×&lt;/mo&gt;&lt;mi&gt;c&lt;/mi&gt;&lt;/mrow&gt;&lt;mrow&gt;&lt;mi&gt;b&lt;/mi&gt;&lt;mo&gt;×&lt;/mo&gt;&lt;mi&gt;d&lt;/mi&gt;&lt;/mrow&gt;&lt;/mfrac&gt;&lt;/math&gt;" title="a over b times c over d equals the fraction with numerator a times c and denominator b times 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0049" y="3114225"/>
            <a:ext cx="1773495" cy="5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87"/>
          <p:cNvSpPr txBox="1"/>
          <p:nvPr>
            <p:ph type="body" idx="1"/>
          </p:nvPr>
        </p:nvSpPr>
        <p:spPr>
          <a:xfrm>
            <a:off x="324000" y="3842700"/>
            <a:ext cx="8128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Any integer can be written as fraction with a denominator of 1. </a:t>
            </a:r>
            <a:endParaRPr sz="1800"/>
          </a:p>
        </p:txBody>
      </p:sp>
      <p:pic>
        <p:nvPicPr>
          <p:cNvPr id="1153" name="Google Shape;1153;p87" descr="&lt;math xmlns=&quot;http://www.w3.org/1998/Math/MathML&quot; display=&quot;block&quot; data-is-equatio=&quot;1&quot; data-latex=&quot;\frac{4}{1}\times\frac{1}{3}=\frac{4\times1}{1\times3}=\frac{4}{3}=1\ \frac{1}{3}&quot;&gt;&lt;mfrac&gt;&lt;mn&gt;4&lt;/mn&gt;&lt;mn&gt;1&lt;/mn&gt;&lt;/mfrac&gt;&lt;mo&gt;×&lt;/mo&gt;&lt;mfrac&gt;&lt;mn&gt;1&lt;/mn&gt;&lt;mn&gt;3&lt;/mn&gt;&lt;/mfrac&gt;&lt;mo&gt;=&lt;/mo&gt;&lt;mfrac&gt;&lt;mrow&gt;&lt;mn&gt;4&lt;/mn&gt;&lt;mo&gt;×&lt;/mo&gt;&lt;mn&gt;1&lt;/mn&gt;&lt;/mrow&gt;&lt;mrow&gt;&lt;mn&gt;1&lt;/mn&gt;&lt;mo&gt;×&lt;/mo&gt;&lt;mn&gt;3&lt;/mn&gt;&lt;/mrow&gt;&lt;/mfrac&gt;&lt;mo&gt;=&lt;/mo&gt;&lt;mfrac&gt;&lt;mn&gt;4&lt;/mn&gt;&lt;mn&gt;3&lt;/mn&gt;&lt;/mfrac&gt;&lt;mo&gt;=&lt;/mo&gt;&lt;mn&gt;1&lt;/mn&gt;&lt;mtext&gt;&lt;/mtext&gt;&lt;mfrac&gt;&lt;mn&gt;1&lt;/mn&gt;&lt;mn&gt;3&lt;/mn&gt;&lt;/mfrac&gt;&lt;/math&gt;" title="four oneths times one third equals the fraction with numerator 4 times 1 and denominator 1 times 3 equals four thirds equals 1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4375" y="4204550"/>
            <a:ext cx="2787976" cy="5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7" name="Shape 1157"/>
        <p:cNvGrpSpPr/>
        <p:nvPr/>
      </p:nvGrpSpPr>
      <p:grpSpPr>
        <a:xfrm>
          <a:off x="0" y="0"/>
          <a:ext cx="0" cy="0"/>
        </a:xfrm>
      </p:grpSpPr>
      <p:sp>
        <p:nvSpPr>
          <p:cNvPr id="1158" name="Google Shape;11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159" name="Google Shape;1159;p88"/>
          <p:cNvSpPr txBox="1"/>
          <p:nvPr>
            <p:ph type="body" idx="1"/>
          </p:nvPr>
        </p:nvSpPr>
        <p:spPr>
          <a:xfrm>
            <a:off x="324000" y="759300"/>
            <a:ext cx="13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Calculate:</a:t>
            </a:r>
            <a:endParaRPr/>
          </a:p>
        </p:txBody>
      </p:sp>
      <p:pic>
        <p:nvPicPr>
          <p:cNvPr id="1160" name="Google Shape;1160;p88" descr="&lt;math xmlns=&quot;http://www.w3.org/1998/Math/MathML&quot; display=&quot;block&quot; data-is-equatio=&quot;1&quot; data-latex=&quot;15\times\frac{1}{4}\times\frac{2}{5}=\frac{15\times1\times2}{1\times4\times5}=\frac{30}{20}=\frac{3}{2}=1\ \frac{1}{2}&quot;&gt;&lt;mn&gt;15&lt;/mn&gt;&lt;mo&gt;×&lt;/mo&gt;&lt;mfrac&gt;&lt;mn&gt;1&lt;/mn&gt;&lt;mn&gt;4&lt;/mn&gt;&lt;/mfrac&gt;&lt;mo&gt;×&lt;/mo&gt;&lt;mfrac&gt;&lt;mn&gt;2&lt;/mn&gt;&lt;mn&gt;5&lt;/mn&gt;&lt;/mfrac&gt;&lt;mo&gt;=&lt;/mo&gt;&lt;mfrac&gt;&lt;mrow&gt;&lt;mn&gt;15&lt;/mn&gt;&lt;mo&gt;×&lt;/mo&gt;&lt;mn&gt;1&lt;/mn&gt;&lt;mo&gt;×&lt;/mo&gt;&lt;mn&gt;2&lt;/mn&gt;&lt;/mrow&gt;&lt;mrow&gt;&lt;mn&gt;1&lt;/mn&gt;&lt;mo&gt;×&lt;/mo&gt;&lt;mn&gt;4&lt;/mn&gt;&lt;mo&gt;×&lt;/mo&gt;&lt;mn&gt;5&lt;/mn&gt;&lt;/mrow&gt;&lt;/mfrac&gt;&lt;mo&gt;=&lt;/mo&gt;&lt;mfrac&gt;&lt;mn&gt;30&lt;/mn&gt;&lt;mn&gt;20&lt;/mn&gt;&lt;/mfrac&gt;&lt;mo&gt;=&lt;/mo&gt;&lt;mfrac&gt;&lt;mn&gt;3&lt;/mn&gt;&lt;mn&gt;2&lt;/mn&gt;&lt;/mfrac&gt;&lt;mo&gt;=&lt;/mo&gt;&lt;mn&gt;1&lt;/mn&gt;&lt;mtext&gt;&lt;/mtext&gt;&lt;mfrac&gt;&lt;mn&gt;1&lt;/mn&gt;&lt;mn&gt;2&lt;/mn&gt;&lt;/mfrac&gt;&lt;/math&gt;" title="15 times one fourth times two fifths equals the fraction with numerator 15 times 1 times 2 and denominator 1 times 4 times 5 equals 30 over 20 equals three halves equals 1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01525"/>
            <a:ext cx="5654409" cy="6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88"/>
          <p:cNvSpPr/>
          <p:nvPr/>
        </p:nvSpPr>
        <p:spPr>
          <a:xfrm>
            <a:off x="1874525" y="1100050"/>
            <a:ext cx="1782600" cy="8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8"/>
          <p:cNvSpPr/>
          <p:nvPr/>
        </p:nvSpPr>
        <p:spPr>
          <a:xfrm>
            <a:off x="3750225" y="1127000"/>
            <a:ext cx="752100" cy="8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8"/>
          <p:cNvSpPr/>
          <p:nvPr/>
        </p:nvSpPr>
        <p:spPr>
          <a:xfrm>
            <a:off x="4518625" y="1127000"/>
            <a:ext cx="611100" cy="8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8"/>
          <p:cNvSpPr/>
          <p:nvPr/>
        </p:nvSpPr>
        <p:spPr>
          <a:xfrm>
            <a:off x="5205850" y="1127000"/>
            <a:ext cx="821700" cy="8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8" name="Shape 1168"/>
        <p:cNvGrpSpPr/>
        <p:nvPr/>
      </p:nvGrpSpPr>
      <p:grpSpPr>
        <a:xfrm>
          <a:off x="0" y="0"/>
          <a:ext cx="0" cy="0"/>
        </a:xfrm>
      </p:grpSpPr>
      <p:sp>
        <p:nvSpPr>
          <p:cNvPr id="1169" name="Google Shape;116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170" name="Google Shape;1170;p89"/>
          <p:cNvSpPr txBox="1"/>
          <p:nvPr>
            <p:ph type="body" idx="1"/>
          </p:nvPr>
        </p:nvSpPr>
        <p:spPr>
          <a:xfrm>
            <a:off x="324000" y="683100"/>
            <a:ext cx="7970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and Sam are calculating</a:t>
            </a:r>
            <a:endParaRPr sz="1800"/>
          </a:p>
        </p:txBody>
      </p:sp>
      <p:pic>
        <p:nvPicPr>
          <p:cNvPr id="1171" name="Google Shape;1171;p89" descr="&lt;math xmlns=&quot;http://www.w3.org/1998/Math/MathML&quot; display=&quot;block&quot; data-is-equatio=&quot;1&quot; data-latex=&quot;12\times\frac{2}{3}\times\frac{5}{6}=\frac{12\times2\times5}{1\times3\times6}=\frac{120}{18}=\frac{20}{3}=6\ \frac{2}{3}&quot;&gt;&lt;mn&gt;12&lt;/mn&gt;&lt;mo&gt;×&lt;/mo&gt;&lt;mfrac&gt;&lt;mn&gt;2&lt;/mn&gt;&lt;mn&gt;3&lt;/mn&gt;&lt;/mfrac&gt;&lt;mo&gt;×&lt;/mo&gt;&lt;mfrac&gt;&lt;mn&gt;5&lt;/mn&gt;&lt;mn&gt;6&lt;/mn&gt;&lt;/mfrac&gt;&lt;mo&gt;=&lt;/mo&gt;&lt;mfrac&gt;&lt;mrow&gt;&lt;mn&gt;12&lt;/mn&gt;&lt;mo&gt;×&lt;/mo&gt;&lt;mn&gt;2&lt;/mn&gt;&lt;mo&gt;×&lt;/mo&gt;&lt;mn&gt;5&lt;/mn&gt;&lt;/mrow&gt;&lt;mrow&gt;&lt;mn&gt;1&lt;/mn&gt;&lt;mo&gt;×&lt;/mo&gt;&lt;mn&gt;3&lt;/mn&gt;&lt;mo&gt;×&lt;/mo&gt;&lt;mn&gt;6&lt;/mn&gt;&lt;/mrow&gt;&lt;/mfrac&gt;&lt;mo&gt;=&lt;/mo&gt;&lt;mfrac&gt;&lt;mn&gt;120&lt;/mn&gt;&lt;mn&gt;18&lt;/mn&gt;&lt;/mfrac&gt;&lt;mo&gt;=&lt;/mo&gt;&lt;mfrac&gt;&lt;mn&gt;20&lt;/mn&gt;&lt;mn&gt;3&lt;/mn&gt;&lt;/mfrac&gt;&lt;mo&gt;=&lt;/mo&gt;&lt;mn&gt;6&lt;/mn&gt;&lt;mtext&gt;&lt;/mtext&gt;&lt;mfrac&gt;&lt;mn&gt;2&lt;/mn&gt;&lt;mn&gt;3&lt;/mn&gt;&lt;/mfrac&gt;&lt;/math&gt;" title="12 times two thirds times five sixths equals the fraction with numerator 12 times 2 times 5 and denominator 1 times 3 times 6 equals 120 over 18 equals 20 over 3 equals 6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76850"/>
            <a:ext cx="5078989" cy="561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89" descr="&lt;math xmlns=&quot;http://www.w3.org/1998/Math/MathML&quot; display=&quot;block&quot; data-is-equatio=&quot;1&quot; data-latex=&quot;12\times\frac{2}{3}\times\frac{5}{6}=\frac{12\times2\times5}{1\times3\times6}=\frac{120}{18}=6\frac{12}{18}=6\ \frac{2}{3}&quot;&gt;&lt;mn&gt;12&lt;/mn&gt;&lt;mo&gt;×&lt;/mo&gt;&lt;mfrac&gt;&lt;mn&gt;2&lt;/mn&gt;&lt;mn&gt;3&lt;/mn&gt;&lt;/mfrac&gt;&lt;mo&gt;×&lt;/mo&gt;&lt;mfrac&gt;&lt;mn&gt;5&lt;/mn&gt;&lt;mn&gt;6&lt;/mn&gt;&lt;/mfrac&gt;&lt;mo&gt;=&lt;/mo&gt;&lt;mfrac&gt;&lt;mrow&gt;&lt;mn&gt;12&lt;/mn&gt;&lt;mo&gt;×&lt;/mo&gt;&lt;mn&gt;2&lt;/mn&gt;&lt;mo&gt;×&lt;/mo&gt;&lt;mn&gt;5&lt;/mn&gt;&lt;/mrow&gt;&lt;mrow&gt;&lt;mn&gt;1&lt;/mn&gt;&lt;mo&gt;×&lt;/mo&gt;&lt;mn&gt;3&lt;/mn&gt;&lt;mo&gt;×&lt;/mo&gt;&lt;mn&gt;6&lt;/mn&gt;&lt;/mrow&gt;&lt;/mfrac&gt;&lt;mo&gt;=&lt;/mo&gt;&lt;mfrac&gt;&lt;mn&gt;120&lt;/mn&gt;&lt;mn&gt;18&lt;/mn&gt;&lt;/mfrac&gt;&lt;mo&gt;=&lt;/mo&gt;&lt;mn&gt;6&lt;/mn&gt;&lt;mfrac&gt;&lt;mn&gt;12&lt;/mn&gt;&lt;mn&gt;18&lt;/mn&gt;&lt;/mfrac&gt;&lt;mo&gt;=&lt;/mo&gt;&lt;mn&gt;6&lt;/mn&gt;&lt;mtext&gt;&lt;/mtext&gt;&lt;mfrac&gt;&lt;mn&gt;2&lt;/mn&gt;&lt;mn&gt;3&lt;/mn&gt;&lt;/mfrac&gt;&lt;/math&gt;" title="12 times two thirds times five sixths equals the fraction with numerator 12 times 2 times 5 and denominator 1 times 3 times 6 equals 120 over 18 equals 6 and 12 over 18 equals 6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6325" y="2503813"/>
            <a:ext cx="5047839" cy="543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89"/>
          <p:cNvSpPr txBox="1"/>
          <p:nvPr/>
        </p:nvSpPr>
        <p:spPr>
          <a:xfrm>
            <a:off x="457795" y="2929834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4" name="Google Shape;1174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591" y="2071421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94613" y="2709631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9"/>
          <p:cNvSpPr txBox="1"/>
          <p:nvPr/>
        </p:nvSpPr>
        <p:spPr>
          <a:xfrm>
            <a:off x="7790200" y="3704468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7" name="Google Shape;1177;p89" descr="&lt;math xmlns=&quot;http://www.w3.org/1998/Math/MathML&quot; display=&quot;block&quot; data-is-equatio=&quot;1&quot; data-latex=&quot;12\times\frac{2}{3}\times\frac{5}{6}=\frac{12\times2\times5}{1\times3\times6}=\frac{120}{18}=\frac{20}{3}=6\ \frac{2}{3}&quot;&gt;&lt;mn&gt;12&lt;/mn&gt;&lt;mo&gt;×&lt;/mo&gt;&lt;mfrac&gt;&lt;mn&gt;2&lt;/mn&gt;&lt;mn&gt;3&lt;/mn&gt;&lt;/mfrac&gt;&lt;mo&gt;×&lt;/mo&gt;&lt;mfrac&gt;&lt;mn&gt;5&lt;/mn&gt;&lt;mn&gt;6&lt;/mn&gt;&lt;/mfrac&gt;&lt;mo&gt;=&lt;/mo&gt;&lt;mfrac&gt;&lt;mrow&gt;&lt;mn&gt;12&lt;/mn&gt;&lt;mo&gt;×&lt;/mo&gt;&lt;mn&gt;2&lt;/mn&gt;&lt;mo&gt;×&lt;/mo&gt;&lt;mn&gt;5&lt;/mn&gt;&lt;/mrow&gt;&lt;mrow&gt;&lt;mn&gt;1&lt;/mn&gt;&lt;mo&gt;×&lt;/mo&gt;&lt;mn&gt;3&lt;/mn&gt;&lt;mo&gt;×&lt;/mo&gt;&lt;mn&gt;6&lt;/mn&gt;&lt;/mrow&gt;&lt;/mfrac&gt;&lt;mo&gt;=&lt;/mo&gt;&lt;mfrac&gt;&lt;mn&gt;120&lt;/mn&gt;&lt;mn&gt;18&lt;/mn&gt;&lt;/mfrac&gt;&lt;mo&gt;=&lt;/mo&gt;&lt;mfrac&gt;&lt;mn&gt;20&lt;/mn&gt;&lt;mn&gt;3&lt;/mn&gt;&lt;/mfrac&gt;&lt;mo&gt;=&lt;/mo&gt;&lt;mn&gt;6&lt;/mn&gt;&lt;mtext&gt;&lt;/mtext&gt;&lt;mfrac&gt;&lt;mn&gt;2&lt;/mn&gt;&lt;mn&gt;3&lt;/mn&gt;&lt;/mfrac&gt;&lt;/math&gt;" title="12 times two thirds times five sixths equals the fraction with numerator 12 times 2 times 5 and denominator 1 times 3 times 6 equals 120 over 18 equals 20 over 3 equals 6 two thirds"/>
          <p:cNvPicPr preferRelativeResize="0"/>
          <p:nvPr/>
        </p:nvPicPr>
        <p:blipFill>
          <a:blip r:embed="rId3">
            <a:alphaModFix/>
          </a:blip>
          <a:srcRect r="73660"/>
          <a:stretch>
            <a:fillRect/>
          </a:stretch>
        </p:blipFill>
        <p:spPr>
          <a:xfrm>
            <a:off x="3818850" y="621075"/>
            <a:ext cx="1111456" cy="4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89"/>
          <p:cNvSpPr txBox="1"/>
          <p:nvPr>
            <p:ph type="body" idx="1"/>
          </p:nvPr>
        </p:nvSpPr>
        <p:spPr>
          <a:xfrm>
            <a:off x="324000" y="1086600"/>
            <a:ext cx="2296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Lucas’ workings:</a:t>
            </a:r>
            <a:endParaRPr sz="1800"/>
          </a:p>
        </p:txBody>
      </p:sp>
      <p:sp>
        <p:nvSpPr>
          <p:cNvPr id="1179" name="Google Shape;1179;p89"/>
          <p:cNvSpPr txBox="1"/>
          <p:nvPr>
            <p:ph type="body" idx="1"/>
          </p:nvPr>
        </p:nvSpPr>
        <p:spPr>
          <a:xfrm>
            <a:off x="2202025" y="2163900"/>
            <a:ext cx="2296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Sam’s workings:</a:t>
            </a:r>
            <a:endParaRPr sz="1800"/>
          </a:p>
        </p:txBody>
      </p:sp>
      <p:sp>
        <p:nvSpPr>
          <p:cNvPr id="1180" name="Google Shape;1180;p89"/>
          <p:cNvSpPr txBox="1"/>
          <p:nvPr>
            <p:ph type="body" idx="1"/>
          </p:nvPr>
        </p:nvSpPr>
        <p:spPr>
          <a:xfrm>
            <a:off x="324000" y="3399000"/>
            <a:ext cx="71352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lang="en-GB" sz="1800">
                <a:solidFill>
                  <a:schemeClr val="accent5"/>
                </a:solidFill>
              </a:rPr>
              <a:t>same</a:t>
            </a:r>
            <a:r>
              <a:rPr lang="en-GB" sz="1800"/>
              <a:t> and what is </a:t>
            </a:r>
            <a:r>
              <a:rPr lang="en-GB" sz="1800">
                <a:solidFill>
                  <a:schemeClr val="accent5"/>
                </a:solidFill>
              </a:rPr>
              <a:t>different</a:t>
            </a:r>
            <a:r>
              <a:rPr lang="en-GB" sz="1800"/>
              <a:t> about their methods?</a:t>
            </a:r>
            <a:endParaRPr sz="1800"/>
          </a:p>
        </p:txBody>
      </p:sp>
      <p:sp>
        <p:nvSpPr>
          <p:cNvPr id="1181" name="Google Shape;1181;p89"/>
          <p:cNvSpPr txBox="1"/>
          <p:nvPr>
            <p:ph type="body" idx="1"/>
          </p:nvPr>
        </p:nvSpPr>
        <p:spPr>
          <a:xfrm>
            <a:off x="324000" y="3806400"/>
            <a:ext cx="7255200" cy="10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Their methods are the same until      then Lucas simplified and then converted the improper fraction to a mixed number and Sam changed it to a mixed number and then simplified.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2" name="Google Shape;1182;p89" descr="&lt;math xmlns=&quot;http://www.w3.org/1998/Math/MathML&quot; display=&quot;block&quot; data-is-equatio=&quot;1&quot; data-latex=&quot;12\times\frac{2}{3}\times\frac{5}{6}=\frac{12\times2\times5}{1\times3\times6}=\frac{120}{18}=\frac{20}{3}=6\ \frac{2}{3}&quot;&gt;&lt;mn&gt;12&lt;/mn&gt;&lt;mo&gt;×&lt;/mo&gt;&lt;mfrac&gt;&lt;mn&gt;2&lt;/mn&gt;&lt;mn&gt;3&lt;/mn&gt;&lt;/mfrac&gt;&lt;mo&gt;×&lt;/mo&gt;&lt;mfrac&gt;&lt;mn&gt;5&lt;/mn&gt;&lt;mn&gt;6&lt;/mn&gt;&lt;/mfrac&gt;&lt;mo&gt;=&lt;/mo&gt;&lt;mfrac&gt;&lt;mrow&gt;&lt;mn&gt;12&lt;/mn&gt;&lt;mo&gt;×&lt;/mo&gt;&lt;mn&gt;2&lt;/mn&gt;&lt;mo&gt;×&lt;/mo&gt;&lt;mn&gt;5&lt;/mn&gt;&lt;/mrow&gt;&lt;mrow&gt;&lt;mn&gt;1&lt;/mn&gt;&lt;mo&gt;×&lt;/mo&gt;&lt;mn&gt;3&lt;/mn&gt;&lt;mo&gt;×&lt;/mo&gt;&lt;mn&gt;6&lt;/mn&gt;&lt;/mrow&gt;&lt;/mfrac&gt;&lt;mo&gt;=&lt;/mo&gt;&lt;mfrac&gt;&lt;mn&gt;120&lt;/mn&gt;&lt;mn&gt;18&lt;/mn&gt;&lt;/mfrac&gt;&lt;mo&gt;=&lt;/mo&gt;&lt;mfrac&gt;&lt;mn&gt;20&lt;/mn&gt;&lt;mn&gt;3&lt;/mn&gt;&lt;/mfrac&gt;&lt;mo&gt;=&lt;/mo&gt;&lt;mn&gt;6&lt;/mn&gt;&lt;mtext&gt;&lt;/mtext&gt;&lt;mfrac&gt;&lt;mn&gt;2&lt;/mn&gt;&lt;mn&gt;3&lt;/mn&gt;&lt;/mfrac&gt;&lt;/math&gt;" title="12 times two thirds times five sixths equals the fraction with numerator 12 times 2 times 5 and denominator 1 times 3 times 6 equals 120 over 18 equals 20 over 3 equals 6 two thirds"/>
          <p:cNvPicPr preferRelativeResize="0"/>
          <p:nvPr/>
        </p:nvPicPr>
        <p:blipFill>
          <a:blip r:embed="rId3">
            <a:alphaModFix/>
          </a:blip>
          <a:srcRect l="61724" r="27325"/>
          <a:stretch>
            <a:fillRect/>
          </a:stretch>
        </p:blipFill>
        <p:spPr>
          <a:xfrm>
            <a:off x="4063200" y="3761400"/>
            <a:ext cx="406799" cy="4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6" name="Shape 1186"/>
        <p:cNvGrpSpPr/>
        <p:nvPr/>
      </p:nvGrpSpPr>
      <p:grpSpPr>
        <a:xfrm>
          <a:off x="0" y="0"/>
          <a:ext cx="0" cy="0"/>
        </a:xfrm>
      </p:grpSpPr>
      <p:sp>
        <p:nvSpPr>
          <p:cNvPr id="1187" name="Google Shape;118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188" name="Google Shape;1188;p90"/>
          <p:cNvSpPr txBox="1"/>
          <p:nvPr>
            <p:ph type="subTitle" idx="1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Calculate:</a:t>
            </a:r>
            <a:endParaRPr/>
          </a:p>
        </p:txBody>
      </p:sp>
      <p:sp>
        <p:nvSpPr>
          <p:cNvPr id="1189" name="Google Shape;1189;p90"/>
          <p:cNvSpPr txBox="1"/>
          <p:nvPr>
            <p:ph type="subTitle" idx="2"/>
          </p:nvPr>
        </p:nvSpPr>
        <p:spPr>
          <a:xfrm>
            <a:off x="4824000" y="810000"/>
            <a:ext cx="39822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Calculate:</a:t>
            </a:r>
            <a:endParaRPr/>
          </a:p>
        </p:txBody>
      </p:sp>
      <p:pic>
        <p:nvPicPr>
          <p:cNvPr id="1190" name="Google Shape;1190;p90" descr="&lt;math xmlns=&quot;http://www.w3.org/1998/Math/MathML&quot; display=&quot;block&quot; data-is-equatio=&quot;1&quot; data-latex=&quot;\frac{3}{5}\times6\times\frac{2}{3}=\frac{3\times6\times2}{5\times1\times3}=\frac{36}{15}=\frac{12}{5}=2\ \frac{2}{5}&quot;&gt;&lt;mfrac&gt;&lt;mn&gt;3&lt;/mn&gt;&lt;mn&gt;5&lt;/mn&gt;&lt;/mfrac&gt;&lt;mo&gt;×&lt;/mo&gt;&lt;mn&gt;6&lt;/mn&gt;&lt;mo&gt;×&lt;/mo&gt;&lt;mfrac&gt;&lt;mn&gt;2&lt;/mn&gt;&lt;mn&gt;3&lt;/mn&gt;&lt;/mfrac&gt;&lt;mo&gt;=&lt;/mo&gt;&lt;mfrac&gt;&lt;mrow&gt;&lt;mn&gt;3&lt;/mn&gt;&lt;mo&gt;×&lt;/mo&gt;&lt;mn&gt;6&lt;/mn&gt;&lt;mo&gt;×&lt;/mo&gt;&lt;mn&gt;2&lt;/mn&gt;&lt;/mrow&gt;&lt;mrow&gt;&lt;mn&gt;5&lt;/mn&gt;&lt;mo&gt;×&lt;/mo&gt;&lt;mn&gt;1&lt;/mn&gt;&lt;mo&gt;×&lt;/mo&gt;&lt;mn&gt;3&lt;/mn&gt;&lt;/mrow&gt;&lt;/mfrac&gt;&lt;mo&gt;=&lt;/mo&gt;&lt;mfrac&gt;&lt;mn&gt;36&lt;/mn&gt;&lt;mn&gt;15&lt;/mn&gt;&lt;/mfrac&gt;&lt;mo&gt;=&lt;/mo&gt;&lt;mfrac&gt;&lt;mn&gt;12&lt;/mn&gt;&lt;mn&gt;5&lt;/mn&gt;&lt;/mfrac&gt;&lt;mo&gt;=&lt;/mo&gt;&lt;mn&gt;2&lt;/mn&gt;&lt;mtext&gt;&lt;/mtext&gt;&lt;mfrac&gt;&lt;mn&gt;2&lt;/mn&gt;&lt;mn&gt;5&lt;/mn&gt;&lt;/mfrac&gt;&lt;/math&gt;" title="three fifths times 6 times two thirds equals the fraction with numerator 3 times 6 times 2 and denominator 5 times 1 times 3 equals 36 over 15 equals twelve fifths equals 2 two fifths"/>
          <p:cNvPicPr preferRelativeResize="0"/>
          <p:nvPr/>
        </p:nvPicPr>
        <p:blipFill>
          <a:blip r:embed="rId3">
            <a:alphaModFix/>
          </a:blip>
          <a:srcRect r="43977"/>
          <a:stretch>
            <a:fillRect/>
          </a:stretch>
        </p:blipFill>
        <p:spPr>
          <a:xfrm>
            <a:off x="337826" y="1304825"/>
            <a:ext cx="3284101" cy="7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90" descr="&lt;math xmlns=&quot;http://www.w3.org/1998/Math/MathML&quot; display=&quot;block&quot; data-is-equatio=&quot;1&quot; data-latex=&quot;\frac{1}{5}\times\frac{3}{4}\times4=\frac{1\times3\times4}{5\times4\times1}=\frac{12}{20}=\frac{3}{5}&quot;&gt;&lt;mfrac&gt;&lt;mn&gt;1&lt;/mn&gt;&lt;mn&gt;5&lt;/mn&gt;&lt;/mfrac&gt;&lt;mo&gt;×&lt;/mo&gt;&lt;mfrac&gt;&lt;mn&gt;3&lt;/mn&gt;&lt;mn&gt;4&lt;/mn&gt;&lt;/mfrac&gt;&lt;mo&gt;×&lt;/mo&gt;&lt;mn&gt;4&lt;/mn&gt;&lt;mo&gt;=&lt;/mo&gt;&lt;mfrac&gt;&lt;mrow&gt;&lt;mn&gt;1&lt;/mn&gt;&lt;mo&gt;×&lt;/mo&gt;&lt;mn&gt;3&lt;/mn&gt;&lt;mo&gt;×&lt;/mo&gt;&lt;mn&gt;4&lt;/mn&gt;&lt;/mrow&gt;&lt;mrow&gt;&lt;mn&gt;5&lt;/mn&gt;&lt;mo&gt;×&lt;/mo&gt;&lt;mn&gt;4&lt;/mn&gt;&lt;mo&gt;×&lt;/mo&gt;&lt;mn&gt;1&lt;/mn&gt;&lt;/mrow&gt;&lt;/mfrac&gt;&lt;mo&gt;=&lt;/mo&gt;&lt;mfrac&gt;&lt;mn&gt;12&lt;/mn&gt;&lt;mn&gt;20&lt;/mn&gt;&lt;/mfrac&gt;&lt;mo&gt;=&lt;/mo&gt;&lt;mfrac&gt;&lt;mn&gt;3&lt;/mn&gt;&lt;mn&gt;5&lt;/mn&gt;&lt;/mfrac&gt;&lt;/math&gt;" title="one fifth times three fourths times 4 equals the fraction with numerator 1 times 3 times 4 and denominator 5 times 4 times 1 equals 12 over 20 equals three fifths"/>
          <p:cNvPicPr preferRelativeResize="0"/>
          <p:nvPr/>
        </p:nvPicPr>
        <p:blipFill>
          <a:blip r:embed="rId4">
            <a:alphaModFix/>
          </a:blip>
          <a:srcRect l="69111"/>
          <a:stretch>
            <a:fillRect/>
          </a:stretch>
        </p:blipFill>
        <p:spPr>
          <a:xfrm>
            <a:off x="4823997" y="2298000"/>
            <a:ext cx="1461476" cy="7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90" descr="&lt;math xmlns=&quot;http://www.w3.org/1998/Math/MathML&quot; display=&quot;block&quot; data-is-equatio=&quot;1&quot; data-latex=&quot;\frac{3}{5}\times6\times\frac{2}{3}=\frac{3\times6\times2}{5\times1\times3}=\frac{36}{15}=\frac{12}{5}=2\ \frac{2}{5}&quot;&gt;&lt;mfrac&gt;&lt;mn&gt;3&lt;/mn&gt;&lt;mn&gt;5&lt;/mn&gt;&lt;/mfrac&gt;&lt;mo&gt;×&lt;/mo&gt;&lt;mn&gt;6&lt;/mn&gt;&lt;mo&gt;×&lt;/mo&gt;&lt;mfrac&gt;&lt;mn&gt;2&lt;/mn&gt;&lt;mn&gt;3&lt;/mn&gt;&lt;/mfrac&gt;&lt;mo&gt;=&lt;/mo&gt;&lt;mfrac&gt;&lt;mrow&gt;&lt;mn&gt;3&lt;/mn&gt;&lt;mo&gt;×&lt;/mo&gt;&lt;mn&gt;6&lt;/mn&gt;&lt;mo&gt;×&lt;/mo&gt;&lt;mn&gt;2&lt;/mn&gt;&lt;/mrow&gt;&lt;mrow&gt;&lt;mn&gt;5&lt;/mn&gt;&lt;mo&gt;×&lt;/mo&gt;&lt;mn&gt;1&lt;/mn&gt;&lt;mo&gt;×&lt;/mo&gt;&lt;mn&gt;3&lt;/mn&gt;&lt;/mrow&gt;&lt;/mfrac&gt;&lt;mo&gt;=&lt;/mo&gt;&lt;mfrac&gt;&lt;mn&gt;36&lt;/mn&gt;&lt;mn&gt;15&lt;/mn&gt;&lt;/mfrac&gt;&lt;mo&gt;=&lt;/mo&gt;&lt;mfrac&gt;&lt;mn&gt;12&lt;/mn&gt;&lt;mn&gt;5&lt;/mn&gt;&lt;/mfrac&gt;&lt;mo&gt;=&lt;/mo&gt;&lt;mn&gt;2&lt;/mn&gt;&lt;mtext&gt;&lt;/mtext&gt;&lt;mfrac&gt;&lt;mn&gt;2&lt;/mn&gt;&lt;mn&gt;5&lt;/mn&gt;&lt;/mfrac&gt;&lt;/math&gt;" title="three fifths times 6 times two thirds equals the fraction with numerator 3 times 6 times 2 and denominator 5 times 1 times 3 equals 36 over 15 equals twelve fifths equals 2 two fifths"/>
          <p:cNvPicPr preferRelativeResize="0"/>
          <p:nvPr/>
        </p:nvPicPr>
        <p:blipFill>
          <a:blip r:embed="rId3">
            <a:alphaModFix/>
          </a:blip>
          <a:srcRect l="55299"/>
          <a:stretch>
            <a:fillRect/>
          </a:stretch>
        </p:blipFill>
        <p:spPr>
          <a:xfrm>
            <a:off x="337824" y="2348500"/>
            <a:ext cx="2620376" cy="7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90" descr="&lt;math xmlns=&quot;http://www.w3.org/1998/Math/MathML&quot; display=&quot;block&quot; data-is-equatio=&quot;1&quot; data-latex=&quot;\frac{1}{5}\times\frac{3}{4}\times4=\frac{1\times3\times4}{5\times4\times1}=\frac{12}{20}=\frac{3}{5}&quot;&gt;&lt;mfrac&gt;&lt;mn&gt;1&lt;/mn&gt;&lt;mn&gt;5&lt;/mn&gt;&lt;/mfrac&gt;&lt;mo&gt;×&lt;/mo&gt;&lt;mfrac&gt;&lt;mn&gt;3&lt;/mn&gt;&lt;mn&gt;4&lt;/mn&gt;&lt;/mfrac&gt;&lt;mo&gt;×&lt;/mo&gt;&lt;mn&gt;4&lt;/mn&gt;&lt;mo&gt;=&lt;/mo&gt;&lt;mfrac&gt;&lt;mrow&gt;&lt;mn&gt;1&lt;/mn&gt;&lt;mo&gt;×&lt;/mo&gt;&lt;mn&gt;3&lt;/mn&gt;&lt;mo&gt;×&lt;/mo&gt;&lt;mn&gt;4&lt;/mn&gt;&lt;/mrow&gt;&lt;mrow&gt;&lt;mn&gt;5&lt;/mn&gt;&lt;mo&gt;×&lt;/mo&gt;&lt;mn&gt;4&lt;/mn&gt;&lt;mo&gt;×&lt;/mo&gt;&lt;mn&gt;1&lt;/mn&gt;&lt;/mrow&gt;&lt;/mfrac&gt;&lt;mo&gt;=&lt;/mo&gt;&lt;mfrac&gt;&lt;mn&gt;12&lt;/mn&gt;&lt;mn&gt;20&lt;/mn&gt;&lt;/mfrac&gt;&lt;mo&gt;=&lt;/mo&gt;&lt;mfrac&gt;&lt;mn&gt;3&lt;/mn&gt;&lt;mn&gt;5&lt;/mn&gt;&lt;/mfrac&gt;&lt;/math&gt;" title="one fifth times three fourths times 4 equals the fraction with numerator 1 times 3 times 4 and denominator 5 times 4 times 1 equals 12 over 20 equals three fifths"/>
          <p:cNvPicPr preferRelativeResize="0"/>
          <p:nvPr/>
        </p:nvPicPr>
        <p:blipFill>
          <a:blip r:embed="rId4">
            <a:alphaModFix/>
          </a:blip>
          <a:srcRect r="68002"/>
          <a:stretch>
            <a:fillRect/>
          </a:stretch>
        </p:blipFill>
        <p:spPr>
          <a:xfrm>
            <a:off x="4824000" y="1337500"/>
            <a:ext cx="1513949" cy="7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90"/>
          <p:cNvSpPr/>
          <p:nvPr/>
        </p:nvSpPr>
        <p:spPr>
          <a:xfrm>
            <a:off x="1808500" y="1225500"/>
            <a:ext cx="1813500" cy="9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0"/>
          <p:cNvSpPr/>
          <p:nvPr/>
        </p:nvSpPr>
        <p:spPr>
          <a:xfrm>
            <a:off x="324000" y="2232675"/>
            <a:ext cx="1676100" cy="9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0"/>
          <p:cNvSpPr/>
          <p:nvPr/>
        </p:nvSpPr>
        <p:spPr>
          <a:xfrm>
            <a:off x="2073675" y="2232675"/>
            <a:ext cx="1042200" cy="9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7" name="Google Shape;1197;p90" descr="&lt;math xmlns=&quot;http://www.w3.org/1998/Math/MathML&quot; display=&quot;block&quot; data-is-equatio=&quot;1&quot; data-latex=&quot;\frac{1}{5}\times\frac{3}{4}\times4=\frac{1\times3\times4}{5\times4\times1}=\frac{12}{20}=\frac{3}{5}&quot;&gt;&lt;mfrac&gt;&lt;mn&gt;1&lt;/mn&gt;&lt;mn&gt;5&lt;/mn&gt;&lt;/mfrac&gt;&lt;mo&gt;×&lt;/mo&gt;&lt;mfrac&gt;&lt;mn&gt;3&lt;/mn&gt;&lt;mn&gt;4&lt;/mn&gt;&lt;/mfrac&gt;&lt;mo&gt;×&lt;/mo&gt;&lt;mn&gt;4&lt;/mn&gt;&lt;mo&gt;=&lt;/mo&gt;&lt;mfrac&gt;&lt;mrow&gt;&lt;mn&gt;1&lt;/mn&gt;&lt;mo&gt;×&lt;/mo&gt;&lt;mn&gt;3&lt;/mn&gt;&lt;mo&gt;×&lt;/mo&gt;&lt;mn&gt;4&lt;/mn&gt;&lt;/mrow&gt;&lt;mrow&gt;&lt;mn&gt;5&lt;/mn&gt;&lt;mo&gt;×&lt;/mo&gt;&lt;mn&gt;4&lt;/mn&gt;&lt;mo&gt;×&lt;/mo&gt;&lt;mn&gt;1&lt;/mn&gt;&lt;/mrow&gt;&lt;/mfrac&gt;&lt;mo&gt;=&lt;/mo&gt;&lt;mfrac&gt;&lt;mn&gt;12&lt;/mn&gt;&lt;mn&gt;20&lt;/mn&gt;&lt;/mfrac&gt;&lt;mo&gt;=&lt;/mo&gt;&lt;mfrac&gt;&lt;mn&gt;3&lt;/mn&gt;&lt;mn&gt;5&lt;/mn&gt;&lt;/mfrac&gt;&lt;/math&gt;" title="one fifth times three fourths times 4 equals the fraction with numerator 1 times 3 times 4 and denominator 5 times 4 times 1 equals 12 over 20 equals three fifths"/>
          <p:cNvPicPr preferRelativeResize="0"/>
          <p:nvPr/>
        </p:nvPicPr>
        <p:blipFill>
          <a:blip r:embed="rId4">
            <a:alphaModFix/>
          </a:blip>
          <a:srcRect l="31080" r="30590"/>
          <a:stretch>
            <a:fillRect/>
          </a:stretch>
        </p:blipFill>
        <p:spPr>
          <a:xfrm>
            <a:off x="6552450" y="1304825"/>
            <a:ext cx="1813500" cy="70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1" name="Shape 1201"/>
        <p:cNvGrpSpPr/>
        <p:nvPr/>
      </p:nvGrpSpPr>
      <p:grpSpPr>
        <a:xfrm>
          <a:off x="0" y="0"/>
          <a:ext cx="0" cy="0"/>
        </a:xfrm>
      </p:grpSpPr>
      <p:sp>
        <p:nvSpPr>
          <p:cNvPr id="1202" name="Google Shape;120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203" name="Google Shape;1203;p91"/>
          <p:cNvSpPr txBox="1"/>
          <p:nvPr>
            <p:ph type="body" idx="1"/>
          </p:nvPr>
        </p:nvSpPr>
        <p:spPr>
          <a:xfrm>
            <a:off x="324000" y="3586691"/>
            <a:ext cx="8237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5"/>
                </a:solidFill>
              </a:rPr>
              <a:t>different</a:t>
            </a:r>
            <a:r>
              <a:rPr lang="en-GB"/>
              <a:t> about their methods?</a:t>
            </a:r>
            <a:endParaRPr/>
          </a:p>
        </p:txBody>
      </p:sp>
      <p:sp>
        <p:nvSpPr>
          <p:cNvPr id="1204" name="Google Shape;1204;p91"/>
          <p:cNvSpPr txBox="1"/>
          <p:nvPr>
            <p:ph type="body" idx="1"/>
          </p:nvPr>
        </p:nvSpPr>
        <p:spPr>
          <a:xfrm>
            <a:off x="324000" y="4080975"/>
            <a:ext cx="8237700" cy="7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have both got an answer of    , Lucas multiplies and then simplifies and Sam uses factors pairs to simplify first.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05" name="Google Shape;1205;p91" descr="&lt;math xmlns=&quot;http://www.w3.org/1998/Math/MathML&quot; display=&quot;block&quot; data-is-equatio=&quot;1&quot; data-latex=&quot;\frac{6}{11}\times\frac{1}{6}=\frac{6}{66}=\frac{1}{11}&quot;&gt;&lt;mfrac&gt;&lt;mn&gt;6&lt;/mn&gt;&lt;mn&gt;11&lt;/mn&gt;&lt;/mfrac&gt;&lt;mo&gt;×&lt;/mo&gt;&lt;mfrac&gt;&lt;mn&gt;1&lt;/mn&gt;&lt;mn&gt;6&lt;/mn&gt;&lt;/mfrac&gt;&lt;mo&gt;=&lt;/mo&gt;&lt;mfrac&gt;&lt;mn&gt;6&lt;/mn&gt;&lt;mn&gt;66&lt;/mn&gt;&lt;/mfrac&gt;&lt;mo&gt;=&lt;/mo&gt;&lt;mfrac&gt;&lt;mn&gt;1&lt;/mn&gt;&lt;mn&gt;11&lt;/mn&gt;&lt;/mfrac&gt;&lt;/math&gt;" title="6 over 11 times one sixth equals 6 over 66 equals 1 over 11"/>
          <p:cNvPicPr preferRelativeResize="0"/>
          <p:nvPr/>
        </p:nvPicPr>
        <p:blipFill>
          <a:blip r:embed="rId3">
            <a:alphaModFix/>
          </a:blip>
          <a:srcRect l="83813"/>
          <a:stretch>
            <a:fillRect/>
          </a:stretch>
        </p:blipFill>
        <p:spPr>
          <a:xfrm>
            <a:off x="4430475" y="4028763"/>
            <a:ext cx="283050" cy="440418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91"/>
          <p:cNvSpPr txBox="1"/>
          <p:nvPr>
            <p:ph type="body" idx="1"/>
          </p:nvPr>
        </p:nvSpPr>
        <p:spPr>
          <a:xfrm>
            <a:off x="324000" y="617073"/>
            <a:ext cx="8237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Lucas &amp; Sam are now calculating</a:t>
            </a:r>
            <a:endParaRPr/>
          </a:p>
        </p:txBody>
      </p:sp>
      <p:sp>
        <p:nvSpPr>
          <p:cNvPr id="1207" name="Google Shape;1207;p91"/>
          <p:cNvSpPr txBox="1"/>
          <p:nvPr/>
        </p:nvSpPr>
        <p:spPr>
          <a:xfrm>
            <a:off x="457795" y="3092407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8" name="Google Shape;120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91" y="2233994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86208" y="2131392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91"/>
          <p:cNvSpPr txBox="1"/>
          <p:nvPr/>
        </p:nvSpPr>
        <p:spPr>
          <a:xfrm>
            <a:off x="8081795" y="3126230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1" name="Google Shape;1211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9700" y="2124786"/>
            <a:ext cx="4082476" cy="60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91" descr="&lt;math xmlns=&quot;http://www.w3.org/1998/Math/MathML&quot; display=&quot;block&quot; data-is-equatio=&quot;1&quot; data-latex=&quot;\frac{6}{11}\times\frac{1}{6}=\frac{6}{66}&quot;&gt;&lt;mfrac&gt;&lt;mn&gt;6&lt;/mn&gt;&lt;mn&gt;11&lt;/mn&gt;&lt;/mfrac&gt;&lt;mo&gt;×&lt;/mo&gt;&lt;mfrac&gt;&lt;mn&gt;1&lt;/mn&gt;&lt;mn&gt;6&lt;/mn&gt;&lt;/mfrac&gt;&lt;mo&gt;=&lt;/mo&gt;&lt;mfrac&gt;&lt;mn&gt;6&lt;/mn&gt;&lt;mn&gt;66&lt;/mn&gt;&lt;/mfrac&gt;&lt;/math&gt;" title="6 over 11 times one sixth equals 6 over 66"/>
          <p:cNvPicPr preferRelativeResize="0"/>
          <p:nvPr/>
        </p:nvPicPr>
        <p:blipFill>
          <a:blip r:embed="rId7">
            <a:alphaModFix/>
          </a:blip>
          <a:srcRect r="41958"/>
          <a:stretch>
            <a:fillRect/>
          </a:stretch>
        </p:blipFill>
        <p:spPr>
          <a:xfrm>
            <a:off x="4955001" y="667773"/>
            <a:ext cx="957200" cy="6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91" descr="&lt;math xmlns=&quot;http://www.w3.org/1998/Math/MathML&quot; display=&quot;block&quot; data-is-equatio=&quot;1&quot; data-latex=&quot;\frac{6}{11}\times\frac{1}{6}=\frac{6}{66}=\frac{1}{11}&quot;&gt;&lt;mfrac&gt;&lt;mn&gt;6&lt;/mn&gt;&lt;mn&gt;11&lt;/mn&gt;&lt;/mfrac&gt;&lt;mo&gt;×&lt;/mo&gt;&lt;mfrac&gt;&lt;mn&gt;1&lt;/mn&gt;&lt;mn&gt;6&lt;/mn&gt;&lt;/mfrac&gt;&lt;mo&gt;=&lt;/mo&gt;&lt;mfrac&gt;&lt;mn&gt;6&lt;/mn&gt;&lt;mn&gt;66&lt;/mn&gt;&lt;/mfrac&gt;&lt;mo&gt;=&lt;/mo&gt;&lt;mfrac&gt;&lt;mn&gt;1&lt;/mn&gt;&lt;mn&gt;11&lt;/mn&gt;&lt;/mfrac&gt;&lt;/math&gt;" title="6 over 11 times one sixth equals 6 over 66 equals 1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075" y="1477773"/>
            <a:ext cx="2556524" cy="6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1"/>
          <p:cNvSpPr txBox="1"/>
          <p:nvPr/>
        </p:nvSpPr>
        <p:spPr>
          <a:xfrm>
            <a:off x="814657" y="1029448"/>
            <a:ext cx="17403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 method: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1"/>
          <p:cNvSpPr txBox="1"/>
          <p:nvPr/>
        </p:nvSpPr>
        <p:spPr>
          <a:xfrm>
            <a:off x="3809694" y="1716648"/>
            <a:ext cx="17403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Sam’s method: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9" name="Shape 1219"/>
        <p:cNvGrpSpPr/>
        <p:nvPr/>
      </p:nvGrpSpPr>
      <p:grpSpPr>
        <a:xfrm>
          <a:off x="0" y="0"/>
          <a:ext cx="0" cy="0"/>
        </a:xfrm>
      </p:grpSpPr>
      <p:sp>
        <p:nvSpPr>
          <p:cNvPr id="1220" name="Google Shape;122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221" name="Google Shape;1221;p92"/>
          <p:cNvSpPr txBox="1"/>
          <p:nvPr>
            <p:ph type="body" idx="1"/>
          </p:nvPr>
        </p:nvSpPr>
        <p:spPr>
          <a:xfrm>
            <a:off x="324000" y="759300"/>
            <a:ext cx="8237700" cy="7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Why might finding factors of the numerators and denominators be useful here?</a:t>
            </a:r>
            <a:endParaRPr/>
          </a:p>
        </p:txBody>
      </p:sp>
      <p:pic>
        <p:nvPicPr>
          <p:cNvPr id="1222" name="Google Shape;1222;p92" descr="&lt;math xmlns=&quot;http://www.w3.org/1998/Math/MathML&quot; display=&quot;block&quot; data-is-equatio=&quot;1&quot; data-latex=&quot;\frac{15}{91}\times\frac{77}{225}=\frac{3\times5\times7\times11}{7\times13\ \times3^2\times5^2}&quot;&gt;&lt;mfrac&gt;&lt;mn&gt;15&lt;/mn&gt;&lt;mn&gt;91&lt;/mn&gt;&lt;/mfrac&gt;&lt;mo&gt;×&lt;/mo&gt;&lt;mfrac&gt;&lt;mn&gt;77&lt;/mn&gt;&lt;mn&gt;225&lt;/mn&gt;&lt;/mfrac&gt;&lt;mo&gt;=&lt;/mo&gt;&lt;mfrac&gt;&lt;mrow&gt;&lt;mn&gt;3&lt;/mn&gt;&lt;mo&gt;×&lt;/mo&gt;&lt;mn&gt;5&lt;/mn&gt;&lt;mo&gt;×&lt;/mo&gt;&lt;mn&gt;7&lt;/mn&gt;&lt;mo&gt;×&lt;/mo&gt;&lt;mn&gt;11&lt;/mn&gt;&lt;/mrow&gt;&lt;mrow&gt;&lt;mn&gt;7&lt;/mn&gt;&lt;mo&gt;×&lt;/mo&gt;&lt;mn&gt;13&lt;/mn&gt;&lt;mtext&gt;&lt;/mtext&gt;&lt;mo&gt;×&lt;/mo&gt;&lt;msup&gt;&lt;mn&gt;3&lt;/mn&gt;&lt;mn&gt;2&lt;/mn&gt;&lt;/msup&gt;&lt;mo&gt;×&lt;/mo&gt;&lt;msup&gt;&lt;mn&gt;5&lt;/mn&gt;&lt;mn&gt;2&lt;/mn&gt;&lt;/msup&gt;&lt;/mrow&gt;&lt;/mfrac&gt;&lt;/math&gt;" title="15 over 91 times 77 over 225 equals the fraction with numerator 3 times 5 times 7 times 11 and denominator 7 times 13 times 3 squared times 5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16675"/>
            <a:ext cx="3564351" cy="6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92" descr="&lt;math xmlns=&quot;http://www.w3.org/1998/Math/MathML&quot; display=&quot;block&quot; data-is-equatio=&quot;1&quot; data-latex=&quot;\frac{15}{91}\times\frac{77}{225}=\frac{3\times5\times7\times11}{3\times5\ \times7\times3\times5\times13}=\frac{11}{3\times5\times13}=\frac{11}{195}&quot;&gt;&lt;mfrac&gt;&lt;mn&gt;15&lt;/mn&gt;&lt;mn&gt;91&lt;/mn&gt;&lt;/mfrac&gt;&lt;mo&gt;×&lt;/mo&gt;&lt;mfrac&gt;&lt;mn&gt;77&lt;/mn&gt;&lt;mn&gt;225&lt;/mn&gt;&lt;/mfrac&gt;&lt;mo&gt;=&lt;/mo&gt;&lt;mfrac&gt;&lt;mrow&gt;&lt;mn&gt;3&lt;/mn&gt;&lt;mo&gt;×&lt;/mo&gt;&lt;mn&gt;5&lt;/mn&gt;&lt;mo&gt;×&lt;/mo&gt;&lt;mn&gt;7&lt;/mn&gt;&lt;mo&gt;×&lt;/mo&gt;&lt;mn&gt;11&lt;/mn&gt;&lt;/mrow&gt;&lt;mrow&gt;&lt;mn&gt;3&lt;/mn&gt;&lt;mo&gt;×&lt;/mo&gt;&lt;mn&gt;5&lt;/mn&gt;&lt;mtext&gt;&lt;/mtext&gt;&lt;mo&gt;×&lt;/mo&gt;&lt;mn&gt;7&lt;/mn&gt;&lt;mo&gt;×&lt;/mo&gt;&lt;mn&gt;3&lt;/mn&gt;&lt;mo&gt;×&lt;/mo&gt;&lt;mn&gt;5&lt;/mn&gt;&lt;mo&gt;×&lt;/mo&gt;&lt;mn&gt;13&lt;/mn&gt;&lt;/mrow&gt;&lt;/mfrac&gt;&lt;mo&gt;=&lt;/mo&gt;&lt;mfrac&gt;&lt;mn&gt;11&lt;/mn&gt;&lt;mrow&gt;&lt;mn&gt;3&lt;/mn&gt;&lt;mo&gt;×&lt;/mo&gt;&lt;mn&gt;5&lt;/mn&gt;&lt;mo&gt;×&lt;/mo&gt;&lt;mn&gt;13&lt;/mn&gt;&lt;/mrow&gt;&lt;/mfrac&gt;&lt;mo&gt;=&lt;/mo&gt;&lt;mfrac&gt;&lt;mn&gt;11&lt;/mn&gt;&lt;mn&gt;195&lt;/mn&gt;&lt;/mfrac&gt;&lt;/math&gt;" title="15 over 91 times 77 over 225 equals the fraction with numerator 3 times 5 times 7 times 11 and denominator 3 times 5 times 7 times 3 times 5 times 13 equals the fraction with numerator 11 and denominator 3 times 5 times 13 equals 11 over 1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058948"/>
            <a:ext cx="692396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92"/>
          <p:cNvSpPr/>
          <p:nvPr/>
        </p:nvSpPr>
        <p:spPr>
          <a:xfrm>
            <a:off x="1584100" y="1771338"/>
            <a:ext cx="2436300" cy="8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2"/>
          <p:cNvSpPr/>
          <p:nvPr/>
        </p:nvSpPr>
        <p:spPr>
          <a:xfrm>
            <a:off x="4753925" y="2906400"/>
            <a:ext cx="1636800" cy="8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2"/>
          <p:cNvSpPr/>
          <p:nvPr/>
        </p:nvSpPr>
        <p:spPr>
          <a:xfrm>
            <a:off x="6438125" y="3019350"/>
            <a:ext cx="890100" cy="8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2"/>
          <p:cNvSpPr/>
          <p:nvPr/>
        </p:nvSpPr>
        <p:spPr>
          <a:xfrm rot="3051811">
            <a:off x="2115784" y="2764390"/>
            <a:ext cx="371691" cy="1132171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2"/>
          <p:cNvSpPr/>
          <p:nvPr/>
        </p:nvSpPr>
        <p:spPr>
          <a:xfrm rot="3051811">
            <a:off x="2571909" y="2802915"/>
            <a:ext cx="371691" cy="1132171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2"/>
          <p:cNvSpPr/>
          <p:nvPr/>
        </p:nvSpPr>
        <p:spPr>
          <a:xfrm rot="3051811">
            <a:off x="3047834" y="2764390"/>
            <a:ext cx="371691" cy="1132171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sp>
        <p:nvSpPr>
          <p:cNvPr id="1234" name="Google Shape;123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235" name="Google Shape;1235;p93"/>
          <p:cNvSpPr txBox="1"/>
          <p:nvPr>
            <p:ph type="body" idx="1"/>
          </p:nvPr>
        </p:nvSpPr>
        <p:spPr>
          <a:xfrm>
            <a:off x="324000" y="759300"/>
            <a:ext cx="8237700" cy="7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Lucas and Sam are thinking about which factor pairs help them to complete this calculation:</a:t>
            </a:r>
            <a:endParaRPr/>
          </a:p>
        </p:txBody>
      </p:sp>
      <p:pic>
        <p:nvPicPr>
          <p:cNvPr id="1236" name="Google Shape;1236;p93" descr="&lt;math xmlns=&quot;http://www.w3.org/1998/Math/MathML&quot; display=&quot;block&quot; data-is-equatio=&quot;1&quot; data-latex=&quot;\frac{16}{33}\times\frac{3}{40}&quot;&gt;&lt;mfrac&gt;&lt;mn&gt;16&lt;/mn&gt;&lt;mn&gt;33&lt;/mn&gt;&lt;/mfrac&gt;&lt;mo&gt;×&lt;/mo&gt;&lt;mfrac&gt;&lt;mn&gt;3&lt;/mn&gt;&lt;mn&gt;40&lt;/mn&gt;&lt;/mfrac&gt;&lt;/math&gt;" title="16 over 33 times 3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75" y="1620000"/>
            <a:ext cx="1054864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93"/>
          <p:cNvSpPr txBox="1"/>
          <p:nvPr/>
        </p:nvSpPr>
        <p:spPr>
          <a:xfrm>
            <a:off x="2591395" y="3387034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8" name="Google Shape;123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5191" y="2528621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23213" y="2502219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3"/>
          <p:cNvSpPr txBox="1"/>
          <p:nvPr/>
        </p:nvSpPr>
        <p:spPr>
          <a:xfrm>
            <a:off x="8018800" y="3497057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3"/>
          <p:cNvSpPr txBox="1"/>
          <p:nvPr/>
        </p:nvSpPr>
        <p:spPr>
          <a:xfrm>
            <a:off x="4239300" y="2579875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2" name="Google Shape;1242;p93"/>
          <p:cNvGrpSpPr/>
          <p:nvPr/>
        </p:nvGrpSpPr>
        <p:grpSpPr>
          <a:xfrm>
            <a:off x="3207898" y="1486975"/>
            <a:ext cx="1955251" cy="1316250"/>
            <a:chOff x="1074298" y="2553775"/>
            <a:chExt cx="1955251" cy="1316250"/>
          </a:xfrm>
        </p:grpSpPr>
        <p:pic>
          <p:nvPicPr>
            <p:cNvPr id="1243" name="Google Shape;1243;p93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1074298" y="25537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93"/>
            <p:cNvSpPr txBox="1"/>
            <p:nvPr/>
          </p:nvSpPr>
          <p:spPr>
            <a:xfrm>
              <a:off x="1233150" y="2661904"/>
              <a:ext cx="1708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use 8 for 16 and 40.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93"/>
          <p:cNvGrpSpPr/>
          <p:nvPr/>
        </p:nvGrpSpPr>
        <p:grpSpPr>
          <a:xfrm>
            <a:off x="6098773" y="1867975"/>
            <a:ext cx="1955251" cy="1316250"/>
            <a:chOff x="3965173" y="2325175"/>
            <a:chExt cx="1955251" cy="1316250"/>
          </a:xfrm>
        </p:grpSpPr>
        <p:pic>
          <p:nvPicPr>
            <p:cNvPr id="1246" name="Google Shape;1246;p93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>
              <a:off x="3965173" y="23251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93"/>
            <p:cNvSpPr txBox="1"/>
            <p:nvPr/>
          </p:nvSpPr>
          <p:spPr>
            <a:xfrm>
              <a:off x="4066200" y="2477575"/>
              <a:ext cx="1708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use 4 for 16 and 40.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8" name="Google Shape;1248;p93"/>
          <p:cNvSpPr txBox="1"/>
          <p:nvPr>
            <p:ph type="body" idx="1"/>
          </p:nvPr>
        </p:nvSpPr>
        <p:spPr>
          <a:xfrm>
            <a:off x="324000" y="3905675"/>
            <a:ext cx="8237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Whose method do you think will be most efficient?</a:t>
            </a:r>
            <a:endParaRPr/>
          </a:p>
        </p:txBody>
      </p:sp>
      <p:sp>
        <p:nvSpPr>
          <p:cNvPr id="1249" name="Google Shape;1249;p93"/>
          <p:cNvSpPr txBox="1"/>
          <p:nvPr>
            <p:ph type="body" idx="1"/>
          </p:nvPr>
        </p:nvSpPr>
        <p:spPr>
          <a:xfrm>
            <a:off x="324000" y="4424325"/>
            <a:ext cx="8237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Let’s take a look.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3" name="Shape 1253"/>
        <p:cNvGrpSpPr/>
        <p:nvPr/>
      </p:nvGrpSpPr>
      <p:grpSpPr>
        <a:xfrm>
          <a:off x="0" y="0"/>
          <a:ext cx="0" cy="0"/>
        </a:xfrm>
      </p:grpSpPr>
      <p:sp>
        <p:nvSpPr>
          <p:cNvPr id="1254" name="Google Shape;125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255" name="Google Shape;1255;p94"/>
          <p:cNvSpPr txBox="1"/>
          <p:nvPr>
            <p:ph type="body" idx="1"/>
          </p:nvPr>
        </p:nvSpPr>
        <p:spPr>
          <a:xfrm>
            <a:off x="324000" y="669737"/>
            <a:ext cx="2195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Lucas’ method:</a:t>
            </a:r>
            <a:endParaRPr/>
          </a:p>
        </p:txBody>
      </p:sp>
      <p:pic>
        <p:nvPicPr>
          <p:cNvPr id="1256" name="Google Shape;1256;p94" descr="&lt;math xmlns=&quot;http://www.w3.org/1998/Math/MathML&quot; display=&quot;block&quot; data-is-equatio=&quot;1&quot; data-latex=&quot;\frac{16}{33}\times\frac{3}{40}=\frac{8\times2\times3}{3\times11\times8\times5}=\frac{3\times8\times2}{3\times8\times5\times11}=\frac{2}{55}&quot;&gt;&lt;mfrac&gt;&lt;mn&gt;16&lt;/mn&gt;&lt;mn&gt;33&lt;/mn&gt;&lt;/mfrac&gt;&lt;mo&gt;×&lt;/mo&gt;&lt;mfrac&gt;&lt;mn&gt;3&lt;/mn&gt;&lt;mn&gt;40&lt;/mn&gt;&lt;/mfrac&gt;&lt;mo&gt;=&lt;/mo&gt;&lt;mfrac&gt;&lt;mrow&gt;&lt;mn&gt;8&lt;/mn&gt;&lt;mo&gt;×&lt;/mo&gt;&lt;mn&gt;2&lt;/mn&gt;&lt;mo&gt;×&lt;/mo&gt;&lt;mn&gt;3&lt;/mn&gt;&lt;/mrow&gt;&lt;mrow&gt;&lt;mn&gt;3&lt;/mn&gt;&lt;mo&gt;×&lt;/mo&gt;&lt;mn&gt;11&lt;/mn&gt;&lt;mo&gt;×&lt;/mo&gt;&lt;mn&gt;8&lt;/mn&gt;&lt;mo&gt;×&lt;/mo&gt;&lt;mn&gt;5&lt;/mn&gt;&lt;/mrow&gt;&lt;/mfrac&gt;&lt;mo&gt;=&lt;/mo&gt;&lt;mfrac&gt;&lt;mrow&gt;&lt;mn&gt;3&lt;/mn&gt;&lt;mo&gt;×&lt;/mo&gt;&lt;mn&gt;8&lt;/mn&gt;&lt;mo&gt;×&lt;/mo&gt;&lt;mn&gt;2&lt;/mn&gt;&lt;/mrow&gt;&lt;mrow&gt;&lt;mn&gt;3&lt;/mn&gt;&lt;mo&gt;×&lt;/mo&gt;&lt;mn&gt;8&lt;/mn&gt;&lt;mo&gt;×&lt;/mo&gt;&lt;mn&gt;5&lt;/mn&gt;&lt;mo&gt;×&lt;/mo&gt;&lt;mn&gt;11&lt;/mn&gt;&lt;/mrow&gt;&lt;/mfrac&gt;&lt;mo&gt;=&lt;/mo&gt;&lt;mfrac&gt;&lt;mn&gt;2&lt;/mn&gt;&lt;mn&gt;55&lt;/mn&gt;&lt;/mfrac&gt;&lt;/math&gt;" title="16 over 33 times 3 over 40 equals the fraction with numerator 8 times 2 times 3 and denominator 3 times 11 times 8 times 5 equals the fraction with numerator 3 times 8 times 2 and denominator 3 times 8 times 5 times 11 equals 2 over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219" y="1099937"/>
            <a:ext cx="5894662" cy="59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94" descr="&lt;math xmlns=&quot;http://www.w3.org/1998/Math/MathML&quot; display=&quot;block&quot; data-is-equatio=&quot;1&quot; data-latex=&quot;\frac{16}{33}\times\frac{3}{40}=\frac{4\times4\times3}{3\times11\times4\times10}=\frac{3\times4\times4}{3\times4\times10\times11}=\frac{4}{110}=\frac{2}{55}&quot;&gt;&lt;mfrac&gt;&lt;mn&gt;16&lt;/mn&gt;&lt;mn&gt;33&lt;/mn&gt;&lt;/mfrac&gt;&lt;mo&gt;×&lt;/mo&gt;&lt;mfrac&gt;&lt;mn&gt;3&lt;/mn&gt;&lt;mn&gt;40&lt;/mn&gt;&lt;/mfrac&gt;&lt;mo&gt;=&lt;/mo&gt;&lt;mfrac&gt;&lt;mrow&gt;&lt;mn&gt;4&lt;/mn&gt;&lt;mo&gt;×&lt;/mo&gt;&lt;mn&gt;4&lt;/mn&gt;&lt;mo&gt;×&lt;/mo&gt;&lt;mn&gt;3&lt;/mn&gt;&lt;/mrow&gt;&lt;mrow&gt;&lt;mn&gt;3&lt;/mn&gt;&lt;mo&gt;×&lt;/mo&gt;&lt;mn&gt;11&lt;/mn&gt;&lt;mo&gt;×&lt;/mo&gt;&lt;mn&gt;4&lt;/mn&gt;&lt;mo&gt;×&lt;/mo&gt;&lt;mn&gt;10&lt;/mn&gt;&lt;/mrow&gt;&lt;/mfrac&gt;&lt;mo&gt;=&lt;/mo&gt;&lt;mfrac&gt;&lt;mrow&gt;&lt;mn&gt;3&lt;/mn&gt;&lt;mo&gt;×&lt;/mo&gt;&lt;mn&gt;4&lt;/mn&gt;&lt;mo&gt;×&lt;/mo&gt;&lt;mn&gt;4&lt;/mn&gt;&lt;/mrow&gt;&lt;mrow&gt;&lt;mn&gt;3&lt;/mn&gt;&lt;mo&gt;×&lt;/mo&gt;&lt;mn&gt;4&lt;/mn&gt;&lt;mo&gt;×&lt;/mo&gt;&lt;mn&gt;10&lt;/mn&gt;&lt;mo&gt;×&lt;/mo&gt;&lt;mn&gt;11&lt;/mn&gt;&lt;/mrow&gt;&lt;/mfrac&gt;&lt;mo&gt;=&lt;/mo&gt;&lt;mfrac&gt;&lt;mn&gt;4&lt;/mn&gt;&lt;mn&gt;110&lt;/mn&gt;&lt;/mfrac&gt;&lt;mo&gt;=&lt;/mo&gt;&lt;mfrac&gt;&lt;mn&gt;2&lt;/mn&gt;&lt;mn&gt;55&lt;/mn&gt;&lt;/mfrac&gt;&lt;/math&gt;" title="16 over 33 times 3 over 40 equals the fraction with numerator 4 times 4 times 3 and denominator 3 times 11 times 4 times 10 equals the fraction with numerator 3 times 4 times 4 and denominator 3 times 4 times 10 times 11 equals 4 over 110 equals 2 over 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225" y="2276623"/>
            <a:ext cx="6830352" cy="56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94"/>
          <p:cNvSpPr txBox="1"/>
          <p:nvPr>
            <p:ph type="body" idx="1"/>
          </p:nvPr>
        </p:nvSpPr>
        <p:spPr>
          <a:xfrm>
            <a:off x="324000" y="1872587"/>
            <a:ext cx="2195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Sam’s method:</a:t>
            </a:r>
            <a:endParaRPr/>
          </a:p>
        </p:txBody>
      </p:sp>
      <p:sp>
        <p:nvSpPr>
          <p:cNvPr id="1259" name="Google Shape;1259;p94"/>
          <p:cNvSpPr txBox="1"/>
          <p:nvPr>
            <p:ph type="body" idx="1"/>
          </p:nvPr>
        </p:nvSpPr>
        <p:spPr>
          <a:xfrm>
            <a:off x="324000" y="3143675"/>
            <a:ext cx="48756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Whose method was most efficient?</a:t>
            </a:r>
            <a:endParaRPr/>
          </a:p>
        </p:txBody>
      </p:sp>
      <p:sp>
        <p:nvSpPr>
          <p:cNvPr id="1260" name="Google Shape;1260;p94"/>
          <p:cNvSpPr txBox="1"/>
          <p:nvPr>
            <p:ph type="body" idx="1"/>
          </p:nvPr>
        </p:nvSpPr>
        <p:spPr>
          <a:xfrm>
            <a:off x="324000" y="4021092"/>
            <a:ext cx="48756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Why was it more efficient?</a:t>
            </a:r>
            <a:endParaRPr/>
          </a:p>
        </p:txBody>
      </p:sp>
      <p:sp>
        <p:nvSpPr>
          <p:cNvPr id="1261" name="Google Shape;1261;p94"/>
          <p:cNvSpPr txBox="1"/>
          <p:nvPr>
            <p:ph type="body" idx="1"/>
          </p:nvPr>
        </p:nvSpPr>
        <p:spPr>
          <a:xfrm>
            <a:off x="324000" y="3582383"/>
            <a:ext cx="4178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Lucas’ method was more efficient.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2" name="Google Shape;1262;p94"/>
          <p:cNvSpPr txBox="1"/>
          <p:nvPr>
            <p:ph type="body" idx="1"/>
          </p:nvPr>
        </p:nvSpPr>
        <p:spPr>
          <a:xfrm>
            <a:off x="324000" y="4459800"/>
            <a:ext cx="4178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He used the HCF of 16 &amp; 40.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6" name="Shape 1266"/>
        <p:cNvGrpSpPr/>
        <p:nvPr/>
      </p:nvGrpSpPr>
      <p:grpSpPr>
        <a:xfrm>
          <a:off x="0" y="0"/>
          <a:ext cx="0" cy="0"/>
        </a:xfrm>
      </p:grpSpPr>
      <p:sp>
        <p:nvSpPr>
          <p:cNvPr id="1267" name="Google Shape;126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268" name="Google Shape;1268;p95"/>
          <p:cNvSpPr txBox="1"/>
          <p:nvPr>
            <p:ph type="body" idx="1"/>
          </p:nvPr>
        </p:nvSpPr>
        <p:spPr>
          <a:xfrm>
            <a:off x="324000" y="686132"/>
            <a:ext cx="8226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and Sam are now looking at this calculation:  </a:t>
            </a:r>
            <a:endParaRPr sz="1800"/>
          </a:p>
        </p:txBody>
      </p:sp>
      <p:pic>
        <p:nvPicPr>
          <p:cNvPr id="1269" name="Google Shape;1269;p95" descr="&lt;math xmlns=&quot;http://www.w3.org/1998/Math/MathML&quot; display=&quot;block&quot; data-is-equatio=&quot;1&quot; data-latex=&quot;\frac{25}{52}\times\frac{39}{75}=\frac{5\times5\times3\times13}{2\times26\times25\times3}&quot;&gt;&lt;mfrac&gt;&lt;mn&gt;25&lt;/mn&gt;&lt;mn&gt;52&lt;/mn&gt;&lt;/mfrac&gt;&lt;mo&gt;×&lt;/mo&gt;&lt;mfrac&gt;&lt;mn&gt;39&lt;/mn&gt;&lt;mn&gt;75&lt;/mn&gt;&lt;/mfrac&gt;&lt;mo&gt;=&lt;/mo&gt;&lt;mfrac&gt;&lt;mrow&gt;&lt;mn&gt;5&lt;/mn&gt;&lt;mo&gt;×&lt;/mo&gt;&lt;mn&gt;5&lt;/mn&gt;&lt;mo&gt;×&lt;/mo&gt;&lt;mn&gt;3&lt;/mn&gt;&lt;mo&gt;×&lt;/mo&gt;&lt;mn&gt;13&lt;/mn&gt;&lt;/mrow&gt;&lt;mrow&gt;&lt;mn&gt;2&lt;/mn&gt;&lt;mo&gt;×&lt;/mo&gt;&lt;mn&gt;26&lt;/mn&gt;&lt;mo&gt;×&lt;/mo&gt;&lt;mn&gt;25&lt;/mn&gt;&lt;mo&gt;×&lt;/mo&gt;&lt;mn&gt;3&lt;/mn&gt;&lt;/mrow&gt;&lt;/mfrac&gt;&lt;/math&gt;" title="25 over 52 times 39 over 75 equals the fraction with numerator 5 times 5 times 3 times 13 and denominator 2 times 26 times 25 time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50" y="1319296"/>
            <a:ext cx="3326706" cy="611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5" descr="&lt;math xmlns=&quot;http://www.w3.org/1998/Math/MathML&quot; display=&quot;block&quot; data-is-equatio=&quot;1&quot; data-latex=&quot;\frac{25}{52}\times\frac{39}{75}=\frac{5\times5\times3\times13}{2\times2\times13\times3\times5\times5}&quot;&gt;&lt;mfrac&gt;&lt;mn&gt;25&lt;/mn&gt;&lt;mn&gt;52&lt;/mn&gt;&lt;/mfrac&gt;&lt;mo&gt;×&lt;/mo&gt;&lt;mfrac&gt;&lt;mn&gt;39&lt;/mn&gt;&lt;mn&gt;75&lt;/mn&gt;&lt;/mfrac&gt;&lt;mo&gt;=&lt;/mo&gt;&lt;mfrac&gt;&lt;mrow&gt;&lt;mn&gt;5&lt;/mn&gt;&lt;mo&gt;×&lt;/mo&gt;&lt;mn&gt;5&lt;/mn&gt;&lt;mo&gt;×&lt;/mo&gt;&lt;mn&gt;3&lt;/mn&gt;&lt;mo&gt;×&lt;/mo&gt;&lt;mn&gt;13&lt;/mn&gt;&lt;/mrow&gt;&lt;mrow&gt;&lt;mn&gt;2&lt;/mn&gt;&lt;mo&gt;×&lt;/mo&gt;&lt;mn&gt;2&lt;/mn&gt;&lt;mo&gt;×&lt;/mo&gt;&lt;mn&gt;13&lt;/mn&gt;&lt;mo&gt;×&lt;/mo&gt;&lt;mn&gt;3&lt;/mn&gt;&lt;mo&gt;×&lt;/mo&gt;&lt;mn&gt;5&lt;/mn&gt;&lt;mo&gt;×&lt;/mo&gt;&lt;mn&gt;5&lt;/mn&gt;&lt;/mrow&gt;&lt;/mfrac&gt;&lt;/math&gt;" title="25 over 52 times 39 over 75 equals the fraction with numerator 5 times 5 times 3 times 13 and denominator 2 times 2 times 13 times 3 times 5 time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4050" y="2430953"/>
            <a:ext cx="4105099" cy="611596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5"/>
          <p:cNvSpPr txBox="1"/>
          <p:nvPr/>
        </p:nvSpPr>
        <p:spPr>
          <a:xfrm>
            <a:off x="457795" y="2823653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2" name="Google Shape;127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591" y="1965240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023213" y="1968819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95"/>
          <p:cNvSpPr txBox="1"/>
          <p:nvPr/>
        </p:nvSpPr>
        <p:spPr>
          <a:xfrm>
            <a:off x="8018800" y="2963657"/>
            <a:ext cx="711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5" name="Google Shape;1275;p95" descr="&lt;math xmlns=&quot;http://www.w3.org/1998/Math/MathML&quot; display=&quot;block&quot; data-is-equatio=&quot;1&quot; data-latex=&quot;\frac{25}{52}\times\frac{39}{75}=\frac{5\times5\times3\times13}{2\times26\times25\times3}&quot;&gt;&lt;mfrac&gt;&lt;mn&gt;25&lt;/mn&gt;&lt;mn&gt;52&lt;/mn&gt;&lt;/mfrac&gt;&lt;mo&gt;×&lt;/mo&gt;&lt;mfrac&gt;&lt;mn&gt;39&lt;/mn&gt;&lt;mn&gt;75&lt;/mn&gt;&lt;/mfrac&gt;&lt;mo&gt;=&lt;/mo&gt;&lt;mfrac&gt;&lt;mrow&gt;&lt;mn&gt;5&lt;/mn&gt;&lt;mo&gt;×&lt;/mo&gt;&lt;mn&gt;5&lt;/mn&gt;&lt;mo&gt;×&lt;/mo&gt;&lt;mn&gt;3&lt;/mn&gt;&lt;mo&gt;×&lt;/mo&gt;&lt;mn&gt;13&lt;/mn&gt;&lt;/mrow&gt;&lt;mrow&gt;&lt;mn&gt;2&lt;/mn&gt;&lt;mo&gt;×&lt;/mo&gt;&lt;mn&gt;26&lt;/mn&gt;&lt;mo&gt;×&lt;/mo&gt;&lt;mn&gt;25&lt;/mn&gt;&lt;mo&gt;×&lt;/mo&gt;&lt;mn&gt;3&lt;/mn&gt;&lt;/mrow&gt;&lt;/mfrac&gt;&lt;/math&gt;" title="25 over 52 times 39 over 75 equals the fraction with numerator 5 times 5 times 3 times 13 and denominator 2 times 26 times 25 times 3"/>
          <p:cNvPicPr preferRelativeResize="0"/>
          <p:nvPr/>
        </p:nvPicPr>
        <p:blipFill>
          <a:blip r:embed="rId3">
            <a:alphaModFix/>
          </a:blip>
          <a:srcRect r="65019"/>
          <a:stretch>
            <a:fillRect/>
          </a:stretch>
        </p:blipFill>
        <p:spPr>
          <a:xfrm>
            <a:off x="5984725" y="619729"/>
            <a:ext cx="863000" cy="45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95"/>
          <p:cNvSpPr txBox="1"/>
          <p:nvPr>
            <p:ph type="body" idx="1"/>
          </p:nvPr>
        </p:nvSpPr>
        <p:spPr>
          <a:xfrm>
            <a:off x="324000" y="978645"/>
            <a:ext cx="2195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Lucas’ method:</a:t>
            </a:r>
            <a:endParaRPr sz="1800"/>
          </a:p>
        </p:txBody>
      </p:sp>
      <p:sp>
        <p:nvSpPr>
          <p:cNvPr id="1277" name="Google Shape;1277;p95"/>
          <p:cNvSpPr txBox="1"/>
          <p:nvPr>
            <p:ph type="body" idx="1"/>
          </p:nvPr>
        </p:nvSpPr>
        <p:spPr>
          <a:xfrm>
            <a:off x="3368225" y="2070360"/>
            <a:ext cx="2195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Sam’s method:</a:t>
            </a:r>
            <a:endParaRPr sz="1800"/>
          </a:p>
        </p:txBody>
      </p:sp>
      <p:sp>
        <p:nvSpPr>
          <p:cNvPr id="1278" name="Google Shape;1278;p95"/>
          <p:cNvSpPr txBox="1"/>
          <p:nvPr>
            <p:ph type="body" idx="1"/>
          </p:nvPr>
        </p:nvSpPr>
        <p:spPr>
          <a:xfrm>
            <a:off x="324000" y="3155700"/>
            <a:ext cx="6898800" cy="5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Whose method do you think is most useful for completing the multiplication?</a:t>
            </a:r>
            <a:endParaRPr sz="1800"/>
          </a:p>
        </p:txBody>
      </p:sp>
      <p:sp>
        <p:nvSpPr>
          <p:cNvPr id="1279" name="Google Shape;1279;p95"/>
          <p:cNvSpPr txBox="1"/>
          <p:nvPr>
            <p:ph type="body" idx="1"/>
          </p:nvPr>
        </p:nvSpPr>
        <p:spPr>
          <a:xfrm>
            <a:off x="324000" y="3750897"/>
            <a:ext cx="79485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think that Sam’s method is most useful.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95"/>
          <p:cNvSpPr txBox="1"/>
          <p:nvPr>
            <p:ph type="body" idx="1"/>
          </p:nvPr>
        </p:nvSpPr>
        <p:spPr>
          <a:xfrm>
            <a:off x="324000" y="4125895"/>
            <a:ext cx="79485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Sam’s method?</a:t>
            </a:r>
            <a:endParaRPr sz="1800"/>
          </a:p>
        </p:txBody>
      </p:sp>
      <p:sp>
        <p:nvSpPr>
          <p:cNvPr id="1281" name="Google Shape;1281;p95"/>
          <p:cNvSpPr txBox="1"/>
          <p:nvPr>
            <p:ph type="body" idx="1"/>
          </p:nvPr>
        </p:nvSpPr>
        <p:spPr>
          <a:xfrm>
            <a:off x="324000" y="4500892"/>
            <a:ext cx="63606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written each number using its prime factors.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5" name="Shape 1285"/>
        <p:cNvGrpSpPr/>
        <p:nvPr/>
      </p:nvGrpSpPr>
      <p:grpSpPr>
        <a:xfrm>
          <a:off x="0" y="0"/>
          <a:ext cx="0" cy="0"/>
        </a:xfrm>
      </p:grpSpPr>
      <p:sp>
        <p:nvSpPr>
          <p:cNvPr id="1286" name="Google Shape;128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287" name="Google Shape;1287;p96"/>
          <p:cNvSpPr txBox="1"/>
          <p:nvPr>
            <p:ph type="body" idx="1"/>
          </p:nvPr>
        </p:nvSpPr>
        <p:spPr>
          <a:xfrm>
            <a:off x="324000" y="759300"/>
            <a:ext cx="82377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Let’s take a look at why Sam’s method is more useful.</a:t>
            </a:r>
            <a:endParaRPr/>
          </a:p>
        </p:txBody>
      </p:sp>
      <p:pic>
        <p:nvPicPr>
          <p:cNvPr id="1288" name="Google Shape;1288;p96" descr="&lt;math xmlns=&quot;http://www.w3.org/1998/Math/MathML&quot; display=&quot;block&quot; data-is-equatio=&quot;1&quot; data-latex=&quot;\frac{25}{52}\times\frac{39}{75}=\frac{5\times5\times3\times13}{2\times26\times25\times3}&quot;&gt;&lt;mfrac&gt;&lt;mn&gt;25&lt;/mn&gt;&lt;mn&gt;52&lt;/mn&gt;&lt;/mfrac&gt;&lt;mo&gt;×&lt;/mo&gt;&lt;mfrac&gt;&lt;mn&gt;39&lt;/mn&gt;&lt;mn&gt;75&lt;/mn&gt;&lt;/mfrac&gt;&lt;mo&gt;=&lt;/mo&gt;&lt;mfrac&gt;&lt;mrow&gt;&lt;mn&gt;5&lt;/mn&gt;&lt;mo&gt;×&lt;/mo&gt;&lt;mn&gt;5&lt;/mn&gt;&lt;mo&gt;×&lt;/mo&gt;&lt;mn&gt;3&lt;/mn&gt;&lt;mo&gt;×&lt;/mo&gt;&lt;mn&gt;13&lt;/mn&gt;&lt;/mrow&gt;&lt;mrow&gt;&lt;mn&gt;2&lt;/mn&gt;&lt;mo&gt;×&lt;/mo&gt;&lt;mn&gt;26&lt;/mn&gt;&lt;mo&gt;×&lt;/mo&gt;&lt;mn&gt;25&lt;/mn&gt;&lt;mo&gt;×&lt;/mo&gt;&lt;mn&gt;3&lt;/mn&gt;&lt;/mrow&gt;&lt;/mfrac&gt;&lt;/math&gt;" title="25 over 52 times 39 over 75 equals the fraction with numerator 5 times 5 times 3 times 13 and denominator 2 times 26 times 25 time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84750"/>
            <a:ext cx="3326706" cy="611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96" descr="&lt;math xmlns=&quot;http://www.w3.org/1998/Math/MathML&quot; display=&quot;block&quot; data-is-equatio=&quot;1&quot; data-latex=&quot;\frac{25}{52}\times\frac{39}{75}=\frac{5\times5\times3\times13}{2\times2\times13\times3\times5\times5}&quot;&gt;&lt;mfrac&gt;&lt;mn&gt;25&lt;/mn&gt;&lt;mn&gt;52&lt;/mn&gt;&lt;/mfrac&gt;&lt;mo&gt;×&lt;/mo&gt;&lt;mfrac&gt;&lt;mn&gt;39&lt;/mn&gt;&lt;mn&gt;75&lt;/mn&gt;&lt;/mfrac&gt;&lt;mo&gt;=&lt;/mo&gt;&lt;mfrac&gt;&lt;mrow&gt;&lt;mn&gt;5&lt;/mn&gt;&lt;mo&gt;×&lt;/mo&gt;&lt;mn&gt;5&lt;/mn&gt;&lt;mo&gt;×&lt;/mo&gt;&lt;mn&gt;3&lt;/mn&gt;&lt;mo&gt;×&lt;/mo&gt;&lt;mn&gt;13&lt;/mn&gt;&lt;/mrow&gt;&lt;mrow&gt;&lt;mn&gt;2&lt;/mn&gt;&lt;mo&gt;×&lt;/mo&gt;&lt;mn&gt;2&lt;/mn&gt;&lt;mo&gt;×&lt;/mo&gt;&lt;mn&gt;13&lt;/mn&gt;&lt;mo&gt;×&lt;/mo&gt;&lt;mn&gt;3&lt;/mn&gt;&lt;mo&gt;×&lt;/mo&gt;&lt;mn&gt;5&lt;/mn&gt;&lt;mo&gt;×&lt;/mo&gt;&lt;mn&gt;5&lt;/mn&gt;&lt;/mrow&gt;&lt;/mfrac&gt;&lt;/math&gt;" title="25 over 52 times 39 over 75 equals the fraction with numerator 5 times 5 times 3 times 13 and denominator 2 times 2 times 13 times 3 times 5 time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847929"/>
            <a:ext cx="4105099" cy="6115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96"/>
          <p:cNvSpPr txBox="1"/>
          <p:nvPr>
            <p:ph type="body" idx="1"/>
          </p:nvPr>
        </p:nvSpPr>
        <p:spPr>
          <a:xfrm>
            <a:off x="324000" y="1203137"/>
            <a:ext cx="2195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Lucas’ method:</a:t>
            </a:r>
            <a:endParaRPr/>
          </a:p>
        </p:txBody>
      </p:sp>
      <p:sp>
        <p:nvSpPr>
          <p:cNvPr id="1291" name="Google Shape;1291;p96"/>
          <p:cNvSpPr txBox="1"/>
          <p:nvPr>
            <p:ph type="body" idx="1"/>
          </p:nvPr>
        </p:nvSpPr>
        <p:spPr>
          <a:xfrm>
            <a:off x="324000" y="3240012"/>
            <a:ext cx="21951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Sam’s method:</a:t>
            </a:r>
            <a:endParaRPr/>
          </a:p>
        </p:txBody>
      </p:sp>
      <p:sp>
        <p:nvSpPr>
          <p:cNvPr id="1292" name="Google Shape;1292;p96"/>
          <p:cNvSpPr txBox="1"/>
          <p:nvPr>
            <p:ph type="body" idx="1"/>
          </p:nvPr>
        </p:nvSpPr>
        <p:spPr>
          <a:xfrm>
            <a:off x="3324600" y="2631250"/>
            <a:ext cx="5505000" cy="7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Rewrite the numerator and denominator with the common factors first.</a:t>
            </a:r>
            <a:endParaRPr sz="1800"/>
          </a:p>
        </p:txBody>
      </p:sp>
      <p:pic>
        <p:nvPicPr>
          <p:cNvPr id="1293" name="Google Shape;1293;p96" descr="&lt;math xmlns=&quot;http://www.w3.org/1998/Math/MathML&quot; display=&quot;block&quot; data-is-equatio=&quot;1&quot; data-latex=&quot;=\frac{3\times5\times5\times13}{3\times2\times26\times25}&quot;&gt;&lt;mo&gt;=&lt;/mo&gt;&lt;mfrac&gt;&lt;mrow&gt;&lt;mn&gt;3&lt;/mn&gt;&lt;mo&gt;×&lt;/mo&gt;&lt;mn&gt;5&lt;/mn&gt;&lt;mo&gt;×&lt;/mo&gt;&lt;mn&gt;5&lt;/mn&gt;&lt;mo&gt;×&lt;/mo&gt;&lt;mn&gt;13&lt;/mn&gt;&lt;/mrow&gt;&lt;mrow&gt;&lt;mn&gt;3&lt;/mn&gt;&lt;mo&gt;×&lt;/mo&gt;&lt;mn&gt;2&lt;/mn&gt;&lt;mo&gt;×&lt;/mo&gt;&lt;mn&gt;26&lt;/mn&gt;&lt;mo&gt;×&lt;/mo&gt;&lt;mn&gt;25&lt;/mn&gt;&lt;/mrow&gt;&lt;/mfrac&gt;&lt;/math&gt;" title="equals the fraction with numerator 3 times 5 times 5 times 13 and denominator 3 times 2 times 26 times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2072" y="1664613"/>
            <a:ext cx="2301378" cy="651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96" descr="&lt;math xmlns=&quot;http://www.w3.org/1998/Math/MathML&quot; display=&quot;block&quot; data-is-equatio=&quot;1&quot; data-latex=&quot;=\frac{3\times5\times5\times13}{3\times5\times5\times13\times2\times2}&quot;&gt;&lt;mo&gt;=&lt;/mo&gt;&lt;mfrac&gt;&lt;mrow&gt;&lt;mn&gt;3&lt;/mn&gt;&lt;mo&gt;×&lt;/mo&gt;&lt;mn&gt;5&lt;/mn&gt;&lt;mo&gt;×&lt;/mo&gt;&lt;mn&gt;5&lt;/mn&gt;&lt;mo&gt;×&lt;/mo&gt;&lt;mn&gt;13&lt;/mn&gt;&lt;/mrow&gt;&lt;mrow&gt;&lt;mn&gt;3&lt;/mn&gt;&lt;mo&gt;×&lt;/mo&gt;&lt;mn&gt;5&lt;/mn&gt;&lt;mo&gt;×&lt;/mo&gt;&lt;mn&gt;5&lt;/mn&gt;&lt;mo&gt;×&lt;/mo&gt;&lt;mn&gt;13&lt;/mn&gt;&lt;mo&gt;×&lt;/mo&gt;&lt;mn&gt;2&lt;/mn&gt;&lt;mo&gt;×&lt;/mo&gt;&lt;mn&gt;2&lt;/mn&gt;&lt;/mrow&gt;&lt;/mfrac&gt;&lt;/math&gt;" title="equals the fraction with numerator 3 times 5 times 5 times 13 and denominator 3 times 5 times 5 times 13 times 2 time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1425" y="3825675"/>
            <a:ext cx="3151329" cy="656107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96"/>
          <p:cNvSpPr/>
          <p:nvPr/>
        </p:nvSpPr>
        <p:spPr>
          <a:xfrm rot="1018165">
            <a:off x="4094193" y="1503620"/>
            <a:ext cx="341258" cy="1009461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6"/>
          <p:cNvSpPr/>
          <p:nvPr/>
        </p:nvSpPr>
        <p:spPr>
          <a:xfrm rot="2870579">
            <a:off x="4961768" y="3642263"/>
            <a:ext cx="406309" cy="1009474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6"/>
          <p:cNvSpPr/>
          <p:nvPr/>
        </p:nvSpPr>
        <p:spPr>
          <a:xfrm rot="2870579">
            <a:off x="5418968" y="3642263"/>
            <a:ext cx="406309" cy="1009474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6"/>
          <p:cNvSpPr/>
          <p:nvPr/>
        </p:nvSpPr>
        <p:spPr>
          <a:xfrm rot="2870579">
            <a:off x="5952368" y="3642263"/>
            <a:ext cx="406309" cy="1009474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6"/>
          <p:cNvSpPr/>
          <p:nvPr/>
        </p:nvSpPr>
        <p:spPr>
          <a:xfrm rot="2870289">
            <a:off x="6505835" y="3597120"/>
            <a:ext cx="475547" cy="1094211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0" name="Google Shape;1300;p96" descr="&lt;math xmlns=&quot;http://www.w3.org/1998/Math/MathML&quot; display=&quot;block&quot; data-is-equatio=&quot;1&quot; data-latex=&quot;=\frac{1}{4}&quot;&gt;&lt;mo&gt;=&lt;/mo&gt;&lt;mfrac&gt;&lt;mn&gt;1&lt;/mn&gt;&lt;mn&gt;4&lt;/mn&gt;&lt;/mfrac&gt;&lt;/math&gt;" title="equals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74300" y="3825675"/>
            <a:ext cx="526802" cy="6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4" name="Shape 1304"/>
        <p:cNvGrpSpPr/>
        <p:nvPr/>
      </p:nvGrpSpPr>
      <p:grpSpPr>
        <a:xfrm>
          <a:off x="0" y="0"/>
          <a:ext cx="0" cy="0"/>
        </a:xfrm>
      </p:grpSpPr>
      <p:sp>
        <p:nvSpPr>
          <p:cNvPr id="1305" name="Google Shape;1305;p97"/>
          <p:cNvSpPr txBox="1"/>
          <p:nvPr>
            <p:ph type="subTitle" idx="1"/>
          </p:nvPr>
        </p:nvSpPr>
        <p:spPr>
          <a:xfrm>
            <a:off x="337825" y="810000"/>
            <a:ext cx="11238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</a:t>
            </a:r>
            <a:endParaRPr/>
          </a:p>
        </p:txBody>
      </p:sp>
      <p:sp>
        <p:nvSpPr>
          <p:cNvPr id="1306" name="Google Shape;130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307" name="Google Shape;1307;p97"/>
          <p:cNvSpPr txBox="1"/>
          <p:nvPr>
            <p:ph type="subTitle" idx="2"/>
          </p:nvPr>
        </p:nvSpPr>
        <p:spPr>
          <a:xfrm>
            <a:off x="4824000" y="810000"/>
            <a:ext cx="11238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</a:t>
            </a:r>
            <a:endParaRPr/>
          </a:p>
        </p:txBody>
      </p:sp>
      <p:pic>
        <p:nvPicPr>
          <p:cNvPr id="1308" name="Google Shape;1308;p97" descr="&lt;math xmlns=&quot;http://www.w3.org/1998/Math/MathML&quot; display=&quot;block&quot; data-is-equatio=&quot;1&quot; data-latex=&quot;\frac{66}{585}\times\frac{117}{242}=\frac{2\times3\times11}{3\times3\times5\times13}\times\frac{3\times3\times13}{2\times11\times11}=\frac{2\times3\times3\times11\times13\times3}{2\times3\times3\times11\times13\times5\times11}=\frac{3}{55}&quot;&gt;&lt;mfrac&gt;&lt;mn&gt;66&lt;/mn&gt;&lt;mn&gt;585&lt;/mn&gt;&lt;/mfrac&gt;&lt;mo&gt;×&lt;/mo&gt;&lt;mfrac&gt;&lt;mn&gt;117&lt;/mn&gt;&lt;mn&gt;242&lt;/mn&gt;&lt;/mfrac&gt;&lt;mo&gt;=&lt;/mo&gt;&lt;mfrac&gt;&lt;mrow&gt;&lt;mn&gt;2&lt;/mn&gt;&lt;mo&gt;×&lt;/mo&gt;&lt;mn&gt;3&lt;/mn&gt;&lt;mo&gt;×&lt;/mo&gt;&lt;mn&gt;11&lt;/mn&gt;&lt;/mrow&gt;&lt;mrow&gt;&lt;mn&gt;3&lt;/mn&gt;&lt;mo&gt;×&lt;/mo&gt;&lt;mn&gt;3&lt;/mn&gt;&lt;mo&gt;×&lt;/mo&gt;&lt;mn&gt;5&lt;/mn&gt;&lt;mo&gt;×&lt;/mo&gt;&lt;mn&gt;13&lt;/mn&gt;&lt;/mrow&gt;&lt;/mfrac&gt;&lt;mo&gt;×&lt;/mo&gt;&lt;mfrac&gt;&lt;mrow&gt;&lt;mn&gt;3&lt;/mn&gt;&lt;mo&gt;×&lt;/mo&gt;&lt;mn&gt;3&lt;/mn&gt;&lt;mo&gt;×&lt;/mo&gt;&lt;mn&gt;13&lt;/mn&gt;&lt;/mrow&gt;&lt;mrow&gt;&lt;mn&gt;2&lt;/mn&gt;&lt;mo&gt;×&lt;/mo&gt;&lt;mn&gt;11&lt;/mn&gt;&lt;mo&gt;×&lt;/mo&gt;&lt;mn&gt;11&lt;/mn&gt;&lt;/mrow&gt;&lt;/mfrac&gt;&lt;mo&gt;=&lt;/mo&gt;&lt;mfrac&gt;&lt;mrow&gt;&lt;mn&gt;2&lt;/mn&gt;&lt;mo&gt;×&lt;/mo&gt;&lt;mn&gt;3&lt;/mn&gt;&lt;mo&gt;×&lt;/mo&gt;&lt;mn&gt;3&lt;/mn&gt;&lt;mo&gt;×&lt;/mo&gt;&lt;mn&gt;11&lt;/mn&gt;&lt;mo&gt;×&lt;/mo&gt;&lt;mn&gt;13&lt;/mn&gt;&lt;mo&gt;×&lt;/mo&gt;&lt;mn&gt;3&lt;/mn&gt;&lt;/mrow&gt;&lt;mrow&gt;&lt;mn&gt;2&lt;/mn&gt;&lt;mo&gt;×&lt;/mo&gt;&lt;mn&gt;3&lt;/mn&gt;&lt;mo&gt;×&lt;/mo&gt;&lt;mn&gt;3&lt;/mn&gt;&lt;mo&gt;×&lt;/mo&gt;&lt;mn&gt;11&lt;/mn&gt;&lt;mo&gt;×&lt;/mo&gt;&lt;mn&gt;13&lt;/mn&gt;&lt;mo&gt;×&lt;/mo&gt;&lt;mn&gt;5&lt;/mn&gt;&lt;mo&gt;×&lt;/mo&gt;&lt;mn&gt;11&lt;/mn&gt;&lt;/mrow&gt;&lt;/mfrac&gt;&lt;mo&gt;=&lt;/mo&gt;&lt;mfrac&gt;&lt;mn&gt;3&lt;/mn&gt;&lt;mn&gt;55&lt;/mn&gt;&lt;/mfrac&gt;&lt;/math&gt;" title="66 over 585 times 117 over 242 equals the fraction with numerator 2 times 3 times 11 and denominator 3 times 3 times 5 times 13 times the fraction with numerator 3 times 3 times 13 and denominator 2 times 11 times 11 equals the fraction with numerator 2 times 3 times 3 times 11 times 13 times 3 and denominator 2 times 3 times 3 times 11 times 13 times 5 times 11 equals 3 over 55"/>
          <p:cNvPicPr preferRelativeResize="0"/>
          <p:nvPr/>
        </p:nvPicPr>
        <p:blipFill>
          <a:blip r:embed="rId3">
            <a:alphaModFix/>
          </a:blip>
          <a:srcRect r="85636"/>
          <a:stretch>
            <a:fillRect/>
          </a:stretch>
        </p:blipFill>
        <p:spPr>
          <a:xfrm>
            <a:off x="1513400" y="790150"/>
            <a:ext cx="1269652" cy="5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97" descr="&lt;math xmlns=&quot;http://www.w3.org/1998/Math/MathML&quot; display=&quot;block&quot; data-is-equatio=&quot;1&quot; data-latex=&quot;\frac{78}{165}\times\frac{55}{170}=\frac{2\times3\times13}{3\times5\times11}\times\frac{5\times11}{2\times5\times17}=\frac{2\times3\times5\times11\times13}{2\times3\times5\times11\times5\times17}=\frac{13}{85}&quot;&gt;&lt;mfrac&gt;&lt;mn&gt;78&lt;/mn&gt;&lt;mn&gt;165&lt;/mn&gt;&lt;/mfrac&gt;&lt;mo&gt;×&lt;/mo&gt;&lt;mfrac&gt;&lt;mn&gt;55&lt;/mn&gt;&lt;mn&gt;170&lt;/mn&gt;&lt;/mfrac&gt;&lt;mo&gt;=&lt;/mo&gt;&lt;mfrac&gt;&lt;mrow&gt;&lt;mn&gt;2&lt;/mn&gt;&lt;mo&gt;×&lt;/mo&gt;&lt;mn&gt;3&lt;/mn&gt;&lt;mo&gt;×&lt;/mo&gt;&lt;mn&gt;13&lt;/mn&gt;&lt;/mrow&gt;&lt;mrow&gt;&lt;mn&gt;3&lt;/mn&gt;&lt;mo&gt;×&lt;/mo&gt;&lt;mn&gt;5&lt;/mn&gt;&lt;mo&gt;×&lt;/mo&gt;&lt;mn&gt;11&lt;/mn&gt;&lt;/mrow&gt;&lt;/mfrac&gt;&lt;mo&gt;×&lt;/mo&gt;&lt;mfrac&gt;&lt;mrow&gt;&lt;mn&gt;5&lt;/mn&gt;&lt;mo&gt;×&lt;/mo&gt;&lt;mn&gt;11&lt;/mn&gt;&lt;/mrow&gt;&lt;mrow&gt;&lt;mn&gt;2&lt;/mn&gt;&lt;mo&gt;×&lt;/mo&gt;&lt;mn&gt;5&lt;/mn&gt;&lt;mo&gt;×&lt;/mo&gt;&lt;mn&gt;17&lt;/mn&gt;&lt;/mrow&gt;&lt;/mfrac&gt;&lt;mo&gt;=&lt;/mo&gt;&lt;mfrac&gt;&lt;mrow&gt;&lt;mn&gt;2&lt;/mn&gt;&lt;mo&gt;×&lt;/mo&gt;&lt;mn&gt;3&lt;/mn&gt;&lt;mo&gt;×&lt;/mo&gt;&lt;mn&gt;5&lt;/mn&gt;&lt;mo&gt;×&lt;/mo&gt;&lt;mn&gt;11&lt;/mn&gt;&lt;mo&gt;×&lt;/mo&gt;&lt;mn&gt;13&lt;/mn&gt;&lt;/mrow&gt;&lt;mrow&gt;&lt;mn&gt;2&lt;/mn&gt;&lt;mo&gt;×&lt;/mo&gt;&lt;mn&gt;3&lt;/mn&gt;&lt;mo&gt;×&lt;/mo&gt;&lt;mn&gt;5&lt;/mn&gt;&lt;mo&gt;×&lt;/mo&gt;&lt;mn&gt;11&lt;/mn&gt;&lt;mo&gt;×&lt;/mo&gt;&lt;mn&gt;5&lt;/mn&gt;&lt;mo&gt;×&lt;/mo&gt;&lt;mn&gt;17&lt;/mn&gt;&lt;/mrow&gt;&lt;/mfrac&gt;&lt;mo&gt;=&lt;/mo&gt;&lt;mfrac&gt;&lt;mn&gt;13&lt;/mn&gt;&lt;mn&gt;85&lt;/mn&gt;&lt;/mfrac&gt;&lt;/math&gt;" title="78 over 165 times 55 over 170 equals the fraction with numerator 2 times 3 times 13 and denominator 3 times 5 times 11 times the fraction with numerator 5 times 11 and denominator 2 times 5 times 17 equals the fraction with numerator 2 times 3 times 5 times 11 times 13 and denominator 2 times 3 times 5 times 11 times 5 times 17 equals 13 over 85"/>
          <p:cNvPicPr preferRelativeResize="0"/>
          <p:nvPr/>
        </p:nvPicPr>
        <p:blipFill>
          <a:blip r:embed="rId4">
            <a:alphaModFix/>
          </a:blip>
          <a:srcRect l="92021"/>
          <a:stretch>
            <a:fillRect/>
          </a:stretch>
        </p:blipFill>
        <p:spPr>
          <a:xfrm>
            <a:off x="4824001" y="3499888"/>
            <a:ext cx="629151" cy="5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97" descr="&lt;math xmlns=&quot;http://www.w3.org/1998/Math/MathML&quot; display=&quot;block&quot; data-is-equatio=&quot;1&quot; data-latex=&quot;\frac{66}{585}\times\frac{117}{242}=\frac{2\times3\times11}{3\times3\times5\times13}\times\frac{3\times3\times13}{2\times11\times11}=\frac{2\times3\times3\times11\times13\times3}{2\times3\times3\times11\times13\times5\times11}=\frac{3}{55}&quot;&gt;&lt;mfrac&gt;&lt;mn&gt;66&lt;/mn&gt;&lt;mn&gt;585&lt;/mn&gt;&lt;/mfrac&gt;&lt;mo&gt;×&lt;/mo&gt;&lt;mfrac&gt;&lt;mn&gt;117&lt;/mn&gt;&lt;mn&gt;242&lt;/mn&gt;&lt;/mfrac&gt;&lt;mo&gt;=&lt;/mo&gt;&lt;mfrac&gt;&lt;mrow&gt;&lt;mn&gt;2&lt;/mn&gt;&lt;mo&gt;×&lt;/mo&gt;&lt;mn&gt;3&lt;/mn&gt;&lt;mo&gt;×&lt;/mo&gt;&lt;mn&gt;11&lt;/mn&gt;&lt;/mrow&gt;&lt;mrow&gt;&lt;mn&gt;3&lt;/mn&gt;&lt;mo&gt;×&lt;/mo&gt;&lt;mn&gt;3&lt;/mn&gt;&lt;mo&gt;×&lt;/mo&gt;&lt;mn&gt;5&lt;/mn&gt;&lt;mo&gt;×&lt;/mo&gt;&lt;mn&gt;13&lt;/mn&gt;&lt;/mrow&gt;&lt;/mfrac&gt;&lt;mo&gt;×&lt;/mo&gt;&lt;mfrac&gt;&lt;mrow&gt;&lt;mn&gt;3&lt;/mn&gt;&lt;mo&gt;×&lt;/mo&gt;&lt;mn&gt;3&lt;/mn&gt;&lt;mo&gt;×&lt;/mo&gt;&lt;mn&gt;13&lt;/mn&gt;&lt;/mrow&gt;&lt;mrow&gt;&lt;mn&gt;2&lt;/mn&gt;&lt;mo&gt;×&lt;/mo&gt;&lt;mn&gt;11&lt;/mn&gt;&lt;mo&gt;×&lt;/mo&gt;&lt;mn&gt;11&lt;/mn&gt;&lt;/mrow&gt;&lt;/mfrac&gt;&lt;mo&gt;=&lt;/mo&gt;&lt;mfrac&gt;&lt;mrow&gt;&lt;mn&gt;2&lt;/mn&gt;&lt;mo&gt;×&lt;/mo&gt;&lt;mn&gt;3&lt;/mn&gt;&lt;mo&gt;×&lt;/mo&gt;&lt;mn&gt;3&lt;/mn&gt;&lt;mo&gt;×&lt;/mo&gt;&lt;mn&gt;11&lt;/mn&gt;&lt;mo&gt;×&lt;/mo&gt;&lt;mn&gt;13&lt;/mn&gt;&lt;mo&gt;×&lt;/mo&gt;&lt;mn&gt;3&lt;/mn&gt;&lt;/mrow&gt;&lt;mrow&gt;&lt;mn&gt;2&lt;/mn&gt;&lt;mo&gt;×&lt;/mo&gt;&lt;mn&gt;3&lt;/mn&gt;&lt;mo&gt;×&lt;/mo&gt;&lt;mn&gt;3&lt;/mn&gt;&lt;mo&gt;×&lt;/mo&gt;&lt;mn&gt;11&lt;/mn&gt;&lt;mo&gt;×&lt;/mo&gt;&lt;mn&gt;13&lt;/mn&gt;&lt;mo&gt;×&lt;/mo&gt;&lt;mn&gt;5&lt;/mn&gt;&lt;mo&gt;×&lt;/mo&gt;&lt;mn&gt;11&lt;/mn&gt;&lt;/mrow&gt;&lt;/mfrac&gt;&lt;mo&gt;=&lt;/mo&gt;&lt;mfrac&gt;&lt;mn&gt;3&lt;/mn&gt;&lt;mn&gt;55&lt;/mn&gt;&lt;/mfrac&gt;&lt;/math&gt;" title="66 over 585 times 117 over 242 equals the fraction with numerator 2 times 3 times 11 and denominator 3 times 3 times 5 times 13 times the fraction with numerator 3 times 3 times 13 and denominator 2 times 11 times 11 equals the fraction with numerator 2 times 3 times 3 times 11 times 13 times 3 and denominator 2 times 3 times 3 times 11 times 13 times 5 times 11 equals 3 over 55"/>
          <p:cNvPicPr preferRelativeResize="0"/>
          <p:nvPr/>
        </p:nvPicPr>
        <p:blipFill>
          <a:blip r:embed="rId3">
            <a:alphaModFix/>
          </a:blip>
          <a:srcRect l="13896" r="45813"/>
          <a:stretch>
            <a:fillRect/>
          </a:stretch>
        </p:blipFill>
        <p:spPr>
          <a:xfrm>
            <a:off x="324000" y="1688725"/>
            <a:ext cx="3561324" cy="5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97" descr="&lt;math xmlns=&quot;http://www.w3.org/1998/Math/MathML&quot; display=&quot;block&quot; data-is-equatio=&quot;1&quot; data-latex=&quot;\frac{78}{165}\times\frac{55}{170}=\frac{2\times3\times13}{3\times5\times11}\times\frac{5\times11}{2\times5\times17}=\frac{2\times3\times5\times11\times13}{2\times3\times5\times11\times5\times17}=\frac{13}{85}&quot;&gt;&lt;mfrac&gt;&lt;mn&gt;78&lt;/mn&gt;&lt;mn&gt;165&lt;/mn&gt;&lt;/mfrac&gt;&lt;mo&gt;×&lt;/mo&gt;&lt;mfrac&gt;&lt;mn&gt;55&lt;/mn&gt;&lt;mn&gt;170&lt;/mn&gt;&lt;/mfrac&gt;&lt;mo&gt;=&lt;/mo&gt;&lt;mfrac&gt;&lt;mrow&gt;&lt;mn&gt;2&lt;/mn&gt;&lt;mo&gt;×&lt;/mo&gt;&lt;mn&gt;3&lt;/mn&gt;&lt;mo&gt;×&lt;/mo&gt;&lt;mn&gt;13&lt;/mn&gt;&lt;/mrow&gt;&lt;mrow&gt;&lt;mn&gt;3&lt;/mn&gt;&lt;mo&gt;×&lt;/mo&gt;&lt;mn&gt;5&lt;/mn&gt;&lt;mo&gt;×&lt;/mo&gt;&lt;mn&gt;11&lt;/mn&gt;&lt;/mrow&gt;&lt;/mfrac&gt;&lt;mo&gt;×&lt;/mo&gt;&lt;mfrac&gt;&lt;mrow&gt;&lt;mn&gt;5&lt;/mn&gt;&lt;mo&gt;×&lt;/mo&gt;&lt;mn&gt;11&lt;/mn&gt;&lt;/mrow&gt;&lt;mrow&gt;&lt;mn&gt;2&lt;/mn&gt;&lt;mo&gt;×&lt;/mo&gt;&lt;mn&gt;5&lt;/mn&gt;&lt;mo&gt;×&lt;/mo&gt;&lt;mn&gt;17&lt;/mn&gt;&lt;/mrow&gt;&lt;/mfrac&gt;&lt;mo&gt;=&lt;/mo&gt;&lt;mfrac&gt;&lt;mrow&gt;&lt;mn&gt;2&lt;/mn&gt;&lt;mo&gt;×&lt;/mo&gt;&lt;mn&gt;3&lt;/mn&gt;&lt;mo&gt;×&lt;/mo&gt;&lt;mn&gt;5&lt;/mn&gt;&lt;mo&gt;×&lt;/mo&gt;&lt;mn&gt;11&lt;/mn&gt;&lt;mo&gt;×&lt;/mo&gt;&lt;mn&gt;13&lt;/mn&gt;&lt;/mrow&gt;&lt;mrow&gt;&lt;mn&gt;2&lt;/mn&gt;&lt;mo&gt;×&lt;/mo&gt;&lt;mn&gt;3&lt;/mn&gt;&lt;mo&gt;×&lt;/mo&gt;&lt;mn&gt;5&lt;/mn&gt;&lt;mo&gt;×&lt;/mo&gt;&lt;mn&gt;11&lt;/mn&gt;&lt;mo&gt;×&lt;/mo&gt;&lt;mn&gt;5&lt;/mn&gt;&lt;mo&gt;×&lt;/mo&gt;&lt;mn&gt;17&lt;/mn&gt;&lt;/mrow&gt;&lt;/mfrac&gt;&lt;mo&gt;=&lt;/mo&gt;&lt;mfrac&gt;&lt;mn&gt;13&lt;/mn&gt;&lt;mn&gt;85&lt;/mn&gt;&lt;/mfrac&gt;&lt;/math&gt;" title="78 over 165 times 55 over 170 equals the fraction with numerator 2 times 3 times 13 and denominator 3 times 5 times 11 times the fraction with numerator 5 times 11 and denominator 2 times 5 times 17 equals the fraction with numerator 2 times 3 times 5 times 11 times 13 and denominator 2 times 3 times 5 times 11 times 5 times 17 equals 13 over 85"/>
          <p:cNvPicPr preferRelativeResize="0"/>
          <p:nvPr/>
        </p:nvPicPr>
        <p:blipFill>
          <a:blip r:embed="rId4">
            <a:alphaModFix/>
          </a:blip>
          <a:srcRect r="83898"/>
          <a:stretch>
            <a:fillRect/>
          </a:stretch>
        </p:blipFill>
        <p:spPr>
          <a:xfrm>
            <a:off x="5947800" y="790150"/>
            <a:ext cx="1269651" cy="5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97" descr="&lt;math xmlns=&quot;http://www.w3.org/1998/Math/MathML&quot; display=&quot;block&quot; data-is-equatio=&quot;1&quot; data-latex=&quot;\frac{66}{585}\times\frac{117}{242}=\frac{2\times3\times11}{3\times3\times5\times13}\times\frac{3\times3\times13}{2\times11\times11}=\frac{2\times3\times3\times11\times13\times3}{2\times3\times3\times11\times13\times5\times11}=\frac{3}{55}&quot;&gt;&lt;mfrac&gt;&lt;mn&gt;66&lt;/mn&gt;&lt;mn&gt;585&lt;/mn&gt;&lt;/mfrac&gt;&lt;mo&gt;×&lt;/mo&gt;&lt;mfrac&gt;&lt;mn&gt;117&lt;/mn&gt;&lt;mn&gt;242&lt;/mn&gt;&lt;/mfrac&gt;&lt;mo&gt;=&lt;/mo&gt;&lt;mfrac&gt;&lt;mrow&gt;&lt;mn&gt;2&lt;/mn&gt;&lt;mo&gt;×&lt;/mo&gt;&lt;mn&gt;3&lt;/mn&gt;&lt;mo&gt;×&lt;/mo&gt;&lt;mn&gt;11&lt;/mn&gt;&lt;/mrow&gt;&lt;mrow&gt;&lt;mn&gt;3&lt;/mn&gt;&lt;mo&gt;×&lt;/mo&gt;&lt;mn&gt;3&lt;/mn&gt;&lt;mo&gt;×&lt;/mo&gt;&lt;mn&gt;5&lt;/mn&gt;&lt;mo&gt;×&lt;/mo&gt;&lt;mn&gt;13&lt;/mn&gt;&lt;/mrow&gt;&lt;/mfrac&gt;&lt;mo&gt;×&lt;/mo&gt;&lt;mfrac&gt;&lt;mrow&gt;&lt;mn&gt;3&lt;/mn&gt;&lt;mo&gt;×&lt;/mo&gt;&lt;mn&gt;3&lt;/mn&gt;&lt;mo&gt;×&lt;/mo&gt;&lt;mn&gt;13&lt;/mn&gt;&lt;/mrow&gt;&lt;mrow&gt;&lt;mn&gt;2&lt;/mn&gt;&lt;mo&gt;×&lt;/mo&gt;&lt;mn&gt;11&lt;/mn&gt;&lt;mo&gt;×&lt;/mo&gt;&lt;mn&gt;11&lt;/mn&gt;&lt;/mrow&gt;&lt;/mfrac&gt;&lt;mo&gt;=&lt;/mo&gt;&lt;mfrac&gt;&lt;mrow&gt;&lt;mn&gt;2&lt;/mn&gt;&lt;mo&gt;×&lt;/mo&gt;&lt;mn&gt;3&lt;/mn&gt;&lt;mo&gt;×&lt;/mo&gt;&lt;mn&gt;3&lt;/mn&gt;&lt;mo&gt;×&lt;/mo&gt;&lt;mn&gt;11&lt;/mn&gt;&lt;mo&gt;×&lt;/mo&gt;&lt;mn&gt;13&lt;/mn&gt;&lt;mo&gt;×&lt;/mo&gt;&lt;mn&gt;3&lt;/mn&gt;&lt;/mrow&gt;&lt;mrow&gt;&lt;mn&gt;2&lt;/mn&gt;&lt;mo&gt;×&lt;/mo&gt;&lt;mn&gt;3&lt;/mn&gt;&lt;mo&gt;×&lt;/mo&gt;&lt;mn&gt;3&lt;/mn&gt;&lt;mo&gt;×&lt;/mo&gt;&lt;mn&gt;11&lt;/mn&gt;&lt;mo&gt;×&lt;/mo&gt;&lt;mn&gt;13&lt;/mn&gt;&lt;mo&gt;×&lt;/mo&gt;&lt;mn&gt;5&lt;/mn&gt;&lt;mo&gt;×&lt;/mo&gt;&lt;mn&gt;11&lt;/mn&gt;&lt;/mrow&gt;&lt;/mfrac&gt;&lt;mo&gt;=&lt;/mo&gt;&lt;mfrac&gt;&lt;mn&gt;3&lt;/mn&gt;&lt;mn&gt;55&lt;/mn&gt;&lt;/mfrac&gt;&lt;/math&gt;" title="66 over 585 times 117 over 242 equals the fraction with numerator 2 times 3 times 11 and denominator 3 times 3 times 5 times 13 times the fraction with numerator 3 times 3 times 13 and denominator 2 times 11 times 11 equals the fraction with numerator 2 times 3 times 3 times 11 times 13 times 3 and denominator 2 times 3 times 3 times 11 times 13 times 5 times 11 equals 3 over 55"/>
          <p:cNvPicPr preferRelativeResize="0"/>
          <p:nvPr/>
        </p:nvPicPr>
        <p:blipFill>
          <a:blip r:embed="rId3">
            <a:alphaModFix/>
          </a:blip>
          <a:srcRect l="92882"/>
          <a:stretch>
            <a:fillRect/>
          </a:stretch>
        </p:blipFill>
        <p:spPr>
          <a:xfrm>
            <a:off x="337829" y="3511987"/>
            <a:ext cx="629151" cy="5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97" descr="&lt;math xmlns=&quot;http://www.w3.org/1998/Math/MathML&quot; display=&quot;block&quot; data-is-equatio=&quot;1&quot; data-latex=&quot;\frac{66}{585}\times\frac{117}{242}=\frac{2\times3\times11}{3\times3\times5\times13}\times\frac{3\times3\times13}{2\times11\times11}=\frac{2\times3\times3\times11\times13\times3}{2\times3\times3\times11\times13\times5\times11}=\frac{3}{55}&quot;&gt;&lt;mfrac&gt;&lt;mn&gt;66&lt;/mn&gt;&lt;mn&gt;585&lt;/mn&gt;&lt;/mfrac&gt;&lt;mo&gt;×&lt;/mo&gt;&lt;mfrac&gt;&lt;mn&gt;117&lt;/mn&gt;&lt;mn&gt;242&lt;/mn&gt;&lt;/mfrac&gt;&lt;mo&gt;=&lt;/mo&gt;&lt;mfrac&gt;&lt;mrow&gt;&lt;mn&gt;2&lt;/mn&gt;&lt;mo&gt;×&lt;/mo&gt;&lt;mn&gt;3&lt;/mn&gt;&lt;mo&gt;×&lt;/mo&gt;&lt;mn&gt;11&lt;/mn&gt;&lt;/mrow&gt;&lt;mrow&gt;&lt;mn&gt;3&lt;/mn&gt;&lt;mo&gt;×&lt;/mo&gt;&lt;mn&gt;3&lt;/mn&gt;&lt;mo&gt;×&lt;/mo&gt;&lt;mn&gt;5&lt;/mn&gt;&lt;mo&gt;×&lt;/mo&gt;&lt;mn&gt;13&lt;/mn&gt;&lt;/mrow&gt;&lt;/mfrac&gt;&lt;mo&gt;×&lt;/mo&gt;&lt;mfrac&gt;&lt;mrow&gt;&lt;mn&gt;3&lt;/mn&gt;&lt;mo&gt;×&lt;/mo&gt;&lt;mn&gt;3&lt;/mn&gt;&lt;mo&gt;×&lt;/mo&gt;&lt;mn&gt;13&lt;/mn&gt;&lt;/mrow&gt;&lt;mrow&gt;&lt;mn&gt;2&lt;/mn&gt;&lt;mo&gt;×&lt;/mo&gt;&lt;mn&gt;11&lt;/mn&gt;&lt;mo&gt;×&lt;/mo&gt;&lt;mn&gt;11&lt;/mn&gt;&lt;/mrow&gt;&lt;/mfrac&gt;&lt;mo&gt;=&lt;/mo&gt;&lt;mfrac&gt;&lt;mrow&gt;&lt;mn&gt;2&lt;/mn&gt;&lt;mo&gt;×&lt;/mo&gt;&lt;mn&gt;3&lt;/mn&gt;&lt;mo&gt;×&lt;/mo&gt;&lt;mn&gt;3&lt;/mn&gt;&lt;mo&gt;×&lt;/mo&gt;&lt;mn&gt;11&lt;/mn&gt;&lt;mo&gt;×&lt;/mo&gt;&lt;mn&gt;13&lt;/mn&gt;&lt;mo&gt;×&lt;/mo&gt;&lt;mn&gt;3&lt;/mn&gt;&lt;/mrow&gt;&lt;mrow&gt;&lt;mn&gt;2&lt;/mn&gt;&lt;mo&gt;×&lt;/mo&gt;&lt;mn&gt;3&lt;/mn&gt;&lt;mo&gt;×&lt;/mo&gt;&lt;mn&gt;3&lt;/mn&gt;&lt;mo&gt;×&lt;/mo&gt;&lt;mn&gt;11&lt;/mn&gt;&lt;mo&gt;×&lt;/mo&gt;&lt;mn&gt;13&lt;/mn&gt;&lt;mo&gt;×&lt;/mo&gt;&lt;mn&gt;5&lt;/mn&gt;&lt;mo&gt;×&lt;/mo&gt;&lt;mn&gt;11&lt;/mn&gt;&lt;/mrow&gt;&lt;/mfrac&gt;&lt;mo&gt;=&lt;/mo&gt;&lt;mfrac&gt;&lt;mn&gt;3&lt;/mn&gt;&lt;mn&gt;55&lt;/mn&gt;&lt;/mfrac&gt;&lt;/math&gt;" title="66 over 585 times 117 over 242 equals the fraction with numerator 2 times 3 times 11 and denominator 3 times 3 times 5 times 13 times the fraction with numerator 3 times 3 times 13 and denominator 2 times 11 times 11 equals the fraction with numerator 2 times 3 times 3 times 11 times 13 times 3 and denominator 2 times 3 times 3 times 11 times 13 times 5 times 11 equals 3 over 55"/>
          <p:cNvPicPr preferRelativeResize="0"/>
          <p:nvPr/>
        </p:nvPicPr>
        <p:blipFill>
          <a:blip r:embed="rId3">
            <a:alphaModFix/>
          </a:blip>
          <a:srcRect l="54398" r="6965"/>
          <a:stretch>
            <a:fillRect/>
          </a:stretch>
        </p:blipFill>
        <p:spPr>
          <a:xfrm>
            <a:off x="337825" y="2600356"/>
            <a:ext cx="3414973" cy="5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97" descr="&lt;math xmlns=&quot;http://www.w3.org/1998/Math/MathML&quot; display=&quot;block&quot; data-is-equatio=&quot;1&quot; data-latex=&quot;\frac{78}{165}\times\frac{55}{170}=\frac{2\times3\times13}{3\times5\times11}\times\frac{5\times11}{2\times5\times17}=\frac{2\times3\times5\times11\times13}{2\times3\times5\times11\times5\times17}=\frac{13}{85}&quot;&gt;&lt;mfrac&gt;&lt;mn&gt;78&lt;/mn&gt;&lt;mn&gt;165&lt;/mn&gt;&lt;/mfrac&gt;&lt;mo&gt;×&lt;/mo&gt;&lt;mfrac&gt;&lt;mn&gt;55&lt;/mn&gt;&lt;mn&gt;170&lt;/mn&gt;&lt;/mfrac&gt;&lt;mo&gt;=&lt;/mo&gt;&lt;mfrac&gt;&lt;mrow&gt;&lt;mn&gt;2&lt;/mn&gt;&lt;mo&gt;×&lt;/mo&gt;&lt;mn&gt;3&lt;/mn&gt;&lt;mo&gt;×&lt;/mo&gt;&lt;mn&gt;13&lt;/mn&gt;&lt;/mrow&gt;&lt;mrow&gt;&lt;mn&gt;3&lt;/mn&gt;&lt;mo&gt;×&lt;/mo&gt;&lt;mn&gt;5&lt;/mn&gt;&lt;mo&gt;×&lt;/mo&gt;&lt;mn&gt;11&lt;/mn&gt;&lt;/mrow&gt;&lt;/mfrac&gt;&lt;mo&gt;×&lt;/mo&gt;&lt;mfrac&gt;&lt;mrow&gt;&lt;mn&gt;5&lt;/mn&gt;&lt;mo&gt;×&lt;/mo&gt;&lt;mn&gt;11&lt;/mn&gt;&lt;/mrow&gt;&lt;mrow&gt;&lt;mn&gt;2&lt;/mn&gt;&lt;mo&gt;×&lt;/mo&gt;&lt;mn&gt;5&lt;/mn&gt;&lt;mo&gt;×&lt;/mo&gt;&lt;mn&gt;17&lt;/mn&gt;&lt;/mrow&gt;&lt;/mfrac&gt;&lt;mo&gt;=&lt;/mo&gt;&lt;mfrac&gt;&lt;mrow&gt;&lt;mn&gt;2&lt;/mn&gt;&lt;mo&gt;×&lt;/mo&gt;&lt;mn&gt;3&lt;/mn&gt;&lt;mo&gt;×&lt;/mo&gt;&lt;mn&gt;5&lt;/mn&gt;&lt;mo&gt;×&lt;/mo&gt;&lt;mn&gt;11&lt;/mn&gt;&lt;mo&gt;×&lt;/mo&gt;&lt;mn&gt;13&lt;/mn&gt;&lt;/mrow&gt;&lt;mrow&gt;&lt;mn&gt;2&lt;/mn&gt;&lt;mo&gt;×&lt;/mo&gt;&lt;mn&gt;3&lt;/mn&gt;&lt;mo&gt;×&lt;/mo&gt;&lt;mn&gt;5&lt;/mn&gt;&lt;mo&gt;×&lt;/mo&gt;&lt;mn&gt;11&lt;/mn&gt;&lt;mo&gt;×&lt;/mo&gt;&lt;mn&gt;5&lt;/mn&gt;&lt;mo&gt;×&lt;/mo&gt;&lt;mn&gt;17&lt;/mn&gt;&lt;/mrow&gt;&lt;/mfrac&gt;&lt;mo&gt;=&lt;/mo&gt;&lt;mfrac&gt;&lt;mn&gt;13&lt;/mn&gt;&lt;mn&gt;85&lt;/mn&gt;&lt;/mfrac&gt;&lt;/math&gt;" title="78 over 165 times 55 over 170 equals the fraction with numerator 2 times 3 times 13 and denominator 3 times 5 times 11 times the fraction with numerator 5 times 11 and denominator 2 times 5 times 17 equals the fraction with numerator 2 times 3 times 5 times 11 times 13 and denominator 2 times 3 times 5 times 11 times 5 times 17 equals 13 over 85"/>
          <p:cNvPicPr preferRelativeResize="0"/>
          <p:nvPr/>
        </p:nvPicPr>
        <p:blipFill>
          <a:blip r:embed="rId4">
            <a:alphaModFix/>
          </a:blip>
          <a:srcRect l="54833" r="7974"/>
          <a:stretch>
            <a:fillRect/>
          </a:stretch>
        </p:blipFill>
        <p:spPr>
          <a:xfrm>
            <a:off x="4824000" y="2594306"/>
            <a:ext cx="2932727" cy="5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97" descr="&lt;math xmlns=&quot;http://www.w3.org/1998/Math/MathML&quot; display=&quot;block&quot; data-is-equatio=&quot;1&quot; data-latex=&quot;\frac{78}{165}\times\frac{55}{170}=\frac{2\times3\times13}{3\times5\times11}\times\frac{5\times11}{2\times5\times17}=\frac{2\times3\times5\times11\times13}{2\times3\times5\times11\times5\times17}=\frac{13}{85}&quot;&gt;&lt;mfrac&gt;&lt;mn&gt;78&lt;/mn&gt;&lt;mn&gt;165&lt;/mn&gt;&lt;/mfrac&gt;&lt;mo&gt;×&lt;/mo&gt;&lt;mfrac&gt;&lt;mn&gt;55&lt;/mn&gt;&lt;mn&gt;170&lt;/mn&gt;&lt;/mfrac&gt;&lt;mo&gt;=&lt;/mo&gt;&lt;mfrac&gt;&lt;mrow&gt;&lt;mn&gt;2&lt;/mn&gt;&lt;mo&gt;×&lt;/mo&gt;&lt;mn&gt;3&lt;/mn&gt;&lt;mo&gt;×&lt;/mo&gt;&lt;mn&gt;13&lt;/mn&gt;&lt;/mrow&gt;&lt;mrow&gt;&lt;mn&gt;3&lt;/mn&gt;&lt;mo&gt;×&lt;/mo&gt;&lt;mn&gt;5&lt;/mn&gt;&lt;mo&gt;×&lt;/mo&gt;&lt;mn&gt;11&lt;/mn&gt;&lt;/mrow&gt;&lt;/mfrac&gt;&lt;mo&gt;×&lt;/mo&gt;&lt;mfrac&gt;&lt;mrow&gt;&lt;mn&gt;5&lt;/mn&gt;&lt;mo&gt;×&lt;/mo&gt;&lt;mn&gt;11&lt;/mn&gt;&lt;/mrow&gt;&lt;mrow&gt;&lt;mn&gt;2&lt;/mn&gt;&lt;mo&gt;×&lt;/mo&gt;&lt;mn&gt;5&lt;/mn&gt;&lt;mo&gt;×&lt;/mo&gt;&lt;mn&gt;17&lt;/mn&gt;&lt;/mrow&gt;&lt;/mfrac&gt;&lt;mo&gt;=&lt;/mo&gt;&lt;mfrac&gt;&lt;mrow&gt;&lt;mn&gt;2&lt;/mn&gt;&lt;mo&gt;×&lt;/mo&gt;&lt;mn&gt;3&lt;/mn&gt;&lt;mo&gt;×&lt;/mo&gt;&lt;mn&gt;5&lt;/mn&gt;&lt;mo&gt;×&lt;/mo&gt;&lt;mn&gt;11&lt;/mn&gt;&lt;mo&gt;×&lt;/mo&gt;&lt;mn&gt;13&lt;/mn&gt;&lt;/mrow&gt;&lt;mrow&gt;&lt;mn&gt;2&lt;/mn&gt;&lt;mo&gt;×&lt;/mo&gt;&lt;mn&gt;3&lt;/mn&gt;&lt;mo&gt;×&lt;/mo&gt;&lt;mn&gt;5&lt;/mn&gt;&lt;mo&gt;×&lt;/mo&gt;&lt;mn&gt;11&lt;/mn&gt;&lt;mo&gt;×&lt;/mo&gt;&lt;mn&gt;5&lt;/mn&gt;&lt;mo&gt;×&lt;/mo&gt;&lt;mn&gt;17&lt;/mn&gt;&lt;/mrow&gt;&lt;/mfrac&gt;&lt;mo&gt;=&lt;/mo&gt;&lt;mfrac&gt;&lt;mn&gt;13&lt;/mn&gt;&lt;mn&gt;85&lt;/mn&gt;&lt;/mfrac&gt;&lt;/math&gt;" title="78 over 165 times 55 over 170 equals the fraction with numerator 2 times 3 times 13 and denominator 3 times 5 times 11 times the fraction with numerator 5 times 11 and denominator 2 times 5 times 17 equals the fraction with numerator 2 times 3 times 5 times 11 times 13 and denominator 2 times 3 times 5 times 11 times 5 times 17 equals 13 over 85"/>
          <p:cNvPicPr preferRelativeResize="0"/>
          <p:nvPr/>
        </p:nvPicPr>
        <p:blipFill>
          <a:blip r:embed="rId4">
            <a:alphaModFix/>
          </a:blip>
          <a:srcRect l="16255" r="45196"/>
          <a:stretch>
            <a:fillRect/>
          </a:stretch>
        </p:blipFill>
        <p:spPr>
          <a:xfrm>
            <a:off x="4824000" y="1688725"/>
            <a:ext cx="3039599" cy="56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7"/>
          <p:cNvSpPr/>
          <p:nvPr/>
        </p:nvSpPr>
        <p:spPr>
          <a:xfrm rot="2191641">
            <a:off x="696955" y="2487701"/>
            <a:ext cx="341226" cy="773415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7"/>
          <p:cNvSpPr/>
          <p:nvPr/>
        </p:nvSpPr>
        <p:spPr>
          <a:xfrm rot="2191641">
            <a:off x="1070530" y="2487713"/>
            <a:ext cx="341226" cy="773415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7"/>
          <p:cNvSpPr/>
          <p:nvPr/>
        </p:nvSpPr>
        <p:spPr>
          <a:xfrm rot="2191641">
            <a:off x="1472455" y="2487726"/>
            <a:ext cx="341226" cy="773415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7"/>
          <p:cNvSpPr/>
          <p:nvPr/>
        </p:nvSpPr>
        <p:spPr>
          <a:xfrm rot="2191641">
            <a:off x="1977605" y="2487726"/>
            <a:ext cx="341226" cy="773415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7"/>
          <p:cNvSpPr/>
          <p:nvPr/>
        </p:nvSpPr>
        <p:spPr>
          <a:xfrm rot="2191641">
            <a:off x="2542814" y="2487726"/>
            <a:ext cx="341226" cy="773415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4" name="Shape 1324"/>
        <p:cNvGrpSpPr/>
        <p:nvPr/>
      </p:nvGrpSpPr>
      <p:grpSpPr>
        <a:xfrm>
          <a:off x="0" y="0"/>
          <a:ext cx="0" cy="0"/>
        </a:xfrm>
      </p:grpSpPr>
      <p:sp>
        <p:nvSpPr>
          <p:cNvPr id="1325" name="Google Shape;1325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326" name="Google Shape;1326;p98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Use the most efficient method to answer these questions.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327" name="Google Shape;1327;p98"/>
          <p:cNvPicPr preferRelativeResize="0"/>
          <p:nvPr/>
        </p:nvPicPr>
        <p:blipFill>
          <a:blip r:embed="rId3">
            <a:alphaModFix/>
          </a:blip>
          <a:srcRect l="54085" r="10741"/>
          <a:stretch>
            <a:fillRect/>
          </a:stretch>
        </p:blipFill>
        <p:spPr>
          <a:xfrm>
            <a:off x="4891975" y="1080000"/>
            <a:ext cx="2713050" cy="36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98"/>
          <p:cNvPicPr preferRelativeResize="0"/>
          <p:nvPr/>
        </p:nvPicPr>
        <p:blipFill>
          <a:blip r:embed="rId3">
            <a:alphaModFix/>
          </a:blip>
          <a:srcRect r="71903"/>
          <a:stretch>
            <a:fillRect/>
          </a:stretch>
        </p:blipFill>
        <p:spPr>
          <a:xfrm>
            <a:off x="720000" y="1080000"/>
            <a:ext cx="2167201" cy="36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2" name="Shape 1332"/>
        <p:cNvGrpSpPr/>
        <p:nvPr/>
      </p:nvGrpSpPr>
      <p:grpSpPr>
        <a:xfrm>
          <a:off x="0" y="0"/>
          <a:ext cx="0" cy="0"/>
        </a:xfrm>
      </p:grpSpPr>
      <p:sp>
        <p:nvSpPr>
          <p:cNvPr id="1333" name="Google Shape;1333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Multiplying two or more fractions</a:t>
            </a:r>
            <a:endParaRPr/>
          </a:p>
        </p:txBody>
      </p:sp>
      <p:sp>
        <p:nvSpPr>
          <p:cNvPr id="1334" name="Google Shape;1334;p99"/>
          <p:cNvSpPr txBox="1"/>
          <p:nvPr>
            <p:ph type="body" idx="1"/>
          </p:nvPr>
        </p:nvSpPr>
        <p:spPr>
          <a:xfrm>
            <a:off x="324000" y="759300"/>
            <a:ext cx="8237700" cy="46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Use the most efficient method to answer these questions.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335" name="Google Shape;133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080000"/>
            <a:ext cx="7713499" cy="36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sp>
        <p:nvSpPr>
          <p:cNvPr id="1340" name="Google Shape;1340;p100"/>
          <p:cNvSpPr txBox="1"/>
          <p:nvPr>
            <p:ph type="body" idx="1"/>
          </p:nvPr>
        </p:nvSpPr>
        <p:spPr>
          <a:xfrm>
            <a:off x="324000" y="646075"/>
            <a:ext cx="8113800" cy="41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product of two numbers where one number is between zero and one, will give a product less than the larger number. </a:t>
            </a:r>
            <a:endParaRPr sz="1800"/>
          </a:p>
        </p:txBody>
      </p:sp>
      <p:sp>
        <p:nvSpPr>
          <p:cNvPr id="1341" name="Google Shape;1341;p100"/>
          <p:cNvSpPr txBox="1"/>
          <p:nvPr>
            <p:ph type="title"/>
          </p:nvPr>
        </p:nvSpPr>
        <p:spPr>
          <a:xfrm>
            <a:off x="1684800" y="157525"/>
            <a:ext cx="67296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multiplication with fractions</a:t>
            </a:r>
            <a:endParaRPr/>
          </a:p>
        </p:txBody>
      </p:sp>
      <p:sp>
        <p:nvSpPr>
          <p:cNvPr id="1342" name="Google Shape;1342;p100"/>
          <p:cNvSpPr txBox="1"/>
          <p:nvPr>
            <p:ph type="body" idx="1"/>
          </p:nvPr>
        </p:nvSpPr>
        <p:spPr>
          <a:xfrm>
            <a:off x="324000" y="1516532"/>
            <a:ext cx="8237700" cy="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product of two numbers where both are between zero and one, will give a product less than either of the numbers. </a:t>
            </a:r>
            <a:endParaRPr sz="1800"/>
          </a:p>
        </p:txBody>
      </p:sp>
      <p:sp>
        <p:nvSpPr>
          <p:cNvPr id="1343" name="Google Shape;1343;p100"/>
          <p:cNvSpPr txBox="1"/>
          <p:nvPr>
            <p:ph type="body" idx="1"/>
          </p:nvPr>
        </p:nvSpPr>
        <p:spPr>
          <a:xfrm>
            <a:off x="324000" y="2775900"/>
            <a:ext cx="8128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Any integer can be written as fraction with a denominator of 1. </a:t>
            </a:r>
            <a:endParaRPr sz="1800"/>
          </a:p>
        </p:txBody>
      </p:sp>
      <p:pic>
        <p:nvPicPr>
          <p:cNvPr id="1344" name="Google Shape;1344;p100" descr="&lt;math xmlns=&quot;http://www.w3.org/1998/Math/MathML&quot; display=&quot;block&quot; data-is-equatio=&quot;1&quot; data-latex=&quot;\frac{4}{1}\times\frac{1}{3}=\frac{4\times1}{1\times3}=\frac{4}{3}=1\ \frac{1}{3}&quot;&gt;&lt;mfrac&gt;&lt;mn&gt;4&lt;/mn&gt;&lt;mn&gt;1&lt;/mn&gt;&lt;/mfrac&gt;&lt;mo&gt;×&lt;/mo&gt;&lt;mfrac&gt;&lt;mn&gt;1&lt;/mn&gt;&lt;mn&gt;3&lt;/mn&gt;&lt;/mfrac&gt;&lt;mo&gt;=&lt;/mo&gt;&lt;mfrac&gt;&lt;mrow&gt;&lt;mn&gt;4&lt;/mn&gt;&lt;mo&gt;×&lt;/mo&gt;&lt;mn&gt;1&lt;/mn&gt;&lt;/mrow&gt;&lt;mrow&gt;&lt;mn&gt;1&lt;/mn&gt;&lt;mo&gt;×&lt;/mo&gt;&lt;mn&gt;3&lt;/mn&gt;&lt;/mrow&gt;&lt;/mfrac&gt;&lt;mo&gt;=&lt;/mo&gt;&lt;mfrac&gt;&lt;mn&gt;4&lt;/mn&gt;&lt;mn&gt;3&lt;/mn&gt;&lt;/mfrac&gt;&lt;mo&gt;=&lt;/mo&gt;&lt;mn&gt;1&lt;/mn&gt;&lt;mtext&gt;&lt;/mtext&gt;&lt;mfrac&gt;&lt;mn&gt;1&lt;/mn&gt;&lt;mn&gt;3&lt;/mn&gt;&lt;/mfrac&gt;&lt;/math&gt;" title="four oneths times one third equals the fraction with numerator 4 times 1 and denominator 1 times 3 equals four thirds equals 1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375" y="3137750"/>
            <a:ext cx="2787976" cy="51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0"/>
          <p:cNvSpPr txBox="1"/>
          <p:nvPr>
            <p:ph type="body" idx="1"/>
          </p:nvPr>
        </p:nvSpPr>
        <p:spPr>
          <a:xfrm>
            <a:off x="324000" y="3773800"/>
            <a:ext cx="8128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Factors can be used to make the multiplication of fractions more efficient.  E.g.</a:t>
            </a:r>
            <a:endParaRPr sz="1800"/>
          </a:p>
        </p:txBody>
      </p:sp>
      <p:pic>
        <p:nvPicPr>
          <p:cNvPr id="1346" name="Google Shape;1346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4254" y="4063507"/>
            <a:ext cx="6642876" cy="7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400" y="917220"/>
            <a:ext cx="2525429" cy="5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125" y="2205775"/>
            <a:ext cx="6415056" cy="5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2" name="Shape 1352"/>
        <p:cNvGrpSpPr/>
        <p:nvPr/>
      </p:nvGrpSpPr>
      <p:grpSpPr>
        <a:xfrm>
          <a:off x="0" y="0"/>
          <a:ext cx="0" cy="0"/>
        </a:xfrm>
      </p:grpSpPr>
      <p:sp>
        <p:nvSpPr>
          <p:cNvPr id="1353" name="Google Shape;1353;p101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4" name="Google Shape;1354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212</Paragraphs>
  <Slides>38</Slides>
  <Notes>38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baseType="lpstr" size="46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Securing understanding of multiplication with fractions</vt:lpstr>
      <vt:lpstr>PowerPoint Presentation</vt:lpstr>
      <vt:lpstr>PowerPoint Presentation</vt:lpstr>
      <vt:lpstr>PowerPoint Presentation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Comparing products</vt:lpstr>
      <vt:lpstr>PowerPoint Presentation</vt:lpstr>
      <vt:lpstr>PowerPoint Presentation</vt:lpstr>
      <vt:lpstr>PowerPoint Presentation</vt:lpstr>
      <vt:lpstr>PowerPoint Presentation</vt:lpstr>
      <vt:lpstr>Comparing products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Multiplying two or more fractions</vt:lpstr>
      <vt:lpstr>PowerPoint Presentation</vt:lpstr>
      <vt:lpstr>PowerPoint Presentation</vt:lpstr>
      <vt:lpstr>Securing understanding of multiplication with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2024-01-09T09:30:33.139</cp:lastPrinted>
  <dcterms:created xsi:type="dcterms:W3CDTF">2024-01-09T09:30:33Z</dcterms:created>
  <dcterms:modified xsi:type="dcterms:W3CDTF">2024-01-09T09:30:48Z</dcterms:modified>
</cp:coreProperties>
</file>