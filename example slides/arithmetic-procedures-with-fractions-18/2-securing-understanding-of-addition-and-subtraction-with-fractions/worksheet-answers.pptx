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2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69" name="Shape 269"/>
        <p:cNvGrpSpPr/>
        <p:nvPr/>
      </p:nvGrpSpPr>
      <p:grpSpPr>
        <a:xfrm>
          <a:off x="0" y="0"/>
          <a:ext cx="0" cy="0"/>
        </a:xfrm>
      </p:grpSpPr>
      <p:sp>
        <p:nvSpPr>
          <p:cNvPr id="270" name="Google Shape;270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image" Target="../media/image14.png" /><Relationship Id="rId11" Type="http://schemas.openxmlformats.org/officeDocument/2006/relationships/image" Target="../media/image15.png" /><Relationship Id="rId12" Type="http://schemas.openxmlformats.org/officeDocument/2006/relationships/image" Target="../media/image16.png" /><Relationship Id="rId13" Type="http://schemas.openxmlformats.org/officeDocument/2006/relationships/image" Target="../media/image17.png" /><Relationship Id="rId14" Type="http://schemas.openxmlformats.org/officeDocument/2006/relationships/image" Target="../media/image18.png" /><Relationship Id="rId15" Type="http://schemas.openxmlformats.org/officeDocument/2006/relationships/image" Target="../media/image19.png" /><Relationship Id="rId16" Type="http://schemas.openxmlformats.org/officeDocument/2006/relationships/image" Target="../media/image20.png" /><Relationship Id="rId17" Type="http://schemas.openxmlformats.org/officeDocument/2006/relationships/image" Target="../media/image21.png" /><Relationship Id="rId18" Type="http://schemas.openxmlformats.org/officeDocument/2006/relationships/image" Target="../media/image22.png" /><Relationship Id="rId19" Type="http://schemas.openxmlformats.org/officeDocument/2006/relationships/image" Target="../media/image23.png" /><Relationship Id="rId2" Type="http://schemas.openxmlformats.org/officeDocument/2006/relationships/notesSlide" Target="../notesSlides/notesSlide1.xml" /><Relationship Id="rId20" Type="http://schemas.openxmlformats.org/officeDocument/2006/relationships/image" Target="../media/image24.png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10" Type="http://schemas.openxmlformats.org/officeDocument/2006/relationships/image" Target="../media/image32.png" /><Relationship Id="rId11" Type="http://schemas.openxmlformats.org/officeDocument/2006/relationships/image" Target="../media/image33.png" /><Relationship Id="rId12" Type="http://schemas.openxmlformats.org/officeDocument/2006/relationships/image" Target="../media/image34.png" /><Relationship Id="rId13" Type="http://schemas.openxmlformats.org/officeDocument/2006/relationships/image" Target="../media/image35.png" /><Relationship Id="rId14" Type="http://schemas.openxmlformats.org/officeDocument/2006/relationships/image" Target="../media/image36.png" /><Relationship Id="rId15" Type="http://schemas.openxmlformats.org/officeDocument/2006/relationships/image" Target="../media/image37.png" /><Relationship Id="rId16" Type="http://schemas.openxmlformats.org/officeDocument/2006/relationships/image" Target="../media/image38.png" /><Relationship Id="rId17" Type="http://schemas.openxmlformats.org/officeDocument/2006/relationships/image" Target="../media/image39.png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8.png" /><Relationship Id="rId7" Type="http://schemas.openxmlformats.org/officeDocument/2006/relationships/image" Target="../media/image29.png" /><Relationship Id="rId8" Type="http://schemas.openxmlformats.org/officeDocument/2006/relationships/image" Target="../media/image30.png" /><Relationship Id="rId9" Type="http://schemas.openxmlformats.org/officeDocument/2006/relationships/image" Target="../media/image31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6354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addition and subtraction with fractions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5009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Addition and subtraction involving mixed numbers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4" name="Google Shape;174;p20" descr="&lt;math xmlns=&quot;http://www.w3.org/1998/Math/MathML&quot; display=&quot;block&quot; data-is-equatio=&quot;1&quot; data-latex=&quot;4\ \frac{3}{4}+2\ \frac{1}{5}\ \ \ \ \ \ \ \ \ 3\ \frac{1}{2}+3\ \frac{2}{5}&quot;&gt;&lt;mn&gt;4&lt;/mn&gt;&lt;mtext&gt;&lt;/mtext&gt;&lt;mfrac&gt;&lt;mn&gt;3&lt;/mn&gt;&lt;mn&gt;4&lt;/mn&gt;&lt;/mfrac&gt;&lt;mo&gt;+&lt;/mo&gt;&lt;mn&gt;2&lt;/mn&gt;&lt;mtext&gt;&lt;/mtext&gt;&lt;mfrac&gt;&lt;mn&gt;1&lt;/mn&gt;&lt;mn&gt;5&lt;/mn&gt;&lt;/mfrac&gt;&lt;mtext&gt;&lt;/mtext&gt;&lt;mtext&gt;&lt;/mtext&gt;&lt;mtext&gt;&lt;/mtext&gt;&lt;mtext&gt;&lt;/mtext&gt;&lt;mtext&gt;&lt;/mtext&gt;&lt;mtext&gt;&lt;/mtext&gt;&lt;mtext&gt;&lt;/mtext&gt;&lt;mtext&gt;&lt;/mtext&gt;&lt;mtext&gt;&lt;/mtext&gt;&lt;mn&gt;3&lt;/mn&gt;&lt;mtext&gt;&lt;/mtext&gt;&lt;mfrac&gt;&lt;mn&gt;1&lt;/mn&gt;&lt;mn&gt;2&lt;/mn&gt;&lt;/mfrac&gt;&lt;mo&gt;+&lt;/mo&gt;&lt;mn&gt;3&lt;/mn&gt;&lt;mtext&gt;&lt;/mtext&gt;&lt;mfrac&gt;&lt;mn&gt;2&lt;/mn&gt;&lt;mn&gt;5&lt;/mn&gt;&lt;/mfrac&gt;&lt;/math&gt;" title="4 three fourths plus 2 one fifth 3 one half plus 3 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1773" y="2435839"/>
            <a:ext cx="2572990" cy="4948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20" descr="&lt;math xmlns=&quot;http://www.w3.org/1998/Math/MathML&quot; display=&quot;block&quot; data-is-equatio=&quot;1&quot; data-latex=&quot;4\ \frac{4}{5}-2\ \frac{3}{4}\ \ \ \ \ \ \ \ \ 3\ \frac{1}{2}-1\ \frac{2}{5}&quot;&gt;&lt;mn&gt;4&lt;/mn&gt;&lt;mtext&gt;&lt;/mtext&gt;&lt;mfrac&gt;&lt;mn&gt;4&lt;/mn&gt;&lt;mn&gt;5&lt;/mn&gt;&lt;/mfrac&gt;&lt;mo&gt;−&lt;/mo&gt;&lt;mn&gt;2&lt;/mn&gt;&lt;mtext&gt;&lt;/mtext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n&gt;3&lt;/mn&gt;&lt;mtext&gt;&lt;/mtext&gt;&lt;mfrac&gt;&lt;mn&gt;1&lt;/mn&gt;&lt;mn&gt;2&lt;/mn&gt;&lt;/mfrac&gt;&lt;mo&gt;−&lt;/mo&gt;&lt;mn&gt;1&lt;/mn&gt;&lt;mtext&gt;&lt;/mtext&gt;&lt;mfrac&gt;&lt;mn&gt;2&lt;/mn&gt;&lt;mn&gt;5&lt;/mn&gt;&lt;/mfrac&gt;&lt;/math&gt;" title="4 four fifths minus 2 three fourths 3 one half minus 1 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1773" y="3107785"/>
            <a:ext cx="2587651" cy="498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0" descr="&lt;math xmlns=&quot;http://www.w3.org/1998/Math/MathML&quot; display=&quot;block&quot; data-is-equatio=&quot;1&quot; data-latex=&quot;1\ \frac{5}{8}+2\ \frac{3}{4}\ \ \ \ \ \ \ \ \ 2\ \frac{5}{6}+1\ \frac{1}{3}&quot;&gt;&lt;mn&gt;1&lt;/mn&gt;&lt;mtext&gt;&lt;/mtext&gt;&lt;mfrac&gt;&lt;mn&gt;5&lt;/mn&gt;&lt;mn&gt;8&lt;/mn&gt;&lt;/mfrac&gt;&lt;mo&gt;+&lt;/mo&gt;&lt;mn&gt;2&lt;/mn&gt;&lt;mtext&gt;&lt;/mtext&gt;&lt;mfrac&gt;&lt;mn&gt;3&lt;/mn&gt;&lt;mn&gt;4&lt;/mn&gt;&lt;/mfrac&gt;&lt;mtext&gt;&lt;/mtext&gt;&lt;mtext&gt;&lt;/mtext&gt;&lt;mtext&gt;&lt;/mtext&gt;&lt;mtext&gt;&lt;/mtext&gt;&lt;mtext&gt;&lt;/mtext&gt;&lt;mtext&gt;&lt;/mtext&gt;&lt;mtext&gt;&lt;/mtext&gt;&lt;mtext&gt;&lt;/mtext&gt;&lt;mtext&gt;&lt;/mtext&gt;&lt;mn&gt;2&lt;/mn&gt;&lt;mtext&gt;&lt;/mtext&gt;&lt;mfrac&gt;&lt;mn&gt;5&lt;/mn&gt;&lt;mn&gt;6&lt;/mn&gt;&lt;/mfrac&gt;&lt;mo&gt;+&lt;/mo&gt;&lt;mn&gt;1&lt;/mn&gt;&lt;mtext&gt;&lt;/mtext&gt;&lt;mfrac&gt;&lt;mn&gt;1&lt;/mn&gt;&lt;mn&gt;3&lt;/mn&gt;&lt;/mfrac&gt;&lt;/math&gt;" title="1 five eighths plus 2 three fourths 2 five sixths plus 1 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1773" y="3820448"/>
            <a:ext cx="2474029" cy="480148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0"/>
          <p:cNvSpPr txBox="1"/>
          <p:nvPr/>
        </p:nvSpPr>
        <p:spPr>
          <a:xfrm>
            <a:off x="468000" y="1877925"/>
            <a:ext cx="6624000" cy="24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 By calculating the value of each side complete the inequality statement by placing a &lt; or &gt; between them.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1939477" y="2533475"/>
            <a:ext cx="3474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&gt;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1939476" y="3243475"/>
            <a:ext cx="3474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&lt;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939476" y="3910750"/>
            <a:ext cx="286800" cy="29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400">
                <a:latin typeface="Kalam"/>
                <a:ea typeface="Kalam"/>
                <a:cs typeface="Kalam"/>
                <a:sym typeface="Kalam"/>
              </a:rPr>
              <a:t>&gt;</a:t>
            </a:r>
            <a:endParaRPr sz="24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468000" y="517314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468000" y="644982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2792302" y="517314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5116603" y="517313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2792302" y="6449836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0"/>
          <p:cNvSpPr txBox="1"/>
          <p:nvPr/>
        </p:nvSpPr>
        <p:spPr>
          <a:xfrm>
            <a:off x="5116603" y="6442273"/>
            <a:ext cx="2586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7" name="Google Shape;187;p20"/>
          <p:cNvGrpSpPr/>
          <p:nvPr/>
        </p:nvGrpSpPr>
        <p:grpSpPr>
          <a:xfrm>
            <a:off x="3123436" y="5160895"/>
            <a:ext cx="1535151" cy="1037352"/>
            <a:chOff x="755813" y="3514087"/>
            <a:chExt cx="1905600" cy="1287676"/>
          </a:xfrm>
        </p:grpSpPr>
        <p:grpSp>
          <p:nvGrpSpPr>
            <p:cNvPr id="188" name="Google Shape;188;p20"/>
            <p:cNvGrpSpPr/>
            <p:nvPr/>
          </p:nvGrpSpPr>
          <p:grpSpPr>
            <a:xfrm>
              <a:off x="755813" y="4015437"/>
              <a:ext cx="1905600" cy="308700"/>
              <a:chOff x="837563" y="1497675"/>
              <a:chExt cx="1905600" cy="308700"/>
            </a:xfrm>
          </p:grpSpPr>
          <p:grpSp>
            <p:nvGrpSpPr>
              <p:cNvPr id="189" name="Google Shape;189;p20"/>
              <p:cNvGrpSpPr/>
              <p:nvPr/>
            </p:nvGrpSpPr>
            <p:grpSpPr>
              <a:xfrm>
                <a:off x="837563" y="1497675"/>
                <a:ext cx="1905600" cy="247500"/>
                <a:chOff x="837563" y="1497675"/>
                <a:chExt cx="1905600" cy="247500"/>
              </a:xfrm>
            </p:grpSpPr>
            <p:cxnSp>
              <p:nvCxnSpPr>
                <p:cNvPr id="190" name="Google Shape;190;p20"/>
                <p:cNvCxnSpPr/>
                <p:nvPr/>
              </p:nvCxnSpPr>
              <p:spPr>
                <a:xfrm>
                  <a:off x="837563" y="1615341"/>
                  <a:ext cx="1905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1" name="Google Shape;191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2" name="Google Shape;192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193" name="Google Shape;193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194" name="Google Shape;194;p20"/>
            <p:cNvSpPr txBox="1"/>
            <p:nvPr/>
          </p:nvSpPr>
          <p:spPr>
            <a:xfrm>
              <a:off x="1041225" y="3641388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195" name="Google Shape;195;p20" descr="&lt;math xmlns=&quot;http://www.w3.org/1998/Math/MathML&quot; display=&quot;block&quot; data-is-equatio=&quot;1&quot; data-latex=&quot;1\ \frac{2}{3}&quot;&gt;&lt;mn&gt;1&lt;/mn&gt;&lt;mtext&gt;&lt;/mtext&gt;&lt;mfrac&gt;&lt;mn&gt;2&lt;/mn&gt;&lt;mn&gt;3&lt;/mn&gt;&lt;/mfrac&gt;&lt;/math&gt;" title="1 two third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526975" y="4330013"/>
              <a:ext cx="315639" cy="47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0" descr="&lt;math xmlns=&quot;http://www.w3.org/1998/Math/MathML&quot; display=&quot;block&quot; data-is-equatio=&quot;1&quot; data-latex=&quot;2\ \frac{5}{12}&quot;&gt;&lt;mn&gt;2&lt;/mn&gt;&lt;mtext&gt;&lt;/mtext&gt;&lt;mfrac&gt;&lt;mn&gt;5&lt;/mn&gt;&lt;mn&gt;12&lt;/mn&gt;&lt;/mfrac&gt;&lt;/math&gt;" title="2 5 over 1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1974635" y="3514087"/>
              <a:ext cx="434428" cy="4513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97" name="Google Shape;197;p20"/>
          <p:cNvGrpSpPr/>
          <p:nvPr/>
        </p:nvGrpSpPr>
        <p:grpSpPr>
          <a:xfrm>
            <a:off x="5512442" y="5191585"/>
            <a:ext cx="1557386" cy="1022670"/>
            <a:chOff x="6410650" y="964400"/>
            <a:chExt cx="1933200" cy="1269451"/>
          </a:xfrm>
        </p:grpSpPr>
        <p:grpSp>
          <p:nvGrpSpPr>
            <p:cNvPr id="198" name="Google Shape;198;p20"/>
            <p:cNvGrpSpPr/>
            <p:nvPr/>
          </p:nvGrpSpPr>
          <p:grpSpPr>
            <a:xfrm>
              <a:off x="6410650" y="1432438"/>
              <a:ext cx="1933200" cy="308700"/>
              <a:chOff x="809850" y="1497675"/>
              <a:chExt cx="1933200" cy="308700"/>
            </a:xfrm>
          </p:grpSpPr>
          <p:grpSp>
            <p:nvGrpSpPr>
              <p:cNvPr id="199" name="Google Shape;199;p20"/>
              <p:cNvGrpSpPr/>
              <p:nvPr/>
            </p:nvGrpSpPr>
            <p:grpSpPr>
              <a:xfrm>
                <a:off x="809850" y="1497675"/>
                <a:ext cx="1933200" cy="247500"/>
                <a:chOff x="809850" y="1497675"/>
                <a:chExt cx="1933200" cy="247500"/>
              </a:xfrm>
            </p:grpSpPr>
            <p:cxnSp>
              <p:nvCxnSpPr>
                <p:cNvPr id="200" name="Google Shape;200;p20"/>
                <p:cNvCxnSpPr/>
                <p:nvPr/>
              </p:nvCxnSpPr>
              <p:spPr>
                <a:xfrm>
                  <a:off x="809850" y="1615362"/>
                  <a:ext cx="19332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1" name="Google Shape;201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02" name="Google Shape;202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03" name="Google Shape;203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04" name="Google Shape;204;p20"/>
            <p:cNvSpPr txBox="1"/>
            <p:nvPr/>
          </p:nvSpPr>
          <p:spPr>
            <a:xfrm>
              <a:off x="7797250" y="1142638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05" name="Google Shape;205;p20" descr="&lt;math xmlns=&quot;http://www.w3.org/1998/Math/MathML&quot; display=&quot;block&quot; data-is-equatio=&quot;1&quot; data-latex=&quot;1\ \frac{2}{3}&quot;&gt;&lt;mn&gt;1&lt;/mn&gt;&lt;mtext&gt;&lt;/mtext&gt;&lt;mfrac&gt;&lt;mn&gt;2&lt;/mn&gt;&lt;mn&gt;3&lt;/mn&gt;&lt;/mfrac&gt;&lt;/math&gt;" title="1 two third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43225" y="1762100"/>
              <a:ext cx="315639" cy="4717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20" descr="&lt;math xmlns=&quot;http://www.w3.org/1998/Math/MathML&quot; display=&quot;block&quot; data-is-equatio=&quot;1&quot; data-latex=&quot;2\ \frac{5}{12}&quot;&gt;&lt;mn&gt;2&lt;/mn&gt;&lt;mtext&gt;&lt;/mtext&gt;&lt;mfrac&gt;&lt;mn&gt;5&lt;/mn&gt;&lt;mn&gt;12&lt;/mn&gt;&lt;/mfrac&gt;&lt;/math&gt;" title="2 5 over 12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6583272" y="964400"/>
              <a:ext cx="434428" cy="4513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7" name="Google Shape;207;p20"/>
          <p:cNvGrpSpPr/>
          <p:nvPr/>
        </p:nvGrpSpPr>
        <p:grpSpPr>
          <a:xfrm>
            <a:off x="3103974" y="6557568"/>
            <a:ext cx="1573820" cy="1080531"/>
            <a:chOff x="6390400" y="3471568"/>
            <a:chExt cx="1953600" cy="1341275"/>
          </a:xfrm>
        </p:grpSpPr>
        <p:grpSp>
          <p:nvGrpSpPr>
            <p:cNvPr id="208" name="Google Shape;208;p20"/>
            <p:cNvGrpSpPr/>
            <p:nvPr/>
          </p:nvGrpSpPr>
          <p:grpSpPr>
            <a:xfrm>
              <a:off x="6390400" y="4006050"/>
              <a:ext cx="1953600" cy="308700"/>
              <a:chOff x="789600" y="1497675"/>
              <a:chExt cx="1953600" cy="308700"/>
            </a:xfrm>
          </p:grpSpPr>
          <p:grpSp>
            <p:nvGrpSpPr>
              <p:cNvPr id="209" name="Google Shape;209;p20"/>
              <p:cNvGrpSpPr/>
              <p:nvPr/>
            </p:nvGrpSpPr>
            <p:grpSpPr>
              <a:xfrm>
                <a:off x="789600" y="1497675"/>
                <a:ext cx="1953600" cy="247500"/>
                <a:chOff x="789600" y="1497675"/>
                <a:chExt cx="1953600" cy="247500"/>
              </a:xfrm>
            </p:grpSpPr>
            <p:cxnSp>
              <p:nvCxnSpPr>
                <p:cNvPr id="210" name="Google Shape;210;p20"/>
                <p:cNvCxnSpPr/>
                <p:nvPr/>
              </p:nvCxnSpPr>
              <p:spPr>
                <a:xfrm>
                  <a:off x="789600" y="1615338"/>
                  <a:ext cx="19536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1" name="Google Shape;211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2" name="Google Shape;212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13" name="Google Shape;213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14" name="Google Shape;214;p20"/>
            <p:cNvSpPr txBox="1"/>
            <p:nvPr/>
          </p:nvSpPr>
          <p:spPr>
            <a:xfrm>
              <a:off x="7797250" y="3688263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5" name="Google Shape;215;p20" descr="&lt;math xmlns=&quot;http://www.w3.org/1998/Math/MathML&quot; display=&quot;block&quot; data-is-equatio=&quot;1&quot; data-latex=&quot;1\ \frac{5}{6}&quot;&gt;&lt;mn&gt;1&lt;/mn&gt;&lt;mtext&gt;&lt;/mtext&gt;&lt;mfrac&gt;&lt;mn&gt;5&lt;/mn&gt;&lt;mn&gt;6&lt;/mn&gt;&lt;/mfrac&gt;&lt;/math&gt;" title="1 five six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6634600" y="3471568"/>
              <a:ext cx="331778" cy="493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6" name="Google Shape;216;p20" descr="&lt;math xmlns=&quot;http://www.w3.org/1998/Math/MathML&quot; display=&quot;block&quot; data-is-equatio=&quot;1&quot; data-latex=&quot;3\ \frac{3}{4}&quot;&gt;&lt;mn&gt;3&lt;/mn&gt;&lt;mtext&gt;&lt;/mtext&gt;&lt;mfrac&gt;&lt;mn&gt;3&lt;/mn&gt;&lt;mn&gt;4&lt;/mn&gt;&lt;/mfrac&gt;&lt;/math&gt;" title="3 three fourth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160046" y="4318947"/>
              <a:ext cx="349694" cy="49389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17" name="Google Shape;217;p20"/>
          <p:cNvGrpSpPr/>
          <p:nvPr/>
        </p:nvGrpSpPr>
        <p:grpSpPr>
          <a:xfrm>
            <a:off x="5490440" y="6572592"/>
            <a:ext cx="1601372" cy="1076211"/>
            <a:chOff x="6355800" y="2206093"/>
            <a:chExt cx="1987800" cy="1335913"/>
          </a:xfrm>
        </p:grpSpPr>
        <p:grpSp>
          <p:nvGrpSpPr>
            <p:cNvPr id="218" name="Google Shape;218;p20"/>
            <p:cNvGrpSpPr/>
            <p:nvPr/>
          </p:nvGrpSpPr>
          <p:grpSpPr>
            <a:xfrm>
              <a:off x="6355800" y="2719244"/>
              <a:ext cx="1987800" cy="308700"/>
              <a:chOff x="755000" y="1497675"/>
              <a:chExt cx="1987800" cy="308700"/>
            </a:xfrm>
          </p:grpSpPr>
          <p:grpSp>
            <p:nvGrpSpPr>
              <p:cNvPr id="219" name="Google Shape;219;p20"/>
              <p:cNvGrpSpPr/>
              <p:nvPr/>
            </p:nvGrpSpPr>
            <p:grpSpPr>
              <a:xfrm>
                <a:off x="755000" y="1497675"/>
                <a:ext cx="1987800" cy="247500"/>
                <a:chOff x="755000" y="1497675"/>
                <a:chExt cx="1987800" cy="247500"/>
              </a:xfrm>
            </p:grpSpPr>
            <p:cxnSp>
              <p:nvCxnSpPr>
                <p:cNvPr id="220" name="Google Shape;220;p20"/>
                <p:cNvCxnSpPr/>
                <p:nvPr/>
              </p:nvCxnSpPr>
              <p:spPr>
                <a:xfrm>
                  <a:off x="755000" y="1615356"/>
                  <a:ext cx="1987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1" name="Google Shape;221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2" name="Google Shape;222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23" name="Google Shape;223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24" name="Google Shape;224;p20"/>
            <p:cNvSpPr txBox="1"/>
            <p:nvPr/>
          </p:nvSpPr>
          <p:spPr>
            <a:xfrm>
              <a:off x="6728625" y="2437075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5" name="Google Shape;225;p20" descr="&lt;math xmlns=&quot;http://www.w3.org/1998/Math/MathML&quot; display=&quot;block&quot; data-is-equatio=&quot;1&quot; data-latex=&quot;1\ \frac{5}{6}&quot;&gt;&lt;mn&gt;1&lt;/mn&gt;&lt;mtext&gt;&lt;/mtext&gt;&lt;mfrac&gt;&lt;mn&gt;5&lt;/mn&gt;&lt;mn&gt;6&lt;/mn&gt;&lt;/mfrac&gt;&lt;/math&gt;" title="1 five sixths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703213" y="2206093"/>
              <a:ext cx="331778" cy="49389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26" name="Google Shape;226;p20" descr="&lt;math xmlns=&quot;http://www.w3.org/1998/Math/MathML&quot; display=&quot;block&quot; data-is-equatio=&quot;1&quot; data-latex=&quot;3\ \frac{3}{4}&quot;&gt;&lt;mn&gt;3&lt;/mn&gt;&lt;mtext&gt;&lt;/mtext&gt;&lt;mfrac&gt;&lt;mn&gt;3&lt;/mn&gt;&lt;mn&gt;4&lt;/mn&gt;&lt;/mfrac&gt;&lt;/math&gt;" title="3 three fourths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160046" y="3048110"/>
              <a:ext cx="349694" cy="4938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7" name="Google Shape;227;p20"/>
          <p:cNvSpPr txBox="1"/>
          <p:nvPr/>
        </p:nvSpPr>
        <p:spPr>
          <a:xfrm>
            <a:off x="468000" y="4578175"/>
            <a:ext cx="6624000" cy="42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Find the missing value in each diagram.  Give your answer as a mixed number in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its simplest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" name="Google Shape;228;p20"/>
          <p:cNvGrpSpPr/>
          <p:nvPr/>
        </p:nvGrpSpPr>
        <p:grpSpPr>
          <a:xfrm>
            <a:off x="839799" y="6596665"/>
            <a:ext cx="1583004" cy="1013888"/>
            <a:chOff x="696200" y="961474"/>
            <a:chExt cx="1965000" cy="1258550"/>
          </a:xfrm>
        </p:grpSpPr>
        <p:grpSp>
          <p:nvGrpSpPr>
            <p:cNvPr id="229" name="Google Shape;229;p20"/>
            <p:cNvGrpSpPr/>
            <p:nvPr/>
          </p:nvGrpSpPr>
          <p:grpSpPr>
            <a:xfrm>
              <a:off x="696200" y="1441825"/>
              <a:ext cx="1965000" cy="308700"/>
              <a:chOff x="777950" y="1497675"/>
              <a:chExt cx="1965000" cy="308700"/>
            </a:xfrm>
          </p:grpSpPr>
          <p:grpSp>
            <p:nvGrpSpPr>
              <p:cNvPr id="230" name="Google Shape;230;p20"/>
              <p:cNvGrpSpPr/>
              <p:nvPr/>
            </p:nvGrpSpPr>
            <p:grpSpPr>
              <a:xfrm>
                <a:off x="777950" y="1497675"/>
                <a:ext cx="1965000" cy="247500"/>
                <a:chOff x="777950" y="1497675"/>
                <a:chExt cx="1965000" cy="247500"/>
              </a:xfrm>
            </p:grpSpPr>
            <p:cxnSp>
              <p:nvCxnSpPr>
                <p:cNvPr id="231" name="Google Shape;231;p20"/>
                <p:cNvCxnSpPr/>
                <p:nvPr/>
              </p:nvCxnSpPr>
              <p:spPr>
                <a:xfrm>
                  <a:off x="777950" y="1615350"/>
                  <a:ext cx="19650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2" name="Google Shape;232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33" name="Google Shape;233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34" name="Google Shape;234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35" name="Google Shape;235;p20"/>
            <p:cNvSpPr txBox="1"/>
            <p:nvPr/>
          </p:nvSpPr>
          <p:spPr>
            <a:xfrm>
              <a:off x="1072200" y="1147338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6" name="Google Shape;236;p20" descr="&lt;math xmlns=&quot;http://www.w3.org/1998/Math/MathML&quot; display=&quot;block&quot; data-is-equatio=&quot;1&quot; data-latex=&quot;1\ \frac{2}{5}&quot;&gt;&lt;mn&gt;1&lt;/mn&gt;&lt;mtext&gt;&lt;/mtext&gt;&lt;mfrac&gt;&lt;mn&gt;2&lt;/mn&gt;&lt;mn&gt;5&lt;/mn&gt;&lt;/mfrac&gt;&lt;/math&gt;" title="1 two fif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36775" y="1775958"/>
              <a:ext cx="296044" cy="44406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0" descr="&lt;math xmlns=&quot;http://www.w3.org/1998/Math/MathML&quot; display=&quot;block&quot; data-is-equatio=&quot;1&quot; data-latex=&quot;3\ \frac{3}{8}&quot;&gt;&lt;mn&gt;3&lt;/mn&gt;&lt;mtext&gt;&lt;/mtext&gt;&lt;mfrac&gt;&lt;mn&gt;3&lt;/mn&gt;&lt;mn&gt;8&lt;/mn&gt;&lt;/mfrac&gt;&lt;/math&gt;" title="3 three eighths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030674" y="961474"/>
              <a:ext cx="322359" cy="457223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" name="Google Shape;238;p20"/>
          <p:cNvGrpSpPr/>
          <p:nvPr/>
        </p:nvGrpSpPr>
        <p:grpSpPr>
          <a:xfrm>
            <a:off x="847412" y="5187878"/>
            <a:ext cx="1567778" cy="1003536"/>
            <a:chOff x="715350" y="2271399"/>
            <a:chExt cx="1946100" cy="1245700"/>
          </a:xfrm>
        </p:grpSpPr>
        <p:grpSp>
          <p:nvGrpSpPr>
            <p:cNvPr id="239" name="Google Shape;239;p20"/>
            <p:cNvGrpSpPr/>
            <p:nvPr/>
          </p:nvGrpSpPr>
          <p:grpSpPr>
            <a:xfrm>
              <a:off x="715350" y="2728631"/>
              <a:ext cx="1946100" cy="308700"/>
              <a:chOff x="797100" y="1497675"/>
              <a:chExt cx="1946100" cy="308700"/>
            </a:xfrm>
          </p:grpSpPr>
          <p:grpSp>
            <p:nvGrpSpPr>
              <p:cNvPr id="240" name="Google Shape;240;p20"/>
              <p:cNvGrpSpPr/>
              <p:nvPr/>
            </p:nvGrpSpPr>
            <p:grpSpPr>
              <a:xfrm>
                <a:off x="797100" y="1497675"/>
                <a:ext cx="1946100" cy="247500"/>
                <a:chOff x="797100" y="1497675"/>
                <a:chExt cx="1946100" cy="247500"/>
              </a:xfrm>
            </p:grpSpPr>
            <p:cxnSp>
              <p:nvCxnSpPr>
                <p:cNvPr id="241" name="Google Shape;241;p20"/>
                <p:cNvCxnSpPr/>
                <p:nvPr/>
              </p:nvCxnSpPr>
              <p:spPr>
                <a:xfrm>
                  <a:off x="797100" y="1615344"/>
                  <a:ext cx="19461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2" name="Google Shape;242;p20"/>
                <p:cNvCxnSpPr/>
                <p:nvPr/>
              </p:nvCxnSpPr>
              <p:spPr>
                <a:xfrm flipH="1">
                  <a:off x="12026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43" name="Google Shape;243;p20"/>
                <p:cNvCxnSpPr/>
                <p:nvPr/>
              </p:nvCxnSpPr>
              <p:spPr>
                <a:xfrm flipH="1">
                  <a:off x="2269450" y="1497675"/>
                  <a:ext cx="0" cy="247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808080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cxnSp>
            <p:nvCxnSpPr>
              <p:cNvPr id="244" name="Google Shape;244;p20"/>
              <p:cNvCxnSpPr/>
              <p:nvPr/>
            </p:nvCxnSpPr>
            <p:spPr>
              <a:xfrm>
                <a:off x="1204475" y="1806375"/>
                <a:ext cx="10683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808080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</p:grpSp>
        <p:sp>
          <p:nvSpPr>
            <p:cNvPr id="245" name="Google Shape;245;p20"/>
            <p:cNvSpPr txBox="1"/>
            <p:nvPr/>
          </p:nvSpPr>
          <p:spPr>
            <a:xfrm>
              <a:off x="2120000" y="2441763"/>
              <a:ext cx="1437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46" name="Google Shape;246;p20" descr="&lt;math xmlns=&quot;http://www.w3.org/1998/Math/MathML&quot; display=&quot;block&quot; data-is-equatio=&quot;1&quot; data-latex=&quot;3\ \frac{3}{8}&quot;&gt;&lt;mn&gt;3&lt;/mn&gt;&lt;mtext&gt;&lt;/mtext&gt;&lt;mfrac&gt;&lt;mn&gt;3&lt;/mn&gt;&lt;mn&gt;8&lt;/mn&gt;&lt;/mfrac&gt;&lt;/math&gt;" title="3 three eighths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956987" y="2271399"/>
              <a:ext cx="322359" cy="45722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0" descr="&lt;math xmlns=&quot;http://www.w3.org/1998/Math/MathML&quot; display=&quot;block&quot; data-is-equatio=&quot;1&quot; data-latex=&quot;1\ \frac{2}{5}&quot;&gt;&lt;mn&gt;1&lt;/mn&gt;&lt;mtext&gt;&lt;/mtext&gt;&lt;mfrac&gt;&lt;mn&gt;2&lt;/mn&gt;&lt;mn&gt;5&lt;/mn&gt;&lt;/mfrac&gt;&lt;/math&gt;" title="1 two fifths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536775" y="3073033"/>
              <a:ext cx="296044" cy="44406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20"/>
          <p:cNvSpPr/>
          <p:nvPr/>
        </p:nvSpPr>
        <p:spPr>
          <a:xfrm>
            <a:off x="6460029" y="5007450"/>
            <a:ext cx="458100" cy="52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0"/>
          <p:cNvSpPr/>
          <p:nvPr/>
        </p:nvSpPr>
        <p:spPr>
          <a:xfrm>
            <a:off x="3215717" y="5007450"/>
            <a:ext cx="458100" cy="52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0"/>
          <p:cNvSpPr/>
          <p:nvPr/>
        </p:nvSpPr>
        <p:spPr>
          <a:xfrm>
            <a:off x="959692" y="6442283"/>
            <a:ext cx="458100" cy="52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" name="Google Shape;251;p20"/>
          <p:cNvSpPr/>
          <p:nvPr/>
        </p:nvSpPr>
        <p:spPr>
          <a:xfrm>
            <a:off x="5562123" y="6434833"/>
            <a:ext cx="800400" cy="52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067824" y="6436557"/>
            <a:ext cx="458100" cy="521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3" name="Google Shape;253;p20" descr="&lt;math xmlns=&quot;http://www.w3.org/1998/Math/MathML&quot; display=&quot;block&quot; data-is-equatio=&quot;1&quot; data-latex=&quot;\frac{79}{40}=1\frac{39}{40}&quot;&gt;&lt;mfrac&gt;&lt;mn&gt;79&lt;/mn&gt;&lt;mn&gt;40&lt;/mn&gt;&lt;/mfrac&gt;&lt;mo&gt;=&lt;/mo&gt;&lt;mn&gt;1&lt;/mn&gt;&lt;mfrac&gt;&lt;mn&gt;39&lt;/mn&gt;&lt;mn&gt;40&lt;/mn&gt;&lt;/mfrac&gt;&lt;/math&gt;" title="79 over 40 equals 1 and 39 over 40"/>
          <p:cNvPicPr preferRelativeResize="0"/>
          <p:nvPr/>
        </p:nvPicPr>
        <p:blipFill>
          <a:blip r:embed="rId12">
            <a:alphaModFix/>
          </a:blip>
          <a:srcRect l="55179"/>
          <a:stretch>
            <a:fillRect/>
          </a:stretch>
        </p:blipFill>
        <p:spPr>
          <a:xfrm>
            <a:off x="1019877" y="6535292"/>
            <a:ext cx="308211" cy="3377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20" descr="&lt;math xmlns=&quot;http://www.w3.org/1998/Math/MathML&quot; display=&quot;block&quot; data-is-equatio=&quot;1&quot; data-latex=&quot;\left(-\frac{23}{12}\right)=\left(-1\ \frac{11}{12}\right)&quot;&gt;&lt;mrow data-mjx-texclass=&quot;INNER&quot;&gt;&lt;mo data-mjx-texclass=&quot;OPEN&quot;&gt;(&lt;/mo&gt;&lt;mo&gt;−&lt;/mo&gt;&lt;mfrac&gt;&lt;mn&gt;23&lt;/mn&gt;&lt;mn&gt;12&lt;/mn&gt;&lt;/mfrac&gt;&lt;mo data-mjx-texclass=&quot;CLOSE&quot;&gt;)&lt;/mo&gt;&lt;/mrow&gt;&lt;mo&gt;=&lt;/mo&gt;&lt;mrow data-mjx-texclass=&quot;INNER&quot;&gt;&lt;mo data-mjx-texclass=&quot;OPEN&quot;&gt;(&lt;/mo&gt;&lt;mo&gt;−&lt;/mo&gt;&lt;mn&gt;1&lt;/mn&gt;&lt;mtext&gt;&lt;/mtext&gt;&lt;mfrac&gt;&lt;mn&gt;11&lt;/mn&gt;&lt;mn&gt;12&lt;/mn&gt;&lt;/mfrac&gt;&lt;mo data-mjx-texclass=&quot;CLOSE&quot;&gt;)&lt;/mo&gt;&lt;/mrow&gt;&lt;/math&gt;" title="open paren negative 23 over 12 close paren equals open paren negative 1 11 over 12 close paren"/>
          <p:cNvPicPr preferRelativeResize="0"/>
          <p:nvPr/>
        </p:nvPicPr>
        <p:blipFill>
          <a:blip r:embed="rId13">
            <a:alphaModFix/>
          </a:blip>
          <a:srcRect l="50350"/>
          <a:stretch>
            <a:fillRect/>
          </a:stretch>
        </p:blipFill>
        <p:spPr>
          <a:xfrm>
            <a:off x="5618528" y="6500088"/>
            <a:ext cx="687639" cy="393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20" descr="&lt;math xmlns=&quot;http://www.w3.org/1998/Math/MathML&quot; display=&quot;block&quot; data-is-equatio=&quot;1&quot; data-latex=&quot;\frac{67}{12}=5\ \frac{7}{12}&quot;&gt;&lt;mfrac&gt;&lt;mn&gt;67&lt;/mn&gt;&lt;mn&gt;12&lt;/mn&gt;&lt;/mfrac&gt;&lt;mo&gt;=&lt;/mo&gt;&lt;mn&gt;5&lt;/mn&gt;&lt;mtext&gt;&lt;/mtext&gt;&lt;mfrac&gt;&lt;mn&gt;7&lt;/mn&gt;&lt;mn&gt;12&lt;/mn&gt;&lt;/mfrac&gt;&lt;/math&gt;" title="67 over 12 equals 5 7 over 12"/>
          <p:cNvPicPr preferRelativeResize="0"/>
          <p:nvPr/>
        </p:nvPicPr>
        <p:blipFill>
          <a:blip r:embed="rId14">
            <a:alphaModFix/>
          </a:blip>
          <a:srcRect l="51996" b="-10"/>
          <a:stretch>
            <a:fillRect/>
          </a:stretch>
        </p:blipFill>
        <p:spPr>
          <a:xfrm>
            <a:off x="4082744" y="6502108"/>
            <a:ext cx="407686" cy="3904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0" descr="&lt;math xmlns=&quot;http://www.w3.org/1998/Math/MathML&quot; display=&quot;block&quot; data-is-equatio=&quot;1&quot; data-latex=&quot;\frac{3}{4}&quot;&gt;&lt;mfrac&gt;&lt;mn&gt;3&lt;/mn&gt;&lt;mn&gt;4&lt;/mn&gt;&lt;/mfrac&gt;&lt;/math&gt;" title="three fourths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82996" y="5071589"/>
            <a:ext cx="123435" cy="393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20" descr="&lt;math xmlns=&quot;http://www.w3.org/1998/Math/MathML&quot; display=&quot;block&quot; data-is-equatio=&quot;1&quot; data-latex=&quot;\frac{49}{12}=4\ \frac{1}{12}&quot;&gt;&lt;mfrac&gt;&lt;mn&gt;49&lt;/mn&gt;&lt;mn&gt;12&lt;/mn&gt;&lt;/mfrac&gt;&lt;mo&gt;=&lt;/mo&gt;&lt;mn&gt;4&lt;/mn&gt;&lt;mtext&gt;&lt;/mtext&gt;&lt;mfrac&gt;&lt;mn&gt;1&lt;/mn&gt;&lt;mn&gt;12&lt;/mn&gt;&lt;/mfrac&gt;&lt;/math&gt;" title="49 over 12 equals 4 1 over 12"/>
          <p:cNvPicPr preferRelativeResize="0"/>
          <p:nvPr/>
        </p:nvPicPr>
        <p:blipFill>
          <a:blip r:embed="rId16">
            <a:alphaModFix/>
          </a:blip>
          <a:srcRect l="52157"/>
          <a:stretch>
            <a:fillRect/>
          </a:stretch>
        </p:blipFill>
        <p:spPr>
          <a:xfrm>
            <a:off x="6485153" y="5071598"/>
            <a:ext cx="407678" cy="39328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0"/>
          <p:cNvGrpSpPr/>
          <p:nvPr/>
        </p:nvGrpSpPr>
        <p:grpSpPr>
          <a:xfrm>
            <a:off x="1811373" y="5020637"/>
            <a:ext cx="458100" cy="521400"/>
            <a:chOff x="1811373" y="5020637"/>
            <a:chExt cx="458100" cy="521400"/>
          </a:xfrm>
        </p:grpSpPr>
        <p:sp>
          <p:nvSpPr>
            <p:cNvPr id="259" name="Google Shape;259;p20"/>
            <p:cNvSpPr/>
            <p:nvPr/>
          </p:nvSpPr>
          <p:spPr>
            <a:xfrm>
              <a:off x="1811373" y="5020637"/>
              <a:ext cx="458100" cy="521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60" name="Google Shape;260;p20" descr="&lt;math xmlns=&quot;http://www.w3.org/1998/Math/MathML&quot; display=&quot;block&quot; data-is-equatio=&quot;1&quot; data-latex=&quot;\frac{191}{40}=4\frac{31}{40}&quot;&gt;&lt;mfrac&gt;&lt;mn&gt;191&lt;/mn&gt;&lt;mn&gt;40&lt;/mn&gt;&lt;/mfrac&gt;&lt;mo&gt;=&lt;/mo&gt;&lt;mn&gt;4&lt;/mn&gt;&lt;mfrac&gt;&lt;mn&gt;31&lt;/mn&gt;&lt;mn&gt;40&lt;/mn&gt;&lt;/mfrac&gt;&lt;/math&gt;" title="191 over 40 equals 4 and 31 over 40"/>
            <p:cNvPicPr preferRelativeResize="0"/>
            <p:nvPr/>
          </p:nvPicPr>
          <p:blipFill>
            <a:blip r:embed="rId17">
              <a:alphaModFix/>
            </a:blip>
            <a:srcRect l="59703"/>
            <a:stretch>
              <a:fillRect/>
            </a:stretch>
          </p:blipFill>
          <p:spPr>
            <a:xfrm>
              <a:off x="1860434" y="5103258"/>
              <a:ext cx="345139" cy="3755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1" name="Google Shape;261;p20"/>
          <p:cNvSpPr txBox="1"/>
          <p:nvPr/>
        </p:nvSpPr>
        <p:spPr>
          <a:xfrm>
            <a:off x="468000" y="7801200"/>
            <a:ext cx="5223900" cy="19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Find the missing digits: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"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7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2" name="Google Shape;262;p20" descr="&lt;math xmlns=&quot;http://www.w3.org/1998/Math/MathML&quot; display=&quot;block&quot; data-is-equatio=&quot;1&quot; data-latex=&quot;1\ \frac{5}{6}+2\ \frac{3}{4}=\ 4\ \frac{7}{12}&quot;&gt;&lt;mn&gt;1&lt;/mn&gt;&lt;mtext&gt;&lt;/mtext&gt;&lt;mfrac&gt;&lt;mn&gt;5&lt;/mn&gt;&lt;mn&gt;6&lt;/mn&gt;&lt;/mfrac&gt;&lt;mo&gt;+&lt;/mo&gt;&lt;mn&gt;2&lt;/mn&gt;&lt;mtext&gt;&lt;/mtext&gt;&lt;mfrac&gt;&lt;mn&gt;3&lt;/mn&gt;&lt;mn&gt;4&lt;/mn&gt;&lt;/mfrac&gt;&lt;mo&gt;=&lt;/mo&gt;&lt;mtext&gt;&lt;/mtext&gt;&lt;mn&gt;4&lt;/mn&gt;&lt;mtext&gt;&lt;/mtext&gt;&lt;mfrac&gt;&lt;mn&gt;7&lt;/mn&gt;&lt;mn&gt;12&lt;/mn&gt;&lt;/mfrac&gt;&lt;/math&gt;" title="1 five sixths plus 2 three fourths equals 4 7 over 12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761608" y="9431308"/>
            <a:ext cx="1369566" cy="368942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20" descr="&lt;math xmlns=&quot;http://www.w3.org/1998/Math/MathML&quot; display=&quot;block&quot; data-is-equatio=&quot;1&quot; data-latex=&quot;2\ \frac{2}{9}-1\ \frac{1}{6}=\ 1\ \frac{1}{18}&quot;&gt;&lt;mn&gt;2&lt;/mn&gt;&lt;mtext&gt;&lt;/mtext&gt;&lt;mfrac&gt;&lt;mn&gt;2&lt;/mn&gt;&lt;mn&gt;9&lt;/mn&gt;&lt;/mfrac&gt;&lt;mo&gt;−&lt;/mo&gt;&lt;mn&gt;1&lt;/mn&gt;&lt;mtext&gt;&lt;/mtext&gt;&lt;mfrac&gt;&lt;mn&gt;1&lt;/mn&gt;&lt;mn&gt;6&lt;/mn&gt;&lt;/mfrac&gt;&lt;mo&gt;=&lt;/mo&gt;&lt;mtext&gt;&lt;/mtext&gt;&lt;mn&gt;1&lt;/mn&gt;&lt;mtext&gt;&lt;/mtext&gt;&lt;mfrac&gt;&lt;mn&gt;1&lt;/mn&gt;&lt;mn&gt;18&lt;/mn&gt;&lt;/mfrac&gt;&lt;/math&gt;" title="2 two ninths minus 1 one sixth equals 1 1 over 18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761608" y="8786437"/>
            <a:ext cx="1414286" cy="3773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20" descr="&lt;math xmlns=&quot;http://www.w3.org/1998/Math/MathML&quot; display=&quot;block&quot; data-is-equatio=&quot;1&quot; data-latex=&quot;1\ \frac{2}{7}+2\ \frac{2}{3}=\ 3\ \frac{20}{21}&quot;&gt;&lt;mn&gt;1&lt;/mn&gt;&lt;mtext&gt;&lt;/mtext&gt;&lt;mfrac&gt;&lt;mn&gt;2&lt;/mn&gt;&lt;mn&gt;7&lt;/mn&gt;&lt;/mfrac&gt;&lt;mo&gt;+&lt;/mo&gt;&lt;mn&gt;2&lt;/mn&gt;&lt;mtext&gt;&lt;/mtext&gt;&lt;mfrac&gt;&lt;mn&gt;2&lt;/mn&gt;&lt;mn&gt;3&lt;/mn&gt;&lt;/mfrac&gt;&lt;mo&gt;=&lt;/mo&gt;&lt;mtext&gt;&lt;/mtext&gt;&lt;mn&gt;3&lt;/mn&gt;&lt;mtext&gt;&lt;/mtext&gt;&lt;mfrac&gt;&lt;mn&gt;20&lt;/mn&gt;&lt;mn&gt;21&lt;/mn&gt;&lt;/mfrac&gt;&lt;/math&gt;" title="1 two sevenths plus 2 two thirds equals 3 20 over 21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761608" y="8175819"/>
            <a:ext cx="1447827" cy="388507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0"/>
          <p:cNvSpPr/>
          <p:nvPr/>
        </p:nvSpPr>
        <p:spPr>
          <a:xfrm>
            <a:off x="1389636" y="8106951"/>
            <a:ext cx="191700" cy="251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/>
          <p:nvPr/>
        </p:nvSpPr>
        <p:spPr>
          <a:xfrm>
            <a:off x="1372863" y="8695479"/>
            <a:ext cx="191700" cy="251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/>
          <p:nvPr/>
        </p:nvSpPr>
        <p:spPr>
          <a:xfrm>
            <a:off x="873302" y="9347038"/>
            <a:ext cx="191700" cy="2517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8" name="Google Shape;268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2" name="Shape 272"/>
        <p:cNvGrpSpPr/>
        <p:nvPr/>
      </p:nvGrpSpPr>
      <p:grpSpPr>
        <a:xfrm>
          <a:off x="0" y="0"/>
          <a:ext cx="0" cy="0"/>
        </a:xfrm>
      </p:grpSpPr>
      <p:sp>
        <p:nvSpPr>
          <p:cNvPr id="273" name="Google Shape;273;p21"/>
          <p:cNvSpPr txBox="1"/>
          <p:nvPr/>
        </p:nvSpPr>
        <p:spPr>
          <a:xfrm>
            <a:off x="4773600" y="4376692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75" name="Google Shape;275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addition and subtraction with fractions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pic>
        <p:nvPicPr>
          <p:cNvPr id="278" name="Google Shape;278;p21" descr="&lt;math xmlns=&quot;http://www.w3.org/1998/Math/MathML&quot; display=&quot;block&quot; data-is-equatio=&quot;1&quot; data-latex=&quot;\frac{51}{3}-\frac{29}{4}&quot;&gt;&lt;mfrac&gt;&lt;mn&gt;51&lt;/mn&gt;&lt;mn&gt;3&lt;/mn&gt;&lt;/mfrac&gt;&lt;mo&gt;−&lt;/mo&gt;&lt;mfrac&gt;&lt;mn&gt;29&lt;/mn&gt;&lt;mn&gt;4&lt;/mn&gt;&lt;/mfrac&gt;&lt;/math&gt;" title="51 over 3 minus 29 over 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98708" y="1470987"/>
            <a:ext cx="680705" cy="392714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21"/>
          <p:cNvSpPr txBox="1"/>
          <p:nvPr/>
        </p:nvSpPr>
        <p:spPr>
          <a:xfrm>
            <a:off x="468000" y="10814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Which of these are equal to       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?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/>
        </p:nvSpPr>
        <p:spPr>
          <a:xfrm>
            <a:off x="468000" y="7200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Efficient calculation strategies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1" name="Google Shape;281;p21"/>
          <p:cNvSpPr txBox="1"/>
          <p:nvPr/>
        </p:nvSpPr>
        <p:spPr>
          <a:xfrm>
            <a:off x="4717474" y="1503951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g)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944134" y="4376701"/>
            <a:ext cx="20970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those that do not have an answer of       , what do you need to add or subtract so that they do?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3" name="Google Shape;283;p21" descr="&lt;math xmlns=&quot;http://www.w3.org/1998/Math/MathML&quot; display=&quot;block&quot; data-is-equatio=&quot;1&quot; data-latex=&quot;9\ \frac{3}{4}&quot;&gt;&lt;mn&gt;9&lt;/mn&gt;&lt;mtext&gt;&lt;/mtext&gt;&lt;mfrac&gt;&lt;mn&gt;3&lt;/mn&gt;&lt;mn&gt;4&lt;/mn&gt;&lt;/mfrac&gt;&lt;/math&gt;" title="9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70509" y="991627"/>
            <a:ext cx="241195" cy="33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1"/>
          <p:cNvSpPr txBox="1"/>
          <p:nvPr/>
        </p:nvSpPr>
        <p:spPr>
          <a:xfrm>
            <a:off x="467997" y="1549862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5" name="Google Shape;285;p21" descr="&lt;math xmlns=&quot;http://www.w3.org/1998/Math/MathML&quot; display=&quot;block&quot; data-is-equatio=&quot;1&quot; data-latex=&quot;9\ \frac{3}{4}&quot;&gt;&lt;mn&gt;9&lt;/mn&gt;&lt;mtext&gt;&lt;/mtext&gt;&lt;mfrac&gt;&lt;mn&gt;3&lt;/mn&gt;&lt;mn&gt;4&lt;/mn&gt;&lt;/mfrac&gt;&lt;/math&gt;" title="9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0800" y="4579200"/>
            <a:ext cx="238479" cy="3334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 descr="&lt;math xmlns=&quot;http://www.w3.org/1998/Math/MathML&quot; display=&quot;block&quot; data-is-equatio=&quot;1&quot; data-latex=&quot;3\ \frac{1}{4}+3\ \frac{1}{4}+3\ \frac{1}{4}&quot;&gt;&lt;mn&gt;3&lt;/mn&gt;&lt;mtext&gt;&lt;/mtext&gt;&lt;mfrac&gt;&lt;mn&gt;1&lt;/mn&gt;&lt;mn&gt;4&lt;/mn&gt;&lt;/mfrac&gt;&lt;mo&gt;+&lt;/mo&gt;&lt;mn&gt;3&lt;/mn&gt;&lt;mtext&gt;&lt;/mtext&gt;&lt;mfrac&gt;&lt;mn&gt;1&lt;/mn&gt;&lt;mn&gt;4&lt;/mn&gt;&lt;/mfrac&gt;&lt;mo&gt;+&lt;/mo&gt;&lt;mn&gt;3&lt;/mn&gt;&lt;mtext&gt;&lt;/mtext&gt;&lt;mfrac&gt;&lt;mn&gt;1&lt;/mn&gt;&lt;mn&gt;4&lt;/mn&gt;&lt;/mfrac&gt;&lt;/math&gt;" title="3 one fourth plus 3 one fourth plus 3 one fourth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632" y="1473850"/>
            <a:ext cx="1318649" cy="39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 descr="&lt;math xmlns=&quot;http://www.w3.org/1998/Math/MathML&quot; display=&quot;block&quot; data-is-equatio=&quot;1&quot; data-latex=&quot;\ 5\ \frac{5}{20}+3\ \frac{4}{5}&quot;&gt;&lt;mtext&gt;&lt;/mtext&gt;&lt;mn&gt;5&lt;/mn&gt;&lt;mtext&gt;&lt;/mtext&gt;&lt;mfrac&gt;&lt;mn&gt;5&lt;/mn&gt;&lt;mn&gt;20&lt;/mn&gt;&lt;/mfrac&gt;&lt;mo&gt;+&lt;/mo&gt;&lt;mn&gt;3&lt;/mn&gt;&lt;mtext&gt;&lt;/mtext&gt;&lt;mfrac&gt;&lt;mn&gt;4&lt;/mn&gt;&lt;mn&gt;5&lt;/mn&gt;&lt;/mfrac&gt;&lt;/math&gt;" title="5 5 over 20 plus 3 four fif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7419" y="3216391"/>
            <a:ext cx="857122" cy="381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 descr="&lt;math xmlns=&quot;http://www.w3.org/1998/Math/MathML&quot; display=&quot;block&quot; data-is-equatio=&quot;1&quot; data-latex=&quot;10\ \frac{1}{6}-\frac{1}{2}&quot;&gt;&lt;mn&gt;10&lt;/mn&gt;&lt;mtext&gt;&lt;/mtext&gt;&lt;mfrac&gt;&lt;mn&gt;1&lt;/mn&gt;&lt;mn&gt;6&lt;/mn&gt;&lt;/mfrac&gt;&lt;mo&gt;−&lt;/mo&gt;&lt;mfrac&gt;&lt;mn&gt;1&lt;/mn&gt;&lt;mn&gt;2&lt;/mn&gt;&lt;/mfrac&gt;&lt;/math&gt;" title="10 one sixth minus one half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9315" y="4761796"/>
            <a:ext cx="722390" cy="3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 descr="&lt;math xmlns=&quot;http://www.w3.org/1998/Math/MathML&quot; display=&quot;block&quot; data-is-equatio=&quot;1&quot; data-latex=&quot;12\ \frac{1}{5}-2\ \frac{9}{20}&quot;&gt;&lt;mn&gt;12&lt;/mn&gt;&lt;mtext&gt;&lt;/mtext&gt;&lt;mfrac&gt;&lt;mn&gt;1&lt;/mn&gt;&lt;mn&gt;5&lt;/mn&gt;&lt;/mfrac&gt;&lt;mo&gt;−&lt;/mo&gt;&lt;mn&gt;2&lt;/mn&gt;&lt;mtext&gt;&lt;/mtext&gt;&lt;mfrac&gt;&lt;mn&gt;9&lt;/mn&gt;&lt;mn&gt;20&lt;/mn&gt;&lt;/mfrac&gt;&lt;/math&gt;" title="12 one fifth minus 2 9 over 2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902835" y="3213527"/>
            <a:ext cx="954587" cy="3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 descr="&lt;math xmlns=&quot;http://www.w3.org/1998/Math/MathML&quot; display=&quot;block&quot; data-is-equatio=&quot;1&quot; data-latex=&quot;2\ \frac{1}{4\ }+5\ \frac{1}{2}+1\ \frac{3}{4}&quot;&gt;&lt;mn&gt;2&lt;/mn&gt;&lt;mtext&gt;&lt;/mtext&gt;&lt;mfrac&gt;&lt;mn&gt;1&lt;/mn&gt;&lt;mrow&gt;&lt;mn&gt;4&lt;/mn&gt;&lt;mtext&gt;&lt;/mtext&gt;&lt;/mrow&gt;&lt;/mfrac&gt;&lt;mo&gt;+&lt;/mo&gt;&lt;mn&gt;5&lt;/mn&gt;&lt;mtext&gt;&lt;/mtext&gt;&lt;mfrac&gt;&lt;mn&gt;1&lt;/mn&gt;&lt;mn&gt;2&lt;/mn&gt;&lt;/mfrac&gt;&lt;mo&gt;+&lt;/mo&gt;&lt;mn&gt;1&lt;/mn&gt;&lt;mtext&gt;&lt;/mtext&gt;&lt;mfrac&gt;&lt;mn&gt;3&lt;/mn&gt;&lt;mn&gt;4&lt;/mn&gt;&lt;/mfrac&gt;&lt;/math&gt;" title="2 1 over 4 plus 5 one half plus 1 three fourth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718000" y="4761784"/>
            <a:ext cx="1370248" cy="392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 descr="&lt;math xmlns=&quot;http://www.w3.org/1998/Math/MathML&quot; display=&quot;block&quot; data-is-equatio=&quot;1&quot; data-latex=&quot;\frac{90}{5}-\ 7\ \frac{3}{4}&quot;&gt;&lt;mfrac&gt;&lt;mn&gt;90&lt;/mn&gt;&lt;mn&gt;5&lt;/mn&gt;&lt;/mfrac&gt;&lt;mo&gt;−&lt;/mo&gt;&lt;mtext&gt;&lt;/mtext&gt;&lt;mn&gt;7&lt;/mn&gt;&lt;mtext&gt;&lt;/mtext&gt;&lt;mfrac&gt;&lt;mn&gt;3&lt;/mn&gt;&lt;mn&gt;4&lt;/mn&gt;&lt;/mfrac&gt;&lt;/math&gt;" title="90 over 5 minus 7 three four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147993" y="1473850"/>
            <a:ext cx="768256" cy="386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 descr="&lt;math xmlns=&quot;http://www.w3.org/1998/Math/MathML&quot; display=&quot;block&quot; data-is-equatio=&quot;1&quot; data-latex=&quot;7\ \frac{1}{6}-3\ \frac{1}{4}+5\ \frac{2}{3}&quot;&gt;&lt;mn&gt;7&lt;/mn&gt;&lt;mtext&gt;&lt;/mtext&gt;&lt;mfrac&gt;&lt;mn&gt;1&lt;/mn&gt;&lt;mn&gt;6&lt;/mn&gt;&lt;/mfrac&gt;&lt;mo&gt;−&lt;/mo&gt;&lt;mn&gt;3&lt;/mn&gt;&lt;mtext&gt;&lt;/mtext&gt;&lt;mfrac&gt;&lt;mn&gt;1&lt;/mn&gt;&lt;mn&gt;4&lt;/mn&gt;&lt;/mfrac&gt;&lt;mo&gt;+&lt;/mo&gt;&lt;mn&gt;5&lt;/mn&gt;&lt;mtext&gt;&lt;/mtext&gt;&lt;mfrac&gt;&lt;mn&gt;2&lt;/mn&gt;&lt;mn&gt;3&lt;/mn&gt;&lt;/mfrac&gt;&lt;/math&gt;" title="7 one sixth minus 3 one fourth plus 5 two thirds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147986" y="3234339"/>
            <a:ext cx="1292849" cy="38699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1"/>
          <p:cNvSpPr txBox="1"/>
          <p:nvPr/>
        </p:nvSpPr>
        <p:spPr>
          <a:xfrm>
            <a:off x="4717477" y="3334919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21"/>
          <p:cNvSpPr txBox="1"/>
          <p:nvPr/>
        </p:nvSpPr>
        <p:spPr>
          <a:xfrm>
            <a:off x="2567370" y="1503951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1"/>
          <p:cNvSpPr txBox="1"/>
          <p:nvPr/>
        </p:nvSpPr>
        <p:spPr>
          <a:xfrm>
            <a:off x="468000" y="3294336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1"/>
          <p:cNvSpPr txBox="1"/>
          <p:nvPr/>
        </p:nvSpPr>
        <p:spPr>
          <a:xfrm>
            <a:off x="467997" y="4853130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1"/>
          <p:cNvSpPr txBox="1"/>
          <p:nvPr/>
        </p:nvSpPr>
        <p:spPr>
          <a:xfrm>
            <a:off x="2559323" y="3282164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2567370" y="4844417"/>
            <a:ext cx="3237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2125987" y="1539818"/>
            <a:ext cx="308747" cy="326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696219" y="1503973"/>
            <a:ext cx="308747" cy="3267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1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936709" y="3243642"/>
            <a:ext cx="308747" cy="326756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21"/>
          <p:cNvSpPr/>
          <p:nvPr/>
        </p:nvSpPr>
        <p:spPr>
          <a:xfrm>
            <a:off x="1779272" y="3187954"/>
            <a:ext cx="541200" cy="4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3" name="Google Shape;303;p21" descr="&lt;math xmlns=&quot;http://www.w3.org/1998/Math/MathML&quot; display=&quot;block&quot; data-is-equatio=&quot;1&quot; data-latex=&quot;9\ \frac{1}{20}\ \ \ +\frac{7}{10}&quot;&gt;&lt;mn&gt;9&lt;/mn&gt;&lt;mtext&gt;&lt;/mtext&gt;&lt;mfrac&gt;&lt;mn&gt;1&lt;/mn&gt;&lt;mn&gt;20&lt;/mn&gt;&lt;/mfrac&gt;&lt;mtext&gt;&lt;/mtext&gt;&lt;mtext&gt;&lt;/mtext&gt;&lt;mtext&gt;&lt;/mtext&gt;&lt;mo&gt;+&lt;/mo&gt;&lt;mfrac&gt;&lt;mn&gt;7&lt;/mn&gt;&lt;mn&gt;10&lt;/mn&gt;&lt;/mfrac&gt;&lt;/math&gt;" title="9 1 over 20 positive seven tenths"/>
          <p:cNvPicPr preferRelativeResize="0"/>
          <p:nvPr/>
        </p:nvPicPr>
        <p:blipFill>
          <a:blip r:embed="rId13">
            <a:alphaModFix/>
          </a:blip>
          <a:srcRect l="55492"/>
          <a:stretch>
            <a:fillRect/>
          </a:stretch>
        </p:blipFill>
        <p:spPr>
          <a:xfrm>
            <a:off x="1800887" y="3216286"/>
            <a:ext cx="425911" cy="381683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1"/>
          <p:cNvSpPr/>
          <p:nvPr/>
        </p:nvSpPr>
        <p:spPr>
          <a:xfrm>
            <a:off x="1743208" y="4713928"/>
            <a:ext cx="541200" cy="4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5" name="Google Shape;305;p21" descr="&lt;math xmlns=&quot;http://www.w3.org/1998/Math/MathML&quot; display=&quot;block&quot; data-is-equatio=&quot;1&quot; data-latex=&quot;9\ \frac{2}{3}\ \ \ +\frac{1}{12}&quot;&gt;&lt;mn&gt;9&lt;/mn&gt;&lt;mtext&gt;&lt;/mtext&gt;&lt;mfrac&gt;&lt;mn&gt;2&lt;/mn&gt;&lt;mn&gt;3&lt;/mn&gt;&lt;/mfrac&gt;&lt;mtext&gt;&lt;/mtext&gt;&lt;mtext&gt;&lt;/mtext&gt;&lt;mtext&gt;&lt;/mtext&gt;&lt;mo&gt;+&lt;/mo&gt;&lt;mfrac&gt;&lt;mn&gt;1&lt;/mn&gt;&lt;mn&gt;12&lt;/mn&gt;&lt;/mfrac&gt;&lt;/math&gt;" title="9 two thirds positive 1 over 12"/>
          <p:cNvPicPr preferRelativeResize="0"/>
          <p:nvPr/>
        </p:nvPicPr>
        <p:blipFill>
          <a:blip r:embed="rId14">
            <a:alphaModFix/>
          </a:blip>
          <a:srcRect l="51057"/>
          <a:stretch>
            <a:fillRect/>
          </a:stretch>
        </p:blipFill>
        <p:spPr>
          <a:xfrm>
            <a:off x="1742068" y="4753566"/>
            <a:ext cx="454156" cy="409460"/>
          </a:xfrm>
          <a:prstGeom prst="rect">
            <a:avLst/>
          </a:prstGeom>
          <a:noFill/>
          <a:ln>
            <a:noFill/>
          </a:ln>
        </p:spPr>
      </p:pic>
      <p:sp>
        <p:nvSpPr>
          <p:cNvPr id="306" name="Google Shape;306;p21"/>
          <p:cNvSpPr/>
          <p:nvPr/>
        </p:nvSpPr>
        <p:spPr>
          <a:xfrm>
            <a:off x="4180940" y="4713928"/>
            <a:ext cx="541200" cy="4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7" name="Google Shape;307;p21" descr="&lt;math xmlns=&quot;http://www.w3.org/1998/Math/MathML&quot; display=&quot;block&quot; data-is-equatio=&quot;1&quot; data-latex=&quot;9\ \frac{1}{2}\ \ \ +\frac{1}{4}&quot;&gt;&lt;mn&gt;9&lt;/mn&gt;&lt;mtext&gt;&lt;/mtext&gt;&lt;mfrac&gt;&lt;mn&gt;1&lt;/mn&gt;&lt;mn&gt;2&lt;/mn&gt;&lt;/mfrac&gt;&lt;mtext&gt;&lt;/mtext&gt;&lt;mtext&gt;&lt;/mtext&gt;&lt;mtext&gt;&lt;/mtext&gt;&lt;mo&gt;+&lt;/mo&gt;&lt;mfrac&gt;&lt;mn&gt;1&lt;/mn&gt;&lt;mn&gt;4&lt;/mn&gt;&lt;/mfrac&gt;&lt;/math&gt;" title="9 one half positive one fourth"/>
          <p:cNvPicPr preferRelativeResize="0"/>
          <p:nvPr/>
        </p:nvPicPr>
        <p:blipFill>
          <a:blip r:embed="rId15">
            <a:alphaModFix/>
          </a:blip>
          <a:srcRect l="58258"/>
          <a:stretch>
            <a:fillRect/>
          </a:stretch>
        </p:blipFill>
        <p:spPr>
          <a:xfrm>
            <a:off x="4276991" y="4750067"/>
            <a:ext cx="349150" cy="410746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21"/>
          <p:cNvSpPr/>
          <p:nvPr/>
        </p:nvSpPr>
        <p:spPr>
          <a:xfrm>
            <a:off x="6547915" y="1383000"/>
            <a:ext cx="541268" cy="483726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9" name="Google Shape;309;p21" descr="&lt;math xmlns=&quot;http://www.w3.org/1998/Math/MathML&quot; display=&quot;block&quot; data-is-equatio=&quot;1&quot; data-latex=&quot;10\ \frac{1}{4}\ \ \ -\frac{1}{2}&quot;&gt;&lt;mn&gt;10&lt;/mn&gt;&lt;mtext&gt;&lt;/mtext&gt;&lt;mfrac&gt;&lt;mn&gt;1&lt;/mn&gt;&lt;mn&gt;4&lt;/mn&gt;&lt;/mfrac&gt;&lt;mtext&gt;&lt;/mtext&gt;&lt;mtext&gt;&lt;/mtext&gt;&lt;mtext&gt;&lt;/mtext&gt;&lt;mo&gt;−&lt;/mo&gt;&lt;mfrac&gt;&lt;mn&gt;1&lt;/mn&gt;&lt;mn&gt;2&lt;/mn&gt;&lt;/mfrac&gt;&lt;/math&gt;" title="10 one fourth negative one half"/>
          <p:cNvPicPr preferRelativeResize="0"/>
          <p:nvPr/>
        </p:nvPicPr>
        <p:blipFill>
          <a:blip r:embed="rId16">
            <a:alphaModFix/>
          </a:blip>
          <a:srcRect l="62066"/>
          <a:stretch>
            <a:fillRect/>
          </a:stretch>
        </p:blipFill>
        <p:spPr>
          <a:xfrm>
            <a:off x="6643973" y="1430971"/>
            <a:ext cx="349150" cy="410726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1"/>
          <p:cNvSpPr/>
          <p:nvPr/>
        </p:nvSpPr>
        <p:spPr>
          <a:xfrm>
            <a:off x="6547918" y="3200400"/>
            <a:ext cx="541200" cy="4836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1" name="Google Shape;311;p21" descr="&lt;math xmlns=&quot;http://www.w3.org/1998/Math/MathML&quot; display=&quot;block&quot; data-is-equatio=&quot;1&quot; data-latex=&quot;9\ \frac{7}{12}\ \ \ +\frac{1}{6}&quot;&gt;&lt;mn&gt;9&lt;/mn&gt;&lt;mtext&gt;&lt;/mtext&gt;&lt;mfrac&gt;&lt;mn&gt;7&lt;/mn&gt;&lt;mn&gt;12&lt;/mn&gt;&lt;/mfrac&gt;&lt;mtext&gt;&lt;/mtext&gt;&lt;mtext&gt;&lt;/mtext&gt;&lt;mtext&gt;&lt;/mtext&gt;&lt;mo&gt;+&lt;/mo&gt;&lt;mfrac&gt;&lt;mn&gt;1&lt;/mn&gt;&lt;mn&gt;6&lt;/mn&gt;&lt;/mfrac&gt;&lt;/math&gt;" title="9 7 over 12 positive one sixth"/>
          <p:cNvPicPr preferRelativeResize="0"/>
          <p:nvPr/>
        </p:nvPicPr>
        <p:blipFill>
          <a:blip r:embed="rId17">
            <a:alphaModFix/>
          </a:blip>
          <a:srcRect l="62188"/>
          <a:stretch>
            <a:fillRect/>
          </a:stretch>
        </p:blipFill>
        <p:spPr>
          <a:xfrm>
            <a:off x="6643979" y="3238391"/>
            <a:ext cx="349150" cy="4077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2.14"/>
  <p:tag name="AS_TITLE" val="Aspose.Slides for .NET Standard 2.0"/>
  <p:tag name="AS_VERSION" val="23.12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9">
      <vt:lpstr>Arial</vt:lpstr>
      <vt:lpstr>Lexend</vt:lpstr>
      <vt:lpstr>Kalam</vt:lpstr>
      <vt:lpstr>Lexend Medium</vt:lpstr>
      <vt:lpstr>Lexend Light</vt:lpstr>
      <vt:lpstr>Calibri</vt:lpstr>
      <vt:lpstr>simple-light-2</vt:lpstr>
      <vt:lpstr>Securing understanding of addition and subtraction with fractions</vt:lpstr>
      <vt:lpstr>PowerPoint Presentation</vt:lpstr>
    </vt:vector>
  </TitlesOfParts>
  <LinksUpToDate>0</LinksUpToDate>
  <SharedDoc>0</SharedDoc>
  <HyperlinksChanged>0</HyperlinksChanged>
  <Application>Aspose.Slides for .NET</Application>
  <AppVersion>23.1200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2024-01-09T09:28:26.101</cp:lastPrinted>
  <dcterms:created xsi:type="dcterms:W3CDTF">2024-01-09T09:28:26Z</dcterms:created>
  <dcterms:modified xsi:type="dcterms:W3CDTF">2024-01-09T09:28:34Z</dcterms:modified>
</cp:coreProperties>
</file>