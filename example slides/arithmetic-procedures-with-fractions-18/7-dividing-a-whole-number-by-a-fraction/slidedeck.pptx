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2" r:id="rId5"/>
    <p:sldMasterId id="21474837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9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1D5ECF-18C5-48B3-A970-ECEA71E2E6BB}">
  <a:tblStyle styleId="{901D5ECF-18C5-48B3-A970-ECEA71E2E6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1eb82e590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1eb82e590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1eb82e590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1eb82e590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1eb82e59058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1eb82e59058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9d557b825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9d557b825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29d557b825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29d557b825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1eb82e59058_0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1eb82e59058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eb82e59058_0_1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eb82e59058_0_1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1eb82e5905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1eb82e5905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1eb82e59058_0_1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1eb82e59058_0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1eb82e59058_0_1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1eb82e59058_0_1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1eb82e59058_0_1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1eb82e59058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1eb82e59058_0_1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1eb82e59058_0_1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1eb82e59058_0_1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1eb82e59058_0_1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g29fcb4774b7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29fcb4774b7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1eb82e59058_0_2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1eb82e59058_0_2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1eb82e59058_0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1eb82e59058_0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1eb82e59058_0_1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1eb82e59058_0_1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1eb82e5905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1eb82e5905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1eb82e59058_0_2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1eb82e59058_0_2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g1eb82e59058_0_2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1eb82e59058_0_2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1eb82e59058_0_2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1eb82e59058_0_2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1eb82e59058_0_2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1eb82e59058_0_2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1eb82e59058_0_2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1eb82e59058_0_2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1eb82e59058_0_2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1eb82e59058_0_2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1eb82e59058_0_2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1eb82e59058_0_2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1eb82e59058_0_2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1eb82e59058_0_2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1eb82e59058_0_2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1eb82e59058_0_2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2a03481865b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2a03481865b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g2a03481865b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2a03481865b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2a03481865b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2a03481865b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2a03481865b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2a03481865b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2a03481865b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2a03481865b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g2a03481865b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8" name="Google Shape;2238;g2a03481865b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2a03481865b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2a03481865b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2a03481865b_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2a03481865b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a03481865b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2a03481865b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g2a03481865b_2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7" name="Google Shape;2357;g2a03481865b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5" name="Google Shape;240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83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31.png"/><Relationship Id="rId11" Type="http://schemas.openxmlformats.org/officeDocument/2006/relationships/image" Target="../media/image15.png"/><Relationship Id="rId10" Type="http://schemas.openxmlformats.org/officeDocument/2006/relationships/image" Target="../media/image40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83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31.png"/><Relationship Id="rId11" Type="http://schemas.openxmlformats.org/officeDocument/2006/relationships/image" Target="../media/image15.png"/><Relationship Id="rId10" Type="http://schemas.openxmlformats.org/officeDocument/2006/relationships/image" Target="../media/image40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9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3" name="Google Shape;7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0" name="Google Shape;77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9" name="Google Shape;7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1" name="Google Shape;781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2" name="Google Shape;78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4" name="Google Shape;784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8" name="Google Shape;78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7" name="Google Shape;7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1" name="Google Shape;80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3" name="Google Shape;803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8" name="Google Shape;80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0" name="Google Shape;8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0" name="Google Shape;82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2" name="Google Shape;822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9" name="Google Shape;8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2" name="Google Shape;842;p7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3" name="Google Shape;84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4" name="Google Shape;844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5" name="Google Shape;84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6" name="Google Shape;846;p7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4" name="Google Shape;86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8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8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8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8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3" name="Google Shape;893;p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4" name="Google Shape;894;p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8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2"/>
          <p:cNvCxnSpPr>
            <a:endCxn id="90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3" name="Google Shape;9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2" name="Google Shape;90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6" name="Google Shape;916;p83"/>
          <p:cNvCxnSpPr>
            <a:endCxn id="91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2" name="Google Shape;92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1" name="Google Shape;941;p84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4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4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4" name="Google Shape;94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8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2" name="Google Shape;98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4" name="Google Shape;98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5" name="Google Shape;98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8" name="Google Shape;98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5" name="Google Shape;995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7" name="Google Shape;997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8" name="Google Shape;99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1" name="Google Shape;100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5" name="Google Shape;1005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8" name="Google Shape;1008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0" name="Google Shape;1010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1" name="Google Shape;1011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4" name="Google Shape;10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8" name="Google Shape;101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1" name="Google Shape;1021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3" name="Google Shape;1023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4" name="Google Shape;102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7" name="Google Shape;102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0" name="Google Shape;104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6" name="Google Shape;1046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7" name="Google Shape;104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0" name="Google Shape;105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5" name="Google Shape;1065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6" name="Google Shape;106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9" name="Google Shape;106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3" name="Google Shape;108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8" name="Google Shape;1088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9" name="Google Shape;10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2" name="Google Shape;109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4" name="Google Shape;109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5" name="Google Shape;1105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6" name="Google Shape;110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1" name="Google Shape;1111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2" name="Google Shape;111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5" name="Google Shape;111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5" name="Google Shape;112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8" name="Google Shape;1128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1" name="Google Shape;1131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8" name="Google Shape;113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0" name="Google Shape;1150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1" name="Google Shape;115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4" name="Google Shape;115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7" name="Google Shape;115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3" name="Google Shape;11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7" name="Google Shape;116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9" name="Google Shape;116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3" name="Google Shape;117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2" name="Google Shape;118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8" name="Google Shape;118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9" name="Google Shape;118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2" name="Google Shape;119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1" name="Google Shape;120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8" name="Google Shape;120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8" name="Google Shape;1228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1" name="Google Shape;1231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4" name="Google Shape;1254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7" name="Google Shape;1277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3" name="Google Shape;129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6" name="Google Shape;129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9" name="Google Shape;1299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8" name="Google Shape;1318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1" name="Google Shape;13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4" name="Google Shape;133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3" name="Google Shape;134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0" name="Google Shape;135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3" name="Google Shape;135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6" name="Google Shape;135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3" name="Google Shape;136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7" name="Google Shape;1397;p11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9" name="Google Shape;139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4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5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6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7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9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20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2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5" name="Google Shape;1465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7" name="Google Shape;1467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2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2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2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62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1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77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1.png"/><Relationship Id="rId4" Type="http://schemas.openxmlformats.org/officeDocument/2006/relationships/image" Target="../media/image98.png"/><Relationship Id="rId5" Type="http://schemas.openxmlformats.org/officeDocument/2006/relationships/image" Target="../media/image100.png"/><Relationship Id="rId6" Type="http://schemas.openxmlformats.org/officeDocument/2006/relationships/image" Target="../media/image99.png"/><Relationship Id="rId7" Type="http://schemas.openxmlformats.org/officeDocument/2006/relationships/image" Target="../media/image10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8.png"/><Relationship Id="rId6" Type="http://schemas.openxmlformats.org/officeDocument/2006/relationships/image" Target="../media/image10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5.png"/><Relationship Id="rId4" Type="http://schemas.openxmlformats.org/officeDocument/2006/relationships/image" Target="../media/image104.png"/><Relationship Id="rId5" Type="http://schemas.openxmlformats.org/officeDocument/2006/relationships/image" Target="../media/image109.png"/><Relationship Id="rId6" Type="http://schemas.openxmlformats.org/officeDocument/2006/relationships/image" Target="../media/image1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0.png"/><Relationship Id="rId4" Type="http://schemas.openxmlformats.org/officeDocument/2006/relationships/image" Target="../media/image105.png"/><Relationship Id="rId5" Type="http://schemas.openxmlformats.org/officeDocument/2006/relationships/image" Target="../media/image108.png"/><Relationship Id="rId6" Type="http://schemas.openxmlformats.org/officeDocument/2006/relationships/image" Target="../media/image10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3.png"/><Relationship Id="rId4" Type="http://schemas.openxmlformats.org/officeDocument/2006/relationships/image" Target="../media/image115.png"/><Relationship Id="rId5" Type="http://schemas.openxmlformats.org/officeDocument/2006/relationships/image" Target="../media/image1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8.png"/><Relationship Id="rId4" Type="http://schemas.openxmlformats.org/officeDocument/2006/relationships/image" Target="../media/image114.png"/><Relationship Id="rId5" Type="http://schemas.openxmlformats.org/officeDocument/2006/relationships/image" Target="../media/image123.png"/><Relationship Id="rId6" Type="http://schemas.openxmlformats.org/officeDocument/2006/relationships/image" Target="../media/image116.png"/><Relationship Id="rId7" Type="http://schemas.openxmlformats.org/officeDocument/2006/relationships/image" Target="../media/image1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2.png"/><Relationship Id="rId4" Type="http://schemas.openxmlformats.org/officeDocument/2006/relationships/image" Target="../media/image119.png"/><Relationship Id="rId9" Type="http://schemas.openxmlformats.org/officeDocument/2006/relationships/image" Target="../media/image129.png"/><Relationship Id="rId5" Type="http://schemas.openxmlformats.org/officeDocument/2006/relationships/image" Target="../media/image126.png"/><Relationship Id="rId6" Type="http://schemas.openxmlformats.org/officeDocument/2006/relationships/image" Target="../media/image125.png"/><Relationship Id="rId7" Type="http://schemas.openxmlformats.org/officeDocument/2006/relationships/image" Target="../media/image132.png"/><Relationship Id="rId8" Type="http://schemas.openxmlformats.org/officeDocument/2006/relationships/image" Target="../media/image128.png"/><Relationship Id="rId11" Type="http://schemas.openxmlformats.org/officeDocument/2006/relationships/image" Target="../media/image131.png"/><Relationship Id="rId10" Type="http://schemas.openxmlformats.org/officeDocument/2006/relationships/image" Target="../media/image127.png"/><Relationship Id="rId12" Type="http://schemas.openxmlformats.org/officeDocument/2006/relationships/image" Target="../media/image1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5.png"/><Relationship Id="rId4" Type="http://schemas.openxmlformats.org/officeDocument/2006/relationships/image" Target="../media/image133.png"/><Relationship Id="rId5" Type="http://schemas.openxmlformats.org/officeDocument/2006/relationships/image" Target="../media/image1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8.png"/><Relationship Id="rId4" Type="http://schemas.openxmlformats.org/officeDocument/2006/relationships/image" Target="../media/image114.png"/><Relationship Id="rId5" Type="http://schemas.openxmlformats.org/officeDocument/2006/relationships/image" Target="../media/image136.png"/><Relationship Id="rId6" Type="http://schemas.openxmlformats.org/officeDocument/2006/relationships/image" Target="../media/image123.png"/><Relationship Id="rId7" Type="http://schemas.openxmlformats.org/officeDocument/2006/relationships/image" Target="../media/image1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9.png"/><Relationship Id="rId4" Type="http://schemas.openxmlformats.org/officeDocument/2006/relationships/image" Target="../media/image126.png"/><Relationship Id="rId9" Type="http://schemas.openxmlformats.org/officeDocument/2006/relationships/image" Target="../media/image129.png"/><Relationship Id="rId5" Type="http://schemas.openxmlformats.org/officeDocument/2006/relationships/image" Target="../media/image125.png"/><Relationship Id="rId6" Type="http://schemas.openxmlformats.org/officeDocument/2006/relationships/image" Target="../media/image124.png"/><Relationship Id="rId7" Type="http://schemas.openxmlformats.org/officeDocument/2006/relationships/image" Target="../media/image132.png"/><Relationship Id="rId8" Type="http://schemas.openxmlformats.org/officeDocument/2006/relationships/image" Target="../media/image128.png"/><Relationship Id="rId11" Type="http://schemas.openxmlformats.org/officeDocument/2006/relationships/image" Target="../media/image122.png"/><Relationship Id="rId10" Type="http://schemas.openxmlformats.org/officeDocument/2006/relationships/image" Target="../media/image127.png"/><Relationship Id="rId12" Type="http://schemas.openxmlformats.org/officeDocument/2006/relationships/image" Target="../media/image1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5.png"/><Relationship Id="rId4" Type="http://schemas.openxmlformats.org/officeDocument/2006/relationships/image" Target="../media/image133.png"/><Relationship Id="rId5" Type="http://schemas.openxmlformats.org/officeDocument/2006/relationships/image" Target="../media/image1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4.png"/><Relationship Id="rId4" Type="http://schemas.openxmlformats.org/officeDocument/2006/relationships/image" Target="../media/image142.png"/><Relationship Id="rId5" Type="http://schemas.openxmlformats.org/officeDocument/2006/relationships/image" Target="../media/image1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7.png"/><Relationship Id="rId4" Type="http://schemas.openxmlformats.org/officeDocument/2006/relationships/image" Target="../media/image140.png"/><Relationship Id="rId5" Type="http://schemas.openxmlformats.org/officeDocument/2006/relationships/image" Target="../media/image1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1.png"/><Relationship Id="rId4" Type="http://schemas.openxmlformats.org/officeDocument/2006/relationships/image" Target="../media/image1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3.png"/><Relationship Id="rId4" Type="http://schemas.openxmlformats.org/officeDocument/2006/relationships/image" Target="../media/image14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9.png"/><Relationship Id="rId4" Type="http://schemas.openxmlformats.org/officeDocument/2006/relationships/image" Target="../media/image152.png"/><Relationship Id="rId5" Type="http://schemas.openxmlformats.org/officeDocument/2006/relationships/image" Target="../media/image15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8.png"/><Relationship Id="rId4" Type="http://schemas.openxmlformats.org/officeDocument/2006/relationships/image" Target="../media/image1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8.png"/><Relationship Id="rId4" Type="http://schemas.openxmlformats.org/officeDocument/2006/relationships/image" Target="../media/image1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8.png"/><Relationship Id="rId4" Type="http://schemas.openxmlformats.org/officeDocument/2006/relationships/image" Target="../media/image154.png"/><Relationship Id="rId5" Type="http://schemas.openxmlformats.org/officeDocument/2006/relationships/image" Target="../media/image1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8.png"/><Relationship Id="rId4" Type="http://schemas.openxmlformats.org/officeDocument/2006/relationships/image" Target="../media/image1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9.png"/><Relationship Id="rId4" Type="http://schemas.openxmlformats.org/officeDocument/2006/relationships/image" Target="../media/image152.png"/><Relationship Id="rId5" Type="http://schemas.openxmlformats.org/officeDocument/2006/relationships/image" Target="../media/image150.png"/><Relationship Id="rId6" Type="http://schemas.openxmlformats.org/officeDocument/2006/relationships/image" Target="../media/image15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</p:txBody>
      </p:sp>
      <p:sp>
        <p:nvSpPr>
          <p:cNvPr id="1492" name="Google Shape;149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procedures with fractions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the division of fractions to divide a whole number by a fraction.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30"/>
          <p:cNvSpPr txBox="1"/>
          <p:nvPr>
            <p:ph idx="1" type="subTitle"/>
          </p:nvPr>
        </p:nvSpPr>
        <p:spPr>
          <a:xfrm>
            <a:off x="366376" y="1989950"/>
            <a:ext cx="802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Unitising means treating groups that contain, or represent, the same numbers of things as ‘ones’ or ‘units’.</a:t>
            </a:r>
            <a:endParaRPr b="0"/>
          </a:p>
        </p:txBody>
      </p:sp>
      <p:sp>
        <p:nvSpPr>
          <p:cNvPr id="1508" name="Google Shape;1508;p130"/>
          <p:cNvSpPr txBox="1"/>
          <p:nvPr>
            <p:ph idx="1" type="subTitle"/>
          </p:nvPr>
        </p:nvSpPr>
        <p:spPr>
          <a:xfrm>
            <a:off x="366376" y="1080000"/>
            <a:ext cx="802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proper fraction is a fraction where the numerator is less than the denominator. 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3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1514" name="Google Shape;1514;p13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</p:txBody>
      </p:sp>
      <p:sp>
        <p:nvSpPr>
          <p:cNvPr id="1515" name="Google Shape;1515;p13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</p:txBody>
      </p:sp>
      <p:pic>
        <p:nvPicPr>
          <p:cNvPr id="1516" name="Google Shape;151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09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1522" name="Google Shape;1522;p132"/>
          <p:cNvSpPr txBox="1"/>
          <p:nvPr>
            <p:ph idx="4294967295" type="subTitle"/>
          </p:nvPr>
        </p:nvSpPr>
        <p:spPr>
          <a:xfrm>
            <a:off x="324000" y="1585400"/>
            <a:ext cx="1594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Example:</a:t>
            </a:r>
            <a:endParaRPr b="0"/>
          </a:p>
        </p:txBody>
      </p:sp>
      <p:sp>
        <p:nvSpPr>
          <p:cNvPr id="1523" name="Google Shape;1523;p132"/>
          <p:cNvSpPr txBox="1"/>
          <p:nvPr>
            <p:ph idx="4294967295" type="subTitle"/>
          </p:nvPr>
        </p:nvSpPr>
        <p:spPr>
          <a:xfrm>
            <a:off x="324000" y="2072588"/>
            <a:ext cx="6441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different ways can 8 ÷ 2  be written? </a:t>
            </a:r>
            <a:endParaRPr b="0"/>
          </a:p>
        </p:txBody>
      </p:sp>
      <p:sp>
        <p:nvSpPr>
          <p:cNvPr id="1524" name="Google Shape;1524;p132"/>
          <p:cNvSpPr txBox="1"/>
          <p:nvPr>
            <p:ph idx="4294967295" type="subTitle"/>
          </p:nvPr>
        </p:nvSpPr>
        <p:spPr>
          <a:xfrm>
            <a:off x="857050" y="2707778"/>
            <a:ext cx="2659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 shared by 2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5" name="Google Shape;1525;p132"/>
          <p:cNvSpPr txBox="1"/>
          <p:nvPr>
            <p:ph idx="4294967295" type="subTitle"/>
          </p:nvPr>
        </p:nvSpPr>
        <p:spPr>
          <a:xfrm>
            <a:off x="3368400" y="3044378"/>
            <a:ext cx="2659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 grouped into 2s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26" name="Google Shape;1526;p132"/>
          <p:cNvGrpSpPr/>
          <p:nvPr/>
        </p:nvGrpSpPr>
        <p:grpSpPr>
          <a:xfrm>
            <a:off x="1037151" y="3150741"/>
            <a:ext cx="225707" cy="956250"/>
            <a:chOff x="1037151" y="3115387"/>
            <a:chExt cx="225707" cy="956250"/>
          </a:xfrm>
        </p:grpSpPr>
        <p:sp>
          <p:nvSpPr>
            <p:cNvPr id="1527" name="Google Shape;1527;p132"/>
            <p:cNvSpPr/>
            <p:nvPr/>
          </p:nvSpPr>
          <p:spPr>
            <a:xfrm>
              <a:off x="1037151" y="311538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132"/>
            <p:cNvSpPr/>
            <p:nvPr/>
          </p:nvSpPr>
          <p:spPr>
            <a:xfrm>
              <a:off x="1041833" y="33574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9" name="Google Shape;1529;p132"/>
            <p:cNvSpPr/>
            <p:nvPr/>
          </p:nvSpPr>
          <p:spPr>
            <a:xfrm>
              <a:off x="1041833" y="3605201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132"/>
            <p:cNvSpPr/>
            <p:nvPr/>
          </p:nvSpPr>
          <p:spPr>
            <a:xfrm>
              <a:off x="1044158" y="38529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1" name="Google Shape;1531;p132"/>
          <p:cNvGrpSpPr/>
          <p:nvPr/>
        </p:nvGrpSpPr>
        <p:grpSpPr>
          <a:xfrm>
            <a:off x="2044862" y="3150741"/>
            <a:ext cx="225707" cy="956250"/>
            <a:chOff x="2044862" y="3115387"/>
            <a:chExt cx="225707" cy="956250"/>
          </a:xfrm>
        </p:grpSpPr>
        <p:sp>
          <p:nvSpPr>
            <p:cNvPr id="1532" name="Google Shape;1532;p132"/>
            <p:cNvSpPr/>
            <p:nvPr/>
          </p:nvSpPr>
          <p:spPr>
            <a:xfrm>
              <a:off x="2044862" y="311538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3" name="Google Shape;1533;p132"/>
            <p:cNvSpPr/>
            <p:nvPr/>
          </p:nvSpPr>
          <p:spPr>
            <a:xfrm>
              <a:off x="2049544" y="33574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132"/>
            <p:cNvSpPr/>
            <p:nvPr/>
          </p:nvSpPr>
          <p:spPr>
            <a:xfrm>
              <a:off x="2049544" y="3605201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132"/>
            <p:cNvSpPr/>
            <p:nvPr/>
          </p:nvSpPr>
          <p:spPr>
            <a:xfrm>
              <a:off x="2051869" y="3852937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6" name="Google Shape;1536;p132"/>
          <p:cNvGrpSpPr/>
          <p:nvPr/>
        </p:nvGrpSpPr>
        <p:grpSpPr>
          <a:xfrm>
            <a:off x="3425308" y="3585341"/>
            <a:ext cx="221025" cy="466436"/>
            <a:chOff x="3425308" y="3481339"/>
            <a:chExt cx="221025" cy="466436"/>
          </a:xfrm>
        </p:grpSpPr>
        <p:sp>
          <p:nvSpPr>
            <p:cNvPr id="1537" name="Google Shape;1537;p132"/>
            <p:cNvSpPr/>
            <p:nvPr/>
          </p:nvSpPr>
          <p:spPr>
            <a:xfrm>
              <a:off x="3425308" y="3481339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8" name="Google Shape;1538;p132"/>
            <p:cNvSpPr/>
            <p:nvPr/>
          </p:nvSpPr>
          <p:spPr>
            <a:xfrm>
              <a:off x="3427633" y="3729074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9" name="Google Shape;1539;p132"/>
          <p:cNvGrpSpPr/>
          <p:nvPr/>
        </p:nvGrpSpPr>
        <p:grpSpPr>
          <a:xfrm>
            <a:off x="3920933" y="3585329"/>
            <a:ext cx="221025" cy="466436"/>
            <a:chOff x="3920933" y="3481326"/>
            <a:chExt cx="221025" cy="466436"/>
          </a:xfrm>
        </p:grpSpPr>
        <p:sp>
          <p:nvSpPr>
            <p:cNvPr id="1540" name="Google Shape;1540;p132"/>
            <p:cNvSpPr/>
            <p:nvPr/>
          </p:nvSpPr>
          <p:spPr>
            <a:xfrm>
              <a:off x="3920933" y="3481326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1" name="Google Shape;1541;p132"/>
            <p:cNvSpPr/>
            <p:nvPr/>
          </p:nvSpPr>
          <p:spPr>
            <a:xfrm>
              <a:off x="3923258" y="372906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2" name="Google Shape;1542;p132"/>
          <p:cNvGrpSpPr/>
          <p:nvPr/>
        </p:nvGrpSpPr>
        <p:grpSpPr>
          <a:xfrm>
            <a:off x="4453208" y="3585341"/>
            <a:ext cx="221025" cy="466436"/>
            <a:chOff x="4495083" y="3481339"/>
            <a:chExt cx="221025" cy="466436"/>
          </a:xfrm>
        </p:grpSpPr>
        <p:sp>
          <p:nvSpPr>
            <p:cNvPr id="1543" name="Google Shape;1543;p132"/>
            <p:cNvSpPr/>
            <p:nvPr/>
          </p:nvSpPr>
          <p:spPr>
            <a:xfrm>
              <a:off x="4495083" y="3481339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4" name="Google Shape;1544;p132"/>
            <p:cNvSpPr/>
            <p:nvPr/>
          </p:nvSpPr>
          <p:spPr>
            <a:xfrm>
              <a:off x="4497408" y="3729074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5" name="Google Shape;1545;p132"/>
          <p:cNvGrpSpPr/>
          <p:nvPr/>
        </p:nvGrpSpPr>
        <p:grpSpPr>
          <a:xfrm>
            <a:off x="4972308" y="3585329"/>
            <a:ext cx="221025" cy="466436"/>
            <a:chOff x="4972308" y="3481326"/>
            <a:chExt cx="221025" cy="466436"/>
          </a:xfrm>
        </p:grpSpPr>
        <p:sp>
          <p:nvSpPr>
            <p:cNvPr id="1546" name="Google Shape;1546;p132"/>
            <p:cNvSpPr/>
            <p:nvPr/>
          </p:nvSpPr>
          <p:spPr>
            <a:xfrm>
              <a:off x="4972308" y="3481326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132"/>
            <p:cNvSpPr/>
            <p:nvPr/>
          </p:nvSpPr>
          <p:spPr>
            <a:xfrm>
              <a:off x="4974633" y="3729062"/>
              <a:ext cx="218700" cy="2187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8" name="Google Shape;1548;p132"/>
          <p:cNvGrpSpPr/>
          <p:nvPr/>
        </p:nvGrpSpPr>
        <p:grpSpPr>
          <a:xfrm>
            <a:off x="7067000" y="2764925"/>
            <a:ext cx="1891675" cy="1027572"/>
            <a:chOff x="6746425" y="3267225"/>
            <a:chExt cx="1891675" cy="1027572"/>
          </a:xfrm>
        </p:grpSpPr>
        <p:sp>
          <p:nvSpPr>
            <p:cNvPr id="1549" name="Google Shape;1549;p132"/>
            <p:cNvSpPr/>
            <p:nvPr/>
          </p:nvSpPr>
          <p:spPr>
            <a:xfrm rot="-8813971">
              <a:off x="6877630" y="3688192"/>
              <a:ext cx="302295" cy="570340"/>
            </a:xfrm>
            <a:custGeom>
              <a:rect b="b" l="l" r="r" t="t"/>
              <a:pathLst>
                <a:path extrusionOk="0" h="22814" w="12092">
                  <a:moveTo>
                    <a:pt x="12092" y="0"/>
                  </a:moveTo>
                  <a:cubicBezTo>
                    <a:pt x="5480" y="5510"/>
                    <a:pt x="0" y="14207"/>
                    <a:pt x="0" y="22814"/>
                  </a:cubicBez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none"/>
            </a:ln>
          </p:spPr>
        </p:sp>
        <p:sp>
          <p:nvSpPr>
            <p:cNvPr id="1550" name="Google Shape;1550;p132"/>
            <p:cNvSpPr txBox="1"/>
            <p:nvPr/>
          </p:nvSpPr>
          <p:spPr>
            <a:xfrm>
              <a:off x="7321100" y="3267225"/>
              <a:ext cx="13170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The line indicates division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begin{array}{l}\frac{8}{2}\\&amp;#13;&amp;#10;\end{array}&quot;&gt;&lt;mtable columnalign=&quot;left&quot; columnspacing=&quot;1em&quot; rowspacing=&quot;4pt&quot;&gt;&lt;mtr&gt;&lt;mtd&gt;&lt;mfrac&gt;&lt;mn&gt;8&lt;/mn&gt;&lt;mn&gt;2&lt;/mn&gt;&lt;/mfrac&gt;&lt;/mtd&gt;&lt;/mtr&gt;&lt;/mtable&gt;&lt;/math&gt;" id="1551" name="Google Shape;1551;p132" title="1 lines Line 1: eight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6175" y="3233402"/>
            <a:ext cx="285274" cy="8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32"/>
          <p:cNvSpPr txBox="1"/>
          <p:nvPr>
            <p:ph idx="4294967295" type="subTitle"/>
          </p:nvPr>
        </p:nvSpPr>
        <p:spPr>
          <a:xfrm>
            <a:off x="324000" y="810000"/>
            <a:ext cx="7795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Division can also be written in different ways.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33"/>
          <p:cNvSpPr txBox="1"/>
          <p:nvPr/>
        </p:nvSpPr>
        <p:spPr>
          <a:xfrm>
            <a:off x="324000" y="2281700"/>
            <a:ext cx="1510200" cy="13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times does 5 fit into 20?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graphicFrame>
        <p:nvGraphicFramePr>
          <p:cNvPr id="1559" name="Google Shape;1559;p133"/>
          <p:cNvGraphicFramePr/>
          <p:nvPr/>
        </p:nvGraphicFramePr>
        <p:xfrm>
          <a:off x="2062950" y="2451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501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0" name="Google Shape;1560;p133"/>
          <p:cNvGraphicFramePr/>
          <p:nvPr/>
        </p:nvGraphicFramePr>
        <p:xfrm>
          <a:off x="2062950" y="2971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54525"/>
                <a:gridCol w="1254525"/>
                <a:gridCol w="1254525"/>
                <a:gridCol w="1254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61" name="Google Shape;1561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700" y="1322925"/>
            <a:ext cx="6164100" cy="3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6" name="Google Shape;1566;p134"/>
          <p:cNvGraphicFramePr/>
          <p:nvPr/>
        </p:nvGraphicFramePr>
        <p:xfrm>
          <a:off x="2062950" y="244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501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7" name="Google Shape;1567;p134"/>
          <p:cNvGraphicFramePr/>
          <p:nvPr/>
        </p:nvGraphicFramePr>
        <p:xfrm>
          <a:off x="2062950" y="2970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54525"/>
                <a:gridCol w="1254525"/>
                <a:gridCol w="1254525"/>
                <a:gridCol w="1254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8" name="Google Shape;1568;p134"/>
          <p:cNvGraphicFramePr/>
          <p:nvPr/>
        </p:nvGraphicFramePr>
        <p:xfrm>
          <a:off x="2062950" y="34970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54525"/>
                <a:gridCol w="1254525"/>
                <a:gridCol w="1254525"/>
                <a:gridCol w="1254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9" name="Google Shape;1569;p134"/>
          <p:cNvSpPr txBox="1"/>
          <p:nvPr/>
        </p:nvSpPr>
        <p:spPr>
          <a:xfrm>
            <a:off x="3039900" y="1977725"/>
            <a:ext cx="33219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5 is the counting unit.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0" name="Google Shape;1570;p134"/>
          <p:cNvCxnSpPr/>
          <p:nvPr/>
        </p:nvCxnSpPr>
        <p:spPr>
          <a:xfrm flipH="1">
            <a:off x="5386300" y="1299238"/>
            <a:ext cx="658800" cy="160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20\ \div5\ =\ 4&quot;&gt;&lt;mn&gt;20&lt;/mn&gt;&lt;mtext&gt;&lt;/mtext&gt;&lt;mo&gt;÷&lt;/mo&gt;&lt;mn&gt;5&lt;/mn&gt;&lt;mtext&gt;&lt;/mtext&gt;&lt;mo&gt;=&lt;/mo&gt;&lt;mtext&gt;&lt;/mtext&gt;&lt;mn&gt;4&lt;/mn&gt;&lt;/math&gt;" id="1571" name="Google Shape;1571;p134" title="20 division sign 5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0390" y="1275499"/>
            <a:ext cx="1843866" cy="26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2" name="Google Shape;1572;p134"/>
          <p:cNvCxnSpPr/>
          <p:nvPr/>
        </p:nvCxnSpPr>
        <p:spPr>
          <a:xfrm rot="10800000">
            <a:off x="4500600" y="1601100"/>
            <a:ext cx="224400" cy="355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3" name="Google Shape;1573;p134"/>
          <p:cNvSpPr txBox="1"/>
          <p:nvPr/>
        </p:nvSpPr>
        <p:spPr>
          <a:xfrm>
            <a:off x="6157150" y="1036950"/>
            <a:ext cx="2008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have 4 units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35"/>
          <p:cNvSpPr txBox="1"/>
          <p:nvPr/>
        </p:nvSpPr>
        <p:spPr>
          <a:xfrm>
            <a:off x="324000" y="657600"/>
            <a:ext cx="85614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approach can help us to represent division by fractions.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135"/>
          <p:cNvSpPr txBox="1"/>
          <p:nvPr/>
        </p:nvSpPr>
        <p:spPr>
          <a:xfrm>
            <a:off x="324000" y="1213650"/>
            <a:ext cx="788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81" name="Google Shape;1581;p135"/>
          <p:cNvGraphicFramePr/>
          <p:nvPr/>
        </p:nvGraphicFramePr>
        <p:xfrm>
          <a:off x="876300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2" name="Google Shape;1582;p135"/>
          <p:cNvGraphicFramePr/>
          <p:nvPr/>
        </p:nvGraphicFramePr>
        <p:xfrm>
          <a:off x="876300" y="34264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83" name="Google Shape;1583;p135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725" y="3443901"/>
            <a:ext cx="146892" cy="46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84" name="Google Shape;1584;p135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925" y="3443901"/>
            <a:ext cx="146892" cy="46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85" name="Google Shape;1585;p135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125" y="3443901"/>
            <a:ext cx="146892" cy="46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86" name="Google Shape;1586;p135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125" y="3443901"/>
            <a:ext cx="146892" cy="46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87" name="Google Shape;1587;p135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8525" y="3443901"/>
            <a:ext cx="146892" cy="46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88" name="Google Shape;1588;p135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1525" y="3443901"/>
            <a:ext cx="146892" cy="46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135"/>
          <p:cNvSpPr txBox="1"/>
          <p:nvPr/>
        </p:nvSpPr>
        <p:spPr>
          <a:xfrm>
            <a:off x="4041575" y="2337625"/>
            <a:ext cx="2447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0" name="Google Shape;1590;p135"/>
          <p:cNvCxnSpPr/>
          <p:nvPr/>
        </p:nvCxnSpPr>
        <p:spPr>
          <a:xfrm flipH="1">
            <a:off x="5133925" y="1721263"/>
            <a:ext cx="658800" cy="160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1" name="Google Shape;1591;p135"/>
          <p:cNvCxnSpPr/>
          <p:nvPr/>
        </p:nvCxnSpPr>
        <p:spPr>
          <a:xfrm rot="10800000">
            <a:off x="4440000" y="2101800"/>
            <a:ext cx="310800" cy="282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135"/>
          <p:cNvSpPr txBox="1"/>
          <p:nvPr/>
        </p:nvSpPr>
        <p:spPr>
          <a:xfrm>
            <a:off x="5904775" y="1458975"/>
            <a:ext cx="2008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have 6 units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div\frac{1}{2}=6&quot;&gt;&lt;mn&gt;3&lt;/mn&gt;&lt;mtext&gt;&lt;/mtext&gt;&lt;mo&gt;÷&lt;/mo&gt;&lt;mfrac&gt;&lt;mn&gt;1&lt;/mn&gt;&lt;mn&gt;2&lt;/mn&gt;&lt;/mfrac&gt;&lt;mo&gt;=&lt;/mo&gt;&lt;mn&gt;6&lt;/mn&gt;&lt;/math&gt;" id="1593" name="Google Shape;1593;p135" title="3 division sign one half equals 6"/>
          <p:cNvPicPr preferRelativeResize="0"/>
          <p:nvPr/>
        </p:nvPicPr>
        <p:blipFill rotWithShape="1">
          <a:blip r:embed="rId4">
            <a:alphaModFix/>
          </a:blip>
          <a:srcRect b="0" l="0" r="12273" t="0"/>
          <a:stretch/>
        </p:blipFill>
        <p:spPr>
          <a:xfrm>
            <a:off x="3409600" y="1490075"/>
            <a:ext cx="1414400" cy="775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4" name="Google Shape;1594;p135"/>
          <p:cNvGraphicFramePr/>
          <p:nvPr/>
        </p:nvGraphicFramePr>
        <p:xfrm>
          <a:off x="876300" y="3927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5" name="Google Shape;1595;p135"/>
          <p:cNvGraphicFramePr/>
          <p:nvPr/>
        </p:nvGraphicFramePr>
        <p:xfrm>
          <a:off x="2084676" y="3927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6" name="Google Shape;1596;p135"/>
          <p:cNvGraphicFramePr/>
          <p:nvPr/>
        </p:nvGraphicFramePr>
        <p:xfrm>
          <a:off x="3293052" y="3927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7" name="Google Shape;1597;p135"/>
          <p:cNvGraphicFramePr/>
          <p:nvPr/>
        </p:nvGraphicFramePr>
        <p:xfrm>
          <a:off x="4501428" y="3927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8" name="Google Shape;1598;p135"/>
          <p:cNvGraphicFramePr/>
          <p:nvPr/>
        </p:nvGraphicFramePr>
        <p:xfrm>
          <a:off x="5698981" y="3927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9" name="Google Shape;1599;p135"/>
          <p:cNvGraphicFramePr/>
          <p:nvPr/>
        </p:nvGraphicFramePr>
        <p:xfrm>
          <a:off x="6907357" y="3927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3\ \div\frac{1}{2}=6&quot;&gt;&lt;mn&gt;3&lt;/mn&gt;&lt;mtext&gt;&lt;/mtext&gt;&lt;mo&gt;÷&lt;/mo&gt;&lt;mfrac&gt;&lt;mn&gt;1&lt;/mn&gt;&lt;mn&gt;2&lt;/mn&gt;&lt;/mfrac&gt;&lt;mo&gt;=&lt;/mo&gt;&lt;mn&gt;6&lt;/mn&gt;&lt;/math&gt;" id="1600" name="Google Shape;1600;p135" title="3 division sign one half equals 6"/>
          <p:cNvPicPr preferRelativeResize="0"/>
          <p:nvPr/>
        </p:nvPicPr>
        <p:blipFill rotWithShape="1">
          <a:blip r:embed="rId4">
            <a:alphaModFix/>
          </a:blip>
          <a:srcRect b="0" l="87726" r="0" t="0"/>
          <a:stretch/>
        </p:blipFill>
        <p:spPr>
          <a:xfrm>
            <a:off x="4824000" y="1490075"/>
            <a:ext cx="197875" cy="7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1" name="Google Shape;1601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602" name="Google Shape;1602;p135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900" y="2415214"/>
            <a:ext cx="146892" cy="46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135"/>
          <p:cNvSpPr txBox="1"/>
          <p:nvPr/>
        </p:nvSpPr>
        <p:spPr>
          <a:xfrm>
            <a:off x="4750800" y="2337625"/>
            <a:ext cx="18909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unit.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8" name="Google Shape;1608;p136"/>
          <p:cNvGraphicFramePr/>
          <p:nvPr/>
        </p:nvGraphicFramePr>
        <p:xfrm>
          <a:off x="876300" y="3125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  <a:gridCol w="402175"/>
              </a:tblGrid>
              <a:tr h="675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9" name="Google Shape;1609;p136"/>
          <p:cNvSpPr txBox="1"/>
          <p:nvPr/>
        </p:nvSpPr>
        <p:spPr>
          <a:xfrm>
            <a:off x="377391" y="826050"/>
            <a:ext cx="788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xample,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10" name="Google Shape;1610;p136"/>
          <p:cNvGraphicFramePr/>
          <p:nvPr/>
        </p:nvGraphicFramePr>
        <p:xfrm>
          <a:off x="876300" y="260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1" name="Google Shape;1611;p136"/>
          <p:cNvSpPr txBox="1"/>
          <p:nvPr/>
        </p:nvSpPr>
        <p:spPr>
          <a:xfrm>
            <a:off x="4041575" y="2032825"/>
            <a:ext cx="2447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2" name="Google Shape;1612;p136"/>
          <p:cNvCxnSpPr/>
          <p:nvPr/>
        </p:nvCxnSpPr>
        <p:spPr>
          <a:xfrm flipH="1">
            <a:off x="5133925" y="1264063"/>
            <a:ext cx="658800" cy="160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3" name="Google Shape;1613;p136"/>
          <p:cNvCxnSpPr/>
          <p:nvPr/>
        </p:nvCxnSpPr>
        <p:spPr>
          <a:xfrm rot="10800000">
            <a:off x="4440000" y="1797000"/>
            <a:ext cx="310800" cy="282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4" name="Google Shape;1614;p136"/>
          <p:cNvSpPr txBox="1"/>
          <p:nvPr/>
        </p:nvSpPr>
        <p:spPr>
          <a:xfrm>
            <a:off x="5904775" y="1001775"/>
            <a:ext cx="29151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15" name="Google Shape;1615;p136" title="6 division sign two thirds equals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300" y="1034624"/>
            <a:ext cx="1759798" cy="849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6" name="Google Shape;1616;p136"/>
          <p:cNvGrpSpPr/>
          <p:nvPr/>
        </p:nvGrpSpPr>
        <p:grpSpPr>
          <a:xfrm>
            <a:off x="997550" y="3263300"/>
            <a:ext cx="6916025" cy="454100"/>
            <a:chOff x="997550" y="3263300"/>
            <a:chExt cx="6916025" cy="454100"/>
          </a:xfrm>
        </p:grpSpPr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17" name="Google Shape;1617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7550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18" name="Google Shape;1618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95948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19" name="Google Shape;1619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05729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0" name="Google Shape;1620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04126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1" name="Google Shape;1621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2524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2" name="Google Shape;1622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12305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3" name="Google Shape;1623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10703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4" name="Google Shape;1624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09101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5" name="Google Shape;1625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18881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6" name="Google Shape;1626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17279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7" name="Google Shape;1627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15677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8" name="Google Shape;1628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25458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29" name="Google Shape;1629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23856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30" name="Google Shape;1630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22254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31" name="Google Shape;1631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32034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32" name="Google Shape;1632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31221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33" name="Google Shape;1633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3419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34" name="Google Shape;1634;p136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63200" y="3263300"/>
              <a:ext cx="150375" cy="4541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35" name="Google Shape;1635;p136"/>
          <p:cNvGraphicFramePr/>
          <p:nvPr/>
        </p:nvGraphicFramePr>
        <p:xfrm>
          <a:off x="876300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36" name="Google Shape;1636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87208" r="0" t="0"/>
          <a:stretch/>
        </p:blipFill>
        <p:spPr>
          <a:xfrm>
            <a:off x="4824000" y="1034625"/>
            <a:ext cx="225100" cy="849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7" name="Google Shape;1637;p136"/>
          <p:cNvGraphicFramePr/>
          <p:nvPr/>
        </p:nvGraphicFramePr>
        <p:xfrm>
          <a:off x="1684020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38" name="Google Shape;1638;p136"/>
          <p:cNvGraphicFramePr/>
          <p:nvPr/>
        </p:nvGraphicFramePr>
        <p:xfrm>
          <a:off x="2484120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39" name="Google Shape;1639;p136"/>
          <p:cNvGraphicFramePr/>
          <p:nvPr/>
        </p:nvGraphicFramePr>
        <p:xfrm>
          <a:off x="3291840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40" name="Google Shape;1640;p136"/>
          <p:cNvGraphicFramePr/>
          <p:nvPr/>
        </p:nvGraphicFramePr>
        <p:xfrm>
          <a:off x="4099560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41" name="Google Shape;1641;p136"/>
          <p:cNvGraphicFramePr/>
          <p:nvPr/>
        </p:nvGraphicFramePr>
        <p:xfrm>
          <a:off x="4901899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42" name="Google Shape;1642;p136"/>
          <p:cNvGraphicFramePr/>
          <p:nvPr/>
        </p:nvGraphicFramePr>
        <p:xfrm>
          <a:off x="5701999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43" name="Google Shape;1643;p136"/>
          <p:cNvGraphicFramePr/>
          <p:nvPr/>
        </p:nvGraphicFramePr>
        <p:xfrm>
          <a:off x="6509719" y="3807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44" name="Google Shape;1644;p136"/>
          <p:cNvGraphicFramePr/>
          <p:nvPr/>
        </p:nvGraphicFramePr>
        <p:xfrm>
          <a:off x="7317431" y="38063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02175"/>
                <a:gridCol w="402175"/>
              </a:tblGrid>
              <a:tr h="6135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45" name="Google Shape;1645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1185550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46" name="Google Shape;1646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1987237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47" name="Google Shape;1647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2797187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48" name="Google Shape;1648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3601087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49" name="Google Shape;1649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4406125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50" name="Google Shape;1650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5210025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51" name="Google Shape;1651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6015062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52" name="Google Shape;1652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7622887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53" name="Google Shape;1653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6812487" y="38559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54" name="Google Shape;1654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6911912" y="965425"/>
            <a:ext cx="185860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655" name="Google Shape;1655;p136" title="6 division sign two thirds equals 9"/>
          <p:cNvPicPr preferRelativeResize="0"/>
          <p:nvPr/>
        </p:nvPicPr>
        <p:blipFill rotWithShape="1">
          <a:blip r:embed="rId3">
            <a:alphaModFix/>
          </a:blip>
          <a:srcRect b="0" l="41605" r="40732" t="0"/>
          <a:stretch/>
        </p:blipFill>
        <p:spPr>
          <a:xfrm>
            <a:off x="5370400" y="2021000"/>
            <a:ext cx="185860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grpSp>
        <p:nvGrpSpPr>
          <p:cNvPr id="1657" name="Google Shape;1657;p136"/>
          <p:cNvGrpSpPr/>
          <p:nvPr/>
        </p:nvGrpSpPr>
        <p:grpSpPr>
          <a:xfrm>
            <a:off x="6090150" y="1001775"/>
            <a:ext cx="3034775" cy="556500"/>
            <a:chOff x="6090150" y="1001775"/>
            <a:chExt cx="3034775" cy="556500"/>
          </a:xfrm>
        </p:grpSpPr>
        <p:sp>
          <p:nvSpPr>
            <p:cNvPr id="1658" name="Google Shape;1658;p136"/>
            <p:cNvSpPr txBox="1"/>
            <p:nvPr/>
          </p:nvSpPr>
          <p:spPr>
            <a:xfrm>
              <a:off x="6556275" y="1001775"/>
              <a:ext cx="442200" cy="5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9" name="Google Shape;1659;p136"/>
            <p:cNvSpPr txBox="1"/>
            <p:nvPr/>
          </p:nvSpPr>
          <p:spPr>
            <a:xfrm>
              <a:off x="7047425" y="1001775"/>
              <a:ext cx="2077500" cy="5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fit into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0" name="Google Shape;1660;p136"/>
            <p:cNvSpPr txBox="1"/>
            <p:nvPr/>
          </p:nvSpPr>
          <p:spPr>
            <a:xfrm>
              <a:off x="6090150" y="1001775"/>
              <a:ext cx="612600" cy="5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lots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1" name="Google Shape;1661;p136"/>
          <p:cNvGrpSpPr/>
          <p:nvPr/>
        </p:nvGrpSpPr>
        <p:grpSpPr>
          <a:xfrm>
            <a:off x="4591975" y="2032825"/>
            <a:ext cx="2202075" cy="556500"/>
            <a:chOff x="4591975" y="2032825"/>
            <a:chExt cx="2202075" cy="556500"/>
          </a:xfrm>
        </p:grpSpPr>
        <p:sp>
          <p:nvSpPr>
            <p:cNvPr id="1662" name="Google Shape;1662;p136"/>
            <p:cNvSpPr txBox="1"/>
            <p:nvPr/>
          </p:nvSpPr>
          <p:spPr>
            <a:xfrm>
              <a:off x="4591975" y="2032825"/>
              <a:ext cx="2049600" cy="5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many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3" name="Google Shape;1663;p136"/>
            <p:cNvSpPr txBox="1"/>
            <p:nvPr/>
          </p:nvSpPr>
          <p:spPr>
            <a:xfrm>
              <a:off x="5556250" y="2032825"/>
              <a:ext cx="1237800" cy="5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fit?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8" name="Google Shape;1668;p137"/>
          <p:cNvGraphicFramePr/>
          <p:nvPr/>
        </p:nvGraphicFramePr>
        <p:xfrm>
          <a:off x="524745" y="409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0000"/>
                <a:gridCol w="382850"/>
              </a:tblGrid>
              <a:tr h="5028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669" name="Google Shape;1669;p137"/>
          <p:cNvGraphicFramePr/>
          <p:nvPr/>
        </p:nvGraphicFramePr>
        <p:xfrm>
          <a:off x="5024681" y="35181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  <a:gridCol w="232675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0" name="Google Shape;1670;p137"/>
          <p:cNvGraphicFramePr/>
          <p:nvPr/>
        </p:nvGraphicFramePr>
        <p:xfrm>
          <a:off x="522961" y="35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88075"/>
                <a:gridCol w="288075"/>
                <a:gridCol w="288075"/>
                <a:gridCol w="288075"/>
                <a:gridCol w="288075"/>
                <a:gridCol w="288075"/>
                <a:gridCol w="288075"/>
                <a:gridCol w="288075"/>
                <a:gridCol w="288075"/>
                <a:gridCol w="288075"/>
                <a:gridCol w="288075"/>
                <a:gridCol w="288075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1" name="Google Shape;1671;p137"/>
          <p:cNvSpPr txBox="1"/>
          <p:nvPr>
            <p:ph idx="1" type="subTitle"/>
          </p:nvPr>
        </p:nvSpPr>
        <p:spPr>
          <a:xfrm>
            <a:off x="4909825" y="733800"/>
            <a:ext cx="3982200" cy="16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answer 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can use a bar model to help.</a:t>
            </a:r>
            <a:endParaRPr/>
          </a:p>
        </p:txBody>
      </p:sp>
      <p:sp>
        <p:nvSpPr>
          <p:cNvPr id="1672" name="Google Shape;1672;p137"/>
          <p:cNvSpPr txBox="1"/>
          <p:nvPr>
            <p:ph idx="1" type="subTitle"/>
          </p:nvPr>
        </p:nvSpPr>
        <p:spPr>
          <a:xfrm>
            <a:off x="337825" y="733800"/>
            <a:ext cx="3982200" cy="16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answer to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can use a bar model to help.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div\frac{2}{3}=6\ \ \ \ \ 3\div\frac{3}{5}=5&quot;&gt;&lt;mn&gt;4&lt;/mn&gt;&lt;mo&gt;÷&lt;/mo&gt;&lt;mfrac&gt;&lt;mn&gt;2&lt;/mn&gt;&lt;mn&gt;3&lt;/mn&gt;&lt;/mfrac&gt;&lt;mo&gt;=&lt;/mo&gt;&lt;mn&gt;6&lt;/mn&gt;&lt;mtext&gt;&lt;/mtext&gt;&lt;mtext&gt;&lt;/mtext&gt;&lt;mtext&gt;&lt;/mtext&gt;&lt;mtext&gt;&lt;/mtext&gt;&lt;mtext&gt;&lt;/mtext&gt;&lt;mn&gt;3&lt;/mn&gt;&lt;mo&gt;÷&lt;/mo&gt;&lt;mfrac&gt;&lt;mn&gt;3&lt;/mn&gt;&lt;mn&gt;5&lt;/mn&gt;&lt;/mfrac&gt;&lt;mo&gt;=&lt;/mo&gt;&lt;mn&gt;5&lt;/mn&gt;&lt;/math&gt;" id="1673" name="Google Shape;1673;p137" title="4 divided by two thirds equals 6 3 divided by three fifths equals 5"/>
          <p:cNvPicPr preferRelativeResize="0"/>
          <p:nvPr/>
        </p:nvPicPr>
        <p:blipFill rotWithShape="1">
          <a:blip r:embed="rId3">
            <a:alphaModFix/>
          </a:blip>
          <a:srcRect b="0" l="0" r="72826" t="0"/>
          <a:stretch/>
        </p:blipFill>
        <p:spPr>
          <a:xfrm>
            <a:off x="1845058" y="1099200"/>
            <a:ext cx="828525" cy="67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div\frac{2}{3}=6\ \ \ \ \ 3\div\frac{3}{5}=5&quot;&gt;&lt;mn&gt;4&lt;/mn&gt;&lt;mo&gt;÷&lt;/mo&gt;&lt;mfrac&gt;&lt;mn&gt;2&lt;/mn&gt;&lt;mn&gt;3&lt;/mn&gt;&lt;/mfrac&gt;&lt;mo&gt;=&lt;/mo&gt;&lt;mn&gt;6&lt;/mn&gt;&lt;mtext&gt;&lt;/mtext&gt;&lt;mtext&gt;&lt;/mtext&gt;&lt;mtext&gt;&lt;/mtext&gt;&lt;mtext&gt;&lt;/mtext&gt;&lt;mtext&gt;&lt;/mtext&gt;&lt;mn&gt;3&lt;/mn&gt;&lt;mo&gt;÷&lt;/mo&gt;&lt;mfrac&gt;&lt;mn&gt;3&lt;/mn&gt;&lt;mn&gt;5&lt;/mn&gt;&lt;/mfrac&gt;&lt;mo&gt;=&lt;/mo&gt;&lt;mn&gt;5&lt;/mn&gt;&lt;/math&gt;" id="1674" name="Google Shape;1674;p137" title="4 divided by two thirds equals 6 3 divided by three fifths equals 5"/>
          <p:cNvPicPr preferRelativeResize="0"/>
          <p:nvPr/>
        </p:nvPicPr>
        <p:blipFill rotWithShape="1">
          <a:blip r:embed="rId3">
            <a:alphaModFix/>
          </a:blip>
          <a:srcRect b="-10023" l="52589" r="15423" t="0"/>
          <a:stretch/>
        </p:blipFill>
        <p:spPr>
          <a:xfrm>
            <a:off x="6208389" y="1025143"/>
            <a:ext cx="975300" cy="74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div\frac{2}{3}=6\ \ \ \ \ 3\div\frac{3}{5}=5&quot;&gt;&lt;mn&gt;4&lt;/mn&gt;&lt;mo&gt;÷&lt;/mo&gt;&lt;mfrac&gt;&lt;mn&gt;2&lt;/mn&gt;&lt;mn&gt;3&lt;/mn&gt;&lt;/mfrac&gt;&lt;mo&gt;=&lt;/mo&gt;&lt;mn&gt;6&lt;/mn&gt;&lt;mtext&gt;&lt;/mtext&gt;&lt;mtext&gt;&lt;/mtext&gt;&lt;mtext&gt;&lt;/mtext&gt;&lt;mtext&gt;&lt;/mtext&gt;&lt;mtext&gt;&lt;/mtext&gt;&lt;mn&gt;3&lt;/mn&gt;&lt;mo&gt;÷&lt;/mo&gt;&lt;mfrac&gt;&lt;mn&gt;3&lt;/mn&gt;&lt;mn&gt;5&lt;/mn&gt;&lt;/mfrac&gt;&lt;mo&gt;=&lt;/mo&gt;&lt;mn&gt;5&lt;/mn&gt;&lt;/math&gt;" id="1675" name="Google Shape;1675;p137" title="4 divided by two thirds equals 6 3 divided by three fifths equals 5"/>
          <p:cNvPicPr preferRelativeResize="0"/>
          <p:nvPr/>
        </p:nvPicPr>
        <p:blipFill rotWithShape="1">
          <a:blip r:embed="rId3">
            <a:alphaModFix/>
          </a:blip>
          <a:srcRect b="0" l="0" r="62204" t="0"/>
          <a:stretch/>
        </p:blipFill>
        <p:spPr>
          <a:xfrm>
            <a:off x="1629422" y="2259700"/>
            <a:ext cx="1152400" cy="67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6" name="Google Shape;1676;p137"/>
          <p:cNvGraphicFramePr/>
          <p:nvPr/>
        </p:nvGraphicFramePr>
        <p:xfrm>
          <a:off x="524275" y="308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864225"/>
                <a:gridCol w="864225"/>
                <a:gridCol w="864225"/>
                <a:gridCol w="864225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77" name="Google Shape;1677;p137"/>
          <p:cNvGrpSpPr/>
          <p:nvPr/>
        </p:nvGrpSpPr>
        <p:grpSpPr>
          <a:xfrm>
            <a:off x="580813" y="3696950"/>
            <a:ext cx="3327774" cy="304225"/>
            <a:chOff x="580813" y="3696950"/>
            <a:chExt cx="3327774" cy="304225"/>
          </a:xfrm>
        </p:grpSpPr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78" name="Google Shape;1678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0813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79" name="Google Shape;1679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4526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0" name="Google Shape;1680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96918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1" name="Google Shape;1681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54912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2" name="Google Shape;1682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58626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3" name="Google Shape;1683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071017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4" name="Google Shape;1684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90911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5" name="Google Shape;1685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94625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6" name="Google Shape;1686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07016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7" name="Google Shape;1687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87870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8" name="Google Shape;1688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91584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689" name="Google Shape;1689;p137" title="one thir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93949" y="3696950"/>
              <a:ext cx="114637" cy="304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4\div\frac{2}{3}=6\ \ \ \ \ 3\div\frac{3}{5}=5&quot;&gt;&lt;mn&gt;4&lt;/mn&gt;&lt;mo&gt;÷&lt;/mo&gt;&lt;mfrac&gt;&lt;mn&gt;2&lt;/mn&gt;&lt;mn&gt;3&lt;/mn&gt;&lt;/mfrac&gt;&lt;mo&gt;=&lt;/mo&gt;&lt;mn&gt;6&lt;/mn&gt;&lt;mtext&gt;&lt;/mtext&gt;&lt;mtext&gt;&lt;/mtext&gt;&lt;mtext&gt;&lt;/mtext&gt;&lt;mtext&gt;&lt;/mtext&gt;&lt;mtext&gt;&lt;/mtext&gt;&lt;mn&gt;3&lt;/mn&gt;&lt;mo&gt;÷&lt;/mo&gt;&lt;mfrac&gt;&lt;mn&gt;3&lt;/mn&gt;&lt;mn&gt;5&lt;/mn&gt;&lt;/mfrac&gt;&lt;mo&gt;=&lt;/mo&gt;&lt;mn&gt;5&lt;/mn&gt;&lt;/math&gt;" id="1690" name="Google Shape;1690;p137" title="4 divided by two thirds equals 6 3 divided by three fifths equals 5"/>
          <p:cNvPicPr preferRelativeResize="0"/>
          <p:nvPr/>
        </p:nvPicPr>
        <p:blipFill rotWithShape="1">
          <a:blip r:embed="rId3">
            <a:alphaModFix/>
          </a:blip>
          <a:srcRect b="0" l="37664" r="53124" t="0"/>
          <a:stretch/>
        </p:blipFill>
        <p:spPr>
          <a:xfrm>
            <a:off x="2746773" y="2259700"/>
            <a:ext cx="280850" cy="67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1" name="Google Shape;1691;p137"/>
          <p:cNvGraphicFramePr/>
          <p:nvPr/>
        </p:nvGraphicFramePr>
        <p:xfrm>
          <a:off x="5025163" y="301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63400"/>
                <a:gridCol w="1163400"/>
                <a:gridCol w="1163400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4\div\frac{2}{3}=6\ \ \ \ \ 3\div\frac{3}{5}=5&quot;&gt;&lt;mn&gt;4&lt;/mn&gt;&lt;mo&gt;÷&lt;/mo&gt;&lt;mfrac&gt;&lt;mn&gt;2&lt;/mn&gt;&lt;mn&gt;3&lt;/mn&gt;&lt;/mfrac&gt;&lt;mo&gt;=&lt;/mo&gt;&lt;mn&gt;6&lt;/mn&gt;&lt;mtext&gt;&lt;/mtext&gt;&lt;mtext&gt;&lt;/mtext&gt;&lt;mtext&gt;&lt;/mtext&gt;&lt;mtext&gt;&lt;/mtext&gt;&lt;mtext&gt;&lt;/mtext&gt;&lt;mn&gt;3&lt;/mn&gt;&lt;mo&gt;÷&lt;/mo&gt;&lt;mfrac&gt;&lt;mn&gt;3&lt;/mn&gt;&lt;mn&gt;5&lt;/mn&gt;&lt;/mfrac&gt;&lt;mo&gt;=&lt;/mo&gt;&lt;mn&gt;5&lt;/mn&gt;&lt;/math&gt;" id="1692" name="Google Shape;1692;p137" title="4 divided by two thirds equals 6 3 divided by three fifths equals 5"/>
          <p:cNvPicPr preferRelativeResize="0"/>
          <p:nvPr/>
        </p:nvPicPr>
        <p:blipFill rotWithShape="1">
          <a:blip r:embed="rId3">
            <a:alphaModFix/>
          </a:blip>
          <a:srcRect b="-10023" l="52589" r="15423" t="0"/>
          <a:stretch/>
        </p:blipFill>
        <p:spPr>
          <a:xfrm>
            <a:off x="6256789" y="2225893"/>
            <a:ext cx="975300" cy="74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3" name="Google Shape;1693;p137"/>
          <p:cNvGrpSpPr/>
          <p:nvPr/>
        </p:nvGrpSpPr>
        <p:grpSpPr>
          <a:xfrm>
            <a:off x="5087265" y="3587432"/>
            <a:ext cx="3367782" cy="368502"/>
            <a:chOff x="5087265" y="3587432"/>
            <a:chExt cx="3367782" cy="368502"/>
          </a:xfrm>
        </p:grpSpPr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694" name="Google Shape;1694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87265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695" name="Google Shape;1695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19631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696" name="Google Shape;1696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51998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697" name="Google Shape;1697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84365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698" name="Google Shape;1698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16731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699" name="Google Shape;1699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49098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0" name="Google Shape;1700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81464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1" name="Google Shape;1701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13831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2" name="Google Shape;1702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46197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3" name="Google Shape;1703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178564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4" name="Google Shape;1704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410931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5" name="Google Shape;1705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643297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6" name="Google Shape;1706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75664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7" name="Google Shape;1707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08030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708" name="Google Shape;1708;p137" title="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340397" y="3587432"/>
              <a:ext cx="114650" cy="3685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4\div\frac{2}{3}=6\ \ \ \ \ 3\div\frac{3}{5}=5&quot;&gt;&lt;mn&gt;4&lt;/mn&gt;&lt;mo&gt;÷&lt;/mo&gt;&lt;mfrac&gt;&lt;mn&gt;2&lt;/mn&gt;&lt;mn&gt;3&lt;/mn&gt;&lt;/mfrac&gt;&lt;mo&gt;=&lt;/mo&gt;&lt;mn&gt;6&lt;/mn&gt;&lt;mtext&gt;&lt;/mtext&gt;&lt;mtext&gt;&lt;/mtext&gt;&lt;mtext&gt;&lt;/mtext&gt;&lt;mtext&gt;&lt;/mtext&gt;&lt;mtext&gt;&lt;/mtext&gt;&lt;mn&gt;3&lt;/mn&gt;&lt;mo&gt;÷&lt;/mo&gt;&lt;mfrac&gt;&lt;mn&gt;3&lt;/mn&gt;&lt;mn&gt;5&lt;/mn&gt;&lt;/mfrac&gt;&lt;mo&gt;=&lt;/mo&gt;&lt;mn&gt;5&lt;/mn&gt;&lt;/math&gt;" id="1709" name="Google Shape;1709;p137" title="4 divided by two thirds equals 6 3 divided by three fifths equals 5"/>
          <p:cNvPicPr preferRelativeResize="0"/>
          <p:nvPr/>
        </p:nvPicPr>
        <p:blipFill rotWithShape="1">
          <a:blip r:embed="rId3">
            <a:alphaModFix/>
          </a:blip>
          <a:srcRect b="-10023" l="84597" r="-3733" t="0"/>
          <a:stretch/>
        </p:blipFill>
        <p:spPr>
          <a:xfrm>
            <a:off x="7232654" y="2179200"/>
            <a:ext cx="583450" cy="7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711" name="Google Shape;1711;p137" title="6 division sign two thirds equals 9"/>
          <p:cNvPicPr preferRelativeResize="0"/>
          <p:nvPr/>
        </p:nvPicPr>
        <p:blipFill rotWithShape="1">
          <a:blip r:embed="rId6">
            <a:alphaModFix/>
          </a:blip>
          <a:srcRect b="0" l="41605" r="40732" t="0"/>
          <a:stretch/>
        </p:blipFill>
        <p:spPr>
          <a:xfrm>
            <a:off x="729913" y="4145657"/>
            <a:ext cx="150567" cy="41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2" name="Google Shape;1712;p137"/>
          <p:cNvGraphicFramePr/>
          <p:nvPr/>
        </p:nvGraphicFramePr>
        <p:xfrm>
          <a:off x="1099274" y="409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0000"/>
                <a:gridCol w="382850"/>
              </a:tblGrid>
              <a:tr h="5028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713" name="Google Shape;1713;p137" title="6 division sign two thirds equals 9"/>
          <p:cNvPicPr preferRelativeResize="0"/>
          <p:nvPr/>
        </p:nvPicPr>
        <p:blipFill rotWithShape="1">
          <a:blip r:embed="rId6">
            <a:alphaModFix/>
          </a:blip>
          <a:srcRect b="0" l="41605" r="40732" t="0"/>
          <a:stretch/>
        </p:blipFill>
        <p:spPr>
          <a:xfrm>
            <a:off x="1305703" y="4145657"/>
            <a:ext cx="150567" cy="41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4" name="Google Shape;1714;p137"/>
          <p:cNvGraphicFramePr/>
          <p:nvPr/>
        </p:nvGraphicFramePr>
        <p:xfrm>
          <a:off x="1673802" y="409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0000"/>
                <a:gridCol w="382850"/>
              </a:tblGrid>
              <a:tr h="5028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715" name="Google Shape;1715;p137" title="6 division sign two thirds equals 9"/>
          <p:cNvPicPr preferRelativeResize="0"/>
          <p:nvPr/>
        </p:nvPicPr>
        <p:blipFill rotWithShape="1">
          <a:blip r:embed="rId6">
            <a:alphaModFix/>
          </a:blip>
          <a:srcRect b="0" l="41605" r="40732" t="0"/>
          <a:stretch/>
        </p:blipFill>
        <p:spPr>
          <a:xfrm>
            <a:off x="1881493" y="4145657"/>
            <a:ext cx="150567" cy="41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6" name="Google Shape;1716;p137"/>
          <p:cNvGraphicFramePr/>
          <p:nvPr/>
        </p:nvGraphicFramePr>
        <p:xfrm>
          <a:off x="3397387" y="409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0000"/>
                <a:gridCol w="382850"/>
              </a:tblGrid>
              <a:tr h="5028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717" name="Google Shape;1717;p137" title="6 division sign two thirds equals 9"/>
          <p:cNvPicPr preferRelativeResize="0"/>
          <p:nvPr/>
        </p:nvPicPr>
        <p:blipFill rotWithShape="1">
          <a:blip r:embed="rId6">
            <a:alphaModFix/>
          </a:blip>
          <a:srcRect b="0" l="41605" r="40732" t="0"/>
          <a:stretch/>
        </p:blipFill>
        <p:spPr>
          <a:xfrm>
            <a:off x="3608863" y="4145657"/>
            <a:ext cx="150567" cy="41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8" name="Google Shape;1718;p137"/>
          <p:cNvGraphicFramePr/>
          <p:nvPr/>
        </p:nvGraphicFramePr>
        <p:xfrm>
          <a:off x="2822859" y="409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0000"/>
                <a:gridCol w="382850"/>
              </a:tblGrid>
              <a:tr h="5028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719" name="Google Shape;1719;p137" title="6 division sign two thirds equals 9"/>
          <p:cNvPicPr preferRelativeResize="0"/>
          <p:nvPr/>
        </p:nvPicPr>
        <p:blipFill rotWithShape="1">
          <a:blip r:embed="rId6">
            <a:alphaModFix/>
          </a:blip>
          <a:srcRect b="0" l="41605" r="40732" t="0"/>
          <a:stretch/>
        </p:blipFill>
        <p:spPr>
          <a:xfrm>
            <a:off x="3033073" y="4145657"/>
            <a:ext cx="150567" cy="41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0" name="Google Shape;1720;p137"/>
          <p:cNvGraphicFramePr/>
          <p:nvPr/>
        </p:nvGraphicFramePr>
        <p:xfrm>
          <a:off x="2248330" y="409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0000"/>
                <a:gridCol w="382850"/>
              </a:tblGrid>
              <a:tr h="5028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2}{3}=9&quot;&gt;&lt;mn&gt;6&lt;/mn&gt;&lt;mtext&gt;&lt;/mtext&gt;&lt;mo&gt;÷&lt;/mo&gt;&lt;mfrac&gt;&lt;mn&gt;2&lt;/mn&gt;&lt;mn&gt;3&lt;/mn&gt;&lt;/mfrac&gt;&lt;mo&gt;=&lt;/mo&gt;&lt;mn&gt;9&lt;/mn&gt;&lt;/math&gt;" id="1721" name="Google Shape;1721;p137" title="6 division sign two thirds equals 9"/>
          <p:cNvPicPr preferRelativeResize="0"/>
          <p:nvPr/>
        </p:nvPicPr>
        <p:blipFill rotWithShape="1">
          <a:blip r:embed="rId6">
            <a:alphaModFix/>
          </a:blip>
          <a:srcRect b="0" l="41605" r="40732" t="0"/>
          <a:stretch/>
        </p:blipFill>
        <p:spPr>
          <a:xfrm>
            <a:off x="2457283" y="4145657"/>
            <a:ext cx="150567" cy="41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2" name="Google Shape;1722;p137"/>
          <p:cNvGraphicFramePr/>
          <p:nvPr/>
        </p:nvGraphicFramePr>
        <p:xfrm>
          <a:off x="5026404" y="402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38400"/>
                <a:gridCol w="456400"/>
              </a:tblGrid>
              <a:tr h="5726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723" name="Google Shape;1723;p137"/>
          <p:cNvGraphicFramePr/>
          <p:nvPr/>
        </p:nvGraphicFramePr>
        <p:xfrm>
          <a:off x="7817079" y="402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38400"/>
                <a:gridCol w="456400"/>
              </a:tblGrid>
              <a:tr h="5726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724" name="Google Shape;1724;p137"/>
          <p:cNvGraphicFramePr/>
          <p:nvPr/>
        </p:nvGraphicFramePr>
        <p:xfrm>
          <a:off x="7119411" y="402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38400"/>
                <a:gridCol w="456400"/>
              </a:tblGrid>
              <a:tr h="5726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725" name="Google Shape;1725;p137"/>
          <p:cNvGraphicFramePr/>
          <p:nvPr/>
        </p:nvGraphicFramePr>
        <p:xfrm>
          <a:off x="6421742" y="402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38400"/>
                <a:gridCol w="456400"/>
              </a:tblGrid>
              <a:tr h="5726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726" name="Google Shape;1726;p137"/>
          <p:cNvGraphicFramePr/>
          <p:nvPr/>
        </p:nvGraphicFramePr>
        <p:xfrm>
          <a:off x="5724073" y="402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38400"/>
                <a:gridCol w="456400"/>
              </a:tblGrid>
              <a:tr h="5726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727" name="Google Shape;1727;p137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9800" y="4094025"/>
            <a:ext cx="128009" cy="41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728" name="Google Shape;1728;p137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00500" y="4094025"/>
            <a:ext cx="128009" cy="41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729" name="Google Shape;1729;p137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7475" y="4094025"/>
            <a:ext cx="128009" cy="41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730" name="Google Shape;1730;p137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5150" y="4094025"/>
            <a:ext cx="128009" cy="41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731" name="Google Shape;1731;p137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2825" y="4094025"/>
            <a:ext cx="128009" cy="4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38"/>
          <p:cNvSpPr txBox="1"/>
          <p:nvPr/>
        </p:nvSpPr>
        <p:spPr>
          <a:xfrm>
            <a:off x="324000" y="666300"/>
            <a:ext cx="8561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bar models is a good way to see how the division by fractions works.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if we get bigger numbers it becomes difficult with bar models.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38"/>
          <p:cNvSpPr txBox="1"/>
          <p:nvPr/>
        </p:nvSpPr>
        <p:spPr>
          <a:xfrm>
            <a:off x="324000" y="3231300"/>
            <a:ext cx="9443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quickly work out division by fractions without too.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38"/>
          <p:cNvSpPr txBox="1"/>
          <p:nvPr/>
        </p:nvSpPr>
        <p:spPr>
          <a:xfrm>
            <a:off x="324000" y="2056200"/>
            <a:ext cx="203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4\ \div\frac{3}{5}&quot;&gt;&lt;mn&gt;24&lt;/mn&gt;&lt;mtext&gt;&lt;/mtext&gt;&lt;mo&gt;÷&lt;/mo&gt;&lt;mfrac&gt;&lt;mn&gt;3&lt;/mn&gt;&lt;mn&gt;5&lt;/mn&gt;&lt;/mfrac&gt;&lt;/math&gt;" id="1739" name="Google Shape;1739;p138" title="24 division sign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675" y="2103622"/>
            <a:ext cx="1353200" cy="9416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5" name="Google Shape;1745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7200" y="2325600"/>
            <a:ext cx="4697999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39"/>
          <p:cNvSpPr txBox="1"/>
          <p:nvPr/>
        </p:nvSpPr>
        <p:spPr>
          <a:xfrm>
            <a:off x="324000" y="759300"/>
            <a:ext cx="84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look at another example to try to find an efficient method.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7" name="Google Shape;1747;p139"/>
          <p:cNvGraphicFramePr/>
          <p:nvPr/>
        </p:nvGraphicFramePr>
        <p:xfrm>
          <a:off x="4056925" y="16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782700"/>
                <a:gridCol w="782700"/>
                <a:gridCol w="782700"/>
                <a:gridCol w="782700"/>
                <a:gridCol w="782700"/>
                <a:gridCol w="782700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48" name="Google Shape;1748;p139" title="6 division sign 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725" y="1333500"/>
            <a:ext cx="873125" cy="73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1750" name="Google Shape;1750;p139"/>
          <p:cNvSpPr txBox="1"/>
          <p:nvPr/>
        </p:nvSpPr>
        <p:spPr>
          <a:xfrm>
            <a:off x="324000" y="2412775"/>
            <a:ext cx="343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Showing the fifths: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39"/>
          <p:cNvSpPr txBox="1"/>
          <p:nvPr/>
        </p:nvSpPr>
        <p:spPr>
          <a:xfrm>
            <a:off x="324000" y="3011700"/>
            <a:ext cx="84960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fifths are there?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can you identify how many fifths you have in the whole number without drawing the bar model?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39"/>
          <p:cNvSpPr txBox="1"/>
          <p:nvPr/>
        </p:nvSpPr>
        <p:spPr>
          <a:xfrm>
            <a:off x="4020275" y="2926325"/>
            <a:ext cx="3399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30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3" name="Google Shape;1753;p139"/>
          <p:cNvSpPr txBox="1"/>
          <p:nvPr/>
        </p:nvSpPr>
        <p:spPr>
          <a:xfrm>
            <a:off x="324000" y="4235775"/>
            <a:ext cx="8496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Multiply the denominator of the divisor by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whole number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54" name="Google Shape;1754;p139"/>
          <p:cNvGraphicFramePr/>
          <p:nvPr/>
        </p:nvGraphicFramePr>
        <p:xfrm>
          <a:off x="4056925" y="16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0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59" name="Google Shape;1759;p140" title="6 division sign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988" y="1330648"/>
            <a:ext cx="873125" cy="73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9958B4}{6\ \ \ \frac{ }{5}}&quot;&gt;&lt;mstyle mathcolor=&quot;#9958B4&quot;&gt;&lt;mn&gt;6&lt;/mn&gt;&lt;mtext&gt;&lt;/mtext&gt;&lt;mtext&gt;&lt;/mtext&gt;&lt;mtext&gt;&lt;/mtext&gt;&lt;mfrac&gt;&lt;mrow/&gt;&lt;mn&gt;5&lt;/mn&gt;&lt;/mfrac&gt;&lt;/mstyle&gt;&lt;/math&gt;" id="1760" name="Google Shape;1760;p140" title="6 the fraction with numerator and denominator 5"/>
          <p:cNvPicPr preferRelativeResize="0"/>
          <p:nvPr/>
        </p:nvPicPr>
        <p:blipFill rotWithShape="1">
          <a:blip r:embed="rId4">
            <a:alphaModFix/>
          </a:blip>
          <a:srcRect b="0" l="0" r="72096" t="0"/>
          <a:stretch/>
        </p:blipFill>
        <p:spPr>
          <a:xfrm>
            <a:off x="1601000" y="1554873"/>
            <a:ext cx="195475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9958B4}{6\ \ \ \frac{ }{5}}&quot;&gt;&lt;mstyle mathcolor=&quot;#9958B4&quot;&gt;&lt;mn&gt;6&lt;/mn&gt;&lt;mtext&gt;&lt;/mtext&gt;&lt;mtext&gt;&lt;/mtext&gt;&lt;mtext&gt;&lt;/mtext&gt;&lt;mfrac&gt;&lt;mrow/&gt;&lt;mn&gt;5&lt;/mn&gt;&lt;/mfrac&gt;&lt;/mstyle&gt;&lt;/math&gt;" id="1761" name="Google Shape;1761;p140" title="6 the fraction with numerator and denominator 5"/>
          <p:cNvPicPr preferRelativeResize="0"/>
          <p:nvPr/>
        </p:nvPicPr>
        <p:blipFill rotWithShape="1">
          <a:blip r:embed="rId4">
            <a:alphaModFix/>
          </a:blip>
          <a:srcRect b="0" l="0" r="72096" t="0"/>
          <a:stretch/>
        </p:blipFill>
        <p:spPr>
          <a:xfrm>
            <a:off x="1601000" y="1570574"/>
            <a:ext cx="195475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9958B4}{6\ \ \ \frac{ }{5}}&quot;&gt;&lt;mstyle mathcolor=&quot;#9958B4&quot;&gt;&lt;mn&gt;6&lt;/mn&gt;&lt;mtext&gt;&lt;/mtext&gt;&lt;mtext&gt;&lt;/mtext&gt;&lt;mtext&gt;&lt;/mtext&gt;&lt;mfrac&gt;&lt;mrow/&gt;&lt;mn&gt;5&lt;/mn&gt;&lt;/mfrac&gt;&lt;/mstyle&gt;&lt;/math&gt;" id="1762" name="Google Shape;1762;p140" title="6 the fraction with numerator and denominator 5"/>
          <p:cNvPicPr preferRelativeResize="0"/>
          <p:nvPr/>
        </p:nvPicPr>
        <p:blipFill rotWithShape="1">
          <a:blip r:embed="rId4">
            <a:alphaModFix/>
          </a:blip>
          <a:srcRect b="0" l="0" r="72096" t="0"/>
          <a:stretch/>
        </p:blipFill>
        <p:spPr>
          <a:xfrm>
            <a:off x="1606234" y="1565340"/>
            <a:ext cx="195475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9958B4}{6\ \ \ \frac{ }{5}}&quot;&gt;&lt;mstyle mathcolor=&quot;#9958B4&quot;&gt;&lt;mn&gt;6&lt;/mn&gt;&lt;mtext&gt;&lt;/mtext&gt;&lt;mtext&gt;&lt;/mtext&gt;&lt;mtext&gt;&lt;/mtext&gt;&lt;mfrac&gt;&lt;mrow/&gt;&lt;mn&gt;5&lt;/mn&gt;&lt;/mfrac&gt;&lt;/mstyle&gt;&lt;/math&gt;" id="1763" name="Google Shape;1763;p140" title="6 the fraction with numerator and denominator 5"/>
          <p:cNvPicPr preferRelativeResize="0"/>
          <p:nvPr/>
        </p:nvPicPr>
        <p:blipFill rotWithShape="1">
          <a:blip r:embed="rId4">
            <a:alphaModFix/>
          </a:blip>
          <a:srcRect b="0" l="0" r="72096" t="0"/>
          <a:stretch/>
        </p:blipFill>
        <p:spPr>
          <a:xfrm>
            <a:off x="1595766" y="1568271"/>
            <a:ext cx="195475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9958B4}{6\ \ \ \frac{ }{5}}&quot;&gt;&lt;mstyle mathcolor=&quot;#9958B4&quot;&gt;&lt;mn&gt;6&lt;/mn&gt;&lt;mtext&gt;&lt;/mtext&gt;&lt;mtext&gt;&lt;/mtext&gt;&lt;mtext&gt;&lt;/mtext&gt;&lt;mfrac&gt;&lt;mrow/&gt;&lt;mn&gt;5&lt;/mn&gt;&lt;/mfrac&gt;&lt;/mstyle&gt;&lt;/math&gt;" id="1764" name="Google Shape;1764;p140" title="6 the fraction with numerator and denominator 5"/>
          <p:cNvPicPr preferRelativeResize="0"/>
          <p:nvPr/>
        </p:nvPicPr>
        <p:blipFill rotWithShape="1">
          <a:blip r:embed="rId4">
            <a:alphaModFix/>
          </a:blip>
          <a:srcRect b="-40709" l="72093" r="2" t="40710"/>
          <a:stretch/>
        </p:blipFill>
        <p:spPr>
          <a:xfrm>
            <a:off x="2273408" y="1773346"/>
            <a:ext cx="195475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9958B4}{6\ \ \ \frac{ }{5}}&quot;&gt;&lt;mstyle mathcolor=&quot;#9958B4&quot;&gt;&lt;mn&gt;6&lt;/mn&gt;&lt;mtext&gt;&lt;/mtext&gt;&lt;mtext&gt;&lt;/mtext&gt;&lt;mtext&gt;&lt;/mtext&gt;&lt;mfrac&gt;&lt;mrow/&gt;&lt;mn&gt;5&lt;/mn&gt;&lt;/mfrac&gt;&lt;/mstyle&gt;&lt;/math&gt;" id="1765" name="Google Shape;1765;p140" title="6 the fraction with numerator and denominator 5"/>
          <p:cNvPicPr preferRelativeResize="0"/>
          <p:nvPr/>
        </p:nvPicPr>
        <p:blipFill rotWithShape="1">
          <a:blip r:embed="rId4">
            <a:alphaModFix/>
          </a:blip>
          <a:srcRect b="-40709" l="72093" r="2" t="40710"/>
          <a:stretch/>
        </p:blipFill>
        <p:spPr>
          <a:xfrm>
            <a:off x="2289109" y="1768112"/>
            <a:ext cx="195475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9958B4}{6\ \ \ \frac{ }{5}}&quot;&gt;&lt;mstyle mathcolor=&quot;#9958B4&quot;&gt;&lt;mn&gt;6&lt;/mn&gt;&lt;mtext&gt;&lt;/mtext&gt;&lt;mtext&gt;&lt;/mtext&gt;&lt;mtext&gt;&lt;/mtext&gt;&lt;mfrac&gt;&lt;mrow/&gt;&lt;mn&gt;5&lt;/mn&gt;&lt;/mfrac&gt;&lt;/mstyle&gt;&lt;/math&gt;" id="1766" name="Google Shape;1766;p140" title="6 the fraction with numerator and denominator 5"/>
          <p:cNvPicPr preferRelativeResize="0"/>
          <p:nvPr/>
        </p:nvPicPr>
        <p:blipFill rotWithShape="1">
          <a:blip r:embed="rId4">
            <a:alphaModFix/>
          </a:blip>
          <a:srcRect b="-40709" l="72093" r="2" t="40710"/>
          <a:stretch/>
        </p:blipFill>
        <p:spPr>
          <a:xfrm>
            <a:off x="2265244" y="1770415"/>
            <a:ext cx="195475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40"/>
          <p:cNvSpPr txBox="1"/>
          <p:nvPr/>
        </p:nvSpPr>
        <p:spPr>
          <a:xfrm>
            <a:off x="321263" y="2302100"/>
            <a:ext cx="3432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9958B4"/>
                </a:solidFill>
                <a:latin typeface="Lexend"/>
                <a:ea typeface="Lexend"/>
                <a:cs typeface="Lexend"/>
                <a:sym typeface="Lexend"/>
              </a:rPr>
              <a:t>6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100">
                <a:solidFill>
                  <a:srgbClr val="9958B4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30, so we have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5}&quot;&gt;&lt;mfrac&gt;&lt;mn&gt;30&lt;/mn&gt;&lt;mn&gt;5&lt;/mn&gt;&lt;/mfrac&gt;&lt;/math&gt;" id="1768" name="Google Shape;1768;p140" title="30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1825" y="2302101"/>
            <a:ext cx="336294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1770" name="Google Shape;1770;p140"/>
          <p:cNvSpPr txBox="1"/>
          <p:nvPr/>
        </p:nvSpPr>
        <p:spPr>
          <a:xfrm>
            <a:off x="324000" y="759300"/>
            <a:ext cx="84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look at another example to try to find an efficient method.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1" name="Google Shape;1771;p140"/>
          <p:cNvGraphicFramePr/>
          <p:nvPr/>
        </p:nvGraphicFramePr>
        <p:xfrm>
          <a:off x="4056925" y="16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782700"/>
                <a:gridCol w="782700"/>
                <a:gridCol w="782700"/>
                <a:gridCol w="782700"/>
                <a:gridCol w="782700"/>
                <a:gridCol w="782700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72" name="Google Shape;1772;p1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7200" y="2325600"/>
            <a:ext cx="4697999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1778" name="Google Shape;1778;p141"/>
          <p:cNvSpPr txBox="1"/>
          <p:nvPr/>
        </p:nvSpPr>
        <p:spPr>
          <a:xfrm>
            <a:off x="324000" y="759300"/>
            <a:ext cx="84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look at another example to try to find an efficient method.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79" name="Google Shape;1779;p141" title="6 division sign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725" y="1333500"/>
            <a:ext cx="873125" cy="732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0" name="Google Shape;1780;p141"/>
          <p:cNvGraphicFramePr/>
          <p:nvPr/>
        </p:nvGraphicFramePr>
        <p:xfrm>
          <a:off x="4056925" y="16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782700"/>
                <a:gridCol w="782700"/>
                <a:gridCol w="782700"/>
                <a:gridCol w="782700"/>
                <a:gridCol w="782700"/>
                <a:gridCol w="782700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1" name="Google Shape;1781;p141"/>
          <p:cNvGraphicFramePr/>
          <p:nvPr/>
        </p:nvGraphicFramePr>
        <p:xfrm>
          <a:off x="40569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2" name="Google Shape;1782;p141"/>
          <p:cNvGraphicFramePr/>
          <p:nvPr/>
        </p:nvGraphicFramePr>
        <p:xfrm>
          <a:off x="45265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3" name="Google Shape;1783;p141"/>
          <p:cNvGraphicFramePr/>
          <p:nvPr/>
        </p:nvGraphicFramePr>
        <p:xfrm>
          <a:off x="49962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4" name="Google Shape;1784;p141"/>
          <p:cNvGraphicFramePr/>
          <p:nvPr/>
        </p:nvGraphicFramePr>
        <p:xfrm>
          <a:off x="54658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5" name="Google Shape;1785;p141"/>
          <p:cNvGraphicFramePr/>
          <p:nvPr/>
        </p:nvGraphicFramePr>
        <p:xfrm>
          <a:off x="59355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6" name="Google Shape;1786;p141"/>
          <p:cNvGraphicFramePr/>
          <p:nvPr/>
        </p:nvGraphicFramePr>
        <p:xfrm>
          <a:off x="82837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7" name="Google Shape;1787;p141"/>
          <p:cNvGraphicFramePr/>
          <p:nvPr/>
        </p:nvGraphicFramePr>
        <p:xfrm>
          <a:off x="64051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8" name="Google Shape;1788;p141"/>
          <p:cNvGraphicFramePr/>
          <p:nvPr/>
        </p:nvGraphicFramePr>
        <p:xfrm>
          <a:off x="68748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9" name="Google Shape;1789;p141"/>
          <p:cNvGraphicFramePr/>
          <p:nvPr/>
        </p:nvGraphicFramePr>
        <p:xfrm>
          <a:off x="73444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0" name="Google Shape;1790;p141"/>
          <p:cNvGraphicFramePr/>
          <p:nvPr/>
        </p:nvGraphicFramePr>
        <p:xfrm>
          <a:off x="78141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1" name="Google Shape;1791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4180537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2" name="Google Shape;1792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4650164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3" name="Google Shape;1793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5119790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4" name="Google Shape;1794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5589416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5" name="Google Shape;1795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6059043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6" name="Google Shape;1796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6528669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7" name="Google Shape;1797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6998296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8" name="Google Shape;1798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7467922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799" name="Google Shape;1799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7937548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00" name="Google Shape;1800;p141" title="6 division sign three fifths"/>
          <p:cNvPicPr preferRelativeResize="0"/>
          <p:nvPr/>
        </p:nvPicPr>
        <p:blipFill rotWithShape="1">
          <a:blip r:embed="rId3">
            <a:alphaModFix/>
          </a:blip>
          <a:srcRect b="0" l="63206" r="0" t="0"/>
          <a:stretch/>
        </p:blipFill>
        <p:spPr>
          <a:xfrm>
            <a:off x="8407175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200" y="2325600"/>
            <a:ext cx="4697999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719900"/>
            <a:ext cx="6354750" cy="6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3" name="Google Shape;1803;p1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200" y="2328425"/>
            <a:ext cx="3251549" cy="6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0}{5}\div\frac{3}{5}\ =\ 10&quot;&gt;&lt;mfrac&gt;&lt;mn&gt;30&lt;/mn&gt;&lt;mn&gt;5&lt;/mn&gt;&lt;/mfrac&gt;&lt;mo&gt;÷&lt;/mo&gt;&lt;mfrac&gt;&lt;mn&gt;3&lt;/mn&gt;&lt;mn&gt;5&lt;/mn&gt;&lt;/mfrac&gt;&lt;mtext&gt;&lt;/mtext&gt;&lt;mo&gt;=&lt;/mo&gt;&lt;mtext&gt;&lt;/mtext&gt;&lt;mn&gt;10&lt;/mn&gt;&lt;/math&gt;" id="1809" name="Google Shape;1809;p142" title="30 over 5 divided by three fifths equals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125" y="3780000"/>
            <a:ext cx="2049935" cy="73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142"/>
          <p:cNvSpPr txBox="1"/>
          <p:nvPr/>
        </p:nvSpPr>
        <p:spPr>
          <a:xfrm>
            <a:off x="415188" y="2302100"/>
            <a:ext cx="3432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5 = 30, so we have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42"/>
          <p:cNvSpPr txBox="1"/>
          <p:nvPr/>
        </p:nvSpPr>
        <p:spPr>
          <a:xfrm>
            <a:off x="324000" y="759300"/>
            <a:ext cx="84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look at another example to try to find an efficient method.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12" name="Google Shape;1812;p142" title="6 division sign 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725" y="1333500"/>
            <a:ext cx="873125" cy="732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3" name="Google Shape;1813;p142"/>
          <p:cNvGraphicFramePr/>
          <p:nvPr/>
        </p:nvGraphicFramePr>
        <p:xfrm>
          <a:off x="4056925" y="16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782700"/>
                <a:gridCol w="782700"/>
                <a:gridCol w="782700"/>
                <a:gridCol w="782700"/>
                <a:gridCol w="782700"/>
                <a:gridCol w="782700"/>
              </a:tblGrid>
              <a:tr h="32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14" name="Google Shape;1814;p142"/>
          <p:cNvGraphicFramePr/>
          <p:nvPr/>
        </p:nvGraphicFramePr>
        <p:xfrm>
          <a:off x="40569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5" name="Google Shape;1815;p142"/>
          <p:cNvGraphicFramePr/>
          <p:nvPr/>
        </p:nvGraphicFramePr>
        <p:xfrm>
          <a:off x="45265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6" name="Google Shape;1816;p142"/>
          <p:cNvGraphicFramePr/>
          <p:nvPr/>
        </p:nvGraphicFramePr>
        <p:xfrm>
          <a:off x="49962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7" name="Google Shape;1817;p142"/>
          <p:cNvGraphicFramePr/>
          <p:nvPr/>
        </p:nvGraphicFramePr>
        <p:xfrm>
          <a:off x="54658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8" name="Google Shape;1818;p142"/>
          <p:cNvGraphicFramePr/>
          <p:nvPr/>
        </p:nvGraphicFramePr>
        <p:xfrm>
          <a:off x="59355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9" name="Google Shape;1819;p142"/>
          <p:cNvGraphicFramePr/>
          <p:nvPr/>
        </p:nvGraphicFramePr>
        <p:xfrm>
          <a:off x="82837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0" name="Google Shape;1820;p142"/>
          <p:cNvGraphicFramePr/>
          <p:nvPr/>
        </p:nvGraphicFramePr>
        <p:xfrm>
          <a:off x="64051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1" name="Google Shape;1821;p142"/>
          <p:cNvGraphicFramePr/>
          <p:nvPr/>
        </p:nvGraphicFramePr>
        <p:xfrm>
          <a:off x="68748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2" name="Google Shape;1822;p142"/>
          <p:cNvGraphicFramePr/>
          <p:nvPr/>
        </p:nvGraphicFramePr>
        <p:xfrm>
          <a:off x="734447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3" name="Google Shape;1823;p142"/>
          <p:cNvGraphicFramePr/>
          <p:nvPr/>
        </p:nvGraphicFramePr>
        <p:xfrm>
          <a:off x="7814125" y="29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696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24" name="Google Shape;1824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4180537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25" name="Google Shape;1825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4650164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26" name="Google Shape;1826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5119790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27" name="Google Shape;1827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5589416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28" name="Google Shape;1828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6059043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29" name="Google Shape;1829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6528669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30" name="Google Shape;1830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6998296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31" name="Google Shape;1831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7467922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32" name="Google Shape;1832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7937548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5}&quot;&gt;&lt;mn&gt;6&lt;/mn&gt;&lt;mtext&gt;&lt;/mtext&gt;&lt;mo&gt;÷&lt;/mo&gt;&lt;mfrac&gt;&lt;mn&gt;3&lt;/mn&gt;&lt;mn&gt;5&lt;/mn&gt;&lt;/mfrac&gt;&lt;/math&gt;" id="1833" name="Google Shape;1833;p142" title="6 division sign three fifths"/>
          <p:cNvPicPr preferRelativeResize="0"/>
          <p:nvPr/>
        </p:nvPicPr>
        <p:blipFill rotWithShape="1">
          <a:blip r:embed="rId4">
            <a:alphaModFix/>
          </a:blip>
          <a:srcRect b="0" l="63206" r="0" t="0"/>
          <a:stretch/>
        </p:blipFill>
        <p:spPr>
          <a:xfrm>
            <a:off x="8407175" y="3032273"/>
            <a:ext cx="222863" cy="50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5}&quot;&gt;&lt;mfrac&gt;&lt;mn&gt;30&lt;/mn&gt;&lt;mn&gt;5&lt;/mn&gt;&lt;/mfrac&gt;&lt;/math&gt;" id="1834" name="Google Shape;1834;p142" title="30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1825" y="2302101"/>
            <a:ext cx="336294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1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7200" y="2325600"/>
            <a:ext cx="4697999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1841" name="Google Shape;1841;p143"/>
          <p:cNvSpPr txBox="1"/>
          <p:nvPr/>
        </p:nvSpPr>
        <p:spPr>
          <a:xfrm>
            <a:off x="415188" y="2302100"/>
            <a:ext cx="3432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= 42, so we have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43"/>
          <p:cNvSpPr txBox="1"/>
          <p:nvPr/>
        </p:nvSpPr>
        <p:spPr>
          <a:xfrm>
            <a:off x="324000" y="759300"/>
            <a:ext cx="849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to work out this calculation efficiently: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4\ \div\frac{2}{3}&quot;&gt;&lt;mn&gt;14&lt;/mn&gt;&lt;mtext&gt;&lt;/mtext&gt;&lt;mo&gt;÷&lt;/mo&gt;&lt;mfrac&gt;&lt;mn&gt;2&lt;/mn&gt;&lt;mn&gt;3&lt;/mn&gt;&lt;/mfrac&gt;&lt;/math&gt;" id="1843" name="Google Shape;1843;p143" title="14 division sign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662" y="1253950"/>
            <a:ext cx="1021780" cy="73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2}{3}&quot;&gt;&lt;mfrac&gt;&lt;mn&gt;42&lt;/mn&gt;&lt;mn&gt;3&lt;/mn&gt;&lt;/mfrac&gt;&lt;/math&gt;" id="1844" name="Google Shape;1844;p143" title="42 over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5" y="2264988"/>
            <a:ext cx="333050" cy="613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2}{3}\div\frac{2}{3}\ =\ 21&quot;&gt;&lt;mfrac&gt;&lt;mn&gt;42&lt;/mn&gt;&lt;mn&gt;3&lt;/mn&gt;&lt;/mfrac&gt;&lt;mo&gt;÷&lt;/mo&gt;&lt;mfrac&gt;&lt;mn&gt;2&lt;/mn&gt;&lt;mn&gt;3&lt;/mn&gt;&lt;/mfrac&gt;&lt;mtext&gt;&lt;/mtext&gt;&lt;mo&gt;=&lt;/mo&gt;&lt;mtext&gt;&lt;/mtext&gt;&lt;mn&gt;21&lt;/mn&gt;&lt;/math&gt;" id="1845" name="Google Shape;1845;p143" title="42 over 3 divided by two thirds equals 21"/>
          <p:cNvPicPr preferRelativeResize="0"/>
          <p:nvPr/>
        </p:nvPicPr>
        <p:blipFill rotWithShape="1">
          <a:blip r:embed="rId5">
            <a:alphaModFix/>
          </a:blip>
          <a:srcRect b="0" l="0" r="40444" t="0"/>
          <a:stretch/>
        </p:blipFill>
        <p:spPr>
          <a:xfrm>
            <a:off x="3957645" y="3240000"/>
            <a:ext cx="1205275" cy="73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2}{3}\div\frac{2}{3}\ =\ 21&quot;&gt;&lt;mfrac&gt;&lt;mn&gt;42&lt;/mn&gt;&lt;mn&gt;3&lt;/mn&gt;&lt;/mfrac&gt;&lt;mo&gt;÷&lt;/mo&gt;&lt;mfrac&gt;&lt;mn&gt;2&lt;/mn&gt;&lt;mn&gt;3&lt;/mn&gt;&lt;/mfrac&gt;&lt;mtext&gt;&lt;/mtext&gt;&lt;mo&gt;=&lt;/mo&gt;&lt;mtext&gt;&lt;/mtext&gt;&lt;mn&gt;21&lt;/mn&gt;&lt;/math&gt;" id="1846" name="Google Shape;1846;p143" title="42 over 3 divided by two thirds equals 21"/>
          <p:cNvPicPr preferRelativeResize="0"/>
          <p:nvPr/>
        </p:nvPicPr>
        <p:blipFill rotWithShape="1">
          <a:blip r:embed="rId5">
            <a:alphaModFix/>
          </a:blip>
          <a:srcRect b="0" l="61187" r="0" t="0"/>
          <a:stretch/>
        </p:blipFill>
        <p:spPr>
          <a:xfrm>
            <a:off x="5191459" y="3240000"/>
            <a:ext cx="785450" cy="7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44"/>
          <p:cNvSpPr txBox="1"/>
          <p:nvPr>
            <p:ph idx="1" type="body"/>
          </p:nvPr>
        </p:nvSpPr>
        <p:spPr>
          <a:xfrm>
            <a:off x="324000" y="737938"/>
            <a:ext cx="8237700" cy="16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Work out the answer to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4\ \div\frac{3}{5}&quot;&gt;&lt;mn&gt;24&lt;/mn&gt;&lt;mtext&gt;&lt;/mtext&gt;&lt;mo&gt;÷&lt;/mo&gt;&lt;mfrac&gt;&lt;mn&gt;3&lt;/mn&gt;&lt;mn&gt;5&lt;/mn&gt;&lt;/mfrac&gt;&lt;/math&gt;" id="1852" name="Google Shape;1852;p144" title="24 division sign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5850" y="1338947"/>
            <a:ext cx="1353200" cy="941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\ \div\frac{3}{5}=\ 24\ \times\frac{5}{3}=\ \frac{120}{3}=40&quot;&gt;&lt;mn&gt;24&lt;/mn&gt;&lt;mtext&gt;&lt;/mtext&gt;&lt;mo&gt;÷&lt;/mo&gt;&lt;mfrac&gt;&lt;mn&gt;3&lt;/mn&gt;&lt;mn&gt;5&lt;/mn&gt;&lt;/mfrac&gt;&lt;mo&gt;=&lt;/mo&gt;&lt;mtext&gt;&lt;/mtext&gt;&lt;mn&gt;24&lt;/mn&gt;&lt;mtext&gt;&lt;/mtext&gt;&lt;mo&gt;×&lt;/mo&gt;&lt;mfrac&gt;&lt;mn&gt;5&lt;/mn&gt;&lt;mn&gt;3&lt;/mn&gt;&lt;/mfrac&gt;&lt;mo&gt;=&lt;/mo&gt;&lt;mtext&gt;&lt;/mtext&gt;&lt;mfrac&gt;&lt;mn&gt;120&lt;/mn&gt;&lt;mn&gt;3&lt;/mn&gt;&lt;/mfrac&gt;&lt;mo&gt;=&lt;/mo&gt;&lt;mn&gt;40&lt;/mn&gt;&lt;/math&gt;" id="1853" name="Google Shape;1853;p144" title="24 division sign three fifths equals 24 times five thirds equals 120 over 3 equals 40"/>
          <p:cNvPicPr preferRelativeResize="0"/>
          <p:nvPr/>
        </p:nvPicPr>
        <p:blipFill rotWithShape="1">
          <a:blip r:embed="rId4">
            <a:alphaModFix/>
          </a:blip>
          <a:srcRect b="0" l="24298" r="68346" t="0"/>
          <a:stretch/>
        </p:blipFill>
        <p:spPr>
          <a:xfrm>
            <a:off x="4823999" y="1333425"/>
            <a:ext cx="440225" cy="94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\ \div\frac{3}{5}=\ 24\ \times\frac{5}{3}=\ \frac{120}{3}=40&quot;&gt;&lt;mn&gt;24&lt;/mn&gt;&lt;mtext&gt;&lt;/mtext&gt;&lt;mo&gt;÷&lt;/mo&gt;&lt;mfrac&gt;&lt;mn&gt;3&lt;/mn&gt;&lt;mn&gt;5&lt;/mn&gt;&lt;/mfrac&gt;&lt;mo&gt;=&lt;/mo&gt;&lt;mtext&gt;&lt;/mtext&gt;&lt;mn&gt;24&lt;/mn&gt;&lt;mtext&gt;&lt;/mtext&gt;&lt;mo&gt;×&lt;/mo&gt;&lt;mfrac&gt;&lt;mn&gt;5&lt;/mn&gt;&lt;mn&gt;3&lt;/mn&gt;&lt;/mfrac&gt;&lt;mo&gt;=&lt;/mo&gt;&lt;mtext&gt;&lt;/mtext&gt;&lt;mfrac&gt;&lt;mn&gt;120&lt;/mn&gt;&lt;mn&gt;3&lt;/mn&gt;&lt;/mfrac&gt;&lt;mo&gt;=&lt;/mo&gt;&lt;mn&gt;40&lt;/mn&gt;&lt;/math&gt;" id="1854" name="Google Shape;1854;p144" title="24 division sign three fifths equals 24 times five thirds equals 120 over 3 equals 40"/>
          <p:cNvPicPr preferRelativeResize="0"/>
          <p:nvPr/>
        </p:nvPicPr>
        <p:blipFill rotWithShape="1">
          <a:blip r:embed="rId4">
            <a:alphaModFix/>
          </a:blip>
          <a:srcRect b="-6986" l="84921" r="-8614" t="-6986"/>
          <a:stretch/>
        </p:blipFill>
        <p:spPr>
          <a:xfrm>
            <a:off x="4896900" y="2442925"/>
            <a:ext cx="1418149" cy="10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4\div\frac{3}{5}=\ \frac{120}{5}\div\frac{3}{5}=40&quot;&gt;&lt;mn&gt;24&lt;/mn&gt;&lt;mo&gt;÷&lt;/mo&gt;&lt;mfrac&gt;&lt;mn&gt;3&lt;/mn&gt;&lt;mn&gt;5&lt;/mn&gt;&lt;/mfrac&gt;&lt;mo&gt;=&lt;/mo&gt;&lt;mtext&gt;&lt;/mtext&gt;&lt;mfrac&gt;&lt;mn&gt;120&lt;/mn&gt;&lt;mn&gt;5&lt;/mn&gt;&lt;/mfrac&gt;&lt;mo&gt;÷&lt;/mo&gt;&lt;mfrac&gt;&lt;mn&gt;3&lt;/mn&gt;&lt;mn&gt;5&lt;/mn&gt;&lt;/mfrac&gt;&lt;mo&gt;=&lt;/mo&gt;&lt;mn&gt;40&lt;/mn&gt;&lt;/math&gt;" id="1856" name="Google Shape;1856;p144" title="24 divided by three fifths equals 120 over 5 divided by three fifths equals 40"/>
          <p:cNvPicPr preferRelativeResize="0"/>
          <p:nvPr/>
        </p:nvPicPr>
        <p:blipFill rotWithShape="1">
          <a:blip r:embed="rId5">
            <a:alphaModFix/>
          </a:blip>
          <a:srcRect b="0" l="40862" r="20061" t="0"/>
          <a:stretch/>
        </p:blipFill>
        <p:spPr>
          <a:xfrm>
            <a:off x="5347825" y="1338947"/>
            <a:ext cx="1817942" cy="9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45"/>
          <p:cNvSpPr txBox="1"/>
          <p:nvPr>
            <p:ph idx="1" type="body"/>
          </p:nvPr>
        </p:nvSpPr>
        <p:spPr>
          <a:xfrm>
            <a:off x="324000" y="759300"/>
            <a:ext cx="8237700" cy="5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the bar models to show the division of the following:</a:t>
            </a:r>
            <a:endParaRPr/>
          </a:p>
        </p:txBody>
      </p:sp>
      <p:sp>
        <p:nvSpPr>
          <p:cNvPr id="1862" name="Google Shape;1862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145"/>
          <p:cNvSpPr txBox="1"/>
          <p:nvPr/>
        </p:nvSpPr>
        <p:spPr>
          <a:xfrm>
            <a:off x="248850" y="1415625"/>
            <a:ext cx="61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864" name="Google Shape;1864;p145"/>
          <p:cNvSpPr txBox="1"/>
          <p:nvPr/>
        </p:nvSpPr>
        <p:spPr>
          <a:xfrm>
            <a:off x="3411150" y="1415625"/>
            <a:ext cx="61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865" name="Google Shape;1865;p145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9493" l="40046" r="42753" t="0"/>
          <a:stretch/>
        </p:blipFill>
        <p:spPr>
          <a:xfrm>
            <a:off x="3930825" y="1383363"/>
            <a:ext cx="927724" cy="7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145"/>
          <p:cNvSpPr txBox="1"/>
          <p:nvPr/>
        </p:nvSpPr>
        <p:spPr>
          <a:xfrm>
            <a:off x="5998075" y="1415625"/>
            <a:ext cx="61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867" name="Google Shape;1867;p145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4741" l="74022" r="8777" t="-4751"/>
          <a:stretch/>
        </p:blipFill>
        <p:spPr>
          <a:xfrm>
            <a:off x="6461938" y="1305025"/>
            <a:ext cx="927724" cy="74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div\frac{1}{3}\ =\ 9\ \ &quot;&gt;&lt;mn&gt;3&lt;/mn&gt;&lt;mtext&gt;&lt;/mtext&gt;&lt;mo&gt;÷&lt;/mo&gt;&lt;mfrac&gt;&lt;mn&gt;1&lt;/mn&gt;&lt;mn&gt;3&lt;/mn&gt;&lt;/mfrac&gt;&lt;mtext&gt;&lt;/mtext&gt;&lt;mo&gt;=&lt;/mo&gt;&lt;mtext&gt;&lt;/mtext&gt;&lt;mn&gt;9&lt;/mn&gt;&lt;mtext&gt;&lt;/mtext&gt;&lt;mtext&gt;&lt;/mtext&gt;&lt;/math&gt;" id="1868" name="Google Shape;1868;p145" title="3 division sign one third equals 9"/>
          <p:cNvPicPr preferRelativeResize="0"/>
          <p:nvPr/>
        </p:nvPicPr>
        <p:blipFill rotWithShape="1">
          <a:blip r:embed="rId4">
            <a:alphaModFix/>
          </a:blip>
          <a:srcRect b="0" l="0" r="34409" t="0"/>
          <a:stretch/>
        </p:blipFill>
        <p:spPr>
          <a:xfrm>
            <a:off x="742700" y="1383375"/>
            <a:ext cx="1127525" cy="7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9" name="Google Shape;1869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0844" y="2373972"/>
            <a:ext cx="2841728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0" name="Google Shape;1870;p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3013" y="2373975"/>
            <a:ext cx="230242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1" name="Google Shape;1871;p1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3076" y="2373975"/>
            <a:ext cx="2714525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46"/>
          <p:cNvSpPr/>
          <p:nvPr/>
        </p:nvSpPr>
        <p:spPr>
          <a:xfrm>
            <a:off x="6599346" y="1249870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46"/>
          <p:cNvSpPr/>
          <p:nvPr/>
        </p:nvSpPr>
        <p:spPr>
          <a:xfrm>
            <a:off x="6599346" y="2042207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46"/>
          <p:cNvSpPr/>
          <p:nvPr/>
        </p:nvSpPr>
        <p:spPr>
          <a:xfrm>
            <a:off x="6610121" y="2863282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146"/>
          <p:cNvSpPr/>
          <p:nvPr/>
        </p:nvSpPr>
        <p:spPr>
          <a:xfrm>
            <a:off x="6610121" y="3716041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46"/>
          <p:cNvSpPr/>
          <p:nvPr/>
        </p:nvSpPr>
        <p:spPr>
          <a:xfrm>
            <a:off x="1641025" y="1277325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46"/>
          <p:cNvSpPr/>
          <p:nvPr/>
        </p:nvSpPr>
        <p:spPr>
          <a:xfrm>
            <a:off x="1641025" y="2077898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46"/>
          <p:cNvSpPr/>
          <p:nvPr/>
        </p:nvSpPr>
        <p:spPr>
          <a:xfrm>
            <a:off x="1648439" y="2877167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146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Match the question with the calculation and the answer.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2}{3}\ \ \ \ \ 4\ \times\frac{3}{2}\ \ \ \ \ \ \frac{12}{6}=2&quot;&gt;&lt;mn&gt;4&lt;/mn&gt;&lt;mtext&gt;&lt;/mtext&gt;&lt;mo&gt;÷&lt;/mo&gt;&lt;mfrac&gt;&lt;mn&gt;2&lt;/mn&gt;&lt;mn&gt;3&lt;/mn&gt;&lt;/mfrac&gt;&lt;mtext&gt;&lt;/mtext&gt;&lt;mtext&gt;&lt;/mtext&gt;&lt;mtext&gt;&lt;/mtext&gt;&lt;mtext&gt;&lt;/mtext&gt;&lt;mtext&gt;&lt;/mtext&gt;&lt;mn&gt;4&lt;/mn&gt;&lt;mtext&gt;&lt;/mtext&gt;&lt;mo&gt;×&lt;/mo&gt;&lt;mfrac&gt;&lt;mn&gt;3&lt;/mn&gt;&lt;mn&gt;2&lt;/mn&gt;&lt;/mfrac&gt;&lt;mtext&gt;&lt;/mtext&gt;&lt;mtext&gt;&lt;/mtext&gt;&lt;mtext&gt;&lt;/mtext&gt;&lt;mtext&gt;&lt;/mtext&gt;&lt;mtext&gt;&lt;/mtext&gt;&lt;mtext&gt;&lt;/mtext&gt;&lt;mfrac&gt;&lt;mn&gt;12&lt;/mn&gt;&lt;mn&gt;6&lt;/mn&gt;&lt;/mfrac&gt;&lt;mo&gt;=&lt;/mo&gt;&lt;mn&gt;2&lt;/mn&gt;&lt;/math&gt;" id="1884" name="Google Shape;1884;p146" title="4 division sign two thirds 4 times three halves twelve sixths equals 2"/>
          <p:cNvPicPr preferRelativeResize="0"/>
          <p:nvPr/>
        </p:nvPicPr>
        <p:blipFill rotWithShape="1">
          <a:blip r:embed="rId3">
            <a:alphaModFix/>
          </a:blip>
          <a:srcRect b="0" l="0" r="70530" t="0"/>
          <a:stretch/>
        </p:blipFill>
        <p:spPr>
          <a:xfrm>
            <a:off x="1754108" y="1361692"/>
            <a:ext cx="880611" cy="559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885" name="Google Shape;1885;p146" title="6 division sign three fourths 6 times four thirds 24 over 3 equals 8"/>
          <p:cNvPicPr preferRelativeResize="0"/>
          <p:nvPr/>
        </p:nvPicPr>
        <p:blipFill rotWithShape="1">
          <a:blip r:embed="rId4">
            <a:alphaModFix/>
          </a:blip>
          <a:srcRect b="0" l="0" r="74204" t="0"/>
          <a:stretch/>
        </p:blipFill>
        <p:spPr>
          <a:xfrm>
            <a:off x="1745373" y="2128787"/>
            <a:ext cx="798618" cy="580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886" name="Google Shape;1886;p146" title="12 division sign three fourths 12 times four thirds 48 over 3 equals 16"/>
          <p:cNvPicPr preferRelativeResize="0"/>
          <p:nvPr/>
        </p:nvPicPr>
        <p:blipFill rotWithShape="1">
          <a:blip r:embed="rId5">
            <a:alphaModFix/>
          </a:blip>
          <a:srcRect b="0" l="0" r="74825" t="0"/>
          <a:stretch/>
        </p:blipFill>
        <p:spPr>
          <a:xfrm>
            <a:off x="1672105" y="2926341"/>
            <a:ext cx="880611" cy="580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887" name="Google Shape;1887;p146" title="6 division sign three fourths 6 times four thirds 24 over 3 equals 8"/>
          <p:cNvPicPr preferRelativeResize="0"/>
          <p:nvPr/>
        </p:nvPicPr>
        <p:blipFill rotWithShape="1">
          <a:blip r:embed="rId4">
            <a:alphaModFix/>
          </a:blip>
          <a:srcRect b="-6889" l="93983" r="-43" t="-11482"/>
          <a:stretch/>
        </p:blipFill>
        <p:spPr>
          <a:xfrm>
            <a:off x="6958032" y="2814699"/>
            <a:ext cx="201061" cy="736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888" name="Google Shape;1888;p146" title="12 division sign three fourths 12 times four thirds 48 over 3 equals 16"/>
          <p:cNvPicPr preferRelativeResize="0"/>
          <p:nvPr/>
        </p:nvPicPr>
        <p:blipFill rotWithShape="1">
          <a:blip r:embed="rId5">
            <a:alphaModFix/>
          </a:blip>
          <a:srcRect b="-4241" l="93154" r="-1927" t="-4241"/>
          <a:stretch/>
        </p:blipFill>
        <p:spPr>
          <a:xfrm>
            <a:off x="6947099" y="2062812"/>
            <a:ext cx="328869" cy="6745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146"/>
          <p:cNvSpPr/>
          <p:nvPr/>
        </p:nvSpPr>
        <p:spPr>
          <a:xfrm>
            <a:off x="4108952" y="1257512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46"/>
          <p:cNvSpPr/>
          <p:nvPr/>
        </p:nvSpPr>
        <p:spPr>
          <a:xfrm>
            <a:off x="4109225" y="2060455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2}=6&quot;&gt;&lt;mfrac&gt;&lt;mn&gt;12&lt;/mn&gt;&lt;mn&gt;2&lt;/mn&gt;&lt;/mfrac&gt;&lt;mo&gt;=&lt;/mo&gt;&lt;mn&gt;6&lt;/mn&gt;&lt;/math&gt;" id="1891" name="Google Shape;1891;p146" title="twelve halves equals 6"/>
          <p:cNvPicPr preferRelativeResize="0"/>
          <p:nvPr/>
        </p:nvPicPr>
        <p:blipFill rotWithShape="1">
          <a:blip r:embed="rId6">
            <a:alphaModFix/>
          </a:blip>
          <a:srcRect b="0" l="77579" r="-2" t="0"/>
          <a:stretch/>
        </p:blipFill>
        <p:spPr>
          <a:xfrm>
            <a:off x="6958032" y="3748986"/>
            <a:ext cx="201060" cy="6236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2" name="Google Shape;1892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1893" name="Google Shape;1893;p146"/>
          <p:cNvSpPr/>
          <p:nvPr/>
        </p:nvSpPr>
        <p:spPr>
          <a:xfrm>
            <a:off x="1648439" y="3739125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146"/>
          <p:cNvSpPr/>
          <p:nvPr/>
        </p:nvSpPr>
        <p:spPr>
          <a:xfrm>
            <a:off x="4109225" y="2881190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46"/>
          <p:cNvSpPr/>
          <p:nvPr/>
        </p:nvSpPr>
        <p:spPr>
          <a:xfrm>
            <a:off x="4109225" y="3728123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 \frac{12}{3}\div\frac{2}{3}\ &quot;&gt;&lt;mtext&gt;&lt;/mtext&gt;&lt;mfrac&gt;&lt;mn&gt;12&lt;/mn&gt;&lt;mn&gt;3&lt;/mn&gt;&lt;/mfrac&gt;&lt;mo&gt;÷&lt;/mo&gt;&lt;mfrac&gt;&lt;mn&gt;2&lt;/mn&gt;&lt;mn&gt;3&lt;/mn&gt;&lt;/mfrac&gt;&lt;mtext&gt;&lt;/mtext&gt;&lt;/math&gt;" id="1896" name="Google Shape;1896;p146" title="twelve thirds divided by two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4275" y="2121615"/>
            <a:ext cx="838088" cy="582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4}\div\frac{3}{4}\ &quot;&gt;&lt;mtext&gt;&lt;/mtext&gt;&lt;mfrac&gt;&lt;mn&gt;24&lt;/mn&gt;&lt;mn&gt;4&lt;/mn&gt;&lt;/mfrac&gt;&lt;mo&gt;÷&lt;/mo&gt;&lt;mfrac&gt;&lt;mn&gt;3&lt;/mn&gt;&lt;mn&gt;4&lt;/mn&gt;&lt;/mfrac&gt;&lt;mtext&gt;&lt;/mtext&gt;&lt;/math&gt;" id="1897" name="Google Shape;1897;p146" title="24 over 4 divided by three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8338" y="3795584"/>
            <a:ext cx="833898" cy="574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48}{4}\div\frac{3}{4}\ &quot;&gt;&lt;mtext&gt;&lt;/mtext&gt;&lt;mfrac&gt;&lt;mn&gt;48&lt;/mn&gt;&lt;mn&gt;4&lt;/mn&gt;&lt;/mfrac&gt;&lt;mo&gt;÷&lt;/mo&gt;&lt;mfrac&gt;&lt;mn&gt;3&lt;/mn&gt;&lt;mn&gt;4&lt;/mn&gt;&lt;/mfrac&gt;&lt;mtext&gt;&lt;/mtext&gt;&lt;/math&gt;" id="1898" name="Google Shape;1898;p146" title="48 over 4 divided by 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61992" y="1295209"/>
            <a:ext cx="833898" cy="574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3}\div\frac{2}{3}\ &quot;&gt;&lt;mtext&gt;&lt;/mtext&gt;&lt;mfrac&gt;&lt;mn&gt;24&lt;/mn&gt;&lt;mn&gt;3&lt;/mn&gt;&lt;/mfrac&gt;&lt;mo&gt;÷&lt;/mo&gt;&lt;mfrac&gt;&lt;mn&gt;2&lt;/mn&gt;&lt;mn&gt;3&lt;/mn&gt;&lt;/mfrac&gt;&lt;mtext&gt;&lt;/mtext&gt;&lt;/math&gt;" id="1899" name="Google Shape;1899;p146" title="24 over 3 divided by two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32992" y="2921528"/>
            <a:ext cx="844584" cy="582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8\div\frac{2}{3}\ &quot;&gt;&lt;mtext&gt;&lt;/mtext&gt;&lt;mn&gt;8&lt;/mn&gt;&lt;mo&gt;÷&lt;/mo&gt;&lt;mfrac&gt;&lt;mn&gt;2&lt;/mn&gt;&lt;mn&gt;3&lt;/mn&gt;&lt;/mfrac&gt;&lt;mtext&gt;&lt;/mtext&gt;&lt;/math&gt;" id="1900" name="Google Shape;1900;p146" title="8 divided by two third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98100" y="3769406"/>
            <a:ext cx="661121" cy="62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&quot;&gt;&lt;mn&gt;12&lt;/mn&gt;&lt;mtext&gt;&lt;/mtext&gt;&lt;/math&gt;" id="1901" name="Google Shape;1901;p146" title="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930681" y="1473883"/>
            <a:ext cx="276950" cy="216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47"/>
          <p:cNvSpPr txBox="1"/>
          <p:nvPr>
            <p:ph idx="1" type="body"/>
          </p:nvPr>
        </p:nvSpPr>
        <p:spPr>
          <a:xfrm>
            <a:off x="324000" y="759300"/>
            <a:ext cx="8442600" cy="5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</a:t>
            </a:r>
            <a:r>
              <a:rPr lang="en-GB"/>
              <a:t>Circle the following divisions which give an answer of four.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1907" name="Google Shape;1907;p147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3">
            <a:alphaModFix/>
          </a:blip>
          <a:srcRect b="0" l="0" r="89243" t="0"/>
          <a:stretch/>
        </p:blipFill>
        <p:spPr>
          <a:xfrm>
            <a:off x="873950" y="1743750"/>
            <a:ext cx="950802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1908" name="Google Shape;1908;p147" title="12 divided by two thirds 4 divided by two fifths 8 divided by one fourth"/>
          <p:cNvPicPr preferRelativeResize="0"/>
          <p:nvPr/>
        </p:nvPicPr>
        <p:blipFill rotWithShape="1">
          <a:blip r:embed="rId4">
            <a:alphaModFix/>
          </a:blip>
          <a:srcRect b="0" l="0" r="73052" t="0"/>
          <a:stretch/>
        </p:blipFill>
        <p:spPr>
          <a:xfrm>
            <a:off x="1684791" y="3240000"/>
            <a:ext cx="1254650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1909" name="Google Shape;1909;p147" title="12 divided by two thirds 4 divided by two fifths 8 divided by one fourth"/>
          <p:cNvPicPr preferRelativeResize="0"/>
          <p:nvPr/>
        </p:nvPicPr>
        <p:blipFill rotWithShape="1">
          <a:blip r:embed="rId4">
            <a:alphaModFix/>
          </a:blip>
          <a:srcRect b="0" l="36884" r="34482" t="0"/>
          <a:stretch/>
        </p:blipFill>
        <p:spPr>
          <a:xfrm>
            <a:off x="4923732" y="1565425"/>
            <a:ext cx="1333075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1910" name="Google Shape;1910;p147" title="12 divided by two thirds 4 divided by two fifths 8 divided by one fourth"/>
          <p:cNvPicPr preferRelativeResize="0"/>
          <p:nvPr/>
        </p:nvPicPr>
        <p:blipFill rotWithShape="1">
          <a:blip r:embed="rId4">
            <a:alphaModFix/>
          </a:blip>
          <a:srcRect b="0" l="78725" r="-7358" t="0"/>
          <a:stretch/>
        </p:blipFill>
        <p:spPr>
          <a:xfrm>
            <a:off x="6659157" y="3086375"/>
            <a:ext cx="1333075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1911" name="Google Shape;1911;p147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3">
            <a:alphaModFix/>
          </a:blip>
          <a:srcRect b="-2679" l="27319" r="59701" t="2679"/>
          <a:stretch/>
        </p:blipFill>
        <p:spPr>
          <a:xfrm>
            <a:off x="2887200" y="1743763"/>
            <a:ext cx="1147200" cy="83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1912" name="Google Shape;1912;p147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3">
            <a:alphaModFix/>
          </a:blip>
          <a:srcRect b="0" l="78115" r="7690" t="0"/>
          <a:stretch/>
        </p:blipFill>
        <p:spPr>
          <a:xfrm>
            <a:off x="6899025" y="1766100"/>
            <a:ext cx="1254648" cy="83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3}{1}\ \ \ \ \ \ \ &quot;&gt;&lt;mn&gt;12&lt;/mn&gt;&lt;mo&gt;÷&lt;/mo&gt;&lt;mfrac&gt;&lt;mn&gt;3&lt;/mn&gt;&lt;mn&gt;1&lt;/mn&gt;&lt;/mfrac&gt;&lt;mtext&gt;&lt;/mtext&gt;&lt;mtext&gt;&lt;/mtext&gt;&lt;mtext&gt;&lt;/mtext&gt;&lt;mtext&gt;&lt;/mtext&gt;&lt;mtext&gt;&lt;/mtext&gt;&lt;mtext&gt;&lt;/mtext&gt;&lt;mtext&gt;&lt;/mtext&gt;&lt;/math&gt;" id="1913" name="Google Shape;1913;p147" title="12 divided by three one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0000" y="3240015"/>
            <a:ext cx="1069450" cy="8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48"/>
          <p:cNvSpPr txBox="1"/>
          <p:nvPr>
            <p:ph idx="1" type="body"/>
          </p:nvPr>
        </p:nvSpPr>
        <p:spPr>
          <a:xfrm>
            <a:off x="324000" y="759300"/>
            <a:ext cx="8237700" cy="5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r>
              <a:rPr lang="en-GB"/>
              <a:t>) Put the following in ascending order, smallest to largest.</a:t>
            </a:r>
            <a:endParaRPr/>
          </a:p>
        </p:txBody>
      </p:sp>
      <p:sp>
        <p:nvSpPr>
          <p:cNvPr id="1920" name="Google Shape;1920;p148"/>
          <p:cNvSpPr txBox="1"/>
          <p:nvPr>
            <p:ph idx="1" type="body"/>
          </p:nvPr>
        </p:nvSpPr>
        <p:spPr>
          <a:xfrm>
            <a:off x="324000" y="3240000"/>
            <a:ext cx="8237700" cy="5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lang="en-GB"/>
              <a:t>) </a:t>
            </a:r>
            <a:r>
              <a:rPr lang="en-GB"/>
              <a:t>Create</a:t>
            </a:r>
            <a:r>
              <a:rPr lang="en-GB"/>
              <a:t> three of your own questions which, when </a:t>
            </a:r>
            <a:r>
              <a:rPr lang="en-GB"/>
              <a:t>dividing</a:t>
            </a:r>
            <a:r>
              <a:rPr lang="en-GB"/>
              <a:t> an </a:t>
            </a:r>
            <a:r>
              <a:rPr lang="en-GB"/>
              <a:t>integer</a:t>
            </a:r>
            <a:r>
              <a:rPr lang="en-GB"/>
              <a:t> by a proper fraction, give the answer of 10.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1921" name="Google Shape;1921;p148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0" r="89852" t="0"/>
          <a:stretch/>
        </p:blipFill>
        <p:spPr>
          <a:xfrm>
            <a:off x="4572000" y="1582075"/>
            <a:ext cx="794774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1922" name="Google Shape;1922;p148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25391" r="61028" t="0"/>
          <a:stretch/>
        </p:blipFill>
        <p:spPr>
          <a:xfrm>
            <a:off x="6623695" y="1582063"/>
            <a:ext cx="1063626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1923" name="Google Shape;1923;p148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51643" r="35726" t="0"/>
          <a:stretch/>
        </p:blipFill>
        <p:spPr>
          <a:xfrm>
            <a:off x="2684012" y="1582075"/>
            <a:ext cx="989251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1924" name="Google Shape;1924;p148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77979" r="8441" t="0"/>
          <a:stretch/>
        </p:blipFill>
        <p:spPr>
          <a:xfrm>
            <a:off x="1029604" y="1582075"/>
            <a:ext cx="1063626" cy="6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49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the bar models to show the division of the following:</a:t>
            </a:r>
            <a:endParaRPr/>
          </a:p>
        </p:txBody>
      </p:sp>
      <p:sp>
        <p:nvSpPr>
          <p:cNvPr id="1931" name="Google Shape;1931;p149"/>
          <p:cNvSpPr txBox="1"/>
          <p:nvPr/>
        </p:nvSpPr>
        <p:spPr>
          <a:xfrm>
            <a:off x="248850" y="1415625"/>
            <a:ext cx="61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1932" name="Google Shape;1932;p149"/>
          <p:cNvSpPr txBox="1"/>
          <p:nvPr/>
        </p:nvSpPr>
        <p:spPr>
          <a:xfrm>
            <a:off x="3411150" y="1415625"/>
            <a:ext cx="61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933" name="Google Shape;1933;p149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9493" l="40045" r="31874" t="0"/>
          <a:stretch/>
        </p:blipFill>
        <p:spPr>
          <a:xfrm>
            <a:off x="3930825" y="1383375"/>
            <a:ext cx="1514549" cy="74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149"/>
          <p:cNvSpPr txBox="1"/>
          <p:nvPr/>
        </p:nvSpPr>
        <p:spPr>
          <a:xfrm>
            <a:off x="5998075" y="1415625"/>
            <a:ext cx="61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935" name="Google Shape;1935;p149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4741" l="74023" r="-3421" t="-4751"/>
          <a:stretch/>
        </p:blipFill>
        <p:spPr>
          <a:xfrm>
            <a:off x="6461959" y="1305025"/>
            <a:ext cx="1585599" cy="74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div\frac{1}{3}\ =\ 9\ \ &quot;&gt;&lt;mn&gt;3&lt;/mn&gt;&lt;mtext&gt;&lt;/mtext&gt;&lt;mo&gt;÷&lt;/mo&gt;&lt;mfrac&gt;&lt;mn&gt;1&lt;/mn&gt;&lt;mn&gt;3&lt;/mn&gt;&lt;/mfrac&gt;&lt;mtext&gt;&lt;/mtext&gt;&lt;mo&gt;=&lt;/mo&gt;&lt;mtext&gt;&lt;/mtext&gt;&lt;mn&gt;9&lt;/mn&gt;&lt;mtext&gt;&lt;/mtext&gt;&lt;mtext&gt;&lt;/mtext&gt;&lt;/math&gt;" id="1936" name="Google Shape;1936;p149" title="3 division sign one third equals 9"/>
          <p:cNvPicPr preferRelativeResize="0"/>
          <p:nvPr/>
        </p:nvPicPr>
        <p:blipFill rotWithShape="1">
          <a:blip r:embed="rId4">
            <a:alphaModFix/>
          </a:blip>
          <a:srcRect b="0" l="0" r="-11148" t="0"/>
          <a:stretch/>
        </p:blipFill>
        <p:spPr>
          <a:xfrm>
            <a:off x="742700" y="1383375"/>
            <a:ext cx="1910750" cy="744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7" name="Google Shape;1937;p149"/>
          <p:cNvGraphicFramePr/>
          <p:nvPr/>
        </p:nvGraphicFramePr>
        <p:xfrm>
          <a:off x="324000" y="2387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955375"/>
                <a:gridCol w="955375"/>
                <a:gridCol w="95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38" name="Google Shape;1938;p149"/>
          <p:cNvGraphicFramePr/>
          <p:nvPr/>
        </p:nvGraphicFramePr>
        <p:xfrm>
          <a:off x="324000" y="289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18475"/>
                <a:gridCol w="318475"/>
                <a:gridCol w="318475"/>
                <a:gridCol w="318475"/>
                <a:gridCol w="318475"/>
                <a:gridCol w="318475"/>
                <a:gridCol w="318475"/>
                <a:gridCol w="318475"/>
                <a:gridCol w="318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39" name="Google Shape;1939;p149"/>
          <p:cNvGraphicFramePr/>
          <p:nvPr/>
        </p:nvGraphicFramePr>
        <p:xfrm>
          <a:off x="3490412" y="2373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955375"/>
                <a:gridCol w="95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40" name="Google Shape;1940;p149"/>
          <p:cNvGraphicFramePr/>
          <p:nvPr/>
        </p:nvGraphicFramePr>
        <p:xfrm>
          <a:off x="5953875" y="2373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77700"/>
                <a:gridCol w="477700"/>
                <a:gridCol w="477700"/>
                <a:gridCol w="477700"/>
                <a:gridCol w="477700"/>
                <a:gridCol w="477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41" name="Google Shape;1941;p149"/>
          <p:cNvGraphicFramePr/>
          <p:nvPr/>
        </p:nvGraphicFramePr>
        <p:xfrm>
          <a:off x="3489020" y="3385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91075"/>
                <a:gridCol w="1910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942" name="Google Shape;1942;p149"/>
          <p:cNvGraphicFramePr/>
          <p:nvPr/>
        </p:nvGraphicFramePr>
        <p:xfrm>
          <a:off x="3872545" y="339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91075"/>
                <a:gridCol w="1910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943" name="Google Shape;1943;p149"/>
          <p:cNvGraphicFramePr/>
          <p:nvPr/>
        </p:nvGraphicFramePr>
        <p:xfrm>
          <a:off x="4256070" y="339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91075"/>
                <a:gridCol w="1910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944" name="Google Shape;1944;p149"/>
          <p:cNvGraphicFramePr/>
          <p:nvPr/>
        </p:nvGraphicFramePr>
        <p:xfrm>
          <a:off x="4639595" y="339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91075"/>
                <a:gridCol w="1910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945" name="Google Shape;1945;p149"/>
          <p:cNvGraphicFramePr/>
          <p:nvPr/>
        </p:nvGraphicFramePr>
        <p:xfrm>
          <a:off x="5023120" y="339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91075"/>
                <a:gridCol w="1910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1946" name="Google Shape;1946;p149"/>
          <p:cNvGraphicFramePr/>
          <p:nvPr/>
        </p:nvGraphicFramePr>
        <p:xfrm>
          <a:off x="5953875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947" name="Google Shape;1947;p149"/>
          <p:cNvGraphicFramePr/>
          <p:nvPr/>
        </p:nvGraphicFramePr>
        <p:xfrm>
          <a:off x="6312150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948" name="Google Shape;1948;p149"/>
          <p:cNvGraphicFramePr/>
          <p:nvPr/>
        </p:nvGraphicFramePr>
        <p:xfrm>
          <a:off x="6665843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949" name="Google Shape;1949;p149"/>
          <p:cNvGraphicFramePr/>
          <p:nvPr/>
        </p:nvGraphicFramePr>
        <p:xfrm>
          <a:off x="7024118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950" name="Google Shape;1950;p149"/>
          <p:cNvGraphicFramePr/>
          <p:nvPr/>
        </p:nvGraphicFramePr>
        <p:xfrm>
          <a:off x="7391208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951" name="Google Shape;1951;p149"/>
          <p:cNvGraphicFramePr/>
          <p:nvPr/>
        </p:nvGraphicFramePr>
        <p:xfrm>
          <a:off x="7749483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952" name="Google Shape;1952;p149"/>
          <p:cNvGraphicFramePr/>
          <p:nvPr/>
        </p:nvGraphicFramePr>
        <p:xfrm>
          <a:off x="8103176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1953" name="Google Shape;1953;p149"/>
          <p:cNvGraphicFramePr/>
          <p:nvPr/>
        </p:nvGraphicFramePr>
        <p:xfrm>
          <a:off x="8461451" y="339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9425"/>
                <a:gridCol w="119425"/>
                <a:gridCol w="1194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pic>
        <p:nvPicPr>
          <p:cNvPr id="1954" name="Google Shape;1954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6031" y="1422200"/>
            <a:ext cx="8674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5" name="Google Shape;1955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0043" y="1422188"/>
            <a:ext cx="8674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5181" y="1343838"/>
            <a:ext cx="8674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958" name="Google Shape;1958;p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2800" y="2373972"/>
            <a:ext cx="2912401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9" name="Google Shape;1959;p1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2373975"/>
            <a:ext cx="190800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964" name="Google Shape;1964;p150" title="6 division sign three fourths 6 times four thirds 24 over 3 equals 8"/>
          <p:cNvPicPr preferRelativeResize="0"/>
          <p:nvPr/>
        </p:nvPicPr>
        <p:blipFill rotWithShape="1">
          <a:blip r:embed="rId3">
            <a:alphaModFix/>
          </a:blip>
          <a:srcRect b="-6889" l="93983" r="-43" t="-11482"/>
          <a:stretch/>
        </p:blipFill>
        <p:spPr>
          <a:xfrm>
            <a:off x="6958032" y="2814699"/>
            <a:ext cx="201061" cy="736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965" name="Google Shape;1965;p150" title="12 division sign three fourths 12 times four thirds 48 over 3 equals 16"/>
          <p:cNvPicPr preferRelativeResize="0"/>
          <p:nvPr/>
        </p:nvPicPr>
        <p:blipFill rotWithShape="1">
          <a:blip r:embed="rId4">
            <a:alphaModFix/>
          </a:blip>
          <a:srcRect b="-4241" l="93154" r="-1927" t="-4241"/>
          <a:stretch/>
        </p:blipFill>
        <p:spPr>
          <a:xfrm>
            <a:off x="6947099" y="2062812"/>
            <a:ext cx="328869" cy="674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2}=6&quot;&gt;&lt;mfrac&gt;&lt;mn&gt;12&lt;/mn&gt;&lt;mn&gt;2&lt;/mn&gt;&lt;/mfrac&gt;&lt;mo&gt;=&lt;/mo&gt;&lt;mn&gt;6&lt;/mn&gt;&lt;/math&gt;" id="1966" name="Google Shape;1966;p150" title="twelve halves equals 6"/>
          <p:cNvPicPr preferRelativeResize="0"/>
          <p:nvPr/>
        </p:nvPicPr>
        <p:blipFill rotWithShape="1">
          <a:blip r:embed="rId5">
            <a:alphaModFix/>
          </a:blip>
          <a:srcRect b="0" l="77579" r="-2" t="0"/>
          <a:stretch/>
        </p:blipFill>
        <p:spPr>
          <a:xfrm>
            <a:off x="6958032" y="3748986"/>
            <a:ext cx="201060" cy="6236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&quot;&gt;&lt;mn&gt;12&lt;/mn&gt;&lt;mtext&gt;&lt;/mtext&gt;&lt;/math&gt;" id="1967" name="Google Shape;1967;p150" title="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0681" y="1473883"/>
            <a:ext cx="276950" cy="216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12}{3}\div\frac{2}{3}\ &quot;&gt;&lt;mtext&gt;&lt;/mtext&gt;&lt;mfrac&gt;&lt;mn&gt;12&lt;/mn&gt;&lt;mn&gt;3&lt;/mn&gt;&lt;/mfrac&gt;&lt;mo&gt;÷&lt;/mo&gt;&lt;mfrac&gt;&lt;mn&gt;2&lt;/mn&gt;&lt;mn&gt;3&lt;/mn&gt;&lt;/mfrac&gt;&lt;mtext&gt;&lt;/mtext&gt;&lt;/math&gt;" id="1968" name="Google Shape;1968;p150" title="twelve thirds divided by two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4275" y="2121615"/>
            <a:ext cx="838088" cy="582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4}\div\frac{3}{4}\ &quot;&gt;&lt;mtext&gt;&lt;/mtext&gt;&lt;mfrac&gt;&lt;mn&gt;24&lt;/mn&gt;&lt;mn&gt;4&lt;/mn&gt;&lt;/mfrac&gt;&lt;mo&gt;÷&lt;/mo&gt;&lt;mfrac&gt;&lt;mn&gt;3&lt;/mn&gt;&lt;mn&gt;4&lt;/mn&gt;&lt;/mfrac&gt;&lt;mtext&gt;&lt;/mtext&gt;&lt;/math&gt;" id="1969" name="Google Shape;1969;p150" title="24 over 4 divided by three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38338" y="3795584"/>
            <a:ext cx="833898" cy="574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48}{4}\div\frac{3}{4}\ &quot;&gt;&lt;mtext&gt;&lt;/mtext&gt;&lt;mfrac&gt;&lt;mn&gt;48&lt;/mn&gt;&lt;mn&gt;4&lt;/mn&gt;&lt;/mfrac&gt;&lt;mo&gt;÷&lt;/mo&gt;&lt;mfrac&gt;&lt;mn&gt;3&lt;/mn&gt;&lt;mn&gt;4&lt;/mn&gt;&lt;/mfrac&gt;&lt;mtext&gt;&lt;/mtext&gt;&lt;/math&gt;" id="1970" name="Google Shape;1970;p150" title="48 over 4 divided by 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61992" y="1295209"/>
            <a:ext cx="833898" cy="574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3}\div\frac{2}{3}\ &quot;&gt;&lt;mtext&gt;&lt;/mtext&gt;&lt;mfrac&gt;&lt;mn&gt;24&lt;/mn&gt;&lt;mn&gt;3&lt;/mn&gt;&lt;/mfrac&gt;&lt;mo&gt;÷&lt;/mo&gt;&lt;mfrac&gt;&lt;mn&gt;2&lt;/mn&gt;&lt;mn&gt;3&lt;/mn&gt;&lt;/mfrac&gt;&lt;mtext&gt;&lt;/mtext&gt;&lt;/math&gt;" id="1971" name="Google Shape;1971;p150" title="24 over 3 divided by two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32992" y="2921528"/>
            <a:ext cx="844584" cy="582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div\frac{2}{3}\ \ \ \ \ 4\ \times\frac{3}{2}\ \ \ \ \ \ \frac{12}{6}=2&quot;&gt;&lt;mn&gt;4&lt;/mn&gt;&lt;mtext&gt;&lt;/mtext&gt;&lt;mo&gt;÷&lt;/mo&gt;&lt;mfrac&gt;&lt;mn&gt;2&lt;/mn&gt;&lt;mn&gt;3&lt;/mn&gt;&lt;/mfrac&gt;&lt;mtext&gt;&lt;/mtext&gt;&lt;mtext&gt;&lt;/mtext&gt;&lt;mtext&gt;&lt;/mtext&gt;&lt;mtext&gt;&lt;/mtext&gt;&lt;mtext&gt;&lt;/mtext&gt;&lt;mn&gt;4&lt;/mn&gt;&lt;mtext&gt;&lt;/mtext&gt;&lt;mo&gt;×&lt;/mo&gt;&lt;mfrac&gt;&lt;mn&gt;3&lt;/mn&gt;&lt;mn&gt;2&lt;/mn&gt;&lt;/mfrac&gt;&lt;mtext&gt;&lt;/mtext&gt;&lt;mtext&gt;&lt;/mtext&gt;&lt;mtext&gt;&lt;/mtext&gt;&lt;mtext&gt;&lt;/mtext&gt;&lt;mtext&gt;&lt;/mtext&gt;&lt;mtext&gt;&lt;/mtext&gt;&lt;mfrac&gt;&lt;mn&gt;12&lt;/mn&gt;&lt;mn&gt;6&lt;/mn&gt;&lt;/mfrac&gt;&lt;mo&gt;=&lt;/mo&gt;&lt;mn&gt;2&lt;/mn&gt;&lt;/math&gt;" id="1972" name="Google Shape;1972;p150" title="4 division sign two thirds 4 times three halves twelve sixths equals 2"/>
          <p:cNvPicPr preferRelativeResize="0"/>
          <p:nvPr/>
        </p:nvPicPr>
        <p:blipFill rotWithShape="1">
          <a:blip r:embed="rId11">
            <a:alphaModFix/>
          </a:blip>
          <a:srcRect b="0" l="0" r="70530" t="0"/>
          <a:stretch/>
        </p:blipFill>
        <p:spPr>
          <a:xfrm>
            <a:off x="1754108" y="1361692"/>
            <a:ext cx="880611" cy="559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973" name="Google Shape;1973;p150" title="6 division sign three fourths 6 times four thirds 24 over 3 equals 8"/>
          <p:cNvPicPr preferRelativeResize="0"/>
          <p:nvPr/>
        </p:nvPicPr>
        <p:blipFill rotWithShape="1">
          <a:blip r:embed="rId3">
            <a:alphaModFix/>
          </a:blip>
          <a:srcRect b="0" l="0" r="74204" t="0"/>
          <a:stretch/>
        </p:blipFill>
        <p:spPr>
          <a:xfrm>
            <a:off x="1745373" y="2128787"/>
            <a:ext cx="798618" cy="580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974" name="Google Shape;1974;p150" title="12 division sign three fourths 12 times four thirds 48 over 3 equals 16"/>
          <p:cNvPicPr preferRelativeResize="0"/>
          <p:nvPr/>
        </p:nvPicPr>
        <p:blipFill rotWithShape="1">
          <a:blip r:embed="rId4">
            <a:alphaModFix/>
          </a:blip>
          <a:srcRect b="0" l="0" r="74825" t="0"/>
          <a:stretch/>
        </p:blipFill>
        <p:spPr>
          <a:xfrm>
            <a:off x="1672105" y="2926341"/>
            <a:ext cx="880611" cy="580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8\div\frac{2}{3}\ &quot;&gt;&lt;mtext&gt;&lt;/mtext&gt;&lt;mn&gt;8&lt;/mn&gt;&lt;mo&gt;÷&lt;/mo&gt;&lt;mfrac&gt;&lt;mn&gt;2&lt;/mn&gt;&lt;mn&gt;3&lt;/mn&gt;&lt;/mfrac&gt;&lt;mtext&gt;&lt;/mtext&gt;&lt;/math&gt;" id="1975" name="Google Shape;1975;p150" title="8 divided by two third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98100" y="3769406"/>
            <a:ext cx="661121" cy="6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1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50"/>
          <p:cNvSpPr txBox="1"/>
          <p:nvPr>
            <p:ph idx="1" type="body"/>
          </p:nvPr>
        </p:nvSpPr>
        <p:spPr>
          <a:xfrm>
            <a:off x="324000" y="759300"/>
            <a:ext cx="8237700" cy="5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Match the question with the calculation and the answer.</a:t>
            </a:r>
            <a:endParaRPr/>
          </a:p>
        </p:txBody>
      </p:sp>
      <p:sp>
        <p:nvSpPr>
          <p:cNvPr id="1978" name="Google Shape;1978;p150"/>
          <p:cNvSpPr/>
          <p:nvPr/>
        </p:nvSpPr>
        <p:spPr>
          <a:xfrm>
            <a:off x="6599346" y="1249870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50"/>
          <p:cNvSpPr/>
          <p:nvPr/>
        </p:nvSpPr>
        <p:spPr>
          <a:xfrm>
            <a:off x="6599346" y="2042207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50"/>
          <p:cNvSpPr/>
          <p:nvPr/>
        </p:nvSpPr>
        <p:spPr>
          <a:xfrm>
            <a:off x="6610121" y="2863282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0"/>
          <p:cNvSpPr/>
          <p:nvPr/>
        </p:nvSpPr>
        <p:spPr>
          <a:xfrm>
            <a:off x="6610121" y="3716041"/>
            <a:ext cx="9714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50"/>
          <p:cNvSpPr/>
          <p:nvPr/>
        </p:nvSpPr>
        <p:spPr>
          <a:xfrm>
            <a:off x="1641025" y="1277325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50"/>
          <p:cNvSpPr/>
          <p:nvPr/>
        </p:nvSpPr>
        <p:spPr>
          <a:xfrm>
            <a:off x="1641025" y="2077898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50"/>
          <p:cNvSpPr/>
          <p:nvPr/>
        </p:nvSpPr>
        <p:spPr>
          <a:xfrm>
            <a:off x="1648439" y="2877167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50"/>
          <p:cNvSpPr/>
          <p:nvPr/>
        </p:nvSpPr>
        <p:spPr>
          <a:xfrm>
            <a:off x="4108952" y="1257512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50"/>
          <p:cNvSpPr/>
          <p:nvPr/>
        </p:nvSpPr>
        <p:spPr>
          <a:xfrm>
            <a:off x="4109225" y="2060455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150"/>
          <p:cNvSpPr/>
          <p:nvPr/>
        </p:nvSpPr>
        <p:spPr>
          <a:xfrm>
            <a:off x="1648439" y="3739125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50"/>
          <p:cNvSpPr/>
          <p:nvPr/>
        </p:nvSpPr>
        <p:spPr>
          <a:xfrm>
            <a:off x="4109225" y="2881190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50"/>
          <p:cNvSpPr/>
          <p:nvPr/>
        </p:nvSpPr>
        <p:spPr>
          <a:xfrm>
            <a:off x="4109225" y="3728123"/>
            <a:ext cx="928200" cy="68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0" name="Google Shape;1990;p150"/>
          <p:cNvCxnSpPr>
            <a:stCxn id="1982" idx="3"/>
            <a:endCxn id="1986" idx="1"/>
          </p:cNvCxnSpPr>
          <p:nvPr/>
        </p:nvCxnSpPr>
        <p:spPr>
          <a:xfrm>
            <a:off x="2569225" y="1620825"/>
            <a:ext cx="1539900" cy="783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150"/>
          <p:cNvCxnSpPr>
            <a:stCxn id="1986" idx="3"/>
            <a:endCxn id="1981" idx="1"/>
          </p:cNvCxnSpPr>
          <p:nvPr/>
        </p:nvCxnSpPr>
        <p:spPr>
          <a:xfrm>
            <a:off x="5037425" y="2403955"/>
            <a:ext cx="1572600" cy="1655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2" name="Google Shape;1992;p150"/>
          <p:cNvCxnSpPr>
            <a:stCxn id="1983" idx="3"/>
            <a:endCxn id="1989" idx="1"/>
          </p:cNvCxnSpPr>
          <p:nvPr/>
        </p:nvCxnSpPr>
        <p:spPr>
          <a:xfrm>
            <a:off x="2569225" y="2421398"/>
            <a:ext cx="1539900" cy="1650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3" name="Google Shape;1993;p150"/>
          <p:cNvCxnSpPr>
            <a:stCxn id="1989" idx="3"/>
            <a:endCxn id="1980" idx="1"/>
          </p:cNvCxnSpPr>
          <p:nvPr/>
        </p:nvCxnSpPr>
        <p:spPr>
          <a:xfrm flipH="1" rot="10800000">
            <a:off x="5037425" y="3206723"/>
            <a:ext cx="1572600" cy="864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150"/>
          <p:cNvCxnSpPr>
            <a:stCxn id="1985" idx="1"/>
            <a:endCxn id="1984" idx="3"/>
          </p:cNvCxnSpPr>
          <p:nvPr/>
        </p:nvCxnSpPr>
        <p:spPr>
          <a:xfrm flipH="1">
            <a:off x="2576552" y="1601012"/>
            <a:ext cx="1532400" cy="1619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150"/>
          <p:cNvCxnSpPr>
            <a:stCxn id="1985" idx="3"/>
            <a:endCxn id="1979" idx="1"/>
          </p:cNvCxnSpPr>
          <p:nvPr/>
        </p:nvCxnSpPr>
        <p:spPr>
          <a:xfrm>
            <a:off x="5037152" y="1601012"/>
            <a:ext cx="1562100" cy="784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150"/>
          <p:cNvCxnSpPr>
            <a:stCxn id="1987" idx="3"/>
            <a:endCxn id="1988" idx="1"/>
          </p:cNvCxnSpPr>
          <p:nvPr/>
        </p:nvCxnSpPr>
        <p:spPr>
          <a:xfrm flipH="1" rot="10800000">
            <a:off x="2576639" y="3224625"/>
            <a:ext cx="1532700" cy="858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150"/>
          <p:cNvCxnSpPr>
            <a:stCxn id="1978" idx="1"/>
            <a:endCxn id="1988" idx="3"/>
          </p:cNvCxnSpPr>
          <p:nvPr/>
        </p:nvCxnSpPr>
        <p:spPr>
          <a:xfrm flipH="1">
            <a:off x="5037546" y="1593370"/>
            <a:ext cx="1561800" cy="1631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Circle the following divisions which give an answer of four.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003" name="Google Shape;2003;p151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3">
            <a:alphaModFix/>
          </a:blip>
          <a:srcRect b="0" l="0" r="89243" t="0"/>
          <a:stretch/>
        </p:blipFill>
        <p:spPr>
          <a:xfrm>
            <a:off x="873950" y="1743750"/>
            <a:ext cx="950802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2004" name="Google Shape;2004;p151" title="12 divided by two thirds 4 divided by two fifths 8 divided by one fourth"/>
          <p:cNvPicPr preferRelativeResize="0"/>
          <p:nvPr/>
        </p:nvPicPr>
        <p:blipFill rotWithShape="1">
          <a:blip r:embed="rId4">
            <a:alphaModFix/>
          </a:blip>
          <a:srcRect b="0" l="0" r="73052" t="0"/>
          <a:stretch/>
        </p:blipFill>
        <p:spPr>
          <a:xfrm>
            <a:off x="1684791" y="3240000"/>
            <a:ext cx="1254650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2005" name="Google Shape;2005;p151" title="12 divided by two thirds 4 divided by two fifths 8 divided by one fourth"/>
          <p:cNvPicPr preferRelativeResize="0"/>
          <p:nvPr/>
        </p:nvPicPr>
        <p:blipFill rotWithShape="1">
          <a:blip r:embed="rId4">
            <a:alphaModFix/>
          </a:blip>
          <a:srcRect b="0" l="36884" r="34482" t="0"/>
          <a:stretch/>
        </p:blipFill>
        <p:spPr>
          <a:xfrm>
            <a:off x="4923732" y="1565425"/>
            <a:ext cx="1333075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2006" name="Google Shape;2006;p151" title="12 divided by two thirds 4 divided by two fifths 8 divided by one fourth"/>
          <p:cNvPicPr preferRelativeResize="0"/>
          <p:nvPr/>
        </p:nvPicPr>
        <p:blipFill rotWithShape="1">
          <a:blip r:embed="rId4">
            <a:alphaModFix/>
          </a:blip>
          <a:srcRect b="0" l="78725" r="-7358" t="0"/>
          <a:stretch/>
        </p:blipFill>
        <p:spPr>
          <a:xfrm>
            <a:off x="6659157" y="3086375"/>
            <a:ext cx="1333075" cy="83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007" name="Google Shape;2007;p151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3">
            <a:alphaModFix/>
          </a:blip>
          <a:srcRect b="-2679" l="27319" r="59701" t="2679"/>
          <a:stretch/>
        </p:blipFill>
        <p:spPr>
          <a:xfrm>
            <a:off x="2887200" y="1743763"/>
            <a:ext cx="1147200" cy="83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008" name="Google Shape;2008;p151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3">
            <a:alphaModFix/>
          </a:blip>
          <a:srcRect b="0" l="78115" r="7690" t="0"/>
          <a:stretch/>
        </p:blipFill>
        <p:spPr>
          <a:xfrm>
            <a:off x="6899025" y="1766100"/>
            <a:ext cx="1254648" cy="8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51"/>
          <p:cNvSpPr/>
          <p:nvPr/>
        </p:nvSpPr>
        <p:spPr>
          <a:xfrm>
            <a:off x="697850" y="1479500"/>
            <a:ext cx="1333200" cy="1301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51"/>
          <p:cNvSpPr/>
          <p:nvPr/>
        </p:nvSpPr>
        <p:spPr>
          <a:xfrm>
            <a:off x="4263388" y="3005550"/>
            <a:ext cx="1333200" cy="1301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51"/>
          <p:cNvSpPr/>
          <p:nvPr/>
        </p:nvSpPr>
        <p:spPr>
          <a:xfrm>
            <a:off x="7092125" y="1531638"/>
            <a:ext cx="1333200" cy="13014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\div\frac{3}{1}\ \ \ \ \ \ \ &quot;&gt;&lt;mn&gt;12&lt;/mn&gt;&lt;mo&gt;÷&lt;/mo&gt;&lt;mfrac&gt;&lt;mn&gt;3&lt;/mn&gt;&lt;mn&gt;1&lt;/mn&gt;&lt;/mfrac&gt;&lt;mtext&gt;&lt;/mtext&gt;&lt;mtext&gt;&lt;/mtext&gt;&lt;mtext&gt;&lt;/mtext&gt;&lt;mtext&gt;&lt;/mtext&gt;&lt;mtext&gt;&lt;/mtext&gt;&lt;mtext&gt;&lt;/mtext&gt;&lt;mtext&gt;&lt;/mtext&gt;&lt;/math&gt;" id="2012" name="Google Shape;2012;p151" title="12 divided by three one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0000" y="3240015"/>
            <a:ext cx="1069450" cy="8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1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52"/>
          <p:cNvSpPr txBox="1"/>
          <p:nvPr>
            <p:ph idx="1" type="body"/>
          </p:nvPr>
        </p:nvSpPr>
        <p:spPr>
          <a:xfrm>
            <a:off x="324000" y="759300"/>
            <a:ext cx="8237700" cy="69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Put the following in ascending order, smallest to largest.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19" name="Google Shape;2019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-972" r="89364" t="0"/>
          <a:stretch/>
        </p:blipFill>
        <p:spPr>
          <a:xfrm>
            <a:off x="5105400" y="1429675"/>
            <a:ext cx="909198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20" name="Google Shape;2020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25391" r="60451" t="0"/>
          <a:stretch/>
        </p:blipFill>
        <p:spPr>
          <a:xfrm>
            <a:off x="7183077" y="1429675"/>
            <a:ext cx="1108874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21" name="Google Shape;2021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51643" r="34777" t="0"/>
          <a:stretch/>
        </p:blipFill>
        <p:spPr>
          <a:xfrm>
            <a:off x="2912596" y="1429675"/>
            <a:ext cx="1063626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22" name="Google Shape;2022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77979" r="8441" t="0"/>
          <a:stretch/>
        </p:blipFill>
        <p:spPr>
          <a:xfrm>
            <a:off x="877199" y="1429675"/>
            <a:ext cx="1063626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23" name="Google Shape;2023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0" r="89852" t="0"/>
          <a:stretch/>
        </p:blipFill>
        <p:spPr>
          <a:xfrm>
            <a:off x="763450" y="3703800"/>
            <a:ext cx="794774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24" name="Google Shape;2024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25390" r="61029" t="0"/>
          <a:stretch/>
        </p:blipFill>
        <p:spPr>
          <a:xfrm>
            <a:off x="2635021" y="3717215"/>
            <a:ext cx="1063637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25" name="Google Shape;2025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51644" r="34775" t="0"/>
          <a:stretch/>
        </p:blipFill>
        <p:spPr>
          <a:xfrm>
            <a:off x="4641399" y="3717215"/>
            <a:ext cx="1063626" cy="69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026" name="Google Shape;2026;p152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3">
            <a:alphaModFix/>
          </a:blip>
          <a:srcRect b="0" l="77978" r="9391" t="0"/>
          <a:stretch/>
        </p:blipFill>
        <p:spPr>
          <a:xfrm>
            <a:off x="6686279" y="3717215"/>
            <a:ext cx="989251" cy="6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7" name="Google Shape;2027;p1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2028" name="Google Shape;2028;p152"/>
          <p:cNvGrpSpPr/>
          <p:nvPr/>
        </p:nvGrpSpPr>
        <p:grpSpPr>
          <a:xfrm>
            <a:off x="326613" y="1272875"/>
            <a:ext cx="2164800" cy="2034900"/>
            <a:chOff x="321975" y="1272875"/>
            <a:chExt cx="2164800" cy="2034900"/>
          </a:xfrm>
        </p:grpSpPr>
        <p:sp>
          <p:nvSpPr>
            <p:cNvPr id="2029" name="Google Shape;2029;p152"/>
            <p:cNvSpPr/>
            <p:nvPr/>
          </p:nvSpPr>
          <p:spPr>
            <a:xfrm>
              <a:off x="321975" y="1272875"/>
              <a:ext cx="2164800" cy="2034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0}\div\frac{1}{10}=30\ \ \ \ \ \ \frac{50}{5}\div\frac{2}{10}=25\ \ \ \ \ \frac{12}{4}\div\frac{1}{4}=12\ \ \ \ \ \frac{30}{10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10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10&lt;/mn&gt;&lt;/mfrac&gt;&lt;mo&gt;÷&lt;/mo&gt;&lt;mfrac&gt;&lt;mn&gt;2&lt;/mn&gt;&lt;mn&gt;3&lt;/mn&gt;&lt;/mfrac&gt;&lt;mo&gt;=&lt;/mo&gt;&lt;mn&gt;15&lt;/mn&gt;&lt;/math&gt;" id="2030" name="Google Shape;2030;p152" title="30 over 10 divided by one tenth equals 30 50 over 5 divided by two tenths equals 25 twelve fourths divided by one fourth equals 12 30 over 10 divided by two thirds equals 15"/>
            <p:cNvPicPr preferRelativeResize="0"/>
            <p:nvPr/>
          </p:nvPicPr>
          <p:blipFill rotWithShape="1">
            <a:blip r:embed="rId4">
              <a:alphaModFix/>
            </a:blip>
            <a:srcRect b="0" l="0" r="76493" t="0"/>
            <a:stretch/>
          </p:blipFill>
          <p:spPr>
            <a:xfrm>
              <a:off x="459438" y="2327950"/>
              <a:ext cx="1889874" cy="632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1" name="Google Shape;2031;p152"/>
          <p:cNvGrpSpPr/>
          <p:nvPr/>
        </p:nvGrpSpPr>
        <p:grpSpPr>
          <a:xfrm>
            <a:off x="4571900" y="1272875"/>
            <a:ext cx="2106000" cy="2034900"/>
            <a:chOff x="4571900" y="1272875"/>
            <a:chExt cx="2106000" cy="2034900"/>
          </a:xfrm>
        </p:grpSpPr>
        <p:sp>
          <p:nvSpPr>
            <p:cNvPr id="2032" name="Google Shape;2032;p152"/>
            <p:cNvSpPr/>
            <p:nvPr/>
          </p:nvSpPr>
          <p:spPr>
            <a:xfrm>
              <a:off x="4571900" y="1272875"/>
              <a:ext cx="2106000" cy="2034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0}\div\frac{1}{10}=30\ \ \ \ \ \ \frac{50}{5}\div\frac{2}{10}=25\ \ \ \ \ \frac{12}{4}\div\frac{1}{4}=12\ \ \ \ \ \frac{30}{10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10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10&lt;/mn&gt;&lt;/mfrac&gt;&lt;mo&gt;÷&lt;/mo&gt;&lt;mfrac&gt;&lt;mn&gt;2&lt;/mn&gt;&lt;mn&gt;3&lt;/mn&gt;&lt;/mfrac&gt;&lt;mo&gt;=&lt;/mo&gt;&lt;mn&gt;15&lt;/mn&gt;&lt;/math&gt;" id="2033" name="Google Shape;2033;p152" title="30 over 10 divided by one tenth equals 30 50 over 5 divided by two tenths equals 25 twelve fourths divided by one fourth equals 12 30 over 10 divided by two thirds equals 15"/>
            <p:cNvPicPr preferRelativeResize="0"/>
            <p:nvPr/>
          </p:nvPicPr>
          <p:blipFill rotWithShape="1">
            <a:blip r:embed="rId4">
              <a:alphaModFix/>
            </a:blip>
            <a:srcRect b="0" l="54092" r="24825" t="0"/>
            <a:stretch/>
          </p:blipFill>
          <p:spPr>
            <a:xfrm>
              <a:off x="4824003" y="2327950"/>
              <a:ext cx="1695051" cy="632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4" name="Google Shape;2034;p152"/>
          <p:cNvGrpSpPr/>
          <p:nvPr/>
        </p:nvGrpSpPr>
        <p:grpSpPr>
          <a:xfrm>
            <a:off x="2516299" y="1272875"/>
            <a:ext cx="2055600" cy="2034900"/>
            <a:chOff x="2516299" y="1272875"/>
            <a:chExt cx="2055600" cy="2034900"/>
          </a:xfrm>
        </p:grpSpPr>
        <p:sp>
          <p:nvSpPr>
            <p:cNvPr id="2035" name="Google Shape;2035;p152"/>
            <p:cNvSpPr/>
            <p:nvPr/>
          </p:nvSpPr>
          <p:spPr>
            <a:xfrm>
              <a:off x="2516299" y="1272875"/>
              <a:ext cx="2055600" cy="2034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0}\div\frac{1}{10}=30\ \ \ \ \ \ \frac{50}{5}\div\frac{2}{5}=25\ \ \ \ \ \frac{12}{4}\div\frac{1}{4}=12\ \ \ \ \ \frac{30}{3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5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3&lt;/mn&gt;&lt;/mfrac&gt;&lt;mo&gt;÷&lt;/mo&gt;&lt;mfrac&gt;&lt;mn&gt;2&lt;/mn&gt;&lt;mn&gt;3&lt;/mn&gt;&lt;/mfrac&gt;&lt;mo&gt;=&lt;/mo&gt;&lt;mn&gt;15&lt;/mn&gt;&lt;/math&gt;" id="2036" name="Google Shape;2036;p152" title="30 over 10 divided by one tenth equals 30 50 over 5 divided by two fifths equals 25 twelve fourths divided by one fourth equals 12 30 over 3 divided by two thirds equals 15"/>
            <p:cNvPicPr preferRelativeResize="0"/>
            <p:nvPr/>
          </p:nvPicPr>
          <p:blipFill rotWithShape="1">
            <a:blip r:embed="rId5">
              <a:alphaModFix/>
            </a:blip>
            <a:srcRect b="0" l="27583" r="49878" t="0"/>
            <a:stretch/>
          </p:blipFill>
          <p:spPr>
            <a:xfrm>
              <a:off x="2583490" y="2319850"/>
              <a:ext cx="1896352" cy="674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7" name="Google Shape;2037;p152"/>
          <p:cNvGrpSpPr/>
          <p:nvPr/>
        </p:nvGrpSpPr>
        <p:grpSpPr>
          <a:xfrm>
            <a:off x="6677900" y="1272875"/>
            <a:ext cx="2106000" cy="2034900"/>
            <a:chOff x="6677900" y="1272875"/>
            <a:chExt cx="2106000" cy="2034900"/>
          </a:xfrm>
        </p:grpSpPr>
        <p:sp>
          <p:nvSpPr>
            <p:cNvPr id="2038" name="Google Shape;2038;p152"/>
            <p:cNvSpPr/>
            <p:nvPr/>
          </p:nvSpPr>
          <p:spPr>
            <a:xfrm>
              <a:off x="6677900" y="1272875"/>
              <a:ext cx="2106000" cy="2034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0}{10}\div\frac{1}{10}=30\ \ \ \ \ \ \frac{50}{5}\div\frac{2}{5}=25\ \ \ \ \ \frac{12}{4}\div\frac{1}{4}=12\ \ \ \ \ \frac{30}{3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5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3&lt;/mn&gt;&lt;/mfrac&gt;&lt;mo&gt;÷&lt;/mo&gt;&lt;mfrac&gt;&lt;mn&gt;2&lt;/mn&gt;&lt;mn&gt;3&lt;/mn&gt;&lt;/mfrac&gt;&lt;mo&gt;=&lt;/mo&gt;&lt;mn&gt;15&lt;/mn&gt;&lt;/math&gt;" id="2039" name="Google Shape;2039;p152" title="30 over 10 divided by one tenth equals 30 50 over 5 divided by two fifths equals 25 twelve fourths divided by one fourth equals 12 30 over 3 divided by two thirds equals 15"/>
            <p:cNvPicPr preferRelativeResize="0"/>
            <p:nvPr/>
          </p:nvPicPr>
          <p:blipFill rotWithShape="1">
            <a:blip r:embed="rId5">
              <a:alphaModFix/>
            </a:blip>
            <a:srcRect b="0" l="79410" r="0" t="0"/>
            <a:stretch/>
          </p:blipFill>
          <p:spPr>
            <a:xfrm>
              <a:off x="6871308" y="2319850"/>
              <a:ext cx="1732426" cy="674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15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sense of dividing by a fraction</a:t>
            </a:r>
            <a:endParaRPr/>
          </a:p>
        </p:txBody>
      </p:sp>
      <p:sp>
        <p:nvSpPr>
          <p:cNvPr id="2045" name="Google Shape;2045;p15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</p:txBody>
      </p:sp>
      <p:sp>
        <p:nvSpPr>
          <p:cNvPr id="2046" name="Google Shape;2046;p15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</p:txBody>
      </p:sp>
      <p:pic>
        <p:nvPicPr>
          <p:cNvPr id="2047" name="Google Shape;2047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25" y="298979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154"/>
          <p:cNvSpPr txBox="1"/>
          <p:nvPr>
            <p:ph idx="1" type="body"/>
          </p:nvPr>
        </p:nvSpPr>
        <p:spPr>
          <a:xfrm>
            <a:off x="324000" y="911700"/>
            <a:ext cx="8237700" cy="13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every division by a fraction will give an integer answer. So let’s look at when the the fraction does not fit a whole number of times using our bar models.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155"/>
          <p:cNvSpPr txBox="1"/>
          <p:nvPr>
            <p:ph idx="1" type="body"/>
          </p:nvPr>
        </p:nvSpPr>
        <p:spPr>
          <a:xfrm>
            <a:off x="324000" y="759300"/>
            <a:ext cx="2076300" cy="5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 \div\frac{2}{5}&quot;&gt;&lt;mn&gt;3&lt;/mn&gt;&lt;mtext&gt;&lt;/mtext&gt;&lt;mo&gt;÷&lt;/mo&gt;&lt;mfrac&gt;&lt;mn&gt;2&lt;/mn&gt;&lt;mn&gt;5&lt;/mn&gt;&lt;/mfrac&gt;&lt;/math&gt;" id="2060" name="Google Shape;2060;p155" title="3 division sign 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3338" y="987900"/>
            <a:ext cx="1162625" cy="974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1" name="Google Shape;2061;p155"/>
          <p:cNvGraphicFramePr/>
          <p:nvPr/>
        </p:nvGraphicFramePr>
        <p:xfrm>
          <a:off x="495300" y="22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62" name="Google Shape;2062;p155"/>
          <p:cNvGraphicFramePr/>
          <p:nvPr/>
        </p:nvGraphicFramePr>
        <p:xfrm>
          <a:off x="495300" y="2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63" name="Google Shape;2063;p155"/>
          <p:cNvGraphicFramePr/>
          <p:nvPr/>
        </p:nvGraphicFramePr>
        <p:xfrm>
          <a:off x="495300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064" name="Google Shape;2064;p155"/>
          <p:cNvGraphicFramePr/>
          <p:nvPr/>
        </p:nvGraphicFramePr>
        <p:xfrm>
          <a:off x="1459069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065" name="Google Shape;2065;p155"/>
          <p:cNvGraphicFramePr/>
          <p:nvPr/>
        </p:nvGraphicFramePr>
        <p:xfrm>
          <a:off x="2427131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066" name="Google Shape;2066;p155"/>
          <p:cNvGraphicFramePr/>
          <p:nvPr/>
        </p:nvGraphicFramePr>
        <p:xfrm>
          <a:off x="3390900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067" name="Google Shape;2067;p155"/>
          <p:cNvGraphicFramePr/>
          <p:nvPr/>
        </p:nvGraphicFramePr>
        <p:xfrm>
          <a:off x="4358962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068" name="Google Shape;2068;p155"/>
          <p:cNvGraphicFramePr/>
          <p:nvPr/>
        </p:nvGraphicFramePr>
        <p:xfrm>
          <a:off x="5322731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069" name="Google Shape;2069;p155"/>
          <p:cNvGraphicFramePr/>
          <p:nvPr/>
        </p:nvGraphicFramePr>
        <p:xfrm>
          <a:off x="6290793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2070" name="Google Shape;2070;p155"/>
          <p:cNvSpPr/>
          <p:nvPr/>
        </p:nvSpPr>
        <p:spPr>
          <a:xfrm rot="5400000">
            <a:off x="3704550" y="593600"/>
            <a:ext cx="321900" cy="6740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55"/>
          <p:cNvSpPr txBox="1"/>
          <p:nvPr>
            <p:ph idx="1" type="body"/>
          </p:nvPr>
        </p:nvSpPr>
        <p:spPr>
          <a:xfrm>
            <a:off x="2956950" y="4153500"/>
            <a:ext cx="2076300" cy="5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 full units</a:t>
            </a:r>
            <a:endParaRPr/>
          </a:p>
        </p:txBody>
      </p:sp>
      <p:sp>
        <p:nvSpPr>
          <p:cNvPr id="2072" name="Google Shape;2072;p155"/>
          <p:cNvSpPr/>
          <p:nvPr/>
        </p:nvSpPr>
        <p:spPr>
          <a:xfrm rot="5400000">
            <a:off x="7589618" y="3440450"/>
            <a:ext cx="321900" cy="104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55"/>
          <p:cNvSpPr txBox="1"/>
          <p:nvPr>
            <p:ph idx="1" type="body"/>
          </p:nvPr>
        </p:nvSpPr>
        <p:spPr>
          <a:xfrm>
            <a:off x="7323075" y="4153500"/>
            <a:ext cx="13344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½ a</a:t>
            </a:r>
            <a:r>
              <a:rPr lang="en-GB"/>
              <a:t> unit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7\frac{1}{2}&quot;&gt;&lt;mo&gt;=&lt;/mo&gt;&lt;mn&gt;7&lt;/mn&gt;&lt;mfrac&gt;&lt;mn&gt;1&lt;/mn&gt;&lt;mn&gt;2&lt;/mn&gt;&lt;/mfrac&gt;&lt;/math&gt;" id="2074" name="Google Shape;2074;p155" title="equals 7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7450" y="1050750"/>
            <a:ext cx="856505" cy="820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5" name="Google Shape;2075;p155"/>
          <p:cNvGraphicFramePr/>
          <p:nvPr/>
        </p:nvGraphicFramePr>
        <p:xfrm>
          <a:off x="7258875" y="318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82600"/>
                <a:gridCol w="4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6" name="Google Shape;2076;p155"/>
          <p:cNvSpPr txBox="1"/>
          <p:nvPr/>
        </p:nvSpPr>
        <p:spPr>
          <a:xfrm>
            <a:off x="7409025" y="3132269"/>
            <a:ext cx="11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\frac{15}{2}&quot;&gt;&lt;mo&gt;=&lt;/mo&gt;&lt;mfrac&gt;&lt;mn&gt;15&lt;/mn&gt;&lt;mn&gt;2&lt;/mn&gt;&lt;/mfrac&gt;&lt;/math&gt;" id="2077" name="Google Shape;2077;p155" title="equals fifteen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2400" y="1119375"/>
            <a:ext cx="785855" cy="7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56"/>
          <p:cNvSpPr txBox="1"/>
          <p:nvPr>
            <p:ph idx="1" type="body"/>
          </p:nvPr>
        </p:nvSpPr>
        <p:spPr>
          <a:xfrm>
            <a:off x="324000" y="759300"/>
            <a:ext cx="8237700" cy="11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bar model, can you identify the answer to</a:t>
            </a:r>
            <a:endParaRPr/>
          </a:p>
        </p:txBody>
      </p:sp>
      <p:sp>
        <p:nvSpPr>
          <p:cNvPr id="2083" name="Google Shape;2083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\ \div\frac{3}{5}&quot;&gt;&lt;mn&gt;4&lt;/mn&gt;&lt;mtext&gt;&lt;/mtext&gt;&lt;mo&gt;÷&lt;/mo&gt;&lt;mfrac&gt;&lt;mn&gt;3&lt;/mn&gt;&lt;mn&gt;5&lt;/mn&gt;&lt;/mfrac&gt;&lt;/math&gt;" id="2084" name="Google Shape;2084;p156" title="4 division sign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088" y="1338550"/>
            <a:ext cx="1005600" cy="8328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5" name="Google Shape;2085;p156"/>
          <p:cNvGraphicFramePr/>
          <p:nvPr/>
        </p:nvGraphicFramePr>
        <p:xfrm>
          <a:off x="378975" y="243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949025"/>
                <a:gridCol w="1949025"/>
                <a:gridCol w="1949025"/>
                <a:gridCol w="194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86" name="Google Shape;2086;p156"/>
          <p:cNvGraphicFramePr/>
          <p:nvPr/>
        </p:nvGraphicFramePr>
        <p:xfrm>
          <a:off x="378975" y="289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  <a:gridCol w="389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87" name="Google Shape;2087;p156"/>
          <p:cNvGraphicFramePr/>
          <p:nvPr/>
        </p:nvGraphicFramePr>
        <p:xfrm>
          <a:off x="378975" y="33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088" name="Google Shape;2088;p156"/>
          <p:cNvGraphicFramePr/>
          <p:nvPr/>
        </p:nvGraphicFramePr>
        <p:xfrm>
          <a:off x="1548450" y="33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089" name="Google Shape;2089;p156"/>
          <p:cNvGraphicFramePr/>
          <p:nvPr/>
        </p:nvGraphicFramePr>
        <p:xfrm>
          <a:off x="2721375" y="33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090" name="Google Shape;2090;p156"/>
          <p:cNvGraphicFramePr/>
          <p:nvPr/>
        </p:nvGraphicFramePr>
        <p:xfrm>
          <a:off x="3894300" y="33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091" name="Google Shape;2091;p156"/>
          <p:cNvGraphicFramePr/>
          <p:nvPr/>
        </p:nvGraphicFramePr>
        <p:xfrm>
          <a:off x="5063775" y="33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092" name="Google Shape;2092;p156"/>
          <p:cNvGraphicFramePr/>
          <p:nvPr/>
        </p:nvGraphicFramePr>
        <p:xfrm>
          <a:off x="6226880" y="33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unit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093" name="Google Shape;2093;p156"/>
          <p:cNvGraphicFramePr/>
          <p:nvPr/>
        </p:nvGraphicFramePr>
        <p:xfrm>
          <a:off x="7396355" y="33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9825"/>
                <a:gridCol w="389825"/>
                <a:gridCol w="389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4" name="Google Shape;2094;p156"/>
          <p:cNvSpPr txBox="1"/>
          <p:nvPr/>
        </p:nvSpPr>
        <p:spPr>
          <a:xfrm>
            <a:off x="7478288" y="3366575"/>
            <a:ext cx="100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/>
          </a:p>
        </p:txBody>
      </p:sp>
      <p:sp>
        <p:nvSpPr>
          <p:cNvPr id="2095" name="Google Shape;2095;p156"/>
          <p:cNvSpPr/>
          <p:nvPr/>
        </p:nvSpPr>
        <p:spPr>
          <a:xfrm rot="5400000">
            <a:off x="3724975" y="520225"/>
            <a:ext cx="321900" cy="6975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56"/>
          <p:cNvSpPr txBox="1"/>
          <p:nvPr>
            <p:ph idx="1" type="body"/>
          </p:nvPr>
        </p:nvSpPr>
        <p:spPr>
          <a:xfrm>
            <a:off x="2859525" y="4198025"/>
            <a:ext cx="2076300" cy="5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</a:t>
            </a:r>
            <a:r>
              <a:rPr lang="en-GB"/>
              <a:t> full units</a:t>
            </a:r>
            <a:endParaRPr/>
          </a:p>
        </p:txBody>
      </p:sp>
      <p:sp>
        <p:nvSpPr>
          <p:cNvPr id="2097" name="Google Shape;2097;p156"/>
          <p:cNvSpPr/>
          <p:nvPr/>
        </p:nvSpPr>
        <p:spPr>
          <a:xfrm rot="5400000">
            <a:off x="7838575" y="3495575"/>
            <a:ext cx="321900" cy="1083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156"/>
          <p:cNvSpPr txBox="1"/>
          <p:nvPr>
            <p:ph idx="1" type="body"/>
          </p:nvPr>
        </p:nvSpPr>
        <p:spPr>
          <a:xfrm>
            <a:off x="7006525" y="4198025"/>
            <a:ext cx="15534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⅔ </a:t>
            </a:r>
            <a:r>
              <a:rPr lang="en-GB"/>
              <a:t>of a unit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6\frac{2}{3}=\frac{20}{3}\ &quot;&gt;&lt;mo&gt;=&lt;/mo&gt;&lt;mn&gt;6&lt;/mn&gt;&lt;mfrac&gt;&lt;mn&gt;2&lt;/mn&gt;&lt;mn&gt;3&lt;/mn&gt;&lt;/mfrac&gt;&lt;mo&gt;=&lt;/mo&gt;&lt;mfrac&gt;&lt;mn&gt;20&lt;/mn&gt;&lt;mn&gt;3&lt;/mn&gt;&lt;/mfrac&gt;&lt;mtext&gt;&lt;/mtext&gt;&lt;/math&gt;" id="2099" name="Google Shape;2099;p156" title="equals 6 and two thirds equals 20 over 3"/>
          <p:cNvPicPr preferRelativeResize="0"/>
          <p:nvPr/>
        </p:nvPicPr>
        <p:blipFill rotWithShape="1">
          <a:blip r:embed="rId4">
            <a:alphaModFix/>
          </a:blip>
          <a:srcRect b="0" l="0" r="47390" t="0"/>
          <a:stretch/>
        </p:blipFill>
        <p:spPr>
          <a:xfrm>
            <a:off x="4179494" y="1338550"/>
            <a:ext cx="1005600" cy="83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6\frac{2}{3}=\frac{20}{3}\ &quot;&gt;&lt;mo&gt;=&lt;/mo&gt;&lt;mn&gt;6&lt;/mn&gt;&lt;mfrac&gt;&lt;mn&gt;2&lt;/mn&gt;&lt;mn&gt;3&lt;/mn&gt;&lt;/mfrac&gt;&lt;mo&gt;=&lt;/mo&gt;&lt;mfrac&gt;&lt;mn&gt;20&lt;/mn&gt;&lt;mn&gt;3&lt;/mn&gt;&lt;/mfrac&gt;&lt;mtext&gt;&lt;/mtext&gt;&lt;/math&gt;" id="2100" name="Google Shape;2100;p156" title="equals 6 and two thirds equals 20 over 3"/>
          <p:cNvPicPr preferRelativeResize="0"/>
          <p:nvPr/>
        </p:nvPicPr>
        <p:blipFill rotWithShape="1">
          <a:blip r:embed="rId4">
            <a:alphaModFix/>
          </a:blip>
          <a:srcRect b="0" l="49934" r="-58559" t="0"/>
          <a:stretch/>
        </p:blipFill>
        <p:spPr>
          <a:xfrm>
            <a:off x="5218643" y="1338550"/>
            <a:ext cx="2076300" cy="8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5" name="Google Shape;2105;p157"/>
          <p:cNvGraphicFramePr/>
          <p:nvPr/>
        </p:nvGraphicFramePr>
        <p:xfrm>
          <a:off x="519550" y="31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2850"/>
                <a:gridCol w="382850"/>
              </a:tblGrid>
              <a:tr h="497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2106" name="Google Shape;2106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</p:txBody>
      </p:sp>
      <p:sp>
        <p:nvSpPr>
          <p:cNvPr id="2107" name="Google Shape;2107;p157"/>
          <p:cNvSpPr txBox="1"/>
          <p:nvPr>
            <p:ph idx="1" type="subTitle"/>
          </p:nvPr>
        </p:nvSpPr>
        <p:spPr>
          <a:xfrm>
            <a:off x="337825" y="733800"/>
            <a:ext cx="3982200" cy="11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below bar model, work out the answer to the following</a:t>
            </a:r>
            <a:endParaRPr/>
          </a:p>
        </p:txBody>
      </p:sp>
      <p:sp>
        <p:nvSpPr>
          <p:cNvPr id="2108" name="Google Shape;2108;p157"/>
          <p:cNvSpPr txBox="1"/>
          <p:nvPr>
            <p:ph idx="2" type="subTitle"/>
          </p:nvPr>
        </p:nvSpPr>
        <p:spPr>
          <a:xfrm>
            <a:off x="4824000" y="733800"/>
            <a:ext cx="39822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below bar model, work out the answer to the following</a:t>
            </a:r>
            <a:endParaRPr/>
          </a:p>
        </p:txBody>
      </p:sp>
      <p:graphicFrame>
        <p:nvGraphicFramePr>
          <p:cNvPr id="2109" name="Google Shape;2109;p157"/>
          <p:cNvGraphicFramePr/>
          <p:nvPr/>
        </p:nvGraphicFramePr>
        <p:xfrm>
          <a:off x="519550" y="216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148550"/>
                <a:gridCol w="1148550"/>
                <a:gridCol w="1148550"/>
              </a:tblGrid>
              <a:tr h="527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0" name="Google Shape;2110;p157"/>
          <p:cNvGraphicFramePr/>
          <p:nvPr/>
        </p:nvGraphicFramePr>
        <p:xfrm>
          <a:off x="519550" y="269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49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1" name="Google Shape;2111;p157"/>
          <p:cNvSpPr txBox="1"/>
          <p:nvPr/>
        </p:nvSpPr>
        <p:spPr>
          <a:xfrm>
            <a:off x="599728" y="3197563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pic>
        <p:nvPicPr>
          <p:cNvPr descr="&lt;math xmlns=&quot;http://www.w3.org/1998/Math/MathML&quot; display=&quot;block&quot; data-is-equatio=&quot;1&quot; data-latex=&quot;3\ \div\frac{2}{3}=\ 4\frac{1}{2}&quot;&gt;&lt;mn&gt;3&lt;/mn&gt;&lt;mtext&gt;&lt;/mtext&gt;&lt;mo&gt;÷&lt;/mo&gt;&lt;mfrac&gt;&lt;mn&gt;2&lt;/mn&gt;&lt;mn&gt;3&lt;/mn&gt;&lt;/mfrac&gt;&lt;mo&gt;=&lt;/mo&gt;&lt;mtext&gt;&lt;/mtext&gt;&lt;mn&gt;4&lt;/mn&gt;&lt;mfrac&gt;&lt;mn&gt;1&lt;/mn&gt;&lt;mn&gt;2&lt;/mn&gt;&lt;/mfrac&gt;&lt;/math&gt;" id="2112" name="Google Shape;2112;p157" title="3 division sign two thirds equals 4 and one half"/>
          <p:cNvPicPr preferRelativeResize="0"/>
          <p:nvPr/>
        </p:nvPicPr>
        <p:blipFill rotWithShape="1">
          <a:blip r:embed="rId3">
            <a:alphaModFix/>
          </a:blip>
          <a:srcRect b="0" l="0" r="49041" t="0"/>
          <a:stretch/>
        </p:blipFill>
        <p:spPr>
          <a:xfrm>
            <a:off x="2111350" y="1490413"/>
            <a:ext cx="720650" cy="55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div\frac{2}{3}=\ 4\frac{1}{2}&quot;&gt;&lt;mn&gt;3&lt;/mn&gt;&lt;mtext&gt;&lt;/mtext&gt;&lt;mo&gt;÷&lt;/mo&gt;&lt;mfrac&gt;&lt;mn&gt;2&lt;/mn&gt;&lt;mn&gt;3&lt;/mn&gt;&lt;/mfrac&gt;&lt;mo&gt;=&lt;/mo&gt;&lt;mtext&gt;&lt;/mtext&gt;&lt;mn&gt;4&lt;/mn&gt;&lt;mfrac&gt;&lt;mn&gt;1&lt;/mn&gt;&lt;mn&gt;2&lt;/mn&gt;&lt;/mfrac&gt;&lt;/math&gt;" id="2113" name="Google Shape;2113;p157" title="3 division sign two thirds equals 4 and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400" y="4002588"/>
            <a:ext cx="1414225" cy="552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4" name="Google Shape;2114;p157"/>
          <p:cNvGraphicFramePr/>
          <p:nvPr/>
        </p:nvGraphicFramePr>
        <p:xfrm>
          <a:off x="1281550" y="31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2850"/>
                <a:gridCol w="382850"/>
              </a:tblGrid>
              <a:tr h="497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15" name="Google Shape;2115;p157"/>
          <p:cNvGraphicFramePr/>
          <p:nvPr/>
        </p:nvGraphicFramePr>
        <p:xfrm>
          <a:off x="2043550" y="31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2850"/>
                <a:gridCol w="382850"/>
              </a:tblGrid>
              <a:tr h="497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16" name="Google Shape;2116;p157"/>
          <p:cNvGraphicFramePr/>
          <p:nvPr/>
        </p:nvGraphicFramePr>
        <p:xfrm>
          <a:off x="2816650" y="31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2850"/>
                <a:gridCol w="382850"/>
              </a:tblGrid>
              <a:tr h="497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17" name="Google Shape;2117;p157"/>
          <p:cNvGraphicFramePr/>
          <p:nvPr/>
        </p:nvGraphicFramePr>
        <p:xfrm>
          <a:off x="3589750" y="318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382850"/>
                <a:gridCol w="382850"/>
              </a:tblGrid>
              <a:tr h="49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8" name="Google Shape;2118;p157"/>
          <p:cNvSpPr txBox="1"/>
          <p:nvPr/>
        </p:nvSpPr>
        <p:spPr>
          <a:xfrm>
            <a:off x="1336028" y="3197563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119" name="Google Shape;2119;p157"/>
          <p:cNvSpPr txBox="1"/>
          <p:nvPr/>
        </p:nvSpPr>
        <p:spPr>
          <a:xfrm>
            <a:off x="2088728" y="3197563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120" name="Google Shape;2120;p157"/>
          <p:cNvSpPr txBox="1"/>
          <p:nvPr/>
        </p:nvSpPr>
        <p:spPr>
          <a:xfrm>
            <a:off x="2850728" y="3197563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121" name="Google Shape;2121;p157"/>
          <p:cNvSpPr txBox="1"/>
          <p:nvPr/>
        </p:nvSpPr>
        <p:spPr>
          <a:xfrm>
            <a:off x="3612728" y="3197981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pic>
        <p:nvPicPr>
          <p:cNvPr descr="&lt;math xmlns=&quot;http://www.w3.org/1998/Math/MathML&quot; display=&quot;block&quot; data-is-equatio=&quot;1&quot; data-latex=&quot;2\div\frac{3}{4}=2\frac{2}{3}&quot;&gt;&lt;mn&gt;2&lt;/mn&gt;&lt;mo&gt;÷&lt;/mo&gt;&lt;mfrac&gt;&lt;mn&gt;3&lt;/mn&gt;&lt;mn&gt;4&lt;/mn&gt;&lt;/mfrac&gt;&lt;mo&gt;=&lt;/mo&gt;&lt;mn&gt;2&lt;/mn&gt;&lt;mfrac&gt;&lt;mn&gt;2&lt;/mn&gt;&lt;mn&gt;3&lt;/mn&gt;&lt;/mfrac&gt;&lt;/math&gt;" id="2122" name="Google Shape;2122;p157" title="2 divided by three fourths equals 2 and two thirds"/>
          <p:cNvPicPr preferRelativeResize="0"/>
          <p:nvPr/>
        </p:nvPicPr>
        <p:blipFill rotWithShape="1">
          <a:blip r:embed="rId4">
            <a:alphaModFix/>
          </a:blip>
          <a:srcRect b="0" l="0" r="46288" t="0"/>
          <a:stretch/>
        </p:blipFill>
        <p:spPr>
          <a:xfrm>
            <a:off x="6509475" y="1429075"/>
            <a:ext cx="765700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3" name="Google Shape;2123;p157"/>
          <p:cNvGraphicFramePr/>
          <p:nvPr/>
        </p:nvGraphicFramePr>
        <p:xfrm>
          <a:off x="4752950" y="21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834575"/>
                <a:gridCol w="1834575"/>
              </a:tblGrid>
              <a:tr h="46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</a:t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</a:t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4" name="Google Shape;2124;p157"/>
          <p:cNvGraphicFramePr/>
          <p:nvPr/>
        </p:nvGraphicFramePr>
        <p:xfrm>
          <a:off x="4752950" y="266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58650"/>
                <a:gridCol w="458650"/>
                <a:gridCol w="458650"/>
                <a:gridCol w="458650"/>
                <a:gridCol w="458650"/>
                <a:gridCol w="458650"/>
                <a:gridCol w="458650"/>
                <a:gridCol w="458650"/>
              </a:tblGrid>
              <a:tr h="46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25" name="Google Shape;2125;p157"/>
          <p:cNvGraphicFramePr/>
          <p:nvPr/>
        </p:nvGraphicFramePr>
        <p:xfrm>
          <a:off x="4752950" y="3148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58650"/>
                <a:gridCol w="458650"/>
                <a:gridCol w="458650"/>
              </a:tblGrid>
              <a:tr h="461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126" name="Google Shape;2126;p157"/>
          <p:cNvGraphicFramePr/>
          <p:nvPr/>
        </p:nvGraphicFramePr>
        <p:xfrm>
          <a:off x="6128900" y="3148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58650"/>
                <a:gridCol w="458650"/>
                <a:gridCol w="458650"/>
              </a:tblGrid>
              <a:tr h="461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127" name="Google Shape;2127;p157"/>
          <p:cNvGraphicFramePr/>
          <p:nvPr/>
        </p:nvGraphicFramePr>
        <p:xfrm>
          <a:off x="7504850" y="314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58650"/>
                <a:gridCol w="458650"/>
                <a:gridCol w="458650"/>
              </a:tblGrid>
              <a:tr h="46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8" name="Google Shape;2128;p157"/>
          <p:cNvSpPr txBox="1"/>
          <p:nvPr/>
        </p:nvSpPr>
        <p:spPr>
          <a:xfrm>
            <a:off x="5139691" y="3154113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129" name="Google Shape;2129;p157"/>
          <p:cNvSpPr txBox="1"/>
          <p:nvPr/>
        </p:nvSpPr>
        <p:spPr>
          <a:xfrm>
            <a:off x="6502316" y="3141188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130" name="Google Shape;2130;p157"/>
          <p:cNvSpPr txBox="1"/>
          <p:nvPr/>
        </p:nvSpPr>
        <p:spPr>
          <a:xfrm>
            <a:off x="7878266" y="3154113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pic>
        <p:nvPicPr>
          <p:cNvPr descr="&lt;math xmlns=&quot;http://www.w3.org/1998/Math/MathML&quot; display=&quot;block&quot; data-is-equatio=&quot;1&quot; data-latex=&quot;2\div\frac{3}{4}=2\frac{2}{3}&quot;&gt;&lt;mn&gt;2&lt;/mn&gt;&lt;mo&gt;÷&lt;/mo&gt;&lt;mfrac&gt;&lt;mn&gt;3&lt;/mn&gt;&lt;mn&gt;4&lt;/mn&gt;&lt;/mfrac&gt;&lt;mo&gt;=&lt;/mo&gt;&lt;mn&gt;2&lt;/mn&gt;&lt;mfrac&gt;&lt;mn&gt;2&lt;/mn&gt;&lt;mn&gt;3&lt;/mn&gt;&lt;/mfrac&gt;&lt;/math&gt;" id="2131" name="Google Shape;2131;p157" title="2 divided by three fourths equals 2 and two thirds"/>
          <p:cNvPicPr preferRelativeResize="0"/>
          <p:nvPr/>
        </p:nvPicPr>
        <p:blipFill rotWithShape="1">
          <a:blip r:embed="rId4">
            <a:alphaModFix/>
          </a:blip>
          <a:srcRect b="0" l="0" r="-13752" t="0"/>
          <a:stretch/>
        </p:blipFill>
        <p:spPr>
          <a:xfrm>
            <a:off x="5929925" y="3941263"/>
            <a:ext cx="162167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157"/>
          <p:cNvSpPr txBox="1"/>
          <p:nvPr/>
        </p:nvSpPr>
        <p:spPr>
          <a:xfrm>
            <a:off x="3887225" y="2505675"/>
            <a:ext cx="1203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158"/>
          <p:cNvSpPr txBox="1"/>
          <p:nvPr>
            <p:ph idx="1" type="body"/>
          </p:nvPr>
        </p:nvSpPr>
        <p:spPr>
          <a:xfrm>
            <a:off x="303750" y="1112475"/>
            <a:ext cx="2339400" cy="3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the bar models, work out the answers to the following:</a:t>
            </a:r>
            <a:endParaRPr/>
          </a:p>
        </p:txBody>
      </p:sp>
      <p:sp>
        <p:nvSpPr>
          <p:cNvPr id="2138" name="Google Shape;2138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158"/>
          <p:cNvSpPr txBox="1"/>
          <p:nvPr>
            <p:ph idx="1" type="body"/>
          </p:nvPr>
        </p:nvSpPr>
        <p:spPr>
          <a:xfrm>
            <a:off x="2991000" y="1160812"/>
            <a:ext cx="4140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2140" name="Google Shape;2140;p158"/>
          <p:cNvSpPr txBox="1"/>
          <p:nvPr>
            <p:ph idx="1" type="body"/>
          </p:nvPr>
        </p:nvSpPr>
        <p:spPr>
          <a:xfrm>
            <a:off x="2991000" y="2513687"/>
            <a:ext cx="4140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2141" name="Google Shape;2141;p158"/>
          <p:cNvSpPr txBox="1"/>
          <p:nvPr>
            <p:ph idx="1" type="body"/>
          </p:nvPr>
        </p:nvSpPr>
        <p:spPr>
          <a:xfrm>
            <a:off x="2991000" y="3885462"/>
            <a:ext cx="4140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graphicFrame>
        <p:nvGraphicFramePr>
          <p:cNvPr id="2142" name="Google Shape;2142;p158"/>
          <p:cNvGraphicFramePr/>
          <p:nvPr/>
        </p:nvGraphicFramePr>
        <p:xfrm>
          <a:off x="5426925" y="919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358375"/>
                <a:gridCol w="1358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3" name="Google Shape;2143;p158"/>
          <p:cNvGraphicFramePr/>
          <p:nvPr/>
        </p:nvGraphicFramePr>
        <p:xfrm>
          <a:off x="5420949" y="229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905575"/>
                <a:gridCol w="905575"/>
                <a:gridCol w="905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4" name="Google Shape;2144;p158"/>
          <p:cNvGraphicFramePr/>
          <p:nvPr/>
        </p:nvGraphicFramePr>
        <p:xfrm>
          <a:off x="5440914" y="361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738250"/>
                <a:gridCol w="738250"/>
                <a:gridCol w="73825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145" name="Google Shape;2145;p158"/>
          <p:cNvGraphicFramePr/>
          <p:nvPr/>
        </p:nvGraphicFramePr>
        <p:xfrm>
          <a:off x="5440914" y="401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42950"/>
                <a:gridCol w="442950"/>
                <a:gridCol w="442950"/>
                <a:gridCol w="442950"/>
                <a:gridCol w="44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6" name="Google Shape;2146;p158"/>
          <p:cNvGraphicFramePr/>
          <p:nvPr/>
        </p:nvGraphicFramePr>
        <p:xfrm>
          <a:off x="5426925" y="13092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</a:tblGrid>
              <a:tr h="27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7" name="Google Shape;2147;p158"/>
          <p:cNvGraphicFramePr/>
          <p:nvPr/>
        </p:nvGraphicFramePr>
        <p:xfrm>
          <a:off x="5420949" y="26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148" name="Google Shape;2148;p158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0" l="0" r="84353" t="0"/>
          <a:stretch/>
        </p:blipFill>
        <p:spPr>
          <a:xfrm>
            <a:off x="3509830" y="1112482"/>
            <a:ext cx="821900" cy="62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149" name="Google Shape;2149;p158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36180" r="46119" t="-17094"/>
          <a:stretch/>
        </p:blipFill>
        <p:spPr>
          <a:xfrm>
            <a:off x="3315524" y="2287225"/>
            <a:ext cx="929799" cy="77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150" name="Google Shape;2150;p158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70660" r="12494" t="-17094"/>
          <a:stretch/>
        </p:blipFill>
        <p:spPr>
          <a:xfrm>
            <a:off x="3360437" y="3666539"/>
            <a:ext cx="884876" cy="7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159"/>
          <p:cNvSpPr txBox="1"/>
          <p:nvPr>
            <p:ph idx="1" type="body"/>
          </p:nvPr>
        </p:nvSpPr>
        <p:spPr>
          <a:xfrm>
            <a:off x="324000" y="759300"/>
            <a:ext cx="3418500" cy="40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Izzy and Laura have done the following bar models for a question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Both have made an error with their bar model.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Explain where they have made their mistake.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Amend a bar model to help work out the correct answer. </a:t>
            </a:r>
            <a:endParaRPr sz="1900"/>
          </a:p>
        </p:txBody>
      </p:sp>
      <p:sp>
        <p:nvSpPr>
          <p:cNvPr id="2156" name="Google Shape;2156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159"/>
          <p:cNvSpPr txBox="1"/>
          <p:nvPr/>
        </p:nvSpPr>
        <p:spPr>
          <a:xfrm>
            <a:off x="3931350" y="645688"/>
            <a:ext cx="483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“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answer is 9”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158" name="Google Shape;2158;p159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0" r="51333" t="0"/>
          <a:stretch/>
        </p:blipFill>
        <p:spPr>
          <a:xfrm>
            <a:off x="1829675" y="1494788"/>
            <a:ext cx="688200" cy="52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9" name="Google Shape;2159;p159"/>
          <p:cNvGraphicFramePr/>
          <p:nvPr/>
        </p:nvGraphicFramePr>
        <p:xfrm>
          <a:off x="4016225" y="111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0" name="Google Shape;2160;p159"/>
          <p:cNvGraphicFramePr/>
          <p:nvPr/>
        </p:nvGraphicFramePr>
        <p:xfrm>
          <a:off x="4008038" y="3035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1" name="Google Shape;2161;p159"/>
          <p:cNvGraphicFramePr/>
          <p:nvPr/>
        </p:nvGraphicFramePr>
        <p:xfrm>
          <a:off x="4016225" y="149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2" name="Google Shape;2162;p159"/>
          <p:cNvGraphicFramePr/>
          <p:nvPr/>
        </p:nvGraphicFramePr>
        <p:xfrm>
          <a:off x="4007925" y="341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3" name="Google Shape;2163;p159"/>
          <p:cNvGraphicFramePr/>
          <p:nvPr/>
        </p:nvGraphicFramePr>
        <p:xfrm>
          <a:off x="401622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64" name="Google Shape;2164;p159"/>
          <p:cNvGraphicFramePr/>
          <p:nvPr/>
        </p:nvGraphicFramePr>
        <p:xfrm>
          <a:off x="442537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65" name="Google Shape;2165;p159"/>
          <p:cNvGraphicFramePr/>
          <p:nvPr/>
        </p:nvGraphicFramePr>
        <p:xfrm>
          <a:off x="483452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66" name="Google Shape;2166;p159"/>
          <p:cNvGraphicFramePr/>
          <p:nvPr/>
        </p:nvGraphicFramePr>
        <p:xfrm>
          <a:off x="524367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67" name="Google Shape;2167;p159"/>
          <p:cNvGraphicFramePr/>
          <p:nvPr/>
        </p:nvGraphicFramePr>
        <p:xfrm>
          <a:off x="565601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68" name="Google Shape;2168;p159"/>
          <p:cNvGraphicFramePr/>
          <p:nvPr/>
        </p:nvGraphicFramePr>
        <p:xfrm>
          <a:off x="60651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69" name="Google Shape;2169;p159"/>
          <p:cNvGraphicFramePr/>
          <p:nvPr/>
        </p:nvGraphicFramePr>
        <p:xfrm>
          <a:off x="646814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0" name="Google Shape;2170;p159"/>
          <p:cNvGraphicFramePr/>
          <p:nvPr/>
        </p:nvGraphicFramePr>
        <p:xfrm>
          <a:off x="687729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1" name="Google Shape;2171;p159"/>
          <p:cNvGraphicFramePr/>
          <p:nvPr/>
        </p:nvGraphicFramePr>
        <p:xfrm>
          <a:off x="72924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2" name="Google Shape;2172;p159"/>
          <p:cNvGraphicFramePr/>
          <p:nvPr/>
        </p:nvGraphicFramePr>
        <p:xfrm>
          <a:off x="4005087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3" name="Google Shape;2173;p159"/>
          <p:cNvGraphicFramePr/>
          <p:nvPr/>
        </p:nvGraphicFramePr>
        <p:xfrm>
          <a:off x="4361153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4" name="Google Shape;2174;p159"/>
          <p:cNvGraphicFramePr/>
          <p:nvPr/>
        </p:nvGraphicFramePr>
        <p:xfrm>
          <a:off x="4717218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5" name="Google Shape;2175;p159"/>
          <p:cNvGraphicFramePr/>
          <p:nvPr/>
        </p:nvGraphicFramePr>
        <p:xfrm>
          <a:off x="50633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6" name="Google Shape;2176;p159"/>
          <p:cNvGraphicFramePr/>
          <p:nvPr/>
        </p:nvGraphicFramePr>
        <p:xfrm>
          <a:off x="540940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7" name="Google Shape;2177;p159"/>
          <p:cNvGraphicFramePr/>
          <p:nvPr/>
        </p:nvGraphicFramePr>
        <p:xfrm>
          <a:off x="576048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8" name="Google Shape;2178;p159"/>
          <p:cNvGraphicFramePr/>
          <p:nvPr/>
        </p:nvGraphicFramePr>
        <p:xfrm>
          <a:off x="6115149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79" name="Google Shape;2179;p159"/>
          <p:cNvGraphicFramePr/>
          <p:nvPr/>
        </p:nvGraphicFramePr>
        <p:xfrm>
          <a:off x="6459844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80" name="Google Shape;2180;p159"/>
          <p:cNvGraphicFramePr/>
          <p:nvPr/>
        </p:nvGraphicFramePr>
        <p:xfrm>
          <a:off x="68159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81" name="Google Shape;2181;p159"/>
          <p:cNvGraphicFramePr/>
          <p:nvPr/>
        </p:nvGraphicFramePr>
        <p:xfrm>
          <a:off x="717696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182" name="Google Shape;2182;p159"/>
          <p:cNvGraphicFramePr/>
          <p:nvPr/>
        </p:nvGraphicFramePr>
        <p:xfrm>
          <a:off x="7534682" y="3826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83" name="Google Shape;2183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6375" y="2479775"/>
            <a:ext cx="2944851" cy="499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160"/>
          <p:cNvSpPr txBox="1"/>
          <p:nvPr>
            <p:ph idx="1" type="body"/>
          </p:nvPr>
        </p:nvSpPr>
        <p:spPr>
          <a:xfrm>
            <a:off x="324000" y="759300"/>
            <a:ext cx="82377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Using squared paper, draw your own bar models to work out the answers to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 \div\frac{2}{3}=7\frac{1}{2}\ \ \ \ \ \ \ \ \ \ \ 7\div\frac{2}{3}=10\frac{1}{2}\ \ \ \ \ \ \ \ \ \ \ \ \ 4\div\frac{9}{10}=4\frac{4}{9}&quot;&gt;&lt;mn&gt;5&lt;/mn&gt;&lt;mtext&gt;&lt;/mtext&gt;&lt;mo&gt;÷&lt;/mo&gt;&lt;mfrac&gt;&lt;mn&gt;2&lt;/mn&gt;&lt;mn&gt;3&lt;/mn&gt;&lt;/mfrac&gt;&lt;mo&gt;=&lt;/mo&gt;&lt;mn&gt;7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7&lt;/mn&gt;&lt;mo&gt;÷&lt;/mo&gt;&lt;mfrac&gt;&lt;mn&gt;2&lt;/mn&gt;&lt;mn&gt;3&lt;/mn&gt;&lt;/mfrac&gt;&lt;mo&gt;=&lt;/mo&gt;&lt;mn&gt;10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190" name="Google Shape;2190;p160" title="5 division sign two thirds equals 7 and one half 7 divided by two thirds equals 10 and one half 4 divided by nine tenths equals 4 and four ninths"/>
          <p:cNvPicPr preferRelativeResize="0"/>
          <p:nvPr/>
        </p:nvPicPr>
        <p:blipFill rotWithShape="1">
          <a:blip r:embed="rId3">
            <a:alphaModFix/>
          </a:blip>
          <a:srcRect b="0" l="0" r="83612" t="0"/>
          <a:stretch/>
        </p:blipFill>
        <p:spPr>
          <a:xfrm>
            <a:off x="784800" y="1621525"/>
            <a:ext cx="992701" cy="57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div\frac{3}{4}=9\frac{1}{3}\ \ \ \ \ \ \ \ \ \ \ \ \ 4\div\frac{9}{10}=4\frac{4}{9}&quot;&gt;&lt;mn&gt;7&lt;/mn&gt;&lt;mo&gt;÷&lt;/mo&gt;&lt;mfrac&gt;&lt;mn&gt;3&lt;/mn&gt;&lt;mn&gt;4&lt;/mn&gt;&lt;/mfrac&gt;&lt;mo&gt;=&lt;/mo&gt;&lt;mn&gt;9&lt;/mn&gt;&lt;mfrac&gt;&lt;mn&gt;1&lt;/mn&gt;&lt;mn&gt;3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191" name="Google Shape;2191;p160" title="7 divided by three fourths equals 9 and one third 4 divided by nine tenths equals 4 and four ninths"/>
          <p:cNvPicPr preferRelativeResize="0"/>
          <p:nvPr/>
        </p:nvPicPr>
        <p:blipFill rotWithShape="1">
          <a:blip r:embed="rId4">
            <a:alphaModFix/>
          </a:blip>
          <a:srcRect b="0" l="0" r="73986" t="0"/>
          <a:stretch/>
        </p:blipFill>
        <p:spPr>
          <a:xfrm>
            <a:off x="784800" y="2622363"/>
            <a:ext cx="992700" cy="586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div\frac{3}{5}=8\frac{1}{5}&quot;&gt;&lt;mn&gt;5&lt;/mn&gt;&lt;mtext&gt;&lt;/mtext&gt;&lt;mo&gt;÷&lt;/mo&gt;&lt;mfrac&gt;&lt;mn&gt;3&lt;/mn&gt;&lt;mn&gt;5&lt;/mn&gt;&lt;/mfrac&gt;&lt;mo&gt;=&lt;/mo&gt;&lt;mn&gt;8&lt;/mn&gt;&lt;mfrac&gt;&lt;mn&gt;1&lt;/mn&gt;&lt;mn&gt;5&lt;/mn&gt;&lt;/mfrac&gt;&lt;/math&gt;" id="2192" name="Google Shape;2192;p160" title="5 division sign three fifths equals 8 and one fifth"/>
          <p:cNvPicPr preferRelativeResize="0"/>
          <p:nvPr/>
        </p:nvPicPr>
        <p:blipFill rotWithShape="1">
          <a:blip r:embed="rId5">
            <a:alphaModFix/>
          </a:blip>
          <a:srcRect b="0" l="0" r="25037" t="0"/>
          <a:stretch/>
        </p:blipFill>
        <p:spPr>
          <a:xfrm>
            <a:off x="706198" y="3636350"/>
            <a:ext cx="1071300" cy="5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161"/>
          <p:cNvSpPr txBox="1"/>
          <p:nvPr>
            <p:ph idx="1" type="body"/>
          </p:nvPr>
        </p:nvSpPr>
        <p:spPr>
          <a:xfrm>
            <a:off x="324000" y="1140300"/>
            <a:ext cx="2336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the bar models, work out the answers to the following:</a:t>
            </a:r>
            <a:endParaRPr/>
          </a:p>
        </p:txBody>
      </p:sp>
      <p:sp>
        <p:nvSpPr>
          <p:cNvPr id="2198" name="Google Shape;2198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161"/>
          <p:cNvSpPr txBox="1"/>
          <p:nvPr>
            <p:ph idx="1" type="body"/>
          </p:nvPr>
        </p:nvSpPr>
        <p:spPr>
          <a:xfrm>
            <a:off x="2991000" y="1160812"/>
            <a:ext cx="4140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2200" name="Google Shape;2200;p161"/>
          <p:cNvSpPr txBox="1"/>
          <p:nvPr>
            <p:ph idx="1" type="body"/>
          </p:nvPr>
        </p:nvSpPr>
        <p:spPr>
          <a:xfrm>
            <a:off x="2991000" y="2513687"/>
            <a:ext cx="4140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2201" name="Google Shape;2201;p161"/>
          <p:cNvSpPr txBox="1"/>
          <p:nvPr>
            <p:ph idx="1" type="body"/>
          </p:nvPr>
        </p:nvSpPr>
        <p:spPr>
          <a:xfrm>
            <a:off x="2991000" y="3885462"/>
            <a:ext cx="4140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02" name="Google Shape;2202;p16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0" l="0" r="69292" t="0"/>
          <a:stretch/>
        </p:blipFill>
        <p:spPr>
          <a:xfrm>
            <a:off x="3509820" y="1112475"/>
            <a:ext cx="1613076" cy="62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03" name="Google Shape;2203;p16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36180" r="30555" t="-17094"/>
          <a:stretch/>
        </p:blipFill>
        <p:spPr>
          <a:xfrm>
            <a:off x="3315526" y="2287225"/>
            <a:ext cx="1747324" cy="77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04" name="Google Shape;2204;p16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70658" r="-2086" t="-17094"/>
          <a:stretch/>
        </p:blipFill>
        <p:spPr>
          <a:xfrm>
            <a:off x="3360414" y="3666550"/>
            <a:ext cx="1650926" cy="774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5" name="Google Shape;2205;p161"/>
          <p:cNvGraphicFramePr/>
          <p:nvPr/>
        </p:nvGraphicFramePr>
        <p:xfrm>
          <a:off x="5426925" y="919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358375"/>
                <a:gridCol w="1358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6" name="Google Shape;2206;p161"/>
          <p:cNvGraphicFramePr/>
          <p:nvPr/>
        </p:nvGraphicFramePr>
        <p:xfrm>
          <a:off x="5420949" y="229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905575"/>
                <a:gridCol w="905575"/>
                <a:gridCol w="905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7" name="Google Shape;2207;p161"/>
          <p:cNvGraphicFramePr/>
          <p:nvPr/>
        </p:nvGraphicFramePr>
        <p:xfrm>
          <a:off x="5440914" y="361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738250"/>
                <a:gridCol w="738250"/>
                <a:gridCol w="73825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208" name="Google Shape;2208;p161"/>
          <p:cNvGraphicFramePr/>
          <p:nvPr/>
        </p:nvGraphicFramePr>
        <p:xfrm>
          <a:off x="5440914" y="401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42950"/>
                <a:gridCol w="442950"/>
                <a:gridCol w="442950"/>
                <a:gridCol w="442950"/>
                <a:gridCol w="44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9" name="Google Shape;2209;p161"/>
          <p:cNvGraphicFramePr/>
          <p:nvPr/>
        </p:nvGraphicFramePr>
        <p:xfrm>
          <a:off x="5426925" y="13092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  <a:gridCol w="271700"/>
              </a:tblGrid>
              <a:tr h="27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0" name="Google Shape;2210;p161"/>
          <p:cNvGraphicFramePr/>
          <p:nvPr/>
        </p:nvGraphicFramePr>
        <p:xfrm>
          <a:off x="5420949" y="2686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  <a:gridCol w="18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1" name="Google Shape;2211;p161"/>
          <p:cNvGraphicFramePr/>
          <p:nvPr/>
        </p:nvGraphicFramePr>
        <p:xfrm>
          <a:off x="5426925" y="17054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71700"/>
                <a:gridCol w="271700"/>
                <a:gridCol w="2717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212" name="Google Shape;2212;p161"/>
          <p:cNvGraphicFramePr/>
          <p:nvPr/>
        </p:nvGraphicFramePr>
        <p:xfrm>
          <a:off x="6242025" y="17054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71700"/>
                <a:gridCol w="271700"/>
                <a:gridCol w="2717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213" name="Google Shape;2213;p161"/>
          <p:cNvGraphicFramePr/>
          <p:nvPr/>
        </p:nvGraphicFramePr>
        <p:xfrm>
          <a:off x="7057125" y="17054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71700"/>
                <a:gridCol w="271700"/>
                <a:gridCol w="2717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214" name="Google Shape;2214;p161"/>
          <p:cNvGraphicFramePr/>
          <p:nvPr/>
        </p:nvGraphicFramePr>
        <p:xfrm>
          <a:off x="7872225" y="17054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71700"/>
                <a:gridCol w="271700"/>
                <a:gridCol w="27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5" name="Google Shape;2215;p161"/>
          <p:cNvGraphicFramePr/>
          <p:nvPr/>
        </p:nvGraphicFramePr>
        <p:xfrm>
          <a:off x="5440914" y="4418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42950"/>
                <a:gridCol w="4429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16" name="Google Shape;2216;p161"/>
          <p:cNvGraphicFramePr/>
          <p:nvPr/>
        </p:nvGraphicFramePr>
        <p:xfrm>
          <a:off x="6326814" y="44159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42950"/>
                <a:gridCol w="4429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17" name="Google Shape;2217;p161"/>
          <p:cNvGraphicFramePr/>
          <p:nvPr/>
        </p:nvGraphicFramePr>
        <p:xfrm>
          <a:off x="7212714" y="4418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442950"/>
                <a:gridCol w="44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8" name="Google Shape;2218;p161"/>
          <p:cNvGraphicFramePr/>
          <p:nvPr/>
        </p:nvGraphicFramePr>
        <p:xfrm>
          <a:off x="7592392" y="3082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81125"/>
                <a:gridCol w="181125"/>
                <a:gridCol w="181125"/>
                <a:gridCol w="18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9" name="Google Shape;2219;p161"/>
          <p:cNvGraphicFramePr/>
          <p:nvPr/>
        </p:nvGraphicFramePr>
        <p:xfrm>
          <a:off x="5420937" y="30827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81125"/>
                <a:gridCol w="181125"/>
                <a:gridCol w="181125"/>
                <a:gridCol w="181125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220" name="Google Shape;2220;p161"/>
          <p:cNvGraphicFramePr/>
          <p:nvPr/>
        </p:nvGraphicFramePr>
        <p:xfrm>
          <a:off x="6145449" y="3084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81125"/>
                <a:gridCol w="181125"/>
                <a:gridCol w="181125"/>
                <a:gridCol w="181125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221" name="Google Shape;2221;p161"/>
          <p:cNvGraphicFramePr/>
          <p:nvPr/>
        </p:nvGraphicFramePr>
        <p:xfrm>
          <a:off x="6855289" y="3082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81125"/>
                <a:gridCol w="181125"/>
                <a:gridCol w="181125"/>
                <a:gridCol w="181125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2222" name="Google Shape;2222;p161"/>
          <p:cNvSpPr txBox="1"/>
          <p:nvPr/>
        </p:nvSpPr>
        <p:spPr>
          <a:xfrm>
            <a:off x="5519928" y="1646462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23" name="Google Shape;2223;p161"/>
          <p:cNvSpPr txBox="1"/>
          <p:nvPr/>
        </p:nvSpPr>
        <p:spPr>
          <a:xfrm>
            <a:off x="6306642" y="1646462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24" name="Google Shape;2224;p161"/>
          <p:cNvSpPr txBox="1"/>
          <p:nvPr/>
        </p:nvSpPr>
        <p:spPr>
          <a:xfrm>
            <a:off x="7111547" y="1646462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25" name="Google Shape;2225;p161"/>
          <p:cNvSpPr txBox="1"/>
          <p:nvPr/>
        </p:nvSpPr>
        <p:spPr>
          <a:xfrm>
            <a:off x="7949747" y="1646462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26" name="Google Shape;2226;p161"/>
          <p:cNvSpPr txBox="1"/>
          <p:nvPr/>
        </p:nvSpPr>
        <p:spPr>
          <a:xfrm>
            <a:off x="5477023" y="3051356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27" name="Google Shape;2227;p161"/>
          <p:cNvSpPr txBox="1"/>
          <p:nvPr/>
        </p:nvSpPr>
        <p:spPr>
          <a:xfrm>
            <a:off x="6162823" y="3051356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28" name="Google Shape;2228;p161"/>
          <p:cNvSpPr txBox="1"/>
          <p:nvPr/>
        </p:nvSpPr>
        <p:spPr>
          <a:xfrm>
            <a:off x="6924823" y="3051356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29" name="Google Shape;2229;p161"/>
          <p:cNvSpPr txBox="1"/>
          <p:nvPr/>
        </p:nvSpPr>
        <p:spPr>
          <a:xfrm>
            <a:off x="7610623" y="3051356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30" name="Google Shape;2230;p161"/>
          <p:cNvSpPr txBox="1"/>
          <p:nvPr/>
        </p:nvSpPr>
        <p:spPr>
          <a:xfrm>
            <a:off x="5545672" y="4371470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31" name="Google Shape;2231;p161"/>
          <p:cNvSpPr txBox="1"/>
          <p:nvPr/>
        </p:nvSpPr>
        <p:spPr>
          <a:xfrm>
            <a:off x="6460072" y="4371470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sp>
        <p:nvSpPr>
          <p:cNvPr id="2232" name="Google Shape;2232;p161"/>
          <p:cNvSpPr txBox="1"/>
          <p:nvPr/>
        </p:nvSpPr>
        <p:spPr>
          <a:xfrm>
            <a:off x="7298272" y="4371470"/>
            <a:ext cx="6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300"/>
          </a:p>
        </p:txBody>
      </p:sp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33" name="Google Shape;2233;p16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0" l="0" r="84353" t="0"/>
          <a:stretch/>
        </p:blipFill>
        <p:spPr>
          <a:xfrm>
            <a:off x="3509830" y="1112482"/>
            <a:ext cx="821900" cy="62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34" name="Google Shape;2234;p16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36180" r="46119" t="-17094"/>
          <a:stretch/>
        </p:blipFill>
        <p:spPr>
          <a:xfrm>
            <a:off x="3315524" y="2287225"/>
            <a:ext cx="929799" cy="774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235" name="Google Shape;2235;p16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70660" r="12494" t="-17094"/>
          <a:stretch/>
        </p:blipFill>
        <p:spPr>
          <a:xfrm>
            <a:off x="3360437" y="3666539"/>
            <a:ext cx="884876" cy="7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162"/>
          <p:cNvSpPr txBox="1"/>
          <p:nvPr>
            <p:ph idx="1" type="body"/>
          </p:nvPr>
        </p:nvSpPr>
        <p:spPr>
          <a:xfrm>
            <a:off x="324000" y="759300"/>
            <a:ext cx="345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Izzy and Laura have done the following bar models for a question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Both have made an error with their bar model.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Explain where they have made their mistake.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Amend a bar model to help work out the correct answer. </a:t>
            </a:r>
            <a:endParaRPr sz="1900"/>
          </a:p>
        </p:txBody>
      </p:sp>
      <p:sp>
        <p:nvSpPr>
          <p:cNvPr id="2241" name="Google Shape;2241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162"/>
          <p:cNvSpPr txBox="1"/>
          <p:nvPr/>
        </p:nvSpPr>
        <p:spPr>
          <a:xfrm>
            <a:off x="3931350" y="645688"/>
            <a:ext cx="483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“The answer is 9”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243" name="Google Shape;2243;p162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0" r="51333" t="0"/>
          <a:stretch/>
        </p:blipFill>
        <p:spPr>
          <a:xfrm>
            <a:off x="1829675" y="1494788"/>
            <a:ext cx="688200" cy="52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44" name="Google Shape;2244;p162"/>
          <p:cNvGraphicFramePr/>
          <p:nvPr/>
        </p:nvGraphicFramePr>
        <p:xfrm>
          <a:off x="4016225" y="111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5" name="Google Shape;2245;p162"/>
          <p:cNvGraphicFramePr/>
          <p:nvPr/>
        </p:nvGraphicFramePr>
        <p:xfrm>
          <a:off x="4008038" y="3035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6" name="Google Shape;2246;p162"/>
          <p:cNvGraphicFramePr/>
          <p:nvPr/>
        </p:nvGraphicFramePr>
        <p:xfrm>
          <a:off x="4016225" y="149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7" name="Google Shape;2247;p162"/>
          <p:cNvGraphicFramePr/>
          <p:nvPr/>
        </p:nvGraphicFramePr>
        <p:xfrm>
          <a:off x="4007925" y="341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8" name="Google Shape;2248;p162"/>
          <p:cNvGraphicFramePr/>
          <p:nvPr/>
        </p:nvGraphicFramePr>
        <p:xfrm>
          <a:off x="401622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49" name="Google Shape;2249;p162"/>
          <p:cNvGraphicFramePr/>
          <p:nvPr/>
        </p:nvGraphicFramePr>
        <p:xfrm>
          <a:off x="442537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0" name="Google Shape;2250;p162"/>
          <p:cNvGraphicFramePr/>
          <p:nvPr/>
        </p:nvGraphicFramePr>
        <p:xfrm>
          <a:off x="483452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1" name="Google Shape;2251;p162"/>
          <p:cNvGraphicFramePr/>
          <p:nvPr/>
        </p:nvGraphicFramePr>
        <p:xfrm>
          <a:off x="524367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2" name="Google Shape;2252;p162"/>
          <p:cNvGraphicFramePr/>
          <p:nvPr/>
        </p:nvGraphicFramePr>
        <p:xfrm>
          <a:off x="565601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3" name="Google Shape;2253;p162"/>
          <p:cNvGraphicFramePr/>
          <p:nvPr/>
        </p:nvGraphicFramePr>
        <p:xfrm>
          <a:off x="60651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4" name="Google Shape;2254;p162"/>
          <p:cNvGraphicFramePr/>
          <p:nvPr/>
        </p:nvGraphicFramePr>
        <p:xfrm>
          <a:off x="646814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5" name="Google Shape;2255;p162"/>
          <p:cNvGraphicFramePr/>
          <p:nvPr/>
        </p:nvGraphicFramePr>
        <p:xfrm>
          <a:off x="687729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6" name="Google Shape;2256;p162"/>
          <p:cNvGraphicFramePr/>
          <p:nvPr/>
        </p:nvGraphicFramePr>
        <p:xfrm>
          <a:off x="72924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7" name="Google Shape;2257;p162"/>
          <p:cNvGraphicFramePr/>
          <p:nvPr/>
        </p:nvGraphicFramePr>
        <p:xfrm>
          <a:off x="4005087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8" name="Google Shape;2258;p162"/>
          <p:cNvGraphicFramePr/>
          <p:nvPr/>
        </p:nvGraphicFramePr>
        <p:xfrm>
          <a:off x="4361153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59" name="Google Shape;2259;p162"/>
          <p:cNvGraphicFramePr/>
          <p:nvPr/>
        </p:nvGraphicFramePr>
        <p:xfrm>
          <a:off x="4717218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0" name="Google Shape;2260;p162"/>
          <p:cNvGraphicFramePr/>
          <p:nvPr/>
        </p:nvGraphicFramePr>
        <p:xfrm>
          <a:off x="50633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1" name="Google Shape;2261;p162"/>
          <p:cNvGraphicFramePr/>
          <p:nvPr/>
        </p:nvGraphicFramePr>
        <p:xfrm>
          <a:off x="540940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2" name="Google Shape;2262;p162"/>
          <p:cNvGraphicFramePr/>
          <p:nvPr/>
        </p:nvGraphicFramePr>
        <p:xfrm>
          <a:off x="576048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3" name="Google Shape;2263;p162"/>
          <p:cNvGraphicFramePr/>
          <p:nvPr/>
        </p:nvGraphicFramePr>
        <p:xfrm>
          <a:off x="6115149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4" name="Google Shape;2264;p162"/>
          <p:cNvGraphicFramePr/>
          <p:nvPr/>
        </p:nvGraphicFramePr>
        <p:xfrm>
          <a:off x="6459844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5" name="Google Shape;2265;p162"/>
          <p:cNvGraphicFramePr/>
          <p:nvPr/>
        </p:nvGraphicFramePr>
        <p:xfrm>
          <a:off x="68159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6" name="Google Shape;2266;p162"/>
          <p:cNvGraphicFramePr/>
          <p:nvPr/>
        </p:nvGraphicFramePr>
        <p:xfrm>
          <a:off x="717696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67" name="Google Shape;2267;p162"/>
          <p:cNvGraphicFramePr/>
          <p:nvPr/>
        </p:nvGraphicFramePr>
        <p:xfrm>
          <a:off x="7534682" y="3826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68" name="Google Shape;2268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4325" y="2380900"/>
            <a:ext cx="2953975" cy="5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" name="Google Shape;2273;p163"/>
          <p:cNvGraphicFramePr/>
          <p:nvPr/>
        </p:nvGraphicFramePr>
        <p:xfrm>
          <a:off x="4019425" y="1505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4" name="Google Shape;2274;p163"/>
          <p:cNvSpPr txBox="1"/>
          <p:nvPr>
            <p:ph idx="1" type="body"/>
          </p:nvPr>
        </p:nvSpPr>
        <p:spPr>
          <a:xfrm>
            <a:off x="324000" y="759300"/>
            <a:ext cx="345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</a:t>
            </a:r>
            <a:r>
              <a:rPr lang="en-GB" sz="1900"/>
              <a:t>Explain where they have made their mistake for the question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275" name="Google Shape;2275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163"/>
          <p:cNvSpPr txBox="1"/>
          <p:nvPr/>
        </p:nvSpPr>
        <p:spPr>
          <a:xfrm>
            <a:off x="3931350" y="645688"/>
            <a:ext cx="483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“The answer is 9”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277" name="Google Shape;2277;p163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0" r="51333" t="0"/>
          <a:stretch/>
        </p:blipFill>
        <p:spPr>
          <a:xfrm>
            <a:off x="1829675" y="1494788"/>
            <a:ext cx="688200" cy="52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8" name="Google Shape;2278;p163"/>
          <p:cNvGraphicFramePr/>
          <p:nvPr/>
        </p:nvGraphicFramePr>
        <p:xfrm>
          <a:off x="4016225" y="111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9" name="Google Shape;2279;p163"/>
          <p:cNvGraphicFramePr/>
          <p:nvPr/>
        </p:nvGraphicFramePr>
        <p:xfrm>
          <a:off x="4016225" y="1503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0" name="Google Shape;2280;p163"/>
          <p:cNvGraphicFramePr/>
          <p:nvPr/>
        </p:nvGraphicFramePr>
        <p:xfrm>
          <a:off x="401622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1" name="Google Shape;2281;p163"/>
          <p:cNvGraphicFramePr/>
          <p:nvPr/>
        </p:nvGraphicFramePr>
        <p:xfrm>
          <a:off x="442537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2" name="Google Shape;2282;p163"/>
          <p:cNvGraphicFramePr/>
          <p:nvPr/>
        </p:nvGraphicFramePr>
        <p:xfrm>
          <a:off x="483452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3" name="Google Shape;2283;p163"/>
          <p:cNvGraphicFramePr/>
          <p:nvPr/>
        </p:nvGraphicFramePr>
        <p:xfrm>
          <a:off x="524367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4" name="Google Shape;2284;p163"/>
          <p:cNvGraphicFramePr/>
          <p:nvPr/>
        </p:nvGraphicFramePr>
        <p:xfrm>
          <a:off x="565601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5" name="Google Shape;2285;p163"/>
          <p:cNvGraphicFramePr/>
          <p:nvPr/>
        </p:nvGraphicFramePr>
        <p:xfrm>
          <a:off x="60651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6" name="Google Shape;2286;p163"/>
          <p:cNvGraphicFramePr/>
          <p:nvPr/>
        </p:nvGraphicFramePr>
        <p:xfrm>
          <a:off x="646814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7" name="Google Shape;2287;p163"/>
          <p:cNvGraphicFramePr/>
          <p:nvPr/>
        </p:nvGraphicFramePr>
        <p:xfrm>
          <a:off x="687729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288" name="Google Shape;2288;p163"/>
          <p:cNvGraphicFramePr/>
          <p:nvPr/>
        </p:nvGraphicFramePr>
        <p:xfrm>
          <a:off x="72924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2289" name="Google Shape;2289;p163"/>
          <p:cNvSpPr txBox="1"/>
          <p:nvPr>
            <p:ph idx="1" type="body"/>
          </p:nvPr>
        </p:nvSpPr>
        <p:spPr>
          <a:xfrm>
            <a:off x="324000" y="2379300"/>
            <a:ext cx="345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Izzy has divided each 1 into sixths rather than sevenths. 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Izzy has calculated 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3\div\frac{2}{6}=9&quot;&gt;&lt;mn&gt;3&lt;/mn&gt;&lt;mo&gt;÷&lt;/mo&gt;&lt;mfrac&gt;&lt;mn&gt;2&lt;/mn&gt;&lt;mn&gt;6&lt;/mn&gt;&lt;/mfrac&gt;&lt;mo&gt;=&lt;/mo&gt;&lt;mn&gt;9&lt;/mn&gt;&lt;/math&gt;" id="2290" name="Google Shape;2290;p163" title="3 divided by two sixths equals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4225" y="3623831"/>
            <a:ext cx="1351095" cy="6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164"/>
          <p:cNvSpPr txBox="1"/>
          <p:nvPr>
            <p:ph idx="1" type="body"/>
          </p:nvPr>
        </p:nvSpPr>
        <p:spPr>
          <a:xfrm>
            <a:off x="324000" y="759300"/>
            <a:ext cx="345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Explain where they have made their mistake for the question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296" name="Google Shape;2296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297" name="Google Shape;2297;p164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0" r="51333" t="0"/>
          <a:stretch/>
        </p:blipFill>
        <p:spPr>
          <a:xfrm>
            <a:off x="1829675" y="1494788"/>
            <a:ext cx="688200" cy="52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8" name="Google Shape;2298;p164"/>
          <p:cNvGraphicFramePr/>
          <p:nvPr/>
        </p:nvGraphicFramePr>
        <p:xfrm>
          <a:off x="4008038" y="3035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99" name="Google Shape;2299;p164"/>
          <p:cNvGraphicFramePr/>
          <p:nvPr/>
        </p:nvGraphicFramePr>
        <p:xfrm>
          <a:off x="4007925" y="341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0" name="Google Shape;2300;p164"/>
          <p:cNvGraphicFramePr/>
          <p:nvPr/>
        </p:nvGraphicFramePr>
        <p:xfrm>
          <a:off x="4005087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1" name="Google Shape;2301;p164"/>
          <p:cNvGraphicFramePr/>
          <p:nvPr/>
        </p:nvGraphicFramePr>
        <p:xfrm>
          <a:off x="4361153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2" name="Google Shape;2302;p164"/>
          <p:cNvGraphicFramePr/>
          <p:nvPr/>
        </p:nvGraphicFramePr>
        <p:xfrm>
          <a:off x="4717218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3" name="Google Shape;2303;p164"/>
          <p:cNvGraphicFramePr/>
          <p:nvPr/>
        </p:nvGraphicFramePr>
        <p:xfrm>
          <a:off x="50633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4" name="Google Shape;2304;p164"/>
          <p:cNvGraphicFramePr/>
          <p:nvPr/>
        </p:nvGraphicFramePr>
        <p:xfrm>
          <a:off x="540940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5" name="Google Shape;2305;p164"/>
          <p:cNvGraphicFramePr/>
          <p:nvPr/>
        </p:nvGraphicFramePr>
        <p:xfrm>
          <a:off x="576048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6" name="Google Shape;2306;p164"/>
          <p:cNvGraphicFramePr/>
          <p:nvPr/>
        </p:nvGraphicFramePr>
        <p:xfrm>
          <a:off x="6115149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7" name="Google Shape;2307;p164"/>
          <p:cNvGraphicFramePr/>
          <p:nvPr/>
        </p:nvGraphicFramePr>
        <p:xfrm>
          <a:off x="6459844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8" name="Google Shape;2308;p164"/>
          <p:cNvGraphicFramePr/>
          <p:nvPr/>
        </p:nvGraphicFramePr>
        <p:xfrm>
          <a:off x="68159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09" name="Google Shape;2309;p164"/>
          <p:cNvGraphicFramePr/>
          <p:nvPr/>
        </p:nvGraphicFramePr>
        <p:xfrm>
          <a:off x="717696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10" name="Google Shape;2310;p164"/>
          <p:cNvGraphicFramePr/>
          <p:nvPr/>
        </p:nvGraphicFramePr>
        <p:xfrm>
          <a:off x="7534682" y="3826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311" name="Google Shape;2311;p164"/>
          <p:cNvSpPr txBox="1"/>
          <p:nvPr>
            <p:ph idx="1" type="body"/>
          </p:nvPr>
        </p:nvSpPr>
        <p:spPr>
          <a:xfrm>
            <a:off x="324000" y="2379300"/>
            <a:ext cx="345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Laura started to correctly use a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312" name="Google Shape;2312;p164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30305" r="51333" t="0"/>
          <a:stretch/>
        </p:blipFill>
        <p:spPr>
          <a:xfrm>
            <a:off x="1450675" y="2751425"/>
            <a:ext cx="196623" cy="39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7}&quot;&gt;&lt;mfrac&gt;&lt;mn&gt;7&lt;/mn&gt;&lt;mn&gt;7&lt;/mn&gt;&lt;/mfrac&gt;&lt;/math&gt;" id="2313" name="Google Shape;2313;p164" title="seven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475" y="3541500"/>
            <a:ext cx="145175" cy="477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4" name="Google Shape;2314;p164"/>
          <p:cNvGraphicFramePr/>
          <p:nvPr/>
        </p:nvGraphicFramePr>
        <p:xfrm>
          <a:off x="7534682" y="3826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5" name="Google Shape;2315;p164"/>
          <p:cNvSpPr txBox="1"/>
          <p:nvPr>
            <p:ph idx="1" type="body"/>
          </p:nvPr>
        </p:nvSpPr>
        <p:spPr>
          <a:xfrm>
            <a:off x="324000" y="2760300"/>
            <a:ext cx="345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unit to be    , but then</a:t>
            </a:r>
            <a:endParaRPr sz="1900"/>
          </a:p>
        </p:txBody>
      </p:sp>
      <p:sp>
        <p:nvSpPr>
          <p:cNvPr id="2316" name="Google Shape;2316;p164"/>
          <p:cNvSpPr txBox="1"/>
          <p:nvPr>
            <p:ph idx="1" type="body"/>
          </p:nvPr>
        </p:nvSpPr>
        <p:spPr>
          <a:xfrm>
            <a:off x="324000" y="3141300"/>
            <a:ext cx="345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incorrectly changed the unit to </a:t>
            </a:r>
            <a:endParaRPr sz="1900"/>
          </a:p>
        </p:txBody>
      </p:sp>
      <p:sp>
        <p:nvSpPr>
          <p:cNvPr id="2317" name="Google Shape;2317;p164"/>
          <p:cNvSpPr txBox="1"/>
          <p:nvPr>
            <p:ph idx="1" type="body"/>
          </p:nvPr>
        </p:nvSpPr>
        <p:spPr>
          <a:xfrm>
            <a:off x="324000" y="3522300"/>
            <a:ext cx="345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be     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318" name="Google Shape;2318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4325" y="2380900"/>
            <a:ext cx="2953975" cy="5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65"/>
          <p:cNvSpPr txBox="1"/>
          <p:nvPr>
            <p:ph idx="1" type="body"/>
          </p:nvPr>
        </p:nvSpPr>
        <p:spPr>
          <a:xfrm>
            <a:off x="324000" y="759300"/>
            <a:ext cx="3456000" cy="14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Amend a bar model to help work out the correct answer.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324" name="Google Shape;2324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165"/>
          <p:cNvSpPr txBox="1"/>
          <p:nvPr/>
        </p:nvSpPr>
        <p:spPr>
          <a:xfrm>
            <a:off x="3931350" y="645688"/>
            <a:ext cx="483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“The answer is 9”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326" name="Google Shape;2326;p165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0" r="51333" t="0"/>
          <a:stretch/>
        </p:blipFill>
        <p:spPr>
          <a:xfrm>
            <a:off x="1829675" y="1494788"/>
            <a:ext cx="688200" cy="523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27" name="Google Shape;2327;p165"/>
          <p:cNvGraphicFramePr/>
          <p:nvPr/>
        </p:nvGraphicFramePr>
        <p:xfrm>
          <a:off x="4016225" y="111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8" name="Google Shape;2328;p165"/>
          <p:cNvGraphicFramePr/>
          <p:nvPr/>
        </p:nvGraphicFramePr>
        <p:xfrm>
          <a:off x="4008038" y="3035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27375"/>
                <a:gridCol w="1227375"/>
                <a:gridCol w="122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9" name="Google Shape;2329;p165"/>
          <p:cNvGraphicFramePr/>
          <p:nvPr/>
        </p:nvGraphicFramePr>
        <p:xfrm>
          <a:off x="4016225" y="149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  <a:gridCol w="2045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30" name="Google Shape;2330;p165"/>
          <p:cNvGraphicFramePr/>
          <p:nvPr/>
        </p:nvGraphicFramePr>
        <p:xfrm>
          <a:off x="4007925" y="341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31" name="Google Shape;2331;p165"/>
          <p:cNvGraphicFramePr/>
          <p:nvPr/>
        </p:nvGraphicFramePr>
        <p:xfrm>
          <a:off x="401622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2" name="Google Shape;2332;p165"/>
          <p:cNvGraphicFramePr/>
          <p:nvPr/>
        </p:nvGraphicFramePr>
        <p:xfrm>
          <a:off x="4425375" y="190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3" name="Google Shape;2333;p165"/>
          <p:cNvGraphicFramePr/>
          <p:nvPr/>
        </p:nvGraphicFramePr>
        <p:xfrm>
          <a:off x="483452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4" name="Google Shape;2334;p165"/>
          <p:cNvGraphicFramePr/>
          <p:nvPr/>
        </p:nvGraphicFramePr>
        <p:xfrm>
          <a:off x="5243675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5" name="Google Shape;2335;p165"/>
          <p:cNvGraphicFramePr/>
          <p:nvPr/>
        </p:nvGraphicFramePr>
        <p:xfrm>
          <a:off x="565601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6" name="Google Shape;2336;p165"/>
          <p:cNvGraphicFramePr/>
          <p:nvPr/>
        </p:nvGraphicFramePr>
        <p:xfrm>
          <a:off x="60651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7" name="Google Shape;2337;p165"/>
          <p:cNvGraphicFramePr/>
          <p:nvPr/>
        </p:nvGraphicFramePr>
        <p:xfrm>
          <a:off x="646814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8" name="Google Shape;2338;p165"/>
          <p:cNvGraphicFramePr/>
          <p:nvPr/>
        </p:nvGraphicFramePr>
        <p:xfrm>
          <a:off x="6877296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39" name="Google Shape;2339;p165"/>
          <p:cNvGraphicFramePr/>
          <p:nvPr/>
        </p:nvGraphicFramePr>
        <p:xfrm>
          <a:off x="7292464" y="1907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04575"/>
                <a:gridCol w="2045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0" name="Google Shape;2340;p165"/>
          <p:cNvGraphicFramePr/>
          <p:nvPr/>
        </p:nvGraphicFramePr>
        <p:xfrm>
          <a:off x="4005087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1" name="Google Shape;2341;p165"/>
          <p:cNvGraphicFramePr/>
          <p:nvPr/>
        </p:nvGraphicFramePr>
        <p:xfrm>
          <a:off x="4361153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2" name="Google Shape;2342;p165"/>
          <p:cNvGraphicFramePr/>
          <p:nvPr/>
        </p:nvGraphicFramePr>
        <p:xfrm>
          <a:off x="4717218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3" name="Google Shape;2343;p165"/>
          <p:cNvGraphicFramePr/>
          <p:nvPr/>
        </p:nvGraphicFramePr>
        <p:xfrm>
          <a:off x="50633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4" name="Google Shape;2344;p165"/>
          <p:cNvGraphicFramePr/>
          <p:nvPr/>
        </p:nvGraphicFramePr>
        <p:xfrm>
          <a:off x="540940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5" name="Google Shape;2345;p165"/>
          <p:cNvGraphicFramePr/>
          <p:nvPr/>
        </p:nvGraphicFramePr>
        <p:xfrm>
          <a:off x="576048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6" name="Google Shape;2346;p165"/>
          <p:cNvGraphicFramePr/>
          <p:nvPr/>
        </p:nvGraphicFramePr>
        <p:xfrm>
          <a:off x="6115149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7" name="Google Shape;2347;p165"/>
          <p:cNvGraphicFramePr/>
          <p:nvPr/>
        </p:nvGraphicFramePr>
        <p:xfrm>
          <a:off x="6459844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8" name="Google Shape;2348;p165"/>
          <p:cNvGraphicFramePr/>
          <p:nvPr/>
        </p:nvGraphicFramePr>
        <p:xfrm>
          <a:off x="6815910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49" name="Google Shape;2349;p165"/>
          <p:cNvGraphicFramePr/>
          <p:nvPr/>
        </p:nvGraphicFramePr>
        <p:xfrm>
          <a:off x="7176962" y="382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50" name="Google Shape;2350;p165"/>
          <p:cNvGraphicFramePr/>
          <p:nvPr/>
        </p:nvGraphicFramePr>
        <p:xfrm>
          <a:off x="7534682" y="3826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  <a:gridCol w="175325"/>
                <a:gridCol w="175325"/>
                <a:gridCol w="175325"/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51" name="Google Shape;2351;p165"/>
          <p:cNvGraphicFramePr/>
          <p:nvPr/>
        </p:nvGraphicFramePr>
        <p:xfrm>
          <a:off x="7538000" y="3825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75325"/>
                <a:gridCol w="175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2" name="Google Shape;2352;p165"/>
          <p:cNvSpPr txBox="1"/>
          <p:nvPr/>
        </p:nvSpPr>
        <p:spPr>
          <a:xfrm>
            <a:off x="324000" y="2389463"/>
            <a:ext cx="3000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Changing Laura’s so there is a consistency of units, the answer is seen to be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353" name="Google Shape;2353;p165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0" r="-8026" t="0"/>
          <a:stretch/>
        </p:blipFill>
        <p:spPr>
          <a:xfrm>
            <a:off x="1217400" y="3663325"/>
            <a:ext cx="152760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4" name="Google Shape;2354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4325" y="2380900"/>
            <a:ext cx="2953975" cy="5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166"/>
          <p:cNvSpPr txBox="1"/>
          <p:nvPr>
            <p:ph idx="1" type="body"/>
          </p:nvPr>
        </p:nvSpPr>
        <p:spPr>
          <a:xfrm>
            <a:off x="324000" y="759300"/>
            <a:ext cx="3217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Using squared paper, draw your own bar models to work out the answers to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Deepening understanding of dividing by a fraction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 \div\frac{2}{3}=7\frac{1}{2}\ \ \ \ \ \ \ \ \ \ \ 7\div\frac{2}{3}=10\frac{1}{2}\ \ \ \ \ \ \ \ \ \ \ \ \ 4\div\frac{9}{10}=4\frac{4}{9}&quot;&gt;&lt;mn&gt;5&lt;/mn&gt;&lt;mtext&gt;&lt;/mtext&gt;&lt;mo&gt;÷&lt;/mo&gt;&lt;mfrac&gt;&lt;mn&gt;2&lt;/mn&gt;&lt;mn&gt;3&lt;/mn&gt;&lt;/mfrac&gt;&lt;mo&gt;=&lt;/mo&gt;&lt;mn&gt;7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7&lt;/mn&gt;&lt;mo&gt;÷&lt;/mo&gt;&lt;mfrac&gt;&lt;mn&gt;2&lt;/mn&gt;&lt;mn&gt;3&lt;/mn&gt;&lt;/mfrac&gt;&lt;mo&gt;=&lt;/mo&gt;&lt;mn&gt;10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361" name="Google Shape;2361;p166" title="5 division sign two thirds equals 7 and one half 7 divided by two thirds equals 10 and one half 4 divided by nine tenths equals 4 and four ninths"/>
          <p:cNvPicPr preferRelativeResize="0"/>
          <p:nvPr/>
        </p:nvPicPr>
        <p:blipFill rotWithShape="1">
          <a:blip r:embed="rId3">
            <a:alphaModFix/>
          </a:blip>
          <a:srcRect b="0" l="0" r="74697" t="0"/>
          <a:stretch/>
        </p:blipFill>
        <p:spPr>
          <a:xfrm>
            <a:off x="837300" y="1968525"/>
            <a:ext cx="1532701" cy="57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62" name="Google Shape;2362;p166"/>
          <p:cNvGraphicFramePr/>
          <p:nvPr/>
        </p:nvGraphicFramePr>
        <p:xfrm>
          <a:off x="3714600" y="21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633975"/>
                <a:gridCol w="633975"/>
                <a:gridCol w="633975"/>
                <a:gridCol w="633975"/>
                <a:gridCol w="633975"/>
                <a:gridCol w="633975"/>
                <a:gridCol w="633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3" name="Google Shape;2363;p166"/>
          <p:cNvGraphicFramePr/>
          <p:nvPr/>
        </p:nvGraphicFramePr>
        <p:xfrm>
          <a:off x="3714600" y="78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633975"/>
                <a:gridCol w="633975"/>
                <a:gridCol w="633975"/>
                <a:gridCol w="633975"/>
                <a:gridCol w="633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4" name="Google Shape;2364;p166"/>
          <p:cNvGraphicFramePr/>
          <p:nvPr/>
        </p:nvGraphicFramePr>
        <p:xfrm>
          <a:off x="3714600" y="346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633975"/>
                <a:gridCol w="633975"/>
                <a:gridCol w="633975"/>
                <a:gridCol w="633975"/>
                <a:gridCol w="633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5" name="Google Shape;2365;p166"/>
          <p:cNvGraphicFramePr/>
          <p:nvPr/>
        </p:nvGraphicFramePr>
        <p:xfrm>
          <a:off x="3714600" y="119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6" name="Google Shape;2366;p166"/>
          <p:cNvGraphicFramePr/>
          <p:nvPr/>
        </p:nvGraphicFramePr>
        <p:xfrm>
          <a:off x="3714600" y="253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  <a:gridCol w="15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7" name="Google Shape;2367;p166"/>
          <p:cNvGraphicFramePr/>
          <p:nvPr/>
        </p:nvGraphicFramePr>
        <p:xfrm>
          <a:off x="3714600" y="386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  <a:gridCol w="12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8" name="Google Shape;2368;p166"/>
          <p:cNvGraphicFramePr/>
          <p:nvPr/>
        </p:nvGraphicFramePr>
        <p:xfrm>
          <a:off x="3714600" y="15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7\div\frac{3}{4}=9\frac{1}{3}\ \ \ \ \ \ \ \ \ \ \ \ \ 4\div\frac{9}{10}=4\frac{4}{9}&quot;&gt;&lt;mn&gt;7&lt;/mn&gt;&lt;mo&gt;÷&lt;/mo&gt;&lt;mfrac&gt;&lt;mn&gt;3&lt;/mn&gt;&lt;mn&gt;4&lt;/mn&gt;&lt;/mfrac&gt;&lt;mo&gt;=&lt;/mo&gt;&lt;mn&gt;9&lt;/mn&gt;&lt;mfrac&gt;&lt;mn&gt;1&lt;/mn&gt;&lt;mn&gt;3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369" name="Google Shape;2369;p166" title="7 divided by three fourths equals 9 and one third 4 divided by nine tenths equals 4 and four ninths"/>
          <p:cNvPicPr preferRelativeResize="0"/>
          <p:nvPr/>
        </p:nvPicPr>
        <p:blipFill rotWithShape="1">
          <a:blip r:embed="rId4">
            <a:alphaModFix/>
          </a:blip>
          <a:srcRect b="0" l="0" r="59836" t="0"/>
          <a:stretch/>
        </p:blipFill>
        <p:spPr>
          <a:xfrm>
            <a:off x="837300" y="2969375"/>
            <a:ext cx="1532701" cy="586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0" name="Google Shape;2370;p166"/>
          <p:cNvGraphicFramePr/>
          <p:nvPr/>
        </p:nvGraphicFramePr>
        <p:xfrm>
          <a:off x="3714600" y="293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71" name="Google Shape;2371;p166"/>
          <p:cNvGraphicFramePr/>
          <p:nvPr/>
        </p:nvGraphicFramePr>
        <p:xfrm>
          <a:off x="6757800" y="42626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5\ \div\frac{2}{3}=7\frac{1}{2}\ \ \ \ \ \ \ \ \ \ \ 7\div\frac{2}{3}=10\frac{1}{2}\ \ \ \ \ \ \ \ \ \ \ \ \ 4\div\frac{9}{10}=4\frac{4}{9}&quot;&gt;&lt;mn&gt;5&lt;/mn&gt;&lt;mtext&gt;&lt;/mtext&gt;&lt;mo&gt;÷&lt;/mo&gt;&lt;mfrac&gt;&lt;mn&gt;2&lt;/mn&gt;&lt;mn&gt;3&lt;/mn&gt;&lt;/mfrac&gt;&lt;mo&gt;=&lt;/mo&gt;&lt;mn&gt;7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7&lt;/mn&gt;&lt;mo&gt;÷&lt;/mo&gt;&lt;mfrac&gt;&lt;mn&gt;2&lt;/mn&gt;&lt;mn&gt;3&lt;/mn&gt;&lt;/mfrac&gt;&lt;mo&gt;=&lt;/mo&gt;&lt;mn&gt;10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372" name="Google Shape;2372;p166" title="5 division sign two thirds equals 7 and one half 7 divided by two thirds equals 10 and one half 4 divided by nine tenths equals 4 and four ninths"/>
          <p:cNvPicPr preferRelativeResize="0"/>
          <p:nvPr/>
        </p:nvPicPr>
        <p:blipFill rotWithShape="1">
          <a:blip r:embed="rId3">
            <a:alphaModFix/>
          </a:blip>
          <a:srcRect b="0" l="0" r="83612" t="0"/>
          <a:stretch/>
        </p:blipFill>
        <p:spPr>
          <a:xfrm>
            <a:off x="841800" y="1961963"/>
            <a:ext cx="992701" cy="57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div\frac{3}{4}=9\frac{1}{3}\ \ \ \ \ \ \ \ \ \ \ \ \ 4\div\frac{9}{10}=4\frac{4}{9}&quot;&gt;&lt;mn&gt;7&lt;/mn&gt;&lt;mo&gt;÷&lt;/mo&gt;&lt;mfrac&gt;&lt;mn&gt;3&lt;/mn&gt;&lt;mn&gt;4&lt;/mn&gt;&lt;/mfrac&gt;&lt;mo&gt;=&lt;/mo&gt;&lt;mn&gt;9&lt;/mn&gt;&lt;mfrac&gt;&lt;mn&gt;1&lt;/mn&gt;&lt;mn&gt;3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373" name="Google Shape;2373;p166" title="7 divided by three fourths equals 9 and one third 4 divided by nine tenths equals 4 and four ninths"/>
          <p:cNvPicPr preferRelativeResize="0"/>
          <p:nvPr/>
        </p:nvPicPr>
        <p:blipFill rotWithShape="1">
          <a:blip r:embed="rId4">
            <a:alphaModFix/>
          </a:blip>
          <a:srcRect b="0" l="0" r="73986" t="0"/>
          <a:stretch/>
        </p:blipFill>
        <p:spPr>
          <a:xfrm>
            <a:off x="841800" y="2962800"/>
            <a:ext cx="992700" cy="586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div\frac{3}{5}=8\frac{1}{5}&quot;&gt;&lt;mn&gt;5&lt;/mn&gt;&lt;mtext&gt;&lt;/mtext&gt;&lt;mo&gt;÷&lt;/mo&gt;&lt;mfrac&gt;&lt;mn&gt;3&lt;/mn&gt;&lt;mn&gt;5&lt;/mn&gt;&lt;/mfrac&gt;&lt;mo&gt;=&lt;/mo&gt;&lt;mn&gt;8&lt;/mn&gt;&lt;mfrac&gt;&lt;mn&gt;1&lt;/mn&gt;&lt;mn&gt;5&lt;/mn&gt;&lt;/mfrac&gt;&lt;/math&gt;" id="2374" name="Google Shape;2374;p166" title="5 division sign three fifths equals 8 and one fifth"/>
          <p:cNvPicPr preferRelativeResize="0"/>
          <p:nvPr/>
        </p:nvPicPr>
        <p:blipFill rotWithShape="1">
          <a:blip r:embed="rId5">
            <a:alphaModFix/>
          </a:blip>
          <a:srcRect b="0" l="0" r="25037" t="0"/>
          <a:stretch/>
        </p:blipFill>
        <p:spPr>
          <a:xfrm>
            <a:off x="763198" y="3976788"/>
            <a:ext cx="1071300" cy="586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5" name="Google Shape;2375;p166"/>
          <p:cNvGraphicFramePr/>
          <p:nvPr/>
        </p:nvGraphicFramePr>
        <p:xfrm>
          <a:off x="4138612" y="15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76" name="Google Shape;2376;p166"/>
          <p:cNvGraphicFramePr/>
          <p:nvPr/>
        </p:nvGraphicFramePr>
        <p:xfrm>
          <a:off x="4556119" y="15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77" name="Google Shape;2377;p166"/>
          <p:cNvGraphicFramePr/>
          <p:nvPr/>
        </p:nvGraphicFramePr>
        <p:xfrm>
          <a:off x="4990087" y="15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78" name="Google Shape;2378;p166"/>
          <p:cNvGraphicFramePr/>
          <p:nvPr/>
        </p:nvGraphicFramePr>
        <p:xfrm>
          <a:off x="5410913" y="15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79" name="Google Shape;2379;p166"/>
          <p:cNvGraphicFramePr/>
          <p:nvPr/>
        </p:nvGraphicFramePr>
        <p:xfrm>
          <a:off x="5828420" y="15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80" name="Google Shape;2380;p166"/>
          <p:cNvGraphicFramePr/>
          <p:nvPr/>
        </p:nvGraphicFramePr>
        <p:xfrm>
          <a:off x="6242608" y="158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381" name="Google Shape;2381;p166"/>
          <p:cNvGraphicFramePr/>
          <p:nvPr/>
        </p:nvGraphicFramePr>
        <p:xfrm>
          <a:off x="6673294" y="158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211300"/>
                <a:gridCol w="21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82" name="Google Shape;2382;p166"/>
          <p:cNvGraphicFramePr/>
          <p:nvPr/>
        </p:nvGraphicFramePr>
        <p:xfrm>
          <a:off x="7992025" y="293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83" name="Google Shape;2383;p166"/>
          <p:cNvGraphicFramePr/>
          <p:nvPr/>
        </p:nvGraphicFramePr>
        <p:xfrm>
          <a:off x="4190100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84" name="Google Shape;2384;p166"/>
          <p:cNvGraphicFramePr/>
          <p:nvPr/>
        </p:nvGraphicFramePr>
        <p:xfrm>
          <a:off x="4667213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85" name="Google Shape;2385;p166"/>
          <p:cNvGraphicFramePr/>
          <p:nvPr/>
        </p:nvGraphicFramePr>
        <p:xfrm>
          <a:off x="5144326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86" name="Google Shape;2386;p166"/>
          <p:cNvGraphicFramePr/>
          <p:nvPr/>
        </p:nvGraphicFramePr>
        <p:xfrm>
          <a:off x="5621439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87" name="Google Shape;2387;p166"/>
          <p:cNvGraphicFramePr/>
          <p:nvPr/>
        </p:nvGraphicFramePr>
        <p:xfrm>
          <a:off x="6095233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88" name="Google Shape;2388;p166"/>
          <p:cNvGraphicFramePr/>
          <p:nvPr/>
        </p:nvGraphicFramePr>
        <p:xfrm>
          <a:off x="6568894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89" name="Google Shape;2389;p166"/>
          <p:cNvGraphicFramePr/>
          <p:nvPr/>
        </p:nvGraphicFramePr>
        <p:xfrm>
          <a:off x="7046007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0" name="Google Shape;2390;p166"/>
          <p:cNvGraphicFramePr/>
          <p:nvPr/>
        </p:nvGraphicFramePr>
        <p:xfrm>
          <a:off x="7523120" y="29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58500"/>
                <a:gridCol w="158500"/>
                <a:gridCol w="1585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1" name="Google Shape;2391;p166"/>
          <p:cNvGraphicFramePr/>
          <p:nvPr/>
        </p:nvGraphicFramePr>
        <p:xfrm>
          <a:off x="3714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2" name="Google Shape;2392;p166"/>
          <p:cNvGraphicFramePr/>
          <p:nvPr/>
        </p:nvGraphicFramePr>
        <p:xfrm>
          <a:off x="4095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3" name="Google Shape;2393;p166"/>
          <p:cNvGraphicFramePr/>
          <p:nvPr/>
        </p:nvGraphicFramePr>
        <p:xfrm>
          <a:off x="4476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4" name="Google Shape;2394;p166"/>
          <p:cNvGraphicFramePr/>
          <p:nvPr/>
        </p:nvGraphicFramePr>
        <p:xfrm>
          <a:off x="4857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5" name="Google Shape;2395;p166"/>
          <p:cNvGraphicFramePr/>
          <p:nvPr/>
        </p:nvGraphicFramePr>
        <p:xfrm>
          <a:off x="5238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6" name="Google Shape;2396;p166"/>
          <p:cNvGraphicFramePr/>
          <p:nvPr/>
        </p:nvGraphicFramePr>
        <p:xfrm>
          <a:off x="5619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7" name="Google Shape;2397;p166"/>
          <p:cNvGraphicFramePr/>
          <p:nvPr/>
        </p:nvGraphicFramePr>
        <p:xfrm>
          <a:off x="6000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2398" name="Google Shape;2398;p166"/>
          <p:cNvGraphicFramePr/>
          <p:nvPr/>
        </p:nvGraphicFramePr>
        <p:xfrm>
          <a:off x="6381350" y="4259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{901D5ECF-18C5-48B3-A970-ECEA71E2E6BB}</a:tableStyleId>
              </a:tblPr>
              <a:tblGrid>
                <a:gridCol w="126800"/>
                <a:gridCol w="126800"/>
                <a:gridCol w="126800"/>
              </a:tblGrid>
              <a:tr h="381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2399" name="Google Shape;2399;p166"/>
          <p:cNvSpPr txBox="1"/>
          <p:nvPr/>
        </p:nvSpPr>
        <p:spPr>
          <a:xfrm>
            <a:off x="6729800" y="1589850"/>
            <a:ext cx="30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</a:t>
            </a:r>
            <a:endParaRPr/>
          </a:p>
        </p:txBody>
      </p:sp>
      <p:sp>
        <p:nvSpPr>
          <p:cNvPr id="2400" name="Google Shape;2400;p166"/>
          <p:cNvSpPr txBox="1"/>
          <p:nvPr/>
        </p:nvSpPr>
        <p:spPr>
          <a:xfrm>
            <a:off x="8074975" y="2933725"/>
            <a:ext cx="30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</a:t>
            </a:r>
            <a:endParaRPr/>
          </a:p>
        </p:txBody>
      </p:sp>
      <p:sp>
        <p:nvSpPr>
          <p:cNvPr id="2401" name="Google Shape;2401;p166"/>
          <p:cNvSpPr txBox="1"/>
          <p:nvPr/>
        </p:nvSpPr>
        <p:spPr>
          <a:xfrm>
            <a:off x="6646850" y="4276950"/>
            <a:ext cx="47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 \div\frac{3}{5}=8\frac{1}{3}&quot;&gt;&lt;mn&gt;5&lt;/mn&gt;&lt;mtext&gt;&lt;/mtext&gt;&lt;mo&gt;÷&lt;/mo&gt;&lt;mfrac&gt;&lt;mn&gt;3&lt;/mn&gt;&lt;mn&gt;5&lt;/mn&gt;&lt;/mfrac&gt;&lt;mo&gt;=&lt;/mo&gt;&lt;mn&gt;8&lt;/mn&gt;&lt;mfrac&gt;&lt;mn&gt;1&lt;/mn&gt;&lt;mn&gt;3&lt;/mn&gt;&lt;/mfrac&gt;&lt;/math&gt;" id="2402" name="Google Shape;2402;p166" title="5 division sign three fifths equals 8 and one third"/>
          <p:cNvPicPr preferRelativeResize="0"/>
          <p:nvPr/>
        </p:nvPicPr>
        <p:blipFill rotWithShape="1">
          <a:blip r:embed="rId6">
            <a:alphaModFix/>
          </a:blip>
          <a:srcRect b="0" l="70171" r="0" t="0"/>
          <a:stretch/>
        </p:blipFill>
        <p:spPr>
          <a:xfrm>
            <a:off x="1840608" y="3942950"/>
            <a:ext cx="475500" cy="6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16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8" name="Google Shape;2408;p167"/>
          <p:cNvSpPr txBox="1"/>
          <p:nvPr/>
        </p:nvSpPr>
        <p:spPr>
          <a:xfrm>
            <a:off x="443700" y="846513"/>
            <a:ext cx="85614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bar models is a good way to see how the division by fractions works.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9" name="Google Shape;2409;p167"/>
          <p:cNvSpPr txBox="1"/>
          <p:nvPr>
            <p:ph idx="4294967295" type="subTitle"/>
          </p:nvPr>
        </p:nvSpPr>
        <p:spPr>
          <a:xfrm>
            <a:off x="443700" y="2063994"/>
            <a:ext cx="802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Unitising means treating groups that contain, or represent, the same numbers of things as ‘ones’ or ‘units’. </a:t>
            </a:r>
            <a:endParaRPr b="0"/>
          </a:p>
        </p:txBody>
      </p:sp>
      <p:sp>
        <p:nvSpPr>
          <p:cNvPr id="2410" name="Google Shape;2410;p167"/>
          <p:cNvSpPr txBox="1"/>
          <p:nvPr/>
        </p:nvSpPr>
        <p:spPr>
          <a:xfrm>
            <a:off x="443700" y="3193875"/>
            <a:ext cx="85614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unitising method alongside bar models helps deepen the understanding of how we get the answer when dividing a whole number by a fraction.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416" name="Google Shape;2416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