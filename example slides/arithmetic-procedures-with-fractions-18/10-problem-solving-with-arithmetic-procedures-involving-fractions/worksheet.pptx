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a3ea45557a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a3ea4555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658995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arithmetic procedures involving fractions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828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Solving problems involving fractions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920475"/>
            <a:ext cx="6624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1a)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" name="Google Shape;165;p20"/>
          <p:cNvGrpSpPr/>
          <p:nvPr/>
        </p:nvGrpSpPr>
        <p:grpSpPr>
          <a:xfrm>
            <a:off x="5303051" y="2747804"/>
            <a:ext cx="1791517" cy="881970"/>
            <a:chOff x="5570074" y="753300"/>
            <a:chExt cx="2449101" cy="1205700"/>
          </a:xfrm>
        </p:grpSpPr>
        <p:sp>
          <p:nvSpPr>
            <p:cNvPr id="166" name="Google Shape;166;p20"/>
            <p:cNvSpPr/>
            <p:nvPr/>
          </p:nvSpPr>
          <p:spPr>
            <a:xfrm>
              <a:off x="6359275" y="753300"/>
              <a:ext cx="1659900" cy="659400"/>
            </a:xfrm>
            <a:prstGeom prst="rect">
              <a:avLst/>
            </a:prstGeom>
            <a:solidFill>
              <a:srgbClr val="F0F0F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Flower bed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3\frac{2}{3}\ \ \ \ 2\frac{3}{5}&quot;&gt;&lt;mn&gt;3&lt;/mn&gt;&lt;mfrac&gt;&lt;mn&gt;2&lt;/mn&gt;&lt;mn&gt;3&lt;/mn&gt;&lt;/mfrac&gt;&lt;mtext&gt;&lt;/mtext&gt;&lt;mtext&gt;&lt;/mtext&gt;&lt;mtext&gt;&lt;/mtext&gt;&lt;mtext&gt;&lt;/mtext&gt;&lt;mn&gt;2&lt;/mn&gt;&lt;mfrac&gt;&lt;mn&gt;3&lt;/mn&gt;&lt;mn&gt;5&lt;/mn&gt;&lt;/mfrac&gt;&lt;/math&gt;" id="167" name="Google Shape;167;p20" title="3 and two thirds 2 and three fifths"/>
            <p:cNvPicPr preferRelativeResize="0"/>
            <p:nvPr/>
          </p:nvPicPr>
          <p:blipFill rotWithShape="1">
            <a:blip r:embed="rId3">
              <a:alphaModFix/>
            </a:blip>
            <a:srcRect b="0" l="0" r="51526" t="0"/>
            <a:stretch/>
          </p:blipFill>
          <p:spPr>
            <a:xfrm>
              <a:off x="7089401" y="1476025"/>
              <a:ext cx="382175" cy="4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3\frac{2}{3}\ \ \ \ 2\frac{3}{5}&quot;&gt;&lt;mn&gt;3&lt;/mn&gt;&lt;mfrac&gt;&lt;mn&gt;2&lt;/mn&gt;&lt;mn&gt;3&lt;/mn&gt;&lt;/mfrac&gt;&lt;mtext&gt;&lt;/mtext&gt;&lt;mtext&gt;&lt;/mtext&gt;&lt;mtext&gt;&lt;/mtext&gt;&lt;mtext&gt;&lt;/mtext&gt;&lt;mn&gt;2&lt;/mn&gt;&lt;mfrac&gt;&lt;mn&gt;3&lt;/mn&gt;&lt;mn&gt;5&lt;/mn&gt;&lt;/mfrac&gt;&lt;/math&gt;" id="168" name="Google Shape;168;p20" title="3 and two thirds 2 and three fifths"/>
            <p:cNvPicPr preferRelativeResize="0"/>
            <p:nvPr/>
          </p:nvPicPr>
          <p:blipFill rotWithShape="1">
            <a:blip r:embed="rId3">
              <a:alphaModFix/>
            </a:blip>
            <a:srcRect b="0" l="52055" r="-7527" t="0"/>
            <a:stretch/>
          </p:blipFill>
          <p:spPr>
            <a:xfrm>
              <a:off x="5570074" y="928825"/>
              <a:ext cx="437350" cy="460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20"/>
            <p:cNvSpPr txBox="1"/>
            <p:nvPr/>
          </p:nvSpPr>
          <p:spPr>
            <a:xfrm>
              <a:off x="5897275" y="920700"/>
              <a:ext cx="437400" cy="5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/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7345075" y="1454100"/>
              <a:ext cx="437400" cy="5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/>
            </a:p>
          </p:txBody>
        </p:sp>
      </p:grpSp>
      <p:pic>
        <p:nvPicPr>
          <p:cNvPr descr="&lt;math xmlns=&quot;http://www.w3.org/1998/Math/MathML&quot; display=&quot;block&quot; data-is-equatio=&quot;1&quot; data-latex=&quot;3\frac{2}{3}\ \ \ \ 2\frac{3}{5}&quot;&gt;&lt;mn&gt;3&lt;/mn&gt;&lt;mfrac&gt;&lt;mn&gt;2&lt;/mn&gt;&lt;mn&gt;3&lt;/mn&gt;&lt;/mfrac&gt;&lt;mtext&gt;&lt;/mtext&gt;&lt;mtext&gt;&lt;/mtext&gt;&lt;mtext&gt;&lt;/mtext&gt;&lt;mtext&gt;&lt;/mtext&gt;&lt;mn&gt;2&lt;/mn&gt;&lt;mfrac&gt;&lt;mn&gt;3&lt;/mn&gt;&lt;mn&gt;5&lt;/mn&gt;&lt;/mfrac&gt;&lt;/math&gt;" id="171" name="Google Shape;171;p20" title="3 and two thirds 2 and three fifths"/>
          <p:cNvPicPr preferRelativeResize="0"/>
          <p:nvPr/>
        </p:nvPicPr>
        <p:blipFill rotWithShape="1">
          <a:blip r:embed="rId3">
            <a:alphaModFix/>
          </a:blip>
          <a:srcRect b="0" l="0" r="61453" t="0"/>
          <a:stretch/>
        </p:blipFill>
        <p:spPr>
          <a:xfrm>
            <a:off x="3416624" y="1827000"/>
            <a:ext cx="222398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2}{3}\ \ \ \ 2\frac{3}{5}&quot;&gt;&lt;mn&gt;3&lt;/mn&gt;&lt;mfrac&gt;&lt;mn&gt;2&lt;/mn&gt;&lt;mn&gt;3&lt;/mn&gt;&lt;/mfrac&gt;&lt;mtext&gt;&lt;/mtext&gt;&lt;mtext&gt;&lt;/mtext&gt;&lt;mtext&gt;&lt;/mtext&gt;&lt;mtext&gt;&lt;/mtext&gt;&lt;mn&gt;2&lt;/mn&gt;&lt;mfrac&gt;&lt;mn&gt;3&lt;/mn&gt;&lt;mn&gt;5&lt;/mn&gt;&lt;/mfrac&gt;&lt;/math&gt;" id="172" name="Google Shape;172;p20" title="3 and two thirds 2 and three fifths"/>
          <p:cNvPicPr preferRelativeResize="0"/>
          <p:nvPr/>
        </p:nvPicPr>
        <p:blipFill rotWithShape="1">
          <a:blip r:embed="rId3">
            <a:alphaModFix/>
          </a:blip>
          <a:srcRect b="0" l="58517" r="-27288" t="0"/>
          <a:stretch/>
        </p:blipFill>
        <p:spPr>
          <a:xfrm>
            <a:off x="4647313" y="1827000"/>
            <a:ext cx="396808" cy="33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20"/>
          <p:cNvGrpSpPr/>
          <p:nvPr/>
        </p:nvGrpSpPr>
        <p:grpSpPr>
          <a:xfrm>
            <a:off x="5266688" y="5513366"/>
            <a:ext cx="1825315" cy="891557"/>
            <a:chOff x="5570074" y="753300"/>
            <a:chExt cx="2449101" cy="1196400"/>
          </a:xfrm>
        </p:grpSpPr>
        <p:sp>
          <p:nvSpPr>
            <p:cNvPr id="174" name="Google Shape;174;p20"/>
            <p:cNvSpPr/>
            <p:nvPr/>
          </p:nvSpPr>
          <p:spPr>
            <a:xfrm>
              <a:off x="6359275" y="753300"/>
              <a:ext cx="1659900" cy="659400"/>
            </a:xfrm>
            <a:prstGeom prst="rect">
              <a:avLst/>
            </a:prstGeom>
            <a:solidFill>
              <a:srgbClr val="F0F0F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Flower bed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3\frac{2}{3}\ \ \ \ 2\frac{3}{5}&quot;&gt;&lt;mn&gt;3&lt;/mn&gt;&lt;mfrac&gt;&lt;mn&gt;2&lt;/mn&gt;&lt;mn&gt;3&lt;/mn&gt;&lt;/mfrac&gt;&lt;mtext&gt;&lt;/mtext&gt;&lt;mtext&gt;&lt;/mtext&gt;&lt;mtext&gt;&lt;/mtext&gt;&lt;mtext&gt;&lt;/mtext&gt;&lt;mn&gt;2&lt;/mn&gt;&lt;mfrac&gt;&lt;mn&gt;3&lt;/mn&gt;&lt;mn&gt;5&lt;/mn&gt;&lt;/mfrac&gt;&lt;/math&gt;" id="175" name="Google Shape;175;p20" title="3 and two thirds 2 and three fifths"/>
            <p:cNvPicPr preferRelativeResize="0"/>
            <p:nvPr/>
          </p:nvPicPr>
          <p:blipFill rotWithShape="1">
            <a:blip r:embed="rId3">
              <a:alphaModFix/>
            </a:blip>
            <a:srcRect b="0" l="0" r="51526" t="0"/>
            <a:stretch/>
          </p:blipFill>
          <p:spPr>
            <a:xfrm>
              <a:off x="7089401" y="1476025"/>
              <a:ext cx="382175" cy="4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3\frac{2}{3}\ \ \ \ 2\frac{3}{5}&quot;&gt;&lt;mn&gt;3&lt;/mn&gt;&lt;mfrac&gt;&lt;mn&gt;2&lt;/mn&gt;&lt;mn&gt;3&lt;/mn&gt;&lt;/mfrac&gt;&lt;mtext&gt;&lt;/mtext&gt;&lt;mtext&gt;&lt;/mtext&gt;&lt;mtext&gt;&lt;/mtext&gt;&lt;mtext&gt;&lt;/mtext&gt;&lt;mn&gt;2&lt;/mn&gt;&lt;mfrac&gt;&lt;mn&gt;3&lt;/mn&gt;&lt;mn&gt;5&lt;/mn&gt;&lt;/mfrac&gt;&lt;/math&gt;" id="176" name="Google Shape;176;p20" title="3 and two thirds 2 and three fifths"/>
            <p:cNvPicPr preferRelativeResize="0"/>
            <p:nvPr/>
          </p:nvPicPr>
          <p:blipFill rotWithShape="1">
            <a:blip r:embed="rId3">
              <a:alphaModFix/>
            </a:blip>
            <a:srcRect b="0" l="52055" r="-7527" t="0"/>
            <a:stretch/>
          </p:blipFill>
          <p:spPr>
            <a:xfrm>
              <a:off x="5570074" y="928825"/>
              <a:ext cx="437350" cy="460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20"/>
            <p:cNvSpPr txBox="1"/>
            <p:nvPr/>
          </p:nvSpPr>
          <p:spPr>
            <a:xfrm>
              <a:off x="5897275" y="920700"/>
              <a:ext cx="437400" cy="4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/>
            </a:p>
          </p:txBody>
        </p:sp>
        <p:sp>
          <p:nvSpPr>
            <p:cNvPr id="178" name="Google Shape;178;p20"/>
            <p:cNvSpPr txBox="1"/>
            <p:nvPr/>
          </p:nvSpPr>
          <p:spPr>
            <a:xfrm>
              <a:off x="7345075" y="1454100"/>
              <a:ext cx="437400" cy="4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/>
            </a:p>
          </p:txBody>
        </p:sp>
      </p:grpSp>
      <p:sp>
        <p:nvSpPr>
          <p:cNvPr id="179" name="Google Shape;179;p20"/>
          <p:cNvSpPr txBox="1"/>
          <p:nvPr/>
        </p:nvSpPr>
        <p:spPr>
          <a:xfrm>
            <a:off x="468000" y="4879575"/>
            <a:ext cx="6624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Jacob also needs to put a metal edging around the plot. The edging is sold in 1 m lengths for £3.42 per metre. How much will it cost Jacob to put the edging around the flower bed?</a:t>
            </a:r>
            <a:endParaRPr sz="1200"/>
          </a:p>
        </p:txBody>
      </p:sp>
      <p:sp>
        <p:nvSpPr>
          <p:cNvPr id="180" name="Google Shape;180;p20"/>
          <p:cNvSpPr txBox="1"/>
          <p:nvPr/>
        </p:nvSpPr>
        <p:spPr>
          <a:xfrm>
            <a:off x="468000" y="2149075"/>
            <a:ext cx="6624000" cy="10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lowers in the plot, but needs to buy the compost. The compost bags each cover 1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cost £5.70 per bag. How much will it cost Jacob?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883300" y="1920475"/>
            <a:ext cx="6666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rectangular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797700" y="1920475"/>
            <a:ext cx="6666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flower bed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606400" y="1920475"/>
            <a:ext cx="66954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915425" y="1920475"/>
            <a:ext cx="65388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ength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674375" y="1920475"/>
            <a:ext cx="59322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 and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179100" y="1920475"/>
            <a:ext cx="5580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width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938050" y="1920475"/>
            <a:ext cx="49734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m. Jacob wants to plant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Problem solving with arithmetic procedures involving fractions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2079150" y="1210200"/>
            <a:ext cx="5013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68000" y="71410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the following question, do not use a calculator and show all your working out.</a:t>
            </a:r>
            <a:endParaRPr sz="1200"/>
          </a:p>
        </p:txBody>
      </p:sp>
      <p:sp>
        <p:nvSpPr>
          <p:cNvPr id="195" name="Google Shape;195;p21"/>
          <p:cNvSpPr txBox="1"/>
          <p:nvPr/>
        </p:nvSpPr>
        <p:spPr>
          <a:xfrm>
            <a:off x="2079150" y="2026700"/>
            <a:ext cx="5013000" cy="17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water does each teacher have to share?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water do the students in each group get if: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three students in Teacher A’s group?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730208" y="1651497"/>
            <a:ext cx="13011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Teacher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714811" y="2577030"/>
            <a:ext cx="13011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Teacher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730208" y="3510262"/>
            <a:ext cx="13011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Teacher 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99" name="Google Shape;199;p21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1350" y="1078011"/>
            <a:ext cx="11592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468000" y="3860000"/>
            <a:ext cx="66240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    There are six students in Teacher B’s group?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     There are five students in Teacher C’s group?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" name="Google Shape;201;p21"/>
          <p:cNvCxnSpPr/>
          <p:nvPr/>
        </p:nvCxnSpPr>
        <p:spPr>
          <a:xfrm>
            <a:off x="474757" y="5391421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21"/>
          <p:cNvSpPr txBox="1"/>
          <p:nvPr/>
        </p:nvSpPr>
        <p:spPr>
          <a:xfrm>
            <a:off x="468000" y="55761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Using a calculator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2752637" y="5985328"/>
            <a:ext cx="4346100" cy="15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is restoring some old picture frames.  She wants to cover the frame in gold leaf.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a)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area of the frame.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b)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Gold leaf costs £12.84 per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How much will it cost Aisha to gold leaf the picture frame?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4" name="Google Shape;204;p21"/>
          <p:cNvGrpSpPr/>
          <p:nvPr/>
        </p:nvGrpSpPr>
        <p:grpSpPr>
          <a:xfrm>
            <a:off x="1059161" y="6358636"/>
            <a:ext cx="1417279" cy="1016403"/>
            <a:chOff x="481750" y="1180175"/>
            <a:chExt cx="2132850" cy="1529575"/>
          </a:xfrm>
        </p:grpSpPr>
        <p:sp>
          <p:nvSpPr>
            <p:cNvPr id="205" name="Google Shape;205;p21"/>
            <p:cNvSpPr/>
            <p:nvPr/>
          </p:nvSpPr>
          <p:spPr>
            <a:xfrm>
              <a:off x="484900" y="1185300"/>
              <a:ext cx="2129700" cy="1514700"/>
            </a:xfrm>
            <a:prstGeom prst="rect">
              <a:avLst/>
            </a:prstGeom>
            <a:solidFill>
              <a:srgbClr val="F0F0F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" name="Google Shape;206;p21"/>
            <p:cNvSpPr/>
            <p:nvPr/>
          </p:nvSpPr>
          <p:spPr>
            <a:xfrm>
              <a:off x="832150" y="1432200"/>
              <a:ext cx="1435200" cy="1020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7" name="Google Shape;207;p21"/>
            <p:cNvCxnSpPr/>
            <p:nvPr/>
          </p:nvCxnSpPr>
          <p:spPr>
            <a:xfrm>
              <a:off x="496025" y="1188725"/>
              <a:ext cx="331800" cy="2418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" name="Google Shape;208;p21"/>
            <p:cNvCxnSpPr/>
            <p:nvPr/>
          </p:nvCxnSpPr>
          <p:spPr>
            <a:xfrm>
              <a:off x="2267350" y="2450850"/>
              <a:ext cx="331800" cy="2418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" name="Google Shape;209;p21"/>
            <p:cNvCxnSpPr/>
            <p:nvPr/>
          </p:nvCxnSpPr>
          <p:spPr>
            <a:xfrm flipH="1">
              <a:off x="481750" y="2450850"/>
              <a:ext cx="350400" cy="2589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" name="Google Shape;210;p21"/>
            <p:cNvCxnSpPr/>
            <p:nvPr/>
          </p:nvCxnSpPr>
          <p:spPr>
            <a:xfrm flipH="1">
              <a:off x="2258050" y="1180175"/>
              <a:ext cx="350400" cy="2589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1" name="Google Shape;211;p21"/>
          <p:cNvSpPr txBox="1"/>
          <p:nvPr/>
        </p:nvSpPr>
        <p:spPr>
          <a:xfrm>
            <a:off x="1818899" y="5945336"/>
            <a:ext cx="12174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675877" y="6686174"/>
            <a:ext cx="3702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3" name="Google Shape;213;p21"/>
          <p:cNvCxnSpPr/>
          <p:nvPr/>
        </p:nvCxnSpPr>
        <p:spPr>
          <a:xfrm>
            <a:off x="1046056" y="6279470"/>
            <a:ext cx="1416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4" name="Google Shape;214;p21"/>
          <p:cNvCxnSpPr/>
          <p:nvPr/>
        </p:nvCxnSpPr>
        <p:spPr>
          <a:xfrm>
            <a:off x="969385" y="6358606"/>
            <a:ext cx="0" cy="995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5" name="Google Shape;215;p21"/>
          <p:cNvCxnSpPr/>
          <p:nvPr/>
        </p:nvCxnSpPr>
        <p:spPr>
          <a:xfrm>
            <a:off x="1314404" y="6590158"/>
            <a:ext cx="928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6" name="Google Shape;216;p21"/>
          <p:cNvCxnSpPr/>
          <p:nvPr/>
        </p:nvCxnSpPr>
        <p:spPr>
          <a:xfrm>
            <a:off x="2377269" y="6539635"/>
            <a:ext cx="0" cy="654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begin{array}{l}2\frac{3}{5}\ \ 1\frac{3}{4}\\&amp;#13;&amp;#10;\frac{4}{7}\ \ 1\frac{2}{3}\end{array}&quot;&gt;&lt;mtable columnalign=&quot;left&quot; columnspacing=&quot;1em&quot; rowspacing=&quot;4pt&quot;&gt;&lt;mtr&gt;&lt;mtd&gt;&lt;mn&gt;2&lt;/mn&gt;&lt;mfrac&gt;&lt;mn&gt;3&lt;/mn&gt;&lt;mn&gt;5&lt;/mn&gt;&lt;/mfrac&gt;&lt;mtext&gt;&lt;/mtext&gt;&lt;mtext&gt;&lt;/mtext&gt;&lt;mn&gt;1&lt;/mn&gt;&lt;mfrac&gt;&lt;mn&gt;3&lt;/mn&gt;&lt;mn&gt;4&lt;/mn&gt;&lt;/mfrac&gt;&lt;/mtd&gt;&lt;/mtr&gt;&lt;mtr&gt;&lt;mtd&gt;&lt;mfrac&gt;&lt;mn&gt;4&lt;/mn&gt;&lt;mn&gt;7&lt;/mn&gt;&lt;/mfrac&gt;&lt;mtext&gt;&lt;/mtext&gt;&lt;mtext&gt;&lt;/mtext&gt;&lt;mn&gt;1&lt;/mn&gt;&lt;mfrac&gt;&lt;mn&gt;2&lt;/mn&gt;&lt;mn&gt;3&lt;/mn&gt;&lt;/mfrac&gt;&lt;/mtd&gt;&lt;/mtr&gt;&lt;/mtable&gt;&lt;/math&gt;" id="217" name="Google Shape;217;p21" title="2 lines Line 1: 2 and three fifths 1 and three fourths Line 2: four sevenths 1 and two thirds"/>
          <p:cNvPicPr preferRelativeResize="0"/>
          <p:nvPr/>
        </p:nvPicPr>
        <p:blipFill rotWithShape="1">
          <a:blip r:embed="rId4">
            <a:alphaModFix/>
          </a:blip>
          <a:srcRect b="50002" l="0" r="52534" t="0"/>
          <a:stretch/>
        </p:blipFill>
        <p:spPr>
          <a:xfrm>
            <a:off x="1560568" y="5913350"/>
            <a:ext cx="308163" cy="366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\frac{3}{5}\ \ 1\frac{3}{4}\\&amp;#13;&amp;#10;\frac{4}{7}\ \ 1\frac{2}{3}\end{array}&quot;&gt;&lt;mtable columnalign=&quot;left&quot; columnspacing=&quot;1em&quot; rowspacing=&quot;4pt&quot;&gt;&lt;mtr&gt;&lt;mtd&gt;&lt;mn&gt;2&lt;/mn&gt;&lt;mfrac&gt;&lt;mn&gt;3&lt;/mn&gt;&lt;mn&gt;5&lt;/mn&gt;&lt;/mfrac&gt;&lt;mtext&gt;&lt;/mtext&gt;&lt;mtext&gt;&lt;/mtext&gt;&lt;mn&gt;1&lt;/mn&gt;&lt;mfrac&gt;&lt;mn&gt;3&lt;/mn&gt;&lt;mn&gt;4&lt;/mn&gt;&lt;/mfrac&gt;&lt;/mtd&gt;&lt;/mtr&gt;&lt;mtr&gt;&lt;mtd&gt;&lt;mfrac&gt;&lt;mn&gt;4&lt;/mn&gt;&lt;mn&gt;7&lt;/mn&gt;&lt;/mfrac&gt;&lt;mtext&gt;&lt;/mtext&gt;&lt;mtext&gt;&lt;/mtext&gt;&lt;mn&gt;1&lt;/mn&gt;&lt;mfrac&gt;&lt;mn&gt;2&lt;/mn&gt;&lt;mn&gt;3&lt;/mn&gt;&lt;/mfrac&gt;&lt;/mtd&gt;&lt;/mtr&gt;&lt;/mtable&gt;&lt;/math&gt;" id="218" name="Google Shape;218;p21" title="2 lines Line 1: 2 and three fifths 1 and three fourths Line 2: four sevenths 1 and two thirds"/>
          <p:cNvPicPr preferRelativeResize="0"/>
          <p:nvPr/>
        </p:nvPicPr>
        <p:blipFill rotWithShape="1">
          <a:blip r:embed="rId4">
            <a:alphaModFix/>
          </a:blip>
          <a:srcRect b="50002" l="59398" r="-6863" t="0"/>
          <a:stretch/>
        </p:blipFill>
        <p:spPr>
          <a:xfrm>
            <a:off x="474750" y="6743224"/>
            <a:ext cx="308163" cy="366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\frac{3}{5}\ \ 1\frac{3}{4}\\&amp;#13;&amp;#10;\frac{4}{7}\ \ 1\frac{2}{3}\end{array}&quot;&gt;&lt;mtable columnalign=&quot;left&quot; columnspacing=&quot;1em&quot; rowspacing=&quot;4pt&quot;&gt;&lt;mtr&gt;&lt;mtd&gt;&lt;mn&gt;2&lt;/mn&gt;&lt;mfrac&gt;&lt;mn&gt;3&lt;/mn&gt;&lt;mn&gt;5&lt;/mn&gt;&lt;/mfrac&gt;&lt;mtext&gt;&lt;/mtext&gt;&lt;mtext&gt;&lt;/mtext&gt;&lt;mn&gt;1&lt;/mn&gt;&lt;mfrac&gt;&lt;mn&gt;3&lt;/mn&gt;&lt;mn&gt;4&lt;/mn&gt;&lt;/mfrac&gt;&lt;/mtd&gt;&lt;/mtr&gt;&lt;mtr&gt;&lt;mtd&gt;&lt;mfrac&gt;&lt;mn&gt;4&lt;/mn&gt;&lt;mn&gt;7&lt;/mn&gt;&lt;/mfrac&gt;&lt;mtext&gt;&lt;/mtext&gt;&lt;mtext&gt;&lt;/mtext&gt;&lt;mn&gt;1&lt;/mn&gt;&lt;mfrac&gt;&lt;mn&gt;2&lt;/mn&gt;&lt;mn&gt;3&lt;/mn&gt;&lt;/mfrac&gt;&lt;/mtd&gt;&lt;/mtr&gt;&lt;/mtable&gt;&lt;/math&gt;" id="219" name="Google Shape;219;p21" title="2 lines Line 1: 2 and three fifths 1 and three fourths Line 2: four sevenths 1 and two thirds"/>
          <p:cNvPicPr preferRelativeResize="0"/>
          <p:nvPr/>
        </p:nvPicPr>
        <p:blipFill rotWithShape="1">
          <a:blip r:embed="rId4">
            <a:alphaModFix/>
          </a:blip>
          <a:srcRect b="-8072" l="-10494" r="63029" t="49953"/>
          <a:stretch/>
        </p:blipFill>
        <p:spPr>
          <a:xfrm>
            <a:off x="1795492" y="6743215"/>
            <a:ext cx="308163" cy="425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\frac{3}{5}\ \ 1\frac{3}{4}\\&amp;#13;&amp;#10;\frac{4}{7}\ \ 1\frac{2}{3}\end{array}&quot;&gt;&lt;mtable columnalign=&quot;left&quot; columnspacing=&quot;1em&quot; rowspacing=&quot;4pt&quot;&gt;&lt;mtr&gt;&lt;mtd&gt;&lt;mn&gt;2&lt;/mn&gt;&lt;mfrac&gt;&lt;mn&gt;3&lt;/mn&gt;&lt;mn&gt;5&lt;/mn&gt;&lt;/mfrac&gt;&lt;mtext&gt;&lt;/mtext&gt;&lt;mtext&gt;&lt;/mtext&gt;&lt;mn&gt;1&lt;/mn&gt;&lt;mfrac&gt;&lt;mn&gt;3&lt;/mn&gt;&lt;mn&gt;4&lt;/mn&gt;&lt;/mfrac&gt;&lt;/mtd&gt;&lt;/mtr&gt;&lt;mtr&gt;&lt;mtd&gt;&lt;mfrac&gt;&lt;mn&gt;4&lt;/mn&gt;&lt;mn&gt;7&lt;/mn&gt;&lt;/mfrac&gt;&lt;mtext&gt;&lt;/mtext&gt;&lt;mtext&gt;&lt;/mtext&gt;&lt;mn&gt;1&lt;/mn&gt;&lt;mfrac&gt;&lt;mn&gt;2&lt;/mn&gt;&lt;mn&gt;3&lt;/mn&gt;&lt;/mfrac&gt;&lt;/mtd&gt;&lt;/mtr&gt;&lt;/mtable&gt;&lt;/math&gt;" id="220" name="Google Shape;220;p21" title="2 lines Line 1: 2 and three fifths 1 and three fourths Line 2: four sevenths 1 and two thirds"/>
          <p:cNvPicPr preferRelativeResize="0"/>
          <p:nvPr/>
        </p:nvPicPr>
        <p:blipFill rotWithShape="1">
          <a:blip r:embed="rId4">
            <a:alphaModFix/>
          </a:blip>
          <a:srcRect b="-8072" l="42044" r="10489" t="49953"/>
          <a:stretch/>
        </p:blipFill>
        <p:spPr>
          <a:xfrm>
            <a:off x="1413128" y="6554513"/>
            <a:ext cx="265099" cy="36612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1570033" y="6513294"/>
            <a:ext cx="3702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1930671" y="6723964"/>
            <a:ext cx="3702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2079150" y="1438800"/>
            <a:ext cx="50130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have a different number of water bottles to give to the students in their groups. Each student gets an equal share.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2412000" y="1210200"/>
            <a:ext cx="506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bottle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2899225" y="1210200"/>
            <a:ext cx="47262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contains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3738725" y="1210200"/>
            <a:ext cx="40392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litre of water. On a school trip, three teachers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" name="Google Shape;22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8748" y="1078002"/>
            <a:ext cx="375398" cy="63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4942" y="1078002"/>
            <a:ext cx="375398" cy="63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299" y="2038397"/>
            <a:ext cx="375398" cy="63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0494" y="2038397"/>
            <a:ext cx="375398" cy="63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3806" y="2038397"/>
            <a:ext cx="375398" cy="63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0001" y="2038397"/>
            <a:ext cx="375398" cy="63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299" y="2944920"/>
            <a:ext cx="375398" cy="63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0494" y="2944920"/>
            <a:ext cx="375398" cy="63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3806" y="2944920"/>
            <a:ext cx="375398" cy="63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0001" y="2944920"/>
            <a:ext cx="375398" cy="63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3" name="Google Shape;243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arithmetic procedures involving fractions</a:t>
            </a:r>
            <a:endParaRPr/>
          </a:p>
        </p:txBody>
      </p:sp>
      <p:sp>
        <p:nvSpPr>
          <p:cNvPr id="244" name="Google Shape;244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6" name="Google Shape;2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000" y="850041"/>
            <a:ext cx="2875762" cy="2733353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3446475" y="735075"/>
            <a:ext cx="6042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1\frac{3}{4},\ 2\frac{2}{5}\right)&quot;&gt;&lt;mrow data-mjx-texclass=&quot;INNER&quot;&gt;&lt;mo data-mjx-texclass=&quot;OPEN&quot;&gt;(&lt;/mo&gt;&lt;mn&gt;1&lt;/mn&gt;&lt;mfrac&gt;&lt;mn&gt;3&lt;/mn&gt;&lt;mn&gt;4&lt;/mn&gt;&lt;/mfrac&gt;&lt;mo&gt;,&lt;/mo&gt;&lt;mtext&gt;&lt;/mtext&gt;&lt;mn&gt;2&lt;/mn&gt;&lt;mfrac&gt;&lt;mn&gt;2&lt;/mn&gt;&lt;mn&gt;5&lt;/mn&gt;&lt;/mfrac&gt;&lt;mo data-mjx-texclass=&quot;CLOSE&quot;&gt;)&lt;/mo&gt;&lt;/mrow&gt;&lt;/math&gt;" id="248" name="Google Shape;248;p22" title="open paren 1 and three fourths comma 2 and two fifths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7796" y="1226210"/>
            <a:ext cx="704815" cy="3855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1\frac{3}{4},\ 2\frac{2}{5}\right)&quot;&gt;&lt;mrow data-mjx-texclass=&quot;INNER&quot;&gt;&lt;mo data-mjx-texclass=&quot;OPEN&quot;&gt;(&lt;/mo&gt;&lt;mn&gt;1&lt;/mn&gt;&lt;mfrac&gt;&lt;mn&gt;3&lt;/mn&gt;&lt;mn&gt;4&lt;/mn&gt;&lt;/mfrac&gt;&lt;mo&gt;,&lt;/mo&gt;&lt;mtext&gt;&lt;/mtext&gt;&lt;mn&gt;2&lt;/mn&gt;&lt;mfrac&gt;&lt;mn&gt;2&lt;/mn&gt;&lt;mn&gt;5&lt;/mn&gt;&lt;/mfrac&gt;&lt;mo data-mjx-texclass=&quot;CLOSE&quot;&gt;)&lt;/mo&gt;&lt;/mrow&gt;&lt;/math&gt;" id="249" name="Google Shape;249;p22" title="open paren 1 and three fourths comma 2 and two fifths close paren"/>
          <p:cNvPicPr preferRelativeResize="0"/>
          <p:nvPr/>
        </p:nvPicPr>
        <p:blipFill rotWithShape="1">
          <a:blip r:embed="rId4">
            <a:alphaModFix/>
          </a:blip>
          <a:srcRect b="0" l="52223" r="13650" t="0"/>
          <a:stretch/>
        </p:blipFill>
        <p:spPr>
          <a:xfrm>
            <a:off x="5308440" y="689709"/>
            <a:ext cx="280627" cy="44979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3446478" y="1268486"/>
            <a:ext cx="3315600" cy="15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coordinate of A is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coordinate of B, C and D, giving your answer as a mixed number.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3446475" y="963682"/>
            <a:ext cx="33156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plotted on an axis.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3780000" y="735075"/>
            <a:ext cx="7551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4344000" y="735075"/>
            <a:ext cx="5247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4701975" y="735075"/>
            <a:ext cx="6672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5613150" y="735075"/>
            <a:ext cx="1911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units has been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