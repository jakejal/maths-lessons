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ec39f8d00d_1_1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ec39f8d00d_1_1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9f6acd87e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9f6acd87e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9f6acd87e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9f6acd87e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9f6acd87e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9f6acd87e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29f6acd87e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29f6acd87e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9f6acd87e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9f6acd87e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29f6acd87e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 name="Google Shape;853;g29f6acd87e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9f6acd87ec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9f6acd87ec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9f6acd87ec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9f6acd87e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1ec39f8d00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1ec39f8d0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1ec39f8d00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1ec39f8d00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29f6acd87ec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29f6acd87ec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9f6acd87ec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29f6acd87ec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1ec39f8d00d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1ec39f8d00d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1ec39f8d00d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1ec39f8d00d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1ec39f8d00d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1ec39f8d00d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1ec39f8d00d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0" name="Google Shape;1100;g1ec39f8d00d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1ec39f8d00d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1ec39f8d00d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1ec39f8d00d_1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1ec39f8d00d_1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9f6acd87ec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9f6acd87ec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1ec39f8d00d_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1ec39f8d00d_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1ec39f8d00d_1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1ec39f8d00d_1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1ec39f8d00d_1_2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1ec39f8d00d_1_2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1ec39f8d00d_1_10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1ec39f8d00d_1_10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a1fa3696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2a1fa3696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1ec39f8d00d_1_1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9" name="Google Shape;1279;g1ec39f8d00d_1_1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1ec39f8d00d_1_3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1ec39f8d00d_1_3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g1ec39f8d00d_1_3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8" name="Google Shape;1328;g1ec39f8d00d_1_3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g29f6acd87ec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9" name="Google Shape;1359;g29f6acd87ec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29f6acd87ec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4" name="Google Shape;1384;g29f6acd87ec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1ec39f8d00d_1_3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1ec39f8d00d_1_3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1ec39f8d00d_1_3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1ec39f8d00d_1_3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1ec39f8d00d_1_3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1ec39f8d00d_1_3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5.png"/><Relationship Id="rId4" Type="http://schemas.openxmlformats.org/officeDocument/2006/relationships/image" Target="../media/image70.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0.png"/><Relationship Id="rId4" Type="http://schemas.openxmlformats.org/officeDocument/2006/relationships/image" Target="../media/image22.png"/><Relationship Id="rId9"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image" Target="../media/image32.png"/><Relationship Id="rId7" Type="http://schemas.openxmlformats.org/officeDocument/2006/relationships/image" Target="../media/image26.png"/><Relationship Id="rId8" Type="http://schemas.openxmlformats.org/officeDocument/2006/relationships/image" Target="../media/image2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70.png"/><Relationship Id="rId4" Type="http://schemas.openxmlformats.org/officeDocument/2006/relationships/image" Target="../media/image29.png"/><Relationship Id="rId11" Type="http://schemas.openxmlformats.org/officeDocument/2006/relationships/image" Target="../media/image21.png"/><Relationship Id="rId10" Type="http://schemas.openxmlformats.org/officeDocument/2006/relationships/image" Target="../media/image35.png"/><Relationship Id="rId9" Type="http://schemas.openxmlformats.org/officeDocument/2006/relationships/image" Target="../media/image27.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32.png"/><Relationship Id="rId8" Type="http://schemas.openxmlformats.org/officeDocument/2006/relationships/image" Target="../media/image2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6.png"/><Relationship Id="rId4" Type="http://schemas.openxmlformats.org/officeDocument/2006/relationships/image" Target="../media/image48.png"/><Relationship Id="rId5"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5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60.png"/><Relationship Id="rId5" Type="http://schemas.openxmlformats.org/officeDocument/2006/relationships/image" Target="../media/image54.png"/><Relationship Id="rId6" Type="http://schemas.openxmlformats.org/officeDocument/2006/relationships/image" Target="../media/image51.png"/><Relationship Id="rId7" Type="http://schemas.openxmlformats.org/officeDocument/2006/relationships/image" Target="../media/image55.png"/><Relationship Id="rId8" Type="http://schemas.openxmlformats.org/officeDocument/2006/relationships/image" Target="../media/image5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5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62.png"/><Relationship Id="rId4"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xml"/><Relationship Id="rId3" Type="http://schemas.openxmlformats.org/officeDocument/2006/relationships/image" Target="../media/image64.png"/><Relationship Id="rId4" Type="http://schemas.openxmlformats.org/officeDocument/2006/relationships/image" Target="../media/image6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64.png"/><Relationship Id="rId4"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4.xml"/><Relationship Id="rId3" Type="http://schemas.openxmlformats.org/officeDocument/2006/relationships/image" Target="../media/image64.png"/><Relationship Id="rId4" Type="http://schemas.openxmlformats.org/officeDocument/2006/relationships/image" Target="../media/image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6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 Id="rId3" Type="http://schemas.openxmlformats.org/officeDocument/2006/relationships/image" Target="../media/image71.png"/><Relationship Id="rId4" Type="http://schemas.openxmlformats.org/officeDocument/2006/relationships/image" Target="../media/image7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7.xml"/><Relationship Id="rId3" Type="http://schemas.openxmlformats.org/officeDocument/2006/relationships/image" Target="../media/image66.png"/><Relationship Id="rId4" Type="http://schemas.openxmlformats.org/officeDocument/2006/relationships/image" Target="../media/image7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8.xml"/><Relationship Id="rId3" Type="http://schemas.openxmlformats.org/officeDocument/2006/relationships/image" Target="../media/image66.png"/><Relationship Id="rId4" Type="http://schemas.openxmlformats.org/officeDocument/2006/relationships/image" Target="../media/image75.png"/><Relationship Id="rId5" Type="http://schemas.openxmlformats.org/officeDocument/2006/relationships/image" Target="../media/image7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19.xml"/><Relationship Id="rId3" Type="http://schemas.openxmlformats.org/officeDocument/2006/relationships/image" Target="../media/image77.png"/><Relationship Id="rId4" Type="http://schemas.openxmlformats.org/officeDocument/2006/relationships/image" Target="../media/image76.png"/><Relationship Id="rId5" Type="http://schemas.openxmlformats.org/officeDocument/2006/relationships/image" Target="../media/image7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0.xml"/><Relationship Id="rId3" Type="http://schemas.openxmlformats.org/officeDocument/2006/relationships/image" Target="../media/image77.png"/><Relationship Id="rId4" Type="http://schemas.openxmlformats.org/officeDocument/2006/relationships/image" Target="../media/image57.png"/><Relationship Id="rId5" Type="http://schemas.openxmlformats.org/officeDocument/2006/relationships/image" Target="../media/image7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1.xml"/><Relationship Id="rId3" Type="http://schemas.openxmlformats.org/officeDocument/2006/relationships/image" Target="../media/image77.png"/><Relationship Id="rId4" Type="http://schemas.openxmlformats.org/officeDocument/2006/relationships/image" Target="../media/image84.png"/><Relationship Id="rId5" Type="http://schemas.openxmlformats.org/officeDocument/2006/relationships/image" Target="../media/image57.png"/><Relationship Id="rId6" Type="http://schemas.openxmlformats.org/officeDocument/2006/relationships/image" Target="../media/image7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2.xml"/><Relationship Id="rId3" Type="http://schemas.openxmlformats.org/officeDocument/2006/relationships/image" Target="../media/image77.png"/><Relationship Id="rId4" Type="http://schemas.openxmlformats.org/officeDocument/2006/relationships/image" Target="../media/image82.png"/><Relationship Id="rId5" Type="http://schemas.openxmlformats.org/officeDocument/2006/relationships/image" Target="../media/image7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9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89.png"/><Relationship Id="rId4" Type="http://schemas.openxmlformats.org/officeDocument/2006/relationships/image" Target="../media/image90.png"/><Relationship Id="rId9" Type="http://schemas.openxmlformats.org/officeDocument/2006/relationships/image" Target="../media/image91.png"/><Relationship Id="rId5" Type="http://schemas.openxmlformats.org/officeDocument/2006/relationships/image" Target="../media/image81.png"/><Relationship Id="rId6" Type="http://schemas.openxmlformats.org/officeDocument/2006/relationships/image" Target="../media/image83.png"/><Relationship Id="rId7" Type="http://schemas.openxmlformats.org/officeDocument/2006/relationships/image" Target="../media/image88.png"/><Relationship Id="rId8" Type="http://schemas.openxmlformats.org/officeDocument/2006/relationships/image" Target="../media/image8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90.png"/><Relationship Id="rId4" Type="http://schemas.openxmlformats.org/officeDocument/2006/relationships/image" Target="../media/image78.png"/><Relationship Id="rId9" Type="http://schemas.openxmlformats.org/officeDocument/2006/relationships/image" Target="../media/image92.png"/><Relationship Id="rId5" Type="http://schemas.openxmlformats.org/officeDocument/2006/relationships/image" Target="../media/image86.png"/><Relationship Id="rId6" Type="http://schemas.openxmlformats.org/officeDocument/2006/relationships/image" Target="../media/image85.png"/><Relationship Id="rId7" Type="http://schemas.openxmlformats.org/officeDocument/2006/relationships/image" Target="../media/image87.png"/><Relationship Id="rId8" Type="http://schemas.openxmlformats.org/officeDocument/2006/relationships/image" Target="../media/image88.png"/><Relationship Id="rId10"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90.png"/><Relationship Id="rId4" Type="http://schemas.openxmlformats.org/officeDocument/2006/relationships/image" Target="../media/image96.png"/><Relationship Id="rId5" Type="http://schemas.openxmlformats.org/officeDocument/2006/relationships/image" Target="../media/image101.png"/><Relationship Id="rId6" Type="http://schemas.openxmlformats.org/officeDocument/2006/relationships/image" Target="../media/image1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90.png"/><Relationship Id="rId4" Type="http://schemas.openxmlformats.org/officeDocument/2006/relationships/image" Target="../media/image96.png"/><Relationship Id="rId5" Type="http://schemas.openxmlformats.org/officeDocument/2006/relationships/image" Target="../media/image101.png"/><Relationship Id="rId6" Type="http://schemas.openxmlformats.org/officeDocument/2006/relationships/image" Target="../media/image94.png"/><Relationship Id="rId7" Type="http://schemas.openxmlformats.org/officeDocument/2006/relationships/image" Target="../media/image9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9.xml"/><Relationship Id="rId3" Type="http://schemas.openxmlformats.org/officeDocument/2006/relationships/image" Target="../media/image96.png"/><Relationship Id="rId4" Type="http://schemas.openxmlformats.org/officeDocument/2006/relationships/image" Target="../media/image101.png"/><Relationship Id="rId5" Type="http://schemas.openxmlformats.org/officeDocument/2006/relationships/image" Target="../media/image104.png"/><Relationship Id="rId6" Type="http://schemas.openxmlformats.org/officeDocument/2006/relationships/image" Target="../media/image106.png"/><Relationship Id="rId7" Type="http://schemas.openxmlformats.org/officeDocument/2006/relationships/image" Target="../media/image99.png"/><Relationship Id="rId8" Type="http://schemas.openxmlformats.org/officeDocument/2006/relationships/image" Target="../media/image10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90.png"/><Relationship Id="rId4" Type="http://schemas.openxmlformats.org/officeDocument/2006/relationships/image" Target="../media/image87.png"/><Relationship Id="rId9" Type="http://schemas.openxmlformats.org/officeDocument/2006/relationships/image" Target="../media/image105.png"/><Relationship Id="rId5" Type="http://schemas.openxmlformats.org/officeDocument/2006/relationships/image" Target="../media/image88.png"/><Relationship Id="rId6" Type="http://schemas.openxmlformats.org/officeDocument/2006/relationships/image" Target="../media/image92.png"/><Relationship Id="rId7" Type="http://schemas.openxmlformats.org/officeDocument/2006/relationships/image" Target="../media/image79.png"/><Relationship Id="rId8" Type="http://schemas.openxmlformats.org/officeDocument/2006/relationships/image" Target="../media/image103.png"/><Relationship Id="rId10" Type="http://schemas.openxmlformats.org/officeDocument/2006/relationships/image" Target="../media/image10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 Id="rId3" Type="http://schemas.openxmlformats.org/officeDocument/2006/relationships/image" Target="../media/image109.png"/><Relationship Id="rId4" Type="http://schemas.openxmlformats.org/officeDocument/2006/relationships/image" Target="../media/image104.png"/><Relationship Id="rId9" Type="http://schemas.openxmlformats.org/officeDocument/2006/relationships/image" Target="../media/image96.png"/><Relationship Id="rId5" Type="http://schemas.openxmlformats.org/officeDocument/2006/relationships/image" Target="../media/image108.png"/><Relationship Id="rId6" Type="http://schemas.openxmlformats.org/officeDocument/2006/relationships/image" Target="../media/image110.png"/><Relationship Id="rId7" Type="http://schemas.openxmlformats.org/officeDocument/2006/relationships/image" Target="../media/image112.png"/><Relationship Id="rId8" Type="http://schemas.openxmlformats.org/officeDocument/2006/relationships/image" Target="../media/image113.png"/><Relationship Id="rId10" Type="http://schemas.openxmlformats.org/officeDocument/2006/relationships/image" Target="../media/image10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 Id="rId3" Type="http://schemas.openxmlformats.org/officeDocument/2006/relationships/image" Target="../media/image119.png"/><Relationship Id="rId4" Type="http://schemas.openxmlformats.org/officeDocument/2006/relationships/image" Target="../media/image118.png"/><Relationship Id="rId5" Type="http://schemas.openxmlformats.org/officeDocument/2006/relationships/image" Target="../media/image115.png"/><Relationship Id="rId6" Type="http://schemas.openxmlformats.org/officeDocument/2006/relationships/image" Target="../media/image1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3.xml"/><Relationship Id="rId3" Type="http://schemas.openxmlformats.org/officeDocument/2006/relationships/image" Target="../media/image1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116.png"/><Relationship Id="rId4" Type="http://schemas.openxmlformats.org/officeDocument/2006/relationships/image" Target="../media/image1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5.xml"/><Relationship Id="rId3" Type="http://schemas.openxmlformats.org/officeDocument/2006/relationships/image" Target="../media/image111.png"/><Relationship Id="rId4" Type="http://schemas.openxmlformats.org/officeDocument/2006/relationships/image" Target="../media/image1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6.xml"/><Relationship Id="rId3" Type="http://schemas.openxmlformats.org/officeDocument/2006/relationships/image" Target="../media/image116.png"/><Relationship Id="rId4" Type="http://schemas.openxmlformats.org/officeDocument/2006/relationships/image" Target="../media/image114.png"/><Relationship Id="rId5" Type="http://schemas.openxmlformats.org/officeDocument/2006/relationships/image" Target="../media/image124.png"/><Relationship Id="rId6" Type="http://schemas.openxmlformats.org/officeDocument/2006/relationships/image" Target="../media/image122.png"/><Relationship Id="rId7" Type="http://schemas.openxmlformats.org/officeDocument/2006/relationships/image" Target="../media/image120.png"/><Relationship Id="rId8" Type="http://schemas.openxmlformats.org/officeDocument/2006/relationships/image" Target="../media/image1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7.xml"/><Relationship Id="rId3" Type="http://schemas.openxmlformats.org/officeDocument/2006/relationships/image" Target="../media/image96.png"/><Relationship Id="rId4" Type="http://schemas.openxmlformats.org/officeDocument/2006/relationships/image" Target="../media/image10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8.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arithmetic procedures involving fractions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Arithmetic procedures with fractions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arithmetic procedures involving fractions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04951" y="685175"/>
            <a:ext cx="80301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A </a:t>
            </a:r>
            <a:r>
              <a:rPr b="0" lang="en-GB" sz="1800"/>
              <a:t>proper fraction</a:t>
            </a:r>
            <a:r>
              <a:rPr b="0" lang="en-GB" sz="1800"/>
              <a:t> is a fraction where the numerator is less than the denominator. </a:t>
            </a:r>
            <a:endParaRPr b="0" sz="1800"/>
          </a:p>
        </p:txBody>
      </p:sp>
      <p:sp>
        <p:nvSpPr>
          <p:cNvPr id="767" name="Google Shape;767;p67"/>
          <p:cNvSpPr txBox="1"/>
          <p:nvPr>
            <p:ph idx="2" type="subTitle"/>
          </p:nvPr>
        </p:nvSpPr>
        <p:spPr>
          <a:xfrm>
            <a:off x="324000" y="1932150"/>
            <a:ext cx="8361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An </a:t>
            </a:r>
            <a:r>
              <a:rPr b="0" lang="en-GB" sz="1800"/>
              <a:t>improper fraction</a:t>
            </a:r>
            <a:r>
              <a:rPr b="0" lang="en-GB" sz="1800"/>
              <a:t> is a fraction where the numerator is greater than or equal to the denominator.</a:t>
            </a:r>
            <a:endParaRPr b="0" sz="1800"/>
          </a:p>
        </p:txBody>
      </p:sp>
      <p:sp>
        <p:nvSpPr>
          <p:cNvPr id="768" name="Google Shape;768;p67"/>
          <p:cNvSpPr txBox="1"/>
          <p:nvPr>
            <p:ph idx="3" type="subTitle"/>
          </p:nvPr>
        </p:nvSpPr>
        <p:spPr>
          <a:xfrm>
            <a:off x="324000" y="3331425"/>
            <a:ext cx="82209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A </a:t>
            </a:r>
            <a:r>
              <a:rPr b="0" lang="en-GB" sz="1800"/>
              <a:t>mixed number is an improper fraction </a:t>
            </a:r>
            <a:r>
              <a:rPr b="0" lang="en-GB" sz="1800"/>
              <a:t>written as its integer part plus the fractional part where the fractional part is a proper fraction. </a:t>
            </a:r>
            <a:endParaRPr b="0" sz="1800"/>
          </a:p>
        </p:txBody>
      </p:sp>
      <p:sp>
        <p:nvSpPr>
          <p:cNvPr id="769" name="Google Shape;769;p67"/>
          <p:cNvSpPr txBox="1"/>
          <p:nvPr>
            <p:ph idx="1" type="subTitle"/>
          </p:nvPr>
        </p:nvSpPr>
        <p:spPr>
          <a:xfrm>
            <a:off x="5239076" y="1275313"/>
            <a:ext cx="13665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Example</a:t>
            </a:r>
            <a:endParaRPr b="0" sz="1800"/>
          </a:p>
        </p:txBody>
      </p:sp>
      <p:pic>
        <p:nvPicPr>
          <p:cNvPr descr="&lt;math xmlns=&quot;http://www.w3.org/1998/Math/MathML&quot; display=&quot;block&quot; data-is-equatio=&quot;1&quot; data-latex=&quot;\frac{2}{3}&quot;&gt;&lt;mfrac&gt;&lt;mn&gt;2&lt;/mn&gt;&lt;mn&gt;3&lt;/mn&gt;&lt;/mfrac&gt;&lt;/math&gt;" id="770" name="Google Shape;770;p67" title="two thirds"/>
          <p:cNvPicPr preferRelativeResize="0"/>
          <p:nvPr/>
        </p:nvPicPr>
        <p:blipFill>
          <a:blip r:embed="rId3">
            <a:alphaModFix/>
          </a:blip>
          <a:stretch>
            <a:fillRect/>
          </a:stretch>
        </p:blipFill>
        <p:spPr>
          <a:xfrm>
            <a:off x="6529028" y="1026974"/>
            <a:ext cx="228960" cy="757722"/>
          </a:xfrm>
          <a:prstGeom prst="rect">
            <a:avLst/>
          </a:prstGeom>
          <a:noFill/>
          <a:ln>
            <a:noFill/>
          </a:ln>
        </p:spPr>
      </p:pic>
      <p:pic>
        <p:nvPicPr>
          <p:cNvPr descr="&lt;math xmlns=&quot;http://www.w3.org/1998/Math/MathML&quot; display=&quot;block&quot; data-is-equatio=&quot;1&quot; data-latex=&quot;\frac{7}{5}&quot;&gt;&lt;mfrac&gt;&lt;mn&gt;7&lt;/mn&gt;&lt;mn&gt;5&lt;/mn&gt;&lt;/mfrac&gt;&lt;/math&gt;" id="771" name="Google Shape;771;p67" title="seven fifths"/>
          <p:cNvPicPr preferRelativeResize="0"/>
          <p:nvPr/>
        </p:nvPicPr>
        <p:blipFill>
          <a:blip r:embed="rId4">
            <a:alphaModFix/>
          </a:blip>
          <a:stretch>
            <a:fillRect/>
          </a:stretch>
        </p:blipFill>
        <p:spPr>
          <a:xfrm>
            <a:off x="6529027" y="2478241"/>
            <a:ext cx="228960" cy="735956"/>
          </a:xfrm>
          <a:prstGeom prst="rect">
            <a:avLst/>
          </a:prstGeom>
          <a:noFill/>
          <a:ln>
            <a:noFill/>
          </a:ln>
        </p:spPr>
      </p:pic>
      <p:sp>
        <p:nvSpPr>
          <p:cNvPr id="772" name="Google Shape;772;p67"/>
          <p:cNvSpPr txBox="1"/>
          <p:nvPr>
            <p:ph idx="1" type="subTitle"/>
          </p:nvPr>
        </p:nvSpPr>
        <p:spPr>
          <a:xfrm>
            <a:off x="5239076" y="2530738"/>
            <a:ext cx="13665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Example</a:t>
            </a:r>
            <a:endParaRPr b="0" sz="1800"/>
          </a:p>
        </p:txBody>
      </p:sp>
      <p:sp>
        <p:nvSpPr>
          <p:cNvPr id="773" name="Google Shape;773;p67"/>
          <p:cNvSpPr txBox="1"/>
          <p:nvPr>
            <p:ph idx="1" type="subTitle"/>
          </p:nvPr>
        </p:nvSpPr>
        <p:spPr>
          <a:xfrm>
            <a:off x="5239076" y="4237038"/>
            <a:ext cx="13665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0" lang="en-GB" sz="1800"/>
              <a:t>Example</a:t>
            </a:r>
            <a:endParaRPr b="0" sz="1800"/>
          </a:p>
        </p:txBody>
      </p:sp>
      <p:pic>
        <p:nvPicPr>
          <p:cNvPr descr="&lt;math xmlns=&quot;http://www.w3.org/1998/Math/MathML&quot; display=&quot;block&quot; data-is-equatio=&quot;1&quot; data-latex=&quot;3\dfrac{1}{2}&quot;&gt;&lt;mn&gt;3&lt;/mn&gt;&lt;mstyle displaystyle=&quot;true&quot; scriptlevel=&quot;0&quot;&gt;&lt;mfrac&gt;&lt;mn&gt;1&lt;/mn&gt;&lt;mn&gt;2&lt;/mn&gt;&lt;/mfrac&gt;&lt;/mstyle&gt;&lt;/math&gt;" id="774" name="Google Shape;774;p67" title="3 and one half"/>
          <p:cNvPicPr preferRelativeResize="0"/>
          <p:nvPr/>
        </p:nvPicPr>
        <p:blipFill>
          <a:blip r:embed="rId5">
            <a:alphaModFix/>
          </a:blip>
          <a:stretch>
            <a:fillRect/>
          </a:stretch>
        </p:blipFill>
        <p:spPr>
          <a:xfrm>
            <a:off x="6376625" y="4054229"/>
            <a:ext cx="439700" cy="7529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780" name="Google Shape;780;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sp>
        <p:nvSpPr>
          <p:cNvPr id="781" name="Google Shape;781;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arithmetic procedures involving fractions</a:t>
            </a:r>
            <a:endParaRPr/>
          </a:p>
        </p:txBody>
      </p:sp>
      <p:pic>
        <p:nvPicPr>
          <p:cNvPr id="782" name="Google Shape;782;p68"/>
          <p:cNvPicPr preferRelativeResize="0"/>
          <p:nvPr/>
        </p:nvPicPr>
        <p:blipFill>
          <a:blip r:embed="rId3">
            <a:alphaModFix/>
          </a:blip>
          <a:stretch>
            <a:fillRect/>
          </a:stretch>
        </p:blipFill>
        <p:spPr>
          <a:xfrm>
            <a:off x="414743" y="2061607"/>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We use fractions in many different ways in real life. When approaching problem solving questions, have an idea of the strategy or approach needed and then apply those fraction skills. </a:t>
            </a:r>
            <a:endParaRPr/>
          </a:p>
        </p:txBody>
      </p:sp>
      <p:sp>
        <p:nvSpPr>
          <p:cNvPr id="788" name="Google Shape;788;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789" name="Google Shape;789;p69"/>
          <p:cNvSpPr txBox="1"/>
          <p:nvPr/>
        </p:nvSpPr>
        <p:spPr>
          <a:xfrm>
            <a:off x="324000" y="2552100"/>
            <a:ext cx="85722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Identifying the strategy first and then completing the calculation breaks the problem solving question into chunks.</a:t>
            </a:r>
            <a:endParaRPr/>
          </a:p>
        </p:txBody>
      </p:sp>
      <p:sp>
        <p:nvSpPr>
          <p:cNvPr id="790" name="Google Shape;790;p69"/>
          <p:cNvSpPr txBox="1"/>
          <p:nvPr/>
        </p:nvSpPr>
        <p:spPr>
          <a:xfrm>
            <a:off x="324000" y="3695100"/>
            <a:ext cx="85722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However, understanding the wording is firstly important before identifying a </a:t>
            </a:r>
            <a:r>
              <a:rPr lang="en-GB" sz="2200">
                <a:solidFill>
                  <a:schemeClr val="dk1"/>
                </a:solidFill>
                <a:latin typeface="Lexend"/>
                <a:ea typeface="Lexend"/>
                <a:cs typeface="Lexend"/>
                <a:sym typeface="Lexend"/>
              </a:rPr>
              <a:t>strategy</a:t>
            </a:r>
            <a:r>
              <a:rPr lang="en-GB" sz="2200">
                <a:solidFill>
                  <a:schemeClr val="dk1"/>
                </a:solidFill>
                <a:latin typeface="Lexend"/>
                <a:ea typeface="Lexend"/>
                <a:cs typeface="Lexend"/>
                <a:sym typeface="Lexend"/>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 real life, we sometimes do not use the words subtract, add, divide or multiply in context questions.</a:t>
            </a:r>
            <a:endParaRPr/>
          </a:p>
          <a:p>
            <a:pPr indent="0" lvl="0" marL="0" rtl="0" algn="l">
              <a:spcBef>
                <a:spcPts val="1000"/>
              </a:spcBef>
              <a:spcAft>
                <a:spcPts val="0"/>
              </a:spcAft>
              <a:buNone/>
            </a:pPr>
            <a:r>
              <a:t/>
            </a:r>
            <a:endParaRPr sz="900"/>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796" name="Google Shape;796;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797" name="Google Shape;797;p70"/>
          <p:cNvSpPr txBox="1"/>
          <p:nvPr/>
        </p:nvSpPr>
        <p:spPr>
          <a:xfrm>
            <a:off x="485775" y="3068775"/>
            <a:ext cx="15906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Lots of</a:t>
            </a:r>
            <a:endParaRPr sz="2200">
              <a:solidFill>
                <a:schemeClr val="dk1"/>
              </a:solidFill>
              <a:latin typeface="Lexend"/>
              <a:ea typeface="Lexend"/>
              <a:cs typeface="Lexend"/>
              <a:sym typeface="Lexend"/>
            </a:endParaRPr>
          </a:p>
        </p:txBody>
      </p:sp>
      <p:sp>
        <p:nvSpPr>
          <p:cNvPr id="798" name="Google Shape;798;p70"/>
          <p:cNvSpPr txBox="1"/>
          <p:nvPr/>
        </p:nvSpPr>
        <p:spPr>
          <a:xfrm>
            <a:off x="3357000" y="2700000"/>
            <a:ext cx="21717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Difference</a:t>
            </a:r>
            <a:endParaRPr sz="2200">
              <a:solidFill>
                <a:schemeClr val="dk1"/>
              </a:solidFill>
              <a:latin typeface="Lexend"/>
              <a:ea typeface="Lexend"/>
              <a:cs typeface="Lexend"/>
              <a:sym typeface="Lexend"/>
            </a:endParaRPr>
          </a:p>
        </p:txBody>
      </p:sp>
      <p:sp>
        <p:nvSpPr>
          <p:cNvPr id="799" name="Google Shape;799;p70"/>
          <p:cNvSpPr txBox="1"/>
          <p:nvPr/>
        </p:nvSpPr>
        <p:spPr>
          <a:xfrm>
            <a:off x="6256800" y="2700000"/>
            <a:ext cx="21717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Total</a:t>
            </a:r>
            <a:endParaRPr sz="2200">
              <a:solidFill>
                <a:schemeClr val="dk1"/>
              </a:solidFill>
              <a:latin typeface="Lexend"/>
              <a:ea typeface="Lexend"/>
              <a:cs typeface="Lexend"/>
              <a:sym typeface="Lexend"/>
            </a:endParaRPr>
          </a:p>
        </p:txBody>
      </p:sp>
      <p:sp>
        <p:nvSpPr>
          <p:cNvPr id="800" name="Google Shape;800;p70"/>
          <p:cNvSpPr txBox="1"/>
          <p:nvPr/>
        </p:nvSpPr>
        <p:spPr>
          <a:xfrm>
            <a:off x="1960875" y="3970500"/>
            <a:ext cx="1323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Shared </a:t>
            </a:r>
            <a:endParaRPr sz="2200">
              <a:solidFill>
                <a:schemeClr val="dk1"/>
              </a:solidFill>
              <a:latin typeface="Lexend"/>
              <a:ea typeface="Lexend"/>
              <a:cs typeface="Lexend"/>
              <a:sym typeface="Lexend"/>
            </a:endParaRPr>
          </a:p>
        </p:txBody>
      </p:sp>
      <p:sp>
        <p:nvSpPr>
          <p:cNvPr id="801" name="Google Shape;801;p70"/>
          <p:cNvSpPr txBox="1"/>
          <p:nvPr/>
        </p:nvSpPr>
        <p:spPr>
          <a:xfrm>
            <a:off x="4624350" y="3608550"/>
            <a:ext cx="13230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Sum</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2" name="Google Shape;802;p70" title="plus minus times division sign"/>
          <p:cNvPicPr preferRelativeResize="0"/>
          <p:nvPr/>
        </p:nvPicPr>
        <p:blipFill rotWithShape="1">
          <a:blip r:embed="rId3">
            <a:alphaModFix/>
          </a:blip>
          <a:srcRect b="0" l="0" r="85135" t="0"/>
          <a:stretch/>
        </p:blipFill>
        <p:spPr>
          <a:xfrm>
            <a:off x="7040100" y="2788175"/>
            <a:ext cx="419100" cy="342900"/>
          </a:xfrm>
          <a:prstGeom prst="rect">
            <a:avLst/>
          </a:prstGeom>
          <a:noFill/>
          <a:ln>
            <a:noFill/>
          </a:ln>
        </p:spPr>
      </p:pic>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3" name="Google Shape;803;p70" title="plus minus times division sign"/>
          <p:cNvPicPr preferRelativeResize="0"/>
          <p:nvPr/>
        </p:nvPicPr>
        <p:blipFill rotWithShape="1">
          <a:blip r:embed="rId3">
            <a:alphaModFix/>
          </a:blip>
          <a:srcRect b="0" l="25000" r="53074" t="0"/>
          <a:stretch/>
        </p:blipFill>
        <p:spPr>
          <a:xfrm>
            <a:off x="4914900" y="2788175"/>
            <a:ext cx="618150" cy="342900"/>
          </a:xfrm>
          <a:prstGeom prst="rect">
            <a:avLst/>
          </a:prstGeom>
          <a:noFill/>
          <a:ln>
            <a:noFill/>
          </a:ln>
        </p:spPr>
      </p:pic>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4" name="Google Shape;804;p70" title="plus minus times division sign"/>
          <p:cNvPicPr preferRelativeResize="0"/>
          <p:nvPr/>
        </p:nvPicPr>
        <p:blipFill rotWithShape="1">
          <a:blip r:embed="rId3">
            <a:alphaModFix/>
          </a:blip>
          <a:srcRect b="0" l="84198" r="-3077" t="0"/>
          <a:stretch/>
        </p:blipFill>
        <p:spPr>
          <a:xfrm>
            <a:off x="3011025" y="4048650"/>
            <a:ext cx="532275" cy="342900"/>
          </a:xfrm>
          <a:prstGeom prst="rect">
            <a:avLst/>
          </a:prstGeom>
          <a:noFill/>
          <a:ln>
            <a:noFill/>
          </a:ln>
        </p:spPr>
      </p:pic>
      <p:sp>
        <p:nvSpPr>
          <p:cNvPr id="805" name="Google Shape;805;p70"/>
          <p:cNvSpPr txBox="1"/>
          <p:nvPr/>
        </p:nvSpPr>
        <p:spPr>
          <a:xfrm>
            <a:off x="6742650" y="3706500"/>
            <a:ext cx="1533300" cy="61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Split </a:t>
            </a:r>
            <a:r>
              <a:rPr lang="en-GB" sz="2200">
                <a:solidFill>
                  <a:schemeClr val="dk1"/>
                </a:solidFill>
                <a:latin typeface="Lexend"/>
                <a:ea typeface="Lexend"/>
                <a:cs typeface="Lexend"/>
                <a:sym typeface="Lexend"/>
              </a:rPr>
              <a:t>between</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6" name="Google Shape;806;p70" title="plus minus times division sign"/>
          <p:cNvPicPr preferRelativeResize="0"/>
          <p:nvPr/>
        </p:nvPicPr>
        <p:blipFill rotWithShape="1">
          <a:blip r:embed="rId3">
            <a:alphaModFix/>
          </a:blip>
          <a:srcRect b="0" l="0" r="85135" t="0"/>
          <a:stretch/>
        </p:blipFill>
        <p:spPr>
          <a:xfrm>
            <a:off x="5356650" y="3686700"/>
            <a:ext cx="419100" cy="342900"/>
          </a:xfrm>
          <a:prstGeom prst="rect">
            <a:avLst/>
          </a:prstGeom>
          <a:noFill/>
          <a:ln>
            <a:noFill/>
          </a:ln>
        </p:spPr>
      </p:pic>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7" name="Google Shape;807;p70" title="plus minus times division sign"/>
          <p:cNvPicPr preferRelativeResize="0"/>
          <p:nvPr/>
        </p:nvPicPr>
        <p:blipFill rotWithShape="1">
          <a:blip r:embed="rId3">
            <a:alphaModFix/>
          </a:blip>
          <a:srcRect b="0" l="56154" r="21921" t="0"/>
          <a:stretch/>
        </p:blipFill>
        <p:spPr>
          <a:xfrm>
            <a:off x="1534500" y="3131075"/>
            <a:ext cx="618150" cy="342900"/>
          </a:xfrm>
          <a:prstGeom prst="rect">
            <a:avLst/>
          </a:prstGeom>
          <a:noFill/>
          <a:ln>
            <a:noFill/>
          </a:ln>
        </p:spPr>
      </p:pic>
      <p:pic>
        <p:nvPicPr>
          <p:cNvPr descr="&lt;math xmlns=&quot;http://www.w3.org/1998/Math/MathML&quot; display=&quot;block&quot; data-is-equatio=&quot;1&quot; data-latex=&quot;+\ \ -\ \ \times\ \ \div&quot;&gt;&lt;mo&gt;+&lt;/mo&gt;&lt;mtext&gt;&lt;/mtext&gt;&lt;mtext&gt;&lt;/mtext&gt;&lt;mo&gt;−&lt;/mo&gt;&lt;mtext&gt;&lt;/mtext&gt;&lt;mtext&gt;&lt;/mtext&gt;&lt;mo&gt;×&lt;/mo&gt;&lt;mtext&gt;&lt;/mtext&gt;&lt;mtext&gt;&lt;/mtext&gt;&lt;mo&gt;÷&lt;/mo&gt;&lt;/math&gt;" id="808" name="Google Shape;808;p70" title="plus minus times division sign"/>
          <p:cNvPicPr preferRelativeResize="0"/>
          <p:nvPr/>
        </p:nvPicPr>
        <p:blipFill rotWithShape="1">
          <a:blip r:embed="rId3">
            <a:alphaModFix/>
          </a:blip>
          <a:srcRect b="0" l="84198" r="-3077" t="0"/>
          <a:stretch/>
        </p:blipFill>
        <p:spPr>
          <a:xfrm>
            <a:off x="7497300" y="3795400"/>
            <a:ext cx="532275" cy="342900"/>
          </a:xfrm>
          <a:prstGeom prst="rect">
            <a:avLst/>
          </a:prstGeom>
          <a:noFill/>
          <a:ln>
            <a:noFill/>
          </a:ln>
        </p:spPr>
      </p:pic>
      <p:sp>
        <p:nvSpPr>
          <p:cNvPr id="809" name="Google Shape;809;p70"/>
          <p:cNvSpPr txBox="1"/>
          <p:nvPr/>
        </p:nvSpPr>
        <p:spPr>
          <a:xfrm>
            <a:off x="324000" y="1703700"/>
            <a:ext cx="82377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Which operation do you think is associated with the following words?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grpSp>
        <p:nvGrpSpPr>
          <p:cNvPr id="814" name="Google Shape;814;p71"/>
          <p:cNvGrpSpPr/>
          <p:nvPr/>
        </p:nvGrpSpPr>
        <p:grpSpPr>
          <a:xfrm>
            <a:off x="400200" y="1472426"/>
            <a:ext cx="8021081" cy="639778"/>
            <a:chOff x="324000" y="1853426"/>
            <a:chExt cx="8021081" cy="639778"/>
          </a:xfrm>
        </p:grpSpPr>
        <p:pic>
          <p:nvPicPr>
            <p:cNvPr id="815" name="Google Shape;815;p71"/>
            <p:cNvPicPr preferRelativeResize="0"/>
            <p:nvPr/>
          </p:nvPicPr>
          <p:blipFill>
            <a:blip r:embed="rId3">
              <a:alphaModFix/>
            </a:blip>
            <a:stretch>
              <a:fillRect/>
            </a:stretch>
          </p:blipFill>
          <p:spPr>
            <a:xfrm>
              <a:off x="324000" y="1853426"/>
              <a:ext cx="2639049" cy="639778"/>
            </a:xfrm>
            <a:prstGeom prst="rect">
              <a:avLst/>
            </a:prstGeom>
            <a:noFill/>
            <a:ln>
              <a:noFill/>
            </a:ln>
          </p:spPr>
        </p:pic>
        <p:pic>
          <p:nvPicPr>
            <p:cNvPr id="816" name="Google Shape;816;p71"/>
            <p:cNvPicPr preferRelativeResize="0"/>
            <p:nvPr/>
          </p:nvPicPr>
          <p:blipFill>
            <a:blip r:embed="rId4">
              <a:alphaModFix/>
            </a:blip>
            <a:stretch>
              <a:fillRect/>
            </a:stretch>
          </p:blipFill>
          <p:spPr>
            <a:xfrm>
              <a:off x="3076325" y="1861825"/>
              <a:ext cx="2639051" cy="622979"/>
            </a:xfrm>
            <a:prstGeom prst="rect">
              <a:avLst/>
            </a:prstGeom>
            <a:noFill/>
            <a:ln>
              <a:noFill/>
            </a:ln>
          </p:spPr>
        </p:pic>
        <p:pic>
          <p:nvPicPr>
            <p:cNvPr id="817" name="Google Shape;817;p71"/>
            <p:cNvPicPr preferRelativeResize="0"/>
            <p:nvPr/>
          </p:nvPicPr>
          <p:blipFill>
            <a:blip r:embed="rId5">
              <a:alphaModFix/>
            </a:blip>
            <a:stretch>
              <a:fillRect/>
            </a:stretch>
          </p:blipFill>
          <p:spPr>
            <a:xfrm>
              <a:off x="5938525" y="1866550"/>
              <a:ext cx="2406556" cy="613500"/>
            </a:xfrm>
            <a:prstGeom prst="rect">
              <a:avLst/>
            </a:prstGeom>
            <a:noFill/>
            <a:ln>
              <a:noFill/>
            </a:ln>
          </p:spPr>
        </p:pic>
      </p:grpSp>
      <p:sp>
        <p:nvSpPr>
          <p:cNvPr id="818" name="Google Shape;818;p71"/>
          <p:cNvSpPr txBox="1"/>
          <p:nvPr>
            <p:ph idx="1" type="body"/>
          </p:nvPr>
        </p:nvSpPr>
        <p:spPr>
          <a:xfrm>
            <a:off x="324000" y="759300"/>
            <a:ext cx="8237700" cy="766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Without working out the answer, match the </a:t>
            </a:r>
            <a:r>
              <a:rPr lang="en-GB" sz="1900"/>
              <a:t>statement</a:t>
            </a:r>
            <a:r>
              <a:rPr lang="en-GB" sz="1900"/>
              <a:t> with the answer.</a:t>
            </a:r>
            <a:endParaRPr sz="1900"/>
          </a:p>
        </p:txBody>
      </p:sp>
      <p:sp>
        <p:nvSpPr>
          <p:cNvPr id="819" name="Google Shape;819;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820" name="Google Shape;820;p71"/>
          <p:cNvSpPr txBox="1"/>
          <p:nvPr/>
        </p:nvSpPr>
        <p:spPr>
          <a:xfrm>
            <a:off x="400050" y="2468700"/>
            <a:ext cx="6229500" cy="429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total water of all three students</a:t>
            </a:r>
            <a:endParaRPr sz="1800">
              <a:solidFill>
                <a:schemeClr val="dk1"/>
              </a:solidFill>
              <a:latin typeface="Lexend"/>
              <a:ea typeface="Lexend"/>
              <a:cs typeface="Lexend"/>
              <a:sym typeface="Lexend"/>
            </a:endParaRPr>
          </a:p>
        </p:txBody>
      </p:sp>
      <p:sp>
        <p:nvSpPr>
          <p:cNvPr id="821" name="Google Shape;821;p71"/>
          <p:cNvSpPr txBox="1"/>
          <p:nvPr/>
        </p:nvSpPr>
        <p:spPr>
          <a:xfrm>
            <a:off x="400050" y="3078300"/>
            <a:ext cx="6229500" cy="429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difference in water between Lucas and Aisha</a:t>
            </a:r>
            <a:endParaRPr sz="1800">
              <a:solidFill>
                <a:schemeClr val="dk1"/>
              </a:solidFill>
              <a:latin typeface="Lexend"/>
              <a:ea typeface="Lexend"/>
              <a:cs typeface="Lexend"/>
              <a:sym typeface="Lexend"/>
            </a:endParaRPr>
          </a:p>
        </p:txBody>
      </p:sp>
      <p:sp>
        <p:nvSpPr>
          <p:cNvPr id="822" name="Google Shape;822;p71"/>
          <p:cNvSpPr txBox="1"/>
          <p:nvPr/>
        </p:nvSpPr>
        <p:spPr>
          <a:xfrm>
            <a:off x="428625" y="3668850"/>
            <a:ext cx="6229500" cy="429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Aisha shares her water between two other friends</a:t>
            </a:r>
            <a:endParaRPr sz="1800">
              <a:solidFill>
                <a:schemeClr val="dk1"/>
              </a:solidFill>
              <a:latin typeface="Lexend"/>
              <a:ea typeface="Lexend"/>
              <a:cs typeface="Lexend"/>
              <a:sym typeface="Lexend"/>
            </a:endParaRPr>
          </a:p>
        </p:txBody>
      </p:sp>
      <p:sp>
        <p:nvSpPr>
          <p:cNvPr id="823" name="Google Shape;823;p71"/>
          <p:cNvSpPr txBox="1"/>
          <p:nvPr/>
        </p:nvSpPr>
        <p:spPr>
          <a:xfrm>
            <a:off x="428625" y="4278450"/>
            <a:ext cx="6229500" cy="4296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Two lots of Aisha’s bottle of water</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2}{3}+\frac{4}{5}+\frac{1}{2}&quot;&gt;&lt;mfrac&gt;&lt;mn&gt;2&lt;/mn&gt;&lt;mn&gt;3&lt;/mn&gt;&lt;/mfrac&gt;&lt;mo&gt;+&lt;/mo&gt;&lt;mfrac&gt;&lt;mn&gt;4&lt;/mn&gt;&lt;mn&gt;5&lt;/mn&gt;&lt;/mfrac&gt;&lt;mo&gt;+&lt;/mo&gt;&lt;mfrac&gt;&lt;mn&gt;1&lt;/mn&gt;&lt;mn&gt;2&lt;/mn&gt;&lt;/mfrac&gt;&lt;/math&gt;" id="824" name="Google Shape;824;p71" title="two thirds plus four fifths plus one half"/>
          <p:cNvPicPr preferRelativeResize="0"/>
          <p:nvPr/>
        </p:nvPicPr>
        <p:blipFill>
          <a:blip r:embed="rId6">
            <a:alphaModFix/>
          </a:blip>
          <a:stretch>
            <a:fillRect/>
          </a:stretch>
        </p:blipFill>
        <p:spPr>
          <a:xfrm>
            <a:off x="7459198" y="3467892"/>
            <a:ext cx="1244975" cy="562520"/>
          </a:xfrm>
          <a:prstGeom prst="rect">
            <a:avLst/>
          </a:prstGeom>
          <a:noFill/>
          <a:ln cap="flat" cmpd="sng" w="9525">
            <a:solidFill>
              <a:schemeClr val="dk2"/>
            </a:solidFill>
            <a:prstDash val="solid"/>
            <a:round/>
            <a:headEnd len="sm" w="sm" type="none"/>
            <a:tailEnd len="sm" w="sm" type="none"/>
          </a:ln>
        </p:spPr>
      </p:pic>
      <p:pic>
        <p:nvPicPr>
          <p:cNvPr descr="&lt;math xmlns=&quot;http://www.w3.org/1998/Math/MathML&quot; display=&quot;block&quot; data-is-equatio=&quot;1&quot; data-latex=&quot;\frac{4}{5}-\frac{2}{3}&quot;&gt;&lt;mfrac&gt;&lt;mn&gt;4&lt;/mn&gt;&lt;mn&gt;5&lt;/mn&gt;&lt;/mfrac&gt;&lt;mo&gt;−&lt;/mo&gt;&lt;mfrac&gt;&lt;mn&gt;2&lt;/mn&gt;&lt;mn&gt;3&lt;/mn&gt;&lt;/mfrac&gt;&lt;/math&gt;" id="825" name="Google Shape;825;p71" title="four fifths minus two thirds"/>
          <p:cNvPicPr preferRelativeResize="0"/>
          <p:nvPr/>
        </p:nvPicPr>
        <p:blipFill>
          <a:blip r:embed="rId7">
            <a:alphaModFix/>
          </a:blip>
          <a:stretch>
            <a:fillRect/>
          </a:stretch>
        </p:blipFill>
        <p:spPr>
          <a:xfrm>
            <a:off x="7459198" y="4155436"/>
            <a:ext cx="711414" cy="562520"/>
          </a:xfrm>
          <a:prstGeom prst="rect">
            <a:avLst/>
          </a:prstGeom>
          <a:noFill/>
          <a:ln cap="flat" cmpd="sng" w="9525">
            <a:solidFill>
              <a:schemeClr val="dk2"/>
            </a:solidFill>
            <a:prstDash val="solid"/>
            <a:round/>
            <a:headEnd len="sm" w="sm" type="none"/>
            <a:tailEnd len="sm" w="sm" type="none"/>
          </a:ln>
        </p:spPr>
      </p:pic>
      <p:pic>
        <p:nvPicPr>
          <p:cNvPr descr="&lt;math xmlns=&quot;http://www.w3.org/1998/Math/MathML&quot; display=&quot;block&quot; data-is-equatio=&quot;1&quot; data-latex=&quot;\frac{2}{3}\div2&quot;&gt;&lt;mfrac&gt;&lt;mn&gt;2&lt;/mn&gt;&lt;mn&gt;3&lt;/mn&gt;&lt;/mfrac&gt;&lt;mo&gt;÷&lt;/mo&gt;&lt;mn&gt;2&lt;/mn&gt;&lt;/math&gt;" id="826" name="Google Shape;826;p71" title="two thirds divided by 2"/>
          <p:cNvPicPr preferRelativeResize="0"/>
          <p:nvPr/>
        </p:nvPicPr>
        <p:blipFill>
          <a:blip r:embed="rId8">
            <a:alphaModFix/>
          </a:blip>
          <a:stretch>
            <a:fillRect/>
          </a:stretch>
        </p:blipFill>
        <p:spPr>
          <a:xfrm>
            <a:off x="7459198" y="2781973"/>
            <a:ext cx="616283" cy="574929"/>
          </a:xfrm>
          <a:prstGeom prst="rect">
            <a:avLst/>
          </a:prstGeom>
          <a:noFill/>
          <a:ln cap="flat" cmpd="sng" w="9525">
            <a:solidFill>
              <a:schemeClr val="dk2"/>
            </a:solidFill>
            <a:prstDash val="solid"/>
            <a:round/>
            <a:headEnd len="sm" w="sm" type="none"/>
            <a:tailEnd len="sm" w="sm" type="none"/>
          </a:ln>
        </p:spPr>
      </p:pic>
      <p:pic>
        <p:nvPicPr>
          <p:cNvPr descr="&lt;math xmlns=&quot;http://www.w3.org/1998/Math/MathML&quot; display=&quot;block&quot; data-is-equatio=&quot;1&quot; data-latex=&quot;\frac{2}{3}\times2&quot;&gt;&lt;mfrac&gt;&lt;mn&gt;2&lt;/mn&gt;&lt;mn&gt;3&lt;/mn&gt;&lt;/mfrac&gt;&lt;mo&gt;×&lt;/mo&gt;&lt;mn&gt;2&lt;/mn&gt;&lt;/math&gt;" id="827" name="Google Shape;827;p71" title="two thirds times 2"/>
          <p:cNvPicPr preferRelativeResize="0"/>
          <p:nvPr/>
        </p:nvPicPr>
        <p:blipFill>
          <a:blip r:embed="rId9">
            <a:alphaModFix/>
          </a:blip>
          <a:stretch>
            <a:fillRect/>
          </a:stretch>
        </p:blipFill>
        <p:spPr>
          <a:xfrm>
            <a:off x="7459198" y="2097200"/>
            <a:ext cx="636964" cy="574929"/>
          </a:xfrm>
          <a:prstGeom prst="rect">
            <a:avLst/>
          </a:prstGeom>
          <a:noFill/>
          <a:ln cap="flat" cmpd="sng" w="9525">
            <a:solidFill>
              <a:schemeClr val="dk2"/>
            </a:solidFill>
            <a:prstDash val="solid"/>
            <a:round/>
            <a:headEnd len="sm" w="sm" type="none"/>
            <a:tailEnd len="sm" w="sm" type="none"/>
          </a:ln>
        </p:spPr>
      </p:pic>
      <p:cxnSp>
        <p:nvCxnSpPr>
          <p:cNvPr id="828" name="Google Shape;828;p71"/>
          <p:cNvCxnSpPr>
            <a:stCxn id="820" idx="3"/>
            <a:endCxn id="824" idx="1"/>
          </p:cNvCxnSpPr>
          <p:nvPr/>
        </p:nvCxnSpPr>
        <p:spPr>
          <a:xfrm>
            <a:off x="6629550" y="2683500"/>
            <a:ext cx="829500" cy="1065600"/>
          </a:xfrm>
          <a:prstGeom prst="straightConnector1">
            <a:avLst/>
          </a:prstGeom>
          <a:noFill/>
          <a:ln cap="flat" cmpd="sng" w="19050">
            <a:solidFill>
              <a:schemeClr val="dk2"/>
            </a:solidFill>
            <a:prstDash val="solid"/>
            <a:round/>
            <a:headEnd len="med" w="med" type="none"/>
            <a:tailEnd len="med" w="med" type="none"/>
          </a:ln>
        </p:spPr>
      </p:cxnSp>
      <p:cxnSp>
        <p:nvCxnSpPr>
          <p:cNvPr id="829" name="Google Shape;829;p71"/>
          <p:cNvCxnSpPr>
            <a:stCxn id="827" idx="1"/>
            <a:endCxn id="823" idx="3"/>
          </p:cNvCxnSpPr>
          <p:nvPr/>
        </p:nvCxnSpPr>
        <p:spPr>
          <a:xfrm flipH="1">
            <a:off x="6658198" y="2384664"/>
            <a:ext cx="801000" cy="2108700"/>
          </a:xfrm>
          <a:prstGeom prst="straightConnector1">
            <a:avLst/>
          </a:prstGeom>
          <a:noFill/>
          <a:ln cap="flat" cmpd="sng" w="19050">
            <a:solidFill>
              <a:schemeClr val="dk2"/>
            </a:solidFill>
            <a:prstDash val="solid"/>
            <a:round/>
            <a:headEnd len="med" w="med" type="none"/>
            <a:tailEnd len="med" w="med" type="none"/>
          </a:ln>
        </p:spPr>
      </p:cxnSp>
      <p:cxnSp>
        <p:nvCxnSpPr>
          <p:cNvPr id="830" name="Google Shape;830;p71"/>
          <p:cNvCxnSpPr>
            <a:stCxn id="826" idx="1"/>
            <a:endCxn id="822" idx="3"/>
          </p:cNvCxnSpPr>
          <p:nvPr/>
        </p:nvCxnSpPr>
        <p:spPr>
          <a:xfrm flipH="1">
            <a:off x="6658198" y="3069438"/>
            <a:ext cx="801000" cy="814200"/>
          </a:xfrm>
          <a:prstGeom prst="straightConnector1">
            <a:avLst/>
          </a:prstGeom>
          <a:noFill/>
          <a:ln cap="flat" cmpd="sng" w="19050">
            <a:solidFill>
              <a:schemeClr val="dk2"/>
            </a:solidFill>
            <a:prstDash val="solid"/>
            <a:round/>
            <a:headEnd len="med" w="med" type="none"/>
            <a:tailEnd len="med" w="med" type="none"/>
          </a:ln>
        </p:spPr>
      </p:cxnSp>
      <p:cxnSp>
        <p:nvCxnSpPr>
          <p:cNvPr id="831" name="Google Shape;831;p71"/>
          <p:cNvCxnSpPr>
            <a:stCxn id="821" idx="3"/>
            <a:endCxn id="825" idx="1"/>
          </p:cNvCxnSpPr>
          <p:nvPr/>
        </p:nvCxnSpPr>
        <p:spPr>
          <a:xfrm>
            <a:off x="6629550" y="3293100"/>
            <a:ext cx="829500" cy="11436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7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Sometimes mathematical words are used to identify when to add, subtract, multiply or divide.</a:t>
            </a:r>
            <a:endParaRPr sz="2000"/>
          </a:p>
        </p:txBody>
      </p:sp>
      <p:sp>
        <p:nvSpPr>
          <p:cNvPr id="837" name="Google Shape;837;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838" name="Google Shape;838;p72"/>
          <p:cNvSpPr txBox="1"/>
          <p:nvPr/>
        </p:nvSpPr>
        <p:spPr>
          <a:xfrm>
            <a:off x="324000" y="1629525"/>
            <a:ext cx="8572200" cy="846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When calculating area of shapes, which operation do we tend to use? </a:t>
            </a:r>
            <a:endParaRPr sz="2000"/>
          </a:p>
        </p:txBody>
      </p:sp>
      <p:sp>
        <p:nvSpPr>
          <p:cNvPr id="839" name="Google Shape;839;p72"/>
          <p:cNvSpPr txBox="1"/>
          <p:nvPr/>
        </p:nvSpPr>
        <p:spPr>
          <a:xfrm>
            <a:off x="324000" y="3249525"/>
            <a:ext cx="8572200" cy="846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When calculating perimeter of shapes, which operation do we tend to use? </a:t>
            </a:r>
            <a:endParaRPr sz="2000"/>
          </a:p>
        </p:txBody>
      </p:sp>
      <p:sp>
        <p:nvSpPr>
          <p:cNvPr id="840" name="Google Shape;840;p72"/>
          <p:cNvSpPr txBox="1"/>
          <p:nvPr/>
        </p:nvSpPr>
        <p:spPr>
          <a:xfrm>
            <a:off x="324000" y="2583000"/>
            <a:ext cx="30552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Multiplication</a:t>
            </a:r>
            <a:endParaRPr sz="2000">
              <a:solidFill>
                <a:schemeClr val="dk1"/>
              </a:solidFill>
              <a:latin typeface="Lexend"/>
              <a:ea typeface="Lexend"/>
              <a:cs typeface="Lexend"/>
              <a:sym typeface="Lexend"/>
            </a:endParaRPr>
          </a:p>
        </p:txBody>
      </p:sp>
      <p:sp>
        <p:nvSpPr>
          <p:cNvPr id="841" name="Google Shape;841;p72"/>
          <p:cNvSpPr txBox="1"/>
          <p:nvPr/>
        </p:nvSpPr>
        <p:spPr>
          <a:xfrm>
            <a:off x="2617050" y="2210700"/>
            <a:ext cx="54411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Area of a rectangle = length × width</a:t>
            </a:r>
            <a:endParaRPr sz="2000">
              <a:solidFill>
                <a:schemeClr val="dk1"/>
              </a:solidFill>
              <a:latin typeface="Lexend"/>
              <a:ea typeface="Lexend"/>
              <a:cs typeface="Lexend"/>
              <a:sym typeface="Lexend"/>
            </a:endParaRPr>
          </a:p>
        </p:txBody>
      </p:sp>
      <p:sp>
        <p:nvSpPr>
          <p:cNvPr id="842" name="Google Shape;842;p72"/>
          <p:cNvSpPr txBox="1"/>
          <p:nvPr/>
        </p:nvSpPr>
        <p:spPr>
          <a:xfrm>
            <a:off x="2617050" y="2667900"/>
            <a:ext cx="8247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Area</a:t>
            </a:r>
            <a:endParaRPr sz="2000">
              <a:solidFill>
                <a:schemeClr val="dk1"/>
              </a:solidFill>
              <a:latin typeface="Lexend"/>
              <a:ea typeface="Lexend"/>
              <a:cs typeface="Lexend"/>
              <a:sym typeface="Lexend"/>
            </a:endParaRPr>
          </a:p>
        </p:txBody>
      </p:sp>
      <p:sp>
        <p:nvSpPr>
          <p:cNvPr id="843" name="Google Shape;843;p72"/>
          <p:cNvSpPr txBox="1"/>
          <p:nvPr/>
        </p:nvSpPr>
        <p:spPr>
          <a:xfrm>
            <a:off x="324000" y="4257150"/>
            <a:ext cx="15906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Addition</a:t>
            </a:r>
            <a:endParaRPr sz="2000">
              <a:solidFill>
                <a:schemeClr val="dk1"/>
              </a:solidFill>
              <a:latin typeface="Lexend"/>
              <a:ea typeface="Lexend"/>
              <a:cs typeface="Lexend"/>
              <a:sym typeface="Lexend"/>
            </a:endParaRPr>
          </a:p>
        </p:txBody>
      </p:sp>
      <p:sp>
        <p:nvSpPr>
          <p:cNvPr id="844" name="Google Shape;844;p72"/>
          <p:cNvSpPr txBox="1"/>
          <p:nvPr/>
        </p:nvSpPr>
        <p:spPr>
          <a:xfrm>
            <a:off x="2498250" y="3919800"/>
            <a:ext cx="4961100" cy="8004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2000">
                <a:solidFill>
                  <a:srgbClr val="282828"/>
                </a:solidFill>
                <a:latin typeface="Lexend"/>
                <a:ea typeface="Lexend"/>
                <a:cs typeface="Lexend"/>
                <a:sym typeface="Lexend"/>
              </a:rPr>
              <a:t>The </a:t>
            </a:r>
            <a:r>
              <a:rPr lang="en-GB" sz="2000">
                <a:solidFill>
                  <a:srgbClr val="282828"/>
                </a:solidFill>
                <a:highlight>
                  <a:schemeClr val="lt1"/>
                </a:highlight>
                <a:latin typeface="Lexend"/>
                <a:ea typeface="Lexend"/>
                <a:cs typeface="Lexend"/>
                <a:sym typeface="Lexend"/>
              </a:rPr>
              <a:t>perimeter is</a:t>
            </a:r>
            <a:r>
              <a:rPr lang="en-GB" sz="2000">
                <a:solidFill>
                  <a:srgbClr val="282828"/>
                </a:solidFill>
                <a:latin typeface="Lexend"/>
                <a:ea typeface="Lexend"/>
                <a:cs typeface="Lexend"/>
                <a:sym typeface="Lexend"/>
              </a:rPr>
              <a:t> the total distance around a 2D shape.</a:t>
            </a:r>
            <a:r>
              <a:rPr lang="en-GB" sz="2000">
                <a:solidFill>
                  <a:srgbClr val="282828"/>
                </a:solidFill>
                <a:highlight>
                  <a:srgbClr val="FFFFFF"/>
                </a:highlight>
                <a:latin typeface="Lexend"/>
                <a:ea typeface="Lexend"/>
                <a:cs typeface="Lexend"/>
                <a:sym typeface="Lexend"/>
              </a:rPr>
              <a:t> </a:t>
            </a:r>
            <a:endParaRPr sz="2000">
              <a:latin typeface="Lexend"/>
              <a:ea typeface="Lexend"/>
              <a:cs typeface="Lexend"/>
              <a:sym typeface="Lexend"/>
            </a:endParaRPr>
          </a:p>
        </p:txBody>
      </p:sp>
      <p:pic>
        <p:nvPicPr>
          <p:cNvPr descr="&lt;math xmlns=&quot;http://www.w3.org/1998/Math/MathML&quot; display=&quot;block&quot; data-is-equatio=&quot;1&quot; data-latex=&quot;\frac{3}{2}\div3\ =\ \frac{1}{2}&quot;&gt;&lt;mfrac&gt;&lt;mn&gt;3&lt;/mn&gt;&lt;mn&gt;2&lt;/mn&gt;&lt;/mfrac&gt;&lt;mo&gt;÷&lt;/mo&gt;&lt;mn&gt;3&lt;/mn&gt;&lt;mtext&gt;&lt;/mtext&gt;&lt;mo&gt;=&lt;/mo&gt;&lt;mtext&gt;&lt;/mtext&gt;&lt;mfrac&gt;&lt;mn&gt;1&lt;/mn&gt;&lt;mn&gt;2&lt;/mn&gt;&lt;/mfrac&gt;&lt;/math&gt;" id="845" name="Google Shape;845;p72" title="three halves divided by 3 equals one half"/>
          <p:cNvPicPr preferRelativeResize="0"/>
          <p:nvPr/>
        </p:nvPicPr>
        <p:blipFill rotWithShape="1">
          <a:blip r:embed="rId3">
            <a:alphaModFix/>
          </a:blip>
          <a:srcRect b="0" l="85344" r="0" t="0"/>
          <a:stretch/>
        </p:blipFill>
        <p:spPr>
          <a:xfrm>
            <a:off x="5041740" y="2710150"/>
            <a:ext cx="164100" cy="487000"/>
          </a:xfrm>
          <a:prstGeom prst="rect">
            <a:avLst/>
          </a:prstGeom>
          <a:noFill/>
          <a:ln>
            <a:noFill/>
          </a:ln>
        </p:spPr>
      </p:pic>
      <p:sp>
        <p:nvSpPr>
          <p:cNvPr id="846" name="Google Shape;846;p72"/>
          <p:cNvSpPr txBox="1"/>
          <p:nvPr/>
        </p:nvSpPr>
        <p:spPr>
          <a:xfrm>
            <a:off x="3267675" y="2667900"/>
            <a:ext cx="4791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of</a:t>
            </a:r>
            <a:endParaRPr sz="2000">
              <a:solidFill>
                <a:schemeClr val="dk1"/>
              </a:solidFill>
              <a:latin typeface="Lexend"/>
              <a:ea typeface="Lexend"/>
              <a:cs typeface="Lexend"/>
              <a:sym typeface="Lexend"/>
            </a:endParaRPr>
          </a:p>
        </p:txBody>
      </p:sp>
      <p:sp>
        <p:nvSpPr>
          <p:cNvPr id="847" name="Google Shape;847;p72"/>
          <p:cNvSpPr txBox="1"/>
          <p:nvPr/>
        </p:nvSpPr>
        <p:spPr>
          <a:xfrm>
            <a:off x="3607575" y="2667900"/>
            <a:ext cx="5889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a:t>
            </a:r>
            <a:endParaRPr sz="2000">
              <a:solidFill>
                <a:schemeClr val="dk1"/>
              </a:solidFill>
              <a:latin typeface="Lexend"/>
              <a:ea typeface="Lexend"/>
              <a:cs typeface="Lexend"/>
              <a:sym typeface="Lexend"/>
            </a:endParaRPr>
          </a:p>
        </p:txBody>
      </p:sp>
      <p:sp>
        <p:nvSpPr>
          <p:cNvPr id="848" name="Google Shape;848;p72"/>
          <p:cNvSpPr txBox="1"/>
          <p:nvPr/>
        </p:nvSpPr>
        <p:spPr>
          <a:xfrm>
            <a:off x="3836175" y="2667900"/>
            <a:ext cx="11736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triangle</a:t>
            </a:r>
            <a:endParaRPr sz="2000">
              <a:solidFill>
                <a:schemeClr val="dk1"/>
              </a:solidFill>
              <a:latin typeface="Lexend"/>
              <a:ea typeface="Lexend"/>
              <a:cs typeface="Lexend"/>
              <a:sym typeface="Lexend"/>
            </a:endParaRPr>
          </a:p>
        </p:txBody>
      </p:sp>
      <p:sp>
        <p:nvSpPr>
          <p:cNvPr id="849" name="Google Shape;849;p72"/>
          <p:cNvSpPr txBox="1"/>
          <p:nvPr/>
        </p:nvSpPr>
        <p:spPr>
          <a:xfrm>
            <a:off x="4867875" y="2667900"/>
            <a:ext cx="4791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sp>
        <p:nvSpPr>
          <p:cNvPr id="850" name="Google Shape;850;p72"/>
          <p:cNvSpPr txBox="1"/>
          <p:nvPr/>
        </p:nvSpPr>
        <p:spPr>
          <a:xfrm>
            <a:off x="5283975" y="2667900"/>
            <a:ext cx="2246400" cy="571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 base × height</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descr="&lt;math xmlns=&quot;http://www.w3.org/1998/Math/MathML&quot; display=&quot;block&quot; data-is-equatio=&quot;1&quot; data-latex=&quot;\begin{array}{l}\frac{1}{2}+\frac{3}{4}+\frac{1}{2}+\frac{3}{4}\\&amp;#13;&amp;#10;\frac{2}{5}+\frac{2}{3}+\frac{2}{5}+\frac{2}{3}\\&amp;#13;&amp;#10;\frac{1}{2}\times\frac{3}{4}\ -\ \frac{2}{5}\times\frac{2}{3}\end{array}&quot;&gt;&lt;mtable columnalign=&quot;left&quot; columnspacing=&quot;1em&quot; rowspacing=&quot;4pt&quot;&gt;&lt;mtr&gt;&lt;mtd&gt;&lt;mfrac&gt;&lt;mn&gt;1&lt;/mn&gt;&lt;mn&gt;2&lt;/mn&gt;&lt;/mfrac&gt;&lt;mo&gt;+&lt;/mo&gt;&lt;mfrac&gt;&lt;mn&gt;3&lt;/mn&gt;&lt;mn&gt;4&lt;/mn&gt;&lt;/mfrac&gt;&lt;mo&gt;+&lt;/mo&gt;&lt;mfrac&gt;&lt;mn&gt;1&lt;/mn&gt;&lt;mn&gt;2&lt;/mn&gt;&lt;/mfrac&gt;&lt;mo&gt;+&lt;/mo&gt;&lt;mfrac&gt;&lt;mn&gt;3&lt;/mn&gt;&lt;mn&gt;4&lt;/mn&gt;&lt;/mfrac&gt;&lt;/mtd&gt;&lt;/mtr&gt;&lt;mtr&gt;&lt;mtd&gt;&lt;mfrac&gt;&lt;mn&gt;2&lt;/mn&gt;&lt;mn&gt;5&lt;/mn&gt;&lt;/mfrac&gt;&lt;mo&gt;+&lt;/mo&gt;&lt;mfrac&gt;&lt;mn&gt;2&lt;/mn&gt;&lt;mn&gt;3&lt;/mn&gt;&lt;/mfrac&gt;&lt;mo&gt;+&lt;/mo&gt;&lt;mfrac&gt;&lt;mn&gt;2&lt;/mn&gt;&lt;mn&gt;5&lt;/mn&gt;&lt;/mfrac&gt;&lt;mo&gt;+&lt;/mo&gt;&lt;mfrac&gt;&lt;mn&gt;2&lt;/mn&gt;&lt;mn&gt;3&lt;/mn&gt;&lt;/mfrac&gt;&lt;/mtd&gt;&lt;/mtr&gt;&lt;mtr&gt;&lt;mtd&gt;&lt;mfrac&gt;&lt;mn&gt;1&lt;/mn&gt;&lt;mn&gt;2&lt;/mn&gt;&lt;/mfrac&gt;&lt;mo&gt;×&lt;/mo&gt;&lt;mfrac&gt;&lt;mn&gt;3&lt;/mn&gt;&lt;mn&gt;4&lt;/mn&gt;&lt;/mfrac&gt;&lt;mtext&gt;&lt;/mtext&gt;&lt;mo&gt;−&lt;/mo&gt;&lt;mtext&gt;&lt;/mtext&gt;&lt;mfrac&gt;&lt;mn&gt;2&lt;/mn&gt;&lt;mn&gt;5&lt;/mn&gt;&lt;/mfrac&gt;&lt;mo&gt;×&lt;/mo&gt;&lt;mfrac&gt;&lt;mn&gt;2&lt;/mn&gt;&lt;mn&gt;3&lt;/mn&gt;&lt;/mfrac&gt;&lt;/mtd&gt;&lt;/mtr&gt;&lt;/mtable&gt;&lt;/math&gt;" id="855" name="Google Shape;855;p73" title="3 lines Line 1: one half plus three fourths plus one half plus three fourths Line 2: two fifths plus two thirds plus two fifths plus two thirds Line 3: one half times three fourths minus two fifths times two thirds"/>
          <p:cNvPicPr preferRelativeResize="0"/>
          <p:nvPr/>
        </p:nvPicPr>
        <p:blipFill rotWithShape="1">
          <a:blip r:embed="rId3">
            <a:alphaModFix/>
          </a:blip>
          <a:srcRect b="-4440" l="-2844" r="-3290" t="64900"/>
          <a:stretch/>
        </p:blipFill>
        <p:spPr>
          <a:xfrm>
            <a:off x="6409614" y="3000515"/>
            <a:ext cx="2157275" cy="613500"/>
          </a:xfrm>
          <a:prstGeom prst="rect">
            <a:avLst/>
          </a:prstGeom>
          <a:noFill/>
          <a:ln>
            <a:noFill/>
          </a:ln>
        </p:spPr>
      </p:pic>
      <p:sp>
        <p:nvSpPr>
          <p:cNvPr id="856" name="Google Shape;856;p73"/>
          <p:cNvSpPr/>
          <p:nvPr/>
        </p:nvSpPr>
        <p:spPr>
          <a:xfrm>
            <a:off x="6377264" y="3675347"/>
            <a:ext cx="2157300" cy="567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7" name="Google Shape;857;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858" name="Google Shape;858;p73"/>
          <p:cNvSpPr txBox="1"/>
          <p:nvPr/>
        </p:nvSpPr>
        <p:spPr>
          <a:xfrm>
            <a:off x="324000" y="618600"/>
            <a:ext cx="8860200" cy="49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For example, which statement matches which calculation? </a:t>
            </a:r>
            <a:endParaRPr sz="1200"/>
          </a:p>
        </p:txBody>
      </p:sp>
      <p:sp>
        <p:nvSpPr>
          <p:cNvPr id="859" name="Google Shape;859;p73"/>
          <p:cNvSpPr/>
          <p:nvPr/>
        </p:nvSpPr>
        <p:spPr>
          <a:xfrm>
            <a:off x="1891800" y="1158700"/>
            <a:ext cx="2196300" cy="8346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Rectangle A</a:t>
            </a:r>
            <a:endParaRPr sz="1900">
              <a:latin typeface="Lexend"/>
              <a:ea typeface="Lexend"/>
              <a:cs typeface="Lexend"/>
              <a:sym typeface="Lexend"/>
            </a:endParaRPr>
          </a:p>
        </p:txBody>
      </p:sp>
      <p:sp>
        <p:nvSpPr>
          <p:cNvPr id="860" name="Google Shape;860;p73"/>
          <p:cNvSpPr/>
          <p:nvPr/>
        </p:nvSpPr>
        <p:spPr>
          <a:xfrm>
            <a:off x="5629000" y="1158700"/>
            <a:ext cx="1903800" cy="6897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Lexend"/>
                <a:ea typeface="Lexend"/>
                <a:cs typeface="Lexend"/>
                <a:sym typeface="Lexend"/>
              </a:rPr>
              <a:t>Rectangle B</a:t>
            </a:r>
            <a:endParaRPr>
              <a:latin typeface="Lexend"/>
              <a:ea typeface="Lexend"/>
              <a:cs typeface="Lexend"/>
              <a:sym typeface="Lexend"/>
            </a:endParaRPr>
          </a:p>
        </p:txBody>
      </p:sp>
      <p:grpSp>
        <p:nvGrpSpPr>
          <p:cNvPr id="861" name="Google Shape;861;p73"/>
          <p:cNvGrpSpPr/>
          <p:nvPr/>
        </p:nvGrpSpPr>
        <p:grpSpPr>
          <a:xfrm>
            <a:off x="324000" y="2614400"/>
            <a:ext cx="5772600" cy="2203200"/>
            <a:chOff x="324000" y="2614400"/>
            <a:chExt cx="5772600" cy="2203200"/>
          </a:xfrm>
        </p:grpSpPr>
        <p:sp>
          <p:nvSpPr>
            <p:cNvPr id="862" name="Google Shape;862;p73"/>
            <p:cNvSpPr txBox="1"/>
            <p:nvPr/>
          </p:nvSpPr>
          <p:spPr>
            <a:xfrm>
              <a:off x="324000" y="2614400"/>
              <a:ext cx="57726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perimeter of rectangle A </a:t>
              </a:r>
              <a:endParaRPr sz="1000"/>
            </a:p>
          </p:txBody>
        </p:sp>
        <p:sp>
          <p:nvSpPr>
            <p:cNvPr id="863" name="Google Shape;863;p73"/>
            <p:cNvSpPr txBox="1"/>
            <p:nvPr/>
          </p:nvSpPr>
          <p:spPr>
            <a:xfrm>
              <a:off x="324000" y="3194900"/>
              <a:ext cx="57726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area of </a:t>
              </a:r>
              <a:r>
                <a:rPr lang="en-GB" sz="1800">
                  <a:solidFill>
                    <a:schemeClr val="dk1"/>
                  </a:solidFill>
                  <a:latin typeface="Lexend"/>
                  <a:ea typeface="Lexend"/>
                  <a:cs typeface="Lexend"/>
                  <a:sym typeface="Lexend"/>
                </a:rPr>
                <a:t>rectangle A </a:t>
              </a:r>
              <a:endParaRPr sz="1000"/>
            </a:p>
          </p:txBody>
        </p:sp>
        <p:sp>
          <p:nvSpPr>
            <p:cNvPr id="864" name="Google Shape;864;p73"/>
            <p:cNvSpPr txBox="1"/>
            <p:nvPr/>
          </p:nvSpPr>
          <p:spPr>
            <a:xfrm>
              <a:off x="324000" y="3775400"/>
              <a:ext cx="57726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area of rectangle B</a:t>
              </a:r>
              <a:endParaRPr sz="1000"/>
            </a:p>
          </p:txBody>
        </p:sp>
        <p:sp>
          <p:nvSpPr>
            <p:cNvPr id="865" name="Google Shape;865;p73"/>
            <p:cNvSpPr txBox="1"/>
            <p:nvPr/>
          </p:nvSpPr>
          <p:spPr>
            <a:xfrm>
              <a:off x="324000" y="4355900"/>
              <a:ext cx="5772600" cy="461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difference in area between area A and area B</a:t>
              </a:r>
              <a:endParaRPr sz="1000"/>
            </a:p>
          </p:txBody>
        </p:sp>
      </p:grpSp>
      <p:pic>
        <p:nvPicPr>
          <p:cNvPr descr="&lt;math xmlns=&quot;http://www.w3.org/1998/Math/MathML&quot; display=&quot;block&quot; data-is-equatio=&quot;1&quot; data-latex=&quot;\frac{2}{5}\ \ \ \frac{3}{4}\ \ \ \ \frac{1}{2}\ \ \ \ \frac{2}{3}&quot;&gt;&lt;mfrac&gt;&lt;mn&gt;2&lt;/mn&gt;&lt;mn&gt;5&lt;/mn&gt;&lt;/mfrac&gt;&lt;mtext&gt;&lt;/mtext&gt;&lt;mtext&gt;&lt;/mtext&gt;&lt;mtext&gt;&lt;/mtext&gt;&lt;mfrac&gt;&lt;mn&gt;3&lt;/mn&gt;&lt;mn&gt;4&lt;/mn&gt;&lt;/mfrac&gt;&lt;mtext&gt;&lt;/mtext&gt;&lt;mtext&gt;&lt;/mtext&gt;&lt;mtext&gt;&lt;/mtext&gt;&lt;mtext&gt;&lt;/mtext&gt;&lt;mfrac&gt;&lt;mn&gt;1&lt;/mn&gt;&lt;mn&gt;2&lt;/mn&gt;&lt;/mfrac&gt;&lt;mtext&gt;&lt;/mtext&gt;&lt;mtext&gt;&lt;/mtext&gt;&lt;mtext&gt;&lt;/mtext&gt;&lt;mtext&gt;&lt;/mtext&gt;&lt;mfrac&gt;&lt;mn&gt;2&lt;/mn&gt;&lt;mn&gt;3&lt;/mn&gt;&lt;/mfrac&gt;&lt;/math&gt;" id="866" name="Google Shape;866;p73" title="two fifths three fourths one half two thirds"/>
          <p:cNvPicPr preferRelativeResize="0"/>
          <p:nvPr/>
        </p:nvPicPr>
        <p:blipFill rotWithShape="1">
          <a:blip r:embed="rId4">
            <a:alphaModFix/>
          </a:blip>
          <a:srcRect b="0" l="0" r="87409" t="0"/>
          <a:stretch/>
        </p:blipFill>
        <p:spPr>
          <a:xfrm>
            <a:off x="5144400" y="1292475"/>
            <a:ext cx="204125" cy="567050"/>
          </a:xfrm>
          <a:prstGeom prst="rect">
            <a:avLst/>
          </a:prstGeom>
          <a:noFill/>
          <a:ln>
            <a:noFill/>
          </a:ln>
        </p:spPr>
      </p:pic>
      <p:pic>
        <p:nvPicPr>
          <p:cNvPr descr="&lt;math xmlns=&quot;http://www.w3.org/1998/Math/MathML&quot; display=&quot;block&quot; data-is-equatio=&quot;1&quot; data-latex=&quot;\frac{2}{5}\ \ \ \frac{3}{4}\ \ \ \ \frac{1}{2}\ \ \ \ \frac{2}{3}&quot;&gt;&lt;mfrac&gt;&lt;mn&gt;2&lt;/mn&gt;&lt;mn&gt;5&lt;/mn&gt;&lt;/mfrac&gt;&lt;mtext&gt;&lt;/mtext&gt;&lt;mtext&gt;&lt;/mtext&gt;&lt;mtext&gt;&lt;/mtext&gt;&lt;mfrac&gt;&lt;mn&gt;3&lt;/mn&gt;&lt;mn&gt;4&lt;/mn&gt;&lt;/mfrac&gt;&lt;mtext&gt;&lt;/mtext&gt;&lt;mtext&gt;&lt;/mtext&gt;&lt;mtext&gt;&lt;/mtext&gt;&lt;mtext&gt;&lt;/mtext&gt;&lt;mfrac&gt;&lt;mn&gt;1&lt;/mn&gt;&lt;mn&gt;2&lt;/mn&gt;&lt;/mfrac&gt;&lt;mtext&gt;&lt;/mtext&gt;&lt;mtext&gt;&lt;/mtext&gt;&lt;mtext&gt;&lt;/mtext&gt;&lt;mtext&gt;&lt;/mtext&gt;&lt;mfrac&gt;&lt;mn&gt;2&lt;/mn&gt;&lt;mn&gt;3&lt;/mn&gt;&lt;/mfrac&gt;&lt;/math&gt;" id="867" name="Google Shape;867;p73" title="two fifths three fourths one half two thirds"/>
          <p:cNvPicPr preferRelativeResize="0"/>
          <p:nvPr/>
        </p:nvPicPr>
        <p:blipFill rotWithShape="1">
          <a:blip r:embed="rId4">
            <a:alphaModFix/>
          </a:blip>
          <a:srcRect b="0" l="22508" r="58127" t="0"/>
          <a:stretch/>
        </p:blipFill>
        <p:spPr>
          <a:xfrm>
            <a:off x="2790000" y="2033900"/>
            <a:ext cx="255623" cy="461700"/>
          </a:xfrm>
          <a:prstGeom prst="rect">
            <a:avLst/>
          </a:prstGeom>
          <a:noFill/>
          <a:ln>
            <a:noFill/>
          </a:ln>
        </p:spPr>
      </p:pic>
      <p:pic>
        <p:nvPicPr>
          <p:cNvPr descr="&lt;math xmlns=&quot;http://www.w3.org/1998/Math/MathML&quot; display=&quot;block&quot; data-is-equatio=&quot;1&quot; data-latex=&quot;\frac{2}{5}\ \ \ \frac{3}{4}\ \ \ \ \frac{1}{2}\ \ \ \ \frac{2}{3}&quot;&gt;&lt;mfrac&gt;&lt;mn&gt;2&lt;/mn&gt;&lt;mn&gt;5&lt;/mn&gt;&lt;/mfrac&gt;&lt;mtext&gt;&lt;/mtext&gt;&lt;mtext&gt;&lt;/mtext&gt;&lt;mtext&gt;&lt;/mtext&gt;&lt;mfrac&gt;&lt;mn&gt;3&lt;/mn&gt;&lt;mn&gt;4&lt;/mn&gt;&lt;/mfrac&gt;&lt;mtext&gt;&lt;/mtext&gt;&lt;mtext&gt;&lt;/mtext&gt;&lt;mtext&gt;&lt;/mtext&gt;&lt;mtext&gt;&lt;/mtext&gt;&lt;mfrac&gt;&lt;mn&gt;1&lt;/mn&gt;&lt;mn&gt;2&lt;/mn&gt;&lt;/mfrac&gt;&lt;mtext&gt;&lt;/mtext&gt;&lt;mtext&gt;&lt;/mtext&gt;&lt;mtext&gt;&lt;/mtext&gt;&lt;mtext&gt;&lt;/mtext&gt;&lt;mfrac&gt;&lt;mn&gt;2&lt;/mn&gt;&lt;mn&gt;3&lt;/mn&gt;&lt;/mfrac&gt;&lt;/math&gt;" id="868" name="Google Shape;868;p73" title="two fifths three fourths one half two thirds"/>
          <p:cNvPicPr preferRelativeResize="0"/>
          <p:nvPr/>
        </p:nvPicPr>
        <p:blipFill rotWithShape="1">
          <a:blip r:embed="rId4">
            <a:alphaModFix/>
          </a:blip>
          <a:srcRect b="0" l="57651" r="22984" t="0"/>
          <a:stretch/>
        </p:blipFill>
        <p:spPr>
          <a:xfrm>
            <a:off x="1331844" y="1383100"/>
            <a:ext cx="255625" cy="461700"/>
          </a:xfrm>
          <a:prstGeom prst="rect">
            <a:avLst/>
          </a:prstGeom>
          <a:noFill/>
          <a:ln>
            <a:noFill/>
          </a:ln>
        </p:spPr>
      </p:pic>
      <p:pic>
        <p:nvPicPr>
          <p:cNvPr descr="&lt;math xmlns=&quot;http://www.w3.org/1998/Math/MathML&quot; display=&quot;block&quot; data-is-equatio=&quot;1&quot; data-latex=&quot;\frac{2}{5}\ \ \ \frac{3}{4}\ \ \ \ \frac{1}{2}\ \ \ \ \frac{2}{3}&quot;&gt;&lt;mfrac&gt;&lt;mn&gt;2&lt;/mn&gt;&lt;mn&gt;5&lt;/mn&gt;&lt;/mfrac&gt;&lt;mtext&gt;&lt;/mtext&gt;&lt;mtext&gt;&lt;/mtext&gt;&lt;mtext&gt;&lt;/mtext&gt;&lt;mfrac&gt;&lt;mn&gt;3&lt;/mn&gt;&lt;mn&gt;4&lt;/mn&gt;&lt;/mfrac&gt;&lt;mtext&gt;&lt;/mtext&gt;&lt;mtext&gt;&lt;/mtext&gt;&lt;mtext&gt;&lt;/mtext&gt;&lt;mtext&gt;&lt;/mtext&gt;&lt;mfrac&gt;&lt;mn&gt;1&lt;/mn&gt;&lt;mn&gt;2&lt;/mn&gt;&lt;/mfrac&gt;&lt;mtext&gt;&lt;/mtext&gt;&lt;mtext&gt;&lt;/mtext&gt;&lt;mtext&gt;&lt;/mtext&gt;&lt;mtext&gt;&lt;/mtext&gt;&lt;mfrac&gt;&lt;mn&gt;2&lt;/mn&gt;&lt;mn&gt;3&lt;/mn&gt;&lt;/mfrac&gt;&lt;/math&gt;" id="869" name="Google Shape;869;p73" title="two fifths three fourths one half two thirds"/>
          <p:cNvPicPr preferRelativeResize="0"/>
          <p:nvPr/>
        </p:nvPicPr>
        <p:blipFill rotWithShape="1">
          <a:blip r:embed="rId4">
            <a:alphaModFix/>
          </a:blip>
          <a:srcRect b="0" l="86543" r="-5908" t="0"/>
          <a:stretch/>
        </p:blipFill>
        <p:spPr>
          <a:xfrm>
            <a:off x="6418800" y="1885250"/>
            <a:ext cx="255625" cy="461700"/>
          </a:xfrm>
          <a:prstGeom prst="rect">
            <a:avLst/>
          </a:prstGeom>
          <a:noFill/>
          <a:ln>
            <a:noFill/>
          </a:ln>
        </p:spPr>
      </p:pic>
      <p:sp>
        <p:nvSpPr>
          <p:cNvPr id="870" name="Google Shape;870;p73"/>
          <p:cNvSpPr txBox="1"/>
          <p:nvPr/>
        </p:nvSpPr>
        <p:spPr>
          <a:xfrm>
            <a:off x="1499540" y="1383110"/>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71" name="Google Shape;871;p73"/>
          <p:cNvSpPr txBox="1"/>
          <p:nvPr/>
        </p:nvSpPr>
        <p:spPr>
          <a:xfrm>
            <a:off x="2988132" y="2021363"/>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72" name="Google Shape;872;p73"/>
          <p:cNvSpPr txBox="1"/>
          <p:nvPr/>
        </p:nvSpPr>
        <p:spPr>
          <a:xfrm>
            <a:off x="5315000" y="1272620"/>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73" name="Google Shape;873;p73"/>
          <p:cNvSpPr txBox="1"/>
          <p:nvPr/>
        </p:nvSpPr>
        <p:spPr>
          <a:xfrm>
            <a:off x="6610400" y="1882220"/>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74" name="Google Shape;874;p73"/>
          <p:cNvSpPr/>
          <p:nvPr/>
        </p:nvSpPr>
        <p:spPr>
          <a:xfrm>
            <a:off x="6377269" y="2404497"/>
            <a:ext cx="1036200" cy="567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5" name="Google Shape;875;p73"/>
          <p:cNvSpPr/>
          <p:nvPr/>
        </p:nvSpPr>
        <p:spPr>
          <a:xfrm>
            <a:off x="6377275" y="3035547"/>
            <a:ext cx="2196300" cy="567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1}{2}+\frac{3}{4}+\frac{1}{2}+\frac{3}{4}\\&amp;#13;&amp;#10;\frac{2}{5}+\frac{2}{3}+\frac{2}{5}+\frac{2}{3}\\&amp;#13;&amp;#10;\frac{1}{2}\times\frac{3}{4}\ -\ \frac{2}{5}\times\frac{2}{3}\end{array}&quot;&gt;&lt;mtable columnalign=&quot;left&quot; columnspacing=&quot;1em&quot; rowspacing=&quot;4pt&quot;&gt;&lt;mtr&gt;&lt;mtd&gt;&lt;mfrac&gt;&lt;mn&gt;1&lt;/mn&gt;&lt;mn&gt;2&lt;/mn&gt;&lt;/mfrac&gt;&lt;mo&gt;+&lt;/mo&gt;&lt;mfrac&gt;&lt;mn&gt;3&lt;/mn&gt;&lt;mn&gt;4&lt;/mn&gt;&lt;/mfrac&gt;&lt;mo&gt;+&lt;/mo&gt;&lt;mfrac&gt;&lt;mn&gt;1&lt;/mn&gt;&lt;mn&gt;2&lt;/mn&gt;&lt;/mfrac&gt;&lt;mo&gt;+&lt;/mo&gt;&lt;mfrac&gt;&lt;mn&gt;3&lt;/mn&gt;&lt;mn&gt;4&lt;/mn&gt;&lt;/mfrac&gt;&lt;/mtd&gt;&lt;/mtr&gt;&lt;mtr&gt;&lt;mtd&gt;&lt;mfrac&gt;&lt;mn&gt;2&lt;/mn&gt;&lt;mn&gt;5&lt;/mn&gt;&lt;/mfrac&gt;&lt;mo&gt;+&lt;/mo&gt;&lt;mfrac&gt;&lt;mn&gt;2&lt;/mn&gt;&lt;mn&gt;3&lt;/mn&gt;&lt;/mfrac&gt;&lt;mo&gt;+&lt;/mo&gt;&lt;mfrac&gt;&lt;mn&gt;2&lt;/mn&gt;&lt;mn&gt;5&lt;/mn&gt;&lt;/mfrac&gt;&lt;mo&gt;+&lt;/mo&gt;&lt;mfrac&gt;&lt;mn&gt;2&lt;/mn&gt;&lt;mn&gt;3&lt;/mn&gt;&lt;/mfrac&gt;&lt;/mtd&gt;&lt;/mtr&gt;&lt;mtr&gt;&lt;mtd&gt;&lt;mfrac&gt;&lt;mn&gt;1&lt;/mn&gt;&lt;mn&gt;2&lt;/mn&gt;&lt;/mfrac&gt;&lt;mo&gt;×&lt;/mo&gt;&lt;mfrac&gt;&lt;mn&gt;3&lt;/mn&gt;&lt;mn&gt;4&lt;/mn&gt;&lt;/mfrac&gt;&lt;mtext&gt;&lt;/mtext&gt;&lt;mo&gt;−&lt;/mo&gt;&lt;mtext&gt;&lt;/mtext&gt;&lt;mfrac&gt;&lt;mn&gt;2&lt;/mn&gt;&lt;mn&gt;5&lt;/mn&gt;&lt;/mfrac&gt;&lt;mo&gt;×&lt;/mo&gt;&lt;mfrac&gt;&lt;mn&gt;2&lt;/mn&gt;&lt;mn&gt;3&lt;/mn&gt;&lt;/mfrac&gt;&lt;/mtd&gt;&lt;/mtr&gt;&lt;/mtable&gt;&lt;/math&gt;" id="876" name="Google Shape;876;p73" title="3 lines Line 1: one half plus three fourths plus one half plus three fourths Line 2: two fifths plus two thirds plus two fifths plus two thirds Line 3: one half times three fourths minus two fifths times two thirds"/>
          <p:cNvPicPr preferRelativeResize="0"/>
          <p:nvPr/>
        </p:nvPicPr>
        <p:blipFill rotWithShape="1">
          <a:blip r:embed="rId3">
            <a:alphaModFix/>
          </a:blip>
          <a:srcRect b="68251" l="0" r="0" t="0"/>
          <a:stretch/>
        </p:blipFill>
        <p:spPr>
          <a:xfrm>
            <a:off x="6470956" y="3731428"/>
            <a:ext cx="2032450" cy="492600"/>
          </a:xfrm>
          <a:prstGeom prst="rect">
            <a:avLst/>
          </a:prstGeom>
          <a:noFill/>
          <a:ln>
            <a:noFill/>
          </a:ln>
        </p:spPr>
      </p:pic>
      <p:pic>
        <p:nvPicPr>
          <p:cNvPr descr="&lt;math xmlns=&quot;http://www.w3.org/1998/Math/MathML&quot; display=&quot;block&quot; data-is-equatio=&quot;1&quot; data-latex=&quot;\begin{array}{l}\frac{1}{2}+\frac{3}{4}+\frac{1}{2}+\frac{3}{4}\\&amp;#13;&amp;#10;\frac{2}{5}+\frac{2}{3}+\frac{2}{5}+\frac{2}{3}\\&amp;#13;&amp;#10;\frac{1}{2}\times\frac{3}{4}\ -\ \frac{2}{5}\times\frac{2}{3}\end{array}&quot;&gt;&lt;mtable columnalign=&quot;left&quot; columnspacing=&quot;1em&quot; rowspacing=&quot;4pt&quot;&gt;&lt;mtr&gt;&lt;mtd&gt;&lt;mfrac&gt;&lt;mn&gt;1&lt;/mn&gt;&lt;mn&gt;2&lt;/mn&gt;&lt;/mfrac&gt;&lt;mo&gt;+&lt;/mo&gt;&lt;mfrac&gt;&lt;mn&gt;3&lt;/mn&gt;&lt;mn&gt;4&lt;/mn&gt;&lt;/mfrac&gt;&lt;mo&gt;+&lt;/mo&gt;&lt;mfrac&gt;&lt;mn&gt;1&lt;/mn&gt;&lt;mn&gt;2&lt;/mn&gt;&lt;/mfrac&gt;&lt;mo&gt;+&lt;/mo&gt;&lt;mfrac&gt;&lt;mn&gt;3&lt;/mn&gt;&lt;mn&gt;4&lt;/mn&gt;&lt;/mfrac&gt;&lt;/mtd&gt;&lt;/mtr&gt;&lt;mtr&gt;&lt;mtd&gt;&lt;mfrac&gt;&lt;mn&gt;2&lt;/mn&gt;&lt;mn&gt;5&lt;/mn&gt;&lt;/mfrac&gt;&lt;mo&gt;+&lt;/mo&gt;&lt;mfrac&gt;&lt;mn&gt;2&lt;/mn&gt;&lt;mn&gt;3&lt;/mn&gt;&lt;/mfrac&gt;&lt;mo&gt;+&lt;/mo&gt;&lt;mfrac&gt;&lt;mn&gt;2&lt;/mn&gt;&lt;mn&gt;5&lt;/mn&gt;&lt;/mfrac&gt;&lt;mo&gt;+&lt;/mo&gt;&lt;mfrac&gt;&lt;mn&gt;2&lt;/mn&gt;&lt;mn&gt;3&lt;/mn&gt;&lt;/mfrac&gt;&lt;/mtd&gt;&lt;/mtr&gt;&lt;mtr&gt;&lt;mtd&gt;&lt;mfrac&gt;&lt;mn&gt;1&lt;/mn&gt;&lt;mn&gt;2&lt;/mn&gt;&lt;/mfrac&gt;&lt;mo&gt;×&lt;/mo&gt;&lt;mfrac&gt;&lt;mn&gt;3&lt;/mn&gt;&lt;mn&gt;4&lt;/mn&gt;&lt;/mfrac&gt;&lt;mtext&gt;&lt;/mtext&gt;&lt;mo&gt;−&lt;/mo&gt;&lt;mtext&gt;&lt;/mtext&gt;&lt;mfrac&gt;&lt;mn&gt;2&lt;/mn&gt;&lt;mn&gt;5&lt;/mn&gt;&lt;/mfrac&gt;&lt;mo&gt;×&lt;/mo&gt;&lt;mfrac&gt;&lt;mn&gt;2&lt;/mn&gt;&lt;mn&gt;3&lt;/mn&gt;&lt;/mfrac&gt;&lt;/mtd&gt;&lt;/mtr&gt;&lt;/mtable&gt;&lt;/math&gt;" id="877" name="Google Shape;877;p73" title="3 lines Line 1: one half plus three fourths plus one half plus three fourths Line 2: two fifths plus two thirds plus two fifths plus two thirds Line 3: one half times three fourths minus two fifths times two thirds"/>
          <p:cNvPicPr preferRelativeResize="0"/>
          <p:nvPr/>
        </p:nvPicPr>
        <p:blipFill rotWithShape="1">
          <a:blip r:embed="rId3">
            <a:alphaModFix/>
          </a:blip>
          <a:srcRect b="-5306" l="-3065" r="60370" t="65766"/>
          <a:stretch/>
        </p:blipFill>
        <p:spPr>
          <a:xfrm>
            <a:off x="6461428" y="4265622"/>
            <a:ext cx="867825" cy="613500"/>
          </a:xfrm>
          <a:prstGeom prst="rect">
            <a:avLst/>
          </a:prstGeom>
          <a:noFill/>
          <a:ln>
            <a:noFill/>
          </a:ln>
        </p:spPr>
      </p:pic>
      <p:pic>
        <p:nvPicPr>
          <p:cNvPr descr="&lt;math xmlns=&quot;http://www.w3.org/1998/Math/MathML&quot; display=&quot;block&quot; data-is-equatio=&quot;1&quot; data-latex=&quot;\begin{array}{l}\frac{1}{2}+\frac{3}{4}+\frac{1}{2}+\frac{3}{4}\\&amp;#13;&amp;#10;\frac{2}{5}+\frac{2}{3}+\frac{2}{5}+\frac{2}{3}\\&amp;#13;&amp;#10;\frac{1}{2}\times\frac{3}{4}\ -\ \frac{2}{5}\times\frac{2}{3}\end{array}&quot;&gt;&lt;mtable columnalign=&quot;left&quot; columnspacing=&quot;1em&quot; rowspacing=&quot;4pt&quot;&gt;&lt;mtr&gt;&lt;mtd&gt;&lt;mfrac&gt;&lt;mn&gt;1&lt;/mn&gt;&lt;mn&gt;2&lt;/mn&gt;&lt;/mfrac&gt;&lt;mo&gt;+&lt;/mo&gt;&lt;mfrac&gt;&lt;mn&gt;3&lt;/mn&gt;&lt;mn&gt;4&lt;/mn&gt;&lt;/mfrac&gt;&lt;mo&gt;+&lt;/mo&gt;&lt;mfrac&gt;&lt;mn&gt;1&lt;/mn&gt;&lt;mn&gt;2&lt;/mn&gt;&lt;/mfrac&gt;&lt;mo&gt;+&lt;/mo&gt;&lt;mfrac&gt;&lt;mn&gt;3&lt;/mn&gt;&lt;mn&gt;4&lt;/mn&gt;&lt;/mfrac&gt;&lt;/mtd&gt;&lt;/mtr&gt;&lt;mtr&gt;&lt;mtd&gt;&lt;mfrac&gt;&lt;mn&gt;2&lt;/mn&gt;&lt;mn&gt;5&lt;/mn&gt;&lt;/mfrac&gt;&lt;mo&gt;+&lt;/mo&gt;&lt;mfrac&gt;&lt;mn&gt;2&lt;/mn&gt;&lt;mn&gt;3&lt;/mn&gt;&lt;/mfrac&gt;&lt;mo&gt;+&lt;/mo&gt;&lt;mfrac&gt;&lt;mn&gt;2&lt;/mn&gt;&lt;mn&gt;5&lt;/mn&gt;&lt;/mfrac&gt;&lt;mo&gt;+&lt;/mo&gt;&lt;mfrac&gt;&lt;mn&gt;2&lt;/mn&gt;&lt;mn&gt;3&lt;/mn&gt;&lt;/mfrac&gt;&lt;/mtd&gt;&lt;/mtr&gt;&lt;mtr&gt;&lt;mtd&gt;&lt;mfrac&gt;&lt;mn&gt;1&lt;/mn&gt;&lt;mn&gt;2&lt;/mn&gt;&lt;/mfrac&gt;&lt;mo&gt;×&lt;/mo&gt;&lt;mfrac&gt;&lt;mn&gt;3&lt;/mn&gt;&lt;mn&gt;4&lt;/mn&gt;&lt;/mfrac&gt;&lt;mtext&gt;&lt;/mtext&gt;&lt;mo&gt;−&lt;/mo&gt;&lt;mtext&gt;&lt;/mtext&gt;&lt;mfrac&gt;&lt;mn&gt;2&lt;/mn&gt;&lt;mn&gt;5&lt;/mn&gt;&lt;/mfrac&gt;&lt;mo&gt;×&lt;/mo&gt;&lt;mfrac&gt;&lt;mn&gt;2&lt;/mn&gt;&lt;mn&gt;3&lt;/mn&gt;&lt;/mfrac&gt;&lt;/mtd&gt;&lt;/mtr&gt;&lt;/mtable&gt;&lt;/math&gt;" id="878" name="Google Shape;878;p73" title="3 lines Line 1: one half plus three fourths plus one half plus three fourths Line 2: two fifths plus two thirds plus two fifths plus two thirds Line 3: one half times three fourths minus two fifths times two thirds"/>
          <p:cNvPicPr preferRelativeResize="0"/>
          <p:nvPr/>
        </p:nvPicPr>
        <p:blipFill rotWithShape="1">
          <a:blip r:embed="rId3">
            <a:alphaModFix/>
          </a:blip>
          <a:srcRect b="-5306" l="61015" r="-3710" t="65766"/>
          <a:stretch/>
        </p:blipFill>
        <p:spPr>
          <a:xfrm>
            <a:off x="6461441" y="2395748"/>
            <a:ext cx="867825" cy="613500"/>
          </a:xfrm>
          <a:prstGeom prst="rect">
            <a:avLst/>
          </a:prstGeom>
          <a:noFill/>
          <a:ln>
            <a:noFill/>
          </a:ln>
        </p:spPr>
      </p:pic>
      <p:sp>
        <p:nvSpPr>
          <p:cNvPr id="879" name="Google Shape;879;p73"/>
          <p:cNvSpPr/>
          <p:nvPr/>
        </p:nvSpPr>
        <p:spPr>
          <a:xfrm>
            <a:off x="6389700" y="4280022"/>
            <a:ext cx="1036200" cy="567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80" name="Google Shape;880;p73"/>
          <p:cNvCxnSpPr>
            <a:stCxn id="862" idx="3"/>
            <a:endCxn id="856" idx="1"/>
          </p:cNvCxnSpPr>
          <p:nvPr/>
        </p:nvCxnSpPr>
        <p:spPr>
          <a:xfrm>
            <a:off x="6096600" y="2845250"/>
            <a:ext cx="280800" cy="1113600"/>
          </a:xfrm>
          <a:prstGeom prst="straightConnector1">
            <a:avLst/>
          </a:prstGeom>
          <a:noFill/>
          <a:ln cap="flat" cmpd="sng" w="19050">
            <a:solidFill>
              <a:schemeClr val="dk2"/>
            </a:solidFill>
            <a:prstDash val="solid"/>
            <a:round/>
            <a:headEnd len="med" w="med" type="none"/>
            <a:tailEnd len="med" w="med" type="none"/>
          </a:ln>
        </p:spPr>
      </p:cxnSp>
      <p:cxnSp>
        <p:nvCxnSpPr>
          <p:cNvPr id="881" name="Google Shape;881;p73"/>
          <p:cNvCxnSpPr>
            <a:stCxn id="863" idx="3"/>
            <a:endCxn id="879" idx="1"/>
          </p:cNvCxnSpPr>
          <p:nvPr/>
        </p:nvCxnSpPr>
        <p:spPr>
          <a:xfrm>
            <a:off x="6096600" y="3425750"/>
            <a:ext cx="293100" cy="1137900"/>
          </a:xfrm>
          <a:prstGeom prst="straightConnector1">
            <a:avLst/>
          </a:prstGeom>
          <a:noFill/>
          <a:ln cap="flat" cmpd="sng" w="19050">
            <a:solidFill>
              <a:schemeClr val="dk2"/>
            </a:solidFill>
            <a:prstDash val="solid"/>
            <a:round/>
            <a:headEnd len="med" w="med" type="none"/>
            <a:tailEnd len="med" w="med" type="none"/>
          </a:ln>
        </p:spPr>
      </p:cxnSp>
      <p:cxnSp>
        <p:nvCxnSpPr>
          <p:cNvPr id="882" name="Google Shape;882;p73"/>
          <p:cNvCxnSpPr>
            <a:stCxn id="864" idx="3"/>
            <a:endCxn id="874" idx="1"/>
          </p:cNvCxnSpPr>
          <p:nvPr/>
        </p:nvCxnSpPr>
        <p:spPr>
          <a:xfrm flipH="1" rot="10800000">
            <a:off x="6096600" y="2688050"/>
            <a:ext cx="280800" cy="1318200"/>
          </a:xfrm>
          <a:prstGeom prst="straightConnector1">
            <a:avLst/>
          </a:prstGeom>
          <a:noFill/>
          <a:ln cap="flat" cmpd="sng" w="19050">
            <a:solidFill>
              <a:schemeClr val="dk2"/>
            </a:solidFill>
            <a:prstDash val="solid"/>
            <a:round/>
            <a:headEnd len="med" w="med" type="none"/>
            <a:tailEnd len="med" w="med" type="none"/>
          </a:ln>
        </p:spPr>
      </p:cxnSp>
      <p:cxnSp>
        <p:nvCxnSpPr>
          <p:cNvPr id="883" name="Google Shape;883;p73"/>
          <p:cNvCxnSpPr>
            <a:endCxn id="875" idx="1"/>
          </p:cNvCxnSpPr>
          <p:nvPr/>
        </p:nvCxnSpPr>
        <p:spPr>
          <a:xfrm flipH="1" rot="10800000">
            <a:off x="6096475" y="3319047"/>
            <a:ext cx="280800" cy="1410900"/>
          </a:xfrm>
          <a:prstGeom prst="straightConnector1">
            <a:avLst/>
          </a:prstGeom>
          <a:noFill/>
          <a:ln cap="flat" cmpd="sng" w="19050">
            <a:solidFill>
              <a:schemeClr val="dk2"/>
            </a:solidFill>
            <a:prstDash val="solid"/>
            <a:round/>
            <a:headEnd len="med" w="med" type="none"/>
            <a:tailEnd len="med" w="med" type="none"/>
          </a:ln>
        </p:spPr>
      </p:cxnSp>
      <p:pic>
        <p:nvPicPr>
          <p:cNvPr descr="&lt;math xmlns=&quot;http://www.w3.org/1998/Math/MathML&quot; display=&quot;block&quot; data-is-equatio=&quot;1&quot; data-latex=&quot;2\ \times\left(\frac{1}{2}+\frac{3}{4}\right)&quot;&gt;&lt;mn&gt;2&lt;/mn&gt;&lt;mtext&gt;&lt;/mtext&gt;&lt;mo&gt;×&lt;/mo&gt;&lt;mrow data-mjx-texclass=&quot;INNER&quot;&gt;&lt;mo data-mjx-texclass=&quot;OPEN&quot;&gt;(&lt;/mo&gt;&lt;mfrac&gt;&lt;mn&gt;1&lt;/mn&gt;&lt;mn&gt;2&lt;/mn&gt;&lt;/mfrac&gt;&lt;mo&gt;+&lt;/mo&gt;&lt;mfrac&gt;&lt;mn&gt;3&lt;/mn&gt;&lt;mn&gt;4&lt;/mn&gt;&lt;/mfrac&gt;&lt;mo data-mjx-texclass=&quot;CLOSE&quot;&gt;)&lt;/mo&gt;&lt;/mrow&gt;&lt;/math&gt;" id="884" name="Google Shape;884;p73" title="2 times open paren one half plus three fourths close paren"/>
          <p:cNvPicPr preferRelativeResize="0"/>
          <p:nvPr/>
        </p:nvPicPr>
        <p:blipFill>
          <a:blip r:embed="rId5">
            <a:alphaModFix/>
          </a:blip>
          <a:stretch>
            <a:fillRect/>
          </a:stretch>
        </p:blipFill>
        <p:spPr>
          <a:xfrm>
            <a:off x="6902125" y="3676650"/>
            <a:ext cx="1307078" cy="54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7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74"/>
          <p:cNvSpPr/>
          <p:nvPr/>
        </p:nvSpPr>
        <p:spPr>
          <a:xfrm>
            <a:off x="4336400" y="2755675"/>
            <a:ext cx="3872700" cy="613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0" name="Google Shape;890;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891" name="Google Shape;891;p74"/>
          <p:cNvSpPr txBox="1"/>
          <p:nvPr/>
        </p:nvSpPr>
        <p:spPr>
          <a:xfrm>
            <a:off x="253200" y="618600"/>
            <a:ext cx="88602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t/>
            </a:r>
            <a:endParaRPr sz="1200"/>
          </a:p>
        </p:txBody>
      </p:sp>
      <p:sp>
        <p:nvSpPr>
          <p:cNvPr id="892" name="Google Shape;892;p74"/>
          <p:cNvSpPr/>
          <p:nvPr/>
        </p:nvSpPr>
        <p:spPr>
          <a:xfrm>
            <a:off x="6190450" y="798400"/>
            <a:ext cx="2196300" cy="834600"/>
          </a:xfrm>
          <a:prstGeom prst="rect">
            <a:avLst/>
          </a:prstGeom>
          <a:solidFill>
            <a:schemeClr val="l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Land</a:t>
            </a:r>
            <a:r>
              <a:rPr lang="en-GB" sz="1900">
                <a:latin typeface="Lexend"/>
                <a:ea typeface="Lexend"/>
                <a:cs typeface="Lexend"/>
                <a:sym typeface="Lexend"/>
              </a:rPr>
              <a:t> A</a:t>
            </a:r>
            <a:endParaRPr sz="1900">
              <a:latin typeface="Lexend"/>
              <a:ea typeface="Lexend"/>
              <a:cs typeface="Lexend"/>
              <a:sym typeface="Lexend"/>
            </a:endParaRPr>
          </a:p>
        </p:txBody>
      </p:sp>
      <p:sp>
        <p:nvSpPr>
          <p:cNvPr id="893" name="Google Shape;893;p74"/>
          <p:cNvSpPr txBox="1"/>
          <p:nvPr/>
        </p:nvSpPr>
        <p:spPr>
          <a:xfrm>
            <a:off x="5848490" y="1003785"/>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94" name="Google Shape;894;p74"/>
          <p:cNvSpPr txBox="1"/>
          <p:nvPr/>
        </p:nvSpPr>
        <p:spPr>
          <a:xfrm>
            <a:off x="7286782" y="1661063"/>
            <a:ext cx="3705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m</a:t>
            </a:r>
            <a:endParaRPr/>
          </a:p>
        </p:txBody>
      </p:sp>
      <p:sp>
        <p:nvSpPr>
          <p:cNvPr id="895" name="Google Shape;895;p74"/>
          <p:cNvSpPr txBox="1"/>
          <p:nvPr/>
        </p:nvSpPr>
        <p:spPr>
          <a:xfrm>
            <a:off x="324000" y="666275"/>
            <a:ext cx="4928400" cy="1098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Without calculating, match the statements and explain how you knew which statement matched which calculation.</a:t>
            </a:r>
            <a:endParaRPr sz="1800">
              <a:latin typeface="Lexend"/>
              <a:ea typeface="Lexend"/>
              <a:cs typeface="Lexend"/>
              <a:sym typeface="Lexend"/>
            </a:endParaRPr>
          </a:p>
        </p:txBody>
      </p:sp>
      <p:pic>
        <p:nvPicPr>
          <p:cNvPr descr="&lt;math xmlns=&quot;http://www.w3.org/1998/Math/MathML&quot; display=&quot;block&quot; data-is-equatio=&quot;1&quot; data-latex=&quot;\begin{array}{l}3\frac{2}{3}\ \ \ \ \ \ 2\frac{3}{5}\\&amp;#13;&amp;#10;\left(3\frac{2}{3}\times2\frac{3}{5}\right)\times24\\&amp;#13;&amp;#10;2\times\left(3\frac{2}{3}+2\frac{3}{5}\right)\times24\end{array}&quot;&gt;&lt;mtable columnalign=&quot;left&quot; columnspacing=&quot;1em&quot; rowspacing=&quot;4pt&quot;&gt;&lt;mtr&gt;&lt;mtd&gt;&lt;mn&gt;3&lt;/mn&gt;&lt;mfrac&gt;&lt;mn&gt;2&lt;/mn&gt;&lt;mn&gt;3&lt;/mn&gt;&lt;/mfrac&gt;&lt;mtext&gt;&lt;/mtext&gt;&lt;mtext&gt;&lt;/mtext&gt;&lt;mtext&gt;&lt;/mtext&gt;&lt;mtext&gt;&lt;/mtext&gt;&lt;mtext&gt;&lt;/mtext&gt;&lt;mtext&gt;&lt;/mtext&gt;&lt;mn&gt;2&lt;/mn&gt;&lt;mfrac&gt;&lt;mn&gt;3&lt;/mn&gt;&lt;mn&gt;5&lt;/mn&gt;&lt;/mfrac&gt;&lt;/mtd&gt;&lt;/mtr&gt;&lt;mtr&gt;&lt;mtd&gt;&lt;mrow data-mjx-texclass=&quot;INNER&quot;&gt;&lt;mo data-mjx-texclass=&quot;OPEN&quot;&gt;(&lt;/mo&gt;&lt;mn&gt;3&lt;/mn&gt;&lt;mfrac&gt;&lt;mn&gt;2&lt;/mn&gt;&lt;mn&gt;3&lt;/mn&gt;&lt;/mfrac&gt;&lt;mo&gt;×&lt;/mo&gt;&lt;mn&gt;2&lt;/mn&gt;&lt;mfrac&gt;&lt;mn&gt;3&lt;/mn&gt;&lt;mn&gt;5&lt;/mn&gt;&lt;/mfrac&gt;&lt;mo data-mjx-texclass=&quot;CLOSE&quot;&gt;)&lt;/mo&gt;&lt;/mrow&gt;&lt;mo&gt;×&lt;/mo&gt;&lt;mn&gt;24&lt;/mn&gt;&lt;/mtd&gt;&lt;/mtr&gt;&lt;mtr&gt;&lt;mtd&gt;&lt;mn&gt;2&lt;/mn&gt;&lt;mo&gt;×&lt;/mo&gt;&lt;mrow data-mjx-texclass=&quot;INNER&quot;&gt;&lt;mo data-mjx-texclass=&quot;OPEN&quot;&gt;(&lt;/mo&gt;&lt;mn&gt;3&lt;/mn&gt;&lt;mfrac&gt;&lt;mn&gt;2&lt;/mn&gt;&lt;mn&gt;3&lt;/mn&gt;&lt;/mfrac&gt;&lt;mo&gt;+&lt;/mo&gt;&lt;mn&gt;2&lt;/mn&gt;&lt;mfrac&gt;&lt;mn&gt;3&lt;/mn&gt;&lt;mn&gt;5&lt;/mn&gt;&lt;/mfrac&gt;&lt;mo data-mjx-texclass=&quot;CLOSE&quot;&gt;)&lt;/mo&gt;&lt;/mrow&gt;&lt;mo&gt;×&lt;/mo&gt;&lt;mn&gt;24&lt;/mn&gt;&lt;/mtd&gt;&lt;/mtr&gt;&lt;/mtable&gt;&lt;/math&gt;" id="896" name="Google Shape;896;p74" title="3 lines Line 1: 3 and two thirds 2 and three fifths Line 2: open paren 3 and two thirds times 2 and three fifths close paren times 24 Line 3: 2 times open paren 3 and two thirds plus 2 and three fifths close paren times 24"/>
          <p:cNvPicPr preferRelativeResize="0"/>
          <p:nvPr/>
        </p:nvPicPr>
        <p:blipFill rotWithShape="1">
          <a:blip r:embed="rId3">
            <a:alphaModFix/>
          </a:blip>
          <a:srcRect b="68765" l="0" r="81293" t="0"/>
          <a:stretch/>
        </p:blipFill>
        <p:spPr>
          <a:xfrm>
            <a:off x="7026075" y="1699025"/>
            <a:ext cx="460275" cy="461700"/>
          </a:xfrm>
          <a:prstGeom prst="rect">
            <a:avLst/>
          </a:prstGeom>
          <a:noFill/>
          <a:ln>
            <a:noFill/>
          </a:ln>
        </p:spPr>
      </p:pic>
      <p:pic>
        <p:nvPicPr>
          <p:cNvPr descr="&lt;math xmlns=&quot;http://www.w3.org/1998/Math/MathML&quot; display=&quot;block&quot; data-is-equatio=&quot;1&quot; data-latex=&quot;\begin{array}{l}3\frac{2}{3}\ \ \ \ \ \ 2\frac{3}{5}\\&amp;#13;&amp;#10;\left(3\frac{2}{3}\times2\frac{3}{5}\right)\times24\\&amp;#13;&amp;#10;2\times\left(3\frac{2}{3}+2\frac{3}{5}\right)\times24\end{array}&quot;&gt;&lt;mtable columnalign=&quot;left&quot; columnspacing=&quot;1em&quot; rowspacing=&quot;4pt&quot;&gt;&lt;mtr&gt;&lt;mtd&gt;&lt;mn&gt;3&lt;/mn&gt;&lt;mfrac&gt;&lt;mn&gt;2&lt;/mn&gt;&lt;mn&gt;3&lt;/mn&gt;&lt;/mfrac&gt;&lt;mtext&gt;&lt;/mtext&gt;&lt;mtext&gt;&lt;/mtext&gt;&lt;mtext&gt;&lt;/mtext&gt;&lt;mtext&gt;&lt;/mtext&gt;&lt;mtext&gt;&lt;/mtext&gt;&lt;mtext&gt;&lt;/mtext&gt;&lt;mn&gt;2&lt;/mn&gt;&lt;mfrac&gt;&lt;mn&gt;3&lt;/mn&gt;&lt;mn&gt;5&lt;/mn&gt;&lt;/mfrac&gt;&lt;/mtd&gt;&lt;/mtr&gt;&lt;mtr&gt;&lt;mtd&gt;&lt;mrow data-mjx-texclass=&quot;INNER&quot;&gt;&lt;mo data-mjx-texclass=&quot;OPEN&quot;&gt;(&lt;/mo&gt;&lt;mn&gt;3&lt;/mn&gt;&lt;mfrac&gt;&lt;mn&gt;2&lt;/mn&gt;&lt;mn&gt;3&lt;/mn&gt;&lt;/mfrac&gt;&lt;mo&gt;×&lt;/mo&gt;&lt;mn&gt;2&lt;/mn&gt;&lt;mfrac&gt;&lt;mn&gt;3&lt;/mn&gt;&lt;mn&gt;5&lt;/mn&gt;&lt;/mfrac&gt;&lt;mo data-mjx-texclass=&quot;CLOSE&quot;&gt;)&lt;/mo&gt;&lt;/mrow&gt;&lt;mo&gt;×&lt;/mo&gt;&lt;mn&gt;24&lt;/mn&gt;&lt;/mtd&gt;&lt;/mtr&gt;&lt;mtr&gt;&lt;mtd&gt;&lt;mn&gt;2&lt;/mn&gt;&lt;mo&gt;×&lt;/mo&gt;&lt;mrow data-mjx-texclass=&quot;INNER&quot;&gt;&lt;mo data-mjx-texclass=&quot;OPEN&quot;&gt;(&lt;/mo&gt;&lt;mn&gt;3&lt;/mn&gt;&lt;mfrac&gt;&lt;mn&gt;2&lt;/mn&gt;&lt;mn&gt;3&lt;/mn&gt;&lt;/mfrac&gt;&lt;mo&gt;+&lt;/mo&gt;&lt;mn&gt;2&lt;/mn&gt;&lt;mfrac&gt;&lt;mn&gt;3&lt;/mn&gt;&lt;mn&gt;5&lt;/mn&gt;&lt;/mfrac&gt;&lt;mo data-mjx-texclass=&quot;CLOSE&quot;&gt;)&lt;/mo&gt;&lt;/mrow&gt;&lt;mo&gt;×&lt;/mo&gt;&lt;mn&gt;24&lt;/mn&gt;&lt;/mtd&gt;&lt;/mtr&gt;&lt;/mtable&gt;&lt;/math&gt;" id="897" name="Google Shape;897;p74" title="3 lines Line 1: 3 and two thirds 2 and three fifths Line 2: open paren 3 and two thirds times 2 and three fifths close paren times 24 Line 3: 2 times open paren 3 and two thirds plus 2 and three fifths close paren times 24"/>
          <p:cNvPicPr preferRelativeResize="0"/>
          <p:nvPr/>
        </p:nvPicPr>
        <p:blipFill rotWithShape="1">
          <a:blip r:embed="rId3">
            <a:alphaModFix/>
          </a:blip>
          <a:srcRect b="68765" l="29910" r="49165" t="0"/>
          <a:stretch/>
        </p:blipFill>
        <p:spPr>
          <a:xfrm>
            <a:off x="5468600" y="1028850"/>
            <a:ext cx="514850" cy="461700"/>
          </a:xfrm>
          <a:prstGeom prst="rect">
            <a:avLst/>
          </a:prstGeom>
          <a:noFill/>
          <a:ln>
            <a:noFill/>
          </a:ln>
        </p:spPr>
      </p:pic>
      <p:sp>
        <p:nvSpPr>
          <p:cNvPr id="898" name="Google Shape;898;p74"/>
          <p:cNvSpPr txBox="1"/>
          <p:nvPr/>
        </p:nvSpPr>
        <p:spPr>
          <a:xfrm>
            <a:off x="572700" y="2775800"/>
            <a:ext cx="4324200" cy="7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Each m</a:t>
            </a:r>
            <a:r>
              <a:rPr baseline="30000"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will cost £24</a:t>
            </a:r>
            <a:endParaRPr sz="2200">
              <a:solidFill>
                <a:schemeClr val="dk1"/>
              </a:solidFill>
              <a:latin typeface="Lexend"/>
              <a:ea typeface="Lexend"/>
              <a:cs typeface="Lexend"/>
              <a:sym typeface="Lexend"/>
            </a:endParaRPr>
          </a:p>
        </p:txBody>
      </p:sp>
      <p:sp>
        <p:nvSpPr>
          <p:cNvPr id="899" name="Google Shape;899;p74"/>
          <p:cNvSpPr txBox="1"/>
          <p:nvPr/>
        </p:nvSpPr>
        <p:spPr>
          <a:xfrm>
            <a:off x="572700" y="3725975"/>
            <a:ext cx="2943300" cy="5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Each m will cost £24</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2\ \times\begin{array}{l}\left(2\frac{3}{5}\ +\ 3\frac{2}{3}\right)\end{array}\times24\begin{array}{l}\\&amp;#13;&amp;#10;\\&amp;#13;&amp;#10;\\&amp;#13;&amp;#10;\\&amp;#13;&amp;#10;\\&amp;#13;&amp;#10;\\&amp;#13;&amp;#10;\begin{array}{l}\left(2\frac{3}{5}\ \times\ 3\frac{2}{3}\right)\end{array}\times24\end{array}&quot;&gt;&lt;mn&gt;2&lt;/mn&gt;&lt;mtext&gt;&lt;/mtext&gt;&lt;mo&gt;×&lt;/mo&gt;&lt;mtable columnalign=&quot;left&quot; columnspacing=&quot;1em&quot; rowspacing=&quot;4pt&quot;&gt;&lt;mtr&gt;&lt;mtd&gt;&lt;mrow data-mjx-texclass=&quot;INNER&quot;&gt;&lt;mo data-mjx-texclass=&quot;OPEN&quot;&gt;(&lt;/mo&gt;&lt;mn&gt;2&lt;/mn&gt;&lt;mfrac&gt;&lt;mn&gt;3&lt;/mn&gt;&lt;mn&gt;5&lt;/mn&gt;&lt;/mfrac&gt;&lt;mtext&gt;&lt;/mtext&gt;&lt;mo&gt;+&lt;/mo&gt;&lt;mtext&gt;&lt;/mtext&gt;&lt;mn&gt;3&lt;/mn&gt;&lt;mfrac&gt;&lt;mn&gt;2&lt;/mn&gt;&lt;mn&gt;3&lt;/mn&gt;&lt;/mfrac&gt;&lt;mo data-mjx-texclass=&quot;CLOSE&quot;&gt;)&lt;/mo&gt;&lt;/mrow&gt;&lt;/mtd&gt;&lt;/mtr&gt;&lt;/mtable&gt;&lt;mo&gt;×&lt;/mo&gt;&lt;mn&gt;24&lt;/mn&gt;&lt;mtable columnalign=&quot;left&quot; columnspacing=&quot;1em&quot; rowspacing=&quot;4pt&quot;&gt;&lt;mtr&gt;&lt;mtd/&gt;&lt;/mtr&gt;&lt;mtr&gt;&lt;mtd/&gt;&lt;/mtr&gt;&lt;mtr&gt;&lt;mtd/&gt;&lt;/mtr&gt;&lt;mtr&gt;&lt;mtd/&gt;&lt;/mtr&gt;&lt;mtr&gt;&lt;mtd/&gt;&lt;/mtr&gt;&lt;mtr&gt;&lt;mtd/&gt;&lt;/mtr&gt;&lt;mtr&gt;&lt;mtd&gt;&lt;mtable columnspacing=&quot;1em&quot; rowspacing=&quot;4pt&quot;&gt;&lt;mtr&gt;&lt;mtd&gt;&lt;mrow data-mjx-texclass=&quot;INNER&quot;&gt;&lt;mo data-mjx-texclass=&quot;OPEN&quot;&gt;(&lt;/mo&gt;&lt;mn&gt;2&lt;/mn&gt;&lt;mfrac&gt;&lt;mn&gt;3&lt;/mn&gt;&lt;mn&gt;5&lt;/mn&gt;&lt;/mfrac&gt;&lt;mtext&gt;&lt;/mtext&gt;&lt;mo&gt;×&lt;/mo&gt;&lt;mtext&gt;&lt;/mtext&gt;&lt;mn&gt;3&lt;/mn&gt;&lt;mfrac&gt;&lt;mn&gt;2&lt;/mn&gt;&lt;mn&gt;3&lt;/mn&gt;&lt;/mfrac&gt;&lt;mo data-mjx-texclass=&quot;CLOSE&quot;&gt;)&lt;/mo&gt;&lt;/mrow&gt;&lt;/mtd&gt;&lt;/mtr&gt;&lt;/mtable&gt;&lt;mo&gt;×&lt;/mo&gt;&lt;mn&gt;24&lt;/mn&gt;&lt;/mtd&gt;&lt;/mtr&gt;&lt;/mtable&gt;&lt;/math&gt;" id="900" name="Google Shape;900;p74" title="2 times the 1 by 1 matrix with entry 2 and three fifths plus 3 and two thirds times 24 7 lines Line 1: blank Line 2: blank Line 3: blank Line 4: blank Line 5: blank Line 6: blank Line 7: the 1 by 1 matrix with entry 2 and three fifths times 3 and two thirds times 24"/>
          <p:cNvPicPr preferRelativeResize="0"/>
          <p:nvPr/>
        </p:nvPicPr>
        <p:blipFill rotWithShape="1">
          <a:blip r:embed="rId4">
            <a:alphaModFix/>
          </a:blip>
          <a:srcRect b="68244" l="0" r="44619" t="0"/>
          <a:stretch/>
        </p:blipFill>
        <p:spPr>
          <a:xfrm>
            <a:off x="4459250" y="2861648"/>
            <a:ext cx="3239925" cy="613500"/>
          </a:xfrm>
          <a:prstGeom prst="rect">
            <a:avLst/>
          </a:prstGeom>
          <a:noFill/>
          <a:ln>
            <a:noFill/>
          </a:ln>
        </p:spPr>
      </p:pic>
      <p:pic>
        <p:nvPicPr>
          <p:cNvPr descr="&lt;math xmlns=&quot;http://www.w3.org/1998/Math/MathML&quot; display=&quot;block&quot; data-is-equatio=&quot;1&quot; data-latex=&quot;2\ \times\begin{array}{l}\left(2\frac{3}{5}\ +\ 3\frac{2}{3}\right)\end{array}\times24\begin{array}{l}\\&amp;#13;&amp;#10;\\&amp;#13;&amp;#10;\\&amp;#13;&amp;#10;\\&amp;#13;&amp;#10;\\&amp;#13;&amp;#10;\\&amp;#13;&amp;#10;\begin{array}{l}\left(2\frac{3}{5}\ \times\ 3\frac{2}{3}\right)\end{array}\times24\end{array}&quot;&gt;&lt;mn&gt;2&lt;/mn&gt;&lt;mtext&gt;&lt;/mtext&gt;&lt;mo&gt;×&lt;/mo&gt;&lt;mtable columnalign=&quot;left&quot; columnspacing=&quot;1em&quot; rowspacing=&quot;4pt&quot;&gt;&lt;mtr&gt;&lt;mtd&gt;&lt;mrow data-mjx-texclass=&quot;INNER&quot;&gt;&lt;mo data-mjx-texclass=&quot;OPEN&quot;&gt;(&lt;/mo&gt;&lt;mn&gt;2&lt;/mn&gt;&lt;mfrac&gt;&lt;mn&gt;3&lt;/mn&gt;&lt;mn&gt;5&lt;/mn&gt;&lt;/mfrac&gt;&lt;mtext&gt;&lt;/mtext&gt;&lt;mo&gt;+&lt;/mo&gt;&lt;mtext&gt;&lt;/mtext&gt;&lt;mn&gt;3&lt;/mn&gt;&lt;mfrac&gt;&lt;mn&gt;2&lt;/mn&gt;&lt;mn&gt;3&lt;/mn&gt;&lt;/mfrac&gt;&lt;mo data-mjx-texclass=&quot;CLOSE&quot;&gt;)&lt;/mo&gt;&lt;/mrow&gt;&lt;/mtd&gt;&lt;/mtr&gt;&lt;/mtable&gt;&lt;mo&gt;×&lt;/mo&gt;&lt;mn&gt;24&lt;/mn&gt;&lt;mtable columnalign=&quot;left&quot; columnspacing=&quot;1em&quot; rowspacing=&quot;4pt&quot;&gt;&lt;mtr&gt;&lt;mtd/&gt;&lt;/mtr&gt;&lt;mtr&gt;&lt;mtd/&gt;&lt;/mtr&gt;&lt;mtr&gt;&lt;mtd/&gt;&lt;/mtr&gt;&lt;mtr&gt;&lt;mtd/&gt;&lt;/mtr&gt;&lt;mtr&gt;&lt;mtd/&gt;&lt;/mtr&gt;&lt;mtr&gt;&lt;mtd/&gt;&lt;/mtr&gt;&lt;mtr&gt;&lt;mtd&gt;&lt;mtable columnspacing=&quot;1em&quot; rowspacing=&quot;4pt&quot;&gt;&lt;mtr&gt;&lt;mtd&gt;&lt;mrow data-mjx-texclass=&quot;INNER&quot;&gt;&lt;mo data-mjx-texclass=&quot;OPEN&quot;&gt;(&lt;/mo&gt;&lt;mn&gt;2&lt;/mn&gt;&lt;mfrac&gt;&lt;mn&gt;3&lt;/mn&gt;&lt;mn&gt;5&lt;/mn&gt;&lt;/mfrac&gt;&lt;mtext&gt;&lt;/mtext&gt;&lt;mo&gt;×&lt;/mo&gt;&lt;mtext&gt;&lt;/mtext&gt;&lt;mn&gt;3&lt;/mn&gt;&lt;mfrac&gt;&lt;mn&gt;2&lt;/mn&gt;&lt;mn&gt;3&lt;/mn&gt;&lt;/mfrac&gt;&lt;mo data-mjx-texclass=&quot;CLOSE&quot;&gt;)&lt;/mo&gt;&lt;/mrow&gt;&lt;/mtd&gt;&lt;/mtr&gt;&lt;/mtable&gt;&lt;mo&gt;×&lt;/mo&gt;&lt;mn&gt;24&lt;/mn&gt;&lt;/mtd&gt;&lt;/mtr&gt;&lt;/mtable&gt;&lt;/math&gt;" id="901" name="Google Shape;901;p74" title="2 times the 1 by 1 matrix with entry 2 and three fifths plus 3 and two thirds times 24 7 lines Line 1: blank Line 2: blank Line 3: blank Line 4: blank Line 5: blank Line 6: blank Line 7: the 1 by 1 matrix with entry 2 and three fifths times 3 and two thirds times 24"/>
          <p:cNvPicPr preferRelativeResize="0"/>
          <p:nvPr/>
        </p:nvPicPr>
        <p:blipFill rotWithShape="1">
          <a:blip r:embed="rId4">
            <a:alphaModFix/>
          </a:blip>
          <a:srcRect b="-4658" l="49997" r="-5377" t="72903"/>
          <a:stretch/>
        </p:blipFill>
        <p:spPr>
          <a:xfrm>
            <a:off x="3993050" y="3435513"/>
            <a:ext cx="3571576" cy="676320"/>
          </a:xfrm>
          <a:prstGeom prst="rect">
            <a:avLst/>
          </a:prstGeom>
          <a:noFill/>
          <a:ln>
            <a:noFill/>
          </a:ln>
        </p:spPr>
      </p:pic>
      <p:sp>
        <p:nvSpPr>
          <p:cNvPr id="902" name="Google Shape;902;p74"/>
          <p:cNvSpPr/>
          <p:nvPr/>
        </p:nvSpPr>
        <p:spPr>
          <a:xfrm>
            <a:off x="541350" y="2754450"/>
            <a:ext cx="3029100" cy="552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3" name="Google Shape;903;p74"/>
          <p:cNvSpPr/>
          <p:nvPr/>
        </p:nvSpPr>
        <p:spPr>
          <a:xfrm>
            <a:off x="529800" y="3725975"/>
            <a:ext cx="3029100" cy="552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4" name="Google Shape;904;p74"/>
          <p:cNvSpPr/>
          <p:nvPr/>
        </p:nvSpPr>
        <p:spPr>
          <a:xfrm>
            <a:off x="4336400" y="3435525"/>
            <a:ext cx="3234300" cy="613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05" name="Google Shape;905;p74"/>
          <p:cNvCxnSpPr>
            <a:stCxn id="902" idx="3"/>
            <a:endCxn id="904" idx="1"/>
          </p:cNvCxnSpPr>
          <p:nvPr/>
        </p:nvCxnSpPr>
        <p:spPr>
          <a:xfrm>
            <a:off x="3570450" y="3030750"/>
            <a:ext cx="765900" cy="711600"/>
          </a:xfrm>
          <a:prstGeom prst="straightConnector1">
            <a:avLst/>
          </a:prstGeom>
          <a:noFill/>
          <a:ln cap="flat" cmpd="sng" w="28575">
            <a:solidFill>
              <a:schemeClr val="dk2"/>
            </a:solidFill>
            <a:prstDash val="solid"/>
            <a:round/>
            <a:headEnd len="med" w="med" type="none"/>
            <a:tailEnd len="med" w="med" type="none"/>
          </a:ln>
        </p:spPr>
      </p:cxnSp>
      <p:cxnSp>
        <p:nvCxnSpPr>
          <p:cNvPr id="906" name="Google Shape;906;p74"/>
          <p:cNvCxnSpPr>
            <a:stCxn id="903" idx="3"/>
            <a:endCxn id="889" idx="1"/>
          </p:cNvCxnSpPr>
          <p:nvPr/>
        </p:nvCxnSpPr>
        <p:spPr>
          <a:xfrm flipH="1" rot="10800000">
            <a:off x="3558900" y="3062375"/>
            <a:ext cx="777600" cy="939900"/>
          </a:xfrm>
          <a:prstGeom prst="straightConnector1">
            <a:avLst/>
          </a:prstGeom>
          <a:noFill/>
          <a:ln cap="flat" cmpd="sng" w="28575">
            <a:solidFill>
              <a:schemeClr val="dk2"/>
            </a:solidFill>
            <a:prstDash val="solid"/>
            <a:round/>
            <a:headEnd len="med" w="med" type="none"/>
            <a:tailEnd len="med" w="med" type="none"/>
          </a:ln>
        </p:spPr>
      </p:cxnSp>
      <p:sp>
        <p:nvSpPr>
          <p:cNvPr id="907" name="Google Shape;907;p74"/>
          <p:cNvSpPr txBox="1"/>
          <p:nvPr/>
        </p:nvSpPr>
        <p:spPr>
          <a:xfrm>
            <a:off x="569925" y="2363925"/>
            <a:ext cx="3571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m</a:t>
            </a:r>
            <a:r>
              <a:rPr baseline="30000" lang="en-GB" sz="2000">
                <a:solidFill>
                  <a:schemeClr val="dk1"/>
                </a:solidFill>
                <a:latin typeface="Kalam"/>
                <a:ea typeface="Kalam"/>
                <a:cs typeface="Kalam"/>
                <a:sym typeface="Kalam"/>
              </a:rPr>
              <a:t>2</a:t>
            </a:r>
            <a:r>
              <a:rPr lang="en-GB" sz="2000">
                <a:solidFill>
                  <a:schemeClr val="dk1"/>
                </a:solidFill>
                <a:latin typeface="Kalam"/>
                <a:ea typeface="Kalam"/>
                <a:cs typeface="Kalam"/>
                <a:sym typeface="Kalam"/>
              </a:rPr>
              <a:t> indicates area</a:t>
            </a:r>
            <a:endParaRPr sz="2000">
              <a:solidFill>
                <a:schemeClr val="dk1"/>
              </a:solidFill>
              <a:latin typeface="Kalam"/>
              <a:ea typeface="Kalam"/>
              <a:cs typeface="Kalam"/>
              <a:sym typeface="Kalam"/>
            </a:endParaRPr>
          </a:p>
        </p:txBody>
      </p:sp>
      <p:sp>
        <p:nvSpPr>
          <p:cNvPr id="908" name="Google Shape;908;p74"/>
          <p:cNvSpPr txBox="1"/>
          <p:nvPr/>
        </p:nvSpPr>
        <p:spPr>
          <a:xfrm>
            <a:off x="4238625" y="3964125"/>
            <a:ext cx="48861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multiplication of the lengths is area then multiplying by 24 indicates £24 per m</a:t>
            </a:r>
            <a:r>
              <a:rPr baseline="30000" lang="en-GB" sz="1800">
                <a:solidFill>
                  <a:schemeClr val="dk1"/>
                </a:solidFill>
                <a:latin typeface="Kalam"/>
                <a:ea typeface="Kalam"/>
                <a:cs typeface="Kalam"/>
                <a:sym typeface="Kalam"/>
              </a:rPr>
              <a:t>2</a:t>
            </a:r>
            <a:endParaRPr baseline="30000" sz="1800">
              <a:solidFill>
                <a:schemeClr val="dk1"/>
              </a:solidFill>
              <a:latin typeface="Kalam"/>
              <a:ea typeface="Kalam"/>
              <a:cs typeface="Kalam"/>
              <a:sym typeface="Kalam"/>
            </a:endParaRPr>
          </a:p>
        </p:txBody>
      </p:sp>
      <p:sp>
        <p:nvSpPr>
          <p:cNvPr id="909" name="Google Shape;909;p74"/>
          <p:cNvSpPr txBox="1"/>
          <p:nvPr/>
        </p:nvSpPr>
        <p:spPr>
          <a:xfrm>
            <a:off x="541350" y="3357075"/>
            <a:ext cx="35715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m indicates perimeter</a:t>
            </a:r>
            <a:endParaRPr sz="2000">
              <a:solidFill>
                <a:schemeClr val="dk1"/>
              </a:solidFill>
              <a:latin typeface="Kalam"/>
              <a:ea typeface="Kalam"/>
              <a:cs typeface="Kalam"/>
              <a:sym typeface="Kalam"/>
            </a:endParaRPr>
          </a:p>
        </p:txBody>
      </p:sp>
      <p:sp>
        <p:nvSpPr>
          <p:cNvPr id="910" name="Google Shape;910;p74"/>
          <p:cNvSpPr txBox="1"/>
          <p:nvPr/>
        </p:nvSpPr>
        <p:spPr>
          <a:xfrm>
            <a:off x="4238625" y="2059125"/>
            <a:ext cx="4886100" cy="2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Kalam"/>
                <a:ea typeface="Kalam"/>
                <a:cs typeface="Kalam"/>
                <a:sym typeface="Kalam"/>
              </a:rPr>
              <a:t>The addition of the lengths is perimeter then multiplying by 24 indicates £24 per m</a:t>
            </a:r>
            <a:endParaRPr sz="18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75"/>
          <p:cNvSpPr txBox="1"/>
          <p:nvPr>
            <p:ph idx="1" type="body"/>
          </p:nvPr>
        </p:nvSpPr>
        <p:spPr>
          <a:xfrm>
            <a:off x="476400" y="683100"/>
            <a:ext cx="49917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A rectangular grass plot of land has lengths</a:t>
            </a:r>
            <a:endParaRPr/>
          </a:p>
        </p:txBody>
      </p:sp>
      <p:sp>
        <p:nvSpPr>
          <p:cNvPr id="916" name="Google Shape;916;p75"/>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17" name="Google Shape;917;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69715" l="0" r="0" t="0"/>
          <a:stretch/>
        </p:blipFill>
        <p:spPr>
          <a:xfrm>
            <a:off x="4035838" y="2317798"/>
            <a:ext cx="2310650" cy="50790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18" name="Google Shape;918;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475475" y="956475"/>
            <a:ext cx="397982" cy="43851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19" name="Google Shape;919;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1735200" y="956475"/>
            <a:ext cx="537210" cy="438510"/>
          </a:xfrm>
          <a:prstGeom prst="rect">
            <a:avLst/>
          </a:prstGeom>
          <a:noFill/>
          <a:ln>
            <a:noFill/>
          </a:ln>
        </p:spPr>
      </p:pic>
      <p:sp>
        <p:nvSpPr>
          <p:cNvPr id="920" name="Google Shape;920;p75"/>
          <p:cNvSpPr/>
          <p:nvPr/>
        </p:nvSpPr>
        <p:spPr>
          <a:xfrm>
            <a:off x="1113866" y="2487750"/>
            <a:ext cx="2629500" cy="141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Grass plot</a:t>
            </a:r>
            <a:endParaRPr sz="2100">
              <a:latin typeface="Lexend"/>
              <a:ea typeface="Lexend"/>
              <a:cs typeface="Lexend"/>
              <a:sym typeface="Lexend"/>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21" name="Google Shape;921;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2192400" y="3940476"/>
            <a:ext cx="367200" cy="444049"/>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22" name="Google Shape;922;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324000" y="2972920"/>
            <a:ext cx="507600" cy="444049"/>
          </a:xfrm>
          <a:prstGeom prst="rect">
            <a:avLst/>
          </a:prstGeom>
          <a:noFill/>
          <a:ln>
            <a:noFill/>
          </a:ln>
        </p:spPr>
      </p:pic>
      <p:sp>
        <p:nvSpPr>
          <p:cNvPr id="923" name="Google Shape;923;p75"/>
          <p:cNvSpPr txBox="1"/>
          <p:nvPr/>
        </p:nvSpPr>
        <p:spPr>
          <a:xfrm>
            <a:off x="742135" y="2953216"/>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sp>
        <p:nvSpPr>
          <p:cNvPr id="924" name="Google Shape;924;p75"/>
          <p:cNvSpPr txBox="1"/>
          <p:nvPr/>
        </p:nvSpPr>
        <p:spPr>
          <a:xfrm>
            <a:off x="2482924" y="3896142"/>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25" name="Google Shape;925;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33143" l="0" r="0" t="30275"/>
          <a:stretch/>
        </p:blipFill>
        <p:spPr>
          <a:xfrm>
            <a:off x="4035838" y="2985751"/>
            <a:ext cx="2310650" cy="61350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26" name="Google Shape;926;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5051" l="0" r="76456" t="68470"/>
          <a:stretch/>
        </p:blipFill>
        <p:spPr>
          <a:xfrm>
            <a:off x="4016790" y="3766275"/>
            <a:ext cx="543999" cy="613500"/>
          </a:xfrm>
          <a:prstGeom prst="rect">
            <a:avLst/>
          </a:prstGeom>
          <a:noFill/>
          <a:ln>
            <a:noFill/>
          </a:ln>
        </p:spPr>
      </p:pic>
      <p:sp>
        <p:nvSpPr>
          <p:cNvPr id="927" name="Google Shape;927;p75"/>
          <p:cNvSpPr txBox="1"/>
          <p:nvPr/>
        </p:nvSpPr>
        <p:spPr>
          <a:xfrm>
            <a:off x="638175" y="4358700"/>
            <a:ext cx="7848600" cy="461700"/>
          </a:xfrm>
          <a:prstGeom prst="rect">
            <a:avLst/>
          </a:prstGeom>
          <a:noFill/>
          <a:ln>
            <a:noFill/>
          </a:ln>
        </p:spPr>
        <p:txBody>
          <a:bodyPr anchorCtr="0" anchor="t" bIns="91425" lIns="0" spcFirstLastPara="1" rIns="91425" wrap="square" tIns="91425">
            <a:spAutoFit/>
          </a:bodyPr>
          <a:lstStyle/>
          <a:p>
            <a:pPr indent="0" lvl="0" marL="0" rtl="0" algn="l">
              <a:lnSpc>
                <a:spcPct val="130000"/>
              </a:lnSpc>
              <a:spcBef>
                <a:spcPts val="0"/>
              </a:spcBef>
              <a:spcAft>
                <a:spcPts val="1000"/>
              </a:spcAft>
              <a:buNone/>
            </a:pPr>
            <a:r>
              <a:rPr lang="en-GB" sz="1800">
                <a:solidFill>
                  <a:schemeClr val="dk1"/>
                </a:solidFill>
                <a:latin typeface="Lexend"/>
                <a:ea typeface="Lexend"/>
                <a:cs typeface="Lexend"/>
                <a:sym typeface="Lexend"/>
              </a:rPr>
              <a:t>      </a:t>
            </a:r>
            <a:r>
              <a:rPr lang="en-GB" sz="1800">
                <a:solidFill>
                  <a:schemeClr val="dk1"/>
                </a:solidFill>
                <a:latin typeface="Kalam"/>
                <a:ea typeface="Kalam"/>
                <a:cs typeface="Kalam"/>
                <a:sym typeface="Kalam"/>
              </a:rPr>
              <a:t>rounded up gives 10 m</a:t>
            </a:r>
            <a:r>
              <a:rPr baseline="30000" lang="en-GB" sz="1800">
                <a:solidFill>
                  <a:schemeClr val="dk1"/>
                </a:solidFill>
                <a:latin typeface="Kalam"/>
                <a:ea typeface="Kalam"/>
                <a:cs typeface="Kalam"/>
                <a:sym typeface="Kalam"/>
              </a:rPr>
              <a:t>2</a:t>
            </a:r>
            <a:r>
              <a:rPr lang="en-GB" sz="1800">
                <a:solidFill>
                  <a:schemeClr val="dk1"/>
                </a:solidFill>
                <a:latin typeface="Kalam"/>
                <a:ea typeface="Kalam"/>
                <a:cs typeface="Kalam"/>
                <a:sym typeface="Kalam"/>
              </a:rPr>
              <a:t>, so the total cost is 10 × £10 = £100</a:t>
            </a:r>
            <a:endParaRPr>
              <a:latin typeface="Kalam"/>
              <a:ea typeface="Kalam"/>
              <a:cs typeface="Kalam"/>
              <a:sym typeface="Kalam"/>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28" name="Google Shape;928;p75" title="3 lines Line 1: 4 and two fifths times 2 and one tenth Line 2: 22 over 5 times 21 over 10 equals Line 3: 462 over 50 equals 231 over 25 equals 9 and 2 over 25"/>
          <p:cNvPicPr preferRelativeResize="0"/>
          <p:nvPr/>
        </p:nvPicPr>
        <p:blipFill rotWithShape="1">
          <a:blip r:embed="rId3">
            <a:alphaModFix/>
          </a:blip>
          <a:srcRect b="-5051" l="21067" r="36060" t="68470"/>
          <a:stretch/>
        </p:blipFill>
        <p:spPr>
          <a:xfrm>
            <a:off x="4514922" y="3766275"/>
            <a:ext cx="990625" cy="61350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6}{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6&lt;/mn&gt;&lt;mn&gt;25&lt;/mn&gt;&lt;/mfrac&gt;&lt;/mtd&gt;&lt;/mtr&gt;&lt;/mtable&gt;&lt;/math&gt;" id="929" name="Google Shape;929;p75" title="3 lines Line 1: 4 and two fifths times 2 and one tenth Line 2: 22 over 5 times 21 over 10 equals Line 3: 462 over 50 equals 231 over 25 equals 9 and 6 over 25"/>
          <p:cNvPicPr preferRelativeResize="0"/>
          <p:nvPr/>
        </p:nvPicPr>
        <p:blipFill rotWithShape="1">
          <a:blip r:embed="rId4">
            <a:alphaModFix/>
          </a:blip>
          <a:srcRect b="0" l="62171" r="0" t="68613"/>
          <a:stretch/>
        </p:blipFill>
        <p:spPr>
          <a:xfrm>
            <a:off x="5505550" y="3763125"/>
            <a:ext cx="872153" cy="52520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6}{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6&lt;/mn&gt;&lt;mn&gt;25&lt;/mn&gt;&lt;/mfrac&gt;&lt;/mtd&gt;&lt;/mtr&gt;&lt;/mtable&gt;&lt;/math&gt;" id="930" name="Google Shape;930;p75" title="3 lines Line 1: 4 and two fifths times 2 and one tenth Line 2: 22 over 5 times 21 over 10 equals Line 3: 462 over 50 equals 231 over 25 equals 9 and 6 over 25"/>
          <p:cNvPicPr preferRelativeResize="0"/>
          <p:nvPr/>
        </p:nvPicPr>
        <p:blipFill rotWithShape="1">
          <a:blip r:embed="rId4">
            <a:alphaModFix/>
          </a:blip>
          <a:srcRect b="0" l="76404" r="0" t="68613"/>
          <a:stretch/>
        </p:blipFill>
        <p:spPr>
          <a:xfrm>
            <a:off x="381376" y="4295200"/>
            <a:ext cx="543999" cy="525200"/>
          </a:xfrm>
          <a:prstGeom prst="rect">
            <a:avLst/>
          </a:prstGeom>
          <a:noFill/>
          <a:ln>
            <a:noFill/>
          </a:ln>
        </p:spPr>
      </p:pic>
      <p:sp>
        <p:nvSpPr>
          <p:cNvPr id="931" name="Google Shape;931;p75"/>
          <p:cNvSpPr txBox="1"/>
          <p:nvPr>
            <p:ph idx="1" type="body"/>
          </p:nvPr>
        </p:nvSpPr>
        <p:spPr>
          <a:xfrm>
            <a:off x="324000" y="1521300"/>
            <a:ext cx="8237700" cy="966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The Oak </a:t>
            </a:r>
            <a:r>
              <a:rPr lang="en-GB" sz="1800"/>
              <a:t>teacher wants to plant wildflowers in the plot of land. It costs £10 per m</a:t>
            </a:r>
            <a:r>
              <a:rPr baseline="30000" lang="en-GB" sz="1800"/>
              <a:t>2</a:t>
            </a:r>
            <a:r>
              <a:rPr lang="en-GB" sz="1800"/>
              <a:t>. Without a calculator, how much will it cost the teacher to fill the area with wildflowers?</a:t>
            </a:r>
            <a:endParaRPr/>
          </a:p>
        </p:txBody>
      </p:sp>
      <p:sp>
        <p:nvSpPr>
          <p:cNvPr id="932" name="Google Shape;932;p75"/>
          <p:cNvSpPr txBox="1"/>
          <p:nvPr>
            <p:ph idx="1" type="body"/>
          </p:nvPr>
        </p:nvSpPr>
        <p:spPr>
          <a:xfrm>
            <a:off x="914350" y="1021800"/>
            <a:ext cx="592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33" name="Google Shape;933;p75"/>
          <p:cNvSpPr txBox="1"/>
          <p:nvPr>
            <p:ph idx="1" type="body"/>
          </p:nvPr>
        </p:nvSpPr>
        <p:spPr>
          <a:xfrm>
            <a:off x="2301250" y="1021800"/>
            <a:ext cx="367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34" name="Google Shape;934;p75"/>
          <p:cNvSpPr txBox="1"/>
          <p:nvPr>
            <p:ph idx="1" type="body"/>
          </p:nvPr>
        </p:nvSpPr>
        <p:spPr>
          <a:xfrm>
            <a:off x="1339750" y="1021800"/>
            <a:ext cx="4716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by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6"/>
          <p:cNvSpPr txBox="1"/>
          <p:nvPr>
            <p:ph idx="1" type="body"/>
          </p:nvPr>
        </p:nvSpPr>
        <p:spPr>
          <a:xfrm>
            <a:off x="324000" y="1368900"/>
            <a:ext cx="8281500" cy="1261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The Oak teacher wants to put a fence all the way around the plot. The fence costs £5.45 per m. Without a calculator, how much will it cost to fence around the plot?</a:t>
            </a:r>
            <a:endParaRPr/>
          </a:p>
        </p:txBody>
      </p:sp>
      <p:sp>
        <p:nvSpPr>
          <p:cNvPr id="940" name="Google Shape;940;p76"/>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941" name="Google Shape;941;p76"/>
          <p:cNvSpPr/>
          <p:nvPr/>
        </p:nvSpPr>
        <p:spPr>
          <a:xfrm>
            <a:off x="1113866" y="2411550"/>
            <a:ext cx="2629500" cy="141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Grass plot</a:t>
            </a:r>
            <a:endParaRPr sz="2100">
              <a:latin typeface="Lexend"/>
              <a:ea typeface="Lexend"/>
              <a:cs typeface="Lexend"/>
              <a:sym typeface="Lexend"/>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42" name="Google Shape;942;p76"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2192400" y="3864276"/>
            <a:ext cx="403010" cy="444049"/>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43" name="Google Shape;943;p76"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324000" y="2896720"/>
            <a:ext cx="507600" cy="442800"/>
          </a:xfrm>
          <a:prstGeom prst="rect">
            <a:avLst/>
          </a:prstGeom>
          <a:noFill/>
          <a:ln>
            <a:noFill/>
          </a:ln>
        </p:spPr>
      </p:pic>
      <p:sp>
        <p:nvSpPr>
          <p:cNvPr id="944" name="Google Shape;944;p76"/>
          <p:cNvSpPr txBox="1"/>
          <p:nvPr/>
        </p:nvSpPr>
        <p:spPr>
          <a:xfrm>
            <a:off x="742135" y="2877016"/>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sp>
        <p:nvSpPr>
          <p:cNvPr id="945" name="Google Shape;945;p76"/>
          <p:cNvSpPr txBox="1"/>
          <p:nvPr/>
        </p:nvSpPr>
        <p:spPr>
          <a:xfrm>
            <a:off x="2482924" y="3819942"/>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sp>
        <p:nvSpPr>
          <p:cNvPr id="946" name="Google Shape;946;p76"/>
          <p:cNvSpPr txBox="1"/>
          <p:nvPr/>
        </p:nvSpPr>
        <p:spPr>
          <a:xfrm>
            <a:off x="324000" y="4393950"/>
            <a:ext cx="8414400" cy="461700"/>
          </a:xfrm>
          <a:prstGeom prst="rect">
            <a:avLst/>
          </a:prstGeom>
          <a:noFill/>
          <a:ln>
            <a:noFill/>
          </a:ln>
        </p:spPr>
        <p:txBody>
          <a:bodyPr anchorCtr="0" anchor="t" bIns="91425" lIns="0" spcFirstLastPara="1" rIns="91425" wrap="square" tIns="91425">
            <a:spAutoFit/>
          </a:bodyPr>
          <a:lstStyle/>
          <a:p>
            <a:pPr indent="0" lvl="0" marL="0" rtl="0" algn="l">
              <a:lnSpc>
                <a:spcPct val="130000"/>
              </a:lnSpc>
              <a:spcBef>
                <a:spcPts val="0"/>
              </a:spcBef>
              <a:spcAft>
                <a:spcPts val="1000"/>
              </a:spcAft>
              <a:buNone/>
            </a:pPr>
            <a:r>
              <a:rPr lang="en-GB" sz="1800">
                <a:solidFill>
                  <a:schemeClr val="dk1"/>
                </a:solidFill>
                <a:latin typeface="Kalam"/>
                <a:ea typeface="Kalam"/>
                <a:cs typeface="Kalam"/>
                <a:sym typeface="Kalam"/>
              </a:rPr>
              <a:t>The perimeter is 13 m and each metre will cost £5.45, so we multiply £5.45 by 13</a:t>
            </a:r>
            <a:endParaRPr>
              <a:latin typeface="Kalam"/>
              <a:ea typeface="Kalam"/>
              <a:cs typeface="Kalam"/>
              <a:sym typeface="Kalam"/>
            </a:endParaRPr>
          </a:p>
        </p:txBody>
      </p:sp>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47" name="Google Shape;947;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78438" l="0" r="0" t="0"/>
          <a:stretch/>
        </p:blipFill>
        <p:spPr>
          <a:xfrm>
            <a:off x="4191485" y="2164100"/>
            <a:ext cx="3093674" cy="444050"/>
          </a:xfrm>
          <a:prstGeom prst="rect">
            <a:avLst/>
          </a:prstGeom>
          <a:noFill/>
          <a:ln>
            <a:noFill/>
          </a:ln>
        </p:spPr>
      </p:pic>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48" name="Google Shape;948;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63766" l="-3010" r="3009" t="21235"/>
          <a:stretch/>
        </p:blipFill>
        <p:spPr>
          <a:xfrm>
            <a:off x="4115420" y="2619725"/>
            <a:ext cx="3093674" cy="308875"/>
          </a:xfrm>
          <a:prstGeom prst="rect">
            <a:avLst/>
          </a:prstGeom>
          <a:noFill/>
          <a:ln>
            <a:noFill/>
          </a:ln>
        </p:spPr>
      </p:pic>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49" name="Google Shape;949;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35478" l="-3010" r="3009" t="39858"/>
          <a:stretch/>
        </p:blipFill>
        <p:spPr>
          <a:xfrm>
            <a:off x="4077391" y="3039282"/>
            <a:ext cx="3093674" cy="507900"/>
          </a:xfrm>
          <a:prstGeom prst="rect">
            <a:avLst/>
          </a:prstGeom>
          <a:noFill/>
          <a:ln>
            <a:noFill/>
          </a:ln>
        </p:spPr>
      </p:pic>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50" name="Google Shape;950;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14244" l="-3321" r="25525" t="61093"/>
          <a:stretch/>
        </p:blipFill>
        <p:spPr>
          <a:xfrm>
            <a:off x="4077250" y="3468600"/>
            <a:ext cx="2406825" cy="507900"/>
          </a:xfrm>
          <a:prstGeom prst="rect">
            <a:avLst/>
          </a:prstGeom>
          <a:noFill/>
          <a:ln>
            <a:noFill/>
          </a:ln>
        </p:spPr>
      </p:pic>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51" name="Google Shape;951;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12397" l="76932" r="-1516" t="62940"/>
          <a:stretch/>
        </p:blipFill>
        <p:spPr>
          <a:xfrm>
            <a:off x="6617325" y="3468600"/>
            <a:ext cx="760574" cy="507900"/>
          </a:xfrm>
          <a:prstGeom prst="rect">
            <a:avLst/>
          </a:prstGeom>
          <a:noFill/>
          <a:ln>
            <a:noFill/>
          </a:ln>
        </p:spPr>
      </p:pic>
      <p:pic>
        <p:nvPicPr>
          <p:cNvPr descr="&lt;math xmlns=&quot;http://www.w3.org/1998/Math/MathML&quot; display=&quot;block&quot; data-is-equatio=&quot;1&quot; data-latex=&quot;\begin{array}{l}2\frac{1}{10}+\ 4\frac{2}{5}+2\frac{1}{10}+4\frac{2}{5}=\\&amp;#13;&amp;#10;2+4+2+4=12\\&amp;#13;&amp;#10;\frac{1}{10}+\frac{2}{5}+\frac{1}{10}+\frac{2}{5}=\\&amp;#13;&amp;#10;\frac{1}{10}+\frac{4}{10}+\frac{1}{10}+\frac{4}{10}=\frac{10}{10}=1\\&amp;#13;&amp;#10;12+1\ =\ 13\end{array}&quot;&gt;&lt;mtable columnalign=&quot;left&quot; columnspacing=&quot;1em&quot; rowspacing=&quot;4pt&quot;&gt;&lt;mtr&gt;&lt;mtd&gt;&lt;mn&gt;2&lt;/mn&gt;&lt;mfrac&gt;&lt;mn&gt;1&lt;/mn&gt;&lt;mn&gt;10&lt;/mn&gt;&lt;/mfrac&gt;&lt;mo&gt;+&lt;/mo&gt;&lt;mtext&gt;&lt;/mtext&gt;&lt;mn&gt;4&lt;/mn&gt;&lt;mfrac&gt;&lt;mn&gt;2&lt;/mn&gt;&lt;mn&gt;5&lt;/mn&gt;&lt;/mfrac&gt;&lt;mo&gt;+&lt;/mo&gt;&lt;mn&gt;2&lt;/mn&gt;&lt;mfrac&gt;&lt;mn&gt;1&lt;/mn&gt;&lt;mn&gt;10&lt;/mn&gt;&lt;/mfrac&gt;&lt;mo&gt;+&lt;/mo&gt;&lt;mn&gt;4&lt;/mn&gt;&lt;mfrac&gt;&lt;mn&gt;2&lt;/mn&gt;&lt;mn&gt;5&lt;/mn&gt;&lt;/mfrac&gt;&lt;mo&gt;=&lt;/mo&gt;&lt;/mtd&gt;&lt;/mtr&gt;&lt;mtr&gt;&lt;mtd&gt;&lt;mn&gt;2&lt;/mn&gt;&lt;mo&gt;+&lt;/mo&gt;&lt;mn&gt;4&lt;/mn&gt;&lt;mo&gt;+&lt;/mo&gt;&lt;mn&gt;2&lt;/mn&gt;&lt;mo&gt;+&lt;/mo&gt;&lt;mn&gt;4&lt;/mn&gt;&lt;mo&gt;=&lt;/mo&gt;&lt;mn&gt;12&lt;/mn&gt;&lt;/mtd&gt;&lt;/mtr&gt;&lt;mtr&gt;&lt;mtd&gt;&lt;mfrac&gt;&lt;mn&gt;1&lt;/mn&gt;&lt;mn&gt;10&lt;/mn&gt;&lt;/mfrac&gt;&lt;mo&gt;+&lt;/mo&gt;&lt;mfrac&gt;&lt;mn&gt;2&lt;/mn&gt;&lt;mn&gt;5&lt;/mn&gt;&lt;/mfrac&gt;&lt;mo&gt;+&lt;/mo&gt;&lt;mfrac&gt;&lt;mn&gt;1&lt;/mn&gt;&lt;mn&gt;10&lt;/mn&gt;&lt;/mfrac&gt;&lt;mo&gt;+&lt;/mo&gt;&lt;mfrac&gt;&lt;mn&gt;2&lt;/mn&gt;&lt;mn&gt;5&lt;/mn&gt;&lt;/mfrac&gt;&lt;mo&gt;=&lt;/mo&gt;&lt;/mtd&gt;&lt;/mtr&gt;&lt;mtr&gt;&lt;mtd&gt;&lt;mfrac&gt;&lt;mn&gt;1&lt;/mn&gt;&lt;mn&gt;10&lt;/mn&gt;&lt;/mfrac&gt;&lt;mo&gt;+&lt;/mo&gt;&lt;mfrac&gt;&lt;mn&gt;4&lt;/mn&gt;&lt;mn&gt;10&lt;/mn&gt;&lt;/mfrac&gt;&lt;mo&gt;+&lt;/mo&gt;&lt;mfrac&gt;&lt;mn&gt;1&lt;/mn&gt;&lt;mn&gt;10&lt;/mn&gt;&lt;/mfrac&gt;&lt;mo&gt;+&lt;/mo&gt;&lt;mfrac&gt;&lt;mn&gt;4&lt;/mn&gt;&lt;mn&gt;10&lt;/mn&gt;&lt;/mfrac&gt;&lt;mo&gt;=&lt;/mo&gt;&lt;mfrac&gt;&lt;mn&gt;10&lt;/mn&gt;&lt;mn&gt;10&lt;/mn&gt;&lt;/mfrac&gt;&lt;mo&gt;=&lt;/mo&gt;&lt;mn&gt;1&lt;/mn&gt;&lt;/mtd&gt;&lt;/mtr&gt;&lt;mtr&gt;&lt;mtd&gt;&lt;mn&gt;12&lt;/mn&gt;&lt;mo&gt;+&lt;/mo&gt;&lt;mn&gt;1&lt;/mn&gt;&lt;mtext&gt;&lt;/mtext&gt;&lt;mo&gt;=&lt;/mo&gt;&lt;mtext&gt;&lt;/mtext&gt;&lt;mn&gt;13&lt;/mn&gt;&lt;/mtd&gt;&lt;/mtr&gt;&lt;/mtable&gt;&lt;/math&gt;" id="952" name="Google Shape;952;p76" title="5 lines Line 1: 2 and one tenth plus 4 and two fifths plus 2 and one tenth plus 4 and two fifths equals Line 2: 2 plus 4 plus 2 plus 4 equals 12 Line 3: one tenth plus two fifths plus one tenth plus two fifths equals Line 4: one tenth plus four tenths plus one tenth plus four tenths equals ten tenths equals 1 Line 5: 12 plus 1 equals 13"/>
          <p:cNvPicPr preferRelativeResize="0"/>
          <p:nvPr/>
        </p:nvPicPr>
        <p:blipFill rotWithShape="1">
          <a:blip r:embed="rId4">
            <a:alphaModFix/>
          </a:blip>
          <a:srcRect b="-6069" l="-1781" r="23984" t="86176"/>
          <a:stretch/>
        </p:blipFill>
        <p:spPr>
          <a:xfrm>
            <a:off x="4162963" y="4024037"/>
            <a:ext cx="2187899" cy="372425"/>
          </a:xfrm>
          <a:prstGeom prst="rect">
            <a:avLst/>
          </a:prstGeom>
          <a:noFill/>
          <a:ln>
            <a:noFill/>
          </a:ln>
        </p:spPr>
      </p:pic>
      <p:sp>
        <p:nvSpPr>
          <p:cNvPr id="953" name="Google Shape;953;p76"/>
          <p:cNvSpPr txBox="1"/>
          <p:nvPr>
            <p:ph idx="1" type="body"/>
          </p:nvPr>
        </p:nvSpPr>
        <p:spPr>
          <a:xfrm>
            <a:off x="476400" y="606900"/>
            <a:ext cx="49917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A rectangular grass plot of land has lengths</a:t>
            </a:r>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54" name="Google Shape;954;p76"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475475" y="880275"/>
            <a:ext cx="397982" cy="43851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55" name="Google Shape;955;p76"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1735200" y="880275"/>
            <a:ext cx="537210" cy="438510"/>
          </a:xfrm>
          <a:prstGeom prst="rect">
            <a:avLst/>
          </a:prstGeom>
          <a:noFill/>
          <a:ln>
            <a:noFill/>
          </a:ln>
        </p:spPr>
      </p:pic>
      <p:sp>
        <p:nvSpPr>
          <p:cNvPr id="956" name="Google Shape;956;p76"/>
          <p:cNvSpPr txBox="1"/>
          <p:nvPr>
            <p:ph idx="1" type="body"/>
          </p:nvPr>
        </p:nvSpPr>
        <p:spPr>
          <a:xfrm>
            <a:off x="914350" y="945600"/>
            <a:ext cx="592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57" name="Google Shape;957;p76"/>
          <p:cNvSpPr txBox="1"/>
          <p:nvPr>
            <p:ph idx="1" type="body"/>
          </p:nvPr>
        </p:nvSpPr>
        <p:spPr>
          <a:xfrm>
            <a:off x="2301250" y="945600"/>
            <a:ext cx="367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58" name="Google Shape;958;p76"/>
          <p:cNvSpPr txBox="1"/>
          <p:nvPr>
            <p:ph idx="1" type="body"/>
          </p:nvPr>
        </p:nvSpPr>
        <p:spPr>
          <a:xfrm>
            <a:off x="1339750" y="945600"/>
            <a:ext cx="4716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by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7"/>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964" name="Google Shape;964;p77"/>
          <p:cNvSpPr/>
          <p:nvPr/>
        </p:nvSpPr>
        <p:spPr>
          <a:xfrm>
            <a:off x="1113866" y="2335350"/>
            <a:ext cx="2629500" cy="141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2100">
                <a:latin typeface="Lexend"/>
                <a:ea typeface="Lexend"/>
                <a:cs typeface="Lexend"/>
                <a:sym typeface="Lexend"/>
              </a:rPr>
              <a:t>Grass plot</a:t>
            </a:r>
            <a:endParaRPr sz="2100">
              <a:latin typeface="Lexend"/>
              <a:ea typeface="Lexend"/>
              <a:cs typeface="Lexend"/>
              <a:sym typeface="Lexend"/>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65" name="Google Shape;965;p77"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2192400" y="3788076"/>
            <a:ext cx="403010" cy="444049"/>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66" name="Google Shape;966;p77"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324000" y="2820520"/>
            <a:ext cx="507600" cy="442800"/>
          </a:xfrm>
          <a:prstGeom prst="rect">
            <a:avLst/>
          </a:prstGeom>
          <a:noFill/>
          <a:ln>
            <a:noFill/>
          </a:ln>
        </p:spPr>
      </p:pic>
      <p:sp>
        <p:nvSpPr>
          <p:cNvPr id="967" name="Google Shape;967;p77"/>
          <p:cNvSpPr txBox="1"/>
          <p:nvPr/>
        </p:nvSpPr>
        <p:spPr>
          <a:xfrm>
            <a:off x="742135" y="2800816"/>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sp>
        <p:nvSpPr>
          <p:cNvPr id="968" name="Google Shape;968;p77"/>
          <p:cNvSpPr txBox="1"/>
          <p:nvPr/>
        </p:nvSpPr>
        <p:spPr>
          <a:xfrm>
            <a:off x="2482924" y="3743742"/>
            <a:ext cx="4716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100">
                <a:solidFill>
                  <a:schemeClr val="dk1"/>
                </a:solidFill>
                <a:latin typeface="Lexend"/>
                <a:ea typeface="Lexend"/>
                <a:cs typeface="Lexend"/>
                <a:sym typeface="Lexend"/>
              </a:rPr>
              <a:t>m</a:t>
            </a:r>
            <a:endParaRPr/>
          </a:p>
        </p:txBody>
      </p:sp>
      <p:sp>
        <p:nvSpPr>
          <p:cNvPr id="969" name="Google Shape;969;p77"/>
          <p:cNvSpPr txBox="1"/>
          <p:nvPr/>
        </p:nvSpPr>
        <p:spPr>
          <a:xfrm>
            <a:off x="485775" y="4358700"/>
            <a:ext cx="7848600" cy="461700"/>
          </a:xfrm>
          <a:prstGeom prst="rect">
            <a:avLst/>
          </a:prstGeom>
          <a:noFill/>
          <a:ln>
            <a:noFill/>
          </a:ln>
        </p:spPr>
        <p:txBody>
          <a:bodyPr anchorCtr="0" anchor="t" bIns="91425" lIns="0" spcFirstLastPara="1" rIns="91425" wrap="square" tIns="91425">
            <a:spAutoFit/>
          </a:bodyPr>
          <a:lstStyle/>
          <a:p>
            <a:pPr indent="0" lvl="0" marL="0" rtl="0" algn="l">
              <a:lnSpc>
                <a:spcPct val="130000"/>
              </a:lnSpc>
              <a:spcBef>
                <a:spcPts val="0"/>
              </a:spcBef>
              <a:spcAft>
                <a:spcPts val="1000"/>
              </a:spcAft>
              <a:buNone/>
            </a:pPr>
            <a:r>
              <a:rPr lang="en-GB" sz="1800">
                <a:solidFill>
                  <a:schemeClr val="dk1"/>
                </a:solidFill>
                <a:latin typeface="Kalam"/>
                <a:ea typeface="Kalam"/>
                <a:cs typeface="Kalam"/>
                <a:sym typeface="Kalam"/>
              </a:rPr>
              <a:t>The cost to fence around the plot is £70.85</a:t>
            </a:r>
            <a:endParaRPr>
              <a:latin typeface="Kalam"/>
              <a:ea typeface="Kalam"/>
              <a:cs typeface="Kalam"/>
              <a:sym typeface="Kalam"/>
            </a:endParaRPr>
          </a:p>
        </p:txBody>
      </p:sp>
      <p:pic>
        <p:nvPicPr>
          <p:cNvPr descr="&lt;math xmlns=&quot;http://www.w3.org/1998/Math/MathML&quot; display=&quot;block&quot; data-is-equatio=&quot;1&quot; data-latex=&quot;\begin{array}{l}5.45\ \times13\ =\\&amp;#13;&amp;#10;5.45\ \times10\ +\ 5.45\times2\ +\ 5.45\times1=\\&amp;#13;&amp;#10;54.50\ +\ 10.90\ +\ 5.45\ =\ 70.85\end{array}&quot;&gt;&lt;mtable columnalign=&quot;left&quot; columnspacing=&quot;1em&quot; rowspacing=&quot;4pt&quot;&gt;&lt;mtr&gt;&lt;mtd&gt;&lt;mn&gt;5.45&lt;/mn&gt;&lt;mtext&gt;&lt;/mtext&gt;&lt;mo&gt;×&lt;/mo&gt;&lt;mn&gt;13&lt;/mn&gt;&lt;mtext&gt;&lt;/mtext&gt;&lt;mo&gt;=&lt;/mo&gt;&lt;/mtd&gt;&lt;/mtr&gt;&lt;mtr&gt;&lt;mtd&gt;&lt;mn&gt;5.45&lt;/mn&gt;&lt;mtext&gt;&lt;/mtext&gt;&lt;mo&gt;×&lt;/mo&gt;&lt;mn&gt;10&lt;/mn&gt;&lt;mtext&gt;&lt;/mtext&gt;&lt;mo&gt;+&lt;/mo&gt;&lt;mtext&gt;&lt;/mtext&gt;&lt;mn&gt;5.45&lt;/mn&gt;&lt;mo&gt;×&lt;/mo&gt;&lt;mn&gt;2&lt;/mn&gt;&lt;mtext&gt;&lt;/mtext&gt;&lt;mo&gt;+&lt;/mo&gt;&lt;mtext&gt;&lt;/mtext&gt;&lt;mn&gt;5.45&lt;/mn&gt;&lt;mo&gt;×&lt;/mo&gt;&lt;mn&gt;1&lt;/mn&gt;&lt;mo&gt;=&lt;/mo&gt;&lt;/mtd&gt;&lt;/mtr&gt;&lt;mtr&gt;&lt;mtd&gt;&lt;mn&gt;54.50&lt;/mn&gt;&lt;mtext&gt;&lt;/mtext&gt;&lt;mo&gt;+&lt;/mo&gt;&lt;mtext&gt;&lt;/mtext&gt;&lt;mn&gt;10.90&lt;/mn&gt;&lt;mtext&gt;&lt;/mtext&gt;&lt;mo&gt;+&lt;/mo&gt;&lt;mtext&gt;&lt;/mtext&gt;&lt;mn&gt;5.45&lt;/mn&gt;&lt;mtext&gt;&lt;/mtext&gt;&lt;mo&gt;=&lt;/mo&gt;&lt;mtext&gt;&lt;/mtext&gt;&lt;mn&gt;70.85&lt;/mn&gt;&lt;/mtd&gt;&lt;/mtr&gt;&lt;/mtable&gt;&lt;/math&gt;" id="970" name="Google Shape;970;p77" title="3 lines Line 1: 5.45 times 13 equals Line 2: 5.45 times 10 plus 5.45 times 2 plus 5.45 times 1 equals Line 3: 54.50 plus 10.90 plus 5.45 equals 70.85"/>
          <p:cNvPicPr preferRelativeResize="0"/>
          <p:nvPr/>
        </p:nvPicPr>
        <p:blipFill rotWithShape="1">
          <a:blip r:embed="rId4">
            <a:alphaModFix/>
          </a:blip>
          <a:srcRect b="62033" l="0" r="0" t="0"/>
          <a:stretch/>
        </p:blipFill>
        <p:spPr>
          <a:xfrm>
            <a:off x="4243900" y="2408708"/>
            <a:ext cx="3784974" cy="347987"/>
          </a:xfrm>
          <a:prstGeom prst="rect">
            <a:avLst/>
          </a:prstGeom>
          <a:noFill/>
          <a:ln>
            <a:noFill/>
          </a:ln>
        </p:spPr>
      </p:pic>
      <p:pic>
        <p:nvPicPr>
          <p:cNvPr descr="&lt;math xmlns=&quot;http://www.w3.org/1998/Math/MathML&quot; display=&quot;block&quot; data-is-equatio=&quot;1&quot; data-latex=&quot;\begin{array}{l}5.45\ \times13\ =\\&amp;#13;&amp;#10;5.45\ \times10\ +\ 5.45\times2\ +\ 5.45\times1=\\&amp;#13;&amp;#10;54.50\ +\ 10.90\ +\ 5.45\ =\ 70.85\end{array}&quot;&gt;&lt;mtable columnalign=&quot;left&quot; columnspacing=&quot;1em&quot; rowspacing=&quot;4pt&quot;&gt;&lt;mtr&gt;&lt;mtd&gt;&lt;mn&gt;5.45&lt;/mn&gt;&lt;mtext&gt;&lt;/mtext&gt;&lt;mo&gt;×&lt;/mo&gt;&lt;mn&gt;13&lt;/mn&gt;&lt;mtext&gt;&lt;/mtext&gt;&lt;mo&gt;=&lt;/mo&gt;&lt;/mtd&gt;&lt;/mtr&gt;&lt;mtr&gt;&lt;mtd&gt;&lt;mn&gt;5.45&lt;/mn&gt;&lt;mtext&gt;&lt;/mtext&gt;&lt;mo&gt;×&lt;/mo&gt;&lt;mn&gt;10&lt;/mn&gt;&lt;mtext&gt;&lt;/mtext&gt;&lt;mo&gt;+&lt;/mo&gt;&lt;mtext&gt;&lt;/mtext&gt;&lt;mn&gt;5.45&lt;/mn&gt;&lt;mo&gt;×&lt;/mo&gt;&lt;mn&gt;2&lt;/mn&gt;&lt;mtext&gt;&lt;/mtext&gt;&lt;mo&gt;+&lt;/mo&gt;&lt;mtext&gt;&lt;/mtext&gt;&lt;mn&gt;5.45&lt;/mn&gt;&lt;mo&gt;×&lt;/mo&gt;&lt;mn&gt;1&lt;/mn&gt;&lt;mo&gt;=&lt;/mo&gt;&lt;/mtd&gt;&lt;/mtr&gt;&lt;mtr&gt;&lt;mtd&gt;&lt;mn&gt;54.50&lt;/mn&gt;&lt;mtext&gt;&lt;/mtext&gt;&lt;mo&gt;+&lt;/mo&gt;&lt;mtext&gt;&lt;/mtext&gt;&lt;mn&gt;10.90&lt;/mn&gt;&lt;mtext&gt;&lt;/mtext&gt;&lt;mo&gt;+&lt;/mo&gt;&lt;mtext&gt;&lt;/mtext&gt;&lt;mn&gt;5.45&lt;/mn&gt;&lt;mtext&gt;&lt;/mtext&gt;&lt;mo&gt;=&lt;/mo&gt;&lt;mtext&gt;&lt;/mtext&gt;&lt;mn&gt;70.85&lt;/mn&gt;&lt;/mtd&gt;&lt;/mtr&gt;&lt;/mtable&gt;&lt;/math&gt;" id="971" name="Google Shape;971;p77" title="3 lines Line 1: 5.45 times 13 equals Line 2: 5.45 times 10 plus 5.45 times 2 plus 5.45 times 1 equals Line 3: 54.50 plus 10.90 plus 5.45 equals 70.85"/>
          <p:cNvPicPr preferRelativeResize="0"/>
          <p:nvPr/>
        </p:nvPicPr>
        <p:blipFill rotWithShape="1">
          <a:blip r:embed="rId4">
            <a:alphaModFix/>
          </a:blip>
          <a:srcRect b="33066" l="0" r="0" t="28965"/>
          <a:stretch/>
        </p:blipFill>
        <p:spPr>
          <a:xfrm>
            <a:off x="4243900" y="2754597"/>
            <a:ext cx="3784974" cy="348000"/>
          </a:xfrm>
          <a:prstGeom prst="rect">
            <a:avLst/>
          </a:prstGeom>
          <a:noFill/>
          <a:ln>
            <a:noFill/>
          </a:ln>
        </p:spPr>
      </p:pic>
      <p:pic>
        <p:nvPicPr>
          <p:cNvPr descr="&lt;math xmlns=&quot;http://www.w3.org/1998/Math/MathML&quot; display=&quot;block&quot; data-is-equatio=&quot;1&quot; data-latex=&quot;\begin{array}{l}5.45\ \times13\ =\\&amp;#13;&amp;#10;5.45\ \times10\ +\ 5.45\times2\ +\ 5.45\times1=\\&amp;#13;&amp;#10;54.50\ +\ 10.90\ +\ 5.45\ =\ 70.85\end{array}&quot;&gt;&lt;mtable columnalign=&quot;left&quot; columnspacing=&quot;1em&quot; rowspacing=&quot;4pt&quot;&gt;&lt;mtr&gt;&lt;mtd&gt;&lt;mn&gt;5.45&lt;/mn&gt;&lt;mtext&gt;&lt;/mtext&gt;&lt;mo&gt;×&lt;/mo&gt;&lt;mn&gt;13&lt;/mn&gt;&lt;mtext&gt;&lt;/mtext&gt;&lt;mo&gt;=&lt;/mo&gt;&lt;/mtd&gt;&lt;/mtr&gt;&lt;mtr&gt;&lt;mtd&gt;&lt;mn&gt;5.45&lt;/mn&gt;&lt;mtext&gt;&lt;/mtext&gt;&lt;mo&gt;×&lt;/mo&gt;&lt;mn&gt;10&lt;/mn&gt;&lt;mtext&gt;&lt;/mtext&gt;&lt;mo&gt;+&lt;/mo&gt;&lt;mtext&gt;&lt;/mtext&gt;&lt;mn&gt;5.45&lt;/mn&gt;&lt;mo&gt;×&lt;/mo&gt;&lt;mn&gt;2&lt;/mn&gt;&lt;mtext&gt;&lt;/mtext&gt;&lt;mo&gt;+&lt;/mo&gt;&lt;mtext&gt;&lt;/mtext&gt;&lt;mn&gt;5.45&lt;/mn&gt;&lt;mo&gt;×&lt;/mo&gt;&lt;mn&gt;1&lt;/mn&gt;&lt;mo&gt;=&lt;/mo&gt;&lt;/mtd&gt;&lt;/mtr&gt;&lt;mtr&gt;&lt;mtd&gt;&lt;mn&gt;54.50&lt;/mn&gt;&lt;mtext&gt;&lt;/mtext&gt;&lt;mo&gt;+&lt;/mo&gt;&lt;mtext&gt;&lt;/mtext&gt;&lt;mn&gt;10.90&lt;/mn&gt;&lt;mtext&gt;&lt;/mtext&gt;&lt;mo&gt;+&lt;/mo&gt;&lt;mtext&gt;&lt;/mtext&gt;&lt;mn&gt;5.45&lt;/mn&gt;&lt;mtext&gt;&lt;/mtext&gt;&lt;mo&gt;=&lt;/mo&gt;&lt;mtext&gt;&lt;/mtext&gt;&lt;mn&gt;70.85&lt;/mn&gt;&lt;/mtd&gt;&lt;/mtr&gt;&lt;/mtable&gt;&lt;/math&gt;" id="972" name="Google Shape;972;p77" title="3 lines Line 1: 5.45 times 13 equals Line 2: 5.45 times 10 plus 5.45 times 2 plus 5.45 times 1 equals Line 3: 54.50 plus 10.90 plus 5.45 equals 70.85"/>
          <p:cNvPicPr preferRelativeResize="0"/>
          <p:nvPr/>
        </p:nvPicPr>
        <p:blipFill rotWithShape="1">
          <a:blip r:embed="rId4">
            <a:alphaModFix/>
          </a:blip>
          <a:srcRect b="-5311" l="-1853" r="0" t="67343"/>
          <a:stretch/>
        </p:blipFill>
        <p:spPr>
          <a:xfrm>
            <a:off x="4173775" y="3264575"/>
            <a:ext cx="3855099" cy="348000"/>
          </a:xfrm>
          <a:prstGeom prst="rect">
            <a:avLst/>
          </a:prstGeom>
          <a:noFill/>
          <a:ln>
            <a:noFill/>
          </a:ln>
        </p:spPr>
      </p:pic>
      <p:sp>
        <p:nvSpPr>
          <p:cNvPr id="973" name="Google Shape;973;p77"/>
          <p:cNvSpPr txBox="1"/>
          <p:nvPr>
            <p:ph idx="1" type="body"/>
          </p:nvPr>
        </p:nvSpPr>
        <p:spPr>
          <a:xfrm>
            <a:off x="324000" y="1368900"/>
            <a:ext cx="8281500" cy="1261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The Oak teacher wants to put a fence all the way around the plot. The fence costs £5.45 per m. Without a calculator, how much will it cost to fence around the plot?</a:t>
            </a:r>
            <a:endParaRPr/>
          </a:p>
        </p:txBody>
      </p:sp>
      <p:sp>
        <p:nvSpPr>
          <p:cNvPr id="974" name="Google Shape;974;p77"/>
          <p:cNvSpPr txBox="1"/>
          <p:nvPr>
            <p:ph idx="1" type="body"/>
          </p:nvPr>
        </p:nvSpPr>
        <p:spPr>
          <a:xfrm>
            <a:off x="476400" y="606900"/>
            <a:ext cx="49917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A rectangular grass plot of land has lengths</a:t>
            </a:r>
            <a:endParaRPr/>
          </a:p>
        </p:txBody>
      </p:sp>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75" name="Google Shape;975;p77"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0" r="81350" t="0"/>
          <a:stretch/>
        </p:blipFill>
        <p:spPr>
          <a:xfrm>
            <a:off x="475475" y="880275"/>
            <a:ext cx="397982" cy="438510"/>
          </a:xfrm>
          <a:prstGeom prst="rect">
            <a:avLst/>
          </a:prstGeom>
          <a:noFill/>
          <a:ln>
            <a:noFill/>
          </a:ln>
        </p:spPr>
      </p:pic>
      <p:pic>
        <p:nvPicPr>
          <p:cNvPr descr="&lt;math xmlns=&quot;http://www.w3.org/1998/Math/MathML&quot; display=&quot;block&quot; data-is-equatio=&quot;1&quot; data-latex=&quot;\begin{array}{l}4\frac{2}{5}\times2\frac{1}{10}\\&amp;#13;&amp;#10;\frac{22}{5}\times\frac{21}{10}=\\&amp;#13;&amp;#10;\frac{462}{50}=\frac{231}{25}=9\frac{2}{25}\end{array}&quot;&gt;&lt;mtable columnalign=&quot;left&quot; columnspacing=&quot;1em&quot; rowspacing=&quot;4pt&quot;&gt;&lt;mtr&gt;&lt;mtd&gt;&lt;mn&gt;4&lt;/mn&gt;&lt;mfrac&gt;&lt;mn&gt;2&lt;/mn&gt;&lt;mn&gt;5&lt;/mn&gt;&lt;/mfrac&gt;&lt;mo&gt;×&lt;/mo&gt;&lt;mn&gt;2&lt;/mn&gt;&lt;mfrac&gt;&lt;mn&gt;1&lt;/mn&gt;&lt;mn&gt;10&lt;/mn&gt;&lt;/mfrac&gt;&lt;/mtd&gt;&lt;/mtr&gt;&lt;mtr&gt;&lt;mtd&gt;&lt;mfrac&gt;&lt;mn&gt;22&lt;/mn&gt;&lt;mn&gt;5&lt;/mn&gt;&lt;/mfrac&gt;&lt;mo&gt;×&lt;/mo&gt;&lt;mfrac&gt;&lt;mn&gt;21&lt;/mn&gt;&lt;mn&gt;10&lt;/mn&gt;&lt;/mfrac&gt;&lt;mo&gt;=&lt;/mo&gt;&lt;/mtd&gt;&lt;/mtr&gt;&lt;mtr&gt;&lt;mtd&gt;&lt;mfrac&gt;&lt;mn&gt;462&lt;/mn&gt;&lt;mn&gt;50&lt;/mn&gt;&lt;/mfrac&gt;&lt;mo&gt;=&lt;/mo&gt;&lt;mfrac&gt;&lt;mn&gt;231&lt;/mn&gt;&lt;mn&gt;25&lt;/mn&gt;&lt;/mfrac&gt;&lt;mo&gt;=&lt;/mo&gt;&lt;mn&gt;9&lt;/mn&gt;&lt;mfrac&gt;&lt;mn&gt;2&lt;/mn&gt;&lt;mn&gt;25&lt;/mn&gt;&lt;/mfrac&gt;&lt;/mtd&gt;&lt;/mtr&gt;&lt;/mtable&gt;&lt;/math&gt;" id="976" name="Google Shape;976;p77" title="3 lines Line 1: 4 and two fifths times 2 and one tenth Line 2: 22 over 5 times 21 over 10 equals Line 3: 462 over 50 equals 231 over 25 equals 9 and 2 over 25"/>
          <p:cNvPicPr preferRelativeResize="0"/>
          <p:nvPr/>
        </p:nvPicPr>
        <p:blipFill rotWithShape="1">
          <a:blip r:embed="rId3">
            <a:alphaModFix/>
          </a:blip>
          <a:srcRect b="71689" l="32397" r="42429" t="0"/>
          <a:stretch/>
        </p:blipFill>
        <p:spPr>
          <a:xfrm>
            <a:off x="1735200" y="880275"/>
            <a:ext cx="537210" cy="438510"/>
          </a:xfrm>
          <a:prstGeom prst="rect">
            <a:avLst/>
          </a:prstGeom>
          <a:noFill/>
          <a:ln>
            <a:noFill/>
          </a:ln>
        </p:spPr>
      </p:pic>
      <p:sp>
        <p:nvSpPr>
          <p:cNvPr id="977" name="Google Shape;977;p77"/>
          <p:cNvSpPr txBox="1"/>
          <p:nvPr>
            <p:ph idx="1" type="body"/>
          </p:nvPr>
        </p:nvSpPr>
        <p:spPr>
          <a:xfrm>
            <a:off x="914350" y="945600"/>
            <a:ext cx="592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78" name="Google Shape;978;p77"/>
          <p:cNvSpPr txBox="1"/>
          <p:nvPr>
            <p:ph idx="1" type="body"/>
          </p:nvPr>
        </p:nvSpPr>
        <p:spPr>
          <a:xfrm>
            <a:off x="2301250" y="945600"/>
            <a:ext cx="3672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m.</a:t>
            </a:r>
            <a:endParaRPr/>
          </a:p>
        </p:txBody>
      </p:sp>
      <p:sp>
        <p:nvSpPr>
          <p:cNvPr id="979" name="Google Shape;979;p77"/>
          <p:cNvSpPr txBox="1"/>
          <p:nvPr>
            <p:ph idx="1" type="body"/>
          </p:nvPr>
        </p:nvSpPr>
        <p:spPr>
          <a:xfrm>
            <a:off x="1339750" y="945600"/>
            <a:ext cx="471600" cy="41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t>by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78"/>
          <p:cNvSpPr txBox="1"/>
          <p:nvPr>
            <p:ph idx="1" type="body"/>
          </p:nvPr>
        </p:nvSpPr>
        <p:spPr>
          <a:xfrm>
            <a:off x="324000" y="1546350"/>
            <a:ext cx="51516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 A rectangular flower bed has a  </a:t>
            </a:r>
            <a:endParaRPr sz="1800"/>
          </a:p>
        </p:txBody>
      </p:sp>
      <p:sp>
        <p:nvSpPr>
          <p:cNvPr id="985" name="Google Shape;985;p7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Solving problems involving fractions</a:t>
            </a:r>
            <a:endParaRPr/>
          </a:p>
          <a:p>
            <a:pPr indent="0" lvl="0" marL="0" rtl="0" algn="l">
              <a:spcBef>
                <a:spcPts val="1000"/>
              </a:spcBef>
              <a:spcAft>
                <a:spcPts val="1000"/>
              </a:spcAft>
              <a:buNone/>
            </a:pPr>
            <a:r>
              <a:t/>
            </a:r>
            <a:endParaRPr/>
          </a:p>
        </p:txBody>
      </p:sp>
      <p:grpSp>
        <p:nvGrpSpPr>
          <p:cNvPr id="986" name="Google Shape;986;p78"/>
          <p:cNvGrpSpPr/>
          <p:nvPr/>
        </p:nvGrpSpPr>
        <p:grpSpPr>
          <a:xfrm>
            <a:off x="6042199" y="1611613"/>
            <a:ext cx="2449101" cy="1183475"/>
            <a:chOff x="5570074" y="753300"/>
            <a:chExt cx="2449101" cy="1183475"/>
          </a:xfrm>
        </p:grpSpPr>
        <p:sp>
          <p:nvSpPr>
            <p:cNvPr id="987" name="Google Shape;987;p78"/>
            <p:cNvSpPr/>
            <p:nvPr/>
          </p:nvSpPr>
          <p:spPr>
            <a:xfrm>
              <a:off x="6359275" y="753300"/>
              <a:ext cx="1659900" cy="65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Flower bed</a:t>
              </a:r>
              <a:endParaRPr sz="1900">
                <a:latin typeface="Lexend"/>
                <a:ea typeface="Lexend"/>
                <a:cs typeface="Lexend"/>
                <a:sym typeface="Lexend"/>
              </a:endParaRPr>
            </a:p>
          </p:txBody>
        </p:sp>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988" name="Google Shape;988;p78" title="3 and two thirds 2 and three fifths"/>
            <p:cNvPicPr preferRelativeResize="0"/>
            <p:nvPr/>
          </p:nvPicPr>
          <p:blipFill rotWithShape="1">
            <a:blip r:embed="rId3">
              <a:alphaModFix/>
            </a:blip>
            <a:srcRect b="0" l="0" r="51526" t="0"/>
            <a:stretch/>
          </p:blipFill>
          <p:spPr>
            <a:xfrm>
              <a:off x="7089401" y="1476025"/>
              <a:ext cx="382175" cy="460750"/>
            </a:xfrm>
            <a:prstGeom prst="rect">
              <a:avLst/>
            </a:prstGeom>
            <a:noFill/>
            <a:ln>
              <a:noFill/>
            </a:ln>
          </p:spPr>
        </p:pic>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989" name="Google Shape;989;p78" title="3 and two thirds 2 and three fifths"/>
            <p:cNvPicPr preferRelativeResize="0"/>
            <p:nvPr/>
          </p:nvPicPr>
          <p:blipFill rotWithShape="1">
            <a:blip r:embed="rId3">
              <a:alphaModFix/>
            </a:blip>
            <a:srcRect b="0" l="52055" r="-7527" t="0"/>
            <a:stretch/>
          </p:blipFill>
          <p:spPr>
            <a:xfrm>
              <a:off x="5570074" y="928825"/>
              <a:ext cx="437350" cy="460750"/>
            </a:xfrm>
            <a:prstGeom prst="rect">
              <a:avLst/>
            </a:prstGeom>
            <a:noFill/>
            <a:ln>
              <a:noFill/>
            </a:ln>
          </p:spPr>
        </p:pic>
        <p:sp>
          <p:nvSpPr>
            <p:cNvPr id="990" name="Google Shape;990;p78"/>
            <p:cNvSpPr txBox="1"/>
            <p:nvPr/>
          </p:nvSpPr>
          <p:spPr>
            <a:xfrm>
              <a:off x="5897275" y="9207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sp>
          <p:nvSpPr>
            <p:cNvPr id="991" name="Google Shape;991;p78"/>
            <p:cNvSpPr txBox="1"/>
            <p:nvPr/>
          </p:nvSpPr>
          <p:spPr>
            <a:xfrm>
              <a:off x="7345075" y="14541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grpSp>
      <p:sp>
        <p:nvSpPr>
          <p:cNvPr id="992" name="Google Shape;992;p78"/>
          <p:cNvSpPr txBox="1"/>
          <p:nvPr/>
        </p:nvSpPr>
        <p:spPr>
          <a:xfrm>
            <a:off x="324000" y="689850"/>
            <a:ext cx="8237700" cy="780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For the following questions, do not use a calculator and show all your working out.</a:t>
            </a:r>
            <a:endParaRPr/>
          </a:p>
        </p:txBody>
      </p:sp>
      <p:sp>
        <p:nvSpPr>
          <p:cNvPr id="993" name="Google Shape;993;p78"/>
          <p:cNvSpPr txBox="1"/>
          <p:nvPr/>
        </p:nvSpPr>
        <p:spPr>
          <a:xfrm>
            <a:off x="324000" y="3655500"/>
            <a:ext cx="7567800" cy="10989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 Jacob also needs to put a metal edging around the plot. The edging is sold in </a:t>
            </a:r>
            <a:r>
              <a:rPr lang="en-GB" sz="1800">
                <a:solidFill>
                  <a:schemeClr val="dk1"/>
                </a:solidFill>
                <a:latin typeface="Lexend"/>
                <a:ea typeface="Lexend"/>
                <a:cs typeface="Lexend"/>
                <a:sym typeface="Lexend"/>
              </a:rPr>
              <a:t>metres </a:t>
            </a:r>
            <a:r>
              <a:rPr lang="en-GB" sz="1800">
                <a:solidFill>
                  <a:schemeClr val="dk1"/>
                </a:solidFill>
                <a:latin typeface="Lexend"/>
                <a:ea typeface="Lexend"/>
                <a:cs typeface="Lexend"/>
                <a:sym typeface="Lexend"/>
              </a:rPr>
              <a:t>for £3.42 per metre. How much will it cost Jacob to put the edging around the flower bed?</a:t>
            </a:r>
            <a:endParaRPr/>
          </a:p>
        </p:txBody>
      </p:sp>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994" name="Google Shape;994;p78" title="3 and two thirds 2 and three fifths"/>
          <p:cNvPicPr preferRelativeResize="0"/>
          <p:nvPr/>
        </p:nvPicPr>
        <p:blipFill rotWithShape="1">
          <a:blip r:embed="rId3">
            <a:alphaModFix/>
          </a:blip>
          <a:srcRect b="0" l="0" r="61453" t="0"/>
          <a:stretch/>
        </p:blipFill>
        <p:spPr>
          <a:xfrm>
            <a:off x="1119750" y="1873775"/>
            <a:ext cx="291600" cy="444350"/>
          </a:xfrm>
          <a:prstGeom prst="rect">
            <a:avLst/>
          </a:prstGeom>
          <a:noFill/>
          <a:ln>
            <a:noFill/>
          </a:ln>
        </p:spPr>
      </p:pic>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995" name="Google Shape;995;p78" title="3 and two thirds 2 and three fifths"/>
          <p:cNvPicPr preferRelativeResize="0"/>
          <p:nvPr/>
        </p:nvPicPr>
        <p:blipFill rotWithShape="1">
          <a:blip r:embed="rId3">
            <a:alphaModFix/>
          </a:blip>
          <a:srcRect b="0" l="58517" r="-27288" t="0"/>
          <a:stretch/>
        </p:blipFill>
        <p:spPr>
          <a:xfrm>
            <a:off x="2941800" y="1908000"/>
            <a:ext cx="464400" cy="388800"/>
          </a:xfrm>
          <a:prstGeom prst="rect">
            <a:avLst/>
          </a:prstGeom>
          <a:noFill/>
          <a:ln>
            <a:noFill/>
          </a:ln>
        </p:spPr>
      </p:pic>
      <p:sp>
        <p:nvSpPr>
          <p:cNvPr id="996" name="Google Shape;996;p78"/>
          <p:cNvSpPr txBox="1"/>
          <p:nvPr>
            <p:ph idx="1" type="body"/>
          </p:nvPr>
        </p:nvSpPr>
        <p:spPr>
          <a:xfrm>
            <a:off x="1771800" y="1927350"/>
            <a:ext cx="12327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r>
              <a:rPr lang="en-GB" sz="1800"/>
              <a:t>nd width</a:t>
            </a:r>
            <a:endParaRPr sz="1800"/>
          </a:p>
        </p:txBody>
      </p:sp>
      <p:sp>
        <p:nvSpPr>
          <p:cNvPr id="997" name="Google Shape;997;p78"/>
          <p:cNvSpPr txBox="1"/>
          <p:nvPr>
            <p:ph idx="1" type="body"/>
          </p:nvPr>
        </p:nvSpPr>
        <p:spPr>
          <a:xfrm>
            <a:off x="324000" y="2384550"/>
            <a:ext cx="5151600" cy="109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Jacob wants to plant flowers </a:t>
            </a:r>
            <a:r>
              <a:rPr lang="en-GB" sz="1800"/>
              <a:t>in the plot, but needs to buy the compost. The compost bags each cover 1 m</a:t>
            </a:r>
            <a:r>
              <a:rPr baseline="30000" lang="en-GB" sz="1800"/>
              <a:t>2</a:t>
            </a:r>
            <a:r>
              <a:rPr lang="en-GB" sz="1800"/>
              <a:t> and cost £5.70 per bag. How much will it cost Jacob?</a:t>
            </a:r>
            <a:endParaRPr sz="1800"/>
          </a:p>
          <a:p>
            <a:pPr indent="0" lvl="0" marL="0" rtl="0" algn="l">
              <a:spcBef>
                <a:spcPts val="1000"/>
              </a:spcBef>
              <a:spcAft>
                <a:spcPts val="1000"/>
              </a:spcAft>
              <a:buNone/>
            </a:pPr>
            <a:r>
              <a:t/>
            </a:r>
            <a:endParaRPr sz="1800"/>
          </a:p>
        </p:txBody>
      </p:sp>
      <p:sp>
        <p:nvSpPr>
          <p:cNvPr id="998" name="Google Shape;998;p78"/>
          <p:cNvSpPr txBox="1"/>
          <p:nvPr>
            <p:ph idx="1" type="body"/>
          </p:nvPr>
        </p:nvSpPr>
        <p:spPr>
          <a:xfrm>
            <a:off x="363050" y="1927350"/>
            <a:ext cx="7788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length</a:t>
            </a:r>
            <a:endParaRPr sz="1800"/>
          </a:p>
        </p:txBody>
      </p:sp>
      <p:sp>
        <p:nvSpPr>
          <p:cNvPr id="999" name="Google Shape;999;p78"/>
          <p:cNvSpPr txBox="1"/>
          <p:nvPr>
            <p:ph idx="1" type="body"/>
          </p:nvPr>
        </p:nvSpPr>
        <p:spPr>
          <a:xfrm>
            <a:off x="1440100" y="1927350"/>
            <a:ext cx="2448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a:t>
            </a:r>
            <a:endParaRPr sz="1800"/>
          </a:p>
        </p:txBody>
      </p:sp>
      <p:sp>
        <p:nvSpPr>
          <p:cNvPr id="1000" name="Google Shape;1000;p78"/>
          <p:cNvSpPr txBox="1"/>
          <p:nvPr>
            <p:ph idx="1" type="body"/>
          </p:nvPr>
        </p:nvSpPr>
        <p:spPr>
          <a:xfrm>
            <a:off x="3289425" y="1927350"/>
            <a:ext cx="2916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79"/>
          <p:cNvSpPr txBox="1"/>
          <p:nvPr>
            <p:ph idx="1" type="body"/>
          </p:nvPr>
        </p:nvSpPr>
        <p:spPr>
          <a:xfrm>
            <a:off x="2671200" y="1417050"/>
            <a:ext cx="6137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a:t>
            </a:r>
            <a:endParaRPr/>
          </a:p>
        </p:txBody>
      </p:sp>
      <p:sp>
        <p:nvSpPr>
          <p:cNvPr id="1006" name="Google Shape;1006;p7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Solving problems involving fractions</a:t>
            </a:r>
            <a:endParaRPr/>
          </a:p>
        </p:txBody>
      </p:sp>
      <p:sp>
        <p:nvSpPr>
          <p:cNvPr id="1007" name="Google Shape;1007;p79"/>
          <p:cNvSpPr txBox="1"/>
          <p:nvPr/>
        </p:nvSpPr>
        <p:spPr>
          <a:xfrm>
            <a:off x="324000" y="613650"/>
            <a:ext cx="8343000" cy="780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For the following question, do not use a calculator and show all your working out.</a:t>
            </a:r>
            <a:endParaRPr/>
          </a:p>
        </p:txBody>
      </p:sp>
      <p:sp>
        <p:nvSpPr>
          <p:cNvPr id="1008" name="Google Shape;1008;p79"/>
          <p:cNvSpPr txBox="1"/>
          <p:nvPr/>
        </p:nvSpPr>
        <p:spPr>
          <a:xfrm>
            <a:off x="2666850" y="2931600"/>
            <a:ext cx="6519900" cy="1236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  </a:t>
            </a:r>
            <a:r>
              <a:rPr lang="en-GB" sz="1800">
                <a:solidFill>
                  <a:schemeClr val="dk1"/>
                </a:solidFill>
                <a:latin typeface="Lexend"/>
                <a:ea typeface="Lexend"/>
                <a:cs typeface="Lexend"/>
                <a:sym typeface="Lexend"/>
              </a:rPr>
              <a:t>How much water does each teacher have to share?</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How much water do the students in each group get if:</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b)  </a:t>
            </a:r>
            <a:r>
              <a:rPr lang="en-GB" sz="1800">
                <a:solidFill>
                  <a:schemeClr val="dk1"/>
                </a:solidFill>
                <a:latin typeface="Lexend"/>
                <a:ea typeface="Lexend"/>
                <a:cs typeface="Lexend"/>
                <a:sym typeface="Lexend"/>
              </a:rPr>
              <a:t>There are three students in Teacher A’s group?</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There are six students in Teacher B’s group?</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d)  There are five students in Teacher C’s group?</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sp>
        <p:nvSpPr>
          <p:cNvPr id="1009" name="Google Shape;1009;p79"/>
          <p:cNvSpPr txBox="1"/>
          <p:nvPr/>
        </p:nvSpPr>
        <p:spPr>
          <a:xfrm>
            <a:off x="746065" y="2001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A</a:t>
            </a:r>
            <a:endParaRPr sz="1800">
              <a:solidFill>
                <a:schemeClr val="dk1"/>
              </a:solidFill>
              <a:latin typeface="Lexend"/>
              <a:ea typeface="Lexend"/>
              <a:cs typeface="Lexend"/>
              <a:sym typeface="Lexend"/>
            </a:endParaRPr>
          </a:p>
        </p:txBody>
      </p:sp>
      <p:sp>
        <p:nvSpPr>
          <p:cNvPr id="1010" name="Google Shape;1010;p79"/>
          <p:cNvSpPr txBox="1"/>
          <p:nvPr/>
        </p:nvSpPr>
        <p:spPr>
          <a:xfrm>
            <a:off x="763200" y="31788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B</a:t>
            </a:r>
            <a:endParaRPr sz="1800">
              <a:solidFill>
                <a:schemeClr val="dk1"/>
              </a:solidFill>
              <a:latin typeface="Lexend"/>
              <a:ea typeface="Lexend"/>
              <a:cs typeface="Lexend"/>
              <a:sym typeface="Lexend"/>
            </a:endParaRPr>
          </a:p>
        </p:txBody>
      </p:sp>
      <p:sp>
        <p:nvSpPr>
          <p:cNvPr id="1011" name="Google Shape;1011;p79"/>
          <p:cNvSpPr txBox="1"/>
          <p:nvPr/>
        </p:nvSpPr>
        <p:spPr>
          <a:xfrm>
            <a:off x="746065" y="43308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C</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frac{3}{4}&quot;&gt;&lt;mfrac&gt;&lt;mn&gt;3&lt;/mn&gt;&lt;mn&gt;4&lt;/mn&gt;&lt;/mfrac&gt;&lt;/math&gt;" id="1012" name="Google Shape;1012;p79" title="three fourths"/>
          <p:cNvPicPr preferRelativeResize="0"/>
          <p:nvPr/>
        </p:nvPicPr>
        <p:blipFill>
          <a:blip r:embed="rId3">
            <a:alphaModFix/>
          </a:blip>
          <a:stretch>
            <a:fillRect/>
          </a:stretch>
        </p:blipFill>
        <p:spPr>
          <a:xfrm>
            <a:off x="4903200" y="1261150"/>
            <a:ext cx="164122" cy="522900"/>
          </a:xfrm>
          <a:prstGeom prst="rect">
            <a:avLst/>
          </a:prstGeom>
          <a:noFill/>
          <a:ln>
            <a:noFill/>
          </a:ln>
        </p:spPr>
      </p:pic>
      <p:sp>
        <p:nvSpPr>
          <p:cNvPr id="1013" name="Google Shape;1013;p79"/>
          <p:cNvSpPr txBox="1"/>
          <p:nvPr>
            <p:ph idx="1" type="body"/>
          </p:nvPr>
        </p:nvSpPr>
        <p:spPr>
          <a:xfrm>
            <a:off x="2671200" y="1721850"/>
            <a:ext cx="6137700" cy="137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three teachers have a different number of water bottles to give to the students in their groups. Each student gets an equal share.</a:t>
            </a:r>
            <a:endParaRPr sz="1800"/>
          </a:p>
          <a:p>
            <a:pPr indent="0" lvl="0" marL="0" rtl="0" algn="l">
              <a:spcBef>
                <a:spcPts val="1000"/>
              </a:spcBef>
              <a:spcAft>
                <a:spcPts val="1000"/>
              </a:spcAft>
              <a:buNone/>
            </a:pPr>
            <a:r>
              <a:t/>
            </a:r>
            <a:endParaRPr/>
          </a:p>
        </p:txBody>
      </p:sp>
      <p:sp>
        <p:nvSpPr>
          <p:cNvPr id="1014" name="Google Shape;1014;p79"/>
          <p:cNvSpPr txBox="1"/>
          <p:nvPr>
            <p:ph idx="1" type="body"/>
          </p:nvPr>
        </p:nvSpPr>
        <p:spPr>
          <a:xfrm>
            <a:off x="3185375" y="1417050"/>
            <a:ext cx="57759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bottle</a:t>
            </a:r>
            <a:endParaRPr/>
          </a:p>
        </p:txBody>
      </p:sp>
      <p:sp>
        <p:nvSpPr>
          <p:cNvPr id="1015" name="Google Shape;1015;p79"/>
          <p:cNvSpPr txBox="1"/>
          <p:nvPr>
            <p:ph idx="1" type="body"/>
          </p:nvPr>
        </p:nvSpPr>
        <p:spPr>
          <a:xfrm>
            <a:off x="3888775" y="1417050"/>
            <a:ext cx="52248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contains</a:t>
            </a:r>
            <a:endParaRPr/>
          </a:p>
        </p:txBody>
      </p:sp>
      <p:sp>
        <p:nvSpPr>
          <p:cNvPr id="1016" name="Google Shape;1016;p79"/>
          <p:cNvSpPr txBox="1"/>
          <p:nvPr>
            <p:ph idx="1" type="body"/>
          </p:nvPr>
        </p:nvSpPr>
        <p:spPr>
          <a:xfrm>
            <a:off x="5156325" y="1417050"/>
            <a:ext cx="4109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litre of water. On a school trip,</a:t>
            </a:r>
            <a:endParaRPr/>
          </a:p>
        </p:txBody>
      </p:sp>
      <p:pic>
        <p:nvPicPr>
          <p:cNvPr id="1017" name="Google Shape;1017;p79"/>
          <p:cNvPicPr preferRelativeResize="0"/>
          <p:nvPr/>
        </p:nvPicPr>
        <p:blipFill>
          <a:blip r:embed="rId4">
            <a:alphaModFix/>
          </a:blip>
          <a:stretch>
            <a:fillRect/>
          </a:stretch>
        </p:blipFill>
        <p:spPr>
          <a:xfrm>
            <a:off x="946522" y="1312049"/>
            <a:ext cx="462699" cy="780300"/>
          </a:xfrm>
          <a:prstGeom prst="rect">
            <a:avLst/>
          </a:prstGeom>
          <a:noFill/>
          <a:ln>
            <a:noFill/>
          </a:ln>
        </p:spPr>
      </p:pic>
      <p:pic>
        <p:nvPicPr>
          <p:cNvPr id="1018" name="Google Shape;1018;p79"/>
          <p:cNvPicPr preferRelativeResize="0"/>
          <p:nvPr/>
        </p:nvPicPr>
        <p:blipFill>
          <a:blip r:embed="rId4">
            <a:alphaModFix/>
          </a:blip>
          <a:stretch>
            <a:fillRect/>
          </a:stretch>
        </p:blipFill>
        <p:spPr>
          <a:xfrm>
            <a:off x="1323923" y="1312049"/>
            <a:ext cx="462699" cy="780300"/>
          </a:xfrm>
          <a:prstGeom prst="rect">
            <a:avLst/>
          </a:prstGeom>
          <a:noFill/>
          <a:ln>
            <a:noFill/>
          </a:ln>
        </p:spPr>
      </p:pic>
      <p:pic>
        <p:nvPicPr>
          <p:cNvPr id="1019" name="Google Shape;1019;p79"/>
          <p:cNvPicPr preferRelativeResize="0"/>
          <p:nvPr/>
        </p:nvPicPr>
        <p:blipFill>
          <a:blip r:embed="rId4">
            <a:alphaModFix/>
          </a:blip>
          <a:stretch>
            <a:fillRect/>
          </a:stretch>
        </p:blipFill>
        <p:spPr>
          <a:xfrm>
            <a:off x="534297" y="2495786"/>
            <a:ext cx="462699" cy="780300"/>
          </a:xfrm>
          <a:prstGeom prst="rect">
            <a:avLst/>
          </a:prstGeom>
          <a:noFill/>
          <a:ln>
            <a:noFill/>
          </a:ln>
        </p:spPr>
      </p:pic>
      <p:pic>
        <p:nvPicPr>
          <p:cNvPr id="1020" name="Google Shape;1020;p79"/>
          <p:cNvPicPr preferRelativeResize="0"/>
          <p:nvPr/>
        </p:nvPicPr>
        <p:blipFill>
          <a:blip r:embed="rId4">
            <a:alphaModFix/>
          </a:blip>
          <a:stretch>
            <a:fillRect/>
          </a:stretch>
        </p:blipFill>
        <p:spPr>
          <a:xfrm>
            <a:off x="911698" y="2495786"/>
            <a:ext cx="462699" cy="780300"/>
          </a:xfrm>
          <a:prstGeom prst="rect">
            <a:avLst/>
          </a:prstGeom>
          <a:noFill/>
          <a:ln>
            <a:noFill/>
          </a:ln>
        </p:spPr>
      </p:pic>
      <p:pic>
        <p:nvPicPr>
          <p:cNvPr id="1021" name="Google Shape;1021;p79"/>
          <p:cNvPicPr preferRelativeResize="0"/>
          <p:nvPr/>
        </p:nvPicPr>
        <p:blipFill>
          <a:blip r:embed="rId4">
            <a:alphaModFix/>
          </a:blip>
          <a:stretch>
            <a:fillRect/>
          </a:stretch>
        </p:blipFill>
        <p:spPr>
          <a:xfrm>
            <a:off x="1297872" y="2495786"/>
            <a:ext cx="462699" cy="780300"/>
          </a:xfrm>
          <a:prstGeom prst="rect">
            <a:avLst/>
          </a:prstGeom>
          <a:noFill/>
          <a:ln>
            <a:noFill/>
          </a:ln>
        </p:spPr>
      </p:pic>
      <p:pic>
        <p:nvPicPr>
          <p:cNvPr id="1022" name="Google Shape;1022;p79"/>
          <p:cNvPicPr preferRelativeResize="0"/>
          <p:nvPr/>
        </p:nvPicPr>
        <p:blipFill>
          <a:blip r:embed="rId4">
            <a:alphaModFix/>
          </a:blip>
          <a:stretch>
            <a:fillRect/>
          </a:stretch>
        </p:blipFill>
        <p:spPr>
          <a:xfrm>
            <a:off x="1675273" y="2495786"/>
            <a:ext cx="462699" cy="780300"/>
          </a:xfrm>
          <a:prstGeom prst="rect">
            <a:avLst/>
          </a:prstGeom>
          <a:noFill/>
          <a:ln>
            <a:noFill/>
          </a:ln>
        </p:spPr>
      </p:pic>
      <p:pic>
        <p:nvPicPr>
          <p:cNvPr id="1023" name="Google Shape;1023;p79"/>
          <p:cNvPicPr preferRelativeResize="0"/>
          <p:nvPr/>
        </p:nvPicPr>
        <p:blipFill>
          <a:blip r:embed="rId4">
            <a:alphaModFix/>
          </a:blip>
          <a:stretch>
            <a:fillRect/>
          </a:stretch>
        </p:blipFill>
        <p:spPr>
          <a:xfrm>
            <a:off x="534297" y="3613124"/>
            <a:ext cx="462699" cy="780300"/>
          </a:xfrm>
          <a:prstGeom prst="rect">
            <a:avLst/>
          </a:prstGeom>
          <a:noFill/>
          <a:ln>
            <a:noFill/>
          </a:ln>
        </p:spPr>
      </p:pic>
      <p:pic>
        <p:nvPicPr>
          <p:cNvPr id="1024" name="Google Shape;1024;p79"/>
          <p:cNvPicPr preferRelativeResize="0"/>
          <p:nvPr/>
        </p:nvPicPr>
        <p:blipFill>
          <a:blip r:embed="rId4">
            <a:alphaModFix/>
          </a:blip>
          <a:stretch>
            <a:fillRect/>
          </a:stretch>
        </p:blipFill>
        <p:spPr>
          <a:xfrm>
            <a:off x="911698" y="3613124"/>
            <a:ext cx="462699" cy="780300"/>
          </a:xfrm>
          <a:prstGeom prst="rect">
            <a:avLst/>
          </a:prstGeom>
          <a:noFill/>
          <a:ln>
            <a:noFill/>
          </a:ln>
        </p:spPr>
      </p:pic>
      <p:pic>
        <p:nvPicPr>
          <p:cNvPr id="1025" name="Google Shape;1025;p79"/>
          <p:cNvPicPr preferRelativeResize="0"/>
          <p:nvPr/>
        </p:nvPicPr>
        <p:blipFill>
          <a:blip r:embed="rId4">
            <a:alphaModFix/>
          </a:blip>
          <a:stretch>
            <a:fillRect/>
          </a:stretch>
        </p:blipFill>
        <p:spPr>
          <a:xfrm>
            <a:off x="1297872" y="3613124"/>
            <a:ext cx="462699" cy="780300"/>
          </a:xfrm>
          <a:prstGeom prst="rect">
            <a:avLst/>
          </a:prstGeom>
          <a:noFill/>
          <a:ln>
            <a:noFill/>
          </a:ln>
        </p:spPr>
      </p:pic>
      <p:pic>
        <p:nvPicPr>
          <p:cNvPr id="1026" name="Google Shape;1026;p79"/>
          <p:cNvPicPr preferRelativeResize="0"/>
          <p:nvPr/>
        </p:nvPicPr>
        <p:blipFill>
          <a:blip r:embed="rId4">
            <a:alphaModFix/>
          </a:blip>
          <a:stretch>
            <a:fillRect/>
          </a:stretch>
        </p:blipFill>
        <p:spPr>
          <a:xfrm>
            <a:off x="1675273" y="3613124"/>
            <a:ext cx="462699" cy="780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8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Solving problems involving fractions</a:t>
            </a:r>
            <a:endParaRPr/>
          </a:p>
          <a:p>
            <a:pPr indent="0" lvl="0" marL="0" rtl="0" algn="l">
              <a:spcBef>
                <a:spcPts val="1000"/>
              </a:spcBef>
              <a:spcAft>
                <a:spcPts val="1000"/>
              </a:spcAft>
              <a:buNone/>
            </a:pPr>
            <a:r>
              <a:t/>
            </a:r>
            <a:endParaRPr/>
          </a:p>
        </p:txBody>
      </p:sp>
      <p:grpSp>
        <p:nvGrpSpPr>
          <p:cNvPr id="1032" name="Google Shape;1032;p80"/>
          <p:cNvGrpSpPr/>
          <p:nvPr/>
        </p:nvGrpSpPr>
        <p:grpSpPr>
          <a:xfrm>
            <a:off x="6042199" y="1611613"/>
            <a:ext cx="2449101" cy="1183475"/>
            <a:chOff x="5570074" y="753300"/>
            <a:chExt cx="2449101" cy="1183475"/>
          </a:xfrm>
        </p:grpSpPr>
        <p:sp>
          <p:nvSpPr>
            <p:cNvPr id="1033" name="Google Shape;1033;p80"/>
            <p:cNvSpPr/>
            <p:nvPr/>
          </p:nvSpPr>
          <p:spPr>
            <a:xfrm>
              <a:off x="6359275" y="753300"/>
              <a:ext cx="1659900" cy="65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Flower bed</a:t>
              </a:r>
              <a:endParaRPr sz="1900">
                <a:latin typeface="Lexend"/>
                <a:ea typeface="Lexend"/>
                <a:cs typeface="Lexend"/>
                <a:sym typeface="Lexend"/>
              </a:endParaRPr>
            </a:p>
          </p:txBody>
        </p:sp>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34" name="Google Shape;1034;p80" title="3 and two thirds 2 and three fifths"/>
            <p:cNvPicPr preferRelativeResize="0"/>
            <p:nvPr/>
          </p:nvPicPr>
          <p:blipFill rotWithShape="1">
            <a:blip r:embed="rId3">
              <a:alphaModFix/>
            </a:blip>
            <a:srcRect b="0" l="0" r="51526" t="0"/>
            <a:stretch/>
          </p:blipFill>
          <p:spPr>
            <a:xfrm>
              <a:off x="7089401" y="1476025"/>
              <a:ext cx="382175" cy="460750"/>
            </a:xfrm>
            <a:prstGeom prst="rect">
              <a:avLst/>
            </a:prstGeom>
            <a:noFill/>
            <a:ln>
              <a:noFill/>
            </a:ln>
          </p:spPr>
        </p:pic>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35" name="Google Shape;1035;p80" title="3 and two thirds 2 and three fifths"/>
            <p:cNvPicPr preferRelativeResize="0"/>
            <p:nvPr/>
          </p:nvPicPr>
          <p:blipFill rotWithShape="1">
            <a:blip r:embed="rId3">
              <a:alphaModFix/>
            </a:blip>
            <a:srcRect b="0" l="52055" r="-7527" t="0"/>
            <a:stretch/>
          </p:blipFill>
          <p:spPr>
            <a:xfrm>
              <a:off x="5570074" y="928825"/>
              <a:ext cx="437350" cy="460750"/>
            </a:xfrm>
            <a:prstGeom prst="rect">
              <a:avLst/>
            </a:prstGeom>
            <a:noFill/>
            <a:ln>
              <a:noFill/>
            </a:ln>
          </p:spPr>
        </p:pic>
        <p:sp>
          <p:nvSpPr>
            <p:cNvPr id="1036" name="Google Shape;1036;p80"/>
            <p:cNvSpPr txBox="1"/>
            <p:nvPr/>
          </p:nvSpPr>
          <p:spPr>
            <a:xfrm>
              <a:off x="5897275" y="9207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sp>
          <p:nvSpPr>
            <p:cNvPr id="1037" name="Google Shape;1037;p80"/>
            <p:cNvSpPr txBox="1"/>
            <p:nvPr/>
          </p:nvSpPr>
          <p:spPr>
            <a:xfrm>
              <a:off x="7345075" y="14541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grpSp>
      <p:pic>
        <p:nvPicPr>
          <p:cNvPr descr="&lt;math xmlns=&quot;http://www.w3.org/1998/Math/MathML&quot; display=&quot;block&quot; data-is-equatio=&quot;1&quot; data-latex=&quot;\begin{array}{l}3\frac{2}{3}\times2\frac{3}{5}\\&amp;#13;&amp;#10;\frac{11}{3}\times\frac{13}{5}=\ \frac{143}{15}=9\frac{8}{15}\end{array}&quot;&gt;&lt;mtable columnalign=&quot;left&quot; columnspacing=&quot;1em&quot; rowspacing=&quot;4pt&quot;&gt;&lt;mtr&gt;&lt;mtd&gt;&lt;mn&gt;3&lt;/mn&gt;&lt;mfrac&gt;&lt;mn&gt;2&lt;/mn&gt;&lt;mn&gt;3&lt;/mn&gt;&lt;/mfrac&gt;&lt;mo&gt;×&lt;/mo&gt;&lt;mn&gt;2&lt;/mn&gt;&lt;mfrac&gt;&lt;mn&gt;3&lt;/mn&gt;&lt;mn&gt;5&lt;/mn&gt;&lt;/mfrac&gt;&lt;/mtd&gt;&lt;/mtr&gt;&lt;mtr&gt;&lt;mtd&gt;&lt;mfrac&gt;&lt;mn&gt;11&lt;/mn&gt;&lt;mn&gt;3&lt;/mn&gt;&lt;/mfrac&gt;&lt;mo&gt;×&lt;/mo&gt;&lt;mfrac&gt;&lt;mn&gt;13&lt;/mn&gt;&lt;mn&gt;5&lt;/mn&gt;&lt;/mfrac&gt;&lt;mo&gt;=&lt;/mo&gt;&lt;mtext&gt;&lt;/mtext&gt;&lt;mfrac&gt;&lt;mn&gt;143&lt;/mn&gt;&lt;mn&gt;15&lt;/mn&gt;&lt;/mfrac&gt;&lt;mo&gt;=&lt;/mo&gt;&lt;mn&gt;9&lt;/mn&gt;&lt;mfrac&gt;&lt;mn&gt;8&lt;/mn&gt;&lt;mn&gt;15&lt;/mn&gt;&lt;/mfrac&gt;&lt;/mtd&gt;&lt;/mtr&gt;&lt;/mtable&gt;&lt;/math&gt;" id="1038" name="Google Shape;1038;p80" title="2 lines Line 1: 3 and two thirds times 2 and three fifths Line 2: eleven thirds times thirteen fifths equals 143 over 15 equals 9 and 8 over 15"/>
          <p:cNvPicPr preferRelativeResize="0"/>
          <p:nvPr/>
        </p:nvPicPr>
        <p:blipFill rotWithShape="1">
          <a:blip r:embed="rId4">
            <a:alphaModFix/>
          </a:blip>
          <a:srcRect b="51278" l="0" r="0" t="0"/>
          <a:stretch/>
        </p:blipFill>
        <p:spPr>
          <a:xfrm>
            <a:off x="2322800" y="2571752"/>
            <a:ext cx="3105825" cy="544413"/>
          </a:xfrm>
          <a:prstGeom prst="rect">
            <a:avLst/>
          </a:prstGeom>
          <a:noFill/>
          <a:ln>
            <a:noFill/>
          </a:ln>
        </p:spPr>
      </p:pic>
      <p:sp>
        <p:nvSpPr>
          <p:cNvPr id="1039" name="Google Shape;1039;p80"/>
          <p:cNvSpPr txBox="1"/>
          <p:nvPr/>
        </p:nvSpPr>
        <p:spPr>
          <a:xfrm>
            <a:off x="615425" y="4089150"/>
            <a:ext cx="78099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Jacob needs to buy 10 bags each costing £5.70 so it will cost Jacob £57</a:t>
            </a:r>
            <a:endParaRPr>
              <a:latin typeface="Kalam"/>
              <a:ea typeface="Kalam"/>
              <a:cs typeface="Kalam"/>
              <a:sym typeface="Kalam"/>
            </a:endParaRPr>
          </a:p>
        </p:txBody>
      </p:sp>
      <p:pic>
        <p:nvPicPr>
          <p:cNvPr descr="&lt;math xmlns=&quot;http://www.w3.org/1998/Math/MathML&quot; display=&quot;block&quot; data-is-equatio=&quot;1&quot; data-latex=&quot;\begin{array}{l}3\frac{2}{3}\times2\frac{3}{5}\\&amp;#13;&amp;#10;\frac{11}{3}\times\frac{13}{5}=\ \frac{143}{15}=9\frac{8}{15}\end{array}&quot;&gt;&lt;mtable columnalign=&quot;left&quot; columnspacing=&quot;1em&quot; rowspacing=&quot;4pt&quot;&gt;&lt;mtr&gt;&lt;mtd&gt;&lt;mn&gt;3&lt;/mn&gt;&lt;mfrac&gt;&lt;mn&gt;2&lt;/mn&gt;&lt;mn&gt;3&lt;/mn&gt;&lt;/mfrac&gt;&lt;mo&gt;×&lt;/mo&gt;&lt;mn&gt;2&lt;/mn&gt;&lt;mfrac&gt;&lt;mn&gt;3&lt;/mn&gt;&lt;mn&gt;5&lt;/mn&gt;&lt;/mfrac&gt;&lt;/mtd&gt;&lt;/mtr&gt;&lt;mtr&gt;&lt;mtd&gt;&lt;mfrac&gt;&lt;mn&gt;11&lt;/mn&gt;&lt;mn&gt;3&lt;/mn&gt;&lt;/mfrac&gt;&lt;mo&gt;×&lt;/mo&gt;&lt;mfrac&gt;&lt;mn&gt;13&lt;/mn&gt;&lt;mn&gt;5&lt;/mn&gt;&lt;/mfrac&gt;&lt;mo&gt;=&lt;/mo&gt;&lt;mtext&gt;&lt;/mtext&gt;&lt;mfrac&gt;&lt;mn&gt;143&lt;/mn&gt;&lt;mn&gt;15&lt;/mn&gt;&lt;/mfrac&gt;&lt;mo&gt;=&lt;/mo&gt;&lt;mn&gt;9&lt;/mn&gt;&lt;mfrac&gt;&lt;mn&gt;8&lt;/mn&gt;&lt;mn&gt;15&lt;/mn&gt;&lt;/mfrac&gt;&lt;/mtd&gt;&lt;/mtr&gt;&lt;/mtable&gt;&lt;/math&gt;" id="1040" name="Google Shape;1040;p80" title="2 lines Line 1: 3 and two thirds times 2 and three fifths Line 2: eleven thirds times thirteen fifths equals 143 over 15 equals 9 and 8 over 15"/>
          <p:cNvPicPr preferRelativeResize="0"/>
          <p:nvPr/>
        </p:nvPicPr>
        <p:blipFill rotWithShape="1">
          <a:blip r:embed="rId4">
            <a:alphaModFix/>
          </a:blip>
          <a:srcRect b="180" l="0" r="51131" t="51098"/>
          <a:stretch/>
        </p:blipFill>
        <p:spPr>
          <a:xfrm>
            <a:off x="2322800" y="3204200"/>
            <a:ext cx="1517775" cy="544425"/>
          </a:xfrm>
          <a:prstGeom prst="rect">
            <a:avLst/>
          </a:prstGeom>
          <a:noFill/>
          <a:ln>
            <a:noFill/>
          </a:ln>
        </p:spPr>
      </p:pic>
      <p:pic>
        <p:nvPicPr>
          <p:cNvPr descr="&lt;math xmlns=&quot;http://www.w3.org/1998/Math/MathML&quot; display=&quot;block&quot; data-is-equatio=&quot;1&quot; data-latex=&quot;\begin{array}{l}3\frac{2}{3}\times2\frac{3}{5}\\&amp;#13;&amp;#10;\frac{11}{3}\times\frac{13}{5}=\ \frac{143}{15}=9\frac{8}{15}\end{array}&quot;&gt;&lt;mtable columnalign=&quot;left&quot; columnspacing=&quot;1em&quot; rowspacing=&quot;4pt&quot;&gt;&lt;mtr&gt;&lt;mtd&gt;&lt;mn&gt;3&lt;/mn&gt;&lt;mfrac&gt;&lt;mn&gt;2&lt;/mn&gt;&lt;mn&gt;3&lt;/mn&gt;&lt;/mfrac&gt;&lt;mo&gt;×&lt;/mo&gt;&lt;mn&gt;2&lt;/mn&gt;&lt;mfrac&gt;&lt;mn&gt;3&lt;/mn&gt;&lt;mn&gt;5&lt;/mn&gt;&lt;/mfrac&gt;&lt;/mtd&gt;&lt;/mtr&gt;&lt;mtr&gt;&lt;mtd&gt;&lt;mfrac&gt;&lt;mn&gt;11&lt;/mn&gt;&lt;mn&gt;3&lt;/mn&gt;&lt;/mfrac&gt;&lt;mo&gt;×&lt;/mo&gt;&lt;mfrac&gt;&lt;mn&gt;13&lt;/mn&gt;&lt;mn&gt;5&lt;/mn&gt;&lt;/mfrac&gt;&lt;mo&gt;=&lt;/mo&gt;&lt;mtext&gt;&lt;/mtext&gt;&lt;mfrac&gt;&lt;mn&gt;143&lt;/mn&gt;&lt;mn&gt;15&lt;/mn&gt;&lt;/mfrac&gt;&lt;mo&gt;=&lt;/mo&gt;&lt;mn&gt;9&lt;/mn&gt;&lt;mfrac&gt;&lt;mn&gt;8&lt;/mn&gt;&lt;mn&gt;15&lt;/mn&gt;&lt;/mfrac&gt;&lt;/mtd&gt;&lt;/mtr&gt;&lt;/mtable&gt;&lt;/math&gt;" id="1041" name="Google Shape;1041;p80" title="2 lines Line 1: 3 and two thirds times 2 and three fifths Line 2: eleven thirds times thirteen fifths equals 143 over 15 equals 9 and 8 over 15"/>
          <p:cNvPicPr preferRelativeResize="0"/>
          <p:nvPr/>
        </p:nvPicPr>
        <p:blipFill rotWithShape="1">
          <a:blip r:embed="rId4">
            <a:alphaModFix/>
          </a:blip>
          <a:srcRect b="180" l="50439" r="-3713" t="51098"/>
          <a:stretch/>
        </p:blipFill>
        <p:spPr>
          <a:xfrm>
            <a:off x="3840570" y="3204200"/>
            <a:ext cx="1654525" cy="544425"/>
          </a:xfrm>
          <a:prstGeom prst="rect">
            <a:avLst/>
          </a:prstGeom>
          <a:noFill/>
          <a:ln>
            <a:noFill/>
          </a:ln>
        </p:spPr>
      </p:pic>
      <p:sp>
        <p:nvSpPr>
          <p:cNvPr id="1042" name="Google Shape;1042;p80"/>
          <p:cNvSpPr txBox="1"/>
          <p:nvPr>
            <p:ph idx="1" type="body"/>
          </p:nvPr>
        </p:nvSpPr>
        <p:spPr>
          <a:xfrm>
            <a:off x="324000" y="784350"/>
            <a:ext cx="51516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 A </a:t>
            </a:r>
            <a:endParaRPr sz="1800"/>
          </a:p>
        </p:txBody>
      </p:sp>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43" name="Google Shape;1043;p80" title="3 and two thirds 2 and three fifths"/>
          <p:cNvPicPr preferRelativeResize="0"/>
          <p:nvPr/>
        </p:nvPicPr>
        <p:blipFill rotWithShape="1">
          <a:blip r:embed="rId3">
            <a:alphaModFix/>
          </a:blip>
          <a:srcRect b="0" l="0" r="61453" t="0"/>
          <a:stretch/>
        </p:blipFill>
        <p:spPr>
          <a:xfrm>
            <a:off x="4756200" y="674325"/>
            <a:ext cx="291600" cy="444350"/>
          </a:xfrm>
          <a:prstGeom prst="rect">
            <a:avLst/>
          </a:prstGeom>
          <a:noFill/>
          <a:ln>
            <a:noFill/>
          </a:ln>
        </p:spPr>
      </p:pic>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44" name="Google Shape;1044;p80" title="3 and two thirds 2 and three fifths"/>
          <p:cNvPicPr preferRelativeResize="0"/>
          <p:nvPr/>
        </p:nvPicPr>
        <p:blipFill rotWithShape="1">
          <a:blip r:embed="rId3">
            <a:alphaModFix/>
          </a:blip>
          <a:srcRect b="0" l="58517" r="-27288" t="0"/>
          <a:stretch/>
        </p:blipFill>
        <p:spPr>
          <a:xfrm>
            <a:off x="1494000" y="1069800"/>
            <a:ext cx="464400" cy="388800"/>
          </a:xfrm>
          <a:prstGeom prst="rect">
            <a:avLst/>
          </a:prstGeom>
          <a:noFill/>
          <a:ln>
            <a:noFill/>
          </a:ln>
        </p:spPr>
      </p:pic>
      <p:sp>
        <p:nvSpPr>
          <p:cNvPr id="1045" name="Google Shape;1045;p80"/>
          <p:cNvSpPr txBox="1"/>
          <p:nvPr>
            <p:ph idx="1" type="body"/>
          </p:nvPr>
        </p:nvSpPr>
        <p:spPr>
          <a:xfrm>
            <a:off x="324000" y="1089150"/>
            <a:ext cx="51516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and</a:t>
            </a:r>
            <a:endParaRPr sz="1800"/>
          </a:p>
        </p:txBody>
      </p:sp>
      <p:sp>
        <p:nvSpPr>
          <p:cNvPr id="1046" name="Google Shape;1046;p80"/>
          <p:cNvSpPr txBox="1"/>
          <p:nvPr>
            <p:ph idx="1" type="body"/>
          </p:nvPr>
        </p:nvSpPr>
        <p:spPr>
          <a:xfrm>
            <a:off x="324000" y="1393950"/>
            <a:ext cx="5151600" cy="109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the plot, but needs to buy the compost. The compost bags each cover 1 m</a:t>
            </a:r>
            <a:r>
              <a:rPr baseline="30000" lang="en-GB" sz="1800"/>
              <a:t>2</a:t>
            </a:r>
            <a:r>
              <a:rPr lang="en-GB" sz="1800"/>
              <a:t> and cost £5.70 per bag. How much will it cost Jacob?</a:t>
            </a:r>
            <a:endParaRPr sz="1800"/>
          </a:p>
          <a:p>
            <a:pPr indent="0" lvl="0" marL="0" rtl="0" algn="l">
              <a:spcBef>
                <a:spcPts val="1000"/>
              </a:spcBef>
              <a:spcAft>
                <a:spcPts val="1000"/>
              </a:spcAft>
              <a:buNone/>
            </a:pPr>
            <a:r>
              <a:t/>
            </a:r>
            <a:endParaRPr sz="1800"/>
          </a:p>
        </p:txBody>
      </p:sp>
      <p:sp>
        <p:nvSpPr>
          <p:cNvPr id="1047" name="Google Shape;1047;p80"/>
          <p:cNvSpPr txBox="1"/>
          <p:nvPr>
            <p:ph idx="1" type="body"/>
          </p:nvPr>
        </p:nvSpPr>
        <p:spPr>
          <a:xfrm>
            <a:off x="965325" y="784350"/>
            <a:ext cx="46626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rectangular</a:t>
            </a:r>
            <a:endParaRPr sz="1800"/>
          </a:p>
        </p:txBody>
      </p:sp>
      <p:sp>
        <p:nvSpPr>
          <p:cNvPr id="1048" name="Google Shape;1048;p80"/>
          <p:cNvSpPr txBox="1"/>
          <p:nvPr>
            <p:ph idx="1" type="body"/>
          </p:nvPr>
        </p:nvSpPr>
        <p:spPr>
          <a:xfrm>
            <a:off x="2313475" y="784350"/>
            <a:ext cx="34668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flower</a:t>
            </a:r>
            <a:endParaRPr sz="1800"/>
          </a:p>
        </p:txBody>
      </p:sp>
      <p:sp>
        <p:nvSpPr>
          <p:cNvPr id="1049" name="Google Shape;1049;p80"/>
          <p:cNvSpPr txBox="1"/>
          <p:nvPr>
            <p:ph idx="1" type="body"/>
          </p:nvPr>
        </p:nvSpPr>
        <p:spPr>
          <a:xfrm>
            <a:off x="3068150" y="784350"/>
            <a:ext cx="28644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bed</a:t>
            </a:r>
            <a:endParaRPr sz="1800"/>
          </a:p>
        </p:txBody>
      </p:sp>
      <p:sp>
        <p:nvSpPr>
          <p:cNvPr id="1050" name="Google Shape;1050;p80"/>
          <p:cNvSpPr txBox="1"/>
          <p:nvPr>
            <p:ph idx="1" type="body"/>
          </p:nvPr>
        </p:nvSpPr>
        <p:spPr>
          <a:xfrm>
            <a:off x="3559050" y="784350"/>
            <a:ext cx="25260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has </a:t>
            </a:r>
            <a:endParaRPr sz="1800"/>
          </a:p>
        </p:txBody>
      </p:sp>
      <p:sp>
        <p:nvSpPr>
          <p:cNvPr id="1051" name="Google Shape;1051;p80"/>
          <p:cNvSpPr txBox="1"/>
          <p:nvPr>
            <p:ph idx="1" type="body"/>
          </p:nvPr>
        </p:nvSpPr>
        <p:spPr>
          <a:xfrm>
            <a:off x="4020650" y="784350"/>
            <a:ext cx="22167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length</a:t>
            </a:r>
            <a:endParaRPr sz="1800"/>
          </a:p>
        </p:txBody>
      </p:sp>
      <p:sp>
        <p:nvSpPr>
          <p:cNvPr id="1052" name="Google Shape;1052;p80"/>
          <p:cNvSpPr txBox="1"/>
          <p:nvPr>
            <p:ph idx="1" type="body"/>
          </p:nvPr>
        </p:nvSpPr>
        <p:spPr>
          <a:xfrm>
            <a:off x="5097700" y="784350"/>
            <a:ext cx="1292100" cy="388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a:t>
            </a:r>
            <a:endParaRPr sz="1800"/>
          </a:p>
        </p:txBody>
      </p:sp>
      <p:sp>
        <p:nvSpPr>
          <p:cNvPr id="1053" name="Google Shape;1053;p80"/>
          <p:cNvSpPr txBox="1"/>
          <p:nvPr>
            <p:ph idx="1" type="body"/>
          </p:nvPr>
        </p:nvSpPr>
        <p:spPr>
          <a:xfrm>
            <a:off x="818775" y="1089150"/>
            <a:ext cx="4809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width</a:t>
            </a:r>
            <a:endParaRPr sz="1800"/>
          </a:p>
        </p:txBody>
      </p:sp>
      <p:sp>
        <p:nvSpPr>
          <p:cNvPr id="1054" name="Google Shape;1054;p80"/>
          <p:cNvSpPr txBox="1"/>
          <p:nvPr>
            <p:ph idx="1" type="body"/>
          </p:nvPr>
        </p:nvSpPr>
        <p:spPr>
          <a:xfrm>
            <a:off x="1917825" y="1089150"/>
            <a:ext cx="38628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 Jacob wants to plant flowers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8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Solving problems involving fractions</a:t>
            </a:r>
            <a:endParaRPr/>
          </a:p>
          <a:p>
            <a:pPr indent="0" lvl="0" marL="0" rtl="0" algn="l">
              <a:spcBef>
                <a:spcPts val="1000"/>
              </a:spcBef>
              <a:spcAft>
                <a:spcPts val="1000"/>
              </a:spcAft>
              <a:buNone/>
            </a:pPr>
            <a:r>
              <a:t/>
            </a:r>
            <a:endParaRPr/>
          </a:p>
        </p:txBody>
      </p:sp>
      <p:grpSp>
        <p:nvGrpSpPr>
          <p:cNvPr id="1060" name="Google Shape;1060;p81"/>
          <p:cNvGrpSpPr/>
          <p:nvPr/>
        </p:nvGrpSpPr>
        <p:grpSpPr>
          <a:xfrm>
            <a:off x="6299374" y="874113"/>
            <a:ext cx="2449101" cy="1183475"/>
            <a:chOff x="5570074" y="753300"/>
            <a:chExt cx="2449101" cy="1183475"/>
          </a:xfrm>
        </p:grpSpPr>
        <p:sp>
          <p:nvSpPr>
            <p:cNvPr id="1061" name="Google Shape;1061;p81"/>
            <p:cNvSpPr/>
            <p:nvPr/>
          </p:nvSpPr>
          <p:spPr>
            <a:xfrm>
              <a:off x="6359275" y="753300"/>
              <a:ext cx="1659900" cy="659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900">
                  <a:latin typeface="Lexend"/>
                  <a:ea typeface="Lexend"/>
                  <a:cs typeface="Lexend"/>
                  <a:sym typeface="Lexend"/>
                </a:rPr>
                <a:t>Flower bed</a:t>
              </a:r>
              <a:endParaRPr sz="1900">
                <a:latin typeface="Lexend"/>
                <a:ea typeface="Lexend"/>
                <a:cs typeface="Lexend"/>
                <a:sym typeface="Lexend"/>
              </a:endParaRPr>
            </a:p>
          </p:txBody>
        </p:sp>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62" name="Google Shape;1062;p81" title="3 and two thirds 2 and three fifths"/>
            <p:cNvPicPr preferRelativeResize="0"/>
            <p:nvPr/>
          </p:nvPicPr>
          <p:blipFill rotWithShape="1">
            <a:blip r:embed="rId3">
              <a:alphaModFix/>
            </a:blip>
            <a:srcRect b="0" l="0" r="51526" t="0"/>
            <a:stretch/>
          </p:blipFill>
          <p:spPr>
            <a:xfrm>
              <a:off x="7089401" y="1476025"/>
              <a:ext cx="382175" cy="460750"/>
            </a:xfrm>
            <a:prstGeom prst="rect">
              <a:avLst/>
            </a:prstGeom>
            <a:noFill/>
            <a:ln>
              <a:noFill/>
            </a:ln>
          </p:spPr>
        </p:pic>
        <p:pic>
          <p:nvPicPr>
            <p:cNvPr descr="&lt;math xmlns=&quot;http://www.w3.org/1998/Math/MathML&quot; display=&quot;block&quot; data-is-equatio=&quot;1&quot; data-latex=&quot;3\frac{2}{3}\ \ \ \ 2\frac{3}{5}&quot;&gt;&lt;mn&gt;3&lt;/mn&gt;&lt;mfrac&gt;&lt;mn&gt;2&lt;/mn&gt;&lt;mn&gt;3&lt;/mn&gt;&lt;/mfrac&gt;&lt;mtext&gt;&lt;/mtext&gt;&lt;mtext&gt;&lt;/mtext&gt;&lt;mtext&gt;&lt;/mtext&gt;&lt;mtext&gt;&lt;/mtext&gt;&lt;mn&gt;2&lt;/mn&gt;&lt;mfrac&gt;&lt;mn&gt;3&lt;/mn&gt;&lt;mn&gt;5&lt;/mn&gt;&lt;/mfrac&gt;&lt;/math&gt;" id="1063" name="Google Shape;1063;p81" title="3 and two thirds 2 and three fifths"/>
            <p:cNvPicPr preferRelativeResize="0"/>
            <p:nvPr/>
          </p:nvPicPr>
          <p:blipFill rotWithShape="1">
            <a:blip r:embed="rId3">
              <a:alphaModFix/>
            </a:blip>
            <a:srcRect b="0" l="52055" r="-7527" t="0"/>
            <a:stretch/>
          </p:blipFill>
          <p:spPr>
            <a:xfrm>
              <a:off x="5570074" y="928825"/>
              <a:ext cx="437350" cy="460750"/>
            </a:xfrm>
            <a:prstGeom prst="rect">
              <a:avLst/>
            </a:prstGeom>
            <a:noFill/>
            <a:ln>
              <a:noFill/>
            </a:ln>
          </p:spPr>
        </p:pic>
        <p:sp>
          <p:nvSpPr>
            <p:cNvPr id="1064" name="Google Shape;1064;p81"/>
            <p:cNvSpPr txBox="1"/>
            <p:nvPr/>
          </p:nvSpPr>
          <p:spPr>
            <a:xfrm>
              <a:off x="5897275" y="9207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sp>
          <p:nvSpPr>
            <p:cNvPr id="1065" name="Google Shape;1065;p81"/>
            <p:cNvSpPr txBox="1"/>
            <p:nvPr/>
          </p:nvSpPr>
          <p:spPr>
            <a:xfrm>
              <a:off x="7345075" y="1454100"/>
              <a:ext cx="4374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900">
                  <a:solidFill>
                    <a:schemeClr val="dk1"/>
                  </a:solidFill>
                  <a:latin typeface="Lexend"/>
                  <a:ea typeface="Lexend"/>
                  <a:cs typeface="Lexend"/>
                  <a:sym typeface="Lexend"/>
                </a:rPr>
                <a:t>m</a:t>
              </a:r>
              <a:endParaRPr/>
            </a:p>
          </p:txBody>
        </p:sp>
      </p:grpSp>
      <p:sp>
        <p:nvSpPr>
          <p:cNvPr id="1066" name="Google Shape;1066;p81"/>
          <p:cNvSpPr txBox="1"/>
          <p:nvPr/>
        </p:nvSpPr>
        <p:spPr>
          <a:xfrm>
            <a:off x="362925" y="540000"/>
            <a:ext cx="5653200" cy="14175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b) Jacob also needs to put a metal edging around the plot. The edging is sold for £3.42 per metre. How much will it cost Jacob to put the edging around the flower bed?</a:t>
            </a:r>
            <a:endParaRPr/>
          </a:p>
        </p:txBody>
      </p:sp>
      <p:pic>
        <p:nvPicPr>
          <p:cNvPr descr="&lt;math xmlns=&quot;http://www.w3.org/1998/Math/MathML&quot; display=&quot;block&quot; data-is-equatio=&quot;1&quot; data-latex=&quot;\begin{array}{l}3\frac{2}{3}+2\frac{3}{5}+3\frac{2}{3}+2\frac{3}{5}\ =\ \\&amp;#13;&amp;#10;3\ +\ 2\ +\ 3\ +\ 2\ =10\\&amp;#13;&amp;#10;\frac{2}{3}+\frac{3}{5}+\frac{2}{3}+\frac{3}{5}=\\&amp;#13;&amp;#10;\frac{10}{15}+\frac{9}{15}+\frac{10}{15}+\frac{9}{15}=\frac{38}{15}=2\frac{8}{15}\\&amp;#13;&amp;#10;10\ +\ 2\frac{8}{15}=12\frac{8}{15}\end{array}&quot;&gt;&lt;mtable columnalign=&quot;left&quot; columnspacing=&quot;1em&quot; rowspacing=&quot;4pt&quot;&gt;&lt;mtr&gt;&lt;mtd&gt;&lt;mn&gt;3&lt;/mn&gt;&lt;mfrac&gt;&lt;mn&gt;2&lt;/mn&gt;&lt;mn&gt;3&lt;/mn&gt;&lt;/mfrac&gt;&lt;mo&gt;+&lt;/mo&gt;&lt;mn&gt;2&lt;/mn&gt;&lt;mfrac&gt;&lt;mn&gt;3&lt;/mn&gt;&lt;mn&gt;5&lt;/mn&gt;&lt;/mfrac&gt;&lt;mo&gt;+&lt;/mo&gt;&lt;mn&gt;3&lt;/mn&gt;&lt;mfrac&gt;&lt;mn&gt;2&lt;/mn&gt;&lt;mn&gt;3&lt;/mn&gt;&lt;/mfrac&gt;&lt;mo&gt;+&lt;/mo&gt;&lt;mn&gt;2&lt;/mn&gt;&lt;mfrac&gt;&lt;mn&gt;3&lt;/mn&gt;&lt;mn&gt;5&lt;/mn&gt;&lt;/mfrac&gt;&lt;mtext&gt;&lt;/mtext&gt;&lt;mo&gt;=&lt;/mo&gt;&lt;mtext&gt;&lt;/mtext&gt;&lt;/mtd&gt;&lt;/mtr&gt;&lt;mtr&gt;&lt;mtd&gt;&lt;mn&gt;3&lt;/mn&gt;&lt;mtext&gt;&lt;/mtext&gt;&lt;mo&gt;+&lt;/mo&gt;&lt;mtext&gt;&lt;/mtext&gt;&lt;mn&gt;2&lt;/mn&gt;&lt;mtext&gt;&lt;/mtext&gt;&lt;mo&gt;+&lt;/mo&gt;&lt;mtext&gt;&lt;/mtext&gt;&lt;mn&gt;3&lt;/mn&gt;&lt;mtext&gt;&lt;/mtext&gt;&lt;mo&gt;+&lt;/mo&gt;&lt;mtext&gt;&lt;/mtext&gt;&lt;mn&gt;2&lt;/mn&gt;&lt;mtext&gt;&lt;/mtext&gt;&lt;mo&gt;=&lt;/mo&gt;&lt;mn&gt;10&lt;/mn&gt;&lt;/mtd&gt;&lt;/mtr&gt;&lt;mtr&gt;&lt;mtd&gt;&lt;mfrac&gt;&lt;mn&gt;2&lt;/mn&gt;&lt;mn&gt;3&lt;/mn&gt;&lt;/mfrac&gt;&lt;mo&gt;+&lt;/mo&gt;&lt;mfrac&gt;&lt;mn&gt;3&lt;/mn&gt;&lt;mn&gt;5&lt;/mn&gt;&lt;/mfrac&gt;&lt;mo&gt;+&lt;/mo&gt;&lt;mfrac&gt;&lt;mn&gt;2&lt;/mn&gt;&lt;mn&gt;3&lt;/mn&gt;&lt;/mfrac&gt;&lt;mo&gt;+&lt;/mo&gt;&lt;mfrac&gt;&lt;mn&gt;3&lt;/mn&gt;&lt;mn&gt;5&lt;/mn&gt;&lt;/mfrac&gt;&lt;mo&gt;=&lt;/mo&gt;&lt;/mtd&gt;&lt;/mtr&gt;&lt;mtr&gt;&lt;mtd&gt;&lt;mfrac&gt;&lt;mn&gt;10&lt;/mn&gt;&lt;mn&gt;15&lt;/mn&gt;&lt;/mfrac&gt;&lt;mo&gt;+&lt;/mo&gt;&lt;mfrac&gt;&lt;mn&gt;9&lt;/mn&gt;&lt;mn&gt;15&lt;/mn&gt;&lt;/mfrac&gt;&lt;mo&gt;+&lt;/mo&gt;&lt;mfrac&gt;&lt;mn&gt;10&lt;/mn&gt;&lt;mn&gt;15&lt;/mn&gt;&lt;/mfrac&gt;&lt;mo&gt;+&lt;/mo&gt;&lt;mfrac&gt;&lt;mn&gt;9&lt;/mn&gt;&lt;mn&gt;15&lt;/mn&gt;&lt;/mfrac&gt;&lt;mo&gt;=&lt;/mo&gt;&lt;mfrac&gt;&lt;mn&gt;38&lt;/mn&gt;&lt;mn&gt;15&lt;/mn&gt;&lt;/mfrac&gt;&lt;mo&gt;=&lt;/mo&gt;&lt;mn&gt;2&lt;/mn&gt;&lt;mfrac&gt;&lt;mn&gt;8&lt;/mn&gt;&lt;mn&gt;15&lt;/mn&gt;&lt;/mfrac&gt;&lt;/mtd&gt;&lt;/mtr&gt;&lt;mtr&gt;&lt;mtd&gt;&lt;mn&gt;10&lt;/mn&gt;&lt;mtext&gt;&lt;/mtext&gt;&lt;mo&gt;+&lt;/mo&gt;&lt;mtext&gt;&lt;/mtext&gt;&lt;mn&gt;2&lt;/mn&gt;&lt;mfrac&gt;&lt;mn&gt;8&lt;/mn&gt;&lt;mn&gt;15&lt;/mn&gt;&lt;/mfrac&gt;&lt;mo&gt;=&lt;/mo&gt;&lt;mn&gt;12&lt;/mn&gt;&lt;mfrac&gt;&lt;mn&gt;8&lt;/mn&gt;&lt;mn&gt;15&lt;/mn&gt;&lt;/mfrac&gt;&lt;/mtd&gt;&lt;/mtr&gt;&lt;/mtable&gt;&lt;/math&gt;" id="1067" name="Google Shape;1067;p81" title="5 lines Line 1: 3 and two thirds plus 2 and three fifths plus 3 and two thirds plus 2 and three fifths equals Line 2: 3 plus 2 plus 3 plus 2 equals 10 Line 3: two thirds plus three fifths plus two thirds plus three fifths equals Line 4: 10 over 15 plus 9 over 15 plus 10 over 15 plus 9 over 15 equals 38 over 15 equals 2 and 8 over 15 Line 5: 10 plus 2 and 8 over 15 equals 12 and 8 over 15"/>
          <p:cNvPicPr preferRelativeResize="0"/>
          <p:nvPr/>
        </p:nvPicPr>
        <p:blipFill>
          <a:blip r:embed="rId4">
            <a:alphaModFix/>
          </a:blip>
          <a:stretch>
            <a:fillRect/>
          </a:stretch>
        </p:blipFill>
        <p:spPr>
          <a:xfrm>
            <a:off x="2485900" y="1923199"/>
            <a:ext cx="2889950" cy="1856800"/>
          </a:xfrm>
          <a:prstGeom prst="rect">
            <a:avLst/>
          </a:prstGeom>
          <a:noFill/>
          <a:ln>
            <a:noFill/>
          </a:ln>
        </p:spPr>
      </p:pic>
      <p:sp>
        <p:nvSpPr>
          <p:cNvPr id="1068" name="Google Shape;1068;p81"/>
          <p:cNvSpPr txBox="1"/>
          <p:nvPr/>
        </p:nvSpPr>
        <p:spPr>
          <a:xfrm>
            <a:off x="362925" y="4320000"/>
            <a:ext cx="7809900" cy="4617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Jacob needs to buy 13 m of fencing at £3.42 a metre. </a:t>
            </a:r>
            <a:endParaRPr>
              <a:latin typeface="Kalam"/>
              <a:ea typeface="Kalam"/>
              <a:cs typeface="Kalam"/>
              <a:sym typeface="Kalam"/>
            </a:endParaRPr>
          </a:p>
        </p:txBody>
      </p:sp>
      <p:pic>
        <p:nvPicPr>
          <p:cNvPr descr="&lt;math xmlns=&quot;http://www.w3.org/1998/Math/MathML&quot; display=&quot;block&quot; data-is-equatio=&quot;1&quot; data-latex=&quot;\begin{array}{l}13\ \times3.42\ =\ 10\ \times3.42+2\times3.42+1\times3.42\\&amp;#13;&amp;#10;34.20\ +\ 6.84\ +\ 3.42\ =\ 44.46\end{array}&quot;&gt;&lt;mtable columnalign=&quot;left&quot; columnspacing=&quot;1em&quot; rowspacing=&quot;4pt&quot;&gt;&lt;mtr&gt;&lt;mtd&gt;&lt;mn&gt;13&lt;/mn&gt;&lt;mtext&gt;&lt;/mtext&gt;&lt;mo&gt;×&lt;/mo&gt;&lt;mn&gt;3.42&lt;/mn&gt;&lt;mtext&gt;&lt;/mtext&gt;&lt;mo&gt;=&lt;/mo&gt;&lt;mtext&gt;&lt;/mtext&gt;&lt;mn&gt;10&lt;/mn&gt;&lt;mtext&gt;&lt;/mtext&gt;&lt;mo&gt;×&lt;/mo&gt;&lt;mn&gt;3.42&lt;/mn&gt;&lt;mo&gt;+&lt;/mo&gt;&lt;mn&gt;2&lt;/mn&gt;&lt;mo&gt;×&lt;/mo&gt;&lt;mn&gt;3.42&lt;/mn&gt;&lt;mo&gt;+&lt;/mo&gt;&lt;mn&gt;1&lt;/mn&gt;&lt;mo&gt;×&lt;/mo&gt;&lt;mn&gt;3.42&lt;/mn&gt;&lt;/mtd&gt;&lt;/mtr&gt;&lt;mtr&gt;&lt;mtd&gt;&lt;mn&gt;34.20&lt;/mn&gt;&lt;mtext&gt;&lt;/mtext&gt;&lt;mo&gt;+&lt;/mo&gt;&lt;mtext&gt;&lt;/mtext&gt;&lt;mn&gt;6.84&lt;/mn&gt;&lt;mtext&gt;&lt;/mtext&gt;&lt;mo&gt;+&lt;/mo&gt;&lt;mtext&gt;&lt;/mtext&gt;&lt;mn&gt;3.42&lt;/mn&gt;&lt;mtext&gt;&lt;/mtext&gt;&lt;mo&gt;=&lt;/mo&gt;&lt;mtext&gt;&lt;/mtext&gt;&lt;mn&gt;44.46&lt;/mn&gt;&lt;/mtd&gt;&lt;/mtr&gt;&lt;/mtable&gt;&lt;/math&gt;" id="1069" name="Google Shape;1069;p81" title="2 lines Line 1: 13 times 3.42 equals 10 times 3.42 plus 2 times 3.42 plus 1 times 3.42 Line 2: 34.20 plus 6.84 plus 3.42 equals 44.46"/>
          <p:cNvPicPr preferRelativeResize="0"/>
          <p:nvPr/>
        </p:nvPicPr>
        <p:blipFill>
          <a:blip r:embed="rId5">
            <a:alphaModFix/>
          </a:blip>
          <a:stretch>
            <a:fillRect/>
          </a:stretch>
        </p:blipFill>
        <p:spPr>
          <a:xfrm>
            <a:off x="2485900" y="3858300"/>
            <a:ext cx="4050473" cy="461700"/>
          </a:xfrm>
          <a:prstGeom prst="rect">
            <a:avLst/>
          </a:prstGeom>
          <a:noFill/>
          <a:ln>
            <a:noFill/>
          </a:ln>
        </p:spPr>
      </p:pic>
      <p:sp>
        <p:nvSpPr>
          <p:cNvPr id="1070" name="Google Shape;1070;p81"/>
          <p:cNvSpPr txBox="1"/>
          <p:nvPr/>
        </p:nvSpPr>
        <p:spPr>
          <a:xfrm>
            <a:off x="5774400" y="43200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The total is £44.46</a:t>
            </a:r>
            <a:endParaRPr>
              <a:solidFill>
                <a:schemeClr val="dk1"/>
              </a:solidFill>
              <a:latin typeface="Kalam"/>
              <a:ea typeface="Kalam"/>
              <a:cs typeface="Kalam"/>
              <a:sym typeface="Kala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Solving problems involving fractions</a:t>
            </a:r>
            <a:endParaRPr/>
          </a:p>
        </p:txBody>
      </p:sp>
      <p:sp>
        <p:nvSpPr>
          <p:cNvPr id="1076" name="Google Shape;1076;p82"/>
          <p:cNvSpPr txBox="1"/>
          <p:nvPr/>
        </p:nvSpPr>
        <p:spPr>
          <a:xfrm>
            <a:off x="2514450" y="2896950"/>
            <a:ext cx="6519900" cy="486000"/>
          </a:xfrm>
          <a:prstGeom prst="rect">
            <a:avLst/>
          </a:prstGeom>
          <a:noFill/>
          <a:ln>
            <a:noFill/>
          </a:ln>
        </p:spPr>
        <p:txBody>
          <a:bodyPr anchorCtr="0" anchor="t" bIns="91425" lIns="0" spcFirstLastPara="1" rIns="91425" wrap="square" tIns="91425">
            <a:noAutofit/>
          </a:bodyPr>
          <a:lstStyle/>
          <a:p>
            <a:pPr indent="-342900" lvl="0" marL="457200" rtl="0" algn="l">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How much water does each teacher have to share?</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pic>
        <p:nvPicPr>
          <p:cNvPr id="1077" name="Google Shape;1077;p82"/>
          <p:cNvPicPr preferRelativeResize="0"/>
          <p:nvPr/>
        </p:nvPicPr>
        <p:blipFill>
          <a:blip r:embed="rId3">
            <a:alphaModFix/>
          </a:blip>
          <a:stretch>
            <a:fillRect/>
          </a:stretch>
        </p:blipFill>
        <p:spPr>
          <a:xfrm>
            <a:off x="955650" y="1393525"/>
            <a:ext cx="390150" cy="780301"/>
          </a:xfrm>
          <a:prstGeom prst="rect">
            <a:avLst/>
          </a:prstGeom>
          <a:noFill/>
          <a:ln>
            <a:noFill/>
          </a:ln>
        </p:spPr>
      </p:pic>
      <p:pic>
        <p:nvPicPr>
          <p:cNvPr id="1078" name="Google Shape;1078;p82"/>
          <p:cNvPicPr preferRelativeResize="0"/>
          <p:nvPr/>
        </p:nvPicPr>
        <p:blipFill>
          <a:blip r:embed="rId3">
            <a:alphaModFix/>
          </a:blip>
          <a:stretch>
            <a:fillRect/>
          </a:stretch>
        </p:blipFill>
        <p:spPr>
          <a:xfrm>
            <a:off x="1412850" y="1393525"/>
            <a:ext cx="390150" cy="780301"/>
          </a:xfrm>
          <a:prstGeom prst="rect">
            <a:avLst/>
          </a:prstGeom>
          <a:noFill/>
          <a:ln>
            <a:noFill/>
          </a:ln>
        </p:spPr>
      </p:pic>
      <p:pic>
        <p:nvPicPr>
          <p:cNvPr id="1079" name="Google Shape;1079;p82"/>
          <p:cNvPicPr preferRelativeResize="0"/>
          <p:nvPr/>
        </p:nvPicPr>
        <p:blipFill>
          <a:blip r:embed="rId3">
            <a:alphaModFix/>
          </a:blip>
          <a:stretch>
            <a:fillRect/>
          </a:stretch>
        </p:blipFill>
        <p:spPr>
          <a:xfrm>
            <a:off x="422250" y="2536525"/>
            <a:ext cx="390150" cy="780301"/>
          </a:xfrm>
          <a:prstGeom prst="rect">
            <a:avLst/>
          </a:prstGeom>
          <a:noFill/>
          <a:ln>
            <a:noFill/>
          </a:ln>
        </p:spPr>
      </p:pic>
      <p:pic>
        <p:nvPicPr>
          <p:cNvPr id="1080" name="Google Shape;1080;p82"/>
          <p:cNvPicPr preferRelativeResize="0"/>
          <p:nvPr/>
        </p:nvPicPr>
        <p:blipFill>
          <a:blip r:embed="rId3">
            <a:alphaModFix/>
          </a:blip>
          <a:stretch>
            <a:fillRect/>
          </a:stretch>
        </p:blipFill>
        <p:spPr>
          <a:xfrm>
            <a:off x="879450" y="2536525"/>
            <a:ext cx="390150" cy="780301"/>
          </a:xfrm>
          <a:prstGeom prst="rect">
            <a:avLst/>
          </a:prstGeom>
          <a:noFill/>
          <a:ln>
            <a:noFill/>
          </a:ln>
        </p:spPr>
      </p:pic>
      <p:pic>
        <p:nvPicPr>
          <p:cNvPr id="1081" name="Google Shape;1081;p82"/>
          <p:cNvPicPr preferRelativeResize="0"/>
          <p:nvPr/>
        </p:nvPicPr>
        <p:blipFill>
          <a:blip r:embed="rId3">
            <a:alphaModFix/>
          </a:blip>
          <a:stretch>
            <a:fillRect/>
          </a:stretch>
        </p:blipFill>
        <p:spPr>
          <a:xfrm>
            <a:off x="1336650" y="2536525"/>
            <a:ext cx="390150" cy="780301"/>
          </a:xfrm>
          <a:prstGeom prst="rect">
            <a:avLst/>
          </a:prstGeom>
          <a:noFill/>
          <a:ln>
            <a:noFill/>
          </a:ln>
        </p:spPr>
      </p:pic>
      <p:pic>
        <p:nvPicPr>
          <p:cNvPr id="1082" name="Google Shape;1082;p82"/>
          <p:cNvPicPr preferRelativeResize="0"/>
          <p:nvPr/>
        </p:nvPicPr>
        <p:blipFill>
          <a:blip r:embed="rId3">
            <a:alphaModFix/>
          </a:blip>
          <a:stretch>
            <a:fillRect/>
          </a:stretch>
        </p:blipFill>
        <p:spPr>
          <a:xfrm>
            <a:off x="1793850" y="2536525"/>
            <a:ext cx="390150" cy="780301"/>
          </a:xfrm>
          <a:prstGeom prst="rect">
            <a:avLst/>
          </a:prstGeom>
          <a:noFill/>
          <a:ln>
            <a:noFill/>
          </a:ln>
        </p:spPr>
      </p:pic>
      <p:pic>
        <p:nvPicPr>
          <p:cNvPr id="1083" name="Google Shape;1083;p82"/>
          <p:cNvPicPr preferRelativeResize="0"/>
          <p:nvPr/>
        </p:nvPicPr>
        <p:blipFill>
          <a:blip r:embed="rId3">
            <a:alphaModFix/>
          </a:blip>
          <a:stretch>
            <a:fillRect/>
          </a:stretch>
        </p:blipFill>
        <p:spPr>
          <a:xfrm>
            <a:off x="422250" y="3679525"/>
            <a:ext cx="390150" cy="780301"/>
          </a:xfrm>
          <a:prstGeom prst="rect">
            <a:avLst/>
          </a:prstGeom>
          <a:noFill/>
          <a:ln>
            <a:noFill/>
          </a:ln>
        </p:spPr>
      </p:pic>
      <p:pic>
        <p:nvPicPr>
          <p:cNvPr id="1084" name="Google Shape;1084;p82"/>
          <p:cNvPicPr preferRelativeResize="0"/>
          <p:nvPr/>
        </p:nvPicPr>
        <p:blipFill>
          <a:blip r:embed="rId3">
            <a:alphaModFix/>
          </a:blip>
          <a:stretch>
            <a:fillRect/>
          </a:stretch>
        </p:blipFill>
        <p:spPr>
          <a:xfrm>
            <a:off x="879450" y="3679525"/>
            <a:ext cx="390150" cy="780301"/>
          </a:xfrm>
          <a:prstGeom prst="rect">
            <a:avLst/>
          </a:prstGeom>
          <a:noFill/>
          <a:ln>
            <a:noFill/>
          </a:ln>
        </p:spPr>
      </p:pic>
      <p:pic>
        <p:nvPicPr>
          <p:cNvPr id="1085" name="Google Shape;1085;p82"/>
          <p:cNvPicPr preferRelativeResize="0"/>
          <p:nvPr/>
        </p:nvPicPr>
        <p:blipFill>
          <a:blip r:embed="rId3">
            <a:alphaModFix/>
          </a:blip>
          <a:stretch>
            <a:fillRect/>
          </a:stretch>
        </p:blipFill>
        <p:spPr>
          <a:xfrm>
            <a:off x="1336650" y="3679525"/>
            <a:ext cx="390150" cy="780301"/>
          </a:xfrm>
          <a:prstGeom prst="rect">
            <a:avLst/>
          </a:prstGeom>
          <a:noFill/>
          <a:ln>
            <a:noFill/>
          </a:ln>
        </p:spPr>
      </p:pic>
      <p:pic>
        <p:nvPicPr>
          <p:cNvPr id="1086" name="Google Shape;1086;p82"/>
          <p:cNvPicPr preferRelativeResize="0"/>
          <p:nvPr/>
        </p:nvPicPr>
        <p:blipFill>
          <a:blip r:embed="rId3">
            <a:alphaModFix/>
          </a:blip>
          <a:stretch>
            <a:fillRect/>
          </a:stretch>
        </p:blipFill>
        <p:spPr>
          <a:xfrm>
            <a:off x="1793850" y="3679525"/>
            <a:ext cx="390150" cy="780301"/>
          </a:xfrm>
          <a:prstGeom prst="rect">
            <a:avLst/>
          </a:prstGeom>
          <a:noFill/>
          <a:ln>
            <a:noFill/>
          </a:ln>
        </p:spPr>
      </p:pic>
      <p:sp>
        <p:nvSpPr>
          <p:cNvPr id="1087" name="Google Shape;1087;p82"/>
          <p:cNvSpPr txBox="1"/>
          <p:nvPr/>
        </p:nvSpPr>
        <p:spPr>
          <a:xfrm>
            <a:off x="746065" y="2001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A</a:t>
            </a:r>
            <a:endParaRPr sz="1800">
              <a:solidFill>
                <a:schemeClr val="dk1"/>
              </a:solidFill>
              <a:latin typeface="Lexend"/>
              <a:ea typeface="Lexend"/>
              <a:cs typeface="Lexend"/>
              <a:sym typeface="Lexend"/>
            </a:endParaRPr>
          </a:p>
        </p:txBody>
      </p:sp>
      <p:sp>
        <p:nvSpPr>
          <p:cNvPr id="1088" name="Google Shape;1088;p82"/>
          <p:cNvSpPr txBox="1"/>
          <p:nvPr/>
        </p:nvSpPr>
        <p:spPr>
          <a:xfrm>
            <a:off x="727050" y="3144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B</a:t>
            </a:r>
            <a:endParaRPr sz="1800">
              <a:solidFill>
                <a:schemeClr val="dk1"/>
              </a:solidFill>
              <a:latin typeface="Lexend"/>
              <a:ea typeface="Lexend"/>
              <a:cs typeface="Lexend"/>
              <a:sym typeface="Lexend"/>
            </a:endParaRPr>
          </a:p>
        </p:txBody>
      </p:sp>
      <p:sp>
        <p:nvSpPr>
          <p:cNvPr id="1089" name="Google Shape;1089;p82"/>
          <p:cNvSpPr txBox="1"/>
          <p:nvPr/>
        </p:nvSpPr>
        <p:spPr>
          <a:xfrm>
            <a:off x="746065" y="4296507"/>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C</a:t>
            </a:r>
            <a:endParaRPr sz="1800">
              <a:solidFill>
                <a:schemeClr val="dk1"/>
              </a:solidFill>
              <a:latin typeface="Lexend"/>
              <a:ea typeface="Lexend"/>
              <a:cs typeface="Lexend"/>
              <a:sym typeface="Lexend"/>
            </a:endParaRPr>
          </a:p>
        </p:txBody>
      </p:sp>
      <p:sp>
        <p:nvSpPr>
          <p:cNvPr id="1090" name="Google Shape;1090;p82"/>
          <p:cNvSpPr txBox="1"/>
          <p:nvPr/>
        </p:nvSpPr>
        <p:spPr>
          <a:xfrm>
            <a:off x="3165450" y="3760100"/>
            <a:ext cx="5004300" cy="874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Teacher A     litre</a:t>
            </a:r>
            <a:endParaRPr sz="2200">
              <a:solidFill>
                <a:schemeClr val="dk1"/>
              </a:solidFill>
              <a:latin typeface="Kalam"/>
              <a:ea typeface="Kalam"/>
              <a:cs typeface="Kalam"/>
              <a:sym typeface="Kalam"/>
            </a:endParaRPr>
          </a:p>
          <a:p>
            <a:pPr indent="0" lvl="0" marL="0" rtl="0" algn="l">
              <a:spcBef>
                <a:spcPts val="0"/>
              </a:spcBef>
              <a:spcAft>
                <a:spcPts val="0"/>
              </a:spcAft>
              <a:buNone/>
            </a:pPr>
            <a:r>
              <a:rPr lang="en-GB" sz="2200">
                <a:solidFill>
                  <a:schemeClr val="dk1"/>
                </a:solidFill>
                <a:latin typeface="Kalam"/>
                <a:ea typeface="Kalam"/>
                <a:cs typeface="Kalam"/>
                <a:sym typeface="Kalam"/>
              </a:rPr>
              <a:t>Teacher B and C each have 3 litres.</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3}{2}&quot;&gt;&lt;mfrac&gt;&lt;mn&gt;3&lt;/mn&gt;&lt;mn&gt;2&lt;/mn&gt;&lt;/mfrac&gt;&lt;/math&gt;" id="1091" name="Google Shape;1091;p82" title="three halves"/>
          <p:cNvPicPr preferRelativeResize="0"/>
          <p:nvPr/>
        </p:nvPicPr>
        <p:blipFill>
          <a:blip r:embed="rId4">
            <a:alphaModFix/>
          </a:blip>
          <a:stretch>
            <a:fillRect/>
          </a:stretch>
        </p:blipFill>
        <p:spPr>
          <a:xfrm>
            <a:off x="4572000" y="3687975"/>
            <a:ext cx="164100" cy="522825"/>
          </a:xfrm>
          <a:prstGeom prst="rect">
            <a:avLst/>
          </a:prstGeom>
          <a:noFill/>
          <a:ln>
            <a:noFill/>
          </a:ln>
        </p:spPr>
      </p:pic>
      <p:sp>
        <p:nvSpPr>
          <p:cNvPr id="1092" name="Google Shape;1092;p82"/>
          <p:cNvSpPr txBox="1"/>
          <p:nvPr>
            <p:ph idx="1" type="body"/>
          </p:nvPr>
        </p:nvSpPr>
        <p:spPr>
          <a:xfrm>
            <a:off x="2518800" y="959850"/>
            <a:ext cx="6137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a:t>
            </a:r>
            <a:endParaRPr/>
          </a:p>
        </p:txBody>
      </p:sp>
      <p:pic>
        <p:nvPicPr>
          <p:cNvPr descr="&lt;math xmlns=&quot;http://www.w3.org/1998/Math/MathML&quot; display=&quot;block&quot; data-is-equatio=&quot;1&quot; data-latex=&quot;\frac{3}{4}&quot;&gt;&lt;mfrac&gt;&lt;mn&gt;3&lt;/mn&gt;&lt;mn&gt;4&lt;/mn&gt;&lt;/mfrac&gt;&lt;/math&gt;" id="1093" name="Google Shape;1093;p82" title="three fourths"/>
          <p:cNvPicPr preferRelativeResize="0"/>
          <p:nvPr/>
        </p:nvPicPr>
        <p:blipFill>
          <a:blip r:embed="rId5">
            <a:alphaModFix/>
          </a:blip>
          <a:stretch>
            <a:fillRect/>
          </a:stretch>
        </p:blipFill>
        <p:spPr>
          <a:xfrm>
            <a:off x="4750800" y="803950"/>
            <a:ext cx="164122" cy="522900"/>
          </a:xfrm>
          <a:prstGeom prst="rect">
            <a:avLst/>
          </a:prstGeom>
          <a:noFill/>
          <a:ln>
            <a:noFill/>
          </a:ln>
        </p:spPr>
      </p:pic>
      <p:sp>
        <p:nvSpPr>
          <p:cNvPr id="1094" name="Google Shape;1094;p82"/>
          <p:cNvSpPr txBox="1"/>
          <p:nvPr>
            <p:ph idx="1" type="body"/>
          </p:nvPr>
        </p:nvSpPr>
        <p:spPr>
          <a:xfrm>
            <a:off x="2518800" y="1264650"/>
            <a:ext cx="6137700" cy="137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three teachers have a different number of water bottles to give to the students in their groups. Each student gets an equal share.</a:t>
            </a:r>
            <a:endParaRPr sz="1800"/>
          </a:p>
          <a:p>
            <a:pPr indent="0" lvl="0" marL="0" rtl="0" algn="l">
              <a:spcBef>
                <a:spcPts val="1000"/>
              </a:spcBef>
              <a:spcAft>
                <a:spcPts val="1000"/>
              </a:spcAft>
              <a:buNone/>
            </a:pPr>
            <a:r>
              <a:t/>
            </a:r>
            <a:endParaRPr/>
          </a:p>
        </p:txBody>
      </p:sp>
      <p:sp>
        <p:nvSpPr>
          <p:cNvPr id="1095" name="Google Shape;1095;p82"/>
          <p:cNvSpPr txBox="1"/>
          <p:nvPr>
            <p:ph idx="1" type="body"/>
          </p:nvPr>
        </p:nvSpPr>
        <p:spPr>
          <a:xfrm>
            <a:off x="3032975" y="959850"/>
            <a:ext cx="57759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bottle</a:t>
            </a:r>
            <a:endParaRPr/>
          </a:p>
        </p:txBody>
      </p:sp>
      <p:sp>
        <p:nvSpPr>
          <p:cNvPr id="1096" name="Google Shape;1096;p82"/>
          <p:cNvSpPr txBox="1"/>
          <p:nvPr>
            <p:ph idx="1" type="body"/>
          </p:nvPr>
        </p:nvSpPr>
        <p:spPr>
          <a:xfrm>
            <a:off x="3736375" y="959850"/>
            <a:ext cx="52248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contains</a:t>
            </a:r>
            <a:endParaRPr/>
          </a:p>
        </p:txBody>
      </p:sp>
      <p:sp>
        <p:nvSpPr>
          <p:cNvPr id="1097" name="Google Shape;1097;p82"/>
          <p:cNvSpPr txBox="1"/>
          <p:nvPr>
            <p:ph idx="1" type="body"/>
          </p:nvPr>
        </p:nvSpPr>
        <p:spPr>
          <a:xfrm>
            <a:off x="5003925" y="959850"/>
            <a:ext cx="4109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litre of water. On a school trip,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Solving problems involving fractions</a:t>
            </a:r>
            <a:endParaRPr/>
          </a:p>
        </p:txBody>
      </p:sp>
      <p:sp>
        <p:nvSpPr>
          <p:cNvPr id="1103" name="Google Shape;1103;p83"/>
          <p:cNvSpPr txBox="1"/>
          <p:nvPr/>
        </p:nvSpPr>
        <p:spPr>
          <a:xfrm>
            <a:off x="2514450" y="2515950"/>
            <a:ext cx="6519900" cy="1236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How much water do the students in each group get if:</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b) There are three students in Teacher A’s group?</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pic>
        <p:nvPicPr>
          <p:cNvPr id="1104" name="Google Shape;1104;p83"/>
          <p:cNvPicPr preferRelativeResize="0"/>
          <p:nvPr/>
        </p:nvPicPr>
        <p:blipFill>
          <a:blip r:embed="rId3">
            <a:alphaModFix/>
          </a:blip>
          <a:stretch>
            <a:fillRect/>
          </a:stretch>
        </p:blipFill>
        <p:spPr>
          <a:xfrm>
            <a:off x="955650" y="1393525"/>
            <a:ext cx="390150" cy="780301"/>
          </a:xfrm>
          <a:prstGeom prst="rect">
            <a:avLst/>
          </a:prstGeom>
          <a:noFill/>
          <a:ln>
            <a:noFill/>
          </a:ln>
        </p:spPr>
      </p:pic>
      <p:pic>
        <p:nvPicPr>
          <p:cNvPr id="1105" name="Google Shape;1105;p83"/>
          <p:cNvPicPr preferRelativeResize="0"/>
          <p:nvPr/>
        </p:nvPicPr>
        <p:blipFill>
          <a:blip r:embed="rId3">
            <a:alphaModFix/>
          </a:blip>
          <a:stretch>
            <a:fillRect/>
          </a:stretch>
        </p:blipFill>
        <p:spPr>
          <a:xfrm>
            <a:off x="1412850" y="1393525"/>
            <a:ext cx="390150" cy="780301"/>
          </a:xfrm>
          <a:prstGeom prst="rect">
            <a:avLst/>
          </a:prstGeom>
          <a:noFill/>
          <a:ln>
            <a:noFill/>
          </a:ln>
        </p:spPr>
      </p:pic>
      <p:pic>
        <p:nvPicPr>
          <p:cNvPr id="1106" name="Google Shape;1106;p83"/>
          <p:cNvPicPr preferRelativeResize="0"/>
          <p:nvPr/>
        </p:nvPicPr>
        <p:blipFill>
          <a:blip r:embed="rId3">
            <a:alphaModFix/>
          </a:blip>
          <a:stretch>
            <a:fillRect/>
          </a:stretch>
        </p:blipFill>
        <p:spPr>
          <a:xfrm>
            <a:off x="422250" y="2536525"/>
            <a:ext cx="390150" cy="780301"/>
          </a:xfrm>
          <a:prstGeom prst="rect">
            <a:avLst/>
          </a:prstGeom>
          <a:noFill/>
          <a:ln>
            <a:noFill/>
          </a:ln>
        </p:spPr>
      </p:pic>
      <p:pic>
        <p:nvPicPr>
          <p:cNvPr id="1107" name="Google Shape;1107;p83"/>
          <p:cNvPicPr preferRelativeResize="0"/>
          <p:nvPr/>
        </p:nvPicPr>
        <p:blipFill>
          <a:blip r:embed="rId3">
            <a:alphaModFix/>
          </a:blip>
          <a:stretch>
            <a:fillRect/>
          </a:stretch>
        </p:blipFill>
        <p:spPr>
          <a:xfrm>
            <a:off x="879450" y="2536525"/>
            <a:ext cx="390150" cy="780301"/>
          </a:xfrm>
          <a:prstGeom prst="rect">
            <a:avLst/>
          </a:prstGeom>
          <a:noFill/>
          <a:ln>
            <a:noFill/>
          </a:ln>
        </p:spPr>
      </p:pic>
      <p:pic>
        <p:nvPicPr>
          <p:cNvPr id="1108" name="Google Shape;1108;p83"/>
          <p:cNvPicPr preferRelativeResize="0"/>
          <p:nvPr/>
        </p:nvPicPr>
        <p:blipFill>
          <a:blip r:embed="rId3">
            <a:alphaModFix/>
          </a:blip>
          <a:stretch>
            <a:fillRect/>
          </a:stretch>
        </p:blipFill>
        <p:spPr>
          <a:xfrm>
            <a:off x="1336650" y="2536525"/>
            <a:ext cx="390150" cy="780301"/>
          </a:xfrm>
          <a:prstGeom prst="rect">
            <a:avLst/>
          </a:prstGeom>
          <a:noFill/>
          <a:ln>
            <a:noFill/>
          </a:ln>
        </p:spPr>
      </p:pic>
      <p:pic>
        <p:nvPicPr>
          <p:cNvPr id="1109" name="Google Shape;1109;p83"/>
          <p:cNvPicPr preferRelativeResize="0"/>
          <p:nvPr/>
        </p:nvPicPr>
        <p:blipFill>
          <a:blip r:embed="rId3">
            <a:alphaModFix/>
          </a:blip>
          <a:stretch>
            <a:fillRect/>
          </a:stretch>
        </p:blipFill>
        <p:spPr>
          <a:xfrm>
            <a:off x="1793850" y="2536525"/>
            <a:ext cx="390150" cy="780301"/>
          </a:xfrm>
          <a:prstGeom prst="rect">
            <a:avLst/>
          </a:prstGeom>
          <a:noFill/>
          <a:ln>
            <a:noFill/>
          </a:ln>
        </p:spPr>
      </p:pic>
      <p:pic>
        <p:nvPicPr>
          <p:cNvPr id="1110" name="Google Shape;1110;p83"/>
          <p:cNvPicPr preferRelativeResize="0"/>
          <p:nvPr/>
        </p:nvPicPr>
        <p:blipFill>
          <a:blip r:embed="rId3">
            <a:alphaModFix/>
          </a:blip>
          <a:stretch>
            <a:fillRect/>
          </a:stretch>
        </p:blipFill>
        <p:spPr>
          <a:xfrm>
            <a:off x="422250" y="3679525"/>
            <a:ext cx="390150" cy="780301"/>
          </a:xfrm>
          <a:prstGeom prst="rect">
            <a:avLst/>
          </a:prstGeom>
          <a:noFill/>
          <a:ln>
            <a:noFill/>
          </a:ln>
        </p:spPr>
      </p:pic>
      <p:pic>
        <p:nvPicPr>
          <p:cNvPr id="1111" name="Google Shape;1111;p83"/>
          <p:cNvPicPr preferRelativeResize="0"/>
          <p:nvPr/>
        </p:nvPicPr>
        <p:blipFill>
          <a:blip r:embed="rId3">
            <a:alphaModFix/>
          </a:blip>
          <a:stretch>
            <a:fillRect/>
          </a:stretch>
        </p:blipFill>
        <p:spPr>
          <a:xfrm>
            <a:off x="879450" y="3679525"/>
            <a:ext cx="390150" cy="780301"/>
          </a:xfrm>
          <a:prstGeom prst="rect">
            <a:avLst/>
          </a:prstGeom>
          <a:noFill/>
          <a:ln>
            <a:noFill/>
          </a:ln>
        </p:spPr>
      </p:pic>
      <p:pic>
        <p:nvPicPr>
          <p:cNvPr id="1112" name="Google Shape;1112;p83"/>
          <p:cNvPicPr preferRelativeResize="0"/>
          <p:nvPr/>
        </p:nvPicPr>
        <p:blipFill>
          <a:blip r:embed="rId3">
            <a:alphaModFix/>
          </a:blip>
          <a:stretch>
            <a:fillRect/>
          </a:stretch>
        </p:blipFill>
        <p:spPr>
          <a:xfrm>
            <a:off x="1336650" y="3679525"/>
            <a:ext cx="390150" cy="780301"/>
          </a:xfrm>
          <a:prstGeom prst="rect">
            <a:avLst/>
          </a:prstGeom>
          <a:noFill/>
          <a:ln>
            <a:noFill/>
          </a:ln>
        </p:spPr>
      </p:pic>
      <p:pic>
        <p:nvPicPr>
          <p:cNvPr id="1113" name="Google Shape;1113;p83"/>
          <p:cNvPicPr preferRelativeResize="0"/>
          <p:nvPr/>
        </p:nvPicPr>
        <p:blipFill>
          <a:blip r:embed="rId3">
            <a:alphaModFix/>
          </a:blip>
          <a:stretch>
            <a:fillRect/>
          </a:stretch>
        </p:blipFill>
        <p:spPr>
          <a:xfrm>
            <a:off x="1793850" y="3679525"/>
            <a:ext cx="390150" cy="780301"/>
          </a:xfrm>
          <a:prstGeom prst="rect">
            <a:avLst/>
          </a:prstGeom>
          <a:noFill/>
          <a:ln>
            <a:noFill/>
          </a:ln>
        </p:spPr>
      </p:pic>
      <p:sp>
        <p:nvSpPr>
          <p:cNvPr id="1114" name="Google Shape;1114;p83"/>
          <p:cNvSpPr txBox="1"/>
          <p:nvPr/>
        </p:nvSpPr>
        <p:spPr>
          <a:xfrm>
            <a:off x="746065" y="2001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A</a:t>
            </a:r>
            <a:endParaRPr sz="1800">
              <a:solidFill>
                <a:schemeClr val="dk1"/>
              </a:solidFill>
              <a:latin typeface="Lexend"/>
              <a:ea typeface="Lexend"/>
              <a:cs typeface="Lexend"/>
              <a:sym typeface="Lexend"/>
            </a:endParaRPr>
          </a:p>
        </p:txBody>
      </p:sp>
      <p:sp>
        <p:nvSpPr>
          <p:cNvPr id="1115" name="Google Shape;1115;p83"/>
          <p:cNvSpPr txBox="1"/>
          <p:nvPr/>
        </p:nvSpPr>
        <p:spPr>
          <a:xfrm>
            <a:off x="727050" y="3144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B</a:t>
            </a:r>
            <a:endParaRPr sz="1800">
              <a:solidFill>
                <a:schemeClr val="dk1"/>
              </a:solidFill>
              <a:latin typeface="Lexend"/>
              <a:ea typeface="Lexend"/>
              <a:cs typeface="Lexend"/>
              <a:sym typeface="Lexend"/>
            </a:endParaRPr>
          </a:p>
        </p:txBody>
      </p:sp>
      <p:sp>
        <p:nvSpPr>
          <p:cNvPr id="1116" name="Google Shape;1116;p83"/>
          <p:cNvSpPr txBox="1"/>
          <p:nvPr/>
        </p:nvSpPr>
        <p:spPr>
          <a:xfrm>
            <a:off x="746065" y="4296507"/>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C</a:t>
            </a:r>
            <a:endParaRPr sz="1800">
              <a:solidFill>
                <a:schemeClr val="dk1"/>
              </a:solidFill>
              <a:latin typeface="Lexend"/>
              <a:ea typeface="Lexend"/>
              <a:cs typeface="Lexend"/>
              <a:sym typeface="Lexend"/>
            </a:endParaRPr>
          </a:p>
        </p:txBody>
      </p:sp>
      <p:grpSp>
        <p:nvGrpSpPr>
          <p:cNvPr id="1117" name="Google Shape;1117;p83"/>
          <p:cNvGrpSpPr/>
          <p:nvPr/>
        </p:nvGrpSpPr>
        <p:grpSpPr>
          <a:xfrm>
            <a:off x="3096850" y="3294742"/>
            <a:ext cx="5004300" cy="1588358"/>
            <a:chOff x="3096850" y="3066142"/>
            <a:chExt cx="5004300" cy="1588358"/>
          </a:xfrm>
        </p:grpSpPr>
        <p:pic>
          <p:nvPicPr>
            <p:cNvPr descr="&lt;math xmlns=&quot;http://www.w3.org/1998/Math/MathML&quot; display=&quot;block&quot; data-is-equatio=&quot;1&quot; data-latex=&quot;\frac{3}{2}\div3\ =\ \frac{1}{2}&quot;&gt;&lt;mfrac&gt;&lt;mn&gt;3&lt;/mn&gt;&lt;mn&gt;2&lt;/mn&gt;&lt;/mfrac&gt;&lt;mo&gt;÷&lt;/mo&gt;&lt;mn&gt;3&lt;/mn&gt;&lt;mtext&gt;&lt;/mtext&gt;&lt;mo&gt;=&lt;/mo&gt;&lt;mtext&gt;&lt;/mtext&gt;&lt;mfrac&gt;&lt;mn&gt;1&lt;/mn&gt;&lt;mn&gt;2&lt;/mn&gt;&lt;/mfrac&gt;&lt;/math&gt;" id="1118" name="Google Shape;1118;p83" title="three halves divided by 3 equals one half"/>
            <p:cNvPicPr preferRelativeResize="0"/>
            <p:nvPr/>
          </p:nvPicPr>
          <p:blipFill>
            <a:blip r:embed="rId4">
              <a:alphaModFix/>
            </a:blip>
            <a:stretch>
              <a:fillRect/>
            </a:stretch>
          </p:blipFill>
          <p:spPr>
            <a:xfrm>
              <a:off x="4934543" y="3066142"/>
              <a:ext cx="1119745" cy="487000"/>
            </a:xfrm>
            <a:prstGeom prst="rect">
              <a:avLst/>
            </a:prstGeom>
            <a:noFill/>
            <a:ln>
              <a:noFill/>
            </a:ln>
          </p:spPr>
        </p:pic>
        <p:sp>
          <p:nvSpPr>
            <p:cNvPr id="1119" name="Google Shape;1119;p83"/>
            <p:cNvSpPr txBox="1"/>
            <p:nvPr/>
          </p:nvSpPr>
          <p:spPr>
            <a:xfrm>
              <a:off x="3096850" y="3780000"/>
              <a:ext cx="5004300" cy="874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Each student gets     litre each.</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3}{2}\div3\ =\ \frac{1}{2}&quot;&gt;&lt;mfrac&gt;&lt;mn&gt;3&lt;/mn&gt;&lt;mn&gt;2&lt;/mn&gt;&lt;/mfrac&gt;&lt;mo&gt;÷&lt;/mo&gt;&lt;mn&gt;3&lt;/mn&gt;&lt;mtext&gt;&lt;/mtext&gt;&lt;mo&gt;=&lt;/mo&gt;&lt;mtext&gt;&lt;/mtext&gt;&lt;mfrac&gt;&lt;mn&gt;1&lt;/mn&gt;&lt;mn&gt;2&lt;/mn&gt;&lt;/mfrac&gt;&lt;/math&gt;" id="1120" name="Google Shape;1120;p83" title="three halves divided by 3 equals one half"/>
            <p:cNvPicPr preferRelativeResize="0"/>
            <p:nvPr/>
          </p:nvPicPr>
          <p:blipFill rotWithShape="1">
            <a:blip r:embed="rId4">
              <a:alphaModFix/>
            </a:blip>
            <a:srcRect b="0" l="85344" r="0" t="0"/>
            <a:stretch/>
          </p:blipFill>
          <p:spPr>
            <a:xfrm>
              <a:off x="5516940" y="3826175"/>
              <a:ext cx="164100" cy="487000"/>
            </a:xfrm>
            <a:prstGeom prst="rect">
              <a:avLst/>
            </a:prstGeom>
            <a:noFill/>
            <a:ln>
              <a:noFill/>
            </a:ln>
          </p:spPr>
        </p:pic>
      </p:grpSp>
      <p:sp>
        <p:nvSpPr>
          <p:cNvPr id="1121" name="Google Shape;1121;p83"/>
          <p:cNvSpPr txBox="1"/>
          <p:nvPr>
            <p:ph idx="1" type="body"/>
          </p:nvPr>
        </p:nvSpPr>
        <p:spPr>
          <a:xfrm>
            <a:off x="2518800" y="959850"/>
            <a:ext cx="6137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a:t>
            </a:r>
            <a:endParaRPr/>
          </a:p>
        </p:txBody>
      </p:sp>
      <p:pic>
        <p:nvPicPr>
          <p:cNvPr descr="&lt;math xmlns=&quot;http://www.w3.org/1998/Math/MathML&quot; display=&quot;block&quot; data-is-equatio=&quot;1&quot; data-latex=&quot;\frac{3}{4}&quot;&gt;&lt;mfrac&gt;&lt;mn&gt;3&lt;/mn&gt;&lt;mn&gt;4&lt;/mn&gt;&lt;/mfrac&gt;&lt;/math&gt;" id="1122" name="Google Shape;1122;p83" title="three fourths"/>
          <p:cNvPicPr preferRelativeResize="0"/>
          <p:nvPr/>
        </p:nvPicPr>
        <p:blipFill>
          <a:blip r:embed="rId5">
            <a:alphaModFix/>
          </a:blip>
          <a:stretch>
            <a:fillRect/>
          </a:stretch>
        </p:blipFill>
        <p:spPr>
          <a:xfrm>
            <a:off x="4750800" y="803950"/>
            <a:ext cx="164122" cy="522900"/>
          </a:xfrm>
          <a:prstGeom prst="rect">
            <a:avLst/>
          </a:prstGeom>
          <a:noFill/>
          <a:ln>
            <a:noFill/>
          </a:ln>
        </p:spPr>
      </p:pic>
      <p:sp>
        <p:nvSpPr>
          <p:cNvPr id="1123" name="Google Shape;1123;p83"/>
          <p:cNvSpPr txBox="1"/>
          <p:nvPr>
            <p:ph idx="1" type="body"/>
          </p:nvPr>
        </p:nvSpPr>
        <p:spPr>
          <a:xfrm>
            <a:off x="2518800" y="1264650"/>
            <a:ext cx="6137700" cy="137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three teachers have a different number of water bottles to give to the students in their groups. Each student gets an equal share.</a:t>
            </a:r>
            <a:endParaRPr sz="1800"/>
          </a:p>
          <a:p>
            <a:pPr indent="0" lvl="0" marL="0" rtl="0" algn="l">
              <a:spcBef>
                <a:spcPts val="1000"/>
              </a:spcBef>
              <a:spcAft>
                <a:spcPts val="1000"/>
              </a:spcAft>
              <a:buNone/>
            </a:pPr>
            <a:r>
              <a:t/>
            </a:r>
            <a:endParaRPr/>
          </a:p>
        </p:txBody>
      </p:sp>
      <p:sp>
        <p:nvSpPr>
          <p:cNvPr id="1124" name="Google Shape;1124;p83"/>
          <p:cNvSpPr txBox="1"/>
          <p:nvPr>
            <p:ph idx="1" type="body"/>
          </p:nvPr>
        </p:nvSpPr>
        <p:spPr>
          <a:xfrm>
            <a:off x="3032975" y="959850"/>
            <a:ext cx="57759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bottle</a:t>
            </a:r>
            <a:endParaRPr/>
          </a:p>
        </p:txBody>
      </p:sp>
      <p:sp>
        <p:nvSpPr>
          <p:cNvPr id="1125" name="Google Shape;1125;p83"/>
          <p:cNvSpPr txBox="1"/>
          <p:nvPr>
            <p:ph idx="1" type="body"/>
          </p:nvPr>
        </p:nvSpPr>
        <p:spPr>
          <a:xfrm>
            <a:off x="3736375" y="959850"/>
            <a:ext cx="52248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contains</a:t>
            </a:r>
            <a:endParaRPr/>
          </a:p>
        </p:txBody>
      </p:sp>
      <p:sp>
        <p:nvSpPr>
          <p:cNvPr id="1126" name="Google Shape;1126;p83"/>
          <p:cNvSpPr txBox="1"/>
          <p:nvPr>
            <p:ph idx="1" type="body"/>
          </p:nvPr>
        </p:nvSpPr>
        <p:spPr>
          <a:xfrm>
            <a:off x="5003925" y="959850"/>
            <a:ext cx="4109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litre of water. On a school trip,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Solving problems involving fractions</a:t>
            </a:r>
            <a:endParaRPr/>
          </a:p>
        </p:txBody>
      </p:sp>
      <p:sp>
        <p:nvSpPr>
          <p:cNvPr id="1132" name="Google Shape;1132;p84"/>
          <p:cNvSpPr txBox="1"/>
          <p:nvPr/>
        </p:nvSpPr>
        <p:spPr>
          <a:xfrm>
            <a:off x="2514450" y="2668350"/>
            <a:ext cx="6519900" cy="1236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How much water do the students in each group get if:</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c) There are six students in Teacher B’s group?</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pic>
        <p:nvPicPr>
          <p:cNvPr id="1133" name="Google Shape;1133;p84"/>
          <p:cNvPicPr preferRelativeResize="0"/>
          <p:nvPr/>
        </p:nvPicPr>
        <p:blipFill>
          <a:blip r:embed="rId3">
            <a:alphaModFix/>
          </a:blip>
          <a:stretch>
            <a:fillRect/>
          </a:stretch>
        </p:blipFill>
        <p:spPr>
          <a:xfrm>
            <a:off x="955650" y="1393525"/>
            <a:ext cx="390150" cy="780301"/>
          </a:xfrm>
          <a:prstGeom prst="rect">
            <a:avLst/>
          </a:prstGeom>
          <a:noFill/>
          <a:ln>
            <a:noFill/>
          </a:ln>
        </p:spPr>
      </p:pic>
      <p:pic>
        <p:nvPicPr>
          <p:cNvPr id="1134" name="Google Shape;1134;p84"/>
          <p:cNvPicPr preferRelativeResize="0"/>
          <p:nvPr/>
        </p:nvPicPr>
        <p:blipFill>
          <a:blip r:embed="rId3">
            <a:alphaModFix/>
          </a:blip>
          <a:stretch>
            <a:fillRect/>
          </a:stretch>
        </p:blipFill>
        <p:spPr>
          <a:xfrm>
            <a:off x="1412850" y="1393525"/>
            <a:ext cx="390150" cy="780301"/>
          </a:xfrm>
          <a:prstGeom prst="rect">
            <a:avLst/>
          </a:prstGeom>
          <a:noFill/>
          <a:ln>
            <a:noFill/>
          </a:ln>
        </p:spPr>
      </p:pic>
      <p:pic>
        <p:nvPicPr>
          <p:cNvPr id="1135" name="Google Shape;1135;p84"/>
          <p:cNvPicPr preferRelativeResize="0"/>
          <p:nvPr/>
        </p:nvPicPr>
        <p:blipFill>
          <a:blip r:embed="rId3">
            <a:alphaModFix/>
          </a:blip>
          <a:stretch>
            <a:fillRect/>
          </a:stretch>
        </p:blipFill>
        <p:spPr>
          <a:xfrm>
            <a:off x="422250" y="2536525"/>
            <a:ext cx="390150" cy="780301"/>
          </a:xfrm>
          <a:prstGeom prst="rect">
            <a:avLst/>
          </a:prstGeom>
          <a:noFill/>
          <a:ln>
            <a:noFill/>
          </a:ln>
        </p:spPr>
      </p:pic>
      <p:pic>
        <p:nvPicPr>
          <p:cNvPr id="1136" name="Google Shape;1136;p84"/>
          <p:cNvPicPr preferRelativeResize="0"/>
          <p:nvPr/>
        </p:nvPicPr>
        <p:blipFill>
          <a:blip r:embed="rId3">
            <a:alphaModFix/>
          </a:blip>
          <a:stretch>
            <a:fillRect/>
          </a:stretch>
        </p:blipFill>
        <p:spPr>
          <a:xfrm>
            <a:off x="879450" y="2536525"/>
            <a:ext cx="390150" cy="780301"/>
          </a:xfrm>
          <a:prstGeom prst="rect">
            <a:avLst/>
          </a:prstGeom>
          <a:noFill/>
          <a:ln>
            <a:noFill/>
          </a:ln>
        </p:spPr>
      </p:pic>
      <p:pic>
        <p:nvPicPr>
          <p:cNvPr id="1137" name="Google Shape;1137;p84"/>
          <p:cNvPicPr preferRelativeResize="0"/>
          <p:nvPr/>
        </p:nvPicPr>
        <p:blipFill>
          <a:blip r:embed="rId3">
            <a:alphaModFix/>
          </a:blip>
          <a:stretch>
            <a:fillRect/>
          </a:stretch>
        </p:blipFill>
        <p:spPr>
          <a:xfrm>
            <a:off x="1336650" y="2536525"/>
            <a:ext cx="390150" cy="780301"/>
          </a:xfrm>
          <a:prstGeom prst="rect">
            <a:avLst/>
          </a:prstGeom>
          <a:noFill/>
          <a:ln>
            <a:noFill/>
          </a:ln>
        </p:spPr>
      </p:pic>
      <p:pic>
        <p:nvPicPr>
          <p:cNvPr id="1138" name="Google Shape;1138;p84"/>
          <p:cNvPicPr preferRelativeResize="0"/>
          <p:nvPr/>
        </p:nvPicPr>
        <p:blipFill>
          <a:blip r:embed="rId3">
            <a:alphaModFix/>
          </a:blip>
          <a:stretch>
            <a:fillRect/>
          </a:stretch>
        </p:blipFill>
        <p:spPr>
          <a:xfrm>
            <a:off x="1793850" y="2536525"/>
            <a:ext cx="390150" cy="780301"/>
          </a:xfrm>
          <a:prstGeom prst="rect">
            <a:avLst/>
          </a:prstGeom>
          <a:noFill/>
          <a:ln>
            <a:noFill/>
          </a:ln>
        </p:spPr>
      </p:pic>
      <p:pic>
        <p:nvPicPr>
          <p:cNvPr id="1139" name="Google Shape;1139;p84"/>
          <p:cNvPicPr preferRelativeResize="0"/>
          <p:nvPr/>
        </p:nvPicPr>
        <p:blipFill>
          <a:blip r:embed="rId3">
            <a:alphaModFix/>
          </a:blip>
          <a:stretch>
            <a:fillRect/>
          </a:stretch>
        </p:blipFill>
        <p:spPr>
          <a:xfrm>
            <a:off x="422250" y="3679525"/>
            <a:ext cx="390150" cy="780301"/>
          </a:xfrm>
          <a:prstGeom prst="rect">
            <a:avLst/>
          </a:prstGeom>
          <a:noFill/>
          <a:ln>
            <a:noFill/>
          </a:ln>
        </p:spPr>
      </p:pic>
      <p:pic>
        <p:nvPicPr>
          <p:cNvPr id="1140" name="Google Shape;1140;p84"/>
          <p:cNvPicPr preferRelativeResize="0"/>
          <p:nvPr/>
        </p:nvPicPr>
        <p:blipFill>
          <a:blip r:embed="rId3">
            <a:alphaModFix/>
          </a:blip>
          <a:stretch>
            <a:fillRect/>
          </a:stretch>
        </p:blipFill>
        <p:spPr>
          <a:xfrm>
            <a:off x="879450" y="3679525"/>
            <a:ext cx="390150" cy="780301"/>
          </a:xfrm>
          <a:prstGeom prst="rect">
            <a:avLst/>
          </a:prstGeom>
          <a:noFill/>
          <a:ln>
            <a:noFill/>
          </a:ln>
        </p:spPr>
      </p:pic>
      <p:pic>
        <p:nvPicPr>
          <p:cNvPr id="1141" name="Google Shape;1141;p84"/>
          <p:cNvPicPr preferRelativeResize="0"/>
          <p:nvPr/>
        </p:nvPicPr>
        <p:blipFill>
          <a:blip r:embed="rId3">
            <a:alphaModFix/>
          </a:blip>
          <a:stretch>
            <a:fillRect/>
          </a:stretch>
        </p:blipFill>
        <p:spPr>
          <a:xfrm>
            <a:off x="1336650" y="3679525"/>
            <a:ext cx="390150" cy="780301"/>
          </a:xfrm>
          <a:prstGeom prst="rect">
            <a:avLst/>
          </a:prstGeom>
          <a:noFill/>
          <a:ln>
            <a:noFill/>
          </a:ln>
        </p:spPr>
      </p:pic>
      <p:pic>
        <p:nvPicPr>
          <p:cNvPr id="1142" name="Google Shape;1142;p84"/>
          <p:cNvPicPr preferRelativeResize="0"/>
          <p:nvPr/>
        </p:nvPicPr>
        <p:blipFill>
          <a:blip r:embed="rId3">
            <a:alphaModFix/>
          </a:blip>
          <a:stretch>
            <a:fillRect/>
          </a:stretch>
        </p:blipFill>
        <p:spPr>
          <a:xfrm>
            <a:off x="1793850" y="3679525"/>
            <a:ext cx="390150" cy="780301"/>
          </a:xfrm>
          <a:prstGeom prst="rect">
            <a:avLst/>
          </a:prstGeom>
          <a:noFill/>
          <a:ln>
            <a:noFill/>
          </a:ln>
        </p:spPr>
      </p:pic>
      <p:sp>
        <p:nvSpPr>
          <p:cNvPr id="1143" name="Google Shape;1143;p84"/>
          <p:cNvSpPr txBox="1"/>
          <p:nvPr/>
        </p:nvSpPr>
        <p:spPr>
          <a:xfrm>
            <a:off x="746065" y="2001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A</a:t>
            </a:r>
            <a:endParaRPr sz="1800">
              <a:solidFill>
                <a:schemeClr val="dk1"/>
              </a:solidFill>
              <a:latin typeface="Lexend"/>
              <a:ea typeface="Lexend"/>
              <a:cs typeface="Lexend"/>
              <a:sym typeface="Lexend"/>
            </a:endParaRPr>
          </a:p>
        </p:txBody>
      </p:sp>
      <p:sp>
        <p:nvSpPr>
          <p:cNvPr id="1144" name="Google Shape;1144;p84"/>
          <p:cNvSpPr txBox="1"/>
          <p:nvPr/>
        </p:nvSpPr>
        <p:spPr>
          <a:xfrm>
            <a:off x="727050" y="3144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B</a:t>
            </a:r>
            <a:endParaRPr sz="1800">
              <a:solidFill>
                <a:schemeClr val="dk1"/>
              </a:solidFill>
              <a:latin typeface="Lexend"/>
              <a:ea typeface="Lexend"/>
              <a:cs typeface="Lexend"/>
              <a:sym typeface="Lexend"/>
            </a:endParaRPr>
          </a:p>
        </p:txBody>
      </p:sp>
      <p:sp>
        <p:nvSpPr>
          <p:cNvPr id="1145" name="Google Shape;1145;p84"/>
          <p:cNvSpPr txBox="1"/>
          <p:nvPr/>
        </p:nvSpPr>
        <p:spPr>
          <a:xfrm>
            <a:off x="746065" y="4296507"/>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C</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3\ \div6\ =\ \frac{3}{6}=\ \frac{1}{2}&quot;&gt;&lt;mn&gt;3&lt;/mn&gt;&lt;mtext&gt;&lt;/mtext&gt;&lt;mo&gt;÷&lt;/mo&gt;&lt;mn&gt;6&lt;/mn&gt;&lt;mtext&gt;&lt;/mtext&gt;&lt;mo&gt;=&lt;/mo&gt;&lt;mtext&gt;&lt;/mtext&gt;&lt;mfrac&gt;&lt;mn&gt;3&lt;/mn&gt;&lt;mn&gt;6&lt;/mn&gt;&lt;/mfrac&gt;&lt;mo&gt;=&lt;/mo&gt;&lt;mtext&gt;&lt;/mtext&gt;&lt;mfrac&gt;&lt;mn&gt;1&lt;/mn&gt;&lt;mn&gt;2&lt;/mn&gt;&lt;/mfrac&gt;&lt;/math&gt;" id="1146" name="Google Shape;1146;p84" title="3 division sign 6 equals three sixths equals one half"/>
          <p:cNvPicPr preferRelativeResize="0"/>
          <p:nvPr/>
        </p:nvPicPr>
        <p:blipFill>
          <a:blip r:embed="rId4">
            <a:alphaModFix/>
          </a:blip>
          <a:stretch>
            <a:fillRect/>
          </a:stretch>
        </p:blipFill>
        <p:spPr>
          <a:xfrm>
            <a:off x="4494069" y="3523343"/>
            <a:ext cx="1935374" cy="571700"/>
          </a:xfrm>
          <a:prstGeom prst="rect">
            <a:avLst/>
          </a:prstGeom>
          <a:noFill/>
          <a:ln>
            <a:noFill/>
          </a:ln>
        </p:spPr>
      </p:pic>
      <p:grpSp>
        <p:nvGrpSpPr>
          <p:cNvPr id="1147" name="Google Shape;1147;p84"/>
          <p:cNvGrpSpPr/>
          <p:nvPr/>
        </p:nvGrpSpPr>
        <p:grpSpPr>
          <a:xfrm>
            <a:off x="3096850" y="4237200"/>
            <a:ext cx="5004300" cy="874500"/>
            <a:chOff x="3096850" y="3780000"/>
            <a:chExt cx="5004300" cy="874500"/>
          </a:xfrm>
        </p:grpSpPr>
        <p:sp>
          <p:nvSpPr>
            <p:cNvPr id="1148" name="Google Shape;1148;p84"/>
            <p:cNvSpPr txBox="1"/>
            <p:nvPr/>
          </p:nvSpPr>
          <p:spPr>
            <a:xfrm>
              <a:off x="3096850" y="3780000"/>
              <a:ext cx="5004300" cy="874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Each student gets     litre each.</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frac{3}{2}\div3\ =\ \frac{1}{2}&quot;&gt;&lt;mfrac&gt;&lt;mn&gt;3&lt;/mn&gt;&lt;mn&gt;2&lt;/mn&gt;&lt;/mfrac&gt;&lt;mo&gt;÷&lt;/mo&gt;&lt;mn&gt;3&lt;/mn&gt;&lt;mtext&gt;&lt;/mtext&gt;&lt;mo&gt;=&lt;/mo&gt;&lt;mtext&gt;&lt;/mtext&gt;&lt;mfrac&gt;&lt;mn&gt;1&lt;/mn&gt;&lt;mn&gt;2&lt;/mn&gt;&lt;/mfrac&gt;&lt;/math&gt;" id="1149" name="Google Shape;1149;p84" title="three halves divided by 3 equals one half"/>
            <p:cNvPicPr preferRelativeResize="0"/>
            <p:nvPr/>
          </p:nvPicPr>
          <p:blipFill rotWithShape="1">
            <a:blip r:embed="rId5">
              <a:alphaModFix/>
            </a:blip>
            <a:srcRect b="0" l="85344" r="0" t="0"/>
            <a:stretch/>
          </p:blipFill>
          <p:spPr>
            <a:xfrm>
              <a:off x="5516940" y="3826175"/>
              <a:ext cx="164100" cy="487000"/>
            </a:xfrm>
            <a:prstGeom prst="rect">
              <a:avLst/>
            </a:prstGeom>
            <a:noFill/>
            <a:ln>
              <a:noFill/>
            </a:ln>
          </p:spPr>
        </p:pic>
      </p:grpSp>
      <p:sp>
        <p:nvSpPr>
          <p:cNvPr id="1150" name="Google Shape;1150;p84"/>
          <p:cNvSpPr txBox="1"/>
          <p:nvPr>
            <p:ph idx="1" type="body"/>
          </p:nvPr>
        </p:nvSpPr>
        <p:spPr>
          <a:xfrm>
            <a:off x="2518800" y="959850"/>
            <a:ext cx="6137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a:t>
            </a:r>
            <a:endParaRPr/>
          </a:p>
        </p:txBody>
      </p:sp>
      <p:pic>
        <p:nvPicPr>
          <p:cNvPr descr="&lt;math xmlns=&quot;http://www.w3.org/1998/Math/MathML&quot; display=&quot;block&quot; data-is-equatio=&quot;1&quot; data-latex=&quot;\frac{3}{4}&quot;&gt;&lt;mfrac&gt;&lt;mn&gt;3&lt;/mn&gt;&lt;mn&gt;4&lt;/mn&gt;&lt;/mfrac&gt;&lt;/math&gt;" id="1151" name="Google Shape;1151;p84" title="three fourths"/>
          <p:cNvPicPr preferRelativeResize="0"/>
          <p:nvPr/>
        </p:nvPicPr>
        <p:blipFill>
          <a:blip r:embed="rId6">
            <a:alphaModFix/>
          </a:blip>
          <a:stretch>
            <a:fillRect/>
          </a:stretch>
        </p:blipFill>
        <p:spPr>
          <a:xfrm>
            <a:off x="4750800" y="803950"/>
            <a:ext cx="164122" cy="522900"/>
          </a:xfrm>
          <a:prstGeom prst="rect">
            <a:avLst/>
          </a:prstGeom>
          <a:noFill/>
          <a:ln>
            <a:noFill/>
          </a:ln>
        </p:spPr>
      </p:pic>
      <p:sp>
        <p:nvSpPr>
          <p:cNvPr id="1152" name="Google Shape;1152;p84"/>
          <p:cNvSpPr txBox="1"/>
          <p:nvPr>
            <p:ph idx="1" type="body"/>
          </p:nvPr>
        </p:nvSpPr>
        <p:spPr>
          <a:xfrm>
            <a:off x="2518800" y="1264650"/>
            <a:ext cx="6137700" cy="137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three teachers have a different number of water bottles to give to the students in their groups. Each student gets an equal share.</a:t>
            </a:r>
            <a:endParaRPr sz="1800"/>
          </a:p>
          <a:p>
            <a:pPr indent="0" lvl="0" marL="0" rtl="0" algn="l">
              <a:spcBef>
                <a:spcPts val="1000"/>
              </a:spcBef>
              <a:spcAft>
                <a:spcPts val="1000"/>
              </a:spcAft>
              <a:buNone/>
            </a:pPr>
            <a:r>
              <a:t/>
            </a:r>
            <a:endParaRPr/>
          </a:p>
        </p:txBody>
      </p:sp>
      <p:sp>
        <p:nvSpPr>
          <p:cNvPr id="1153" name="Google Shape;1153;p84"/>
          <p:cNvSpPr txBox="1"/>
          <p:nvPr>
            <p:ph idx="1" type="body"/>
          </p:nvPr>
        </p:nvSpPr>
        <p:spPr>
          <a:xfrm>
            <a:off x="3032975" y="959850"/>
            <a:ext cx="57759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bottle</a:t>
            </a:r>
            <a:endParaRPr/>
          </a:p>
        </p:txBody>
      </p:sp>
      <p:sp>
        <p:nvSpPr>
          <p:cNvPr id="1154" name="Google Shape;1154;p84"/>
          <p:cNvSpPr txBox="1"/>
          <p:nvPr>
            <p:ph idx="1" type="body"/>
          </p:nvPr>
        </p:nvSpPr>
        <p:spPr>
          <a:xfrm>
            <a:off x="3736375" y="959850"/>
            <a:ext cx="52248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contains</a:t>
            </a:r>
            <a:endParaRPr/>
          </a:p>
        </p:txBody>
      </p:sp>
      <p:sp>
        <p:nvSpPr>
          <p:cNvPr id="1155" name="Google Shape;1155;p84"/>
          <p:cNvSpPr txBox="1"/>
          <p:nvPr>
            <p:ph idx="1" type="body"/>
          </p:nvPr>
        </p:nvSpPr>
        <p:spPr>
          <a:xfrm>
            <a:off x="5003925" y="959850"/>
            <a:ext cx="4109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litre of water. On a school trip,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Solving problems involving fractions</a:t>
            </a:r>
            <a:endParaRPr/>
          </a:p>
        </p:txBody>
      </p:sp>
      <p:sp>
        <p:nvSpPr>
          <p:cNvPr id="1161" name="Google Shape;1161;p85"/>
          <p:cNvSpPr txBox="1"/>
          <p:nvPr/>
        </p:nvSpPr>
        <p:spPr>
          <a:xfrm>
            <a:off x="2514450" y="2515950"/>
            <a:ext cx="6519900" cy="12360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How much water do the students in each group get if:</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d) </a:t>
            </a:r>
            <a:r>
              <a:rPr lang="en-GB" sz="1800">
                <a:solidFill>
                  <a:schemeClr val="dk1"/>
                </a:solidFill>
                <a:latin typeface="Lexend"/>
                <a:ea typeface="Lexend"/>
                <a:cs typeface="Lexend"/>
                <a:sym typeface="Lexend"/>
              </a:rPr>
              <a:t>There are five students in Teacher C’s group?</a:t>
            </a:r>
            <a:endParaRPr>
              <a:solidFill>
                <a:schemeClr val="dk1"/>
              </a:solidFill>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45720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p:txBody>
      </p:sp>
      <p:pic>
        <p:nvPicPr>
          <p:cNvPr id="1162" name="Google Shape;1162;p85"/>
          <p:cNvPicPr preferRelativeResize="0"/>
          <p:nvPr/>
        </p:nvPicPr>
        <p:blipFill>
          <a:blip r:embed="rId3">
            <a:alphaModFix/>
          </a:blip>
          <a:stretch>
            <a:fillRect/>
          </a:stretch>
        </p:blipFill>
        <p:spPr>
          <a:xfrm>
            <a:off x="955650" y="1393525"/>
            <a:ext cx="390150" cy="780301"/>
          </a:xfrm>
          <a:prstGeom prst="rect">
            <a:avLst/>
          </a:prstGeom>
          <a:noFill/>
          <a:ln>
            <a:noFill/>
          </a:ln>
        </p:spPr>
      </p:pic>
      <p:pic>
        <p:nvPicPr>
          <p:cNvPr id="1163" name="Google Shape;1163;p85"/>
          <p:cNvPicPr preferRelativeResize="0"/>
          <p:nvPr/>
        </p:nvPicPr>
        <p:blipFill>
          <a:blip r:embed="rId3">
            <a:alphaModFix/>
          </a:blip>
          <a:stretch>
            <a:fillRect/>
          </a:stretch>
        </p:blipFill>
        <p:spPr>
          <a:xfrm>
            <a:off x="1412850" y="1393525"/>
            <a:ext cx="390150" cy="780301"/>
          </a:xfrm>
          <a:prstGeom prst="rect">
            <a:avLst/>
          </a:prstGeom>
          <a:noFill/>
          <a:ln>
            <a:noFill/>
          </a:ln>
        </p:spPr>
      </p:pic>
      <p:pic>
        <p:nvPicPr>
          <p:cNvPr id="1164" name="Google Shape;1164;p85"/>
          <p:cNvPicPr preferRelativeResize="0"/>
          <p:nvPr/>
        </p:nvPicPr>
        <p:blipFill>
          <a:blip r:embed="rId3">
            <a:alphaModFix/>
          </a:blip>
          <a:stretch>
            <a:fillRect/>
          </a:stretch>
        </p:blipFill>
        <p:spPr>
          <a:xfrm>
            <a:off x="422250" y="2536525"/>
            <a:ext cx="390150" cy="780301"/>
          </a:xfrm>
          <a:prstGeom prst="rect">
            <a:avLst/>
          </a:prstGeom>
          <a:noFill/>
          <a:ln>
            <a:noFill/>
          </a:ln>
        </p:spPr>
      </p:pic>
      <p:pic>
        <p:nvPicPr>
          <p:cNvPr id="1165" name="Google Shape;1165;p85"/>
          <p:cNvPicPr preferRelativeResize="0"/>
          <p:nvPr/>
        </p:nvPicPr>
        <p:blipFill>
          <a:blip r:embed="rId3">
            <a:alphaModFix/>
          </a:blip>
          <a:stretch>
            <a:fillRect/>
          </a:stretch>
        </p:blipFill>
        <p:spPr>
          <a:xfrm>
            <a:off x="879450" y="2536525"/>
            <a:ext cx="390150" cy="780301"/>
          </a:xfrm>
          <a:prstGeom prst="rect">
            <a:avLst/>
          </a:prstGeom>
          <a:noFill/>
          <a:ln>
            <a:noFill/>
          </a:ln>
        </p:spPr>
      </p:pic>
      <p:pic>
        <p:nvPicPr>
          <p:cNvPr id="1166" name="Google Shape;1166;p85"/>
          <p:cNvPicPr preferRelativeResize="0"/>
          <p:nvPr/>
        </p:nvPicPr>
        <p:blipFill>
          <a:blip r:embed="rId3">
            <a:alphaModFix/>
          </a:blip>
          <a:stretch>
            <a:fillRect/>
          </a:stretch>
        </p:blipFill>
        <p:spPr>
          <a:xfrm>
            <a:off x="1336650" y="2536525"/>
            <a:ext cx="390150" cy="780301"/>
          </a:xfrm>
          <a:prstGeom prst="rect">
            <a:avLst/>
          </a:prstGeom>
          <a:noFill/>
          <a:ln>
            <a:noFill/>
          </a:ln>
        </p:spPr>
      </p:pic>
      <p:pic>
        <p:nvPicPr>
          <p:cNvPr id="1167" name="Google Shape;1167;p85"/>
          <p:cNvPicPr preferRelativeResize="0"/>
          <p:nvPr/>
        </p:nvPicPr>
        <p:blipFill>
          <a:blip r:embed="rId3">
            <a:alphaModFix/>
          </a:blip>
          <a:stretch>
            <a:fillRect/>
          </a:stretch>
        </p:blipFill>
        <p:spPr>
          <a:xfrm>
            <a:off x="1793850" y="2536525"/>
            <a:ext cx="390150" cy="780301"/>
          </a:xfrm>
          <a:prstGeom prst="rect">
            <a:avLst/>
          </a:prstGeom>
          <a:noFill/>
          <a:ln>
            <a:noFill/>
          </a:ln>
        </p:spPr>
      </p:pic>
      <p:pic>
        <p:nvPicPr>
          <p:cNvPr id="1168" name="Google Shape;1168;p85"/>
          <p:cNvPicPr preferRelativeResize="0"/>
          <p:nvPr/>
        </p:nvPicPr>
        <p:blipFill>
          <a:blip r:embed="rId3">
            <a:alphaModFix/>
          </a:blip>
          <a:stretch>
            <a:fillRect/>
          </a:stretch>
        </p:blipFill>
        <p:spPr>
          <a:xfrm>
            <a:off x="422250" y="3679525"/>
            <a:ext cx="390150" cy="780301"/>
          </a:xfrm>
          <a:prstGeom prst="rect">
            <a:avLst/>
          </a:prstGeom>
          <a:noFill/>
          <a:ln>
            <a:noFill/>
          </a:ln>
        </p:spPr>
      </p:pic>
      <p:pic>
        <p:nvPicPr>
          <p:cNvPr id="1169" name="Google Shape;1169;p85"/>
          <p:cNvPicPr preferRelativeResize="0"/>
          <p:nvPr/>
        </p:nvPicPr>
        <p:blipFill>
          <a:blip r:embed="rId3">
            <a:alphaModFix/>
          </a:blip>
          <a:stretch>
            <a:fillRect/>
          </a:stretch>
        </p:blipFill>
        <p:spPr>
          <a:xfrm>
            <a:off x="879450" y="3679525"/>
            <a:ext cx="390150" cy="780301"/>
          </a:xfrm>
          <a:prstGeom prst="rect">
            <a:avLst/>
          </a:prstGeom>
          <a:noFill/>
          <a:ln>
            <a:noFill/>
          </a:ln>
        </p:spPr>
      </p:pic>
      <p:pic>
        <p:nvPicPr>
          <p:cNvPr id="1170" name="Google Shape;1170;p85"/>
          <p:cNvPicPr preferRelativeResize="0"/>
          <p:nvPr/>
        </p:nvPicPr>
        <p:blipFill>
          <a:blip r:embed="rId3">
            <a:alphaModFix/>
          </a:blip>
          <a:stretch>
            <a:fillRect/>
          </a:stretch>
        </p:blipFill>
        <p:spPr>
          <a:xfrm>
            <a:off x="1336650" y="3679525"/>
            <a:ext cx="390150" cy="780301"/>
          </a:xfrm>
          <a:prstGeom prst="rect">
            <a:avLst/>
          </a:prstGeom>
          <a:noFill/>
          <a:ln>
            <a:noFill/>
          </a:ln>
        </p:spPr>
      </p:pic>
      <p:pic>
        <p:nvPicPr>
          <p:cNvPr id="1171" name="Google Shape;1171;p85"/>
          <p:cNvPicPr preferRelativeResize="0"/>
          <p:nvPr/>
        </p:nvPicPr>
        <p:blipFill>
          <a:blip r:embed="rId3">
            <a:alphaModFix/>
          </a:blip>
          <a:stretch>
            <a:fillRect/>
          </a:stretch>
        </p:blipFill>
        <p:spPr>
          <a:xfrm>
            <a:off x="1793850" y="3679525"/>
            <a:ext cx="390150" cy="780301"/>
          </a:xfrm>
          <a:prstGeom prst="rect">
            <a:avLst/>
          </a:prstGeom>
          <a:noFill/>
          <a:ln>
            <a:noFill/>
          </a:ln>
        </p:spPr>
      </p:pic>
      <p:sp>
        <p:nvSpPr>
          <p:cNvPr id="1172" name="Google Shape;1172;p85"/>
          <p:cNvSpPr txBox="1"/>
          <p:nvPr/>
        </p:nvSpPr>
        <p:spPr>
          <a:xfrm>
            <a:off x="746065" y="2001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A</a:t>
            </a:r>
            <a:endParaRPr sz="1800">
              <a:solidFill>
                <a:schemeClr val="dk1"/>
              </a:solidFill>
              <a:latin typeface="Lexend"/>
              <a:ea typeface="Lexend"/>
              <a:cs typeface="Lexend"/>
              <a:sym typeface="Lexend"/>
            </a:endParaRPr>
          </a:p>
        </p:txBody>
      </p:sp>
      <p:sp>
        <p:nvSpPr>
          <p:cNvPr id="1173" name="Google Shape;1173;p85"/>
          <p:cNvSpPr txBox="1"/>
          <p:nvPr/>
        </p:nvSpPr>
        <p:spPr>
          <a:xfrm>
            <a:off x="727050" y="3144000"/>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B</a:t>
            </a:r>
            <a:endParaRPr sz="1800">
              <a:solidFill>
                <a:schemeClr val="dk1"/>
              </a:solidFill>
              <a:latin typeface="Lexend"/>
              <a:ea typeface="Lexend"/>
              <a:cs typeface="Lexend"/>
              <a:sym typeface="Lexend"/>
            </a:endParaRPr>
          </a:p>
        </p:txBody>
      </p:sp>
      <p:sp>
        <p:nvSpPr>
          <p:cNvPr id="1174" name="Google Shape;1174;p85"/>
          <p:cNvSpPr txBox="1"/>
          <p:nvPr/>
        </p:nvSpPr>
        <p:spPr>
          <a:xfrm>
            <a:off x="746065" y="4296507"/>
            <a:ext cx="1606800" cy="5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Teacher C</a:t>
            </a:r>
            <a:endParaRPr sz="1800">
              <a:solidFill>
                <a:schemeClr val="dk1"/>
              </a:solidFill>
              <a:latin typeface="Lexend"/>
              <a:ea typeface="Lexend"/>
              <a:cs typeface="Lexend"/>
              <a:sym typeface="Lexend"/>
            </a:endParaRPr>
          </a:p>
        </p:txBody>
      </p:sp>
      <p:sp>
        <p:nvSpPr>
          <p:cNvPr id="1175" name="Google Shape;1175;p85"/>
          <p:cNvSpPr txBox="1"/>
          <p:nvPr/>
        </p:nvSpPr>
        <p:spPr>
          <a:xfrm>
            <a:off x="3096850" y="4084800"/>
            <a:ext cx="5004300" cy="874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Each student gets     litre each.</a:t>
            </a:r>
            <a:endParaRPr sz="2200">
              <a:solidFill>
                <a:schemeClr val="dk1"/>
              </a:solidFill>
              <a:latin typeface="Kalam"/>
              <a:ea typeface="Kalam"/>
              <a:cs typeface="Kalam"/>
              <a:sym typeface="Kalam"/>
            </a:endParaRPr>
          </a:p>
          <a:p>
            <a:pPr indent="0" lvl="0" marL="0" rtl="0" algn="l">
              <a:spcBef>
                <a:spcPts val="0"/>
              </a:spcBef>
              <a:spcAft>
                <a:spcPts val="0"/>
              </a:spcAft>
              <a:buNone/>
            </a:pPr>
            <a:r>
              <a:t/>
            </a:r>
            <a:endParaRPr sz="2200">
              <a:solidFill>
                <a:schemeClr val="dk1"/>
              </a:solidFill>
              <a:latin typeface="Kalam"/>
              <a:ea typeface="Kalam"/>
              <a:cs typeface="Kalam"/>
              <a:sym typeface="Kalam"/>
            </a:endParaRPr>
          </a:p>
        </p:txBody>
      </p:sp>
      <p:pic>
        <p:nvPicPr>
          <p:cNvPr descr="&lt;math xmlns=&quot;http://www.w3.org/1998/Math/MathML&quot; display=&quot;block&quot; data-is-equatio=&quot;1&quot; data-latex=&quot;3\ \div5=\ \frac{3}{5}&quot;&gt;&lt;mn&gt;3&lt;/mn&gt;&lt;mtext&gt;&lt;/mtext&gt;&lt;mo&gt;÷&lt;/mo&gt;&lt;mn&gt;5&lt;/mn&gt;&lt;mo&gt;=&lt;/mo&gt;&lt;mtext&gt;&lt;/mtext&gt;&lt;mfrac&gt;&lt;mn&gt;3&lt;/mn&gt;&lt;mn&gt;5&lt;/mn&gt;&lt;/mfrac&gt;&lt;/math&gt;" id="1176" name="Google Shape;1176;p85" title="3 division sign 5 equals three fifths"/>
          <p:cNvPicPr preferRelativeResize="0"/>
          <p:nvPr/>
        </p:nvPicPr>
        <p:blipFill>
          <a:blip r:embed="rId4">
            <a:alphaModFix/>
          </a:blip>
          <a:stretch>
            <a:fillRect/>
          </a:stretch>
        </p:blipFill>
        <p:spPr>
          <a:xfrm>
            <a:off x="4759650" y="3240943"/>
            <a:ext cx="1305430" cy="607700"/>
          </a:xfrm>
          <a:prstGeom prst="rect">
            <a:avLst/>
          </a:prstGeom>
          <a:noFill/>
          <a:ln>
            <a:noFill/>
          </a:ln>
        </p:spPr>
      </p:pic>
      <p:pic>
        <p:nvPicPr>
          <p:cNvPr descr="&lt;math xmlns=&quot;http://www.w3.org/1998/Math/MathML&quot; display=&quot;block&quot; data-is-equatio=&quot;1&quot; data-latex=&quot;3\ \div5=\ \frac{3}{5}&quot;&gt;&lt;mn&gt;3&lt;/mn&gt;&lt;mtext&gt;&lt;/mtext&gt;&lt;mo&gt;÷&lt;/mo&gt;&lt;mn&gt;5&lt;/mn&gt;&lt;mo&gt;=&lt;/mo&gt;&lt;mtext&gt;&lt;/mtext&gt;&lt;mfrac&gt;&lt;mn&gt;3&lt;/mn&gt;&lt;mn&gt;5&lt;/mn&gt;&lt;/mfrac&gt;&lt;/math&gt;" id="1177" name="Google Shape;1177;p85" title="3 division sign 5 equals three fifths"/>
          <p:cNvPicPr preferRelativeResize="0"/>
          <p:nvPr/>
        </p:nvPicPr>
        <p:blipFill rotWithShape="1">
          <a:blip r:embed="rId4">
            <a:alphaModFix/>
          </a:blip>
          <a:srcRect b="0" l="74868" r="0" t="0"/>
          <a:stretch/>
        </p:blipFill>
        <p:spPr>
          <a:xfrm>
            <a:off x="5362112" y="4070625"/>
            <a:ext cx="328075" cy="607700"/>
          </a:xfrm>
          <a:prstGeom prst="rect">
            <a:avLst/>
          </a:prstGeom>
          <a:noFill/>
          <a:ln>
            <a:noFill/>
          </a:ln>
        </p:spPr>
      </p:pic>
      <p:sp>
        <p:nvSpPr>
          <p:cNvPr id="1178" name="Google Shape;1178;p85"/>
          <p:cNvSpPr txBox="1"/>
          <p:nvPr>
            <p:ph idx="1" type="body"/>
          </p:nvPr>
        </p:nvSpPr>
        <p:spPr>
          <a:xfrm>
            <a:off x="2518800" y="959850"/>
            <a:ext cx="6137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A</a:t>
            </a:r>
            <a:endParaRPr/>
          </a:p>
        </p:txBody>
      </p:sp>
      <p:pic>
        <p:nvPicPr>
          <p:cNvPr descr="&lt;math xmlns=&quot;http://www.w3.org/1998/Math/MathML&quot; display=&quot;block&quot; data-is-equatio=&quot;1&quot; data-latex=&quot;\frac{3}{4}&quot;&gt;&lt;mfrac&gt;&lt;mn&gt;3&lt;/mn&gt;&lt;mn&gt;4&lt;/mn&gt;&lt;/mfrac&gt;&lt;/math&gt;" id="1179" name="Google Shape;1179;p85" title="three fourths"/>
          <p:cNvPicPr preferRelativeResize="0"/>
          <p:nvPr/>
        </p:nvPicPr>
        <p:blipFill>
          <a:blip r:embed="rId5">
            <a:alphaModFix/>
          </a:blip>
          <a:stretch>
            <a:fillRect/>
          </a:stretch>
        </p:blipFill>
        <p:spPr>
          <a:xfrm>
            <a:off x="4750800" y="803950"/>
            <a:ext cx="164122" cy="522900"/>
          </a:xfrm>
          <a:prstGeom prst="rect">
            <a:avLst/>
          </a:prstGeom>
          <a:noFill/>
          <a:ln>
            <a:noFill/>
          </a:ln>
        </p:spPr>
      </p:pic>
      <p:sp>
        <p:nvSpPr>
          <p:cNvPr id="1180" name="Google Shape;1180;p85"/>
          <p:cNvSpPr txBox="1"/>
          <p:nvPr>
            <p:ph idx="1" type="body"/>
          </p:nvPr>
        </p:nvSpPr>
        <p:spPr>
          <a:xfrm>
            <a:off x="2518800" y="1264650"/>
            <a:ext cx="6137700" cy="137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three teachers have a different number of water bottles to give to the students in their groups. Each student gets an equal share.</a:t>
            </a:r>
            <a:endParaRPr sz="1800"/>
          </a:p>
          <a:p>
            <a:pPr indent="0" lvl="0" marL="0" rtl="0" algn="l">
              <a:spcBef>
                <a:spcPts val="1000"/>
              </a:spcBef>
              <a:spcAft>
                <a:spcPts val="1000"/>
              </a:spcAft>
              <a:buNone/>
            </a:pPr>
            <a:r>
              <a:t/>
            </a:r>
            <a:endParaRPr/>
          </a:p>
        </p:txBody>
      </p:sp>
      <p:sp>
        <p:nvSpPr>
          <p:cNvPr id="1181" name="Google Shape;1181;p85"/>
          <p:cNvSpPr txBox="1"/>
          <p:nvPr>
            <p:ph idx="1" type="body"/>
          </p:nvPr>
        </p:nvSpPr>
        <p:spPr>
          <a:xfrm>
            <a:off x="3032975" y="959850"/>
            <a:ext cx="57759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bottle</a:t>
            </a:r>
            <a:endParaRPr/>
          </a:p>
        </p:txBody>
      </p:sp>
      <p:sp>
        <p:nvSpPr>
          <p:cNvPr id="1182" name="Google Shape;1182;p85"/>
          <p:cNvSpPr txBox="1"/>
          <p:nvPr>
            <p:ph idx="1" type="body"/>
          </p:nvPr>
        </p:nvSpPr>
        <p:spPr>
          <a:xfrm>
            <a:off x="3736375" y="959850"/>
            <a:ext cx="52248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contains</a:t>
            </a:r>
            <a:endParaRPr/>
          </a:p>
        </p:txBody>
      </p:sp>
      <p:sp>
        <p:nvSpPr>
          <p:cNvPr id="1183" name="Google Shape;1183;p85"/>
          <p:cNvSpPr txBox="1"/>
          <p:nvPr>
            <p:ph idx="1" type="body"/>
          </p:nvPr>
        </p:nvSpPr>
        <p:spPr>
          <a:xfrm>
            <a:off x="5003925" y="959850"/>
            <a:ext cx="4109700" cy="36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litre of water. On a school trip,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8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Solving problems involving fractions</a:t>
            </a:r>
            <a:endParaRPr/>
          </a:p>
        </p:txBody>
      </p:sp>
      <p:sp>
        <p:nvSpPr>
          <p:cNvPr id="1189" name="Google Shape;1189;p8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sp>
        <p:nvSpPr>
          <p:cNvPr id="1190" name="Google Shape;1190;p8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arithmetic procedures involving fractions</a:t>
            </a:r>
            <a:endParaRPr/>
          </a:p>
        </p:txBody>
      </p:sp>
      <p:pic>
        <p:nvPicPr>
          <p:cNvPr id="1191" name="Google Shape;1191;p86"/>
          <p:cNvPicPr preferRelativeResize="0"/>
          <p:nvPr/>
        </p:nvPicPr>
        <p:blipFill>
          <a:blip r:embed="rId3">
            <a:alphaModFix/>
          </a:blip>
          <a:stretch>
            <a:fillRect/>
          </a:stretch>
        </p:blipFill>
        <p:spPr>
          <a:xfrm>
            <a:off x="414743" y="2988382"/>
            <a:ext cx="450575" cy="446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 </a:t>
            </a:r>
            <a:endParaRPr/>
          </a:p>
        </p:txBody>
      </p:sp>
      <p:sp>
        <p:nvSpPr>
          <p:cNvPr id="1197" name="Google Shape;1197;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Scientific calculators are fantastic tools.</a:t>
            </a:r>
            <a:endParaRPr/>
          </a:p>
        </p:txBody>
      </p:sp>
      <p:sp>
        <p:nvSpPr>
          <p:cNvPr id="1198" name="Google Shape;1198;p87"/>
          <p:cNvSpPr txBox="1"/>
          <p:nvPr>
            <p:ph idx="1" type="body"/>
          </p:nvPr>
        </p:nvSpPr>
        <p:spPr>
          <a:xfrm>
            <a:off x="4807250" y="1585100"/>
            <a:ext cx="3989700" cy="39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Casio fx 991 classwiz can do so much, including calculating with fractions.</a:t>
            </a:r>
            <a:endParaRPr/>
          </a:p>
        </p:txBody>
      </p:sp>
      <p:pic>
        <p:nvPicPr>
          <p:cNvPr id="1199" name="Google Shape;1199;p87"/>
          <p:cNvPicPr preferRelativeResize="0"/>
          <p:nvPr/>
        </p:nvPicPr>
        <p:blipFill>
          <a:blip r:embed="rId3">
            <a:alphaModFix/>
          </a:blip>
          <a:stretch>
            <a:fillRect/>
          </a:stretch>
        </p:blipFill>
        <p:spPr>
          <a:xfrm>
            <a:off x="2381825" y="1216500"/>
            <a:ext cx="1975550" cy="3420697"/>
          </a:xfrm>
          <a:prstGeom prst="rect">
            <a:avLst/>
          </a:prstGeom>
          <a:noFill/>
          <a:ln>
            <a:noFill/>
          </a:ln>
        </p:spPr>
      </p:pic>
      <p:sp>
        <p:nvSpPr>
          <p:cNvPr id="1200" name="Google Shape;1200;p87"/>
          <p:cNvSpPr txBox="1"/>
          <p:nvPr>
            <p:ph idx="1" type="body"/>
          </p:nvPr>
        </p:nvSpPr>
        <p:spPr>
          <a:xfrm>
            <a:off x="4807250" y="2956700"/>
            <a:ext cx="3989700" cy="39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Therefore, it is important to know </a:t>
            </a:r>
            <a:r>
              <a:rPr lang="en-GB"/>
              <a:t>where</a:t>
            </a:r>
            <a:r>
              <a:rPr lang="en-GB"/>
              <a:t> all the buttons are </a:t>
            </a:r>
            <a:r>
              <a:rPr lang="en-GB"/>
              <a:t>associated</a:t>
            </a:r>
            <a:r>
              <a:rPr lang="en-GB"/>
              <a:t> with fractions.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pic>
        <p:nvPicPr>
          <p:cNvPr id="1205" name="Google Shape;1205;p88"/>
          <p:cNvPicPr preferRelativeResize="0"/>
          <p:nvPr/>
        </p:nvPicPr>
        <p:blipFill>
          <a:blip r:embed="rId3">
            <a:alphaModFix/>
          </a:blip>
          <a:stretch>
            <a:fillRect/>
          </a:stretch>
        </p:blipFill>
        <p:spPr>
          <a:xfrm>
            <a:off x="338474" y="695700"/>
            <a:ext cx="7402917" cy="523200"/>
          </a:xfrm>
          <a:prstGeom prst="rect">
            <a:avLst/>
          </a:prstGeom>
          <a:noFill/>
          <a:ln>
            <a:noFill/>
          </a:ln>
        </p:spPr>
      </p:pic>
      <p:sp>
        <p:nvSpPr>
          <p:cNvPr id="1206" name="Google Shape;1206;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 </a:t>
            </a:r>
            <a:endParaRPr/>
          </a:p>
        </p:txBody>
      </p:sp>
      <p:sp>
        <p:nvSpPr>
          <p:cNvPr id="1207" name="Google Shape;1207;p88"/>
          <p:cNvSpPr txBox="1"/>
          <p:nvPr>
            <p:ph idx="1" type="body"/>
          </p:nvPr>
        </p:nvSpPr>
        <p:spPr>
          <a:xfrm>
            <a:off x="4572000" y="1521300"/>
            <a:ext cx="3989700" cy="39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For example, lets </a:t>
            </a:r>
            <a:r>
              <a:rPr lang="en-GB"/>
              <a:t>input</a:t>
            </a:r>
            <a:r>
              <a:rPr lang="en-GB"/>
              <a:t> and simplify</a:t>
            </a:r>
            <a:endParaRPr/>
          </a:p>
          <a:p>
            <a:pPr indent="0" lvl="0" marL="0" rtl="0" algn="l">
              <a:spcBef>
                <a:spcPts val="1000"/>
              </a:spcBef>
              <a:spcAft>
                <a:spcPts val="1000"/>
              </a:spcAft>
              <a:buNone/>
            </a:pPr>
            <a:r>
              <a:t/>
            </a:r>
            <a:endParaRPr/>
          </a:p>
        </p:txBody>
      </p:sp>
      <p:pic>
        <p:nvPicPr>
          <p:cNvPr id="1208" name="Google Shape;1208;p88"/>
          <p:cNvPicPr preferRelativeResize="0"/>
          <p:nvPr/>
        </p:nvPicPr>
        <p:blipFill>
          <a:blip r:embed="rId4">
            <a:alphaModFix/>
          </a:blip>
          <a:stretch>
            <a:fillRect/>
          </a:stretch>
        </p:blipFill>
        <p:spPr>
          <a:xfrm>
            <a:off x="2381825" y="1216500"/>
            <a:ext cx="1975550" cy="3420697"/>
          </a:xfrm>
          <a:prstGeom prst="rect">
            <a:avLst/>
          </a:prstGeom>
          <a:noFill/>
          <a:ln>
            <a:noFill/>
          </a:ln>
        </p:spPr>
      </p:pic>
      <p:pic>
        <p:nvPicPr>
          <p:cNvPr descr="&lt;math xmlns=&quot;http://www.w3.org/1998/Math/MathML&quot; display=&quot;block&quot; data-is-equatio=&quot;1&quot; data-latex=&quot;\frac{245}{1000}&quot;&gt;&lt;mfrac&gt;&lt;mn&gt;245&lt;/mn&gt;&lt;mn&gt;1000&lt;/mn&gt;&lt;/mfrac&gt;&lt;/math&gt;" id="1209" name="Google Shape;1209;p88" title="245 over 1000"/>
          <p:cNvPicPr preferRelativeResize="0"/>
          <p:nvPr/>
        </p:nvPicPr>
        <p:blipFill>
          <a:blip r:embed="rId5">
            <a:alphaModFix/>
          </a:blip>
          <a:stretch>
            <a:fillRect/>
          </a:stretch>
        </p:blipFill>
        <p:spPr>
          <a:xfrm>
            <a:off x="6392250" y="2153400"/>
            <a:ext cx="895825" cy="870230"/>
          </a:xfrm>
          <a:prstGeom prst="rect">
            <a:avLst/>
          </a:prstGeom>
          <a:noFill/>
          <a:ln>
            <a:noFill/>
          </a:ln>
        </p:spPr>
      </p:pic>
      <p:grpSp>
        <p:nvGrpSpPr>
          <p:cNvPr id="1210" name="Google Shape;1210;p88"/>
          <p:cNvGrpSpPr/>
          <p:nvPr/>
        </p:nvGrpSpPr>
        <p:grpSpPr>
          <a:xfrm>
            <a:off x="4648200" y="3295200"/>
            <a:ext cx="3334975" cy="571500"/>
            <a:chOff x="4648200" y="2761800"/>
            <a:chExt cx="3334975" cy="571500"/>
          </a:xfrm>
        </p:grpSpPr>
        <p:grpSp>
          <p:nvGrpSpPr>
            <p:cNvPr id="1211" name="Google Shape;1211;p88"/>
            <p:cNvGrpSpPr/>
            <p:nvPr/>
          </p:nvGrpSpPr>
          <p:grpSpPr>
            <a:xfrm>
              <a:off x="4648200" y="2761800"/>
              <a:ext cx="3000000" cy="571500"/>
              <a:chOff x="4782650" y="2752300"/>
              <a:chExt cx="3000000" cy="571500"/>
            </a:xfrm>
          </p:grpSpPr>
          <p:sp>
            <p:nvSpPr>
              <p:cNvPr id="1212" name="Google Shape;1212;p88"/>
              <p:cNvSpPr txBox="1"/>
              <p:nvPr/>
            </p:nvSpPr>
            <p:spPr>
              <a:xfrm>
                <a:off x="4782650" y="2776450"/>
                <a:ext cx="30000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Press 245</a:t>
                </a:r>
                <a:endParaRPr/>
              </a:p>
            </p:txBody>
          </p:sp>
          <p:pic>
            <p:nvPicPr>
              <p:cNvPr id="1213" name="Google Shape;1213;p88"/>
              <p:cNvPicPr preferRelativeResize="0"/>
              <p:nvPr/>
            </p:nvPicPr>
            <p:blipFill>
              <a:blip r:embed="rId6">
                <a:alphaModFix/>
              </a:blip>
              <a:stretch>
                <a:fillRect/>
              </a:stretch>
            </p:blipFill>
            <p:spPr>
              <a:xfrm>
                <a:off x="6151575" y="2752300"/>
                <a:ext cx="514350" cy="571500"/>
              </a:xfrm>
              <a:prstGeom prst="rect">
                <a:avLst/>
              </a:prstGeom>
              <a:noFill/>
              <a:ln>
                <a:noFill/>
              </a:ln>
            </p:spPr>
          </p:pic>
        </p:grpSp>
        <p:pic>
          <p:nvPicPr>
            <p:cNvPr id="1214" name="Google Shape;1214;p88"/>
            <p:cNvPicPr preferRelativeResize="0"/>
            <p:nvPr/>
          </p:nvPicPr>
          <p:blipFill>
            <a:blip r:embed="rId7">
              <a:alphaModFix/>
            </a:blip>
            <a:stretch>
              <a:fillRect/>
            </a:stretch>
          </p:blipFill>
          <p:spPr>
            <a:xfrm>
              <a:off x="7402150" y="2761800"/>
              <a:ext cx="581025" cy="571500"/>
            </a:xfrm>
            <a:prstGeom prst="rect">
              <a:avLst/>
            </a:prstGeom>
            <a:noFill/>
            <a:ln>
              <a:noFill/>
            </a:ln>
          </p:spPr>
        </p:pic>
      </p:grpSp>
      <p:pic>
        <p:nvPicPr>
          <p:cNvPr id="1215" name="Google Shape;1215;p88"/>
          <p:cNvPicPr preferRelativeResize="0"/>
          <p:nvPr/>
        </p:nvPicPr>
        <p:blipFill>
          <a:blip r:embed="rId8">
            <a:alphaModFix/>
          </a:blip>
          <a:stretch>
            <a:fillRect/>
          </a:stretch>
        </p:blipFill>
        <p:spPr>
          <a:xfrm>
            <a:off x="2499953" y="1327212"/>
            <a:ext cx="1739300" cy="779977"/>
          </a:xfrm>
          <a:prstGeom prst="rect">
            <a:avLst/>
          </a:prstGeom>
          <a:noFill/>
          <a:ln>
            <a:noFill/>
          </a:ln>
        </p:spPr>
      </p:pic>
      <p:pic>
        <p:nvPicPr>
          <p:cNvPr descr="&lt;math xmlns=&quot;http://www.w3.org/1998/Math/MathML&quot; display=&quot;block&quot; data-is-equatio=&quot;1&quot; data-latex=&quot;=\frac{49}{200}&quot;&gt;&lt;mo&gt;=&lt;/mo&gt;&lt;mfrac&gt;&lt;mn&gt;49&lt;/mn&gt;&lt;mn&gt;200&lt;/mn&gt;&lt;/mfrac&gt;&lt;/math&gt;" id="1216" name="Google Shape;1216;p88" title="equals 49 over 200"/>
          <p:cNvPicPr preferRelativeResize="0"/>
          <p:nvPr/>
        </p:nvPicPr>
        <p:blipFill>
          <a:blip r:embed="rId9">
            <a:alphaModFix/>
          </a:blip>
          <a:stretch>
            <a:fillRect/>
          </a:stretch>
        </p:blipFill>
        <p:spPr>
          <a:xfrm>
            <a:off x="7406900" y="2153400"/>
            <a:ext cx="1112633" cy="870225"/>
          </a:xfrm>
          <a:prstGeom prst="rect">
            <a:avLst/>
          </a:prstGeom>
          <a:noFill/>
          <a:ln>
            <a:noFill/>
          </a:ln>
        </p:spPr>
      </p:pic>
      <p:sp>
        <p:nvSpPr>
          <p:cNvPr id="1217" name="Google Shape;1217;p88"/>
          <p:cNvSpPr txBox="1"/>
          <p:nvPr/>
        </p:nvSpPr>
        <p:spPr>
          <a:xfrm>
            <a:off x="6585125" y="3319350"/>
            <a:ext cx="12156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1000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89"/>
          <p:cNvSpPr txBox="1"/>
          <p:nvPr>
            <p:ph idx="1" type="body"/>
          </p:nvPr>
        </p:nvSpPr>
        <p:spPr>
          <a:xfrm>
            <a:off x="324000" y="835500"/>
            <a:ext cx="8237700" cy="39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Casio fx 991 classwiz allows you to change the format of a number.</a:t>
            </a:r>
            <a:endParaRPr/>
          </a:p>
        </p:txBody>
      </p:sp>
      <p:pic>
        <p:nvPicPr>
          <p:cNvPr id="1223" name="Google Shape;1223;p89"/>
          <p:cNvPicPr preferRelativeResize="0"/>
          <p:nvPr/>
        </p:nvPicPr>
        <p:blipFill>
          <a:blip r:embed="rId3">
            <a:alphaModFix/>
          </a:blip>
          <a:stretch>
            <a:fillRect/>
          </a:stretch>
        </p:blipFill>
        <p:spPr>
          <a:xfrm>
            <a:off x="2325450" y="1521300"/>
            <a:ext cx="1865647" cy="3230400"/>
          </a:xfrm>
          <a:prstGeom prst="rect">
            <a:avLst/>
          </a:prstGeom>
          <a:noFill/>
          <a:ln>
            <a:noFill/>
          </a:ln>
        </p:spPr>
      </p:pic>
      <p:sp>
        <p:nvSpPr>
          <p:cNvPr id="1224" name="Google Shape;1224;p89"/>
          <p:cNvSpPr txBox="1"/>
          <p:nvPr/>
        </p:nvSpPr>
        <p:spPr>
          <a:xfrm>
            <a:off x="4885900" y="1526000"/>
            <a:ext cx="26862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Press</a:t>
            </a:r>
            <a:endParaRPr sz="2200">
              <a:solidFill>
                <a:schemeClr val="dk1"/>
              </a:solidFill>
              <a:latin typeface="Lexend"/>
              <a:ea typeface="Lexend"/>
              <a:cs typeface="Lexend"/>
              <a:sym typeface="Lexend"/>
            </a:endParaRPr>
          </a:p>
        </p:txBody>
      </p:sp>
      <p:pic>
        <p:nvPicPr>
          <p:cNvPr id="1225" name="Google Shape;1225;p89"/>
          <p:cNvPicPr preferRelativeResize="0"/>
          <p:nvPr/>
        </p:nvPicPr>
        <p:blipFill rotWithShape="1">
          <a:blip r:embed="rId4">
            <a:alphaModFix/>
          </a:blip>
          <a:srcRect b="-7545" l="-3550" r="3550" t="10430"/>
          <a:stretch/>
        </p:blipFill>
        <p:spPr>
          <a:xfrm>
            <a:off x="2381900" y="1738075"/>
            <a:ext cx="1570675" cy="717800"/>
          </a:xfrm>
          <a:prstGeom prst="rect">
            <a:avLst/>
          </a:prstGeom>
          <a:noFill/>
          <a:ln>
            <a:noFill/>
          </a:ln>
        </p:spPr>
      </p:pic>
      <p:sp>
        <p:nvSpPr>
          <p:cNvPr id="1226" name="Google Shape;1226;p89"/>
          <p:cNvSpPr txBox="1"/>
          <p:nvPr/>
        </p:nvSpPr>
        <p:spPr>
          <a:xfrm>
            <a:off x="4874916" y="2725713"/>
            <a:ext cx="39429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To convert to a decimal</a:t>
            </a:r>
            <a:endParaRPr/>
          </a:p>
        </p:txBody>
      </p:sp>
      <p:pic>
        <p:nvPicPr>
          <p:cNvPr id="1227" name="Google Shape;1227;p89"/>
          <p:cNvPicPr preferRelativeResize="0"/>
          <p:nvPr/>
        </p:nvPicPr>
        <p:blipFill>
          <a:blip r:embed="rId5">
            <a:alphaModFix/>
          </a:blip>
          <a:stretch>
            <a:fillRect/>
          </a:stretch>
        </p:blipFill>
        <p:spPr>
          <a:xfrm>
            <a:off x="2463496" y="1671048"/>
            <a:ext cx="1570676" cy="732025"/>
          </a:xfrm>
          <a:prstGeom prst="rect">
            <a:avLst/>
          </a:prstGeom>
          <a:noFill/>
          <a:ln>
            <a:noFill/>
          </a:ln>
        </p:spPr>
      </p:pic>
      <p:pic>
        <p:nvPicPr>
          <p:cNvPr id="1228" name="Google Shape;1228;p89"/>
          <p:cNvPicPr preferRelativeResize="0"/>
          <p:nvPr/>
        </p:nvPicPr>
        <p:blipFill rotWithShape="1">
          <a:blip r:embed="rId6">
            <a:alphaModFix/>
          </a:blip>
          <a:srcRect b="1919" l="0" r="0" t="-1920"/>
          <a:stretch/>
        </p:blipFill>
        <p:spPr>
          <a:xfrm>
            <a:off x="2463494" y="1678152"/>
            <a:ext cx="1570700" cy="717820"/>
          </a:xfrm>
          <a:prstGeom prst="rect">
            <a:avLst/>
          </a:prstGeom>
          <a:noFill/>
          <a:ln>
            <a:noFill/>
          </a:ln>
        </p:spPr>
      </p:pic>
      <p:sp>
        <p:nvSpPr>
          <p:cNvPr id="1229" name="Google Shape;1229;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pic>
        <p:nvPicPr>
          <p:cNvPr id="1230" name="Google Shape;1230;p89"/>
          <p:cNvPicPr preferRelativeResize="0"/>
          <p:nvPr/>
        </p:nvPicPr>
        <p:blipFill>
          <a:blip r:embed="rId7">
            <a:alphaModFix/>
          </a:blip>
          <a:stretch>
            <a:fillRect/>
          </a:stretch>
        </p:blipFill>
        <p:spPr>
          <a:xfrm>
            <a:off x="5244963" y="2012838"/>
            <a:ext cx="571500" cy="552450"/>
          </a:xfrm>
          <a:prstGeom prst="rect">
            <a:avLst/>
          </a:prstGeom>
          <a:noFill/>
          <a:ln>
            <a:noFill/>
          </a:ln>
        </p:spPr>
      </p:pic>
      <p:pic>
        <p:nvPicPr>
          <p:cNvPr id="1231" name="Google Shape;1231;p89"/>
          <p:cNvPicPr preferRelativeResize="0"/>
          <p:nvPr/>
        </p:nvPicPr>
        <p:blipFill>
          <a:blip r:embed="rId8">
            <a:alphaModFix/>
          </a:blip>
          <a:stretch>
            <a:fillRect/>
          </a:stretch>
        </p:blipFill>
        <p:spPr>
          <a:xfrm>
            <a:off x="6157300" y="2003313"/>
            <a:ext cx="581025" cy="571500"/>
          </a:xfrm>
          <a:prstGeom prst="rect">
            <a:avLst/>
          </a:prstGeom>
          <a:noFill/>
          <a:ln>
            <a:noFill/>
          </a:ln>
        </p:spPr>
      </p:pic>
      <p:pic>
        <p:nvPicPr>
          <p:cNvPr id="1232" name="Google Shape;1232;p89"/>
          <p:cNvPicPr preferRelativeResize="0"/>
          <p:nvPr/>
        </p:nvPicPr>
        <p:blipFill>
          <a:blip r:embed="rId9">
            <a:alphaModFix/>
          </a:blip>
          <a:stretch>
            <a:fillRect/>
          </a:stretch>
        </p:blipFill>
        <p:spPr>
          <a:xfrm>
            <a:off x="4984326" y="3294477"/>
            <a:ext cx="571500" cy="599025"/>
          </a:xfrm>
          <a:prstGeom prst="rect">
            <a:avLst/>
          </a:prstGeom>
          <a:noFill/>
          <a:ln>
            <a:noFill/>
          </a:ln>
        </p:spPr>
      </p:pic>
      <p:pic>
        <p:nvPicPr>
          <p:cNvPr id="1233" name="Google Shape;1233;p89"/>
          <p:cNvPicPr preferRelativeResize="0"/>
          <p:nvPr/>
        </p:nvPicPr>
        <p:blipFill>
          <a:blip r:embed="rId10">
            <a:alphaModFix/>
          </a:blip>
          <a:stretch>
            <a:fillRect/>
          </a:stretch>
        </p:blipFill>
        <p:spPr>
          <a:xfrm>
            <a:off x="5685300" y="3350850"/>
            <a:ext cx="571500" cy="582930"/>
          </a:xfrm>
          <a:prstGeom prst="rect">
            <a:avLst/>
          </a:prstGeom>
          <a:noFill/>
          <a:ln>
            <a:noFill/>
          </a:ln>
        </p:spPr>
      </p:pic>
      <p:pic>
        <p:nvPicPr>
          <p:cNvPr id="1234" name="Google Shape;1234;p89"/>
          <p:cNvPicPr preferRelativeResize="0"/>
          <p:nvPr/>
        </p:nvPicPr>
        <p:blipFill>
          <a:blip r:embed="rId8">
            <a:alphaModFix/>
          </a:blip>
          <a:stretch>
            <a:fillRect/>
          </a:stretch>
        </p:blipFill>
        <p:spPr>
          <a:xfrm>
            <a:off x="6386275" y="3308225"/>
            <a:ext cx="581025" cy="571500"/>
          </a:xfrm>
          <a:prstGeom prst="rect">
            <a:avLst/>
          </a:prstGeom>
          <a:noFill/>
          <a:ln>
            <a:noFill/>
          </a:ln>
        </p:spPr>
      </p:pic>
      <p:grpSp>
        <p:nvGrpSpPr>
          <p:cNvPr id="1235" name="Google Shape;1235;p89"/>
          <p:cNvGrpSpPr/>
          <p:nvPr/>
        </p:nvGrpSpPr>
        <p:grpSpPr>
          <a:xfrm>
            <a:off x="4885900" y="2059400"/>
            <a:ext cx="2838650" cy="523200"/>
            <a:chOff x="4885900" y="2059400"/>
            <a:chExt cx="2838650" cy="523200"/>
          </a:xfrm>
        </p:grpSpPr>
        <p:sp>
          <p:nvSpPr>
            <p:cNvPr id="1236" name="Google Shape;1236;p89"/>
            <p:cNvSpPr txBox="1"/>
            <p:nvPr/>
          </p:nvSpPr>
          <p:spPr>
            <a:xfrm>
              <a:off x="4885900" y="2059400"/>
              <a:ext cx="26862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5</a:t>
              </a:r>
              <a:endParaRPr sz="2200">
                <a:solidFill>
                  <a:schemeClr val="dk1"/>
                </a:solidFill>
                <a:latin typeface="Lexend"/>
                <a:ea typeface="Lexend"/>
                <a:cs typeface="Lexend"/>
                <a:sym typeface="Lexend"/>
              </a:endParaRPr>
            </a:p>
          </p:txBody>
        </p:sp>
        <p:sp>
          <p:nvSpPr>
            <p:cNvPr id="1237" name="Google Shape;1237;p89"/>
            <p:cNvSpPr txBox="1"/>
            <p:nvPr/>
          </p:nvSpPr>
          <p:spPr>
            <a:xfrm>
              <a:off x="5858850" y="2059400"/>
              <a:ext cx="18657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    </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90"/>
          <p:cNvSpPr txBox="1"/>
          <p:nvPr/>
        </p:nvSpPr>
        <p:spPr>
          <a:xfrm>
            <a:off x="4662300" y="1310875"/>
            <a:ext cx="3899400" cy="9126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The mixed number button is accessed by pressing</a:t>
            </a:r>
            <a:endParaRPr sz="2200">
              <a:solidFill>
                <a:schemeClr val="dk1"/>
              </a:solidFill>
              <a:latin typeface="Lexend"/>
              <a:ea typeface="Lexend"/>
              <a:cs typeface="Lexend"/>
              <a:sym typeface="Lexend"/>
            </a:endParaRPr>
          </a:p>
        </p:txBody>
      </p:sp>
      <p:sp>
        <p:nvSpPr>
          <p:cNvPr id="1243" name="Google Shape;1243;p90"/>
          <p:cNvSpPr txBox="1"/>
          <p:nvPr>
            <p:ph idx="1" type="body"/>
          </p:nvPr>
        </p:nvSpPr>
        <p:spPr>
          <a:xfrm>
            <a:off x="324000" y="759300"/>
            <a:ext cx="62811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Now let’s input a mixed number.</a:t>
            </a:r>
            <a:endParaRPr/>
          </a:p>
        </p:txBody>
      </p:sp>
      <p:pic>
        <p:nvPicPr>
          <p:cNvPr id="1244" name="Google Shape;1244;p90"/>
          <p:cNvPicPr preferRelativeResize="0"/>
          <p:nvPr/>
        </p:nvPicPr>
        <p:blipFill>
          <a:blip r:embed="rId3">
            <a:alphaModFix/>
          </a:blip>
          <a:stretch>
            <a:fillRect/>
          </a:stretch>
        </p:blipFill>
        <p:spPr>
          <a:xfrm>
            <a:off x="2325450" y="1521300"/>
            <a:ext cx="1865647" cy="3230400"/>
          </a:xfrm>
          <a:prstGeom prst="rect">
            <a:avLst/>
          </a:prstGeom>
          <a:noFill/>
          <a:ln>
            <a:noFill/>
          </a:ln>
        </p:spPr>
      </p:pic>
      <p:grpSp>
        <p:nvGrpSpPr>
          <p:cNvPr id="1245" name="Google Shape;1245;p90"/>
          <p:cNvGrpSpPr/>
          <p:nvPr/>
        </p:nvGrpSpPr>
        <p:grpSpPr>
          <a:xfrm>
            <a:off x="5441564" y="2121400"/>
            <a:ext cx="1075200" cy="852400"/>
            <a:chOff x="547039" y="2582100"/>
            <a:chExt cx="1075200" cy="852400"/>
          </a:xfrm>
        </p:grpSpPr>
        <p:pic>
          <p:nvPicPr>
            <p:cNvPr id="1246" name="Google Shape;1246;p90"/>
            <p:cNvPicPr preferRelativeResize="0"/>
            <p:nvPr/>
          </p:nvPicPr>
          <p:blipFill rotWithShape="1">
            <a:blip r:embed="rId4">
              <a:alphaModFix/>
            </a:blip>
            <a:srcRect b="0" l="0" r="0" t="21996"/>
            <a:stretch/>
          </p:blipFill>
          <p:spPr>
            <a:xfrm>
              <a:off x="671625" y="2893675"/>
              <a:ext cx="596800" cy="540825"/>
            </a:xfrm>
            <a:prstGeom prst="rect">
              <a:avLst/>
            </a:prstGeom>
            <a:noFill/>
            <a:ln>
              <a:noFill/>
            </a:ln>
          </p:spPr>
        </p:pic>
        <p:sp>
          <p:nvSpPr>
            <p:cNvPr id="1247" name="Google Shape;1247;p90"/>
            <p:cNvSpPr txBox="1"/>
            <p:nvPr/>
          </p:nvSpPr>
          <p:spPr>
            <a:xfrm>
              <a:off x="547039" y="2582100"/>
              <a:ext cx="10752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SHIFT</a:t>
              </a:r>
              <a:endParaRPr sz="1800">
                <a:solidFill>
                  <a:schemeClr val="dk1"/>
                </a:solidFill>
                <a:latin typeface="Lexend"/>
                <a:ea typeface="Lexend"/>
                <a:cs typeface="Lexend"/>
                <a:sym typeface="Lexend"/>
              </a:endParaRPr>
            </a:p>
          </p:txBody>
        </p:sp>
      </p:grpSp>
      <p:pic>
        <p:nvPicPr>
          <p:cNvPr id="1248" name="Google Shape;1248;p90"/>
          <p:cNvPicPr preferRelativeResize="0"/>
          <p:nvPr/>
        </p:nvPicPr>
        <p:blipFill>
          <a:blip r:embed="rId5">
            <a:alphaModFix/>
          </a:blip>
          <a:stretch>
            <a:fillRect/>
          </a:stretch>
        </p:blipFill>
        <p:spPr>
          <a:xfrm>
            <a:off x="7030550" y="2299550"/>
            <a:ext cx="688675" cy="724300"/>
          </a:xfrm>
          <a:prstGeom prst="rect">
            <a:avLst/>
          </a:prstGeom>
          <a:noFill/>
          <a:ln>
            <a:noFill/>
          </a:ln>
        </p:spPr>
      </p:pic>
      <p:pic>
        <p:nvPicPr>
          <p:cNvPr id="1249" name="Google Shape;1249;p90"/>
          <p:cNvPicPr preferRelativeResize="0"/>
          <p:nvPr/>
        </p:nvPicPr>
        <p:blipFill>
          <a:blip r:embed="rId6">
            <a:alphaModFix/>
          </a:blip>
          <a:stretch>
            <a:fillRect/>
          </a:stretch>
        </p:blipFill>
        <p:spPr>
          <a:xfrm>
            <a:off x="2439863" y="1633322"/>
            <a:ext cx="1636825" cy="776400"/>
          </a:xfrm>
          <a:prstGeom prst="rect">
            <a:avLst/>
          </a:prstGeom>
          <a:noFill/>
          <a:ln>
            <a:noFill/>
          </a:ln>
        </p:spPr>
      </p:pic>
      <p:sp>
        <p:nvSpPr>
          <p:cNvPr id="1250" name="Google Shape;1250;p90"/>
          <p:cNvSpPr txBox="1"/>
          <p:nvPr/>
        </p:nvSpPr>
        <p:spPr>
          <a:xfrm>
            <a:off x="5300925" y="3189075"/>
            <a:ext cx="3000000" cy="13023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You can then insert the integer and proper fraction.</a:t>
            </a:r>
            <a:endParaRPr/>
          </a:p>
        </p:txBody>
      </p:sp>
      <p:cxnSp>
        <p:nvCxnSpPr>
          <p:cNvPr id="1251" name="Google Shape;1251;p90"/>
          <p:cNvCxnSpPr/>
          <p:nvPr/>
        </p:nvCxnSpPr>
        <p:spPr>
          <a:xfrm rot="10800000">
            <a:off x="2885650" y="2012150"/>
            <a:ext cx="2263500" cy="1848300"/>
          </a:xfrm>
          <a:prstGeom prst="straightConnector1">
            <a:avLst/>
          </a:prstGeom>
          <a:noFill/>
          <a:ln cap="flat" cmpd="sng" w="28575">
            <a:solidFill>
              <a:schemeClr val="accent2"/>
            </a:solidFill>
            <a:prstDash val="solid"/>
            <a:round/>
            <a:headEnd len="med" w="med" type="none"/>
            <a:tailEnd len="med" w="med" type="triangle"/>
          </a:ln>
        </p:spPr>
      </p:cxnSp>
      <p:sp>
        <p:nvSpPr>
          <p:cNvPr id="1252" name="Google Shape;1252;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sp>
        <p:nvSpPr>
          <p:cNvPr id="1253" name="Google Shape;1253;p90"/>
          <p:cNvSpPr txBox="1"/>
          <p:nvPr/>
        </p:nvSpPr>
        <p:spPr>
          <a:xfrm>
            <a:off x="6338700" y="2301475"/>
            <a:ext cx="817800" cy="523200"/>
          </a:xfrm>
          <a:prstGeom prst="rect">
            <a:avLst/>
          </a:prstGeom>
          <a:noFill/>
          <a:ln>
            <a:noFill/>
          </a:ln>
        </p:spPr>
        <p:txBody>
          <a:bodyPr anchorCtr="0" anchor="t" bIns="91425" lIns="0"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then</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91"/>
          <p:cNvSpPr txBox="1"/>
          <p:nvPr/>
        </p:nvSpPr>
        <p:spPr>
          <a:xfrm>
            <a:off x="4519200" y="26548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Press</a:t>
            </a:r>
            <a:endParaRPr/>
          </a:p>
        </p:txBody>
      </p:sp>
      <p:sp>
        <p:nvSpPr>
          <p:cNvPr id="1259" name="Google Shape;1259;p91"/>
          <p:cNvSpPr txBox="1"/>
          <p:nvPr/>
        </p:nvSpPr>
        <p:spPr>
          <a:xfrm>
            <a:off x="4509900" y="1310875"/>
            <a:ext cx="4310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For example,</a:t>
            </a:r>
            <a:endParaRPr sz="2200">
              <a:solidFill>
                <a:schemeClr val="dk1"/>
              </a:solidFill>
              <a:latin typeface="Lexend"/>
              <a:ea typeface="Lexend"/>
              <a:cs typeface="Lexend"/>
              <a:sym typeface="Lexend"/>
            </a:endParaRPr>
          </a:p>
        </p:txBody>
      </p:sp>
      <p:sp>
        <p:nvSpPr>
          <p:cNvPr id="1260" name="Google Shape;1260;p91"/>
          <p:cNvSpPr txBox="1"/>
          <p:nvPr>
            <p:ph idx="1" type="body"/>
          </p:nvPr>
        </p:nvSpPr>
        <p:spPr>
          <a:xfrm>
            <a:off x="324000" y="759300"/>
            <a:ext cx="8237700" cy="429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Now let’s input a mixed number</a:t>
            </a:r>
            <a:endParaRPr/>
          </a:p>
        </p:txBody>
      </p:sp>
      <p:pic>
        <p:nvPicPr>
          <p:cNvPr id="1261" name="Google Shape;1261;p91"/>
          <p:cNvPicPr preferRelativeResize="0"/>
          <p:nvPr/>
        </p:nvPicPr>
        <p:blipFill>
          <a:blip r:embed="rId3">
            <a:alphaModFix/>
          </a:blip>
          <a:stretch>
            <a:fillRect/>
          </a:stretch>
        </p:blipFill>
        <p:spPr>
          <a:xfrm>
            <a:off x="2325450" y="1521300"/>
            <a:ext cx="1865647" cy="3230400"/>
          </a:xfrm>
          <a:prstGeom prst="rect">
            <a:avLst/>
          </a:prstGeom>
          <a:noFill/>
          <a:ln>
            <a:noFill/>
          </a:ln>
        </p:spPr>
      </p:pic>
      <p:sp>
        <p:nvSpPr>
          <p:cNvPr id="1262" name="Google Shape;1262;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grpSp>
        <p:nvGrpSpPr>
          <p:cNvPr id="1263" name="Google Shape;1263;p91"/>
          <p:cNvGrpSpPr/>
          <p:nvPr/>
        </p:nvGrpSpPr>
        <p:grpSpPr>
          <a:xfrm>
            <a:off x="5363089" y="2490200"/>
            <a:ext cx="1075200" cy="852400"/>
            <a:chOff x="547039" y="2582100"/>
            <a:chExt cx="1075200" cy="852400"/>
          </a:xfrm>
        </p:grpSpPr>
        <p:pic>
          <p:nvPicPr>
            <p:cNvPr id="1264" name="Google Shape;1264;p91"/>
            <p:cNvPicPr preferRelativeResize="0"/>
            <p:nvPr/>
          </p:nvPicPr>
          <p:blipFill rotWithShape="1">
            <a:blip r:embed="rId4">
              <a:alphaModFix/>
            </a:blip>
            <a:srcRect b="0" l="0" r="0" t="21996"/>
            <a:stretch/>
          </p:blipFill>
          <p:spPr>
            <a:xfrm>
              <a:off x="671625" y="2893675"/>
              <a:ext cx="596800" cy="540825"/>
            </a:xfrm>
            <a:prstGeom prst="rect">
              <a:avLst/>
            </a:prstGeom>
            <a:noFill/>
            <a:ln>
              <a:noFill/>
            </a:ln>
          </p:spPr>
        </p:pic>
        <p:sp>
          <p:nvSpPr>
            <p:cNvPr id="1265" name="Google Shape;1265;p91"/>
            <p:cNvSpPr txBox="1"/>
            <p:nvPr/>
          </p:nvSpPr>
          <p:spPr>
            <a:xfrm>
              <a:off x="547039" y="2582100"/>
              <a:ext cx="10752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SHIFT</a:t>
              </a:r>
              <a:endParaRPr sz="1800">
                <a:solidFill>
                  <a:schemeClr val="dk1"/>
                </a:solidFill>
                <a:latin typeface="Lexend"/>
                <a:ea typeface="Lexend"/>
                <a:cs typeface="Lexend"/>
                <a:sym typeface="Lexend"/>
              </a:endParaRPr>
            </a:p>
          </p:txBody>
        </p:sp>
      </p:grpSp>
      <p:pic>
        <p:nvPicPr>
          <p:cNvPr id="1266" name="Google Shape;1266;p91"/>
          <p:cNvPicPr preferRelativeResize="0"/>
          <p:nvPr/>
        </p:nvPicPr>
        <p:blipFill>
          <a:blip r:embed="rId5">
            <a:alphaModFix/>
          </a:blip>
          <a:stretch>
            <a:fillRect/>
          </a:stretch>
        </p:blipFill>
        <p:spPr>
          <a:xfrm>
            <a:off x="6291950" y="2637765"/>
            <a:ext cx="688675" cy="724300"/>
          </a:xfrm>
          <a:prstGeom prst="rect">
            <a:avLst/>
          </a:prstGeom>
          <a:noFill/>
          <a:ln>
            <a:noFill/>
          </a:ln>
        </p:spPr>
      </p:pic>
      <p:sp>
        <p:nvSpPr>
          <p:cNvPr id="1267" name="Google Shape;1267;p91"/>
          <p:cNvSpPr txBox="1"/>
          <p:nvPr/>
        </p:nvSpPr>
        <p:spPr>
          <a:xfrm>
            <a:off x="4500325" y="3342600"/>
            <a:ext cx="3813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Insert</a:t>
            </a:r>
            <a:endParaRPr/>
          </a:p>
        </p:txBody>
      </p:sp>
      <p:pic>
        <p:nvPicPr>
          <p:cNvPr descr="&lt;math xmlns=&quot;http://www.w3.org/1998/Math/MathML&quot; display=&quot;block&quot; data-is-equatio=&quot;1&quot; data-latex=&quot;5\frac{7}{8}&quot;&gt;&lt;mn&gt;5&lt;/mn&gt;&lt;mfrac&gt;&lt;mn&gt;7&lt;/mn&gt;&lt;mn&gt;8&lt;/mn&gt;&lt;/mfrac&gt;&lt;/math&gt;" id="1268" name="Google Shape;1268;p91" title="5 and seven eighths"/>
          <p:cNvPicPr preferRelativeResize="0"/>
          <p:nvPr/>
        </p:nvPicPr>
        <p:blipFill>
          <a:blip r:embed="rId6">
            <a:alphaModFix/>
          </a:blip>
          <a:stretch>
            <a:fillRect/>
          </a:stretch>
        </p:blipFill>
        <p:spPr>
          <a:xfrm>
            <a:off x="5564850" y="1783525"/>
            <a:ext cx="361921" cy="613500"/>
          </a:xfrm>
          <a:prstGeom prst="rect">
            <a:avLst/>
          </a:prstGeom>
          <a:noFill/>
          <a:ln>
            <a:noFill/>
          </a:ln>
        </p:spPr>
      </p:pic>
      <p:pic>
        <p:nvPicPr>
          <p:cNvPr descr="&lt;math xmlns=&quot;http://www.w3.org/1998/Math/MathML&quot; display=&quot;block&quot; data-is-equatio=&quot;1&quot; data-latex=&quot;5\frac{7}{8}&quot;&gt;&lt;mn&gt;5&lt;/mn&gt;&lt;mfrac&gt;&lt;mn&gt;7&lt;/mn&gt;&lt;mn&gt;8&lt;/mn&gt;&lt;/mfrac&gt;&lt;/math&gt;" id="1269" name="Google Shape;1269;p91" title="5 and seven eighths"/>
          <p:cNvPicPr preferRelativeResize="0"/>
          <p:nvPr/>
        </p:nvPicPr>
        <p:blipFill>
          <a:blip r:embed="rId6">
            <a:alphaModFix/>
          </a:blip>
          <a:stretch>
            <a:fillRect/>
          </a:stretch>
        </p:blipFill>
        <p:spPr>
          <a:xfrm>
            <a:off x="8056825" y="3297450"/>
            <a:ext cx="361921" cy="613500"/>
          </a:xfrm>
          <a:prstGeom prst="rect">
            <a:avLst/>
          </a:prstGeom>
          <a:noFill/>
          <a:ln>
            <a:noFill/>
          </a:ln>
        </p:spPr>
      </p:pic>
      <p:pic>
        <p:nvPicPr>
          <p:cNvPr id="1270" name="Google Shape;1270;p91"/>
          <p:cNvPicPr preferRelativeResize="0"/>
          <p:nvPr/>
        </p:nvPicPr>
        <p:blipFill>
          <a:blip r:embed="rId7">
            <a:alphaModFix/>
          </a:blip>
          <a:stretch>
            <a:fillRect/>
          </a:stretch>
        </p:blipFill>
        <p:spPr>
          <a:xfrm>
            <a:off x="2412742" y="1620005"/>
            <a:ext cx="1691063" cy="776400"/>
          </a:xfrm>
          <a:prstGeom prst="rect">
            <a:avLst/>
          </a:prstGeom>
          <a:noFill/>
          <a:ln>
            <a:noFill/>
          </a:ln>
        </p:spPr>
      </p:pic>
      <p:sp>
        <p:nvSpPr>
          <p:cNvPr id="1271" name="Google Shape;1271;p91"/>
          <p:cNvSpPr txBox="1"/>
          <p:nvPr/>
        </p:nvSpPr>
        <p:spPr>
          <a:xfrm>
            <a:off x="4586100" y="1844275"/>
            <a:ext cx="10095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Input</a:t>
            </a:r>
            <a:endParaRPr sz="2200">
              <a:solidFill>
                <a:schemeClr val="dk1"/>
              </a:solidFill>
              <a:latin typeface="Lexend"/>
              <a:ea typeface="Lexend"/>
              <a:cs typeface="Lexend"/>
              <a:sym typeface="Lexend"/>
            </a:endParaRPr>
          </a:p>
        </p:txBody>
      </p:sp>
      <p:sp>
        <p:nvSpPr>
          <p:cNvPr id="1272" name="Google Shape;1272;p91"/>
          <p:cNvSpPr txBox="1"/>
          <p:nvPr/>
        </p:nvSpPr>
        <p:spPr>
          <a:xfrm>
            <a:off x="5990600" y="1844275"/>
            <a:ext cx="2981700" cy="91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2200">
                <a:solidFill>
                  <a:schemeClr val="dk1"/>
                </a:solidFill>
                <a:latin typeface="Lexend"/>
                <a:ea typeface="Lexend"/>
                <a:cs typeface="Lexend"/>
                <a:sym typeface="Lexend"/>
              </a:rPr>
              <a:t>into the calculator</a:t>
            </a:r>
            <a:endParaRPr sz="22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2200">
              <a:solidFill>
                <a:schemeClr val="dk1"/>
              </a:solidFill>
              <a:latin typeface="Lexend"/>
              <a:ea typeface="Lexend"/>
              <a:cs typeface="Lexend"/>
              <a:sym typeface="Lexend"/>
            </a:endParaRPr>
          </a:p>
        </p:txBody>
      </p:sp>
      <p:grpSp>
        <p:nvGrpSpPr>
          <p:cNvPr id="1273" name="Google Shape;1273;p91"/>
          <p:cNvGrpSpPr/>
          <p:nvPr/>
        </p:nvGrpSpPr>
        <p:grpSpPr>
          <a:xfrm>
            <a:off x="5389525" y="3342600"/>
            <a:ext cx="4447800" cy="523200"/>
            <a:chOff x="5389525" y="3342600"/>
            <a:chExt cx="4447800" cy="523200"/>
          </a:xfrm>
        </p:grpSpPr>
        <p:sp>
          <p:nvSpPr>
            <p:cNvPr id="1274" name="Google Shape;1274;p91"/>
            <p:cNvSpPr txBox="1"/>
            <p:nvPr/>
          </p:nvSpPr>
          <p:spPr>
            <a:xfrm>
              <a:off x="5389525" y="33426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the</a:t>
              </a:r>
              <a:endParaRPr/>
            </a:p>
          </p:txBody>
        </p:sp>
        <p:sp>
          <p:nvSpPr>
            <p:cNvPr id="1275" name="Google Shape;1275;p91"/>
            <p:cNvSpPr txBox="1"/>
            <p:nvPr/>
          </p:nvSpPr>
          <p:spPr>
            <a:xfrm>
              <a:off x="5922925" y="33426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mixed</a:t>
              </a:r>
              <a:endParaRPr/>
            </a:p>
          </p:txBody>
        </p:sp>
        <p:sp>
          <p:nvSpPr>
            <p:cNvPr id="1276" name="Google Shape;1276;p91"/>
            <p:cNvSpPr txBox="1"/>
            <p:nvPr/>
          </p:nvSpPr>
          <p:spPr>
            <a:xfrm>
              <a:off x="6837325" y="334260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number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92"/>
          <p:cNvSpPr txBox="1"/>
          <p:nvPr>
            <p:ph idx="1" type="body"/>
          </p:nvPr>
        </p:nvSpPr>
        <p:spPr>
          <a:xfrm>
            <a:off x="324000" y="759300"/>
            <a:ext cx="8237700" cy="33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your calculator, work out the following. Make sure to use</a:t>
            </a:r>
            <a:endParaRPr sz="1800"/>
          </a:p>
        </p:txBody>
      </p:sp>
      <p:sp>
        <p:nvSpPr>
          <p:cNvPr id="1282" name="Google Shape;1282;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grpSp>
        <p:nvGrpSpPr>
          <p:cNvPr id="1283" name="Google Shape;1283;p92"/>
          <p:cNvGrpSpPr/>
          <p:nvPr/>
        </p:nvGrpSpPr>
        <p:grpSpPr>
          <a:xfrm>
            <a:off x="4913828" y="925816"/>
            <a:ext cx="1075200" cy="703694"/>
            <a:chOff x="480487" y="2582100"/>
            <a:chExt cx="1075200" cy="703694"/>
          </a:xfrm>
        </p:grpSpPr>
        <p:pic>
          <p:nvPicPr>
            <p:cNvPr id="1284" name="Google Shape;1284;p92"/>
            <p:cNvPicPr preferRelativeResize="0"/>
            <p:nvPr/>
          </p:nvPicPr>
          <p:blipFill rotWithShape="1">
            <a:blip r:embed="rId3">
              <a:alphaModFix/>
            </a:blip>
            <a:srcRect b="0" l="0" r="0" t="21996"/>
            <a:stretch/>
          </p:blipFill>
          <p:spPr>
            <a:xfrm>
              <a:off x="671625" y="2893669"/>
              <a:ext cx="432710" cy="392125"/>
            </a:xfrm>
            <a:prstGeom prst="rect">
              <a:avLst/>
            </a:prstGeom>
            <a:noFill/>
            <a:ln>
              <a:noFill/>
            </a:ln>
          </p:spPr>
        </p:pic>
        <p:sp>
          <p:nvSpPr>
            <p:cNvPr id="1285" name="Google Shape;1285;p92"/>
            <p:cNvSpPr txBox="1"/>
            <p:nvPr/>
          </p:nvSpPr>
          <p:spPr>
            <a:xfrm>
              <a:off x="480487" y="2582100"/>
              <a:ext cx="10752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SHIFT</a:t>
              </a:r>
              <a:endParaRPr sz="1800">
                <a:solidFill>
                  <a:schemeClr val="dk1"/>
                </a:solidFill>
                <a:latin typeface="Lexend"/>
                <a:ea typeface="Lexend"/>
                <a:cs typeface="Lexend"/>
                <a:sym typeface="Lexend"/>
              </a:endParaRPr>
            </a:p>
          </p:txBody>
        </p:sp>
      </p:grpSp>
      <p:pic>
        <p:nvPicPr>
          <p:cNvPr id="1286" name="Google Shape;1286;p92"/>
          <p:cNvPicPr preferRelativeResize="0"/>
          <p:nvPr/>
        </p:nvPicPr>
        <p:blipFill>
          <a:blip r:embed="rId4">
            <a:alphaModFix/>
          </a:blip>
          <a:stretch>
            <a:fillRect/>
          </a:stretch>
        </p:blipFill>
        <p:spPr>
          <a:xfrm>
            <a:off x="310718" y="1112856"/>
            <a:ext cx="513440" cy="540000"/>
          </a:xfrm>
          <a:prstGeom prst="rect">
            <a:avLst/>
          </a:prstGeom>
          <a:noFill/>
          <a:ln>
            <a:noFill/>
          </a:ln>
        </p:spPr>
      </p:pic>
      <p:sp>
        <p:nvSpPr>
          <p:cNvPr id="1287" name="Google Shape;1287;p92"/>
          <p:cNvSpPr txBox="1"/>
          <p:nvPr/>
        </p:nvSpPr>
        <p:spPr>
          <a:xfrm>
            <a:off x="310725" y="22735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a:t>
            </a:r>
            <a:endParaRPr sz="2200">
              <a:solidFill>
                <a:schemeClr val="dk1"/>
              </a:solidFill>
              <a:latin typeface="Lexend"/>
              <a:ea typeface="Lexend"/>
              <a:cs typeface="Lexend"/>
              <a:sym typeface="Lexend"/>
            </a:endParaRPr>
          </a:p>
        </p:txBody>
      </p:sp>
      <p:sp>
        <p:nvSpPr>
          <p:cNvPr id="1288" name="Google Shape;1288;p92"/>
          <p:cNvSpPr txBox="1"/>
          <p:nvPr/>
        </p:nvSpPr>
        <p:spPr>
          <a:xfrm>
            <a:off x="310725" y="29974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b</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sp>
        <p:nvSpPr>
          <p:cNvPr id="1289" name="Google Shape;1289;p92"/>
          <p:cNvSpPr txBox="1"/>
          <p:nvPr/>
        </p:nvSpPr>
        <p:spPr>
          <a:xfrm>
            <a:off x="310725" y="37213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c</a:t>
            </a:r>
            <a:r>
              <a:rPr lang="en-GB"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p:txBody>
      </p:sp>
      <p:pic>
        <p:nvPicPr>
          <p:cNvPr id="1290" name="Google Shape;1290;p92"/>
          <p:cNvPicPr preferRelativeResize="0"/>
          <p:nvPr/>
        </p:nvPicPr>
        <p:blipFill>
          <a:blip r:embed="rId4">
            <a:alphaModFix/>
          </a:blip>
          <a:stretch>
            <a:fillRect/>
          </a:stretch>
        </p:blipFill>
        <p:spPr>
          <a:xfrm>
            <a:off x="6325293" y="1112856"/>
            <a:ext cx="513440" cy="540000"/>
          </a:xfrm>
          <a:prstGeom prst="rect">
            <a:avLst/>
          </a:prstGeom>
          <a:noFill/>
          <a:ln>
            <a:noFill/>
          </a:ln>
        </p:spPr>
      </p:pic>
      <p:pic>
        <p:nvPicPr>
          <p:cNvPr descr="&lt;math xmlns=&quot;http://www.w3.org/1998/Math/MathML&quot; display=&quot;block&quot; data-is-equatio=&quot;1&quot; data-latex=&quot;\begin{array}{l}\frac{3}{5}\times\frac{13}{9}=\\&amp;#13;&amp;#10;2\frac{1}{2}+\ 4\frac{3}{7}\ -\ \frac{9}{10}=\\&amp;#13;&amp;#10;12\ \frac{3}{5}\times\frac{18}{23}=\\&amp;#13;&amp;#10;15\frac{7}{10}\ \div12\frac{1}{2}=\\&amp;#13;&amp;#10;2\ \times\left(2\frac{1}{3}+\frac{9}{5}\right)=\end{array}&quot;&gt;&lt;mtable columnalign=&quot;left&quot; columnspacing=&quot;1em&quot; rowspacing=&quot;4pt&quot;&gt;&lt;mtr&gt;&lt;mtd&gt;&lt;mfrac&gt;&lt;mn&gt;3&lt;/mn&gt;&lt;mn&gt;5&lt;/mn&gt;&lt;/mfrac&gt;&lt;mo&gt;×&lt;/mo&gt;&lt;mfrac&gt;&lt;mn&gt;13&lt;/mn&gt;&lt;mn&gt;9&lt;/mn&gt;&lt;/mfrac&gt;&lt;mo&gt;=&lt;/mo&gt;&lt;/mtd&gt;&lt;/mtr&gt;&lt;mtr&gt;&lt;mtd&gt;&lt;mn&gt;2&lt;/mn&gt;&lt;mfrac&gt;&lt;mn&gt;1&lt;/mn&gt;&lt;mn&gt;2&lt;/mn&gt;&lt;/mfrac&gt;&lt;mo&gt;+&lt;/mo&gt;&lt;mtext&gt;&lt;/mtext&gt;&lt;mn&gt;4&lt;/mn&gt;&lt;mfrac&gt;&lt;mn&gt;3&lt;/mn&gt;&lt;mn&gt;7&lt;/mn&gt;&lt;/mfrac&gt;&lt;mtext&gt;&lt;/mtext&gt;&lt;mo&gt;−&lt;/mo&gt;&lt;mtext&gt;&lt;/mtext&gt;&lt;mfrac&gt;&lt;mn&gt;9&lt;/mn&gt;&lt;mn&gt;10&lt;/mn&gt;&lt;/mfrac&gt;&lt;mo&gt;=&lt;/mo&gt;&lt;/mtd&gt;&lt;/mtr&gt;&lt;mtr&gt;&lt;mtd&gt;&lt;mn&gt;12&lt;/mn&gt;&lt;mtext&gt;&lt;/mtext&gt;&lt;mfrac&gt;&lt;mn&gt;3&lt;/mn&gt;&lt;mn&gt;5&lt;/mn&gt;&lt;/mfrac&gt;&lt;mo&gt;×&lt;/mo&gt;&lt;mfrac&gt;&lt;mn&gt;18&lt;/mn&gt;&lt;mn&gt;23&lt;/mn&gt;&lt;/mfrac&gt;&lt;mo&gt;=&lt;/mo&gt;&lt;/mtd&gt;&lt;/mtr&gt;&lt;mtr&gt;&lt;mtd&gt;&lt;mn&gt;15&lt;/mn&gt;&lt;mfrac&gt;&lt;mn&gt;7&lt;/mn&gt;&lt;mn&gt;10&lt;/mn&gt;&lt;/mfrac&gt;&lt;mtext&gt;&lt;/mtext&gt;&lt;mo&gt;÷&lt;/mo&gt;&lt;mn&gt;12&lt;/mn&gt;&lt;mfrac&gt;&lt;mn&gt;1&lt;/mn&gt;&lt;mn&gt;2&lt;/mn&gt;&lt;/mfrac&gt;&lt;mo&gt;=&lt;/mo&gt;&lt;/mtd&gt;&lt;/mtr&gt;&lt;mtr&gt;&lt;mtd&gt;&lt;mn&gt;2&lt;/mn&gt;&lt;mtext&gt;&lt;/mtext&gt;&lt;mo&gt;×&lt;/mo&gt;&lt;mrow data-mjx-texclass=&quot;INNER&quot;&gt;&lt;mo data-mjx-texclass=&quot;OPEN&quot;&gt;(&lt;/mo&gt;&lt;mn&gt;2&lt;/mn&gt;&lt;mfrac&gt;&lt;mn&gt;1&lt;/mn&gt;&lt;mn&gt;3&lt;/mn&gt;&lt;/mfrac&gt;&lt;mo&gt;+&lt;/mo&gt;&lt;mfrac&gt;&lt;mn&gt;9&lt;/mn&gt;&lt;mn&gt;5&lt;/mn&gt;&lt;/mfrac&gt;&lt;mo data-mjx-texclass=&quot;CLOSE&quot;&gt;)&lt;/mo&gt;&lt;/mrow&gt;&lt;mo&gt;=&lt;/mo&gt;&lt;/mtd&gt;&lt;/mtr&gt;&lt;/mtable&gt;&lt;/math&gt;" id="1291" name="Google Shape;1291;p92" title="5 lines Line 1: three fifths times thirteen ninths equals Line 2: 2 and one half plus 4 and three sevenths minus nine tenths equals Line 3: 12 three fifths times 18 over 23 equals Line 4: 15 and seven tenths division sign 12 and one half equals Line 5: 2 times open paren 2 and one third plus nine fifths close paren equals"/>
          <p:cNvPicPr preferRelativeResize="0"/>
          <p:nvPr/>
        </p:nvPicPr>
        <p:blipFill rotWithShape="1">
          <a:blip r:embed="rId5">
            <a:alphaModFix/>
          </a:blip>
          <a:srcRect b="81417" l="0" r="0" t="0"/>
          <a:stretch/>
        </p:blipFill>
        <p:spPr>
          <a:xfrm>
            <a:off x="833625" y="2273228"/>
            <a:ext cx="2546026" cy="540001"/>
          </a:xfrm>
          <a:prstGeom prst="rect">
            <a:avLst/>
          </a:prstGeom>
          <a:noFill/>
          <a:ln>
            <a:noFill/>
          </a:ln>
        </p:spPr>
      </p:pic>
      <p:pic>
        <p:nvPicPr>
          <p:cNvPr descr="&lt;math xmlns=&quot;http://www.w3.org/1998/Math/MathML&quot; display=&quot;block&quot; data-is-equatio=&quot;1&quot; data-latex=&quot;\begin{array}{l}\frac{3}{5}\times\frac{13}{9}=\\&amp;#13;&amp;#10;2\frac{1}{2}+\ 4\frac{3}{7}\ -\ \frac{9}{10}=\\&amp;#13;&amp;#10;12\ \frac{3}{5}\times\frac{18}{23}=\\&amp;#13;&amp;#10;15\frac{7}{10}\ \div12\frac{1}{2}=\\&amp;#13;&amp;#10;2\ \times\left(2\frac{1}{3}+\frac{9}{5}\right)=\end{array}&quot;&gt;&lt;mtable columnalign=&quot;left&quot; columnspacing=&quot;1em&quot; rowspacing=&quot;4pt&quot;&gt;&lt;mtr&gt;&lt;mtd&gt;&lt;mfrac&gt;&lt;mn&gt;3&lt;/mn&gt;&lt;mn&gt;5&lt;/mn&gt;&lt;/mfrac&gt;&lt;mo&gt;×&lt;/mo&gt;&lt;mfrac&gt;&lt;mn&gt;13&lt;/mn&gt;&lt;mn&gt;9&lt;/mn&gt;&lt;/mfrac&gt;&lt;mo&gt;=&lt;/mo&gt;&lt;/mtd&gt;&lt;/mtr&gt;&lt;mtr&gt;&lt;mtd&gt;&lt;mn&gt;2&lt;/mn&gt;&lt;mfrac&gt;&lt;mn&gt;1&lt;/mn&gt;&lt;mn&gt;2&lt;/mn&gt;&lt;/mfrac&gt;&lt;mo&gt;+&lt;/mo&gt;&lt;mtext&gt;&lt;/mtext&gt;&lt;mn&gt;4&lt;/mn&gt;&lt;mfrac&gt;&lt;mn&gt;3&lt;/mn&gt;&lt;mn&gt;7&lt;/mn&gt;&lt;/mfrac&gt;&lt;mtext&gt;&lt;/mtext&gt;&lt;mo&gt;−&lt;/mo&gt;&lt;mtext&gt;&lt;/mtext&gt;&lt;mfrac&gt;&lt;mn&gt;9&lt;/mn&gt;&lt;mn&gt;10&lt;/mn&gt;&lt;/mfrac&gt;&lt;mo&gt;=&lt;/mo&gt;&lt;/mtd&gt;&lt;/mtr&gt;&lt;mtr&gt;&lt;mtd&gt;&lt;mn&gt;12&lt;/mn&gt;&lt;mtext&gt;&lt;/mtext&gt;&lt;mfrac&gt;&lt;mn&gt;3&lt;/mn&gt;&lt;mn&gt;5&lt;/mn&gt;&lt;/mfrac&gt;&lt;mo&gt;×&lt;/mo&gt;&lt;mfrac&gt;&lt;mn&gt;18&lt;/mn&gt;&lt;mn&gt;23&lt;/mn&gt;&lt;/mfrac&gt;&lt;mo&gt;=&lt;/mo&gt;&lt;/mtd&gt;&lt;/mtr&gt;&lt;mtr&gt;&lt;mtd&gt;&lt;mn&gt;15&lt;/mn&gt;&lt;mfrac&gt;&lt;mn&gt;7&lt;/mn&gt;&lt;mn&gt;10&lt;/mn&gt;&lt;/mfrac&gt;&lt;mtext&gt;&lt;/mtext&gt;&lt;mo&gt;÷&lt;/mo&gt;&lt;mn&gt;12&lt;/mn&gt;&lt;mfrac&gt;&lt;mn&gt;1&lt;/mn&gt;&lt;mn&gt;2&lt;/mn&gt;&lt;/mfrac&gt;&lt;mo&gt;=&lt;/mo&gt;&lt;/mtd&gt;&lt;/mtr&gt;&lt;mtr&gt;&lt;mtd&gt;&lt;mn&gt;2&lt;/mn&gt;&lt;mtext&gt;&lt;/mtext&gt;&lt;mo&gt;×&lt;/mo&gt;&lt;mrow data-mjx-texclass=&quot;INNER&quot;&gt;&lt;mo data-mjx-texclass=&quot;OPEN&quot;&gt;(&lt;/mo&gt;&lt;mn&gt;2&lt;/mn&gt;&lt;mfrac&gt;&lt;mn&gt;1&lt;/mn&gt;&lt;mn&gt;3&lt;/mn&gt;&lt;/mfrac&gt;&lt;mo&gt;+&lt;/mo&gt;&lt;mfrac&gt;&lt;mn&gt;9&lt;/mn&gt;&lt;mn&gt;5&lt;/mn&gt;&lt;/mfrac&gt;&lt;mo data-mjx-texclass=&quot;CLOSE&quot;&gt;)&lt;/mo&gt;&lt;/mrow&gt;&lt;mo&gt;=&lt;/mo&gt;&lt;/mtd&gt;&lt;/mtr&gt;&lt;/mtable&gt;&lt;/math&gt;" id="1292" name="Google Shape;1292;p92" title="5 lines Line 1: three fifths times thirteen ninths equals Line 2: 2 and one half plus 4 and three sevenths minus nine tenths equals Line 3: 12 three fifths times 18 over 23 equals Line 4: 15 and seven tenths division sign 12 and one half equals Line 5: 2 times open paren 2 and one third plus nine fifths close paren equals"/>
          <p:cNvPicPr preferRelativeResize="0"/>
          <p:nvPr/>
        </p:nvPicPr>
        <p:blipFill rotWithShape="1">
          <a:blip r:embed="rId5">
            <a:alphaModFix/>
          </a:blip>
          <a:srcRect b="61746" l="0" r="0" t="19671"/>
          <a:stretch/>
        </p:blipFill>
        <p:spPr>
          <a:xfrm>
            <a:off x="833625" y="2997298"/>
            <a:ext cx="2546026" cy="540001"/>
          </a:xfrm>
          <a:prstGeom prst="rect">
            <a:avLst/>
          </a:prstGeom>
          <a:noFill/>
          <a:ln>
            <a:noFill/>
          </a:ln>
        </p:spPr>
      </p:pic>
      <p:pic>
        <p:nvPicPr>
          <p:cNvPr descr="&lt;math xmlns=&quot;http://www.w3.org/1998/Math/MathML&quot; display=&quot;block&quot; data-is-equatio=&quot;1&quot; data-latex=&quot;\begin{array}{l}\frac{3}{5}\times\frac{13}{9}=\\&amp;#13;&amp;#10;2\frac{1}{2}+\ 4\frac{3}{7}\ -\ \frac{9}{10}=\\&amp;#13;&amp;#10;12\ \frac{3}{5}\times\frac{18}{23}=\\&amp;#13;&amp;#10;15\frac{7}{10}\ \div12\frac{1}{2}=\\&amp;#13;&amp;#10;2\ \times\left(2\frac{1}{3}+\frac{9}{5}\right)=\end{array}&quot;&gt;&lt;mtable columnalign=&quot;left&quot; columnspacing=&quot;1em&quot; rowspacing=&quot;4pt&quot;&gt;&lt;mtr&gt;&lt;mtd&gt;&lt;mfrac&gt;&lt;mn&gt;3&lt;/mn&gt;&lt;mn&gt;5&lt;/mn&gt;&lt;/mfrac&gt;&lt;mo&gt;×&lt;/mo&gt;&lt;mfrac&gt;&lt;mn&gt;13&lt;/mn&gt;&lt;mn&gt;9&lt;/mn&gt;&lt;/mfrac&gt;&lt;mo&gt;=&lt;/mo&gt;&lt;/mtd&gt;&lt;/mtr&gt;&lt;mtr&gt;&lt;mtd&gt;&lt;mn&gt;2&lt;/mn&gt;&lt;mfrac&gt;&lt;mn&gt;1&lt;/mn&gt;&lt;mn&gt;2&lt;/mn&gt;&lt;/mfrac&gt;&lt;mo&gt;+&lt;/mo&gt;&lt;mtext&gt;&lt;/mtext&gt;&lt;mn&gt;4&lt;/mn&gt;&lt;mfrac&gt;&lt;mn&gt;3&lt;/mn&gt;&lt;mn&gt;7&lt;/mn&gt;&lt;/mfrac&gt;&lt;mtext&gt;&lt;/mtext&gt;&lt;mo&gt;−&lt;/mo&gt;&lt;mtext&gt;&lt;/mtext&gt;&lt;mfrac&gt;&lt;mn&gt;9&lt;/mn&gt;&lt;mn&gt;10&lt;/mn&gt;&lt;/mfrac&gt;&lt;mo&gt;=&lt;/mo&gt;&lt;/mtd&gt;&lt;/mtr&gt;&lt;mtr&gt;&lt;mtd&gt;&lt;mn&gt;12&lt;/mn&gt;&lt;mtext&gt;&lt;/mtext&gt;&lt;mfrac&gt;&lt;mn&gt;3&lt;/mn&gt;&lt;mn&gt;5&lt;/mn&gt;&lt;/mfrac&gt;&lt;mo&gt;×&lt;/mo&gt;&lt;mfrac&gt;&lt;mn&gt;18&lt;/mn&gt;&lt;mn&gt;23&lt;/mn&gt;&lt;/mfrac&gt;&lt;mo&gt;=&lt;/mo&gt;&lt;/mtd&gt;&lt;/mtr&gt;&lt;mtr&gt;&lt;mtd&gt;&lt;mn&gt;15&lt;/mn&gt;&lt;mfrac&gt;&lt;mn&gt;7&lt;/mn&gt;&lt;mn&gt;10&lt;/mn&gt;&lt;/mfrac&gt;&lt;mtext&gt;&lt;/mtext&gt;&lt;mo&gt;÷&lt;/mo&gt;&lt;mn&gt;12&lt;/mn&gt;&lt;mfrac&gt;&lt;mn&gt;1&lt;/mn&gt;&lt;mn&gt;2&lt;/mn&gt;&lt;/mfrac&gt;&lt;mo&gt;=&lt;/mo&gt;&lt;/mtd&gt;&lt;/mtr&gt;&lt;mtr&gt;&lt;mtd&gt;&lt;mn&gt;2&lt;/mn&gt;&lt;mtext&gt;&lt;/mtext&gt;&lt;mo&gt;×&lt;/mo&gt;&lt;mrow data-mjx-texclass=&quot;INNER&quot;&gt;&lt;mo data-mjx-texclass=&quot;OPEN&quot;&gt;(&lt;/mo&gt;&lt;mn&gt;2&lt;/mn&gt;&lt;mfrac&gt;&lt;mn&gt;1&lt;/mn&gt;&lt;mn&gt;3&lt;/mn&gt;&lt;/mfrac&gt;&lt;mo&gt;+&lt;/mo&gt;&lt;mfrac&gt;&lt;mn&gt;9&lt;/mn&gt;&lt;mn&gt;5&lt;/mn&gt;&lt;/mfrac&gt;&lt;mo data-mjx-texclass=&quot;CLOSE&quot;&gt;)&lt;/mo&gt;&lt;/mrow&gt;&lt;mo&gt;=&lt;/mo&gt;&lt;/mtd&gt;&lt;/mtr&gt;&lt;/mtable&gt;&lt;/math&gt;" id="1293" name="Google Shape;1293;p92" title="5 lines Line 1: three fifths times thirteen ninths equals Line 2: 2 and one half plus 4 and three sevenths minus nine tenths equals Line 3: 12 three fifths times 18 over 23 equals Line 4: 15 and seven tenths division sign 12 and one half equals Line 5: 2 times open paren 2 and one third plus nine fifths close paren equals"/>
          <p:cNvPicPr preferRelativeResize="0"/>
          <p:nvPr/>
        </p:nvPicPr>
        <p:blipFill rotWithShape="1">
          <a:blip r:embed="rId5">
            <a:alphaModFix/>
          </a:blip>
          <a:srcRect b="38181" l="-1500" r="1499" t="37604"/>
          <a:stretch/>
        </p:blipFill>
        <p:spPr>
          <a:xfrm>
            <a:off x="767075" y="3721375"/>
            <a:ext cx="2546026" cy="703675"/>
          </a:xfrm>
          <a:prstGeom prst="rect">
            <a:avLst/>
          </a:prstGeom>
          <a:noFill/>
          <a:ln>
            <a:noFill/>
          </a:ln>
        </p:spPr>
      </p:pic>
      <p:pic>
        <p:nvPicPr>
          <p:cNvPr descr="&lt;math xmlns=&quot;http://www.w3.org/1998/Math/MathML&quot; display=&quot;block&quot; data-is-equatio=&quot;1&quot; data-latex=&quot;\begin{array}{l}\frac{13}{15}\end{array}&quot;&gt;&lt;mtable columnalign=&quot;left&quot; columnspacing=&quot;1em&quot; rowspacing=&quot;4pt&quot;&gt;&lt;mtr&gt;&lt;mtd&gt;&lt;mfrac&gt;&lt;mn&gt;13&lt;/mn&gt;&lt;mn&gt;15&lt;/mn&gt;&lt;/mfrac&gt;&lt;/mtd&gt;&lt;/mtr&gt;&lt;/mtable&gt;&lt;/math&gt;" id="1294" name="Google Shape;1294;p92" title="1 lines Line 1: 13 over 15"/>
          <p:cNvPicPr preferRelativeResize="0"/>
          <p:nvPr/>
        </p:nvPicPr>
        <p:blipFill>
          <a:blip r:embed="rId6">
            <a:alphaModFix/>
          </a:blip>
          <a:stretch>
            <a:fillRect/>
          </a:stretch>
        </p:blipFill>
        <p:spPr>
          <a:xfrm>
            <a:off x="2265963" y="2265003"/>
            <a:ext cx="328070" cy="534875"/>
          </a:xfrm>
          <a:prstGeom prst="rect">
            <a:avLst/>
          </a:prstGeom>
          <a:noFill/>
          <a:ln>
            <a:noFill/>
          </a:ln>
        </p:spPr>
      </p:pic>
      <p:pic>
        <p:nvPicPr>
          <p:cNvPr descr="&lt;math xmlns=&quot;http://www.w3.org/1998/Math/MathML&quot; display=&quot;block&quot; data-is-equatio=&quot;1&quot; data-latex=&quot;\frac{211}{35}&quot;&gt;&lt;mfrac&gt;&lt;mn&gt;211&lt;/mn&gt;&lt;mn&gt;35&lt;/mn&gt;&lt;/mfrac&gt;&lt;/math&gt;" id="1295" name="Google Shape;1295;p92" title="211 over 35"/>
          <p:cNvPicPr preferRelativeResize="0"/>
          <p:nvPr/>
        </p:nvPicPr>
        <p:blipFill>
          <a:blip r:embed="rId7">
            <a:alphaModFix/>
          </a:blip>
          <a:stretch>
            <a:fillRect/>
          </a:stretch>
        </p:blipFill>
        <p:spPr>
          <a:xfrm>
            <a:off x="3549525" y="2997300"/>
            <a:ext cx="423990" cy="540000"/>
          </a:xfrm>
          <a:prstGeom prst="rect">
            <a:avLst/>
          </a:prstGeom>
          <a:noFill/>
          <a:ln>
            <a:noFill/>
          </a:ln>
        </p:spPr>
      </p:pic>
      <p:pic>
        <p:nvPicPr>
          <p:cNvPr descr="&lt;math xmlns=&quot;http://www.w3.org/1998/Math/MathML&quot; display=&quot;block&quot; data-is-equatio=&quot;1&quot; data-latex=&quot;\frac{1134}{115}&quot;&gt;&lt;mfrac&gt;&lt;mn&gt;1134&lt;/mn&gt;&lt;mn&gt;115&lt;/mn&gt;&lt;/mfrac&gt;&lt;/math&gt;" id="1296" name="Google Shape;1296;p92" title="1134 over 115"/>
          <p:cNvPicPr preferRelativeResize="0"/>
          <p:nvPr/>
        </p:nvPicPr>
        <p:blipFill>
          <a:blip r:embed="rId8">
            <a:alphaModFix/>
          </a:blip>
          <a:stretch>
            <a:fillRect/>
          </a:stretch>
        </p:blipFill>
        <p:spPr>
          <a:xfrm>
            <a:off x="2655690" y="3823838"/>
            <a:ext cx="513425" cy="498753"/>
          </a:xfrm>
          <a:prstGeom prst="rect">
            <a:avLst/>
          </a:prstGeom>
          <a:noFill/>
          <a:ln>
            <a:noFill/>
          </a:ln>
        </p:spPr>
      </p:pic>
      <p:sp>
        <p:nvSpPr>
          <p:cNvPr id="1297" name="Google Shape;1297;p92"/>
          <p:cNvSpPr txBox="1"/>
          <p:nvPr>
            <p:ph idx="1" type="body"/>
          </p:nvPr>
        </p:nvSpPr>
        <p:spPr>
          <a:xfrm>
            <a:off x="857400" y="1216500"/>
            <a:ext cx="82377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for</a:t>
            </a:r>
            <a:endParaRPr sz="1800"/>
          </a:p>
        </p:txBody>
      </p:sp>
      <p:sp>
        <p:nvSpPr>
          <p:cNvPr id="1298" name="Google Shape;1298;p92"/>
          <p:cNvSpPr txBox="1"/>
          <p:nvPr>
            <p:ph idx="1" type="body"/>
          </p:nvPr>
        </p:nvSpPr>
        <p:spPr>
          <a:xfrm>
            <a:off x="400200" y="1673700"/>
            <a:ext cx="8237700" cy="46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mixed numbers. Write the answer from your calculator display.</a:t>
            </a:r>
            <a:endParaRPr sz="1800"/>
          </a:p>
        </p:txBody>
      </p:sp>
      <p:sp>
        <p:nvSpPr>
          <p:cNvPr id="1299" name="Google Shape;1299;p92"/>
          <p:cNvSpPr txBox="1"/>
          <p:nvPr>
            <p:ph idx="1" type="body"/>
          </p:nvPr>
        </p:nvSpPr>
        <p:spPr>
          <a:xfrm>
            <a:off x="1238400" y="1216500"/>
            <a:ext cx="82377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proper</a:t>
            </a:r>
            <a:endParaRPr sz="1800"/>
          </a:p>
        </p:txBody>
      </p:sp>
      <p:sp>
        <p:nvSpPr>
          <p:cNvPr id="1300" name="Google Shape;1300;p92"/>
          <p:cNvSpPr txBox="1"/>
          <p:nvPr>
            <p:ph idx="1" type="body"/>
          </p:nvPr>
        </p:nvSpPr>
        <p:spPr>
          <a:xfrm>
            <a:off x="2042425" y="1216500"/>
            <a:ext cx="1399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or</a:t>
            </a:r>
            <a:endParaRPr sz="1800"/>
          </a:p>
        </p:txBody>
      </p:sp>
      <p:sp>
        <p:nvSpPr>
          <p:cNvPr id="1301" name="Google Shape;1301;p92"/>
          <p:cNvSpPr txBox="1"/>
          <p:nvPr>
            <p:ph idx="1" type="body"/>
          </p:nvPr>
        </p:nvSpPr>
        <p:spPr>
          <a:xfrm>
            <a:off x="3414025" y="1216500"/>
            <a:ext cx="82719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fractions</a:t>
            </a:r>
            <a:endParaRPr sz="1800"/>
          </a:p>
        </p:txBody>
      </p:sp>
      <p:sp>
        <p:nvSpPr>
          <p:cNvPr id="1302" name="Google Shape;1302;p92"/>
          <p:cNvSpPr txBox="1"/>
          <p:nvPr>
            <p:ph idx="1" type="body"/>
          </p:nvPr>
        </p:nvSpPr>
        <p:spPr>
          <a:xfrm>
            <a:off x="4480825" y="1216500"/>
            <a:ext cx="82719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and</a:t>
            </a:r>
            <a:endParaRPr sz="1800"/>
          </a:p>
        </p:txBody>
      </p:sp>
      <p:sp>
        <p:nvSpPr>
          <p:cNvPr id="1303" name="Google Shape;1303;p92"/>
          <p:cNvSpPr txBox="1"/>
          <p:nvPr>
            <p:ph idx="1" type="body"/>
          </p:nvPr>
        </p:nvSpPr>
        <p:spPr>
          <a:xfrm>
            <a:off x="5737050" y="1237800"/>
            <a:ext cx="71682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then</a:t>
            </a:r>
            <a:endParaRPr sz="1800"/>
          </a:p>
        </p:txBody>
      </p:sp>
      <p:sp>
        <p:nvSpPr>
          <p:cNvPr id="1304" name="Google Shape;1304;p92"/>
          <p:cNvSpPr txBox="1"/>
          <p:nvPr>
            <p:ph idx="1" type="body"/>
          </p:nvPr>
        </p:nvSpPr>
        <p:spPr>
          <a:xfrm>
            <a:off x="6956250" y="1216500"/>
            <a:ext cx="1501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for inputting</a:t>
            </a:r>
            <a:endParaRPr sz="1800"/>
          </a:p>
        </p:txBody>
      </p:sp>
      <p:sp>
        <p:nvSpPr>
          <p:cNvPr id="1305" name="Google Shape;1305;p92"/>
          <p:cNvSpPr txBox="1"/>
          <p:nvPr>
            <p:ph idx="1" type="body"/>
          </p:nvPr>
        </p:nvSpPr>
        <p:spPr>
          <a:xfrm>
            <a:off x="2347225" y="1216500"/>
            <a:ext cx="1399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improper</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93"/>
          <p:cNvSpPr txBox="1"/>
          <p:nvPr>
            <p:ph idx="1" type="body"/>
          </p:nvPr>
        </p:nvSpPr>
        <p:spPr>
          <a:xfrm>
            <a:off x="324000" y="835500"/>
            <a:ext cx="8237700" cy="39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Casio fx 991 classwiz allows you to change the format of a number.</a:t>
            </a:r>
            <a:endParaRPr/>
          </a:p>
        </p:txBody>
      </p:sp>
      <p:pic>
        <p:nvPicPr>
          <p:cNvPr id="1311" name="Google Shape;1311;p93"/>
          <p:cNvPicPr preferRelativeResize="0"/>
          <p:nvPr/>
        </p:nvPicPr>
        <p:blipFill>
          <a:blip r:embed="rId3">
            <a:alphaModFix/>
          </a:blip>
          <a:stretch>
            <a:fillRect/>
          </a:stretch>
        </p:blipFill>
        <p:spPr>
          <a:xfrm>
            <a:off x="2325450" y="1521300"/>
            <a:ext cx="1865647" cy="3230400"/>
          </a:xfrm>
          <a:prstGeom prst="rect">
            <a:avLst/>
          </a:prstGeom>
          <a:noFill/>
          <a:ln>
            <a:noFill/>
          </a:ln>
        </p:spPr>
      </p:pic>
      <p:sp>
        <p:nvSpPr>
          <p:cNvPr id="1312" name="Google Shape;1312;p93"/>
          <p:cNvSpPr txBox="1"/>
          <p:nvPr/>
        </p:nvSpPr>
        <p:spPr>
          <a:xfrm>
            <a:off x="4504900" y="1526000"/>
            <a:ext cx="2686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Press</a:t>
            </a:r>
            <a:endParaRPr sz="2200">
              <a:solidFill>
                <a:schemeClr val="dk1"/>
              </a:solidFill>
              <a:latin typeface="Lexend"/>
              <a:ea typeface="Lexend"/>
              <a:cs typeface="Lexend"/>
              <a:sym typeface="Lexend"/>
            </a:endParaRPr>
          </a:p>
        </p:txBody>
      </p:sp>
      <p:sp>
        <p:nvSpPr>
          <p:cNvPr id="1313" name="Google Shape;1313;p93"/>
          <p:cNvSpPr txBox="1"/>
          <p:nvPr/>
        </p:nvSpPr>
        <p:spPr>
          <a:xfrm>
            <a:off x="4441850" y="2725725"/>
            <a:ext cx="4376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To convert to a mixed fraction</a:t>
            </a:r>
            <a:endParaRPr/>
          </a:p>
        </p:txBody>
      </p:sp>
      <p:pic>
        <p:nvPicPr>
          <p:cNvPr id="1314" name="Google Shape;1314;p93"/>
          <p:cNvPicPr preferRelativeResize="0"/>
          <p:nvPr/>
        </p:nvPicPr>
        <p:blipFill>
          <a:blip r:embed="rId4">
            <a:alphaModFix/>
          </a:blip>
          <a:stretch>
            <a:fillRect/>
          </a:stretch>
        </p:blipFill>
        <p:spPr>
          <a:xfrm>
            <a:off x="4863963" y="2012838"/>
            <a:ext cx="571500" cy="552450"/>
          </a:xfrm>
          <a:prstGeom prst="rect">
            <a:avLst/>
          </a:prstGeom>
          <a:noFill/>
          <a:ln>
            <a:noFill/>
          </a:ln>
        </p:spPr>
      </p:pic>
      <p:pic>
        <p:nvPicPr>
          <p:cNvPr id="1315" name="Google Shape;1315;p93"/>
          <p:cNvPicPr preferRelativeResize="0"/>
          <p:nvPr/>
        </p:nvPicPr>
        <p:blipFill>
          <a:blip r:embed="rId5">
            <a:alphaModFix/>
          </a:blip>
          <a:stretch>
            <a:fillRect/>
          </a:stretch>
        </p:blipFill>
        <p:spPr>
          <a:xfrm>
            <a:off x="5776300" y="2003313"/>
            <a:ext cx="581025" cy="571500"/>
          </a:xfrm>
          <a:prstGeom prst="rect">
            <a:avLst/>
          </a:prstGeom>
          <a:noFill/>
          <a:ln>
            <a:noFill/>
          </a:ln>
        </p:spPr>
      </p:pic>
      <p:pic>
        <p:nvPicPr>
          <p:cNvPr id="1316" name="Google Shape;1316;p93"/>
          <p:cNvPicPr preferRelativeResize="0"/>
          <p:nvPr/>
        </p:nvPicPr>
        <p:blipFill>
          <a:blip r:embed="rId6">
            <a:alphaModFix/>
          </a:blip>
          <a:stretch>
            <a:fillRect/>
          </a:stretch>
        </p:blipFill>
        <p:spPr>
          <a:xfrm>
            <a:off x="4527126" y="3294477"/>
            <a:ext cx="571500" cy="599025"/>
          </a:xfrm>
          <a:prstGeom prst="rect">
            <a:avLst/>
          </a:prstGeom>
          <a:noFill/>
          <a:ln>
            <a:noFill/>
          </a:ln>
        </p:spPr>
      </p:pic>
      <p:pic>
        <p:nvPicPr>
          <p:cNvPr id="1317" name="Google Shape;1317;p93"/>
          <p:cNvPicPr preferRelativeResize="0"/>
          <p:nvPr/>
        </p:nvPicPr>
        <p:blipFill>
          <a:blip r:embed="rId7">
            <a:alphaModFix/>
          </a:blip>
          <a:stretch>
            <a:fillRect/>
          </a:stretch>
        </p:blipFill>
        <p:spPr>
          <a:xfrm>
            <a:off x="5228100" y="3350850"/>
            <a:ext cx="571500" cy="582930"/>
          </a:xfrm>
          <a:prstGeom prst="rect">
            <a:avLst/>
          </a:prstGeom>
          <a:noFill/>
          <a:ln>
            <a:noFill/>
          </a:ln>
        </p:spPr>
      </p:pic>
      <p:pic>
        <p:nvPicPr>
          <p:cNvPr id="1318" name="Google Shape;1318;p93"/>
          <p:cNvPicPr preferRelativeResize="0"/>
          <p:nvPr/>
        </p:nvPicPr>
        <p:blipFill>
          <a:blip r:embed="rId5">
            <a:alphaModFix/>
          </a:blip>
          <a:stretch>
            <a:fillRect/>
          </a:stretch>
        </p:blipFill>
        <p:spPr>
          <a:xfrm>
            <a:off x="5929075" y="3308225"/>
            <a:ext cx="581025" cy="571500"/>
          </a:xfrm>
          <a:prstGeom prst="rect">
            <a:avLst/>
          </a:prstGeom>
          <a:noFill/>
          <a:ln>
            <a:noFill/>
          </a:ln>
        </p:spPr>
      </p:pic>
      <p:pic>
        <p:nvPicPr>
          <p:cNvPr id="1319" name="Google Shape;1319;p93"/>
          <p:cNvPicPr preferRelativeResize="0"/>
          <p:nvPr/>
        </p:nvPicPr>
        <p:blipFill>
          <a:blip r:embed="rId8">
            <a:alphaModFix/>
          </a:blip>
          <a:stretch>
            <a:fillRect/>
          </a:stretch>
        </p:blipFill>
        <p:spPr>
          <a:xfrm>
            <a:off x="2422582" y="1675650"/>
            <a:ext cx="1671375" cy="787200"/>
          </a:xfrm>
          <a:prstGeom prst="rect">
            <a:avLst/>
          </a:prstGeom>
          <a:noFill/>
          <a:ln>
            <a:noFill/>
          </a:ln>
        </p:spPr>
      </p:pic>
      <p:pic>
        <p:nvPicPr>
          <p:cNvPr id="1320" name="Google Shape;1320;p93"/>
          <p:cNvPicPr preferRelativeResize="0"/>
          <p:nvPr/>
        </p:nvPicPr>
        <p:blipFill>
          <a:blip r:embed="rId9">
            <a:alphaModFix/>
          </a:blip>
          <a:stretch>
            <a:fillRect/>
          </a:stretch>
        </p:blipFill>
        <p:spPr>
          <a:xfrm>
            <a:off x="2422587" y="1691650"/>
            <a:ext cx="1671375" cy="755189"/>
          </a:xfrm>
          <a:prstGeom prst="rect">
            <a:avLst/>
          </a:prstGeom>
          <a:noFill/>
          <a:ln>
            <a:noFill/>
          </a:ln>
        </p:spPr>
      </p:pic>
      <p:pic>
        <p:nvPicPr>
          <p:cNvPr id="1321" name="Google Shape;1321;p93"/>
          <p:cNvPicPr preferRelativeResize="0"/>
          <p:nvPr/>
        </p:nvPicPr>
        <p:blipFill>
          <a:blip r:embed="rId10">
            <a:alphaModFix/>
          </a:blip>
          <a:stretch>
            <a:fillRect/>
          </a:stretch>
        </p:blipFill>
        <p:spPr>
          <a:xfrm>
            <a:off x="2392358" y="1675645"/>
            <a:ext cx="1731840" cy="787200"/>
          </a:xfrm>
          <a:prstGeom prst="rect">
            <a:avLst/>
          </a:prstGeom>
          <a:noFill/>
          <a:ln>
            <a:noFill/>
          </a:ln>
        </p:spPr>
      </p:pic>
      <p:sp>
        <p:nvSpPr>
          <p:cNvPr id="1322" name="Google Shape;1322;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grpSp>
        <p:nvGrpSpPr>
          <p:cNvPr id="1323" name="Google Shape;1323;p93"/>
          <p:cNvGrpSpPr/>
          <p:nvPr/>
        </p:nvGrpSpPr>
        <p:grpSpPr>
          <a:xfrm>
            <a:off x="4504900" y="1983200"/>
            <a:ext cx="3600600" cy="523200"/>
            <a:chOff x="4504900" y="1983200"/>
            <a:chExt cx="3600600" cy="523200"/>
          </a:xfrm>
        </p:grpSpPr>
        <p:sp>
          <p:nvSpPr>
            <p:cNvPr id="1324" name="Google Shape;1324;p93"/>
            <p:cNvSpPr txBox="1"/>
            <p:nvPr/>
          </p:nvSpPr>
          <p:spPr>
            <a:xfrm>
              <a:off x="4504900" y="1983200"/>
              <a:ext cx="2686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8 </a:t>
              </a:r>
              <a:endParaRPr sz="2200">
                <a:solidFill>
                  <a:schemeClr val="dk1"/>
                </a:solidFill>
                <a:latin typeface="Lexend"/>
                <a:ea typeface="Lexend"/>
                <a:cs typeface="Lexend"/>
                <a:sym typeface="Lexend"/>
              </a:endParaRPr>
            </a:p>
          </p:txBody>
        </p:sp>
        <p:sp>
          <p:nvSpPr>
            <p:cNvPr id="1325" name="Google Shape;1325;p93"/>
            <p:cNvSpPr txBox="1"/>
            <p:nvPr/>
          </p:nvSpPr>
          <p:spPr>
            <a:xfrm>
              <a:off x="5419300" y="1983200"/>
              <a:ext cx="26862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200">
                  <a:solidFill>
                    <a:schemeClr val="dk1"/>
                  </a:solidFill>
                  <a:latin typeface="Lexend"/>
                  <a:ea typeface="Lexend"/>
                  <a:cs typeface="Lexend"/>
                  <a:sym typeface="Lexend"/>
                </a:rPr>
                <a:t>5    </a:t>
              </a:r>
              <a:endParaRPr sz="22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sp>
        <p:nvSpPr>
          <p:cNvPr id="1331" name="Google Shape;1331;p94"/>
          <p:cNvSpPr txBox="1"/>
          <p:nvPr/>
        </p:nvSpPr>
        <p:spPr>
          <a:xfrm>
            <a:off x="386925" y="22735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sp>
        <p:nvSpPr>
          <p:cNvPr id="1332" name="Google Shape;1332;p94"/>
          <p:cNvSpPr txBox="1"/>
          <p:nvPr/>
        </p:nvSpPr>
        <p:spPr>
          <a:xfrm>
            <a:off x="386925" y="29974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e)</a:t>
            </a:r>
            <a:endParaRPr sz="2200">
              <a:solidFill>
                <a:schemeClr val="dk1"/>
              </a:solidFill>
              <a:latin typeface="Lexend"/>
              <a:ea typeface="Lexend"/>
              <a:cs typeface="Lexend"/>
              <a:sym typeface="Lexend"/>
            </a:endParaRPr>
          </a:p>
        </p:txBody>
      </p:sp>
      <p:sp>
        <p:nvSpPr>
          <p:cNvPr id="1333" name="Google Shape;1333;p94"/>
          <p:cNvSpPr txBox="1"/>
          <p:nvPr/>
        </p:nvSpPr>
        <p:spPr>
          <a:xfrm>
            <a:off x="386925" y="3721375"/>
            <a:ext cx="770100" cy="33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f)</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sqrt{1\frac{11}{25}}\div\frac{2}{5}=&quot;&gt;&lt;msqrt&gt;&lt;mn&gt;1&lt;/mn&gt;&lt;mfrac&gt;&lt;mn&gt;11&lt;/mn&gt;&lt;mn&gt;25&lt;/mn&gt;&lt;/mfrac&gt;&lt;/msqrt&gt;&lt;mo&gt;÷&lt;/mo&gt;&lt;mfrac&gt;&lt;mn&gt;2&lt;/mn&gt;&lt;mn&gt;5&lt;/mn&gt;&lt;/mfrac&gt;&lt;mo&gt;=&lt;/mo&gt;&lt;/math&gt;" id="1334" name="Google Shape;1334;p94" title="the square root of 1 and 11 over 25 divided by two fifths equals"/>
          <p:cNvPicPr preferRelativeResize="0"/>
          <p:nvPr/>
        </p:nvPicPr>
        <p:blipFill>
          <a:blip r:embed="rId3">
            <a:alphaModFix/>
          </a:blip>
          <a:stretch>
            <a:fillRect/>
          </a:stretch>
        </p:blipFill>
        <p:spPr>
          <a:xfrm>
            <a:off x="936925" y="3779998"/>
            <a:ext cx="1229450" cy="540000"/>
          </a:xfrm>
          <a:prstGeom prst="rect">
            <a:avLst/>
          </a:prstGeom>
          <a:noFill/>
          <a:ln>
            <a:noFill/>
          </a:ln>
        </p:spPr>
      </p:pic>
      <p:pic>
        <p:nvPicPr>
          <p:cNvPr descr="&lt;math xmlns=&quot;http://www.w3.org/1998/Math/MathML&quot; display=&quot;block&quot; data-is-equatio=&quot;1&quot; data-latex=&quot;\begin{array}{l}\frac{3}{5}\times\frac{13}{9}=\\&amp;#13;&amp;#10;2\frac{1}{2}+\ 4\frac{3}{7}\ -\ \frac{9}{10}=\\&amp;#13;&amp;#10;12\ \frac{3}{5}\times\frac{18}{23}=\\&amp;#13;&amp;#10;15\frac{7}{10}\ \div12\frac{1}{2}=\\&amp;#13;&amp;#10;2\ \times\left(2\frac{1}{3}+\frac{9}{5}\right)=\end{array}&quot;&gt;&lt;mtable columnalign=&quot;left&quot; columnspacing=&quot;1em&quot; rowspacing=&quot;4pt&quot;&gt;&lt;mtr&gt;&lt;mtd&gt;&lt;mfrac&gt;&lt;mn&gt;3&lt;/mn&gt;&lt;mn&gt;5&lt;/mn&gt;&lt;/mfrac&gt;&lt;mo&gt;×&lt;/mo&gt;&lt;mfrac&gt;&lt;mn&gt;13&lt;/mn&gt;&lt;mn&gt;9&lt;/mn&gt;&lt;/mfrac&gt;&lt;mo&gt;=&lt;/mo&gt;&lt;/mtd&gt;&lt;/mtr&gt;&lt;mtr&gt;&lt;mtd&gt;&lt;mn&gt;2&lt;/mn&gt;&lt;mfrac&gt;&lt;mn&gt;1&lt;/mn&gt;&lt;mn&gt;2&lt;/mn&gt;&lt;/mfrac&gt;&lt;mo&gt;+&lt;/mo&gt;&lt;mtext&gt;&lt;/mtext&gt;&lt;mn&gt;4&lt;/mn&gt;&lt;mfrac&gt;&lt;mn&gt;3&lt;/mn&gt;&lt;mn&gt;7&lt;/mn&gt;&lt;/mfrac&gt;&lt;mtext&gt;&lt;/mtext&gt;&lt;mo&gt;−&lt;/mo&gt;&lt;mtext&gt;&lt;/mtext&gt;&lt;mfrac&gt;&lt;mn&gt;9&lt;/mn&gt;&lt;mn&gt;10&lt;/mn&gt;&lt;/mfrac&gt;&lt;mo&gt;=&lt;/mo&gt;&lt;/mtd&gt;&lt;/mtr&gt;&lt;mtr&gt;&lt;mtd&gt;&lt;mn&gt;12&lt;/mn&gt;&lt;mtext&gt;&lt;/mtext&gt;&lt;mfrac&gt;&lt;mn&gt;3&lt;/mn&gt;&lt;mn&gt;5&lt;/mn&gt;&lt;/mfrac&gt;&lt;mo&gt;×&lt;/mo&gt;&lt;mfrac&gt;&lt;mn&gt;18&lt;/mn&gt;&lt;mn&gt;23&lt;/mn&gt;&lt;/mfrac&gt;&lt;mo&gt;=&lt;/mo&gt;&lt;/mtd&gt;&lt;/mtr&gt;&lt;mtr&gt;&lt;mtd&gt;&lt;mn&gt;15&lt;/mn&gt;&lt;mfrac&gt;&lt;mn&gt;7&lt;/mn&gt;&lt;mn&gt;10&lt;/mn&gt;&lt;/mfrac&gt;&lt;mtext&gt;&lt;/mtext&gt;&lt;mo&gt;÷&lt;/mo&gt;&lt;mn&gt;12&lt;/mn&gt;&lt;mfrac&gt;&lt;mn&gt;1&lt;/mn&gt;&lt;mn&gt;2&lt;/mn&gt;&lt;/mfrac&gt;&lt;mo&gt;=&lt;/mo&gt;&lt;/mtd&gt;&lt;/mtr&gt;&lt;mtr&gt;&lt;mtd&gt;&lt;mn&gt;2&lt;/mn&gt;&lt;mtext&gt;&lt;/mtext&gt;&lt;mo&gt;×&lt;/mo&gt;&lt;mrow data-mjx-texclass=&quot;INNER&quot;&gt;&lt;mo data-mjx-texclass=&quot;OPEN&quot;&gt;(&lt;/mo&gt;&lt;mn&gt;2&lt;/mn&gt;&lt;mfrac&gt;&lt;mn&gt;1&lt;/mn&gt;&lt;mn&gt;3&lt;/mn&gt;&lt;/mfrac&gt;&lt;mo&gt;+&lt;/mo&gt;&lt;mfrac&gt;&lt;mn&gt;9&lt;/mn&gt;&lt;mn&gt;5&lt;/mn&gt;&lt;/mfrac&gt;&lt;mo data-mjx-texclass=&quot;CLOSE&quot;&gt;)&lt;/mo&gt;&lt;/mrow&gt;&lt;mo&gt;=&lt;/mo&gt;&lt;/mtd&gt;&lt;/mtr&gt;&lt;/mtable&gt;&lt;/math&gt;" id="1335" name="Google Shape;1335;p94" title="5 lines Line 1: three fifths times thirteen ninths equals Line 2: 2 and one half plus 4 and three sevenths minus nine tenths equals Line 3: 12 three fifths times 18 over 23 equals Line 4: 15 and seven tenths division sign 12 and one half equals Line 5: 2 times open paren 2 and one third plus nine fifths close paren equals"/>
          <p:cNvPicPr preferRelativeResize="0"/>
          <p:nvPr/>
        </p:nvPicPr>
        <p:blipFill rotWithShape="1">
          <a:blip r:embed="rId4">
            <a:alphaModFix/>
          </a:blip>
          <a:srcRect b="17731" l="-3740" r="3740" t="61157"/>
          <a:stretch/>
        </p:blipFill>
        <p:spPr>
          <a:xfrm>
            <a:off x="807425" y="2265000"/>
            <a:ext cx="2219750" cy="534880"/>
          </a:xfrm>
          <a:prstGeom prst="rect">
            <a:avLst/>
          </a:prstGeom>
          <a:noFill/>
          <a:ln>
            <a:noFill/>
          </a:ln>
        </p:spPr>
      </p:pic>
      <p:pic>
        <p:nvPicPr>
          <p:cNvPr descr="&lt;math xmlns=&quot;http://www.w3.org/1998/Math/MathML&quot; display=&quot;block&quot; data-is-equatio=&quot;1&quot; data-latex=&quot;\begin{array}{l}\frac{3}{5}\times\frac{13}{9}=\\&amp;#13;&amp;#10;2\frac{1}{2}+\ 4\frac{3}{7}\ -\ \frac{9}{10}=\\&amp;#13;&amp;#10;12\ \frac{3}{5}\times\frac{18}{23}=\\&amp;#13;&amp;#10;15\frac{7}{10}\ \div12\frac{1}{2}=\\&amp;#13;&amp;#10;2\ \times\left(2\frac{1}{3}+\frac{9}{5}\right)=\end{array}&quot;&gt;&lt;mtable columnalign=&quot;left&quot; columnspacing=&quot;1em&quot; rowspacing=&quot;4pt&quot;&gt;&lt;mtr&gt;&lt;mtd&gt;&lt;mfrac&gt;&lt;mn&gt;3&lt;/mn&gt;&lt;mn&gt;5&lt;/mn&gt;&lt;/mfrac&gt;&lt;mo&gt;×&lt;/mo&gt;&lt;mfrac&gt;&lt;mn&gt;13&lt;/mn&gt;&lt;mn&gt;9&lt;/mn&gt;&lt;/mfrac&gt;&lt;mo&gt;=&lt;/mo&gt;&lt;/mtd&gt;&lt;/mtr&gt;&lt;mtr&gt;&lt;mtd&gt;&lt;mn&gt;2&lt;/mn&gt;&lt;mfrac&gt;&lt;mn&gt;1&lt;/mn&gt;&lt;mn&gt;2&lt;/mn&gt;&lt;/mfrac&gt;&lt;mo&gt;+&lt;/mo&gt;&lt;mtext&gt;&lt;/mtext&gt;&lt;mn&gt;4&lt;/mn&gt;&lt;mfrac&gt;&lt;mn&gt;3&lt;/mn&gt;&lt;mn&gt;7&lt;/mn&gt;&lt;/mfrac&gt;&lt;mtext&gt;&lt;/mtext&gt;&lt;mo&gt;−&lt;/mo&gt;&lt;mtext&gt;&lt;/mtext&gt;&lt;mfrac&gt;&lt;mn&gt;9&lt;/mn&gt;&lt;mn&gt;10&lt;/mn&gt;&lt;/mfrac&gt;&lt;mo&gt;=&lt;/mo&gt;&lt;/mtd&gt;&lt;/mtr&gt;&lt;mtr&gt;&lt;mtd&gt;&lt;mn&gt;12&lt;/mn&gt;&lt;mtext&gt;&lt;/mtext&gt;&lt;mfrac&gt;&lt;mn&gt;3&lt;/mn&gt;&lt;mn&gt;5&lt;/mn&gt;&lt;/mfrac&gt;&lt;mo&gt;×&lt;/mo&gt;&lt;mfrac&gt;&lt;mn&gt;18&lt;/mn&gt;&lt;mn&gt;23&lt;/mn&gt;&lt;/mfrac&gt;&lt;mo&gt;=&lt;/mo&gt;&lt;/mtd&gt;&lt;/mtr&gt;&lt;mtr&gt;&lt;mtd&gt;&lt;mn&gt;15&lt;/mn&gt;&lt;mfrac&gt;&lt;mn&gt;7&lt;/mn&gt;&lt;mn&gt;10&lt;/mn&gt;&lt;/mfrac&gt;&lt;mtext&gt;&lt;/mtext&gt;&lt;mo&gt;÷&lt;/mo&gt;&lt;mn&gt;12&lt;/mn&gt;&lt;mfrac&gt;&lt;mn&gt;1&lt;/mn&gt;&lt;mn&gt;2&lt;/mn&gt;&lt;/mfrac&gt;&lt;mo&gt;=&lt;/mo&gt;&lt;/mtd&gt;&lt;/mtr&gt;&lt;mtr&gt;&lt;mtd&gt;&lt;mn&gt;2&lt;/mn&gt;&lt;mtext&gt;&lt;/mtext&gt;&lt;mo&gt;×&lt;/mo&gt;&lt;mrow data-mjx-texclass=&quot;INNER&quot;&gt;&lt;mo data-mjx-texclass=&quot;OPEN&quot;&gt;(&lt;/mo&gt;&lt;mn&gt;2&lt;/mn&gt;&lt;mfrac&gt;&lt;mn&gt;1&lt;/mn&gt;&lt;mn&gt;3&lt;/mn&gt;&lt;/mfrac&gt;&lt;mo&gt;+&lt;/mo&gt;&lt;mfrac&gt;&lt;mn&gt;9&lt;/mn&gt;&lt;mn&gt;5&lt;/mn&gt;&lt;/mfrac&gt;&lt;mo data-mjx-texclass=&quot;CLOSE&quot;&gt;)&lt;/mo&gt;&lt;/mrow&gt;&lt;mo&gt;=&lt;/mo&gt;&lt;/mtd&gt;&lt;/mtr&gt;&lt;/mtable&gt;&lt;/math&gt;" id="1336" name="Google Shape;1336;p94" title="5 lines Line 1: three fifths times thirteen ninths equals Line 2: 2 and one half plus 4 and three sevenths minus nine tenths equals Line 3: 12 three fifths times 18 over 23 equals Line 4: 15 and seven tenths division sign 12 and one half equals Line 5: 2 times open paren 2 and one third plus nine fifths close paren equals"/>
          <p:cNvPicPr preferRelativeResize="0"/>
          <p:nvPr/>
        </p:nvPicPr>
        <p:blipFill rotWithShape="1">
          <a:blip r:embed="rId4">
            <a:alphaModFix/>
          </a:blip>
          <a:srcRect b="-2885" l="-4370" r="4369" t="81775"/>
          <a:stretch/>
        </p:blipFill>
        <p:spPr>
          <a:xfrm>
            <a:off x="834075" y="3026725"/>
            <a:ext cx="2219750" cy="534876"/>
          </a:xfrm>
          <a:prstGeom prst="rect">
            <a:avLst/>
          </a:prstGeom>
          <a:noFill/>
          <a:ln>
            <a:noFill/>
          </a:ln>
        </p:spPr>
      </p:pic>
      <p:pic>
        <p:nvPicPr>
          <p:cNvPr descr="&lt;math xmlns=&quot;http://www.w3.org/1998/Math/MathML&quot; display=&quot;block&quot; data-is-equatio=&quot;1&quot; data-latex=&quot;\frac{157}{125}&quot;&gt;&lt;mfrac&gt;&lt;mn&gt;157&lt;/mn&gt;&lt;mn&gt;125&lt;/mn&gt;&lt;/mfrac&gt;&lt;/math&gt;" id="1337" name="Google Shape;1337;p94" title="157 over 125"/>
          <p:cNvPicPr preferRelativeResize="0"/>
          <p:nvPr/>
        </p:nvPicPr>
        <p:blipFill>
          <a:blip r:embed="rId5">
            <a:alphaModFix/>
          </a:blip>
          <a:stretch>
            <a:fillRect/>
          </a:stretch>
        </p:blipFill>
        <p:spPr>
          <a:xfrm>
            <a:off x="2797425" y="2273225"/>
            <a:ext cx="390001" cy="498750"/>
          </a:xfrm>
          <a:prstGeom prst="rect">
            <a:avLst/>
          </a:prstGeom>
          <a:noFill/>
          <a:ln>
            <a:noFill/>
          </a:ln>
        </p:spPr>
      </p:pic>
      <p:pic>
        <p:nvPicPr>
          <p:cNvPr descr="&lt;math xmlns=&quot;http://www.w3.org/1998/Math/MathML&quot; display=&quot;block&quot; data-is-equatio=&quot;1&quot; data-latex=&quot;\frac{124}{15}&quot;&gt;&lt;mfrac&gt;&lt;mn&gt;124&lt;/mn&gt;&lt;mn&gt;15&lt;/mn&gt;&lt;/mfrac&gt;&lt;/math&gt;" id="1338" name="Google Shape;1338;p94" title="124 over 15"/>
          <p:cNvPicPr preferRelativeResize="0"/>
          <p:nvPr/>
        </p:nvPicPr>
        <p:blipFill>
          <a:blip r:embed="rId6">
            <a:alphaModFix/>
          </a:blip>
          <a:stretch>
            <a:fillRect/>
          </a:stretch>
        </p:blipFill>
        <p:spPr>
          <a:xfrm>
            <a:off x="3169925" y="2997838"/>
            <a:ext cx="424000" cy="538922"/>
          </a:xfrm>
          <a:prstGeom prst="rect">
            <a:avLst/>
          </a:prstGeom>
          <a:noFill/>
          <a:ln>
            <a:noFill/>
          </a:ln>
        </p:spPr>
      </p:pic>
      <p:pic>
        <p:nvPicPr>
          <p:cNvPr descr="&lt;math xmlns=&quot;http://www.w3.org/1998/Math/MathML&quot; display=&quot;block&quot; data-is-equatio=&quot;1&quot; data-latex=&quot;3&quot;&gt;&lt;mn&gt;3&lt;/mn&gt;&lt;/math&gt;" id="1339" name="Google Shape;1339;p94" title="3"/>
          <p:cNvPicPr preferRelativeResize="0"/>
          <p:nvPr/>
        </p:nvPicPr>
        <p:blipFill>
          <a:blip r:embed="rId7">
            <a:alphaModFix/>
          </a:blip>
          <a:stretch>
            <a:fillRect/>
          </a:stretch>
        </p:blipFill>
        <p:spPr>
          <a:xfrm>
            <a:off x="2280050" y="3917188"/>
            <a:ext cx="157939" cy="265625"/>
          </a:xfrm>
          <a:prstGeom prst="rect">
            <a:avLst/>
          </a:prstGeom>
          <a:noFill/>
          <a:ln>
            <a:noFill/>
          </a:ln>
        </p:spPr>
      </p:pic>
      <p:pic>
        <p:nvPicPr>
          <p:cNvPr descr="&lt;math xmlns=&quot;http://www.w3.org/1998/Math/MathML&quot; display=&quot;block&quot; data-is-equatio=&quot;1&quot; data-latex=&quot;=1\frac{32}{125}\ \ \ =8\frac{4}{15}\ \ \ \ &quot;&gt;&lt;mo&gt;=&lt;/mo&gt;&lt;mn&gt;1&lt;/mn&gt;&lt;mfrac&gt;&lt;mn&gt;32&lt;/mn&gt;&lt;mn&gt;125&lt;/mn&gt;&lt;/mfrac&gt;&lt;mtext&gt;&lt;/mtext&gt;&lt;mtext&gt;&lt;/mtext&gt;&lt;mtext&gt;&lt;/mtext&gt;&lt;mo&gt;=&lt;/mo&gt;&lt;mn&gt;8&lt;/mn&gt;&lt;mfrac&gt;&lt;mn&gt;4&lt;/mn&gt;&lt;mn&gt;15&lt;/mn&gt;&lt;/mfrac&gt;&lt;mtext&gt;&lt;/mtext&gt;&lt;mtext&gt;&lt;/mtext&gt;&lt;mtext&gt;&lt;/mtext&gt;&lt;mtext&gt;&lt;/mtext&gt;&lt;/math&gt;" id="1340" name="Google Shape;1340;p94" title="equals 1 and 32 over 125 equals 8 and 4 over 15"/>
          <p:cNvPicPr preferRelativeResize="0"/>
          <p:nvPr/>
        </p:nvPicPr>
        <p:blipFill rotWithShape="1">
          <a:blip r:embed="rId8">
            <a:alphaModFix/>
          </a:blip>
          <a:srcRect b="0" l="0" r="51559" t="0"/>
          <a:stretch/>
        </p:blipFill>
        <p:spPr>
          <a:xfrm>
            <a:off x="3233574" y="2215850"/>
            <a:ext cx="1000800" cy="613500"/>
          </a:xfrm>
          <a:prstGeom prst="rect">
            <a:avLst/>
          </a:prstGeom>
          <a:noFill/>
          <a:ln>
            <a:noFill/>
          </a:ln>
        </p:spPr>
      </p:pic>
      <p:pic>
        <p:nvPicPr>
          <p:cNvPr descr="&lt;math xmlns=&quot;http://www.w3.org/1998/Math/MathML&quot; display=&quot;block&quot; data-is-equatio=&quot;1&quot; data-latex=&quot;=1\frac{32}{125}\ \ \ =8\frac{4}{15}\ \ \ \ &quot;&gt;&lt;mo&gt;=&lt;/mo&gt;&lt;mn&gt;1&lt;/mn&gt;&lt;mfrac&gt;&lt;mn&gt;32&lt;/mn&gt;&lt;mn&gt;125&lt;/mn&gt;&lt;/mfrac&gt;&lt;mtext&gt;&lt;/mtext&gt;&lt;mtext&gt;&lt;/mtext&gt;&lt;mtext&gt;&lt;/mtext&gt;&lt;mo&gt;=&lt;/mo&gt;&lt;mn&gt;8&lt;/mn&gt;&lt;mfrac&gt;&lt;mn&gt;4&lt;/mn&gt;&lt;mn&gt;15&lt;/mn&gt;&lt;/mfrac&gt;&lt;mtext&gt;&lt;/mtext&gt;&lt;mtext&gt;&lt;/mtext&gt;&lt;mtext&gt;&lt;/mtext&gt;&lt;mtext&gt;&lt;/mtext&gt;&lt;/math&gt;" id="1341" name="Google Shape;1341;p94" title="equals 1 and 32 over 125 equals 8 and 4 over 15"/>
          <p:cNvPicPr preferRelativeResize="0"/>
          <p:nvPr/>
        </p:nvPicPr>
        <p:blipFill rotWithShape="1">
          <a:blip r:embed="rId8">
            <a:alphaModFix/>
          </a:blip>
          <a:srcRect b="0" l="58997" r="-7435" t="0"/>
          <a:stretch/>
        </p:blipFill>
        <p:spPr>
          <a:xfrm>
            <a:off x="3650501" y="2960550"/>
            <a:ext cx="1000800" cy="613500"/>
          </a:xfrm>
          <a:prstGeom prst="rect">
            <a:avLst/>
          </a:prstGeom>
          <a:noFill/>
          <a:ln>
            <a:noFill/>
          </a:ln>
        </p:spPr>
      </p:pic>
      <p:sp>
        <p:nvSpPr>
          <p:cNvPr id="1342" name="Google Shape;1342;p94"/>
          <p:cNvSpPr txBox="1"/>
          <p:nvPr>
            <p:ph idx="1" type="body"/>
          </p:nvPr>
        </p:nvSpPr>
        <p:spPr>
          <a:xfrm>
            <a:off x="324000" y="759300"/>
            <a:ext cx="8237700" cy="33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your calculator, work out the following. Make sure to use</a:t>
            </a:r>
            <a:endParaRPr sz="1800"/>
          </a:p>
        </p:txBody>
      </p:sp>
      <p:sp>
        <p:nvSpPr>
          <p:cNvPr id="1343" name="Google Shape;1343;p94"/>
          <p:cNvSpPr txBox="1"/>
          <p:nvPr>
            <p:ph idx="1" type="body"/>
          </p:nvPr>
        </p:nvSpPr>
        <p:spPr>
          <a:xfrm>
            <a:off x="400200" y="1673700"/>
            <a:ext cx="8237700" cy="462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mixed numbers. Write the answer from your calculator display.</a:t>
            </a:r>
            <a:endParaRPr sz="1800"/>
          </a:p>
        </p:txBody>
      </p:sp>
      <p:grpSp>
        <p:nvGrpSpPr>
          <p:cNvPr id="1344" name="Google Shape;1344;p94"/>
          <p:cNvGrpSpPr/>
          <p:nvPr/>
        </p:nvGrpSpPr>
        <p:grpSpPr>
          <a:xfrm>
            <a:off x="4913828" y="925816"/>
            <a:ext cx="1075200" cy="703694"/>
            <a:chOff x="480487" y="2582100"/>
            <a:chExt cx="1075200" cy="703694"/>
          </a:xfrm>
        </p:grpSpPr>
        <p:pic>
          <p:nvPicPr>
            <p:cNvPr id="1345" name="Google Shape;1345;p94"/>
            <p:cNvPicPr preferRelativeResize="0"/>
            <p:nvPr/>
          </p:nvPicPr>
          <p:blipFill rotWithShape="1">
            <a:blip r:embed="rId9">
              <a:alphaModFix/>
            </a:blip>
            <a:srcRect b="0" l="0" r="0" t="21996"/>
            <a:stretch/>
          </p:blipFill>
          <p:spPr>
            <a:xfrm>
              <a:off x="671625" y="2893669"/>
              <a:ext cx="432710" cy="392125"/>
            </a:xfrm>
            <a:prstGeom prst="rect">
              <a:avLst/>
            </a:prstGeom>
            <a:noFill/>
            <a:ln>
              <a:noFill/>
            </a:ln>
          </p:spPr>
        </p:pic>
        <p:sp>
          <p:nvSpPr>
            <p:cNvPr id="1346" name="Google Shape;1346;p94"/>
            <p:cNvSpPr txBox="1"/>
            <p:nvPr/>
          </p:nvSpPr>
          <p:spPr>
            <a:xfrm>
              <a:off x="480487" y="2582100"/>
              <a:ext cx="10752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SHIFT</a:t>
              </a:r>
              <a:endParaRPr sz="1800">
                <a:solidFill>
                  <a:schemeClr val="dk1"/>
                </a:solidFill>
                <a:latin typeface="Lexend"/>
                <a:ea typeface="Lexend"/>
                <a:cs typeface="Lexend"/>
                <a:sym typeface="Lexend"/>
              </a:endParaRPr>
            </a:p>
          </p:txBody>
        </p:sp>
      </p:grpSp>
      <p:pic>
        <p:nvPicPr>
          <p:cNvPr id="1347" name="Google Shape;1347;p94"/>
          <p:cNvPicPr preferRelativeResize="0"/>
          <p:nvPr/>
        </p:nvPicPr>
        <p:blipFill>
          <a:blip r:embed="rId10">
            <a:alphaModFix/>
          </a:blip>
          <a:stretch>
            <a:fillRect/>
          </a:stretch>
        </p:blipFill>
        <p:spPr>
          <a:xfrm>
            <a:off x="310718" y="1112856"/>
            <a:ext cx="513440" cy="540000"/>
          </a:xfrm>
          <a:prstGeom prst="rect">
            <a:avLst/>
          </a:prstGeom>
          <a:noFill/>
          <a:ln>
            <a:noFill/>
          </a:ln>
        </p:spPr>
      </p:pic>
      <p:pic>
        <p:nvPicPr>
          <p:cNvPr id="1348" name="Google Shape;1348;p94"/>
          <p:cNvPicPr preferRelativeResize="0"/>
          <p:nvPr/>
        </p:nvPicPr>
        <p:blipFill>
          <a:blip r:embed="rId10">
            <a:alphaModFix/>
          </a:blip>
          <a:stretch>
            <a:fillRect/>
          </a:stretch>
        </p:blipFill>
        <p:spPr>
          <a:xfrm>
            <a:off x="6325293" y="1112856"/>
            <a:ext cx="513440" cy="540000"/>
          </a:xfrm>
          <a:prstGeom prst="rect">
            <a:avLst/>
          </a:prstGeom>
          <a:noFill/>
          <a:ln>
            <a:noFill/>
          </a:ln>
        </p:spPr>
      </p:pic>
      <p:sp>
        <p:nvSpPr>
          <p:cNvPr id="1349" name="Google Shape;1349;p94"/>
          <p:cNvSpPr txBox="1"/>
          <p:nvPr>
            <p:ph idx="1" type="body"/>
          </p:nvPr>
        </p:nvSpPr>
        <p:spPr>
          <a:xfrm>
            <a:off x="857400" y="1216500"/>
            <a:ext cx="82377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for</a:t>
            </a:r>
            <a:endParaRPr sz="1800"/>
          </a:p>
        </p:txBody>
      </p:sp>
      <p:sp>
        <p:nvSpPr>
          <p:cNvPr id="1350" name="Google Shape;1350;p94"/>
          <p:cNvSpPr txBox="1"/>
          <p:nvPr>
            <p:ph idx="1" type="body"/>
          </p:nvPr>
        </p:nvSpPr>
        <p:spPr>
          <a:xfrm>
            <a:off x="1238400" y="1216500"/>
            <a:ext cx="82377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proper</a:t>
            </a:r>
            <a:endParaRPr sz="1800"/>
          </a:p>
        </p:txBody>
      </p:sp>
      <p:sp>
        <p:nvSpPr>
          <p:cNvPr id="1351" name="Google Shape;1351;p94"/>
          <p:cNvSpPr txBox="1"/>
          <p:nvPr>
            <p:ph idx="1" type="body"/>
          </p:nvPr>
        </p:nvSpPr>
        <p:spPr>
          <a:xfrm>
            <a:off x="2042425" y="1216500"/>
            <a:ext cx="1399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or</a:t>
            </a:r>
            <a:endParaRPr sz="1800"/>
          </a:p>
        </p:txBody>
      </p:sp>
      <p:sp>
        <p:nvSpPr>
          <p:cNvPr id="1352" name="Google Shape;1352;p94"/>
          <p:cNvSpPr txBox="1"/>
          <p:nvPr>
            <p:ph idx="1" type="body"/>
          </p:nvPr>
        </p:nvSpPr>
        <p:spPr>
          <a:xfrm>
            <a:off x="3414025" y="1216500"/>
            <a:ext cx="82719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fractions</a:t>
            </a:r>
            <a:endParaRPr sz="1800"/>
          </a:p>
        </p:txBody>
      </p:sp>
      <p:sp>
        <p:nvSpPr>
          <p:cNvPr id="1353" name="Google Shape;1353;p94"/>
          <p:cNvSpPr txBox="1"/>
          <p:nvPr>
            <p:ph idx="1" type="body"/>
          </p:nvPr>
        </p:nvSpPr>
        <p:spPr>
          <a:xfrm>
            <a:off x="4480825" y="1216500"/>
            <a:ext cx="82719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and</a:t>
            </a:r>
            <a:endParaRPr sz="1800"/>
          </a:p>
        </p:txBody>
      </p:sp>
      <p:sp>
        <p:nvSpPr>
          <p:cNvPr id="1354" name="Google Shape;1354;p94"/>
          <p:cNvSpPr txBox="1"/>
          <p:nvPr>
            <p:ph idx="1" type="body"/>
          </p:nvPr>
        </p:nvSpPr>
        <p:spPr>
          <a:xfrm>
            <a:off x="5737050" y="1237800"/>
            <a:ext cx="71682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then</a:t>
            </a:r>
            <a:endParaRPr sz="1800"/>
          </a:p>
        </p:txBody>
      </p:sp>
      <p:sp>
        <p:nvSpPr>
          <p:cNvPr id="1355" name="Google Shape;1355;p94"/>
          <p:cNvSpPr txBox="1"/>
          <p:nvPr>
            <p:ph idx="1" type="body"/>
          </p:nvPr>
        </p:nvSpPr>
        <p:spPr>
          <a:xfrm>
            <a:off x="6956250" y="1216500"/>
            <a:ext cx="1501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for inputting</a:t>
            </a:r>
            <a:endParaRPr sz="1800"/>
          </a:p>
        </p:txBody>
      </p:sp>
      <p:sp>
        <p:nvSpPr>
          <p:cNvPr id="1356" name="Google Shape;1356;p94"/>
          <p:cNvSpPr txBox="1"/>
          <p:nvPr>
            <p:ph idx="1" type="body"/>
          </p:nvPr>
        </p:nvSpPr>
        <p:spPr>
          <a:xfrm>
            <a:off x="2347225" y="1216500"/>
            <a:ext cx="1399500" cy="40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improper</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calculator</a:t>
            </a:r>
            <a:endParaRPr/>
          </a:p>
        </p:txBody>
      </p:sp>
      <p:sp>
        <p:nvSpPr>
          <p:cNvPr id="1362" name="Google Shape;1362;p95"/>
          <p:cNvSpPr txBox="1"/>
          <p:nvPr>
            <p:ph idx="1" type="body"/>
          </p:nvPr>
        </p:nvSpPr>
        <p:spPr>
          <a:xfrm>
            <a:off x="324000" y="606900"/>
            <a:ext cx="8679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Use your calculator and give your answer as a decimal.</a:t>
            </a:r>
            <a:endParaRPr sz="1800"/>
          </a:p>
        </p:txBody>
      </p:sp>
      <p:sp>
        <p:nvSpPr>
          <p:cNvPr id="1363" name="Google Shape;1363;p95"/>
          <p:cNvSpPr/>
          <p:nvPr/>
        </p:nvSpPr>
        <p:spPr>
          <a:xfrm>
            <a:off x="370525" y="975300"/>
            <a:ext cx="1758900" cy="13026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4" name="Google Shape;1364;p95"/>
          <p:cNvSpPr/>
          <p:nvPr/>
        </p:nvSpPr>
        <p:spPr>
          <a:xfrm>
            <a:off x="845829" y="1392543"/>
            <a:ext cx="817800" cy="4491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5" name="Google Shape;1365;p95"/>
          <p:cNvSpPr txBox="1"/>
          <p:nvPr/>
        </p:nvSpPr>
        <p:spPr>
          <a:xfrm>
            <a:off x="789130" y="922820"/>
            <a:ext cx="12360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Lexend"/>
                <a:ea typeface="Lexend"/>
                <a:cs typeface="Lexend"/>
                <a:sym typeface="Lexend"/>
              </a:rPr>
              <a:t>Grass</a:t>
            </a:r>
            <a:endParaRPr sz="1800">
              <a:solidFill>
                <a:schemeClr val="lt1"/>
              </a:solidFill>
              <a:latin typeface="Lexend"/>
              <a:ea typeface="Lexend"/>
              <a:cs typeface="Lexend"/>
              <a:sym typeface="Lexend"/>
            </a:endParaRPr>
          </a:p>
        </p:txBody>
      </p:sp>
      <p:sp>
        <p:nvSpPr>
          <p:cNvPr id="1366" name="Google Shape;1366;p95"/>
          <p:cNvSpPr txBox="1"/>
          <p:nvPr/>
        </p:nvSpPr>
        <p:spPr>
          <a:xfrm>
            <a:off x="845830" y="1392545"/>
            <a:ext cx="12360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Pond</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4\frac{2}{3}\ \ \ 5\frac{4}{5}\ \ \ \ \ \ 2\frac{1}{2}\ \ \ \ 3\frac{1}{4}\\&amp;#13;&amp;#10;\left(4\frac{2}{3}\times5\frac{4}{5}\right)\ -\ \left(2\frac{1}{2}\times3\frac{1}{4}\right)\ =\frac{763}{40}=19.075\\&amp;#13;&amp;#10;19.075\ \div3\ =\ 6.358...\end{array}&quot;&gt;&lt;mtable columnalign=&quot;left&quot; columnspacing=&quot;1em&quot; rowspacing=&quot;4pt&quot;&gt;&lt;mtr&gt;&lt;mtd&gt;&lt;mn&gt;4&lt;/mn&gt;&lt;mfrac&gt;&lt;mn&gt;2&lt;/mn&gt;&lt;mn&gt;3&lt;/mn&gt;&lt;/mfrac&gt;&lt;mtext&gt;&lt;/mtext&gt;&lt;mtext&gt;&lt;/mtext&gt;&lt;mtext&gt;&lt;/mtext&gt;&lt;mn&gt;5&lt;/mn&gt;&lt;mfrac&gt;&lt;mn&gt;4&lt;/mn&gt;&lt;mn&gt;5&lt;/mn&gt;&lt;/mfrac&gt;&lt;mtext&gt;&lt;/mtext&gt;&lt;mtext&gt;&lt;/mtext&gt;&lt;mtext&gt;&lt;/mtext&gt;&lt;mtext&gt;&lt;/mtext&gt;&lt;mtext&gt;&lt;/mtext&gt;&lt;mtext&gt;&lt;/mtext&gt;&lt;mn&gt;2&lt;/mn&gt;&lt;mfrac&gt;&lt;mn&gt;1&lt;/mn&gt;&lt;mn&gt;2&lt;/mn&gt;&lt;/mfrac&gt;&lt;mtext&gt;&lt;/mtext&gt;&lt;mtext&gt;&lt;/mtext&gt;&lt;mtext&gt;&lt;/mtext&gt;&lt;mtext&gt;&lt;/mtext&gt;&lt;mn&gt;3&lt;/mn&gt;&lt;mfrac&gt;&lt;mn&gt;1&lt;/mn&gt;&lt;mn&gt;4&lt;/mn&gt;&lt;/mfrac&gt;&lt;/mtd&gt;&lt;/mtr&gt;&lt;mtr&gt;&lt;mtd&gt;&lt;mrow data-mjx-texclass=&quot;INNER&quot;&gt;&lt;mo data-mjx-texclass=&quot;OPEN&quot;&gt;(&lt;/mo&gt;&lt;mn&gt;4&lt;/mn&gt;&lt;mfrac&gt;&lt;mn&gt;2&lt;/mn&gt;&lt;mn&gt;3&lt;/mn&gt;&lt;/mfrac&gt;&lt;mo&gt;×&lt;/mo&gt;&lt;mn&gt;5&lt;/mn&gt;&lt;mfrac&gt;&lt;mn&gt;4&lt;/mn&gt;&lt;mn&gt;5&lt;/mn&gt;&lt;/mfrac&gt;&lt;mo data-mjx-texclass=&quot;CLOSE&quot;&gt;)&lt;/mo&gt;&lt;/mrow&gt;&lt;mtext&gt;&lt;/mtext&gt;&lt;mo&gt;−&lt;/mo&gt;&lt;mtext&gt;&lt;/mtext&gt;&lt;mrow data-mjx-texclass=&quot;INNER&quot;&gt;&lt;mo data-mjx-texclass=&quot;OPEN&quot;&gt;(&lt;/mo&gt;&lt;mn&gt;2&lt;/mn&gt;&lt;mfrac&gt;&lt;mn&gt;1&lt;/mn&gt;&lt;mn&gt;2&lt;/mn&gt;&lt;/mfrac&gt;&lt;mo&gt;×&lt;/mo&gt;&lt;mn&gt;3&lt;/mn&gt;&lt;mfrac&gt;&lt;mn&gt;1&lt;/mn&gt;&lt;mn&gt;4&lt;/mn&gt;&lt;/mfrac&gt;&lt;mo data-mjx-texclass=&quot;CLOSE&quot;&gt;)&lt;/mo&gt;&lt;/mrow&gt;&lt;mtext&gt;&lt;/mtext&gt;&lt;mo&gt;=&lt;/mo&gt;&lt;mfrac&gt;&lt;mn&gt;763&lt;/mn&gt;&lt;mn&gt;40&lt;/mn&gt;&lt;/mfrac&gt;&lt;mo&gt;=&lt;/mo&gt;&lt;mn&gt;19.075&lt;/mn&gt;&lt;/mtd&gt;&lt;/mtr&gt;&lt;mtr&gt;&lt;mtd&gt;&lt;mn&gt;19.075&lt;/mn&gt;&lt;mtext&gt;&lt;/mtext&gt;&lt;mo&gt;÷&lt;/mo&gt;&lt;mn&gt;3&lt;/mn&gt;&lt;mtext&gt;&lt;/mtext&gt;&lt;mo&gt;=&lt;/mo&gt;&lt;mtext&gt;&lt;/mtext&gt;&lt;mn&gt;6.358&lt;/mn&gt;&lt;mo&gt;.&lt;/mo&gt;&lt;mo&gt;.&lt;/mo&gt;&lt;mo&gt;.&lt;/mo&gt;&lt;/mtd&gt;&lt;/mtr&gt;&lt;/mtable&gt;&lt;/math&gt;" id="1367" name="Google Shape;1367;p95" title="3 lines Line 1: 4 and two thirds 5 and four fifths 2 and one half 3 and one fourth Line 2: open paren 4 and two thirds times 5 and four fifths close paren minus open paren 2 and one half times 3 and one fourth close paren equals 763 over 40 equals 19.075 Line 3: 19.075 division sign 3 equals 6.358 period period period"/>
          <p:cNvPicPr preferRelativeResize="0"/>
          <p:nvPr/>
        </p:nvPicPr>
        <p:blipFill rotWithShape="1">
          <a:blip r:embed="rId3">
            <a:alphaModFix/>
          </a:blip>
          <a:srcRect b="23234" l="0" r="36252" t="37259"/>
          <a:stretch/>
        </p:blipFill>
        <p:spPr>
          <a:xfrm>
            <a:off x="1476725" y="3282975"/>
            <a:ext cx="3895257" cy="588450"/>
          </a:xfrm>
          <a:prstGeom prst="rect">
            <a:avLst/>
          </a:prstGeom>
          <a:noFill/>
          <a:ln>
            <a:noFill/>
          </a:ln>
        </p:spPr>
      </p:pic>
      <p:sp>
        <p:nvSpPr>
          <p:cNvPr id="1368" name="Google Shape;1368;p95"/>
          <p:cNvSpPr/>
          <p:nvPr/>
        </p:nvSpPr>
        <p:spPr>
          <a:xfrm rot="-5400000">
            <a:off x="2043437" y="3064740"/>
            <a:ext cx="304200" cy="1598700"/>
          </a:xfrm>
          <a:prstGeom prst="leftBrace">
            <a:avLst>
              <a:gd fmla="val 0" name="adj1"/>
              <a:gd fmla="val 49155" name="adj2"/>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9" name="Google Shape;1369;p95"/>
          <p:cNvSpPr/>
          <p:nvPr/>
        </p:nvSpPr>
        <p:spPr>
          <a:xfrm rot="-5400000">
            <a:off x="4358100" y="3064740"/>
            <a:ext cx="304200" cy="1598700"/>
          </a:xfrm>
          <a:prstGeom prst="leftBrace">
            <a:avLst>
              <a:gd fmla="val 0" name="adj1"/>
              <a:gd fmla="val 49155" name="adj2"/>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0" name="Google Shape;1370;p95"/>
          <p:cNvSpPr txBox="1"/>
          <p:nvPr/>
        </p:nvSpPr>
        <p:spPr>
          <a:xfrm>
            <a:off x="4141925" y="3935100"/>
            <a:ext cx="858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Pond</a:t>
            </a:r>
            <a:endParaRPr/>
          </a:p>
        </p:txBody>
      </p:sp>
      <p:sp>
        <p:nvSpPr>
          <p:cNvPr id="1371" name="Google Shape;1371;p95"/>
          <p:cNvSpPr txBox="1"/>
          <p:nvPr/>
        </p:nvSpPr>
        <p:spPr>
          <a:xfrm>
            <a:off x="5949325" y="3935100"/>
            <a:ext cx="2652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Area of grass</a:t>
            </a:r>
            <a:endParaRPr/>
          </a:p>
        </p:txBody>
      </p:sp>
      <p:sp>
        <p:nvSpPr>
          <p:cNvPr id="1372" name="Google Shape;1372;p95"/>
          <p:cNvSpPr/>
          <p:nvPr/>
        </p:nvSpPr>
        <p:spPr>
          <a:xfrm rot="-5400000">
            <a:off x="6942000" y="2309650"/>
            <a:ext cx="304200" cy="3108900"/>
          </a:xfrm>
          <a:prstGeom prst="leftBrace">
            <a:avLst>
              <a:gd fmla="val 0" name="adj1"/>
              <a:gd fmla="val 49155" name="adj2"/>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3" name="Google Shape;1373;p95"/>
          <p:cNvSpPr txBox="1"/>
          <p:nvPr/>
        </p:nvSpPr>
        <p:spPr>
          <a:xfrm>
            <a:off x="324000" y="4423925"/>
            <a:ext cx="82773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Kalam"/>
                <a:ea typeface="Kalam"/>
                <a:cs typeface="Kalam"/>
                <a:sym typeface="Kalam"/>
              </a:rPr>
              <a:t>To reseed the garden, seven boxes are needed. Total cost is 7 × £6.45 = £45.15</a:t>
            </a:r>
            <a:endParaRPr>
              <a:latin typeface="Kalam"/>
              <a:ea typeface="Kalam"/>
              <a:cs typeface="Kalam"/>
              <a:sym typeface="Kalam"/>
            </a:endParaRPr>
          </a:p>
        </p:txBody>
      </p:sp>
      <p:sp>
        <p:nvSpPr>
          <p:cNvPr id="1374" name="Google Shape;1374;p95"/>
          <p:cNvSpPr txBox="1"/>
          <p:nvPr/>
        </p:nvSpPr>
        <p:spPr>
          <a:xfrm>
            <a:off x="1572000" y="4016200"/>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Whole garden</a:t>
            </a:r>
            <a:endParaRPr/>
          </a:p>
        </p:txBody>
      </p:sp>
      <p:pic>
        <p:nvPicPr>
          <p:cNvPr descr="&lt;math xmlns=&quot;http://www.w3.org/1998/Math/MathML&quot; display=&quot;block&quot; data-is-equatio=&quot;1&quot; data-latex=&quot;\begin{array}{l}4\frac{2}{3}\ \ \ 5\frac{4}{5}\ \ \ \ \ \ 2\frac{1}{2}\ \ \ \ 3\frac{1}{4}\\&amp;#13;&amp;#10;\left(4\frac{2}{3}\times5\frac{4}{5}\right)\ -\ \left(2\frac{1}{2}\times3\frac{1}{4}\right)\ =\frac{2273}{120}=18\frac{113}{120}=18.941...\\&amp;#13;&amp;#10;19.075\ \div3\ =\ 6.358...\end{array}&quot;&gt;&lt;mtable columnalign=&quot;left&quot; columnspacing=&quot;1em&quot; rowspacing=&quot;4pt&quot;&gt;&lt;mtr&gt;&lt;mtd&gt;&lt;mn&gt;4&lt;/mn&gt;&lt;mfrac&gt;&lt;mn&gt;2&lt;/mn&gt;&lt;mn&gt;3&lt;/mn&gt;&lt;/mfrac&gt;&lt;mtext&gt;&lt;/mtext&gt;&lt;mtext&gt;&lt;/mtext&gt;&lt;mtext&gt;&lt;/mtext&gt;&lt;mn&gt;5&lt;/mn&gt;&lt;mfrac&gt;&lt;mn&gt;4&lt;/mn&gt;&lt;mn&gt;5&lt;/mn&gt;&lt;/mfrac&gt;&lt;mtext&gt;&lt;/mtext&gt;&lt;mtext&gt;&lt;/mtext&gt;&lt;mtext&gt;&lt;/mtext&gt;&lt;mtext&gt;&lt;/mtext&gt;&lt;mtext&gt;&lt;/mtext&gt;&lt;mtext&gt;&lt;/mtext&gt;&lt;mn&gt;2&lt;/mn&gt;&lt;mfrac&gt;&lt;mn&gt;1&lt;/mn&gt;&lt;mn&gt;2&lt;/mn&gt;&lt;/mfrac&gt;&lt;mtext&gt;&lt;/mtext&gt;&lt;mtext&gt;&lt;/mtext&gt;&lt;mtext&gt;&lt;/mtext&gt;&lt;mtext&gt;&lt;/mtext&gt;&lt;mn&gt;3&lt;/mn&gt;&lt;mfrac&gt;&lt;mn&gt;1&lt;/mn&gt;&lt;mn&gt;4&lt;/mn&gt;&lt;/mfrac&gt;&lt;/mtd&gt;&lt;/mtr&gt;&lt;mtr&gt;&lt;mtd&gt;&lt;mrow data-mjx-texclass=&quot;INNER&quot;&gt;&lt;mo data-mjx-texclass=&quot;OPEN&quot;&gt;(&lt;/mo&gt;&lt;mn&gt;4&lt;/mn&gt;&lt;mfrac&gt;&lt;mn&gt;2&lt;/mn&gt;&lt;mn&gt;3&lt;/mn&gt;&lt;/mfrac&gt;&lt;mo&gt;×&lt;/mo&gt;&lt;mn&gt;5&lt;/mn&gt;&lt;mfrac&gt;&lt;mn&gt;4&lt;/mn&gt;&lt;mn&gt;5&lt;/mn&gt;&lt;/mfrac&gt;&lt;mo data-mjx-texclass=&quot;CLOSE&quot;&gt;)&lt;/mo&gt;&lt;/mrow&gt;&lt;mtext&gt;&lt;/mtext&gt;&lt;mo&gt;−&lt;/mo&gt;&lt;mtext&gt;&lt;/mtext&gt;&lt;mrow data-mjx-texclass=&quot;INNER&quot;&gt;&lt;mo data-mjx-texclass=&quot;OPEN&quot;&gt;(&lt;/mo&gt;&lt;mn&gt;2&lt;/mn&gt;&lt;mfrac&gt;&lt;mn&gt;1&lt;/mn&gt;&lt;mn&gt;2&lt;/mn&gt;&lt;/mfrac&gt;&lt;mo&gt;×&lt;/mo&gt;&lt;mn&gt;3&lt;/mn&gt;&lt;mfrac&gt;&lt;mn&gt;1&lt;/mn&gt;&lt;mn&gt;4&lt;/mn&gt;&lt;/mfrac&gt;&lt;mo data-mjx-texclass=&quot;CLOSE&quot;&gt;)&lt;/mo&gt;&lt;/mrow&gt;&lt;mtext&gt;&lt;/mtext&gt;&lt;mo&gt;=&lt;/mo&gt;&lt;mfrac&gt;&lt;mn&gt;2273&lt;/mn&gt;&lt;mn&gt;120&lt;/mn&gt;&lt;/mfrac&gt;&lt;mo&gt;=&lt;/mo&gt;&lt;mn&gt;18&lt;/mn&gt;&lt;mfrac&gt;&lt;mn&gt;113&lt;/mn&gt;&lt;mn&gt;120&lt;/mn&gt;&lt;/mfrac&gt;&lt;mo&gt;=&lt;/mo&gt;&lt;mn&gt;18.941&lt;/mn&gt;&lt;mo&gt;.&lt;/mo&gt;&lt;mo&gt;.&lt;/mo&gt;&lt;mo&gt;.&lt;/mo&gt;&lt;/mtd&gt;&lt;/mtr&gt;&lt;mtr&gt;&lt;mtd&gt;&lt;mn&gt;19.075&lt;/mn&gt;&lt;mtext&gt;&lt;/mtext&gt;&lt;mo&gt;÷&lt;/mo&gt;&lt;mn&gt;3&lt;/mn&gt;&lt;mtext&gt;&lt;/mtext&gt;&lt;mo&gt;=&lt;/mo&gt;&lt;mtext&gt;&lt;/mtext&gt;&lt;mn&gt;6.358&lt;/mn&gt;&lt;mo&gt;.&lt;/mo&gt;&lt;mo&gt;.&lt;/mo&gt;&lt;mo&gt;.&lt;/mo&gt;&lt;/mtd&gt;&lt;/mtr&gt;&lt;/mtable&gt;&lt;/math&gt;" id="1375" name="Google Shape;1375;p95" title="3 lines Line 1: 4 and two thirds 5 and four fifths 2 and one half 3 and one fourth Line 2: open paren 4 and two thirds times 5 and four fifths close paren minus open paren 2 and one half times 3 and one fourth close paren equals 2273 over 120 equals 18 and 113 over 120 equals 18.941 period period period Line 3: 19.075 division sign 3 equals 6.358 period period period"/>
          <p:cNvPicPr preferRelativeResize="0"/>
          <p:nvPr/>
        </p:nvPicPr>
        <p:blipFill rotWithShape="1">
          <a:blip r:embed="rId4">
            <a:alphaModFix/>
          </a:blip>
          <a:srcRect b="26031" l="50692" r="35657" t="37688"/>
          <a:stretch/>
        </p:blipFill>
        <p:spPr>
          <a:xfrm>
            <a:off x="5293674" y="3331762"/>
            <a:ext cx="961474" cy="490877"/>
          </a:xfrm>
          <a:prstGeom prst="rect">
            <a:avLst/>
          </a:prstGeom>
          <a:noFill/>
          <a:ln>
            <a:noFill/>
          </a:ln>
        </p:spPr>
      </p:pic>
      <p:pic>
        <p:nvPicPr>
          <p:cNvPr descr="&lt;math xmlns=&quot;http://www.w3.org/1998/Math/MathML&quot; display=&quot;block&quot; data-is-equatio=&quot;1&quot; data-latex=&quot;\begin{array}{l}4\frac{2}{3}\ \ \ 5\frac{4}{5}\ \ \ \ \ \ 2\frac{1}{2}\ \ \ \ 3\frac{1}{4}\\&amp;#13;&amp;#10;\left(4\frac{2}{3}\times5\frac{4}{5}\right)\ -\ \left(2\frac{1}{2}\times3\frac{1}{4}\right)\ =\frac{2273}{120}=18\frac{113}{120}=18.941...\\&amp;#13;&amp;#10;19.075\ \div3\ =\ 6.358...\end{array}&quot;&gt;&lt;mtable columnalign=&quot;left&quot; columnspacing=&quot;1em&quot; rowspacing=&quot;4pt&quot;&gt;&lt;mtr&gt;&lt;mtd&gt;&lt;mn&gt;4&lt;/mn&gt;&lt;mfrac&gt;&lt;mn&gt;2&lt;/mn&gt;&lt;mn&gt;3&lt;/mn&gt;&lt;/mfrac&gt;&lt;mtext&gt;&lt;/mtext&gt;&lt;mtext&gt;&lt;/mtext&gt;&lt;mtext&gt;&lt;/mtext&gt;&lt;mn&gt;5&lt;/mn&gt;&lt;mfrac&gt;&lt;mn&gt;4&lt;/mn&gt;&lt;mn&gt;5&lt;/mn&gt;&lt;/mfrac&gt;&lt;mtext&gt;&lt;/mtext&gt;&lt;mtext&gt;&lt;/mtext&gt;&lt;mtext&gt;&lt;/mtext&gt;&lt;mtext&gt;&lt;/mtext&gt;&lt;mtext&gt;&lt;/mtext&gt;&lt;mtext&gt;&lt;/mtext&gt;&lt;mn&gt;2&lt;/mn&gt;&lt;mfrac&gt;&lt;mn&gt;1&lt;/mn&gt;&lt;mn&gt;2&lt;/mn&gt;&lt;/mfrac&gt;&lt;mtext&gt;&lt;/mtext&gt;&lt;mtext&gt;&lt;/mtext&gt;&lt;mtext&gt;&lt;/mtext&gt;&lt;mtext&gt;&lt;/mtext&gt;&lt;mn&gt;3&lt;/mn&gt;&lt;mfrac&gt;&lt;mn&gt;1&lt;/mn&gt;&lt;mn&gt;4&lt;/mn&gt;&lt;/mfrac&gt;&lt;/mtd&gt;&lt;/mtr&gt;&lt;mtr&gt;&lt;mtd&gt;&lt;mrow data-mjx-texclass=&quot;INNER&quot;&gt;&lt;mo data-mjx-texclass=&quot;OPEN&quot;&gt;(&lt;/mo&gt;&lt;mn&gt;4&lt;/mn&gt;&lt;mfrac&gt;&lt;mn&gt;2&lt;/mn&gt;&lt;mn&gt;3&lt;/mn&gt;&lt;/mfrac&gt;&lt;mo&gt;×&lt;/mo&gt;&lt;mn&gt;5&lt;/mn&gt;&lt;mfrac&gt;&lt;mn&gt;4&lt;/mn&gt;&lt;mn&gt;5&lt;/mn&gt;&lt;/mfrac&gt;&lt;mo data-mjx-texclass=&quot;CLOSE&quot;&gt;)&lt;/mo&gt;&lt;/mrow&gt;&lt;mtext&gt;&lt;/mtext&gt;&lt;mo&gt;−&lt;/mo&gt;&lt;mtext&gt;&lt;/mtext&gt;&lt;mrow data-mjx-texclass=&quot;INNER&quot;&gt;&lt;mo data-mjx-texclass=&quot;OPEN&quot;&gt;(&lt;/mo&gt;&lt;mn&gt;2&lt;/mn&gt;&lt;mfrac&gt;&lt;mn&gt;1&lt;/mn&gt;&lt;mn&gt;2&lt;/mn&gt;&lt;/mfrac&gt;&lt;mo&gt;×&lt;/mo&gt;&lt;mn&gt;3&lt;/mn&gt;&lt;mfrac&gt;&lt;mn&gt;1&lt;/mn&gt;&lt;mn&gt;4&lt;/mn&gt;&lt;/mfrac&gt;&lt;mo data-mjx-texclass=&quot;CLOSE&quot;&gt;)&lt;/mo&gt;&lt;/mrow&gt;&lt;mtext&gt;&lt;/mtext&gt;&lt;mo&gt;=&lt;/mo&gt;&lt;mfrac&gt;&lt;mn&gt;2273&lt;/mn&gt;&lt;mn&gt;120&lt;/mn&gt;&lt;/mfrac&gt;&lt;mo&gt;=&lt;/mo&gt;&lt;mn&gt;18&lt;/mn&gt;&lt;mfrac&gt;&lt;mn&gt;113&lt;/mn&gt;&lt;mn&gt;120&lt;/mn&gt;&lt;/mfrac&gt;&lt;mo&gt;=&lt;/mo&gt;&lt;mn&gt;18.941&lt;/mn&gt;&lt;mo&gt;.&lt;/mo&gt;&lt;mo&gt;.&lt;/mo&gt;&lt;mo&gt;.&lt;/mo&gt;&lt;/mtd&gt;&lt;/mtr&gt;&lt;mtr&gt;&lt;mtd&gt;&lt;mn&gt;19.075&lt;/mn&gt;&lt;mtext&gt;&lt;/mtext&gt;&lt;mo&gt;÷&lt;/mo&gt;&lt;mn&gt;3&lt;/mn&gt;&lt;mtext&gt;&lt;/mtext&gt;&lt;mo&gt;=&lt;/mo&gt;&lt;mtext&gt;&lt;/mtext&gt;&lt;mn&gt;6.358&lt;/mn&gt;&lt;mo&gt;.&lt;/mo&gt;&lt;mo&gt;.&lt;/mo&gt;&lt;mo&gt;.&lt;/mo&gt;&lt;/mtd&gt;&lt;/mtr&gt;&lt;/mtable&gt;&lt;/math&gt;" id="1376" name="Google Shape;1376;p95" title="3 lines Line 1: 4 and two thirds 5 and four fifths 2 and one half 3 and one fourth Line 2: open paren 4 and two thirds times 5 and four fifths close paren minus open paren 2 and one half times 3 and one fourth close paren equals 2273 over 120 equals 18 and 113 over 120 equals 18.941 period period period Line 3: 19.075 division sign 3 equals 6.358 period period period"/>
          <p:cNvPicPr preferRelativeResize="0"/>
          <p:nvPr/>
        </p:nvPicPr>
        <p:blipFill rotWithShape="1">
          <a:blip r:embed="rId4">
            <a:alphaModFix/>
          </a:blip>
          <a:srcRect b="26031" l="63781" r="0" t="37688"/>
          <a:stretch/>
        </p:blipFill>
        <p:spPr>
          <a:xfrm>
            <a:off x="6209225" y="3346350"/>
            <a:ext cx="2399303" cy="461700"/>
          </a:xfrm>
          <a:prstGeom prst="rect">
            <a:avLst/>
          </a:prstGeom>
          <a:noFill/>
          <a:ln>
            <a:noFill/>
          </a:ln>
        </p:spPr>
      </p:pic>
      <p:sp>
        <p:nvSpPr>
          <p:cNvPr id="1377" name="Google Shape;1377;p95"/>
          <p:cNvSpPr txBox="1"/>
          <p:nvPr/>
        </p:nvSpPr>
        <p:spPr>
          <a:xfrm>
            <a:off x="427300" y="3282975"/>
            <a:ext cx="7629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378" name="Google Shape;1378;p95"/>
          <p:cNvSpPr txBox="1"/>
          <p:nvPr/>
        </p:nvSpPr>
        <p:spPr>
          <a:xfrm>
            <a:off x="427300" y="3950839"/>
            <a:ext cx="7629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18\frac{113}{20}\div3=6\frac{113}{360}=6.313...\\&amp;#13;&amp;#10;19.075\ \div3\ =\ 6.358...\end{array}&quot;&gt;&lt;mtable columnalign=&quot;left&quot; columnspacing=&quot;1em&quot; rowspacing=&quot;4pt&quot;&gt;&lt;mtr&gt;&lt;mtd&gt;&lt;mn&gt;18&lt;/mn&gt;&lt;mfrac&gt;&lt;mn&gt;113&lt;/mn&gt;&lt;mn&gt;20&lt;/mn&gt;&lt;/mfrac&gt;&lt;mo&gt;÷&lt;/mo&gt;&lt;mn&gt;3&lt;/mn&gt;&lt;mo&gt;=&lt;/mo&gt;&lt;mn&gt;6&lt;/mn&gt;&lt;mfrac&gt;&lt;mn&gt;113&lt;/mn&gt;&lt;mn&gt;360&lt;/mn&gt;&lt;/mfrac&gt;&lt;mo&gt;=&lt;/mo&gt;&lt;mn&gt;6.313&lt;/mn&gt;&lt;mo&gt;.&lt;/mo&gt;&lt;mo&gt;.&lt;/mo&gt;&lt;mo&gt;.&lt;/mo&gt;&lt;/mtd&gt;&lt;/mtr&gt;&lt;mtr&gt;&lt;mtd&gt;&lt;mn&gt;19.075&lt;/mn&gt;&lt;mtext&gt;&lt;/mtext&gt;&lt;mo&gt;÷&lt;/mo&gt;&lt;mn&gt;3&lt;/mn&gt;&lt;mtext&gt;&lt;/mtext&gt;&lt;mo&gt;=&lt;/mo&gt;&lt;mtext&gt;&lt;/mtext&gt;&lt;mn&gt;6.358&lt;/mn&gt;&lt;mo&gt;.&lt;/mo&gt;&lt;mo&gt;.&lt;/mo&gt;&lt;mo&gt;.&lt;/mo&gt;&lt;/mtd&gt;&lt;/mtr&gt;&lt;/mtable&gt;&lt;/math&gt;" id="1379" name="Google Shape;1379;p95" title="2 lines Line 1: 18 and 113 over 20 divided by 3 equals 6 and 113 over 360 equals 6.313 period period period Line 2: 19.075 division sign 3 equals 6.358 period period period"/>
          <p:cNvPicPr preferRelativeResize="0"/>
          <p:nvPr/>
        </p:nvPicPr>
        <p:blipFill rotWithShape="1">
          <a:blip r:embed="rId5">
            <a:alphaModFix/>
          </a:blip>
          <a:srcRect b="43304" l="0" r="0" t="0"/>
          <a:stretch/>
        </p:blipFill>
        <p:spPr>
          <a:xfrm>
            <a:off x="1395161" y="3990002"/>
            <a:ext cx="3939525" cy="520648"/>
          </a:xfrm>
          <a:prstGeom prst="rect">
            <a:avLst/>
          </a:prstGeom>
          <a:noFill/>
          <a:ln>
            <a:noFill/>
          </a:ln>
        </p:spPr>
      </p:pic>
      <p:sp>
        <p:nvSpPr>
          <p:cNvPr id="1380" name="Google Shape;1380;p95"/>
          <p:cNvSpPr txBox="1"/>
          <p:nvPr/>
        </p:nvSpPr>
        <p:spPr>
          <a:xfrm>
            <a:off x="427575" y="2230350"/>
            <a:ext cx="8392500" cy="1098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Work out the area of the grass in the garden.</a:t>
            </a:r>
            <a:endParaRPr sz="1800">
              <a:solidFill>
                <a:schemeClr val="dk1"/>
              </a:solidFill>
              <a:latin typeface="Lexend"/>
              <a:ea typeface="Lexend"/>
              <a:cs typeface="Lexend"/>
              <a:sym typeface="Lexend"/>
            </a:endParaRPr>
          </a:p>
          <a:p>
            <a:pPr indent="-342900" lvl="0" marL="457200" rtl="0" algn="l">
              <a:lnSpc>
                <a:spcPct val="115000"/>
              </a:lnSpc>
              <a:spcBef>
                <a:spcPts val="0"/>
              </a:spcBef>
              <a:spcAft>
                <a:spcPts val="0"/>
              </a:spcAft>
              <a:buClr>
                <a:schemeClr val="dk1"/>
              </a:buClr>
              <a:buSzPts val="1800"/>
              <a:buFont typeface="Lexend"/>
              <a:buAutoNum type="alphaLcParenR"/>
            </a:pPr>
            <a:r>
              <a:rPr lang="en-GB" sz="1800">
                <a:solidFill>
                  <a:schemeClr val="dk1"/>
                </a:solidFill>
                <a:latin typeface="Lexend"/>
                <a:ea typeface="Lexend"/>
                <a:cs typeface="Lexend"/>
                <a:sym typeface="Lexend"/>
              </a:rPr>
              <a:t>If a bag of seeds cost £6.45 and is sold in boxes covering 3 m</a:t>
            </a:r>
            <a:r>
              <a:rPr baseline="30000" lang="en-GB" sz="1800">
                <a:solidFill>
                  <a:schemeClr val="dk1"/>
                </a:solidFill>
                <a:latin typeface="Lexend"/>
                <a:ea typeface="Lexend"/>
                <a:cs typeface="Lexend"/>
                <a:sym typeface="Lexend"/>
              </a:rPr>
              <a:t>2</a:t>
            </a:r>
            <a:r>
              <a:rPr lang="en-GB" sz="1800">
                <a:solidFill>
                  <a:schemeClr val="dk1"/>
                </a:solidFill>
                <a:latin typeface="Lexend"/>
                <a:ea typeface="Lexend"/>
                <a:cs typeface="Lexend"/>
                <a:sym typeface="Lexend"/>
              </a:rPr>
              <a:t>, how much would it cost to reseed the grass?</a:t>
            </a:r>
            <a:endParaRPr/>
          </a:p>
        </p:txBody>
      </p:sp>
      <p:pic>
        <p:nvPicPr>
          <p:cNvPr id="1381" name="Google Shape;1381;p95"/>
          <p:cNvPicPr preferRelativeResize="0"/>
          <p:nvPr/>
        </p:nvPicPr>
        <p:blipFill>
          <a:blip r:embed="rId6">
            <a:alphaModFix/>
          </a:blip>
          <a:stretch>
            <a:fillRect/>
          </a:stretch>
        </p:blipFill>
        <p:spPr>
          <a:xfrm>
            <a:off x="2430850" y="1008025"/>
            <a:ext cx="4269225" cy="1139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6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7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7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7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96"/>
          <p:cNvSpPr txBox="1"/>
          <p:nvPr>
            <p:ph idx="1" type="body"/>
          </p:nvPr>
        </p:nvSpPr>
        <p:spPr>
          <a:xfrm>
            <a:off x="3051900" y="759300"/>
            <a:ext cx="5509800" cy="30207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Aisha is </a:t>
            </a:r>
            <a:r>
              <a:rPr lang="en-GB" sz="1900"/>
              <a:t>restoring some old picture frames. </a:t>
            </a:r>
            <a:r>
              <a:rPr lang="en-GB" sz="1900"/>
              <a:t> She wants to cover the frame in gold leaf.</a:t>
            </a:r>
            <a:endParaRPr sz="1900"/>
          </a:p>
          <a:p>
            <a:pPr indent="-349250" lvl="0" marL="457200" rtl="0" algn="l">
              <a:spcBef>
                <a:spcPts val="0"/>
              </a:spcBef>
              <a:spcAft>
                <a:spcPts val="0"/>
              </a:spcAft>
              <a:buSzPts val="1900"/>
              <a:buAutoNum type="alphaLcParenR"/>
            </a:pPr>
            <a:r>
              <a:rPr lang="en-GB" sz="1900"/>
              <a:t>Work out the area of </a:t>
            </a:r>
            <a:r>
              <a:rPr lang="en-GB" sz="1900"/>
              <a:t>the frame.</a:t>
            </a:r>
            <a:endParaRPr sz="1900"/>
          </a:p>
          <a:p>
            <a:pPr indent="-349250" lvl="0" marL="457200" rtl="0" algn="l">
              <a:spcBef>
                <a:spcPts val="0"/>
              </a:spcBef>
              <a:spcAft>
                <a:spcPts val="0"/>
              </a:spcAft>
              <a:buSzPts val="1900"/>
              <a:buAutoNum type="alphaLcParenR"/>
            </a:pPr>
            <a:r>
              <a:rPr lang="en-GB" sz="1900"/>
              <a:t>Gold leaf costs £12.84 per m</a:t>
            </a:r>
            <a:r>
              <a:rPr baseline="30000" lang="en-GB" sz="1900"/>
              <a:t>2</a:t>
            </a:r>
            <a:r>
              <a:rPr lang="en-GB" sz="1900"/>
              <a:t>. How much will it cost Aisha to gold leaf the picture frame?</a:t>
            </a:r>
            <a:endParaRPr sz="1900"/>
          </a:p>
        </p:txBody>
      </p:sp>
      <p:sp>
        <p:nvSpPr>
          <p:cNvPr id="1387" name="Google Shape;1387;p9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a calculator</a:t>
            </a:r>
            <a:endParaRPr/>
          </a:p>
          <a:p>
            <a:pPr indent="0" lvl="0" marL="0" rtl="0" algn="l">
              <a:spcBef>
                <a:spcPts val="1000"/>
              </a:spcBef>
              <a:spcAft>
                <a:spcPts val="1000"/>
              </a:spcAft>
              <a:buNone/>
            </a:pPr>
            <a:r>
              <a:t/>
            </a:r>
            <a:endParaRPr/>
          </a:p>
        </p:txBody>
      </p:sp>
      <p:grpSp>
        <p:nvGrpSpPr>
          <p:cNvPr id="1388" name="Google Shape;1388;p96"/>
          <p:cNvGrpSpPr/>
          <p:nvPr/>
        </p:nvGrpSpPr>
        <p:grpSpPr>
          <a:xfrm>
            <a:off x="977053" y="1283236"/>
            <a:ext cx="1796713" cy="1288514"/>
            <a:chOff x="481750" y="1180175"/>
            <a:chExt cx="2132850" cy="1529575"/>
          </a:xfrm>
        </p:grpSpPr>
        <p:sp>
          <p:nvSpPr>
            <p:cNvPr id="1389" name="Google Shape;1389;p96"/>
            <p:cNvSpPr/>
            <p:nvPr/>
          </p:nvSpPr>
          <p:spPr>
            <a:xfrm>
              <a:off x="484900" y="1185300"/>
              <a:ext cx="2129700" cy="151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0" name="Google Shape;1390;p96"/>
            <p:cNvSpPr/>
            <p:nvPr/>
          </p:nvSpPr>
          <p:spPr>
            <a:xfrm>
              <a:off x="832150" y="1432200"/>
              <a:ext cx="1435200" cy="1020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91" name="Google Shape;1391;p96"/>
            <p:cNvCxnSpPr/>
            <p:nvPr/>
          </p:nvCxnSpPr>
          <p:spPr>
            <a:xfrm>
              <a:off x="496025" y="1188725"/>
              <a:ext cx="331800" cy="2418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96"/>
            <p:cNvCxnSpPr/>
            <p:nvPr/>
          </p:nvCxnSpPr>
          <p:spPr>
            <a:xfrm>
              <a:off x="2267350" y="2450850"/>
              <a:ext cx="331800" cy="2418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96"/>
            <p:cNvCxnSpPr/>
            <p:nvPr/>
          </p:nvCxnSpPr>
          <p:spPr>
            <a:xfrm flipH="1">
              <a:off x="481750" y="2450850"/>
              <a:ext cx="350400" cy="2589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96"/>
            <p:cNvCxnSpPr/>
            <p:nvPr/>
          </p:nvCxnSpPr>
          <p:spPr>
            <a:xfrm flipH="1">
              <a:off x="2258050" y="1180175"/>
              <a:ext cx="350400" cy="258900"/>
            </a:xfrm>
            <a:prstGeom prst="straightConnector1">
              <a:avLst/>
            </a:prstGeom>
            <a:noFill/>
            <a:ln cap="flat" cmpd="sng" w="9525">
              <a:solidFill>
                <a:schemeClr val="dk2"/>
              </a:solidFill>
              <a:prstDash val="solid"/>
              <a:round/>
              <a:headEnd len="med" w="med" type="none"/>
              <a:tailEnd len="med" w="med" type="none"/>
            </a:ln>
          </p:spPr>
        </p:cxnSp>
      </p:grpSp>
      <p:sp>
        <p:nvSpPr>
          <p:cNvPr id="1395" name="Google Shape;1395;p96"/>
          <p:cNvSpPr txBox="1"/>
          <p:nvPr/>
        </p:nvSpPr>
        <p:spPr>
          <a:xfrm>
            <a:off x="1940225" y="759300"/>
            <a:ext cx="1543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sp>
        <p:nvSpPr>
          <p:cNvPr id="1396" name="Google Shape;1396;p96"/>
          <p:cNvSpPr txBox="1"/>
          <p:nvPr/>
        </p:nvSpPr>
        <p:spPr>
          <a:xfrm>
            <a:off x="491155" y="1698500"/>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cxnSp>
        <p:nvCxnSpPr>
          <p:cNvPr id="1397" name="Google Shape;1397;p96"/>
          <p:cNvCxnSpPr/>
          <p:nvPr/>
        </p:nvCxnSpPr>
        <p:spPr>
          <a:xfrm>
            <a:off x="960450" y="1182900"/>
            <a:ext cx="1795500" cy="0"/>
          </a:xfrm>
          <a:prstGeom prst="straightConnector1">
            <a:avLst/>
          </a:prstGeom>
          <a:noFill/>
          <a:ln cap="flat" cmpd="sng" w="9525">
            <a:solidFill>
              <a:schemeClr val="dk1"/>
            </a:solidFill>
            <a:prstDash val="solid"/>
            <a:round/>
            <a:headEnd len="med" w="med" type="triangle"/>
            <a:tailEnd len="med" w="med" type="triangle"/>
          </a:ln>
        </p:spPr>
      </p:cxnSp>
      <p:cxnSp>
        <p:nvCxnSpPr>
          <p:cNvPr id="1398" name="Google Shape;1398;p96"/>
          <p:cNvCxnSpPr/>
          <p:nvPr/>
        </p:nvCxnSpPr>
        <p:spPr>
          <a:xfrm>
            <a:off x="863250" y="1283225"/>
            <a:ext cx="0" cy="1262400"/>
          </a:xfrm>
          <a:prstGeom prst="straightConnector1">
            <a:avLst/>
          </a:prstGeom>
          <a:noFill/>
          <a:ln cap="flat" cmpd="sng" w="9525">
            <a:solidFill>
              <a:schemeClr val="dk1"/>
            </a:solidFill>
            <a:prstDash val="solid"/>
            <a:round/>
            <a:headEnd len="med" w="med" type="triangle"/>
            <a:tailEnd len="med" w="med" type="triangle"/>
          </a:ln>
        </p:spPr>
      </p:cxnSp>
      <p:cxnSp>
        <p:nvCxnSpPr>
          <p:cNvPr id="1399" name="Google Shape;1399;p96"/>
          <p:cNvCxnSpPr/>
          <p:nvPr/>
        </p:nvCxnSpPr>
        <p:spPr>
          <a:xfrm>
            <a:off x="1300650" y="1576775"/>
            <a:ext cx="1176900" cy="0"/>
          </a:xfrm>
          <a:prstGeom prst="straightConnector1">
            <a:avLst/>
          </a:prstGeom>
          <a:noFill/>
          <a:ln cap="flat" cmpd="sng" w="9525">
            <a:solidFill>
              <a:schemeClr val="dk1"/>
            </a:solidFill>
            <a:prstDash val="solid"/>
            <a:round/>
            <a:headEnd len="med" w="med" type="triangle"/>
            <a:tailEnd len="med" w="med" type="triangle"/>
          </a:ln>
        </p:spPr>
      </p:cxnSp>
      <p:cxnSp>
        <p:nvCxnSpPr>
          <p:cNvPr id="1400" name="Google Shape;1400;p96"/>
          <p:cNvCxnSpPr/>
          <p:nvPr/>
        </p:nvCxnSpPr>
        <p:spPr>
          <a:xfrm>
            <a:off x="2648100" y="1512725"/>
            <a:ext cx="0" cy="829500"/>
          </a:xfrm>
          <a:prstGeom prst="straightConnector1">
            <a:avLst/>
          </a:prstGeom>
          <a:noFill/>
          <a:ln cap="flat" cmpd="sng" w="9525">
            <a:solidFill>
              <a:schemeClr val="dk1"/>
            </a:solidFill>
            <a:prstDash val="solid"/>
            <a:round/>
            <a:headEnd len="med" w="med" type="triangle"/>
            <a:tailEnd len="med" w="med" type="triangle"/>
          </a:ln>
        </p:spPr>
      </p:cxnSp>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01" name="Google Shape;1401;p96" title="2 lines Line 1: 2 and three fifths 1 and three fourths Line 2: four sevenths 1 and two thirds"/>
          <p:cNvPicPr preferRelativeResize="0"/>
          <p:nvPr/>
        </p:nvPicPr>
        <p:blipFill rotWithShape="1">
          <a:blip r:embed="rId3">
            <a:alphaModFix/>
          </a:blip>
          <a:srcRect b="50002" l="0" r="52534" t="0"/>
          <a:stretch/>
        </p:blipFill>
        <p:spPr>
          <a:xfrm>
            <a:off x="1612725" y="718749"/>
            <a:ext cx="390675" cy="4641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02" name="Google Shape;1402;p96" title="2 lines Line 1: 2 and three fifths 1 and three fourths Line 2: four sevenths 1 and two thirds"/>
          <p:cNvPicPr preferRelativeResize="0"/>
          <p:nvPr/>
        </p:nvPicPr>
        <p:blipFill rotWithShape="1">
          <a:blip r:embed="rId3">
            <a:alphaModFix/>
          </a:blip>
          <a:srcRect b="50002" l="59398" r="-6863" t="0"/>
          <a:stretch/>
        </p:blipFill>
        <p:spPr>
          <a:xfrm>
            <a:off x="236175" y="1770825"/>
            <a:ext cx="390675" cy="4641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03" name="Google Shape;1403;p96" title="2 lines Line 1: 2 and three fifths 1 and three fourths Line 2: four sevenths 1 and two thirds"/>
          <p:cNvPicPr preferRelativeResize="0"/>
          <p:nvPr/>
        </p:nvPicPr>
        <p:blipFill rotWithShape="1">
          <a:blip r:embed="rId3">
            <a:alphaModFix/>
          </a:blip>
          <a:srcRect b="-8072" l="-10494" r="63029" t="49953"/>
          <a:stretch/>
        </p:blipFill>
        <p:spPr>
          <a:xfrm>
            <a:off x="1910550" y="1770814"/>
            <a:ext cx="390675" cy="5395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04" name="Google Shape;1404;p96" title="2 lines Line 1: 2 and three fifths 1 and three fourths Line 2: four sevenths 1 and two thirds"/>
          <p:cNvPicPr preferRelativeResize="0"/>
          <p:nvPr/>
        </p:nvPicPr>
        <p:blipFill rotWithShape="1">
          <a:blip r:embed="rId3">
            <a:alphaModFix/>
          </a:blip>
          <a:srcRect b="-8072" l="42044" r="10489" t="49953"/>
          <a:stretch/>
        </p:blipFill>
        <p:spPr>
          <a:xfrm>
            <a:off x="1425807" y="1531586"/>
            <a:ext cx="336080" cy="464150"/>
          </a:xfrm>
          <a:prstGeom prst="rect">
            <a:avLst/>
          </a:prstGeom>
          <a:noFill/>
          <a:ln>
            <a:noFill/>
          </a:ln>
        </p:spPr>
      </p:pic>
      <p:sp>
        <p:nvSpPr>
          <p:cNvPr id="1405" name="Google Shape;1405;p96"/>
          <p:cNvSpPr txBox="1"/>
          <p:nvPr/>
        </p:nvSpPr>
        <p:spPr>
          <a:xfrm>
            <a:off x="1624724" y="1479331"/>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sp>
        <p:nvSpPr>
          <p:cNvPr id="1406" name="Google Shape;1406;p96"/>
          <p:cNvSpPr txBox="1"/>
          <p:nvPr/>
        </p:nvSpPr>
        <p:spPr>
          <a:xfrm>
            <a:off x="2081924" y="1746408"/>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pic>
        <p:nvPicPr>
          <p:cNvPr id="1411" name="Google Shape;1411;p97"/>
          <p:cNvPicPr preferRelativeResize="0"/>
          <p:nvPr/>
        </p:nvPicPr>
        <p:blipFill rotWithShape="1">
          <a:blip r:embed="rId3">
            <a:alphaModFix/>
          </a:blip>
          <a:srcRect b="0" l="0" r="0" t="626"/>
          <a:stretch/>
        </p:blipFill>
        <p:spPr>
          <a:xfrm>
            <a:off x="324000" y="1003175"/>
            <a:ext cx="3941951" cy="3723350"/>
          </a:xfrm>
          <a:prstGeom prst="rect">
            <a:avLst/>
          </a:prstGeom>
          <a:noFill/>
          <a:ln>
            <a:noFill/>
          </a:ln>
        </p:spPr>
      </p:pic>
      <p:sp>
        <p:nvSpPr>
          <p:cNvPr id="1412" name="Google Shape;1412;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a calculator</a:t>
            </a:r>
            <a:endParaRPr/>
          </a:p>
        </p:txBody>
      </p:sp>
      <p:sp>
        <p:nvSpPr>
          <p:cNvPr id="1413" name="Google Shape;1413;p97"/>
          <p:cNvSpPr txBox="1"/>
          <p:nvPr/>
        </p:nvSpPr>
        <p:spPr>
          <a:xfrm>
            <a:off x="4320000" y="897650"/>
            <a:ext cx="4544700" cy="616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 A square with length</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left(1\frac{3}{4},\ 2\frac{2}{5}\right)&quot;&gt;&lt;mrow data-mjx-texclass=&quot;INNER&quot;&gt;&lt;mo data-mjx-texclass=&quot;OPEN&quot;&gt;(&lt;/mo&gt;&lt;mn&gt;1&lt;/mn&gt;&lt;mfrac&gt;&lt;mn&gt;3&lt;/mn&gt;&lt;mn&gt;4&lt;/mn&gt;&lt;/mfrac&gt;&lt;mo&gt;,&lt;/mo&gt;&lt;mtext&gt;&lt;/mtext&gt;&lt;mn&gt;2&lt;/mn&gt;&lt;mfrac&gt;&lt;mn&gt;2&lt;/mn&gt;&lt;mn&gt;5&lt;/mn&gt;&lt;/mfrac&gt;&lt;mo data-mjx-texclass=&quot;CLOSE&quot;&gt;)&lt;/mo&gt;&lt;/mrow&gt;&lt;/math&gt;" id="1414" name="Google Shape;1414;p97" title="open paren 1 and three fourths comma 2 and two fifths close paren"/>
          <p:cNvPicPr preferRelativeResize="0"/>
          <p:nvPr/>
        </p:nvPicPr>
        <p:blipFill>
          <a:blip r:embed="rId4">
            <a:alphaModFix/>
          </a:blip>
          <a:stretch>
            <a:fillRect/>
          </a:stretch>
        </p:blipFill>
        <p:spPr>
          <a:xfrm>
            <a:off x="7753275" y="2629078"/>
            <a:ext cx="966125" cy="528472"/>
          </a:xfrm>
          <a:prstGeom prst="rect">
            <a:avLst/>
          </a:prstGeom>
          <a:noFill/>
          <a:ln>
            <a:noFill/>
          </a:ln>
        </p:spPr>
      </p:pic>
      <p:pic>
        <p:nvPicPr>
          <p:cNvPr descr="&lt;math xmlns=&quot;http://www.w3.org/1998/Math/MathML&quot; display=&quot;block&quot; data-is-equatio=&quot;1&quot; data-latex=&quot;\left(1\frac{3}{4},\ 2\frac{2}{5}\right)&quot;&gt;&lt;mrow data-mjx-texclass=&quot;INNER&quot;&gt;&lt;mo data-mjx-texclass=&quot;OPEN&quot;&gt;(&lt;/mo&gt;&lt;mn&gt;1&lt;/mn&gt;&lt;mfrac&gt;&lt;mn&gt;3&lt;/mn&gt;&lt;mn&gt;4&lt;/mn&gt;&lt;/mfrac&gt;&lt;mo&gt;,&lt;/mo&gt;&lt;mtext&gt;&lt;/mtext&gt;&lt;mn&gt;2&lt;/mn&gt;&lt;mfrac&gt;&lt;mn&gt;2&lt;/mn&gt;&lt;mn&gt;5&lt;/mn&gt;&lt;/mfrac&gt;&lt;mo data-mjx-texclass=&quot;CLOSE&quot;&gt;)&lt;/mo&gt;&lt;/mrow&gt;&lt;/math&gt;" id="1415" name="Google Shape;1415;p97" title="open paren 1 and three fourths comma 2 and two fifths close paren"/>
          <p:cNvPicPr preferRelativeResize="0"/>
          <p:nvPr/>
        </p:nvPicPr>
        <p:blipFill rotWithShape="1">
          <a:blip r:embed="rId4">
            <a:alphaModFix/>
          </a:blip>
          <a:srcRect b="0" l="52223" r="13650" t="0"/>
          <a:stretch/>
        </p:blipFill>
        <p:spPr>
          <a:xfrm>
            <a:off x="4548600" y="1398499"/>
            <a:ext cx="384670" cy="616550"/>
          </a:xfrm>
          <a:prstGeom prst="rect">
            <a:avLst/>
          </a:prstGeom>
          <a:noFill/>
          <a:ln>
            <a:noFill/>
          </a:ln>
        </p:spPr>
      </p:pic>
      <p:sp>
        <p:nvSpPr>
          <p:cNvPr id="1416" name="Google Shape;1416;p97"/>
          <p:cNvSpPr txBox="1"/>
          <p:nvPr/>
        </p:nvSpPr>
        <p:spPr>
          <a:xfrm>
            <a:off x="4320000" y="2726450"/>
            <a:ext cx="4544700" cy="213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coordinates of A are  </a:t>
            </a:r>
            <a:endParaRPr sz="2200">
              <a:solidFill>
                <a:schemeClr val="dk1"/>
              </a:solidFill>
              <a:latin typeface="Lexend"/>
              <a:ea typeface="Lexend"/>
              <a:cs typeface="Lexend"/>
              <a:sym typeface="Lexend"/>
            </a:endParaRPr>
          </a:p>
          <a:p>
            <a:pPr indent="0" lvl="0" marL="0" rtl="0" algn="l">
              <a:spcBef>
                <a:spcPts val="0"/>
              </a:spcBef>
              <a:spcAft>
                <a:spcPts val="0"/>
              </a:spcAft>
              <a:buNone/>
            </a:pPr>
            <a:r>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Write the coordinates of B, C and D, giving your answer as a mixed number.</a:t>
            </a:r>
            <a:endParaRPr sz="2200">
              <a:solidFill>
                <a:schemeClr val="dk1"/>
              </a:solidFill>
              <a:latin typeface="Lexend"/>
              <a:ea typeface="Lexend"/>
              <a:cs typeface="Lexend"/>
              <a:sym typeface="Lexend"/>
            </a:endParaRPr>
          </a:p>
        </p:txBody>
      </p:sp>
      <p:sp>
        <p:nvSpPr>
          <p:cNvPr id="1417" name="Google Shape;1417;p97"/>
          <p:cNvSpPr txBox="1"/>
          <p:nvPr/>
        </p:nvSpPr>
        <p:spPr>
          <a:xfrm>
            <a:off x="4623125" y="1888250"/>
            <a:ext cx="4241700" cy="616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on an axis.</a:t>
            </a:r>
            <a:endParaRPr sz="2200">
              <a:solidFill>
                <a:schemeClr val="dk1"/>
              </a:solidFill>
              <a:latin typeface="Lexend"/>
              <a:ea typeface="Lexend"/>
              <a:cs typeface="Lexend"/>
              <a:sym typeface="Lexend"/>
            </a:endParaRPr>
          </a:p>
        </p:txBody>
      </p:sp>
      <p:sp>
        <p:nvSpPr>
          <p:cNvPr id="1418" name="Google Shape;1418;p97"/>
          <p:cNvSpPr txBox="1"/>
          <p:nvPr/>
        </p:nvSpPr>
        <p:spPr>
          <a:xfrm>
            <a:off x="4987325" y="1398525"/>
            <a:ext cx="3255000" cy="616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u</a:t>
            </a:r>
            <a:r>
              <a:rPr lang="en-GB" sz="2200">
                <a:solidFill>
                  <a:schemeClr val="dk1"/>
                </a:solidFill>
                <a:latin typeface="Lexend"/>
                <a:ea typeface="Lexend"/>
                <a:cs typeface="Lexend"/>
                <a:sym typeface="Lexend"/>
              </a:rPr>
              <a:t>nits has been plotted</a:t>
            </a:r>
            <a:endParaRPr sz="2200">
              <a:solidFill>
                <a:schemeClr val="dk1"/>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a calculator</a:t>
            </a:r>
            <a:endParaRPr/>
          </a:p>
          <a:p>
            <a:pPr indent="0" lvl="0" marL="0" rtl="0" algn="l">
              <a:spcBef>
                <a:spcPts val="1000"/>
              </a:spcBef>
              <a:spcAft>
                <a:spcPts val="1000"/>
              </a:spcAft>
              <a:buNone/>
            </a:pPr>
            <a:r>
              <a:t/>
            </a:r>
            <a:endParaRPr/>
          </a:p>
        </p:txBody>
      </p:sp>
      <p:sp>
        <p:nvSpPr>
          <p:cNvPr id="1424" name="Google Shape;1424;p98"/>
          <p:cNvSpPr txBox="1"/>
          <p:nvPr>
            <p:ph idx="1" type="body"/>
          </p:nvPr>
        </p:nvSpPr>
        <p:spPr>
          <a:xfrm>
            <a:off x="3123975" y="810000"/>
            <a:ext cx="5509800" cy="1969500"/>
          </a:xfrm>
          <a:prstGeom prst="rect">
            <a:avLst/>
          </a:prstGeom>
        </p:spPr>
        <p:txBody>
          <a:bodyPr anchorCtr="0" anchor="t" bIns="0" lIns="0" spcFirstLastPara="1" rIns="0" wrap="square" tIns="0">
            <a:noAutofit/>
          </a:bodyPr>
          <a:lstStyle/>
          <a:p>
            <a:pPr indent="-349250" lvl="0" marL="457200" rtl="0" algn="l">
              <a:spcBef>
                <a:spcPts val="0"/>
              </a:spcBef>
              <a:spcAft>
                <a:spcPts val="0"/>
              </a:spcAft>
              <a:buSzPts val="1900"/>
              <a:buAutoNum type="arabicParenR"/>
            </a:pPr>
            <a:r>
              <a:rPr lang="en-GB" sz="1900"/>
              <a:t>Aisha is restoring some old picture frames.  She wants to cover the frame in gold leaf.</a:t>
            </a:r>
            <a:endParaRPr sz="1900"/>
          </a:p>
          <a:p>
            <a:pPr indent="-349250" lvl="0" marL="457200" rtl="0" algn="l">
              <a:spcBef>
                <a:spcPts val="0"/>
              </a:spcBef>
              <a:spcAft>
                <a:spcPts val="0"/>
              </a:spcAft>
              <a:buSzPts val="1900"/>
              <a:buAutoNum type="alphaLcParenR"/>
            </a:pPr>
            <a:r>
              <a:rPr lang="en-GB" sz="1900"/>
              <a:t>Work out the area of the frame.</a:t>
            </a:r>
            <a:endParaRPr sz="1900"/>
          </a:p>
          <a:p>
            <a:pPr indent="-349250" lvl="0" marL="457200" rtl="0" algn="l">
              <a:spcBef>
                <a:spcPts val="0"/>
              </a:spcBef>
              <a:spcAft>
                <a:spcPts val="0"/>
              </a:spcAft>
              <a:buSzPts val="1900"/>
              <a:buAutoNum type="alphaLcParenR"/>
            </a:pPr>
            <a:r>
              <a:rPr lang="en-GB" sz="1900"/>
              <a:t>Gold leaf costs £12.84 per m</a:t>
            </a:r>
            <a:r>
              <a:rPr baseline="30000" lang="en-GB" sz="1900"/>
              <a:t>2</a:t>
            </a:r>
            <a:r>
              <a:rPr lang="en-GB" sz="1900"/>
              <a:t>. How much will it cost Aisha to gold leaf the picture frame?</a:t>
            </a:r>
            <a:endParaRPr sz="1600"/>
          </a:p>
        </p:txBody>
      </p:sp>
      <p:grpSp>
        <p:nvGrpSpPr>
          <p:cNvPr id="1425" name="Google Shape;1425;p98"/>
          <p:cNvGrpSpPr/>
          <p:nvPr/>
        </p:nvGrpSpPr>
        <p:grpSpPr>
          <a:xfrm>
            <a:off x="977053" y="1283236"/>
            <a:ext cx="1796713" cy="1288514"/>
            <a:chOff x="481750" y="1180175"/>
            <a:chExt cx="2132850" cy="1529575"/>
          </a:xfrm>
        </p:grpSpPr>
        <p:sp>
          <p:nvSpPr>
            <p:cNvPr id="1426" name="Google Shape;1426;p98"/>
            <p:cNvSpPr/>
            <p:nvPr/>
          </p:nvSpPr>
          <p:spPr>
            <a:xfrm>
              <a:off x="484900" y="1185300"/>
              <a:ext cx="2129700" cy="151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7" name="Google Shape;1427;p98"/>
            <p:cNvSpPr/>
            <p:nvPr/>
          </p:nvSpPr>
          <p:spPr>
            <a:xfrm>
              <a:off x="832150" y="1432200"/>
              <a:ext cx="1435200" cy="1020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8" name="Google Shape;1428;p98"/>
            <p:cNvCxnSpPr/>
            <p:nvPr/>
          </p:nvCxnSpPr>
          <p:spPr>
            <a:xfrm>
              <a:off x="496025" y="1188725"/>
              <a:ext cx="331800" cy="2418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98"/>
            <p:cNvCxnSpPr/>
            <p:nvPr/>
          </p:nvCxnSpPr>
          <p:spPr>
            <a:xfrm>
              <a:off x="2267350" y="2450850"/>
              <a:ext cx="331800" cy="2418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98"/>
            <p:cNvCxnSpPr/>
            <p:nvPr/>
          </p:nvCxnSpPr>
          <p:spPr>
            <a:xfrm flipH="1">
              <a:off x="481750" y="2450850"/>
              <a:ext cx="350400" cy="258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98"/>
            <p:cNvCxnSpPr/>
            <p:nvPr/>
          </p:nvCxnSpPr>
          <p:spPr>
            <a:xfrm flipH="1">
              <a:off x="2258050" y="1180175"/>
              <a:ext cx="350400" cy="258900"/>
            </a:xfrm>
            <a:prstGeom prst="straightConnector1">
              <a:avLst/>
            </a:prstGeom>
            <a:noFill/>
            <a:ln cap="flat" cmpd="sng" w="9525">
              <a:solidFill>
                <a:schemeClr val="dk2"/>
              </a:solidFill>
              <a:prstDash val="solid"/>
              <a:round/>
              <a:headEnd len="med" w="med" type="none"/>
              <a:tailEnd len="med" w="med" type="none"/>
            </a:ln>
          </p:spPr>
        </p:cxnSp>
      </p:grpSp>
      <p:sp>
        <p:nvSpPr>
          <p:cNvPr id="1432" name="Google Shape;1432;p98"/>
          <p:cNvSpPr txBox="1"/>
          <p:nvPr/>
        </p:nvSpPr>
        <p:spPr>
          <a:xfrm>
            <a:off x="1940225" y="759300"/>
            <a:ext cx="1543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sp>
        <p:nvSpPr>
          <p:cNvPr id="1433" name="Google Shape;1433;p98"/>
          <p:cNvSpPr txBox="1"/>
          <p:nvPr/>
        </p:nvSpPr>
        <p:spPr>
          <a:xfrm>
            <a:off x="491155" y="1698500"/>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cxnSp>
        <p:nvCxnSpPr>
          <p:cNvPr id="1434" name="Google Shape;1434;p98"/>
          <p:cNvCxnSpPr/>
          <p:nvPr/>
        </p:nvCxnSpPr>
        <p:spPr>
          <a:xfrm>
            <a:off x="960450" y="1182900"/>
            <a:ext cx="1795500" cy="0"/>
          </a:xfrm>
          <a:prstGeom prst="straightConnector1">
            <a:avLst/>
          </a:prstGeom>
          <a:noFill/>
          <a:ln cap="flat" cmpd="sng" w="9525">
            <a:solidFill>
              <a:schemeClr val="dk1"/>
            </a:solidFill>
            <a:prstDash val="solid"/>
            <a:round/>
            <a:headEnd len="med" w="med" type="triangle"/>
            <a:tailEnd len="med" w="med" type="triangle"/>
          </a:ln>
        </p:spPr>
      </p:cxnSp>
      <p:cxnSp>
        <p:nvCxnSpPr>
          <p:cNvPr id="1435" name="Google Shape;1435;p98"/>
          <p:cNvCxnSpPr/>
          <p:nvPr/>
        </p:nvCxnSpPr>
        <p:spPr>
          <a:xfrm>
            <a:off x="863250" y="1283225"/>
            <a:ext cx="0" cy="1262400"/>
          </a:xfrm>
          <a:prstGeom prst="straightConnector1">
            <a:avLst/>
          </a:prstGeom>
          <a:noFill/>
          <a:ln cap="flat" cmpd="sng" w="9525">
            <a:solidFill>
              <a:schemeClr val="dk1"/>
            </a:solidFill>
            <a:prstDash val="solid"/>
            <a:round/>
            <a:headEnd len="med" w="med" type="triangle"/>
            <a:tailEnd len="med" w="med" type="triangle"/>
          </a:ln>
        </p:spPr>
      </p:cxnSp>
      <p:cxnSp>
        <p:nvCxnSpPr>
          <p:cNvPr id="1436" name="Google Shape;1436;p98"/>
          <p:cNvCxnSpPr/>
          <p:nvPr/>
        </p:nvCxnSpPr>
        <p:spPr>
          <a:xfrm>
            <a:off x="1300650" y="1576775"/>
            <a:ext cx="1176900" cy="0"/>
          </a:xfrm>
          <a:prstGeom prst="straightConnector1">
            <a:avLst/>
          </a:prstGeom>
          <a:noFill/>
          <a:ln cap="flat" cmpd="sng" w="9525">
            <a:solidFill>
              <a:schemeClr val="dk1"/>
            </a:solidFill>
            <a:prstDash val="solid"/>
            <a:round/>
            <a:headEnd len="med" w="med" type="triangle"/>
            <a:tailEnd len="med" w="med" type="triangle"/>
          </a:ln>
        </p:spPr>
      </p:cxnSp>
      <p:cxnSp>
        <p:nvCxnSpPr>
          <p:cNvPr id="1437" name="Google Shape;1437;p98"/>
          <p:cNvCxnSpPr/>
          <p:nvPr/>
        </p:nvCxnSpPr>
        <p:spPr>
          <a:xfrm>
            <a:off x="2648100" y="1512725"/>
            <a:ext cx="0" cy="829500"/>
          </a:xfrm>
          <a:prstGeom prst="straightConnector1">
            <a:avLst/>
          </a:prstGeom>
          <a:noFill/>
          <a:ln cap="flat" cmpd="sng" w="9525">
            <a:solidFill>
              <a:schemeClr val="dk1"/>
            </a:solidFill>
            <a:prstDash val="solid"/>
            <a:round/>
            <a:headEnd len="med" w="med" type="triangle"/>
            <a:tailEnd len="med" w="med" type="triangle"/>
          </a:ln>
        </p:spPr>
      </p:cxnSp>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38" name="Google Shape;1438;p98" title="2 lines Line 1: 2 and three fifths 1 and three fourths Line 2: four sevenths 1 and two thirds"/>
          <p:cNvPicPr preferRelativeResize="0"/>
          <p:nvPr/>
        </p:nvPicPr>
        <p:blipFill rotWithShape="1">
          <a:blip r:embed="rId3">
            <a:alphaModFix/>
          </a:blip>
          <a:srcRect b="50002" l="0" r="52534" t="0"/>
          <a:stretch/>
        </p:blipFill>
        <p:spPr>
          <a:xfrm>
            <a:off x="1612725" y="718749"/>
            <a:ext cx="390675" cy="4641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39" name="Google Shape;1439;p98" title="2 lines Line 1: 2 and three fifths 1 and three fourths Line 2: four sevenths 1 and two thirds"/>
          <p:cNvPicPr preferRelativeResize="0"/>
          <p:nvPr/>
        </p:nvPicPr>
        <p:blipFill rotWithShape="1">
          <a:blip r:embed="rId3">
            <a:alphaModFix/>
          </a:blip>
          <a:srcRect b="50002" l="59398" r="-6863" t="0"/>
          <a:stretch/>
        </p:blipFill>
        <p:spPr>
          <a:xfrm>
            <a:off x="236175" y="1808525"/>
            <a:ext cx="390675" cy="4641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40" name="Google Shape;1440;p98" title="2 lines Line 1: 2 and three fifths 1 and three fourths Line 2: four sevenths 1 and two thirds"/>
          <p:cNvPicPr preferRelativeResize="0"/>
          <p:nvPr/>
        </p:nvPicPr>
        <p:blipFill rotWithShape="1">
          <a:blip r:embed="rId3">
            <a:alphaModFix/>
          </a:blip>
          <a:srcRect b="-8072" l="-10494" r="63029" t="49953"/>
          <a:stretch/>
        </p:blipFill>
        <p:spPr>
          <a:xfrm>
            <a:off x="1910550" y="1770814"/>
            <a:ext cx="390675" cy="539550"/>
          </a:xfrm>
          <a:prstGeom prst="rect">
            <a:avLst/>
          </a:prstGeom>
          <a:noFill/>
          <a:ln>
            <a:noFill/>
          </a:ln>
        </p:spPr>
      </p:pic>
      <p:pic>
        <p:nvPicPr>
          <p:cNvPr descr="&lt;math xmlns=&quot;http://www.w3.org/1998/Math/MathML&quot; display=&quot;block&quot; data-is-equatio=&quot;1&quot; data-latex=&quot;\begin{array}{l}2\frac{3}{5}\ \ 1\frac{3}{4}\\&amp;#13;&amp;#10;\frac{4}{7}\ \ 1\frac{2}{3}\end{array}&quot;&gt;&lt;mtable columnalign=&quot;left&quot; columnspacing=&quot;1em&quot; rowspacing=&quot;4pt&quot;&gt;&lt;mtr&gt;&lt;mtd&gt;&lt;mn&gt;2&lt;/mn&gt;&lt;mfrac&gt;&lt;mn&gt;3&lt;/mn&gt;&lt;mn&gt;5&lt;/mn&gt;&lt;/mfrac&gt;&lt;mtext&gt;&lt;/mtext&gt;&lt;mtext&gt;&lt;/mtext&gt;&lt;mn&gt;1&lt;/mn&gt;&lt;mfrac&gt;&lt;mn&gt;3&lt;/mn&gt;&lt;mn&gt;4&lt;/mn&gt;&lt;/mfrac&gt;&lt;/mtd&gt;&lt;/mtr&gt;&lt;mtr&gt;&lt;mtd&gt;&lt;mfrac&gt;&lt;mn&gt;4&lt;/mn&gt;&lt;mn&gt;7&lt;/mn&gt;&lt;/mfrac&gt;&lt;mtext&gt;&lt;/mtext&gt;&lt;mtext&gt;&lt;/mtext&gt;&lt;mn&gt;1&lt;/mn&gt;&lt;mfrac&gt;&lt;mn&gt;2&lt;/mn&gt;&lt;mn&gt;3&lt;/mn&gt;&lt;/mfrac&gt;&lt;/mtd&gt;&lt;/mtr&gt;&lt;/mtable&gt;&lt;/math&gt;" id="1441" name="Google Shape;1441;p98" title="2 lines Line 1: 2 and three fifths 1 and three fourths Line 2: four sevenths 1 and two thirds"/>
          <p:cNvPicPr preferRelativeResize="0"/>
          <p:nvPr/>
        </p:nvPicPr>
        <p:blipFill rotWithShape="1">
          <a:blip r:embed="rId3">
            <a:alphaModFix/>
          </a:blip>
          <a:srcRect b="-8072" l="42044" r="10489" t="49953"/>
          <a:stretch/>
        </p:blipFill>
        <p:spPr>
          <a:xfrm>
            <a:off x="1425807" y="1531586"/>
            <a:ext cx="336080" cy="464150"/>
          </a:xfrm>
          <a:prstGeom prst="rect">
            <a:avLst/>
          </a:prstGeom>
          <a:noFill/>
          <a:ln>
            <a:noFill/>
          </a:ln>
        </p:spPr>
      </p:pic>
      <p:sp>
        <p:nvSpPr>
          <p:cNvPr id="1442" name="Google Shape;1442;p98"/>
          <p:cNvSpPr txBox="1"/>
          <p:nvPr/>
        </p:nvSpPr>
        <p:spPr>
          <a:xfrm>
            <a:off x="1624724" y="1479331"/>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sp>
        <p:nvSpPr>
          <p:cNvPr id="1443" name="Google Shape;1443;p98"/>
          <p:cNvSpPr txBox="1"/>
          <p:nvPr/>
        </p:nvSpPr>
        <p:spPr>
          <a:xfrm>
            <a:off x="2081924" y="1746408"/>
            <a:ext cx="469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m</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begin{array}{l}\left(2\frac{3}{5}\times1\frac{3}{4}\right)-\left(1\frac{2}{3}\times\frac{4}{7}\right)=\ \frac{1511}{420}=3\frac{251}{420}\\&amp;#13;&amp;#10;\end{array}&quot;&gt;&lt;mtable columnalign=&quot;left&quot; columnspacing=&quot;1em&quot; rowspacing=&quot;4pt&quot;&gt;&lt;mtr&gt;&lt;mtd&gt;&lt;mrow data-mjx-texclass=&quot;INNER&quot;&gt;&lt;mo data-mjx-texclass=&quot;OPEN&quot;&gt;(&lt;/mo&gt;&lt;mn&gt;2&lt;/mn&gt;&lt;mfrac&gt;&lt;mn&gt;3&lt;/mn&gt;&lt;mn&gt;5&lt;/mn&gt;&lt;/mfrac&gt;&lt;mo&gt;×&lt;/mo&gt;&lt;mn&gt;1&lt;/mn&gt;&lt;mfrac&gt;&lt;mn&gt;3&lt;/mn&gt;&lt;mn&gt;4&lt;/mn&gt;&lt;/mfrac&gt;&lt;mo data-mjx-texclass=&quot;CLOSE&quot;&gt;)&lt;/mo&gt;&lt;/mrow&gt;&lt;mo&gt;−&lt;/mo&gt;&lt;mrow data-mjx-texclass=&quot;INNER&quot;&gt;&lt;mo data-mjx-texclass=&quot;OPEN&quot;&gt;(&lt;/mo&gt;&lt;mn&gt;1&lt;/mn&gt;&lt;mfrac&gt;&lt;mn&gt;2&lt;/mn&gt;&lt;mn&gt;3&lt;/mn&gt;&lt;/mfrac&gt;&lt;mo&gt;×&lt;/mo&gt;&lt;mfrac&gt;&lt;mn&gt;4&lt;/mn&gt;&lt;mn&gt;7&lt;/mn&gt;&lt;/mfrac&gt;&lt;mo data-mjx-texclass=&quot;CLOSE&quot;&gt;)&lt;/mo&gt;&lt;/mrow&gt;&lt;mo&gt;=&lt;/mo&gt;&lt;mtext&gt;&lt;/mtext&gt;&lt;mfrac&gt;&lt;mn&gt;1511&lt;/mn&gt;&lt;mn&gt;420&lt;/mn&gt;&lt;/mfrac&gt;&lt;mo&gt;=&lt;/mo&gt;&lt;mn&gt;3&lt;/mn&gt;&lt;mfrac&gt;&lt;mn&gt;251&lt;/mn&gt;&lt;mn&gt;420&lt;/mn&gt;&lt;/mfrac&gt;&lt;/mtd&gt;&lt;/mtr&gt;&lt;/mtable&gt;&lt;/math&gt;" id="1444" name="Google Shape;1444;p98" title="1 lines Line 1: open paren 2 and three fifths times 1 and three fourths close paren minus open paren 1 and two thirds times four sevenths close paren equals 1511 over 420 equals 3 and 251 over 420"/>
          <p:cNvPicPr preferRelativeResize="0"/>
          <p:nvPr/>
        </p:nvPicPr>
        <p:blipFill>
          <a:blip r:embed="rId4">
            <a:alphaModFix/>
          </a:blip>
          <a:stretch>
            <a:fillRect/>
          </a:stretch>
        </p:blipFill>
        <p:spPr>
          <a:xfrm>
            <a:off x="684250" y="3309975"/>
            <a:ext cx="4375800" cy="387600"/>
          </a:xfrm>
          <a:prstGeom prst="rect">
            <a:avLst/>
          </a:prstGeom>
          <a:noFill/>
          <a:ln>
            <a:noFill/>
          </a:ln>
        </p:spPr>
      </p:pic>
      <p:sp>
        <p:nvSpPr>
          <p:cNvPr id="1445" name="Google Shape;1445;p98"/>
          <p:cNvSpPr txBox="1"/>
          <p:nvPr/>
        </p:nvSpPr>
        <p:spPr>
          <a:xfrm>
            <a:off x="562275" y="3773025"/>
            <a:ext cx="80715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900">
                <a:solidFill>
                  <a:schemeClr val="dk1"/>
                </a:solidFill>
                <a:latin typeface="Kalam"/>
                <a:ea typeface="Kalam"/>
                <a:cs typeface="Kalam"/>
                <a:sym typeface="Kalam"/>
              </a:rPr>
              <a:t>Therefore, 4 m</a:t>
            </a:r>
            <a:r>
              <a:rPr baseline="30000" lang="en-GB" sz="1900">
                <a:solidFill>
                  <a:schemeClr val="dk1"/>
                </a:solidFill>
                <a:latin typeface="Kalam"/>
                <a:ea typeface="Kalam"/>
                <a:cs typeface="Kalam"/>
                <a:sym typeface="Kalam"/>
              </a:rPr>
              <a:t>2</a:t>
            </a:r>
            <a:r>
              <a:rPr lang="en-GB" sz="1900">
                <a:solidFill>
                  <a:schemeClr val="dk1"/>
                </a:solidFill>
                <a:latin typeface="Kalam"/>
                <a:ea typeface="Kalam"/>
                <a:cs typeface="Kalam"/>
                <a:sym typeface="Kalam"/>
              </a:rPr>
              <a:t> sheets are needed. The total cost is 4 × £12.84 = £51.36</a:t>
            </a:r>
            <a:endParaRPr sz="1100">
              <a:latin typeface="Kalam"/>
              <a:ea typeface="Kalam"/>
              <a:cs typeface="Kalam"/>
              <a:sym typeface="Kala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pic>
        <p:nvPicPr>
          <p:cNvPr id="1450" name="Google Shape;1450;p99"/>
          <p:cNvPicPr preferRelativeResize="0"/>
          <p:nvPr/>
        </p:nvPicPr>
        <p:blipFill rotWithShape="1">
          <a:blip r:embed="rId3">
            <a:alphaModFix/>
          </a:blip>
          <a:srcRect b="0" l="0" r="0" t="0"/>
          <a:stretch/>
        </p:blipFill>
        <p:spPr>
          <a:xfrm>
            <a:off x="313450" y="826625"/>
            <a:ext cx="3941951" cy="3746750"/>
          </a:xfrm>
          <a:prstGeom prst="rect">
            <a:avLst/>
          </a:prstGeom>
          <a:noFill/>
          <a:ln>
            <a:noFill/>
          </a:ln>
        </p:spPr>
      </p:pic>
      <p:sp>
        <p:nvSpPr>
          <p:cNvPr id="1451" name="Google Shape;1451;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a calculator</a:t>
            </a:r>
            <a:endParaRPr/>
          </a:p>
        </p:txBody>
      </p:sp>
      <p:pic>
        <p:nvPicPr>
          <p:cNvPr descr="&lt;math xmlns=&quot;http://www.w3.org/1998/Math/MathML&quot; display=&quot;block&quot; data-is-equatio=&quot;1&quot; data-latex=&quot;\left(1\frac{3}{4},\ 2\frac{2}{5}\right)&quot;&gt;&lt;mrow data-mjx-texclass=&quot;INNER&quot;&gt;&lt;mo data-mjx-texclass=&quot;OPEN&quot;&gt;(&lt;/mo&gt;&lt;mn&gt;1&lt;/mn&gt;&lt;mfrac&gt;&lt;mn&gt;3&lt;/mn&gt;&lt;mn&gt;4&lt;/mn&gt;&lt;/mfrac&gt;&lt;mo&gt;,&lt;/mo&gt;&lt;mtext&gt;&lt;/mtext&gt;&lt;mn&gt;2&lt;/mn&gt;&lt;mfrac&gt;&lt;mn&gt;2&lt;/mn&gt;&lt;mn&gt;5&lt;/mn&gt;&lt;/mfrac&gt;&lt;mo data-mjx-texclass=&quot;CLOSE&quot;&gt;)&lt;/mo&gt;&lt;/mrow&gt;&lt;/math&gt;" id="1452" name="Google Shape;1452;p99" title="open paren 1 and three fourths comma 2 and two fifths close paren"/>
          <p:cNvPicPr preferRelativeResize="0"/>
          <p:nvPr/>
        </p:nvPicPr>
        <p:blipFill>
          <a:blip r:embed="rId4">
            <a:alphaModFix/>
          </a:blip>
          <a:stretch>
            <a:fillRect/>
          </a:stretch>
        </p:blipFill>
        <p:spPr>
          <a:xfrm>
            <a:off x="7198150" y="1764778"/>
            <a:ext cx="966125" cy="528472"/>
          </a:xfrm>
          <a:prstGeom prst="rect">
            <a:avLst/>
          </a:prstGeom>
          <a:noFill/>
          <a:ln>
            <a:noFill/>
          </a:ln>
        </p:spPr>
      </p:pic>
      <p:sp>
        <p:nvSpPr>
          <p:cNvPr id="1453" name="Google Shape;1453;p99"/>
          <p:cNvSpPr txBox="1"/>
          <p:nvPr/>
        </p:nvSpPr>
        <p:spPr>
          <a:xfrm>
            <a:off x="5601300" y="3080850"/>
            <a:ext cx="3715800" cy="440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GB" sz="2200">
                <a:solidFill>
                  <a:schemeClr val="dk1"/>
                </a:solidFill>
                <a:latin typeface="Lexend"/>
                <a:ea typeface="Lexend"/>
                <a:cs typeface="Lexend"/>
                <a:sym typeface="Lexend"/>
              </a:rPr>
              <a:t>B</a:t>
            </a:r>
            <a:endParaRPr sz="2200">
              <a:solidFill>
                <a:schemeClr val="dk1"/>
              </a:solidFill>
              <a:latin typeface="Lexend"/>
              <a:ea typeface="Lexend"/>
              <a:cs typeface="Lexend"/>
              <a:sym typeface="Lexend"/>
            </a:endParaRPr>
          </a:p>
          <a:p>
            <a:pPr indent="0" lvl="0" marL="0" rtl="0" algn="l">
              <a:lnSpc>
                <a:spcPct val="150000"/>
              </a:lnSpc>
              <a:spcBef>
                <a:spcPts val="0"/>
              </a:spcBef>
              <a:spcAft>
                <a:spcPts val="0"/>
              </a:spcAft>
              <a:buNone/>
            </a:pP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left(1\frac{3}{4}+2\ \frac{2}{5},\ 2\ \frac{2}{5}\right)\ =\ \left(4\frac{3}{20,}2\ \frac{2}{5}\right)&quot;&gt;&lt;mrow data-mjx-texclass=&quot;INNER&quot;&gt;&lt;mo data-mjx-texclass=&quot;OPEN&quot;&gt;(&lt;/mo&gt;&lt;mn&gt;1&lt;/mn&gt;&lt;mfrac&gt;&lt;mn&gt;3&lt;/mn&gt;&lt;mn&gt;4&lt;/mn&gt;&lt;/mfrac&gt;&lt;mo&gt;+&lt;/mo&gt;&lt;mn&gt;2&lt;/mn&gt;&lt;mtext&gt;&lt;/mtext&gt;&lt;mfrac&gt;&lt;mn&gt;2&lt;/mn&gt;&lt;mn&gt;5&lt;/mn&gt;&lt;/mfrac&gt;&lt;mo&gt;,&lt;/mo&gt;&lt;mtext&gt;&lt;/mtext&gt;&lt;mn&gt;2&lt;/mn&gt;&lt;mtext&gt;&lt;/mtext&gt;&lt;mfrac&gt;&lt;mn&gt;2&lt;/mn&gt;&lt;mn&gt;5&lt;/mn&gt;&lt;/mfrac&gt;&lt;mo data-mjx-texclass=&quot;CLOSE&quot;&gt;)&lt;/mo&gt;&lt;/mrow&gt;&lt;mtext&gt;&lt;/mtext&gt;&lt;mo&gt;=&lt;/mo&gt;&lt;mtext&gt;&lt;/mtext&gt;&lt;mrow data-mjx-texclass=&quot;INNER&quot;&gt;&lt;mo data-mjx-texclass=&quot;OPEN&quot;&gt;(&lt;/mo&gt;&lt;mn&gt;4&lt;/mn&gt;&lt;mfrac&gt;&lt;mn&gt;3&lt;/mn&gt;&lt;mrow&gt;&lt;mn&gt;20&lt;/mn&gt;&lt;mo&gt;,&lt;/mo&gt;&lt;/mrow&gt;&lt;/mfrac&gt;&lt;mn&gt;2&lt;/mn&gt;&lt;mtext&gt;&lt;/mtext&gt;&lt;mfrac&gt;&lt;mn&gt;2&lt;/mn&gt;&lt;mn&gt;5&lt;/mn&gt;&lt;/mfrac&gt;&lt;mo data-mjx-texclass=&quot;CLOSE&quot;&gt;)&lt;/mo&gt;&lt;/mrow&gt;&lt;/math&gt;" id="1454" name="Google Shape;1454;p99" title="open paren 1 and three fourths plus 2 two fifths comma 2 two fifths close paren equals open paren 4 the fraction with numerator 3 and denominator 20 comma 2 two fifths close paren"/>
          <p:cNvPicPr preferRelativeResize="0"/>
          <p:nvPr/>
        </p:nvPicPr>
        <p:blipFill rotWithShape="1">
          <a:blip r:embed="rId5">
            <a:alphaModFix/>
          </a:blip>
          <a:srcRect b="0" l="65483" r="0" t="0"/>
          <a:stretch/>
        </p:blipFill>
        <p:spPr>
          <a:xfrm>
            <a:off x="5885700" y="3080850"/>
            <a:ext cx="1091101" cy="528475"/>
          </a:xfrm>
          <a:prstGeom prst="rect">
            <a:avLst/>
          </a:prstGeom>
          <a:noFill/>
          <a:ln>
            <a:noFill/>
          </a:ln>
        </p:spPr>
      </p:pic>
      <p:pic>
        <p:nvPicPr>
          <p:cNvPr descr="&lt;math xmlns=&quot;http://www.w3.org/1998/Math/MathML&quot; display=&quot;block&quot; data-is-equatio=&quot;1&quot; data-latex=&quot;\left(1\frac{3}{4}+2\ \frac{2}{5},\ 2\ \frac{2}{5}\right)\ =\ \left(4\frac{3}{20,}2\ \frac{2}{5}\right)&quot;&gt;&lt;mrow data-mjx-texclass=&quot;INNER&quot;&gt;&lt;mo data-mjx-texclass=&quot;OPEN&quot;&gt;(&lt;/mo&gt;&lt;mn&gt;1&lt;/mn&gt;&lt;mfrac&gt;&lt;mn&gt;3&lt;/mn&gt;&lt;mn&gt;4&lt;/mn&gt;&lt;/mfrac&gt;&lt;mo&gt;+&lt;/mo&gt;&lt;mn&gt;2&lt;/mn&gt;&lt;mtext&gt;&lt;/mtext&gt;&lt;mfrac&gt;&lt;mn&gt;2&lt;/mn&gt;&lt;mn&gt;5&lt;/mn&gt;&lt;/mfrac&gt;&lt;mo&gt;,&lt;/mo&gt;&lt;mtext&gt;&lt;/mtext&gt;&lt;mn&gt;2&lt;/mn&gt;&lt;mtext&gt;&lt;/mtext&gt;&lt;mfrac&gt;&lt;mn&gt;2&lt;/mn&gt;&lt;mn&gt;5&lt;/mn&gt;&lt;/mfrac&gt;&lt;mo data-mjx-texclass=&quot;CLOSE&quot;&gt;)&lt;/mo&gt;&lt;/mrow&gt;&lt;mtext&gt;&lt;/mtext&gt;&lt;mo&gt;=&lt;/mo&gt;&lt;mtext&gt;&lt;/mtext&gt;&lt;mrow data-mjx-texclass=&quot;INNER&quot;&gt;&lt;mo data-mjx-texclass=&quot;OPEN&quot;&gt;(&lt;/mo&gt;&lt;mn&gt;4&lt;/mn&gt;&lt;mfrac&gt;&lt;mn&gt;3&lt;/mn&gt;&lt;mrow&gt;&lt;mn&gt;20&lt;/mn&gt;&lt;mo&gt;,&lt;/mo&gt;&lt;/mrow&gt;&lt;/mfrac&gt;&lt;mn&gt;2&lt;/mn&gt;&lt;mtext&gt;&lt;/mtext&gt;&lt;mfrac&gt;&lt;mn&gt;2&lt;/mn&gt;&lt;mn&gt;5&lt;/mn&gt;&lt;/mfrac&gt;&lt;mo data-mjx-texclass=&quot;CLOSE&quot;&gt;)&lt;/mo&gt;&lt;/mrow&gt;&lt;/math&gt;" id="1455" name="Google Shape;1455;p99" title="open paren 1 and three fourths plus 2 two fifths comma 2 two fifths close paren equals open paren 4 the fraction with numerator 3 and denominator 20 comma 2 two fifths close paren"/>
          <p:cNvPicPr preferRelativeResize="0"/>
          <p:nvPr/>
        </p:nvPicPr>
        <p:blipFill rotWithShape="1">
          <a:blip r:embed="rId5">
            <a:alphaModFix/>
          </a:blip>
          <a:srcRect b="0" l="65293" r="0" t="0"/>
          <a:stretch/>
        </p:blipFill>
        <p:spPr>
          <a:xfrm>
            <a:off x="2506025" y="2700000"/>
            <a:ext cx="914750" cy="440625"/>
          </a:xfrm>
          <a:prstGeom prst="rect">
            <a:avLst/>
          </a:prstGeom>
          <a:noFill/>
          <a:ln>
            <a:noFill/>
          </a:ln>
        </p:spPr>
      </p:pic>
      <p:cxnSp>
        <p:nvCxnSpPr>
          <p:cNvPr id="1456" name="Google Shape;1456;p99"/>
          <p:cNvCxnSpPr/>
          <p:nvPr/>
        </p:nvCxnSpPr>
        <p:spPr>
          <a:xfrm>
            <a:off x="1302200" y="3080850"/>
            <a:ext cx="1037400" cy="0"/>
          </a:xfrm>
          <a:prstGeom prst="straightConnector1">
            <a:avLst/>
          </a:prstGeom>
          <a:noFill/>
          <a:ln cap="flat" cmpd="sng" w="9525">
            <a:solidFill>
              <a:schemeClr val="dk2"/>
            </a:solidFill>
            <a:prstDash val="solid"/>
            <a:round/>
            <a:headEnd len="med" w="med" type="none"/>
            <a:tailEnd len="med" w="med" type="triangle"/>
          </a:ln>
        </p:spPr>
      </p:cxnSp>
      <p:pic>
        <p:nvPicPr>
          <p:cNvPr descr="&lt;math xmlns=&quot;http://www.w3.org/1998/Math/MathML&quot; display=&quot;block&quot; data-is-equatio=&quot;1&quot; data-latex=&quot;+\ 2\frac{2}{5}&quot;&gt;&lt;mo&gt;+&lt;/mo&gt;&lt;mtext&gt;&lt;/mtext&gt;&lt;mn&gt;2&lt;/mn&gt;&lt;mfrac&gt;&lt;mn&gt;2&lt;/mn&gt;&lt;mn&gt;5&lt;/mn&gt;&lt;/mfrac&gt;&lt;/math&gt;" id="1457" name="Google Shape;1457;p99" title="plus 2 and two fifths"/>
          <p:cNvPicPr preferRelativeResize="0"/>
          <p:nvPr/>
        </p:nvPicPr>
        <p:blipFill>
          <a:blip r:embed="rId6">
            <a:alphaModFix/>
          </a:blip>
          <a:stretch>
            <a:fillRect/>
          </a:stretch>
        </p:blipFill>
        <p:spPr>
          <a:xfrm>
            <a:off x="1646226" y="3140623"/>
            <a:ext cx="453694" cy="440625"/>
          </a:xfrm>
          <a:prstGeom prst="rect">
            <a:avLst/>
          </a:prstGeom>
          <a:noFill/>
          <a:ln>
            <a:noFill/>
          </a:ln>
        </p:spPr>
      </p:pic>
      <p:cxnSp>
        <p:nvCxnSpPr>
          <p:cNvPr id="1458" name="Google Shape;1458;p99"/>
          <p:cNvCxnSpPr/>
          <p:nvPr/>
        </p:nvCxnSpPr>
        <p:spPr>
          <a:xfrm rot="10800000">
            <a:off x="1138725" y="1873707"/>
            <a:ext cx="0" cy="999600"/>
          </a:xfrm>
          <a:prstGeom prst="straightConnector1">
            <a:avLst/>
          </a:prstGeom>
          <a:noFill/>
          <a:ln cap="flat" cmpd="sng" w="9525">
            <a:solidFill>
              <a:schemeClr val="dk2"/>
            </a:solidFill>
            <a:prstDash val="solid"/>
            <a:round/>
            <a:headEnd len="med" w="med" type="none"/>
            <a:tailEnd len="med" w="med" type="triangle"/>
          </a:ln>
        </p:spPr>
      </p:cxnSp>
      <p:pic>
        <p:nvPicPr>
          <p:cNvPr descr="&lt;math xmlns=&quot;http://www.w3.org/1998/Math/MathML&quot; display=&quot;block&quot; data-is-equatio=&quot;1&quot; data-latex=&quot;+\ 2\frac{2}{5}&quot;&gt;&lt;mo&gt;+&lt;/mo&gt;&lt;mtext&gt;&lt;/mtext&gt;&lt;mn&gt;2&lt;/mn&gt;&lt;mfrac&gt;&lt;mn&gt;2&lt;/mn&gt;&lt;mn&gt;5&lt;/mn&gt;&lt;/mfrac&gt;&lt;/math&gt;" id="1459" name="Google Shape;1459;p99" title="plus 2 and two fifths"/>
          <p:cNvPicPr preferRelativeResize="0"/>
          <p:nvPr/>
        </p:nvPicPr>
        <p:blipFill>
          <a:blip r:embed="rId6">
            <a:alphaModFix/>
          </a:blip>
          <a:stretch>
            <a:fillRect/>
          </a:stretch>
        </p:blipFill>
        <p:spPr>
          <a:xfrm>
            <a:off x="627334" y="2102115"/>
            <a:ext cx="453694" cy="440625"/>
          </a:xfrm>
          <a:prstGeom prst="rect">
            <a:avLst/>
          </a:prstGeom>
          <a:noFill/>
          <a:ln>
            <a:noFill/>
          </a:ln>
        </p:spPr>
      </p:pic>
      <p:sp>
        <p:nvSpPr>
          <p:cNvPr id="1460" name="Google Shape;1460;p99"/>
          <p:cNvSpPr txBox="1"/>
          <p:nvPr/>
        </p:nvSpPr>
        <p:spPr>
          <a:xfrm>
            <a:off x="5601300" y="3685525"/>
            <a:ext cx="528600" cy="5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2200">
                <a:solidFill>
                  <a:schemeClr val="dk1"/>
                </a:solidFill>
                <a:latin typeface="Lexend"/>
                <a:ea typeface="Lexend"/>
                <a:cs typeface="Lexend"/>
                <a:sym typeface="Lexend"/>
              </a:rPr>
              <a:t>C</a:t>
            </a:r>
            <a:endParaRPr sz="2200">
              <a:solidFill>
                <a:schemeClr val="dk1"/>
              </a:solidFill>
              <a:latin typeface="Lexend"/>
              <a:ea typeface="Lexend"/>
              <a:cs typeface="Lexend"/>
              <a:sym typeface="Lexend"/>
            </a:endParaRPr>
          </a:p>
        </p:txBody>
      </p:sp>
      <p:sp>
        <p:nvSpPr>
          <p:cNvPr id="1461" name="Google Shape;1461;p99"/>
          <p:cNvSpPr txBox="1"/>
          <p:nvPr/>
        </p:nvSpPr>
        <p:spPr>
          <a:xfrm>
            <a:off x="5601300" y="4169500"/>
            <a:ext cx="453600" cy="523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GB" sz="2200">
                <a:solidFill>
                  <a:schemeClr val="dk1"/>
                </a:solidFill>
                <a:latin typeface="Lexend"/>
                <a:ea typeface="Lexend"/>
                <a:cs typeface="Lexend"/>
                <a:sym typeface="Lexend"/>
              </a:rPr>
              <a:t>D</a:t>
            </a:r>
            <a:endParaRPr sz="22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left(\ 4\frac{3}{20},\ 4\frac{4}{5}\right)&quot;&gt;&lt;mrow data-mjx-texclass=&quot;INNER&quot;&gt;&lt;mo data-mjx-texclass=&quot;OPEN&quot;&gt;(&lt;/mo&gt;&lt;mtext&gt;&lt;/mtext&gt;&lt;mn&gt;4&lt;/mn&gt;&lt;mfrac&gt;&lt;mn&gt;3&lt;/mn&gt;&lt;mn&gt;20&lt;/mn&gt;&lt;/mfrac&gt;&lt;mo&gt;,&lt;/mo&gt;&lt;mtext&gt;&lt;/mtext&gt;&lt;mn&gt;4&lt;/mn&gt;&lt;mfrac&gt;&lt;mn&gt;4&lt;/mn&gt;&lt;mn&gt;5&lt;/mn&gt;&lt;/mfrac&gt;&lt;mo data-mjx-texclass=&quot;CLOSE&quot;&gt;)&lt;/mo&gt;&lt;/mrow&gt;&lt;/math&gt;" id="1462" name="Google Shape;1462;p99" title="open paren 4 and 3 over 20 comma 4 and four fifths close paren"/>
          <p:cNvPicPr preferRelativeResize="0"/>
          <p:nvPr/>
        </p:nvPicPr>
        <p:blipFill>
          <a:blip r:embed="rId7">
            <a:alphaModFix/>
          </a:blip>
          <a:stretch>
            <a:fillRect/>
          </a:stretch>
        </p:blipFill>
        <p:spPr>
          <a:xfrm>
            <a:off x="2417851" y="1247288"/>
            <a:ext cx="1091100" cy="509596"/>
          </a:xfrm>
          <a:prstGeom prst="rect">
            <a:avLst/>
          </a:prstGeom>
          <a:noFill/>
          <a:ln>
            <a:noFill/>
          </a:ln>
        </p:spPr>
      </p:pic>
      <p:pic>
        <p:nvPicPr>
          <p:cNvPr descr="&lt;math xmlns=&quot;http://www.w3.org/1998/Math/MathML&quot; display=&quot;block&quot; data-is-equatio=&quot;1&quot; data-latex=&quot;\left(\ 4\frac{3}{20},\ 4\frac{4}{5}\right)&quot;&gt;&lt;mrow data-mjx-texclass=&quot;INNER&quot;&gt;&lt;mo data-mjx-texclass=&quot;OPEN&quot;&gt;(&lt;/mo&gt;&lt;mtext&gt;&lt;/mtext&gt;&lt;mn&gt;4&lt;/mn&gt;&lt;mfrac&gt;&lt;mn&gt;3&lt;/mn&gt;&lt;mn&gt;20&lt;/mn&gt;&lt;/mfrac&gt;&lt;mo&gt;,&lt;/mo&gt;&lt;mtext&gt;&lt;/mtext&gt;&lt;mn&gt;4&lt;/mn&gt;&lt;mfrac&gt;&lt;mn&gt;4&lt;/mn&gt;&lt;mn&gt;5&lt;/mn&gt;&lt;/mfrac&gt;&lt;mo data-mjx-texclass=&quot;CLOSE&quot;&gt;)&lt;/mo&gt;&lt;/mrow&gt;&lt;/math&gt;" id="1463" name="Google Shape;1463;p99" title="open paren 4 and 3 over 20 comma 4 and four fifths close paren"/>
          <p:cNvPicPr preferRelativeResize="0"/>
          <p:nvPr/>
        </p:nvPicPr>
        <p:blipFill>
          <a:blip r:embed="rId7">
            <a:alphaModFix/>
          </a:blip>
          <a:stretch>
            <a:fillRect/>
          </a:stretch>
        </p:blipFill>
        <p:spPr>
          <a:xfrm>
            <a:off x="5948200" y="4284925"/>
            <a:ext cx="1091100" cy="509575"/>
          </a:xfrm>
          <a:prstGeom prst="rect">
            <a:avLst/>
          </a:prstGeom>
          <a:noFill/>
          <a:ln>
            <a:noFill/>
          </a:ln>
        </p:spPr>
      </p:pic>
      <p:cxnSp>
        <p:nvCxnSpPr>
          <p:cNvPr id="1464" name="Google Shape;1464;p99"/>
          <p:cNvCxnSpPr/>
          <p:nvPr/>
        </p:nvCxnSpPr>
        <p:spPr>
          <a:xfrm rot="10800000">
            <a:off x="2510325" y="1873707"/>
            <a:ext cx="0" cy="999600"/>
          </a:xfrm>
          <a:prstGeom prst="straightConnector1">
            <a:avLst/>
          </a:prstGeom>
          <a:noFill/>
          <a:ln cap="flat" cmpd="sng" w="9525">
            <a:solidFill>
              <a:schemeClr val="dk2"/>
            </a:solidFill>
            <a:prstDash val="solid"/>
            <a:round/>
            <a:headEnd len="med" w="med" type="none"/>
            <a:tailEnd len="med" w="med" type="triangle"/>
          </a:ln>
        </p:spPr>
      </p:cxnSp>
      <p:pic>
        <p:nvPicPr>
          <p:cNvPr descr="&lt;math xmlns=&quot;http://www.w3.org/1998/Math/MathML&quot; display=&quot;block&quot; data-is-equatio=&quot;1&quot; data-latex=&quot;+\ 2\frac{2}{5}&quot;&gt;&lt;mo&gt;+&lt;/mo&gt;&lt;mtext&gt;&lt;/mtext&gt;&lt;mn&gt;2&lt;/mn&gt;&lt;mfrac&gt;&lt;mn&gt;2&lt;/mn&gt;&lt;mn&gt;5&lt;/mn&gt;&lt;/mfrac&gt;&lt;/math&gt;" id="1465" name="Google Shape;1465;p99" title="plus 2 and two fifths"/>
          <p:cNvPicPr preferRelativeResize="0"/>
          <p:nvPr/>
        </p:nvPicPr>
        <p:blipFill>
          <a:blip r:embed="rId6">
            <a:alphaModFix/>
          </a:blip>
          <a:stretch>
            <a:fillRect/>
          </a:stretch>
        </p:blipFill>
        <p:spPr>
          <a:xfrm>
            <a:off x="2532334" y="2102115"/>
            <a:ext cx="453694" cy="440625"/>
          </a:xfrm>
          <a:prstGeom prst="rect">
            <a:avLst/>
          </a:prstGeom>
          <a:noFill/>
          <a:ln>
            <a:noFill/>
          </a:ln>
        </p:spPr>
      </p:pic>
      <p:pic>
        <p:nvPicPr>
          <p:cNvPr descr="&lt;math xmlns=&quot;http://www.w3.org/1998/Math/MathML&quot; display=&quot;block&quot; data-is-equatio=&quot;1&quot; data-latex=&quot;\left(1\frac{3}{4},\ 4\frac{4}{5}\right)&quot;&gt;&lt;mrow data-mjx-texclass=&quot;INNER&quot;&gt;&lt;mo data-mjx-texclass=&quot;OPEN&quot;&gt;(&lt;/mo&gt;&lt;mn&gt;1&lt;/mn&gt;&lt;mfrac&gt;&lt;mn&gt;3&lt;/mn&gt;&lt;mn&gt;4&lt;/mn&gt;&lt;/mfrac&gt;&lt;mo&gt;,&lt;/mo&gt;&lt;mtext&gt;&lt;/mtext&gt;&lt;mn&gt;4&lt;/mn&gt;&lt;mfrac&gt;&lt;mn&gt;4&lt;/mn&gt;&lt;mn&gt;5&lt;/mn&gt;&lt;/mfrac&gt;&lt;mo data-mjx-texclass=&quot;CLOSE&quot;&gt;)&lt;/mo&gt;&lt;/mrow&gt;&lt;/math&gt;" id="1466" name="Google Shape;1466;p99" title="open paren 1 and three fourths comma 4 and four fifths close paren"/>
          <p:cNvPicPr preferRelativeResize="0"/>
          <p:nvPr/>
        </p:nvPicPr>
        <p:blipFill>
          <a:blip r:embed="rId8">
            <a:alphaModFix/>
          </a:blip>
          <a:stretch>
            <a:fillRect/>
          </a:stretch>
        </p:blipFill>
        <p:spPr>
          <a:xfrm>
            <a:off x="6010700" y="3682908"/>
            <a:ext cx="966100" cy="528440"/>
          </a:xfrm>
          <a:prstGeom prst="rect">
            <a:avLst/>
          </a:prstGeom>
          <a:noFill/>
          <a:ln>
            <a:noFill/>
          </a:ln>
        </p:spPr>
      </p:pic>
      <p:pic>
        <p:nvPicPr>
          <p:cNvPr descr="&lt;math xmlns=&quot;http://www.w3.org/1998/Math/MathML&quot; display=&quot;block&quot; data-is-equatio=&quot;1&quot; data-latex=&quot;\left(1\frac{3}{4},\ 4\frac{4}{5}\right)&quot;&gt;&lt;mrow data-mjx-texclass=&quot;INNER&quot;&gt;&lt;mo data-mjx-texclass=&quot;OPEN&quot;&gt;(&lt;/mo&gt;&lt;mn&gt;1&lt;/mn&gt;&lt;mfrac&gt;&lt;mn&gt;3&lt;/mn&gt;&lt;mn&gt;4&lt;/mn&gt;&lt;/mfrac&gt;&lt;mo&gt;,&lt;/mo&gt;&lt;mtext&gt;&lt;/mtext&gt;&lt;mn&gt;4&lt;/mn&gt;&lt;mfrac&gt;&lt;mn&gt;4&lt;/mn&gt;&lt;mn&gt;5&lt;/mn&gt;&lt;/mfrac&gt;&lt;mo data-mjx-texclass=&quot;CLOSE&quot;&gt;)&lt;/mo&gt;&lt;/mrow&gt;&lt;/math&gt;" id="1467" name="Google Shape;1467;p99" title="open paren 1 and three fourths comma 4 and four fifths close paren"/>
          <p:cNvPicPr preferRelativeResize="0"/>
          <p:nvPr/>
        </p:nvPicPr>
        <p:blipFill>
          <a:blip r:embed="rId8">
            <a:alphaModFix/>
          </a:blip>
          <a:stretch>
            <a:fillRect/>
          </a:stretch>
        </p:blipFill>
        <p:spPr>
          <a:xfrm>
            <a:off x="708650" y="1237871"/>
            <a:ext cx="966100" cy="528440"/>
          </a:xfrm>
          <a:prstGeom prst="rect">
            <a:avLst/>
          </a:prstGeom>
          <a:noFill/>
          <a:ln>
            <a:noFill/>
          </a:ln>
        </p:spPr>
      </p:pic>
      <p:sp>
        <p:nvSpPr>
          <p:cNvPr id="1468" name="Google Shape;1468;p99"/>
          <p:cNvSpPr txBox="1"/>
          <p:nvPr/>
        </p:nvSpPr>
        <p:spPr>
          <a:xfrm>
            <a:off x="4320000" y="1812050"/>
            <a:ext cx="4544700" cy="21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 coordinates of A are  </a:t>
            </a:r>
            <a:endParaRPr sz="1800">
              <a:solidFill>
                <a:schemeClr val="dk1"/>
              </a:solidFill>
              <a:latin typeface="Lexend"/>
              <a:ea typeface="Lexend"/>
              <a:cs typeface="Lexend"/>
              <a:sym typeface="Lexend"/>
            </a:endParaRPr>
          </a:p>
          <a:p>
            <a:pPr indent="0" lvl="0" marL="0" rtl="0" algn="l">
              <a:spcBef>
                <a:spcPts val="0"/>
              </a:spcBef>
              <a:spcAft>
                <a:spcPts val="0"/>
              </a:spcAft>
              <a:buNone/>
            </a:pPr>
            <a:r>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Write the coordinates of B, C and D, giving your answer as a mixed number.</a:t>
            </a:r>
            <a:endParaRPr sz="2200">
              <a:solidFill>
                <a:schemeClr val="dk1"/>
              </a:solidFill>
              <a:latin typeface="Lexend"/>
              <a:ea typeface="Lexend"/>
              <a:cs typeface="Lexend"/>
              <a:sym typeface="Lexend"/>
            </a:endParaRPr>
          </a:p>
        </p:txBody>
      </p:sp>
      <p:sp>
        <p:nvSpPr>
          <p:cNvPr id="1469" name="Google Shape;1469;p99"/>
          <p:cNvSpPr txBox="1"/>
          <p:nvPr/>
        </p:nvSpPr>
        <p:spPr>
          <a:xfrm>
            <a:off x="4396200" y="592850"/>
            <a:ext cx="4544700" cy="616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A square with length</a:t>
            </a:r>
            <a:endParaRPr sz="1800">
              <a:solidFill>
                <a:schemeClr val="dk1"/>
              </a:solidFill>
              <a:latin typeface="Lexend"/>
              <a:ea typeface="Lexend"/>
              <a:cs typeface="Lexend"/>
              <a:sym typeface="Lexend"/>
            </a:endParaRPr>
          </a:p>
        </p:txBody>
      </p:sp>
      <p:pic>
        <p:nvPicPr>
          <p:cNvPr descr="&lt;math xmlns=&quot;http://www.w3.org/1998/Math/MathML&quot; display=&quot;block&quot; data-is-equatio=&quot;1&quot; data-latex=&quot;\left(1\frac{3}{4},\ 2\frac{2}{5}\right)&quot;&gt;&lt;mrow data-mjx-texclass=&quot;INNER&quot;&gt;&lt;mo data-mjx-texclass=&quot;OPEN&quot;&gt;(&lt;/mo&gt;&lt;mn&gt;1&lt;/mn&gt;&lt;mfrac&gt;&lt;mn&gt;3&lt;/mn&gt;&lt;mn&gt;4&lt;/mn&gt;&lt;/mfrac&gt;&lt;mo&gt;,&lt;/mo&gt;&lt;mtext&gt;&lt;/mtext&gt;&lt;mn&gt;2&lt;/mn&gt;&lt;mfrac&gt;&lt;mn&gt;2&lt;/mn&gt;&lt;mn&gt;5&lt;/mn&gt;&lt;/mfrac&gt;&lt;mo data-mjx-texclass=&quot;CLOSE&quot;&gt;)&lt;/mo&gt;&lt;/mrow&gt;&lt;/math&gt;" id="1470" name="Google Shape;1470;p99" title="open paren 1 and three fourths comma 2 and two fifths close paren"/>
          <p:cNvPicPr preferRelativeResize="0"/>
          <p:nvPr/>
        </p:nvPicPr>
        <p:blipFill rotWithShape="1">
          <a:blip r:embed="rId4">
            <a:alphaModFix/>
          </a:blip>
          <a:srcRect b="0" l="52223" r="13650" t="0"/>
          <a:stretch/>
        </p:blipFill>
        <p:spPr>
          <a:xfrm>
            <a:off x="4693587" y="998675"/>
            <a:ext cx="260825" cy="418050"/>
          </a:xfrm>
          <a:prstGeom prst="rect">
            <a:avLst/>
          </a:prstGeom>
          <a:noFill/>
          <a:ln>
            <a:noFill/>
          </a:ln>
        </p:spPr>
      </p:pic>
      <p:sp>
        <p:nvSpPr>
          <p:cNvPr id="1471" name="Google Shape;1471;p99"/>
          <p:cNvSpPr txBox="1"/>
          <p:nvPr/>
        </p:nvSpPr>
        <p:spPr>
          <a:xfrm>
            <a:off x="5063525" y="941325"/>
            <a:ext cx="4647600" cy="6165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units has been </a:t>
            </a:r>
            <a:r>
              <a:rPr lang="en-GB" sz="1800">
                <a:solidFill>
                  <a:schemeClr val="dk1"/>
                </a:solidFill>
                <a:latin typeface="Lexend"/>
                <a:ea typeface="Lexend"/>
                <a:cs typeface="Lexend"/>
                <a:sym typeface="Lexend"/>
              </a:rPr>
              <a:t>plotted</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1472" name="Google Shape;1472;p99"/>
          <p:cNvSpPr txBox="1"/>
          <p:nvPr/>
        </p:nvSpPr>
        <p:spPr>
          <a:xfrm>
            <a:off x="4572000" y="12954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on an axis.</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5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5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6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6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100"/>
          <p:cNvSpPr txBox="1"/>
          <p:nvPr>
            <p:ph type="title"/>
          </p:nvPr>
        </p:nvSpPr>
        <p:spPr>
          <a:xfrm>
            <a:off x="1684800" y="157525"/>
            <a:ext cx="71352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arithmetic procedures involving fractions</a:t>
            </a:r>
            <a:endParaRPr/>
          </a:p>
          <a:p>
            <a:pPr indent="0" lvl="0" marL="0" rtl="0" algn="l">
              <a:spcBef>
                <a:spcPts val="0"/>
              </a:spcBef>
              <a:spcAft>
                <a:spcPts val="0"/>
              </a:spcAft>
              <a:buNone/>
            </a:pPr>
            <a:r>
              <a:t/>
            </a:r>
            <a:endParaRPr/>
          </a:p>
        </p:txBody>
      </p:sp>
      <p:sp>
        <p:nvSpPr>
          <p:cNvPr id="1478" name="Google Shape;1478;p100"/>
          <p:cNvSpPr txBox="1"/>
          <p:nvPr>
            <p:ph idx="1" type="body"/>
          </p:nvPr>
        </p:nvSpPr>
        <p:spPr>
          <a:xfrm>
            <a:off x="324000" y="1080000"/>
            <a:ext cx="8113800" cy="170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use fractions in many different ways in real life. When approaching problem solving questions, have an idea of the strategy or approach needed and then apply those fraction skills,  making sure to understand the key words which indicate which operation to use. </a:t>
            </a:r>
            <a:endParaRPr sz="2000"/>
          </a:p>
        </p:txBody>
      </p:sp>
      <p:sp>
        <p:nvSpPr>
          <p:cNvPr id="1479" name="Google Shape;1479;p100"/>
          <p:cNvSpPr txBox="1"/>
          <p:nvPr>
            <p:ph idx="1" type="body"/>
          </p:nvPr>
        </p:nvSpPr>
        <p:spPr>
          <a:xfrm>
            <a:off x="360450" y="2814075"/>
            <a:ext cx="82377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Knowing which buttons to press on a scientific calculator is</a:t>
            </a:r>
            <a:endParaRPr sz="2000"/>
          </a:p>
        </p:txBody>
      </p:sp>
      <p:grpSp>
        <p:nvGrpSpPr>
          <p:cNvPr id="1480" name="Google Shape;1480;p100"/>
          <p:cNvGrpSpPr/>
          <p:nvPr/>
        </p:nvGrpSpPr>
        <p:grpSpPr>
          <a:xfrm>
            <a:off x="801766" y="3437366"/>
            <a:ext cx="1075200" cy="703694"/>
            <a:chOff x="480487" y="2582100"/>
            <a:chExt cx="1075200" cy="703694"/>
          </a:xfrm>
        </p:grpSpPr>
        <p:pic>
          <p:nvPicPr>
            <p:cNvPr id="1481" name="Google Shape;1481;p100"/>
            <p:cNvPicPr preferRelativeResize="0"/>
            <p:nvPr/>
          </p:nvPicPr>
          <p:blipFill rotWithShape="1">
            <a:blip r:embed="rId3">
              <a:alphaModFix/>
            </a:blip>
            <a:srcRect b="0" l="0" r="0" t="21996"/>
            <a:stretch/>
          </p:blipFill>
          <p:spPr>
            <a:xfrm>
              <a:off x="671625" y="2893669"/>
              <a:ext cx="432710" cy="392125"/>
            </a:xfrm>
            <a:prstGeom prst="rect">
              <a:avLst/>
            </a:prstGeom>
            <a:noFill/>
            <a:ln>
              <a:noFill/>
            </a:ln>
          </p:spPr>
        </p:pic>
        <p:sp>
          <p:nvSpPr>
            <p:cNvPr id="1482" name="Google Shape;1482;p100"/>
            <p:cNvSpPr txBox="1"/>
            <p:nvPr/>
          </p:nvSpPr>
          <p:spPr>
            <a:xfrm>
              <a:off x="480487" y="2582100"/>
              <a:ext cx="1075200" cy="23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SHIFT</a:t>
              </a:r>
              <a:endParaRPr sz="1800">
                <a:solidFill>
                  <a:schemeClr val="dk1"/>
                </a:solidFill>
                <a:latin typeface="Lexend"/>
                <a:ea typeface="Lexend"/>
                <a:cs typeface="Lexend"/>
                <a:sym typeface="Lexend"/>
              </a:endParaRPr>
            </a:p>
          </p:txBody>
        </p:sp>
      </p:grpSp>
      <p:pic>
        <p:nvPicPr>
          <p:cNvPr id="1483" name="Google Shape;1483;p100"/>
          <p:cNvPicPr preferRelativeResize="0"/>
          <p:nvPr/>
        </p:nvPicPr>
        <p:blipFill>
          <a:blip r:embed="rId4">
            <a:alphaModFix/>
          </a:blip>
          <a:stretch>
            <a:fillRect/>
          </a:stretch>
        </p:blipFill>
        <p:spPr>
          <a:xfrm>
            <a:off x="3915905" y="3106256"/>
            <a:ext cx="513440" cy="540000"/>
          </a:xfrm>
          <a:prstGeom prst="rect">
            <a:avLst/>
          </a:prstGeom>
          <a:noFill/>
          <a:ln>
            <a:noFill/>
          </a:ln>
        </p:spPr>
      </p:pic>
      <p:pic>
        <p:nvPicPr>
          <p:cNvPr id="1484" name="Google Shape;1484;p100"/>
          <p:cNvPicPr preferRelativeResize="0"/>
          <p:nvPr/>
        </p:nvPicPr>
        <p:blipFill>
          <a:blip r:embed="rId4">
            <a:alphaModFix/>
          </a:blip>
          <a:stretch>
            <a:fillRect/>
          </a:stretch>
        </p:blipFill>
        <p:spPr>
          <a:xfrm>
            <a:off x="2175627" y="3620063"/>
            <a:ext cx="513440" cy="540000"/>
          </a:xfrm>
          <a:prstGeom prst="rect">
            <a:avLst/>
          </a:prstGeom>
          <a:noFill/>
          <a:ln>
            <a:noFill/>
          </a:ln>
        </p:spPr>
      </p:pic>
      <p:sp>
        <p:nvSpPr>
          <p:cNvPr id="1485" name="Google Shape;1485;p100"/>
          <p:cNvSpPr txBox="1"/>
          <p:nvPr>
            <p:ph idx="1" type="body"/>
          </p:nvPr>
        </p:nvSpPr>
        <p:spPr>
          <a:xfrm>
            <a:off x="360450" y="3195075"/>
            <a:ext cx="82377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important.</a:t>
            </a:r>
            <a:endParaRPr sz="2000"/>
          </a:p>
        </p:txBody>
      </p:sp>
      <p:sp>
        <p:nvSpPr>
          <p:cNvPr id="1486" name="Google Shape;1486;p100"/>
          <p:cNvSpPr txBox="1"/>
          <p:nvPr>
            <p:ph idx="1" type="body"/>
          </p:nvPr>
        </p:nvSpPr>
        <p:spPr>
          <a:xfrm>
            <a:off x="360450" y="3728475"/>
            <a:ext cx="82377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and</a:t>
            </a:r>
            <a:endParaRPr sz="2000"/>
          </a:p>
        </p:txBody>
      </p:sp>
      <p:sp>
        <p:nvSpPr>
          <p:cNvPr id="1487" name="Google Shape;1487;p100"/>
          <p:cNvSpPr txBox="1"/>
          <p:nvPr>
            <p:ph idx="1" type="body"/>
          </p:nvPr>
        </p:nvSpPr>
        <p:spPr>
          <a:xfrm>
            <a:off x="1742025" y="3195075"/>
            <a:ext cx="70086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Make </a:t>
            </a:r>
            <a:endParaRPr sz="2000"/>
          </a:p>
        </p:txBody>
      </p:sp>
      <p:sp>
        <p:nvSpPr>
          <p:cNvPr id="1488" name="Google Shape;1488;p100"/>
          <p:cNvSpPr txBox="1"/>
          <p:nvPr>
            <p:ph idx="1" type="body"/>
          </p:nvPr>
        </p:nvSpPr>
        <p:spPr>
          <a:xfrm>
            <a:off x="2474725" y="3195075"/>
            <a:ext cx="64284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sure</a:t>
            </a:r>
            <a:endParaRPr sz="2000"/>
          </a:p>
        </p:txBody>
      </p:sp>
      <p:sp>
        <p:nvSpPr>
          <p:cNvPr id="1489" name="Google Shape;1489;p100"/>
          <p:cNvSpPr txBox="1"/>
          <p:nvPr>
            <p:ph idx="1" type="body"/>
          </p:nvPr>
        </p:nvSpPr>
        <p:spPr>
          <a:xfrm>
            <a:off x="3070075" y="3195075"/>
            <a:ext cx="59856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to</a:t>
            </a:r>
            <a:endParaRPr sz="2000"/>
          </a:p>
        </p:txBody>
      </p:sp>
      <p:sp>
        <p:nvSpPr>
          <p:cNvPr id="1490" name="Google Shape;1490;p100"/>
          <p:cNvSpPr txBox="1"/>
          <p:nvPr>
            <p:ph idx="1" type="body"/>
          </p:nvPr>
        </p:nvSpPr>
        <p:spPr>
          <a:xfrm>
            <a:off x="3405250" y="3195075"/>
            <a:ext cx="58029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use</a:t>
            </a:r>
            <a:endParaRPr sz="2000"/>
          </a:p>
        </p:txBody>
      </p:sp>
      <p:sp>
        <p:nvSpPr>
          <p:cNvPr id="1491" name="Google Shape;1491;p100"/>
          <p:cNvSpPr txBox="1"/>
          <p:nvPr>
            <p:ph idx="1" type="body"/>
          </p:nvPr>
        </p:nvSpPr>
        <p:spPr>
          <a:xfrm>
            <a:off x="4482300" y="3195075"/>
            <a:ext cx="48783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proper or improper fractions</a:t>
            </a:r>
            <a:endParaRPr sz="2000"/>
          </a:p>
        </p:txBody>
      </p:sp>
      <p:sp>
        <p:nvSpPr>
          <p:cNvPr id="1492" name="Google Shape;1492;p100"/>
          <p:cNvSpPr txBox="1"/>
          <p:nvPr>
            <p:ph idx="1" type="body"/>
          </p:nvPr>
        </p:nvSpPr>
        <p:spPr>
          <a:xfrm>
            <a:off x="1579650" y="3728475"/>
            <a:ext cx="82377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then</a:t>
            </a:r>
            <a:endParaRPr sz="2000"/>
          </a:p>
        </p:txBody>
      </p:sp>
      <p:sp>
        <p:nvSpPr>
          <p:cNvPr id="1493" name="Google Shape;1493;p100"/>
          <p:cNvSpPr txBox="1"/>
          <p:nvPr>
            <p:ph idx="1" type="body"/>
          </p:nvPr>
        </p:nvSpPr>
        <p:spPr>
          <a:xfrm>
            <a:off x="2798850" y="3728475"/>
            <a:ext cx="8237700" cy="42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for inputting mixed numbers.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10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99" name="Google Shape;1499;p10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