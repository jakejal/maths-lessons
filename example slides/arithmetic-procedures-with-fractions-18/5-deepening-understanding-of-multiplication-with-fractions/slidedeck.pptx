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0EAC774-30AF-439C-BE20-013861D11706}">
  <a:tblStyle styleId="{D0EAC774-30AF-439C-BE20-013861D117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slide" Target="slides/slide25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1eb5f04102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1eb5f04102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1eb5f04102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1eb5f04102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1eb5f04102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1eb5f04102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1eb5f04102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1eb5f04102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1eb5f04102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1eb5f04102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1eb5f04102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1eb5f04102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1eb5f04102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1eb5f04102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1eb5f04102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1eb5f04102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29e9bb7bcd9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5" name="Google Shape;1045;g29e9bb7bcd9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1eb5f041029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1eb5f041029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1eb5f04102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1eb5f04102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1eb5f04102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1eb5f04102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1eb5f041029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1eb5f041029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1eb5f041029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1eb5f041029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1eb5f041029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1eb5f041029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1eb5f041029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1eb5f041029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g1eb5f041029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9" name="Google Shape;1199;g1eb5f041029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g1eb5f041029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7" name="Google Shape;1217;g1eb5f041029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29e9bb7bcd9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g29e9bb7bcd9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g29e9bb7bcd9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9" name="Google Shape;1249;g29e9bb7bcd9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3" name="Google Shape;1263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2" name="Google Shape;1272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4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image" Target="../media/image16.png"/><Relationship Id="rId7" Type="http://schemas.openxmlformats.org/officeDocument/2006/relationships/image" Target="../media/image1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5.png"/><Relationship Id="rId4" Type="http://schemas.openxmlformats.org/officeDocument/2006/relationships/image" Target="../media/image109.png"/><Relationship Id="rId5" Type="http://schemas.openxmlformats.org/officeDocument/2006/relationships/image" Target="../media/image31.png"/><Relationship Id="rId6" Type="http://schemas.openxmlformats.org/officeDocument/2006/relationships/image" Target="../media/image29.png"/><Relationship Id="rId7" Type="http://schemas.openxmlformats.org/officeDocument/2006/relationships/image" Target="../media/image1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09.png"/><Relationship Id="rId4" Type="http://schemas.openxmlformats.org/officeDocument/2006/relationships/image" Target="../media/image23.png"/><Relationship Id="rId9" Type="http://schemas.openxmlformats.org/officeDocument/2006/relationships/image" Target="../media/image18.png"/><Relationship Id="rId5" Type="http://schemas.openxmlformats.org/officeDocument/2006/relationships/image" Target="../media/image25.png"/><Relationship Id="rId6" Type="http://schemas.openxmlformats.org/officeDocument/2006/relationships/image" Target="../media/image33.png"/><Relationship Id="rId7" Type="http://schemas.openxmlformats.org/officeDocument/2006/relationships/image" Target="../media/image31.png"/><Relationship Id="rId8" Type="http://schemas.openxmlformats.org/officeDocument/2006/relationships/image" Target="../media/image2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09.png"/><Relationship Id="rId4" Type="http://schemas.openxmlformats.org/officeDocument/2006/relationships/image" Target="../media/image27.png"/><Relationship Id="rId11" Type="http://schemas.openxmlformats.org/officeDocument/2006/relationships/image" Target="../media/image18.png"/><Relationship Id="rId10" Type="http://schemas.openxmlformats.org/officeDocument/2006/relationships/image" Target="../media/image38.png"/><Relationship Id="rId9" Type="http://schemas.openxmlformats.org/officeDocument/2006/relationships/image" Target="../media/image29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33.png"/><Relationship Id="rId8" Type="http://schemas.openxmlformats.org/officeDocument/2006/relationships/image" Target="../media/image3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47.png"/><Relationship Id="rId6" Type="http://schemas.openxmlformats.org/officeDocument/2006/relationships/image" Target="../media/image5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0.png"/><Relationship Id="rId4" Type="http://schemas.openxmlformats.org/officeDocument/2006/relationships/image" Target="../media/image54.png"/><Relationship Id="rId5" Type="http://schemas.openxmlformats.org/officeDocument/2006/relationships/image" Target="../media/image5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9.png"/><Relationship Id="rId4" Type="http://schemas.openxmlformats.org/officeDocument/2006/relationships/image" Target="../media/image5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1.png"/><Relationship Id="rId4" Type="http://schemas.openxmlformats.org/officeDocument/2006/relationships/image" Target="../media/image56.png"/><Relationship Id="rId9" Type="http://schemas.openxmlformats.org/officeDocument/2006/relationships/image" Target="../media/image59.png"/><Relationship Id="rId5" Type="http://schemas.openxmlformats.org/officeDocument/2006/relationships/image" Target="../media/image55.png"/><Relationship Id="rId6" Type="http://schemas.openxmlformats.org/officeDocument/2006/relationships/image" Target="../media/image57.png"/><Relationship Id="rId7" Type="http://schemas.openxmlformats.org/officeDocument/2006/relationships/image" Target="../media/image61.png"/><Relationship Id="rId8" Type="http://schemas.openxmlformats.org/officeDocument/2006/relationships/image" Target="../media/image60.png"/><Relationship Id="rId11" Type="http://schemas.openxmlformats.org/officeDocument/2006/relationships/image" Target="../media/image50.png"/><Relationship Id="rId10" Type="http://schemas.openxmlformats.org/officeDocument/2006/relationships/image" Target="../media/image58.png"/><Relationship Id="rId12" Type="http://schemas.openxmlformats.org/officeDocument/2006/relationships/image" Target="../media/image5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4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5" Type="http://schemas.openxmlformats.org/officeDocument/2006/relationships/image" Target="../media/image65.png"/><Relationship Id="rId6" Type="http://schemas.openxmlformats.org/officeDocument/2006/relationships/image" Target="../media/image63.png"/><Relationship Id="rId7" Type="http://schemas.openxmlformats.org/officeDocument/2006/relationships/image" Target="../media/image70.png"/><Relationship Id="rId8" Type="http://schemas.openxmlformats.org/officeDocument/2006/relationships/image" Target="../media/image66.png"/><Relationship Id="rId10" Type="http://schemas.openxmlformats.org/officeDocument/2006/relationships/image" Target="../media/image6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9.png"/><Relationship Id="rId4" Type="http://schemas.openxmlformats.org/officeDocument/2006/relationships/image" Target="../media/image71.png"/><Relationship Id="rId9" Type="http://schemas.openxmlformats.org/officeDocument/2006/relationships/image" Target="../media/image77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Relationship Id="rId11" Type="http://schemas.openxmlformats.org/officeDocument/2006/relationships/image" Target="../media/image76.png"/><Relationship Id="rId10" Type="http://schemas.openxmlformats.org/officeDocument/2006/relationships/image" Target="../media/image7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1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1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5.png"/><Relationship Id="rId4" Type="http://schemas.openxmlformats.org/officeDocument/2006/relationships/image" Target="../media/image51.png"/><Relationship Id="rId9" Type="http://schemas.openxmlformats.org/officeDocument/2006/relationships/image" Target="../media/image91.png"/><Relationship Id="rId5" Type="http://schemas.openxmlformats.org/officeDocument/2006/relationships/image" Target="../media/image89.png"/><Relationship Id="rId6" Type="http://schemas.openxmlformats.org/officeDocument/2006/relationships/image" Target="../media/image88.png"/><Relationship Id="rId7" Type="http://schemas.openxmlformats.org/officeDocument/2006/relationships/image" Target="../media/image87.png"/><Relationship Id="rId8" Type="http://schemas.openxmlformats.org/officeDocument/2006/relationships/image" Target="../media/image90.png"/><Relationship Id="rId11" Type="http://schemas.openxmlformats.org/officeDocument/2006/relationships/image" Target="../media/image54.png"/><Relationship Id="rId10" Type="http://schemas.openxmlformats.org/officeDocument/2006/relationships/image" Target="../media/image5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1.png"/><Relationship Id="rId4" Type="http://schemas.openxmlformats.org/officeDocument/2006/relationships/image" Target="../media/image50.png"/><Relationship Id="rId5" Type="http://schemas.openxmlformats.org/officeDocument/2006/relationships/image" Target="../media/image5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5.png"/><Relationship Id="rId4" Type="http://schemas.openxmlformats.org/officeDocument/2006/relationships/image" Target="../media/image92.png"/><Relationship Id="rId9" Type="http://schemas.openxmlformats.org/officeDocument/2006/relationships/image" Target="../media/image91.png"/><Relationship Id="rId5" Type="http://schemas.openxmlformats.org/officeDocument/2006/relationships/image" Target="../media/image89.png"/><Relationship Id="rId6" Type="http://schemas.openxmlformats.org/officeDocument/2006/relationships/image" Target="../media/image88.png"/><Relationship Id="rId7" Type="http://schemas.openxmlformats.org/officeDocument/2006/relationships/image" Target="../media/image87.png"/><Relationship Id="rId8" Type="http://schemas.openxmlformats.org/officeDocument/2006/relationships/image" Target="../media/image9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3.png"/><Relationship Id="rId4" Type="http://schemas.openxmlformats.org/officeDocument/2006/relationships/image" Target="../media/image50.png"/><Relationship Id="rId5" Type="http://schemas.openxmlformats.org/officeDocument/2006/relationships/image" Target="../media/image9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3.png"/><Relationship Id="rId4" Type="http://schemas.openxmlformats.org/officeDocument/2006/relationships/image" Target="../media/image9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5.png"/><Relationship Id="rId4" Type="http://schemas.openxmlformats.org/officeDocument/2006/relationships/image" Target="../media/image9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8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1.png"/><Relationship Id="rId4" Type="http://schemas.openxmlformats.org/officeDocument/2006/relationships/image" Target="../media/image102.png"/><Relationship Id="rId5" Type="http://schemas.openxmlformats.org/officeDocument/2006/relationships/image" Target="../media/image104.png"/><Relationship Id="rId6" Type="http://schemas.openxmlformats.org/officeDocument/2006/relationships/image" Target="../media/image105.png"/><Relationship Id="rId7" Type="http://schemas.openxmlformats.org/officeDocument/2006/relationships/image" Target="../media/image103.png"/><Relationship Id="rId8" Type="http://schemas.openxmlformats.org/officeDocument/2006/relationships/image" Target="../media/image10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1.png"/><Relationship Id="rId4" Type="http://schemas.openxmlformats.org/officeDocument/2006/relationships/image" Target="../media/image102.png"/><Relationship Id="rId5" Type="http://schemas.openxmlformats.org/officeDocument/2006/relationships/image" Target="../media/image104.png"/><Relationship Id="rId6" Type="http://schemas.openxmlformats.org/officeDocument/2006/relationships/image" Target="../media/image105.png"/><Relationship Id="rId7" Type="http://schemas.openxmlformats.org/officeDocument/2006/relationships/image" Target="../media/image103.png"/><Relationship Id="rId8" Type="http://schemas.openxmlformats.org/officeDocument/2006/relationships/image" Target="../media/image10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7.png"/><Relationship Id="rId4" Type="http://schemas.openxmlformats.org/officeDocument/2006/relationships/image" Target="../media/image85.png"/><Relationship Id="rId5" Type="http://schemas.openxmlformats.org/officeDocument/2006/relationships/image" Target="../media/image9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0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Deepening understanding of multiplication with fractions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procedures with fractions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generalise and fluently use strategies to multiply with mixed numbers.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2" type="subTitle"/>
          </p:nvPr>
        </p:nvSpPr>
        <p:spPr>
          <a:xfrm>
            <a:off x="324000" y="1713400"/>
            <a:ext cx="8123100" cy="66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/>
              <a:t>A proper fraction is a fraction where the numerator is less than the denominator.  </a:t>
            </a:r>
            <a:endParaRPr b="0" sz="2000"/>
          </a:p>
        </p:txBody>
      </p:sp>
      <p:sp>
        <p:nvSpPr>
          <p:cNvPr id="767" name="Google Shape;767;p67"/>
          <p:cNvSpPr txBox="1"/>
          <p:nvPr>
            <p:ph idx="1" type="subTitle"/>
          </p:nvPr>
        </p:nvSpPr>
        <p:spPr>
          <a:xfrm>
            <a:off x="324000" y="679875"/>
            <a:ext cx="8123100" cy="7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 sz="2000"/>
              <a:t>A product is the result of two or more numbers multiplied together.</a:t>
            </a:r>
            <a:endParaRPr sz="2000"/>
          </a:p>
        </p:txBody>
      </p:sp>
      <p:sp>
        <p:nvSpPr>
          <p:cNvPr id="768" name="Google Shape;768;p67"/>
          <p:cNvSpPr txBox="1"/>
          <p:nvPr>
            <p:ph idx="3" type="subTitle"/>
          </p:nvPr>
        </p:nvSpPr>
        <p:spPr>
          <a:xfrm>
            <a:off x="324000" y="2701325"/>
            <a:ext cx="8123100" cy="7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 sz="2000"/>
              <a:t>An improper fraction is a fraction where the numerator is greater than or equal to the denominator. </a:t>
            </a:r>
            <a:endParaRPr sz="2000"/>
          </a:p>
        </p:txBody>
      </p:sp>
      <p:sp>
        <p:nvSpPr>
          <p:cNvPr id="769" name="Google Shape;769;p67"/>
          <p:cNvSpPr txBox="1"/>
          <p:nvPr>
            <p:ph idx="4" type="subTitle"/>
          </p:nvPr>
        </p:nvSpPr>
        <p:spPr>
          <a:xfrm>
            <a:off x="324000" y="3734850"/>
            <a:ext cx="8123100" cy="108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 sz="2000"/>
              <a:t>A mixed number is an improper fraction written as its integer part plus the fractional part where the fractional part is a proper fraction. 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by a mixed number</a:t>
            </a:r>
            <a:endParaRPr/>
          </a:p>
        </p:txBody>
      </p:sp>
      <p:sp>
        <p:nvSpPr>
          <p:cNvPr id="775" name="Google Shape;775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strategies</a:t>
            </a:r>
            <a:endParaRPr/>
          </a:p>
        </p:txBody>
      </p:sp>
      <p:sp>
        <p:nvSpPr>
          <p:cNvPr id="776" name="Google Shape;776;p68"/>
          <p:cNvSpPr txBox="1"/>
          <p:nvPr>
            <p:ph idx="3" type="title"/>
          </p:nvPr>
        </p:nvSpPr>
        <p:spPr>
          <a:xfrm>
            <a:off x="324000" y="657600"/>
            <a:ext cx="81969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Deepening understanding of multiplication with fractions</a:t>
            </a:r>
            <a:endParaRPr/>
          </a:p>
        </p:txBody>
      </p:sp>
      <p:pic>
        <p:nvPicPr>
          <p:cNvPr id="777" name="Google Shape;77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025" y="205415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69"/>
          <p:cNvSpPr txBox="1"/>
          <p:nvPr/>
        </p:nvSpPr>
        <p:spPr>
          <a:xfrm>
            <a:off x="4516575" y="1225612"/>
            <a:ext cx="4074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3" name="Google Shape;783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by a mixed number</a:t>
            </a:r>
            <a:endParaRPr/>
          </a:p>
        </p:txBody>
      </p:sp>
      <p:sp>
        <p:nvSpPr>
          <p:cNvPr id="784" name="Google Shape;784;p69"/>
          <p:cNvSpPr txBox="1"/>
          <p:nvPr>
            <p:ph idx="1" type="body"/>
          </p:nvPr>
        </p:nvSpPr>
        <p:spPr>
          <a:xfrm>
            <a:off x="552600" y="1324502"/>
            <a:ext cx="3763500" cy="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3\ \frac{1}{4}&quot;&gt;&lt;mn&gt;3&lt;/mn&gt;&lt;mtext&gt;&lt;/mtext&gt;&lt;mfrac&gt;&lt;mn&gt;1&lt;/mn&gt;&lt;mn&gt;4&lt;/mn&gt;&lt;/mfrac&gt;&lt;/math&gt;" id="785" name="Google Shape;785;p69" title="3 one four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5225" y="1206697"/>
            <a:ext cx="396890" cy="560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 \frac{1}{3}&quot;&gt;&lt;mn&gt;3&lt;/mn&gt;&lt;mtext&gt;&lt;/mtext&gt;&lt;mfrac&gt;&lt;mn&gt;1&lt;/mn&gt;&lt;mn&gt;3&lt;/mn&gt;&lt;/mfrac&gt;&lt;/math&gt;" id="786" name="Google Shape;786;p69" title="3 one thir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1974" y="3097140"/>
            <a:ext cx="395212" cy="560562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9"/>
          <p:cNvSpPr/>
          <p:nvPr/>
        </p:nvSpPr>
        <p:spPr>
          <a:xfrm>
            <a:off x="3598200" y="1214234"/>
            <a:ext cx="442500" cy="6135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8" name="Google Shape;788;p69"/>
          <p:cNvSpPr/>
          <p:nvPr/>
        </p:nvSpPr>
        <p:spPr>
          <a:xfrm>
            <a:off x="3444375" y="3032134"/>
            <a:ext cx="442500" cy="6135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69"/>
          <p:cNvSpPr/>
          <p:nvPr/>
        </p:nvSpPr>
        <p:spPr>
          <a:xfrm>
            <a:off x="6476525" y="1191575"/>
            <a:ext cx="442500" cy="6135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0" name="Google Shape;790;p69"/>
          <p:cNvSpPr/>
          <p:nvPr/>
        </p:nvSpPr>
        <p:spPr>
          <a:xfrm>
            <a:off x="4614300" y="3063825"/>
            <a:ext cx="442500" cy="6135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1" name="Google Shape;791;p69"/>
          <p:cNvSpPr/>
          <p:nvPr/>
        </p:nvSpPr>
        <p:spPr>
          <a:xfrm>
            <a:off x="5430196" y="3090300"/>
            <a:ext cx="442500" cy="6135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2" name="Google Shape;792;p69"/>
          <p:cNvSpPr/>
          <p:nvPr/>
        </p:nvSpPr>
        <p:spPr>
          <a:xfrm>
            <a:off x="6189380" y="3090300"/>
            <a:ext cx="442500" cy="6135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9"/>
          <p:cNvSpPr/>
          <p:nvPr/>
        </p:nvSpPr>
        <p:spPr>
          <a:xfrm>
            <a:off x="6999593" y="3090300"/>
            <a:ext cx="442500" cy="6135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4" name="Google Shape;794;p69"/>
          <p:cNvSpPr txBox="1"/>
          <p:nvPr/>
        </p:nvSpPr>
        <p:spPr>
          <a:xfrm>
            <a:off x="324000" y="580775"/>
            <a:ext cx="475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are the missing numbers?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5" name="Google Shape;795;p69"/>
          <p:cNvSpPr txBox="1"/>
          <p:nvPr/>
        </p:nvSpPr>
        <p:spPr>
          <a:xfrm>
            <a:off x="3693550" y="1344546"/>
            <a:ext cx="261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796" name="Google Shape;796;p69"/>
          <p:cNvGrpSpPr/>
          <p:nvPr/>
        </p:nvGrpSpPr>
        <p:grpSpPr>
          <a:xfrm>
            <a:off x="522138" y="3373000"/>
            <a:ext cx="1610400" cy="249600"/>
            <a:chOff x="318700" y="3449200"/>
            <a:chExt cx="1610400" cy="249600"/>
          </a:xfrm>
        </p:grpSpPr>
        <p:cxnSp>
          <p:nvCxnSpPr>
            <p:cNvPr id="797" name="Google Shape;797;p69"/>
            <p:cNvCxnSpPr/>
            <p:nvPr/>
          </p:nvCxnSpPr>
          <p:spPr>
            <a:xfrm>
              <a:off x="318700" y="3698800"/>
              <a:ext cx="16104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8" name="Google Shape;798;p69"/>
            <p:cNvCxnSpPr/>
            <p:nvPr/>
          </p:nvCxnSpPr>
          <p:spPr>
            <a:xfrm rot="10800000">
              <a:off x="338178" y="3449200"/>
              <a:ext cx="0" cy="2496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9" name="Google Shape;799;p69"/>
            <p:cNvCxnSpPr/>
            <p:nvPr/>
          </p:nvCxnSpPr>
          <p:spPr>
            <a:xfrm rot="10800000">
              <a:off x="1912087" y="3449200"/>
              <a:ext cx="0" cy="2496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00" name="Google Shape;800;p69"/>
          <p:cNvSpPr txBox="1"/>
          <p:nvPr/>
        </p:nvSpPr>
        <p:spPr>
          <a:xfrm>
            <a:off x="962700" y="3703800"/>
            <a:ext cx="79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 × 12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801" name="Google Shape;801;p69"/>
          <p:cNvCxnSpPr/>
          <p:nvPr/>
        </p:nvCxnSpPr>
        <p:spPr>
          <a:xfrm flipH="1" rot="10800000">
            <a:off x="1677200" y="3604375"/>
            <a:ext cx="711600" cy="575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2" name="Google Shape;802;p69"/>
          <p:cNvSpPr txBox="1"/>
          <p:nvPr/>
        </p:nvSpPr>
        <p:spPr>
          <a:xfrm>
            <a:off x="391325" y="4203100"/>
            <a:ext cx="341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fraction of 12 is 6?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803" name="Google Shape;803;p69" title="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2900" y="4027525"/>
            <a:ext cx="192553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frac{1}{2}&quot;&gt;&lt;mn&gt;3&lt;/mn&gt;&lt;mfrac&gt;&lt;mn&gt;1&lt;/mn&gt;&lt;mn&gt;2&lt;/mn&gt;&lt;/mfrac&gt;&lt;/math&gt;" id="804" name="Google Shape;804;p69" title="3 and one hal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01974" y="3081284"/>
            <a:ext cx="305457" cy="523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5" name="Google Shape;805;p69"/>
          <p:cNvGrpSpPr/>
          <p:nvPr/>
        </p:nvGrpSpPr>
        <p:grpSpPr>
          <a:xfrm>
            <a:off x="4591101" y="1495200"/>
            <a:ext cx="1610400" cy="249600"/>
            <a:chOff x="318700" y="3449200"/>
            <a:chExt cx="1610400" cy="249600"/>
          </a:xfrm>
        </p:grpSpPr>
        <p:cxnSp>
          <p:nvCxnSpPr>
            <p:cNvPr id="806" name="Google Shape;806;p69"/>
            <p:cNvCxnSpPr/>
            <p:nvPr/>
          </p:nvCxnSpPr>
          <p:spPr>
            <a:xfrm>
              <a:off x="318700" y="3698800"/>
              <a:ext cx="16104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7" name="Google Shape;807;p69"/>
            <p:cNvCxnSpPr/>
            <p:nvPr/>
          </p:nvCxnSpPr>
          <p:spPr>
            <a:xfrm rot="10800000">
              <a:off x="338178" y="3449200"/>
              <a:ext cx="0" cy="2496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8" name="Google Shape;808;p69"/>
            <p:cNvCxnSpPr/>
            <p:nvPr/>
          </p:nvCxnSpPr>
          <p:spPr>
            <a:xfrm rot="10800000">
              <a:off x="1912087" y="3449200"/>
              <a:ext cx="0" cy="2496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09" name="Google Shape;809;p69"/>
          <p:cNvSpPr txBox="1"/>
          <p:nvPr/>
        </p:nvSpPr>
        <p:spPr>
          <a:xfrm>
            <a:off x="4996563" y="1805075"/>
            <a:ext cx="79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 × 12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810" name="Google Shape;810;p69"/>
          <p:cNvCxnSpPr/>
          <p:nvPr/>
        </p:nvCxnSpPr>
        <p:spPr>
          <a:xfrm rot="10800000">
            <a:off x="6709475" y="1862702"/>
            <a:ext cx="82200" cy="460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1" name="Google Shape;811;p69"/>
          <p:cNvSpPr txBox="1"/>
          <p:nvPr/>
        </p:nvSpPr>
        <p:spPr>
          <a:xfrm>
            <a:off x="5223900" y="2295300"/>
            <a:ext cx="83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3\ \frac{1}{4}&quot;&gt;&lt;mn&gt;3&lt;/mn&gt;&lt;mtext&gt;&lt;/mtext&gt;&lt;mfrac&gt;&lt;mn&gt;1&lt;/mn&gt;&lt;mn&gt;4&lt;/mn&gt;&lt;/mfrac&gt;&lt;/math&gt;" id="812" name="Google Shape;812;p69" title="3 one fourth"/>
          <p:cNvPicPr preferRelativeResize="0"/>
          <p:nvPr/>
        </p:nvPicPr>
        <p:blipFill rotWithShape="1">
          <a:blip r:embed="rId3">
            <a:alphaModFix/>
          </a:blip>
          <a:srcRect b="0" l="51489" r="-4" t="0"/>
          <a:stretch/>
        </p:blipFill>
        <p:spPr>
          <a:xfrm>
            <a:off x="6374595" y="2229625"/>
            <a:ext cx="192550" cy="560550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69"/>
          <p:cNvSpPr txBox="1"/>
          <p:nvPr/>
        </p:nvSpPr>
        <p:spPr>
          <a:xfrm>
            <a:off x="6596350" y="1328971"/>
            <a:ext cx="261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14" name="Google Shape;814;p69"/>
          <p:cNvSpPr txBox="1"/>
          <p:nvPr/>
        </p:nvSpPr>
        <p:spPr>
          <a:xfrm>
            <a:off x="4693050" y="3201221"/>
            <a:ext cx="261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15" name="Google Shape;815;p69"/>
          <p:cNvSpPr txBox="1"/>
          <p:nvPr/>
        </p:nvSpPr>
        <p:spPr>
          <a:xfrm>
            <a:off x="5526900" y="3227696"/>
            <a:ext cx="261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16" name="Google Shape;816;p69"/>
          <p:cNvSpPr txBox="1"/>
          <p:nvPr/>
        </p:nvSpPr>
        <p:spPr>
          <a:xfrm>
            <a:off x="6305200" y="3227696"/>
            <a:ext cx="261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817" name="Google Shape;817;p69"/>
          <p:cNvCxnSpPr/>
          <p:nvPr/>
        </p:nvCxnSpPr>
        <p:spPr>
          <a:xfrm rot="10800000">
            <a:off x="7242875" y="3843902"/>
            <a:ext cx="82200" cy="460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8" name="Google Shape;818;p69"/>
          <p:cNvSpPr txBox="1"/>
          <p:nvPr/>
        </p:nvSpPr>
        <p:spPr>
          <a:xfrm>
            <a:off x="5757300" y="4276488"/>
            <a:ext cx="341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3\ \frac{1}{3}&quot;&gt;&lt;mn&gt;3&lt;/mn&gt;&lt;mtext&gt;&lt;/mtext&gt;&lt;mfrac&gt;&lt;mn&gt;1&lt;/mn&gt;&lt;mn&gt;3&lt;/mn&gt;&lt;/mfrac&gt;&lt;/math&gt;" id="819" name="Google Shape;819;p69" title="3 one third"/>
          <p:cNvPicPr preferRelativeResize="0"/>
          <p:nvPr/>
        </p:nvPicPr>
        <p:blipFill rotWithShape="1">
          <a:blip r:embed="rId4">
            <a:alphaModFix/>
          </a:blip>
          <a:srcRect b="0" l="51278" r="0" t="0"/>
          <a:stretch/>
        </p:blipFill>
        <p:spPr>
          <a:xfrm>
            <a:off x="6919031" y="4203100"/>
            <a:ext cx="192550" cy="560550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69"/>
          <p:cNvSpPr txBox="1"/>
          <p:nvPr/>
        </p:nvSpPr>
        <p:spPr>
          <a:xfrm>
            <a:off x="7123197" y="3249196"/>
            <a:ext cx="261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821" name="Google Shape;821;p69"/>
          <p:cNvGrpSpPr/>
          <p:nvPr/>
        </p:nvGrpSpPr>
        <p:grpSpPr>
          <a:xfrm>
            <a:off x="6032225" y="2295300"/>
            <a:ext cx="2912550" cy="338700"/>
            <a:chOff x="6032225" y="2295300"/>
            <a:chExt cx="2912550" cy="338700"/>
          </a:xfrm>
        </p:grpSpPr>
        <p:sp>
          <p:nvSpPr>
            <p:cNvPr id="822" name="Google Shape;822;p69"/>
            <p:cNvSpPr txBox="1"/>
            <p:nvPr/>
          </p:nvSpPr>
          <p:spPr>
            <a:xfrm>
              <a:off x="6032225" y="2295300"/>
              <a:ext cx="342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is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3" name="Google Shape;823;p69"/>
            <p:cNvSpPr txBox="1"/>
            <p:nvPr/>
          </p:nvSpPr>
          <p:spPr>
            <a:xfrm>
              <a:off x="6709475" y="2295300"/>
              <a:ext cx="2235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 12?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24" name="Google Shape;824;p69"/>
          <p:cNvGrpSpPr/>
          <p:nvPr/>
        </p:nvGrpSpPr>
        <p:grpSpPr>
          <a:xfrm>
            <a:off x="6567100" y="4276500"/>
            <a:ext cx="2911075" cy="338700"/>
            <a:chOff x="6567100" y="4276500"/>
            <a:chExt cx="2911075" cy="338700"/>
          </a:xfrm>
        </p:grpSpPr>
        <p:sp>
          <p:nvSpPr>
            <p:cNvPr id="825" name="Google Shape;825;p69"/>
            <p:cNvSpPr txBox="1"/>
            <p:nvPr/>
          </p:nvSpPr>
          <p:spPr>
            <a:xfrm>
              <a:off x="6567100" y="4276500"/>
              <a:ext cx="2758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is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6" name="Google Shape;826;p69"/>
            <p:cNvSpPr txBox="1"/>
            <p:nvPr/>
          </p:nvSpPr>
          <p:spPr>
            <a:xfrm>
              <a:off x="7242875" y="4276500"/>
              <a:ext cx="2235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 12?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27" name="Google Shape;827;p69"/>
          <p:cNvSpPr txBox="1"/>
          <p:nvPr/>
        </p:nvSpPr>
        <p:spPr>
          <a:xfrm>
            <a:off x="7442100" y="3130600"/>
            <a:ext cx="130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12 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69"/>
          <p:cNvSpPr txBox="1"/>
          <p:nvPr/>
        </p:nvSpPr>
        <p:spPr>
          <a:xfrm>
            <a:off x="5049975" y="3130600"/>
            <a:ext cx="39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69"/>
          <p:cNvSpPr txBox="1"/>
          <p:nvPr/>
        </p:nvSpPr>
        <p:spPr>
          <a:xfrm>
            <a:off x="5891400" y="3135450"/>
            <a:ext cx="39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69"/>
          <p:cNvSpPr txBox="1"/>
          <p:nvPr/>
        </p:nvSpPr>
        <p:spPr>
          <a:xfrm>
            <a:off x="6653400" y="3135450"/>
            <a:ext cx="39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69"/>
          <p:cNvSpPr txBox="1"/>
          <p:nvPr/>
        </p:nvSpPr>
        <p:spPr>
          <a:xfrm>
            <a:off x="4910225" y="1225600"/>
            <a:ext cx="3833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69"/>
          <p:cNvSpPr txBox="1"/>
          <p:nvPr/>
        </p:nvSpPr>
        <p:spPr>
          <a:xfrm>
            <a:off x="5168650" y="1225600"/>
            <a:ext cx="372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69"/>
          <p:cNvSpPr txBox="1"/>
          <p:nvPr/>
        </p:nvSpPr>
        <p:spPr>
          <a:xfrm>
            <a:off x="5526900" y="1225600"/>
            <a:ext cx="352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69"/>
          <p:cNvSpPr txBox="1"/>
          <p:nvPr/>
        </p:nvSpPr>
        <p:spPr>
          <a:xfrm>
            <a:off x="5784775" y="1225600"/>
            <a:ext cx="3416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69"/>
          <p:cNvSpPr txBox="1"/>
          <p:nvPr/>
        </p:nvSpPr>
        <p:spPr>
          <a:xfrm>
            <a:off x="6189375" y="1225600"/>
            <a:ext cx="3164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     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69"/>
          <p:cNvSpPr txBox="1"/>
          <p:nvPr/>
        </p:nvSpPr>
        <p:spPr>
          <a:xfrm>
            <a:off x="6962900" y="1225600"/>
            <a:ext cx="254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12 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69"/>
          <p:cNvSpPr txBox="1"/>
          <p:nvPr/>
        </p:nvSpPr>
        <p:spPr>
          <a:xfrm>
            <a:off x="477975" y="3206812"/>
            <a:ext cx="4074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69"/>
          <p:cNvSpPr txBox="1"/>
          <p:nvPr/>
        </p:nvSpPr>
        <p:spPr>
          <a:xfrm>
            <a:off x="871625" y="3206800"/>
            <a:ext cx="3833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69"/>
          <p:cNvSpPr txBox="1"/>
          <p:nvPr/>
        </p:nvSpPr>
        <p:spPr>
          <a:xfrm>
            <a:off x="1130050" y="3206800"/>
            <a:ext cx="372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0" name="Google Shape;840;p69"/>
          <p:cNvSpPr txBox="1"/>
          <p:nvPr/>
        </p:nvSpPr>
        <p:spPr>
          <a:xfrm>
            <a:off x="1488300" y="3206800"/>
            <a:ext cx="352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1" name="Google Shape;841;p69"/>
          <p:cNvSpPr txBox="1"/>
          <p:nvPr/>
        </p:nvSpPr>
        <p:spPr>
          <a:xfrm>
            <a:off x="1718800" y="3206800"/>
            <a:ext cx="344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2" name="Google Shape;842;p69"/>
          <p:cNvSpPr txBox="1"/>
          <p:nvPr/>
        </p:nvSpPr>
        <p:spPr>
          <a:xfrm>
            <a:off x="2096350" y="3206800"/>
            <a:ext cx="321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     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69"/>
          <p:cNvSpPr txBox="1"/>
          <p:nvPr>
            <p:ph idx="1" type="body"/>
          </p:nvPr>
        </p:nvSpPr>
        <p:spPr>
          <a:xfrm>
            <a:off x="2424275" y="3305700"/>
            <a:ext cx="1258800" cy="3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6 = 12 ×</a:t>
            </a:r>
            <a:endParaRPr/>
          </a:p>
        </p:txBody>
      </p:sp>
      <p:sp>
        <p:nvSpPr>
          <p:cNvPr id="844" name="Google Shape;844;p69"/>
          <p:cNvSpPr txBox="1"/>
          <p:nvPr>
            <p:ph idx="1" type="body"/>
          </p:nvPr>
        </p:nvSpPr>
        <p:spPr>
          <a:xfrm>
            <a:off x="913825" y="1324500"/>
            <a:ext cx="3554400" cy="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+</a:t>
            </a:r>
            <a:endParaRPr/>
          </a:p>
        </p:txBody>
      </p:sp>
      <p:sp>
        <p:nvSpPr>
          <p:cNvPr id="845" name="Google Shape;845;p69"/>
          <p:cNvSpPr txBox="1"/>
          <p:nvPr>
            <p:ph idx="1" type="body"/>
          </p:nvPr>
        </p:nvSpPr>
        <p:spPr>
          <a:xfrm>
            <a:off x="1177225" y="1324500"/>
            <a:ext cx="3443400" cy="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</a:t>
            </a:r>
            <a:endParaRPr/>
          </a:p>
        </p:txBody>
      </p:sp>
      <p:sp>
        <p:nvSpPr>
          <p:cNvPr id="846" name="Google Shape;846;p69"/>
          <p:cNvSpPr txBox="1"/>
          <p:nvPr>
            <p:ph idx="1" type="body"/>
          </p:nvPr>
        </p:nvSpPr>
        <p:spPr>
          <a:xfrm>
            <a:off x="1554625" y="1324500"/>
            <a:ext cx="3218400" cy="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+</a:t>
            </a:r>
            <a:endParaRPr/>
          </a:p>
        </p:txBody>
      </p:sp>
      <p:sp>
        <p:nvSpPr>
          <p:cNvPr id="847" name="Google Shape;847;p69"/>
          <p:cNvSpPr txBox="1"/>
          <p:nvPr>
            <p:ph idx="1" type="body"/>
          </p:nvPr>
        </p:nvSpPr>
        <p:spPr>
          <a:xfrm>
            <a:off x="1807225" y="1324500"/>
            <a:ext cx="3118200" cy="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</a:t>
            </a:r>
            <a:endParaRPr/>
          </a:p>
        </p:txBody>
      </p:sp>
      <p:sp>
        <p:nvSpPr>
          <p:cNvPr id="848" name="Google Shape;848;p69"/>
          <p:cNvSpPr txBox="1"/>
          <p:nvPr>
            <p:ph idx="1" type="body"/>
          </p:nvPr>
        </p:nvSpPr>
        <p:spPr>
          <a:xfrm>
            <a:off x="2165275" y="1324500"/>
            <a:ext cx="2912700" cy="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+ </a:t>
            </a:r>
            <a:endParaRPr/>
          </a:p>
        </p:txBody>
      </p:sp>
      <p:sp>
        <p:nvSpPr>
          <p:cNvPr id="849" name="Google Shape;849;p69"/>
          <p:cNvSpPr txBox="1"/>
          <p:nvPr>
            <p:ph idx="1" type="body"/>
          </p:nvPr>
        </p:nvSpPr>
        <p:spPr>
          <a:xfrm>
            <a:off x="2424275" y="1324500"/>
            <a:ext cx="2806200" cy="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 =</a:t>
            </a:r>
            <a:endParaRPr/>
          </a:p>
        </p:txBody>
      </p:sp>
      <p:sp>
        <p:nvSpPr>
          <p:cNvPr id="850" name="Google Shape;850;p69"/>
          <p:cNvSpPr txBox="1"/>
          <p:nvPr>
            <p:ph idx="1" type="body"/>
          </p:nvPr>
        </p:nvSpPr>
        <p:spPr>
          <a:xfrm>
            <a:off x="3010775" y="1324500"/>
            <a:ext cx="2372100" cy="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 ×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by a mixed number</a:t>
            </a:r>
            <a:endParaRPr/>
          </a:p>
        </p:txBody>
      </p:sp>
      <p:sp>
        <p:nvSpPr>
          <p:cNvPr id="856" name="Google Shape;856;p70"/>
          <p:cNvSpPr txBox="1"/>
          <p:nvPr>
            <p:ph idx="1" type="body"/>
          </p:nvPr>
        </p:nvSpPr>
        <p:spPr>
          <a:xfrm>
            <a:off x="324000" y="759300"/>
            <a:ext cx="82377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13 × 24</a:t>
            </a:r>
            <a:endParaRPr/>
          </a:p>
        </p:txBody>
      </p:sp>
      <p:pic>
        <p:nvPicPr>
          <p:cNvPr id="857" name="Google Shape;857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9815" y="3542213"/>
            <a:ext cx="807760" cy="896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Google Shape;858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49026" y="3540524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70"/>
          <p:cNvSpPr txBox="1"/>
          <p:nvPr/>
        </p:nvSpPr>
        <p:spPr>
          <a:xfrm>
            <a:off x="368700" y="451327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70"/>
          <p:cNvSpPr txBox="1"/>
          <p:nvPr/>
        </p:nvSpPr>
        <p:spPr>
          <a:xfrm>
            <a:off x="7697375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61" name="Google Shape;861;p70"/>
          <p:cNvGrpSpPr/>
          <p:nvPr/>
        </p:nvGrpSpPr>
        <p:grpSpPr>
          <a:xfrm>
            <a:off x="5538725" y="2386375"/>
            <a:ext cx="2753775" cy="1316250"/>
            <a:chOff x="6072125" y="2005375"/>
            <a:chExt cx="2753775" cy="1316250"/>
          </a:xfrm>
        </p:grpSpPr>
        <p:pic>
          <p:nvPicPr>
            <p:cNvPr id="862" name="Google Shape;862;p70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6072125" y="2005375"/>
              <a:ext cx="2596224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3" name="Google Shape;863;p70"/>
            <p:cNvSpPr txBox="1"/>
            <p:nvPr/>
          </p:nvSpPr>
          <p:spPr>
            <a:xfrm>
              <a:off x="6197900" y="2031475"/>
              <a:ext cx="26280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Can you please remind me what it looked like?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64" name="Google Shape;864;p70"/>
          <p:cNvGrpSpPr/>
          <p:nvPr/>
        </p:nvGrpSpPr>
        <p:grpSpPr>
          <a:xfrm>
            <a:off x="1033048" y="2429475"/>
            <a:ext cx="3516477" cy="1894900"/>
            <a:chOff x="1642648" y="2810475"/>
            <a:chExt cx="3516477" cy="1894900"/>
          </a:xfrm>
        </p:grpSpPr>
        <p:pic>
          <p:nvPicPr>
            <p:cNvPr id="865" name="Google Shape;865;p70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642648" y="2810475"/>
              <a:ext cx="3516477" cy="1894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6" name="Google Shape;866;p70"/>
            <p:cNvSpPr txBox="1"/>
            <p:nvPr/>
          </p:nvSpPr>
          <p:spPr>
            <a:xfrm>
              <a:off x="1916775" y="2988975"/>
              <a:ext cx="31176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When we calculated 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something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 like this 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before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 we used the area model.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867" name="Google Shape;867;p70"/>
          <p:cNvGraphicFramePr/>
          <p:nvPr/>
        </p:nvGraphicFramePr>
        <p:xfrm>
          <a:off x="2229375" y="1276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{D0EAC774-30AF-439C-BE20-013861D11706}</a:tableStyleId>
              </a:tblPr>
              <a:tblGrid>
                <a:gridCol w="830875"/>
                <a:gridCol w="830875"/>
              </a:tblGrid>
              <a:tr h="524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524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868" name="Google Shape;868;p70"/>
          <p:cNvSpPr txBox="1"/>
          <p:nvPr/>
        </p:nvSpPr>
        <p:spPr>
          <a:xfrm>
            <a:off x="1721975" y="1409825"/>
            <a:ext cx="442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9" name="Google Shape;869;p70"/>
          <p:cNvSpPr txBox="1"/>
          <p:nvPr/>
        </p:nvSpPr>
        <p:spPr>
          <a:xfrm>
            <a:off x="2444400" y="923250"/>
            <a:ext cx="442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0" name="Google Shape;870;p70"/>
          <p:cNvSpPr txBox="1"/>
          <p:nvPr/>
        </p:nvSpPr>
        <p:spPr>
          <a:xfrm>
            <a:off x="1902729" y="1895379"/>
            <a:ext cx="2025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1" name="Google Shape;871;p70"/>
          <p:cNvSpPr txBox="1"/>
          <p:nvPr/>
        </p:nvSpPr>
        <p:spPr>
          <a:xfrm>
            <a:off x="3369604" y="923254"/>
            <a:ext cx="2025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70"/>
          <p:cNvSpPr txBox="1"/>
          <p:nvPr/>
        </p:nvSpPr>
        <p:spPr>
          <a:xfrm>
            <a:off x="4572000" y="769800"/>
            <a:ext cx="691500" cy="18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200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312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p70"/>
          <p:cNvSpPr txBox="1"/>
          <p:nvPr/>
        </p:nvSpPr>
        <p:spPr>
          <a:xfrm>
            <a:off x="4623154" y="1955279"/>
            <a:ext cx="2025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+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74" name="Google Shape;874;p70"/>
          <p:cNvCxnSpPr/>
          <p:nvPr/>
        </p:nvCxnSpPr>
        <p:spPr>
          <a:xfrm>
            <a:off x="4597700" y="2266925"/>
            <a:ext cx="726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5" name="Google Shape;875;p70"/>
          <p:cNvCxnSpPr/>
          <p:nvPr/>
        </p:nvCxnSpPr>
        <p:spPr>
          <a:xfrm>
            <a:off x="4597700" y="2658075"/>
            <a:ext cx="726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76" name="Google Shape;876;p70"/>
          <p:cNvGrpSpPr/>
          <p:nvPr/>
        </p:nvGrpSpPr>
        <p:grpSpPr>
          <a:xfrm>
            <a:off x="5532600" y="2786475"/>
            <a:ext cx="2706500" cy="896076"/>
            <a:chOff x="4824000" y="3552800"/>
            <a:chExt cx="2706500" cy="896076"/>
          </a:xfrm>
        </p:grpSpPr>
        <p:pic>
          <p:nvPicPr>
            <p:cNvPr id="877" name="Google Shape;877;p70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4824000" y="3552800"/>
              <a:ext cx="2596224" cy="8960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8" name="Google Shape;878;p70"/>
            <p:cNvSpPr txBox="1"/>
            <p:nvPr/>
          </p:nvSpPr>
          <p:spPr>
            <a:xfrm>
              <a:off x="4902500" y="3555475"/>
              <a:ext cx="26280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Oh yes, I remember now.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79" name="Google Shape;879;p70"/>
          <p:cNvSpPr/>
          <p:nvPr/>
        </p:nvSpPr>
        <p:spPr>
          <a:xfrm>
            <a:off x="2342625" y="1367625"/>
            <a:ext cx="576000" cy="31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70"/>
          <p:cNvSpPr/>
          <p:nvPr/>
        </p:nvSpPr>
        <p:spPr>
          <a:xfrm>
            <a:off x="3182850" y="1409825"/>
            <a:ext cx="576000" cy="31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70"/>
          <p:cNvSpPr/>
          <p:nvPr/>
        </p:nvSpPr>
        <p:spPr>
          <a:xfrm>
            <a:off x="2296425" y="1898550"/>
            <a:ext cx="576000" cy="31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2" name="Google Shape;882;p70"/>
          <p:cNvSpPr/>
          <p:nvPr/>
        </p:nvSpPr>
        <p:spPr>
          <a:xfrm>
            <a:off x="3136650" y="1940750"/>
            <a:ext cx="576000" cy="31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by a mixed number</a:t>
            </a:r>
            <a:endParaRPr/>
          </a:p>
        </p:txBody>
      </p:sp>
      <p:sp>
        <p:nvSpPr>
          <p:cNvPr id="888" name="Google Shape;888;p71"/>
          <p:cNvSpPr txBox="1"/>
          <p:nvPr>
            <p:ph idx="1" type="body"/>
          </p:nvPr>
        </p:nvSpPr>
        <p:spPr>
          <a:xfrm>
            <a:off x="1083625" y="1521300"/>
            <a:ext cx="395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+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3\ \frac{1}{3}&quot;&gt;&lt;mn&gt;3&lt;/mn&gt;&lt;mtext&gt;&lt;/mtext&gt;&lt;mfrac&gt;&lt;mn&gt;1&lt;/mn&gt;&lt;mn&gt;3&lt;/mn&gt;&lt;/mfrac&gt;&lt;/math&gt;" id="889" name="Google Shape;889;p71" title="3 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8799" y="1427040"/>
            <a:ext cx="395212" cy="560562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71"/>
          <p:cNvSpPr/>
          <p:nvPr/>
        </p:nvSpPr>
        <p:spPr>
          <a:xfrm>
            <a:off x="562800" y="1387338"/>
            <a:ext cx="442500" cy="6135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1" name="Google Shape;891;p71"/>
          <p:cNvSpPr/>
          <p:nvPr/>
        </p:nvSpPr>
        <p:spPr>
          <a:xfrm>
            <a:off x="1378696" y="1413813"/>
            <a:ext cx="442500" cy="6135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2" name="Google Shape;892;p71"/>
          <p:cNvSpPr/>
          <p:nvPr/>
        </p:nvSpPr>
        <p:spPr>
          <a:xfrm>
            <a:off x="2137880" y="1413813"/>
            <a:ext cx="442500" cy="6135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71"/>
          <p:cNvSpPr/>
          <p:nvPr/>
        </p:nvSpPr>
        <p:spPr>
          <a:xfrm>
            <a:off x="2948093" y="1413813"/>
            <a:ext cx="442500" cy="6135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4" name="Google Shape;894;p71"/>
          <p:cNvSpPr txBox="1"/>
          <p:nvPr/>
        </p:nvSpPr>
        <p:spPr>
          <a:xfrm>
            <a:off x="630208" y="1524725"/>
            <a:ext cx="30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5" name="Google Shape;895;p71"/>
          <p:cNvSpPr txBox="1"/>
          <p:nvPr/>
        </p:nvSpPr>
        <p:spPr>
          <a:xfrm>
            <a:off x="1442059" y="1551200"/>
            <a:ext cx="30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6" name="Google Shape;896;p71"/>
          <p:cNvSpPr txBox="1"/>
          <p:nvPr/>
        </p:nvSpPr>
        <p:spPr>
          <a:xfrm>
            <a:off x="2200258" y="1551200"/>
            <a:ext cx="30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7" name="Google Shape;897;p71"/>
          <p:cNvSpPr txBox="1"/>
          <p:nvPr/>
        </p:nvSpPr>
        <p:spPr>
          <a:xfrm>
            <a:off x="324000" y="810000"/>
            <a:ext cx="771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will take another look at this question from earlier.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8" name="Google Shape;898;p71"/>
          <p:cNvSpPr txBox="1"/>
          <p:nvPr/>
        </p:nvSpPr>
        <p:spPr>
          <a:xfrm>
            <a:off x="3071697" y="1572709"/>
            <a:ext cx="261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99" name="Google Shape;899;p71"/>
          <p:cNvGrpSpPr/>
          <p:nvPr/>
        </p:nvGrpSpPr>
        <p:grpSpPr>
          <a:xfrm>
            <a:off x="414411" y="1889900"/>
            <a:ext cx="2306254" cy="249600"/>
            <a:chOff x="318700" y="3449200"/>
            <a:chExt cx="1610400" cy="249600"/>
          </a:xfrm>
        </p:grpSpPr>
        <p:cxnSp>
          <p:nvCxnSpPr>
            <p:cNvPr id="900" name="Google Shape;900;p71"/>
            <p:cNvCxnSpPr/>
            <p:nvPr/>
          </p:nvCxnSpPr>
          <p:spPr>
            <a:xfrm>
              <a:off x="318700" y="3698800"/>
              <a:ext cx="16104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1" name="Google Shape;901;p71"/>
            <p:cNvCxnSpPr/>
            <p:nvPr/>
          </p:nvCxnSpPr>
          <p:spPr>
            <a:xfrm rot="10800000">
              <a:off x="338178" y="3449200"/>
              <a:ext cx="0" cy="2496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2" name="Google Shape;902;p71"/>
            <p:cNvCxnSpPr/>
            <p:nvPr/>
          </p:nvCxnSpPr>
          <p:spPr>
            <a:xfrm rot="10800000">
              <a:off x="1912087" y="3449200"/>
              <a:ext cx="0" cy="2496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03" name="Google Shape;903;p71"/>
          <p:cNvSpPr txBox="1"/>
          <p:nvPr/>
        </p:nvSpPr>
        <p:spPr>
          <a:xfrm>
            <a:off x="1195450" y="2324542"/>
            <a:ext cx="79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× 12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71"/>
          <p:cNvSpPr txBox="1"/>
          <p:nvPr/>
        </p:nvSpPr>
        <p:spPr>
          <a:xfrm>
            <a:off x="324000" y="2825100"/>
            <a:ext cx="41049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could have been calculated as 3 × 10 + 3 × 2.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5" name="Google Shape;905;p71"/>
          <p:cNvGrpSpPr/>
          <p:nvPr/>
        </p:nvGrpSpPr>
        <p:grpSpPr>
          <a:xfrm>
            <a:off x="2835170" y="1900200"/>
            <a:ext cx="645287" cy="249600"/>
            <a:chOff x="318700" y="3449200"/>
            <a:chExt cx="1610400" cy="249600"/>
          </a:xfrm>
        </p:grpSpPr>
        <p:cxnSp>
          <p:nvCxnSpPr>
            <p:cNvPr id="906" name="Google Shape;906;p71"/>
            <p:cNvCxnSpPr/>
            <p:nvPr/>
          </p:nvCxnSpPr>
          <p:spPr>
            <a:xfrm>
              <a:off x="318700" y="3698800"/>
              <a:ext cx="16104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7" name="Google Shape;907;p71"/>
            <p:cNvCxnSpPr/>
            <p:nvPr/>
          </p:nvCxnSpPr>
          <p:spPr>
            <a:xfrm rot="10800000">
              <a:off x="338178" y="3449200"/>
              <a:ext cx="0" cy="2496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8" name="Google Shape;908;p71"/>
            <p:cNvCxnSpPr/>
            <p:nvPr/>
          </p:nvCxnSpPr>
          <p:spPr>
            <a:xfrm rot="10800000">
              <a:off x="1912087" y="3449200"/>
              <a:ext cx="0" cy="2496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09" name="Google Shape;909;p71"/>
          <p:cNvSpPr txBox="1"/>
          <p:nvPr/>
        </p:nvSpPr>
        <p:spPr>
          <a:xfrm>
            <a:off x="3147900" y="2324542"/>
            <a:ext cx="79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12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3\ \frac{1}{3}&quot;&gt;&lt;mn&gt;3&lt;/mn&gt;&lt;mtext&gt;&lt;/mtext&gt;&lt;mfrac&gt;&lt;mn&gt;1&lt;/mn&gt;&lt;mn&gt;3&lt;/mn&gt;&lt;/mfrac&gt;&lt;/math&gt;" id="910" name="Google Shape;910;p71" title="3 one third"/>
          <p:cNvPicPr preferRelativeResize="0"/>
          <p:nvPr/>
        </p:nvPicPr>
        <p:blipFill rotWithShape="1">
          <a:blip r:embed="rId3">
            <a:alphaModFix/>
          </a:blip>
          <a:srcRect b="0" l="48660" r="0" t="0"/>
          <a:stretch/>
        </p:blipFill>
        <p:spPr>
          <a:xfrm>
            <a:off x="2887206" y="2226375"/>
            <a:ext cx="202900" cy="560550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71"/>
          <p:cNvSpPr txBox="1"/>
          <p:nvPr>
            <p:ph idx="1" type="body"/>
          </p:nvPr>
        </p:nvSpPr>
        <p:spPr>
          <a:xfrm>
            <a:off x="3480450" y="1521300"/>
            <a:ext cx="52338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= 12 ×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71"/>
          <p:cNvSpPr txBox="1"/>
          <p:nvPr>
            <p:ph idx="1" type="body"/>
          </p:nvPr>
        </p:nvSpPr>
        <p:spPr>
          <a:xfrm>
            <a:off x="1903200" y="1521300"/>
            <a:ext cx="3063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+</a:t>
            </a:r>
            <a:endParaRPr/>
          </a:p>
        </p:txBody>
      </p:sp>
      <p:sp>
        <p:nvSpPr>
          <p:cNvPr id="913" name="Google Shape;913;p71"/>
          <p:cNvSpPr txBox="1"/>
          <p:nvPr>
            <p:ph idx="1" type="body"/>
          </p:nvPr>
        </p:nvSpPr>
        <p:spPr>
          <a:xfrm>
            <a:off x="2665200" y="1521300"/>
            <a:ext cx="5448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+ </a:t>
            </a:r>
            <a:endParaRPr/>
          </a:p>
        </p:txBody>
      </p:sp>
      <p:pic>
        <p:nvPicPr>
          <p:cNvPr id="914" name="Google Shape;914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3904300"/>
            <a:ext cx="5310452" cy="6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by a mixed number</a:t>
            </a:r>
            <a:endParaRPr/>
          </a:p>
        </p:txBody>
      </p:sp>
      <p:grpSp>
        <p:nvGrpSpPr>
          <p:cNvPr id="920" name="Google Shape;920;p72"/>
          <p:cNvGrpSpPr/>
          <p:nvPr/>
        </p:nvGrpSpPr>
        <p:grpSpPr>
          <a:xfrm>
            <a:off x="5310125" y="2995975"/>
            <a:ext cx="2753775" cy="896076"/>
            <a:chOff x="4700525" y="2995975"/>
            <a:chExt cx="2753775" cy="896076"/>
          </a:xfrm>
        </p:grpSpPr>
        <p:pic>
          <p:nvPicPr>
            <p:cNvPr id="921" name="Google Shape;921;p72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>
              <a:off x="4700525" y="2995975"/>
              <a:ext cx="2596224" cy="8960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2" name="Google Shape;922;p72"/>
            <p:cNvSpPr txBox="1"/>
            <p:nvPr/>
          </p:nvSpPr>
          <p:spPr>
            <a:xfrm>
              <a:off x="4826300" y="3022075"/>
              <a:ext cx="26280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I don’t see 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why not.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3" name="Google Shape;923;p72"/>
          <p:cNvGrpSpPr/>
          <p:nvPr/>
        </p:nvGrpSpPr>
        <p:grpSpPr>
          <a:xfrm>
            <a:off x="1109252" y="2353275"/>
            <a:ext cx="3181348" cy="1894900"/>
            <a:chOff x="1109252" y="2353275"/>
            <a:chExt cx="3181348" cy="1894900"/>
          </a:xfrm>
        </p:grpSpPr>
        <p:pic>
          <p:nvPicPr>
            <p:cNvPr id="924" name="Google Shape;924;p72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 flipH="1">
              <a:off x="1109252" y="2353275"/>
              <a:ext cx="3181348" cy="1894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5" name="Google Shape;925;p72"/>
            <p:cNvSpPr txBox="1"/>
            <p:nvPr/>
          </p:nvSpPr>
          <p:spPr>
            <a:xfrm>
              <a:off x="1383375" y="2531775"/>
              <a:ext cx="28014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Do you think we could use the same method for this question?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26" name="Google Shape;926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810000"/>
            <a:ext cx="1227000" cy="61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27" name="Google Shape;927;p72"/>
          <p:cNvGraphicFramePr/>
          <p:nvPr/>
        </p:nvGraphicFramePr>
        <p:xfrm>
          <a:off x="2762775" y="1276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{D0EAC774-30AF-439C-BE20-013861D11706}</a:tableStyleId>
              </a:tblPr>
              <a:tblGrid>
                <a:gridCol w="830875"/>
                <a:gridCol w="830875"/>
              </a:tblGrid>
              <a:tr h="524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524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928" name="Google Shape;928;p72"/>
          <p:cNvSpPr txBox="1"/>
          <p:nvPr/>
        </p:nvSpPr>
        <p:spPr>
          <a:xfrm>
            <a:off x="2255375" y="1409825"/>
            <a:ext cx="442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72"/>
          <p:cNvSpPr txBox="1"/>
          <p:nvPr/>
        </p:nvSpPr>
        <p:spPr>
          <a:xfrm>
            <a:off x="2977800" y="923250"/>
            <a:ext cx="442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0" name="Google Shape;930;p72"/>
          <p:cNvSpPr txBox="1"/>
          <p:nvPr/>
        </p:nvSpPr>
        <p:spPr>
          <a:xfrm>
            <a:off x="3903004" y="923254"/>
            <a:ext cx="2025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1" name="Google Shape;931;p72"/>
          <p:cNvPicPr preferRelativeResize="0"/>
          <p:nvPr/>
        </p:nvPicPr>
        <p:blipFill rotWithShape="1">
          <a:blip r:embed="rId4">
            <a:alphaModFix/>
          </a:blip>
          <a:srcRect b="0" l="18700" r="48946" t="0"/>
          <a:stretch/>
        </p:blipFill>
        <p:spPr>
          <a:xfrm>
            <a:off x="2345150" y="1856150"/>
            <a:ext cx="263250" cy="406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0}{12}&quot;&gt;&lt;mfrac&gt;&lt;mn&gt;100&lt;/mn&gt;&lt;mn&gt;12&lt;/mn&gt;&lt;/mfrac&gt;&lt;/math&gt;" id="932" name="Google Shape;932;p72" title="100 over 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86475" y="1860076"/>
            <a:ext cx="322933" cy="4029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0}{12}&quot;&gt;&lt;mfrac&gt;&lt;mn&gt;40&lt;/mn&gt;&lt;mn&gt;12&lt;/mn&gt;&lt;/mfrac&gt;&lt;/math&gt;" id="933" name="Google Shape;933;p72" title="40 over 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96832" y="1860076"/>
            <a:ext cx="218981" cy="4029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4" name="Google Shape;934;p72"/>
          <p:cNvGrpSpPr/>
          <p:nvPr/>
        </p:nvGrpSpPr>
        <p:grpSpPr>
          <a:xfrm>
            <a:off x="4847326" y="806688"/>
            <a:ext cx="2240400" cy="402924"/>
            <a:chOff x="4847326" y="806688"/>
            <a:chExt cx="2240400" cy="402924"/>
          </a:xfrm>
        </p:grpSpPr>
        <p:sp>
          <p:nvSpPr>
            <p:cNvPr id="935" name="Google Shape;935;p72"/>
            <p:cNvSpPr txBox="1"/>
            <p:nvPr/>
          </p:nvSpPr>
          <p:spPr>
            <a:xfrm>
              <a:off x="4847326" y="851400"/>
              <a:ext cx="2240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40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00}{12}&quot;&gt;&lt;mfrac&gt;&lt;mn&gt;100&lt;/mn&gt;&lt;mn&gt;12&lt;/mn&gt;&lt;/mfrac&gt;&lt;/math&gt;" id="936" name="Google Shape;936;p72" title="100 over 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095338" y="806688"/>
              <a:ext cx="322933" cy="4029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40}{12}&quot;&gt;&lt;mfrac&gt;&lt;mn&gt;40&lt;/mn&gt;&lt;mn&gt;12&lt;/mn&gt;&lt;/mfrac&gt;&lt;/math&gt;" id="937" name="Google Shape;937;p72" title="40 over 1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770482" y="806688"/>
              <a:ext cx="218981" cy="4029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38" name="Google Shape;938;p72"/>
          <p:cNvGrpSpPr/>
          <p:nvPr/>
        </p:nvGrpSpPr>
        <p:grpSpPr>
          <a:xfrm>
            <a:off x="4824000" y="1395825"/>
            <a:ext cx="1271350" cy="579779"/>
            <a:chOff x="4824000" y="1395825"/>
            <a:chExt cx="1271350" cy="579779"/>
          </a:xfrm>
        </p:grpSpPr>
        <p:sp>
          <p:nvSpPr>
            <p:cNvPr id="939" name="Google Shape;939;p72"/>
            <p:cNvSpPr txBox="1"/>
            <p:nvPr/>
          </p:nvSpPr>
          <p:spPr>
            <a:xfrm>
              <a:off x="4824000" y="1492100"/>
              <a:ext cx="8853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= 5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6 +      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40}{12}&quot;&gt;&lt;mfrac&gt;&lt;mn&gt;140&lt;/mn&gt;&lt;mn&gt;12&lt;/mn&gt;&lt;/mfrac&gt;&lt;/math&gt;" id="940" name="Google Shape;940;p72" title="140 over 1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637409" y="1395825"/>
              <a:ext cx="457941" cy="57977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41" name="Google Shape;941;p72"/>
          <p:cNvGrpSpPr/>
          <p:nvPr/>
        </p:nvGrpSpPr>
        <p:grpSpPr>
          <a:xfrm>
            <a:off x="6197900" y="1359331"/>
            <a:ext cx="1207679" cy="579780"/>
            <a:chOff x="6197900" y="1359331"/>
            <a:chExt cx="1207679" cy="579780"/>
          </a:xfrm>
        </p:grpSpPr>
        <p:pic>
          <p:nvPicPr>
            <p:cNvPr descr="&lt;math xmlns=&quot;http://www.w3.org/1998/Math/MathML&quot; display=&quot;block&quot; data-is-equatio=&quot;1&quot; data-latex=&quot;\frac{35}{3}&quot;&gt;&lt;mfrac&gt;&lt;mn&gt;35&lt;/mn&gt;&lt;mn&gt;3&lt;/mn&gt;&lt;/mfrac&gt;&lt;/math&gt;" id="942" name="Google Shape;942;p72" title="35 over 3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087775" y="1359331"/>
              <a:ext cx="317805" cy="5797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3" name="Google Shape;943;p72"/>
            <p:cNvSpPr txBox="1"/>
            <p:nvPr/>
          </p:nvSpPr>
          <p:spPr>
            <a:xfrm>
              <a:off x="6197900" y="1492481"/>
              <a:ext cx="8853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= 56 +      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44" name="Google Shape;944;p72"/>
          <p:cNvGrpSpPr/>
          <p:nvPr/>
        </p:nvGrpSpPr>
        <p:grpSpPr>
          <a:xfrm>
            <a:off x="4824000" y="2159998"/>
            <a:ext cx="1343248" cy="578670"/>
            <a:chOff x="4824000" y="2159998"/>
            <a:chExt cx="1343248" cy="578670"/>
          </a:xfrm>
        </p:grpSpPr>
        <p:pic>
          <p:nvPicPr>
            <p:cNvPr descr="&lt;math xmlns=&quot;http://www.w3.org/1998/Math/MathML&quot; display=&quot;block&quot; data-is-equatio=&quot;1&quot; data-latex=&quot;11\frac{2}{3}&quot;&gt;&lt;mn&gt;11&lt;/mn&gt;&lt;mfrac&gt;&lt;mn&gt;2&lt;/mn&gt;&lt;mn&gt;3&lt;/mn&gt;&lt;/mfrac&gt;&lt;/math&gt;" id="945" name="Google Shape;945;p72" title="11 and two thirds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5709308" y="2159998"/>
              <a:ext cx="457940" cy="5786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6" name="Google Shape;946;p72"/>
            <p:cNvSpPr txBox="1"/>
            <p:nvPr/>
          </p:nvSpPr>
          <p:spPr>
            <a:xfrm>
              <a:off x="4824000" y="2261125"/>
              <a:ext cx="8853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= 56 +      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47" name="Google Shape;947;p72"/>
          <p:cNvGrpSpPr/>
          <p:nvPr/>
        </p:nvGrpSpPr>
        <p:grpSpPr>
          <a:xfrm>
            <a:off x="6293300" y="2187738"/>
            <a:ext cx="803711" cy="611378"/>
            <a:chOff x="6293300" y="2187738"/>
            <a:chExt cx="803711" cy="611378"/>
          </a:xfrm>
        </p:grpSpPr>
        <p:pic>
          <p:nvPicPr>
            <p:cNvPr descr="&lt;math xmlns=&quot;http://www.w3.org/1998/Math/MathML&quot; display=&quot;block&quot; data-is-equatio=&quot;1&quot; data-latex=&quot;67\frac{2}{3}&quot;&gt;&lt;mn&gt;67&lt;/mn&gt;&lt;mfrac&gt;&lt;mn&gt;2&lt;/mn&gt;&lt;mn&gt;3&lt;/mn&gt;&lt;/mfrac&gt;&lt;/math&gt;" id="948" name="Google Shape;948;p72" title="67 and two thirds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6616088" y="2217825"/>
              <a:ext cx="480923" cy="5812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9" name="Google Shape;949;p72"/>
            <p:cNvSpPr txBox="1"/>
            <p:nvPr/>
          </p:nvSpPr>
          <p:spPr>
            <a:xfrm>
              <a:off x="6293300" y="2187738"/>
              <a:ext cx="322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=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50" name="Google Shape;950;p7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759815" y="3542213"/>
            <a:ext cx="807760" cy="896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p7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 flipH="1">
            <a:off x="349026" y="3540524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72"/>
          <p:cNvSpPr txBox="1"/>
          <p:nvPr/>
        </p:nvSpPr>
        <p:spPr>
          <a:xfrm>
            <a:off x="368700" y="451327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72"/>
          <p:cNvSpPr txBox="1"/>
          <p:nvPr/>
        </p:nvSpPr>
        <p:spPr>
          <a:xfrm>
            <a:off x="7697375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72"/>
          <p:cNvSpPr/>
          <p:nvPr/>
        </p:nvSpPr>
        <p:spPr>
          <a:xfrm>
            <a:off x="2899500" y="1391663"/>
            <a:ext cx="576000" cy="31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72"/>
          <p:cNvSpPr/>
          <p:nvPr/>
        </p:nvSpPr>
        <p:spPr>
          <a:xfrm>
            <a:off x="3716250" y="1367863"/>
            <a:ext cx="576000" cy="31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6" name="Google Shape;956;p72"/>
          <p:cNvSpPr/>
          <p:nvPr/>
        </p:nvSpPr>
        <p:spPr>
          <a:xfrm>
            <a:off x="2911200" y="1840985"/>
            <a:ext cx="576000" cy="454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72"/>
          <p:cNvSpPr/>
          <p:nvPr/>
        </p:nvSpPr>
        <p:spPr>
          <a:xfrm>
            <a:off x="3718325" y="1840985"/>
            <a:ext cx="576000" cy="454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58" name="Google Shape;958;p72"/>
          <p:cNvGrpSpPr/>
          <p:nvPr/>
        </p:nvGrpSpPr>
        <p:grpSpPr>
          <a:xfrm>
            <a:off x="5260226" y="851400"/>
            <a:ext cx="2697349" cy="313500"/>
            <a:chOff x="5260226" y="851400"/>
            <a:chExt cx="2697349" cy="313500"/>
          </a:xfrm>
        </p:grpSpPr>
        <p:sp>
          <p:nvSpPr>
            <p:cNvPr id="959" name="Google Shape;959;p72"/>
            <p:cNvSpPr txBox="1"/>
            <p:nvPr/>
          </p:nvSpPr>
          <p:spPr>
            <a:xfrm>
              <a:off x="5260226" y="851400"/>
              <a:ext cx="2240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0" name="Google Shape;960;p72"/>
            <p:cNvSpPr txBox="1"/>
            <p:nvPr/>
          </p:nvSpPr>
          <p:spPr>
            <a:xfrm>
              <a:off x="5528625" y="851400"/>
              <a:ext cx="21243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16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1" name="Google Shape;961;p72"/>
            <p:cNvSpPr txBox="1"/>
            <p:nvPr/>
          </p:nvSpPr>
          <p:spPr>
            <a:xfrm>
              <a:off x="5886775" y="851400"/>
              <a:ext cx="19185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2" name="Google Shape;962;p72"/>
            <p:cNvSpPr txBox="1"/>
            <p:nvPr/>
          </p:nvSpPr>
          <p:spPr>
            <a:xfrm>
              <a:off x="6525675" y="851400"/>
              <a:ext cx="14319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by a mixed number</a:t>
            </a:r>
            <a:endParaRPr/>
          </a:p>
        </p:txBody>
      </p:sp>
      <p:graphicFrame>
        <p:nvGraphicFramePr>
          <p:cNvPr id="968" name="Google Shape;968;p73"/>
          <p:cNvGraphicFramePr/>
          <p:nvPr/>
        </p:nvGraphicFramePr>
        <p:xfrm>
          <a:off x="2762775" y="2114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{D0EAC774-30AF-439C-BE20-013861D11706}</a:tableStyleId>
              </a:tblPr>
              <a:tblGrid>
                <a:gridCol w="830875"/>
                <a:gridCol w="830875"/>
              </a:tblGrid>
              <a:tr h="524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524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969" name="Google Shape;969;p73"/>
          <p:cNvSpPr txBox="1"/>
          <p:nvPr/>
        </p:nvSpPr>
        <p:spPr>
          <a:xfrm>
            <a:off x="2255375" y="2248025"/>
            <a:ext cx="442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0" name="Google Shape;970;p73"/>
          <p:cNvSpPr txBox="1"/>
          <p:nvPr/>
        </p:nvSpPr>
        <p:spPr>
          <a:xfrm>
            <a:off x="2977800" y="1761450"/>
            <a:ext cx="442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73"/>
          <p:cNvSpPr txBox="1"/>
          <p:nvPr/>
        </p:nvSpPr>
        <p:spPr>
          <a:xfrm>
            <a:off x="3903004" y="1761454"/>
            <a:ext cx="2025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\ \frac{7}{8}\ \times32&quot;&gt;&lt;mn&gt;1&lt;/mn&gt;&lt;mtext&gt;&lt;/mtext&gt;&lt;mfrac&gt;&lt;mn&gt;7&lt;/mn&gt;&lt;mn&gt;8&lt;/mn&gt;&lt;/mfrac&gt;&lt;mtext&gt;&lt;/mtext&gt;&lt;mo&gt;×&lt;/mo&gt;&lt;mn&gt;32&lt;/mn&gt;&lt;/math&gt;" id="972" name="Google Shape;972;p73" title="1 seven eighths times 32"/>
          <p:cNvPicPr preferRelativeResize="0"/>
          <p:nvPr/>
        </p:nvPicPr>
        <p:blipFill rotWithShape="1">
          <a:blip r:embed="rId3">
            <a:alphaModFix/>
          </a:blip>
          <a:srcRect b="0" l="13880" r="59856" t="0"/>
          <a:stretch/>
        </p:blipFill>
        <p:spPr>
          <a:xfrm>
            <a:off x="2375525" y="2690341"/>
            <a:ext cx="202500" cy="4170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10}{8}&quot;&gt;&lt;mfrac&gt;&lt;mn&gt;210&lt;/mn&gt;&lt;mn&gt;8&lt;/mn&gt;&lt;/mfrac&gt;&lt;/math&gt;" id="973" name="Google Shape;973;p73" title="210 over 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6863" y="2691835"/>
            <a:ext cx="324685" cy="4140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\ \frac{7}{8}\ \times34&quot;&gt;&lt;mn&gt;1&lt;/mn&gt;&lt;mtext&gt;&lt;/mtext&gt;&lt;mfrac&gt;&lt;mn&gt;7&lt;/mn&gt;&lt;mn&gt;8&lt;/mn&gt;&lt;/mfrac&gt;&lt;mtext&gt;&lt;/mtext&gt;&lt;mo&gt;×&lt;/mo&gt;&lt;mn&gt;34&lt;/mn&gt;&lt;/math&gt;" id="974" name="Google Shape;974;p73" title="1 seven eighths times 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4644" y="1648194"/>
            <a:ext cx="1229125" cy="6647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8}{8}&quot;&gt;&lt;mfrac&gt;&lt;mn&gt;28&lt;/mn&gt;&lt;mn&gt;8&lt;/mn&gt;&lt;/mfrac&gt;&lt;/math&gt;" id="975" name="Google Shape;975;p73" title="28 over 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92225" y="2691242"/>
            <a:ext cx="224050" cy="41523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6" name="Google Shape;976;p73"/>
          <p:cNvGrpSpPr/>
          <p:nvPr/>
        </p:nvGrpSpPr>
        <p:grpSpPr>
          <a:xfrm>
            <a:off x="4847326" y="1867329"/>
            <a:ext cx="2240400" cy="415239"/>
            <a:chOff x="4847326" y="1029129"/>
            <a:chExt cx="2240400" cy="415239"/>
          </a:xfrm>
        </p:grpSpPr>
        <p:sp>
          <p:nvSpPr>
            <p:cNvPr id="977" name="Google Shape;977;p73"/>
            <p:cNvSpPr txBox="1"/>
            <p:nvPr/>
          </p:nvSpPr>
          <p:spPr>
            <a:xfrm>
              <a:off x="4847326" y="1080000"/>
              <a:ext cx="22404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3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0 + 4 +      +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210}{8}&quot;&gt;&lt;mfrac&gt;&lt;mn&gt;210&lt;/mn&gt;&lt;mn&gt;8&lt;/mn&gt;&lt;/mfrac&gt;&lt;/math&gt;" id="978" name="Google Shape;978;p73" title="210 over 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932113" y="1029735"/>
              <a:ext cx="324685" cy="4140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28}{8}&quot;&gt;&lt;mfrac&gt;&lt;mn&gt;28&lt;/mn&gt;&lt;mn&gt;8&lt;/mn&gt;&lt;/mfrac&gt;&lt;/math&gt;" id="979" name="Google Shape;979;p73" title="28 over 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616100" y="1029129"/>
              <a:ext cx="224050" cy="41523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80" name="Google Shape;980;p73"/>
          <p:cNvGrpSpPr/>
          <p:nvPr/>
        </p:nvGrpSpPr>
        <p:grpSpPr>
          <a:xfrm>
            <a:off x="4824000" y="2469304"/>
            <a:ext cx="1275075" cy="414035"/>
            <a:chOff x="4824000" y="1631104"/>
            <a:chExt cx="1275075" cy="414035"/>
          </a:xfrm>
        </p:grpSpPr>
        <p:sp>
          <p:nvSpPr>
            <p:cNvPr id="981" name="Google Shape;981;p73"/>
            <p:cNvSpPr txBox="1"/>
            <p:nvPr/>
          </p:nvSpPr>
          <p:spPr>
            <a:xfrm>
              <a:off x="4824000" y="1644500"/>
              <a:ext cx="8853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= 34 +      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238}{8}&quot;&gt;&lt;mfrac&gt;&lt;mn&gt;238&lt;/mn&gt;&lt;mn&gt;8&lt;/mn&gt;&lt;/mfrac&gt;&lt;/math&gt;" id="982" name="Google Shape;982;p73" title="238 over 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774400" y="1631104"/>
              <a:ext cx="324675" cy="4140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83" name="Google Shape;983;p73"/>
          <p:cNvGrpSpPr/>
          <p:nvPr/>
        </p:nvGrpSpPr>
        <p:grpSpPr>
          <a:xfrm>
            <a:off x="6197900" y="2482692"/>
            <a:ext cx="1190833" cy="417025"/>
            <a:chOff x="6197900" y="1644492"/>
            <a:chExt cx="1190833" cy="417025"/>
          </a:xfrm>
        </p:grpSpPr>
        <p:sp>
          <p:nvSpPr>
            <p:cNvPr id="984" name="Google Shape;984;p73"/>
            <p:cNvSpPr txBox="1"/>
            <p:nvPr/>
          </p:nvSpPr>
          <p:spPr>
            <a:xfrm>
              <a:off x="6197900" y="1681363"/>
              <a:ext cx="8853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= 34 +      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19}{4}&quot;&gt;&lt;mfrac&gt;&lt;mn&gt;119&lt;/mn&gt;&lt;mn&gt;4&lt;/mn&gt;&lt;/mfrac&gt;&lt;/math&gt;" id="985" name="Google Shape;985;p73" title="119 over 4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054500" y="1644492"/>
              <a:ext cx="334233" cy="417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86" name="Google Shape;986;p73"/>
          <p:cNvGrpSpPr/>
          <p:nvPr/>
        </p:nvGrpSpPr>
        <p:grpSpPr>
          <a:xfrm>
            <a:off x="4824000" y="3070667"/>
            <a:ext cx="1313642" cy="417025"/>
            <a:chOff x="4824000" y="2232467"/>
            <a:chExt cx="1313642" cy="417025"/>
          </a:xfrm>
        </p:grpSpPr>
        <p:sp>
          <p:nvSpPr>
            <p:cNvPr id="987" name="Google Shape;987;p73"/>
            <p:cNvSpPr txBox="1"/>
            <p:nvPr/>
          </p:nvSpPr>
          <p:spPr>
            <a:xfrm>
              <a:off x="4824000" y="2261125"/>
              <a:ext cx="8853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= 34 +      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29\ \frac{3}{4}&quot;&gt;&lt;mn&gt;29&lt;/mn&gt;&lt;mtext&gt;&lt;/mtext&gt;&lt;mfrac&gt;&lt;mn&gt;3&lt;/mn&gt;&lt;mn&gt;4&lt;/mn&gt;&lt;/mfrac&gt;&lt;/math&gt;" id="988" name="Google Shape;988;p73" title="29 three fourths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5735838" y="2232467"/>
              <a:ext cx="401805" cy="417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89" name="Google Shape;989;p73"/>
          <p:cNvGrpSpPr/>
          <p:nvPr/>
        </p:nvGrpSpPr>
        <p:grpSpPr>
          <a:xfrm>
            <a:off x="6197900" y="2994463"/>
            <a:ext cx="758725" cy="523200"/>
            <a:chOff x="6197900" y="2156263"/>
            <a:chExt cx="758725" cy="523200"/>
          </a:xfrm>
        </p:grpSpPr>
        <p:sp>
          <p:nvSpPr>
            <p:cNvPr id="990" name="Google Shape;990;p73"/>
            <p:cNvSpPr txBox="1"/>
            <p:nvPr/>
          </p:nvSpPr>
          <p:spPr>
            <a:xfrm>
              <a:off x="6197900" y="2156263"/>
              <a:ext cx="322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=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63\ \frac{3}{4}&quot;&gt;&lt;mn&gt;63&lt;/mn&gt;&lt;mtext&gt;&lt;/mtext&gt;&lt;mfrac&gt;&lt;mn&gt;3&lt;/mn&gt;&lt;mn&gt;4&lt;/mn&gt;&lt;/mfrac&gt;&lt;/math&gt;" id="991" name="Google Shape;991;p73" title="63 three fourths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6554825" y="2249674"/>
              <a:ext cx="401800" cy="42021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92" name="Google Shape;992;p73"/>
          <p:cNvSpPr/>
          <p:nvPr/>
        </p:nvSpPr>
        <p:spPr>
          <a:xfrm>
            <a:off x="2899500" y="2229863"/>
            <a:ext cx="576000" cy="31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3" name="Google Shape;993;p73"/>
          <p:cNvSpPr/>
          <p:nvPr/>
        </p:nvSpPr>
        <p:spPr>
          <a:xfrm>
            <a:off x="3716250" y="2206063"/>
            <a:ext cx="576000" cy="31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73"/>
          <p:cNvSpPr/>
          <p:nvPr/>
        </p:nvSpPr>
        <p:spPr>
          <a:xfrm>
            <a:off x="2911200" y="2679185"/>
            <a:ext cx="576000" cy="454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5" name="Google Shape;995;p73"/>
          <p:cNvSpPr/>
          <p:nvPr/>
        </p:nvSpPr>
        <p:spPr>
          <a:xfrm>
            <a:off x="3718325" y="2679185"/>
            <a:ext cx="576000" cy="454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6" name="Google Shape;996;p73"/>
          <p:cNvSpPr txBox="1"/>
          <p:nvPr/>
        </p:nvSpPr>
        <p:spPr>
          <a:xfrm>
            <a:off x="324000" y="810000"/>
            <a:ext cx="771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Calculate this product using the area model.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74"/>
          <p:cNvSpPr txBox="1"/>
          <p:nvPr/>
        </p:nvSpPr>
        <p:spPr>
          <a:xfrm>
            <a:off x="7442575" y="2976775"/>
            <a:ext cx="720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     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2" name="Google Shape;1002;p74"/>
          <p:cNvSpPr/>
          <p:nvPr/>
        </p:nvSpPr>
        <p:spPr>
          <a:xfrm>
            <a:off x="7386800" y="2917800"/>
            <a:ext cx="318600" cy="5031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03" name="Google Shape;1003;p74"/>
          <p:cNvGraphicFramePr/>
          <p:nvPr/>
        </p:nvGraphicFramePr>
        <p:xfrm>
          <a:off x="2762775" y="2572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{D0EAC774-30AF-439C-BE20-013861D11706}</a:tableStyleId>
              </a:tblPr>
              <a:tblGrid>
                <a:gridCol w="830875"/>
                <a:gridCol w="830875"/>
              </a:tblGrid>
              <a:tr h="524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524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004" name="Google Shape;1004;p74"/>
          <p:cNvSpPr/>
          <p:nvPr/>
        </p:nvSpPr>
        <p:spPr>
          <a:xfrm>
            <a:off x="3050950" y="3115225"/>
            <a:ext cx="318600" cy="5031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by a mixed number</a:t>
            </a:r>
            <a:endParaRPr/>
          </a:p>
        </p:txBody>
      </p:sp>
      <p:sp>
        <p:nvSpPr>
          <p:cNvPr id="1006" name="Google Shape;1006;p74"/>
          <p:cNvSpPr txBox="1"/>
          <p:nvPr>
            <p:ph idx="1" type="body"/>
          </p:nvPr>
        </p:nvSpPr>
        <p:spPr>
          <a:xfrm>
            <a:off x="324000" y="759300"/>
            <a:ext cx="82377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Spot and correct the mistakes in the method to calculate: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\ \frac{2}{3}\times14&quot;&gt;&lt;mn&gt;2&lt;/mn&gt;&lt;mtext&gt;&lt;/mtext&gt;&lt;mfrac&gt;&lt;mn&gt;2&lt;/mn&gt;&lt;mn&gt;3&lt;/mn&gt;&lt;/mfrac&gt;&lt;mo&gt;×&lt;/mo&gt;&lt;mn&gt;14&lt;/mn&gt;&lt;/math&gt;" id="1007" name="Google Shape;1007;p74" title="2 two thirds times 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4225" y="1227575"/>
            <a:ext cx="1235550" cy="70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74"/>
          <p:cNvSpPr txBox="1"/>
          <p:nvPr/>
        </p:nvSpPr>
        <p:spPr>
          <a:xfrm>
            <a:off x="2255375" y="2705225"/>
            <a:ext cx="442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74"/>
          <p:cNvSpPr txBox="1"/>
          <p:nvPr/>
        </p:nvSpPr>
        <p:spPr>
          <a:xfrm>
            <a:off x="3020902" y="2218650"/>
            <a:ext cx="442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74"/>
          <p:cNvSpPr txBox="1"/>
          <p:nvPr/>
        </p:nvSpPr>
        <p:spPr>
          <a:xfrm>
            <a:off x="3903004" y="2218654"/>
            <a:ext cx="2025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1" name="Google Shape;1011;p74"/>
          <p:cNvSpPr txBox="1"/>
          <p:nvPr/>
        </p:nvSpPr>
        <p:spPr>
          <a:xfrm>
            <a:off x="4847326" y="2375400"/>
            <a:ext cx="2240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2" name="Google Shape;1012;p74"/>
          <p:cNvSpPr txBox="1"/>
          <p:nvPr/>
        </p:nvSpPr>
        <p:spPr>
          <a:xfrm>
            <a:off x="4821950" y="2961950"/>
            <a:ext cx="13161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3" name="Google Shape;1013;p74"/>
          <p:cNvSpPr txBox="1"/>
          <p:nvPr/>
        </p:nvSpPr>
        <p:spPr>
          <a:xfrm>
            <a:off x="6578900" y="2976775"/>
            <a:ext cx="11265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4" name="Google Shape;1014;p74"/>
          <p:cNvSpPr txBox="1"/>
          <p:nvPr/>
        </p:nvSpPr>
        <p:spPr>
          <a:xfrm>
            <a:off x="4824000" y="355652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31     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\ \frac{2}{3}\times14&quot;&gt;&lt;mn&gt;2&lt;/mn&gt;&lt;mtext&gt;&lt;/mtext&gt;&lt;mfrac&gt;&lt;mn&gt;2&lt;/mn&gt;&lt;mn&gt;3&lt;/mn&gt;&lt;/mfrac&gt;&lt;mo&gt;×&lt;/mo&gt;&lt;mn&gt;14&lt;/mn&gt;&lt;/math&gt;" id="1015" name="Google Shape;1015;p74" title="2 two thirds times 14"/>
          <p:cNvPicPr preferRelativeResize="0"/>
          <p:nvPr/>
        </p:nvPicPr>
        <p:blipFill rotWithShape="1">
          <a:blip r:embed="rId3">
            <a:alphaModFix/>
          </a:blip>
          <a:srcRect b="0" l="22302" r="55207" t="0"/>
          <a:stretch/>
        </p:blipFill>
        <p:spPr>
          <a:xfrm>
            <a:off x="2420075" y="3166300"/>
            <a:ext cx="163800" cy="414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3}&quot;&gt;&lt;mfrac&gt;&lt;mn&gt;8&lt;/mn&gt;&lt;mn&gt;3&lt;/mn&gt;&lt;/mfrac&gt;&lt;/math&gt;" id="1016" name="Google Shape;1016;p74" title="eight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1563" y="3166300"/>
            <a:ext cx="125365" cy="414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3}&quot;&gt;&lt;mfrac&gt;&lt;mn&gt;8&lt;/mn&gt;&lt;mn&gt;3&lt;/mn&gt;&lt;/mfrac&gt;&lt;/math&gt;" id="1017" name="Google Shape;1017;p74" title="eight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1538" y="2364300"/>
            <a:ext cx="125365" cy="414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 \frac{2}{3}\times14&quot;&gt;&lt;mn&gt;2&lt;/mn&gt;&lt;mtext&gt;&lt;/mtext&gt;&lt;mfrac&gt;&lt;mn&gt;2&lt;/mn&gt;&lt;mn&gt;3&lt;/mn&gt;&lt;/mfrac&gt;&lt;mo&gt;×&lt;/mo&gt;&lt;mn&gt;14&lt;/mn&gt;&lt;/math&gt;" id="1018" name="Google Shape;1018;p74" title="2 two thirds times 14"/>
          <p:cNvPicPr preferRelativeResize="0"/>
          <p:nvPr/>
        </p:nvPicPr>
        <p:blipFill rotWithShape="1">
          <a:blip r:embed="rId3">
            <a:alphaModFix/>
          </a:blip>
          <a:srcRect b="0" l="22302" r="55207" t="0"/>
          <a:stretch/>
        </p:blipFill>
        <p:spPr>
          <a:xfrm>
            <a:off x="5715184" y="2926075"/>
            <a:ext cx="163800" cy="414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frac{1}{3}&quot;&gt;&lt;mn&gt;2&lt;/mn&gt;&lt;mfrac&gt;&lt;mn&gt;1&lt;/mn&gt;&lt;mn&gt;3&lt;/mn&gt;&lt;/mfrac&gt;&lt;/math&gt;" id="1019" name="Google Shape;1019;p74" title="2 and 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36925" y="2926067"/>
            <a:ext cx="244761" cy="414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}{30}&quot;&gt;&lt;mfrac&gt;&lt;mn&gt;20&lt;/mn&gt;&lt;mn&gt;30&lt;/mn&gt;&lt;/mfrac&gt;&lt;/math&gt;" id="1020" name="Google Shape;1020;p74" title="20 over 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76825" y="3124266"/>
            <a:ext cx="244750" cy="4536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}{30}&quot;&gt;&lt;mfrac&gt;&lt;mn&gt;20&lt;/mn&gt;&lt;mn&gt;30&lt;/mn&gt;&lt;/mfrac&gt;&lt;/math&gt;" id="1021" name="Google Shape;1021;p74" title="20 over 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92175" y="2344941"/>
            <a:ext cx="244750" cy="4536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}{3}&quot;&gt;&lt;mfrac&gt;&lt;mn&gt;20&lt;/mn&gt;&lt;mn&gt;3&lt;/mn&gt;&lt;/mfrac&gt;&lt;/math&gt;" id="1022" name="Google Shape;1022;p74" title="20 over 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81075" y="3137881"/>
            <a:ext cx="236250" cy="43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3" name="Google Shape;1023;p74"/>
          <p:cNvSpPr txBox="1"/>
          <p:nvPr/>
        </p:nvSpPr>
        <p:spPr>
          <a:xfrm>
            <a:off x="4824000" y="355652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     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\ \frac{2}{3}&quot;&gt;&lt;mn&gt;2&lt;/mn&gt;&lt;mtext&gt;&lt;/mtext&gt;&lt;mfrac&gt;&lt;mn&gt;2&lt;/mn&gt;&lt;mn&gt;3&lt;/mn&gt;&lt;/mfrac&gt;&lt;/math&gt;" id="1024" name="Google Shape;1024;p74" title="2 two third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39896" y="2932216"/>
            <a:ext cx="283847" cy="40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}{3}&quot;&gt;&lt;mfrac&gt;&lt;mn&gt;20&lt;/mn&gt;&lt;mn&gt;3&lt;/mn&gt;&lt;/mfrac&gt;&lt;/math&gt;" id="1025" name="Google Shape;1025;p74" title="20 over 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96425" y="2357869"/>
            <a:ext cx="236250" cy="437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frac{2}{3}&quot;&gt;&lt;mn&gt;6&lt;/mn&gt;&lt;mfrac&gt;&lt;mn&gt;2&lt;/mn&gt;&lt;mn&gt;3&lt;/mn&gt;&lt;/mfrac&gt;&lt;/math&gt;" id="1026" name="Google Shape;1026;p74" title="6 and two third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82823" y="2930813"/>
            <a:ext cx="236250" cy="4054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7\ \frac{1}{3}&quot;&gt;&lt;mn&gt;37&lt;/mn&gt;&lt;mtext&gt;&lt;/mtext&gt;&lt;mfrac&gt;&lt;mn&gt;1&lt;/mn&gt;&lt;mn&gt;3&lt;/mn&gt;&lt;/mfrac&gt;&lt;/math&gt;" id="1027" name="Google Shape;1027;p74" title="37 one thir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071138" y="3529250"/>
            <a:ext cx="391021" cy="4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8" name="Google Shape;1028;p74"/>
          <p:cNvSpPr/>
          <p:nvPr/>
        </p:nvSpPr>
        <p:spPr>
          <a:xfrm>
            <a:off x="5955250" y="2320200"/>
            <a:ext cx="318600" cy="5031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74"/>
          <p:cNvSpPr/>
          <p:nvPr/>
        </p:nvSpPr>
        <p:spPr>
          <a:xfrm>
            <a:off x="5637775" y="2867650"/>
            <a:ext cx="318600" cy="5031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74"/>
          <p:cNvSpPr/>
          <p:nvPr/>
        </p:nvSpPr>
        <p:spPr>
          <a:xfrm>
            <a:off x="6200000" y="2871889"/>
            <a:ext cx="318600" cy="5031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1" name="Google Shape;1031;p74"/>
          <p:cNvSpPr/>
          <p:nvPr/>
        </p:nvSpPr>
        <p:spPr>
          <a:xfrm>
            <a:off x="7426550" y="2996075"/>
            <a:ext cx="202500" cy="257400"/>
          </a:xfrm>
          <a:prstGeom prst="rect">
            <a:avLst/>
          </a:prstGeom>
          <a:solidFill>
            <a:srgbClr val="F3EE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74"/>
          <p:cNvSpPr/>
          <p:nvPr/>
        </p:nvSpPr>
        <p:spPr>
          <a:xfrm>
            <a:off x="5011050" y="3458213"/>
            <a:ext cx="511200" cy="5031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9\ \frac{1}{3}&quot;&gt;&lt;mn&gt;9&lt;/mn&gt;&lt;mtext&gt;&lt;/mtext&gt;&lt;mfrac&gt;&lt;mn&gt;1&lt;/mn&gt;&lt;mn&gt;3&lt;/mn&gt;&lt;/mfrac&gt;&lt;/math&gt;" id="1033" name="Google Shape;1033;p74" title="9 one third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425117" y="2968707"/>
            <a:ext cx="283850" cy="40260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74"/>
          <p:cNvSpPr txBox="1"/>
          <p:nvPr/>
        </p:nvSpPr>
        <p:spPr>
          <a:xfrm>
            <a:off x="5250475" y="2375400"/>
            <a:ext cx="1989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+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74"/>
          <p:cNvSpPr txBox="1"/>
          <p:nvPr/>
        </p:nvSpPr>
        <p:spPr>
          <a:xfrm>
            <a:off x="5489900" y="2375400"/>
            <a:ext cx="1902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74"/>
          <p:cNvSpPr txBox="1"/>
          <p:nvPr/>
        </p:nvSpPr>
        <p:spPr>
          <a:xfrm>
            <a:off x="5739750" y="2375400"/>
            <a:ext cx="1805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+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74"/>
          <p:cNvSpPr txBox="1"/>
          <p:nvPr/>
        </p:nvSpPr>
        <p:spPr>
          <a:xfrm>
            <a:off x="6381450" y="2375400"/>
            <a:ext cx="13161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+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74"/>
          <p:cNvSpPr txBox="1"/>
          <p:nvPr/>
        </p:nvSpPr>
        <p:spPr>
          <a:xfrm>
            <a:off x="5054900" y="2961950"/>
            <a:ext cx="1235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74"/>
          <p:cNvSpPr txBox="1"/>
          <p:nvPr/>
        </p:nvSpPr>
        <p:spPr>
          <a:xfrm>
            <a:off x="5460100" y="2961950"/>
            <a:ext cx="982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+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74"/>
          <p:cNvSpPr txBox="1"/>
          <p:nvPr/>
        </p:nvSpPr>
        <p:spPr>
          <a:xfrm>
            <a:off x="5993225" y="2961950"/>
            <a:ext cx="678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+       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74"/>
          <p:cNvSpPr txBox="1"/>
          <p:nvPr/>
        </p:nvSpPr>
        <p:spPr>
          <a:xfrm>
            <a:off x="6807275" y="2976775"/>
            <a:ext cx="1050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74"/>
          <p:cNvSpPr txBox="1"/>
          <p:nvPr/>
        </p:nvSpPr>
        <p:spPr>
          <a:xfrm>
            <a:off x="7192500" y="2976775"/>
            <a:ext cx="817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+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7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Calculate the answers to the following: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Give all answers in their simplest form. </a:t>
            </a:r>
            <a:endParaRPr/>
          </a:p>
        </p:txBody>
      </p:sp>
      <p:sp>
        <p:nvSpPr>
          <p:cNvPr id="1048" name="Google Shape;1048;p7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Multiplying by a mixed number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5\times2\ \frac{3}{5}=65&quot;&gt;&lt;mn&gt;25&lt;/mn&gt;&lt;mo&gt;×&lt;/mo&gt;&lt;mn&gt;2&lt;/mn&gt;&lt;mtext&gt;&lt;/mtext&gt;&lt;mfrac&gt;&lt;mn&gt;3&lt;/mn&gt;&lt;mn&gt;5&lt;/mn&gt;&lt;/mfrac&gt;&lt;mo&gt;=&lt;/mo&gt;&lt;mn&gt;65&lt;/mn&gt;&lt;/math&gt;" id="1049" name="Google Shape;1049;p75" title="25 times 2 three fifths equals 65"/>
          <p:cNvPicPr preferRelativeResize="0"/>
          <p:nvPr/>
        </p:nvPicPr>
        <p:blipFill rotWithShape="1">
          <a:blip r:embed="rId3">
            <a:alphaModFix/>
          </a:blip>
          <a:srcRect b="0" l="0" r="33199" t="0"/>
          <a:stretch/>
        </p:blipFill>
        <p:spPr>
          <a:xfrm>
            <a:off x="810696" y="1841725"/>
            <a:ext cx="1167850" cy="62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 \frac{3}{8}\times36=121\ \frac{1}{2}&quot;&gt;&lt;mn&gt;3&lt;/mn&gt;&lt;mtext&gt;&lt;/mtext&gt;&lt;mfrac&gt;&lt;mn&gt;3&lt;/mn&gt;&lt;mn&gt;8&lt;/mn&gt;&lt;/mfrac&gt;&lt;mo&gt;×&lt;/mo&gt;&lt;mn&gt;36&lt;/mn&gt;&lt;mo&gt;=&lt;/mo&gt;&lt;mn&gt;121&lt;/mn&gt;&lt;mtext&gt;&lt;/mtext&gt;&lt;mfrac&gt;&lt;mn&gt;1&lt;/mn&gt;&lt;mn&gt;2&lt;/mn&gt;&lt;/mfrac&gt;&lt;/math&gt;" id="1050" name="Google Shape;1050;p75" title="3 three eighths times 36 equals 121 one half"/>
          <p:cNvPicPr preferRelativeResize="0"/>
          <p:nvPr/>
        </p:nvPicPr>
        <p:blipFill rotWithShape="1">
          <a:blip r:embed="rId4">
            <a:alphaModFix/>
          </a:blip>
          <a:srcRect b="0" l="0" r="47324" t="0"/>
          <a:stretch/>
        </p:blipFill>
        <p:spPr>
          <a:xfrm>
            <a:off x="5316904" y="3917350"/>
            <a:ext cx="1202750" cy="64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times2\ \frac{4}{7}=15\ \frac{3}{7}&quot;&gt;&lt;mn&gt;6&lt;/mn&gt;&lt;mo&gt;×&lt;/mo&gt;&lt;mn&gt;2&lt;/mn&gt;&lt;mtext&gt;&lt;/mtext&gt;&lt;mfrac&gt;&lt;mn&gt;4&lt;/mn&gt;&lt;mn&gt;7&lt;/mn&gt;&lt;/mfrac&gt;&lt;mo&gt;=&lt;/mo&gt;&lt;mn&gt;15&lt;/mn&gt;&lt;mtext&gt;&lt;/mtext&gt;&lt;mfrac&gt;&lt;mn&gt;3&lt;/mn&gt;&lt;mn&gt;7&lt;/mn&gt;&lt;/mfrac&gt;&lt;/math&gt;" id="1051" name="Google Shape;1051;p75" title="6 times 2 four sevenths equals 15 three sevenths"/>
          <p:cNvPicPr preferRelativeResize="0"/>
          <p:nvPr/>
        </p:nvPicPr>
        <p:blipFill rotWithShape="1">
          <a:blip r:embed="rId5">
            <a:alphaModFix/>
          </a:blip>
          <a:srcRect b="0" l="0" r="45919" t="0"/>
          <a:stretch/>
        </p:blipFill>
        <p:spPr>
          <a:xfrm>
            <a:off x="810694" y="2874925"/>
            <a:ext cx="1075175" cy="64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 \frac{5}{6}\times16=45\ \frac{1}{3}&quot;&gt;&lt;mn&gt;2&lt;/mn&gt;&lt;mtext&gt;&lt;/mtext&gt;&lt;mfrac&gt;&lt;mn&gt;5&lt;/mn&gt;&lt;mn&gt;6&lt;/mn&gt;&lt;/mfrac&gt;&lt;mo&gt;×&lt;/mo&gt;&lt;mn&gt;16&lt;/mn&gt;&lt;mo&gt;=&lt;/mo&gt;&lt;mn&gt;45&lt;/mn&gt;&lt;mtext&gt;&lt;/mtext&gt;&lt;mfrac&gt;&lt;mn&gt;1&lt;/mn&gt;&lt;mn&gt;3&lt;/mn&gt;&lt;/mfrac&gt;&lt;/math&gt;" id="1052" name="Google Shape;1052;p75" title="2 five sixths times 16 equals 45 one third"/>
          <p:cNvPicPr preferRelativeResize="0"/>
          <p:nvPr/>
        </p:nvPicPr>
        <p:blipFill rotWithShape="1">
          <a:blip r:embed="rId6">
            <a:alphaModFix/>
          </a:blip>
          <a:srcRect b="0" l="0" r="43557" t="0"/>
          <a:stretch/>
        </p:blipFill>
        <p:spPr>
          <a:xfrm>
            <a:off x="5316903" y="2895675"/>
            <a:ext cx="1129950" cy="604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\ \frac{7}{12}\times7=11\ \frac{1}{12}&quot;&gt;&lt;mn&gt;1&lt;/mn&gt;&lt;mtext&gt;&lt;/mtext&gt;&lt;mfrac&gt;&lt;mn&gt;7&lt;/mn&gt;&lt;mn&gt;12&lt;/mn&gt;&lt;/mfrac&gt;&lt;mo&gt;×&lt;/mo&gt;&lt;mn&gt;7&lt;/mn&gt;&lt;mo&gt;=&lt;/mo&gt;&lt;mn&gt;11&lt;/mn&gt;&lt;mtext&gt;&lt;/mtext&gt;&lt;mfrac&gt;&lt;mn&gt;1&lt;/mn&gt;&lt;mn&gt;12&lt;/mn&gt;&lt;/mfrac&gt;&lt;/math&gt;" id="1053" name="Google Shape;1053;p75" title="1 7 over 12 times 7 equals 11 1 over 12"/>
          <p:cNvPicPr preferRelativeResize="0"/>
          <p:nvPr/>
        </p:nvPicPr>
        <p:blipFill rotWithShape="1">
          <a:blip r:embed="rId7">
            <a:alphaModFix/>
          </a:blip>
          <a:srcRect b="0" l="0" r="48011" t="0"/>
          <a:stretch/>
        </p:blipFill>
        <p:spPr>
          <a:xfrm>
            <a:off x="810694" y="3926575"/>
            <a:ext cx="1167850" cy="63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8\times6\ \frac{2}{7}=18\ \frac{6}{7}&quot;&gt;&lt;mn&gt;8&lt;/mn&gt;&lt;mo&gt;×&lt;/mo&gt;&lt;mn&gt;6&lt;/mn&gt;&lt;mtext&gt;&lt;/mtext&gt;&lt;mfrac&gt;&lt;mn&gt;2&lt;/mn&gt;&lt;mn&gt;7&lt;/mn&gt;&lt;/mfrac&gt;&lt;mo&gt;=&lt;/mo&gt;&lt;mn&gt;18&lt;/mn&gt;&lt;mtext&gt;&lt;/mtext&gt;&lt;mfrac&gt;&lt;mn&gt;6&lt;/mn&gt;&lt;mn&gt;7&lt;/mn&gt;&lt;/mfrac&gt;&lt;/math&gt;" id="1054" name="Google Shape;1054;p75" title="8 times 6 two sevenths equals 18 six sevenths"/>
          <p:cNvPicPr preferRelativeResize="0"/>
          <p:nvPr/>
        </p:nvPicPr>
        <p:blipFill rotWithShape="1">
          <a:blip r:embed="rId8">
            <a:alphaModFix/>
          </a:blip>
          <a:srcRect b="0" l="0" r="47337" t="0"/>
          <a:stretch/>
        </p:blipFill>
        <p:spPr>
          <a:xfrm>
            <a:off x="5316904" y="1841725"/>
            <a:ext cx="1037275" cy="63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75"/>
          <p:cNvSpPr txBox="1"/>
          <p:nvPr/>
        </p:nvSpPr>
        <p:spPr>
          <a:xfrm>
            <a:off x="324000" y="1952812"/>
            <a:ext cx="331200" cy="23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b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75"/>
          <p:cNvSpPr txBox="1"/>
          <p:nvPr/>
        </p:nvSpPr>
        <p:spPr>
          <a:xfrm>
            <a:off x="4819800" y="1952812"/>
            <a:ext cx="331200" cy="23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76"/>
          <p:cNvSpPr txBox="1"/>
          <p:nvPr>
            <p:ph idx="1" type="body"/>
          </p:nvPr>
        </p:nvSpPr>
        <p:spPr>
          <a:xfrm>
            <a:off x="324000" y="759300"/>
            <a:ext cx="8237700" cy="90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Calculate the answers to the following: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Give all answers in their simplest form. </a:t>
            </a:r>
            <a:endParaRPr/>
          </a:p>
        </p:txBody>
      </p:sp>
      <p:sp>
        <p:nvSpPr>
          <p:cNvPr id="1062" name="Google Shape;1062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Multiplying by a mixed number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5\times2\ \frac{3}{5}=65&quot;&gt;&lt;mn&gt;25&lt;/mn&gt;&lt;mo&gt;×&lt;/mo&gt;&lt;mn&gt;2&lt;/mn&gt;&lt;mtext&gt;&lt;/mtext&gt;&lt;mfrac&gt;&lt;mn&gt;3&lt;/mn&gt;&lt;mn&gt;5&lt;/mn&gt;&lt;/mfrac&gt;&lt;mo&gt;=&lt;/mo&gt;&lt;mn&gt;65&lt;/mn&gt;&lt;/math&gt;" id="1063" name="Google Shape;1063;p76" title="25 times 2 three fifths equals 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687" y="1841713"/>
            <a:ext cx="1748230" cy="6227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 \frac{3}{8}\times36=121\ \frac{1}{2}&quot;&gt;&lt;mn&gt;3&lt;/mn&gt;&lt;mtext&gt;&lt;/mtext&gt;&lt;mfrac&gt;&lt;mn&gt;3&lt;/mn&gt;&lt;mn&gt;8&lt;/mn&gt;&lt;/mfrac&gt;&lt;mo&gt;×&lt;/mo&gt;&lt;mn&gt;36&lt;/mn&gt;&lt;mo&gt;=&lt;/mo&gt;&lt;mn&gt;121&lt;/mn&gt;&lt;mtext&gt;&lt;/mtext&gt;&lt;mfrac&gt;&lt;mn&gt;1&lt;/mn&gt;&lt;mn&gt;2&lt;/mn&gt;&lt;/mfrac&gt;&lt;/math&gt;" id="1064" name="Google Shape;1064;p76" title="3 three eighths times 36 equals 121 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6908" y="3917359"/>
            <a:ext cx="2283309" cy="6411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times2\ \frac{4}{7}=15\ \frac{3}{7}&quot;&gt;&lt;mn&gt;6&lt;/mn&gt;&lt;mo&gt;×&lt;/mo&gt;&lt;mn&gt;2&lt;/mn&gt;&lt;mtext&gt;&lt;/mtext&gt;&lt;mfrac&gt;&lt;mn&gt;4&lt;/mn&gt;&lt;mn&gt;7&lt;/mn&gt;&lt;/mfrac&gt;&lt;mo&gt;=&lt;/mo&gt;&lt;mn&gt;15&lt;/mn&gt;&lt;mtext&gt;&lt;/mtext&gt;&lt;mfrac&gt;&lt;mn&gt;3&lt;/mn&gt;&lt;mn&gt;7&lt;/mn&gt;&lt;/mfrac&gt;&lt;/math&gt;" id="1065" name="Google Shape;1065;p76" title="6 times 2 four sevenths equals 15 three seve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688" y="2874923"/>
            <a:ext cx="1988093" cy="6411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 \frac{5}{6}\times16=45\ \frac{1}{3}&quot;&gt;&lt;mn&gt;2&lt;/mn&gt;&lt;mtext&gt;&lt;/mtext&gt;&lt;mfrac&gt;&lt;mn&gt;5&lt;/mn&gt;&lt;mn&gt;6&lt;/mn&gt;&lt;/mfrac&gt;&lt;mo&gt;×&lt;/mo&gt;&lt;mn&gt;16&lt;/mn&gt;&lt;mo&gt;=&lt;/mo&gt;&lt;mn&gt;45&lt;/mn&gt;&lt;mtext&gt;&lt;/mtext&gt;&lt;mfrac&gt;&lt;mn&gt;1&lt;/mn&gt;&lt;mn&gt;3&lt;/mn&gt;&lt;/mfrac&gt;&lt;/math&gt;" id="1066" name="Google Shape;1066;p76" title="2 five sixths times 16 equals 45 one thir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16908" y="2895680"/>
            <a:ext cx="2001931" cy="6042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\ \frac{7}{12}\times7=11\ \frac{1}{12}&quot;&gt;&lt;mn&gt;1&lt;/mn&gt;&lt;mtext&gt;&lt;/mtext&gt;&lt;mfrac&gt;&lt;mn&gt;7&lt;/mn&gt;&lt;mn&gt;12&lt;/mn&gt;&lt;/mfrac&gt;&lt;mo&gt;×&lt;/mo&gt;&lt;mn&gt;7&lt;/mn&gt;&lt;mo&gt;=&lt;/mo&gt;&lt;mn&gt;11&lt;/mn&gt;&lt;mtext&gt;&lt;/mtext&gt;&lt;mfrac&gt;&lt;mn&gt;1&lt;/mn&gt;&lt;mn&gt;12&lt;/mn&gt;&lt;/mfrac&gt;&lt;/math&gt;" id="1067" name="Google Shape;1067;p76" title="1 7 over 12 times 7 equals 11 1 over 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0688" y="3926585"/>
            <a:ext cx="2246407" cy="6319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8\times6\ \frac{2}{7}=50\ \frac{2}{7}&quot;&gt;&lt;mn&gt;8&lt;/mn&gt;&lt;mo&gt;×&lt;/mo&gt;&lt;mn&gt;6&lt;/mn&gt;&lt;mtext&gt;&lt;/mtext&gt;&lt;mfrac&gt;&lt;mn&gt;2&lt;/mn&gt;&lt;mn&gt;7&lt;/mn&gt;&lt;/mfrac&gt;&lt;mo&gt;=&lt;/mo&gt;&lt;mn&gt;50&lt;/mn&gt;&lt;mtext&gt;&lt;/mtext&gt;&lt;mfrac&gt;&lt;mn&gt;2&lt;/mn&gt;&lt;mn&gt;7&lt;/mn&gt;&lt;/mfrac&gt;&lt;/math&gt;" id="1068" name="Google Shape;1068;p76" title="8 times 6 two sevenths equals 50 two seven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16894" y="1799337"/>
            <a:ext cx="1969650" cy="636561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76"/>
          <p:cNvSpPr txBox="1"/>
          <p:nvPr/>
        </p:nvSpPr>
        <p:spPr>
          <a:xfrm>
            <a:off x="324000" y="1952812"/>
            <a:ext cx="331200" cy="23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b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76"/>
          <p:cNvSpPr txBox="1"/>
          <p:nvPr/>
        </p:nvSpPr>
        <p:spPr>
          <a:xfrm>
            <a:off x="4819800" y="1952812"/>
            <a:ext cx="331200" cy="23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7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by a mixed number</a:t>
            </a:r>
            <a:endParaRPr/>
          </a:p>
        </p:txBody>
      </p:sp>
      <p:sp>
        <p:nvSpPr>
          <p:cNvPr id="1076" name="Google Shape;1076;p7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strategies</a:t>
            </a:r>
            <a:endParaRPr/>
          </a:p>
        </p:txBody>
      </p:sp>
      <p:sp>
        <p:nvSpPr>
          <p:cNvPr id="1077" name="Google Shape;1077;p77"/>
          <p:cNvSpPr txBox="1"/>
          <p:nvPr>
            <p:ph idx="3" type="title"/>
          </p:nvPr>
        </p:nvSpPr>
        <p:spPr>
          <a:xfrm>
            <a:off x="324000" y="657600"/>
            <a:ext cx="68961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Deepening understanding of multiplication with fractions</a:t>
            </a:r>
            <a:endParaRPr/>
          </a:p>
        </p:txBody>
      </p:sp>
      <p:pic>
        <p:nvPicPr>
          <p:cNvPr id="1078" name="Google Shape;1078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182" y="2997543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strategies</a:t>
            </a:r>
            <a:endParaRPr/>
          </a:p>
        </p:txBody>
      </p:sp>
      <p:pic>
        <p:nvPicPr>
          <p:cNvPr id="1084" name="Google Shape;1084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775" y="808299"/>
            <a:ext cx="1024275" cy="543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5" name="Google Shape;1085;p78"/>
          <p:cNvGrpSpPr/>
          <p:nvPr/>
        </p:nvGrpSpPr>
        <p:grpSpPr>
          <a:xfrm>
            <a:off x="5893100" y="3250675"/>
            <a:ext cx="1860849" cy="756751"/>
            <a:chOff x="5588300" y="3707875"/>
            <a:chExt cx="1860849" cy="756751"/>
          </a:xfrm>
        </p:grpSpPr>
        <p:pic>
          <p:nvPicPr>
            <p:cNvPr id="1086" name="Google Shape;1086;p78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>
              <a:off x="5588300" y="3707875"/>
              <a:ext cx="1860849" cy="7567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7" name="Google Shape;1087;p78"/>
            <p:cNvSpPr txBox="1"/>
            <p:nvPr/>
          </p:nvSpPr>
          <p:spPr>
            <a:xfrm>
              <a:off x="5588300" y="3784075"/>
              <a:ext cx="1745700" cy="4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Yes we can.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088" name="Google Shape;1088;p78"/>
          <p:cNvGraphicFramePr/>
          <p:nvPr/>
        </p:nvGraphicFramePr>
        <p:xfrm>
          <a:off x="2686575" y="1276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{D0EAC774-30AF-439C-BE20-013861D11706}</a:tableStyleId>
              </a:tblPr>
              <a:tblGrid>
                <a:gridCol w="830875"/>
                <a:gridCol w="830875"/>
              </a:tblGrid>
              <a:tr h="524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524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pSp>
        <p:nvGrpSpPr>
          <p:cNvPr id="1089" name="Google Shape;1089;p78"/>
          <p:cNvGrpSpPr/>
          <p:nvPr/>
        </p:nvGrpSpPr>
        <p:grpSpPr>
          <a:xfrm>
            <a:off x="1109249" y="2657175"/>
            <a:ext cx="3315526" cy="1438600"/>
            <a:chOff x="1642649" y="3266775"/>
            <a:chExt cx="3315526" cy="1438600"/>
          </a:xfrm>
        </p:grpSpPr>
        <p:pic>
          <p:nvPicPr>
            <p:cNvPr id="1090" name="Google Shape;1090;p78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642649" y="3266775"/>
              <a:ext cx="3289626" cy="143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1" name="Google Shape;1091;p78"/>
            <p:cNvSpPr txBox="1"/>
            <p:nvPr/>
          </p:nvSpPr>
          <p:spPr>
            <a:xfrm>
              <a:off x="1840575" y="3293775"/>
              <a:ext cx="3117600" cy="124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Can we use the area model with two mixed numbers?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92" name="Google Shape;1092;p78"/>
          <p:cNvSpPr txBox="1"/>
          <p:nvPr/>
        </p:nvSpPr>
        <p:spPr>
          <a:xfrm>
            <a:off x="2179175" y="1409825"/>
            <a:ext cx="442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78"/>
          <p:cNvSpPr txBox="1"/>
          <p:nvPr/>
        </p:nvSpPr>
        <p:spPr>
          <a:xfrm>
            <a:off x="3019975" y="923250"/>
            <a:ext cx="130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94" name="Google Shape;1094;p78"/>
          <p:cNvPicPr preferRelativeResize="0"/>
          <p:nvPr/>
        </p:nvPicPr>
        <p:blipFill rotWithShape="1">
          <a:blip r:embed="rId3">
            <a:alphaModFix/>
          </a:blip>
          <a:srcRect b="0" l="80229" r="0" t="0"/>
          <a:stretch/>
        </p:blipFill>
        <p:spPr>
          <a:xfrm>
            <a:off x="3842633" y="777241"/>
            <a:ext cx="177886" cy="477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5" name="Google Shape;1095;p78"/>
          <p:cNvPicPr preferRelativeResize="0"/>
          <p:nvPr/>
        </p:nvPicPr>
        <p:blipFill rotWithShape="1">
          <a:blip r:embed="rId3">
            <a:alphaModFix/>
          </a:blip>
          <a:srcRect b="0" l="12663" r="64083" t="0"/>
          <a:stretch/>
        </p:blipFill>
        <p:spPr>
          <a:xfrm>
            <a:off x="2304823" y="1819517"/>
            <a:ext cx="209225" cy="477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6" name="Google Shape;1096;p78"/>
          <p:cNvPicPr preferRelativeResize="0"/>
          <p:nvPr/>
        </p:nvPicPr>
        <p:blipFill rotWithShape="1">
          <a:blip r:embed="rId3">
            <a:alphaModFix/>
          </a:blip>
          <a:srcRect b="0" l="12663" r="64083" t="0"/>
          <a:stretch/>
        </p:blipFill>
        <p:spPr>
          <a:xfrm>
            <a:off x="3019973" y="1819517"/>
            <a:ext cx="209225" cy="4773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3}&quot;&gt;&lt;mfrac&gt;&lt;mn&gt;4&lt;/mn&gt;&lt;mn&gt;3&lt;/mn&gt;&lt;/mfrac&gt;&lt;/math&gt;" id="1097" name="Google Shape;1097;p78" title="four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7513" y="1348575"/>
            <a:ext cx="130800" cy="43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12}&quot;&gt;&lt;mfrac&gt;&lt;mn&gt;6&lt;/mn&gt;&lt;mn&gt;12&lt;/mn&gt;&lt;/mfrac&gt;&lt;/math&gt;" id="1098" name="Google Shape;1098;p78" title="6 over 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21975" y="1855875"/>
            <a:ext cx="241869" cy="43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+\frac{4}{3}+\frac{3}{4}+\frac{6}{12}&quot;&gt;&lt;mn&gt;2&lt;/mn&gt;&lt;mo&gt;+&lt;/mo&gt;&lt;mfrac&gt;&lt;mn&gt;4&lt;/mn&gt;&lt;mn&gt;3&lt;/mn&gt;&lt;/mfrac&gt;&lt;mo&gt;+&lt;/mo&gt;&lt;mfrac&gt;&lt;mn&gt;3&lt;/mn&gt;&lt;mn&gt;4&lt;/mn&gt;&lt;/mfrac&gt;&lt;mo&gt;+&lt;/mo&gt;&lt;mfrac&gt;&lt;mn&gt;6&lt;/mn&gt;&lt;mn&gt;12&lt;/mn&gt;&lt;/mfrac&gt;&lt;/math&gt;" id="1099" name="Google Shape;1099;p78" title="2 plus four thirds plus three fourths plus 6 over 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24000" y="799925"/>
            <a:ext cx="2115757" cy="64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 2+\frac{16}{12}+\frac{9}{12}+\frac{6}{12}&quot;&gt;&lt;mo&gt;=&lt;/mo&gt;&lt;mtext&gt;&lt;/mtext&gt;&lt;mn&gt;2&lt;/mn&gt;&lt;mo&gt;+&lt;/mo&gt;&lt;mfrac&gt;&lt;mn&gt;16&lt;/mn&gt;&lt;mn&gt;12&lt;/mn&gt;&lt;/mfrac&gt;&lt;mo&gt;+&lt;/mo&gt;&lt;mfrac&gt;&lt;mn&gt;9&lt;/mn&gt;&lt;mn&gt;12&lt;/mn&gt;&lt;/mfrac&gt;&lt;mo&gt;+&lt;/mo&gt;&lt;mfrac&gt;&lt;mn&gt;6&lt;/mn&gt;&lt;mn&gt;12&lt;/mn&gt;&lt;/mfrac&gt;&lt;/math&gt;" id="1100" name="Google Shape;1100;p78" title="equals 2 plus 16 over 12 plus 9 over 12 plus 6 over 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48168" y="1629419"/>
            <a:ext cx="2556400" cy="5846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 2+\frac{31}{12}=2+2\ \frac{7}{12}=4\ \frac{7}{12}&quot;&gt;&lt;mo&gt;=&lt;/mo&gt;&lt;mtext&gt;&lt;/mtext&gt;&lt;mn&gt;2&lt;/mn&gt;&lt;mo&gt;+&lt;/mo&gt;&lt;mfrac&gt;&lt;mn&gt;31&lt;/mn&gt;&lt;mn&gt;12&lt;/mn&gt;&lt;/mfrac&gt;&lt;mo&gt;=&lt;/mo&gt;&lt;mn&gt;2&lt;/mn&gt;&lt;mo&gt;+&lt;/mo&gt;&lt;mn&gt;2&lt;/mn&gt;&lt;mtext&gt;&lt;/mtext&gt;&lt;mfrac&gt;&lt;mn&gt;7&lt;/mn&gt;&lt;mn&gt;12&lt;/mn&gt;&lt;/mfrac&gt;&lt;mo&gt;=&lt;/mo&gt;&lt;mn&gt;4&lt;/mn&gt;&lt;mtext&gt;&lt;/mtext&gt;&lt;mfrac&gt;&lt;mn&gt;7&lt;/mn&gt;&lt;mn&gt;12&lt;/mn&gt;&lt;/mfrac&gt;&lt;/math&gt;" id="1101" name="Google Shape;1101;p78" title="equals 2 plus 31 over 12 equals 2 plus 2 7 over 12 equals 4 7 over 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36050" y="2399674"/>
            <a:ext cx="3863550" cy="64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2" name="Google Shape;1102;p7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759815" y="3542213"/>
            <a:ext cx="807760" cy="896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3" name="Google Shape;1103;p7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flipH="1">
            <a:off x="349026" y="3540524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78"/>
          <p:cNvSpPr txBox="1"/>
          <p:nvPr/>
        </p:nvSpPr>
        <p:spPr>
          <a:xfrm>
            <a:off x="368700" y="451327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78"/>
          <p:cNvSpPr txBox="1"/>
          <p:nvPr/>
        </p:nvSpPr>
        <p:spPr>
          <a:xfrm>
            <a:off x="7697375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78"/>
          <p:cNvSpPr/>
          <p:nvPr/>
        </p:nvSpPr>
        <p:spPr>
          <a:xfrm>
            <a:off x="2780350" y="1385491"/>
            <a:ext cx="576000" cy="31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78"/>
          <p:cNvSpPr/>
          <p:nvPr/>
        </p:nvSpPr>
        <p:spPr>
          <a:xfrm>
            <a:off x="3597100" y="1348464"/>
            <a:ext cx="576000" cy="43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78"/>
          <p:cNvSpPr/>
          <p:nvPr/>
        </p:nvSpPr>
        <p:spPr>
          <a:xfrm>
            <a:off x="2792050" y="1818895"/>
            <a:ext cx="576000" cy="47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78"/>
          <p:cNvSpPr/>
          <p:nvPr/>
        </p:nvSpPr>
        <p:spPr>
          <a:xfrm>
            <a:off x="3599175" y="1834813"/>
            <a:ext cx="576000" cy="454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0" name="Google Shape;1110;p78"/>
          <p:cNvSpPr/>
          <p:nvPr/>
        </p:nvSpPr>
        <p:spPr>
          <a:xfrm>
            <a:off x="6198800" y="2336825"/>
            <a:ext cx="1555200" cy="75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1" name="Google Shape;1111;p78"/>
          <p:cNvSpPr/>
          <p:nvPr/>
        </p:nvSpPr>
        <p:spPr>
          <a:xfrm>
            <a:off x="7753950" y="2399675"/>
            <a:ext cx="1024200" cy="75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6" name="Google Shape;1116;p79"/>
          <p:cNvGrpSpPr/>
          <p:nvPr/>
        </p:nvGrpSpPr>
        <p:grpSpPr>
          <a:xfrm>
            <a:off x="4467984" y="2412475"/>
            <a:ext cx="3081098" cy="1861200"/>
            <a:chOff x="5534784" y="1650475"/>
            <a:chExt cx="3081098" cy="1861200"/>
          </a:xfrm>
        </p:grpSpPr>
        <p:pic>
          <p:nvPicPr>
            <p:cNvPr id="1117" name="Google Shape;1117;p79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>
              <a:off x="5534784" y="1650475"/>
              <a:ext cx="3081098" cy="13189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8" name="Google Shape;1118;p79"/>
            <p:cNvSpPr txBox="1"/>
            <p:nvPr/>
          </p:nvSpPr>
          <p:spPr>
            <a:xfrm>
              <a:off x="5588300" y="1726675"/>
              <a:ext cx="2973300" cy="17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Oh yes, of course we could.  Let’s check that we get the same answer.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9" name="Google Shape;1119;p79"/>
          <p:cNvGrpSpPr/>
          <p:nvPr/>
        </p:nvGrpSpPr>
        <p:grpSpPr>
          <a:xfrm>
            <a:off x="714426" y="810000"/>
            <a:ext cx="3753549" cy="3222000"/>
            <a:chOff x="1301001" y="1456500"/>
            <a:chExt cx="3753549" cy="3222000"/>
          </a:xfrm>
        </p:grpSpPr>
        <p:pic>
          <p:nvPicPr>
            <p:cNvPr id="1120" name="Google Shape;1120;p79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 flipH="1">
              <a:off x="1301001" y="1456500"/>
              <a:ext cx="3753549" cy="322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1" name="Google Shape;1121;p79"/>
            <p:cNvSpPr txBox="1"/>
            <p:nvPr/>
          </p:nvSpPr>
          <p:spPr>
            <a:xfrm>
              <a:off x="1549200" y="1763375"/>
              <a:ext cx="3222300" cy="235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I’ve just thought if we can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multiply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proper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fractions by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multiplying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the numerators together and the denominators together.  Could we change these into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improper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fractions and do that?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22" name="Google Shape;1122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strategies</a:t>
            </a:r>
            <a:endParaRPr/>
          </a:p>
        </p:txBody>
      </p:sp>
      <p:pic>
        <p:nvPicPr>
          <p:cNvPr id="1123" name="Google Shape;1123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59815" y="3542213"/>
            <a:ext cx="807760" cy="896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4" name="Google Shape;1124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49026" y="3540524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125" name="Google Shape;1125;p79"/>
          <p:cNvSpPr txBox="1"/>
          <p:nvPr/>
        </p:nvSpPr>
        <p:spPr>
          <a:xfrm>
            <a:off x="368700" y="451327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6" name="Google Shape;1126;p79"/>
          <p:cNvSpPr txBox="1"/>
          <p:nvPr/>
        </p:nvSpPr>
        <p:spPr>
          <a:xfrm>
            <a:off x="7697375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strategies</a:t>
            </a:r>
            <a:endParaRPr/>
          </a:p>
        </p:txBody>
      </p:sp>
      <p:pic>
        <p:nvPicPr>
          <p:cNvPr id="1132" name="Google Shape;1132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775" y="3475299"/>
            <a:ext cx="1024275" cy="54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11}{4}\times\frac{5}{3}=\frac{55}{12}=4\ \frac{7}{12}&quot;&gt;&lt;mo&gt;=&lt;/mo&gt;&lt;mfrac&gt;&lt;mn&gt;11&lt;/mn&gt;&lt;mn&gt;4&lt;/mn&gt;&lt;/mfrac&gt;&lt;mo&gt;×&lt;/mo&gt;&lt;mfrac&gt;&lt;mn&gt;5&lt;/mn&gt;&lt;mn&gt;3&lt;/mn&gt;&lt;/mfrac&gt;&lt;mo&gt;=&lt;/mo&gt;&lt;mfrac&gt;&lt;mn&gt;55&lt;/mn&gt;&lt;mn&gt;12&lt;/mn&gt;&lt;/mfrac&gt;&lt;mo&gt;=&lt;/mo&gt;&lt;mn&gt;4&lt;/mn&gt;&lt;mtext&gt;&lt;/mtext&gt;&lt;mfrac&gt;&lt;mn&gt;7&lt;/mn&gt;&lt;mn&gt;12&lt;/mn&gt;&lt;/mfrac&gt;&lt;/math&gt;" id="1133" name="Google Shape;1133;p80" title="equals eleven fourths times five thirds equals 55 over 12 equals 4 7 over 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9425" y="3477000"/>
            <a:ext cx="2963747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4" name="Google Shape;1134;p80"/>
          <p:cNvSpPr txBox="1"/>
          <p:nvPr/>
        </p:nvSpPr>
        <p:spPr>
          <a:xfrm>
            <a:off x="324000" y="4320000"/>
            <a:ext cx="4350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Which method do you prefer?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35" name="Google Shape;1135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775" y="808299"/>
            <a:ext cx="1024275" cy="543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36" name="Google Shape;1136;p80"/>
          <p:cNvGraphicFramePr/>
          <p:nvPr/>
        </p:nvGraphicFramePr>
        <p:xfrm>
          <a:off x="2686575" y="1276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{D0EAC774-30AF-439C-BE20-013861D11706}</a:tableStyleId>
              </a:tblPr>
              <a:tblGrid>
                <a:gridCol w="830875"/>
                <a:gridCol w="830875"/>
              </a:tblGrid>
              <a:tr h="524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524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137" name="Google Shape;1137;p80"/>
          <p:cNvSpPr txBox="1"/>
          <p:nvPr/>
        </p:nvSpPr>
        <p:spPr>
          <a:xfrm>
            <a:off x="2179175" y="1409825"/>
            <a:ext cx="442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8" name="Google Shape;1138;p80"/>
          <p:cNvSpPr txBox="1"/>
          <p:nvPr/>
        </p:nvSpPr>
        <p:spPr>
          <a:xfrm>
            <a:off x="3019975" y="923250"/>
            <a:ext cx="130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39" name="Google Shape;1139;p80"/>
          <p:cNvPicPr preferRelativeResize="0"/>
          <p:nvPr/>
        </p:nvPicPr>
        <p:blipFill rotWithShape="1">
          <a:blip r:embed="rId3">
            <a:alphaModFix/>
          </a:blip>
          <a:srcRect b="0" l="80229" r="0" t="0"/>
          <a:stretch/>
        </p:blipFill>
        <p:spPr>
          <a:xfrm>
            <a:off x="3842633" y="777241"/>
            <a:ext cx="177886" cy="477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0" name="Google Shape;1140;p80"/>
          <p:cNvPicPr preferRelativeResize="0"/>
          <p:nvPr/>
        </p:nvPicPr>
        <p:blipFill rotWithShape="1">
          <a:blip r:embed="rId3">
            <a:alphaModFix/>
          </a:blip>
          <a:srcRect b="0" l="12663" r="64083" t="0"/>
          <a:stretch/>
        </p:blipFill>
        <p:spPr>
          <a:xfrm>
            <a:off x="2304823" y="1819517"/>
            <a:ext cx="209225" cy="477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1" name="Google Shape;1141;p80"/>
          <p:cNvPicPr preferRelativeResize="0"/>
          <p:nvPr/>
        </p:nvPicPr>
        <p:blipFill rotWithShape="1">
          <a:blip r:embed="rId3">
            <a:alphaModFix/>
          </a:blip>
          <a:srcRect b="0" l="12663" r="64083" t="0"/>
          <a:stretch/>
        </p:blipFill>
        <p:spPr>
          <a:xfrm>
            <a:off x="3019973" y="1819517"/>
            <a:ext cx="209225" cy="4773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3}&quot;&gt;&lt;mfrac&gt;&lt;mn&gt;4&lt;/mn&gt;&lt;mn&gt;3&lt;/mn&gt;&lt;/mfrac&gt;&lt;/math&gt;" id="1142" name="Google Shape;1142;p80" title="four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7513" y="1348575"/>
            <a:ext cx="130800" cy="43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12}&quot;&gt;&lt;mfrac&gt;&lt;mn&gt;6&lt;/mn&gt;&lt;mn&gt;12&lt;/mn&gt;&lt;/mfrac&gt;&lt;/math&gt;" id="1143" name="Google Shape;1143;p80" title="6 over 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21975" y="1855875"/>
            <a:ext cx="241869" cy="43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+\frac{4}{3}+\frac{3}{4}+\frac{6}{12}&quot;&gt;&lt;mn&gt;2&lt;/mn&gt;&lt;mo&gt;+&lt;/mo&gt;&lt;mfrac&gt;&lt;mn&gt;4&lt;/mn&gt;&lt;mn&gt;3&lt;/mn&gt;&lt;/mfrac&gt;&lt;mo&gt;+&lt;/mo&gt;&lt;mfrac&gt;&lt;mn&gt;3&lt;/mn&gt;&lt;mn&gt;4&lt;/mn&gt;&lt;/mfrac&gt;&lt;mo&gt;+&lt;/mo&gt;&lt;mfrac&gt;&lt;mn&gt;6&lt;/mn&gt;&lt;mn&gt;12&lt;/mn&gt;&lt;/mfrac&gt;&lt;/math&gt;" id="1144" name="Google Shape;1144;p80" title="2 plus four thirds plus three fourths plus 6 over 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24000" y="799925"/>
            <a:ext cx="2115757" cy="64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 2+\frac{16}{12}+\frac{9}{12}+\frac{6}{12}&quot;&gt;&lt;mo&gt;=&lt;/mo&gt;&lt;mtext&gt;&lt;/mtext&gt;&lt;mn&gt;2&lt;/mn&gt;&lt;mo&gt;+&lt;/mo&gt;&lt;mfrac&gt;&lt;mn&gt;16&lt;/mn&gt;&lt;mn&gt;12&lt;/mn&gt;&lt;/mfrac&gt;&lt;mo&gt;+&lt;/mo&gt;&lt;mfrac&gt;&lt;mn&gt;9&lt;/mn&gt;&lt;mn&gt;12&lt;/mn&gt;&lt;/mfrac&gt;&lt;mo&gt;+&lt;/mo&gt;&lt;mfrac&gt;&lt;mn&gt;6&lt;/mn&gt;&lt;mn&gt;12&lt;/mn&gt;&lt;/mfrac&gt;&lt;/math&gt;" id="1145" name="Google Shape;1145;p80" title="equals 2 plus 16 over 12 plus 9 over 12 plus 6 over 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48168" y="1629419"/>
            <a:ext cx="2556400" cy="5846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 2+\frac{31}{12}=2+2\ \frac{7}{12}=4\ \frac{7}{12}&quot;&gt;&lt;mo&gt;=&lt;/mo&gt;&lt;mtext&gt;&lt;/mtext&gt;&lt;mn&gt;2&lt;/mn&gt;&lt;mo&gt;+&lt;/mo&gt;&lt;mfrac&gt;&lt;mn&gt;31&lt;/mn&gt;&lt;mn&gt;12&lt;/mn&gt;&lt;/mfrac&gt;&lt;mo&gt;=&lt;/mo&gt;&lt;mn&gt;2&lt;/mn&gt;&lt;mo&gt;+&lt;/mo&gt;&lt;mn&gt;2&lt;/mn&gt;&lt;mtext&gt;&lt;/mtext&gt;&lt;mfrac&gt;&lt;mn&gt;7&lt;/mn&gt;&lt;mn&gt;12&lt;/mn&gt;&lt;/mfrac&gt;&lt;mo&gt;=&lt;/mo&gt;&lt;mn&gt;4&lt;/mn&gt;&lt;mtext&gt;&lt;/mtext&gt;&lt;mfrac&gt;&lt;mn&gt;7&lt;/mn&gt;&lt;mn&gt;12&lt;/mn&gt;&lt;/mfrac&gt;&lt;/math&gt;" id="1146" name="Google Shape;1146;p80" title="equals 2 plus 31 over 12 equals 2 plus 2 7 over 12 equals 4 7 over 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36050" y="2399674"/>
            <a:ext cx="3863550" cy="64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7" name="Google Shape;1147;p80"/>
          <p:cNvSpPr/>
          <p:nvPr/>
        </p:nvSpPr>
        <p:spPr>
          <a:xfrm>
            <a:off x="1551300" y="3405450"/>
            <a:ext cx="1335900" cy="75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8" name="Google Shape;1148;p80"/>
          <p:cNvSpPr/>
          <p:nvPr/>
        </p:nvSpPr>
        <p:spPr>
          <a:xfrm>
            <a:off x="2887200" y="3401700"/>
            <a:ext cx="726300" cy="75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9" name="Google Shape;1149;p80"/>
          <p:cNvSpPr/>
          <p:nvPr/>
        </p:nvSpPr>
        <p:spPr>
          <a:xfrm>
            <a:off x="3645225" y="3475300"/>
            <a:ext cx="927900" cy="75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0" name="Google Shape;1150;p80"/>
          <p:cNvCxnSpPr/>
          <p:nvPr/>
        </p:nvCxnSpPr>
        <p:spPr>
          <a:xfrm>
            <a:off x="284275" y="3208275"/>
            <a:ext cx="85125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1" name="Google Shape;1151;p80"/>
          <p:cNvSpPr/>
          <p:nvPr/>
        </p:nvSpPr>
        <p:spPr>
          <a:xfrm>
            <a:off x="236600" y="692150"/>
            <a:ext cx="8607900" cy="2436600"/>
          </a:xfrm>
          <a:prstGeom prst="rect">
            <a:avLst/>
          </a:prstGeom>
          <a:solidFill>
            <a:srgbClr val="FFFFFF">
              <a:alpha val="651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strategies</a:t>
            </a:r>
            <a:endParaRPr/>
          </a:p>
        </p:txBody>
      </p:sp>
      <p:sp>
        <p:nvSpPr>
          <p:cNvPr id="1157" name="Google Shape;1157;p81"/>
          <p:cNvSpPr txBox="1"/>
          <p:nvPr>
            <p:ph idx="1" type="body"/>
          </p:nvPr>
        </p:nvSpPr>
        <p:spPr>
          <a:xfrm>
            <a:off x="324000" y="759300"/>
            <a:ext cx="8496000" cy="7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Sofia has decided that she doesn’t need to draw out the area model.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\ \frac{4}{5}\times3\ \frac{2}{7}&quot;&gt;&lt;mn&gt;2&lt;/mn&gt;&lt;mtext&gt;&lt;/mtext&gt;&lt;mfrac&gt;&lt;mn&gt;4&lt;/mn&gt;&lt;mn&gt;5&lt;/mn&gt;&lt;/mfrac&gt;&lt;mo&gt;×&lt;/mo&gt;&lt;mn&gt;3&lt;/mn&gt;&lt;mtext&gt;&lt;/mtext&gt;&lt;mfrac&gt;&lt;mn&gt;2&lt;/mn&gt;&lt;mn&gt;7&lt;/mn&gt;&lt;/mfrac&gt;&lt;/math&gt;" id="1158" name="Google Shape;1158;p81" title="2 four fifths times 3 two sev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0" y="1550250"/>
            <a:ext cx="1223978" cy="6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9" name="Google Shape;1159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83765" y="3588288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160" name="Google Shape;1160;p81"/>
          <p:cNvSpPr txBox="1"/>
          <p:nvPr/>
        </p:nvSpPr>
        <p:spPr>
          <a:xfrm>
            <a:off x="7468775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\times3+\frac{4}{5}\times\frac{2}{7}=6+\frac{8}{35}=6\ \frac{8}{35}&quot;&gt;&lt;mn&gt;2&lt;/mn&gt;&lt;mo&gt;×&lt;/mo&gt;&lt;mn&gt;3&lt;/mn&gt;&lt;mo&gt;+&lt;/mo&gt;&lt;mfrac&gt;&lt;mn&gt;4&lt;/mn&gt;&lt;mn&gt;5&lt;/mn&gt;&lt;/mfrac&gt;&lt;mo&gt;×&lt;/mo&gt;&lt;mfrac&gt;&lt;mn&gt;2&lt;/mn&gt;&lt;mn&gt;7&lt;/mn&gt;&lt;/mfrac&gt;&lt;mo&gt;=&lt;/mo&gt;&lt;mn&gt;6&lt;/mn&gt;&lt;mo&gt;+&lt;/mo&gt;&lt;mfrac&gt;&lt;mn&gt;8&lt;/mn&gt;&lt;mn&gt;35&lt;/mn&gt;&lt;/mfrac&gt;&lt;mo&gt;=&lt;/mo&gt;&lt;mn&gt;6&lt;/mn&gt;&lt;mtext&gt;&lt;/mtext&gt;&lt;mfrac&gt;&lt;mn&gt;8&lt;/mn&gt;&lt;mn&gt;35&lt;/mn&gt;&lt;/mfrac&gt;&lt;/math&gt;" id="1161" name="Google Shape;1161;p81" title="2 times 3 plus four fifths times two sevenths equals 6 plus 8 over 35 equals 6 8 over 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48000" y="2571750"/>
            <a:ext cx="4248001" cy="658005"/>
          </a:xfrm>
          <a:prstGeom prst="rect">
            <a:avLst/>
          </a:prstGeom>
          <a:noFill/>
          <a:ln>
            <a:noFill/>
          </a:ln>
        </p:spPr>
      </p:pic>
      <p:sp>
        <p:nvSpPr>
          <p:cNvPr id="1162" name="Google Shape;1162;p81"/>
          <p:cNvSpPr txBox="1"/>
          <p:nvPr>
            <p:ph idx="1" type="body"/>
          </p:nvPr>
        </p:nvSpPr>
        <p:spPr>
          <a:xfrm>
            <a:off x="324000" y="3588300"/>
            <a:ext cx="4686900" cy="35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Why will Sofia’s method </a:t>
            </a:r>
            <a:r>
              <a:rPr lang="en-GB">
                <a:solidFill>
                  <a:schemeClr val="accent5"/>
                </a:solidFill>
              </a:rPr>
              <a:t>not</a:t>
            </a:r>
            <a:r>
              <a:rPr lang="en-GB"/>
              <a:t> work?</a:t>
            </a:r>
            <a:endParaRPr/>
          </a:p>
        </p:txBody>
      </p:sp>
      <p:sp>
        <p:nvSpPr>
          <p:cNvPr id="1163" name="Google Shape;1163;p81"/>
          <p:cNvSpPr txBox="1"/>
          <p:nvPr>
            <p:ph idx="1" type="body"/>
          </p:nvPr>
        </p:nvSpPr>
        <p:spPr>
          <a:xfrm>
            <a:off x="324000" y="4229300"/>
            <a:ext cx="7268400" cy="35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She has not found the product of 3 and    and 2 and   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2\ \frac{4}{5}\times3\ \frac{2}{7}&quot;&gt;&lt;mn&gt;2&lt;/mn&gt;&lt;mtext&gt;&lt;/mtext&gt;&lt;mfrac&gt;&lt;mn&gt;4&lt;/mn&gt;&lt;mn&gt;5&lt;/mn&gt;&lt;/mfrac&gt;&lt;mo&gt;×&lt;/mo&gt;&lt;mn&gt;3&lt;/mn&gt;&lt;mtext&gt;&lt;/mtext&gt;&lt;mfrac&gt;&lt;mn&gt;2&lt;/mn&gt;&lt;mn&gt;7&lt;/mn&gt;&lt;/mfrac&gt;&lt;/math&gt;" id="1164" name="Google Shape;1164;p81" title="2 four fifths times 3 two sevenths"/>
          <p:cNvPicPr preferRelativeResize="0"/>
          <p:nvPr/>
        </p:nvPicPr>
        <p:blipFill rotWithShape="1">
          <a:blip r:embed="rId3">
            <a:alphaModFix/>
          </a:blip>
          <a:srcRect b="0" l="80959" r="0" t="0"/>
          <a:stretch/>
        </p:blipFill>
        <p:spPr>
          <a:xfrm>
            <a:off x="6859017" y="4099925"/>
            <a:ext cx="233050" cy="60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 \frac{4}{5}\times3\ \frac{2}{7}&quot;&gt;&lt;mn&gt;2&lt;/mn&gt;&lt;mtext&gt;&lt;/mtext&gt;&lt;mfrac&gt;&lt;mn&gt;4&lt;/mn&gt;&lt;mn&gt;5&lt;/mn&gt;&lt;/mfrac&gt;&lt;mo&gt;×&lt;/mo&gt;&lt;mn&gt;3&lt;/mn&gt;&lt;mtext&gt;&lt;/mtext&gt;&lt;mfrac&gt;&lt;mn&gt;2&lt;/mn&gt;&lt;mn&gt;7&lt;/mn&gt;&lt;/mfrac&gt;&lt;/math&gt;" id="1165" name="Google Shape;1165;p81" title="2 four fifths times 3 two sevenths"/>
          <p:cNvPicPr preferRelativeResize="0"/>
          <p:nvPr/>
        </p:nvPicPr>
        <p:blipFill rotWithShape="1">
          <a:blip r:embed="rId3">
            <a:alphaModFix/>
          </a:blip>
          <a:srcRect b="0" l="17342" r="58287" t="0"/>
          <a:stretch/>
        </p:blipFill>
        <p:spPr>
          <a:xfrm>
            <a:off x="5234100" y="4099938"/>
            <a:ext cx="298300" cy="609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6" name="Google Shape;1166;p81"/>
          <p:cNvSpPr txBox="1"/>
          <p:nvPr>
            <p:ph idx="1" type="body"/>
          </p:nvPr>
        </p:nvSpPr>
        <p:spPr>
          <a:xfrm>
            <a:off x="324000" y="1673700"/>
            <a:ext cx="8496000" cy="5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Here</a:t>
            </a:r>
            <a:endParaRPr/>
          </a:p>
        </p:txBody>
      </p:sp>
      <p:sp>
        <p:nvSpPr>
          <p:cNvPr id="1167" name="Google Shape;1167;p81"/>
          <p:cNvSpPr txBox="1"/>
          <p:nvPr>
            <p:ph idx="1" type="body"/>
          </p:nvPr>
        </p:nvSpPr>
        <p:spPr>
          <a:xfrm>
            <a:off x="1046700" y="1673700"/>
            <a:ext cx="7925700" cy="5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are</a:t>
            </a:r>
            <a:endParaRPr/>
          </a:p>
        </p:txBody>
      </p:sp>
      <p:sp>
        <p:nvSpPr>
          <p:cNvPr id="1168" name="Google Shape;1168;p81"/>
          <p:cNvSpPr txBox="1"/>
          <p:nvPr>
            <p:ph idx="1" type="body"/>
          </p:nvPr>
        </p:nvSpPr>
        <p:spPr>
          <a:xfrm>
            <a:off x="1580100" y="1673700"/>
            <a:ext cx="7925700" cy="5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her</a:t>
            </a:r>
            <a:endParaRPr/>
          </a:p>
        </p:txBody>
      </p:sp>
      <p:sp>
        <p:nvSpPr>
          <p:cNvPr id="1169" name="Google Shape;1169;p81"/>
          <p:cNvSpPr txBox="1"/>
          <p:nvPr>
            <p:ph idx="1" type="body"/>
          </p:nvPr>
        </p:nvSpPr>
        <p:spPr>
          <a:xfrm>
            <a:off x="2113500" y="1673700"/>
            <a:ext cx="7925700" cy="5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workings</a:t>
            </a:r>
            <a:endParaRPr/>
          </a:p>
        </p:txBody>
      </p:sp>
      <p:sp>
        <p:nvSpPr>
          <p:cNvPr id="1170" name="Google Shape;1170;p81"/>
          <p:cNvSpPr txBox="1"/>
          <p:nvPr>
            <p:ph idx="1" type="body"/>
          </p:nvPr>
        </p:nvSpPr>
        <p:spPr>
          <a:xfrm>
            <a:off x="3369600" y="1673700"/>
            <a:ext cx="6822000" cy="5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for</a:t>
            </a:r>
            <a:endParaRPr/>
          </a:p>
        </p:txBody>
      </p:sp>
      <p:sp>
        <p:nvSpPr>
          <p:cNvPr id="1171" name="Google Shape;1171;p81"/>
          <p:cNvSpPr txBox="1"/>
          <p:nvPr>
            <p:ph idx="1" type="body"/>
          </p:nvPr>
        </p:nvSpPr>
        <p:spPr>
          <a:xfrm>
            <a:off x="3830375" y="1673700"/>
            <a:ext cx="6513600" cy="5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</a:t>
            </a:r>
            <a:endParaRPr/>
          </a:p>
        </p:txBody>
      </p:sp>
      <p:sp>
        <p:nvSpPr>
          <p:cNvPr id="1172" name="Google Shape;1172;p81"/>
          <p:cNvSpPr txBox="1"/>
          <p:nvPr>
            <p:ph idx="1" type="body"/>
          </p:nvPr>
        </p:nvSpPr>
        <p:spPr>
          <a:xfrm>
            <a:off x="4391525" y="1673700"/>
            <a:ext cx="6104700" cy="5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calculation: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82"/>
          <p:cNvSpPr txBox="1"/>
          <p:nvPr/>
        </p:nvSpPr>
        <p:spPr>
          <a:xfrm>
            <a:off x="6574825" y="4324275"/>
            <a:ext cx="198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convert to a mixed number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8" name="Google Shape;1178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strategies</a:t>
            </a:r>
            <a:endParaRPr/>
          </a:p>
        </p:txBody>
      </p:sp>
      <p:sp>
        <p:nvSpPr>
          <p:cNvPr id="1179" name="Google Shape;1179;p82"/>
          <p:cNvSpPr txBox="1"/>
          <p:nvPr>
            <p:ph idx="1" type="body"/>
          </p:nvPr>
        </p:nvSpPr>
        <p:spPr>
          <a:xfrm>
            <a:off x="324000" y="759300"/>
            <a:ext cx="8237700" cy="110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One </a:t>
            </a:r>
            <a:r>
              <a:rPr lang="en-GB"/>
              <a:t>disadvantage</a:t>
            </a:r>
            <a:r>
              <a:rPr lang="en-GB"/>
              <a:t> of converting mixed numbers to improper fractions is that you can end up with large numerators and denominators.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Remember that you can write the new numerators and denominators using </a:t>
            </a:r>
            <a:r>
              <a:rPr lang="en-GB"/>
              <a:t>factors</a:t>
            </a:r>
            <a:r>
              <a:rPr lang="en-GB"/>
              <a:t> to simplify before multiplying.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\ \frac{4}{5}\times3\ \frac{2}{7}&quot;&gt;&lt;mn&gt;2&lt;/mn&gt;&lt;mtext&gt;&lt;/mtext&gt;&lt;mfrac&gt;&lt;mn&gt;4&lt;/mn&gt;&lt;mn&gt;5&lt;/mn&gt;&lt;/mfrac&gt;&lt;mo&gt;×&lt;/mo&gt;&lt;mn&gt;3&lt;/mn&gt;&lt;mtext&gt;&lt;/mtext&gt;&lt;mfrac&gt;&lt;mn&gt;2&lt;/mn&gt;&lt;mn&gt;7&lt;/mn&gt;&lt;/mfrac&gt;&lt;/math&gt;" id="1180" name="Google Shape;1180;p82" title="2 four fifths times 3 two sev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000" y="3105075"/>
            <a:ext cx="1223978" cy="60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14}{5}\times\frac{23}{7}=\frac{2\times7\times23}{5\times7}=\frac{7\times2\times23}{7\times5}=\frac{46}{5}=9\ \frac{1}{5}&quot;&gt;&lt;mo&gt;=&lt;/mo&gt;&lt;mfrac&gt;&lt;mn&gt;14&lt;/mn&gt;&lt;mn&gt;5&lt;/mn&gt;&lt;/mfrac&gt;&lt;mo&gt;×&lt;/mo&gt;&lt;mfrac&gt;&lt;mn&gt;23&lt;/mn&gt;&lt;mn&gt;7&lt;/mn&gt;&lt;/mfrac&gt;&lt;mo&gt;=&lt;/mo&gt;&lt;mfrac&gt;&lt;mrow&gt;&lt;mn&gt;2&lt;/mn&gt;&lt;mo&gt;×&lt;/mo&gt;&lt;mn&gt;7&lt;/mn&gt;&lt;mo&gt;×&lt;/mo&gt;&lt;mn&gt;23&lt;/mn&gt;&lt;/mrow&gt;&lt;mrow&gt;&lt;mn&gt;5&lt;/mn&gt;&lt;mo&gt;×&lt;/mo&gt;&lt;mn&gt;7&lt;/mn&gt;&lt;/mrow&gt;&lt;/mfrac&gt;&lt;mo&gt;=&lt;/mo&gt;&lt;mfrac&gt;&lt;mrow&gt;&lt;mn&gt;7&lt;/mn&gt;&lt;mo&gt;×&lt;/mo&gt;&lt;mn&gt;2&lt;/mn&gt;&lt;mo&gt;×&lt;/mo&gt;&lt;mn&gt;23&lt;/mn&gt;&lt;/mrow&gt;&lt;mrow&gt;&lt;mn&gt;7&lt;/mn&gt;&lt;mo&gt;×&lt;/mo&gt;&lt;mn&gt;5&lt;/mn&gt;&lt;/mrow&gt;&lt;/mfrac&gt;&lt;mo&gt;=&lt;/mo&gt;&lt;mfrac&gt;&lt;mn&gt;46&lt;/mn&gt;&lt;mn&gt;5&lt;/mn&gt;&lt;/mfrac&gt;&lt;mo&gt;=&lt;/mo&gt;&lt;mn&gt;9&lt;/mn&gt;&lt;mtext&gt;&lt;/mtext&gt;&lt;mfrac&gt;&lt;mn&gt;1&lt;/mn&gt;&lt;mn&gt;5&lt;/mn&gt;&lt;/mfrac&gt;&lt;/math&gt;" id="1181" name="Google Shape;1181;p82" title="equals fourteen fifths times 23 over 7 equals the fraction with numerator 2 times 7 times 23 and denominator 5 times 7 equals the fraction with numerator 7 times 2 times 23 and denominator 7 times 5 equals 46 over 5 equals 9 one fif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7575" y="3105075"/>
            <a:ext cx="6314082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2" name="Google Shape;1182;p82"/>
          <p:cNvSpPr/>
          <p:nvPr/>
        </p:nvSpPr>
        <p:spPr>
          <a:xfrm>
            <a:off x="2118800" y="2981475"/>
            <a:ext cx="1439400" cy="80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83" name="Google Shape;1183;p82"/>
          <p:cNvCxnSpPr/>
          <p:nvPr/>
        </p:nvCxnSpPr>
        <p:spPr>
          <a:xfrm flipH="1" rot="10800000">
            <a:off x="2118800" y="3846925"/>
            <a:ext cx="607500" cy="468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4" name="Google Shape;1184;p82"/>
          <p:cNvSpPr txBox="1"/>
          <p:nvPr/>
        </p:nvSpPr>
        <p:spPr>
          <a:xfrm>
            <a:off x="1049200" y="4324275"/>
            <a:ext cx="198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write as improper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fractions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85" name="Google Shape;1185;p82"/>
          <p:cNvCxnSpPr/>
          <p:nvPr/>
        </p:nvCxnSpPr>
        <p:spPr>
          <a:xfrm flipH="1" rot="10800000">
            <a:off x="3834425" y="3846925"/>
            <a:ext cx="607500" cy="468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6" name="Google Shape;1186;p82"/>
          <p:cNvSpPr txBox="1"/>
          <p:nvPr/>
        </p:nvSpPr>
        <p:spPr>
          <a:xfrm>
            <a:off x="2764825" y="4324275"/>
            <a:ext cx="198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write using factors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7" name="Google Shape;1187;p82"/>
          <p:cNvSpPr/>
          <p:nvPr/>
        </p:nvSpPr>
        <p:spPr>
          <a:xfrm>
            <a:off x="3546900" y="2965225"/>
            <a:ext cx="1675200" cy="80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88" name="Google Shape;1188;p82"/>
          <p:cNvCxnSpPr/>
          <p:nvPr/>
        </p:nvCxnSpPr>
        <p:spPr>
          <a:xfrm flipH="1" rot="10800000">
            <a:off x="5663225" y="3846925"/>
            <a:ext cx="607500" cy="468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9" name="Google Shape;1189;p82"/>
          <p:cNvSpPr txBox="1"/>
          <p:nvPr/>
        </p:nvSpPr>
        <p:spPr>
          <a:xfrm>
            <a:off x="4593625" y="4324275"/>
            <a:ext cx="198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arrange common factors together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0" name="Google Shape;1190;p82"/>
          <p:cNvSpPr/>
          <p:nvPr/>
        </p:nvSpPr>
        <p:spPr>
          <a:xfrm>
            <a:off x="5222100" y="3009075"/>
            <a:ext cx="1675200" cy="80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91" name="Google Shape;1191;p82"/>
          <p:cNvCxnSpPr/>
          <p:nvPr/>
        </p:nvCxnSpPr>
        <p:spPr>
          <a:xfrm flipH="1" rot="10800000">
            <a:off x="6776782" y="3846925"/>
            <a:ext cx="607500" cy="468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2" name="Google Shape;1192;p82"/>
          <p:cNvSpPr txBox="1"/>
          <p:nvPr/>
        </p:nvSpPr>
        <p:spPr>
          <a:xfrm>
            <a:off x="6118982" y="4321230"/>
            <a:ext cx="127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multiply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3" name="Google Shape;1193;p82"/>
          <p:cNvSpPr/>
          <p:nvPr/>
        </p:nvSpPr>
        <p:spPr>
          <a:xfrm>
            <a:off x="6945675" y="3009075"/>
            <a:ext cx="739200" cy="80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94" name="Google Shape;1194;p82"/>
          <p:cNvCxnSpPr/>
          <p:nvPr/>
        </p:nvCxnSpPr>
        <p:spPr>
          <a:xfrm flipH="1" rot="10800000">
            <a:off x="7644425" y="3846925"/>
            <a:ext cx="607500" cy="468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5" name="Google Shape;1195;p82"/>
          <p:cNvSpPr/>
          <p:nvPr/>
        </p:nvSpPr>
        <p:spPr>
          <a:xfrm>
            <a:off x="7733250" y="2965225"/>
            <a:ext cx="739200" cy="80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82"/>
          <p:cNvSpPr/>
          <p:nvPr/>
        </p:nvSpPr>
        <p:spPr>
          <a:xfrm rot="-2329789">
            <a:off x="5715906" y="2943044"/>
            <a:ext cx="299995" cy="937561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strategies</a:t>
            </a:r>
            <a:endParaRPr/>
          </a:p>
        </p:txBody>
      </p:sp>
      <p:sp>
        <p:nvSpPr>
          <p:cNvPr id="1202" name="Google Shape;1202;p83"/>
          <p:cNvSpPr txBox="1"/>
          <p:nvPr>
            <p:ph idx="1" type="body"/>
          </p:nvPr>
        </p:nvSpPr>
        <p:spPr>
          <a:xfrm>
            <a:off x="324000" y="7593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can use any of the methods we have looked at.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Some may be more </a:t>
            </a:r>
            <a:r>
              <a:rPr lang="en-GB">
                <a:solidFill>
                  <a:schemeClr val="accent5"/>
                </a:solidFill>
              </a:rPr>
              <a:t>efficient</a:t>
            </a:r>
            <a:r>
              <a:rPr lang="en-GB"/>
              <a:t> in different situations. </a:t>
            </a:r>
            <a:endParaRPr/>
          </a:p>
        </p:txBody>
      </p:sp>
      <p:sp>
        <p:nvSpPr>
          <p:cNvPr id="1203" name="Google Shape;1203;p83"/>
          <p:cNvSpPr txBox="1"/>
          <p:nvPr>
            <p:ph idx="1" type="body"/>
          </p:nvPr>
        </p:nvSpPr>
        <p:spPr>
          <a:xfrm>
            <a:off x="324000" y="1699150"/>
            <a:ext cx="8496000" cy="4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E.g.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3\ \frac{3}{4}\times24&quot;&gt;&lt;mn&gt;3&lt;/mn&gt;&lt;mtext&gt;&lt;/mtext&gt;&lt;mfrac&gt;&lt;mn&gt;3&lt;/mn&gt;&lt;mn&gt;4&lt;/mn&gt;&lt;/mfrac&gt;&lt;mo&gt;×&lt;/mo&gt;&lt;mn&gt;24&lt;/mn&gt;&lt;/math&gt;" id="1204" name="Google Shape;1204;p83" title="3 three fourths times 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175" y="2296950"/>
            <a:ext cx="862191" cy="48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 \frac{3}{4}\times24&quot;&gt;&lt;mn&gt;3&lt;/mn&gt;&lt;mtext&gt;&lt;/mtext&gt;&lt;mfrac&gt;&lt;mn&gt;3&lt;/mn&gt;&lt;mn&gt;4&lt;/mn&gt;&lt;/mfrac&gt;&lt;mo&gt;×&lt;/mo&gt;&lt;mn&gt;24&lt;/mn&gt;&lt;/math&gt;" id="1205" name="Google Shape;1205;p83" title="3 three fourths times 24"/>
          <p:cNvPicPr preferRelativeResize="0"/>
          <p:nvPr/>
        </p:nvPicPr>
        <p:blipFill rotWithShape="1">
          <a:blip r:embed="rId3">
            <a:alphaModFix/>
          </a:blip>
          <a:srcRect b="0" l="0" r="50590" t="0"/>
          <a:stretch/>
        </p:blipFill>
        <p:spPr>
          <a:xfrm>
            <a:off x="869550" y="2937450"/>
            <a:ext cx="426000" cy="48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 \frac{3}{4}\times24&quot;&gt;&lt;mn&gt;3&lt;/mn&gt;&lt;mtext&gt;&lt;/mtext&gt;&lt;mfrac&gt;&lt;mn&gt;3&lt;/mn&gt;&lt;mn&gt;4&lt;/mn&gt;&lt;/mfrac&gt;&lt;mo&gt;×&lt;/mo&gt;&lt;mn&gt;24&lt;/mn&gt;&lt;/math&gt;" id="1206" name="Google Shape;1206;p83" title="3 three fourths times 24"/>
          <p:cNvPicPr preferRelativeResize="0"/>
          <p:nvPr/>
        </p:nvPicPr>
        <p:blipFill rotWithShape="1">
          <a:blip r:embed="rId3">
            <a:alphaModFix/>
          </a:blip>
          <a:srcRect b="0" l="0" r="80552" t="0"/>
          <a:stretch/>
        </p:blipFill>
        <p:spPr>
          <a:xfrm>
            <a:off x="1938725" y="2913150"/>
            <a:ext cx="167675" cy="48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 \frac{3}{4}\times24&quot;&gt;&lt;mn&gt;3&lt;/mn&gt;&lt;mtext&gt;&lt;/mtext&gt;&lt;mfrac&gt;&lt;mn&gt;3&lt;/mn&gt;&lt;mn&gt;4&lt;/mn&gt;&lt;/mfrac&gt;&lt;mo&gt;×&lt;/mo&gt;&lt;mn&gt;24&lt;/mn&gt;&lt;/math&gt;" id="1207" name="Google Shape;1207;p83" title="3 three fourths times 24"/>
          <p:cNvPicPr preferRelativeResize="0"/>
          <p:nvPr/>
        </p:nvPicPr>
        <p:blipFill rotWithShape="1">
          <a:blip r:embed="rId3">
            <a:alphaModFix/>
          </a:blip>
          <a:srcRect b="0" l="20967" r="50590" t="0"/>
          <a:stretch/>
        </p:blipFill>
        <p:spPr>
          <a:xfrm>
            <a:off x="2855575" y="2964225"/>
            <a:ext cx="245225" cy="48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 \frac{3}{4}\times5\ \frac{5}{6}&quot;&gt;&lt;mn&gt;3&lt;/mn&gt;&lt;mtext&gt;&lt;/mtext&gt;&lt;mfrac&gt;&lt;mn&gt;3&lt;/mn&gt;&lt;mn&gt;4&lt;/mn&gt;&lt;/mfrac&gt;&lt;mo&gt;×&lt;/mo&gt;&lt;mn&gt;5&lt;/mn&gt;&lt;mtext&gt;&lt;/mtext&gt;&lt;mfrac&gt;&lt;mn&gt;5&lt;/mn&gt;&lt;mn&gt;6&lt;/mn&gt;&lt;/mfrac&gt;&lt;/math&gt;" id="1208" name="Google Shape;1208;p83" title="3 three fourths times 5 five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3621000"/>
            <a:ext cx="976200" cy="48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9" name="Google Shape;1209;p83"/>
          <p:cNvSpPr txBox="1"/>
          <p:nvPr>
            <p:ph idx="1" type="body"/>
          </p:nvPr>
        </p:nvSpPr>
        <p:spPr>
          <a:xfrm>
            <a:off x="1446225" y="3672702"/>
            <a:ext cx="72348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you might prefer to convert to improper fractions.</a:t>
            </a:r>
            <a:endParaRPr/>
          </a:p>
        </p:txBody>
      </p:sp>
      <p:sp>
        <p:nvSpPr>
          <p:cNvPr id="1210" name="Google Shape;1210;p83"/>
          <p:cNvSpPr txBox="1"/>
          <p:nvPr>
            <p:ph idx="1" type="body"/>
          </p:nvPr>
        </p:nvSpPr>
        <p:spPr>
          <a:xfrm>
            <a:off x="1323150" y="2384950"/>
            <a:ext cx="8096100" cy="4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might prefer to use the area model and partition </a:t>
            </a:r>
            <a:endParaRPr/>
          </a:p>
        </p:txBody>
      </p:sp>
      <p:sp>
        <p:nvSpPr>
          <p:cNvPr id="1211" name="Google Shape;1211;p83"/>
          <p:cNvSpPr txBox="1"/>
          <p:nvPr>
            <p:ph idx="1" type="body"/>
          </p:nvPr>
        </p:nvSpPr>
        <p:spPr>
          <a:xfrm>
            <a:off x="366500" y="2994550"/>
            <a:ext cx="7386600" cy="4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</a:t>
            </a:r>
            <a:endParaRPr/>
          </a:p>
        </p:txBody>
      </p:sp>
      <p:sp>
        <p:nvSpPr>
          <p:cNvPr id="1212" name="Google Shape;1212;p83"/>
          <p:cNvSpPr txBox="1"/>
          <p:nvPr>
            <p:ph idx="1" type="body"/>
          </p:nvPr>
        </p:nvSpPr>
        <p:spPr>
          <a:xfrm>
            <a:off x="1355925" y="2994550"/>
            <a:ext cx="6549600" cy="4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into</a:t>
            </a:r>
            <a:endParaRPr/>
          </a:p>
        </p:txBody>
      </p:sp>
      <p:sp>
        <p:nvSpPr>
          <p:cNvPr id="1213" name="Google Shape;1213;p83"/>
          <p:cNvSpPr txBox="1"/>
          <p:nvPr>
            <p:ph idx="1" type="body"/>
          </p:nvPr>
        </p:nvSpPr>
        <p:spPr>
          <a:xfrm>
            <a:off x="2190300" y="2994550"/>
            <a:ext cx="5867700" cy="4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</a:t>
            </a:r>
            <a:endParaRPr/>
          </a:p>
        </p:txBody>
      </p:sp>
      <p:sp>
        <p:nvSpPr>
          <p:cNvPr id="1214" name="Google Shape;1214;p83"/>
          <p:cNvSpPr txBox="1"/>
          <p:nvPr>
            <p:ph idx="1" type="body"/>
          </p:nvPr>
        </p:nvSpPr>
        <p:spPr>
          <a:xfrm>
            <a:off x="3104700" y="2994550"/>
            <a:ext cx="5867700" cy="4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strategies</a:t>
            </a:r>
            <a:endParaRPr/>
          </a:p>
        </p:txBody>
      </p:sp>
      <p:sp>
        <p:nvSpPr>
          <p:cNvPr id="1220" name="Google Shape;1220;p84"/>
          <p:cNvSpPr txBox="1"/>
          <p:nvPr>
            <p:ph idx="1" type="subTitle"/>
          </p:nvPr>
        </p:nvSpPr>
        <p:spPr>
          <a:xfrm>
            <a:off x="337825" y="810000"/>
            <a:ext cx="3982200" cy="34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\ \frac{4}{5}\times2\ \frac{2}{3}&quot;&gt;&lt;mn&gt;1&lt;/mn&gt;&lt;mtext&gt;&lt;/mtext&gt;&lt;mfrac&gt;&lt;mn&gt;4&lt;/mn&gt;&lt;mn&gt;5&lt;/mn&gt;&lt;/mfrac&gt;&lt;mo&gt;×&lt;/mo&gt;&lt;mn&gt;2&lt;/mn&gt;&lt;mtext&gt;&lt;/mtext&gt;&lt;mfrac&gt;&lt;mn&gt;2&lt;/mn&gt;&lt;mn&gt;3&lt;/mn&gt;&lt;/mfrac&gt;&lt;/math&gt;" id="1221" name="Google Shape;1221;p84" title="1 four fifths times 2 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2875" y="773250"/>
            <a:ext cx="1204444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2" name="Google Shape;1222;p84"/>
          <p:cNvPicPr preferRelativeResize="0"/>
          <p:nvPr/>
        </p:nvPicPr>
        <p:blipFill rotWithShape="1">
          <a:blip r:embed="rId4">
            <a:alphaModFix/>
          </a:blip>
          <a:srcRect b="0" l="0" r="77734" t="0"/>
          <a:stretch/>
        </p:blipFill>
        <p:spPr>
          <a:xfrm>
            <a:off x="4824002" y="1580300"/>
            <a:ext cx="1138651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3" name="Google Shape;1223;p84"/>
          <p:cNvSpPr txBox="1"/>
          <p:nvPr>
            <p:ph idx="2" type="subTitle"/>
          </p:nvPr>
        </p:nvSpPr>
        <p:spPr>
          <a:xfrm>
            <a:off x="4824000" y="810000"/>
            <a:ext cx="3982200" cy="34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Calculate</a:t>
            </a:r>
            <a:endParaRPr/>
          </a:p>
        </p:txBody>
      </p:sp>
      <p:pic>
        <p:nvPicPr>
          <p:cNvPr id="1224" name="Google Shape;1224;p84"/>
          <p:cNvPicPr preferRelativeResize="0"/>
          <p:nvPr/>
        </p:nvPicPr>
        <p:blipFill rotWithShape="1">
          <a:blip r:embed="rId4">
            <a:alphaModFix/>
          </a:blip>
          <a:srcRect b="0" l="22655" r="29589" t="0"/>
          <a:stretch/>
        </p:blipFill>
        <p:spPr>
          <a:xfrm>
            <a:off x="4824000" y="2571750"/>
            <a:ext cx="2442301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84"/>
          <p:cNvPicPr preferRelativeResize="0"/>
          <p:nvPr/>
        </p:nvPicPr>
        <p:blipFill rotWithShape="1">
          <a:blip r:embed="rId4">
            <a:alphaModFix/>
          </a:blip>
          <a:srcRect b="0" l="69904" r="14950" t="0"/>
          <a:stretch/>
        </p:blipFill>
        <p:spPr>
          <a:xfrm>
            <a:off x="4823996" y="3268950"/>
            <a:ext cx="774499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6" name="Google Shape;1226;p84"/>
          <p:cNvPicPr preferRelativeResize="0"/>
          <p:nvPr/>
        </p:nvPicPr>
        <p:blipFill rotWithShape="1">
          <a:blip r:embed="rId4">
            <a:alphaModFix/>
          </a:blip>
          <a:srcRect b="0" l="84855" r="0" t="0"/>
          <a:stretch/>
        </p:blipFill>
        <p:spPr>
          <a:xfrm>
            <a:off x="4823990" y="4049875"/>
            <a:ext cx="774499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 \frac{2}{5}\times1\ \frac{3}{4}=\frac{12}{5}\times\frac{7}{4}=\frac{2\times2\times3\times7}{5\times2\times2}=\frac{2\times2\times3\times7}{2\times2\times5}=\frac{21}{5}=4\ \frac{1}{5}&quot;&gt;&lt;mn&gt;2&lt;/mn&gt;&lt;mtext&gt;&lt;/mtext&gt;&lt;mfrac&gt;&lt;mn&gt;2&lt;/mn&gt;&lt;mn&gt;5&lt;/mn&gt;&lt;/mfrac&gt;&lt;mo&gt;×&lt;/mo&gt;&lt;mn&gt;1&lt;/mn&gt;&lt;mtext&gt;&lt;/mtext&gt;&lt;mfrac&gt;&lt;mn&gt;3&lt;/mn&gt;&lt;mn&gt;4&lt;/mn&gt;&lt;/mfrac&gt;&lt;mo&gt;=&lt;/mo&gt;&lt;mfrac&gt;&lt;mn&gt;12&lt;/mn&gt;&lt;mn&gt;5&lt;/mn&gt;&lt;/mfrac&gt;&lt;mo&gt;×&lt;/mo&gt;&lt;mfrac&gt;&lt;mn&gt;7&lt;/mn&gt;&lt;mn&gt;4&lt;/mn&gt;&lt;/mfrac&gt;&lt;mo&gt;=&lt;/mo&gt;&lt;mfrac&gt;&lt;mrow&gt;&lt;mn&gt;2&lt;/mn&gt;&lt;mo&gt;×&lt;/mo&gt;&lt;mn&gt;2&lt;/mn&gt;&lt;mo&gt;×&lt;/mo&gt;&lt;mn&gt;3&lt;/mn&gt;&lt;mo&gt;×&lt;/mo&gt;&lt;mn&gt;7&lt;/mn&gt;&lt;/mrow&gt;&lt;mrow&gt;&lt;mn&gt;5&lt;/mn&gt;&lt;mo&gt;×&lt;/mo&gt;&lt;mn&gt;2&lt;/mn&gt;&lt;mo&gt;×&lt;/mo&gt;&lt;mn&gt;2&lt;/mn&gt;&lt;/mrow&gt;&lt;/mfrac&gt;&lt;mo&gt;=&lt;/mo&gt;&lt;mfrac&gt;&lt;mrow&gt;&lt;mn&gt;2&lt;/mn&gt;&lt;mo&gt;×&lt;/mo&gt;&lt;mn&gt;2&lt;/mn&gt;&lt;mo&gt;×&lt;/mo&gt;&lt;mn&gt;3&lt;/mn&gt;&lt;mo&gt;×&lt;/mo&gt;&lt;mn&gt;7&lt;/mn&gt;&lt;/mrow&gt;&lt;mrow&gt;&lt;mn&gt;2&lt;/mn&gt;&lt;mo&gt;×&lt;/mo&gt;&lt;mn&gt;2&lt;/mn&gt;&lt;mo&gt;×&lt;/mo&gt;&lt;mn&gt;5&lt;/mn&gt;&lt;/mrow&gt;&lt;/mfrac&gt;&lt;mo&gt;=&lt;/mo&gt;&lt;mfrac&gt;&lt;mn&gt;21&lt;/mn&gt;&lt;mn&gt;5&lt;/mn&gt;&lt;/mfrac&gt;&lt;mo&gt;=&lt;/mo&gt;&lt;mn&gt;4&lt;/mn&gt;&lt;mtext&gt;&lt;/mtext&gt;&lt;mfrac&gt;&lt;mn&gt;1&lt;/mn&gt;&lt;mn&gt;5&lt;/mn&gt;&lt;/mfrac&gt;&lt;/math&gt;" id="1227" name="Google Shape;1227;p84" title="2 two fifths times 1 three fourths equals twelve fifths times seven fourths equals the fraction with numerator 2 times 2 times 3 times 7 and denominator 5 times 2 times 2 equals the fraction with numerator 2 times 2 times 3 times 7 and denominator 2 times 2 times 5 equals 21 over 5 equals 4 one fifth"/>
          <p:cNvPicPr preferRelativeResize="0"/>
          <p:nvPr/>
        </p:nvPicPr>
        <p:blipFill rotWithShape="1">
          <a:blip r:embed="rId5">
            <a:alphaModFix/>
          </a:blip>
          <a:srcRect b="0" l="81641" r="9251" t="0"/>
          <a:stretch/>
        </p:blipFill>
        <p:spPr>
          <a:xfrm>
            <a:off x="324005" y="3494106"/>
            <a:ext cx="741426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 \frac{2}{5}\times1\ \frac{3}{4}=\frac{12}{5}\times\frac{7}{4}=\frac{2\times2\times3\times7}{5\times2\times2}=\frac{2\times2\times3\times7}{2\times2\times5}=\frac{21}{5}=4\ \frac{1}{5}&quot;&gt;&lt;mn&gt;2&lt;/mn&gt;&lt;mtext&gt;&lt;/mtext&gt;&lt;mfrac&gt;&lt;mn&gt;2&lt;/mn&gt;&lt;mn&gt;5&lt;/mn&gt;&lt;/mfrac&gt;&lt;mo&gt;×&lt;/mo&gt;&lt;mn&gt;1&lt;/mn&gt;&lt;mtext&gt;&lt;/mtext&gt;&lt;mfrac&gt;&lt;mn&gt;3&lt;/mn&gt;&lt;mn&gt;4&lt;/mn&gt;&lt;/mfrac&gt;&lt;mo&gt;=&lt;/mo&gt;&lt;mfrac&gt;&lt;mn&gt;12&lt;/mn&gt;&lt;mn&gt;5&lt;/mn&gt;&lt;/mfrac&gt;&lt;mo&gt;×&lt;/mo&gt;&lt;mfrac&gt;&lt;mn&gt;7&lt;/mn&gt;&lt;mn&gt;4&lt;/mn&gt;&lt;/mfrac&gt;&lt;mo&gt;=&lt;/mo&gt;&lt;mfrac&gt;&lt;mrow&gt;&lt;mn&gt;2&lt;/mn&gt;&lt;mo&gt;×&lt;/mo&gt;&lt;mn&gt;2&lt;/mn&gt;&lt;mo&gt;×&lt;/mo&gt;&lt;mn&gt;3&lt;/mn&gt;&lt;mo&gt;×&lt;/mo&gt;&lt;mn&gt;7&lt;/mn&gt;&lt;/mrow&gt;&lt;mrow&gt;&lt;mn&gt;5&lt;/mn&gt;&lt;mo&gt;×&lt;/mo&gt;&lt;mn&gt;2&lt;/mn&gt;&lt;mo&gt;×&lt;/mo&gt;&lt;mn&gt;2&lt;/mn&gt;&lt;/mrow&gt;&lt;/mfrac&gt;&lt;mo&gt;=&lt;/mo&gt;&lt;mfrac&gt;&lt;mrow&gt;&lt;mn&gt;2&lt;/mn&gt;&lt;mo&gt;×&lt;/mo&gt;&lt;mn&gt;2&lt;/mn&gt;&lt;mo&gt;×&lt;/mo&gt;&lt;mn&gt;3&lt;/mn&gt;&lt;mo&gt;×&lt;/mo&gt;&lt;mn&gt;7&lt;/mn&gt;&lt;/mrow&gt;&lt;mrow&gt;&lt;mn&gt;2&lt;/mn&gt;&lt;mo&gt;×&lt;/mo&gt;&lt;mn&gt;2&lt;/mn&gt;&lt;mo&gt;×&lt;/mo&gt;&lt;mn&gt;5&lt;/mn&gt;&lt;/mrow&gt;&lt;/mfrac&gt;&lt;mo&gt;=&lt;/mo&gt;&lt;mfrac&gt;&lt;mn&gt;21&lt;/mn&gt;&lt;mn&gt;5&lt;/mn&gt;&lt;/mfrac&gt;&lt;mo&gt;=&lt;/mo&gt;&lt;mn&gt;4&lt;/mn&gt;&lt;mtext&gt;&lt;/mtext&gt;&lt;mfrac&gt;&lt;mn&gt;1&lt;/mn&gt;&lt;mn&gt;5&lt;/mn&gt;&lt;/mfrac&gt;&lt;/math&gt;" id="1228" name="Google Shape;1228;p84" title="2 two fifths times 1 three fourths equals twelve fifths times seven fourths equals the fraction with numerator 2 times 2 times 3 times 7 and denominator 5 times 2 times 2 equals the fraction with numerator 2 times 2 times 3 times 7 and denominator 2 times 2 times 5 equals 21 over 5 equals 4 one fifth"/>
          <p:cNvPicPr preferRelativeResize="0"/>
          <p:nvPr/>
        </p:nvPicPr>
        <p:blipFill rotWithShape="1">
          <a:blip r:embed="rId5">
            <a:alphaModFix/>
          </a:blip>
          <a:srcRect b="0" l="56667" r="18532" t="0"/>
          <a:stretch/>
        </p:blipFill>
        <p:spPr>
          <a:xfrm>
            <a:off x="337825" y="2781313"/>
            <a:ext cx="2018998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 \frac{2}{5}\times1\ \frac{3}{4}=\frac{12}{5}\times\frac{7}{4}=\frac{2\times2\times3\times7}{5\times2\times2}=\frac{2\times2\times3\times7}{2\times2\times5}=\frac{21}{5}=4\ \frac{1}{5}&quot;&gt;&lt;mn&gt;2&lt;/mn&gt;&lt;mtext&gt;&lt;/mtext&gt;&lt;mfrac&gt;&lt;mn&gt;2&lt;/mn&gt;&lt;mn&gt;5&lt;/mn&gt;&lt;/mfrac&gt;&lt;mo&gt;×&lt;/mo&gt;&lt;mn&gt;1&lt;/mn&gt;&lt;mtext&gt;&lt;/mtext&gt;&lt;mfrac&gt;&lt;mn&gt;3&lt;/mn&gt;&lt;mn&gt;4&lt;/mn&gt;&lt;/mfrac&gt;&lt;mo&gt;=&lt;/mo&gt;&lt;mfrac&gt;&lt;mn&gt;12&lt;/mn&gt;&lt;mn&gt;5&lt;/mn&gt;&lt;/mfrac&gt;&lt;mo&gt;×&lt;/mo&gt;&lt;mfrac&gt;&lt;mn&gt;7&lt;/mn&gt;&lt;mn&gt;4&lt;/mn&gt;&lt;/mfrac&gt;&lt;mo&gt;=&lt;/mo&gt;&lt;mfrac&gt;&lt;mrow&gt;&lt;mn&gt;2&lt;/mn&gt;&lt;mo&gt;×&lt;/mo&gt;&lt;mn&gt;2&lt;/mn&gt;&lt;mo&gt;×&lt;/mo&gt;&lt;mn&gt;3&lt;/mn&gt;&lt;mo&gt;×&lt;/mo&gt;&lt;mn&gt;7&lt;/mn&gt;&lt;/mrow&gt;&lt;mrow&gt;&lt;mn&gt;5&lt;/mn&gt;&lt;mo&gt;×&lt;/mo&gt;&lt;mn&gt;2&lt;/mn&gt;&lt;mo&gt;×&lt;/mo&gt;&lt;mn&gt;2&lt;/mn&gt;&lt;/mrow&gt;&lt;/mfrac&gt;&lt;mo&gt;=&lt;/mo&gt;&lt;mfrac&gt;&lt;mrow&gt;&lt;mn&gt;2&lt;/mn&gt;&lt;mo&gt;×&lt;/mo&gt;&lt;mn&gt;2&lt;/mn&gt;&lt;mo&gt;×&lt;/mo&gt;&lt;mn&gt;3&lt;/mn&gt;&lt;mo&gt;×&lt;/mo&gt;&lt;mn&gt;7&lt;/mn&gt;&lt;/mrow&gt;&lt;mrow&gt;&lt;mn&gt;2&lt;/mn&gt;&lt;mo&gt;×&lt;/mo&gt;&lt;mn&gt;2&lt;/mn&gt;&lt;mo&gt;×&lt;/mo&gt;&lt;mn&gt;5&lt;/mn&gt;&lt;/mrow&gt;&lt;/mfrac&gt;&lt;mo&gt;=&lt;/mo&gt;&lt;mfrac&gt;&lt;mn&gt;21&lt;/mn&gt;&lt;mn&gt;5&lt;/mn&gt;&lt;/mfrac&gt;&lt;mo&gt;=&lt;/mo&gt;&lt;mn&gt;4&lt;/mn&gt;&lt;mtext&gt;&lt;/mtext&gt;&lt;mfrac&gt;&lt;mn&gt;1&lt;/mn&gt;&lt;mn&gt;5&lt;/mn&gt;&lt;/mfrac&gt;&lt;/math&gt;" id="1229" name="Google Shape;1229;p84" title="2 two fifths times 1 three fourths equals twelve fifths times seven fourths equals the fraction with numerator 2 times 2 times 3 times 7 and denominator 5 times 2 times 2 equals the fraction with numerator 2 times 2 times 3 times 7 and denominator 2 times 2 times 5 equals 21 over 5 equals 4 one fifth"/>
          <p:cNvPicPr preferRelativeResize="0"/>
          <p:nvPr/>
        </p:nvPicPr>
        <p:blipFill rotWithShape="1">
          <a:blip r:embed="rId5">
            <a:alphaModFix/>
          </a:blip>
          <a:srcRect b="0" l="31823" r="43377" t="0"/>
          <a:stretch/>
        </p:blipFill>
        <p:spPr>
          <a:xfrm>
            <a:off x="337825" y="2068519"/>
            <a:ext cx="2018998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 \frac{2}{5}\times1\ \frac{3}{4}=\frac{12}{5}\times\frac{7}{4}=\frac{2\times2\times3\times7}{5\times2\times2}=\frac{2\times2\times3\times7}{2\times2\times5}=\frac{21}{5}=4\ \frac{1}{5}&quot;&gt;&lt;mn&gt;2&lt;/mn&gt;&lt;mtext&gt;&lt;/mtext&gt;&lt;mfrac&gt;&lt;mn&gt;2&lt;/mn&gt;&lt;mn&gt;5&lt;/mn&gt;&lt;/mfrac&gt;&lt;mo&gt;×&lt;/mo&gt;&lt;mn&gt;1&lt;/mn&gt;&lt;mtext&gt;&lt;/mtext&gt;&lt;mfrac&gt;&lt;mn&gt;3&lt;/mn&gt;&lt;mn&gt;4&lt;/mn&gt;&lt;/mfrac&gt;&lt;mo&gt;=&lt;/mo&gt;&lt;mfrac&gt;&lt;mn&gt;12&lt;/mn&gt;&lt;mn&gt;5&lt;/mn&gt;&lt;/mfrac&gt;&lt;mo&gt;×&lt;/mo&gt;&lt;mfrac&gt;&lt;mn&gt;7&lt;/mn&gt;&lt;mn&gt;4&lt;/mn&gt;&lt;/mfrac&gt;&lt;mo&gt;=&lt;/mo&gt;&lt;mfrac&gt;&lt;mrow&gt;&lt;mn&gt;2&lt;/mn&gt;&lt;mo&gt;×&lt;/mo&gt;&lt;mn&gt;2&lt;/mn&gt;&lt;mo&gt;×&lt;/mo&gt;&lt;mn&gt;3&lt;/mn&gt;&lt;mo&gt;×&lt;/mo&gt;&lt;mn&gt;7&lt;/mn&gt;&lt;/mrow&gt;&lt;mrow&gt;&lt;mn&gt;5&lt;/mn&gt;&lt;mo&gt;×&lt;/mo&gt;&lt;mn&gt;2&lt;/mn&gt;&lt;mo&gt;×&lt;/mo&gt;&lt;mn&gt;2&lt;/mn&gt;&lt;/mrow&gt;&lt;/mfrac&gt;&lt;mo&gt;=&lt;/mo&gt;&lt;mfrac&gt;&lt;mrow&gt;&lt;mn&gt;2&lt;/mn&gt;&lt;mo&gt;×&lt;/mo&gt;&lt;mn&gt;2&lt;/mn&gt;&lt;mo&gt;×&lt;/mo&gt;&lt;mn&gt;3&lt;/mn&gt;&lt;mo&gt;×&lt;/mo&gt;&lt;mn&gt;7&lt;/mn&gt;&lt;/mrow&gt;&lt;mrow&gt;&lt;mn&gt;2&lt;/mn&gt;&lt;mo&gt;×&lt;/mo&gt;&lt;mn&gt;2&lt;/mn&gt;&lt;mo&gt;×&lt;/mo&gt;&lt;mn&gt;5&lt;/mn&gt;&lt;/mrow&gt;&lt;/mfrac&gt;&lt;mo&gt;=&lt;/mo&gt;&lt;mfrac&gt;&lt;mn&gt;21&lt;/mn&gt;&lt;mn&gt;5&lt;/mn&gt;&lt;/mfrac&gt;&lt;mo&gt;=&lt;/mo&gt;&lt;mn&gt;4&lt;/mn&gt;&lt;mtext&gt;&lt;/mtext&gt;&lt;mfrac&gt;&lt;mn&gt;1&lt;/mn&gt;&lt;mn&gt;5&lt;/mn&gt;&lt;/mfrac&gt;&lt;/math&gt;" id="1230" name="Google Shape;1230;p84" title="2 two fifths times 1 three fourths equals twelve fifths times seven fourths equals the fraction with numerator 2 times 2 times 3 times 7 and denominator 5 times 2 times 2 equals the fraction with numerator 2 times 2 times 3 times 7 and denominator 2 times 2 times 5 equals 21 over 5 equals 4 one fifth"/>
          <p:cNvPicPr preferRelativeResize="0"/>
          <p:nvPr/>
        </p:nvPicPr>
        <p:blipFill rotWithShape="1">
          <a:blip r:embed="rId5">
            <a:alphaModFix/>
          </a:blip>
          <a:srcRect b="0" l="15859" r="67931" t="0"/>
          <a:stretch/>
        </p:blipFill>
        <p:spPr>
          <a:xfrm>
            <a:off x="324000" y="1355725"/>
            <a:ext cx="131960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 \frac{2}{5}\times1\ \frac{3}{4}=\frac{12}{5}\times\frac{7}{4}=\frac{2\times2\times3\times7}{5\times2\times2}=\frac{2\times2\times3\times7}{2\times2\times5}=\frac{21}{5}=4\ \frac{1}{5}&quot;&gt;&lt;mn&gt;2&lt;/mn&gt;&lt;mtext&gt;&lt;/mtext&gt;&lt;mfrac&gt;&lt;mn&gt;2&lt;/mn&gt;&lt;mn&gt;5&lt;/mn&gt;&lt;/mfrac&gt;&lt;mo&gt;×&lt;/mo&gt;&lt;mn&gt;1&lt;/mn&gt;&lt;mtext&gt;&lt;/mtext&gt;&lt;mfrac&gt;&lt;mn&gt;3&lt;/mn&gt;&lt;mn&gt;4&lt;/mn&gt;&lt;/mfrac&gt;&lt;mo&gt;=&lt;/mo&gt;&lt;mfrac&gt;&lt;mn&gt;12&lt;/mn&gt;&lt;mn&gt;5&lt;/mn&gt;&lt;/mfrac&gt;&lt;mo&gt;×&lt;/mo&gt;&lt;mfrac&gt;&lt;mn&gt;7&lt;/mn&gt;&lt;mn&gt;4&lt;/mn&gt;&lt;/mfrac&gt;&lt;mo&gt;=&lt;/mo&gt;&lt;mfrac&gt;&lt;mrow&gt;&lt;mn&gt;2&lt;/mn&gt;&lt;mo&gt;×&lt;/mo&gt;&lt;mn&gt;2&lt;/mn&gt;&lt;mo&gt;×&lt;/mo&gt;&lt;mn&gt;3&lt;/mn&gt;&lt;mo&gt;×&lt;/mo&gt;&lt;mn&gt;7&lt;/mn&gt;&lt;/mrow&gt;&lt;mrow&gt;&lt;mn&gt;5&lt;/mn&gt;&lt;mo&gt;×&lt;/mo&gt;&lt;mn&gt;2&lt;/mn&gt;&lt;mo&gt;×&lt;/mo&gt;&lt;mn&gt;2&lt;/mn&gt;&lt;/mrow&gt;&lt;/mfrac&gt;&lt;mo&gt;=&lt;/mo&gt;&lt;mfrac&gt;&lt;mrow&gt;&lt;mn&gt;2&lt;/mn&gt;&lt;mo&gt;×&lt;/mo&gt;&lt;mn&gt;2&lt;/mn&gt;&lt;mo&gt;×&lt;/mo&gt;&lt;mn&gt;3&lt;/mn&gt;&lt;mo&gt;×&lt;/mo&gt;&lt;mn&gt;7&lt;/mn&gt;&lt;/mrow&gt;&lt;mrow&gt;&lt;mn&gt;2&lt;/mn&gt;&lt;mo&gt;×&lt;/mo&gt;&lt;mn&gt;2&lt;/mn&gt;&lt;mo&gt;×&lt;/mo&gt;&lt;mn&gt;5&lt;/mn&gt;&lt;/mrow&gt;&lt;/mfrac&gt;&lt;mo&gt;=&lt;/mo&gt;&lt;mfrac&gt;&lt;mn&gt;21&lt;/mn&gt;&lt;mn&gt;5&lt;/mn&gt;&lt;/mfrac&gt;&lt;mo&gt;=&lt;/mo&gt;&lt;mn&gt;4&lt;/mn&gt;&lt;mtext&gt;&lt;/mtext&gt;&lt;mfrac&gt;&lt;mn&gt;1&lt;/mn&gt;&lt;mn&gt;5&lt;/mn&gt;&lt;/mfrac&gt;&lt;/math&gt;" id="1231" name="Google Shape;1231;p84" title="2 two fifths times 1 three fourths equals twelve fifths times seven fourths equals the fraction with numerator 2 times 2 times 3 times 7 and denominator 5 times 2 times 2 equals the fraction with numerator 2 times 2 times 3 times 7 and denominator 2 times 2 times 5 equals 21 over 5 equals 4 one fifth"/>
          <p:cNvPicPr preferRelativeResize="0"/>
          <p:nvPr/>
        </p:nvPicPr>
        <p:blipFill rotWithShape="1">
          <a:blip r:embed="rId5">
            <a:alphaModFix/>
          </a:blip>
          <a:srcRect b="0" l="0" r="83791" t="0"/>
          <a:stretch/>
        </p:blipFill>
        <p:spPr>
          <a:xfrm>
            <a:off x="1684806" y="810000"/>
            <a:ext cx="131960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 \frac{2}{5}\times1\ \frac{3}{4}=\frac{12}{5}\times\frac{7}{4}=\frac{2\times2\times3\times7}{5\times2\times2}=\frac{2\times2\times3\times7}{2\times2\times5}=\frac{21}{5}=4\ \frac{1}{5}&quot;&gt;&lt;mn&gt;2&lt;/mn&gt;&lt;mtext&gt;&lt;/mtext&gt;&lt;mfrac&gt;&lt;mn&gt;2&lt;/mn&gt;&lt;mn&gt;5&lt;/mn&gt;&lt;/mfrac&gt;&lt;mo&gt;×&lt;/mo&gt;&lt;mn&gt;1&lt;/mn&gt;&lt;mtext&gt;&lt;/mtext&gt;&lt;mfrac&gt;&lt;mn&gt;3&lt;/mn&gt;&lt;mn&gt;4&lt;/mn&gt;&lt;/mfrac&gt;&lt;mo&gt;=&lt;/mo&gt;&lt;mfrac&gt;&lt;mn&gt;12&lt;/mn&gt;&lt;mn&gt;5&lt;/mn&gt;&lt;/mfrac&gt;&lt;mo&gt;×&lt;/mo&gt;&lt;mfrac&gt;&lt;mn&gt;7&lt;/mn&gt;&lt;mn&gt;4&lt;/mn&gt;&lt;/mfrac&gt;&lt;mo&gt;=&lt;/mo&gt;&lt;mfrac&gt;&lt;mrow&gt;&lt;mn&gt;2&lt;/mn&gt;&lt;mo&gt;×&lt;/mo&gt;&lt;mn&gt;2&lt;/mn&gt;&lt;mo&gt;×&lt;/mo&gt;&lt;mn&gt;3&lt;/mn&gt;&lt;mo&gt;×&lt;/mo&gt;&lt;mn&gt;7&lt;/mn&gt;&lt;/mrow&gt;&lt;mrow&gt;&lt;mn&gt;5&lt;/mn&gt;&lt;mo&gt;×&lt;/mo&gt;&lt;mn&gt;2&lt;/mn&gt;&lt;mo&gt;×&lt;/mo&gt;&lt;mn&gt;2&lt;/mn&gt;&lt;/mrow&gt;&lt;/mfrac&gt;&lt;mo&gt;=&lt;/mo&gt;&lt;mfrac&gt;&lt;mrow&gt;&lt;mn&gt;2&lt;/mn&gt;&lt;mo&gt;×&lt;/mo&gt;&lt;mn&gt;2&lt;/mn&gt;&lt;mo&gt;×&lt;/mo&gt;&lt;mn&gt;3&lt;/mn&gt;&lt;mo&gt;×&lt;/mo&gt;&lt;mn&gt;7&lt;/mn&gt;&lt;/mrow&gt;&lt;mrow&gt;&lt;mn&gt;2&lt;/mn&gt;&lt;mo&gt;×&lt;/mo&gt;&lt;mn&gt;2&lt;/mn&gt;&lt;mo&gt;×&lt;/mo&gt;&lt;mn&gt;5&lt;/mn&gt;&lt;/mrow&gt;&lt;/mfrac&gt;&lt;mo&gt;=&lt;/mo&gt;&lt;mfrac&gt;&lt;mn&gt;21&lt;/mn&gt;&lt;mn&gt;5&lt;/mn&gt;&lt;/mfrac&gt;&lt;mo&gt;=&lt;/mo&gt;&lt;mn&gt;4&lt;/mn&gt;&lt;mtext&gt;&lt;/mtext&gt;&lt;mfrac&gt;&lt;mn&gt;1&lt;/mn&gt;&lt;mn&gt;5&lt;/mn&gt;&lt;/mfrac&gt;&lt;/math&gt;" id="1232" name="Google Shape;1232;p84" title="2 two fifths times 1 three fourths equals twelve fifths times seven fourths equals the fraction with numerator 2 times 2 times 3 times 7 and denominator 5 times 2 times 2 equals the fraction with numerator 2 times 2 times 3 times 7 and denominator 2 times 2 times 5 equals 21 over 5 equals 4 one fifth"/>
          <p:cNvPicPr preferRelativeResize="0"/>
          <p:nvPr/>
        </p:nvPicPr>
        <p:blipFill rotWithShape="1">
          <a:blip r:embed="rId5">
            <a:alphaModFix/>
          </a:blip>
          <a:srcRect b="0" l="90486" r="0" t="0"/>
          <a:stretch/>
        </p:blipFill>
        <p:spPr>
          <a:xfrm>
            <a:off x="337825" y="4206900"/>
            <a:ext cx="774500" cy="6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Comparing strategies</a:t>
            </a:r>
            <a:endParaRPr/>
          </a:p>
        </p:txBody>
      </p:sp>
      <p:sp>
        <p:nvSpPr>
          <p:cNvPr id="1238" name="Google Shape;1238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Calculate the following.  Try to use the most </a:t>
            </a:r>
            <a:r>
              <a:rPr lang="en-GB">
                <a:solidFill>
                  <a:schemeClr val="accent5"/>
                </a:solidFill>
              </a:rPr>
              <a:t>efficient</a:t>
            </a:r>
            <a:r>
              <a:rPr lang="en-GB"/>
              <a:t> method.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\ \frac{2}{3}\times2\ \frac{3}{8}=3\ \frac{23}{24}&quot;&gt;&lt;mn&gt;1&lt;/mn&gt;&lt;mtext&gt;&lt;/mtext&gt;&lt;mfrac&gt;&lt;mn&gt;2&lt;/mn&gt;&lt;mn&gt;3&lt;/mn&gt;&lt;/mfrac&gt;&lt;mo&gt;×&lt;/mo&gt;&lt;mn&gt;2&lt;/mn&gt;&lt;mtext&gt;&lt;/mtext&gt;&lt;mfrac&gt;&lt;mn&gt;3&lt;/mn&gt;&lt;mn&gt;8&lt;/mn&gt;&lt;/mfrac&gt;&lt;mo&gt;=&lt;/mo&gt;&lt;mn&gt;3&lt;/mn&gt;&lt;mtext&gt;&lt;/mtext&gt;&lt;mfrac&gt;&lt;mn&gt;23&lt;/mn&gt;&lt;mn&gt;24&lt;/mn&gt;&lt;/mfrac&gt;&lt;/math&gt;" id="1239" name="Google Shape;1239;p85" title="1 two thirds times 2 three eighths equals 3 23 over 24"/>
          <p:cNvPicPr preferRelativeResize="0"/>
          <p:nvPr/>
        </p:nvPicPr>
        <p:blipFill rotWithShape="1">
          <a:blip r:embed="rId3">
            <a:alphaModFix/>
          </a:blip>
          <a:srcRect b="0" l="0" r="41646" t="0"/>
          <a:stretch/>
        </p:blipFill>
        <p:spPr>
          <a:xfrm>
            <a:off x="702025" y="3022525"/>
            <a:ext cx="1183851" cy="56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8}\times5\ \frac{3}{5}=3\ \frac{1}{2}&quot;&gt;&lt;mfrac&gt;&lt;mn&gt;5&lt;/mn&gt;&lt;mn&gt;8&lt;/mn&gt;&lt;/mfrac&gt;&lt;mo&gt;×&lt;/mo&gt;&lt;mn&gt;5&lt;/mn&gt;&lt;mtext&gt;&lt;/mtext&gt;&lt;mfrac&gt;&lt;mn&gt;3&lt;/mn&gt;&lt;mn&gt;5&lt;/mn&gt;&lt;/mfrac&gt;&lt;mo&gt;=&lt;/mo&gt;&lt;mn&gt;3&lt;/mn&gt;&lt;mtext&gt;&lt;/mtext&gt;&lt;mfrac&gt;&lt;mn&gt;1&lt;/mn&gt;&lt;mn&gt;2&lt;/mn&gt;&lt;/mfrac&gt;&lt;/math&gt;" id="1240" name="Google Shape;1240;p85" title="five eighths times 5 three fifths equals 3 one half"/>
          <p:cNvPicPr preferRelativeResize="0"/>
          <p:nvPr/>
        </p:nvPicPr>
        <p:blipFill rotWithShape="1">
          <a:blip r:embed="rId4">
            <a:alphaModFix/>
          </a:blip>
          <a:srcRect b="0" l="0" r="41985" t="0"/>
          <a:stretch/>
        </p:blipFill>
        <p:spPr>
          <a:xfrm>
            <a:off x="5227203" y="4067125"/>
            <a:ext cx="968100" cy="56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 3\frac{3}{4}\times\ 1\frac{1}{6}=4\ \frac{3}{8}&quot;&gt;&lt;mtext&gt;&lt;/mtext&gt;&lt;mn&gt;3&lt;/mn&gt;&lt;mfrac&gt;&lt;mn&gt;3&lt;/mn&gt;&lt;mn&gt;4&lt;/mn&gt;&lt;/mfrac&gt;&lt;mo&gt;×&lt;/mo&gt;&lt;mtext&gt;&lt;/mtext&gt;&lt;mn&gt;1&lt;/mn&gt;&lt;mfrac&gt;&lt;mn&gt;1&lt;/mn&gt;&lt;mn&gt;6&lt;/mn&gt;&lt;/mfrac&gt;&lt;mo&gt;=&lt;/mo&gt;&lt;mn&gt;4&lt;/mn&gt;&lt;mtext&gt;&lt;/mtext&gt;&lt;mfrac&gt;&lt;mn&gt;3&lt;/mn&gt;&lt;mn&gt;8&lt;/mn&gt;&lt;/mfrac&gt;&lt;/math&gt;" id="1241" name="Google Shape;1241;p85" title="3 and three fourths times 1 and one sixth equals 4 three eighths"/>
          <p:cNvPicPr preferRelativeResize="0"/>
          <p:nvPr/>
        </p:nvPicPr>
        <p:blipFill rotWithShape="1">
          <a:blip r:embed="rId5">
            <a:alphaModFix/>
          </a:blip>
          <a:srcRect b="0" l="0" r="39191" t="0"/>
          <a:stretch/>
        </p:blipFill>
        <p:spPr>
          <a:xfrm>
            <a:off x="702025" y="4080400"/>
            <a:ext cx="1064700" cy="53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 1\frac{5}{11}\times\ 3\frac{3}{10}=4\ \frac{4}{5}&quot;&gt;&lt;mtext&gt;&lt;/mtext&gt;&lt;mn&gt;1&lt;/mn&gt;&lt;mfrac&gt;&lt;mn&gt;5&lt;/mn&gt;&lt;mn&gt;11&lt;/mn&gt;&lt;/mfrac&gt;&lt;mo&gt;×&lt;/mo&gt;&lt;mtext&gt;&lt;/mtext&gt;&lt;mn&gt;3&lt;/mn&gt;&lt;mfrac&gt;&lt;mn&gt;3&lt;/mn&gt;&lt;mn&gt;10&lt;/mn&gt;&lt;/mfrac&gt;&lt;mo&gt;=&lt;/mo&gt;&lt;mn&gt;4&lt;/mn&gt;&lt;mtext&gt;&lt;/mtext&gt;&lt;mfrac&gt;&lt;mn&gt;4&lt;/mn&gt;&lt;mn&gt;5&lt;/mn&gt;&lt;/mfrac&gt;&lt;/math&gt;" id="1242" name="Google Shape;1242;p85" title="1 and 5 over 11 times 3 and three tenths equals 4 four fifths"/>
          <p:cNvPicPr preferRelativeResize="0"/>
          <p:nvPr/>
        </p:nvPicPr>
        <p:blipFill rotWithShape="1">
          <a:blip r:embed="rId6">
            <a:alphaModFix/>
          </a:blip>
          <a:srcRect b="0" l="0" r="33253" t="0"/>
          <a:stretch/>
        </p:blipFill>
        <p:spPr>
          <a:xfrm>
            <a:off x="5227200" y="1890175"/>
            <a:ext cx="1318949" cy="53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 2\frac{11}{12}\times\ 1\frac{3}{7}=4\ \frac{1}{6}&quot;&gt;&lt;mtext&gt;&lt;/mtext&gt;&lt;mn&gt;2&lt;/mn&gt;&lt;mfrac&gt;&lt;mn&gt;11&lt;/mn&gt;&lt;mn&gt;12&lt;/mn&gt;&lt;/mfrac&gt;&lt;mo&gt;×&lt;/mo&gt;&lt;mtext&gt;&lt;/mtext&gt;&lt;mn&gt;1&lt;/mn&gt;&lt;mfrac&gt;&lt;mn&gt;3&lt;/mn&gt;&lt;mn&gt;7&lt;/mn&gt;&lt;/mfrac&gt;&lt;mo&gt;=&lt;/mo&gt;&lt;mn&gt;4&lt;/mn&gt;&lt;mtext&gt;&lt;/mtext&gt;&lt;mfrac&gt;&lt;mn&gt;1&lt;/mn&gt;&lt;mn&gt;6&lt;/mn&gt;&lt;/mfrac&gt;&lt;/math&gt;" id="1243" name="Google Shape;1243;p85" title="2 and 11 over 12 times 1 and three sevenths equals 4 one sixth"/>
          <p:cNvPicPr preferRelativeResize="0"/>
          <p:nvPr/>
        </p:nvPicPr>
        <p:blipFill rotWithShape="1">
          <a:blip r:embed="rId7">
            <a:alphaModFix/>
          </a:blip>
          <a:srcRect b="0" l="0" r="33958" t="0"/>
          <a:stretch/>
        </p:blipFill>
        <p:spPr>
          <a:xfrm>
            <a:off x="702025" y="1890175"/>
            <a:ext cx="1243425" cy="53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 4\frac{7}{8}\times\ \frac{4}{13}=1\ \frac{1}{2}&quot;&gt;&lt;mtext&gt;&lt;/mtext&gt;&lt;mn&gt;4&lt;/mn&gt;&lt;mfrac&gt;&lt;mn&gt;7&lt;/mn&gt;&lt;mn&gt;8&lt;/mn&gt;&lt;/mfrac&gt;&lt;mo&gt;×&lt;/mo&gt;&lt;mtext&gt;&lt;/mtext&gt;&lt;mfrac&gt;&lt;mn&gt;4&lt;/mn&gt;&lt;mn&gt;13&lt;/mn&gt;&lt;/mfrac&gt;&lt;mo&gt;=&lt;/mo&gt;&lt;mn&gt;1&lt;/mn&gt;&lt;mtext&gt;&lt;/mtext&gt;&lt;mfrac&gt;&lt;mn&gt;1&lt;/mn&gt;&lt;mn&gt;2&lt;/mn&gt;&lt;/mfrac&gt;&lt;/math&gt;" id="1244" name="Google Shape;1244;p85" title="4 and seven eighths times 4 over 13 equals 1 one half"/>
          <p:cNvPicPr preferRelativeResize="0"/>
          <p:nvPr/>
        </p:nvPicPr>
        <p:blipFill rotWithShape="1">
          <a:blip r:embed="rId8">
            <a:alphaModFix/>
          </a:blip>
          <a:srcRect b="0" l="0" r="37146" t="0"/>
          <a:stretch/>
        </p:blipFill>
        <p:spPr>
          <a:xfrm>
            <a:off x="5227200" y="3040375"/>
            <a:ext cx="1100501" cy="53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85"/>
          <p:cNvSpPr txBox="1"/>
          <p:nvPr/>
        </p:nvSpPr>
        <p:spPr>
          <a:xfrm>
            <a:off x="324000" y="1952812"/>
            <a:ext cx="331200" cy="23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b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6" name="Google Shape;1246;p85"/>
          <p:cNvSpPr txBox="1"/>
          <p:nvPr/>
        </p:nvSpPr>
        <p:spPr>
          <a:xfrm>
            <a:off x="4819800" y="1952812"/>
            <a:ext cx="331200" cy="23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Comparing strategies</a:t>
            </a:r>
            <a:endParaRPr/>
          </a:p>
        </p:txBody>
      </p:sp>
      <p:sp>
        <p:nvSpPr>
          <p:cNvPr id="1252" name="Google Shape;1252;p86"/>
          <p:cNvSpPr txBox="1"/>
          <p:nvPr>
            <p:ph idx="1" type="body"/>
          </p:nvPr>
        </p:nvSpPr>
        <p:spPr>
          <a:xfrm>
            <a:off x="324000" y="759300"/>
            <a:ext cx="8380200" cy="71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Calculate the following.  Try to use the most </a:t>
            </a:r>
            <a:r>
              <a:rPr lang="en-GB">
                <a:solidFill>
                  <a:schemeClr val="accent5"/>
                </a:solidFill>
              </a:rPr>
              <a:t>efficient</a:t>
            </a:r>
            <a:r>
              <a:rPr lang="en-GB"/>
              <a:t> method.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\ \frac{2}{3}\times2\ \frac{3}{8}=3\ \frac{23}{24}&quot;&gt;&lt;mn&gt;1&lt;/mn&gt;&lt;mtext&gt;&lt;/mtext&gt;&lt;mfrac&gt;&lt;mn&gt;2&lt;/mn&gt;&lt;mn&gt;3&lt;/mn&gt;&lt;/mfrac&gt;&lt;mo&gt;×&lt;/mo&gt;&lt;mn&gt;2&lt;/mn&gt;&lt;mtext&gt;&lt;/mtext&gt;&lt;mfrac&gt;&lt;mn&gt;3&lt;/mn&gt;&lt;mn&gt;8&lt;/mn&gt;&lt;/mfrac&gt;&lt;mo&gt;=&lt;/mo&gt;&lt;mn&gt;3&lt;/mn&gt;&lt;mtext&gt;&lt;/mtext&gt;&lt;mfrac&gt;&lt;mn&gt;23&lt;/mn&gt;&lt;mn&gt;24&lt;/mn&gt;&lt;/mfrac&gt;&lt;/math&gt;" id="1253" name="Google Shape;1253;p86" title="1 two thirds times 2 three eighths equals 3 23 over 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200" y="2990590"/>
            <a:ext cx="2028720" cy="5662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8}\times5\ \frac{3}{5}=3\ \frac{1}{2}&quot;&gt;&lt;mfrac&gt;&lt;mn&gt;5&lt;/mn&gt;&lt;mn&gt;8&lt;/mn&gt;&lt;/mfrac&gt;&lt;mo&gt;×&lt;/mo&gt;&lt;mn&gt;5&lt;/mn&gt;&lt;mtext&gt;&lt;/mtext&gt;&lt;mfrac&gt;&lt;mn&gt;3&lt;/mn&gt;&lt;mn&gt;5&lt;/mn&gt;&lt;/mfrac&gt;&lt;mo&gt;=&lt;/mo&gt;&lt;mn&gt;3&lt;/mn&gt;&lt;mtext&gt;&lt;/mtext&gt;&lt;mfrac&gt;&lt;mn&gt;1&lt;/mn&gt;&lt;mn&gt;2&lt;/mn&gt;&lt;/mfrac&gt;&lt;/math&gt;" id="1254" name="Google Shape;1254;p86" title="five eighths times 5 three fifths equals 3 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7206" y="4104328"/>
            <a:ext cx="1668719" cy="5662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 3\frac{3}{4}\times\ 1\frac{1}{6}=4\ \frac{3}{8}&quot;&gt;&lt;mtext&gt;&lt;/mtext&gt;&lt;mn&gt;3&lt;/mn&gt;&lt;mfrac&gt;&lt;mn&gt;3&lt;/mn&gt;&lt;mn&gt;4&lt;/mn&gt;&lt;/mfrac&gt;&lt;mo&gt;×&lt;/mo&gt;&lt;mtext&gt;&lt;/mtext&gt;&lt;mn&gt;1&lt;/mn&gt;&lt;mfrac&gt;&lt;mn&gt;1&lt;/mn&gt;&lt;mn&gt;6&lt;/mn&gt;&lt;/mfrac&gt;&lt;mo&gt;=&lt;/mo&gt;&lt;mn&gt;4&lt;/mn&gt;&lt;mtext&gt;&lt;/mtext&gt;&lt;mfrac&gt;&lt;mn&gt;3&lt;/mn&gt;&lt;mn&gt;8&lt;/mn&gt;&lt;/mfrac&gt;&lt;/math&gt;" id="1255" name="Google Shape;1255;p86" title="3 and three fourths times 1 and one sixth equals 4 three eigh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2025" y="4117600"/>
            <a:ext cx="1750864" cy="53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 1\frac{5}{11}\times\ 3\frac{3}{10}=4\ \frac{4}{5}&quot;&gt;&lt;mtext&gt;&lt;/mtext&gt;&lt;mn&gt;1&lt;/mn&gt;&lt;mfrac&gt;&lt;mn&gt;5&lt;/mn&gt;&lt;mn&gt;11&lt;/mn&gt;&lt;/mfrac&gt;&lt;mo&gt;×&lt;/mo&gt;&lt;mtext&gt;&lt;/mtext&gt;&lt;mn&gt;3&lt;/mn&gt;&lt;mfrac&gt;&lt;mn&gt;3&lt;/mn&gt;&lt;mn&gt;10&lt;/mn&gt;&lt;/mfrac&gt;&lt;mo&gt;=&lt;/mo&gt;&lt;mn&gt;4&lt;/mn&gt;&lt;mtext&gt;&lt;/mtext&gt;&lt;mfrac&gt;&lt;mn&gt;4&lt;/mn&gt;&lt;mn&gt;5&lt;/mn&gt;&lt;/mfrac&gt;&lt;/math&gt;" id="1256" name="Google Shape;1256;p86" title="1 and 5 over 11 times 3 and three tenths equals 4 four fif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27201" y="1890175"/>
            <a:ext cx="1976012" cy="53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 2\frac{11}{12}\times\ 1\frac{3}{7}=4\ \frac{1}{6}&quot;&gt;&lt;mtext&gt;&lt;/mtext&gt;&lt;mn&gt;2&lt;/mn&gt;&lt;mfrac&gt;&lt;mn&gt;11&lt;/mn&gt;&lt;mn&gt;12&lt;/mn&gt;&lt;/mfrac&gt;&lt;mo&gt;×&lt;/mo&gt;&lt;mtext&gt;&lt;/mtext&gt;&lt;mn&gt;1&lt;/mn&gt;&lt;mfrac&gt;&lt;mn&gt;3&lt;/mn&gt;&lt;mn&gt;7&lt;/mn&gt;&lt;/mfrac&gt;&lt;mo&gt;=&lt;/mo&gt;&lt;mn&gt;4&lt;/mn&gt;&lt;mtext&gt;&lt;/mtext&gt;&lt;mfrac&gt;&lt;mn&gt;1&lt;/mn&gt;&lt;mn&gt;6&lt;/mn&gt;&lt;/mfrac&gt;&lt;/math&gt;" id="1257" name="Google Shape;1257;p86" title="2 and 11 over 12 times 1 and three sevenths equals 4 one six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2024" y="1890176"/>
            <a:ext cx="1882757" cy="53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 4\frac{7}{8}\times\ \frac{4}{13}=1\ \frac{1}{2}&quot;&gt;&lt;mtext&gt;&lt;/mtext&gt;&lt;mn&gt;4&lt;/mn&gt;&lt;mfrac&gt;&lt;mn&gt;7&lt;/mn&gt;&lt;mn&gt;8&lt;/mn&gt;&lt;/mfrac&gt;&lt;mo&gt;×&lt;/mo&gt;&lt;mtext&gt;&lt;/mtext&gt;&lt;mfrac&gt;&lt;mn&gt;4&lt;/mn&gt;&lt;mn&gt;13&lt;/mn&gt;&lt;/mfrac&gt;&lt;mo&gt;=&lt;/mo&gt;&lt;mn&gt;1&lt;/mn&gt;&lt;mtext&gt;&lt;/mtext&gt;&lt;mfrac&gt;&lt;mn&gt;1&lt;/mn&gt;&lt;mn&gt;2&lt;/mn&gt;&lt;/mfrac&gt;&lt;/math&gt;" id="1258" name="Google Shape;1258;p86" title="4 and seven eighths times 4 over 13 equals 1 one hal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80374" y="3008425"/>
            <a:ext cx="1750876" cy="536380"/>
          </a:xfrm>
          <a:prstGeom prst="rect">
            <a:avLst/>
          </a:prstGeom>
          <a:noFill/>
          <a:ln>
            <a:noFill/>
          </a:ln>
        </p:spPr>
      </p:pic>
      <p:sp>
        <p:nvSpPr>
          <p:cNvPr id="1259" name="Google Shape;1259;p86"/>
          <p:cNvSpPr txBox="1"/>
          <p:nvPr/>
        </p:nvSpPr>
        <p:spPr>
          <a:xfrm>
            <a:off x="324000" y="1952812"/>
            <a:ext cx="331200" cy="23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b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0" name="Google Shape;1260;p86"/>
          <p:cNvSpPr txBox="1"/>
          <p:nvPr/>
        </p:nvSpPr>
        <p:spPr>
          <a:xfrm>
            <a:off x="4819800" y="1952812"/>
            <a:ext cx="331200" cy="23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87"/>
          <p:cNvSpPr txBox="1"/>
          <p:nvPr>
            <p:ph idx="1" type="body"/>
          </p:nvPr>
        </p:nvSpPr>
        <p:spPr>
          <a:xfrm>
            <a:off x="324000" y="7752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area model can be used to </a:t>
            </a:r>
            <a:r>
              <a:rPr lang="en-GB"/>
              <a:t>multiply mixed numbers.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E.g.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Mixed numbers can be multiplied by converting into improper fractions.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E.g. </a:t>
            </a:r>
            <a:endParaRPr/>
          </a:p>
        </p:txBody>
      </p:sp>
      <p:sp>
        <p:nvSpPr>
          <p:cNvPr id="1266" name="Google Shape;1266;p87"/>
          <p:cNvSpPr txBox="1"/>
          <p:nvPr>
            <p:ph type="title"/>
          </p:nvPr>
        </p:nvSpPr>
        <p:spPr>
          <a:xfrm>
            <a:off x="1684800" y="157525"/>
            <a:ext cx="6860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Deepening understanding of multiplication with fractions</a:t>
            </a:r>
            <a:endParaRPr/>
          </a:p>
        </p:txBody>
      </p:sp>
      <p:pic>
        <p:nvPicPr>
          <p:cNvPr id="1267" name="Google Shape;1267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700" y="1212400"/>
            <a:ext cx="4572001" cy="13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8" name="Google Shape;1268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2975" y="3627699"/>
            <a:ext cx="1024275" cy="54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11}{4}\times\frac{5}{3}=\frac{55}{12}=4\ \frac{7}{12}&quot;&gt;&lt;mo&gt;=&lt;/mo&gt;&lt;mfrac&gt;&lt;mn&gt;11&lt;/mn&gt;&lt;mn&gt;4&lt;/mn&gt;&lt;/mfrac&gt;&lt;mo&gt;×&lt;/mo&gt;&lt;mfrac&gt;&lt;mn&gt;5&lt;/mn&gt;&lt;mn&gt;3&lt;/mn&gt;&lt;/mfrac&gt;&lt;mo&gt;=&lt;/mo&gt;&lt;mfrac&gt;&lt;mn&gt;55&lt;/mn&gt;&lt;mn&gt;12&lt;/mn&gt;&lt;/mfrac&gt;&lt;mo&gt;=&lt;/mo&gt;&lt;mn&gt;4&lt;/mn&gt;&lt;mtext&gt;&lt;/mtext&gt;&lt;mfrac&gt;&lt;mn&gt;7&lt;/mn&gt;&lt;mn&gt;12&lt;/mn&gt;&lt;/mfrac&gt;&lt;/math&gt;" id="1269" name="Google Shape;1269;p87" title="equals eleven fourths times five thirds equals 55 over 12 equals 4 7 over 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66625" y="3629400"/>
            <a:ext cx="2963747" cy="6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88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275" name="Google Shape;1275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