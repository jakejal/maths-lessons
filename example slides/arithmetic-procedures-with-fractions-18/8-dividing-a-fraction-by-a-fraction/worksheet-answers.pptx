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4"/>
    <p:sldMasterId id="2147483666" r:id="rId5"/>
  </p:sldMasterIdLst>
  <p:notesMasterIdLst>
    <p:notesMasterId r:id="rId6"/>
  </p:notesMasterIdLst>
  <p:sldIdLst>
    <p:sldId id="256" r:id="rId7"/>
    <p:sldId id="257" r:id="rId8"/>
    <p:sldId id="258" r:id="rId9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6D0ACA9-6DB0-4C10-94CF-0F02189FBBCE}">
  <a:tblStyle styleId="{A6D0ACA9-6DB0-4C10-94CF-0F02189FBBC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79934fec8d_0_13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2a3dcc9dd64_0_98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2a3dcc9dd64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79934fec8d_0_136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279934fec8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7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7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7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idx="1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idx="2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7.png"/><Relationship Id="rId5" Type="http://schemas.openxmlformats.org/officeDocument/2006/relationships/image" Target="../media/image10.png"/><Relationship Id="rId6" Type="http://schemas.openxmlformats.org/officeDocument/2006/relationships/image" Target="../media/image14.png"/><Relationship Id="rId7" Type="http://schemas.openxmlformats.org/officeDocument/2006/relationships/image" Target="../media/image12.png"/><Relationship Id="rId8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6.png"/><Relationship Id="rId4" Type="http://schemas.openxmlformats.org/officeDocument/2006/relationships/image" Target="../media/image13.png"/><Relationship Id="rId5" Type="http://schemas.openxmlformats.org/officeDocument/2006/relationships/image" Target="../media/image15.png"/><Relationship Id="rId6" Type="http://schemas.openxmlformats.org/officeDocument/2006/relationships/image" Target="../media/image2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8.png"/><Relationship Id="rId4" Type="http://schemas.openxmlformats.org/officeDocument/2006/relationships/image" Target="../media/image21.png"/><Relationship Id="rId10" Type="http://schemas.openxmlformats.org/officeDocument/2006/relationships/image" Target="../media/image25.png"/><Relationship Id="rId9" Type="http://schemas.openxmlformats.org/officeDocument/2006/relationships/image" Target="../media/image24.png"/><Relationship Id="rId5" Type="http://schemas.openxmlformats.org/officeDocument/2006/relationships/image" Target="../media/image19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Dividing a fraction by a fraction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468000" y="1422000"/>
            <a:ext cx="3813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A: Dividing two fractions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468000" y="1826100"/>
            <a:ext cx="6624000" cy="5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Work out the answer to the following. You can use these templates for the area model if it helps.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3}{5}\div\frac{2}{3}&quot;&gt;&lt;mfrac&gt;&lt;mn&gt;3&lt;/mn&gt;&lt;mn&gt;5&lt;/mn&gt;&lt;/mfrac&gt;&lt;mo&gt;÷&lt;/mo&gt;&lt;mfrac&gt;&lt;mn&gt;2&lt;/mn&gt;&lt;mn&gt;3&lt;/mn&gt;&lt;/mfrac&gt;&lt;/math&gt;" id="175" name="Google Shape;175;p20" title="three fifths divided by two third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99825" y="2071000"/>
            <a:ext cx="742696" cy="61511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76" name="Google Shape;176;p20"/>
          <p:cNvGraphicFramePr/>
          <p:nvPr/>
        </p:nvGraphicFramePr>
        <p:xfrm>
          <a:off x="3780000" y="2853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{A6D0ACA9-6DB0-4C10-94CF-0F02189FBBCE}</a:tableStyleId>
              </a:tblPr>
              <a:tblGrid>
                <a:gridCol w="450675"/>
                <a:gridCol w="450675"/>
                <a:gridCol w="450675"/>
                <a:gridCol w="450675"/>
                <a:gridCol w="450675"/>
              </a:tblGrid>
              <a:tr h="627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7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77" name="Google Shape;177;p20"/>
          <p:cNvGraphicFramePr/>
          <p:nvPr/>
        </p:nvGraphicFramePr>
        <p:xfrm>
          <a:off x="468000" y="27806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{A6D0ACA9-6DB0-4C10-94CF-0F02189FBBCE}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</a:tblGrid>
              <a:tr h="49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78" name="Google Shape;178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01177" y="3055397"/>
            <a:ext cx="313149" cy="3314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6276" y="2853525"/>
            <a:ext cx="265018" cy="2804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21354" y="2853525"/>
            <a:ext cx="265018" cy="2804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75463" y="2853525"/>
            <a:ext cx="265018" cy="2804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6276" y="3358728"/>
            <a:ext cx="265018" cy="2804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21354" y="3358728"/>
            <a:ext cx="265018" cy="2804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75463" y="3358728"/>
            <a:ext cx="265018" cy="2804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6276" y="3943929"/>
            <a:ext cx="265018" cy="2804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21354" y="3943929"/>
            <a:ext cx="265018" cy="2804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75463" y="3943929"/>
            <a:ext cx="265018" cy="2804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42629" y="3055397"/>
            <a:ext cx="313149" cy="3314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32677" y="3055397"/>
            <a:ext cx="313149" cy="3314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74129" y="3055397"/>
            <a:ext cx="313149" cy="3314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0228" y="3067546"/>
            <a:ext cx="313149" cy="3314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01179" y="3675194"/>
            <a:ext cx="313149" cy="3314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42631" y="3675194"/>
            <a:ext cx="313149" cy="3314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84084" y="3675194"/>
            <a:ext cx="313149" cy="3314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74130" y="3675194"/>
            <a:ext cx="313149" cy="3314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=\frac{3}{5}\times\frac{3}{2}=\frac{9}{10}&quot;&gt;&lt;mo&gt;=&lt;/mo&gt;&lt;mfrac&gt;&lt;mn&gt;3&lt;/mn&gt;&lt;mn&gt;5&lt;/mn&gt;&lt;/mfrac&gt;&lt;mo&gt;×&lt;/mo&gt;&lt;mfrac&gt;&lt;mn&gt;3&lt;/mn&gt;&lt;mn&gt;2&lt;/mn&gt;&lt;/mfrac&gt;&lt;mo&gt;=&lt;/mo&gt;&lt;mfrac&gt;&lt;mn&gt;9&lt;/mn&gt;&lt;mn&gt;10&lt;/mn&gt;&lt;/mfrac&gt;&lt;/math&gt;" id="196" name="Google Shape;196;p20" title="equals three fifths times three halves equals nine tenths"/>
          <p:cNvPicPr preferRelativeResize="0"/>
          <p:nvPr/>
        </p:nvPicPr>
        <p:blipFill rotWithShape="1">
          <a:blip r:embed="rId5">
            <a:alphaModFix/>
          </a:blip>
          <a:srcRect b="0" l="59553" r="0" t="0"/>
          <a:stretch/>
        </p:blipFill>
        <p:spPr>
          <a:xfrm>
            <a:off x="3829303" y="2071000"/>
            <a:ext cx="742697" cy="615119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0"/>
          <p:cNvSpPr txBox="1"/>
          <p:nvPr/>
        </p:nvSpPr>
        <p:spPr>
          <a:xfrm>
            <a:off x="468000" y="4437925"/>
            <a:ext cx="6624000" cy="9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Work out the answer to the following. You can use these templates for the area model if it helps.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3}{7}\div\frac{3}{5}&quot;&gt;&lt;mfrac&gt;&lt;mn&gt;3&lt;/mn&gt;&lt;mn&gt;7&lt;/mn&gt;&lt;/mfrac&gt;&lt;mo&gt;÷&lt;/mo&gt;&lt;mfrac&gt;&lt;mn&gt;3&lt;/mn&gt;&lt;mn&gt;5&lt;/mn&gt;&lt;/mfrac&gt;&lt;/math&gt;" id="198" name="Google Shape;198;p20" title="three sevenths divided by three fifth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572175" y="4703462"/>
            <a:ext cx="836737" cy="692998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99" name="Google Shape;199;p20"/>
          <p:cNvGraphicFramePr/>
          <p:nvPr/>
        </p:nvGraphicFramePr>
        <p:xfrm>
          <a:off x="3779988" y="5737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{A6D0ACA9-6DB0-4C10-94CF-0F02189FBBCE}</a:tableStyleId>
              </a:tblPr>
              <a:tblGrid>
                <a:gridCol w="426125"/>
                <a:gridCol w="426125"/>
                <a:gridCol w="426125"/>
                <a:gridCol w="426125"/>
                <a:gridCol w="426125"/>
                <a:gridCol w="426125"/>
                <a:gridCol w="426125"/>
              </a:tblGrid>
              <a:tr h="439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9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9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00" name="Google Shape;200;p20"/>
          <p:cNvGraphicFramePr/>
          <p:nvPr/>
        </p:nvGraphicFramePr>
        <p:xfrm>
          <a:off x="462494" y="548014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{A6D0ACA9-6DB0-4C10-94CF-0F02189FBBCE}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298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8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8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8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8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201" name="Google Shape;201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7069" y="5544913"/>
            <a:ext cx="236906" cy="250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88117" y="5544913"/>
            <a:ext cx="236906" cy="250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04665" y="5544913"/>
            <a:ext cx="236906" cy="250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7069" y="5926811"/>
            <a:ext cx="236906" cy="250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88117" y="5926811"/>
            <a:ext cx="236906" cy="250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04665" y="5926811"/>
            <a:ext cx="236906" cy="250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6009" y="6299534"/>
            <a:ext cx="236906" cy="250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97057" y="6299534"/>
            <a:ext cx="236906" cy="250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13604" y="6299534"/>
            <a:ext cx="236906" cy="250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3486" y="6658936"/>
            <a:ext cx="236906" cy="250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24534" y="6658936"/>
            <a:ext cx="236906" cy="250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41081" y="6658936"/>
            <a:ext cx="236906" cy="250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3486" y="7045815"/>
            <a:ext cx="236906" cy="250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24534" y="7045815"/>
            <a:ext cx="236906" cy="250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41081" y="7045815"/>
            <a:ext cx="236906" cy="250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60321" y="5802420"/>
            <a:ext cx="279969" cy="2962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98815" y="5802420"/>
            <a:ext cx="279969" cy="2962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72902" y="5802420"/>
            <a:ext cx="279969" cy="2962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44464" y="5802420"/>
            <a:ext cx="279969" cy="2962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82958" y="5802420"/>
            <a:ext cx="279969" cy="2962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57045" y="5802420"/>
            <a:ext cx="279969" cy="2962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44464" y="6237540"/>
            <a:ext cx="279969" cy="2962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82958" y="6237540"/>
            <a:ext cx="279969" cy="2962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57045" y="6237540"/>
            <a:ext cx="279969" cy="2962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81968" y="6248797"/>
            <a:ext cx="279969" cy="2962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20462" y="6248797"/>
            <a:ext cx="279969" cy="2962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94549" y="6248797"/>
            <a:ext cx="279969" cy="2962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81968" y="6662268"/>
            <a:ext cx="279969" cy="2962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03421" y="5802420"/>
            <a:ext cx="279969" cy="2962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03421" y="6237540"/>
            <a:ext cx="279969" cy="2962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=\frac{15}{21}=\frac{5}{7}&quot;&gt;&lt;mo&gt;=&lt;/mo&gt;&lt;mfrac&gt;&lt;mn&gt;15&lt;/mn&gt;&lt;mn&gt;21&lt;/mn&gt;&lt;/mfrac&gt;&lt;mo&gt;=&lt;/mo&gt;&lt;mfrac&gt;&lt;mn&gt;5&lt;/mn&gt;&lt;mn&gt;7&lt;/mn&gt;&lt;/mfrac&gt;&lt;/math&gt;" id="231" name="Google Shape;231;p20" title="equals 15 over 21 equals five sevenths"/>
          <p:cNvPicPr preferRelativeResize="0"/>
          <p:nvPr/>
        </p:nvPicPr>
        <p:blipFill rotWithShape="1">
          <a:blip r:embed="rId7">
            <a:alphaModFix/>
          </a:blip>
          <a:srcRect b="0" l="0" r="40765" t="0"/>
          <a:stretch/>
        </p:blipFill>
        <p:spPr>
          <a:xfrm>
            <a:off x="3539683" y="4739291"/>
            <a:ext cx="738671" cy="6054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=\frac{15}{21}=\frac{5}{7}&quot;&gt;&lt;mo&gt;=&lt;/mo&gt;&lt;mfrac&gt;&lt;mn&gt;15&lt;/mn&gt;&lt;mn&gt;21&lt;/mn&gt;&lt;/mfrac&gt;&lt;mo&gt;=&lt;/mo&gt;&lt;mfrac&gt;&lt;mn&gt;5&lt;/mn&gt;&lt;mn&gt;7&lt;/mn&gt;&lt;/mfrac&gt;&lt;/math&gt;" id="232" name="Google Shape;232;p20" title="equals 15 over 21 equals five sevenths"/>
          <p:cNvPicPr preferRelativeResize="0"/>
          <p:nvPr/>
        </p:nvPicPr>
        <p:blipFill rotWithShape="1">
          <a:blip r:embed="rId7">
            <a:alphaModFix/>
          </a:blip>
          <a:srcRect b="-9316" l="58885" r="-18119" t="-5139"/>
          <a:stretch/>
        </p:blipFill>
        <p:spPr>
          <a:xfrm>
            <a:off x="4249146" y="4703464"/>
            <a:ext cx="738671" cy="692998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0"/>
          <p:cNvSpPr txBox="1"/>
          <p:nvPr/>
        </p:nvSpPr>
        <p:spPr>
          <a:xfrm>
            <a:off x="462500" y="7522625"/>
            <a:ext cx="6624000" cy="6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Work out the answer to the following by drawing area models. Use squared paper if it helps.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3}{4}\div\frac{4}{5}&quot;&gt;&lt;mfrac&gt;&lt;mn&gt;3&lt;/mn&gt;&lt;mn&gt;4&lt;/mn&gt;&lt;/mfrac&gt;&lt;mo&gt;÷&lt;/mo&gt;&lt;mfrac&gt;&lt;mn&gt;4&lt;/mn&gt;&lt;mn&gt;5&lt;/mn&gt;&lt;/mfrac&gt;&lt;/math&gt;" id="234" name="Google Shape;234;p20" title="three fourths divided by four fifths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910538" y="7791875"/>
            <a:ext cx="835650" cy="6929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35" name="Google Shape;235;p20"/>
          <p:cNvGraphicFramePr/>
          <p:nvPr/>
        </p:nvGraphicFramePr>
        <p:xfrm>
          <a:off x="518025" y="79256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{A6D0ACA9-6DB0-4C10-94CF-0F02189FBBCE}</a:tableStyleId>
              </a:tblPr>
              <a:tblGrid>
                <a:gridCol w="505650"/>
                <a:gridCol w="505650"/>
                <a:gridCol w="505650"/>
                <a:gridCol w="505650"/>
              </a:tblGrid>
              <a:tr h="397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2AA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2AA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2AA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7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2AA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2AA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2AA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7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2AA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2AA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2AA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7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2AA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2AA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2AA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7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2AA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2AA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2AA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36" name="Google Shape;236;p20"/>
          <p:cNvGraphicFramePr/>
          <p:nvPr/>
        </p:nvGraphicFramePr>
        <p:xfrm>
          <a:off x="5008150" y="8128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{A6D0ACA9-6DB0-4C10-94CF-0F02189FBBCE}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346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6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6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6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237" name="Google Shape;237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4950" y="8031976"/>
            <a:ext cx="198256" cy="20981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14266" y="8031976"/>
            <a:ext cx="198256" cy="20981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93594" y="8031976"/>
            <a:ext cx="198256" cy="20981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4950" y="8420939"/>
            <a:ext cx="198256" cy="20981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14266" y="8420939"/>
            <a:ext cx="198256" cy="20981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93594" y="8420939"/>
            <a:ext cx="198256" cy="20981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4950" y="8833960"/>
            <a:ext cx="198256" cy="20981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14266" y="8833960"/>
            <a:ext cx="198256" cy="20981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93594" y="8833960"/>
            <a:ext cx="198256" cy="20981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4950" y="9193021"/>
            <a:ext cx="198256" cy="20981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14266" y="9193021"/>
            <a:ext cx="198256" cy="20981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93594" y="9193021"/>
            <a:ext cx="198256" cy="20981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4950" y="9570741"/>
            <a:ext cx="198256" cy="209819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14266" y="9570741"/>
            <a:ext cx="198256" cy="209819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93594" y="9570741"/>
            <a:ext cx="198256" cy="209819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18975" y="8225750"/>
            <a:ext cx="154314" cy="2512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92054" y="8225750"/>
            <a:ext cx="154314" cy="2512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07143" y="8225750"/>
            <a:ext cx="154314" cy="2512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18975" y="8635776"/>
            <a:ext cx="154314" cy="2512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92054" y="8635776"/>
            <a:ext cx="154314" cy="2512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07143" y="8635776"/>
            <a:ext cx="154314" cy="2512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18975" y="9045802"/>
            <a:ext cx="154314" cy="2512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92054" y="9045802"/>
            <a:ext cx="154314" cy="2512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07143" y="9045802"/>
            <a:ext cx="154314" cy="2512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18975" y="9468829"/>
            <a:ext cx="154314" cy="2512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92054" y="9468829"/>
            <a:ext cx="154314" cy="2512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65143" y="9468829"/>
            <a:ext cx="154314" cy="2512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49111" y="8225750"/>
            <a:ext cx="154314" cy="2512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49111" y="8635776"/>
            <a:ext cx="154314" cy="2512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49111" y="9045802"/>
            <a:ext cx="154314" cy="2512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=\frac{15}{16}&quot;&gt;&lt;mo&gt;=&lt;/mo&gt;&lt;mfrac&gt;&lt;mn&gt;15&lt;/mn&gt;&lt;mn&gt;16&lt;/mn&gt;&lt;/mfrac&gt;&lt;/math&gt;" id="267" name="Google Shape;267;p20" title="equals 15 over 16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913734" y="7791875"/>
            <a:ext cx="724718" cy="6929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8" name="Google Shape;268;p20"/>
          <p:cNvCxnSpPr/>
          <p:nvPr/>
        </p:nvCxnSpPr>
        <p:spPr>
          <a:xfrm>
            <a:off x="469257" y="997198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1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Dividing a fraction by a fraction</a:t>
            </a:r>
            <a:endParaRPr/>
          </a:p>
        </p:txBody>
      </p:sp>
      <p:sp>
        <p:nvSpPr>
          <p:cNvPr id="274" name="Google Shape;274;p21"/>
          <p:cNvSpPr txBox="1"/>
          <p:nvPr/>
        </p:nvSpPr>
        <p:spPr>
          <a:xfrm>
            <a:off x="468000" y="1057200"/>
            <a:ext cx="6624000" cy="299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Work out the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reciprocals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of the following.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recipr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ocal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is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 </a:t>
            </a: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reciprocal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 </a:t>
            </a: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reciprocal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d)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-3 </a:t>
            </a: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reciprocal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5" name="Google Shape;275;p21"/>
          <p:cNvSpPr txBox="1"/>
          <p:nvPr/>
        </p:nvSpPr>
        <p:spPr>
          <a:xfrm>
            <a:off x="468000" y="7200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Reciprocals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6" name="Google Shape;276;p21"/>
          <p:cNvSpPr txBox="1"/>
          <p:nvPr/>
        </p:nvSpPr>
        <p:spPr>
          <a:xfrm>
            <a:off x="3744593" y="1637568"/>
            <a:ext cx="1899300" cy="24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h)     1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-\frac{1}{3}\ \ \ \ \frac{2}{9}\ \frac{9}{2}\ \ \ \frac{11}{3}\ \ \frac{3}{11}\ \ \ \ \frac{1}{8}\ \ \ \ \frac{1}{10}&quot;&gt;&lt;mo&gt;−&lt;/mo&gt;&lt;mfrac&gt;&lt;mn&gt;1&lt;/mn&gt;&lt;mn&gt;3&lt;/mn&gt;&lt;/mfrac&gt;&lt;mtext&gt;&lt;/mtext&gt;&lt;mtext&gt;&lt;/mtext&gt;&lt;mtext&gt;&lt;/mtext&gt;&lt;mtext&gt;&lt;/mtext&gt;&lt;mfrac&gt;&lt;mn&gt;2&lt;/mn&gt;&lt;mn&gt;9&lt;/mn&gt;&lt;/mfrac&gt;&lt;mtext&gt;&lt;/mtext&gt;&lt;mfrac&gt;&lt;mn&gt;9&lt;/mn&gt;&lt;mn&gt;2&lt;/mn&gt;&lt;/mfrac&gt;&lt;mtext&gt;&lt;/mtext&gt;&lt;mtext&gt;&lt;/mtext&gt;&lt;mtext&gt;&lt;/mtext&gt;&lt;mfrac&gt;&lt;mn&gt;11&lt;/mn&gt;&lt;mn&gt;3&lt;/mn&gt;&lt;/mfrac&gt;&lt;mtext&gt;&lt;/mtext&gt;&lt;mtext&gt;&lt;/mtext&gt;&lt;mfrac&gt;&lt;mn&gt;3&lt;/mn&gt;&lt;mn&gt;11&lt;/mn&gt;&lt;/mfrac&gt;&lt;mtext&gt;&lt;/mtext&gt;&lt;mtext&gt;&lt;/mtext&gt;&lt;mtext&gt;&lt;/mtext&gt;&lt;mtext&gt;&lt;/mtext&gt;&lt;mfrac&gt;&lt;mn&gt;1&lt;/mn&gt;&lt;mn&gt;8&lt;/mn&gt;&lt;/mfrac&gt;&lt;mtext&gt;&lt;/mtext&gt;&lt;mtext&gt;&lt;/mtext&gt;&lt;mtext&gt;&lt;/mtext&gt;&lt;mtext&gt;&lt;/mtext&gt;&lt;mfrac&gt;&lt;mn&gt;1&lt;/mn&gt;&lt;mn&gt;10&lt;/mn&gt;&lt;/mfrac&gt;&lt;/math&gt;" id="277" name="Google Shape;277;p21" title="negative one third two ninths nine halves eleven thirds 3 over 11 one eighth one tenth"/>
          <p:cNvPicPr preferRelativeResize="0"/>
          <p:nvPr/>
        </p:nvPicPr>
        <p:blipFill rotWithShape="1">
          <a:blip r:embed="rId3">
            <a:alphaModFix/>
          </a:blip>
          <a:srcRect b="0" l="73494" r="16894" t="0"/>
          <a:stretch/>
        </p:blipFill>
        <p:spPr>
          <a:xfrm>
            <a:off x="2185784" y="1558997"/>
            <a:ext cx="268491" cy="46387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1"/>
          <p:cNvSpPr txBox="1"/>
          <p:nvPr/>
        </p:nvSpPr>
        <p:spPr>
          <a:xfrm>
            <a:off x="4248202" y="3658088"/>
            <a:ext cx="2412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reciprocal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is  1</a:t>
            </a:r>
            <a:endParaRPr sz="1200"/>
          </a:p>
        </p:txBody>
      </p:sp>
      <p:pic>
        <p:nvPicPr>
          <p:cNvPr descr="&lt;math xmlns=&quot;http://www.w3.org/1998/Math/MathML&quot; display=&quot;block&quot; data-is-equatio=&quot;1&quot; data-latex=&quot;-\frac{1}{3}\ \ \ \ \frac{2}{9}\ \frac{9}{2}\ \ \ \frac{11}{3}\ \ \frac{3}{11}\ \ \ \ \frac{1}{8}\ \ \ \ \frac{1}{10}&quot;&gt;&lt;mo&gt;−&lt;/mo&gt;&lt;mfrac&gt;&lt;mn&gt;1&lt;/mn&gt;&lt;mn&gt;3&lt;/mn&gt;&lt;/mfrac&gt;&lt;mtext&gt;&lt;/mtext&gt;&lt;mtext&gt;&lt;/mtext&gt;&lt;mtext&gt;&lt;/mtext&gt;&lt;mtext&gt;&lt;/mtext&gt;&lt;mfrac&gt;&lt;mn&gt;2&lt;/mn&gt;&lt;mn&gt;9&lt;/mn&gt;&lt;/mfrac&gt;&lt;mtext&gt;&lt;/mtext&gt;&lt;mfrac&gt;&lt;mn&gt;9&lt;/mn&gt;&lt;mn&gt;2&lt;/mn&gt;&lt;/mfrac&gt;&lt;mtext&gt;&lt;/mtext&gt;&lt;mtext&gt;&lt;/mtext&gt;&lt;mtext&gt;&lt;/mtext&gt;&lt;mfrac&gt;&lt;mn&gt;11&lt;/mn&gt;&lt;mn&gt;3&lt;/mn&gt;&lt;/mfrac&gt;&lt;mtext&gt;&lt;/mtext&gt;&lt;mtext&gt;&lt;/mtext&gt;&lt;mfrac&gt;&lt;mn&gt;3&lt;/mn&gt;&lt;mn&gt;11&lt;/mn&gt;&lt;/mfrac&gt;&lt;mtext&gt;&lt;/mtext&gt;&lt;mtext&gt;&lt;/mtext&gt;&lt;mtext&gt;&lt;/mtext&gt;&lt;mtext&gt;&lt;/mtext&gt;&lt;mfrac&gt;&lt;mn&gt;1&lt;/mn&gt;&lt;mn&gt;8&lt;/mn&gt;&lt;/mfrac&gt;&lt;mtext&gt;&lt;/mtext&gt;&lt;mtext&gt;&lt;/mtext&gt;&lt;mtext&gt;&lt;/mtext&gt;&lt;mtext&gt;&lt;/mtext&gt;&lt;mfrac&gt;&lt;mn&gt;1&lt;/mn&gt;&lt;mn&gt;10&lt;/mn&gt;&lt;/mfrac&gt;&lt;/math&gt;" id="279" name="Google Shape;279;p21" title="negative one third two ninths nine halves eleven thirds 3 over 11 one eighth one tenth"/>
          <p:cNvPicPr preferRelativeResize="0"/>
          <p:nvPr/>
        </p:nvPicPr>
        <p:blipFill rotWithShape="1">
          <a:blip r:embed="rId3">
            <a:alphaModFix/>
          </a:blip>
          <a:srcRect b="0" l="88829" r="-2063" t="0"/>
          <a:stretch/>
        </p:blipFill>
        <p:spPr>
          <a:xfrm>
            <a:off x="2228401" y="2224740"/>
            <a:ext cx="369687" cy="463870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21"/>
          <p:cNvSpPr txBox="1"/>
          <p:nvPr/>
        </p:nvSpPr>
        <p:spPr>
          <a:xfrm>
            <a:off x="4537857" y="1637577"/>
            <a:ext cx="2412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reciprocal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is</a:t>
            </a:r>
            <a:endParaRPr sz="1200"/>
          </a:p>
        </p:txBody>
      </p:sp>
      <p:pic>
        <p:nvPicPr>
          <p:cNvPr descr="&lt;math xmlns=&quot;http://www.w3.org/1998/Math/MathML&quot; display=&quot;block&quot; data-is-equatio=&quot;1&quot; data-latex=&quot;-\frac{1}{3}\ \ \ \ \frac{2}{9}\ \frac{9}{2}\ \ \ \frac{11}{3}\ \ \frac{3}{11}\ \ \ \ \frac{1}{8}\ \ \ \ \frac{1}{10}&quot;&gt;&lt;mo&gt;−&lt;/mo&gt;&lt;mfrac&gt;&lt;mn&gt;1&lt;/mn&gt;&lt;mn&gt;3&lt;/mn&gt;&lt;/mfrac&gt;&lt;mtext&gt;&lt;/mtext&gt;&lt;mtext&gt;&lt;/mtext&gt;&lt;mtext&gt;&lt;/mtext&gt;&lt;mtext&gt;&lt;/mtext&gt;&lt;mfrac&gt;&lt;mn&gt;2&lt;/mn&gt;&lt;mn&gt;9&lt;/mn&gt;&lt;/mfrac&gt;&lt;mtext&gt;&lt;/mtext&gt;&lt;mfrac&gt;&lt;mn&gt;9&lt;/mn&gt;&lt;mn&gt;2&lt;/mn&gt;&lt;/mfrac&gt;&lt;mtext&gt;&lt;/mtext&gt;&lt;mtext&gt;&lt;/mtext&gt;&lt;mtext&gt;&lt;/mtext&gt;&lt;mfrac&gt;&lt;mn&gt;11&lt;/mn&gt;&lt;mn&gt;3&lt;/mn&gt;&lt;/mfrac&gt;&lt;mtext&gt;&lt;/mtext&gt;&lt;mtext&gt;&lt;/mtext&gt;&lt;mfrac&gt;&lt;mn&gt;3&lt;/mn&gt;&lt;mn&gt;11&lt;/mn&gt;&lt;/mfrac&gt;&lt;mtext&gt;&lt;/mtext&gt;&lt;mtext&gt;&lt;/mtext&gt;&lt;mtext&gt;&lt;/mtext&gt;&lt;mtext&gt;&lt;/mtext&gt;&lt;mfrac&gt;&lt;mn&gt;1&lt;/mn&gt;&lt;mn&gt;8&lt;/mn&gt;&lt;/mfrac&gt;&lt;mtext&gt;&lt;/mtext&gt;&lt;mtext&gt;&lt;/mtext&gt;&lt;mtext&gt;&lt;/mtext&gt;&lt;mtext&gt;&lt;/mtext&gt;&lt;mfrac&gt;&lt;mn&gt;1&lt;/mn&gt;&lt;mn&gt;10&lt;/mn&gt;&lt;/mfrac&gt;&lt;/math&gt;" id="281" name="Google Shape;281;p21" title="negative one third two ninths nine halves eleven thirds 3 over 11 one eighth one tenth"/>
          <p:cNvPicPr preferRelativeResize="0"/>
          <p:nvPr/>
        </p:nvPicPr>
        <p:blipFill rotWithShape="1">
          <a:blip r:embed="rId3">
            <a:alphaModFix/>
          </a:blip>
          <a:srcRect b="0" l="55893" r="34495" t="0"/>
          <a:stretch/>
        </p:blipFill>
        <p:spPr>
          <a:xfrm>
            <a:off x="5617860" y="1615988"/>
            <a:ext cx="268491" cy="4638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-\frac{1}{3}\ \ \ \ \frac{2}{9}\ \frac{9}{2}\ \ \ \frac{11}{3}\ \ \frac{3}{11}\ \ \ \ \frac{1}{8}\ \ \ \ \frac{1}{10}&quot;&gt;&lt;mo&gt;−&lt;/mo&gt;&lt;mfrac&gt;&lt;mn&gt;1&lt;/mn&gt;&lt;mn&gt;3&lt;/mn&gt;&lt;/mfrac&gt;&lt;mtext&gt;&lt;/mtext&gt;&lt;mtext&gt;&lt;/mtext&gt;&lt;mtext&gt;&lt;/mtext&gt;&lt;mtext&gt;&lt;/mtext&gt;&lt;mfrac&gt;&lt;mn&gt;2&lt;/mn&gt;&lt;mn&gt;9&lt;/mn&gt;&lt;/mfrac&gt;&lt;mtext&gt;&lt;/mtext&gt;&lt;mfrac&gt;&lt;mn&gt;9&lt;/mn&gt;&lt;mn&gt;2&lt;/mn&gt;&lt;/mfrac&gt;&lt;mtext&gt;&lt;/mtext&gt;&lt;mtext&gt;&lt;/mtext&gt;&lt;mtext&gt;&lt;/mtext&gt;&lt;mfrac&gt;&lt;mn&gt;11&lt;/mn&gt;&lt;mn&gt;3&lt;/mn&gt;&lt;/mfrac&gt;&lt;mtext&gt;&lt;/mtext&gt;&lt;mtext&gt;&lt;/mtext&gt;&lt;mfrac&gt;&lt;mn&gt;3&lt;/mn&gt;&lt;mn&gt;11&lt;/mn&gt;&lt;/mfrac&gt;&lt;mtext&gt;&lt;/mtext&gt;&lt;mtext&gt;&lt;/mtext&gt;&lt;mtext&gt;&lt;/mtext&gt;&lt;mtext&gt;&lt;/mtext&gt;&lt;mfrac&gt;&lt;mn&gt;1&lt;/mn&gt;&lt;mn&gt;8&lt;/mn&gt;&lt;/mfrac&gt;&lt;mtext&gt;&lt;/mtext&gt;&lt;mtext&gt;&lt;/mtext&gt;&lt;mtext&gt;&lt;/mtext&gt;&lt;mtext&gt;&lt;/mtext&gt;&lt;mfrac&gt;&lt;mn&gt;1&lt;/mn&gt;&lt;mn&gt;10&lt;/mn&gt;&lt;/mfrac&gt;&lt;/math&gt;" id="282" name="Google Shape;282;p21" title="negative one third two ninths nine halves eleven thirds 3 over 11 one eighth one tenth"/>
          <p:cNvPicPr preferRelativeResize="0"/>
          <p:nvPr/>
        </p:nvPicPr>
        <p:blipFill rotWithShape="1">
          <a:blip r:embed="rId3">
            <a:alphaModFix/>
          </a:blip>
          <a:srcRect b="0" l="39790" r="45490" t="0"/>
          <a:stretch/>
        </p:blipFill>
        <p:spPr>
          <a:xfrm>
            <a:off x="4158850" y="1615998"/>
            <a:ext cx="411191" cy="463850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21"/>
          <p:cNvSpPr txBox="1"/>
          <p:nvPr/>
        </p:nvSpPr>
        <p:spPr>
          <a:xfrm>
            <a:off x="4553479" y="2311102"/>
            <a:ext cx="2412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reciprocal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is</a:t>
            </a:r>
            <a:endParaRPr sz="1200"/>
          </a:p>
        </p:txBody>
      </p:sp>
      <p:pic>
        <p:nvPicPr>
          <p:cNvPr descr="&lt;math xmlns=&quot;http://www.w3.org/1998/Math/MathML&quot; display=&quot;block&quot; data-is-equatio=&quot;1&quot; data-latex=&quot;-\frac{1}{3}\ \ \ \ \frac{2}{9}\ \frac{9}{2}\ \ \ \frac{11}{3}\ \ \frac{3}{11}\ \ \ \ \frac{1}{8}\ \ \ \ \frac{1}{10}&quot;&gt;&lt;mo&gt;−&lt;/mo&gt;&lt;mfrac&gt;&lt;mn&gt;1&lt;/mn&gt;&lt;mn&gt;3&lt;/mn&gt;&lt;/mfrac&gt;&lt;mtext&gt;&lt;/mtext&gt;&lt;mtext&gt;&lt;/mtext&gt;&lt;mtext&gt;&lt;/mtext&gt;&lt;mtext&gt;&lt;/mtext&gt;&lt;mfrac&gt;&lt;mn&gt;2&lt;/mn&gt;&lt;mn&gt;9&lt;/mn&gt;&lt;/mfrac&gt;&lt;mtext&gt;&lt;/mtext&gt;&lt;mfrac&gt;&lt;mn&gt;9&lt;/mn&gt;&lt;mn&gt;2&lt;/mn&gt;&lt;/mfrac&gt;&lt;mtext&gt;&lt;/mtext&gt;&lt;mtext&gt;&lt;/mtext&gt;&lt;mtext&gt;&lt;/mtext&gt;&lt;mfrac&gt;&lt;mn&gt;11&lt;/mn&gt;&lt;mn&gt;3&lt;/mn&gt;&lt;/mfrac&gt;&lt;mtext&gt;&lt;/mtext&gt;&lt;mtext&gt;&lt;/mtext&gt;&lt;mfrac&gt;&lt;mn&gt;3&lt;/mn&gt;&lt;mn&gt;11&lt;/mn&gt;&lt;/mfrac&gt;&lt;mtext&gt;&lt;/mtext&gt;&lt;mtext&gt;&lt;/mtext&gt;&lt;mtext&gt;&lt;/mtext&gt;&lt;mtext&gt;&lt;/mtext&gt;&lt;mfrac&gt;&lt;mn&gt;1&lt;/mn&gt;&lt;mn&gt;8&lt;/mn&gt;&lt;/mfrac&gt;&lt;mtext&gt;&lt;/mtext&gt;&lt;mtext&gt;&lt;/mtext&gt;&lt;mtext&gt;&lt;/mtext&gt;&lt;mtext&gt;&lt;/mtext&gt;&lt;mfrac&gt;&lt;mn&gt;1&lt;/mn&gt;&lt;mn&gt;10&lt;/mn&gt;&lt;/mfrac&gt;&lt;/math&gt;" id="284" name="Google Shape;284;p21" title="negative one third two ninths nine halves eleven thirds 3 over 11 one eighth one tenth"/>
          <p:cNvPicPr preferRelativeResize="0"/>
          <p:nvPr/>
        </p:nvPicPr>
        <p:blipFill rotWithShape="1">
          <a:blip r:embed="rId3">
            <a:alphaModFix/>
          </a:blip>
          <a:srcRect b="0" l="18986" r="73760" t="0"/>
          <a:stretch/>
        </p:blipFill>
        <p:spPr>
          <a:xfrm>
            <a:off x="4230204" y="2266445"/>
            <a:ext cx="202634" cy="46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-\frac{1}{3}\ \ \ \ \frac{2}{9}\ \frac{9}{2}\ \ \ \frac{11}{3}\ \ \frac{3}{11}\ \ \ \ \frac{1}{8}\ \ \ \ \frac{1}{10}&quot;&gt;&lt;mo&gt;−&lt;/mo&gt;&lt;mfrac&gt;&lt;mn&gt;1&lt;/mn&gt;&lt;mn&gt;3&lt;/mn&gt;&lt;/mfrac&gt;&lt;mtext&gt;&lt;/mtext&gt;&lt;mtext&gt;&lt;/mtext&gt;&lt;mtext&gt;&lt;/mtext&gt;&lt;mtext&gt;&lt;/mtext&gt;&lt;mfrac&gt;&lt;mn&gt;2&lt;/mn&gt;&lt;mn&gt;9&lt;/mn&gt;&lt;/mfrac&gt;&lt;mtext&gt;&lt;/mtext&gt;&lt;mfrac&gt;&lt;mn&gt;9&lt;/mn&gt;&lt;mn&gt;2&lt;/mn&gt;&lt;/mfrac&gt;&lt;mtext&gt;&lt;/mtext&gt;&lt;mtext&gt;&lt;/mtext&gt;&lt;mtext&gt;&lt;/mtext&gt;&lt;mfrac&gt;&lt;mn&gt;11&lt;/mn&gt;&lt;mn&gt;3&lt;/mn&gt;&lt;/mfrac&gt;&lt;mtext&gt;&lt;/mtext&gt;&lt;mtext&gt;&lt;/mtext&gt;&lt;mfrac&gt;&lt;mn&gt;3&lt;/mn&gt;&lt;mn&gt;11&lt;/mn&gt;&lt;/mfrac&gt;&lt;mtext&gt;&lt;/mtext&gt;&lt;mtext&gt;&lt;/mtext&gt;&lt;mtext&gt;&lt;/mtext&gt;&lt;mtext&gt;&lt;/mtext&gt;&lt;mfrac&gt;&lt;mn&gt;1&lt;/mn&gt;&lt;mn&gt;8&lt;/mn&gt;&lt;/mfrac&gt;&lt;mtext&gt;&lt;/mtext&gt;&lt;mtext&gt;&lt;/mtext&gt;&lt;mtext&gt;&lt;/mtext&gt;&lt;mtext&gt;&lt;/mtext&gt;&lt;mfrac&gt;&lt;mn&gt;1&lt;/mn&gt;&lt;mn&gt;10&lt;/mn&gt;&lt;/mfrac&gt;&lt;/math&gt;" id="285" name="Google Shape;285;p21" title="negative one third two ninths nine halves eleven thirds 3 over 11 one eighth one tenth"/>
          <p:cNvPicPr preferRelativeResize="0"/>
          <p:nvPr/>
        </p:nvPicPr>
        <p:blipFill rotWithShape="1">
          <a:blip r:embed="rId3">
            <a:alphaModFix/>
          </a:blip>
          <a:srcRect b="0" l="29024" r="63721" t="0"/>
          <a:stretch/>
        </p:blipFill>
        <p:spPr>
          <a:xfrm>
            <a:off x="5700980" y="2264929"/>
            <a:ext cx="202634" cy="46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-\frac{1}{3}\ \ \ \ \frac{2}{9}\ \frac{9}{2}\ \ \ \frac{11}{3}\ \ \frac{3}{11}\ \ \ \ \frac{1}{8}\ \ \ \ \frac{1}{10}&quot;&gt;&lt;mo&gt;−&lt;/mo&gt;&lt;mfrac&gt;&lt;mn&gt;1&lt;/mn&gt;&lt;mn&gt;3&lt;/mn&gt;&lt;/mfrac&gt;&lt;mtext&gt;&lt;/mtext&gt;&lt;mtext&gt;&lt;/mtext&gt;&lt;mtext&gt;&lt;/mtext&gt;&lt;mtext&gt;&lt;/mtext&gt;&lt;mfrac&gt;&lt;mn&gt;2&lt;/mn&gt;&lt;mn&gt;9&lt;/mn&gt;&lt;/mfrac&gt;&lt;mtext&gt;&lt;/mtext&gt;&lt;mfrac&gt;&lt;mn&gt;9&lt;/mn&gt;&lt;mn&gt;2&lt;/mn&gt;&lt;/mfrac&gt;&lt;mtext&gt;&lt;/mtext&gt;&lt;mtext&gt;&lt;/mtext&gt;&lt;mtext&gt;&lt;/mtext&gt;&lt;mfrac&gt;&lt;mn&gt;11&lt;/mn&gt;&lt;mn&gt;3&lt;/mn&gt;&lt;/mfrac&gt;&lt;mtext&gt;&lt;/mtext&gt;&lt;mtext&gt;&lt;/mtext&gt;&lt;mfrac&gt;&lt;mn&gt;3&lt;/mn&gt;&lt;mn&gt;11&lt;/mn&gt;&lt;/mfrac&gt;&lt;mtext&gt;&lt;/mtext&gt;&lt;mtext&gt;&lt;/mtext&gt;&lt;mtext&gt;&lt;/mtext&gt;&lt;mtext&gt;&lt;/mtext&gt;&lt;mfrac&gt;&lt;mn&gt;1&lt;/mn&gt;&lt;mn&gt;8&lt;/mn&gt;&lt;/mfrac&gt;&lt;mtext&gt;&lt;/mtext&gt;&lt;mtext&gt;&lt;/mtext&gt;&lt;mtext&gt;&lt;/mtext&gt;&lt;mtext&gt;&lt;/mtext&gt;&lt;mfrac&gt;&lt;mn&gt;1&lt;/mn&gt;&lt;mn&gt;10&lt;/mn&gt;&lt;/mfrac&gt;&lt;/math&gt;" id="286" name="Google Shape;286;p21" title="negative one third two ninths nine halves eleven thirds 3 over 11 one eighth one tenth"/>
          <p:cNvPicPr preferRelativeResize="0"/>
          <p:nvPr/>
        </p:nvPicPr>
        <p:blipFill rotWithShape="1">
          <a:blip r:embed="rId3">
            <a:alphaModFix/>
          </a:blip>
          <a:srcRect b="0" l="1705" r="85655" t="0"/>
          <a:stretch/>
        </p:blipFill>
        <p:spPr>
          <a:xfrm>
            <a:off x="2285112" y="3590721"/>
            <a:ext cx="353104" cy="46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7}\ \ \ \frac{4}{15}\ \ \frac{15}{4}&quot;&gt;&lt;mfrac&gt;&lt;mn&gt;1&lt;/mn&gt;&lt;mn&gt;7&lt;/mn&gt;&lt;/mfrac&gt;&lt;mtext&gt;&lt;/mtext&gt;&lt;mtext&gt;&lt;/mtext&gt;&lt;mtext&gt;&lt;/mtext&gt;&lt;mfrac&gt;&lt;mn&gt;4&lt;/mn&gt;&lt;mn&gt;15&lt;/mn&gt;&lt;/mfrac&gt;&lt;mtext&gt;&lt;/mtext&gt;&lt;mtext&gt;&lt;/mtext&gt;&lt;mfrac&gt;&lt;mn&gt;15&lt;/mn&gt;&lt;mn&gt;4&lt;/mn&gt;&lt;/mfrac&gt;&lt;/math&gt;" id="287" name="Google Shape;287;p21" title="one seventh 4 over 15 fifteen fourths"/>
          <p:cNvPicPr preferRelativeResize="0"/>
          <p:nvPr/>
        </p:nvPicPr>
        <p:blipFill rotWithShape="1">
          <a:blip r:embed="rId4">
            <a:alphaModFix/>
          </a:blip>
          <a:srcRect b="0" l="0" r="75967" t="0"/>
          <a:stretch/>
        </p:blipFill>
        <p:spPr>
          <a:xfrm>
            <a:off x="2285111" y="2897089"/>
            <a:ext cx="268492" cy="50886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1"/>
          <p:cNvSpPr txBox="1"/>
          <p:nvPr/>
        </p:nvSpPr>
        <p:spPr>
          <a:xfrm>
            <a:off x="4553002" y="2966683"/>
            <a:ext cx="2412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reciprocal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is</a:t>
            </a:r>
            <a:endParaRPr sz="1200"/>
          </a:p>
        </p:txBody>
      </p:sp>
      <p:pic>
        <p:nvPicPr>
          <p:cNvPr descr="&lt;math xmlns=&quot;http://www.w3.org/1998/Math/MathML&quot; display=&quot;block&quot; data-is-equatio=&quot;1&quot; data-latex=&quot;\frac{1}{7}\ \ \ \frac{4}{15}\ \ \frac{15}{4}&quot;&gt;&lt;mfrac&gt;&lt;mn&gt;1&lt;/mn&gt;&lt;mn&gt;7&lt;/mn&gt;&lt;/mfrac&gt;&lt;mtext&gt;&lt;/mtext&gt;&lt;mtext&gt;&lt;/mtext&gt;&lt;mtext&gt;&lt;/mtext&gt;&lt;mfrac&gt;&lt;mn&gt;4&lt;/mn&gt;&lt;mn&gt;15&lt;/mn&gt;&lt;/mfrac&gt;&lt;mtext&gt;&lt;/mtext&gt;&lt;mtext&gt;&lt;/mtext&gt;&lt;mfrac&gt;&lt;mn&gt;15&lt;/mn&gt;&lt;mn&gt;4&lt;/mn&gt;&lt;/mfrac&gt;&lt;/math&gt;" id="289" name="Google Shape;289;p21" title="one seventh 4 over 15 fifteen fourths"/>
          <p:cNvPicPr preferRelativeResize="0"/>
          <p:nvPr/>
        </p:nvPicPr>
        <p:blipFill rotWithShape="1">
          <a:blip r:embed="rId4">
            <a:alphaModFix/>
          </a:blip>
          <a:srcRect b="0" l="37985" r="37982" t="0"/>
          <a:stretch/>
        </p:blipFill>
        <p:spPr>
          <a:xfrm>
            <a:off x="4245339" y="2932982"/>
            <a:ext cx="268492" cy="5088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7}\ \ \ \frac{4}{15}\ \ \frac{15}{4}&quot;&gt;&lt;mfrac&gt;&lt;mn&gt;1&lt;/mn&gt;&lt;mn&gt;7&lt;/mn&gt;&lt;/mfrac&gt;&lt;mtext&gt;&lt;/mtext&gt;&lt;mtext&gt;&lt;/mtext&gt;&lt;mtext&gt;&lt;/mtext&gt;&lt;mfrac&gt;&lt;mn&gt;4&lt;/mn&gt;&lt;mn&gt;15&lt;/mn&gt;&lt;/mfrac&gt;&lt;mtext&gt;&lt;/mtext&gt;&lt;mtext&gt;&lt;/mtext&gt;&lt;mfrac&gt;&lt;mn&gt;15&lt;/mn&gt;&lt;mn&gt;4&lt;/mn&gt;&lt;/mfrac&gt;&lt;/math&gt;" id="290" name="Google Shape;290;p21" title="one seventh 4 over 15 fifteen fourths"/>
          <p:cNvPicPr preferRelativeResize="0"/>
          <p:nvPr/>
        </p:nvPicPr>
        <p:blipFill rotWithShape="1">
          <a:blip r:embed="rId4">
            <a:alphaModFix/>
          </a:blip>
          <a:srcRect b="0" l="69887" r="-6690" t="0"/>
          <a:stretch/>
        </p:blipFill>
        <p:spPr>
          <a:xfrm>
            <a:off x="5714049" y="2961118"/>
            <a:ext cx="411201" cy="508839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21"/>
          <p:cNvSpPr txBox="1"/>
          <p:nvPr/>
        </p:nvSpPr>
        <p:spPr>
          <a:xfrm>
            <a:off x="468000" y="4239350"/>
            <a:ext cx="66240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Work out the reciprocals of the following.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5\frac{1}{2}\ \ \ \frac{11}{2}\ \ \ \ \frac{2}{11}\ \ \ \ \ \ 9\frac{2}{3}\ \ \ \ \frac{29}{3}\ \ \ \frac{3}{29}\ \ \ \ \ 10\frac{3}{5}\ \ \ \frac{53}{3}\ \ \ \frac{3}{53}&quot;&gt;&lt;mn&gt;5&lt;/mn&gt;&lt;mfrac&gt;&lt;mn&gt;1&lt;/mn&gt;&lt;mn&gt;2&lt;/mn&gt;&lt;/mfrac&gt;&lt;mtext&gt;&lt;/mtext&gt;&lt;mtext&gt;&lt;/mtext&gt;&lt;mtext&gt;&lt;/mtext&gt;&lt;mfrac&gt;&lt;mn&gt;11&lt;/mn&gt;&lt;mn&gt;2&lt;/mn&gt;&lt;/mfrac&gt;&lt;mtext&gt;&lt;/mtext&gt;&lt;mtext&gt;&lt;/mtext&gt;&lt;mtext&gt;&lt;/mtext&gt;&lt;mtext&gt;&lt;/mtext&gt;&lt;mfrac&gt;&lt;mn&gt;2&lt;/mn&gt;&lt;mn&gt;11&lt;/mn&gt;&lt;/mfrac&gt;&lt;mtext&gt;&lt;/mtext&gt;&lt;mtext&gt;&lt;/mtext&gt;&lt;mtext&gt;&lt;/mtext&gt;&lt;mtext&gt;&lt;/mtext&gt;&lt;mtext&gt;&lt;/mtext&gt;&lt;mtext&gt;&lt;/mtext&gt;&lt;mn&gt;9&lt;/mn&gt;&lt;mfrac&gt;&lt;mn&gt;2&lt;/mn&gt;&lt;mn&gt;3&lt;/mn&gt;&lt;/mfrac&gt;&lt;mtext&gt;&lt;/mtext&gt;&lt;mtext&gt;&lt;/mtext&gt;&lt;mtext&gt;&lt;/mtext&gt;&lt;mtext&gt;&lt;/mtext&gt;&lt;mfrac&gt;&lt;mn&gt;29&lt;/mn&gt;&lt;mn&gt;3&lt;/mn&gt;&lt;/mfrac&gt;&lt;mtext&gt;&lt;/mtext&gt;&lt;mtext&gt;&lt;/mtext&gt;&lt;mtext&gt;&lt;/mtext&gt;&lt;mfrac&gt;&lt;mn&gt;3&lt;/mn&gt;&lt;mn&gt;29&lt;/mn&gt;&lt;/mfrac&gt;&lt;mtext&gt;&lt;/mtext&gt;&lt;mtext&gt;&lt;/mtext&gt;&lt;mtext&gt;&lt;/mtext&gt;&lt;mtext&gt;&lt;/mtext&gt;&lt;mtext&gt;&lt;/mtext&gt;&lt;mn&gt;10&lt;/mn&gt;&lt;mfrac&gt;&lt;mn&gt;3&lt;/mn&gt;&lt;mn&gt;5&lt;/mn&gt;&lt;/mfrac&gt;&lt;mtext&gt;&lt;/mtext&gt;&lt;mtext&gt;&lt;/mtext&gt;&lt;mtext&gt;&lt;/mtext&gt;&lt;mfrac&gt;&lt;mn&gt;53&lt;/mn&gt;&lt;mn&gt;3&lt;/mn&gt;&lt;/mfrac&gt;&lt;mtext&gt;&lt;/mtext&gt;&lt;mtext&gt;&lt;/mtext&gt;&lt;mtext&gt;&lt;/mtext&gt;&lt;mfrac&gt;&lt;mn&gt;3&lt;/mn&gt;&lt;mn&gt;53&lt;/mn&gt;&lt;/mfrac&gt;&lt;/math&gt;" id="292" name="Google Shape;292;p21" title="5 and one half eleven halves 2 over 11 9 and two thirds 29 over 3 3 over 29 10 and three fifths 53 over 3 3 over 53"/>
          <p:cNvPicPr preferRelativeResize="0"/>
          <p:nvPr/>
        </p:nvPicPr>
        <p:blipFill rotWithShape="1">
          <a:blip r:embed="rId5">
            <a:alphaModFix/>
          </a:blip>
          <a:srcRect b="0" l="0" r="90761" t="0"/>
          <a:stretch/>
        </p:blipFill>
        <p:spPr>
          <a:xfrm>
            <a:off x="1009872" y="4775379"/>
            <a:ext cx="486842" cy="54387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5\frac{1}{2}\ \ \ \frac{11}{2}\ \ \ \ \frac{2}{11}\ \ \ \ \ \ 9\frac{2}{3}\ \ \ \ \frac{29}{3}\ \ \ \frac{3}{29}\ \ \ \ \ 10\frac{3}{5}\ \ \ \frac{53}{3}\ \ \ \frac{3}{53}&quot;&gt;&lt;mn&gt;5&lt;/mn&gt;&lt;mfrac&gt;&lt;mn&gt;1&lt;/mn&gt;&lt;mn&gt;2&lt;/mn&gt;&lt;/mfrac&gt;&lt;mtext&gt;&lt;/mtext&gt;&lt;mtext&gt;&lt;/mtext&gt;&lt;mtext&gt;&lt;/mtext&gt;&lt;mfrac&gt;&lt;mn&gt;11&lt;/mn&gt;&lt;mn&gt;2&lt;/mn&gt;&lt;/mfrac&gt;&lt;mtext&gt;&lt;/mtext&gt;&lt;mtext&gt;&lt;/mtext&gt;&lt;mtext&gt;&lt;/mtext&gt;&lt;mtext&gt;&lt;/mtext&gt;&lt;mfrac&gt;&lt;mn&gt;2&lt;/mn&gt;&lt;mn&gt;11&lt;/mn&gt;&lt;/mfrac&gt;&lt;mtext&gt;&lt;/mtext&gt;&lt;mtext&gt;&lt;/mtext&gt;&lt;mtext&gt;&lt;/mtext&gt;&lt;mtext&gt;&lt;/mtext&gt;&lt;mtext&gt;&lt;/mtext&gt;&lt;mtext&gt;&lt;/mtext&gt;&lt;mn&gt;9&lt;/mn&gt;&lt;mfrac&gt;&lt;mn&gt;2&lt;/mn&gt;&lt;mn&gt;3&lt;/mn&gt;&lt;/mfrac&gt;&lt;mtext&gt;&lt;/mtext&gt;&lt;mtext&gt;&lt;/mtext&gt;&lt;mtext&gt;&lt;/mtext&gt;&lt;mtext&gt;&lt;/mtext&gt;&lt;mfrac&gt;&lt;mn&gt;29&lt;/mn&gt;&lt;mn&gt;3&lt;/mn&gt;&lt;/mfrac&gt;&lt;mtext&gt;&lt;/mtext&gt;&lt;mtext&gt;&lt;/mtext&gt;&lt;mtext&gt;&lt;/mtext&gt;&lt;mfrac&gt;&lt;mn&gt;3&lt;/mn&gt;&lt;mn&gt;29&lt;/mn&gt;&lt;/mfrac&gt;&lt;mtext&gt;&lt;/mtext&gt;&lt;mtext&gt;&lt;/mtext&gt;&lt;mtext&gt;&lt;/mtext&gt;&lt;mtext&gt;&lt;/mtext&gt;&lt;mtext&gt;&lt;/mtext&gt;&lt;mn&gt;10&lt;/mn&gt;&lt;mfrac&gt;&lt;mn&gt;3&lt;/mn&gt;&lt;mn&gt;5&lt;/mn&gt;&lt;/mfrac&gt;&lt;mtext&gt;&lt;/mtext&gt;&lt;mtext&gt;&lt;/mtext&gt;&lt;mtext&gt;&lt;/mtext&gt;&lt;mfrac&gt;&lt;mn&gt;53&lt;/mn&gt;&lt;mn&gt;3&lt;/mn&gt;&lt;/mfrac&gt;&lt;mtext&gt;&lt;/mtext&gt;&lt;mtext&gt;&lt;/mtext&gt;&lt;mtext&gt;&lt;/mtext&gt;&lt;mfrac&gt;&lt;mn&gt;3&lt;/mn&gt;&lt;mn&gt;53&lt;/mn&gt;&lt;/mfrac&gt;&lt;/math&gt;" id="293" name="Google Shape;293;p21" title="5 and one half eleven halves 2 over 11 9 and two thirds 29 over 3 3 over 29 10 and three fifths 53 over 3 3 over 53"/>
          <p:cNvPicPr preferRelativeResize="0"/>
          <p:nvPr/>
        </p:nvPicPr>
        <p:blipFill rotWithShape="1">
          <a:blip r:embed="rId5">
            <a:alphaModFix/>
          </a:blip>
          <a:srcRect b="0" l="35329" r="56957" t="0"/>
          <a:stretch/>
        </p:blipFill>
        <p:spPr>
          <a:xfrm>
            <a:off x="928134" y="5451640"/>
            <a:ext cx="406485" cy="54387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5\frac{1}{2}\ \ \ \frac{11}{2}\ \ \ \ \frac{2}{11}\ \ \ \ \ \ 9\frac{2}{3}\ \ \ \ \frac{29}{3}\ \ \ \frac{3}{29}\ \ \ \ \ 10\frac{3}{5}\ \ \ \frac{53}{3}\ \ \ \frac{3}{53}&quot;&gt;&lt;mn&gt;5&lt;/mn&gt;&lt;mfrac&gt;&lt;mn&gt;1&lt;/mn&gt;&lt;mn&gt;2&lt;/mn&gt;&lt;/mfrac&gt;&lt;mtext&gt;&lt;/mtext&gt;&lt;mtext&gt;&lt;/mtext&gt;&lt;mtext&gt;&lt;/mtext&gt;&lt;mfrac&gt;&lt;mn&gt;11&lt;/mn&gt;&lt;mn&gt;2&lt;/mn&gt;&lt;/mfrac&gt;&lt;mtext&gt;&lt;/mtext&gt;&lt;mtext&gt;&lt;/mtext&gt;&lt;mtext&gt;&lt;/mtext&gt;&lt;mtext&gt;&lt;/mtext&gt;&lt;mfrac&gt;&lt;mn&gt;2&lt;/mn&gt;&lt;mn&gt;11&lt;/mn&gt;&lt;/mfrac&gt;&lt;mtext&gt;&lt;/mtext&gt;&lt;mtext&gt;&lt;/mtext&gt;&lt;mtext&gt;&lt;/mtext&gt;&lt;mtext&gt;&lt;/mtext&gt;&lt;mtext&gt;&lt;/mtext&gt;&lt;mtext&gt;&lt;/mtext&gt;&lt;mn&gt;9&lt;/mn&gt;&lt;mfrac&gt;&lt;mn&gt;2&lt;/mn&gt;&lt;mn&gt;3&lt;/mn&gt;&lt;/mfrac&gt;&lt;mtext&gt;&lt;/mtext&gt;&lt;mtext&gt;&lt;/mtext&gt;&lt;mtext&gt;&lt;/mtext&gt;&lt;mtext&gt;&lt;/mtext&gt;&lt;mfrac&gt;&lt;mn&gt;29&lt;/mn&gt;&lt;mn&gt;3&lt;/mn&gt;&lt;/mfrac&gt;&lt;mtext&gt;&lt;/mtext&gt;&lt;mtext&gt;&lt;/mtext&gt;&lt;mtext&gt;&lt;/mtext&gt;&lt;mfrac&gt;&lt;mn&gt;3&lt;/mn&gt;&lt;mn&gt;29&lt;/mn&gt;&lt;/mfrac&gt;&lt;mtext&gt;&lt;/mtext&gt;&lt;mtext&gt;&lt;/mtext&gt;&lt;mtext&gt;&lt;/mtext&gt;&lt;mtext&gt;&lt;/mtext&gt;&lt;mtext&gt;&lt;/mtext&gt;&lt;mn&gt;10&lt;/mn&gt;&lt;mfrac&gt;&lt;mn&gt;3&lt;/mn&gt;&lt;mn&gt;5&lt;/mn&gt;&lt;/mfrac&gt;&lt;mtext&gt;&lt;/mtext&gt;&lt;mtext&gt;&lt;/mtext&gt;&lt;mtext&gt;&lt;/mtext&gt;&lt;mfrac&gt;&lt;mn&gt;53&lt;/mn&gt;&lt;mn&gt;3&lt;/mn&gt;&lt;/mfrac&gt;&lt;mtext&gt;&lt;/mtext&gt;&lt;mtext&gt;&lt;/mtext&gt;&lt;mtext&gt;&lt;/mtext&gt;&lt;mfrac&gt;&lt;mn&gt;3&lt;/mn&gt;&lt;mn&gt;53&lt;/mn&gt;&lt;/mfrac&gt;&lt;/math&gt;" id="294" name="Google Shape;294;p21" title="5 and one half eleven halves 2 over 11 9 and two thirds 29 over 3 3 over 29 10 and three fifths 53 over 3 3 over 53"/>
          <p:cNvPicPr preferRelativeResize="0"/>
          <p:nvPr/>
        </p:nvPicPr>
        <p:blipFill rotWithShape="1">
          <a:blip r:embed="rId5">
            <a:alphaModFix/>
          </a:blip>
          <a:srcRect b="0" l="69868" r="19691" t="0"/>
          <a:stretch/>
        </p:blipFill>
        <p:spPr>
          <a:xfrm>
            <a:off x="874175" y="6078323"/>
            <a:ext cx="486842" cy="4812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5\frac{1}{2}\ \ \ \frac{11}{2}\ \ \ \ \frac{2}{11}\ \ \ \ \ \ 9\frac{2}{3}\ \ \ \ \frac{29}{3}\ \ \ \frac{3}{29}\ \ \ \ \ 10\frac{3}{5}\ \ \ \frac{53}{3}\ \ \ \frac{3}{53}&quot;&gt;&lt;mn&gt;5&lt;/mn&gt;&lt;mfrac&gt;&lt;mn&gt;1&lt;/mn&gt;&lt;mn&gt;2&lt;/mn&gt;&lt;/mfrac&gt;&lt;mtext&gt;&lt;/mtext&gt;&lt;mtext&gt;&lt;/mtext&gt;&lt;mtext&gt;&lt;/mtext&gt;&lt;mfrac&gt;&lt;mn&gt;11&lt;/mn&gt;&lt;mn&gt;2&lt;/mn&gt;&lt;/mfrac&gt;&lt;mtext&gt;&lt;/mtext&gt;&lt;mtext&gt;&lt;/mtext&gt;&lt;mtext&gt;&lt;/mtext&gt;&lt;mtext&gt;&lt;/mtext&gt;&lt;mfrac&gt;&lt;mn&gt;2&lt;/mn&gt;&lt;mn&gt;11&lt;/mn&gt;&lt;/mfrac&gt;&lt;mtext&gt;&lt;/mtext&gt;&lt;mtext&gt;&lt;/mtext&gt;&lt;mtext&gt;&lt;/mtext&gt;&lt;mtext&gt;&lt;/mtext&gt;&lt;mtext&gt;&lt;/mtext&gt;&lt;mtext&gt;&lt;/mtext&gt;&lt;mn&gt;9&lt;/mn&gt;&lt;mfrac&gt;&lt;mn&gt;2&lt;/mn&gt;&lt;mn&gt;3&lt;/mn&gt;&lt;/mfrac&gt;&lt;mtext&gt;&lt;/mtext&gt;&lt;mtext&gt;&lt;/mtext&gt;&lt;mtext&gt;&lt;/mtext&gt;&lt;mtext&gt;&lt;/mtext&gt;&lt;mfrac&gt;&lt;mn&gt;29&lt;/mn&gt;&lt;mn&gt;3&lt;/mn&gt;&lt;/mfrac&gt;&lt;mtext&gt;&lt;/mtext&gt;&lt;mtext&gt;&lt;/mtext&gt;&lt;mtext&gt;&lt;/mtext&gt;&lt;mfrac&gt;&lt;mn&gt;3&lt;/mn&gt;&lt;mn&gt;29&lt;/mn&gt;&lt;/mfrac&gt;&lt;mtext&gt;&lt;/mtext&gt;&lt;mtext&gt;&lt;/mtext&gt;&lt;mtext&gt;&lt;/mtext&gt;&lt;mtext&gt;&lt;/mtext&gt;&lt;mtext&gt;&lt;/mtext&gt;&lt;mn&gt;10&lt;/mn&gt;&lt;mfrac&gt;&lt;mn&gt;3&lt;/mn&gt;&lt;mn&gt;5&lt;/mn&gt;&lt;/mfrac&gt;&lt;mtext&gt;&lt;/mtext&gt;&lt;mtext&gt;&lt;/mtext&gt;&lt;mtext&gt;&lt;/mtext&gt;&lt;mfrac&gt;&lt;mn&gt;53&lt;/mn&gt;&lt;mn&gt;3&lt;/mn&gt;&lt;/mfrac&gt;&lt;mtext&gt;&lt;/mtext&gt;&lt;mtext&gt;&lt;/mtext&gt;&lt;mtext&gt;&lt;/mtext&gt;&lt;mfrac&gt;&lt;mn&gt;3&lt;/mn&gt;&lt;mn&gt;53&lt;/mn&gt;&lt;/mfrac&gt;&lt;/math&gt;" id="295" name="Google Shape;295;p21" title="5 and one half eleven halves 2 over 11 9 and two thirds 29 over 3 3 over 29 10 and three fifths 53 over 3 3 over 53"/>
          <p:cNvPicPr preferRelativeResize="0"/>
          <p:nvPr/>
        </p:nvPicPr>
        <p:blipFill rotWithShape="1">
          <a:blip r:embed="rId5">
            <a:alphaModFix/>
          </a:blip>
          <a:srcRect b="0" l="9456" r="82163" t="0"/>
          <a:stretch/>
        </p:blipFill>
        <p:spPr>
          <a:xfrm>
            <a:off x="1573939" y="4775344"/>
            <a:ext cx="441589" cy="543854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21"/>
          <p:cNvSpPr txBox="1"/>
          <p:nvPr/>
        </p:nvSpPr>
        <p:spPr>
          <a:xfrm>
            <a:off x="2015536" y="4896513"/>
            <a:ext cx="1728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reciprocal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is</a:t>
            </a:r>
            <a:endParaRPr sz="1200"/>
          </a:p>
        </p:txBody>
      </p:sp>
      <p:pic>
        <p:nvPicPr>
          <p:cNvPr descr="&lt;math xmlns=&quot;http://www.w3.org/1998/Math/MathML&quot; display=&quot;block&quot; data-is-equatio=&quot;1&quot; data-latex=&quot;5\frac{1}{2}\ \ \ \frac{11}{2}\ \ \ \ \frac{2}{11}\ \ \ \ \ \ 9\frac{2}{3}\ \ \ \ \frac{29}{3}\ \ \ \frac{3}{29}\ \ \ \ \ 10\frac{3}{5}\ \ \ \frac{53}{3}\ \ \ \frac{3}{53}&quot;&gt;&lt;mn&gt;5&lt;/mn&gt;&lt;mfrac&gt;&lt;mn&gt;1&lt;/mn&gt;&lt;mn&gt;2&lt;/mn&gt;&lt;/mfrac&gt;&lt;mtext&gt;&lt;/mtext&gt;&lt;mtext&gt;&lt;/mtext&gt;&lt;mtext&gt;&lt;/mtext&gt;&lt;mfrac&gt;&lt;mn&gt;11&lt;/mn&gt;&lt;mn&gt;2&lt;/mn&gt;&lt;/mfrac&gt;&lt;mtext&gt;&lt;/mtext&gt;&lt;mtext&gt;&lt;/mtext&gt;&lt;mtext&gt;&lt;/mtext&gt;&lt;mtext&gt;&lt;/mtext&gt;&lt;mfrac&gt;&lt;mn&gt;2&lt;/mn&gt;&lt;mn&gt;11&lt;/mn&gt;&lt;/mfrac&gt;&lt;mtext&gt;&lt;/mtext&gt;&lt;mtext&gt;&lt;/mtext&gt;&lt;mtext&gt;&lt;/mtext&gt;&lt;mtext&gt;&lt;/mtext&gt;&lt;mtext&gt;&lt;/mtext&gt;&lt;mtext&gt;&lt;/mtext&gt;&lt;mn&gt;9&lt;/mn&gt;&lt;mfrac&gt;&lt;mn&gt;2&lt;/mn&gt;&lt;mn&gt;3&lt;/mn&gt;&lt;/mfrac&gt;&lt;mtext&gt;&lt;/mtext&gt;&lt;mtext&gt;&lt;/mtext&gt;&lt;mtext&gt;&lt;/mtext&gt;&lt;mtext&gt;&lt;/mtext&gt;&lt;mfrac&gt;&lt;mn&gt;29&lt;/mn&gt;&lt;mn&gt;3&lt;/mn&gt;&lt;/mfrac&gt;&lt;mtext&gt;&lt;/mtext&gt;&lt;mtext&gt;&lt;/mtext&gt;&lt;mtext&gt;&lt;/mtext&gt;&lt;mfrac&gt;&lt;mn&gt;3&lt;/mn&gt;&lt;mn&gt;29&lt;/mn&gt;&lt;/mfrac&gt;&lt;mtext&gt;&lt;/mtext&gt;&lt;mtext&gt;&lt;/mtext&gt;&lt;mtext&gt;&lt;/mtext&gt;&lt;mtext&gt;&lt;/mtext&gt;&lt;mtext&gt;&lt;/mtext&gt;&lt;mn&gt;10&lt;/mn&gt;&lt;mfrac&gt;&lt;mn&gt;3&lt;/mn&gt;&lt;mn&gt;5&lt;/mn&gt;&lt;/mfrac&gt;&lt;mtext&gt;&lt;/mtext&gt;&lt;mtext&gt;&lt;/mtext&gt;&lt;mtext&gt;&lt;/mtext&gt;&lt;mfrac&gt;&lt;mn&gt;53&lt;/mn&gt;&lt;mn&gt;3&lt;/mn&gt;&lt;/mfrac&gt;&lt;mtext&gt;&lt;/mtext&gt;&lt;mtext&gt;&lt;/mtext&gt;&lt;mtext&gt;&lt;/mtext&gt;&lt;mfrac&gt;&lt;mn&gt;3&lt;/mn&gt;&lt;mn&gt;53&lt;/mn&gt;&lt;/mfrac&gt;&lt;/math&gt;" id="297" name="Google Shape;297;p21" title="5 and one half eleven halves 2 over 11 9 and two thirds 29 over 3 3 over 29 10 and three fifths 53 over 3 3 over 53"/>
          <p:cNvPicPr preferRelativeResize="0"/>
          <p:nvPr/>
        </p:nvPicPr>
        <p:blipFill rotWithShape="1">
          <a:blip r:embed="rId5">
            <a:alphaModFix/>
          </a:blip>
          <a:srcRect b="0" l="20267" r="71352" t="0"/>
          <a:stretch/>
        </p:blipFill>
        <p:spPr>
          <a:xfrm>
            <a:off x="2969983" y="4775344"/>
            <a:ext cx="441589" cy="54385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5\frac{1}{2}\ \ \ \frac{11}{2}\ \ \ \ \frac{2}{11}\ \ \ \ \ \ 9\frac{2}{3}\ \ \ \ \frac{29}{3}\ \ \ \frac{3}{29}\ \ \ \ \ 10\frac{3}{5}\ \ \ \frac{53}{3}\ \ \ \frac{3}{53}&quot;&gt;&lt;mn&gt;5&lt;/mn&gt;&lt;mfrac&gt;&lt;mn&gt;1&lt;/mn&gt;&lt;mn&gt;2&lt;/mn&gt;&lt;/mfrac&gt;&lt;mtext&gt;&lt;/mtext&gt;&lt;mtext&gt;&lt;/mtext&gt;&lt;mtext&gt;&lt;/mtext&gt;&lt;mfrac&gt;&lt;mn&gt;11&lt;/mn&gt;&lt;mn&gt;2&lt;/mn&gt;&lt;/mfrac&gt;&lt;mtext&gt;&lt;/mtext&gt;&lt;mtext&gt;&lt;/mtext&gt;&lt;mtext&gt;&lt;/mtext&gt;&lt;mtext&gt;&lt;/mtext&gt;&lt;mfrac&gt;&lt;mn&gt;2&lt;/mn&gt;&lt;mn&gt;11&lt;/mn&gt;&lt;/mfrac&gt;&lt;mtext&gt;&lt;/mtext&gt;&lt;mtext&gt;&lt;/mtext&gt;&lt;mtext&gt;&lt;/mtext&gt;&lt;mtext&gt;&lt;/mtext&gt;&lt;mtext&gt;&lt;/mtext&gt;&lt;mtext&gt;&lt;/mtext&gt;&lt;mn&gt;9&lt;/mn&gt;&lt;mfrac&gt;&lt;mn&gt;2&lt;/mn&gt;&lt;mn&gt;3&lt;/mn&gt;&lt;/mfrac&gt;&lt;mtext&gt;&lt;/mtext&gt;&lt;mtext&gt;&lt;/mtext&gt;&lt;mtext&gt;&lt;/mtext&gt;&lt;mtext&gt;&lt;/mtext&gt;&lt;mfrac&gt;&lt;mn&gt;29&lt;/mn&gt;&lt;mn&gt;3&lt;/mn&gt;&lt;/mfrac&gt;&lt;mtext&gt;&lt;/mtext&gt;&lt;mtext&gt;&lt;/mtext&gt;&lt;mtext&gt;&lt;/mtext&gt;&lt;mfrac&gt;&lt;mn&gt;3&lt;/mn&gt;&lt;mn&gt;29&lt;/mn&gt;&lt;/mfrac&gt;&lt;mtext&gt;&lt;/mtext&gt;&lt;mtext&gt;&lt;/mtext&gt;&lt;mtext&gt;&lt;/mtext&gt;&lt;mtext&gt;&lt;/mtext&gt;&lt;mtext&gt;&lt;/mtext&gt;&lt;mn&gt;10&lt;/mn&gt;&lt;mfrac&gt;&lt;mn&gt;3&lt;/mn&gt;&lt;mn&gt;5&lt;/mn&gt;&lt;/mfrac&gt;&lt;mtext&gt;&lt;/mtext&gt;&lt;mtext&gt;&lt;/mtext&gt;&lt;mtext&gt;&lt;/mtext&gt;&lt;mfrac&gt;&lt;mn&gt;53&lt;/mn&gt;&lt;mn&gt;3&lt;/mn&gt;&lt;/mfrac&gt;&lt;mtext&gt;&lt;/mtext&gt;&lt;mtext&gt;&lt;/mtext&gt;&lt;mtext&gt;&lt;/mtext&gt;&lt;mfrac&gt;&lt;mn&gt;3&lt;/mn&gt;&lt;mn&gt;53&lt;/mn&gt;&lt;/mfrac&gt;&lt;/math&gt;" id="298" name="Google Shape;298;p21" title="5 and one half eleven halves 2 over 11 9 and two thirds 29 over 3 3 over 29 10 and three fifths 53 over 3 3 over 53"/>
          <p:cNvPicPr preferRelativeResize="0"/>
          <p:nvPr/>
        </p:nvPicPr>
        <p:blipFill rotWithShape="1">
          <a:blip r:embed="rId5">
            <a:alphaModFix/>
          </a:blip>
          <a:srcRect b="0" l="47566" r="45415" t="0"/>
          <a:stretch/>
        </p:blipFill>
        <p:spPr>
          <a:xfrm>
            <a:off x="1609813" y="5451575"/>
            <a:ext cx="369841" cy="543854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1"/>
          <p:cNvSpPr txBox="1"/>
          <p:nvPr/>
        </p:nvSpPr>
        <p:spPr>
          <a:xfrm>
            <a:off x="1979662" y="5572744"/>
            <a:ext cx="1728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reciprocal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is</a:t>
            </a:r>
            <a:endParaRPr sz="1200"/>
          </a:p>
        </p:txBody>
      </p:sp>
      <p:pic>
        <p:nvPicPr>
          <p:cNvPr descr="&lt;math xmlns=&quot;http://www.w3.org/1998/Math/MathML&quot; display=&quot;block&quot; data-is-equatio=&quot;1&quot; data-latex=&quot;5\frac{1}{2}\ \ \ \frac{11}{2}\ \ \ \ \frac{2}{11}\ \ \ \ \ \ 9\frac{2}{3}\ \ \ \ \frac{29}{3}\ \ \ \frac{3}{29}\ \ \ \ \ 10\frac{3}{5}\ \ \ \frac{53}{3}\ \ \ \frac{3}{53}&quot;&gt;&lt;mn&gt;5&lt;/mn&gt;&lt;mfrac&gt;&lt;mn&gt;1&lt;/mn&gt;&lt;mn&gt;2&lt;/mn&gt;&lt;/mfrac&gt;&lt;mtext&gt;&lt;/mtext&gt;&lt;mtext&gt;&lt;/mtext&gt;&lt;mtext&gt;&lt;/mtext&gt;&lt;mfrac&gt;&lt;mn&gt;11&lt;/mn&gt;&lt;mn&gt;2&lt;/mn&gt;&lt;/mfrac&gt;&lt;mtext&gt;&lt;/mtext&gt;&lt;mtext&gt;&lt;/mtext&gt;&lt;mtext&gt;&lt;/mtext&gt;&lt;mtext&gt;&lt;/mtext&gt;&lt;mfrac&gt;&lt;mn&gt;2&lt;/mn&gt;&lt;mn&gt;11&lt;/mn&gt;&lt;/mfrac&gt;&lt;mtext&gt;&lt;/mtext&gt;&lt;mtext&gt;&lt;/mtext&gt;&lt;mtext&gt;&lt;/mtext&gt;&lt;mtext&gt;&lt;/mtext&gt;&lt;mtext&gt;&lt;/mtext&gt;&lt;mtext&gt;&lt;/mtext&gt;&lt;mn&gt;9&lt;/mn&gt;&lt;mfrac&gt;&lt;mn&gt;2&lt;/mn&gt;&lt;mn&gt;3&lt;/mn&gt;&lt;/mfrac&gt;&lt;mtext&gt;&lt;/mtext&gt;&lt;mtext&gt;&lt;/mtext&gt;&lt;mtext&gt;&lt;/mtext&gt;&lt;mtext&gt;&lt;/mtext&gt;&lt;mfrac&gt;&lt;mn&gt;29&lt;/mn&gt;&lt;mn&gt;3&lt;/mn&gt;&lt;/mfrac&gt;&lt;mtext&gt;&lt;/mtext&gt;&lt;mtext&gt;&lt;/mtext&gt;&lt;mtext&gt;&lt;/mtext&gt;&lt;mfrac&gt;&lt;mn&gt;3&lt;/mn&gt;&lt;mn&gt;29&lt;/mn&gt;&lt;/mfrac&gt;&lt;mtext&gt;&lt;/mtext&gt;&lt;mtext&gt;&lt;/mtext&gt;&lt;mtext&gt;&lt;/mtext&gt;&lt;mtext&gt;&lt;/mtext&gt;&lt;mtext&gt;&lt;/mtext&gt;&lt;mn&gt;10&lt;/mn&gt;&lt;mfrac&gt;&lt;mn&gt;3&lt;/mn&gt;&lt;mn&gt;5&lt;/mn&gt;&lt;/mfrac&gt;&lt;mtext&gt;&lt;/mtext&gt;&lt;mtext&gt;&lt;/mtext&gt;&lt;mtext&gt;&lt;/mtext&gt;&lt;mfrac&gt;&lt;mn&gt;53&lt;/mn&gt;&lt;mn&gt;3&lt;/mn&gt;&lt;/mfrac&gt;&lt;mtext&gt;&lt;/mtext&gt;&lt;mtext&gt;&lt;/mtext&gt;&lt;mtext&gt;&lt;/mtext&gt;&lt;mfrac&gt;&lt;mn&gt;3&lt;/mn&gt;&lt;mn&gt;53&lt;/mn&gt;&lt;/mfrac&gt;&lt;/math&gt;" id="300" name="Google Shape;300;p21" title="5 and one half eleven halves 2 over 11 9 and two thirds 29 over 3 3 over 29 10 and three fifths 53 over 3 3 over 53"/>
          <p:cNvPicPr preferRelativeResize="0"/>
          <p:nvPr/>
        </p:nvPicPr>
        <p:blipFill rotWithShape="1">
          <a:blip r:embed="rId5">
            <a:alphaModFix/>
          </a:blip>
          <a:srcRect b="0" l="56979" r="34641" t="0"/>
          <a:stretch/>
        </p:blipFill>
        <p:spPr>
          <a:xfrm>
            <a:off x="3012630" y="5451575"/>
            <a:ext cx="441589" cy="543854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21"/>
          <p:cNvSpPr txBox="1"/>
          <p:nvPr/>
        </p:nvSpPr>
        <p:spPr>
          <a:xfrm>
            <a:off x="468000" y="68626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Using the cards only once, make the following statements true.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2" name="Google Shape;302;p21"/>
          <p:cNvSpPr/>
          <p:nvPr/>
        </p:nvSpPr>
        <p:spPr>
          <a:xfrm>
            <a:off x="2138169" y="7146700"/>
            <a:ext cx="380100" cy="408900"/>
          </a:xfrm>
          <a:prstGeom prst="roundRect">
            <a:avLst>
              <a:gd fmla="val 16667" name="adj"/>
            </a:avLst>
          </a:prstGeom>
          <a:solidFill>
            <a:srgbClr val="F0F0F0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3" name="Google Shape;303;p21"/>
          <p:cNvSpPr/>
          <p:nvPr/>
        </p:nvSpPr>
        <p:spPr>
          <a:xfrm>
            <a:off x="2609648" y="7146700"/>
            <a:ext cx="380100" cy="408900"/>
          </a:xfrm>
          <a:prstGeom prst="roundRect">
            <a:avLst>
              <a:gd fmla="val 16667" name="adj"/>
            </a:avLst>
          </a:prstGeom>
          <a:solidFill>
            <a:srgbClr val="F0F0F0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21"/>
          <p:cNvSpPr/>
          <p:nvPr/>
        </p:nvSpPr>
        <p:spPr>
          <a:xfrm>
            <a:off x="3081127" y="7146700"/>
            <a:ext cx="380100" cy="408900"/>
          </a:xfrm>
          <a:prstGeom prst="roundRect">
            <a:avLst>
              <a:gd fmla="val 16667" name="adj"/>
            </a:avLst>
          </a:prstGeom>
          <a:solidFill>
            <a:srgbClr val="F0F0F0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5" name="Google Shape;305;p21"/>
          <p:cNvSpPr/>
          <p:nvPr/>
        </p:nvSpPr>
        <p:spPr>
          <a:xfrm>
            <a:off x="3552606" y="7146700"/>
            <a:ext cx="380100" cy="408900"/>
          </a:xfrm>
          <a:prstGeom prst="roundRect">
            <a:avLst>
              <a:gd fmla="val 16667" name="adj"/>
            </a:avLst>
          </a:prstGeom>
          <a:solidFill>
            <a:srgbClr val="F0F0F0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6" name="Google Shape;306;p21"/>
          <p:cNvSpPr/>
          <p:nvPr/>
        </p:nvSpPr>
        <p:spPr>
          <a:xfrm>
            <a:off x="4024085" y="7146700"/>
            <a:ext cx="380100" cy="408900"/>
          </a:xfrm>
          <a:prstGeom prst="roundRect">
            <a:avLst>
              <a:gd fmla="val 16667" name="adj"/>
            </a:avLst>
          </a:prstGeom>
          <a:solidFill>
            <a:srgbClr val="F0F0F0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7" name="Google Shape;307;p21"/>
          <p:cNvSpPr/>
          <p:nvPr/>
        </p:nvSpPr>
        <p:spPr>
          <a:xfrm>
            <a:off x="4495564" y="7146700"/>
            <a:ext cx="380100" cy="408900"/>
          </a:xfrm>
          <a:prstGeom prst="roundRect">
            <a:avLst>
              <a:gd fmla="val 16667" name="adj"/>
            </a:avLst>
          </a:prstGeom>
          <a:solidFill>
            <a:srgbClr val="F0F0F0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8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8" name="Google Shape;308;p21"/>
          <p:cNvSpPr/>
          <p:nvPr/>
        </p:nvSpPr>
        <p:spPr>
          <a:xfrm>
            <a:off x="4967045" y="7146700"/>
            <a:ext cx="441600" cy="408900"/>
          </a:xfrm>
          <a:prstGeom prst="roundRect">
            <a:avLst>
              <a:gd fmla="val 16667" name="adj"/>
            </a:avLst>
          </a:prstGeom>
          <a:solidFill>
            <a:srgbClr val="F0F0F0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10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9" name="Google Shape;309;p21"/>
          <p:cNvSpPr/>
          <p:nvPr/>
        </p:nvSpPr>
        <p:spPr>
          <a:xfrm>
            <a:off x="1924302" y="7891007"/>
            <a:ext cx="369900" cy="397500"/>
          </a:xfrm>
          <a:prstGeom prst="roundRect">
            <a:avLst>
              <a:gd fmla="val 16667" name="adj"/>
            </a:avLst>
          </a:prstGeom>
          <a:solidFill>
            <a:srgbClr val="F0F0F0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0" name="Google Shape;310;p21"/>
          <p:cNvSpPr/>
          <p:nvPr/>
        </p:nvSpPr>
        <p:spPr>
          <a:xfrm>
            <a:off x="1925448" y="8363337"/>
            <a:ext cx="369900" cy="397500"/>
          </a:xfrm>
          <a:prstGeom prst="roundRect">
            <a:avLst>
              <a:gd fmla="val 16667" name="adj"/>
            </a:avLst>
          </a:prstGeom>
          <a:solidFill>
            <a:srgbClr val="F0F0F0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1" name="Google Shape;311;p21"/>
          <p:cNvSpPr/>
          <p:nvPr/>
        </p:nvSpPr>
        <p:spPr>
          <a:xfrm>
            <a:off x="5200398" y="7891000"/>
            <a:ext cx="358500" cy="385200"/>
          </a:xfrm>
          <a:prstGeom prst="roundRect">
            <a:avLst>
              <a:gd fmla="val 16667" name="adj"/>
            </a:avLst>
          </a:prstGeom>
          <a:solidFill>
            <a:srgbClr val="F0F0F0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2" name="Google Shape;312;p21"/>
          <p:cNvSpPr/>
          <p:nvPr/>
        </p:nvSpPr>
        <p:spPr>
          <a:xfrm>
            <a:off x="5200399" y="8371448"/>
            <a:ext cx="358500" cy="385200"/>
          </a:xfrm>
          <a:prstGeom prst="roundRect">
            <a:avLst>
              <a:gd fmla="val 16667" name="adj"/>
            </a:avLst>
          </a:prstGeom>
          <a:solidFill>
            <a:srgbClr val="F0F0F0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" name="Google Shape;313;p21"/>
          <p:cNvSpPr/>
          <p:nvPr/>
        </p:nvSpPr>
        <p:spPr>
          <a:xfrm>
            <a:off x="5841040" y="8375952"/>
            <a:ext cx="358500" cy="385200"/>
          </a:xfrm>
          <a:prstGeom prst="roundRect">
            <a:avLst>
              <a:gd fmla="val 16667" name="adj"/>
            </a:avLst>
          </a:prstGeom>
          <a:solidFill>
            <a:srgbClr val="F0F0F0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8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4" name="Google Shape;314;p21"/>
          <p:cNvSpPr/>
          <p:nvPr/>
        </p:nvSpPr>
        <p:spPr>
          <a:xfrm>
            <a:off x="5841051" y="7891000"/>
            <a:ext cx="406500" cy="385200"/>
          </a:xfrm>
          <a:prstGeom prst="roundRect">
            <a:avLst>
              <a:gd fmla="val 16667" name="adj"/>
            </a:avLst>
          </a:prstGeom>
          <a:solidFill>
            <a:srgbClr val="F0F0F0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10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15" name="Google Shape;315;p21"/>
          <p:cNvCxnSpPr/>
          <p:nvPr/>
        </p:nvCxnSpPr>
        <p:spPr>
          <a:xfrm flipH="1" rot="10800000">
            <a:off x="5190752" y="8688654"/>
            <a:ext cx="582600" cy="3111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16" name="Google Shape;316;p21"/>
          <p:cNvSpPr txBox="1"/>
          <p:nvPr/>
        </p:nvSpPr>
        <p:spPr>
          <a:xfrm>
            <a:off x="3912623" y="8772763"/>
            <a:ext cx="1385700" cy="7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This is an equivalent fraction to the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reciprocal</a:t>
            </a:r>
            <a:endParaRPr b="1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17" name="Google Shape;317;p21"/>
          <p:cNvCxnSpPr/>
          <p:nvPr/>
        </p:nvCxnSpPr>
        <p:spPr>
          <a:xfrm>
            <a:off x="1891710" y="8322542"/>
            <a:ext cx="4416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8" name="Google Shape;318;p21"/>
          <p:cNvCxnSpPr/>
          <p:nvPr/>
        </p:nvCxnSpPr>
        <p:spPr>
          <a:xfrm>
            <a:off x="5172144" y="8322462"/>
            <a:ext cx="4503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9" name="Google Shape;319;p21"/>
          <p:cNvCxnSpPr/>
          <p:nvPr/>
        </p:nvCxnSpPr>
        <p:spPr>
          <a:xfrm>
            <a:off x="5794971" y="8322462"/>
            <a:ext cx="4503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0" name="Google Shape;320;p21"/>
          <p:cNvSpPr/>
          <p:nvPr/>
        </p:nvSpPr>
        <p:spPr>
          <a:xfrm>
            <a:off x="2614748" y="8123812"/>
            <a:ext cx="369900" cy="397500"/>
          </a:xfrm>
          <a:prstGeom prst="roundRect">
            <a:avLst>
              <a:gd fmla="val 16667" name="adj"/>
            </a:avLst>
          </a:prstGeom>
          <a:solidFill>
            <a:srgbClr val="F0F0F0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21" name="Google Shape;321;p21"/>
          <p:cNvCxnSpPr/>
          <p:nvPr/>
        </p:nvCxnSpPr>
        <p:spPr>
          <a:xfrm>
            <a:off x="469257" y="997198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22" name="Google Shape;322;p21"/>
          <p:cNvGrpSpPr/>
          <p:nvPr/>
        </p:nvGrpSpPr>
        <p:grpSpPr>
          <a:xfrm>
            <a:off x="1636649" y="6067685"/>
            <a:ext cx="2241461" cy="543871"/>
            <a:chOff x="2179159" y="3642125"/>
            <a:chExt cx="3469216" cy="841775"/>
          </a:xfrm>
        </p:grpSpPr>
        <p:sp>
          <p:nvSpPr>
            <p:cNvPr id="323" name="Google Shape;323;p21"/>
            <p:cNvSpPr txBox="1"/>
            <p:nvPr/>
          </p:nvSpPr>
          <p:spPr>
            <a:xfrm>
              <a:off x="2647175" y="3798050"/>
              <a:ext cx="3001200" cy="57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b="1"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reciprocal</a:t>
              </a: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 is</a:t>
              </a:r>
              <a:endParaRPr sz="1200"/>
            </a:p>
          </p:txBody>
        </p:sp>
        <p:pic>
          <p:nvPicPr>
            <p:cNvPr descr="53 over 5 5 over 53&#10;&#10;&lt;math xmlns=&quot;http://www.w3.org/1998/Math/MathML&quot; display=&quot;block&quot; data-is-equatio=&quot;1&quot; data-latex=&quot;\frac{53}{5}\ \ \ \frac{5}{53}&quot;&gt;&lt;mfrac&gt;&lt;mn&gt;53&lt;/mn&gt;&lt;mn&gt;5&lt;/mn&gt;&lt;/mfrac&gt;&lt;mtext&gt;&lt;/mtext&gt;&lt;mtext&gt;&lt;/mtext&gt;&lt;mtext&gt;&lt;/mtext&gt;&lt;mfrac&gt;&lt;mn&gt;5&lt;/mn&gt;&lt;mn&gt;53&lt;/mn&gt;&lt;/mfrac&gt;&lt;/math&gt;" id="324" name="Google Shape;324;p21"/>
            <p:cNvPicPr preferRelativeResize="0"/>
            <p:nvPr/>
          </p:nvPicPr>
          <p:blipFill rotWithShape="1">
            <a:blip r:embed="rId6">
              <a:alphaModFix/>
            </a:blip>
            <a:srcRect b="0" l="0" r="62168" t="0"/>
            <a:stretch/>
          </p:blipFill>
          <p:spPr>
            <a:xfrm>
              <a:off x="2179159" y="3642125"/>
              <a:ext cx="488225" cy="8350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53 over 5 5 over 53&#10;&#10;&lt;math xmlns=&quot;http://www.w3.org/1998/Math/MathML&quot; display=&quot;block&quot; data-is-equatio=&quot;1&quot; data-latex=&quot;\frac{53}{5}\ \ \ \frac{5}{53}&quot;&gt;&lt;mfrac&gt;&lt;mn&gt;53&lt;/mn&gt;&lt;mn&gt;5&lt;/mn&gt;&lt;/mfrac&gt;&lt;mtext&gt;&lt;/mtext&gt;&lt;mtext&gt;&lt;/mtext&gt;&lt;mtext&gt;&lt;/mtext&gt;&lt;mfrac&gt;&lt;mn&gt;5&lt;/mn&gt;&lt;mn&gt;53&lt;/mn&gt;&lt;/mfrac&gt;&lt;/math&gt;" id="325" name="Google Shape;325;p21"/>
            <p:cNvPicPr preferRelativeResize="0"/>
            <p:nvPr/>
          </p:nvPicPr>
          <p:blipFill rotWithShape="1">
            <a:blip r:embed="rId6">
              <a:alphaModFix/>
            </a:blip>
            <a:srcRect b="0" l="62168" r="0" t="0"/>
            <a:stretch/>
          </p:blipFill>
          <p:spPr>
            <a:xfrm>
              <a:off x="4410039" y="3648850"/>
              <a:ext cx="488225" cy="8350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26" name="Google Shape;326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27" name="Google Shape;327;p21"/>
          <p:cNvSpPr txBox="1"/>
          <p:nvPr/>
        </p:nvSpPr>
        <p:spPr>
          <a:xfrm>
            <a:off x="468100" y="7480050"/>
            <a:ext cx="1140300" cy="3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E.g.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28" name="Google Shape;328;p21"/>
          <p:cNvSpPr txBox="1"/>
          <p:nvPr/>
        </p:nvSpPr>
        <p:spPr>
          <a:xfrm>
            <a:off x="463664" y="8117425"/>
            <a:ext cx="54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</a:t>
            </a:r>
            <a:endParaRPr sz="1200"/>
          </a:p>
        </p:txBody>
      </p:sp>
      <p:sp>
        <p:nvSpPr>
          <p:cNvPr id="329" name="Google Shape;329;p21"/>
          <p:cNvSpPr txBox="1"/>
          <p:nvPr/>
        </p:nvSpPr>
        <p:spPr>
          <a:xfrm>
            <a:off x="2290271" y="8117425"/>
            <a:ext cx="486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is</a:t>
            </a:r>
            <a:endParaRPr sz="1200"/>
          </a:p>
        </p:txBody>
      </p:sp>
      <p:sp>
        <p:nvSpPr>
          <p:cNvPr id="330" name="Google Shape;330;p21"/>
          <p:cNvSpPr txBox="1"/>
          <p:nvPr/>
        </p:nvSpPr>
        <p:spPr>
          <a:xfrm>
            <a:off x="784350" y="8117425"/>
            <a:ext cx="990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r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eciproca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</a:t>
            </a:r>
            <a:endParaRPr sz="1200"/>
          </a:p>
        </p:txBody>
      </p:sp>
      <p:sp>
        <p:nvSpPr>
          <p:cNvPr id="331" name="Google Shape;331;p21"/>
          <p:cNvSpPr txBox="1"/>
          <p:nvPr/>
        </p:nvSpPr>
        <p:spPr>
          <a:xfrm>
            <a:off x="1622450" y="8117425"/>
            <a:ext cx="667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of          </a:t>
            </a:r>
            <a:endParaRPr sz="1200"/>
          </a:p>
        </p:txBody>
      </p:sp>
      <p:sp>
        <p:nvSpPr>
          <p:cNvPr id="332" name="Google Shape;332;p21"/>
          <p:cNvSpPr txBox="1"/>
          <p:nvPr/>
        </p:nvSpPr>
        <p:spPr>
          <a:xfrm>
            <a:off x="3707964" y="8117425"/>
            <a:ext cx="54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</a:t>
            </a:r>
            <a:endParaRPr sz="1200"/>
          </a:p>
        </p:txBody>
      </p:sp>
      <p:sp>
        <p:nvSpPr>
          <p:cNvPr id="333" name="Google Shape;333;p21"/>
          <p:cNvSpPr txBox="1"/>
          <p:nvPr/>
        </p:nvSpPr>
        <p:spPr>
          <a:xfrm>
            <a:off x="5534571" y="8117425"/>
            <a:ext cx="486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is</a:t>
            </a:r>
            <a:endParaRPr sz="1200"/>
          </a:p>
        </p:txBody>
      </p:sp>
      <p:sp>
        <p:nvSpPr>
          <p:cNvPr id="334" name="Google Shape;334;p21"/>
          <p:cNvSpPr txBox="1"/>
          <p:nvPr/>
        </p:nvSpPr>
        <p:spPr>
          <a:xfrm>
            <a:off x="4028650" y="8117425"/>
            <a:ext cx="990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r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eciproca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</a:t>
            </a:r>
            <a:endParaRPr sz="1200"/>
          </a:p>
        </p:txBody>
      </p:sp>
      <p:sp>
        <p:nvSpPr>
          <p:cNvPr id="335" name="Google Shape;335;p21"/>
          <p:cNvSpPr txBox="1"/>
          <p:nvPr/>
        </p:nvSpPr>
        <p:spPr>
          <a:xfrm>
            <a:off x="4866750" y="8117425"/>
            <a:ext cx="667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of          </a:t>
            </a:r>
            <a:endParaRPr sz="1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41" name="Google Shape;341;p22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Dividing a fraction by a fraction</a:t>
            </a:r>
            <a:endParaRPr/>
          </a:p>
        </p:txBody>
      </p:sp>
      <p:sp>
        <p:nvSpPr>
          <p:cNvPr id="342" name="Google Shape;342;p22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</a:t>
            </a: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.2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3" name="Google Shape;343;p22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344" name="Google Shape;344;p22"/>
          <p:cNvSpPr txBox="1"/>
          <p:nvPr/>
        </p:nvSpPr>
        <p:spPr>
          <a:xfrm>
            <a:off x="468000" y="1057200"/>
            <a:ext cx="6624000" cy="20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Work out the answers to the following, simplifying your answer where necessary.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5" name="Google Shape;345;p22"/>
          <p:cNvSpPr txBox="1"/>
          <p:nvPr/>
        </p:nvSpPr>
        <p:spPr>
          <a:xfrm>
            <a:off x="468000" y="7200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C: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Division by multiplying by the reciprocal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\frac{3}{7}\div\frac{4}{9}=\ \frac{3}{7}\times\frac{9}{4}=\frac{27}{28}\\&amp;#13;&amp;#10;\frac{9}{10}\div\frac{8}{11}=\frac{9}{10}\times\frac{11}{8}=\frac{99}{80}=1\frac{19}{80}\end{array}&quot;&gt;&lt;mtable columnalign=&quot;left&quot; columnspacing=&quot;1em&quot; rowspacing=&quot;4pt&quot;&gt;&lt;mtr&gt;&lt;mtd&gt;&lt;mfrac&gt;&lt;mn&gt;3&lt;/mn&gt;&lt;mn&gt;7&lt;/mn&gt;&lt;/mfrac&gt;&lt;mo&gt;÷&lt;/mo&gt;&lt;mfrac&gt;&lt;mn&gt;4&lt;/mn&gt;&lt;mn&gt;9&lt;/mn&gt;&lt;/mfrac&gt;&lt;mo&gt;=&lt;/mo&gt;&lt;mtext&gt;&lt;/mtext&gt;&lt;mfrac&gt;&lt;mn&gt;3&lt;/mn&gt;&lt;mn&gt;7&lt;/mn&gt;&lt;/mfrac&gt;&lt;mo&gt;×&lt;/mo&gt;&lt;mfrac&gt;&lt;mn&gt;9&lt;/mn&gt;&lt;mn&gt;4&lt;/mn&gt;&lt;/mfrac&gt;&lt;mo&gt;=&lt;/mo&gt;&lt;mfrac&gt;&lt;mn&gt;27&lt;/mn&gt;&lt;mn&gt;28&lt;/mn&gt;&lt;/mfrac&gt;&lt;/mtd&gt;&lt;/mtr&gt;&lt;mtr&gt;&lt;mtd&gt;&lt;mfrac&gt;&lt;mn&gt;9&lt;/mn&gt;&lt;mn&gt;10&lt;/mn&gt;&lt;/mfrac&gt;&lt;mo&gt;÷&lt;/mo&gt;&lt;mfrac&gt;&lt;mn&gt;8&lt;/mn&gt;&lt;mn&gt;11&lt;/mn&gt;&lt;/mfrac&gt;&lt;mo&gt;=&lt;/mo&gt;&lt;mfrac&gt;&lt;mn&gt;9&lt;/mn&gt;&lt;mn&gt;10&lt;/mn&gt;&lt;/mfrac&gt;&lt;mo&gt;×&lt;/mo&gt;&lt;mfrac&gt;&lt;mn&gt;11&lt;/mn&gt;&lt;mn&gt;8&lt;/mn&gt;&lt;/mfrac&gt;&lt;mo&gt;=&lt;/mo&gt;&lt;mfrac&gt;&lt;mn&gt;99&lt;/mn&gt;&lt;mn&gt;80&lt;/mn&gt;&lt;/mfrac&gt;&lt;mo&gt;=&lt;/mo&gt;&lt;mn&gt;1&lt;/mn&gt;&lt;mfrac&gt;&lt;mn&gt;19&lt;/mn&gt;&lt;mn&gt;80&lt;/mn&gt;&lt;/mfrac&gt;&lt;/mtd&gt;&lt;/mtr&gt;&lt;/mtable&gt;&lt;/math&gt;" id="346" name="Google Shape;346;p22" title="2 lines Line 1: three sevenths divided by four ninths equals three sevenths times nine fourths equals 27 over 28 Line 2: nine tenths divided by 8 over 11 equals nine tenths times eleven eighths equals 99 over 80 equals 1 and 19 over 80"/>
          <p:cNvPicPr preferRelativeResize="0"/>
          <p:nvPr/>
        </p:nvPicPr>
        <p:blipFill rotWithShape="1">
          <a:blip r:embed="rId3">
            <a:alphaModFix/>
          </a:blip>
          <a:srcRect b="51402" l="20083" r="50343" t="0"/>
          <a:stretch/>
        </p:blipFill>
        <p:spPr>
          <a:xfrm>
            <a:off x="1622181" y="1300884"/>
            <a:ext cx="1247887" cy="51932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4}\div\frac{5}{12}=\frac{3}{4}\times\frac{12}{5}=\frac{36}{20}=\frac{9}{5}=1\frac{4}{5}&quot;&gt;&lt;mfrac&gt;&lt;mn&gt;3&lt;/mn&gt;&lt;mn&gt;4&lt;/mn&gt;&lt;/mfrac&gt;&lt;mo&gt;÷&lt;/mo&gt;&lt;mfrac&gt;&lt;mn&gt;5&lt;/mn&gt;&lt;mn&gt;12&lt;/mn&gt;&lt;/mfrac&gt;&lt;mo&gt;=&lt;/mo&gt;&lt;mfrac&gt;&lt;mn&gt;3&lt;/mn&gt;&lt;mn&gt;4&lt;/mn&gt;&lt;/mfrac&gt;&lt;mo&gt;×&lt;/mo&gt;&lt;mfrac&gt;&lt;mn&gt;12&lt;/mn&gt;&lt;mn&gt;5&lt;/mn&gt;&lt;/mfrac&gt;&lt;mo&gt;=&lt;/mo&gt;&lt;mfrac&gt;&lt;mn&gt;36&lt;/mn&gt;&lt;mn&gt;20&lt;/mn&gt;&lt;/mfrac&gt;&lt;mo&gt;=&lt;/mo&gt;&lt;mfrac&gt;&lt;mn&gt;9&lt;/mn&gt;&lt;mn&gt;5&lt;/mn&gt;&lt;/mfrac&gt;&lt;mo&gt;=&lt;/mo&gt;&lt;mn&gt;1&lt;/mn&gt;&lt;mfrac&gt;&lt;mn&gt;4&lt;/mn&gt;&lt;mn&gt;5&lt;/mn&gt;&lt;/mfrac&gt;&lt;/math&gt;" id="347" name="Google Shape;347;p22" title="three fourths divided by 5 over 12 equals three fourths times twelve fifths equals 36 over 20 equals nine fifths equals 1 and four fifths"/>
          <p:cNvPicPr preferRelativeResize="0"/>
          <p:nvPr/>
        </p:nvPicPr>
        <p:blipFill rotWithShape="1">
          <a:blip r:embed="rId4">
            <a:alphaModFix/>
          </a:blip>
          <a:srcRect b="0" l="0" r="77899" t="0"/>
          <a:stretch/>
        </p:blipFill>
        <p:spPr>
          <a:xfrm>
            <a:off x="774706" y="2658222"/>
            <a:ext cx="810329" cy="51932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3}{7}\div\frac{4}{9}=\ \frac{3}{7}\times\frac{9}{4}=\frac{27}{28}\\&amp;#13;&amp;#10;\frac{9}{10}\div\frac{8}{11}=\frac{9}{10}\times\frac{11}{8}=\frac{99}{80}=1\frac{19}{80}\end{array}&quot;&gt;&lt;mtable columnalign=&quot;left&quot; columnspacing=&quot;1em&quot; rowspacing=&quot;4pt&quot;&gt;&lt;mtr&gt;&lt;mtd&gt;&lt;mfrac&gt;&lt;mn&gt;3&lt;/mn&gt;&lt;mn&gt;7&lt;/mn&gt;&lt;/mfrac&gt;&lt;mo&gt;÷&lt;/mo&gt;&lt;mfrac&gt;&lt;mn&gt;4&lt;/mn&gt;&lt;mn&gt;9&lt;/mn&gt;&lt;/mfrac&gt;&lt;mo&gt;=&lt;/mo&gt;&lt;mtext&gt;&lt;/mtext&gt;&lt;mfrac&gt;&lt;mn&gt;3&lt;/mn&gt;&lt;mn&gt;7&lt;/mn&gt;&lt;/mfrac&gt;&lt;mo&gt;×&lt;/mo&gt;&lt;mfrac&gt;&lt;mn&gt;9&lt;/mn&gt;&lt;mn&gt;4&lt;/mn&gt;&lt;/mfrac&gt;&lt;mo&gt;=&lt;/mo&gt;&lt;mfrac&gt;&lt;mn&gt;27&lt;/mn&gt;&lt;mn&gt;28&lt;/mn&gt;&lt;/mfrac&gt;&lt;/mtd&gt;&lt;/mtr&gt;&lt;mtr&gt;&lt;mtd&gt;&lt;mfrac&gt;&lt;mn&gt;9&lt;/mn&gt;&lt;mn&gt;10&lt;/mn&gt;&lt;/mfrac&gt;&lt;mo&gt;÷&lt;/mo&gt;&lt;mfrac&gt;&lt;mn&gt;8&lt;/mn&gt;&lt;mn&gt;11&lt;/mn&gt;&lt;/mfrac&gt;&lt;mo&gt;=&lt;/mo&gt;&lt;mfrac&gt;&lt;mn&gt;9&lt;/mn&gt;&lt;mn&gt;10&lt;/mn&gt;&lt;/mfrac&gt;&lt;mo&gt;×&lt;/mo&gt;&lt;mfrac&gt;&lt;mn&gt;11&lt;/mn&gt;&lt;mn&gt;8&lt;/mn&gt;&lt;/mfrac&gt;&lt;mo&gt;=&lt;/mo&gt;&lt;mfrac&gt;&lt;mn&gt;99&lt;/mn&gt;&lt;mn&gt;80&lt;/mn&gt;&lt;/mfrac&gt;&lt;mo&gt;=&lt;/mo&gt;&lt;mn&gt;1&lt;/mn&gt;&lt;mfrac&gt;&lt;mn&gt;19&lt;/mn&gt;&lt;mn&gt;80&lt;/mn&gt;&lt;/mfrac&gt;&lt;/mtd&gt;&lt;/mtr&gt;&lt;/mtable&gt;&lt;/math&gt;" id="348" name="Google Shape;348;p22" title="2 lines Line 1: three sevenths divided by four ninths equals three sevenths times nine fourths equals 27 over 28 Line 2: nine tenths divided by 8 over 11 equals nine tenths times eleven eighths equals 99 over 80 equals 1 and 19 over 80"/>
          <p:cNvPicPr preferRelativeResize="0"/>
          <p:nvPr/>
        </p:nvPicPr>
        <p:blipFill rotWithShape="1">
          <a:blip r:embed="rId3">
            <a:alphaModFix/>
          </a:blip>
          <a:srcRect b="0" l="0" r="74019" t="45940"/>
          <a:stretch/>
        </p:blipFill>
        <p:spPr>
          <a:xfrm>
            <a:off x="704150" y="1873237"/>
            <a:ext cx="1039995" cy="5480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3}{7}\div\frac{4}{9}=\ \frac{3}{7}\times\frac{9}{4}=\frac{27}{28}\\&amp;#13;&amp;#10;\frac{9}{10}\div\frac{8}{11}=\frac{9}{10}\times\frac{11}{8}=\frac{99}{80}=1\frac{19}{80}\end{array}&quot;&gt;&lt;mtable columnalign=&quot;left&quot; columnspacing=&quot;1em&quot; rowspacing=&quot;4pt&quot;&gt;&lt;mtr&gt;&lt;mtd&gt;&lt;mfrac&gt;&lt;mn&gt;3&lt;/mn&gt;&lt;mn&gt;7&lt;/mn&gt;&lt;/mfrac&gt;&lt;mo&gt;÷&lt;/mo&gt;&lt;mfrac&gt;&lt;mn&gt;4&lt;/mn&gt;&lt;mn&gt;9&lt;/mn&gt;&lt;/mfrac&gt;&lt;mo&gt;=&lt;/mo&gt;&lt;mtext&gt;&lt;/mtext&gt;&lt;mfrac&gt;&lt;mn&gt;3&lt;/mn&gt;&lt;mn&gt;7&lt;/mn&gt;&lt;/mfrac&gt;&lt;mo&gt;×&lt;/mo&gt;&lt;mfrac&gt;&lt;mn&gt;9&lt;/mn&gt;&lt;mn&gt;4&lt;/mn&gt;&lt;/mfrac&gt;&lt;mo&gt;=&lt;/mo&gt;&lt;mfrac&gt;&lt;mn&gt;27&lt;/mn&gt;&lt;mn&gt;28&lt;/mn&gt;&lt;/mfrac&gt;&lt;/mtd&gt;&lt;/mtr&gt;&lt;mtr&gt;&lt;mtd&gt;&lt;mfrac&gt;&lt;mn&gt;9&lt;/mn&gt;&lt;mn&gt;10&lt;/mn&gt;&lt;/mfrac&gt;&lt;mo&gt;÷&lt;/mo&gt;&lt;mfrac&gt;&lt;mn&gt;8&lt;/mn&gt;&lt;mn&gt;11&lt;/mn&gt;&lt;/mfrac&gt;&lt;mo&gt;=&lt;/mo&gt;&lt;mfrac&gt;&lt;mn&gt;9&lt;/mn&gt;&lt;mn&gt;10&lt;/mn&gt;&lt;/mfrac&gt;&lt;mo&gt;×&lt;/mo&gt;&lt;mfrac&gt;&lt;mn&gt;11&lt;/mn&gt;&lt;mn&gt;8&lt;/mn&gt;&lt;/mfrac&gt;&lt;mo&gt;=&lt;/mo&gt;&lt;mfrac&gt;&lt;mn&gt;99&lt;/mn&gt;&lt;mn&gt;80&lt;/mn&gt;&lt;/mfrac&gt;&lt;mo&gt;=&lt;/mo&gt;&lt;mn&gt;1&lt;/mn&gt;&lt;mfrac&gt;&lt;mn&gt;19&lt;/mn&gt;&lt;mn&gt;80&lt;/mn&gt;&lt;/mfrac&gt;&lt;/mtd&gt;&lt;/mtr&gt;&lt;/mtable&gt;&lt;/math&gt;" id="349" name="Google Shape;349;p22" title="2 lines Line 1: three sevenths divided by four ninths equals three sevenths times nine fourths equals 27 over 28 Line 2: nine tenths divided by 8 over 11 equals nine tenths times eleven eighths equals 99 over 80 equals 1 and 19 over 80"/>
          <p:cNvPicPr preferRelativeResize="0"/>
          <p:nvPr/>
        </p:nvPicPr>
        <p:blipFill rotWithShape="1">
          <a:blip r:embed="rId3">
            <a:alphaModFix/>
          </a:blip>
          <a:srcRect b="51402" l="0" r="79388" t="0"/>
          <a:stretch/>
        </p:blipFill>
        <p:spPr>
          <a:xfrm>
            <a:off x="809995" y="1278601"/>
            <a:ext cx="869759" cy="51932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3}{7}\div\frac{4}{9}=\ \frac{3}{7}\times\frac{9}{4}=\frac{27}{28}\\&amp;#13;&amp;#10;\frac{9}{10}\div\frac{8}{11}=\frac{9}{10}\times\frac{11}{8}=\frac{99}{80}=1\frac{19}{80}\end{array}&quot;&gt;&lt;mtable columnalign=&quot;left&quot; columnspacing=&quot;1em&quot; rowspacing=&quot;4pt&quot;&gt;&lt;mtr&gt;&lt;mtd&gt;&lt;mfrac&gt;&lt;mn&gt;3&lt;/mn&gt;&lt;mn&gt;7&lt;/mn&gt;&lt;/mfrac&gt;&lt;mo&gt;÷&lt;/mo&gt;&lt;mfrac&gt;&lt;mn&gt;4&lt;/mn&gt;&lt;mn&gt;9&lt;/mn&gt;&lt;/mfrac&gt;&lt;mo&gt;=&lt;/mo&gt;&lt;mtext&gt;&lt;/mtext&gt;&lt;mfrac&gt;&lt;mn&gt;3&lt;/mn&gt;&lt;mn&gt;7&lt;/mn&gt;&lt;/mfrac&gt;&lt;mo&gt;×&lt;/mo&gt;&lt;mfrac&gt;&lt;mn&gt;9&lt;/mn&gt;&lt;mn&gt;4&lt;/mn&gt;&lt;/mfrac&gt;&lt;mo&gt;=&lt;/mo&gt;&lt;mfrac&gt;&lt;mn&gt;27&lt;/mn&gt;&lt;mn&gt;28&lt;/mn&gt;&lt;/mfrac&gt;&lt;/mtd&gt;&lt;/mtr&gt;&lt;mtr&gt;&lt;mtd&gt;&lt;mfrac&gt;&lt;mn&gt;9&lt;/mn&gt;&lt;mn&gt;10&lt;/mn&gt;&lt;/mfrac&gt;&lt;mo&gt;÷&lt;/mo&gt;&lt;mfrac&gt;&lt;mn&gt;8&lt;/mn&gt;&lt;mn&gt;11&lt;/mn&gt;&lt;/mfrac&gt;&lt;mo&gt;=&lt;/mo&gt;&lt;mfrac&gt;&lt;mn&gt;9&lt;/mn&gt;&lt;mn&gt;10&lt;/mn&gt;&lt;/mfrac&gt;&lt;mo&gt;×&lt;/mo&gt;&lt;mfrac&gt;&lt;mn&gt;11&lt;/mn&gt;&lt;mn&gt;8&lt;/mn&gt;&lt;/mfrac&gt;&lt;mo&gt;=&lt;/mo&gt;&lt;mfrac&gt;&lt;mn&gt;99&lt;/mn&gt;&lt;mn&gt;80&lt;/mn&gt;&lt;/mfrac&gt;&lt;mo&gt;=&lt;/mo&gt;&lt;mn&gt;1&lt;/mn&gt;&lt;mfrac&gt;&lt;mn&gt;19&lt;/mn&gt;&lt;mn&gt;80&lt;/mn&gt;&lt;/mfrac&gt;&lt;/mtd&gt;&lt;/mtr&gt;&lt;/mtable&gt;&lt;/math&gt;" id="350" name="Google Shape;350;p22" title="2 lines Line 1: three sevenths divided by four ninths equals three sevenths times nine fourths equals 27 over 28 Line 2: nine tenths divided by 8 over 11 equals nine tenths times eleven eighths equals 99 over 80 equals 1 and 19 over 80"/>
          <p:cNvPicPr preferRelativeResize="0"/>
          <p:nvPr/>
        </p:nvPicPr>
        <p:blipFill rotWithShape="1">
          <a:blip r:embed="rId3">
            <a:alphaModFix/>
          </a:blip>
          <a:srcRect b="51402" l="51687" r="30533" t="0"/>
          <a:stretch/>
        </p:blipFill>
        <p:spPr>
          <a:xfrm>
            <a:off x="2938901" y="1278600"/>
            <a:ext cx="750209" cy="51932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3}{7}\div\frac{4}{9}=\ \frac{3}{7}\times\frac{9}{4}=\frac{27}{28}\\&amp;#13;&amp;#10;\frac{9}{10}\div\frac{8}{11}=\frac{9}{10}\times\frac{11}{8}=\frac{99}{80}=1\frac{19}{80}\end{array}&quot;&gt;&lt;mtable columnalign=&quot;left&quot; columnspacing=&quot;1em&quot; rowspacing=&quot;4pt&quot;&gt;&lt;mtr&gt;&lt;mtd&gt;&lt;mfrac&gt;&lt;mn&gt;3&lt;/mn&gt;&lt;mn&gt;7&lt;/mn&gt;&lt;/mfrac&gt;&lt;mo&gt;÷&lt;/mo&gt;&lt;mfrac&gt;&lt;mn&gt;4&lt;/mn&gt;&lt;mn&gt;9&lt;/mn&gt;&lt;/mfrac&gt;&lt;mo&gt;=&lt;/mo&gt;&lt;mtext&gt;&lt;/mtext&gt;&lt;mfrac&gt;&lt;mn&gt;3&lt;/mn&gt;&lt;mn&gt;7&lt;/mn&gt;&lt;/mfrac&gt;&lt;mo&gt;×&lt;/mo&gt;&lt;mfrac&gt;&lt;mn&gt;9&lt;/mn&gt;&lt;mn&gt;4&lt;/mn&gt;&lt;/mfrac&gt;&lt;mo&gt;=&lt;/mo&gt;&lt;mfrac&gt;&lt;mn&gt;27&lt;/mn&gt;&lt;mn&gt;28&lt;/mn&gt;&lt;/mfrac&gt;&lt;/mtd&gt;&lt;/mtr&gt;&lt;mtr&gt;&lt;mtd&gt;&lt;mfrac&gt;&lt;mn&gt;9&lt;/mn&gt;&lt;mn&gt;10&lt;/mn&gt;&lt;/mfrac&gt;&lt;mo&gt;÷&lt;/mo&gt;&lt;mfrac&gt;&lt;mn&gt;8&lt;/mn&gt;&lt;mn&gt;11&lt;/mn&gt;&lt;/mfrac&gt;&lt;mo&gt;=&lt;/mo&gt;&lt;mfrac&gt;&lt;mn&gt;9&lt;/mn&gt;&lt;mn&gt;10&lt;/mn&gt;&lt;/mfrac&gt;&lt;mo&gt;×&lt;/mo&gt;&lt;mfrac&gt;&lt;mn&gt;11&lt;/mn&gt;&lt;mn&gt;8&lt;/mn&gt;&lt;/mfrac&gt;&lt;mo&gt;=&lt;/mo&gt;&lt;mfrac&gt;&lt;mn&gt;99&lt;/mn&gt;&lt;mn&gt;80&lt;/mn&gt;&lt;/mfrac&gt;&lt;mo&gt;=&lt;/mo&gt;&lt;mn&gt;1&lt;/mn&gt;&lt;mfrac&gt;&lt;mn&gt;19&lt;/mn&gt;&lt;mn&gt;80&lt;/mn&gt;&lt;/mfrac&gt;&lt;/mtd&gt;&lt;/mtr&gt;&lt;/mtable&gt;&lt;/math&gt;" id="351" name="Google Shape;351;p22" title="2 lines Line 1: three sevenths divided by four ninths equals three sevenths times nine fourths equals 27 over 28 Line 2: nine tenths divided by 8 over 11 equals nine tenths times eleven eighths equals 99 over 80 equals 1 and 19 over 80"/>
          <p:cNvPicPr preferRelativeResize="0"/>
          <p:nvPr/>
        </p:nvPicPr>
        <p:blipFill rotWithShape="1">
          <a:blip r:embed="rId3">
            <a:alphaModFix/>
          </a:blip>
          <a:srcRect b="0" l="26978" r="38039" t="45940"/>
          <a:stretch/>
        </p:blipFill>
        <p:spPr>
          <a:xfrm>
            <a:off x="1678858" y="1873237"/>
            <a:ext cx="1400353" cy="5480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3}{7}\div\frac{4}{9}=\ \frac{3}{7}\times\frac{9}{4}=\frac{27}{28}\\&amp;#13;&amp;#10;\frac{9}{10}\div\frac{8}{11}=\frac{9}{10}\times\frac{11}{8}=\frac{99}{80}=1\frac{19}{80}\end{array}&quot;&gt;&lt;mtable columnalign=&quot;left&quot; columnspacing=&quot;1em&quot; rowspacing=&quot;4pt&quot;&gt;&lt;mtr&gt;&lt;mtd&gt;&lt;mfrac&gt;&lt;mn&gt;3&lt;/mn&gt;&lt;mn&gt;7&lt;/mn&gt;&lt;/mfrac&gt;&lt;mo&gt;÷&lt;/mo&gt;&lt;mfrac&gt;&lt;mn&gt;4&lt;/mn&gt;&lt;mn&gt;9&lt;/mn&gt;&lt;/mfrac&gt;&lt;mo&gt;=&lt;/mo&gt;&lt;mtext&gt;&lt;/mtext&gt;&lt;mfrac&gt;&lt;mn&gt;3&lt;/mn&gt;&lt;mn&gt;7&lt;/mn&gt;&lt;/mfrac&gt;&lt;mo&gt;×&lt;/mo&gt;&lt;mfrac&gt;&lt;mn&gt;9&lt;/mn&gt;&lt;mn&gt;4&lt;/mn&gt;&lt;/mfrac&gt;&lt;mo&gt;=&lt;/mo&gt;&lt;mfrac&gt;&lt;mn&gt;27&lt;/mn&gt;&lt;mn&gt;28&lt;/mn&gt;&lt;/mfrac&gt;&lt;/mtd&gt;&lt;/mtr&gt;&lt;mtr&gt;&lt;mtd&gt;&lt;mfrac&gt;&lt;mn&gt;9&lt;/mn&gt;&lt;mn&gt;10&lt;/mn&gt;&lt;/mfrac&gt;&lt;mo&gt;÷&lt;/mo&gt;&lt;mfrac&gt;&lt;mn&gt;8&lt;/mn&gt;&lt;mn&gt;11&lt;/mn&gt;&lt;/mfrac&gt;&lt;mo&gt;=&lt;/mo&gt;&lt;mfrac&gt;&lt;mn&gt;9&lt;/mn&gt;&lt;mn&gt;10&lt;/mn&gt;&lt;/mfrac&gt;&lt;mo&gt;×&lt;/mo&gt;&lt;mfrac&gt;&lt;mn&gt;11&lt;/mn&gt;&lt;mn&gt;8&lt;/mn&gt;&lt;/mfrac&gt;&lt;mo&gt;=&lt;/mo&gt;&lt;mfrac&gt;&lt;mn&gt;99&lt;/mn&gt;&lt;mn&gt;80&lt;/mn&gt;&lt;/mfrac&gt;&lt;mo&gt;=&lt;/mo&gt;&lt;mn&gt;1&lt;/mn&gt;&lt;mfrac&gt;&lt;mn&gt;19&lt;/mn&gt;&lt;mn&gt;80&lt;/mn&gt;&lt;/mfrac&gt;&lt;/mtd&gt;&lt;/mtr&gt;&lt;/mtable&gt;&lt;/math&gt;" id="352" name="Google Shape;352;p22" title="2 lines Line 1: three sevenths divided by four ninths equals three sevenths times nine fourths equals 27 over 28 Line 2: nine tenths divided by 8 over 11 equals nine tenths times eleven eighths equals 99 over 80 equals 1 and 19 over 80"/>
          <p:cNvPicPr preferRelativeResize="0"/>
          <p:nvPr/>
        </p:nvPicPr>
        <p:blipFill rotWithShape="1">
          <a:blip r:embed="rId3">
            <a:alphaModFix/>
          </a:blip>
          <a:srcRect b="0" l="61394" r="20827" t="45940"/>
          <a:stretch/>
        </p:blipFill>
        <p:spPr>
          <a:xfrm>
            <a:off x="3012976" y="1873237"/>
            <a:ext cx="711676" cy="5480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3}{7}\div\frac{4}{9}=\ \frac{3}{7}\times\frac{9}{4}=\frac{27}{28}\\&amp;#13;&amp;#10;\frac{9}{10}\div\frac{8}{11}=\frac{9}{10}\times\frac{11}{8}=\frac{99}{80}=1\frac{19}{80}\end{array}&quot;&gt;&lt;mtable columnalign=&quot;left&quot; columnspacing=&quot;1em&quot; rowspacing=&quot;4pt&quot;&gt;&lt;mtr&gt;&lt;mtd&gt;&lt;mfrac&gt;&lt;mn&gt;3&lt;/mn&gt;&lt;mn&gt;7&lt;/mn&gt;&lt;/mfrac&gt;&lt;mo&gt;÷&lt;/mo&gt;&lt;mfrac&gt;&lt;mn&gt;4&lt;/mn&gt;&lt;mn&gt;9&lt;/mn&gt;&lt;/mfrac&gt;&lt;mo&gt;=&lt;/mo&gt;&lt;mtext&gt;&lt;/mtext&gt;&lt;mfrac&gt;&lt;mn&gt;3&lt;/mn&gt;&lt;mn&gt;7&lt;/mn&gt;&lt;/mfrac&gt;&lt;mo&gt;×&lt;/mo&gt;&lt;mfrac&gt;&lt;mn&gt;9&lt;/mn&gt;&lt;mn&gt;4&lt;/mn&gt;&lt;/mfrac&gt;&lt;mo&gt;=&lt;/mo&gt;&lt;mfrac&gt;&lt;mn&gt;27&lt;/mn&gt;&lt;mn&gt;28&lt;/mn&gt;&lt;/mfrac&gt;&lt;/mtd&gt;&lt;/mtr&gt;&lt;mtr&gt;&lt;mtd&gt;&lt;mfrac&gt;&lt;mn&gt;9&lt;/mn&gt;&lt;mn&gt;10&lt;/mn&gt;&lt;/mfrac&gt;&lt;mo&gt;÷&lt;/mo&gt;&lt;mfrac&gt;&lt;mn&gt;8&lt;/mn&gt;&lt;mn&gt;11&lt;/mn&gt;&lt;/mfrac&gt;&lt;mo&gt;=&lt;/mo&gt;&lt;mfrac&gt;&lt;mn&gt;9&lt;/mn&gt;&lt;mn&gt;10&lt;/mn&gt;&lt;/mfrac&gt;&lt;mo&gt;×&lt;/mo&gt;&lt;mfrac&gt;&lt;mn&gt;11&lt;/mn&gt;&lt;mn&gt;8&lt;/mn&gt;&lt;/mfrac&gt;&lt;mo&gt;=&lt;/mo&gt;&lt;mfrac&gt;&lt;mn&gt;99&lt;/mn&gt;&lt;mn&gt;80&lt;/mn&gt;&lt;/mfrac&gt;&lt;mo&gt;=&lt;/mo&gt;&lt;mn&gt;1&lt;/mn&gt;&lt;mfrac&gt;&lt;mn&gt;19&lt;/mn&gt;&lt;mn&gt;80&lt;/mn&gt;&lt;/mfrac&gt;&lt;/mtd&gt;&lt;/mtr&gt;&lt;/mtable&gt;&lt;/math&gt;" id="353" name="Google Shape;353;p22" title="2 lines Line 1: three sevenths divided by four ninths equals three sevenths times nine fourths equals 27 over 28 Line 2: nine tenths divided by 8 over 11 equals nine tenths times eleven eighths equals 99 over 80 equals 1 and 19 over 80"/>
          <p:cNvPicPr preferRelativeResize="0"/>
          <p:nvPr/>
        </p:nvPicPr>
        <p:blipFill rotWithShape="1">
          <a:blip r:embed="rId3">
            <a:alphaModFix/>
          </a:blip>
          <a:srcRect b="0" l="80038" r="-2394" t="45940"/>
          <a:stretch/>
        </p:blipFill>
        <p:spPr>
          <a:xfrm>
            <a:off x="3724181" y="1873237"/>
            <a:ext cx="894894" cy="5480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4}\div\frac{5}{12}=\frac{3}{4}\times\frac{12}{5}=\frac{36}{20}=\frac{9}{5}=1\frac{4}{5}&quot;&gt;&lt;mfrac&gt;&lt;mn&gt;3&lt;/mn&gt;&lt;mn&gt;4&lt;/mn&gt;&lt;/mfrac&gt;&lt;mo&gt;÷&lt;/mo&gt;&lt;mfrac&gt;&lt;mn&gt;5&lt;/mn&gt;&lt;mn&gt;12&lt;/mn&gt;&lt;/mfrac&gt;&lt;mo&gt;=&lt;/mo&gt;&lt;mfrac&gt;&lt;mn&gt;3&lt;/mn&gt;&lt;mn&gt;4&lt;/mn&gt;&lt;/mfrac&gt;&lt;mo&gt;×&lt;/mo&gt;&lt;mfrac&gt;&lt;mn&gt;12&lt;/mn&gt;&lt;mn&gt;5&lt;/mn&gt;&lt;/mfrac&gt;&lt;mo&gt;=&lt;/mo&gt;&lt;mfrac&gt;&lt;mn&gt;36&lt;/mn&gt;&lt;mn&gt;20&lt;/mn&gt;&lt;/mfrac&gt;&lt;mo&gt;=&lt;/mo&gt;&lt;mfrac&gt;&lt;mn&gt;9&lt;/mn&gt;&lt;mn&gt;5&lt;/mn&gt;&lt;/mfrac&gt;&lt;mo&gt;=&lt;/mo&gt;&lt;mn&gt;1&lt;/mn&gt;&lt;mfrac&gt;&lt;mn&gt;4&lt;/mn&gt;&lt;mn&gt;5&lt;/mn&gt;&lt;/mfrac&gt;&lt;/math&gt;" id="354" name="Google Shape;354;p22" title="three fourths divided by 5 over 12 equals three fourths times twelve fifths equals 36 over 20 equals nine fifths equals 1 and four fifths"/>
          <p:cNvPicPr preferRelativeResize="0"/>
          <p:nvPr/>
        </p:nvPicPr>
        <p:blipFill rotWithShape="1">
          <a:blip r:embed="rId4">
            <a:alphaModFix/>
          </a:blip>
          <a:srcRect b="0" l="22416" r="47682" t="0"/>
          <a:stretch/>
        </p:blipFill>
        <p:spPr>
          <a:xfrm>
            <a:off x="1609351" y="2658222"/>
            <a:ext cx="1096306" cy="51932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4}\div\frac{5}{12}=\frac{3}{4}\times\frac{12}{5}=\frac{36}{20}=\frac{9}{5}=1\frac{4}{5}&quot;&gt;&lt;mfrac&gt;&lt;mn&gt;3&lt;/mn&gt;&lt;mn&gt;4&lt;/mn&gt;&lt;/mfrac&gt;&lt;mo&gt;÷&lt;/mo&gt;&lt;mfrac&gt;&lt;mn&gt;5&lt;/mn&gt;&lt;mn&gt;12&lt;/mn&gt;&lt;/mfrac&gt;&lt;mo&gt;=&lt;/mo&gt;&lt;mfrac&gt;&lt;mn&gt;3&lt;/mn&gt;&lt;mn&gt;4&lt;/mn&gt;&lt;/mfrac&gt;&lt;mo&gt;×&lt;/mo&gt;&lt;mfrac&gt;&lt;mn&gt;12&lt;/mn&gt;&lt;mn&gt;5&lt;/mn&gt;&lt;/mfrac&gt;&lt;mo&gt;=&lt;/mo&gt;&lt;mfrac&gt;&lt;mn&gt;36&lt;/mn&gt;&lt;mn&gt;20&lt;/mn&gt;&lt;/mfrac&gt;&lt;mo&gt;=&lt;/mo&gt;&lt;mfrac&gt;&lt;mn&gt;9&lt;/mn&gt;&lt;mn&gt;5&lt;/mn&gt;&lt;/mfrac&gt;&lt;mo&gt;=&lt;/mo&gt;&lt;mn&gt;1&lt;/mn&gt;&lt;mfrac&gt;&lt;mn&gt;4&lt;/mn&gt;&lt;mn&gt;5&lt;/mn&gt;&lt;/mfrac&gt;&lt;/math&gt;" id="355" name="Google Shape;355;p22" title="three fourths divided by 5 over 12 equals three fourths times twelve fifths equals 36 over 20 equals nine fifths equals 1 and four fifths"/>
          <p:cNvPicPr preferRelativeResize="0"/>
          <p:nvPr/>
        </p:nvPicPr>
        <p:blipFill rotWithShape="1">
          <a:blip r:embed="rId4">
            <a:alphaModFix/>
          </a:blip>
          <a:srcRect b="0" l="52301" r="29464" t="0"/>
          <a:stretch/>
        </p:blipFill>
        <p:spPr>
          <a:xfrm>
            <a:off x="2732900" y="2658222"/>
            <a:ext cx="668512" cy="51932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4}\div\frac{5}{12}=\frac{3}{4}\times\frac{12}{5}=\frac{36}{20}=\frac{9}{5}=1\frac{4}{5}&quot;&gt;&lt;mfrac&gt;&lt;mn&gt;3&lt;/mn&gt;&lt;mn&gt;4&lt;/mn&gt;&lt;/mfrac&gt;&lt;mo&gt;÷&lt;/mo&gt;&lt;mfrac&gt;&lt;mn&gt;5&lt;/mn&gt;&lt;mn&gt;12&lt;/mn&gt;&lt;/mfrac&gt;&lt;mo&gt;=&lt;/mo&gt;&lt;mfrac&gt;&lt;mn&gt;3&lt;/mn&gt;&lt;mn&gt;4&lt;/mn&gt;&lt;/mfrac&gt;&lt;mo&gt;×&lt;/mo&gt;&lt;mfrac&gt;&lt;mn&gt;12&lt;/mn&gt;&lt;mn&gt;5&lt;/mn&gt;&lt;/mfrac&gt;&lt;mo&gt;=&lt;/mo&gt;&lt;mfrac&gt;&lt;mn&gt;36&lt;/mn&gt;&lt;mn&gt;20&lt;/mn&gt;&lt;/mfrac&gt;&lt;mo&gt;=&lt;/mo&gt;&lt;mfrac&gt;&lt;mn&gt;9&lt;/mn&gt;&lt;mn&gt;5&lt;/mn&gt;&lt;/mfrac&gt;&lt;mo&gt;=&lt;/mo&gt;&lt;mn&gt;1&lt;/mn&gt;&lt;mfrac&gt;&lt;mn&gt;4&lt;/mn&gt;&lt;mn&gt;5&lt;/mn&gt;&lt;/mfrac&gt;&lt;/math&gt;" id="356" name="Google Shape;356;p22" title="three fourths divided by 5 over 12 equals three fourths times twelve fifths equals 36 over 20 equals nine fifths equals 1 and four fifths"/>
          <p:cNvPicPr preferRelativeResize="0"/>
          <p:nvPr/>
        </p:nvPicPr>
        <p:blipFill rotWithShape="1">
          <a:blip r:embed="rId4">
            <a:alphaModFix/>
          </a:blip>
          <a:srcRect b="0" l="69617" r="16186" t="0"/>
          <a:stretch/>
        </p:blipFill>
        <p:spPr>
          <a:xfrm>
            <a:off x="3401412" y="2658222"/>
            <a:ext cx="520460" cy="51932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4}\div\frac{5}{12}=\frac{3}{4}\times\frac{12}{5}=\frac{36}{20}=\frac{9}{5}=1\frac{4}{5}&quot;&gt;&lt;mfrac&gt;&lt;mn&gt;3&lt;/mn&gt;&lt;mn&gt;4&lt;/mn&gt;&lt;/mfrac&gt;&lt;mo&gt;÷&lt;/mo&gt;&lt;mfrac&gt;&lt;mn&gt;5&lt;/mn&gt;&lt;mn&gt;12&lt;/mn&gt;&lt;/mfrac&gt;&lt;mo&gt;=&lt;/mo&gt;&lt;mfrac&gt;&lt;mn&gt;3&lt;/mn&gt;&lt;mn&gt;4&lt;/mn&gt;&lt;/mfrac&gt;&lt;mo&gt;×&lt;/mo&gt;&lt;mfrac&gt;&lt;mn&gt;12&lt;/mn&gt;&lt;mn&gt;5&lt;/mn&gt;&lt;/mfrac&gt;&lt;mo&gt;=&lt;/mo&gt;&lt;mfrac&gt;&lt;mn&gt;36&lt;/mn&gt;&lt;mn&gt;20&lt;/mn&gt;&lt;/mfrac&gt;&lt;mo&gt;=&lt;/mo&gt;&lt;mfrac&gt;&lt;mn&gt;9&lt;/mn&gt;&lt;mn&gt;5&lt;/mn&gt;&lt;/mfrac&gt;&lt;mo&gt;=&lt;/mo&gt;&lt;mn&gt;1&lt;/mn&gt;&lt;mfrac&gt;&lt;mn&gt;4&lt;/mn&gt;&lt;mn&gt;5&lt;/mn&gt;&lt;/mfrac&gt;&lt;/math&gt;" id="357" name="Google Shape;357;p22" title="three fourths divided by 5 over 12 equals three fourths times twelve fifths equals 36 over 20 equals nine fifths equals 1 and four fifths"/>
          <p:cNvPicPr preferRelativeResize="0"/>
          <p:nvPr/>
        </p:nvPicPr>
        <p:blipFill rotWithShape="1">
          <a:blip r:embed="rId4">
            <a:alphaModFix/>
          </a:blip>
          <a:srcRect b="0" l="83157" r="-1391" t="0"/>
          <a:stretch/>
        </p:blipFill>
        <p:spPr>
          <a:xfrm>
            <a:off x="3950563" y="2642878"/>
            <a:ext cx="668512" cy="519328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p22"/>
          <p:cNvSpPr/>
          <p:nvPr/>
        </p:nvSpPr>
        <p:spPr>
          <a:xfrm>
            <a:off x="5346636" y="3832050"/>
            <a:ext cx="769200" cy="4101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374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9" name="Google Shape;359;p22"/>
          <p:cNvSpPr/>
          <p:nvPr/>
        </p:nvSpPr>
        <p:spPr>
          <a:xfrm>
            <a:off x="1853275" y="3795875"/>
            <a:ext cx="645000" cy="4401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374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0" name="Google Shape;360;p22"/>
          <p:cNvSpPr txBox="1"/>
          <p:nvPr/>
        </p:nvSpPr>
        <p:spPr>
          <a:xfrm>
            <a:off x="468000" y="34347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Here are some areas of some shapes. Work out the missing lengths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1" name="Google Shape;361;p22"/>
          <p:cNvSpPr txBox="1"/>
          <p:nvPr/>
        </p:nvSpPr>
        <p:spPr>
          <a:xfrm>
            <a:off x="460325" y="3784538"/>
            <a:ext cx="517500" cy="5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" name="Google Shape;362;p22"/>
          <p:cNvSpPr txBox="1"/>
          <p:nvPr/>
        </p:nvSpPr>
        <p:spPr>
          <a:xfrm>
            <a:off x="3785575" y="3774457"/>
            <a:ext cx="517500" cy="5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22"/>
          <p:cNvSpPr/>
          <p:nvPr/>
        </p:nvSpPr>
        <p:spPr>
          <a:xfrm>
            <a:off x="1423106" y="4345375"/>
            <a:ext cx="1405500" cy="852900"/>
          </a:xfrm>
          <a:prstGeom prst="rect">
            <a:avLst/>
          </a:prstGeom>
          <a:solidFill>
            <a:srgbClr val="F0F0F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4" name="Google Shape;364;p22"/>
          <p:cNvSpPr/>
          <p:nvPr/>
        </p:nvSpPr>
        <p:spPr>
          <a:xfrm>
            <a:off x="4643143" y="4353920"/>
            <a:ext cx="2010000" cy="669900"/>
          </a:xfrm>
          <a:prstGeom prst="rect">
            <a:avLst/>
          </a:prstGeom>
          <a:solidFill>
            <a:srgbClr val="F0F0F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4}\div\frac{3}{8}=\frac{1}{4}\times\frac{8}{3}=\frac{8}{12}=\frac{2}{3}&quot;&gt;&lt;mfrac&gt;&lt;mn&gt;1&lt;/mn&gt;&lt;mn&gt;4&lt;/mn&gt;&lt;/mfrac&gt;&lt;mo&gt;÷&lt;/mo&gt;&lt;mfrac&gt;&lt;mn&gt;3&lt;/mn&gt;&lt;mn&gt;8&lt;/mn&gt;&lt;/mfrac&gt;&lt;mo&gt;=&lt;/mo&gt;&lt;mfrac&gt;&lt;mn&gt;1&lt;/mn&gt;&lt;mn&gt;4&lt;/mn&gt;&lt;/mfrac&gt;&lt;mo&gt;×&lt;/mo&gt;&lt;mfrac&gt;&lt;mn&gt;8&lt;/mn&gt;&lt;mn&gt;3&lt;/mn&gt;&lt;/mfrac&gt;&lt;mo&gt;=&lt;/mo&gt;&lt;mfrac&gt;&lt;mn&gt;8&lt;/mn&gt;&lt;mn&gt;12&lt;/mn&gt;&lt;/mfrac&gt;&lt;mo&gt;=&lt;/mo&gt;&lt;mfrac&gt;&lt;mn&gt;2&lt;/mn&gt;&lt;mn&gt;3&lt;/mn&gt;&lt;/mfrac&gt;&lt;/math&gt;" id="365" name="Google Shape;365;p22" title="one fourth divided by three eighths equals one fourth times eight thirds equals 8 over 12 equals two thirds"/>
          <p:cNvPicPr preferRelativeResize="0"/>
          <p:nvPr/>
        </p:nvPicPr>
        <p:blipFill rotWithShape="1">
          <a:blip r:embed="rId5">
            <a:alphaModFix/>
          </a:blip>
          <a:srcRect b="0" l="0" r="66842" t="0"/>
          <a:stretch/>
        </p:blipFill>
        <p:spPr>
          <a:xfrm>
            <a:off x="1052618" y="5425591"/>
            <a:ext cx="787115" cy="4381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2\frac{3}{4}\div\frac{2}{5}=\frac{11}{4}\div\frac{2}{5}=\frac{11}{4}\times\frac{5}{2}=\frac{55}{8}=6\frac{7}{8}&quot;&gt;&lt;mn&gt;2&lt;/mn&gt;&lt;mfrac&gt;&lt;mn&gt;3&lt;/mn&gt;&lt;mn&gt;4&lt;/mn&gt;&lt;/mfrac&gt;&lt;mo&gt;÷&lt;/mo&gt;&lt;mfrac&gt;&lt;mn&gt;2&lt;/mn&gt;&lt;mn&gt;5&lt;/mn&gt;&lt;/mfrac&gt;&lt;mo&gt;=&lt;/mo&gt;&lt;mfrac&gt;&lt;mn&gt;11&lt;/mn&gt;&lt;mn&gt;4&lt;/mn&gt;&lt;/mfrac&gt;&lt;mo&gt;÷&lt;/mo&gt;&lt;mfrac&gt;&lt;mn&gt;2&lt;/mn&gt;&lt;mn&gt;5&lt;/mn&gt;&lt;/mfrac&gt;&lt;mo&gt;=&lt;/mo&gt;&lt;mfrac&gt;&lt;mn&gt;11&lt;/mn&gt;&lt;mn&gt;4&lt;/mn&gt;&lt;/mfrac&gt;&lt;mo&gt;×&lt;/mo&gt;&lt;mfrac&gt;&lt;mn&gt;5&lt;/mn&gt;&lt;mn&gt;2&lt;/mn&gt;&lt;/mfrac&gt;&lt;mo&gt;=&lt;/mo&gt;&lt;mfrac&gt;&lt;mn&gt;55&lt;/mn&gt;&lt;mn&gt;8&lt;/mn&gt;&lt;/mfrac&gt;&lt;mo&gt;=&lt;/mo&gt;&lt;mn&gt;6&lt;/mn&gt;&lt;mfrac&gt;&lt;mn&gt;7&lt;/mn&gt;&lt;mn&gt;8&lt;/mn&gt;&lt;/mfrac&gt;&lt;/math&gt;" id="366" name="Google Shape;366;p22" title="2 and three fourths divided by two fifths equals eleven fourths divided by two fifths equals eleven fourths times five halves equals 55 over 8 equals 6 and seven eighths"/>
          <p:cNvPicPr preferRelativeResize="0"/>
          <p:nvPr/>
        </p:nvPicPr>
        <p:blipFill rotWithShape="1">
          <a:blip r:embed="rId6">
            <a:alphaModFix/>
          </a:blip>
          <a:srcRect b="0" l="0" r="92447" t="0"/>
          <a:stretch/>
        </p:blipFill>
        <p:spPr>
          <a:xfrm>
            <a:off x="5455641" y="4523900"/>
            <a:ext cx="205355" cy="3299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4}\div\frac{3}{8}=\frac{1}{4}\times\frac{8}{3}=\frac{8}{12}=\frac{2}{3}&quot;&gt;&lt;mfrac&gt;&lt;mn&gt;1&lt;/mn&gt;&lt;mn&gt;4&lt;/mn&gt;&lt;/mfrac&gt;&lt;mo&gt;÷&lt;/mo&gt;&lt;mfrac&gt;&lt;mn&gt;3&lt;/mn&gt;&lt;mn&gt;8&lt;/mn&gt;&lt;/mfrac&gt;&lt;mo&gt;=&lt;/mo&gt;&lt;mfrac&gt;&lt;mn&gt;1&lt;/mn&gt;&lt;mn&gt;4&lt;/mn&gt;&lt;/mfrac&gt;&lt;mo&gt;×&lt;/mo&gt;&lt;mfrac&gt;&lt;mn&gt;8&lt;/mn&gt;&lt;mn&gt;3&lt;/mn&gt;&lt;/mfrac&gt;&lt;mo&gt;=&lt;/mo&gt;&lt;mfrac&gt;&lt;mn&gt;8&lt;/mn&gt;&lt;mn&gt;12&lt;/mn&gt;&lt;/mfrac&gt;&lt;mo&gt;=&lt;/mo&gt;&lt;mfrac&gt;&lt;mn&gt;2&lt;/mn&gt;&lt;mn&gt;3&lt;/mn&gt;&lt;/mfrac&gt;&lt;/math&gt;" id="367" name="Google Shape;367;p22" title="one fourth divided by three eighths equals one fourth times eight thirds equals 8 over 12 equals two thirds"/>
          <p:cNvPicPr preferRelativeResize="0"/>
          <p:nvPr/>
        </p:nvPicPr>
        <p:blipFill rotWithShape="1">
          <a:blip r:embed="rId5">
            <a:alphaModFix/>
          </a:blip>
          <a:srcRect b="0" l="0" r="91800" t="0"/>
          <a:stretch/>
        </p:blipFill>
        <p:spPr>
          <a:xfrm>
            <a:off x="2186992" y="4506941"/>
            <a:ext cx="220407" cy="4962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4}\div\frac{3}{8}=\frac{1}{4}\times\frac{8}{3}=\frac{8}{12}=\frac{2}{3}&quot;&gt;&lt;mfrac&gt;&lt;mn&gt;1&lt;/mn&gt;&lt;mn&gt;4&lt;/mn&gt;&lt;/mfrac&gt;&lt;mo&gt;÷&lt;/mo&gt;&lt;mfrac&gt;&lt;mn&gt;3&lt;/mn&gt;&lt;mn&gt;8&lt;/mn&gt;&lt;/mfrac&gt;&lt;mo&gt;=&lt;/mo&gt;&lt;mfrac&gt;&lt;mn&gt;1&lt;/mn&gt;&lt;mn&gt;4&lt;/mn&gt;&lt;/mfrac&gt;&lt;mo&gt;×&lt;/mo&gt;&lt;mfrac&gt;&lt;mn&gt;8&lt;/mn&gt;&lt;mn&gt;3&lt;/mn&gt;&lt;/mfrac&gt;&lt;mo&gt;=&lt;/mo&gt;&lt;mfrac&gt;&lt;mn&gt;8&lt;/mn&gt;&lt;mn&gt;12&lt;/mn&gt;&lt;/mfrac&gt;&lt;mo&gt;=&lt;/mo&gt;&lt;mfrac&gt;&lt;mn&gt;2&lt;/mn&gt;&lt;mn&gt;3&lt;/mn&gt;&lt;/mfrac&gt;&lt;/math&gt;" id="368" name="Google Shape;368;p22" title="one fourth divided by three eighths equals one fourth times eight thirds equals 8 over 12 equals two thirds"/>
          <p:cNvPicPr preferRelativeResize="0"/>
          <p:nvPr/>
        </p:nvPicPr>
        <p:blipFill rotWithShape="1">
          <a:blip r:embed="rId5">
            <a:alphaModFix/>
          </a:blip>
          <a:srcRect b="0" l="34474" r="39669" t="0"/>
          <a:stretch/>
        </p:blipFill>
        <p:spPr>
          <a:xfrm>
            <a:off x="1839732" y="5425591"/>
            <a:ext cx="613815" cy="4381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4}\div\frac{3}{8}=\frac{1}{4}\times\frac{8}{3}=\frac{8}{12}=\frac{2}{3}&quot;&gt;&lt;mfrac&gt;&lt;mn&gt;1&lt;/mn&gt;&lt;mn&gt;4&lt;/mn&gt;&lt;/mfrac&gt;&lt;mo&gt;÷&lt;/mo&gt;&lt;mfrac&gt;&lt;mn&gt;3&lt;/mn&gt;&lt;mn&gt;8&lt;/mn&gt;&lt;/mfrac&gt;&lt;mo&gt;=&lt;/mo&gt;&lt;mfrac&gt;&lt;mn&gt;1&lt;/mn&gt;&lt;mn&gt;4&lt;/mn&gt;&lt;/mfrac&gt;&lt;mo&gt;×&lt;/mo&gt;&lt;mfrac&gt;&lt;mn&gt;8&lt;/mn&gt;&lt;mn&gt;3&lt;/mn&gt;&lt;/mfrac&gt;&lt;mo&gt;=&lt;/mo&gt;&lt;mfrac&gt;&lt;mn&gt;8&lt;/mn&gt;&lt;mn&gt;12&lt;/mn&gt;&lt;/mfrac&gt;&lt;mo&gt;=&lt;/mo&gt;&lt;mfrac&gt;&lt;mn&gt;2&lt;/mn&gt;&lt;mn&gt;3&lt;/mn&gt;&lt;/mfrac&gt;&lt;/math&gt;" id="369" name="Google Shape;369;p22" title="one fourth divided by three eighths equals one fourth times eight thirds equals 8 over 12 equals two thirds"/>
          <p:cNvPicPr preferRelativeResize="0"/>
          <p:nvPr/>
        </p:nvPicPr>
        <p:blipFill rotWithShape="1">
          <a:blip r:embed="rId5">
            <a:alphaModFix/>
          </a:blip>
          <a:srcRect b="0" l="61443" r="16273" t="0"/>
          <a:stretch/>
        </p:blipFill>
        <p:spPr>
          <a:xfrm>
            <a:off x="1667189" y="6037741"/>
            <a:ext cx="528998" cy="4381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4}\div\frac{3}{8}=\frac{1}{4}\times\frac{8}{3}=\frac{8}{12}=\frac{2}{3}&quot;&gt;&lt;mfrac&gt;&lt;mn&gt;1&lt;/mn&gt;&lt;mn&gt;4&lt;/mn&gt;&lt;/mfrac&gt;&lt;mo&gt;÷&lt;/mo&gt;&lt;mfrac&gt;&lt;mn&gt;3&lt;/mn&gt;&lt;mn&gt;8&lt;/mn&gt;&lt;/mfrac&gt;&lt;mo&gt;=&lt;/mo&gt;&lt;mfrac&gt;&lt;mn&gt;1&lt;/mn&gt;&lt;mn&gt;4&lt;/mn&gt;&lt;/mfrac&gt;&lt;mo&gt;×&lt;/mo&gt;&lt;mfrac&gt;&lt;mn&gt;8&lt;/mn&gt;&lt;mn&gt;3&lt;/mn&gt;&lt;/mfrac&gt;&lt;mo&gt;=&lt;/mo&gt;&lt;mfrac&gt;&lt;mn&gt;8&lt;/mn&gt;&lt;mn&gt;12&lt;/mn&gt;&lt;/mfrac&gt;&lt;mo&gt;=&lt;/mo&gt;&lt;mfrac&gt;&lt;mn&gt;2&lt;/mn&gt;&lt;mn&gt;3&lt;/mn&gt;&lt;/mfrac&gt;&lt;/math&gt;" id="370" name="Google Shape;370;p22" title="one fourth divided by three eighths equals one fourth times eight thirds equals 8 over 12 equals two thirds"/>
          <p:cNvPicPr preferRelativeResize="0"/>
          <p:nvPr/>
        </p:nvPicPr>
        <p:blipFill rotWithShape="1">
          <a:blip r:embed="rId5">
            <a:alphaModFix/>
          </a:blip>
          <a:srcRect b="0" l="85235" r="-770" t="0"/>
          <a:stretch/>
        </p:blipFill>
        <p:spPr>
          <a:xfrm>
            <a:off x="2215721" y="6037592"/>
            <a:ext cx="368793" cy="438196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22"/>
          <p:cNvSpPr txBox="1"/>
          <p:nvPr/>
        </p:nvSpPr>
        <p:spPr>
          <a:xfrm>
            <a:off x="2113086" y="3779948"/>
            <a:ext cx="483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800"/>
          </a:p>
        </p:txBody>
      </p:sp>
      <p:cxnSp>
        <p:nvCxnSpPr>
          <p:cNvPr id="372" name="Google Shape;372;p22"/>
          <p:cNvCxnSpPr/>
          <p:nvPr/>
        </p:nvCxnSpPr>
        <p:spPr>
          <a:xfrm rot="10800000">
            <a:off x="4642202" y="4284116"/>
            <a:ext cx="20097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73" name="Google Shape;373;p22"/>
          <p:cNvCxnSpPr/>
          <p:nvPr/>
        </p:nvCxnSpPr>
        <p:spPr>
          <a:xfrm rot="10800000">
            <a:off x="1359081" y="4344490"/>
            <a:ext cx="0" cy="863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pic>
        <p:nvPicPr>
          <p:cNvPr descr="&lt;math xmlns=&quot;http://www.w3.org/1998/Math/MathML&quot; display=&quot;block&quot; data-is-equatio=&quot;1&quot; data-latex=&quot;\frac{1}{4}\div\frac{3}{8}=\frac{1}{4}\times\frac{8}{3}=\frac{8}{12}=\frac{2}{3}&quot;&gt;&lt;mfrac&gt;&lt;mn&gt;1&lt;/mn&gt;&lt;mn&gt;4&lt;/mn&gt;&lt;/mfrac&gt;&lt;mo&gt;÷&lt;/mo&gt;&lt;mfrac&gt;&lt;mn&gt;3&lt;/mn&gt;&lt;mn&gt;8&lt;/mn&gt;&lt;/mfrac&gt;&lt;mo&gt;=&lt;/mo&gt;&lt;mfrac&gt;&lt;mn&gt;1&lt;/mn&gt;&lt;mn&gt;4&lt;/mn&gt;&lt;/mfrac&gt;&lt;mo&gt;×&lt;/mo&gt;&lt;mfrac&gt;&lt;mn&gt;8&lt;/mn&gt;&lt;mn&gt;3&lt;/mn&gt;&lt;/mfrac&gt;&lt;mo&gt;=&lt;/mo&gt;&lt;mfrac&gt;&lt;mn&gt;8&lt;/mn&gt;&lt;mn&gt;12&lt;/mn&gt;&lt;/mfrac&gt;&lt;mo&gt;=&lt;/mo&gt;&lt;mfrac&gt;&lt;mn&gt;2&lt;/mn&gt;&lt;mn&gt;3&lt;/mn&gt;&lt;/mfrac&gt;&lt;/math&gt;" id="374" name="Google Shape;374;p22" title="one fourth divided by three eighths equals one fourth times eight thirds equals 8 over 12 equals two thirds"/>
          <p:cNvPicPr preferRelativeResize="0"/>
          <p:nvPr/>
        </p:nvPicPr>
        <p:blipFill rotWithShape="1">
          <a:blip r:embed="rId5">
            <a:alphaModFix/>
          </a:blip>
          <a:srcRect b="0" l="15049" r="76489" t="0"/>
          <a:stretch/>
        </p:blipFill>
        <p:spPr>
          <a:xfrm>
            <a:off x="810000" y="4539807"/>
            <a:ext cx="197301" cy="430469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22"/>
          <p:cNvSpPr txBox="1"/>
          <p:nvPr/>
        </p:nvSpPr>
        <p:spPr>
          <a:xfrm>
            <a:off x="1035566" y="4600697"/>
            <a:ext cx="359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endParaRPr sz="1200"/>
          </a:p>
        </p:txBody>
      </p:sp>
      <p:sp>
        <p:nvSpPr>
          <p:cNvPr id="376" name="Google Shape;376;p22"/>
          <p:cNvSpPr txBox="1"/>
          <p:nvPr/>
        </p:nvSpPr>
        <p:spPr>
          <a:xfrm>
            <a:off x="4220189" y="4518139"/>
            <a:ext cx="435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cm</a:t>
            </a:r>
            <a:endParaRPr sz="1200"/>
          </a:p>
        </p:txBody>
      </p:sp>
      <p:cxnSp>
        <p:nvCxnSpPr>
          <p:cNvPr id="377" name="Google Shape;377;p22"/>
          <p:cNvCxnSpPr/>
          <p:nvPr/>
        </p:nvCxnSpPr>
        <p:spPr>
          <a:xfrm rot="10800000">
            <a:off x="1445763" y="4278035"/>
            <a:ext cx="13809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pic>
        <p:nvPicPr>
          <p:cNvPr descr="&lt;math xmlns=&quot;http://www.w3.org/1998/Math/MathML&quot; display=&quot;block&quot; data-is-equatio=&quot;1&quot; data-latex=&quot;\frac{1}{4}\div\frac{3}{8}=\frac{1}{4}\times\frac{8}{3}=\frac{8}{12}=\frac{2}{3}&quot;&gt;&lt;mfrac&gt;&lt;mn&gt;1&lt;/mn&gt;&lt;mn&gt;4&lt;/mn&gt;&lt;/mfrac&gt;&lt;mo&gt;÷&lt;/mo&gt;&lt;mfrac&gt;&lt;mn&gt;3&lt;/mn&gt;&lt;mn&gt;8&lt;/mn&gt;&lt;/mfrac&gt;&lt;mo&gt;=&lt;/mo&gt;&lt;mfrac&gt;&lt;mn&gt;1&lt;/mn&gt;&lt;mn&gt;4&lt;/mn&gt;&lt;/mfrac&gt;&lt;mo&gt;×&lt;/mo&gt;&lt;mfrac&gt;&lt;mn&gt;8&lt;/mn&gt;&lt;mn&gt;3&lt;/mn&gt;&lt;/mfrac&gt;&lt;mo&gt;=&lt;/mo&gt;&lt;mfrac&gt;&lt;mn&gt;8&lt;/mn&gt;&lt;mn&gt;12&lt;/mn&gt;&lt;/mfrac&gt;&lt;mo&gt;=&lt;/mo&gt;&lt;mfrac&gt;&lt;mn&gt;2&lt;/mn&gt;&lt;mn&gt;3&lt;/mn&gt;&lt;/mfrac&gt;&lt;/math&gt;" id="378" name="Google Shape;378;p22" title="one fourth divided by three eighths equals one fourth times eight thirds equals 8 over 12 equals two thirds"/>
          <p:cNvPicPr preferRelativeResize="0"/>
          <p:nvPr/>
        </p:nvPicPr>
        <p:blipFill rotWithShape="1">
          <a:blip r:embed="rId5">
            <a:alphaModFix/>
          </a:blip>
          <a:srcRect b="0" l="92460" r="-771" t="0"/>
          <a:stretch/>
        </p:blipFill>
        <p:spPr>
          <a:xfrm>
            <a:off x="1937433" y="3832048"/>
            <a:ext cx="173710" cy="38580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79" name="Google Shape;379;p22"/>
          <p:cNvCxnSpPr/>
          <p:nvPr/>
        </p:nvCxnSpPr>
        <p:spPr>
          <a:xfrm rot="10800000">
            <a:off x="4573898" y="4354073"/>
            <a:ext cx="0" cy="672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pic>
        <p:nvPicPr>
          <p:cNvPr descr="&lt;math xmlns=&quot;http://www.w3.org/1998/Math/MathML&quot; display=&quot;block&quot; data-is-equatio=&quot;1&quot; data-latex=&quot;\frac{5}{6}&quot;&gt;&lt;mfrac&gt;&lt;mn&gt;5&lt;/mn&gt;&lt;mn&gt;6&lt;/mn&gt;&lt;/mfrac&gt;&lt;/math&gt;" id="380" name="Google Shape;380;p22" title="five sixths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140000" y="4518166"/>
            <a:ext cx="109761" cy="35945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2\frac{3}{4}\div\frac{5}{6}=\frac{11}{4}\times\frac{6}{5}=\frac{66}{20}=3\frac{6}{20}=3\frac{3}{10}&quot;&gt;&lt;mn&gt;2&lt;/mn&gt;&lt;mfrac&gt;&lt;mn&gt;3&lt;/mn&gt;&lt;mn&gt;4&lt;/mn&gt;&lt;/mfrac&gt;&lt;mo&gt;÷&lt;/mo&gt;&lt;mfrac&gt;&lt;mn&gt;5&lt;/mn&gt;&lt;mn&gt;6&lt;/mn&gt;&lt;/mfrac&gt;&lt;mo&gt;=&lt;/mo&gt;&lt;mfrac&gt;&lt;mn&gt;11&lt;/mn&gt;&lt;mn&gt;4&lt;/mn&gt;&lt;/mfrac&gt;&lt;mo&gt;×&lt;/mo&gt;&lt;mfrac&gt;&lt;mn&gt;6&lt;/mn&gt;&lt;mn&gt;5&lt;/mn&gt;&lt;/mfrac&gt;&lt;mo&gt;=&lt;/mo&gt;&lt;mfrac&gt;&lt;mn&gt;66&lt;/mn&gt;&lt;mn&gt;20&lt;/mn&gt;&lt;/mfrac&gt;&lt;mo&gt;=&lt;/mo&gt;&lt;mn&gt;3&lt;/mn&gt;&lt;mfrac&gt;&lt;mn&gt;6&lt;/mn&gt;&lt;mn&gt;20&lt;/mn&gt;&lt;/mfrac&gt;&lt;mo&gt;=&lt;/mo&gt;&lt;mn&gt;3&lt;/mn&gt;&lt;mfrac&gt;&lt;mn&gt;3&lt;/mn&gt;&lt;mn&gt;10&lt;/mn&gt;&lt;/mfrac&gt;&lt;/math&gt;" id="381" name="Google Shape;381;p22" title="2 and three fourths divided by five sixths equals eleven fourths times six fifths equals 66 over 20 equals 3 and 6 over 20 equals 3 and three tenths"/>
          <p:cNvPicPr preferRelativeResize="0"/>
          <p:nvPr/>
        </p:nvPicPr>
        <p:blipFill rotWithShape="1">
          <a:blip r:embed="rId8">
            <a:alphaModFix/>
          </a:blip>
          <a:srcRect b="0" l="0" r="79160" t="0"/>
          <a:stretch/>
        </p:blipFill>
        <p:spPr>
          <a:xfrm>
            <a:off x="4140000" y="5186502"/>
            <a:ext cx="654716" cy="4010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2\frac{3}{4}\div\frac{5}{6}=\frac{11}{4}\times\frac{6}{5}=\frac{66}{20}=3\frac{6}{20}=3\frac{3}{10}&quot;&gt;&lt;mn&gt;2&lt;/mn&gt;&lt;mfrac&gt;&lt;mn&gt;3&lt;/mn&gt;&lt;mn&gt;4&lt;/mn&gt;&lt;/mfrac&gt;&lt;mo&gt;÷&lt;/mo&gt;&lt;mfrac&gt;&lt;mn&gt;5&lt;/mn&gt;&lt;mn&gt;6&lt;/mn&gt;&lt;/mfrac&gt;&lt;mo&gt;=&lt;/mo&gt;&lt;mfrac&gt;&lt;mn&gt;11&lt;/mn&gt;&lt;mn&gt;4&lt;/mn&gt;&lt;/mfrac&gt;&lt;mo&gt;×&lt;/mo&gt;&lt;mfrac&gt;&lt;mn&gt;6&lt;/mn&gt;&lt;mn&gt;5&lt;/mn&gt;&lt;/mfrac&gt;&lt;mo&gt;=&lt;/mo&gt;&lt;mfrac&gt;&lt;mn&gt;66&lt;/mn&gt;&lt;mn&gt;20&lt;/mn&gt;&lt;/mfrac&gt;&lt;mo&gt;=&lt;/mo&gt;&lt;mn&gt;3&lt;/mn&gt;&lt;mfrac&gt;&lt;mn&gt;6&lt;/mn&gt;&lt;mn&gt;20&lt;/mn&gt;&lt;/mfrac&gt;&lt;mo&gt;=&lt;/mo&gt;&lt;mn&gt;3&lt;/mn&gt;&lt;mfrac&gt;&lt;mn&gt;3&lt;/mn&gt;&lt;mn&gt;10&lt;/mn&gt;&lt;/mfrac&gt;&lt;/math&gt;" id="382" name="Google Shape;382;p22" title="2 and three fourths divided by five sixths equals eleven fourths times six fifths equals 66 over 20 equals 3 and 6 over 20 equals 3 and three tenths"/>
          <p:cNvPicPr preferRelativeResize="0"/>
          <p:nvPr/>
        </p:nvPicPr>
        <p:blipFill rotWithShape="1">
          <a:blip r:embed="rId8">
            <a:alphaModFix/>
          </a:blip>
          <a:srcRect b="0" l="48127" r="17193" t="0"/>
          <a:stretch/>
        </p:blipFill>
        <p:spPr>
          <a:xfrm>
            <a:off x="4813066" y="5646713"/>
            <a:ext cx="1040848" cy="38315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2\frac{3}{4}\div\frac{5}{6}=\frac{11}{4}\times\frac{6}{5}=\frac{66}{20}=3\frac{6}{20}=3\frac{3}{10}&quot;&gt;&lt;mn&gt;2&lt;/mn&gt;&lt;mfrac&gt;&lt;mn&gt;3&lt;/mn&gt;&lt;mn&gt;4&lt;/mn&gt;&lt;/mfrac&gt;&lt;mo&gt;÷&lt;/mo&gt;&lt;mfrac&gt;&lt;mn&gt;5&lt;/mn&gt;&lt;mn&gt;6&lt;/mn&gt;&lt;/mfrac&gt;&lt;mo&gt;=&lt;/mo&gt;&lt;mfrac&gt;&lt;mn&gt;11&lt;/mn&gt;&lt;mn&gt;4&lt;/mn&gt;&lt;/mfrac&gt;&lt;mo&gt;×&lt;/mo&gt;&lt;mfrac&gt;&lt;mn&gt;6&lt;/mn&gt;&lt;mn&gt;5&lt;/mn&gt;&lt;/mfrac&gt;&lt;mo&gt;=&lt;/mo&gt;&lt;mfrac&gt;&lt;mn&gt;66&lt;/mn&gt;&lt;mn&gt;20&lt;/mn&gt;&lt;/mfrac&gt;&lt;mo&gt;=&lt;/mo&gt;&lt;mn&gt;3&lt;/mn&gt;&lt;mfrac&gt;&lt;mn&gt;6&lt;/mn&gt;&lt;mn&gt;20&lt;/mn&gt;&lt;/mfrac&gt;&lt;mo&gt;=&lt;/mo&gt;&lt;mn&gt;3&lt;/mn&gt;&lt;mfrac&gt;&lt;mn&gt;3&lt;/mn&gt;&lt;mn&gt;10&lt;/mn&gt;&lt;/mfrac&gt;&lt;/math&gt;" id="383" name="Google Shape;383;p22" title="2 and three fourths divided by five sixths equals eleven fourths times six fifths equals 66 over 20 equals 3 and 6 over 20 equals 3 and three tenths"/>
          <p:cNvPicPr preferRelativeResize="0"/>
          <p:nvPr/>
        </p:nvPicPr>
        <p:blipFill rotWithShape="1">
          <a:blip r:embed="rId8">
            <a:alphaModFix/>
          </a:blip>
          <a:srcRect b="0" l="83102" r="0" t="0"/>
          <a:stretch/>
        </p:blipFill>
        <p:spPr>
          <a:xfrm>
            <a:off x="4813068" y="6067927"/>
            <a:ext cx="507159" cy="38315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2\frac{3}{4}\div\frac{5}{6}=\frac{11}{4}\times\frac{6}{5}=\frac{66}{20}=3\frac{6}{20}=3\frac{3}{10}&quot;&gt;&lt;mn&gt;2&lt;/mn&gt;&lt;mfrac&gt;&lt;mn&gt;3&lt;/mn&gt;&lt;mn&gt;4&lt;/mn&gt;&lt;/mfrac&gt;&lt;mo&gt;÷&lt;/mo&gt;&lt;mfrac&gt;&lt;mn&gt;5&lt;/mn&gt;&lt;mn&gt;6&lt;/mn&gt;&lt;/mfrac&gt;&lt;mo&gt;=&lt;/mo&gt;&lt;mfrac&gt;&lt;mn&gt;11&lt;/mn&gt;&lt;mn&gt;4&lt;/mn&gt;&lt;/mfrac&gt;&lt;mo&gt;×&lt;/mo&gt;&lt;mfrac&gt;&lt;mn&gt;6&lt;/mn&gt;&lt;mn&gt;5&lt;/mn&gt;&lt;/mfrac&gt;&lt;mo&gt;=&lt;/mo&gt;&lt;mfrac&gt;&lt;mn&gt;66&lt;/mn&gt;&lt;mn&gt;20&lt;/mn&gt;&lt;/mfrac&gt;&lt;mo&gt;=&lt;/mo&gt;&lt;mn&gt;3&lt;/mn&gt;&lt;mfrac&gt;&lt;mn&gt;6&lt;/mn&gt;&lt;mn&gt;20&lt;/mn&gt;&lt;/mfrac&gt;&lt;mo&gt;=&lt;/mo&gt;&lt;mn&gt;3&lt;/mn&gt;&lt;mfrac&gt;&lt;mn&gt;3&lt;/mn&gt;&lt;mn&gt;10&lt;/mn&gt;&lt;/mfrac&gt;&lt;/math&gt;" id="384" name="Google Shape;384;p22" title="2 and three fourths divided by five sixths equals eleven fourths times six fifths equals 66 over 20 equals 3 and 6 over 20 equals 3 and three tenths"/>
          <p:cNvPicPr preferRelativeResize="0"/>
          <p:nvPr/>
        </p:nvPicPr>
        <p:blipFill rotWithShape="1">
          <a:blip r:embed="rId8">
            <a:alphaModFix/>
          </a:blip>
          <a:srcRect b="0" l="89256" r="-1" t="0"/>
          <a:stretch/>
        </p:blipFill>
        <p:spPr>
          <a:xfrm>
            <a:off x="5428704" y="3883899"/>
            <a:ext cx="277730" cy="329982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22"/>
          <p:cNvSpPr txBox="1"/>
          <p:nvPr/>
        </p:nvSpPr>
        <p:spPr>
          <a:xfrm>
            <a:off x="5714552" y="3873357"/>
            <a:ext cx="450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cm </a:t>
            </a:r>
            <a:endParaRPr sz="1200"/>
          </a:p>
        </p:txBody>
      </p:sp>
      <p:pic>
        <p:nvPicPr>
          <p:cNvPr descr="&lt;math xmlns=&quot;http://www.w3.org/1998/Math/MathML&quot; display=&quot;block&quot; data-is-equatio=&quot;1&quot; data-latex=&quot;2\frac{3}{4}\div\frac{5}{6}=\frac{11}{4}\times\frac{6}{5}=\frac{66}{20}=3\frac{6}{20}=3\frac{3}{10}&quot;&gt;&lt;mn&gt;2&lt;/mn&gt;&lt;mfrac&gt;&lt;mn&gt;3&lt;/mn&gt;&lt;mn&gt;4&lt;/mn&gt;&lt;/mfrac&gt;&lt;mo&gt;÷&lt;/mo&gt;&lt;mfrac&gt;&lt;mn&gt;5&lt;/mn&gt;&lt;mn&gt;6&lt;/mn&gt;&lt;/mfrac&gt;&lt;mo&gt;=&lt;/mo&gt;&lt;mfrac&gt;&lt;mn&gt;11&lt;/mn&gt;&lt;mn&gt;4&lt;/mn&gt;&lt;/mfrac&gt;&lt;mo&gt;×&lt;/mo&gt;&lt;mfrac&gt;&lt;mn&gt;6&lt;/mn&gt;&lt;mn&gt;5&lt;/mn&gt;&lt;/mfrac&gt;&lt;mo&gt;=&lt;/mo&gt;&lt;mfrac&gt;&lt;mn&gt;66&lt;/mn&gt;&lt;mn&gt;20&lt;/mn&gt;&lt;/mfrac&gt;&lt;mo&gt;=&lt;/mo&gt;&lt;mn&gt;3&lt;/mn&gt;&lt;mfrac&gt;&lt;mn&gt;6&lt;/mn&gt;&lt;mn&gt;20&lt;/mn&gt;&lt;/mfrac&gt;&lt;mo&gt;=&lt;/mo&gt;&lt;mn&gt;3&lt;/mn&gt;&lt;mfrac&gt;&lt;mn&gt;3&lt;/mn&gt;&lt;mn&gt;10&lt;/mn&gt;&lt;/mfrac&gt;&lt;/math&gt;" id="386" name="Google Shape;386;p22" title="2 and three fourths divided by five sixths equals eleven fourths times six fifths equals 66 over 20 equals 3 and 6 over 20 equals 3 and three tenths"/>
          <p:cNvPicPr preferRelativeResize="0"/>
          <p:nvPr/>
        </p:nvPicPr>
        <p:blipFill rotWithShape="1">
          <a:blip r:embed="rId8">
            <a:alphaModFix/>
          </a:blip>
          <a:srcRect b="0" l="19919" r="51583" t="0"/>
          <a:stretch/>
        </p:blipFill>
        <p:spPr>
          <a:xfrm>
            <a:off x="4813068" y="5186502"/>
            <a:ext cx="895320" cy="401070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22"/>
          <p:cNvSpPr txBox="1"/>
          <p:nvPr/>
        </p:nvSpPr>
        <p:spPr>
          <a:xfrm>
            <a:off x="455151" y="6633722"/>
            <a:ext cx="4146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8" name="Google Shape;388;p22"/>
          <p:cNvSpPr/>
          <p:nvPr/>
        </p:nvSpPr>
        <p:spPr>
          <a:xfrm>
            <a:off x="1181441" y="7009954"/>
            <a:ext cx="4672500" cy="778800"/>
          </a:xfrm>
          <a:prstGeom prst="rtTriangle">
            <a:avLst/>
          </a:prstGeom>
          <a:solidFill>
            <a:srgbClr val="F0F0F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\frac{5}{7}\times2\ =\ \frac{5\times2}{7}=\frac{10}{7}\\&amp;#13;&amp;#10;\frac{10}{7}\div\frac{3}{7}=\frac{10}{7}\times\frac{7}{3}=\frac{70}{21}=\frac{10}{3}=2\frac{1}{3}\end{array}&quot;&gt;&lt;mtable columnalign=&quot;left&quot; columnspacing=&quot;1em&quot; rowspacing=&quot;4pt&quot;&gt;&lt;mtr&gt;&lt;mtd&gt;&lt;mfrac&gt;&lt;mn&gt;5&lt;/mn&gt;&lt;mn&gt;7&lt;/mn&gt;&lt;/mfrac&gt;&lt;mo&gt;×&lt;/mo&gt;&lt;mn&gt;2&lt;/mn&gt;&lt;mtext&gt;&lt;/mtext&gt;&lt;mo&gt;=&lt;/mo&gt;&lt;mtext&gt;&lt;/mtext&gt;&lt;mfrac&gt;&lt;mrow&gt;&lt;mn&gt;5&lt;/mn&gt;&lt;mo&gt;×&lt;/mo&gt;&lt;mn&gt;2&lt;/mn&gt;&lt;/mrow&gt;&lt;mn&gt;7&lt;/mn&gt;&lt;/mfrac&gt;&lt;mo&gt;=&lt;/mo&gt;&lt;mfrac&gt;&lt;mn&gt;10&lt;/mn&gt;&lt;mn&gt;7&lt;/mn&gt;&lt;/mfrac&gt;&lt;/mtd&gt;&lt;/mtr&gt;&lt;mtr&gt;&lt;mtd&gt;&lt;mfrac&gt;&lt;mn&gt;10&lt;/mn&gt;&lt;mn&gt;7&lt;/mn&gt;&lt;/mfrac&gt;&lt;mo&gt;÷&lt;/mo&gt;&lt;mfrac&gt;&lt;mn&gt;3&lt;/mn&gt;&lt;mn&gt;7&lt;/mn&gt;&lt;/mfrac&gt;&lt;mo&gt;=&lt;/mo&gt;&lt;mfrac&gt;&lt;mn&gt;10&lt;/mn&gt;&lt;mn&gt;7&lt;/mn&gt;&lt;/mfrac&gt;&lt;mo&gt;×&lt;/mo&gt;&lt;mfrac&gt;&lt;mn&gt;7&lt;/mn&gt;&lt;mn&gt;3&lt;/mn&gt;&lt;/mfrac&gt;&lt;mo&gt;=&lt;/mo&gt;&lt;mfrac&gt;&lt;mn&gt;70&lt;/mn&gt;&lt;mn&gt;21&lt;/mn&gt;&lt;/mfrac&gt;&lt;mo&gt;=&lt;/mo&gt;&lt;mfrac&gt;&lt;mn&gt;10&lt;/mn&gt;&lt;mn&gt;3&lt;/mn&gt;&lt;/mfrac&gt;&lt;mo&gt;=&lt;/mo&gt;&lt;mn&gt;2&lt;/mn&gt;&lt;mfrac&gt;&lt;mn&gt;1&lt;/mn&gt;&lt;mn&gt;3&lt;/mn&gt;&lt;/mfrac&gt;&lt;/mtd&gt;&lt;/mtr&gt;&lt;/mtable&gt;&lt;/math&gt;" id="389" name="Google Shape;389;p22" title="2 lines Line 1: five sevenths times 2 equals the fraction with numerator 5 times 2 and denominator 7 equals ten sevenths Line 2: ten sevenths divided by three sevenths equals ten sevenths times seven thirds equals 70 over 21 equals ten thirds equals 2 and one third"/>
          <p:cNvPicPr preferRelativeResize="0"/>
          <p:nvPr/>
        </p:nvPicPr>
        <p:blipFill rotWithShape="1">
          <a:blip r:embed="rId9">
            <a:alphaModFix/>
          </a:blip>
          <a:srcRect b="49494" l="0" r="42343" t="0"/>
          <a:stretch/>
        </p:blipFill>
        <p:spPr>
          <a:xfrm>
            <a:off x="1181531" y="8295500"/>
            <a:ext cx="1947574" cy="39121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5}{7}\times2\ =\ \frac{5\times2}{7}=\frac{10}{7}\\&amp;#13;&amp;#10;\frac{10}{7}\div\frac{3}{7}=\frac{10}{7}\times\frac{7}{3}=\frac{70}{21}=\frac{10}{3}=2\frac{1}{3}\end{array}&quot;&gt;&lt;mtable columnalign=&quot;left&quot; columnspacing=&quot;1em&quot; rowspacing=&quot;4pt&quot;&gt;&lt;mtr&gt;&lt;mtd&gt;&lt;mfrac&gt;&lt;mn&gt;5&lt;/mn&gt;&lt;mn&gt;7&lt;/mn&gt;&lt;/mfrac&gt;&lt;mo&gt;×&lt;/mo&gt;&lt;mn&gt;2&lt;/mn&gt;&lt;mtext&gt;&lt;/mtext&gt;&lt;mo&gt;=&lt;/mo&gt;&lt;mtext&gt;&lt;/mtext&gt;&lt;mfrac&gt;&lt;mrow&gt;&lt;mn&gt;5&lt;/mn&gt;&lt;mo&gt;×&lt;/mo&gt;&lt;mn&gt;2&lt;/mn&gt;&lt;/mrow&gt;&lt;mn&gt;7&lt;/mn&gt;&lt;/mfrac&gt;&lt;mo&gt;=&lt;/mo&gt;&lt;mfrac&gt;&lt;mn&gt;10&lt;/mn&gt;&lt;mn&gt;7&lt;/mn&gt;&lt;/mfrac&gt;&lt;/mtd&gt;&lt;/mtr&gt;&lt;mtr&gt;&lt;mtd&gt;&lt;mfrac&gt;&lt;mn&gt;10&lt;/mn&gt;&lt;mn&gt;7&lt;/mn&gt;&lt;/mfrac&gt;&lt;mo&gt;÷&lt;/mo&gt;&lt;mfrac&gt;&lt;mn&gt;3&lt;/mn&gt;&lt;mn&gt;7&lt;/mn&gt;&lt;/mfrac&gt;&lt;mo&gt;=&lt;/mo&gt;&lt;mfrac&gt;&lt;mn&gt;10&lt;/mn&gt;&lt;mn&gt;7&lt;/mn&gt;&lt;/mfrac&gt;&lt;mo&gt;×&lt;/mo&gt;&lt;mfrac&gt;&lt;mn&gt;7&lt;/mn&gt;&lt;mn&gt;3&lt;/mn&gt;&lt;/mfrac&gt;&lt;mo&gt;=&lt;/mo&gt;&lt;mfrac&gt;&lt;mn&gt;70&lt;/mn&gt;&lt;mn&gt;21&lt;/mn&gt;&lt;/mfrac&gt;&lt;mo&gt;=&lt;/mo&gt;&lt;mfrac&gt;&lt;mn&gt;10&lt;/mn&gt;&lt;mn&gt;3&lt;/mn&gt;&lt;/mfrac&gt;&lt;mo&gt;=&lt;/mo&gt;&lt;mn&gt;2&lt;/mn&gt;&lt;mfrac&gt;&lt;mn&gt;1&lt;/mn&gt;&lt;mn&gt;3&lt;/mn&gt;&lt;/mfrac&gt;&lt;/mtd&gt;&lt;/mtr&gt;&lt;/mtable&gt;&lt;/math&gt;" id="390" name="Google Shape;390;p22" title="2 lines Line 1: five sevenths times 2 equals the fraction with numerator 5 times 2 and denominator 7 equals ten sevenths Line 2: ten sevenths divided by three sevenths equals ten sevenths times seven thirds equals 70 over 21 equals ten thirds equals 2 and one third"/>
          <p:cNvPicPr preferRelativeResize="0"/>
          <p:nvPr/>
        </p:nvPicPr>
        <p:blipFill rotWithShape="1">
          <a:blip r:embed="rId9">
            <a:alphaModFix/>
          </a:blip>
          <a:srcRect b="53323" l="0" r="95245" t="0"/>
          <a:stretch/>
        </p:blipFill>
        <p:spPr>
          <a:xfrm>
            <a:off x="1952037" y="7272960"/>
            <a:ext cx="191740" cy="4316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5}{7}\times2\ =\ \frac{5\times2}{7}=\frac{10}{7}\\&amp;#13;&amp;#10;\frac{10}{7}\div\frac{3}{7}=\frac{10}{7}\times\frac{7}{3}=\frac{70}{21}=\frac{10}{3}=2\frac{1}{3}\end{array}&quot;&gt;&lt;mtable columnalign=&quot;left&quot; columnspacing=&quot;1em&quot; rowspacing=&quot;4pt&quot;&gt;&lt;mtr&gt;&lt;mtd&gt;&lt;mfrac&gt;&lt;mn&gt;5&lt;/mn&gt;&lt;mn&gt;7&lt;/mn&gt;&lt;/mfrac&gt;&lt;mo&gt;×&lt;/mo&gt;&lt;mn&gt;2&lt;/mn&gt;&lt;mtext&gt;&lt;/mtext&gt;&lt;mo&gt;=&lt;/mo&gt;&lt;mtext&gt;&lt;/mtext&gt;&lt;mfrac&gt;&lt;mrow&gt;&lt;mn&gt;5&lt;/mn&gt;&lt;mo&gt;×&lt;/mo&gt;&lt;mn&gt;2&lt;/mn&gt;&lt;/mrow&gt;&lt;mn&gt;7&lt;/mn&gt;&lt;/mfrac&gt;&lt;mo&gt;=&lt;/mo&gt;&lt;mfrac&gt;&lt;mn&gt;10&lt;/mn&gt;&lt;mn&gt;7&lt;/mn&gt;&lt;/mfrac&gt;&lt;/mtd&gt;&lt;/mtr&gt;&lt;mtr&gt;&lt;mtd&gt;&lt;mfrac&gt;&lt;mn&gt;10&lt;/mn&gt;&lt;mn&gt;7&lt;/mn&gt;&lt;/mfrac&gt;&lt;mo&gt;÷&lt;/mo&gt;&lt;mfrac&gt;&lt;mn&gt;3&lt;/mn&gt;&lt;mn&gt;7&lt;/mn&gt;&lt;/mfrac&gt;&lt;mo&gt;=&lt;/mo&gt;&lt;mfrac&gt;&lt;mn&gt;10&lt;/mn&gt;&lt;mn&gt;7&lt;/mn&gt;&lt;/mfrac&gt;&lt;mo&gt;×&lt;/mo&gt;&lt;mfrac&gt;&lt;mn&gt;7&lt;/mn&gt;&lt;mn&gt;3&lt;/mn&gt;&lt;/mfrac&gt;&lt;mo&gt;=&lt;/mo&gt;&lt;mfrac&gt;&lt;mn&gt;70&lt;/mn&gt;&lt;mn&gt;21&lt;/mn&gt;&lt;/mfrac&gt;&lt;mo&gt;=&lt;/mo&gt;&lt;mfrac&gt;&lt;mn&gt;10&lt;/mn&gt;&lt;mn&gt;3&lt;/mn&gt;&lt;/mfrac&gt;&lt;mo&gt;=&lt;/mo&gt;&lt;mn&gt;2&lt;/mn&gt;&lt;mfrac&gt;&lt;mn&gt;1&lt;/mn&gt;&lt;mn&gt;3&lt;/mn&gt;&lt;/mfrac&gt;&lt;/mtd&gt;&lt;/mtr&gt;&lt;/mtable&gt;&lt;/math&gt;" id="391" name="Google Shape;391;p22" title="2 lines Line 1: five sevenths times 2 equals the fraction with numerator 5 times 2 and denominator 7 equals ten sevenths Line 2: ten sevenths divided by three sevenths equals ten sevenths times seven thirds equals 70 over 21 equals ten thirds equals 2 and one third"/>
          <p:cNvPicPr preferRelativeResize="0"/>
          <p:nvPr/>
        </p:nvPicPr>
        <p:blipFill rotWithShape="1">
          <a:blip r:embed="rId9">
            <a:alphaModFix/>
          </a:blip>
          <a:srcRect b="0" l="14513" r="80998" t="49018"/>
          <a:stretch/>
        </p:blipFill>
        <p:spPr>
          <a:xfrm>
            <a:off x="642010" y="7187995"/>
            <a:ext cx="165810" cy="431913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p22"/>
          <p:cNvSpPr txBox="1"/>
          <p:nvPr/>
        </p:nvSpPr>
        <p:spPr>
          <a:xfrm>
            <a:off x="787200" y="7214534"/>
            <a:ext cx="360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endParaRPr sz="1200"/>
          </a:p>
        </p:txBody>
      </p:sp>
      <p:pic>
        <p:nvPicPr>
          <p:cNvPr descr="&lt;math xmlns=&quot;http://www.w3.org/1998/Math/MathML&quot; display=&quot;block&quot; data-is-equatio=&quot;1&quot; data-latex=&quot;\begin{array}{l}\frac{5}{7}\times2\ =\ \frac{5\times2}{7}=\frac{10}{7}\\&amp;#13;&amp;#10;\frac{10}{7}\div\frac{3}{7}=\frac{10}{7}\times\frac{7}{3}=\frac{70}{21}=\frac{10}{3}=2\frac{1}{3}\end{array}&quot;&gt;&lt;mtable columnalign=&quot;left&quot; columnspacing=&quot;1em&quot; rowspacing=&quot;4pt&quot;&gt;&lt;mtr&gt;&lt;mtd&gt;&lt;mfrac&gt;&lt;mn&gt;5&lt;/mn&gt;&lt;mn&gt;7&lt;/mn&gt;&lt;/mfrac&gt;&lt;mo&gt;×&lt;/mo&gt;&lt;mn&gt;2&lt;/mn&gt;&lt;mtext&gt;&lt;/mtext&gt;&lt;mo&gt;=&lt;/mo&gt;&lt;mtext&gt;&lt;/mtext&gt;&lt;mfrac&gt;&lt;mrow&gt;&lt;mn&gt;5&lt;/mn&gt;&lt;mo&gt;×&lt;/mo&gt;&lt;mn&gt;2&lt;/mn&gt;&lt;/mrow&gt;&lt;mn&gt;7&lt;/mn&gt;&lt;/mfrac&gt;&lt;mo&gt;=&lt;/mo&gt;&lt;mfrac&gt;&lt;mn&gt;10&lt;/mn&gt;&lt;mn&gt;7&lt;/mn&gt;&lt;/mfrac&gt;&lt;/mtd&gt;&lt;/mtr&gt;&lt;mtr&gt;&lt;mtd&gt;&lt;mfrac&gt;&lt;mn&gt;10&lt;/mn&gt;&lt;mn&gt;7&lt;/mn&gt;&lt;/mfrac&gt;&lt;mo&gt;÷&lt;/mo&gt;&lt;mfrac&gt;&lt;mn&gt;3&lt;/mn&gt;&lt;mn&gt;7&lt;/mn&gt;&lt;/mfrac&gt;&lt;mo&gt;=&lt;/mo&gt;&lt;mfrac&gt;&lt;mn&gt;10&lt;/mn&gt;&lt;mn&gt;7&lt;/mn&gt;&lt;/mfrac&gt;&lt;mo&gt;×&lt;/mo&gt;&lt;mfrac&gt;&lt;mn&gt;7&lt;/mn&gt;&lt;mn&gt;3&lt;/mn&gt;&lt;/mfrac&gt;&lt;mo&gt;=&lt;/mo&gt;&lt;mfrac&gt;&lt;mn&gt;70&lt;/mn&gt;&lt;mn&gt;21&lt;/mn&gt;&lt;/mfrac&gt;&lt;mo&gt;=&lt;/mo&gt;&lt;mfrac&gt;&lt;mn&gt;10&lt;/mn&gt;&lt;mn&gt;3&lt;/mn&gt;&lt;/mfrac&gt;&lt;mo&gt;=&lt;/mo&gt;&lt;mn&gt;2&lt;/mn&gt;&lt;mfrac&gt;&lt;mn&gt;1&lt;/mn&gt;&lt;mn&gt;3&lt;/mn&gt;&lt;/mfrac&gt;&lt;/mtd&gt;&lt;/mtr&gt;&lt;/mtable&gt;&lt;/math&gt;" id="393" name="Google Shape;393;p22" title="2 lines Line 1: five sevenths times 2 equals the fraction with numerator 5 times 2 and denominator 7 equals ten sevenths Line 2: ten sevenths divided by three sevenths equals ten sevenths times seven thirds equals 70 over 21 equals ten thirds equals 2 and one third"/>
          <p:cNvPicPr preferRelativeResize="0"/>
          <p:nvPr/>
        </p:nvPicPr>
        <p:blipFill rotWithShape="1">
          <a:blip r:embed="rId9">
            <a:alphaModFix/>
          </a:blip>
          <a:srcRect b="0" l="-1165" r="48436" t="49494"/>
          <a:stretch/>
        </p:blipFill>
        <p:spPr>
          <a:xfrm>
            <a:off x="1106946" y="8701238"/>
            <a:ext cx="1781105" cy="39121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5}{7}\times2\ =\ \frac{5\times2}{7}=\frac{10}{7}\\&amp;#13;&amp;#10;\frac{10}{7}\div\frac{3}{7}=\frac{10}{7}\times\frac{7}{3}=\frac{70}{21}=\frac{10}{3}=2\frac{1}{3}\end{array}&quot;&gt;&lt;mtable columnalign=&quot;left&quot; columnspacing=&quot;1em&quot; rowspacing=&quot;4pt&quot;&gt;&lt;mtr&gt;&lt;mtd&gt;&lt;mfrac&gt;&lt;mn&gt;5&lt;/mn&gt;&lt;mn&gt;7&lt;/mn&gt;&lt;/mfrac&gt;&lt;mo&gt;×&lt;/mo&gt;&lt;mn&gt;2&lt;/mn&gt;&lt;mtext&gt;&lt;/mtext&gt;&lt;mo&gt;=&lt;/mo&gt;&lt;mtext&gt;&lt;/mtext&gt;&lt;mfrac&gt;&lt;mrow&gt;&lt;mn&gt;5&lt;/mn&gt;&lt;mo&gt;×&lt;/mo&gt;&lt;mn&gt;2&lt;/mn&gt;&lt;/mrow&gt;&lt;mn&gt;7&lt;/mn&gt;&lt;/mfrac&gt;&lt;mo&gt;=&lt;/mo&gt;&lt;mfrac&gt;&lt;mn&gt;10&lt;/mn&gt;&lt;mn&gt;7&lt;/mn&gt;&lt;/mfrac&gt;&lt;/mtd&gt;&lt;/mtr&gt;&lt;mtr&gt;&lt;mtd&gt;&lt;mfrac&gt;&lt;mn&gt;10&lt;/mn&gt;&lt;mn&gt;7&lt;/mn&gt;&lt;/mfrac&gt;&lt;mo&gt;÷&lt;/mo&gt;&lt;mfrac&gt;&lt;mn&gt;3&lt;/mn&gt;&lt;mn&gt;7&lt;/mn&gt;&lt;/mfrac&gt;&lt;mo&gt;=&lt;/mo&gt;&lt;mfrac&gt;&lt;mn&gt;10&lt;/mn&gt;&lt;mn&gt;7&lt;/mn&gt;&lt;/mfrac&gt;&lt;mo&gt;×&lt;/mo&gt;&lt;mfrac&gt;&lt;mn&gt;7&lt;/mn&gt;&lt;mn&gt;3&lt;/mn&gt;&lt;/mfrac&gt;&lt;mo&gt;=&lt;/mo&gt;&lt;mfrac&gt;&lt;mn&gt;70&lt;/mn&gt;&lt;mn&gt;21&lt;/mn&gt;&lt;/mfrac&gt;&lt;mo&gt;=&lt;/mo&gt;&lt;mfrac&gt;&lt;mn&gt;10&lt;/mn&gt;&lt;mn&gt;3&lt;/mn&gt;&lt;/mfrac&gt;&lt;mo&gt;=&lt;/mo&gt;&lt;mn&gt;2&lt;/mn&gt;&lt;mfrac&gt;&lt;mn&gt;1&lt;/mn&gt;&lt;mn&gt;3&lt;/mn&gt;&lt;/mfrac&gt;&lt;/mtd&gt;&lt;/mtr&gt;&lt;/mtable&gt;&lt;/math&gt;" id="394" name="Google Shape;394;p22" title="2 lines Line 1: five sevenths times 2 equals the fraction with numerator 5 times 2 and denominator 7 equals ten sevenths Line 2: ten sevenths divided by three sevenths equals ten sevenths times seven thirds equals 70 over 21 equals ten thirds equals 2 and one third"/>
          <p:cNvPicPr preferRelativeResize="0"/>
          <p:nvPr/>
        </p:nvPicPr>
        <p:blipFill rotWithShape="1">
          <a:blip r:embed="rId9">
            <a:alphaModFix/>
          </a:blip>
          <a:srcRect b="0" l="51281" r="15724" t="49494"/>
          <a:stretch/>
        </p:blipFill>
        <p:spPr>
          <a:xfrm>
            <a:off x="1871532" y="9151075"/>
            <a:ext cx="1114421" cy="391214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22"/>
          <p:cNvSpPr txBox="1"/>
          <p:nvPr/>
        </p:nvSpPr>
        <p:spPr>
          <a:xfrm>
            <a:off x="3562310" y="7918908"/>
            <a:ext cx="309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endParaRPr sz="1200"/>
          </a:p>
        </p:txBody>
      </p:sp>
      <p:pic>
        <p:nvPicPr>
          <p:cNvPr descr="&lt;math xmlns=&quot;http://www.w3.org/1998/Math/MathML&quot; display=&quot;block&quot; data-is-equatio=&quot;1&quot; data-latex=&quot;\begin{array}{l}\frac{5}{7}\times2\ =\ \frac{5\times2}{7}=\frac{10}{7}\\&amp;#13;&amp;#10;\frac{10}{7}\div\frac{3}{7}=\frac{10}{7}\times\frac{7}{3}=\frac{70}{21}=\frac{10}{3}=3\frac{1}{3}\end{array}&quot;&gt;&lt;mtable columnalign=&quot;left&quot; columnspacing=&quot;1em&quot; rowspacing=&quot;4pt&quot;&gt;&lt;mtr&gt;&lt;mtd&gt;&lt;mfrac&gt;&lt;mn&gt;5&lt;/mn&gt;&lt;mn&gt;7&lt;/mn&gt;&lt;/mfrac&gt;&lt;mo&gt;×&lt;/mo&gt;&lt;mn&gt;2&lt;/mn&gt;&lt;mtext&gt;&lt;/mtext&gt;&lt;mo&gt;=&lt;/mo&gt;&lt;mtext&gt;&lt;/mtext&gt;&lt;mfrac&gt;&lt;mrow&gt;&lt;mn&gt;5&lt;/mn&gt;&lt;mo&gt;×&lt;/mo&gt;&lt;mn&gt;2&lt;/mn&gt;&lt;/mrow&gt;&lt;mn&gt;7&lt;/mn&gt;&lt;/mfrac&gt;&lt;mo&gt;=&lt;/mo&gt;&lt;mfrac&gt;&lt;mn&gt;10&lt;/mn&gt;&lt;mn&gt;7&lt;/mn&gt;&lt;/mfrac&gt;&lt;/mtd&gt;&lt;/mtr&gt;&lt;mtr&gt;&lt;mtd&gt;&lt;mfrac&gt;&lt;mn&gt;10&lt;/mn&gt;&lt;mn&gt;7&lt;/mn&gt;&lt;/mfrac&gt;&lt;mo&gt;÷&lt;/mo&gt;&lt;mfrac&gt;&lt;mn&gt;3&lt;/mn&gt;&lt;mn&gt;7&lt;/mn&gt;&lt;/mfrac&gt;&lt;mo&gt;=&lt;/mo&gt;&lt;mfrac&gt;&lt;mn&gt;10&lt;/mn&gt;&lt;mn&gt;7&lt;/mn&gt;&lt;/mfrac&gt;&lt;mo&gt;×&lt;/mo&gt;&lt;mfrac&gt;&lt;mn&gt;7&lt;/mn&gt;&lt;mn&gt;3&lt;/mn&gt;&lt;/mfrac&gt;&lt;mo&gt;=&lt;/mo&gt;&lt;mfrac&gt;&lt;mn&gt;70&lt;/mn&gt;&lt;mn&gt;21&lt;/mn&gt;&lt;/mfrac&gt;&lt;mo&gt;=&lt;/mo&gt;&lt;mfrac&gt;&lt;mn&gt;10&lt;/mn&gt;&lt;mn&gt;3&lt;/mn&gt;&lt;/mfrac&gt;&lt;mo&gt;=&lt;/mo&gt;&lt;mn&gt;3&lt;/mn&gt;&lt;mfrac&gt;&lt;mn&gt;1&lt;/mn&gt;&lt;mn&gt;3&lt;/mn&gt;&lt;/mfrac&gt;&lt;/mtd&gt;&lt;/mtr&gt;&lt;/mtable&gt;&lt;/math&gt;" id="396" name="Google Shape;396;p22" title="2 lines Line 1: five sevenths times 2 equals the fraction with numerator 5 times 2 and denominator 7 equals ten sevenths Line 2: ten sevenths divided by three sevenths equals ten sevenths times seven thirds equals 70 over 21 equals ten thirds equals 3 and one third"/>
          <p:cNvPicPr preferRelativeResize="0"/>
          <p:nvPr/>
        </p:nvPicPr>
        <p:blipFill rotWithShape="1">
          <a:blip r:embed="rId10">
            <a:alphaModFix/>
          </a:blip>
          <a:srcRect b="0" l="83362" r="0" t="53421"/>
          <a:stretch/>
        </p:blipFill>
        <p:spPr>
          <a:xfrm>
            <a:off x="2985963" y="9193524"/>
            <a:ext cx="575608" cy="36953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97" name="Google Shape;397;p22"/>
          <p:cNvCxnSpPr/>
          <p:nvPr/>
        </p:nvCxnSpPr>
        <p:spPr>
          <a:xfrm rot="10800000">
            <a:off x="1106946" y="7013505"/>
            <a:ext cx="0" cy="780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98" name="Google Shape;398;p22"/>
          <p:cNvCxnSpPr/>
          <p:nvPr/>
        </p:nvCxnSpPr>
        <p:spPr>
          <a:xfrm rot="10800000">
            <a:off x="1181638" y="7875223"/>
            <a:ext cx="46707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pic>
        <p:nvPicPr>
          <p:cNvPr descr="&lt;math xmlns=&quot;http://www.w3.org/1998/Math/MathML&quot; display=&quot;block&quot; data-is-equatio=&quot;1&quot; data-latex=&quot;\begin{array}{l}\frac{5}{7}\times2\ =\ \frac{5\times2}{7}=\frac{10}{7}\\&amp;#13;&amp;#10;\frac{10}{7}\div\frac{3}{7}=\frac{10}{7}\times\frac{7}{3}=\frac{70}{21}=\frac{10}{3}=3\frac{1}{3}\end{array}&quot;&gt;&lt;mtable columnalign=&quot;left&quot; columnspacing=&quot;1em&quot; rowspacing=&quot;4pt&quot;&gt;&lt;mtr&gt;&lt;mtd&gt;&lt;mfrac&gt;&lt;mn&gt;5&lt;/mn&gt;&lt;mn&gt;7&lt;/mn&gt;&lt;/mfrac&gt;&lt;mo&gt;×&lt;/mo&gt;&lt;mn&gt;2&lt;/mn&gt;&lt;mtext&gt;&lt;/mtext&gt;&lt;mo&gt;=&lt;/mo&gt;&lt;mtext&gt;&lt;/mtext&gt;&lt;mfrac&gt;&lt;mrow&gt;&lt;mn&gt;5&lt;/mn&gt;&lt;mo&gt;×&lt;/mo&gt;&lt;mn&gt;2&lt;/mn&gt;&lt;/mrow&gt;&lt;mn&gt;7&lt;/mn&gt;&lt;/mfrac&gt;&lt;mo&gt;=&lt;/mo&gt;&lt;mfrac&gt;&lt;mn&gt;10&lt;/mn&gt;&lt;mn&gt;7&lt;/mn&gt;&lt;/mfrac&gt;&lt;/mtd&gt;&lt;/mtr&gt;&lt;mtr&gt;&lt;mtd&gt;&lt;mfrac&gt;&lt;mn&gt;10&lt;/mn&gt;&lt;mn&gt;7&lt;/mn&gt;&lt;/mfrac&gt;&lt;mo&gt;÷&lt;/mo&gt;&lt;mfrac&gt;&lt;mn&gt;3&lt;/mn&gt;&lt;mn&gt;7&lt;/mn&gt;&lt;/mfrac&gt;&lt;mo&gt;=&lt;/mo&gt;&lt;mfrac&gt;&lt;mn&gt;10&lt;/mn&gt;&lt;mn&gt;7&lt;/mn&gt;&lt;/mfrac&gt;&lt;mo&gt;×&lt;/mo&gt;&lt;mfrac&gt;&lt;mn&gt;7&lt;/mn&gt;&lt;mn&gt;3&lt;/mn&gt;&lt;/mfrac&gt;&lt;mo&gt;=&lt;/mo&gt;&lt;mfrac&gt;&lt;mn&gt;70&lt;/mn&gt;&lt;mn&gt;21&lt;/mn&gt;&lt;/mfrac&gt;&lt;mo&gt;=&lt;/mo&gt;&lt;mfrac&gt;&lt;mn&gt;10&lt;/mn&gt;&lt;mn&gt;3&lt;/mn&gt;&lt;/mfrac&gt;&lt;mo&gt;=&lt;/mo&gt;&lt;mn&gt;3&lt;/mn&gt;&lt;mfrac&gt;&lt;mn&gt;1&lt;/mn&gt;&lt;mn&gt;3&lt;/mn&gt;&lt;/mfrac&gt;&lt;/mtd&gt;&lt;/mtr&gt;&lt;/mtable&gt;&lt;/math&gt;" id="399" name="Google Shape;399;p22" title="2 lines Line 1: five sevenths times 2 equals the fraction with numerator 5 times 2 and denominator 7 equals ten sevenths Line 2: ten sevenths divided by three sevenths equals ten sevenths times seven thirds equals 70 over 21 equals ten thirds equals 3 and one third"/>
          <p:cNvPicPr preferRelativeResize="0"/>
          <p:nvPr/>
        </p:nvPicPr>
        <p:blipFill rotWithShape="1">
          <a:blip r:embed="rId10">
            <a:alphaModFix/>
          </a:blip>
          <a:srcRect b="0" l="91563" r="0" t="53421"/>
          <a:stretch/>
        </p:blipFill>
        <p:spPr>
          <a:xfrm>
            <a:off x="3290764" y="7936273"/>
            <a:ext cx="264749" cy="335171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22"/>
          <p:cNvSpPr/>
          <p:nvPr/>
        </p:nvSpPr>
        <p:spPr>
          <a:xfrm>
            <a:off x="3178539" y="7917265"/>
            <a:ext cx="678300" cy="3690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374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1" name="Google Shape;401;p22"/>
          <p:cNvSpPr txBox="1"/>
          <p:nvPr/>
        </p:nvSpPr>
        <p:spPr>
          <a:xfrm>
            <a:off x="2310807" y="4556535"/>
            <a:ext cx="483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/>
          </a:p>
        </p:txBody>
      </p:sp>
      <p:sp>
        <p:nvSpPr>
          <p:cNvPr id="402" name="Google Shape;402;p22"/>
          <p:cNvSpPr txBox="1"/>
          <p:nvPr/>
        </p:nvSpPr>
        <p:spPr>
          <a:xfrm>
            <a:off x="1559275" y="4572000"/>
            <a:ext cx="678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Area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3" name="Google Shape;403;p22"/>
          <p:cNvSpPr txBox="1"/>
          <p:nvPr/>
        </p:nvSpPr>
        <p:spPr>
          <a:xfrm>
            <a:off x="1952025" y="4572000"/>
            <a:ext cx="66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=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4" name="Google Shape;404;p22"/>
          <p:cNvSpPr txBox="1"/>
          <p:nvPr/>
        </p:nvSpPr>
        <p:spPr>
          <a:xfrm>
            <a:off x="2082207" y="7272960"/>
            <a:ext cx="483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/>
          </a:p>
        </p:txBody>
      </p:sp>
      <p:sp>
        <p:nvSpPr>
          <p:cNvPr id="405" name="Google Shape;405;p22"/>
          <p:cNvSpPr txBox="1"/>
          <p:nvPr/>
        </p:nvSpPr>
        <p:spPr>
          <a:xfrm>
            <a:off x="1330675" y="7288425"/>
            <a:ext cx="678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Area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6" name="Google Shape;406;p22"/>
          <p:cNvSpPr txBox="1"/>
          <p:nvPr/>
        </p:nvSpPr>
        <p:spPr>
          <a:xfrm>
            <a:off x="1723425" y="7288425"/>
            <a:ext cx="66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=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7" name="Google Shape;407;p22"/>
          <p:cNvSpPr txBox="1"/>
          <p:nvPr/>
        </p:nvSpPr>
        <p:spPr>
          <a:xfrm>
            <a:off x="5587399" y="4496488"/>
            <a:ext cx="551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/>
          </a:p>
        </p:txBody>
      </p:sp>
      <p:sp>
        <p:nvSpPr>
          <p:cNvPr id="408" name="Google Shape;408;p22"/>
          <p:cNvSpPr txBox="1"/>
          <p:nvPr/>
        </p:nvSpPr>
        <p:spPr>
          <a:xfrm>
            <a:off x="4835875" y="4511963"/>
            <a:ext cx="678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Area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9" name="Google Shape;409;p22"/>
          <p:cNvSpPr txBox="1"/>
          <p:nvPr/>
        </p:nvSpPr>
        <p:spPr>
          <a:xfrm>
            <a:off x="5228625" y="4511963"/>
            <a:ext cx="66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=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orksheet Answers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LD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