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CFA3A9-5883-4EA9-959D-54FB86381EF1}">
  <a:tblStyle styleId="{16CFA3A9-5883-4EA9-959D-54FB86381E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3f3d52ab9_0_9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3f3d52ab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2200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Dividing two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26100"/>
            <a:ext cx="6624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answer to the following. You can use these templates for the area model if it helps.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div\frac{2}{3}&quot;&gt;&lt;mfrac&gt;&lt;mn&gt;3&lt;/mn&gt;&lt;mn&gt;5&lt;/mn&gt;&lt;/mfrac&gt;&lt;mo&gt;÷&lt;/mo&gt;&lt;mfrac&gt;&lt;mn&gt;2&lt;/mn&gt;&lt;mn&gt;3&lt;/mn&gt;&lt;/mfrac&gt;&lt;/math&gt;" id="165" name="Google Shape;165;p20" title="three fifths divided by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825" y="2071000"/>
            <a:ext cx="742696" cy="6151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20"/>
          <p:cNvGraphicFramePr/>
          <p:nvPr/>
        </p:nvGraphicFramePr>
        <p:xfrm>
          <a:off x="3780000" y="285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{16CFA3A9-5883-4EA9-959D-54FB86381EF1}</a:tableStyleId>
              </a:tblPr>
              <a:tblGrid>
                <a:gridCol w="450675"/>
                <a:gridCol w="450675"/>
                <a:gridCol w="450675"/>
                <a:gridCol w="450675"/>
                <a:gridCol w="450675"/>
              </a:tblGrid>
              <a:tr h="62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/>
          <p:nvPr/>
        </p:nvGraphicFramePr>
        <p:xfrm>
          <a:off x="468000" y="278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{16CFA3A9-5883-4EA9-959D-54FB86381EF1}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4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20"/>
          <p:cNvSpPr txBox="1"/>
          <p:nvPr/>
        </p:nvSpPr>
        <p:spPr>
          <a:xfrm>
            <a:off x="468000" y="4437925"/>
            <a:ext cx="66240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 to the following. You can use these templates for the area model if it helps.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7}\div\frac{3}{5}&quot;&gt;&lt;mfrac&gt;&lt;mn&gt;3&lt;/mn&gt;&lt;mn&gt;7&lt;/mn&gt;&lt;/mfrac&gt;&lt;mo&gt;÷&lt;/mo&gt;&lt;mfrac&gt;&lt;mn&gt;3&lt;/mn&gt;&lt;mn&gt;5&lt;/mn&gt;&lt;/mfrac&gt;&lt;/math&gt;" id="169" name="Google Shape;169;p20" title="three sevenths divided by 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2175" y="4703462"/>
            <a:ext cx="836737" cy="6929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" name="Google Shape;170;p20"/>
          <p:cNvGraphicFramePr/>
          <p:nvPr/>
        </p:nvGraphicFramePr>
        <p:xfrm>
          <a:off x="3779988" y="573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{16CFA3A9-5883-4EA9-959D-54FB86381EF1}</a:tableStyleId>
              </a:tblPr>
              <a:tblGrid>
                <a:gridCol w="426125"/>
                <a:gridCol w="426125"/>
                <a:gridCol w="426125"/>
                <a:gridCol w="426125"/>
                <a:gridCol w="426125"/>
                <a:gridCol w="426125"/>
                <a:gridCol w="426125"/>
              </a:tblGrid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0"/>
          <p:cNvGraphicFramePr/>
          <p:nvPr/>
        </p:nvGraphicFramePr>
        <p:xfrm>
          <a:off x="462494" y="54801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{16CFA3A9-5883-4EA9-959D-54FB86381EF1}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/>
        </p:nvSpPr>
        <p:spPr>
          <a:xfrm>
            <a:off x="462500" y="7522625"/>
            <a:ext cx="66240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answer to the following by drawing area models. Use squared paper if it helps.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\div\frac{4}{5}&quot;&gt;&lt;mfrac&gt;&lt;mn&gt;3&lt;/mn&gt;&lt;mn&gt;4&lt;/mn&gt;&lt;/mfrac&gt;&lt;mo&gt;÷&lt;/mo&gt;&lt;mfrac&gt;&lt;mn&gt;4&lt;/mn&gt;&lt;mn&gt;5&lt;/mn&gt;&lt;/mfrac&gt;&lt;/math&gt;" id="173" name="Google Shape;173;p20" title="three fourths divided by 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0538" y="7791875"/>
            <a:ext cx="835650" cy="69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0"/>
          <p:cNvCxnSpPr/>
          <p:nvPr/>
        </p:nvCxnSpPr>
        <p:spPr>
          <a:xfrm>
            <a:off x="4692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Dividing a fraction by a fraction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1057200"/>
            <a:ext cx="66240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8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Reciprocals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3744593" y="1637568"/>
            <a:ext cx="18993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   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83" name="Google Shape;183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39790" r="45490" t="0"/>
          <a:stretch/>
        </p:blipFill>
        <p:spPr>
          <a:xfrm>
            <a:off x="4158850" y="1615998"/>
            <a:ext cx="411191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84" name="Google Shape;184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18986" r="73760" t="0"/>
          <a:stretch/>
        </p:blipFill>
        <p:spPr>
          <a:xfrm>
            <a:off x="4230204" y="2266445"/>
            <a:ext cx="202634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\ \ \ \frac{4}{15}\ \ \frac{15}{4}&quot;&gt;&lt;mfrac&gt;&lt;mn&gt;1&lt;/mn&gt;&lt;mn&gt;7&lt;/mn&gt;&lt;/mfrac&gt;&lt;mtext&gt;&lt;/mtext&gt;&lt;mtext&gt;&lt;/mtext&gt;&lt;mtext&gt;&lt;/mtext&gt;&lt;mfrac&gt;&lt;mn&gt;4&lt;/mn&gt;&lt;mn&gt;15&lt;/mn&gt;&lt;/mfrac&gt;&lt;mtext&gt;&lt;/mtext&gt;&lt;mtext&gt;&lt;/mtext&gt;&lt;mfrac&gt;&lt;mn&gt;15&lt;/mn&gt;&lt;mn&gt;4&lt;/mn&gt;&lt;/mfrac&gt;&lt;/math&gt;" id="185" name="Google Shape;185;p21" title="one seventh 4 over 15 fifteen fourths"/>
          <p:cNvPicPr preferRelativeResize="0"/>
          <p:nvPr/>
        </p:nvPicPr>
        <p:blipFill rotWithShape="1">
          <a:blip r:embed="rId4">
            <a:alphaModFix/>
          </a:blip>
          <a:srcRect b="0" l="37985" r="37982" t="0"/>
          <a:stretch/>
        </p:blipFill>
        <p:spPr>
          <a:xfrm>
            <a:off x="4245339" y="2932982"/>
            <a:ext cx="268492" cy="5088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468000" y="4239350"/>
            <a:ext cx="6624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reciprocals of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87" name="Google Shape;187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0" r="90761" t="0"/>
          <a:stretch/>
        </p:blipFill>
        <p:spPr>
          <a:xfrm>
            <a:off x="1009872" y="4775379"/>
            <a:ext cx="486842" cy="543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88" name="Google Shape;188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35329" r="56957" t="0"/>
          <a:stretch/>
        </p:blipFill>
        <p:spPr>
          <a:xfrm>
            <a:off x="928134" y="5451640"/>
            <a:ext cx="406485" cy="543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89" name="Google Shape;189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69868" r="19691" t="0"/>
          <a:stretch/>
        </p:blipFill>
        <p:spPr>
          <a:xfrm>
            <a:off x="874175" y="6078323"/>
            <a:ext cx="486842" cy="48126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468000" y="6862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Using the cards only once, make the following statements true.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2138169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609648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081127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552606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024085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4495564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967045" y="7146700"/>
            <a:ext cx="4416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924302" y="7891007"/>
            <a:ext cx="369900" cy="397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925448" y="8363337"/>
            <a:ext cx="369900" cy="397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3664" y="8117425"/>
            <a:ext cx="54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200"/>
          </a:p>
        </p:txBody>
      </p:sp>
      <p:sp>
        <p:nvSpPr>
          <p:cNvPr id="201" name="Google Shape;201;p21"/>
          <p:cNvSpPr/>
          <p:nvPr/>
        </p:nvSpPr>
        <p:spPr>
          <a:xfrm>
            <a:off x="5200398" y="7891000"/>
            <a:ext cx="358500" cy="385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200399" y="8371448"/>
            <a:ext cx="358500" cy="385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841040" y="8375952"/>
            <a:ext cx="358500" cy="385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841050" y="7891000"/>
            <a:ext cx="353100" cy="385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1"/>
          <p:cNvCxnSpPr/>
          <p:nvPr/>
        </p:nvCxnSpPr>
        <p:spPr>
          <a:xfrm>
            <a:off x="1891710" y="8322542"/>
            <a:ext cx="441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5172144" y="8322462"/>
            <a:ext cx="450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1"/>
          <p:cNvCxnSpPr/>
          <p:nvPr/>
        </p:nvCxnSpPr>
        <p:spPr>
          <a:xfrm>
            <a:off x="5794971" y="8322462"/>
            <a:ext cx="450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1"/>
          <p:cNvSpPr/>
          <p:nvPr/>
        </p:nvSpPr>
        <p:spPr>
          <a:xfrm>
            <a:off x="2614748" y="8123812"/>
            <a:ext cx="369900" cy="397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>
            <a:off x="4692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2290271" y="8117425"/>
            <a:ext cx="48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 sz="1200"/>
          </a:p>
        </p:txBody>
      </p:sp>
      <p:sp>
        <p:nvSpPr>
          <p:cNvPr id="212" name="Google Shape;212;p21"/>
          <p:cNvSpPr txBox="1"/>
          <p:nvPr/>
        </p:nvSpPr>
        <p:spPr>
          <a:xfrm>
            <a:off x="784350" y="8117425"/>
            <a:ext cx="9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eciproca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/>
          </a:p>
        </p:txBody>
      </p:sp>
      <p:sp>
        <p:nvSpPr>
          <p:cNvPr id="213" name="Google Shape;213;p21"/>
          <p:cNvSpPr txBox="1"/>
          <p:nvPr/>
        </p:nvSpPr>
        <p:spPr>
          <a:xfrm>
            <a:off x="1622450" y="811742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         </a:t>
            </a:r>
            <a:endParaRPr sz="1200"/>
          </a:p>
        </p:txBody>
      </p:sp>
      <p:sp>
        <p:nvSpPr>
          <p:cNvPr id="214" name="Google Shape;214;p21"/>
          <p:cNvSpPr txBox="1"/>
          <p:nvPr/>
        </p:nvSpPr>
        <p:spPr>
          <a:xfrm>
            <a:off x="3707964" y="8117425"/>
            <a:ext cx="54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200"/>
          </a:p>
        </p:txBody>
      </p:sp>
      <p:sp>
        <p:nvSpPr>
          <p:cNvPr id="215" name="Google Shape;215;p21"/>
          <p:cNvSpPr txBox="1"/>
          <p:nvPr/>
        </p:nvSpPr>
        <p:spPr>
          <a:xfrm>
            <a:off x="5534571" y="8117425"/>
            <a:ext cx="48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 sz="1200"/>
          </a:p>
        </p:txBody>
      </p:sp>
      <p:sp>
        <p:nvSpPr>
          <p:cNvPr id="216" name="Google Shape;216;p21"/>
          <p:cNvSpPr txBox="1"/>
          <p:nvPr/>
        </p:nvSpPr>
        <p:spPr>
          <a:xfrm>
            <a:off x="4028650" y="8117425"/>
            <a:ext cx="9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eciproca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/>
          </a:p>
        </p:txBody>
      </p:sp>
      <p:sp>
        <p:nvSpPr>
          <p:cNvPr id="217" name="Google Shape;217;p21"/>
          <p:cNvSpPr txBox="1"/>
          <p:nvPr/>
        </p:nvSpPr>
        <p:spPr>
          <a:xfrm>
            <a:off x="4866750" y="811742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         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sp>
        <p:nvSpPr>
          <p:cNvPr id="224" name="Google Shape;22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468000" y="1057200"/>
            <a:ext cx="6624000" cy="20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answers to the following, simplifying your answer where necessary.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Division by multiplying by the reciprocal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228" name="Google Shape;228;p22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3">
            <a:alphaModFix/>
          </a:blip>
          <a:srcRect b="0" l="0" r="77899" t="0"/>
          <a:stretch/>
        </p:blipFill>
        <p:spPr>
          <a:xfrm>
            <a:off x="774706" y="2658222"/>
            <a:ext cx="810329" cy="51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229" name="Google Shape;229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4">
            <a:alphaModFix/>
          </a:blip>
          <a:srcRect b="0" l="0" r="74019" t="45940"/>
          <a:stretch/>
        </p:blipFill>
        <p:spPr>
          <a:xfrm>
            <a:off x="704150" y="1873237"/>
            <a:ext cx="1039995" cy="548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230" name="Google Shape;230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4">
            <a:alphaModFix/>
          </a:blip>
          <a:srcRect b="51402" l="0" r="79388" t="0"/>
          <a:stretch/>
        </p:blipFill>
        <p:spPr>
          <a:xfrm>
            <a:off x="809995" y="1278601"/>
            <a:ext cx="869759" cy="5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468000" y="3434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are some areas of some shapes. Work out the missing lengths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60325" y="3784538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3785575" y="3774457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1423106" y="4345375"/>
            <a:ext cx="1405500" cy="8529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643143" y="4353920"/>
            <a:ext cx="2010000" cy="6699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frac{3}{4}\div\frac{2}{5}=\frac{11}{4}\div\frac{2}{5}=\frac{11}{4}\times\frac{5}{2}=\frac{55}{8}=6\frac{7}{8}&quot;&gt;&lt;mn&gt;2&lt;/mn&gt;&lt;mfrac&gt;&lt;mn&gt;3&lt;/mn&gt;&lt;mn&gt;4&lt;/mn&gt;&lt;/mfrac&gt;&lt;mo&gt;÷&lt;/mo&gt;&lt;mfrac&gt;&lt;mn&gt;2&lt;/mn&gt;&lt;mn&gt;5&lt;/mn&gt;&lt;/mfrac&gt;&lt;mo&gt;=&lt;/mo&gt;&lt;mfrac&gt;&lt;mn&gt;11&lt;/mn&gt;&lt;mn&gt;4&lt;/mn&gt;&lt;/mfrac&gt;&lt;mo&gt;÷&lt;/mo&gt;&lt;mfrac&gt;&lt;mn&gt;2&lt;/mn&gt;&lt;mn&gt;5&lt;/mn&gt;&lt;/mfrac&gt;&lt;mo&gt;=&lt;/mo&gt;&lt;mfrac&gt;&lt;mn&gt;11&lt;/mn&gt;&lt;mn&gt;4&lt;/mn&gt;&lt;/mfrac&gt;&lt;mo&gt;×&lt;/mo&gt;&lt;mfrac&gt;&lt;mn&gt;5&lt;/mn&gt;&lt;mn&gt;2&lt;/mn&gt;&lt;/mfrac&gt;&lt;mo&gt;=&lt;/mo&gt;&lt;mfrac&gt;&lt;mn&gt;55&lt;/mn&gt;&lt;mn&gt;8&lt;/mn&gt;&lt;/mfrac&gt;&lt;mo&gt;=&lt;/mo&gt;&lt;mn&gt;6&lt;/mn&gt;&lt;mfrac&gt;&lt;mn&gt;7&lt;/mn&gt;&lt;mn&gt;8&lt;/mn&gt;&lt;/mfrac&gt;&lt;/math&gt;" id="236" name="Google Shape;236;p22" title="2 and three fourths divided by two fifths equals eleven fourths divided by two fifths equals eleven fourths times five halves equals 55 over 8 equals 6 and seven eighths"/>
          <p:cNvPicPr preferRelativeResize="0"/>
          <p:nvPr/>
        </p:nvPicPr>
        <p:blipFill rotWithShape="1">
          <a:blip r:embed="rId5">
            <a:alphaModFix/>
          </a:blip>
          <a:srcRect b="0" l="0" r="92447" t="0"/>
          <a:stretch/>
        </p:blipFill>
        <p:spPr>
          <a:xfrm>
            <a:off x="5455641" y="4523900"/>
            <a:ext cx="205355" cy="329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237" name="Google Shape;237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6">
            <a:alphaModFix/>
          </a:blip>
          <a:srcRect b="0" l="0" r="91800" t="0"/>
          <a:stretch/>
        </p:blipFill>
        <p:spPr>
          <a:xfrm>
            <a:off x="2186992" y="4506941"/>
            <a:ext cx="220407" cy="49622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2310807" y="4556535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cxnSp>
        <p:nvCxnSpPr>
          <p:cNvPr id="239" name="Google Shape;239;p22"/>
          <p:cNvCxnSpPr/>
          <p:nvPr/>
        </p:nvCxnSpPr>
        <p:spPr>
          <a:xfrm rot="10800000">
            <a:off x="4642202" y="4284116"/>
            <a:ext cx="2009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0" name="Google Shape;240;p22"/>
          <p:cNvCxnSpPr/>
          <p:nvPr/>
        </p:nvCxnSpPr>
        <p:spPr>
          <a:xfrm rot="10800000">
            <a:off x="1359081" y="4344490"/>
            <a:ext cx="0" cy="86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241" name="Google Shape;241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6">
            <a:alphaModFix/>
          </a:blip>
          <a:srcRect b="0" l="15049" r="76489" t="0"/>
          <a:stretch/>
        </p:blipFill>
        <p:spPr>
          <a:xfrm>
            <a:off x="810000" y="4539807"/>
            <a:ext cx="197301" cy="43046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1035566" y="4600697"/>
            <a:ext cx="3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sp>
        <p:nvSpPr>
          <p:cNvPr id="243" name="Google Shape;243;p22"/>
          <p:cNvSpPr txBox="1"/>
          <p:nvPr/>
        </p:nvSpPr>
        <p:spPr>
          <a:xfrm>
            <a:off x="4220189" y="4518139"/>
            <a:ext cx="4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/>
          </a:p>
        </p:txBody>
      </p:sp>
      <p:cxnSp>
        <p:nvCxnSpPr>
          <p:cNvPr id="244" name="Google Shape;244;p22"/>
          <p:cNvCxnSpPr/>
          <p:nvPr/>
        </p:nvCxnSpPr>
        <p:spPr>
          <a:xfrm rot="10800000">
            <a:off x="1445763" y="4278035"/>
            <a:ext cx="138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5" name="Google Shape;245;p22"/>
          <p:cNvCxnSpPr/>
          <p:nvPr/>
        </p:nvCxnSpPr>
        <p:spPr>
          <a:xfrm rot="10800000">
            <a:off x="4573898" y="4354073"/>
            <a:ext cx="0" cy="67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246" name="Google Shape;246;p22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0000" y="4518166"/>
            <a:ext cx="109761" cy="3594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455151" y="6633722"/>
            <a:ext cx="4146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181441" y="7009954"/>
            <a:ext cx="4672500" cy="778800"/>
          </a:xfrm>
          <a:prstGeom prst="rtTriangle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249" name="Google Shape;249;p2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8">
            <a:alphaModFix/>
          </a:blip>
          <a:srcRect b="53323" l="0" r="95245" t="0"/>
          <a:stretch/>
        </p:blipFill>
        <p:spPr>
          <a:xfrm>
            <a:off x="1952037" y="7272960"/>
            <a:ext cx="191740" cy="431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250" name="Google Shape;250;p2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8">
            <a:alphaModFix/>
          </a:blip>
          <a:srcRect b="0" l="14513" r="80998" t="49018"/>
          <a:stretch/>
        </p:blipFill>
        <p:spPr>
          <a:xfrm>
            <a:off x="642010" y="7187995"/>
            <a:ext cx="165810" cy="43191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787200" y="7214534"/>
            <a:ext cx="36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sp>
        <p:nvSpPr>
          <p:cNvPr id="252" name="Google Shape;252;p22"/>
          <p:cNvSpPr txBox="1"/>
          <p:nvPr/>
        </p:nvSpPr>
        <p:spPr>
          <a:xfrm>
            <a:off x="3342917" y="7918900"/>
            <a:ext cx="52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cxnSp>
        <p:nvCxnSpPr>
          <p:cNvPr id="253" name="Google Shape;253;p22"/>
          <p:cNvCxnSpPr/>
          <p:nvPr/>
        </p:nvCxnSpPr>
        <p:spPr>
          <a:xfrm rot="10800000">
            <a:off x="1106946" y="7013505"/>
            <a:ext cx="0" cy="7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4" name="Google Shape;254;p22"/>
          <p:cNvCxnSpPr/>
          <p:nvPr/>
        </p:nvCxnSpPr>
        <p:spPr>
          <a:xfrm rot="10800000">
            <a:off x="1181638" y="7875223"/>
            <a:ext cx="4670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5" name="Google Shape;255;p22"/>
          <p:cNvSpPr txBox="1"/>
          <p:nvPr/>
        </p:nvSpPr>
        <p:spPr>
          <a:xfrm>
            <a:off x="1861392" y="3873988"/>
            <a:ext cx="52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sp>
        <p:nvSpPr>
          <p:cNvPr id="256" name="Google Shape;256;p22"/>
          <p:cNvSpPr txBox="1"/>
          <p:nvPr/>
        </p:nvSpPr>
        <p:spPr>
          <a:xfrm>
            <a:off x="5261967" y="3878263"/>
            <a:ext cx="52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sp>
        <p:nvSpPr>
          <p:cNvPr id="257" name="Google Shape;257;p22"/>
          <p:cNvSpPr txBox="1"/>
          <p:nvPr/>
        </p:nvSpPr>
        <p:spPr>
          <a:xfrm>
            <a:off x="1559275" y="4572000"/>
            <a:ext cx="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1952025" y="4572000"/>
            <a:ext cx="6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2082207" y="727296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sp>
        <p:nvSpPr>
          <p:cNvPr id="260" name="Google Shape;260;p22"/>
          <p:cNvSpPr txBox="1"/>
          <p:nvPr/>
        </p:nvSpPr>
        <p:spPr>
          <a:xfrm>
            <a:off x="1330675" y="7288425"/>
            <a:ext cx="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1723425" y="7288425"/>
            <a:ext cx="6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587399" y="4496488"/>
            <a:ext cx="5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sp>
        <p:nvSpPr>
          <p:cNvPr id="263" name="Google Shape;263;p22"/>
          <p:cNvSpPr txBox="1"/>
          <p:nvPr/>
        </p:nvSpPr>
        <p:spPr>
          <a:xfrm>
            <a:off x="4835875" y="4511963"/>
            <a:ext cx="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5228625" y="4511963"/>
            <a:ext cx="6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