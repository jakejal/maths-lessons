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8E7789-18E2-4C95-A273-DDE500A12A2A}">
  <a:tblStyle styleId="{C98E7789-18E2-4C95-A273-DDE500A12A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db77c63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db77c63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db77c63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db77c63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9db77c63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db77c63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db77c631c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db77c631c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9db77c631c_1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9db77c631c_1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9db77c631c_1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9db77c631c_1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9db77c631c_1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9db77c631c_1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9db77c631c_1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9db77c631c_1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9db77c631c_1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9db77c631c_1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9db77d1ba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db77d1ba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db77d1ba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db77d1ba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9db77d1ba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9db77d1ba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9db77d1ba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9db77d1ba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9db77d1ba1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db77d1ba1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9db77d1ba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9db77d1ba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9db77d1ba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9db77d1ba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9db77d1ba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9db77d1ba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9db77d1ba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9db77d1ba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9e086ab0a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9e086ab0a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9db77d1ba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9db77d1ba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9db77d1ba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9db77d1ba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9e1e7a4f3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9e1e7a4f3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9e1e7a4f3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9e1e7a4f3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9e1e7a4f3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e1e7a4f3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9e1e7a4f3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9e1e7a4f3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9db77c631c_1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db77c631c_1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9db77c631c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9db77c631c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9ea0fee72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9ea0fee72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9ea0fee72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9ea0fee72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9f24f565c8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9f24f565c8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a1f95a358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a1f95a358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9e1e7a4f3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9e1e7a4f3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a1f95a358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a1f95a358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9e1e7a4f3b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9e1e7a4f3b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9db77d1b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9db77d1b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29db77d1ba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29db77d1ba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9f24f565c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9f24f565c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9f24f565c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9f24f565c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a3c7b095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a3c7b095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78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23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29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62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6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Relationship Id="rId5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Relationship Id="rId4" Type="http://schemas.openxmlformats.org/officeDocument/2006/relationships/image" Target="../media/image8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9.png"/><Relationship Id="rId4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Relationship Id="rId4" Type="http://schemas.openxmlformats.org/officeDocument/2006/relationships/image" Target="../media/image66.png"/><Relationship Id="rId5" Type="http://schemas.openxmlformats.org/officeDocument/2006/relationships/image" Target="../media/image57.png"/><Relationship Id="rId6" Type="http://schemas.openxmlformats.org/officeDocument/2006/relationships/image" Target="../media/image8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9.png"/><Relationship Id="rId4" Type="http://schemas.openxmlformats.org/officeDocument/2006/relationships/image" Target="../media/image66.png"/><Relationship Id="rId5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png"/><Relationship Id="rId4" Type="http://schemas.openxmlformats.org/officeDocument/2006/relationships/image" Target="../media/image84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0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9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93.png"/><Relationship Id="rId6" Type="http://schemas.openxmlformats.org/officeDocument/2006/relationships/image" Target="../media/image9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0.png"/><Relationship Id="rId4" Type="http://schemas.openxmlformats.org/officeDocument/2006/relationships/image" Target="../media/image9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the division of fractions to divide a fraction by a fraction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5\ \ \ \ \ \ \ \ \ \ \frac{1}{5}\\&amp;#13;&amp;#10;5\ \times\frac{1}{5}=1\end{array}&quot;&gt;&lt;mtable columnalign=&quot;left&quot; columnspacing=&quot;1em&quot; rowspacing=&quot;4pt&quot;&gt;&lt;mtr&gt;&lt;mtd&gt;&lt;mn&gt;5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5&lt;/mn&gt;&lt;/mfrac&gt;&lt;/mtd&gt;&lt;/mtr&gt;&lt;mtr&gt;&lt;mtd&gt;&lt;mn&gt;5&lt;/mn&gt;&lt;mtext&gt;&lt;/mtext&gt;&lt;mo&gt;×&lt;/mo&gt;&lt;mfrac&gt;&lt;mn&gt;1&lt;/mn&gt;&lt;mn&gt;5&lt;/mn&gt;&lt;/mfrac&gt;&lt;mo&gt;=&lt;/mo&gt;&lt;mn&gt;1&lt;/mn&gt;&lt;/mtd&gt;&lt;/mtr&gt;&lt;/mtable&gt;&lt;/math&gt;" id="766" name="Google Shape;766;p67" title="2 lines Line 1: 5 one fifth Line 2: 5 times one fifth equal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50" y="2984550"/>
            <a:ext cx="1663500" cy="12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7752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lang="en-GB"/>
              <a:t>reciprocal</a:t>
            </a:r>
            <a:r>
              <a:rPr b="0" lang="en-GB"/>
              <a:t> is the multiplicative inverse of any non-zero number. Any non-zero number multiplied by its reciprocal is equal to 1.</a:t>
            </a:r>
            <a:endParaRPr b="0"/>
          </a:p>
        </p:txBody>
      </p:sp>
      <p:sp>
        <p:nvSpPr>
          <p:cNvPr id="768" name="Google Shape;768;p67"/>
          <p:cNvSpPr txBox="1"/>
          <p:nvPr/>
        </p:nvSpPr>
        <p:spPr>
          <a:xfrm>
            <a:off x="781200" y="23851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769" name="Google Shape;769;p67"/>
          <p:cNvSpPr txBox="1"/>
          <p:nvPr/>
        </p:nvSpPr>
        <p:spPr>
          <a:xfrm>
            <a:off x="5774400" y="2385150"/>
            <a:ext cx="253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</a:t>
            </a:r>
            <a:endParaRPr/>
          </a:p>
        </p:txBody>
      </p:sp>
      <p:sp>
        <p:nvSpPr>
          <p:cNvPr id="770" name="Google Shape;770;p67"/>
          <p:cNvSpPr txBox="1"/>
          <p:nvPr/>
        </p:nvSpPr>
        <p:spPr>
          <a:xfrm>
            <a:off x="3369322" y="2308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xample</a:t>
            </a:r>
            <a:endParaRPr/>
          </a:p>
        </p:txBody>
      </p:sp>
      <p:sp>
        <p:nvSpPr>
          <p:cNvPr id="771" name="Google Shape;771;p67"/>
          <p:cNvSpPr txBox="1"/>
          <p:nvPr/>
        </p:nvSpPr>
        <p:spPr>
          <a:xfrm>
            <a:off x="749150" y="3060750"/>
            <a:ext cx="140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and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2}{3}\ \ \ \ \ \ \ \ \ \frac{3}{2}\\&amp;#13;&amp;#10;\frac{2}{3}\ \times\frac{3}{2}=1\end{array}&quot;&gt;&lt;mtable columnalign=&quot;left&quot; columnspacing=&quot;1em&quot; rowspacing=&quot;4pt&quot;&gt;&lt;mtr&gt;&lt;mtd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2&lt;/mn&gt;&lt;/mfrac&gt;&lt;/mtd&gt;&lt;/mtr&gt;&lt;mtr&gt;&lt;mtd&gt;&lt;mfrac&gt;&lt;mn&gt;2&lt;/mn&gt;&lt;mn&gt;3&lt;/mn&gt;&lt;/mfrac&gt;&lt;mtext&gt;&lt;/mtext&gt;&lt;mo&gt;×&lt;/mo&gt;&lt;mfrac&gt;&lt;mn&gt;3&lt;/mn&gt;&lt;mn&gt;2&lt;/mn&gt;&lt;/mfrac&gt;&lt;mo&gt;=&lt;/mo&gt;&lt;mn&gt;1&lt;/mn&gt;&lt;/mtd&gt;&lt;/mtr&gt;&lt;/mtable&gt;&lt;/math&gt;" id="772" name="Google Shape;772;p67" title="2 lines Line 1: two thirds three halves Line 2: two thirds times three halves equal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775" y="2984551"/>
            <a:ext cx="1715305" cy="12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367500" y="3060750"/>
            <a:ext cx="140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and </a:t>
            </a:r>
            <a:endParaRPr/>
          </a:p>
        </p:txBody>
      </p:sp>
      <p:cxnSp>
        <p:nvCxnSpPr>
          <p:cNvPr id="774" name="Google Shape;774;p67"/>
          <p:cNvCxnSpPr/>
          <p:nvPr/>
        </p:nvCxnSpPr>
        <p:spPr>
          <a:xfrm>
            <a:off x="2795075" y="2783975"/>
            <a:ext cx="0" cy="18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67"/>
          <p:cNvCxnSpPr/>
          <p:nvPr/>
        </p:nvCxnSpPr>
        <p:spPr>
          <a:xfrm>
            <a:off x="5494425" y="2783975"/>
            <a:ext cx="0" cy="18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4\ \ \ \ \ \ \ \ \ \ 0.4\\&amp;#13;&amp;#10;4\ \times0.4\ \ne\ 1\end{array}&quot;&gt;&lt;mtable columnalign=&quot;left&quot; columnspacing=&quot;1em&quot; rowspacing=&quot;4pt&quot;&gt;&lt;mtr&gt;&lt;mtd&gt;&lt;mn&gt;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0.4&lt;/mn&gt;&lt;/mtd&gt;&lt;/mtr&gt;&lt;mtr&gt;&lt;mtd&gt;&lt;mn&gt;4&lt;/mn&gt;&lt;mtext&gt;&lt;/mtext&gt;&lt;mo&gt;×&lt;/mo&gt;&lt;mn&gt;0.4&lt;/mn&gt;&lt;mtext&gt;&lt;/mtext&gt;&lt;mo&gt;≠&lt;/mo&gt;&lt;mtext&gt;&lt;/mtext&gt;&lt;mn&gt;1&lt;/mn&gt;&lt;/mtd&gt;&lt;/mtr&gt;&lt;/mtable&gt;&lt;/math&gt;" id="776" name="Google Shape;776;p67" title="2 lines Line 1: 4 0.4 Line 2: 4 times 0.4 is not equal to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3964" y="3173888"/>
            <a:ext cx="2032575" cy="8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7"/>
          <p:cNvSpPr txBox="1"/>
          <p:nvPr/>
        </p:nvSpPr>
        <p:spPr>
          <a:xfrm>
            <a:off x="6023975" y="3060750"/>
            <a:ext cx="140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and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783" name="Google Shape;78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784" name="Google Shape;784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785" name="Google Shape;78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58" y="17517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24000" y="7593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a few ways to think about division.</a:t>
            </a:r>
            <a:endParaRPr/>
          </a:p>
        </p:txBody>
      </p:sp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35787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Essentially, we are finding out how many times the divisor fits into the dividend. We can show division of fractions using this simple concept. </a:t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1638000" y="1320250"/>
            <a:ext cx="1983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724400" y="1853328"/>
            <a:ext cx="265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2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3235750" y="2189928"/>
            <a:ext cx="265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grouped into 2s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7" name="Google Shape;797;p69"/>
          <p:cNvGrpSpPr/>
          <p:nvPr/>
        </p:nvGrpSpPr>
        <p:grpSpPr>
          <a:xfrm>
            <a:off x="904501" y="2296291"/>
            <a:ext cx="225707" cy="956250"/>
            <a:chOff x="1037151" y="3115387"/>
            <a:chExt cx="225707" cy="956250"/>
          </a:xfrm>
        </p:grpSpPr>
        <p:sp>
          <p:nvSpPr>
            <p:cNvPr id="798" name="Google Shape;798;p69"/>
            <p:cNvSpPr/>
            <p:nvPr/>
          </p:nvSpPr>
          <p:spPr>
            <a:xfrm>
              <a:off x="1037151" y="311538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1041833" y="335743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1041833" y="3605201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1044158" y="385293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2" name="Google Shape;802;p69"/>
          <p:cNvGrpSpPr/>
          <p:nvPr/>
        </p:nvGrpSpPr>
        <p:grpSpPr>
          <a:xfrm>
            <a:off x="1912212" y="2296291"/>
            <a:ext cx="225707" cy="956250"/>
            <a:chOff x="2044862" y="3115387"/>
            <a:chExt cx="225707" cy="956250"/>
          </a:xfrm>
        </p:grpSpPr>
        <p:sp>
          <p:nvSpPr>
            <p:cNvPr id="803" name="Google Shape;803;p69"/>
            <p:cNvSpPr/>
            <p:nvPr/>
          </p:nvSpPr>
          <p:spPr>
            <a:xfrm>
              <a:off x="2044862" y="311538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2049544" y="335743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2049544" y="3605201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2051869" y="3852937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3292658" y="2730891"/>
            <a:ext cx="221025" cy="466436"/>
            <a:chOff x="3425308" y="3481339"/>
            <a:chExt cx="221025" cy="466436"/>
          </a:xfrm>
        </p:grpSpPr>
        <p:sp>
          <p:nvSpPr>
            <p:cNvPr id="808" name="Google Shape;808;p69"/>
            <p:cNvSpPr/>
            <p:nvPr/>
          </p:nvSpPr>
          <p:spPr>
            <a:xfrm>
              <a:off x="3425308" y="3481339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3427633" y="3729074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0" name="Google Shape;810;p69"/>
          <p:cNvGrpSpPr/>
          <p:nvPr/>
        </p:nvGrpSpPr>
        <p:grpSpPr>
          <a:xfrm>
            <a:off x="3788283" y="2730879"/>
            <a:ext cx="221025" cy="466436"/>
            <a:chOff x="3920933" y="3481326"/>
            <a:chExt cx="221025" cy="466436"/>
          </a:xfrm>
        </p:grpSpPr>
        <p:sp>
          <p:nvSpPr>
            <p:cNvPr id="811" name="Google Shape;811;p69"/>
            <p:cNvSpPr/>
            <p:nvPr/>
          </p:nvSpPr>
          <p:spPr>
            <a:xfrm>
              <a:off x="3920933" y="3481326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9"/>
            <p:cNvSpPr/>
            <p:nvPr/>
          </p:nvSpPr>
          <p:spPr>
            <a:xfrm>
              <a:off x="3923258" y="3729062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3" name="Google Shape;813;p69"/>
          <p:cNvGrpSpPr/>
          <p:nvPr/>
        </p:nvGrpSpPr>
        <p:grpSpPr>
          <a:xfrm>
            <a:off x="4320558" y="2730891"/>
            <a:ext cx="221025" cy="466436"/>
            <a:chOff x="4495083" y="3481339"/>
            <a:chExt cx="221025" cy="466436"/>
          </a:xfrm>
        </p:grpSpPr>
        <p:sp>
          <p:nvSpPr>
            <p:cNvPr id="814" name="Google Shape;814;p69"/>
            <p:cNvSpPr/>
            <p:nvPr/>
          </p:nvSpPr>
          <p:spPr>
            <a:xfrm>
              <a:off x="4495083" y="3481339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4497408" y="3729074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69"/>
          <p:cNvGrpSpPr/>
          <p:nvPr/>
        </p:nvGrpSpPr>
        <p:grpSpPr>
          <a:xfrm>
            <a:off x="4839658" y="2730879"/>
            <a:ext cx="221025" cy="466436"/>
            <a:chOff x="4972308" y="3481326"/>
            <a:chExt cx="221025" cy="466436"/>
          </a:xfrm>
        </p:grpSpPr>
        <p:sp>
          <p:nvSpPr>
            <p:cNvPr id="817" name="Google Shape;817;p69"/>
            <p:cNvSpPr/>
            <p:nvPr/>
          </p:nvSpPr>
          <p:spPr>
            <a:xfrm>
              <a:off x="4972308" y="3481326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69"/>
            <p:cNvSpPr/>
            <p:nvPr/>
          </p:nvSpPr>
          <p:spPr>
            <a:xfrm>
              <a:off x="4974633" y="3729062"/>
              <a:ext cx="218700" cy="2187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19" name="Google Shape;819;p69"/>
          <p:cNvGraphicFramePr/>
          <p:nvPr/>
        </p:nvGraphicFramePr>
        <p:xfrm>
          <a:off x="6195825" y="245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82875"/>
                <a:gridCol w="282875"/>
                <a:gridCol w="282875"/>
                <a:gridCol w="282875"/>
                <a:gridCol w="282875"/>
                <a:gridCol w="282875"/>
                <a:gridCol w="282875"/>
                <a:gridCol w="282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0" name="Google Shape;820;p69"/>
          <p:cNvGraphicFramePr/>
          <p:nvPr/>
        </p:nvGraphicFramePr>
        <p:xfrm>
          <a:off x="6196555" y="2855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82875"/>
                <a:gridCol w="2828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unit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821" name="Google Shape;821;p69"/>
          <p:cNvSpPr txBox="1"/>
          <p:nvPr/>
        </p:nvSpPr>
        <p:spPr>
          <a:xfrm>
            <a:off x="6505150" y="2048400"/>
            <a:ext cx="1258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Unitising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\ \div2=4&quot;&gt;&lt;mn&gt;8&lt;/mn&gt;&lt;mtext&gt;&lt;/mtext&gt;&lt;mo&gt;÷&lt;/mo&gt;&lt;mn&gt;2&lt;/mn&gt;&lt;mo&gt;=&lt;/mo&gt;&lt;mn&gt;4&lt;/mn&gt;&lt;/math&gt;" id="822" name="Google Shape;822;p69" title="8 division sign 2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339" y="1320250"/>
            <a:ext cx="1648625" cy="299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3" name="Google Shape;823;p69"/>
          <p:cNvGraphicFramePr/>
          <p:nvPr/>
        </p:nvGraphicFramePr>
        <p:xfrm>
          <a:off x="6762304" y="28555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82875"/>
                <a:gridCol w="2828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unit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graphicFrame>
        <p:nvGraphicFramePr>
          <p:cNvPr id="824" name="Google Shape;824;p69"/>
          <p:cNvGraphicFramePr/>
          <p:nvPr/>
        </p:nvGraphicFramePr>
        <p:xfrm>
          <a:off x="7328171" y="2855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82875"/>
                <a:gridCol w="2828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unit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graphicFrame>
        <p:nvGraphicFramePr>
          <p:cNvPr id="825" name="Google Shape;825;p69"/>
          <p:cNvGraphicFramePr/>
          <p:nvPr/>
        </p:nvGraphicFramePr>
        <p:xfrm>
          <a:off x="7893920" y="28555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82875"/>
                <a:gridCol w="2828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unit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32" name="Google Shape;832;p70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3" name="Google Shape;833;p70"/>
          <p:cNvGraphicFramePr/>
          <p:nvPr/>
        </p:nvGraphicFramePr>
        <p:xfrm>
          <a:off x="84427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4" name="Google Shape;834;p70"/>
          <p:cNvGraphicFramePr/>
          <p:nvPr/>
        </p:nvGraphicFramePr>
        <p:xfrm>
          <a:off x="84422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8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35" name="Google Shape;83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025" y="2354400"/>
            <a:ext cx="3713776" cy="656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42" name="Google Shape;842;p71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3" name="Google Shape;843;p71"/>
          <p:cNvGraphicFramePr/>
          <p:nvPr/>
        </p:nvGraphicFramePr>
        <p:xfrm>
          <a:off x="84427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4" name="Google Shape;844;p71"/>
          <p:cNvGraphicFramePr/>
          <p:nvPr/>
        </p:nvGraphicFramePr>
        <p:xfrm>
          <a:off x="840400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8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45" name="Google Shape;84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400" y="2514850"/>
            <a:ext cx="3324650" cy="7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52" name="Google Shape;852;p72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3" name="Google Shape;853;p72"/>
          <p:cNvGraphicFramePr/>
          <p:nvPr/>
        </p:nvGraphicFramePr>
        <p:xfrm>
          <a:off x="84427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4" name="Google Shape;854;p72"/>
          <p:cNvGraphicFramePr/>
          <p:nvPr/>
        </p:nvGraphicFramePr>
        <p:xfrm>
          <a:off x="844225" y="22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55" name="Google Shape;85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250" y="2375900"/>
            <a:ext cx="2307451" cy="7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61" name="Google Shape;861;p73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62" name="Google Shape;862;p73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3" name="Google Shape;863;p73"/>
          <p:cNvGraphicFramePr/>
          <p:nvPr/>
        </p:nvGraphicFramePr>
        <p:xfrm>
          <a:off x="84427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4" name="Google Shape;864;p73"/>
          <p:cNvGraphicFramePr/>
          <p:nvPr/>
        </p:nvGraphicFramePr>
        <p:xfrm>
          <a:off x="844225" y="22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65" name="Google Shape;86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180" y="2407535"/>
            <a:ext cx="1726839" cy="68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5700" y="3464978"/>
            <a:ext cx="4364098" cy="9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72" name="Google Shape;872;p74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73" name="Google Shape;873;p74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4" name="Google Shape;874;p74"/>
          <p:cNvGraphicFramePr/>
          <p:nvPr/>
        </p:nvGraphicFramePr>
        <p:xfrm>
          <a:off x="844275" y="2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5" name="Google Shape;875;p74"/>
          <p:cNvGraphicFramePr/>
          <p:nvPr/>
        </p:nvGraphicFramePr>
        <p:xfrm>
          <a:off x="844225" y="22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6" name="Google Shape;876;p74"/>
          <p:cNvGraphicFramePr/>
          <p:nvPr/>
        </p:nvGraphicFramePr>
        <p:xfrm>
          <a:off x="844213" y="22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>
                        <a:alpha val="5333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77" name="Google Shape;87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975" y="2372500"/>
            <a:ext cx="4887300" cy="128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883" name="Google Shape;883;p75"/>
          <p:cNvSpPr txBox="1"/>
          <p:nvPr>
            <p:ph idx="1" type="body"/>
          </p:nvPr>
        </p:nvSpPr>
        <p:spPr>
          <a:xfrm>
            <a:off x="324000" y="683100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visualise this question in a bar model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884" name="Google Shape;884;p75" title="two fifths divided by 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375" y="1144075"/>
            <a:ext cx="994950" cy="8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5"/>
          <p:cNvSpPr/>
          <p:nvPr/>
        </p:nvSpPr>
        <p:spPr>
          <a:xfrm>
            <a:off x="5630388" y="3557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5"/>
          <p:cNvSpPr/>
          <p:nvPr/>
        </p:nvSpPr>
        <p:spPr>
          <a:xfrm>
            <a:off x="6160763" y="3557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/>
          <p:nvPr/>
        </p:nvSpPr>
        <p:spPr>
          <a:xfrm>
            <a:off x="6701975" y="3557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5"/>
          <p:cNvSpPr/>
          <p:nvPr/>
        </p:nvSpPr>
        <p:spPr>
          <a:xfrm>
            <a:off x="7242050" y="3557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5"/>
          <p:cNvSpPr/>
          <p:nvPr/>
        </p:nvSpPr>
        <p:spPr>
          <a:xfrm>
            <a:off x="5079500" y="392395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/>
          <p:nvPr/>
        </p:nvSpPr>
        <p:spPr>
          <a:xfrm>
            <a:off x="5630388" y="392395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5"/>
          <p:cNvSpPr/>
          <p:nvPr/>
        </p:nvSpPr>
        <p:spPr>
          <a:xfrm>
            <a:off x="6160763" y="392395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5"/>
          <p:cNvSpPr/>
          <p:nvPr/>
        </p:nvSpPr>
        <p:spPr>
          <a:xfrm>
            <a:off x="6701975" y="392395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/>
          <p:nvPr/>
        </p:nvSpPr>
        <p:spPr>
          <a:xfrm>
            <a:off x="7242050" y="392395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/>
          <p:nvPr/>
        </p:nvSpPr>
        <p:spPr>
          <a:xfrm>
            <a:off x="5079500" y="42900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5630388" y="42900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5"/>
          <p:cNvSpPr/>
          <p:nvPr/>
        </p:nvSpPr>
        <p:spPr>
          <a:xfrm>
            <a:off x="6160763" y="42900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5"/>
          <p:cNvSpPr/>
          <p:nvPr/>
        </p:nvSpPr>
        <p:spPr>
          <a:xfrm>
            <a:off x="6701975" y="42900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5"/>
          <p:cNvSpPr/>
          <p:nvPr/>
        </p:nvSpPr>
        <p:spPr>
          <a:xfrm>
            <a:off x="7242050" y="42900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5"/>
          <p:cNvSpPr/>
          <p:nvPr/>
        </p:nvSpPr>
        <p:spPr>
          <a:xfrm>
            <a:off x="5079500" y="3557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0" name="Google Shape;900;p75"/>
          <p:cNvGraphicFramePr/>
          <p:nvPr/>
        </p:nvGraphicFramePr>
        <p:xfrm>
          <a:off x="5079488" y="355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F2BD">
                        <a:alpha val="5283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01" name="Google Shape;901;p75"/>
          <p:cNvSpPr/>
          <p:nvPr/>
        </p:nvSpPr>
        <p:spPr>
          <a:xfrm>
            <a:off x="844225" y="22813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5"/>
          <p:cNvSpPr/>
          <p:nvPr/>
        </p:nvSpPr>
        <p:spPr>
          <a:xfrm>
            <a:off x="1385013" y="22813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/>
          <p:nvPr/>
        </p:nvSpPr>
        <p:spPr>
          <a:xfrm>
            <a:off x="844213" y="26386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/>
          <p:nvPr/>
        </p:nvSpPr>
        <p:spPr>
          <a:xfrm>
            <a:off x="1385025" y="26386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/>
          <p:nvPr/>
        </p:nvSpPr>
        <p:spPr>
          <a:xfrm>
            <a:off x="844225" y="3001613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/>
          <p:nvPr/>
        </p:nvSpPr>
        <p:spPr>
          <a:xfrm>
            <a:off x="1385025" y="3001600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/>
          <p:nvPr/>
        </p:nvSpPr>
        <p:spPr>
          <a:xfrm>
            <a:off x="844225" y="33645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1385025" y="33645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/>
          <p:nvPr/>
        </p:nvSpPr>
        <p:spPr>
          <a:xfrm>
            <a:off x="843775" y="3721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/>
          <p:nvPr/>
        </p:nvSpPr>
        <p:spPr>
          <a:xfrm>
            <a:off x="1384575" y="37218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/>
          <p:nvPr/>
        </p:nvSpPr>
        <p:spPr>
          <a:xfrm>
            <a:off x="844275" y="40904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/>
          <p:nvPr/>
        </p:nvSpPr>
        <p:spPr>
          <a:xfrm>
            <a:off x="1385075" y="409047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/>
          <p:nvPr/>
        </p:nvSpPr>
        <p:spPr>
          <a:xfrm>
            <a:off x="844275" y="44421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5"/>
          <p:cNvSpPr/>
          <p:nvPr/>
        </p:nvSpPr>
        <p:spPr>
          <a:xfrm>
            <a:off x="1385075" y="4442125"/>
            <a:ext cx="541200" cy="3573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5" name="Google Shape;915;p75"/>
          <p:cNvGraphicFramePr/>
          <p:nvPr/>
        </p:nvGraphicFramePr>
        <p:xfrm>
          <a:off x="843775" y="227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6" name="Google Shape;916;p75"/>
          <p:cNvGraphicFramePr/>
          <p:nvPr/>
        </p:nvGraphicFramePr>
        <p:xfrm>
          <a:off x="843775" y="22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17" name="Google Shape;91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675" y="2140502"/>
            <a:ext cx="4814099" cy="1213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}{15}&quot;&gt;&lt;mo&gt;=&lt;/mo&gt;&lt;mfrac&gt;&lt;mn&gt;14&lt;/mn&gt;&lt;mn&gt;15&lt;/mn&gt;&lt;/mfrac&gt;&lt;/math&gt;" id="918" name="Google Shape;918;p75" title="equals 14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9500" y="1144075"/>
            <a:ext cx="854350" cy="8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 to the following. You can use these templates for the area model if it helps.</a:t>
            </a:r>
            <a:endParaRPr/>
          </a:p>
        </p:txBody>
      </p:sp>
      <p:sp>
        <p:nvSpPr>
          <p:cNvPr id="924" name="Google Shape;924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925" name="Google Shape;925;p76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398" y="1620000"/>
            <a:ext cx="1039198" cy="86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6" name="Google Shape;926;p76"/>
          <p:cNvGraphicFramePr/>
          <p:nvPr/>
        </p:nvGraphicFramePr>
        <p:xfrm>
          <a:off x="737425" y="209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7" name="Google Shape;927;p76"/>
          <p:cNvGraphicFramePr/>
          <p:nvPr/>
        </p:nvGraphicFramePr>
        <p:xfrm>
          <a:off x="4572000" y="291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</a:t>
            </a:r>
            <a:r>
              <a:rPr lang="en-GB"/>
              <a:t>Work out the answer to the following. You can use these templates for the area model if it helps.</a:t>
            </a:r>
            <a:endParaRPr/>
          </a:p>
        </p:txBody>
      </p:sp>
      <p:sp>
        <p:nvSpPr>
          <p:cNvPr id="933" name="Google Shape;933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7}\div\frac{3}{5}&quot;&gt;&lt;mfrac&gt;&lt;mn&gt;3&lt;/mn&gt;&lt;mn&gt;7&lt;/mn&gt;&lt;/mfrac&gt;&lt;mo&gt;÷&lt;/mo&gt;&lt;mfrac&gt;&lt;mn&gt;3&lt;/mn&gt;&lt;mn&gt;5&lt;/mn&gt;&lt;/mfrac&gt;&lt;/math&gt;" id="934" name="Google Shape;934;p77" title="three sevenths divided by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910" y="1730597"/>
            <a:ext cx="1273422" cy="1054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5" name="Google Shape;935;p77"/>
          <p:cNvGraphicFramePr/>
          <p:nvPr/>
        </p:nvGraphicFramePr>
        <p:xfrm>
          <a:off x="537675" y="190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6" name="Google Shape;936;p77"/>
          <p:cNvGraphicFramePr/>
          <p:nvPr/>
        </p:nvGraphicFramePr>
        <p:xfrm>
          <a:off x="4282963" y="322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Work out the answer to the following by drawing area models. Use squared paper if it helps.</a:t>
            </a:r>
            <a:endParaRPr/>
          </a:p>
        </p:txBody>
      </p:sp>
      <p:sp>
        <p:nvSpPr>
          <p:cNvPr id="942" name="Google Shape;94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\div\frac{4}{5}&quot;&gt;&lt;mfrac&gt;&lt;mn&gt;3&lt;/mn&gt;&lt;mn&gt;4&lt;/mn&gt;&lt;/mfrac&gt;&lt;mo&gt;÷&lt;/mo&gt;&lt;mfrac&gt;&lt;mn&gt;4&lt;/mn&gt;&lt;mn&gt;5&lt;/mn&gt;&lt;/mfrac&gt;&lt;/math&gt;" id="943" name="Google Shape;943;p78" title="three fourths divided by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025" y="1620000"/>
            <a:ext cx="960725" cy="7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answer to the following. You can use these templates for the area model if it helps.</a:t>
            </a:r>
            <a:endParaRPr/>
          </a:p>
        </p:txBody>
      </p:sp>
      <p:sp>
        <p:nvSpPr>
          <p:cNvPr id="949" name="Google Shape;94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950" name="Google Shape;950;p79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398" y="1620000"/>
            <a:ext cx="1039198" cy="86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1" name="Google Shape;951;p79"/>
          <p:cNvGraphicFramePr/>
          <p:nvPr/>
        </p:nvGraphicFramePr>
        <p:xfrm>
          <a:off x="737425" y="209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2" name="Google Shape;952;p79"/>
          <p:cNvGraphicFramePr/>
          <p:nvPr/>
        </p:nvGraphicFramePr>
        <p:xfrm>
          <a:off x="4572000" y="291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3" name="Google Shape;953;p79"/>
          <p:cNvGraphicFramePr/>
          <p:nvPr/>
        </p:nvGraphicFramePr>
        <p:xfrm>
          <a:off x="737425" y="2092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54" name="Google Shape;95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183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83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808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933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83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808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933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83" y="39915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808" y="39915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933" y="39915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433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1135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385" y="31171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3511" y="3132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186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436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686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386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}{5}\times\frac{3}{2}=\frac{9}{10}&quot;&gt;&lt;mo&gt;=&lt;/mo&gt;&lt;mfrac&gt;&lt;mn&gt;3&lt;/mn&gt;&lt;mn&gt;5&lt;/mn&gt;&lt;/mfrac&gt;&lt;mo&gt;×&lt;/mo&gt;&lt;mfrac&gt;&lt;mn&gt;3&lt;/mn&gt;&lt;mn&gt;2&lt;/mn&gt;&lt;/mfrac&gt;&lt;mo&gt;=&lt;/mo&gt;&lt;mfrac&gt;&lt;mn&gt;9&lt;/mn&gt;&lt;mn&gt;10&lt;/mn&gt;&lt;/mfrac&gt;&lt;/math&gt;" id="972" name="Google Shape;972;p79" title="equals three fifths times three halves equals nine tenths"/>
          <p:cNvPicPr preferRelativeResize="0"/>
          <p:nvPr/>
        </p:nvPicPr>
        <p:blipFill rotWithShape="1">
          <a:blip r:embed="rId5">
            <a:alphaModFix/>
          </a:blip>
          <a:srcRect b="0" l="59553" r="0" t="0"/>
          <a:stretch/>
        </p:blipFill>
        <p:spPr>
          <a:xfrm>
            <a:off x="5325102" y="1580425"/>
            <a:ext cx="1039200" cy="8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324000" y="759300"/>
            <a:ext cx="8237700" cy="9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Work out the answer to the following. You can use these templates for the area model if it helps.</a:t>
            </a:r>
            <a:endParaRPr/>
          </a:p>
        </p:txBody>
      </p:sp>
      <p:sp>
        <p:nvSpPr>
          <p:cNvPr id="978" name="Google Shape;978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7}\div\frac{3}{5}&quot;&gt;&lt;mfrac&gt;&lt;mn&gt;3&lt;/mn&gt;&lt;mn&gt;7&lt;/mn&gt;&lt;/mfrac&gt;&lt;mo&gt;÷&lt;/mo&gt;&lt;mfrac&gt;&lt;mn&gt;3&lt;/mn&gt;&lt;mn&gt;5&lt;/mn&gt;&lt;/mfrac&gt;&lt;/math&gt;" id="979" name="Google Shape;979;p80" title="three sevenths divided by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910" y="1730597"/>
            <a:ext cx="1273422" cy="1054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0" name="Google Shape;980;p80"/>
          <p:cNvGraphicFramePr/>
          <p:nvPr/>
        </p:nvGraphicFramePr>
        <p:xfrm>
          <a:off x="537675" y="190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1" name="Google Shape;981;p80"/>
          <p:cNvGraphicFramePr/>
          <p:nvPr/>
        </p:nvGraphicFramePr>
        <p:xfrm>
          <a:off x="4282963" y="322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2" name="Google Shape;982;p80"/>
          <p:cNvGraphicFramePr/>
          <p:nvPr/>
        </p:nvGraphicFramePr>
        <p:xfrm>
          <a:off x="537675" y="190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426125"/>
                <a:gridCol w="426125"/>
                <a:gridCol w="426125"/>
                <a:gridCol w="426125"/>
                <a:gridCol w="426125"/>
                <a:gridCol w="426125"/>
                <a:gridCol w="426125"/>
              </a:tblGrid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83" name="Google Shape;98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50" y="1972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744" y="1972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831" y="1972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50" y="24236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744" y="24236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831" y="24236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15" y="286408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309" y="286408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396" y="286408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87" y="32888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781" y="32888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68" y="32888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87" y="37460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781" y="37460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868" y="3746009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296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1790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5877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7439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933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0020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7439" y="372391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933" y="372391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0020" y="372391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4943" y="3735172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437" y="3735172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524" y="3735172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4943" y="4148643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6396" y="32887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6396" y="372391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21}=\frac{5}{7}&quot;&gt;&lt;mo&gt;=&lt;/mo&gt;&lt;mfrac&gt;&lt;mn&gt;15&lt;/mn&gt;&lt;mn&gt;21&lt;/mn&gt;&lt;/mfrac&gt;&lt;mo&gt;=&lt;/mo&gt;&lt;mfrac&gt;&lt;mn&gt;5&lt;/mn&gt;&lt;mn&gt;7&lt;/mn&gt;&lt;/mfrac&gt;&lt;/math&gt;" id="1013" name="Google Shape;1013;p80" title="equals 15 over 21 equals five sevenths"/>
          <p:cNvPicPr preferRelativeResize="0"/>
          <p:nvPr/>
        </p:nvPicPr>
        <p:blipFill rotWithShape="1">
          <a:blip r:embed="rId5">
            <a:alphaModFix/>
          </a:blip>
          <a:srcRect b="0" l="0" r="40765" t="0"/>
          <a:stretch/>
        </p:blipFill>
        <p:spPr>
          <a:xfrm>
            <a:off x="5561350" y="1785125"/>
            <a:ext cx="1124175" cy="92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21}=\frac{5}{7}&quot;&gt;&lt;mo&gt;=&lt;/mo&gt;&lt;mfrac&gt;&lt;mn&gt;15&lt;/mn&gt;&lt;mn&gt;21&lt;/mn&gt;&lt;/mfrac&gt;&lt;mo&gt;=&lt;/mo&gt;&lt;mfrac&gt;&lt;mn&gt;5&lt;/mn&gt;&lt;mn&gt;7&lt;/mn&gt;&lt;/mfrac&gt;&lt;/math&gt;" id="1014" name="Google Shape;1014;p80" title="equals 15 over 21 equals five sevenths"/>
          <p:cNvPicPr preferRelativeResize="0"/>
          <p:nvPr/>
        </p:nvPicPr>
        <p:blipFill rotWithShape="1">
          <a:blip r:embed="rId5">
            <a:alphaModFix/>
          </a:blip>
          <a:srcRect b="-9316" l="58885" r="-18119" t="-5139"/>
          <a:stretch/>
        </p:blipFill>
        <p:spPr>
          <a:xfrm>
            <a:off x="6641075" y="1730600"/>
            <a:ext cx="1124175" cy="10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1"/>
          <p:cNvSpPr txBox="1"/>
          <p:nvPr>
            <p:ph idx="1" type="body"/>
          </p:nvPr>
        </p:nvSpPr>
        <p:spPr>
          <a:xfrm>
            <a:off x="324000" y="759300"/>
            <a:ext cx="8237700" cy="11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Work out the answer to the following by drawing area models. Use squared paper if it helps.</a:t>
            </a:r>
            <a:endParaRPr/>
          </a:p>
        </p:txBody>
      </p:sp>
      <p:sp>
        <p:nvSpPr>
          <p:cNvPr id="1020" name="Google Shape;1020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\div\frac{4}{5}&quot;&gt;&lt;mfrac&gt;&lt;mn&gt;3&lt;/mn&gt;&lt;mn&gt;4&lt;/mn&gt;&lt;/mfrac&gt;&lt;mo&gt;÷&lt;/mo&gt;&lt;mfrac&gt;&lt;mn&gt;4&lt;/mn&gt;&lt;mn&gt;5&lt;/mn&gt;&lt;/mfrac&gt;&lt;/math&gt;" id="1021" name="Google Shape;1021;p81" title="three fourths divided by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025" y="1620000"/>
            <a:ext cx="960725" cy="79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2" name="Google Shape;1022;p81"/>
          <p:cNvGraphicFramePr/>
          <p:nvPr/>
        </p:nvGraphicFramePr>
        <p:xfrm>
          <a:off x="537675" y="204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687250"/>
                <a:gridCol w="687250"/>
                <a:gridCol w="687250"/>
                <a:gridCol w="687250"/>
              </a:tblGrid>
              <a:tr h="5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3" name="Google Shape;1023;p81"/>
          <p:cNvGraphicFramePr/>
          <p:nvPr/>
        </p:nvGraphicFramePr>
        <p:xfrm>
          <a:off x="4882300" y="278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687250"/>
                <a:gridCol w="687250"/>
                <a:gridCol w="687250"/>
                <a:gridCol w="687250"/>
              </a:tblGrid>
              <a:tr h="49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24" name="Google Shape;102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00" y="21507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69" y="21507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6" y="2150720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00" y="2699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69" y="2699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6" y="2699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00" y="32832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69" y="32832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6" y="32832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00" y="3790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69" y="3790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6" y="37902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00" y="43236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69" y="43236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6" y="43236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375" y="2884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244" y="2884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3331" y="2884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375" y="33684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244" y="33684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3331" y="33684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375" y="38518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244" y="38518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3331" y="38518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375" y="435067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244" y="435067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131" y="435067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755" y="28849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755" y="336844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755" y="3851895"/>
            <a:ext cx="279969" cy="296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5}{16}&quot;&gt;&lt;mo&gt;=&lt;/mo&gt;&lt;mfrac&gt;&lt;mn&gt;15&lt;/mn&gt;&lt;mn&gt;16&lt;/mn&gt;&lt;/mfrac&gt;&lt;/math&gt;" id="1054" name="Google Shape;1054;p81" title="equals 15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374" y="1620000"/>
            <a:ext cx="833189" cy="7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1060" name="Google Shape;1060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061" name="Google Shape;1061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062" name="Google Shape;1062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pic>
        <p:nvPicPr>
          <p:cNvPr id="1063" name="Google Shape;10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83" y="27814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069" name="Google Shape;1069;p83"/>
          <p:cNvSpPr txBox="1"/>
          <p:nvPr>
            <p:ph idx="4294967295" type="subTitle"/>
          </p:nvPr>
        </p:nvSpPr>
        <p:spPr>
          <a:xfrm>
            <a:off x="324001" y="841250"/>
            <a:ext cx="8064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reciprocal</a:t>
            </a:r>
            <a:r>
              <a:rPr lang="en-GB"/>
              <a:t> is t</a:t>
            </a:r>
            <a:r>
              <a:rPr lang="en-GB"/>
              <a:t>he multiplicative inverse of any non-zero number. Any non-zero number multiplied by its </a:t>
            </a:r>
            <a:r>
              <a:rPr b="1" lang="en-GB"/>
              <a:t>reciprocal</a:t>
            </a:r>
            <a:r>
              <a:rPr lang="en-GB"/>
              <a:t> is equal to 1.</a:t>
            </a:r>
            <a:endParaRPr/>
          </a:p>
        </p:txBody>
      </p:sp>
      <p:sp>
        <p:nvSpPr>
          <p:cNvPr id="1070" name="Google Shape;1070;p83"/>
          <p:cNvSpPr txBox="1"/>
          <p:nvPr/>
        </p:nvSpPr>
        <p:spPr>
          <a:xfrm>
            <a:off x="248525" y="2286000"/>
            <a:ext cx="708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what is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8?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\ \times\frac{1}{8}=\ \frac{8\times1}{8}=\frac{8}{8}=1&quot;&gt;&lt;mn&gt;8&lt;/mn&gt;&lt;mtext&gt;&lt;/mtext&gt;&lt;mo&gt;×&lt;/mo&gt;&lt;mfrac&gt;&lt;mn&gt;1&lt;/mn&gt;&lt;mn&gt;8&lt;/mn&gt;&lt;/mfrac&gt;&lt;mo&gt;=&lt;/mo&gt;&lt;mtext&gt;&lt;/mtext&gt;&lt;mfrac&gt;&lt;mrow&gt;&lt;mn&gt;8&lt;/mn&gt;&lt;mo&gt;×&lt;/mo&gt;&lt;mn&gt;1&lt;/mn&gt;&lt;/mrow&gt;&lt;mn&gt;8&lt;/mn&gt;&lt;/mfrac&gt;&lt;mo&gt;=&lt;/mo&gt;&lt;mfrac&gt;&lt;mn&gt;8&lt;/mn&gt;&lt;mn&gt;8&lt;/mn&gt;&lt;/mfrac&gt;&lt;mo&gt;=&lt;/mo&gt;&lt;mn&gt;1&lt;/mn&gt;&lt;/math&gt;" id="1071" name="Google Shape;1071;p83" title="8 times one eighth equals the fraction with numerator 8 times 1 and denominator 8 equals eight eighths equal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150" y="2961600"/>
            <a:ext cx="3802899" cy="7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3"/>
          <p:cNvSpPr/>
          <p:nvPr/>
        </p:nvSpPr>
        <p:spPr>
          <a:xfrm>
            <a:off x="3051650" y="2961600"/>
            <a:ext cx="318000" cy="76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3"/>
          <p:cNvSpPr/>
          <p:nvPr/>
        </p:nvSpPr>
        <p:spPr>
          <a:xfrm>
            <a:off x="3753975" y="2961600"/>
            <a:ext cx="1070100" cy="76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4" name="Google Shape;107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25" y="4078668"/>
            <a:ext cx="6891400" cy="671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080" name="Google Shape;1080;p84"/>
          <p:cNvSpPr txBox="1"/>
          <p:nvPr/>
        </p:nvSpPr>
        <p:spPr>
          <a:xfrm>
            <a:off x="465425" y="818400"/>
            <a:ext cx="77931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think we multiply      by to make the product of 1?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\times\frac{4}{3}=\ \frac{3\times4}{4\times3}=\frac{3\times4}{3\times4}=1&quot;&gt;&lt;mfrac&gt;&lt;mn&gt;3&lt;/mn&gt;&lt;mn&gt;4&lt;/mn&gt;&lt;/mfrac&gt;&lt;mo&gt;×&lt;/mo&gt;&lt;mfrac&gt;&lt;mn&gt;4&lt;/mn&gt;&lt;mn&gt;3&lt;/mn&gt;&lt;/mfrac&gt;&lt;mo&gt;=&lt;/mo&gt;&lt;mtext&gt;&lt;/mtext&gt;&lt;mfrac&gt;&lt;mrow&gt;&lt;mn&gt;3&lt;/mn&gt;&lt;mo&gt;×&lt;/mo&gt;&lt;mn&gt;4&lt;/mn&gt;&lt;/mrow&gt;&lt;mrow&gt;&lt;mn&gt;4&lt;/mn&gt;&lt;mo&gt;×&lt;/mo&gt;&lt;mn&gt;3&lt;/mn&gt;&lt;/mrow&gt;&lt;/mfrac&gt;&lt;mo&gt;=&lt;/mo&gt;&lt;mfrac&gt;&lt;mrow&gt;&lt;mn&gt;3&lt;/mn&gt;&lt;mo&gt;×&lt;/mo&gt;&lt;mn&gt;4&lt;/mn&gt;&lt;/mrow&gt;&lt;mrow&gt;&lt;mn&gt;3&lt;/mn&gt;&lt;mo&gt;×&lt;/mo&gt;&lt;mn&gt;4&lt;/mn&gt;&lt;/mrow&gt;&lt;/mfrac&gt;&lt;mo&gt;=&lt;/mo&gt;&lt;mn&gt;1&lt;/mn&gt;&lt;/math&gt;" id="1081" name="Google Shape;1081;p84" title="three fourths times four thirds equals the fraction with numerator 3 times 4 and denominator 4 times 3 equals the fraction with numerator 3 times 4 and denominator 3 times 4 equal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363" y="2227050"/>
            <a:ext cx="4804075" cy="83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4}{3}=\ \frac{3\times4}{4\times3}=\frac{3\times4}{3\times4}=1&quot;&gt;&lt;mfrac&gt;&lt;mn&gt;3&lt;/mn&gt;&lt;mn&gt;4&lt;/mn&gt;&lt;/mfrac&gt;&lt;mo&gt;×&lt;/mo&gt;&lt;mfrac&gt;&lt;mn&gt;4&lt;/mn&gt;&lt;mn&gt;3&lt;/mn&gt;&lt;/mfrac&gt;&lt;mo&gt;=&lt;/mo&gt;&lt;mtext&gt;&lt;/mtext&gt;&lt;mfrac&gt;&lt;mrow&gt;&lt;mn&gt;3&lt;/mn&gt;&lt;mo&gt;×&lt;/mo&gt;&lt;mn&gt;4&lt;/mn&gt;&lt;/mrow&gt;&lt;mrow&gt;&lt;mn&gt;4&lt;/mn&gt;&lt;mo&gt;×&lt;/mo&gt;&lt;mn&gt;3&lt;/mn&gt;&lt;/mrow&gt;&lt;/mfrac&gt;&lt;mo&gt;=&lt;/mo&gt;&lt;mfrac&gt;&lt;mrow&gt;&lt;mn&gt;3&lt;/mn&gt;&lt;mo&gt;×&lt;/mo&gt;&lt;mn&gt;4&lt;/mn&gt;&lt;/mrow&gt;&lt;mrow&gt;&lt;mn&gt;3&lt;/mn&gt;&lt;mo&gt;×&lt;/mo&gt;&lt;mn&gt;4&lt;/mn&gt;&lt;/mrow&gt;&lt;/mfrac&gt;&lt;mo&gt;=&lt;/mo&gt;&lt;mn&gt;1&lt;/mn&gt;&lt;/math&gt;" id="1082" name="Google Shape;1082;p84" title="three fourths times four thirds equals the fraction with numerator 3 times 4 and denominator 4 times 3 equals the fraction with numerator 3 times 4 and denominator 3 times 4 equals 1"/>
          <p:cNvPicPr preferRelativeResize="0"/>
          <p:nvPr/>
        </p:nvPicPr>
        <p:blipFill rotWithShape="1">
          <a:blip r:embed="rId3">
            <a:alphaModFix/>
          </a:blip>
          <a:srcRect b="0" l="0" r="93072" t="0"/>
          <a:stretch/>
        </p:blipFill>
        <p:spPr>
          <a:xfrm>
            <a:off x="4802435" y="799204"/>
            <a:ext cx="278425" cy="70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4"/>
          <p:cNvSpPr/>
          <p:nvPr/>
        </p:nvSpPr>
        <p:spPr>
          <a:xfrm>
            <a:off x="5833642" y="2122846"/>
            <a:ext cx="345000" cy="109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4"/>
          <p:cNvSpPr/>
          <p:nvPr/>
        </p:nvSpPr>
        <p:spPr>
          <a:xfrm>
            <a:off x="5169408" y="2122846"/>
            <a:ext cx="345000" cy="109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4"/>
          <p:cNvSpPr/>
          <p:nvPr/>
        </p:nvSpPr>
        <p:spPr>
          <a:xfrm>
            <a:off x="3661208" y="2122846"/>
            <a:ext cx="345000" cy="109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4"/>
          <p:cNvSpPr/>
          <p:nvPr/>
        </p:nvSpPr>
        <p:spPr>
          <a:xfrm>
            <a:off x="1969724" y="2112063"/>
            <a:ext cx="345000" cy="109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7" name="Google Shape;1087;p84"/>
          <p:cNvGrpSpPr/>
          <p:nvPr/>
        </p:nvGrpSpPr>
        <p:grpSpPr>
          <a:xfrm>
            <a:off x="2761925" y="2123025"/>
            <a:ext cx="1982575" cy="1088925"/>
            <a:chOff x="2761925" y="2123025"/>
            <a:chExt cx="1982575" cy="1088925"/>
          </a:xfrm>
        </p:grpSpPr>
        <p:sp>
          <p:nvSpPr>
            <p:cNvPr id="1088" name="Google Shape;1088;p84"/>
            <p:cNvSpPr/>
            <p:nvPr/>
          </p:nvSpPr>
          <p:spPr>
            <a:xfrm>
              <a:off x="4399500" y="2134050"/>
              <a:ext cx="345000" cy="107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84"/>
            <p:cNvSpPr/>
            <p:nvPr/>
          </p:nvSpPr>
          <p:spPr>
            <a:xfrm>
              <a:off x="2761925" y="2123025"/>
              <a:ext cx="345000" cy="107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0" name="Google Shape;1090;p84"/>
          <p:cNvSpPr/>
          <p:nvPr/>
        </p:nvSpPr>
        <p:spPr>
          <a:xfrm>
            <a:off x="5080850" y="2064650"/>
            <a:ext cx="1176000" cy="117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4"/>
          <p:cNvSpPr/>
          <p:nvPr/>
        </p:nvSpPr>
        <p:spPr>
          <a:xfrm>
            <a:off x="3617625" y="1986900"/>
            <a:ext cx="1176000" cy="1314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2" name="Google Shape;109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425" y="4033225"/>
            <a:ext cx="7006559" cy="7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Google Shape;109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780449" y="1080000"/>
            <a:ext cx="3894351" cy="18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5"/>
          <p:cNvSpPr txBox="1"/>
          <p:nvPr>
            <p:ph idx="1" type="body"/>
          </p:nvPr>
        </p:nvSpPr>
        <p:spPr>
          <a:xfrm>
            <a:off x="324000" y="733800"/>
            <a:ext cx="8237700" cy="5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says: </a:t>
            </a:r>
            <a:endParaRPr/>
          </a:p>
        </p:txBody>
      </p:sp>
      <p:sp>
        <p:nvSpPr>
          <p:cNvPr id="1099" name="Google Shape;109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pic>
        <p:nvPicPr>
          <p:cNvPr id="1100" name="Google Shape;110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59991" y="2063463"/>
            <a:ext cx="823550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85"/>
          <p:cNvGrpSpPr/>
          <p:nvPr/>
        </p:nvGrpSpPr>
        <p:grpSpPr>
          <a:xfrm>
            <a:off x="253800" y="3505050"/>
            <a:ext cx="8378100" cy="1063625"/>
            <a:chOff x="253800" y="3505050"/>
            <a:chExt cx="8378100" cy="1063625"/>
          </a:xfrm>
        </p:grpSpPr>
        <p:sp>
          <p:nvSpPr>
            <p:cNvPr id="1102" name="Google Shape;1102;p85"/>
            <p:cNvSpPr txBox="1"/>
            <p:nvPr/>
          </p:nvSpPr>
          <p:spPr>
            <a:xfrm>
              <a:off x="253800" y="3505050"/>
              <a:ext cx="8378100" cy="10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Sam is incorrect. Sam could convert the mixed number 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into an improper fraction,           , and then find the </a:t>
              </a:r>
              <a:r>
                <a:rPr b="1"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reciprocal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/>
            </a:p>
          </p:txBody>
        </p:sp>
        <p:pic>
          <p:nvPicPr>
            <p:cNvPr descr="3 and two fifths equals seventeen fifths 5 over 17&#10;&#10;&lt;math xmlns=&quot;http://www.w3.org/1998/Math/MathML&quot; display=&quot;block&quot; data-is-equatio=&quot;1&quot; data-latex=&quot;3\frac{2}{5}=\frac{17}{5}\ \ \ \ \ \frac{5}{17}&quot;&gt;&lt;mn&gt;3&lt;/mn&gt;&lt;mfrac&gt;&lt;mn&gt;2&lt;/mn&gt;&lt;mn&gt;5&lt;/mn&gt;&lt;/mfrac&gt;&lt;mo&gt;=&lt;/mo&gt;&lt;mfrac&gt;&lt;mn&gt;17&lt;/mn&gt;&lt;mn&gt;5&lt;/mn&gt;&lt;/mfrac&gt;&lt;mtext&gt;&lt;/mtext&gt;&lt;mtext&gt;&lt;/mtext&gt;&lt;mtext&gt;&lt;/mtext&gt;&lt;mtext&gt;&lt;/mtext&gt;&lt;mtext&gt;&lt;/mtext&gt;&lt;mfrac&gt;&lt;mn&gt;5&lt;/mn&gt;&lt;mn&gt;17&lt;/mn&gt;&lt;/mfrac&gt;&lt;/math&gt;" id="1103" name="Google Shape;1103;p85"/>
            <p:cNvPicPr preferRelativeResize="0"/>
            <p:nvPr/>
          </p:nvPicPr>
          <p:blipFill rotWithShape="1">
            <a:blip r:embed="rId5">
              <a:alphaModFix/>
            </a:blip>
            <a:srcRect b="0" l="0" r="39054" t="0"/>
            <a:stretch/>
          </p:blipFill>
          <p:spPr>
            <a:xfrm>
              <a:off x="3445420" y="3999075"/>
              <a:ext cx="1057025" cy="56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3 and two fifths equals seventeen fifths 5 over 17&#10;&#10;&lt;math xmlns=&quot;http://www.w3.org/1998/Math/MathML&quot; display=&quot;block&quot; data-is-equatio=&quot;1&quot; data-latex=&quot;3\frac{2}{5}=\frac{17}{5}\ \ \ \ \ \frac{5}{17}&quot;&gt;&lt;mn&gt;3&lt;/mn&gt;&lt;mfrac&gt;&lt;mn&gt;2&lt;/mn&gt;&lt;mn&gt;5&lt;/mn&gt;&lt;/mfrac&gt;&lt;mo&gt;=&lt;/mo&gt;&lt;mfrac&gt;&lt;mn&gt;17&lt;/mn&gt;&lt;mn&gt;5&lt;/mn&gt;&lt;/mfrac&gt;&lt;mtext&gt;&lt;/mtext&gt;&lt;mtext&gt;&lt;/mtext&gt;&lt;mtext&gt;&lt;/mtext&gt;&lt;mtext&gt;&lt;/mtext&gt;&lt;mtext&gt;&lt;/mtext&gt;&lt;mfrac&gt;&lt;mn&gt;5&lt;/mn&gt;&lt;mn&gt;17&lt;/mn&gt;&lt;/mfrac&gt;&lt;/math&gt;" id="1104" name="Google Shape;1104;p85"/>
            <p:cNvPicPr preferRelativeResize="0"/>
            <p:nvPr/>
          </p:nvPicPr>
          <p:blipFill rotWithShape="1">
            <a:blip r:embed="rId5">
              <a:alphaModFix/>
            </a:blip>
            <a:srcRect b="0" l="81290" r="0" t="0"/>
            <a:stretch/>
          </p:blipFill>
          <p:spPr>
            <a:xfrm>
              <a:off x="8209190" y="3999075"/>
              <a:ext cx="324500" cy="56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5" name="Google Shape;1105;p85"/>
          <p:cNvSpPr txBox="1"/>
          <p:nvPr/>
        </p:nvSpPr>
        <p:spPr>
          <a:xfrm>
            <a:off x="324000" y="2814125"/>
            <a:ext cx="43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Sam correct? Explain.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6" name="Google Shape;1106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2150" y="1618300"/>
            <a:ext cx="3505823" cy="5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6"/>
          <p:cNvSpPr txBox="1"/>
          <p:nvPr>
            <p:ph idx="1" type="body"/>
          </p:nvPr>
        </p:nvSpPr>
        <p:spPr>
          <a:xfrm>
            <a:off x="324000" y="644787"/>
            <a:ext cx="82377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</a:t>
            </a:r>
            <a:r>
              <a:rPr b="1" lang="en-GB"/>
              <a:t>reciprocals</a:t>
            </a:r>
            <a:r>
              <a:rPr lang="en-GB"/>
              <a:t> of the following.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-3</a:t>
            </a:r>
            <a:endParaRPr/>
          </a:p>
        </p:txBody>
      </p:sp>
      <p:sp>
        <p:nvSpPr>
          <p:cNvPr id="1112" name="Google Shape;111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113" name="Google Shape;1113;p86"/>
          <p:cNvSpPr txBox="1"/>
          <p:nvPr/>
        </p:nvSpPr>
        <p:spPr>
          <a:xfrm>
            <a:off x="4438800" y="1191000"/>
            <a:ext cx="23619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1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14" name="Google Shape;1114;p86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39790" r="45490" t="0"/>
          <a:stretch/>
        </p:blipFill>
        <p:spPr>
          <a:xfrm>
            <a:off x="4953975" y="1164175"/>
            <a:ext cx="511363" cy="5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1115" name="Google Shape;1115;p86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37985" r="37982" t="0"/>
          <a:stretch/>
        </p:blipFill>
        <p:spPr>
          <a:xfrm>
            <a:off x="5042700" y="3236363"/>
            <a:ext cx="333900" cy="63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16" name="Google Shape;1116;p86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8986" r="73760" t="0"/>
          <a:stretch/>
        </p:blipFill>
        <p:spPr>
          <a:xfrm>
            <a:off x="5042712" y="2200275"/>
            <a:ext cx="252000" cy="5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122" name="Google Shape;1122;p87"/>
          <p:cNvSpPr txBox="1"/>
          <p:nvPr>
            <p:ph idx="1" type="body"/>
          </p:nvPr>
        </p:nvSpPr>
        <p:spPr>
          <a:xfrm>
            <a:off x="324000" y="759300"/>
            <a:ext cx="82377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Work out the </a:t>
            </a:r>
            <a:r>
              <a:rPr b="1" lang="en-GB"/>
              <a:t>reciprocals</a:t>
            </a:r>
            <a:r>
              <a:rPr lang="en-GB"/>
              <a:t> of the following.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23" name="Google Shape;1123;p87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0" r="90761" t="0"/>
          <a:stretch/>
        </p:blipFill>
        <p:spPr>
          <a:xfrm>
            <a:off x="914534" y="1425300"/>
            <a:ext cx="685467" cy="765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24" name="Google Shape;1124;p87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35329" r="56957" t="0"/>
          <a:stretch/>
        </p:blipFill>
        <p:spPr>
          <a:xfrm>
            <a:off x="806149" y="2474235"/>
            <a:ext cx="572327" cy="765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25" name="Google Shape;1125;p87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69868" r="19691" t="0"/>
          <a:stretch/>
        </p:blipFill>
        <p:spPr>
          <a:xfrm>
            <a:off x="749575" y="3545064"/>
            <a:ext cx="685467" cy="677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131" name="Google Shape;1131;p88"/>
          <p:cNvSpPr txBox="1"/>
          <p:nvPr>
            <p:ph idx="1" type="body"/>
          </p:nvPr>
        </p:nvSpPr>
        <p:spPr>
          <a:xfrm>
            <a:off x="324000" y="759300"/>
            <a:ext cx="8237700" cy="66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Using the cards only once, make the following statements true.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88"/>
          <p:cNvSpPr/>
          <p:nvPr/>
        </p:nvSpPr>
        <p:spPr>
          <a:xfrm>
            <a:off x="1206925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1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8"/>
          <p:cNvSpPr/>
          <p:nvPr/>
        </p:nvSpPr>
        <p:spPr>
          <a:xfrm>
            <a:off x="1975251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8"/>
          <p:cNvSpPr/>
          <p:nvPr/>
        </p:nvSpPr>
        <p:spPr>
          <a:xfrm>
            <a:off x="2743577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8"/>
          <p:cNvSpPr/>
          <p:nvPr/>
        </p:nvSpPr>
        <p:spPr>
          <a:xfrm>
            <a:off x="3511903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4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8"/>
          <p:cNvSpPr/>
          <p:nvPr/>
        </p:nvSpPr>
        <p:spPr>
          <a:xfrm>
            <a:off x="4280229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5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8"/>
          <p:cNvSpPr/>
          <p:nvPr/>
        </p:nvSpPr>
        <p:spPr>
          <a:xfrm>
            <a:off x="5048555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8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8"/>
          <p:cNvSpPr/>
          <p:nvPr/>
        </p:nvSpPr>
        <p:spPr>
          <a:xfrm>
            <a:off x="5816881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8"/>
          <p:cNvSpPr/>
          <p:nvPr/>
        </p:nvSpPr>
        <p:spPr>
          <a:xfrm>
            <a:off x="2736053" y="2352000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8"/>
          <p:cNvSpPr/>
          <p:nvPr/>
        </p:nvSpPr>
        <p:spPr>
          <a:xfrm>
            <a:off x="2736053" y="3190251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8"/>
          <p:cNvSpPr/>
          <p:nvPr/>
        </p:nvSpPr>
        <p:spPr>
          <a:xfrm>
            <a:off x="3853631" y="2709569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8"/>
          <p:cNvSpPr txBox="1"/>
          <p:nvPr/>
        </p:nvSpPr>
        <p:spPr>
          <a:xfrm>
            <a:off x="391900" y="2878225"/>
            <a:ext cx="24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000"/>
          </a:p>
        </p:txBody>
      </p:sp>
      <p:sp>
        <p:nvSpPr>
          <p:cNvPr id="1143" name="Google Shape;1143;p88"/>
          <p:cNvSpPr/>
          <p:nvPr/>
        </p:nvSpPr>
        <p:spPr>
          <a:xfrm>
            <a:off x="6969203" y="23670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8"/>
          <p:cNvSpPr/>
          <p:nvPr/>
        </p:nvSpPr>
        <p:spPr>
          <a:xfrm>
            <a:off x="6969203" y="3176974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8"/>
          <p:cNvSpPr/>
          <p:nvPr/>
        </p:nvSpPr>
        <p:spPr>
          <a:xfrm>
            <a:off x="8076905" y="32055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8"/>
          <p:cNvSpPr/>
          <p:nvPr/>
        </p:nvSpPr>
        <p:spPr>
          <a:xfrm>
            <a:off x="8076906" y="23670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7" name="Google Shape;1147;p88"/>
          <p:cNvCxnSpPr/>
          <p:nvPr/>
        </p:nvCxnSpPr>
        <p:spPr>
          <a:xfrm>
            <a:off x="4645500" y="2081275"/>
            <a:ext cx="0" cy="24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88"/>
          <p:cNvCxnSpPr/>
          <p:nvPr/>
        </p:nvCxnSpPr>
        <p:spPr>
          <a:xfrm>
            <a:off x="2678575" y="3113013"/>
            <a:ext cx="77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88"/>
          <p:cNvCxnSpPr/>
          <p:nvPr/>
        </p:nvCxnSpPr>
        <p:spPr>
          <a:xfrm>
            <a:off x="6920350" y="3113013"/>
            <a:ext cx="77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88"/>
          <p:cNvCxnSpPr/>
          <p:nvPr/>
        </p:nvCxnSpPr>
        <p:spPr>
          <a:xfrm>
            <a:off x="8076900" y="3113013"/>
            <a:ext cx="641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88"/>
          <p:cNvSpPr txBox="1"/>
          <p:nvPr/>
        </p:nvSpPr>
        <p:spPr>
          <a:xfrm>
            <a:off x="3511900" y="2878225"/>
            <a:ext cx="6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2000"/>
          </a:p>
        </p:txBody>
      </p:sp>
      <p:sp>
        <p:nvSpPr>
          <p:cNvPr id="1152" name="Google Shape;1152;p88"/>
          <p:cNvSpPr txBox="1"/>
          <p:nvPr/>
        </p:nvSpPr>
        <p:spPr>
          <a:xfrm>
            <a:off x="898300" y="2878225"/>
            <a:ext cx="245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sz="2000"/>
          </a:p>
        </p:txBody>
      </p:sp>
      <p:sp>
        <p:nvSpPr>
          <p:cNvPr id="1153" name="Google Shape;1153;p88"/>
          <p:cNvSpPr txBox="1"/>
          <p:nvPr/>
        </p:nvSpPr>
        <p:spPr>
          <a:xfrm>
            <a:off x="2247675" y="2878225"/>
            <a:ext cx="12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000"/>
          </a:p>
        </p:txBody>
      </p:sp>
      <p:sp>
        <p:nvSpPr>
          <p:cNvPr id="1154" name="Google Shape;1154;p88"/>
          <p:cNvSpPr txBox="1"/>
          <p:nvPr/>
        </p:nvSpPr>
        <p:spPr>
          <a:xfrm>
            <a:off x="4582900" y="2878225"/>
            <a:ext cx="24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000"/>
          </a:p>
        </p:txBody>
      </p:sp>
      <p:sp>
        <p:nvSpPr>
          <p:cNvPr id="1155" name="Google Shape;1155;p88"/>
          <p:cNvSpPr txBox="1"/>
          <p:nvPr/>
        </p:nvSpPr>
        <p:spPr>
          <a:xfrm>
            <a:off x="7702900" y="2878225"/>
            <a:ext cx="6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2000"/>
          </a:p>
        </p:txBody>
      </p:sp>
      <p:sp>
        <p:nvSpPr>
          <p:cNvPr id="1156" name="Google Shape;1156;p88"/>
          <p:cNvSpPr txBox="1"/>
          <p:nvPr/>
        </p:nvSpPr>
        <p:spPr>
          <a:xfrm>
            <a:off x="5089300" y="2878225"/>
            <a:ext cx="245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sz="2000"/>
          </a:p>
        </p:txBody>
      </p:sp>
      <p:sp>
        <p:nvSpPr>
          <p:cNvPr id="1157" name="Google Shape;1157;p88"/>
          <p:cNvSpPr txBox="1"/>
          <p:nvPr/>
        </p:nvSpPr>
        <p:spPr>
          <a:xfrm>
            <a:off x="6438675" y="2878225"/>
            <a:ext cx="12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9"/>
          <p:cNvSpPr txBox="1"/>
          <p:nvPr>
            <p:ph idx="1" type="body"/>
          </p:nvPr>
        </p:nvSpPr>
        <p:spPr>
          <a:xfrm>
            <a:off x="324000" y="683100"/>
            <a:ext cx="8237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</a:t>
            </a:r>
            <a:r>
              <a:rPr b="1" lang="en-GB"/>
              <a:t>reciprocals</a:t>
            </a:r>
            <a:r>
              <a:rPr lang="en-GB"/>
              <a:t> of the following.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-3</a:t>
            </a:r>
            <a:endParaRPr/>
          </a:p>
        </p:txBody>
      </p:sp>
      <p:sp>
        <p:nvSpPr>
          <p:cNvPr id="1163" name="Google Shape;1163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164" name="Google Shape;1164;p89"/>
          <p:cNvSpPr txBox="1"/>
          <p:nvPr/>
        </p:nvSpPr>
        <p:spPr>
          <a:xfrm>
            <a:off x="4438800" y="1191000"/>
            <a:ext cx="23619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1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65" name="Google Shape;1165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73494" r="16894" t="0"/>
          <a:stretch/>
        </p:blipFill>
        <p:spPr>
          <a:xfrm>
            <a:off x="2925900" y="1256259"/>
            <a:ext cx="333899" cy="5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89"/>
          <p:cNvSpPr txBox="1"/>
          <p:nvPr/>
        </p:nvSpPr>
        <p:spPr>
          <a:xfrm>
            <a:off x="1138537" y="124197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/>
          </a:p>
        </p:txBody>
      </p:sp>
      <p:sp>
        <p:nvSpPr>
          <p:cNvPr id="1167" name="Google Shape;1167;p89"/>
          <p:cNvSpPr txBox="1"/>
          <p:nvPr/>
        </p:nvSpPr>
        <p:spPr>
          <a:xfrm>
            <a:off x="5425314" y="4251712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 1</a:t>
            </a:r>
            <a:endParaRPr/>
          </a:p>
        </p:txBody>
      </p:sp>
      <p:sp>
        <p:nvSpPr>
          <p:cNvPr id="1168" name="Google Shape;1168;p89"/>
          <p:cNvSpPr txBox="1"/>
          <p:nvPr/>
        </p:nvSpPr>
        <p:spPr>
          <a:xfrm>
            <a:off x="1156858" y="2262691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69" name="Google Shape;1169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88829" r="-2063" t="0"/>
          <a:stretch/>
        </p:blipFill>
        <p:spPr>
          <a:xfrm>
            <a:off x="2978900" y="2273713"/>
            <a:ext cx="459749" cy="5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9"/>
          <p:cNvSpPr txBox="1"/>
          <p:nvPr/>
        </p:nvSpPr>
        <p:spPr>
          <a:xfrm>
            <a:off x="5425314" y="1191012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71" name="Google Shape;1171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55893" r="34495" t="0"/>
          <a:stretch/>
        </p:blipFill>
        <p:spPr>
          <a:xfrm>
            <a:off x="7337001" y="1164163"/>
            <a:ext cx="333899" cy="5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72" name="Google Shape;1172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39790" r="45490" t="0"/>
          <a:stretch/>
        </p:blipFill>
        <p:spPr>
          <a:xfrm>
            <a:off x="4953975" y="1164175"/>
            <a:ext cx="511363" cy="5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9"/>
          <p:cNvSpPr txBox="1"/>
          <p:nvPr/>
        </p:nvSpPr>
        <p:spPr>
          <a:xfrm>
            <a:off x="5425314" y="2255812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74" name="Google Shape;1174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8986" r="73760" t="0"/>
          <a:stretch/>
        </p:blipFill>
        <p:spPr>
          <a:xfrm>
            <a:off x="5042712" y="2200275"/>
            <a:ext cx="252000" cy="5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75" name="Google Shape;1175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29024" r="63721" t="0"/>
          <a:stretch/>
        </p:blipFill>
        <p:spPr>
          <a:xfrm>
            <a:off x="7459205" y="2273725"/>
            <a:ext cx="252000" cy="5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9"/>
          <p:cNvSpPr txBox="1"/>
          <p:nvPr/>
        </p:nvSpPr>
        <p:spPr>
          <a:xfrm>
            <a:off x="1175589" y="4310087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1}{3}\ \ \ \ \frac{2}{9}\ \frac{9}{2}\ \ \ \frac{11}{3}\ \ \frac{3}{11}\ \ \ \ \frac{1}{8}\ \ \ \ \frac{1}{10}&quot;&gt;&lt;mo&gt;−&lt;/mo&gt;&lt;mfrac&gt;&lt;mn&gt;1&lt;/mn&gt;&lt;mn&gt;3&lt;/mn&gt;&lt;/mfrac&gt;&lt;mtext&gt;&lt;/mtext&gt;&lt;mtext&gt;&lt;/mtext&gt;&lt;mtext&gt;&lt;/mtext&gt;&lt;mtext&gt;&lt;/mtext&gt;&lt;mfrac&gt;&lt;mn&gt;2&lt;/mn&gt;&lt;mn&gt;9&lt;/mn&gt;&lt;/mfrac&gt;&lt;mtext&gt;&lt;/mtext&gt;&lt;mfrac&gt;&lt;mn&gt;9&lt;/mn&gt;&lt;mn&gt;2&lt;/mn&gt;&lt;/mfrac&gt;&lt;mtext&gt;&lt;/mtext&gt;&lt;mtext&gt;&lt;/mtext&gt;&lt;mtext&gt;&lt;/mtext&gt;&lt;mfrac&gt;&lt;mn&gt;11&lt;/mn&gt;&lt;mn&gt;3&lt;/mn&gt;&lt;/mfrac&gt;&lt;mtext&gt;&lt;/mtext&gt;&lt;mtext&gt;&lt;/mtext&gt;&lt;mfrac&gt;&lt;mn&gt;3&lt;/mn&gt;&lt;mn&gt;11&lt;/mn&gt;&lt;/mfrac&gt;&lt;mtext&gt;&lt;/mtext&gt;&lt;mtext&gt;&lt;/mtext&gt;&lt;mtext&gt;&lt;/mtext&gt;&lt;mtext&gt;&lt;/mtext&gt;&lt;mfrac&gt;&lt;mn&gt;1&lt;/mn&gt;&lt;mn&gt;8&lt;/mn&gt;&lt;/mfrac&gt;&lt;mtext&gt;&lt;/mtext&gt;&lt;mtext&gt;&lt;/mtext&gt;&lt;mtext&gt;&lt;/mtext&gt;&lt;mtext&gt;&lt;/mtext&gt;&lt;mfrac&gt;&lt;mn&gt;1&lt;/mn&gt;&lt;mn&gt;10&lt;/mn&gt;&lt;/mfrac&gt;&lt;/math&gt;" id="1177" name="Google Shape;1177;p89" title="negative one third two ninths nine halves eleven thirds 3 over 11 one eighth one tenth"/>
          <p:cNvPicPr preferRelativeResize="0"/>
          <p:nvPr/>
        </p:nvPicPr>
        <p:blipFill rotWithShape="1">
          <a:blip r:embed="rId3">
            <a:alphaModFix/>
          </a:blip>
          <a:srcRect b="0" l="1705" r="85655" t="0"/>
          <a:stretch/>
        </p:blipFill>
        <p:spPr>
          <a:xfrm>
            <a:off x="3049426" y="4254975"/>
            <a:ext cx="439126" cy="5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9"/>
          <p:cNvSpPr txBox="1"/>
          <p:nvPr/>
        </p:nvSpPr>
        <p:spPr>
          <a:xfrm>
            <a:off x="1099389" y="329117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1179" name="Google Shape;1179;p89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0" r="75967" t="0"/>
          <a:stretch/>
        </p:blipFill>
        <p:spPr>
          <a:xfrm>
            <a:off x="3049425" y="3204025"/>
            <a:ext cx="333900" cy="6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9"/>
          <p:cNvSpPr txBox="1"/>
          <p:nvPr/>
        </p:nvSpPr>
        <p:spPr>
          <a:xfrm>
            <a:off x="5425314" y="3240012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1181" name="Google Shape;1181;p89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37985" r="37982" t="0"/>
          <a:stretch/>
        </p:blipFill>
        <p:spPr>
          <a:xfrm>
            <a:off x="5042700" y="3236363"/>
            <a:ext cx="333900" cy="63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\ \ \ \frac{4}{15}\ \ \frac{15}{4}&quot;&gt;&lt;mfrac&gt;&lt;mn&gt;1&lt;/mn&gt;&lt;mn&gt;7&lt;/mn&gt;&lt;/mfrac&gt;&lt;mtext&gt;&lt;/mtext&gt;&lt;mtext&gt;&lt;/mtext&gt;&lt;mtext&gt;&lt;/mtext&gt;&lt;mfrac&gt;&lt;mn&gt;4&lt;/mn&gt;&lt;mn&gt;15&lt;/mn&gt;&lt;/mfrac&gt;&lt;mtext&gt;&lt;/mtext&gt;&lt;mtext&gt;&lt;/mtext&gt;&lt;mfrac&gt;&lt;mn&gt;15&lt;/mn&gt;&lt;mn&gt;4&lt;/mn&gt;&lt;/mfrac&gt;&lt;/math&gt;" id="1182" name="Google Shape;1182;p89" title="one seventh 4 over 15 fifteen fourths"/>
          <p:cNvPicPr preferRelativeResize="0"/>
          <p:nvPr/>
        </p:nvPicPr>
        <p:blipFill rotWithShape="1">
          <a:blip r:embed="rId4">
            <a:alphaModFix/>
          </a:blip>
          <a:srcRect b="0" l="69887" r="-6690" t="0"/>
          <a:stretch/>
        </p:blipFill>
        <p:spPr>
          <a:xfrm>
            <a:off x="7248263" y="3233091"/>
            <a:ext cx="511375" cy="6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188" name="Google Shape;1188;p90"/>
          <p:cNvSpPr txBox="1"/>
          <p:nvPr>
            <p:ph idx="1" type="body"/>
          </p:nvPr>
        </p:nvSpPr>
        <p:spPr>
          <a:xfrm>
            <a:off x="324000" y="759300"/>
            <a:ext cx="8237700" cy="4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 the </a:t>
            </a:r>
            <a:r>
              <a:rPr b="1" lang="en-GB"/>
              <a:t>reciprocals</a:t>
            </a:r>
            <a:r>
              <a:rPr lang="en-GB"/>
              <a:t> of the following.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89" name="Google Shape;1189;p90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0" r="90761" t="0"/>
          <a:stretch/>
        </p:blipFill>
        <p:spPr>
          <a:xfrm>
            <a:off x="965625" y="1295325"/>
            <a:ext cx="844725" cy="94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0" name="Google Shape;1190;p90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35329" r="56957" t="0"/>
          <a:stretch/>
        </p:blipFill>
        <p:spPr>
          <a:xfrm>
            <a:off x="823801" y="2468725"/>
            <a:ext cx="705301" cy="94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1" name="Google Shape;1191;p90" title="5 and one half eleven halves 2 over 11 9 and two thirds 29 over 3 3 over 29 10 and three fifths 53 over 3 3 over 53"/>
          <p:cNvPicPr preferRelativeResize="0"/>
          <p:nvPr/>
        </p:nvPicPr>
        <p:blipFill rotWithShape="1">
          <a:blip r:embed="rId3">
            <a:alphaModFix/>
          </a:blip>
          <a:srcRect b="0" l="69868" r="19691" t="0"/>
          <a:stretch/>
        </p:blipFill>
        <p:spPr>
          <a:xfrm>
            <a:off x="730175" y="3556100"/>
            <a:ext cx="844725" cy="835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2" name="Google Shape;1192;p90"/>
          <p:cNvGrpSpPr/>
          <p:nvPr/>
        </p:nvGrpSpPr>
        <p:grpSpPr>
          <a:xfrm>
            <a:off x="1944450" y="1295325"/>
            <a:ext cx="3766262" cy="943700"/>
            <a:chOff x="1944450" y="1295325"/>
            <a:chExt cx="3766262" cy="943700"/>
          </a:xfrm>
        </p:grpSpPr>
        <p:pic>
          <p:nvPicPr>
  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3" name="Google Shape;1193;p90" title="5 and one half eleven halves 2 over 11 9 and two thirds 29 over 3 3 over 29 10 and three fifths 53 over 3 3 over 53"/>
            <p:cNvPicPr preferRelativeResize="0"/>
            <p:nvPr/>
          </p:nvPicPr>
          <p:blipFill rotWithShape="1">
            <a:blip r:embed="rId3">
              <a:alphaModFix/>
            </a:blip>
            <a:srcRect b="0" l="9456" r="82163" t="0"/>
            <a:stretch/>
          </p:blipFill>
          <p:spPr>
            <a:xfrm>
              <a:off x="1944450" y="1295325"/>
              <a:ext cx="766249" cy="94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0"/>
            <p:cNvSpPr txBox="1"/>
            <p:nvPr/>
          </p:nvSpPr>
          <p:spPr>
            <a:xfrm>
              <a:off x="2710712" y="1505578"/>
              <a:ext cx="3000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reciprocal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5" name="Google Shape;1195;p90" title="5 and one half eleven halves 2 over 11 9 and two thirds 29 over 3 3 over 29 10 and three fifths 53 over 3 3 over 53"/>
            <p:cNvPicPr preferRelativeResize="0"/>
            <p:nvPr/>
          </p:nvPicPr>
          <p:blipFill rotWithShape="1">
            <a:blip r:embed="rId3">
              <a:alphaModFix/>
            </a:blip>
            <a:srcRect b="0" l="20267" r="71352" t="0"/>
            <a:stretch/>
          </p:blipFill>
          <p:spPr>
            <a:xfrm>
              <a:off x="4366875" y="1295325"/>
              <a:ext cx="766249" cy="94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6" name="Google Shape;1196;p90"/>
          <p:cNvGrpSpPr/>
          <p:nvPr/>
        </p:nvGrpSpPr>
        <p:grpSpPr>
          <a:xfrm>
            <a:off x="2006699" y="2468725"/>
            <a:ext cx="3641763" cy="943700"/>
            <a:chOff x="2006699" y="2468725"/>
            <a:chExt cx="3641763" cy="943700"/>
          </a:xfrm>
        </p:grpSpPr>
        <p:pic>
          <p:nvPicPr>
  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7" name="Google Shape;1197;p90" title="5 and one half eleven halves 2 over 11 9 and two thirds 29 over 3 3 over 29 10 and three fifths 53 over 3 3 over 53"/>
            <p:cNvPicPr preferRelativeResize="0"/>
            <p:nvPr/>
          </p:nvPicPr>
          <p:blipFill rotWithShape="1">
            <a:blip r:embed="rId3">
              <a:alphaModFix/>
            </a:blip>
            <a:srcRect b="0" l="47566" r="45415" t="0"/>
            <a:stretch/>
          </p:blipFill>
          <p:spPr>
            <a:xfrm>
              <a:off x="2006699" y="2468725"/>
              <a:ext cx="641751" cy="94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90"/>
            <p:cNvSpPr txBox="1"/>
            <p:nvPr/>
          </p:nvSpPr>
          <p:spPr>
            <a:xfrm>
              <a:off x="2648462" y="2678978"/>
              <a:ext cx="3000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reciprocal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5\frac{1}{2}\ \ \ \frac{11}{2}\ \ \ \ \frac{2}{11}\ \ \ \ \ \ 9\frac{2}{3}\ \ \ \ \frac{29}{3}\ \ \ \frac{3}{29}\ \ \ \ \ 10\frac{3}{5}\ \ \ \frac{53}{3}\ \ \ \frac{3}{53}&quot;&gt;&lt;mn&gt;5&lt;/mn&gt;&lt;mfrac&gt;&lt;mn&gt;1&lt;/mn&gt;&lt;mn&gt;2&lt;/mn&gt;&lt;/mfrac&gt;&lt;mtext&gt;&lt;/mtext&gt;&lt;mtext&gt;&lt;/mtext&gt;&lt;mtext&gt;&lt;/mtext&gt;&lt;mfrac&gt;&lt;mn&gt;11&lt;/mn&gt;&lt;mn&gt;2&lt;/mn&gt;&lt;/mfrac&gt;&lt;mtext&gt;&lt;/mtext&gt;&lt;mtext&gt;&lt;/mtext&gt;&lt;mtext&gt;&lt;/mtext&gt;&lt;mtext&gt;&lt;/mtext&gt;&lt;mfrac&gt;&lt;mn&gt;2&lt;/mn&gt;&lt;mn&gt;11&lt;/mn&gt;&lt;/mfrac&gt;&lt;mtext&gt;&lt;/mtext&gt;&lt;mtext&gt;&lt;/mtext&gt;&lt;mtext&gt;&lt;/mtext&gt;&lt;mtext&gt;&lt;/mtext&gt;&lt;mtext&gt;&lt;/mtext&gt;&lt;mtext&gt;&lt;/mtext&gt;&lt;mn&gt;9&lt;/mn&gt;&lt;mfrac&gt;&lt;mn&gt;2&lt;/mn&gt;&lt;mn&gt;3&lt;/mn&gt;&lt;/mfrac&gt;&lt;mtext&gt;&lt;/mtext&gt;&lt;mtext&gt;&lt;/mtext&gt;&lt;mtext&gt;&lt;/mtext&gt;&lt;mtext&gt;&lt;/mtext&gt;&lt;mfrac&gt;&lt;mn&gt;29&lt;/mn&gt;&lt;mn&gt;3&lt;/mn&gt;&lt;/mfrac&gt;&lt;mtext&gt;&lt;/mtext&gt;&lt;mtext&gt;&lt;/mtext&gt;&lt;mtext&gt;&lt;/mtext&gt;&lt;mfrac&gt;&lt;mn&gt;3&lt;/mn&gt;&lt;mn&gt;29&lt;/mn&gt;&lt;/mfrac&gt;&lt;mtext&gt;&lt;/mtext&gt;&lt;mtext&gt;&lt;/mtext&gt;&lt;mtext&gt;&lt;/mtext&gt;&lt;mtext&gt;&lt;/mtext&gt;&lt;mtext&gt;&lt;/mtext&gt;&lt;mn&gt;10&lt;/mn&gt;&lt;mfrac&gt;&lt;mn&gt;3&lt;/mn&gt;&lt;mn&gt;5&lt;/mn&gt;&lt;/mfrac&gt;&lt;mtext&gt;&lt;/mtext&gt;&lt;mtext&gt;&lt;/mtext&gt;&lt;mtext&gt;&lt;/mtext&gt;&lt;mfrac&gt;&lt;mn&gt;53&lt;/mn&gt;&lt;mn&gt;3&lt;/mn&gt;&lt;/mfrac&gt;&lt;mtext&gt;&lt;/mtext&gt;&lt;mtext&gt;&lt;/mtext&gt;&lt;mtext&gt;&lt;/mtext&gt;&lt;mfrac&gt;&lt;mn&gt;3&lt;/mn&gt;&lt;mn&gt;53&lt;/mn&gt;&lt;/mfrac&gt;&lt;/math&gt;" id="1199" name="Google Shape;1199;p90" title="5 and one half eleven halves 2 over 11 9 and two thirds 29 over 3 3 over 29 10 and three fifths 53 over 3 3 over 53"/>
            <p:cNvPicPr preferRelativeResize="0"/>
            <p:nvPr/>
          </p:nvPicPr>
          <p:blipFill rotWithShape="1">
            <a:blip r:embed="rId3">
              <a:alphaModFix/>
            </a:blip>
            <a:srcRect b="0" l="56979" r="34641" t="0"/>
            <a:stretch/>
          </p:blipFill>
          <p:spPr>
            <a:xfrm>
              <a:off x="4440876" y="2468725"/>
              <a:ext cx="766249" cy="94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0" name="Google Shape;1200;p90"/>
          <p:cNvGrpSpPr/>
          <p:nvPr/>
        </p:nvGrpSpPr>
        <p:grpSpPr>
          <a:xfrm>
            <a:off x="2082100" y="3642125"/>
            <a:ext cx="3566275" cy="841775"/>
            <a:chOff x="2082100" y="3642125"/>
            <a:chExt cx="3566275" cy="841775"/>
          </a:xfrm>
        </p:grpSpPr>
        <p:sp>
          <p:nvSpPr>
            <p:cNvPr id="1201" name="Google Shape;1201;p90"/>
            <p:cNvSpPr txBox="1"/>
            <p:nvPr/>
          </p:nvSpPr>
          <p:spPr>
            <a:xfrm>
              <a:off x="2647175" y="3798050"/>
              <a:ext cx="3001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reciprocal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</a:t>
              </a:r>
              <a:endParaRPr/>
            </a:p>
          </p:txBody>
        </p:sp>
        <p:pic>
          <p:nvPicPr>
            <p:cNvPr descr="53 over 5 5 over 53&#10;&#10;&lt;math xmlns=&quot;http://www.w3.org/1998/Math/MathML&quot; display=&quot;block&quot; data-is-equatio=&quot;1&quot; data-latex=&quot;\frac{53}{5}\ \ \ \frac{5}{53}&quot;&gt;&lt;mfrac&gt;&lt;mn&gt;53&lt;/mn&gt;&lt;mn&gt;5&lt;/mn&gt;&lt;/mfrac&gt;&lt;mtext&gt;&lt;/mtext&gt;&lt;mtext&gt;&lt;/mtext&gt;&lt;mtext&gt;&lt;/mtext&gt;&lt;mfrac&gt;&lt;mn&gt;5&lt;/mn&gt;&lt;mn&gt;53&lt;/mn&gt;&lt;/mfrac&gt;&lt;/math&gt;" id="1202" name="Google Shape;1202;p90"/>
            <p:cNvPicPr preferRelativeResize="0"/>
            <p:nvPr/>
          </p:nvPicPr>
          <p:blipFill rotWithShape="1">
            <a:blip r:embed="rId4">
              <a:alphaModFix/>
            </a:blip>
            <a:srcRect b="0" l="0" r="62168" t="0"/>
            <a:stretch/>
          </p:blipFill>
          <p:spPr>
            <a:xfrm>
              <a:off x="2082100" y="3642125"/>
              <a:ext cx="488225" cy="835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53 over 5 5 over 53&#10;&#10;&lt;math xmlns=&quot;http://www.w3.org/1998/Math/MathML&quot; display=&quot;block&quot; data-is-equatio=&quot;1&quot; data-latex=&quot;\frac{53}{5}\ \ \ \frac{5}{53}&quot;&gt;&lt;mfrac&gt;&lt;mn&gt;53&lt;/mn&gt;&lt;mn&gt;5&lt;/mn&gt;&lt;/mfrac&gt;&lt;mtext&gt;&lt;/mtext&gt;&lt;mtext&gt;&lt;/mtext&gt;&lt;mtext&gt;&lt;/mtext&gt;&lt;mfrac&gt;&lt;mn&gt;5&lt;/mn&gt;&lt;mn&gt;53&lt;/mn&gt;&lt;/mfrac&gt;&lt;/math&gt;" id="1203" name="Google Shape;1203;p90"/>
            <p:cNvPicPr preferRelativeResize="0"/>
            <p:nvPr/>
          </p:nvPicPr>
          <p:blipFill rotWithShape="1">
            <a:blip r:embed="rId4">
              <a:alphaModFix/>
            </a:blip>
            <a:srcRect b="0" l="62168" r="0" t="0"/>
            <a:stretch/>
          </p:blipFill>
          <p:spPr>
            <a:xfrm>
              <a:off x="4579892" y="3648850"/>
              <a:ext cx="488225" cy="83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1"/>
          <p:cNvSpPr txBox="1"/>
          <p:nvPr>
            <p:ph idx="1" type="body"/>
          </p:nvPr>
        </p:nvSpPr>
        <p:spPr>
          <a:xfrm>
            <a:off x="324000" y="759300"/>
            <a:ext cx="8237700" cy="19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Using the cards only once, make the following statements true.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209" name="Google Shape;1209;p91"/>
          <p:cNvGrpSpPr/>
          <p:nvPr/>
        </p:nvGrpSpPr>
        <p:grpSpPr>
          <a:xfrm>
            <a:off x="2732763" y="2347969"/>
            <a:ext cx="5963631" cy="1539351"/>
            <a:chOff x="2800538" y="3913425"/>
            <a:chExt cx="5963631" cy="1539351"/>
          </a:xfrm>
        </p:grpSpPr>
        <p:sp>
          <p:nvSpPr>
            <p:cNvPr id="1210" name="Google Shape;1210;p91"/>
            <p:cNvSpPr/>
            <p:nvPr/>
          </p:nvSpPr>
          <p:spPr>
            <a:xfrm>
              <a:off x="2803815" y="3913425"/>
              <a:ext cx="652200" cy="7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91"/>
            <p:cNvSpPr/>
            <p:nvPr/>
          </p:nvSpPr>
          <p:spPr>
            <a:xfrm>
              <a:off x="2800538" y="4751676"/>
              <a:ext cx="652200" cy="7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91"/>
            <p:cNvSpPr/>
            <p:nvPr/>
          </p:nvSpPr>
          <p:spPr>
            <a:xfrm>
              <a:off x="3921394" y="4270994"/>
              <a:ext cx="652200" cy="7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91"/>
            <p:cNvSpPr/>
            <p:nvPr/>
          </p:nvSpPr>
          <p:spPr>
            <a:xfrm>
              <a:off x="7036966" y="3928425"/>
              <a:ext cx="619500" cy="666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91"/>
            <p:cNvSpPr/>
            <p:nvPr/>
          </p:nvSpPr>
          <p:spPr>
            <a:xfrm>
              <a:off x="7036967" y="4766925"/>
              <a:ext cx="619500" cy="666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91"/>
            <p:cNvSpPr/>
            <p:nvPr/>
          </p:nvSpPr>
          <p:spPr>
            <a:xfrm>
              <a:off x="8144668" y="4766925"/>
              <a:ext cx="619500" cy="666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91"/>
            <p:cNvSpPr/>
            <p:nvPr/>
          </p:nvSpPr>
          <p:spPr>
            <a:xfrm>
              <a:off x="8144669" y="3928425"/>
              <a:ext cx="619500" cy="666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7" name="Google Shape;1217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218" name="Google Shape;1218;p91"/>
          <p:cNvSpPr/>
          <p:nvPr/>
        </p:nvSpPr>
        <p:spPr>
          <a:xfrm>
            <a:off x="1206925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1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1"/>
          <p:cNvSpPr/>
          <p:nvPr/>
        </p:nvSpPr>
        <p:spPr>
          <a:xfrm>
            <a:off x="1975251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1"/>
          <p:cNvSpPr/>
          <p:nvPr/>
        </p:nvSpPr>
        <p:spPr>
          <a:xfrm>
            <a:off x="2743577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1"/>
          <p:cNvSpPr/>
          <p:nvPr/>
        </p:nvSpPr>
        <p:spPr>
          <a:xfrm>
            <a:off x="3511903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4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1"/>
          <p:cNvSpPr/>
          <p:nvPr/>
        </p:nvSpPr>
        <p:spPr>
          <a:xfrm>
            <a:off x="4280229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5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1"/>
          <p:cNvSpPr/>
          <p:nvPr/>
        </p:nvSpPr>
        <p:spPr>
          <a:xfrm>
            <a:off x="5048555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8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1"/>
          <p:cNvSpPr/>
          <p:nvPr/>
        </p:nvSpPr>
        <p:spPr>
          <a:xfrm>
            <a:off x="5816881" y="12081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1"/>
          <p:cNvSpPr/>
          <p:nvPr/>
        </p:nvSpPr>
        <p:spPr>
          <a:xfrm>
            <a:off x="2736053" y="2352000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1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1"/>
          <p:cNvSpPr/>
          <p:nvPr/>
        </p:nvSpPr>
        <p:spPr>
          <a:xfrm>
            <a:off x="2738073" y="3184954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1"/>
          <p:cNvSpPr/>
          <p:nvPr/>
        </p:nvSpPr>
        <p:spPr>
          <a:xfrm>
            <a:off x="3853631" y="2709569"/>
            <a:ext cx="652200" cy="70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1"/>
          <p:cNvSpPr/>
          <p:nvPr/>
        </p:nvSpPr>
        <p:spPr>
          <a:xfrm>
            <a:off x="6969203" y="23670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4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1"/>
          <p:cNvSpPr/>
          <p:nvPr/>
        </p:nvSpPr>
        <p:spPr>
          <a:xfrm>
            <a:off x="6969204" y="3197712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5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1"/>
          <p:cNvSpPr/>
          <p:nvPr/>
        </p:nvSpPr>
        <p:spPr>
          <a:xfrm>
            <a:off x="8076905" y="32055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Lexend"/>
                <a:ea typeface="Lexend"/>
                <a:cs typeface="Lexend"/>
                <a:sym typeface="Lexend"/>
              </a:rPr>
              <a:t>8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1"/>
          <p:cNvSpPr/>
          <p:nvPr/>
        </p:nvSpPr>
        <p:spPr>
          <a:xfrm>
            <a:off x="8076906" y="2367000"/>
            <a:ext cx="6195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91"/>
          <p:cNvCxnSpPr/>
          <p:nvPr/>
        </p:nvCxnSpPr>
        <p:spPr>
          <a:xfrm>
            <a:off x="4645500" y="2081275"/>
            <a:ext cx="0" cy="24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91"/>
          <p:cNvCxnSpPr/>
          <p:nvPr/>
        </p:nvCxnSpPr>
        <p:spPr>
          <a:xfrm flipH="1" rot="10800000">
            <a:off x="6952525" y="3746175"/>
            <a:ext cx="1007100" cy="537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4" name="Google Shape;1234;p91"/>
          <p:cNvSpPr txBox="1"/>
          <p:nvPr/>
        </p:nvSpPr>
        <p:spPr>
          <a:xfrm>
            <a:off x="4742575" y="3891600"/>
            <a:ext cx="23958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fraction to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91"/>
          <p:cNvCxnSpPr/>
          <p:nvPr/>
        </p:nvCxnSpPr>
        <p:spPr>
          <a:xfrm>
            <a:off x="2678575" y="3113013"/>
            <a:ext cx="77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91"/>
          <p:cNvCxnSpPr/>
          <p:nvPr/>
        </p:nvCxnSpPr>
        <p:spPr>
          <a:xfrm>
            <a:off x="6920350" y="3113013"/>
            <a:ext cx="77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91"/>
          <p:cNvCxnSpPr/>
          <p:nvPr/>
        </p:nvCxnSpPr>
        <p:spPr>
          <a:xfrm>
            <a:off x="7997250" y="3113013"/>
            <a:ext cx="77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8" name="Google Shape;1238;p91"/>
          <p:cNvSpPr txBox="1"/>
          <p:nvPr/>
        </p:nvSpPr>
        <p:spPr>
          <a:xfrm>
            <a:off x="391900" y="2069850"/>
            <a:ext cx="11403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9" name="Google Shape;1239;p91"/>
          <p:cNvSpPr txBox="1"/>
          <p:nvPr/>
        </p:nvSpPr>
        <p:spPr>
          <a:xfrm>
            <a:off x="391900" y="2878225"/>
            <a:ext cx="24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000"/>
          </a:p>
        </p:txBody>
      </p:sp>
      <p:sp>
        <p:nvSpPr>
          <p:cNvPr id="1240" name="Google Shape;1240;p91"/>
          <p:cNvSpPr txBox="1"/>
          <p:nvPr/>
        </p:nvSpPr>
        <p:spPr>
          <a:xfrm>
            <a:off x="3511900" y="2878225"/>
            <a:ext cx="6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2000"/>
          </a:p>
        </p:txBody>
      </p:sp>
      <p:sp>
        <p:nvSpPr>
          <p:cNvPr id="1241" name="Google Shape;1241;p91"/>
          <p:cNvSpPr txBox="1"/>
          <p:nvPr/>
        </p:nvSpPr>
        <p:spPr>
          <a:xfrm>
            <a:off x="898300" y="2878225"/>
            <a:ext cx="245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sz="2000"/>
          </a:p>
        </p:txBody>
      </p:sp>
      <p:sp>
        <p:nvSpPr>
          <p:cNvPr id="1242" name="Google Shape;1242;p91"/>
          <p:cNvSpPr txBox="1"/>
          <p:nvPr/>
        </p:nvSpPr>
        <p:spPr>
          <a:xfrm>
            <a:off x="2247675" y="2878225"/>
            <a:ext cx="12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000"/>
          </a:p>
        </p:txBody>
      </p:sp>
      <p:sp>
        <p:nvSpPr>
          <p:cNvPr id="1243" name="Google Shape;1243;p91"/>
          <p:cNvSpPr txBox="1"/>
          <p:nvPr/>
        </p:nvSpPr>
        <p:spPr>
          <a:xfrm>
            <a:off x="4582900" y="2878225"/>
            <a:ext cx="24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000"/>
          </a:p>
        </p:txBody>
      </p:sp>
      <p:sp>
        <p:nvSpPr>
          <p:cNvPr id="1244" name="Google Shape;1244;p91"/>
          <p:cNvSpPr txBox="1"/>
          <p:nvPr/>
        </p:nvSpPr>
        <p:spPr>
          <a:xfrm>
            <a:off x="7702900" y="2878225"/>
            <a:ext cx="6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2000"/>
          </a:p>
        </p:txBody>
      </p:sp>
      <p:sp>
        <p:nvSpPr>
          <p:cNvPr id="1245" name="Google Shape;1245;p91"/>
          <p:cNvSpPr txBox="1"/>
          <p:nvPr/>
        </p:nvSpPr>
        <p:spPr>
          <a:xfrm>
            <a:off x="5089300" y="2878225"/>
            <a:ext cx="245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endParaRPr sz="2000"/>
          </a:p>
        </p:txBody>
      </p:sp>
      <p:sp>
        <p:nvSpPr>
          <p:cNvPr id="1246" name="Google Shape;1246;p91"/>
          <p:cNvSpPr txBox="1"/>
          <p:nvPr/>
        </p:nvSpPr>
        <p:spPr>
          <a:xfrm>
            <a:off x="6438675" y="2878225"/>
            <a:ext cx="126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two fractions</a:t>
            </a:r>
            <a:endParaRPr/>
          </a:p>
        </p:txBody>
      </p:sp>
      <p:sp>
        <p:nvSpPr>
          <p:cNvPr id="1252" name="Google Shape;1252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Reciprocals</a:t>
            </a:r>
            <a:endParaRPr/>
          </a:p>
        </p:txBody>
      </p:sp>
      <p:sp>
        <p:nvSpPr>
          <p:cNvPr id="1253" name="Google Shape;1253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254" name="Google Shape;1254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pic>
        <p:nvPicPr>
          <p:cNvPr id="1255" name="Google Shape;125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83" y="37004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261" name="Google Shape;1261;p93"/>
          <p:cNvSpPr txBox="1"/>
          <p:nvPr>
            <p:ph idx="1" type="body"/>
          </p:nvPr>
        </p:nvSpPr>
        <p:spPr>
          <a:xfrm>
            <a:off x="324000" y="702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these two calculations.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1262" name="Google Shape;1262;p93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498" y="1189650"/>
            <a:ext cx="1039198" cy="86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3" name="Google Shape;1263;p93"/>
          <p:cNvGraphicFramePr/>
          <p:nvPr/>
        </p:nvGraphicFramePr>
        <p:xfrm>
          <a:off x="716600" y="230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 gridSpan="5"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 hMerge="1"/>
                <a:tc rowSpan="3" hMerge="1"/>
                <a:tc rowSpan="3" hMerge="1"/>
                <a:tc rowSpan="3" hMerge="1"/>
              </a:tr>
              <a:tr h="822825">
                <a:tc gridSpan="5" vMerge="1"/>
                <a:tc hMerge="1" vMerge="1"/>
                <a:tc hMerge="1" vMerge="1"/>
                <a:tc hMerge="1" vMerge="1"/>
                <a:tc hMerge="1" vMerge="1"/>
              </a:tr>
              <a:tr h="822825">
                <a:tc gridSpan="5" vMerge="1"/>
                <a:tc hMerge="1" vMerge="1"/>
                <a:tc hMerge="1" vMerge="1"/>
                <a:tc hMerge="1" vMerge="1"/>
                <a:tc hMerge="1" v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264" name="Google Shape;1264;p93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4">
            <a:alphaModFix/>
          </a:blip>
          <a:srcRect b="0" l="0" r="68026" t="0"/>
          <a:stretch/>
        </p:blipFill>
        <p:spPr>
          <a:xfrm>
            <a:off x="4999271" y="1189650"/>
            <a:ext cx="1161475" cy="8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270" name="Google Shape;1270;p94"/>
          <p:cNvSpPr txBox="1"/>
          <p:nvPr>
            <p:ph idx="1" type="body"/>
          </p:nvPr>
        </p:nvSpPr>
        <p:spPr>
          <a:xfrm>
            <a:off x="324000" y="702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these two calculations.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1271" name="Google Shape;1271;p94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498" y="1189650"/>
            <a:ext cx="1039198" cy="86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2" name="Google Shape;1272;p94"/>
          <p:cNvGraphicFramePr/>
          <p:nvPr/>
        </p:nvGraphicFramePr>
        <p:xfrm>
          <a:off x="4574600" y="31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3" name="Google Shape;1273;p94"/>
          <p:cNvGraphicFramePr/>
          <p:nvPr/>
        </p:nvGraphicFramePr>
        <p:xfrm>
          <a:off x="716600" y="230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 gridSpan="5"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 hMerge="1"/>
                <a:tc rowSpan="3" hMerge="1"/>
                <a:tc rowSpan="3" hMerge="1"/>
                <a:tc rowSpan="3" hMerge="1"/>
              </a:tr>
              <a:tr h="822825">
                <a:tc gridSpan="5" vMerge="1"/>
                <a:tc hMerge="1" vMerge="1"/>
                <a:tc hMerge="1" vMerge="1"/>
                <a:tc hMerge="1" vMerge="1"/>
                <a:tc hMerge="1" vMerge="1"/>
              </a:tr>
              <a:tr h="822825">
                <a:tc gridSpan="5" vMerge="1"/>
                <a:tc hMerge="1" vMerge="1"/>
                <a:tc hMerge="1" vMerge="1"/>
                <a:tc hMerge="1" vMerge="1"/>
                <a:tc hMerge="1" vMerge="1"/>
              </a:tr>
            </a:tbl>
          </a:graphicData>
        </a:graphic>
      </p:graphicFrame>
      <p:graphicFrame>
        <p:nvGraphicFramePr>
          <p:cNvPr id="1274" name="Google Shape;1274;p94"/>
          <p:cNvGraphicFramePr/>
          <p:nvPr/>
        </p:nvGraphicFramePr>
        <p:xfrm>
          <a:off x="716594" y="230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 vMerge="1"/>
                <a:tc vMerge="1"/>
                <a:tc vMerge="1"/>
                <a:tc vMerge="1"/>
                <a:tc vMerge="1"/>
              </a:tr>
              <a:tr h="822825">
                <a:tc vMerge="1"/>
                <a:tc vMerge="1"/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275" name="Google Shape;1275;p94"/>
          <p:cNvGraphicFramePr/>
          <p:nvPr/>
        </p:nvGraphicFramePr>
        <p:xfrm>
          <a:off x="716600" y="230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=\frac{3}{5}\times\frac{3}{2}=\frac{9}{10}&quot;&gt;&lt;mo&gt;=&lt;/mo&gt;&lt;mfrac&gt;&lt;mn&gt;3&lt;/mn&gt;&lt;mn&gt;5&lt;/mn&gt;&lt;/mfrac&gt;&lt;mo&gt;×&lt;/mo&gt;&lt;mfrac&gt;&lt;mn&gt;3&lt;/mn&gt;&lt;mn&gt;2&lt;/mn&gt;&lt;/mfrac&gt;&lt;mo&gt;=&lt;/mo&gt;&lt;mfrac&gt;&lt;mn&gt;9&lt;/mn&gt;&lt;mn&gt;10&lt;/mn&gt;&lt;/mfrac&gt;&lt;/math&gt;" id="1276" name="Google Shape;1276;p94" title="equals three fifths times three halves equals nine tenths"/>
          <p:cNvPicPr preferRelativeResize="0"/>
          <p:nvPr/>
        </p:nvPicPr>
        <p:blipFill rotWithShape="1">
          <a:blip r:embed="rId4">
            <a:alphaModFix/>
          </a:blip>
          <a:srcRect b="0" l="62969" r="0" t="0"/>
          <a:stretch/>
        </p:blipFill>
        <p:spPr>
          <a:xfrm>
            <a:off x="2537877" y="1189650"/>
            <a:ext cx="951425" cy="86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7" name="Google Shape;1277;p94"/>
          <p:cNvGrpSpPr/>
          <p:nvPr/>
        </p:nvGrpSpPr>
        <p:grpSpPr>
          <a:xfrm>
            <a:off x="866583" y="2514600"/>
            <a:ext cx="6522927" cy="2048462"/>
            <a:chOff x="866583" y="2362200"/>
            <a:chExt cx="6522927" cy="2048462"/>
          </a:xfrm>
        </p:grpSpPr>
        <p:pic>
          <p:nvPicPr>
            <p:cNvPr id="1278" name="Google Shape;1278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93183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6583" y="23622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0" name="Google Shape;1280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86808" y="23622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1" name="Google Shape;1281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5933" y="23622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2" name="Google Shape;128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6583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3" name="Google Shape;1283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86808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4" name="Google Shape;1284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5933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5" name="Google Shape;128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6583" y="399156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6" name="Google Shape;1286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86808" y="399156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7" name="Google Shape;1287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5933" y="399156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8" name="Google Shape;1288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51433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9" name="Google Shape;1289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71135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0" name="Google Shape;1290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29385" y="3117113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1" name="Google Shape;1291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93511" y="3132475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2" name="Google Shape;129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93186" y="39009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3" name="Google Shape;1293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51436" y="39009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4" name="Google Shape;1294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09686" y="39009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5" name="Google Shape;129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29386" y="39009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296" name="Google Shape;1296;p94"/>
          <p:cNvGraphicFramePr/>
          <p:nvPr/>
        </p:nvGraphicFramePr>
        <p:xfrm>
          <a:off x="716600" y="230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90600"/>
                <a:gridCol w="590600"/>
                <a:gridCol w="590600"/>
                <a:gridCol w="590600"/>
                <a:gridCol w="590600"/>
              </a:tblGrid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297" name="Google Shape;1297;p94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6">
            <a:alphaModFix/>
          </a:blip>
          <a:srcRect b="0" l="0" r="68026" t="0"/>
          <a:stretch/>
        </p:blipFill>
        <p:spPr>
          <a:xfrm>
            <a:off x="4999271" y="1189650"/>
            <a:ext cx="1161475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298" name="Google Shape;1298;p94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6">
            <a:alphaModFix/>
          </a:blip>
          <a:srcRect b="0" l="31973" r="26192" t="0"/>
          <a:stretch/>
        </p:blipFill>
        <p:spPr>
          <a:xfrm>
            <a:off x="6160749" y="1189650"/>
            <a:ext cx="1519750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299" name="Google Shape;1299;p94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6">
            <a:alphaModFix/>
          </a:blip>
          <a:srcRect b="0" l="73808" r="0" t="0"/>
          <a:stretch/>
        </p:blipFill>
        <p:spPr>
          <a:xfrm>
            <a:off x="7680504" y="1189650"/>
            <a:ext cx="951425" cy="8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305" name="Google Shape;1305;p95"/>
          <p:cNvSpPr txBox="1"/>
          <p:nvPr>
            <p:ph idx="1" type="body"/>
          </p:nvPr>
        </p:nvSpPr>
        <p:spPr>
          <a:xfrm>
            <a:off x="324000" y="702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these two calculations.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\frac{2}{3}&quot;&gt;&lt;mfrac&gt;&lt;mn&gt;3&lt;/mn&gt;&lt;mn&gt;5&lt;/mn&gt;&lt;/mfrac&gt;&lt;mo&gt;÷&lt;/mo&gt;&lt;mfrac&gt;&lt;mn&gt;2&lt;/mn&gt;&lt;mn&gt;3&lt;/mn&gt;&lt;/mfrac&gt;&lt;/math&gt;" id="1306" name="Google Shape;1306;p95" title="three fifths divided by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498" y="1189650"/>
            <a:ext cx="1039198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}{5}\times\frac{3}{2}=\frac{9}{10}&quot;&gt;&lt;mo&gt;=&lt;/mo&gt;&lt;mfrac&gt;&lt;mn&gt;3&lt;/mn&gt;&lt;mn&gt;5&lt;/mn&gt;&lt;/mfrac&gt;&lt;mo&gt;×&lt;/mo&gt;&lt;mfrac&gt;&lt;mn&gt;3&lt;/mn&gt;&lt;mn&gt;2&lt;/mn&gt;&lt;/mfrac&gt;&lt;mo&gt;=&lt;/mo&gt;&lt;mfrac&gt;&lt;mn&gt;9&lt;/mn&gt;&lt;mn&gt;10&lt;/mn&gt;&lt;/mfrac&gt;&lt;/math&gt;" id="1307" name="Google Shape;1307;p95" title="equals three fifths times three halves equals nine tenths"/>
          <p:cNvPicPr preferRelativeResize="0"/>
          <p:nvPr/>
        </p:nvPicPr>
        <p:blipFill rotWithShape="1">
          <a:blip r:embed="rId4">
            <a:alphaModFix/>
          </a:blip>
          <a:srcRect b="0" l="62969" r="0" t="0"/>
          <a:stretch/>
        </p:blipFill>
        <p:spPr>
          <a:xfrm>
            <a:off x="2537877" y="1189650"/>
            <a:ext cx="951425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308" name="Google Shape;1308;p95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5">
            <a:alphaModFix/>
          </a:blip>
          <a:srcRect b="0" l="0" r="68026" t="0"/>
          <a:stretch/>
        </p:blipFill>
        <p:spPr>
          <a:xfrm>
            <a:off x="4999271" y="1189650"/>
            <a:ext cx="1161475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309" name="Google Shape;1309;p95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5">
            <a:alphaModFix/>
          </a:blip>
          <a:srcRect b="0" l="31973" r="26192" t="0"/>
          <a:stretch/>
        </p:blipFill>
        <p:spPr>
          <a:xfrm>
            <a:off x="6160749" y="1189650"/>
            <a:ext cx="1519750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3}{2}=\frac{3\times3}{5\times2}=\frac{9}{10}&quot;&gt;&lt;mfrac&gt;&lt;mn&gt;3&lt;/mn&gt;&lt;mn&gt;5&lt;/mn&gt;&lt;/mfrac&gt;&lt;mo&gt;×&lt;/mo&gt;&lt;mfrac&gt;&lt;mn&gt;3&lt;/mn&gt;&lt;mn&gt;2&lt;/mn&gt;&lt;/mfrac&gt;&lt;mo&gt;=&lt;/mo&gt;&lt;mfrac&gt;&lt;mrow&gt;&lt;mn&gt;3&lt;/mn&gt;&lt;mo&gt;×&lt;/mo&gt;&lt;mn&gt;3&lt;/mn&gt;&lt;/mrow&gt;&lt;mrow&gt;&lt;mn&gt;5&lt;/mn&gt;&lt;mo&gt;×&lt;/mo&gt;&lt;mn&gt;2&lt;/mn&gt;&lt;/mrow&gt;&lt;/mfrac&gt;&lt;mo&gt;=&lt;/mo&gt;&lt;mfrac&gt;&lt;mn&gt;9&lt;/mn&gt;&lt;mn&gt;10&lt;/mn&gt;&lt;/mfrac&gt;&lt;/math&gt;" id="1310" name="Google Shape;1310;p95" title="three fifths times three halves equals the fraction with numerator 3 times 3 and denominator 5 times 2 equals nine tenths"/>
          <p:cNvPicPr preferRelativeResize="0"/>
          <p:nvPr/>
        </p:nvPicPr>
        <p:blipFill rotWithShape="1">
          <a:blip r:embed="rId5">
            <a:alphaModFix/>
          </a:blip>
          <a:srcRect b="0" l="73808" r="0" t="0"/>
          <a:stretch/>
        </p:blipFill>
        <p:spPr>
          <a:xfrm>
            <a:off x="7680504" y="1189650"/>
            <a:ext cx="951425" cy="8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5"/>
          <p:cNvSpPr txBox="1"/>
          <p:nvPr>
            <p:ph idx="1" type="body"/>
          </p:nvPr>
        </p:nvSpPr>
        <p:spPr>
          <a:xfrm>
            <a:off x="324000" y="2571750"/>
            <a:ext cx="82377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notice?</a:t>
            </a:r>
            <a:endParaRPr/>
          </a:p>
        </p:txBody>
      </p:sp>
      <p:sp>
        <p:nvSpPr>
          <p:cNvPr id="1312" name="Google Shape;1312;p95"/>
          <p:cNvSpPr txBox="1"/>
          <p:nvPr>
            <p:ph idx="1" type="body"/>
          </p:nvPr>
        </p:nvSpPr>
        <p:spPr>
          <a:xfrm>
            <a:off x="324000" y="3240000"/>
            <a:ext cx="82377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Dividing by a number and multiplying by the reciprocal of that number give the same result.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Do you think this will always work?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95"/>
          <p:cNvSpPr/>
          <p:nvPr/>
        </p:nvSpPr>
        <p:spPr>
          <a:xfrm>
            <a:off x="1700350" y="1082275"/>
            <a:ext cx="8376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5"/>
          <p:cNvSpPr/>
          <p:nvPr/>
        </p:nvSpPr>
        <p:spPr>
          <a:xfrm>
            <a:off x="5355600" y="1082275"/>
            <a:ext cx="8376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1320" name="Google Shape;1320;p96" title="two fifths divided by three sevenths"/>
          <p:cNvPicPr preferRelativeResize="0"/>
          <p:nvPr/>
        </p:nvPicPr>
        <p:blipFill rotWithShape="1">
          <a:blip r:embed="rId3">
            <a:alphaModFix/>
          </a:blip>
          <a:srcRect b="0" l="37214" r="37457" t="0"/>
          <a:stretch/>
        </p:blipFill>
        <p:spPr>
          <a:xfrm>
            <a:off x="5714330" y="1641375"/>
            <a:ext cx="238035" cy="77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538" y="1648011"/>
            <a:ext cx="238035" cy="765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18A089}{\frac{3}{7}}&quot;&gt;&lt;mstyle mathcolor=&quot;#18A089&quot;&gt;&lt;mfrac&gt;&lt;mn&gt;3&lt;/mn&gt;&lt;mn&gt;7&lt;/mn&gt;&lt;/mfrac&gt;&lt;/mstyle&gt;&lt;/math&gt;" id="1322" name="Google Shape;1322;p96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4122" y="1641379"/>
            <a:ext cx="238035" cy="782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96"/>
          <p:cNvSpPr txBox="1"/>
          <p:nvPr>
            <p:ph idx="1" type="body"/>
          </p:nvPr>
        </p:nvSpPr>
        <p:spPr>
          <a:xfrm>
            <a:off x="324000" y="702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let’s look at the understanding of why it works.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before we looked at this calculation: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24" name="Google Shape;1324;p96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76153" r="-1781" t="0"/>
          <a:stretch/>
        </p:blipFill>
        <p:spPr>
          <a:xfrm>
            <a:off x="6433903" y="1639500"/>
            <a:ext cx="968524" cy="782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5" name="Google Shape;1325;p96"/>
          <p:cNvGraphicFramePr/>
          <p:nvPr/>
        </p:nvGraphicFramePr>
        <p:xfrm>
          <a:off x="852950" y="181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6" name="Google Shape;1326;p96"/>
          <p:cNvGraphicFramePr/>
          <p:nvPr/>
        </p:nvGraphicFramePr>
        <p:xfrm>
          <a:off x="855813" y="1816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7" name="Google Shape;1327;p96"/>
          <p:cNvGraphicFramePr/>
          <p:nvPr/>
        </p:nvGraphicFramePr>
        <p:xfrm>
          <a:off x="858025" y="1824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2" name="Google Shape;1332;p97"/>
          <p:cNvGraphicFramePr/>
          <p:nvPr/>
        </p:nvGraphicFramePr>
        <p:xfrm>
          <a:off x="852950" y="181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3" name="Google Shape;1333;p97"/>
          <p:cNvGraphicFramePr/>
          <p:nvPr/>
        </p:nvGraphicFramePr>
        <p:xfrm>
          <a:off x="855813" y="1816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4" name="Google Shape;133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1335" name="Google Shape;1335;p97" title="two fifths divided by three sevenths"/>
          <p:cNvPicPr preferRelativeResize="0"/>
          <p:nvPr/>
        </p:nvPicPr>
        <p:blipFill rotWithShape="1">
          <a:blip r:embed="rId3">
            <a:alphaModFix/>
          </a:blip>
          <a:srcRect b="0" l="37214" r="37457" t="0"/>
          <a:stretch/>
        </p:blipFill>
        <p:spPr>
          <a:xfrm>
            <a:off x="4384847" y="1062475"/>
            <a:ext cx="232861" cy="761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6" name="Google Shape;1336;p97"/>
          <p:cNvGrpSpPr/>
          <p:nvPr/>
        </p:nvGrpSpPr>
        <p:grpSpPr>
          <a:xfrm>
            <a:off x="831850" y="1235951"/>
            <a:ext cx="1082400" cy="432900"/>
            <a:chOff x="822675" y="1691151"/>
            <a:chExt cx="1082400" cy="432900"/>
          </a:xfrm>
        </p:grpSpPr>
        <p:cxnSp>
          <p:nvCxnSpPr>
            <p:cNvPr id="1337" name="Google Shape;1337;p97"/>
            <p:cNvCxnSpPr/>
            <p:nvPr/>
          </p:nvCxnSpPr>
          <p:spPr>
            <a:xfrm rot="10800000">
              <a:off x="822675" y="2101750"/>
              <a:ext cx="10824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descr="&lt;math xmlns=&quot;http://www.w3.org/1998/Math/MathML&quot; display=&quot;block&quot; data-is-equatio=&quot;1&quot; data-latex=&quot;\textcolor{#9958B4}{\frac{2}{5}}&quot;&gt;&lt;mstyle mathcolor=&quot;#9958B4&quot;&gt;&lt;mfrac&gt;&lt;mn&gt;2&lt;/mn&gt;&lt;mn&gt;5&lt;/mn&gt;&lt;/mfrac&gt;&lt;/mstyle&gt;&lt;/math&gt;" id="1338" name="Google Shape;1338;p97" title="two fifths"/>
            <p:cNvSpPr txBox="1"/>
            <p:nvPr/>
          </p:nvSpPr>
          <p:spPr>
            <a:xfrm>
              <a:off x="1217703" y="1691151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97"/>
          <p:cNvGrpSpPr/>
          <p:nvPr/>
        </p:nvGrpSpPr>
        <p:grpSpPr>
          <a:xfrm>
            <a:off x="799400" y="769293"/>
            <a:ext cx="2716800" cy="432900"/>
            <a:chOff x="790225" y="1224493"/>
            <a:chExt cx="2716800" cy="432900"/>
          </a:xfrm>
        </p:grpSpPr>
        <p:cxnSp>
          <p:nvCxnSpPr>
            <p:cNvPr id="1340" name="Google Shape;1340;p97"/>
            <p:cNvCxnSpPr/>
            <p:nvPr/>
          </p:nvCxnSpPr>
          <p:spPr>
            <a:xfrm rot="10800000">
              <a:off x="790225" y="1641600"/>
              <a:ext cx="271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1" name="Google Shape;1341;p97"/>
            <p:cNvSpPr txBox="1"/>
            <p:nvPr/>
          </p:nvSpPr>
          <p:spPr>
            <a:xfrm>
              <a:off x="1975353" y="1224493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42" name="Google Shape;1342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875" y="1068966"/>
            <a:ext cx="232861" cy="748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18A089}{\frac{3}{7}}&quot;&gt;&lt;mstyle mathcolor=&quot;#18A089&quot;&gt;&lt;mfrac&gt;&lt;mn&gt;3&lt;/mn&gt;&lt;mn&gt;7&lt;/mn&gt;&lt;/mfrac&gt;&lt;/mstyle&gt;&lt;/math&gt;" id="1343" name="Google Shape;1343;p97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818" y="1062479"/>
            <a:ext cx="232861" cy="7651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4" name="Google Shape;1344;p97"/>
          <p:cNvGrpSpPr/>
          <p:nvPr/>
        </p:nvGrpSpPr>
        <p:grpSpPr>
          <a:xfrm>
            <a:off x="333175" y="1830500"/>
            <a:ext cx="303875" cy="2543700"/>
            <a:chOff x="324000" y="2285700"/>
            <a:chExt cx="303875" cy="2543700"/>
          </a:xfrm>
        </p:grpSpPr>
        <p:cxnSp>
          <p:nvCxnSpPr>
            <p:cNvPr id="1345" name="Google Shape;1345;p97"/>
            <p:cNvCxnSpPr/>
            <p:nvPr/>
          </p:nvCxnSpPr>
          <p:spPr>
            <a:xfrm rot="10800000">
              <a:off x="627875" y="2285700"/>
              <a:ext cx="0" cy="25437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6" name="Google Shape;1346;p97"/>
            <p:cNvSpPr txBox="1"/>
            <p:nvPr/>
          </p:nvSpPr>
          <p:spPr>
            <a:xfrm>
              <a:off x="324000" y="3341100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97"/>
          <p:cNvGrpSpPr/>
          <p:nvPr/>
        </p:nvGrpSpPr>
        <p:grpSpPr>
          <a:xfrm>
            <a:off x="3738900" y="1800475"/>
            <a:ext cx="231625" cy="1080000"/>
            <a:chOff x="3729725" y="2255675"/>
            <a:chExt cx="231625" cy="1080000"/>
          </a:xfrm>
        </p:grpSpPr>
        <p:cxnSp>
          <p:nvCxnSpPr>
            <p:cNvPr id="1348" name="Google Shape;1348;p97"/>
            <p:cNvCxnSpPr/>
            <p:nvPr/>
          </p:nvCxnSpPr>
          <p:spPr>
            <a:xfrm rot="10800000">
              <a:off x="3729725" y="2255675"/>
              <a:ext cx="0" cy="108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49" name="Google Shape;1349;p97"/>
            <p:cNvSpPr txBox="1"/>
            <p:nvPr/>
          </p:nvSpPr>
          <p:spPr>
            <a:xfrm>
              <a:off x="3733950" y="2483550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50" name="Google Shape;1350;p97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38201" r="51494" t="0"/>
          <a:stretch/>
        </p:blipFill>
        <p:spPr>
          <a:xfrm>
            <a:off x="5129481" y="1062500"/>
            <a:ext cx="380950" cy="76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51" name="Google Shape;1351;p97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76153" r="-1781" t="0"/>
          <a:stretch/>
        </p:blipFill>
        <p:spPr>
          <a:xfrm>
            <a:off x="7872539" y="1062499"/>
            <a:ext cx="947473" cy="76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2" name="Google Shape;1352;p97"/>
          <p:cNvGraphicFramePr/>
          <p:nvPr/>
        </p:nvGraphicFramePr>
        <p:xfrm>
          <a:off x="858025" y="1824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3" name="Google Shape;1353;p97"/>
          <p:cNvGraphicFramePr/>
          <p:nvPr/>
        </p:nvGraphicFramePr>
        <p:xfrm>
          <a:off x="5731675" y="289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/>
                    </a:solidFill>
                  </a:tcPr>
                </a:tc>
              </a:tr>
            </a:tbl>
          </a:graphicData>
        </a:graphic>
      </p:graphicFrame>
      <p:grpSp>
        <p:nvGrpSpPr>
          <p:cNvPr id="1354" name="Google Shape;1354;p97"/>
          <p:cNvGrpSpPr/>
          <p:nvPr/>
        </p:nvGrpSpPr>
        <p:grpSpPr>
          <a:xfrm>
            <a:off x="8571088" y="2896175"/>
            <a:ext cx="231625" cy="1080000"/>
            <a:chOff x="3729725" y="2255675"/>
            <a:chExt cx="231625" cy="1080000"/>
          </a:xfrm>
        </p:grpSpPr>
        <p:cxnSp>
          <p:nvCxnSpPr>
            <p:cNvPr id="1355" name="Google Shape;1355;p97"/>
            <p:cNvCxnSpPr/>
            <p:nvPr/>
          </p:nvCxnSpPr>
          <p:spPr>
            <a:xfrm rot="10800000">
              <a:off x="3729725" y="2255675"/>
              <a:ext cx="0" cy="108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6" name="Google Shape;1356;p97"/>
            <p:cNvSpPr txBox="1"/>
            <p:nvPr/>
          </p:nvSpPr>
          <p:spPr>
            <a:xfrm>
              <a:off x="3733950" y="2483550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97"/>
          <p:cNvGrpSpPr/>
          <p:nvPr/>
        </p:nvGrpSpPr>
        <p:grpSpPr>
          <a:xfrm>
            <a:off x="5725150" y="2302743"/>
            <a:ext cx="2716800" cy="432900"/>
            <a:chOff x="790225" y="1224493"/>
            <a:chExt cx="2716800" cy="432900"/>
          </a:xfrm>
        </p:grpSpPr>
        <p:cxnSp>
          <p:nvCxnSpPr>
            <p:cNvPr id="1358" name="Google Shape;1358;p97"/>
            <p:cNvCxnSpPr/>
            <p:nvPr/>
          </p:nvCxnSpPr>
          <p:spPr>
            <a:xfrm rot="10800000">
              <a:off x="790225" y="1641600"/>
              <a:ext cx="271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59" name="Google Shape;1359;p97"/>
            <p:cNvSpPr txBox="1"/>
            <p:nvPr/>
          </p:nvSpPr>
          <p:spPr>
            <a:xfrm>
              <a:off x="1975353" y="1224493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60" name="Google Shape;1360;p97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49294" r="23842" t="43419"/>
          <a:stretch/>
        </p:blipFill>
        <p:spPr>
          <a:xfrm>
            <a:off x="5539575" y="1394700"/>
            <a:ext cx="993126" cy="43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61" name="Google Shape;1361;p97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56445" l="49864" r="23842" t="0"/>
          <a:stretch/>
        </p:blipFill>
        <p:spPr>
          <a:xfrm>
            <a:off x="5560625" y="1062500"/>
            <a:ext cx="972074" cy="33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62" name="Google Shape;1362;p97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-802" r="62229" t="0"/>
          <a:stretch/>
        </p:blipFill>
        <p:spPr>
          <a:xfrm>
            <a:off x="6507875" y="1062488"/>
            <a:ext cx="1426100" cy="7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97"/>
          <p:cNvSpPr/>
          <p:nvPr/>
        </p:nvSpPr>
        <p:spPr>
          <a:xfrm>
            <a:off x="4328075" y="936300"/>
            <a:ext cx="7491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7"/>
          <p:cNvSpPr/>
          <p:nvPr/>
        </p:nvSpPr>
        <p:spPr>
          <a:xfrm>
            <a:off x="7246975" y="936300"/>
            <a:ext cx="6870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7"/>
          <p:cNvSpPr/>
          <p:nvPr/>
        </p:nvSpPr>
        <p:spPr>
          <a:xfrm>
            <a:off x="3720975" y="2276575"/>
            <a:ext cx="1839900" cy="668400"/>
          </a:xfrm>
          <a:prstGeom prst="roundRect">
            <a:avLst>
              <a:gd fmla="val 16667" name="adj"/>
            </a:avLst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much of this rectangle…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7"/>
          <p:cNvSpPr/>
          <p:nvPr/>
        </p:nvSpPr>
        <p:spPr>
          <a:xfrm>
            <a:off x="3734550" y="3748575"/>
            <a:ext cx="1839900" cy="6684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…fits into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rectangle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7" name="Google Shape;1367;p97"/>
          <p:cNvCxnSpPr>
            <a:stCxn id="1365" idx="2"/>
          </p:cNvCxnSpPr>
          <p:nvPr/>
        </p:nvCxnSpPr>
        <p:spPr>
          <a:xfrm>
            <a:off x="4640925" y="2944975"/>
            <a:ext cx="1067100" cy="568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8" name="Google Shape;1368;p97"/>
          <p:cNvSpPr/>
          <p:nvPr/>
        </p:nvSpPr>
        <p:spPr>
          <a:xfrm>
            <a:off x="5529050" y="1508575"/>
            <a:ext cx="972000" cy="40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97"/>
          <p:cNvSpPr/>
          <p:nvPr/>
        </p:nvSpPr>
        <p:spPr>
          <a:xfrm>
            <a:off x="5733638" y="2896175"/>
            <a:ext cx="2703900" cy="10800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0" name="Google Shape;1370;p97"/>
          <p:cNvCxnSpPr>
            <a:stCxn id="1366" idx="1"/>
          </p:cNvCxnSpPr>
          <p:nvPr/>
        </p:nvCxnSpPr>
        <p:spPr>
          <a:xfrm rot="10800000">
            <a:off x="1950750" y="3097875"/>
            <a:ext cx="1783800" cy="984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1" name="Google Shape;1371;p97"/>
          <p:cNvSpPr/>
          <p:nvPr/>
        </p:nvSpPr>
        <p:spPr>
          <a:xfrm>
            <a:off x="5526212" y="1005187"/>
            <a:ext cx="972000" cy="40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7"/>
          <p:cNvSpPr/>
          <p:nvPr/>
        </p:nvSpPr>
        <p:spPr>
          <a:xfrm>
            <a:off x="857875" y="1824650"/>
            <a:ext cx="1092900" cy="25422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378" name="Google Shape;1378;p98"/>
          <p:cNvSpPr txBox="1"/>
          <p:nvPr/>
        </p:nvSpPr>
        <p:spPr>
          <a:xfrm>
            <a:off x="4265725" y="2480600"/>
            <a:ext cx="424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Multiplying by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divisor gives us the same answer.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9" name="Google Shape;1379;p98"/>
          <p:cNvGraphicFramePr/>
          <p:nvPr/>
        </p:nvGraphicFramePr>
        <p:xfrm>
          <a:off x="852950" y="181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2703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0" name="Google Shape;1380;p98"/>
          <p:cNvGraphicFramePr/>
          <p:nvPr/>
        </p:nvGraphicFramePr>
        <p:xfrm>
          <a:off x="855813" y="1816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254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>
                        <a:alpha val="59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81" name="Google Shape;1381;p98"/>
          <p:cNvGrpSpPr/>
          <p:nvPr/>
        </p:nvGrpSpPr>
        <p:grpSpPr>
          <a:xfrm>
            <a:off x="831850" y="1235951"/>
            <a:ext cx="1082400" cy="432900"/>
            <a:chOff x="822675" y="1691151"/>
            <a:chExt cx="1082400" cy="432900"/>
          </a:xfrm>
        </p:grpSpPr>
        <p:cxnSp>
          <p:nvCxnSpPr>
            <p:cNvPr id="1382" name="Google Shape;1382;p98"/>
            <p:cNvCxnSpPr/>
            <p:nvPr/>
          </p:nvCxnSpPr>
          <p:spPr>
            <a:xfrm rot="10800000">
              <a:off x="822675" y="2101750"/>
              <a:ext cx="10824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descr="&lt;math xmlns=&quot;http://www.w3.org/1998/Math/MathML&quot; display=&quot;block&quot; data-is-equatio=&quot;1&quot; data-latex=&quot;\textcolor{#9958B4}{\frac{2}{5}}&quot;&gt;&lt;mstyle mathcolor=&quot;#9958B4&quot;&gt;&lt;mfrac&gt;&lt;mn&gt;2&lt;/mn&gt;&lt;mn&gt;5&lt;/mn&gt;&lt;/mfrac&gt;&lt;/mstyle&gt;&lt;/math&gt;" id="1383" name="Google Shape;1383;p98" title="two fifths"/>
            <p:cNvSpPr txBox="1"/>
            <p:nvPr/>
          </p:nvSpPr>
          <p:spPr>
            <a:xfrm>
              <a:off x="1217703" y="1691151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4" name="Google Shape;1384;p98"/>
          <p:cNvGrpSpPr/>
          <p:nvPr/>
        </p:nvGrpSpPr>
        <p:grpSpPr>
          <a:xfrm>
            <a:off x="799400" y="769293"/>
            <a:ext cx="2716800" cy="432900"/>
            <a:chOff x="790225" y="1224493"/>
            <a:chExt cx="2716800" cy="432900"/>
          </a:xfrm>
        </p:grpSpPr>
        <p:cxnSp>
          <p:nvCxnSpPr>
            <p:cNvPr id="1385" name="Google Shape;1385;p98"/>
            <p:cNvCxnSpPr/>
            <p:nvPr/>
          </p:nvCxnSpPr>
          <p:spPr>
            <a:xfrm rot="10800000">
              <a:off x="790225" y="1641600"/>
              <a:ext cx="2716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86" name="Google Shape;1386;p98"/>
            <p:cNvSpPr txBox="1"/>
            <p:nvPr/>
          </p:nvSpPr>
          <p:spPr>
            <a:xfrm>
              <a:off x="1975353" y="1224493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7" name="Google Shape;1387;p98"/>
          <p:cNvGrpSpPr/>
          <p:nvPr/>
        </p:nvGrpSpPr>
        <p:grpSpPr>
          <a:xfrm>
            <a:off x="333175" y="1830500"/>
            <a:ext cx="303875" cy="2543700"/>
            <a:chOff x="324000" y="2285700"/>
            <a:chExt cx="303875" cy="2543700"/>
          </a:xfrm>
        </p:grpSpPr>
        <p:cxnSp>
          <p:nvCxnSpPr>
            <p:cNvPr id="1388" name="Google Shape;1388;p98"/>
            <p:cNvCxnSpPr/>
            <p:nvPr/>
          </p:nvCxnSpPr>
          <p:spPr>
            <a:xfrm rot="10800000">
              <a:off x="627875" y="2285700"/>
              <a:ext cx="0" cy="25437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89" name="Google Shape;1389;p98"/>
            <p:cNvSpPr txBox="1"/>
            <p:nvPr/>
          </p:nvSpPr>
          <p:spPr>
            <a:xfrm>
              <a:off x="324000" y="3341100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0" name="Google Shape;1390;p98"/>
          <p:cNvGrpSpPr/>
          <p:nvPr/>
        </p:nvGrpSpPr>
        <p:grpSpPr>
          <a:xfrm>
            <a:off x="3738900" y="1800475"/>
            <a:ext cx="231625" cy="1080000"/>
            <a:chOff x="3729725" y="2255675"/>
            <a:chExt cx="231625" cy="1080000"/>
          </a:xfrm>
        </p:grpSpPr>
        <p:cxnSp>
          <p:nvCxnSpPr>
            <p:cNvPr id="1391" name="Google Shape;1391;p98"/>
            <p:cNvCxnSpPr/>
            <p:nvPr/>
          </p:nvCxnSpPr>
          <p:spPr>
            <a:xfrm rot="10800000">
              <a:off x="3729725" y="2255675"/>
              <a:ext cx="0" cy="10800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92" name="Google Shape;1392;p98"/>
            <p:cNvSpPr txBox="1"/>
            <p:nvPr/>
          </p:nvSpPr>
          <p:spPr>
            <a:xfrm>
              <a:off x="3733950" y="2483550"/>
              <a:ext cx="227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93" name="Google Shape;1393;p98"/>
          <p:cNvGraphicFramePr/>
          <p:nvPr/>
        </p:nvGraphicFramePr>
        <p:xfrm>
          <a:off x="858025" y="1824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{C98E7789-18E2-4C95-A273-DDE500A12A2A}</a:tableStyleId>
              </a:tblPr>
              <a:tblGrid>
                <a:gridCol w="540750"/>
                <a:gridCol w="540750"/>
                <a:gridCol w="540750"/>
                <a:gridCol w="540750"/>
                <a:gridCol w="540750"/>
              </a:tblGrid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AF6">
                        <a:alpha val="5283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1394" name="Google Shape;1394;p98" title="two fifths divided by three sevenths"/>
          <p:cNvPicPr preferRelativeResize="0"/>
          <p:nvPr/>
        </p:nvPicPr>
        <p:blipFill rotWithShape="1">
          <a:blip r:embed="rId3">
            <a:alphaModFix/>
          </a:blip>
          <a:srcRect b="0" l="37214" r="37457" t="0"/>
          <a:stretch/>
        </p:blipFill>
        <p:spPr>
          <a:xfrm>
            <a:off x="4384847" y="1062475"/>
            <a:ext cx="232861" cy="76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875" y="1068966"/>
            <a:ext cx="232861" cy="748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18A089}{\frac{3}{7}}&quot;&gt;&lt;mstyle mathcolor=&quot;#18A089&quot;&gt;&lt;mfrac&gt;&lt;mn&gt;3&lt;/mn&gt;&lt;mn&gt;7&lt;/mn&gt;&lt;/mfrac&gt;&lt;/mstyle&gt;&lt;/math&gt;" id="1396" name="Google Shape;1396;p98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818" y="1062479"/>
            <a:ext cx="232861" cy="765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97" name="Google Shape;1397;p98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38201" r="51494" t="0"/>
          <a:stretch/>
        </p:blipFill>
        <p:spPr>
          <a:xfrm>
            <a:off x="5129481" y="1062500"/>
            <a:ext cx="380950" cy="76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98" name="Google Shape;1398;p98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76153" r="-1781" t="0"/>
          <a:stretch/>
        </p:blipFill>
        <p:spPr>
          <a:xfrm>
            <a:off x="7872539" y="1062499"/>
            <a:ext cx="947473" cy="76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399" name="Google Shape;1399;p98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49294" r="23842" t="43419"/>
          <a:stretch/>
        </p:blipFill>
        <p:spPr>
          <a:xfrm>
            <a:off x="5539575" y="1394700"/>
            <a:ext cx="993126" cy="43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00" name="Google Shape;1400;p98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56445" l="49864" r="23842" t="0"/>
          <a:stretch/>
        </p:blipFill>
        <p:spPr>
          <a:xfrm>
            <a:off x="5560625" y="1062500"/>
            <a:ext cx="972074" cy="33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01" name="Google Shape;1401;p98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-802" r="62229" t="0"/>
          <a:stretch/>
        </p:blipFill>
        <p:spPr>
          <a:xfrm>
            <a:off x="6507875" y="1062488"/>
            <a:ext cx="1426100" cy="7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8"/>
          <p:cNvSpPr/>
          <p:nvPr/>
        </p:nvSpPr>
        <p:spPr>
          <a:xfrm>
            <a:off x="4328075" y="936300"/>
            <a:ext cx="7491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8"/>
          <p:cNvSpPr/>
          <p:nvPr/>
        </p:nvSpPr>
        <p:spPr>
          <a:xfrm>
            <a:off x="7246975" y="936300"/>
            <a:ext cx="6870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3}{7}&quot;&gt;&lt;mfrac&gt;&lt;mn&gt;2&lt;/mn&gt;&lt;mn&gt;5&lt;/mn&gt;&lt;/mfrac&gt;&lt;mo&gt;÷&lt;/mo&gt;&lt;mfrac&gt;&lt;mn&gt;3&lt;/mn&gt;&lt;mn&gt;7&lt;/mn&gt;&lt;/mfrac&gt;&lt;/math&gt;" id="1409" name="Google Shape;1409;p99" title="two fifths divided by three sevenths"/>
          <p:cNvPicPr preferRelativeResize="0"/>
          <p:nvPr/>
        </p:nvPicPr>
        <p:blipFill rotWithShape="1">
          <a:blip r:embed="rId3">
            <a:alphaModFix/>
          </a:blip>
          <a:srcRect b="0" l="37214" r="37457" t="0"/>
          <a:stretch/>
        </p:blipFill>
        <p:spPr>
          <a:xfrm>
            <a:off x="4384847" y="1062475"/>
            <a:ext cx="232861" cy="76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875" y="1068966"/>
            <a:ext cx="232861" cy="748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18A089}{\frac{3}{7}}&quot;&gt;&lt;mstyle mathcolor=&quot;#18A089&quot;&gt;&lt;mfrac&gt;&lt;mn&gt;3&lt;/mn&gt;&lt;mn&gt;7&lt;/mn&gt;&lt;/mfrac&gt;&lt;/mstyle&gt;&lt;/math&gt;" id="1411" name="Google Shape;1411;p99" title="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818" y="1062479"/>
            <a:ext cx="232861" cy="765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12" name="Google Shape;1412;p99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38201" r="51494" t="0"/>
          <a:stretch/>
        </p:blipFill>
        <p:spPr>
          <a:xfrm>
            <a:off x="5129481" y="1062500"/>
            <a:ext cx="380950" cy="76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13" name="Google Shape;1413;p99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76153" r="-1781" t="0"/>
          <a:stretch/>
        </p:blipFill>
        <p:spPr>
          <a:xfrm>
            <a:off x="7872539" y="1062499"/>
            <a:ext cx="947473" cy="76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14" name="Google Shape;1414;p99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49294" r="23842" t="43419"/>
          <a:stretch/>
        </p:blipFill>
        <p:spPr>
          <a:xfrm>
            <a:off x="5539575" y="1394700"/>
            <a:ext cx="993126" cy="43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15" name="Google Shape;1415;p99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56445" l="49864" r="23842" t="0"/>
          <a:stretch/>
        </p:blipFill>
        <p:spPr>
          <a:xfrm>
            <a:off x="5560625" y="1062500"/>
            <a:ext cx="972074" cy="33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5}\times\frac{7}{3}=\frac{2\ \times7}{5\times3}=\frac{14}{15}&quot;&gt;&lt;mo&gt;=&lt;/mo&gt;&lt;mfrac&gt;&lt;mn&gt;2&lt;/mn&gt;&lt;mn&gt;5&lt;/mn&gt;&lt;/mfrac&gt;&lt;mo&gt;×&lt;/mo&gt;&lt;mfrac&gt;&lt;mn&gt;7&lt;/mn&gt;&lt;mn&gt;3&lt;/mn&gt;&lt;/mfrac&gt;&lt;mo&gt;=&lt;/mo&gt;&lt;mfrac&gt;&lt;mrow&gt;&lt;mn&gt;2&lt;/mn&gt;&lt;mtext&gt;&lt;/mtext&gt;&lt;mo&gt;×&lt;/mo&gt;&lt;mn&gt;7&lt;/mn&gt;&lt;/mrow&gt;&lt;mrow&gt;&lt;mn&gt;5&lt;/mn&gt;&lt;mo&gt;×&lt;/mo&gt;&lt;mn&gt;3&lt;/mn&gt;&lt;/mrow&gt;&lt;/mfrac&gt;&lt;mo&gt;=&lt;/mo&gt;&lt;mfrac&gt;&lt;mn&gt;14&lt;/mn&gt;&lt;mn&gt;15&lt;/mn&gt;&lt;/mfrac&gt;&lt;/math&gt;" id="1416" name="Google Shape;1416;p99" title="equals two fifths times seven thirds equals the fraction with numerator 2 times 7 and denominator 5 times 3 equals 14 over 15"/>
          <p:cNvPicPr preferRelativeResize="0"/>
          <p:nvPr/>
        </p:nvPicPr>
        <p:blipFill rotWithShape="1">
          <a:blip r:embed="rId6">
            <a:alphaModFix/>
          </a:blip>
          <a:srcRect b="0" l="-802" r="62229" t="0"/>
          <a:stretch/>
        </p:blipFill>
        <p:spPr>
          <a:xfrm>
            <a:off x="6507875" y="1062488"/>
            <a:ext cx="1426100" cy="7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99"/>
          <p:cNvSpPr/>
          <p:nvPr/>
        </p:nvSpPr>
        <p:spPr>
          <a:xfrm>
            <a:off x="4328075" y="936300"/>
            <a:ext cx="7491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9"/>
          <p:cNvSpPr/>
          <p:nvPr/>
        </p:nvSpPr>
        <p:spPr>
          <a:xfrm>
            <a:off x="7246975" y="936300"/>
            <a:ext cx="687000" cy="10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9"/>
          <p:cNvSpPr txBox="1"/>
          <p:nvPr/>
        </p:nvSpPr>
        <p:spPr>
          <a:xfrm>
            <a:off x="324000" y="810000"/>
            <a:ext cx="35418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 can be re-written as multiplying by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reciprocal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works all of the time, but can make calculations, particularly those involving fractions, more efficient.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00"/>
          <p:cNvSpPr txBox="1"/>
          <p:nvPr>
            <p:ph idx="1" type="subTitle"/>
          </p:nvPr>
        </p:nvSpPr>
        <p:spPr>
          <a:xfrm>
            <a:off x="4724650" y="666913"/>
            <a:ext cx="3982200" cy="19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Show all your working out and simplify where possible.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div\frac{3}{4}\ =\ \frac{5}{6}\times\frac{4}{3}=\frac{10}{18}=\frac{2\times5}{2\ \times9}=\frac{5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n&gt;10&lt;/mn&gt;&lt;mn&gt;18&lt;/mn&gt;&lt;/mfrac&gt;&lt;mo&gt;=&lt;/mo&gt;&lt;mfrac&gt;&lt;mrow&gt;&lt;mn&gt;2&lt;/mn&gt;&lt;mo&gt;×&lt;/mo&gt;&lt;mn&gt;5&lt;/mn&gt;&lt;/mrow&gt;&lt;mrow&gt;&lt;mn&gt;2&lt;/mn&gt;&lt;mtext&gt;&lt;/mtext&gt;&lt;mo&gt;×&lt;/mo&gt;&lt;mn&gt;9&lt;/mn&gt;&lt;/mrow&gt;&lt;/mfrac&gt;&lt;mo&gt;=&lt;/mo&gt;&lt;mfrac&gt;&lt;mn&gt;5&lt;/mn&gt;&lt;mn&gt;9&lt;/mn&gt;&lt;/mfrac&gt;&lt;/math&gt;" id="1426" name="Google Shape;1426;p100" title="five sixths divided by three fourths equals five sixths times four thirds equals 10 over 18 equals the fraction with numerator 2 times 5 and denominator 2 times 9 equals five ninths"/>
          <p:cNvPicPr preferRelativeResize="0"/>
          <p:nvPr/>
        </p:nvPicPr>
        <p:blipFill rotWithShape="1">
          <a:blip r:embed="rId3">
            <a:alphaModFix/>
          </a:blip>
          <a:srcRect b="0" l="0" r="80366" t="0"/>
          <a:stretch/>
        </p:blipFill>
        <p:spPr>
          <a:xfrm>
            <a:off x="6230873" y="1095788"/>
            <a:ext cx="969749" cy="6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frac{3}{4}\ =\ \frac{5}{6}\times\frac{4}{3}=\frac{5\times4}{6\times3}=\frac{20}{18}=\frac{2\times10}{2\ \times9}=\frac{10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row&gt;&lt;mn&gt;5&lt;/mn&gt;&lt;mo&gt;×&lt;/mo&gt;&lt;mn&gt;4&lt;/mn&gt;&lt;/mrow&gt;&lt;mrow&gt;&lt;mn&gt;6&lt;/mn&gt;&lt;mo&gt;×&lt;/mo&gt;&lt;mn&gt;3&lt;/mn&gt;&lt;/mrow&gt;&lt;/mfrac&gt;&lt;mo&gt;=&lt;/mo&gt;&lt;mfrac&gt;&lt;mn&gt;20&lt;/mn&gt;&lt;mn&gt;18&lt;/mn&gt;&lt;/mfrac&gt;&lt;mo&gt;=&lt;/mo&gt;&lt;mfrac&gt;&lt;mrow&gt;&lt;mn&gt;2&lt;/mn&gt;&lt;mo&gt;×&lt;/mo&gt;&lt;mn&gt;10&lt;/mn&gt;&lt;/mrow&gt;&lt;mrow&gt;&lt;mn&gt;2&lt;/mn&gt;&lt;mtext&gt;&lt;/mtext&gt;&lt;mo&gt;×&lt;/mo&gt;&lt;mn&gt;9&lt;/mn&gt;&lt;/mrow&gt;&lt;/mfrac&gt;&lt;mo&gt;=&lt;/mo&gt;&lt;mfrac&gt;&lt;mn&gt;10&lt;/mn&gt;&lt;mn&gt;9&lt;/mn&gt;&lt;/mfrac&gt;&lt;/math&gt;" id="1427" name="Google Shape;1427;p100" title="five sixths divided by three fourths equals five sixths times four thirds equals the fraction with numerator 5 times 4 and denominator 6 times 3 equals 20 over 18 equals the fraction with numerator 2 times 10 and denominator 2 times 9 equals ten ninths"/>
          <p:cNvPicPr preferRelativeResize="0"/>
          <p:nvPr/>
        </p:nvPicPr>
        <p:blipFill rotWithShape="1">
          <a:blip r:embed="rId4">
            <a:alphaModFix/>
          </a:blip>
          <a:srcRect b="0" l="0" r="64487" t="0"/>
          <a:stretch/>
        </p:blipFill>
        <p:spPr>
          <a:xfrm>
            <a:off x="4951925" y="2581488"/>
            <a:ext cx="2057836" cy="581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frac{3}{4}\ =\ \frac{5}{6}\times\frac{4}{3}=\frac{5\times4}{6\times3}=\frac{20}{18}=\frac{2\times10}{2\ \times9}=\frac{10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row&gt;&lt;mn&gt;5&lt;/mn&gt;&lt;mo&gt;×&lt;/mo&gt;&lt;mn&gt;4&lt;/mn&gt;&lt;/mrow&gt;&lt;mrow&gt;&lt;mn&gt;6&lt;/mn&gt;&lt;mo&gt;×&lt;/mo&gt;&lt;mn&gt;3&lt;/mn&gt;&lt;/mrow&gt;&lt;/mfrac&gt;&lt;mo&gt;=&lt;/mo&gt;&lt;mfrac&gt;&lt;mn&gt;20&lt;/mn&gt;&lt;mn&gt;18&lt;/mn&gt;&lt;/mfrac&gt;&lt;mo&gt;=&lt;/mo&gt;&lt;mfrac&gt;&lt;mrow&gt;&lt;mn&gt;2&lt;/mn&gt;&lt;mo&gt;×&lt;/mo&gt;&lt;mn&gt;10&lt;/mn&gt;&lt;/mrow&gt;&lt;mrow&gt;&lt;mn&gt;2&lt;/mn&gt;&lt;mtext&gt;&lt;/mtext&gt;&lt;mo&gt;×&lt;/mo&gt;&lt;mn&gt;9&lt;/mn&gt;&lt;/mrow&gt;&lt;/mfrac&gt;&lt;mo&gt;=&lt;/mo&gt;&lt;mfrac&gt;&lt;mn&gt;10&lt;/mn&gt;&lt;mn&gt;9&lt;/mn&gt;&lt;/mfrac&gt;&lt;/math&gt;" id="1428" name="Google Shape;1428;p100" title="five sixths divided by three fourths equals five sixths times four thirds equals the fraction with numerator 5 times 4 and denominator 6 times 3 equals 20 over 18 equals the fraction with numerator 2 times 10 and denominator 2 times 9 equals ten ninths"/>
          <p:cNvPicPr preferRelativeResize="0"/>
          <p:nvPr/>
        </p:nvPicPr>
        <p:blipFill rotWithShape="1">
          <a:blip r:embed="rId4">
            <a:alphaModFix/>
          </a:blip>
          <a:srcRect b="0" l="36674" r="45056" t="0"/>
          <a:stretch/>
        </p:blipFill>
        <p:spPr>
          <a:xfrm>
            <a:off x="7197819" y="2581498"/>
            <a:ext cx="1058681" cy="581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frac{3}{4}\ =\ \frac{5}{6}\times\frac{4}{3}=\frac{5\times4}{6\times3}=\frac{20}{18}=\frac{2\times10}{2\ \times9}=\frac{10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row&gt;&lt;mn&gt;5&lt;/mn&gt;&lt;mo&gt;×&lt;/mo&gt;&lt;mn&gt;4&lt;/mn&gt;&lt;/mrow&gt;&lt;mrow&gt;&lt;mn&gt;6&lt;/mn&gt;&lt;mo&gt;×&lt;/mo&gt;&lt;mn&gt;3&lt;/mn&gt;&lt;/mrow&gt;&lt;/mfrac&gt;&lt;mo&gt;=&lt;/mo&gt;&lt;mfrac&gt;&lt;mn&gt;20&lt;/mn&gt;&lt;mn&gt;18&lt;/mn&gt;&lt;/mfrac&gt;&lt;mo&gt;=&lt;/mo&gt;&lt;mfrac&gt;&lt;mrow&gt;&lt;mn&gt;2&lt;/mn&gt;&lt;mo&gt;×&lt;/mo&gt;&lt;mn&gt;10&lt;/mn&gt;&lt;/mrow&gt;&lt;mrow&gt;&lt;mn&gt;2&lt;/mn&gt;&lt;mtext&gt;&lt;/mtext&gt;&lt;mo&gt;×&lt;/mo&gt;&lt;mn&gt;9&lt;/mn&gt;&lt;/mrow&gt;&lt;/mfrac&gt;&lt;mo&gt;=&lt;/mo&gt;&lt;mfrac&gt;&lt;mn&gt;10&lt;/mn&gt;&lt;mn&gt;9&lt;/mn&gt;&lt;/mfrac&gt;&lt;/math&gt;" id="1429" name="Google Shape;1429;p100" title="five sixths divided by three fourths equals five sixths times four thirds equals the fraction with numerator 5 times 4 and denominator 6 times 3 equals 20 over 18 equals the fraction with numerator 2 times 10 and denominator 2 times 9 equals ten ninths"/>
          <p:cNvPicPr preferRelativeResize="0"/>
          <p:nvPr/>
        </p:nvPicPr>
        <p:blipFill rotWithShape="1">
          <a:blip r:embed="rId4">
            <a:alphaModFix/>
          </a:blip>
          <a:srcRect b="0" l="54807" r="32033" t="0"/>
          <a:stretch/>
        </p:blipFill>
        <p:spPr>
          <a:xfrm>
            <a:off x="5828546" y="3404263"/>
            <a:ext cx="762575" cy="58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frac{3}{4}\ =\ \frac{5}{6}\times\frac{4}{3}=\frac{5\times4}{6\times3}=\frac{20}{18}=\frac{2\times10}{2\ \times9}=\frac{10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row&gt;&lt;mn&gt;5&lt;/mn&gt;&lt;mo&gt;×&lt;/mo&gt;&lt;mn&gt;4&lt;/mn&gt;&lt;/mrow&gt;&lt;mrow&gt;&lt;mn&gt;6&lt;/mn&gt;&lt;mo&gt;×&lt;/mo&gt;&lt;mn&gt;3&lt;/mn&gt;&lt;/mrow&gt;&lt;/mfrac&gt;&lt;mo&gt;=&lt;/mo&gt;&lt;mfrac&gt;&lt;mn&gt;20&lt;/mn&gt;&lt;mn&gt;18&lt;/mn&gt;&lt;/mfrac&gt;&lt;mo&gt;=&lt;/mo&gt;&lt;mfrac&gt;&lt;mrow&gt;&lt;mn&gt;2&lt;/mn&gt;&lt;mo&gt;×&lt;/mo&gt;&lt;mn&gt;10&lt;/mn&gt;&lt;/mrow&gt;&lt;mrow&gt;&lt;mn&gt;2&lt;/mn&gt;&lt;mtext&gt;&lt;/mtext&gt;&lt;mo&gt;×&lt;/mo&gt;&lt;mn&gt;9&lt;/mn&gt;&lt;/mrow&gt;&lt;/mfrac&gt;&lt;mo&gt;=&lt;/mo&gt;&lt;mfrac&gt;&lt;mn&gt;10&lt;/mn&gt;&lt;mn&gt;9&lt;/mn&gt;&lt;/mfrac&gt;&lt;/math&gt;" id="1430" name="Google Shape;1430;p100" title="five sixths divided by three fourths equals five sixths times four thirds equals the fraction with numerator 5 times 4 and denominator 6 times 3 equals 20 over 18 equals the fraction with numerator 2 times 10 and denominator 2 times 9 equals ten ninths"/>
          <p:cNvPicPr preferRelativeResize="0"/>
          <p:nvPr/>
        </p:nvPicPr>
        <p:blipFill rotWithShape="1">
          <a:blip r:embed="rId4">
            <a:alphaModFix/>
          </a:blip>
          <a:srcRect b="0" l="88689" r="-1848" t="0"/>
          <a:stretch/>
        </p:blipFill>
        <p:spPr>
          <a:xfrm>
            <a:off x="5828545" y="4151178"/>
            <a:ext cx="762572" cy="581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frac{3}{4}\ =\ \frac{5}{6}\times\frac{4}{3}=\frac{5\times4}{6\times3}=\frac{20}{18}=\frac{2\times10}{2\ \times9}=\frac{10}{9}&quot;&gt;&lt;mfrac&gt;&lt;mn&gt;5&lt;/mn&gt;&lt;mn&gt;6&lt;/mn&gt;&lt;/mfrac&gt;&lt;mo&gt;÷&lt;/mo&gt;&lt;mfrac&gt;&lt;mn&gt;3&lt;/mn&gt;&lt;mn&gt;4&lt;/mn&gt;&lt;/mfrac&gt;&lt;mtext&gt;&lt;/mtext&gt;&lt;mo&gt;=&lt;/mo&gt;&lt;mtext&gt;&lt;/mtext&gt;&lt;mfrac&gt;&lt;mn&gt;5&lt;/mn&gt;&lt;mn&gt;6&lt;/mn&gt;&lt;/mfrac&gt;&lt;mo&gt;×&lt;/mo&gt;&lt;mfrac&gt;&lt;mn&gt;4&lt;/mn&gt;&lt;mn&gt;3&lt;/mn&gt;&lt;/mfrac&gt;&lt;mo&gt;=&lt;/mo&gt;&lt;mfrac&gt;&lt;mrow&gt;&lt;mn&gt;5&lt;/mn&gt;&lt;mo&gt;×&lt;/mo&gt;&lt;mn&gt;4&lt;/mn&gt;&lt;/mrow&gt;&lt;mrow&gt;&lt;mn&gt;6&lt;/mn&gt;&lt;mo&gt;×&lt;/mo&gt;&lt;mn&gt;3&lt;/mn&gt;&lt;/mrow&gt;&lt;/mfrac&gt;&lt;mo&gt;=&lt;/mo&gt;&lt;mfrac&gt;&lt;mn&gt;20&lt;/mn&gt;&lt;mn&gt;18&lt;/mn&gt;&lt;/mfrac&gt;&lt;mo&gt;=&lt;/mo&gt;&lt;mfrac&gt;&lt;mrow&gt;&lt;mn&gt;2&lt;/mn&gt;&lt;mo&gt;×&lt;/mo&gt;&lt;mn&gt;10&lt;/mn&gt;&lt;/mrow&gt;&lt;mrow&gt;&lt;mn&gt;2&lt;/mn&gt;&lt;mtext&gt;&lt;/mtext&gt;&lt;mo&gt;×&lt;/mo&gt;&lt;mn&gt;9&lt;/mn&gt;&lt;/mrow&gt;&lt;/mfrac&gt;&lt;mo&gt;=&lt;/mo&gt;&lt;mfrac&gt;&lt;mn&gt;10&lt;/mn&gt;&lt;mn&gt;9&lt;/mn&gt;&lt;/mfrac&gt;&lt;/math&gt;" id="1431" name="Google Shape;1431;p100" title="five sixths divided by three fourths equals five sixths times four thirds equals the fraction with numerator 5 times 4 and denominator 6 times 3 equals 20 over 18 equals the fraction with numerator 2 times 10 and denominator 2 times 9 equals ten ninths"/>
          <p:cNvPicPr preferRelativeResize="0"/>
          <p:nvPr/>
        </p:nvPicPr>
        <p:blipFill rotWithShape="1">
          <a:blip r:embed="rId4">
            <a:alphaModFix/>
          </a:blip>
          <a:srcRect b="0" l="67967" r="11922" t="0"/>
          <a:stretch/>
        </p:blipFill>
        <p:spPr>
          <a:xfrm>
            <a:off x="6591128" y="3422163"/>
            <a:ext cx="1165301" cy="5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00"/>
          <p:cNvSpPr txBox="1"/>
          <p:nvPr>
            <p:ph idx="1" type="subTitle"/>
          </p:nvPr>
        </p:nvSpPr>
        <p:spPr>
          <a:xfrm>
            <a:off x="419775" y="754213"/>
            <a:ext cx="3982200" cy="19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Show all your working out and simplify where possible.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3" name="Google Shape;1433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0" r="85834" t="0"/>
          <a:stretch/>
        </p:blipFill>
        <p:spPr>
          <a:xfrm>
            <a:off x="1630539" y="1119825"/>
            <a:ext cx="81197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4" name="Google Shape;1434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0" r="65545" t="0"/>
          <a:stretch/>
        </p:blipFill>
        <p:spPr>
          <a:xfrm>
            <a:off x="419790" y="2666125"/>
            <a:ext cx="19748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5" name="Google Shape;1435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34198" r="47332" t="0"/>
          <a:stretch/>
        </p:blipFill>
        <p:spPr>
          <a:xfrm>
            <a:off x="2427877" y="2666125"/>
            <a:ext cx="10586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6" name="Google Shape;1436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53417" r="33278" t="0"/>
          <a:stretch/>
        </p:blipFill>
        <p:spPr>
          <a:xfrm>
            <a:off x="1172323" y="3473250"/>
            <a:ext cx="76257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7" name="Google Shape;1437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66722" r="12127" t="0"/>
          <a:stretch/>
        </p:blipFill>
        <p:spPr>
          <a:xfrm>
            <a:off x="1934901" y="3473250"/>
            <a:ext cx="12122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div\frac{4}{9}=\frac{2}{5}\times\frac{9}{4}=\frac{2\times9}{5\times4}=\frac{18}{20}=\frac{2\times9}{2\times10}=\frac{9}{10}&quot;&gt;&lt;mfrac&gt;&lt;mn&gt;2&lt;/mn&gt;&lt;mn&gt;5&lt;/mn&gt;&lt;/mfrac&gt;&lt;mo&gt;÷&lt;/mo&gt;&lt;mfrac&gt;&lt;mn&gt;4&lt;/mn&gt;&lt;mn&gt;9&lt;/mn&gt;&lt;/mfrac&gt;&lt;mo&gt;=&lt;/mo&gt;&lt;mfrac&gt;&lt;mn&gt;2&lt;/mn&gt;&lt;mn&gt;5&lt;/mn&gt;&lt;/mfrac&gt;&lt;mo&gt;×&lt;/mo&gt;&lt;mfrac&gt;&lt;mn&gt;9&lt;/mn&gt;&lt;mn&gt;4&lt;/mn&gt;&lt;/mfrac&gt;&lt;mo&gt;=&lt;/mo&gt;&lt;mfrac&gt;&lt;mrow&gt;&lt;mn&gt;2&lt;/mn&gt;&lt;mo&gt;×&lt;/mo&gt;&lt;mn&gt;9&lt;/mn&gt;&lt;/mrow&gt;&lt;mrow&gt;&lt;mn&gt;5&lt;/mn&gt;&lt;mo&gt;×&lt;/mo&gt;&lt;mn&gt;4&lt;/mn&gt;&lt;/mrow&gt;&lt;/mfrac&gt;&lt;mo&gt;=&lt;/mo&gt;&lt;mfrac&gt;&lt;mn&gt;18&lt;/mn&gt;&lt;mn&gt;20&lt;/mn&gt;&lt;/mfrac&gt;&lt;mo&gt;=&lt;/mo&gt;&lt;mfrac&gt;&lt;mrow&gt;&lt;mn&gt;2&lt;/mn&gt;&lt;mo&gt;×&lt;/mo&gt;&lt;mn&gt;9&lt;/mn&gt;&lt;/mrow&gt;&lt;mrow&gt;&lt;mn&gt;2&lt;/mn&gt;&lt;mo&gt;×&lt;/mo&gt;&lt;mn&gt;10&lt;/mn&gt;&lt;/mrow&gt;&lt;/mfrac&gt;&lt;mo&gt;=&lt;/mo&gt;&lt;mfrac&gt;&lt;mn&gt;9&lt;/mn&gt;&lt;mn&gt;10&lt;/mn&gt;&lt;/mfrac&gt;&lt;/math&gt;" id="1438" name="Google Shape;1438;p100" title="two fifths divided by four ninths equals two fifths times nine fourths equals the fraction with numerator 2 times 9 and denominator 5 times 4 equals 18 over 20 equals the fraction with numerator 2 times 9 and denominator 2 times 10 equals nine tenths"/>
          <p:cNvPicPr preferRelativeResize="0"/>
          <p:nvPr/>
        </p:nvPicPr>
        <p:blipFill rotWithShape="1">
          <a:blip r:embed="rId5">
            <a:alphaModFix/>
          </a:blip>
          <a:srcRect b="0" l="88458" r="-2625" t="0"/>
          <a:stretch/>
        </p:blipFill>
        <p:spPr>
          <a:xfrm>
            <a:off x="1214674" y="4270797"/>
            <a:ext cx="81197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1\frac{1}{9}&quot;&gt;&lt;mo&gt;=&lt;/mo&gt;&lt;mn&gt;1&lt;/mn&gt;&lt;mfrac&gt;&lt;mn&gt;1&lt;/mn&gt;&lt;mn&gt;9&lt;/mn&gt;&lt;/mfrac&gt;&lt;/math&gt;" id="1439" name="Google Shape;1439;p100" title="equals 1 and one ni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4275" y="4111374"/>
            <a:ext cx="686066" cy="6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Work out the answers to the following, simplifying your answer where necessary.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445" name="Google Shape;144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446" name="Google Shape;1446;p101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0" r="79388" t="0"/>
          <a:stretch/>
        </p:blipFill>
        <p:spPr>
          <a:xfrm>
            <a:off x="904875" y="1688700"/>
            <a:ext cx="1262625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447" name="Google Shape;1447;p101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0" r="77899" t="0"/>
          <a:stretch/>
        </p:blipFill>
        <p:spPr>
          <a:xfrm>
            <a:off x="904875" y="3659125"/>
            <a:ext cx="1176351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448" name="Google Shape;1448;p101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0" r="74019" t="45940"/>
          <a:stretch/>
        </p:blipFill>
        <p:spPr>
          <a:xfrm>
            <a:off x="802441" y="2519575"/>
            <a:ext cx="1591500" cy="8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02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Here are some areas of some shapes. Work out the missing lengths.</a:t>
            </a:r>
            <a:endParaRPr sz="1900"/>
          </a:p>
        </p:txBody>
      </p:sp>
      <p:sp>
        <p:nvSpPr>
          <p:cNvPr id="1454" name="Google Shape;1454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Division by multiplying by the reciprocal</a:t>
            </a:r>
            <a:endParaRPr/>
          </a:p>
        </p:txBody>
      </p:sp>
      <p:sp>
        <p:nvSpPr>
          <p:cNvPr id="1455" name="Google Shape;1455;p102"/>
          <p:cNvSpPr txBox="1"/>
          <p:nvPr/>
        </p:nvSpPr>
        <p:spPr>
          <a:xfrm>
            <a:off x="324007" y="2830775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102"/>
          <p:cNvSpPr/>
          <p:nvPr/>
        </p:nvSpPr>
        <p:spPr>
          <a:xfrm>
            <a:off x="1230532" y="3300375"/>
            <a:ext cx="5832000" cy="9720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457" name="Google Shape;1457;p10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53323" l="0" r="95245" t="0"/>
          <a:stretch/>
        </p:blipFill>
        <p:spPr>
          <a:xfrm>
            <a:off x="2382576" y="3628650"/>
            <a:ext cx="239321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458" name="Google Shape;1458;p102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0" l="14513" r="80998" t="49018"/>
          <a:stretch/>
        </p:blipFill>
        <p:spPr>
          <a:xfrm>
            <a:off x="557236" y="3522600"/>
            <a:ext cx="206957" cy="5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02"/>
          <p:cNvSpPr txBox="1"/>
          <p:nvPr/>
        </p:nvSpPr>
        <p:spPr>
          <a:xfrm>
            <a:off x="738457" y="3555725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900"/>
          </a:p>
        </p:txBody>
      </p:sp>
      <p:sp>
        <p:nvSpPr>
          <p:cNvPr id="1460" name="Google Shape;1460;p102"/>
          <p:cNvSpPr txBox="1"/>
          <p:nvPr/>
        </p:nvSpPr>
        <p:spPr>
          <a:xfrm>
            <a:off x="4202233" y="4358701"/>
            <a:ext cx="3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/>
          </a:p>
        </p:txBody>
      </p:sp>
      <p:cxnSp>
        <p:nvCxnSpPr>
          <p:cNvPr id="1461" name="Google Shape;1461;p102"/>
          <p:cNvCxnSpPr/>
          <p:nvPr/>
        </p:nvCxnSpPr>
        <p:spPr>
          <a:xfrm rot="10800000">
            <a:off x="1137550" y="3304800"/>
            <a:ext cx="0" cy="9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2" name="Google Shape;1462;p102"/>
          <p:cNvCxnSpPr/>
          <p:nvPr/>
        </p:nvCxnSpPr>
        <p:spPr>
          <a:xfrm rot="10800000">
            <a:off x="1230650" y="4380375"/>
            <a:ext cx="582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3" name="Google Shape;1463;p102"/>
          <p:cNvSpPr txBox="1"/>
          <p:nvPr/>
        </p:nvSpPr>
        <p:spPr>
          <a:xfrm>
            <a:off x="3839225" y="4332688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sp>
        <p:nvSpPr>
          <p:cNvPr id="1464" name="Google Shape;1464;p102"/>
          <p:cNvSpPr txBox="1"/>
          <p:nvPr/>
        </p:nvSpPr>
        <p:spPr>
          <a:xfrm>
            <a:off x="247800" y="1171575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02"/>
          <p:cNvSpPr txBox="1"/>
          <p:nvPr/>
        </p:nvSpPr>
        <p:spPr>
          <a:xfrm>
            <a:off x="4411250" y="1161494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02"/>
          <p:cNvSpPr/>
          <p:nvPr/>
        </p:nvSpPr>
        <p:spPr>
          <a:xfrm>
            <a:off x="1541575" y="1814313"/>
            <a:ext cx="1759200" cy="106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02"/>
          <p:cNvSpPr/>
          <p:nvPr/>
        </p:nvSpPr>
        <p:spPr>
          <a:xfrm>
            <a:off x="5457225" y="1851804"/>
            <a:ext cx="2700000" cy="9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3}{4}\div\frac{2}{5}=\frac{11}{4}\div\frac{2}{5}=\frac{11}{4}\times\frac{5}{2}=\frac{55}{8}=6\frac{7}{8}&quot;&gt;&lt;mn&gt;2&lt;/mn&gt;&lt;mfrac&gt;&lt;mn&gt;3&lt;/mn&gt;&lt;mn&gt;4&lt;/mn&gt;&lt;/mfrac&gt;&lt;mo&gt;÷&lt;/mo&gt;&lt;mfrac&gt;&lt;mn&gt;2&lt;/mn&gt;&lt;mn&gt;5&lt;/mn&gt;&lt;/mfrac&gt;&lt;mo&gt;=&lt;/mo&gt;&lt;mfrac&gt;&lt;mn&gt;11&lt;/mn&gt;&lt;mn&gt;4&lt;/mn&gt;&lt;/mfrac&gt;&lt;mo&gt;÷&lt;/mo&gt;&lt;mfrac&gt;&lt;mn&gt;2&lt;/mn&gt;&lt;mn&gt;5&lt;/mn&gt;&lt;/mfrac&gt;&lt;mo&gt;=&lt;/mo&gt;&lt;mfrac&gt;&lt;mn&gt;11&lt;/mn&gt;&lt;mn&gt;4&lt;/mn&gt;&lt;/mfrac&gt;&lt;mo&gt;×&lt;/mo&gt;&lt;mfrac&gt;&lt;mn&gt;5&lt;/mn&gt;&lt;mn&gt;2&lt;/mn&gt;&lt;/mfrac&gt;&lt;mo&gt;=&lt;/mo&gt;&lt;mfrac&gt;&lt;mn&gt;55&lt;/mn&gt;&lt;mn&gt;8&lt;/mn&gt;&lt;/mfrac&gt;&lt;mo&gt;=&lt;/mo&gt;&lt;mn&gt;6&lt;/mn&gt;&lt;mfrac&gt;&lt;mn&gt;7&lt;/mn&gt;&lt;mn&gt;8&lt;/mn&gt;&lt;/mfrac&gt;&lt;/math&gt;" id="1468" name="Google Shape;1468;p102" title="2 and three fourths divided by two fifths equals eleven fourths divided by two fifths equals eleven fourths times five halves equals 55 over 8 equals 6 and seven eighths"/>
          <p:cNvPicPr preferRelativeResize="0"/>
          <p:nvPr/>
        </p:nvPicPr>
        <p:blipFill rotWithShape="1">
          <a:blip r:embed="rId4">
            <a:alphaModFix/>
          </a:blip>
          <a:srcRect b="0" l="0" r="92447" t="0"/>
          <a:stretch/>
        </p:blipFill>
        <p:spPr>
          <a:xfrm>
            <a:off x="6609773" y="2080155"/>
            <a:ext cx="275874" cy="443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469" name="Google Shape;1469;p10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0" r="91800" t="0"/>
          <a:stretch/>
        </p:blipFill>
        <p:spPr>
          <a:xfrm>
            <a:off x="2497700" y="2016538"/>
            <a:ext cx="275875" cy="6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02"/>
          <p:cNvSpPr txBox="1"/>
          <p:nvPr/>
        </p:nvSpPr>
        <p:spPr>
          <a:xfrm>
            <a:off x="2516775" y="1300750"/>
            <a:ext cx="6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endParaRPr sz="1800"/>
          </a:p>
        </p:txBody>
      </p:sp>
      <p:cxnSp>
        <p:nvCxnSpPr>
          <p:cNvPr id="1471" name="Google Shape;1471;p102"/>
          <p:cNvCxnSpPr/>
          <p:nvPr/>
        </p:nvCxnSpPr>
        <p:spPr>
          <a:xfrm rot="10800000">
            <a:off x="5456100" y="1758029"/>
            <a:ext cx="269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2" name="Google Shape;1472;p102"/>
          <p:cNvCxnSpPr/>
          <p:nvPr/>
        </p:nvCxnSpPr>
        <p:spPr>
          <a:xfrm rot="10800000">
            <a:off x="1461438" y="1813288"/>
            <a:ext cx="0" cy="108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473" name="Google Shape;1473;p102" title="one fourth divided by three eighths equals one fourth times eight thirds equals 8 over 12 equals two thirds"/>
          <p:cNvPicPr preferRelativeResize="0"/>
          <p:nvPr/>
        </p:nvPicPr>
        <p:blipFill rotWithShape="1">
          <a:blip r:embed="rId5">
            <a:alphaModFix/>
          </a:blip>
          <a:srcRect b="0" l="15049" r="76489" t="0"/>
          <a:stretch/>
        </p:blipFill>
        <p:spPr>
          <a:xfrm>
            <a:off x="774175" y="2057675"/>
            <a:ext cx="246954" cy="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02"/>
          <p:cNvSpPr txBox="1"/>
          <p:nvPr/>
        </p:nvSpPr>
        <p:spPr>
          <a:xfrm>
            <a:off x="1056507" y="2133888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900"/>
          </a:p>
        </p:txBody>
      </p:sp>
      <p:sp>
        <p:nvSpPr>
          <p:cNvPr id="1475" name="Google Shape;1475;p102"/>
          <p:cNvSpPr txBox="1"/>
          <p:nvPr/>
        </p:nvSpPr>
        <p:spPr>
          <a:xfrm>
            <a:off x="4889027" y="2072416"/>
            <a:ext cx="5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900"/>
          </a:p>
        </p:txBody>
      </p:sp>
      <p:cxnSp>
        <p:nvCxnSpPr>
          <p:cNvPr id="1476" name="Google Shape;1476;p102"/>
          <p:cNvCxnSpPr/>
          <p:nvPr/>
        </p:nvCxnSpPr>
        <p:spPr>
          <a:xfrm rot="10800000">
            <a:off x="1570050" y="1730025"/>
            <a:ext cx="172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7" name="Google Shape;1477;p102"/>
          <p:cNvSpPr txBox="1"/>
          <p:nvPr/>
        </p:nvSpPr>
        <p:spPr>
          <a:xfrm>
            <a:off x="2338875" y="1323963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sp>
        <p:nvSpPr>
          <p:cNvPr id="1478" name="Google Shape;1478;p102"/>
          <p:cNvSpPr txBox="1"/>
          <p:nvPr/>
        </p:nvSpPr>
        <p:spPr>
          <a:xfrm>
            <a:off x="6760300" y="1323779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cxnSp>
        <p:nvCxnSpPr>
          <p:cNvPr id="1479" name="Google Shape;1479;p102"/>
          <p:cNvCxnSpPr/>
          <p:nvPr/>
        </p:nvCxnSpPr>
        <p:spPr>
          <a:xfrm rot="10800000">
            <a:off x="5364200" y="1851779"/>
            <a:ext cx="0" cy="9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480" name="Google Shape;1480;p102" title="five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1300" y="2072452"/>
            <a:ext cx="147454" cy="4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02"/>
          <p:cNvSpPr txBox="1"/>
          <p:nvPr/>
        </p:nvSpPr>
        <p:spPr>
          <a:xfrm>
            <a:off x="7049900" y="1276891"/>
            <a:ext cx="6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800"/>
          </a:p>
        </p:txBody>
      </p:sp>
      <p:sp>
        <p:nvSpPr>
          <p:cNvPr id="1482" name="Google Shape;1482;p102"/>
          <p:cNvSpPr txBox="1"/>
          <p:nvPr/>
        </p:nvSpPr>
        <p:spPr>
          <a:xfrm>
            <a:off x="1600200" y="21336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02"/>
          <p:cNvSpPr txBox="1"/>
          <p:nvPr/>
        </p:nvSpPr>
        <p:spPr>
          <a:xfrm>
            <a:off x="2209800" y="21336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02"/>
          <p:cNvSpPr txBox="1"/>
          <p:nvPr/>
        </p:nvSpPr>
        <p:spPr>
          <a:xfrm>
            <a:off x="2667000" y="2133600"/>
            <a:ext cx="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02"/>
          <p:cNvSpPr txBox="1"/>
          <p:nvPr/>
        </p:nvSpPr>
        <p:spPr>
          <a:xfrm>
            <a:off x="1447800" y="36576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02"/>
          <p:cNvSpPr txBox="1"/>
          <p:nvPr/>
        </p:nvSpPr>
        <p:spPr>
          <a:xfrm>
            <a:off x="2057400" y="36576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02"/>
          <p:cNvSpPr txBox="1"/>
          <p:nvPr/>
        </p:nvSpPr>
        <p:spPr>
          <a:xfrm>
            <a:off x="2514600" y="3657600"/>
            <a:ext cx="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02"/>
          <p:cNvSpPr txBox="1"/>
          <p:nvPr/>
        </p:nvSpPr>
        <p:spPr>
          <a:xfrm>
            <a:off x="5715000" y="20574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02"/>
          <p:cNvSpPr txBox="1"/>
          <p:nvPr/>
        </p:nvSpPr>
        <p:spPr>
          <a:xfrm>
            <a:off x="6324600" y="20574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02"/>
          <p:cNvSpPr txBox="1"/>
          <p:nvPr/>
        </p:nvSpPr>
        <p:spPr>
          <a:xfrm>
            <a:off x="6858000" y="2057400"/>
            <a:ext cx="8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Work out the answers to the following, simplifying your answer where necessary.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496" name="Google Shape;149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497" name="Google Shape;1497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20083" r="50343" t="0"/>
          <a:stretch/>
        </p:blipFill>
        <p:spPr>
          <a:xfrm>
            <a:off x="2135150" y="1688700"/>
            <a:ext cx="1811550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498" name="Google Shape;1498;p103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0" r="77899" t="0"/>
          <a:stretch/>
        </p:blipFill>
        <p:spPr>
          <a:xfrm>
            <a:off x="904875" y="3659125"/>
            <a:ext cx="1176351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499" name="Google Shape;1499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0" r="74019" t="45940"/>
          <a:stretch/>
        </p:blipFill>
        <p:spPr>
          <a:xfrm>
            <a:off x="802450" y="2519575"/>
            <a:ext cx="1509756" cy="79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500" name="Google Shape;1500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0" r="79388" t="0"/>
          <a:stretch/>
        </p:blipFill>
        <p:spPr>
          <a:xfrm>
            <a:off x="956104" y="1656351"/>
            <a:ext cx="1262625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501" name="Google Shape;1501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51402" l="51687" r="30533" t="0"/>
          <a:stretch/>
        </p:blipFill>
        <p:spPr>
          <a:xfrm>
            <a:off x="4046625" y="1656350"/>
            <a:ext cx="1089075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502" name="Google Shape;1502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26978" r="38039" t="45940"/>
          <a:stretch/>
        </p:blipFill>
        <p:spPr>
          <a:xfrm>
            <a:off x="2217428" y="2519575"/>
            <a:ext cx="2032883" cy="79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503" name="Google Shape;1503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61394" r="20827" t="45940"/>
          <a:stretch/>
        </p:blipFill>
        <p:spPr>
          <a:xfrm>
            <a:off x="4154160" y="2519575"/>
            <a:ext cx="1033138" cy="79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7}\div\frac{4}{9}=\ \frac{3}{7}\times\frac{9}{4}=\frac{27}{28}\\&amp;#13;&amp;#10;\frac{9}{10}\div\frac{8}{11}=\frac{9}{10}\times\frac{11}{8}=\frac{99}{80}=1\frac{19}{80}\end{array}&quot;&gt;&lt;mtable columnalign=&quot;left&quot; columnspacing=&quot;1em&quot; rowspacing=&quot;4pt&quot;&gt;&lt;mtr&gt;&lt;mtd&gt;&lt;mfrac&gt;&lt;mn&gt;3&lt;/mn&gt;&lt;mn&gt;7&lt;/mn&gt;&lt;/mfrac&gt;&lt;mo&gt;÷&lt;/mo&gt;&lt;mfrac&gt;&lt;mn&gt;4&lt;/mn&gt;&lt;mn&gt;9&lt;/mn&gt;&lt;/mfrac&gt;&lt;mo&gt;=&lt;/mo&gt;&lt;mtext&gt;&lt;/mtext&gt;&lt;mfrac&gt;&lt;mn&gt;3&lt;/mn&gt;&lt;mn&gt;7&lt;/mn&gt;&lt;/mfrac&gt;&lt;mo&gt;×&lt;/mo&gt;&lt;mfrac&gt;&lt;mn&gt;9&lt;/mn&gt;&lt;mn&gt;4&lt;/mn&gt;&lt;/mfrac&gt;&lt;mo&gt;=&lt;/mo&gt;&lt;mfrac&gt;&lt;mn&gt;27&lt;/mn&gt;&lt;mn&gt;28&lt;/mn&gt;&lt;/mfrac&gt;&lt;/mtd&gt;&lt;/mtr&gt;&lt;mtr&gt;&lt;mtd&gt;&lt;mfrac&gt;&lt;mn&gt;9&lt;/mn&gt;&lt;mn&gt;10&lt;/mn&gt;&lt;/mfrac&gt;&lt;mo&gt;÷&lt;/mo&gt;&lt;mfrac&gt;&lt;mn&gt;8&lt;/mn&gt;&lt;mn&gt;11&lt;/mn&gt;&lt;/mfrac&gt;&lt;mo&gt;=&lt;/mo&gt;&lt;mfrac&gt;&lt;mn&gt;9&lt;/mn&gt;&lt;mn&gt;10&lt;/mn&gt;&lt;/mfrac&gt;&lt;mo&gt;×&lt;/mo&gt;&lt;mfrac&gt;&lt;mn&gt;11&lt;/mn&gt;&lt;mn&gt;8&lt;/mn&gt;&lt;/mfrac&gt;&lt;mo&gt;=&lt;/mo&gt;&lt;mfrac&gt;&lt;mn&gt;99&lt;/mn&gt;&lt;mn&gt;80&lt;/mn&gt;&lt;/mfrac&gt;&lt;mo&gt;=&lt;/mo&gt;&lt;mn&gt;1&lt;/mn&gt;&lt;mfrac&gt;&lt;mn&gt;19&lt;/mn&gt;&lt;mn&gt;80&lt;/mn&gt;&lt;/mfrac&gt;&lt;/mtd&gt;&lt;/mtr&gt;&lt;/mtable&gt;&lt;/math&gt;" id="1504" name="Google Shape;1504;p103" title="2 lines Line 1: three sevenths divided by four ninths equals three sevenths times nine fourths equals 27 over 28 Line 2: nine tenths divided by 8 over 11 equals nine tenths times eleven eighths equals 99 over 80 equals 1 and 19 over 80"/>
          <p:cNvPicPr preferRelativeResize="0"/>
          <p:nvPr/>
        </p:nvPicPr>
        <p:blipFill rotWithShape="1">
          <a:blip r:embed="rId3">
            <a:alphaModFix/>
          </a:blip>
          <a:srcRect b="0" l="80038" r="-2394" t="45940"/>
          <a:stretch/>
        </p:blipFill>
        <p:spPr>
          <a:xfrm>
            <a:off x="5186612" y="2519575"/>
            <a:ext cx="1299113" cy="79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505" name="Google Shape;1505;p103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22416" r="47682" t="0"/>
          <a:stretch/>
        </p:blipFill>
        <p:spPr>
          <a:xfrm>
            <a:off x="2116525" y="3659125"/>
            <a:ext cx="1591499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506" name="Google Shape;1506;p103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52301" r="29464" t="0"/>
          <a:stretch/>
        </p:blipFill>
        <p:spPr>
          <a:xfrm>
            <a:off x="3747574" y="3659125"/>
            <a:ext cx="970475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507" name="Google Shape;1507;p103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69617" r="16186" t="0"/>
          <a:stretch/>
        </p:blipFill>
        <p:spPr>
          <a:xfrm>
            <a:off x="4718050" y="3659125"/>
            <a:ext cx="755550" cy="75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\frac{5}{12}=\frac{3}{4}\times\frac{12}{5}=\frac{36}{20}=\frac{9}{5}=1\frac{4}{5}&quot;&gt;&lt;mfrac&gt;&lt;mn&gt;3&lt;/mn&gt;&lt;mn&gt;4&lt;/mn&gt;&lt;/mfrac&gt;&lt;mo&gt;÷&lt;/mo&gt;&lt;mfrac&gt;&lt;mn&gt;5&lt;/mn&gt;&lt;mn&gt;12&lt;/mn&gt;&lt;/mfrac&gt;&lt;mo&gt;=&lt;/mo&gt;&lt;mfrac&gt;&lt;mn&gt;3&lt;/mn&gt;&lt;mn&gt;4&lt;/mn&gt;&lt;/mfrac&gt;&lt;mo&gt;×&lt;/mo&gt;&lt;mfrac&gt;&lt;mn&gt;12&lt;/mn&gt;&lt;mn&gt;5&lt;/mn&gt;&lt;/mfrac&gt;&lt;mo&gt;=&lt;/mo&gt;&lt;mfrac&gt;&lt;mn&gt;36&lt;/mn&gt;&lt;mn&gt;20&lt;/mn&gt;&lt;/mfrac&gt;&lt;mo&gt;=&lt;/mo&gt;&lt;mfrac&gt;&lt;mn&gt;9&lt;/mn&gt;&lt;mn&gt;5&lt;/mn&gt;&lt;/mfrac&gt;&lt;mo&gt;=&lt;/mo&gt;&lt;mn&gt;1&lt;/mn&gt;&lt;mfrac&gt;&lt;mn&gt;4&lt;/mn&gt;&lt;mn&gt;5&lt;/mn&gt;&lt;/mfrac&gt;&lt;/math&gt;" id="1508" name="Google Shape;1508;p103" title="three fourths divided by 5 over 12 equals three fourths times twelve fifths equals 36 over 20 equals nine fifths equals 1 and four fifths"/>
          <p:cNvPicPr preferRelativeResize="0"/>
          <p:nvPr/>
        </p:nvPicPr>
        <p:blipFill rotWithShape="1">
          <a:blip r:embed="rId4">
            <a:alphaModFix/>
          </a:blip>
          <a:srcRect b="0" l="83157" r="-1391" t="0"/>
          <a:stretch/>
        </p:blipFill>
        <p:spPr>
          <a:xfrm>
            <a:off x="5515250" y="3636850"/>
            <a:ext cx="970475" cy="7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04"/>
          <p:cNvSpPr/>
          <p:nvPr/>
        </p:nvSpPr>
        <p:spPr>
          <a:xfrm>
            <a:off x="6402300" y="1150720"/>
            <a:ext cx="1033200" cy="55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04"/>
          <p:cNvSpPr/>
          <p:nvPr/>
        </p:nvSpPr>
        <p:spPr>
          <a:xfrm>
            <a:off x="2080000" y="1126525"/>
            <a:ext cx="807300" cy="55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0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</a:t>
            </a:r>
            <a:r>
              <a:rPr lang="en-GB" sz="1900"/>
              <a:t>Here are some areas of some shapes. Work out the missing lengths.</a:t>
            </a:r>
            <a:endParaRPr sz="1900"/>
          </a:p>
        </p:txBody>
      </p:sp>
      <p:sp>
        <p:nvSpPr>
          <p:cNvPr id="1516" name="Google Shape;1516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104"/>
          <p:cNvSpPr txBox="1"/>
          <p:nvPr/>
        </p:nvSpPr>
        <p:spPr>
          <a:xfrm>
            <a:off x="247800" y="1171575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04"/>
          <p:cNvSpPr txBox="1"/>
          <p:nvPr/>
        </p:nvSpPr>
        <p:spPr>
          <a:xfrm>
            <a:off x="4411250" y="1161494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04"/>
          <p:cNvSpPr/>
          <p:nvPr/>
        </p:nvSpPr>
        <p:spPr>
          <a:xfrm>
            <a:off x="1541575" y="1814313"/>
            <a:ext cx="1759200" cy="106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04"/>
          <p:cNvSpPr/>
          <p:nvPr/>
        </p:nvSpPr>
        <p:spPr>
          <a:xfrm>
            <a:off x="5457225" y="1851804"/>
            <a:ext cx="2700000" cy="9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21" name="Google Shape;1521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0" r="66842" t="0"/>
          <a:stretch/>
        </p:blipFill>
        <p:spPr>
          <a:xfrm>
            <a:off x="1077850" y="3166375"/>
            <a:ext cx="985199" cy="548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2}{5}=\frac{11}{4}\div\frac{2}{5}=\frac{11}{4}\times\frac{5}{2}=\frac{55}{8}=6\frac{7}{8}&quot;&gt;&lt;mn&gt;2&lt;/mn&gt;&lt;mfrac&gt;&lt;mn&gt;3&lt;/mn&gt;&lt;mn&gt;4&lt;/mn&gt;&lt;/mfrac&gt;&lt;mo&gt;÷&lt;/mo&gt;&lt;mfrac&gt;&lt;mn&gt;2&lt;/mn&gt;&lt;mn&gt;5&lt;/mn&gt;&lt;/mfrac&gt;&lt;mo&gt;=&lt;/mo&gt;&lt;mfrac&gt;&lt;mn&gt;11&lt;/mn&gt;&lt;mn&gt;4&lt;/mn&gt;&lt;/mfrac&gt;&lt;mo&gt;÷&lt;/mo&gt;&lt;mfrac&gt;&lt;mn&gt;2&lt;/mn&gt;&lt;mn&gt;5&lt;/mn&gt;&lt;/mfrac&gt;&lt;mo&gt;=&lt;/mo&gt;&lt;mfrac&gt;&lt;mn&gt;11&lt;/mn&gt;&lt;mn&gt;4&lt;/mn&gt;&lt;/mfrac&gt;&lt;mo&gt;×&lt;/mo&gt;&lt;mfrac&gt;&lt;mn&gt;5&lt;/mn&gt;&lt;mn&gt;2&lt;/mn&gt;&lt;/mfrac&gt;&lt;mo&gt;=&lt;/mo&gt;&lt;mfrac&gt;&lt;mn&gt;55&lt;/mn&gt;&lt;mn&gt;8&lt;/mn&gt;&lt;/mfrac&gt;&lt;mo&gt;=&lt;/mo&gt;&lt;mn&gt;6&lt;/mn&gt;&lt;mfrac&gt;&lt;mn&gt;7&lt;/mn&gt;&lt;mn&gt;8&lt;/mn&gt;&lt;/mfrac&gt;&lt;/math&gt;" id="1522" name="Google Shape;1522;p104" title="2 and three fourths divided by two fifths equals eleven fourths divided by two fifths equals eleven fourths times five halves equals 55 over 8 equals 6 and seven eighths"/>
          <p:cNvPicPr preferRelativeResize="0"/>
          <p:nvPr/>
        </p:nvPicPr>
        <p:blipFill rotWithShape="1">
          <a:blip r:embed="rId4">
            <a:alphaModFix/>
          </a:blip>
          <a:srcRect b="0" l="0" r="92447" t="0"/>
          <a:stretch/>
        </p:blipFill>
        <p:spPr>
          <a:xfrm>
            <a:off x="6609773" y="2080155"/>
            <a:ext cx="275874" cy="443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23" name="Google Shape;1523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0" r="91800" t="0"/>
          <a:stretch/>
        </p:blipFill>
        <p:spPr>
          <a:xfrm>
            <a:off x="2497700" y="2016538"/>
            <a:ext cx="275875" cy="62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24" name="Google Shape;1524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34474" r="39669" t="0"/>
          <a:stretch/>
        </p:blipFill>
        <p:spPr>
          <a:xfrm>
            <a:off x="2063049" y="3166375"/>
            <a:ext cx="768288" cy="548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25" name="Google Shape;1525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61443" r="16273" t="0"/>
          <a:stretch/>
        </p:blipFill>
        <p:spPr>
          <a:xfrm>
            <a:off x="1847084" y="3932577"/>
            <a:ext cx="662124" cy="548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26" name="Google Shape;1526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85235" r="-770" t="0"/>
          <a:stretch/>
        </p:blipFill>
        <p:spPr>
          <a:xfrm>
            <a:off x="2533659" y="3932392"/>
            <a:ext cx="461604" cy="548472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04"/>
          <p:cNvSpPr txBox="1"/>
          <p:nvPr/>
        </p:nvSpPr>
        <p:spPr>
          <a:xfrm>
            <a:off x="2462063" y="1182413"/>
            <a:ext cx="6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endParaRPr sz="1800"/>
          </a:p>
        </p:txBody>
      </p:sp>
      <p:cxnSp>
        <p:nvCxnSpPr>
          <p:cNvPr id="1528" name="Google Shape;1528;p104"/>
          <p:cNvCxnSpPr/>
          <p:nvPr/>
        </p:nvCxnSpPr>
        <p:spPr>
          <a:xfrm rot="10800000">
            <a:off x="5456100" y="1758029"/>
            <a:ext cx="269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9" name="Google Shape;1529;p104"/>
          <p:cNvCxnSpPr/>
          <p:nvPr/>
        </p:nvCxnSpPr>
        <p:spPr>
          <a:xfrm rot="10800000">
            <a:off x="1461438" y="1813288"/>
            <a:ext cx="0" cy="108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30" name="Google Shape;1530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15049" r="76489" t="0"/>
          <a:stretch/>
        </p:blipFill>
        <p:spPr>
          <a:xfrm>
            <a:off x="774175" y="2057675"/>
            <a:ext cx="246954" cy="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04"/>
          <p:cNvSpPr txBox="1"/>
          <p:nvPr/>
        </p:nvSpPr>
        <p:spPr>
          <a:xfrm>
            <a:off x="1056507" y="2133888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900"/>
          </a:p>
        </p:txBody>
      </p:sp>
      <p:sp>
        <p:nvSpPr>
          <p:cNvPr id="1532" name="Google Shape;1532;p104"/>
          <p:cNvSpPr txBox="1"/>
          <p:nvPr/>
        </p:nvSpPr>
        <p:spPr>
          <a:xfrm>
            <a:off x="4889027" y="2072416"/>
            <a:ext cx="5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900"/>
          </a:p>
        </p:txBody>
      </p:sp>
      <p:cxnSp>
        <p:nvCxnSpPr>
          <p:cNvPr id="1533" name="Google Shape;1533;p104"/>
          <p:cNvCxnSpPr/>
          <p:nvPr/>
        </p:nvCxnSpPr>
        <p:spPr>
          <a:xfrm rot="10800000">
            <a:off x="1570050" y="1730025"/>
            <a:ext cx="172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4" name="Google Shape;1534;p104"/>
          <p:cNvSpPr txBox="1"/>
          <p:nvPr/>
        </p:nvSpPr>
        <p:spPr>
          <a:xfrm>
            <a:off x="2338875" y="1323963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sp>
        <p:nvSpPr>
          <p:cNvPr id="1535" name="Google Shape;1535;p104"/>
          <p:cNvSpPr txBox="1"/>
          <p:nvPr/>
        </p:nvSpPr>
        <p:spPr>
          <a:xfrm>
            <a:off x="6760300" y="1323779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div\frac{3}{8}=\frac{1}{4}\times\frac{8}{3}=\frac{8}{12}=\frac{2}{3}&quot;&gt;&lt;mfrac&gt;&lt;mn&gt;1&lt;/mn&gt;&lt;mn&gt;4&lt;/mn&gt;&lt;/mfrac&gt;&lt;mo&gt;÷&lt;/mo&gt;&lt;mfrac&gt;&lt;mn&gt;3&lt;/mn&gt;&lt;mn&gt;8&lt;/mn&gt;&lt;/mfrac&gt;&lt;mo&gt;=&lt;/mo&gt;&lt;mfrac&gt;&lt;mn&gt;1&lt;/mn&gt;&lt;mn&gt;4&lt;/mn&gt;&lt;/mfrac&gt;&lt;mo&gt;×&lt;/mo&gt;&lt;mfrac&gt;&lt;mn&gt;8&lt;/mn&gt;&lt;mn&gt;3&lt;/mn&gt;&lt;/mfrac&gt;&lt;mo&gt;=&lt;/mo&gt;&lt;mfrac&gt;&lt;mn&gt;8&lt;/mn&gt;&lt;mn&gt;12&lt;/mn&gt;&lt;/mfrac&gt;&lt;mo&gt;=&lt;/mo&gt;&lt;mfrac&gt;&lt;mn&gt;2&lt;/mn&gt;&lt;mn&gt;3&lt;/mn&gt;&lt;/mfrac&gt;&lt;/math&gt;" id="1536" name="Google Shape;1536;p104" title="one fourth divided by three eighths equals one fourth times eight thirds equals 8 over 12 equals two thirds"/>
          <p:cNvPicPr preferRelativeResize="0"/>
          <p:nvPr/>
        </p:nvPicPr>
        <p:blipFill rotWithShape="1">
          <a:blip r:embed="rId3">
            <a:alphaModFix/>
          </a:blip>
          <a:srcRect b="0" l="92460" r="-771" t="0"/>
          <a:stretch/>
        </p:blipFill>
        <p:spPr>
          <a:xfrm>
            <a:off x="2185337" y="1171801"/>
            <a:ext cx="217425" cy="48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7" name="Google Shape;1537;p104"/>
          <p:cNvCxnSpPr/>
          <p:nvPr/>
        </p:nvCxnSpPr>
        <p:spPr>
          <a:xfrm rot="10800000">
            <a:off x="5364200" y="1851779"/>
            <a:ext cx="0" cy="9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538" name="Google Shape;1538;p104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1300" y="2072452"/>
            <a:ext cx="147454" cy="48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1539" name="Google Shape;1539;p104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6">
            <a:alphaModFix/>
          </a:blip>
          <a:srcRect b="0" l="0" r="79160" t="0"/>
          <a:stretch/>
        </p:blipFill>
        <p:spPr>
          <a:xfrm>
            <a:off x="4781300" y="2970300"/>
            <a:ext cx="879549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1540" name="Google Shape;1540;p104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6">
            <a:alphaModFix/>
          </a:blip>
          <a:srcRect b="0" l="48127" r="17193" t="0"/>
          <a:stretch/>
        </p:blipFill>
        <p:spPr>
          <a:xfrm>
            <a:off x="5685500" y="3588550"/>
            <a:ext cx="1398278" cy="514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1541" name="Google Shape;1541;p104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6">
            <a:alphaModFix/>
          </a:blip>
          <a:srcRect b="0" l="83102" r="0" t="0"/>
          <a:stretch/>
        </p:blipFill>
        <p:spPr>
          <a:xfrm>
            <a:off x="5685502" y="4154412"/>
            <a:ext cx="681318" cy="514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1542" name="Google Shape;1542;p104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6">
            <a:alphaModFix/>
          </a:blip>
          <a:srcRect b="0" l="89256" r="-1" t="0"/>
          <a:stretch/>
        </p:blipFill>
        <p:spPr>
          <a:xfrm>
            <a:off x="6512550" y="1220374"/>
            <a:ext cx="373103" cy="4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104"/>
          <p:cNvSpPr txBox="1"/>
          <p:nvPr/>
        </p:nvSpPr>
        <p:spPr>
          <a:xfrm>
            <a:off x="6937250" y="1206212"/>
            <a:ext cx="6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\frac{3}{4}\div\frac{5}{6}=\frac{11}{4}\times\frac{6}{5}=\frac{66}{20}=3\frac{6}{20}=3\frac{3}{10}&quot;&gt;&lt;mn&gt;2&lt;/mn&gt;&lt;mfrac&gt;&lt;mn&gt;3&lt;/mn&gt;&lt;mn&gt;4&lt;/mn&gt;&lt;/mfrac&gt;&lt;mo&gt;÷&lt;/mo&gt;&lt;mfrac&gt;&lt;mn&gt;5&lt;/mn&gt;&lt;mn&gt;6&lt;/mn&gt;&lt;/mfrac&gt;&lt;mo&gt;=&lt;/mo&gt;&lt;mfrac&gt;&lt;mn&gt;11&lt;/mn&gt;&lt;mn&gt;4&lt;/mn&gt;&lt;/mfrac&gt;&lt;mo&gt;×&lt;/mo&gt;&lt;mfrac&gt;&lt;mn&gt;6&lt;/mn&gt;&lt;mn&gt;5&lt;/mn&gt;&lt;/mfrac&gt;&lt;mo&gt;=&lt;/mo&gt;&lt;mfrac&gt;&lt;mn&gt;66&lt;/mn&gt;&lt;mn&gt;20&lt;/mn&gt;&lt;/mfrac&gt;&lt;mo&gt;=&lt;/mo&gt;&lt;mn&gt;3&lt;/mn&gt;&lt;mfrac&gt;&lt;mn&gt;6&lt;/mn&gt;&lt;mn&gt;20&lt;/mn&gt;&lt;/mfrac&gt;&lt;mo&gt;=&lt;/mo&gt;&lt;mn&gt;3&lt;/mn&gt;&lt;mfrac&gt;&lt;mn&gt;3&lt;/mn&gt;&lt;mn&gt;10&lt;/mn&gt;&lt;/mfrac&gt;&lt;/math&gt;" id="1544" name="Google Shape;1544;p104" title="2 and three fourths divided by five sixths equals eleven fourths times six fifths equals 66 over 20 equals 3 and 6 over 20 equals 3 and three tenths"/>
          <p:cNvPicPr preferRelativeResize="0"/>
          <p:nvPr/>
        </p:nvPicPr>
        <p:blipFill rotWithShape="1">
          <a:blip r:embed="rId6">
            <a:alphaModFix/>
          </a:blip>
          <a:srcRect b="0" l="19919" r="51583" t="0"/>
          <a:stretch/>
        </p:blipFill>
        <p:spPr>
          <a:xfrm>
            <a:off x="5685503" y="2970300"/>
            <a:ext cx="1202775" cy="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04"/>
          <p:cNvSpPr txBox="1"/>
          <p:nvPr/>
        </p:nvSpPr>
        <p:spPr>
          <a:xfrm>
            <a:off x="1600200" y="21336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04"/>
          <p:cNvSpPr txBox="1"/>
          <p:nvPr/>
        </p:nvSpPr>
        <p:spPr>
          <a:xfrm>
            <a:off x="2209800" y="21336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04"/>
          <p:cNvSpPr txBox="1"/>
          <p:nvPr/>
        </p:nvSpPr>
        <p:spPr>
          <a:xfrm>
            <a:off x="2667000" y="2133600"/>
            <a:ext cx="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04"/>
          <p:cNvSpPr txBox="1"/>
          <p:nvPr/>
        </p:nvSpPr>
        <p:spPr>
          <a:xfrm>
            <a:off x="5715000" y="20574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104"/>
          <p:cNvSpPr txBox="1"/>
          <p:nvPr/>
        </p:nvSpPr>
        <p:spPr>
          <a:xfrm>
            <a:off x="6324600" y="20574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04"/>
          <p:cNvSpPr txBox="1"/>
          <p:nvPr/>
        </p:nvSpPr>
        <p:spPr>
          <a:xfrm>
            <a:off x="6858000" y="2057400"/>
            <a:ext cx="8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Here are some areas of some shapes. Work out the missing lengths</a:t>
            </a:r>
            <a:endParaRPr sz="1900"/>
          </a:p>
        </p:txBody>
      </p:sp>
      <p:sp>
        <p:nvSpPr>
          <p:cNvPr id="1556" name="Google Shape;1556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by multiplying by the reciprocal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05"/>
          <p:cNvSpPr txBox="1"/>
          <p:nvPr/>
        </p:nvSpPr>
        <p:spPr>
          <a:xfrm>
            <a:off x="248582" y="1150400"/>
            <a:ext cx="517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05"/>
          <p:cNvSpPr/>
          <p:nvPr/>
        </p:nvSpPr>
        <p:spPr>
          <a:xfrm>
            <a:off x="1155107" y="1620000"/>
            <a:ext cx="5832000" cy="9720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559" name="Google Shape;1559;p105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49494" l="0" r="42343" t="0"/>
          <a:stretch/>
        </p:blipFill>
        <p:spPr>
          <a:xfrm>
            <a:off x="1155219" y="3224575"/>
            <a:ext cx="2430882" cy="488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560" name="Google Shape;1560;p105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53323" l="0" r="95245" t="0"/>
          <a:stretch/>
        </p:blipFill>
        <p:spPr>
          <a:xfrm>
            <a:off x="2307151" y="1948275"/>
            <a:ext cx="239321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561" name="Google Shape;1561;p105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0" l="14513" r="80998" t="49018"/>
          <a:stretch/>
        </p:blipFill>
        <p:spPr>
          <a:xfrm>
            <a:off x="481811" y="1842225"/>
            <a:ext cx="206957" cy="5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105"/>
          <p:cNvSpPr txBox="1"/>
          <p:nvPr/>
        </p:nvSpPr>
        <p:spPr>
          <a:xfrm>
            <a:off x="663032" y="1875350"/>
            <a:ext cx="4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900"/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563" name="Google Shape;1563;p105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0" l="-1165" r="48436" t="49494"/>
          <a:stretch/>
        </p:blipFill>
        <p:spPr>
          <a:xfrm>
            <a:off x="1062125" y="3731004"/>
            <a:ext cx="2223100" cy="488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2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2&lt;/mn&gt;&lt;mfrac&gt;&lt;mn&gt;1&lt;/mn&gt;&lt;mn&gt;3&lt;/mn&gt;&lt;/mfrac&gt;&lt;/mtd&gt;&lt;/mtr&gt;&lt;/mtable&gt;&lt;/math&gt;" id="1564" name="Google Shape;1564;p105" title="2 lines Line 1: five sevenths times 2 equals the fraction with numerator 5 times 2 and denominator 7 equals ten sevenths Line 2: ten sevenths divided by three sevenths equals ten sevenths times seven thirds equals 70 over 21 equals ten thirds equals 2 and one third"/>
          <p:cNvPicPr preferRelativeResize="0"/>
          <p:nvPr/>
        </p:nvPicPr>
        <p:blipFill rotWithShape="1">
          <a:blip r:embed="rId3">
            <a:alphaModFix/>
          </a:blip>
          <a:srcRect b="0" l="51281" r="15724" t="49494"/>
          <a:stretch/>
        </p:blipFill>
        <p:spPr>
          <a:xfrm>
            <a:off x="2016449" y="4292475"/>
            <a:ext cx="1390974" cy="48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105"/>
          <p:cNvSpPr txBox="1"/>
          <p:nvPr/>
        </p:nvSpPr>
        <p:spPr>
          <a:xfrm>
            <a:off x="4126808" y="2754526"/>
            <a:ext cx="3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3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3&lt;/mn&gt;&lt;mfrac&gt;&lt;mn&gt;1&lt;/mn&gt;&lt;mn&gt;3&lt;/mn&gt;&lt;/mfrac&gt;&lt;/mtd&gt;&lt;/mtr&gt;&lt;/mtable&gt;&lt;/math&gt;" id="1566" name="Google Shape;1566;p105" title="2 lines Line 1: five sevenths times 2 equals the fraction with numerator 5 times 2 and denominator 7 equals ten sevenths Line 2: ten sevenths divided by three sevenths equals ten sevenths times seven thirds equals 70 over 21 equals ten thirds equals 3 and one third"/>
          <p:cNvPicPr preferRelativeResize="0"/>
          <p:nvPr/>
        </p:nvPicPr>
        <p:blipFill rotWithShape="1">
          <a:blip r:embed="rId4">
            <a:alphaModFix/>
          </a:blip>
          <a:srcRect b="0" l="83362" r="0" t="53421"/>
          <a:stretch/>
        </p:blipFill>
        <p:spPr>
          <a:xfrm>
            <a:off x="3407436" y="4345459"/>
            <a:ext cx="718449" cy="46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7" name="Google Shape;1567;p105"/>
          <p:cNvCxnSpPr/>
          <p:nvPr/>
        </p:nvCxnSpPr>
        <p:spPr>
          <a:xfrm rot="10800000">
            <a:off x="1062125" y="1624425"/>
            <a:ext cx="0" cy="9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8" name="Google Shape;1568;p105"/>
          <p:cNvCxnSpPr/>
          <p:nvPr/>
        </p:nvCxnSpPr>
        <p:spPr>
          <a:xfrm rot="10800000">
            <a:off x="1155225" y="2700000"/>
            <a:ext cx="582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9" name="Google Shape;1569;p105"/>
          <p:cNvSpPr txBox="1"/>
          <p:nvPr/>
        </p:nvSpPr>
        <p:spPr>
          <a:xfrm>
            <a:off x="3763800" y="2652313"/>
            <a:ext cx="3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frac{5}{7}\times2\ =\ \frac{5\times2}{7}=\frac{10}{7}\\&amp;#13;&amp;#10;\frac{10}{7}\div\frac{3}{7}=\frac{10}{7}\times\frac{7}{3}=\frac{70}{21}=\frac{10}{3}=3\frac{1}{3}\end{array}&quot;&gt;&lt;mtable columnalign=&quot;left&quot; columnspacing=&quot;1em&quot; rowspacing=&quot;4pt&quot;&gt;&lt;mtr&gt;&lt;mtd&gt;&lt;mfrac&gt;&lt;mn&gt;5&lt;/mn&gt;&lt;mn&gt;7&lt;/mn&gt;&lt;/mfrac&gt;&lt;mo&gt;×&lt;/mo&gt;&lt;mn&gt;2&lt;/mn&gt;&lt;mtext&gt;&lt;/mtext&gt;&lt;mo&gt;=&lt;/mo&gt;&lt;mtext&gt;&lt;/mtext&gt;&lt;mfrac&gt;&lt;mrow&gt;&lt;mn&gt;5&lt;/mn&gt;&lt;mo&gt;×&lt;/mo&gt;&lt;mn&gt;2&lt;/mn&gt;&lt;/mrow&gt;&lt;mn&gt;7&lt;/mn&gt;&lt;/mfrac&gt;&lt;mo&gt;=&lt;/mo&gt;&lt;mfrac&gt;&lt;mn&gt;10&lt;/mn&gt;&lt;mn&gt;7&lt;/mn&gt;&lt;/mfrac&gt;&lt;/mtd&gt;&lt;/mtr&gt;&lt;mtr&gt;&lt;mtd&gt;&lt;mfrac&gt;&lt;mn&gt;10&lt;/mn&gt;&lt;mn&gt;7&lt;/mn&gt;&lt;/mfrac&gt;&lt;mo&gt;÷&lt;/mo&gt;&lt;mfrac&gt;&lt;mn&gt;3&lt;/mn&gt;&lt;mn&gt;7&lt;/mn&gt;&lt;/mfrac&gt;&lt;mo&gt;=&lt;/mo&gt;&lt;mfrac&gt;&lt;mn&gt;10&lt;/mn&gt;&lt;mn&gt;7&lt;/mn&gt;&lt;/mfrac&gt;&lt;mo&gt;×&lt;/mo&gt;&lt;mfrac&gt;&lt;mn&gt;7&lt;/mn&gt;&lt;mn&gt;3&lt;/mn&gt;&lt;/mfrac&gt;&lt;mo&gt;=&lt;/mo&gt;&lt;mfrac&gt;&lt;mn&gt;70&lt;/mn&gt;&lt;mn&gt;21&lt;/mn&gt;&lt;/mfrac&gt;&lt;mo&gt;=&lt;/mo&gt;&lt;mfrac&gt;&lt;mn&gt;10&lt;/mn&gt;&lt;mn&gt;3&lt;/mn&gt;&lt;/mfrac&gt;&lt;mo&gt;=&lt;/mo&gt;&lt;mn&gt;3&lt;/mn&gt;&lt;mfrac&gt;&lt;mn&gt;1&lt;/mn&gt;&lt;mn&gt;3&lt;/mn&gt;&lt;/mfrac&gt;&lt;/mtd&gt;&lt;/mtr&gt;&lt;/mtable&gt;&lt;/math&gt;" id="1570" name="Google Shape;1570;p105" title="2 lines Line 1: five sevenths times 2 equals the fraction with numerator 5 times 2 and denominator 7 equals ten sevenths Line 2: ten sevenths divided by three sevenths equals ten sevenths times seven thirds equals 70 over 21 equals ten thirds equals 3 and one third"/>
          <p:cNvPicPr preferRelativeResize="0"/>
          <p:nvPr/>
        </p:nvPicPr>
        <p:blipFill rotWithShape="1">
          <a:blip r:embed="rId4">
            <a:alphaModFix/>
          </a:blip>
          <a:srcRect b="0" l="91563" r="0" t="53421"/>
          <a:stretch/>
        </p:blipFill>
        <p:spPr>
          <a:xfrm>
            <a:off x="3787876" y="2776200"/>
            <a:ext cx="330450" cy="4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05"/>
          <p:cNvSpPr/>
          <p:nvPr/>
        </p:nvSpPr>
        <p:spPr>
          <a:xfrm>
            <a:off x="3647800" y="2752475"/>
            <a:ext cx="846600" cy="46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05"/>
          <p:cNvSpPr txBox="1"/>
          <p:nvPr/>
        </p:nvSpPr>
        <p:spPr>
          <a:xfrm>
            <a:off x="1371600" y="1981200"/>
            <a:ext cx="7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05"/>
          <p:cNvSpPr txBox="1"/>
          <p:nvPr/>
        </p:nvSpPr>
        <p:spPr>
          <a:xfrm>
            <a:off x="1981200" y="19812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05"/>
          <p:cNvSpPr txBox="1"/>
          <p:nvPr/>
        </p:nvSpPr>
        <p:spPr>
          <a:xfrm>
            <a:off x="2438400" y="1981200"/>
            <a:ext cx="5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06"/>
          <p:cNvSpPr txBox="1"/>
          <p:nvPr>
            <p:ph idx="1" type="body"/>
          </p:nvPr>
        </p:nvSpPr>
        <p:spPr>
          <a:xfrm>
            <a:off x="324000" y="810000"/>
            <a:ext cx="8113800" cy="7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division of a fraction by a fraction can be seen using an area model.</a:t>
            </a:r>
            <a:endParaRPr/>
          </a:p>
        </p:txBody>
      </p:sp>
      <p:sp>
        <p:nvSpPr>
          <p:cNvPr id="1580" name="Google Shape;1580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fraction by a fraction</a:t>
            </a:r>
            <a:endParaRPr/>
          </a:p>
        </p:txBody>
      </p:sp>
      <p:sp>
        <p:nvSpPr>
          <p:cNvPr id="1581" name="Google Shape;1581;p106"/>
          <p:cNvSpPr txBox="1"/>
          <p:nvPr>
            <p:ph idx="1" type="body"/>
          </p:nvPr>
        </p:nvSpPr>
        <p:spPr>
          <a:xfrm>
            <a:off x="324000" y="3489650"/>
            <a:ext cx="8113800" cy="7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it is easier to calculate the division of a fraction by a fraction, by multiplying the dividend by the </a:t>
            </a:r>
            <a:r>
              <a:rPr b="1" lang="en-GB"/>
              <a:t>reciprocal</a:t>
            </a:r>
            <a:r>
              <a:rPr lang="en-GB"/>
              <a:t> of the divisor.</a:t>
            </a:r>
            <a:endParaRPr/>
          </a:p>
        </p:txBody>
      </p:sp>
      <p:sp>
        <p:nvSpPr>
          <p:cNvPr id="1582" name="Google Shape;1582;p106"/>
          <p:cNvSpPr txBox="1"/>
          <p:nvPr>
            <p:ph idx="4294967295" type="subTitle"/>
          </p:nvPr>
        </p:nvSpPr>
        <p:spPr>
          <a:xfrm>
            <a:off x="348601" y="1885775"/>
            <a:ext cx="8064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reciprocal</a:t>
            </a:r>
            <a:r>
              <a:rPr lang="en-GB"/>
              <a:t> is the multiplicative inverse of any non-zero number. Any non-zero number multiplied by its </a:t>
            </a:r>
            <a:r>
              <a:rPr b="1" lang="en-GB"/>
              <a:t>reciprocal</a:t>
            </a:r>
            <a:r>
              <a:rPr lang="en-GB"/>
              <a:t> is equal to 1.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88" name="Google Shape;1588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