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8169d095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8169d095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e8169d095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e8169d095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85d9d79962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85d9d79962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85d9d79962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85d9d79962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85d9d79962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85d9d79962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85d9d79962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85d9d79962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85d9d79962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85d9d79962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85d9d79962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85d9d79962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85d9d79962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85d9d79962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87e6dc932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87e6dc932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85d9d79962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85d9d79962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285d9d7996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85d9d7996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85d9d79962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85d9d7996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8693ec323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8693ec32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8693ec323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8693ec323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8693ec323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8693ec323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8693ec323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8693ec323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28693ec323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28693ec323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8693ec323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8693ec323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8693ec323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8693ec32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8693ec323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8693ec323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8693ec323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8693ec323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8693ec323e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8693ec323e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8693ec323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8693ec323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8693ec323e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8693ec323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8693ec323e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8693ec323e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8693ec323e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8693ec323e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85d9d79962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85d9d7996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84fbc6982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84fbc6982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8693ec323e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8693ec323e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84fbc6982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84fbc6982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84fbc6982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84fbc6982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8693ec323e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8693ec323e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8693ec323e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28693ec323e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8693ec323e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8693ec323e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8693ec323e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8693ec323e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8693ec323e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8693ec323e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84fbc6982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84fbc6982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28693ec323e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28693ec323e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85d9d79962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85d9d79962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Relationship Id="rId4" Type="http://schemas.openxmlformats.org/officeDocument/2006/relationships/image" Target="../media/image68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8.png"/><Relationship Id="rId4" Type="http://schemas.openxmlformats.org/officeDocument/2006/relationships/image" Target="../media/image24.png"/><Relationship Id="rId9" Type="http://schemas.openxmlformats.org/officeDocument/2006/relationships/image" Target="../media/image18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8.png"/><Relationship Id="rId4" Type="http://schemas.openxmlformats.org/officeDocument/2006/relationships/image" Target="../media/image31.png"/><Relationship Id="rId11" Type="http://schemas.openxmlformats.org/officeDocument/2006/relationships/image" Target="../media/image18.png"/><Relationship Id="rId10" Type="http://schemas.openxmlformats.org/officeDocument/2006/relationships/image" Target="../media/image39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2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61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24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48.png"/><Relationship Id="rId5" Type="http://schemas.openxmlformats.org/officeDocument/2006/relationships/image" Target="../media/image55.png"/><Relationship Id="rId6" Type="http://schemas.openxmlformats.org/officeDocument/2006/relationships/image" Target="../media/image50.png"/><Relationship Id="rId7" Type="http://schemas.openxmlformats.org/officeDocument/2006/relationships/image" Target="../media/image49.png"/><Relationship Id="rId8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Relationship Id="rId4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5.png"/><Relationship Id="rId4" Type="http://schemas.openxmlformats.org/officeDocument/2006/relationships/image" Target="../media/image48.png"/><Relationship Id="rId5" Type="http://schemas.openxmlformats.org/officeDocument/2006/relationships/image" Target="../media/image6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5.png"/><Relationship Id="rId4" Type="http://schemas.openxmlformats.org/officeDocument/2006/relationships/image" Target="../media/image48.png"/><Relationship Id="rId5" Type="http://schemas.openxmlformats.org/officeDocument/2006/relationships/image" Target="../media/image6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1.png"/><Relationship Id="rId4" Type="http://schemas.openxmlformats.org/officeDocument/2006/relationships/image" Target="../media/image69.png"/><Relationship Id="rId5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Relationship Id="rId5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3.png"/><Relationship Id="rId4" Type="http://schemas.openxmlformats.org/officeDocument/2006/relationships/image" Target="../media/image48.png"/><Relationship Id="rId5" Type="http://schemas.openxmlformats.org/officeDocument/2006/relationships/image" Target="../media/image70.png"/><Relationship Id="rId6" Type="http://schemas.openxmlformats.org/officeDocument/2006/relationships/image" Target="../media/image77.png"/><Relationship Id="rId7" Type="http://schemas.openxmlformats.org/officeDocument/2006/relationships/image" Target="../media/image7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4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4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2.png"/><Relationship Id="rId4" Type="http://schemas.openxmlformats.org/officeDocument/2006/relationships/image" Target="../media/image81.png"/><Relationship Id="rId5" Type="http://schemas.openxmlformats.org/officeDocument/2006/relationships/image" Target="../media/image85.png"/><Relationship Id="rId6" Type="http://schemas.openxmlformats.org/officeDocument/2006/relationships/image" Target="../media/image8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6.png"/><Relationship Id="rId4" Type="http://schemas.openxmlformats.org/officeDocument/2006/relationships/image" Target="../media/image8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1.png"/><Relationship Id="rId4" Type="http://schemas.openxmlformats.org/officeDocument/2006/relationships/image" Target="../media/image67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7.png"/><Relationship Id="rId8" Type="http://schemas.openxmlformats.org/officeDocument/2006/relationships/image" Target="../media/image9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2.png"/><Relationship Id="rId4" Type="http://schemas.openxmlformats.org/officeDocument/2006/relationships/image" Target="../media/image48.png"/><Relationship Id="rId5" Type="http://schemas.openxmlformats.org/officeDocument/2006/relationships/image" Target="../media/image9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6.png"/><Relationship Id="rId4" Type="http://schemas.openxmlformats.org/officeDocument/2006/relationships/image" Target="../media/image9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3.png"/><Relationship Id="rId4" Type="http://schemas.openxmlformats.org/officeDocument/2006/relationships/image" Target="../media/image81.png"/><Relationship Id="rId5" Type="http://schemas.openxmlformats.org/officeDocument/2006/relationships/image" Target="../media/image102.png"/><Relationship Id="rId6" Type="http://schemas.openxmlformats.org/officeDocument/2006/relationships/image" Target="../media/image104.png"/><Relationship Id="rId7" Type="http://schemas.openxmlformats.org/officeDocument/2006/relationships/image" Target="../media/image101.png"/><Relationship Id="rId8" Type="http://schemas.openxmlformats.org/officeDocument/2006/relationships/image" Target="../media/image10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3.png"/><Relationship Id="rId4" Type="http://schemas.openxmlformats.org/officeDocument/2006/relationships/image" Target="../media/image81.png"/><Relationship Id="rId9" Type="http://schemas.openxmlformats.org/officeDocument/2006/relationships/image" Target="../media/image106.png"/><Relationship Id="rId5" Type="http://schemas.openxmlformats.org/officeDocument/2006/relationships/image" Target="../media/image102.png"/><Relationship Id="rId6" Type="http://schemas.openxmlformats.org/officeDocument/2006/relationships/image" Target="../media/image104.png"/><Relationship Id="rId7" Type="http://schemas.openxmlformats.org/officeDocument/2006/relationships/image" Target="../media/image101.png"/><Relationship Id="rId8" Type="http://schemas.openxmlformats.org/officeDocument/2006/relationships/image" Target="../media/image105.png"/><Relationship Id="rId11" Type="http://schemas.openxmlformats.org/officeDocument/2006/relationships/image" Target="../media/image111.png"/><Relationship Id="rId10" Type="http://schemas.openxmlformats.org/officeDocument/2006/relationships/image" Target="../media/image108.png"/><Relationship Id="rId13" Type="http://schemas.openxmlformats.org/officeDocument/2006/relationships/image" Target="../media/image110.png"/><Relationship Id="rId12" Type="http://schemas.openxmlformats.org/officeDocument/2006/relationships/image" Target="../media/image1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4.png"/><Relationship Id="rId4" Type="http://schemas.openxmlformats.org/officeDocument/2006/relationships/image" Target="../media/image1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transformations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09375" y="1463950"/>
            <a:ext cx="76716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transformations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A transformation is a process that may change the size, orientation or position of a shape.</a:t>
            </a: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31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The object</a:t>
            </a:r>
            <a:r>
              <a:rPr b="1" lang="en-GB" sz="2200"/>
              <a:t> </a:t>
            </a:r>
            <a:r>
              <a:rPr lang="en-GB" sz="2200"/>
              <a:t>is the starting figure before a transformation has been applied.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image is the resulting figure after a transformation has been applied.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sp>
        <p:nvSpPr>
          <p:cNvPr id="775" name="Google Shape;775;p68"/>
          <p:cNvSpPr txBox="1"/>
          <p:nvPr>
            <p:ph idx="4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transformations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81" y="1748300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8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759300"/>
            <a:ext cx="8237700" cy="3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you want to ‘undo’ adding a number, we use the inverse operation and subtract the number. This returns </a:t>
            </a:r>
            <a:r>
              <a:rPr lang="en-GB"/>
              <a:t>the starting number.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125 + 32 = 157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157 - 32 = 125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sp>
        <p:nvSpPr>
          <p:cNvPr id="789" name="Google Shape;789;p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the framed photo is moved to the right.  </a:t>
            </a:r>
            <a:endParaRPr/>
          </a:p>
        </p:txBody>
      </p:sp>
      <p:grpSp>
        <p:nvGrpSpPr>
          <p:cNvPr id="790" name="Google Shape;790;p70"/>
          <p:cNvGrpSpPr/>
          <p:nvPr/>
        </p:nvGrpSpPr>
        <p:grpSpPr>
          <a:xfrm>
            <a:off x="2295460" y="1356869"/>
            <a:ext cx="1411735" cy="2261852"/>
            <a:chOff x="1236262" y="1472830"/>
            <a:chExt cx="1961288" cy="3142333"/>
          </a:xfrm>
        </p:grpSpPr>
        <p:grpSp>
          <p:nvGrpSpPr>
            <p:cNvPr id="791" name="Google Shape;791;p70"/>
            <p:cNvGrpSpPr/>
            <p:nvPr/>
          </p:nvGrpSpPr>
          <p:grpSpPr>
            <a:xfrm>
              <a:off x="1236262" y="1472830"/>
              <a:ext cx="1961288" cy="3142333"/>
              <a:chOff x="1175200" y="1320200"/>
              <a:chExt cx="1266900" cy="2029800"/>
            </a:xfrm>
          </p:grpSpPr>
          <p:sp>
            <p:nvSpPr>
              <p:cNvPr id="792" name="Google Shape;792;p70"/>
              <p:cNvSpPr/>
              <p:nvPr/>
            </p:nvSpPr>
            <p:spPr>
              <a:xfrm>
                <a:off x="1175200" y="1320200"/>
                <a:ext cx="1266900" cy="2029800"/>
              </a:xfrm>
              <a:prstGeom prst="bevel">
                <a:avLst>
                  <a:gd fmla="val 125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70"/>
              <p:cNvSpPr/>
              <p:nvPr/>
            </p:nvSpPr>
            <p:spPr>
              <a:xfrm>
                <a:off x="1343100" y="1480475"/>
                <a:ext cx="938700" cy="17094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94" name="Google Shape;794;p70"/>
            <p:cNvPicPr preferRelativeResize="0"/>
            <p:nvPr/>
          </p:nvPicPr>
          <p:blipFill rotWithShape="1">
            <a:blip r:embed="rId3">
              <a:alphaModFix/>
            </a:blip>
            <a:srcRect b="0" l="20921" r="49323" t="0"/>
            <a:stretch/>
          </p:blipFill>
          <p:spPr>
            <a:xfrm>
              <a:off x="1495725" y="1707800"/>
              <a:ext cx="1449950" cy="2672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5" name="Google Shape;795;p70"/>
          <p:cNvGrpSpPr/>
          <p:nvPr/>
        </p:nvGrpSpPr>
        <p:grpSpPr>
          <a:xfrm>
            <a:off x="5441635" y="1356869"/>
            <a:ext cx="1411735" cy="2261852"/>
            <a:chOff x="1236262" y="1472830"/>
            <a:chExt cx="1961288" cy="3142333"/>
          </a:xfrm>
        </p:grpSpPr>
        <p:grpSp>
          <p:nvGrpSpPr>
            <p:cNvPr id="796" name="Google Shape;796;p70"/>
            <p:cNvGrpSpPr/>
            <p:nvPr/>
          </p:nvGrpSpPr>
          <p:grpSpPr>
            <a:xfrm>
              <a:off x="1236262" y="1472830"/>
              <a:ext cx="1961288" cy="3142333"/>
              <a:chOff x="1175200" y="1320200"/>
              <a:chExt cx="1266900" cy="2029800"/>
            </a:xfrm>
          </p:grpSpPr>
          <p:sp>
            <p:nvSpPr>
              <p:cNvPr id="797" name="Google Shape;797;p70"/>
              <p:cNvSpPr/>
              <p:nvPr/>
            </p:nvSpPr>
            <p:spPr>
              <a:xfrm>
                <a:off x="1175200" y="1320200"/>
                <a:ext cx="1266900" cy="2029800"/>
              </a:xfrm>
              <a:prstGeom prst="bevel">
                <a:avLst>
                  <a:gd fmla="val 125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70"/>
              <p:cNvSpPr/>
              <p:nvPr/>
            </p:nvSpPr>
            <p:spPr>
              <a:xfrm>
                <a:off x="1343100" y="1480475"/>
                <a:ext cx="938700" cy="17094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99" name="Google Shape;799;p70"/>
            <p:cNvPicPr preferRelativeResize="0"/>
            <p:nvPr/>
          </p:nvPicPr>
          <p:blipFill rotWithShape="1">
            <a:blip r:embed="rId3">
              <a:alphaModFix/>
            </a:blip>
            <a:srcRect b="0" l="20921" r="49323" t="0"/>
            <a:stretch/>
          </p:blipFill>
          <p:spPr>
            <a:xfrm>
              <a:off x="1495725" y="1707800"/>
              <a:ext cx="1449950" cy="2672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0" name="Google Shape;800;p70"/>
          <p:cNvSpPr txBox="1"/>
          <p:nvPr>
            <p:ph idx="1" type="body"/>
          </p:nvPr>
        </p:nvSpPr>
        <p:spPr>
          <a:xfrm>
            <a:off x="324000" y="3835900"/>
            <a:ext cx="8237700" cy="4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would you return it to its </a:t>
            </a:r>
            <a:r>
              <a:rPr lang="en-GB"/>
              <a:t>original position?</a:t>
            </a:r>
            <a:endParaRPr/>
          </a:p>
        </p:txBody>
      </p:sp>
      <p:sp>
        <p:nvSpPr>
          <p:cNvPr id="801" name="Google Shape;801;p70"/>
          <p:cNvSpPr txBox="1"/>
          <p:nvPr/>
        </p:nvSpPr>
        <p:spPr>
          <a:xfrm>
            <a:off x="1686525" y="4326950"/>
            <a:ext cx="506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Move it the same distance but to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left.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1"/>
          <p:cNvSpPr txBox="1"/>
          <p:nvPr>
            <p:ph idx="1" type="body"/>
          </p:nvPr>
        </p:nvSpPr>
        <p:spPr>
          <a:xfrm>
            <a:off x="324000" y="759300"/>
            <a:ext cx="8237700" cy="7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Rectangle</a:t>
            </a:r>
            <a:r>
              <a:rPr lang="en-GB" sz="2000"/>
              <a:t> A is reflected in the </a:t>
            </a:r>
            <a:r>
              <a:rPr lang="en-GB" sz="2000">
                <a:solidFill>
                  <a:schemeClr val="lt1"/>
                </a:solidFill>
              </a:rPr>
              <a:t>x</a:t>
            </a:r>
            <a:r>
              <a:rPr lang="en-GB" sz="2000"/>
              <a:t>-axis to become rectangle B. Rectangle B is then reflected in the </a:t>
            </a:r>
            <a:r>
              <a:rPr lang="en-GB" sz="2000">
                <a:solidFill>
                  <a:schemeClr val="lt1"/>
                </a:solidFill>
              </a:rPr>
              <a:t>y</a:t>
            </a:r>
            <a:r>
              <a:rPr lang="en-GB" sz="2000"/>
              <a:t>-axis to become rectangle C.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07" name="Google Shape;80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pic>
        <p:nvPicPr>
          <p:cNvPr id="808" name="Google Shape;808;p71"/>
          <p:cNvPicPr preferRelativeResize="0"/>
          <p:nvPr/>
        </p:nvPicPr>
        <p:blipFill rotWithShape="1">
          <a:blip r:embed="rId3">
            <a:alphaModFix/>
          </a:blip>
          <a:srcRect b="0" l="33195" r="0" t="0"/>
          <a:stretch/>
        </p:blipFill>
        <p:spPr>
          <a:xfrm>
            <a:off x="598250" y="1775875"/>
            <a:ext cx="3438899" cy="2928251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1"/>
          <p:cNvSpPr txBox="1"/>
          <p:nvPr/>
        </p:nvSpPr>
        <p:spPr>
          <a:xfrm>
            <a:off x="2854107" y="2541225"/>
            <a:ext cx="3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1"/>
          <p:cNvSpPr txBox="1"/>
          <p:nvPr/>
        </p:nvSpPr>
        <p:spPr>
          <a:xfrm>
            <a:off x="2854107" y="3569981"/>
            <a:ext cx="3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1" name="Google Shape;811;p7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5136274" y="1689700"/>
            <a:ext cx="2960476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71"/>
          <p:cNvSpPr txBox="1"/>
          <p:nvPr/>
        </p:nvSpPr>
        <p:spPr>
          <a:xfrm>
            <a:off x="1291950" y="3569981"/>
            <a:ext cx="34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1"/>
          <p:cNvSpPr txBox="1"/>
          <p:nvPr/>
        </p:nvSpPr>
        <p:spPr>
          <a:xfrm>
            <a:off x="5338787" y="1764608"/>
            <a:ext cx="2771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there a single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transformation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 maps rectangle C back onto rectangle A?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4" name="Google Shape;814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3552" y="2932340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1"/>
          <p:cNvSpPr txBox="1"/>
          <p:nvPr/>
        </p:nvSpPr>
        <p:spPr>
          <a:xfrm>
            <a:off x="5370150" y="3559900"/>
            <a:ext cx="341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Translate rectangle C by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6\\&amp;#13;&amp;#10;4\end{matrix}\right)&quot;&gt;&lt;mrow data-mjx-texclass=&quot;INNER&quot;&gt;&lt;mo data-mjx-texclass=&quot;OPEN&quot;&gt;(&lt;/mo&gt;&lt;mtable columnspacing=&quot;1em&quot; rowspacing=&quot;4pt&quot;&gt;&lt;mtr&gt;&lt;mtd&gt;&lt;mn&gt;6&lt;/mn&gt;&lt;/mtd&gt;&lt;/mtr&gt;&lt;mtr&gt;&lt;mtd&gt;&lt;mn&gt;4&lt;/mn&gt;&lt;/mtd&gt;&lt;/mtr&gt;&lt;/mtable&gt;&lt;mo data-mjx-texclass=&quot;CLOSE&quot;&gt;)&lt;/mo&gt;&lt;/mrow&gt;&lt;/math&gt;" id="816" name="Google Shape;816;p71" title="the 2 by 1 column matrix 6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5600" y="3414101"/>
            <a:ext cx="523200" cy="65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17" name="Google Shape;817;p71" title="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79250" y="871401"/>
            <a:ext cx="1428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18" name="Google Shape;818;p71" title="y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7775" y="1213825"/>
            <a:ext cx="142875" cy="201704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1"/>
          <p:cNvSpPr txBox="1"/>
          <p:nvPr/>
        </p:nvSpPr>
        <p:spPr>
          <a:xfrm>
            <a:off x="5370150" y="41137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could rotate 180° about the origin too.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Triangle A has been rotated 90° anticlockwise about the origin. The image is labelled B.</a:t>
            </a:r>
            <a:endParaRPr sz="2000"/>
          </a:p>
        </p:txBody>
      </p:sp>
      <p:sp>
        <p:nvSpPr>
          <p:cNvPr id="825" name="Google Shape;82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pic>
        <p:nvPicPr>
          <p:cNvPr id="826" name="Google Shape;826;p72"/>
          <p:cNvPicPr preferRelativeResize="0"/>
          <p:nvPr/>
        </p:nvPicPr>
        <p:blipFill rotWithShape="1">
          <a:blip r:embed="rId3">
            <a:alphaModFix/>
          </a:blip>
          <a:srcRect b="42726" l="53031" r="0" t="0"/>
          <a:stretch/>
        </p:blipFill>
        <p:spPr>
          <a:xfrm>
            <a:off x="324000" y="1620000"/>
            <a:ext cx="4246876" cy="2945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7" name="Google Shape;827;p72"/>
          <p:cNvGrpSpPr/>
          <p:nvPr/>
        </p:nvGrpSpPr>
        <p:grpSpPr>
          <a:xfrm>
            <a:off x="4824000" y="1498750"/>
            <a:ext cx="3996000" cy="2709000"/>
            <a:chOff x="4824000" y="1498750"/>
            <a:chExt cx="3996000" cy="2709000"/>
          </a:xfrm>
        </p:grpSpPr>
        <p:sp>
          <p:nvSpPr>
            <p:cNvPr id="828" name="Google Shape;828;p72"/>
            <p:cNvSpPr txBox="1"/>
            <p:nvPr/>
          </p:nvSpPr>
          <p:spPr>
            <a:xfrm>
              <a:off x="4824000" y="1498750"/>
              <a:ext cx="3996000" cy="27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Complete 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he two transformations that would map triangle B back onto triangle A.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Rotation of         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clockwise about </a:t>
              </a:r>
              <a:r>
                <a:rPr lang="en-GB" sz="1800" u="sng">
                  <a:latin typeface="Lexend"/>
                  <a:ea typeface="Lexend"/>
                  <a:cs typeface="Lexend"/>
                  <a:sym typeface="Lexend"/>
                </a:rPr>
                <a:t>            </a:t>
              </a:r>
              <a:r>
                <a:rPr lang="en-GB" sz="1800" u="sng">
                  <a:solidFill>
                    <a:srgbClr val="F3EEFB"/>
                  </a:solidFill>
                  <a:latin typeface="Lexend"/>
                  <a:ea typeface="Lexend"/>
                  <a:cs typeface="Lexend"/>
                  <a:sym typeface="Lexend"/>
                </a:rPr>
                <a:t>dddddddd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u="sng">
                  <a:solidFill>
                    <a:srgbClr val="F3EEFB"/>
                  </a:solidFill>
                  <a:latin typeface="Lexend"/>
                  <a:ea typeface="Lexend"/>
                  <a:cs typeface="Lexend"/>
                  <a:sym typeface="Lexend"/>
                </a:rPr>
                <a:t>                  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in the                  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9" name="Google Shape;829;p72"/>
            <p:cNvSpPr txBox="1"/>
            <p:nvPr/>
          </p:nvSpPr>
          <p:spPr>
            <a:xfrm>
              <a:off x="4892125" y="3020950"/>
              <a:ext cx="1178100" cy="1917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0" name="Google Shape;830;p72"/>
          <p:cNvSpPr txBox="1"/>
          <p:nvPr/>
        </p:nvSpPr>
        <p:spPr>
          <a:xfrm>
            <a:off x="2979025" y="3329875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/>
        </p:nvSpPr>
        <p:spPr>
          <a:xfrm>
            <a:off x="1455025" y="3329875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/>
        </p:nvSpPr>
        <p:spPr>
          <a:xfrm>
            <a:off x="4892125" y="3705925"/>
            <a:ext cx="125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3" name="Google Shape;833;p72"/>
          <p:cNvSpPr txBox="1"/>
          <p:nvPr/>
        </p:nvSpPr>
        <p:spPr>
          <a:xfrm>
            <a:off x="6813925" y="3705935"/>
            <a:ext cx="121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y-axis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4" name="Google Shape;834;p72"/>
          <p:cNvSpPr txBox="1"/>
          <p:nvPr/>
        </p:nvSpPr>
        <p:spPr>
          <a:xfrm>
            <a:off x="6301475" y="2583425"/>
            <a:ext cx="43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5" name="Google Shape;835;p72"/>
          <p:cNvSpPr txBox="1"/>
          <p:nvPr/>
        </p:nvSpPr>
        <p:spPr>
          <a:xfrm>
            <a:off x="4962825" y="2846650"/>
            <a:ext cx="125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36" name="Google Shape;836;p72"/>
          <p:cNvCxnSpPr/>
          <p:nvPr/>
        </p:nvCxnSpPr>
        <p:spPr>
          <a:xfrm>
            <a:off x="6366225" y="2963225"/>
            <a:ext cx="372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72"/>
          <p:cNvCxnSpPr/>
          <p:nvPr/>
        </p:nvCxnSpPr>
        <p:spPr>
          <a:xfrm>
            <a:off x="4903225" y="4070229"/>
            <a:ext cx="118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72"/>
          <p:cNvCxnSpPr/>
          <p:nvPr/>
        </p:nvCxnSpPr>
        <p:spPr>
          <a:xfrm>
            <a:off x="4892125" y="3240000"/>
            <a:ext cx="1052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72"/>
          <p:cNvCxnSpPr/>
          <p:nvPr/>
        </p:nvCxnSpPr>
        <p:spPr>
          <a:xfrm>
            <a:off x="6837025" y="4070229"/>
            <a:ext cx="984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id="844" name="Google Shape;844;p73" title="the 2 by 1 column matrix 3 2"/>
          <p:cNvSpPr txBox="1"/>
          <p:nvPr>
            <p:ph idx="1" type="body"/>
          </p:nvPr>
        </p:nvSpPr>
        <p:spPr>
          <a:xfrm>
            <a:off x="324000" y="9117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Shape M is translated by           to create shape N. What vector would translate shape N onto shape M?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sp>
        <p:nvSpPr>
          <p:cNvPr id="846" name="Google Shape;846;p73"/>
          <p:cNvSpPr txBox="1"/>
          <p:nvPr/>
        </p:nvSpPr>
        <p:spPr>
          <a:xfrm>
            <a:off x="7051325" y="3805993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7" name="Google Shape;84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1063" y="795788"/>
            <a:ext cx="561875" cy="705375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id="848" name="Google Shape;848;p73" title="the 2 by 1 column matrix 3 2"/>
          <p:cNvSpPr txBox="1"/>
          <p:nvPr>
            <p:ph idx="1" type="body"/>
          </p:nvPr>
        </p:nvSpPr>
        <p:spPr>
          <a:xfrm>
            <a:off x="324000" y="3346550"/>
            <a:ext cx="8237700" cy="13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Shape R is enlarged by a scale factor of 4 from the origin. What enlargement scale factor would be needed to map back to shape R?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id="849" name="Google Shape;849;p73" title="the 2 by 1 column matrix 3 2"/>
          <p:cNvSpPr txBox="1"/>
          <p:nvPr>
            <p:ph idx="1" type="body"/>
          </p:nvPr>
        </p:nvSpPr>
        <p:spPr>
          <a:xfrm>
            <a:off x="324000" y="2084800"/>
            <a:ext cx="8237700" cy="9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Shape P is reflected in the </a:t>
            </a:r>
            <a:r>
              <a:rPr lang="en-GB">
                <a:solidFill>
                  <a:schemeClr val="lt1"/>
                </a:solidFill>
              </a:rPr>
              <a:t>x</a:t>
            </a:r>
            <a:r>
              <a:rPr lang="en-GB"/>
              <a:t>-axis to create shape Q. What transformation would map shape Q back on to shape P?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50" name="Google Shape;850;p73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1335" y="2221145"/>
            <a:ext cx="14287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4"/>
          <p:cNvSpPr txBox="1"/>
          <p:nvPr>
            <p:ph idx="1" type="body"/>
          </p:nvPr>
        </p:nvSpPr>
        <p:spPr>
          <a:xfrm>
            <a:off x="4002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4"/>
            </a:pPr>
            <a:r>
              <a:rPr lang="en-GB"/>
              <a:t>Shape A is reflected in the </a:t>
            </a:r>
            <a:r>
              <a:rPr lang="en-GB">
                <a:solidFill>
                  <a:schemeClr val="lt1"/>
                </a:solidFill>
              </a:rPr>
              <a:t>x</a:t>
            </a:r>
            <a:r>
              <a:rPr lang="en-GB"/>
              <a:t>-axis to become shape B. Shape B is then reflected in the </a:t>
            </a:r>
            <a:r>
              <a:rPr lang="en-GB">
                <a:solidFill>
                  <a:schemeClr val="lt1"/>
                </a:solidFill>
              </a:rPr>
              <a:t>y</a:t>
            </a:r>
            <a:r>
              <a:rPr lang="en-GB"/>
              <a:t>-axis to become shape C.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sp>
        <p:nvSpPr>
          <p:cNvPr id="857" name="Google Shape;857;p74"/>
          <p:cNvSpPr txBox="1"/>
          <p:nvPr/>
        </p:nvSpPr>
        <p:spPr>
          <a:xfrm>
            <a:off x="747750" y="2243950"/>
            <a:ext cx="35103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Fully describe a single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transformation that can map shape C onto shape A.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8" name="Google Shape;858;p74"/>
          <p:cNvPicPr preferRelativeResize="0"/>
          <p:nvPr/>
        </p:nvPicPr>
        <p:blipFill rotWithShape="1">
          <a:blip r:embed="rId3">
            <a:alphaModFix/>
          </a:blip>
          <a:srcRect b="0" l="44806" r="0" t="0"/>
          <a:stretch/>
        </p:blipFill>
        <p:spPr>
          <a:xfrm>
            <a:off x="5088451" y="1580200"/>
            <a:ext cx="2972826" cy="3063976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4"/>
          <p:cNvSpPr txBox="1"/>
          <p:nvPr/>
        </p:nvSpPr>
        <p:spPr>
          <a:xfrm>
            <a:off x="7051325" y="2243950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4"/>
          <p:cNvSpPr txBox="1"/>
          <p:nvPr/>
        </p:nvSpPr>
        <p:spPr>
          <a:xfrm>
            <a:off x="7051325" y="3653593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4"/>
          <p:cNvSpPr txBox="1"/>
          <p:nvPr/>
        </p:nvSpPr>
        <p:spPr>
          <a:xfrm>
            <a:off x="5672093" y="3653593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62" name="Google Shape;862;p74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3192" y="885972"/>
            <a:ext cx="1428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63" name="Google Shape;863;p74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3346" y="1257537"/>
            <a:ext cx="142875" cy="201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id="868" name="Google Shape;868;p75" title="the 2 by 1 column matrix 3 2"/>
          <p:cNvSpPr txBox="1"/>
          <p:nvPr>
            <p:ph idx="1" type="body"/>
          </p:nvPr>
        </p:nvSpPr>
        <p:spPr>
          <a:xfrm>
            <a:off x="324000" y="987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Shape M is translated by           to create shape N. What vector would translate shape N onto shape M?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69" name="Google Shape;869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sp>
        <p:nvSpPr>
          <p:cNvPr id="870" name="Google Shape;870;p75"/>
          <p:cNvSpPr txBox="1"/>
          <p:nvPr/>
        </p:nvSpPr>
        <p:spPr>
          <a:xfrm>
            <a:off x="7051325" y="3653593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1" name="Google Shape;87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8563" y="803288"/>
            <a:ext cx="561875" cy="7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-3\\&amp;#13;&amp;#10;-2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2&lt;/mn&gt;&lt;/mtd&gt;&lt;/mtr&gt;&lt;/mtable&gt;&lt;mo data-mjx-texclass=&quot;CLOSE&quot;&gt;)&lt;/mo&gt;&lt;/mrow&gt;&lt;/math&gt;" id="872" name="Google Shape;872;p75" title="the 2 by 1 column matrix negative 3 negative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002" y="1483738"/>
            <a:ext cx="704574" cy="6563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id="873" name="Google Shape;873;p75" title="the 2 by 1 column matrix 3 2"/>
          <p:cNvSpPr txBox="1"/>
          <p:nvPr>
            <p:ph idx="1" type="body"/>
          </p:nvPr>
        </p:nvSpPr>
        <p:spPr>
          <a:xfrm>
            <a:off x="324000" y="2770600"/>
            <a:ext cx="8237700" cy="9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 startAt="2"/>
            </a:pPr>
            <a:r>
              <a:rPr lang="en-GB" sz="2000"/>
              <a:t>Shape P is reflected in the </a:t>
            </a:r>
            <a:r>
              <a:rPr lang="en-GB" sz="2000">
                <a:solidFill>
                  <a:srgbClr val="F3EEFB"/>
                </a:solidFill>
              </a:rPr>
              <a:t>x</a:t>
            </a:r>
            <a:r>
              <a:rPr lang="en-GB" sz="2000"/>
              <a:t>-axis to create shape Q. What transformation would map shape Q back on to shape P?</a:t>
            </a:r>
            <a:endParaRPr sz="2000"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74" name="Google Shape;874;p75"/>
          <p:cNvSpPr txBox="1"/>
          <p:nvPr/>
        </p:nvSpPr>
        <p:spPr>
          <a:xfrm>
            <a:off x="680250" y="3595800"/>
            <a:ext cx="828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Reflection in the </a:t>
            </a:r>
            <a:r>
              <a:rPr lang="en-GB" sz="2000">
                <a:solidFill>
                  <a:srgbClr val="F3EEFB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-axis. 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(Depending on shape P it could be a translation or rotation as well).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75" name="Google Shape;875;p75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1635" y="2873495"/>
            <a:ext cx="1428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76" name="Google Shape;876;p75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4960" y="3789520"/>
            <a:ext cx="14287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sp>
        <p:nvSpPr>
          <p:cNvPr id="882" name="Google Shape;882;p76"/>
          <p:cNvSpPr txBox="1"/>
          <p:nvPr/>
        </p:nvSpPr>
        <p:spPr>
          <a:xfrm>
            <a:off x="7051325" y="1040843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id="883" name="Google Shape;883;p76" title="the 2 by 1 column matrix 3 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 startAt="3"/>
            </a:pPr>
            <a:r>
              <a:rPr lang="en-GB" sz="2000"/>
              <a:t>Shape R is enlarged by a scale factor of 4 from the origin. What enlargement scale factor would be needed to map back to shape R?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884" name="Google Shape;884;p76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7226" y="1612550"/>
            <a:ext cx="181500" cy="5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7"/>
          <p:cNvSpPr txBox="1"/>
          <p:nvPr>
            <p:ph idx="1" type="body"/>
          </p:nvPr>
        </p:nvSpPr>
        <p:spPr>
          <a:xfrm>
            <a:off x="400200" y="759300"/>
            <a:ext cx="8419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4"/>
            </a:pPr>
            <a:r>
              <a:rPr lang="en-GB"/>
              <a:t>Shape A is reflected in the  </a:t>
            </a:r>
            <a:r>
              <a:rPr lang="en-GB">
                <a:solidFill>
                  <a:srgbClr val="F3EEFB"/>
                </a:solidFill>
              </a:rPr>
              <a:t>x</a:t>
            </a:r>
            <a:r>
              <a:rPr lang="en-GB"/>
              <a:t>-axis to become shape B. Shape B is then reflected in the </a:t>
            </a:r>
            <a:r>
              <a:rPr lang="en-GB">
                <a:solidFill>
                  <a:srgbClr val="F3EEFB"/>
                </a:solidFill>
              </a:rPr>
              <a:t>y</a:t>
            </a:r>
            <a:r>
              <a:rPr lang="en-GB"/>
              <a:t>-axis to become shape C.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pic>
        <p:nvPicPr>
          <p:cNvPr id="891" name="Google Shape;891;p77"/>
          <p:cNvPicPr preferRelativeResize="0"/>
          <p:nvPr/>
        </p:nvPicPr>
        <p:blipFill rotWithShape="1">
          <a:blip r:embed="rId3">
            <a:alphaModFix/>
          </a:blip>
          <a:srcRect b="0" l="44806" r="0" t="0"/>
          <a:stretch/>
        </p:blipFill>
        <p:spPr>
          <a:xfrm>
            <a:off x="5088451" y="1580200"/>
            <a:ext cx="2972826" cy="3063976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7"/>
          <p:cNvSpPr txBox="1"/>
          <p:nvPr/>
        </p:nvSpPr>
        <p:spPr>
          <a:xfrm>
            <a:off x="7051325" y="2243950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7"/>
          <p:cNvSpPr txBox="1"/>
          <p:nvPr/>
        </p:nvSpPr>
        <p:spPr>
          <a:xfrm>
            <a:off x="7051325" y="3653593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7"/>
          <p:cNvSpPr txBox="1"/>
          <p:nvPr/>
        </p:nvSpPr>
        <p:spPr>
          <a:xfrm>
            <a:off x="5672093" y="3653593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7"/>
          <p:cNvSpPr txBox="1"/>
          <p:nvPr/>
        </p:nvSpPr>
        <p:spPr>
          <a:xfrm>
            <a:off x="747750" y="3641775"/>
            <a:ext cx="3197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Rotate shape C 180° about the origin.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6" name="Google Shape;896;p77"/>
          <p:cNvSpPr txBox="1"/>
          <p:nvPr/>
        </p:nvSpPr>
        <p:spPr>
          <a:xfrm>
            <a:off x="747750" y="1939150"/>
            <a:ext cx="35103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Fully describe a single transformation that can map shape C onto shape A.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97" name="Google Shape;897;p77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5592" y="885972"/>
            <a:ext cx="1428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98" name="Google Shape;898;p77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9546" y="1257537"/>
            <a:ext cx="142875" cy="201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8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sp>
        <p:nvSpPr>
          <p:cNvPr id="904" name="Google Shape;904;p78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sp>
        <p:nvSpPr>
          <p:cNvPr id="905" name="Google Shape;905;p78"/>
          <p:cNvSpPr txBox="1"/>
          <p:nvPr>
            <p:ph idx="4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transformations</a:t>
            </a:r>
            <a:endParaRPr/>
          </a:p>
        </p:txBody>
      </p:sp>
      <p:pic>
        <p:nvPicPr>
          <p:cNvPr id="906" name="Google Shape;90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31" y="2768474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8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sp>
        <p:nvSpPr>
          <p:cNvPr id="913" name="Google Shape;913;p79"/>
          <p:cNvSpPr txBox="1"/>
          <p:nvPr>
            <p:ph idx="1" type="body"/>
          </p:nvPr>
        </p:nvSpPr>
        <p:spPr>
          <a:xfrm>
            <a:off x="324000" y="696800"/>
            <a:ext cx="8237700" cy="9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perimeter is the distance around a 2D shape.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79"/>
          <p:cNvSpPr txBox="1"/>
          <p:nvPr/>
        </p:nvSpPr>
        <p:spPr>
          <a:xfrm>
            <a:off x="324000" y="1095888"/>
            <a:ext cx="788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Perimeter of this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rectangle is 3.7 + 8.2 + 3.7 + 8.2 = 23.8 cm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5" name="Google Shape;91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974" y="1557610"/>
            <a:ext cx="3384722" cy="215718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9"/>
          <p:cNvSpPr txBox="1"/>
          <p:nvPr/>
        </p:nvSpPr>
        <p:spPr>
          <a:xfrm>
            <a:off x="3896236" y="1533180"/>
            <a:ext cx="99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8.2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9"/>
          <p:cNvSpPr txBox="1"/>
          <p:nvPr/>
        </p:nvSpPr>
        <p:spPr>
          <a:xfrm>
            <a:off x="2363285" y="2301599"/>
            <a:ext cx="82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8" name="Google Shape;918;p79"/>
          <p:cNvCxnSpPr/>
          <p:nvPr/>
        </p:nvCxnSpPr>
        <p:spPr>
          <a:xfrm rot="10800000">
            <a:off x="2918809" y="2045288"/>
            <a:ext cx="0" cy="127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9" name="Google Shape;919;p79"/>
          <p:cNvCxnSpPr/>
          <p:nvPr/>
        </p:nvCxnSpPr>
        <p:spPr>
          <a:xfrm rot="10800000">
            <a:off x="3010882" y="1955496"/>
            <a:ext cx="260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0" name="Google Shape;920;p79"/>
          <p:cNvSpPr txBox="1"/>
          <p:nvPr/>
        </p:nvSpPr>
        <p:spPr>
          <a:xfrm>
            <a:off x="235100" y="3518550"/>
            <a:ext cx="7487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area states the number of unit squares needed to completely cover that surface. </a:t>
            </a:r>
            <a:endParaRPr/>
          </a:p>
        </p:txBody>
      </p:sp>
      <p:sp>
        <p:nvSpPr>
          <p:cNvPr id="921" name="Google Shape;921;p79"/>
          <p:cNvSpPr txBox="1"/>
          <p:nvPr/>
        </p:nvSpPr>
        <p:spPr>
          <a:xfrm>
            <a:off x="224684" y="4481546"/>
            <a:ext cx="788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of rectangle = 4 × 8 = 32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sp>
        <p:nvSpPr>
          <p:cNvPr id="927" name="Google Shape;927;p80"/>
          <p:cNvSpPr txBox="1"/>
          <p:nvPr>
            <p:ph idx="1" type="body"/>
          </p:nvPr>
        </p:nvSpPr>
        <p:spPr>
          <a:xfrm>
            <a:off x="324000" y="972975"/>
            <a:ext cx="8237700" cy="7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Shape A has been translated by             to become shape B.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begin{matrix}-2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3&lt;/mn&gt;&lt;/mtd&gt;&lt;/mtr&gt;&lt;/mtable&gt;&lt;mo data-mjx-texclass=&quot;CLOSE&quot;&gt;)&lt;/mo&gt;&lt;/mrow&gt;&lt;/math&gt;" id="928" name="Google Shape;928;p80" title="the 2 by 1 column matrix negative 2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575" y="810000"/>
            <a:ext cx="777376" cy="7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0"/>
          <p:cNvSpPr txBox="1"/>
          <p:nvPr>
            <p:ph idx="1" type="body"/>
          </p:nvPr>
        </p:nvSpPr>
        <p:spPr>
          <a:xfrm>
            <a:off x="3968275" y="1797900"/>
            <a:ext cx="4364400" cy="7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perimeter and area of shape A and shape B respectively?</a:t>
            </a:r>
            <a:r>
              <a:rPr lang="en-GB"/>
              <a:t>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30" name="Google Shape;93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75" y="1475000"/>
            <a:ext cx="2744225" cy="27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80"/>
          <p:cNvSpPr txBox="1"/>
          <p:nvPr/>
        </p:nvSpPr>
        <p:spPr>
          <a:xfrm>
            <a:off x="2243625" y="3189875"/>
            <a:ext cx="3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80"/>
          <p:cNvSpPr txBox="1"/>
          <p:nvPr/>
        </p:nvSpPr>
        <p:spPr>
          <a:xfrm>
            <a:off x="1465000" y="2022050"/>
            <a:ext cx="3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0"/>
          <p:cNvSpPr txBox="1"/>
          <p:nvPr/>
        </p:nvSpPr>
        <p:spPr>
          <a:xfrm>
            <a:off x="2267944" y="3813225"/>
            <a:ext cx="3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80"/>
          <p:cNvSpPr txBox="1"/>
          <p:nvPr/>
        </p:nvSpPr>
        <p:spPr>
          <a:xfrm>
            <a:off x="3071111" y="3197500"/>
            <a:ext cx="3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80"/>
          <p:cNvSpPr txBox="1"/>
          <p:nvPr/>
        </p:nvSpPr>
        <p:spPr>
          <a:xfrm>
            <a:off x="1466319" y="2634850"/>
            <a:ext cx="3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80"/>
          <p:cNvSpPr txBox="1"/>
          <p:nvPr/>
        </p:nvSpPr>
        <p:spPr>
          <a:xfrm>
            <a:off x="2269486" y="2019125"/>
            <a:ext cx="42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80"/>
          <p:cNvSpPr txBox="1"/>
          <p:nvPr/>
        </p:nvSpPr>
        <p:spPr>
          <a:xfrm>
            <a:off x="3937075" y="3028150"/>
            <a:ext cx="43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Perimeter of A = 10 units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Perimeter of B = 10 units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38" name="Google Shape;938;p80"/>
          <p:cNvGrpSpPr/>
          <p:nvPr/>
        </p:nvGrpSpPr>
        <p:grpSpPr>
          <a:xfrm>
            <a:off x="1062125" y="1865075"/>
            <a:ext cx="2030831" cy="2046700"/>
            <a:chOff x="1062125" y="1865075"/>
            <a:chExt cx="2030831" cy="2046700"/>
          </a:xfrm>
        </p:grpSpPr>
        <p:cxnSp>
          <p:nvCxnSpPr>
            <p:cNvPr id="939" name="Google Shape;939;p80"/>
            <p:cNvCxnSpPr/>
            <p:nvPr/>
          </p:nvCxnSpPr>
          <p:spPr>
            <a:xfrm rot="10800000">
              <a:off x="2305675" y="1865075"/>
              <a:ext cx="0" cy="794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40" name="Google Shape;940;p80"/>
            <p:cNvCxnSpPr/>
            <p:nvPr/>
          </p:nvCxnSpPr>
          <p:spPr>
            <a:xfrm rot="10800000">
              <a:off x="3092956" y="3031300"/>
              <a:ext cx="0" cy="794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41" name="Google Shape;941;p80"/>
            <p:cNvCxnSpPr/>
            <p:nvPr/>
          </p:nvCxnSpPr>
          <p:spPr>
            <a:xfrm rot="10800000">
              <a:off x="1062125" y="2746725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42" name="Google Shape;942;p80"/>
            <p:cNvCxnSpPr/>
            <p:nvPr/>
          </p:nvCxnSpPr>
          <p:spPr>
            <a:xfrm rot="10800000">
              <a:off x="1843725" y="3911775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43" name="Google Shape;943;p80"/>
          <p:cNvSpPr txBox="1"/>
          <p:nvPr/>
        </p:nvSpPr>
        <p:spPr>
          <a:xfrm>
            <a:off x="4007275" y="3919800"/>
            <a:ext cx="43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of A = 6 square units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of B = 6 square units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sp>
        <p:nvSpPr>
          <p:cNvPr id="949" name="Google Shape;949;p81"/>
          <p:cNvSpPr txBox="1"/>
          <p:nvPr>
            <p:ph idx="1" type="body"/>
          </p:nvPr>
        </p:nvSpPr>
        <p:spPr>
          <a:xfrm>
            <a:off x="324000" y="759300"/>
            <a:ext cx="82377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Shape C has been reflected in the </a:t>
            </a:r>
            <a:r>
              <a:rPr lang="en-GB">
                <a:solidFill>
                  <a:schemeClr val="lt1"/>
                </a:solidFill>
              </a:rPr>
              <a:t>y</a:t>
            </a:r>
            <a:r>
              <a:rPr lang="en-GB"/>
              <a:t>-axis to become shape D.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81"/>
          <p:cNvSpPr txBox="1"/>
          <p:nvPr>
            <p:ph idx="1" type="body"/>
          </p:nvPr>
        </p:nvSpPr>
        <p:spPr>
          <a:xfrm>
            <a:off x="4983225" y="1620000"/>
            <a:ext cx="3624300" cy="7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perimeter and area of shape C and shape D respectively?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51" name="Google Shape;951;p81"/>
          <p:cNvPicPr preferRelativeResize="0"/>
          <p:nvPr/>
        </p:nvPicPr>
        <p:blipFill rotWithShape="1">
          <a:blip r:embed="rId3">
            <a:alphaModFix/>
          </a:blip>
          <a:srcRect b="39169" l="45094" r="0" t="0"/>
          <a:stretch/>
        </p:blipFill>
        <p:spPr>
          <a:xfrm>
            <a:off x="385425" y="1491150"/>
            <a:ext cx="4364401" cy="2750647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1"/>
          <p:cNvSpPr txBox="1"/>
          <p:nvPr/>
        </p:nvSpPr>
        <p:spPr>
          <a:xfrm>
            <a:off x="3128850" y="2701450"/>
            <a:ext cx="3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1"/>
          <p:cNvSpPr txBox="1"/>
          <p:nvPr/>
        </p:nvSpPr>
        <p:spPr>
          <a:xfrm>
            <a:off x="1310100" y="2701450"/>
            <a:ext cx="3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1"/>
          <p:cNvSpPr txBox="1"/>
          <p:nvPr/>
        </p:nvSpPr>
        <p:spPr>
          <a:xfrm>
            <a:off x="2267944" y="3737025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1"/>
          <p:cNvSpPr txBox="1"/>
          <p:nvPr/>
        </p:nvSpPr>
        <p:spPr>
          <a:xfrm>
            <a:off x="4983225" y="2979600"/>
            <a:ext cx="43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Perimeter of C = 14 units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Perimeter of D = 14 units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6" name="Google Shape;956;p81"/>
          <p:cNvSpPr txBox="1"/>
          <p:nvPr/>
        </p:nvSpPr>
        <p:spPr>
          <a:xfrm>
            <a:off x="3149545" y="3355125"/>
            <a:ext cx="4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1"/>
          <p:cNvSpPr txBox="1"/>
          <p:nvPr/>
        </p:nvSpPr>
        <p:spPr>
          <a:xfrm>
            <a:off x="3981907" y="2739400"/>
            <a:ext cx="4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1"/>
          <p:cNvSpPr txBox="1"/>
          <p:nvPr/>
        </p:nvSpPr>
        <p:spPr>
          <a:xfrm>
            <a:off x="1324145" y="3355125"/>
            <a:ext cx="3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1"/>
          <p:cNvSpPr txBox="1"/>
          <p:nvPr/>
        </p:nvSpPr>
        <p:spPr>
          <a:xfrm>
            <a:off x="556253" y="2739400"/>
            <a:ext cx="3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960" name="Google Shape;960;p81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5517" y="876537"/>
            <a:ext cx="142875" cy="2017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1" name="Google Shape;961;p81"/>
          <p:cNvGrpSpPr/>
          <p:nvPr/>
        </p:nvGrpSpPr>
        <p:grpSpPr>
          <a:xfrm>
            <a:off x="824706" y="2491625"/>
            <a:ext cx="3178544" cy="968925"/>
            <a:chOff x="824706" y="2491625"/>
            <a:chExt cx="3178544" cy="968925"/>
          </a:xfrm>
        </p:grpSpPr>
        <p:cxnSp>
          <p:nvCxnSpPr>
            <p:cNvPr id="962" name="Google Shape;962;p81"/>
            <p:cNvCxnSpPr/>
            <p:nvPr/>
          </p:nvCxnSpPr>
          <p:spPr>
            <a:xfrm rot="10800000">
              <a:off x="824706" y="2491625"/>
              <a:ext cx="0" cy="8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63" name="Google Shape;963;p81"/>
            <p:cNvCxnSpPr/>
            <p:nvPr/>
          </p:nvCxnSpPr>
          <p:spPr>
            <a:xfrm rot="10800000">
              <a:off x="910800" y="3453265"/>
              <a:ext cx="1194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64" name="Google Shape;964;p81"/>
            <p:cNvCxnSpPr/>
            <p:nvPr/>
          </p:nvCxnSpPr>
          <p:spPr>
            <a:xfrm rot="10800000">
              <a:off x="4003250" y="2491625"/>
              <a:ext cx="0" cy="8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65" name="Google Shape;965;p81"/>
            <p:cNvCxnSpPr/>
            <p:nvPr/>
          </p:nvCxnSpPr>
          <p:spPr>
            <a:xfrm rot="10800000">
              <a:off x="2710458" y="3460550"/>
              <a:ext cx="1194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66" name="Google Shape;966;p81"/>
          <p:cNvSpPr txBox="1"/>
          <p:nvPr/>
        </p:nvSpPr>
        <p:spPr>
          <a:xfrm>
            <a:off x="5088400" y="3946500"/>
            <a:ext cx="3251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of C = 12 square units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of D = 12 square units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2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Translation and reflection have not changed the perimeter or area.</a:t>
            </a:r>
            <a:endParaRPr sz="2000"/>
          </a:p>
        </p:txBody>
      </p:sp>
      <p:sp>
        <p:nvSpPr>
          <p:cNvPr id="972" name="Google Shape;97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pic>
        <p:nvPicPr>
          <p:cNvPr id="973" name="Google Shape;97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000" y="3101908"/>
            <a:ext cx="1530192" cy="1701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8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848072" y="1597851"/>
            <a:ext cx="2427377" cy="154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82"/>
          <p:cNvSpPr txBox="1"/>
          <p:nvPr/>
        </p:nvSpPr>
        <p:spPr>
          <a:xfrm>
            <a:off x="1075247" y="1761760"/>
            <a:ext cx="2243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this will be the same for rotation as well.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6" name="Google Shape;976;p82"/>
          <p:cNvPicPr preferRelativeResize="0"/>
          <p:nvPr/>
        </p:nvPicPr>
        <p:blipFill rotWithShape="1">
          <a:blip r:embed="rId5">
            <a:alphaModFix/>
          </a:blip>
          <a:srcRect b="34119" l="48315" r="0" t="0"/>
          <a:stretch/>
        </p:blipFill>
        <p:spPr>
          <a:xfrm>
            <a:off x="4683975" y="1350500"/>
            <a:ext cx="3599852" cy="26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2"/>
          <p:cNvSpPr txBox="1"/>
          <p:nvPr/>
        </p:nvSpPr>
        <p:spPr>
          <a:xfrm>
            <a:off x="5452494" y="2115000"/>
            <a:ext cx="32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2"/>
          <p:cNvSpPr txBox="1"/>
          <p:nvPr/>
        </p:nvSpPr>
        <p:spPr>
          <a:xfrm>
            <a:off x="4572011" y="2708775"/>
            <a:ext cx="3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2"/>
          <p:cNvSpPr txBox="1"/>
          <p:nvPr/>
        </p:nvSpPr>
        <p:spPr>
          <a:xfrm>
            <a:off x="7369986" y="1389473"/>
            <a:ext cx="32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2"/>
          <p:cNvSpPr txBox="1"/>
          <p:nvPr/>
        </p:nvSpPr>
        <p:spPr>
          <a:xfrm>
            <a:off x="7933137" y="2317687"/>
            <a:ext cx="4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2"/>
          <p:cNvSpPr txBox="1"/>
          <p:nvPr/>
        </p:nvSpPr>
        <p:spPr>
          <a:xfrm>
            <a:off x="5516900" y="2700000"/>
            <a:ext cx="3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2"/>
          <p:cNvSpPr txBox="1"/>
          <p:nvPr/>
        </p:nvSpPr>
        <p:spPr>
          <a:xfrm>
            <a:off x="7363438" y="2332938"/>
            <a:ext cx="3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82"/>
          <p:cNvSpPr txBox="1"/>
          <p:nvPr/>
        </p:nvSpPr>
        <p:spPr>
          <a:xfrm>
            <a:off x="2028126" y="4214100"/>
            <a:ext cx="43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Perimeter of E = 12 units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Perimeter of F = 12 units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82"/>
          <p:cNvSpPr txBox="1"/>
          <p:nvPr/>
        </p:nvSpPr>
        <p:spPr>
          <a:xfrm>
            <a:off x="1513450" y="3161700"/>
            <a:ext cx="944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5" name="Google Shape;985;p82"/>
          <p:cNvGrpSpPr/>
          <p:nvPr/>
        </p:nvGrpSpPr>
        <p:grpSpPr>
          <a:xfrm>
            <a:off x="4865071" y="1747525"/>
            <a:ext cx="3117554" cy="1560050"/>
            <a:chOff x="4865071" y="1747525"/>
            <a:chExt cx="3117554" cy="1560050"/>
          </a:xfrm>
        </p:grpSpPr>
        <p:cxnSp>
          <p:nvCxnSpPr>
            <p:cNvPr id="986" name="Google Shape;986;p82"/>
            <p:cNvCxnSpPr/>
            <p:nvPr/>
          </p:nvCxnSpPr>
          <p:spPr>
            <a:xfrm rot="10800000">
              <a:off x="4865071" y="2571675"/>
              <a:ext cx="0" cy="735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87" name="Google Shape;987;p82"/>
            <p:cNvCxnSpPr/>
            <p:nvPr/>
          </p:nvCxnSpPr>
          <p:spPr>
            <a:xfrm rot="10800000">
              <a:off x="4946825" y="2491575"/>
              <a:ext cx="1486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88" name="Google Shape;988;p82"/>
            <p:cNvCxnSpPr/>
            <p:nvPr/>
          </p:nvCxnSpPr>
          <p:spPr>
            <a:xfrm rot="10800000">
              <a:off x="7982625" y="1828800"/>
              <a:ext cx="0" cy="1471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89" name="Google Shape;989;p82"/>
            <p:cNvCxnSpPr/>
            <p:nvPr/>
          </p:nvCxnSpPr>
          <p:spPr>
            <a:xfrm rot="10800000">
              <a:off x="7168250" y="1747525"/>
              <a:ext cx="74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90" name="Google Shape;990;p82"/>
          <p:cNvSpPr txBox="1"/>
          <p:nvPr/>
        </p:nvSpPr>
        <p:spPr>
          <a:xfrm>
            <a:off x="5275574" y="4214100"/>
            <a:ext cx="3165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of E = 8 square units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of F = 8 square units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pic>
        <p:nvPicPr>
          <p:cNvPr id="996" name="Google Shape;99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588" y="2700000"/>
            <a:ext cx="1800226" cy="197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8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098977" y="1045500"/>
            <a:ext cx="3221023" cy="17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83"/>
          <p:cNvSpPr txBox="1"/>
          <p:nvPr/>
        </p:nvSpPr>
        <p:spPr>
          <a:xfrm>
            <a:off x="1372800" y="1110850"/>
            <a:ext cx="3028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Translation,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rotation maintain the lengths, so the perimeter is unchanged.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9" name="Google Shape;999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9675" y="1805025"/>
            <a:ext cx="845025" cy="28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8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572000" y="768450"/>
            <a:ext cx="2662052" cy="12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83"/>
          <p:cNvSpPr txBox="1"/>
          <p:nvPr/>
        </p:nvSpPr>
        <p:spPr>
          <a:xfrm>
            <a:off x="4715775" y="917925"/>
            <a:ext cx="237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area would not change either.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3"/>
          <p:cNvSpPr txBox="1"/>
          <p:nvPr/>
        </p:nvSpPr>
        <p:spPr>
          <a:xfrm>
            <a:off x="2020475" y="3810250"/>
            <a:ext cx="944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3"/>
          <p:cNvSpPr txBox="1"/>
          <p:nvPr/>
        </p:nvSpPr>
        <p:spPr>
          <a:xfrm>
            <a:off x="6420275" y="4128750"/>
            <a:ext cx="944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8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Rotation maintains length</a:t>
            </a:r>
            <a:endParaRPr/>
          </a:p>
        </p:txBody>
      </p:sp>
      <p:sp>
        <p:nvSpPr>
          <p:cNvPr id="1009" name="Google Shape;100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sp>
        <p:nvSpPr>
          <p:cNvPr id="1010" name="Google Shape;1010;p84"/>
          <p:cNvSpPr txBox="1"/>
          <p:nvPr>
            <p:ph idx="1" type="subTitle"/>
          </p:nvPr>
        </p:nvSpPr>
        <p:spPr>
          <a:xfrm>
            <a:off x="324000" y="1080000"/>
            <a:ext cx="84138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a</a:t>
            </a:r>
            <a:r>
              <a:rPr lang="en-GB" sz="2000"/>
              <a:t> shape with perimeter 52 mm is rotated, the image will have the same perimeter.</a:t>
            </a:r>
            <a:endParaRPr sz="2000"/>
          </a:p>
        </p:txBody>
      </p:sp>
      <p:sp>
        <p:nvSpPr>
          <p:cNvPr id="1011" name="Google Shape;1011;p8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lengths have changed position</a:t>
            </a:r>
            <a:endParaRPr/>
          </a:p>
        </p:txBody>
      </p:sp>
      <p:pic>
        <p:nvPicPr>
          <p:cNvPr id="1012" name="Google Shape;101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008" y="3140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483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pic>
        <p:nvPicPr>
          <p:cNvPr id="1019" name="Google Shape;101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50" y="2317025"/>
            <a:ext cx="684500" cy="2503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85"/>
          <p:cNvSpPr txBox="1"/>
          <p:nvPr/>
        </p:nvSpPr>
        <p:spPr>
          <a:xfrm>
            <a:off x="1083549" y="1167925"/>
            <a:ext cx="2625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about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enlargement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- does it change perimeter and area?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1" name="Google Shape;1021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7050" y="1832849"/>
            <a:ext cx="722075" cy="2987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85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 flipH="1">
            <a:off x="3871448" y="842100"/>
            <a:ext cx="2911114" cy="191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85"/>
          <p:cNvSpPr txBox="1"/>
          <p:nvPr/>
        </p:nvSpPr>
        <p:spPr>
          <a:xfrm>
            <a:off x="3899500" y="878693"/>
            <a:ext cx="2747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lengths are not maintained as the image is not congruent, so I think they must change.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4" name="Google Shape;1024;p85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>
            <a:off x="877650" y="1167925"/>
            <a:ext cx="2874849" cy="146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5"/>
          <p:cNvSpPr txBox="1"/>
          <p:nvPr/>
        </p:nvSpPr>
        <p:spPr>
          <a:xfrm>
            <a:off x="966425" y="4239450"/>
            <a:ext cx="9423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5"/>
          <p:cNvSpPr txBox="1"/>
          <p:nvPr/>
        </p:nvSpPr>
        <p:spPr>
          <a:xfrm>
            <a:off x="5710050" y="4239450"/>
            <a:ext cx="10935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pic>
        <p:nvPicPr>
          <p:cNvPr id="1032" name="Google Shape;103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925" y="1371188"/>
            <a:ext cx="4239875" cy="282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6"/>
          <p:cNvSpPr txBox="1"/>
          <p:nvPr/>
        </p:nvSpPr>
        <p:spPr>
          <a:xfrm>
            <a:off x="1280275" y="3278150"/>
            <a:ext cx="4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6"/>
          <p:cNvSpPr txBox="1"/>
          <p:nvPr/>
        </p:nvSpPr>
        <p:spPr>
          <a:xfrm>
            <a:off x="3144450" y="2778300"/>
            <a:ext cx="4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6"/>
          <p:cNvSpPr txBox="1"/>
          <p:nvPr/>
        </p:nvSpPr>
        <p:spPr>
          <a:xfrm>
            <a:off x="265350" y="753850"/>
            <a:ext cx="8716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Shape H has been enlarged by a scale factor of 2 to become shape I.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6" name="Google Shape;1036;p86"/>
          <p:cNvGrpSpPr/>
          <p:nvPr/>
        </p:nvGrpSpPr>
        <p:grpSpPr>
          <a:xfrm>
            <a:off x="265350" y="2221175"/>
            <a:ext cx="4461750" cy="2096725"/>
            <a:chOff x="265350" y="2221175"/>
            <a:chExt cx="4461750" cy="2096725"/>
          </a:xfrm>
        </p:grpSpPr>
        <p:sp>
          <p:nvSpPr>
            <p:cNvPr id="1037" name="Google Shape;1037;p86"/>
            <p:cNvSpPr txBox="1"/>
            <p:nvPr/>
          </p:nvSpPr>
          <p:spPr>
            <a:xfrm>
              <a:off x="265350" y="3009150"/>
              <a:ext cx="92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3.2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86"/>
            <p:cNvSpPr txBox="1"/>
            <p:nvPr/>
          </p:nvSpPr>
          <p:spPr>
            <a:xfrm>
              <a:off x="1664525" y="2869825"/>
              <a:ext cx="92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3.6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86"/>
            <p:cNvSpPr txBox="1"/>
            <p:nvPr/>
          </p:nvSpPr>
          <p:spPr>
            <a:xfrm>
              <a:off x="1224300" y="3856200"/>
              <a:ext cx="92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0" name="Google Shape;1040;p86"/>
            <p:cNvSpPr txBox="1"/>
            <p:nvPr/>
          </p:nvSpPr>
          <p:spPr>
            <a:xfrm>
              <a:off x="1935550" y="2221175"/>
              <a:ext cx="92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6.4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1" name="Google Shape;1041;p86"/>
            <p:cNvSpPr txBox="1"/>
            <p:nvPr/>
          </p:nvSpPr>
          <p:spPr>
            <a:xfrm>
              <a:off x="3806100" y="2340900"/>
              <a:ext cx="92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7.2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86"/>
            <p:cNvSpPr txBox="1"/>
            <p:nvPr/>
          </p:nvSpPr>
          <p:spPr>
            <a:xfrm>
              <a:off x="3109000" y="3856200"/>
              <a:ext cx="92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3" name="Google Shape;1043;p86"/>
          <p:cNvSpPr txBox="1"/>
          <p:nvPr/>
        </p:nvSpPr>
        <p:spPr>
          <a:xfrm>
            <a:off x="5325975" y="1305300"/>
            <a:ext cx="428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Perimeter of H = 9.8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6"/>
          <p:cNvSpPr txBox="1"/>
          <p:nvPr/>
        </p:nvSpPr>
        <p:spPr>
          <a:xfrm>
            <a:off x="5325975" y="1759475"/>
            <a:ext cx="428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Perimeter of I = 19.6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5" name="Google Shape;104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5974" y="3830912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8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5905299" y="2443450"/>
            <a:ext cx="2847800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86"/>
          <p:cNvSpPr txBox="1"/>
          <p:nvPr/>
        </p:nvSpPr>
        <p:spPr>
          <a:xfrm>
            <a:off x="6065100" y="2487000"/>
            <a:ext cx="2788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perimeter of I is twice the perimeter of H,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because the scale factor is 2.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8" name="Google Shape;1048;p86"/>
          <p:cNvGrpSpPr/>
          <p:nvPr/>
        </p:nvGrpSpPr>
        <p:grpSpPr>
          <a:xfrm>
            <a:off x="917952" y="1719225"/>
            <a:ext cx="3766567" cy="2200250"/>
            <a:chOff x="917952" y="1719225"/>
            <a:chExt cx="3766567" cy="2200250"/>
          </a:xfrm>
        </p:grpSpPr>
        <p:cxnSp>
          <p:nvCxnSpPr>
            <p:cNvPr id="1049" name="Google Shape;1049;p86"/>
            <p:cNvCxnSpPr/>
            <p:nvPr/>
          </p:nvCxnSpPr>
          <p:spPr>
            <a:xfrm flipH="1" rot="10800000">
              <a:off x="917952" y="2775600"/>
              <a:ext cx="371700" cy="1063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50" name="Google Shape;1050;p86"/>
            <p:cNvCxnSpPr/>
            <p:nvPr/>
          </p:nvCxnSpPr>
          <p:spPr>
            <a:xfrm flipH="1" rot="10800000">
              <a:off x="2332690" y="1719300"/>
              <a:ext cx="712500" cy="2120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51" name="Google Shape;1051;p86"/>
            <p:cNvCxnSpPr/>
            <p:nvPr/>
          </p:nvCxnSpPr>
          <p:spPr>
            <a:xfrm rot="10800000">
              <a:off x="1485075" y="2775600"/>
              <a:ext cx="722400" cy="1063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52" name="Google Shape;1052;p86"/>
            <p:cNvCxnSpPr/>
            <p:nvPr/>
          </p:nvCxnSpPr>
          <p:spPr>
            <a:xfrm rot="10800000">
              <a:off x="3237019" y="1719225"/>
              <a:ext cx="1447500" cy="211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53" name="Google Shape;1053;p86"/>
            <p:cNvCxnSpPr/>
            <p:nvPr/>
          </p:nvCxnSpPr>
          <p:spPr>
            <a:xfrm rot="10800000">
              <a:off x="1034525" y="3919400"/>
              <a:ext cx="104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54" name="Google Shape;1054;p86"/>
            <p:cNvCxnSpPr/>
            <p:nvPr/>
          </p:nvCxnSpPr>
          <p:spPr>
            <a:xfrm flipH="1">
              <a:off x="2437275" y="3912275"/>
              <a:ext cx="2123400" cy="7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55" name="Google Shape;1055;p86"/>
          <p:cNvSpPr txBox="1"/>
          <p:nvPr/>
        </p:nvSpPr>
        <p:spPr>
          <a:xfrm>
            <a:off x="5905300" y="4317900"/>
            <a:ext cx="9423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pic>
        <p:nvPicPr>
          <p:cNvPr id="1061" name="Google Shape;106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9009" y="1718550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87"/>
          <p:cNvSpPr txBox="1"/>
          <p:nvPr/>
        </p:nvSpPr>
        <p:spPr>
          <a:xfrm>
            <a:off x="1432875" y="811500"/>
            <a:ext cx="1818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area will be double as well.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3" name="Google Shape;1063;p87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1296023" y="722100"/>
            <a:ext cx="1955251" cy="1316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4" name="Google Shape;1064;p87"/>
          <p:cNvGrpSpPr/>
          <p:nvPr/>
        </p:nvGrpSpPr>
        <p:grpSpPr>
          <a:xfrm>
            <a:off x="4222500" y="811488"/>
            <a:ext cx="4239875" cy="2828475"/>
            <a:chOff x="4222500" y="811488"/>
            <a:chExt cx="4239875" cy="2828475"/>
          </a:xfrm>
        </p:grpSpPr>
        <p:pic>
          <p:nvPicPr>
            <p:cNvPr id="1065" name="Google Shape;1065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22500" y="811488"/>
              <a:ext cx="4239875" cy="2828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87"/>
            <p:cNvSpPr txBox="1"/>
            <p:nvPr/>
          </p:nvSpPr>
          <p:spPr>
            <a:xfrm>
              <a:off x="4478475" y="1768000"/>
              <a:ext cx="450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7" name="Google Shape;1067;p87"/>
            <p:cNvSpPr txBox="1"/>
            <p:nvPr/>
          </p:nvSpPr>
          <p:spPr>
            <a:xfrm>
              <a:off x="6207263" y="1027275"/>
              <a:ext cx="450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87"/>
          <p:cNvGrpSpPr/>
          <p:nvPr/>
        </p:nvGrpSpPr>
        <p:grpSpPr>
          <a:xfrm>
            <a:off x="377275" y="2782167"/>
            <a:ext cx="4395600" cy="613500"/>
            <a:chOff x="377275" y="2782167"/>
            <a:chExt cx="4395600" cy="613500"/>
          </a:xfrm>
        </p:grpSpPr>
        <p:sp>
          <p:nvSpPr>
            <p:cNvPr id="1069" name="Google Shape;1069;p87"/>
            <p:cNvSpPr txBox="1"/>
            <p:nvPr/>
          </p:nvSpPr>
          <p:spPr>
            <a:xfrm>
              <a:off x="377275" y="2880850"/>
              <a:ext cx="439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Area of H =                         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\times3}{2}=4.5&quot;&gt;&lt;mfrac&gt;&lt;mrow&gt;&lt;mn&gt;3&lt;/mn&gt;&lt;mo&gt;×&lt;/mo&gt;&lt;mn&gt;3&lt;/mn&gt;&lt;/mrow&gt;&lt;mn&gt;2&lt;/mn&gt;&lt;/mfrac&gt;&lt;mo&gt;=&lt;/mo&gt;&lt;mn&gt;4.5&lt;/mn&gt;&lt;/math&gt;" id="1070" name="Google Shape;1070;p87" title="the fraction with numerator 3 times 3 and denominator 2 equals 4.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863525" y="2782167"/>
              <a:ext cx="1423108" cy="61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1" name="Google Shape;1071;p87"/>
          <p:cNvGrpSpPr/>
          <p:nvPr/>
        </p:nvGrpSpPr>
        <p:grpSpPr>
          <a:xfrm>
            <a:off x="377275" y="3654887"/>
            <a:ext cx="4395600" cy="650825"/>
            <a:chOff x="377275" y="3654887"/>
            <a:chExt cx="4395600" cy="650825"/>
          </a:xfrm>
        </p:grpSpPr>
        <p:sp>
          <p:nvSpPr>
            <p:cNvPr id="1072" name="Google Shape;1072;p87"/>
            <p:cNvSpPr txBox="1"/>
            <p:nvPr/>
          </p:nvSpPr>
          <p:spPr>
            <a:xfrm>
              <a:off x="377275" y="3780000"/>
              <a:ext cx="439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Area of I =                          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6\times6}{2}=18&quot;&gt;&lt;mfrac&gt;&lt;mrow&gt;&lt;mn&gt;6&lt;/mn&gt;&lt;mo&gt;×&lt;/mo&gt;&lt;mn&gt;6&lt;/mn&gt;&lt;/mrow&gt;&lt;mn&gt;2&lt;/mn&gt;&lt;/mfrac&gt;&lt;mo&gt;=&lt;/mo&gt;&lt;mn&gt;18&lt;/mn&gt;&lt;/math&gt;" id="1073" name="Google Shape;1073;p87" title="the fraction with numerator 6 times 6 and denominator 2 equals 1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848262" y="3654887"/>
              <a:ext cx="1423101" cy="650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4" name="Google Shape;1074;p87"/>
          <p:cNvSpPr txBox="1"/>
          <p:nvPr/>
        </p:nvSpPr>
        <p:spPr>
          <a:xfrm>
            <a:off x="1039275" y="2173113"/>
            <a:ext cx="9423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5" name="Google Shape;1075;p87"/>
          <p:cNvGrpSpPr/>
          <p:nvPr/>
        </p:nvGrpSpPr>
        <p:grpSpPr>
          <a:xfrm>
            <a:off x="4572000" y="1173100"/>
            <a:ext cx="3536675" cy="2528600"/>
            <a:chOff x="4572000" y="1173100"/>
            <a:chExt cx="3536675" cy="2528600"/>
          </a:xfrm>
        </p:grpSpPr>
        <p:sp>
          <p:nvSpPr>
            <p:cNvPr id="1076" name="Google Shape;1076;p87"/>
            <p:cNvSpPr txBox="1"/>
            <p:nvPr/>
          </p:nvSpPr>
          <p:spPr>
            <a:xfrm>
              <a:off x="4772875" y="3240000"/>
              <a:ext cx="92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7" name="Google Shape;1077;p87"/>
            <p:cNvSpPr txBox="1"/>
            <p:nvPr/>
          </p:nvSpPr>
          <p:spPr>
            <a:xfrm>
              <a:off x="6657575" y="3240000"/>
              <a:ext cx="92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8" name="Google Shape;1078;p87"/>
            <p:cNvCxnSpPr/>
            <p:nvPr/>
          </p:nvCxnSpPr>
          <p:spPr>
            <a:xfrm>
              <a:off x="4937450" y="2228350"/>
              <a:ext cx="0" cy="1045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cxnSp>
          <p:nvCxnSpPr>
            <p:cNvPr id="1079" name="Google Shape;1079;p87"/>
            <p:cNvCxnSpPr/>
            <p:nvPr/>
          </p:nvCxnSpPr>
          <p:spPr>
            <a:xfrm>
              <a:off x="6693025" y="1173100"/>
              <a:ext cx="0" cy="2108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sp>
          <p:nvSpPr>
            <p:cNvPr id="1080" name="Google Shape;1080;p87"/>
            <p:cNvSpPr txBox="1"/>
            <p:nvPr/>
          </p:nvSpPr>
          <p:spPr>
            <a:xfrm>
              <a:off x="4937450" y="2700000"/>
              <a:ext cx="92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1" name="Google Shape;1081;p87"/>
            <p:cNvSpPr txBox="1"/>
            <p:nvPr/>
          </p:nvSpPr>
          <p:spPr>
            <a:xfrm>
              <a:off x="6693025" y="2160000"/>
              <a:ext cx="92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2" name="Google Shape;1082;p87"/>
            <p:cNvCxnSpPr/>
            <p:nvPr/>
          </p:nvCxnSpPr>
          <p:spPr>
            <a:xfrm rot="10800000">
              <a:off x="4572000" y="3342550"/>
              <a:ext cx="104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83" name="Google Shape;1083;p87"/>
            <p:cNvCxnSpPr/>
            <p:nvPr/>
          </p:nvCxnSpPr>
          <p:spPr>
            <a:xfrm flipH="1">
              <a:off x="5985275" y="3338950"/>
              <a:ext cx="2123400" cy="7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</a:t>
            </a:r>
            <a:r>
              <a:rPr lang="en-GB"/>
              <a:t> area of the image is four times larger than the object, as it fits four times within the image.</a:t>
            </a:r>
            <a:endParaRPr/>
          </a:p>
        </p:txBody>
      </p:sp>
      <p:sp>
        <p:nvSpPr>
          <p:cNvPr id="1089" name="Google Shape;108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pic>
        <p:nvPicPr>
          <p:cNvPr id="1090" name="Google Shape;109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287" y="1620001"/>
            <a:ext cx="4302438" cy="28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9"/>
          <p:cNvSpPr txBox="1"/>
          <p:nvPr>
            <p:ph idx="1" type="body"/>
          </p:nvPr>
        </p:nvSpPr>
        <p:spPr>
          <a:xfrm>
            <a:off x="324000" y="759300"/>
            <a:ext cx="77424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Fill the blanks in the following sentences.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When an </a:t>
            </a:r>
            <a:r>
              <a:rPr lang="en-GB"/>
              <a:t>enlargement</a:t>
            </a:r>
            <a:r>
              <a:rPr lang="en-GB"/>
              <a:t> takes place, the perimeter </a:t>
            </a:r>
            <a:r>
              <a:rPr lang="en-GB">
                <a:solidFill>
                  <a:srgbClr val="E6F2F2"/>
                </a:solidFill>
              </a:rPr>
              <a:t>asgaggah </a:t>
            </a:r>
            <a:r>
              <a:rPr lang="en-GB"/>
              <a:t>.</a:t>
            </a:r>
            <a:endParaRPr>
              <a:solidFill>
                <a:srgbClr val="E6F2F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the </a:t>
            </a:r>
            <a:r>
              <a:rPr lang="en-GB"/>
              <a:t>enlargement</a:t>
            </a:r>
            <a:r>
              <a:rPr lang="en-GB"/>
              <a:t> scale factor is 3, the perimeter would be            times as long.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/>
              <a:t>                </a:t>
            </a:r>
            <a:r>
              <a:rPr lang="en-GB"/>
              <a:t>changes but not by the scale factor.</a:t>
            </a:r>
            <a:endParaRPr/>
          </a:p>
        </p:txBody>
      </p:sp>
      <p:sp>
        <p:nvSpPr>
          <p:cNvPr id="1096" name="Google Shape;109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cxnSp>
        <p:nvCxnSpPr>
          <p:cNvPr id="1097" name="Google Shape;1097;p89"/>
          <p:cNvCxnSpPr/>
          <p:nvPr/>
        </p:nvCxnSpPr>
        <p:spPr>
          <a:xfrm>
            <a:off x="324000" y="1938444"/>
            <a:ext cx="144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8" name="Google Shape;1098;p89"/>
          <p:cNvSpPr txBox="1"/>
          <p:nvPr/>
        </p:nvSpPr>
        <p:spPr>
          <a:xfrm>
            <a:off x="430838" y="1564281"/>
            <a:ext cx="103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changes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9" name="Google Shape;1099;p89"/>
          <p:cNvSpPr txBox="1"/>
          <p:nvPr/>
        </p:nvSpPr>
        <p:spPr>
          <a:xfrm>
            <a:off x="926663" y="2453706"/>
            <a:ext cx="103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0" name="Google Shape;1100;p89"/>
          <p:cNvSpPr txBox="1"/>
          <p:nvPr/>
        </p:nvSpPr>
        <p:spPr>
          <a:xfrm>
            <a:off x="1101938" y="2976831"/>
            <a:ext cx="103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01" name="Google Shape;1101;p89"/>
          <p:cNvCxnSpPr/>
          <p:nvPr/>
        </p:nvCxnSpPr>
        <p:spPr>
          <a:xfrm>
            <a:off x="724475" y="2831094"/>
            <a:ext cx="83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2" name="Google Shape;1102;p89"/>
          <p:cNvCxnSpPr/>
          <p:nvPr/>
        </p:nvCxnSpPr>
        <p:spPr>
          <a:xfrm>
            <a:off x="895775" y="3349994"/>
            <a:ext cx="111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90"/>
          <p:cNvSpPr txBox="1"/>
          <p:nvPr>
            <p:ph idx="1" type="body"/>
          </p:nvPr>
        </p:nvSpPr>
        <p:spPr>
          <a:xfrm>
            <a:off x="324000" y="759300"/>
            <a:ext cx="8436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A shape has a perimeter of 10 cm.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If it is translated its perimeter would be</a:t>
            </a:r>
            <a:r>
              <a:rPr lang="en-GB"/>
              <a:t> </a:t>
            </a:r>
            <a:r>
              <a:rPr lang="en-GB" u="sng"/>
              <a:t>                 </a:t>
            </a:r>
            <a:r>
              <a:rPr lang="en-GB"/>
              <a:t>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If it is rotated its perimeter would be</a:t>
            </a:r>
            <a:r>
              <a:rPr lang="en-GB"/>
              <a:t> </a:t>
            </a:r>
            <a:r>
              <a:rPr lang="en-GB" u="sng"/>
              <a:t>                 </a:t>
            </a:r>
            <a:r>
              <a:rPr lang="en-GB"/>
              <a:t>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If it is reflected its perimeter would be</a:t>
            </a:r>
            <a:r>
              <a:rPr lang="en-GB"/>
              <a:t> </a:t>
            </a:r>
            <a:r>
              <a:rPr lang="en-GB" u="sng"/>
              <a:t>                 </a:t>
            </a:r>
            <a:r>
              <a:rPr lang="en-GB"/>
              <a:t>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If it is enlarged by scale factor 0.5, its perimeter would </a:t>
            </a:r>
            <a:br>
              <a:rPr lang="en-GB"/>
            </a:br>
            <a:r>
              <a:rPr lang="en-GB"/>
              <a:t>    </a:t>
            </a:r>
            <a:r>
              <a:rPr lang="en-GB" sz="1200"/>
              <a:t> </a:t>
            </a:r>
            <a:r>
              <a:rPr lang="en-GB"/>
              <a:t>be </a:t>
            </a:r>
            <a:r>
              <a:rPr lang="en-GB" u="sng"/>
              <a:t>                 </a:t>
            </a:r>
            <a:r>
              <a:rPr lang="en-GB"/>
              <a:t> cm.</a:t>
            </a:r>
            <a:endParaRPr/>
          </a:p>
        </p:txBody>
      </p:sp>
      <p:sp>
        <p:nvSpPr>
          <p:cNvPr id="1108" name="Google Shape;1108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91"/>
          <p:cNvSpPr txBox="1"/>
          <p:nvPr>
            <p:ph idx="1" type="body"/>
          </p:nvPr>
        </p:nvSpPr>
        <p:spPr>
          <a:xfrm>
            <a:off x="324000" y="759300"/>
            <a:ext cx="8436900" cy="9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2) Work out the perimeter and area of both the object and image in the </a:t>
            </a:r>
            <a:r>
              <a:rPr lang="en-GB" sz="2100"/>
              <a:t>following</a:t>
            </a:r>
            <a:r>
              <a:rPr lang="en-GB" sz="2100"/>
              <a:t> enlargements. (Side of 1 square = 1 cm.)</a:t>
            </a:r>
            <a:endParaRPr sz="2100"/>
          </a:p>
        </p:txBody>
      </p:sp>
      <p:sp>
        <p:nvSpPr>
          <p:cNvPr id="1114" name="Google Shape;1114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pic>
        <p:nvPicPr>
          <p:cNvPr id="1115" name="Google Shape;111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550" y="1969702"/>
            <a:ext cx="2074175" cy="125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7850" y="1995825"/>
            <a:ext cx="1589274" cy="160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0539" y="1969700"/>
            <a:ext cx="1783827" cy="20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91"/>
          <p:cNvSpPr txBox="1"/>
          <p:nvPr/>
        </p:nvSpPr>
        <p:spPr>
          <a:xfrm>
            <a:off x="546050" y="1772400"/>
            <a:ext cx="58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91"/>
          <p:cNvSpPr txBox="1"/>
          <p:nvPr/>
        </p:nvSpPr>
        <p:spPr>
          <a:xfrm>
            <a:off x="3269075" y="1772400"/>
            <a:ext cx="58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1"/>
          <p:cNvSpPr txBox="1"/>
          <p:nvPr/>
        </p:nvSpPr>
        <p:spPr>
          <a:xfrm>
            <a:off x="5946000" y="1772400"/>
            <a:ext cx="62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1"/>
          <p:cNvSpPr txBox="1"/>
          <p:nvPr/>
        </p:nvSpPr>
        <p:spPr>
          <a:xfrm>
            <a:off x="1274550" y="2159181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91"/>
          <p:cNvSpPr txBox="1"/>
          <p:nvPr/>
        </p:nvSpPr>
        <p:spPr>
          <a:xfrm>
            <a:off x="3815306" y="2182081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1"/>
          <p:cNvSpPr txBox="1"/>
          <p:nvPr/>
        </p:nvSpPr>
        <p:spPr>
          <a:xfrm>
            <a:off x="6650187" y="2532325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1"/>
          <p:cNvSpPr txBox="1"/>
          <p:nvPr/>
        </p:nvSpPr>
        <p:spPr>
          <a:xfrm>
            <a:off x="7396925" y="2837125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91"/>
          <p:cNvSpPr txBox="1"/>
          <p:nvPr/>
        </p:nvSpPr>
        <p:spPr>
          <a:xfrm>
            <a:off x="4665725" y="2607794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91"/>
          <p:cNvSpPr txBox="1"/>
          <p:nvPr/>
        </p:nvSpPr>
        <p:spPr>
          <a:xfrm>
            <a:off x="2230987" y="2382838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sp>
        <p:nvSpPr>
          <p:cNvPr id="1132" name="Google Shape;1132;p92"/>
          <p:cNvSpPr txBox="1"/>
          <p:nvPr>
            <p:ph idx="1" type="body"/>
          </p:nvPr>
        </p:nvSpPr>
        <p:spPr>
          <a:xfrm>
            <a:off x="324000" y="759300"/>
            <a:ext cx="8436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A shape has a perimeter of 10 cm.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If it is translated its perimeter would be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/>
              <a:t>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If it is rotated its perimeter would be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/>
              <a:t>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If it is reflected its perimeter would be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/>
              <a:t>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If it is enlarged by scale factor 0.5, its perimeter would </a:t>
            </a:r>
            <a:br>
              <a:rPr lang="en-GB"/>
            </a:br>
            <a:r>
              <a:rPr lang="en-GB"/>
              <a:t>    </a:t>
            </a:r>
            <a:r>
              <a:rPr lang="en-GB" sz="1200"/>
              <a:t> </a:t>
            </a:r>
            <a:r>
              <a:rPr lang="en-GB"/>
              <a:t>be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/>
              <a:t> cm.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9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Work out the perimeter and area of the object and image in the following enlargements. Use 1 square = 1 cm.</a:t>
            </a:r>
            <a:endParaRPr/>
          </a:p>
        </p:txBody>
      </p:sp>
      <p:sp>
        <p:nvSpPr>
          <p:cNvPr id="1138" name="Google Shape;1138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pic>
        <p:nvPicPr>
          <p:cNvPr id="1139" name="Google Shape;113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425" y="1649552"/>
            <a:ext cx="2074175" cy="125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7850" y="1675675"/>
            <a:ext cx="1589274" cy="160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2948" y="1671838"/>
            <a:ext cx="1536875" cy="17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3"/>
          <p:cNvSpPr txBox="1"/>
          <p:nvPr/>
        </p:nvSpPr>
        <p:spPr>
          <a:xfrm>
            <a:off x="568925" y="1528450"/>
            <a:ext cx="60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3"/>
          <p:cNvSpPr txBox="1"/>
          <p:nvPr/>
        </p:nvSpPr>
        <p:spPr>
          <a:xfrm>
            <a:off x="3300280" y="1528450"/>
            <a:ext cx="60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93"/>
          <p:cNvSpPr txBox="1"/>
          <p:nvPr/>
        </p:nvSpPr>
        <p:spPr>
          <a:xfrm>
            <a:off x="5946000" y="1528450"/>
            <a:ext cx="60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93"/>
          <p:cNvSpPr txBox="1"/>
          <p:nvPr/>
        </p:nvSpPr>
        <p:spPr>
          <a:xfrm>
            <a:off x="896975" y="2995050"/>
            <a:ext cx="2598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(A)= 4 cm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(A) = 1 cm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(B) = 8 cm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(B) = 4 cm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6" name="Google Shape;1146;p93"/>
          <p:cNvSpPr txBox="1"/>
          <p:nvPr/>
        </p:nvSpPr>
        <p:spPr>
          <a:xfrm>
            <a:off x="3495275" y="3361125"/>
            <a:ext cx="2598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(A)= 6 cm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(A) = 2 cm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(B) = 18 cm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(B) = 18 cm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7" name="Google Shape;1147;p93"/>
          <p:cNvSpPr txBox="1"/>
          <p:nvPr/>
        </p:nvSpPr>
        <p:spPr>
          <a:xfrm>
            <a:off x="6160050" y="3306200"/>
            <a:ext cx="2598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(A)= 12 cm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(A) = 8 cm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(B) = 6 cm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(B) = 2 cm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93"/>
          <p:cNvSpPr txBox="1"/>
          <p:nvPr/>
        </p:nvSpPr>
        <p:spPr>
          <a:xfrm>
            <a:off x="1297444" y="1854381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93"/>
          <p:cNvSpPr txBox="1"/>
          <p:nvPr/>
        </p:nvSpPr>
        <p:spPr>
          <a:xfrm>
            <a:off x="3960293" y="1831262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3"/>
          <p:cNvSpPr txBox="1"/>
          <p:nvPr/>
        </p:nvSpPr>
        <p:spPr>
          <a:xfrm>
            <a:off x="6642556" y="2227525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93"/>
          <p:cNvSpPr txBox="1"/>
          <p:nvPr/>
        </p:nvSpPr>
        <p:spPr>
          <a:xfrm>
            <a:off x="7404556" y="2532325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93"/>
          <p:cNvSpPr txBox="1"/>
          <p:nvPr/>
        </p:nvSpPr>
        <p:spPr>
          <a:xfrm>
            <a:off x="4719031" y="2280100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93"/>
          <p:cNvSpPr txBox="1"/>
          <p:nvPr/>
        </p:nvSpPr>
        <p:spPr>
          <a:xfrm>
            <a:off x="2253881" y="2078038"/>
            <a:ext cx="2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9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problems</a:t>
            </a:r>
            <a:endParaRPr/>
          </a:p>
        </p:txBody>
      </p:sp>
      <p:sp>
        <p:nvSpPr>
          <p:cNvPr id="1159" name="Google Shape;1159;p94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  <p:sp>
        <p:nvSpPr>
          <p:cNvPr id="1160" name="Google Shape;1160;p9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transformations</a:t>
            </a:r>
            <a:endParaRPr/>
          </a:p>
        </p:txBody>
      </p:sp>
      <p:pic>
        <p:nvPicPr>
          <p:cNvPr id="1161" name="Google Shape;116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31" y="3705881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94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95"/>
          <p:cNvSpPr txBox="1"/>
          <p:nvPr/>
        </p:nvSpPr>
        <p:spPr>
          <a:xfrm>
            <a:off x="278225" y="2281775"/>
            <a:ext cx="39042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would the image of the point              be?</a:t>
            </a:r>
            <a:endParaRPr/>
          </a:p>
        </p:txBody>
      </p:sp>
      <p:sp>
        <p:nvSpPr>
          <p:cNvPr id="1168" name="Google Shape;1168;p95"/>
          <p:cNvSpPr txBox="1"/>
          <p:nvPr>
            <p:ph idx="1" type="body"/>
          </p:nvPr>
        </p:nvSpPr>
        <p:spPr>
          <a:xfrm>
            <a:off x="324000" y="759300"/>
            <a:ext cx="3560400" cy="10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rectangle is translated by        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pic>
        <p:nvPicPr>
          <p:cNvPr id="1170" name="Google Shape;1170;p95"/>
          <p:cNvPicPr preferRelativeResize="0"/>
          <p:nvPr/>
        </p:nvPicPr>
        <p:blipFill rotWithShape="1">
          <a:blip r:embed="rId3">
            <a:alphaModFix/>
          </a:blip>
          <a:srcRect b="14089" l="43230" r="0" t="0"/>
          <a:stretch/>
        </p:blipFill>
        <p:spPr>
          <a:xfrm>
            <a:off x="3960625" y="1000175"/>
            <a:ext cx="4483348" cy="3866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,b\right)&quot;&gt;&lt;mrow data-mjx-texclass=&quot;INNER&quot;&gt;&lt;mo data-mjx-texclass=&quot;OPEN&quot;&gt;(&lt;/mo&gt;&lt;mi&gt;a&lt;/mi&gt;&lt;mo&gt;,&lt;/mo&gt;&lt;mi&gt;b&lt;/mi&gt;&lt;mo data-mjx-texclass=&quot;CLOSE&quot;&gt;)&lt;/mo&gt;&lt;/mrow&gt;&lt;/math&gt;" id="1171" name="Google Shape;1171;p95" title="open paren a comma b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181" y="2764899"/>
            <a:ext cx="665165" cy="2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,b\right)&quot;&gt;&lt;mrow data-mjx-texclass=&quot;INNER&quot;&gt;&lt;mo data-mjx-texclass=&quot;OPEN&quot;&gt;(&lt;/mo&gt;&lt;mi&gt;a&lt;/mi&gt;&lt;mo&gt;,&lt;/mo&gt;&lt;mi&gt;b&lt;/mi&gt;&lt;mo data-mjx-texclass=&quot;CLOSE&quot;&gt;)&lt;/mo&gt;&lt;/mrow&gt;&lt;/math&gt;" id="1172" name="Google Shape;1172;p95" title="open paren a comma b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0" y="2244774"/>
            <a:ext cx="665165" cy="2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+2,b+1\right)&quot;&gt;&lt;mrow data-mjx-texclass=&quot;INNER&quot;&gt;&lt;mo data-mjx-texclass=&quot;OPEN&quot;&gt;(&lt;/mo&gt;&lt;mi&gt;a&lt;/mi&gt;&lt;mo&gt;+&lt;/mo&gt;&lt;mn&gt;2&lt;/mn&gt;&lt;mo&gt;,&lt;/mo&gt;&lt;mi&gt;b&lt;/mi&gt;&lt;mo&gt;+&lt;/mo&gt;&lt;mn&gt;1&lt;/mn&gt;&lt;mo data-mjx-texclass=&quot;CLOSE&quot;&gt;)&lt;/mo&gt;&lt;/mrow&gt;&lt;/math&gt;" id="1173" name="Google Shape;1173;p95" title="open paren a plus 2 comma b plus 1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400" y="3673150"/>
            <a:ext cx="1771738" cy="2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2\\&amp;#13;&amp;#10;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1&lt;/mn&gt;&lt;/mtd&gt;&lt;/mtr&gt;&lt;/mtable&gt;&lt;mo data-mjx-texclass=&quot;CLOSE&quot;&gt;)&lt;/mo&gt;&lt;/mrow&gt;&lt;/math&gt;" id="1174" name="Google Shape;1174;p95" title="the 2 by 1 column matrix 2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5822" y="1191875"/>
            <a:ext cx="528875" cy="663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96"/>
          <p:cNvSpPr txBox="1"/>
          <p:nvPr/>
        </p:nvSpPr>
        <p:spPr>
          <a:xfrm>
            <a:off x="278225" y="2281775"/>
            <a:ext cx="36063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would the image of the point (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a, 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be?</a:t>
            </a:r>
            <a:endParaRPr/>
          </a:p>
        </p:txBody>
      </p:sp>
      <p:sp>
        <p:nvSpPr>
          <p:cNvPr id="1180" name="Google Shape;1180;p96"/>
          <p:cNvSpPr txBox="1"/>
          <p:nvPr>
            <p:ph idx="1" type="body"/>
          </p:nvPr>
        </p:nvSpPr>
        <p:spPr>
          <a:xfrm>
            <a:off x="324000" y="759300"/>
            <a:ext cx="3560400" cy="10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rectangle is translated by           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pic>
        <p:nvPicPr>
          <p:cNvPr id="1182" name="Google Shape;1182;p96"/>
          <p:cNvPicPr preferRelativeResize="0"/>
          <p:nvPr/>
        </p:nvPicPr>
        <p:blipFill rotWithShape="1">
          <a:blip r:embed="rId3">
            <a:alphaModFix/>
          </a:blip>
          <a:srcRect b="2524" l="45244" r="0" t="0"/>
          <a:stretch/>
        </p:blipFill>
        <p:spPr>
          <a:xfrm>
            <a:off x="4473050" y="800138"/>
            <a:ext cx="3736151" cy="37997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,b\right)&quot;&gt;&lt;mrow data-mjx-texclass=&quot;INNER&quot;&gt;&lt;mo data-mjx-texclass=&quot;OPEN&quot;&gt;(&lt;/mo&gt;&lt;mi&gt;a&lt;/mi&gt;&lt;mo&gt;,&lt;/mo&gt;&lt;mi&gt;b&lt;/mi&gt;&lt;mo data-mjx-texclass=&quot;CLOSE&quot;&gt;)&lt;/mo&gt;&lt;/mrow&gt;&lt;/math&gt;" id="1183" name="Google Shape;1183;p96" title="open paren a comma b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3400" y="1340812"/>
            <a:ext cx="665165" cy="2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-4\\&amp;#13;&amp;#10;-2\end{matrix}\right)&quot;&gt;&lt;mrow data-mjx-texclass=&quot;INNER&quot;&gt;&lt;mo data-mjx-texclass=&quot;OPEN&quot;&gt;(&lt;/mo&gt;&lt;mtable columnspacing=&quot;1em&quot; rowspacing=&quot;4pt&quot;&gt;&lt;mtr&gt;&lt;mtd&gt;&lt;mo&gt;−&lt;/mo&gt;&lt;mn&gt;4&lt;/mn&gt;&lt;/mtd&gt;&lt;/mtr&gt;&lt;mtr&gt;&lt;mtd&gt;&lt;mo&gt;−&lt;/mo&gt;&lt;mn&gt;2&lt;/mn&gt;&lt;/mtd&gt;&lt;/mtr&gt;&lt;/mtable&gt;&lt;mo data-mjx-texclass=&quot;CLOSE&quot;&gt;)&lt;/mo&gt;&lt;/mrow&gt;&lt;/math&gt;" id="1184" name="Google Shape;1184;p96" title="the 2 by 1 column matrix negative 4 negative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1976" y="1154350"/>
            <a:ext cx="712752" cy="66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-4,b-2\right)&quot;&gt;&lt;mrow data-mjx-texclass=&quot;INNER&quot;&gt;&lt;mo data-mjx-texclass=&quot;OPEN&quot;&gt;(&lt;/mo&gt;&lt;mi&gt;a&lt;/mi&gt;&lt;mo&gt;−&lt;/mo&gt;&lt;mn&gt;4&lt;/mn&gt;&lt;mo&gt;,&lt;/mo&gt;&lt;mi&gt;b&lt;/mi&gt;&lt;mo&gt;−&lt;/mo&gt;&lt;mn&gt;2&lt;/mn&gt;&lt;mo data-mjx-texclass=&quot;CLOSE&quot;&gt;)&lt;/mo&gt;&lt;/mrow&gt;&lt;/math&gt;" id="1185" name="Google Shape;1185;p96" title="open paren a minus 4 comma b minus 2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6825" y="3634500"/>
            <a:ext cx="1771738" cy="2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/>
              <a:t>translation</a:t>
            </a:r>
            <a:r>
              <a:rPr lang="en-GB"/>
              <a:t> has taken place.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By which vector has it been translated? 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sp>
        <p:nvSpPr>
          <p:cNvPr id="1192" name="Google Shape;1192;p97"/>
          <p:cNvSpPr txBox="1"/>
          <p:nvPr/>
        </p:nvSpPr>
        <p:spPr>
          <a:xfrm>
            <a:off x="1465200" y="2190175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a,b\right)\mapsto\left(a+5,\ b-2\right)&quot;&gt;&lt;mrow data-mjx-texclass=&quot;INNER&quot;&gt;&lt;mo data-mjx-texclass=&quot;OPEN&quot;&gt;(&lt;/mo&gt;&lt;mi&gt;a&lt;/mi&gt;&lt;mo&gt;,&lt;/mo&gt;&lt;mi&gt;b&lt;/mi&gt;&lt;mo data-mjx-texclass=&quot;CLOSE&quot;&gt;)&lt;/mo&gt;&lt;/mrow&gt;&lt;mo stretchy=&quot;false&quot;&gt;↦&lt;/mo&gt;&lt;mrow data-mjx-texclass=&quot;INNER&quot;&gt;&lt;mo data-mjx-texclass=&quot;OPEN&quot;&gt;(&lt;/mo&gt;&lt;mi&gt;a&lt;/mi&gt;&lt;mo&gt;+&lt;/mo&gt;&lt;mn&gt;5&lt;/mn&gt;&lt;mo&gt;,&lt;/mo&gt;&lt;mtext&gt;&lt;/mtext&gt;&lt;mi&gt;b&lt;/mi&gt;&lt;mo&gt;−&lt;/mo&gt;&lt;mn&gt;2&lt;/mn&gt;&lt;mo data-mjx-texclass=&quot;CLOSE&quot;&gt;)&lt;/mo&gt;&lt;/mrow&gt;&lt;/math&gt;" id="1193" name="Google Shape;1193;p97" title="open paren a comma b divided into right arrow from open paren a plus 5 comma b minus 2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475" y="1256338"/>
            <a:ext cx="3015478" cy="2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5\\&amp;#13;&amp;#10;-2\end{matrix}\right)&quot;&gt;&lt;mrow data-mjx-texclass=&quot;INNER&quot;&gt;&lt;mo data-mjx-texclass=&quot;OPEN&quot;&gt;(&lt;/mo&gt;&lt;mtable columnspacing=&quot;1em&quot; rowspacing=&quot;4pt&quot;&gt;&lt;mtr&gt;&lt;mtd&gt;&lt;mn&gt;5&lt;/mn&gt;&lt;/mtd&gt;&lt;/mtr&gt;&lt;mtr&gt;&lt;mtd&gt;&lt;mo&gt;−&lt;/mo&gt;&lt;mn&gt;2&lt;/mn&gt;&lt;/mtd&gt;&lt;/mtr&gt;&lt;/mtable&gt;&lt;mo data-mjx-texclass=&quot;CLOSE&quot;&gt;)&lt;/mo&gt;&lt;/mrow&gt;&lt;/math&gt;" id="1194" name="Google Shape;1194;p97" title="the 2 by 1 column matrix 5 negative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509" y="2373325"/>
            <a:ext cx="893721" cy="832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translation has taken place.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By which vector has it been translated? 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sp>
        <p:nvSpPr>
          <p:cNvPr id="1201" name="Google Shape;1201;p98"/>
          <p:cNvSpPr txBox="1"/>
          <p:nvPr/>
        </p:nvSpPr>
        <p:spPr>
          <a:xfrm>
            <a:off x="1465200" y="2190175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a+4,5+b\right)\mapsto\left(a+2,\ 7+b\right)&quot;&gt;&lt;mrow data-mjx-texclass=&quot;INNER&quot;&gt;&lt;mo data-mjx-texclass=&quot;OPEN&quot;&gt;(&lt;/mo&gt;&lt;mi&gt;a&lt;/mi&gt;&lt;mo&gt;+&lt;/mo&gt;&lt;mn&gt;4&lt;/mn&gt;&lt;mo&gt;,&lt;/mo&gt;&lt;mn&gt;5&lt;/mn&gt;&lt;mo&gt;+&lt;/mo&gt;&lt;mi&gt;b&lt;/mi&gt;&lt;mo data-mjx-texclass=&quot;CLOSE&quot;&gt;)&lt;/mo&gt;&lt;/mrow&gt;&lt;mo stretchy=&quot;false&quot;&gt;↦&lt;/mo&gt;&lt;mrow data-mjx-texclass=&quot;INNER&quot;&gt;&lt;mo data-mjx-texclass=&quot;OPEN&quot;&gt;(&lt;/mo&gt;&lt;mi&gt;a&lt;/mi&gt;&lt;mo&gt;+&lt;/mo&gt;&lt;mn&gt;2&lt;/mn&gt;&lt;mo&gt;,&lt;/mo&gt;&lt;mtext&gt;&lt;/mtext&gt;&lt;mn&gt;7&lt;/mn&gt;&lt;mo&gt;+&lt;/mo&gt;&lt;mi&gt;b&lt;/mi&gt;&lt;mo data-mjx-texclass=&quot;CLOSE&quot;&gt;)&lt;/mo&gt;&lt;/mrow&gt;&lt;/math&gt;" id="1202" name="Google Shape;1202;p98" title="open paren a plus 4 comma 5 plus b divided into right arrow from open paren a plus 2 comma 7 plus b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50" y="1332539"/>
            <a:ext cx="4105269" cy="2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-2\\&amp;#13;&amp;#10;2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2&lt;/mn&gt;&lt;/mtd&gt;&lt;/mtr&gt;&lt;/mtable&gt;&lt;mo data-mjx-texclass=&quot;CLOSE&quot;&gt;)&lt;/mo&gt;&lt;/mrow&gt;&lt;/math&gt;" id="1203" name="Google Shape;1203;p98" title="the 2 by 1 column matrix negative 2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209" y="2449675"/>
            <a:ext cx="893721" cy="832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209" name="Google Shape;1209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sp>
        <p:nvSpPr>
          <p:cNvPr id="1210" name="Google Shape;1210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translates to                       . By which vector has it translated by?</a:t>
            </a:r>
            <a:endParaRPr/>
          </a:p>
        </p:txBody>
      </p:sp>
      <p:sp>
        <p:nvSpPr>
          <p:cNvPr id="1211" name="Google Shape;1211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212" name="Google Shape;1212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begin{matrix}3\\&amp;#13;&amp;#10;4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4&lt;/mn&gt;&lt;/mtd&gt;&lt;/mtr&gt;&lt;/mtable&gt;&lt;mo data-mjx-texclass=&quot;CLOSE&quot;&gt;)&lt;/mo&gt;&lt;/mrow&gt;&lt;/math&gt;" id="1213" name="Google Shape;1213;p99" title="the 2 by 1 column matrix 3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225" y="3577413"/>
            <a:ext cx="560567" cy="70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905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+8,b+2\right)&quot;&gt;&lt;mrow data-mjx-texclass=&quot;INNER&quot;&gt;&lt;mo data-mjx-texclass=&quot;OPEN&quot;&gt;(&lt;/mo&gt;&lt;mi&gt;a&lt;/mi&gt;&lt;mo&gt;+&lt;/mo&gt;&lt;mn&gt;8&lt;/mn&gt;&lt;mo&gt;,&lt;/mo&gt;&lt;mi&gt;b&lt;/mi&gt;&lt;mo&gt;+&lt;/mo&gt;&lt;mn&gt;2&lt;/mn&gt;&lt;mo data-mjx-texclass=&quot;CLOSE&quot;&gt;)&lt;/mo&gt;&lt;/mrow&gt;&lt;/math&gt;" id="1215" name="Google Shape;1215;p99" title="open paren a plus 8 comma b plus 2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3975" y="809999"/>
            <a:ext cx="1643880" cy="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+11,b+6\right)&quot;&gt;&lt;mrow data-mjx-texclass=&quot;INNER&quot;&gt;&lt;mo data-mjx-texclass=&quot;OPEN&quot;&gt;(&lt;/mo&gt;&lt;mi&gt;a&lt;/mi&gt;&lt;mo&gt;+&lt;/mo&gt;&lt;mn&gt;11&lt;/mn&gt;&lt;mo&gt;,&lt;/mo&gt;&lt;mi&gt;b&lt;/mi&gt;&lt;mo&gt;+&lt;/mo&gt;&lt;mn&gt;6&lt;/mn&gt;&lt;mo data-mjx-texclass=&quot;CLOSE&quot;&gt;)&lt;/mo&gt;&lt;/mrow&gt;&lt;/math&gt;" id="1216" name="Google Shape;1216;p99" title="open paren a plus 11 comma b plus 6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7150" y="764201"/>
            <a:ext cx="1787856" cy="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8\\&amp;#13;&amp;#10;2\end{matrix}\right)&quot;&gt;&lt;mrow data-mjx-texclass=&quot;INNER&quot;&gt;&lt;mo data-mjx-texclass=&quot;OPEN&quot;&gt;(&lt;/mo&gt;&lt;mtable columnspacing=&quot;1em&quot; rowspacing=&quot;4pt&quot;&gt;&lt;mtr&gt;&lt;mtd&gt;&lt;mn&gt;8&lt;/mn&gt;&lt;/mtd&gt;&lt;/mtr&gt;&lt;mtr&gt;&lt;mtd&gt;&lt;mn&gt;2&lt;/mn&gt;&lt;/mtd&gt;&lt;/mtr&gt;&lt;/mtable&gt;&lt;mo data-mjx-texclass=&quot;CLOSE&quot;&gt;)&lt;/mo&gt;&lt;/mrow&gt;&lt;/math&gt;" id="1217" name="Google Shape;1217;p99" title="the 2 by 1 column matrix 8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4223" y="1664448"/>
            <a:ext cx="560575" cy="703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-3\\&amp;#13;&amp;#10;-4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4&lt;/mn&gt;&lt;/mtd&gt;&lt;/mtr&gt;&lt;/mtable&gt;&lt;mo data-mjx-texclass=&quot;CLOSE&quot;&gt;)&lt;/mo&gt;&lt;/mrow&gt;&lt;/math&gt;" id="1218" name="Google Shape;1218;p99" title="the 2 by 1 column matrix negative 3 negative 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0939" y="2650138"/>
            <a:ext cx="727150" cy="67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sp>
        <p:nvSpPr>
          <p:cNvPr id="1224" name="Google Shape;1224;p100"/>
          <p:cNvSpPr txBox="1"/>
          <p:nvPr>
            <p:ph idx="1" type="body"/>
          </p:nvPr>
        </p:nvSpPr>
        <p:spPr>
          <a:xfrm>
            <a:off x="324000" y="759300"/>
            <a:ext cx="8650500" cy="14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triangle with vertices A(3, 4), B(5, 4) and C(5, 9) is transformed.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image vertices are A′(-3, 4), B′(-5, 4) and C′(-5, 9).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transformation has taken place?</a:t>
            </a:r>
            <a:endParaRPr sz="2000"/>
          </a:p>
        </p:txBody>
      </p:sp>
      <p:pic>
        <p:nvPicPr>
          <p:cNvPr id="1225" name="Google Shape;122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674" y="3641324"/>
            <a:ext cx="812300" cy="101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10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334124" y="2700000"/>
            <a:ext cx="2716201" cy="16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100"/>
          <p:cNvSpPr txBox="1"/>
          <p:nvPr/>
        </p:nvSpPr>
        <p:spPr>
          <a:xfrm>
            <a:off x="1562450" y="2732100"/>
            <a:ext cx="2433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None of the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coordinates have changed.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8" name="Google Shape;1228;p100"/>
          <p:cNvPicPr preferRelativeResize="0"/>
          <p:nvPr/>
        </p:nvPicPr>
        <p:blipFill rotWithShape="1">
          <a:blip r:embed="rId4">
            <a:alphaModFix/>
          </a:blip>
          <a:srcRect b="0" l="0" r="70143" t="56280"/>
          <a:stretch/>
        </p:blipFill>
        <p:spPr>
          <a:xfrm>
            <a:off x="4456800" y="2103825"/>
            <a:ext cx="3021998" cy="221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0"/>
          <p:cNvSpPr txBox="1"/>
          <p:nvPr/>
        </p:nvSpPr>
        <p:spPr>
          <a:xfrm>
            <a:off x="4716800" y="2327550"/>
            <a:ext cx="271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-coordinates are negative, so on the other side of the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-axis.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0" name="Google Shape;1230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1125" y="3620725"/>
            <a:ext cx="858074" cy="10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100"/>
          <p:cNvSpPr txBox="1"/>
          <p:nvPr/>
        </p:nvSpPr>
        <p:spPr>
          <a:xfrm>
            <a:off x="1343325" y="4352025"/>
            <a:ext cx="6639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100"/>
          <p:cNvSpPr txBox="1"/>
          <p:nvPr/>
        </p:nvSpPr>
        <p:spPr>
          <a:xfrm>
            <a:off x="6681750" y="4372625"/>
            <a:ext cx="1033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sp>
        <p:nvSpPr>
          <p:cNvPr id="1238" name="Google Shape;1238;p101"/>
          <p:cNvSpPr txBox="1"/>
          <p:nvPr>
            <p:ph idx="1" type="body"/>
          </p:nvPr>
        </p:nvSpPr>
        <p:spPr>
          <a:xfrm>
            <a:off x="324000" y="759300"/>
            <a:ext cx="86505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triangle with vertices A(3, 4), B(5, 4) and C(5, 9) is transformed.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image vertices are A′(-3, 4), B′(-5, 4) and C′(-5, 9).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transformation has taken place?</a:t>
            </a:r>
            <a:endParaRPr sz="2000"/>
          </a:p>
        </p:txBody>
      </p:sp>
      <p:pic>
        <p:nvPicPr>
          <p:cNvPr id="1239" name="Google Shape;1239;p101"/>
          <p:cNvPicPr preferRelativeResize="0"/>
          <p:nvPr/>
        </p:nvPicPr>
        <p:blipFill rotWithShape="1">
          <a:blip r:embed="rId3">
            <a:alphaModFix/>
          </a:blip>
          <a:srcRect b="8609" l="41887" r="0" t="0"/>
          <a:stretch/>
        </p:blipFill>
        <p:spPr>
          <a:xfrm>
            <a:off x="2189075" y="2205800"/>
            <a:ext cx="2823025" cy="2525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101"/>
          <p:cNvSpPr txBox="1"/>
          <p:nvPr/>
        </p:nvSpPr>
        <p:spPr>
          <a:xfrm>
            <a:off x="5473200" y="2632775"/>
            <a:ext cx="367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reflection in the </a:t>
            </a:r>
            <a:r>
              <a:rPr i="1" lang="en-GB" sz="20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-axis.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241" name="Google Shape;1241;p101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704" y="2822342"/>
            <a:ext cx="160912" cy="216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6" name="Google Shape;1246;p102"/>
          <p:cNvPicPr preferRelativeResize="0"/>
          <p:nvPr/>
        </p:nvPicPr>
        <p:blipFill rotWithShape="1">
          <a:blip r:embed="rId3">
            <a:alphaModFix/>
          </a:blip>
          <a:srcRect b="0" l="49230" r="0" t="0"/>
          <a:stretch/>
        </p:blipFill>
        <p:spPr>
          <a:xfrm>
            <a:off x="3089789" y="1238900"/>
            <a:ext cx="3250924" cy="364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rotation by 180° about the origin has occurred.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Fill the missing coordinate. </a:t>
            </a:r>
            <a:endParaRPr/>
          </a:p>
        </p:txBody>
      </p:sp>
      <p:sp>
        <p:nvSpPr>
          <p:cNvPr id="1248" name="Google Shape;1248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sp>
        <p:nvSpPr>
          <p:cNvPr id="1249" name="Google Shape;1249;p102"/>
          <p:cNvSpPr txBox="1"/>
          <p:nvPr/>
        </p:nvSpPr>
        <p:spPr>
          <a:xfrm>
            <a:off x="4655100" y="2284075"/>
            <a:ext cx="72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(2, 3)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102"/>
          <p:cNvSpPr txBox="1"/>
          <p:nvPr/>
        </p:nvSpPr>
        <p:spPr>
          <a:xfrm>
            <a:off x="5411850" y="2284075"/>
            <a:ext cx="7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(4, 3)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102"/>
          <p:cNvSpPr txBox="1"/>
          <p:nvPr/>
        </p:nvSpPr>
        <p:spPr>
          <a:xfrm>
            <a:off x="5411850" y="1158300"/>
            <a:ext cx="7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(4, 6)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102"/>
          <p:cNvSpPr txBox="1"/>
          <p:nvPr/>
        </p:nvSpPr>
        <p:spPr>
          <a:xfrm>
            <a:off x="3835950" y="3511000"/>
            <a:ext cx="9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(-2, -3)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102"/>
          <p:cNvSpPr txBox="1"/>
          <p:nvPr/>
        </p:nvSpPr>
        <p:spPr>
          <a:xfrm>
            <a:off x="2961850" y="3511000"/>
            <a:ext cx="9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(-4, -3)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102"/>
          <p:cNvSpPr txBox="1"/>
          <p:nvPr/>
        </p:nvSpPr>
        <p:spPr>
          <a:xfrm>
            <a:off x="2490100" y="4453300"/>
            <a:ext cx="15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102"/>
          <p:cNvSpPr txBox="1"/>
          <p:nvPr/>
        </p:nvSpPr>
        <p:spPr>
          <a:xfrm>
            <a:off x="2625050" y="4437850"/>
            <a:ext cx="49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6" name="Google Shape;1256;p102"/>
          <p:cNvSpPr txBox="1"/>
          <p:nvPr/>
        </p:nvSpPr>
        <p:spPr>
          <a:xfrm>
            <a:off x="3082250" y="4437850"/>
            <a:ext cx="49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03"/>
          <p:cNvSpPr txBox="1"/>
          <p:nvPr>
            <p:ph idx="1" type="body"/>
          </p:nvPr>
        </p:nvSpPr>
        <p:spPr>
          <a:xfrm>
            <a:off x="324000" y="8355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The following points have been translated by </a:t>
            </a:r>
            <a:br>
              <a:rPr lang="en-GB"/>
            </a:br>
            <a:r>
              <a:rPr lang="en-GB"/>
              <a:t>Write the </a:t>
            </a:r>
            <a:r>
              <a:rPr lang="en-GB"/>
              <a:t>coordinate of the </a:t>
            </a:r>
            <a:r>
              <a:rPr lang="en-GB"/>
              <a:t>image.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03"/>
          <p:cNvSpPr txBox="1"/>
          <p:nvPr/>
        </p:nvSpPr>
        <p:spPr>
          <a:xfrm>
            <a:off x="701561" y="1678950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begin{matrix}-5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5&lt;/mn&gt;&lt;/mtd&gt;&lt;/mtr&gt;&lt;mtr&gt;&lt;mtd&gt;&lt;mn&gt;3&lt;/mn&gt;&lt;/mtd&gt;&lt;/mtr&gt;&lt;/mtable&gt;&lt;mo data-mjx-texclass=&quot;CLOSE&quot;&gt;)&lt;/mo&gt;&lt;/mrow&gt;&lt;/math&gt;" id="1264" name="Google Shape;1264;p103" title="the 2 by 1 column matrix negative 5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7526" y="732325"/>
            <a:ext cx="753900" cy="70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,b\right)&quot;&gt;&lt;mrow data-mjx-texclass=&quot;INNER&quot;&gt;&lt;mo data-mjx-texclass=&quot;OPEN&quot;&gt;(&lt;/mo&gt;&lt;mi&gt;a&lt;/mi&gt;&lt;mo&gt;,&lt;/mo&gt;&lt;mi&gt;b&lt;/mi&gt;&lt;mo data-mjx-texclass=&quot;CLOSE&quot;&gt;)&lt;/mo&gt;&lt;/mrow&gt;&lt;/math&gt;" id="1265" name="Google Shape;1265;p103" title="open paren a comma b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754" y="1829074"/>
            <a:ext cx="633525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+1,b+3\right)&quot;&gt;&lt;mrow data-mjx-texclass=&quot;INNER&quot;&gt;&lt;mo data-mjx-texclass=&quot;OPEN&quot;&gt;(&lt;/mo&gt;&lt;mi&gt;a&lt;/mi&gt;&lt;mo&gt;+&lt;/mo&gt;&lt;mn&gt;1&lt;/mn&gt;&lt;mo&gt;,&lt;/mo&gt;&lt;mi&gt;b&lt;/mi&gt;&lt;mo&gt;+&lt;/mo&gt;&lt;mn&gt;3&lt;/mn&gt;&lt;mo data-mjx-texclass=&quot;CLOSE&quot;&gt;)&lt;/mo&gt;&lt;/mrow&gt;&lt;/math&gt;" id="1266" name="Google Shape;1266;p103" title="open paren a plus 1 comma b plus 3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2754" y="2397080"/>
            <a:ext cx="1639217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-3,b+3\right)&quot;&gt;&lt;mrow data-mjx-texclass=&quot;INNER&quot;&gt;&lt;mo data-mjx-texclass=&quot;OPEN&quot;&gt;(&lt;/mo&gt;&lt;mi&gt;a&lt;/mi&gt;&lt;mo&gt;−&lt;/mo&gt;&lt;mn&gt;3&lt;/mn&gt;&lt;mo&gt;,&lt;/mo&gt;&lt;mi&gt;b&lt;/mi&gt;&lt;mo&gt;+&lt;/mo&gt;&lt;mn&gt;3&lt;/mn&gt;&lt;mo data-mjx-texclass=&quot;CLOSE&quot;&gt;)&lt;/mo&gt;&lt;/mrow&gt;&lt;/math&gt;" id="1267" name="Google Shape;1267;p103" title="open paren a minus 3 comma b plus 3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2754" y="2965087"/>
            <a:ext cx="1639087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4+a,b+2\right)&quot;&gt;&lt;mrow data-mjx-texclass=&quot;INNER&quot;&gt;&lt;mo data-mjx-texclass=&quot;OPEN&quot;&gt;(&lt;/mo&gt;&lt;mn&gt;4&lt;/mn&gt;&lt;mo&gt;+&lt;/mo&gt;&lt;mi&gt;a&lt;/mi&gt;&lt;mo&gt;,&lt;/mo&gt;&lt;mi&gt;b&lt;/mi&gt;&lt;mo&gt;+&lt;/mo&gt;&lt;mn&gt;2&lt;/mn&gt;&lt;mo data-mjx-texclass=&quot;CLOSE&quot;&gt;)&lt;/mo&gt;&lt;/mrow&gt;&lt;/math&gt;" id="1268" name="Google Shape;1268;p103" title="open paren 4 plus a comma b plus 2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2754" y="4101099"/>
            <a:ext cx="1639217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2a,7-b\right)&quot;&gt;&lt;mrow data-mjx-texclass=&quot;INNER&quot;&gt;&lt;mo data-mjx-texclass=&quot;OPEN&quot;&gt;(&lt;/mo&gt;&lt;mn&gt;2&lt;/mn&gt;&lt;mi&gt;a&lt;/mi&gt;&lt;mo&gt;,&lt;/mo&gt;&lt;mn&gt;7&lt;/mn&gt;&lt;mo&gt;−&lt;/mo&gt;&lt;mi&gt;b&lt;/mi&gt;&lt;mo data-mjx-texclass=&quot;CLOSE&quot;&gt;)&lt;/mo&gt;&lt;/mrow&gt;&lt;/math&gt;" id="1269" name="Google Shape;1269;p103" title="open paren 2 a comma 7 minus b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02754" y="3533093"/>
            <a:ext cx="1283853" cy="27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103"/>
          <p:cNvSpPr txBox="1"/>
          <p:nvPr/>
        </p:nvSpPr>
        <p:spPr>
          <a:xfrm>
            <a:off x="701561" y="2253381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103"/>
          <p:cNvSpPr txBox="1"/>
          <p:nvPr/>
        </p:nvSpPr>
        <p:spPr>
          <a:xfrm>
            <a:off x="701561" y="2827813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103"/>
          <p:cNvSpPr txBox="1"/>
          <p:nvPr/>
        </p:nvSpPr>
        <p:spPr>
          <a:xfrm>
            <a:off x="701561" y="3402244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103"/>
          <p:cNvSpPr txBox="1"/>
          <p:nvPr/>
        </p:nvSpPr>
        <p:spPr>
          <a:xfrm>
            <a:off x="701561" y="3976675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04"/>
          <p:cNvSpPr txBox="1"/>
          <p:nvPr/>
        </p:nvSpPr>
        <p:spPr>
          <a:xfrm>
            <a:off x="1190444" y="2854800"/>
            <a:ext cx="4006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Object: A(1,4)  B(1,1)  C(2,1)</a:t>
            </a:r>
            <a:b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Image: A′(1,4)  B′(1,7)  C′(2,7)</a:t>
            </a:r>
            <a:endParaRPr/>
          </a:p>
        </p:txBody>
      </p:sp>
      <p:sp>
        <p:nvSpPr>
          <p:cNvPr id="1279" name="Google Shape;1279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If these are the coordinates for the vertices, what transformation has occurred?</a:t>
            </a:r>
            <a:br>
              <a:rPr lang="en-GB"/>
            </a:b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000"/>
              <a:t>Object: A(1,4)  B(1,1)  C(2,1)</a:t>
            </a:r>
            <a:br>
              <a:rPr lang="en-GB" sz="2000"/>
            </a:br>
            <a:r>
              <a:rPr lang="en-GB" sz="2000"/>
              <a:t>Image: A′(4,4)  B′(4,1)  C′(5,1)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04"/>
          <p:cNvSpPr txBox="1"/>
          <p:nvPr/>
        </p:nvSpPr>
        <p:spPr>
          <a:xfrm>
            <a:off x="665457" y="2782800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sp>
        <p:nvSpPr>
          <p:cNvPr id="1282" name="Google Shape;1282;p104"/>
          <p:cNvSpPr txBox="1"/>
          <p:nvPr/>
        </p:nvSpPr>
        <p:spPr>
          <a:xfrm>
            <a:off x="801350" y="4021700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may wish to plot the coordinates.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3" name="Google Shape;1283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7825" y="1428750"/>
            <a:ext cx="2781561" cy="30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05"/>
          <p:cNvSpPr txBox="1"/>
          <p:nvPr>
            <p:ph idx="1" type="body"/>
          </p:nvPr>
        </p:nvSpPr>
        <p:spPr>
          <a:xfrm>
            <a:off x="324000" y="8355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The following points have been translated by </a:t>
            </a:r>
            <a:br>
              <a:rPr lang="en-GB"/>
            </a:br>
            <a:r>
              <a:rPr lang="en-GB"/>
              <a:t>Write the coordinate of the image.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5"/>
          <p:cNvSpPr txBox="1"/>
          <p:nvPr/>
        </p:nvSpPr>
        <p:spPr>
          <a:xfrm>
            <a:off x="708265" y="1678950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begin{matrix}-5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5&lt;/mn&gt;&lt;/mtd&gt;&lt;/mtr&gt;&lt;mtr&gt;&lt;mtd&gt;&lt;mn&gt;3&lt;/mn&gt;&lt;/mtd&gt;&lt;/mtr&gt;&lt;/mtable&gt;&lt;mo data-mjx-texclass=&quot;CLOSE&quot;&gt;)&lt;/mo&gt;&lt;/mrow&gt;&lt;/math&gt;" id="1291" name="Google Shape;1291;p105" title="the 2 by 1 column matrix negative 5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7526" y="808525"/>
            <a:ext cx="753900" cy="70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,b\right)&quot;&gt;&lt;mrow data-mjx-texclass=&quot;INNER&quot;&gt;&lt;mo data-mjx-texclass=&quot;OPEN&quot;&gt;(&lt;/mo&gt;&lt;mi&gt;a&lt;/mi&gt;&lt;mo&gt;,&lt;/mo&gt;&lt;mi&gt;b&lt;/mi&gt;&lt;mo data-mjx-texclass=&quot;CLOSE&quot;&gt;)&lt;/mo&gt;&lt;/mrow&gt;&lt;/math&gt;" id="1292" name="Google Shape;1292;p105" title="open paren a comma b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9458" y="1829074"/>
            <a:ext cx="633525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+1,b+3\right)&quot;&gt;&lt;mrow data-mjx-texclass=&quot;INNER&quot;&gt;&lt;mo data-mjx-texclass=&quot;OPEN&quot;&gt;(&lt;/mo&gt;&lt;mi&gt;a&lt;/mi&gt;&lt;mo&gt;+&lt;/mo&gt;&lt;mn&gt;1&lt;/mn&gt;&lt;mo&gt;,&lt;/mo&gt;&lt;mi&gt;b&lt;/mi&gt;&lt;mo&gt;+&lt;/mo&gt;&lt;mn&gt;3&lt;/mn&gt;&lt;mo data-mjx-texclass=&quot;CLOSE&quot;&gt;)&lt;/mo&gt;&lt;/mrow&gt;&lt;/math&gt;" id="1293" name="Google Shape;1293;p105" title="open paren a plus 1 comma b plus 3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9458" y="2397080"/>
            <a:ext cx="1639217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-3,b+3\right)&quot;&gt;&lt;mrow data-mjx-texclass=&quot;INNER&quot;&gt;&lt;mo data-mjx-texclass=&quot;OPEN&quot;&gt;(&lt;/mo&gt;&lt;mi&gt;a&lt;/mi&gt;&lt;mo&gt;−&lt;/mo&gt;&lt;mn&gt;3&lt;/mn&gt;&lt;mo&gt;,&lt;/mo&gt;&lt;mi&gt;b&lt;/mi&gt;&lt;mo&gt;+&lt;/mo&gt;&lt;mn&gt;3&lt;/mn&gt;&lt;mo data-mjx-texclass=&quot;CLOSE&quot;&gt;)&lt;/mo&gt;&lt;/mrow&gt;&lt;/math&gt;" id="1294" name="Google Shape;1294;p105" title="open paren a minus 3 comma b plus 3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9458" y="2965087"/>
            <a:ext cx="1639087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4+a,b+2\right)&quot;&gt;&lt;mrow data-mjx-texclass=&quot;INNER&quot;&gt;&lt;mo data-mjx-texclass=&quot;OPEN&quot;&gt;(&lt;/mo&gt;&lt;mn&gt;4&lt;/mn&gt;&lt;mo&gt;+&lt;/mo&gt;&lt;mi&gt;a&lt;/mi&gt;&lt;mo&gt;,&lt;/mo&gt;&lt;mi&gt;b&lt;/mi&gt;&lt;mo&gt;+&lt;/mo&gt;&lt;mn&gt;2&lt;/mn&gt;&lt;mo data-mjx-texclass=&quot;CLOSE&quot;&gt;)&lt;/mo&gt;&lt;/mrow&gt;&lt;/math&gt;" id="1295" name="Google Shape;1295;p105" title="open paren 4 plus a comma b plus 2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9458" y="4101099"/>
            <a:ext cx="1639217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2a,7-b\right)&quot;&gt;&lt;mrow data-mjx-texclass=&quot;INNER&quot;&gt;&lt;mo data-mjx-texclass=&quot;OPEN&quot;&gt;(&lt;/mo&gt;&lt;mn&gt;2&lt;/mn&gt;&lt;mi&gt;a&lt;/mi&gt;&lt;mo&gt;,&lt;/mo&gt;&lt;mn&gt;7&lt;/mn&gt;&lt;mo&gt;−&lt;/mo&gt;&lt;mi&gt;b&lt;/mi&gt;&lt;mo data-mjx-texclass=&quot;CLOSE&quot;&gt;)&lt;/mo&gt;&lt;/mrow&gt;&lt;/math&gt;" id="1296" name="Google Shape;1296;p105" title="open paren 2 a comma 7 minus b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09458" y="3533093"/>
            <a:ext cx="1283853" cy="27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5"/>
          <p:cNvSpPr txBox="1"/>
          <p:nvPr/>
        </p:nvSpPr>
        <p:spPr>
          <a:xfrm>
            <a:off x="708265" y="2253381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05"/>
          <p:cNvSpPr txBox="1"/>
          <p:nvPr/>
        </p:nvSpPr>
        <p:spPr>
          <a:xfrm>
            <a:off x="708265" y="2827813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5"/>
          <p:cNvSpPr txBox="1"/>
          <p:nvPr/>
        </p:nvSpPr>
        <p:spPr>
          <a:xfrm>
            <a:off x="708265" y="3402244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105"/>
          <p:cNvSpPr txBox="1"/>
          <p:nvPr/>
        </p:nvSpPr>
        <p:spPr>
          <a:xfrm>
            <a:off x="708265" y="3976675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a-5,b+3\right)&quot;&gt;&lt;mrow data-mjx-texclass=&quot;INNER&quot;&gt;&lt;mo data-mjx-texclass=&quot;OPEN&quot;&gt;(&lt;/mo&gt;&lt;mi&gt;a&lt;/mi&gt;&lt;mo&gt;−&lt;/mo&gt;&lt;mn&gt;5&lt;/mn&gt;&lt;mo&gt;,&lt;/mo&gt;&lt;mi&gt;b&lt;/mi&gt;&lt;mo&gt;+&lt;/mo&gt;&lt;mn&gt;3&lt;/mn&gt;&lt;mo data-mjx-texclass=&quot;CLOSE&quot;&gt;)&lt;/mo&gt;&lt;/mrow&gt;&lt;/math&gt;" id="1301" name="Google Shape;1301;p105" title="open paren a minus 5 comma b plus 3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47558" y="1805200"/>
            <a:ext cx="1664745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-4,b+6\right)&quot;&gt;&lt;mrow data-mjx-texclass=&quot;INNER&quot;&gt;&lt;mo data-mjx-texclass=&quot;OPEN&quot;&gt;(&lt;/mo&gt;&lt;mi&gt;a&lt;/mi&gt;&lt;mo&gt;−&lt;/mo&gt;&lt;mn&gt;4&lt;/mn&gt;&lt;mo&gt;,&lt;/mo&gt;&lt;mi&gt;b&lt;/mi&gt;&lt;mo&gt;+&lt;/mo&gt;&lt;mn&gt;6&lt;/mn&gt;&lt;mo data-mjx-texclass=&quot;CLOSE&quot;&gt;)&lt;/mo&gt;&lt;/mrow&gt;&lt;/math&gt;" id="1302" name="Google Shape;1302;p105" title="open paren a minus 4 comma b plus 6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47558" y="2378656"/>
            <a:ext cx="1676033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-8,b+6\right)&quot;&gt;&lt;mrow data-mjx-texclass=&quot;INNER&quot;&gt;&lt;mo data-mjx-texclass=&quot;OPEN&quot;&gt;(&lt;/mo&gt;&lt;mi&gt;a&lt;/mi&gt;&lt;mo&gt;−&lt;/mo&gt;&lt;mn&gt;8&lt;/mn&gt;&lt;mo&gt;,&lt;/mo&gt;&lt;mi&gt;b&lt;/mi&gt;&lt;mo&gt;+&lt;/mo&gt;&lt;mn&gt;6&lt;/mn&gt;&lt;mo data-mjx-texclass=&quot;CLOSE&quot;&gt;)&lt;/mo&gt;&lt;/mrow&gt;&lt;/math&gt;" id="1303" name="Google Shape;1303;p105" title="open paren a minus 8 comma b plus 6 close pare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47558" y="2952112"/>
            <a:ext cx="1675905" cy="27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2a-5,10-b\right)&quot;&gt;&lt;mrow data-mjx-texclass=&quot;INNER&quot;&gt;&lt;mo data-mjx-texclass=&quot;OPEN&quot;&gt;(&lt;/mo&gt;&lt;mn&gt;2&lt;/mn&gt;&lt;mi&gt;a&lt;/mi&gt;&lt;mo&gt;−&lt;/mo&gt;&lt;mn&gt;5&lt;/mn&gt;&lt;mo&gt;,&lt;/mo&gt;&lt;mn&gt;10&lt;/mn&gt;&lt;mo&gt;−&lt;/mo&gt;&lt;mi&gt;b&lt;/mi&gt;&lt;mo data-mjx-texclass=&quot;CLOSE&quot;&gt;)&lt;/mo&gt;&lt;/mrow&gt;&lt;/math&gt;" id="1304" name="Google Shape;1304;p105" title="open paren 2 a minus 5 comma 10 minus b close paren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847558" y="3525567"/>
            <a:ext cx="2006974" cy="280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a-1,b+5\right)&quot;&gt;&lt;mrow data-mjx-texclass=&quot;INNER&quot;&gt;&lt;mo data-mjx-texclass=&quot;OPEN&quot;&gt;(&lt;/mo&gt;&lt;mi&gt;a&lt;/mi&gt;&lt;mo&gt;−&lt;/mo&gt;&lt;mn&gt;1&lt;/mn&gt;&lt;mo&gt;,&lt;/mo&gt;&lt;mi&gt;b&lt;/mi&gt;&lt;mo&gt;+&lt;/mo&gt;&lt;mn&gt;5&lt;/mn&gt;&lt;mo data-mjx-texclass=&quot;CLOSE&quot;&gt;)&lt;/mo&gt;&lt;/mrow&gt;&lt;/math&gt;" id="1305" name="Google Shape;1305;p105" title="open paren a minus 1 comma b plus 5 close paren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847558" y="4102400"/>
            <a:ext cx="1685019" cy="2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If these are the coordinates for the vertices, what transformation has occurred?</a:t>
            </a:r>
            <a:br>
              <a:rPr lang="en-GB"/>
            </a:b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000"/>
              <a:t>Object: A(1,4)  B(1,1)  C(2,1)</a:t>
            </a:r>
            <a:br>
              <a:rPr lang="en-GB" sz="2000"/>
            </a:br>
            <a:r>
              <a:rPr lang="en-GB" sz="2000"/>
              <a:t>Image: A′(4,4)  B′(4,1)  C′(5,1)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6"/>
          <p:cNvSpPr txBox="1"/>
          <p:nvPr/>
        </p:nvSpPr>
        <p:spPr>
          <a:xfrm>
            <a:off x="1190444" y="3420600"/>
            <a:ext cx="4006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Object: A(1,4)  B(1,1)  C(2,1)</a:t>
            </a:r>
            <a:b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Image: A′(1,4)  B′(1,7)  C′(2,7)</a:t>
            </a:r>
            <a:endParaRPr/>
          </a:p>
        </p:txBody>
      </p:sp>
      <p:sp>
        <p:nvSpPr>
          <p:cNvPr id="1312" name="Google Shape;1312;p106"/>
          <p:cNvSpPr txBox="1"/>
          <p:nvPr/>
        </p:nvSpPr>
        <p:spPr>
          <a:xfrm>
            <a:off x="632969" y="3382450"/>
            <a:ext cx="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problems</a:t>
            </a:r>
            <a:endParaRPr/>
          </a:p>
        </p:txBody>
      </p:sp>
      <p:sp>
        <p:nvSpPr>
          <p:cNvPr id="1314" name="Google Shape;1314;p106"/>
          <p:cNvSpPr txBox="1"/>
          <p:nvPr/>
        </p:nvSpPr>
        <p:spPr>
          <a:xfrm>
            <a:off x="1382150" y="285240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Translated by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3\\&amp;#13;&amp;#10;0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0&lt;/mn&gt;&lt;/mtd&gt;&lt;/mtr&gt;&lt;/mtable&gt;&lt;mo data-mjx-texclass=&quot;CLOSE&quot;&gt;)&lt;/mo&gt;&lt;/mrow&gt;&lt;/math&gt;" id="1315" name="Google Shape;1315;p106" title="the 2 by 1 column matrix 3 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025" y="2688113"/>
            <a:ext cx="522775" cy="6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06"/>
          <p:cNvSpPr txBox="1"/>
          <p:nvPr/>
        </p:nvSpPr>
        <p:spPr>
          <a:xfrm>
            <a:off x="1382150" y="4295725"/>
            <a:ext cx="362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Reflected in a horizontal 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17" name="Google Shape;1317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2779" y="1544204"/>
            <a:ext cx="2789850" cy="294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0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Knowing what changes and what is invariant in each of the transformations helps when solving problems.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Completing the transformation or sketching it can really help in order to solve problems.</a:t>
            </a:r>
            <a:endParaRPr/>
          </a:p>
        </p:txBody>
      </p:sp>
      <p:sp>
        <p:nvSpPr>
          <p:cNvPr id="1323" name="Google Shape;1323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transformations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29" name="Google Shape;1329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