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/>
  <p:notesSz cx="6858000" cy="9144000"/>
  <p:embeddedFontLst>
    <p:embeddedFont>
      <p:font typeface="Lexend" panose="00000000000000000000"/>
      <p:regular r:id="rId45"/>
    </p:embeddedFont>
    <p:embeddedFont>
      <p:font typeface="Lexend Medium" panose="00000000000000000000"/>
      <p:regular r:id="rId46"/>
    </p:embeddedFont>
    <p:embeddedFont>
      <p:font typeface="Kalam" panose="02000000000000000000"/>
      <p:regular r:id="rId47"/>
    </p:embeddedFont>
    <p:embeddedFont>
      <p:font typeface="Lexend Light" panose="00000000000000000000"/>
      <p:regular r:id="rId48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6B25490-A881-49B4-955F-029672B1D7F7}">
  <a:tblStyle styleId="{D6B25490-A881-49B4-955F-029672B1D7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tags" Target="tags/tag1.xml" /><Relationship Id="rId45" Type="http://schemas.openxmlformats.org/officeDocument/2006/relationships/font" Target="fonts/font1.fntdata" /><Relationship Id="rId46" Type="http://schemas.openxmlformats.org/officeDocument/2006/relationships/font" Target="fonts/font2.fntdata" /><Relationship Id="rId47" Type="http://schemas.openxmlformats.org/officeDocument/2006/relationships/font" Target="fonts/font3.fntdata" /><Relationship Id="rId48" Type="http://schemas.openxmlformats.org/officeDocument/2006/relationships/font" Target="fonts/font4.fntdata" /><Relationship Id="rId49" Type="http://schemas.openxmlformats.org/officeDocument/2006/relationships/presProps" Target="presProps.xml" /><Relationship Id="rId5" Type="http://schemas.openxmlformats.org/officeDocument/2006/relationships/slide" Target="slides/slide3.xml" /><Relationship Id="rId50" Type="http://schemas.openxmlformats.org/officeDocument/2006/relationships/viewProps" Target="viewProps.xml" /><Relationship Id="rId51" Type="http://schemas.openxmlformats.org/officeDocument/2006/relationships/theme" Target="theme/theme1.xml" /><Relationship Id="rId52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sp>
        <p:nvSpPr>
          <p:cNvPr id="786" name="Google Shape;786;g28b6c64a801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8b6c64a80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3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g2870849934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870849934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g28201709f96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201709f96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6" name="Shape 806"/>
        <p:cNvGrpSpPr/>
        <p:nvPr/>
      </p:nvGrpSpPr>
      <p:grpSpPr>
        <a:xfrm>
          <a:off x="0" y="0"/>
          <a:ext cx="0" cy="0"/>
        </a:xfrm>
      </p:grpSpPr>
      <p:sp>
        <p:nvSpPr>
          <p:cNvPr id="807" name="Google Shape;807;g28201709f96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8201709f96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sp>
        <p:nvSpPr>
          <p:cNvPr id="819" name="Google Shape;819;g284ce13d4e1_0_72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g284ce13d4e1_0_7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g2870849934f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870849934f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sp>
        <p:nvSpPr>
          <p:cNvPr id="862" name="Google Shape;862;g2870849934f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70849934f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sp>
        <p:nvSpPr>
          <p:cNvPr id="875" name="Google Shape;875;g282c6104426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82c6104426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3" name="Shape 883"/>
        <p:cNvGrpSpPr/>
        <p:nvPr/>
      </p:nvGrpSpPr>
      <p:grpSpPr>
        <a:xfrm>
          <a:off x="0" y="0"/>
          <a:ext cx="0" cy="0"/>
        </a:xfrm>
      </p:grpSpPr>
      <p:sp>
        <p:nvSpPr>
          <p:cNvPr id="884" name="Google Shape;884;g282c6104426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82c6104426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g28201709f96_0_1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8201709f96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sp>
        <p:nvSpPr>
          <p:cNvPr id="923" name="Google Shape;923;g28201709f96_0_1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8201709f96_0_1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6" name="Shape 946"/>
        <p:cNvGrpSpPr/>
        <p:nvPr/>
      </p:nvGrpSpPr>
      <p:grpSpPr>
        <a:xfrm>
          <a:off x="0" y="0"/>
          <a:ext cx="0" cy="0"/>
        </a:xfrm>
      </p:grpSpPr>
      <p:sp>
        <p:nvSpPr>
          <p:cNvPr id="947" name="Google Shape;947;g28b6c64a801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8b6c64a801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g28201709f96_0_2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8201709f96_0_2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2" name="Shape 992"/>
        <p:cNvGrpSpPr/>
        <p:nvPr/>
      </p:nvGrpSpPr>
      <p:grpSpPr>
        <a:xfrm>
          <a:off x="0" y="0"/>
          <a:ext cx="0" cy="0"/>
        </a:xfrm>
      </p:grpSpPr>
      <p:sp>
        <p:nvSpPr>
          <p:cNvPr id="993" name="Google Shape;993;g28201709f96_0_2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8201709f96_0_2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7" name="Shape 1007"/>
        <p:cNvGrpSpPr/>
        <p:nvPr/>
      </p:nvGrpSpPr>
      <p:grpSpPr>
        <a:xfrm>
          <a:off x="0" y="0"/>
          <a:ext cx="0" cy="0"/>
        </a:xfrm>
      </p:grpSpPr>
      <p:sp>
        <p:nvSpPr>
          <p:cNvPr id="1008" name="Google Shape;1008;g286d7cc4f4f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86d7cc4f4f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7" name="Shape 1027"/>
        <p:cNvGrpSpPr/>
        <p:nvPr/>
      </p:nvGrpSpPr>
      <p:grpSpPr>
        <a:xfrm>
          <a:off x="0" y="0"/>
          <a:ext cx="0" cy="0"/>
        </a:xfrm>
      </p:grpSpPr>
      <p:sp>
        <p:nvSpPr>
          <p:cNvPr id="1028" name="Google Shape;1028;g286d7cc4f4f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86d7cc4f4f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sp>
        <p:nvSpPr>
          <p:cNvPr id="1046" name="Google Shape;1046;g28201709f96_0_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8201709f96_0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g28201709f96_0_2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8201709f96_0_2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4" name="Shape 1074"/>
        <p:cNvGrpSpPr/>
        <p:nvPr/>
      </p:nvGrpSpPr>
      <p:grpSpPr>
        <a:xfrm>
          <a:off x="0" y="0"/>
          <a:ext cx="0" cy="0"/>
        </a:xfrm>
      </p:grpSpPr>
      <p:sp>
        <p:nvSpPr>
          <p:cNvPr id="1075" name="Google Shape;1075;g28201709f96_0_3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201709f96_0_3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9" name="Shape 1109"/>
        <p:cNvGrpSpPr/>
        <p:nvPr/>
      </p:nvGrpSpPr>
      <p:grpSpPr>
        <a:xfrm>
          <a:off x="0" y="0"/>
          <a:ext cx="0" cy="0"/>
        </a:xfrm>
      </p:grpSpPr>
      <p:sp>
        <p:nvSpPr>
          <p:cNvPr id="1110" name="Google Shape;1110;g28201709f96_0_5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8201709f96_0_5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sp>
        <p:nvSpPr>
          <p:cNvPr id="1134" name="Google Shape;1134;g28201709f96_0_5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8201709f96_0_5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g28201709f96_0_4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8201709f96_0_4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sp>
        <p:nvSpPr>
          <p:cNvPr id="1192" name="Google Shape;1192;g28201709f96_0_5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8201709f96_0_5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7" name="Shape 1207"/>
        <p:cNvGrpSpPr/>
        <p:nvPr/>
      </p:nvGrpSpPr>
      <p:grpSpPr>
        <a:xfrm>
          <a:off x="0" y="0"/>
          <a:ext cx="0" cy="0"/>
        </a:xfrm>
      </p:grpSpPr>
      <p:sp>
        <p:nvSpPr>
          <p:cNvPr id="1208" name="Google Shape;1208;g282c6104426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82c6104426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7" name="Shape 1227"/>
        <p:cNvGrpSpPr/>
        <p:nvPr/>
      </p:nvGrpSpPr>
      <p:grpSpPr>
        <a:xfrm>
          <a:off x="0" y="0"/>
          <a:ext cx="0" cy="0"/>
        </a:xfrm>
      </p:grpSpPr>
      <p:sp>
        <p:nvSpPr>
          <p:cNvPr id="1228" name="Google Shape;1228;g28201709f96_0_6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8201709f96_0_6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2" name="Shape 1272"/>
        <p:cNvGrpSpPr/>
        <p:nvPr/>
      </p:nvGrpSpPr>
      <p:grpSpPr>
        <a:xfrm>
          <a:off x="0" y="0"/>
          <a:ext cx="0" cy="0"/>
        </a:xfrm>
      </p:grpSpPr>
      <p:sp>
        <p:nvSpPr>
          <p:cNvPr id="1273" name="Google Shape;1273;g28201709f96_0_7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8201709f96_0_7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3" name="Shape 1373"/>
        <p:cNvGrpSpPr/>
        <p:nvPr/>
      </p:nvGrpSpPr>
      <p:grpSpPr>
        <a:xfrm>
          <a:off x="0" y="0"/>
          <a:ext cx="0" cy="0"/>
        </a:xfrm>
      </p:grpSpPr>
      <p:sp>
        <p:nvSpPr>
          <p:cNvPr id="1374" name="Google Shape;1374;g282c6104426_0_1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82c6104426_0_1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9" name="Shape 1389"/>
        <p:cNvGrpSpPr/>
        <p:nvPr/>
      </p:nvGrpSpPr>
      <p:grpSpPr>
        <a:xfrm>
          <a:off x="0" y="0"/>
          <a:ext cx="0" cy="0"/>
        </a:xfrm>
      </p:grpSpPr>
      <p:sp>
        <p:nvSpPr>
          <p:cNvPr id="1390" name="Google Shape;1390;g28201709f96_0_10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28201709f96_0_10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21" name="Shape 1421"/>
        <p:cNvGrpSpPr/>
        <p:nvPr/>
      </p:nvGrpSpPr>
      <p:grpSpPr>
        <a:xfrm>
          <a:off x="0" y="0"/>
          <a:ext cx="0" cy="0"/>
        </a:xfrm>
      </p:grpSpPr>
      <p:sp>
        <p:nvSpPr>
          <p:cNvPr id="1422" name="Google Shape;1422;g28201709f96_0_10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8201709f96_0_10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6" name="Shape 1446"/>
        <p:cNvGrpSpPr/>
        <p:nvPr/>
      </p:nvGrpSpPr>
      <p:grpSpPr>
        <a:xfrm>
          <a:off x="0" y="0"/>
          <a:ext cx="0" cy="0"/>
        </a:xfrm>
      </p:grpSpPr>
      <p:sp>
        <p:nvSpPr>
          <p:cNvPr id="1447" name="Google Shape;1447;g28201709f96_0_10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28201709f96_0_10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61" name="Shape 1461"/>
        <p:cNvGrpSpPr/>
        <p:nvPr/>
      </p:nvGrpSpPr>
      <p:grpSpPr>
        <a:xfrm>
          <a:off x="0" y="0"/>
          <a:ext cx="0" cy="0"/>
        </a:xfrm>
      </p:grpSpPr>
      <p:sp>
        <p:nvSpPr>
          <p:cNvPr id="1462" name="Google Shape;1462;g28201709f96_0_1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8201709f96_0_1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5" name="Shape 1475"/>
        <p:cNvGrpSpPr/>
        <p:nvPr/>
      </p:nvGrpSpPr>
      <p:grpSpPr>
        <a:xfrm>
          <a:off x="0" y="0"/>
          <a:ext cx="0" cy="0"/>
        </a:xfrm>
      </p:grpSpPr>
      <p:sp>
        <p:nvSpPr>
          <p:cNvPr id="1476" name="Google Shape;1476;g28201709f96_0_1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8201709f96_0_1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3" name="Shape 1483"/>
        <p:cNvGrpSpPr/>
        <p:nvPr/>
      </p:nvGrpSpPr>
      <p:grpSpPr>
        <a:xfrm>
          <a:off x="0" y="0"/>
          <a:ext cx="0" cy="0"/>
        </a:xfrm>
      </p:grpSpPr>
      <p:sp>
        <p:nvSpPr>
          <p:cNvPr id="1484" name="Google Shape;1484;g286d7cc4f4f_0_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86d7cc4f4f_0_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1" name="Shape 1511"/>
        <p:cNvGrpSpPr/>
        <p:nvPr/>
      </p:nvGrpSpPr>
      <p:grpSpPr>
        <a:xfrm>
          <a:off x="0" y="0"/>
          <a:ext cx="0" cy="0"/>
        </a:xfrm>
      </p:grpSpPr>
      <p:sp>
        <p:nvSpPr>
          <p:cNvPr id="1512" name="Google Shape;1512;g286d7cc4f4f_0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86d7cc4f4f_0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1" name="Shape 1531"/>
        <p:cNvGrpSpPr/>
        <p:nvPr/>
      </p:nvGrpSpPr>
      <p:grpSpPr>
        <a:xfrm>
          <a:off x="0" y="0"/>
          <a:ext cx="0" cy="0"/>
        </a:xfrm>
      </p:grpSpPr>
      <p:sp>
        <p:nvSpPr>
          <p:cNvPr id="1532" name="Google Shape;1532;g286d7cc4f4f_0_1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286d7cc4f4f_0_1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6" name="Shape 1546"/>
        <p:cNvGrpSpPr/>
        <p:nvPr/>
      </p:nvGrpSpPr>
      <p:grpSpPr>
        <a:xfrm>
          <a:off x="0" y="0"/>
          <a:ext cx="0" cy="0"/>
        </a:xfrm>
      </p:grpSpPr>
      <p:sp>
        <p:nvSpPr>
          <p:cNvPr id="1547" name="Google Shape;1547;g286d7cc4f4f_0_1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86d7cc4f4f_0_1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8" name="Shape 1558"/>
        <p:cNvGrpSpPr/>
        <p:nvPr/>
      </p:nvGrpSpPr>
      <p:grpSpPr>
        <a:xfrm>
          <a:off x="0" y="0"/>
          <a:ext cx="0" cy="0"/>
        </a:xfrm>
      </p:grpSpPr>
      <p:sp>
        <p:nvSpPr>
          <p:cNvPr id="1559" name="Google Shape;155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4" name="Shape 1564"/>
        <p:cNvGrpSpPr/>
        <p:nvPr/>
      </p:nvGrpSpPr>
      <p:grpSpPr>
        <a:xfrm>
          <a:off x="0" y="0"/>
          <a:ext cx="0" cy="0"/>
        </a:xfrm>
      </p:grpSpPr>
      <p:sp>
        <p:nvSpPr>
          <p:cNvPr id="1565" name="Google Shape;156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9922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9695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9329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9329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20230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20230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 1">
  <p:cSld name="TITLE_AND_TWO_COLUMNS_1_1_9_1_3_1_1_1_2">
    <p:bg>
      <p:bgPr>
        <a:solidFill>
          <a:srgbClr val="E6F2F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88" name="Google Shape;38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4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2" name="Google Shape;392;p3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3" name="Google Shape;393;p3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99" name="Google Shape;39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</a:xfrm>
      </p:grpSpPr>
      <p:pic>
        <p:nvPicPr>
          <p:cNvPr id="404" name="Google Shape;404;p3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6" name="Google Shape;40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7" name="Google Shape;4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3" name="Google Shape;41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4" name="Google Shape;41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6" name="Google Shape;41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7" name="Google Shape;41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9" name="Google Shape;41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20" name="Google Shape;42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</a:xfrm>
      </p:grpSpPr>
      <p:pic>
        <p:nvPicPr>
          <p:cNvPr id="423" name="Google Shape;423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5" name="Google Shape;425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0" name="Google Shape;430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32" name="Google Shape;432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33" name="Google Shape;43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5" name="Google Shape;435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6" name="Google Shape;436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8" name="Google Shape;438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9" name="Google Shape;43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</a:xfrm>
      </p:grpSpPr>
      <p:pic>
        <p:nvPicPr>
          <p:cNvPr id="442" name="Google Shape;442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4" name="Google Shape;444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5" name="Google Shape;44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8" name="Google Shape;448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9" name="Google Shape;449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0" name="Google Shape;450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51" name="Google Shape;451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52" name="Google Shape;452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4" name="Google Shape;454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5" name="Google Shape;455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7" name="Google Shape;457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8" name="Google Shape;45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</a:xfrm>
      </p:grpSpPr>
      <p:pic>
        <p:nvPicPr>
          <p:cNvPr id="461" name="Google Shape;461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3" name="Google Shape;46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4" name="Google Shape;46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7" name="Google Shape;467;p38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0" name="Google Shape;470;p3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6" name="Google Shape;556;p4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7" name="Google Shape;557;p4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8" name="Google Shape;558;p4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9" name="Google Shape;559;p4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60" name="Google Shape;56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2" name="Google Shape;562;p4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63" name="Google Shape;56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5" name="Google Shape;565;p4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66" name="Google Shape;56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8" name="Google Shape;568;p4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9" name="Google Shape;56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</a:xfrm>
      </p:grpSpPr>
      <p:pic>
        <p:nvPicPr>
          <p:cNvPr id="572" name="Google Shape;572;p4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4" name="Google Shape;57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5" name="Google Shape;57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8" name="Google Shape;57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9" name="Google Shape;57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80" name="Google Shape;58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81" name="Google Shape;58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2" name="Google Shape;58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5" name="Google Shape;58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7" name="Google Shape;58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8" name="Google Shape;58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</a:xfrm>
      </p:grpSpPr>
      <p:pic>
        <p:nvPicPr>
          <p:cNvPr id="591" name="Google Shape;591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93" name="Google Shape;593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4" name="Google Shape;5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7" name="Google Shape;597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8" name="Google Shape;598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9" name="Google Shape;599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00" name="Google Shape;600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1" name="Google Shape;601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3" name="Google Shape;603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4" name="Google Shape;604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6" name="Google Shape;606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7" name="Google Shape;60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8" name="Google Shape;60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</a:xfrm>
      </p:grpSpPr>
      <p:pic>
        <p:nvPicPr>
          <p:cNvPr id="610" name="Google Shape;610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12" name="Google Shape;612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3" name="Google Shape;613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5" name="Google Shape;615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7" name="Google Shape;617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8" name="Google Shape;618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9" name="Google Shape;619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0" name="Google Shape;620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2" name="Google Shape;622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23" name="Google Shape;623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" name="Google Shape;624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5" name="Google Shape;625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6" name="Google Shape;62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" name="Google Shape;62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2" name="Google Shape;632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5" name="Google Shape;635;p46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36" name="Google Shape;636;p46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37" name="Google Shape;637;p46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38" name="Google Shape;638;p4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39" name="Google Shape;639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0" name="Google Shape;6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1" name="Google Shape;641;p4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2" name="Google Shape;642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4" name="Google Shape;644;p4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45" name="Google Shape;645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</a:xfrm>
      </p:grpSpPr>
      <p:pic>
        <p:nvPicPr>
          <p:cNvPr id="648" name="Google Shape;648;p4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0" name="Google Shape;650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1" name="Google Shape;65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</a:xfrm>
      </p:grpSpPr>
      <p:pic>
        <p:nvPicPr>
          <p:cNvPr id="655" name="Google Shape;655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7" name="Google Shape;657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8" name="Google Shape;65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0" name="Google Shape;660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</a:xfrm>
      </p:grpSpPr>
      <p:pic>
        <p:nvPicPr>
          <p:cNvPr id="662" name="Google Shape;662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4" name="Google Shape;664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5" name="Google Shape;66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7" name="Google Shape;667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75" name="Shape 675"/>
        <p:cNvGrpSpPr/>
        <p:nvPr/>
      </p:nvGrpSpPr>
      <p:grpSpPr>
        <a:xfrm>
          <a:off x="0" y="0"/>
          <a:ext cx="0" cy="0"/>
        </a:xfrm>
      </p:grpSpPr>
      <p:pic>
        <p:nvPicPr>
          <p:cNvPr id="676" name="Google Shape;676;p5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8" name="Google Shape;678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0" name="Google Shape;680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1" name="Google Shape;68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83" name="Shape 683"/>
        <p:cNvGrpSpPr/>
        <p:nvPr/>
      </p:nvGrpSpPr>
      <p:grpSpPr>
        <a:xfrm>
          <a:off x="0" y="0"/>
          <a:ext cx="0" cy="0"/>
        </a:xfrm>
      </p:grpSpPr>
      <p:pic>
        <p:nvPicPr>
          <p:cNvPr id="684" name="Google Shape;684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6" name="Google Shape;686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5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91" name="Shape 691"/>
        <p:cNvGrpSpPr/>
        <p:nvPr/>
      </p:nvGrpSpPr>
      <p:grpSpPr>
        <a:xfrm>
          <a:off x="0" y="0"/>
          <a:ext cx="0" cy="0"/>
        </a:xfrm>
      </p:grpSpPr>
      <p:pic>
        <p:nvPicPr>
          <p:cNvPr id="692" name="Google Shape;692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4" name="Google Shape;694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8" name="Google Shape;698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99" name="Shape 699"/>
        <p:cNvGrpSpPr/>
        <p:nvPr/>
      </p:nvGrpSpPr>
      <p:grpSpPr>
        <a:xfrm>
          <a:off x="0" y="0"/>
          <a:ext cx="0" cy="0"/>
        </a:xfrm>
      </p:grpSpPr>
      <p:pic>
        <p:nvPicPr>
          <p:cNvPr id="700" name="Google Shape;700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2" name="Google Shape;702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4" name="Google Shape;704;p5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6" name="Google Shape;706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</a:xfrm>
      </p:grpSpPr>
      <p:pic>
        <p:nvPicPr>
          <p:cNvPr id="708" name="Google Shape;708;p5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0" name="Google Shape;710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</a:xfrm>
      </p:grpSpPr>
      <p:pic>
        <p:nvPicPr>
          <p:cNvPr id="716" name="Google Shape;716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8" name="Google Shape;718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5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0" name="Google Shape;720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2" name="Google Shape;72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</a:xfrm>
      </p:grpSpPr>
      <p:pic>
        <p:nvPicPr>
          <p:cNvPr id="724" name="Google Shape;724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26" name="Google Shape;726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7" name="Google Shape;727;p5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9" name="Google Shape;729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0" name="Google Shape;7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pic>
        <p:nvPicPr>
          <p:cNvPr id="732" name="Google Shape;732;p5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34" name="Google Shape;734;p5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5" name="Google Shape;735;p5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7" name="Google Shape;737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8" name="Google Shape;738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39" name="Shape 739"/>
        <p:cNvGrpSpPr/>
        <p:nvPr/>
      </p:nvGrpSpPr>
      <p:grpSpPr>
        <a:xfrm>
          <a:off x="0" y="0"/>
          <a:ext cx="0" cy="0"/>
        </a:xfrm>
      </p:grpSpPr>
      <p:sp>
        <p:nvSpPr>
          <p:cNvPr id="740" name="Google Shape;740;p5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1" name="Google Shape;741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3" name="Google Shape;743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4" name="Google Shape;744;p5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45" name="Shape 745"/>
        <p:cNvGrpSpPr/>
        <p:nvPr/>
      </p:nvGrpSpPr>
      <p:grpSpPr>
        <a:xfrm>
          <a:off x="0" y="0"/>
          <a:ext cx="0" cy="0"/>
        </a:xfrm>
      </p:grpSpPr>
      <p:sp>
        <p:nvSpPr>
          <p:cNvPr id="746" name="Google Shape;746;p6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7" name="Google Shape;747;p60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pic>
        <p:nvPicPr>
          <p:cNvPr id="752" name="Google Shape;752;p6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sp>
        <p:nvSpPr>
          <p:cNvPr id="755" name="Google Shape;755;p6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6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6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pic>
        <p:nvPicPr>
          <p:cNvPr id="765" name="Google Shape;765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3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slideLayout" Target="../slideLayouts/slideLayout63.xml" /><Relationship Id="rId64" Type="http://schemas.openxmlformats.org/officeDocument/2006/relationships/image" Target="../media/image42.png" /><Relationship Id="rId65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0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9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Relationship Id="rId6" Type="http://schemas.openxmlformats.org/officeDocument/2006/relationships/image" Target="../media/image3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39.png" /><Relationship Id="rId4" Type="http://schemas.openxmlformats.org/officeDocument/2006/relationships/image" Target="../media/image56.png" /><Relationship Id="rId5" Type="http://schemas.openxmlformats.org/officeDocument/2006/relationships/image" Target="../media/image57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Relationship Id="rId8" Type="http://schemas.openxmlformats.org/officeDocument/2006/relationships/image" Target="../media/image60.png" /><Relationship Id="rId9" Type="http://schemas.openxmlformats.org/officeDocument/2006/relationships/image" Target="../media/image49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10" Type="http://schemas.openxmlformats.org/officeDocument/2006/relationships/image" Target="../media/image61.png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39.png" /><Relationship Id="rId4" Type="http://schemas.openxmlformats.org/officeDocument/2006/relationships/image" Target="../media/image56.png" /><Relationship Id="rId5" Type="http://schemas.openxmlformats.org/officeDocument/2006/relationships/image" Target="../media/image57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Relationship Id="rId8" Type="http://schemas.openxmlformats.org/officeDocument/2006/relationships/image" Target="../media/image60.png" /><Relationship Id="rId9" Type="http://schemas.openxmlformats.org/officeDocument/2006/relationships/image" Target="../media/image49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4.png" /><Relationship Id="rId4" Type="http://schemas.openxmlformats.org/officeDocument/2006/relationships/image" Target="../media/image62.png" /><Relationship Id="rId5" Type="http://schemas.openxmlformats.org/officeDocument/2006/relationships/image" Target="../media/image44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4.png" /><Relationship Id="rId4" Type="http://schemas.openxmlformats.org/officeDocument/2006/relationships/image" Target="../media/image62.png" /><Relationship Id="rId5" Type="http://schemas.openxmlformats.org/officeDocument/2006/relationships/image" Target="../media/image4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4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5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Relationship Id="rId5" Type="http://schemas.openxmlformats.org/officeDocument/2006/relationships/image" Target="../media/image68.png" /><Relationship Id="rId6" Type="http://schemas.openxmlformats.org/officeDocument/2006/relationships/image" Target="../media/image69.png" /><Relationship Id="rId7" Type="http://schemas.openxmlformats.org/officeDocument/2006/relationships/image" Target="../media/image70.png" /><Relationship Id="rId8" Type="http://schemas.openxmlformats.org/officeDocument/2006/relationships/image" Target="../media/image71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72.png" /><Relationship Id="rId4" Type="http://schemas.openxmlformats.org/officeDocument/2006/relationships/image" Target="../media/image73.jpeg" /><Relationship Id="rId5" Type="http://schemas.openxmlformats.org/officeDocument/2006/relationships/image" Target="../media/image48.png" /><Relationship Id="rId6" Type="http://schemas.openxmlformats.org/officeDocument/2006/relationships/image" Target="../media/image7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5.png" /><Relationship Id="rId4" Type="http://schemas.openxmlformats.org/officeDocument/2006/relationships/image" Target="../media/image39.png" /><Relationship Id="rId5" Type="http://schemas.openxmlformats.org/officeDocument/2006/relationships/image" Target="../media/image49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4.png" /><Relationship Id="rId4" Type="http://schemas.openxmlformats.org/officeDocument/2006/relationships/image" Target="../media/image76.png" /><Relationship Id="rId5" Type="http://schemas.openxmlformats.org/officeDocument/2006/relationships/image" Target="../media/image77.png" /><Relationship Id="rId6" Type="http://schemas.openxmlformats.org/officeDocument/2006/relationships/image" Target="../media/image38.png" /><Relationship Id="rId7" Type="http://schemas.openxmlformats.org/officeDocument/2006/relationships/image" Target="../media/image39.png" /><Relationship Id="rId8" Type="http://schemas.openxmlformats.org/officeDocument/2006/relationships/image" Target="../media/image49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79.png" /><Relationship Id="rId4" Type="http://schemas.openxmlformats.org/officeDocument/2006/relationships/image" Target="../media/image49.png" /><Relationship Id="rId5" Type="http://schemas.openxmlformats.org/officeDocument/2006/relationships/image" Target="../media/image39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4.png" /><Relationship Id="rId4" Type="http://schemas.openxmlformats.org/officeDocument/2006/relationships/image" Target="../media/image80.png" /><Relationship Id="rId5" Type="http://schemas.openxmlformats.org/officeDocument/2006/relationships/image" Target="../media/image81.png" /><Relationship Id="rId6" Type="http://schemas.openxmlformats.org/officeDocument/2006/relationships/image" Target="../media/image49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82.png" /><Relationship Id="rId4" Type="http://schemas.openxmlformats.org/officeDocument/2006/relationships/image" Target="../media/image83.png" /><Relationship Id="rId5" Type="http://schemas.openxmlformats.org/officeDocument/2006/relationships/image" Target="../media/image44.png" /><Relationship Id="rId6" Type="http://schemas.openxmlformats.org/officeDocument/2006/relationships/image" Target="../media/image39.png" /><Relationship Id="rId7" Type="http://schemas.openxmlformats.org/officeDocument/2006/relationships/image" Target="../media/image49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84.png" /><Relationship Id="rId4" Type="http://schemas.openxmlformats.org/officeDocument/2006/relationships/image" Target="../media/image39.png" /><Relationship Id="rId5" Type="http://schemas.openxmlformats.org/officeDocument/2006/relationships/image" Target="../media/image85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2.png" /><Relationship Id="rId4" Type="http://schemas.openxmlformats.org/officeDocument/2006/relationships/image" Target="../media/image4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49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84.png" /><Relationship Id="rId4" Type="http://schemas.openxmlformats.org/officeDocument/2006/relationships/image" Target="../media/image39.png" /><Relationship Id="rId5" Type="http://schemas.openxmlformats.org/officeDocument/2006/relationships/image" Target="../media/image85.png" /><Relationship Id="rId6" Type="http://schemas.openxmlformats.org/officeDocument/2006/relationships/image" Target="../media/image49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49.png" /><Relationship Id="rId4" Type="http://schemas.openxmlformats.org/officeDocument/2006/relationships/image" Target="../media/image48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44.png" /><Relationship Id="rId4" Type="http://schemas.openxmlformats.org/officeDocument/2006/relationships/image" Target="../media/image82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49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8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86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rotations</a:t>
            </a:r>
            <a:endParaRPr/>
          </a:p>
        </p:txBody>
      </p:sp>
      <p:sp>
        <p:nvSpPr>
          <p:cNvPr id="774" name="Google Shape;774;p65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6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7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the nature of rotations and appreciate what changes and what is invariant.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sp>
        <p:nvSpPr>
          <p:cNvPr id="789" name="Google Shape;789;p6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0"/>
              <a:t>The object is the starting figure before a transformation has been applied.</a:t>
            </a:r>
            <a:endParaRPr b="0"/>
          </a:p>
        </p:txBody>
      </p:sp>
      <p:sp>
        <p:nvSpPr>
          <p:cNvPr id="790" name="Google Shape;790;p6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0"/>
              <a:t>The image is the resulting figure after a transformation has been applied.</a:t>
            </a:r>
            <a:endParaRPr b="0"/>
          </a:p>
        </p:txBody>
      </p:sp>
      <p:sp>
        <p:nvSpPr>
          <p:cNvPr id="791" name="Google Shape;791;p6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0">
                <a:solidFill>
                  <a:schemeClr val="dk1"/>
                </a:solidFill>
                <a:highlight>
                  <a:schemeClr val="lt1"/>
                </a:highlight>
              </a:rPr>
              <a:t>If one shape can fit exactly on top of another using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rotation</a:t>
            </a:r>
            <a:r>
              <a:rPr lang="en-GB" sz="1800" b="0">
                <a:solidFill>
                  <a:schemeClr val="dk1"/>
                </a:solidFill>
                <a:highlight>
                  <a:schemeClr val="lt1"/>
                </a:highlight>
              </a:rPr>
              <a:t>, reflection or translation, then the shapes are congruent. </a:t>
            </a:r>
            <a:endParaRPr sz="1800" b="0"/>
          </a:p>
        </p:txBody>
      </p:sp>
      <p:sp>
        <p:nvSpPr>
          <p:cNvPr id="792" name="Google Shape;792;p68"/>
          <p:cNvSpPr txBox="1"/>
          <p:nvPr>
            <p:ph type="subTitle" idx="4"/>
          </p:nvPr>
        </p:nvSpPr>
        <p:spPr>
          <a:xfrm>
            <a:off x="324000" y="34180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0"/>
              <a:t>A property of a shape is invariant if that property has not changed after the shape is transformed.</a:t>
            </a:r>
            <a:endParaRPr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6" name="Shape 796"/>
        <p:cNvGrpSpPr/>
        <p:nvPr/>
      </p:nvGrpSpPr>
      <p:grpSpPr>
        <a:xfrm>
          <a:off x="0" y="0"/>
          <a:ext cx="0" cy="0"/>
        </a:xfrm>
      </p:grpSpPr>
      <p:sp>
        <p:nvSpPr>
          <p:cNvPr id="797" name="Google Shape;797;p69"/>
          <p:cNvSpPr txBox="1"/>
          <p:nvPr>
            <p:ph type="subTitle" idx="1"/>
          </p:nvPr>
        </p:nvSpPr>
        <p:spPr>
          <a:xfrm>
            <a:off x="324000" y="993650"/>
            <a:ext cx="8496000" cy="11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The </a:t>
            </a:r>
            <a:r>
              <a:rPr lang="en-GB"/>
              <a:t>rotation</a:t>
            </a:r>
            <a:r>
              <a:rPr lang="en-GB" b="0"/>
              <a:t> of an object is the turning of an object by a fixed amount and around a fixed point (called the centre of </a:t>
            </a:r>
            <a:r>
              <a:rPr lang="en-GB"/>
              <a:t>rotation</a:t>
            </a:r>
            <a:r>
              <a:rPr lang="en-GB" b="0"/>
              <a:t>), without the image being flipped or its size changing.</a:t>
            </a:r>
            <a:endParaRPr b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p70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</a:t>
            </a:r>
            <a:r>
              <a:rPr lang="en-GB" b="1"/>
              <a:t>rotations</a:t>
            </a:r>
            <a:endParaRPr b="1"/>
          </a:p>
        </p:txBody>
      </p:sp>
      <p:sp>
        <p:nvSpPr>
          <p:cNvPr id="803" name="Google Shape;803;p70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rotations</a:t>
            </a:r>
            <a:endParaRPr/>
          </a:p>
        </p:txBody>
      </p:sp>
      <p:pic>
        <p:nvPicPr>
          <p:cNvPr id="804" name="Google Shape;8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50" y="2059412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</a:t>
            </a:r>
            <a:r>
              <a:rPr lang="en-GB" b="1"/>
              <a:t>rotations </a:t>
            </a:r>
            <a:r>
              <a:rPr lang="en-GB"/>
              <a:t>in the real world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pic>
        <p:nvPicPr>
          <p:cNvPr id="810" name="Google Shape;810;p71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1108591" y="596344"/>
            <a:ext cx="3455252" cy="13903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 flipH="1">
            <a:off x="1388594" y="708219"/>
            <a:ext cx="3015000" cy="11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So turning a key to lock a door is the same as </a:t>
            </a:r>
            <a:r>
              <a:rPr lang="en-GB" sz="1700" b="1">
                <a:latin typeface="Lexend"/>
                <a:ea typeface="Lexend"/>
                <a:cs typeface="Lexend"/>
                <a:sym typeface="Lexend"/>
              </a:rPr>
              <a:t>rotating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a key to lock a door!</a:t>
            </a:r>
            <a:endParaRPr sz="1700">
              <a:solidFill>
                <a:srgbClr val="F3EEFB"/>
              </a:solidFill>
            </a:endParaRPr>
          </a:p>
        </p:txBody>
      </p:sp>
      <p:sp>
        <p:nvSpPr>
          <p:cNvPr id="812" name="Google Shape;812;p71"/>
          <p:cNvSpPr txBox="1"/>
          <p:nvPr>
            <p:ph type="body" idx="1"/>
          </p:nvPr>
        </p:nvSpPr>
        <p:spPr>
          <a:xfrm flipH="1">
            <a:off x="335875" y="2472550"/>
            <a:ext cx="3996000" cy="20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All these words describe the same action as </a:t>
            </a:r>
            <a:r>
              <a:rPr lang="en-GB" b="1"/>
              <a:t>rotating</a:t>
            </a:r>
            <a:r>
              <a:rPr lang="en-GB"/>
              <a:t>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    turn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    spin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revolve </a:t>
            </a:r>
            <a:endParaRPr/>
          </a:p>
        </p:txBody>
      </p:sp>
      <p:sp>
        <p:nvSpPr>
          <p:cNvPr id="813" name="Google Shape;81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pic>
        <p:nvPicPr>
          <p:cNvPr id="814" name="Google Shape;81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0" y="1058838"/>
            <a:ext cx="910425" cy="11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1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1169524" y="630275"/>
            <a:ext cx="2267602" cy="10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1"/>
          <p:cNvSpPr txBox="1"/>
          <p:nvPr/>
        </p:nvSpPr>
        <p:spPr>
          <a:xfrm flipH="1">
            <a:off x="1360376" y="748300"/>
            <a:ext cx="19470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What other words mean </a:t>
            </a:r>
            <a:r>
              <a:rPr lang="en-GB" sz="1700" b="1">
                <a:latin typeface="Lexend"/>
                <a:ea typeface="Lexend"/>
                <a:cs typeface="Lexend"/>
                <a:sym typeface="Lexend"/>
              </a:rPr>
              <a:t>rotate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?</a:t>
            </a:r>
            <a:endParaRPr sz="1700">
              <a:solidFill>
                <a:srgbClr val="F3EEFB"/>
              </a:solidFill>
            </a:endParaRPr>
          </a:p>
        </p:txBody>
      </p:sp>
      <p:pic>
        <p:nvPicPr>
          <p:cNvPr id="817" name="Google Shape;81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5199" y="709102"/>
            <a:ext cx="1684803" cy="1527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1" name="Shape 821"/>
        <p:cNvGrpSpPr/>
        <p:nvPr/>
      </p:nvGrpSpPr>
      <p:grpSpPr>
        <a:xfrm>
          <a:off x="0" y="0"/>
          <a:ext cx="0" cy="0"/>
        </a:xfrm>
      </p:grpSpPr>
      <p:sp>
        <p:nvSpPr>
          <p:cNvPr id="822" name="Google Shape;82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Identifying rotations in the real world</a:t>
            </a:r>
            <a:endParaRPr/>
          </a:p>
        </p:txBody>
      </p:sp>
      <p:sp>
        <p:nvSpPr>
          <p:cNvPr id="823" name="Google Shape;823;p72"/>
          <p:cNvSpPr txBox="1"/>
          <p:nvPr>
            <p:ph type="body" idx="1"/>
          </p:nvPr>
        </p:nvSpPr>
        <p:spPr>
          <a:xfrm>
            <a:off x="324000" y="759300"/>
            <a:ext cx="82377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b="1"/>
              <a:t>Rotations </a:t>
            </a:r>
            <a:r>
              <a:rPr lang="en-GB"/>
              <a:t>are useful everywhere in the world.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You will have </a:t>
            </a:r>
            <a:r>
              <a:rPr lang="en-GB" b="1"/>
              <a:t>rotated </a:t>
            </a:r>
            <a:r>
              <a:rPr lang="en-GB"/>
              <a:t>things without even realising it.</a:t>
            </a:r>
            <a:endParaRPr/>
          </a:p>
        </p:txBody>
      </p:sp>
      <p:sp>
        <p:nvSpPr>
          <p:cNvPr id="824" name="Google Shape;824;p72"/>
          <p:cNvSpPr txBox="1"/>
          <p:nvPr>
            <p:ph type="body" idx="1"/>
          </p:nvPr>
        </p:nvSpPr>
        <p:spPr>
          <a:xfrm>
            <a:off x="676775" y="2098600"/>
            <a:ext cx="38952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For example, you cannot complete this jigsaw puzzle if you only translate the missing piece.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endParaRPr sz="1800"/>
          </a:p>
        </p:txBody>
      </p:sp>
      <p:sp>
        <p:nvSpPr>
          <p:cNvPr id="825" name="Google Shape;825;p72"/>
          <p:cNvSpPr txBox="1"/>
          <p:nvPr>
            <p:ph type="body" idx="1"/>
          </p:nvPr>
        </p:nvSpPr>
        <p:spPr>
          <a:xfrm>
            <a:off x="676775" y="3398138"/>
            <a:ext cx="38952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You have to </a:t>
            </a:r>
            <a:r>
              <a:rPr lang="en-GB" sz="1800" b="1"/>
              <a:t>rotate </a:t>
            </a:r>
            <a:r>
              <a:rPr lang="en-GB" sz="1800"/>
              <a:t>it first so it fits in with the rest of the puzzle.</a:t>
            </a:r>
            <a:endParaRPr sz="1800"/>
          </a:p>
        </p:txBody>
      </p:sp>
      <p:pic>
        <p:nvPicPr>
          <p:cNvPr id="826" name="Google Shape;826;p72"/>
          <p:cNvPicPr preferRelativeResize="0"/>
          <p:nvPr/>
        </p:nvPicPr>
        <p:blipFill>
          <a:blip r:embed="rId3">
            <a:alphaModFix/>
          </a:blip>
          <a:srcRect r="35483"/>
          <a:stretch>
            <a:fillRect/>
          </a:stretch>
        </p:blipFill>
        <p:spPr>
          <a:xfrm>
            <a:off x="5022162" y="2098600"/>
            <a:ext cx="1932819" cy="191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7086601" y="2426275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6990000" y="2481328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6816056" y="2599092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6684438" y="2716856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6506649" y="2842049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6350595" y="2948738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6117942" y="3094028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7088925" y="2426275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>
            <a:off x="7088925" y="2426275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1800004">
            <a:off x="7088924" y="2426276"/>
            <a:ext cx="983675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3599996">
            <a:off x="7088924" y="2426275"/>
            <a:ext cx="983675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5400000">
            <a:off x="7087791" y="2426274"/>
            <a:ext cx="983674" cy="98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7200004">
            <a:off x="7087790" y="2426275"/>
            <a:ext cx="983675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7086385" y="2426276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931329" y="2571566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784082" y="2757312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674190" y="2930415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527557" y="3055274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353615" y="3171441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193265" y="3197888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2"/>
          <p:cNvPicPr preferRelativeResize="0"/>
          <p:nvPr/>
        </p:nvPicPr>
        <p:blipFill>
          <a:blip r:embed="rId3">
            <a:alphaModFix/>
          </a:blip>
          <a:srcRect l="64053" t="29003" r="3112" b="19223"/>
          <a:stretch>
            <a:fillRect/>
          </a:stretch>
        </p:blipFill>
        <p:spPr>
          <a:xfrm rot="8100000">
            <a:off x="6103476" y="3169819"/>
            <a:ext cx="983674" cy="98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3523" y="412472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5313" y="41038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2"/>
          <p:cNvSpPr txBox="1"/>
          <p:nvPr/>
        </p:nvSpPr>
        <p:spPr>
          <a:xfrm>
            <a:off x="7250094" y="2170209"/>
            <a:ext cx="8202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8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1800" b="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1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2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03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04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5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2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04"/>
                            </p:stCondLst>
                            <p:childTnLst>
                              <p:par>
                                <p:cTn id="64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06"/>
                            </p:stCondLst>
                            <p:childTnLst>
                              <p:par>
                                <p:cTn id="69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808"/>
                            </p:stCondLst>
                            <p:childTnLst>
                              <p:par>
                                <p:cTn id="74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10"/>
                            </p:stCondLst>
                            <p:childTnLst>
                              <p:par>
                                <p:cTn id="79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212"/>
                            </p:stCondLst>
                            <p:childTnLst>
                              <p:par>
                                <p:cTn id="84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414"/>
                            </p:stCondLst>
                            <p:childTnLst>
                              <p:par>
                                <p:cTn id="89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616"/>
                            </p:stCondLst>
                            <p:childTnLst>
                              <p:par>
                                <p:cTn id="94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818"/>
                            </p:stCondLst>
                            <p:childTnLst>
                              <p:par>
                                <p:cTn id="99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20"/>
                            </p:stCondLst>
                            <p:childTnLst>
                              <p:par>
                                <p:cTn id="104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222"/>
                            </p:stCondLst>
                            <p:childTnLst>
                              <p:par>
                                <p:cTn id="109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424"/>
                            </p:stCondLst>
                            <p:childTnLst>
                              <p:par>
                                <p:cTn id="114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4" name="Shape 854"/>
        <p:cNvGrpSpPr/>
        <p:nvPr/>
      </p:nvGrpSpPr>
      <p:grpSpPr>
        <a:xfrm>
          <a:off x="0" y="0"/>
          <a:ext cx="0" cy="0"/>
        </a:xfrm>
      </p:grpSpPr>
      <p:sp>
        <p:nvSpPr>
          <p:cNvPr id="855" name="Google Shape;855;p73"/>
          <p:cNvSpPr txBox="1"/>
          <p:nvPr>
            <p:ph type="body" idx="1"/>
          </p:nvPr>
        </p:nvSpPr>
        <p:spPr>
          <a:xfrm>
            <a:off x="324000" y="759300"/>
            <a:ext cx="60663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Get a pencil.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Lie it flat on the table with the tip (the part you write with) pointing away from you.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pencil cannot be lifted off of the table.</a:t>
            </a:r>
            <a:endParaRPr sz="1800"/>
          </a:p>
        </p:txBody>
      </p:sp>
      <p:sp>
        <p:nvSpPr>
          <p:cNvPr id="856" name="Google Shape;85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sp>
        <p:nvSpPr>
          <p:cNvPr id="857" name="Google Shape;857;p73"/>
          <p:cNvSpPr txBox="1"/>
          <p:nvPr>
            <p:ph type="body" idx="1"/>
          </p:nvPr>
        </p:nvSpPr>
        <p:spPr>
          <a:xfrm>
            <a:off x="324000" y="2408575"/>
            <a:ext cx="60663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 b="1"/>
              <a:t>Rotate</a:t>
            </a:r>
            <a:r>
              <a:rPr lang="en-GB" sz="1800"/>
              <a:t> your pencil so that the tip is now pointing left.</a:t>
            </a:r>
            <a:endParaRPr sz="1800"/>
          </a:p>
          <a:p>
            <a:pPr marL="45720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800"/>
              <a:t>     In how many ways can you do this?</a:t>
            </a:r>
            <a:endParaRPr sz="1800"/>
          </a:p>
        </p:txBody>
      </p:sp>
      <p:sp>
        <p:nvSpPr>
          <p:cNvPr id="858" name="Google Shape;858;p73"/>
          <p:cNvSpPr txBox="1"/>
          <p:nvPr>
            <p:ph type="body" idx="1"/>
          </p:nvPr>
        </p:nvSpPr>
        <p:spPr>
          <a:xfrm>
            <a:off x="522425" y="3643900"/>
            <a:ext cx="60663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infinite possibilities for this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easiest way is to perform a quarter-turn     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59" name="Google Shape;85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0925" y="852549"/>
            <a:ext cx="1752450" cy="13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3"/>
          <p:cNvPicPr preferRelativeResize="0"/>
          <p:nvPr/>
        </p:nvPicPr>
        <p:blipFill>
          <a:blip r:embed="rId4">
            <a:alphaModFix/>
          </a:blip>
          <a:srcRect l="70838" t="50044" r="14808" b="36882"/>
          <a:stretch>
            <a:fillRect/>
          </a:stretch>
        </p:blipFill>
        <p:spPr>
          <a:xfrm rot="-268605" flipH="1">
            <a:off x="4904897" y="3954103"/>
            <a:ext cx="336278" cy="30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4" name="Shape 864"/>
        <p:cNvGrpSpPr/>
        <p:nvPr/>
      </p:nvGrpSpPr>
      <p:grpSpPr>
        <a:xfrm>
          <a:off x="0" y="0"/>
          <a:ext cx="0" cy="0"/>
        </a:xfrm>
      </p:grpSpPr>
      <p:sp>
        <p:nvSpPr>
          <p:cNvPr id="865" name="Google Shape;865;p74"/>
          <p:cNvSpPr txBox="1"/>
          <p:nvPr>
            <p:ph type="body" idx="1"/>
          </p:nvPr>
        </p:nvSpPr>
        <p:spPr>
          <a:xfrm>
            <a:off x="434975" y="3284175"/>
            <a:ext cx="81294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infinite possibilities for this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two easiest ways are to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it a quarter turn      , or three-quarters     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6" name="Google Shape;866;p74"/>
          <p:cNvSpPr txBox="1"/>
          <p:nvPr>
            <p:ph type="body" idx="1"/>
          </p:nvPr>
        </p:nvSpPr>
        <p:spPr>
          <a:xfrm>
            <a:off x="324000" y="1778542"/>
            <a:ext cx="60663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 b="1"/>
              <a:t>Rotate</a:t>
            </a:r>
            <a:r>
              <a:rPr lang="en-GB" sz="1800"/>
              <a:t> your pencil so that the tip is now pointing right. </a:t>
            </a:r>
            <a:endParaRPr sz="1800"/>
          </a:p>
          <a:p>
            <a:pPr marL="457200" lvl="0" indent="0" algn="l" rtl="0">
              <a:spcBef>
                <a:spcPts val="400"/>
              </a:spcBef>
              <a:spcAft>
                <a:spcPct val="0"/>
              </a:spcAft>
              <a:buNone/>
            </a:pPr>
            <a:r>
              <a:rPr lang="en-GB" sz="1800"/>
              <a:t>     Can you do this in two different ways?</a:t>
            </a:r>
            <a:endParaRPr sz="1800"/>
          </a:p>
          <a:p>
            <a:pPr marL="45720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800"/>
              <a:t>     Can you describe what you’ve done?</a:t>
            </a:r>
            <a:endParaRPr sz="1800"/>
          </a:p>
        </p:txBody>
      </p:sp>
      <p:sp>
        <p:nvSpPr>
          <p:cNvPr id="867" name="Google Shape;867;p74"/>
          <p:cNvSpPr txBox="1"/>
          <p:nvPr>
            <p:ph type="body" idx="1"/>
          </p:nvPr>
        </p:nvSpPr>
        <p:spPr>
          <a:xfrm>
            <a:off x="324000" y="759300"/>
            <a:ext cx="60663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Place your pencil so the tip is pointing away from you again. The pencil must stay touching the table.</a:t>
            </a:r>
            <a:endParaRPr sz="1800"/>
          </a:p>
        </p:txBody>
      </p:sp>
      <p:sp>
        <p:nvSpPr>
          <p:cNvPr id="868" name="Google Shape;8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pic>
        <p:nvPicPr>
          <p:cNvPr id="869" name="Google Shape;86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0925" y="852549"/>
            <a:ext cx="1752450" cy="13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4"/>
          <p:cNvPicPr preferRelativeResize="0"/>
          <p:nvPr/>
        </p:nvPicPr>
        <p:blipFill>
          <a:blip r:embed="rId4">
            <a:alphaModFix/>
          </a:blip>
          <a:srcRect l="70838" t="50044" r="14808" b="36882"/>
          <a:stretch>
            <a:fillRect/>
          </a:stretch>
        </p:blipFill>
        <p:spPr>
          <a:xfrm rot="268605">
            <a:off x="5660372" y="3625091"/>
            <a:ext cx="336278" cy="309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1" name="Google Shape;871;p74"/>
          <p:cNvGrpSpPr/>
          <p:nvPr/>
        </p:nvGrpSpPr>
        <p:grpSpPr>
          <a:xfrm rot="-5400000">
            <a:off x="7917546" y="3562425"/>
            <a:ext cx="405776" cy="433921"/>
            <a:chOff x="7917546" y="3562425"/>
            <a:chExt cx="405776" cy="433921"/>
          </a:xfrm>
        </p:grpSpPr>
        <p:pic>
          <p:nvPicPr>
            <p:cNvPr id="872" name="Google Shape;872;p74"/>
            <p:cNvPicPr preferRelativeResize="0"/>
            <p:nvPr/>
          </p:nvPicPr>
          <p:blipFill>
            <a:blip r:embed="rId4">
              <a:alphaModFix/>
            </a:blip>
            <a:srcRect l="61925" t="50044" r="14808" b="36882"/>
            <a:stretch>
              <a:fillRect/>
            </a:stretch>
          </p:blipFill>
          <p:spPr>
            <a:xfrm rot="-5635868" flipH="1">
              <a:off x="7841474" y="3661404"/>
              <a:ext cx="417402" cy="2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3" name="Google Shape;873;p74"/>
            <p:cNvPicPr preferRelativeResize="0"/>
            <p:nvPr/>
          </p:nvPicPr>
          <p:blipFill>
            <a:blip r:embed="rId4">
              <a:alphaModFix/>
            </a:blip>
            <a:srcRect l="61924" t="50045" r="27151" b="36882"/>
            <a:stretch>
              <a:fillRect/>
            </a:stretch>
          </p:blipFill>
          <p:spPr>
            <a:xfrm rot="70" flipH="1">
              <a:off x="8127346" y="3562427"/>
              <a:ext cx="195976" cy="23719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p75"/>
          <p:cNvSpPr txBox="1"/>
          <p:nvPr>
            <p:ph type="body" idx="1"/>
          </p:nvPr>
        </p:nvSpPr>
        <p:spPr>
          <a:xfrm>
            <a:off x="324000" y="2407925"/>
            <a:ext cx="84960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 b="1"/>
              <a:t>Rotate</a:t>
            </a:r>
            <a:r>
              <a:rPr lang="en-GB" sz="1800"/>
              <a:t> your pencil so that the tip is pointing towards the door. </a:t>
            </a:r>
            <a:br>
              <a:rPr lang="en-GB" sz="1800"/>
            </a:br>
            <a:r>
              <a:rPr lang="en-GB" sz="1800"/>
              <a:t>What is the most complicated </a:t>
            </a:r>
            <a:r>
              <a:rPr lang="en-GB" sz="1800" b="1"/>
              <a:t>rotation</a:t>
            </a:r>
            <a:r>
              <a:rPr lang="en-GB" sz="1800"/>
              <a:t> you can create to make this happen?</a:t>
            </a:r>
            <a:endParaRPr sz="1800"/>
          </a:p>
        </p:txBody>
      </p:sp>
      <p:sp>
        <p:nvSpPr>
          <p:cNvPr id="879" name="Google Shape;879;p75"/>
          <p:cNvSpPr txBox="1"/>
          <p:nvPr>
            <p:ph type="body" idx="1"/>
          </p:nvPr>
        </p:nvSpPr>
        <p:spPr>
          <a:xfrm>
            <a:off x="324000" y="759300"/>
            <a:ext cx="60663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Get a pencil.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Lie it flat on the table with the tip (the part you write with) pointing away from you.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pencil cannot be lifted off of the table.</a:t>
            </a:r>
            <a:endParaRPr sz="1800"/>
          </a:p>
        </p:txBody>
      </p:sp>
      <p:sp>
        <p:nvSpPr>
          <p:cNvPr id="880" name="Google Shape;88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pic>
        <p:nvPicPr>
          <p:cNvPr id="881" name="Google Shape;88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0925" y="852549"/>
            <a:ext cx="1752450" cy="13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5"/>
          <p:cNvSpPr txBox="1"/>
          <p:nvPr>
            <p:ph type="body" idx="1"/>
          </p:nvPr>
        </p:nvSpPr>
        <p:spPr>
          <a:xfrm>
            <a:off x="720775" y="3386475"/>
            <a:ext cx="7564500" cy="10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4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complicated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could involve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rotating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it through multiple full turns before stopping with the point towards the door.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pic>
        <p:nvPicPr>
          <p:cNvPr id="887" name="Google Shape;88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321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6"/>
          <p:cNvPicPr preferRelativeResize="0"/>
          <p:nvPr/>
        </p:nvPicPr>
        <p:blipFill>
          <a:blip r:embed="rId4">
            <a:alphaModFix/>
          </a:blip>
          <a:srcRect l="78007" b="73178"/>
          <a:stretch>
            <a:fillRect/>
          </a:stretch>
        </p:blipFill>
        <p:spPr>
          <a:xfrm rot="5400000">
            <a:off x="3482850" y="2218289"/>
            <a:ext cx="1126773" cy="92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6"/>
          <p:cNvPicPr preferRelativeResize="0"/>
          <p:nvPr/>
        </p:nvPicPr>
        <p:blipFill>
          <a:blip r:embed="rId4">
            <a:alphaModFix/>
          </a:blip>
          <a:srcRect l="39004" t="50803" r="39002" b="19693"/>
          <a:stretch>
            <a:fillRect/>
          </a:stretch>
        </p:blipFill>
        <p:spPr>
          <a:xfrm rot="10800000">
            <a:off x="4793073" y="2215751"/>
            <a:ext cx="1126773" cy="1017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6"/>
          <p:cNvPicPr preferRelativeResize="0"/>
          <p:nvPr/>
        </p:nvPicPr>
        <p:blipFill>
          <a:blip r:embed="rId5">
            <a:alphaModFix/>
          </a:blip>
          <a:srcRect l="26533" t="17095" r="26538" b="17102"/>
          <a:stretch>
            <a:fillRect/>
          </a:stretch>
        </p:blipFill>
        <p:spPr>
          <a:xfrm>
            <a:off x="644300" y="2275774"/>
            <a:ext cx="2404300" cy="2268546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6"/>
          <p:cNvSpPr txBox="1"/>
          <p:nvPr>
            <p:ph type="body" idx="1"/>
          </p:nvPr>
        </p:nvSpPr>
        <p:spPr>
          <a:xfrm>
            <a:off x="324000" y="759300"/>
            <a:ext cx="8237700" cy="10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Which of these jigsaw pieces, when </a:t>
            </a:r>
            <a:r>
              <a:rPr lang="en-GB" sz="2000" b="1"/>
              <a:t>rotated</a:t>
            </a:r>
            <a:r>
              <a:rPr lang="en-GB" sz="2000"/>
              <a:t>, complete the jigsaw puzzle?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Can you describe what you have to do to that jigsaw piece to make it fit?</a:t>
            </a:r>
            <a:endParaRPr sz="2000"/>
          </a:p>
        </p:txBody>
      </p:sp>
      <p:sp>
        <p:nvSpPr>
          <p:cNvPr id="892" name="Google Shape;89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grpSp>
        <p:nvGrpSpPr>
          <p:cNvPr id="893" name="Google Shape;893;p76"/>
          <p:cNvGrpSpPr/>
          <p:nvPr/>
        </p:nvGrpSpPr>
        <p:grpSpPr>
          <a:xfrm>
            <a:off x="3858640" y="3276747"/>
            <a:ext cx="375224" cy="375178"/>
            <a:chOff x="1020916" y="1442088"/>
            <a:chExt cx="457200" cy="457200"/>
          </a:xfrm>
        </p:grpSpPr>
        <p:pic>
          <p:nvPicPr>
            <p:cNvPr id="894" name="Google Shape;894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6" name="Google Shape;896;p76"/>
          <p:cNvGrpSpPr/>
          <p:nvPr/>
        </p:nvGrpSpPr>
        <p:grpSpPr>
          <a:xfrm>
            <a:off x="5234173" y="3276747"/>
            <a:ext cx="375224" cy="375178"/>
            <a:chOff x="1020916" y="1442088"/>
            <a:chExt cx="457200" cy="457200"/>
          </a:xfrm>
        </p:grpSpPr>
        <p:pic>
          <p:nvPicPr>
            <p:cNvPr id="897" name="Google Shape;897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6"/>
          <p:cNvGrpSpPr/>
          <p:nvPr/>
        </p:nvGrpSpPr>
        <p:grpSpPr>
          <a:xfrm>
            <a:off x="6609705" y="3276747"/>
            <a:ext cx="375224" cy="375178"/>
            <a:chOff x="1020916" y="1442088"/>
            <a:chExt cx="457200" cy="457200"/>
          </a:xfrm>
        </p:grpSpPr>
        <p:pic>
          <p:nvPicPr>
            <p:cNvPr id="900" name="Google Shape;900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1" name="Google Shape;901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2" name="Google Shape;902;p76"/>
          <p:cNvSpPr txBox="1"/>
          <p:nvPr>
            <p:ph type="body" idx="1"/>
          </p:nvPr>
        </p:nvSpPr>
        <p:spPr>
          <a:xfrm>
            <a:off x="7259625" y="3273000"/>
            <a:ext cx="1465200" cy="6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Rotate </a:t>
            </a:r>
            <a:r>
              <a:rPr lang="en-GB" sz="1800"/>
              <a:t>it a quarter turn.</a:t>
            </a:r>
            <a:endParaRPr sz="1800"/>
          </a:p>
        </p:txBody>
      </p:sp>
      <p:pic>
        <p:nvPicPr>
          <p:cNvPr id="903" name="Google Shape;903;p76"/>
          <p:cNvPicPr preferRelativeResize="0"/>
          <p:nvPr/>
        </p:nvPicPr>
        <p:blipFill>
          <a:blip r:embed="rId4">
            <a:alphaModFix/>
          </a:blip>
          <a:srcRect l="77553" t="53805" r="453" b="19372"/>
          <a:stretch>
            <a:fillRect/>
          </a:stretch>
        </p:blipFill>
        <p:spPr>
          <a:xfrm rot="-5400000">
            <a:off x="6233925" y="2204907"/>
            <a:ext cx="1126773" cy="92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6"/>
          <p:cNvPicPr preferRelativeResize="0"/>
          <p:nvPr/>
        </p:nvPicPr>
        <p:blipFill>
          <a:blip r:embed="rId4">
            <a:alphaModFix/>
          </a:blip>
          <a:srcRect l="78007" b="73178"/>
          <a:stretch>
            <a:fillRect/>
          </a:stretch>
        </p:blipFill>
        <p:spPr>
          <a:xfrm rot="10800000">
            <a:off x="3482850" y="3727864"/>
            <a:ext cx="1126773" cy="92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6"/>
          <p:cNvPicPr preferRelativeResize="0"/>
          <p:nvPr/>
        </p:nvPicPr>
        <p:blipFill>
          <a:blip r:embed="rId4">
            <a:alphaModFix/>
          </a:blip>
          <a:srcRect l="39004" t="50803" r="39002" b="19693"/>
          <a:stretch>
            <a:fillRect/>
          </a:stretch>
        </p:blipFill>
        <p:spPr>
          <a:xfrm rot="-5400000">
            <a:off x="4793073" y="3725326"/>
            <a:ext cx="1126773" cy="1017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6"/>
          <p:cNvPicPr preferRelativeResize="0"/>
          <p:nvPr/>
        </p:nvPicPr>
        <p:blipFill>
          <a:blip r:embed="rId4">
            <a:alphaModFix/>
          </a:blip>
          <a:srcRect l="77553" t="53805" r="453" b="19372"/>
          <a:stretch>
            <a:fillRect/>
          </a:stretch>
        </p:blipFill>
        <p:spPr>
          <a:xfrm>
            <a:off x="6233925" y="3796124"/>
            <a:ext cx="1126773" cy="92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6"/>
          <p:cNvPicPr preferRelativeResize="0"/>
          <p:nvPr/>
        </p:nvPicPr>
        <p:blipFill>
          <a:blip r:embed="rId4">
            <a:alphaModFix/>
          </a:blip>
          <a:srcRect l="77553" t="53805" r="453" b="19372"/>
          <a:stretch>
            <a:fillRect/>
          </a:stretch>
        </p:blipFill>
        <p:spPr>
          <a:xfrm>
            <a:off x="2002321" y="3645510"/>
            <a:ext cx="1126773" cy="924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1" name="Shape 911"/>
        <p:cNvGrpSpPr/>
        <p:nvPr/>
      </p:nvGrpSpPr>
      <p:grpSpPr>
        <a:xfrm>
          <a:off x="0" y="0"/>
          <a:ext cx="0" cy="0"/>
        </a:xfrm>
      </p:grpSpPr>
      <p:sp>
        <p:nvSpPr>
          <p:cNvPr id="912" name="Google Shape;912;p77"/>
          <p:cNvSpPr txBox="1"/>
          <p:nvPr>
            <p:ph type="body" idx="1"/>
          </p:nvPr>
        </p:nvSpPr>
        <p:spPr>
          <a:xfrm>
            <a:off x="324000" y="759300"/>
            <a:ext cx="8237700" cy="10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car sticker is </a:t>
            </a:r>
            <a:r>
              <a:rPr lang="en-GB" sz="2000" b="1"/>
              <a:t>rotated</a:t>
            </a:r>
            <a:r>
              <a:rPr lang="en-GB" sz="2000"/>
              <a:t> so its wheels are on the road, which direction will the car be facing: left or right?</a:t>
            </a:r>
            <a:endParaRPr sz="2000"/>
          </a:p>
        </p:txBody>
      </p:sp>
      <p:sp>
        <p:nvSpPr>
          <p:cNvPr id="913" name="Google Shape;91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pic>
        <p:nvPicPr>
          <p:cNvPr id="914" name="Google Shape;914;p77"/>
          <p:cNvPicPr preferRelativeResize="0"/>
          <p:nvPr/>
        </p:nvPicPr>
        <p:blipFill>
          <a:blip r:embed="rId3">
            <a:alphaModFix/>
          </a:blip>
          <a:srcRect l="28437" t="85564" r="28442"/>
          <a:stretch>
            <a:fillRect/>
          </a:stretch>
        </p:blipFill>
        <p:spPr>
          <a:xfrm>
            <a:off x="703550" y="2798175"/>
            <a:ext cx="1796975" cy="44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001" flipH="1">
            <a:off x="1148650" y="1672562"/>
            <a:ext cx="906775" cy="9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7"/>
          <p:cNvPicPr preferRelativeResize="0"/>
          <p:nvPr/>
        </p:nvPicPr>
        <p:blipFill>
          <a:blip r:embed="rId3">
            <a:alphaModFix/>
          </a:blip>
          <a:srcRect l="28437" t="85564" r="28442"/>
          <a:stretch>
            <a:fillRect/>
          </a:stretch>
        </p:blipFill>
        <p:spPr>
          <a:xfrm>
            <a:off x="3496125" y="2798175"/>
            <a:ext cx="1796975" cy="44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3941225" y="1672562"/>
            <a:ext cx="906775" cy="94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0" flipH="1">
            <a:off x="3989463" y="1672562"/>
            <a:ext cx="906775" cy="94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00000" flipH="1">
            <a:off x="3989463" y="1672562"/>
            <a:ext cx="906775" cy="94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43991" flipH="1">
            <a:off x="3989462" y="1672562"/>
            <a:ext cx="906775" cy="9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7"/>
          <p:cNvSpPr txBox="1"/>
          <p:nvPr>
            <p:ph type="body" idx="1"/>
          </p:nvPr>
        </p:nvSpPr>
        <p:spPr>
          <a:xfrm>
            <a:off x="3496125" y="3551875"/>
            <a:ext cx="2082000" cy="48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car will be facing to the left.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5" name="Shape 925"/>
        <p:cNvGrpSpPr/>
        <p:nvPr/>
      </p:nvGrpSpPr>
      <p:grpSpPr>
        <a:xfrm>
          <a:off x="0" y="0"/>
          <a:ext cx="0" cy="0"/>
        </a:xfrm>
      </p:grpSpPr>
      <p:sp>
        <p:nvSpPr>
          <p:cNvPr id="926" name="Google Shape;926;p78"/>
          <p:cNvSpPr txBox="1"/>
          <p:nvPr>
            <p:ph type="body" idx="1"/>
          </p:nvPr>
        </p:nvSpPr>
        <p:spPr>
          <a:xfrm>
            <a:off x="324000" y="759300"/>
            <a:ext cx="5932800" cy="41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of the shapes below can you </a:t>
            </a:r>
            <a:r>
              <a:rPr lang="en-GB" b="1"/>
              <a:t>rotate</a:t>
            </a:r>
            <a:r>
              <a:rPr lang="en-GB"/>
              <a:t> and fit into the space of the shape to the right so that the result is a rectangle?</a:t>
            </a:r>
            <a:endParaRPr/>
          </a:p>
        </p:txBody>
      </p:sp>
      <p:sp>
        <p:nvSpPr>
          <p:cNvPr id="927" name="Google Shape;92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grpSp>
        <p:nvGrpSpPr>
          <p:cNvPr id="928" name="Google Shape;928;p78"/>
          <p:cNvGrpSpPr/>
          <p:nvPr/>
        </p:nvGrpSpPr>
        <p:grpSpPr>
          <a:xfrm>
            <a:off x="485164" y="4194425"/>
            <a:ext cx="457200" cy="457200"/>
            <a:chOff x="1020916" y="1442088"/>
            <a:chExt cx="457200" cy="457200"/>
          </a:xfrm>
        </p:grpSpPr>
        <p:pic>
          <p:nvPicPr>
            <p:cNvPr id="929" name="Google Shape;929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1" name="Google Shape;931;p78"/>
          <p:cNvGrpSpPr/>
          <p:nvPr/>
        </p:nvGrpSpPr>
        <p:grpSpPr>
          <a:xfrm>
            <a:off x="2251901" y="4194425"/>
            <a:ext cx="457200" cy="457200"/>
            <a:chOff x="1020916" y="1442088"/>
            <a:chExt cx="457200" cy="457200"/>
          </a:xfrm>
        </p:grpSpPr>
        <p:pic>
          <p:nvPicPr>
            <p:cNvPr id="932" name="Google Shape;932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4" name="Google Shape;934;p78"/>
          <p:cNvGrpSpPr/>
          <p:nvPr/>
        </p:nvGrpSpPr>
        <p:grpSpPr>
          <a:xfrm>
            <a:off x="4018639" y="4194425"/>
            <a:ext cx="457200" cy="457200"/>
            <a:chOff x="1020916" y="1442088"/>
            <a:chExt cx="457200" cy="457200"/>
          </a:xfrm>
        </p:grpSpPr>
        <p:pic>
          <p:nvPicPr>
            <p:cNvPr id="935" name="Google Shape;935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" name="Google Shape;93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7" name="Google Shape;937;p78"/>
          <p:cNvGrpSpPr/>
          <p:nvPr/>
        </p:nvGrpSpPr>
        <p:grpSpPr>
          <a:xfrm>
            <a:off x="5785376" y="4194425"/>
            <a:ext cx="457200" cy="457200"/>
            <a:chOff x="1020916" y="1442088"/>
            <a:chExt cx="457200" cy="457200"/>
          </a:xfrm>
        </p:grpSpPr>
        <p:pic>
          <p:nvPicPr>
            <p:cNvPr id="938" name="Google Shape;938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0" name="Google Shape;940;p78"/>
          <p:cNvPicPr preferRelativeResize="0"/>
          <p:nvPr/>
        </p:nvPicPr>
        <p:blipFill>
          <a:blip r:embed="rId4">
            <a:alphaModFix/>
          </a:blip>
          <a:srcRect l="25076"/>
          <a:stretch>
            <a:fillRect/>
          </a:stretch>
        </p:blipFill>
        <p:spPr>
          <a:xfrm>
            <a:off x="6354575" y="723100"/>
            <a:ext cx="2148875" cy="18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635823" y="2642022"/>
            <a:ext cx="756318" cy="145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938936" y="2618716"/>
            <a:ext cx="762136" cy="146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1919071" y="2973641"/>
            <a:ext cx="1122842" cy="1122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63988" y="2982380"/>
            <a:ext cx="1099570" cy="110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92158" y="4213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sp>
        <p:nvSpPr>
          <p:cNvPr id="950" name="Google Shape;950;p79"/>
          <p:cNvSpPr txBox="1"/>
          <p:nvPr>
            <p:ph type="body" idx="1"/>
          </p:nvPr>
        </p:nvSpPr>
        <p:spPr>
          <a:xfrm>
            <a:off x="324000" y="759300"/>
            <a:ext cx="5932800" cy="41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of the shapes below can you </a:t>
            </a:r>
            <a:r>
              <a:rPr lang="en-GB" b="1"/>
              <a:t>rotate</a:t>
            </a:r>
            <a:r>
              <a:rPr lang="en-GB"/>
              <a:t> and fit into the space of the shape to the right so that the result is a rectangle?</a:t>
            </a:r>
            <a:endParaRPr/>
          </a:p>
        </p:txBody>
      </p:sp>
      <p:sp>
        <p:nvSpPr>
          <p:cNvPr id="951" name="Google Shape;95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grpSp>
        <p:nvGrpSpPr>
          <p:cNvPr id="952" name="Google Shape;952;p79"/>
          <p:cNvGrpSpPr/>
          <p:nvPr/>
        </p:nvGrpSpPr>
        <p:grpSpPr>
          <a:xfrm>
            <a:off x="485164" y="4194425"/>
            <a:ext cx="457200" cy="457200"/>
            <a:chOff x="1020916" y="1442088"/>
            <a:chExt cx="457200" cy="457200"/>
          </a:xfrm>
        </p:grpSpPr>
        <p:pic>
          <p:nvPicPr>
            <p:cNvPr id="953" name="Google Shape;953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5" name="Google Shape;955;p79"/>
          <p:cNvGrpSpPr/>
          <p:nvPr/>
        </p:nvGrpSpPr>
        <p:grpSpPr>
          <a:xfrm>
            <a:off x="2251901" y="4194425"/>
            <a:ext cx="457200" cy="457200"/>
            <a:chOff x="1020916" y="1442088"/>
            <a:chExt cx="457200" cy="457200"/>
          </a:xfrm>
        </p:grpSpPr>
        <p:pic>
          <p:nvPicPr>
            <p:cNvPr id="956" name="Google Shape;956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8" name="Google Shape;958;p79"/>
          <p:cNvGrpSpPr/>
          <p:nvPr/>
        </p:nvGrpSpPr>
        <p:grpSpPr>
          <a:xfrm>
            <a:off x="4018639" y="4194425"/>
            <a:ext cx="457200" cy="457200"/>
            <a:chOff x="1020916" y="1442088"/>
            <a:chExt cx="457200" cy="457200"/>
          </a:xfrm>
        </p:grpSpPr>
        <p:pic>
          <p:nvPicPr>
            <p:cNvPr id="959" name="Google Shape;959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0" name="Google Shape;960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1" name="Google Shape;961;p79"/>
          <p:cNvGrpSpPr/>
          <p:nvPr/>
        </p:nvGrpSpPr>
        <p:grpSpPr>
          <a:xfrm>
            <a:off x="5785376" y="4194425"/>
            <a:ext cx="457200" cy="457200"/>
            <a:chOff x="1020916" y="1442088"/>
            <a:chExt cx="457200" cy="457200"/>
          </a:xfrm>
        </p:grpSpPr>
        <p:pic>
          <p:nvPicPr>
            <p:cNvPr id="962" name="Google Shape;962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4" name="Google Shape;964;p79"/>
          <p:cNvPicPr preferRelativeResize="0"/>
          <p:nvPr/>
        </p:nvPicPr>
        <p:blipFill>
          <a:blip r:embed="rId4">
            <a:alphaModFix/>
          </a:blip>
          <a:srcRect l="25076"/>
          <a:stretch>
            <a:fillRect/>
          </a:stretch>
        </p:blipFill>
        <p:spPr>
          <a:xfrm>
            <a:off x="6354575" y="723100"/>
            <a:ext cx="2148875" cy="18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635823" y="2642022"/>
            <a:ext cx="756318" cy="145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3938936" y="2618716"/>
            <a:ext cx="762136" cy="146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1919071" y="2973641"/>
            <a:ext cx="1122842" cy="1122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63988" y="2982380"/>
            <a:ext cx="1099570" cy="110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92158" y="4213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52328" y="1076353"/>
            <a:ext cx="736125" cy="14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18109" y="2034645"/>
            <a:ext cx="745625" cy="14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0800000">
            <a:off x="8018109" y="2034645"/>
            <a:ext cx="745625" cy="14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sp>
        <p:nvSpPr>
          <p:cNvPr id="978" name="Google Shape;978;p80"/>
          <p:cNvSpPr txBox="1"/>
          <p:nvPr>
            <p:ph type="body" idx="1"/>
          </p:nvPr>
        </p:nvSpPr>
        <p:spPr>
          <a:xfrm>
            <a:off x="324000" y="3749775"/>
            <a:ext cx="3579900" cy="96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Which vehicles will be facing left, and which will be facing right?</a:t>
            </a:r>
            <a:endParaRPr sz="1800"/>
          </a:p>
        </p:txBody>
      </p:sp>
      <p:pic>
        <p:nvPicPr>
          <p:cNvPr id="979" name="Google Shape;9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800" y="667325"/>
            <a:ext cx="4866201" cy="35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0"/>
          <p:cNvSpPr txBox="1"/>
          <p:nvPr>
            <p:ph type="body" idx="1"/>
          </p:nvPr>
        </p:nvSpPr>
        <p:spPr>
          <a:xfrm>
            <a:off x="46910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981" name="Google Shape;981;p80"/>
          <p:cNvSpPr txBox="1"/>
          <p:nvPr>
            <p:ph type="body" idx="1"/>
          </p:nvPr>
        </p:nvSpPr>
        <p:spPr>
          <a:xfrm>
            <a:off x="69564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982" name="Google Shape;982;p80"/>
          <p:cNvSpPr txBox="1"/>
          <p:nvPr>
            <p:ph type="body" idx="1"/>
          </p:nvPr>
        </p:nvSpPr>
        <p:spPr>
          <a:xfrm>
            <a:off x="5752448" y="163843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983" name="Google Shape;983;p80"/>
          <p:cNvSpPr txBox="1"/>
          <p:nvPr>
            <p:ph type="body" idx="1"/>
          </p:nvPr>
        </p:nvSpPr>
        <p:spPr>
          <a:xfrm>
            <a:off x="7561948" y="17737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984" name="Google Shape;984;p80"/>
          <p:cNvSpPr txBox="1"/>
          <p:nvPr>
            <p:ph type="body" idx="1"/>
          </p:nvPr>
        </p:nvSpPr>
        <p:spPr>
          <a:xfrm>
            <a:off x="4615498" y="32400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985" name="Google Shape;985;p80"/>
          <p:cNvSpPr txBox="1"/>
          <p:nvPr>
            <p:ph type="body" idx="1"/>
          </p:nvPr>
        </p:nvSpPr>
        <p:spPr>
          <a:xfrm>
            <a:off x="5627098" y="31759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endParaRPr/>
          </a:p>
        </p:txBody>
      </p:sp>
      <p:sp>
        <p:nvSpPr>
          <p:cNvPr id="986" name="Google Shape;986;p80"/>
          <p:cNvSpPr txBox="1"/>
          <p:nvPr>
            <p:ph type="body" idx="1"/>
          </p:nvPr>
        </p:nvSpPr>
        <p:spPr>
          <a:xfrm>
            <a:off x="7250698" y="34125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987" name="Google Shape;987;p80"/>
          <p:cNvSpPr txBox="1"/>
          <p:nvPr>
            <p:ph type="body" idx="1"/>
          </p:nvPr>
        </p:nvSpPr>
        <p:spPr>
          <a:xfrm>
            <a:off x="8062848" y="29028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endParaRPr/>
          </a:p>
        </p:txBody>
      </p:sp>
      <p:pic>
        <p:nvPicPr>
          <p:cNvPr id="988" name="Google Shape;98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00" y="2435700"/>
            <a:ext cx="655400" cy="110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0"/>
          <p:cNvPicPr preferRelativeResize="0"/>
          <p:nvPr/>
        </p:nvPicPr>
        <p:blipFill>
          <a:blip r:embed="rId5">
            <a:alphaModFix/>
          </a:blip>
          <a:srcRect l="-185" t="-2012" r="59770" b="43327"/>
          <a:stretch>
            <a:fillRect/>
          </a:stretch>
        </p:blipFill>
        <p:spPr>
          <a:xfrm flipH="1">
            <a:off x="1250000" y="611975"/>
            <a:ext cx="2938900" cy="24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0"/>
          <p:cNvSpPr txBox="1"/>
          <p:nvPr/>
        </p:nvSpPr>
        <p:spPr>
          <a:xfrm flipH="1">
            <a:off x="1346325" y="976648"/>
            <a:ext cx="27642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want to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rotate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these stickers so that when I stick them into my book, they’re all the right way up with their wheels on the road!</a:t>
            </a:r>
            <a:endParaRPr sz="1800">
              <a:solidFill>
                <a:srgbClr val="F3EEFB"/>
              </a:solidFill>
            </a:endParaRPr>
          </a:p>
        </p:txBody>
      </p:sp>
      <p:sp>
        <p:nvSpPr>
          <p:cNvPr id="991" name="Google Shape;991;p80"/>
          <p:cNvSpPr txBox="1"/>
          <p:nvPr/>
        </p:nvSpPr>
        <p:spPr>
          <a:xfrm flipH="1">
            <a:off x="289925" y="2160006"/>
            <a:ext cx="812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F3EEFB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5" name="Shape 995"/>
        <p:cNvGrpSpPr/>
        <p:nvPr/>
      </p:nvGrpSpPr>
      <p:grpSpPr>
        <a:xfrm>
          <a:off x="0" y="0"/>
          <a:ext cx="0" cy="0"/>
        </a:xfrm>
      </p:grpSpPr>
      <p:sp>
        <p:nvSpPr>
          <p:cNvPr id="996" name="Google Shape;996;p81"/>
          <p:cNvSpPr txBox="1"/>
          <p:nvPr>
            <p:ph type="body" idx="1"/>
          </p:nvPr>
        </p:nvSpPr>
        <p:spPr>
          <a:xfrm>
            <a:off x="324000" y="810000"/>
            <a:ext cx="3579900" cy="96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Sketch your own vehicles in different orientations.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you draw two vehicles that face the same way, even though you have to </a:t>
            </a:r>
            <a:r>
              <a:rPr lang="en-GB" sz="1800" b="1"/>
              <a:t>rotate</a:t>
            </a:r>
            <a:r>
              <a:rPr lang="en-GB" sz="1800"/>
              <a:t> them differently?</a:t>
            </a:r>
            <a:endParaRPr sz="1800"/>
          </a:p>
        </p:txBody>
      </p:sp>
      <p:sp>
        <p:nvSpPr>
          <p:cNvPr id="997" name="Google Shape;997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pic>
        <p:nvPicPr>
          <p:cNvPr id="998" name="Google Shape;99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800" y="667325"/>
            <a:ext cx="4866201" cy="35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1"/>
          <p:cNvSpPr txBox="1"/>
          <p:nvPr>
            <p:ph type="body" idx="1"/>
          </p:nvPr>
        </p:nvSpPr>
        <p:spPr>
          <a:xfrm>
            <a:off x="46910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000" name="Google Shape;1000;p81"/>
          <p:cNvSpPr txBox="1"/>
          <p:nvPr>
            <p:ph type="body" idx="1"/>
          </p:nvPr>
        </p:nvSpPr>
        <p:spPr>
          <a:xfrm>
            <a:off x="69564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001" name="Google Shape;1001;p81"/>
          <p:cNvSpPr txBox="1"/>
          <p:nvPr>
            <p:ph type="body" idx="1"/>
          </p:nvPr>
        </p:nvSpPr>
        <p:spPr>
          <a:xfrm>
            <a:off x="5752448" y="163843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002" name="Google Shape;1002;p81"/>
          <p:cNvSpPr txBox="1"/>
          <p:nvPr>
            <p:ph type="body" idx="1"/>
          </p:nvPr>
        </p:nvSpPr>
        <p:spPr>
          <a:xfrm>
            <a:off x="7561948" y="17737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003" name="Google Shape;1003;p81"/>
          <p:cNvSpPr txBox="1"/>
          <p:nvPr>
            <p:ph type="body" idx="1"/>
          </p:nvPr>
        </p:nvSpPr>
        <p:spPr>
          <a:xfrm>
            <a:off x="4615498" y="32400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1004" name="Google Shape;1004;p81"/>
          <p:cNvSpPr txBox="1"/>
          <p:nvPr>
            <p:ph type="body" idx="1"/>
          </p:nvPr>
        </p:nvSpPr>
        <p:spPr>
          <a:xfrm>
            <a:off x="5627098" y="31759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endParaRPr/>
          </a:p>
        </p:txBody>
      </p:sp>
      <p:sp>
        <p:nvSpPr>
          <p:cNvPr id="1005" name="Google Shape;1005;p81"/>
          <p:cNvSpPr txBox="1"/>
          <p:nvPr>
            <p:ph type="body" idx="1"/>
          </p:nvPr>
        </p:nvSpPr>
        <p:spPr>
          <a:xfrm>
            <a:off x="7250698" y="34125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006" name="Google Shape;1006;p81"/>
          <p:cNvSpPr txBox="1"/>
          <p:nvPr>
            <p:ph type="body" idx="1"/>
          </p:nvPr>
        </p:nvSpPr>
        <p:spPr>
          <a:xfrm>
            <a:off x="8062848" y="29028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endParaRPr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0" name="Shape 1010"/>
        <p:cNvGrpSpPr/>
        <p:nvPr/>
      </p:nvGrpSpPr>
      <p:grpSpPr>
        <a:xfrm>
          <a:off x="0" y="0"/>
          <a:ext cx="0" cy="0"/>
        </a:xfrm>
      </p:grpSpPr>
      <p:sp>
        <p:nvSpPr>
          <p:cNvPr id="1011" name="Google Shape;1011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sp>
        <p:nvSpPr>
          <p:cNvPr id="1012" name="Google Shape;1012;p82"/>
          <p:cNvSpPr txBox="1"/>
          <p:nvPr>
            <p:ph type="body" idx="1"/>
          </p:nvPr>
        </p:nvSpPr>
        <p:spPr>
          <a:xfrm>
            <a:off x="324000" y="3098025"/>
            <a:ext cx="3579900" cy="96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Which vehicles will be facing left, and which will be facing right?</a:t>
            </a:r>
            <a:endParaRPr sz="1800"/>
          </a:p>
        </p:txBody>
      </p:sp>
      <p:pic>
        <p:nvPicPr>
          <p:cNvPr id="1013" name="Google Shape;10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800" y="667325"/>
            <a:ext cx="4866201" cy="35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2"/>
          <p:cNvSpPr txBox="1"/>
          <p:nvPr>
            <p:ph type="body" idx="1"/>
          </p:nvPr>
        </p:nvSpPr>
        <p:spPr>
          <a:xfrm>
            <a:off x="46910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015" name="Google Shape;1015;p82"/>
          <p:cNvSpPr txBox="1"/>
          <p:nvPr>
            <p:ph type="body" idx="1"/>
          </p:nvPr>
        </p:nvSpPr>
        <p:spPr>
          <a:xfrm>
            <a:off x="69564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016" name="Google Shape;1016;p82"/>
          <p:cNvSpPr txBox="1"/>
          <p:nvPr>
            <p:ph type="body" idx="1"/>
          </p:nvPr>
        </p:nvSpPr>
        <p:spPr>
          <a:xfrm>
            <a:off x="5752448" y="163843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017" name="Google Shape;1017;p82"/>
          <p:cNvSpPr txBox="1"/>
          <p:nvPr>
            <p:ph type="body" idx="1"/>
          </p:nvPr>
        </p:nvSpPr>
        <p:spPr>
          <a:xfrm>
            <a:off x="7561948" y="17737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018" name="Google Shape;1018;p82"/>
          <p:cNvSpPr txBox="1"/>
          <p:nvPr>
            <p:ph type="body" idx="1"/>
          </p:nvPr>
        </p:nvSpPr>
        <p:spPr>
          <a:xfrm>
            <a:off x="4615498" y="32400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1019" name="Google Shape;1019;p82"/>
          <p:cNvSpPr txBox="1"/>
          <p:nvPr>
            <p:ph type="body" idx="1"/>
          </p:nvPr>
        </p:nvSpPr>
        <p:spPr>
          <a:xfrm>
            <a:off x="5627098" y="31759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endParaRPr/>
          </a:p>
        </p:txBody>
      </p:sp>
      <p:sp>
        <p:nvSpPr>
          <p:cNvPr id="1020" name="Google Shape;1020;p82"/>
          <p:cNvSpPr txBox="1"/>
          <p:nvPr>
            <p:ph type="body" idx="1"/>
          </p:nvPr>
        </p:nvSpPr>
        <p:spPr>
          <a:xfrm>
            <a:off x="7250698" y="34125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021" name="Google Shape;1021;p82"/>
          <p:cNvSpPr txBox="1"/>
          <p:nvPr>
            <p:ph type="body" idx="1"/>
          </p:nvPr>
        </p:nvSpPr>
        <p:spPr>
          <a:xfrm>
            <a:off x="8062848" y="29028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endParaRPr/>
          </a:p>
        </p:txBody>
      </p:sp>
      <p:sp>
        <p:nvSpPr>
          <p:cNvPr id="1022" name="Google Shape;1022;p82"/>
          <p:cNvSpPr txBox="1"/>
          <p:nvPr>
            <p:ph type="body" idx="1"/>
          </p:nvPr>
        </p:nvSpPr>
        <p:spPr>
          <a:xfrm>
            <a:off x="1311151" y="3779988"/>
            <a:ext cx="2179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Left: A, B, C, E, 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Right: D, F, 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3" name="Google Shape;102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292700"/>
            <a:ext cx="655400" cy="110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2"/>
          <p:cNvPicPr preferRelativeResize="0"/>
          <p:nvPr/>
        </p:nvPicPr>
        <p:blipFill>
          <a:blip r:embed="rId5">
            <a:alphaModFix/>
          </a:blip>
          <a:srcRect l="-185" t="-2012" r="59770" b="43327"/>
          <a:stretch>
            <a:fillRect/>
          </a:stretch>
        </p:blipFill>
        <p:spPr>
          <a:xfrm flipH="1">
            <a:off x="1250000" y="611975"/>
            <a:ext cx="2938900" cy="24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2"/>
          <p:cNvSpPr txBox="1"/>
          <p:nvPr/>
        </p:nvSpPr>
        <p:spPr>
          <a:xfrm flipH="1">
            <a:off x="1346325" y="976648"/>
            <a:ext cx="27642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want to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rotate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these stickers so that when I stick them into my book, they’re all the right way up with their wheels on the road!</a:t>
            </a:r>
            <a:endParaRPr sz="1800">
              <a:solidFill>
                <a:srgbClr val="F3EEFB"/>
              </a:solidFill>
            </a:endParaRPr>
          </a:p>
        </p:txBody>
      </p:sp>
      <p:sp>
        <p:nvSpPr>
          <p:cNvPr id="1026" name="Google Shape;1026;p82"/>
          <p:cNvSpPr txBox="1"/>
          <p:nvPr/>
        </p:nvSpPr>
        <p:spPr>
          <a:xfrm flipH="1">
            <a:off x="245650" y="2351206"/>
            <a:ext cx="812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F3EEFB"/>
              </a:solidFill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sp>
        <p:nvSpPr>
          <p:cNvPr id="1031" name="Google Shape;1031;p83"/>
          <p:cNvSpPr txBox="1"/>
          <p:nvPr>
            <p:ph type="body" idx="1"/>
          </p:nvPr>
        </p:nvSpPr>
        <p:spPr>
          <a:xfrm>
            <a:off x="324000" y="2861350"/>
            <a:ext cx="5428500" cy="96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example: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these cars face right when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rotated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2" name="Google Shape;1032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rotations in the real world</a:t>
            </a:r>
            <a:endParaRPr/>
          </a:p>
        </p:txBody>
      </p:sp>
      <p:sp>
        <p:nvSpPr>
          <p:cNvPr id="1033" name="Google Shape;1033;p83"/>
          <p:cNvSpPr txBox="1"/>
          <p:nvPr>
            <p:ph type="body" idx="1"/>
          </p:nvPr>
        </p:nvSpPr>
        <p:spPr>
          <a:xfrm>
            <a:off x="324000" y="810000"/>
            <a:ext cx="3579900" cy="96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Sketch your own vehicles in different orientations.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you draw two vehicles that face the same way, even though you have to </a:t>
            </a:r>
            <a:r>
              <a:rPr lang="en-GB" sz="1800" b="1"/>
              <a:t>rotate</a:t>
            </a:r>
            <a:r>
              <a:rPr lang="en-GB" sz="1800"/>
              <a:t> them differently?</a:t>
            </a:r>
            <a:endParaRPr sz="1800"/>
          </a:p>
        </p:txBody>
      </p:sp>
      <p:pic>
        <p:nvPicPr>
          <p:cNvPr id="1034" name="Google Shape;103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800" y="667325"/>
            <a:ext cx="4866201" cy="35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83"/>
          <p:cNvSpPr txBox="1"/>
          <p:nvPr>
            <p:ph type="body" idx="1"/>
          </p:nvPr>
        </p:nvSpPr>
        <p:spPr>
          <a:xfrm>
            <a:off x="46910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036" name="Google Shape;1036;p83"/>
          <p:cNvSpPr txBox="1"/>
          <p:nvPr>
            <p:ph type="body" idx="1"/>
          </p:nvPr>
        </p:nvSpPr>
        <p:spPr>
          <a:xfrm>
            <a:off x="6956400" y="71232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037" name="Google Shape;1037;p83"/>
          <p:cNvSpPr txBox="1"/>
          <p:nvPr>
            <p:ph type="body" idx="1"/>
          </p:nvPr>
        </p:nvSpPr>
        <p:spPr>
          <a:xfrm>
            <a:off x="5752448" y="163843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038" name="Google Shape;1038;p83"/>
          <p:cNvSpPr txBox="1"/>
          <p:nvPr>
            <p:ph type="body" idx="1"/>
          </p:nvPr>
        </p:nvSpPr>
        <p:spPr>
          <a:xfrm>
            <a:off x="7561948" y="17737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039" name="Google Shape;1039;p83"/>
          <p:cNvSpPr txBox="1"/>
          <p:nvPr>
            <p:ph type="body" idx="1"/>
          </p:nvPr>
        </p:nvSpPr>
        <p:spPr>
          <a:xfrm>
            <a:off x="4615498" y="32400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1040" name="Google Shape;1040;p83"/>
          <p:cNvSpPr txBox="1"/>
          <p:nvPr>
            <p:ph type="body" idx="1"/>
          </p:nvPr>
        </p:nvSpPr>
        <p:spPr>
          <a:xfrm>
            <a:off x="5627098" y="31759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endParaRPr/>
          </a:p>
        </p:txBody>
      </p:sp>
      <p:sp>
        <p:nvSpPr>
          <p:cNvPr id="1041" name="Google Shape;1041;p83"/>
          <p:cNvSpPr txBox="1"/>
          <p:nvPr>
            <p:ph type="body" idx="1"/>
          </p:nvPr>
        </p:nvSpPr>
        <p:spPr>
          <a:xfrm>
            <a:off x="7250698" y="3412580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042" name="Google Shape;1042;p83"/>
          <p:cNvSpPr txBox="1"/>
          <p:nvPr>
            <p:ph type="body" idx="1"/>
          </p:nvPr>
        </p:nvSpPr>
        <p:spPr>
          <a:xfrm>
            <a:off x="8062848" y="2902805"/>
            <a:ext cx="417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endParaRPr/>
          </a:p>
        </p:txBody>
      </p:sp>
      <p:pic>
        <p:nvPicPr>
          <p:cNvPr id="1043" name="Google Shape;1043;p83"/>
          <p:cNvPicPr preferRelativeResize="0"/>
          <p:nvPr/>
        </p:nvPicPr>
        <p:blipFill>
          <a:blip r:embed="rId4">
            <a:alphaModFix/>
          </a:blip>
          <a:srcRect l="28077" t="54083" r="45278" b="25384"/>
          <a:stretch>
            <a:fillRect/>
          </a:stretch>
        </p:blipFill>
        <p:spPr>
          <a:xfrm rot="-4500001">
            <a:off x="2157950" y="3366700"/>
            <a:ext cx="1296551" cy="7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3"/>
          <p:cNvPicPr preferRelativeResize="0"/>
          <p:nvPr/>
        </p:nvPicPr>
        <p:blipFill>
          <a:blip r:embed="rId5">
            <a:alphaModFix/>
          </a:blip>
          <a:srcRect l="28077" t="54083" r="45278" b="25384"/>
          <a:stretch>
            <a:fillRect/>
          </a:stretch>
        </p:blipFill>
        <p:spPr>
          <a:xfrm rot="9899995">
            <a:off x="867999" y="3301176"/>
            <a:ext cx="1296551" cy="7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8" name="Shape 1048"/>
        <p:cNvGrpSpPr/>
        <p:nvPr/>
      </p:nvGrpSpPr>
      <p:grpSpPr>
        <a:xfrm>
          <a:off x="0" y="0"/>
          <a:ext cx="0" cy="0"/>
        </a:xfrm>
      </p:grpSpPr>
      <p:sp>
        <p:nvSpPr>
          <p:cNvPr id="1049" name="Google Shape;1049;p84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</a:t>
            </a:r>
            <a:r>
              <a:rPr lang="en-GB" b="1"/>
              <a:t>rotations</a:t>
            </a:r>
            <a:endParaRPr b="1"/>
          </a:p>
        </p:txBody>
      </p:sp>
      <p:sp>
        <p:nvSpPr>
          <p:cNvPr id="1050" name="Google Shape;1050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rotations</a:t>
            </a:r>
            <a:endParaRPr/>
          </a:p>
        </p:txBody>
      </p:sp>
      <p:pic>
        <p:nvPicPr>
          <p:cNvPr id="1051" name="Google Shape;105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50" y="2992966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</a:t>
            </a:r>
            <a:r>
              <a:rPr lang="en-GB" b="1"/>
              <a:t>rotations </a:t>
            </a:r>
            <a:r>
              <a:rPr lang="en-GB"/>
              <a:t>in the real world</a:t>
            </a:r>
            <a:endParaRPr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6" name="Shape 1056"/>
        <p:cNvGrpSpPr/>
        <p:nvPr/>
      </p:nvGrpSpPr>
      <p:grpSpPr>
        <a:xfrm>
          <a:off x="0" y="0"/>
          <a:ext cx="0" cy="0"/>
        </a:xfrm>
      </p:grpSpPr>
      <p:sp>
        <p:nvSpPr>
          <p:cNvPr id="1057" name="Google Shape;1057;p85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an object is </a:t>
            </a:r>
            <a:r>
              <a:rPr lang="en-GB" sz="2000" b="1"/>
              <a:t>rotated</a:t>
            </a:r>
            <a:r>
              <a:rPr lang="en-GB" sz="2000"/>
              <a:t>, the lengths of the sides are invariant, but the orientation of the sides changes.</a:t>
            </a:r>
            <a:endParaRPr sz="2000"/>
          </a:p>
        </p:txBody>
      </p:sp>
      <p:sp>
        <p:nvSpPr>
          <p:cNvPr id="1058" name="Google Shape;105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059" name="Google Shape;1059;p85"/>
          <p:cNvSpPr txBox="1"/>
          <p:nvPr>
            <p:ph type="body" idx="1"/>
          </p:nvPr>
        </p:nvSpPr>
        <p:spPr>
          <a:xfrm>
            <a:off x="324000" y="1678275"/>
            <a:ext cx="82377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of these is an example of a </a:t>
            </a:r>
            <a:r>
              <a:rPr lang="en-GB" sz="1800" b="1"/>
              <a:t>rotation</a:t>
            </a:r>
            <a:r>
              <a:rPr lang="en-GB" sz="1800"/>
              <a:t> and which is a non-example?</a:t>
            </a:r>
            <a:endParaRPr sz="1800"/>
          </a:p>
        </p:txBody>
      </p:sp>
      <p:sp>
        <p:nvSpPr>
          <p:cNvPr id="1060" name="Google Shape;1060;p85"/>
          <p:cNvSpPr txBox="1"/>
          <p:nvPr>
            <p:ph type="body" idx="1"/>
          </p:nvPr>
        </p:nvSpPr>
        <p:spPr>
          <a:xfrm>
            <a:off x="324000" y="2317260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061" name="Google Shape;1061;p85"/>
          <p:cNvSpPr txBox="1"/>
          <p:nvPr>
            <p:ph type="body" idx="1"/>
          </p:nvPr>
        </p:nvSpPr>
        <p:spPr>
          <a:xfrm>
            <a:off x="324000" y="3341185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cxnSp>
        <p:nvCxnSpPr>
          <p:cNvPr id="1062" name="Google Shape;1062;p85"/>
          <p:cNvCxnSpPr/>
          <p:nvPr/>
        </p:nvCxnSpPr>
        <p:spPr>
          <a:xfrm>
            <a:off x="1196700" y="2497560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3" name="Google Shape;1063;p85"/>
          <p:cNvSpPr txBox="1"/>
          <p:nvPr>
            <p:ph type="body" idx="1"/>
          </p:nvPr>
        </p:nvSpPr>
        <p:spPr>
          <a:xfrm>
            <a:off x="7280685" y="2333625"/>
            <a:ext cx="14682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height was 2 units in the object, but 3 units in the image.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is not a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 b="1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4" name="Google Shape;1064;p85"/>
          <p:cNvCxnSpPr/>
          <p:nvPr/>
        </p:nvCxnSpPr>
        <p:spPr>
          <a:xfrm>
            <a:off x="1196700" y="3521485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5" name="Google Shape;1065;p85"/>
          <p:cNvSpPr txBox="1"/>
          <p:nvPr>
            <p:ph type="body" idx="1"/>
          </p:nvPr>
        </p:nvSpPr>
        <p:spPr>
          <a:xfrm>
            <a:off x="4524538" y="2317260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066" name="Google Shape;1066;p85"/>
          <p:cNvSpPr txBox="1"/>
          <p:nvPr>
            <p:ph type="body" idx="1"/>
          </p:nvPr>
        </p:nvSpPr>
        <p:spPr>
          <a:xfrm>
            <a:off x="4524538" y="3341185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cxnSp>
        <p:nvCxnSpPr>
          <p:cNvPr id="1067" name="Google Shape;1067;p85"/>
          <p:cNvCxnSpPr/>
          <p:nvPr/>
        </p:nvCxnSpPr>
        <p:spPr>
          <a:xfrm>
            <a:off x="5397238" y="2497560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8" name="Google Shape;1068;p85"/>
          <p:cNvSpPr txBox="1"/>
          <p:nvPr>
            <p:ph type="body" idx="1"/>
          </p:nvPr>
        </p:nvSpPr>
        <p:spPr>
          <a:xfrm>
            <a:off x="398950" y="4324975"/>
            <a:ext cx="25203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 of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</a:t>
            </a:r>
            <a:endParaRPr sz="1800" b="1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9" name="Google Shape;1069;p85"/>
          <p:cNvCxnSpPr/>
          <p:nvPr/>
        </p:nvCxnSpPr>
        <p:spPr>
          <a:xfrm>
            <a:off x="5397238" y="3521485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0" name="Google Shape;1070;p85"/>
          <p:cNvSpPr txBox="1"/>
          <p:nvPr>
            <p:ph type="body" idx="1"/>
          </p:nvPr>
        </p:nvSpPr>
        <p:spPr>
          <a:xfrm>
            <a:off x="4586875" y="4324975"/>
            <a:ext cx="25203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non-example</a:t>
            </a:r>
            <a:endParaRPr sz="18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5"/>
          <p:cNvSpPr txBox="1"/>
          <p:nvPr>
            <p:ph type="body" idx="1"/>
          </p:nvPr>
        </p:nvSpPr>
        <p:spPr>
          <a:xfrm>
            <a:off x="2961331" y="2333625"/>
            <a:ext cx="14682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All sides remain the same length, but have been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rotated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through half a turn.</a:t>
            </a:r>
            <a:endParaRPr sz="1800" b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72" name="Google Shape;1072;p85"/>
          <p:cNvPicPr preferRelativeResize="0"/>
          <p:nvPr/>
        </p:nvPicPr>
        <p:blipFill>
          <a:blip r:embed="rId3">
            <a:alphaModFix/>
          </a:blip>
          <a:srcRect l="1311" t="3389" r="63133" b="16866"/>
          <a:stretch>
            <a:fillRect/>
          </a:stretch>
        </p:blipFill>
        <p:spPr>
          <a:xfrm>
            <a:off x="1576500" y="2299520"/>
            <a:ext cx="1313241" cy="1560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85"/>
          <p:cNvPicPr preferRelativeResize="0"/>
          <p:nvPr/>
        </p:nvPicPr>
        <p:blipFill>
          <a:blip r:embed="rId3">
            <a:alphaModFix/>
          </a:blip>
          <a:srcRect l="62730" t="3389" r="1916" b="4239"/>
          <a:stretch>
            <a:fillRect/>
          </a:stretch>
        </p:blipFill>
        <p:spPr>
          <a:xfrm>
            <a:off x="5777061" y="2299525"/>
            <a:ext cx="1305863" cy="1807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7" name="Shape 1077"/>
        <p:cNvGrpSpPr/>
        <p:nvPr/>
      </p:nvGrpSpPr>
      <p:grpSpPr>
        <a:xfrm>
          <a:off x="0" y="0"/>
          <a:ext cx="0" cy="0"/>
        </a:xfrm>
      </p:grpSpPr>
      <p:sp>
        <p:nvSpPr>
          <p:cNvPr id="1078" name="Google Shape;107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079" name="Google Shape;1079;p86"/>
          <p:cNvPicPr preferRelativeResize="0"/>
          <p:nvPr/>
        </p:nvPicPr>
        <p:blipFill>
          <a:blip r:embed="rId3">
            <a:alphaModFix/>
          </a:blip>
          <a:srcRect l="1576" r="56500"/>
          <a:stretch>
            <a:fillRect/>
          </a:stretch>
        </p:blipFill>
        <p:spPr>
          <a:xfrm>
            <a:off x="1627075" y="2096850"/>
            <a:ext cx="1670700" cy="240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86"/>
          <p:cNvPicPr preferRelativeResize="0"/>
          <p:nvPr/>
        </p:nvPicPr>
        <p:blipFill>
          <a:blip r:embed="rId3">
            <a:alphaModFix/>
          </a:blip>
          <a:srcRect l="59173"/>
          <a:stretch>
            <a:fillRect/>
          </a:stretch>
        </p:blipFill>
        <p:spPr>
          <a:xfrm>
            <a:off x="5827631" y="2096850"/>
            <a:ext cx="1626999" cy="240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86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an object is </a:t>
            </a:r>
            <a:r>
              <a:rPr lang="en-GB" sz="2000" b="1"/>
              <a:t>rotated</a:t>
            </a:r>
            <a:r>
              <a:rPr lang="en-GB" sz="2000"/>
              <a:t>, the angles within the shape are always invariant.</a:t>
            </a:r>
            <a:endParaRPr sz="2000"/>
          </a:p>
        </p:txBody>
      </p:sp>
      <p:sp>
        <p:nvSpPr>
          <p:cNvPr id="1082" name="Google Shape;1082;p86"/>
          <p:cNvSpPr txBox="1"/>
          <p:nvPr>
            <p:ph type="body" idx="1"/>
          </p:nvPr>
        </p:nvSpPr>
        <p:spPr>
          <a:xfrm>
            <a:off x="324000" y="1678275"/>
            <a:ext cx="82377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of these is an example of a </a:t>
            </a:r>
            <a:r>
              <a:rPr lang="en-GB" sz="1800" b="1"/>
              <a:t>rotation</a:t>
            </a:r>
            <a:r>
              <a:rPr lang="en-GB" sz="1800"/>
              <a:t>, and which is a non-example?</a:t>
            </a:r>
            <a:endParaRPr sz="1800"/>
          </a:p>
        </p:txBody>
      </p:sp>
      <p:sp>
        <p:nvSpPr>
          <p:cNvPr id="1083" name="Google Shape;1083;p86"/>
          <p:cNvSpPr txBox="1"/>
          <p:nvPr>
            <p:ph type="body" idx="1"/>
          </p:nvPr>
        </p:nvSpPr>
        <p:spPr>
          <a:xfrm>
            <a:off x="324000" y="2317260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084" name="Google Shape;1084;p86"/>
          <p:cNvSpPr txBox="1"/>
          <p:nvPr>
            <p:ph type="body" idx="1"/>
          </p:nvPr>
        </p:nvSpPr>
        <p:spPr>
          <a:xfrm>
            <a:off x="324000" y="3341185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cxnSp>
        <p:nvCxnSpPr>
          <p:cNvPr id="1085" name="Google Shape;1085;p86"/>
          <p:cNvCxnSpPr/>
          <p:nvPr/>
        </p:nvCxnSpPr>
        <p:spPr>
          <a:xfrm>
            <a:off x="1196700" y="2497560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6" name="Google Shape;1086;p86"/>
          <p:cNvCxnSpPr/>
          <p:nvPr/>
        </p:nvCxnSpPr>
        <p:spPr>
          <a:xfrm>
            <a:off x="1196700" y="3521485"/>
            <a:ext cx="632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7" name="Google Shape;1087;p86"/>
          <p:cNvSpPr txBox="1"/>
          <p:nvPr>
            <p:ph type="body" idx="1"/>
          </p:nvPr>
        </p:nvSpPr>
        <p:spPr>
          <a:xfrm>
            <a:off x="4524538" y="2317260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088" name="Google Shape;1088;p86"/>
          <p:cNvSpPr txBox="1"/>
          <p:nvPr>
            <p:ph type="body" idx="1"/>
          </p:nvPr>
        </p:nvSpPr>
        <p:spPr>
          <a:xfrm>
            <a:off x="4524538" y="3341185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cxnSp>
        <p:nvCxnSpPr>
          <p:cNvPr id="1089" name="Google Shape;1089;p86"/>
          <p:cNvCxnSpPr/>
          <p:nvPr/>
        </p:nvCxnSpPr>
        <p:spPr>
          <a:xfrm>
            <a:off x="5397238" y="2497560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0" name="Google Shape;1090;p86"/>
          <p:cNvSpPr txBox="1"/>
          <p:nvPr>
            <p:ph type="body" idx="1"/>
          </p:nvPr>
        </p:nvSpPr>
        <p:spPr>
          <a:xfrm>
            <a:off x="944075" y="4358692"/>
            <a:ext cx="21747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 of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</a:t>
            </a:r>
            <a:endParaRPr sz="18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86"/>
          <p:cNvSpPr txBox="1"/>
          <p:nvPr>
            <p:ph type="body" idx="1"/>
          </p:nvPr>
        </p:nvSpPr>
        <p:spPr>
          <a:xfrm>
            <a:off x="5777050" y="4358692"/>
            <a:ext cx="15564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non-example</a:t>
            </a:r>
            <a:endParaRPr sz="1800" b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92" name="Google Shape;1092;p86" descr="&lt;math xmlns=&quot;http://www.w3.org/1998/Math/MathML&quot; display=&quot;block&quot; data-is-equatio=&quot;1&quot; data-latex=&quot;82^{\circ}&quot;&gt;&lt;msup&gt;&lt;mn&gt;82&lt;/mn&gt;&lt;mrow data-mjx-texclass=&quot;ORD&quot;&gt;&lt;mo&gt;∘&lt;/mo&gt;&lt;/mrow&gt;&lt;/msup&gt;&lt;/math&gt;" title="82 degre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3776" y="3966024"/>
            <a:ext cx="255111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3197" y="3854945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8923" y="3600133"/>
            <a:ext cx="366313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86" descr="&lt;math xmlns=&quot;http://www.w3.org/1998/Math/MathML&quot; display=&quot;block&quot; data-is-equatio=&quot;1&quot; data-latex=&quot;56^{\circ}&quot;&gt;&lt;msup&gt;&lt;mn&gt;56&lt;/mn&gt;&lt;mrow data-mjx-texclass=&quot;ORD&quot;&gt;&lt;mo&gt;∘&lt;/mo&gt;&lt;/mrow&gt;&lt;/msup&gt;&lt;/math&gt;" title="56 degre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9583" y="3871796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86" descr="&lt;math xmlns=&quot;http://www.w3.org/1998/Math/MathML&quot; display=&quot;block&quot; data-is-equatio=&quot;1&quot; data-latex=&quot;90^{\circ}&quot;&gt;&lt;msup&gt;&lt;mn&gt;90&lt;/mn&gt;&lt;mrow data-mjx-texclass=&quot;ORD&quot;&gt;&lt;mo&gt;∘&lt;/mo&gt;&lt;/mrow&gt;&lt;/msup&gt;&lt;/math&gt;" title="90 degre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80072" y="3574908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86" descr="&lt;math xmlns=&quot;http://www.w3.org/1998/Math/MathML&quot; display=&quot;block&quot; data-is-equatio=&quot;1&quot; data-latex=&quot;82^{\circ}&quot;&gt;&lt;msup&gt;&lt;mn&gt;82&lt;/mn&gt;&lt;mrow data-mjx-texclass=&quot;ORD&quot;&gt;&lt;mo&gt;∘&lt;/mo&gt;&lt;/mrow&gt;&lt;/msup&gt;&lt;/math&gt;" title="82 degre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0204" y="2317250"/>
            <a:ext cx="255111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0906" y="2428330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0713" y="2700000"/>
            <a:ext cx="366313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86" descr="&lt;math xmlns=&quot;http://www.w3.org/1998/Math/MathML&quot; display=&quot;block&quot; data-is-equatio=&quot;1&quot; data-latex=&quot;90^{\circ}&quot;&gt;&lt;msup&gt;&lt;mn&gt;90&lt;/mn&gt;&lt;mrow data-mjx-texclass=&quot;ORD&quot;&gt;&lt;mo&gt;∘&lt;/mo&gt;&lt;/mrow&gt;&lt;/msup&gt;&lt;/math&gt;" title="90 degre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6514" y="2708367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86" descr="&lt;math xmlns=&quot;http://www.w3.org/1998/Math/MathML&quot; display=&quot;block&quot; data-is-equatio=&quot;1&quot; data-latex=&quot;82^{\circ}&quot;&gt;&lt;msup&gt;&lt;mn&gt;82&lt;/mn&gt;&lt;mrow data-mjx-texclass=&quot;ORD&quot;&gt;&lt;mo&gt;∘&lt;/mo&gt;&lt;/mrow&gt;&lt;/msup&gt;&lt;/math&gt;" title="82 degre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5746" y="2317250"/>
            <a:ext cx="255111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447" y="2428330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6255" y="2700000"/>
            <a:ext cx="366313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86" descr="&lt;math xmlns=&quot;http://www.w3.org/1998/Math/MathML&quot; display=&quot;block&quot; data-is-equatio=&quot;1&quot; data-latex=&quot;90^{\circ}&quot;&gt;&lt;msup&gt;&lt;mn&gt;90&lt;/mn&gt;&lt;mrow data-mjx-texclass=&quot;ORD&quot;&gt;&lt;mo&gt;∘&lt;/mo&gt;&lt;/mrow&gt;&lt;/msup&gt;&lt;/math&gt;" title="90 degre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52056" y="2708367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86" descr="&lt;math xmlns=&quot;http://www.w3.org/1998/Math/MathML&quot; display=&quot;block&quot; data-is-equatio=&quot;1&quot; data-latex=&quot;64^{\circ}&quot;&gt;&lt;msup&gt;&lt;mn&gt;64&lt;/mn&gt;&lt;mrow data-mjx-texclass=&quot;ORD&quot;&gt;&lt;mo&gt;∘&lt;/mo&gt;&lt;/mrow&gt;&lt;/msup&gt;&lt;/math&gt;" title="64 degre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7160" y="3600133"/>
            <a:ext cx="366313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86" descr="&lt;math xmlns=&quot;http://www.w3.org/1998/Math/MathML&quot; display=&quot;block&quot; data-is-equatio=&quot;1&quot; data-latex=&quot;90^{\circ}&quot;&gt;&lt;msup&gt;&lt;mn&gt;90&lt;/mn&gt;&lt;mrow data-mjx-texclass=&quot;ORD&quot;&gt;&lt;mo&gt;∘&lt;/mo&gt;&lt;/mrow&gt;&lt;/msup&gt;&lt;/math&gt;" title="90 degre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78309" y="3574908"/>
            <a:ext cx="262505" cy="15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86" descr="&lt;math xmlns=&quot;http://www.w3.org/1998/Math/MathML&quot; display=&quot;block&quot; data-is-equatio=&quot;1&quot; data-latex=&quot;90^{\circ}&quot;&gt;&lt;msup&gt;&lt;mn&gt;90&lt;/mn&gt;&lt;mrow data-mjx-texclass=&quot;ORD&quot;&gt;&lt;mo&gt;∘&lt;/mo&gt;&lt;/mrow&gt;&lt;/msup&gt;&lt;/math&gt;" title="90 degre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78309" y="3854946"/>
            <a:ext cx="262505" cy="15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8" name="Google Shape;1108;p86"/>
          <p:cNvCxnSpPr/>
          <p:nvPr/>
        </p:nvCxnSpPr>
        <p:spPr>
          <a:xfrm>
            <a:off x="5397250" y="3521485"/>
            <a:ext cx="632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2" name="Shape 1112"/>
        <p:cNvGrpSpPr/>
        <p:nvPr/>
      </p:nvGrpSpPr>
      <p:grpSpPr>
        <a:xfrm>
          <a:off x="0" y="0"/>
          <a:ext cx="0" cy="0"/>
        </a:xfrm>
      </p:grpSpPr>
      <p:sp>
        <p:nvSpPr>
          <p:cNvPr id="1113" name="Google Shape;1113;p87"/>
          <p:cNvSpPr txBox="1"/>
          <p:nvPr>
            <p:ph type="body" idx="1"/>
          </p:nvPr>
        </p:nvSpPr>
        <p:spPr>
          <a:xfrm>
            <a:off x="324000" y="759300"/>
            <a:ext cx="60864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For an image to be a </a:t>
            </a:r>
            <a:r>
              <a:rPr lang="en-GB" sz="1800" b="1"/>
              <a:t>rotation</a:t>
            </a:r>
            <a:r>
              <a:rPr lang="en-GB" sz="1800"/>
              <a:t> of its object, both the side lengths and angles must be invariant.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You can check if an image is a </a:t>
            </a:r>
            <a:r>
              <a:rPr lang="en-GB" sz="1800" b="1"/>
              <a:t>rotation</a:t>
            </a:r>
            <a:r>
              <a:rPr lang="en-GB" sz="1800"/>
              <a:t> by using:</a:t>
            </a:r>
            <a:endParaRPr sz="1800"/>
          </a:p>
        </p:txBody>
      </p:sp>
      <p:sp>
        <p:nvSpPr>
          <p:cNvPr id="1114" name="Google Shape;111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115" name="Google Shape;111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0" y="429000"/>
            <a:ext cx="2182819" cy="14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87"/>
          <p:cNvSpPr txBox="1"/>
          <p:nvPr>
            <p:ph type="body" idx="1"/>
          </p:nvPr>
        </p:nvSpPr>
        <p:spPr>
          <a:xfrm>
            <a:off x="324000" y="2689425"/>
            <a:ext cx="6358200" cy="43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of these images is not a </a:t>
            </a:r>
            <a:r>
              <a:rPr lang="en-GB" sz="1800" b="1"/>
              <a:t>rotation</a:t>
            </a:r>
            <a:r>
              <a:rPr lang="en-GB" sz="1800"/>
              <a:t> of the rectangle?</a:t>
            </a:r>
            <a:endParaRPr sz="1800"/>
          </a:p>
        </p:txBody>
      </p:sp>
      <p:sp>
        <p:nvSpPr>
          <p:cNvPr id="1117" name="Google Shape;1117;p87"/>
          <p:cNvSpPr/>
          <p:nvPr/>
        </p:nvSpPr>
        <p:spPr>
          <a:xfrm>
            <a:off x="495300" y="3724056"/>
            <a:ext cx="1257300" cy="5313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" name="Google Shape;1118;p87"/>
          <p:cNvSpPr/>
          <p:nvPr/>
        </p:nvSpPr>
        <p:spPr>
          <a:xfrm rot="-1799445">
            <a:off x="2539371" y="3724174"/>
            <a:ext cx="1257352" cy="531295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9" name="Google Shape;1119;p87"/>
          <p:cNvSpPr/>
          <p:nvPr/>
        </p:nvSpPr>
        <p:spPr>
          <a:xfrm rot="-3600379">
            <a:off x="4445059" y="3630358"/>
            <a:ext cx="1473881" cy="531295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0" name="Google Shape;1120;p87"/>
          <p:cNvSpPr/>
          <p:nvPr/>
        </p:nvSpPr>
        <p:spPr>
          <a:xfrm rot="-5399180">
            <a:off x="6047542" y="3724122"/>
            <a:ext cx="1257300" cy="5313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21" name="Google Shape;112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82" y="4303431"/>
            <a:ext cx="1933599" cy="22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7"/>
          <p:cNvSpPr txBox="1"/>
          <p:nvPr>
            <p:ph type="body" idx="1"/>
          </p:nvPr>
        </p:nvSpPr>
        <p:spPr>
          <a:xfrm>
            <a:off x="495300" y="3983301"/>
            <a:ext cx="12573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3" name="Google Shape;1123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799999">
            <a:off x="2613081" y="4108083"/>
            <a:ext cx="1933600" cy="22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7"/>
          <p:cNvSpPr txBox="1"/>
          <p:nvPr>
            <p:ph type="body" idx="1"/>
          </p:nvPr>
        </p:nvSpPr>
        <p:spPr>
          <a:xfrm rot="-1799445">
            <a:off x="2628078" y="3968187"/>
            <a:ext cx="1257352" cy="33009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5" name="Google Shape;112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001">
            <a:off x="4635452" y="3855257"/>
            <a:ext cx="1933600" cy="22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87"/>
          <p:cNvSpPr txBox="1"/>
          <p:nvPr>
            <p:ph type="body" idx="1"/>
          </p:nvPr>
        </p:nvSpPr>
        <p:spPr>
          <a:xfrm rot="-3599748">
            <a:off x="4603535" y="3812553"/>
            <a:ext cx="1447016" cy="33009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25.5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7" name="Google Shape;112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118812" y="3631793"/>
            <a:ext cx="1912550" cy="2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7"/>
          <p:cNvSpPr txBox="1"/>
          <p:nvPr>
            <p:ph type="body" idx="1"/>
          </p:nvPr>
        </p:nvSpPr>
        <p:spPr>
          <a:xfrm rot="-5399169">
            <a:off x="6191825" y="3860081"/>
            <a:ext cx="1240500" cy="25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9" name="Google Shape;112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533" y="4029495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87"/>
          <p:cNvSpPr txBox="1"/>
          <p:nvPr>
            <p:ph type="body" idx="1"/>
          </p:nvPr>
        </p:nvSpPr>
        <p:spPr>
          <a:xfrm>
            <a:off x="860001" y="1841128"/>
            <a:ext cx="5568000" cy="3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a ruler to measure the sides</a:t>
            </a:r>
            <a:endParaRPr sz="1800"/>
          </a:p>
        </p:txBody>
      </p:sp>
      <p:sp>
        <p:nvSpPr>
          <p:cNvPr id="1131" name="Google Shape;1131;p87"/>
          <p:cNvSpPr txBox="1"/>
          <p:nvPr>
            <p:ph type="body" idx="1"/>
          </p:nvPr>
        </p:nvSpPr>
        <p:spPr>
          <a:xfrm>
            <a:off x="860001" y="2189599"/>
            <a:ext cx="5568000" cy="3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a protractor to measure the angles</a:t>
            </a:r>
            <a:endParaRPr sz="1800"/>
          </a:p>
        </p:txBody>
      </p:sp>
      <p:pic>
        <p:nvPicPr>
          <p:cNvPr id="1132" name="Google Shape;1132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0250" y="1620008"/>
            <a:ext cx="1933600" cy="97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6" name="Shape 1136"/>
        <p:cNvGrpSpPr/>
        <p:nvPr/>
      </p:nvGrpSpPr>
      <p:grpSpPr>
        <a:xfrm>
          <a:off x="0" y="0"/>
          <a:ext cx="0" cy="0"/>
        </a:xfrm>
      </p:grpSpPr>
      <p:sp>
        <p:nvSpPr>
          <p:cNvPr id="1137" name="Google Shape;113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138" name="Google Shape;1138;p88"/>
          <p:cNvSpPr txBox="1"/>
          <p:nvPr>
            <p:ph type="body" idx="1"/>
          </p:nvPr>
        </p:nvSpPr>
        <p:spPr>
          <a:xfrm>
            <a:off x="324000" y="1148325"/>
            <a:ext cx="3771900" cy="56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images is a </a:t>
            </a:r>
            <a:r>
              <a:rPr lang="en-GB" b="1"/>
              <a:t>rotation</a:t>
            </a:r>
            <a:r>
              <a:rPr lang="en-GB"/>
              <a:t> of this trapezium?</a:t>
            </a:r>
            <a:endParaRPr/>
          </a:p>
        </p:txBody>
      </p:sp>
      <p:pic>
        <p:nvPicPr>
          <p:cNvPr id="1139" name="Google Shape;1139;p88"/>
          <p:cNvPicPr preferRelativeResize="0"/>
          <p:nvPr/>
        </p:nvPicPr>
        <p:blipFill>
          <a:blip r:embed="rId3">
            <a:alphaModFix/>
          </a:blip>
          <a:srcRect l="779" t="8266" r="81894" b="7981"/>
          <a:stretch>
            <a:fillRect/>
          </a:stretch>
        </p:blipFill>
        <p:spPr>
          <a:xfrm>
            <a:off x="4095889" y="674737"/>
            <a:ext cx="1865420" cy="1511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8"/>
          <p:cNvPicPr preferRelativeResize="0"/>
          <p:nvPr/>
        </p:nvPicPr>
        <p:blipFill>
          <a:blip r:embed="rId3">
            <a:alphaModFix/>
          </a:blip>
          <a:srcRect l="31068" t="8648" r="51605" b="7872"/>
          <a:stretch>
            <a:fillRect/>
          </a:stretch>
        </p:blipFill>
        <p:spPr>
          <a:xfrm>
            <a:off x="3489425" y="2447166"/>
            <a:ext cx="1865420" cy="150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8"/>
          <p:cNvPicPr preferRelativeResize="0"/>
          <p:nvPr/>
        </p:nvPicPr>
        <p:blipFill>
          <a:blip r:embed="rId3">
            <a:alphaModFix/>
          </a:blip>
          <a:srcRect l="54625" t="8648" r="28048" b="7872"/>
          <a:stretch>
            <a:fillRect/>
          </a:stretch>
        </p:blipFill>
        <p:spPr>
          <a:xfrm>
            <a:off x="752099" y="2447166"/>
            <a:ext cx="1865420" cy="150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8"/>
          <p:cNvPicPr preferRelativeResize="0"/>
          <p:nvPr/>
        </p:nvPicPr>
        <p:blipFill>
          <a:blip r:embed="rId3">
            <a:alphaModFix/>
          </a:blip>
          <a:srcRect l="78118" t="8648" r="1164" b="7872"/>
          <a:stretch>
            <a:fillRect/>
          </a:stretch>
        </p:blipFill>
        <p:spPr>
          <a:xfrm>
            <a:off x="6177372" y="2447166"/>
            <a:ext cx="2230501" cy="1506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3" name="Google Shape;1143;p88"/>
          <p:cNvGrpSpPr/>
          <p:nvPr/>
        </p:nvGrpSpPr>
        <p:grpSpPr>
          <a:xfrm>
            <a:off x="1472903" y="4015200"/>
            <a:ext cx="457200" cy="457200"/>
            <a:chOff x="1020916" y="1442088"/>
            <a:chExt cx="457200" cy="457200"/>
          </a:xfrm>
        </p:grpSpPr>
        <p:pic>
          <p:nvPicPr>
            <p:cNvPr id="1144" name="Google Shape;1144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88"/>
          <p:cNvGrpSpPr/>
          <p:nvPr/>
        </p:nvGrpSpPr>
        <p:grpSpPr>
          <a:xfrm>
            <a:off x="4193528" y="4015200"/>
            <a:ext cx="457200" cy="457200"/>
            <a:chOff x="1020916" y="1442088"/>
            <a:chExt cx="457200" cy="457200"/>
          </a:xfrm>
        </p:grpSpPr>
        <p:pic>
          <p:nvPicPr>
            <p:cNvPr id="1147" name="Google Shape;1147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88"/>
          <p:cNvGrpSpPr/>
          <p:nvPr/>
        </p:nvGrpSpPr>
        <p:grpSpPr>
          <a:xfrm>
            <a:off x="7064016" y="4015200"/>
            <a:ext cx="457200" cy="457200"/>
            <a:chOff x="1020916" y="1442088"/>
            <a:chExt cx="457200" cy="457200"/>
          </a:xfrm>
        </p:grpSpPr>
        <p:pic>
          <p:nvPicPr>
            <p:cNvPr id="1150" name="Google Shape;1150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52" name="Google Shape;1152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6058" y="378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sp>
        <p:nvSpPr>
          <p:cNvPr id="1157" name="Google Shape;1157;p89"/>
          <p:cNvSpPr txBox="1"/>
          <p:nvPr>
            <p:ph type="body" idx="1"/>
          </p:nvPr>
        </p:nvSpPr>
        <p:spPr>
          <a:xfrm>
            <a:off x="4572000" y="759300"/>
            <a:ext cx="4248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Is Sam’s statement True or False?</a:t>
            </a:r>
            <a:endParaRPr sz="2000"/>
          </a:p>
        </p:txBody>
      </p:sp>
      <p:sp>
        <p:nvSpPr>
          <p:cNvPr id="1158" name="Google Shape;115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159" name="Google Shape;1159;p89"/>
          <p:cNvPicPr preferRelativeResize="0"/>
          <p:nvPr/>
        </p:nvPicPr>
        <p:blipFill>
          <a:blip r:embed="rId3">
            <a:alphaModFix/>
          </a:blip>
          <a:srcRect l="-185" t="-2012" r="59770" b="43327"/>
          <a:stretch>
            <a:fillRect/>
          </a:stretch>
        </p:blipFill>
        <p:spPr>
          <a:xfrm flipH="1">
            <a:off x="1122887" y="579600"/>
            <a:ext cx="2938900" cy="162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9"/>
          <p:cNvSpPr txBox="1"/>
          <p:nvPr/>
        </p:nvSpPr>
        <p:spPr>
          <a:xfrm flipH="1">
            <a:off x="1219213" y="680011"/>
            <a:ext cx="2764200" cy="12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This rectangle has been </a:t>
            </a: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rotated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, because both the object and its image have the same side lengths.</a:t>
            </a:r>
            <a:endParaRPr sz="1600">
              <a:solidFill>
                <a:srgbClr val="F3EEFB"/>
              </a:solidFill>
            </a:endParaRPr>
          </a:p>
        </p:txBody>
      </p:sp>
      <p:pic>
        <p:nvPicPr>
          <p:cNvPr id="1161" name="Google Shape;1161;p89"/>
          <p:cNvPicPr preferRelativeResize="0"/>
          <p:nvPr/>
        </p:nvPicPr>
        <p:blipFill>
          <a:blip r:embed="rId4">
            <a:alphaModFix/>
          </a:blip>
          <a:srcRect l="19430" r="19430"/>
          <a:stretch>
            <a:fillRect/>
          </a:stretch>
        </p:blipFill>
        <p:spPr>
          <a:xfrm>
            <a:off x="257525" y="1147462"/>
            <a:ext cx="961700" cy="105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9"/>
          <p:cNvSpPr txBox="1"/>
          <p:nvPr>
            <p:ph type="body" idx="1"/>
          </p:nvPr>
        </p:nvSpPr>
        <p:spPr>
          <a:xfrm flipH="1">
            <a:off x="2141075" y="2673110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163" name="Google Shape;1163;p89"/>
          <p:cNvSpPr txBox="1"/>
          <p:nvPr>
            <p:ph type="body" idx="1"/>
          </p:nvPr>
        </p:nvSpPr>
        <p:spPr>
          <a:xfrm>
            <a:off x="903663" y="4353706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cxnSp>
        <p:nvCxnSpPr>
          <p:cNvPr id="1164" name="Google Shape;1164;p89"/>
          <p:cNvCxnSpPr/>
          <p:nvPr/>
        </p:nvCxnSpPr>
        <p:spPr>
          <a:xfrm rot="10800000">
            <a:off x="1744417" y="2853410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5" name="Google Shape;1165;p89"/>
          <p:cNvPicPr preferRelativeResize="0"/>
          <p:nvPr/>
        </p:nvPicPr>
        <p:blipFill>
          <a:blip r:embed="rId5">
            <a:alphaModFix/>
          </a:blip>
          <a:srcRect r="63495"/>
          <a:stretch>
            <a:fillRect/>
          </a:stretch>
        </p:blipFill>
        <p:spPr>
          <a:xfrm rot="5400000">
            <a:off x="611814" y="2738022"/>
            <a:ext cx="1402651" cy="107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89"/>
          <p:cNvPicPr preferRelativeResize="0"/>
          <p:nvPr/>
        </p:nvPicPr>
        <p:blipFill>
          <a:blip r:embed="rId5">
            <a:alphaModFix/>
          </a:blip>
          <a:srcRect l="50990"/>
          <a:stretch>
            <a:fillRect/>
          </a:stretch>
        </p:blipFill>
        <p:spPr>
          <a:xfrm>
            <a:off x="2168683" y="3678268"/>
            <a:ext cx="1883125" cy="1076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89"/>
          <p:cNvSpPr txBox="1"/>
          <p:nvPr>
            <p:ph type="body" idx="1"/>
          </p:nvPr>
        </p:nvSpPr>
        <p:spPr>
          <a:xfrm>
            <a:off x="372663" y="3095950"/>
            <a:ext cx="590400" cy="36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5</a:t>
            </a:r>
            <a:r>
              <a:rPr lang="en-GB" sz="1200"/>
              <a:t> </a:t>
            </a:r>
            <a:r>
              <a:rPr lang="en-GB" sz="2000"/>
              <a:t>cm</a:t>
            </a:r>
            <a:endParaRPr sz="2000"/>
          </a:p>
        </p:txBody>
      </p:sp>
      <p:cxnSp>
        <p:nvCxnSpPr>
          <p:cNvPr id="1168" name="Google Shape;1168;p89"/>
          <p:cNvCxnSpPr/>
          <p:nvPr/>
        </p:nvCxnSpPr>
        <p:spPr>
          <a:xfrm>
            <a:off x="1776363" y="4534006"/>
            <a:ext cx="37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9" name="Google Shape;1169;p89"/>
          <p:cNvSpPr txBox="1"/>
          <p:nvPr>
            <p:ph type="body" idx="1"/>
          </p:nvPr>
        </p:nvSpPr>
        <p:spPr>
          <a:xfrm>
            <a:off x="962713" y="2388592"/>
            <a:ext cx="72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3</a:t>
            </a:r>
            <a:r>
              <a:rPr lang="en-GB" sz="1200"/>
              <a:t> </a:t>
            </a:r>
            <a:r>
              <a:rPr lang="en-GB" sz="2000"/>
              <a:t>cm</a:t>
            </a:r>
            <a:endParaRPr sz="2000"/>
          </a:p>
        </p:txBody>
      </p:sp>
      <p:sp>
        <p:nvSpPr>
          <p:cNvPr id="1170" name="Google Shape;1170;p89"/>
          <p:cNvSpPr txBox="1"/>
          <p:nvPr>
            <p:ph type="body" idx="1"/>
          </p:nvPr>
        </p:nvSpPr>
        <p:spPr>
          <a:xfrm>
            <a:off x="2907788" y="3667805"/>
            <a:ext cx="722700" cy="36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5</a:t>
            </a:r>
            <a:r>
              <a:rPr lang="en-GB" sz="1200"/>
              <a:t> </a:t>
            </a:r>
            <a:r>
              <a:rPr lang="en-GB" sz="2000"/>
              <a:t>cm</a:t>
            </a:r>
            <a:endParaRPr sz="2000"/>
          </a:p>
        </p:txBody>
      </p:sp>
      <p:sp>
        <p:nvSpPr>
          <p:cNvPr id="1171" name="Google Shape;1171;p89"/>
          <p:cNvSpPr txBox="1"/>
          <p:nvPr>
            <p:ph type="body" idx="1"/>
          </p:nvPr>
        </p:nvSpPr>
        <p:spPr>
          <a:xfrm>
            <a:off x="3699854" y="4207796"/>
            <a:ext cx="72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3</a:t>
            </a:r>
            <a:r>
              <a:rPr lang="en-GB" sz="1200"/>
              <a:t> </a:t>
            </a:r>
            <a:r>
              <a:rPr lang="en-GB" sz="2000"/>
              <a:t>cm</a:t>
            </a:r>
            <a:endParaRPr sz="2000"/>
          </a:p>
        </p:txBody>
      </p:sp>
      <p:grpSp>
        <p:nvGrpSpPr>
          <p:cNvPr id="1172" name="Google Shape;1172;p89"/>
          <p:cNvGrpSpPr/>
          <p:nvPr/>
        </p:nvGrpSpPr>
        <p:grpSpPr>
          <a:xfrm>
            <a:off x="4571998" y="1257891"/>
            <a:ext cx="3782025" cy="457425"/>
            <a:chOff x="4571998" y="1257891"/>
            <a:chExt cx="3782025" cy="457425"/>
          </a:xfrm>
        </p:grpSpPr>
        <p:sp>
          <p:nvSpPr>
            <p:cNvPr id="1173" name="Google Shape;1173;p89"/>
            <p:cNvSpPr txBox="1"/>
            <p:nvPr/>
          </p:nvSpPr>
          <p:spPr>
            <a:xfrm>
              <a:off x="5167561" y="1317250"/>
              <a:ext cx="1289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True</a:t>
              </a:r>
              <a:endPara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9"/>
            <p:cNvSpPr txBox="1"/>
            <p:nvPr/>
          </p:nvSpPr>
          <p:spPr>
            <a:xfrm>
              <a:off x="7293823" y="1294525"/>
              <a:ext cx="1060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False</a:t>
              </a:r>
              <a:endPara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75" name="Google Shape;1175;p8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71998" y="1257891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6" name="Google Shape;1176;p8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86711" y="1257891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89"/>
            <p:cNvSpPr txBox="1"/>
            <p:nvPr/>
          </p:nvSpPr>
          <p:spPr>
            <a:xfrm>
              <a:off x="4596723" y="1347988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89"/>
            <p:cNvSpPr txBox="1"/>
            <p:nvPr/>
          </p:nvSpPr>
          <p:spPr>
            <a:xfrm>
              <a:off x="6711436" y="1347988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9" name="Google Shape;1179;p89"/>
          <p:cNvSpPr txBox="1"/>
          <p:nvPr/>
        </p:nvSpPr>
        <p:spPr>
          <a:xfrm>
            <a:off x="4750800" y="2289438"/>
            <a:ext cx="396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0" name="Google Shape;1180;p89"/>
          <p:cNvGrpSpPr/>
          <p:nvPr/>
        </p:nvGrpSpPr>
        <p:grpSpPr>
          <a:xfrm>
            <a:off x="5131028" y="2805100"/>
            <a:ext cx="457200" cy="457200"/>
            <a:chOff x="1020916" y="1442088"/>
            <a:chExt cx="457200" cy="457200"/>
          </a:xfrm>
        </p:grpSpPr>
        <p:pic>
          <p:nvPicPr>
            <p:cNvPr id="1181" name="Google Shape;1181;p8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3" name="Google Shape;1183;p89"/>
          <p:cNvSpPr txBox="1"/>
          <p:nvPr>
            <p:ph type="body" idx="1"/>
          </p:nvPr>
        </p:nvSpPr>
        <p:spPr>
          <a:xfrm>
            <a:off x="5715000" y="3901375"/>
            <a:ext cx="3105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Because the angles in the shape have changed.</a:t>
            </a:r>
            <a:endParaRPr sz="1800"/>
          </a:p>
        </p:txBody>
      </p:sp>
      <p:grpSp>
        <p:nvGrpSpPr>
          <p:cNvPr id="1184" name="Google Shape;1184;p89"/>
          <p:cNvGrpSpPr/>
          <p:nvPr/>
        </p:nvGrpSpPr>
        <p:grpSpPr>
          <a:xfrm>
            <a:off x="5131028" y="3901363"/>
            <a:ext cx="457200" cy="457200"/>
            <a:chOff x="1020916" y="1442088"/>
            <a:chExt cx="457200" cy="457200"/>
          </a:xfrm>
        </p:grpSpPr>
        <p:pic>
          <p:nvPicPr>
            <p:cNvPr id="1185" name="Google Shape;1185;p8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7" name="Google Shape;1187;p89"/>
          <p:cNvSpPr txBox="1"/>
          <p:nvPr>
            <p:ph type="body" idx="1"/>
          </p:nvPr>
        </p:nvSpPr>
        <p:spPr>
          <a:xfrm>
            <a:off x="5715000" y="2805100"/>
            <a:ext cx="3105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Because the side lengths of 5</a:t>
            </a:r>
            <a:r>
              <a:rPr lang="en-GB" sz="1200"/>
              <a:t> </a:t>
            </a:r>
            <a:r>
              <a:rPr lang="en-GB" sz="1800"/>
              <a:t>cm and 3</a:t>
            </a:r>
            <a:r>
              <a:rPr lang="en-GB" sz="1200"/>
              <a:t> </a:t>
            </a:r>
            <a:r>
              <a:rPr lang="en-GB" sz="1800"/>
              <a:t>cm are invariant.</a:t>
            </a:r>
            <a:endParaRPr sz="1800"/>
          </a:p>
        </p:txBody>
      </p:sp>
      <p:pic>
        <p:nvPicPr>
          <p:cNvPr id="1188" name="Google Shape;1188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6233" y="15830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97733" y="42732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89"/>
          <p:cNvSpPr txBox="1"/>
          <p:nvPr>
            <p:ph type="body" idx="1"/>
          </p:nvPr>
        </p:nvSpPr>
        <p:spPr>
          <a:xfrm>
            <a:off x="377013" y="759292"/>
            <a:ext cx="72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Sam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pic>
        <p:nvPicPr>
          <p:cNvPr id="1195" name="Google Shape;119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82954" y="3882650"/>
            <a:ext cx="1482101" cy="6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0"/>
          <p:cNvSpPr/>
          <p:nvPr/>
        </p:nvSpPr>
        <p:spPr>
          <a:xfrm>
            <a:off x="6893125" y="1716924"/>
            <a:ext cx="1451700" cy="6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0"/>
          <p:cNvSpPr/>
          <p:nvPr/>
        </p:nvSpPr>
        <p:spPr>
          <a:xfrm rot="899729">
            <a:off x="6893159" y="1716870"/>
            <a:ext cx="1451634" cy="613386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0"/>
          <p:cNvSpPr/>
          <p:nvPr/>
        </p:nvSpPr>
        <p:spPr>
          <a:xfrm rot="1799940">
            <a:off x="6893230" y="1716831"/>
            <a:ext cx="1451444" cy="613419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0"/>
          <p:cNvSpPr/>
          <p:nvPr/>
        </p:nvSpPr>
        <p:spPr>
          <a:xfrm rot="2701507">
            <a:off x="6893096" y="1716918"/>
            <a:ext cx="1451620" cy="613486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0"/>
          <p:cNvSpPr/>
          <p:nvPr/>
        </p:nvSpPr>
        <p:spPr>
          <a:xfrm rot="3601386">
            <a:off x="6893067" y="1716951"/>
            <a:ext cx="1451814" cy="613419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0"/>
          <p:cNvSpPr/>
          <p:nvPr/>
        </p:nvSpPr>
        <p:spPr>
          <a:xfrm rot="4500455">
            <a:off x="6893005" y="1716977"/>
            <a:ext cx="1451923" cy="613386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0"/>
          <p:cNvSpPr/>
          <p:nvPr/>
        </p:nvSpPr>
        <p:spPr>
          <a:xfrm rot="5400000">
            <a:off x="6892912" y="1716958"/>
            <a:ext cx="1452000" cy="6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0"/>
          <p:cNvSpPr txBox="1"/>
          <p:nvPr>
            <p:ph type="body" idx="1"/>
          </p:nvPr>
        </p:nvSpPr>
        <p:spPr>
          <a:xfrm>
            <a:off x="324000" y="759300"/>
            <a:ext cx="6458100" cy="4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Objects that are </a:t>
            </a:r>
            <a:r>
              <a:rPr lang="en-GB" sz="2000" b="1"/>
              <a:t>rotated</a:t>
            </a:r>
            <a:r>
              <a:rPr lang="en-GB" sz="2000"/>
              <a:t> are not directly mirrors of their image.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This is easier to see with words on a piece of paper. The word ‘rotate’ still looks like the same word, even as it gets </a:t>
            </a:r>
            <a:r>
              <a:rPr lang="en-GB" sz="2000" b="1"/>
              <a:t>rotated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204" name="Google Shape;120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205" name="Google Shape;1205;p90"/>
          <p:cNvSpPr txBox="1"/>
          <p:nvPr>
            <p:ph type="body" idx="1"/>
          </p:nvPr>
        </p:nvSpPr>
        <p:spPr>
          <a:xfrm>
            <a:off x="324000" y="3168050"/>
            <a:ext cx="6666600" cy="4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However, when you mirror the word ‘rotate’ it no longer looks like the same word.</a:t>
            </a:r>
            <a:endParaRPr sz="2000"/>
          </a:p>
        </p:txBody>
      </p:sp>
      <p:sp>
        <p:nvSpPr>
          <p:cNvPr id="1206" name="Google Shape;1206;p90"/>
          <p:cNvSpPr/>
          <p:nvPr/>
        </p:nvSpPr>
        <p:spPr>
          <a:xfrm>
            <a:off x="1513587" y="3900158"/>
            <a:ext cx="1452000" cy="6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ROTATE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0" name="Shape 1210"/>
        <p:cNvGrpSpPr/>
        <p:nvPr/>
      </p:nvGrpSpPr>
      <p:grpSpPr>
        <a:xfrm>
          <a:off x="0" y="0"/>
          <a:ext cx="0" cy="0"/>
        </a:xfrm>
      </p:grpSpPr>
      <p:sp>
        <p:nvSpPr>
          <p:cNvPr id="1211" name="Google Shape;1211;p91"/>
          <p:cNvSpPr txBox="1"/>
          <p:nvPr>
            <p:ph type="body" idx="1"/>
          </p:nvPr>
        </p:nvSpPr>
        <p:spPr>
          <a:xfrm>
            <a:off x="324000" y="723250"/>
            <a:ext cx="38856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Select all the objects that have been </a:t>
            </a:r>
            <a:r>
              <a:rPr lang="en-GB" b="1"/>
              <a:t>rotated </a:t>
            </a:r>
            <a:r>
              <a:rPr lang="en-GB"/>
              <a:t>to create its image.</a:t>
            </a:r>
            <a:endParaRPr/>
          </a:p>
        </p:txBody>
      </p:sp>
      <p:sp>
        <p:nvSpPr>
          <p:cNvPr id="1212" name="Google Shape;121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213" name="Google Shape;121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275" y="958800"/>
            <a:ext cx="2854650" cy="386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1"/>
          <p:cNvSpPr txBox="1"/>
          <p:nvPr>
            <p:ph type="body" idx="1"/>
          </p:nvPr>
        </p:nvSpPr>
        <p:spPr>
          <a:xfrm>
            <a:off x="4568700" y="706539"/>
            <a:ext cx="10833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objects</a:t>
            </a:r>
            <a:endParaRPr sz="2000"/>
          </a:p>
        </p:txBody>
      </p:sp>
      <p:sp>
        <p:nvSpPr>
          <p:cNvPr id="1215" name="Google Shape;1215;p91"/>
          <p:cNvSpPr txBox="1"/>
          <p:nvPr>
            <p:ph type="body" idx="1"/>
          </p:nvPr>
        </p:nvSpPr>
        <p:spPr>
          <a:xfrm>
            <a:off x="6086575" y="706539"/>
            <a:ext cx="10833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images</a:t>
            </a:r>
            <a:endParaRPr sz="2000"/>
          </a:p>
        </p:txBody>
      </p:sp>
      <p:pic>
        <p:nvPicPr>
          <p:cNvPr id="1216" name="Google Shape;121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2933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2933" y="403180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8" name="Google Shape;1218;p91"/>
          <p:cNvGrpSpPr/>
          <p:nvPr/>
        </p:nvGrpSpPr>
        <p:grpSpPr>
          <a:xfrm>
            <a:off x="4111756" y="1764971"/>
            <a:ext cx="304541" cy="304541"/>
            <a:chOff x="1020916" y="1442088"/>
            <a:chExt cx="457200" cy="457200"/>
          </a:xfrm>
        </p:grpSpPr>
        <p:pic>
          <p:nvPicPr>
            <p:cNvPr id="1219" name="Google Shape;1219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91"/>
          <p:cNvGrpSpPr/>
          <p:nvPr/>
        </p:nvGrpSpPr>
        <p:grpSpPr>
          <a:xfrm>
            <a:off x="4111756" y="3061546"/>
            <a:ext cx="304541" cy="304541"/>
            <a:chOff x="1020916" y="1442088"/>
            <a:chExt cx="457200" cy="457200"/>
          </a:xfrm>
        </p:grpSpPr>
        <p:pic>
          <p:nvPicPr>
            <p:cNvPr id="1222" name="Google Shape;1222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4" name="Google Shape;1224;p91"/>
          <p:cNvGrpSpPr/>
          <p:nvPr/>
        </p:nvGrpSpPr>
        <p:grpSpPr>
          <a:xfrm>
            <a:off x="4111756" y="4365221"/>
            <a:ext cx="304541" cy="304541"/>
            <a:chOff x="1020916" y="1442088"/>
            <a:chExt cx="457200" cy="457200"/>
          </a:xfrm>
        </p:grpSpPr>
        <p:pic>
          <p:nvPicPr>
            <p:cNvPr id="1225" name="Google Shape;1225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p92"/>
          <p:cNvSpPr txBox="1"/>
          <p:nvPr>
            <p:ph type="body" idx="1"/>
          </p:nvPr>
        </p:nvSpPr>
        <p:spPr>
          <a:xfrm>
            <a:off x="324000" y="835275"/>
            <a:ext cx="3350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an object is </a:t>
            </a:r>
            <a:r>
              <a:rPr lang="en-GB" sz="1800" b="1"/>
              <a:t>rotated</a:t>
            </a:r>
            <a:r>
              <a:rPr lang="en-GB" sz="1800"/>
              <a:t>, its orientation changes, even if the image looks the same as its object.</a:t>
            </a:r>
            <a:endParaRPr sz="1800"/>
          </a:p>
        </p:txBody>
      </p:sp>
      <p:sp>
        <p:nvSpPr>
          <p:cNvPr id="1232" name="Google Shape;123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233" name="Google Shape;1233;p92"/>
          <p:cNvSpPr/>
          <p:nvPr/>
        </p:nvSpPr>
        <p:spPr>
          <a:xfrm>
            <a:off x="4304725" y="880772"/>
            <a:ext cx="1080000" cy="1080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4" name="Google Shape;1234;p92"/>
          <p:cNvSpPr/>
          <p:nvPr/>
        </p:nvSpPr>
        <p:spPr>
          <a:xfrm>
            <a:off x="6632425" y="880772"/>
            <a:ext cx="1080000" cy="10800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5" name="Google Shape;1235;p92"/>
          <p:cNvSpPr txBox="1"/>
          <p:nvPr>
            <p:ph type="body" idx="1"/>
          </p:nvPr>
        </p:nvSpPr>
        <p:spPr>
          <a:xfrm>
            <a:off x="4408375" y="2131773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236" name="Google Shape;1236;p92"/>
          <p:cNvSpPr txBox="1"/>
          <p:nvPr>
            <p:ph type="body" idx="1"/>
          </p:nvPr>
        </p:nvSpPr>
        <p:spPr>
          <a:xfrm>
            <a:off x="6736075" y="2131773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237" name="Google Shape;1237;p92"/>
          <p:cNvSpPr/>
          <p:nvPr/>
        </p:nvSpPr>
        <p:spPr>
          <a:xfrm rot="1799853">
            <a:off x="6632431" y="880778"/>
            <a:ext cx="1080080" cy="108008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8" name="Google Shape;1238;p92"/>
          <p:cNvSpPr/>
          <p:nvPr/>
        </p:nvSpPr>
        <p:spPr>
          <a:xfrm rot="3600147">
            <a:off x="6632350" y="880769"/>
            <a:ext cx="1080080" cy="108008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9" name="Google Shape;1239;p92"/>
          <p:cNvSpPr/>
          <p:nvPr/>
        </p:nvSpPr>
        <p:spPr>
          <a:xfrm rot="5400000">
            <a:off x="6632430" y="880769"/>
            <a:ext cx="1080000" cy="10800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0" name="Google Shape;1240;p92"/>
          <p:cNvSpPr txBox="1"/>
          <p:nvPr>
            <p:ph type="body" idx="1"/>
          </p:nvPr>
        </p:nvSpPr>
        <p:spPr>
          <a:xfrm>
            <a:off x="324000" y="2984600"/>
            <a:ext cx="3350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This is easier to see if we label the vertices of the object and image.</a:t>
            </a:r>
            <a:endParaRPr sz="1800"/>
          </a:p>
        </p:txBody>
      </p:sp>
      <p:sp>
        <p:nvSpPr>
          <p:cNvPr id="1241" name="Google Shape;1241;p92"/>
          <p:cNvSpPr/>
          <p:nvPr/>
        </p:nvSpPr>
        <p:spPr>
          <a:xfrm>
            <a:off x="4304725" y="2996834"/>
            <a:ext cx="1080000" cy="1080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2" name="Google Shape;1242;p92"/>
          <p:cNvSpPr txBox="1"/>
          <p:nvPr>
            <p:ph type="body" idx="1"/>
          </p:nvPr>
        </p:nvSpPr>
        <p:spPr>
          <a:xfrm>
            <a:off x="4408375" y="4517911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243" name="Google Shape;1243;p92"/>
          <p:cNvSpPr txBox="1"/>
          <p:nvPr>
            <p:ph type="body" idx="1"/>
          </p:nvPr>
        </p:nvSpPr>
        <p:spPr>
          <a:xfrm>
            <a:off x="6736075" y="4517911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244" name="Google Shape;1244;p92"/>
          <p:cNvSpPr txBox="1"/>
          <p:nvPr>
            <p:ph type="body" idx="1"/>
          </p:nvPr>
        </p:nvSpPr>
        <p:spPr>
          <a:xfrm>
            <a:off x="4083501" y="3877975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245" name="Google Shape;1245;p92"/>
          <p:cNvSpPr txBox="1"/>
          <p:nvPr>
            <p:ph type="body" idx="1"/>
          </p:nvPr>
        </p:nvSpPr>
        <p:spPr>
          <a:xfrm>
            <a:off x="5357964" y="3877975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246" name="Google Shape;1246;p92"/>
          <p:cNvSpPr txBox="1"/>
          <p:nvPr>
            <p:ph type="body" idx="1"/>
          </p:nvPr>
        </p:nvSpPr>
        <p:spPr>
          <a:xfrm>
            <a:off x="4083501" y="2775975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247" name="Google Shape;1247;p92"/>
          <p:cNvSpPr txBox="1"/>
          <p:nvPr>
            <p:ph type="body" idx="1"/>
          </p:nvPr>
        </p:nvSpPr>
        <p:spPr>
          <a:xfrm>
            <a:off x="5357964" y="2775975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grpSp>
        <p:nvGrpSpPr>
          <p:cNvPr id="1248" name="Google Shape;1248;p92"/>
          <p:cNvGrpSpPr/>
          <p:nvPr/>
        </p:nvGrpSpPr>
        <p:grpSpPr>
          <a:xfrm>
            <a:off x="6416925" y="2748200"/>
            <a:ext cx="1531900" cy="1565025"/>
            <a:chOff x="6416925" y="2824400"/>
            <a:chExt cx="1531900" cy="1565025"/>
          </a:xfrm>
        </p:grpSpPr>
        <p:sp>
          <p:nvSpPr>
            <p:cNvPr id="1249" name="Google Shape;1249;p92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0" name="Google Shape;1250;p92"/>
            <p:cNvSpPr/>
            <p:nvPr/>
          </p:nvSpPr>
          <p:spPr>
            <a:xfrm>
              <a:off x="6416925" y="415302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1" name="Google Shape;1251;p92"/>
            <p:cNvSpPr/>
            <p:nvPr/>
          </p:nvSpPr>
          <p:spPr>
            <a:xfrm>
              <a:off x="7712425" y="415302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92"/>
            <p:cNvSpPr/>
            <p:nvPr/>
          </p:nvSpPr>
          <p:spPr>
            <a:xfrm>
              <a:off x="6416925" y="2824400"/>
              <a:ext cx="3192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92"/>
            <p:cNvSpPr/>
            <p:nvPr/>
          </p:nvSpPr>
          <p:spPr>
            <a:xfrm>
              <a:off x="7712425" y="2824400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92"/>
          <p:cNvGrpSpPr/>
          <p:nvPr/>
        </p:nvGrpSpPr>
        <p:grpSpPr>
          <a:xfrm rot="1800044">
            <a:off x="6378983" y="2685245"/>
            <a:ext cx="1618280" cy="1672387"/>
            <a:chOff x="6373644" y="2760139"/>
            <a:chExt cx="1618316" cy="1672424"/>
          </a:xfrm>
        </p:grpSpPr>
        <p:sp>
          <p:nvSpPr>
            <p:cNvPr id="1255" name="Google Shape;1255;p92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6" name="Google Shape;1256;p92"/>
            <p:cNvSpPr/>
            <p:nvPr/>
          </p:nvSpPr>
          <p:spPr>
            <a:xfrm rot="-1800934">
              <a:off x="6416916" y="415301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92"/>
            <p:cNvSpPr/>
            <p:nvPr/>
          </p:nvSpPr>
          <p:spPr>
            <a:xfrm rot="-1800934">
              <a:off x="7712416" y="415301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92"/>
            <p:cNvSpPr/>
            <p:nvPr/>
          </p:nvSpPr>
          <p:spPr>
            <a:xfrm rot="-1803101">
              <a:off x="6414061" y="2813895"/>
              <a:ext cx="277966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92"/>
            <p:cNvSpPr/>
            <p:nvPr/>
          </p:nvSpPr>
          <p:spPr>
            <a:xfrm rot="-1800934">
              <a:off x="7712416" y="2824393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92"/>
          <p:cNvGrpSpPr/>
          <p:nvPr/>
        </p:nvGrpSpPr>
        <p:grpSpPr>
          <a:xfrm rot="3599956">
            <a:off x="6389721" y="2677187"/>
            <a:ext cx="1618267" cy="1688291"/>
            <a:chOff x="6373669" y="2744276"/>
            <a:chExt cx="1618303" cy="1688329"/>
          </a:xfrm>
        </p:grpSpPr>
        <p:sp>
          <p:nvSpPr>
            <p:cNvPr id="1261" name="Google Shape;1261;p92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2" name="Google Shape;1262;p92"/>
            <p:cNvSpPr/>
            <p:nvPr/>
          </p:nvSpPr>
          <p:spPr>
            <a:xfrm rot="-3599066">
              <a:off x="6416927" y="4153060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92"/>
            <p:cNvSpPr/>
            <p:nvPr/>
          </p:nvSpPr>
          <p:spPr>
            <a:xfrm rot="-3599066">
              <a:off x="7712427" y="4153060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92"/>
            <p:cNvSpPr/>
            <p:nvPr/>
          </p:nvSpPr>
          <p:spPr>
            <a:xfrm rot="-3599254">
              <a:off x="6406271" y="2805982"/>
              <a:ext cx="278895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92"/>
            <p:cNvSpPr/>
            <p:nvPr/>
          </p:nvSpPr>
          <p:spPr>
            <a:xfrm rot="-3599066">
              <a:off x="7712427" y="2824435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6" name="Google Shape;1266;p92"/>
          <p:cNvGrpSpPr/>
          <p:nvPr/>
        </p:nvGrpSpPr>
        <p:grpSpPr>
          <a:xfrm rot="5400000">
            <a:off x="6434638" y="2720062"/>
            <a:ext cx="1531900" cy="1621422"/>
            <a:chOff x="6416927" y="2767927"/>
            <a:chExt cx="1531900" cy="1621422"/>
          </a:xfrm>
        </p:grpSpPr>
        <p:sp>
          <p:nvSpPr>
            <p:cNvPr id="1267" name="Google Shape;1267;p92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8" name="Google Shape;1268;p92"/>
            <p:cNvSpPr/>
            <p:nvPr/>
          </p:nvSpPr>
          <p:spPr>
            <a:xfrm rot="-5400000">
              <a:off x="6416927" y="4152949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92"/>
            <p:cNvSpPr/>
            <p:nvPr/>
          </p:nvSpPr>
          <p:spPr>
            <a:xfrm rot="-5400000">
              <a:off x="7712427" y="4152949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92"/>
            <p:cNvSpPr/>
            <p:nvPr/>
          </p:nvSpPr>
          <p:spPr>
            <a:xfrm rot="-5400000">
              <a:off x="6388729" y="2796127"/>
              <a:ext cx="2928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92"/>
            <p:cNvSpPr/>
            <p:nvPr/>
          </p:nvSpPr>
          <p:spPr>
            <a:xfrm rot="-5400000">
              <a:off x="7712427" y="2824324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5" name="Shape 1275"/>
        <p:cNvGrpSpPr/>
        <p:nvPr/>
      </p:nvGrpSpPr>
      <p:grpSpPr>
        <a:xfrm>
          <a:off x="0" y="0"/>
          <a:ext cx="0" cy="0"/>
        </a:xfrm>
      </p:grpSpPr>
      <p:sp>
        <p:nvSpPr>
          <p:cNvPr id="1276" name="Google Shape;1276;p93"/>
          <p:cNvSpPr txBox="1"/>
          <p:nvPr>
            <p:ph type="body" idx="1"/>
          </p:nvPr>
        </p:nvSpPr>
        <p:spPr>
          <a:xfrm>
            <a:off x="4977200" y="3498125"/>
            <a:ext cx="33093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full turn means the orientation of the object and image are invariant.</a:t>
            </a:r>
            <a:endParaRPr sz="1800"/>
          </a:p>
        </p:txBody>
      </p:sp>
      <p:sp>
        <p:nvSpPr>
          <p:cNvPr id="1277" name="Google Shape;127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278" name="Google Shape;1278;p93"/>
          <p:cNvSpPr txBox="1"/>
          <p:nvPr>
            <p:ph type="body" idx="1"/>
          </p:nvPr>
        </p:nvSpPr>
        <p:spPr>
          <a:xfrm>
            <a:off x="324000" y="1216500"/>
            <a:ext cx="2957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only time orientation is invariant is when a full turn of </a:t>
            </a:r>
            <a:r>
              <a:rPr lang="en-GB" sz="1800" b="1"/>
              <a:t>rotation</a:t>
            </a:r>
            <a:r>
              <a:rPr lang="en-GB" sz="1800"/>
              <a:t> occurs.</a:t>
            </a:r>
            <a:endParaRPr sz="1800"/>
          </a:p>
        </p:txBody>
      </p:sp>
      <p:sp>
        <p:nvSpPr>
          <p:cNvPr id="1279" name="Google Shape;1279;p93"/>
          <p:cNvSpPr/>
          <p:nvPr/>
        </p:nvSpPr>
        <p:spPr>
          <a:xfrm>
            <a:off x="3695125" y="1308506"/>
            <a:ext cx="1080000" cy="1080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0" name="Google Shape;1280;p93"/>
          <p:cNvSpPr txBox="1"/>
          <p:nvPr>
            <p:ph type="body" idx="1"/>
          </p:nvPr>
        </p:nvSpPr>
        <p:spPr>
          <a:xfrm>
            <a:off x="3473901" y="2189647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281" name="Google Shape;1281;p93"/>
          <p:cNvSpPr txBox="1"/>
          <p:nvPr>
            <p:ph type="body" idx="1"/>
          </p:nvPr>
        </p:nvSpPr>
        <p:spPr>
          <a:xfrm>
            <a:off x="4748364" y="2189647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282" name="Google Shape;1282;p93"/>
          <p:cNvSpPr txBox="1"/>
          <p:nvPr>
            <p:ph type="body" idx="1"/>
          </p:nvPr>
        </p:nvSpPr>
        <p:spPr>
          <a:xfrm>
            <a:off x="3473901" y="1087648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283" name="Google Shape;1283;p93"/>
          <p:cNvSpPr txBox="1"/>
          <p:nvPr>
            <p:ph type="body" idx="1"/>
          </p:nvPr>
        </p:nvSpPr>
        <p:spPr>
          <a:xfrm>
            <a:off x="4748364" y="1087648"/>
            <a:ext cx="236400" cy="39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grpSp>
        <p:nvGrpSpPr>
          <p:cNvPr id="1284" name="Google Shape;1284;p93"/>
          <p:cNvGrpSpPr/>
          <p:nvPr/>
        </p:nvGrpSpPr>
        <p:grpSpPr>
          <a:xfrm>
            <a:off x="5807325" y="1059872"/>
            <a:ext cx="1531900" cy="1565025"/>
            <a:chOff x="6416925" y="2824400"/>
            <a:chExt cx="1531900" cy="1565025"/>
          </a:xfrm>
        </p:grpSpPr>
        <p:sp>
          <p:nvSpPr>
            <p:cNvPr id="1285" name="Google Shape;1285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6" name="Google Shape;1286;p93"/>
            <p:cNvSpPr/>
            <p:nvPr/>
          </p:nvSpPr>
          <p:spPr>
            <a:xfrm>
              <a:off x="6416925" y="415302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93"/>
            <p:cNvSpPr/>
            <p:nvPr/>
          </p:nvSpPr>
          <p:spPr>
            <a:xfrm>
              <a:off x="7712425" y="415302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93"/>
            <p:cNvSpPr/>
            <p:nvPr/>
          </p:nvSpPr>
          <p:spPr>
            <a:xfrm>
              <a:off x="6416925" y="2824403"/>
              <a:ext cx="3192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93"/>
            <p:cNvSpPr/>
            <p:nvPr/>
          </p:nvSpPr>
          <p:spPr>
            <a:xfrm>
              <a:off x="7712425" y="2824400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93"/>
          <p:cNvGrpSpPr/>
          <p:nvPr/>
        </p:nvGrpSpPr>
        <p:grpSpPr>
          <a:xfrm rot="1800044">
            <a:off x="5770808" y="991605"/>
            <a:ext cx="1618278" cy="1678082"/>
            <a:chOff x="6373646" y="2754444"/>
            <a:chExt cx="1618314" cy="1678119"/>
          </a:xfrm>
        </p:grpSpPr>
        <p:sp>
          <p:nvSpPr>
            <p:cNvPr id="1291" name="Google Shape;1291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2" name="Google Shape;1292;p93"/>
            <p:cNvSpPr/>
            <p:nvPr/>
          </p:nvSpPr>
          <p:spPr>
            <a:xfrm rot="-1800934">
              <a:off x="6416916" y="415301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93"/>
            <p:cNvSpPr/>
            <p:nvPr/>
          </p:nvSpPr>
          <p:spPr>
            <a:xfrm rot="-1800934">
              <a:off x="7712416" y="415301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93"/>
            <p:cNvSpPr/>
            <p:nvPr/>
          </p:nvSpPr>
          <p:spPr>
            <a:xfrm rot="-1801034">
              <a:off x="6413322" y="2811050"/>
              <a:ext cx="28964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93"/>
            <p:cNvSpPr/>
            <p:nvPr/>
          </p:nvSpPr>
          <p:spPr>
            <a:xfrm rot="-1800934">
              <a:off x="7712416" y="2824393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6" name="Google Shape;1296;p93"/>
          <p:cNvGrpSpPr/>
          <p:nvPr/>
        </p:nvGrpSpPr>
        <p:grpSpPr>
          <a:xfrm rot="3599956">
            <a:off x="5775708" y="996461"/>
            <a:ext cx="1618264" cy="1678084"/>
            <a:chOff x="6373660" y="2754566"/>
            <a:chExt cx="1618300" cy="1678121"/>
          </a:xfrm>
        </p:grpSpPr>
        <p:sp>
          <p:nvSpPr>
            <p:cNvPr id="1297" name="Google Shape;1297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8" name="Google Shape;1298;p93"/>
            <p:cNvSpPr/>
            <p:nvPr/>
          </p:nvSpPr>
          <p:spPr>
            <a:xfrm rot="-3599066">
              <a:off x="6416916" y="4153143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93"/>
            <p:cNvSpPr/>
            <p:nvPr/>
          </p:nvSpPr>
          <p:spPr>
            <a:xfrm rot="-3599066">
              <a:off x="7712416" y="4153143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93"/>
            <p:cNvSpPr/>
            <p:nvPr/>
          </p:nvSpPr>
          <p:spPr>
            <a:xfrm rot="-3597116">
              <a:off x="6409255" y="2811172"/>
              <a:ext cx="267212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93"/>
            <p:cNvSpPr/>
            <p:nvPr/>
          </p:nvSpPr>
          <p:spPr>
            <a:xfrm rot="-3599066">
              <a:off x="7712416" y="282451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93"/>
          <p:cNvGrpSpPr/>
          <p:nvPr/>
        </p:nvGrpSpPr>
        <p:grpSpPr>
          <a:xfrm rot="5400000">
            <a:off x="5822540" y="1035882"/>
            <a:ext cx="1531900" cy="1613017"/>
            <a:chOff x="6416916" y="2776414"/>
            <a:chExt cx="1531900" cy="1613017"/>
          </a:xfrm>
        </p:grpSpPr>
        <p:sp>
          <p:nvSpPr>
            <p:cNvPr id="1303" name="Google Shape;1303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4" name="Google Shape;1304;p93"/>
            <p:cNvSpPr/>
            <p:nvPr/>
          </p:nvSpPr>
          <p:spPr>
            <a:xfrm rot="-5400000">
              <a:off x="6416916" y="4153032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93"/>
            <p:cNvSpPr/>
            <p:nvPr/>
          </p:nvSpPr>
          <p:spPr>
            <a:xfrm rot="-5400000">
              <a:off x="7712416" y="4153032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93"/>
            <p:cNvSpPr/>
            <p:nvPr/>
          </p:nvSpPr>
          <p:spPr>
            <a:xfrm rot="-5400000">
              <a:off x="6392925" y="2800414"/>
              <a:ext cx="284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93"/>
            <p:cNvSpPr/>
            <p:nvPr/>
          </p:nvSpPr>
          <p:spPr>
            <a:xfrm rot="-5400000">
              <a:off x="7712416" y="2824407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93"/>
          <p:cNvGrpSpPr/>
          <p:nvPr/>
        </p:nvGrpSpPr>
        <p:grpSpPr>
          <a:xfrm rot="7200044">
            <a:off x="5759325" y="994368"/>
            <a:ext cx="1643752" cy="1695485"/>
            <a:chOff x="6348165" y="2737174"/>
            <a:chExt cx="1643789" cy="1695522"/>
          </a:xfrm>
        </p:grpSpPr>
        <p:sp>
          <p:nvSpPr>
            <p:cNvPr id="1309" name="Google Shape;1309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0" name="Google Shape;1310;p93"/>
            <p:cNvSpPr/>
            <p:nvPr/>
          </p:nvSpPr>
          <p:spPr>
            <a:xfrm rot="-7200934">
              <a:off x="6416909" y="4153152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93"/>
            <p:cNvSpPr/>
            <p:nvPr/>
          </p:nvSpPr>
          <p:spPr>
            <a:xfrm rot="-7200934">
              <a:off x="7712409" y="4153152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93"/>
            <p:cNvSpPr/>
            <p:nvPr/>
          </p:nvSpPr>
          <p:spPr>
            <a:xfrm rot="-7201171">
              <a:off x="6378700" y="2802480"/>
              <a:ext cx="287231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93"/>
            <p:cNvSpPr/>
            <p:nvPr/>
          </p:nvSpPr>
          <p:spPr>
            <a:xfrm rot="-7200934">
              <a:off x="7712409" y="2824527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93"/>
          <p:cNvGrpSpPr/>
          <p:nvPr/>
        </p:nvGrpSpPr>
        <p:grpSpPr>
          <a:xfrm rot="5400000">
            <a:off x="13359468" y="731531"/>
            <a:ext cx="1531900" cy="1565025"/>
            <a:chOff x="6416916" y="2824407"/>
            <a:chExt cx="1531900" cy="1565025"/>
          </a:xfrm>
        </p:grpSpPr>
        <p:sp>
          <p:nvSpPr>
            <p:cNvPr id="1315" name="Google Shape;1315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6" name="Google Shape;1316;p93"/>
            <p:cNvSpPr/>
            <p:nvPr/>
          </p:nvSpPr>
          <p:spPr>
            <a:xfrm rot="-5400000">
              <a:off x="6416916" y="4153032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93"/>
            <p:cNvSpPr/>
            <p:nvPr/>
          </p:nvSpPr>
          <p:spPr>
            <a:xfrm rot="-5400000">
              <a:off x="7712416" y="4153032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93"/>
            <p:cNvSpPr/>
            <p:nvPr/>
          </p:nvSpPr>
          <p:spPr>
            <a:xfrm rot="-5400000">
              <a:off x="6416916" y="2824407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93"/>
            <p:cNvSpPr/>
            <p:nvPr/>
          </p:nvSpPr>
          <p:spPr>
            <a:xfrm rot="-5400000">
              <a:off x="7712416" y="2824407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93"/>
          <p:cNvGrpSpPr/>
          <p:nvPr/>
        </p:nvGrpSpPr>
        <p:grpSpPr>
          <a:xfrm rot="8999956">
            <a:off x="5759216" y="1002180"/>
            <a:ext cx="1668070" cy="1680189"/>
            <a:chOff x="6323889" y="2752459"/>
            <a:chExt cx="1668106" cy="1680226"/>
          </a:xfrm>
        </p:grpSpPr>
        <p:sp>
          <p:nvSpPr>
            <p:cNvPr id="1321" name="Google Shape;1321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2" name="Google Shape;1322;p93"/>
            <p:cNvSpPr/>
            <p:nvPr/>
          </p:nvSpPr>
          <p:spPr>
            <a:xfrm rot="-8999066">
              <a:off x="6416951" y="4153141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93"/>
            <p:cNvSpPr/>
            <p:nvPr/>
          </p:nvSpPr>
          <p:spPr>
            <a:xfrm rot="-8999066">
              <a:off x="7712451" y="4153141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93"/>
            <p:cNvSpPr/>
            <p:nvPr/>
          </p:nvSpPr>
          <p:spPr>
            <a:xfrm rot="-8998763">
              <a:off x="6363281" y="2810115"/>
              <a:ext cx="293817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93"/>
            <p:cNvSpPr/>
            <p:nvPr/>
          </p:nvSpPr>
          <p:spPr>
            <a:xfrm rot="-8999066">
              <a:off x="7712451" y="2824516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93"/>
          <p:cNvGrpSpPr/>
          <p:nvPr/>
        </p:nvGrpSpPr>
        <p:grpSpPr>
          <a:xfrm rot="10800000">
            <a:off x="5781019" y="1059719"/>
            <a:ext cx="1558307" cy="1565031"/>
            <a:chOff x="6390433" y="2824398"/>
            <a:chExt cx="1558307" cy="1565031"/>
          </a:xfrm>
        </p:grpSpPr>
        <p:sp>
          <p:nvSpPr>
            <p:cNvPr id="1327" name="Google Shape;1327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8" name="Google Shape;1328;p93"/>
            <p:cNvSpPr/>
            <p:nvPr/>
          </p:nvSpPr>
          <p:spPr>
            <a:xfrm rot="10800000">
              <a:off x="6416840" y="4153030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9" name="Google Shape;1329;p93"/>
            <p:cNvSpPr/>
            <p:nvPr/>
          </p:nvSpPr>
          <p:spPr>
            <a:xfrm rot="10800000">
              <a:off x="7712340" y="4153030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0" name="Google Shape;1330;p93"/>
            <p:cNvSpPr/>
            <p:nvPr/>
          </p:nvSpPr>
          <p:spPr>
            <a:xfrm rot="10800000">
              <a:off x="6390433" y="2824398"/>
              <a:ext cx="2628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93"/>
            <p:cNvSpPr/>
            <p:nvPr/>
          </p:nvSpPr>
          <p:spPr>
            <a:xfrm rot="10800000">
              <a:off x="7712340" y="282440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2" name="Google Shape;1332;p93"/>
          <p:cNvGrpSpPr/>
          <p:nvPr/>
        </p:nvGrpSpPr>
        <p:grpSpPr>
          <a:xfrm rot="-8999956">
            <a:off x="5724948" y="1031764"/>
            <a:ext cx="1679155" cy="1651404"/>
            <a:chOff x="6312812" y="2781251"/>
            <a:chExt cx="1679192" cy="1651440"/>
          </a:xfrm>
        </p:grpSpPr>
        <p:sp>
          <p:nvSpPr>
            <p:cNvPr id="1333" name="Google Shape;1333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4" name="Google Shape;1334;p93"/>
            <p:cNvSpPr/>
            <p:nvPr/>
          </p:nvSpPr>
          <p:spPr>
            <a:xfrm rot="8999066">
              <a:off x="6416960" y="4153147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93"/>
            <p:cNvSpPr/>
            <p:nvPr/>
          </p:nvSpPr>
          <p:spPr>
            <a:xfrm rot="8999066">
              <a:off x="7712460" y="4153147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93"/>
            <p:cNvSpPr/>
            <p:nvPr/>
          </p:nvSpPr>
          <p:spPr>
            <a:xfrm rot="8999869">
              <a:off x="6351372" y="2842057"/>
              <a:ext cx="306580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93"/>
            <p:cNvSpPr/>
            <p:nvPr/>
          </p:nvSpPr>
          <p:spPr>
            <a:xfrm rot="8999066">
              <a:off x="7712460" y="2824522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8" name="Google Shape;1338;p93"/>
          <p:cNvGrpSpPr/>
          <p:nvPr/>
        </p:nvGrpSpPr>
        <p:grpSpPr>
          <a:xfrm rot="-7200044">
            <a:off x="5741787" y="1024889"/>
            <a:ext cx="1637457" cy="1651389"/>
            <a:chOff x="6354501" y="2781225"/>
            <a:chExt cx="1637493" cy="1651425"/>
          </a:xfrm>
        </p:grpSpPr>
        <p:sp>
          <p:nvSpPr>
            <p:cNvPr id="1339" name="Google Shape;1339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0" name="Google Shape;1340;p93"/>
            <p:cNvSpPr/>
            <p:nvPr/>
          </p:nvSpPr>
          <p:spPr>
            <a:xfrm rot="7200934">
              <a:off x="6416949" y="4153105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93"/>
            <p:cNvSpPr/>
            <p:nvPr/>
          </p:nvSpPr>
          <p:spPr>
            <a:xfrm rot="7200934">
              <a:off x="7712449" y="4153105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93"/>
            <p:cNvSpPr/>
            <p:nvPr/>
          </p:nvSpPr>
          <p:spPr>
            <a:xfrm rot="7200524">
              <a:off x="6388137" y="2841134"/>
              <a:ext cx="274727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93"/>
            <p:cNvSpPr/>
            <p:nvPr/>
          </p:nvSpPr>
          <p:spPr>
            <a:xfrm rot="7200934">
              <a:off x="7712449" y="2824480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93"/>
          <p:cNvGrpSpPr/>
          <p:nvPr/>
        </p:nvGrpSpPr>
        <p:grpSpPr>
          <a:xfrm rot="-5400000">
            <a:off x="5789751" y="1059660"/>
            <a:ext cx="1531904" cy="1565025"/>
            <a:chOff x="6416834" y="2824480"/>
            <a:chExt cx="1531904" cy="1565025"/>
          </a:xfrm>
        </p:grpSpPr>
        <p:sp>
          <p:nvSpPr>
            <p:cNvPr id="1345" name="Google Shape;1345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6" name="Google Shape;1346;p93"/>
            <p:cNvSpPr/>
            <p:nvPr/>
          </p:nvSpPr>
          <p:spPr>
            <a:xfrm rot="5400000">
              <a:off x="6416838" y="415310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93"/>
            <p:cNvSpPr/>
            <p:nvPr/>
          </p:nvSpPr>
          <p:spPr>
            <a:xfrm rot="5400000">
              <a:off x="7712338" y="4153105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93"/>
            <p:cNvSpPr/>
            <p:nvPr/>
          </p:nvSpPr>
          <p:spPr>
            <a:xfrm rot="5400000">
              <a:off x="6378884" y="2862442"/>
              <a:ext cx="3123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93"/>
            <p:cNvSpPr/>
            <p:nvPr/>
          </p:nvSpPr>
          <p:spPr>
            <a:xfrm rot="5400000">
              <a:off x="7712338" y="2824480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0" name="Google Shape;1350;p93"/>
          <p:cNvGrpSpPr/>
          <p:nvPr/>
        </p:nvGrpSpPr>
        <p:grpSpPr>
          <a:xfrm rot="-3599956">
            <a:off x="5746579" y="1016573"/>
            <a:ext cx="1618264" cy="1651389"/>
            <a:chOff x="6373700" y="2781216"/>
            <a:chExt cx="1618300" cy="1651425"/>
          </a:xfrm>
        </p:grpSpPr>
        <p:sp>
          <p:nvSpPr>
            <p:cNvPr id="1351" name="Google Shape;1351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2" name="Google Shape;1352;p93"/>
            <p:cNvSpPr/>
            <p:nvPr/>
          </p:nvSpPr>
          <p:spPr>
            <a:xfrm rot="3599066">
              <a:off x="6416956" y="4153096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93"/>
            <p:cNvSpPr/>
            <p:nvPr/>
          </p:nvSpPr>
          <p:spPr>
            <a:xfrm rot="3599066">
              <a:off x="7712456" y="4153096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93"/>
            <p:cNvSpPr/>
            <p:nvPr/>
          </p:nvSpPr>
          <p:spPr>
            <a:xfrm rot="3598319">
              <a:off x="6398881" y="2855830"/>
              <a:ext cx="30873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93"/>
            <p:cNvSpPr/>
            <p:nvPr/>
          </p:nvSpPr>
          <p:spPr>
            <a:xfrm rot="3599066">
              <a:off x="7712456" y="2824471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93"/>
          <p:cNvGrpSpPr/>
          <p:nvPr/>
        </p:nvGrpSpPr>
        <p:grpSpPr>
          <a:xfrm rot="-1800044">
            <a:off x="5755348" y="1016496"/>
            <a:ext cx="1618269" cy="1651396"/>
            <a:chOff x="6373653" y="2781220"/>
            <a:chExt cx="1618305" cy="1651432"/>
          </a:xfrm>
        </p:grpSpPr>
        <p:sp>
          <p:nvSpPr>
            <p:cNvPr id="1357" name="Google Shape;1357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8" name="Google Shape;1358;p93"/>
            <p:cNvSpPr/>
            <p:nvPr/>
          </p:nvSpPr>
          <p:spPr>
            <a:xfrm rot="1800934">
              <a:off x="6416914" y="415310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9" name="Google Shape;1359;p93"/>
            <p:cNvSpPr/>
            <p:nvPr/>
          </p:nvSpPr>
          <p:spPr>
            <a:xfrm rot="1800934">
              <a:off x="7712414" y="4153108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93"/>
            <p:cNvSpPr/>
            <p:nvPr/>
          </p:nvSpPr>
          <p:spPr>
            <a:xfrm rot="1801390">
              <a:off x="6414250" y="2834375"/>
              <a:ext cx="275807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93"/>
            <p:cNvSpPr/>
            <p:nvPr/>
          </p:nvSpPr>
          <p:spPr>
            <a:xfrm rot="1800934">
              <a:off x="7712414" y="2824483"/>
              <a:ext cx="236289" cy="23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93"/>
          <p:cNvGrpSpPr/>
          <p:nvPr/>
        </p:nvGrpSpPr>
        <p:grpSpPr>
          <a:xfrm>
            <a:off x="5798525" y="1059818"/>
            <a:ext cx="1531901" cy="1565025"/>
            <a:chOff x="6416913" y="2824483"/>
            <a:chExt cx="1531901" cy="1565025"/>
          </a:xfrm>
        </p:grpSpPr>
        <p:sp>
          <p:nvSpPr>
            <p:cNvPr id="1363" name="Google Shape;1363;p93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64" name="Google Shape;1364;p93"/>
            <p:cNvSpPr/>
            <p:nvPr/>
          </p:nvSpPr>
          <p:spPr>
            <a:xfrm>
              <a:off x="6416914" y="4153108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5" name="Google Shape;1365;p93"/>
            <p:cNvSpPr/>
            <p:nvPr/>
          </p:nvSpPr>
          <p:spPr>
            <a:xfrm>
              <a:off x="7712414" y="4153108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93"/>
            <p:cNvSpPr/>
            <p:nvPr/>
          </p:nvSpPr>
          <p:spPr>
            <a:xfrm>
              <a:off x="6416913" y="2824489"/>
              <a:ext cx="2868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93"/>
            <p:cNvSpPr/>
            <p:nvPr/>
          </p:nvSpPr>
          <p:spPr>
            <a:xfrm>
              <a:off x="7712414" y="2824483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8" name="Google Shape;1368;p93"/>
          <p:cNvSpPr txBox="1"/>
          <p:nvPr>
            <p:ph type="body" idx="1"/>
          </p:nvPr>
        </p:nvSpPr>
        <p:spPr>
          <a:xfrm>
            <a:off x="3798775" y="2973162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369" name="Google Shape;1369;p93"/>
          <p:cNvSpPr txBox="1"/>
          <p:nvPr>
            <p:ph type="body" idx="1"/>
          </p:nvPr>
        </p:nvSpPr>
        <p:spPr>
          <a:xfrm>
            <a:off x="6126475" y="2973162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370" name="Google Shape;1370;p93"/>
          <p:cNvSpPr txBox="1"/>
          <p:nvPr>
            <p:ph type="body" idx="1"/>
          </p:nvPr>
        </p:nvSpPr>
        <p:spPr>
          <a:xfrm>
            <a:off x="5656188" y="3498122"/>
            <a:ext cx="19515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One quarter turn</a:t>
            </a:r>
            <a:endParaRPr sz="1800"/>
          </a:p>
        </p:txBody>
      </p:sp>
      <p:sp>
        <p:nvSpPr>
          <p:cNvPr id="1371" name="Google Shape;1371;p93"/>
          <p:cNvSpPr txBox="1"/>
          <p:nvPr>
            <p:ph type="body" idx="1"/>
          </p:nvPr>
        </p:nvSpPr>
        <p:spPr>
          <a:xfrm>
            <a:off x="5656188" y="3498122"/>
            <a:ext cx="19515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Half a turn</a:t>
            </a:r>
            <a:endParaRPr sz="1800"/>
          </a:p>
        </p:txBody>
      </p:sp>
      <p:sp>
        <p:nvSpPr>
          <p:cNvPr id="1372" name="Google Shape;1372;p93"/>
          <p:cNvSpPr txBox="1"/>
          <p:nvPr>
            <p:ph type="body" idx="1"/>
          </p:nvPr>
        </p:nvSpPr>
        <p:spPr>
          <a:xfrm>
            <a:off x="5512300" y="3498122"/>
            <a:ext cx="22392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Three quarter turns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6" name="Shape 1376"/>
        <p:cNvGrpSpPr/>
        <p:nvPr/>
      </p:nvGrpSpPr>
      <p:grpSpPr>
        <a:xfrm>
          <a:off x="0" y="0"/>
          <a:ext cx="0" cy="0"/>
        </a:xfrm>
      </p:grpSpPr>
      <p:pic>
        <p:nvPicPr>
          <p:cNvPr id="1377" name="Google Shape;1377;p94"/>
          <p:cNvPicPr preferRelativeResize="0"/>
          <p:nvPr/>
        </p:nvPicPr>
        <p:blipFill>
          <a:blip r:embed="rId3">
            <a:alphaModFix/>
          </a:blip>
          <a:srcRect l="-185" t="-2012" r="59770" b="43327"/>
          <a:stretch>
            <a:fillRect/>
          </a:stretch>
        </p:blipFill>
        <p:spPr>
          <a:xfrm flipH="1">
            <a:off x="1221675" y="720750"/>
            <a:ext cx="2938900" cy="23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94"/>
          <p:cNvPicPr preferRelativeResize="0"/>
          <p:nvPr/>
        </p:nvPicPr>
        <p:blipFill>
          <a:blip r:embed="rId3">
            <a:alphaModFix/>
          </a:blip>
          <a:srcRect l="-185" t="-2012" r="59770" b="43327"/>
          <a:stretch>
            <a:fillRect/>
          </a:stretch>
        </p:blipFill>
        <p:spPr>
          <a:xfrm>
            <a:off x="4381475" y="720750"/>
            <a:ext cx="2938900" cy="2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380" name="Google Shape;1380;p94"/>
          <p:cNvSpPr txBox="1"/>
          <p:nvPr>
            <p:ph type="body" idx="1"/>
          </p:nvPr>
        </p:nvSpPr>
        <p:spPr>
          <a:xfrm>
            <a:off x="389638" y="2138100"/>
            <a:ext cx="773700" cy="4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Sofia</a:t>
            </a:r>
            <a:endParaRPr sz="2000"/>
          </a:p>
        </p:txBody>
      </p:sp>
      <p:pic>
        <p:nvPicPr>
          <p:cNvPr id="1381" name="Google Shape;138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213231" y="2477374"/>
            <a:ext cx="1401169" cy="94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900" y="2477374"/>
            <a:ext cx="1401164" cy="942047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94"/>
          <p:cNvSpPr txBox="1"/>
          <p:nvPr>
            <p:ph type="subTitle" idx="4294967295"/>
          </p:nvPr>
        </p:nvSpPr>
        <p:spPr>
          <a:xfrm>
            <a:off x="1336650" y="921600"/>
            <a:ext cx="2724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As you </a:t>
            </a:r>
            <a:r>
              <a:rPr lang="en-GB" sz="1800" b="1"/>
              <a:t>rotate</a:t>
            </a:r>
            <a:r>
              <a:rPr lang="en-GB" sz="1800"/>
              <a:t> the arrow, it will start to point in a different direction and never point in the same direction.</a:t>
            </a:r>
            <a:endParaRPr sz="1800"/>
          </a:p>
        </p:txBody>
      </p:sp>
      <p:sp>
        <p:nvSpPr>
          <p:cNvPr id="1384" name="Google Shape;1384;p94"/>
          <p:cNvSpPr txBox="1"/>
          <p:nvPr>
            <p:ph type="subTitle" idx="4294967295"/>
          </p:nvPr>
        </p:nvSpPr>
        <p:spPr>
          <a:xfrm>
            <a:off x="4488775" y="921600"/>
            <a:ext cx="2724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After a full turn of </a:t>
            </a:r>
            <a:r>
              <a:rPr lang="en-GB" sz="1800" b="1"/>
              <a:t>rotation</a:t>
            </a:r>
            <a:r>
              <a:rPr lang="en-GB" sz="1800"/>
              <a:t>, it will return to the same orientation and point in the same direction.</a:t>
            </a:r>
            <a:endParaRPr sz="1800"/>
          </a:p>
        </p:txBody>
      </p:sp>
      <p:sp>
        <p:nvSpPr>
          <p:cNvPr id="1385" name="Google Shape;1385;p94"/>
          <p:cNvSpPr/>
          <p:nvPr/>
        </p:nvSpPr>
        <p:spPr>
          <a:xfrm>
            <a:off x="3405000" y="3274539"/>
            <a:ext cx="1830000" cy="81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86" name="Google Shape;1386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9197" y="1360400"/>
            <a:ext cx="517181" cy="5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94"/>
          <p:cNvSpPr txBox="1"/>
          <p:nvPr>
            <p:ph type="body" idx="1"/>
          </p:nvPr>
        </p:nvSpPr>
        <p:spPr>
          <a:xfrm>
            <a:off x="7577713" y="2138100"/>
            <a:ext cx="773700" cy="4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</a:t>
            </a:r>
            <a:endParaRPr sz="2000"/>
          </a:p>
        </p:txBody>
      </p:sp>
      <p:sp>
        <p:nvSpPr>
          <p:cNvPr id="1388" name="Google Shape;1388;p94"/>
          <p:cNvSpPr txBox="1"/>
          <p:nvPr>
            <p:ph type="body" idx="1"/>
          </p:nvPr>
        </p:nvSpPr>
        <p:spPr>
          <a:xfrm>
            <a:off x="324117" y="4322860"/>
            <a:ext cx="8027400" cy="42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Whose statement about the arrow is correct?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2" name="Shape 1392"/>
        <p:cNvGrpSpPr/>
        <p:nvPr/>
      </p:nvGrpSpPr>
      <p:grpSpPr>
        <a:xfrm>
          <a:off x="0" y="0"/>
          <a:ext cx="0" cy="0"/>
        </a:xfrm>
      </p:grpSpPr>
      <p:sp>
        <p:nvSpPr>
          <p:cNvPr id="1393" name="Google Shape;1393;p95"/>
          <p:cNvSpPr txBox="1"/>
          <p:nvPr>
            <p:ph type="body" idx="4294967295"/>
          </p:nvPr>
        </p:nvSpPr>
        <p:spPr>
          <a:xfrm>
            <a:off x="995175" y="3961700"/>
            <a:ext cx="78249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object has been </a:t>
            </a:r>
            <a:r>
              <a:rPr lang="en-GB" sz="2000" b="1"/>
              <a:t>rotated </a:t>
            </a:r>
            <a:r>
              <a:rPr lang="en-GB" sz="2000"/>
              <a:t>until it looks like it has the same orientation.</a:t>
            </a:r>
            <a:endParaRPr sz="2000"/>
          </a:p>
        </p:txBody>
      </p:sp>
      <p:sp>
        <p:nvSpPr>
          <p:cNvPr id="1394" name="Google Shape;1394;p95"/>
          <p:cNvSpPr txBox="1"/>
          <p:nvPr>
            <p:ph type="body" idx="4294967295"/>
          </p:nvPr>
        </p:nvSpPr>
        <p:spPr>
          <a:xfrm>
            <a:off x="995175" y="3362638"/>
            <a:ext cx="78249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image looks the same as the object.</a:t>
            </a:r>
            <a:endParaRPr sz="2000"/>
          </a:p>
        </p:txBody>
      </p:sp>
      <p:sp>
        <p:nvSpPr>
          <p:cNvPr id="1395" name="Google Shape;1395;p95"/>
          <p:cNvSpPr txBox="1"/>
          <p:nvPr>
            <p:ph type="body" idx="4294967295"/>
          </p:nvPr>
        </p:nvSpPr>
        <p:spPr>
          <a:xfrm>
            <a:off x="324000" y="2207100"/>
            <a:ext cx="84960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Alex’s statement is incorrect. Which of these may explain why.</a:t>
            </a:r>
            <a:endParaRPr sz="2000"/>
          </a:p>
        </p:txBody>
      </p:sp>
      <p:pic>
        <p:nvPicPr>
          <p:cNvPr id="1396" name="Google Shape;1396;p95"/>
          <p:cNvPicPr preferRelativeResize="0"/>
          <p:nvPr/>
        </p:nvPicPr>
        <p:blipFill>
          <a:blip r:embed="rId3">
            <a:alphaModFix/>
          </a:blip>
          <a:srcRect l="16941" r="16934"/>
          <a:stretch>
            <a:fillRect/>
          </a:stretch>
        </p:blipFill>
        <p:spPr>
          <a:xfrm>
            <a:off x="767300" y="826675"/>
            <a:ext cx="1083966" cy="110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5"/>
          <p:cNvPicPr preferRelativeResize="0"/>
          <p:nvPr/>
        </p:nvPicPr>
        <p:blipFill>
          <a:blip r:embed="rId4">
            <a:alphaModFix/>
          </a:blip>
          <a:srcRect l="16124" r="16124"/>
          <a:stretch>
            <a:fillRect/>
          </a:stretch>
        </p:blipFill>
        <p:spPr>
          <a:xfrm>
            <a:off x="7082991" y="844978"/>
            <a:ext cx="920208" cy="91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95"/>
          <p:cNvPicPr preferRelativeResize="0"/>
          <p:nvPr/>
        </p:nvPicPr>
        <p:blipFill>
          <a:blip r:embed="rId5">
            <a:alphaModFix/>
          </a:blip>
          <a:srcRect l="-185" t="-2012" r="59770" b="43327"/>
          <a:stretch>
            <a:fillRect/>
          </a:stretch>
        </p:blipFill>
        <p:spPr>
          <a:xfrm flipH="1">
            <a:off x="1819149" y="728624"/>
            <a:ext cx="1664276" cy="1201366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95"/>
          <p:cNvSpPr txBox="1"/>
          <p:nvPr/>
        </p:nvSpPr>
        <p:spPr>
          <a:xfrm flipH="1">
            <a:off x="2021318" y="944230"/>
            <a:ext cx="14364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rotated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shape!</a:t>
            </a:r>
            <a:endParaRPr sz="1800">
              <a:solidFill>
                <a:srgbClr val="F3EEFB"/>
              </a:solidFill>
            </a:endParaRPr>
          </a:p>
        </p:txBody>
      </p:sp>
      <p:pic>
        <p:nvPicPr>
          <p:cNvPr id="1400" name="Google Shape;1400;p95"/>
          <p:cNvPicPr preferRelativeResize="0"/>
          <p:nvPr/>
        </p:nvPicPr>
        <p:blipFill>
          <a:blip r:embed="rId5">
            <a:alphaModFix/>
          </a:blip>
          <a:srcRect l="-185" t="-2012" r="59770" b="43327"/>
          <a:stretch>
            <a:fillRect/>
          </a:stretch>
        </p:blipFill>
        <p:spPr>
          <a:xfrm>
            <a:off x="5658256" y="667312"/>
            <a:ext cx="1436401" cy="84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95"/>
          <p:cNvSpPr txBox="1"/>
          <p:nvPr/>
        </p:nvSpPr>
        <p:spPr>
          <a:xfrm>
            <a:off x="5883106" y="851719"/>
            <a:ext cx="15597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 you haven’t!</a:t>
            </a:r>
            <a:endParaRPr sz="1800">
              <a:solidFill>
                <a:srgbClr val="F3EEFB"/>
              </a:solidFill>
            </a:endParaRPr>
          </a:p>
        </p:txBody>
      </p:sp>
      <p:sp>
        <p:nvSpPr>
          <p:cNvPr id="1402" name="Google Shape;1402;p95"/>
          <p:cNvSpPr/>
          <p:nvPr/>
        </p:nvSpPr>
        <p:spPr>
          <a:xfrm>
            <a:off x="3877128" y="842104"/>
            <a:ext cx="480600" cy="759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3" name="Google Shape;1403;p95"/>
          <p:cNvSpPr/>
          <p:nvPr/>
        </p:nvSpPr>
        <p:spPr>
          <a:xfrm>
            <a:off x="4894894" y="842104"/>
            <a:ext cx="480600" cy="7590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4" name="Google Shape;1404;p95"/>
          <p:cNvSpPr txBox="1"/>
          <p:nvPr>
            <p:ph type="body" idx="1"/>
          </p:nvPr>
        </p:nvSpPr>
        <p:spPr>
          <a:xfrm>
            <a:off x="4675277" y="1594479"/>
            <a:ext cx="9198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405" name="Google Shape;1405;p95"/>
          <p:cNvSpPr txBox="1"/>
          <p:nvPr>
            <p:ph type="body" idx="1"/>
          </p:nvPr>
        </p:nvSpPr>
        <p:spPr>
          <a:xfrm>
            <a:off x="223750" y="1746700"/>
            <a:ext cx="11328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</a:t>
            </a:r>
            <a:endParaRPr sz="2000"/>
          </a:p>
        </p:txBody>
      </p:sp>
      <p:sp>
        <p:nvSpPr>
          <p:cNvPr id="1406" name="Google Shape;1406;p95"/>
          <p:cNvSpPr txBox="1"/>
          <p:nvPr>
            <p:ph type="body" idx="1"/>
          </p:nvPr>
        </p:nvSpPr>
        <p:spPr>
          <a:xfrm>
            <a:off x="7426557" y="1624680"/>
            <a:ext cx="9198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</a:t>
            </a:r>
            <a:endParaRPr sz="2000"/>
          </a:p>
        </p:txBody>
      </p:sp>
      <p:sp>
        <p:nvSpPr>
          <p:cNvPr id="1407" name="Google Shape;140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408" name="Google Shape;1408;p95"/>
          <p:cNvSpPr txBox="1"/>
          <p:nvPr>
            <p:ph type="body" idx="1"/>
          </p:nvPr>
        </p:nvSpPr>
        <p:spPr>
          <a:xfrm>
            <a:off x="3662799" y="1594475"/>
            <a:ext cx="909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409" name="Google Shape;1409;p95"/>
          <p:cNvSpPr txBox="1"/>
          <p:nvPr>
            <p:ph type="body" idx="4294967295"/>
          </p:nvPr>
        </p:nvSpPr>
        <p:spPr>
          <a:xfrm>
            <a:off x="995175" y="2763600"/>
            <a:ext cx="78249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object has been </a:t>
            </a:r>
            <a:r>
              <a:rPr lang="en-GB" sz="2000" b="1"/>
              <a:t>rotated </a:t>
            </a:r>
            <a:r>
              <a:rPr lang="en-GB" sz="2000"/>
              <a:t>a full turn.</a:t>
            </a:r>
            <a:endParaRPr sz="2000"/>
          </a:p>
        </p:txBody>
      </p:sp>
      <p:grpSp>
        <p:nvGrpSpPr>
          <p:cNvPr id="1410" name="Google Shape;1410;p95"/>
          <p:cNvGrpSpPr/>
          <p:nvPr/>
        </p:nvGrpSpPr>
        <p:grpSpPr>
          <a:xfrm>
            <a:off x="502761" y="2763593"/>
            <a:ext cx="389900" cy="389900"/>
            <a:chOff x="1020916" y="1442088"/>
            <a:chExt cx="457200" cy="457200"/>
          </a:xfrm>
        </p:grpSpPr>
        <p:pic>
          <p:nvPicPr>
            <p:cNvPr id="1411" name="Google Shape;1411;p9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3" name="Google Shape;1413;p95"/>
          <p:cNvGrpSpPr/>
          <p:nvPr/>
        </p:nvGrpSpPr>
        <p:grpSpPr>
          <a:xfrm>
            <a:off x="502761" y="3362643"/>
            <a:ext cx="389900" cy="389900"/>
            <a:chOff x="1020916" y="1442088"/>
            <a:chExt cx="457200" cy="457200"/>
          </a:xfrm>
        </p:grpSpPr>
        <p:pic>
          <p:nvPicPr>
            <p:cNvPr id="1414" name="Google Shape;1414;p9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5" name="Google Shape;141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6" name="Google Shape;1416;p95"/>
          <p:cNvGrpSpPr/>
          <p:nvPr/>
        </p:nvGrpSpPr>
        <p:grpSpPr>
          <a:xfrm>
            <a:off x="502761" y="3961693"/>
            <a:ext cx="389900" cy="389900"/>
            <a:chOff x="1020916" y="1442088"/>
            <a:chExt cx="457200" cy="457200"/>
          </a:xfrm>
        </p:grpSpPr>
        <p:pic>
          <p:nvPicPr>
            <p:cNvPr id="1417" name="Google Shape;1417;p9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8" name="Google Shape;141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19" name="Google Shape;1419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6796" y="26728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1196" y="4351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4" name="Shape 1424"/>
        <p:cNvGrpSpPr/>
        <p:nvPr/>
      </p:nvGrpSpPr>
      <p:grpSpPr>
        <a:xfrm>
          <a:off x="0" y="0"/>
          <a:ext cx="0" cy="0"/>
        </a:xfrm>
      </p:grpSpPr>
      <p:sp>
        <p:nvSpPr>
          <p:cNvPr id="1425" name="Google Shape;1425;p96"/>
          <p:cNvSpPr txBox="1"/>
          <p:nvPr>
            <p:ph type="body" idx="1"/>
          </p:nvPr>
        </p:nvSpPr>
        <p:spPr>
          <a:xfrm>
            <a:off x="324000" y="3937350"/>
            <a:ext cx="62184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Using a ruler, draw a different correct </a:t>
            </a:r>
            <a:r>
              <a:rPr lang="en-GB" sz="2000" b="1"/>
              <a:t>rotation </a:t>
            </a:r>
            <a:r>
              <a:rPr lang="en-GB" sz="2000"/>
              <a:t>of the trapezium in the space given.</a:t>
            </a:r>
            <a:endParaRPr sz="2000"/>
          </a:p>
        </p:txBody>
      </p:sp>
      <p:sp>
        <p:nvSpPr>
          <p:cNvPr id="1426" name="Google Shape;1426;p96"/>
          <p:cNvSpPr txBox="1"/>
          <p:nvPr>
            <p:ph type="body" idx="1"/>
          </p:nvPr>
        </p:nvSpPr>
        <p:spPr>
          <a:xfrm>
            <a:off x="324000" y="759300"/>
            <a:ext cx="52542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Select all of the images which are </a:t>
            </a:r>
            <a:r>
              <a:rPr lang="en-GB" sz="2000" b="1"/>
              <a:t>rotations</a:t>
            </a:r>
            <a:r>
              <a:rPr lang="en-GB" sz="2000"/>
              <a:t> of this trapezium.</a:t>
            </a:r>
            <a:endParaRPr sz="2000"/>
          </a:p>
        </p:txBody>
      </p:sp>
      <p:sp>
        <p:nvSpPr>
          <p:cNvPr id="1427" name="Google Shape;1427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428" name="Google Shape;1428;p96"/>
          <p:cNvPicPr preferRelativeResize="0"/>
          <p:nvPr/>
        </p:nvPicPr>
        <p:blipFill>
          <a:blip r:embed="rId3">
            <a:alphaModFix/>
          </a:blip>
          <a:srcRect t="30560" r="81574"/>
          <a:stretch>
            <a:fillRect/>
          </a:stretch>
        </p:blipFill>
        <p:spPr>
          <a:xfrm>
            <a:off x="5337277" y="671850"/>
            <a:ext cx="1436864" cy="99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96"/>
          <p:cNvPicPr preferRelativeResize="0"/>
          <p:nvPr/>
        </p:nvPicPr>
        <p:blipFill>
          <a:blip r:embed="rId3">
            <a:alphaModFix/>
          </a:blip>
          <a:srcRect l="23218"/>
          <a:stretch>
            <a:fillRect/>
          </a:stretch>
        </p:blipFill>
        <p:spPr>
          <a:xfrm>
            <a:off x="324000" y="2363345"/>
            <a:ext cx="5987823" cy="14376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0" name="Google Shape;1430;p96"/>
          <p:cNvGrpSpPr/>
          <p:nvPr/>
        </p:nvGrpSpPr>
        <p:grpSpPr>
          <a:xfrm>
            <a:off x="851186" y="1989543"/>
            <a:ext cx="389900" cy="389900"/>
            <a:chOff x="1020916" y="1442088"/>
            <a:chExt cx="457200" cy="457200"/>
          </a:xfrm>
        </p:grpSpPr>
        <p:pic>
          <p:nvPicPr>
            <p:cNvPr id="1431" name="Google Shape;143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3" name="Google Shape;1433;p96"/>
          <p:cNvGrpSpPr/>
          <p:nvPr/>
        </p:nvGrpSpPr>
        <p:grpSpPr>
          <a:xfrm>
            <a:off x="2437771" y="1969411"/>
            <a:ext cx="389900" cy="389900"/>
            <a:chOff x="1020916" y="1442088"/>
            <a:chExt cx="457200" cy="457200"/>
          </a:xfrm>
        </p:grpSpPr>
        <p:pic>
          <p:nvPicPr>
            <p:cNvPr id="1434" name="Google Shape;143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6" name="Google Shape;1436;p96"/>
          <p:cNvGrpSpPr/>
          <p:nvPr/>
        </p:nvGrpSpPr>
        <p:grpSpPr>
          <a:xfrm>
            <a:off x="3800637" y="1969411"/>
            <a:ext cx="389900" cy="389900"/>
            <a:chOff x="1020916" y="1442088"/>
            <a:chExt cx="457200" cy="457200"/>
          </a:xfrm>
        </p:grpSpPr>
        <p:pic>
          <p:nvPicPr>
            <p:cNvPr id="1437" name="Google Shape;143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8" name="Google Shape;143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9" name="Google Shape;1439;p96"/>
          <p:cNvGrpSpPr/>
          <p:nvPr/>
        </p:nvGrpSpPr>
        <p:grpSpPr>
          <a:xfrm>
            <a:off x="5387191" y="1989543"/>
            <a:ext cx="389900" cy="389900"/>
            <a:chOff x="1020916" y="1442088"/>
            <a:chExt cx="457200" cy="457200"/>
          </a:xfrm>
        </p:grpSpPr>
        <p:pic>
          <p:nvPicPr>
            <p:cNvPr id="1440" name="Google Shape;144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1" name="Google Shape;144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42" name="Google Shape;1442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0609" y="2483915"/>
            <a:ext cx="1757175" cy="1741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443" name="Google Shape;1443;p96"/>
          <p:cNvGrpSpPr/>
          <p:nvPr/>
        </p:nvGrpSpPr>
        <p:grpSpPr>
          <a:xfrm>
            <a:off x="6875413" y="4229582"/>
            <a:ext cx="1167506" cy="484952"/>
            <a:chOff x="1020916" y="1442088"/>
            <a:chExt cx="457200" cy="457200"/>
          </a:xfrm>
        </p:grpSpPr>
        <p:pic>
          <p:nvPicPr>
            <p:cNvPr id="1444" name="Google Shape;144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5" name="Google Shape;144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 your own</a:t>
              </a:r>
              <a:endParaRPr sz="1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9" name="Shape 1449"/>
        <p:cNvGrpSpPr/>
        <p:nvPr/>
      </p:nvGrpSpPr>
      <p:grpSpPr>
        <a:xfrm>
          <a:off x="0" y="0"/>
          <a:ext cx="0" cy="0"/>
        </a:xfrm>
      </p:grpSpPr>
      <p:sp>
        <p:nvSpPr>
          <p:cNvPr id="1450" name="Google Shape;1450;p97"/>
          <p:cNvSpPr txBox="1"/>
          <p:nvPr>
            <p:ph type="body" idx="1"/>
          </p:nvPr>
        </p:nvSpPr>
        <p:spPr>
          <a:xfrm>
            <a:off x="324000" y="759300"/>
            <a:ext cx="55275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3) The object and all images are rectangles.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Select all of the images which are </a:t>
            </a:r>
            <a:r>
              <a:rPr lang="en-GB" sz="2000" b="1"/>
              <a:t>rotations</a:t>
            </a:r>
            <a:r>
              <a:rPr lang="en-GB" sz="2000"/>
              <a:t> of this rectangle.</a:t>
            </a:r>
            <a:endParaRPr sz="2000"/>
          </a:p>
        </p:txBody>
      </p:sp>
      <p:sp>
        <p:nvSpPr>
          <p:cNvPr id="1451" name="Google Shape;1451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452" name="Google Shape;1452;p97"/>
          <p:cNvSpPr/>
          <p:nvPr/>
        </p:nvSpPr>
        <p:spPr>
          <a:xfrm>
            <a:off x="6004000" y="1004849"/>
            <a:ext cx="1728000" cy="579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3" name="Google Shape;1453;p97"/>
          <p:cNvSpPr/>
          <p:nvPr/>
        </p:nvSpPr>
        <p:spPr>
          <a:xfrm rot="1800091">
            <a:off x="353002" y="2986191"/>
            <a:ext cx="172792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4" name="Google Shape;1454;p97"/>
          <p:cNvSpPr/>
          <p:nvPr/>
        </p:nvSpPr>
        <p:spPr>
          <a:xfrm rot="3600054">
            <a:off x="2407187" y="3087441"/>
            <a:ext cx="147604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5" name="Google Shape;1455;p97"/>
          <p:cNvSpPr/>
          <p:nvPr/>
        </p:nvSpPr>
        <p:spPr>
          <a:xfrm rot="7200091">
            <a:off x="4993838" y="3196491"/>
            <a:ext cx="172792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6" name="Google Shape;1456;p97"/>
          <p:cNvSpPr/>
          <p:nvPr/>
        </p:nvSpPr>
        <p:spPr>
          <a:xfrm rot="8999968">
            <a:off x="6979058" y="3008691"/>
            <a:ext cx="181797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7" name="Google Shape;1457;p97"/>
          <p:cNvSpPr txBox="1"/>
          <p:nvPr>
            <p:ph type="body" idx="4294967295"/>
          </p:nvPr>
        </p:nvSpPr>
        <p:spPr>
          <a:xfrm>
            <a:off x="6431650" y="692408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458" name="Google Shape;1458;p97"/>
          <p:cNvSpPr/>
          <p:nvPr/>
        </p:nvSpPr>
        <p:spPr>
          <a:xfrm rot="5400000">
            <a:off x="3606003" y="2986175"/>
            <a:ext cx="1728000" cy="5790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459" name="Google Shape;1459;p97"/>
          <p:cNvCxnSpPr/>
          <p:nvPr/>
        </p:nvCxnSpPr>
        <p:spPr>
          <a:xfrm>
            <a:off x="6004000" y="1846550"/>
            <a:ext cx="1749900" cy="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60" name="Google Shape;1460;p97"/>
          <p:cNvSpPr txBox="1"/>
          <p:nvPr>
            <p:ph type="body" idx="4294967295"/>
          </p:nvPr>
        </p:nvSpPr>
        <p:spPr>
          <a:xfrm>
            <a:off x="7753900" y="1666250"/>
            <a:ext cx="10662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u="sng"/>
              <a:t>         </a:t>
            </a:r>
            <a:r>
              <a:rPr lang="en-GB" sz="2000"/>
              <a:t>cm</a:t>
            </a:r>
            <a:endParaRPr sz="2000"/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4" name="Shape 1464"/>
        <p:cNvGrpSpPr/>
        <p:nvPr/>
      </p:nvGrpSpPr>
      <p:grpSpPr>
        <a:xfrm>
          <a:off x="0" y="0"/>
          <a:ext cx="0" cy="0"/>
        </a:xfrm>
      </p:grpSpPr>
      <p:sp>
        <p:nvSpPr>
          <p:cNvPr id="1465" name="Google Shape;1465;p98"/>
          <p:cNvSpPr txBox="1"/>
          <p:nvPr>
            <p:ph type="body" idx="1"/>
          </p:nvPr>
        </p:nvSpPr>
        <p:spPr>
          <a:xfrm>
            <a:off x="324000" y="759300"/>
            <a:ext cx="84960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4) The object has been </a:t>
            </a:r>
            <a:r>
              <a:rPr lang="en-GB" sz="2000" b="1"/>
              <a:t>rotated</a:t>
            </a:r>
            <a:r>
              <a:rPr lang="en-GB" sz="2000"/>
              <a:t> to become the image.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Explain why Andeep might be incorrect. </a:t>
            </a:r>
            <a:endParaRPr sz="2000"/>
          </a:p>
        </p:txBody>
      </p:sp>
      <p:sp>
        <p:nvSpPr>
          <p:cNvPr id="1466" name="Google Shape;1466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467" name="Google Shape;1467;p98"/>
          <p:cNvPicPr preferRelativeResize="0"/>
          <p:nvPr/>
        </p:nvPicPr>
        <p:blipFill>
          <a:blip r:embed="rId3">
            <a:alphaModFix/>
          </a:blip>
          <a:srcRect l="16941" r="16934"/>
          <a:stretch>
            <a:fillRect/>
          </a:stretch>
        </p:blipFill>
        <p:spPr>
          <a:xfrm>
            <a:off x="247800" y="2421075"/>
            <a:ext cx="1307326" cy="1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98"/>
          <p:cNvPicPr preferRelativeResize="0"/>
          <p:nvPr/>
        </p:nvPicPr>
        <p:blipFill>
          <a:blip r:embed="rId4">
            <a:alphaModFix/>
          </a:blip>
          <a:srcRect l="-185" t="-2012" r="59770" b="43327"/>
          <a:stretch>
            <a:fillRect/>
          </a:stretch>
        </p:blipFill>
        <p:spPr>
          <a:xfrm flipH="1">
            <a:off x="1608299" y="1709400"/>
            <a:ext cx="2887501" cy="1735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98"/>
          <p:cNvSpPr/>
          <p:nvPr/>
        </p:nvSpPr>
        <p:spPr>
          <a:xfrm>
            <a:off x="2613300" y="3412900"/>
            <a:ext cx="579600" cy="803400"/>
          </a:xfrm>
          <a:prstGeom prst="diamond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0" name="Google Shape;1470;p98"/>
          <p:cNvSpPr txBox="1"/>
          <p:nvPr>
            <p:ph type="body" idx="4294967295"/>
          </p:nvPr>
        </p:nvSpPr>
        <p:spPr>
          <a:xfrm>
            <a:off x="2466750" y="4208258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471" name="Google Shape;1471;p98"/>
          <p:cNvSpPr/>
          <p:nvPr/>
        </p:nvSpPr>
        <p:spPr>
          <a:xfrm>
            <a:off x="4122300" y="3412900"/>
            <a:ext cx="579600" cy="803400"/>
          </a:xfrm>
          <a:prstGeom prst="diamond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2" name="Google Shape;1472;p98"/>
          <p:cNvSpPr txBox="1"/>
          <p:nvPr>
            <p:ph type="body" idx="4294967295"/>
          </p:nvPr>
        </p:nvSpPr>
        <p:spPr>
          <a:xfrm>
            <a:off x="3975750" y="4208258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473" name="Google Shape;1473;p98"/>
          <p:cNvSpPr txBox="1"/>
          <p:nvPr>
            <p:ph type="body" idx="4294967295"/>
          </p:nvPr>
        </p:nvSpPr>
        <p:spPr>
          <a:xfrm>
            <a:off x="426538" y="3705375"/>
            <a:ext cx="1109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</a:t>
            </a:r>
            <a:endParaRPr sz="2000"/>
          </a:p>
        </p:txBody>
      </p:sp>
      <p:sp>
        <p:nvSpPr>
          <p:cNvPr id="1474" name="Google Shape;1474;p98"/>
          <p:cNvSpPr txBox="1"/>
          <p:nvPr/>
        </p:nvSpPr>
        <p:spPr>
          <a:xfrm flipH="1">
            <a:off x="1762900" y="1882425"/>
            <a:ext cx="26559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object and image both look the same, therefore they have the same orientation.</a:t>
            </a:r>
            <a:endParaRPr sz="1800">
              <a:solidFill>
                <a:srgbClr val="F3EEFB"/>
              </a:solidFill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p99"/>
          <p:cNvSpPr txBox="1"/>
          <p:nvPr>
            <p:ph type="body" idx="1"/>
          </p:nvPr>
        </p:nvSpPr>
        <p:spPr>
          <a:xfrm>
            <a:off x="324000" y="759300"/>
            <a:ext cx="84960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5) Complete the table with        to show the properties of </a:t>
            </a:r>
            <a:r>
              <a:rPr lang="en-GB" sz="2000" b="1"/>
              <a:t>rotation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80" name="Google Shape;1480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pic>
        <p:nvPicPr>
          <p:cNvPr id="1481" name="Google Shape;148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27" y="712819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2" name="Google Shape;1482;p99"/>
          <p:cNvGraphicFramePr>
            <a:graphicFrameLocks noGrp="1"/>
          </p:cNvGraphicFramePr>
          <p:nvPr/>
        </p:nvGraphicFramePr>
        <p:xfrm>
          <a:off x="1684800" y="174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{D6B25490-A881-49B4-955F-029672B1D7F7}</a:tableStyleId>
              </a:tblPr>
              <a:tblGrid>
                <a:gridCol w="1958400"/>
                <a:gridCol w="2019425"/>
                <a:gridCol w="2002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6" name="Shape 1486"/>
        <p:cNvGrpSpPr/>
        <p:nvPr/>
      </p:nvGrpSpPr>
      <p:grpSpPr>
        <a:xfrm>
          <a:off x="0" y="0"/>
          <a:ext cx="0" cy="0"/>
        </a:xfrm>
      </p:grpSpPr>
      <p:sp>
        <p:nvSpPr>
          <p:cNvPr id="1487" name="Google Shape;1487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488" name="Google Shape;1488;p100"/>
          <p:cNvSpPr txBox="1"/>
          <p:nvPr>
            <p:ph type="body" idx="1"/>
          </p:nvPr>
        </p:nvSpPr>
        <p:spPr>
          <a:xfrm>
            <a:off x="324000" y="4151075"/>
            <a:ext cx="57528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Using a ruler, draw a different correct </a:t>
            </a:r>
            <a:r>
              <a:rPr lang="en-GB" sz="2000" b="1"/>
              <a:t>rotation </a:t>
            </a:r>
            <a:r>
              <a:rPr lang="en-GB" sz="2000"/>
              <a:t>of the trapezium in the space given.</a:t>
            </a:r>
            <a:endParaRPr sz="2000"/>
          </a:p>
        </p:txBody>
      </p:sp>
      <p:sp>
        <p:nvSpPr>
          <p:cNvPr id="1489" name="Google Shape;1489;p100"/>
          <p:cNvSpPr txBox="1"/>
          <p:nvPr>
            <p:ph type="body" idx="1"/>
          </p:nvPr>
        </p:nvSpPr>
        <p:spPr>
          <a:xfrm>
            <a:off x="324000" y="759300"/>
            <a:ext cx="52542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Select all of the images which are </a:t>
            </a:r>
            <a:r>
              <a:rPr lang="en-GB" sz="2000" b="1"/>
              <a:t>rotations</a:t>
            </a:r>
            <a:r>
              <a:rPr lang="en-GB" sz="2000"/>
              <a:t> of this trapezium.</a:t>
            </a:r>
            <a:endParaRPr sz="2000"/>
          </a:p>
        </p:txBody>
      </p:sp>
      <p:pic>
        <p:nvPicPr>
          <p:cNvPr id="1490" name="Google Shape;1490;p100"/>
          <p:cNvPicPr preferRelativeResize="0"/>
          <p:nvPr/>
        </p:nvPicPr>
        <p:blipFill>
          <a:blip r:embed="rId3">
            <a:alphaModFix/>
          </a:blip>
          <a:srcRect t="30560" r="81574"/>
          <a:stretch>
            <a:fillRect/>
          </a:stretch>
        </p:blipFill>
        <p:spPr>
          <a:xfrm>
            <a:off x="5337277" y="671850"/>
            <a:ext cx="1436864" cy="99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100"/>
          <p:cNvPicPr preferRelativeResize="0"/>
          <p:nvPr/>
        </p:nvPicPr>
        <p:blipFill>
          <a:blip r:embed="rId3">
            <a:alphaModFix/>
          </a:blip>
          <a:srcRect l="23218"/>
          <a:stretch>
            <a:fillRect/>
          </a:stretch>
        </p:blipFill>
        <p:spPr>
          <a:xfrm>
            <a:off x="324000" y="2210945"/>
            <a:ext cx="5987823" cy="14376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2" name="Google Shape;1492;p100"/>
          <p:cNvGrpSpPr/>
          <p:nvPr/>
        </p:nvGrpSpPr>
        <p:grpSpPr>
          <a:xfrm>
            <a:off x="851186" y="1837143"/>
            <a:ext cx="389900" cy="389900"/>
            <a:chOff x="1020916" y="995324"/>
            <a:chExt cx="457200" cy="457200"/>
          </a:xfrm>
        </p:grpSpPr>
        <p:pic>
          <p:nvPicPr>
            <p:cNvPr id="1493" name="Google Shape;149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995324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4" name="Google Shape;1494;p100"/>
            <p:cNvSpPr txBox="1"/>
            <p:nvPr/>
          </p:nvSpPr>
          <p:spPr>
            <a:xfrm>
              <a:off x="1045528" y="10796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100"/>
          <p:cNvGrpSpPr/>
          <p:nvPr/>
        </p:nvGrpSpPr>
        <p:grpSpPr>
          <a:xfrm>
            <a:off x="2437771" y="1817011"/>
            <a:ext cx="389900" cy="389900"/>
            <a:chOff x="1020916" y="1442088"/>
            <a:chExt cx="457200" cy="457200"/>
          </a:xfrm>
        </p:grpSpPr>
        <p:pic>
          <p:nvPicPr>
            <p:cNvPr id="1496" name="Google Shape;149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7" name="Google Shape;149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8" name="Google Shape;1498;p100"/>
          <p:cNvGrpSpPr/>
          <p:nvPr/>
        </p:nvGrpSpPr>
        <p:grpSpPr>
          <a:xfrm>
            <a:off x="3800637" y="1817011"/>
            <a:ext cx="389900" cy="389900"/>
            <a:chOff x="1020916" y="1442088"/>
            <a:chExt cx="457200" cy="457200"/>
          </a:xfrm>
        </p:grpSpPr>
        <p:pic>
          <p:nvPicPr>
            <p:cNvPr id="1499" name="Google Shape;149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0" name="Google Shape;150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1" name="Google Shape;1501;p100"/>
          <p:cNvGrpSpPr/>
          <p:nvPr/>
        </p:nvGrpSpPr>
        <p:grpSpPr>
          <a:xfrm>
            <a:off x="5387191" y="1837143"/>
            <a:ext cx="389900" cy="389900"/>
            <a:chOff x="1020916" y="1442088"/>
            <a:chExt cx="457200" cy="457200"/>
          </a:xfrm>
        </p:grpSpPr>
        <p:pic>
          <p:nvPicPr>
            <p:cNvPr id="1502" name="Google Shape;150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3" name="Google Shape;150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04" name="Google Shape;150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0609" y="2179115"/>
            <a:ext cx="1757175" cy="1741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505" name="Google Shape;1505;p100"/>
          <p:cNvGrpSpPr/>
          <p:nvPr/>
        </p:nvGrpSpPr>
        <p:grpSpPr>
          <a:xfrm>
            <a:off x="6875413" y="3924782"/>
            <a:ext cx="1167506" cy="484952"/>
            <a:chOff x="1020916" y="1442088"/>
            <a:chExt cx="457200" cy="457200"/>
          </a:xfrm>
        </p:grpSpPr>
        <p:pic>
          <p:nvPicPr>
            <p:cNvPr id="1506" name="Google Shape;150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7" name="Google Shape;150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 your own</a:t>
              </a:r>
              <a:endParaRPr sz="1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08" name="Google Shape;1508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7571" y="3648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121" y="3648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0" name="Google Shape;1510;p100"/>
          <p:cNvPicPr preferRelativeResize="0"/>
          <p:nvPr/>
        </p:nvPicPr>
        <p:blipFill>
          <a:blip r:embed="rId3">
            <a:alphaModFix/>
          </a:blip>
          <a:srcRect l="60391" r="18497"/>
          <a:stretch>
            <a:fillRect/>
          </a:stretch>
        </p:blipFill>
        <p:spPr>
          <a:xfrm rot="10800000">
            <a:off x="6684900" y="2226125"/>
            <a:ext cx="1643875" cy="143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4" name="Shape 1514"/>
        <p:cNvGrpSpPr/>
        <p:nvPr/>
      </p:nvGrpSpPr>
      <p:grpSpPr>
        <a:xfrm>
          <a:off x="0" y="0"/>
          <a:ext cx="0" cy="0"/>
        </a:xfrm>
      </p:grpSpPr>
      <p:sp>
        <p:nvSpPr>
          <p:cNvPr id="1515" name="Google Shape;1515;p10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516" name="Google Shape;1516;p101"/>
          <p:cNvSpPr txBox="1"/>
          <p:nvPr>
            <p:ph type="body" idx="1"/>
          </p:nvPr>
        </p:nvSpPr>
        <p:spPr>
          <a:xfrm>
            <a:off x="324000" y="759300"/>
            <a:ext cx="55275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3) The object and all images are rectangles.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Select all of the images which are </a:t>
            </a:r>
            <a:r>
              <a:rPr lang="en-GB" sz="2000" b="1"/>
              <a:t>rotations</a:t>
            </a:r>
            <a:r>
              <a:rPr lang="en-GB" sz="2000"/>
              <a:t> of this rectangle.</a:t>
            </a:r>
            <a:endParaRPr sz="2000"/>
          </a:p>
        </p:txBody>
      </p:sp>
      <p:pic>
        <p:nvPicPr>
          <p:cNvPr id="1517" name="Google Shape;151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802" y="410384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002" y="416076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577" y="413966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2163" y="41035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188" y="405756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101"/>
          <p:cNvSpPr/>
          <p:nvPr/>
        </p:nvSpPr>
        <p:spPr>
          <a:xfrm>
            <a:off x="6004000" y="1004849"/>
            <a:ext cx="1728000" cy="579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3" name="Google Shape;1523;p101"/>
          <p:cNvSpPr/>
          <p:nvPr/>
        </p:nvSpPr>
        <p:spPr>
          <a:xfrm rot="1800091">
            <a:off x="353002" y="2986191"/>
            <a:ext cx="172792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4" name="Google Shape;1524;p101"/>
          <p:cNvSpPr/>
          <p:nvPr/>
        </p:nvSpPr>
        <p:spPr>
          <a:xfrm rot="3600054">
            <a:off x="2407187" y="3087441"/>
            <a:ext cx="147604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5" name="Google Shape;1525;p101"/>
          <p:cNvSpPr/>
          <p:nvPr/>
        </p:nvSpPr>
        <p:spPr>
          <a:xfrm rot="7200091">
            <a:off x="4993838" y="3196491"/>
            <a:ext cx="172792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6" name="Google Shape;1526;p101"/>
          <p:cNvSpPr/>
          <p:nvPr/>
        </p:nvSpPr>
        <p:spPr>
          <a:xfrm rot="8999968">
            <a:off x="6979058" y="3008691"/>
            <a:ext cx="1817970" cy="578889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7" name="Google Shape;1527;p101"/>
          <p:cNvSpPr txBox="1"/>
          <p:nvPr>
            <p:ph type="body" idx="4294967295"/>
          </p:nvPr>
        </p:nvSpPr>
        <p:spPr>
          <a:xfrm>
            <a:off x="6431650" y="692408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528" name="Google Shape;1528;p101"/>
          <p:cNvSpPr/>
          <p:nvPr/>
        </p:nvSpPr>
        <p:spPr>
          <a:xfrm rot="5400000">
            <a:off x="3606003" y="2986175"/>
            <a:ext cx="1728000" cy="5790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529" name="Google Shape;1529;p101"/>
          <p:cNvCxnSpPr/>
          <p:nvPr/>
        </p:nvCxnSpPr>
        <p:spPr>
          <a:xfrm>
            <a:off x="6004000" y="1846550"/>
            <a:ext cx="1749900" cy="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0" name="Google Shape;1530;p101"/>
          <p:cNvSpPr txBox="1"/>
          <p:nvPr>
            <p:ph type="body" idx="4294967295"/>
          </p:nvPr>
        </p:nvSpPr>
        <p:spPr>
          <a:xfrm>
            <a:off x="7753900" y="1666250"/>
            <a:ext cx="10662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u="sng"/>
              <a:t>         </a:t>
            </a:r>
            <a:r>
              <a:rPr lang="en-GB" sz="2000"/>
              <a:t>cm</a:t>
            </a:r>
            <a:endParaRPr sz="2000"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4" name="Shape 1534"/>
        <p:cNvGrpSpPr/>
        <p:nvPr/>
      </p:nvGrpSpPr>
      <p:grpSpPr>
        <a:xfrm>
          <a:off x="0" y="0"/>
          <a:ext cx="0" cy="0"/>
        </a:xfrm>
      </p:grpSpPr>
      <p:sp>
        <p:nvSpPr>
          <p:cNvPr id="1535" name="Google Shape;1535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536" name="Google Shape;1536;p102"/>
          <p:cNvSpPr txBox="1"/>
          <p:nvPr>
            <p:ph type="body" idx="1"/>
          </p:nvPr>
        </p:nvSpPr>
        <p:spPr>
          <a:xfrm>
            <a:off x="324000" y="759300"/>
            <a:ext cx="84960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4) The object has been </a:t>
            </a:r>
            <a:r>
              <a:rPr lang="en-GB" sz="2000" b="1"/>
              <a:t>rotated</a:t>
            </a:r>
            <a:r>
              <a:rPr lang="en-GB" sz="2000"/>
              <a:t> to become the image.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Explain why Andeep might be incorrect. </a:t>
            </a:r>
            <a:endParaRPr sz="2000"/>
          </a:p>
        </p:txBody>
      </p:sp>
      <p:sp>
        <p:nvSpPr>
          <p:cNvPr id="1537" name="Google Shape;1537;p102"/>
          <p:cNvSpPr/>
          <p:nvPr/>
        </p:nvSpPr>
        <p:spPr>
          <a:xfrm>
            <a:off x="2613300" y="3412900"/>
            <a:ext cx="579600" cy="803400"/>
          </a:xfrm>
          <a:prstGeom prst="diamond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38" name="Google Shape;1538;p102"/>
          <p:cNvSpPr txBox="1"/>
          <p:nvPr>
            <p:ph type="body" idx="4294967295"/>
          </p:nvPr>
        </p:nvSpPr>
        <p:spPr>
          <a:xfrm>
            <a:off x="2466750" y="4208258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539" name="Google Shape;1539;p102"/>
          <p:cNvSpPr/>
          <p:nvPr/>
        </p:nvSpPr>
        <p:spPr>
          <a:xfrm>
            <a:off x="4122300" y="3412900"/>
            <a:ext cx="579600" cy="803400"/>
          </a:xfrm>
          <a:prstGeom prst="diamond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0" name="Google Shape;1540;p102"/>
          <p:cNvSpPr txBox="1"/>
          <p:nvPr>
            <p:ph type="body" idx="4294967295"/>
          </p:nvPr>
        </p:nvSpPr>
        <p:spPr>
          <a:xfrm>
            <a:off x="3975750" y="4208258"/>
            <a:ext cx="872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541" name="Google Shape;1541;p102"/>
          <p:cNvSpPr txBox="1"/>
          <p:nvPr>
            <p:ph type="body" idx="1"/>
          </p:nvPr>
        </p:nvSpPr>
        <p:spPr>
          <a:xfrm>
            <a:off x="5069500" y="1526725"/>
            <a:ext cx="37506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Object and image only have the same orientation if the object has been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rotated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through one full turn, or multiple full turns.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it has been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rotated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by less than that, then the image may look invariant, but still have a different orientation.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42" name="Google Shape;1542;p102"/>
          <p:cNvPicPr preferRelativeResize="0"/>
          <p:nvPr/>
        </p:nvPicPr>
        <p:blipFill>
          <a:blip r:embed="rId3">
            <a:alphaModFix/>
          </a:blip>
          <a:srcRect l="-185" t="-2012" r="59770" b="43327"/>
          <a:stretch>
            <a:fillRect/>
          </a:stretch>
        </p:blipFill>
        <p:spPr>
          <a:xfrm flipH="1">
            <a:off x="1608299" y="1709400"/>
            <a:ext cx="2887501" cy="17355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102"/>
          <p:cNvSpPr txBox="1"/>
          <p:nvPr/>
        </p:nvSpPr>
        <p:spPr>
          <a:xfrm flipH="1">
            <a:off x="1762900" y="1882425"/>
            <a:ext cx="26559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object and image both look the same, therefore they have the same orientation.</a:t>
            </a:r>
            <a:endParaRPr sz="1800">
              <a:solidFill>
                <a:srgbClr val="F3EEFB"/>
              </a:solidFill>
            </a:endParaRPr>
          </a:p>
        </p:txBody>
      </p:sp>
      <p:pic>
        <p:nvPicPr>
          <p:cNvPr id="1544" name="Google Shape;1544;p102"/>
          <p:cNvPicPr preferRelativeResize="0"/>
          <p:nvPr/>
        </p:nvPicPr>
        <p:blipFill>
          <a:blip r:embed="rId4">
            <a:alphaModFix/>
          </a:blip>
          <a:srcRect l="16941" r="16934"/>
          <a:stretch>
            <a:fillRect/>
          </a:stretch>
        </p:blipFill>
        <p:spPr>
          <a:xfrm>
            <a:off x="247800" y="2421075"/>
            <a:ext cx="1307326" cy="13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02"/>
          <p:cNvSpPr txBox="1"/>
          <p:nvPr>
            <p:ph type="body" idx="4294967295"/>
          </p:nvPr>
        </p:nvSpPr>
        <p:spPr>
          <a:xfrm>
            <a:off x="426538" y="3705375"/>
            <a:ext cx="1109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</a:t>
            </a:r>
            <a:endParaRPr sz="2000"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9" name="Shape 1549"/>
        <p:cNvGrpSpPr/>
        <p:nvPr/>
      </p:nvGrpSpPr>
      <p:grpSpPr>
        <a:xfrm>
          <a:off x="0" y="0"/>
          <a:ext cx="0" cy="0"/>
        </a:xfrm>
      </p:grpSpPr>
      <p:sp>
        <p:nvSpPr>
          <p:cNvPr id="1550" name="Google Shape;1550;p10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properties of rotations</a:t>
            </a:r>
            <a:endParaRPr/>
          </a:p>
        </p:txBody>
      </p:sp>
      <p:sp>
        <p:nvSpPr>
          <p:cNvPr id="1551" name="Google Shape;1551;p103"/>
          <p:cNvSpPr txBox="1"/>
          <p:nvPr>
            <p:ph type="body" idx="1"/>
          </p:nvPr>
        </p:nvSpPr>
        <p:spPr>
          <a:xfrm>
            <a:off x="324000" y="759300"/>
            <a:ext cx="8496000" cy="48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5) Complete the table with        to show the properties of </a:t>
            </a:r>
            <a:r>
              <a:rPr lang="en-GB" sz="2000" b="1"/>
              <a:t>rotation</a:t>
            </a:r>
            <a:r>
              <a:rPr lang="en-GB" sz="2000"/>
              <a:t>.</a:t>
            </a:r>
            <a:endParaRPr sz="2000"/>
          </a:p>
        </p:txBody>
      </p:sp>
      <p:graphicFrame>
        <p:nvGraphicFramePr>
          <p:cNvPr id="1552" name="Google Shape;1552;p103"/>
          <p:cNvGraphicFramePr>
            <a:graphicFrameLocks noGrp="1"/>
          </p:cNvGraphicFramePr>
          <p:nvPr/>
        </p:nvGraphicFramePr>
        <p:xfrm>
          <a:off x="1684800" y="174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{D6B25490-A881-49B4-955F-029672B1D7F7}</a:tableStyleId>
              </a:tblPr>
              <a:tblGrid>
                <a:gridCol w="1958400"/>
                <a:gridCol w="2019425"/>
                <a:gridCol w="2002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553" name="Google Shape;155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27" y="71281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2" y="217564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2" y="260610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27" y="303045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27" y="3455681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1" name="Shape 1561"/>
        <p:cNvGrpSpPr/>
        <p:nvPr/>
      </p:nvGrpSpPr>
      <p:grpSpPr>
        <a:xfrm>
          <a:off x="0" y="0"/>
          <a:ext cx="0" cy="0"/>
        </a:xfrm>
      </p:grpSpPr>
      <p:sp>
        <p:nvSpPr>
          <p:cNvPr id="1562" name="Google Shape;1562;p104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Placing </a:t>
            </a:r>
            <a:r>
              <a:rPr lang="en-GB" b="1"/>
              <a:t>rotation</a:t>
            </a:r>
            <a:r>
              <a:rPr lang="en-GB"/>
              <a:t> into real-world contexts can be helpful in identifying its purpose in solving puzzles and problems.</a:t>
            </a:r>
            <a:endParaRPr/>
          </a:p>
          <a:p>
            <a:pPr marL="0" lvl="0" indent="0" algn="l" rtl="0">
              <a:spcBef>
                <a:spcPts val="1500"/>
              </a:spcBef>
              <a:spcAft>
                <a:spcPct val="0"/>
              </a:spcAft>
              <a:buNone/>
            </a:pPr>
            <a:r>
              <a:rPr lang="en-GB"/>
              <a:t>Understanding the properties of </a:t>
            </a:r>
            <a:r>
              <a:rPr lang="en-GB" b="1"/>
              <a:t>rotation</a:t>
            </a:r>
            <a:r>
              <a:rPr lang="en-GB"/>
              <a:t> is important in distinguishing between </a:t>
            </a:r>
            <a:r>
              <a:rPr lang="en-GB" b="1"/>
              <a:t>rotations</a:t>
            </a:r>
            <a:r>
              <a:rPr lang="en-GB"/>
              <a:t> and </a:t>
            </a:r>
            <a:r>
              <a:rPr lang="en-GB" b="1"/>
              <a:t>non-rotations</a:t>
            </a:r>
            <a:r>
              <a:rPr lang="en-GB"/>
              <a:t>. </a:t>
            </a:r>
            <a:endParaRPr/>
          </a:p>
          <a:p>
            <a:pPr marL="0" lvl="0" indent="0" algn="l" rt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/>
              <a:t>Orientation is only preserved when a full-turn </a:t>
            </a:r>
            <a:r>
              <a:rPr lang="en-GB" b="1"/>
              <a:t>rotation</a:t>
            </a:r>
            <a:r>
              <a:rPr lang="en-GB"/>
              <a:t> (or multiple full-turn </a:t>
            </a:r>
            <a:r>
              <a:rPr lang="en-GB" b="1"/>
              <a:t>rotations</a:t>
            </a:r>
            <a:r>
              <a:rPr lang="en-GB"/>
              <a:t>) has occurred.</a:t>
            </a:r>
            <a:endParaRPr/>
          </a:p>
        </p:txBody>
      </p:sp>
      <p:sp>
        <p:nvSpPr>
          <p:cNvPr id="1563" name="Google Shape;1563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rotations</a:t>
            </a:r>
            <a:endParaRPr/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7" name="Shape 1567"/>
        <p:cNvGrpSpPr/>
        <p:nvPr/>
      </p:nvGrpSpPr>
      <p:grpSpPr>
        <a:xfrm>
          <a:off x="0" y="0"/>
          <a:ext cx="0" cy="0"/>
        </a:xfrm>
      </p:grpSpPr>
      <p:pic>
        <p:nvPicPr>
          <p:cNvPr id="1568" name="Google Shape;156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105"/>
          <p:cNvSpPr txBox="1"/>
          <p:nvPr/>
        </p:nvSpPr>
        <p:spPr>
          <a:xfrm>
            <a:off x="661775" y="1129425"/>
            <a:ext cx="7351200" cy="23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© Oak National Academy 2023.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Produced in partnership with Mathematics in Education and Industry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18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18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363</Paragraphs>
  <Slides>41</Slides>
  <Notes>41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baseType="lpstr" size="49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Introduction to rotations</vt:lpstr>
      <vt:lpstr>PowerPoint Presentation</vt:lpstr>
      <vt:lpstr>PowerPoint Presentation</vt:lpstr>
      <vt:lpstr>PowerPoint Presentation</vt:lpstr>
      <vt:lpstr>PowerPoint Presentation</vt:lpstr>
      <vt:lpstr>Understanding properties of rotations</vt:lpstr>
      <vt:lpstr>Identifying rotations in the real world</vt:lpstr>
      <vt:lpstr>Identifying rotations in the real world</vt:lpstr>
      <vt:lpstr>Identifying rotations in the real world</vt:lpstr>
      <vt:lpstr>Identifying rotations in the real world</vt:lpstr>
      <vt:lpstr>Identifying rotations in the real world</vt:lpstr>
      <vt:lpstr>Identifying rotations in the real world</vt:lpstr>
      <vt:lpstr>Identifying rotations in the real world</vt:lpstr>
      <vt:lpstr>Identifying rotations in the real world</vt:lpstr>
      <vt:lpstr>Identifying rotations in the real world</vt:lpstr>
      <vt:lpstr>PowerPoint Presentation</vt:lpstr>
      <vt:lpstr>PowerPoint Presentation</vt:lpstr>
      <vt:lpstr>PowerPoint Presentation</vt:lpstr>
      <vt:lpstr>PowerPoint Presentation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Understanding properties of rotations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rotations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2023-11-23T11:43:58.147</cp:lastPrinted>
  <dcterms:created xsi:type="dcterms:W3CDTF">2023-11-23T11:43:58Z</dcterms:created>
  <dcterms:modified xsi:type="dcterms:W3CDTF">2023-11-23T11:44:12Z</dcterms:modified>
</cp:coreProperties>
</file>