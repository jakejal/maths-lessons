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5143500"/>
  <p:notesSz cx="6858000" cy="9144000"/>
  <p:embeddedFontLst>
    <p:embeddedFont>
      <p:font typeface="Lexend" panose="00000000000000000000"/>
      <p:regular r:id="rId46"/>
    </p:embeddedFont>
    <p:embeddedFont>
      <p:font typeface="Lexend Medium" panose="00000000000000000000"/>
      <p:regular r:id="rId47"/>
    </p:embeddedFont>
    <p:embeddedFont>
      <p:font typeface="Kalam" panose="02000000000000000000"/>
      <p:regular r:id="rId48"/>
    </p:embeddedFont>
    <p:embeddedFont>
      <p:font typeface="Lexend Light" panose="00000000000000000000"/>
      <p:regular r:id="rId49"/>
    </p:embeddedFont>
  </p:embeddedFontLst>
  <p:custDataLst>
    <p:tags r:id="rId4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tags" Target="tags/tag1.xml" /><Relationship Id="rId46" Type="http://schemas.openxmlformats.org/officeDocument/2006/relationships/font" Target="fonts/font1.fntdata" /><Relationship Id="rId47" Type="http://schemas.openxmlformats.org/officeDocument/2006/relationships/font" Target="fonts/font2.fntdata" /><Relationship Id="rId48" Type="http://schemas.openxmlformats.org/officeDocument/2006/relationships/font" Target="fonts/font3.fntdata" /><Relationship Id="rId49" Type="http://schemas.openxmlformats.org/officeDocument/2006/relationships/font" Target="fonts/font4.fntdata" /><Relationship Id="rId5" Type="http://schemas.openxmlformats.org/officeDocument/2006/relationships/slide" Target="slides/slide3.xml" /><Relationship Id="rId50" Type="http://schemas.openxmlformats.org/officeDocument/2006/relationships/presProps" Target="presProps.xml" /><Relationship Id="rId51" Type="http://schemas.openxmlformats.org/officeDocument/2006/relationships/viewProps" Target="viewProps.xml" /><Relationship Id="rId52" Type="http://schemas.openxmlformats.org/officeDocument/2006/relationships/theme" Target="theme/theme1.xml" /><Relationship Id="rId53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86b7bb6fca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6b7bb6fca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g286b7bb6fca_0_7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86b7bb6fca_0_7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9" name="Shape 779"/>
        <p:cNvGrpSpPr/>
        <p:nvPr/>
      </p:nvGrpSpPr>
      <p:grpSpPr>
        <a:xfrm>
          <a:off x="0" y="0"/>
          <a:ext cx="0" cy="0"/>
        </a:xfrm>
      </p:grpSpPr>
      <p:sp>
        <p:nvSpPr>
          <p:cNvPr id="780" name="Google Shape;780;g28700d9ac64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8700d9ac64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7" name="Shape 787"/>
        <p:cNvGrpSpPr/>
        <p:nvPr/>
      </p:nvGrpSpPr>
      <p:grpSpPr>
        <a:xfrm>
          <a:off x="0" y="0"/>
          <a:ext cx="0" cy="0"/>
        </a:xfrm>
      </p:grpSpPr>
      <p:sp>
        <p:nvSpPr>
          <p:cNvPr id="788" name="Google Shape;788;g28700d9ac64_1_7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8700d9ac64_1_7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8" name="Shape 798"/>
        <p:cNvGrpSpPr/>
        <p:nvPr/>
      </p:nvGrpSpPr>
      <p:grpSpPr>
        <a:xfrm>
          <a:off x="0" y="0"/>
          <a:ext cx="0" cy="0"/>
        </a:xfrm>
      </p:grpSpPr>
      <p:sp>
        <p:nvSpPr>
          <p:cNvPr id="799" name="Google Shape;799;g1e86ff2eefa_1_7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1e86ff2eefa_1_7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8" name="Shape 808"/>
        <p:cNvGrpSpPr/>
        <p:nvPr/>
      </p:nvGrpSpPr>
      <p:grpSpPr>
        <a:xfrm>
          <a:off x="0" y="0"/>
          <a:ext cx="0" cy="0"/>
        </a:xfrm>
      </p:grpSpPr>
      <p:sp>
        <p:nvSpPr>
          <p:cNvPr id="809" name="Google Shape;809;g1e86ff2eefa_1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e86ff2eefa_1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sp>
        <p:nvSpPr>
          <p:cNvPr id="820" name="Google Shape;820;g28700d9ac64_1_22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8700d9ac64_1_22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g28700d9ac64_1_22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8700d9ac64_1_22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g28700d9ac64_1_22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700d9ac64_1_22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9" name="Shape 859"/>
        <p:cNvGrpSpPr/>
        <p:nvPr/>
      </p:nvGrpSpPr>
      <p:grpSpPr>
        <a:xfrm>
          <a:off x="0" y="0"/>
          <a:ext cx="0" cy="0"/>
        </a:xfrm>
      </p:grpSpPr>
      <p:sp>
        <p:nvSpPr>
          <p:cNvPr id="860" name="Google Shape;860;g28700d9ac64_1_23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8700d9ac64_1_23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8" name="Shape 868"/>
        <p:cNvGrpSpPr/>
        <p:nvPr/>
      </p:nvGrpSpPr>
      <p:grpSpPr>
        <a:xfrm>
          <a:off x="0" y="0"/>
          <a:ext cx="0" cy="0"/>
        </a:xfrm>
      </p:grpSpPr>
      <p:sp>
        <p:nvSpPr>
          <p:cNvPr id="869" name="Google Shape;869;g28700d9ac64_1_25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8700d9ac64_1_25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8" name="Shape 878"/>
        <p:cNvGrpSpPr/>
        <p:nvPr/>
      </p:nvGrpSpPr>
      <p:grpSpPr>
        <a:xfrm>
          <a:off x="0" y="0"/>
          <a:ext cx="0" cy="0"/>
        </a:xfrm>
      </p:grpSpPr>
      <p:sp>
        <p:nvSpPr>
          <p:cNvPr id="879" name="Google Shape;879;g28700d9ac64_1_26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8700d9ac64_1_26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5" name="Shape 885"/>
        <p:cNvGrpSpPr/>
        <p:nvPr/>
      </p:nvGrpSpPr>
      <p:grpSpPr>
        <a:xfrm>
          <a:off x="0" y="0"/>
          <a:ext cx="0" cy="0"/>
        </a:xfrm>
      </p:grpSpPr>
      <p:sp>
        <p:nvSpPr>
          <p:cNvPr id="886" name="Google Shape;886;g28700d9ac64_1_25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8700d9ac64_1_25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1" name="Shape 891"/>
        <p:cNvGrpSpPr/>
        <p:nvPr/>
      </p:nvGrpSpPr>
      <p:grpSpPr>
        <a:xfrm>
          <a:off x="0" y="0"/>
          <a:ext cx="0" cy="0"/>
        </a:xfrm>
      </p:grpSpPr>
      <p:sp>
        <p:nvSpPr>
          <p:cNvPr id="892" name="Google Shape;892;g28700d9ac64_1_25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8700d9ac64_1_25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7" name="Shape 897"/>
        <p:cNvGrpSpPr/>
        <p:nvPr/>
      </p:nvGrpSpPr>
      <p:grpSpPr>
        <a:xfrm>
          <a:off x="0" y="0"/>
          <a:ext cx="0" cy="0"/>
        </a:xfrm>
      </p:grpSpPr>
      <p:sp>
        <p:nvSpPr>
          <p:cNvPr id="898" name="Google Shape;898;g28700d9ac64_1_25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8700d9ac64_1_25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8" name="Shape 908"/>
        <p:cNvGrpSpPr/>
        <p:nvPr/>
      </p:nvGrpSpPr>
      <p:grpSpPr>
        <a:xfrm>
          <a:off x="0" y="0"/>
          <a:ext cx="0" cy="0"/>
        </a:xfrm>
      </p:grpSpPr>
      <p:sp>
        <p:nvSpPr>
          <p:cNvPr id="909" name="Google Shape;909;g28700d9ac64_1_25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8700d9ac64_1_25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7" name="Shape 917"/>
        <p:cNvGrpSpPr/>
        <p:nvPr/>
      </p:nvGrpSpPr>
      <p:grpSpPr>
        <a:xfrm>
          <a:off x="0" y="0"/>
          <a:ext cx="0" cy="0"/>
        </a:xfrm>
      </p:grpSpPr>
      <p:sp>
        <p:nvSpPr>
          <p:cNvPr id="918" name="Google Shape;918;g286b7bb6fca_0_7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86b7bb6fca_0_7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6" name="Shape 926"/>
        <p:cNvGrpSpPr/>
        <p:nvPr/>
      </p:nvGrpSpPr>
      <p:grpSpPr>
        <a:xfrm>
          <a:off x="0" y="0"/>
          <a:ext cx="0" cy="0"/>
        </a:xfrm>
      </p:grpSpPr>
      <p:sp>
        <p:nvSpPr>
          <p:cNvPr id="927" name="Google Shape;927;g28700d9ac64_1_23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8700d9ac64_1_23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sp>
        <p:nvSpPr>
          <p:cNvPr id="943" name="Google Shape;943;g28700d9ac64_1_25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8700d9ac64_1_25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2" name="Shape 952"/>
        <p:cNvGrpSpPr/>
        <p:nvPr/>
      </p:nvGrpSpPr>
      <p:grpSpPr>
        <a:xfrm>
          <a:off x="0" y="0"/>
          <a:ext cx="0" cy="0"/>
        </a:xfrm>
      </p:grpSpPr>
      <p:sp>
        <p:nvSpPr>
          <p:cNvPr id="953" name="Google Shape;953;g28700d9ac64_1_23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8700d9ac64_1_23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8" name="Shape 968"/>
        <p:cNvGrpSpPr/>
        <p:nvPr/>
      </p:nvGrpSpPr>
      <p:grpSpPr>
        <a:xfrm>
          <a:off x="0" y="0"/>
          <a:ext cx="0" cy="0"/>
        </a:xfrm>
      </p:grpSpPr>
      <p:sp>
        <p:nvSpPr>
          <p:cNvPr id="969" name="Google Shape;969;g28700d9ac64_1_24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8700d9ac64_1_24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7" name="Shape 977"/>
        <p:cNvGrpSpPr/>
        <p:nvPr/>
      </p:nvGrpSpPr>
      <p:grpSpPr>
        <a:xfrm>
          <a:off x="0" y="0"/>
          <a:ext cx="0" cy="0"/>
        </a:xfrm>
      </p:grpSpPr>
      <p:sp>
        <p:nvSpPr>
          <p:cNvPr id="978" name="Google Shape;978;g28700d9ac64_1_26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8700d9ac64_1_26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sp>
        <p:nvSpPr>
          <p:cNvPr id="988" name="Google Shape;988;g28700d9ac64_1_25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8700d9ac64_1_25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3" name="Shape 993"/>
        <p:cNvGrpSpPr/>
        <p:nvPr/>
      </p:nvGrpSpPr>
      <p:grpSpPr>
        <a:xfrm>
          <a:off x="0" y="0"/>
          <a:ext cx="0" cy="0"/>
        </a:xfrm>
      </p:grpSpPr>
      <p:sp>
        <p:nvSpPr>
          <p:cNvPr id="994" name="Google Shape;994;g28700d9ac64_1_25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8700d9ac64_1_25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9" name="Shape 999"/>
        <p:cNvGrpSpPr/>
        <p:nvPr/>
      </p:nvGrpSpPr>
      <p:grpSpPr>
        <a:xfrm>
          <a:off x="0" y="0"/>
          <a:ext cx="0" cy="0"/>
        </a:xfrm>
      </p:grpSpPr>
      <p:sp>
        <p:nvSpPr>
          <p:cNvPr id="1000" name="Google Shape;1000;g28700d9ac64_1_26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8700d9ac64_1_26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7" name="Shape 1007"/>
        <p:cNvGrpSpPr/>
        <p:nvPr/>
      </p:nvGrpSpPr>
      <p:grpSpPr>
        <a:xfrm>
          <a:off x="0" y="0"/>
          <a:ext cx="0" cy="0"/>
        </a:xfrm>
      </p:grpSpPr>
      <p:sp>
        <p:nvSpPr>
          <p:cNvPr id="1008" name="Google Shape;1008;g28700d9ac64_1_26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8700d9ac64_1_26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8" name="Shape 1018"/>
        <p:cNvGrpSpPr/>
        <p:nvPr/>
      </p:nvGrpSpPr>
      <p:grpSpPr>
        <a:xfrm>
          <a:off x="0" y="0"/>
          <a:ext cx="0" cy="0"/>
        </a:xfrm>
      </p:grpSpPr>
      <p:sp>
        <p:nvSpPr>
          <p:cNvPr id="1019" name="Google Shape;1019;g286b7bb6fca_0_7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86b7bb6fca_0_7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7" name="Shape 1027"/>
        <p:cNvGrpSpPr/>
        <p:nvPr/>
      </p:nvGrpSpPr>
      <p:grpSpPr>
        <a:xfrm>
          <a:off x="0" y="0"/>
          <a:ext cx="0" cy="0"/>
        </a:xfrm>
      </p:grpSpPr>
      <p:sp>
        <p:nvSpPr>
          <p:cNvPr id="1028" name="Google Shape;1028;g28700d9ac64_1_24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8700d9ac64_1_24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5" name="Shape 1035"/>
        <p:cNvGrpSpPr/>
        <p:nvPr/>
      </p:nvGrpSpPr>
      <p:grpSpPr>
        <a:xfrm>
          <a:off x="0" y="0"/>
          <a:ext cx="0" cy="0"/>
        </a:xfrm>
      </p:grpSpPr>
      <p:sp>
        <p:nvSpPr>
          <p:cNvPr id="1036" name="Google Shape;1036;g28700d9ac64_1_24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8700d9ac64_1_24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7" name="Shape 1047"/>
        <p:cNvGrpSpPr/>
        <p:nvPr/>
      </p:nvGrpSpPr>
      <p:grpSpPr>
        <a:xfrm>
          <a:off x="0" y="0"/>
          <a:ext cx="0" cy="0"/>
        </a:xfrm>
      </p:grpSpPr>
      <p:sp>
        <p:nvSpPr>
          <p:cNvPr id="1048" name="Google Shape;1048;g28700d9ac64_1_24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28700d9ac64_1_24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0" name="Shape 1060"/>
        <p:cNvGrpSpPr/>
        <p:nvPr/>
      </p:nvGrpSpPr>
      <p:grpSpPr>
        <a:xfrm>
          <a:off x="0" y="0"/>
          <a:ext cx="0" cy="0"/>
        </a:xfrm>
      </p:grpSpPr>
      <p:sp>
        <p:nvSpPr>
          <p:cNvPr id="1061" name="Google Shape;1061;g28700d9ac64_1_24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8700d9ac64_1_24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3" name="Shape 1073"/>
        <p:cNvGrpSpPr/>
        <p:nvPr/>
      </p:nvGrpSpPr>
      <p:grpSpPr>
        <a:xfrm>
          <a:off x="0" y="0"/>
          <a:ext cx="0" cy="0"/>
        </a:xfrm>
      </p:grpSpPr>
      <p:sp>
        <p:nvSpPr>
          <p:cNvPr id="1074" name="Google Shape;1074;g28700d9ac64_1_24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8700d9ac64_1_24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5" name="Shape 1085"/>
        <p:cNvGrpSpPr/>
        <p:nvPr/>
      </p:nvGrpSpPr>
      <p:grpSpPr>
        <a:xfrm>
          <a:off x="0" y="0"/>
          <a:ext cx="0" cy="0"/>
        </a:xfrm>
      </p:grpSpPr>
      <p:sp>
        <p:nvSpPr>
          <p:cNvPr id="1086" name="Google Shape;1086;g28700d9ac64_1_25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8700d9ac64_1_25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8" name="Shape 1098"/>
        <p:cNvGrpSpPr/>
        <p:nvPr/>
      </p:nvGrpSpPr>
      <p:grpSpPr>
        <a:xfrm>
          <a:off x="0" y="0"/>
          <a:ext cx="0" cy="0"/>
        </a:xfrm>
      </p:grpSpPr>
      <p:sp>
        <p:nvSpPr>
          <p:cNvPr id="1099" name="Google Shape;1099;g28700d9ac64_1_26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8700d9ac64_1_26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1" name="Shape 1111"/>
        <p:cNvGrpSpPr/>
        <p:nvPr/>
      </p:nvGrpSpPr>
      <p:grpSpPr>
        <a:xfrm>
          <a:off x="0" y="0"/>
          <a:ext cx="0" cy="0"/>
        </a:xfrm>
      </p:grpSpPr>
      <p:sp>
        <p:nvSpPr>
          <p:cNvPr id="1112" name="Google Shape;1112;g28700d9ac64_1_26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8700d9ac64_1_26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4" name="Shape 1124"/>
        <p:cNvGrpSpPr/>
        <p:nvPr/>
      </p:nvGrpSpPr>
      <p:grpSpPr>
        <a:xfrm>
          <a:off x="0" y="0"/>
          <a:ext cx="0" cy="0"/>
        </a:xfrm>
      </p:grpSpPr>
      <p:sp>
        <p:nvSpPr>
          <p:cNvPr id="1125" name="Google Shape;1125;g28700d9ac64_1_24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8700d9ac64_1_24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0" name="Shape 1130"/>
        <p:cNvGrpSpPr/>
        <p:nvPr/>
      </p:nvGrpSpPr>
      <p:grpSpPr>
        <a:xfrm>
          <a:off x="0" y="0"/>
          <a:ext cx="0" cy="0"/>
        </a:xfrm>
      </p:grpSpPr>
      <p:sp>
        <p:nvSpPr>
          <p:cNvPr id="1131" name="Google Shape;1131;g28700d9ac64_1_25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8700d9ac64_1_25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1" name="Shape 1141"/>
        <p:cNvGrpSpPr/>
        <p:nvPr/>
      </p:nvGrpSpPr>
      <p:grpSpPr>
        <a:xfrm>
          <a:off x="0" y="0"/>
          <a:ext cx="0" cy="0"/>
        </a:xfrm>
      </p:grpSpPr>
      <p:sp>
        <p:nvSpPr>
          <p:cNvPr id="1142" name="Google Shape;1142;g28700d9ac64_1_27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8700d9ac64_1_27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7" name="Shape 1147"/>
        <p:cNvGrpSpPr/>
        <p:nvPr/>
      </p:nvGrpSpPr>
      <p:grpSpPr>
        <a:xfrm>
          <a:off x="0" y="0"/>
          <a:ext cx="0" cy="0"/>
        </a:xfrm>
      </p:grpSpPr>
      <p:sp>
        <p:nvSpPr>
          <p:cNvPr id="1148" name="Google Shape;1148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4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5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Relationship Id="rId5" Type="http://schemas.openxmlformats.org/officeDocument/2006/relationships/image" Target="../media/image54.png" /><Relationship Id="rId6" Type="http://schemas.openxmlformats.org/officeDocument/2006/relationships/image" Target="../media/image5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Relationship Id="rId5" Type="http://schemas.openxmlformats.org/officeDocument/2006/relationships/image" Target="../media/image58.png" /><Relationship Id="rId6" Type="http://schemas.openxmlformats.org/officeDocument/2006/relationships/image" Target="../media/image59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Relationship Id="rId5" Type="http://schemas.openxmlformats.org/officeDocument/2006/relationships/image" Target="../media/image62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63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Relationship Id="rId3" Type="http://schemas.openxmlformats.org/officeDocument/2006/relationships/hyperlink" Target="https://www.geogebra.org/calculator/kvy2zcrg" TargetMode="External" /><Relationship Id="rId4" Type="http://schemas.openxmlformats.org/officeDocument/2006/relationships/hyperlink" Target="https://www.geogebra.org/calculator/t57u9qpc" TargetMode="Externa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7.xml" /><Relationship Id="rId3" Type="http://schemas.openxmlformats.org/officeDocument/2006/relationships/hyperlink" Target="https://www.geogebra.org/calculator/xrpec3bs" TargetMode="External" /><Relationship Id="rId4" Type="http://schemas.openxmlformats.org/officeDocument/2006/relationships/hyperlink" Target="https://www.geogebra.org/calculator/tfgkvvcw" TargetMode="Externa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8.xml" /><Relationship Id="rId3" Type="http://schemas.openxmlformats.org/officeDocument/2006/relationships/hyperlink" Target="https://www.geogebra.org/calculator/kvy2zcrg" TargetMode="External" /><Relationship Id="rId4" Type="http://schemas.openxmlformats.org/officeDocument/2006/relationships/hyperlink" Target="https://www.geogebra.org/calculator/t57u9qpc" TargetMode="External" /><Relationship Id="rId5" Type="http://schemas.openxmlformats.org/officeDocument/2006/relationships/image" Target="../media/image64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9.xml" /><Relationship Id="rId3" Type="http://schemas.openxmlformats.org/officeDocument/2006/relationships/hyperlink" Target="https://www.geogebra.org/calculator/xrpec3bs" TargetMode="External" /><Relationship Id="rId4" Type="http://schemas.openxmlformats.org/officeDocument/2006/relationships/hyperlink" Target="https://www.geogebra.org/calculator/tfgkvvcw" TargetMode="Externa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4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Relationship Id="rId6" Type="http://schemas.openxmlformats.org/officeDocument/2006/relationships/image" Target="../media/image68.png" /><Relationship Id="rId7" Type="http://schemas.openxmlformats.org/officeDocument/2006/relationships/image" Target="../media/image69.png" /><Relationship Id="rId8" Type="http://schemas.openxmlformats.org/officeDocument/2006/relationships/image" Target="../media/image70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71.png" /><Relationship Id="rId4" Type="http://schemas.openxmlformats.org/officeDocument/2006/relationships/image" Target="../media/image70.png" /><Relationship Id="rId5" Type="http://schemas.openxmlformats.org/officeDocument/2006/relationships/image" Target="../media/image72.png" /><Relationship Id="rId6" Type="http://schemas.openxmlformats.org/officeDocument/2006/relationships/image" Target="../media/image63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73.png" /><Relationship Id="rId4" Type="http://schemas.openxmlformats.org/officeDocument/2006/relationships/image" Target="../media/image74.png" /><Relationship Id="rId5" Type="http://schemas.openxmlformats.org/officeDocument/2006/relationships/image" Target="../media/image75.png" /><Relationship Id="rId6" Type="http://schemas.openxmlformats.org/officeDocument/2006/relationships/image" Target="../media/image76.png" /><Relationship Id="rId7" Type="http://schemas.openxmlformats.org/officeDocument/2006/relationships/image" Target="../media/image77.png" /><Relationship Id="rId8" Type="http://schemas.openxmlformats.org/officeDocument/2006/relationships/image" Target="../media/image78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79.png" /><Relationship Id="rId4" Type="http://schemas.openxmlformats.org/officeDocument/2006/relationships/image" Target="../media/image80.png" /><Relationship Id="rId5" Type="http://schemas.openxmlformats.org/officeDocument/2006/relationships/image" Target="../media/image81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3.png" /><Relationship Id="rId4" Type="http://schemas.openxmlformats.org/officeDocument/2006/relationships/image" Target="../media/image82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6.xml" /><Relationship Id="rId3" Type="http://schemas.openxmlformats.org/officeDocument/2006/relationships/hyperlink" Target="https://www.geogebra.org/calculator/w7cpsv5e" TargetMode="External" /><Relationship Id="rId4" Type="http://schemas.openxmlformats.org/officeDocument/2006/relationships/hyperlink" Target="https://www.geogebra.org/calculator/vdrxer7f" TargetMode="Externa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7.xml" /><Relationship Id="rId3" Type="http://schemas.openxmlformats.org/officeDocument/2006/relationships/hyperlink" Target="https://www.geogebra.org/calculator/hpvxkknt" TargetMode="Externa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8.xml" /><Relationship Id="rId3" Type="http://schemas.openxmlformats.org/officeDocument/2006/relationships/hyperlink" Target="https://www.geogebra.org/calculator/w7cpsv5e" TargetMode="External" /><Relationship Id="rId4" Type="http://schemas.openxmlformats.org/officeDocument/2006/relationships/hyperlink" Target="https://www.geogebra.org/calculator/vdrxer7f" TargetMode="Externa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9.xml" /><Relationship Id="rId3" Type="http://schemas.openxmlformats.org/officeDocument/2006/relationships/hyperlink" Target="https://www.geogebra.org/calculator/hpvxkknt" TargetMode="Externa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44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83.png" /><Relationship Id="rId4" Type="http://schemas.openxmlformats.org/officeDocument/2006/relationships/hyperlink" Target="https://www.geogebra.org/calculator/wr3uujjn" TargetMode="Externa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83.png" /><Relationship Id="rId4" Type="http://schemas.openxmlformats.org/officeDocument/2006/relationships/image" Target="../media/image84.png" /><Relationship Id="rId5" Type="http://schemas.openxmlformats.org/officeDocument/2006/relationships/image" Target="../media/image85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85.png" /><Relationship Id="rId4" Type="http://schemas.openxmlformats.org/officeDocument/2006/relationships/image" Target="../media/image64.png" /><Relationship Id="rId5" Type="http://schemas.openxmlformats.org/officeDocument/2006/relationships/image" Target="../media/image86.png" /><Relationship Id="rId6" Type="http://schemas.openxmlformats.org/officeDocument/2006/relationships/image" Target="../media/image87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87.png" /><Relationship Id="rId4" Type="http://schemas.openxmlformats.org/officeDocument/2006/relationships/image" Target="../media/image88.png" /><Relationship Id="rId5" Type="http://schemas.openxmlformats.org/officeDocument/2006/relationships/image" Target="../media/image89.png" /><Relationship Id="rId6" Type="http://schemas.openxmlformats.org/officeDocument/2006/relationships/image" Target="../media/image90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89.png" /><Relationship Id="rId4" Type="http://schemas.openxmlformats.org/officeDocument/2006/relationships/image" Target="../media/image91.png" /><Relationship Id="rId5" Type="http://schemas.openxmlformats.org/officeDocument/2006/relationships/image" Target="../media/image92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63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63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63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39.xml" /><Relationship Id="rId3" Type="http://schemas.openxmlformats.org/officeDocument/2006/relationships/hyperlink" Target="https://www.geogebra.org/calculator/mhj8tv5y" TargetMode="Externa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0.xml" /><Relationship Id="rId3" Type="http://schemas.openxmlformats.org/officeDocument/2006/relationships/hyperlink" Target="https://www.geogebra.org/calculator/mhj8tv5y" TargetMode="External" /><Relationship Id="rId4" Type="http://schemas.openxmlformats.org/officeDocument/2006/relationships/image" Target="../media/image93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2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9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GeoGebra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investigate transformations using dynamic software.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290249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vector can be used to describe a translation. The vector</a:t>
            </a:r>
            <a:b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shows the translation 2 units right and 5 units down.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7" name="Google Shape;767;p67" descr="&lt;math xmlns=&quot;http://www.w3.org/1998/Math/MathML&quot; display=&quot;block&quot; data-is-equatio=&quot;1&quot; data-latex=&quot;\begin{pmatrix}&amp;#10;2 \\&amp;#10;-5&amp;#10;\end{pmatrix}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5&lt;/mn&gt;&lt;/mtd&gt;&lt;/mtr&gt;&lt;/mtable&gt;&lt;mo data-mjx-texclass=&quot;CLOSE&quot;&gt;)&lt;/mo&gt;&lt;/mrow&gt;&lt;/math&gt;" title="the 2 by 1 column matrix 2 negative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364" y="2819874"/>
            <a:ext cx="566225" cy="5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7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/>
              <a:t>The object</a:t>
            </a:r>
            <a:r>
              <a:rPr lang="en-GB" sz="2000"/>
              <a:t> </a:t>
            </a:r>
            <a:r>
              <a:rPr lang="en-GB" sz="2000" b="0"/>
              <a:t>is the starting figure, before a transformation has been applied.</a:t>
            </a:r>
            <a:endParaRPr sz="2400" b="0"/>
          </a:p>
        </p:txBody>
      </p:sp>
      <p:sp>
        <p:nvSpPr>
          <p:cNvPr id="769" name="Google Shape;769;p67"/>
          <p:cNvSpPr txBox="1"/>
          <p:nvPr>
            <p:ph type="subTitle" idx="2"/>
          </p:nvPr>
        </p:nvSpPr>
        <p:spPr>
          <a:xfrm>
            <a:off x="324000" y="1905625"/>
            <a:ext cx="8496000" cy="7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/>
              <a:t>The image is the resulting figure, after a transformation has been applied.</a:t>
            </a:r>
            <a:endParaRPr sz="2400" b="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3" name="Shape 773"/>
        <p:cNvGrpSpPr/>
        <p:nvPr/>
      </p:nvGrpSpPr>
      <p:grpSpPr>
        <a:xfrm>
          <a:off x="0" y="0"/>
          <a:ext cx="0" cy="0"/>
        </a:xfrm>
      </p:grpSpPr>
      <p:sp>
        <p:nvSpPr>
          <p:cNvPr id="774" name="Google Shape;774;p68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775" name="Google Shape;775;p68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sp>
        <p:nvSpPr>
          <p:cNvPr id="776" name="Google Shape;776;p68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777" name="Google Shape;777;p68"/>
          <p:cNvSpPr txBox="1"/>
          <p:nvPr>
            <p:ph type="title" idx="4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GeoGebra</a:t>
            </a:r>
            <a:endParaRPr/>
          </a:p>
        </p:txBody>
      </p:sp>
      <p:pic>
        <p:nvPicPr>
          <p:cNvPr id="778" name="Google Shape;7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00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sp>
        <p:nvSpPr>
          <p:cNvPr id="783" name="Google Shape;783;p69"/>
          <p:cNvSpPr txBox="1"/>
          <p:nvPr>
            <p:ph type="body" idx="1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Dynamic geometry software can be used to quickly draw shapes and transform them.</a:t>
            </a:r>
            <a:endParaRPr/>
          </a:p>
        </p:txBody>
      </p:sp>
      <p:sp>
        <p:nvSpPr>
          <p:cNvPr id="784" name="Google Shape;78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785" name="Google Shape;785;p69"/>
          <p:cNvSpPr txBox="1"/>
          <p:nvPr>
            <p:ph type="body" idx="1"/>
          </p:nvPr>
        </p:nvSpPr>
        <p:spPr>
          <a:xfrm>
            <a:off x="324000" y="1901900"/>
            <a:ext cx="8496000" cy="79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It is called ‘dynamic’ because items can be </a:t>
            </a:r>
            <a:r>
              <a:rPr lang="en-GB">
                <a:solidFill>
                  <a:schemeClr val="accent4"/>
                </a:solidFill>
              </a:rPr>
              <a:t>moved</a:t>
            </a:r>
            <a:r>
              <a:rPr lang="en-GB"/>
              <a:t> and </a:t>
            </a:r>
            <a:r>
              <a:rPr lang="en-GB">
                <a:solidFill>
                  <a:schemeClr val="accent4"/>
                </a:solidFill>
              </a:rPr>
              <a:t>manipulated</a:t>
            </a:r>
            <a:r>
              <a:rPr lang="en-GB"/>
              <a:t> after they have been created.</a:t>
            </a:r>
            <a:br>
              <a:rPr lang="en-GB"/>
            </a:br>
            <a:endParaRPr/>
          </a:p>
        </p:txBody>
      </p:sp>
      <p:sp>
        <p:nvSpPr>
          <p:cNvPr id="786" name="Google Shape;786;p69"/>
          <p:cNvSpPr txBox="1"/>
          <p:nvPr>
            <p:ph type="body" idx="1"/>
          </p:nvPr>
        </p:nvSpPr>
        <p:spPr>
          <a:xfrm>
            <a:off x="324000" y="3044527"/>
            <a:ext cx="8496000" cy="12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means that if we perform a transformation incorrectly to begin with then we can adjust it to make corrections.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0" name="Shape 790"/>
        <p:cNvGrpSpPr/>
        <p:nvPr/>
      </p:nvGrpSpPr>
      <p:grpSpPr>
        <a:xfrm>
          <a:off x="0" y="0"/>
          <a:ext cx="0" cy="0"/>
        </a:xfrm>
      </p:grpSpPr>
      <p:sp>
        <p:nvSpPr>
          <p:cNvPr id="791" name="Google Shape;791;p70"/>
          <p:cNvSpPr txBox="1"/>
          <p:nvPr>
            <p:ph type="body" idx="1"/>
          </p:nvPr>
        </p:nvSpPr>
        <p:spPr>
          <a:xfrm>
            <a:off x="324000" y="759300"/>
            <a:ext cx="82377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To get started:</a:t>
            </a:r>
            <a:endParaRPr/>
          </a:p>
        </p:txBody>
      </p:sp>
      <p:sp>
        <p:nvSpPr>
          <p:cNvPr id="792" name="Google Shape;79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793" name="Google Shape;793;p70"/>
          <p:cNvSpPr txBox="1"/>
          <p:nvPr>
            <p:ph type="body" idx="1"/>
          </p:nvPr>
        </p:nvSpPr>
        <p:spPr>
          <a:xfrm>
            <a:off x="324000" y="1278925"/>
            <a:ext cx="4500000" cy="7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Open up a web browser and go to </a:t>
            </a:r>
            <a:r>
              <a:rPr lang="en-GB" sz="1800">
                <a:solidFill>
                  <a:schemeClr val="accent4"/>
                </a:solidFill>
              </a:rPr>
              <a:t>GeoGebra.org</a:t>
            </a:r>
            <a:endParaRPr sz="1800"/>
          </a:p>
        </p:txBody>
      </p:sp>
      <p:pic>
        <p:nvPicPr>
          <p:cNvPr id="794" name="Google Shape;7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1076025"/>
            <a:ext cx="2360933" cy="37443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5" name="Google Shape;795;p70"/>
          <p:cNvSpPr txBox="1"/>
          <p:nvPr>
            <p:ph type="body" idx="1"/>
          </p:nvPr>
        </p:nvSpPr>
        <p:spPr>
          <a:xfrm>
            <a:off x="327150" y="2224475"/>
            <a:ext cx="4500000" cy="7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Find and press the ‘</a:t>
            </a:r>
            <a:r>
              <a:rPr lang="en-GB" sz="1800">
                <a:solidFill>
                  <a:schemeClr val="accent4"/>
                </a:solidFill>
              </a:rPr>
              <a:t>start calculator</a:t>
            </a:r>
            <a:r>
              <a:rPr lang="en-GB" sz="1800"/>
              <a:t>’ button.</a:t>
            </a:r>
            <a:endParaRPr sz="1800"/>
          </a:p>
        </p:txBody>
      </p:sp>
      <p:sp>
        <p:nvSpPr>
          <p:cNvPr id="796" name="Google Shape;796;p70"/>
          <p:cNvSpPr txBox="1"/>
          <p:nvPr>
            <p:ph type="body" idx="1"/>
          </p:nvPr>
        </p:nvSpPr>
        <p:spPr>
          <a:xfrm>
            <a:off x="324550" y="3160500"/>
            <a:ext cx="4500000" cy="7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Find and press the ‘</a:t>
            </a:r>
            <a:r>
              <a:rPr lang="en-GB" sz="1800">
                <a:solidFill>
                  <a:schemeClr val="accent4"/>
                </a:solidFill>
              </a:rPr>
              <a:t>graphing</a:t>
            </a:r>
            <a:r>
              <a:rPr lang="en-GB" sz="1800"/>
              <a:t>’ button to open up an options menu.</a:t>
            </a:r>
            <a:endParaRPr sz="1800"/>
          </a:p>
        </p:txBody>
      </p:sp>
      <p:sp>
        <p:nvSpPr>
          <p:cNvPr id="797" name="Google Shape;797;p70"/>
          <p:cNvSpPr txBox="1"/>
          <p:nvPr>
            <p:ph type="body" idx="1"/>
          </p:nvPr>
        </p:nvSpPr>
        <p:spPr>
          <a:xfrm>
            <a:off x="324000" y="4099125"/>
            <a:ext cx="4500000" cy="43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Select ‘</a:t>
            </a:r>
            <a:r>
              <a:rPr lang="en-GB" sz="1800">
                <a:solidFill>
                  <a:schemeClr val="accent4"/>
                </a:solidFill>
              </a:rPr>
              <a:t>geometry</a:t>
            </a:r>
            <a:r>
              <a:rPr lang="en-GB" sz="1800"/>
              <a:t>’.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sp>
        <p:nvSpPr>
          <p:cNvPr id="802" name="Google Shape;802;p71"/>
          <p:cNvSpPr txBox="1"/>
          <p:nvPr>
            <p:ph type="body" idx="1"/>
          </p:nvPr>
        </p:nvSpPr>
        <p:spPr>
          <a:xfrm>
            <a:off x="324000" y="759300"/>
            <a:ext cx="82377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To change the background:</a:t>
            </a:r>
            <a:endParaRPr/>
          </a:p>
        </p:txBody>
      </p:sp>
      <p:sp>
        <p:nvSpPr>
          <p:cNvPr id="803" name="Google Shape;80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804" name="Google Shape;804;p71"/>
          <p:cNvSpPr txBox="1"/>
          <p:nvPr>
            <p:ph type="body" idx="1"/>
          </p:nvPr>
        </p:nvSpPr>
        <p:spPr>
          <a:xfrm>
            <a:off x="324000" y="1278925"/>
            <a:ext cx="4500000" cy="7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cog in the top right of the screen.</a:t>
            </a:r>
            <a:endParaRPr sz="1800"/>
          </a:p>
        </p:txBody>
      </p:sp>
      <p:sp>
        <p:nvSpPr>
          <p:cNvPr id="805" name="Google Shape;805;p71"/>
          <p:cNvSpPr txBox="1"/>
          <p:nvPr>
            <p:ph type="body" idx="1"/>
          </p:nvPr>
        </p:nvSpPr>
        <p:spPr>
          <a:xfrm>
            <a:off x="327150" y="2224475"/>
            <a:ext cx="4500000" cy="7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Select </a:t>
            </a:r>
            <a:r>
              <a:rPr lang="en-GB" sz="1800">
                <a:solidFill>
                  <a:schemeClr val="accent4"/>
                </a:solidFill>
              </a:rPr>
              <a:t>Show Grid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06" name="Google Shape;806;p71"/>
          <p:cNvSpPr txBox="1"/>
          <p:nvPr>
            <p:ph type="body" idx="1"/>
          </p:nvPr>
        </p:nvSpPr>
        <p:spPr>
          <a:xfrm>
            <a:off x="324550" y="3160500"/>
            <a:ext cx="4500000" cy="7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From the drop down menu, select </a:t>
            </a:r>
            <a:r>
              <a:rPr lang="en-GB" sz="1800">
                <a:solidFill>
                  <a:schemeClr val="accent4"/>
                </a:solidFill>
              </a:rPr>
              <a:t>Major Gridlines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807" name="Google Shape;80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2138" y="1076025"/>
            <a:ext cx="2543175" cy="34861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1" name="Shape 811"/>
        <p:cNvGrpSpPr/>
        <p:nvPr/>
      </p:nvGrpSpPr>
      <p:grpSpPr>
        <a:xfrm>
          <a:off x="0" y="0"/>
          <a:ext cx="0" cy="0"/>
        </a:xfrm>
      </p:grpSpPr>
      <p:sp>
        <p:nvSpPr>
          <p:cNvPr id="812" name="Google Shape;812;p72"/>
          <p:cNvSpPr txBox="1"/>
          <p:nvPr>
            <p:ph type="body" idx="1"/>
          </p:nvPr>
        </p:nvSpPr>
        <p:spPr>
          <a:xfrm>
            <a:off x="324000" y="759300"/>
            <a:ext cx="82377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draw a polygon:</a:t>
            </a:r>
            <a:endParaRPr/>
          </a:p>
        </p:txBody>
      </p:sp>
      <p:sp>
        <p:nvSpPr>
          <p:cNvPr id="813" name="Google Shape;81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814" name="Google Shape;814;p72"/>
          <p:cNvSpPr txBox="1"/>
          <p:nvPr>
            <p:ph type="body" idx="1"/>
          </p:nvPr>
        </p:nvSpPr>
        <p:spPr>
          <a:xfrm>
            <a:off x="324000" y="1620000"/>
            <a:ext cx="4248000" cy="3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polygon tool.</a:t>
            </a:r>
            <a:endParaRPr sz="1800"/>
          </a:p>
        </p:txBody>
      </p:sp>
      <p:sp>
        <p:nvSpPr>
          <p:cNvPr id="815" name="Google Shape;815;p72"/>
          <p:cNvSpPr txBox="1"/>
          <p:nvPr>
            <p:ph type="body" idx="1"/>
          </p:nvPr>
        </p:nvSpPr>
        <p:spPr>
          <a:xfrm>
            <a:off x="327000" y="2249082"/>
            <a:ext cx="4248000" cy="66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workspace to insert some vertices.</a:t>
            </a:r>
            <a:endParaRPr sz="1800"/>
          </a:p>
        </p:txBody>
      </p:sp>
      <p:sp>
        <p:nvSpPr>
          <p:cNvPr id="816" name="Google Shape;816;p72"/>
          <p:cNvSpPr txBox="1"/>
          <p:nvPr>
            <p:ph type="body" idx="1"/>
          </p:nvPr>
        </p:nvSpPr>
        <p:spPr>
          <a:xfrm>
            <a:off x="321391" y="3187700"/>
            <a:ext cx="4248000" cy="66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first vertex again to complete the polygon. </a:t>
            </a:r>
            <a:endParaRPr sz="1800"/>
          </a:p>
        </p:txBody>
      </p:sp>
      <p:pic>
        <p:nvPicPr>
          <p:cNvPr id="817" name="Google Shape;81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100" y="1517700"/>
            <a:ext cx="646867" cy="590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18" name="Google Shape;81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4563" y="1377888"/>
            <a:ext cx="212407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  <p:cond evt="onBegin" delay="0">
                          <p:tn val="6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  <p:cond evt="onBegin" delay="0">
                          <p:tn val="10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2" name="Shape 822"/>
        <p:cNvGrpSpPr/>
        <p:nvPr/>
      </p:nvGrpSpPr>
      <p:grpSpPr>
        <a:xfrm>
          <a:off x="0" y="0"/>
          <a:ext cx="0" cy="0"/>
        </a:xfrm>
      </p:grpSpPr>
      <p:pic>
        <p:nvPicPr>
          <p:cNvPr id="823" name="Google Shape;823;p73"/>
          <p:cNvPicPr preferRelativeResize="0"/>
          <p:nvPr/>
        </p:nvPicPr>
        <p:blipFill>
          <a:blip r:embed="rId3">
            <a:alphaModFix/>
          </a:blip>
          <a:srcRect b="25256"/>
          <a:stretch>
            <a:fillRect/>
          </a:stretch>
        </p:blipFill>
        <p:spPr>
          <a:xfrm>
            <a:off x="4312825" y="1136100"/>
            <a:ext cx="3933551" cy="2753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24" name="Google Shape;82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825" y="1204514"/>
            <a:ext cx="3337275" cy="268534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25" name="Google Shape;825;p73"/>
          <p:cNvSpPr txBox="1"/>
          <p:nvPr>
            <p:ph type="body" idx="1"/>
          </p:nvPr>
        </p:nvSpPr>
        <p:spPr>
          <a:xfrm>
            <a:off x="324000" y="759300"/>
            <a:ext cx="82377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To get started:</a:t>
            </a:r>
            <a:endParaRPr/>
          </a:p>
        </p:txBody>
      </p:sp>
      <p:sp>
        <p:nvSpPr>
          <p:cNvPr id="826" name="Google Shape;82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827" name="Google Shape;827;p73"/>
          <p:cNvSpPr txBox="1"/>
          <p:nvPr>
            <p:ph type="body" idx="1"/>
          </p:nvPr>
        </p:nvSpPr>
        <p:spPr>
          <a:xfrm>
            <a:off x="324000" y="1278925"/>
            <a:ext cx="3558600" cy="6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‘</a:t>
            </a:r>
            <a:r>
              <a:rPr lang="en-GB" sz="1800">
                <a:solidFill>
                  <a:schemeClr val="accent4"/>
                </a:solidFill>
              </a:rPr>
              <a:t>more</a:t>
            </a:r>
            <a:r>
              <a:rPr lang="en-GB" sz="1800"/>
              <a:t>’ to access more tools.</a:t>
            </a:r>
            <a:endParaRPr sz="1800"/>
          </a:p>
        </p:txBody>
      </p:sp>
      <p:pic>
        <p:nvPicPr>
          <p:cNvPr id="828" name="Google Shape;828;p73"/>
          <p:cNvPicPr preferRelativeResize="0"/>
          <p:nvPr/>
        </p:nvPicPr>
        <p:blipFill>
          <a:blip r:embed="rId5">
            <a:alphaModFix/>
          </a:blip>
          <a:srcRect l="7217" r="14332"/>
          <a:stretch>
            <a:fillRect/>
          </a:stretch>
        </p:blipFill>
        <p:spPr>
          <a:xfrm>
            <a:off x="4320000" y="1170527"/>
            <a:ext cx="3416749" cy="23595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29" name="Google Shape;829;p73"/>
          <p:cNvSpPr txBox="1"/>
          <p:nvPr>
            <p:ph type="body" idx="1"/>
          </p:nvPr>
        </p:nvSpPr>
        <p:spPr>
          <a:xfrm>
            <a:off x="325970" y="2225811"/>
            <a:ext cx="3558600" cy="68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Scroll down to see full range of tools available.</a:t>
            </a:r>
            <a:endParaRPr sz="1800"/>
          </a:p>
        </p:txBody>
      </p:sp>
      <p:sp>
        <p:nvSpPr>
          <p:cNvPr id="830" name="Google Shape;830;p73"/>
          <p:cNvSpPr txBox="1"/>
          <p:nvPr>
            <p:ph type="body" idx="1"/>
          </p:nvPr>
        </p:nvSpPr>
        <p:spPr>
          <a:xfrm>
            <a:off x="328552" y="3170921"/>
            <a:ext cx="3558600" cy="6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Find the ‘</a:t>
            </a:r>
            <a:r>
              <a:rPr lang="en-GB" sz="1800">
                <a:solidFill>
                  <a:schemeClr val="accent4"/>
                </a:solidFill>
              </a:rPr>
              <a:t>transform</a:t>
            </a:r>
            <a:r>
              <a:rPr lang="en-GB" sz="1800"/>
              <a:t>’ section of tools.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4" name="Shape 834"/>
        <p:cNvGrpSpPr/>
        <p:nvPr/>
      </p:nvGrpSpPr>
      <p:grpSpPr>
        <a:xfrm>
          <a:off x="0" y="0"/>
          <a:ext cx="0" cy="0"/>
        </a:xfrm>
      </p:grpSpPr>
      <p:pic>
        <p:nvPicPr>
          <p:cNvPr id="835" name="Google Shape;835;p74"/>
          <p:cNvPicPr preferRelativeResize="0"/>
          <p:nvPr/>
        </p:nvPicPr>
        <p:blipFill>
          <a:blip r:embed="rId3">
            <a:alphaModFix/>
          </a:blip>
          <a:srcRect r="26051"/>
          <a:stretch>
            <a:fillRect/>
          </a:stretch>
        </p:blipFill>
        <p:spPr>
          <a:xfrm>
            <a:off x="4581975" y="1086600"/>
            <a:ext cx="3864924" cy="29810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36" name="Google Shape;836;p74"/>
          <p:cNvSpPr txBox="1"/>
          <p:nvPr>
            <p:ph type="body" idx="1"/>
          </p:nvPr>
        </p:nvSpPr>
        <p:spPr>
          <a:xfrm>
            <a:off x="324000" y="759300"/>
            <a:ext cx="82377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rotate an object:</a:t>
            </a:r>
            <a:endParaRPr/>
          </a:p>
        </p:txBody>
      </p:sp>
      <p:sp>
        <p:nvSpPr>
          <p:cNvPr id="837" name="Google Shape;83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838" name="Google Shape;838;p74"/>
          <p:cNvSpPr txBox="1"/>
          <p:nvPr>
            <p:ph type="body" idx="1"/>
          </p:nvPr>
        </p:nvSpPr>
        <p:spPr>
          <a:xfrm>
            <a:off x="324000" y="1278925"/>
            <a:ext cx="4012200" cy="7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the ‘</a:t>
            </a:r>
            <a:r>
              <a:rPr lang="en-GB" sz="1800">
                <a:solidFill>
                  <a:schemeClr val="accent4"/>
                </a:solidFill>
              </a:rPr>
              <a:t>rotate around point</a:t>
            </a:r>
            <a:r>
              <a:rPr lang="en-GB" sz="1800"/>
              <a:t>’ tool.</a:t>
            </a:r>
            <a:endParaRPr sz="1800"/>
          </a:p>
        </p:txBody>
      </p:sp>
      <p:sp>
        <p:nvSpPr>
          <p:cNvPr id="839" name="Google Shape;839;p74"/>
          <p:cNvSpPr txBox="1"/>
          <p:nvPr>
            <p:ph type="body" idx="1"/>
          </p:nvPr>
        </p:nvSpPr>
        <p:spPr>
          <a:xfrm>
            <a:off x="327150" y="2148275"/>
            <a:ext cx="4012200" cy="9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object and click a point for the centre of rotation.</a:t>
            </a:r>
            <a:br>
              <a:rPr lang="en-GB" sz="1800"/>
            </a:br>
            <a:endParaRPr sz="1800"/>
          </a:p>
        </p:txBody>
      </p:sp>
      <p:sp>
        <p:nvSpPr>
          <p:cNvPr id="840" name="Google Shape;840;p74"/>
          <p:cNvSpPr txBox="1"/>
          <p:nvPr>
            <p:ph type="body" idx="1"/>
          </p:nvPr>
        </p:nvSpPr>
        <p:spPr>
          <a:xfrm>
            <a:off x="324550" y="3029591"/>
            <a:ext cx="4012200" cy="9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Type an angle, select either clockwise or counterclockwise and click OK.</a:t>
            </a:r>
            <a:endParaRPr sz="1800"/>
          </a:p>
        </p:txBody>
      </p:sp>
      <p:pic>
        <p:nvPicPr>
          <p:cNvPr id="841" name="Google Shape;841;p74"/>
          <p:cNvPicPr preferRelativeResize="0"/>
          <p:nvPr/>
        </p:nvPicPr>
        <p:blipFill>
          <a:blip r:embed="rId4">
            <a:alphaModFix/>
          </a:blip>
          <a:srcRect r="25832" b="6855"/>
          <a:stretch>
            <a:fillRect/>
          </a:stretch>
        </p:blipFill>
        <p:spPr>
          <a:xfrm>
            <a:off x="4583800" y="1086600"/>
            <a:ext cx="3864924" cy="29810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2" name="Google Shape;842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6137" y="3344725"/>
            <a:ext cx="3203075" cy="14756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43" name="Google Shape;843;p74"/>
          <p:cNvSpPr txBox="1"/>
          <p:nvPr>
            <p:ph type="body" idx="1"/>
          </p:nvPr>
        </p:nvSpPr>
        <p:spPr>
          <a:xfrm>
            <a:off x="336675" y="4486275"/>
            <a:ext cx="7807200" cy="3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Counterclockwise</a:t>
            </a:r>
            <a:r>
              <a:rPr lang="en-GB" sz="1800"/>
              <a:t> is a word used in the USA to mean </a:t>
            </a:r>
            <a:r>
              <a:rPr lang="en-GB" sz="1800">
                <a:solidFill>
                  <a:schemeClr val="accent4"/>
                </a:solidFill>
              </a:rPr>
              <a:t>anticlockwise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844" name="Google Shape;844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3363" y="1562855"/>
            <a:ext cx="622870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pic>
        <p:nvPicPr>
          <p:cNvPr id="849" name="Google Shape;849;p75"/>
          <p:cNvPicPr preferRelativeResize="0"/>
          <p:nvPr/>
        </p:nvPicPr>
        <p:blipFill>
          <a:blip r:embed="rId3">
            <a:alphaModFix/>
          </a:blip>
          <a:srcRect r="26308" b="10217"/>
          <a:stretch>
            <a:fillRect/>
          </a:stretch>
        </p:blipFill>
        <p:spPr>
          <a:xfrm>
            <a:off x="4572000" y="1094325"/>
            <a:ext cx="4248002" cy="290904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0" name="Google Shape;850;p75"/>
          <p:cNvSpPr txBox="1"/>
          <p:nvPr>
            <p:ph type="body" idx="1"/>
          </p:nvPr>
        </p:nvSpPr>
        <p:spPr>
          <a:xfrm>
            <a:off x="324000" y="759300"/>
            <a:ext cx="82377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enlarge an object:</a:t>
            </a:r>
            <a:endParaRPr/>
          </a:p>
        </p:txBody>
      </p:sp>
      <p:sp>
        <p:nvSpPr>
          <p:cNvPr id="851" name="Google Shape;85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852" name="Google Shape;852;p75"/>
          <p:cNvSpPr txBox="1"/>
          <p:nvPr>
            <p:ph type="body" idx="1"/>
          </p:nvPr>
        </p:nvSpPr>
        <p:spPr>
          <a:xfrm>
            <a:off x="324000" y="1278925"/>
            <a:ext cx="4012200" cy="7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the ‘</a:t>
            </a:r>
            <a:r>
              <a:rPr lang="en-GB" sz="1800">
                <a:solidFill>
                  <a:schemeClr val="accent4"/>
                </a:solidFill>
              </a:rPr>
              <a:t>dilate from point</a:t>
            </a:r>
            <a:r>
              <a:rPr lang="en-GB" sz="1800"/>
              <a:t>’ tool.</a:t>
            </a:r>
            <a:endParaRPr sz="1800"/>
          </a:p>
        </p:txBody>
      </p:sp>
      <p:sp>
        <p:nvSpPr>
          <p:cNvPr id="853" name="Google Shape;853;p75"/>
          <p:cNvSpPr txBox="1"/>
          <p:nvPr>
            <p:ph type="body" idx="1"/>
          </p:nvPr>
        </p:nvSpPr>
        <p:spPr>
          <a:xfrm>
            <a:off x="327150" y="2148275"/>
            <a:ext cx="4012200" cy="9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object and click a point for the centre of enlargement.</a:t>
            </a:r>
            <a:br>
              <a:rPr lang="en-GB" sz="1800"/>
            </a:br>
            <a:endParaRPr sz="1800"/>
          </a:p>
        </p:txBody>
      </p:sp>
      <p:sp>
        <p:nvSpPr>
          <p:cNvPr id="854" name="Google Shape;854;p75"/>
          <p:cNvSpPr txBox="1"/>
          <p:nvPr>
            <p:ph type="body" idx="1"/>
          </p:nvPr>
        </p:nvSpPr>
        <p:spPr>
          <a:xfrm>
            <a:off x="324550" y="3334391"/>
            <a:ext cx="4012200" cy="9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Type in a value for the scale factor and press OK.</a:t>
            </a:r>
            <a:endParaRPr sz="1800"/>
          </a:p>
        </p:txBody>
      </p:sp>
      <p:pic>
        <p:nvPicPr>
          <p:cNvPr id="855" name="Google Shape;85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8361" y="1589225"/>
            <a:ext cx="502567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4683" y="3442924"/>
            <a:ext cx="3552430" cy="13774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57" name="Google Shape;857;p75"/>
          <p:cNvPicPr preferRelativeResize="0"/>
          <p:nvPr/>
        </p:nvPicPr>
        <p:blipFill>
          <a:blip r:embed="rId6">
            <a:alphaModFix/>
          </a:blip>
          <a:srcRect r="23301" b="10217"/>
          <a:stretch>
            <a:fillRect/>
          </a:stretch>
        </p:blipFill>
        <p:spPr>
          <a:xfrm>
            <a:off x="4565750" y="1101475"/>
            <a:ext cx="4248000" cy="290904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8" name="Google Shape;858;p75"/>
          <p:cNvSpPr txBox="1"/>
          <p:nvPr>
            <p:ph type="body" idx="1"/>
          </p:nvPr>
        </p:nvSpPr>
        <p:spPr>
          <a:xfrm>
            <a:off x="324000" y="4218400"/>
            <a:ext cx="78852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In the USA, the word </a:t>
            </a:r>
            <a:r>
              <a:rPr lang="en-GB" sz="1800">
                <a:solidFill>
                  <a:schemeClr val="accent4"/>
                </a:solidFill>
              </a:rPr>
              <a:t>dilate</a:t>
            </a:r>
            <a:r>
              <a:rPr lang="en-GB" sz="1800"/>
              <a:t> is used instead of </a:t>
            </a:r>
            <a:r>
              <a:rPr lang="en-GB" sz="1800">
                <a:solidFill>
                  <a:schemeClr val="accent4"/>
                </a:solidFill>
              </a:rPr>
              <a:t>enlarge</a:t>
            </a:r>
            <a:r>
              <a:rPr lang="en-GB" sz="1800"/>
              <a:t> to mean a transformation that causes a change in size.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2" name="Shape 862"/>
        <p:cNvGrpSpPr/>
        <p:nvPr/>
      </p:nvGrpSpPr>
      <p:grpSpPr>
        <a:xfrm>
          <a:off x="0" y="0"/>
          <a:ext cx="0" cy="0"/>
        </a:xfrm>
      </p:grpSpPr>
      <p:sp>
        <p:nvSpPr>
          <p:cNvPr id="863" name="Google Shape;863;p76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When doing rotations and enlargements on dynamic software, the centre point can be moved </a:t>
            </a:r>
            <a:r>
              <a:rPr lang="en-GB">
                <a:solidFill>
                  <a:schemeClr val="accent4"/>
                </a:solidFill>
              </a:rPr>
              <a:t>after</a:t>
            </a:r>
            <a:r>
              <a:rPr lang="en-GB"/>
              <a:t> the image has been created.</a:t>
            </a:r>
            <a:endParaRPr/>
          </a:p>
        </p:txBody>
      </p:sp>
      <p:sp>
        <p:nvSpPr>
          <p:cNvPr id="864" name="Google Shape;86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pic>
        <p:nvPicPr>
          <p:cNvPr id="865" name="Google Shape;865;p76"/>
          <p:cNvPicPr preferRelativeResize="0"/>
          <p:nvPr/>
        </p:nvPicPr>
        <p:blipFill>
          <a:blip r:embed="rId3">
            <a:alphaModFix/>
          </a:blip>
          <a:srcRect l="408" t="626"/>
          <a:stretch>
            <a:fillRect/>
          </a:stretch>
        </p:blipFill>
        <p:spPr>
          <a:xfrm>
            <a:off x="2848425" y="1620000"/>
            <a:ext cx="5046174" cy="319842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66" name="Google Shape;866;p76"/>
          <p:cNvPicPr preferRelativeResize="0"/>
          <p:nvPr/>
        </p:nvPicPr>
        <p:blipFill>
          <a:blip r:embed="rId4">
            <a:alphaModFix/>
          </a:blip>
          <a:srcRect l="348" t="675"/>
          <a:stretch>
            <a:fillRect/>
          </a:stretch>
        </p:blipFill>
        <p:spPr>
          <a:xfrm>
            <a:off x="2845440" y="1627162"/>
            <a:ext cx="5020651" cy="31769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67" name="Google Shape;867;p76"/>
          <p:cNvPicPr preferRelativeResize="0"/>
          <p:nvPr/>
        </p:nvPicPr>
        <p:blipFill>
          <a:blip r:embed="rId5">
            <a:alphaModFix/>
          </a:blip>
          <a:srcRect l="348" t="428"/>
          <a:stretch>
            <a:fillRect/>
          </a:stretch>
        </p:blipFill>
        <p:spPr>
          <a:xfrm>
            <a:off x="2844875" y="1615750"/>
            <a:ext cx="5020651" cy="319842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1" name="Shape 871"/>
        <p:cNvGrpSpPr/>
        <p:nvPr/>
      </p:nvGrpSpPr>
      <p:grpSpPr>
        <a:xfrm>
          <a:off x="0" y="0"/>
          <a:ext cx="0" cy="0"/>
        </a:xfrm>
      </p:grpSpPr>
      <p:sp>
        <p:nvSpPr>
          <p:cNvPr id="872" name="Google Shape;872;p7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Dilate from point</a:t>
            </a:r>
            <a:endParaRPr/>
          </a:p>
        </p:txBody>
      </p:sp>
      <p:sp>
        <p:nvSpPr>
          <p:cNvPr id="873" name="Google Shape;873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874" name="Google Shape;874;p7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 GeoGebra, what button allows you to perform a transformation that causes a change of size? </a:t>
            </a:r>
            <a:endParaRPr/>
          </a:p>
        </p:txBody>
      </p:sp>
      <p:sp>
        <p:nvSpPr>
          <p:cNvPr id="875" name="Google Shape;875;p7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Enlarge from point</a:t>
            </a:r>
            <a:endParaRPr/>
          </a:p>
        </p:txBody>
      </p:sp>
      <p:sp>
        <p:nvSpPr>
          <p:cNvPr id="876" name="Google Shape;876;p7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Shrink from point</a:t>
            </a:r>
            <a:endParaRPr/>
          </a:p>
        </p:txBody>
      </p:sp>
      <p:pic>
        <p:nvPicPr>
          <p:cNvPr id="877" name="Google Shape;87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2183" y="18067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1" name="Shape 881"/>
        <p:cNvGrpSpPr/>
        <p:nvPr/>
      </p:nvGrpSpPr>
      <p:grpSpPr>
        <a:xfrm>
          <a:off x="0" y="0"/>
          <a:ext cx="0" cy="0"/>
        </a:xfrm>
      </p:grpSpPr>
      <p:sp>
        <p:nvSpPr>
          <p:cNvPr id="882" name="Google Shape;882;p7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word is used in the USA for ‘</a:t>
            </a:r>
            <a:r>
              <a:rPr lang="en-GB">
                <a:solidFill>
                  <a:schemeClr val="accent4"/>
                </a:solidFill>
              </a:rPr>
              <a:t>anticlockwise</a:t>
            </a:r>
            <a:r>
              <a:rPr lang="en-GB"/>
              <a:t>’?</a:t>
            </a:r>
            <a:endParaRPr/>
          </a:p>
        </p:txBody>
      </p:sp>
      <p:sp>
        <p:nvSpPr>
          <p:cNvPr id="883" name="Google Shape;883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884" name="Google Shape;884;p78"/>
          <p:cNvSpPr txBox="1"/>
          <p:nvPr>
            <p:ph type="subTitle" idx="4294967295"/>
          </p:nvPr>
        </p:nvSpPr>
        <p:spPr>
          <a:xfrm>
            <a:off x="3479550" y="2377200"/>
            <a:ext cx="2184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counterclockwise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8" name="Shape 888"/>
        <p:cNvGrpSpPr/>
        <p:nvPr/>
      </p:nvGrpSpPr>
      <p:grpSpPr>
        <a:xfrm>
          <a:off x="0" y="0"/>
          <a:ext cx="0" cy="0"/>
        </a:xfrm>
      </p:grpSpPr>
      <p:sp>
        <p:nvSpPr>
          <p:cNvPr id="889" name="Google Shape;889;p79"/>
          <p:cNvSpPr txBox="1"/>
          <p:nvPr>
            <p:ph type="body" idx="1"/>
          </p:nvPr>
        </p:nvSpPr>
        <p:spPr>
          <a:xfrm>
            <a:off x="324000" y="759300"/>
            <a:ext cx="84960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Task A Question 1</a:t>
            </a:r>
            <a:r>
              <a:rPr lang="en-GB" sz="1800"/>
              <a:t> 🖇</a:t>
            </a:r>
            <a:br>
              <a:rPr lang="en-GB" sz="1800">
                <a:hlinkClick r:id="rId3"/>
              </a:rPr>
            </a:br>
            <a:r>
              <a:rPr lang="en-GB" sz="1800"/>
              <a:t>Enlarge object A onto image A′.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What is the scale factor?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At what coordinate is the centre of enlargement?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Task A Question 2</a:t>
            </a:r>
            <a:r>
              <a:rPr lang="en-GB" sz="1800"/>
              <a:t> 🖇</a:t>
            </a:r>
            <a:br>
              <a:rPr lang="en-GB" sz="1800">
                <a:hlinkClick r:id="rId4"/>
              </a:rPr>
            </a:br>
            <a:r>
              <a:rPr lang="en-GB" sz="1800"/>
              <a:t>Enlarge object B onto image B′.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a) What is the scale factor?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b) At what coordinate is the centre of enlargement?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90" name="Google Shape;890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GeoGebra for rotations and enlargements</a:t>
            </a:r>
            <a:endParaRPr/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4" name="Shape 894"/>
        <p:cNvGrpSpPr/>
        <p:nvPr/>
      </p:nvGrpSpPr>
      <p:grpSpPr>
        <a:xfrm>
          <a:off x="0" y="0"/>
          <a:ext cx="0" cy="0"/>
        </a:xfrm>
      </p:grpSpPr>
      <p:sp>
        <p:nvSpPr>
          <p:cNvPr id="895" name="Google Shape;895;p80"/>
          <p:cNvSpPr txBox="1"/>
          <p:nvPr>
            <p:ph type="body" idx="1"/>
          </p:nvPr>
        </p:nvSpPr>
        <p:spPr>
          <a:xfrm>
            <a:off x="324000" y="759300"/>
            <a:ext cx="8496000" cy="3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Click here: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Task A Question 3</a:t>
            </a:r>
            <a:r>
              <a:rPr lang="en-GB" sz="1800"/>
              <a:t> 🖇</a:t>
            </a:r>
            <a:br>
              <a:rPr lang="en-GB" sz="1800">
                <a:hlinkClick r:id="rId3"/>
              </a:rPr>
            </a:br>
            <a:r>
              <a:rPr lang="en-GB" sz="1800"/>
              <a:t>Rotate object C onto image C′.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What is the angle of rotation?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At what coordinate is the centre of rotation?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4) 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Task A Question 4</a:t>
            </a:r>
            <a:r>
              <a:rPr lang="en-GB" sz="1800"/>
              <a:t> 🖇</a:t>
            </a:r>
            <a:br>
              <a:rPr lang="en-GB" sz="1800">
                <a:hlinkClick r:id="rId4"/>
              </a:rPr>
            </a:br>
            <a:r>
              <a:rPr lang="en-GB" sz="1800"/>
              <a:t>Use the slider to rotate object D onto image D′.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What is the angle of rotation?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96" name="Google Shape;896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GeoGebra for rotations and enlargements</a:t>
            </a:r>
            <a:endParaRPr/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0" name="Shape 900"/>
        <p:cNvGrpSpPr/>
        <p:nvPr/>
      </p:nvGrpSpPr>
      <p:grpSpPr>
        <a:xfrm>
          <a:off x="0" y="0"/>
          <a:ext cx="0" cy="0"/>
        </a:xfrm>
      </p:grpSpPr>
      <p:sp>
        <p:nvSpPr>
          <p:cNvPr id="901" name="Google Shape;901;p81"/>
          <p:cNvSpPr txBox="1"/>
          <p:nvPr>
            <p:ph type="body" idx="1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Task A Question 1</a:t>
            </a:r>
            <a:r>
              <a:rPr lang="en-GB" sz="1800"/>
              <a:t> 🖇  </a:t>
            </a:r>
            <a:br>
              <a:rPr lang="en-GB" sz="1800">
                <a:hlinkClick r:id="rId3"/>
              </a:rPr>
            </a:br>
            <a:r>
              <a:rPr lang="en-GB" sz="1800"/>
              <a:t>Enlarge object A onto image A′.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What is the scale factor?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At what coordinate is the centre of enlargement?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2) 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Task A Question 2</a:t>
            </a:r>
            <a:r>
              <a:rPr lang="en-GB" sz="1800"/>
              <a:t> 🖇</a:t>
            </a:r>
            <a:br>
              <a:rPr lang="en-GB" sz="1800">
                <a:hlinkClick r:id="rId4"/>
              </a:rPr>
            </a:br>
            <a:r>
              <a:rPr lang="en-GB" sz="1800"/>
              <a:t>Enlarge object B onto image B′.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What is the scale factor?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At what coordinate is the centre of enlargement?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02" name="Google Shape;902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903" name="Google Shape;903;p81"/>
          <p:cNvSpPr txBox="1"/>
          <p:nvPr>
            <p:ph type="body" idx="1"/>
          </p:nvPr>
        </p:nvSpPr>
        <p:spPr>
          <a:xfrm>
            <a:off x="3597000" y="1508550"/>
            <a:ext cx="30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4" name="Google Shape;904;p81"/>
          <p:cNvSpPr txBox="1"/>
          <p:nvPr>
            <p:ph type="body" idx="1"/>
          </p:nvPr>
        </p:nvSpPr>
        <p:spPr>
          <a:xfrm>
            <a:off x="6292575" y="1918125"/>
            <a:ext cx="898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(2, 6)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5" name="Google Shape;905;p81"/>
          <p:cNvSpPr txBox="1"/>
          <p:nvPr>
            <p:ph type="body" idx="1"/>
          </p:nvPr>
        </p:nvSpPr>
        <p:spPr>
          <a:xfrm>
            <a:off x="6244950" y="3982800"/>
            <a:ext cx="898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(2, 4)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06" name="Google Shape;906;p8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4275" y="3500350"/>
            <a:ext cx="151425" cy="482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1"/>
          <p:cNvSpPr txBox="1"/>
          <p:nvPr>
            <p:ph type="body" idx="1"/>
          </p:nvPr>
        </p:nvSpPr>
        <p:spPr>
          <a:xfrm>
            <a:off x="4000500" y="3611400"/>
            <a:ext cx="809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 0.5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1" name="Shape 911"/>
        <p:cNvGrpSpPr/>
        <p:nvPr/>
      </p:nvGrpSpPr>
      <p:grpSpPr>
        <a:xfrm>
          <a:off x="0" y="0"/>
          <a:ext cx="0" cy="0"/>
        </a:xfrm>
      </p:grpSpPr>
      <p:sp>
        <p:nvSpPr>
          <p:cNvPr id="912" name="Google Shape;912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Task A Question 3</a:t>
            </a:r>
            <a:r>
              <a:rPr lang="en-GB" sz="1800"/>
              <a:t> 🖇</a:t>
            </a:r>
            <a:br>
              <a:rPr lang="en-GB" sz="1800">
                <a:hlinkClick r:id="rId3"/>
              </a:rPr>
            </a:br>
            <a:r>
              <a:rPr lang="en-GB" sz="1800"/>
              <a:t>Rotate object C onto image C′.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What is the angle of rotation?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At what coordinate is the centre of rotation?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4) 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Task A Question 4</a:t>
            </a:r>
            <a:r>
              <a:rPr lang="en-GB" sz="1800"/>
              <a:t> 🖇</a:t>
            </a:r>
            <a:br>
              <a:rPr lang="en-GB" sz="1800">
                <a:hlinkClick r:id="rId4"/>
              </a:rPr>
            </a:br>
            <a:r>
              <a:rPr lang="en-GB" sz="1800"/>
              <a:t>Use the slider to rotate object D onto image D′.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What is the angle of rotation?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13" name="Google Shape;913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914" name="Google Shape;914;p82"/>
          <p:cNvSpPr txBox="1"/>
          <p:nvPr>
            <p:ph type="body" idx="1"/>
          </p:nvPr>
        </p:nvSpPr>
        <p:spPr>
          <a:xfrm>
            <a:off x="4111350" y="3556425"/>
            <a:ext cx="712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130°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5" name="Google Shape;915;p82"/>
          <p:cNvSpPr txBox="1"/>
          <p:nvPr>
            <p:ph type="body" idx="1"/>
          </p:nvPr>
        </p:nvSpPr>
        <p:spPr>
          <a:xfrm>
            <a:off x="4073250" y="1518075"/>
            <a:ext cx="4746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90° clockwise or 270° anticlockwise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82"/>
          <p:cNvSpPr txBox="1"/>
          <p:nvPr>
            <p:ph type="body" idx="1"/>
          </p:nvPr>
        </p:nvSpPr>
        <p:spPr>
          <a:xfrm>
            <a:off x="5587725" y="1915875"/>
            <a:ext cx="898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(6, 6)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sp>
        <p:nvSpPr>
          <p:cNvPr id="921" name="Google Shape;921;p8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922" name="Google Shape;922;p83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sp>
        <p:nvSpPr>
          <p:cNvPr id="923" name="Google Shape;923;p83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924" name="Google Shape;924;p83"/>
          <p:cNvSpPr txBox="1"/>
          <p:nvPr>
            <p:ph type="title" idx="4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GeoGebra</a:t>
            </a:r>
            <a:endParaRPr/>
          </a:p>
        </p:txBody>
      </p:sp>
      <p:pic>
        <p:nvPicPr>
          <p:cNvPr id="925" name="Google Shape;92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25" y="27819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9" name="Shape 929"/>
        <p:cNvGrpSpPr/>
        <p:nvPr/>
      </p:nvGrpSpPr>
      <p:grpSpPr>
        <a:xfrm>
          <a:off x="0" y="0"/>
          <a:ext cx="0" cy="0"/>
        </a:xfrm>
      </p:grpSpPr>
      <p:pic>
        <p:nvPicPr>
          <p:cNvPr id="930" name="Google Shape;930;p84"/>
          <p:cNvPicPr preferRelativeResize="0"/>
          <p:nvPr/>
        </p:nvPicPr>
        <p:blipFill>
          <a:blip r:embed="rId3">
            <a:alphaModFix/>
          </a:blip>
          <a:srcRect r="18493"/>
          <a:stretch>
            <a:fillRect/>
          </a:stretch>
        </p:blipFill>
        <p:spPr>
          <a:xfrm>
            <a:off x="4572000" y="1086600"/>
            <a:ext cx="4248000" cy="32333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31" name="Google Shape;931;p84"/>
          <p:cNvSpPr txBox="1"/>
          <p:nvPr>
            <p:ph type="body" idx="1"/>
          </p:nvPr>
        </p:nvSpPr>
        <p:spPr>
          <a:xfrm>
            <a:off x="324000" y="759300"/>
            <a:ext cx="8237700" cy="4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reflect an object:</a:t>
            </a:r>
            <a:endParaRPr/>
          </a:p>
        </p:txBody>
      </p:sp>
      <p:sp>
        <p:nvSpPr>
          <p:cNvPr id="932" name="Google Shape;932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sp>
        <p:nvSpPr>
          <p:cNvPr id="933" name="Google Shape;933;p84"/>
          <p:cNvSpPr txBox="1"/>
          <p:nvPr>
            <p:ph type="body" idx="1"/>
          </p:nvPr>
        </p:nvSpPr>
        <p:spPr>
          <a:xfrm>
            <a:off x="324000" y="1355125"/>
            <a:ext cx="4012200" cy="38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Find and click the ‘</a:t>
            </a:r>
            <a:r>
              <a:rPr lang="en-GB" sz="1800">
                <a:solidFill>
                  <a:schemeClr val="accent5"/>
                </a:solidFill>
              </a:rPr>
              <a:t>line</a:t>
            </a:r>
            <a:r>
              <a:rPr lang="en-GB" sz="1800"/>
              <a:t>’ tool.</a:t>
            </a:r>
            <a:endParaRPr sz="1800"/>
          </a:p>
        </p:txBody>
      </p:sp>
      <p:sp>
        <p:nvSpPr>
          <p:cNvPr id="934" name="Google Shape;934;p84"/>
          <p:cNvSpPr txBox="1"/>
          <p:nvPr>
            <p:ph type="body" idx="1"/>
          </p:nvPr>
        </p:nvSpPr>
        <p:spPr>
          <a:xfrm>
            <a:off x="327150" y="2138750"/>
            <a:ext cx="40122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two points in the workspace to draw a line.</a:t>
            </a:r>
            <a:endParaRPr sz="1800"/>
          </a:p>
        </p:txBody>
      </p:sp>
      <p:sp>
        <p:nvSpPr>
          <p:cNvPr id="935" name="Google Shape;935;p84"/>
          <p:cNvSpPr txBox="1"/>
          <p:nvPr>
            <p:ph type="body" idx="1"/>
          </p:nvPr>
        </p:nvSpPr>
        <p:spPr>
          <a:xfrm>
            <a:off x="324550" y="3229620"/>
            <a:ext cx="4012200" cy="38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the ‘</a:t>
            </a:r>
            <a:r>
              <a:rPr lang="en-GB" sz="1800">
                <a:solidFill>
                  <a:schemeClr val="accent5"/>
                </a:solidFill>
              </a:rPr>
              <a:t>reflect about line</a:t>
            </a:r>
            <a:r>
              <a:rPr lang="en-GB" sz="1800"/>
              <a:t>’ tool.</a:t>
            </a:r>
            <a:endParaRPr sz="1800"/>
          </a:p>
        </p:txBody>
      </p:sp>
      <p:sp>
        <p:nvSpPr>
          <p:cNvPr id="936" name="Google Shape;936;p84"/>
          <p:cNvSpPr txBox="1"/>
          <p:nvPr>
            <p:ph type="body" idx="1"/>
          </p:nvPr>
        </p:nvSpPr>
        <p:spPr>
          <a:xfrm>
            <a:off x="327150" y="4010683"/>
            <a:ext cx="4012200" cy="94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the object and then the line of reflection.</a:t>
            </a:r>
            <a:endParaRPr sz="1800"/>
          </a:p>
        </p:txBody>
      </p:sp>
      <p:pic>
        <p:nvPicPr>
          <p:cNvPr id="937" name="Google Shape;937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1275" y="1412550"/>
            <a:ext cx="43879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4"/>
          <p:cNvPicPr preferRelativeResize="0"/>
          <p:nvPr/>
        </p:nvPicPr>
        <p:blipFill>
          <a:blip r:embed="rId5">
            <a:alphaModFix/>
          </a:blip>
          <a:srcRect r="18626"/>
          <a:stretch>
            <a:fillRect/>
          </a:stretch>
        </p:blipFill>
        <p:spPr>
          <a:xfrm>
            <a:off x="4562475" y="1086600"/>
            <a:ext cx="4248000" cy="3233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9" name="Google Shape;939;p84"/>
          <p:cNvPicPr preferRelativeResize="0"/>
          <p:nvPr/>
        </p:nvPicPr>
        <p:blipFill>
          <a:blip r:embed="rId6">
            <a:alphaModFix/>
          </a:blip>
          <a:srcRect r="18672"/>
          <a:stretch>
            <a:fillRect/>
          </a:stretch>
        </p:blipFill>
        <p:spPr>
          <a:xfrm>
            <a:off x="4562475" y="1089525"/>
            <a:ext cx="4248000" cy="3233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40" name="Google Shape;940;p84"/>
          <p:cNvPicPr preferRelativeResize="0"/>
          <p:nvPr/>
        </p:nvPicPr>
        <p:blipFill>
          <a:blip r:embed="rId7">
            <a:alphaModFix/>
          </a:blip>
          <a:srcRect r="18560"/>
          <a:stretch>
            <a:fillRect/>
          </a:stretch>
        </p:blipFill>
        <p:spPr>
          <a:xfrm>
            <a:off x="4562475" y="1089525"/>
            <a:ext cx="4248000" cy="3233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41" name="Google Shape;941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77454" y="3501282"/>
            <a:ext cx="555875" cy="524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5" name="Shape 945"/>
        <p:cNvGrpSpPr/>
        <p:nvPr/>
      </p:nvGrpSpPr>
      <p:grpSpPr>
        <a:xfrm>
          <a:off x="0" y="0"/>
          <a:ext cx="0" cy="0"/>
        </a:xfrm>
      </p:grpSpPr>
      <p:sp>
        <p:nvSpPr>
          <p:cNvPr id="946" name="Google Shape;946;p8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pic>
        <p:nvPicPr>
          <p:cNvPr id="947" name="Google Shape;94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420" y="2160000"/>
            <a:ext cx="1753178" cy="162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48" name="Google Shape;94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0251" y="2160000"/>
            <a:ext cx="1717897" cy="162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49" name="Google Shape;949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4440" y="2160000"/>
            <a:ext cx="1769835" cy="162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50" name="Google Shape;950;p8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tool did the example use to reflect an object?</a:t>
            </a:r>
            <a:endParaRPr/>
          </a:p>
        </p:txBody>
      </p:sp>
      <p:pic>
        <p:nvPicPr>
          <p:cNvPr id="951" name="Google Shape;951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7608" y="4186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5" name="Shape 955"/>
        <p:cNvGrpSpPr/>
        <p:nvPr/>
      </p:nvGrpSpPr>
      <p:grpSpPr>
        <a:xfrm>
          <a:off x="0" y="0"/>
          <a:ext cx="0" cy="0"/>
        </a:xfrm>
      </p:grpSpPr>
      <p:pic>
        <p:nvPicPr>
          <p:cNvPr id="956" name="Google Shape;95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549" y="1627300"/>
            <a:ext cx="427456" cy="5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86"/>
          <p:cNvSpPr txBox="1"/>
          <p:nvPr>
            <p:ph type="body" idx="1"/>
          </p:nvPr>
        </p:nvSpPr>
        <p:spPr>
          <a:xfrm>
            <a:off x="324000" y="759300"/>
            <a:ext cx="8237700" cy="4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translate an object:</a:t>
            </a:r>
            <a:endParaRPr/>
          </a:p>
        </p:txBody>
      </p:sp>
      <p:sp>
        <p:nvSpPr>
          <p:cNvPr id="958" name="Google Shape;95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sp>
        <p:nvSpPr>
          <p:cNvPr id="959" name="Google Shape;959;p86"/>
          <p:cNvSpPr txBox="1"/>
          <p:nvPr>
            <p:ph type="body" idx="1"/>
          </p:nvPr>
        </p:nvSpPr>
        <p:spPr>
          <a:xfrm>
            <a:off x="324000" y="1355125"/>
            <a:ext cx="4012200" cy="38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Find and click the ‘</a:t>
            </a:r>
            <a:r>
              <a:rPr lang="en-GB" sz="1800">
                <a:solidFill>
                  <a:schemeClr val="accent5"/>
                </a:solidFill>
              </a:rPr>
              <a:t>vector</a:t>
            </a:r>
            <a:r>
              <a:rPr lang="en-GB" sz="1800"/>
              <a:t>’ tool.</a:t>
            </a:r>
            <a:endParaRPr sz="1800"/>
          </a:p>
        </p:txBody>
      </p:sp>
      <p:sp>
        <p:nvSpPr>
          <p:cNvPr id="960" name="Google Shape;960;p86"/>
          <p:cNvSpPr txBox="1"/>
          <p:nvPr>
            <p:ph type="body" idx="1"/>
          </p:nvPr>
        </p:nvSpPr>
        <p:spPr>
          <a:xfrm>
            <a:off x="327150" y="2138750"/>
            <a:ext cx="40122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points in the workspace to draw a vector.</a:t>
            </a:r>
            <a:endParaRPr sz="1800"/>
          </a:p>
        </p:txBody>
      </p:sp>
      <p:sp>
        <p:nvSpPr>
          <p:cNvPr id="961" name="Google Shape;961;p86"/>
          <p:cNvSpPr txBox="1"/>
          <p:nvPr>
            <p:ph type="body" idx="1"/>
          </p:nvPr>
        </p:nvSpPr>
        <p:spPr>
          <a:xfrm>
            <a:off x="324550" y="3229620"/>
            <a:ext cx="4012200" cy="38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the ‘</a:t>
            </a:r>
            <a:r>
              <a:rPr lang="en-GB" sz="1800">
                <a:solidFill>
                  <a:schemeClr val="accent5"/>
                </a:solidFill>
              </a:rPr>
              <a:t>translate by vector</a:t>
            </a:r>
            <a:r>
              <a:rPr lang="en-GB" sz="1800"/>
              <a:t>’ tool.</a:t>
            </a:r>
            <a:endParaRPr sz="1800"/>
          </a:p>
        </p:txBody>
      </p:sp>
      <p:sp>
        <p:nvSpPr>
          <p:cNvPr id="962" name="Google Shape;962;p86"/>
          <p:cNvSpPr txBox="1"/>
          <p:nvPr>
            <p:ph type="body" idx="1"/>
          </p:nvPr>
        </p:nvSpPr>
        <p:spPr>
          <a:xfrm>
            <a:off x="327150" y="4163077"/>
            <a:ext cx="4012200" cy="66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the object and then the vector.</a:t>
            </a:r>
            <a:endParaRPr sz="1800"/>
          </a:p>
        </p:txBody>
      </p:sp>
      <p:pic>
        <p:nvPicPr>
          <p:cNvPr id="963" name="Google Shape;963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390" y="3524303"/>
            <a:ext cx="555875" cy="52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86"/>
          <p:cNvPicPr preferRelativeResize="0"/>
          <p:nvPr/>
        </p:nvPicPr>
        <p:blipFill>
          <a:blip r:embed="rId5">
            <a:alphaModFix/>
          </a:blip>
          <a:srcRect r="23879"/>
          <a:stretch>
            <a:fillRect/>
          </a:stretch>
        </p:blipFill>
        <p:spPr>
          <a:xfrm>
            <a:off x="4824000" y="1080000"/>
            <a:ext cx="3995998" cy="324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65" name="Google Shape;965;p86"/>
          <p:cNvPicPr preferRelativeResize="0"/>
          <p:nvPr/>
        </p:nvPicPr>
        <p:blipFill>
          <a:blip r:embed="rId6">
            <a:alphaModFix/>
          </a:blip>
          <a:srcRect r="23832"/>
          <a:stretch>
            <a:fillRect/>
          </a:stretch>
        </p:blipFill>
        <p:spPr>
          <a:xfrm>
            <a:off x="4833525" y="1070475"/>
            <a:ext cx="3986476" cy="324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66" name="Google Shape;966;p86"/>
          <p:cNvPicPr preferRelativeResize="0"/>
          <p:nvPr/>
        </p:nvPicPr>
        <p:blipFill>
          <a:blip r:embed="rId7">
            <a:alphaModFix/>
          </a:blip>
          <a:srcRect r="23803"/>
          <a:stretch>
            <a:fillRect/>
          </a:stretch>
        </p:blipFill>
        <p:spPr>
          <a:xfrm>
            <a:off x="4833525" y="1070475"/>
            <a:ext cx="3986474" cy="324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67" name="Google Shape;967;p86"/>
          <p:cNvPicPr preferRelativeResize="0"/>
          <p:nvPr/>
        </p:nvPicPr>
        <p:blipFill>
          <a:blip r:embed="rId8">
            <a:alphaModFix/>
          </a:blip>
          <a:srcRect r="23821"/>
          <a:stretch>
            <a:fillRect/>
          </a:stretch>
        </p:blipFill>
        <p:spPr>
          <a:xfrm>
            <a:off x="4845477" y="1072850"/>
            <a:ext cx="3974524" cy="324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1" name="Shape 971"/>
        <p:cNvGrpSpPr/>
        <p:nvPr/>
      </p:nvGrpSpPr>
      <p:grpSpPr>
        <a:xfrm>
          <a:off x="0" y="0"/>
          <a:ext cx="0" cy="0"/>
        </a:xfrm>
      </p:grpSpPr>
      <p:pic>
        <p:nvPicPr>
          <p:cNvPr id="972" name="Google Shape;972;p87"/>
          <p:cNvPicPr preferRelativeResize="0"/>
          <p:nvPr/>
        </p:nvPicPr>
        <p:blipFill>
          <a:blip r:embed="rId3">
            <a:alphaModFix/>
          </a:blip>
          <a:srcRect r="586" b="9362"/>
          <a:stretch>
            <a:fillRect/>
          </a:stretch>
        </p:blipFill>
        <p:spPr>
          <a:xfrm>
            <a:off x="1796700" y="1971750"/>
            <a:ext cx="5518101" cy="28486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3" name="Google Shape;973;p87"/>
          <p:cNvPicPr preferRelativeResize="0"/>
          <p:nvPr/>
        </p:nvPicPr>
        <p:blipFill>
          <a:blip r:embed="rId4">
            <a:alphaModFix/>
          </a:blip>
          <a:srcRect b="1088"/>
          <a:stretch>
            <a:fillRect/>
          </a:stretch>
        </p:blipFill>
        <p:spPr>
          <a:xfrm>
            <a:off x="1802512" y="1971750"/>
            <a:ext cx="5518098" cy="284865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74" name="Google Shape;974;p87"/>
          <p:cNvSpPr txBox="1"/>
          <p:nvPr>
            <p:ph type="body" idx="1"/>
          </p:nvPr>
        </p:nvSpPr>
        <p:spPr>
          <a:xfrm>
            <a:off x="324000" y="759300"/>
            <a:ext cx="8496000" cy="123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When doing reflections and translations on dynamic software, the lines and vectors can be manipulated </a:t>
            </a:r>
            <a:r>
              <a:rPr lang="en-GB">
                <a:solidFill>
                  <a:schemeClr val="accent5"/>
                </a:solidFill>
              </a:rPr>
              <a:t>after</a:t>
            </a:r>
            <a:r>
              <a:rPr lang="en-GB"/>
              <a:t> the image has been created.</a:t>
            </a:r>
            <a:endParaRPr/>
          </a:p>
        </p:txBody>
      </p:sp>
      <p:sp>
        <p:nvSpPr>
          <p:cNvPr id="975" name="Google Shape;97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7175" y="1971750"/>
            <a:ext cx="5548175" cy="28486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0" name="Shape 980"/>
        <p:cNvGrpSpPr/>
        <p:nvPr/>
      </p:nvGrpSpPr>
      <p:grpSpPr>
        <a:xfrm>
          <a:off x="0" y="0"/>
          <a:ext cx="0" cy="0"/>
        </a:xfrm>
      </p:grpSpPr>
      <p:sp>
        <p:nvSpPr>
          <p:cNvPr id="981" name="Google Shape;981;p8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sp>
        <p:nvSpPr>
          <p:cNvPr id="982" name="Google Shape;982;p88"/>
          <p:cNvSpPr txBox="1"/>
          <p:nvPr>
            <p:ph type="title"/>
          </p:nvPr>
        </p:nvSpPr>
        <p:spPr>
          <a:xfrm>
            <a:off x="324000" y="748785"/>
            <a:ext cx="8179200" cy="8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 addition to the translation tool, which other tool did the example use to translate an object?</a:t>
            </a:r>
            <a:endParaRPr/>
          </a:p>
        </p:txBody>
      </p:sp>
      <p:pic>
        <p:nvPicPr>
          <p:cNvPr id="983" name="Google Shape;98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208" y="42058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88"/>
          <p:cNvPicPr preferRelativeResize="0"/>
          <p:nvPr/>
        </p:nvPicPr>
        <p:blipFill>
          <a:blip r:embed="rId4">
            <a:alphaModFix/>
          </a:blip>
          <a:srcRect r="70689" b="54881"/>
          <a:stretch>
            <a:fillRect/>
          </a:stretch>
        </p:blipFill>
        <p:spPr>
          <a:xfrm>
            <a:off x="876450" y="2160000"/>
            <a:ext cx="1609840" cy="16022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85" name="Google Shape;985;p88"/>
          <p:cNvPicPr preferRelativeResize="0"/>
          <p:nvPr/>
        </p:nvPicPr>
        <p:blipFill>
          <a:blip r:embed="rId4">
            <a:alphaModFix/>
          </a:blip>
          <a:srcRect l="67052" r="3637" b="54881"/>
          <a:stretch>
            <a:fillRect/>
          </a:stretch>
        </p:blipFill>
        <p:spPr>
          <a:xfrm>
            <a:off x="3761025" y="2160000"/>
            <a:ext cx="1627674" cy="162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86" name="Google Shape;986;p88"/>
          <p:cNvPicPr preferRelativeResize="0"/>
          <p:nvPr/>
        </p:nvPicPr>
        <p:blipFill>
          <a:blip r:embed="rId4">
            <a:alphaModFix/>
          </a:blip>
          <a:srcRect l="34618" t="48447" r="36071" b="6433"/>
          <a:stretch>
            <a:fillRect/>
          </a:stretch>
        </p:blipFill>
        <p:spPr>
          <a:xfrm>
            <a:off x="6655125" y="2159999"/>
            <a:ext cx="1627676" cy="16200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0" name="Shape 990"/>
        <p:cNvGrpSpPr/>
        <p:nvPr/>
      </p:nvGrpSpPr>
      <p:grpSpPr>
        <a:xfrm>
          <a:off x="0" y="0"/>
          <a:ext cx="0" cy="0"/>
        </a:xfrm>
      </p:grpSpPr>
      <p:sp>
        <p:nvSpPr>
          <p:cNvPr id="991" name="Google Shape;991;p89"/>
          <p:cNvSpPr txBox="1"/>
          <p:nvPr>
            <p:ph type="body" idx="1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Task B Question 1</a:t>
            </a:r>
            <a:r>
              <a:rPr lang="en-GB" sz="1800"/>
              <a:t> 🖇</a:t>
            </a:r>
            <a:br>
              <a:rPr lang="en-GB" sz="1800">
                <a:hlinkClick r:id="rId3"/>
              </a:rPr>
            </a:br>
            <a:r>
              <a:rPr lang="en-GB" sz="1800"/>
              <a:t>Draw a line through points P and Q. </a:t>
            </a:r>
            <a:br>
              <a:rPr lang="en-GB" sz="1800">
                <a:hlinkClick r:id="rId3"/>
              </a:rPr>
            </a:br>
            <a:r>
              <a:rPr lang="en-GB" sz="1800"/>
              <a:t>Reflect object A over the line.</a:t>
            </a:r>
            <a:br>
              <a:rPr lang="en-GB" sz="1800">
                <a:hlinkClick r:id="rId3"/>
              </a:rPr>
            </a:br>
            <a:r>
              <a:rPr lang="en-GB" sz="1800"/>
              <a:t>Move the line of reflection down onto each of the numbered lines.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Which line reflects object A onto image A′?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2) 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Task B Question 2</a:t>
            </a:r>
            <a:r>
              <a:rPr lang="en-GB" sz="1800"/>
              <a:t> 🖇</a:t>
            </a:r>
            <a:br>
              <a:rPr lang="en-GB" sz="1800">
                <a:hlinkClick r:id="rId4"/>
              </a:rPr>
            </a:br>
            <a:r>
              <a:rPr lang="en-GB" sz="1800"/>
              <a:t>Reflect object B over the line.</a:t>
            </a:r>
            <a:br>
              <a:rPr lang="en-GB" sz="1800">
                <a:hlinkClick r:id="rId4"/>
              </a:rPr>
            </a:br>
            <a:r>
              <a:rPr lang="en-GB" sz="1800"/>
              <a:t>Move point P to each of the number points to turn the line.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At which point does the line reflect object B onto image B′?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92" name="Google Shape;992;p8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GeoGebra for reflections and translations</a:t>
            </a:r>
            <a:endParaRPr/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6" name="Shape 996"/>
        <p:cNvGrpSpPr/>
        <p:nvPr/>
      </p:nvGrpSpPr>
      <p:grpSpPr>
        <a:xfrm>
          <a:off x="0" y="0"/>
          <a:ext cx="0" cy="0"/>
        </a:xfrm>
      </p:grpSpPr>
      <p:sp>
        <p:nvSpPr>
          <p:cNvPr id="997" name="Google Shape;997;p90"/>
          <p:cNvSpPr txBox="1"/>
          <p:nvPr>
            <p:ph type="body" idx="1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Task B Question 3</a:t>
            </a:r>
            <a:r>
              <a:rPr lang="en-GB" sz="1800"/>
              <a:t> 🖇  </a:t>
            </a:r>
            <a:br>
              <a:rPr lang="en-GB" sz="1800">
                <a:hlinkClick r:id="rId3"/>
              </a:rPr>
            </a:br>
            <a:r>
              <a:rPr lang="en-GB" sz="1800"/>
              <a:t>Translate each of the objects A to E using vectors 1 to 9.</a:t>
            </a:r>
            <a:br>
              <a:rPr lang="en-GB" sz="1800">
                <a:hlinkClick r:id="rId3"/>
              </a:rPr>
            </a:br>
            <a:r>
              <a:rPr lang="en-GB" sz="1800"/>
              <a:t>Which vector translates each object onto the image?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a) Vector </a:t>
            </a:r>
            <a:r>
              <a:rPr lang="en-GB" sz="1800" u="sng"/>
              <a:t>      </a:t>
            </a:r>
            <a:r>
              <a:rPr lang="en-GB" sz="1800"/>
              <a:t> translates object A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b) Vector </a:t>
            </a:r>
            <a:r>
              <a:rPr lang="en-GB" sz="1800" u="sng"/>
              <a:t>      </a:t>
            </a:r>
            <a:r>
              <a:rPr lang="en-GB" sz="1800"/>
              <a:t> translates object B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c) Vector </a:t>
            </a:r>
            <a:r>
              <a:rPr lang="en-GB" sz="1800" u="sng"/>
              <a:t>      </a:t>
            </a:r>
            <a:r>
              <a:rPr lang="en-GB" sz="1800"/>
              <a:t> translates object C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d) Vector </a:t>
            </a:r>
            <a:r>
              <a:rPr lang="en-GB" sz="1800" u="sng"/>
              <a:t>      </a:t>
            </a:r>
            <a:r>
              <a:rPr lang="en-GB" sz="1800"/>
              <a:t> translates object D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e) Vector </a:t>
            </a:r>
            <a:r>
              <a:rPr lang="en-GB" sz="1800" u="sng"/>
              <a:t>      </a:t>
            </a:r>
            <a:r>
              <a:rPr lang="en-GB" sz="1800"/>
              <a:t> translates object E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98" name="Google Shape;998;p9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GeoGebra for reflections and translations</a:t>
            </a:r>
            <a:endParaRPr/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2" name="Shape 1002"/>
        <p:cNvGrpSpPr/>
        <p:nvPr/>
      </p:nvGrpSpPr>
      <p:grpSpPr>
        <a:xfrm>
          <a:off x="0" y="0"/>
          <a:ext cx="0" cy="0"/>
        </a:xfrm>
      </p:grpSpPr>
      <p:sp>
        <p:nvSpPr>
          <p:cNvPr id="1003" name="Google Shape;1003;p9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Task B Question 1</a:t>
            </a:r>
            <a:r>
              <a:rPr lang="en-GB" sz="1800"/>
              <a:t> 🖇 </a:t>
            </a:r>
            <a:br>
              <a:rPr lang="en-GB" sz="1800">
                <a:hlinkClick r:id="rId3"/>
              </a:rPr>
            </a:br>
            <a:r>
              <a:rPr lang="en-GB" sz="1800"/>
              <a:t>Draw a line through points P and Q. </a:t>
            </a:r>
            <a:br>
              <a:rPr lang="en-GB" sz="1800">
                <a:hlinkClick r:id="rId3"/>
              </a:rPr>
            </a:br>
            <a:r>
              <a:rPr lang="en-GB" sz="1800"/>
              <a:t>Reflect object A over the line.</a:t>
            </a:r>
            <a:br>
              <a:rPr lang="en-GB" sz="1800">
                <a:hlinkClick r:id="rId3"/>
              </a:rPr>
            </a:br>
            <a:r>
              <a:rPr lang="en-GB" sz="1800"/>
              <a:t>Move the line of reflection down onto each of the numbered lines.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Which line reflects object A onto image A′?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2) 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Task B Question 2</a:t>
            </a:r>
            <a:r>
              <a:rPr lang="en-GB" sz="1800"/>
              <a:t> 🖇 </a:t>
            </a:r>
            <a:br>
              <a:rPr lang="en-GB" sz="1800">
                <a:hlinkClick r:id="rId4"/>
              </a:rPr>
            </a:br>
            <a:r>
              <a:rPr lang="en-GB" sz="1800"/>
              <a:t>Reflect object B over the line.</a:t>
            </a:r>
            <a:br>
              <a:rPr lang="en-GB" sz="1800">
                <a:hlinkClick r:id="rId4"/>
              </a:rPr>
            </a:br>
            <a:r>
              <a:rPr lang="en-GB" sz="1800"/>
              <a:t>Move point P to each of the number points to turn the line.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At which point does the line reflect object B onto image B′?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004" name="Google Shape;1004;p9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sp>
        <p:nvSpPr>
          <p:cNvPr id="1005" name="Google Shape;1005;p91"/>
          <p:cNvSpPr txBox="1"/>
          <p:nvPr>
            <p:ph type="body" idx="1"/>
          </p:nvPr>
        </p:nvSpPr>
        <p:spPr>
          <a:xfrm>
            <a:off x="5315100" y="2129625"/>
            <a:ext cx="12192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Line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6" name="Google Shape;1006;p91"/>
          <p:cNvSpPr txBox="1"/>
          <p:nvPr>
            <p:ph type="body" idx="1"/>
          </p:nvPr>
        </p:nvSpPr>
        <p:spPr>
          <a:xfrm>
            <a:off x="7048650" y="4064100"/>
            <a:ext cx="12192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Point 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0" name="Shape 1010"/>
        <p:cNvGrpSpPr/>
        <p:nvPr/>
      </p:nvGrpSpPr>
      <p:grpSpPr>
        <a:xfrm>
          <a:off x="0" y="0"/>
          <a:ext cx="0" cy="0"/>
        </a:xfrm>
      </p:grpSpPr>
      <p:sp>
        <p:nvSpPr>
          <p:cNvPr id="1011" name="Google Shape;1011;p92"/>
          <p:cNvSpPr txBox="1"/>
          <p:nvPr>
            <p:ph type="body" idx="1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Task B Question 3</a:t>
            </a:r>
            <a:r>
              <a:rPr lang="en-GB" sz="1800"/>
              <a:t> 🖇 </a:t>
            </a:r>
            <a:br>
              <a:rPr lang="en-GB" sz="1800">
                <a:hlinkClick r:id="rId3"/>
              </a:rPr>
            </a:br>
            <a:r>
              <a:rPr lang="en-GB" sz="1800"/>
              <a:t>Translate each of the objects A to E using vectors 1 to 9.</a:t>
            </a:r>
            <a:br>
              <a:rPr lang="en-GB" sz="1800">
                <a:hlinkClick r:id="rId3"/>
              </a:rPr>
            </a:br>
            <a:r>
              <a:rPr lang="en-GB" sz="1800"/>
              <a:t>Which vector translates each object onto the image?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a) Vector        translates object A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b) Vector        translates object B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c) Vector        translates object C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d) Vector        translates object D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   e) Vector        translates object E onto the image.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012" name="Google Shape;1012;p9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sp>
        <p:nvSpPr>
          <p:cNvPr id="1013" name="Google Shape;1013;p92"/>
          <p:cNvSpPr txBox="1"/>
          <p:nvPr>
            <p:ph type="body" idx="1"/>
          </p:nvPr>
        </p:nvSpPr>
        <p:spPr>
          <a:xfrm>
            <a:off x="1751475" y="2234550"/>
            <a:ext cx="219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92"/>
          <p:cNvSpPr txBox="1"/>
          <p:nvPr>
            <p:ph type="body" idx="1"/>
          </p:nvPr>
        </p:nvSpPr>
        <p:spPr>
          <a:xfrm>
            <a:off x="1751475" y="2682225"/>
            <a:ext cx="219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5" name="Google Shape;1015;p92"/>
          <p:cNvSpPr txBox="1"/>
          <p:nvPr>
            <p:ph type="body" idx="1"/>
          </p:nvPr>
        </p:nvSpPr>
        <p:spPr>
          <a:xfrm>
            <a:off x="1751475" y="3132706"/>
            <a:ext cx="219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6" name="Google Shape;1016;p92"/>
          <p:cNvSpPr txBox="1"/>
          <p:nvPr>
            <p:ph type="body" idx="1"/>
          </p:nvPr>
        </p:nvSpPr>
        <p:spPr>
          <a:xfrm>
            <a:off x="1761000" y="3590473"/>
            <a:ext cx="219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92"/>
          <p:cNvSpPr txBox="1"/>
          <p:nvPr>
            <p:ph type="body" idx="1"/>
          </p:nvPr>
        </p:nvSpPr>
        <p:spPr>
          <a:xfrm>
            <a:off x="1761000" y="4021337"/>
            <a:ext cx="219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1" name="Shape 1021"/>
        <p:cNvGrpSpPr/>
        <p:nvPr/>
      </p:nvGrpSpPr>
      <p:grpSpPr>
        <a:xfrm>
          <a:off x="0" y="0"/>
          <a:ext cx="0" cy="0"/>
        </a:xfrm>
      </p:grpSpPr>
      <p:sp>
        <p:nvSpPr>
          <p:cNvPr id="1022" name="Google Shape;1022;p9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rotations and enlargements</a:t>
            </a:r>
            <a:endParaRPr/>
          </a:p>
        </p:txBody>
      </p:sp>
      <p:sp>
        <p:nvSpPr>
          <p:cNvPr id="1023" name="Google Shape;1023;p93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for reflections and translations</a:t>
            </a:r>
            <a:endParaRPr/>
          </a:p>
        </p:txBody>
      </p:sp>
      <p:sp>
        <p:nvSpPr>
          <p:cNvPr id="1024" name="Google Shape;1024;p93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1025" name="Google Shape;1025;p93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GeoGebra</a:t>
            </a:r>
            <a:endParaRPr/>
          </a:p>
        </p:txBody>
      </p:sp>
      <p:pic>
        <p:nvPicPr>
          <p:cNvPr id="1026" name="Google Shape;102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25" y="36909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0" name="Shape 1030"/>
        <p:cNvGrpSpPr/>
        <p:nvPr/>
      </p:nvGrpSpPr>
      <p:grpSpPr>
        <a:xfrm>
          <a:off x="0" y="0"/>
          <a:ext cx="0" cy="0"/>
        </a:xfrm>
      </p:grpSpPr>
      <p:sp>
        <p:nvSpPr>
          <p:cNvPr id="1031" name="Google Shape;103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to identify transformations</a:t>
            </a:r>
            <a:endParaRPr/>
          </a:p>
        </p:txBody>
      </p:sp>
      <p:pic>
        <p:nvPicPr>
          <p:cNvPr id="1032" name="Google Shape;103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900" y="1225800"/>
            <a:ext cx="4148201" cy="3189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33" name="Google Shape;1033;p94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Find the transformations that map object A onto images B, C, D and E.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  </a:t>
            </a:r>
            <a:endParaRPr sz="1900"/>
          </a:p>
        </p:txBody>
      </p:sp>
      <p:sp>
        <p:nvSpPr>
          <p:cNvPr id="1034" name="Google Shape;1034;p94"/>
          <p:cNvSpPr txBox="1"/>
          <p:nvPr/>
        </p:nvSpPr>
        <p:spPr>
          <a:xfrm>
            <a:off x="324000" y="4419600"/>
            <a:ext cx="849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This is an interactive version of the task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8" name="Shape 1038"/>
        <p:cNvGrpSpPr/>
        <p:nvPr/>
      </p:nvGrpSpPr>
      <p:grpSpPr>
        <a:xfrm>
          <a:off x="0" y="0"/>
          <a:ext cx="0" cy="0"/>
        </a:xfrm>
      </p:grpSpPr>
      <p:pic>
        <p:nvPicPr>
          <p:cNvPr id="1039" name="Google Shape;1039;p95"/>
          <p:cNvPicPr preferRelativeResize="0"/>
          <p:nvPr/>
        </p:nvPicPr>
        <p:blipFill>
          <a:blip r:embed="rId3">
            <a:alphaModFix/>
          </a:blip>
          <a:srcRect b="2884"/>
          <a:stretch>
            <a:fillRect/>
          </a:stretch>
        </p:blipFill>
        <p:spPr>
          <a:xfrm>
            <a:off x="4564825" y="1225800"/>
            <a:ext cx="4148201" cy="30978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0" name="Google Shape;104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2475" y="1225800"/>
            <a:ext cx="4148199" cy="30978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1" name="Google Shape;104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1042" name="Google Shape;1042;p95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Find the transformations that map object A onto images B, C, D and E.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  </a:t>
            </a:r>
            <a:endParaRPr sz="1900"/>
          </a:p>
        </p:txBody>
      </p:sp>
      <p:sp>
        <p:nvSpPr>
          <p:cNvPr id="1043" name="Google Shape;1043;p95"/>
          <p:cNvSpPr txBox="1"/>
          <p:nvPr>
            <p:ph type="body" idx="1"/>
          </p:nvPr>
        </p:nvSpPr>
        <p:spPr>
          <a:xfrm>
            <a:off x="628800" y="1620000"/>
            <a:ext cx="2619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↦ B is a reflection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4" name="Google Shape;1044;p95"/>
          <p:cNvSpPr txBox="1"/>
          <p:nvPr>
            <p:ph type="body" idx="1"/>
          </p:nvPr>
        </p:nvSpPr>
        <p:spPr>
          <a:xfrm>
            <a:off x="628800" y="1999650"/>
            <a:ext cx="1895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over the y-axis.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45" name="Google Shape;104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1125" y="1225800"/>
            <a:ext cx="4148200" cy="309777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6" name="Google Shape;1046;p95"/>
          <p:cNvSpPr txBox="1"/>
          <p:nvPr>
            <p:ph type="body" idx="1"/>
          </p:nvPr>
        </p:nvSpPr>
        <p:spPr>
          <a:xfrm>
            <a:off x="1846800" y="4469425"/>
            <a:ext cx="5450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Move the line to locate the line of reflection.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0" name="Shape 1050"/>
        <p:cNvGrpSpPr/>
        <p:nvPr/>
      </p:nvGrpSpPr>
      <p:grpSpPr>
        <a:xfrm>
          <a:off x="0" y="0"/>
          <a:ext cx="0" cy="0"/>
        </a:xfrm>
      </p:grpSpPr>
      <p:pic>
        <p:nvPicPr>
          <p:cNvPr id="1051" name="Google Shape;105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1125" y="1225800"/>
            <a:ext cx="4148200" cy="309777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52" name="Google Shape;105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1053" name="Google Shape;1053;p96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Find the transformations that map object A onto images B, C, D and E.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  </a:t>
            </a:r>
            <a:endParaRPr sz="1900"/>
          </a:p>
        </p:txBody>
      </p:sp>
      <p:sp>
        <p:nvSpPr>
          <p:cNvPr id="1054" name="Google Shape;1054;p96"/>
          <p:cNvSpPr txBox="1"/>
          <p:nvPr>
            <p:ph type="body" idx="1"/>
          </p:nvPr>
        </p:nvSpPr>
        <p:spPr>
          <a:xfrm>
            <a:off x="628800" y="1620000"/>
            <a:ext cx="3267000" cy="73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↦ C is an enlargement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with scale factor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96"/>
          <p:cNvSpPr txBox="1"/>
          <p:nvPr>
            <p:ph type="body" idx="1"/>
          </p:nvPr>
        </p:nvSpPr>
        <p:spPr>
          <a:xfrm>
            <a:off x="628800" y="2685450"/>
            <a:ext cx="3038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from (-4, -5).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56" name="Google Shape;1056;p96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1776" y="2009774"/>
            <a:ext cx="1764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2475" y="1230150"/>
            <a:ext cx="4148201" cy="307931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58" name="Google Shape;1058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2475" y="1225800"/>
            <a:ext cx="4148200" cy="307683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59" name="Google Shape;1059;p96"/>
          <p:cNvSpPr txBox="1"/>
          <p:nvPr>
            <p:ph type="body" idx="1"/>
          </p:nvPr>
        </p:nvSpPr>
        <p:spPr>
          <a:xfrm>
            <a:off x="1456275" y="4469375"/>
            <a:ext cx="622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Move the point to locate the centre of enlargement.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3" name="Shape 1063"/>
        <p:cNvGrpSpPr/>
        <p:nvPr/>
      </p:nvGrpSpPr>
      <p:grpSpPr>
        <a:xfrm>
          <a:off x="0" y="0"/>
          <a:ext cx="0" cy="0"/>
        </a:xfrm>
      </p:grpSpPr>
      <p:pic>
        <p:nvPicPr>
          <p:cNvPr id="1064" name="Google Shape;106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2475" y="1225800"/>
            <a:ext cx="4148200" cy="307683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65" name="Google Shape;1065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1066" name="Google Shape;1066;p97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Find the transformations that map object A onto images B, C, D and E.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  </a:t>
            </a:r>
            <a:endParaRPr sz="1900"/>
          </a:p>
        </p:txBody>
      </p:sp>
      <p:sp>
        <p:nvSpPr>
          <p:cNvPr id="1067" name="Google Shape;1067;p97"/>
          <p:cNvSpPr txBox="1"/>
          <p:nvPr>
            <p:ph type="body" idx="1"/>
          </p:nvPr>
        </p:nvSpPr>
        <p:spPr>
          <a:xfrm>
            <a:off x="628800" y="1620000"/>
            <a:ext cx="32670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↦ D is a translation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8" name="Google Shape;1068;p97"/>
          <p:cNvSpPr txBox="1"/>
          <p:nvPr>
            <p:ph type="body" idx="1"/>
          </p:nvPr>
        </p:nvSpPr>
        <p:spPr>
          <a:xfrm>
            <a:off x="628800" y="2152050"/>
            <a:ext cx="3038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by        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69" name="Google Shape;106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2950" y="1235325"/>
            <a:ext cx="4148201" cy="308935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0" name="Google Shape;1070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2950" y="1225800"/>
            <a:ext cx="4148201" cy="308191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1" name="Google Shape;1071;p97" descr="&lt;math xmlns=&quot;http://www.w3.org/1998/Math/MathML&quot; display=&quot;block&quot; data-is-equatio=&quot;1&quot; data-latex=&quot;\left(\begin{matrix}\ \ 3\\&amp;#13;&amp;#10;-5\end{matrix}\right)&quot;&gt;&lt;mrow data-mjx-texclass=&quot;INNER&quot;&gt;&lt;mo data-mjx-texclass=&quot;OPEN&quot;&gt;(&lt;/mo&gt;&lt;mtable columnspacing=&quot;1em&quot; rowspacing=&quot;4pt&quot;&gt;&lt;mtr&gt;&lt;mtd&gt;&lt;mtext&gt;&lt;/mtext&gt;&lt;mtext&gt;&lt;/mtext&gt;&lt;mn&gt;3&lt;/mn&gt;&lt;/mtd&gt;&lt;/mtr&gt;&lt;mtr&gt;&lt;mtd&gt;&lt;mo&gt;−&lt;/mo&gt;&lt;mn&gt;5&lt;/mn&gt;&lt;/mtd&gt;&lt;/mtr&gt;&lt;/mtable&gt;&lt;mo data-mjx-texclass=&quot;CLOSE&quot;&gt;)&lt;/mo&gt;&lt;/mrow&gt;&lt;/math&gt;" title="the 2 by 1 column matrix Row 1: 3 Row 2: negative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9499" y="2032975"/>
            <a:ext cx="603401" cy="5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97"/>
          <p:cNvSpPr txBox="1"/>
          <p:nvPr>
            <p:ph type="body" idx="1"/>
          </p:nvPr>
        </p:nvSpPr>
        <p:spPr>
          <a:xfrm>
            <a:off x="2180175" y="4480000"/>
            <a:ext cx="4811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Move the points to determine the vector.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6" name="Shape 1076"/>
        <p:cNvGrpSpPr/>
        <p:nvPr/>
      </p:nvGrpSpPr>
      <p:grpSpPr>
        <a:xfrm>
          <a:off x="0" y="0"/>
          <a:ext cx="0" cy="0"/>
        </a:xfrm>
      </p:grpSpPr>
      <p:pic>
        <p:nvPicPr>
          <p:cNvPr id="1077" name="Google Shape;107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50" y="1225800"/>
            <a:ext cx="4148201" cy="308191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78" name="Google Shape;107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1079" name="Google Shape;1079;p98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Find the transformations that map object A onto images B, C, D and E.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  </a:t>
            </a:r>
            <a:endParaRPr sz="1900"/>
          </a:p>
        </p:txBody>
      </p:sp>
      <p:sp>
        <p:nvSpPr>
          <p:cNvPr id="1080" name="Google Shape;1080;p98"/>
          <p:cNvSpPr txBox="1"/>
          <p:nvPr>
            <p:ph type="body" idx="1"/>
          </p:nvPr>
        </p:nvSpPr>
        <p:spPr>
          <a:xfrm>
            <a:off x="628800" y="1620000"/>
            <a:ext cx="34194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↦ E is a rotation of 180°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1" name="Google Shape;1081;p98"/>
          <p:cNvSpPr txBox="1"/>
          <p:nvPr>
            <p:ph type="body" idx="1"/>
          </p:nvPr>
        </p:nvSpPr>
        <p:spPr>
          <a:xfrm>
            <a:off x="628800" y="2152050"/>
            <a:ext cx="3038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around (1, 1).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82" name="Google Shape;1082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2950" y="1235325"/>
            <a:ext cx="4148201" cy="307855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3" name="Google Shape;1083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3425" y="1235325"/>
            <a:ext cx="4148199" cy="309028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84" name="Google Shape;1084;p98"/>
          <p:cNvSpPr txBox="1"/>
          <p:nvPr>
            <p:ph type="body" idx="1"/>
          </p:nvPr>
        </p:nvSpPr>
        <p:spPr>
          <a:xfrm>
            <a:off x="1837275" y="4478725"/>
            <a:ext cx="5478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Move the point to locate the centre of rotation.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8" name="Shape 1088"/>
        <p:cNvGrpSpPr/>
        <p:nvPr/>
      </p:nvGrpSpPr>
      <p:grpSpPr>
        <a:xfrm>
          <a:off x="0" y="0"/>
          <a:ext cx="0" cy="0"/>
        </a:xfrm>
      </p:grpSpPr>
      <p:sp>
        <p:nvSpPr>
          <p:cNvPr id="1089" name="Google Shape;1089;p99"/>
          <p:cNvSpPr txBox="1"/>
          <p:nvPr>
            <p:ph type="subTitle" idx="1"/>
          </p:nvPr>
        </p:nvSpPr>
        <p:spPr>
          <a:xfrm>
            <a:off x="1034425" y="1685375"/>
            <a:ext cx="3537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enlargement</a:t>
            </a:r>
            <a:endParaRPr/>
          </a:p>
        </p:txBody>
      </p:sp>
      <p:sp>
        <p:nvSpPr>
          <p:cNvPr id="1090" name="Google Shape;1090;p9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1091" name="Google Shape;1091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transformation has occurred?</a:t>
            </a:r>
            <a:endParaRPr/>
          </a:p>
        </p:txBody>
      </p:sp>
      <p:sp>
        <p:nvSpPr>
          <p:cNvPr id="1092" name="Google Shape;1092;p99"/>
          <p:cNvSpPr txBox="1"/>
          <p:nvPr>
            <p:ph type="subTitle" idx="3"/>
          </p:nvPr>
        </p:nvSpPr>
        <p:spPr>
          <a:xfrm>
            <a:off x="1034425" y="2489450"/>
            <a:ext cx="3537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reflection</a:t>
            </a:r>
            <a:endParaRPr/>
          </a:p>
        </p:txBody>
      </p:sp>
      <p:sp>
        <p:nvSpPr>
          <p:cNvPr id="1093" name="Google Shape;1093;p99"/>
          <p:cNvSpPr txBox="1"/>
          <p:nvPr>
            <p:ph type="subTitle" idx="4"/>
          </p:nvPr>
        </p:nvSpPr>
        <p:spPr>
          <a:xfrm>
            <a:off x="1034425" y="3309775"/>
            <a:ext cx="3537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rotation</a:t>
            </a:r>
            <a:endParaRPr/>
          </a:p>
        </p:txBody>
      </p:sp>
      <p:sp>
        <p:nvSpPr>
          <p:cNvPr id="1094" name="Google Shape;1094;p99"/>
          <p:cNvSpPr txBox="1"/>
          <p:nvPr>
            <p:ph type="subTitle" idx="5"/>
          </p:nvPr>
        </p:nvSpPr>
        <p:spPr>
          <a:xfrm>
            <a:off x="1034425" y="4113825"/>
            <a:ext cx="3537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1095" name="Google Shape;1095;p99"/>
          <p:cNvSpPr/>
          <p:nvPr/>
        </p:nvSpPr>
        <p:spPr>
          <a:xfrm>
            <a:off x="5774400" y="1620000"/>
            <a:ext cx="1600200" cy="914400"/>
          </a:xfrm>
          <a:prstGeom prst="rtTriangl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6" name="Google Shape;1096;p99"/>
          <p:cNvSpPr/>
          <p:nvPr/>
        </p:nvSpPr>
        <p:spPr>
          <a:xfrm rot="10800000" flipH="1">
            <a:off x="5774400" y="3199425"/>
            <a:ext cx="1600200" cy="914400"/>
          </a:xfrm>
          <a:prstGeom prst="rtTriangl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7" name="Google Shape;109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1" name="Shape 1101"/>
        <p:cNvGrpSpPr/>
        <p:nvPr/>
      </p:nvGrpSpPr>
      <p:grpSpPr>
        <a:xfrm>
          <a:off x="0" y="0"/>
          <a:ext cx="0" cy="0"/>
        </a:xfrm>
      </p:grpSpPr>
      <p:sp>
        <p:nvSpPr>
          <p:cNvPr id="1102" name="Google Shape;1102;p100"/>
          <p:cNvSpPr txBox="1"/>
          <p:nvPr>
            <p:ph type="subTitle" idx="1"/>
          </p:nvPr>
        </p:nvSpPr>
        <p:spPr>
          <a:xfrm>
            <a:off x="1034425" y="1685375"/>
            <a:ext cx="3537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enlargement</a:t>
            </a:r>
            <a:endParaRPr/>
          </a:p>
        </p:txBody>
      </p:sp>
      <p:sp>
        <p:nvSpPr>
          <p:cNvPr id="1103" name="Google Shape;1103;p10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1104" name="Google Shape;1104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transformation has occurred?</a:t>
            </a:r>
            <a:endParaRPr/>
          </a:p>
        </p:txBody>
      </p:sp>
      <p:sp>
        <p:nvSpPr>
          <p:cNvPr id="1105" name="Google Shape;1105;p100"/>
          <p:cNvSpPr txBox="1"/>
          <p:nvPr>
            <p:ph type="subTitle" idx="3"/>
          </p:nvPr>
        </p:nvSpPr>
        <p:spPr>
          <a:xfrm>
            <a:off x="1034425" y="2489450"/>
            <a:ext cx="3537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reflection</a:t>
            </a:r>
            <a:endParaRPr/>
          </a:p>
        </p:txBody>
      </p:sp>
      <p:sp>
        <p:nvSpPr>
          <p:cNvPr id="1106" name="Google Shape;1106;p100"/>
          <p:cNvSpPr txBox="1"/>
          <p:nvPr>
            <p:ph type="subTitle" idx="4"/>
          </p:nvPr>
        </p:nvSpPr>
        <p:spPr>
          <a:xfrm>
            <a:off x="1034425" y="3309775"/>
            <a:ext cx="3537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rotation</a:t>
            </a:r>
            <a:endParaRPr/>
          </a:p>
        </p:txBody>
      </p:sp>
      <p:sp>
        <p:nvSpPr>
          <p:cNvPr id="1107" name="Google Shape;1107;p100"/>
          <p:cNvSpPr txBox="1"/>
          <p:nvPr>
            <p:ph type="subTitle" idx="5"/>
          </p:nvPr>
        </p:nvSpPr>
        <p:spPr>
          <a:xfrm>
            <a:off x="1034425" y="4113825"/>
            <a:ext cx="3537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1108" name="Google Shape;1108;p100"/>
          <p:cNvSpPr/>
          <p:nvPr/>
        </p:nvSpPr>
        <p:spPr>
          <a:xfrm>
            <a:off x="5774400" y="1620000"/>
            <a:ext cx="1600200" cy="914400"/>
          </a:xfrm>
          <a:prstGeom prst="rtTriangl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9" name="Google Shape;1109;p100"/>
          <p:cNvSpPr/>
          <p:nvPr/>
        </p:nvSpPr>
        <p:spPr>
          <a:xfrm>
            <a:off x="5774400" y="3199425"/>
            <a:ext cx="1600200" cy="914400"/>
          </a:xfrm>
          <a:prstGeom prst="rtTriangl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10" name="Google Shape;111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08" y="4065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sp>
        <p:nvSpPr>
          <p:cNvPr id="1115" name="Google Shape;1115;p101"/>
          <p:cNvSpPr txBox="1"/>
          <p:nvPr>
            <p:ph type="subTitle" idx="1"/>
          </p:nvPr>
        </p:nvSpPr>
        <p:spPr>
          <a:xfrm>
            <a:off x="1034425" y="1685375"/>
            <a:ext cx="3537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enlargement</a:t>
            </a:r>
            <a:endParaRPr/>
          </a:p>
        </p:txBody>
      </p:sp>
      <p:sp>
        <p:nvSpPr>
          <p:cNvPr id="1116" name="Google Shape;1116;p10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1117" name="Google Shape;1117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transformation has occurred?</a:t>
            </a:r>
            <a:endParaRPr/>
          </a:p>
        </p:txBody>
      </p:sp>
      <p:sp>
        <p:nvSpPr>
          <p:cNvPr id="1118" name="Google Shape;1118;p101"/>
          <p:cNvSpPr txBox="1"/>
          <p:nvPr>
            <p:ph type="subTitle" idx="3"/>
          </p:nvPr>
        </p:nvSpPr>
        <p:spPr>
          <a:xfrm>
            <a:off x="1034425" y="2489450"/>
            <a:ext cx="3537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reflection</a:t>
            </a:r>
            <a:endParaRPr/>
          </a:p>
        </p:txBody>
      </p:sp>
      <p:sp>
        <p:nvSpPr>
          <p:cNvPr id="1119" name="Google Shape;1119;p101"/>
          <p:cNvSpPr txBox="1"/>
          <p:nvPr>
            <p:ph type="subTitle" idx="4"/>
          </p:nvPr>
        </p:nvSpPr>
        <p:spPr>
          <a:xfrm>
            <a:off x="1034425" y="3309775"/>
            <a:ext cx="3537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rotation</a:t>
            </a:r>
            <a:endParaRPr/>
          </a:p>
        </p:txBody>
      </p:sp>
      <p:sp>
        <p:nvSpPr>
          <p:cNvPr id="1120" name="Google Shape;1120;p101"/>
          <p:cNvSpPr txBox="1"/>
          <p:nvPr>
            <p:ph type="subTitle" idx="5"/>
          </p:nvPr>
        </p:nvSpPr>
        <p:spPr>
          <a:xfrm>
            <a:off x="1034425" y="4113825"/>
            <a:ext cx="3537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1121" name="Google Shape;1121;p101"/>
          <p:cNvSpPr/>
          <p:nvPr/>
        </p:nvSpPr>
        <p:spPr>
          <a:xfrm>
            <a:off x="5774400" y="1620000"/>
            <a:ext cx="1600200" cy="914400"/>
          </a:xfrm>
          <a:prstGeom prst="rtTriangl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2" name="Google Shape;1122;p101"/>
          <p:cNvSpPr/>
          <p:nvPr/>
        </p:nvSpPr>
        <p:spPr>
          <a:xfrm>
            <a:off x="5774400" y="3199425"/>
            <a:ext cx="2635500" cy="1506000"/>
          </a:xfrm>
          <a:prstGeom prst="rtTriangl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23" name="Google Shape;112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1608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7" name="Shape 1127"/>
        <p:cNvGrpSpPr/>
        <p:nvPr/>
      </p:nvGrpSpPr>
      <p:grpSpPr>
        <a:xfrm>
          <a:off x="0" y="0"/>
          <a:ext cx="0" cy="0"/>
        </a:xfrm>
      </p:grpSpPr>
      <p:sp>
        <p:nvSpPr>
          <p:cNvPr id="1128" name="Google Shape;1128;p102"/>
          <p:cNvSpPr txBox="1"/>
          <p:nvPr>
            <p:ph type="body" idx="1"/>
          </p:nvPr>
        </p:nvSpPr>
        <p:spPr>
          <a:xfrm>
            <a:off x="324000" y="759300"/>
            <a:ext cx="84960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hlinkClick r:id="rId3"/>
              </a:rPr>
              <a:t>Task C</a:t>
            </a:r>
            <a:r>
              <a:rPr lang="en-GB" sz="1800"/>
              <a:t> 🖇</a:t>
            </a:r>
            <a:br>
              <a:rPr lang="en-GB" sz="1800">
                <a:hlinkClick r:id="rId3"/>
              </a:rPr>
            </a:br>
            <a:br>
              <a:rPr lang="en-GB" sz="1800">
                <a:hlinkClick r:id="rId3"/>
              </a:rPr>
            </a:br>
            <a:r>
              <a:rPr lang="en-GB" sz="1800">
                <a:solidFill>
                  <a:srgbClr val="000000"/>
                </a:solidFill>
              </a:rPr>
              <a:t>Find and describe each transformation below.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   1. A ↦ B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800"/>
              <a:t>2. A ↦ C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GB" sz="1800">
                <a:latin typeface="Arial"/>
                <a:ea typeface="Arial"/>
                <a:cs typeface="Arial"/>
                <a:sym typeface="Arial"/>
              </a:rPr>
            </a:br>
            <a:br>
              <a:rPr lang="en-GB" sz="1800"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800"/>
              <a:t>3. A ↦ D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GB" sz="1800">
                <a:latin typeface="Arial"/>
                <a:ea typeface="Arial"/>
                <a:cs typeface="Arial"/>
                <a:sym typeface="Arial"/>
              </a:rPr>
            </a:br>
            <a:br>
              <a:rPr lang="en-GB" sz="1800"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800"/>
              <a:t>4. A ↦ E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29" name="Google Shape;1129;p10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GeoGebra to identify 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sp>
        <p:nvSpPr>
          <p:cNvPr id="1134" name="Google Shape;1134;p103"/>
          <p:cNvSpPr txBox="1"/>
          <p:nvPr>
            <p:ph type="body" idx="1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hlinkClick r:id="rId3"/>
              </a:rPr>
              <a:t>Task C</a:t>
            </a:r>
            <a:r>
              <a:rPr lang="en-GB" sz="1800"/>
              <a:t> 🖇</a:t>
            </a:r>
            <a:br>
              <a:rPr lang="en-GB" sz="1800">
                <a:hlinkClick r:id="rId3"/>
              </a:rPr>
            </a:br>
            <a:br>
              <a:rPr lang="en-GB" sz="1800">
                <a:hlinkClick r:id="rId3"/>
              </a:rPr>
            </a:br>
            <a:r>
              <a:rPr lang="en-GB" sz="1800">
                <a:solidFill>
                  <a:srgbClr val="000000"/>
                </a:solidFill>
              </a:rPr>
              <a:t>Find and describe each transformation below.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   1. A ↦ B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800"/>
              <a:t>2. A ↦ C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GB" sz="1800">
                <a:latin typeface="Arial"/>
                <a:ea typeface="Arial"/>
                <a:cs typeface="Arial"/>
                <a:sym typeface="Arial"/>
              </a:rPr>
            </a:br>
            <a:br>
              <a:rPr lang="en-GB" sz="1800"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800"/>
              <a:t>3. A ↦ D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GB" sz="1800">
                <a:latin typeface="Arial"/>
                <a:ea typeface="Arial"/>
                <a:cs typeface="Arial"/>
                <a:sym typeface="Arial"/>
              </a:rPr>
            </a:br>
            <a:br>
              <a:rPr lang="en-GB" sz="1800"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1800"/>
              <a:t>4. A ↦ E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135" name="Google Shape;1135;p10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GeoGebra to identify transformations</a:t>
            </a:r>
            <a:endParaRPr/>
          </a:p>
        </p:txBody>
      </p:sp>
      <p:sp>
        <p:nvSpPr>
          <p:cNvPr id="1136" name="Google Shape;1136;p103"/>
          <p:cNvSpPr txBox="1"/>
          <p:nvPr>
            <p:ph type="body" idx="1"/>
          </p:nvPr>
        </p:nvSpPr>
        <p:spPr>
          <a:xfrm>
            <a:off x="1684800" y="1802004"/>
            <a:ext cx="4089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Rotated 90° clockwise around (0, 1).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7" name="Google Shape;1137;p103"/>
          <p:cNvSpPr txBox="1"/>
          <p:nvPr>
            <p:ph type="body" idx="1"/>
          </p:nvPr>
        </p:nvSpPr>
        <p:spPr>
          <a:xfrm>
            <a:off x="1684800" y="2444119"/>
            <a:ext cx="4089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Translated       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38" name="Google Shape;1138;p103" descr="&lt;math xmlns=&quot;http://www.w3.org/1998/Math/MathML&quot; display=&quot;block&quot; data-is-equatio=&quot;1&quot; data-latex=&quot;\left(\begin{matrix}\ \ 9\\&amp;#13;&amp;#10;-1\end{matrix}\right)&quot;&gt;&lt;mrow data-mjx-texclass=&quot;INNER&quot;&gt;&lt;mo data-mjx-texclass=&quot;OPEN&quot;&gt;(&lt;/mo&gt;&lt;mtable columnspacing=&quot;1em&quot; rowspacing=&quot;4pt&quot;&gt;&lt;mtr&gt;&lt;mtd&gt;&lt;mtext&gt;&lt;/mtext&gt;&lt;mtext&gt;&lt;/mtext&gt;&lt;mn&gt;9&lt;/mn&gt;&lt;/mtd&gt;&lt;/mtr&gt;&lt;mtr&gt;&lt;mtd&gt;&lt;mo&gt;−&lt;/mo&gt;&lt;mn&gt;1&lt;/mn&gt;&lt;/mtd&gt;&lt;/mtr&gt;&lt;/mtable&gt;&lt;mo data-mjx-texclass=&quot;CLOSE&quot;&gt;)&lt;/mo&gt;&lt;/mrow&gt;&lt;/math&gt;" title="the 2 by 1 column matrix Row 1: 9 Row 2: negative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3398" y="2389344"/>
            <a:ext cx="482400" cy="446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103"/>
          <p:cNvSpPr txBox="1"/>
          <p:nvPr>
            <p:ph type="body" idx="1"/>
          </p:nvPr>
        </p:nvSpPr>
        <p:spPr>
          <a:xfrm>
            <a:off x="1684800" y="3056498"/>
            <a:ext cx="4089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Reflected over the x-axis.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0" name="Google Shape;1140;p103"/>
          <p:cNvSpPr txBox="1"/>
          <p:nvPr>
            <p:ph type="body" idx="1"/>
          </p:nvPr>
        </p:nvSpPr>
        <p:spPr>
          <a:xfrm>
            <a:off x="1684800" y="3705467"/>
            <a:ext cx="562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Enlarged by a scale factor of 3 from (-6, 6).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4" name="Shape 1144"/>
        <p:cNvGrpSpPr/>
        <p:nvPr/>
      </p:nvGrpSpPr>
      <p:grpSpPr>
        <a:xfrm>
          <a:off x="0" y="0"/>
          <a:ext cx="0" cy="0"/>
        </a:xfrm>
      </p:grpSpPr>
      <p:sp>
        <p:nvSpPr>
          <p:cNvPr id="1145" name="Google Shape;1145;p104"/>
          <p:cNvSpPr txBox="1"/>
          <p:nvPr>
            <p:ph type="body" idx="1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Dynamic geometry software can be used to quickly draw shapes and transform them.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Dynamic software allows us to manipulate aspects of a diagram after a transformation has already taken place.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-GB"/>
              <a:t>Sliders can be used to make values such as angles and scale factors dynamic.</a:t>
            </a:r>
            <a:endParaRPr/>
          </a:p>
        </p:txBody>
      </p:sp>
      <p:sp>
        <p:nvSpPr>
          <p:cNvPr id="1146" name="Google Shape;1146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GeoGebra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0" name="Shape 1150"/>
        <p:cNvGrpSpPr/>
        <p:nvPr/>
      </p:nvGrpSpPr>
      <p:grpSpPr>
        <a:xfrm>
          <a:off x="0" y="0"/>
          <a:ext cx="0" cy="0"/>
        </a:xfrm>
      </p:grpSpPr>
      <p:sp>
        <p:nvSpPr>
          <p:cNvPr id="1151" name="Google Shape;1151;p105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52" name="Google Shape;1152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218</Paragraphs>
  <Slides>42</Slides>
  <Notes>42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baseType="lpstr" size="50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Investigating transformations with GeoGebra</vt:lpstr>
      <vt:lpstr>PowerPoint Presentation</vt:lpstr>
      <vt:lpstr>PowerPoint Presentation</vt:lpstr>
      <vt:lpstr>PowerPoint Presentation</vt:lpstr>
      <vt:lpstr>Using GeoGebra for rotations and enlargements</vt:lpstr>
      <vt:lpstr>Using GeoGebra for rotations and enlargements</vt:lpstr>
      <vt:lpstr>Using GeoGebra for rotations and enlargements</vt:lpstr>
      <vt:lpstr>Using GeoGebra for rotations and enlargements</vt:lpstr>
      <vt:lpstr>Using GeoGebra for rotations and enlargements</vt:lpstr>
      <vt:lpstr>Using GeoGebra for rotations and enlargements</vt:lpstr>
      <vt:lpstr>Using GeoGebra for rotations and enlargements</vt:lpstr>
      <vt:lpstr>Using GeoGebra for rotations and enlargements</vt:lpstr>
      <vt:lpstr>Using GeoGebra for rotations and enlargements</vt:lpstr>
      <vt:lpstr>Using GeoGebra for rotations and enlargements</vt:lpstr>
      <vt:lpstr>Using GeoGebra for rotations and enlargements</vt:lpstr>
      <vt:lpstr>PowerPoint Presentation</vt:lpstr>
      <vt:lpstr>PowerPoint Presentation</vt:lpstr>
      <vt:lpstr>PowerPoint Presentation</vt:lpstr>
      <vt:lpstr>PowerPoint Presentation</vt:lpstr>
      <vt:lpstr>Using GeoGebra for rotations and enlargements</vt:lpstr>
      <vt:lpstr>Using GeoGebra for reflections and translations</vt:lpstr>
      <vt:lpstr>Using GeoGebra for reflections and translations</vt:lpstr>
      <vt:lpstr>Using GeoGebra for reflections and translations</vt:lpstr>
      <vt:lpstr>Using GeoGebra for reflections and translations</vt:lpstr>
      <vt:lpstr>Using GeoGebra for reflections and translations</vt:lpstr>
      <vt:lpstr>PowerPoint Presentation</vt:lpstr>
      <vt:lpstr>PowerPoint Presentation</vt:lpstr>
      <vt:lpstr>PowerPoint Presentation</vt:lpstr>
      <vt:lpstr>PowerPoint Presentation</vt:lpstr>
      <vt:lpstr>Using GeoGebra for rotations and enlargements</vt:lpstr>
      <vt:lpstr>Using GeoGebra to identify transformations</vt:lpstr>
      <vt:lpstr>Using GeoGebra to identify transformations</vt:lpstr>
      <vt:lpstr>Using GeoGebra to identify transformations</vt:lpstr>
      <vt:lpstr>Using GeoGebra to identify transformations</vt:lpstr>
      <vt:lpstr>Using GeoGebra to identify transformations</vt:lpstr>
      <vt:lpstr>Using GeoGebra to identify transformations</vt:lpstr>
      <vt:lpstr>Using GeoGebra to identify transformations</vt:lpstr>
      <vt:lpstr>Using GeoGebra to identify transformations</vt:lpstr>
      <vt:lpstr>PowerPoint Presentation</vt:lpstr>
      <vt:lpstr>PowerPoint Presentation</vt:lpstr>
      <vt:lpstr>Investigating transformations with GeoGebra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2023-11-02T14:27:20.241</cp:lastPrinted>
  <dcterms:created xsi:type="dcterms:W3CDTF">2023-11-02T14:27:20Z</dcterms:created>
  <dcterms:modified xsi:type="dcterms:W3CDTF">2023-11-02T14:26:53Z</dcterms:modified>
</cp:coreProperties>
</file>