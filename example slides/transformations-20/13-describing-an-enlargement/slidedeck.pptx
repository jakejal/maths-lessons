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9144000" cy="5143500"/>
  <p:notesSz cx="6858000" cy="9144000"/>
  <p:embeddedFontLst>
    <p:embeddedFont>
      <p:font typeface="Lexend" panose="00000000000000000000"/>
      <p:regular r:id="rId43"/>
    </p:embeddedFont>
    <p:embeddedFont>
      <p:font typeface="Lexend Medium" panose="00000000000000000000"/>
      <p:regular r:id="rId44"/>
    </p:embeddedFont>
    <p:embeddedFont>
      <p:font typeface="Kalam" panose="02000000000000000000"/>
      <p:regular r:id="rId45"/>
    </p:embeddedFont>
    <p:embeddedFont>
      <p:font typeface="Lexend Light" panose="00000000000000000000"/>
      <p:regular r:id="rId46"/>
    </p:embeddedFont>
  </p:embeddedFontLst>
  <p:custDataLst>
    <p:tags r:id="rId42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tags" Target="tags/tag1.xml" /><Relationship Id="rId43" Type="http://schemas.openxmlformats.org/officeDocument/2006/relationships/font" Target="fonts/font1.fntdata" /><Relationship Id="rId44" Type="http://schemas.openxmlformats.org/officeDocument/2006/relationships/font" Target="fonts/font2.fntdata" /><Relationship Id="rId45" Type="http://schemas.openxmlformats.org/officeDocument/2006/relationships/font" Target="fonts/font3.fntdata" /><Relationship Id="rId46" Type="http://schemas.openxmlformats.org/officeDocument/2006/relationships/font" Target="fonts/font4.fntdata" /><Relationship Id="rId47" Type="http://schemas.openxmlformats.org/officeDocument/2006/relationships/presProps" Target="presProps.xml" /><Relationship Id="rId48" Type="http://schemas.openxmlformats.org/officeDocument/2006/relationships/viewProps" Target="viewProps.xml" /><Relationship Id="rId49" Type="http://schemas.openxmlformats.org/officeDocument/2006/relationships/theme" Target="theme/theme1.xml" /><Relationship Id="rId5" Type="http://schemas.openxmlformats.org/officeDocument/2006/relationships/slide" Target="slides/slide3.xml" /><Relationship Id="rId50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8206ffcaaf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206ffcaaf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8" name="Shape 768"/>
        <p:cNvGrpSpPr/>
        <p:nvPr/>
      </p:nvGrpSpPr>
      <p:grpSpPr>
        <a:xfrm>
          <a:off x="0" y="0"/>
          <a:ext cx="0" cy="0"/>
        </a:xfrm>
      </p:grpSpPr>
      <p:sp>
        <p:nvSpPr>
          <p:cNvPr id="769" name="Google Shape;769;g28206ffcaaf_0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8206ffcaaf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6" name="Shape 776"/>
        <p:cNvGrpSpPr/>
        <p:nvPr/>
      </p:nvGrpSpPr>
      <p:grpSpPr>
        <a:xfrm>
          <a:off x="0" y="0"/>
          <a:ext cx="0" cy="0"/>
        </a:xfrm>
      </p:grpSpPr>
      <p:sp>
        <p:nvSpPr>
          <p:cNvPr id="777" name="Google Shape;777;g2843b8ad7d0_0_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843b8ad7d0_0_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5" name="Shape 805"/>
        <p:cNvGrpSpPr/>
        <p:nvPr/>
      </p:nvGrpSpPr>
      <p:grpSpPr>
        <a:xfrm>
          <a:off x="0" y="0"/>
          <a:ext cx="0" cy="0"/>
        </a:xfrm>
      </p:grpSpPr>
      <p:sp>
        <p:nvSpPr>
          <p:cNvPr id="806" name="Google Shape;806;g2828ca7eaef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828ca7eaef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0" name="Shape 830"/>
        <p:cNvGrpSpPr/>
        <p:nvPr/>
      </p:nvGrpSpPr>
      <p:grpSpPr>
        <a:xfrm>
          <a:off x="0" y="0"/>
          <a:ext cx="0" cy="0"/>
        </a:xfrm>
      </p:grpSpPr>
      <p:sp>
        <p:nvSpPr>
          <p:cNvPr id="831" name="Google Shape;831;g2843b8ad7d0_0_1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843b8ad7d0_0_1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6" name="Shape 856"/>
        <p:cNvGrpSpPr/>
        <p:nvPr/>
      </p:nvGrpSpPr>
      <p:grpSpPr>
        <a:xfrm>
          <a:off x="0" y="0"/>
          <a:ext cx="0" cy="0"/>
        </a:xfrm>
      </p:grpSpPr>
      <p:sp>
        <p:nvSpPr>
          <p:cNvPr id="857" name="Google Shape;857;g2828ca7eaef_0_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2828ca7eaef_0_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3" name="Shape 883"/>
        <p:cNvGrpSpPr/>
        <p:nvPr/>
      </p:nvGrpSpPr>
      <p:grpSpPr>
        <a:xfrm>
          <a:off x="0" y="0"/>
          <a:ext cx="0" cy="0"/>
        </a:xfrm>
      </p:grpSpPr>
      <p:sp>
        <p:nvSpPr>
          <p:cNvPr id="884" name="Google Shape;884;g2828ca7eaef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828ca7eaef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1" name="Shape 901"/>
        <p:cNvGrpSpPr/>
        <p:nvPr/>
      </p:nvGrpSpPr>
      <p:grpSpPr>
        <a:xfrm>
          <a:off x="0" y="0"/>
          <a:ext cx="0" cy="0"/>
        </a:xfrm>
      </p:grpSpPr>
      <p:sp>
        <p:nvSpPr>
          <p:cNvPr id="902" name="Google Shape;902;g2828ca7eaef_0_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828ca7eaef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9" name="Shape 919"/>
        <p:cNvGrpSpPr/>
        <p:nvPr/>
      </p:nvGrpSpPr>
      <p:grpSpPr>
        <a:xfrm>
          <a:off x="0" y="0"/>
          <a:ext cx="0" cy="0"/>
        </a:xfrm>
      </p:grpSpPr>
      <p:sp>
        <p:nvSpPr>
          <p:cNvPr id="920" name="Google Shape;920;g1e8246fd802_0_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1e8246fd802_0_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9" name="Shape 949"/>
        <p:cNvGrpSpPr/>
        <p:nvPr/>
      </p:nvGrpSpPr>
      <p:grpSpPr>
        <a:xfrm>
          <a:off x="0" y="0"/>
          <a:ext cx="0" cy="0"/>
        </a:xfrm>
      </p:grpSpPr>
      <p:sp>
        <p:nvSpPr>
          <p:cNvPr id="950" name="Google Shape;950;g2828ca7eaef_0_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2828ca7eaef_0_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6" name="Shape 976"/>
        <p:cNvGrpSpPr/>
        <p:nvPr/>
      </p:nvGrpSpPr>
      <p:grpSpPr>
        <a:xfrm>
          <a:off x="0" y="0"/>
          <a:ext cx="0" cy="0"/>
        </a:xfrm>
      </p:grpSpPr>
      <p:sp>
        <p:nvSpPr>
          <p:cNvPr id="977" name="Google Shape;977;g1e8246fd802_0_2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1e8246fd802_0_2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3" name="Shape 1003"/>
        <p:cNvGrpSpPr/>
        <p:nvPr/>
      </p:nvGrpSpPr>
      <p:grpSpPr>
        <a:xfrm>
          <a:off x="0" y="0"/>
          <a:ext cx="0" cy="0"/>
        </a:xfrm>
      </p:grpSpPr>
      <p:sp>
        <p:nvSpPr>
          <p:cNvPr id="1004" name="Google Shape;1004;g1e8246fd802_0_2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1e8246fd802_0_2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0" name="Shape 1030"/>
        <p:cNvGrpSpPr/>
        <p:nvPr/>
      </p:nvGrpSpPr>
      <p:grpSpPr>
        <a:xfrm>
          <a:off x="0" y="0"/>
          <a:ext cx="0" cy="0"/>
        </a:xfrm>
      </p:grpSpPr>
      <p:sp>
        <p:nvSpPr>
          <p:cNvPr id="1031" name="Google Shape;1031;g284f3f268d0_0_4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84f3f268d0_0_4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7" name="Shape 1077"/>
        <p:cNvGrpSpPr/>
        <p:nvPr/>
      </p:nvGrpSpPr>
      <p:grpSpPr>
        <a:xfrm>
          <a:off x="0" y="0"/>
          <a:ext cx="0" cy="0"/>
        </a:xfrm>
      </p:grpSpPr>
      <p:sp>
        <p:nvSpPr>
          <p:cNvPr id="1078" name="Google Shape;1078;g28513788869_0_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28513788869_0_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85" name="Shape 1085"/>
        <p:cNvGrpSpPr/>
        <p:nvPr/>
      </p:nvGrpSpPr>
      <p:grpSpPr>
        <a:xfrm>
          <a:off x="0" y="0"/>
          <a:ext cx="0" cy="0"/>
        </a:xfrm>
      </p:grpSpPr>
      <p:sp>
        <p:nvSpPr>
          <p:cNvPr id="1086" name="Google Shape;1086;g287b59d9aa9_3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287b59d9aa9_3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2" name="Shape 1132"/>
        <p:cNvGrpSpPr/>
        <p:nvPr/>
      </p:nvGrpSpPr>
      <p:grpSpPr>
        <a:xfrm>
          <a:off x="0" y="0"/>
          <a:ext cx="0" cy="0"/>
        </a:xfrm>
      </p:grpSpPr>
      <p:sp>
        <p:nvSpPr>
          <p:cNvPr id="1133" name="Google Shape;1133;g28513788869_0_1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28513788869_0_1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3" name="Shape 1143"/>
        <p:cNvGrpSpPr/>
        <p:nvPr/>
      </p:nvGrpSpPr>
      <p:grpSpPr>
        <a:xfrm>
          <a:off x="0" y="0"/>
          <a:ext cx="0" cy="0"/>
        </a:xfrm>
      </p:grpSpPr>
      <p:sp>
        <p:nvSpPr>
          <p:cNvPr id="1144" name="Google Shape;1144;g28206ffcaaf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28206ffcaaf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1" name="Shape 1151"/>
        <p:cNvGrpSpPr/>
        <p:nvPr/>
      </p:nvGrpSpPr>
      <p:grpSpPr>
        <a:xfrm>
          <a:off x="0" y="0"/>
          <a:ext cx="0" cy="0"/>
        </a:xfrm>
      </p:grpSpPr>
      <p:sp>
        <p:nvSpPr>
          <p:cNvPr id="1152" name="Google Shape;1152;g284f3f268d0_0_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284f3f268d0_0_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1" name="Shape 1161"/>
        <p:cNvGrpSpPr/>
        <p:nvPr/>
      </p:nvGrpSpPr>
      <p:grpSpPr>
        <a:xfrm>
          <a:off x="0" y="0"/>
          <a:ext cx="0" cy="0"/>
        </a:xfrm>
      </p:grpSpPr>
      <p:sp>
        <p:nvSpPr>
          <p:cNvPr id="1162" name="Google Shape;1162;g2828ca7eaef_0_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828ca7eaef_0_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73" name="Shape 1173"/>
        <p:cNvGrpSpPr/>
        <p:nvPr/>
      </p:nvGrpSpPr>
      <p:grpSpPr>
        <a:xfrm>
          <a:off x="0" y="0"/>
          <a:ext cx="0" cy="0"/>
        </a:xfrm>
      </p:grpSpPr>
      <p:sp>
        <p:nvSpPr>
          <p:cNvPr id="1174" name="Google Shape;1174;g284f3f268d0_0_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284f3f268d0_0_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2" name="Shape 1192"/>
        <p:cNvGrpSpPr/>
        <p:nvPr/>
      </p:nvGrpSpPr>
      <p:grpSpPr>
        <a:xfrm>
          <a:off x="0" y="0"/>
          <a:ext cx="0" cy="0"/>
        </a:xfrm>
      </p:grpSpPr>
      <p:sp>
        <p:nvSpPr>
          <p:cNvPr id="1193" name="Google Shape;1193;g284f3f268d0_0_1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284f3f268d0_0_1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8" name="Shape 1208"/>
        <p:cNvGrpSpPr/>
        <p:nvPr/>
      </p:nvGrpSpPr>
      <p:grpSpPr>
        <a:xfrm>
          <a:off x="0" y="0"/>
          <a:ext cx="0" cy="0"/>
        </a:xfrm>
      </p:grpSpPr>
      <p:sp>
        <p:nvSpPr>
          <p:cNvPr id="1209" name="Google Shape;1209;g284f3f268d0_0_6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284f3f268d0_0_6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22" name="Shape 1222"/>
        <p:cNvGrpSpPr/>
        <p:nvPr/>
      </p:nvGrpSpPr>
      <p:grpSpPr>
        <a:xfrm>
          <a:off x="0" y="0"/>
          <a:ext cx="0" cy="0"/>
        </a:xfrm>
      </p:grpSpPr>
      <p:sp>
        <p:nvSpPr>
          <p:cNvPr id="1223" name="Google Shape;1223;g2828ca7eaef_0_1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2828ca7eaef_0_1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4" name="Shape 1234"/>
        <p:cNvGrpSpPr/>
        <p:nvPr/>
      </p:nvGrpSpPr>
      <p:grpSpPr>
        <a:xfrm>
          <a:off x="0" y="0"/>
          <a:ext cx="0" cy="0"/>
        </a:xfrm>
      </p:grpSpPr>
      <p:sp>
        <p:nvSpPr>
          <p:cNvPr id="1235" name="Google Shape;1235;g285d5558218_0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285d5558218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64" name="Shape 1264"/>
        <p:cNvGrpSpPr/>
        <p:nvPr/>
      </p:nvGrpSpPr>
      <p:grpSpPr>
        <a:xfrm>
          <a:off x="0" y="0"/>
          <a:ext cx="0" cy="0"/>
        </a:xfrm>
      </p:grpSpPr>
      <p:sp>
        <p:nvSpPr>
          <p:cNvPr id="1265" name="Google Shape;1265;g2828ca7eaef_0_1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2828ca7eaef_0_1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7" name="Shape 1277"/>
        <p:cNvGrpSpPr/>
        <p:nvPr/>
      </p:nvGrpSpPr>
      <p:grpSpPr>
        <a:xfrm>
          <a:off x="0" y="0"/>
          <a:ext cx="0" cy="0"/>
        </a:xfrm>
      </p:grpSpPr>
      <p:sp>
        <p:nvSpPr>
          <p:cNvPr id="1278" name="Google Shape;1278;g285d5558218_0_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285d5558218_0_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6" name="Shape 1306"/>
        <p:cNvGrpSpPr/>
        <p:nvPr/>
      </p:nvGrpSpPr>
      <p:grpSpPr>
        <a:xfrm>
          <a:off x="0" y="0"/>
          <a:ext cx="0" cy="0"/>
        </a:xfrm>
      </p:grpSpPr>
      <p:sp>
        <p:nvSpPr>
          <p:cNvPr id="1307" name="Google Shape;1307;g285d5558218_0_1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85d5558218_0_1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29" name="Shape 1329"/>
        <p:cNvGrpSpPr/>
        <p:nvPr/>
      </p:nvGrpSpPr>
      <p:grpSpPr>
        <a:xfrm>
          <a:off x="0" y="0"/>
          <a:ext cx="0" cy="0"/>
        </a:xfrm>
      </p:grpSpPr>
      <p:sp>
        <p:nvSpPr>
          <p:cNvPr id="1330" name="Google Shape;1330;g284f3f268d0_0_1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284f3f268d0_0_1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54" name="Shape 1354"/>
        <p:cNvGrpSpPr/>
        <p:nvPr/>
      </p:nvGrpSpPr>
      <p:grpSpPr>
        <a:xfrm>
          <a:off x="0" y="0"/>
          <a:ext cx="0" cy="0"/>
        </a:xfrm>
      </p:grpSpPr>
      <p:sp>
        <p:nvSpPr>
          <p:cNvPr id="1355" name="Google Shape;1355;g284f3f268d0_0_1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284f3f268d0_0_1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69" name="Shape 1369"/>
        <p:cNvGrpSpPr/>
        <p:nvPr/>
      </p:nvGrpSpPr>
      <p:grpSpPr>
        <a:xfrm>
          <a:off x="0" y="0"/>
          <a:ext cx="0" cy="0"/>
        </a:xfrm>
      </p:grpSpPr>
      <p:sp>
        <p:nvSpPr>
          <p:cNvPr id="1370" name="Google Shape;1370;g284f3f268d0_0_2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284f3f268d0_0_2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84" name="Shape 1384"/>
        <p:cNvGrpSpPr/>
        <p:nvPr/>
      </p:nvGrpSpPr>
      <p:grpSpPr>
        <a:xfrm>
          <a:off x="0" y="0"/>
          <a:ext cx="0" cy="0"/>
        </a:xfrm>
      </p:grpSpPr>
      <p:sp>
        <p:nvSpPr>
          <p:cNvPr id="1385" name="Google Shape;1385;g2828ca7eaef_0_1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2828ca7eaef_0_1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98" name="Shape 1398"/>
        <p:cNvGrpSpPr/>
        <p:nvPr/>
      </p:nvGrpSpPr>
      <p:grpSpPr>
        <a:xfrm>
          <a:off x="0" y="0"/>
          <a:ext cx="0" cy="0"/>
        </a:xfrm>
      </p:grpSpPr>
      <p:sp>
        <p:nvSpPr>
          <p:cNvPr id="1399" name="Google Shape;1399;g2828ca7eaef_0_1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2828ca7eaef_0_1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12" name="Shape 1412"/>
        <p:cNvGrpSpPr/>
        <p:nvPr/>
      </p:nvGrpSpPr>
      <p:grpSpPr>
        <a:xfrm>
          <a:off x="0" y="0"/>
          <a:ext cx="0" cy="0"/>
        </a:xfrm>
      </p:grpSpPr>
      <p:sp>
        <p:nvSpPr>
          <p:cNvPr id="1413" name="Google Shape;1413;g284f3f268d0_0_5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284f3f268d0_0_5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41" name="Shape 1441"/>
        <p:cNvGrpSpPr/>
        <p:nvPr/>
      </p:nvGrpSpPr>
      <p:grpSpPr>
        <a:xfrm>
          <a:off x="0" y="0"/>
          <a:ext cx="0" cy="0"/>
        </a:xfrm>
      </p:grpSpPr>
      <p:sp>
        <p:nvSpPr>
          <p:cNvPr id="1442" name="Google Shape;1442;g284f3f268d0_0_6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284f3f268d0_0_6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71" name="Shape 1471"/>
        <p:cNvGrpSpPr/>
        <p:nvPr/>
      </p:nvGrpSpPr>
      <p:grpSpPr>
        <a:xfrm>
          <a:off x="0" y="0"/>
          <a:ext cx="0" cy="0"/>
        </a:xfrm>
      </p:grpSpPr>
      <p:sp>
        <p:nvSpPr>
          <p:cNvPr id="1472" name="Google Shape;1472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77" name="Shape 1477"/>
        <p:cNvGrpSpPr/>
        <p:nvPr/>
      </p:nvGrpSpPr>
      <p:grpSpPr>
        <a:xfrm>
          <a:off x="0" y="0"/>
          <a:ext cx="0" cy="0"/>
        </a:xfrm>
      </p:grpSpPr>
      <p:sp>
        <p:nvSpPr>
          <p:cNvPr id="1478" name="Google Shape;1478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7.png" /><Relationship Id="rId4" Type="http://schemas.openxmlformats.org/officeDocument/2006/relationships/image" Target="../media/image4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Relationship Id="rId5" Type="http://schemas.openxmlformats.org/officeDocument/2006/relationships/image" Target="../media/image51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52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53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4.png" /><Relationship Id="rId4" Type="http://schemas.openxmlformats.org/officeDocument/2006/relationships/image" Target="../media/image55.png" /><Relationship Id="rId5" Type="http://schemas.openxmlformats.org/officeDocument/2006/relationships/image" Target="../media/image56.png" /><Relationship Id="rId6" Type="http://schemas.openxmlformats.org/officeDocument/2006/relationships/image" Target="../media/image57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8.png" /><Relationship Id="rId4" Type="http://schemas.openxmlformats.org/officeDocument/2006/relationships/image" Target="../media/image59.png" /><Relationship Id="rId5" Type="http://schemas.openxmlformats.org/officeDocument/2006/relationships/image" Target="../media/image57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60.png" /><Relationship Id="rId4" Type="http://schemas.openxmlformats.org/officeDocument/2006/relationships/image" Target="../media/image61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61.png" /><Relationship Id="rId4" Type="http://schemas.openxmlformats.org/officeDocument/2006/relationships/image" Target="../media/image60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62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63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62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63.png" /><Relationship Id="rId4" Type="http://schemas.openxmlformats.org/officeDocument/2006/relationships/image" Target="../media/image60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3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64.png" /><Relationship Id="rId4" Type="http://schemas.openxmlformats.org/officeDocument/2006/relationships/image" Target="../media/image65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64.png" /><Relationship Id="rId4" Type="http://schemas.openxmlformats.org/officeDocument/2006/relationships/image" Target="../media/image66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67.png" /><Relationship Id="rId4" Type="http://schemas.openxmlformats.org/officeDocument/2006/relationships/image" Target="../media/image64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10" Type="http://schemas.openxmlformats.org/officeDocument/2006/relationships/image" Target="../media/image75.png" /><Relationship Id="rId11" Type="http://schemas.openxmlformats.org/officeDocument/2006/relationships/image" Target="../media/image76.png" /><Relationship Id="rId12" Type="http://schemas.openxmlformats.org/officeDocument/2006/relationships/image" Target="../media/image67.png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68.png" /><Relationship Id="rId4" Type="http://schemas.openxmlformats.org/officeDocument/2006/relationships/image" Target="../media/image69.png" /><Relationship Id="rId5" Type="http://schemas.openxmlformats.org/officeDocument/2006/relationships/image" Target="../media/image70.png" /><Relationship Id="rId6" Type="http://schemas.openxmlformats.org/officeDocument/2006/relationships/image" Target="../media/image71.png" /><Relationship Id="rId7" Type="http://schemas.openxmlformats.org/officeDocument/2006/relationships/image" Target="../media/image72.png" /><Relationship Id="rId8" Type="http://schemas.openxmlformats.org/officeDocument/2006/relationships/image" Target="../media/image73.png" /><Relationship Id="rId9" Type="http://schemas.openxmlformats.org/officeDocument/2006/relationships/image" Target="../media/image7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77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78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79.png" /><Relationship Id="rId4" Type="http://schemas.openxmlformats.org/officeDocument/2006/relationships/image" Target="../media/image80.png" /><Relationship Id="rId5" Type="http://schemas.openxmlformats.org/officeDocument/2006/relationships/image" Target="../media/image81.png" /><Relationship Id="rId6" Type="http://schemas.openxmlformats.org/officeDocument/2006/relationships/image" Target="../media/image82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2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83.png" /><Relationship Id="rId4" Type="http://schemas.openxmlformats.org/officeDocument/2006/relationships/image" Target="../media/image60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8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83.png" /><Relationship Id="rId4" Type="http://schemas.openxmlformats.org/officeDocument/2006/relationships/image" Target="../media/image84.png" /><Relationship Id="rId5" Type="http://schemas.openxmlformats.org/officeDocument/2006/relationships/image" Target="../media/image60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8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85.png" /><Relationship Id="rId4" Type="http://schemas.openxmlformats.org/officeDocument/2006/relationships/image" Target="../media/image60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86.png" /><Relationship Id="rId4" Type="http://schemas.openxmlformats.org/officeDocument/2006/relationships/image" Target="../media/image87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8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60.png" /><Relationship Id="rId4" Type="http://schemas.openxmlformats.org/officeDocument/2006/relationships/image" Target="../media/image88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8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60.png" /><Relationship Id="rId4" Type="http://schemas.openxmlformats.org/officeDocument/2006/relationships/image" Target="../media/image88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89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90.png" /><Relationship Id="rId4" Type="http://schemas.openxmlformats.org/officeDocument/2006/relationships/image" Target="../media/image91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89.png" /><Relationship Id="rId4" Type="http://schemas.openxmlformats.org/officeDocument/2006/relationships/image" Target="../media/image60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90.png" /><Relationship Id="rId4" Type="http://schemas.openxmlformats.org/officeDocument/2006/relationships/image" Target="../media/image91.png" /><Relationship Id="rId5" Type="http://schemas.openxmlformats.org/officeDocument/2006/relationships/image" Target="../media/image92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39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9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an enlargement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Transformations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understand the minimum information required to describe an enlargement.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1"/>
          </p:nvPr>
        </p:nvSpPr>
        <p:spPr>
          <a:xfrm>
            <a:off x="324000" y="993650"/>
            <a:ext cx="8496000" cy="83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/>
              <a:t>Scale factor</a:t>
            </a:r>
            <a:r>
              <a:rPr lang="en-GB"/>
              <a:t> is the multiplier between similar shapes that describes how large one shape is compared to the other.</a:t>
            </a:r>
            <a:endParaRPr/>
          </a:p>
        </p:txBody>
      </p:sp>
      <p:sp>
        <p:nvSpPr>
          <p:cNvPr id="767" name="Google Shape;767;p67"/>
          <p:cNvSpPr txBox="1"/>
          <p:nvPr>
            <p:ph type="subTitle" idx="2"/>
          </p:nvPr>
        </p:nvSpPr>
        <p:spPr>
          <a:xfrm>
            <a:off x="324000" y="2238725"/>
            <a:ext cx="8496000" cy="94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 b="1"/>
              <a:t>centre of enlargement </a:t>
            </a:r>
            <a:r>
              <a:rPr lang="en-GB"/>
              <a:t>is the point from which a shape is enlarged.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1" name="Shape 771"/>
        <p:cNvGrpSpPr/>
        <p:nvPr/>
      </p:nvGrpSpPr>
      <p:grpSpPr>
        <a:xfrm>
          <a:off x="0" y="0"/>
          <a: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and finding scale factors</a:t>
            </a:r>
            <a:endParaRPr/>
          </a:p>
        </p:txBody>
      </p:sp>
      <p:sp>
        <p:nvSpPr>
          <p:cNvPr id="773" name="Google Shape;773;p68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sp>
        <p:nvSpPr>
          <p:cNvPr id="774" name="Google Shape;774;p68"/>
          <p:cNvSpPr txBox="1"/>
          <p:nvPr>
            <p:ph type="title" idx="3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and enlargement</a:t>
            </a:r>
            <a:endParaRPr/>
          </a:p>
        </p:txBody>
      </p:sp>
      <p:pic>
        <p:nvPicPr>
          <p:cNvPr id="775" name="Google Shape;77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470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9" name="Shape 779"/>
        <p:cNvGrpSpPr/>
        <p:nvPr/>
      </p:nvGrpSpPr>
      <p:grpSpPr>
        <a:xfrm>
          <a:off x="0" y="0"/>
          <a:ext cx="0" cy="0"/>
        </a:xfrm>
      </p:grpSpPr>
      <p:sp>
        <p:nvSpPr>
          <p:cNvPr id="780" name="Google Shape;780;p69"/>
          <p:cNvSpPr txBox="1"/>
          <p:nvPr>
            <p:ph type="body" idx="1"/>
          </p:nvPr>
        </p:nvSpPr>
        <p:spPr>
          <a:xfrm>
            <a:off x="324000" y="759300"/>
            <a:ext cx="8237700" cy="46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82828"/>
                </a:solidFill>
              </a:rPr>
              <a:t>The object has been enlarged to create the image.</a:t>
            </a:r>
            <a:endParaRPr sz="2000"/>
          </a:p>
        </p:txBody>
      </p:sp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and finding scale factors</a:t>
            </a:r>
            <a:endParaRPr/>
          </a:p>
        </p:txBody>
      </p:sp>
      <p:sp>
        <p:nvSpPr>
          <p:cNvPr id="782" name="Google Shape;782;p69"/>
          <p:cNvSpPr txBox="1"/>
          <p:nvPr>
            <p:ph type="body" idx="1"/>
          </p:nvPr>
        </p:nvSpPr>
        <p:spPr>
          <a:xfrm>
            <a:off x="324000" y="2865675"/>
            <a:ext cx="8237700" cy="46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How could we describe the change in size?</a:t>
            </a:r>
            <a:endParaRPr sz="2000"/>
          </a:p>
        </p:txBody>
      </p:sp>
      <p:sp>
        <p:nvSpPr>
          <p:cNvPr id="783" name="Google Shape;783;p69"/>
          <p:cNvSpPr/>
          <p:nvPr/>
        </p:nvSpPr>
        <p:spPr>
          <a:xfrm>
            <a:off x="2087300" y="1163623"/>
            <a:ext cx="1041300" cy="467700"/>
          </a:xfrm>
          <a:prstGeom prst="rect">
            <a:avLst/>
          </a:prstGeom>
          <a:solidFill>
            <a:srgbClr val="E1D6F6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84" name="Google Shape;784;p69"/>
          <p:cNvSpPr/>
          <p:nvPr/>
        </p:nvSpPr>
        <p:spPr>
          <a:xfrm>
            <a:off x="4335045" y="1160376"/>
            <a:ext cx="3123900" cy="1403100"/>
          </a:xfrm>
          <a:prstGeom prst="rect">
            <a:avLst/>
          </a:prstGeom>
          <a:solidFill>
            <a:srgbClr val="C1DEDF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85" name="Google Shape;785;p69"/>
          <p:cNvSpPr txBox="1"/>
          <p:nvPr/>
        </p:nvSpPr>
        <p:spPr>
          <a:xfrm>
            <a:off x="628800" y="1963228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6" name="Google Shape;786;p69"/>
          <p:cNvCxnSpPr/>
          <p:nvPr/>
        </p:nvCxnSpPr>
        <p:spPr>
          <a:xfrm rot="10800000" flipH="1">
            <a:off x="1370550" y="1781050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7" name="Google Shape;787;p69"/>
          <p:cNvCxnSpPr/>
          <p:nvPr/>
        </p:nvCxnSpPr>
        <p:spPr>
          <a:xfrm>
            <a:off x="2087300" y="1739895"/>
            <a:ext cx="1041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88" name="Google Shape;788;p69"/>
          <p:cNvCxnSpPr/>
          <p:nvPr/>
        </p:nvCxnSpPr>
        <p:spPr>
          <a:xfrm rot="10800000" flipH="1">
            <a:off x="1976852" y="1163623"/>
            <a:ext cx="0" cy="467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89" name="Google Shape;789;p69"/>
          <p:cNvCxnSpPr/>
          <p:nvPr/>
        </p:nvCxnSpPr>
        <p:spPr>
          <a:xfrm>
            <a:off x="4335045" y="2673253"/>
            <a:ext cx="3123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90" name="Google Shape;790;p69"/>
          <p:cNvCxnSpPr/>
          <p:nvPr/>
        </p:nvCxnSpPr>
        <p:spPr>
          <a:xfrm rot="10800000" flipH="1">
            <a:off x="4220595" y="1160376"/>
            <a:ext cx="0" cy="1403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791" name="Google Shape;791;p69"/>
          <p:cNvSpPr txBox="1"/>
          <p:nvPr/>
        </p:nvSpPr>
        <p:spPr>
          <a:xfrm>
            <a:off x="1438280" y="1248893"/>
            <a:ext cx="5175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9"/>
          <p:cNvSpPr txBox="1"/>
          <p:nvPr/>
        </p:nvSpPr>
        <p:spPr>
          <a:xfrm>
            <a:off x="8114098" y="1963228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3" name="Google Shape;793;p69"/>
          <p:cNvCxnSpPr/>
          <p:nvPr/>
        </p:nvCxnSpPr>
        <p:spPr>
          <a:xfrm rot="10800000">
            <a:off x="7728747" y="1813300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4" name="Google Shape;794;p69"/>
          <p:cNvSpPr txBox="1"/>
          <p:nvPr/>
        </p:nvSpPr>
        <p:spPr>
          <a:xfrm>
            <a:off x="2349205" y="1765293"/>
            <a:ext cx="5175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9"/>
          <p:cNvSpPr txBox="1"/>
          <p:nvPr/>
        </p:nvSpPr>
        <p:spPr>
          <a:xfrm>
            <a:off x="3665280" y="1731893"/>
            <a:ext cx="5175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9"/>
          <p:cNvSpPr txBox="1"/>
          <p:nvPr/>
        </p:nvSpPr>
        <p:spPr>
          <a:xfrm>
            <a:off x="5665121" y="2683999"/>
            <a:ext cx="714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9"/>
          <p:cNvSpPr txBox="1"/>
          <p:nvPr/>
        </p:nvSpPr>
        <p:spPr>
          <a:xfrm>
            <a:off x="1589400" y="3451875"/>
            <a:ext cx="24807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It has got 4 cm longer in one direction and 10 cm longer in the other.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9"/>
          <p:cNvSpPr txBox="1"/>
          <p:nvPr/>
        </p:nvSpPr>
        <p:spPr>
          <a:xfrm>
            <a:off x="4611093" y="3420851"/>
            <a:ext cx="2210100" cy="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lengths of the image are 3 times the lengths of the object.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6663" y="3684696"/>
            <a:ext cx="672887" cy="867698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9"/>
          <p:cNvSpPr txBox="1"/>
          <p:nvPr/>
        </p:nvSpPr>
        <p:spPr>
          <a:xfrm>
            <a:off x="611226" y="4271775"/>
            <a:ext cx="6729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9"/>
          <p:cNvSpPr txBox="1"/>
          <p:nvPr/>
        </p:nvSpPr>
        <p:spPr>
          <a:xfrm>
            <a:off x="7378952" y="4555277"/>
            <a:ext cx="8583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2" name="Google Shape;80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575" y="3474348"/>
            <a:ext cx="642175" cy="84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1370549" y="3240000"/>
            <a:ext cx="2771451" cy="15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69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>
            <a:off x="4428600" y="3240000"/>
            <a:ext cx="2771451" cy="15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8" name="Shape 808"/>
        <p:cNvGrpSpPr/>
        <p:nvPr/>
      </p:nvGrpSpPr>
      <p:grpSpPr>
        <a:xfrm>
          <a:off x="0" y="0"/>
          <a:ext cx="0" cy="0"/>
        </a:xfrm>
      </p:grpSpPr>
      <p:sp>
        <p:nvSpPr>
          <p:cNvPr id="809" name="Google Shape;809;p70"/>
          <p:cNvSpPr txBox="1"/>
          <p:nvPr>
            <p:ph type="body" idx="1"/>
          </p:nvPr>
        </p:nvSpPr>
        <p:spPr>
          <a:xfrm>
            <a:off x="324000" y="759300"/>
            <a:ext cx="8237700" cy="91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A </a:t>
            </a:r>
            <a:r>
              <a:rPr lang="en-GB" sz="2000" b="1">
                <a:solidFill>
                  <a:srgbClr val="282828"/>
                </a:solidFill>
              </a:rPr>
              <a:t>scale factor </a:t>
            </a:r>
            <a:r>
              <a:rPr lang="en-GB" sz="2000">
                <a:solidFill>
                  <a:srgbClr val="282828"/>
                </a:solidFill>
              </a:rPr>
              <a:t>is</a:t>
            </a:r>
            <a:r>
              <a:rPr lang="en-GB" sz="2000" b="1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rgbClr val="282828"/>
                </a:solidFill>
              </a:rPr>
              <a:t>a </a:t>
            </a:r>
            <a:r>
              <a:rPr lang="en-GB" sz="2000">
                <a:solidFill>
                  <a:schemeClr val="accent4"/>
                </a:solidFill>
              </a:rPr>
              <a:t>multiplier</a:t>
            </a:r>
            <a:r>
              <a:rPr lang="en-GB" sz="2000">
                <a:solidFill>
                  <a:srgbClr val="282828"/>
                </a:solidFill>
              </a:rPr>
              <a:t> between similar shapes that describes how large one shape is compared to the other.</a:t>
            </a:r>
            <a:endParaRPr sz="2000"/>
          </a:p>
        </p:txBody>
      </p:sp>
      <p:sp>
        <p:nvSpPr>
          <p:cNvPr id="810" name="Google Shape;81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and finding scale factors</a:t>
            </a:r>
            <a:endParaRPr/>
          </a:p>
        </p:txBody>
      </p:sp>
      <p:sp>
        <p:nvSpPr>
          <p:cNvPr id="811" name="Google Shape;811;p70"/>
          <p:cNvSpPr/>
          <p:nvPr/>
        </p:nvSpPr>
        <p:spPr>
          <a:xfrm>
            <a:off x="2038426" y="1993222"/>
            <a:ext cx="1041300" cy="467700"/>
          </a:xfrm>
          <a:prstGeom prst="rect">
            <a:avLst/>
          </a:prstGeom>
          <a:solidFill>
            <a:srgbClr val="E1D6F6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2" name="Google Shape;812;p70"/>
          <p:cNvSpPr/>
          <p:nvPr/>
        </p:nvSpPr>
        <p:spPr>
          <a:xfrm>
            <a:off x="4286171" y="1989975"/>
            <a:ext cx="3123900" cy="1403100"/>
          </a:xfrm>
          <a:prstGeom prst="rect">
            <a:avLst/>
          </a:prstGeom>
          <a:solidFill>
            <a:srgbClr val="C1DEDF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3" name="Google Shape;813;p70"/>
          <p:cNvSpPr txBox="1"/>
          <p:nvPr/>
        </p:nvSpPr>
        <p:spPr>
          <a:xfrm>
            <a:off x="579925" y="2792828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4" name="Google Shape;814;p70"/>
          <p:cNvCxnSpPr/>
          <p:nvPr/>
        </p:nvCxnSpPr>
        <p:spPr>
          <a:xfrm rot="10800000" flipH="1">
            <a:off x="1321675" y="2610649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5" name="Google Shape;815;p70"/>
          <p:cNvCxnSpPr/>
          <p:nvPr/>
        </p:nvCxnSpPr>
        <p:spPr>
          <a:xfrm>
            <a:off x="2038426" y="2569495"/>
            <a:ext cx="1041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16" name="Google Shape;816;p70"/>
          <p:cNvCxnSpPr/>
          <p:nvPr/>
        </p:nvCxnSpPr>
        <p:spPr>
          <a:xfrm rot="10800000" flipH="1">
            <a:off x="1927977" y="1993222"/>
            <a:ext cx="0" cy="467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17" name="Google Shape;817;p70"/>
          <p:cNvCxnSpPr/>
          <p:nvPr/>
        </p:nvCxnSpPr>
        <p:spPr>
          <a:xfrm>
            <a:off x="4286171" y="3502852"/>
            <a:ext cx="3123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18" name="Google Shape;818;p70"/>
          <p:cNvCxnSpPr/>
          <p:nvPr/>
        </p:nvCxnSpPr>
        <p:spPr>
          <a:xfrm rot="10800000" flipH="1">
            <a:off x="4171721" y="1989975"/>
            <a:ext cx="0" cy="1403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19" name="Google Shape;819;p70"/>
          <p:cNvSpPr txBox="1"/>
          <p:nvPr/>
        </p:nvSpPr>
        <p:spPr>
          <a:xfrm>
            <a:off x="1389405" y="2078492"/>
            <a:ext cx="5175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0"/>
          <p:cNvSpPr txBox="1"/>
          <p:nvPr/>
        </p:nvSpPr>
        <p:spPr>
          <a:xfrm>
            <a:off x="8065223" y="2792828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1" name="Google Shape;821;p70"/>
          <p:cNvCxnSpPr/>
          <p:nvPr/>
        </p:nvCxnSpPr>
        <p:spPr>
          <a:xfrm rot="10800000">
            <a:off x="7679872" y="2642899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2" name="Google Shape;822;p70"/>
          <p:cNvSpPr txBox="1"/>
          <p:nvPr/>
        </p:nvSpPr>
        <p:spPr>
          <a:xfrm>
            <a:off x="2300330" y="2594892"/>
            <a:ext cx="5175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 txBox="1"/>
          <p:nvPr/>
        </p:nvSpPr>
        <p:spPr>
          <a:xfrm>
            <a:off x="3616405" y="2561492"/>
            <a:ext cx="5175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 txBox="1"/>
          <p:nvPr/>
        </p:nvSpPr>
        <p:spPr>
          <a:xfrm>
            <a:off x="5616247" y="3513598"/>
            <a:ext cx="714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 txBox="1"/>
          <p:nvPr>
            <p:ph type="body" idx="1"/>
          </p:nvPr>
        </p:nvSpPr>
        <p:spPr>
          <a:xfrm>
            <a:off x="324000" y="4074475"/>
            <a:ext cx="7611000" cy="70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An enlargement can be described by stating the </a:t>
            </a:r>
            <a:r>
              <a:rPr lang="en-GB" sz="2000" b="1">
                <a:solidFill>
                  <a:srgbClr val="282828"/>
                </a:solidFill>
              </a:rPr>
              <a:t>scale factor</a:t>
            </a:r>
            <a:r>
              <a:rPr lang="en-GB" sz="2000">
                <a:solidFill>
                  <a:srgbClr val="282828"/>
                </a:solidFill>
              </a:rPr>
              <a:t> from the object to the image.</a:t>
            </a:r>
            <a:endParaRPr sz="2000"/>
          </a:p>
        </p:txBody>
      </p:sp>
      <p:cxnSp>
        <p:nvCxnSpPr>
          <p:cNvPr id="826" name="Google Shape;826;p70"/>
          <p:cNvCxnSpPr>
            <a:stCxn id="819" idx="0"/>
            <a:endCxn id="823" idx="0"/>
          </p:cNvCxnSpPr>
          <p:nvPr/>
        </p:nvCxnSpPr>
        <p:spPr>
          <a:xfrm rot="-5400000" flipH="1">
            <a:off x="2520105" y="1206542"/>
            <a:ext cx="483000" cy="2226900"/>
          </a:xfrm>
          <a:prstGeom prst="curvedConnector3">
            <a:avLst>
              <a:gd name="adj1" fmla="val -49301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7" name="Google Shape;827;p70"/>
          <p:cNvCxnSpPr>
            <a:stCxn id="822" idx="2"/>
            <a:endCxn id="824" idx="1"/>
          </p:cNvCxnSpPr>
          <p:nvPr/>
        </p:nvCxnSpPr>
        <p:spPr>
          <a:xfrm rot="-5400000" flipH="1">
            <a:off x="3690080" y="1710492"/>
            <a:ext cx="795300" cy="3057300"/>
          </a:xfrm>
          <a:prstGeom prst="curvedConnector2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8" name="Google Shape;828;p70"/>
          <p:cNvSpPr txBox="1"/>
          <p:nvPr/>
        </p:nvSpPr>
        <p:spPr>
          <a:xfrm>
            <a:off x="3293400" y="3393087"/>
            <a:ext cx="4203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0"/>
          <p:cNvSpPr txBox="1"/>
          <p:nvPr/>
        </p:nvSpPr>
        <p:spPr>
          <a:xfrm>
            <a:off x="2348934" y="1546761"/>
            <a:ext cx="4203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3" name="Shape 833"/>
        <p:cNvGrpSpPr/>
        <p:nvPr/>
      </p:nvGrpSpPr>
      <p:grpSpPr>
        <a:xfrm>
          <a:off x="0" y="0"/>
          <a:ext cx="0" cy="0"/>
        </a:xfrm>
      </p:grpSpPr>
      <p:sp>
        <p:nvSpPr>
          <p:cNvPr id="834" name="Google Shape;834;p71"/>
          <p:cNvSpPr txBox="1"/>
          <p:nvPr>
            <p:ph type="body" idx="1"/>
          </p:nvPr>
        </p:nvSpPr>
        <p:spPr>
          <a:xfrm>
            <a:off x="324000" y="759300"/>
            <a:ext cx="8237700" cy="73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The </a:t>
            </a:r>
            <a:r>
              <a:rPr lang="en-GB" sz="2000" b="1">
                <a:solidFill>
                  <a:srgbClr val="282828"/>
                </a:solidFill>
              </a:rPr>
              <a:t>scale factor</a:t>
            </a:r>
            <a:r>
              <a:rPr lang="en-GB" sz="2000">
                <a:solidFill>
                  <a:srgbClr val="282828"/>
                </a:solidFill>
              </a:rPr>
              <a:t> can be calculated by dividing a length from the image by its corresponding length in the object.</a:t>
            </a:r>
            <a:endParaRPr sz="2000">
              <a:solidFill>
                <a:srgbClr val="282828"/>
              </a:solidFill>
            </a:endParaRPr>
          </a:p>
        </p:txBody>
      </p:sp>
      <p:sp>
        <p:nvSpPr>
          <p:cNvPr id="835" name="Google Shape;83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and finding scale factors</a:t>
            </a:r>
            <a:endParaRPr/>
          </a:p>
        </p:txBody>
      </p:sp>
      <p:sp>
        <p:nvSpPr>
          <p:cNvPr id="836" name="Google Shape;836;p71"/>
          <p:cNvSpPr/>
          <p:nvPr/>
        </p:nvSpPr>
        <p:spPr>
          <a:xfrm>
            <a:off x="2038426" y="2585743"/>
            <a:ext cx="1041300" cy="467700"/>
          </a:xfrm>
          <a:prstGeom prst="rect">
            <a:avLst/>
          </a:prstGeom>
          <a:solidFill>
            <a:srgbClr val="E1D6F6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37" name="Google Shape;837;p71"/>
          <p:cNvSpPr/>
          <p:nvPr/>
        </p:nvSpPr>
        <p:spPr>
          <a:xfrm>
            <a:off x="4286171" y="2582496"/>
            <a:ext cx="3123900" cy="1403100"/>
          </a:xfrm>
          <a:prstGeom prst="rect">
            <a:avLst/>
          </a:prstGeom>
          <a:solidFill>
            <a:srgbClr val="C1DEDF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38" name="Google Shape;838;p71"/>
          <p:cNvSpPr txBox="1"/>
          <p:nvPr/>
        </p:nvSpPr>
        <p:spPr>
          <a:xfrm>
            <a:off x="8047525" y="3385348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9" name="Google Shape;839;p71"/>
          <p:cNvCxnSpPr/>
          <p:nvPr/>
        </p:nvCxnSpPr>
        <p:spPr>
          <a:xfrm rot="10800000" flipH="1">
            <a:off x="1321675" y="3203170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0" name="Google Shape;840;p71"/>
          <p:cNvCxnSpPr/>
          <p:nvPr/>
        </p:nvCxnSpPr>
        <p:spPr>
          <a:xfrm>
            <a:off x="2038426" y="3162015"/>
            <a:ext cx="1041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41" name="Google Shape;841;p71"/>
          <p:cNvCxnSpPr/>
          <p:nvPr/>
        </p:nvCxnSpPr>
        <p:spPr>
          <a:xfrm rot="10800000" flipH="1">
            <a:off x="1927977" y="2585743"/>
            <a:ext cx="0" cy="467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42" name="Google Shape;842;p71"/>
          <p:cNvCxnSpPr/>
          <p:nvPr/>
        </p:nvCxnSpPr>
        <p:spPr>
          <a:xfrm>
            <a:off x="4286171" y="4095373"/>
            <a:ext cx="3123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43" name="Google Shape;843;p71"/>
          <p:cNvCxnSpPr/>
          <p:nvPr/>
        </p:nvCxnSpPr>
        <p:spPr>
          <a:xfrm rot="10800000" flipH="1">
            <a:off x="4171721" y="2582496"/>
            <a:ext cx="0" cy="1403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44" name="Google Shape;844;p71"/>
          <p:cNvSpPr txBox="1"/>
          <p:nvPr/>
        </p:nvSpPr>
        <p:spPr>
          <a:xfrm>
            <a:off x="1389405" y="2671013"/>
            <a:ext cx="5175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1"/>
          <p:cNvSpPr txBox="1"/>
          <p:nvPr/>
        </p:nvSpPr>
        <p:spPr>
          <a:xfrm>
            <a:off x="597623" y="3385348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6" name="Google Shape;846;p71"/>
          <p:cNvCxnSpPr/>
          <p:nvPr/>
        </p:nvCxnSpPr>
        <p:spPr>
          <a:xfrm rot="10800000">
            <a:off x="7679872" y="3235420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7" name="Google Shape;847;p71"/>
          <p:cNvSpPr txBox="1"/>
          <p:nvPr/>
        </p:nvSpPr>
        <p:spPr>
          <a:xfrm>
            <a:off x="2300330" y="3187413"/>
            <a:ext cx="5175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1"/>
          <p:cNvSpPr txBox="1"/>
          <p:nvPr/>
        </p:nvSpPr>
        <p:spPr>
          <a:xfrm>
            <a:off x="3616405" y="3154013"/>
            <a:ext cx="5175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1"/>
          <p:cNvSpPr txBox="1"/>
          <p:nvPr/>
        </p:nvSpPr>
        <p:spPr>
          <a:xfrm>
            <a:off x="5616247" y="4106119"/>
            <a:ext cx="714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0" name="Google Shape;850;p71"/>
          <p:cNvCxnSpPr>
            <a:stCxn id="844" idx="0"/>
            <a:endCxn id="848" idx="0"/>
          </p:cNvCxnSpPr>
          <p:nvPr/>
        </p:nvCxnSpPr>
        <p:spPr>
          <a:xfrm rot="-5400000" flipH="1">
            <a:off x="2520105" y="1799063"/>
            <a:ext cx="483000" cy="2226900"/>
          </a:xfrm>
          <a:prstGeom prst="curvedConnector3">
            <a:avLst>
              <a:gd name="adj1" fmla="val -49301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1" name="Google Shape;851;p71"/>
          <p:cNvCxnSpPr>
            <a:stCxn id="847" idx="2"/>
            <a:endCxn id="849" idx="1"/>
          </p:cNvCxnSpPr>
          <p:nvPr/>
        </p:nvCxnSpPr>
        <p:spPr>
          <a:xfrm rot="-5400000" flipH="1">
            <a:off x="3690080" y="2303013"/>
            <a:ext cx="795300" cy="3057300"/>
          </a:xfrm>
          <a:prstGeom prst="curvedConnector2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2" name="Google Shape;852;p71"/>
          <p:cNvSpPr txBox="1"/>
          <p:nvPr/>
        </p:nvSpPr>
        <p:spPr>
          <a:xfrm>
            <a:off x="363050" y="4417300"/>
            <a:ext cx="17706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scale factor = 3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3" name="Google Shape;853;p71" descr="&lt;math xmlns=&quot;http://www.w3.org/1998/Math/MathML&quot; display=&quot;block&quot; data-is-equatio=&quot;1&quot; data-latex=&quot;\begin{array}{l}6\div2\ =\ 3\end{array}&quot;&gt;&lt;mtable columnalign=&quot;left&quot; columnspacing=&quot;1em&quot; rowspacing=&quot;4pt&quot;&gt;&lt;mtr&gt;&lt;mtd&gt;&lt;mn&gt;6&lt;/mn&gt;&lt;mo&gt;÷&lt;/mo&gt;&lt;mn&gt;2&lt;/mn&gt;&lt;mtext&gt;&lt;/mtext&gt;&lt;mo&gt;=&lt;/mo&gt;&lt;mtext&gt;&lt;/mtext&gt;&lt;mn&gt;3&lt;/mn&gt;&lt;/mtd&gt;&lt;/mtr&gt;&lt;/mtable&gt;&lt;/math&gt;" title="1 lines Line 1: 6 divided by 2 equal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525" y="2195082"/>
            <a:ext cx="1098533" cy="191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71" descr="&lt;math xmlns=&quot;http://www.w3.org/1998/Math/MathML&quot; display=&quot;block&quot; data-is-equatio=&quot;1&quot; data-latex=&quot;\begin{array}{l}15\div5\ =\ 3\end{array}&quot;&gt;&lt;mtable columnalign=&quot;left&quot; columnspacing=&quot;1em&quot; rowspacing=&quot;4pt&quot;&gt;&lt;mtr&gt;&lt;mtd&gt;&lt;mn&gt;15&lt;/mn&gt;&lt;mo&gt;÷&lt;/mo&gt;&lt;mn&gt;5&lt;/mn&gt;&lt;mtext&gt;&lt;/mtext&gt;&lt;mo&gt;=&lt;/mo&gt;&lt;mtext&gt;&lt;/mtext&gt;&lt;mn&gt;3&lt;/mn&gt;&lt;/mtd&gt;&lt;/mtr&gt;&lt;/mtable&gt;&lt;/math&gt;" title="1 lines Line 1: 15 divided by 5 equals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3153" y="4097837"/>
            <a:ext cx="1214147" cy="19123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1"/>
          <p:cNvSpPr txBox="1"/>
          <p:nvPr>
            <p:ph type="body" idx="1"/>
          </p:nvPr>
        </p:nvSpPr>
        <p:spPr>
          <a:xfrm>
            <a:off x="324000" y="1597500"/>
            <a:ext cx="8237700" cy="31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The </a:t>
            </a:r>
            <a:r>
              <a:rPr lang="en-GB" sz="2000" b="1">
                <a:solidFill>
                  <a:srgbClr val="282828"/>
                </a:solidFill>
              </a:rPr>
              <a:t>scale factor</a:t>
            </a:r>
            <a:r>
              <a:rPr lang="en-GB" sz="2000">
                <a:solidFill>
                  <a:srgbClr val="282828"/>
                </a:solidFill>
              </a:rPr>
              <a:t> is the same for all pairs of corresponding lengths.</a:t>
            </a:r>
            <a:endParaRPr sz="2000">
              <a:solidFill>
                <a:srgbClr val="282828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9" name="Shape 859"/>
        <p:cNvGrpSpPr/>
        <p:nvPr/>
      </p:nvGrpSpPr>
      <p:grpSpPr>
        <a:xfrm>
          <a:off x="0" y="0"/>
          <a:ext cx="0" cy="0"/>
        </a:xfrm>
      </p:grpSpPr>
      <p:sp>
        <p:nvSpPr>
          <p:cNvPr id="860" name="Google Shape;860;p72"/>
          <p:cNvSpPr txBox="1"/>
          <p:nvPr>
            <p:ph type="body" idx="1"/>
          </p:nvPr>
        </p:nvSpPr>
        <p:spPr>
          <a:xfrm>
            <a:off x="324000" y="759300"/>
            <a:ext cx="8237700" cy="73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The </a:t>
            </a:r>
            <a:r>
              <a:rPr lang="en-GB" sz="2000" b="1">
                <a:solidFill>
                  <a:srgbClr val="282828"/>
                </a:solidFill>
              </a:rPr>
              <a:t>scale factor</a:t>
            </a:r>
            <a:r>
              <a:rPr lang="en-GB" sz="2000">
                <a:solidFill>
                  <a:srgbClr val="282828"/>
                </a:solidFill>
              </a:rPr>
              <a:t> can be calculated by dividing a length from the image by its corresponding length in the object.</a:t>
            </a:r>
            <a:endParaRPr sz="1800">
              <a:solidFill>
                <a:srgbClr val="282828"/>
              </a:solidFill>
            </a:endParaRPr>
          </a:p>
        </p:txBody>
      </p:sp>
      <p:sp>
        <p:nvSpPr>
          <p:cNvPr id="861" name="Google Shape;86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and finding scale factors</a:t>
            </a:r>
            <a:endParaRPr/>
          </a:p>
        </p:txBody>
      </p:sp>
      <p:sp>
        <p:nvSpPr>
          <p:cNvPr id="862" name="Google Shape;862;p72"/>
          <p:cNvSpPr/>
          <p:nvPr/>
        </p:nvSpPr>
        <p:spPr>
          <a:xfrm>
            <a:off x="2038426" y="2585743"/>
            <a:ext cx="1041300" cy="467700"/>
          </a:xfrm>
          <a:prstGeom prst="rect">
            <a:avLst/>
          </a:prstGeom>
          <a:solidFill>
            <a:srgbClr val="C1DEDF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63" name="Google Shape;863;p72"/>
          <p:cNvSpPr/>
          <p:nvPr/>
        </p:nvSpPr>
        <p:spPr>
          <a:xfrm>
            <a:off x="4286171" y="2582496"/>
            <a:ext cx="3123900" cy="1403100"/>
          </a:xfrm>
          <a:prstGeom prst="rect">
            <a:avLst/>
          </a:prstGeom>
          <a:solidFill>
            <a:srgbClr val="E1D6F6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64" name="Google Shape;864;p72"/>
          <p:cNvSpPr txBox="1"/>
          <p:nvPr/>
        </p:nvSpPr>
        <p:spPr>
          <a:xfrm>
            <a:off x="8047525" y="3385348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5" name="Google Shape;865;p72"/>
          <p:cNvCxnSpPr/>
          <p:nvPr/>
        </p:nvCxnSpPr>
        <p:spPr>
          <a:xfrm rot="10800000" flipH="1">
            <a:off x="1321675" y="3203170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6" name="Google Shape;866;p72"/>
          <p:cNvCxnSpPr/>
          <p:nvPr/>
        </p:nvCxnSpPr>
        <p:spPr>
          <a:xfrm>
            <a:off x="2038426" y="3162015"/>
            <a:ext cx="1041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67" name="Google Shape;867;p72"/>
          <p:cNvCxnSpPr/>
          <p:nvPr/>
        </p:nvCxnSpPr>
        <p:spPr>
          <a:xfrm rot="10800000" flipH="1">
            <a:off x="1927977" y="2585743"/>
            <a:ext cx="0" cy="467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68" name="Google Shape;868;p72"/>
          <p:cNvCxnSpPr/>
          <p:nvPr/>
        </p:nvCxnSpPr>
        <p:spPr>
          <a:xfrm>
            <a:off x="4286171" y="4095373"/>
            <a:ext cx="3123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69" name="Google Shape;869;p72"/>
          <p:cNvCxnSpPr/>
          <p:nvPr/>
        </p:nvCxnSpPr>
        <p:spPr>
          <a:xfrm rot="10800000" flipH="1">
            <a:off x="4171721" y="2582496"/>
            <a:ext cx="0" cy="1403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70" name="Google Shape;870;p72"/>
          <p:cNvSpPr txBox="1"/>
          <p:nvPr/>
        </p:nvSpPr>
        <p:spPr>
          <a:xfrm>
            <a:off x="1389405" y="2671013"/>
            <a:ext cx="5175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2"/>
          <p:cNvSpPr txBox="1"/>
          <p:nvPr/>
        </p:nvSpPr>
        <p:spPr>
          <a:xfrm>
            <a:off x="597623" y="3385348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2" name="Google Shape;872;p72"/>
          <p:cNvCxnSpPr/>
          <p:nvPr/>
        </p:nvCxnSpPr>
        <p:spPr>
          <a:xfrm rot="10800000">
            <a:off x="7679872" y="3235420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3" name="Google Shape;873;p72"/>
          <p:cNvSpPr txBox="1"/>
          <p:nvPr/>
        </p:nvSpPr>
        <p:spPr>
          <a:xfrm>
            <a:off x="2300330" y="3187413"/>
            <a:ext cx="5175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2"/>
          <p:cNvSpPr txBox="1"/>
          <p:nvPr/>
        </p:nvSpPr>
        <p:spPr>
          <a:xfrm>
            <a:off x="3616405" y="3154013"/>
            <a:ext cx="5175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2"/>
          <p:cNvSpPr txBox="1"/>
          <p:nvPr/>
        </p:nvSpPr>
        <p:spPr>
          <a:xfrm>
            <a:off x="5616247" y="4106119"/>
            <a:ext cx="714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6" name="Google Shape;876;p72"/>
          <p:cNvCxnSpPr>
            <a:stCxn id="870" idx="0"/>
            <a:endCxn id="874" idx="0"/>
          </p:cNvCxnSpPr>
          <p:nvPr/>
        </p:nvCxnSpPr>
        <p:spPr>
          <a:xfrm rot="-5400000" flipH="1">
            <a:off x="2520105" y="1799063"/>
            <a:ext cx="483000" cy="2226900"/>
          </a:xfrm>
          <a:prstGeom prst="curvedConnector3">
            <a:avLst>
              <a:gd name="adj1" fmla="val -49301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877" name="Google Shape;877;p72"/>
          <p:cNvCxnSpPr>
            <a:stCxn id="873" idx="2"/>
            <a:endCxn id="875" idx="1"/>
          </p:cNvCxnSpPr>
          <p:nvPr/>
        </p:nvCxnSpPr>
        <p:spPr>
          <a:xfrm rot="-5400000" flipH="1">
            <a:off x="3690080" y="2303013"/>
            <a:ext cx="795300" cy="3057300"/>
          </a:xfrm>
          <a:prstGeom prst="curvedConnector2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878" name="Google Shape;878;p72" descr="&lt;math xmlns=&quot;http://www.w3.org/1998/Math/MathML&quot; display=&quot;block&quot; data-is-equatio=&quot;1&quot; data-latex=&quot;\begin{array}{l}5\div15\ =\ \frac{1}{3}\end{array}&quot;&gt;&lt;mtable columnalign=&quot;left&quot; columnspacing=&quot;1em&quot; rowspacing=&quot;4pt&quot;&gt;&lt;mtr&gt;&lt;mtd&gt;&lt;mn&gt;5&lt;/mn&gt;&lt;mo&gt;÷&lt;/mo&gt;&lt;mn&gt;15&lt;/mn&gt;&lt;mtext&gt;&lt;/mtext&gt;&lt;mo&gt;=&lt;/mo&gt;&lt;mtext&gt;&lt;/mtext&gt;&lt;mfrac&gt;&lt;mn&gt;1&lt;/mn&gt;&lt;mn&gt;3&lt;/mn&gt;&lt;/mfrac&gt;&lt;/mtd&gt;&lt;/mtr&gt;&lt;/mtable&gt;&lt;/math&gt;" title="1 lines Line 1: 5 divided by 15 equal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577" y="4104950"/>
            <a:ext cx="1245875" cy="355339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2"/>
          <p:cNvSpPr txBox="1"/>
          <p:nvPr/>
        </p:nvSpPr>
        <p:spPr>
          <a:xfrm>
            <a:off x="363052" y="4310691"/>
            <a:ext cx="15438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scale factor =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0" name="Google Shape;880;p72" descr="&lt;math xmlns=&quot;http://www.w3.org/1998/Math/MathML&quot; display=&quot;block&quot; data-is-equatio=&quot;1&quot; data-latex=&quot;\begin{array}{l}\frac{1}{3}\end{array}&quot;&gt;&lt;mtable columnalign=&quot;left&quot; columnspacing=&quot;1em&quot; rowspacing=&quot;4pt&quot;&gt;&lt;mtr&gt;&lt;mtd&gt;&lt;mfrac&gt;&lt;mn&gt;1&lt;/mn&gt;&lt;mn&gt;3&lt;/mn&gt;&lt;/mfrac&gt;&lt;/mtd&gt;&lt;/mtr&gt;&lt;/mtable&gt;&lt;/math&gt;" title="1 lines Line 1: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7978" y="4213382"/>
            <a:ext cx="173993" cy="485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72" descr="&lt;math xmlns=&quot;http://www.w3.org/1998/Math/MathML&quot; display=&quot;block&quot; data-is-equatio=&quot;1&quot; data-latex=&quot;\begin{array}{l}2\div6\ =\ \frac{1}{3}\end{array}&quot;&gt;&lt;mtable columnalign=&quot;left&quot; columnspacing=&quot;1em&quot; rowspacing=&quot;4pt&quot;&gt;&lt;mtr&gt;&lt;mtd&gt;&lt;mn&gt;2&lt;/mn&gt;&lt;mo&gt;÷&lt;/mo&gt;&lt;mn&gt;6&lt;/mn&gt;&lt;mtext&gt;&lt;/mtext&gt;&lt;mo&gt;=&lt;/mo&gt;&lt;mtext&gt;&lt;/mtext&gt;&lt;mfrac&gt;&lt;mn&gt;1&lt;/mn&gt;&lt;mn&gt;3&lt;/mn&gt;&lt;/mfrac&gt;&lt;/mtd&gt;&lt;/mtr&gt;&lt;/mtable&gt;&lt;/math&gt;" title="1 lines Line 1: 2 divided by 6 equals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1125" y="2081576"/>
            <a:ext cx="1282667" cy="407425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2"/>
          <p:cNvSpPr txBox="1"/>
          <p:nvPr>
            <p:ph type="body" idx="1"/>
          </p:nvPr>
        </p:nvSpPr>
        <p:spPr>
          <a:xfrm>
            <a:off x="324000" y="1589628"/>
            <a:ext cx="8237700" cy="31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The </a:t>
            </a:r>
            <a:r>
              <a:rPr lang="en-GB" sz="2000" b="1">
                <a:solidFill>
                  <a:srgbClr val="282828"/>
                </a:solidFill>
              </a:rPr>
              <a:t>scale factor</a:t>
            </a:r>
            <a:r>
              <a:rPr lang="en-GB" sz="2000">
                <a:solidFill>
                  <a:srgbClr val="282828"/>
                </a:solidFill>
              </a:rPr>
              <a:t> can also be a fraction.</a:t>
            </a:r>
            <a:endParaRPr sz="2000">
              <a:solidFill>
                <a:srgbClr val="282828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6" name="Shape 886"/>
        <p:cNvGrpSpPr/>
        <p:nvPr/>
      </p:nvGrpSpPr>
      <p:grpSpPr>
        <a:xfrm>
          <a:off x="0" y="0"/>
          <a:ext cx="0" cy="0"/>
        </a:xfrm>
      </p:grpSpPr>
      <p:sp>
        <p:nvSpPr>
          <p:cNvPr id="887" name="Google Shape;887;p73"/>
          <p:cNvSpPr txBox="1"/>
          <p:nvPr>
            <p:ph type="body" idx="1"/>
          </p:nvPr>
        </p:nvSpPr>
        <p:spPr>
          <a:xfrm>
            <a:off x="324000" y="759300"/>
            <a:ext cx="82377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 the </a:t>
            </a:r>
            <a:r>
              <a:rPr lang="en-GB" b="1"/>
              <a:t>scale factor</a:t>
            </a:r>
            <a:r>
              <a:rPr lang="en-GB"/>
              <a:t> for the enlargement. </a:t>
            </a:r>
            <a:endParaRPr/>
          </a:p>
        </p:txBody>
      </p:sp>
      <p:sp>
        <p:nvSpPr>
          <p:cNvPr id="888" name="Google Shape;88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and finding scale factors</a:t>
            </a:r>
            <a:endParaRPr/>
          </a:p>
        </p:txBody>
      </p:sp>
      <p:sp>
        <p:nvSpPr>
          <p:cNvPr id="889" name="Google Shape;889;p73"/>
          <p:cNvSpPr/>
          <p:nvPr/>
        </p:nvSpPr>
        <p:spPr>
          <a:xfrm rot="10800000">
            <a:off x="1690177" y="1813493"/>
            <a:ext cx="837900" cy="628500"/>
          </a:xfrm>
          <a:prstGeom prst="trapezoid">
            <a:avLst>
              <a:gd name="adj" fmla="val 35734"/>
            </a:avLst>
          </a:prstGeom>
          <a:solidFill>
            <a:srgbClr val="E1D6F6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90" name="Google Shape;890;p73"/>
          <p:cNvSpPr/>
          <p:nvPr/>
        </p:nvSpPr>
        <p:spPr>
          <a:xfrm rot="10800000">
            <a:off x="4340757" y="1815673"/>
            <a:ext cx="3342600" cy="2507100"/>
          </a:xfrm>
          <a:prstGeom prst="trapezoid">
            <a:avLst>
              <a:gd name="adj" fmla="val 35734"/>
            </a:avLst>
          </a:prstGeom>
          <a:solidFill>
            <a:srgbClr val="C1DEDF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891" name="Google Shape;891;p73"/>
          <p:cNvCxnSpPr/>
          <p:nvPr/>
        </p:nvCxnSpPr>
        <p:spPr>
          <a:xfrm>
            <a:off x="1690177" y="1696476"/>
            <a:ext cx="846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92" name="Google Shape;892;p73"/>
          <p:cNvCxnSpPr/>
          <p:nvPr/>
        </p:nvCxnSpPr>
        <p:spPr>
          <a:xfrm>
            <a:off x="4340760" y="1698398"/>
            <a:ext cx="3342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93" name="Google Shape;893;p73"/>
          <p:cNvSpPr txBox="1"/>
          <p:nvPr/>
        </p:nvSpPr>
        <p:spPr>
          <a:xfrm>
            <a:off x="1734425" y="1373400"/>
            <a:ext cx="7494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units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3"/>
          <p:cNvSpPr txBox="1"/>
          <p:nvPr/>
        </p:nvSpPr>
        <p:spPr>
          <a:xfrm>
            <a:off x="5568500" y="1373400"/>
            <a:ext cx="887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 units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3"/>
          <p:cNvSpPr txBox="1"/>
          <p:nvPr/>
        </p:nvSpPr>
        <p:spPr>
          <a:xfrm>
            <a:off x="8047525" y="2759624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6" name="Google Shape;896;p73"/>
          <p:cNvCxnSpPr/>
          <p:nvPr/>
        </p:nvCxnSpPr>
        <p:spPr>
          <a:xfrm rot="10800000" flipH="1">
            <a:off x="1321675" y="2577446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7" name="Google Shape;897;p73"/>
          <p:cNvSpPr txBox="1"/>
          <p:nvPr/>
        </p:nvSpPr>
        <p:spPr>
          <a:xfrm>
            <a:off x="597623" y="2759624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8" name="Google Shape;898;p73"/>
          <p:cNvCxnSpPr/>
          <p:nvPr/>
        </p:nvCxnSpPr>
        <p:spPr>
          <a:xfrm rot="10800000">
            <a:off x="7679872" y="2609696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9" name="Google Shape;899;p73"/>
          <p:cNvSpPr txBox="1"/>
          <p:nvPr/>
        </p:nvSpPr>
        <p:spPr>
          <a:xfrm>
            <a:off x="481300" y="4051625"/>
            <a:ext cx="14481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scale factor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00" name="Google Shape;900;p73" descr="&lt;math xmlns=&quot;http://www.w3.org/1998/Math/MathML&quot; display=&quot;block&quot; data-is-equatio=&quot;1&quot; data-latex=&quot;\begin{array}{l}=20\div5\ =\ 4\end{array}&quot;&gt;&lt;mtable columnalign=&quot;left&quot; columnspacing=&quot;1em&quot; rowspacing=&quot;4pt&quot;&gt;&lt;mtr&gt;&lt;mtd&gt;&lt;mo&gt;=&lt;/mo&gt;&lt;mn&gt;20&lt;/mn&gt;&lt;mo&gt;÷&lt;/mo&gt;&lt;mn&gt;5&lt;/mn&gt;&lt;mtext&gt;&lt;/mtext&gt;&lt;mo&gt;=&lt;/mo&gt;&lt;mtext&gt;&lt;/mtext&gt;&lt;mn&gt;4&lt;/mn&gt;&lt;/mtd&gt;&lt;/mtr&gt;&lt;/mtable&gt;&lt;/math&gt;" title="1 lines Line 1: equals 20 divided by 5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2800" y="4118675"/>
            <a:ext cx="1636821" cy="2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4" name="Shape 904"/>
        <p:cNvGrpSpPr/>
        <p:nvPr/>
      </p:nvGrpSpPr>
      <p:grpSpPr>
        <a:xfrm>
          <a:off x="0" y="0"/>
          <a:ext cx="0" cy="0"/>
        </a:xfrm>
      </p:grpSpPr>
      <p:sp>
        <p:nvSpPr>
          <p:cNvPr id="905" name="Google Shape;905;p74"/>
          <p:cNvSpPr txBox="1"/>
          <p:nvPr>
            <p:ph type="body" idx="1"/>
          </p:nvPr>
        </p:nvSpPr>
        <p:spPr>
          <a:xfrm>
            <a:off x="324000" y="759300"/>
            <a:ext cx="8237700" cy="38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 the </a:t>
            </a:r>
            <a:r>
              <a:rPr lang="en-GB" b="1"/>
              <a:t>scale factor</a:t>
            </a:r>
            <a:r>
              <a:rPr lang="en-GB"/>
              <a:t> for the enlargement. </a:t>
            </a:r>
            <a:endParaRPr/>
          </a:p>
        </p:txBody>
      </p:sp>
      <p:sp>
        <p:nvSpPr>
          <p:cNvPr id="906" name="Google Shape;90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and finding scale factors</a:t>
            </a:r>
            <a:endParaRPr/>
          </a:p>
        </p:txBody>
      </p:sp>
      <p:sp>
        <p:nvSpPr>
          <p:cNvPr id="907" name="Google Shape;907;p74"/>
          <p:cNvSpPr/>
          <p:nvPr/>
        </p:nvSpPr>
        <p:spPr>
          <a:xfrm rot="-2886710">
            <a:off x="6048184" y="1907423"/>
            <a:ext cx="1328633" cy="1328633"/>
          </a:xfrm>
          <a:prstGeom prst="pie">
            <a:avLst>
              <a:gd name="adj1" fmla="val 5404823"/>
              <a:gd name="adj2" fmla="val 16200000"/>
            </a:avLst>
          </a:prstGeom>
          <a:solidFill>
            <a:srgbClr val="C1DEDF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08" name="Google Shape;908;p74"/>
          <p:cNvSpPr/>
          <p:nvPr/>
        </p:nvSpPr>
        <p:spPr>
          <a:xfrm rot="-2887014">
            <a:off x="1373697" y="1144699"/>
            <a:ext cx="2699768" cy="2699768"/>
          </a:xfrm>
          <a:prstGeom prst="pie">
            <a:avLst>
              <a:gd name="adj1" fmla="val 5404823"/>
              <a:gd name="adj2" fmla="val 16200000"/>
            </a:avLst>
          </a:prstGeom>
          <a:solidFill>
            <a:srgbClr val="E1D6F6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909" name="Google Shape;909;p74"/>
          <p:cNvCxnSpPr/>
          <p:nvPr/>
        </p:nvCxnSpPr>
        <p:spPr>
          <a:xfrm>
            <a:off x="1804960" y="1501933"/>
            <a:ext cx="2016900" cy="1806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10" name="Google Shape;910;p74"/>
          <p:cNvSpPr txBox="1"/>
          <p:nvPr/>
        </p:nvSpPr>
        <p:spPr>
          <a:xfrm>
            <a:off x="2701850" y="2036700"/>
            <a:ext cx="9099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units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1" name="Google Shape;911;p74"/>
          <p:cNvCxnSpPr/>
          <p:nvPr/>
        </p:nvCxnSpPr>
        <p:spPr>
          <a:xfrm>
            <a:off x="6301076" y="2039410"/>
            <a:ext cx="976800" cy="882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12" name="Google Shape;912;p74"/>
          <p:cNvSpPr txBox="1"/>
          <p:nvPr/>
        </p:nvSpPr>
        <p:spPr>
          <a:xfrm>
            <a:off x="6793825" y="2194475"/>
            <a:ext cx="9099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units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4"/>
          <p:cNvSpPr txBox="1"/>
          <p:nvPr/>
        </p:nvSpPr>
        <p:spPr>
          <a:xfrm>
            <a:off x="5202300" y="3462299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4" name="Google Shape;914;p74"/>
          <p:cNvCxnSpPr/>
          <p:nvPr/>
        </p:nvCxnSpPr>
        <p:spPr>
          <a:xfrm rot="10800000" flipH="1">
            <a:off x="1067250" y="3280121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5" name="Google Shape;915;p74"/>
          <p:cNvSpPr txBox="1"/>
          <p:nvPr/>
        </p:nvSpPr>
        <p:spPr>
          <a:xfrm>
            <a:off x="343198" y="3462299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6" name="Google Shape;916;p74"/>
          <p:cNvCxnSpPr/>
          <p:nvPr/>
        </p:nvCxnSpPr>
        <p:spPr>
          <a:xfrm rot="10800000" flipH="1">
            <a:off x="5906428" y="3280121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7" name="Google Shape;917;p74"/>
          <p:cNvSpPr txBox="1"/>
          <p:nvPr/>
        </p:nvSpPr>
        <p:spPr>
          <a:xfrm>
            <a:off x="481300" y="4372551"/>
            <a:ext cx="17706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scale factor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18" name="Google Shape;918;p74" descr="&lt;math xmlns=&quot;http://www.w3.org/1998/Math/MathML&quot; display=&quot;block&quot; data-is-equatio=&quot;1&quot; data-latex=&quot;\begin{array}{l}=4\div8\ =\ \frac{4}{8}=\frac{1}{2}\end{array}&quot;&gt;&lt;mtable columnalign=&quot;left&quot; columnspacing=&quot;1em&quot; rowspacing=&quot;4pt&quot;&gt;&lt;mtr&gt;&lt;mtd&gt;&lt;mo&gt;=&lt;/mo&gt;&lt;mn&gt;4&lt;/mn&gt;&lt;mo&gt;÷&lt;/mo&gt;&lt;mn&gt;8&lt;/mn&gt;&lt;mtext&gt;&lt;/mtext&gt;&lt;mo&gt;=&lt;/mo&gt;&lt;mtext&gt;&lt;/mtext&gt;&lt;mfrac&gt;&lt;mn&gt;4&lt;/mn&gt;&lt;mn&gt;8&lt;/mn&gt;&lt;/mfrac&gt;&lt;mo&gt;=&lt;/mo&gt;&lt;mfrac&gt;&lt;mn&gt;1&lt;/mn&gt;&lt;mn&gt;2&lt;/mn&gt;&lt;/mfrac&gt;&lt;/mtd&gt;&lt;/mtr&gt;&lt;/mtable&gt;&lt;/math&gt;" title="1 lines Line 1: equals 4 divided by 8 equals four eighths equals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8327" y="4345675"/>
            <a:ext cx="2225990" cy="42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2" name="Shape 922"/>
        <p:cNvGrpSpPr/>
        <p:nvPr/>
      </p:nvGrpSpPr>
      <p:grpSpPr>
        <a:xfrm>
          <a:off x="0" y="0"/>
          <a:ext cx="0" cy="0"/>
        </a:xfrm>
      </p:grpSpPr>
      <p:sp>
        <p:nvSpPr>
          <p:cNvPr id="923" name="Google Shape;923;p75"/>
          <p:cNvSpPr txBox="1"/>
          <p:nvPr>
            <p:ph type="body" idx="1"/>
          </p:nvPr>
        </p:nvSpPr>
        <p:spPr>
          <a:xfrm>
            <a:off x="324000" y="759300"/>
            <a:ext cx="8237700" cy="7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The </a:t>
            </a:r>
            <a:r>
              <a:rPr lang="en-GB" sz="2000" b="1">
                <a:solidFill>
                  <a:srgbClr val="282828"/>
                </a:solidFill>
              </a:rPr>
              <a:t>scale factor</a:t>
            </a:r>
            <a:r>
              <a:rPr lang="en-GB" sz="2000">
                <a:solidFill>
                  <a:srgbClr val="282828"/>
                </a:solidFill>
              </a:rPr>
              <a:t> for an enlargement can be used to calculate missing lengths in the image. </a:t>
            </a:r>
            <a:endParaRPr sz="2000">
              <a:solidFill>
                <a:srgbClr val="282828"/>
              </a:solidFill>
            </a:endParaRPr>
          </a:p>
        </p:txBody>
      </p:sp>
      <p:sp>
        <p:nvSpPr>
          <p:cNvPr id="924" name="Google Shape;92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and finding scale factors</a:t>
            </a:r>
            <a:endParaRPr/>
          </a:p>
        </p:txBody>
      </p:sp>
      <p:sp>
        <p:nvSpPr>
          <p:cNvPr id="925" name="Google Shape;925;p75"/>
          <p:cNvSpPr/>
          <p:nvPr/>
        </p:nvSpPr>
        <p:spPr>
          <a:xfrm flipH="1">
            <a:off x="989876" y="2152221"/>
            <a:ext cx="1434300" cy="613500"/>
          </a:xfrm>
          <a:prstGeom prst="parallelogram">
            <a:avLst>
              <a:gd name="adj" fmla="val 126023"/>
            </a:avLst>
          </a:prstGeom>
          <a:solidFill>
            <a:srgbClr val="E1D6F6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26" name="Google Shape;926;p75"/>
          <p:cNvSpPr/>
          <p:nvPr/>
        </p:nvSpPr>
        <p:spPr>
          <a:xfrm flipH="1">
            <a:off x="3713619" y="2141471"/>
            <a:ext cx="4302900" cy="1840500"/>
          </a:xfrm>
          <a:prstGeom prst="parallelogram">
            <a:avLst>
              <a:gd name="adj" fmla="val 126023"/>
            </a:avLst>
          </a:prstGeom>
          <a:solidFill>
            <a:srgbClr val="C1DEDF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927" name="Google Shape;927;p75"/>
          <p:cNvCxnSpPr/>
          <p:nvPr/>
        </p:nvCxnSpPr>
        <p:spPr>
          <a:xfrm>
            <a:off x="1806860" y="2141483"/>
            <a:ext cx="758700" cy="608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28" name="Google Shape;928;p75"/>
          <p:cNvCxnSpPr/>
          <p:nvPr/>
        </p:nvCxnSpPr>
        <p:spPr>
          <a:xfrm>
            <a:off x="5823289" y="2126085"/>
            <a:ext cx="2310900" cy="1843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29" name="Google Shape;929;p75"/>
          <p:cNvCxnSpPr/>
          <p:nvPr/>
        </p:nvCxnSpPr>
        <p:spPr>
          <a:xfrm rot="10800000" flipH="1">
            <a:off x="1765785" y="2874110"/>
            <a:ext cx="669000" cy="1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30" name="Google Shape;930;p75"/>
          <p:cNvCxnSpPr/>
          <p:nvPr/>
        </p:nvCxnSpPr>
        <p:spPr>
          <a:xfrm>
            <a:off x="6036684" y="4086508"/>
            <a:ext cx="1978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31" name="Google Shape;931;p75"/>
          <p:cNvSpPr txBox="1"/>
          <p:nvPr/>
        </p:nvSpPr>
        <p:spPr>
          <a:xfrm>
            <a:off x="1865972" y="2938425"/>
            <a:ext cx="4989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5"/>
          <p:cNvSpPr txBox="1"/>
          <p:nvPr/>
        </p:nvSpPr>
        <p:spPr>
          <a:xfrm>
            <a:off x="2211847" y="2212839"/>
            <a:ext cx="4989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5"/>
          <p:cNvSpPr txBox="1"/>
          <p:nvPr/>
        </p:nvSpPr>
        <p:spPr>
          <a:xfrm>
            <a:off x="6750775" y="4086500"/>
            <a:ext cx="6690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5"/>
          <p:cNvSpPr txBox="1"/>
          <p:nvPr/>
        </p:nvSpPr>
        <p:spPr>
          <a:xfrm>
            <a:off x="709399" y="3932400"/>
            <a:ext cx="14715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scale factor 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5" name="Google Shape;935;p75"/>
          <p:cNvSpPr txBox="1"/>
          <p:nvPr/>
        </p:nvSpPr>
        <p:spPr>
          <a:xfrm>
            <a:off x="368776" y="4385600"/>
            <a:ext cx="18120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missing length  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6" name="Google Shape;936;p75"/>
          <p:cNvSpPr txBox="1"/>
          <p:nvPr/>
        </p:nvSpPr>
        <p:spPr>
          <a:xfrm>
            <a:off x="7909692" y="2395499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7" name="Google Shape;937;p75"/>
          <p:cNvCxnSpPr/>
          <p:nvPr/>
        </p:nvCxnSpPr>
        <p:spPr>
          <a:xfrm rot="10800000" flipH="1">
            <a:off x="1067250" y="2670521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8" name="Google Shape;938;p75"/>
          <p:cNvSpPr txBox="1"/>
          <p:nvPr/>
        </p:nvSpPr>
        <p:spPr>
          <a:xfrm>
            <a:off x="343198" y="2852699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9" name="Google Shape;939;p75"/>
          <p:cNvCxnSpPr/>
          <p:nvPr/>
        </p:nvCxnSpPr>
        <p:spPr>
          <a:xfrm rot="10800000" flipH="1">
            <a:off x="7506628" y="2594321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0" name="Google Shape;940;p75"/>
          <p:cNvCxnSpPr>
            <a:stCxn id="933" idx="1"/>
            <a:endCxn id="931" idx="3"/>
          </p:cNvCxnSpPr>
          <p:nvPr/>
        </p:nvCxnSpPr>
        <p:spPr>
          <a:xfrm rot="10800000">
            <a:off x="2364775" y="3061700"/>
            <a:ext cx="4386000" cy="1148100"/>
          </a:xfrm>
          <a:prstGeom prst="curvedConnector3">
            <a:avLst>
              <a:gd name="adj1" fmla="val 49999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41" name="Google Shape;941;p75"/>
          <p:cNvCxnSpPr>
            <a:stCxn id="942" idx="0"/>
            <a:endCxn id="932" idx="0"/>
          </p:cNvCxnSpPr>
          <p:nvPr/>
        </p:nvCxnSpPr>
        <p:spPr>
          <a:xfrm rot="5400000" flipH="1">
            <a:off x="4464325" y="209650"/>
            <a:ext cx="465300" cy="4471500"/>
          </a:xfrm>
          <a:prstGeom prst="curvedConnector3">
            <a:avLst>
              <a:gd name="adj1" fmla="val 151158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43" name="Google Shape;943;p75"/>
          <p:cNvSpPr txBox="1"/>
          <p:nvPr/>
        </p:nvSpPr>
        <p:spPr>
          <a:xfrm>
            <a:off x="3451269" y="1671339"/>
            <a:ext cx="4989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4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44" name="Google Shape;944;p75" descr="&lt;math xmlns=&quot;http://www.w3.org/1998/Math/MathML&quot; display=&quot;block&quot; data-is-equatio=&quot;1&quot; data-latex=&quot;=8\ \div2\ =4&quot;&gt;&lt;mo&gt;=&lt;/mo&gt;&lt;mn&gt;8&lt;/mn&gt;&lt;mtext&gt;&lt;/mtext&gt;&lt;mo&gt;÷&lt;/mo&gt;&lt;mn&gt;2&lt;/mn&gt;&lt;mtext&gt;&lt;/mtext&gt;&lt;mo&gt;=&lt;/mo&gt;&lt;mn&gt;4&lt;/mn&gt;&lt;/math&gt;" title="equals 8 division sign 2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126" y="3977252"/>
            <a:ext cx="1620673" cy="22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75" descr="&lt;math xmlns=&quot;http://www.w3.org/1998/Math/MathML&quot; display=&quot;block&quot; data-is-equatio=&quot;1&quot; data-latex=&quot;=6\ \times4\ =24&quot;&gt;&lt;mo&gt;=&lt;/mo&gt;&lt;mn&gt;6&lt;/mn&gt;&lt;mtext&gt;&lt;/mtext&gt;&lt;mo&gt;×&lt;/mo&gt;&lt;mn&gt;4&lt;/mn&gt;&lt;mtext&gt;&lt;/mtext&gt;&lt;mo&gt;=&lt;/mo&gt;&lt;mn&gt;24&lt;/mn&gt;&lt;/math&gt;" title="equals 6 times 4 equals 24"/>
          <p:cNvPicPr preferRelativeResize="0"/>
          <p:nvPr/>
        </p:nvPicPr>
        <p:blipFill>
          <a:blip r:embed="rId4">
            <a:alphaModFix/>
          </a:blip>
          <a:srcRect r="34713"/>
          <a:stretch>
            <a:fillRect/>
          </a:stretch>
        </p:blipFill>
        <p:spPr>
          <a:xfrm>
            <a:off x="2274475" y="4443325"/>
            <a:ext cx="1126774" cy="21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75" descr="&lt;math xmlns=&quot;http://www.w3.org/1998/Math/MathML&quot; display=&quot;block&quot; data-is-equatio=&quot;1&quot; data-latex=&quot;=6\ \times4\ =24&quot;&gt;&lt;mo&gt;=&lt;/mo&gt;&lt;mn&gt;6&lt;/mn&gt;&lt;mtext&gt;&lt;/mtext&gt;&lt;mo&gt;×&lt;/mo&gt;&lt;mn&gt;4&lt;/mn&gt;&lt;mtext&gt;&lt;/mtext&gt;&lt;mo&gt;=&lt;/mo&gt;&lt;mn&gt;24&lt;/mn&gt;&lt;/math&gt;" title="equals 6 times 4 equals 24"/>
          <p:cNvPicPr preferRelativeResize="0"/>
          <p:nvPr/>
        </p:nvPicPr>
        <p:blipFill>
          <a:blip r:embed="rId4">
            <a:alphaModFix/>
          </a:blip>
          <a:srcRect l="65286"/>
          <a:stretch>
            <a:fillRect/>
          </a:stretch>
        </p:blipFill>
        <p:spPr>
          <a:xfrm>
            <a:off x="3451275" y="4443325"/>
            <a:ext cx="599125" cy="21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75" descr="&lt;math xmlns=&quot;http://www.w3.org/1998/Math/MathML&quot; display=&quot;block&quot; data-is-equatio=&quot;1&quot; data-latex=&quot;cm&quot;&gt;&lt;mi&gt;c&lt;/mi&gt;&lt;mi&gt;m&lt;/mi&gt;&lt;/math&gt;" title="c m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2425" y="4535650"/>
            <a:ext cx="303750" cy="13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75" descr="&lt;math xmlns=&quot;http://www.w3.org/1998/Math/MathML&quot; display=&quot;block&quot; data-is-equatio=&quot;1&quot; data-latex=&quot;x&quot;&gt;&lt;mi&gt;x&lt;/mi&gt;&lt;/math&gt;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1825" y="2678050"/>
            <a:ext cx="161800" cy="1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75"/>
          <p:cNvSpPr txBox="1"/>
          <p:nvPr/>
        </p:nvSpPr>
        <p:spPr>
          <a:xfrm>
            <a:off x="3369594" y="3272189"/>
            <a:ext cx="4989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4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2" name="Shape 952"/>
        <p:cNvGrpSpPr/>
        <p:nvPr/>
      </p:nvGrpSpPr>
      <p:grpSpPr>
        <a:xfrm>
          <a:off x="0" y="0"/>
          <a:ext cx="0" cy="0"/>
        </a:xfrm>
      </p:grpSpPr>
      <p:sp>
        <p:nvSpPr>
          <p:cNvPr id="953" name="Google Shape;95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and finding scale factors</a:t>
            </a:r>
            <a:endParaRPr/>
          </a:p>
        </p:txBody>
      </p:sp>
      <p:sp>
        <p:nvSpPr>
          <p:cNvPr id="954" name="Google Shape;954;p76"/>
          <p:cNvSpPr txBox="1"/>
          <p:nvPr>
            <p:ph type="body" idx="1"/>
          </p:nvPr>
        </p:nvSpPr>
        <p:spPr>
          <a:xfrm>
            <a:off x="324000" y="759300"/>
            <a:ext cx="8237700" cy="7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The </a:t>
            </a:r>
            <a:r>
              <a:rPr lang="en-GB" sz="2000" b="1">
                <a:solidFill>
                  <a:srgbClr val="282828"/>
                </a:solidFill>
              </a:rPr>
              <a:t>scale factor</a:t>
            </a:r>
            <a:r>
              <a:rPr lang="en-GB" sz="2000">
                <a:solidFill>
                  <a:srgbClr val="282828"/>
                </a:solidFill>
              </a:rPr>
              <a:t> for an enlargement can be used to calculate missing lengths in the image. </a:t>
            </a:r>
            <a:endParaRPr sz="2000">
              <a:solidFill>
                <a:srgbClr val="282828"/>
              </a:solidFill>
            </a:endParaRPr>
          </a:p>
        </p:txBody>
      </p:sp>
      <p:sp>
        <p:nvSpPr>
          <p:cNvPr id="955" name="Google Shape;955;p76"/>
          <p:cNvSpPr/>
          <p:nvPr/>
        </p:nvSpPr>
        <p:spPr>
          <a:xfrm rot="-8645086" flipH="1">
            <a:off x="1984096" y="2286804"/>
            <a:ext cx="957913" cy="701198"/>
          </a:xfrm>
          <a:prstGeom prst="rtTriangle">
            <a:avLst/>
          </a:prstGeom>
          <a:solidFill>
            <a:srgbClr val="C1DEDF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6" name="Google Shape;956;p76"/>
          <p:cNvSpPr/>
          <p:nvPr/>
        </p:nvSpPr>
        <p:spPr>
          <a:xfrm rot="-8607677" flipH="1">
            <a:off x="5423978" y="2653975"/>
            <a:ext cx="2595043" cy="1898913"/>
          </a:xfrm>
          <a:prstGeom prst="rtTriangle">
            <a:avLst/>
          </a:prstGeom>
          <a:solidFill>
            <a:srgbClr val="E1D6F6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957" name="Google Shape;957;p76"/>
          <p:cNvCxnSpPr/>
          <p:nvPr/>
        </p:nvCxnSpPr>
        <p:spPr>
          <a:xfrm rot="-8645086">
            <a:off x="2279131" y="2230523"/>
            <a:ext cx="957913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58" name="Google Shape;958;p76"/>
          <p:cNvCxnSpPr/>
          <p:nvPr/>
        </p:nvCxnSpPr>
        <p:spPr>
          <a:xfrm rot="10800000" flipH="1">
            <a:off x="1962128" y="1919927"/>
            <a:ext cx="0" cy="66632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59" name="Google Shape;959;p76"/>
          <p:cNvCxnSpPr/>
          <p:nvPr/>
        </p:nvCxnSpPr>
        <p:spPr>
          <a:xfrm rot="2154914" flipH="1">
            <a:off x="2007409" y="2433695"/>
            <a:ext cx="957913" cy="70119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60" name="Google Shape;960;p76"/>
          <p:cNvCxnSpPr/>
          <p:nvPr/>
        </p:nvCxnSpPr>
        <p:spPr>
          <a:xfrm rot="-8607677">
            <a:off x="6079894" y="2718231"/>
            <a:ext cx="2595043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61" name="Google Shape;961;p76"/>
          <p:cNvCxnSpPr/>
          <p:nvPr/>
        </p:nvCxnSpPr>
        <p:spPr>
          <a:xfrm rot="2192323" flipH="1">
            <a:off x="5436777" y="2852980"/>
            <a:ext cx="2595043" cy="189891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62" name="Google Shape;962;p76"/>
          <p:cNvSpPr txBox="1"/>
          <p:nvPr/>
        </p:nvSpPr>
        <p:spPr>
          <a:xfrm>
            <a:off x="2793282" y="2017888"/>
            <a:ext cx="4989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6"/>
          <p:cNvSpPr txBox="1"/>
          <p:nvPr/>
        </p:nvSpPr>
        <p:spPr>
          <a:xfrm>
            <a:off x="1454332" y="2017893"/>
            <a:ext cx="4989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6"/>
          <p:cNvSpPr txBox="1"/>
          <p:nvPr/>
        </p:nvSpPr>
        <p:spPr>
          <a:xfrm>
            <a:off x="7419916" y="2415220"/>
            <a:ext cx="6234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6"/>
          <p:cNvSpPr txBox="1"/>
          <p:nvPr/>
        </p:nvSpPr>
        <p:spPr>
          <a:xfrm>
            <a:off x="6361088" y="3858413"/>
            <a:ext cx="711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15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6"/>
          <p:cNvSpPr txBox="1"/>
          <p:nvPr/>
        </p:nvSpPr>
        <p:spPr>
          <a:xfrm>
            <a:off x="4284120" y="2769350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7" name="Google Shape;967;p76"/>
          <p:cNvCxnSpPr/>
          <p:nvPr/>
        </p:nvCxnSpPr>
        <p:spPr>
          <a:xfrm rot="10800000" flipH="1">
            <a:off x="1198165" y="2680459"/>
            <a:ext cx="434700" cy="121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8" name="Google Shape;968;p76"/>
          <p:cNvSpPr txBox="1"/>
          <p:nvPr/>
        </p:nvSpPr>
        <p:spPr>
          <a:xfrm>
            <a:off x="474113" y="2693138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9" name="Google Shape;969;p76"/>
          <p:cNvCxnSpPr>
            <a:endCxn id="966" idx="3"/>
          </p:cNvCxnSpPr>
          <p:nvPr/>
        </p:nvCxnSpPr>
        <p:spPr>
          <a:xfrm flipH="1">
            <a:off x="5033520" y="2800400"/>
            <a:ext cx="405300" cy="127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0" name="Google Shape;970;p76"/>
          <p:cNvSpPr txBox="1"/>
          <p:nvPr/>
        </p:nvSpPr>
        <p:spPr>
          <a:xfrm>
            <a:off x="709399" y="3551400"/>
            <a:ext cx="1448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scale factor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1" name="Google Shape;971;p76"/>
          <p:cNvSpPr txBox="1"/>
          <p:nvPr/>
        </p:nvSpPr>
        <p:spPr>
          <a:xfrm>
            <a:off x="368776" y="4316562"/>
            <a:ext cx="18300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missing length  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72" name="Google Shape;972;p76"/>
          <p:cNvCxnSpPr>
            <a:stCxn id="962" idx="0"/>
            <a:endCxn id="964" idx="0"/>
          </p:cNvCxnSpPr>
          <p:nvPr/>
        </p:nvCxnSpPr>
        <p:spPr>
          <a:xfrm rot="-5400000" flipH="1">
            <a:off x="5188632" y="-128012"/>
            <a:ext cx="397200" cy="4689000"/>
          </a:xfrm>
          <a:prstGeom prst="curvedConnector3">
            <a:avLst>
              <a:gd name="adj1" fmla="val -59951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973" name="Google Shape;973;p76" descr="&lt;math xmlns=&quot;http://www.w3.org/1998/Math/MathML&quot; display=&quot;block&quot; data-is-equatio=&quot;1&quot; data-latex=&quot;=15\ \times\frac{1}{3}=\ 5\ cm&quot;&gt;&lt;mo&gt;=&lt;/mo&gt;&lt;mn&gt;15&lt;/mn&gt;&lt;mtext&gt;&lt;/mtext&gt;&lt;mo&gt;×&lt;/mo&gt;&lt;mfrac&gt;&lt;mn&gt;1&lt;/mn&gt;&lt;mn&gt;3&lt;/mn&gt;&lt;/mfrac&gt;&lt;mo&gt;=&lt;/mo&gt;&lt;mtext&gt;&lt;/mtext&gt;&lt;mn&gt;5&lt;/mn&gt;&lt;mtext&gt;&lt;/mtext&gt;&lt;mi&gt;c&lt;/mi&gt;&lt;mi&gt;m&lt;/mi&gt;&lt;/math&gt;" title="equals 15 times one third equals 5 c m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8405" y="4187993"/>
            <a:ext cx="220241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76" descr="&lt;math xmlns=&quot;http://www.w3.org/1998/Math/MathML&quot; display=&quot;block&quot; data-is-equatio=&quot;1&quot; data-latex=&quot;=4\ \div12\ =\frac{1}{3}&quot;&gt;&lt;mo&gt;=&lt;/mo&gt;&lt;mn&gt;4&lt;/mn&gt;&lt;mtext&gt;&lt;/mtext&gt;&lt;mo&gt;÷&lt;/mo&gt;&lt;mn&gt;12&lt;/mn&gt;&lt;mtext&gt;&lt;/mtext&gt;&lt;mo&gt;=&lt;/mo&gt;&lt;mfrac&gt;&lt;mn&gt;1&lt;/mn&gt;&lt;mn&gt;3&lt;/mn&gt;&lt;/mfrac&gt;&lt;/math&gt;" title="equals 4 division sign 12 equals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3314" y="3444900"/>
            <a:ext cx="1747808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76" descr="&lt;math xmlns=&quot;http://www.w3.org/1998/Math/MathML&quot; display=&quot;block&quot; data-is-equatio=&quot;1&quot; data-latex=&quot;x&quot;&gt;&lt;mi&gt;x&lt;/mi&gt;&lt;/math&gt;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6025" y="2830450"/>
            <a:ext cx="161800" cy="1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9" name="Shape 979"/>
        <p:cNvGrpSpPr/>
        <p:nvPr/>
      </p:nvGrpSpPr>
      <p:grpSpPr>
        <a:xfrm>
          <a:off x="0" y="0"/>
          <a:ext cx="0" cy="0"/>
        </a:xfrm>
      </p:grpSpPr>
      <p:sp>
        <p:nvSpPr>
          <p:cNvPr id="980" name="Google Shape;980;p77"/>
          <p:cNvSpPr txBox="1"/>
          <p:nvPr>
            <p:ph type="title"/>
          </p:nvPr>
        </p:nvSpPr>
        <p:spPr>
          <a:xfrm>
            <a:off x="324000" y="810001"/>
            <a:ext cx="8179200" cy="7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object has been enlarged to create the image. </a:t>
            </a:r>
            <a:br>
              <a:rPr lang="en-GB" sz="2000"/>
            </a:br>
            <a:r>
              <a:rPr lang="en-GB" sz="2000"/>
              <a:t>What is the value of    ?</a:t>
            </a:r>
            <a:endParaRPr sz="2000"/>
          </a:p>
        </p:txBody>
      </p:sp>
      <p:sp>
        <p:nvSpPr>
          <p:cNvPr id="981" name="Google Shape;981;p7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and finding scale factors</a:t>
            </a:r>
            <a:endParaRPr/>
          </a:p>
        </p:txBody>
      </p:sp>
      <p:sp>
        <p:nvSpPr>
          <p:cNvPr id="982" name="Google Shape;982;p77"/>
          <p:cNvSpPr txBox="1"/>
          <p:nvPr>
            <p:ph type="subTitle" idx="1"/>
          </p:nvPr>
        </p:nvSpPr>
        <p:spPr>
          <a:xfrm>
            <a:off x="1034425" y="1685375"/>
            <a:ext cx="3054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983" name="Google Shape;983;p77"/>
          <p:cNvSpPr txBox="1"/>
          <p:nvPr>
            <p:ph type="subTitle" idx="3"/>
          </p:nvPr>
        </p:nvSpPr>
        <p:spPr>
          <a:xfrm>
            <a:off x="1034425" y="2489450"/>
            <a:ext cx="3054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16</a:t>
            </a:r>
            <a:endParaRPr/>
          </a:p>
        </p:txBody>
      </p:sp>
      <p:sp>
        <p:nvSpPr>
          <p:cNvPr id="984" name="Google Shape;984;p77"/>
          <p:cNvSpPr txBox="1"/>
          <p:nvPr>
            <p:ph type="subTitle" idx="4"/>
          </p:nvPr>
        </p:nvSpPr>
        <p:spPr>
          <a:xfrm>
            <a:off x="1034425" y="3309775"/>
            <a:ext cx="498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20</a:t>
            </a:r>
            <a:endParaRPr/>
          </a:p>
        </p:txBody>
      </p:sp>
      <p:sp>
        <p:nvSpPr>
          <p:cNvPr id="985" name="Google Shape;985;p77"/>
          <p:cNvSpPr txBox="1"/>
          <p:nvPr>
            <p:ph type="subTitle" idx="5"/>
          </p:nvPr>
        </p:nvSpPr>
        <p:spPr>
          <a:xfrm>
            <a:off x="1034425" y="4113825"/>
            <a:ext cx="4980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25</a:t>
            </a:r>
            <a:endParaRPr/>
          </a:p>
        </p:txBody>
      </p:sp>
      <p:sp>
        <p:nvSpPr>
          <p:cNvPr id="986" name="Google Shape;986;p77"/>
          <p:cNvSpPr/>
          <p:nvPr/>
        </p:nvSpPr>
        <p:spPr>
          <a:xfrm>
            <a:off x="4121040" y="2258241"/>
            <a:ext cx="999900" cy="750000"/>
          </a:xfrm>
          <a:prstGeom prst="parallelogram">
            <a:avLst>
              <a:gd name="adj" fmla="val 35585"/>
            </a:avLst>
          </a:prstGeom>
          <a:solidFill>
            <a:srgbClr val="E1D6F6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7" name="Google Shape;987;p77"/>
          <p:cNvSpPr/>
          <p:nvPr/>
        </p:nvSpPr>
        <p:spPr>
          <a:xfrm>
            <a:off x="6006203" y="2265398"/>
            <a:ext cx="2788200" cy="2091300"/>
          </a:xfrm>
          <a:prstGeom prst="parallelogram">
            <a:avLst>
              <a:gd name="adj" fmla="val 35585"/>
            </a:avLst>
          </a:prstGeom>
          <a:solidFill>
            <a:srgbClr val="C1DEDF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988" name="Google Shape;988;p77"/>
          <p:cNvCxnSpPr/>
          <p:nvPr/>
        </p:nvCxnSpPr>
        <p:spPr>
          <a:xfrm flipH="1">
            <a:off x="4106527" y="3109232"/>
            <a:ext cx="740400" cy="9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89" name="Google Shape;989;p77"/>
          <p:cNvCxnSpPr/>
          <p:nvPr/>
        </p:nvCxnSpPr>
        <p:spPr>
          <a:xfrm flipH="1">
            <a:off x="4004243" y="2258716"/>
            <a:ext cx="267600" cy="749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90" name="Google Shape;990;p77"/>
          <p:cNvCxnSpPr/>
          <p:nvPr/>
        </p:nvCxnSpPr>
        <p:spPr>
          <a:xfrm flipH="1">
            <a:off x="5856128" y="2280333"/>
            <a:ext cx="744900" cy="2098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91" name="Google Shape;991;p77"/>
          <p:cNvCxnSpPr/>
          <p:nvPr/>
        </p:nvCxnSpPr>
        <p:spPr>
          <a:xfrm rot="10800000">
            <a:off x="5997409" y="4475533"/>
            <a:ext cx="2043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92" name="Google Shape;992;p77"/>
          <p:cNvSpPr txBox="1"/>
          <p:nvPr/>
        </p:nvSpPr>
        <p:spPr>
          <a:xfrm>
            <a:off x="3595146" y="2470330"/>
            <a:ext cx="4980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7"/>
          <p:cNvSpPr txBox="1"/>
          <p:nvPr/>
        </p:nvSpPr>
        <p:spPr>
          <a:xfrm>
            <a:off x="4247517" y="3139500"/>
            <a:ext cx="4980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7"/>
          <p:cNvSpPr txBox="1"/>
          <p:nvPr/>
        </p:nvSpPr>
        <p:spPr>
          <a:xfrm>
            <a:off x="5581083" y="3130283"/>
            <a:ext cx="635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7"/>
          <p:cNvSpPr txBox="1"/>
          <p:nvPr/>
        </p:nvSpPr>
        <p:spPr>
          <a:xfrm>
            <a:off x="7075147" y="4509375"/>
            <a:ext cx="3054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77"/>
          <p:cNvSpPr txBox="1"/>
          <p:nvPr/>
        </p:nvSpPr>
        <p:spPr>
          <a:xfrm>
            <a:off x="7309217" y="1543799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7" name="Google Shape;997;p77"/>
          <p:cNvCxnSpPr/>
          <p:nvPr/>
        </p:nvCxnSpPr>
        <p:spPr>
          <a:xfrm rot="10800000">
            <a:off x="4732159" y="1816497"/>
            <a:ext cx="28200" cy="316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8" name="Google Shape;998;p77"/>
          <p:cNvSpPr txBox="1"/>
          <p:nvPr/>
        </p:nvSpPr>
        <p:spPr>
          <a:xfrm>
            <a:off x="4295348" y="1543799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9" name="Google Shape;999;p77"/>
          <p:cNvCxnSpPr/>
          <p:nvPr/>
        </p:nvCxnSpPr>
        <p:spPr>
          <a:xfrm rot="10800000">
            <a:off x="7605984" y="1816497"/>
            <a:ext cx="28200" cy="316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00" name="Google Shape;100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183" y="249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77" descr="&lt;math xmlns=&quot;http://www.w3.org/1998/Math/MathML&quot; display=&quot;block&quot; data-is-equatio=&quot;1&quot; data-latex=&quot;\ x&quot;&gt;&lt;mtext&gt;&lt;/mtext&gt;&lt;mi&gt;x&lt;/mi&gt;&lt;/math&gt;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4180" y="1250616"/>
            <a:ext cx="164250" cy="15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77" descr="&lt;math xmlns=&quot;http://www.w3.org/1998/Math/MathML&quot; display=&quot;block&quot; data-is-equatio=&quot;1&quot; data-latex=&quot;\ x&quot;&gt;&lt;mtext&gt;&lt;/mtext&gt;&lt;mi&gt;x&lt;/mi&gt;&lt;/math&gt;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3563" y="4567649"/>
            <a:ext cx="143825" cy="1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6" name="Shape 1006"/>
        <p:cNvGrpSpPr/>
        <p:nvPr/>
      </p:nvGrpSpPr>
      <p:grpSpPr>
        <a:xfrm>
          <a:off x="0" y="0"/>
          <a:ext cx="0" cy="0"/>
        </a:xfrm>
      </p:grpSpPr>
      <p:sp>
        <p:nvSpPr>
          <p:cNvPr id="1007" name="Google Shape;1007;p78"/>
          <p:cNvSpPr txBox="1"/>
          <p:nvPr>
            <p:ph type="title"/>
          </p:nvPr>
        </p:nvSpPr>
        <p:spPr>
          <a:xfrm>
            <a:off x="324000" y="810001"/>
            <a:ext cx="8179200" cy="7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object has been enlarged to create the image. </a:t>
            </a:r>
            <a:br>
              <a:rPr lang="en-GB" sz="2000"/>
            </a:br>
            <a:r>
              <a:rPr lang="en-GB" sz="2000"/>
              <a:t>What is the value of    ?</a:t>
            </a:r>
            <a:endParaRPr sz="2000"/>
          </a:p>
        </p:txBody>
      </p:sp>
      <p:sp>
        <p:nvSpPr>
          <p:cNvPr id="1008" name="Google Shape;1008;p7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and finding scale factors</a:t>
            </a:r>
            <a:endParaRPr/>
          </a:p>
        </p:txBody>
      </p:sp>
      <p:sp>
        <p:nvSpPr>
          <p:cNvPr id="1009" name="Google Shape;1009;p78"/>
          <p:cNvSpPr txBox="1"/>
          <p:nvPr>
            <p:ph type="subTitle" idx="1"/>
          </p:nvPr>
        </p:nvSpPr>
        <p:spPr>
          <a:xfrm>
            <a:off x="1034425" y="1685375"/>
            <a:ext cx="398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1010" name="Google Shape;1010;p78"/>
          <p:cNvSpPr txBox="1"/>
          <p:nvPr>
            <p:ph type="subTitle" idx="3"/>
          </p:nvPr>
        </p:nvSpPr>
        <p:spPr>
          <a:xfrm>
            <a:off x="1034425" y="2489450"/>
            <a:ext cx="4512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endParaRPr/>
          </a:p>
        </p:txBody>
      </p:sp>
      <p:sp>
        <p:nvSpPr>
          <p:cNvPr id="1011" name="Google Shape;1011;p78"/>
          <p:cNvSpPr txBox="1"/>
          <p:nvPr>
            <p:ph type="subTitle" idx="4"/>
          </p:nvPr>
        </p:nvSpPr>
        <p:spPr>
          <a:xfrm>
            <a:off x="1034425" y="3309775"/>
            <a:ext cx="498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20</a:t>
            </a:r>
            <a:endParaRPr/>
          </a:p>
        </p:txBody>
      </p:sp>
      <p:sp>
        <p:nvSpPr>
          <p:cNvPr id="1012" name="Google Shape;1012;p78"/>
          <p:cNvSpPr txBox="1"/>
          <p:nvPr>
            <p:ph type="subTitle" idx="5"/>
          </p:nvPr>
        </p:nvSpPr>
        <p:spPr>
          <a:xfrm>
            <a:off x="1034425" y="4113825"/>
            <a:ext cx="4980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90</a:t>
            </a:r>
            <a:endParaRPr/>
          </a:p>
        </p:txBody>
      </p:sp>
      <p:cxnSp>
        <p:nvCxnSpPr>
          <p:cNvPr id="1013" name="Google Shape;1013;p78"/>
          <p:cNvCxnSpPr/>
          <p:nvPr/>
        </p:nvCxnSpPr>
        <p:spPr>
          <a:xfrm rot="10800000">
            <a:off x="7478460" y="2069790"/>
            <a:ext cx="451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14" name="Google Shape;1014;p78"/>
          <p:cNvCxnSpPr/>
          <p:nvPr/>
        </p:nvCxnSpPr>
        <p:spPr>
          <a:xfrm flipH="1">
            <a:off x="7391409" y="2177387"/>
            <a:ext cx="0" cy="497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15" name="Google Shape;1015;p78"/>
          <p:cNvCxnSpPr/>
          <p:nvPr/>
        </p:nvCxnSpPr>
        <p:spPr>
          <a:xfrm rot="10800000">
            <a:off x="3604709" y="2049055"/>
            <a:ext cx="2043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16" name="Google Shape;1016;p78"/>
          <p:cNvSpPr txBox="1"/>
          <p:nvPr/>
        </p:nvSpPr>
        <p:spPr>
          <a:xfrm>
            <a:off x="6609075" y="2282125"/>
            <a:ext cx="6585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8"/>
          <p:cNvSpPr txBox="1"/>
          <p:nvPr/>
        </p:nvSpPr>
        <p:spPr>
          <a:xfrm>
            <a:off x="2715797" y="3260775"/>
            <a:ext cx="7284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60 mm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8"/>
          <p:cNvSpPr/>
          <p:nvPr/>
        </p:nvSpPr>
        <p:spPr>
          <a:xfrm>
            <a:off x="7498660" y="2174929"/>
            <a:ext cx="395100" cy="499500"/>
          </a:xfrm>
          <a:prstGeom prst="heart">
            <a:avLst/>
          </a:prstGeom>
          <a:solidFill>
            <a:srgbClr val="C1DEDF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9" name="Google Shape;1019;p78"/>
          <p:cNvSpPr/>
          <p:nvPr/>
        </p:nvSpPr>
        <p:spPr>
          <a:xfrm>
            <a:off x="3597244" y="2151728"/>
            <a:ext cx="2043900" cy="2534100"/>
          </a:xfrm>
          <a:prstGeom prst="heart">
            <a:avLst/>
          </a:prstGeom>
          <a:solidFill>
            <a:srgbClr val="E1D6F6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020" name="Google Shape;1020;p78"/>
          <p:cNvCxnSpPr/>
          <p:nvPr/>
        </p:nvCxnSpPr>
        <p:spPr>
          <a:xfrm rot="10800000" flipH="1">
            <a:off x="3450125" y="2164872"/>
            <a:ext cx="21000" cy="252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21" name="Google Shape;1021;p78"/>
          <p:cNvSpPr txBox="1"/>
          <p:nvPr/>
        </p:nvSpPr>
        <p:spPr>
          <a:xfrm>
            <a:off x="4254999" y="1752588"/>
            <a:ext cx="7284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 mm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8"/>
          <p:cNvSpPr txBox="1"/>
          <p:nvPr/>
        </p:nvSpPr>
        <p:spPr>
          <a:xfrm>
            <a:off x="7746175" y="1689650"/>
            <a:ext cx="398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3" name="Google Shape;1023;p78"/>
          <p:cNvCxnSpPr/>
          <p:nvPr/>
        </p:nvCxnSpPr>
        <p:spPr>
          <a:xfrm rot="10800000">
            <a:off x="5777050" y="3246575"/>
            <a:ext cx="231000" cy="235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4" name="Google Shape;1024;p78"/>
          <p:cNvSpPr txBox="1"/>
          <p:nvPr/>
        </p:nvSpPr>
        <p:spPr>
          <a:xfrm>
            <a:off x="6045998" y="3468899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5" name="Google Shape;1025;p78"/>
          <p:cNvCxnSpPr/>
          <p:nvPr/>
        </p:nvCxnSpPr>
        <p:spPr>
          <a:xfrm rot="10800000">
            <a:off x="7801650" y="2707162"/>
            <a:ext cx="231000" cy="235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6" name="Google Shape;1026;p78"/>
          <p:cNvSpPr txBox="1"/>
          <p:nvPr/>
        </p:nvSpPr>
        <p:spPr>
          <a:xfrm>
            <a:off x="8070598" y="2929486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7" name="Google Shape;1027;p78" descr="&lt;math xmlns=&quot;http://www.w3.org/1998/Math/MathML&quot; display=&quot;block&quot; data-is-equatio=&quot;1&quot; data-latex=&quot;\ x&quot;&gt;&lt;mtext&gt;&lt;/mtext&gt;&lt;mi&gt;x&lt;/mi&gt;&lt;/math&gt;" title="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180" y="1250616"/>
            <a:ext cx="164250" cy="15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78" descr="&lt;math xmlns=&quot;http://www.w3.org/1998/Math/MathML&quot; display=&quot;block&quot; data-is-equatio=&quot;1&quot; data-latex=&quot;\ x&quot;&gt;&lt;mtext&gt;&lt;/mtext&gt;&lt;mi&gt;x&lt;/mi&gt;&lt;/math&gt;" title="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3455" y="1754753"/>
            <a:ext cx="143825" cy="13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8233" y="1639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3" name="Shape 1033"/>
        <p:cNvGrpSpPr/>
        <p:nvPr/>
      </p:nvGrpSpPr>
      <p:grpSpPr>
        <a:xfrm>
          <a:off x="0" y="0"/>
          <a:ext cx="0" cy="0"/>
        </a:xfrm>
      </p:grpSpPr>
      <p:sp>
        <p:nvSpPr>
          <p:cNvPr id="1034" name="Google Shape;1034;p79"/>
          <p:cNvSpPr/>
          <p:nvPr/>
        </p:nvSpPr>
        <p:spPr>
          <a:xfrm>
            <a:off x="4570720" y="3041180"/>
            <a:ext cx="3404700" cy="14235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5" name="Google Shape;1035;p79"/>
          <p:cNvSpPr/>
          <p:nvPr/>
        </p:nvSpPr>
        <p:spPr>
          <a:xfrm>
            <a:off x="835100" y="3327752"/>
            <a:ext cx="2757600" cy="11529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6" name="Google Shape;1036;p79"/>
          <p:cNvSpPr/>
          <p:nvPr/>
        </p:nvSpPr>
        <p:spPr>
          <a:xfrm>
            <a:off x="6924406" y="1940497"/>
            <a:ext cx="588600" cy="2460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7" name="Google Shape;1037;p79"/>
          <p:cNvSpPr/>
          <p:nvPr/>
        </p:nvSpPr>
        <p:spPr>
          <a:xfrm>
            <a:off x="3980500" y="1915050"/>
            <a:ext cx="771300" cy="3225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8" name="Google Shape;1038;p79"/>
          <p:cNvSpPr/>
          <p:nvPr/>
        </p:nvSpPr>
        <p:spPr>
          <a:xfrm>
            <a:off x="835091" y="1945153"/>
            <a:ext cx="1374000" cy="5745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9" name="Google Shape;1039;p79"/>
          <p:cNvSpPr txBox="1"/>
          <p:nvPr>
            <p:ph type="body" idx="1"/>
          </p:nvPr>
        </p:nvSpPr>
        <p:spPr>
          <a:xfrm>
            <a:off x="324000" y="759300"/>
            <a:ext cx="8237700" cy="70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1. Parallelogram P has been enlarged to create A, B, C and D.</a:t>
            </a:r>
            <a:br>
              <a:rPr lang="en-GB" sz="1800"/>
            </a:br>
            <a:r>
              <a:rPr lang="en-GB" sz="1800"/>
              <a:t>    Calculate the missing lengths on each parallelogram.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040" name="Google Shape;1040;p7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and finding scale factors</a:t>
            </a:r>
            <a:endParaRPr/>
          </a:p>
        </p:txBody>
      </p:sp>
      <p:sp>
        <p:nvSpPr>
          <p:cNvPr id="1041" name="Google Shape;1041;p79"/>
          <p:cNvSpPr txBox="1"/>
          <p:nvPr/>
        </p:nvSpPr>
        <p:spPr>
          <a:xfrm>
            <a:off x="687381" y="3632559"/>
            <a:ext cx="588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9"/>
          <p:cNvSpPr txBox="1"/>
          <p:nvPr>
            <p:ph type="body" idx="1"/>
          </p:nvPr>
        </p:nvSpPr>
        <p:spPr>
          <a:xfrm>
            <a:off x="1436470" y="2105326"/>
            <a:ext cx="226200" cy="2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P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043" name="Google Shape;1043;p79"/>
          <p:cNvSpPr txBox="1"/>
          <p:nvPr/>
        </p:nvSpPr>
        <p:spPr>
          <a:xfrm>
            <a:off x="476390" y="2039500"/>
            <a:ext cx="588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4" name="Google Shape;1044;p79"/>
          <p:cNvCxnSpPr/>
          <p:nvPr/>
        </p:nvCxnSpPr>
        <p:spPr>
          <a:xfrm rot="10800000" flipH="1">
            <a:off x="667575" y="1942375"/>
            <a:ext cx="628200" cy="584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45" name="Google Shape;1045;p79"/>
          <p:cNvCxnSpPr/>
          <p:nvPr/>
        </p:nvCxnSpPr>
        <p:spPr>
          <a:xfrm>
            <a:off x="1448848" y="1871878"/>
            <a:ext cx="771300" cy="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46" name="Google Shape;1046;p79"/>
          <p:cNvCxnSpPr/>
          <p:nvPr/>
        </p:nvCxnSpPr>
        <p:spPr>
          <a:xfrm flipH="1">
            <a:off x="2258032" y="1938775"/>
            <a:ext cx="0" cy="59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47" name="Google Shape;1047;p79"/>
          <p:cNvSpPr txBox="1"/>
          <p:nvPr/>
        </p:nvSpPr>
        <p:spPr>
          <a:xfrm>
            <a:off x="1598783" y="1611998"/>
            <a:ext cx="588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79"/>
          <p:cNvSpPr txBox="1"/>
          <p:nvPr/>
        </p:nvSpPr>
        <p:spPr>
          <a:xfrm>
            <a:off x="2277173" y="2121397"/>
            <a:ext cx="588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9" name="Google Shape;1049;p79"/>
          <p:cNvCxnSpPr/>
          <p:nvPr/>
        </p:nvCxnSpPr>
        <p:spPr>
          <a:xfrm>
            <a:off x="4346572" y="1834265"/>
            <a:ext cx="374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50" name="Google Shape;1050;p79"/>
          <p:cNvSpPr txBox="1"/>
          <p:nvPr/>
        </p:nvSpPr>
        <p:spPr>
          <a:xfrm>
            <a:off x="4887603" y="1959359"/>
            <a:ext cx="588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1" name="Google Shape;1051;p79"/>
          <p:cNvCxnSpPr/>
          <p:nvPr/>
        </p:nvCxnSpPr>
        <p:spPr>
          <a:xfrm flipH="1">
            <a:off x="4788947" y="1925350"/>
            <a:ext cx="0" cy="31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52" name="Google Shape;1052;p79"/>
          <p:cNvCxnSpPr/>
          <p:nvPr/>
        </p:nvCxnSpPr>
        <p:spPr>
          <a:xfrm rot="10800000" flipH="1">
            <a:off x="6842225" y="1915675"/>
            <a:ext cx="253800" cy="24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53" name="Google Shape;1053;p79"/>
          <p:cNvCxnSpPr/>
          <p:nvPr/>
        </p:nvCxnSpPr>
        <p:spPr>
          <a:xfrm flipH="1">
            <a:off x="7550286" y="1951187"/>
            <a:ext cx="0" cy="24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54" name="Google Shape;1054;p79"/>
          <p:cNvSpPr txBox="1"/>
          <p:nvPr/>
        </p:nvSpPr>
        <p:spPr>
          <a:xfrm>
            <a:off x="7628270" y="1942381"/>
            <a:ext cx="588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79"/>
          <p:cNvSpPr txBox="1"/>
          <p:nvPr>
            <p:ph type="body" idx="1"/>
          </p:nvPr>
        </p:nvSpPr>
        <p:spPr>
          <a:xfrm>
            <a:off x="4291270" y="1958651"/>
            <a:ext cx="226200" cy="2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B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056" name="Google Shape;1056;p79"/>
          <p:cNvSpPr txBox="1"/>
          <p:nvPr>
            <p:ph type="body" idx="1"/>
          </p:nvPr>
        </p:nvSpPr>
        <p:spPr>
          <a:xfrm>
            <a:off x="7149143" y="1930075"/>
            <a:ext cx="226200" cy="2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C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057" name="Google Shape;1057;p79"/>
          <p:cNvSpPr txBox="1"/>
          <p:nvPr>
            <p:ph type="body" idx="1"/>
          </p:nvPr>
        </p:nvSpPr>
        <p:spPr>
          <a:xfrm>
            <a:off x="2154570" y="3757332"/>
            <a:ext cx="226200" cy="2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A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cxnSp>
        <p:nvCxnSpPr>
          <p:cNvPr id="1058" name="Google Shape;1058;p79"/>
          <p:cNvCxnSpPr/>
          <p:nvPr/>
        </p:nvCxnSpPr>
        <p:spPr>
          <a:xfrm>
            <a:off x="2083975" y="3235493"/>
            <a:ext cx="1508700" cy="1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59" name="Google Shape;1059;p79"/>
          <p:cNvCxnSpPr/>
          <p:nvPr/>
        </p:nvCxnSpPr>
        <p:spPr>
          <a:xfrm rot="10800000" flipH="1">
            <a:off x="636650" y="3335431"/>
            <a:ext cx="1213200" cy="1129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60" name="Google Shape;1060;p79"/>
          <p:cNvCxnSpPr/>
          <p:nvPr/>
        </p:nvCxnSpPr>
        <p:spPr>
          <a:xfrm rot="10800000">
            <a:off x="6087525" y="2956656"/>
            <a:ext cx="1899300" cy="1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61" name="Google Shape;1061;p79"/>
          <p:cNvSpPr txBox="1"/>
          <p:nvPr/>
        </p:nvSpPr>
        <p:spPr>
          <a:xfrm>
            <a:off x="6714531" y="2740384"/>
            <a:ext cx="588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2" name="Google Shape;1062;p79"/>
          <p:cNvCxnSpPr/>
          <p:nvPr/>
        </p:nvCxnSpPr>
        <p:spPr>
          <a:xfrm flipH="1">
            <a:off x="8013007" y="3067631"/>
            <a:ext cx="0" cy="1385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63" name="Google Shape;1063;p79"/>
          <p:cNvSpPr txBox="1"/>
          <p:nvPr>
            <p:ph type="body" idx="1"/>
          </p:nvPr>
        </p:nvSpPr>
        <p:spPr>
          <a:xfrm>
            <a:off x="6143695" y="3614082"/>
            <a:ext cx="226200" cy="2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D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064" name="Google Shape;1064;p79"/>
          <p:cNvSpPr txBox="1"/>
          <p:nvPr/>
        </p:nvSpPr>
        <p:spPr>
          <a:xfrm>
            <a:off x="1375416" y="4569100"/>
            <a:ext cx="11007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u="sng">
                <a:latin typeface="Lexend"/>
                <a:ea typeface="Lexend"/>
                <a:cs typeface="Lexend"/>
                <a:sym typeface="Lexend"/>
              </a:rPr>
              <a:t>          _</a:t>
            </a:r>
            <a:endParaRPr sz="16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79"/>
          <p:cNvSpPr txBox="1"/>
          <p:nvPr/>
        </p:nvSpPr>
        <p:spPr>
          <a:xfrm>
            <a:off x="5126448" y="4569100"/>
            <a:ext cx="11007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u="sng">
                <a:latin typeface="Lexend"/>
                <a:ea typeface="Lexend"/>
                <a:cs typeface="Lexend"/>
                <a:sym typeface="Lexend"/>
              </a:rPr>
              <a:t>          _</a:t>
            </a:r>
            <a:endParaRPr sz="16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79"/>
          <p:cNvSpPr txBox="1"/>
          <p:nvPr/>
        </p:nvSpPr>
        <p:spPr>
          <a:xfrm>
            <a:off x="3980497" y="2350100"/>
            <a:ext cx="10878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u="sng">
                <a:latin typeface="Lexend"/>
                <a:ea typeface="Lexend"/>
                <a:cs typeface="Lexend"/>
                <a:sym typeface="Lexend"/>
              </a:rPr>
              <a:t>          _</a:t>
            </a:r>
            <a:endParaRPr sz="16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9"/>
          <p:cNvSpPr txBox="1"/>
          <p:nvPr/>
        </p:nvSpPr>
        <p:spPr>
          <a:xfrm>
            <a:off x="6808552" y="2352700"/>
            <a:ext cx="11007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u="sng">
                <a:latin typeface="Lexend"/>
                <a:ea typeface="Lexend"/>
                <a:cs typeface="Lexend"/>
                <a:sym typeface="Lexend"/>
              </a:rPr>
              <a:t>          _</a:t>
            </a:r>
            <a:endParaRPr sz="16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79"/>
          <p:cNvSpPr txBox="1"/>
          <p:nvPr/>
        </p:nvSpPr>
        <p:spPr>
          <a:xfrm>
            <a:off x="6821927" y="1829744"/>
            <a:ext cx="2007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9" name="Google Shape;1069;p79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78599" r="-2"/>
          <a:stretch>
            <a:fillRect/>
          </a:stretch>
        </p:blipFill>
        <p:spPr>
          <a:xfrm>
            <a:off x="4665172" y="4599729"/>
            <a:ext cx="425126" cy="1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79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r="92595"/>
          <a:stretch>
            <a:fillRect/>
          </a:stretch>
        </p:blipFill>
        <p:spPr>
          <a:xfrm>
            <a:off x="2741196" y="3025875"/>
            <a:ext cx="147075" cy="1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79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r="78597"/>
          <a:stretch>
            <a:fillRect/>
          </a:stretch>
        </p:blipFill>
        <p:spPr>
          <a:xfrm>
            <a:off x="957447" y="4603650"/>
            <a:ext cx="425126" cy="1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79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26095" r="62516"/>
          <a:stretch>
            <a:fillRect/>
          </a:stretch>
        </p:blipFill>
        <p:spPr>
          <a:xfrm>
            <a:off x="4420824" y="1600325"/>
            <a:ext cx="226200" cy="1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79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26781" r="51816"/>
          <a:stretch>
            <a:fillRect/>
          </a:stretch>
        </p:blipFill>
        <p:spPr>
          <a:xfrm>
            <a:off x="3545563" y="2381626"/>
            <a:ext cx="425126" cy="1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79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51336" r="39530"/>
          <a:stretch>
            <a:fillRect/>
          </a:stretch>
        </p:blipFill>
        <p:spPr>
          <a:xfrm>
            <a:off x="6784942" y="1849181"/>
            <a:ext cx="181425" cy="1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79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52948" r="27566"/>
          <a:stretch>
            <a:fillRect/>
          </a:stretch>
        </p:blipFill>
        <p:spPr>
          <a:xfrm>
            <a:off x="6406970" y="2379382"/>
            <a:ext cx="387050" cy="1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79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79888" r="10521"/>
          <a:stretch>
            <a:fillRect/>
          </a:stretch>
        </p:blipFill>
        <p:spPr>
          <a:xfrm>
            <a:off x="8041300" y="3671425"/>
            <a:ext cx="190500" cy="1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0" name="Shape 1080"/>
        <p:cNvGrpSpPr/>
        <p:nvPr/>
      </p:nvGrpSpPr>
      <p:grpSpPr>
        <a:xfrm>
          <a:off x="0" y="0"/>
          <a:ext cx="0" cy="0"/>
        </a:xfrm>
      </p:grpSpPr>
      <p:sp>
        <p:nvSpPr>
          <p:cNvPr id="1081" name="Google Shape;1081;p80"/>
          <p:cNvSpPr txBox="1"/>
          <p:nvPr>
            <p:ph type="body" idx="1"/>
          </p:nvPr>
        </p:nvSpPr>
        <p:spPr>
          <a:xfrm>
            <a:off x="324000" y="759300"/>
            <a:ext cx="8496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2. Tick the diagram that shows a correct enlargement of the small triangle.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082" name="Google Shape;1082;p8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and finding scale factors</a:t>
            </a:r>
            <a:endParaRPr/>
          </a:p>
        </p:txBody>
      </p:sp>
      <p:pic>
        <p:nvPicPr>
          <p:cNvPr id="1083" name="Google Shape;108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217" y="1125226"/>
            <a:ext cx="4889567" cy="270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80"/>
          <p:cNvSpPr txBox="1"/>
          <p:nvPr>
            <p:ph type="body" idx="1"/>
          </p:nvPr>
        </p:nvSpPr>
        <p:spPr>
          <a:xfrm>
            <a:off x="324000" y="3946447"/>
            <a:ext cx="8237700" cy="6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Sam draws another enlargement of the small triangle.</a:t>
            </a:r>
            <a:br>
              <a:rPr lang="en-GB" sz="1800"/>
            </a:br>
            <a:r>
              <a:rPr lang="en-GB" sz="1800"/>
              <a:t>One of the lengths is 12 cm. What could the other length be?</a:t>
            </a:r>
            <a:endParaRPr sz="2000"/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8" name="Shape 1088"/>
        <p:cNvGrpSpPr/>
        <p:nvPr/>
      </p:nvGrpSpPr>
      <p:grpSpPr>
        <a:xfrm>
          <a:off x="0" y="0"/>
          <a:ext cx="0" cy="0"/>
        </a:xfrm>
      </p:grpSpPr>
      <p:sp>
        <p:nvSpPr>
          <p:cNvPr id="1089" name="Google Shape;1089;p81"/>
          <p:cNvSpPr/>
          <p:nvPr/>
        </p:nvSpPr>
        <p:spPr>
          <a:xfrm>
            <a:off x="4570720" y="3041180"/>
            <a:ext cx="3404700" cy="14235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0" name="Google Shape;1090;p81"/>
          <p:cNvSpPr/>
          <p:nvPr/>
        </p:nvSpPr>
        <p:spPr>
          <a:xfrm>
            <a:off x="835100" y="3327752"/>
            <a:ext cx="2757600" cy="11529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1" name="Google Shape;1091;p81"/>
          <p:cNvSpPr/>
          <p:nvPr/>
        </p:nvSpPr>
        <p:spPr>
          <a:xfrm>
            <a:off x="6924406" y="1940497"/>
            <a:ext cx="588600" cy="2460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2" name="Google Shape;1092;p81"/>
          <p:cNvSpPr/>
          <p:nvPr/>
        </p:nvSpPr>
        <p:spPr>
          <a:xfrm>
            <a:off x="3980500" y="1915050"/>
            <a:ext cx="771300" cy="3225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3" name="Google Shape;1093;p81"/>
          <p:cNvSpPr/>
          <p:nvPr/>
        </p:nvSpPr>
        <p:spPr>
          <a:xfrm>
            <a:off x="835091" y="1945153"/>
            <a:ext cx="1374000" cy="5745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4" name="Google Shape;1094;p8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1. Parallelogram P has been enlarged to create A, B, C and D.</a:t>
            </a:r>
            <a:br>
              <a:rPr lang="en-GB" sz="1800"/>
            </a:br>
            <a:r>
              <a:rPr lang="en-GB" sz="1800"/>
              <a:t>    Calculate the missing lengths on each parallelogram.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095" name="Google Shape;1095;p8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and finding scale factors</a:t>
            </a:r>
            <a:endParaRPr/>
          </a:p>
        </p:txBody>
      </p:sp>
      <p:sp>
        <p:nvSpPr>
          <p:cNvPr id="1096" name="Google Shape;1096;p81"/>
          <p:cNvSpPr txBox="1"/>
          <p:nvPr/>
        </p:nvSpPr>
        <p:spPr>
          <a:xfrm>
            <a:off x="687381" y="3632559"/>
            <a:ext cx="588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1"/>
          <p:cNvSpPr txBox="1"/>
          <p:nvPr>
            <p:ph type="body" idx="1"/>
          </p:nvPr>
        </p:nvSpPr>
        <p:spPr>
          <a:xfrm>
            <a:off x="1436470" y="2105326"/>
            <a:ext cx="226200" cy="2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P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098" name="Google Shape;1098;p81"/>
          <p:cNvSpPr txBox="1"/>
          <p:nvPr/>
        </p:nvSpPr>
        <p:spPr>
          <a:xfrm>
            <a:off x="476390" y="2039500"/>
            <a:ext cx="588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9" name="Google Shape;1099;p81"/>
          <p:cNvCxnSpPr/>
          <p:nvPr/>
        </p:nvCxnSpPr>
        <p:spPr>
          <a:xfrm rot="10800000" flipH="1">
            <a:off x="667575" y="1942375"/>
            <a:ext cx="628200" cy="584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00" name="Google Shape;1100;p81"/>
          <p:cNvCxnSpPr/>
          <p:nvPr/>
        </p:nvCxnSpPr>
        <p:spPr>
          <a:xfrm>
            <a:off x="1448848" y="1871878"/>
            <a:ext cx="771300" cy="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01" name="Google Shape;1101;p81"/>
          <p:cNvCxnSpPr/>
          <p:nvPr/>
        </p:nvCxnSpPr>
        <p:spPr>
          <a:xfrm flipH="1">
            <a:off x="2258032" y="1938775"/>
            <a:ext cx="0" cy="59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02" name="Google Shape;1102;p81"/>
          <p:cNvSpPr txBox="1"/>
          <p:nvPr/>
        </p:nvSpPr>
        <p:spPr>
          <a:xfrm>
            <a:off x="1598783" y="1611998"/>
            <a:ext cx="588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1"/>
          <p:cNvSpPr txBox="1"/>
          <p:nvPr/>
        </p:nvSpPr>
        <p:spPr>
          <a:xfrm>
            <a:off x="2277173" y="2121397"/>
            <a:ext cx="588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4" name="Google Shape;1104;p81"/>
          <p:cNvCxnSpPr/>
          <p:nvPr/>
        </p:nvCxnSpPr>
        <p:spPr>
          <a:xfrm>
            <a:off x="4346572" y="1834265"/>
            <a:ext cx="374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05" name="Google Shape;1105;p81"/>
          <p:cNvSpPr txBox="1"/>
          <p:nvPr/>
        </p:nvSpPr>
        <p:spPr>
          <a:xfrm>
            <a:off x="4887603" y="1959359"/>
            <a:ext cx="588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6" name="Google Shape;1106;p81"/>
          <p:cNvCxnSpPr/>
          <p:nvPr/>
        </p:nvCxnSpPr>
        <p:spPr>
          <a:xfrm flipH="1">
            <a:off x="4788947" y="1925350"/>
            <a:ext cx="0" cy="31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07" name="Google Shape;1107;p81"/>
          <p:cNvCxnSpPr/>
          <p:nvPr/>
        </p:nvCxnSpPr>
        <p:spPr>
          <a:xfrm rot="10800000" flipH="1">
            <a:off x="6842225" y="1915675"/>
            <a:ext cx="253800" cy="24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08" name="Google Shape;1108;p81"/>
          <p:cNvCxnSpPr/>
          <p:nvPr/>
        </p:nvCxnSpPr>
        <p:spPr>
          <a:xfrm flipH="1">
            <a:off x="7550286" y="1951187"/>
            <a:ext cx="0" cy="24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09" name="Google Shape;1109;p81"/>
          <p:cNvSpPr txBox="1"/>
          <p:nvPr/>
        </p:nvSpPr>
        <p:spPr>
          <a:xfrm>
            <a:off x="7628270" y="1942381"/>
            <a:ext cx="588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1"/>
          <p:cNvSpPr txBox="1"/>
          <p:nvPr>
            <p:ph type="body" idx="1"/>
          </p:nvPr>
        </p:nvSpPr>
        <p:spPr>
          <a:xfrm>
            <a:off x="4291270" y="1958651"/>
            <a:ext cx="226200" cy="2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B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111" name="Google Shape;1111;p81"/>
          <p:cNvSpPr txBox="1"/>
          <p:nvPr>
            <p:ph type="body" idx="1"/>
          </p:nvPr>
        </p:nvSpPr>
        <p:spPr>
          <a:xfrm>
            <a:off x="7149143" y="1930075"/>
            <a:ext cx="226200" cy="2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C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112" name="Google Shape;1112;p81"/>
          <p:cNvSpPr txBox="1"/>
          <p:nvPr>
            <p:ph type="body" idx="1"/>
          </p:nvPr>
        </p:nvSpPr>
        <p:spPr>
          <a:xfrm>
            <a:off x="2154570" y="3757332"/>
            <a:ext cx="226200" cy="2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A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cxnSp>
        <p:nvCxnSpPr>
          <p:cNvPr id="1113" name="Google Shape;1113;p81"/>
          <p:cNvCxnSpPr/>
          <p:nvPr/>
        </p:nvCxnSpPr>
        <p:spPr>
          <a:xfrm>
            <a:off x="2083975" y="3235493"/>
            <a:ext cx="1508700" cy="1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14" name="Google Shape;1114;p81"/>
          <p:cNvCxnSpPr/>
          <p:nvPr/>
        </p:nvCxnSpPr>
        <p:spPr>
          <a:xfrm rot="10800000" flipH="1">
            <a:off x="636650" y="3335431"/>
            <a:ext cx="1213200" cy="1129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15" name="Google Shape;1115;p81"/>
          <p:cNvCxnSpPr/>
          <p:nvPr/>
        </p:nvCxnSpPr>
        <p:spPr>
          <a:xfrm rot="10800000">
            <a:off x="6087525" y="2956656"/>
            <a:ext cx="1899300" cy="1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16" name="Google Shape;1116;p81"/>
          <p:cNvSpPr txBox="1"/>
          <p:nvPr/>
        </p:nvSpPr>
        <p:spPr>
          <a:xfrm>
            <a:off x="6714531" y="2740384"/>
            <a:ext cx="5886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20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7" name="Google Shape;1117;p81"/>
          <p:cNvCxnSpPr/>
          <p:nvPr/>
        </p:nvCxnSpPr>
        <p:spPr>
          <a:xfrm flipH="1">
            <a:off x="8013007" y="3067631"/>
            <a:ext cx="0" cy="1385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18" name="Google Shape;1118;p81"/>
          <p:cNvSpPr txBox="1"/>
          <p:nvPr>
            <p:ph type="body" idx="1"/>
          </p:nvPr>
        </p:nvSpPr>
        <p:spPr>
          <a:xfrm>
            <a:off x="6143695" y="3614082"/>
            <a:ext cx="226200" cy="29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D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600"/>
          </a:p>
        </p:txBody>
      </p:sp>
      <p:sp>
        <p:nvSpPr>
          <p:cNvPr id="1119" name="Google Shape;1119;p81"/>
          <p:cNvSpPr txBox="1"/>
          <p:nvPr/>
        </p:nvSpPr>
        <p:spPr>
          <a:xfrm>
            <a:off x="6821927" y="1829744"/>
            <a:ext cx="2007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0" name="Google Shape;1120;p81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78599" r="-2"/>
          <a:stretch>
            <a:fillRect/>
          </a:stretch>
        </p:blipFill>
        <p:spPr>
          <a:xfrm>
            <a:off x="4665172" y="4599729"/>
            <a:ext cx="425126" cy="1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81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r="92595"/>
          <a:stretch>
            <a:fillRect/>
          </a:stretch>
        </p:blipFill>
        <p:spPr>
          <a:xfrm>
            <a:off x="2741196" y="3025875"/>
            <a:ext cx="147075" cy="1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81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r="78597"/>
          <a:stretch>
            <a:fillRect/>
          </a:stretch>
        </p:blipFill>
        <p:spPr>
          <a:xfrm>
            <a:off x="957447" y="4603650"/>
            <a:ext cx="425126" cy="1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81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26095" r="62516"/>
          <a:stretch>
            <a:fillRect/>
          </a:stretch>
        </p:blipFill>
        <p:spPr>
          <a:xfrm>
            <a:off x="4420824" y="1600325"/>
            <a:ext cx="226200" cy="1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81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26781" r="51816"/>
          <a:stretch>
            <a:fillRect/>
          </a:stretch>
        </p:blipFill>
        <p:spPr>
          <a:xfrm>
            <a:off x="3545563" y="2381626"/>
            <a:ext cx="425126" cy="1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81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51336" r="39530"/>
          <a:stretch>
            <a:fillRect/>
          </a:stretch>
        </p:blipFill>
        <p:spPr>
          <a:xfrm>
            <a:off x="6784942" y="1849181"/>
            <a:ext cx="181425" cy="1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81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52948" r="27566"/>
          <a:stretch>
            <a:fillRect/>
          </a:stretch>
        </p:blipFill>
        <p:spPr>
          <a:xfrm>
            <a:off x="6406970" y="2379382"/>
            <a:ext cx="387050" cy="1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81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79888" r="10521"/>
          <a:stretch>
            <a:fillRect/>
          </a:stretch>
        </p:blipFill>
        <p:spPr>
          <a:xfrm>
            <a:off x="8041300" y="3671425"/>
            <a:ext cx="190500" cy="1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81"/>
          <p:cNvSpPr txBox="1"/>
          <p:nvPr/>
        </p:nvSpPr>
        <p:spPr>
          <a:xfrm>
            <a:off x="1381950" y="4551250"/>
            <a:ext cx="665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16 cm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9" name="Google Shape;1129;p81"/>
          <p:cNvSpPr txBox="1"/>
          <p:nvPr/>
        </p:nvSpPr>
        <p:spPr>
          <a:xfrm>
            <a:off x="5175500" y="4551250"/>
            <a:ext cx="665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15 cm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0" name="Google Shape;1130;p81"/>
          <p:cNvSpPr txBox="1"/>
          <p:nvPr/>
        </p:nvSpPr>
        <p:spPr>
          <a:xfrm>
            <a:off x="4019357" y="2330145"/>
            <a:ext cx="665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 cm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1" name="Google Shape;1131;p81"/>
          <p:cNvSpPr txBox="1"/>
          <p:nvPr/>
        </p:nvSpPr>
        <p:spPr>
          <a:xfrm>
            <a:off x="6851513" y="2340284"/>
            <a:ext cx="665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 cm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5" name="Shape 1135"/>
        <p:cNvGrpSpPr/>
        <p:nvPr/>
      </p:nvGrpSpPr>
      <p:grpSpPr>
        <a:xfrm>
          <a:off x="0" y="0"/>
          <a:ext cx="0" cy="0"/>
        </a:xfrm>
      </p:grpSpPr>
      <p:sp>
        <p:nvSpPr>
          <p:cNvPr id="1136" name="Google Shape;1136;p82"/>
          <p:cNvSpPr txBox="1"/>
          <p:nvPr>
            <p:ph type="body" idx="1"/>
          </p:nvPr>
        </p:nvSpPr>
        <p:spPr>
          <a:xfrm>
            <a:off x="324000" y="759300"/>
            <a:ext cx="8442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2. Tick the diagram that shows a correct enlargement of the small triangle.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137" name="Google Shape;1137;p8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and finding scale factors</a:t>
            </a:r>
            <a:endParaRPr/>
          </a:p>
        </p:txBody>
      </p:sp>
      <p:pic>
        <p:nvPicPr>
          <p:cNvPr id="1138" name="Google Shape;113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0900" y="1192250"/>
            <a:ext cx="3822201" cy="2117149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82"/>
          <p:cNvSpPr txBox="1"/>
          <p:nvPr>
            <p:ph type="body" idx="1"/>
          </p:nvPr>
        </p:nvSpPr>
        <p:spPr>
          <a:xfrm>
            <a:off x="324000" y="3413047"/>
            <a:ext cx="8237700" cy="6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Sam draws another enlargement of the small triangle.</a:t>
            </a:r>
            <a:br>
              <a:rPr lang="en-GB" sz="1800"/>
            </a:br>
            <a:r>
              <a:rPr lang="en-GB" sz="1800"/>
              <a:t>One of the lengths is 12 cm. What could the other length be?</a:t>
            </a:r>
            <a:endParaRPr sz="2000"/>
          </a:p>
        </p:txBody>
      </p:sp>
      <p:pic>
        <p:nvPicPr>
          <p:cNvPr id="1140" name="Google Shape;1140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0708" y="20412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82"/>
          <p:cNvSpPr txBox="1"/>
          <p:nvPr>
            <p:ph type="body" idx="1"/>
          </p:nvPr>
        </p:nvSpPr>
        <p:spPr>
          <a:xfrm>
            <a:off x="7148718" y="3712750"/>
            <a:ext cx="1669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 cm or 18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2" name="Google Shape;1142;p82"/>
          <p:cNvSpPr txBox="1"/>
          <p:nvPr>
            <p:ph type="body" idx="1"/>
          </p:nvPr>
        </p:nvSpPr>
        <p:spPr>
          <a:xfrm>
            <a:off x="324000" y="4108275"/>
            <a:ext cx="7935600" cy="70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Or if the diagonal length is measured as 12 cm then the other two lengths would measure as approximately 6.7 cm and 10 cm.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6" name="Shape 1146"/>
        <p:cNvGrpSpPr/>
        <p:nvPr/>
      </p:nvGrpSpPr>
      <p:grpSpPr>
        <a:xfrm>
          <a:off x="0" y="0"/>
          <a:ext cx="0" cy="0"/>
        </a:xfrm>
      </p:grpSpPr>
      <p:sp>
        <p:nvSpPr>
          <p:cNvPr id="1147" name="Google Shape;1147;p83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and finding scale factors</a:t>
            </a:r>
            <a:endParaRPr/>
          </a:p>
        </p:txBody>
      </p:sp>
      <p:sp>
        <p:nvSpPr>
          <p:cNvPr id="1148" name="Google Shape;1148;p83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sp>
        <p:nvSpPr>
          <p:cNvPr id="1149" name="Google Shape;1149;p83"/>
          <p:cNvSpPr txBox="1"/>
          <p:nvPr>
            <p:ph type="title" idx="3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and enlargement</a:t>
            </a:r>
            <a:endParaRPr/>
          </a:p>
        </p:txBody>
      </p:sp>
      <p:pic>
        <p:nvPicPr>
          <p:cNvPr id="1150" name="Google Shape;115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70" y="298753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4" name="Shape 1154"/>
        <p:cNvGrpSpPr/>
        <p:nvPr/>
      </p:nvGrpSpPr>
      <p:grpSpPr>
        <a:xfrm>
          <a:off x="0" y="0"/>
          <a:ext cx="0" cy="0"/>
        </a:xfrm>
      </p:grpSpPr>
      <p:sp>
        <p:nvSpPr>
          <p:cNvPr id="1155" name="Google Shape;1155;p84"/>
          <p:cNvSpPr txBox="1"/>
          <p:nvPr>
            <p:ph type="body" idx="1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Aisha is going to enlarge the object by a </a:t>
            </a:r>
            <a:r>
              <a:rPr lang="en-GB" b="1"/>
              <a:t>scale factor</a:t>
            </a:r>
            <a:r>
              <a:rPr lang="en-GB"/>
              <a:t> of 2, but she is not sure where to place the image on the grid.</a:t>
            </a:r>
            <a:endParaRPr/>
          </a:p>
        </p:txBody>
      </p:sp>
      <p:sp>
        <p:nvSpPr>
          <p:cNvPr id="1156" name="Google Shape;1156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pic>
        <p:nvPicPr>
          <p:cNvPr id="1157" name="Google Shape;115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525" y="353066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p84"/>
          <p:cNvPicPr preferRelativeResize="0"/>
          <p:nvPr/>
        </p:nvPicPr>
        <p:blipFill>
          <a:blip r:embed="rId4">
            <a:alphaModFix/>
          </a:blip>
          <a:srcRect l="139" t="368"/>
          <a:stretch>
            <a:fillRect/>
          </a:stretch>
        </p:blipFill>
        <p:spPr>
          <a:xfrm>
            <a:off x="2393305" y="2007600"/>
            <a:ext cx="4320695" cy="266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9" name="Google Shape;1159;p84"/>
          <p:cNvCxnSpPr/>
          <p:nvPr/>
        </p:nvCxnSpPr>
        <p:spPr>
          <a:xfrm rot="10800000" flipH="1">
            <a:off x="3976725" y="3337700"/>
            <a:ext cx="179700" cy="19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0" name="Google Shape;1160;p84"/>
          <p:cNvSpPr txBox="1"/>
          <p:nvPr/>
        </p:nvSpPr>
        <p:spPr>
          <a:xfrm>
            <a:off x="3260123" y="3458810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4" name="Shape 1164"/>
        <p:cNvGrpSpPr/>
        <p:nvPr/>
      </p:nvGrpSpPr>
      <p:grpSpPr>
        <a:xfrm>
          <a:off x="0" y="0"/>
          <a:ext cx="0" cy="0"/>
        </a:xfrm>
      </p:grpSpPr>
      <p:sp>
        <p:nvSpPr>
          <p:cNvPr id="1165" name="Google Shape;1165;p85"/>
          <p:cNvSpPr txBox="1"/>
          <p:nvPr>
            <p:ph type="body" idx="1"/>
          </p:nvPr>
        </p:nvSpPr>
        <p:spPr>
          <a:xfrm>
            <a:off x="324000" y="759300"/>
            <a:ext cx="82701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</a:rPr>
              <a:t>The </a:t>
            </a:r>
            <a:r>
              <a:rPr lang="en-GB" b="1">
                <a:solidFill>
                  <a:srgbClr val="282828"/>
                </a:solidFill>
              </a:rPr>
              <a:t>centre of enlargement </a:t>
            </a:r>
            <a:r>
              <a:rPr lang="en-GB">
                <a:solidFill>
                  <a:srgbClr val="282828"/>
                </a:solidFill>
              </a:rPr>
              <a:t>is a point from which an object is enlarged.</a:t>
            </a:r>
            <a:endParaRPr sz="2400"/>
          </a:p>
        </p:txBody>
      </p:sp>
      <p:sp>
        <p:nvSpPr>
          <p:cNvPr id="1166" name="Google Shape;116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pic>
        <p:nvPicPr>
          <p:cNvPr id="1167" name="Google Shape;116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525" y="353066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85"/>
          <p:cNvPicPr preferRelativeResize="0"/>
          <p:nvPr/>
        </p:nvPicPr>
        <p:blipFill>
          <a:blip r:embed="rId4">
            <a:alphaModFix/>
          </a:blip>
          <a:srcRect l="119" t="199" b="219"/>
          <a:stretch>
            <a:fillRect/>
          </a:stretch>
        </p:blipFill>
        <p:spPr>
          <a:xfrm>
            <a:off x="2398875" y="2007600"/>
            <a:ext cx="4315125" cy="2655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9" name="Google Shape;1169;p85"/>
          <p:cNvCxnSpPr/>
          <p:nvPr/>
        </p:nvCxnSpPr>
        <p:spPr>
          <a:xfrm rot="10800000">
            <a:off x="1976275" y="2477075"/>
            <a:ext cx="573600" cy="145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0" name="Google Shape;1170;p85"/>
          <p:cNvSpPr txBox="1"/>
          <p:nvPr/>
        </p:nvSpPr>
        <p:spPr>
          <a:xfrm>
            <a:off x="492000" y="1918350"/>
            <a:ext cx="15396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centre of enlargement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1" name="Google Shape;1171;p85"/>
          <p:cNvCxnSpPr/>
          <p:nvPr/>
        </p:nvCxnSpPr>
        <p:spPr>
          <a:xfrm rot="10800000" flipH="1">
            <a:off x="3976725" y="3337700"/>
            <a:ext cx="179700" cy="19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2" name="Google Shape;1172;p85"/>
          <p:cNvSpPr txBox="1"/>
          <p:nvPr/>
        </p:nvSpPr>
        <p:spPr>
          <a:xfrm>
            <a:off x="3260123" y="3458810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76" name="Shape 1176"/>
        <p:cNvGrpSpPr/>
        <p:nvPr/>
      </p:nvGrpSpPr>
      <p:grpSpPr>
        <a:xfrm>
          <a:off x="0" y="0"/>
          <a:ext cx="0" cy="0"/>
        </a:xfrm>
      </p:grpSpPr>
      <p:sp>
        <p:nvSpPr>
          <p:cNvPr id="1177" name="Google Shape;1177;p86"/>
          <p:cNvSpPr txBox="1"/>
          <p:nvPr>
            <p:ph type="body" idx="1"/>
          </p:nvPr>
        </p:nvSpPr>
        <p:spPr>
          <a:xfrm>
            <a:off x="324000" y="759300"/>
            <a:ext cx="82701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</a:t>
            </a:r>
            <a:r>
              <a:rPr lang="en-GB" sz="2000" b="1"/>
              <a:t>scale factor</a:t>
            </a:r>
            <a:r>
              <a:rPr lang="en-GB" sz="2000"/>
              <a:t> not only affects the lengths in the image but also how far each vertex is away from the </a:t>
            </a:r>
            <a:r>
              <a:rPr lang="en-GB" sz="2000" b="1"/>
              <a:t>centre of enlargement</a:t>
            </a:r>
            <a:r>
              <a:rPr lang="en-GB" sz="2000"/>
              <a:t>.</a:t>
            </a:r>
            <a:endParaRPr/>
          </a:p>
        </p:txBody>
      </p:sp>
      <p:sp>
        <p:nvSpPr>
          <p:cNvPr id="1178" name="Google Shape;117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pic>
        <p:nvPicPr>
          <p:cNvPr id="1179" name="Google Shape;1179;p86"/>
          <p:cNvPicPr preferRelativeResize="0"/>
          <p:nvPr/>
        </p:nvPicPr>
        <p:blipFill>
          <a:blip r:embed="rId3">
            <a:alphaModFix/>
          </a:blip>
          <a:srcRect l="79" t="179"/>
          <a:stretch>
            <a:fillRect/>
          </a:stretch>
        </p:blipFill>
        <p:spPr>
          <a:xfrm>
            <a:off x="2390475" y="2007600"/>
            <a:ext cx="4323525" cy="2661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0" name="Google Shape;1180;p86"/>
          <p:cNvCxnSpPr/>
          <p:nvPr/>
        </p:nvCxnSpPr>
        <p:spPr>
          <a:xfrm>
            <a:off x="2725500" y="2233572"/>
            <a:ext cx="3318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81" name="Google Shape;1181;p86"/>
          <p:cNvCxnSpPr/>
          <p:nvPr/>
        </p:nvCxnSpPr>
        <p:spPr>
          <a:xfrm>
            <a:off x="2726282" y="2607625"/>
            <a:ext cx="1621800" cy="13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82" name="Google Shape;1182;p86"/>
          <p:cNvSpPr txBox="1"/>
          <p:nvPr/>
        </p:nvSpPr>
        <p:spPr>
          <a:xfrm>
            <a:off x="4023550" y="1955825"/>
            <a:ext cx="8418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 units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86"/>
          <p:cNvSpPr txBox="1"/>
          <p:nvPr/>
        </p:nvSpPr>
        <p:spPr>
          <a:xfrm>
            <a:off x="3284426" y="2381725"/>
            <a:ext cx="7008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units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4" name="Google Shape;1184;p86"/>
          <p:cNvCxnSpPr/>
          <p:nvPr/>
        </p:nvCxnSpPr>
        <p:spPr>
          <a:xfrm rot="10800000">
            <a:off x="1976275" y="2477075"/>
            <a:ext cx="573600" cy="145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5" name="Google Shape;1185;p86"/>
          <p:cNvSpPr txBox="1"/>
          <p:nvPr/>
        </p:nvSpPr>
        <p:spPr>
          <a:xfrm>
            <a:off x="492000" y="1918350"/>
            <a:ext cx="15396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centre of enlargement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6" name="Google Shape;1186;p86"/>
          <p:cNvCxnSpPr/>
          <p:nvPr/>
        </p:nvCxnSpPr>
        <p:spPr>
          <a:xfrm rot="10800000" flipH="1">
            <a:off x="3976725" y="3337700"/>
            <a:ext cx="179700" cy="19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7" name="Google Shape;1187;p86"/>
          <p:cNvSpPr txBox="1"/>
          <p:nvPr/>
        </p:nvSpPr>
        <p:spPr>
          <a:xfrm>
            <a:off x="3260123" y="3458810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8" name="Google Shape;1188;p86"/>
          <p:cNvCxnSpPr/>
          <p:nvPr/>
        </p:nvCxnSpPr>
        <p:spPr>
          <a:xfrm rot="10800000" flipH="1">
            <a:off x="5430675" y="3734650"/>
            <a:ext cx="195600" cy="199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9" name="Google Shape;1189;p86"/>
          <p:cNvSpPr txBox="1"/>
          <p:nvPr/>
        </p:nvSpPr>
        <p:spPr>
          <a:xfrm>
            <a:off x="4708144" y="3871593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0" name="Google Shape;1190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525" y="353066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86"/>
          <p:cNvSpPr txBox="1"/>
          <p:nvPr/>
        </p:nvSpPr>
        <p:spPr>
          <a:xfrm>
            <a:off x="6857300" y="2086200"/>
            <a:ext cx="19770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scale factor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5" name="Shape 1195"/>
        <p:cNvGrpSpPr/>
        <p:nvPr/>
      </p:nvGrpSpPr>
      <p:grpSpPr>
        <a:xfrm>
          <a:off x="0" y="0"/>
          <a:ext cx="0" cy="0"/>
        </a:xfrm>
      </p:grpSpPr>
      <p:pic>
        <p:nvPicPr>
          <p:cNvPr id="1196" name="Google Shape;1196;p87"/>
          <p:cNvPicPr preferRelativeResize="0"/>
          <p:nvPr/>
        </p:nvPicPr>
        <p:blipFill>
          <a:blip r:embed="rId3">
            <a:alphaModFix/>
          </a:blip>
          <a:srcRect l="79" t="179" b="129"/>
          <a:stretch>
            <a:fillRect/>
          </a:stretch>
        </p:blipFill>
        <p:spPr>
          <a:xfrm>
            <a:off x="2396975" y="2009313"/>
            <a:ext cx="4317025" cy="265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87"/>
          <p:cNvPicPr preferRelativeResize="0"/>
          <p:nvPr/>
        </p:nvPicPr>
        <p:blipFill>
          <a:blip r:embed="rId4">
            <a:alphaModFix/>
          </a:blip>
          <a:srcRect l="79" t="179" b="129"/>
          <a:stretch>
            <a:fillRect/>
          </a:stretch>
        </p:blipFill>
        <p:spPr>
          <a:xfrm>
            <a:off x="2396975" y="2009325"/>
            <a:ext cx="4317025" cy="265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p87"/>
          <p:cNvPicPr preferRelativeResize="0"/>
          <p:nvPr/>
        </p:nvPicPr>
        <p:blipFill>
          <a:blip r:embed="rId5">
            <a:alphaModFix/>
          </a:blip>
          <a:srcRect l="89" t="179" r="89" b="129"/>
          <a:stretch>
            <a:fillRect/>
          </a:stretch>
        </p:blipFill>
        <p:spPr>
          <a:xfrm>
            <a:off x="2396975" y="2011050"/>
            <a:ext cx="4317025" cy="265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87"/>
          <p:cNvPicPr preferRelativeResize="0"/>
          <p:nvPr/>
        </p:nvPicPr>
        <p:blipFill>
          <a:blip r:embed="rId6">
            <a:alphaModFix/>
          </a:blip>
          <a:srcRect l="79" t="179" b="258"/>
          <a:stretch>
            <a:fillRect/>
          </a:stretch>
        </p:blipFill>
        <p:spPr>
          <a:xfrm>
            <a:off x="2396975" y="2014475"/>
            <a:ext cx="4317025" cy="265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p87"/>
          <p:cNvPicPr preferRelativeResize="0"/>
          <p:nvPr/>
        </p:nvPicPr>
        <p:blipFill>
          <a:blip r:embed="rId7">
            <a:alphaModFix/>
          </a:blip>
          <a:srcRect l="89" t="179" r="89" b="258"/>
          <a:stretch>
            <a:fillRect/>
          </a:stretch>
        </p:blipFill>
        <p:spPr>
          <a:xfrm>
            <a:off x="2396975" y="2012763"/>
            <a:ext cx="4317025" cy="265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87"/>
          <p:cNvPicPr preferRelativeResize="0"/>
          <p:nvPr/>
        </p:nvPicPr>
        <p:blipFill>
          <a:blip r:embed="rId8">
            <a:alphaModFix/>
          </a:blip>
          <a:srcRect l="79" t="179" r="89" b="258"/>
          <a:stretch>
            <a:fillRect/>
          </a:stretch>
        </p:blipFill>
        <p:spPr>
          <a:xfrm>
            <a:off x="2396975" y="2012762"/>
            <a:ext cx="4317025" cy="265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87"/>
          <p:cNvPicPr preferRelativeResize="0"/>
          <p:nvPr/>
        </p:nvPicPr>
        <p:blipFill>
          <a:blip r:embed="rId9">
            <a:alphaModFix/>
          </a:blip>
          <a:srcRect l="89" t="129" r="89" b="179"/>
          <a:stretch>
            <a:fillRect/>
          </a:stretch>
        </p:blipFill>
        <p:spPr>
          <a:xfrm>
            <a:off x="2396975" y="2011050"/>
            <a:ext cx="4317025" cy="265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87"/>
          <p:cNvPicPr preferRelativeResize="0"/>
          <p:nvPr/>
        </p:nvPicPr>
        <p:blipFill>
          <a:blip r:embed="rId10">
            <a:alphaModFix/>
          </a:blip>
          <a:srcRect l="219" t="129" r="119" b="179"/>
          <a:stretch>
            <a:fillRect/>
          </a:stretch>
        </p:blipFill>
        <p:spPr>
          <a:xfrm>
            <a:off x="2398425" y="2009325"/>
            <a:ext cx="4314126" cy="265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87"/>
          <p:cNvPicPr preferRelativeResize="0"/>
          <p:nvPr/>
        </p:nvPicPr>
        <p:blipFill>
          <a:blip r:embed="rId11">
            <a:alphaModFix/>
          </a:blip>
          <a:srcRect l="69" t="348" b="179"/>
          <a:stretch>
            <a:fillRect/>
          </a:stretch>
        </p:blipFill>
        <p:spPr>
          <a:xfrm>
            <a:off x="2401875" y="2015687"/>
            <a:ext cx="4310675" cy="26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87"/>
          <p:cNvPicPr preferRelativeResize="0"/>
          <p:nvPr/>
        </p:nvPicPr>
        <p:blipFill>
          <a:blip r:embed="rId12">
            <a:alphaModFix/>
          </a:blip>
          <a:srcRect l="79" t="179"/>
          <a:stretch>
            <a:fillRect/>
          </a:stretch>
        </p:blipFill>
        <p:spPr>
          <a:xfrm>
            <a:off x="2390475" y="2007600"/>
            <a:ext cx="4323525" cy="266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87"/>
          <p:cNvSpPr txBox="1"/>
          <p:nvPr>
            <p:ph type="body" idx="1"/>
          </p:nvPr>
        </p:nvSpPr>
        <p:spPr>
          <a:xfrm>
            <a:off x="324000" y="759300"/>
            <a:ext cx="82701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position of the </a:t>
            </a:r>
            <a:r>
              <a:rPr lang="en-GB" sz="2000" b="1"/>
              <a:t>centre of enlargement</a:t>
            </a:r>
            <a:r>
              <a:rPr lang="en-GB" sz="2000"/>
              <a:t> defines where the image will be placed in relation to the object.</a:t>
            </a:r>
            <a:endParaRPr/>
          </a:p>
        </p:txBody>
      </p:sp>
      <p:sp>
        <p:nvSpPr>
          <p:cNvPr id="1207" name="Google Shape;120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How the centre of enlargement affects the image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1" name="Shape 1211"/>
        <p:cNvGrpSpPr/>
        <p:nvPr/>
      </p:nvGrpSpPr>
      <p:grpSpPr>
        <a:xfrm>
          <a:off x="0" y="0"/>
          <a:ext cx="0" cy="0"/>
        </a:xfrm>
      </p:grpSpPr>
      <p:sp>
        <p:nvSpPr>
          <p:cNvPr id="1212" name="Google Shape;1212;p88"/>
          <p:cNvSpPr txBox="1"/>
          <p:nvPr>
            <p:ph type="body" idx="1"/>
          </p:nvPr>
        </p:nvSpPr>
        <p:spPr>
          <a:xfrm>
            <a:off x="324000" y="759300"/>
            <a:ext cx="8270100" cy="70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 b="1"/>
              <a:t>centre of enlargement</a:t>
            </a:r>
            <a:r>
              <a:rPr lang="en-GB" sz="2000"/>
              <a:t> can be found by drawing lines through corresponding vertices of the object and image.</a:t>
            </a:r>
            <a:endParaRPr sz="2000"/>
          </a:p>
        </p:txBody>
      </p:sp>
      <p:sp>
        <p:nvSpPr>
          <p:cNvPr id="1213" name="Google Shape;121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pic>
        <p:nvPicPr>
          <p:cNvPr id="1214" name="Google Shape;1214;p88"/>
          <p:cNvPicPr preferRelativeResize="0"/>
          <p:nvPr/>
        </p:nvPicPr>
        <p:blipFill>
          <a:blip r:embed="rId3">
            <a:alphaModFix/>
          </a:blip>
          <a:srcRect l="69" t="338" r="109"/>
          <a:stretch>
            <a:fillRect/>
          </a:stretch>
        </p:blipFill>
        <p:spPr>
          <a:xfrm>
            <a:off x="1679099" y="1626600"/>
            <a:ext cx="5023802" cy="2661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5" name="Google Shape;1215;p88"/>
          <p:cNvCxnSpPr/>
          <p:nvPr/>
        </p:nvCxnSpPr>
        <p:spPr>
          <a:xfrm>
            <a:off x="1678544" y="3018010"/>
            <a:ext cx="4869000" cy="1242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6" name="Google Shape;1216;p88"/>
          <p:cNvCxnSpPr/>
          <p:nvPr/>
        </p:nvCxnSpPr>
        <p:spPr>
          <a:xfrm>
            <a:off x="1695600" y="2065500"/>
            <a:ext cx="4425300" cy="2218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7" name="Google Shape;1217;p88"/>
          <p:cNvCxnSpPr/>
          <p:nvPr/>
        </p:nvCxnSpPr>
        <p:spPr>
          <a:xfrm>
            <a:off x="3150975" y="1639525"/>
            <a:ext cx="2662200" cy="2644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8" name="Google Shape;1218;p88"/>
          <p:cNvSpPr/>
          <p:nvPr/>
        </p:nvSpPr>
        <p:spPr>
          <a:xfrm>
            <a:off x="5481875" y="3952675"/>
            <a:ext cx="88800" cy="888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219" name="Google Shape;1219;p88"/>
          <p:cNvCxnSpPr/>
          <p:nvPr/>
        </p:nvCxnSpPr>
        <p:spPr>
          <a:xfrm rot="10800000" flipH="1">
            <a:off x="5754066" y="3399469"/>
            <a:ext cx="1083600" cy="474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0" name="Google Shape;1220;p88"/>
          <p:cNvSpPr txBox="1"/>
          <p:nvPr/>
        </p:nvSpPr>
        <p:spPr>
          <a:xfrm>
            <a:off x="6931600" y="2848050"/>
            <a:ext cx="15396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centre of enlargement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8"/>
          <p:cNvSpPr txBox="1"/>
          <p:nvPr>
            <p:ph type="body" idx="1"/>
          </p:nvPr>
        </p:nvSpPr>
        <p:spPr>
          <a:xfrm>
            <a:off x="327500" y="4472553"/>
            <a:ext cx="8270100" cy="47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point where the lines intersect is the </a:t>
            </a:r>
            <a:r>
              <a:rPr lang="en-GB" sz="2000" b="1"/>
              <a:t>centre of enlargement</a:t>
            </a: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25" name="Shape 1225"/>
        <p:cNvGrpSpPr/>
        <p:nvPr/>
      </p:nvGrpSpPr>
      <p:grpSpPr>
        <a:xfrm>
          <a:off x="0" y="0"/>
          <a:ext cx="0" cy="0"/>
        </a:xfrm>
      </p:grpSpPr>
      <p:sp>
        <p:nvSpPr>
          <p:cNvPr id="1226" name="Google Shape;1226;p89"/>
          <p:cNvSpPr txBox="1"/>
          <p:nvPr>
            <p:ph type="body" idx="1"/>
          </p:nvPr>
        </p:nvSpPr>
        <p:spPr>
          <a:xfrm>
            <a:off x="324000" y="759300"/>
            <a:ext cx="8270100" cy="42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Find the coordinates of the </a:t>
            </a:r>
            <a:r>
              <a:rPr lang="en-GB" sz="2000" b="1"/>
              <a:t>centre of enlargement</a:t>
            </a:r>
            <a:r>
              <a:rPr lang="en-GB" sz="2000"/>
              <a:t>. </a:t>
            </a:r>
            <a:endParaRPr sz="2000"/>
          </a:p>
        </p:txBody>
      </p:sp>
      <p:sp>
        <p:nvSpPr>
          <p:cNvPr id="1227" name="Google Shape;1227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pic>
        <p:nvPicPr>
          <p:cNvPr id="1228" name="Google Shape;122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909" y="1596325"/>
            <a:ext cx="4680583" cy="320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9" name="Google Shape;1229;p89"/>
          <p:cNvCxnSpPr/>
          <p:nvPr/>
        </p:nvCxnSpPr>
        <p:spPr>
          <a:xfrm flipH="1">
            <a:off x="3152361" y="1633093"/>
            <a:ext cx="0" cy="298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89"/>
          <p:cNvCxnSpPr/>
          <p:nvPr/>
        </p:nvCxnSpPr>
        <p:spPr>
          <a:xfrm>
            <a:off x="2788175" y="1644925"/>
            <a:ext cx="2591400" cy="2614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1" name="Google Shape;1231;p89"/>
          <p:cNvCxnSpPr/>
          <p:nvPr/>
        </p:nvCxnSpPr>
        <p:spPr>
          <a:xfrm flipH="1">
            <a:off x="1859250" y="1656750"/>
            <a:ext cx="1467300" cy="296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2" name="Google Shape;1232;p89"/>
          <p:cNvSpPr/>
          <p:nvPr/>
        </p:nvSpPr>
        <p:spPr>
          <a:xfrm>
            <a:off x="3107950" y="1971716"/>
            <a:ext cx="88800" cy="888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3" name="Google Shape;1233;p89"/>
          <p:cNvSpPr txBox="1"/>
          <p:nvPr/>
        </p:nvSpPr>
        <p:spPr>
          <a:xfrm>
            <a:off x="5464500" y="1856550"/>
            <a:ext cx="33558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latin typeface="Kalam"/>
                <a:ea typeface="Kalam"/>
                <a:cs typeface="Kalam"/>
                <a:sym typeface="Kalam"/>
              </a:rPr>
              <a:t>centre of enlargement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at (6, 7) 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7" name="Shape 1237"/>
        <p:cNvGrpSpPr/>
        <p:nvPr/>
      </p:nvGrpSpPr>
      <p:grpSpPr>
        <a:xfrm>
          <a:off x="0" y="0"/>
          <a:ext cx="0" cy="0"/>
        </a:xfrm>
      </p:grpSpPr>
      <p:sp>
        <p:nvSpPr>
          <p:cNvPr id="1238" name="Google Shape;1238;p90"/>
          <p:cNvSpPr txBox="1"/>
          <p:nvPr>
            <p:ph type="body" idx="1"/>
          </p:nvPr>
        </p:nvSpPr>
        <p:spPr>
          <a:xfrm>
            <a:off x="324000" y="759300"/>
            <a:ext cx="8270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 b="1"/>
              <a:t>centre of enlargement</a:t>
            </a:r>
            <a:r>
              <a:rPr lang="en-GB" sz="2000"/>
              <a:t> can be anywhere on or off the object.</a:t>
            </a:r>
            <a:endParaRPr sz="2000"/>
          </a:p>
        </p:txBody>
      </p:sp>
      <p:sp>
        <p:nvSpPr>
          <p:cNvPr id="1239" name="Google Shape;123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pic>
        <p:nvPicPr>
          <p:cNvPr id="1240" name="Google Shape;1240;p90"/>
          <p:cNvPicPr preferRelativeResize="0"/>
          <p:nvPr/>
        </p:nvPicPr>
        <p:blipFill>
          <a:blip r:embed="rId3">
            <a:alphaModFix/>
          </a:blip>
          <a:srcRect l="386" t="238" r="623" b="377"/>
          <a:stretch>
            <a:fillRect/>
          </a:stretch>
        </p:blipFill>
        <p:spPr>
          <a:xfrm>
            <a:off x="324000" y="1845729"/>
            <a:ext cx="1649503" cy="2555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90"/>
          <p:cNvPicPr preferRelativeResize="0"/>
          <p:nvPr/>
        </p:nvPicPr>
        <p:blipFill>
          <a:blip r:embed="rId4">
            <a:alphaModFix/>
          </a:blip>
          <a:srcRect l="484" t="258" r="613" b="466"/>
          <a:stretch>
            <a:fillRect/>
          </a:stretch>
        </p:blipFill>
        <p:spPr>
          <a:xfrm>
            <a:off x="4657649" y="1847046"/>
            <a:ext cx="1654857" cy="2553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90"/>
          <p:cNvPicPr preferRelativeResize="0"/>
          <p:nvPr/>
        </p:nvPicPr>
        <p:blipFill>
          <a:blip r:embed="rId5">
            <a:alphaModFix/>
          </a:blip>
          <a:srcRect l="455" t="258" r="416" b="159"/>
          <a:stretch>
            <a:fillRect/>
          </a:stretch>
        </p:blipFill>
        <p:spPr>
          <a:xfrm>
            <a:off x="2489229" y="1843127"/>
            <a:ext cx="1652693" cy="256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3" name="Google Shape;1243;p90"/>
          <p:cNvPicPr preferRelativeResize="0"/>
          <p:nvPr/>
        </p:nvPicPr>
        <p:blipFill>
          <a:blip r:embed="rId6">
            <a:alphaModFix/>
          </a:blip>
          <a:srcRect l="397" t="308" r="347" b="308"/>
          <a:stretch>
            <a:fillRect/>
          </a:stretch>
        </p:blipFill>
        <p:spPr>
          <a:xfrm>
            <a:off x="6828231" y="1845718"/>
            <a:ext cx="1652693" cy="2555798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90"/>
          <p:cNvSpPr txBox="1"/>
          <p:nvPr>
            <p:ph type="body" idx="1"/>
          </p:nvPr>
        </p:nvSpPr>
        <p:spPr>
          <a:xfrm>
            <a:off x="324000" y="1234248"/>
            <a:ext cx="8270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That point will remain invariant in the image.</a:t>
            </a:r>
            <a:endParaRPr sz="2000"/>
          </a:p>
        </p:txBody>
      </p:sp>
      <p:sp>
        <p:nvSpPr>
          <p:cNvPr id="1245" name="Google Shape;1245;p90"/>
          <p:cNvSpPr txBox="1"/>
          <p:nvPr>
            <p:ph type="body" idx="1"/>
          </p:nvPr>
        </p:nvSpPr>
        <p:spPr>
          <a:xfrm>
            <a:off x="731510" y="4476164"/>
            <a:ext cx="800400" cy="25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outside</a:t>
            </a:r>
            <a:endParaRPr sz="1600"/>
          </a:p>
        </p:txBody>
      </p:sp>
      <p:sp>
        <p:nvSpPr>
          <p:cNvPr id="1246" name="Google Shape;1246;p90"/>
          <p:cNvSpPr txBox="1"/>
          <p:nvPr>
            <p:ph type="body" idx="1"/>
          </p:nvPr>
        </p:nvSpPr>
        <p:spPr>
          <a:xfrm>
            <a:off x="2715312" y="4484200"/>
            <a:ext cx="1167000" cy="25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on an edge</a:t>
            </a:r>
            <a:endParaRPr sz="1600"/>
          </a:p>
        </p:txBody>
      </p:sp>
      <p:sp>
        <p:nvSpPr>
          <p:cNvPr id="1247" name="Google Shape;1247;p90"/>
          <p:cNvSpPr txBox="1"/>
          <p:nvPr>
            <p:ph type="body" idx="1"/>
          </p:nvPr>
        </p:nvSpPr>
        <p:spPr>
          <a:xfrm>
            <a:off x="4905664" y="4484973"/>
            <a:ext cx="1131900" cy="25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on a vertex</a:t>
            </a:r>
            <a:endParaRPr sz="1600"/>
          </a:p>
        </p:txBody>
      </p:sp>
      <p:sp>
        <p:nvSpPr>
          <p:cNvPr id="1248" name="Google Shape;1248;p90"/>
          <p:cNvSpPr txBox="1"/>
          <p:nvPr>
            <p:ph type="body" idx="1"/>
          </p:nvPr>
        </p:nvSpPr>
        <p:spPr>
          <a:xfrm>
            <a:off x="7333659" y="4485979"/>
            <a:ext cx="612000" cy="25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inside</a:t>
            </a:r>
            <a:endParaRPr sz="1600"/>
          </a:p>
        </p:txBody>
      </p:sp>
      <p:cxnSp>
        <p:nvCxnSpPr>
          <p:cNvPr id="1249" name="Google Shape;1249;p90"/>
          <p:cNvCxnSpPr/>
          <p:nvPr/>
        </p:nvCxnSpPr>
        <p:spPr>
          <a:xfrm flipH="1">
            <a:off x="513550" y="2056375"/>
            <a:ext cx="522300" cy="106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0" name="Google Shape;1250;p90"/>
          <p:cNvCxnSpPr/>
          <p:nvPr/>
        </p:nvCxnSpPr>
        <p:spPr>
          <a:xfrm flipH="1">
            <a:off x="517150" y="2064875"/>
            <a:ext cx="534000" cy="2153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1" name="Google Shape;1251;p90"/>
          <p:cNvCxnSpPr/>
          <p:nvPr/>
        </p:nvCxnSpPr>
        <p:spPr>
          <a:xfrm>
            <a:off x="1064750" y="2068275"/>
            <a:ext cx="528300" cy="2156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2" name="Google Shape;1252;p90"/>
          <p:cNvCxnSpPr/>
          <p:nvPr/>
        </p:nvCxnSpPr>
        <p:spPr>
          <a:xfrm>
            <a:off x="1083475" y="2056375"/>
            <a:ext cx="519900" cy="1064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3" name="Google Shape;1253;p90"/>
          <p:cNvCxnSpPr/>
          <p:nvPr/>
        </p:nvCxnSpPr>
        <p:spPr>
          <a:xfrm rot="10800000">
            <a:off x="2697206" y="2394498"/>
            <a:ext cx="496500" cy="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4" name="Google Shape;1254;p90"/>
          <p:cNvCxnSpPr/>
          <p:nvPr/>
        </p:nvCxnSpPr>
        <p:spPr>
          <a:xfrm rot="10800000">
            <a:off x="3256121" y="2394498"/>
            <a:ext cx="496500" cy="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5" name="Google Shape;1255;p90"/>
          <p:cNvCxnSpPr/>
          <p:nvPr/>
        </p:nvCxnSpPr>
        <p:spPr>
          <a:xfrm flipH="1">
            <a:off x="2680475" y="2416975"/>
            <a:ext cx="527400" cy="1077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6" name="Google Shape;1256;p90"/>
          <p:cNvCxnSpPr/>
          <p:nvPr/>
        </p:nvCxnSpPr>
        <p:spPr>
          <a:xfrm>
            <a:off x="3240200" y="2415275"/>
            <a:ext cx="524400" cy="1063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7" name="Google Shape;1257;p90"/>
          <p:cNvCxnSpPr/>
          <p:nvPr/>
        </p:nvCxnSpPr>
        <p:spPr>
          <a:xfrm>
            <a:off x="5230450" y="2420150"/>
            <a:ext cx="1053000" cy="1048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8" name="Google Shape;1258;p90"/>
          <p:cNvCxnSpPr/>
          <p:nvPr/>
        </p:nvCxnSpPr>
        <p:spPr>
          <a:xfrm rot="10800000">
            <a:off x="5236825" y="2394575"/>
            <a:ext cx="1052700" cy="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9" name="Google Shape;1259;p90"/>
          <p:cNvCxnSpPr/>
          <p:nvPr/>
        </p:nvCxnSpPr>
        <p:spPr>
          <a:xfrm rot="10800000" flipH="1">
            <a:off x="5209100" y="2431775"/>
            <a:ext cx="2100" cy="105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0" name="Google Shape;1260;p90"/>
          <p:cNvCxnSpPr/>
          <p:nvPr/>
        </p:nvCxnSpPr>
        <p:spPr>
          <a:xfrm>
            <a:off x="7585101" y="2599451"/>
            <a:ext cx="510000" cy="507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1" name="Google Shape;1261;p90"/>
          <p:cNvCxnSpPr/>
          <p:nvPr/>
        </p:nvCxnSpPr>
        <p:spPr>
          <a:xfrm>
            <a:off x="7030245" y="2042846"/>
            <a:ext cx="510000" cy="507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90"/>
          <p:cNvCxnSpPr/>
          <p:nvPr/>
        </p:nvCxnSpPr>
        <p:spPr>
          <a:xfrm flipH="1">
            <a:off x="7586581" y="2038186"/>
            <a:ext cx="501600" cy="516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3" name="Google Shape;1263;p90"/>
          <p:cNvCxnSpPr/>
          <p:nvPr/>
        </p:nvCxnSpPr>
        <p:spPr>
          <a:xfrm flipH="1">
            <a:off x="7038650" y="2595100"/>
            <a:ext cx="501600" cy="516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67" name="Shape 1267"/>
        <p:cNvGrpSpPr/>
        <p:nvPr/>
      </p:nvGrpSpPr>
      <p:grpSpPr>
        <a:xfrm>
          <a:off x="0" y="0"/>
          <a:ext cx="0" cy="0"/>
        </a:xfrm>
      </p:grpSpPr>
      <p:sp>
        <p:nvSpPr>
          <p:cNvPr id="1268" name="Google Shape;1268;p9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sp>
        <p:nvSpPr>
          <p:cNvPr id="1269" name="Google Shape;1269;p91"/>
          <p:cNvSpPr txBox="1"/>
          <p:nvPr>
            <p:ph type="title"/>
          </p:nvPr>
        </p:nvSpPr>
        <p:spPr>
          <a:xfrm>
            <a:off x="324000" y="748775"/>
            <a:ext cx="7351200" cy="8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Which diagram has a correctly drawn a line to locate the </a:t>
            </a:r>
            <a:r>
              <a:rPr lang="en-GB" sz="2000" b="1"/>
              <a:t>centre of enlargement</a:t>
            </a:r>
            <a:r>
              <a:rPr lang="en-GB" sz="2000"/>
              <a:t>?</a:t>
            </a:r>
            <a:endParaRPr sz="2000"/>
          </a:p>
        </p:txBody>
      </p:sp>
      <p:pic>
        <p:nvPicPr>
          <p:cNvPr id="1270" name="Google Shape;1270;p91"/>
          <p:cNvPicPr preferRelativeResize="0"/>
          <p:nvPr/>
        </p:nvPicPr>
        <p:blipFill>
          <a:blip r:embed="rId3">
            <a:alphaModFix/>
          </a:blip>
          <a:srcRect l="228" t="248" r="238" b="387"/>
          <a:stretch>
            <a:fillRect/>
          </a:stretch>
        </p:blipFill>
        <p:spPr>
          <a:xfrm>
            <a:off x="320350" y="1923148"/>
            <a:ext cx="2566851" cy="186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91"/>
          <p:cNvPicPr preferRelativeResize="0"/>
          <p:nvPr/>
        </p:nvPicPr>
        <p:blipFill>
          <a:blip r:embed="rId3">
            <a:alphaModFix/>
          </a:blip>
          <a:srcRect l="228" t="248" r="238" b="387"/>
          <a:stretch>
            <a:fillRect/>
          </a:stretch>
        </p:blipFill>
        <p:spPr>
          <a:xfrm>
            <a:off x="3288575" y="1923136"/>
            <a:ext cx="2566851" cy="186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91"/>
          <p:cNvPicPr preferRelativeResize="0"/>
          <p:nvPr/>
        </p:nvPicPr>
        <p:blipFill>
          <a:blip r:embed="rId3">
            <a:alphaModFix/>
          </a:blip>
          <a:srcRect l="228" t="248" r="238" b="387"/>
          <a:stretch>
            <a:fillRect/>
          </a:stretch>
        </p:blipFill>
        <p:spPr>
          <a:xfrm>
            <a:off x="6256800" y="1923148"/>
            <a:ext cx="2566851" cy="1863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3" name="Google Shape;1273;p91"/>
          <p:cNvCxnSpPr/>
          <p:nvPr/>
        </p:nvCxnSpPr>
        <p:spPr>
          <a:xfrm flipH="1">
            <a:off x="3875620" y="1959450"/>
            <a:ext cx="912600" cy="1816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4" name="Google Shape;1274;p91"/>
          <p:cNvCxnSpPr/>
          <p:nvPr/>
        </p:nvCxnSpPr>
        <p:spPr>
          <a:xfrm flipH="1">
            <a:off x="1121791" y="1923136"/>
            <a:ext cx="491700" cy="1848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5" name="Google Shape;1275;p91"/>
          <p:cNvCxnSpPr/>
          <p:nvPr/>
        </p:nvCxnSpPr>
        <p:spPr>
          <a:xfrm flipH="1">
            <a:off x="6889077" y="1928450"/>
            <a:ext cx="606900" cy="1860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76" name="Google Shape;1276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2233" y="36819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0" name="Shape 1280"/>
        <p:cNvGrpSpPr/>
        <p:nvPr/>
      </p:nvGrpSpPr>
      <p:grpSpPr>
        <a:xfrm>
          <a:off x="0" y="0"/>
          <a:ext cx="0" cy="0"/>
        </a:xfrm>
      </p:grpSpPr>
      <p:pic>
        <p:nvPicPr>
          <p:cNvPr id="1281" name="Google Shape;1281;p92"/>
          <p:cNvPicPr preferRelativeResize="0"/>
          <p:nvPr/>
        </p:nvPicPr>
        <p:blipFill>
          <a:blip r:embed="rId3">
            <a:alphaModFix/>
          </a:blip>
          <a:srcRect l="228" t="248" r="238" b="387"/>
          <a:stretch>
            <a:fillRect/>
          </a:stretch>
        </p:blipFill>
        <p:spPr>
          <a:xfrm>
            <a:off x="4583559" y="2022965"/>
            <a:ext cx="3297258" cy="2393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92"/>
          <p:cNvPicPr preferRelativeResize="0"/>
          <p:nvPr/>
        </p:nvPicPr>
        <p:blipFill>
          <a:blip r:embed="rId4">
            <a:alphaModFix/>
          </a:blip>
          <a:srcRect l="20079" r="6693" b="11363"/>
          <a:stretch>
            <a:fillRect/>
          </a:stretch>
        </p:blipFill>
        <p:spPr>
          <a:xfrm>
            <a:off x="4599294" y="2012500"/>
            <a:ext cx="3273478" cy="23901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3" name="Google Shape;1283;p9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sp>
        <p:nvSpPr>
          <p:cNvPr id="1284" name="Google Shape;1284;p92"/>
          <p:cNvSpPr txBox="1"/>
          <p:nvPr>
            <p:ph type="title"/>
          </p:nvPr>
        </p:nvSpPr>
        <p:spPr>
          <a:xfrm>
            <a:off x="324000" y="810008"/>
            <a:ext cx="8179200" cy="8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If the </a:t>
            </a:r>
            <a:r>
              <a:rPr lang="en-GB" sz="2000" b="1"/>
              <a:t>centre of enlargement</a:t>
            </a:r>
            <a:r>
              <a:rPr lang="en-GB" sz="2000"/>
              <a:t> moved to the right, in which direction would the image move?</a:t>
            </a:r>
            <a:endParaRPr sz="2000"/>
          </a:p>
        </p:txBody>
      </p:sp>
      <p:cxnSp>
        <p:nvCxnSpPr>
          <p:cNvPr id="1285" name="Google Shape;1285;p92"/>
          <p:cNvCxnSpPr/>
          <p:nvPr/>
        </p:nvCxnSpPr>
        <p:spPr>
          <a:xfrm flipH="1">
            <a:off x="5395649" y="2029776"/>
            <a:ext cx="779700" cy="239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6" name="Google Shape;1286;p92"/>
          <p:cNvSpPr txBox="1"/>
          <p:nvPr>
            <p:ph type="subTitle" idx="1"/>
          </p:nvPr>
        </p:nvSpPr>
        <p:spPr>
          <a:xfrm>
            <a:off x="1034425" y="1685375"/>
            <a:ext cx="8055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left</a:t>
            </a:r>
            <a:endParaRPr/>
          </a:p>
        </p:txBody>
      </p:sp>
      <p:sp>
        <p:nvSpPr>
          <p:cNvPr id="1287" name="Google Shape;1287;p92"/>
          <p:cNvSpPr txBox="1"/>
          <p:nvPr>
            <p:ph type="subTitle" idx="3"/>
          </p:nvPr>
        </p:nvSpPr>
        <p:spPr>
          <a:xfrm>
            <a:off x="1034425" y="2489450"/>
            <a:ext cx="8055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right</a:t>
            </a:r>
            <a:endParaRPr/>
          </a:p>
        </p:txBody>
      </p:sp>
      <p:sp>
        <p:nvSpPr>
          <p:cNvPr id="1288" name="Google Shape;1288;p92"/>
          <p:cNvSpPr txBox="1"/>
          <p:nvPr>
            <p:ph type="subTitle" idx="4"/>
          </p:nvPr>
        </p:nvSpPr>
        <p:spPr>
          <a:xfrm>
            <a:off x="1034425" y="3309775"/>
            <a:ext cx="758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up</a:t>
            </a:r>
            <a:endParaRPr/>
          </a:p>
        </p:txBody>
      </p:sp>
      <p:sp>
        <p:nvSpPr>
          <p:cNvPr id="1289" name="Google Shape;1289;p92"/>
          <p:cNvSpPr txBox="1"/>
          <p:nvPr>
            <p:ph type="subTitle" idx="5"/>
          </p:nvPr>
        </p:nvSpPr>
        <p:spPr>
          <a:xfrm>
            <a:off x="1034425" y="4113825"/>
            <a:ext cx="9357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down</a:t>
            </a:r>
            <a:endParaRPr/>
          </a:p>
        </p:txBody>
      </p:sp>
      <p:cxnSp>
        <p:nvCxnSpPr>
          <p:cNvPr id="1290" name="Google Shape;1290;p92"/>
          <p:cNvCxnSpPr/>
          <p:nvPr/>
        </p:nvCxnSpPr>
        <p:spPr>
          <a:xfrm>
            <a:off x="5983368" y="2042065"/>
            <a:ext cx="798600" cy="2360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92"/>
          <p:cNvCxnSpPr/>
          <p:nvPr/>
        </p:nvCxnSpPr>
        <p:spPr>
          <a:xfrm>
            <a:off x="6078018" y="2012490"/>
            <a:ext cx="23700" cy="2402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92"/>
          <p:cNvCxnSpPr/>
          <p:nvPr/>
        </p:nvCxnSpPr>
        <p:spPr>
          <a:xfrm rot="10800000" flipH="1">
            <a:off x="6225918" y="1877765"/>
            <a:ext cx="313800" cy="306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3" name="Google Shape;1293;p92"/>
          <p:cNvSpPr txBox="1"/>
          <p:nvPr/>
        </p:nvSpPr>
        <p:spPr>
          <a:xfrm>
            <a:off x="5983375" y="1562075"/>
            <a:ext cx="2596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centre of enlargement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4" name="Google Shape;1294;p92"/>
          <p:cNvCxnSpPr/>
          <p:nvPr/>
        </p:nvCxnSpPr>
        <p:spPr>
          <a:xfrm rot="10800000" flipH="1">
            <a:off x="5657618" y="4236040"/>
            <a:ext cx="148200" cy="315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5" name="Google Shape;1295;p92"/>
          <p:cNvSpPr/>
          <p:nvPr/>
        </p:nvSpPr>
        <p:spPr>
          <a:xfrm>
            <a:off x="6035025" y="2279165"/>
            <a:ext cx="88800" cy="888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96" name="Google Shape;1296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4133" y="1639125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7" name="Google Shape;1297;p92"/>
          <p:cNvCxnSpPr/>
          <p:nvPr/>
        </p:nvCxnSpPr>
        <p:spPr>
          <a:xfrm flipH="1">
            <a:off x="4997169" y="2048525"/>
            <a:ext cx="1577700" cy="234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8" name="Google Shape;1298;p92"/>
          <p:cNvCxnSpPr/>
          <p:nvPr/>
        </p:nvCxnSpPr>
        <p:spPr>
          <a:xfrm flipH="1">
            <a:off x="5369719" y="2039200"/>
            <a:ext cx="1160400" cy="2332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9" name="Google Shape;1299;p92"/>
          <p:cNvCxnSpPr/>
          <p:nvPr/>
        </p:nvCxnSpPr>
        <p:spPr>
          <a:xfrm>
            <a:off x="6387419" y="2058825"/>
            <a:ext cx="300" cy="234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0" name="Google Shape;1300;p92"/>
          <p:cNvSpPr/>
          <p:nvPr/>
        </p:nvSpPr>
        <p:spPr>
          <a:xfrm>
            <a:off x="6345144" y="2279165"/>
            <a:ext cx="88800" cy="888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1" name="Google Shape;1301;p92"/>
          <p:cNvSpPr txBox="1"/>
          <p:nvPr/>
        </p:nvSpPr>
        <p:spPr>
          <a:xfrm>
            <a:off x="4784566" y="2641024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92"/>
          <p:cNvSpPr txBox="1"/>
          <p:nvPr/>
        </p:nvSpPr>
        <p:spPr>
          <a:xfrm>
            <a:off x="5159261" y="4486157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3" name="Google Shape;1303;p92"/>
          <p:cNvCxnSpPr/>
          <p:nvPr/>
        </p:nvCxnSpPr>
        <p:spPr>
          <a:xfrm rot="10800000" flipH="1">
            <a:off x="6407350" y="1873650"/>
            <a:ext cx="118500" cy="355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4" name="Google Shape;1304;p92"/>
          <p:cNvCxnSpPr/>
          <p:nvPr/>
        </p:nvCxnSpPr>
        <p:spPr>
          <a:xfrm rot="10800000" flipH="1">
            <a:off x="5657625" y="4227200"/>
            <a:ext cx="65400" cy="33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5" name="Google Shape;1305;p92"/>
          <p:cNvCxnSpPr/>
          <p:nvPr/>
        </p:nvCxnSpPr>
        <p:spPr>
          <a:xfrm>
            <a:off x="5533968" y="2887502"/>
            <a:ext cx="331200" cy="178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9" name="Shape 1309"/>
        <p:cNvGrpSpPr/>
        <p:nvPr/>
      </p:nvGrpSpPr>
      <p:grpSpPr>
        <a:xfrm>
          <a:off x="0" y="0"/>
          <a:ext cx="0" cy="0"/>
        </a:xfrm>
      </p:grpSpPr>
      <p:pic>
        <p:nvPicPr>
          <p:cNvPr id="1310" name="Google Shape;1310;p93"/>
          <p:cNvPicPr preferRelativeResize="0"/>
          <p:nvPr/>
        </p:nvPicPr>
        <p:blipFill>
          <a:blip r:embed="rId3">
            <a:alphaModFix/>
          </a:blip>
          <a:srcRect l="209" t="447" r="139"/>
          <a:stretch>
            <a:fillRect/>
          </a:stretch>
        </p:blipFill>
        <p:spPr>
          <a:xfrm>
            <a:off x="3361728" y="1604256"/>
            <a:ext cx="4498225" cy="3215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9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sp>
        <p:nvSpPr>
          <p:cNvPr id="1312" name="Google Shape;1312;p93"/>
          <p:cNvSpPr txBox="1"/>
          <p:nvPr>
            <p:ph type="title"/>
          </p:nvPr>
        </p:nvSpPr>
        <p:spPr>
          <a:xfrm>
            <a:off x="324000" y="810004"/>
            <a:ext cx="8179200" cy="4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At which point is the </a:t>
            </a:r>
            <a:r>
              <a:rPr lang="en-GB" sz="2000" b="1"/>
              <a:t>centre of enlargement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313" name="Google Shape;1313;p93"/>
          <p:cNvSpPr txBox="1"/>
          <p:nvPr>
            <p:ph type="subTitle" idx="1"/>
          </p:nvPr>
        </p:nvSpPr>
        <p:spPr>
          <a:xfrm>
            <a:off x="1034425" y="1685375"/>
            <a:ext cx="8055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1314" name="Google Shape;1314;p93"/>
          <p:cNvSpPr txBox="1"/>
          <p:nvPr>
            <p:ph type="subTitle" idx="3"/>
          </p:nvPr>
        </p:nvSpPr>
        <p:spPr>
          <a:xfrm>
            <a:off x="1034425" y="2489450"/>
            <a:ext cx="8055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315" name="Google Shape;1315;p93"/>
          <p:cNvSpPr txBox="1"/>
          <p:nvPr>
            <p:ph type="subTitle" idx="4"/>
          </p:nvPr>
        </p:nvSpPr>
        <p:spPr>
          <a:xfrm>
            <a:off x="1034425" y="3309775"/>
            <a:ext cx="758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sp>
        <p:nvSpPr>
          <p:cNvPr id="1316" name="Google Shape;1316;p93"/>
          <p:cNvSpPr txBox="1"/>
          <p:nvPr>
            <p:ph type="subTitle" idx="5"/>
          </p:nvPr>
        </p:nvSpPr>
        <p:spPr>
          <a:xfrm>
            <a:off x="1034425" y="4113825"/>
            <a:ext cx="9357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endParaRPr/>
          </a:p>
        </p:txBody>
      </p:sp>
      <p:pic>
        <p:nvPicPr>
          <p:cNvPr id="1317" name="Google Shape;1317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1608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93"/>
          <p:cNvSpPr/>
          <p:nvPr/>
        </p:nvSpPr>
        <p:spPr>
          <a:xfrm>
            <a:off x="4291730" y="3162149"/>
            <a:ext cx="88800" cy="888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9" name="Google Shape;1319;p93"/>
          <p:cNvSpPr/>
          <p:nvPr/>
        </p:nvSpPr>
        <p:spPr>
          <a:xfrm>
            <a:off x="4923015" y="3162149"/>
            <a:ext cx="88800" cy="888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0" name="Google Shape;1320;p93"/>
          <p:cNvSpPr/>
          <p:nvPr/>
        </p:nvSpPr>
        <p:spPr>
          <a:xfrm>
            <a:off x="4282828" y="2518251"/>
            <a:ext cx="88800" cy="888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1" name="Google Shape;1321;p93"/>
          <p:cNvSpPr/>
          <p:nvPr/>
        </p:nvSpPr>
        <p:spPr>
          <a:xfrm>
            <a:off x="3646559" y="3162149"/>
            <a:ext cx="88800" cy="888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2" name="Google Shape;1322;p93"/>
          <p:cNvSpPr txBox="1"/>
          <p:nvPr/>
        </p:nvSpPr>
        <p:spPr>
          <a:xfrm>
            <a:off x="4123098" y="2300350"/>
            <a:ext cx="196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93"/>
          <p:cNvSpPr txBox="1"/>
          <p:nvPr/>
        </p:nvSpPr>
        <p:spPr>
          <a:xfrm>
            <a:off x="3506762" y="2944248"/>
            <a:ext cx="196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93"/>
          <p:cNvSpPr txBox="1"/>
          <p:nvPr/>
        </p:nvSpPr>
        <p:spPr>
          <a:xfrm>
            <a:off x="4130037" y="2948698"/>
            <a:ext cx="196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93"/>
          <p:cNvSpPr txBox="1"/>
          <p:nvPr/>
        </p:nvSpPr>
        <p:spPr>
          <a:xfrm>
            <a:off x="4770560" y="2966493"/>
            <a:ext cx="196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6" name="Google Shape;1326;p93"/>
          <p:cNvCxnSpPr/>
          <p:nvPr/>
        </p:nvCxnSpPr>
        <p:spPr>
          <a:xfrm flipH="1">
            <a:off x="4331023" y="3262874"/>
            <a:ext cx="4500" cy="1243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7" name="Google Shape;1327;p93"/>
          <p:cNvCxnSpPr/>
          <p:nvPr/>
        </p:nvCxnSpPr>
        <p:spPr>
          <a:xfrm flipH="1">
            <a:off x="4333875" y="1932225"/>
            <a:ext cx="0" cy="1213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93"/>
          <p:cNvCxnSpPr>
            <a:stCxn id="1318" idx="6"/>
          </p:cNvCxnSpPr>
          <p:nvPr/>
        </p:nvCxnSpPr>
        <p:spPr>
          <a:xfrm>
            <a:off x="4380530" y="3206549"/>
            <a:ext cx="3137100" cy="11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2" name="Shape 1332"/>
        <p:cNvGrpSpPr/>
        <p:nvPr/>
      </p:nvGrpSpPr>
      <p:grpSpPr>
        <a:xfrm>
          <a:off x="0" y="0"/>
          <a:ext cx="0" cy="0"/>
        </a:xfrm>
      </p:grpSpPr>
      <p:sp>
        <p:nvSpPr>
          <p:cNvPr id="1333" name="Google Shape;1333;p94"/>
          <p:cNvSpPr txBox="1"/>
          <p:nvPr>
            <p:ph type="body" idx="1"/>
          </p:nvPr>
        </p:nvSpPr>
        <p:spPr>
          <a:xfrm>
            <a:off x="324000" y="759300"/>
            <a:ext cx="8270100" cy="76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full description of an enlargement requires both the </a:t>
            </a:r>
            <a:r>
              <a:rPr lang="en-GB" sz="2000" b="1"/>
              <a:t>scale factor</a:t>
            </a:r>
            <a:r>
              <a:rPr lang="en-GB" sz="2000"/>
              <a:t> and the </a:t>
            </a:r>
            <a:r>
              <a:rPr lang="en-GB" sz="2000" b="1"/>
              <a:t>centre of enlargement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334" name="Google Shape;133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sp>
        <p:nvSpPr>
          <p:cNvPr id="1335" name="Google Shape;1335;p94"/>
          <p:cNvSpPr txBox="1"/>
          <p:nvPr>
            <p:ph type="body" idx="1"/>
          </p:nvPr>
        </p:nvSpPr>
        <p:spPr>
          <a:xfrm>
            <a:off x="324000" y="1543800"/>
            <a:ext cx="82701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Example: fully describe the transformation from A to A′.</a:t>
            </a:r>
            <a:endParaRPr sz="2000"/>
          </a:p>
        </p:txBody>
      </p:sp>
      <p:pic>
        <p:nvPicPr>
          <p:cNvPr id="1336" name="Google Shape;1336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008200"/>
            <a:ext cx="5068904" cy="2812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7" name="Google Shape;1337;p94"/>
          <p:cNvCxnSpPr/>
          <p:nvPr/>
        </p:nvCxnSpPr>
        <p:spPr>
          <a:xfrm>
            <a:off x="1413288" y="2034900"/>
            <a:ext cx="3753000" cy="1887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8" name="Google Shape;1338;p94"/>
          <p:cNvCxnSpPr/>
          <p:nvPr/>
        </p:nvCxnSpPr>
        <p:spPr>
          <a:xfrm rot="10800000" flipH="1">
            <a:off x="542840" y="2912575"/>
            <a:ext cx="4738800" cy="157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9" name="Google Shape;1339;p94"/>
          <p:cNvCxnSpPr/>
          <p:nvPr/>
        </p:nvCxnSpPr>
        <p:spPr>
          <a:xfrm rot="10800000">
            <a:off x="525123" y="2178800"/>
            <a:ext cx="4780200" cy="159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0" name="Google Shape;1340;p94"/>
          <p:cNvCxnSpPr/>
          <p:nvPr/>
        </p:nvCxnSpPr>
        <p:spPr>
          <a:xfrm rot="10800000" flipH="1">
            <a:off x="1436175" y="2687575"/>
            <a:ext cx="3833700" cy="1952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1" name="Google Shape;1341;p94"/>
          <p:cNvCxnSpPr/>
          <p:nvPr/>
        </p:nvCxnSpPr>
        <p:spPr>
          <a:xfrm>
            <a:off x="3023165" y="3753462"/>
            <a:ext cx="350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42" name="Google Shape;1342;p94"/>
          <p:cNvSpPr txBox="1"/>
          <p:nvPr/>
        </p:nvSpPr>
        <p:spPr>
          <a:xfrm>
            <a:off x="2937303" y="3790803"/>
            <a:ext cx="5553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 unit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3" name="Google Shape;1343;p94"/>
          <p:cNvCxnSpPr/>
          <p:nvPr/>
        </p:nvCxnSpPr>
        <p:spPr>
          <a:xfrm rot="10800000" flipH="1">
            <a:off x="1110400" y="4375122"/>
            <a:ext cx="966300" cy="6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44" name="Google Shape;1344;p94"/>
          <p:cNvSpPr txBox="1"/>
          <p:nvPr/>
        </p:nvSpPr>
        <p:spPr>
          <a:xfrm>
            <a:off x="1299397" y="4387041"/>
            <a:ext cx="8418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units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94"/>
          <p:cNvSpPr/>
          <p:nvPr/>
        </p:nvSpPr>
        <p:spPr>
          <a:xfrm>
            <a:off x="3953960" y="3293430"/>
            <a:ext cx="88800" cy="888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6" name="Google Shape;1346;p94"/>
          <p:cNvSpPr txBox="1"/>
          <p:nvPr/>
        </p:nvSpPr>
        <p:spPr>
          <a:xfrm>
            <a:off x="5468300" y="3786250"/>
            <a:ext cx="2836200" cy="10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Object A has been enlarged by a </a:t>
            </a:r>
            <a:r>
              <a:rPr lang="en-GB" sz="1800" b="1">
                <a:latin typeface="Kalam"/>
                <a:ea typeface="Kalam"/>
                <a:cs typeface="Kalam"/>
                <a:sym typeface="Kalam"/>
              </a:rPr>
              <a:t>scale factor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of 3 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from the point (11, 4).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7" name="Google Shape;1347;p94"/>
          <p:cNvSpPr txBox="1"/>
          <p:nvPr/>
        </p:nvSpPr>
        <p:spPr>
          <a:xfrm>
            <a:off x="5479032" y="2216719"/>
            <a:ext cx="12624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latin typeface="Kalam"/>
                <a:ea typeface="Kalam"/>
                <a:cs typeface="Kalam"/>
                <a:sym typeface="Kalam"/>
              </a:rPr>
              <a:t>scale factor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8" name="Google Shape;1348;p94"/>
          <p:cNvSpPr txBox="1"/>
          <p:nvPr/>
        </p:nvSpPr>
        <p:spPr>
          <a:xfrm>
            <a:off x="3651700" y="3496675"/>
            <a:ext cx="6933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(11, 4) 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9" name="Google Shape;1349;p94"/>
          <p:cNvSpPr txBox="1"/>
          <p:nvPr/>
        </p:nvSpPr>
        <p:spPr>
          <a:xfrm>
            <a:off x="1507347" y="3178975"/>
            <a:ext cx="3507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94"/>
          <p:cNvSpPr txBox="1"/>
          <p:nvPr/>
        </p:nvSpPr>
        <p:spPr>
          <a:xfrm>
            <a:off x="3105742" y="3186710"/>
            <a:ext cx="2013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1" name="Google Shape;1351;p94"/>
          <p:cNvPicPr preferRelativeResize="0"/>
          <p:nvPr/>
        </p:nvPicPr>
        <p:blipFill>
          <a:blip r:embed="rId4">
            <a:alphaModFix/>
          </a:blip>
          <a:srcRect r="31572"/>
          <a:stretch>
            <a:fillRect/>
          </a:stretch>
        </p:blipFill>
        <p:spPr>
          <a:xfrm>
            <a:off x="6741425" y="2232475"/>
            <a:ext cx="1112225" cy="22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2" name="Google Shape;1352;p94"/>
          <p:cNvPicPr preferRelativeResize="0"/>
          <p:nvPr/>
        </p:nvPicPr>
        <p:blipFill>
          <a:blip r:embed="rId4">
            <a:alphaModFix/>
          </a:blip>
          <a:srcRect l="70917"/>
          <a:stretch>
            <a:fillRect/>
          </a:stretch>
        </p:blipFill>
        <p:spPr>
          <a:xfrm>
            <a:off x="6702680" y="2612194"/>
            <a:ext cx="472700" cy="22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94"/>
          <p:cNvSpPr txBox="1"/>
          <p:nvPr/>
        </p:nvSpPr>
        <p:spPr>
          <a:xfrm>
            <a:off x="5468300" y="3176100"/>
            <a:ext cx="33516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>
                <a:latin typeface="Kalam"/>
                <a:ea typeface="Kalam"/>
                <a:cs typeface="Kalam"/>
                <a:sym typeface="Kalam"/>
              </a:rPr>
              <a:t>centre of enlargement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at (11, 4)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57" name="Shape 1357"/>
        <p:cNvGrpSpPr/>
        <p:nvPr/>
      </p:nvGrpSpPr>
      <p:grpSpPr>
        <a:xfrm>
          <a:off x="0" y="0"/>
          <a:ext cx="0" cy="0"/>
        </a:xfrm>
      </p:grpSpPr>
      <p:sp>
        <p:nvSpPr>
          <p:cNvPr id="1358" name="Google Shape;1358;p95"/>
          <p:cNvSpPr txBox="1"/>
          <p:nvPr>
            <p:ph type="subTitle" idx="1"/>
          </p:nvPr>
        </p:nvSpPr>
        <p:spPr>
          <a:xfrm>
            <a:off x="1034425" y="1685375"/>
            <a:ext cx="3285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centre of enlargement</a:t>
            </a:r>
            <a:endParaRPr/>
          </a:p>
        </p:txBody>
      </p:sp>
      <p:sp>
        <p:nvSpPr>
          <p:cNvPr id="1359" name="Google Shape;1359;p9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sp>
        <p:nvSpPr>
          <p:cNvPr id="1360" name="Google Shape;1360;p95"/>
          <p:cNvSpPr txBox="1"/>
          <p:nvPr>
            <p:ph type="title"/>
          </p:nvPr>
        </p:nvSpPr>
        <p:spPr>
          <a:xfrm>
            <a:off x="324000" y="810004"/>
            <a:ext cx="81792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Which information is missing from this description below?</a:t>
            </a:r>
            <a:endParaRPr/>
          </a:p>
        </p:txBody>
      </p:sp>
      <p:sp>
        <p:nvSpPr>
          <p:cNvPr id="1361" name="Google Shape;1361;p95"/>
          <p:cNvSpPr txBox="1"/>
          <p:nvPr>
            <p:ph type="subTitle" idx="3"/>
          </p:nvPr>
        </p:nvSpPr>
        <p:spPr>
          <a:xfrm>
            <a:off x="1034425" y="2489450"/>
            <a:ext cx="3285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line of symmetry</a:t>
            </a:r>
            <a:endParaRPr/>
          </a:p>
        </p:txBody>
      </p:sp>
      <p:sp>
        <p:nvSpPr>
          <p:cNvPr id="1362" name="Google Shape;1362;p95"/>
          <p:cNvSpPr txBox="1"/>
          <p:nvPr>
            <p:ph type="subTitle" idx="4"/>
          </p:nvPr>
        </p:nvSpPr>
        <p:spPr>
          <a:xfrm>
            <a:off x="1034425" y="3309775"/>
            <a:ext cx="3285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scale factor</a:t>
            </a:r>
            <a:endParaRPr/>
          </a:p>
        </p:txBody>
      </p:sp>
      <p:sp>
        <p:nvSpPr>
          <p:cNvPr id="1363" name="Google Shape;1363;p95"/>
          <p:cNvSpPr txBox="1"/>
          <p:nvPr>
            <p:ph type="subTitle" idx="5"/>
          </p:nvPr>
        </p:nvSpPr>
        <p:spPr>
          <a:xfrm>
            <a:off x="1034425" y="4113825"/>
            <a:ext cx="3285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vector</a:t>
            </a:r>
            <a:endParaRPr/>
          </a:p>
        </p:txBody>
      </p:sp>
      <p:sp>
        <p:nvSpPr>
          <p:cNvPr id="1364" name="Google Shape;1364;p95"/>
          <p:cNvSpPr txBox="1"/>
          <p:nvPr>
            <p:ph type="title"/>
          </p:nvPr>
        </p:nvSpPr>
        <p:spPr>
          <a:xfrm>
            <a:off x="4824000" y="1894681"/>
            <a:ext cx="3480900" cy="83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Object A has been enlarged by a </a:t>
            </a:r>
            <a:r>
              <a:rPr lang="en-GB" sz="1800" b="1"/>
              <a:t>scale factor</a:t>
            </a:r>
            <a:r>
              <a:rPr lang="en-GB" sz="1800"/>
              <a:t> of 2.</a:t>
            </a:r>
            <a:endParaRPr sz="1800"/>
          </a:p>
        </p:txBody>
      </p:sp>
      <p:pic>
        <p:nvPicPr>
          <p:cNvPr id="1365" name="Google Shape;136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008" y="16623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000" y="2571750"/>
            <a:ext cx="3607405" cy="22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95"/>
          <p:cNvSpPr txBox="1"/>
          <p:nvPr/>
        </p:nvSpPr>
        <p:spPr>
          <a:xfrm>
            <a:off x="7231316" y="3491881"/>
            <a:ext cx="3507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95"/>
          <p:cNvSpPr txBox="1"/>
          <p:nvPr/>
        </p:nvSpPr>
        <p:spPr>
          <a:xfrm>
            <a:off x="6394016" y="3491890"/>
            <a:ext cx="2013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72" name="Shape 1372"/>
        <p:cNvGrpSpPr/>
        <p:nvPr/>
      </p:nvGrpSpPr>
      <p:grpSpPr>
        <a:xfrm>
          <a:off x="0" y="0"/>
          <a:ext cx="0" cy="0"/>
        </a:xfrm>
      </p:grpSpPr>
      <p:sp>
        <p:nvSpPr>
          <p:cNvPr id="1373" name="Google Shape;1373;p96"/>
          <p:cNvSpPr txBox="1"/>
          <p:nvPr>
            <p:ph type="subTitle" idx="1"/>
          </p:nvPr>
        </p:nvSpPr>
        <p:spPr>
          <a:xfrm>
            <a:off x="1034425" y="1685375"/>
            <a:ext cx="3285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centre of enlargement</a:t>
            </a:r>
            <a:endParaRPr/>
          </a:p>
        </p:txBody>
      </p:sp>
      <p:sp>
        <p:nvSpPr>
          <p:cNvPr id="1374" name="Google Shape;1374;p9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sp>
        <p:nvSpPr>
          <p:cNvPr id="1375" name="Google Shape;1375;p96"/>
          <p:cNvSpPr txBox="1"/>
          <p:nvPr>
            <p:ph type="title"/>
          </p:nvPr>
        </p:nvSpPr>
        <p:spPr>
          <a:xfrm>
            <a:off x="324000" y="810004"/>
            <a:ext cx="8179200" cy="44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Which information is missing from this description below?</a:t>
            </a:r>
            <a:endParaRPr/>
          </a:p>
        </p:txBody>
      </p:sp>
      <p:sp>
        <p:nvSpPr>
          <p:cNvPr id="1376" name="Google Shape;1376;p96"/>
          <p:cNvSpPr txBox="1"/>
          <p:nvPr>
            <p:ph type="subTitle" idx="3"/>
          </p:nvPr>
        </p:nvSpPr>
        <p:spPr>
          <a:xfrm>
            <a:off x="1034425" y="2489450"/>
            <a:ext cx="3285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line of symmetry</a:t>
            </a:r>
            <a:endParaRPr/>
          </a:p>
        </p:txBody>
      </p:sp>
      <p:sp>
        <p:nvSpPr>
          <p:cNvPr id="1377" name="Google Shape;1377;p96"/>
          <p:cNvSpPr txBox="1"/>
          <p:nvPr>
            <p:ph type="subTitle" idx="4"/>
          </p:nvPr>
        </p:nvSpPr>
        <p:spPr>
          <a:xfrm>
            <a:off x="1034425" y="3309775"/>
            <a:ext cx="3285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scale factor</a:t>
            </a:r>
            <a:endParaRPr/>
          </a:p>
        </p:txBody>
      </p:sp>
      <p:sp>
        <p:nvSpPr>
          <p:cNvPr id="1378" name="Google Shape;1378;p96"/>
          <p:cNvSpPr txBox="1"/>
          <p:nvPr>
            <p:ph type="subTitle" idx="5"/>
          </p:nvPr>
        </p:nvSpPr>
        <p:spPr>
          <a:xfrm>
            <a:off x="1034425" y="4113825"/>
            <a:ext cx="3285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vector</a:t>
            </a:r>
            <a:endParaRPr/>
          </a:p>
        </p:txBody>
      </p:sp>
      <p:sp>
        <p:nvSpPr>
          <p:cNvPr id="1379" name="Google Shape;1379;p96"/>
          <p:cNvSpPr txBox="1"/>
          <p:nvPr>
            <p:ph type="title"/>
          </p:nvPr>
        </p:nvSpPr>
        <p:spPr>
          <a:xfrm>
            <a:off x="4824000" y="1894659"/>
            <a:ext cx="3400200" cy="83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Object A has been enlarged from the point (2, 3).</a:t>
            </a:r>
            <a:endParaRPr sz="1800"/>
          </a:p>
        </p:txBody>
      </p:sp>
      <p:pic>
        <p:nvPicPr>
          <p:cNvPr id="1380" name="Google Shape;1380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08" y="32625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1" name="Google Shape;138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000" y="2571750"/>
            <a:ext cx="3607405" cy="22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96"/>
          <p:cNvSpPr txBox="1"/>
          <p:nvPr/>
        </p:nvSpPr>
        <p:spPr>
          <a:xfrm>
            <a:off x="7231316" y="3491881"/>
            <a:ext cx="3507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96"/>
          <p:cNvSpPr txBox="1"/>
          <p:nvPr/>
        </p:nvSpPr>
        <p:spPr>
          <a:xfrm>
            <a:off x="6394016" y="3491890"/>
            <a:ext cx="2013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87" name="Shape 1387"/>
        <p:cNvGrpSpPr/>
        <p:nvPr/>
      </p:nvGrpSpPr>
      <p:grpSpPr>
        <a:xfrm>
          <a:off x="0" y="0"/>
          <a:ext cx="0" cy="0"/>
        </a:xfrm>
      </p:grpSpPr>
      <p:sp>
        <p:nvSpPr>
          <p:cNvPr id="1388" name="Google Shape;1388;p97"/>
          <p:cNvSpPr txBox="1"/>
          <p:nvPr>
            <p:ph type="body" idx="1"/>
          </p:nvPr>
        </p:nvSpPr>
        <p:spPr>
          <a:xfrm>
            <a:off x="324000" y="759300"/>
            <a:ext cx="8496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1. Tick the enlargements that have the same </a:t>
            </a:r>
            <a:r>
              <a:rPr lang="en-GB" sz="2000" b="1"/>
              <a:t>centre of enlargement</a:t>
            </a:r>
            <a:r>
              <a:rPr lang="en-GB" sz="2000"/>
              <a:t>.</a:t>
            </a:r>
            <a:endParaRPr/>
          </a:p>
        </p:txBody>
      </p:sp>
      <p:sp>
        <p:nvSpPr>
          <p:cNvPr id="1389" name="Google Shape;1389;p9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sp>
        <p:nvSpPr>
          <p:cNvPr id="1390" name="Google Shape;1390;p97"/>
          <p:cNvSpPr txBox="1"/>
          <p:nvPr>
            <p:ph type="body" idx="1"/>
          </p:nvPr>
        </p:nvSpPr>
        <p:spPr>
          <a:xfrm>
            <a:off x="5774400" y="1772700"/>
            <a:ext cx="1084800" cy="254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 to A′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B to B′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 to C′ </a:t>
            </a:r>
            <a:endParaRPr sz="2400"/>
          </a:p>
        </p:txBody>
      </p:sp>
      <p:pic>
        <p:nvPicPr>
          <p:cNvPr id="1391" name="Google Shape;139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246891"/>
            <a:ext cx="4847999" cy="3573510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97"/>
          <p:cNvSpPr txBox="1"/>
          <p:nvPr>
            <p:ph type="body" idx="1"/>
          </p:nvPr>
        </p:nvSpPr>
        <p:spPr>
          <a:xfrm>
            <a:off x="1342300" y="2244775"/>
            <a:ext cx="2952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A′</a:t>
            </a:r>
            <a:endParaRPr sz="1800"/>
          </a:p>
        </p:txBody>
      </p:sp>
      <p:sp>
        <p:nvSpPr>
          <p:cNvPr id="1393" name="Google Shape;1393;p97"/>
          <p:cNvSpPr txBox="1"/>
          <p:nvPr>
            <p:ph type="body" idx="1"/>
          </p:nvPr>
        </p:nvSpPr>
        <p:spPr>
          <a:xfrm>
            <a:off x="2148094" y="2777556"/>
            <a:ext cx="2952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394" name="Google Shape;1394;p97"/>
          <p:cNvSpPr txBox="1"/>
          <p:nvPr>
            <p:ph type="body" idx="1"/>
          </p:nvPr>
        </p:nvSpPr>
        <p:spPr>
          <a:xfrm>
            <a:off x="4056294" y="2522344"/>
            <a:ext cx="2952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B′</a:t>
            </a:r>
            <a:endParaRPr sz="1800"/>
          </a:p>
        </p:txBody>
      </p:sp>
      <p:sp>
        <p:nvSpPr>
          <p:cNvPr id="1395" name="Google Shape;1395;p97"/>
          <p:cNvSpPr txBox="1"/>
          <p:nvPr>
            <p:ph type="body" idx="1"/>
          </p:nvPr>
        </p:nvSpPr>
        <p:spPr>
          <a:xfrm>
            <a:off x="3432570" y="2777541"/>
            <a:ext cx="2397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396" name="Google Shape;1396;p97"/>
          <p:cNvSpPr txBox="1"/>
          <p:nvPr>
            <p:ph type="body" idx="1"/>
          </p:nvPr>
        </p:nvSpPr>
        <p:spPr>
          <a:xfrm>
            <a:off x="1885066" y="3526150"/>
            <a:ext cx="2952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C′</a:t>
            </a:r>
            <a:endParaRPr sz="1800"/>
          </a:p>
        </p:txBody>
      </p:sp>
      <p:sp>
        <p:nvSpPr>
          <p:cNvPr id="1397" name="Google Shape;1397;p97"/>
          <p:cNvSpPr txBox="1"/>
          <p:nvPr>
            <p:ph type="body" idx="1"/>
          </p:nvPr>
        </p:nvSpPr>
        <p:spPr>
          <a:xfrm>
            <a:off x="1621751" y="4096875"/>
            <a:ext cx="2397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1" name="Shape 1401"/>
        <p:cNvGrpSpPr/>
        <p:nvPr/>
      </p:nvGrpSpPr>
      <p:grpSpPr>
        <a:xfrm>
          <a:off x="0" y="0"/>
          <a:ext cx="0" cy="0"/>
        </a:xfrm>
      </p:grpSpPr>
      <p:sp>
        <p:nvSpPr>
          <p:cNvPr id="1402" name="Google Shape;1402;p98"/>
          <p:cNvSpPr txBox="1"/>
          <p:nvPr>
            <p:ph type="body" idx="1"/>
          </p:nvPr>
        </p:nvSpPr>
        <p:spPr>
          <a:xfrm>
            <a:off x="324000" y="759300"/>
            <a:ext cx="82377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2. Describe each transformation fully.</a:t>
            </a:r>
            <a:endParaRPr sz="2000"/>
          </a:p>
        </p:txBody>
      </p:sp>
      <p:sp>
        <p:nvSpPr>
          <p:cNvPr id="1403" name="Google Shape;1403;p9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pic>
        <p:nvPicPr>
          <p:cNvPr id="1404" name="Google Shape;1404;p98"/>
          <p:cNvPicPr preferRelativeResize="0"/>
          <p:nvPr/>
        </p:nvPicPr>
        <p:blipFill>
          <a:blip r:embed="rId3">
            <a:alphaModFix/>
          </a:blip>
          <a:srcRect r="11902"/>
          <a:stretch>
            <a:fillRect/>
          </a:stretch>
        </p:blipFill>
        <p:spPr>
          <a:xfrm>
            <a:off x="324000" y="1619995"/>
            <a:ext cx="3920550" cy="192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98"/>
          <p:cNvPicPr preferRelativeResize="0"/>
          <p:nvPr/>
        </p:nvPicPr>
        <p:blipFill>
          <a:blip r:embed="rId4">
            <a:alphaModFix/>
          </a:blip>
          <a:srcRect r="11793"/>
          <a:stretch>
            <a:fillRect/>
          </a:stretch>
        </p:blipFill>
        <p:spPr>
          <a:xfrm>
            <a:off x="4823999" y="1609025"/>
            <a:ext cx="3920550" cy="194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p98"/>
          <p:cNvSpPr txBox="1"/>
          <p:nvPr>
            <p:ph type="body" idx="1"/>
          </p:nvPr>
        </p:nvSpPr>
        <p:spPr>
          <a:xfrm>
            <a:off x="324000" y="1242234"/>
            <a:ext cx="11010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A to A′</a:t>
            </a:r>
            <a:endParaRPr sz="1800"/>
          </a:p>
        </p:txBody>
      </p:sp>
      <p:sp>
        <p:nvSpPr>
          <p:cNvPr id="1407" name="Google Shape;1407;p98"/>
          <p:cNvSpPr txBox="1"/>
          <p:nvPr>
            <p:ph type="body" idx="1"/>
          </p:nvPr>
        </p:nvSpPr>
        <p:spPr>
          <a:xfrm>
            <a:off x="4824000" y="1223531"/>
            <a:ext cx="11010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B to B′</a:t>
            </a:r>
            <a:endParaRPr sz="1800"/>
          </a:p>
        </p:txBody>
      </p:sp>
      <p:sp>
        <p:nvSpPr>
          <p:cNvPr id="1408" name="Google Shape;1408;p98"/>
          <p:cNvSpPr txBox="1"/>
          <p:nvPr>
            <p:ph type="body" idx="1"/>
          </p:nvPr>
        </p:nvSpPr>
        <p:spPr>
          <a:xfrm>
            <a:off x="3255510" y="2772834"/>
            <a:ext cx="2952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A′</a:t>
            </a:r>
            <a:endParaRPr sz="1800"/>
          </a:p>
        </p:txBody>
      </p:sp>
      <p:sp>
        <p:nvSpPr>
          <p:cNvPr id="1409" name="Google Shape;1409;p98"/>
          <p:cNvSpPr txBox="1"/>
          <p:nvPr>
            <p:ph type="body" idx="1"/>
          </p:nvPr>
        </p:nvSpPr>
        <p:spPr>
          <a:xfrm>
            <a:off x="2066853" y="2717741"/>
            <a:ext cx="2952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410" name="Google Shape;1410;p98"/>
          <p:cNvSpPr txBox="1"/>
          <p:nvPr>
            <p:ph type="body" idx="1"/>
          </p:nvPr>
        </p:nvSpPr>
        <p:spPr>
          <a:xfrm>
            <a:off x="6973359" y="2495428"/>
            <a:ext cx="2952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B′</a:t>
            </a:r>
            <a:endParaRPr sz="1800"/>
          </a:p>
        </p:txBody>
      </p:sp>
      <p:sp>
        <p:nvSpPr>
          <p:cNvPr id="1411" name="Google Shape;1411;p98"/>
          <p:cNvSpPr txBox="1"/>
          <p:nvPr>
            <p:ph type="body" idx="1"/>
          </p:nvPr>
        </p:nvSpPr>
        <p:spPr>
          <a:xfrm>
            <a:off x="5672601" y="2952625"/>
            <a:ext cx="2397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15" name="Shape 1415"/>
        <p:cNvGrpSpPr/>
        <p:nvPr/>
      </p:nvGrpSpPr>
      <p:grpSpPr>
        <a:xfrm>
          <a:off x="0" y="0"/>
          <a:ext cx="0" cy="0"/>
        </a:xfrm>
      </p:grpSpPr>
      <p:sp>
        <p:nvSpPr>
          <p:cNvPr id="1416" name="Google Shape;1416;p99"/>
          <p:cNvSpPr txBox="1"/>
          <p:nvPr>
            <p:ph type="body" idx="1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1. Tick the enlargements that have the same </a:t>
            </a:r>
            <a:r>
              <a:rPr lang="en-GB" sz="2000" b="1"/>
              <a:t>centre of enlargement</a:t>
            </a:r>
            <a:r>
              <a:rPr lang="en-GB" sz="2000"/>
              <a:t>.</a:t>
            </a:r>
            <a:endParaRPr/>
          </a:p>
        </p:txBody>
      </p:sp>
      <p:sp>
        <p:nvSpPr>
          <p:cNvPr id="1417" name="Google Shape;1417;p9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sp>
        <p:nvSpPr>
          <p:cNvPr id="1418" name="Google Shape;1418;p99"/>
          <p:cNvSpPr txBox="1"/>
          <p:nvPr>
            <p:ph type="body" idx="1"/>
          </p:nvPr>
        </p:nvSpPr>
        <p:spPr>
          <a:xfrm>
            <a:off x="5774400" y="1772700"/>
            <a:ext cx="1084800" cy="254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 to A′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B to B′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 to C′ </a:t>
            </a:r>
            <a:endParaRPr sz="2400"/>
          </a:p>
        </p:txBody>
      </p:sp>
      <p:pic>
        <p:nvPicPr>
          <p:cNvPr id="1419" name="Google Shape;141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246891"/>
            <a:ext cx="4847999" cy="35735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0" name="Google Shape;1420;p99"/>
          <p:cNvCxnSpPr/>
          <p:nvPr/>
        </p:nvCxnSpPr>
        <p:spPr>
          <a:xfrm>
            <a:off x="1085250" y="2274350"/>
            <a:ext cx="1543200" cy="766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1" name="Google Shape;1421;p99"/>
          <p:cNvCxnSpPr/>
          <p:nvPr/>
        </p:nvCxnSpPr>
        <p:spPr>
          <a:xfrm>
            <a:off x="1861850" y="2277675"/>
            <a:ext cx="753300" cy="753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2" name="Google Shape;1422;p99"/>
          <p:cNvCxnSpPr/>
          <p:nvPr/>
        </p:nvCxnSpPr>
        <p:spPr>
          <a:xfrm>
            <a:off x="1865175" y="1517675"/>
            <a:ext cx="756600" cy="1520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3" name="Google Shape;1423;p99"/>
          <p:cNvCxnSpPr/>
          <p:nvPr/>
        </p:nvCxnSpPr>
        <p:spPr>
          <a:xfrm flipH="1">
            <a:off x="2870875" y="1514350"/>
            <a:ext cx="1022100" cy="1533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4" name="Google Shape;1424;p99"/>
          <p:cNvCxnSpPr/>
          <p:nvPr/>
        </p:nvCxnSpPr>
        <p:spPr>
          <a:xfrm flipH="1">
            <a:off x="2887275" y="1504400"/>
            <a:ext cx="1516800" cy="1533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5" name="Google Shape;1425;p99"/>
          <p:cNvCxnSpPr/>
          <p:nvPr/>
        </p:nvCxnSpPr>
        <p:spPr>
          <a:xfrm flipH="1">
            <a:off x="2880800" y="2526600"/>
            <a:ext cx="1018800" cy="511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6" name="Google Shape;1426;p99"/>
          <p:cNvCxnSpPr/>
          <p:nvPr/>
        </p:nvCxnSpPr>
        <p:spPr>
          <a:xfrm flipH="1">
            <a:off x="2880675" y="2526600"/>
            <a:ext cx="1526700" cy="517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7" name="Google Shape;1427;p99"/>
          <p:cNvCxnSpPr/>
          <p:nvPr/>
        </p:nvCxnSpPr>
        <p:spPr>
          <a:xfrm rot="10800000" flipH="1">
            <a:off x="1609625" y="3027675"/>
            <a:ext cx="1012200" cy="1523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8" name="Google Shape;1428;p99"/>
          <p:cNvCxnSpPr/>
          <p:nvPr/>
        </p:nvCxnSpPr>
        <p:spPr>
          <a:xfrm rot="10800000" flipH="1">
            <a:off x="2117400" y="3037475"/>
            <a:ext cx="507600" cy="1019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9" name="Google Shape;1429;p99"/>
          <p:cNvCxnSpPr/>
          <p:nvPr/>
        </p:nvCxnSpPr>
        <p:spPr>
          <a:xfrm rot="10800000">
            <a:off x="2621900" y="3044375"/>
            <a:ext cx="1277700" cy="1012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0" name="Google Shape;1430;p99"/>
          <p:cNvCxnSpPr/>
          <p:nvPr/>
        </p:nvCxnSpPr>
        <p:spPr>
          <a:xfrm rot="10800000">
            <a:off x="2625250" y="3047550"/>
            <a:ext cx="753300" cy="1516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1" name="Google Shape;1431;p99"/>
          <p:cNvSpPr/>
          <p:nvPr/>
        </p:nvSpPr>
        <p:spPr>
          <a:xfrm>
            <a:off x="2578700" y="2995550"/>
            <a:ext cx="76200" cy="762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2" name="Google Shape;1432;p99"/>
          <p:cNvSpPr/>
          <p:nvPr/>
        </p:nvSpPr>
        <p:spPr>
          <a:xfrm>
            <a:off x="2849100" y="2995550"/>
            <a:ext cx="76200" cy="762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3" name="Google Shape;1433;p99"/>
          <p:cNvSpPr txBox="1"/>
          <p:nvPr>
            <p:ph type="body" idx="1"/>
          </p:nvPr>
        </p:nvSpPr>
        <p:spPr>
          <a:xfrm>
            <a:off x="1342300" y="2244775"/>
            <a:ext cx="2952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A′</a:t>
            </a:r>
            <a:endParaRPr sz="1800"/>
          </a:p>
        </p:txBody>
      </p:sp>
      <p:sp>
        <p:nvSpPr>
          <p:cNvPr id="1434" name="Google Shape;1434;p99"/>
          <p:cNvSpPr txBox="1"/>
          <p:nvPr>
            <p:ph type="body" idx="1"/>
          </p:nvPr>
        </p:nvSpPr>
        <p:spPr>
          <a:xfrm>
            <a:off x="2148094" y="2777556"/>
            <a:ext cx="2952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435" name="Google Shape;1435;p99"/>
          <p:cNvSpPr txBox="1"/>
          <p:nvPr>
            <p:ph type="body" idx="1"/>
          </p:nvPr>
        </p:nvSpPr>
        <p:spPr>
          <a:xfrm>
            <a:off x="4056294" y="2522344"/>
            <a:ext cx="2952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B′</a:t>
            </a:r>
            <a:endParaRPr sz="1800"/>
          </a:p>
        </p:txBody>
      </p:sp>
      <p:sp>
        <p:nvSpPr>
          <p:cNvPr id="1436" name="Google Shape;1436;p99"/>
          <p:cNvSpPr txBox="1"/>
          <p:nvPr>
            <p:ph type="body" idx="1"/>
          </p:nvPr>
        </p:nvSpPr>
        <p:spPr>
          <a:xfrm>
            <a:off x="3432570" y="2777541"/>
            <a:ext cx="2397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437" name="Google Shape;1437;p99"/>
          <p:cNvSpPr txBox="1"/>
          <p:nvPr>
            <p:ph type="body" idx="1"/>
          </p:nvPr>
        </p:nvSpPr>
        <p:spPr>
          <a:xfrm>
            <a:off x="1885066" y="3526150"/>
            <a:ext cx="2952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C′</a:t>
            </a:r>
            <a:endParaRPr sz="1800"/>
          </a:p>
        </p:txBody>
      </p:sp>
      <p:sp>
        <p:nvSpPr>
          <p:cNvPr id="1438" name="Google Shape;1438;p99"/>
          <p:cNvSpPr txBox="1"/>
          <p:nvPr>
            <p:ph type="body" idx="1"/>
          </p:nvPr>
        </p:nvSpPr>
        <p:spPr>
          <a:xfrm>
            <a:off x="1621751" y="4096875"/>
            <a:ext cx="2397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pic>
        <p:nvPicPr>
          <p:cNvPr id="1439" name="Google Shape;1439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7683" y="17727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0" name="Google Shape;1440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4858" y="378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44" name="Shape 1444"/>
        <p:cNvGrpSpPr/>
        <p:nvPr/>
      </p:nvGrpSpPr>
      <p:grpSpPr>
        <a:xfrm>
          <a:off x="0" y="0"/>
          <a:ext cx="0" cy="0"/>
        </a:xfrm>
      </p:grpSpPr>
      <p:sp>
        <p:nvSpPr>
          <p:cNvPr id="1445" name="Google Shape;1445;p10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2. Describe each transformation fully.</a:t>
            </a:r>
            <a:endParaRPr sz="2000"/>
          </a:p>
        </p:txBody>
      </p:sp>
      <p:sp>
        <p:nvSpPr>
          <p:cNvPr id="1446" name="Google Shape;1446;p10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How the centre of enlargement affects the image</a:t>
            </a:r>
            <a:endParaRPr/>
          </a:p>
        </p:txBody>
      </p:sp>
      <p:pic>
        <p:nvPicPr>
          <p:cNvPr id="1447" name="Google Shape;1447;p100"/>
          <p:cNvPicPr preferRelativeResize="0"/>
          <p:nvPr/>
        </p:nvPicPr>
        <p:blipFill>
          <a:blip r:embed="rId3">
            <a:alphaModFix/>
          </a:blip>
          <a:srcRect r="11902"/>
          <a:stretch>
            <a:fillRect/>
          </a:stretch>
        </p:blipFill>
        <p:spPr>
          <a:xfrm>
            <a:off x="324000" y="1619995"/>
            <a:ext cx="3920550" cy="192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8" name="Google Shape;1448;p100"/>
          <p:cNvPicPr preferRelativeResize="0"/>
          <p:nvPr/>
        </p:nvPicPr>
        <p:blipFill>
          <a:blip r:embed="rId4">
            <a:alphaModFix/>
          </a:blip>
          <a:srcRect r="11793"/>
          <a:stretch>
            <a:fillRect/>
          </a:stretch>
        </p:blipFill>
        <p:spPr>
          <a:xfrm>
            <a:off x="4823999" y="1609025"/>
            <a:ext cx="3920550" cy="194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100"/>
          <p:cNvSpPr txBox="1"/>
          <p:nvPr>
            <p:ph type="body" idx="1"/>
          </p:nvPr>
        </p:nvSpPr>
        <p:spPr>
          <a:xfrm>
            <a:off x="324000" y="1242234"/>
            <a:ext cx="11010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A to A′</a:t>
            </a:r>
            <a:endParaRPr sz="1800"/>
          </a:p>
        </p:txBody>
      </p:sp>
      <p:sp>
        <p:nvSpPr>
          <p:cNvPr id="1450" name="Google Shape;1450;p100"/>
          <p:cNvSpPr txBox="1"/>
          <p:nvPr>
            <p:ph type="body" idx="1"/>
          </p:nvPr>
        </p:nvSpPr>
        <p:spPr>
          <a:xfrm>
            <a:off x="4824000" y="1223531"/>
            <a:ext cx="11010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B to B′</a:t>
            </a:r>
            <a:endParaRPr sz="1800"/>
          </a:p>
        </p:txBody>
      </p:sp>
      <p:sp>
        <p:nvSpPr>
          <p:cNvPr id="1451" name="Google Shape;1451;p100"/>
          <p:cNvSpPr txBox="1"/>
          <p:nvPr>
            <p:ph type="body" idx="1"/>
          </p:nvPr>
        </p:nvSpPr>
        <p:spPr>
          <a:xfrm>
            <a:off x="3255510" y="2772834"/>
            <a:ext cx="2952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A′</a:t>
            </a:r>
            <a:endParaRPr sz="1800"/>
          </a:p>
        </p:txBody>
      </p:sp>
      <p:sp>
        <p:nvSpPr>
          <p:cNvPr id="1452" name="Google Shape;1452;p100"/>
          <p:cNvSpPr txBox="1"/>
          <p:nvPr>
            <p:ph type="body" idx="1"/>
          </p:nvPr>
        </p:nvSpPr>
        <p:spPr>
          <a:xfrm>
            <a:off x="6973359" y="2495428"/>
            <a:ext cx="2952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B′</a:t>
            </a:r>
            <a:endParaRPr sz="1800"/>
          </a:p>
        </p:txBody>
      </p:sp>
      <p:sp>
        <p:nvSpPr>
          <p:cNvPr id="1453" name="Google Shape;1453;p100"/>
          <p:cNvSpPr txBox="1"/>
          <p:nvPr>
            <p:ph type="body" idx="1"/>
          </p:nvPr>
        </p:nvSpPr>
        <p:spPr>
          <a:xfrm>
            <a:off x="5672601" y="2952625"/>
            <a:ext cx="2397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cxnSp>
        <p:nvCxnSpPr>
          <p:cNvPr id="1454" name="Google Shape;1454;p100"/>
          <p:cNvCxnSpPr/>
          <p:nvPr/>
        </p:nvCxnSpPr>
        <p:spPr>
          <a:xfrm>
            <a:off x="1033950" y="2505700"/>
            <a:ext cx="2795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5" name="Google Shape;1455;p100"/>
          <p:cNvCxnSpPr/>
          <p:nvPr/>
        </p:nvCxnSpPr>
        <p:spPr>
          <a:xfrm rot="10800000" flipH="1">
            <a:off x="1043900" y="1946200"/>
            <a:ext cx="1666200" cy="559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6" name="Google Shape;1456;p100"/>
          <p:cNvCxnSpPr/>
          <p:nvPr/>
        </p:nvCxnSpPr>
        <p:spPr>
          <a:xfrm>
            <a:off x="1041425" y="2515650"/>
            <a:ext cx="1678800" cy="554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7" name="Google Shape;1457;p100"/>
          <p:cNvSpPr txBox="1"/>
          <p:nvPr>
            <p:ph type="body" idx="1"/>
          </p:nvPr>
        </p:nvSpPr>
        <p:spPr>
          <a:xfrm>
            <a:off x="2066853" y="2717741"/>
            <a:ext cx="295200" cy="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cxnSp>
        <p:nvCxnSpPr>
          <p:cNvPr id="1458" name="Google Shape;1458;p100"/>
          <p:cNvCxnSpPr/>
          <p:nvPr/>
        </p:nvCxnSpPr>
        <p:spPr>
          <a:xfrm rot="10800000" flipH="1">
            <a:off x="5315800" y="2226225"/>
            <a:ext cx="2446200" cy="823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9" name="Google Shape;1459;p100"/>
          <p:cNvCxnSpPr/>
          <p:nvPr/>
        </p:nvCxnSpPr>
        <p:spPr>
          <a:xfrm rot="10800000">
            <a:off x="6091175" y="1938075"/>
            <a:ext cx="1682400" cy="283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0" name="Google Shape;1460;p100"/>
          <p:cNvCxnSpPr/>
          <p:nvPr/>
        </p:nvCxnSpPr>
        <p:spPr>
          <a:xfrm rot="10800000" flipH="1">
            <a:off x="5270050" y="2226250"/>
            <a:ext cx="2486100" cy="2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1" name="Google Shape;1461;p100"/>
          <p:cNvSpPr txBox="1"/>
          <p:nvPr>
            <p:ph type="body" idx="1"/>
          </p:nvPr>
        </p:nvSpPr>
        <p:spPr>
          <a:xfrm>
            <a:off x="501300" y="3549550"/>
            <a:ext cx="3166500" cy="12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Object A has been enlarged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by a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scale factor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  ,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from the point        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2" name="Google Shape;1462;p100"/>
          <p:cNvSpPr txBox="1"/>
          <p:nvPr>
            <p:ph type="body" idx="1"/>
          </p:nvPr>
        </p:nvSpPr>
        <p:spPr>
          <a:xfrm>
            <a:off x="5016450" y="3557398"/>
            <a:ext cx="3166500" cy="12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Object B has been enlarged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by a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scale factor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  ,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from the point        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63" name="Google Shape;1463;p100" descr="&lt;math xmlns=&quot;http://www.w3.org/1998/Math/MathML&quot; display=&quot;block&quot; data-is-equatio=&quot;1&quot; data-latex=&quot;\ \frac{1}{3}&quot;&gt;&lt;mtext&gt;&lt;/mtext&gt;&lt;mfrac&gt;&lt;mn&gt;1&lt;/mn&gt;&lt;mn&gt;3&lt;/mn&gt;&lt;/mfrac&gt;&lt;/math&gt;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5242" y="3985822"/>
            <a:ext cx="129325" cy="427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4" name="Google Shape;1464;p100"/>
          <p:cNvCxnSpPr/>
          <p:nvPr/>
        </p:nvCxnSpPr>
        <p:spPr>
          <a:xfrm>
            <a:off x="1858900" y="1670125"/>
            <a:ext cx="578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65" name="Google Shape;1465;p100"/>
          <p:cNvCxnSpPr/>
          <p:nvPr/>
        </p:nvCxnSpPr>
        <p:spPr>
          <a:xfrm>
            <a:off x="2727152" y="1670125"/>
            <a:ext cx="1088700" cy="11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66" name="Google Shape;1466;p100"/>
          <p:cNvSpPr txBox="1"/>
          <p:nvPr>
            <p:ph type="body" idx="1"/>
          </p:nvPr>
        </p:nvSpPr>
        <p:spPr>
          <a:xfrm>
            <a:off x="2837838" y="4037944"/>
            <a:ext cx="182100" cy="28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7" name="Google Shape;1467;p100"/>
          <p:cNvSpPr txBox="1"/>
          <p:nvPr>
            <p:ph type="body" idx="1"/>
          </p:nvPr>
        </p:nvSpPr>
        <p:spPr>
          <a:xfrm>
            <a:off x="2199417" y="4458365"/>
            <a:ext cx="749400" cy="28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(2, 3)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8" name="Google Shape;1468;p100"/>
          <p:cNvSpPr txBox="1"/>
          <p:nvPr>
            <p:ph type="body" idx="1"/>
          </p:nvPr>
        </p:nvSpPr>
        <p:spPr>
          <a:xfrm>
            <a:off x="6707327" y="4488305"/>
            <a:ext cx="837000" cy="28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(10, 4)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69" name="Google Shape;1469;p100"/>
          <p:cNvCxnSpPr/>
          <p:nvPr/>
        </p:nvCxnSpPr>
        <p:spPr>
          <a:xfrm>
            <a:off x="6923350" y="1947213"/>
            <a:ext cx="295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70" name="Google Shape;1470;p100"/>
          <p:cNvCxnSpPr/>
          <p:nvPr/>
        </p:nvCxnSpPr>
        <p:spPr>
          <a:xfrm>
            <a:off x="5270052" y="1664275"/>
            <a:ext cx="8385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74" name="Shape 1474"/>
        <p:cNvGrpSpPr/>
        <p:nvPr/>
      </p:nvGrpSpPr>
      <p:grpSpPr>
        <a:xfrm>
          <a:off x="0" y="0"/>
          <a:ext cx="0" cy="0"/>
        </a:xfrm>
      </p:grpSpPr>
      <p:sp>
        <p:nvSpPr>
          <p:cNvPr id="1475" name="Google Shape;1475;p101"/>
          <p:cNvSpPr txBox="1"/>
          <p:nvPr>
            <p:ph type="body" idx="1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During an enlargement, the </a:t>
            </a:r>
            <a:r>
              <a:rPr lang="en-GB" sz="1800" b="1"/>
              <a:t>scale factor</a:t>
            </a:r>
            <a:r>
              <a:rPr lang="en-GB" sz="1800"/>
              <a:t> is the multiplier that describes how large the image is compared to the object.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The </a:t>
            </a:r>
            <a:r>
              <a:rPr lang="en-GB" sz="1800" b="1"/>
              <a:t>centre of enlargement</a:t>
            </a:r>
            <a:r>
              <a:rPr lang="en-GB" sz="1800"/>
              <a:t> defines where the image will be placed in relation to the object.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The </a:t>
            </a:r>
            <a:r>
              <a:rPr lang="en-GB" sz="1800" b="1"/>
              <a:t>centre of enlargement</a:t>
            </a:r>
            <a:r>
              <a:rPr lang="en-GB" sz="1800"/>
              <a:t> can be found by drawing lines through corresponding vertices of the object and image to find where they intersect.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Describing an enlargement fully requires both the </a:t>
            </a:r>
            <a:r>
              <a:rPr lang="en-GB" sz="1800" b="1"/>
              <a:t>scale factor</a:t>
            </a:r>
            <a:r>
              <a:rPr lang="en-GB" sz="1800"/>
              <a:t> and the </a:t>
            </a:r>
            <a:r>
              <a:rPr lang="en-GB" sz="1800" b="1"/>
              <a:t>centre of enlargement</a:t>
            </a:r>
            <a:r>
              <a:rPr lang="en-GB" sz="1800"/>
              <a:t>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object and the enlarged image have the same orientation for positive </a:t>
            </a:r>
            <a:r>
              <a:rPr lang="en-GB" sz="1800" b="1"/>
              <a:t>scale factors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476" name="Google Shape;1476;p10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an enlargement</a:t>
            </a:r>
            <a:endParaRPr/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80" name="Shape 1480"/>
        <p:cNvGrpSpPr/>
        <p:nvPr/>
      </p:nvGrpSpPr>
      <p:grpSpPr>
        <a:xfrm>
          <a:off x="0" y="0"/>
          <a:ext cx="0" cy="0"/>
        </a:xfrm>
      </p:grpSpPr>
      <p:sp>
        <p:nvSpPr>
          <p:cNvPr id="1481" name="Google Shape;1481;p102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82" name="Google Shape;1482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296</Paragraphs>
  <Slides>39</Slides>
  <Notes>39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baseType="lpstr" size="47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Describing an enlargement</vt:lpstr>
      <vt:lpstr>PowerPoint Presentation</vt:lpstr>
      <vt:lpstr>PowerPoint Presentation</vt:lpstr>
      <vt:lpstr>PowerPoint Presentation</vt:lpstr>
      <vt:lpstr>Using and finding scale factors</vt:lpstr>
      <vt:lpstr>Using and finding scale factors</vt:lpstr>
      <vt:lpstr>Using and finding scale factors</vt:lpstr>
      <vt:lpstr>Using and finding scale factors</vt:lpstr>
      <vt:lpstr>Using and finding scale factors</vt:lpstr>
      <vt:lpstr>Using and finding scale factors</vt:lpstr>
      <vt:lpstr>Using and finding scale factors</vt:lpstr>
      <vt:lpstr>Using and finding scale factors</vt:lpstr>
      <vt:lpstr>Using and finding scale factors</vt:lpstr>
      <vt:lpstr>The object has been enlarged to create the image. What is the value of    ?</vt:lpstr>
      <vt:lpstr>The object has been enlarged to create the image. What is the value of    ?</vt:lpstr>
      <vt:lpstr>PowerPoint Presentation</vt:lpstr>
      <vt:lpstr>PowerPoint Presentation</vt:lpstr>
      <vt:lpstr>PowerPoint Presentation</vt:lpstr>
      <vt:lpstr>PowerPoint Presentation</vt:lpstr>
      <vt:lpstr>Using and finding scale factors</vt:lpstr>
      <vt:lpstr>How the centre of enlargement affects the image</vt:lpstr>
      <vt:lpstr>How the centre of enlargement affects the image</vt:lpstr>
      <vt:lpstr>How the centre of enlargement affects the image</vt:lpstr>
      <vt:lpstr>How the centre of enlargement affects the image</vt:lpstr>
      <vt:lpstr>How the centre of enlargement affects the image</vt:lpstr>
      <vt:lpstr>How the centre of enlargement affects the image</vt:lpstr>
      <vt:lpstr>How the centre of enlargement affects the image</vt:lpstr>
      <vt:lpstr>How the centre of enlargement affects the image</vt:lpstr>
      <vt:lpstr>How the centre of enlargement affects the image</vt:lpstr>
      <vt:lpstr>How the centre of enlargement affects the image</vt:lpstr>
      <vt:lpstr>How the centre of enlargement affects the image</vt:lpstr>
      <vt:lpstr>How the centre of enlargement affects the image</vt:lpstr>
      <vt:lpstr>How the centre of enlargement affects the image</vt:lpstr>
      <vt:lpstr>PowerPoint Presentation</vt:lpstr>
      <vt:lpstr>PowerPoint Presentation</vt:lpstr>
      <vt:lpstr>PowerPoint Presentation</vt:lpstr>
      <vt:lpstr>PowerPoint Presentation</vt:lpstr>
      <vt:lpstr>Describing an enlargement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2023-11-02T14:24:53.734</cp:lastPrinted>
  <dcterms:created xsi:type="dcterms:W3CDTF">2023-11-02T14:24:53Z</dcterms:created>
  <dcterms:modified xsi:type="dcterms:W3CDTF">2023-11-02T14:25:50Z</dcterms:modified>
</cp:coreProperties>
</file>