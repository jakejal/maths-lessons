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48ef8d7c14_0_2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8" name="Google Shape;838;g248ef8d7c14_0_2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248ef8d7c14_0_2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4" name="Google Shape;844;g248ef8d7c14_0_2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248ef8d7c14_0_2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9" name="Google Shape;849;g248ef8d7c14_0_2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248ef8d7c14_0_2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4" name="Google Shape;854;g248ef8d7c14_0_2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248ef8d7c14_0_3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3" name="Google Shape;863;g248ef8d7c14_0_3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248ef8d7c14_0_2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2" name="Google Shape;872;g248ef8d7c14_0_2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248ef8d7c14_0_22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8" name="Google Shape;878;g248ef8d7c14_0_2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248ef8d7c14_0_23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9" name="Google Shape;919;g248ef8d7c14_0_2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248ef8d7c14_0_23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1" name="Google Shape;941;g248ef8d7c14_0_2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248ef8d7c14_0_23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3" name="Google Shape;963;g248ef8d7c14_0_2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248ef8d7c14_0_2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2" name="Google Shape;972;g248ef8d7c14_0_2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248ef8d7c14_0_2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2" name="Google Shape;982;g248ef8d7c14_0_2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248ef8d7c14_0_2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0" name="Google Shape;1010;g248ef8d7c14_0_2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248ef8d7c14_0_24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9" name="Google Shape;1029;g248ef8d7c14_0_2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248ef8d7c14_0_24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7" name="Google Shape;1057;g248ef8d7c14_0_2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248ef8d7c14_0_24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1" name="Google Shape;1091;g248ef8d7c14_0_2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248ef8d7c14_0_24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7" name="Google Shape;1107;g248ef8d7c14_0_2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248ef8d7c14_0_25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4" name="Google Shape;1124;g248ef8d7c14_0_2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248ef8d7c14_0_2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0" name="Google Shape;1160;g248ef8d7c14_0_2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248ef8d7c14_0_2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8" name="Google Shape;1168;g248ef8d7c14_0_2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248ef8d7c14_0_2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0" name="Google Shape;1180;g248ef8d7c14_0_2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248ef8d7c14_0_25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7" name="Google Shape;1187;g248ef8d7c14_0_2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248ef8d7c14_0_25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6" name="Google Shape;1196;g248ef8d7c14_0_2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248ef8d7c14_0_2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1" name="Google Shape;1211;g248ef8d7c14_0_2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248ef8d7c14_0_2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8" name="Google Shape;1218;g248ef8d7c14_0_2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248ef8d7c14_0_2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7" name="Google Shape;1227;g248ef8d7c14_0_2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248ef8d7c14_0_26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4" name="Google Shape;1234;g248ef8d7c14_0_2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248ef8d7c14_0_26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5" name="Google Shape;1265;g248ef8d7c14_0_2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g248ef8d7c14_0_2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8" name="Google Shape;1288;g248ef8d7c14_0_2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248ef8d7c14_0_2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7" name="Google Shape;1297;g248ef8d7c14_0_2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248ef8d7c14_0_2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5" name="Google Shape;1305;g248ef8d7c14_0_2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g248ef8d7c14_0_27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5" name="Google Shape;1315;g248ef8d7c14_0_2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248ef8d7c14_0_27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8" name="Google Shape;1328;g248ef8d7c14_0_2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248ef8d7c14_0_2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8" name="Google Shape;1338;g248ef8d7c14_0_2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g248ef8d7c14_0_27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7" name="Google Shape;1347;g248ef8d7c14_0_2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g248ef8d7c14_0_27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2" name="Google Shape;1362;g248ef8d7c14_0_2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248ef8d7c14_0_2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4" name="Google Shape;1404;g248ef8d7c14_0_2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g248ef8d7c14_0_28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6" name="Google Shape;1426;g248ef8d7c14_0_2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g248ef8d7c14_0_28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6" name="Google Shape;1456;g248ef8d7c14_0_2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g248ef8d7c14_0_2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3" name="Google Shape;1463;g248ef8d7c14_0_2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g248ef8d7c14_0_29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4" name="Google Shape;1474;g248ef8d7c14_0_29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48ef8d7c14_0_29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2" name="Google Shape;1482;g248ef8d7c14_0_2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g248ef8d7c14_0_29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3" name="Google Shape;1493;g248ef8d7c14_0_2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248ef8d7c14_0_29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0" name="Google Shape;1500;g248ef8d7c14_0_29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1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Relationship Id="rId7" Type="http://schemas.openxmlformats.org/officeDocument/2006/relationships/image" Target="../media/image1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4.png"/><Relationship Id="rId4" Type="http://schemas.openxmlformats.org/officeDocument/2006/relationships/image" Target="../media/image87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87.png"/><Relationship Id="rId4" Type="http://schemas.openxmlformats.org/officeDocument/2006/relationships/image" Target="../media/image25.png"/><Relationship Id="rId9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87.png"/><Relationship Id="rId4" Type="http://schemas.openxmlformats.org/officeDocument/2006/relationships/image" Target="../media/image30.png"/><Relationship Id="rId11" Type="http://schemas.openxmlformats.org/officeDocument/2006/relationships/image" Target="../media/image21.png"/><Relationship Id="rId10" Type="http://schemas.openxmlformats.org/officeDocument/2006/relationships/image" Target="../media/image38.png"/><Relationship Id="rId9" Type="http://schemas.openxmlformats.org/officeDocument/2006/relationships/image" Target="../media/image28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32.png"/><Relationship Id="rId8" Type="http://schemas.openxmlformats.org/officeDocument/2006/relationships/image" Target="../media/image2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9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87.png"/><Relationship Id="rId4" Type="http://schemas.openxmlformats.org/officeDocument/2006/relationships/image" Target="../media/image25.png"/><Relationship Id="rId9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87.png"/><Relationship Id="rId4" Type="http://schemas.openxmlformats.org/officeDocument/2006/relationships/image" Target="../media/image25.png"/><Relationship Id="rId9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7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7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 1">
  <p:cSld name="TITLE_AND_TWO_COLUMNS_1_1_5_1_3_1_1_2"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" name="Google Shape;747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6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0" name="Google Shape;750;p64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1" name="Google Shape;751;p6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52" name="Google Shape;75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 1">
  <p:cSld name="TITLE_AND_TWO_COLUMNS_1_1_5_1_3_1_1_1_2">
    <p:bg>
      <p:bgPr>
        <a:solidFill>
          <a:srgbClr val="F3EEFB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Google Shape;755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8" name="Google Shape;758;p65"/>
          <p:cNvSpPr txBox="1"/>
          <p:nvPr/>
        </p:nvSpPr>
        <p:spPr>
          <a:xfrm>
            <a:off x="324000" y="45525"/>
            <a:ext cx="119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9" name="Google Shape;759;p6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60" name="Google Shape;76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 1">
  <p:cSld name="CUSTOM_3_2_1"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Google Shape;763;p66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66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66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66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66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66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9" name="Google Shape;769;p66"/>
          <p:cNvCxnSpPr>
            <a:endCxn id="770" idx="2"/>
          </p:cNvCxnSpPr>
          <p:nvPr/>
        </p:nvCxnSpPr>
        <p:spPr>
          <a:xfrm>
            <a:off x="647802" y="1841897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70" name="Google Shape;770;p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6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66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73" name="Google Shape;773;p66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74" name="Google Shape;774;p66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75" name="Google Shape;775;p6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66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7" name="Google Shape;777;p66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66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9" name="Google Shape;779;p66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 2">
  <p:cSld name="CUSTOM_3_2_2"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1" name="Google Shape;781;p67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2" name="Google Shape;782;p6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67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6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67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67"/>
          <p:cNvSpPr/>
          <p:nvPr/>
        </p:nvSpPr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787" name="Google Shape;787;p67"/>
          <p:cNvCxnSpPr>
            <a:endCxn id="788" idx="2"/>
          </p:cNvCxnSpPr>
          <p:nvPr/>
        </p:nvCxnSpPr>
        <p:spPr>
          <a:xfrm>
            <a:off x="647802" y="1841897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88" name="Google Shape;788;p6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6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67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91" name="Google Shape;791;p67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92" name="Google Shape;792;p67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3" name="Google Shape;793;p6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6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5" name="Google Shape;795;p67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6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7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 1">
  <p:cSld name="TITLE_AND_TWO_COLUMNS_1_1_5_1_3_1_1_1_1_3"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9" name="Google Shape;799;p6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6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02" name="Google Shape;802;p6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68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4" name="Google Shape;804;p6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805" name="Google Shape;805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 1">
  <p:cSld name="TITLE_AND_TWO_COLUMNS_1_1_5_1_3_1_1_1_1_2_1">
    <p:bg>
      <p:bgPr>
        <a:solidFill>
          <a:srgbClr val="E6F2F2"/>
        </a:solidFill>
      </p:bgPr>
    </p:bg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7" name="Google Shape;807;p6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6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6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0" name="Google Shape;810;p69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1" name="Google Shape;811;p6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2" name="Google Shape;812;p6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3" name="Google Shape;81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 1">
  <p:cSld name="TITLE_AND_TWO_COLUMNS_1_1_5_1_3_1_2_2"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7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7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7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8" name="Google Shape;818;p7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0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7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821" name="Google Shape;821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 1">
  <p:cSld name="TITLE_AND_TWO_COLUMNS_1_1_5_1_3_1_2_1_1">
    <p:bg>
      <p:bgPr>
        <a:solidFill>
          <a:srgbClr val="EBEDFE"/>
        </a:solidFill>
      </p:bgPr>
    </p:bg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3" name="Google Shape;823;p7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7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7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26" name="Google Shape;826;p71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p7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8" name="Google Shape;828;p7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9" name="Google Shape;829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 1">
  <p:cSld name="TITLE_AND_TWO_COLUMNS_1_1_5_1_2_1_1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2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2" name="Google Shape;832;p7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72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4" name="Google Shape;834;p72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2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73" Type="http://schemas.openxmlformats.org/officeDocument/2006/relationships/theme" Target="../theme/theme1.xml"/><Relationship Id="rId72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  <p:sldLayoutId id="2147483717" r:id="rId71"/>
    <p:sldLayoutId id="2147483718" r:id="rId7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6.png"/><Relationship Id="rId4" Type="http://schemas.openxmlformats.org/officeDocument/2006/relationships/image" Target="../media/image7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6.png"/><Relationship Id="rId4" Type="http://schemas.openxmlformats.org/officeDocument/2006/relationships/image" Target="../media/image7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6.png"/><Relationship Id="rId4" Type="http://schemas.openxmlformats.org/officeDocument/2006/relationships/image" Target="../media/image7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0.png"/><Relationship Id="rId4" Type="http://schemas.openxmlformats.org/officeDocument/2006/relationships/image" Target="../media/image8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0.png"/><Relationship Id="rId4" Type="http://schemas.openxmlformats.org/officeDocument/2006/relationships/image" Target="../media/image83.png"/><Relationship Id="rId5" Type="http://schemas.openxmlformats.org/officeDocument/2006/relationships/image" Target="../media/image85.png"/><Relationship Id="rId6" Type="http://schemas.openxmlformats.org/officeDocument/2006/relationships/image" Target="../media/image4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3.png"/><Relationship Id="rId4" Type="http://schemas.openxmlformats.org/officeDocument/2006/relationships/image" Target="../media/image8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9" Type="http://schemas.openxmlformats.org/officeDocument/2006/relationships/image" Target="../media/image85.png"/><Relationship Id="rId5" Type="http://schemas.openxmlformats.org/officeDocument/2006/relationships/image" Target="../media/image90.png"/><Relationship Id="rId6" Type="http://schemas.openxmlformats.org/officeDocument/2006/relationships/image" Target="../media/image93.png"/><Relationship Id="rId7" Type="http://schemas.openxmlformats.org/officeDocument/2006/relationships/image" Target="../media/image96.png"/><Relationship Id="rId8" Type="http://schemas.openxmlformats.org/officeDocument/2006/relationships/image" Target="../media/image4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7.png"/><Relationship Id="rId4" Type="http://schemas.openxmlformats.org/officeDocument/2006/relationships/image" Target="../media/image9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0.png"/><Relationship Id="rId4" Type="http://schemas.openxmlformats.org/officeDocument/2006/relationships/image" Target="../media/image101.png"/><Relationship Id="rId5" Type="http://schemas.openxmlformats.org/officeDocument/2006/relationships/image" Target="../media/image10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7.png"/><Relationship Id="rId4" Type="http://schemas.openxmlformats.org/officeDocument/2006/relationships/image" Target="../media/image9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0.png"/><Relationship Id="rId4" Type="http://schemas.openxmlformats.org/officeDocument/2006/relationships/image" Target="../media/image101.png"/><Relationship Id="rId5" Type="http://schemas.openxmlformats.org/officeDocument/2006/relationships/image" Target="../media/image10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3.png"/><Relationship Id="rId4" Type="http://schemas.openxmlformats.org/officeDocument/2006/relationships/image" Target="../media/image7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3.png"/><Relationship Id="rId4" Type="http://schemas.openxmlformats.org/officeDocument/2006/relationships/image" Target="../media/image43.png"/><Relationship Id="rId5" Type="http://schemas.openxmlformats.org/officeDocument/2006/relationships/image" Target="../media/image8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23.png"/><Relationship Id="rId4" Type="http://schemas.openxmlformats.org/officeDocument/2006/relationships/image" Target="../media/image43.png"/><Relationship Id="rId5" Type="http://schemas.openxmlformats.org/officeDocument/2006/relationships/image" Target="../media/image8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2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2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7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GB"/>
              <a:t>Rotating objects</a:t>
            </a:r>
            <a:endParaRPr/>
          </a:p>
        </p:txBody>
      </p:sp>
      <p:sp>
        <p:nvSpPr>
          <p:cNvPr id="841" name="Google Shape;841;p7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Transformations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4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sng" cap="none" strike="noStrike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7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I can rotate objects using information about centre, size and direction of rotation.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>
                <a:solidFill>
                  <a:schemeClr val="dk1"/>
                </a:solidFill>
              </a:rPr>
              <a:t>Degrees are the most common unit of measurement for angle. One whole turn is equal to 360 degrees, written 360°.</a:t>
            </a:r>
            <a:endParaRPr/>
          </a:p>
        </p:txBody>
      </p:sp>
      <p:sp>
        <p:nvSpPr>
          <p:cNvPr id="857" name="Google Shape;857;p7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The centre of rotation is the fixed point about which an object is rotated. It fixes the location of the image after it is rotated. </a:t>
            </a:r>
            <a:endParaRPr sz="2900"/>
          </a:p>
        </p:txBody>
      </p:sp>
      <p:sp>
        <p:nvSpPr>
          <p:cNvPr id="858" name="Google Shape;858;p7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>
                <a:highlight>
                  <a:srgbClr val="FFFFFF"/>
                </a:highlight>
              </a:rPr>
              <a:t>Anti-clockwise is the opposite direction</a:t>
            </a:r>
            <a:br>
              <a:rPr lang="en-GB">
                <a:highlight>
                  <a:srgbClr val="FFFFFF"/>
                </a:highlight>
              </a:rPr>
            </a:br>
            <a:r>
              <a:rPr lang="en-GB">
                <a:highlight>
                  <a:srgbClr val="FFFFFF"/>
                </a:highlight>
              </a:rPr>
              <a:t>to which the hands of an analogue clock travel.  </a:t>
            </a:r>
            <a:endParaRPr sz="2900"/>
          </a:p>
        </p:txBody>
      </p:sp>
      <p:sp>
        <p:nvSpPr>
          <p:cNvPr id="859" name="Google Shape;859;p7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>
                <a:highlight>
                  <a:srgbClr val="FFFFFF"/>
                </a:highlight>
              </a:rPr>
              <a:t>Clockwise is the direction that</a:t>
            </a:r>
            <a:br>
              <a:rPr lang="en-GB">
                <a:highlight>
                  <a:srgbClr val="FFFFFF"/>
                </a:highlight>
              </a:rPr>
            </a:br>
            <a:r>
              <a:rPr lang="en-GB">
                <a:highlight>
                  <a:srgbClr val="FFFFFF"/>
                </a:highlight>
              </a:rPr>
              <a:t>the hands of an analogue clock travel.  </a:t>
            </a:r>
            <a:endParaRPr sz="2900"/>
          </a:p>
        </p:txBody>
      </p:sp>
      <p:pic>
        <p:nvPicPr>
          <p:cNvPr descr="&lt;math xmlns=&quot;http://www.w3.org/1998/Math/MathML&quot; data-is-equatio=&quot;1&quot; data-equatio-url=&quot;https://equatio-api.texthelp.com/desmos/get/03-10-2023/016a48cd-2ac8-49a1-9038-a70a146b7c2b&quot; data-equatio-type=&quot;image&quot;&gt;&lt;mglyph src=&quot;https://equatio-api.texthelp.com/desmos/get/03-10-2023/016a48cd-2ac8-49a1-9038-a70a146b7c2b&quot; alt=&quot;Equatio Image&quot;/&gt;&lt;/math&gt;" id="860" name="Google Shape;860;p76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1825" y="1154400"/>
            <a:ext cx="1386612" cy="1386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77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Rotating objects with centre outside the object</a:t>
            </a:r>
            <a:endParaRPr/>
          </a:p>
        </p:txBody>
      </p:sp>
      <p:sp>
        <p:nvSpPr>
          <p:cNvPr id="866" name="Google Shape;866;p77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Rotating with tracing paper and centre on a vertex</a:t>
            </a:r>
            <a:endParaRPr/>
          </a:p>
        </p:txBody>
      </p:sp>
      <p:sp>
        <p:nvSpPr>
          <p:cNvPr id="867" name="Google Shape;867;p77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/>
              <a:t>Rotating objects with centre in or on the object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868" name="Google Shape;868;p77"/>
          <p:cNvSpPr txBox="1"/>
          <p:nvPr>
            <p:ph idx="4" type="title"/>
          </p:nvPr>
        </p:nvSpPr>
        <p:spPr>
          <a:xfrm>
            <a:off x="324000" y="810000"/>
            <a:ext cx="57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Rotating objects</a:t>
            </a:r>
            <a:endParaRPr/>
          </a:p>
        </p:txBody>
      </p:sp>
      <p:pic>
        <p:nvPicPr>
          <p:cNvPr id="869" name="Google Shape;869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968" y="174831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78"/>
          <p:cNvSpPr txBox="1"/>
          <p:nvPr>
            <p:ph idx="1" type="body"/>
          </p:nvPr>
        </p:nvSpPr>
        <p:spPr>
          <a:xfrm>
            <a:off x="324000" y="759300"/>
            <a:ext cx="70992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For this lesson, it is important to have tracing paper, a pencil, and a ruler.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GB"/>
              <a:t>The tracing paper will be used to trace over: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GB"/>
              <a:t>    the centre of rotation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/>
              <a:t>    the object</a:t>
            </a:r>
            <a:endParaRPr/>
          </a:p>
        </p:txBody>
      </p:sp>
      <p:sp>
        <p:nvSpPr>
          <p:cNvPr id="875" name="Google Shape;875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Rotating with tracing paper and centre on a vertex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" name="Google Shape;880;p79"/>
          <p:cNvPicPr preferRelativeResize="0"/>
          <p:nvPr/>
        </p:nvPicPr>
        <p:blipFill rotWithShape="1">
          <a:blip r:embed="rId3">
            <a:alphaModFix/>
          </a:blip>
          <a:srcRect b="19588" l="0" r="0" t="7456"/>
          <a:stretch/>
        </p:blipFill>
        <p:spPr>
          <a:xfrm>
            <a:off x="4937060" y="1504189"/>
            <a:ext cx="3564100" cy="26424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1" name="Google Shape;881;p79"/>
          <p:cNvGrpSpPr/>
          <p:nvPr/>
        </p:nvGrpSpPr>
        <p:grpSpPr>
          <a:xfrm rot="-899960">
            <a:off x="4877472" y="1672875"/>
            <a:ext cx="2959412" cy="2448527"/>
            <a:chOff x="5282983" y="3176470"/>
            <a:chExt cx="2959500" cy="2448600"/>
          </a:xfrm>
        </p:grpSpPr>
        <p:sp>
          <p:nvSpPr>
            <p:cNvPr id="882" name="Google Shape;882;p79"/>
            <p:cNvSpPr/>
            <p:nvPr/>
          </p:nvSpPr>
          <p:spPr>
            <a:xfrm>
              <a:off x="5282983" y="3176470"/>
              <a:ext cx="2959500" cy="2448600"/>
            </a:xfrm>
            <a:prstGeom prst="rect">
              <a:avLst/>
            </a:prstGeom>
            <a:solidFill>
              <a:srgbClr val="FDF3CB">
                <a:alpha val="4941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79"/>
            <p:cNvSpPr/>
            <p:nvPr/>
          </p:nvSpPr>
          <p:spPr>
            <a:xfrm>
              <a:off x="6049028" y="3493078"/>
              <a:ext cx="1444625" cy="371475"/>
            </a:xfrm>
            <a:custGeom>
              <a:rect b="b" l="l" r="r" t="t"/>
              <a:pathLst>
                <a:path extrusionOk="0" h="371475" w="1444625">
                  <a:moveTo>
                    <a:pt x="0" y="0"/>
                  </a:moveTo>
                  <a:lnTo>
                    <a:pt x="0" y="371475"/>
                  </a:lnTo>
                  <a:lnTo>
                    <a:pt x="1444625" y="371475"/>
                  </a:lnTo>
                  <a:lnTo>
                    <a:pt x="1085850" y="3175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79"/>
            <p:cNvSpPr txBox="1"/>
            <p:nvPr/>
          </p:nvSpPr>
          <p:spPr>
            <a:xfrm>
              <a:off x="7333636" y="3677864"/>
              <a:ext cx="309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GB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×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5" name="Google Shape;885;p79"/>
          <p:cNvGrpSpPr/>
          <p:nvPr/>
        </p:nvGrpSpPr>
        <p:grpSpPr>
          <a:xfrm rot="-1800044">
            <a:off x="5074999" y="1795370"/>
            <a:ext cx="2959435" cy="2448546"/>
            <a:chOff x="5282983" y="3176470"/>
            <a:chExt cx="2959500" cy="2448600"/>
          </a:xfrm>
        </p:grpSpPr>
        <p:sp>
          <p:nvSpPr>
            <p:cNvPr id="886" name="Google Shape;886;p79"/>
            <p:cNvSpPr/>
            <p:nvPr/>
          </p:nvSpPr>
          <p:spPr>
            <a:xfrm>
              <a:off x="5282983" y="3176470"/>
              <a:ext cx="2959500" cy="2448600"/>
            </a:xfrm>
            <a:prstGeom prst="rect">
              <a:avLst/>
            </a:prstGeom>
            <a:solidFill>
              <a:srgbClr val="FDF3CB">
                <a:alpha val="4941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79"/>
            <p:cNvSpPr/>
            <p:nvPr/>
          </p:nvSpPr>
          <p:spPr>
            <a:xfrm>
              <a:off x="6049028" y="3493078"/>
              <a:ext cx="1444625" cy="371475"/>
            </a:xfrm>
            <a:custGeom>
              <a:rect b="b" l="l" r="r" t="t"/>
              <a:pathLst>
                <a:path extrusionOk="0" h="371475" w="1444625">
                  <a:moveTo>
                    <a:pt x="0" y="0"/>
                  </a:moveTo>
                  <a:lnTo>
                    <a:pt x="0" y="371475"/>
                  </a:lnTo>
                  <a:lnTo>
                    <a:pt x="1444625" y="371475"/>
                  </a:lnTo>
                  <a:lnTo>
                    <a:pt x="1085850" y="3175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79"/>
            <p:cNvSpPr txBox="1"/>
            <p:nvPr/>
          </p:nvSpPr>
          <p:spPr>
            <a:xfrm>
              <a:off x="7338332" y="3675053"/>
              <a:ext cx="309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GB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×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9" name="Google Shape;889;p79"/>
          <p:cNvGrpSpPr/>
          <p:nvPr/>
        </p:nvGrpSpPr>
        <p:grpSpPr>
          <a:xfrm rot="-2700000">
            <a:off x="5302317" y="1861191"/>
            <a:ext cx="2959472" cy="2448577"/>
            <a:chOff x="5282983" y="3176470"/>
            <a:chExt cx="2959500" cy="2448600"/>
          </a:xfrm>
        </p:grpSpPr>
        <p:sp>
          <p:nvSpPr>
            <p:cNvPr id="890" name="Google Shape;890;p79"/>
            <p:cNvSpPr/>
            <p:nvPr/>
          </p:nvSpPr>
          <p:spPr>
            <a:xfrm>
              <a:off x="5282983" y="3176470"/>
              <a:ext cx="2959500" cy="2448600"/>
            </a:xfrm>
            <a:prstGeom prst="rect">
              <a:avLst/>
            </a:prstGeom>
            <a:solidFill>
              <a:srgbClr val="FDF3CB">
                <a:alpha val="4941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79"/>
            <p:cNvSpPr/>
            <p:nvPr/>
          </p:nvSpPr>
          <p:spPr>
            <a:xfrm>
              <a:off x="6049028" y="3493078"/>
              <a:ext cx="1444625" cy="371475"/>
            </a:xfrm>
            <a:custGeom>
              <a:rect b="b" l="l" r="r" t="t"/>
              <a:pathLst>
                <a:path extrusionOk="0" h="371475" w="1444625">
                  <a:moveTo>
                    <a:pt x="0" y="0"/>
                  </a:moveTo>
                  <a:lnTo>
                    <a:pt x="0" y="371475"/>
                  </a:lnTo>
                  <a:lnTo>
                    <a:pt x="1444625" y="371475"/>
                  </a:lnTo>
                  <a:lnTo>
                    <a:pt x="1085850" y="3175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79"/>
            <p:cNvSpPr txBox="1"/>
            <p:nvPr/>
          </p:nvSpPr>
          <p:spPr>
            <a:xfrm>
              <a:off x="7341855" y="3679211"/>
              <a:ext cx="309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GB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×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3" name="Google Shape;893;p79"/>
          <p:cNvGrpSpPr/>
          <p:nvPr/>
        </p:nvGrpSpPr>
        <p:grpSpPr>
          <a:xfrm rot="-3599956">
            <a:off x="5540158" y="1869171"/>
            <a:ext cx="2959435" cy="2448546"/>
            <a:chOff x="5282983" y="3176470"/>
            <a:chExt cx="2959500" cy="2448600"/>
          </a:xfrm>
        </p:grpSpPr>
        <p:sp>
          <p:nvSpPr>
            <p:cNvPr id="894" name="Google Shape;894;p79"/>
            <p:cNvSpPr/>
            <p:nvPr/>
          </p:nvSpPr>
          <p:spPr>
            <a:xfrm>
              <a:off x="5282983" y="3176470"/>
              <a:ext cx="2959500" cy="2448600"/>
            </a:xfrm>
            <a:prstGeom prst="rect">
              <a:avLst/>
            </a:prstGeom>
            <a:solidFill>
              <a:srgbClr val="FDF3CB">
                <a:alpha val="4941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79"/>
            <p:cNvSpPr/>
            <p:nvPr/>
          </p:nvSpPr>
          <p:spPr>
            <a:xfrm>
              <a:off x="6049028" y="3493078"/>
              <a:ext cx="1444625" cy="371475"/>
            </a:xfrm>
            <a:custGeom>
              <a:rect b="b" l="l" r="r" t="t"/>
              <a:pathLst>
                <a:path extrusionOk="0" h="371475" w="1444625">
                  <a:moveTo>
                    <a:pt x="0" y="0"/>
                  </a:moveTo>
                  <a:lnTo>
                    <a:pt x="0" y="371475"/>
                  </a:lnTo>
                  <a:lnTo>
                    <a:pt x="1444625" y="371475"/>
                  </a:lnTo>
                  <a:lnTo>
                    <a:pt x="1085850" y="3175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79"/>
            <p:cNvSpPr txBox="1"/>
            <p:nvPr/>
          </p:nvSpPr>
          <p:spPr>
            <a:xfrm>
              <a:off x="7338746" y="3673111"/>
              <a:ext cx="309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GB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×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7" name="Google Shape;897;p79"/>
          <p:cNvGrpSpPr/>
          <p:nvPr/>
        </p:nvGrpSpPr>
        <p:grpSpPr>
          <a:xfrm rot="-4500040">
            <a:off x="5774616" y="1809818"/>
            <a:ext cx="2959412" cy="2448527"/>
            <a:chOff x="5282983" y="3176470"/>
            <a:chExt cx="2959500" cy="2448600"/>
          </a:xfrm>
        </p:grpSpPr>
        <p:sp>
          <p:nvSpPr>
            <p:cNvPr id="898" name="Google Shape;898;p79"/>
            <p:cNvSpPr/>
            <p:nvPr/>
          </p:nvSpPr>
          <p:spPr>
            <a:xfrm>
              <a:off x="5282983" y="3176470"/>
              <a:ext cx="2959500" cy="2448600"/>
            </a:xfrm>
            <a:prstGeom prst="rect">
              <a:avLst/>
            </a:prstGeom>
            <a:solidFill>
              <a:srgbClr val="FDF3CB">
                <a:alpha val="4941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79"/>
            <p:cNvSpPr/>
            <p:nvPr/>
          </p:nvSpPr>
          <p:spPr>
            <a:xfrm>
              <a:off x="6049028" y="3493078"/>
              <a:ext cx="1444625" cy="371475"/>
            </a:xfrm>
            <a:custGeom>
              <a:rect b="b" l="l" r="r" t="t"/>
              <a:pathLst>
                <a:path extrusionOk="0" h="371475" w="1444625">
                  <a:moveTo>
                    <a:pt x="0" y="0"/>
                  </a:moveTo>
                  <a:lnTo>
                    <a:pt x="0" y="371475"/>
                  </a:lnTo>
                  <a:lnTo>
                    <a:pt x="1444625" y="371475"/>
                  </a:lnTo>
                  <a:lnTo>
                    <a:pt x="1085850" y="3175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79"/>
            <p:cNvSpPr txBox="1"/>
            <p:nvPr/>
          </p:nvSpPr>
          <p:spPr>
            <a:xfrm>
              <a:off x="7337498" y="3676470"/>
              <a:ext cx="309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GB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×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1" name="Google Shape;901;p79"/>
          <p:cNvGrpSpPr/>
          <p:nvPr/>
        </p:nvGrpSpPr>
        <p:grpSpPr>
          <a:xfrm rot="-5400000">
            <a:off x="5977150" y="1703140"/>
            <a:ext cx="2959500" cy="2448600"/>
            <a:chOff x="5282983" y="3176470"/>
            <a:chExt cx="2959500" cy="2448600"/>
          </a:xfrm>
        </p:grpSpPr>
        <p:sp>
          <p:nvSpPr>
            <p:cNvPr id="902" name="Google Shape;902;p79"/>
            <p:cNvSpPr/>
            <p:nvPr/>
          </p:nvSpPr>
          <p:spPr>
            <a:xfrm>
              <a:off x="5282983" y="3176470"/>
              <a:ext cx="2959500" cy="2448600"/>
            </a:xfrm>
            <a:prstGeom prst="rect">
              <a:avLst/>
            </a:prstGeom>
            <a:solidFill>
              <a:srgbClr val="FDF3CB">
                <a:alpha val="4941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79"/>
            <p:cNvSpPr/>
            <p:nvPr/>
          </p:nvSpPr>
          <p:spPr>
            <a:xfrm>
              <a:off x="6049028" y="3493078"/>
              <a:ext cx="1444625" cy="371475"/>
            </a:xfrm>
            <a:custGeom>
              <a:rect b="b" l="l" r="r" t="t"/>
              <a:pathLst>
                <a:path extrusionOk="0" h="371475" w="1444625">
                  <a:moveTo>
                    <a:pt x="0" y="0"/>
                  </a:moveTo>
                  <a:lnTo>
                    <a:pt x="0" y="371475"/>
                  </a:lnTo>
                  <a:lnTo>
                    <a:pt x="1444625" y="371475"/>
                  </a:lnTo>
                  <a:lnTo>
                    <a:pt x="1085850" y="3175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79"/>
            <p:cNvSpPr txBox="1"/>
            <p:nvPr/>
          </p:nvSpPr>
          <p:spPr>
            <a:xfrm>
              <a:off x="7344106" y="3674944"/>
              <a:ext cx="309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GB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×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5" name="Google Shape;905;p79"/>
          <p:cNvSpPr/>
          <p:nvPr/>
        </p:nvSpPr>
        <p:spPr>
          <a:xfrm>
            <a:off x="4824000" y="1504200"/>
            <a:ext cx="2845200" cy="2448600"/>
          </a:xfrm>
          <a:prstGeom prst="rect">
            <a:avLst/>
          </a:prstGeom>
          <a:solidFill>
            <a:srgbClr val="FDF3CB">
              <a:alpha val="4941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79"/>
          <p:cNvSpPr/>
          <p:nvPr/>
        </p:nvSpPr>
        <p:spPr>
          <a:xfrm>
            <a:off x="5475710" y="1820796"/>
            <a:ext cx="1444625" cy="371475"/>
          </a:xfrm>
          <a:custGeom>
            <a:rect b="b" l="l" r="r" t="t"/>
            <a:pathLst>
              <a:path extrusionOk="0" h="371475" w="1444625">
                <a:moveTo>
                  <a:pt x="0" y="0"/>
                </a:moveTo>
                <a:lnTo>
                  <a:pt x="0" y="371475"/>
                </a:lnTo>
                <a:lnTo>
                  <a:pt x="1444625" y="371475"/>
                </a:lnTo>
                <a:lnTo>
                  <a:pt x="1085850" y="3175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79"/>
          <p:cNvSpPr txBox="1"/>
          <p:nvPr/>
        </p:nvSpPr>
        <p:spPr>
          <a:xfrm>
            <a:off x="6765337" y="2007991"/>
            <a:ext cx="30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8" name="Google Shape;908;p79"/>
          <p:cNvPicPr preferRelativeResize="0"/>
          <p:nvPr/>
        </p:nvPicPr>
        <p:blipFill rotWithShape="1">
          <a:blip r:embed="rId4">
            <a:alphaModFix/>
          </a:blip>
          <a:srcRect b="52355" l="46456" r="47350" t="10323"/>
          <a:stretch/>
        </p:blipFill>
        <p:spPr>
          <a:xfrm rot="10800000">
            <a:off x="6786005" y="1368957"/>
            <a:ext cx="278533" cy="846209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Rotating with tracing paper and centre on a vertex</a:t>
            </a:r>
            <a:endParaRPr/>
          </a:p>
        </p:txBody>
      </p:sp>
      <p:sp>
        <p:nvSpPr>
          <p:cNvPr id="910" name="Google Shape;910;p79"/>
          <p:cNvSpPr txBox="1"/>
          <p:nvPr>
            <p:ph idx="1" type="body"/>
          </p:nvPr>
        </p:nvSpPr>
        <p:spPr>
          <a:xfrm>
            <a:off x="324000" y="676171"/>
            <a:ext cx="4125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Task</a:t>
            </a:r>
            <a:endParaRPr sz="1800"/>
          </a:p>
        </p:txBody>
      </p:sp>
      <p:sp>
        <p:nvSpPr>
          <p:cNvPr id="911" name="Google Shape;911;p79"/>
          <p:cNvSpPr txBox="1"/>
          <p:nvPr>
            <p:ph idx="1" type="body"/>
          </p:nvPr>
        </p:nvSpPr>
        <p:spPr>
          <a:xfrm>
            <a:off x="578080" y="996871"/>
            <a:ext cx="8241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600"/>
              <a:t>Rotate this shape by 90° anti-clockwise at the centre of rotation marked ×.</a:t>
            </a:r>
            <a:endParaRPr sz="1600"/>
          </a:p>
        </p:txBody>
      </p:sp>
      <p:sp>
        <p:nvSpPr>
          <p:cNvPr id="912" name="Google Shape;912;p79"/>
          <p:cNvSpPr txBox="1"/>
          <p:nvPr>
            <p:ph idx="1" type="body"/>
          </p:nvPr>
        </p:nvSpPr>
        <p:spPr>
          <a:xfrm>
            <a:off x="578080" y="1966065"/>
            <a:ext cx="4125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600"/>
              <a:t>Place tracing paper over the object.</a:t>
            </a:r>
            <a:endParaRPr sz="1600"/>
          </a:p>
        </p:txBody>
      </p:sp>
      <p:sp>
        <p:nvSpPr>
          <p:cNvPr id="913" name="Google Shape;913;p79"/>
          <p:cNvSpPr txBox="1"/>
          <p:nvPr>
            <p:ph idx="1" type="body"/>
          </p:nvPr>
        </p:nvSpPr>
        <p:spPr>
          <a:xfrm>
            <a:off x="324000" y="1587316"/>
            <a:ext cx="4125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Instructions</a:t>
            </a:r>
            <a:endParaRPr sz="1800"/>
          </a:p>
        </p:txBody>
      </p:sp>
      <p:sp>
        <p:nvSpPr>
          <p:cNvPr id="914" name="Google Shape;914;p79"/>
          <p:cNvSpPr txBox="1"/>
          <p:nvPr/>
        </p:nvSpPr>
        <p:spPr>
          <a:xfrm>
            <a:off x="578080" y="2478858"/>
            <a:ext cx="41250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a pencil, sketch over the object and put a × at the location of the centre of rotation.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79"/>
          <p:cNvSpPr txBox="1"/>
          <p:nvPr/>
        </p:nvSpPr>
        <p:spPr>
          <a:xfrm>
            <a:off x="578075" y="3518125"/>
            <a:ext cx="420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Push your pencil into the centre of rotation to keep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tracing paper</a:t>
            </a:r>
            <a:r>
              <a:rPr b="0"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place.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79"/>
          <p:cNvSpPr txBox="1"/>
          <p:nvPr/>
        </p:nvSpPr>
        <p:spPr>
          <a:xfrm>
            <a:off x="578080" y="4264390"/>
            <a:ext cx="412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Rotate the tracing paper 90°                    anti-clockwise.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" name="Google Shape;921;p80"/>
          <p:cNvPicPr preferRelativeResize="0"/>
          <p:nvPr/>
        </p:nvPicPr>
        <p:blipFill rotWithShape="1">
          <a:blip r:embed="rId3">
            <a:alphaModFix/>
          </a:blip>
          <a:srcRect b="19588" l="0" r="0" t="7456"/>
          <a:stretch/>
        </p:blipFill>
        <p:spPr>
          <a:xfrm>
            <a:off x="4937060" y="1504189"/>
            <a:ext cx="3564100" cy="26424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2" name="Google Shape;922;p80"/>
          <p:cNvGrpSpPr/>
          <p:nvPr/>
        </p:nvGrpSpPr>
        <p:grpSpPr>
          <a:xfrm rot="-5400000">
            <a:off x="5977150" y="1703140"/>
            <a:ext cx="2959500" cy="2448600"/>
            <a:chOff x="5282983" y="3176470"/>
            <a:chExt cx="2959500" cy="2448600"/>
          </a:xfrm>
        </p:grpSpPr>
        <p:sp>
          <p:nvSpPr>
            <p:cNvPr id="923" name="Google Shape;923;p80"/>
            <p:cNvSpPr/>
            <p:nvPr/>
          </p:nvSpPr>
          <p:spPr>
            <a:xfrm>
              <a:off x="5282983" y="3176470"/>
              <a:ext cx="2959500" cy="2448600"/>
            </a:xfrm>
            <a:prstGeom prst="rect">
              <a:avLst/>
            </a:prstGeom>
            <a:solidFill>
              <a:srgbClr val="FDF3CB">
                <a:alpha val="4941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80"/>
            <p:cNvSpPr/>
            <p:nvPr/>
          </p:nvSpPr>
          <p:spPr>
            <a:xfrm>
              <a:off x="6049028" y="3493078"/>
              <a:ext cx="1444625" cy="371475"/>
            </a:xfrm>
            <a:custGeom>
              <a:rect b="b" l="l" r="r" t="t"/>
              <a:pathLst>
                <a:path extrusionOk="0" h="371475" w="1444625">
                  <a:moveTo>
                    <a:pt x="0" y="0"/>
                  </a:moveTo>
                  <a:lnTo>
                    <a:pt x="0" y="371475"/>
                  </a:lnTo>
                  <a:lnTo>
                    <a:pt x="1444625" y="371475"/>
                  </a:lnTo>
                  <a:lnTo>
                    <a:pt x="1085850" y="3175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80"/>
            <p:cNvSpPr txBox="1"/>
            <p:nvPr/>
          </p:nvSpPr>
          <p:spPr>
            <a:xfrm>
              <a:off x="7320373" y="3631339"/>
              <a:ext cx="309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GB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×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6" name="Google Shape;926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Rotating with tracing paper and centre on a vertex</a:t>
            </a:r>
            <a:endParaRPr/>
          </a:p>
        </p:txBody>
      </p:sp>
      <p:sp>
        <p:nvSpPr>
          <p:cNvPr id="927" name="Google Shape;927;p80"/>
          <p:cNvSpPr txBox="1"/>
          <p:nvPr>
            <p:ph idx="1" type="body"/>
          </p:nvPr>
        </p:nvSpPr>
        <p:spPr>
          <a:xfrm>
            <a:off x="324000" y="676171"/>
            <a:ext cx="4125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Task</a:t>
            </a:r>
            <a:endParaRPr sz="1800"/>
          </a:p>
        </p:txBody>
      </p:sp>
      <p:sp>
        <p:nvSpPr>
          <p:cNvPr id="928" name="Google Shape;928;p80"/>
          <p:cNvSpPr txBox="1"/>
          <p:nvPr>
            <p:ph idx="1" type="body"/>
          </p:nvPr>
        </p:nvSpPr>
        <p:spPr>
          <a:xfrm>
            <a:off x="578080" y="996871"/>
            <a:ext cx="8241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600"/>
              <a:t>Rotate this shape by 90° anti-clockwise at the centre of rotation marked ×.</a:t>
            </a:r>
            <a:endParaRPr sz="1600"/>
          </a:p>
        </p:txBody>
      </p:sp>
      <p:sp>
        <p:nvSpPr>
          <p:cNvPr id="929" name="Google Shape;929;p80"/>
          <p:cNvSpPr txBox="1"/>
          <p:nvPr>
            <p:ph idx="1" type="body"/>
          </p:nvPr>
        </p:nvSpPr>
        <p:spPr>
          <a:xfrm>
            <a:off x="324000" y="1587316"/>
            <a:ext cx="4125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Instructions</a:t>
            </a:r>
            <a:endParaRPr sz="1800"/>
          </a:p>
        </p:txBody>
      </p:sp>
      <p:sp>
        <p:nvSpPr>
          <p:cNvPr id="930" name="Google Shape;930;p80"/>
          <p:cNvSpPr txBox="1"/>
          <p:nvPr/>
        </p:nvSpPr>
        <p:spPr>
          <a:xfrm>
            <a:off x="578080" y="1966065"/>
            <a:ext cx="4269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Keep the tracing paper as still as possible.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80"/>
          <p:cNvSpPr txBox="1"/>
          <p:nvPr/>
        </p:nvSpPr>
        <p:spPr>
          <a:xfrm>
            <a:off x="578080" y="2730160"/>
            <a:ext cx="4269000" cy="12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Firmly </a:t>
            </a:r>
            <a:r>
              <a:rPr b="0"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push the pencil into each of the vertices of the image on the tracing paper.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will imprint the vertex of the image onto the paper.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2" name="Google Shape;932;p80"/>
          <p:cNvPicPr preferRelativeResize="0"/>
          <p:nvPr/>
        </p:nvPicPr>
        <p:blipFill rotWithShape="1">
          <a:blip r:embed="rId4">
            <a:alphaModFix/>
          </a:blip>
          <a:srcRect b="52355" l="46456" r="47350" t="10323"/>
          <a:stretch/>
        </p:blipFill>
        <p:spPr>
          <a:xfrm rot="10800000">
            <a:off x="6786005" y="1368957"/>
            <a:ext cx="278533" cy="846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80"/>
          <p:cNvPicPr preferRelativeResize="0"/>
          <p:nvPr/>
        </p:nvPicPr>
        <p:blipFill rotWithShape="1">
          <a:blip r:embed="rId4">
            <a:alphaModFix/>
          </a:blip>
          <a:srcRect b="52355" l="46456" r="47350" t="10323"/>
          <a:stretch/>
        </p:blipFill>
        <p:spPr>
          <a:xfrm rot="9203412">
            <a:off x="6240524" y="2858215"/>
            <a:ext cx="278535" cy="846208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80"/>
          <p:cNvSpPr/>
          <p:nvPr/>
        </p:nvSpPr>
        <p:spPr>
          <a:xfrm>
            <a:off x="6525394" y="3603118"/>
            <a:ext cx="76200" cy="762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5" name="Google Shape;935;p80"/>
          <p:cNvPicPr preferRelativeResize="0"/>
          <p:nvPr/>
        </p:nvPicPr>
        <p:blipFill rotWithShape="1">
          <a:blip r:embed="rId4">
            <a:alphaModFix/>
          </a:blip>
          <a:srcRect b="52355" l="46456" r="47350" t="10323"/>
          <a:stretch/>
        </p:blipFill>
        <p:spPr>
          <a:xfrm rot="9203412">
            <a:off x="6240525" y="1784410"/>
            <a:ext cx="278535" cy="846208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80"/>
          <p:cNvSpPr/>
          <p:nvPr/>
        </p:nvSpPr>
        <p:spPr>
          <a:xfrm>
            <a:off x="6525395" y="2529313"/>
            <a:ext cx="76200" cy="762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7" name="Google Shape;937;p80"/>
          <p:cNvPicPr preferRelativeResize="0"/>
          <p:nvPr/>
        </p:nvPicPr>
        <p:blipFill rotWithShape="1">
          <a:blip r:embed="rId4">
            <a:alphaModFix/>
          </a:blip>
          <a:srcRect b="52355" l="46456" r="47350" t="10323"/>
          <a:stretch/>
        </p:blipFill>
        <p:spPr>
          <a:xfrm flipH="1" rot="-9203412">
            <a:off x="6958611" y="2858216"/>
            <a:ext cx="278535" cy="846208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80"/>
          <p:cNvSpPr/>
          <p:nvPr/>
        </p:nvSpPr>
        <p:spPr>
          <a:xfrm>
            <a:off x="6888276" y="3603119"/>
            <a:ext cx="76200" cy="762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3" name="Google Shape;943;p81"/>
          <p:cNvPicPr preferRelativeResize="0"/>
          <p:nvPr/>
        </p:nvPicPr>
        <p:blipFill rotWithShape="1">
          <a:blip r:embed="rId3">
            <a:alphaModFix/>
          </a:blip>
          <a:srcRect b="19588" l="0" r="0" t="7456"/>
          <a:stretch/>
        </p:blipFill>
        <p:spPr>
          <a:xfrm>
            <a:off x="4937060" y="1504189"/>
            <a:ext cx="3564100" cy="26424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4" name="Google Shape;944;p81"/>
          <p:cNvGrpSpPr/>
          <p:nvPr/>
        </p:nvGrpSpPr>
        <p:grpSpPr>
          <a:xfrm rot="-5400000">
            <a:off x="5977150" y="1703140"/>
            <a:ext cx="2959500" cy="2448600"/>
            <a:chOff x="5282983" y="3176470"/>
            <a:chExt cx="2959500" cy="2448600"/>
          </a:xfrm>
        </p:grpSpPr>
        <p:sp>
          <p:nvSpPr>
            <p:cNvPr id="945" name="Google Shape;945;p81"/>
            <p:cNvSpPr/>
            <p:nvPr/>
          </p:nvSpPr>
          <p:spPr>
            <a:xfrm>
              <a:off x="5282983" y="3176470"/>
              <a:ext cx="2959500" cy="2448600"/>
            </a:xfrm>
            <a:prstGeom prst="rect">
              <a:avLst/>
            </a:prstGeom>
            <a:solidFill>
              <a:srgbClr val="FDF3CB">
                <a:alpha val="4941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81"/>
            <p:cNvSpPr/>
            <p:nvPr/>
          </p:nvSpPr>
          <p:spPr>
            <a:xfrm>
              <a:off x="6049028" y="3493078"/>
              <a:ext cx="1444625" cy="371475"/>
            </a:xfrm>
            <a:custGeom>
              <a:rect b="b" l="l" r="r" t="t"/>
              <a:pathLst>
                <a:path extrusionOk="0" h="371475" w="1444625">
                  <a:moveTo>
                    <a:pt x="0" y="0"/>
                  </a:moveTo>
                  <a:lnTo>
                    <a:pt x="0" y="371475"/>
                  </a:lnTo>
                  <a:lnTo>
                    <a:pt x="1444625" y="371475"/>
                  </a:lnTo>
                  <a:lnTo>
                    <a:pt x="1085850" y="3175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81"/>
            <p:cNvSpPr txBox="1"/>
            <p:nvPr/>
          </p:nvSpPr>
          <p:spPr>
            <a:xfrm>
              <a:off x="7320373" y="3631339"/>
              <a:ext cx="309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GB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×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8" name="Google Shape;948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Rotating with tracing paper and centre on a vertex</a:t>
            </a:r>
            <a:endParaRPr/>
          </a:p>
        </p:txBody>
      </p:sp>
      <p:sp>
        <p:nvSpPr>
          <p:cNvPr id="949" name="Google Shape;949;p81"/>
          <p:cNvSpPr txBox="1"/>
          <p:nvPr>
            <p:ph idx="1" type="body"/>
          </p:nvPr>
        </p:nvSpPr>
        <p:spPr>
          <a:xfrm>
            <a:off x="324000" y="676171"/>
            <a:ext cx="4125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Task</a:t>
            </a:r>
            <a:endParaRPr sz="1800"/>
          </a:p>
        </p:txBody>
      </p:sp>
      <p:sp>
        <p:nvSpPr>
          <p:cNvPr id="950" name="Google Shape;950;p81"/>
          <p:cNvSpPr txBox="1"/>
          <p:nvPr>
            <p:ph idx="1" type="body"/>
          </p:nvPr>
        </p:nvSpPr>
        <p:spPr>
          <a:xfrm>
            <a:off x="578080" y="996871"/>
            <a:ext cx="8241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600"/>
              <a:t>Rotate this shape by 90° anti-clockwise at the centre of rotation marked ×.</a:t>
            </a:r>
            <a:endParaRPr sz="1600"/>
          </a:p>
        </p:txBody>
      </p:sp>
      <p:sp>
        <p:nvSpPr>
          <p:cNvPr id="951" name="Google Shape;951;p81"/>
          <p:cNvSpPr txBox="1"/>
          <p:nvPr>
            <p:ph idx="1" type="body"/>
          </p:nvPr>
        </p:nvSpPr>
        <p:spPr>
          <a:xfrm>
            <a:off x="324000" y="1587316"/>
            <a:ext cx="4125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Instructions</a:t>
            </a:r>
            <a:endParaRPr sz="1800"/>
          </a:p>
        </p:txBody>
      </p:sp>
      <p:sp>
        <p:nvSpPr>
          <p:cNvPr id="952" name="Google Shape;952;p81"/>
          <p:cNvSpPr/>
          <p:nvPr/>
        </p:nvSpPr>
        <p:spPr>
          <a:xfrm>
            <a:off x="6525394" y="3603118"/>
            <a:ext cx="76200" cy="762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81"/>
          <p:cNvSpPr/>
          <p:nvPr/>
        </p:nvSpPr>
        <p:spPr>
          <a:xfrm>
            <a:off x="6525395" y="2529313"/>
            <a:ext cx="76200" cy="762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81"/>
          <p:cNvSpPr/>
          <p:nvPr/>
        </p:nvSpPr>
        <p:spPr>
          <a:xfrm>
            <a:off x="6888276" y="3603119"/>
            <a:ext cx="76200" cy="762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81"/>
          <p:cNvSpPr txBox="1"/>
          <p:nvPr/>
        </p:nvSpPr>
        <p:spPr>
          <a:xfrm>
            <a:off x="578080" y="1944858"/>
            <a:ext cx="42690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all vertices are visible on the paper, remove the tracing paper.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81"/>
          <p:cNvSpPr txBox="1"/>
          <p:nvPr/>
        </p:nvSpPr>
        <p:spPr>
          <a:xfrm>
            <a:off x="578080" y="2825408"/>
            <a:ext cx="42690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Join up all the vertices on the paper to complete the shape.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81"/>
          <p:cNvSpPr/>
          <p:nvPr/>
        </p:nvSpPr>
        <p:spPr>
          <a:xfrm rot="-5400000">
            <a:off x="6011905" y="2733095"/>
            <a:ext cx="1444625" cy="371475"/>
          </a:xfrm>
          <a:custGeom>
            <a:rect b="b" l="l" r="r" t="t"/>
            <a:pathLst>
              <a:path extrusionOk="0" h="371475" w="1444625">
                <a:moveTo>
                  <a:pt x="0" y="0"/>
                </a:moveTo>
                <a:lnTo>
                  <a:pt x="0" y="371475"/>
                </a:lnTo>
                <a:lnTo>
                  <a:pt x="1444625" y="371475"/>
                </a:lnTo>
                <a:lnTo>
                  <a:pt x="1085850" y="3175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81"/>
          <p:cNvSpPr txBox="1"/>
          <p:nvPr/>
        </p:nvSpPr>
        <p:spPr>
          <a:xfrm>
            <a:off x="578080" y="3705958"/>
            <a:ext cx="42690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see that the image is a 90°              anti-clockwise rotation of the object.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9" name="Google Shape;959;p81"/>
          <p:cNvPicPr preferRelativeResize="0"/>
          <p:nvPr/>
        </p:nvPicPr>
        <p:blipFill rotWithShape="1">
          <a:blip r:embed="rId4">
            <a:alphaModFix/>
          </a:blip>
          <a:srcRect b="60604" l="73051" r="15843" t="25615"/>
          <a:stretch/>
        </p:blipFill>
        <p:spPr>
          <a:xfrm flipH="1" rot="-5400000">
            <a:off x="5255826" y="2166780"/>
            <a:ext cx="762880" cy="957229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81"/>
          <p:cNvSpPr txBox="1"/>
          <p:nvPr/>
        </p:nvSpPr>
        <p:spPr>
          <a:xfrm>
            <a:off x="5522672" y="2506859"/>
            <a:ext cx="465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90°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Rotating with tracing paper and centre on a vertex</a:t>
            </a:r>
            <a:endParaRPr/>
          </a:p>
        </p:txBody>
      </p:sp>
      <p:sp>
        <p:nvSpPr>
          <p:cNvPr id="966" name="Google Shape;966;p82"/>
          <p:cNvSpPr txBox="1"/>
          <p:nvPr>
            <p:ph idx="1" type="body"/>
          </p:nvPr>
        </p:nvSpPr>
        <p:spPr>
          <a:xfrm>
            <a:off x="324000" y="676171"/>
            <a:ext cx="4125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Demonstration</a:t>
            </a:r>
            <a:endParaRPr sz="2000"/>
          </a:p>
        </p:txBody>
      </p:sp>
      <p:sp>
        <p:nvSpPr>
          <p:cNvPr id="967" name="Google Shape;967;p82"/>
          <p:cNvSpPr txBox="1"/>
          <p:nvPr>
            <p:ph idx="1" type="body"/>
          </p:nvPr>
        </p:nvSpPr>
        <p:spPr>
          <a:xfrm>
            <a:off x="578075" y="1149275"/>
            <a:ext cx="3901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Use a: pencil, </a:t>
            </a:r>
            <a:r>
              <a:rPr lang="en-GB" sz="1800"/>
              <a:t>r</a:t>
            </a:r>
            <a:r>
              <a:rPr lang="en-GB" sz="1800"/>
              <a:t>uler, and tracing paper.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R</a:t>
            </a:r>
            <a:r>
              <a:rPr lang="en-GB" sz="1800"/>
              <a:t>otate this shape by 90° clockwise at the centre of rotation marked ×.</a:t>
            </a:r>
            <a:endParaRPr sz="1800"/>
          </a:p>
        </p:txBody>
      </p:sp>
      <p:pic>
        <p:nvPicPr>
          <p:cNvPr id="968" name="Google Shape;96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6725" y="765900"/>
            <a:ext cx="3731475" cy="4054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82"/>
          <p:cNvSpPr txBox="1"/>
          <p:nvPr>
            <p:ph idx="1" type="body"/>
          </p:nvPr>
        </p:nvSpPr>
        <p:spPr>
          <a:xfrm>
            <a:off x="578075" y="2852400"/>
            <a:ext cx="3901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Rotating a shape with none of the sides resting on the gridlines can be tricky!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4" name="Google Shape;974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0650" y="1080000"/>
            <a:ext cx="3850850" cy="2831125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p83"/>
          <p:cNvSpPr txBox="1"/>
          <p:nvPr>
            <p:ph idx="1" type="body"/>
          </p:nvPr>
        </p:nvSpPr>
        <p:spPr>
          <a:xfrm>
            <a:off x="324000" y="759300"/>
            <a:ext cx="4248000" cy="16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After placing the tracing paper over the paper, what two things must I draw onto the tracing paper?</a:t>
            </a:r>
            <a:endParaRPr sz="2000"/>
          </a:p>
        </p:txBody>
      </p:sp>
      <p:sp>
        <p:nvSpPr>
          <p:cNvPr id="976" name="Google Shape;976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Rotating with tracing paper and centre on a vertex</a:t>
            </a:r>
            <a:endParaRPr/>
          </a:p>
        </p:txBody>
      </p:sp>
      <p:sp>
        <p:nvSpPr>
          <p:cNvPr id="977" name="Google Shape;977;p83"/>
          <p:cNvSpPr/>
          <p:nvPr/>
        </p:nvSpPr>
        <p:spPr>
          <a:xfrm>
            <a:off x="4679140" y="880688"/>
            <a:ext cx="2959500" cy="2448600"/>
          </a:xfrm>
          <a:prstGeom prst="rect">
            <a:avLst/>
          </a:prstGeom>
          <a:solidFill>
            <a:srgbClr val="FDF3CB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83"/>
          <p:cNvSpPr txBox="1"/>
          <p:nvPr>
            <p:ph idx="1" type="body"/>
          </p:nvPr>
        </p:nvSpPr>
        <p:spPr>
          <a:xfrm>
            <a:off x="990900" y="2421600"/>
            <a:ext cx="3581100" cy="16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object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centre of rotation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79" name="Google Shape;979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7325" y="1270600"/>
            <a:ext cx="774725" cy="1132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84"/>
          <p:cNvSpPr txBox="1"/>
          <p:nvPr>
            <p:ph idx="1" type="body"/>
          </p:nvPr>
        </p:nvSpPr>
        <p:spPr>
          <a:xfrm>
            <a:off x="324000" y="759300"/>
            <a:ext cx="8496000" cy="11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The object needs to be rotated 90° around the centre of rotation marked.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Which of these is the correct placement of the tracing paper after the rotation has happened?</a:t>
            </a:r>
            <a:endParaRPr sz="1800"/>
          </a:p>
        </p:txBody>
      </p:sp>
      <p:sp>
        <p:nvSpPr>
          <p:cNvPr id="985" name="Google Shape;985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Rotating with tracing paper and centre on a vertex</a:t>
            </a:r>
            <a:endParaRPr/>
          </a:p>
        </p:txBody>
      </p:sp>
      <p:pic>
        <p:nvPicPr>
          <p:cNvPr id="986" name="Google Shape;986;p84"/>
          <p:cNvPicPr preferRelativeResize="0"/>
          <p:nvPr/>
        </p:nvPicPr>
        <p:blipFill rotWithShape="1">
          <a:blip r:embed="rId3">
            <a:alphaModFix/>
          </a:blip>
          <a:srcRect b="0" l="0" r="23153" t="0"/>
          <a:stretch/>
        </p:blipFill>
        <p:spPr>
          <a:xfrm>
            <a:off x="332050" y="2102246"/>
            <a:ext cx="2240576" cy="21435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7" name="Google Shape;987;p84"/>
          <p:cNvGrpSpPr/>
          <p:nvPr/>
        </p:nvGrpSpPr>
        <p:grpSpPr>
          <a:xfrm rot="10800000">
            <a:off x="324003" y="2330600"/>
            <a:ext cx="1494000" cy="1854000"/>
            <a:chOff x="324007" y="2450659"/>
            <a:chExt cx="1494000" cy="1854000"/>
          </a:xfrm>
        </p:grpSpPr>
        <p:sp>
          <p:nvSpPr>
            <p:cNvPr id="988" name="Google Shape;988;p84"/>
            <p:cNvSpPr/>
            <p:nvPr/>
          </p:nvSpPr>
          <p:spPr>
            <a:xfrm>
              <a:off x="324007" y="2450659"/>
              <a:ext cx="1494000" cy="1854000"/>
            </a:xfrm>
            <a:prstGeom prst="rect">
              <a:avLst/>
            </a:prstGeom>
            <a:solidFill>
              <a:srgbClr val="FDF3CB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89" name="Google Shape;989;p8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2450" y="2749625"/>
              <a:ext cx="613325" cy="8869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90" name="Google Shape;990;p84"/>
          <p:cNvPicPr preferRelativeResize="0"/>
          <p:nvPr/>
        </p:nvPicPr>
        <p:blipFill rotWithShape="1">
          <a:blip r:embed="rId3">
            <a:alphaModFix/>
          </a:blip>
          <a:srcRect b="0" l="0" r="23153" t="0"/>
          <a:stretch/>
        </p:blipFill>
        <p:spPr>
          <a:xfrm>
            <a:off x="6466837" y="2102246"/>
            <a:ext cx="2240576" cy="21435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1" name="Google Shape;991;p84"/>
          <p:cNvGrpSpPr/>
          <p:nvPr/>
        </p:nvGrpSpPr>
        <p:grpSpPr>
          <a:xfrm rot="5400000">
            <a:off x="7103724" y="2329984"/>
            <a:ext cx="1494000" cy="1854000"/>
            <a:chOff x="324007" y="2450659"/>
            <a:chExt cx="1494000" cy="1854000"/>
          </a:xfrm>
        </p:grpSpPr>
        <p:sp>
          <p:nvSpPr>
            <p:cNvPr id="992" name="Google Shape;992;p84"/>
            <p:cNvSpPr/>
            <p:nvPr/>
          </p:nvSpPr>
          <p:spPr>
            <a:xfrm>
              <a:off x="324007" y="2450659"/>
              <a:ext cx="1494000" cy="1854000"/>
            </a:xfrm>
            <a:prstGeom prst="rect">
              <a:avLst/>
            </a:prstGeom>
            <a:solidFill>
              <a:srgbClr val="FDF3CB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93" name="Google Shape;993;p8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2450" y="2749625"/>
              <a:ext cx="613325" cy="8869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94" name="Google Shape;994;p84"/>
          <p:cNvPicPr preferRelativeResize="0"/>
          <p:nvPr/>
        </p:nvPicPr>
        <p:blipFill rotWithShape="1">
          <a:blip r:embed="rId3">
            <a:alphaModFix/>
          </a:blip>
          <a:srcRect b="0" l="0" r="23153" t="0"/>
          <a:stretch/>
        </p:blipFill>
        <p:spPr>
          <a:xfrm>
            <a:off x="3457012" y="2102246"/>
            <a:ext cx="2240576" cy="21435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5" name="Google Shape;995;p84"/>
          <p:cNvGrpSpPr/>
          <p:nvPr/>
        </p:nvGrpSpPr>
        <p:grpSpPr>
          <a:xfrm rot="5400000">
            <a:off x="3557049" y="2065750"/>
            <a:ext cx="1494000" cy="1854000"/>
            <a:chOff x="324007" y="2450659"/>
            <a:chExt cx="1494000" cy="1854000"/>
          </a:xfrm>
        </p:grpSpPr>
        <p:sp>
          <p:nvSpPr>
            <p:cNvPr id="996" name="Google Shape;996;p84"/>
            <p:cNvSpPr/>
            <p:nvPr/>
          </p:nvSpPr>
          <p:spPr>
            <a:xfrm>
              <a:off x="324007" y="2450659"/>
              <a:ext cx="1494000" cy="1854000"/>
            </a:xfrm>
            <a:prstGeom prst="rect">
              <a:avLst/>
            </a:prstGeom>
            <a:solidFill>
              <a:srgbClr val="FDF3CB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97" name="Google Shape;997;p8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2450" y="2749625"/>
              <a:ext cx="613325" cy="8869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98" name="Google Shape;998;p8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0096" y="4297325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9" name="Google Shape;999;p84"/>
          <p:cNvGrpSpPr/>
          <p:nvPr/>
        </p:nvGrpSpPr>
        <p:grpSpPr>
          <a:xfrm>
            <a:off x="1223741" y="4278275"/>
            <a:ext cx="457200" cy="457200"/>
            <a:chOff x="1020916" y="1442088"/>
            <a:chExt cx="457200" cy="457200"/>
          </a:xfrm>
        </p:grpSpPr>
        <p:pic>
          <p:nvPicPr>
            <p:cNvPr id="1000" name="Google Shape;1000;p8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1" name="Google Shape;1001;p8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2" name="Google Shape;1002;p84"/>
          <p:cNvGrpSpPr/>
          <p:nvPr/>
        </p:nvGrpSpPr>
        <p:grpSpPr>
          <a:xfrm>
            <a:off x="4308716" y="4278275"/>
            <a:ext cx="457200" cy="457200"/>
            <a:chOff x="1020916" y="1442088"/>
            <a:chExt cx="457200" cy="457200"/>
          </a:xfrm>
        </p:grpSpPr>
        <p:pic>
          <p:nvPicPr>
            <p:cNvPr id="1003" name="Google Shape;1003;p8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4" name="Google Shape;1004;p8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5" name="Google Shape;1005;p84"/>
          <p:cNvGrpSpPr/>
          <p:nvPr/>
        </p:nvGrpSpPr>
        <p:grpSpPr>
          <a:xfrm>
            <a:off x="7393678" y="4278275"/>
            <a:ext cx="457200" cy="457200"/>
            <a:chOff x="1020916" y="1442088"/>
            <a:chExt cx="457200" cy="457200"/>
          </a:xfrm>
        </p:grpSpPr>
        <p:pic>
          <p:nvPicPr>
            <p:cNvPr id="1006" name="Google Shape;1006;p8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7" name="Google Shape;1007;p8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85"/>
          <p:cNvSpPr txBox="1"/>
          <p:nvPr>
            <p:ph idx="1" type="body"/>
          </p:nvPr>
        </p:nvSpPr>
        <p:spPr>
          <a:xfrm>
            <a:off x="1802350" y="3347450"/>
            <a:ext cx="70176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After rotating the tracing paper</a:t>
            </a:r>
            <a:endParaRPr sz="1800"/>
          </a:p>
        </p:txBody>
      </p:sp>
      <p:sp>
        <p:nvSpPr>
          <p:cNvPr id="1013" name="Google Shape;1013;p85"/>
          <p:cNvSpPr txBox="1"/>
          <p:nvPr>
            <p:ph idx="1" type="body"/>
          </p:nvPr>
        </p:nvSpPr>
        <p:spPr>
          <a:xfrm>
            <a:off x="1802350" y="2571750"/>
            <a:ext cx="70176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After sketching the object onto the tracing paper</a:t>
            </a:r>
            <a:endParaRPr sz="1800"/>
          </a:p>
        </p:txBody>
      </p:sp>
      <p:sp>
        <p:nvSpPr>
          <p:cNvPr id="1014" name="Google Shape;1014;p85"/>
          <p:cNvSpPr txBox="1"/>
          <p:nvPr>
            <p:ph idx="1" type="body"/>
          </p:nvPr>
        </p:nvSpPr>
        <p:spPr>
          <a:xfrm>
            <a:off x="1802350" y="1796050"/>
            <a:ext cx="70176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After placing the tracing paper over the paper</a:t>
            </a:r>
            <a:endParaRPr sz="1800"/>
          </a:p>
        </p:txBody>
      </p:sp>
      <p:sp>
        <p:nvSpPr>
          <p:cNvPr id="1015" name="Google Shape;1015;p85"/>
          <p:cNvSpPr txBox="1"/>
          <p:nvPr>
            <p:ph idx="1" type="body"/>
          </p:nvPr>
        </p:nvSpPr>
        <p:spPr>
          <a:xfrm>
            <a:off x="324000" y="759300"/>
            <a:ext cx="84960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After which step do you push your pencil firmly onto each vertex of the shape on the tracing paper to leave an imprint on the paper?</a:t>
            </a:r>
            <a:endParaRPr sz="1800"/>
          </a:p>
        </p:txBody>
      </p:sp>
      <p:sp>
        <p:nvSpPr>
          <p:cNvPr id="1016" name="Google Shape;1016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Rotating with tracing paper and centre on a vertex</a:t>
            </a:r>
            <a:endParaRPr/>
          </a:p>
        </p:txBody>
      </p:sp>
      <p:grpSp>
        <p:nvGrpSpPr>
          <p:cNvPr id="1017" name="Google Shape;1017;p85"/>
          <p:cNvGrpSpPr/>
          <p:nvPr/>
        </p:nvGrpSpPr>
        <p:grpSpPr>
          <a:xfrm>
            <a:off x="1227591" y="1796050"/>
            <a:ext cx="457200" cy="457200"/>
            <a:chOff x="1020916" y="1442088"/>
            <a:chExt cx="457200" cy="457200"/>
          </a:xfrm>
        </p:grpSpPr>
        <p:pic>
          <p:nvPicPr>
            <p:cNvPr id="1018" name="Google Shape;1018;p8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9" name="Google Shape;1019;p8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0" name="Google Shape;1020;p85"/>
          <p:cNvGrpSpPr/>
          <p:nvPr/>
        </p:nvGrpSpPr>
        <p:grpSpPr>
          <a:xfrm>
            <a:off x="1227591" y="2571750"/>
            <a:ext cx="457200" cy="457200"/>
            <a:chOff x="1020916" y="1442088"/>
            <a:chExt cx="457200" cy="457200"/>
          </a:xfrm>
        </p:grpSpPr>
        <p:pic>
          <p:nvPicPr>
            <p:cNvPr id="1021" name="Google Shape;1021;p8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2" name="Google Shape;1022;p8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3" name="Google Shape;1023;p85"/>
          <p:cNvGrpSpPr/>
          <p:nvPr/>
        </p:nvGrpSpPr>
        <p:grpSpPr>
          <a:xfrm>
            <a:off x="1227591" y="3347450"/>
            <a:ext cx="457200" cy="457200"/>
            <a:chOff x="1020916" y="1442088"/>
            <a:chExt cx="457200" cy="457200"/>
          </a:xfrm>
        </p:grpSpPr>
        <p:pic>
          <p:nvPicPr>
            <p:cNvPr id="1024" name="Google Shape;1024;p8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5" name="Google Shape;1025;p8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26" name="Google Shape;1026;p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3321" y="3347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86"/>
          <p:cNvSpPr txBox="1"/>
          <p:nvPr>
            <p:ph idx="1" type="body"/>
          </p:nvPr>
        </p:nvSpPr>
        <p:spPr>
          <a:xfrm>
            <a:off x="578080" y="996871"/>
            <a:ext cx="8241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600"/>
              <a:t>Rotate this shape clockwise by 90° around the centre of rotation given.                    Repeat this rotation two more times, but each time start from the image you have just drawn, and treat that as the new object.</a:t>
            </a:r>
            <a:endParaRPr sz="1600"/>
          </a:p>
        </p:txBody>
      </p:sp>
      <p:pic>
        <p:nvPicPr>
          <p:cNvPr id="1032" name="Google Shape;1032;p86"/>
          <p:cNvPicPr preferRelativeResize="0"/>
          <p:nvPr/>
        </p:nvPicPr>
        <p:blipFill rotWithShape="1">
          <a:blip r:embed="rId3">
            <a:alphaModFix/>
          </a:blip>
          <a:srcRect b="15656" l="0" r="0" t="9894"/>
          <a:stretch/>
        </p:blipFill>
        <p:spPr>
          <a:xfrm>
            <a:off x="5689023" y="1884218"/>
            <a:ext cx="2713946" cy="2480978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86"/>
          <p:cNvSpPr/>
          <p:nvPr/>
        </p:nvSpPr>
        <p:spPr>
          <a:xfrm>
            <a:off x="5590351" y="1754956"/>
            <a:ext cx="2052600" cy="2257200"/>
          </a:xfrm>
          <a:prstGeom prst="rect">
            <a:avLst/>
          </a:prstGeom>
          <a:solidFill>
            <a:srgbClr val="FDF3CB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Rotating with tracing paper and centre on a vertex</a:t>
            </a:r>
            <a:endParaRPr/>
          </a:p>
        </p:txBody>
      </p:sp>
      <p:sp>
        <p:nvSpPr>
          <p:cNvPr id="1035" name="Google Shape;1035;p86"/>
          <p:cNvSpPr txBox="1"/>
          <p:nvPr>
            <p:ph idx="1" type="body"/>
          </p:nvPr>
        </p:nvSpPr>
        <p:spPr>
          <a:xfrm>
            <a:off x="324000" y="676171"/>
            <a:ext cx="4125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Task</a:t>
            </a:r>
            <a:endParaRPr sz="1800"/>
          </a:p>
        </p:txBody>
      </p:sp>
      <p:grpSp>
        <p:nvGrpSpPr>
          <p:cNvPr id="1036" name="Google Shape;1036;p86"/>
          <p:cNvGrpSpPr/>
          <p:nvPr/>
        </p:nvGrpSpPr>
        <p:grpSpPr>
          <a:xfrm>
            <a:off x="6091670" y="2588419"/>
            <a:ext cx="1209744" cy="660974"/>
            <a:chOff x="5196320" y="2588419"/>
            <a:chExt cx="1209744" cy="660974"/>
          </a:xfrm>
        </p:grpSpPr>
        <p:sp>
          <p:nvSpPr>
            <p:cNvPr id="1037" name="Google Shape;1037;p86"/>
            <p:cNvSpPr/>
            <p:nvPr/>
          </p:nvSpPr>
          <p:spPr>
            <a:xfrm>
              <a:off x="5196320" y="2588419"/>
              <a:ext cx="1102200" cy="553200"/>
            </a:xfrm>
            <a:prstGeom prst="triangle">
              <a:avLst>
                <a:gd fmla="val 100000" name="adj"/>
              </a:avLst>
            </a:prstGeom>
            <a:noFill/>
            <a:ln cap="flat" cmpd="sng" w="3810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86"/>
            <p:cNvSpPr/>
            <p:nvPr/>
          </p:nvSpPr>
          <p:spPr>
            <a:xfrm>
              <a:off x="6190664" y="3033993"/>
              <a:ext cx="215400" cy="215400"/>
            </a:xfrm>
            <a:prstGeom prst="mathMultiply">
              <a:avLst>
                <a:gd fmla="val 11020" name="adj1"/>
              </a:avLst>
            </a:prstGeom>
            <a:solidFill>
              <a:schemeClr val="dk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9" name="Google Shape;1039;p86"/>
          <p:cNvSpPr txBox="1"/>
          <p:nvPr/>
        </p:nvSpPr>
        <p:spPr>
          <a:xfrm>
            <a:off x="324000" y="2059756"/>
            <a:ext cx="4125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Instructions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86"/>
          <p:cNvSpPr txBox="1"/>
          <p:nvPr/>
        </p:nvSpPr>
        <p:spPr>
          <a:xfrm>
            <a:off x="578079" y="2417298"/>
            <a:ext cx="48072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Place the tracing paper over the object and sketch the object and centre of rotation onto the tracing paper.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1" name="Google Shape;1041;p86"/>
          <p:cNvGrpSpPr/>
          <p:nvPr/>
        </p:nvGrpSpPr>
        <p:grpSpPr>
          <a:xfrm rot="2700000">
            <a:off x="5938702" y="1421683"/>
            <a:ext cx="2052580" cy="2257178"/>
            <a:chOff x="7666801" y="1754956"/>
            <a:chExt cx="2052600" cy="2257200"/>
          </a:xfrm>
        </p:grpSpPr>
        <p:sp>
          <p:nvSpPr>
            <p:cNvPr id="1042" name="Google Shape;1042;p86"/>
            <p:cNvSpPr/>
            <p:nvPr/>
          </p:nvSpPr>
          <p:spPr>
            <a:xfrm>
              <a:off x="7666801" y="1754956"/>
              <a:ext cx="2052600" cy="2257200"/>
            </a:xfrm>
            <a:prstGeom prst="rect">
              <a:avLst/>
            </a:prstGeom>
            <a:solidFill>
              <a:srgbClr val="FDF3CB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3" name="Google Shape;1043;p86"/>
            <p:cNvGrpSpPr/>
            <p:nvPr/>
          </p:nvGrpSpPr>
          <p:grpSpPr>
            <a:xfrm>
              <a:off x="8168120" y="2588419"/>
              <a:ext cx="1209744" cy="660974"/>
              <a:chOff x="5196320" y="2588419"/>
              <a:chExt cx="1209744" cy="660974"/>
            </a:xfrm>
          </p:grpSpPr>
          <p:sp>
            <p:nvSpPr>
              <p:cNvPr id="1044" name="Google Shape;1044;p86"/>
              <p:cNvSpPr/>
              <p:nvPr/>
            </p:nvSpPr>
            <p:spPr>
              <a:xfrm>
                <a:off x="5196320" y="2588419"/>
                <a:ext cx="1102200" cy="553200"/>
              </a:xfrm>
              <a:prstGeom prst="triangle">
                <a:avLst>
                  <a:gd fmla="val 100000" name="adj"/>
                </a:avLst>
              </a:prstGeom>
              <a:noFill/>
              <a:ln cap="flat" cmpd="sng" w="38100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5" name="Google Shape;1045;p86"/>
              <p:cNvSpPr/>
              <p:nvPr/>
            </p:nvSpPr>
            <p:spPr>
              <a:xfrm>
                <a:off x="6190664" y="3033993"/>
                <a:ext cx="215400" cy="215400"/>
              </a:xfrm>
              <a:prstGeom prst="mathMultiply">
                <a:avLst>
                  <a:gd fmla="val 11020" name="adj1"/>
                </a:avLst>
              </a:prstGeom>
              <a:solidFill>
                <a:schemeClr val="dk1"/>
              </a:solidFill>
              <a:ln cap="flat" cmpd="sng" w="254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46" name="Google Shape;1046;p86"/>
          <p:cNvSpPr txBox="1"/>
          <p:nvPr/>
        </p:nvSpPr>
        <p:spPr>
          <a:xfrm>
            <a:off x="578080" y="3736718"/>
            <a:ext cx="46359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Rotate the tracing paper 90° clockwise, then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push down on the paper at each vertex.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b="0"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raw the rotated image onto the paper.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7" name="Google Shape;1047;p86"/>
          <p:cNvGrpSpPr/>
          <p:nvPr/>
        </p:nvGrpSpPr>
        <p:grpSpPr>
          <a:xfrm rot="5400000">
            <a:off x="6423768" y="1435952"/>
            <a:ext cx="2052600" cy="2257200"/>
            <a:chOff x="7666801" y="1754956"/>
            <a:chExt cx="2052600" cy="2257200"/>
          </a:xfrm>
        </p:grpSpPr>
        <p:sp>
          <p:nvSpPr>
            <p:cNvPr id="1048" name="Google Shape;1048;p86"/>
            <p:cNvSpPr/>
            <p:nvPr/>
          </p:nvSpPr>
          <p:spPr>
            <a:xfrm>
              <a:off x="7666801" y="1754956"/>
              <a:ext cx="2052600" cy="2257200"/>
            </a:xfrm>
            <a:prstGeom prst="rect">
              <a:avLst/>
            </a:prstGeom>
            <a:solidFill>
              <a:srgbClr val="FDF3CB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9" name="Google Shape;1049;p86"/>
            <p:cNvGrpSpPr/>
            <p:nvPr/>
          </p:nvGrpSpPr>
          <p:grpSpPr>
            <a:xfrm>
              <a:off x="8168120" y="2588419"/>
              <a:ext cx="1209744" cy="660974"/>
              <a:chOff x="5196320" y="2588419"/>
              <a:chExt cx="1209744" cy="660974"/>
            </a:xfrm>
          </p:grpSpPr>
          <p:sp>
            <p:nvSpPr>
              <p:cNvPr id="1050" name="Google Shape;1050;p86"/>
              <p:cNvSpPr/>
              <p:nvPr/>
            </p:nvSpPr>
            <p:spPr>
              <a:xfrm>
                <a:off x="5196320" y="2588419"/>
                <a:ext cx="1102200" cy="553200"/>
              </a:xfrm>
              <a:prstGeom prst="triangle">
                <a:avLst>
                  <a:gd fmla="val 100000" name="adj"/>
                </a:avLst>
              </a:prstGeom>
              <a:noFill/>
              <a:ln cap="flat" cmpd="sng" w="38100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1" name="Google Shape;1051;p86"/>
              <p:cNvSpPr/>
              <p:nvPr/>
            </p:nvSpPr>
            <p:spPr>
              <a:xfrm>
                <a:off x="6190664" y="3033993"/>
                <a:ext cx="215400" cy="215400"/>
              </a:xfrm>
              <a:prstGeom prst="mathMultiply">
                <a:avLst>
                  <a:gd fmla="val 11020" name="adj1"/>
                </a:avLst>
              </a:prstGeom>
              <a:solidFill>
                <a:schemeClr val="dk1"/>
              </a:solidFill>
              <a:ln cap="flat" cmpd="sng" w="254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52" name="Google Shape;1052;p86"/>
          <p:cNvSpPr/>
          <p:nvPr/>
        </p:nvSpPr>
        <p:spPr>
          <a:xfrm rot="5400000">
            <a:off x="6919249" y="2320306"/>
            <a:ext cx="1102200" cy="553200"/>
          </a:xfrm>
          <a:prstGeom prst="triangle">
            <a:avLst>
              <a:gd fmla="val 100000" name="adj"/>
            </a:avLst>
          </a:prstGeom>
          <a:solidFill>
            <a:srgbClr val="F3EEF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86"/>
          <p:cNvSpPr/>
          <p:nvPr/>
        </p:nvSpPr>
        <p:spPr>
          <a:xfrm>
            <a:off x="7168157" y="2024610"/>
            <a:ext cx="45600" cy="456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86"/>
          <p:cNvSpPr/>
          <p:nvPr/>
        </p:nvSpPr>
        <p:spPr>
          <a:xfrm>
            <a:off x="7719154" y="3114624"/>
            <a:ext cx="45600" cy="456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9" name="Google Shape;1059;p87"/>
          <p:cNvPicPr preferRelativeResize="0"/>
          <p:nvPr/>
        </p:nvPicPr>
        <p:blipFill rotWithShape="1">
          <a:blip r:embed="rId3">
            <a:alphaModFix/>
          </a:blip>
          <a:srcRect b="15656" l="0" r="0" t="9894"/>
          <a:stretch/>
        </p:blipFill>
        <p:spPr>
          <a:xfrm>
            <a:off x="5689023" y="1884218"/>
            <a:ext cx="2713946" cy="2480978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87"/>
          <p:cNvSpPr/>
          <p:nvPr/>
        </p:nvSpPr>
        <p:spPr>
          <a:xfrm>
            <a:off x="7168157" y="2024610"/>
            <a:ext cx="45600" cy="456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87"/>
          <p:cNvSpPr/>
          <p:nvPr/>
        </p:nvSpPr>
        <p:spPr>
          <a:xfrm>
            <a:off x="7719154" y="3114624"/>
            <a:ext cx="45600" cy="456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87"/>
          <p:cNvSpPr/>
          <p:nvPr/>
        </p:nvSpPr>
        <p:spPr>
          <a:xfrm rot="5400000">
            <a:off x="6919249" y="2320306"/>
            <a:ext cx="1102200" cy="553200"/>
          </a:xfrm>
          <a:prstGeom prst="triangle">
            <a:avLst>
              <a:gd fmla="val 100000" name="adj"/>
            </a:avLst>
          </a:prstGeom>
          <a:solidFill>
            <a:srgbClr val="F3EEF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3" name="Google Shape;1063;p87"/>
          <p:cNvGrpSpPr/>
          <p:nvPr/>
        </p:nvGrpSpPr>
        <p:grpSpPr>
          <a:xfrm rot="5400000">
            <a:off x="6424404" y="1435954"/>
            <a:ext cx="2052600" cy="2257200"/>
            <a:chOff x="7666801" y="1754956"/>
            <a:chExt cx="2052600" cy="2257200"/>
          </a:xfrm>
        </p:grpSpPr>
        <p:sp>
          <p:nvSpPr>
            <p:cNvPr id="1064" name="Google Shape;1064;p87"/>
            <p:cNvSpPr/>
            <p:nvPr/>
          </p:nvSpPr>
          <p:spPr>
            <a:xfrm>
              <a:off x="7666801" y="1754956"/>
              <a:ext cx="2052600" cy="2257200"/>
            </a:xfrm>
            <a:prstGeom prst="rect">
              <a:avLst/>
            </a:prstGeom>
            <a:solidFill>
              <a:srgbClr val="FDF3CB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65" name="Google Shape;1065;p87"/>
            <p:cNvGrpSpPr/>
            <p:nvPr/>
          </p:nvGrpSpPr>
          <p:grpSpPr>
            <a:xfrm>
              <a:off x="8168120" y="2588419"/>
              <a:ext cx="1209744" cy="660974"/>
              <a:chOff x="5196320" y="2588419"/>
              <a:chExt cx="1209744" cy="660974"/>
            </a:xfrm>
          </p:grpSpPr>
          <p:sp>
            <p:nvSpPr>
              <p:cNvPr id="1066" name="Google Shape;1066;p87"/>
              <p:cNvSpPr/>
              <p:nvPr/>
            </p:nvSpPr>
            <p:spPr>
              <a:xfrm>
                <a:off x="5196320" y="2588419"/>
                <a:ext cx="1102200" cy="553200"/>
              </a:xfrm>
              <a:prstGeom prst="triangle">
                <a:avLst>
                  <a:gd fmla="val 100000" name="adj"/>
                </a:avLst>
              </a:prstGeom>
              <a:noFill/>
              <a:ln cap="flat" cmpd="sng" w="38100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7" name="Google Shape;1067;p87"/>
              <p:cNvSpPr/>
              <p:nvPr/>
            </p:nvSpPr>
            <p:spPr>
              <a:xfrm>
                <a:off x="6190664" y="3033993"/>
                <a:ext cx="215400" cy="215400"/>
              </a:xfrm>
              <a:prstGeom prst="mathMultiply">
                <a:avLst>
                  <a:gd fmla="val 11020" name="adj1"/>
                </a:avLst>
              </a:prstGeom>
              <a:solidFill>
                <a:schemeClr val="dk1"/>
              </a:solidFill>
              <a:ln cap="flat" cmpd="sng" w="254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68" name="Google Shape;1068;p87"/>
          <p:cNvGrpSpPr/>
          <p:nvPr/>
        </p:nvGrpSpPr>
        <p:grpSpPr>
          <a:xfrm rot="8100000">
            <a:off x="6757515" y="1790736"/>
            <a:ext cx="2052580" cy="2257178"/>
            <a:chOff x="7666801" y="1754956"/>
            <a:chExt cx="2052600" cy="2257200"/>
          </a:xfrm>
        </p:grpSpPr>
        <p:sp>
          <p:nvSpPr>
            <p:cNvPr id="1069" name="Google Shape;1069;p87"/>
            <p:cNvSpPr/>
            <p:nvPr/>
          </p:nvSpPr>
          <p:spPr>
            <a:xfrm>
              <a:off x="7666801" y="1754956"/>
              <a:ext cx="2052600" cy="2257200"/>
            </a:xfrm>
            <a:prstGeom prst="rect">
              <a:avLst/>
            </a:prstGeom>
            <a:solidFill>
              <a:srgbClr val="FDF3CB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0" name="Google Shape;1070;p87"/>
            <p:cNvGrpSpPr/>
            <p:nvPr/>
          </p:nvGrpSpPr>
          <p:grpSpPr>
            <a:xfrm>
              <a:off x="8168120" y="2588419"/>
              <a:ext cx="1209744" cy="660974"/>
              <a:chOff x="5196320" y="2588419"/>
              <a:chExt cx="1209744" cy="660974"/>
            </a:xfrm>
          </p:grpSpPr>
          <p:sp>
            <p:nvSpPr>
              <p:cNvPr id="1071" name="Google Shape;1071;p87"/>
              <p:cNvSpPr/>
              <p:nvPr/>
            </p:nvSpPr>
            <p:spPr>
              <a:xfrm>
                <a:off x="5196320" y="2588419"/>
                <a:ext cx="1102200" cy="553200"/>
              </a:xfrm>
              <a:prstGeom prst="triangle">
                <a:avLst>
                  <a:gd fmla="val 100000" name="adj"/>
                </a:avLst>
              </a:prstGeom>
              <a:noFill/>
              <a:ln cap="flat" cmpd="sng" w="38100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2" name="Google Shape;1072;p87"/>
              <p:cNvSpPr/>
              <p:nvPr/>
            </p:nvSpPr>
            <p:spPr>
              <a:xfrm>
                <a:off x="6190664" y="3033993"/>
                <a:ext cx="215400" cy="215400"/>
              </a:xfrm>
              <a:prstGeom prst="mathMultiply">
                <a:avLst>
                  <a:gd fmla="val 11020" name="adj1"/>
                </a:avLst>
              </a:prstGeom>
              <a:solidFill>
                <a:schemeClr val="dk1"/>
              </a:solidFill>
              <a:ln cap="flat" cmpd="sng" w="254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73" name="Google Shape;1073;p87"/>
          <p:cNvSpPr/>
          <p:nvPr/>
        </p:nvSpPr>
        <p:spPr>
          <a:xfrm>
            <a:off x="7174362" y="3668861"/>
            <a:ext cx="45600" cy="456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87"/>
          <p:cNvSpPr/>
          <p:nvPr/>
        </p:nvSpPr>
        <p:spPr>
          <a:xfrm>
            <a:off x="8273294" y="3116829"/>
            <a:ext cx="45600" cy="456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5" name="Google Shape;1075;p87"/>
          <p:cNvGrpSpPr/>
          <p:nvPr/>
        </p:nvGrpSpPr>
        <p:grpSpPr>
          <a:xfrm rot="10800000">
            <a:off x="6743306" y="2269675"/>
            <a:ext cx="2052600" cy="2257200"/>
            <a:chOff x="7666801" y="1754956"/>
            <a:chExt cx="2052600" cy="2257200"/>
          </a:xfrm>
        </p:grpSpPr>
        <p:sp>
          <p:nvSpPr>
            <p:cNvPr id="1076" name="Google Shape;1076;p87"/>
            <p:cNvSpPr/>
            <p:nvPr/>
          </p:nvSpPr>
          <p:spPr>
            <a:xfrm>
              <a:off x="7666801" y="1754956"/>
              <a:ext cx="2052600" cy="2257200"/>
            </a:xfrm>
            <a:prstGeom prst="rect">
              <a:avLst/>
            </a:prstGeom>
            <a:solidFill>
              <a:srgbClr val="FDF3CB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7" name="Google Shape;1077;p87"/>
            <p:cNvGrpSpPr/>
            <p:nvPr/>
          </p:nvGrpSpPr>
          <p:grpSpPr>
            <a:xfrm>
              <a:off x="8168120" y="2588419"/>
              <a:ext cx="1209744" cy="660974"/>
              <a:chOff x="5196320" y="2588419"/>
              <a:chExt cx="1209744" cy="660974"/>
            </a:xfrm>
          </p:grpSpPr>
          <p:sp>
            <p:nvSpPr>
              <p:cNvPr id="1078" name="Google Shape;1078;p87"/>
              <p:cNvSpPr/>
              <p:nvPr/>
            </p:nvSpPr>
            <p:spPr>
              <a:xfrm>
                <a:off x="5196320" y="2588419"/>
                <a:ext cx="1102200" cy="553200"/>
              </a:xfrm>
              <a:prstGeom prst="triangle">
                <a:avLst>
                  <a:gd fmla="val 100000" name="adj"/>
                </a:avLst>
              </a:prstGeom>
              <a:noFill/>
              <a:ln cap="flat" cmpd="sng" w="38100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9" name="Google Shape;1079;p87"/>
              <p:cNvSpPr/>
              <p:nvPr/>
            </p:nvSpPr>
            <p:spPr>
              <a:xfrm>
                <a:off x="6190664" y="3033993"/>
                <a:ext cx="215400" cy="215400"/>
              </a:xfrm>
              <a:prstGeom prst="mathMultiply">
                <a:avLst>
                  <a:gd fmla="val 11020" name="adj1"/>
                </a:avLst>
              </a:prstGeom>
              <a:solidFill>
                <a:schemeClr val="dk1"/>
              </a:solidFill>
              <a:ln cap="flat" cmpd="sng" w="254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80" name="Google Shape;1080;p87"/>
          <p:cNvSpPr/>
          <p:nvPr/>
        </p:nvSpPr>
        <p:spPr>
          <a:xfrm rot="10800000">
            <a:off x="7190915" y="3137792"/>
            <a:ext cx="1102200" cy="553200"/>
          </a:xfrm>
          <a:prstGeom prst="triangle">
            <a:avLst>
              <a:gd fmla="val 100000" name="adj"/>
            </a:avLst>
          </a:prstGeom>
          <a:solidFill>
            <a:srgbClr val="F3EEF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Rotating with tracing paper and centre on a vertex</a:t>
            </a:r>
            <a:endParaRPr/>
          </a:p>
        </p:txBody>
      </p:sp>
      <p:sp>
        <p:nvSpPr>
          <p:cNvPr id="1082" name="Google Shape;1082;p87"/>
          <p:cNvSpPr txBox="1"/>
          <p:nvPr>
            <p:ph idx="1" type="body"/>
          </p:nvPr>
        </p:nvSpPr>
        <p:spPr>
          <a:xfrm>
            <a:off x="324000" y="676171"/>
            <a:ext cx="4125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Task</a:t>
            </a:r>
            <a:endParaRPr sz="1800"/>
          </a:p>
        </p:txBody>
      </p:sp>
      <p:sp>
        <p:nvSpPr>
          <p:cNvPr id="1083" name="Google Shape;1083;p87"/>
          <p:cNvSpPr txBox="1"/>
          <p:nvPr/>
        </p:nvSpPr>
        <p:spPr>
          <a:xfrm>
            <a:off x="324000" y="1907356"/>
            <a:ext cx="4125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Instructions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87"/>
          <p:cNvSpPr txBox="1"/>
          <p:nvPr/>
        </p:nvSpPr>
        <p:spPr>
          <a:xfrm>
            <a:off x="578080" y="4139020"/>
            <a:ext cx="46359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repeat once more to complete the third rotation.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87"/>
          <p:cNvSpPr txBox="1"/>
          <p:nvPr/>
        </p:nvSpPr>
        <p:spPr>
          <a:xfrm>
            <a:off x="578080" y="2268055"/>
            <a:ext cx="46359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Place the tracing paper back on, lining it up with your image.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87"/>
          <p:cNvSpPr/>
          <p:nvPr/>
        </p:nvSpPr>
        <p:spPr>
          <a:xfrm rot="-5400000">
            <a:off x="6360470" y="3419244"/>
            <a:ext cx="1102200" cy="553200"/>
          </a:xfrm>
          <a:prstGeom prst="triangle">
            <a:avLst>
              <a:gd fmla="val 100000" name="adj"/>
            </a:avLst>
          </a:prstGeom>
          <a:solidFill>
            <a:srgbClr val="F3EEF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87"/>
          <p:cNvSpPr txBox="1"/>
          <p:nvPr>
            <p:ph idx="1" type="body"/>
          </p:nvPr>
        </p:nvSpPr>
        <p:spPr>
          <a:xfrm>
            <a:off x="578080" y="996871"/>
            <a:ext cx="8241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600"/>
              <a:t>Rotate this shape clockwise by 90° around the centre of rotation given.                    Repeat this rotation two more times, but each time start from the image you have just drawn, and treat that as the new object.</a:t>
            </a:r>
            <a:endParaRPr sz="1600"/>
          </a:p>
        </p:txBody>
      </p:sp>
      <p:sp>
        <p:nvSpPr>
          <p:cNvPr id="1088" name="Google Shape;1088;p87"/>
          <p:cNvSpPr txBox="1"/>
          <p:nvPr/>
        </p:nvSpPr>
        <p:spPr>
          <a:xfrm>
            <a:off x="578080" y="3010655"/>
            <a:ext cx="46359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Repeat the rotation step again, rotating another 90° and drawing a second image.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3" name="Google Shape;1093;p88"/>
          <p:cNvPicPr preferRelativeResize="0"/>
          <p:nvPr/>
        </p:nvPicPr>
        <p:blipFill rotWithShape="1">
          <a:blip r:embed="rId3">
            <a:alphaModFix/>
          </a:blip>
          <a:srcRect b="15656" l="0" r="0" t="9894"/>
          <a:stretch/>
        </p:blipFill>
        <p:spPr>
          <a:xfrm>
            <a:off x="5689023" y="1884218"/>
            <a:ext cx="2713946" cy="2480978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p88"/>
          <p:cNvSpPr/>
          <p:nvPr/>
        </p:nvSpPr>
        <p:spPr>
          <a:xfrm>
            <a:off x="7168157" y="2024610"/>
            <a:ext cx="45600" cy="456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88"/>
          <p:cNvSpPr/>
          <p:nvPr/>
        </p:nvSpPr>
        <p:spPr>
          <a:xfrm>
            <a:off x="7719154" y="3114624"/>
            <a:ext cx="45600" cy="456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88"/>
          <p:cNvSpPr/>
          <p:nvPr/>
        </p:nvSpPr>
        <p:spPr>
          <a:xfrm rot="5400000">
            <a:off x="6919249" y="2320306"/>
            <a:ext cx="1102200" cy="553200"/>
          </a:xfrm>
          <a:prstGeom prst="triangle">
            <a:avLst>
              <a:gd fmla="val 100000" name="adj"/>
            </a:avLst>
          </a:prstGeom>
          <a:solidFill>
            <a:srgbClr val="F3EEF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88"/>
          <p:cNvSpPr/>
          <p:nvPr/>
        </p:nvSpPr>
        <p:spPr>
          <a:xfrm>
            <a:off x="7174362" y="3668861"/>
            <a:ext cx="45600" cy="456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88"/>
          <p:cNvSpPr/>
          <p:nvPr/>
        </p:nvSpPr>
        <p:spPr>
          <a:xfrm>
            <a:off x="8273294" y="3116829"/>
            <a:ext cx="45600" cy="456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88"/>
          <p:cNvSpPr/>
          <p:nvPr/>
        </p:nvSpPr>
        <p:spPr>
          <a:xfrm rot="10800000">
            <a:off x="7190915" y="3137792"/>
            <a:ext cx="1102200" cy="553200"/>
          </a:xfrm>
          <a:prstGeom prst="triangle">
            <a:avLst>
              <a:gd fmla="val 100000" name="adj"/>
            </a:avLst>
          </a:prstGeom>
          <a:solidFill>
            <a:srgbClr val="F3EEF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Rotating with tracing paper and centre on a vertex</a:t>
            </a:r>
            <a:endParaRPr/>
          </a:p>
        </p:txBody>
      </p:sp>
      <p:sp>
        <p:nvSpPr>
          <p:cNvPr id="1101" name="Google Shape;1101;p88"/>
          <p:cNvSpPr/>
          <p:nvPr/>
        </p:nvSpPr>
        <p:spPr>
          <a:xfrm rot="-5400000">
            <a:off x="6360470" y="3419244"/>
            <a:ext cx="1102200" cy="553200"/>
          </a:xfrm>
          <a:prstGeom prst="triangle">
            <a:avLst>
              <a:gd fmla="val 100000" name="adj"/>
            </a:avLst>
          </a:prstGeom>
          <a:solidFill>
            <a:srgbClr val="F3EEF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88"/>
          <p:cNvSpPr txBox="1"/>
          <p:nvPr/>
        </p:nvSpPr>
        <p:spPr>
          <a:xfrm>
            <a:off x="324000" y="789400"/>
            <a:ext cx="52887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does the shape created look like?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 each of the images congruent or different?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88"/>
          <p:cNvSpPr txBox="1"/>
          <p:nvPr/>
        </p:nvSpPr>
        <p:spPr>
          <a:xfrm>
            <a:off x="324000" y="2486200"/>
            <a:ext cx="53652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Every image is congruent to each other and to the original object. </a:t>
            </a:r>
            <a:endParaRPr b="0" i="0" sz="1800" u="none" cap="none" strike="noStrike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is because we are tracing and duplicating the object exactly, just with a different orientation.</a:t>
            </a:r>
            <a:endParaRPr b="0" i="0" sz="16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4" name="Google Shape;1104;p88"/>
          <p:cNvSpPr txBox="1"/>
          <p:nvPr/>
        </p:nvSpPr>
        <p:spPr>
          <a:xfrm>
            <a:off x="323850" y="1186225"/>
            <a:ext cx="53652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 windmill or pinwheel shape</a:t>
            </a:r>
            <a:endParaRPr b="0" i="0" sz="16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9" name="Google Shape;1109;p89"/>
          <p:cNvPicPr preferRelativeResize="0"/>
          <p:nvPr/>
        </p:nvPicPr>
        <p:blipFill rotWithShape="1">
          <a:blip r:embed="rId3">
            <a:alphaModFix/>
          </a:blip>
          <a:srcRect b="15656" l="0" r="0" t="9894"/>
          <a:stretch/>
        </p:blipFill>
        <p:spPr>
          <a:xfrm>
            <a:off x="5689023" y="1884218"/>
            <a:ext cx="2713946" cy="2480978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p89"/>
          <p:cNvSpPr/>
          <p:nvPr/>
        </p:nvSpPr>
        <p:spPr>
          <a:xfrm>
            <a:off x="7168157" y="2024610"/>
            <a:ext cx="45600" cy="456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89"/>
          <p:cNvSpPr/>
          <p:nvPr/>
        </p:nvSpPr>
        <p:spPr>
          <a:xfrm>
            <a:off x="7719154" y="3114624"/>
            <a:ext cx="45600" cy="456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89"/>
          <p:cNvSpPr/>
          <p:nvPr/>
        </p:nvSpPr>
        <p:spPr>
          <a:xfrm rot="5400000">
            <a:off x="6919249" y="2320306"/>
            <a:ext cx="1102200" cy="553200"/>
          </a:xfrm>
          <a:prstGeom prst="triangle">
            <a:avLst>
              <a:gd fmla="val 100000" name="adj"/>
            </a:avLst>
          </a:prstGeom>
          <a:solidFill>
            <a:srgbClr val="F3EEF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89"/>
          <p:cNvSpPr/>
          <p:nvPr/>
        </p:nvSpPr>
        <p:spPr>
          <a:xfrm>
            <a:off x="7174362" y="3668861"/>
            <a:ext cx="45600" cy="456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89"/>
          <p:cNvSpPr/>
          <p:nvPr/>
        </p:nvSpPr>
        <p:spPr>
          <a:xfrm>
            <a:off x="8273294" y="3116829"/>
            <a:ext cx="45600" cy="456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89"/>
          <p:cNvSpPr txBox="1"/>
          <p:nvPr/>
        </p:nvSpPr>
        <p:spPr>
          <a:xfrm>
            <a:off x="324000" y="1188475"/>
            <a:ext cx="53652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original object w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ould</a:t>
            </a:r>
            <a:r>
              <a:rPr b="0" i="0" lang="en-GB" sz="18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have rotated one full turn (360°) to get its image. </a:t>
            </a:r>
            <a:endParaRPr b="0" i="0" sz="1800" u="none" cap="none" strike="noStrike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fourth image would have both the same orientation and exact position as the object.</a:t>
            </a:r>
            <a:endParaRPr b="0" i="0" sz="1800" u="none" cap="none" strike="noStrike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6" name="Google Shape;1116;p89"/>
          <p:cNvSpPr/>
          <p:nvPr/>
        </p:nvSpPr>
        <p:spPr>
          <a:xfrm rot="10800000">
            <a:off x="7190915" y="3137792"/>
            <a:ext cx="1102200" cy="553200"/>
          </a:xfrm>
          <a:prstGeom prst="triangle">
            <a:avLst>
              <a:gd fmla="val 100000" name="adj"/>
            </a:avLst>
          </a:prstGeom>
          <a:solidFill>
            <a:srgbClr val="F3EEF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Rotating with tracing paper and centre on a vertex</a:t>
            </a:r>
            <a:endParaRPr/>
          </a:p>
        </p:txBody>
      </p:sp>
      <p:sp>
        <p:nvSpPr>
          <p:cNvPr id="1118" name="Google Shape;1118;p89"/>
          <p:cNvSpPr/>
          <p:nvPr/>
        </p:nvSpPr>
        <p:spPr>
          <a:xfrm rot="-5400000">
            <a:off x="6360470" y="3419244"/>
            <a:ext cx="1102200" cy="553200"/>
          </a:xfrm>
          <a:prstGeom prst="triangle">
            <a:avLst>
              <a:gd fmla="val 100000" name="adj"/>
            </a:avLst>
          </a:prstGeom>
          <a:solidFill>
            <a:srgbClr val="F3EEF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89"/>
          <p:cNvSpPr txBox="1"/>
          <p:nvPr/>
        </p:nvSpPr>
        <p:spPr>
          <a:xfrm>
            <a:off x="324000" y="789400"/>
            <a:ext cx="52887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would happen if we did a fourth rotation?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89"/>
          <p:cNvSpPr/>
          <p:nvPr/>
        </p:nvSpPr>
        <p:spPr>
          <a:xfrm>
            <a:off x="6091429" y="2588072"/>
            <a:ext cx="1102200" cy="553200"/>
          </a:xfrm>
          <a:prstGeom prst="triangle">
            <a:avLst>
              <a:gd fmla="val 100000" name="adj"/>
            </a:avLst>
          </a:prstGeom>
          <a:solidFill>
            <a:srgbClr val="F3EEF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89"/>
          <p:cNvSpPr txBox="1"/>
          <p:nvPr/>
        </p:nvSpPr>
        <p:spPr>
          <a:xfrm>
            <a:off x="324000" y="3199650"/>
            <a:ext cx="52887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All images will have a different orientation to its object, unless a full turn of 360° occurs.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90"/>
          <p:cNvSpPr txBox="1"/>
          <p:nvPr/>
        </p:nvSpPr>
        <p:spPr>
          <a:xfrm>
            <a:off x="3661950" y="3299275"/>
            <a:ext cx="48645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7" name="Google Shape;1127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Rotating with tracing paper and centre on a vertex</a:t>
            </a:r>
            <a:endParaRPr/>
          </a:p>
        </p:txBody>
      </p:sp>
      <p:pic>
        <p:nvPicPr>
          <p:cNvPr id="1128" name="Google Shape;1128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52" y="2035388"/>
            <a:ext cx="759229" cy="880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842" y="3343400"/>
            <a:ext cx="1008736" cy="9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0" name="Google Shape;1130;p90"/>
          <p:cNvPicPr preferRelativeResize="0"/>
          <p:nvPr/>
        </p:nvPicPr>
        <p:blipFill rotWithShape="1">
          <a:blip r:embed="rId5">
            <a:alphaModFix/>
          </a:blip>
          <a:srcRect b="43327" l="-185" r="59770" t="-2012"/>
          <a:stretch/>
        </p:blipFill>
        <p:spPr>
          <a:xfrm flipH="1">
            <a:off x="1148202" y="1618189"/>
            <a:ext cx="2961398" cy="1084824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Google Shape;1131;p90"/>
          <p:cNvSpPr txBox="1"/>
          <p:nvPr/>
        </p:nvSpPr>
        <p:spPr>
          <a:xfrm>
            <a:off x="1259372" y="1696889"/>
            <a:ext cx="2783100" cy="7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tracing paper has not been rotated yet.</a:t>
            </a:r>
            <a:endParaRPr b="0" i="0" sz="20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32" name="Google Shape;1132;p90"/>
          <p:cNvPicPr preferRelativeResize="0"/>
          <p:nvPr/>
        </p:nvPicPr>
        <p:blipFill rotWithShape="1">
          <a:blip r:embed="rId5">
            <a:alphaModFix/>
          </a:blip>
          <a:srcRect b="43327" l="-185" r="59770" t="-2012"/>
          <a:stretch/>
        </p:blipFill>
        <p:spPr>
          <a:xfrm flipH="1">
            <a:off x="1330773" y="3240100"/>
            <a:ext cx="1419802" cy="698524"/>
          </a:xfrm>
          <a:prstGeom prst="rect">
            <a:avLst/>
          </a:prstGeom>
          <a:noFill/>
          <a:ln>
            <a:noFill/>
          </a:ln>
        </p:spPr>
      </p:pic>
      <p:sp>
        <p:nvSpPr>
          <p:cNvPr id="1133" name="Google Shape;1133;p90"/>
          <p:cNvSpPr txBox="1"/>
          <p:nvPr/>
        </p:nvSpPr>
        <p:spPr>
          <a:xfrm>
            <a:off x="1384076" y="3290775"/>
            <a:ext cx="13344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Yes it has!</a:t>
            </a:r>
            <a:endParaRPr b="0" i="0" sz="20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90"/>
          <p:cNvSpPr txBox="1"/>
          <p:nvPr/>
        </p:nvSpPr>
        <p:spPr>
          <a:xfrm>
            <a:off x="448563" y="4238306"/>
            <a:ext cx="759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</a:t>
            </a:r>
            <a:endParaRPr b="0" i="0" sz="20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90"/>
          <p:cNvSpPr txBox="1"/>
          <p:nvPr/>
        </p:nvSpPr>
        <p:spPr>
          <a:xfrm>
            <a:off x="324000" y="789400"/>
            <a:ext cx="36090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Whose statement is correct?  Can you explain why?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90"/>
          <p:cNvSpPr txBox="1"/>
          <p:nvPr/>
        </p:nvSpPr>
        <p:spPr>
          <a:xfrm>
            <a:off x="448573" y="2862701"/>
            <a:ext cx="63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</a:t>
            </a:r>
            <a:endParaRPr b="0" i="0" sz="20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37" name="Google Shape;1137;p90"/>
          <p:cNvPicPr preferRelativeResize="0"/>
          <p:nvPr/>
        </p:nvPicPr>
        <p:blipFill rotWithShape="1">
          <a:blip r:embed="rId6">
            <a:alphaModFix/>
          </a:blip>
          <a:srcRect b="39773" l="0" r="0" t="0"/>
          <a:stretch/>
        </p:blipFill>
        <p:spPr>
          <a:xfrm>
            <a:off x="5045500" y="852400"/>
            <a:ext cx="3481050" cy="20632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90"/>
          <p:cNvSpPr/>
          <p:nvPr/>
        </p:nvSpPr>
        <p:spPr>
          <a:xfrm rot="5400000">
            <a:off x="5196800" y="772375"/>
            <a:ext cx="2210400" cy="2513100"/>
          </a:xfrm>
          <a:prstGeom prst="rect">
            <a:avLst/>
          </a:prstGeom>
          <a:solidFill>
            <a:srgbClr val="FDF3CB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9" name="Google Shape;1139;p9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50625" y="1359772"/>
            <a:ext cx="1862275" cy="846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0" name="Google Shape;1140;p90"/>
          <p:cNvGrpSpPr/>
          <p:nvPr/>
        </p:nvGrpSpPr>
        <p:grpSpPr>
          <a:xfrm>
            <a:off x="3572004" y="3299263"/>
            <a:ext cx="5219509" cy="1179938"/>
            <a:chOff x="3661941" y="3314975"/>
            <a:chExt cx="5219509" cy="1179938"/>
          </a:xfrm>
        </p:grpSpPr>
        <p:grpSp>
          <p:nvGrpSpPr>
            <p:cNvPr id="1141" name="Google Shape;1141;p90"/>
            <p:cNvGrpSpPr/>
            <p:nvPr/>
          </p:nvGrpSpPr>
          <p:grpSpPr>
            <a:xfrm>
              <a:off x="3661941" y="3436963"/>
              <a:ext cx="457200" cy="457200"/>
              <a:chOff x="1020916" y="1442088"/>
              <a:chExt cx="457200" cy="457200"/>
            </a:xfrm>
          </p:grpSpPr>
          <p:pic>
            <p:nvPicPr>
              <p:cNvPr id="1142" name="Google Shape;1142;p90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43" name="Google Shape;1143;p90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GB" sz="1800" u="none" cap="none" strike="noStrike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i="0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144" name="Google Shape;1144;p90"/>
            <p:cNvSpPr/>
            <p:nvPr/>
          </p:nvSpPr>
          <p:spPr>
            <a:xfrm>
              <a:off x="4143944" y="3391187"/>
              <a:ext cx="1008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Alex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’s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45" name="Google Shape;1145;p90"/>
            <p:cNvGrpSpPr/>
            <p:nvPr/>
          </p:nvGrpSpPr>
          <p:grpSpPr>
            <a:xfrm>
              <a:off x="3661941" y="4037713"/>
              <a:ext cx="457200" cy="457200"/>
              <a:chOff x="1020916" y="1442088"/>
              <a:chExt cx="457200" cy="457200"/>
            </a:xfrm>
          </p:grpSpPr>
          <p:pic>
            <p:nvPicPr>
              <p:cNvPr id="1146" name="Google Shape;1146;p90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47" name="Google Shape;1147;p90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GB" sz="1800" u="none" cap="none" strike="noStrike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b="1" i="0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148" name="Google Shape;1148;p90"/>
            <p:cNvSpPr/>
            <p:nvPr/>
          </p:nvSpPr>
          <p:spPr>
            <a:xfrm>
              <a:off x="4143944" y="3991937"/>
              <a:ext cx="1008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Izzy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’s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49" name="Google Shape;1149;p90"/>
            <p:cNvGrpSpPr/>
            <p:nvPr/>
          </p:nvGrpSpPr>
          <p:grpSpPr>
            <a:xfrm>
              <a:off x="5511041" y="3436963"/>
              <a:ext cx="457200" cy="457200"/>
              <a:chOff x="1020916" y="1442088"/>
              <a:chExt cx="457200" cy="457200"/>
            </a:xfrm>
          </p:grpSpPr>
          <p:pic>
            <p:nvPicPr>
              <p:cNvPr id="1150" name="Google Shape;1150;p90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51" name="Google Shape;1151;p90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GB" sz="1800" u="none" cap="none" strike="noStrike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b="1" i="0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152" name="Google Shape;1152;p90"/>
            <p:cNvGrpSpPr/>
            <p:nvPr/>
          </p:nvGrpSpPr>
          <p:grpSpPr>
            <a:xfrm>
              <a:off x="5511041" y="4037713"/>
              <a:ext cx="457200" cy="457200"/>
              <a:chOff x="1020916" y="1442088"/>
              <a:chExt cx="457200" cy="457200"/>
            </a:xfrm>
          </p:grpSpPr>
          <p:pic>
            <p:nvPicPr>
              <p:cNvPr id="1153" name="Google Shape;1153;p90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54" name="Google Shape;1154;p90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GB" sz="1800" u="none" cap="none" strike="noStrike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b="1" i="0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155" name="Google Shape;1155;p90"/>
            <p:cNvSpPr/>
            <p:nvPr/>
          </p:nvSpPr>
          <p:spPr>
            <a:xfrm>
              <a:off x="5993059" y="3991925"/>
              <a:ext cx="25335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Neither of them are correct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6" name="Google Shape;1156;p90"/>
            <p:cNvSpPr/>
            <p:nvPr/>
          </p:nvSpPr>
          <p:spPr>
            <a:xfrm>
              <a:off x="5993050" y="3314975"/>
              <a:ext cx="2888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Either o</a:t>
              </a: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ne of them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could be</a:t>
              </a: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correct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57" name="Google Shape;1157;p9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30546" y="34603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91"/>
          <p:cNvSpPr txBox="1"/>
          <p:nvPr>
            <p:ph idx="1" type="body"/>
          </p:nvPr>
        </p:nvSpPr>
        <p:spPr>
          <a:xfrm>
            <a:off x="324000" y="759300"/>
            <a:ext cx="42480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1) Rotate the object by 90° clockwise about the centre of rotation that is labelled onto the vertex of the shape.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One of the vertices of your image should overlap with the      on the grid.</a:t>
            </a:r>
            <a:endParaRPr sz="1800"/>
          </a:p>
        </p:txBody>
      </p:sp>
      <p:sp>
        <p:nvSpPr>
          <p:cNvPr id="1163" name="Google Shape;1163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Rotating with tracing paper and centre on a vertex</a:t>
            </a:r>
            <a:endParaRPr/>
          </a:p>
        </p:txBody>
      </p:sp>
      <p:pic>
        <p:nvPicPr>
          <p:cNvPr id="1164" name="Google Shape;1164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2506" y="2343243"/>
            <a:ext cx="227625" cy="22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5" name="Google Shape;1165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6682" y="748349"/>
            <a:ext cx="3903469" cy="3571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92"/>
          <p:cNvSpPr txBox="1"/>
          <p:nvPr>
            <p:ph idx="1" type="body"/>
          </p:nvPr>
        </p:nvSpPr>
        <p:spPr>
          <a:xfrm>
            <a:off x="324000" y="759413"/>
            <a:ext cx="82377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2) Rotate the following objects about the centre of rotation that is labelled with a cross.</a:t>
            </a:r>
            <a:endParaRPr sz="1800"/>
          </a:p>
        </p:txBody>
      </p:sp>
      <p:sp>
        <p:nvSpPr>
          <p:cNvPr id="1171" name="Google Shape;1171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Rotating with tracing paper and centre on a vertex</a:t>
            </a:r>
            <a:endParaRPr/>
          </a:p>
        </p:txBody>
      </p:sp>
      <p:pic>
        <p:nvPicPr>
          <p:cNvPr id="1172" name="Google Shape;1172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000" y="1465038"/>
            <a:ext cx="2156175" cy="230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p92"/>
          <p:cNvSpPr txBox="1"/>
          <p:nvPr>
            <p:ph idx="1" type="body"/>
          </p:nvPr>
        </p:nvSpPr>
        <p:spPr>
          <a:xfrm>
            <a:off x="324000" y="3773263"/>
            <a:ext cx="2156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rotate 180°</a:t>
            </a:r>
            <a:endParaRPr sz="1800"/>
          </a:p>
        </p:txBody>
      </p:sp>
      <p:pic>
        <p:nvPicPr>
          <p:cNvPr id="1174" name="Google Shape;1174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8102" y="1465038"/>
            <a:ext cx="1987796" cy="230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92"/>
          <p:cNvSpPr txBox="1"/>
          <p:nvPr>
            <p:ph idx="1" type="body"/>
          </p:nvPr>
        </p:nvSpPr>
        <p:spPr>
          <a:xfrm>
            <a:off x="3493950" y="3773263"/>
            <a:ext cx="2156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rotate 90°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clockwise</a:t>
            </a:r>
            <a:endParaRPr sz="1800"/>
          </a:p>
        </p:txBody>
      </p:sp>
      <p:pic>
        <p:nvPicPr>
          <p:cNvPr id="1176" name="Google Shape;1176;p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06300" y="1487488"/>
            <a:ext cx="2113842" cy="230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92"/>
          <p:cNvSpPr txBox="1"/>
          <p:nvPr>
            <p:ph idx="1" type="body"/>
          </p:nvPr>
        </p:nvSpPr>
        <p:spPr>
          <a:xfrm>
            <a:off x="6706300" y="3773263"/>
            <a:ext cx="2113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rotate 90°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anti-clockwise</a:t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Rotating with tracing paper and centre on a vertex</a:t>
            </a:r>
            <a:endParaRPr/>
          </a:p>
        </p:txBody>
      </p:sp>
      <p:pic>
        <p:nvPicPr>
          <p:cNvPr id="1183" name="Google Shape;1183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3074" y="2052175"/>
            <a:ext cx="7417851" cy="276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4" name="Google Shape;1184;p93"/>
          <p:cNvSpPr txBox="1"/>
          <p:nvPr>
            <p:ph idx="1" type="body"/>
          </p:nvPr>
        </p:nvSpPr>
        <p:spPr>
          <a:xfrm>
            <a:off x="324000" y="759425"/>
            <a:ext cx="84960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3) </a:t>
            </a:r>
            <a:r>
              <a:rPr lang="en-GB" sz="1800"/>
              <a:t>Rotate each shape clockwise by 90° around the centre of rotation given. Repeat this rotation two more times, but each time start from the image you have just drawn, and treat that as the new object.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The result of each three rotations should look like a pinwheel or windmill.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Rotating with tracing paper and centre on a vertex</a:t>
            </a:r>
            <a:endParaRPr/>
          </a:p>
        </p:txBody>
      </p:sp>
      <p:sp>
        <p:nvSpPr>
          <p:cNvPr id="1190" name="Google Shape;1190;p94"/>
          <p:cNvSpPr txBox="1"/>
          <p:nvPr>
            <p:ph idx="1" type="body"/>
          </p:nvPr>
        </p:nvSpPr>
        <p:spPr>
          <a:xfrm>
            <a:off x="324000" y="759300"/>
            <a:ext cx="42480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1) Rotate the object by 90° clockwise about the centre of rotation that is labelled onto the vertex of the shape.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One of the vertices of your image should overlap with the      on the grid.</a:t>
            </a:r>
            <a:endParaRPr sz="1800"/>
          </a:p>
        </p:txBody>
      </p:sp>
      <p:pic>
        <p:nvPicPr>
          <p:cNvPr id="1191" name="Google Shape;1191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2506" y="2343243"/>
            <a:ext cx="227625" cy="22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2" name="Google Shape;1192;p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6682" y="748349"/>
            <a:ext cx="3903469" cy="3571251"/>
          </a:xfrm>
          <a:prstGeom prst="rect">
            <a:avLst/>
          </a:prstGeom>
          <a:noFill/>
          <a:ln>
            <a:noFill/>
          </a:ln>
        </p:spPr>
      </p:pic>
      <p:sp>
        <p:nvSpPr>
          <p:cNvPr id="1193" name="Google Shape;1193;p94"/>
          <p:cNvSpPr/>
          <p:nvPr/>
        </p:nvSpPr>
        <p:spPr>
          <a:xfrm>
            <a:off x="5292000" y="1999625"/>
            <a:ext cx="1691100" cy="858000"/>
          </a:xfrm>
          <a:prstGeom prst="rect">
            <a:avLst/>
          </a:prstGeom>
          <a:solidFill>
            <a:srgbClr val="845AD9">
              <a:alpha val="14900"/>
            </a:srgbClr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Rotating with tracing paper and centre on a vertex</a:t>
            </a:r>
            <a:endParaRPr/>
          </a:p>
        </p:txBody>
      </p:sp>
      <p:sp>
        <p:nvSpPr>
          <p:cNvPr id="1199" name="Google Shape;1199;p95"/>
          <p:cNvSpPr txBox="1"/>
          <p:nvPr>
            <p:ph idx="1" type="body"/>
          </p:nvPr>
        </p:nvSpPr>
        <p:spPr>
          <a:xfrm>
            <a:off x="324000" y="759413"/>
            <a:ext cx="82377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2) Rotate the following objects about the centre of rotation that is labelled with a cross.</a:t>
            </a:r>
            <a:endParaRPr sz="1800"/>
          </a:p>
        </p:txBody>
      </p:sp>
      <p:pic>
        <p:nvPicPr>
          <p:cNvPr id="1200" name="Google Shape;1200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000" y="1465038"/>
            <a:ext cx="2156175" cy="230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1" name="Google Shape;1201;p95"/>
          <p:cNvSpPr txBox="1"/>
          <p:nvPr>
            <p:ph idx="1" type="body"/>
          </p:nvPr>
        </p:nvSpPr>
        <p:spPr>
          <a:xfrm>
            <a:off x="324000" y="3773263"/>
            <a:ext cx="2156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rotate 180°</a:t>
            </a:r>
            <a:endParaRPr sz="1800"/>
          </a:p>
        </p:txBody>
      </p:sp>
      <p:pic>
        <p:nvPicPr>
          <p:cNvPr id="1202" name="Google Shape;1202;p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8102" y="1465038"/>
            <a:ext cx="1987796" cy="230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95"/>
          <p:cNvSpPr txBox="1"/>
          <p:nvPr>
            <p:ph idx="1" type="body"/>
          </p:nvPr>
        </p:nvSpPr>
        <p:spPr>
          <a:xfrm>
            <a:off x="3493950" y="3773263"/>
            <a:ext cx="2156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rotate 90°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clockwise</a:t>
            </a:r>
            <a:endParaRPr sz="1800"/>
          </a:p>
        </p:txBody>
      </p:sp>
      <p:pic>
        <p:nvPicPr>
          <p:cNvPr id="1204" name="Google Shape;1204;p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06300" y="1487488"/>
            <a:ext cx="2113842" cy="230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95"/>
          <p:cNvSpPr txBox="1"/>
          <p:nvPr>
            <p:ph idx="1" type="body"/>
          </p:nvPr>
        </p:nvSpPr>
        <p:spPr>
          <a:xfrm>
            <a:off x="6706300" y="3773263"/>
            <a:ext cx="2113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rotate 90°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anti-</a:t>
            </a:r>
            <a:r>
              <a:rPr lang="en-GB" sz="1800"/>
              <a:t>clockwise</a:t>
            </a:r>
            <a:endParaRPr sz="1800"/>
          </a:p>
        </p:txBody>
      </p:sp>
      <p:sp>
        <p:nvSpPr>
          <p:cNvPr id="1206" name="Google Shape;1206;p95"/>
          <p:cNvSpPr/>
          <p:nvPr/>
        </p:nvSpPr>
        <p:spPr>
          <a:xfrm>
            <a:off x="1196962" y="2393050"/>
            <a:ext cx="777875" cy="774700"/>
          </a:xfrm>
          <a:custGeom>
            <a:rect b="b" l="l" r="r" t="t"/>
            <a:pathLst>
              <a:path extrusionOk="0" h="774700" w="777875">
                <a:moveTo>
                  <a:pt x="3175" y="0"/>
                </a:moveTo>
                <a:lnTo>
                  <a:pt x="777875" y="0"/>
                </a:lnTo>
                <a:lnTo>
                  <a:pt x="777875" y="774700"/>
                </a:lnTo>
                <a:lnTo>
                  <a:pt x="0" y="774700"/>
                </a:lnTo>
                <a:lnTo>
                  <a:pt x="0" y="774700"/>
                </a:lnTo>
                <a:cubicBezTo>
                  <a:pt x="1058" y="516467"/>
                  <a:pt x="2117" y="258233"/>
                  <a:pt x="3175" y="0"/>
                </a:cubicBezTo>
                <a:close/>
              </a:path>
            </a:pathLst>
          </a:custGeom>
          <a:solidFill>
            <a:srgbClr val="845AD9">
              <a:alpha val="14900"/>
            </a:srgbClr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95"/>
          <p:cNvSpPr/>
          <p:nvPr/>
        </p:nvSpPr>
        <p:spPr>
          <a:xfrm rot="5400000">
            <a:off x="4040981" y="2275178"/>
            <a:ext cx="995363" cy="997744"/>
          </a:xfrm>
          <a:custGeom>
            <a:rect b="b" l="l" r="r" t="t"/>
            <a:pathLst>
              <a:path extrusionOk="0" h="997744" w="995363">
                <a:moveTo>
                  <a:pt x="0" y="661987"/>
                </a:moveTo>
                <a:lnTo>
                  <a:pt x="995363" y="0"/>
                </a:lnTo>
                <a:lnTo>
                  <a:pt x="995363" y="997744"/>
                </a:lnTo>
                <a:lnTo>
                  <a:pt x="0" y="661987"/>
                </a:lnTo>
                <a:close/>
              </a:path>
            </a:pathLst>
          </a:custGeom>
          <a:solidFill>
            <a:srgbClr val="845AD9">
              <a:alpha val="14900"/>
            </a:srgbClr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95"/>
          <p:cNvSpPr/>
          <p:nvPr/>
        </p:nvSpPr>
        <p:spPr>
          <a:xfrm rot="-5400000">
            <a:off x="7839029" y="2033381"/>
            <a:ext cx="681037" cy="1016794"/>
          </a:xfrm>
          <a:custGeom>
            <a:rect b="b" l="l" r="r" t="t"/>
            <a:pathLst>
              <a:path extrusionOk="0" h="1016794" w="681037">
                <a:moveTo>
                  <a:pt x="0" y="338138"/>
                </a:moveTo>
                <a:lnTo>
                  <a:pt x="681037" y="0"/>
                </a:lnTo>
                <a:lnTo>
                  <a:pt x="340518" y="1016794"/>
                </a:lnTo>
                <a:lnTo>
                  <a:pt x="0" y="338138"/>
                </a:lnTo>
                <a:close/>
              </a:path>
            </a:pathLst>
          </a:custGeom>
          <a:solidFill>
            <a:srgbClr val="845AD9">
              <a:alpha val="14900"/>
            </a:srgbClr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Rotating with tracing paper and centre on a vertex</a:t>
            </a:r>
            <a:endParaRPr/>
          </a:p>
        </p:txBody>
      </p:sp>
      <p:pic>
        <p:nvPicPr>
          <p:cNvPr id="1214" name="Google Shape;1214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850" y="2199228"/>
            <a:ext cx="7475224" cy="259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96"/>
          <p:cNvSpPr txBox="1"/>
          <p:nvPr>
            <p:ph idx="1" type="body"/>
          </p:nvPr>
        </p:nvSpPr>
        <p:spPr>
          <a:xfrm>
            <a:off x="324000" y="759425"/>
            <a:ext cx="84960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3) Rotate each shape clockwise by 90° around the centre of rotation given. Repeat this rotation two more times, but each time start from the image you have just drawn, and treat that as the new object.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The result of each three rotations should look like a pinwheel or windmill.</a:t>
            </a:r>
            <a:endParaRPr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97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Rotating objects with centre outside the object</a:t>
            </a:r>
            <a:endParaRPr/>
          </a:p>
        </p:txBody>
      </p:sp>
      <p:sp>
        <p:nvSpPr>
          <p:cNvPr id="1221" name="Google Shape;1221;p97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Rotating with tracing paper and centre on a vertex</a:t>
            </a:r>
            <a:endParaRPr/>
          </a:p>
        </p:txBody>
      </p:sp>
      <p:sp>
        <p:nvSpPr>
          <p:cNvPr id="1222" name="Google Shape;1222;p97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/>
              <a:t>Rotating objects with centre in or on the object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223" name="Google Shape;1223;p97"/>
          <p:cNvSpPr txBox="1"/>
          <p:nvPr>
            <p:ph idx="4" type="title"/>
          </p:nvPr>
        </p:nvSpPr>
        <p:spPr>
          <a:xfrm>
            <a:off x="324000" y="810000"/>
            <a:ext cx="57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Rotating objects</a:t>
            </a:r>
            <a:endParaRPr/>
          </a:p>
        </p:txBody>
      </p:sp>
      <p:pic>
        <p:nvPicPr>
          <p:cNvPr id="1224" name="Google Shape;1224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968" y="2769156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98"/>
          <p:cNvSpPr txBox="1"/>
          <p:nvPr>
            <p:ph idx="1" type="body"/>
          </p:nvPr>
        </p:nvSpPr>
        <p:spPr>
          <a:xfrm>
            <a:off x="324000" y="759300"/>
            <a:ext cx="4248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The centre of rotation may not be a vertex of your object.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Sometimes, it will be a point outside the object.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The centre of rotation can be labelled on a diagram or described</a:t>
            </a:r>
            <a:r>
              <a:rPr lang="en-GB" sz="1800"/>
              <a:t>,</a:t>
            </a:r>
            <a:r>
              <a:rPr lang="en-GB" sz="1800"/>
              <a:t> </a:t>
            </a:r>
            <a:r>
              <a:rPr lang="en-GB" sz="1800"/>
              <a:t>often as a</a:t>
            </a:r>
            <a:r>
              <a:rPr lang="en-GB" sz="1800"/>
              <a:t> coordinate for you to label yourself. 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For example: rotate this object by 90° anti-clockwise around the centre of rotation of (5, 4).</a:t>
            </a:r>
            <a:endParaRPr sz="1800"/>
          </a:p>
        </p:txBody>
      </p:sp>
      <p:sp>
        <p:nvSpPr>
          <p:cNvPr id="1230" name="Google Shape;1230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Rotating objects with centre outside the object</a:t>
            </a:r>
            <a:endParaRPr/>
          </a:p>
        </p:txBody>
      </p:sp>
      <p:pic>
        <p:nvPicPr>
          <p:cNvPr id="1231" name="Google Shape;1231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3489" y="765900"/>
            <a:ext cx="2935711" cy="405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6" name="Google Shape;1236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3489" y="765900"/>
            <a:ext cx="2935711" cy="405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7" name="Google Shape;1237;p99"/>
          <p:cNvSpPr/>
          <p:nvPr/>
        </p:nvSpPr>
        <p:spPr>
          <a:xfrm rot="5400000">
            <a:off x="5119946" y="1784740"/>
            <a:ext cx="3040500" cy="1809000"/>
          </a:xfrm>
          <a:prstGeom prst="rect">
            <a:avLst/>
          </a:prstGeom>
          <a:solidFill>
            <a:srgbClr val="FDF3CB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99"/>
          <p:cNvSpPr txBox="1"/>
          <p:nvPr>
            <p:ph idx="1" type="body"/>
          </p:nvPr>
        </p:nvSpPr>
        <p:spPr>
          <a:xfrm>
            <a:off x="324000" y="759300"/>
            <a:ext cx="4248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Rotate this object by 90° anti-clockwise around the centre of rotation of (5, 4).</a:t>
            </a:r>
            <a:endParaRPr sz="1800"/>
          </a:p>
        </p:txBody>
      </p:sp>
      <p:sp>
        <p:nvSpPr>
          <p:cNvPr id="1239" name="Google Shape;1239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Rotating objects with centre outside the object</a:t>
            </a:r>
            <a:endParaRPr/>
          </a:p>
        </p:txBody>
      </p:sp>
      <p:sp>
        <p:nvSpPr>
          <p:cNvPr id="1240" name="Google Shape;1240;p99"/>
          <p:cNvSpPr txBox="1"/>
          <p:nvPr>
            <p:ph idx="1" type="body"/>
          </p:nvPr>
        </p:nvSpPr>
        <p:spPr>
          <a:xfrm>
            <a:off x="324000" y="1853850"/>
            <a:ext cx="42480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Instructions</a:t>
            </a:r>
            <a:endParaRPr sz="1800"/>
          </a:p>
        </p:txBody>
      </p:sp>
      <p:sp>
        <p:nvSpPr>
          <p:cNvPr id="1241" name="Google Shape;1241;p99"/>
          <p:cNvSpPr txBox="1"/>
          <p:nvPr>
            <p:ph idx="1" type="body"/>
          </p:nvPr>
        </p:nvSpPr>
        <p:spPr>
          <a:xfrm>
            <a:off x="732600" y="2197275"/>
            <a:ext cx="38394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600"/>
              <a:t>Plot the coordinate of the centre of rotation first.</a:t>
            </a:r>
            <a:endParaRPr sz="1600"/>
          </a:p>
        </p:txBody>
      </p:sp>
      <p:sp>
        <p:nvSpPr>
          <p:cNvPr id="1242" name="Google Shape;1242;p99"/>
          <p:cNvSpPr txBox="1"/>
          <p:nvPr>
            <p:ph idx="1" type="body"/>
          </p:nvPr>
        </p:nvSpPr>
        <p:spPr>
          <a:xfrm>
            <a:off x="732600" y="3025900"/>
            <a:ext cx="38394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600"/>
              <a:t>Trace the shape and centre of rotation on the tracing paper and rotate.</a:t>
            </a:r>
            <a:endParaRPr sz="1600"/>
          </a:p>
        </p:txBody>
      </p:sp>
      <p:sp>
        <p:nvSpPr>
          <p:cNvPr id="1243" name="Google Shape;1243;p99"/>
          <p:cNvSpPr/>
          <p:nvPr/>
        </p:nvSpPr>
        <p:spPr>
          <a:xfrm rot="10800000">
            <a:off x="7161771" y="2914550"/>
            <a:ext cx="386100" cy="386100"/>
          </a:xfrm>
          <a:prstGeom prst="mathMultiply">
            <a:avLst>
              <a:gd fmla="val 6330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4" name="Google Shape;1244;p99"/>
          <p:cNvGrpSpPr/>
          <p:nvPr/>
        </p:nvGrpSpPr>
        <p:grpSpPr>
          <a:xfrm>
            <a:off x="6261100" y="1279525"/>
            <a:ext cx="1226221" cy="2200275"/>
            <a:chOff x="6261100" y="1279525"/>
            <a:chExt cx="1226221" cy="2200275"/>
          </a:xfrm>
        </p:grpSpPr>
        <p:sp>
          <p:nvSpPr>
            <p:cNvPr id="1245" name="Google Shape;1245;p99"/>
            <p:cNvSpPr/>
            <p:nvPr/>
          </p:nvSpPr>
          <p:spPr>
            <a:xfrm>
              <a:off x="6261100" y="1279525"/>
              <a:ext cx="361950" cy="2200275"/>
            </a:xfrm>
            <a:custGeom>
              <a:rect b="b" l="l" r="r" t="t"/>
              <a:pathLst>
                <a:path extrusionOk="0" h="2200275" w="361950">
                  <a:moveTo>
                    <a:pt x="0" y="220027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361950" y="1092200"/>
                  </a:lnTo>
                  <a:lnTo>
                    <a:pt x="361950" y="1831975"/>
                  </a:lnTo>
                  <a:lnTo>
                    <a:pt x="0" y="2200275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99"/>
            <p:cNvSpPr/>
            <p:nvPr/>
          </p:nvSpPr>
          <p:spPr>
            <a:xfrm rot="10800000">
              <a:off x="7222421" y="2975200"/>
              <a:ext cx="264900" cy="264900"/>
            </a:xfrm>
            <a:prstGeom prst="mathMultiply">
              <a:avLst>
                <a:gd fmla="val 21606" name="adj1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7" name="Google Shape;1247;p99"/>
          <p:cNvGrpSpPr/>
          <p:nvPr/>
        </p:nvGrpSpPr>
        <p:grpSpPr>
          <a:xfrm rot="-2700000">
            <a:off x="5650797" y="1799516"/>
            <a:ext cx="1808983" cy="3040471"/>
            <a:chOff x="2662296" y="1168991"/>
            <a:chExt cx="1809000" cy="3040500"/>
          </a:xfrm>
        </p:grpSpPr>
        <p:sp>
          <p:nvSpPr>
            <p:cNvPr id="1248" name="Google Shape;1248;p99"/>
            <p:cNvSpPr/>
            <p:nvPr/>
          </p:nvSpPr>
          <p:spPr>
            <a:xfrm rot="5400000">
              <a:off x="2046546" y="1784741"/>
              <a:ext cx="3040500" cy="1809000"/>
            </a:xfrm>
            <a:prstGeom prst="rect">
              <a:avLst/>
            </a:prstGeom>
            <a:solidFill>
              <a:srgbClr val="FDF3CB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49" name="Google Shape;1249;p99"/>
            <p:cNvGrpSpPr/>
            <p:nvPr/>
          </p:nvGrpSpPr>
          <p:grpSpPr>
            <a:xfrm>
              <a:off x="3187700" y="1279526"/>
              <a:ext cx="1226221" cy="2200275"/>
              <a:chOff x="6261100" y="1279525"/>
              <a:chExt cx="1226221" cy="2200275"/>
            </a:xfrm>
          </p:grpSpPr>
          <p:sp>
            <p:nvSpPr>
              <p:cNvPr id="1250" name="Google Shape;1250;p99"/>
              <p:cNvSpPr/>
              <p:nvPr/>
            </p:nvSpPr>
            <p:spPr>
              <a:xfrm>
                <a:off x="6261100" y="1279525"/>
                <a:ext cx="361950" cy="2200275"/>
              </a:xfrm>
              <a:custGeom>
                <a:rect b="b" l="l" r="r" t="t"/>
                <a:pathLst>
                  <a:path extrusionOk="0" h="2200275" w="361950">
                    <a:moveTo>
                      <a:pt x="0" y="2200275"/>
                    </a:moveTo>
                    <a:lnTo>
                      <a:pt x="0" y="9525"/>
                    </a:lnTo>
                    <a:lnTo>
                      <a:pt x="0" y="0"/>
                    </a:lnTo>
                    <a:lnTo>
                      <a:pt x="361950" y="1092200"/>
                    </a:lnTo>
                    <a:lnTo>
                      <a:pt x="361950" y="1831975"/>
                    </a:lnTo>
                    <a:lnTo>
                      <a:pt x="0" y="2200275"/>
                    </a:lnTo>
                    <a:close/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lg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1" name="Google Shape;1251;p99"/>
              <p:cNvSpPr/>
              <p:nvPr/>
            </p:nvSpPr>
            <p:spPr>
              <a:xfrm rot="10800000">
                <a:off x="7222421" y="2975200"/>
                <a:ext cx="264900" cy="264900"/>
              </a:xfrm>
              <a:prstGeom prst="mathMultiply">
                <a:avLst>
                  <a:gd fmla="val 21606" name="adj1"/>
                </a:avLst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52" name="Google Shape;1252;p99"/>
          <p:cNvGrpSpPr/>
          <p:nvPr/>
        </p:nvGrpSpPr>
        <p:grpSpPr>
          <a:xfrm rot="-5400000">
            <a:off x="6030669" y="2301728"/>
            <a:ext cx="1809000" cy="3040500"/>
            <a:chOff x="2662296" y="1168991"/>
            <a:chExt cx="1809000" cy="3040500"/>
          </a:xfrm>
        </p:grpSpPr>
        <p:sp>
          <p:nvSpPr>
            <p:cNvPr id="1253" name="Google Shape;1253;p99"/>
            <p:cNvSpPr/>
            <p:nvPr/>
          </p:nvSpPr>
          <p:spPr>
            <a:xfrm rot="5400000">
              <a:off x="2046546" y="1784741"/>
              <a:ext cx="3040500" cy="1809000"/>
            </a:xfrm>
            <a:prstGeom prst="rect">
              <a:avLst/>
            </a:prstGeom>
            <a:solidFill>
              <a:srgbClr val="FDF3CB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54" name="Google Shape;1254;p99"/>
            <p:cNvGrpSpPr/>
            <p:nvPr/>
          </p:nvGrpSpPr>
          <p:grpSpPr>
            <a:xfrm>
              <a:off x="3187700" y="1279526"/>
              <a:ext cx="1226221" cy="2200275"/>
              <a:chOff x="6261100" y="1279525"/>
              <a:chExt cx="1226221" cy="2200275"/>
            </a:xfrm>
          </p:grpSpPr>
          <p:sp>
            <p:nvSpPr>
              <p:cNvPr id="1255" name="Google Shape;1255;p99"/>
              <p:cNvSpPr/>
              <p:nvPr/>
            </p:nvSpPr>
            <p:spPr>
              <a:xfrm>
                <a:off x="6261100" y="1279525"/>
                <a:ext cx="361950" cy="2200275"/>
              </a:xfrm>
              <a:custGeom>
                <a:rect b="b" l="l" r="r" t="t"/>
                <a:pathLst>
                  <a:path extrusionOk="0" h="2200275" w="361950">
                    <a:moveTo>
                      <a:pt x="0" y="2200275"/>
                    </a:moveTo>
                    <a:lnTo>
                      <a:pt x="0" y="9525"/>
                    </a:lnTo>
                    <a:lnTo>
                      <a:pt x="0" y="0"/>
                    </a:lnTo>
                    <a:lnTo>
                      <a:pt x="361950" y="1092200"/>
                    </a:lnTo>
                    <a:lnTo>
                      <a:pt x="361950" y="1831975"/>
                    </a:lnTo>
                    <a:lnTo>
                      <a:pt x="0" y="2200275"/>
                    </a:lnTo>
                    <a:close/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lg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6" name="Google Shape;1256;p99"/>
              <p:cNvSpPr/>
              <p:nvPr/>
            </p:nvSpPr>
            <p:spPr>
              <a:xfrm rot="10800000">
                <a:off x="7222421" y="2975200"/>
                <a:ext cx="264900" cy="264900"/>
              </a:xfrm>
              <a:prstGeom prst="mathMultiply">
                <a:avLst>
                  <a:gd fmla="val 21606" name="adj1"/>
                </a:avLst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57" name="Google Shape;1257;p99"/>
          <p:cNvGrpSpPr/>
          <p:nvPr/>
        </p:nvGrpSpPr>
        <p:grpSpPr>
          <a:xfrm>
            <a:off x="5487064" y="3813478"/>
            <a:ext cx="2275101" cy="434350"/>
            <a:chOff x="5487064" y="3813478"/>
            <a:chExt cx="2275101" cy="434350"/>
          </a:xfrm>
        </p:grpSpPr>
        <p:sp>
          <p:nvSpPr>
            <p:cNvPr id="1258" name="Google Shape;1258;p99"/>
            <p:cNvSpPr/>
            <p:nvPr/>
          </p:nvSpPr>
          <p:spPr>
            <a:xfrm>
              <a:off x="5487064" y="4171628"/>
              <a:ext cx="76200" cy="76200"/>
            </a:xfrm>
            <a:prstGeom prst="ellipse">
              <a:avLst/>
            </a:prstGeom>
            <a:solidFill>
              <a:schemeClr val="dk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99"/>
            <p:cNvSpPr/>
            <p:nvPr/>
          </p:nvSpPr>
          <p:spPr>
            <a:xfrm>
              <a:off x="7685965" y="4171628"/>
              <a:ext cx="76200" cy="76200"/>
            </a:xfrm>
            <a:prstGeom prst="ellipse">
              <a:avLst/>
            </a:prstGeom>
            <a:solidFill>
              <a:schemeClr val="dk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99"/>
            <p:cNvSpPr/>
            <p:nvPr/>
          </p:nvSpPr>
          <p:spPr>
            <a:xfrm>
              <a:off x="7317811" y="3813478"/>
              <a:ext cx="76200" cy="76200"/>
            </a:xfrm>
            <a:prstGeom prst="ellipse">
              <a:avLst/>
            </a:prstGeom>
            <a:solidFill>
              <a:schemeClr val="dk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99"/>
            <p:cNvSpPr/>
            <p:nvPr/>
          </p:nvSpPr>
          <p:spPr>
            <a:xfrm>
              <a:off x="6584250" y="3813478"/>
              <a:ext cx="76200" cy="76200"/>
            </a:xfrm>
            <a:prstGeom prst="ellipse">
              <a:avLst/>
            </a:prstGeom>
            <a:solidFill>
              <a:schemeClr val="dk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2" name="Google Shape;1262;p99"/>
          <p:cNvSpPr/>
          <p:nvPr/>
        </p:nvSpPr>
        <p:spPr>
          <a:xfrm rot="-5400000">
            <a:off x="6443640" y="2925949"/>
            <a:ext cx="361950" cy="2200275"/>
          </a:xfrm>
          <a:custGeom>
            <a:rect b="b" l="l" r="r" t="t"/>
            <a:pathLst>
              <a:path extrusionOk="0" h="2200275" w="361950">
                <a:moveTo>
                  <a:pt x="0" y="2200275"/>
                </a:moveTo>
                <a:lnTo>
                  <a:pt x="0" y="9525"/>
                </a:lnTo>
                <a:lnTo>
                  <a:pt x="0" y="0"/>
                </a:lnTo>
                <a:lnTo>
                  <a:pt x="361950" y="1092200"/>
                </a:lnTo>
                <a:lnTo>
                  <a:pt x="361950" y="1831975"/>
                </a:lnTo>
                <a:lnTo>
                  <a:pt x="0" y="2200275"/>
                </a:lnTo>
                <a:close/>
              </a:path>
            </a:pathLst>
          </a:custGeom>
          <a:solidFill>
            <a:srgbClr val="845AD9">
              <a:alpha val="14900"/>
            </a:srgbClr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Rotating objects with centre outside the object</a:t>
            </a:r>
            <a:endParaRPr/>
          </a:p>
        </p:txBody>
      </p:sp>
      <p:sp>
        <p:nvSpPr>
          <p:cNvPr id="1268" name="Google Shape;1268;p100"/>
          <p:cNvSpPr txBox="1"/>
          <p:nvPr>
            <p:ph idx="1" type="body"/>
          </p:nvPr>
        </p:nvSpPr>
        <p:spPr>
          <a:xfrm>
            <a:off x="324000" y="765900"/>
            <a:ext cx="42480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Even with the centre of rotation outside the object, your image may sometimes still overlap the object.</a:t>
            </a:r>
            <a:endParaRPr sz="1800"/>
          </a:p>
        </p:txBody>
      </p:sp>
      <p:pic>
        <p:nvPicPr>
          <p:cNvPr id="1269" name="Google Shape;1269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819150"/>
            <a:ext cx="3914775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0" name="Google Shape;1270;p100"/>
          <p:cNvSpPr txBox="1"/>
          <p:nvPr/>
        </p:nvSpPr>
        <p:spPr>
          <a:xfrm>
            <a:off x="324000" y="2265000"/>
            <a:ext cx="4248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Rotate this object by 90° anti-clockwise around the centre of rotation given.</a:t>
            </a:r>
            <a:endParaRPr/>
          </a:p>
        </p:txBody>
      </p:sp>
      <p:grpSp>
        <p:nvGrpSpPr>
          <p:cNvPr id="1271" name="Google Shape;1271;p100"/>
          <p:cNvGrpSpPr/>
          <p:nvPr/>
        </p:nvGrpSpPr>
        <p:grpSpPr>
          <a:xfrm>
            <a:off x="4720559" y="1138511"/>
            <a:ext cx="2198400" cy="3040500"/>
            <a:chOff x="4720559" y="1138511"/>
            <a:chExt cx="2198400" cy="3040500"/>
          </a:xfrm>
        </p:grpSpPr>
        <p:sp>
          <p:nvSpPr>
            <p:cNvPr id="1272" name="Google Shape;1272;p100"/>
            <p:cNvSpPr/>
            <p:nvPr/>
          </p:nvSpPr>
          <p:spPr>
            <a:xfrm rot="5400000">
              <a:off x="4299509" y="1559561"/>
              <a:ext cx="3040500" cy="2198400"/>
            </a:xfrm>
            <a:prstGeom prst="rect">
              <a:avLst/>
            </a:prstGeom>
            <a:solidFill>
              <a:srgbClr val="FDF3CB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100"/>
            <p:cNvSpPr/>
            <p:nvPr/>
          </p:nvSpPr>
          <p:spPr>
            <a:xfrm>
              <a:off x="5045075" y="1749425"/>
              <a:ext cx="1701800" cy="1704975"/>
            </a:xfrm>
            <a:custGeom>
              <a:rect b="b" l="l" r="r" t="t"/>
              <a:pathLst>
                <a:path extrusionOk="0" h="1704975" w="1701800">
                  <a:moveTo>
                    <a:pt x="0" y="0"/>
                  </a:moveTo>
                  <a:lnTo>
                    <a:pt x="0" y="1704975"/>
                  </a:lnTo>
                  <a:lnTo>
                    <a:pt x="1701800" y="1704975"/>
                  </a:lnTo>
                  <a:lnTo>
                    <a:pt x="1701800" y="854075"/>
                  </a:lnTo>
                  <a:lnTo>
                    <a:pt x="850900" y="854075"/>
                  </a:lnTo>
                  <a:lnTo>
                    <a:pt x="8509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100"/>
            <p:cNvSpPr/>
            <p:nvPr/>
          </p:nvSpPr>
          <p:spPr>
            <a:xfrm rot="5400000">
              <a:off x="6189255" y="1616925"/>
              <a:ext cx="264900" cy="264900"/>
            </a:xfrm>
            <a:prstGeom prst="mathMultiply">
              <a:avLst>
                <a:gd fmla="val 21606" name="adj1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5" name="Google Shape;1275;p100"/>
          <p:cNvGrpSpPr/>
          <p:nvPr/>
        </p:nvGrpSpPr>
        <p:grpSpPr>
          <a:xfrm rot="-2700000">
            <a:off x="5509875" y="1233592"/>
            <a:ext cx="2198379" cy="3040471"/>
            <a:chOff x="4720559" y="1138511"/>
            <a:chExt cx="2198400" cy="3040500"/>
          </a:xfrm>
        </p:grpSpPr>
        <p:sp>
          <p:nvSpPr>
            <p:cNvPr id="1276" name="Google Shape;1276;p100"/>
            <p:cNvSpPr/>
            <p:nvPr/>
          </p:nvSpPr>
          <p:spPr>
            <a:xfrm rot="5400000">
              <a:off x="4299509" y="1559561"/>
              <a:ext cx="3040500" cy="2198400"/>
            </a:xfrm>
            <a:prstGeom prst="rect">
              <a:avLst/>
            </a:prstGeom>
            <a:solidFill>
              <a:srgbClr val="FDF3CB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100"/>
            <p:cNvSpPr/>
            <p:nvPr/>
          </p:nvSpPr>
          <p:spPr>
            <a:xfrm>
              <a:off x="5045075" y="1749425"/>
              <a:ext cx="1701800" cy="1704975"/>
            </a:xfrm>
            <a:custGeom>
              <a:rect b="b" l="l" r="r" t="t"/>
              <a:pathLst>
                <a:path extrusionOk="0" h="1704975" w="1701800">
                  <a:moveTo>
                    <a:pt x="0" y="0"/>
                  </a:moveTo>
                  <a:lnTo>
                    <a:pt x="0" y="1704975"/>
                  </a:lnTo>
                  <a:lnTo>
                    <a:pt x="1701800" y="1704975"/>
                  </a:lnTo>
                  <a:lnTo>
                    <a:pt x="1701800" y="854075"/>
                  </a:lnTo>
                  <a:lnTo>
                    <a:pt x="850900" y="854075"/>
                  </a:lnTo>
                  <a:lnTo>
                    <a:pt x="8509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100"/>
            <p:cNvSpPr/>
            <p:nvPr/>
          </p:nvSpPr>
          <p:spPr>
            <a:xfrm rot="5400000">
              <a:off x="6189255" y="1616925"/>
              <a:ext cx="264900" cy="264900"/>
            </a:xfrm>
            <a:prstGeom prst="mathMultiply">
              <a:avLst>
                <a:gd fmla="val 21606" name="adj1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9" name="Google Shape;1279;p100"/>
          <p:cNvGrpSpPr/>
          <p:nvPr/>
        </p:nvGrpSpPr>
        <p:grpSpPr>
          <a:xfrm rot="-5400000">
            <a:off x="6127780" y="731966"/>
            <a:ext cx="2198400" cy="3040500"/>
            <a:chOff x="4720559" y="1138511"/>
            <a:chExt cx="2198400" cy="3040500"/>
          </a:xfrm>
        </p:grpSpPr>
        <p:sp>
          <p:nvSpPr>
            <p:cNvPr id="1280" name="Google Shape;1280;p100"/>
            <p:cNvSpPr/>
            <p:nvPr/>
          </p:nvSpPr>
          <p:spPr>
            <a:xfrm rot="5400000">
              <a:off x="4299509" y="1559561"/>
              <a:ext cx="3040500" cy="2198400"/>
            </a:xfrm>
            <a:prstGeom prst="rect">
              <a:avLst/>
            </a:prstGeom>
            <a:solidFill>
              <a:srgbClr val="FDF3CB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100"/>
            <p:cNvSpPr/>
            <p:nvPr/>
          </p:nvSpPr>
          <p:spPr>
            <a:xfrm>
              <a:off x="5045075" y="1749425"/>
              <a:ext cx="1701800" cy="1704975"/>
            </a:xfrm>
            <a:custGeom>
              <a:rect b="b" l="l" r="r" t="t"/>
              <a:pathLst>
                <a:path extrusionOk="0" h="1704975" w="1701800">
                  <a:moveTo>
                    <a:pt x="0" y="0"/>
                  </a:moveTo>
                  <a:lnTo>
                    <a:pt x="0" y="1704975"/>
                  </a:lnTo>
                  <a:lnTo>
                    <a:pt x="1701800" y="1704975"/>
                  </a:lnTo>
                  <a:lnTo>
                    <a:pt x="1701800" y="854075"/>
                  </a:lnTo>
                  <a:lnTo>
                    <a:pt x="850900" y="854075"/>
                  </a:lnTo>
                  <a:lnTo>
                    <a:pt x="8509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100"/>
            <p:cNvSpPr/>
            <p:nvPr/>
          </p:nvSpPr>
          <p:spPr>
            <a:xfrm rot="5400000">
              <a:off x="6189255" y="1616925"/>
              <a:ext cx="264900" cy="264900"/>
            </a:xfrm>
            <a:prstGeom prst="mathMultiply">
              <a:avLst>
                <a:gd fmla="val 21606" name="adj1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3" name="Google Shape;1283;p100"/>
          <p:cNvSpPr txBox="1"/>
          <p:nvPr/>
        </p:nvSpPr>
        <p:spPr>
          <a:xfrm>
            <a:off x="1964625" y="3750105"/>
            <a:ext cx="2346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 square that overlaps image and object.</a:t>
            </a:r>
            <a:endParaRPr/>
          </a:p>
        </p:txBody>
      </p:sp>
      <p:cxnSp>
        <p:nvCxnSpPr>
          <p:cNvPr id="1284" name="Google Shape;1284;p100"/>
          <p:cNvCxnSpPr/>
          <p:nvPr/>
        </p:nvCxnSpPr>
        <p:spPr>
          <a:xfrm flipH="1">
            <a:off x="3839789" y="3026901"/>
            <a:ext cx="2470800" cy="963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5" name="Google Shape;1285;p100"/>
          <p:cNvSpPr/>
          <p:nvPr/>
        </p:nvSpPr>
        <p:spPr>
          <a:xfrm>
            <a:off x="6317644" y="2597670"/>
            <a:ext cx="429300" cy="429300"/>
          </a:xfrm>
          <a:prstGeom prst="rect">
            <a:avLst/>
          </a:prstGeom>
          <a:solidFill>
            <a:srgbClr val="845AD9">
              <a:alpha val="14900"/>
            </a:srgbClr>
          </a:solidFill>
          <a:ln cap="flat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101"/>
          <p:cNvSpPr txBox="1"/>
          <p:nvPr>
            <p:ph idx="1" type="body"/>
          </p:nvPr>
        </p:nvSpPr>
        <p:spPr>
          <a:xfrm>
            <a:off x="324000" y="759300"/>
            <a:ext cx="4248000" cy="2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/>
              <a:t>The object has been rotated by 90° anti-clockwise around the point (8, 6).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What is the coordinate of the missing vertex of the image?</a:t>
            </a:r>
            <a:endParaRPr sz="2000"/>
          </a:p>
        </p:txBody>
      </p:sp>
      <p:sp>
        <p:nvSpPr>
          <p:cNvPr id="1291" name="Google Shape;1291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Rotating objects with centre outside the object</a:t>
            </a:r>
            <a:endParaRPr/>
          </a:p>
        </p:txBody>
      </p:sp>
      <p:pic>
        <p:nvPicPr>
          <p:cNvPr id="1292" name="Google Shape;1292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0675" y="766975"/>
            <a:ext cx="3949475" cy="278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3" name="Google Shape;1293;p101"/>
          <p:cNvSpPr txBox="1"/>
          <p:nvPr>
            <p:ph idx="1" type="body"/>
          </p:nvPr>
        </p:nvSpPr>
        <p:spPr>
          <a:xfrm>
            <a:off x="6573938" y="833688"/>
            <a:ext cx="866400" cy="43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object</a:t>
            </a:r>
            <a:endParaRPr sz="2000"/>
          </a:p>
        </p:txBody>
      </p:sp>
      <p:sp>
        <p:nvSpPr>
          <p:cNvPr id="1294" name="Google Shape;1294;p101"/>
          <p:cNvSpPr txBox="1"/>
          <p:nvPr>
            <p:ph idx="1" type="body"/>
          </p:nvPr>
        </p:nvSpPr>
        <p:spPr>
          <a:xfrm>
            <a:off x="1935050" y="3166350"/>
            <a:ext cx="1468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(11, 1)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102"/>
          <p:cNvSpPr txBox="1"/>
          <p:nvPr>
            <p:ph idx="1" type="body"/>
          </p:nvPr>
        </p:nvSpPr>
        <p:spPr>
          <a:xfrm>
            <a:off x="324000" y="759300"/>
            <a:ext cx="30813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/>
              <a:t>1) Rotate object A by 90° clockwise around the point (7, 5).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2) Rotate object A by 90° clockwise around the point (6, 0).</a:t>
            </a:r>
            <a:endParaRPr sz="2000"/>
          </a:p>
        </p:txBody>
      </p:sp>
      <p:sp>
        <p:nvSpPr>
          <p:cNvPr id="1300" name="Google Shape;1300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Rotating objects with centre outside the object</a:t>
            </a:r>
            <a:endParaRPr/>
          </a:p>
        </p:txBody>
      </p:sp>
      <p:pic>
        <p:nvPicPr>
          <p:cNvPr id="1301" name="Google Shape;1301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0000" y="668525"/>
            <a:ext cx="4105326" cy="4062942"/>
          </a:xfrm>
          <a:prstGeom prst="rect">
            <a:avLst/>
          </a:prstGeom>
          <a:noFill/>
          <a:ln>
            <a:noFill/>
          </a:ln>
        </p:spPr>
      </p:pic>
      <p:sp>
        <p:nvSpPr>
          <p:cNvPr id="1302" name="Google Shape;1302;p102"/>
          <p:cNvSpPr txBox="1"/>
          <p:nvPr>
            <p:ph idx="1" type="body"/>
          </p:nvPr>
        </p:nvSpPr>
        <p:spPr>
          <a:xfrm>
            <a:off x="4582875" y="2321325"/>
            <a:ext cx="1124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/>
              <a:t>object A</a:t>
            </a:r>
            <a:endParaRPr sz="2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103"/>
          <p:cNvSpPr txBox="1"/>
          <p:nvPr>
            <p:ph idx="1" type="body"/>
          </p:nvPr>
        </p:nvSpPr>
        <p:spPr>
          <a:xfrm>
            <a:off x="324000" y="716550"/>
            <a:ext cx="1878000" cy="23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3) </a:t>
            </a:r>
            <a:r>
              <a:rPr lang="en-GB" sz="1800"/>
              <a:t>Follow the instructions to rotate each object so the images combine to create a picture.</a:t>
            </a:r>
            <a:endParaRPr sz="1800"/>
          </a:p>
        </p:txBody>
      </p:sp>
      <p:sp>
        <p:nvSpPr>
          <p:cNvPr id="1308" name="Google Shape;1308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Rotating objects with centre outside the object</a:t>
            </a:r>
            <a:endParaRPr/>
          </a:p>
        </p:txBody>
      </p:sp>
      <p:pic>
        <p:nvPicPr>
          <p:cNvPr id="1309" name="Google Shape;1309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3889" y="748369"/>
            <a:ext cx="6213375" cy="4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103"/>
          <p:cNvSpPr txBox="1"/>
          <p:nvPr>
            <p:ph idx="1" type="body"/>
          </p:nvPr>
        </p:nvSpPr>
        <p:spPr>
          <a:xfrm>
            <a:off x="2716408" y="1436361"/>
            <a:ext cx="2202000" cy="55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600"/>
              <a:t>90° anti-clockwise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600"/>
              <a:t>centre around (12, 14)</a:t>
            </a:r>
            <a:endParaRPr sz="1600"/>
          </a:p>
        </p:txBody>
      </p:sp>
      <p:sp>
        <p:nvSpPr>
          <p:cNvPr id="1311" name="Google Shape;1311;p103"/>
          <p:cNvSpPr txBox="1"/>
          <p:nvPr>
            <p:ph idx="1" type="body"/>
          </p:nvPr>
        </p:nvSpPr>
        <p:spPr>
          <a:xfrm>
            <a:off x="2532950" y="3334275"/>
            <a:ext cx="2010900" cy="55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600"/>
              <a:t>180°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600"/>
              <a:t>centre around (7, 8)</a:t>
            </a:r>
            <a:endParaRPr sz="1600"/>
          </a:p>
        </p:txBody>
      </p:sp>
      <p:sp>
        <p:nvSpPr>
          <p:cNvPr id="1312" name="Google Shape;1312;p103"/>
          <p:cNvSpPr txBox="1"/>
          <p:nvPr>
            <p:ph idx="1" type="body"/>
          </p:nvPr>
        </p:nvSpPr>
        <p:spPr>
          <a:xfrm>
            <a:off x="6702775" y="1302300"/>
            <a:ext cx="2117100" cy="55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600"/>
              <a:t>90° clockwise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600"/>
              <a:t>centre around (15, 8)</a:t>
            </a:r>
            <a:endParaRPr sz="1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Rotating objects with centre outside the object</a:t>
            </a:r>
            <a:endParaRPr/>
          </a:p>
        </p:txBody>
      </p:sp>
      <p:sp>
        <p:nvSpPr>
          <p:cNvPr id="1318" name="Google Shape;1318;p104"/>
          <p:cNvSpPr txBox="1"/>
          <p:nvPr>
            <p:ph idx="1" type="body"/>
          </p:nvPr>
        </p:nvSpPr>
        <p:spPr>
          <a:xfrm>
            <a:off x="324000" y="759300"/>
            <a:ext cx="30813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/>
              <a:t>1) Rotate object A by 90° clockwise around the point (7, 5).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2) Rotate object A by 90° clockwise around the point (6, 0).</a:t>
            </a:r>
            <a:endParaRPr sz="2000"/>
          </a:p>
        </p:txBody>
      </p:sp>
      <p:pic>
        <p:nvPicPr>
          <p:cNvPr id="1319" name="Google Shape;1319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0000" y="668525"/>
            <a:ext cx="4105326" cy="4062942"/>
          </a:xfrm>
          <a:prstGeom prst="rect">
            <a:avLst/>
          </a:prstGeom>
          <a:noFill/>
          <a:ln>
            <a:noFill/>
          </a:ln>
        </p:spPr>
      </p:pic>
      <p:sp>
        <p:nvSpPr>
          <p:cNvPr id="1320" name="Google Shape;1320;p104"/>
          <p:cNvSpPr/>
          <p:nvPr/>
        </p:nvSpPr>
        <p:spPr>
          <a:xfrm rot="5400000">
            <a:off x="5605030" y="1239085"/>
            <a:ext cx="1847850" cy="928688"/>
          </a:xfrm>
          <a:custGeom>
            <a:rect b="b" l="l" r="r" t="t"/>
            <a:pathLst>
              <a:path extrusionOk="0" h="928688" w="1847850">
                <a:moveTo>
                  <a:pt x="1231106" y="0"/>
                </a:moveTo>
                <a:lnTo>
                  <a:pt x="0" y="0"/>
                </a:lnTo>
                <a:lnTo>
                  <a:pt x="0" y="928688"/>
                </a:lnTo>
                <a:lnTo>
                  <a:pt x="1847850" y="928688"/>
                </a:lnTo>
                <a:lnTo>
                  <a:pt x="1231106" y="0"/>
                </a:lnTo>
                <a:close/>
              </a:path>
            </a:pathLst>
          </a:custGeom>
          <a:solidFill>
            <a:srgbClr val="845AD9">
              <a:alpha val="14900"/>
            </a:srgbClr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104"/>
          <p:cNvSpPr/>
          <p:nvPr/>
        </p:nvSpPr>
        <p:spPr>
          <a:xfrm>
            <a:off x="6548005" y="2807036"/>
            <a:ext cx="264900" cy="264900"/>
          </a:xfrm>
          <a:prstGeom prst="mathMultiply">
            <a:avLst>
              <a:gd fmla="val 21606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104"/>
          <p:cNvSpPr/>
          <p:nvPr/>
        </p:nvSpPr>
        <p:spPr>
          <a:xfrm>
            <a:off x="6240163" y="4354380"/>
            <a:ext cx="264900" cy="264900"/>
          </a:xfrm>
          <a:prstGeom prst="mathMultiply">
            <a:avLst>
              <a:gd fmla="val 21606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104"/>
          <p:cNvSpPr/>
          <p:nvPr/>
        </p:nvSpPr>
        <p:spPr>
          <a:xfrm rot="5400000">
            <a:off x="6838705" y="3098611"/>
            <a:ext cx="1847850" cy="928688"/>
          </a:xfrm>
          <a:custGeom>
            <a:rect b="b" l="l" r="r" t="t"/>
            <a:pathLst>
              <a:path extrusionOk="0" h="928688" w="1847850">
                <a:moveTo>
                  <a:pt x="1231106" y="0"/>
                </a:moveTo>
                <a:lnTo>
                  <a:pt x="0" y="0"/>
                </a:lnTo>
                <a:lnTo>
                  <a:pt x="0" y="928688"/>
                </a:lnTo>
                <a:lnTo>
                  <a:pt x="1847850" y="928688"/>
                </a:lnTo>
                <a:lnTo>
                  <a:pt x="1231106" y="0"/>
                </a:lnTo>
                <a:close/>
              </a:path>
            </a:pathLst>
          </a:custGeom>
          <a:solidFill>
            <a:srgbClr val="845AD9">
              <a:alpha val="14900"/>
            </a:srgbClr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104"/>
          <p:cNvSpPr txBox="1"/>
          <p:nvPr/>
        </p:nvSpPr>
        <p:spPr>
          <a:xfrm>
            <a:off x="5683000" y="721150"/>
            <a:ext cx="3816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5" name="Google Shape;1325;p104"/>
          <p:cNvSpPr txBox="1"/>
          <p:nvPr/>
        </p:nvSpPr>
        <p:spPr>
          <a:xfrm>
            <a:off x="6936863" y="2543519"/>
            <a:ext cx="4533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0" name="Google Shape;1330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1914" y="716550"/>
            <a:ext cx="6291312" cy="410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1" name="Google Shape;1331;p1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Rotating objects with centre outside the object</a:t>
            </a:r>
            <a:endParaRPr/>
          </a:p>
        </p:txBody>
      </p:sp>
      <p:sp>
        <p:nvSpPr>
          <p:cNvPr id="1332" name="Google Shape;1332;p105"/>
          <p:cNvSpPr txBox="1"/>
          <p:nvPr>
            <p:ph idx="1" type="body"/>
          </p:nvPr>
        </p:nvSpPr>
        <p:spPr>
          <a:xfrm>
            <a:off x="2716408" y="1436361"/>
            <a:ext cx="2202000" cy="55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600"/>
              <a:t>90° anti-clockwise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600"/>
              <a:t>centre around (12, 14)</a:t>
            </a:r>
            <a:endParaRPr sz="1600"/>
          </a:p>
        </p:txBody>
      </p:sp>
      <p:sp>
        <p:nvSpPr>
          <p:cNvPr id="1333" name="Google Shape;1333;p105"/>
          <p:cNvSpPr txBox="1"/>
          <p:nvPr>
            <p:ph idx="1" type="body"/>
          </p:nvPr>
        </p:nvSpPr>
        <p:spPr>
          <a:xfrm>
            <a:off x="324000" y="716550"/>
            <a:ext cx="18780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3) </a:t>
            </a:r>
            <a:r>
              <a:rPr lang="en-GB" sz="1800"/>
              <a:t>Follow the instructions and rotate each object so the images combine to create a picture.</a:t>
            </a:r>
            <a:endParaRPr sz="1800"/>
          </a:p>
        </p:txBody>
      </p:sp>
      <p:sp>
        <p:nvSpPr>
          <p:cNvPr id="1334" name="Google Shape;1334;p105"/>
          <p:cNvSpPr txBox="1"/>
          <p:nvPr>
            <p:ph idx="1" type="body"/>
          </p:nvPr>
        </p:nvSpPr>
        <p:spPr>
          <a:xfrm>
            <a:off x="2532950" y="3334275"/>
            <a:ext cx="2010900" cy="55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600"/>
              <a:t>180°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600"/>
              <a:t>centre around (7, 8)</a:t>
            </a:r>
            <a:endParaRPr sz="1600"/>
          </a:p>
        </p:txBody>
      </p:sp>
      <p:sp>
        <p:nvSpPr>
          <p:cNvPr id="1335" name="Google Shape;1335;p105"/>
          <p:cNvSpPr txBox="1"/>
          <p:nvPr>
            <p:ph idx="1" type="body"/>
          </p:nvPr>
        </p:nvSpPr>
        <p:spPr>
          <a:xfrm>
            <a:off x="6702775" y="1302300"/>
            <a:ext cx="2117100" cy="55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600"/>
              <a:t>90° clockwise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600"/>
              <a:t>centre around (15, 8)</a:t>
            </a:r>
            <a:endParaRPr sz="16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106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Rotating objects with centre outside the object</a:t>
            </a:r>
            <a:endParaRPr/>
          </a:p>
        </p:txBody>
      </p:sp>
      <p:sp>
        <p:nvSpPr>
          <p:cNvPr id="1341" name="Google Shape;1341;p106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Rotating with tracing paper and centre on a vertex</a:t>
            </a:r>
            <a:endParaRPr/>
          </a:p>
        </p:txBody>
      </p:sp>
      <p:sp>
        <p:nvSpPr>
          <p:cNvPr id="1342" name="Google Shape;1342;p106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Rotating objects with centre in or on the object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343" name="Google Shape;1343;p106"/>
          <p:cNvSpPr txBox="1"/>
          <p:nvPr>
            <p:ph idx="4" type="title"/>
          </p:nvPr>
        </p:nvSpPr>
        <p:spPr>
          <a:xfrm>
            <a:off x="324000" y="810000"/>
            <a:ext cx="57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Rotating objects</a:t>
            </a:r>
            <a:endParaRPr/>
          </a:p>
        </p:txBody>
      </p:sp>
      <p:pic>
        <p:nvPicPr>
          <p:cNvPr id="1344" name="Google Shape;1344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092" y="370582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107"/>
          <p:cNvSpPr txBox="1"/>
          <p:nvPr>
            <p:ph idx="1" type="body"/>
          </p:nvPr>
        </p:nvSpPr>
        <p:spPr>
          <a:xfrm>
            <a:off x="324000" y="759300"/>
            <a:ext cx="4248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The centre of rotation may be on the perimeter of the object, or inside it.</a:t>
            </a:r>
            <a:endParaRPr sz="1800"/>
          </a:p>
        </p:txBody>
      </p:sp>
      <p:sp>
        <p:nvSpPr>
          <p:cNvPr id="1350" name="Google Shape;1350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Rotating objects with centre in or on the object</a:t>
            </a:r>
            <a:endParaRPr/>
          </a:p>
        </p:txBody>
      </p:sp>
      <p:pic>
        <p:nvPicPr>
          <p:cNvPr id="1351" name="Google Shape;1351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3775" y="810000"/>
            <a:ext cx="3776225" cy="346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107"/>
          <p:cNvSpPr/>
          <p:nvPr/>
        </p:nvSpPr>
        <p:spPr>
          <a:xfrm rot="10800000">
            <a:off x="5678090" y="2325497"/>
            <a:ext cx="386100" cy="386100"/>
          </a:xfrm>
          <a:prstGeom prst="mathMultiply">
            <a:avLst>
              <a:gd fmla="val 6330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107"/>
          <p:cNvSpPr txBox="1"/>
          <p:nvPr>
            <p:ph idx="1" type="body"/>
          </p:nvPr>
        </p:nvSpPr>
        <p:spPr>
          <a:xfrm>
            <a:off x="5509037" y="1162750"/>
            <a:ext cx="1344000" cy="61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o</a:t>
            </a:r>
            <a:r>
              <a:rPr lang="en-GB" sz="1800"/>
              <a:t>n the perimeter</a:t>
            </a:r>
            <a:endParaRPr sz="1800"/>
          </a:p>
        </p:txBody>
      </p:sp>
      <p:cxnSp>
        <p:nvCxnSpPr>
          <p:cNvPr id="1354" name="Google Shape;1354;p107"/>
          <p:cNvCxnSpPr/>
          <p:nvPr/>
        </p:nvCxnSpPr>
        <p:spPr>
          <a:xfrm flipH="1">
            <a:off x="5885250" y="1724800"/>
            <a:ext cx="106500" cy="69450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5" name="Google Shape;1355;p107"/>
          <p:cNvSpPr/>
          <p:nvPr/>
        </p:nvSpPr>
        <p:spPr>
          <a:xfrm rot="10800000">
            <a:off x="7248408" y="3259318"/>
            <a:ext cx="386100" cy="386100"/>
          </a:xfrm>
          <a:prstGeom prst="mathMultiply">
            <a:avLst>
              <a:gd fmla="val 6330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107"/>
          <p:cNvSpPr txBox="1"/>
          <p:nvPr>
            <p:ph idx="1" type="body"/>
          </p:nvPr>
        </p:nvSpPr>
        <p:spPr>
          <a:xfrm>
            <a:off x="6290505" y="4231610"/>
            <a:ext cx="1344000" cy="61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i</a:t>
            </a:r>
            <a:r>
              <a:rPr lang="en-GB" sz="1800"/>
              <a:t>nside the object</a:t>
            </a:r>
            <a:endParaRPr sz="1800"/>
          </a:p>
        </p:txBody>
      </p:sp>
      <p:cxnSp>
        <p:nvCxnSpPr>
          <p:cNvPr id="1357" name="Google Shape;1357;p107"/>
          <p:cNvCxnSpPr/>
          <p:nvPr/>
        </p:nvCxnSpPr>
        <p:spPr>
          <a:xfrm flipH="1">
            <a:off x="7274136" y="3544047"/>
            <a:ext cx="141600" cy="72750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8" name="Google Shape;1358;p107"/>
          <p:cNvSpPr txBox="1"/>
          <p:nvPr>
            <p:ph idx="1" type="body"/>
          </p:nvPr>
        </p:nvSpPr>
        <p:spPr>
          <a:xfrm>
            <a:off x="324000" y="1651925"/>
            <a:ext cx="42480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The method for rotating these objects does not change. You must be careful, as the image is more likely to overlap the object and so it can be more confusing.</a:t>
            </a:r>
            <a:endParaRPr sz="1800"/>
          </a:p>
        </p:txBody>
      </p:sp>
      <p:sp>
        <p:nvSpPr>
          <p:cNvPr id="1359" name="Google Shape;1359;p107"/>
          <p:cNvSpPr txBox="1"/>
          <p:nvPr>
            <p:ph idx="1" type="body"/>
          </p:nvPr>
        </p:nvSpPr>
        <p:spPr>
          <a:xfrm>
            <a:off x="324000" y="3426200"/>
            <a:ext cx="42480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Many of the vertices of the image will overlap the object, so you must mark the centre of rotation and the vertices on the tracing paper very carefully.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4" name="Google Shape;1364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3775" y="810000"/>
            <a:ext cx="3776225" cy="346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5" name="Google Shape;1365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Rotating objects with centre in or on the object</a:t>
            </a:r>
            <a:endParaRPr/>
          </a:p>
        </p:txBody>
      </p:sp>
      <p:sp>
        <p:nvSpPr>
          <p:cNvPr id="1366" name="Google Shape;1366;p108"/>
          <p:cNvSpPr txBox="1"/>
          <p:nvPr>
            <p:ph idx="1" type="body"/>
          </p:nvPr>
        </p:nvSpPr>
        <p:spPr>
          <a:xfrm>
            <a:off x="732600" y="3903674"/>
            <a:ext cx="38394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600"/>
              <a:t>Make sure to press your pencil into the paper hard enough so you can see the vertices that overlap the object.</a:t>
            </a:r>
            <a:endParaRPr sz="1600"/>
          </a:p>
        </p:txBody>
      </p:sp>
      <p:sp>
        <p:nvSpPr>
          <p:cNvPr id="1367" name="Google Shape;1367;p108"/>
          <p:cNvSpPr txBox="1"/>
          <p:nvPr>
            <p:ph idx="1" type="body"/>
          </p:nvPr>
        </p:nvSpPr>
        <p:spPr>
          <a:xfrm>
            <a:off x="324000" y="759300"/>
            <a:ext cx="4248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For example: rotate this object by 180° around the centre of rotation of (6, 5).</a:t>
            </a:r>
            <a:endParaRPr sz="1800"/>
          </a:p>
        </p:txBody>
      </p:sp>
      <p:sp>
        <p:nvSpPr>
          <p:cNvPr id="1368" name="Google Shape;1368;p108"/>
          <p:cNvSpPr txBox="1"/>
          <p:nvPr>
            <p:ph idx="1" type="body"/>
          </p:nvPr>
        </p:nvSpPr>
        <p:spPr>
          <a:xfrm>
            <a:off x="324000" y="1853850"/>
            <a:ext cx="42480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Instructions</a:t>
            </a:r>
            <a:endParaRPr sz="1800"/>
          </a:p>
        </p:txBody>
      </p:sp>
      <p:sp>
        <p:nvSpPr>
          <p:cNvPr id="1369" name="Google Shape;1369;p108"/>
          <p:cNvSpPr txBox="1"/>
          <p:nvPr>
            <p:ph idx="1" type="body"/>
          </p:nvPr>
        </p:nvSpPr>
        <p:spPr>
          <a:xfrm>
            <a:off x="732600" y="2197275"/>
            <a:ext cx="38394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600"/>
              <a:t>Plot the coordinate of the centre of rotation first - make sure this is clear!</a:t>
            </a:r>
            <a:endParaRPr sz="1600"/>
          </a:p>
        </p:txBody>
      </p:sp>
      <p:sp>
        <p:nvSpPr>
          <p:cNvPr id="1370" name="Google Shape;1370;p108"/>
          <p:cNvSpPr txBox="1"/>
          <p:nvPr>
            <p:ph idx="1" type="body"/>
          </p:nvPr>
        </p:nvSpPr>
        <p:spPr>
          <a:xfrm>
            <a:off x="732600" y="3025900"/>
            <a:ext cx="38394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600"/>
              <a:t>Trace the shape and centre of rotation on the tracing paper and rotate.</a:t>
            </a:r>
            <a:endParaRPr sz="1600"/>
          </a:p>
        </p:txBody>
      </p:sp>
      <p:sp>
        <p:nvSpPr>
          <p:cNvPr id="1371" name="Google Shape;1371;p108"/>
          <p:cNvSpPr/>
          <p:nvPr/>
        </p:nvSpPr>
        <p:spPr>
          <a:xfrm>
            <a:off x="5370939" y="1724516"/>
            <a:ext cx="3040500" cy="2198400"/>
          </a:xfrm>
          <a:prstGeom prst="rect">
            <a:avLst/>
          </a:prstGeom>
          <a:solidFill>
            <a:srgbClr val="FDF3CB">
              <a:alpha val="4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108"/>
          <p:cNvSpPr/>
          <p:nvPr/>
        </p:nvSpPr>
        <p:spPr>
          <a:xfrm>
            <a:off x="6902450" y="2286763"/>
            <a:ext cx="450900" cy="450900"/>
          </a:xfrm>
          <a:prstGeom prst="mathMultiply">
            <a:avLst>
              <a:gd fmla="val 8975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108"/>
          <p:cNvSpPr/>
          <p:nvPr/>
        </p:nvSpPr>
        <p:spPr>
          <a:xfrm>
            <a:off x="5873750" y="1882775"/>
            <a:ext cx="2200275" cy="1882775"/>
          </a:xfrm>
          <a:custGeom>
            <a:rect b="b" l="l" r="r" t="t"/>
            <a:pathLst>
              <a:path extrusionOk="0" h="1882775" w="2200275">
                <a:moveTo>
                  <a:pt x="1571625" y="0"/>
                </a:moveTo>
                <a:lnTo>
                  <a:pt x="0" y="0"/>
                </a:lnTo>
                <a:lnTo>
                  <a:pt x="0" y="1882775"/>
                </a:lnTo>
                <a:lnTo>
                  <a:pt x="2200275" y="1882775"/>
                </a:lnTo>
                <a:lnTo>
                  <a:pt x="2200275" y="942975"/>
                </a:lnTo>
                <a:lnTo>
                  <a:pt x="1571625" y="0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108"/>
          <p:cNvSpPr/>
          <p:nvPr/>
        </p:nvSpPr>
        <p:spPr>
          <a:xfrm>
            <a:off x="6961356" y="2345669"/>
            <a:ext cx="333000" cy="333000"/>
          </a:xfrm>
          <a:prstGeom prst="mathMultiply">
            <a:avLst>
              <a:gd fmla="val 21606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5" name="Google Shape;1375;p108"/>
          <p:cNvGrpSpPr/>
          <p:nvPr/>
        </p:nvGrpSpPr>
        <p:grpSpPr>
          <a:xfrm rot="2700000">
            <a:off x="5221162" y="1470121"/>
            <a:ext cx="3040471" cy="2198379"/>
            <a:chOff x="1921878" y="1724516"/>
            <a:chExt cx="3040500" cy="2198400"/>
          </a:xfrm>
        </p:grpSpPr>
        <p:sp>
          <p:nvSpPr>
            <p:cNvPr id="1376" name="Google Shape;1376;p108"/>
            <p:cNvSpPr/>
            <p:nvPr/>
          </p:nvSpPr>
          <p:spPr>
            <a:xfrm>
              <a:off x="1921878" y="1724516"/>
              <a:ext cx="3040500" cy="2198400"/>
            </a:xfrm>
            <a:prstGeom prst="rect">
              <a:avLst/>
            </a:prstGeom>
            <a:solidFill>
              <a:srgbClr val="FDF3CB">
                <a:alpha val="4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108"/>
            <p:cNvSpPr/>
            <p:nvPr/>
          </p:nvSpPr>
          <p:spPr>
            <a:xfrm>
              <a:off x="2424689" y="1882775"/>
              <a:ext cx="2200275" cy="1882775"/>
            </a:xfrm>
            <a:custGeom>
              <a:rect b="b" l="l" r="r" t="t"/>
              <a:pathLst>
                <a:path extrusionOk="0" h="1882775" w="2200275">
                  <a:moveTo>
                    <a:pt x="1571625" y="0"/>
                  </a:moveTo>
                  <a:lnTo>
                    <a:pt x="0" y="0"/>
                  </a:lnTo>
                  <a:lnTo>
                    <a:pt x="0" y="1882775"/>
                  </a:lnTo>
                  <a:lnTo>
                    <a:pt x="2200275" y="1882775"/>
                  </a:lnTo>
                  <a:lnTo>
                    <a:pt x="2200275" y="942975"/>
                  </a:lnTo>
                  <a:lnTo>
                    <a:pt x="1571625" y="0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108"/>
            <p:cNvSpPr/>
            <p:nvPr/>
          </p:nvSpPr>
          <p:spPr>
            <a:xfrm>
              <a:off x="3512295" y="2345669"/>
              <a:ext cx="333000" cy="333000"/>
            </a:xfrm>
            <a:prstGeom prst="mathMultiply">
              <a:avLst>
                <a:gd fmla="val 21606" name="adj1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9" name="Google Shape;1379;p108"/>
          <p:cNvGrpSpPr/>
          <p:nvPr/>
        </p:nvGrpSpPr>
        <p:grpSpPr>
          <a:xfrm rot="5400000">
            <a:off x="5299748" y="1176994"/>
            <a:ext cx="3040500" cy="2198400"/>
            <a:chOff x="1921878" y="1724516"/>
            <a:chExt cx="3040500" cy="2198400"/>
          </a:xfrm>
        </p:grpSpPr>
        <p:sp>
          <p:nvSpPr>
            <p:cNvPr id="1380" name="Google Shape;1380;p108"/>
            <p:cNvSpPr/>
            <p:nvPr/>
          </p:nvSpPr>
          <p:spPr>
            <a:xfrm>
              <a:off x="1921878" y="1724516"/>
              <a:ext cx="3040500" cy="2198400"/>
            </a:xfrm>
            <a:prstGeom prst="rect">
              <a:avLst/>
            </a:prstGeom>
            <a:solidFill>
              <a:srgbClr val="FDF3CB">
                <a:alpha val="4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108"/>
            <p:cNvSpPr/>
            <p:nvPr/>
          </p:nvSpPr>
          <p:spPr>
            <a:xfrm>
              <a:off x="2424689" y="1882775"/>
              <a:ext cx="2200275" cy="1882775"/>
            </a:xfrm>
            <a:custGeom>
              <a:rect b="b" l="l" r="r" t="t"/>
              <a:pathLst>
                <a:path extrusionOk="0" h="1882775" w="2200275">
                  <a:moveTo>
                    <a:pt x="1571625" y="0"/>
                  </a:moveTo>
                  <a:lnTo>
                    <a:pt x="0" y="0"/>
                  </a:lnTo>
                  <a:lnTo>
                    <a:pt x="0" y="1882775"/>
                  </a:lnTo>
                  <a:lnTo>
                    <a:pt x="2200275" y="1882775"/>
                  </a:lnTo>
                  <a:lnTo>
                    <a:pt x="2200275" y="942975"/>
                  </a:lnTo>
                  <a:lnTo>
                    <a:pt x="1571625" y="0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108"/>
            <p:cNvSpPr/>
            <p:nvPr/>
          </p:nvSpPr>
          <p:spPr>
            <a:xfrm>
              <a:off x="3512295" y="2345669"/>
              <a:ext cx="333000" cy="333000"/>
            </a:xfrm>
            <a:prstGeom prst="mathMultiply">
              <a:avLst>
                <a:gd fmla="val 21606" name="adj1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3" name="Google Shape;1383;p108"/>
          <p:cNvGrpSpPr/>
          <p:nvPr/>
        </p:nvGrpSpPr>
        <p:grpSpPr>
          <a:xfrm rot="8100000">
            <a:off x="5554166" y="1031967"/>
            <a:ext cx="3040471" cy="2198379"/>
            <a:chOff x="1921878" y="1724516"/>
            <a:chExt cx="3040500" cy="2198400"/>
          </a:xfrm>
        </p:grpSpPr>
        <p:sp>
          <p:nvSpPr>
            <p:cNvPr id="1384" name="Google Shape;1384;p108"/>
            <p:cNvSpPr/>
            <p:nvPr/>
          </p:nvSpPr>
          <p:spPr>
            <a:xfrm>
              <a:off x="1921878" y="1724516"/>
              <a:ext cx="3040500" cy="2198400"/>
            </a:xfrm>
            <a:prstGeom prst="rect">
              <a:avLst/>
            </a:prstGeom>
            <a:solidFill>
              <a:srgbClr val="FDF3CB">
                <a:alpha val="4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108"/>
            <p:cNvSpPr/>
            <p:nvPr/>
          </p:nvSpPr>
          <p:spPr>
            <a:xfrm>
              <a:off x="2424689" y="1882775"/>
              <a:ext cx="2200275" cy="1882775"/>
            </a:xfrm>
            <a:custGeom>
              <a:rect b="b" l="l" r="r" t="t"/>
              <a:pathLst>
                <a:path extrusionOk="0" h="1882775" w="2200275">
                  <a:moveTo>
                    <a:pt x="1571625" y="0"/>
                  </a:moveTo>
                  <a:lnTo>
                    <a:pt x="0" y="0"/>
                  </a:lnTo>
                  <a:lnTo>
                    <a:pt x="0" y="1882775"/>
                  </a:lnTo>
                  <a:lnTo>
                    <a:pt x="2200275" y="1882775"/>
                  </a:lnTo>
                  <a:lnTo>
                    <a:pt x="2200275" y="942975"/>
                  </a:lnTo>
                  <a:lnTo>
                    <a:pt x="1571625" y="0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108"/>
            <p:cNvSpPr/>
            <p:nvPr/>
          </p:nvSpPr>
          <p:spPr>
            <a:xfrm>
              <a:off x="3512295" y="2345669"/>
              <a:ext cx="333000" cy="333000"/>
            </a:xfrm>
            <a:prstGeom prst="mathMultiply">
              <a:avLst>
                <a:gd fmla="val 21606" name="adj1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7" name="Google Shape;1387;p108"/>
          <p:cNvGrpSpPr/>
          <p:nvPr/>
        </p:nvGrpSpPr>
        <p:grpSpPr>
          <a:xfrm rot="10800000">
            <a:off x="5842504" y="1101500"/>
            <a:ext cx="3040500" cy="2198400"/>
            <a:chOff x="1921878" y="1724516"/>
            <a:chExt cx="3040500" cy="2198400"/>
          </a:xfrm>
        </p:grpSpPr>
        <p:sp>
          <p:nvSpPr>
            <p:cNvPr id="1388" name="Google Shape;1388;p108"/>
            <p:cNvSpPr/>
            <p:nvPr/>
          </p:nvSpPr>
          <p:spPr>
            <a:xfrm>
              <a:off x="1921878" y="1724516"/>
              <a:ext cx="3040500" cy="2198400"/>
            </a:xfrm>
            <a:prstGeom prst="rect">
              <a:avLst/>
            </a:prstGeom>
            <a:solidFill>
              <a:srgbClr val="FDF3CB">
                <a:alpha val="4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108"/>
            <p:cNvSpPr/>
            <p:nvPr/>
          </p:nvSpPr>
          <p:spPr>
            <a:xfrm>
              <a:off x="2424689" y="1882775"/>
              <a:ext cx="2200275" cy="1882775"/>
            </a:xfrm>
            <a:custGeom>
              <a:rect b="b" l="l" r="r" t="t"/>
              <a:pathLst>
                <a:path extrusionOk="0" h="1882775" w="2200275">
                  <a:moveTo>
                    <a:pt x="1571625" y="0"/>
                  </a:moveTo>
                  <a:lnTo>
                    <a:pt x="0" y="0"/>
                  </a:lnTo>
                  <a:lnTo>
                    <a:pt x="0" y="1882775"/>
                  </a:lnTo>
                  <a:lnTo>
                    <a:pt x="2200275" y="1882775"/>
                  </a:lnTo>
                  <a:lnTo>
                    <a:pt x="2200275" y="942975"/>
                  </a:lnTo>
                  <a:lnTo>
                    <a:pt x="1571625" y="0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108"/>
            <p:cNvSpPr/>
            <p:nvPr/>
          </p:nvSpPr>
          <p:spPr>
            <a:xfrm>
              <a:off x="3512295" y="2345669"/>
              <a:ext cx="333000" cy="333000"/>
            </a:xfrm>
            <a:prstGeom prst="mathMultiply">
              <a:avLst>
                <a:gd fmla="val 21606" name="adj1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91" name="Google Shape;1391;p108"/>
          <p:cNvPicPr preferRelativeResize="0"/>
          <p:nvPr/>
        </p:nvPicPr>
        <p:blipFill rotWithShape="1">
          <a:blip r:embed="rId4">
            <a:alphaModFix/>
          </a:blip>
          <a:srcRect b="52355" l="46456" r="47350" t="10323"/>
          <a:stretch/>
        </p:blipFill>
        <p:spPr>
          <a:xfrm flipH="1" rot="-9203412">
            <a:off x="6213074" y="476489"/>
            <a:ext cx="278535" cy="846208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108"/>
          <p:cNvSpPr/>
          <p:nvPr/>
        </p:nvSpPr>
        <p:spPr>
          <a:xfrm>
            <a:off x="6125777" y="1204430"/>
            <a:ext cx="110100" cy="1101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3" name="Google Shape;1393;p108"/>
          <p:cNvPicPr preferRelativeResize="0"/>
          <p:nvPr/>
        </p:nvPicPr>
        <p:blipFill rotWithShape="1">
          <a:blip r:embed="rId4">
            <a:alphaModFix/>
          </a:blip>
          <a:srcRect b="52355" l="46456" r="47350" t="10323"/>
          <a:stretch/>
        </p:blipFill>
        <p:spPr>
          <a:xfrm flipH="1" rot="-9203412">
            <a:off x="8411561" y="476489"/>
            <a:ext cx="278535" cy="846208"/>
          </a:xfrm>
          <a:prstGeom prst="rect">
            <a:avLst/>
          </a:prstGeom>
          <a:noFill/>
          <a:ln>
            <a:noFill/>
          </a:ln>
        </p:spPr>
      </p:pic>
      <p:sp>
        <p:nvSpPr>
          <p:cNvPr id="1394" name="Google Shape;1394;p108"/>
          <p:cNvSpPr/>
          <p:nvPr/>
        </p:nvSpPr>
        <p:spPr>
          <a:xfrm>
            <a:off x="8324264" y="1204430"/>
            <a:ext cx="110100" cy="1101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5" name="Google Shape;1395;p108"/>
          <p:cNvPicPr preferRelativeResize="0"/>
          <p:nvPr/>
        </p:nvPicPr>
        <p:blipFill rotWithShape="1">
          <a:blip r:embed="rId4">
            <a:alphaModFix/>
          </a:blip>
          <a:srcRect b="52355" l="46456" r="47350" t="10323"/>
          <a:stretch/>
        </p:blipFill>
        <p:spPr>
          <a:xfrm flipH="1" rot="-9203412">
            <a:off x="8411561" y="2352904"/>
            <a:ext cx="278535" cy="846208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08"/>
          <p:cNvSpPr/>
          <p:nvPr/>
        </p:nvSpPr>
        <p:spPr>
          <a:xfrm>
            <a:off x="8324264" y="3080845"/>
            <a:ext cx="110100" cy="1101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7" name="Google Shape;1397;p108"/>
          <p:cNvPicPr preferRelativeResize="0"/>
          <p:nvPr/>
        </p:nvPicPr>
        <p:blipFill rotWithShape="1">
          <a:blip r:embed="rId4">
            <a:alphaModFix/>
          </a:blip>
          <a:srcRect b="52355" l="46456" r="47350" t="10323"/>
          <a:stretch/>
        </p:blipFill>
        <p:spPr>
          <a:xfrm flipH="1" rot="-9203412">
            <a:off x="6843460" y="2352904"/>
            <a:ext cx="278535" cy="846208"/>
          </a:xfrm>
          <a:prstGeom prst="rect">
            <a:avLst/>
          </a:prstGeom>
          <a:noFill/>
          <a:ln>
            <a:noFill/>
          </a:ln>
        </p:spPr>
      </p:pic>
      <p:sp>
        <p:nvSpPr>
          <p:cNvPr id="1398" name="Google Shape;1398;p108"/>
          <p:cNvSpPr/>
          <p:nvPr/>
        </p:nvSpPr>
        <p:spPr>
          <a:xfrm>
            <a:off x="6756163" y="3080845"/>
            <a:ext cx="110100" cy="1101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9" name="Google Shape;1399;p108"/>
          <p:cNvPicPr preferRelativeResize="0"/>
          <p:nvPr/>
        </p:nvPicPr>
        <p:blipFill rotWithShape="1">
          <a:blip r:embed="rId4">
            <a:alphaModFix/>
          </a:blip>
          <a:srcRect b="52355" l="46456" r="47350" t="10323"/>
          <a:stretch/>
        </p:blipFill>
        <p:spPr>
          <a:xfrm flipH="1" rot="-9203412">
            <a:off x="6217092" y="1415966"/>
            <a:ext cx="278535" cy="846208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108"/>
          <p:cNvSpPr/>
          <p:nvPr/>
        </p:nvSpPr>
        <p:spPr>
          <a:xfrm>
            <a:off x="6129795" y="2143907"/>
            <a:ext cx="110100" cy="1101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108"/>
          <p:cNvSpPr/>
          <p:nvPr/>
        </p:nvSpPr>
        <p:spPr>
          <a:xfrm rot="10800000">
            <a:off x="6179918" y="1258866"/>
            <a:ext cx="2200275" cy="1882775"/>
          </a:xfrm>
          <a:custGeom>
            <a:rect b="b" l="l" r="r" t="t"/>
            <a:pathLst>
              <a:path extrusionOk="0" h="1882775" w="2200275">
                <a:moveTo>
                  <a:pt x="1571625" y="0"/>
                </a:moveTo>
                <a:lnTo>
                  <a:pt x="0" y="0"/>
                </a:lnTo>
                <a:lnTo>
                  <a:pt x="0" y="1882775"/>
                </a:lnTo>
                <a:lnTo>
                  <a:pt x="2200275" y="1882775"/>
                </a:lnTo>
                <a:lnTo>
                  <a:pt x="2200275" y="942975"/>
                </a:lnTo>
                <a:lnTo>
                  <a:pt x="1571625" y="0"/>
                </a:lnTo>
                <a:close/>
              </a:path>
            </a:pathLst>
          </a:custGeom>
          <a:solidFill>
            <a:srgbClr val="845AD9">
              <a:alpha val="14900"/>
            </a:srgbClr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6" name="Google Shape;1406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3275" y="811451"/>
            <a:ext cx="2765926" cy="400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Rotating objects with centre in or on the object</a:t>
            </a:r>
            <a:endParaRPr/>
          </a:p>
        </p:txBody>
      </p:sp>
      <p:sp>
        <p:nvSpPr>
          <p:cNvPr id="1408" name="Google Shape;1408;p109"/>
          <p:cNvSpPr txBox="1"/>
          <p:nvPr>
            <p:ph idx="1" type="body"/>
          </p:nvPr>
        </p:nvSpPr>
        <p:spPr>
          <a:xfrm>
            <a:off x="324000" y="963450"/>
            <a:ext cx="4248000" cy="10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The object is rotated 180° around the point (4, 3).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What is the first step to drawing this rotation?</a:t>
            </a:r>
            <a:endParaRPr sz="1800"/>
          </a:p>
        </p:txBody>
      </p:sp>
      <p:sp>
        <p:nvSpPr>
          <p:cNvPr id="1409" name="Google Shape;1409;p109"/>
          <p:cNvSpPr txBox="1"/>
          <p:nvPr>
            <p:ph idx="1" type="body"/>
          </p:nvPr>
        </p:nvSpPr>
        <p:spPr>
          <a:xfrm>
            <a:off x="1264800" y="4189175"/>
            <a:ext cx="34209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Marking the centre of rotation.</a:t>
            </a:r>
            <a:endParaRPr sz="1800"/>
          </a:p>
        </p:txBody>
      </p:sp>
      <p:sp>
        <p:nvSpPr>
          <p:cNvPr id="1410" name="Google Shape;1410;p109"/>
          <p:cNvSpPr txBox="1"/>
          <p:nvPr>
            <p:ph idx="1" type="body"/>
          </p:nvPr>
        </p:nvSpPr>
        <p:spPr>
          <a:xfrm>
            <a:off x="1264800" y="3413475"/>
            <a:ext cx="34209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Sketching the shape onto tracing paper.</a:t>
            </a:r>
            <a:endParaRPr sz="1800"/>
          </a:p>
        </p:txBody>
      </p:sp>
      <p:sp>
        <p:nvSpPr>
          <p:cNvPr id="1411" name="Google Shape;1411;p109"/>
          <p:cNvSpPr txBox="1"/>
          <p:nvPr>
            <p:ph idx="1" type="body"/>
          </p:nvPr>
        </p:nvSpPr>
        <p:spPr>
          <a:xfrm>
            <a:off x="1264800" y="2637775"/>
            <a:ext cx="34209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Rotating the tracing paper.</a:t>
            </a:r>
            <a:endParaRPr sz="1800"/>
          </a:p>
        </p:txBody>
      </p:sp>
      <p:grpSp>
        <p:nvGrpSpPr>
          <p:cNvPr id="1412" name="Google Shape;1412;p109"/>
          <p:cNvGrpSpPr/>
          <p:nvPr/>
        </p:nvGrpSpPr>
        <p:grpSpPr>
          <a:xfrm>
            <a:off x="690041" y="2571750"/>
            <a:ext cx="457200" cy="457200"/>
            <a:chOff x="1020916" y="1442088"/>
            <a:chExt cx="457200" cy="457200"/>
          </a:xfrm>
        </p:grpSpPr>
        <p:pic>
          <p:nvPicPr>
            <p:cNvPr id="1413" name="Google Shape;1413;p10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4" name="Google Shape;1414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15" name="Google Shape;1415;p109"/>
          <p:cNvGrpSpPr/>
          <p:nvPr/>
        </p:nvGrpSpPr>
        <p:grpSpPr>
          <a:xfrm>
            <a:off x="690041" y="3347450"/>
            <a:ext cx="457200" cy="457200"/>
            <a:chOff x="1020916" y="1442088"/>
            <a:chExt cx="457200" cy="457200"/>
          </a:xfrm>
        </p:grpSpPr>
        <p:pic>
          <p:nvPicPr>
            <p:cNvPr id="1416" name="Google Shape;1416;p10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7" name="Google Shape;1417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18" name="Google Shape;1418;p109"/>
          <p:cNvGrpSpPr/>
          <p:nvPr/>
        </p:nvGrpSpPr>
        <p:grpSpPr>
          <a:xfrm>
            <a:off x="690041" y="4123150"/>
            <a:ext cx="457200" cy="457200"/>
            <a:chOff x="1020916" y="1442088"/>
            <a:chExt cx="457200" cy="457200"/>
          </a:xfrm>
        </p:grpSpPr>
        <p:pic>
          <p:nvPicPr>
            <p:cNvPr id="1419" name="Google Shape;1419;p10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0" name="Google Shape;1420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1" name="Google Shape;1421;p109"/>
          <p:cNvSpPr txBox="1"/>
          <p:nvPr>
            <p:ph idx="1" type="body"/>
          </p:nvPr>
        </p:nvSpPr>
        <p:spPr>
          <a:xfrm>
            <a:off x="6630369" y="2628197"/>
            <a:ext cx="553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T</a:t>
            </a:r>
            <a:endParaRPr sz="1800"/>
          </a:p>
        </p:txBody>
      </p:sp>
      <p:sp>
        <p:nvSpPr>
          <p:cNvPr id="1422" name="Google Shape;1422;p109"/>
          <p:cNvSpPr/>
          <p:nvPr/>
        </p:nvSpPr>
        <p:spPr>
          <a:xfrm rot="10800000">
            <a:off x="6798615" y="3384734"/>
            <a:ext cx="386100" cy="386100"/>
          </a:xfrm>
          <a:prstGeom prst="mathMultiply">
            <a:avLst>
              <a:gd fmla="val 6330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3" name="Google Shape;1423;p10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26421" y="422615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8" name="Google Shape;1428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3275" y="811451"/>
            <a:ext cx="2765926" cy="400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9" name="Google Shape;1429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Rotating objects with centre in or on the object</a:t>
            </a:r>
            <a:endParaRPr/>
          </a:p>
        </p:txBody>
      </p:sp>
      <p:sp>
        <p:nvSpPr>
          <p:cNvPr id="1430" name="Google Shape;1430;p110"/>
          <p:cNvSpPr txBox="1"/>
          <p:nvPr>
            <p:ph idx="1" type="body"/>
          </p:nvPr>
        </p:nvSpPr>
        <p:spPr>
          <a:xfrm>
            <a:off x="324000" y="963450"/>
            <a:ext cx="4248000" cy="10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The object is rotated 180° around the point (4, 3).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At which point does vertex T end up after the rotation?</a:t>
            </a:r>
            <a:endParaRPr sz="1800"/>
          </a:p>
        </p:txBody>
      </p:sp>
      <p:sp>
        <p:nvSpPr>
          <p:cNvPr id="1431" name="Google Shape;1431;p110"/>
          <p:cNvSpPr txBox="1"/>
          <p:nvPr>
            <p:ph idx="1" type="body"/>
          </p:nvPr>
        </p:nvSpPr>
        <p:spPr>
          <a:xfrm>
            <a:off x="1264800" y="4189165"/>
            <a:ext cx="29508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(4, 1)</a:t>
            </a:r>
            <a:endParaRPr sz="1800"/>
          </a:p>
        </p:txBody>
      </p:sp>
      <p:sp>
        <p:nvSpPr>
          <p:cNvPr id="1432" name="Google Shape;1432;p110"/>
          <p:cNvSpPr txBox="1"/>
          <p:nvPr>
            <p:ph idx="1" type="body"/>
          </p:nvPr>
        </p:nvSpPr>
        <p:spPr>
          <a:xfrm>
            <a:off x="1264800" y="3413465"/>
            <a:ext cx="29508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(4, 7)</a:t>
            </a:r>
            <a:endParaRPr sz="1800"/>
          </a:p>
        </p:txBody>
      </p:sp>
      <p:sp>
        <p:nvSpPr>
          <p:cNvPr id="1433" name="Google Shape;1433;p110"/>
          <p:cNvSpPr txBox="1"/>
          <p:nvPr>
            <p:ph idx="1" type="body"/>
          </p:nvPr>
        </p:nvSpPr>
        <p:spPr>
          <a:xfrm>
            <a:off x="1264800" y="2637765"/>
            <a:ext cx="29508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(4, 0)</a:t>
            </a:r>
            <a:endParaRPr sz="1800"/>
          </a:p>
        </p:txBody>
      </p:sp>
      <p:grpSp>
        <p:nvGrpSpPr>
          <p:cNvPr id="1434" name="Google Shape;1434;p110"/>
          <p:cNvGrpSpPr/>
          <p:nvPr/>
        </p:nvGrpSpPr>
        <p:grpSpPr>
          <a:xfrm>
            <a:off x="690041" y="2571750"/>
            <a:ext cx="457200" cy="457200"/>
            <a:chOff x="1020916" y="1442088"/>
            <a:chExt cx="457200" cy="457200"/>
          </a:xfrm>
        </p:grpSpPr>
        <p:pic>
          <p:nvPicPr>
            <p:cNvPr id="1435" name="Google Shape;1435;p1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6" name="Google Shape;1436;p11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37" name="Google Shape;1437;p110"/>
          <p:cNvGrpSpPr/>
          <p:nvPr/>
        </p:nvGrpSpPr>
        <p:grpSpPr>
          <a:xfrm>
            <a:off x="690041" y="3347450"/>
            <a:ext cx="457200" cy="457200"/>
            <a:chOff x="1020916" y="1442088"/>
            <a:chExt cx="457200" cy="457200"/>
          </a:xfrm>
        </p:grpSpPr>
        <p:pic>
          <p:nvPicPr>
            <p:cNvPr id="1438" name="Google Shape;1438;p1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9" name="Google Shape;1439;p11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40" name="Google Shape;1440;p110"/>
          <p:cNvGrpSpPr/>
          <p:nvPr/>
        </p:nvGrpSpPr>
        <p:grpSpPr>
          <a:xfrm>
            <a:off x="690041" y="4123150"/>
            <a:ext cx="457200" cy="457200"/>
            <a:chOff x="1020916" y="1442088"/>
            <a:chExt cx="457200" cy="457200"/>
          </a:xfrm>
        </p:grpSpPr>
        <p:pic>
          <p:nvPicPr>
            <p:cNvPr id="1441" name="Google Shape;1441;p1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2" name="Google Shape;1442;p11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443" name="Google Shape;1443;p1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40446" y="4142208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4" name="Google Shape;1444;p110"/>
          <p:cNvSpPr txBox="1"/>
          <p:nvPr>
            <p:ph idx="1" type="body"/>
          </p:nvPr>
        </p:nvSpPr>
        <p:spPr>
          <a:xfrm>
            <a:off x="6630369" y="2628197"/>
            <a:ext cx="553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T</a:t>
            </a:r>
            <a:endParaRPr sz="1800"/>
          </a:p>
        </p:txBody>
      </p:sp>
      <p:sp>
        <p:nvSpPr>
          <p:cNvPr id="1445" name="Google Shape;1445;p110"/>
          <p:cNvSpPr/>
          <p:nvPr/>
        </p:nvSpPr>
        <p:spPr>
          <a:xfrm>
            <a:off x="6798630" y="3386587"/>
            <a:ext cx="386100" cy="386100"/>
          </a:xfrm>
          <a:prstGeom prst="mathMultiply">
            <a:avLst>
              <a:gd fmla="val 6330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6" name="Google Shape;1446;p110"/>
          <p:cNvCxnSpPr/>
          <p:nvPr/>
        </p:nvCxnSpPr>
        <p:spPr>
          <a:xfrm flipH="1" rot="10800000">
            <a:off x="6989875" y="2940510"/>
            <a:ext cx="3600" cy="63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47" name="Google Shape;1447;p110"/>
          <p:cNvGrpSpPr/>
          <p:nvPr/>
        </p:nvGrpSpPr>
        <p:grpSpPr>
          <a:xfrm rot="5400000">
            <a:off x="7035515" y="3146584"/>
            <a:ext cx="386100" cy="862177"/>
            <a:chOff x="7139630" y="2710435"/>
            <a:chExt cx="386100" cy="862177"/>
          </a:xfrm>
        </p:grpSpPr>
        <p:sp>
          <p:nvSpPr>
            <p:cNvPr id="1448" name="Google Shape;1448;p110"/>
            <p:cNvSpPr/>
            <p:nvPr/>
          </p:nvSpPr>
          <p:spPr>
            <a:xfrm>
              <a:off x="7139630" y="3186512"/>
              <a:ext cx="386100" cy="386100"/>
            </a:xfrm>
            <a:prstGeom prst="mathMultiply">
              <a:avLst>
                <a:gd fmla="val 6330" name="adj1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49" name="Google Shape;1449;p110"/>
            <p:cNvCxnSpPr/>
            <p:nvPr/>
          </p:nvCxnSpPr>
          <p:spPr>
            <a:xfrm rot="-5400000">
              <a:off x="6999825" y="3041485"/>
              <a:ext cx="6621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50" name="Google Shape;1450;p110"/>
          <p:cNvGrpSpPr/>
          <p:nvPr/>
        </p:nvGrpSpPr>
        <p:grpSpPr>
          <a:xfrm rot="10800000">
            <a:off x="6798615" y="3384734"/>
            <a:ext cx="386100" cy="858877"/>
            <a:chOff x="7139630" y="2713735"/>
            <a:chExt cx="386100" cy="858877"/>
          </a:xfrm>
        </p:grpSpPr>
        <p:sp>
          <p:nvSpPr>
            <p:cNvPr id="1451" name="Google Shape;1451;p110"/>
            <p:cNvSpPr/>
            <p:nvPr/>
          </p:nvSpPr>
          <p:spPr>
            <a:xfrm>
              <a:off x="7139630" y="3186512"/>
              <a:ext cx="386100" cy="386100"/>
            </a:xfrm>
            <a:prstGeom prst="mathMultiply">
              <a:avLst>
                <a:gd fmla="val 6330" name="adj1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52" name="Google Shape;1452;p110"/>
            <p:cNvCxnSpPr/>
            <p:nvPr/>
          </p:nvCxnSpPr>
          <p:spPr>
            <a:xfrm rot="10800000">
              <a:off x="7330875" y="271373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53" name="Google Shape;1453;p110"/>
          <p:cNvSpPr txBox="1"/>
          <p:nvPr>
            <p:ph idx="1" type="body"/>
          </p:nvPr>
        </p:nvSpPr>
        <p:spPr>
          <a:xfrm>
            <a:off x="2658600" y="2791275"/>
            <a:ext cx="2425500" cy="10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vertices of an object can end up inside the shape after rotation.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111"/>
          <p:cNvSpPr txBox="1"/>
          <p:nvPr>
            <p:ph idx="1" type="body"/>
          </p:nvPr>
        </p:nvSpPr>
        <p:spPr>
          <a:xfrm>
            <a:off x="324000" y="759300"/>
            <a:ext cx="4500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1) Rotate this shape by 90° anti-clockwise around the point (3, 6).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/>
              <a:t>2) How many unit squares of overlap are there between the object and its image?</a:t>
            </a:r>
            <a:endParaRPr/>
          </a:p>
        </p:txBody>
      </p:sp>
      <p:sp>
        <p:nvSpPr>
          <p:cNvPr id="1459" name="Google Shape;1459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Rotating objects with centre in or on the object</a:t>
            </a:r>
            <a:endParaRPr/>
          </a:p>
        </p:txBody>
      </p:sp>
      <p:pic>
        <p:nvPicPr>
          <p:cNvPr id="1460" name="Google Shape;1460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7325" y="786188"/>
            <a:ext cx="2943650" cy="388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112"/>
          <p:cNvSpPr txBox="1"/>
          <p:nvPr>
            <p:ph idx="1" type="body"/>
          </p:nvPr>
        </p:nvSpPr>
        <p:spPr>
          <a:xfrm>
            <a:off x="324000" y="759300"/>
            <a:ext cx="84960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/>
              <a:t>3</a:t>
            </a:r>
            <a:r>
              <a:rPr lang="en-GB"/>
              <a:t>) Rotate each of these rectangles by the descriptions given.</a:t>
            </a:r>
            <a:endParaRPr/>
          </a:p>
        </p:txBody>
      </p:sp>
      <p:sp>
        <p:nvSpPr>
          <p:cNvPr id="1466" name="Google Shape;1466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Rotating objects with centre in or on the object</a:t>
            </a:r>
            <a:endParaRPr/>
          </a:p>
        </p:txBody>
      </p:sp>
      <p:pic>
        <p:nvPicPr>
          <p:cNvPr id="1467" name="Google Shape;1467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8025" y="1166063"/>
            <a:ext cx="6037774" cy="366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112"/>
          <p:cNvSpPr txBox="1"/>
          <p:nvPr>
            <p:ph idx="1" type="body"/>
          </p:nvPr>
        </p:nvSpPr>
        <p:spPr>
          <a:xfrm>
            <a:off x="2386525" y="1343250"/>
            <a:ext cx="2117700" cy="55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600"/>
              <a:t>180° 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600"/>
              <a:t>centre around (12, 7)</a:t>
            </a:r>
            <a:endParaRPr sz="1600"/>
          </a:p>
        </p:txBody>
      </p:sp>
      <p:sp>
        <p:nvSpPr>
          <p:cNvPr id="1469" name="Google Shape;1469;p112"/>
          <p:cNvSpPr txBox="1"/>
          <p:nvPr>
            <p:ph idx="1" type="body"/>
          </p:nvPr>
        </p:nvSpPr>
        <p:spPr>
          <a:xfrm>
            <a:off x="1889850" y="2160000"/>
            <a:ext cx="1994700" cy="55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600"/>
              <a:t>270° anti-clockwise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600"/>
              <a:t>centre around (3, 2)</a:t>
            </a:r>
            <a:endParaRPr sz="1600"/>
          </a:p>
        </p:txBody>
      </p:sp>
      <p:sp>
        <p:nvSpPr>
          <p:cNvPr id="1470" name="Google Shape;1470;p112"/>
          <p:cNvSpPr txBox="1"/>
          <p:nvPr>
            <p:ph idx="1" type="body"/>
          </p:nvPr>
        </p:nvSpPr>
        <p:spPr>
          <a:xfrm>
            <a:off x="5578046" y="2084150"/>
            <a:ext cx="2117700" cy="55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600"/>
              <a:t>450° anti-clockwise 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600"/>
              <a:t>centre around (19, 4)</a:t>
            </a:r>
            <a:endParaRPr sz="1600"/>
          </a:p>
        </p:txBody>
      </p:sp>
      <p:cxnSp>
        <p:nvCxnSpPr>
          <p:cNvPr id="1471" name="Google Shape;1471;p112"/>
          <p:cNvCxnSpPr/>
          <p:nvPr/>
        </p:nvCxnSpPr>
        <p:spPr>
          <a:xfrm>
            <a:off x="4260125" y="1880725"/>
            <a:ext cx="242100" cy="1175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Rotating objects with centre in or on the object</a:t>
            </a:r>
            <a:endParaRPr/>
          </a:p>
        </p:txBody>
      </p:sp>
      <p:pic>
        <p:nvPicPr>
          <p:cNvPr id="1477" name="Google Shape;1477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4525" y="740175"/>
            <a:ext cx="2983100" cy="3919649"/>
          </a:xfrm>
          <a:prstGeom prst="rect">
            <a:avLst/>
          </a:prstGeom>
          <a:noFill/>
          <a:ln>
            <a:noFill/>
          </a:ln>
        </p:spPr>
      </p:pic>
      <p:sp>
        <p:nvSpPr>
          <p:cNvPr id="1478" name="Google Shape;1478;p113"/>
          <p:cNvSpPr txBox="1"/>
          <p:nvPr>
            <p:ph idx="1" type="body"/>
          </p:nvPr>
        </p:nvSpPr>
        <p:spPr>
          <a:xfrm>
            <a:off x="324000" y="759300"/>
            <a:ext cx="4500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1) Rotate this shape by 90° anti-clockwise around the point (3, 6).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/>
              <a:t>2) How many unit squares of overlap are there between the object and its image?</a:t>
            </a:r>
            <a:endParaRPr/>
          </a:p>
        </p:txBody>
      </p:sp>
      <p:sp>
        <p:nvSpPr>
          <p:cNvPr id="1479" name="Google Shape;1479;p113"/>
          <p:cNvSpPr txBox="1"/>
          <p:nvPr>
            <p:ph idx="1" type="body"/>
          </p:nvPr>
        </p:nvSpPr>
        <p:spPr>
          <a:xfrm>
            <a:off x="914775" y="3696825"/>
            <a:ext cx="32253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12 unit squares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114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/>
              <a:t>3</a:t>
            </a:r>
            <a:r>
              <a:rPr lang="en-GB"/>
              <a:t>) Rotate each of these rectangles by the descriptions given.</a:t>
            </a:r>
            <a:endParaRPr/>
          </a:p>
        </p:txBody>
      </p:sp>
      <p:sp>
        <p:nvSpPr>
          <p:cNvPr id="1485" name="Google Shape;1485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Rotating objects with centre in or on the object</a:t>
            </a:r>
            <a:endParaRPr/>
          </a:p>
        </p:txBody>
      </p:sp>
      <p:pic>
        <p:nvPicPr>
          <p:cNvPr id="1486" name="Google Shape;1486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0951" y="1156950"/>
            <a:ext cx="6022099" cy="366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7" name="Google Shape;1487;p114"/>
          <p:cNvSpPr txBox="1"/>
          <p:nvPr>
            <p:ph idx="1" type="body"/>
          </p:nvPr>
        </p:nvSpPr>
        <p:spPr>
          <a:xfrm>
            <a:off x="2386525" y="1343250"/>
            <a:ext cx="2117700" cy="55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600"/>
              <a:t>180° 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600"/>
              <a:t>centre around (12, 7)</a:t>
            </a:r>
            <a:endParaRPr sz="1600"/>
          </a:p>
        </p:txBody>
      </p:sp>
      <p:sp>
        <p:nvSpPr>
          <p:cNvPr id="1488" name="Google Shape;1488;p114"/>
          <p:cNvSpPr txBox="1"/>
          <p:nvPr>
            <p:ph idx="1" type="body"/>
          </p:nvPr>
        </p:nvSpPr>
        <p:spPr>
          <a:xfrm>
            <a:off x="1889850" y="2160000"/>
            <a:ext cx="1994700" cy="55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600"/>
              <a:t>270° anti-clockwise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600"/>
              <a:t>centre around (3, 2)</a:t>
            </a:r>
            <a:endParaRPr sz="1600"/>
          </a:p>
        </p:txBody>
      </p:sp>
      <p:sp>
        <p:nvSpPr>
          <p:cNvPr id="1489" name="Google Shape;1489;p114"/>
          <p:cNvSpPr txBox="1"/>
          <p:nvPr>
            <p:ph idx="1" type="body"/>
          </p:nvPr>
        </p:nvSpPr>
        <p:spPr>
          <a:xfrm>
            <a:off x="5578046" y="2084150"/>
            <a:ext cx="2117700" cy="55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600"/>
              <a:t>450° anti-clockwise 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600"/>
              <a:t>centre around (19, 4)</a:t>
            </a:r>
            <a:endParaRPr sz="1600"/>
          </a:p>
        </p:txBody>
      </p:sp>
      <p:cxnSp>
        <p:nvCxnSpPr>
          <p:cNvPr id="1490" name="Google Shape;1490;p114"/>
          <p:cNvCxnSpPr/>
          <p:nvPr/>
        </p:nvCxnSpPr>
        <p:spPr>
          <a:xfrm>
            <a:off x="4260125" y="1880725"/>
            <a:ext cx="242100" cy="1175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115"/>
          <p:cNvSpPr txBox="1"/>
          <p:nvPr>
            <p:ph idx="1" type="body"/>
          </p:nvPr>
        </p:nvSpPr>
        <p:spPr>
          <a:xfrm>
            <a:off x="324000" y="1080000"/>
            <a:ext cx="8113800" cy="18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Tracing paper can be used to help rotate objects.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GB"/>
              <a:t>The image of a rotation will only have the same orientation if the object is rotated a full turn (360°), or multiples of a full turn.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/>
              <a:t>Rotations can occur with the centre of rotation either:</a:t>
            </a:r>
            <a:endParaRPr/>
          </a:p>
        </p:txBody>
      </p:sp>
      <p:sp>
        <p:nvSpPr>
          <p:cNvPr id="1496" name="Google Shape;1496;p115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Rotating objects</a:t>
            </a:r>
            <a:endParaRPr/>
          </a:p>
        </p:txBody>
      </p:sp>
      <p:sp>
        <p:nvSpPr>
          <p:cNvPr id="1497" name="Google Shape;1497;p115"/>
          <p:cNvSpPr txBox="1"/>
          <p:nvPr>
            <p:ph idx="1" type="body"/>
          </p:nvPr>
        </p:nvSpPr>
        <p:spPr>
          <a:xfrm>
            <a:off x="815200" y="3242450"/>
            <a:ext cx="7622700" cy="1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on a vertex of an object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outside the object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inside or on the object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11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Produced in partnership with Mathematics in Education and Industry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503" name="Google Shape;1503;p1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