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15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DC1DBBE-3FCF-487A-A11E-E24C6848BBB7}">
  <a:tblStyle styleId="{1DC1DBBE-3FCF-487A-A11E-E24C6848BBB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15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7" Type="http://schemas.openxmlformats.org/officeDocument/2006/relationships/slide" Target="slides/slide4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1e7e8efc2e5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1e7e8efc2e5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1e7e8efc2e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1e7e8efc2e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1e7e8efc2e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1e7e8efc2e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28690639e9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28690639e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1e7e8efc2e5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1e7e8efc2e5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2825a304f8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2825a304f8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1e7e8efc2e5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1e7e8efc2e5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1e7e8efc2e5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1e7e8efc2e5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1e7e8efc2e5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1e7e8efc2e5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1e7e8efc2e5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1e7e8efc2e5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1e7e8efc2e5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1e7e8efc2e5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1e7e8efc2e5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1e7e8efc2e5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1e7e8efc2e5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1e7e8efc2e5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1e7e8efc2e5_1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3" name="Google Shape;953;g1e7e8efc2e5_1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1e7e8efc2e5_1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1e7e8efc2e5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1e7e8efc2e5_1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1e7e8efc2e5_1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1e7e8efc2e5_1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1e7e8efc2e5_1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1e7e8efc2e5_1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1e7e8efc2e5_1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285d29d3a9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285d29d3a9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1e7e8efc2e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g1e7e8efc2e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2825a304f8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2825a304f8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1e7e8efc2e5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1e7e8efc2e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1e7e8efc2e5_1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2" name="Google Shape;1082;g1e7e8efc2e5_1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1e7e8efc2e5_1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5" name="Google Shape;1095;g1e7e8efc2e5_1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1e7e8efc2e5_1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1e7e8efc2e5_1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1e7e8efc2e5_1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3" name="Google Shape;1133;g1e7e8efc2e5_1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1e7e8efc2e5_1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1e7e8efc2e5_1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1e7e8efc2e5_1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1e7e8efc2e5_1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1e7e8efc2e5_1_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5" name="Google Shape;1175;g1e7e8efc2e5_1_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1e7e8efc2e5_1_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7" name="Google Shape;1187;g1e7e8efc2e5_1_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1e7e8efc2e5_1_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1e7e8efc2e5_1_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285d29d3a96_2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9" name="Google Shape;1209;g285d29d3a96_2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g1e7e8efc2e5_1_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7" name="Google Shape;1217;g1e7e8efc2e5_1_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g1e7e8efc2e5_1_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7" name="Google Shape;1227;g1e7e8efc2e5_1_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g285d29d3a96_2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2" name="Google Shape;1242;g285d29d3a96_2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g1e7e8efc2e5_1_6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g1e7e8efc2e5_1_6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2" name="Google Shape;1262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8" name="Google Shape;1268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6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1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1.png"/><Relationship Id="rId4" Type="http://schemas.openxmlformats.org/officeDocument/2006/relationships/image" Target="../media/image91.png"/><Relationship Id="rId5" Type="http://schemas.openxmlformats.org/officeDocument/2006/relationships/image" Target="../media/image29.png"/><Relationship Id="rId6" Type="http://schemas.openxmlformats.org/officeDocument/2006/relationships/image" Target="../media/image33.png"/><Relationship Id="rId7" Type="http://schemas.openxmlformats.org/officeDocument/2006/relationships/image" Target="../media/image1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91.png"/><Relationship Id="rId4" Type="http://schemas.openxmlformats.org/officeDocument/2006/relationships/image" Target="../media/image24.png"/><Relationship Id="rId9" Type="http://schemas.openxmlformats.org/officeDocument/2006/relationships/image" Target="../media/image11.png"/><Relationship Id="rId5" Type="http://schemas.openxmlformats.org/officeDocument/2006/relationships/image" Target="../media/image21.png"/><Relationship Id="rId6" Type="http://schemas.openxmlformats.org/officeDocument/2006/relationships/image" Target="../media/image31.png"/><Relationship Id="rId7" Type="http://schemas.openxmlformats.org/officeDocument/2006/relationships/image" Target="../media/image29.png"/><Relationship Id="rId8" Type="http://schemas.openxmlformats.org/officeDocument/2006/relationships/image" Target="../media/image3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91.png"/><Relationship Id="rId4" Type="http://schemas.openxmlformats.org/officeDocument/2006/relationships/image" Target="../media/image30.png"/><Relationship Id="rId11" Type="http://schemas.openxmlformats.org/officeDocument/2006/relationships/image" Target="../media/image11.png"/><Relationship Id="rId10" Type="http://schemas.openxmlformats.org/officeDocument/2006/relationships/image" Target="../media/image36.png"/><Relationship Id="rId9" Type="http://schemas.openxmlformats.org/officeDocument/2006/relationships/image" Target="../media/image33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Relationship Id="rId7" Type="http://schemas.openxmlformats.org/officeDocument/2006/relationships/image" Target="../media/image31.png"/><Relationship Id="rId8" Type="http://schemas.openxmlformats.org/officeDocument/2006/relationships/image" Target="../media/image2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9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1.png"/><Relationship Id="rId4" Type="http://schemas.openxmlformats.org/officeDocument/2006/relationships/image" Target="../media/image55.png"/><Relationship Id="rId5" Type="http://schemas.openxmlformats.org/officeDocument/2006/relationships/image" Target="../media/image5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8.png"/><Relationship Id="rId4" Type="http://schemas.openxmlformats.org/officeDocument/2006/relationships/image" Target="../media/image66.png"/><Relationship Id="rId5" Type="http://schemas.openxmlformats.org/officeDocument/2006/relationships/image" Target="../media/image6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0.png"/><Relationship Id="rId4" Type="http://schemas.openxmlformats.org/officeDocument/2006/relationships/image" Target="../media/image64.png"/><Relationship Id="rId5" Type="http://schemas.openxmlformats.org/officeDocument/2006/relationships/image" Target="../media/image6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4.png"/><Relationship Id="rId4" Type="http://schemas.openxmlformats.org/officeDocument/2006/relationships/image" Target="../media/image6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3.png"/><Relationship Id="rId4" Type="http://schemas.openxmlformats.org/officeDocument/2006/relationships/image" Target="../media/image70.png"/><Relationship Id="rId5" Type="http://schemas.openxmlformats.org/officeDocument/2006/relationships/image" Target="../media/image5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8.png"/><Relationship Id="rId4" Type="http://schemas.openxmlformats.org/officeDocument/2006/relationships/image" Target="../media/image75.png"/><Relationship Id="rId5" Type="http://schemas.openxmlformats.org/officeDocument/2006/relationships/image" Target="../media/image5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6.png"/><Relationship Id="rId4" Type="http://schemas.openxmlformats.org/officeDocument/2006/relationships/image" Target="../media/image70.png"/><Relationship Id="rId5" Type="http://schemas.openxmlformats.org/officeDocument/2006/relationships/image" Target="../media/image7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6.png"/><Relationship Id="rId4" Type="http://schemas.openxmlformats.org/officeDocument/2006/relationships/image" Target="../media/image79.png"/><Relationship Id="rId5" Type="http://schemas.openxmlformats.org/officeDocument/2006/relationships/image" Target="../media/image8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6.png"/><Relationship Id="rId4" Type="http://schemas.openxmlformats.org/officeDocument/2006/relationships/image" Target="../media/image80.png"/><Relationship Id="rId5" Type="http://schemas.openxmlformats.org/officeDocument/2006/relationships/image" Target="../media/image8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5.png"/><Relationship Id="rId4" Type="http://schemas.openxmlformats.org/officeDocument/2006/relationships/image" Target="../media/image86.png"/><Relationship Id="rId5" Type="http://schemas.openxmlformats.org/officeDocument/2006/relationships/image" Target="../media/image8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5.png"/><Relationship Id="rId4" Type="http://schemas.openxmlformats.org/officeDocument/2006/relationships/image" Target="../media/image86.png"/><Relationship Id="rId5" Type="http://schemas.openxmlformats.org/officeDocument/2006/relationships/image" Target="../media/image8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9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basic transformations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Transformations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90850" y="725950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describe how an object has moved or changed.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2" type="subTitle"/>
          </p:nvPr>
        </p:nvSpPr>
        <p:spPr>
          <a:xfrm>
            <a:off x="456875" y="3373500"/>
            <a:ext cx="3211800" cy="81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Example of orientation </a:t>
            </a:r>
            <a:br>
              <a:rPr lang="en-GB" sz="2000"/>
            </a:br>
            <a:r>
              <a:rPr lang="en-GB" sz="2000"/>
              <a:t>changing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67"/>
          <p:cNvSpPr txBox="1"/>
          <p:nvPr>
            <p:ph idx="2" type="subTitle"/>
          </p:nvPr>
        </p:nvSpPr>
        <p:spPr>
          <a:xfrm>
            <a:off x="4742800" y="3366300"/>
            <a:ext cx="3322800" cy="7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Example of orientation </a:t>
            </a:r>
            <a:br>
              <a:rPr lang="en-GB" sz="2000"/>
            </a:br>
            <a:r>
              <a:rPr lang="en-GB" sz="2000"/>
              <a:t>not changing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768" name="Google Shape;768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875" y="1473625"/>
            <a:ext cx="2846700" cy="1619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67"/>
          <p:cNvSpPr txBox="1"/>
          <p:nvPr/>
        </p:nvSpPr>
        <p:spPr>
          <a:xfrm>
            <a:off x="900500" y="1181194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0" name="Google Shape;770;p67"/>
          <p:cNvSpPr txBox="1"/>
          <p:nvPr/>
        </p:nvSpPr>
        <p:spPr>
          <a:xfrm>
            <a:off x="290900" y="2019394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1" name="Google Shape;771;p67"/>
          <p:cNvSpPr txBox="1"/>
          <p:nvPr/>
        </p:nvSpPr>
        <p:spPr>
          <a:xfrm>
            <a:off x="618594" y="2133637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2" name="Google Shape;772;p67"/>
          <p:cNvSpPr txBox="1"/>
          <p:nvPr/>
        </p:nvSpPr>
        <p:spPr>
          <a:xfrm>
            <a:off x="618594" y="2667037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3" name="Google Shape;773;p67"/>
          <p:cNvSpPr txBox="1"/>
          <p:nvPr/>
        </p:nvSpPr>
        <p:spPr>
          <a:xfrm>
            <a:off x="1190150" y="2667037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4" name="Google Shape;774;p67"/>
          <p:cNvSpPr txBox="1"/>
          <p:nvPr/>
        </p:nvSpPr>
        <p:spPr>
          <a:xfrm>
            <a:off x="1190150" y="2133637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67"/>
          <p:cNvSpPr txBox="1"/>
          <p:nvPr/>
        </p:nvSpPr>
        <p:spPr>
          <a:xfrm>
            <a:off x="1540625" y="2019394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6" name="Google Shape;776;p67"/>
          <p:cNvSpPr txBox="1"/>
          <p:nvPr/>
        </p:nvSpPr>
        <p:spPr>
          <a:xfrm>
            <a:off x="3103250" y="1519519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7" name="Google Shape;777;p67"/>
          <p:cNvSpPr txBox="1"/>
          <p:nvPr/>
        </p:nvSpPr>
        <p:spPr>
          <a:xfrm>
            <a:off x="2043725" y="1655744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8" name="Google Shape;778;p67"/>
          <p:cNvSpPr txBox="1"/>
          <p:nvPr/>
        </p:nvSpPr>
        <p:spPr>
          <a:xfrm>
            <a:off x="2218794" y="1981237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9" name="Google Shape;779;p67"/>
          <p:cNvSpPr txBox="1"/>
          <p:nvPr/>
        </p:nvSpPr>
        <p:spPr>
          <a:xfrm>
            <a:off x="1792219" y="2446512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0" name="Google Shape;780;p67"/>
          <p:cNvSpPr txBox="1"/>
          <p:nvPr/>
        </p:nvSpPr>
        <p:spPr>
          <a:xfrm>
            <a:off x="2169213" y="2823987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1" name="Google Shape;781;p67"/>
          <p:cNvSpPr txBox="1"/>
          <p:nvPr/>
        </p:nvSpPr>
        <p:spPr>
          <a:xfrm>
            <a:off x="2653213" y="2415543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2" name="Google Shape;782;p67"/>
          <p:cNvSpPr txBox="1"/>
          <p:nvPr/>
        </p:nvSpPr>
        <p:spPr>
          <a:xfrm>
            <a:off x="3056700" y="2446506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3" name="Google Shape;783;p67"/>
          <p:cNvPicPr preferRelativeResize="0"/>
          <p:nvPr/>
        </p:nvPicPr>
        <p:blipFill rotWithShape="1">
          <a:blip r:embed="rId4">
            <a:alphaModFix/>
          </a:blip>
          <a:srcRect b="0" l="0" r="59172" t="0"/>
          <a:stretch/>
        </p:blipFill>
        <p:spPr>
          <a:xfrm>
            <a:off x="4824000" y="1226500"/>
            <a:ext cx="998600" cy="18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67"/>
          <p:cNvSpPr txBox="1"/>
          <p:nvPr/>
        </p:nvSpPr>
        <p:spPr>
          <a:xfrm>
            <a:off x="4995161" y="1569934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5" name="Google Shape;785;p67"/>
          <p:cNvSpPr txBox="1"/>
          <p:nvPr/>
        </p:nvSpPr>
        <p:spPr>
          <a:xfrm>
            <a:off x="5021407" y="2243362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67"/>
          <p:cNvSpPr txBox="1"/>
          <p:nvPr/>
        </p:nvSpPr>
        <p:spPr>
          <a:xfrm>
            <a:off x="4640407" y="2243362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7" name="Google Shape;787;p67"/>
          <p:cNvSpPr txBox="1"/>
          <p:nvPr/>
        </p:nvSpPr>
        <p:spPr>
          <a:xfrm>
            <a:off x="4640407" y="2776762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8" name="Google Shape;788;p67"/>
          <p:cNvSpPr txBox="1"/>
          <p:nvPr/>
        </p:nvSpPr>
        <p:spPr>
          <a:xfrm>
            <a:off x="5631007" y="2776762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9" name="Google Shape;789;p67"/>
          <p:cNvPicPr preferRelativeResize="0"/>
          <p:nvPr/>
        </p:nvPicPr>
        <p:blipFill rotWithShape="1">
          <a:blip r:embed="rId4">
            <a:alphaModFix/>
          </a:blip>
          <a:srcRect b="0" l="44582" r="0" t="0"/>
          <a:stretch/>
        </p:blipFill>
        <p:spPr>
          <a:xfrm>
            <a:off x="6211695" y="1234131"/>
            <a:ext cx="1355425" cy="18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67"/>
          <p:cNvSpPr txBox="1"/>
          <p:nvPr/>
        </p:nvSpPr>
        <p:spPr>
          <a:xfrm>
            <a:off x="5646156" y="1583779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1" name="Google Shape;791;p67"/>
          <p:cNvSpPr txBox="1"/>
          <p:nvPr/>
        </p:nvSpPr>
        <p:spPr>
          <a:xfrm>
            <a:off x="6584126" y="1082581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2" name="Google Shape;792;p67"/>
          <p:cNvSpPr txBox="1"/>
          <p:nvPr/>
        </p:nvSpPr>
        <p:spPr>
          <a:xfrm>
            <a:off x="6601224" y="2052700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7"/>
          <p:cNvSpPr txBox="1"/>
          <p:nvPr/>
        </p:nvSpPr>
        <p:spPr>
          <a:xfrm>
            <a:off x="6073519" y="2052712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4" name="Google Shape;794;p67"/>
          <p:cNvSpPr txBox="1"/>
          <p:nvPr/>
        </p:nvSpPr>
        <p:spPr>
          <a:xfrm>
            <a:off x="6029246" y="2789697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5" name="Google Shape;795;p67"/>
          <p:cNvSpPr txBox="1"/>
          <p:nvPr/>
        </p:nvSpPr>
        <p:spPr>
          <a:xfrm>
            <a:off x="7387317" y="2795017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6" name="Google Shape;796;p67"/>
          <p:cNvSpPr txBox="1"/>
          <p:nvPr/>
        </p:nvSpPr>
        <p:spPr>
          <a:xfrm>
            <a:off x="7383287" y="1056706"/>
            <a:ext cx="31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68"/>
          <p:cNvSpPr txBox="1"/>
          <p:nvPr>
            <p:ph idx="1" type="subTitle"/>
          </p:nvPr>
        </p:nvSpPr>
        <p:spPr>
          <a:xfrm>
            <a:off x="324000" y="820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b="1" lang="en-GB" sz="1800"/>
              <a:t>object </a:t>
            </a:r>
            <a:r>
              <a:rPr lang="en-GB" sz="1800"/>
              <a:t>is the starting figure </a:t>
            </a:r>
            <a:r>
              <a:rPr lang="en-GB" sz="1800"/>
              <a:t>before a transformation has been applied.</a:t>
            </a:r>
            <a:endParaRPr sz="1800"/>
          </a:p>
        </p:txBody>
      </p:sp>
      <p:sp>
        <p:nvSpPr>
          <p:cNvPr id="802" name="Google Shape;802;p68"/>
          <p:cNvSpPr txBox="1"/>
          <p:nvPr>
            <p:ph idx="2" type="subTitle"/>
          </p:nvPr>
        </p:nvSpPr>
        <p:spPr>
          <a:xfrm>
            <a:off x="324000" y="1545294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b="1" lang="en-GB" sz="1800"/>
              <a:t>image </a:t>
            </a:r>
            <a:r>
              <a:rPr lang="en-GB" sz="1800"/>
              <a:t>is the resulting figure after a transformation has been applied.</a:t>
            </a:r>
            <a:endParaRPr sz="1800"/>
          </a:p>
        </p:txBody>
      </p:sp>
      <p:sp>
        <p:nvSpPr>
          <p:cNvPr id="803" name="Google Shape;803;p68"/>
          <p:cNvSpPr txBox="1"/>
          <p:nvPr>
            <p:ph idx="3" type="subTitle"/>
          </p:nvPr>
        </p:nvSpPr>
        <p:spPr>
          <a:xfrm>
            <a:off x="324000" y="3218581"/>
            <a:ext cx="8496000" cy="54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11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</a:rPr>
              <a:t>Congruent </a:t>
            </a:r>
            <a:r>
              <a:rPr lang="en-GB" sz="1800">
                <a:solidFill>
                  <a:schemeClr val="dk1"/>
                </a:solidFill>
              </a:rPr>
              <a:t>- we will explore this during the lesson. </a:t>
            </a:r>
            <a:endParaRPr sz="1800"/>
          </a:p>
        </p:txBody>
      </p:sp>
      <p:sp>
        <p:nvSpPr>
          <p:cNvPr id="804" name="Google Shape;804;p68"/>
          <p:cNvSpPr txBox="1"/>
          <p:nvPr>
            <p:ph idx="5" type="subTitle"/>
          </p:nvPr>
        </p:nvSpPr>
        <p:spPr>
          <a:xfrm>
            <a:off x="324000" y="4103825"/>
            <a:ext cx="8496000" cy="6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A</a:t>
            </a:r>
            <a:r>
              <a:rPr lang="en-GB" sz="1800">
                <a:solidFill>
                  <a:schemeClr val="dk1"/>
                </a:solidFill>
              </a:rPr>
              <a:t> property of a shape is </a:t>
            </a:r>
            <a:r>
              <a:rPr b="1" lang="en-GB" sz="1800">
                <a:solidFill>
                  <a:schemeClr val="dk1"/>
                </a:solidFill>
              </a:rPr>
              <a:t>invariant </a:t>
            </a:r>
            <a:r>
              <a:rPr lang="en-GB" sz="1800">
                <a:solidFill>
                  <a:schemeClr val="dk1"/>
                </a:solidFill>
              </a:rPr>
              <a:t>if that property has not changed after the shape is transformed.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05" name="Google Shape;805;p68"/>
          <p:cNvSpPr txBox="1"/>
          <p:nvPr>
            <p:ph idx="4" type="subTitle"/>
          </p:nvPr>
        </p:nvSpPr>
        <p:spPr>
          <a:xfrm>
            <a:off x="324000" y="2270338"/>
            <a:ext cx="8496000" cy="6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 </a:t>
            </a:r>
            <a:r>
              <a:rPr b="1" lang="en-GB" sz="1800"/>
              <a:t>transformation </a:t>
            </a:r>
            <a:r>
              <a:rPr lang="en-GB" sz="1800"/>
              <a:t>is a process that may change the size, orientation or position of a shape. 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6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Congruency</a:t>
            </a:r>
            <a:endParaRPr/>
          </a:p>
        </p:txBody>
      </p:sp>
      <p:sp>
        <p:nvSpPr>
          <p:cNvPr id="811" name="Google Shape;811;p69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changes</a:t>
            </a:r>
            <a:endParaRPr/>
          </a:p>
        </p:txBody>
      </p:sp>
      <p:sp>
        <p:nvSpPr>
          <p:cNvPr id="812" name="Google Shape;812;p69"/>
          <p:cNvSpPr txBox="1"/>
          <p:nvPr>
            <p:ph idx="3" type="title"/>
          </p:nvPr>
        </p:nvSpPr>
        <p:spPr>
          <a:xfrm>
            <a:off x="324000" y="852000"/>
            <a:ext cx="5741400" cy="28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basic transformations</a:t>
            </a:r>
            <a:endParaRPr/>
          </a:p>
        </p:txBody>
      </p:sp>
      <p:pic>
        <p:nvPicPr>
          <p:cNvPr id="813" name="Google Shape;813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082" y="20594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Congruency</a:t>
            </a:r>
            <a:endParaRPr/>
          </a:p>
        </p:txBody>
      </p:sp>
      <p:pic>
        <p:nvPicPr>
          <p:cNvPr id="819" name="Google Shape;819;p70"/>
          <p:cNvPicPr preferRelativeResize="0"/>
          <p:nvPr/>
        </p:nvPicPr>
        <p:blipFill rotWithShape="1">
          <a:blip r:embed="rId3">
            <a:alphaModFix/>
          </a:blip>
          <a:srcRect b="18571" l="6782" r="67429" t="44135"/>
          <a:stretch/>
        </p:blipFill>
        <p:spPr>
          <a:xfrm>
            <a:off x="604875" y="2669313"/>
            <a:ext cx="1915448" cy="157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70"/>
          <p:cNvPicPr preferRelativeResize="0"/>
          <p:nvPr/>
        </p:nvPicPr>
        <p:blipFill rotWithShape="1">
          <a:blip r:embed="rId3">
            <a:alphaModFix/>
          </a:blip>
          <a:srcRect b="33840" l="47653" r="26558" t="33840"/>
          <a:stretch/>
        </p:blipFill>
        <p:spPr>
          <a:xfrm>
            <a:off x="5944075" y="1235500"/>
            <a:ext cx="1915448" cy="136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70"/>
          <p:cNvPicPr preferRelativeResize="0"/>
          <p:nvPr/>
        </p:nvPicPr>
        <p:blipFill rotWithShape="1">
          <a:blip r:embed="rId3">
            <a:alphaModFix/>
          </a:blip>
          <a:srcRect b="67681" l="55461" r="18750" t="0"/>
          <a:stretch/>
        </p:blipFill>
        <p:spPr>
          <a:xfrm>
            <a:off x="6020400" y="3012900"/>
            <a:ext cx="1915448" cy="136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70"/>
          <p:cNvPicPr preferRelativeResize="0"/>
          <p:nvPr/>
        </p:nvPicPr>
        <p:blipFill rotWithShape="1">
          <a:blip r:embed="rId4">
            <a:alphaModFix/>
          </a:blip>
          <a:srcRect b="16461" l="15476" r="52875" t="7539"/>
          <a:stretch/>
        </p:blipFill>
        <p:spPr>
          <a:xfrm>
            <a:off x="3178950" y="1519663"/>
            <a:ext cx="1728200" cy="2360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6350" y="1170325"/>
            <a:ext cx="2703656" cy="1365550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70"/>
          <p:cNvSpPr txBox="1"/>
          <p:nvPr/>
        </p:nvSpPr>
        <p:spPr>
          <a:xfrm rot="-2700846">
            <a:off x="3342508" y="1624925"/>
            <a:ext cx="862317" cy="4000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4 cm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0"/>
          <p:cNvSpPr txBox="1"/>
          <p:nvPr/>
        </p:nvSpPr>
        <p:spPr>
          <a:xfrm rot="-2700846">
            <a:off x="3672933" y="2219949"/>
            <a:ext cx="862317" cy="4000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4 cm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70"/>
          <p:cNvSpPr txBox="1"/>
          <p:nvPr/>
        </p:nvSpPr>
        <p:spPr>
          <a:xfrm rot="264564">
            <a:off x="3992948" y="2730500"/>
            <a:ext cx="862352" cy="4001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4 cm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7" name="Google Shape;827;p70"/>
          <p:cNvSpPr txBox="1"/>
          <p:nvPr/>
        </p:nvSpPr>
        <p:spPr>
          <a:xfrm rot="-2444380">
            <a:off x="4168176" y="3172364"/>
            <a:ext cx="862366" cy="4001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4 cm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70"/>
          <p:cNvSpPr txBox="1"/>
          <p:nvPr/>
        </p:nvSpPr>
        <p:spPr>
          <a:xfrm rot="3966623">
            <a:off x="3888856" y="1794755"/>
            <a:ext cx="862273" cy="4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 cm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70"/>
          <p:cNvSpPr txBox="1"/>
          <p:nvPr/>
        </p:nvSpPr>
        <p:spPr>
          <a:xfrm rot="3945735">
            <a:off x="3083574" y="2538044"/>
            <a:ext cx="862313" cy="40013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2 cm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70"/>
          <p:cNvSpPr txBox="1"/>
          <p:nvPr/>
        </p:nvSpPr>
        <p:spPr>
          <a:xfrm rot="-3846747">
            <a:off x="3289379" y="2827621"/>
            <a:ext cx="862333" cy="40010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2 cm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70"/>
          <p:cNvSpPr txBox="1"/>
          <p:nvPr/>
        </p:nvSpPr>
        <p:spPr>
          <a:xfrm rot="1468220">
            <a:off x="3525673" y="3475296"/>
            <a:ext cx="862581" cy="40020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2 cm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2" name="Google Shape;832;p70"/>
          <p:cNvSpPr txBox="1"/>
          <p:nvPr/>
        </p:nvSpPr>
        <p:spPr>
          <a:xfrm>
            <a:off x="246350" y="708613"/>
            <a:ext cx="439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Pairs of non-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congruent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shapes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70"/>
          <p:cNvSpPr txBox="1"/>
          <p:nvPr/>
        </p:nvSpPr>
        <p:spPr>
          <a:xfrm>
            <a:off x="5633825" y="693638"/>
            <a:ext cx="439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Pairs of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congruent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shapes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0"/>
          <p:cNvSpPr txBox="1"/>
          <p:nvPr/>
        </p:nvSpPr>
        <p:spPr>
          <a:xfrm>
            <a:off x="324000" y="4305863"/>
            <a:ext cx="439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does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congruent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mean?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71"/>
          <p:cNvSpPr txBox="1"/>
          <p:nvPr>
            <p:ph idx="1" type="body"/>
          </p:nvPr>
        </p:nvSpPr>
        <p:spPr>
          <a:xfrm>
            <a:off x="324000" y="606900"/>
            <a:ext cx="8237700" cy="82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Two or more shapes are said to be </a:t>
            </a:r>
            <a:r>
              <a:rPr b="1" lang="en-GB" sz="1800"/>
              <a:t>congruent </a:t>
            </a:r>
            <a:r>
              <a:rPr lang="en-GB" sz="1800"/>
              <a:t>i</a:t>
            </a:r>
            <a:r>
              <a:rPr lang="en-GB" sz="1800"/>
              <a:t>f one shape can fit exactly on top of another using rotation (twisting), reflection (flipping) or translation (moving). 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Congruency</a:t>
            </a:r>
            <a:endParaRPr/>
          </a:p>
        </p:txBody>
      </p:sp>
      <p:sp>
        <p:nvSpPr>
          <p:cNvPr id="841" name="Google Shape;841;p71"/>
          <p:cNvSpPr txBox="1"/>
          <p:nvPr/>
        </p:nvSpPr>
        <p:spPr>
          <a:xfrm>
            <a:off x="411175" y="4517500"/>
            <a:ext cx="4395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NCETM Checkpoint 1 Figure</a:t>
            </a:r>
            <a:endParaRPr sz="900">
              <a:solidFill>
                <a:schemeClr val="l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2" name="Google Shape;842;p71"/>
          <p:cNvSpPr txBox="1"/>
          <p:nvPr/>
        </p:nvSpPr>
        <p:spPr>
          <a:xfrm>
            <a:off x="4227750" y="1694150"/>
            <a:ext cx="4395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Which of these triangles are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congruent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?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3" name="Google Shape;843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575" y="1739725"/>
            <a:ext cx="3274223" cy="2777775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p71"/>
          <p:cNvSpPr txBox="1"/>
          <p:nvPr/>
        </p:nvSpPr>
        <p:spPr>
          <a:xfrm>
            <a:off x="4319325" y="2747275"/>
            <a:ext cx="439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5" name="Google Shape;845;p71"/>
          <p:cNvSpPr txBox="1"/>
          <p:nvPr/>
        </p:nvSpPr>
        <p:spPr>
          <a:xfrm>
            <a:off x="4227750" y="2747275"/>
            <a:ext cx="4395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A, B, C, D, F and G are identical. If you could cut them out, they would all fit exactly on each other, with some pieces twisted and/or flipped.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0" name="Google Shape;850;p72"/>
          <p:cNvPicPr preferRelativeResize="0"/>
          <p:nvPr/>
        </p:nvPicPr>
        <p:blipFill rotWithShape="1">
          <a:blip r:embed="rId3">
            <a:alphaModFix/>
          </a:blip>
          <a:srcRect b="7504" l="6901" r="14134" t="3787"/>
          <a:stretch/>
        </p:blipFill>
        <p:spPr>
          <a:xfrm>
            <a:off x="2600076" y="1366799"/>
            <a:ext cx="3815373" cy="245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Congruency</a:t>
            </a:r>
            <a:endParaRPr/>
          </a:p>
        </p:txBody>
      </p:sp>
      <p:sp>
        <p:nvSpPr>
          <p:cNvPr id="852" name="Google Shape;852;p72"/>
          <p:cNvSpPr txBox="1"/>
          <p:nvPr>
            <p:ph idx="1" type="body"/>
          </p:nvPr>
        </p:nvSpPr>
        <p:spPr>
          <a:xfrm>
            <a:off x="324000" y="759300"/>
            <a:ext cx="82377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of the following rectangles are </a:t>
            </a:r>
            <a:r>
              <a:rPr b="1" lang="en-GB"/>
              <a:t>congruent</a:t>
            </a:r>
            <a:r>
              <a:rPr lang="en-GB"/>
              <a:t>?</a:t>
            </a:r>
            <a:endParaRPr/>
          </a:p>
        </p:txBody>
      </p:sp>
      <p:sp>
        <p:nvSpPr>
          <p:cNvPr id="853" name="Google Shape;853;p72"/>
          <p:cNvSpPr txBox="1"/>
          <p:nvPr/>
        </p:nvSpPr>
        <p:spPr>
          <a:xfrm>
            <a:off x="2823944" y="1831506"/>
            <a:ext cx="37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4" name="Google Shape;854;p72"/>
          <p:cNvSpPr txBox="1"/>
          <p:nvPr/>
        </p:nvSpPr>
        <p:spPr>
          <a:xfrm>
            <a:off x="3690148" y="1831506"/>
            <a:ext cx="37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5" name="Google Shape;855;p72"/>
          <p:cNvSpPr txBox="1"/>
          <p:nvPr/>
        </p:nvSpPr>
        <p:spPr>
          <a:xfrm>
            <a:off x="4791012" y="1831506"/>
            <a:ext cx="37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6" name="Google Shape;856;p72"/>
          <p:cNvSpPr txBox="1"/>
          <p:nvPr/>
        </p:nvSpPr>
        <p:spPr>
          <a:xfrm>
            <a:off x="5789769" y="1831506"/>
            <a:ext cx="37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7" name="Google Shape;857;p72"/>
          <p:cNvSpPr txBox="1"/>
          <p:nvPr/>
        </p:nvSpPr>
        <p:spPr>
          <a:xfrm>
            <a:off x="3275011" y="3241547"/>
            <a:ext cx="37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72"/>
          <p:cNvSpPr txBox="1"/>
          <p:nvPr/>
        </p:nvSpPr>
        <p:spPr>
          <a:xfrm>
            <a:off x="5257487" y="3246803"/>
            <a:ext cx="37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9" name="Google Shape;859;p72"/>
          <p:cNvSpPr txBox="1"/>
          <p:nvPr/>
        </p:nvSpPr>
        <p:spPr>
          <a:xfrm>
            <a:off x="294450" y="4025025"/>
            <a:ext cx="7944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A, B and E are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congruent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to each other. C is too wide, D is too narrow and F is too long.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7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Are these two squares </a:t>
            </a:r>
            <a:r>
              <a:rPr b="1" lang="en-GB"/>
              <a:t>congruent?</a:t>
            </a:r>
            <a:endParaRPr b="1"/>
          </a:p>
        </p:txBody>
      </p:sp>
      <p:sp>
        <p:nvSpPr>
          <p:cNvPr id="865" name="Google Shape;865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Congruency</a:t>
            </a:r>
            <a:endParaRPr/>
          </a:p>
        </p:txBody>
      </p:sp>
      <p:sp>
        <p:nvSpPr>
          <p:cNvPr id="866" name="Google Shape;866;p73"/>
          <p:cNvSpPr txBox="1"/>
          <p:nvPr/>
        </p:nvSpPr>
        <p:spPr>
          <a:xfrm>
            <a:off x="488400" y="3780000"/>
            <a:ext cx="7753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shape is the same, the angles are the same, but the size is different,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so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they are not identical. They are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congruent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67" name="Google Shape;867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7500" y="1235223"/>
            <a:ext cx="4358325" cy="240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2" name="Google Shape;872;p74"/>
          <p:cNvPicPr preferRelativeResize="0"/>
          <p:nvPr/>
        </p:nvPicPr>
        <p:blipFill rotWithShape="1">
          <a:blip r:embed="rId3">
            <a:alphaModFix/>
          </a:blip>
          <a:srcRect b="40458" l="40817" r="6547" t="0"/>
          <a:stretch/>
        </p:blipFill>
        <p:spPr>
          <a:xfrm rot="-5400000">
            <a:off x="2228737" y="1769788"/>
            <a:ext cx="2281749" cy="1533025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74"/>
          <p:cNvSpPr txBox="1"/>
          <p:nvPr>
            <p:ph idx="1" type="body"/>
          </p:nvPr>
        </p:nvSpPr>
        <p:spPr>
          <a:xfrm>
            <a:off x="4002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Are these two triangles </a:t>
            </a:r>
            <a:r>
              <a:rPr b="1" lang="en-GB"/>
              <a:t>congruent?</a:t>
            </a:r>
            <a:endParaRPr b="1"/>
          </a:p>
        </p:txBody>
      </p:sp>
      <p:pic>
        <p:nvPicPr>
          <p:cNvPr id="874" name="Google Shape;874;p74"/>
          <p:cNvPicPr preferRelativeResize="0"/>
          <p:nvPr/>
        </p:nvPicPr>
        <p:blipFill rotWithShape="1">
          <a:blip r:embed="rId3">
            <a:alphaModFix/>
          </a:blip>
          <a:srcRect b="40458" l="40817" r="6547" t="0"/>
          <a:stretch/>
        </p:blipFill>
        <p:spPr>
          <a:xfrm>
            <a:off x="4320000" y="1233463"/>
            <a:ext cx="2281749" cy="1533025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Congruency</a:t>
            </a:r>
            <a:endParaRPr/>
          </a:p>
        </p:txBody>
      </p:sp>
      <p:sp>
        <p:nvSpPr>
          <p:cNvPr id="876" name="Google Shape;876;p74"/>
          <p:cNvSpPr txBox="1"/>
          <p:nvPr/>
        </p:nvSpPr>
        <p:spPr>
          <a:xfrm>
            <a:off x="481125" y="4081500"/>
            <a:ext cx="7753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shape is the same, the angles are the same, the lengths of the edges are the same, so they are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congruent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77" name="Google Shape;877;p74"/>
          <p:cNvSpPr txBox="1"/>
          <p:nvPr/>
        </p:nvSpPr>
        <p:spPr>
          <a:xfrm>
            <a:off x="2798215" y="1974844"/>
            <a:ext cx="93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31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°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8" name="Google Shape;878;p74"/>
          <p:cNvSpPr txBox="1"/>
          <p:nvPr/>
        </p:nvSpPr>
        <p:spPr>
          <a:xfrm>
            <a:off x="5674798" y="1419900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31°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9" name="Google Shape;879;p74"/>
          <p:cNvSpPr txBox="1"/>
          <p:nvPr/>
        </p:nvSpPr>
        <p:spPr>
          <a:xfrm>
            <a:off x="4541471" y="2001095"/>
            <a:ext cx="93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59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°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0" name="Google Shape;880;p74"/>
          <p:cNvSpPr txBox="1"/>
          <p:nvPr/>
        </p:nvSpPr>
        <p:spPr>
          <a:xfrm>
            <a:off x="3331553" y="3064800"/>
            <a:ext cx="93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59°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1" name="Google Shape;881;p74"/>
          <p:cNvSpPr txBox="1"/>
          <p:nvPr/>
        </p:nvSpPr>
        <p:spPr>
          <a:xfrm>
            <a:off x="4923196" y="1150719"/>
            <a:ext cx="93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2" name="Google Shape;882;p74"/>
          <p:cNvSpPr txBox="1"/>
          <p:nvPr/>
        </p:nvSpPr>
        <p:spPr>
          <a:xfrm>
            <a:off x="2254872" y="2320751"/>
            <a:ext cx="93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3" name="Google Shape;883;p74"/>
          <p:cNvSpPr txBox="1"/>
          <p:nvPr/>
        </p:nvSpPr>
        <p:spPr>
          <a:xfrm>
            <a:off x="3071147" y="3386451"/>
            <a:ext cx="93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4" name="Google Shape;884;p74"/>
          <p:cNvSpPr txBox="1"/>
          <p:nvPr/>
        </p:nvSpPr>
        <p:spPr>
          <a:xfrm>
            <a:off x="3888828" y="1784419"/>
            <a:ext cx="93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5" name="Google Shape;885;p74"/>
          <p:cNvSpPr txBox="1"/>
          <p:nvPr/>
        </p:nvSpPr>
        <p:spPr>
          <a:xfrm>
            <a:off x="5198110" y="2054094"/>
            <a:ext cx="93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5.8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6" name="Google Shape;886;p74"/>
          <p:cNvSpPr txBox="1"/>
          <p:nvPr/>
        </p:nvSpPr>
        <p:spPr>
          <a:xfrm>
            <a:off x="3363635" y="2215519"/>
            <a:ext cx="93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5.8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75"/>
          <p:cNvSpPr txBox="1"/>
          <p:nvPr>
            <p:ph idx="1" type="body"/>
          </p:nvPr>
        </p:nvSpPr>
        <p:spPr>
          <a:xfrm>
            <a:off x="1901950" y="2863875"/>
            <a:ext cx="6480000" cy="46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Do you agree with Laura? Justify your answer.</a:t>
            </a:r>
            <a:endParaRPr/>
          </a:p>
        </p:txBody>
      </p:sp>
      <p:sp>
        <p:nvSpPr>
          <p:cNvPr id="892" name="Google Shape;892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Congruency</a:t>
            </a:r>
            <a:endParaRPr/>
          </a:p>
        </p:txBody>
      </p:sp>
      <p:sp>
        <p:nvSpPr>
          <p:cNvPr id="893" name="Google Shape;893;p75"/>
          <p:cNvSpPr txBox="1"/>
          <p:nvPr>
            <p:ph idx="4294967295" type="subTitle"/>
          </p:nvPr>
        </p:nvSpPr>
        <p:spPr>
          <a:xfrm>
            <a:off x="1684050" y="968175"/>
            <a:ext cx="23961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Shapes can be </a:t>
            </a:r>
            <a:r>
              <a:rPr b="1" lang="en-GB" sz="2000"/>
              <a:t>congruent </a:t>
            </a:r>
            <a:r>
              <a:rPr lang="en-GB" sz="2000"/>
              <a:t>to each other even if flipped or rotated.</a:t>
            </a:r>
            <a:endParaRPr sz="2000"/>
          </a:p>
        </p:txBody>
      </p:sp>
      <p:pic>
        <p:nvPicPr>
          <p:cNvPr id="894" name="Google Shape;894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202" y="2120552"/>
            <a:ext cx="807750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5" name="Google Shape;895;p75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 flipH="1">
            <a:off x="1394951" y="733800"/>
            <a:ext cx="2793129" cy="1880300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75"/>
          <p:cNvSpPr txBox="1"/>
          <p:nvPr/>
        </p:nvSpPr>
        <p:spPr>
          <a:xfrm>
            <a:off x="1154075" y="3280125"/>
            <a:ext cx="66111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Laura is right. Flipping and turning a shape doesn’t change the angles or lengths of the object.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“Yes, 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s the angl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es and lengths would still be the same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.”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7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Where can we put the two final vertices of the rectangle, to make it </a:t>
            </a:r>
            <a:r>
              <a:rPr b="1" lang="en-GB"/>
              <a:t>congruent </a:t>
            </a:r>
            <a:r>
              <a:rPr lang="en-GB"/>
              <a:t>to the purple </a:t>
            </a:r>
            <a:r>
              <a:rPr lang="en-GB"/>
              <a:t>rectangle?</a:t>
            </a:r>
            <a:endParaRPr/>
          </a:p>
        </p:txBody>
      </p:sp>
      <p:sp>
        <p:nvSpPr>
          <p:cNvPr id="902" name="Google Shape;902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Congruency</a:t>
            </a:r>
            <a:endParaRPr/>
          </a:p>
        </p:txBody>
      </p:sp>
      <p:pic>
        <p:nvPicPr>
          <p:cNvPr id="903" name="Google Shape;903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3575" y="1942050"/>
            <a:ext cx="5276850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6431" y="1942050"/>
            <a:ext cx="5286375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45969" y="1939169"/>
            <a:ext cx="5267325" cy="240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77"/>
          <p:cNvSpPr txBox="1"/>
          <p:nvPr>
            <p:ph idx="1" type="body"/>
          </p:nvPr>
        </p:nvSpPr>
        <p:spPr>
          <a:xfrm>
            <a:off x="324000" y="759300"/>
            <a:ext cx="8237700" cy="39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</a:t>
            </a:r>
            <a:r>
              <a:rPr lang="en-GB"/>
              <a:t>Which of these triangles are </a:t>
            </a:r>
            <a:r>
              <a:rPr b="1" lang="en-GB"/>
              <a:t>congruent</a:t>
            </a:r>
            <a:r>
              <a:rPr lang="en-GB"/>
              <a:t>?</a:t>
            </a:r>
            <a:endParaRPr/>
          </a:p>
        </p:txBody>
      </p:sp>
      <p:sp>
        <p:nvSpPr>
          <p:cNvPr id="911" name="Google Shape;911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Congruency</a:t>
            </a:r>
            <a:endParaRPr/>
          </a:p>
        </p:txBody>
      </p:sp>
      <p:grpSp>
        <p:nvGrpSpPr>
          <p:cNvPr id="912" name="Google Shape;912;p77"/>
          <p:cNvGrpSpPr/>
          <p:nvPr/>
        </p:nvGrpSpPr>
        <p:grpSpPr>
          <a:xfrm>
            <a:off x="1336350" y="1233675"/>
            <a:ext cx="3547700" cy="3547700"/>
            <a:chOff x="1336350" y="1233675"/>
            <a:chExt cx="3547700" cy="3547700"/>
          </a:xfrm>
        </p:grpSpPr>
        <p:pic>
          <p:nvPicPr>
            <p:cNvPr id="913" name="Google Shape;913;p7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336350" y="1233675"/>
              <a:ext cx="3547700" cy="3547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4" name="Google Shape;914;p77"/>
            <p:cNvSpPr txBox="1"/>
            <p:nvPr/>
          </p:nvSpPr>
          <p:spPr>
            <a:xfrm>
              <a:off x="1684800" y="1883700"/>
              <a:ext cx="313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5" name="Google Shape;915;p77"/>
            <p:cNvSpPr txBox="1"/>
            <p:nvPr/>
          </p:nvSpPr>
          <p:spPr>
            <a:xfrm>
              <a:off x="2401900" y="2295682"/>
              <a:ext cx="313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6" name="Google Shape;916;p77"/>
            <p:cNvSpPr txBox="1"/>
            <p:nvPr/>
          </p:nvSpPr>
          <p:spPr>
            <a:xfrm>
              <a:off x="3431787" y="1532313"/>
              <a:ext cx="313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7" name="Google Shape;917;p77"/>
            <p:cNvSpPr txBox="1"/>
            <p:nvPr/>
          </p:nvSpPr>
          <p:spPr>
            <a:xfrm>
              <a:off x="2103262" y="2951494"/>
              <a:ext cx="313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8" name="Google Shape;918;p77"/>
            <p:cNvSpPr txBox="1"/>
            <p:nvPr/>
          </p:nvSpPr>
          <p:spPr>
            <a:xfrm>
              <a:off x="2730312" y="2951494"/>
              <a:ext cx="313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9" name="Google Shape;919;p77"/>
            <p:cNvSpPr txBox="1"/>
            <p:nvPr/>
          </p:nvSpPr>
          <p:spPr>
            <a:xfrm>
              <a:off x="4231680" y="2935988"/>
              <a:ext cx="313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0" name="Google Shape;920;p77"/>
            <p:cNvSpPr txBox="1"/>
            <p:nvPr/>
          </p:nvSpPr>
          <p:spPr>
            <a:xfrm>
              <a:off x="3292805" y="3378513"/>
              <a:ext cx="313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Congruency</a:t>
            </a:r>
            <a:endParaRPr/>
          </a:p>
        </p:txBody>
      </p:sp>
      <p:sp>
        <p:nvSpPr>
          <p:cNvPr id="926" name="Google Shape;926;p78"/>
          <p:cNvSpPr txBox="1"/>
          <p:nvPr/>
        </p:nvSpPr>
        <p:spPr>
          <a:xfrm>
            <a:off x="4558875" y="1049600"/>
            <a:ext cx="546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7" name="Google Shape;927;p78"/>
          <p:cNvSpPr txBox="1"/>
          <p:nvPr/>
        </p:nvSpPr>
        <p:spPr>
          <a:xfrm>
            <a:off x="666682" y="2954600"/>
            <a:ext cx="546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28" name="Google Shape;928;p78"/>
          <p:cNvGrpSpPr/>
          <p:nvPr/>
        </p:nvGrpSpPr>
        <p:grpSpPr>
          <a:xfrm>
            <a:off x="1220850" y="3082705"/>
            <a:ext cx="6460733" cy="1737695"/>
            <a:chOff x="1220850" y="3082705"/>
            <a:chExt cx="6460733" cy="1737695"/>
          </a:xfrm>
        </p:grpSpPr>
        <p:pic>
          <p:nvPicPr>
            <p:cNvPr id="929" name="Google Shape;929;p7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20850" y="3128600"/>
              <a:ext cx="6460733" cy="1691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0" name="Google Shape;930;p78"/>
            <p:cNvSpPr txBox="1"/>
            <p:nvPr/>
          </p:nvSpPr>
          <p:spPr>
            <a:xfrm>
              <a:off x="3188750" y="3099906"/>
              <a:ext cx="680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1" name="Google Shape;931;p78"/>
            <p:cNvSpPr txBox="1"/>
            <p:nvPr/>
          </p:nvSpPr>
          <p:spPr>
            <a:xfrm>
              <a:off x="6359969" y="3082705"/>
              <a:ext cx="680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2" name="Google Shape;932;p78"/>
            <p:cNvSpPr txBox="1"/>
            <p:nvPr/>
          </p:nvSpPr>
          <p:spPr>
            <a:xfrm>
              <a:off x="6710802" y="3868893"/>
              <a:ext cx="938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4.2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3" name="Google Shape;933;p78"/>
            <p:cNvSpPr txBox="1"/>
            <p:nvPr/>
          </p:nvSpPr>
          <p:spPr>
            <a:xfrm>
              <a:off x="3523277" y="3830838"/>
              <a:ext cx="938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4.2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4" name="Google Shape;934;p78"/>
            <p:cNvSpPr txBox="1"/>
            <p:nvPr/>
          </p:nvSpPr>
          <p:spPr>
            <a:xfrm>
              <a:off x="1832827" y="4277325"/>
              <a:ext cx="938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5.4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5" name="Google Shape;935;p78"/>
            <p:cNvSpPr txBox="1"/>
            <p:nvPr/>
          </p:nvSpPr>
          <p:spPr>
            <a:xfrm>
              <a:off x="4849352" y="3437437"/>
              <a:ext cx="938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5.4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6" name="Google Shape;936;p78"/>
            <p:cNvSpPr txBox="1"/>
            <p:nvPr/>
          </p:nvSpPr>
          <p:spPr>
            <a:xfrm>
              <a:off x="1716652" y="3437550"/>
              <a:ext cx="938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5.5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7" name="Google Shape;937;p78"/>
            <p:cNvSpPr txBox="1"/>
            <p:nvPr/>
          </p:nvSpPr>
          <p:spPr>
            <a:xfrm>
              <a:off x="5070102" y="4277212"/>
              <a:ext cx="938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5.5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8" name="Google Shape;938;p78"/>
            <p:cNvSpPr txBox="1"/>
            <p:nvPr/>
          </p:nvSpPr>
          <p:spPr>
            <a:xfrm>
              <a:off x="2770921" y="3605500"/>
              <a:ext cx="938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152°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9" name="Google Shape;939;p78"/>
            <p:cNvSpPr txBox="1"/>
            <p:nvPr/>
          </p:nvSpPr>
          <p:spPr>
            <a:xfrm>
              <a:off x="5969796" y="3597744"/>
              <a:ext cx="938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152°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40" name="Google Shape;940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2250" y="1235831"/>
            <a:ext cx="2836695" cy="162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1" name="Google Shape;941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51600" y="1235825"/>
            <a:ext cx="3068325" cy="167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78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2"/>
            </a:pPr>
            <a:r>
              <a:rPr lang="en-GB"/>
              <a:t>Are the two shapes </a:t>
            </a:r>
            <a:r>
              <a:rPr b="1" lang="en-GB"/>
              <a:t>congruent</a:t>
            </a:r>
            <a:r>
              <a:rPr lang="en-GB"/>
              <a:t> or not? If not, why not?</a:t>
            </a:r>
            <a:endParaRPr/>
          </a:p>
        </p:txBody>
      </p:sp>
      <p:sp>
        <p:nvSpPr>
          <p:cNvPr id="943" name="Google Shape;943;p78"/>
          <p:cNvSpPr txBox="1"/>
          <p:nvPr>
            <p:ph idx="1" type="body"/>
          </p:nvPr>
        </p:nvSpPr>
        <p:spPr>
          <a:xfrm>
            <a:off x="736325" y="1161500"/>
            <a:ext cx="346800" cy="41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7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3"/>
            </a:pPr>
            <a:r>
              <a:rPr lang="en-GB"/>
              <a:t>Mark where you could put the third </a:t>
            </a:r>
            <a:r>
              <a:rPr lang="en-GB"/>
              <a:t>vertex</a:t>
            </a:r>
            <a:r>
              <a:rPr lang="en-GB"/>
              <a:t> to make the </a:t>
            </a:r>
            <a:r>
              <a:rPr lang="en-GB"/>
              <a:t>two</a:t>
            </a:r>
            <a:r>
              <a:rPr lang="en-GB"/>
              <a:t> triangles </a:t>
            </a:r>
            <a:r>
              <a:rPr b="1" lang="en-GB"/>
              <a:t>congruent</a:t>
            </a:r>
            <a:r>
              <a:rPr lang="en-GB"/>
              <a:t>. One edge has been given.</a:t>
            </a:r>
            <a:endParaRPr/>
          </a:p>
          <a:p>
            <a:pPr indent="0" lvl="0" marL="9144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Congruency</a:t>
            </a:r>
            <a:endParaRPr/>
          </a:p>
        </p:txBody>
      </p:sp>
      <p:pic>
        <p:nvPicPr>
          <p:cNvPr id="950" name="Google Shape;950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3555" y="1706875"/>
            <a:ext cx="4533949" cy="2840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8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</a:t>
            </a:r>
            <a:r>
              <a:rPr lang="en-GB"/>
              <a:t>Which of these triangles are </a:t>
            </a:r>
            <a:r>
              <a:rPr b="1" lang="en-GB"/>
              <a:t>congruent</a:t>
            </a:r>
            <a:r>
              <a:rPr lang="en-GB"/>
              <a:t>?</a:t>
            </a:r>
            <a:endParaRPr/>
          </a:p>
        </p:txBody>
      </p:sp>
      <p:sp>
        <p:nvSpPr>
          <p:cNvPr id="956" name="Google Shape;956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Congruency</a:t>
            </a:r>
            <a:endParaRPr/>
          </a:p>
        </p:txBody>
      </p:sp>
      <p:grpSp>
        <p:nvGrpSpPr>
          <p:cNvPr id="957" name="Google Shape;957;p80"/>
          <p:cNvGrpSpPr/>
          <p:nvPr/>
        </p:nvGrpSpPr>
        <p:grpSpPr>
          <a:xfrm>
            <a:off x="1336350" y="1233675"/>
            <a:ext cx="3547700" cy="3547700"/>
            <a:chOff x="1336350" y="1233675"/>
            <a:chExt cx="3547700" cy="3547700"/>
          </a:xfrm>
        </p:grpSpPr>
        <p:pic>
          <p:nvPicPr>
            <p:cNvPr id="958" name="Google Shape;958;p8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336350" y="1233675"/>
              <a:ext cx="3547700" cy="3547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9" name="Google Shape;959;p80"/>
            <p:cNvSpPr txBox="1"/>
            <p:nvPr/>
          </p:nvSpPr>
          <p:spPr>
            <a:xfrm>
              <a:off x="1684800" y="1883700"/>
              <a:ext cx="313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0" name="Google Shape;960;p80"/>
            <p:cNvSpPr txBox="1"/>
            <p:nvPr/>
          </p:nvSpPr>
          <p:spPr>
            <a:xfrm>
              <a:off x="2401900" y="2295682"/>
              <a:ext cx="313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1" name="Google Shape;961;p80"/>
            <p:cNvSpPr txBox="1"/>
            <p:nvPr/>
          </p:nvSpPr>
          <p:spPr>
            <a:xfrm>
              <a:off x="3431787" y="1532313"/>
              <a:ext cx="313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2" name="Google Shape;962;p80"/>
            <p:cNvSpPr txBox="1"/>
            <p:nvPr/>
          </p:nvSpPr>
          <p:spPr>
            <a:xfrm>
              <a:off x="2103262" y="2951494"/>
              <a:ext cx="313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3" name="Google Shape;963;p80"/>
            <p:cNvSpPr txBox="1"/>
            <p:nvPr/>
          </p:nvSpPr>
          <p:spPr>
            <a:xfrm>
              <a:off x="2730312" y="2951494"/>
              <a:ext cx="313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4" name="Google Shape;964;p80"/>
            <p:cNvSpPr txBox="1"/>
            <p:nvPr/>
          </p:nvSpPr>
          <p:spPr>
            <a:xfrm>
              <a:off x="4231680" y="2935988"/>
              <a:ext cx="313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5" name="Google Shape;965;p80"/>
            <p:cNvSpPr txBox="1"/>
            <p:nvPr/>
          </p:nvSpPr>
          <p:spPr>
            <a:xfrm>
              <a:off x="3292805" y="3378513"/>
              <a:ext cx="313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66" name="Google Shape;966;p80"/>
          <p:cNvSpPr txBox="1"/>
          <p:nvPr/>
        </p:nvSpPr>
        <p:spPr>
          <a:xfrm>
            <a:off x="5142475" y="1620000"/>
            <a:ext cx="3724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A, B, E and F are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congruent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to each other.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81"/>
          <p:cNvSpPr txBox="1"/>
          <p:nvPr>
            <p:ph idx="1" type="body"/>
          </p:nvPr>
        </p:nvSpPr>
        <p:spPr>
          <a:xfrm>
            <a:off x="324000" y="759300"/>
            <a:ext cx="8237700" cy="39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</a:t>
            </a:r>
            <a:r>
              <a:rPr lang="en-GB"/>
              <a:t>Are the two shapes </a:t>
            </a:r>
            <a:r>
              <a:rPr b="1" lang="en-GB"/>
              <a:t>congruent</a:t>
            </a:r>
            <a:r>
              <a:rPr lang="en-GB"/>
              <a:t> or not? If not, why not?</a:t>
            </a:r>
            <a:endParaRPr/>
          </a:p>
        </p:txBody>
      </p:sp>
      <p:sp>
        <p:nvSpPr>
          <p:cNvPr id="972" name="Google Shape;972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Congruency</a:t>
            </a:r>
            <a:endParaRPr/>
          </a:p>
        </p:txBody>
      </p:sp>
      <p:sp>
        <p:nvSpPr>
          <p:cNvPr id="973" name="Google Shape;973;p81"/>
          <p:cNvSpPr txBox="1"/>
          <p:nvPr/>
        </p:nvSpPr>
        <p:spPr>
          <a:xfrm>
            <a:off x="4550700" y="1195122"/>
            <a:ext cx="546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4" name="Google Shape;974;p81"/>
          <p:cNvSpPr txBox="1"/>
          <p:nvPr/>
        </p:nvSpPr>
        <p:spPr>
          <a:xfrm>
            <a:off x="1312800" y="2816375"/>
            <a:ext cx="439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Congruent</a:t>
            </a:r>
            <a:endParaRPr b="1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5" name="Google Shape;975;p81"/>
          <p:cNvSpPr txBox="1"/>
          <p:nvPr/>
        </p:nvSpPr>
        <p:spPr>
          <a:xfrm>
            <a:off x="5151000" y="2839800"/>
            <a:ext cx="3462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Not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congruent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as the sizes are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different.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76" name="Google Shape;976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2250" y="1235831"/>
            <a:ext cx="2836695" cy="162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7" name="Google Shape;977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1600" y="1235825"/>
            <a:ext cx="3068325" cy="167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78" name="Google Shape;978;p81"/>
          <p:cNvSpPr txBox="1"/>
          <p:nvPr>
            <p:ph idx="1" type="body"/>
          </p:nvPr>
        </p:nvSpPr>
        <p:spPr>
          <a:xfrm>
            <a:off x="736325" y="1161500"/>
            <a:ext cx="346800" cy="41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oogle Shape;983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6150" y="1295937"/>
            <a:ext cx="6027699" cy="1530125"/>
          </a:xfrm>
          <a:prstGeom prst="rect">
            <a:avLst/>
          </a:prstGeom>
          <a:noFill/>
          <a:ln>
            <a:noFill/>
          </a:ln>
        </p:spPr>
      </p:pic>
      <p:sp>
        <p:nvSpPr>
          <p:cNvPr id="984" name="Google Shape;984;p82"/>
          <p:cNvSpPr txBox="1"/>
          <p:nvPr>
            <p:ph idx="1" type="body"/>
          </p:nvPr>
        </p:nvSpPr>
        <p:spPr>
          <a:xfrm>
            <a:off x="324000" y="759300"/>
            <a:ext cx="82377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2"/>
            </a:pPr>
            <a:r>
              <a:rPr lang="en-GB"/>
              <a:t>Are the two shapes </a:t>
            </a:r>
            <a:r>
              <a:rPr b="1" lang="en-GB"/>
              <a:t>congruent</a:t>
            </a:r>
            <a:r>
              <a:rPr lang="en-GB"/>
              <a:t> or not? If not, why not?</a:t>
            </a:r>
            <a:endParaRPr/>
          </a:p>
        </p:txBody>
      </p:sp>
      <p:sp>
        <p:nvSpPr>
          <p:cNvPr id="985" name="Google Shape;985;p8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Congruency</a:t>
            </a:r>
            <a:endParaRPr/>
          </a:p>
        </p:txBody>
      </p:sp>
      <p:sp>
        <p:nvSpPr>
          <p:cNvPr id="986" name="Google Shape;986;p82"/>
          <p:cNvSpPr txBox="1"/>
          <p:nvPr/>
        </p:nvSpPr>
        <p:spPr>
          <a:xfrm>
            <a:off x="1121800" y="3106775"/>
            <a:ext cx="6532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These shapes are 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ot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congruent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as the edges with the same length are in different places.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7" name="Google Shape;987;p82"/>
          <p:cNvSpPr txBox="1"/>
          <p:nvPr/>
        </p:nvSpPr>
        <p:spPr>
          <a:xfrm>
            <a:off x="3264950" y="1271106"/>
            <a:ext cx="68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8" name="Google Shape;988;p82"/>
          <p:cNvSpPr txBox="1"/>
          <p:nvPr/>
        </p:nvSpPr>
        <p:spPr>
          <a:xfrm>
            <a:off x="6436169" y="1253905"/>
            <a:ext cx="68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9" name="Google Shape;989;p82"/>
          <p:cNvSpPr txBox="1"/>
          <p:nvPr/>
        </p:nvSpPr>
        <p:spPr>
          <a:xfrm>
            <a:off x="6787002" y="2040093"/>
            <a:ext cx="93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4.2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0" name="Google Shape;990;p82"/>
          <p:cNvSpPr txBox="1"/>
          <p:nvPr/>
        </p:nvSpPr>
        <p:spPr>
          <a:xfrm>
            <a:off x="3599477" y="2002038"/>
            <a:ext cx="93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4.2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1" name="Google Shape;991;p82"/>
          <p:cNvSpPr txBox="1"/>
          <p:nvPr/>
        </p:nvSpPr>
        <p:spPr>
          <a:xfrm>
            <a:off x="1909027" y="2448525"/>
            <a:ext cx="93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5.4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2" name="Google Shape;992;p82"/>
          <p:cNvSpPr txBox="1"/>
          <p:nvPr/>
        </p:nvSpPr>
        <p:spPr>
          <a:xfrm>
            <a:off x="4925552" y="1608637"/>
            <a:ext cx="93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5.4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3" name="Google Shape;993;p82"/>
          <p:cNvSpPr txBox="1"/>
          <p:nvPr/>
        </p:nvSpPr>
        <p:spPr>
          <a:xfrm>
            <a:off x="1792852" y="1608750"/>
            <a:ext cx="93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5.5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4" name="Google Shape;994;p82"/>
          <p:cNvSpPr txBox="1"/>
          <p:nvPr/>
        </p:nvSpPr>
        <p:spPr>
          <a:xfrm>
            <a:off x="5146302" y="2448412"/>
            <a:ext cx="93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5.5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5" name="Google Shape;995;p82"/>
          <p:cNvSpPr txBox="1"/>
          <p:nvPr/>
        </p:nvSpPr>
        <p:spPr>
          <a:xfrm>
            <a:off x="2847121" y="1776700"/>
            <a:ext cx="93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152°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6" name="Google Shape;996;p82"/>
          <p:cNvSpPr txBox="1"/>
          <p:nvPr/>
        </p:nvSpPr>
        <p:spPr>
          <a:xfrm>
            <a:off x="6045996" y="1768944"/>
            <a:ext cx="93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152°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7" name="Google Shape;997;p82"/>
          <p:cNvSpPr txBox="1"/>
          <p:nvPr>
            <p:ph idx="1" type="body"/>
          </p:nvPr>
        </p:nvSpPr>
        <p:spPr>
          <a:xfrm>
            <a:off x="736325" y="1161500"/>
            <a:ext cx="346800" cy="41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r>
              <a:rPr lang="en-GB"/>
              <a:t>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8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3"/>
            </a:pPr>
            <a:r>
              <a:rPr lang="en-GB"/>
              <a:t>Mark where you could put the third vertex to make the two triangles </a:t>
            </a:r>
            <a:r>
              <a:rPr b="1" lang="en-GB"/>
              <a:t>congruent</a:t>
            </a:r>
            <a:r>
              <a:rPr lang="en-GB"/>
              <a:t>. One edge has been given.</a:t>
            </a:r>
            <a:endParaRPr/>
          </a:p>
          <a:p>
            <a:pPr indent="0" lvl="0" marL="9144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Congruency</a:t>
            </a:r>
            <a:endParaRPr/>
          </a:p>
        </p:txBody>
      </p:sp>
      <p:sp>
        <p:nvSpPr>
          <p:cNvPr id="1004" name="Google Shape;1004;p83"/>
          <p:cNvSpPr txBox="1"/>
          <p:nvPr/>
        </p:nvSpPr>
        <p:spPr>
          <a:xfrm>
            <a:off x="6875100" y="2358075"/>
            <a:ext cx="2091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are four places you could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have chosen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05" name="Google Shape;1005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5875" y="1706875"/>
            <a:ext cx="4533949" cy="283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84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Congruency</a:t>
            </a:r>
            <a:endParaRPr/>
          </a:p>
        </p:txBody>
      </p:sp>
      <p:sp>
        <p:nvSpPr>
          <p:cNvPr id="1011" name="Google Shape;1011;p84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changes</a:t>
            </a:r>
            <a:endParaRPr/>
          </a:p>
        </p:txBody>
      </p:sp>
      <p:pic>
        <p:nvPicPr>
          <p:cNvPr id="1012" name="Google Shape;1012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086" y="2990908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3" name="Google Shape;1013;p84"/>
          <p:cNvSpPr txBox="1"/>
          <p:nvPr>
            <p:ph idx="3" type="title"/>
          </p:nvPr>
        </p:nvSpPr>
        <p:spPr>
          <a:xfrm>
            <a:off x="324000" y="852000"/>
            <a:ext cx="5741400" cy="28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basic transformations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changes</a:t>
            </a:r>
            <a:endParaRPr/>
          </a:p>
        </p:txBody>
      </p:sp>
      <p:pic>
        <p:nvPicPr>
          <p:cNvPr id="1019" name="Google Shape;1019;p85"/>
          <p:cNvPicPr preferRelativeResize="0"/>
          <p:nvPr/>
        </p:nvPicPr>
        <p:blipFill rotWithShape="1">
          <a:blip r:embed="rId3">
            <a:alphaModFix/>
          </a:blip>
          <a:srcRect b="28288" l="45109" r="39833" t="31419"/>
          <a:stretch/>
        </p:blipFill>
        <p:spPr>
          <a:xfrm>
            <a:off x="2183751" y="1944488"/>
            <a:ext cx="942474" cy="143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0" name="Google Shape;1020;p85"/>
          <p:cNvPicPr preferRelativeResize="0"/>
          <p:nvPr/>
        </p:nvPicPr>
        <p:blipFill rotWithShape="1">
          <a:blip r:embed="rId3">
            <a:alphaModFix/>
          </a:blip>
          <a:srcRect b="7067" l="67302" r="11119" t="70644"/>
          <a:stretch/>
        </p:blipFill>
        <p:spPr>
          <a:xfrm>
            <a:off x="3473251" y="3769850"/>
            <a:ext cx="1350748" cy="79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1" name="Google Shape;1021;p85"/>
          <p:cNvPicPr preferRelativeResize="0"/>
          <p:nvPr/>
        </p:nvPicPr>
        <p:blipFill rotWithShape="1">
          <a:blip r:embed="rId3">
            <a:alphaModFix/>
          </a:blip>
          <a:srcRect b="4280" l="16226" r="69997" t="54484"/>
          <a:stretch/>
        </p:blipFill>
        <p:spPr>
          <a:xfrm>
            <a:off x="566125" y="3178951"/>
            <a:ext cx="862351" cy="1468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2" name="Google Shape;1022;p85"/>
          <p:cNvPicPr preferRelativeResize="0"/>
          <p:nvPr/>
        </p:nvPicPr>
        <p:blipFill rotWithShape="1">
          <a:blip r:embed="rId3">
            <a:alphaModFix/>
          </a:blip>
          <a:srcRect b="64958" l="58532" r="31958" t="9795"/>
          <a:stretch/>
        </p:blipFill>
        <p:spPr>
          <a:xfrm>
            <a:off x="3721249" y="1126525"/>
            <a:ext cx="595251" cy="899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3" name="Google Shape;1023;p85"/>
          <p:cNvPicPr preferRelativeResize="0"/>
          <p:nvPr/>
        </p:nvPicPr>
        <p:blipFill rotWithShape="1">
          <a:blip r:embed="rId3">
            <a:alphaModFix/>
          </a:blip>
          <a:srcRect b="59125" l="15988" r="70235" t="3583"/>
          <a:stretch/>
        </p:blipFill>
        <p:spPr>
          <a:xfrm>
            <a:off x="566124" y="912100"/>
            <a:ext cx="862351" cy="1327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4" name="Google Shape;1024;p85"/>
          <p:cNvCxnSpPr/>
          <p:nvPr/>
        </p:nvCxnSpPr>
        <p:spPr>
          <a:xfrm flipH="1" rot="10800000">
            <a:off x="3229450" y="1747650"/>
            <a:ext cx="328200" cy="511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25" name="Google Shape;1025;p85"/>
          <p:cNvCxnSpPr/>
          <p:nvPr/>
        </p:nvCxnSpPr>
        <p:spPr>
          <a:xfrm>
            <a:off x="3126225" y="3410950"/>
            <a:ext cx="446700" cy="206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26" name="Google Shape;1026;p85"/>
          <p:cNvCxnSpPr/>
          <p:nvPr/>
        </p:nvCxnSpPr>
        <p:spPr>
          <a:xfrm flipH="1">
            <a:off x="1565825" y="3189875"/>
            <a:ext cx="610500" cy="381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27" name="Google Shape;1027;p85"/>
          <p:cNvCxnSpPr/>
          <p:nvPr/>
        </p:nvCxnSpPr>
        <p:spPr>
          <a:xfrm rot="10800000">
            <a:off x="1543025" y="2083375"/>
            <a:ext cx="633300" cy="122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28" name="Google Shape;1028;p85"/>
          <p:cNvSpPr txBox="1"/>
          <p:nvPr/>
        </p:nvSpPr>
        <p:spPr>
          <a:xfrm>
            <a:off x="4998500" y="816550"/>
            <a:ext cx="41592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Triangle A has been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transformed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four different ways.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What does it mean to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transform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?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85"/>
          <p:cNvSpPr txBox="1"/>
          <p:nvPr/>
        </p:nvSpPr>
        <p:spPr>
          <a:xfrm>
            <a:off x="2396225" y="2778300"/>
            <a:ext cx="32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</a:t>
            </a:r>
            <a:r>
              <a:rPr b="1" lang="en-GB"/>
              <a:t>transformations</a:t>
            </a:r>
            <a:r>
              <a:rPr lang="en-GB"/>
              <a:t> are applied to a figure, we must consider which is the </a:t>
            </a:r>
            <a:r>
              <a:rPr b="1" lang="en-GB"/>
              <a:t>object </a:t>
            </a:r>
            <a:r>
              <a:rPr lang="en-GB"/>
              <a:t>and which is the </a:t>
            </a:r>
            <a:r>
              <a:rPr b="1" lang="en-GB"/>
              <a:t>image. 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When you look at </a:t>
            </a:r>
            <a:r>
              <a:rPr lang="en-GB"/>
              <a:t>yourself</a:t>
            </a:r>
            <a:r>
              <a:rPr lang="en-GB"/>
              <a:t> in the mirror, you are the </a:t>
            </a:r>
            <a:r>
              <a:rPr b="1" lang="en-GB"/>
              <a:t>object</a:t>
            </a:r>
            <a:r>
              <a:rPr lang="en-GB"/>
              <a:t>, your reflection is the </a:t>
            </a:r>
            <a:r>
              <a:rPr b="1" lang="en-GB"/>
              <a:t>image </a:t>
            </a:r>
            <a:r>
              <a:rPr lang="en-GB"/>
              <a:t>of yourself.</a:t>
            </a:r>
            <a:endParaRPr/>
          </a:p>
        </p:txBody>
      </p:sp>
      <p:sp>
        <p:nvSpPr>
          <p:cNvPr id="1035" name="Google Shape;1035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changes</a:t>
            </a:r>
            <a:endParaRPr/>
          </a:p>
        </p:txBody>
      </p:sp>
      <p:pic>
        <p:nvPicPr>
          <p:cNvPr id="1036" name="Google Shape;1036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4374" y="2571750"/>
            <a:ext cx="3854938" cy="1920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7" name="Google Shape;1037;p86"/>
          <p:cNvSpPr txBox="1"/>
          <p:nvPr/>
        </p:nvSpPr>
        <p:spPr>
          <a:xfrm>
            <a:off x="1005950" y="3239996"/>
            <a:ext cx="98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object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86"/>
          <p:cNvSpPr txBox="1"/>
          <p:nvPr/>
        </p:nvSpPr>
        <p:spPr>
          <a:xfrm>
            <a:off x="7068050" y="3301275"/>
            <a:ext cx="98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image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9" name="Google Shape;1039;p86"/>
          <p:cNvCxnSpPr/>
          <p:nvPr/>
        </p:nvCxnSpPr>
        <p:spPr>
          <a:xfrm flipH="1" rot="10800000">
            <a:off x="1989039" y="3479910"/>
            <a:ext cx="989100" cy="21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0" name="Google Shape;1040;p86"/>
          <p:cNvCxnSpPr/>
          <p:nvPr/>
        </p:nvCxnSpPr>
        <p:spPr>
          <a:xfrm flipH="1" rot="10800000">
            <a:off x="6058235" y="3558033"/>
            <a:ext cx="956400" cy="19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5" name="Google Shape;1045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8251" y="1218826"/>
            <a:ext cx="2793716" cy="2567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changes</a:t>
            </a:r>
            <a:endParaRPr/>
          </a:p>
        </p:txBody>
      </p:sp>
      <p:sp>
        <p:nvSpPr>
          <p:cNvPr id="1047" name="Google Shape;1047;p87"/>
          <p:cNvSpPr txBox="1"/>
          <p:nvPr/>
        </p:nvSpPr>
        <p:spPr>
          <a:xfrm>
            <a:off x="23100" y="1545513"/>
            <a:ext cx="90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object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8" name="Google Shape;1048;p87"/>
          <p:cNvSpPr txBox="1"/>
          <p:nvPr/>
        </p:nvSpPr>
        <p:spPr>
          <a:xfrm>
            <a:off x="4036047" y="1545525"/>
            <a:ext cx="122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image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49" name="Google Shape;1049;p87"/>
          <p:cNvCxnSpPr/>
          <p:nvPr/>
        </p:nvCxnSpPr>
        <p:spPr>
          <a:xfrm>
            <a:off x="926404" y="1828220"/>
            <a:ext cx="535500" cy="144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0" name="Google Shape;1050;p87"/>
          <p:cNvCxnSpPr/>
          <p:nvPr/>
        </p:nvCxnSpPr>
        <p:spPr>
          <a:xfrm flipH="1" rot="10800000">
            <a:off x="3560023" y="1732110"/>
            <a:ext cx="476100" cy="10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51" name="Google Shape;1051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0095" y="1619675"/>
            <a:ext cx="1802620" cy="2399578"/>
          </a:xfrm>
          <a:prstGeom prst="rect">
            <a:avLst/>
          </a:prstGeom>
          <a:noFill/>
          <a:ln>
            <a:noFill/>
          </a:ln>
        </p:spPr>
      </p:pic>
      <p:sp>
        <p:nvSpPr>
          <p:cNvPr id="1052" name="Google Shape;1052;p87"/>
          <p:cNvSpPr txBox="1"/>
          <p:nvPr/>
        </p:nvSpPr>
        <p:spPr>
          <a:xfrm>
            <a:off x="7757775" y="1929150"/>
            <a:ext cx="106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object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87"/>
          <p:cNvSpPr txBox="1"/>
          <p:nvPr/>
        </p:nvSpPr>
        <p:spPr>
          <a:xfrm>
            <a:off x="4585350" y="2179325"/>
            <a:ext cx="1229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mage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of point 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87"/>
          <p:cNvSpPr txBox="1"/>
          <p:nvPr/>
        </p:nvSpPr>
        <p:spPr>
          <a:xfrm>
            <a:off x="7085683" y="1546803"/>
            <a:ext cx="21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87"/>
          <p:cNvSpPr txBox="1"/>
          <p:nvPr/>
        </p:nvSpPr>
        <p:spPr>
          <a:xfrm>
            <a:off x="6368901" y="2613775"/>
            <a:ext cx="43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56" name="Google Shape;1056;p87"/>
          <p:cNvCxnSpPr/>
          <p:nvPr/>
        </p:nvCxnSpPr>
        <p:spPr>
          <a:xfrm>
            <a:off x="5815050" y="2396225"/>
            <a:ext cx="610500" cy="305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7" name="Google Shape;1057;p87"/>
          <p:cNvCxnSpPr/>
          <p:nvPr/>
        </p:nvCxnSpPr>
        <p:spPr>
          <a:xfrm flipH="1" rot="10800000">
            <a:off x="7327279" y="2083551"/>
            <a:ext cx="430500" cy="264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8" name="Google Shape;1058;p87"/>
          <p:cNvSpPr txBox="1"/>
          <p:nvPr/>
        </p:nvSpPr>
        <p:spPr>
          <a:xfrm>
            <a:off x="290125" y="702075"/>
            <a:ext cx="8150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Here are some more examples of an </a:t>
            </a:r>
            <a:r>
              <a:rPr b="1" lang="en-GB" sz="2200">
                <a:latin typeface="Lexend"/>
                <a:ea typeface="Lexend"/>
                <a:cs typeface="Lexend"/>
                <a:sym typeface="Lexend"/>
              </a:rPr>
              <a:t>object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b="1" lang="en-GB" sz="2200">
                <a:latin typeface="Lexend"/>
                <a:ea typeface="Lexend"/>
                <a:cs typeface="Lexend"/>
                <a:sym typeface="Lexend"/>
              </a:rPr>
              <a:t>image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59" name="Google Shape;1059;p87"/>
          <p:cNvCxnSpPr/>
          <p:nvPr/>
        </p:nvCxnSpPr>
        <p:spPr>
          <a:xfrm flipH="1" rot="10800000">
            <a:off x="5853200" y="3578600"/>
            <a:ext cx="572400" cy="198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0" name="Google Shape;1060;p87"/>
          <p:cNvSpPr txBox="1"/>
          <p:nvPr/>
        </p:nvSpPr>
        <p:spPr>
          <a:xfrm>
            <a:off x="4967247" y="3549150"/>
            <a:ext cx="122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image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88"/>
          <p:cNvSpPr txBox="1"/>
          <p:nvPr>
            <p:ph idx="4294967295"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/>
              <a:t>Complete the missing word and label.</a:t>
            </a:r>
            <a:endParaRPr b="0"/>
          </a:p>
        </p:txBody>
      </p:sp>
      <p:sp>
        <p:nvSpPr>
          <p:cNvPr id="1066" name="Google Shape;1066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changes</a:t>
            </a:r>
            <a:endParaRPr/>
          </a:p>
        </p:txBody>
      </p:sp>
      <p:pic>
        <p:nvPicPr>
          <p:cNvPr id="1067" name="Google Shape;1067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4425" y="1162038"/>
            <a:ext cx="4240756" cy="3600337"/>
          </a:xfrm>
          <a:prstGeom prst="rect">
            <a:avLst/>
          </a:prstGeom>
          <a:noFill/>
          <a:ln>
            <a:noFill/>
          </a:ln>
        </p:spPr>
      </p:pic>
      <p:sp>
        <p:nvSpPr>
          <p:cNvPr id="1068" name="Google Shape;1068;p88"/>
          <p:cNvSpPr txBox="1"/>
          <p:nvPr/>
        </p:nvSpPr>
        <p:spPr>
          <a:xfrm>
            <a:off x="3159750" y="1976500"/>
            <a:ext cx="41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9" name="Google Shape;1069;p88"/>
          <p:cNvSpPr txBox="1"/>
          <p:nvPr/>
        </p:nvSpPr>
        <p:spPr>
          <a:xfrm>
            <a:off x="2949900" y="4227500"/>
            <a:ext cx="41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88"/>
          <p:cNvSpPr txBox="1"/>
          <p:nvPr/>
        </p:nvSpPr>
        <p:spPr>
          <a:xfrm>
            <a:off x="4152300" y="4227500"/>
            <a:ext cx="41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1" name="Google Shape;1071;p88"/>
          <p:cNvSpPr txBox="1"/>
          <p:nvPr/>
        </p:nvSpPr>
        <p:spPr>
          <a:xfrm>
            <a:off x="6548300" y="3181775"/>
            <a:ext cx="41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2" name="Google Shape;1072;p88"/>
          <p:cNvSpPr txBox="1"/>
          <p:nvPr/>
        </p:nvSpPr>
        <p:spPr>
          <a:xfrm>
            <a:off x="5564550" y="1162050"/>
            <a:ext cx="41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73" name="Google Shape;1073;p88"/>
          <p:cNvCxnSpPr/>
          <p:nvPr/>
        </p:nvCxnSpPr>
        <p:spPr>
          <a:xfrm>
            <a:off x="5029250" y="3693550"/>
            <a:ext cx="465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4" name="Google Shape;1074;p88"/>
          <p:cNvSpPr txBox="1"/>
          <p:nvPr/>
        </p:nvSpPr>
        <p:spPr>
          <a:xfrm>
            <a:off x="824175" y="2815725"/>
            <a:ext cx="156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sng">
                <a:latin typeface="Lexend"/>
                <a:ea typeface="Lexend"/>
                <a:cs typeface="Lexend"/>
                <a:sym typeface="Lexend"/>
              </a:rPr>
              <a:t>                   </a:t>
            </a:r>
            <a:r>
              <a:rPr lang="en-GB" sz="1800" u="sng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 u="sng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75" name="Google Shape;1075;p88"/>
          <p:cNvCxnSpPr/>
          <p:nvPr/>
        </p:nvCxnSpPr>
        <p:spPr>
          <a:xfrm>
            <a:off x="2350425" y="3113350"/>
            <a:ext cx="992100" cy="35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6" name="Google Shape;1076;p88"/>
          <p:cNvCxnSpPr/>
          <p:nvPr/>
        </p:nvCxnSpPr>
        <p:spPr>
          <a:xfrm flipH="1" rot="10800000">
            <a:off x="5984250" y="2197950"/>
            <a:ext cx="1135800" cy="373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7" name="Google Shape;1077;p88"/>
          <p:cNvSpPr txBox="1"/>
          <p:nvPr/>
        </p:nvSpPr>
        <p:spPr>
          <a:xfrm>
            <a:off x="7120050" y="1929150"/>
            <a:ext cx="108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image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88"/>
          <p:cNvSpPr txBox="1"/>
          <p:nvPr/>
        </p:nvSpPr>
        <p:spPr>
          <a:xfrm>
            <a:off x="1022200" y="2747400"/>
            <a:ext cx="992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object</a:t>
            </a:r>
            <a:endParaRPr b="1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9" name="Google Shape;1079;p88"/>
          <p:cNvSpPr txBox="1"/>
          <p:nvPr/>
        </p:nvSpPr>
        <p:spPr>
          <a:xfrm>
            <a:off x="5052200" y="3240000"/>
            <a:ext cx="558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</a:t>
            </a:r>
            <a:r>
              <a:rPr lang="en-GB"/>
              <a:t> changes</a:t>
            </a:r>
            <a:endParaRPr/>
          </a:p>
        </p:txBody>
      </p:sp>
      <p:sp>
        <p:nvSpPr>
          <p:cNvPr id="1085" name="Google Shape;1085;p89"/>
          <p:cNvSpPr txBox="1"/>
          <p:nvPr>
            <p:ph idx="1" type="body"/>
          </p:nvPr>
        </p:nvSpPr>
        <p:spPr>
          <a:xfrm>
            <a:off x="324000" y="759300"/>
            <a:ext cx="87378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an </a:t>
            </a:r>
            <a:r>
              <a:rPr b="1" lang="en-GB"/>
              <a:t>object</a:t>
            </a:r>
            <a:r>
              <a:rPr lang="en-GB"/>
              <a:t> has been </a:t>
            </a:r>
            <a:r>
              <a:rPr b="1" lang="en-GB"/>
              <a:t>transformed</a:t>
            </a:r>
            <a:r>
              <a:rPr lang="en-GB"/>
              <a:t> the result is the </a:t>
            </a:r>
            <a:r>
              <a:rPr b="1" lang="en-GB"/>
              <a:t>image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We can </a:t>
            </a:r>
            <a:r>
              <a:rPr lang="en-GB"/>
              <a:t>describe the </a:t>
            </a:r>
            <a:r>
              <a:rPr b="1" lang="en-GB"/>
              <a:t>transformation</a:t>
            </a:r>
            <a:r>
              <a:rPr lang="en-GB"/>
              <a:t> based on how the </a:t>
            </a:r>
            <a:r>
              <a:rPr b="1" lang="en-GB"/>
              <a:t>object </a:t>
            </a:r>
            <a:r>
              <a:rPr lang="en-GB"/>
              <a:t>has changed.</a:t>
            </a:r>
            <a:endParaRPr/>
          </a:p>
        </p:txBody>
      </p:sp>
      <p:pic>
        <p:nvPicPr>
          <p:cNvPr id="1086" name="Google Shape;1086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54887" y="3204437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087" name="Google Shape;1087;p89"/>
          <p:cNvSpPr txBox="1"/>
          <p:nvPr/>
        </p:nvSpPr>
        <p:spPr>
          <a:xfrm>
            <a:off x="270709" y="4099835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8" name="Google Shape;1088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0708" y="2072038"/>
            <a:ext cx="1802620" cy="2399578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p89"/>
          <p:cNvSpPr txBox="1"/>
          <p:nvPr/>
        </p:nvSpPr>
        <p:spPr>
          <a:xfrm>
            <a:off x="4976296" y="1999165"/>
            <a:ext cx="21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0" name="Google Shape;1090;p89"/>
          <p:cNvSpPr txBox="1"/>
          <p:nvPr/>
        </p:nvSpPr>
        <p:spPr>
          <a:xfrm>
            <a:off x="4259513" y="3066138"/>
            <a:ext cx="43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91" name="Google Shape;1091;p89"/>
          <p:cNvPicPr preferRelativeResize="0"/>
          <p:nvPr/>
        </p:nvPicPr>
        <p:blipFill rotWithShape="1">
          <a:blip r:embed="rId5">
            <a:alphaModFix/>
          </a:blip>
          <a:srcRect b="0" l="0" r="69082" t="56280"/>
          <a:stretch/>
        </p:blipFill>
        <p:spPr>
          <a:xfrm flipH="1">
            <a:off x="1443223" y="2335225"/>
            <a:ext cx="1955251" cy="131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89"/>
          <p:cNvSpPr txBox="1"/>
          <p:nvPr/>
        </p:nvSpPr>
        <p:spPr>
          <a:xfrm>
            <a:off x="1629928" y="2508055"/>
            <a:ext cx="1679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object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has moved to the left and down.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90"/>
          <p:cNvSpPr txBox="1"/>
          <p:nvPr/>
        </p:nvSpPr>
        <p:spPr>
          <a:xfrm>
            <a:off x="7630850" y="1258844"/>
            <a:ext cx="127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image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8" name="Google Shape;1098;p90"/>
          <p:cNvSpPr txBox="1"/>
          <p:nvPr/>
        </p:nvSpPr>
        <p:spPr>
          <a:xfrm>
            <a:off x="3126750" y="1346250"/>
            <a:ext cx="127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object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99" name="Google Shape;1099;p90"/>
          <p:cNvGrpSpPr/>
          <p:nvPr/>
        </p:nvGrpSpPr>
        <p:grpSpPr>
          <a:xfrm>
            <a:off x="4532968" y="745919"/>
            <a:ext cx="2627537" cy="1662361"/>
            <a:chOff x="2073142" y="913901"/>
            <a:chExt cx="3937564" cy="2491175"/>
          </a:xfrm>
        </p:grpSpPr>
        <p:pic>
          <p:nvPicPr>
            <p:cNvPr id="1100" name="Google Shape;1100;p90"/>
            <p:cNvPicPr preferRelativeResize="0"/>
            <p:nvPr/>
          </p:nvPicPr>
          <p:blipFill rotWithShape="1">
            <a:blip r:embed="rId3">
              <a:alphaModFix/>
            </a:blip>
            <a:srcRect b="0" l="0" r="60682" t="0"/>
            <a:stretch/>
          </p:blipFill>
          <p:spPr>
            <a:xfrm>
              <a:off x="2073142" y="914925"/>
              <a:ext cx="1964951" cy="24901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1" name="Google Shape;1101;p90"/>
            <p:cNvPicPr preferRelativeResize="0"/>
            <p:nvPr/>
          </p:nvPicPr>
          <p:blipFill rotWithShape="1">
            <a:blip r:embed="rId3">
              <a:alphaModFix/>
            </a:blip>
            <a:srcRect b="0" l="60682" r="0" t="0"/>
            <a:stretch/>
          </p:blipFill>
          <p:spPr>
            <a:xfrm>
              <a:off x="4045755" y="913901"/>
              <a:ext cx="1964951" cy="2490151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102" name="Google Shape;1102;p90"/>
          <p:cNvCxnSpPr/>
          <p:nvPr/>
        </p:nvCxnSpPr>
        <p:spPr>
          <a:xfrm>
            <a:off x="4004675" y="1652750"/>
            <a:ext cx="857100" cy="18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3" name="Google Shape;1103;p90"/>
          <p:cNvCxnSpPr/>
          <p:nvPr/>
        </p:nvCxnSpPr>
        <p:spPr>
          <a:xfrm flipH="1" rot="10800000">
            <a:off x="6809450" y="1531550"/>
            <a:ext cx="821400" cy="143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4" name="Google Shape;1104;p90"/>
          <p:cNvSpPr txBox="1"/>
          <p:nvPr/>
        </p:nvSpPr>
        <p:spPr>
          <a:xfrm>
            <a:off x="918475" y="3727500"/>
            <a:ext cx="697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05" name="Google Shape;1105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596" y="3871950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6" name="Google Shape;1106;p90"/>
          <p:cNvPicPr preferRelativeResize="0"/>
          <p:nvPr/>
        </p:nvPicPr>
        <p:blipFill rotWithShape="1">
          <a:blip r:embed="rId5">
            <a:alphaModFix/>
          </a:blip>
          <a:srcRect b="6172" l="40550" r="0" t="13240"/>
          <a:stretch/>
        </p:blipFill>
        <p:spPr>
          <a:xfrm>
            <a:off x="616650" y="2012300"/>
            <a:ext cx="3455124" cy="2002901"/>
          </a:xfrm>
          <a:prstGeom prst="rect">
            <a:avLst/>
          </a:prstGeom>
          <a:noFill/>
          <a:ln>
            <a:noFill/>
          </a:ln>
        </p:spPr>
      </p:pic>
      <p:sp>
        <p:nvSpPr>
          <p:cNvPr id="1107" name="Google Shape;1107;p90"/>
          <p:cNvSpPr txBox="1"/>
          <p:nvPr/>
        </p:nvSpPr>
        <p:spPr>
          <a:xfrm>
            <a:off x="963425" y="2235900"/>
            <a:ext cx="3348600" cy="15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lengths and angles are the same. The position and orientation have changed and the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image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mirrored.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has been flipped.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90"/>
          <p:cNvSpPr txBox="1"/>
          <p:nvPr/>
        </p:nvSpPr>
        <p:spPr>
          <a:xfrm>
            <a:off x="4701850" y="3588900"/>
            <a:ext cx="3996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properties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have stayed the same, we say they are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invariant.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90"/>
          <p:cNvSpPr txBox="1"/>
          <p:nvPr/>
        </p:nvSpPr>
        <p:spPr>
          <a:xfrm>
            <a:off x="1103450" y="4450275"/>
            <a:ext cx="9309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0" name="Google Shape;1110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changes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changes</a:t>
            </a:r>
            <a:endParaRPr/>
          </a:p>
        </p:txBody>
      </p:sp>
      <p:pic>
        <p:nvPicPr>
          <p:cNvPr id="1116" name="Google Shape;1116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2002" y="737500"/>
            <a:ext cx="3067200" cy="40829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7" name="Google Shape;1117;p91"/>
          <p:cNvSpPr txBox="1"/>
          <p:nvPr/>
        </p:nvSpPr>
        <p:spPr>
          <a:xfrm>
            <a:off x="4199300" y="1265300"/>
            <a:ext cx="127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object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8" name="Google Shape;1118;p91"/>
          <p:cNvSpPr txBox="1"/>
          <p:nvPr/>
        </p:nvSpPr>
        <p:spPr>
          <a:xfrm>
            <a:off x="181025" y="3480125"/>
            <a:ext cx="127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image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9" name="Google Shape;1119;p91"/>
          <p:cNvSpPr txBox="1"/>
          <p:nvPr/>
        </p:nvSpPr>
        <p:spPr>
          <a:xfrm>
            <a:off x="3056019" y="613506"/>
            <a:ext cx="37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0" name="Google Shape;1120;p91"/>
          <p:cNvSpPr txBox="1"/>
          <p:nvPr/>
        </p:nvSpPr>
        <p:spPr>
          <a:xfrm>
            <a:off x="1836393" y="2428975"/>
            <a:ext cx="47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21" name="Google Shape;1121;p91"/>
          <p:cNvCxnSpPr/>
          <p:nvPr/>
        </p:nvCxnSpPr>
        <p:spPr>
          <a:xfrm>
            <a:off x="1063225" y="3718625"/>
            <a:ext cx="885300" cy="13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2" name="Google Shape;1122;p91"/>
          <p:cNvCxnSpPr/>
          <p:nvPr/>
        </p:nvCxnSpPr>
        <p:spPr>
          <a:xfrm flipH="1" rot="10800000">
            <a:off x="3467100" y="1526800"/>
            <a:ext cx="732300" cy="449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3" name="Google Shape;1123;p91"/>
          <p:cNvSpPr txBox="1"/>
          <p:nvPr/>
        </p:nvSpPr>
        <p:spPr>
          <a:xfrm>
            <a:off x="5303875" y="688863"/>
            <a:ext cx="1442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Has the orientation changed?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91"/>
          <p:cNvSpPr txBox="1"/>
          <p:nvPr/>
        </p:nvSpPr>
        <p:spPr>
          <a:xfrm>
            <a:off x="8158213" y="965925"/>
            <a:ext cx="65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5" name="Google Shape;1125;p91"/>
          <p:cNvSpPr txBox="1"/>
          <p:nvPr/>
        </p:nvSpPr>
        <p:spPr>
          <a:xfrm>
            <a:off x="5303875" y="1948800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Have the angles changed?</a:t>
            </a:r>
            <a:endParaRPr/>
          </a:p>
        </p:txBody>
      </p:sp>
      <p:sp>
        <p:nvSpPr>
          <p:cNvPr id="1126" name="Google Shape;1126;p91"/>
          <p:cNvSpPr txBox="1"/>
          <p:nvPr/>
        </p:nvSpPr>
        <p:spPr>
          <a:xfrm>
            <a:off x="8158225" y="2129025"/>
            <a:ext cx="65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7" name="Google Shape;1127;p91"/>
          <p:cNvSpPr txBox="1"/>
          <p:nvPr/>
        </p:nvSpPr>
        <p:spPr>
          <a:xfrm>
            <a:off x="5352546" y="2895025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Have the lengths changed?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8" name="Google Shape;1128;p91"/>
          <p:cNvSpPr txBox="1"/>
          <p:nvPr/>
        </p:nvSpPr>
        <p:spPr>
          <a:xfrm>
            <a:off x="8158225" y="3033625"/>
            <a:ext cx="65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9" name="Google Shape;1129;p91"/>
          <p:cNvSpPr txBox="1"/>
          <p:nvPr/>
        </p:nvSpPr>
        <p:spPr>
          <a:xfrm>
            <a:off x="5303875" y="3841250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Has the position changed?</a:t>
            </a:r>
            <a:endParaRPr/>
          </a:p>
        </p:txBody>
      </p:sp>
      <p:sp>
        <p:nvSpPr>
          <p:cNvPr id="1130" name="Google Shape;1130;p91"/>
          <p:cNvSpPr txBox="1"/>
          <p:nvPr/>
        </p:nvSpPr>
        <p:spPr>
          <a:xfrm>
            <a:off x="8158225" y="4023000"/>
            <a:ext cx="65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changes</a:t>
            </a:r>
            <a:endParaRPr/>
          </a:p>
        </p:txBody>
      </p:sp>
      <p:pic>
        <p:nvPicPr>
          <p:cNvPr id="1136" name="Google Shape;1136;p92"/>
          <p:cNvPicPr preferRelativeResize="0"/>
          <p:nvPr/>
        </p:nvPicPr>
        <p:blipFill rotWithShape="1">
          <a:blip r:embed="rId3">
            <a:alphaModFix/>
          </a:blip>
          <a:srcRect b="6172" l="40550" r="0" t="13240"/>
          <a:stretch/>
        </p:blipFill>
        <p:spPr>
          <a:xfrm>
            <a:off x="4671600" y="701875"/>
            <a:ext cx="4170752" cy="2417734"/>
          </a:xfrm>
          <a:prstGeom prst="rect">
            <a:avLst/>
          </a:prstGeom>
          <a:noFill/>
          <a:ln>
            <a:noFill/>
          </a:ln>
        </p:spPr>
      </p:pic>
      <p:sp>
        <p:nvSpPr>
          <p:cNvPr id="1137" name="Google Shape;1137;p92"/>
          <p:cNvSpPr txBox="1"/>
          <p:nvPr>
            <p:ph idx="1" type="body"/>
          </p:nvPr>
        </p:nvSpPr>
        <p:spPr>
          <a:xfrm>
            <a:off x="5129400" y="883600"/>
            <a:ext cx="3538200" cy="173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only change is the position. All the other properties are </a:t>
            </a:r>
            <a:r>
              <a:rPr b="1" lang="en-GB" sz="1800"/>
              <a:t>invariant. </a:t>
            </a:r>
            <a:endParaRPr b="1"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b="1" lang="en-GB" sz="1800"/>
              <a:t>object</a:t>
            </a:r>
            <a:r>
              <a:rPr lang="en-GB" sz="1800"/>
              <a:t> has moved to become the </a:t>
            </a:r>
            <a:r>
              <a:rPr b="1" lang="en-GB" sz="1800"/>
              <a:t>image</a:t>
            </a:r>
            <a:r>
              <a:rPr lang="en-GB" sz="1800"/>
              <a:t>.</a:t>
            </a:r>
            <a:endParaRPr sz="1800"/>
          </a:p>
        </p:txBody>
      </p:sp>
      <p:pic>
        <p:nvPicPr>
          <p:cNvPr id="1138" name="Google Shape;1138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9600" y="810000"/>
            <a:ext cx="3067200" cy="4010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9" name="Google Shape;1139;p92"/>
          <p:cNvSpPr txBox="1"/>
          <p:nvPr/>
        </p:nvSpPr>
        <p:spPr>
          <a:xfrm>
            <a:off x="4046900" y="1265300"/>
            <a:ext cx="127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object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0" name="Google Shape;1140;p92"/>
          <p:cNvSpPr txBox="1"/>
          <p:nvPr/>
        </p:nvSpPr>
        <p:spPr>
          <a:xfrm>
            <a:off x="257225" y="3480125"/>
            <a:ext cx="127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image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1" name="Google Shape;1141;p92"/>
          <p:cNvSpPr txBox="1"/>
          <p:nvPr/>
        </p:nvSpPr>
        <p:spPr>
          <a:xfrm>
            <a:off x="2903619" y="613506"/>
            <a:ext cx="37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2" name="Google Shape;1142;p92"/>
          <p:cNvSpPr txBox="1"/>
          <p:nvPr/>
        </p:nvSpPr>
        <p:spPr>
          <a:xfrm>
            <a:off x="1683993" y="2428975"/>
            <a:ext cx="47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43" name="Google Shape;1143;p92"/>
          <p:cNvCxnSpPr/>
          <p:nvPr/>
        </p:nvCxnSpPr>
        <p:spPr>
          <a:xfrm>
            <a:off x="1114525" y="3717525"/>
            <a:ext cx="681600" cy="14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4" name="Google Shape;1144;p92"/>
          <p:cNvCxnSpPr/>
          <p:nvPr/>
        </p:nvCxnSpPr>
        <p:spPr>
          <a:xfrm flipH="1" rot="10800000">
            <a:off x="3314700" y="1526800"/>
            <a:ext cx="732300" cy="449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45" name="Google Shape;1145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9224" y="2785337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6" name="Google Shape;1146;p92"/>
          <p:cNvSpPr txBox="1"/>
          <p:nvPr/>
        </p:nvSpPr>
        <p:spPr>
          <a:xfrm>
            <a:off x="4729225" y="3574050"/>
            <a:ext cx="9309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93"/>
          <p:cNvSpPr txBox="1"/>
          <p:nvPr>
            <p:ph idx="1" type="body"/>
          </p:nvPr>
        </p:nvSpPr>
        <p:spPr>
          <a:xfrm>
            <a:off x="5518550" y="759300"/>
            <a:ext cx="33906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Complete the table for each property.</a:t>
            </a:r>
            <a:endParaRPr/>
          </a:p>
        </p:txBody>
      </p:sp>
      <p:sp>
        <p:nvSpPr>
          <p:cNvPr id="1152" name="Google Shape;1152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changes</a:t>
            </a:r>
            <a:endParaRPr/>
          </a:p>
        </p:txBody>
      </p:sp>
      <p:grpSp>
        <p:nvGrpSpPr>
          <p:cNvPr id="1153" name="Google Shape;1153;p93"/>
          <p:cNvGrpSpPr/>
          <p:nvPr/>
        </p:nvGrpSpPr>
        <p:grpSpPr>
          <a:xfrm>
            <a:off x="50777" y="752630"/>
            <a:ext cx="5352195" cy="2814743"/>
            <a:chOff x="1041404" y="928152"/>
            <a:chExt cx="6887396" cy="3622112"/>
          </a:xfrm>
        </p:grpSpPr>
        <p:pic>
          <p:nvPicPr>
            <p:cNvPr id="1154" name="Google Shape;1154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36050" y="928152"/>
              <a:ext cx="3942025" cy="36221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5" name="Google Shape;1155;p93"/>
            <p:cNvSpPr txBox="1"/>
            <p:nvPr/>
          </p:nvSpPr>
          <p:spPr>
            <a:xfrm>
              <a:off x="1041404" y="1499253"/>
              <a:ext cx="1274400" cy="59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latin typeface="Lexend"/>
                  <a:ea typeface="Lexend"/>
                  <a:cs typeface="Lexend"/>
                  <a:sym typeface="Lexend"/>
                </a:rPr>
                <a:t>object</a:t>
              </a:r>
              <a:endParaRPr b="1"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6" name="Google Shape;1156;p93"/>
            <p:cNvSpPr txBox="1"/>
            <p:nvPr/>
          </p:nvSpPr>
          <p:spPr>
            <a:xfrm>
              <a:off x="6654400" y="1389150"/>
              <a:ext cx="1274400" cy="59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latin typeface="Lexend"/>
                  <a:ea typeface="Lexend"/>
                  <a:cs typeface="Lexend"/>
                  <a:sym typeface="Lexend"/>
                </a:rPr>
                <a:t>image</a:t>
              </a:r>
              <a:endParaRPr b="1"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57" name="Google Shape;1157;p93"/>
            <p:cNvCxnSpPr/>
            <p:nvPr/>
          </p:nvCxnSpPr>
          <p:spPr>
            <a:xfrm>
              <a:off x="2266575" y="1788025"/>
              <a:ext cx="755400" cy="203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8" name="Google Shape;1158;p93"/>
            <p:cNvCxnSpPr/>
            <p:nvPr/>
          </p:nvCxnSpPr>
          <p:spPr>
            <a:xfrm flipH="1" rot="10800000">
              <a:off x="5982700" y="1652350"/>
              <a:ext cx="671700" cy="15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aphicFrame>
        <p:nvGraphicFramePr>
          <p:cNvPr id="1159" name="Google Shape;1159;p93"/>
          <p:cNvGraphicFramePr/>
          <p:nvPr/>
        </p:nvGraphicFramePr>
        <p:xfrm>
          <a:off x="5074350" y="1759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{1DC1DBBE-3FCF-487A-A11E-E24C6848BBB7}</a:tableStyleId>
              </a:tblPr>
              <a:tblGrid>
                <a:gridCol w="1377800"/>
                <a:gridCol w="22656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Property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Changed - yes/no?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Orientation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Position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No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Mirrored 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No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60" name="Google Shape;1160;p93"/>
          <p:cNvSpPr txBox="1"/>
          <p:nvPr/>
        </p:nvSpPr>
        <p:spPr>
          <a:xfrm>
            <a:off x="6465462" y="2597992"/>
            <a:ext cx="262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No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94"/>
          <p:cNvSpPr txBox="1"/>
          <p:nvPr>
            <p:ph idx="1" type="body"/>
          </p:nvPr>
        </p:nvSpPr>
        <p:spPr>
          <a:xfrm>
            <a:off x="308100" y="759300"/>
            <a:ext cx="8527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Sam has described the </a:t>
            </a:r>
            <a:r>
              <a:rPr b="1" lang="en-GB"/>
              <a:t>image </a:t>
            </a:r>
            <a:r>
              <a:rPr lang="en-GB"/>
              <a:t>compared to its </a:t>
            </a:r>
            <a:r>
              <a:rPr b="1" lang="en-GB"/>
              <a:t>object. </a:t>
            </a:r>
            <a:endParaRPr b="1"/>
          </a:p>
        </p:txBody>
      </p:sp>
      <p:sp>
        <p:nvSpPr>
          <p:cNvPr id="1166" name="Google Shape;1166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changes</a:t>
            </a:r>
            <a:endParaRPr/>
          </a:p>
        </p:txBody>
      </p:sp>
      <p:grpSp>
        <p:nvGrpSpPr>
          <p:cNvPr id="1167" name="Google Shape;1167;p94"/>
          <p:cNvGrpSpPr/>
          <p:nvPr/>
        </p:nvGrpSpPr>
        <p:grpSpPr>
          <a:xfrm>
            <a:off x="1321648" y="1787850"/>
            <a:ext cx="2736477" cy="1932399"/>
            <a:chOff x="1321648" y="721050"/>
            <a:chExt cx="2736477" cy="1932399"/>
          </a:xfrm>
        </p:grpSpPr>
        <p:pic>
          <p:nvPicPr>
            <p:cNvPr id="1168" name="Google Shape;1168;p94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 flipH="1">
              <a:off x="1321648" y="721050"/>
              <a:ext cx="2662052" cy="19323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9" name="Google Shape;1169;p94"/>
            <p:cNvSpPr txBox="1"/>
            <p:nvPr/>
          </p:nvSpPr>
          <p:spPr>
            <a:xfrm>
              <a:off x="1535125" y="810000"/>
              <a:ext cx="2523000" cy="15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lengths and position have changed but all other properties are </a:t>
              </a:r>
              <a:r>
                <a:rPr b="1" lang="en-GB" sz="1800">
                  <a:latin typeface="Lexend"/>
                  <a:ea typeface="Lexend"/>
                  <a:cs typeface="Lexend"/>
                  <a:sym typeface="Lexend"/>
                </a:rPr>
                <a:t>invariant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ata-is-equatio=&quot;1&quot; data-equatio-url=&quot;https://equatio-api.texthelp.com/desmos/get/21-09-2023/a9d974c0-18d9-46c0-b59e-f459f0a47072&quot; data-equatio-type=&quot;image&quot;&gt;&lt;mglyph src=&quot;https://equatio-api.texthelp.com/desmos/get/21-09-2023/a9d974c0-18d9-46c0-b59e-f459f0a47072&quot; alt=&quot;Equatio Image&quot;/&gt;&lt;/math&gt;" id="1170" name="Google Shape;1170;p94" title="Equatio Image"/>
          <p:cNvPicPr preferRelativeResize="0"/>
          <p:nvPr/>
        </p:nvPicPr>
        <p:blipFill rotWithShape="1">
          <a:blip r:embed="rId4">
            <a:alphaModFix/>
          </a:blip>
          <a:srcRect b="49217" l="0" r="64645" t="0"/>
          <a:stretch/>
        </p:blipFill>
        <p:spPr>
          <a:xfrm>
            <a:off x="5095017" y="1079994"/>
            <a:ext cx="1161775" cy="1697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1-09-2023/a9d974c0-18d9-46c0-b59e-f459f0a47072&quot; data-equatio-type=&quot;image&quot;&gt;&lt;mglyph src=&quot;https://equatio-api.texthelp.com/desmos/get/21-09-2023/a9d974c0-18d9-46c0-b59e-f459f0a47072&quot; alt=&quot;Equatio Image&quot;/&gt;&lt;/math&gt;" id="1171" name="Google Shape;1171;p94" title="Equatio Image"/>
          <p:cNvPicPr preferRelativeResize="0"/>
          <p:nvPr/>
        </p:nvPicPr>
        <p:blipFill rotWithShape="1">
          <a:blip r:embed="rId4">
            <a:alphaModFix/>
          </a:blip>
          <a:srcRect b="0" l="46997" r="0" t="25909"/>
          <a:stretch/>
        </p:blipFill>
        <p:spPr>
          <a:xfrm>
            <a:off x="6791844" y="2098597"/>
            <a:ext cx="1741700" cy="247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2" name="Google Shape;1172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8932" y="3023850"/>
            <a:ext cx="705943" cy="101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95"/>
          <p:cNvSpPr txBox="1"/>
          <p:nvPr>
            <p:ph idx="1" type="body"/>
          </p:nvPr>
        </p:nvSpPr>
        <p:spPr>
          <a:xfrm>
            <a:off x="324000" y="72105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Izzy </a:t>
            </a:r>
            <a:r>
              <a:rPr lang="en-GB"/>
              <a:t>has described the </a:t>
            </a:r>
            <a:r>
              <a:rPr b="1" lang="en-GB"/>
              <a:t>image </a:t>
            </a:r>
            <a:r>
              <a:rPr lang="en-GB"/>
              <a:t>compared to its </a:t>
            </a:r>
            <a:r>
              <a:rPr b="1" lang="en-GB"/>
              <a:t>object. </a:t>
            </a:r>
            <a:endParaRPr b="1"/>
          </a:p>
        </p:txBody>
      </p:sp>
      <p:sp>
        <p:nvSpPr>
          <p:cNvPr id="1178" name="Google Shape;1178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changes</a:t>
            </a:r>
            <a:endParaRPr/>
          </a:p>
        </p:txBody>
      </p:sp>
      <p:grpSp>
        <p:nvGrpSpPr>
          <p:cNvPr id="1179" name="Google Shape;1179;p95"/>
          <p:cNvGrpSpPr/>
          <p:nvPr/>
        </p:nvGrpSpPr>
        <p:grpSpPr>
          <a:xfrm>
            <a:off x="1321672" y="1787850"/>
            <a:ext cx="3086073" cy="1932399"/>
            <a:chOff x="1321648" y="721050"/>
            <a:chExt cx="2874777" cy="1932399"/>
          </a:xfrm>
        </p:grpSpPr>
        <p:pic>
          <p:nvPicPr>
            <p:cNvPr id="1180" name="Google Shape;1180;p95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 flipH="1">
              <a:off x="1321648" y="721050"/>
              <a:ext cx="2788552" cy="19323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1" name="Google Shape;1181;p95"/>
            <p:cNvSpPr txBox="1"/>
            <p:nvPr/>
          </p:nvSpPr>
          <p:spPr>
            <a:xfrm>
              <a:off x="1458925" y="810000"/>
              <a:ext cx="2737500" cy="15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</a:t>
              </a:r>
              <a:r>
                <a:rPr b="1" lang="en-GB" sz="1800">
                  <a:latin typeface="Lexend"/>
                  <a:ea typeface="Lexend"/>
                  <a:cs typeface="Lexend"/>
                  <a:sym typeface="Lexend"/>
                </a:rPr>
                <a:t>image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is </a:t>
              </a:r>
              <a:r>
                <a:rPr b="1" lang="en-GB" sz="1800">
                  <a:latin typeface="Lexend"/>
                  <a:ea typeface="Lexend"/>
                  <a:cs typeface="Lexend"/>
                  <a:sym typeface="Lexend"/>
                </a:rPr>
                <a:t>congruent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to the </a:t>
              </a:r>
              <a:r>
                <a:rPr b="1" lang="en-GB" sz="1800">
                  <a:latin typeface="Lexend"/>
                  <a:ea typeface="Lexend"/>
                  <a:cs typeface="Lexend"/>
                  <a:sym typeface="Lexend"/>
                </a:rPr>
                <a:t>object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. Its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position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and orientation has changed. It isn’t mirrored.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ata-is-equatio=&quot;1&quot; data-equatio-url=&quot;https://equatio-api.texthelp.com/desmos/get/21-09-2023/e6a1f8a8-2530-439a-a094-c4a59c78e1d3&quot; data-equatio-type=&quot;image&quot;&gt;&lt;mglyph src=&quot;https://equatio-api.texthelp.com/desmos/get/21-09-2023/e6a1f8a8-2530-439a-a094-c4a59c78e1d3&quot; alt=&quot;Equatio Image&quot;/&gt;&lt;/math&gt;" id="1182" name="Google Shape;1182;p95" title="Equatio Image"/>
          <p:cNvPicPr preferRelativeResize="0"/>
          <p:nvPr/>
        </p:nvPicPr>
        <p:blipFill rotWithShape="1">
          <a:blip r:embed="rId4">
            <a:alphaModFix/>
          </a:blip>
          <a:srcRect b="0" l="0" r="63536" t="0"/>
          <a:stretch/>
        </p:blipFill>
        <p:spPr>
          <a:xfrm>
            <a:off x="6698150" y="1424425"/>
            <a:ext cx="1139175" cy="2294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1-09-2023/e6a1f8a8-2530-439a-a094-c4a59c78e1d3&quot; data-equatio-type=&quot;image&quot;&gt;&lt;mglyph src=&quot;https://equatio-api.texthelp.com/desmos/get/21-09-2023/e6a1f8a8-2530-439a-a094-c4a59c78e1d3&quot; alt=&quot;Equatio Image&quot;/&gt;&lt;/math&gt;" id="1183" name="Google Shape;1183;p95" title="Equatio Image"/>
          <p:cNvPicPr preferRelativeResize="0"/>
          <p:nvPr/>
        </p:nvPicPr>
        <p:blipFill rotWithShape="1">
          <a:blip r:embed="rId4">
            <a:alphaModFix/>
          </a:blip>
          <a:srcRect b="0" l="43310" r="0" t="0"/>
          <a:stretch/>
        </p:blipFill>
        <p:spPr>
          <a:xfrm>
            <a:off x="4824000" y="2305000"/>
            <a:ext cx="1771126" cy="229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4" name="Google Shape;1184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24000" y="3005187"/>
            <a:ext cx="1114250" cy="107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changes</a:t>
            </a:r>
            <a:endParaRPr/>
          </a:p>
        </p:txBody>
      </p:sp>
      <p:sp>
        <p:nvSpPr>
          <p:cNvPr id="1190" name="Google Shape;1190;p96"/>
          <p:cNvSpPr txBox="1"/>
          <p:nvPr>
            <p:ph idx="1" type="subTitle"/>
          </p:nvPr>
        </p:nvSpPr>
        <p:spPr>
          <a:xfrm>
            <a:off x="324000" y="1080000"/>
            <a:ext cx="83481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description states how the </a:t>
            </a:r>
            <a:r>
              <a:rPr b="1" lang="en-GB"/>
              <a:t>image </a:t>
            </a:r>
            <a:r>
              <a:rPr lang="en-GB"/>
              <a:t>has changed.</a:t>
            </a:r>
            <a:endParaRPr/>
          </a:p>
        </p:txBody>
      </p:sp>
      <p:sp>
        <p:nvSpPr>
          <p:cNvPr id="1191" name="Google Shape;1191;p96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It states how the </a:t>
            </a:r>
            <a:r>
              <a:rPr b="1" lang="en-GB"/>
              <a:t>object </a:t>
            </a:r>
            <a:r>
              <a:rPr lang="en-GB"/>
              <a:t>has changed.</a:t>
            </a:r>
            <a:endParaRPr/>
          </a:p>
        </p:txBody>
      </p:sp>
      <p:sp>
        <p:nvSpPr>
          <p:cNvPr id="1192" name="Google Shape;1192;p96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It states the differences between the </a:t>
            </a:r>
            <a:r>
              <a:rPr b="1" lang="en-GB"/>
              <a:t>image</a:t>
            </a:r>
            <a:r>
              <a:rPr lang="en-GB"/>
              <a:t> and </a:t>
            </a:r>
            <a:r>
              <a:rPr b="1" lang="en-GB"/>
              <a:t>object</a:t>
            </a:r>
            <a:r>
              <a:rPr lang="en-GB"/>
              <a:t>.</a:t>
            </a:r>
            <a:endParaRPr/>
          </a:p>
        </p:txBody>
      </p:sp>
      <p:pic>
        <p:nvPicPr>
          <p:cNvPr id="1193" name="Google Shape;1193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9658" y="31002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4" name="Google Shape;1194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9658" y="17970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97"/>
          <p:cNvSpPr txBox="1"/>
          <p:nvPr>
            <p:ph idx="1" type="body"/>
          </p:nvPr>
        </p:nvSpPr>
        <p:spPr>
          <a:xfrm>
            <a:off x="293375" y="64965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</a:t>
            </a:r>
            <a:r>
              <a:rPr lang="en-GB"/>
              <a:t>Match the descriptions to the correct figure.</a:t>
            </a:r>
            <a:endParaRPr/>
          </a:p>
        </p:txBody>
      </p:sp>
      <p:sp>
        <p:nvSpPr>
          <p:cNvPr id="1200" name="Google Shape;1200;p9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Describing changes</a:t>
            </a:r>
            <a:endParaRPr/>
          </a:p>
        </p:txBody>
      </p:sp>
      <p:sp>
        <p:nvSpPr>
          <p:cNvPr id="1201" name="Google Shape;1201;p97"/>
          <p:cNvSpPr txBox="1"/>
          <p:nvPr/>
        </p:nvSpPr>
        <p:spPr>
          <a:xfrm>
            <a:off x="3244425" y="3551450"/>
            <a:ext cx="25587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image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is </a:t>
            </a: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congruent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and has the same orientation as the </a:t>
            </a: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object.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02" name="Google Shape;1202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8350" y="1310262"/>
            <a:ext cx="1888827" cy="1869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3" name="Google Shape;1203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3650" y="1296800"/>
            <a:ext cx="1855550" cy="2007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4" name="Google Shape;1204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86188" y="1369526"/>
            <a:ext cx="2475175" cy="1751212"/>
          </a:xfrm>
          <a:prstGeom prst="rect">
            <a:avLst/>
          </a:prstGeom>
          <a:noFill/>
          <a:ln>
            <a:noFill/>
          </a:ln>
        </p:spPr>
      </p:pic>
      <p:sp>
        <p:nvSpPr>
          <p:cNvPr id="1205" name="Google Shape;1205;p97"/>
          <p:cNvSpPr txBox="1"/>
          <p:nvPr/>
        </p:nvSpPr>
        <p:spPr>
          <a:xfrm>
            <a:off x="685725" y="3551450"/>
            <a:ext cx="2558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image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is </a:t>
            </a: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congruent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but mirrored.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6" name="Google Shape;1206;p97"/>
          <p:cNvSpPr txBox="1"/>
          <p:nvPr/>
        </p:nvSpPr>
        <p:spPr>
          <a:xfrm>
            <a:off x="6388350" y="3497200"/>
            <a:ext cx="2558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image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is </a:t>
            </a: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congruent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but the orientation has changed from the </a:t>
            </a: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object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.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9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2"/>
            </a:pPr>
            <a:r>
              <a:rPr lang="en-GB"/>
              <a:t>Complete the </a:t>
            </a:r>
            <a:r>
              <a:rPr lang="en-GB"/>
              <a:t>table regarding the properties of the </a:t>
            </a:r>
            <a:r>
              <a:rPr b="1" lang="en-GB"/>
              <a:t>image</a:t>
            </a:r>
            <a:r>
              <a:rPr lang="en-GB"/>
              <a:t> compared to the </a:t>
            </a:r>
            <a:r>
              <a:rPr b="1" lang="en-GB"/>
              <a:t>object</a:t>
            </a:r>
            <a:r>
              <a:rPr lang="en-GB"/>
              <a:t> and then use it to write a description.</a:t>
            </a:r>
            <a:endParaRPr/>
          </a:p>
        </p:txBody>
      </p:sp>
      <p:sp>
        <p:nvSpPr>
          <p:cNvPr id="1212" name="Google Shape;1212;p9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Describing changes</a:t>
            </a:r>
            <a:endParaRPr/>
          </a:p>
        </p:txBody>
      </p:sp>
      <p:graphicFrame>
        <p:nvGraphicFramePr>
          <p:cNvPr id="1213" name="Google Shape;1213;p98"/>
          <p:cNvGraphicFramePr/>
          <p:nvPr/>
        </p:nvGraphicFramePr>
        <p:xfrm>
          <a:off x="676550" y="2052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{1DC1DBBE-3FCF-487A-A11E-E24C6848BBB7}</a:tableStyleId>
              </a:tblPr>
              <a:tblGrid>
                <a:gridCol w="1377800"/>
                <a:gridCol w="22656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Property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Changed - yes/no?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Orientation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Position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Mirrored 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214" name="Google Shape;1214;p98"/>
          <p:cNvPicPr preferRelativeResize="0"/>
          <p:nvPr/>
        </p:nvPicPr>
        <p:blipFill rotWithShape="1">
          <a:blip r:embed="rId3">
            <a:alphaModFix/>
          </a:blip>
          <a:srcRect b="38697" l="18233" r="41471" t="10054"/>
          <a:stretch/>
        </p:blipFill>
        <p:spPr>
          <a:xfrm>
            <a:off x="5338312" y="1775225"/>
            <a:ext cx="2702310" cy="1955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99"/>
          <p:cNvSpPr txBox="1"/>
          <p:nvPr>
            <p:ph idx="1" type="body"/>
          </p:nvPr>
        </p:nvSpPr>
        <p:spPr>
          <a:xfrm>
            <a:off x="324000" y="759300"/>
            <a:ext cx="8237700" cy="4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3"/>
            </a:pPr>
            <a:r>
              <a:rPr lang="en-GB"/>
              <a:t>Write a description for the two </a:t>
            </a:r>
            <a:r>
              <a:rPr b="1" lang="en-GB"/>
              <a:t>transformations</a:t>
            </a:r>
            <a:r>
              <a:rPr lang="en-GB"/>
              <a:t>.</a:t>
            </a:r>
            <a:endParaRPr/>
          </a:p>
        </p:txBody>
      </p:sp>
      <p:sp>
        <p:nvSpPr>
          <p:cNvPr id="1220" name="Google Shape;1220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Describing changes</a:t>
            </a:r>
            <a:endParaRPr/>
          </a:p>
        </p:txBody>
      </p:sp>
      <p:pic>
        <p:nvPicPr>
          <p:cNvPr id="1221" name="Google Shape;1221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7400" y="1537200"/>
            <a:ext cx="2654925" cy="2215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2" name="Google Shape;1222;p99"/>
          <p:cNvSpPr txBox="1"/>
          <p:nvPr/>
        </p:nvSpPr>
        <p:spPr>
          <a:xfrm>
            <a:off x="4575087" y="1428877"/>
            <a:ext cx="3796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3" name="Google Shape;1223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0925" y="1537200"/>
            <a:ext cx="3130650" cy="1997367"/>
          </a:xfrm>
          <a:prstGeom prst="rect">
            <a:avLst/>
          </a:prstGeom>
          <a:noFill/>
          <a:ln>
            <a:noFill/>
          </a:ln>
        </p:spPr>
      </p:pic>
      <p:sp>
        <p:nvSpPr>
          <p:cNvPr id="1224" name="Google Shape;1224;p99"/>
          <p:cNvSpPr txBox="1"/>
          <p:nvPr>
            <p:ph idx="1" type="body"/>
          </p:nvPr>
        </p:nvSpPr>
        <p:spPr>
          <a:xfrm>
            <a:off x="736325" y="1542500"/>
            <a:ext cx="346800" cy="41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10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</a:t>
            </a:r>
            <a:r>
              <a:rPr lang="en-GB"/>
              <a:t>Match the descriptions to the correct figure.</a:t>
            </a:r>
            <a:endParaRPr/>
          </a:p>
        </p:txBody>
      </p:sp>
      <p:sp>
        <p:nvSpPr>
          <p:cNvPr id="1230" name="Google Shape;1230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Describing changes</a:t>
            </a:r>
            <a:endParaRPr/>
          </a:p>
        </p:txBody>
      </p:sp>
      <p:sp>
        <p:nvSpPr>
          <p:cNvPr id="1231" name="Google Shape;1231;p100"/>
          <p:cNvSpPr txBox="1"/>
          <p:nvPr/>
        </p:nvSpPr>
        <p:spPr>
          <a:xfrm>
            <a:off x="3244425" y="3551450"/>
            <a:ext cx="25587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image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is </a:t>
            </a: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congruent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and has the same orientation as the </a:t>
            </a: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object.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32" name="Google Shape;1232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8350" y="1310262"/>
            <a:ext cx="1888827" cy="1869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3" name="Google Shape;1233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3650" y="1296800"/>
            <a:ext cx="1855550" cy="2007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4" name="Google Shape;1234;p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86188" y="1369526"/>
            <a:ext cx="2475175" cy="1751212"/>
          </a:xfrm>
          <a:prstGeom prst="rect">
            <a:avLst/>
          </a:prstGeom>
          <a:noFill/>
          <a:ln>
            <a:noFill/>
          </a:ln>
        </p:spPr>
      </p:pic>
      <p:sp>
        <p:nvSpPr>
          <p:cNvPr id="1235" name="Google Shape;1235;p100"/>
          <p:cNvSpPr txBox="1"/>
          <p:nvPr/>
        </p:nvSpPr>
        <p:spPr>
          <a:xfrm>
            <a:off x="685725" y="3551450"/>
            <a:ext cx="2558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image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is </a:t>
            </a: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congruent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but mirrored.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6" name="Google Shape;1236;p100"/>
          <p:cNvSpPr txBox="1"/>
          <p:nvPr/>
        </p:nvSpPr>
        <p:spPr>
          <a:xfrm>
            <a:off x="6388350" y="3497200"/>
            <a:ext cx="2558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image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is </a:t>
            </a: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congruent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but the orientation has changed from the </a:t>
            </a: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object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.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37" name="Google Shape;1237;p100"/>
          <p:cNvCxnSpPr>
            <a:endCxn id="1234" idx="2"/>
          </p:cNvCxnSpPr>
          <p:nvPr/>
        </p:nvCxnSpPr>
        <p:spPr>
          <a:xfrm flipH="1" rot="10800000">
            <a:off x="1599675" y="3120737"/>
            <a:ext cx="2924100" cy="492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8" name="Google Shape;1238;p100"/>
          <p:cNvCxnSpPr>
            <a:endCxn id="1233" idx="2"/>
          </p:cNvCxnSpPr>
          <p:nvPr/>
        </p:nvCxnSpPr>
        <p:spPr>
          <a:xfrm rot="10800000">
            <a:off x="1731425" y="3304726"/>
            <a:ext cx="2840700" cy="308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9" name="Google Shape;1239;p100"/>
          <p:cNvCxnSpPr>
            <a:endCxn id="1232" idx="2"/>
          </p:cNvCxnSpPr>
          <p:nvPr/>
        </p:nvCxnSpPr>
        <p:spPr>
          <a:xfrm rot="10800000">
            <a:off x="7332763" y="3179988"/>
            <a:ext cx="31800" cy="368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10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2"/>
            </a:pPr>
            <a:r>
              <a:rPr lang="en-GB"/>
              <a:t>Complete the table regarding the properties of the </a:t>
            </a:r>
            <a:r>
              <a:rPr b="1" lang="en-GB"/>
              <a:t>image</a:t>
            </a:r>
            <a:r>
              <a:rPr lang="en-GB"/>
              <a:t> compared to the </a:t>
            </a:r>
            <a:r>
              <a:rPr b="1" lang="en-GB"/>
              <a:t>object</a:t>
            </a:r>
            <a:r>
              <a:rPr lang="en-GB"/>
              <a:t> and then use it to write a description.</a:t>
            </a:r>
            <a:endParaRPr/>
          </a:p>
        </p:txBody>
      </p:sp>
      <p:sp>
        <p:nvSpPr>
          <p:cNvPr id="1245" name="Google Shape;1245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Describing changes</a:t>
            </a:r>
            <a:endParaRPr/>
          </a:p>
        </p:txBody>
      </p:sp>
      <p:graphicFrame>
        <p:nvGraphicFramePr>
          <p:cNvPr id="1246" name="Google Shape;1246;p101"/>
          <p:cNvGraphicFramePr/>
          <p:nvPr/>
        </p:nvGraphicFramePr>
        <p:xfrm>
          <a:off x="676550" y="2052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{1DC1DBBE-3FCF-487A-A11E-E24C6848BBB7}</a:tableStyleId>
              </a:tblPr>
              <a:tblGrid>
                <a:gridCol w="1377800"/>
                <a:gridCol w="22656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Property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Changed - yes/no?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Orientation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yes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no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Position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yes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no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Mirrored 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yes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247" name="Google Shape;1247;p101"/>
          <p:cNvPicPr preferRelativeResize="0"/>
          <p:nvPr/>
        </p:nvPicPr>
        <p:blipFill rotWithShape="1">
          <a:blip r:embed="rId3">
            <a:alphaModFix/>
          </a:blip>
          <a:srcRect b="38697" l="18233" r="41471" t="10054"/>
          <a:stretch/>
        </p:blipFill>
        <p:spPr>
          <a:xfrm>
            <a:off x="5464075" y="1665513"/>
            <a:ext cx="2505298" cy="1812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Google Shape;1248;p101"/>
          <p:cNvSpPr txBox="1"/>
          <p:nvPr/>
        </p:nvSpPr>
        <p:spPr>
          <a:xfrm>
            <a:off x="4495225" y="3527400"/>
            <a:ext cx="4103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lengths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and angles are </a:t>
            </a: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invariant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. Its orientation and position has changed. It is a mirror image of the </a:t>
            </a: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object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102"/>
          <p:cNvSpPr txBox="1"/>
          <p:nvPr>
            <p:ph idx="1" type="body"/>
          </p:nvPr>
        </p:nvSpPr>
        <p:spPr>
          <a:xfrm>
            <a:off x="324000" y="759300"/>
            <a:ext cx="8237700" cy="37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</a:t>
            </a:r>
            <a:r>
              <a:rPr lang="en-GB"/>
              <a:t>Write a description for the two </a:t>
            </a:r>
            <a:r>
              <a:rPr b="1" lang="en-GB"/>
              <a:t>transformations</a:t>
            </a:r>
            <a:r>
              <a:rPr lang="en-GB"/>
              <a:t>.</a:t>
            </a:r>
            <a:endParaRPr/>
          </a:p>
        </p:txBody>
      </p:sp>
      <p:sp>
        <p:nvSpPr>
          <p:cNvPr id="1254" name="Google Shape;1254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Describing changes</a:t>
            </a:r>
            <a:endParaRPr/>
          </a:p>
        </p:txBody>
      </p:sp>
      <p:pic>
        <p:nvPicPr>
          <p:cNvPr id="1255" name="Google Shape;1255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7400" y="1537200"/>
            <a:ext cx="2654925" cy="2215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6" name="Google Shape;1256;p102"/>
          <p:cNvSpPr txBox="1"/>
          <p:nvPr/>
        </p:nvSpPr>
        <p:spPr>
          <a:xfrm>
            <a:off x="4575087" y="1399008"/>
            <a:ext cx="3796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57" name="Google Shape;1257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0925" y="1537200"/>
            <a:ext cx="3130650" cy="1997367"/>
          </a:xfrm>
          <a:prstGeom prst="rect">
            <a:avLst/>
          </a:prstGeom>
          <a:noFill/>
          <a:ln>
            <a:noFill/>
          </a:ln>
        </p:spPr>
      </p:pic>
      <p:sp>
        <p:nvSpPr>
          <p:cNvPr id="1258" name="Google Shape;1258;p102"/>
          <p:cNvSpPr txBox="1"/>
          <p:nvPr/>
        </p:nvSpPr>
        <p:spPr>
          <a:xfrm>
            <a:off x="619950" y="3765900"/>
            <a:ext cx="8113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Your descriptions may include: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AutoNum type="alphaLcParenR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object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and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image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are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congruent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but in a different position.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AutoNum type="alphaLcParenR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image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has a different orientation to 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object.</a:t>
            </a:r>
            <a:endParaRPr b="1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9" name="Google Shape;1259;p102"/>
          <p:cNvSpPr txBox="1"/>
          <p:nvPr>
            <p:ph idx="1" type="body"/>
          </p:nvPr>
        </p:nvSpPr>
        <p:spPr>
          <a:xfrm>
            <a:off x="742675" y="1469900"/>
            <a:ext cx="346800" cy="41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103"/>
          <p:cNvSpPr txBox="1"/>
          <p:nvPr>
            <p:ph idx="1" type="body"/>
          </p:nvPr>
        </p:nvSpPr>
        <p:spPr>
          <a:xfrm>
            <a:off x="324000" y="810000"/>
            <a:ext cx="81138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</a:t>
            </a:r>
            <a:r>
              <a:rPr b="1" lang="en-GB"/>
              <a:t>congruent </a:t>
            </a:r>
            <a:r>
              <a:rPr lang="en-GB"/>
              <a:t>shape has not changed size, but may be translated, rotated or reflected. </a:t>
            </a:r>
            <a:br>
              <a:rPr lang="en-GB"/>
            </a:b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 description states how an </a:t>
            </a:r>
            <a:r>
              <a:rPr b="1" lang="en-GB"/>
              <a:t>object </a:t>
            </a:r>
            <a:r>
              <a:rPr lang="en-GB"/>
              <a:t>been changed. </a:t>
            </a:r>
            <a:br>
              <a:rPr lang="en-GB"/>
            </a:b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When a </a:t>
            </a:r>
            <a:r>
              <a:rPr b="1" lang="en-GB"/>
              <a:t>transformation</a:t>
            </a:r>
            <a:r>
              <a:rPr lang="en-GB"/>
              <a:t> has taken place, some of the properties change and some are </a:t>
            </a:r>
            <a:r>
              <a:rPr b="1" lang="en-GB"/>
              <a:t>invariant.</a:t>
            </a:r>
            <a:endParaRPr b="1"/>
          </a:p>
        </p:txBody>
      </p:sp>
      <p:sp>
        <p:nvSpPr>
          <p:cNvPr id="1265" name="Google Shape;1265;p103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basic transformations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104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 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271" name="Google Shape;1271;p1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