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4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4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6d15617a50fc9084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g6d15617a50fc9084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6d15617a50fc9084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g6d15617a50fc9084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6d15617a50fc9084_7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g6d15617a50fc9084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6d15617a50fc9084_7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8" name="Google Shape;858;g6d15617a50fc9084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6d15617a50fc9084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0" name="Google Shape;870;g6d15617a50fc9084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6d15617a50fc9084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g6d15617a50fc9084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6d15617a50fc9084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7" name="Google Shape;897;g6d15617a50fc9084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6d15617a50fc9084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0" name="Google Shape;910;g6d15617a50fc9084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6d15617a50fc9084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g6d15617a50fc9084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6d15617a50fc9084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6" name="Google Shape;946;g6d15617a50fc9084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6d15617a50fc9084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6" name="Google Shape;956;g6d15617a50fc9084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6d15617a50fc9084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9" name="Google Shape;989;g6d15617a50fc9084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6d15617a50fc9084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" name="Google Shape;1013;g6d15617a50fc9084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6d15617a50fc9084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" name="Google Shape;1031;g6d15617a50fc9084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6d15617a50fc9084_9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0" name="Google Shape;1040;g6d15617a50fc9084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6d15617a50fc9084_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4" name="Google Shape;1064;g6d15617a50fc9084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6d15617a50fc9084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5" name="Google Shape;1075;g6d15617a50fc9084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6d15617a50fc9084_9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9" name="Google Shape;1099;g6d15617a50fc9084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6d15617a50fc9084_9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2" name="Google Shape;1112;g6d15617a50fc9084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6d15617a50fc9084_10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8" name="Google Shape;1128;g6d15617a50fc9084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6d15617a50fc9084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8" name="Google Shape;1148;g6d15617a50fc9084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6d15617a50fc9084_1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2" name="Google Shape;1172;g6d15617a50fc9084_1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6d15617a50fc9084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6" name="Google Shape;1196;g6d15617a50fc9084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6d15617a50fc9084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3" name="Google Shape;1203;g6d15617a50fc9084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6d15617a50fc9084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0" name="Google Shape;1210;g6d15617a50fc9084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6d15617a50fc9084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7" name="Google Shape;1217;g6d15617a50fc9084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6d15617a50fc9084_1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5" name="Google Shape;1225;g6d15617a50fc9084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6d15617a50fc9084_1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4" name="Google Shape;1234;g6d15617a50fc9084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2954826d26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4" name="Google Shape;1244;g2954826d2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2954826d26b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4" name="Google Shape;1254;g2954826d26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954826d26b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g2954826d26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6d15617a50fc9084_1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4" name="Google Shape;1274;g6d15617a50fc9084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6d15617a50fc9084_1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8" name="Google Shape;1288;g6d15617a50fc9084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6d15617a50fc9084_1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1" name="Google Shape;1301;g6d15617a50fc9084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6d15617a50fc9084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1" name="Google Shape;1331;g6d15617a50fc9084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6d15617a50fc9084_1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1" name="Google Shape;1361;g6d15617a50fc9084_1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6d15617a50fc9084_1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9" name="Google Shape;1369;g6d15617a50fc9084_1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6d15617a50fc9084_1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6" name="Google Shape;1376;g6d15617a50fc9084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6d15617a50fc9084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3" name="Google Shape;1383;g6d15617a50fc9084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6d15617a50fc9084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5" name="Google Shape;1395;g6d15617a50fc9084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112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Relationship Id="rId7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12.png"/><Relationship Id="rId4" Type="http://schemas.openxmlformats.org/officeDocument/2006/relationships/image" Target="../media/image24.png"/><Relationship Id="rId9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12.png"/><Relationship Id="rId4" Type="http://schemas.openxmlformats.org/officeDocument/2006/relationships/image" Target="../media/image29.png"/><Relationship Id="rId11" Type="http://schemas.openxmlformats.org/officeDocument/2006/relationships/image" Target="../media/image14.png"/><Relationship Id="rId10" Type="http://schemas.openxmlformats.org/officeDocument/2006/relationships/image" Target="../media/image39.png"/><Relationship Id="rId9" Type="http://schemas.openxmlformats.org/officeDocument/2006/relationships/image" Target="../media/image30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12.png"/><Relationship Id="rId4" Type="http://schemas.openxmlformats.org/officeDocument/2006/relationships/image" Target="../media/image24.png"/><Relationship Id="rId9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0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 1">
  <p:cSld name="CUSTOM_3_2_1"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6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6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64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6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6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3" name="Google Shape;753;p64"/>
          <p:cNvCxnSpPr>
            <a:endCxn id="754" idx="2"/>
          </p:cNvCxnSpPr>
          <p:nvPr/>
        </p:nvCxnSpPr>
        <p:spPr>
          <a:xfrm>
            <a:off x="647802" y="1841897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54" name="Google Shape;754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7" name="Google Shape;757;p64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8" name="Google Shape;758;p64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1" name="Google Shape;761;p64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6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 1">
  <p:cSld name="TITLE_AND_TWO_COLUMNS_1_1_5_1_3_1_1_2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8" name="Google Shape;768;p65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9" name="Google Shape;769;p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70" name="Google Shape;77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 1">
  <p:cSld name="TITLE_AND_TWO_COLUMNS_1_1_5_1_3_1_1_1_2">
    <p:bg>
      <p:bgPr>
        <a:solidFill>
          <a:srgbClr val="F3EEFB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6" name="Google Shape;776;p66"/>
          <p:cNvSpPr txBox="1"/>
          <p:nvPr/>
        </p:nvSpPr>
        <p:spPr>
          <a:xfrm>
            <a:off x="324000" y="45525"/>
            <a:ext cx="124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7" name="Google Shape;777;p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78" name="Google Shape;77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 1">
  <p:cSld name="TITLE_AND_TWO_COLUMNS_1_1_5_1_3_1_1_1_1_3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1" name="Google Shape;781;p6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6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4" name="Google Shape;784;p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 1">
  <p:cSld name="TITLE_AND_TWO_COLUMNS_1_1_5_1_3_1_1_1_1_2_1">
    <p:bg>
      <p:bgPr>
        <a:solidFill>
          <a:srgbClr val="E6F2F2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Google Shape;789;p6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6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4" name="Google Shape;794;p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5" name="Google Shape;79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 1">
  <p:cSld name="TITLE_AND_TWO_COLUMNS_1_1_5_1_3_1_2_2"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7" name="Google Shape;797;p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6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0" name="Google Shape;800;p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9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 1">
  <p:cSld name="TITLE_AND_TWO_COLUMNS_1_1_5_1_3_1_2_1_1">
    <p:bg>
      <p:bgPr>
        <a:solidFill>
          <a:srgbClr val="EBEDFE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7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7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8" name="Google Shape;808;p70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0" name="Google Shape;810;p7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1" name="Google Shape;81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theme" Target="../theme/theme1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7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8.png"/><Relationship Id="rId4" Type="http://schemas.openxmlformats.org/officeDocument/2006/relationships/image" Target="../media/image66.png"/><Relationship Id="rId5" Type="http://schemas.openxmlformats.org/officeDocument/2006/relationships/image" Target="../media/image6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0.png"/><Relationship Id="rId4" Type="http://schemas.openxmlformats.org/officeDocument/2006/relationships/image" Target="../media/image73.png"/><Relationship Id="rId5" Type="http://schemas.openxmlformats.org/officeDocument/2006/relationships/image" Target="../media/image71.png"/><Relationship Id="rId6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8.png"/><Relationship Id="rId4" Type="http://schemas.openxmlformats.org/officeDocument/2006/relationships/image" Target="../media/image8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0.png"/><Relationship Id="rId4" Type="http://schemas.openxmlformats.org/officeDocument/2006/relationships/image" Target="../media/image8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0.png"/><Relationship Id="rId4" Type="http://schemas.openxmlformats.org/officeDocument/2006/relationships/image" Target="../media/image73.png"/><Relationship Id="rId5" Type="http://schemas.openxmlformats.org/officeDocument/2006/relationships/image" Target="../media/image71.png"/><Relationship Id="rId6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8.png"/><Relationship Id="rId4" Type="http://schemas.openxmlformats.org/officeDocument/2006/relationships/image" Target="../media/image8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0.png"/><Relationship Id="rId4" Type="http://schemas.openxmlformats.org/officeDocument/2006/relationships/image" Target="../media/image8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0.png"/><Relationship Id="rId4" Type="http://schemas.openxmlformats.org/officeDocument/2006/relationships/image" Target="../media/image9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2.png"/><Relationship Id="rId4" Type="http://schemas.openxmlformats.org/officeDocument/2006/relationships/image" Target="../media/image43.png"/><Relationship Id="rId5" Type="http://schemas.openxmlformats.org/officeDocument/2006/relationships/image" Target="../media/image8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1.png"/><Relationship Id="rId4" Type="http://schemas.openxmlformats.org/officeDocument/2006/relationships/image" Target="../media/image9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6.png"/><Relationship Id="rId4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6.png"/><Relationship Id="rId4" Type="http://schemas.openxmlformats.org/officeDocument/2006/relationships/image" Target="../media/image4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8.png"/><Relationship Id="rId4" Type="http://schemas.openxmlformats.org/officeDocument/2006/relationships/image" Target="../media/image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8.png"/><Relationship Id="rId4" Type="http://schemas.openxmlformats.org/officeDocument/2006/relationships/image" Target="../media/image4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reflection</a:t>
            </a:r>
            <a:endParaRPr/>
          </a:p>
        </p:txBody>
      </p:sp>
      <p:sp>
        <p:nvSpPr>
          <p:cNvPr id="817" name="Google Shape;817;p7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2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3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</a:t>
            </a:r>
            <a:r>
              <a:rPr lang="en-GB"/>
              <a:t> can understand the minimum information required to describe a reflection.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4"/>
          <p:cNvSpPr txBox="1"/>
          <p:nvPr>
            <p:ph idx="2" type="subTitle"/>
          </p:nvPr>
        </p:nvSpPr>
        <p:spPr>
          <a:xfrm>
            <a:off x="324000" y="2238725"/>
            <a:ext cx="85578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0" lang="en-GB"/>
              <a:t>We will explore what </a:t>
            </a:r>
            <a:r>
              <a:rPr lang="en-GB"/>
              <a:t>equidistant </a:t>
            </a:r>
            <a:r>
              <a:rPr b="0" lang="en-GB"/>
              <a:t>means later in </a:t>
            </a:r>
            <a:r>
              <a:rPr b="0" lang="en-GB"/>
              <a:t>the lesson.</a:t>
            </a:r>
            <a:r>
              <a:rPr b="0" lang="en-GB"/>
              <a:t>                          </a:t>
            </a:r>
            <a:endParaRPr b="0"/>
          </a:p>
        </p:txBody>
      </p:sp>
      <p:sp>
        <p:nvSpPr>
          <p:cNvPr id="833" name="Google Shape;833;p74"/>
          <p:cNvSpPr txBox="1"/>
          <p:nvPr>
            <p:ph idx="1" type="subTitle"/>
          </p:nvPr>
        </p:nvSpPr>
        <p:spPr>
          <a:xfrm>
            <a:off x="324000" y="993650"/>
            <a:ext cx="8336400" cy="10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0" lang="en-GB"/>
              <a:t>We will explore what </a:t>
            </a:r>
            <a:r>
              <a:rPr lang="en-GB"/>
              <a:t>line of reflection </a:t>
            </a:r>
            <a:r>
              <a:rPr b="0" lang="en-GB"/>
              <a:t>means later in the lesson.</a:t>
            </a:r>
            <a:endParaRPr b="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5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Describing a reflection with formal language</a:t>
            </a:r>
            <a:endParaRPr/>
          </a:p>
        </p:txBody>
      </p:sp>
      <p:sp>
        <p:nvSpPr>
          <p:cNvPr id="839" name="Google Shape;839;p75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Applying strategies for finding the mirror line</a:t>
            </a:r>
            <a:endParaRPr/>
          </a:p>
        </p:txBody>
      </p:sp>
      <p:sp>
        <p:nvSpPr>
          <p:cNvPr id="840" name="Google Shape;840;p75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Diagonal reflections and non-reflections</a:t>
            </a:r>
            <a:endParaRPr/>
          </a:p>
        </p:txBody>
      </p:sp>
      <p:sp>
        <p:nvSpPr>
          <p:cNvPr id="841" name="Google Shape;841;p75"/>
          <p:cNvSpPr txBox="1"/>
          <p:nvPr>
            <p:ph idx="4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Describing a reflection</a:t>
            </a:r>
            <a:endParaRPr/>
          </a:p>
        </p:txBody>
      </p:sp>
      <p:pic>
        <p:nvPicPr>
          <p:cNvPr id="842" name="Google Shape;842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50" y="17483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Describing a reflection with formal language</a:t>
            </a:r>
            <a:endParaRPr/>
          </a:p>
        </p:txBody>
      </p:sp>
      <p:sp>
        <p:nvSpPr>
          <p:cNvPr id="848" name="Google Shape;848;p76"/>
          <p:cNvSpPr txBox="1"/>
          <p:nvPr>
            <p:ph idx="1" type="body"/>
          </p:nvPr>
        </p:nvSpPr>
        <p:spPr>
          <a:xfrm>
            <a:off x="324000" y="759300"/>
            <a:ext cx="6567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When an object is reflected, the image can be any distance away from the object.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849" name="Google Shape;849;p76"/>
          <p:cNvSpPr/>
          <p:nvPr/>
        </p:nvSpPr>
        <p:spPr>
          <a:xfrm>
            <a:off x="568036" y="2507672"/>
            <a:ext cx="2036700" cy="1078200"/>
          </a:xfrm>
          <a:prstGeom prst="snip1Rect">
            <a:avLst>
              <a:gd fmla="val 50000" name="adj"/>
            </a:avLst>
          </a:prstGeom>
          <a:solidFill>
            <a:srgbClr val="037B7D">
              <a:alpha val="14900"/>
            </a:srgbClr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0" name="Google Shape;850;p76"/>
          <p:cNvCxnSpPr/>
          <p:nvPr/>
        </p:nvCxnSpPr>
        <p:spPr>
          <a:xfrm>
            <a:off x="3373583" y="1960417"/>
            <a:ext cx="0" cy="202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51" name="Google Shape;851;p76"/>
          <p:cNvSpPr/>
          <p:nvPr/>
        </p:nvSpPr>
        <p:spPr>
          <a:xfrm flipH="1">
            <a:off x="4142429" y="2507672"/>
            <a:ext cx="2036700" cy="1078200"/>
          </a:xfrm>
          <a:prstGeom prst="snip1Rect">
            <a:avLst>
              <a:gd fmla="val 50000" name="adj"/>
            </a:avLst>
          </a:prstGeom>
          <a:solidFill>
            <a:srgbClr val="845AD9">
              <a:alpha val="1490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2" name="Google Shape;852;p76"/>
          <p:cNvCxnSpPr/>
          <p:nvPr/>
        </p:nvCxnSpPr>
        <p:spPr>
          <a:xfrm>
            <a:off x="4329546" y="1960417"/>
            <a:ext cx="0" cy="202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53" name="Google Shape;853;p76"/>
          <p:cNvSpPr/>
          <p:nvPr/>
        </p:nvSpPr>
        <p:spPr>
          <a:xfrm flipH="1">
            <a:off x="6054357" y="2507672"/>
            <a:ext cx="2036700" cy="1078200"/>
          </a:xfrm>
          <a:prstGeom prst="snip1Rect">
            <a:avLst>
              <a:gd fmla="val 50000" name="adj"/>
            </a:avLst>
          </a:prstGeom>
          <a:solidFill>
            <a:srgbClr val="845AD9">
              <a:alpha val="1490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4" name="Google Shape;854;p76"/>
          <p:cNvCxnSpPr/>
          <p:nvPr/>
        </p:nvCxnSpPr>
        <p:spPr>
          <a:xfrm>
            <a:off x="2708564" y="1960417"/>
            <a:ext cx="0" cy="202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55" name="Google Shape;855;p76"/>
          <p:cNvSpPr/>
          <p:nvPr/>
        </p:nvSpPr>
        <p:spPr>
          <a:xfrm flipH="1">
            <a:off x="2812393" y="2507672"/>
            <a:ext cx="2036700" cy="1078200"/>
          </a:xfrm>
          <a:prstGeom prst="snip1Rect">
            <a:avLst>
              <a:gd fmla="val 50000" name="adj"/>
            </a:avLst>
          </a:prstGeom>
          <a:solidFill>
            <a:srgbClr val="845AD9">
              <a:alpha val="1490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Describing a reflection with formal language</a:t>
            </a:r>
            <a:endParaRPr/>
          </a:p>
        </p:txBody>
      </p:sp>
      <p:sp>
        <p:nvSpPr>
          <p:cNvPr id="861" name="Google Shape;861;p77"/>
          <p:cNvSpPr txBox="1"/>
          <p:nvPr>
            <p:ph idx="1" type="body"/>
          </p:nvPr>
        </p:nvSpPr>
        <p:spPr>
          <a:xfrm>
            <a:off x="324000" y="759300"/>
            <a:ext cx="8496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This dotted line is used to define the location of the reflection.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 the name of this line?</a:t>
            </a:r>
            <a:endParaRPr/>
          </a:p>
        </p:txBody>
      </p:sp>
      <p:sp>
        <p:nvSpPr>
          <p:cNvPr id="862" name="Google Shape;862;p77"/>
          <p:cNvSpPr/>
          <p:nvPr/>
        </p:nvSpPr>
        <p:spPr>
          <a:xfrm>
            <a:off x="568036" y="2507672"/>
            <a:ext cx="2036700" cy="1078200"/>
          </a:xfrm>
          <a:prstGeom prst="snip1Rect">
            <a:avLst>
              <a:gd fmla="val 50000" name="adj"/>
            </a:avLst>
          </a:prstGeom>
          <a:solidFill>
            <a:srgbClr val="037B7D">
              <a:alpha val="14900"/>
            </a:srgbClr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3" name="Google Shape;863;p77"/>
          <p:cNvCxnSpPr/>
          <p:nvPr/>
        </p:nvCxnSpPr>
        <p:spPr>
          <a:xfrm>
            <a:off x="2708564" y="1960417"/>
            <a:ext cx="0" cy="202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64" name="Google Shape;864;p77"/>
          <p:cNvSpPr/>
          <p:nvPr/>
        </p:nvSpPr>
        <p:spPr>
          <a:xfrm flipH="1">
            <a:off x="2812393" y="2507672"/>
            <a:ext cx="2036700" cy="1078200"/>
          </a:xfrm>
          <a:prstGeom prst="snip1Rect">
            <a:avLst>
              <a:gd fmla="val 50000" name="adj"/>
            </a:avLst>
          </a:prstGeom>
          <a:solidFill>
            <a:srgbClr val="845AD9">
              <a:alpha val="1490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77"/>
          <p:cNvSpPr txBox="1"/>
          <p:nvPr/>
        </p:nvSpPr>
        <p:spPr>
          <a:xfrm>
            <a:off x="5361709" y="1960417"/>
            <a:ext cx="3458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mirror line       or   </a:t>
            </a:r>
            <a:endParaRPr/>
          </a:p>
        </p:txBody>
      </p:sp>
      <p:sp>
        <p:nvSpPr>
          <p:cNvPr id="866" name="Google Shape;866;p77"/>
          <p:cNvSpPr txBox="1"/>
          <p:nvPr/>
        </p:nvSpPr>
        <p:spPr>
          <a:xfrm>
            <a:off x="5361709" y="2355272"/>
            <a:ext cx="3458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line of reflection</a:t>
            </a:r>
            <a:endParaRPr b="1"/>
          </a:p>
        </p:txBody>
      </p:sp>
      <p:cxnSp>
        <p:nvCxnSpPr>
          <p:cNvPr id="867" name="Google Shape;867;p77"/>
          <p:cNvCxnSpPr/>
          <p:nvPr/>
        </p:nvCxnSpPr>
        <p:spPr>
          <a:xfrm>
            <a:off x="2811896" y="2036992"/>
            <a:ext cx="2446500" cy="12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8"/>
          <p:cNvSpPr txBox="1"/>
          <p:nvPr>
            <p:ph idx="1" type="body"/>
          </p:nvPr>
        </p:nvSpPr>
        <p:spPr>
          <a:xfrm>
            <a:off x="630000" y="2597725"/>
            <a:ext cx="1562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vertical</a:t>
            </a:r>
            <a:endParaRPr sz="2000"/>
          </a:p>
        </p:txBody>
      </p:sp>
      <p:sp>
        <p:nvSpPr>
          <p:cNvPr id="873" name="Google Shape;873;p78"/>
          <p:cNvSpPr txBox="1"/>
          <p:nvPr>
            <p:ph idx="1" type="body"/>
          </p:nvPr>
        </p:nvSpPr>
        <p:spPr>
          <a:xfrm>
            <a:off x="630000" y="1060100"/>
            <a:ext cx="1562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horizontal </a:t>
            </a:r>
            <a:endParaRPr sz="2000"/>
          </a:p>
        </p:txBody>
      </p:sp>
      <p:sp>
        <p:nvSpPr>
          <p:cNvPr id="874" name="Google Shape;874;p78"/>
          <p:cNvSpPr txBox="1"/>
          <p:nvPr>
            <p:ph idx="1" type="body"/>
          </p:nvPr>
        </p:nvSpPr>
        <p:spPr>
          <a:xfrm>
            <a:off x="817975" y="3055050"/>
            <a:ext cx="22467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This type of reflection happens when a shape is reflected either up or down</a:t>
            </a:r>
            <a:endParaRPr sz="1800"/>
          </a:p>
        </p:txBody>
      </p:sp>
      <p:sp>
        <p:nvSpPr>
          <p:cNvPr id="875" name="Google Shape;875;p78"/>
          <p:cNvSpPr txBox="1"/>
          <p:nvPr>
            <p:ph idx="1" type="body"/>
          </p:nvPr>
        </p:nvSpPr>
        <p:spPr>
          <a:xfrm>
            <a:off x="324000" y="683100"/>
            <a:ext cx="8496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There are three types of reflection:</a:t>
            </a:r>
            <a:endParaRPr sz="2000"/>
          </a:p>
        </p:txBody>
      </p:sp>
      <p:sp>
        <p:nvSpPr>
          <p:cNvPr id="876" name="Google Shape;876;p78"/>
          <p:cNvSpPr txBox="1"/>
          <p:nvPr>
            <p:ph idx="1" type="body"/>
          </p:nvPr>
        </p:nvSpPr>
        <p:spPr>
          <a:xfrm>
            <a:off x="817975" y="1384150"/>
            <a:ext cx="46515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This type of reflection happens when a shape is reflected either left or right</a:t>
            </a:r>
            <a:endParaRPr sz="1800"/>
          </a:p>
        </p:txBody>
      </p:sp>
      <p:sp>
        <p:nvSpPr>
          <p:cNvPr id="877" name="Google Shape;877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Describing a reflection with formal language</a:t>
            </a:r>
            <a:endParaRPr/>
          </a:p>
        </p:txBody>
      </p:sp>
      <p:pic>
        <p:nvPicPr>
          <p:cNvPr id="878" name="Google Shape;87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8181" y="1080001"/>
            <a:ext cx="3290070" cy="10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5049" y="2655625"/>
            <a:ext cx="1334950" cy="2164775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78"/>
          <p:cNvSpPr txBox="1"/>
          <p:nvPr>
            <p:ph idx="1" type="body"/>
          </p:nvPr>
        </p:nvSpPr>
        <p:spPr>
          <a:xfrm>
            <a:off x="4953291" y="2597725"/>
            <a:ext cx="1562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diagonal</a:t>
            </a:r>
            <a:endParaRPr sz="2000"/>
          </a:p>
        </p:txBody>
      </p:sp>
      <p:sp>
        <p:nvSpPr>
          <p:cNvPr id="881" name="Google Shape;881;p78"/>
          <p:cNvSpPr txBox="1"/>
          <p:nvPr>
            <p:ph idx="1" type="body"/>
          </p:nvPr>
        </p:nvSpPr>
        <p:spPr>
          <a:xfrm>
            <a:off x="5141279" y="3055050"/>
            <a:ext cx="19599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This type of reflection happens when a shape is reflected diagonally</a:t>
            </a:r>
            <a:endParaRPr sz="1800"/>
          </a:p>
        </p:txBody>
      </p:sp>
      <p:pic>
        <p:nvPicPr>
          <p:cNvPr id="882" name="Google Shape;882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8600" y="2655625"/>
            <a:ext cx="1721396" cy="1727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3" name="Google Shape;883;p78"/>
          <p:cNvCxnSpPr/>
          <p:nvPr/>
        </p:nvCxnSpPr>
        <p:spPr>
          <a:xfrm>
            <a:off x="6290275" y="1607725"/>
            <a:ext cx="125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84" name="Google Shape;884;p78"/>
          <p:cNvCxnSpPr/>
          <p:nvPr/>
        </p:nvCxnSpPr>
        <p:spPr>
          <a:xfrm>
            <a:off x="3667650" y="3557125"/>
            <a:ext cx="0" cy="35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85" name="Google Shape;885;p78"/>
          <p:cNvCxnSpPr/>
          <p:nvPr/>
        </p:nvCxnSpPr>
        <p:spPr>
          <a:xfrm flipH="1" rot="10800000">
            <a:off x="7727175" y="3315925"/>
            <a:ext cx="462300" cy="41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9"/>
          <p:cNvSpPr txBox="1"/>
          <p:nvPr>
            <p:ph idx="1" type="body"/>
          </p:nvPr>
        </p:nvSpPr>
        <p:spPr>
          <a:xfrm>
            <a:off x="324000" y="683100"/>
            <a:ext cx="8496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Three pieces of information are needed to describe a reflection:</a:t>
            </a:r>
            <a:endParaRPr sz="2000"/>
          </a:p>
        </p:txBody>
      </p:sp>
      <p:sp>
        <p:nvSpPr>
          <p:cNvPr id="891" name="Google Shape;891;p79"/>
          <p:cNvSpPr txBox="1"/>
          <p:nvPr>
            <p:ph idx="1" type="body"/>
          </p:nvPr>
        </p:nvSpPr>
        <p:spPr>
          <a:xfrm>
            <a:off x="1115175" y="1098518"/>
            <a:ext cx="77049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1) state it is a reflection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2) state whether the reflection horizontal, vertical, or diagonal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3) describe the location of the </a:t>
            </a:r>
            <a:r>
              <a:rPr b="1" lang="en-GB" sz="1800"/>
              <a:t>line of reflection</a:t>
            </a:r>
            <a:r>
              <a:rPr lang="en-GB" sz="1800"/>
              <a:t> with two coordinates</a:t>
            </a:r>
            <a:endParaRPr sz="1800"/>
          </a:p>
        </p:txBody>
      </p:sp>
      <p:sp>
        <p:nvSpPr>
          <p:cNvPr id="892" name="Google Shape;892;p79"/>
          <p:cNvSpPr txBox="1"/>
          <p:nvPr>
            <p:ph idx="1" type="body"/>
          </p:nvPr>
        </p:nvSpPr>
        <p:spPr>
          <a:xfrm>
            <a:off x="324000" y="2699994"/>
            <a:ext cx="37125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This is a horizontal reflection,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with a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line of reflection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that passes through (8, 0) and (8, 3).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3" name="Google Shape;89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Describing a reflection with formal language</a:t>
            </a:r>
            <a:endParaRPr/>
          </a:p>
        </p:txBody>
      </p:sp>
      <p:pic>
        <p:nvPicPr>
          <p:cNvPr id="894" name="Google Shape;894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6613" y="2699998"/>
            <a:ext cx="4440372" cy="16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9" name="Google Shape;899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50" y="3333750"/>
            <a:ext cx="1466901" cy="9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0"/>
          <p:cNvPicPr preferRelativeResize="0"/>
          <p:nvPr/>
        </p:nvPicPr>
        <p:blipFill rotWithShape="1">
          <a:blip r:embed="rId4">
            <a:alphaModFix/>
          </a:blip>
          <a:srcRect b="43327" l="-185" r="59770" t="-2012"/>
          <a:stretch/>
        </p:blipFill>
        <p:spPr>
          <a:xfrm flipH="1">
            <a:off x="1209749" y="1694550"/>
            <a:ext cx="3281326" cy="2317575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0"/>
          <p:cNvSpPr txBox="1"/>
          <p:nvPr>
            <p:ph idx="1" type="body"/>
          </p:nvPr>
        </p:nvSpPr>
        <p:spPr>
          <a:xfrm>
            <a:off x="324000" y="4412700"/>
            <a:ext cx="934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Lucas</a:t>
            </a:r>
            <a:endParaRPr/>
          </a:p>
        </p:txBody>
      </p:sp>
      <p:sp>
        <p:nvSpPr>
          <p:cNvPr id="902" name="Google Shape;90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Describing a reflection with formal language</a:t>
            </a:r>
            <a:endParaRPr/>
          </a:p>
        </p:txBody>
      </p:sp>
      <p:sp>
        <p:nvSpPr>
          <p:cNvPr id="903" name="Google Shape;903;p80"/>
          <p:cNvSpPr txBox="1"/>
          <p:nvPr>
            <p:ph idx="1" type="body"/>
          </p:nvPr>
        </p:nvSpPr>
        <p:spPr>
          <a:xfrm>
            <a:off x="324000" y="759300"/>
            <a:ext cx="60105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/>
              <a:t>Complete Lucas’ description of the reflection.</a:t>
            </a:r>
            <a:endParaRPr/>
          </a:p>
        </p:txBody>
      </p:sp>
      <p:sp>
        <p:nvSpPr>
          <p:cNvPr id="904" name="Google Shape;904;p80"/>
          <p:cNvSpPr txBox="1"/>
          <p:nvPr/>
        </p:nvSpPr>
        <p:spPr>
          <a:xfrm>
            <a:off x="1343316" y="1862667"/>
            <a:ext cx="3034800" cy="17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is a </a:t>
            </a:r>
            <a:r>
              <a:rPr b="0" i="0" lang="en-GB" sz="2000" u="sng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</a:t>
            </a:r>
            <a:r>
              <a:rPr b="0" i="0" lang="en-GB" sz="2000" u="sng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b="0" i="0" lang="en-GB" sz="2000" u="sng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0" lang="en-GB" sz="2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 in the line that passes through the coordinates ( </a:t>
            </a:r>
            <a:r>
              <a:rPr b="0" i="0" lang="en-GB" sz="2000" u="sng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b="0" i="0" lang="en-GB" sz="2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, 4) and (9, 9).</a:t>
            </a:r>
            <a:endParaRPr b="0" i="0" sz="2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5" name="Google Shape;905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4300" y="1335900"/>
            <a:ext cx="4135699" cy="2317563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80"/>
          <p:cNvSpPr txBox="1"/>
          <p:nvPr>
            <p:ph idx="1" type="body"/>
          </p:nvPr>
        </p:nvSpPr>
        <p:spPr>
          <a:xfrm>
            <a:off x="2397275" y="1842519"/>
            <a:ext cx="1289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horizontal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7" name="Google Shape;907;p80"/>
          <p:cNvSpPr txBox="1"/>
          <p:nvPr>
            <p:ph idx="1" type="body"/>
          </p:nvPr>
        </p:nvSpPr>
        <p:spPr>
          <a:xfrm>
            <a:off x="3027285" y="2880000"/>
            <a:ext cx="438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9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81"/>
          <p:cNvSpPr txBox="1"/>
          <p:nvPr>
            <p:ph idx="1" type="body"/>
          </p:nvPr>
        </p:nvSpPr>
        <p:spPr>
          <a:xfrm>
            <a:off x="324000" y="759300"/>
            <a:ext cx="8496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1) Match the descriptions to the reflections.</a:t>
            </a:r>
            <a:endParaRPr sz="2000"/>
          </a:p>
        </p:txBody>
      </p:sp>
      <p:sp>
        <p:nvSpPr>
          <p:cNvPr id="913" name="Google Shape;913;p81"/>
          <p:cNvSpPr txBox="1"/>
          <p:nvPr>
            <p:ph idx="2" type="subTitle"/>
          </p:nvPr>
        </p:nvSpPr>
        <p:spPr>
          <a:xfrm>
            <a:off x="14938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Describing a reflection with formal language</a:t>
            </a:r>
            <a:endParaRPr/>
          </a:p>
        </p:txBody>
      </p:sp>
      <p:pic>
        <p:nvPicPr>
          <p:cNvPr id="914" name="Google Shape;914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1975" y="1231375"/>
            <a:ext cx="1350772" cy="198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3714" y="3288488"/>
            <a:ext cx="1763812" cy="1531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8515" y="1231375"/>
            <a:ext cx="1481485" cy="1982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7" name="Google Shape;917;p81"/>
          <p:cNvGrpSpPr/>
          <p:nvPr/>
        </p:nvGrpSpPr>
        <p:grpSpPr>
          <a:xfrm>
            <a:off x="6295541" y="810000"/>
            <a:ext cx="457200" cy="457200"/>
            <a:chOff x="1020916" y="1442088"/>
            <a:chExt cx="457200" cy="457200"/>
          </a:xfrm>
        </p:grpSpPr>
        <p:pic>
          <p:nvPicPr>
            <p:cNvPr id="918" name="Google Shape;918;p8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9" name="Google Shape;919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0" name="Google Shape;920;p81"/>
          <p:cNvGrpSpPr/>
          <p:nvPr/>
        </p:nvGrpSpPr>
        <p:grpSpPr>
          <a:xfrm>
            <a:off x="8362791" y="810000"/>
            <a:ext cx="457200" cy="457200"/>
            <a:chOff x="1020916" y="1442088"/>
            <a:chExt cx="457200" cy="457200"/>
          </a:xfrm>
        </p:grpSpPr>
        <p:pic>
          <p:nvPicPr>
            <p:cNvPr id="921" name="Google Shape;921;p8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" name="Google Shape;922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3" name="Google Shape;923;p81"/>
          <p:cNvGrpSpPr/>
          <p:nvPr/>
        </p:nvGrpSpPr>
        <p:grpSpPr>
          <a:xfrm>
            <a:off x="7878066" y="3288500"/>
            <a:ext cx="457200" cy="457200"/>
            <a:chOff x="1020916" y="1442088"/>
            <a:chExt cx="457200" cy="457200"/>
          </a:xfrm>
        </p:grpSpPr>
        <p:pic>
          <p:nvPicPr>
            <p:cNvPr id="924" name="Google Shape;924;p8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6" name="Google Shape;926;p81"/>
          <p:cNvSpPr txBox="1"/>
          <p:nvPr>
            <p:ph idx="1" type="body"/>
          </p:nvPr>
        </p:nvSpPr>
        <p:spPr>
          <a:xfrm>
            <a:off x="1237300" y="1452150"/>
            <a:ext cx="40014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Horizontal reflection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GB" sz="1800"/>
              <a:t>Line of reflection</a:t>
            </a:r>
            <a:r>
              <a:rPr lang="en-GB" sz="1800"/>
              <a:t> through the coordinates (2, 5) and (2, 0).</a:t>
            </a:r>
            <a:endParaRPr sz="1800"/>
          </a:p>
        </p:txBody>
      </p:sp>
      <p:sp>
        <p:nvSpPr>
          <p:cNvPr id="927" name="Google Shape;927;p81"/>
          <p:cNvSpPr txBox="1"/>
          <p:nvPr>
            <p:ph idx="1" type="body"/>
          </p:nvPr>
        </p:nvSpPr>
        <p:spPr>
          <a:xfrm>
            <a:off x="964074" y="1160549"/>
            <a:ext cx="2349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Description 1</a:t>
            </a:r>
            <a:endParaRPr sz="1800"/>
          </a:p>
        </p:txBody>
      </p:sp>
      <p:sp>
        <p:nvSpPr>
          <p:cNvPr id="928" name="Google Shape;928;p81"/>
          <p:cNvSpPr txBox="1"/>
          <p:nvPr>
            <p:ph idx="1" type="body"/>
          </p:nvPr>
        </p:nvSpPr>
        <p:spPr>
          <a:xfrm>
            <a:off x="1237300" y="4015650"/>
            <a:ext cx="40014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Vertical reflection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GB" sz="1800"/>
              <a:t>Line of reflection</a:t>
            </a:r>
            <a:r>
              <a:rPr lang="en-GB" sz="1800"/>
              <a:t> through the coordinates (2, 5) and (0, 5).</a:t>
            </a:r>
            <a:endParaRPr sz="1800"/>
          </a:p>
        </p:txBody>
      </p:sp>
      <p:sp>
        <p:nvSpPr>
          <p:cNvPr id="929" name="Google Shape;929;p81"/>
          <p:cNvSpPr txBox="1"/>
          <p:nvPr>
            <p:ph idx="1" type="body"/>
          </p:nvPr>
        </p:nvSpPr>
        <p:spPr>
          <a:xfrm>
            <a:off x="1237300" y="2731200"/>
            <a:ext cx="40014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Vertical reflection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GB" sz="1800"/>
              <a:t>Line of reflection</a:t>
            </a:r>
            <a:r>
              <a:rPr lang="en-GB" sz="1800"/>
              <a:t> through the coordinates (5, 2) and (0, 2).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t/>
            </a:r>
            <a:endParaRPr sz="1800"/>
          </a:p>
        </p:txBody>
      </p:sp>
      <p:sp>
        <p:nvSpPr>
          <p:cNvPr id="930" name="Google Shape;930;p81"/>
          <p:cNvSpPr txBox="1"/>
          <p:nvPr>
            <p:ph idx="1" type="body"/>
          </p:nvPr>
        </p:nvSpPr>
        <p:spPr>
          <a:xfrm>
            <a:off x="964074" y="2442299"/>
            <a:ext cx="2349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Description 2</a:t>
            </a:r>
            <a:endParaRPr sz="1800"/>
          </a:p>
        </p:txBody>
      </p:sp>
      <p:sp>
        <p:nvSpPr>
          <p:cNvPr id="931" name="Google Shape;931;p81"/>
          <p:cNvSpPr txBox="1"/>
          <p:nvPr>
            <p:ph idx="1" type="body"/>
          </p:nvPr>
        </p:nvSpPr>
        <p:spPr>
          <a:xfrm>
            <a:off x="964074" y="3724049"/>
            <a:ext cx="2349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Description 3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82"/>
          <p:cNvSpPr txBox="1"/>
          <p:nvPr>
            <p:ph idx="1" type="body"/>
          </p:nvPr>
        </p:nvSpPr>
        <p:spPr>
          <a:xfrm>
            <a:off x="324000" y="759300"/>
            <a:ext cx="8496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2) Complete the descriptions of these reflections.</a:t>
            </a:r>
            <a:endParaRPr sz="2000"/>
          </a:p>
        </p:txBody>
      </p:sp>
      <p:sp>
        <p:nvSpPr>
          <p:cNvPr id="937" name="Google Shape;937;p82"/>
          <p:cNvSpPr txBox="1"/>
          <p:nvPr>
            <p:ph idx="2" type="subTitle"/>
          </p:nvPr>
        </p:nvSpPr>
        <p:spPr>
          <a:xfrm>
            <a:off x="14938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Describing a reflection with formal language</a:t>
            </a:r>
            <a:endParaRPr/>
          </a:p>
        </p:txBody>
      </p:sp>
      <p:pic>
        <p:nvPicPr>
          <p:cNvPr id="938" name="Google Shape;938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0275" y="1130283"/>
            <a:ext cx="2598400" cy="1747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5438" y="3029800"/>
            <a:ext cx="2028063" cy="17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2"/>
          <p:cNvSpPr txBox="1"/>
          <p:nvPr>
            <p:ph idx="1" type="body"/>
          </p:nvPr>
        </p:nvSpPr>
        <p:spPr>
          <a:xfrm>
            <a:off x="1237300" y="3653425"/>
            <a:ext cx="43008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 </a:t>
            </a:r>
            <a:r>
              <a:rPr lang="en-GB" sz="1800" u="sng"/>
              <a:t>                        </a:t>
            </a:r>
            <a:r>
              <a:rPr lang="en-GB" sz="1800"/>
              <a:t>  </a:t>
            </a:r>
            <a:r>
              <a:rPr lang="en-GB" sz="1800" u="sng"/>
              <a:t>                        </a:t>
            </a:r>
            <a:r>
              <a:rPr lang="en-GB" sz="1800"/>
              <a:t> </a:t>
            </a:r>
            <a:r>
              <a:rPr lang="en-GB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GB" sz="1800"/>
              <a:t>Line of reflection</a:t>
            </a:r>
            <a:r>
              <a:rPr lang="en-GB" sz="1800"/>
              <a:t> through the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coordinates ( </a:t>
            </a:r>
            <a:r>
              <a:rPr lang="en-GB" sz="1800" u="sng"/>
              <a:t>    </a:t>
            </a:r>
            <a:r>
              <a:rPr lang="en-GB" sz="1800"/>
              <a:t> , </a:t>
            </a:r>
            <a:r>
              <a:rPr lang="en-GB" sz="1800" u="sng"/>
              <a:t>    </a:t>
            </a:r>
            <a:r>
              <a:rPr lang="en-GB" sz="1800"/>
              <a:t> ) and ( </a:t>
            </a:r>
            <a:r>
              <a:rPr lang="en-GB" sz="1800" u="sng"/>
              <a:t>    </a:t>
            </a:r>
            <a:r>
              <a:rPr lang="en-GB" sz="1800"/>
              <a:t> , </a:t>
            </a:r>
            <a:r>
              <a:rPr lang="en-GB" sz="1800" u="sng"/>
              <a:t>    </a:t>
            </a:r>
            <a:r>
              <a:rPr lang="en-GB" sz="1800"/>
              <a:t> ).</a:t>
            </a:r>
            <a:endParaRPr sz="1800"/>
          </a:p>
        </p:txBody>
      </p:sp>
      <p:sp>
        <p:nvSpPr>
          <p:cNvPr id="941" name="Google Shape;941;p82"/>
          <p:cNvSpPr txBox="1"/>
          <p:nvPr>
            <p:ph idx="1" type="body"/>
          </p:nvPr>
        </p:nvSpPr>
        <p:spPr>
          <a:xfrm>
            <a:off x="964074" y="1282674"/>
            <a:ext cx="2349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Description 1</a:t>
            </a:r>
            <a:endParaRPr sz="1800"/>
          </a:p>
        </p:txBody>
      </p:sp>
      <p:sp>
        <p:nvSpPr>
          <p:cNvPr id="942" name="Google Shape;942;p82"/>
          <p:cNvSpPr txBox="1"/>
          <p:nvPr>
            <p:ph idx="1" type="body"/>
          </p:nvPr>
        </p:nvSpPr>
        <p:spPr>
          <a:xfrm>
            <a:off x="964074" y="3364524"/>
            <a:ext cx="2349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Description 2</a:t>
            </a:r>
            <a:endParaRPr sz="1800"/>
          </a:p>
        </p:txBody>
      </p:sp>
      <p:sp>
        <p:nvSpPr>
          <p:cNvPr id="943" name="Google Shape;943;p82"/>
          <p:cNvSpPr txBox="1"/>
          <p:nvPr>
            <p:ph idx="1" type="body"/>
          </p:nvPr>
        </p:nvSpPr>
        <p:spPr>
          <a:xfrm>
            <a:off x="1237300" y="1574275"/>
            <a:ext cx="43008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 </a:t>
            </a:r>
            <a:r>
              <a:rPr lang="en-GB" sz="1800" u="sng"/>
              <a:t>                        </a:t>
            </a:r>
            <a:r>
              <a:rPr lang="en-GB" sz="1800"/>
              <a:t> reflection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GB" sz="1800"/>
              <a:t>Line of reflection</a:t>
            </a:r>
            <a:r>
              <a:rPr lang="en-GB" sz="1800"/>
              <a:t> through the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coordinates ( </a:t>
            </a:r>
            <a:r>
              <a:rPr lang="en-GB" sz="1800" u="sng"/>
              <a:t>     </a:t>
            </a:r>
            <a:r>
              <a:rPr lang="en-GB" sz="1800"/>
              <a:t> , 5) and ( </a:t>
            </a:r>
            <a:r>
              <a:rPr lang="en-GB" sz="1800" u="sng"/>
              <a:t>     </a:t>
            </a:r>
            <a:r>
              <a:rPr lang="en-GB" sz="1800"/>
              <a:t> , 1).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3"/>
          <p:cNvSpPr txBox="1"/>
          <p:nvPr>
            <p:ph idx="1" type="body"/>
          </p:nvPr>
        </p:nvSpPr>
        <p:spPr>
          <a:xfrm>
            <a:off x="324000" y="759300"/>
            <a:ext cx="8496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3) Write full descriptions to these reflections.</a:t>
            </a:r>
            <a:endParaRPr sz="2000"/>
          </a:p>
        </p:txBody>
      </p:sp>
      <p:sp>
        <p:nvSpPr>
          <p:cNvPr id="949" name="Google Shape;949;p83"/>
          <p:cNvSpPr txBox="1"/>
          <p:nvPr>
            <p:ph idx="2" type="subTitle"/>
          </p:nvPr>
        </p:nvSpPr>
        <p:spPr>
          <a:xfrm>
            <a:off x="14938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Describing a reflection with formal language</a:t>
            </a:r>
            <a:endParaRPr/>
          </a:p>
        </p:txBody>
      </p:sp>
      <p:sp>
        <p:nvSpPr>
          <p:cNvPr id="950" name="Google Shape;950;p83"/>
          <p:cNvSpPr txBox="1"/>
          <p:nvPr>
            <p:ph idx="1" type="body"/>
          </p:nvPr>
        </p:nvSpPr>
        <p:spPr>
          <a:xfrm>
            <a:off x="964074" y="1282674"/>
            <a:ext cx="2349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Description 1</a:t>
            </a:r>
            <a:endParaRPr sz="1800"/>
          </a:p>
        </p:txBody>
      </p:sp>
      <p:sp>
        <p:nvSpPr>
          <p:cNvPr id="951" name="Google Shape;951;p83"/>
          <p:cNvSpPr txBox="1"/>
          <p:nvPr>
            <p:ph idx="1" type="body"/>
          </p:nvPr>
        </p:nvSpPr>
        <p:spPr>
          <a:xfrm>
            <a:off x="964074" y="3364524"/>
            <a:ext cx="2349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Description 2</a:t>
            </a:r>
            <a:endParaRPr sz="1800"/>
          </a:p>
        </p:txBody>
      </p:sp>
      <p:pic>
        <p:nvPicPr>
          <p:cNvPr id="952" name="Google Shape;95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675" y="1130275"/>
            <a:ext cx="1695976" cy="16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684" y="3212125"/>
            <a:ext cx="2833114" cy="16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84"/>
          <p:cNvSpPr txBox="1"/>
          <p:nvPr>
            <p:ph idx="2" type="subTitle"/>
          </p:nvPr>
        </p:nvSpPr>
        <p:spPr>
          <a:xfrm>
            <a:off x="14938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Describing a reflection with formal language</a:t>
            </a:r>
            <a:endParaRPr/>
          </a:p>
        </p:txBody>
      </p:sp>
      <p:sp>
        <p:nvSpPr>
          <p:cNvPr id="959" name="Google Shape;959;p84"/>
          <p:cNvSpPr txBox="1"/>
          <p:nvPr>
            <p:ph idx="1" type="body"/>
          </p:nvPr>
        </p:nvSpPr>
        <p:spPr>
          <a:xfrm>
            <a:off x="1237300" y="1442149"/>
            <a:ext cx="37659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Horizontal reflection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GB" sz="1800"/>
              <a:t>Line of reflection</a:t>
            </a:r>
            <a:r>
              <a:rPr lang="en-GB" sz="1800"/>
              <a:t> through the coordinates (2, 5) and (2, 0).</a:t>
            </a:r>
            <a:endParaRPr sz="1800"/>
          </a:p>
        </p:txBody>
      </p:sp>
      <p:sp>
        <p:nvSpPr>
          <p:cNvPr id="960" name="Google Shape;960;p84"/>
          <p:cNvSpPr txBox="1"/>
          <p:nvPr>
            <p:ph idx="1" type="body"/>
          </p:nvPr>
        </p:nvSpPr>
        <p:spPr>
          <a:xfrm>
            <a:off x="324000" y="759300"/>
            <a:ext cx="8496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1) Match the descriptions to the reflections.</a:t>
            </a:r>
            <a:endParaRPr sz="2000"/>
          </a:p>
        </p:txBody>
      </p:sp>
      <p:sp>
        <p:nvSpPr>
          <p:cNvPr id="961" name="Google Shape;961;p84"/>
          <p:cNvSpPr txBox="1"/>
          <p:nvPr>
            <p:ph idx="1" type="body"/>
          </p:nvPr>
        </p:nvSpPr>
        <p:spPr>
          <a:xfrm>
            <a:off x="964074" y="1150549"/>
            <a:ext cx="2349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Description 1</a:t>
            </a:r>
            <a:endParaRPr sz="1800"/>
          </a:p>
        </p:txBody>
      </p:sp>
      <p:sp>
        <p:nvSpPr>
          <p:cNvPr id="962" name="Google Shape;962;p84"/>
          <p:cNvSpPr txBox="1"/>
          <p:nvPr>
            <p:ph idx="1" type="body"/>
          </p:nvPr>
        </p:nvSpPr>
        <p:spPr>
          <a:xfrm>
            <a:off x="1237300" y="4005649"/>
            <a:ext cx="37659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Vertical reflection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GB" sz="1800"/>
              <a:t>Line of reflection</a:t>
            </a:r>
            <a:r>
              <a:rPr lang="en-GB" sz="1800"/>
              <a:t> through the coordinates (2, 5) and (0, 5).</a:t>
            </a:r>
            <a:endParaRPr sz="1800"/>
          </a:p>
        </p:txBody>
      </p:sp>
      <p:sp>
        <p:nvSpPr>
          <p:cNvPr id="963" name="Google Shape;963;p84"/>
          <p:cNvSpPr txBox="1"/>
          <p:nvPr>
            <p:ph idx="1" type="body"/>
          </p:nvPr>
        </p:nvSpPr>
        <p:spPr>
          <a:xfrm>
            <a:off x="1237300" y="2721199"/>
            <a:ext cx="37659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Vertical reflection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GB" sz="1800"/>
              <a:t>Line of reflection</a:t>
            </a:r>
            <a:r>
              <a:rPr lang="en-GB" sz="1800"/>
              <a:t> through the coordinates (5, 2) and (0, 2).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t/>
            </a:r>
            <a:endParaRPr sz="1800"/>
          </a:p>
        </p:txBody>
      </p:sp>
      <p:sp>
        <p:nvSpPr>
          <p:cNvPr id="964" name="Google Shape;964;p84"/>
          <p:cNvSpPr txBox="1"/>
          <p:nvPr>
            <p:ph idx="1" type="body"/>
          </p:nvPr>
        </p:nvSpPr>
        <p:spPr>
          <a:xfrm>
            <a:off x="964074" y="2432299"/>
            <a:ext cx="2349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Description 2</a:t>
            </a:r>
            <a:endParaRPr sz="1800"/>
          </a:p>
        </p:txBody>
      </p:sp>
      <p:sp>
        <p:nvSpPr>
          <p:cNvPr id="965" name="Google Shape;965;p84"/>
          <p:cNvSpPr txBox="1"/>
          <p:nvPr>
            <p:ph idx="1" type="body"/>
          </p:nvPr>
        </p:nvSpPr>
        <p:spPr>
          <a:xfrm>
            <a:off x="964074" y="3714049"/>
            <a:ext cx="2349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Description 3</a:t>
            </a:r>
            <a:endParaRPr sz="1800"/>
          </a:p>
        </p:txBody>
      </p:sp>
      <p:pic>
        <p:nvPicPr>
          <p:cNvPr id="966" name="Google Shape;966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1975" y="1231375"/>
            <a:ext cx="1350772" cy="198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3714" y="3288488"/>
            <a:ext cx="1763812" cy="1531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8515" y="1231375"/>
            <a:ext cx="1481485" cy="1982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9" name="Google Shape;969;p84"/>
          <p:cNvGrpSpPr/>
          <p:nvPr/>
        </p:nvGrpSpPr>
        <p:grpSpPr>
          <a:xfrm>
            <a:off x="3540141" y="3832028"/>
            <a:ext cx="457200" cy="457200"/>
            <a:chOff x="1020916" y="1442088"/>
            <a:chExt cx="457200" cy="457200"/>
          </a:xfrm>
        </p:grpSpPr>
        <p:pic>
          <p:nvPicPr>
            <p:cNvPr id="970" name="Google Shape;970;p8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2" name="Google Shape;972;p84"/>
          <p:cNvGrpSpPr/>
          <p:nvPr/>
        </p:nvGrpSpPr>
        <p:grpSpPr>
          <a:xfrm>
            <a:off x="3540141" y="1287475"/>
            <a:ext cx="457200" cy="457200"/>
            <a:chOff x="1020916" y="1442088"/>
            <a:chExt cx="457200" cy="457200"/>
          </a:xfrm>
        </p:grpSpPr>
        <p:pic>
          <p:nvPicPr>
            <p:cNvPr id="973" name="Google Shape;973;p8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5" name="Google Shape;975;p84"/>
          <p:cNvGrpSpPr/>
          <p:nvPr/>
        </p:nvGrpSpPr>
        <p:grpSpPr>
          <a:xfrm>
            <a:off x="3540141" y="2559753"/>
            <a:ext cx="457200" cy="457200"/>
            <a:chOff x="1020916" y="1442088"/>
            <a:chExt cx="457200" cy="457200"/>
          </a:xfrm>
        </p:grpSpPr>
        <p:pic>
          <p:nvPicPr>
            <p:cNvPr id="976" name="Google Shape;976;p8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7" name="Google Shape;977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8" name="Google Shape;978;p84"/>
          <p:cNvGrpSpPr/>
          <p:nvPr/>
        </p:nvGrpSpPr>
        <p:grpSpPr>
          <a:xfrm>
            <a:off x="6295541" y="810000"/>
            <a:ext cx="457200" cy="457200"/>
            <a:chOff x="1020916" y="1442088"/>
            <a:chExt cx="457200" cy="457200"/>
          </a:xfrm>
        </p:grpSpPr>
        <p:pic>
          <p:nvPicPr>
            <p:cNvPr id="979" name="Google Shape;979;p8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0" name="Google Shape;980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1" name="Google Shape;981;p84"/>
          <p:cNvGrpSpPr/>
          <p:nvPr/>
        </p:nvGrpSpPr>
        <p:grpSpPr>
          <a:xfrm>
            <a:off x="8362791" y="810000"/>
            <a:ext cx="457200" cy="457200"/>
            <a:chOff x="1020916" y="1442088"/>
            <a:chExt cx="457200" cy="457200"/>
          </a:xfrm>
        </p:grpSpPr>
        <p:pic>
          <p:nvPicPr>
            <p:cNvPr id="982" name="Google Shape;982;p8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4" name="Google Shape;984;p84"/>
          <p:cNvGrpSpPr/>
          <p:nvPr/>
        </p:nvGrpSpPr>
        <p:grpSpPr>
          <a:xfrm>
            <a:off x="7878066" y="3288500"/>
            <a:ext cx="457200" cy="457200"/>
            <a:chOff x="1020916" y="1442088"/>
            <a:chExt cx="457200" cy="457200"/>
          </a:xfrm>
        </p:grpSpPr>
        <p:pic>
          <p:nvPicPr>
            <p:cNvPr id="985" name="Google Shape;985;p8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85"/>
          <p:cNvSpPr txBox="1"/>
          <p:nvPr>
            <p:ph idx="2" type="subTitle"/>
          </p:nvPr>
        </p:nvSpPr>
        <p:spPr>
          <a:xfrm>
            <a:off x="14938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Describing a reflection with formal language</a:t>
            </a:r>
            <a:endParaRPr/>
          </a:p>
        </p:txBody>
      </p:sp>
      <p:sp>
        <p:nvSpPr>
          <p:cNvPr id="992" name="Google Shape;992;p85"/>
          <p:cNvSpPr txBox="1"/>
          <p:nvPr>
            <p:ph idx="1" type="body"/>
          </p:nvPr>
        </p:nvSpPr>
        <p:spPr>
          <a:xfrm>
            <a:off x="324000" y="759300"/>
            <a:ext cx="8496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2) Complete the descriptions of these reflections.</a:t>
            </a:r>
            <a:endParaRPr sz="2000"/>
          </a:p>
        </p:txBody>
      </p:sp>
      <p:sp>
        <p:nvSpPr>
          <p:cNvPr id="993" name="Google Shape;993;p85"/>
          <p:cNvSpPr txBox="1"/>
          <p:nvPr>
            <p:ph idx="1" type="body"/>
          </p:nvPr>
        </p:nvSpPr>
        <p:spPr>
          <a:xfrm>
            <a:off x="1237300" y="3577225"/>
            <a:ext cx="43008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                                                    </a:t>
            </a:r>
            <a:r>
              <a:rPr lang="en-GB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GB" sz="1800"/>
              <a:t>Line of reflection</a:t>
            </a:r>
            <a:r>
              <a:rPr lang="en-GB" sz="1800"/>
              <a:t> through the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coordinates (      ,      ) and </a:t>
            </a:r>
            <a:r>
              <a:rPr lang="en-GB" sz="1800"/>
              <a:t>(      ,      )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994" name="Google Shape;994;p85"/>
          <p:cNvSpPr txBox="1"/>
          <p:nvPr>
            <p:ph idx="1" type="body"/>
          </p:nvPr>
        </p:nvSpPr>
        <p:spPr>
          <a:xfrm>
            <a:off x="964074" y="1206474"/>
            <a:ext cx="2349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Description 1</a:t>
            </a:r>
            <a:endParaRPr sz="1800"/>
          </a:p>
        </p:txBody>
      </p:sp>
      <p:sp>
        <p:nvSpPr>
          <p:cNvPr id="995" name="Google Shape;995;p85"/>
          <p:cNvSpPr txBox="1"/>
          <p:nvPr>
            <p:ph idx="1" type="body"/>
          </p:nvPr>
        </p:nvSpPr>
        <p:spPr>
          <a:xfrm>
            <a:off x="964074" y="3288324"/>
            <a:ext cx="2349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Description 2</a:t>
            </a:r>
            <a:endParaRPr sz="1800"/>
          </a:p>
        </p:txBody>
      </p:sp>
      <p:pic>
        <p:nvPicPr>
          <p:cNvPr id="996" name="Google Shape;99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0275" y="1130283"/>
            <a:ext cx="2598400" cy="1747112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85"/>
          <p:cNvSpPr txBox="1"/>
          <p:nvPr>
            <p:ph idx="1" type="body"/>
          </p:nvPr>
        </p:nvSpPr>
        <p:spPr>
          <a:xfrm>
            <a:off x="1237300" y="1498075"/>
            <a:ext cx="43008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                          reflection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GB" sz="1800"/>
              <a:t>Line of reflection</a:t>
            </a:r>
            <a:r>
              <a:rPr lang="en-GB" sz="1800"/>
              <a:t> through the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coordinates (       , 5) and </a:t>
            </a:r>
            <a:r>
              <a:rPr lang="en-GB" sz="1800"/>
              <a:t>(       , 1)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998" name="Google Shape;998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5438" y="3029800"/>
            <a:ext cx="2028063" cy="17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5"/>
          <p:cNvSpPr txBox="1"/>
          <p:nvPr>
            <p:ph idx="4294967295" type="body"/>
          </p:nvPr>
        </p:nvSpPr>
        <p:spPr>
          <a:xfrm>
            <a:off x="1304850" y="3540625"/>
            <a:ext cx="1524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vertical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0" name="Google Shape;1000;p85"/>
          <p:cNvSpPr txBox="1"/>
          <p:nvPr>
            <p:ph idx="4294967295" type="body"/>
          </p:nvPr>
        </p:nvSpPr>
        <p:spPr>
          <a:xfrm>
            <a:off x="2966250" y="3464425"/>
            <a:ext cx="1524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reflection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1" name="Google Shape;1001;p85"/>
          <p:cNvSpPr txBox="1"/>
          <p:nvPr>
            <p:ph idx="4294967295" type="body"/>
          </p:nvPr>
        </p:nvSpPr>
        <p:spPr>
          <a:xfrm>
            <a:off x="2738065" y="4000250"/>
            <a:ext cx="262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2" name="Google Shape;1002;p85"/>
          <p:cNvSpPr txBox="1"/>
          <p:nvPr>
            <p:ph idx="4294967295" type="body"/>
          </p:nvPr>
        </p:nvSpPr>
        <p:spPr>
          <a:xfrm>
            <a:off x="3185665" y="4000250"/>
            <a:ext cx="262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3" name="Google Shape;1003;p85"/>
          <p:cNvSpPr txBox="1"/>
          <p:nvPr>
            <p:ph idx="4294967295" type="body"/>
          </p:nvPr>
        </p:nvSpPr>
        <p:spPr>
          <a:xfrm>
            <a:off x="1304850" y="1461475"/>
            <a:ext cx="1524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horizontal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4" name="Google Shape;1004;p85"/>
          <p:cNvSpPr txBox="1"/>
          <p:nvPr>
            <p:ph idx="4294967295" type="body"/>
          </p:nvPr>
        </p:nvSpPr>
        <p:spPr>
          <a:xfrm>
            <a:off x="2790364" y="1921600"/>
            <a:ext cx="262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05" name="Google Shape;1005;p85"/>
          <p:cNvCxnSpPr/>
          <p:nvPr/>
        </p:nvCxnSpPr>
        <p:spPr>
          <a:xfrm flipH="1" rot="10800000">
            <a:off x="4279850" y="4335400"/>
            <a:ext cx="128100" cy="234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6" name="Google Shape;1006;p85"/>
          <p:cNvSpPr txBox="1"/>
          <p:nvPr>
            <p:ph idx="4294967295" type="body"/>
          </p:nvPr>
        </p:nvSpPr>
        <p:spPr>
          <a:xfrm>
            <a:off x="1411050" y="4599600"/>
            <a:ext cx="3030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n can be any number.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7" name="Google Shape;1007;p85"/>
          <p:cNvSpPr txBox="1"/>
          <p:nvPr>
            <p:ph idx="4294967295" type="body"/>
          </p:nvPr>
        </p:nvSpPr>
        <p:spPr>
          <a:xfrm>
            <a:off x="4318210" y="4000250"/>
            <a:ext cx="262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8" name="Google Shape;1008;p85"/>
          <p:cNvSpPr txBox="1"/>
          <p:nvPr>
            <p:ph idx="4294967295" type="body"/>
          </p:nvPr>
        </p:nvSpPr>
        <p:spPr>
          <a:xfrm>
            <a:off x="4765810" y="4000250"/>
            <a:ext cx="262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09" name="Google Shape;1009;p85"/>
          <p:cNvCxnSpPr/>
          <p:nvPr/>
        </p:nvCxnSpPr>
        <p:spPr>
          <a:xfrm rot="10800000">
            <a:off x="2874316" y="4335400"/>
            <a:ext cx="128100" cy="234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0" name="Google Shape;1010;p85"/>
          <p:cNvSpPr txBox="1"/>
          <p:nvPr>
            <p:ph idx="4294967295" type="body"/>
          </p:nvPr>
        </p:nvSpPr>
        <p:spPr>
          <a:xfrm>
            <a:off x="4210314" y="1921600"/>
            <a:ext cx="262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86"/>
          <p:cNvSpPr txBox="1"/>
          <p:nvPr>
            <p:ph idx="2" type="subTitle"/>
          </p:nvPr>
        </p:nvSpPr>
        <p:spPr>
          <a:xfrm>
            <a:off x="14938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Describing a reflection with formal language</a:t>
            </a:r>
            <a:endParaRPr/>
          </a:p>
        </p:txBody>
      </p:sp>
      <p:sp>
        <p:nvSpPr>
          <p:cNvPr id="1016" name="Google Shape;1016;p86"/>
          <p:cNvSpPr txBox="1"/>
          <p:nvPr>
            <p:ph idx="1" type="body"/>
          </p:nvPr>
        </p:nvSpPr>
        <p:spPr>
          <a:xfrm>
            <a:off x="324000" y="759300"/>
            <a:ext cx="8496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3) Write full descriptions to these reflections.</a:t>
            </a:r>
            <a:endParaRPr sz="2000"/>
          </a:p>
        </p:txBody>
      </p:sp>
      <p:sp>
        <p:nvSpPr>
          <p:cNvPr id="1017" name="Google Shape;1017;p86"/>
          <p:cNvSpPr txBox="1"/>
          <p:nvPr>
            <p:ph idx="1" type="body"/>
          </p:nvPr>
        </p:nvSpPr>
        <p:spPr>
          <a:xfrm>
            <a:off x="972349" y="1163424"/>
            <a:ext cx="2349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Description 1</a:t>
            </a:r>
            <a:endParaRPr sz="1800"/>
          </a:p>
        </p:txBody>
      </p:sp>
      <p:sp>
        <p:nvSpPr>
          <p:cNvPr id="1018" name="Google Shape;1018;p86"/>
          <p:cNvSpPr txBox="1"/>
          <p:nvPr>
            <p:ph idx="1" type="body"/>
          </p:nvPr>
        </p:nvSpPr>
        <p:spPr>
          <a:xfrm>
            <a:off x="972349" y="3245274"/>
            <a:ext cx="2349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Description 2</a:t>
            </a:r>
            <a:endParaRPr sz="1800"/>
          </a:p>
        </p:txBody>
      </p:sp>
      <p:pic>
        <p:nvPicPr>
          <p:cNvPr id="1019" name="Google Shape;101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675" y="1130275"/>
            <a:ext cx="1695976" cy="16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684" y="3212125"/>
            <a:ext cx="2833114" cy="16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86"/>
          <p:cNvSpPr txBox="1"/>
          <p:nvPr>
            <p:ph idx="1" type="body"/>
          </p:nvPr>
        </p:nvSpPr>
        <p:spPr>
          <a:xfrm>
            <a:off x="1245575" y="3515662"/>
            <a:ext cx="37659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Horizontal reflection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Line of reflection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through the coordinates (14, a) and (14, b).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2" name="Google Shape;1022;p86"/>
          <p:cNvSpPr txBox="1"/>
          <p:nvPr>
            <p:ph idx="1" type="body"/>
          </p:nvPr>
        </p:nvSpPr>
        <p:spPr>
          <a:xfrm>
            <a:off x="1245575" y="1432265"/>
            <a:ext cx="37659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Vertical reflection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Line of reflection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through the coordinates (m, 8) and (n, 8).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23" name="Google Shape;1023;p86"/>
          <p:cNvCxnSpPr/>
          <p:nvPr/>
        </p:nvCxnSpPr>
        <p:spPr>
          <a:xfrm flipH="1" rot="10800000">
            <a:off x="3665725" y="2214857"/>
            <a:ext cx="128100" cy="314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4" name="Google Shape;1024;p86"/>
          <p:cNvSpPr txBox="1"/>
          <p:nvPr>
            <p:ph idx="4294967295" type="body"/>
          </p:nvPr>
        </p:nvSpPr>
        <p:spPr>
          <a:xfrm>
            <a:off x="1161750" y="2499663"/>
            <a:ext cx="3030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 and n can be any number.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25" name="Google Shape;1025;p86"/>
          <p:cNvCxnSpPr/>
          <p:nvPr/>
        </p:nvCxnSpPr>
        <p:spPr>
          <a:xfrm rot="10800000">
            <a:off x="2616741" y="2214857"/>
            <a:ext cx="128100" cy="314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6" name="Google Shape;1026;p86"/>
          <p:cNvCxnSpPr/>
          <p:nvPr/>
        </p:nvCxnSpPr>
        <p:spPr>
          <a:xfrm flipH="1" rot="10800000">
            <a:off x="3936175" y="4271932"/>
            <a:ext cx="128100" cy="314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7" name="Google Shape;1027;p86"/>
          <p:cNvCxnSpPr/>
          <p:nvPr/>
        </p:nvCxnSpPr>
        <p:spPr>
          <a:xfrm rot="10800000">
            <a:off x="2887191" y="4271932"/>
            <a:ext cx="128100" cy="314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8" name="Google Shape;1028;p86"/>
          <p:cNvSpPr txBox="1"/>
          <p:nvPr>
            <p:ph idx="4294967295" type="body"/>
          </p:nvPr>
        </p:nvSpPr>
        <p:spPr>
          <a:xfrm>
            <a:off x="1245575" y="4566157"/>
            <a:ext cx="3030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b can be any number.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87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Describing a reflection with formal language</a:t>
            </a:r>
            <a:endParaRPr/>
          </a:p>
        </p:txBody>
      </p:sp>
      <p:sp>
        <p:nvSpPr>
          <p:cNvPr id="1034" name="Google Shape;1034;p87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Applying strategies for finding the mirror line</a:t>
            </a:r>
            <a:endParaRPr/>
          </a:p>
        </p:txBody>
      </p:sp>
      <p:sp>
        <p:nvSpPr>
          <p:cNvPr id="1035" name="Google Shape;1035;p87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Diagonal reflections and non-reflections</a:t>
            </a:r>
            <a:endParaRPr/>
          </a:p>
        </p:txBody>
      </p:sp>
      <p:sp>
        <p:nvSpPr>
          <p:cNvPr id="1036" name="Google Shape;1036;p87"/>
          <p:cNvSpPr txBox="1"/>
          <p:nvPr>
            <p:ph idx="4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Describing a reflection</a:t>
            </a:r>
            <a:endParaRPr/>
          </a:p>
        </p:txBody>
      </p:sp>
      <p:pic>
        <p:nvPicPr>
          <p:cNvPr id="1037" name="Google Shape;103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50" y="276929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88"/>
          <p:cNvSpPr txBox="1"/>
          <p:nvPr>
            <p:ph idx="1" type="body"/>
          </p:nvPr>
        </p:nvSpPr>
        <p:spPr>
          <a:xfrm>
            <a:off x="324000" y="759300"/>
            <a:ext cx="8496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Both the object and image are </a:t>
            </a:r>
            <a:r>
              <a:rPr b="1" lang="en-GB" sz="2000">
                <a:solidFill>
                  <a:srgbClr val="037B7D"/>
                </a:solidFill>
              </a:rPr>
              <a:t>equidistant</a:t>
            </a:r>
            <a:r>
              <a:rPr lang="en-GB" sz="2000">
                <a:solidFill>
                  <a:srgbClr val="037B7D"/>
                </a:solidFill>
              </a:rPr>
              <a:t> </a:t>
            </a:r>
            <a:r>
              <a:rPr lang="en-GB" sz="2000"/>
              <a:t>from the line of reflection.</a:t>
            </a:r>
            <a:endParaRPr sz="2000"/>
          </a:p>
        </p:txBody>
      </p:sp>
      <p:sp>
        <p:nvSpPr>
          <p:cNvPr id="1043" name="Google Shape;1043;p88"/>
          <p:cNvSpPr txBox="1"/>
          <p:nvPr>
            <p:ph idx="1" type="body"/>
          </p:nvPr>
        </p:nvSpPr>
        <p:spPr>
          <a:xfrm>
            <a:off x="5343900" y="1466050"/>
            <a:ext cx="18258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distant means distance</a:t>
            </a:r>
            <a:endParaRPr sz="1800"/>
          </a:p>
        </p:txBody>
      </p:sp>
      <p:sp>
        <p:nvSpPr>
          <p:cNvPr id="1044" name="Google Shape;1044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Applying strategies for finding the mirror line</a:t>
            </a:r>
            <a:endParaRPr/>
          </a:p>
        </p:txBody>
      </p:sp>
      <p:sp>
        <p:nvSpPr>
          <p:cNvPr id="1045" name="Google Shape;1045;p88"/>
          <p:cNvSpPr txBox="1"/>
          <p:nvPr>
            <p:ph idx="1" type="body"/>
          </p:nvPr>
        </p:nvSpPr>
        <p:spPr>
          <a:xfrm>
            <a:off x="2952411" y="1466593"/>
            <a:ext cx="1569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equi means equal</a:t>
            </a:r>
            <a:endParaRPr sz="1800"/>
          </a:p>
        </p:txBody>
      </p:sp>
      <p:cxnSp>
        <p:nvCxnSpPr>
          <p:cNvPr id="1046" name="Google Shape;1046;p88"/>
          <p:cNvCxnSpPr/>
          <p:nvPr/>
        </p:nvCxnSpPr>
        <p:spPr>
          <a:xfrm flipH="1" rot="10800000">
            <a:off x="4286236" y="1067743"/>
            <a:ext cx="197400" cy="40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88"/>
          <p:cNvCxnSpPr/>
          <p:nvPr/>
        </p:nvCxnSpPr>
        <p:spPr>
          <a:xfrm rot="10800000">
            <a:off x="5151215" y="1044913"/>
            <a:ext cx="644700" cy="424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8" name="Google Shape;1048;p88"/>
          <p:cNvSpPr txBox="1"/>
          <p:nvPr>
            <p:ph idx="1" type="body"/>
          </p:nvPr>
        </p:nvSpPr>
        <p:spPr>
          <a:xfrm>
            <a:off x="324000" y="2208045"/>
            <a:ext cx="8496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 corresponding point on the object and image are an </a:t>
            </a:r>
            <a:r>
              <a:rPr lang="en-GB" sz="2000">
                <a:solidFill>
                  <a:srgbClr val="037B7D"/>
                </a:solidFill>
              </a:rPr>
              <a:t>equal distance </a:t>
            </a:r>
            <a:r>
              <a:rPr lang="en-GB" sz="2000"/>
              <a:t>from the </a:t>
            </a:r>
            <a:r>
              <a:rPr b="1" lang="en-GB" sz="2000"/>
              <a:t>line of reflection</a:t>
            </a:r>
            <a:r>
              <a:rPr lang="en-GB" sz="2000"/>
              <a:t>.</a:t>
            </a:r>
            <a:endParaRPr sz="2000"/>
          </a:p>
        </p:txBody>
      </p:sp>
      <p:pic>
        <p:nvPicPr>
          <p:cNvPr id="1049" name="Google Shape;1049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8712" y="2988225"/>
            <a:ext cx="5146576" cy="1583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0" name="Google Shape;1050;p88"/>
          <p:cNvGrpSpPr/>
          <p:nvPr/>
        </p:nvGrpSpPr>
        <p:grpSpPr>
          <a:xfrm>
            <a:off x="2908579" y="3143080"/>
            <a:ext cx="1603200" cy="264330"/>
            <a:chOff x="2908579" y="3143080"/>
            <a:chExt cx="1603200" cy="264330"/>
          </a:xfrm>
        </p:grpSpPr>
        <p:cxnSp>
          <p:nvCxnSpPr>
            <p:cNvPr id="1051" name="Google Shape;1051;p88"/>
            <p:cNvCxnSpPr/>
            <p:nvPr/>
          </p:nvCxnSpPr>
          <p:spPr>
            <a:xfrm>
              <a:off x="2952411" y="3407410"/>
              <a:ext cx="14988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52" name="Google Shape;1052;p88"/>
            <p:cNvSpPr txBox="1"/>
            <p:nvPr/>
          </p:nvSpPr>
          <p:spPr>
            <a:xfrm>
              <a:off x="2908579" y="3143080"/>
              <a:ext cx="1603200" cy="2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 squares</a:t>
              </a:r>
              <a:endParaRPr/>
            </a:p>
          </p:txBody>
        </p:sp>
      </p:grpSp>
      <p:grpSp>
        <p:nvGrpSpPr>
          <p:cNvPr id="1053" name="Google Shape;1053;p88"/>
          <p:cNvGrpSpPr/>
          <p:nvPr/>
        </p:nvGrpSpPr>
        <p:grpSpPr>
          <a:xfrm>
            <a:off x="4505536" y="3143080"/>
            <a:ext cx="1603200" cy="264330"/>
            <a:chOff x="2908579" y="3143080"/>
            <a:chExt cx="1603200" cy="264330"/>
          </a:xfrm>
        </p:grpSpPr>
        <p:cxnSp>
          <p:nvCxnSpPr>
            <p:cNvPr id="1054" name="Google Shape;1054;p88"/>
            <p:cNvCxnSpPr/>
            <p:nvPr/>
          </p:nvCxnSpPr>
          <p:spPr>
            <a:xfrm>
              <a:off x="2952411" y="3407410"/>
              <a:ext cx="14988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55" name="Google Shape;1055;p88"/>
            <p:cNvSpPr txBox="1"/>
            <p:nvPr/>
          </p:nvSpPr>
          <p:spPr>
            <a:xfrm>
              <a:off x="2908579" y="3143080"/>
              <a:ext cx="1603200" cy="2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 squares</a:t>
              </a:r>
              <a:endParaRPr/>
            </a:p>
          </p:txBody>
        </p:sp>
      </p:grpSp>
      <p:grpSp>
        <p:nvGrpSpPr>
          <p:cNvPr id="1056" name="Google Shape;1056;p88"/>
          <p:cNvGrpSpPr/>
          <p:nvPr/>
        </p:nvGrpSpPr>
        <p:grpSpPr>
          <a:xfrm>
            <a:off x="3444871" y="3943592"/>
            <a:ext cx="1076709" cy="264330"/>
            <a:chOff x="2908579" y="3143080"/>
            <a:chExt cx="1603200" cy="264330"/>
          </a:xfrm>
        </p:grpSpPr>
        <p:cxnSp>
          <p:nvCxnSpPr>
            <p:cNvPr id="1057" name="Google Shape;1057;p88"/>
            <p:cNvCxnSpPr/>
            <p:nvPr/>
          </p:nvCxnSpPr>
          <p:spPr>
            <a:xfrm>
              <a:off x="2952411" y="3407410"/>
              <a:ext cx="14988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58" name="Google Shape;1058;p88"/>
            <p:cNvSpPr txBox="1"/>
            <p:nvPr/>
          </p:nvSpPr>
          <p:spPr>
            <a:xfrm>
              <a:off x="2908579" y="3143080"/>
              <a:ext cx="1603200" cy="2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 squares</a:t>
              </a:r>
              <a:endParaRPr/>
            </a:p>
          </p:txBody>
        </p:sp>
      </p:grpSp>
      <p:grpSp>
        <p:nvGrpSpPr>
          <p:cNvPr id="1059" name="Google Shape;1059;p88"/>
          <p:cNvGrpSpPr/>
          <p:nvPr/>
        </p:nvGrpSpPr>
        <p:grpSpPr>
          <a:xfrm>
            <a:off x="4505600" y="3943592"/>
            <a:ext cx="1076709" cy="264330"/>
            <a:chOff x="2908579" y="3143080"/>
            <a:chExt cx="1603200" cy="264330"/>
          </a:xfrm>
        </p:grpSpPr>
        <p:cxnSp>
          <p:nvCxnSpPr>
            <p:cNvPr id="1060" name="Google Shape;1060;p88"/>
            <p:cNvCxnSpPr/>
            <p:nvPr/>
          </p:nvCxnSpPr>
          <p:spPr>
            <a:xfrm>
              <a:off x="2952411" y="3407410"/>
              <a:ext cx="14988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61" name="Google Shape;1061;p88"/>
            <p:cNvSpPr txBox="1"/>
            <p:nvPr/>
          </p:nvSpPr>
          <p:spPr>
            <a:xfrm>
              <a:off x="2908579" y="3143080"/>
              <a:ext cx="1603200" cy="2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 squares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Applying strategies for finding the mirror line</a:t>
            </a:r>
            <a:endParaRPr/>
          </a:p>
        </p:txBody>
      </p:sp>
      <p:sp>
        <p:nvSpPr>
          <p:cNvPr id="1067" name="Google Shape;1067;p89"/>
          <p:cNvSpPr txBox="1"/>
          <p:nvPr>
            <p:ph idx="1" type="body"/>
          </p:nvPr>
        </p:nvSpPr>
        <p:spPr>
          <a:xfrm>
            <a:off x="324000" y="759300"/>
            <a:ext cx="8496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Example</a:t>
            </a:r>
            <a:endParaRPr sz="2000"/>
          </a:p>
        </p:txBody>
      </p:sp>
      <p:sp>
        <p:nvSpPr>
          <p:cNvPr id="1068" name="Google Shape;1068;p89"/>
          <p:cNvSpPr txBox="1"/>
          <p:nvPr>
            <p:ph idx="1" type="body"/>
          </p:nvPr>
        </p:nvSpPr>
        <p:spPr>
          <a:xfrm>
            <a:off x="784850" y="1129200"/>
            <a:ext cx="35967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This is a </a:t>
            </a:r>
            <a:r>
              <a:rPr b="1" lang="en-GB" sz="2000"/>
              <a:t>line of reflection</a:t>
            </a:r>
            <a:r>
              <a:rPr lang="en-GB" sz="2000"/>
              <a:t>, as the object and image are both </a:t>
            </a:r>
            <a:r>
              <a:rPr b="1" lang="en-GB" sz="2000"/>
              <a:t>equidistant</a:t>
            </a:r>
            <a:r>
              <a:rPr lang="en-GB" sz="2000">
                <a:solidFill>
                  <a:srgbClr val="037B7D"/>
                </a:solidFill>
              </a:rPr>
              <a:t> </a:t>
            </a:r>
            <a:r>
              <a:rPr lang="en-GB" sz="2000"/>
              <a:t>from the line of reflection.</a:t>
            </a:r>
            <a:endParaRPr sz="2000"/>
          </a:p>
        </p:txBody>
      </p:sp>
      <p:pic>
        <p:nvPicPr>
          <p:cNvPr id="1069" name="Google Shape;1069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1525" y="759300"/>
            <a:ext cx="2940201" cy="157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89"/>
          <p:cNvSpPr txBox="1"/>
          <p:nvPr>
            <p:ph idx="1" type="body"/>
          </p:nvPr>
        </p:nvSpPr>
        <p:spPr>
          <a:xfrm>
            <a:off x="784850" y="3224700"/>
            <a:ext cx="37872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This is not a </a:t>
            </a:r>
            <a:r>
              <a:rPr b="1" lang="en-GB" sz="2000"/>
              <a:t>line of reflection</a:t>
            </a:r>
            <a:r>
              <a:rPr lang="en-GB" sz="2000"/>
              <a:t>, as the object and image are both different distances from the </a:t>
            </a:r>
            <a:r>
              <a:rPr lang="en-GB" sz="2000"/>
              <a:t>line of reflection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071" name="Google Shape;1071;p89"/>
          <p:cNvSpPr txBox="1"/>
          <p:nvPr>
            <p:ph idx="1" type="body"/>
          </p:nvPr>
        </p:nvSpPr>
        <p:spPr>
          <a:xfrm>
            <a:off x="324000" y="2854800"/>
            <a:ext cx="8496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Non-example</a:t>
            </a:r>
            <a:endParaRPr sz="2000"/>
          </a:p>
        </p:txBody>
      </p:sp>
      <p:pic>
        <p:nvPicPr>
          <p:cNvPr id="1072" name="Google Shape;1072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7610" y="2854800"/>
            <a:ext cx="3524105" cy="1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Applying strategies for finding the mirror line</a:t>
            </a:r>
            <a:endParaRPr/>
          </a:p>
        </p:txBody>
      </p:sp>
      <p:sp>
        <p:nvSpPr>
          <p:cNvPr id="1078" name="Google Shape;1078;p90"/>
          <p:cNvSpPr txBox="1"/>
          <p:nvPr>
            <p:ph idx="1" type="body"/>
          </p:nvPr>
        </p:nvSpPr>
        <p:spPr>
          <a:xfrm>
            <a:off x="324000" y="759300"/>
            <a:ext cx="8237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Which of these are examples of </a:t>
            </a:r>
            <a:r>
              <a:rPr b="1" lang="en-GB"/>
              <a:t>lines of reflection</a:t>
            </a:r>
            <a:r>
              <a:rPr lang="en-GB"/>
              <a:t>?</a:t>
            </a:r>
            <a:endParaRPr/>
          </a:p>
        </p:txBody>
      </p:sp>
      <p:pic>
        <p:nvPicPr>
          <p:cNvPr id="1079" name="Google Shape;1079;p90"/>
          <p:cNvPicPr preferRelativeResize="0"/>
          <p:nvPr/>
        </p:nvPicPr>
        <p:blipFill rotWithShape="1">
          <a:blip r:embed="rId3">
            <a:alphaModFix/>
          </a:blip>
          <a:srcRect b="-2060" l="0" r="0" t="2060"/>
          <a:stretch/>
        </p:blipFill>
        <p:spPr>
          <a:xfrm>
            <a:off x="1599850" y="1128725"/>
            <a:ext cx="5944300" cy="3691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0" name="Google Shape;1080;p90"/>
          <p:cNvGrpSpPr/>
          <p:nvPr/>
        </p:nvGrpSpPr>
        <p:grpSpPr>
          <a:xfrm>
            <a:off x="1142641" y="1272480"/>
            <a:ext cx="457200" cy="457200"/>
            <a:chOff x="1020916" y="1442088"/>
            <a:chExt cx="457200" cy="457200"/>
          </a:xfrm>
        </p:grpSpPr>
        <p:pic>
          <p:nvPicPr>
            <p:cNvPr id="1081" name="Google Shape;1081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2" name="Google Shape;1082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3" name="Google Shape;1083;p90"/>
          <p:cNvGrpSpPr/>
          <p:nvPr/>
        </p:nvGrpSpPr>
        <p:grpSpPr>
          <a:xfrm>
            <a:off x="1142641" y="2638875"/>
            <a:ext cx="457200" cy="457200"/>
            <a:chOff x="1020916" y="1442088"/>
            <a:chExt cx="457200" cy="457200"/>
          </a:xfrm>
        </p:grpSpPr>
        <p:pic>
          <p:nvPicPr>
            <p:cNvPr id="1084" name="Google Shape;108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5" name="Google Shape;1085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6" name="Google Shape;1086;p90"/>
          <p:cNvGrpSpPr/>
          <p:nvPr/>
        </p:nvGrpSpPr>
        <p:grpSpPr>
          <a:xfrm>
            <a:off x="1142641" y="4012895"/>
            <a:ext cx="457200" cy="457200"/>
            <a:chOff x="1020916" y="1442088"/>
            <a:chExt cx="457200" cy="457200"/>
          </a:xfrm>
        </p:grpSpPr>
        <p:pic>
          <p:nvPicPr>
            <p:cNvPr id="1087" name="Google Shape;1087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8" name="Google Shape;1088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9" name="Google Shape;1089;p90"/>
          <p:cNvGrpSpPr/>
          <p:nvPr/>
        </p:nvGrpSpPr>
        <p:grpSpPr>
          <a:xfrm>
            <a:off x="4645701" y="1128725"/>
            <a:ext cx="457200" cy="457200"/>
            <a:chOff x="1020916" y="1442088"/>
            <a:chExt cx="457200" cy="457200"/>
          </a:xfrm>
        </p:grpSpPr>
        <p:pic>
          <p:nvPicPr>
            <p:cNvPr id="1090" name="Google Shape;1090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1" name="Google Shape;1091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2" name="Google Shape;1092;p90"/>
          <p:cNvGrpSpPr/>
          <p:nvPr/>
        </p:nvGrpSpPr>
        <p:grpSpPr>
          <a:xfrm>
            <a:off x="6002243" y="1136469"/>
            <a:ext cx="457200" cy="457200"/>
            <a:chOff x="1020916" y="1442088"/>
            <a:chExt cx="457200" cy="457200"/>
          </a:xfrm>
        </p:grpSpPr>
        <p:pic>
          <p:nvPicPr>
            <p:cNvPr id="1093" name="Google Shape;109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4" name="Google Shape;1094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5" name="Google Shape;1095;p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658" y="12915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7383" y="18518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91"/>
          <p:cNvSpPr txBox="1"/>
          <p:nvPr>
            <p:ph idx="1" type="body"/>
          </p:nvPr>
        </p:nvSpPr>
        <p:spPr>
          <a:xfrm>
            <a:off x="324000" y="2189100"/>
            <a:ext cx="51153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1) picking a pair of corresponding points and connecting them with a line segment</a:t>
            </a:r>
            <a:endParaRPr sz="2000"/>
          </a:p>
        </p:txBody>
      </p:sp>
      <p:sp>
        <p:nvSpPr>
          <p:cNvPr id="1102" name="Google Shape;1102;p91"/>
          <p:cNvSpPr txBox="1"/>
          <p:nvPr>
            <p:ph idx="1" type="body"/>
          </p:nvPr>
        </p:nvSpPr>
        <p:spPr>
          <a:xfrm>
            <a:off x="324000" y="1689900"/>
            <a:ext cx="46437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We can find the </a:t>
            </a:r>
            <a:r>
              <a:rPr b="1" lang="en-GB" sz="2000"/>
              <a:t>line of reflection</a:t>
            </a:r>
            <a:r>
              <a:rPr lang="en-GB" sz="2000"/>
              <a:t> by:</a:t>
            </a:r>
            <a:endParaRPr sz="2000"/>
          </a:p>
        </p:txBody>
      </p:sp>
      <p:sp>
        <p:nvSpPr>
          <p:cNvPr id="1103" name="Google Shape;1103;p91"/>
          <p:cNvSpPr txBox="1"/>
          <p:nvPr>
            <p:ph idx="1" type="body"/>
          </p:nvPr>
        </p:nvSpPr>
        <p:spPr>
          <a:xfrm>
            <a:off x="324000" y="759300"/>
            <a:ext cx="8496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</a:t>
            </a:r>
            <a:r>
              <a:rPr b="1" lang="en-GB" sz="2000"/>
              <a:t>line of reflection</a:t>
            </a:r>
            <a:r>
              <a:rPr lang="en-GB" sz="2000"/>
              <a:t> is always in the middle of two corresponding points on the object and image.</a:t>
            </a:r>
            <a:endParaRPr sz="2000"/>
          </a:p>
        </p:txBody>
      </p:sp>
      <p:sp>
        <p:nvSpPr>
          <p:cNvPr id="1104" name="Google Shape;1104;p91"/>
          <p:cNvSpPr txBox="1"/>
          <p:nvPr>
            <p:ph idx="1" type="body"/>
          </p:nvPr>
        </p:nvSpPr>
        <p:spPr>
          <a:xfrm>
            <a:off x="324000" y="3484675"/>
            <a:ext cx="51153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2) finding the distance halfway between the two points on the line segment</a:t>
            </a:r>
            <a:endParaRPr sz="2000"/>
          </a:p>
        </p:txBody>
      </p:sp>
      <p:sp>
        <p:nvSpPr>
          <p:cNvPr id="1105" name="Google Shape;110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Applying strategies for finding the mirror line</a:t>
            </a:r>
            <a:endParaRPr/>
          </a:p>
        </p:txBody>
      </p:sp>
      <p:pic>
        <p:nvPicPr>
          <p:cNvPr id="1106" name="Google Shape;1106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737" y="1214350"/>
            <a:ext cx="1476929" cy="3542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7" name="Google Shape;1107;p91"/>
          <p:cNvCxnSpPr/>
          <p:nvPr/>
        </p:nvCxnSpPr>
        <p:spPr>
          <a:xfrm>
            <a:off x="6810375" y="2347913"/>
            <a:ext cx="0" cy="1019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8" name="Google Shape;1108;p91"/>
          <p:cNvSpPr txBox="1"/>
          <p:nvPr/>
        </p:nvSpPr>
        <p:spPr>
          <a:xfrm>
            <a:off x="5478041" y="2451236"/>
            <a:ext cx="1171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of 4 squares is 2 squares</a:t>
            </a:r>
            <a:endParaRPr/>
          </a:p>
        </p:txBody>
      </p:sp>
      <p:sp>
        <p:nvSpPr>
          <p:cNvPr id="1109" name="Google Shape;1109;p91"/>
          <p:cNvSpPr/>
          <p:nvPr/>
        </p:nvSpPr>
        <p:spPr>
          <a:xfrm>
            <a:off x="6610558" y="2660305"/>
            <a:ext cx="381000" cy="381000"/>
          </a:xfrm>
          <a:prstGeom prst="mathMultiply">
            <a:avLst>
              <a:gd fmla="val 1853" name="adj1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92"/>
          <p:cNvSpPr txBox="1"/>
          <p:nvPr>
            <p:ph idx="1" type="body"/>
          </p:nvPr>
        </p:nvSpPr>
        <p:spPr>
          <a:xfrm>
            <a:off x="324000" y="2191050"/>
            <a:ext cx="5115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3) repeating a second time for a different pair of corresponding points</a:t>
            </a:r>
            <a:endParaRPr sz="2000"/>
          </a:p>
        </p:txBody>
      </p:sp>
      <p:sp>
        <p:nvSpPr>
          <p:cNvPr id="1115" name="Google Shape;1115;p92"/>
          <p:cNvSpPr txBox="1"/>
          <p:nvPr>
            <p:ph idx="1" type="body"/>
          </p:nvPr>
        </p:nvSpPr>
        <p:spPr>
          <a:xfrm>
            <a:off x="324000" y="1689900"/>
            <a:ext cx="46992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We can find the </a:t>
            </a:r>
            <a:r>
              <a:rPr b="1" lang="en-GB" sz="2000"/>
              <a:t>line of reflection</a:t>
            </a:r>
            <a:r>
              <a:rPr lang="en-GB" sz="2000"/>
              <a:t> by:</a:t>
            </a:r>
            <a:endParaRPr sz="2000"/>
          </a:p>
        </p:txBody>
      </p:sp>
      <p:sp>
        <p:nvSpPr>
          <p:cNvPr id="1116" name="Google Shape;1116;p92"/>
          <p:cNvSpPr txBox="1"/>
          <p:nvPr>
            <p:ph idx="1" type="body"/>
          </p:nvPr>
        </p:nvSpPr>
        <p:spPr>
          <a:xfrm>
            <a:off x="324000" y="3483851"/>
            <a:ext cx="5115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4) joining all the midpoints - this is your line of reflection</a:t>
            </a:r>
            <a:endParaRPr sz="2000"/>
          </a:p>
        </p:txBody>
      </p:sp>
      <p:sp>
        <p:nvSpPr>
          <p:cNvPr id="1117" name="Google Shape;1117;p92"/>
          <p:cNvSpPr txBox="1"/>
          <p:nvPr>
            <p:ph idx="1" type="body"/>
          </p:nvPr>
        </p:nvSpPr>
        <p:spPr>
          <a:xfrm>
            <a:off x="324000" y="759300"/>
            <a:ext cx="8496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</a:t>
            </a:r>
            <a:r>
              <a:rPr b="1" lang="en-GB" sz="2000"/>
              <a:t>line of reflection</a:t>
            </a:r>
            <a:r>
              <a:rPr lang="en-GB" sz="2000"/>
              <a:t> is always in the middle of two corresponding points on the object and image.</a:t>
            </a:r>
            <a:endParaRPr sz="2000"/>
          </a:p>
        </p:txBody>
      </p:sp>
      <p:sp>
        <p:nvSpPr>
          <p:cNvPr id="1118" name="Google Shape;111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Applying strategies for finding the mirror line</a:t>
            </a:r>
            <a:endParaRPr/>
          </a:p>
        </p:txBody>
      </p:sp>
      <p:pic>
        <p:nvPicPr>
          <p:cNvPr id="1119" name="Google Shape;1119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737" y="1214350"/>
            <a:ext cx="1476929" cy="3542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0" name="Google Shape;1120;p92"/>
          <p:cNvCxnSpPr/>
          <p:nvPr/>
        </p:nvCxnSpPr>
        <p:spPr>
          <a:xfrm>
            <a:off x="6810375" y="2347913"/>
            <a:ext cx="0" cy="1019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1" name="Google Shape;1121;p92"/>
          <p:cNvSpPr/>
          <p:nvPr/>
        </p:nvSpPr>
        <p:spPr>
          <a:xfrm>
            <a:off x="6610558" y="2660305"/>
            <a:ext cx="381000" cy="381000"/>
          </a:xfrm>
          <a:prstGeom prst="mathMultiply">
            <a:avLst>
              <a:gd fmla="val 1853" name="adj1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2" name="Google Shape;1122;p92"/>
          <p:cNvCxnSpPr/>
          <p:nvPr/>
        </p:nvCxnSpPr>
        <p:spPr>
          <a:xfrm>
            <a:off x="8078068" y="1343025"/>
            <a:ext cx="0" cy="3029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3" name="Google Shape;1123;p92"/>
          <p:cNvSpPr txBox="1"/>
          <p:nvPr/>
        </p:nvSpPr>
        <p:spPr>
          <a:xfrm>
            <a:off x="5481674" y="2451236"/>
            <a:ext cx="1171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of 12 squares is 6 squares</a:t>
            </a:r>
            <a:endParaRPr/>
          </a:p>
        </p:txBody>
      </p:sp>
      <p:sp>
        <p:nvSpPr>
          <p:cNvPr id="1124" name="Google Shape;1124;p92"/>
          <p:cNvSpPr/>
          <p:nvPr/>
        </p:nvSpPr>
        <p:spPr>
          <a:xfrm>
            <a:off x="7878251" y="2660305"/>
            <a:ext cx="381000" cy="381000"/>
          </a:xfrm>
          <a:prstGeom prst="mathMultiply">
            <a:avLst>
              <a:gd fmla="val 1853" name="adj1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5" name="Google Shape;1125;p92"/>
          <p:cNvCxnSpPr/>
          <p:nvPr/>
        </p:nvCxnSpPr>
        <p:spPr>
          <a:xfrm rot="10800000">
            <a:off x="6359219" y="2856937"/>
            <a:ext cx="2020500" cy="0"/>
          </a:xfrm>
          <a:prstGeom prst="straightConnector1">
            <a:avLst/>
          </a:prstGeom>
          <a:noFill/>
          <a:ln cap="flat" cmpd="sng" w="38100">
            <a:solidFill>
              <a:srgbClr val="A5A5A5"/>
            </a:solidFill>
            <a:prstDash val="lg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93"/>
          <p:cNvSpPr txBox="1"/>
          <p:nvPr>
            <p:ph idx="1" type="body"/>
          </p:nvPr>
        </p:nvSpPr>
        <p:spPr>
          <a:xfrm>
            <a:off x="324000" y="812606"/>
            <a:ext cx="8496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We can use the same method even if there are no gridlines to help.</a:t>
            </a:r>
            <a:endParaRPr sz="1800"/>
          </a:p>
        </p:txBody>
      </p:sp>
      <p:sp>
        <p:nvSpPr>
          <p:cNvPr id="1131" name="Google Shape;113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Applying strategies for finding the mirror line</a:t>
            </a:r>
            <a:endParaRPr/>
          </a:p>
        </p:txBody>
      </p:sp>
      <p:sp>
        <p:nvSpPr>
          <p:cNvPr id="1132" name="Google Shape;1132;p93"/>
          <p:cNvSpPr txBox="1"/>
          <p:nvPr>
            <p:ph idx="1" type="body"/>
          </p:nvPr>
        </p:nvSpPr>
        <p:spPr>
          <a:xfrm>
            <a:off x="324000" y="1244850"/>
            <a:ext cx="73827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It will be necessary to use a ruler to measure the line segments and find the midpoint of each one.</a:t>
            </a:r>
            <a:endParaRPr sz="1800"/>
          </a:p>
        </p:txBody>
      </p:sp>
      <p:sp>
        <p:nvSpPr>
          <p:cNvPr id="1133" name="Google Shape;1133;p93"/>
          <p:cNvSpPr txBox="1"/>
          <p:nvPr>
            <p:ph idx="1" type="body"/>
          </p:nvPr>
        </p:nvSpPr>
        <p:spPr>
          <a:xfrm>
            <a:off x="343750" y="1916600"/>
            <a:ext cx="41169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connect two corresponding points with a line segment</a:t>
            </a:r>
            <a:endParaRPr sz="1800"/>
          </a:p>
        </p:txBody>
      </p:sp>
      <p:sp>
        <p:nvSpPr>
          <p:cNvPr id="1134" name="Google Shape;1134;p93"/>
          <p:cNvSpPr txBox="1"/>
          <p:nvPr>
            <p:ph idx="1" type="body"/>
          </p:nvPr>
        </p:nvSpPr>
        <p:spPr>
          <a:xfrm>
            <a:off x="343750" y="3449050"/>
            <a:ext cx="41169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find the midpoint by halving the length on the ruler</a:t>
            </a:r>
            <a:endParaRPr sz="1800"/>
          </a:p>
        </p:txBody>
      </p:sp>
      <p:sp>
        <p:nvSpPr>
          <p:cNvPr id="1135" name="Google Shape;1135;p93"/>
          <p:cNvSpPr txBox="1"/>
          <p:nvPr>
            <p:ph idx="1" type="body"/>
          </p:nvPr>
        </p:nvSpPr>
        <p:spPr>
          <a:xfrm>
            <a:off x="343750" y="2682825"/>
            <a:ext cx="41169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use a ruler to measure the length of the line segment </a:t>
            </a:r>
            <a:endParaRPr sz="1800"/>
          </a:p>
        </p:txBody>
      </p:sp>
      <p:pic>
        <p:nvPicPr>
          <p:cNvPr id="1136" name="Google Shape;1136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0725" y="2272475"/>
            <a:ext cx="4359274" cy="17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93"/>
          <p:cNvSpPr txBox="1"/>
          <p:nvPr>
            <p:ph idx="1" type="body"/>
          </p:nvPr>
        </p:nvSpPr>
        <p:spPr>
          <a:xfrm>
            <a:off x="343750" y="4215275"/>
            <a:ext cx="41169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repeat and connect the midpoints</a:t>
            </a:r>
            <a:endParaRPr sz="1800"/>
          </a:p>
        </p:txBody>
      </p:sp>
      <p:cxnSp>
        <p:nvCxnSpPr>
          <p:cNvPr id="1138" name="Google Shape;1138;p93"/>
          <p:cNvCxnSpPr/>
          <p:nvPr/>
        </p:nvCxnSpPr>
        <p:spPr>
          <a:xfrm rot="10800000">
            <a:off x="6051109" y="2505191"/>
            <a:ext cx="1139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9" name="Google Shape;1139;p93"/>
          <p:cNvSpPr/>
          <p:nvPr/>
        </p:nvSpPr>
        <p:spPr>
          <a:xfrm rot="5400000">
            <a:off x="6430241" y="2306885"/>
            <a:ext cx="381000" cy="381000"/>
          </a:xfrm>
          <a:prstGeom prst="mathMultiply">
            <a:avLst>
              <a:gd fmla="val 1853" name="adj1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0" name="Google Shape;1140;p93"/>
          <p:cNvPicPr preferRelativeResize="0"/>
          <p:nvPr/>
        </p:nvPicPr>
        <p:blipFill rotWithShape="1">
          <a:blip r:embed="rId4">
            <a:alphaModFix/>
          </a:blip>
          <a:srcRect b="0" l="0" r="33222" t="0"/>
          <a:stretch/>
        </p:blipFill>
        <p:spPr>
          <a:xfrm>
            <a:off x="5934796" y="2544219"/>
            <a:ext cx="2424979" cy="34864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141" name="Google Shape;1141;p93"/>
          <p:cNvCxnSpPr/>
          <p:nvPr/>
        </p:nvCxnSpPr>
        <p:spPr>
          <a:xfrm rot="10800000">
            <a:off x="5467463" y="3650637"/>
            <a:ext cx="2309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2" name="Google Shape;1142;p93"/>
          <p:cNvSpPr/>
          <p:nvPr/>
        </p:nvSpPr>
        <p:spPr>
          <a:xfrm rot="5400000">
            <a:off x="6430241" y="3452331"/>
            <a:ext cx="381000" cy="381000"/>
          </a:xfrm>
          <a:prstGeom prst="mathMultiply">
            <a:avLst>
              <a:gd fmla="val 1853" name="adj1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3" name="Google Shape;1143;p93"/>
          <p:cNvPicPr preferRelativeResize="0"/>
          <p:nvPr/>
        </p:nvPicPr>
        <p:blipFill rotWithShape="1">
          <a:blip r:embed="rId4">
            <a:alphaModFix/>
          </a:blip>
          <a:srcRect b="0" l="0" r="33222" t="0"/>
          <a:stretch/>
        </p:blipFill>
        <p:spPr>
          <a:xfrm>
            <a:off x="5352184" y="3682462"/>
            <a:ext cx="2465461" cy="35446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144" name="Google Shape;1144;p93"/>
          <p:cNvCxnSpPr/>
          <p:nvPr/>
        </p:nvCxnSpPr>
        <p:spPr>
          <a:xfrm rot="10800000">
            <a:off x="6620178" y="1992750"/>
            <a:ext cx="0" cy="2445900"/>
          </a:xfrm>
          <a:prstGeom prst="straightConnector1">
            <a:avLst/>
          </a:prstGeom>
          <a:noFill/>
          <a:ln cap="flat" cmpd="sng" w="38100">
            <a:solidFill>
              <a:srgbClr val="A5A5A5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45" name="Google Shape;1145;p93"/>
          <p:cNvSpPr txBox="1"/>
          <p:nvPr/>
        </p:nvSpPr>
        <p:spPr>
          <a:xfrm>
            <a:off x="5226056" y="4330385"/>
            <a:ext cx="27882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line of reflection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Applying strategies for finding the mirror line</a:t>
            </a:r>
            <a:endParaRPr/>
          </a:p>
        </p:txBody>
      </p:sp>
      <p:sp>
        <p:nvSpPr>
          <p:cNvPr id="1151" name="Google Shape;1151;p94"/>
          <p:cNvSpPr txBox="1"/>
          <p:nvPr>
            <p:ph idx="1" type="body"/>
          </p:nvPr>
        </p:nvSpPr>
        <p:spPr>
          <a:xfrm>
            <a:off x="324000" y="759300"/>
            <a:ext cx="34995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Label the diagram with the correct words from below:</a:t>
            </a:r>
            <a:endParaRPr sz="2000"/>
          </a:p>
        </p:txBody>
      </p:sp>
      <p:pic>
        <p:nvPicPr>
          <p:cNvPr id="1152" name="Google Shape;1152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0100" y="1743875"/>
            <a:ext cx="3633150" cy="2576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3" name="Google Shape;1153;p94"/>
          <p:cNvCxnSpPr/>
          <p:nvPr/>
        </p:nvCxnSpPr>
        <p:spPr>
          <a:xfrm flipH="1" rot="10800000">
            <a:off x="6041875" y="1578100"/>
            <a:ext cx="2033100" cy="3564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4" name="Google Shape;1154;p94"/>
          <p:cNvCxnSpPr/>
          <p:nvPr/>
        </p:nvCxnSpPr>
        <p:spPr>
          <a:xfrm flipH="1" rot="10800000">
            <a:off x="3773575" y="3929675"/>
            <a:ext cx="2124300" cy="3945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5" name="Google Shape;1155;p94"/>
          <p:cNvCxnSpPr/>
          <p:nvPr/>
        </p:nvCxnSpPr>
        <p:spPr>
          <a:xfrm>
            <a:off x="6406025" y="3914525"/>
            <a:ext cx="1289700" cy="6978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56" name="Google Shape;1156;p94"/>
          <p:cNvGrpSpPr/>
          <p:nvPr/>
        </p:nvGrpSpPr>
        <p:grpSpPr>
          <a:xfrm>
            <a:off x="7755591" y="4363205"/>
            <a:ext cx="457200" cy="457200"/>
            <a:chOff x="1020916" y="1442088"/>
            <a:chExt cx="457200" cy="457200"/>
          </a:xfrm>
        </p:grpSpPr>
        <p:pic>
          <p:nvPicPr>
            <p:cNvPr id="1157" name="Google Shape;1157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8" name="Google Shape;1158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9" name="Google Shape;1159;p94"/>
          <p:cNvGrpSpPr/>
          <p:nvPr/>
        </p:nvGrpSpPr>
        <p:grpSpPr>
          <a:xfrm>
            <a:off x="3316366" y="4091405"/>
            <a:ext cx="457200" cy="457200"/>
            <a:chOff x="1020916" y="1442088"/>
            <a:chExt cx="457200" cy="457200"/>
          </a:xfrm>
        </p:grpSpPr>
        <p:pic>
          <p:nvPicPr>
            <p:cNvPr id="1160" name="Google Shape;1160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1" name="Google Shape;1161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2" name="Google Shape;1162;p94"/>
          <p:cNvGrpSpPr/>
          <p:nvPr/>
        </p:nvGrpSpPr>
        <p:grpSpPr>
          <a:xfrm>
            <a:off x="8074966" y="1337580"/>
            <a:ext cx="457200" cy="457200"/>
            <a:chOff x="1020916" y="1442088"/>
            <a:chExt cx="457200" cy="457200"/>
          </a:xfrm>
        </p:grpSpPr>
        <p:pic>
          <p:nvPicPr>
            <p:cNvPr id="1163" name="Google Shape;1163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4" name="Google Shape;1164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65" name="Google Shape;1165;p94"/>
          <p:cNvSpPr txBox="1"/>
          <p:nvPr>
            <p:ph idx="1" type="body"/>
          </p:nvPr>
        </p:nvSpPr>
        <p:spPr>
          <a:xfrm>
            <a:off x="940700" y="1522031"/>
            <a:ext cx="16539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1166" name="Google Shape;1166;p94"/>
          <p:cNvSpPr txBox="1"/>
          <p:nvPr>
            <p:ph idx="1" type="body"/>
          </p:nvPr>
        </p:nvSpPr>
        <p:spPr>
          <a:xfrm>
            <a:off x="940700" y="1994081"/>
            <a:ext cx="16539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midpoint</a:t>
            </a:r>
            <a:endParaRPr sz="2000"/>
          </a:p>
        </p:txBody>
      </p:sp>
      <p:sp>
        <p:nvSpPr>
          <p:cNvPr id="1167" name="Google Shape;1167;p94"/>
          <p:cNvSpPr txBox="1"/>
          <p:nvPr>
            <p:ph idx="1" type="body"/>
          </p:nvPr>
        </p:nvSpPr>
        <p:spPr>
          <a:xfrm>
            <a:off x="940700" y="2466131"/>
            <a:ext cx="22227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1" lang="en-GB" sz="2000"/>
              <a:t>line of reflection</a:t>
            </a:r>
            <a:endParaRPr b="1" sz="2000"/>
          </a:p>
        </p:txBody>
      </p:sp>
      <p:sp>
        <p:nvSpPr>
          <p:cNvPr id="1168" name="Google Shape;1168;p94"/>
          <p:cNvSpPr txBox="1"/>
          <p:nvPr>
            <p:ph idx="1" type="body"/>
          </p:nvPr>
        </p:nvSpPr>
        <p:spPr>
          <a:xfrm>
            <a:off x="940700" y="2938181"/>
            <a:ext cx="22227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1" lang="en-GB" sz="2000"/>
              <a:t>equidistant </a:t>
            </a:r>
            <a:endParaRPr b="1" sz="2000"/>
          </a:p>
        </p:txBody>
      </p:sp>
      <p:sp>
        <p:nvSpPr>
          <p:cNvPr id="1169" name="Google Shape;1169;p94"/>
          <p:cNvSpPr txBox="1"/>
          <p:nvPr>
            <p:ph idx="1" type="body"/>
          </p:nvPr>
        </p:nvSpPr>
        <p:spPr>
          <a:xfrm>
            <a:off x="940700" y="3410231"/>
            <a:ext cx="22227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line segment</a:t>
            </a:r>
            <a:endParaRPr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Applying strategies for finding the mirror line</a:t>
            </a:r>
            <a:endParaRPr/>
          </a:p>
        </p:txBody>
      </p:sp>
      <p:sp>
        <p:nvSpPr>
          <p:cNvPr id="1175" name="Google Shape;1175;p95"/>
          <p:cNvSpPr txBox="1"/>
          <p:nvPr>
            <p:ph idx="1" type="body"/>
          </p:nvPr>
        </p:nvSpPr>
        <p:spPr>
          <a:xfrm>
            <a:off x="324000" y="759300"/>
            <a:ext cx="34995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Label the diagram with the correct words from below:</a:t>
            </a:r>
            <a:endParaRPr sz="2000"/>
          </a:p>
        </p:txBody>
      </p:sp>
      <p:pic>
        <p:nvPicPr>
          <p:cNvPr id="1176" name="Google Shape;1176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0100" y="1743875"/>
            <a:ext cx="3633150" cy="2576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7" name="Google Shape;1177;p95"/>
          <p:cNvCxnSpPr/>
          <p:nvPr/>
        </p:nvCxnSpPr>
        <p:spPr>
          <a:xfrm flipH="1" rot="10800000">
            <a:off x="6041875" y="1578100"/>
            <a:ext cx="2033100" cy="3564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8" name="Google Shape;1178;p95"/>
          <p:cNvCxnSpPr/>
          <p:nvPr/>
        </p:nvCxnSpPr>
        <p:spPr>
          <a:xfrm flipH="1" rot="10800000">
            <a:off x="3773575" y="3929675"/>
            <a:ext cx="2124300" cy="3945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9" name="Google Shape;1179;p95"/>
          <p:cNvCxnSpPr/>
          <p:nvPr/>
        </p:nvCxnSpPr>
        <p:spPr>
          <a:xfrm>
            <a:off x="6406025" y="3914525"/>
            <a:ext cx="1289700" cy="6978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80" name="Google Shape;1180;p95"/>
          <p:cNvGrpSpPr/>
          <p:nvPr/>
        </p:nvGrpSpPr>
        <p:grpSpPr>
          <a:xfrm>
            <a:off x="7755591" y="4363205"/>
            <a:ext cx="457200" cy="457200"/>
            <a:chOff x="1020916" y="1442088"/>
            <a:chExt cx="457200" cy="457200"/>
          </a:xfrm>
        </p:grpSpPr>
        <p:pic>
          <p:nvPicPr>
            <p:cNvPr id="1181" name="Google Shape;1181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2" name="Google Shape;118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3" name="Google Shape;1183;p95"/>
          <p:cNvGrpSpPr/>
          <p:nvPr/>
        </p:nvGrpSpPr>
        <p:grpSpPr>
          <a:xfrm>
            <a:off x="3316366" y="4091405"/>
            <a:ext cx="457200" cy="457200"/>
            <a:chOff x="1020916" y="1442088"/>
            <a:chExt cx="457200" cy="457200"/>
          </a:xfrm>
        </p:grpSpPr>
        <p:pic>
          <p:nvPicPr>
            <p:cNvPr id="1184" name="Google Shape;1184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5" name="Google Shape;118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6" name="Google Shape;1186;p95"/>
          <p:cNvGrpSpPr/>
          <p:nvPr/>
        </p:nvGrpSpPr>
        <p:grpSpPr>
          <a:xfrm>
            <a:off x="8074966" y="1337580"/>
            <a:ext cx="457200" cy="457200"/>
            <a:chOff x="1020916" y="1442088"/>
            <a:chExt cx="457200" cy="457200"/>
          </a:xfrm>
        </p:grpSpPr>
        <p:pic>
          <p:nvPicPr>
            <p:cNvPr id="1187" name="Google Shape;1187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8" name="Google Shape;1188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9" name="Google Shape;1189;p95"/>
          <p:cNvSpPr txBox="1"/>
          <p:nvPr>
            <p:ph idx="1" type="body"/>
          </p:nvPr>
        </p:nvSpPr>
        <p:spPr>
          <a:xfrm>
            <a:off x="940700" y="1522031"/>
            <a:ext cx="16539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 strike="sngStrike"/>
              <a:t>object</a:t>
            </a:r>
            <a:endParaRPr sz="2000" strike="sngStrike"/>
          </a:p>
        </p:txBody>
      </p:sp>
      <p:sp>
        <p:nvSpPr>
          <p:cNvPr id="1190" name="Google Shape;1190;p95"/>
          <p:cNvSpPr txBox="1"/>
          <p:nvPr>
            <p:ph idx="1" type="body"/>
          </p:nvPr>
        </p:nvSpPr>
        <p:spPr>
          <a:xfrm>
            <a:off x="2144500" y="4107900"/>
            <a:ext cx="11175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midpoint</a:t>
            </a:r>
            <a:endParaRPr sz="2000"/>
          </a:p>
        </p:txBody>
      </p:sp>
      <p:sp>
        <p:nvSpPr>
          <p:cNvPr id="1191" name="Google Shape;1191;p95"/>
          <p:cNvSpPr txBox="1"/>
          <p:nvPr>
            <p:ph idx="1" type="body"/>
          </p:nvPr>
        </p:nvSpPr>
        <p:spPr>
          <a:xfrm>
            <a:off x="5852325" y="1097825"/>
            <a:ext cx="22227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1" lang="en-GB" sz="2000"/>
              <a:t>line of reflection</a:t>
            </a:r>
            <a:endParaRPr b="1" sz="2000"/>
          </a:p>
        </p:txBody>
      </p:sp>
      <p:sp>
        <p:nvSpPr>
          <p:cNvPr id="1192" name="Google Shape;1192;p95"/>
          <p:cNvSpPr txBox="1"/>
          <p:nvPr>
            <p:ph idx="1" type="body"/>
          </p:nvPr>
        </p:nvSpPr>
        <p:spPr>
          <a:xfrm>
            <a:off x="940700" y="2938181"/>
            <a:ext cx="22227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1" lang="en-GB" sz="2000" strike="sngStrike"/>
              <a:t>equidistant</a:t>
            </a:r>
            <a:r>
              <a:rPr lang="en-GB" sz="2000" strike="sngStrike"/>
              <a:t> </a:t>
            </a:r>
            <a:endParaRPr sz="2000" strike="sngStrike"/>
          </a:p>
        </p:txBody>
      </p:sp>
      <p:sp>
        <p:nvSpPr>
          <p:cNvPr id="1193" name="Google Shape;1193;p95"/>
          <p:cNvSpPr txBox="1"/>
          <p:nvPr>
            <p:ph idx="1" type="body"/>
          </p:nvPr>
        </p:nvSpPr>
        <p:spPr>
          <a:xfrm>
            <a:off x="6101650" y="4547169"/>
            <a:ext cx="16539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line segment</a:t>
            </a:r>
            <a:endParaRPr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Applying strategies for finding the mirror line</a:t>
            </a:r>
            <a:endParaRPr/>
          </a:p>
        </p:txBody>
      </p:sp>
      <p:sp>
        <p:nvSpPr>
          <p:cNvPr id="1199" name="Google Shape;1199;p96"/>
          <p:cNvSpPr txBox="1"/>
          <p:nvPr>
            <p:ph idx="1" type="body"/>
          </p:nvPr>
        </p:nvSpPr>
        <p:spPr>
          <a:xfrm>
            <a:off x="324000" y="759300"/>
            <a:ext cx="849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1) Find the </a:t>
            </a:r>
            <a:r>
              <a:rPr b="1" lang="en-GB" sz="2000"/>
              <a:t>line of reflection</a:t>
            </a:r>
            <a:r>
              <a:rPr lang="en-GB" sz="2000"/>
              <a:t> for each of these partially completed diagrams.</a:t>
            </a:r>
            <a:endParaRPr sz="2000"/>
          </a:p>
        </p:txBody>
      </p:sp>
      <p:pic>
        <p:nvPicPr>
          <p:cNvPr id="1200" name="Google Shape;1200;p96"/>
          <p:cNvPicPr preferRelativeResize="0"/>
          <p:nvPr/>
        </p:nvPicPr>
        <p:blipFill rotWithShape="1">
          <a:blip r:embed="rId3">
            <a:alphaModFix/>
          </a:blip>
          <a:srcRect b="3446" l="0" r="0" t="0"/>
          <a:stretch/>
        </p:blipFill>
        <p:spPr>
          <a:xfrm>
            <a:off x="1765350" y="1206975"/>
            <a:ext cx="6695364" cy="361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5" name="Google Shape;1205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197" y="1426824"/>
            <a:ext cx="6164807" cy="339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97"/>
          <p:cNvSpPr txBox="1"/>
          <p:nvPr>
            <p:ph idx="1" type="body"/>
          </p:nvPr>
        </p:nvSpPr>
        <p:spPr>
          <a:xfrm>
            <a:off x="324000" y="759300"/>
            <a:ext cx="849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2) Find the </a:t>
            </a:r>
            <a:r>
              <a:rPr b="1" lang="en-GB" sz="2000"/>
              <a:t>line of reflection</a:t>
            </a:r>
            <a:r>
              <a:rPr lang="en-GB" sz="2000"/>
              <a:t> for each of these partially completed diagrams. You will need to use a ruler.</a:t>
            </a:r>
            <a:endParaRPr sz="2000"/>
          </a:p>
        </p:txBody>
      </p:sp>
      <p:sp>
        <p:nvSpPr>
          <p:cNvPr id="1207" name="Google Shape;1207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Applying strategies for finding the mirror line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Applying strategies for finding the mirror line</a:t>
            </a:r>
            <a:endParaRPr/>
          </a:p>
        </p:txBody>
      </p:sp>
      <p:sp>
        <p:nvSpPr>
          <p:cNvPr id="1213" name="Google Shape;1213;p98"/>
          <p:cNvSpPr txBox="1"/>
          <p:nvPr>
            <p:ph idx="1" type="body"/>
          </p:nvPr>
        </p:nvSpPr>
        <p:spPr>
          <a:xfrm>
            <a:off x="324000" y="759300"/>
            <a:ext cx="82377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1) Find the </a:t>
            </a:r>
            <a:r>
              <a:rPr b="1" lang="en-GB" sz="2000"/>
              <a:t>line of reflection</a:t>
            </a:r>
            <a:r>
              <a:rPr lang="en-GB" sz="2000"/>
              <a:t> for each of these partially completed diagrams.</a:t>
            </a:r>
            <a:endParaRPr sz="2000"/>
          </a:p>
        </p:txBody>
      </p:sp>
      <p:pic>
        <p:nvPicPr>
          <p:cNvPr id="1214" name="Google Shape;1214;p98"/>
          <p:cNvPicPr preferRelativeResize="0"/>
          <p:nvPr/>
        </p:nvPicPr>
        <p:blipFill rotWithShape="1">
          <a:blip r:embed="rId3">
            <a:alphaModFix/>
          </a:blip>
          <a:srcRect b="6798" l="0" r="0" t="3859"/>
          <a:stretch/>
        </p:blipFill>
        <p:spPr>
          <a:xfrm>
            <a:off x="1765350" y="1221400"/>
            <a:ext cx="6719524" cy="36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99"/>
          <p:cNvSpPr txBox="1"/>
          <p:nvPr>
            <p:ph idx="1" type="body"/>
          </p:nvPr>
        </p:nvSpPr>
        <p:spPr>
          <a:xfrm>
            <a:off x="324000" y="759300"/>
            <a:ext cx="8496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2) Find the </a:t>
            </a:r>
            <a:r>
              <a:rPr b="1" lang="en-GB" sz="2000"/>
              <a:t>line of reflection</a:t>
            </a:r>
            <a:r>
              <a:rPr lang="en-GB" sz="2000"/>
              <a:t> for each of these partially completed diagrams. You will need to use a ruler.</a:t>
            </a:r>
            <a:endParaRPr sz="2000"/>
          </a:p>
        </p:txBody>
      </p:sp>
      <p:sp>
        <p:nvSpPr>
          <p:cNvPr id="1220" name="Google Shape;1220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Applying strategies for finding the mirror line</a:t>
            </a:r>
            <a:endParaRPr/>
          </a:p>
        </p:txBody>
      </p:sp>
      <p:pic>
        <p:nvPicPr>
          <p:cNvPr id="1221" name="Google Shape;1221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0413" y="1436075"/>
            <a:ext cx="6060375" cy="338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99"/>
          <p:cNvSpPr txBox="1"/>
          <p:nvPr>
            <p:ph idx="1" type="body"/>
          </p:nvPr>
        </p:nvSpPr>
        <p:spPr>
          <a:xfrm>
            <a:off x="324000" y="1924800"/>
            <a:ext cx="1446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 will be other correct answers, depending on which pairs of corresponding points you chose.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10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Describing a reflection with formal language</a:t>
            </a:r>
            <a:endParaRPr/>
          </a:p>
        </p:txBody>
      </p:sp>
      <p:sp>
        <p:nvSpPr>
          <p:cNvPr id="1228" name="Google Shape;1228;p10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Applying strategies for finding the mirror line</a:t>
            </a:r>
            <a:endParaRPr/>
          </a:p>
        </p:txBody>
      </p:sp>
      <p:sp>
        <p:nvSpPr>
          <p:cNvPr id="1229" name="Google Shape;1229;p10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Diagonal reflections and non-reflections</a:t>
            </a:r>
            <a:endParaRPr/>
          </a:p>
        </p:txBody>
      </p:sp>
      <p:sp>
        <p:nvSpPr>
          <p:cNvPr id="1230" name="Google Shape;1230;p100"/>
          <p:cNvSpPr txBox="1"/>
          <p:nvPr>
            <p:ph idx="4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Describing a reflection</a:t>
            </a:r>
            <a:endParaRPr/>
          </a:p>
        </p:txBody>
      </p:sp>
      <p:pic>
        <p:nvPicPr>
          <p:cNvPr id="1231" name="Google Shape;123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50" y="369678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01"/>
          <p:cNvSpPr txBox="1"/>
          <p:nvPr>
            <p:ph idx="1" type="body"/>
          </p:nvPr>
        </p:nvSpPr>
        <p:spPr>
          <a:xfrm>
            <a:off x="324000" y="637245"/>
            <a:ext cx="84960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Diagonal reflections can be tricky to identify.</a:t>
            </a:r>
            <a:endParaRPr sz="1800"/>
          </a:p>
        </p:txBody>
      </p:sp>
      <p:sp>
        <p:nvSpPr>
          <p:cNvPr id="1237" name="Google Shape;1237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Diagonal reflections and non-reflections</a:t>
            </a:r>
            <a:endParaRPr/>
          </a:p>
        </p:txBody>
      </p:sp>
      <p:pic>
        <p:nvPicPr>
          <p:cNvPr id="1238" name="Google Shape;123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5382" y="2120426"/>
            <a:ext cx="2065908" cy="2118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9" name="Google Shape;1239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7200" y="2120426"/>
            <a:ext cx="2514600" cy="2121694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101"/>
          <p:cNvSpPr txBox="1"/>
          <p:nvPr>
            <p:ph idx="1" type="body"/>
          </p:nvPr>
        </p:nvSpPr>
        <p:spPr>
          <a:xfrm>
            <a:off x="332100" y="994850"/>
            <a:ext cx="84960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Which of these is a correct reflection?</a:t>
            </a:r>
            <a:endParaRPr sz="1800"/>
          </a:p>
        </p:txBody>
      </p:sp>
      <p:sp>
        <p:nvSpPr>
          <p:cNvPr id="1241" name="Google Shape;1241;p101"/>
          <p:cNvSpPr txBox="1"/>
          <p:nvPr>
            <p:ph idx="1" type="body"/>
          </p:nvPr>
        </p:nvSpPr>
        <p:spPr>
          <a:xfrm>
            <a:off x="332100" y="1317805"/>
            <a:ext cx="84960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It is easier to spot diagonal reflections by rotating the diagram or piece of paper.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102"/>
          <p:cNvSpPr txBox="1"/>
          <p:nvPr>
            <p:ph idx="1" type="body"/>
          </p:nvPr>
        </p:nvSpPr>
        <p:spPr>
          <a:xfrm>
            <a:off x="324000" y="637245"/>
            <a:ext cx="84960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Diagonal reflections can be tricky to identify.</a:t>
            </a:r>
            <a:endParaRPr sz="1800"/>
          </a:p>
        </p:txBody>
      </p:sp>
      <p:sp>
        <p:nvSpPr>
          <p:cNvPr id="1247" name="Google Shape;1247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Diagonal reflections and non-reflections</a:t>
            </a:r>
            <a:endParaRPr/>
          </a:p>
        </p:txBody>
      </p:sp>
      <p:sp>
        <p:nvSpPr>
          <p:cNvPr id="1248" name="Google Shape;1248;p102"/>
          <p:cNvSpPr txBox="1"/>
          <p:nvPr>
            <p:ph idx="1" type="body"/>
          </p:nvPr>
        </p:nvSpPr>
        <p:spPr>
          <a:xfrm>
            <a:off x="332100" y="994850"/>
            <a:ext cx="84960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Which of these is a correct reflection?</a:t>
            </a:r>
            <a:endParaRPr sz="1800"/>
          </a:p>
        </p:txBody>
      </p:sp>
      <p:sp>
        <p:nvSpPr>
          <p:cNvPr id="1249" name="Google Shape;1249;p102"/>
          <p:cNvSpPr txBox="1"/>
          <p:nvPr>
            <p:ph idx="1" type="body"/>
          </p:nvPr>
        </p:nvSpPr>
        <p:spPr>
          <a:xfrm>
            <a:off x="332100" y="1317805"/>
            <a:ext cx="84960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It is easier to spot diagonal reflections by rotating the diagram or piece of paper.</a:t>
            </a:r>
            <a:endParaRPr sz="1800"/>
          </a:p>
        </p:txBody>
      </p:sp>
      <p:pic>
        <p:nvPicPr>
          <p:cNvPr id="1250" name="Google Shape;1250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900000">
            <a:off x="1335382" y="2120426"/>
            <a:ext cx="2065909" cy="2118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99999">
            <a:off x="5467200" y="2120426"/>
            <a:ext cx="2514600" cy="2121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03"/>
          <p:cNvSpPr txBox="1"/>
          <p:nvPr>
            <p:ph idx="1" type="body"/>
          </p:nvPr>
        </p:nvSpPr>
        <p:spPr>
          <a:xfrm>
            <a:off x="324000" y="637245"/>
            <a:ext cx="84960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Diagonal reflections can be tricky to identify.</a:t>
            </a:r>
            <a:endParaRPr sz="1800"/>
          </a:p>
        </p:txBody>
      </p:sp>
      <p:sp>
        <p:nvSpPr>
          <p:cNvPr id="1257" name="Google Shape;1257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Diagonal reflections and non-reflections</a:t>
            </a:r>
            <a:endParaRPr/>
          </a:p>
        </p:txBody>
      </p:sp>
      <p:sp>
        <p:nvSpPr>
          <p:cNvPr id="1258" name="Google Shape;1258;p103"/>
          <p:cNvSpPr txBox="1"/>
          <p:nvPr>
            <p:ph idx="1" type="body"/>
          </p:nvPr>
        </p:nvSpPr>
        <p:spPr>
          <a:xfrm>
            <a:off x="332100" y="994850"/>
            <a:ext cx="84960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Which of these is a correct reflection?</a:t>
            </a:r>
            <a:endParaRPr sz="1800"/>
          </a:p>
        </p:txBody>
      </p:sp>
      <p:sp>
        <p:nvSpPr>
          <p:cNvPr id="1259" name="Google Shape;1259;p103"/>
          <p:cNvSpPr txBox="1"/>
          <p:nvPr>
            <p:ph idx="1" type="body"/>
          </p:nvPr>
        </p:nvSpPr>
        <p:spPr>
          <a:xfrm>
            <a:off x="332100" y="1317805"/>
            <a:ext cx="84960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It is easier to spot diagonal reflections by rotating the diagram or piece of paper.</a:t>
            </a:r>
            <a:endParaRPr sz="1800"/>
          </a:p>
        </p:txBody>
      </p:sp>
      <p:pic>
        <p:nvPicPr>
          <p:cNvPr id="1260" name="Google Shape;126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800000">
            <a:off x="1335384" y="2120426"/>
            <a:ext cx="2065909" cy="2118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800000">
            <a:off x="5467200" y="2120426"/>
            <a:ext cx="2514600" cy="2121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04"/>
          <p:cNvSpPr txBox="1"/>
          <p:nvPr>
            <p:ph idx="1" type="body"/>
          </p:nvPr>
        </p:nvSpPr>
        <p:spPr>
          <a:xfrm>
            <a:off x="324000" y="637245"/>
            <a:ext cx="84960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Diagonal reflections can be tricky to identify.</a:t>
            </a:r>
            <a:endParaRPr sz="1800"/>
          </a:p>
        </p:txBody>
      </p:sp>
      <p:sp>
        <p:nvSpPr>
          <p:cNvPr id="1267" name="Google Shape;1267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Diagonal reflections and non-reflections</a:t>
            </a:r>
            <a:endParaRPr/>
          </a:p>
        </p:txBody>
      </p:sp>
      <p:sp>
        <p:nvSpPr>
          <p:cNvPr id="1268" name="Google Shape;1268;p104"/>
          <p:cNvSpPr txBox="1"/>
          <p:nvPr>
            <p:ph idx="1" type="body"/>
          </p:nvPr>
        </p:nvSpPr>
        <p:spPr>
          <a:xfrm>
            <a:off x="332100" y="994850"/>
            <a:ext cx="84960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Which of these is a correct reflection?</a:t>
            </a:r>
            <a:endParaRPr sz="1800"/>
          </a:p>
        </p:txBody>
      </p:sp>
      <p:sp>
        <p:nvSpPr>
          <p:cNvPr id="1269" name="Google Shape;1269;p104"/>
          <p:cNvSpPr txBox="1"/>
          <p:nvPr>
            <p:ph idx="1" type="body"/>
          </p:nvPr>
        </p:nvSpPr>
        <p:spPr>
          <a:xfrm>
            <a:off x="332100" y="1317805"/>
            <a:ext cx="84960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It is easier to spot diagonal reflections by rotating the diagram or piece of paper.</a:t>
            </a:r>
            <a:endParaRPr sz="1800"/>
          </a:p>
        </p:txBody>
      </p:sp>
      <p:pic>
        <p:nvPicPr>
          <p:cNvPr id="1270" name="Google Shape;1270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700000">
            <a:off x="1335384" y="2120428"/>
            <a:ext cx="2065909" cy="2118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700000">
            <a:off x="5467199" y="2120427"/>
            <a:ext cx="2514600" cy="2121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105"/>
          <p:cNvSpPr txBox="1"/>
          <p:nvPr>
            <p:ph idx="1" type="body"/>
          </p:nvPr>
        </p:nvSpPr>
        <p:spPr>
          <a:xfrm>
            <a:off x="324000" y="865850"/>
            <a:ext cx="36132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/>
              <a:t>We can also check if a diagonal reflection is correct by drawing line segments between corresponding points (like before).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When using a grid with grid lines, you need to count the diagonals of the grid squares.</a:t>
            </a:r>
            <a:endParaRPr sz="2000"/>
          </a:p>
        </p:txBody>
      </p:sp>
      <p:sp>
        <p:nvSpPr>
          <p:cNvPr id="1277" name="Google Shape;1277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Diagonal reflections and non-reflections</a:t>
            </a:r>
            <a:endParaRPr/>
          </a:p>
        </p:txBody>
      </p:sp>
      <p:pic>
        <p:nvPicPr>
          <p:cNvPr id="1278" name="Google Shape;127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7763" y="739050"/>
            <a:ext cx="4058075" cy="4073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9" name="Google Shape;1279;p105"/>
          <p:cNvCxnSpPr/>
          <p:nvPr/>
        </p:nvCxnSpPr>
        <p:spPr>
          <a:xfrm>
            <a:off x="5458132" y="2743200"/>
            <a:ext cx="807000" cy="807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0" name="Google Shape;1280;p105"/>
          <p:cNvSpPr/>
          <p:nvPr/>
        </p:nvSpPr>
        <p:spPr>
          <a:xfrm rot="-2700000">
            <a:off x="5673524" y="2958599"/>
            <a:ext cx="380989" cy="380989"/>
          </a:xfrm>
          <a:prstGeom prst="mathMultiply">
            <a:avLst>
              <a:gd fmla="val 1853" name="adj1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1" name="Google Shape;1281;p105"/>
          <p:cNvCxnSpPr/>
          <p:nvPr/>
        </p:nvCxnSpPr>
        <p:spPr>
          <a:xfrm flipH="1" rot="10800000">
            <a:off x="4337050" y="982168"/>
            <a:ext cx="3693900" cy="3693900"/>
          </a:xfrm>
          <a:prstGeom prst="straightConnector1">
            <a:avLst/>
          </a:prstGeom>
          <a:noFill/>
          <a:ln cap="flat" cmpd="sng" w="38100">
            <a:solidFill>
              <a:srgbClr val="A5A5A5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82" name="Google Shape;1282;p105"/>
          <p:cNvSpPr txBox="1"/>
          <p:nvPr/>
        </p:nvSpPr>
        <p:spPr>
          <a:xfrm>
            <a:off x="4727567" y="3149094"/>
            <a:ext cx="11931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diagonal squares</a:t>
            </a:r>
            <a:endParaRPr/>
          </a:p>
        </p:txBody>
      </p:sp>
      <p:cxnSp>
        <p:nvCxnSpPr>
          <p:cNvPr id="1283" name="Google Shape;1283;p105"/>
          <p:cNvCxnSpPr/>
          <p:nvPr/>
        </p:nvCxnSpPr>
        <p:spPr>
          <a:xfrm>
            <a:off x="5458132" y="1968888"/>
            <a:ext cx="1575300" cy="1575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4" name="Google Shape;1284;p105"/>
          <p:cNvSpPr/>
          <p:nvPr/>
        </p:nvSpPr>
        <p:spPr>
          <a:xfrm rot="-2700000">
            <a:off x="6059947" y="2569991"/>
            <a:ext cx="380989" cy="380989"/>
          </a:xfrm>
          <a:prstGeom prst="mathMultiply">
            <a:avLst>
              <a:gd fmla="val 1853" name="adj1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105"/>
          <p:cNvSpPr txBox="1"/>
          <p:nvPr/>
        </p:nvSpPr>
        <p:spPr>
          <a:xfrm>
            <a:off x="6329538" y="2210153"/>
            <a:ext cx="11931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diagonal squares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106"/>
          <p:cNvSpPr txBox="1"/>
          <p:nvPr>
            <p:ph idx="1" type="body"/>
          </p:nvPr>
        </p:nvSpPr>
        <p:spPr>
          <a:xfrm>
            <a:off x="324000" y="865850"/>
            <a:ext cx="36132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/>
              <a:t>When using a grid with grid lines, you need to count the diagonals of the grid squares.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2000"/>
              <a:t>Sometimes, you need to count half-square diagonals, too!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1000"/>
              </a:spcAft>
              <a:buSzPts val="2200"/>
              <a:buNone/>
            </a:pPr>
            <a:r>
              <a:rPr lang="en-GB" sz="2000"/>
              <a:t>This may mean midpoints end up in the centre of a grid square.</a:t>
            </a:r>
            <a:endParaRPr sz="2000"/>
          </a:p>
        </p:txBody>
      </p:sp>
      <p:sp>
        <p:nvSpPr>
          <p:cNvPr id="1291" name="Google Shape;1291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Diagonal reflections and non-reflections</a:t>
            </a:r>
            <a:endParaRPr/>
          </a:p>
        </p:txBody>
      </p:sp>
      <p:pic>
        <p:nvPicPr>
          <p:cNvPr id="1292" name="Google Shape;1292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7763" y="739050"/>
            <a:ext cx="4058075" cy="4073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3" name="Google Shape;1293;p106"/>
          <p:cNvCxnSpPr/>
          <p:nvPr/>
        </p:nvCxnSpPr>
        <p:spPr>
          <a:xfrm>
            <a:off x="5458132" y="2743200"/>
            <a:ext cx="807000" cy="807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4" name="Google Shape;1294;p106"/>
          <p:cNvSpPr/>
          <p:nvPr/>
        </p:nvSpPr>
        <p:spPr>
          <a:xfrm rot="-2700000">
            <a:off x="5673524" y="2958599"/>
            <a:ext cx="380989" cy="380989"/>
          </a:xfrm>
          <a:prstGeom prst="mathMultiply">
            <a:avLst>
              <a:gd fmla="val 1853" name="adj1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5" name="Google Shape;1295;p106"/>
          <p:cNvCxnSpPr/>
          <p:nvPr/>
        </p:nvCxnSpPr>
        <p:spPr>
          <a:xfrm>
            <a:off x="4689782" y="815572"/>
            <a:ext cx="3519300" cy="3519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6" name="Google Shape;1296;p106"/>
          <p:cNvSpPr/>
          <p:nvPr/>
        </p:nvSpPr>
        <p:spPr>
          <a:xfrm rot="-2700000">
            <a:off x="6252890" y="2376492"/>
            <a:ext cx="380989" cy="380989"/>
          </a:xfrm>
          <a:prstGeom prst="mathMultiply">
            <a:avLst>
              <a:gd fmla="val 1853" name="adj1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106"/>
          <p:cNvSpPr txBox="1"/>
          <p:nvPr/>
        </p:nvSpPr>
        <p:spPr>
          <a:xfrm>
            <a:off x="6605128" y="1477937"/>
            <a:ext cx="11931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of 9 diagonal squares is 4.5 squares</a:t>
            </a:r>
            <a:endParaRPr/>
          </a:p>
        </p:txBody>
      </p:sp>
      <p:cxnSp>
        <p:nvCxnSpPr>
          <p:cNvPr id="1298" name="Google Shape;1298;p106"/>
          <p:cNvCxnSpPr/>
          <p:nvPr/>
        </p:nvCxnSpPr>
        <p:spPr>
          <a:xfrm flipH="1" rot="10800000">
            <a:off x="4337050" y="982168"/>
            <a:ext cx="3693900" cy="3693900"/>
          </a:xfrm>
          <a:prstGeom prst="straightConnector1">
            <a:avLst/>
          </a:prstGeom>
          <a:noFill/>
          <a:ln cap="flat" cmpd="sng" w="38100">
            <a:solidFill>
              <a:srgbClr val="A5A5A5"/>
            </a:solidFill>
            <a:prstDash val="lg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107"/>
          <p:cNvSpPr txBox="1"/>
          <p:nvPr>
            <p:ph idx="1" type="body"/>
          </p:nvPr>
        </p:nvSpPr>
        <p:spPr>
          <a:xfrm>
            <a:off x="324000" y="795937"/>
            <a:ext cx="8496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Match the diagonal reflections to their counterparts whose diagrams have been rotated to make the reflections look horizontal.</a:t>
            </a:r>
            <a:endParaRPr sz="1800"/>
          </a:p>
        </p:txBody>
      </p:sp>
      <p:sp>
        <p:nvSpPr>
          <p:cNvPr id="1304" name="Google Shape;1304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Diagonal reflections and non-reflections</a:t>
            </a:r>
            <a:endParaRPr/>
          </a:p>
        </p:txBody>
      </p:sp>
      <p:pic>
        <p:nvPicPr>
          <p:cNvPr id="1305" name="Google Shape;1305;p107"/>
          <p:cNvPicPr preferRelativeResize="0"/>
          <p:nvPr/>
        </p:nvPicPr>
        <p:blipFill rotWithShape="1">
          <a:blip r:embed="rId3">
            <a:alphaModFix/>
          </a:blip>
          <a:srcRect b="0" l="36854" r="32942" t="0"/>
          <a:stretch/>
        </p:blipFill>
        <p:spPr>
          <a:xfrm>
            <a:off x="3816429" y="1376975"/>
            <a:ext cx="1360081" cy="1398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6" name="Google Shape;1306;p107"/>
          <p:cNvPicPr preferRelativeResize="0"/>
          <p:nvPr/>
        </p:nvPicPr>
        <p:blipFill rotWithShape="1">
          <a:blip r:embed="rId3">
            <a:alphaModFix/>
          </a:blip>
          <a:srcRect b="0" l="0" r="68696" t="0"/>
          <a:stretch/>
        </p:blipFill>
        <p:spPr>
          <a:xfrm>
            <a:off x="1093765" y="1376975"/>
            <a:ext cx="1409724" cy="1398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107"/>
          <p:cNvPicPr preferRelativeResize="0"/>
          <p:nvPr/>
        </p:nvPicPr>
        <p:blipFill rotWithShape="1">
          <a:blip r:embed="rId3">
            <a:alphaModFix/>
          </a:blip>
          <a:srcRect b="0" l="72749" r="0" t="0"/>
          <a:stretch/>
        </p:blipFill>
        <p:spPr>
          <a:xfrm>
            <a:off x="6672002" y="1376975"/>
            <a:ext cx="1227172" cy="1398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107"/>
          <p:cNvPicPr preferRelativeResize="0"/>
          <p:nvPr/>
        </p:nvPicPr>
        <p:blipFill rotWithShape="1">
          <a:blip r:embed="rId3">
            <a:alphaModFix/>
          </a:blip>
          <a:srcRect b="0" l="36854" r="32942" t="0"/>
          <a:stretch/>
        </p:blipFill>
        <p:spPr>
          <a:xfrm rot="-2653892">
            <a:off x="1127526" y="3143322"/>
            <a:ext cx="1342200" cy="1417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107"/>
          <p:cNvPicPr preferRelativeResize="0"/>
          <p:nvPr/>
        </p:nvPicPr>
        <p:blipFill rotWithShape="1">
          <a:blip r:embed="rId3">
            <a:alphaModFix/>
          </a:blip>
          <a:srcRect b="0" l="0" r="68696" t="0"/>
          <a:stretch/>
        </p:blipFill>
        <p:spPr>
          <a:xfrm rot="-2653892">
            <a:off x="6632519" y="3128836"/>
            <a:ext cx="1391189" cy="1417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107"/>
          <p:cNvPicPr preferRelativeResize="0"/>
          <p:nvPr/>
        </p:nvPicPr>
        <p:blipFill rotWithShape="1">
          <a:blip r:embed="rId3">
            <a:alphaModFix/>
          </a:blip>
          <a:srcRect b="0" l="72749" r="0" t="0"/>
          <a:stretch/>
        </p:blipFill>
        <p:spPr>
          <a:xfrm rot="-2653886">
            <a:off x="3890954" y="3179540"/>
            <a:ext cx="1211040" cy="14175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1" name="Google Shape;1311;p107"/>
          <p:cNvGrpSpPr/>
          <p:nvPr/>
        </p:nvGrpSpPr>
        <p:grpSpPr>
          <a:xfrm>
            <a:off x="645289" y="1798924"/>
            <a:ext cx="448376" cy="436535"/>
            <a:chOff x="1020916" y="1442088"/>
            <a:chExt cx="457200" cy="457200"/>
          </a:xfrm>
        </p:grpSpPr>
        <p:pic>
          <p:nvPicPr>
            <p:cNvPr id="1312" name="Google Shape;1312;p1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4" name="Google Shape;1314;p107"/>
          <p:cNvGrpSpPr/>
          <p:nvPr/>
        </p:nvGrpSpPr>
        <p:grpSpPr>
          <a:xfrm>
            <a:off x="3367957" y="1798924"/>
            <a:ext cx="448376" cy="436535"/>
            <a:chOff x="1020916" y="1442088"/>
            <a:chExt cx="457200" cy="457200"/>
          </a:xfrm>
        </p:grpSpPr>
        <p:pic>
          <p:nvPicPr>
            <p:cNvPr id="1315" name="Google Shape;1315;p1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7"/>
          <p:cNvGrpSpPr/>
          <p:nvPr/>
        </p:nvGrpSpPr>
        <p:grpSpPr>
          <a:xfrm>
            <a:off x="6223519" y="1798924"/>
            <a:ext cx="448376" cy="436535"/>
            <a:chOff x="1020916" y="1442088"/>
            <a:chExt cx="457200" cy="457200"/>
          </a:xfrm>
        </p:grpSpPr>
        <p:pic>
          <p:nvPicPr>
            <p:cNvPr id="1318" name="Google Shape;1318;p1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0" name="Google Shape;1320;p107"/>
          <p:cNvGrpSpPr/>
          <p:nvPr/>
        </p:nvGrpSpPr>
        <p:grpSpPr>
          <a:xfrm>
            <a:off x="645289" y="4124196"/>
            <a:ext cx="448376" cy="436535"/>
            <a:chOff x="1020916" y="1442088"/>
            <a:chExt cx="457200" cy="457200"/>
          </a:xfrm>
        </p:grpSpPr>
        <p:pic>
          <p:nvPicPr>
            <p:cNvPr id="1321" name="Google Shape;1321;p1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3" name="Google Shape;1323;p107"/>
          <p:cNvGrpSpPr/>
          <p:nvPr/>
        </p:nvGrpSpPr>
        <p:grpSpPr>
          <a:xfrm>
            <a:off x="3367957" y="4124196"/>
            <a:ext cx="448376" cy="436535"/>
            <a:chOff x="1020916" y="1442088"/>
            <a:chExt cx="457200" cy="457200"/>
          </a:xfrm>
        </p:grpSpPr>
        <p:pic>
          <p:nvPicPr>
            <p:cNvPr id="1324" name="Google Shape;1324;p1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5" name="Google Shape;132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6" name="Google Shape;1326;p107"/>
          <p:cNvGrpSpPr/>
          <p:nvPr/>
        </p:nvGrpSpPr>
        <p:grpSpPr>
          <a:xfrm>
            <a:off x="6223519" y="4124196"/>
            <a:ext cx="448376" cy="436535"/>
            <a:chOff x="1020916" y="1442088"/>
            <a:chExt cx="457200" cy="457200"/>
          </a:xfrm>
        </p:grpSpPr>
        <p:pic>
          <p:nvPicPr>
            <p:cNvPr id="1327" name="Google Shape;1327;p1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8" name="Google Shape;1328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08"/>
          <p:cNvSpPr txBox="1"/>
          <p:nvPr>
            <p:ph idx="1" type="body"/>
          </p:nvPr>
        </p:nvSpPr>
        <p:spPr>
          <a:xfrm>
            <a:off x="324000" y="806374"/>
            <a:ext cx="8496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Match the diagonal reflections to their counterparts whose diagrams have been rotated to make the reflections look horizontal.</a:t>
            </a:r>
            <a:endParaRPr sz="1800"/>
          </a:p>
        </p:txBody>
      </p:sp>
      <p:sp>
        <p:nvSpPr>
          <p:cNvPr id="1334" name="Google Shape;1334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Diagonal reflections and non-reflections</a:t>
            </a:r>
            <a:endParaRPr/>
          </a:p>
        </p:txBody>
      </p:sp>
      <p:pic>
        <p:nvPicPr>
          <p:cNvPr id="1335" name="Google Shape;1335;p108"/>
          <p:cNvPicPr preferRelativeResize="0"/>
          <p:nvPr/>
        </p:nvPicPr>
        <p:blipFill rotWithShape="1">
          <a:blip r:embed="rId3">
            <a:alphaModFix/>
          </a:blip>
          <a:srcRect b="0" l="36854" r="32942" t="0"/>
          <a:stretch/>
        </p:blipFill>
        <p:spPr>
          <a:xfrm>
            <a:off x="3808854" y="1397000"/>
            <a:ext cx="1356832" cy="1391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6" name="Google Shape;1336;p108"/>
          <p:cNvPicPr preferRelativeResize="0"/>
          <p:nvPr/>
        </p:nvPicPr>
        <p:blipFill rotWithShape="1">
          <a:blip r:embed="rId3">
            <a:alphaModFix/>
          </a:blip>
          <a:srcRect b="0" l="0" r="68696" t="0"/>
          <a:stretch/>
        </p:blipFill>
        <p:spPr>
          <a:xfrm>
            <a:off x="1092692" y="1397000"/>
            <a:ext cx="1406357" cy="1391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7" name="Google Shape;1337;p108"/>
          <p:cNvPicPr preferRelativeResize="0"/>
          <p:nvPr/>
        </p:nvPicPr>
        <p:blipFill rotWithShape="1">
          <a:blip r:embed="rId3">
            <a:alphaModFix/>
          </a:blip>
          <a:srcRect b="0" l="72749" r="0" t="0"/>
          <a:stretch/>
        </p:blipFill>
        <p:spPr>
          <a:xfrm>
            <a:off x="6657607" y="1397000"/>
            <a:ext cx="1224241" cy="1391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8" name="Google Shape;1338;p108"/>
          <p:cNvPicPr preferRelativeResize="0"/>
          <p:nvPr/>
        </p:nvPicPr>
        <p:blipFill rotWithShape="1">
          <a:blip r:embed="rId3">
            <a:alphaModFix/>
          </a:blip>
          <a:srcRect b="0" l="36854" r="32942" t="0"/>
          <a:stretch/>
        </p:blipFill>
        <p:spPr>
          <a:xfrm rot="-2649309">
            <a:off x="3818639" y="3153469"/>
            <a:ext cx="1337260" cy="1412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9" name="Google Shape;1339;p108"/>
          <p:cNvPicPr preferRelativeResize="0"/>
          <p:nvPr/>
        </p:nvPicPr>
        <p:blipFill rotWithShape="1">
          <a:blip r:embed="rId3">
            <a:alphaModFix/>
          </a:blip>
          <a:srcRect b="0" l="0" r="68696" t="0"/>
          <a:stretch/>
        </p:blipFill>
        <p:spPr>
          <a:xfrm rot="-2649309">
            <a:off x="1102823" y="3189511"/>
            <a:ext cx="1386069" cy="1412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0" name="Google Shape;1340;p108"/>
          <p:cNvPicPr preferRelativeResize="0"/>
          <p:nvPr/>
        </p:nvPicPr>
        <p:blipFill rotWithShape="1">
          <a:blip r:embed="rId3">
            <a:alphaModFix/>
          </a:blip>
          <a:srcRect b="0" l="72749" r="0" t="0"/>
          <a:stretch/>
        </p:blipFill>
        <p:spPr>
          <a:xfrm rot="-2649314">
            <a:off x="6666436" y="3189502"/>
            <a:ext cx="1206583" cy="14123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1" name="Google Shape;1341;p108"/>
          <p:cNvGrpSpPr/>
          <p:nvPr/>
        </p:nvGrpSpPr>
        <p:grpSpPr>
          <a:xfrm>
            <a:off x="645330" y="1816845"/>
            <a:ext cx="447324" cy="434340"/>
            <a:chOff x="1020916" y="1442088"/>
            <a:chExt cx="457200" cy="457200"/>
          </a:xfrm>
        </p:grpSpPr>
        <p:pic>
          <p:nvPicPr>
            <p:cNvPr id="1342" name="Google Shape;1342;p10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108"/>
          <p:cNvGrpSpPr/>
          <p:nvPr/>
        </p:nvGrpSpPr>
        <p:grpSpPr>
          <a:xfrm>
            <a:off x="3361496" y="1816845"/>
            <a:ext cx="447324" cy="434340"/>
            <a:chOff x="1020916" y="1442088"/>
            <a:chExt cx="457200" cy="457200"/>
          </a:xfrm>
        </p:grpSpPr>
        <p:pic>
          <p:nvPicPr>
            <p:cNvPr id="1345" name="Google Shape;1345;p10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7" name="Google Shape;1347;p108"/>
          <p:cNvGrpSpPr/>
          <p:nvPr/>
        </p:nvGrpSpPr>
        <p:grpSpPr>
          <a:xfrm>
            <a:off x="6210239" y="1816845"/>
            <a:ext cx="447324" cy="434340"/>
            <a:chOff x="1020916" y="1442088"/>
            <a:chExt cx="457200" cy="457200"/>
          </a:xfrm>
        </p:grpSpPr>
        <p:pic>
          <p:nvPicPr>
            <p:cNvPr id="1348" name="Google Shape;1348;p10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9" name="Google Shape;1349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0" name="Google Shape;1350;p108"/>
          <p:cNvGrpSpPr/>
          <p:nvPr/>
        </p:nvGrpSpPr>
        <p:grpSpPr>
          <a:xfrm>
            <a:off x="3361496" y="2912745"/>
            <a:ext cx="447324" cy="434340"/>
            <a:chOff x="1020916" y="1442088"/>
            <a:chExt cx="457200" cy="457200"/>
          </a:xfrm>
        </p:grpSpPr>
        <p:pic>
          <p:nvPicPr>
            <p:cNvPr id="1351" name="Google Shape;1351;p10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2" name="Google Shape;1352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3" name="Google Shape;1353;p108"/>
          <p:cNvGrpSpPr/>
          <p:nvPr/>
        </p:nvGrpSpPr>
        <p:grpSpPr>
          <a:xfrm>
            <a:off x="6210239" y="2912745"/>
            <a:ext cx="447324" cy="434340"/>
            <a:chOff x="1020916" y="1442088"/>
            <a:chExt cx="457200" cy="457200"/>
          </a:xfrm>
        </p:grpSpPr>
        <p:pic>
          <p:nvPicPr>
            <p:cNvPr id="1354" name="Google Shape;1354;p10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5" name="Google Shape;1355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6" name="Google Shape;1356;p108"/>
          <p:cNvGrpSpPr/>
          <p:nvPr/>
        </p:nvGrpSpPr>
        <p:grpSpPr>
          <a:xfrm>
            <a:off x="645330" y="2912745"/>
            <a:ext cx="447324" cy="434340"/>
            <a:chOff x="1020916" y="1442088"/>
            <a:chExt cx="457200" cy="457200"/>
          </a:xfrm>
        </p:grpSpPr>
        <p:pic>
          <p:nvPicPr>
            <p:cNvPr id="1357" name="Google Shape;1357;p10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109"/>
          <p:cNvSpPr txBox="1"/>
          <p:nvPr>
            <p:ph idx="1" type="body"/>
          </p:nvPr>
        </p:nvSpPr>
        <p:spPr>
          <a:xfrm>
            <a:off x="324000" y="774475"/>
            <a:ext cx="3933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Write down the coordinate of the midpoint for this line segment that connects a pair of corresponding points.</a:t>
            </a:r>
            <a:endParaRPr sz="1800"/>
          </a:p>
        </p:txBody>
      </p:sp>
      <p:sp>
        <p:nvSpPr>
          <p:cNvPr id="1364" name="Google Shape;1364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Diagonal reflections and non-reflections</a:t>
            </a:r>
            <a:endParaRPr/>
          </a:p>
        </p:txBody>
      </p:sp>
      <p:sp>
        <p:nvSpPr>
          <p:cNvPr id="1365" name="Google Shape;1365;p109"/>
          <p:cNvSpPr txBox="1"/>
          <p:nvPr>
            <p:ph idx="1" type="body"/>
          </p:nvPr>
        </p:nvSpPr>
        <p:spPr>
          <a:xfrm>
            <a:off x="324000" y="2261375"/>
            <a:ext cx="3933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(6, 6)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66" name="Google Shape;1366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9400" y="765900"/>
            <a:ext cx="4087225" cy="40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1" name="Google Shape;1371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500" y="1880025"/>
            <a:ext cx="8318999" cy="249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11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Diagonal reflections and non-reflections</a:t>
            </a:r>
            <a:endParaRPr/>
          </a:p>
        </p:txBody>
      </p:sp>
      <p:sp>
        <p:nvSpPr>
          <p:cNvPr id="1373" name="Google Shape;1373;p110"/>
          <p:cNvSpPr txBox="1"/>
          <p:nvPr>
            <p:ph idx="1" type="body"/>
          </p:nvPr>
        </p:nvSpPr>
        <p:spPr>
          <a:xfrm>
            <a:off x="324000" y="759300"/>
            <a:ext cx="84960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1a) Which of these is a non-reflection? Draw line segments between corresponding points to find out!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b</a:t>
            </a:r>
            <a:r>
              <a:rPr lang="en-GB" sz="1800"/>
              <a:t>) Draw the </a:t>
            </a:r>
            <a:r>
              <a:rPr b="1" lang="en-GB" sz="1800"/>
              <a:t>line of reflection</a:t>
            </a:r>
            <a:r>
              <a:rPr lang="en-GB" sz="1800"/>
              <a:t> for all diagrams that show a reflection.</a:t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8" name="Google Shape;1378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00" y="1682576"/>
            <a:ext cx="8495999" cy="2657648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Diagonal reflections and non-reflections</a:t>
            </a:r>
            <a:endParaRPr/>
          </a:p>
        </p:txBody>
      </p:sp>
      <p:sp>
        <p:nvSpPr>
          <p:cNvPr id="1380" name="Google Shape;1380;p111"/>
          <p:cNvSpPr txBox="1"/>
          <p:nvPr>
            <p:ph idx="1" type="body"/>
          </p:nvPr>
        </p:nvSpPr>
        <p:spPr>
          <a:xfrm>
            <a:off x="324000" y="759300"/>
            <a:ext cx="84960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2a) Which of these is a non-reflection? Use a ruler to help you find out!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b) Draw the </a:t>
            </a:r>
            <a:r>
              <a:rPr b="1" lang="en-GB" sz="1800"/>
              <a:t>line of reflection</a:t>
            </a:r>
            <a:r>
              <a:rPr lang="en-GB" sz="1800"/>
              <a:t> for all diagrams that show a reflection.</a:t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5" name="Google Shape;1385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075" y="1851675"/>
            <a:ext cx="8339849" cy="251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6" name="Google Shape;1386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Diagonal reflections and non-reflections</a:t>
            </a:r>
            <a:endParaRPr/>
          </a:p>
        </p:txBody>
      </p:sp>
      <p:sp>
        <p:nvSpPr>
          <p:cNvPr id="1387" name="Google Shape;1387;p112"/>
          <p:cNvSpPr txBox="1"/>
          <p:nvPr>
            <p:ph idx="1" type="body"/>
          </p:nvPr>
        </p:nvSpPr>
        <p:spPr>
          <a:xfrm>
            <a:off x="324000" y="759300"/>
            <a:ext cx="84960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1a) Which of these is a non-reflection? Draw line segments between corresponding points to find out!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b) Draw the </a:t>
            </a:r>
            <a:r>
              <a:rPr b="1" lang="en-GB" sz="1800"/>
              <a:t>line of reflection</a:t>
            </a:r>
            <a:r>
              <a:rPr lang="en-GB" sz="1800"/>
              <a:t> for all diagrams that show a reflection.</a:t>
            </a:r>
            <a:endParaRPr sz="1800"/>
          </a:p>
        </p:txBody>
      </p:sp>
      <p:pic>
        <p:nvPicPr>
          <p:cNvPr id="1388" name="Google Shape;1388;p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3988" y="2399792"/>
            <a:ext cx="396000" cy="419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9" name="Google Shape;1389;p112"/>
          <p:cNvCxnSpPr/>
          <p:nvPr/>
        </p:nvCxnSpPr>
        <p:spPr>
          <a:xfrm>
            <a:off x="1264307" y="2981371"/>
            <a:ext cx="514800" cy="51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0" name="Google Shape;1390;p112"/>
          <p:cNvCxnSpPr/>
          <p:nvPr/>
        </p:nvCxnSpPr>
        <p:spPr>
          <a:xfrm>
            <a:off x="1260036" y="1969089"/>
            <a:ext cx="1527000" cy="1527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1" name="Google Shape;1391;p112"/>
          <p:cNvCxnSpPr/>
          <p:nvPr/>
        </p:nvCxnSpPr>
        <p:spPr>
          <a:xfrm flipH="1">
            <a:off x="6845233" y="2480725"/>
            <a:ext cx="1020300" cy="102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2" name="Google Shape;1392;p112"/>
          <p:cNvCxnSpPr/>
          <p:nvPr/>
        </p:nvCxnSpPr>
        <p:spPr>
          <a:xfrm flipH="1">
            <a:off x="7603000" y="3240217"/>
            <a:ext cx="1020300" cy="102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7" name="Google Shape;1397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138" y="1554775"/>
            <a:ext cx="8467725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Diagonal reflections and non-reflections</a:t>
            </a:r>
            <a:endParaRPr/>
          </a:p>
        </p:txBody>
      </p:sp>
      <p:sp>
        <p:nvSpPr>
          <p:cNvPr id="1399" name="Google Shape;1399;p113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2a) Which of these is a non-reflection? Use a ruler to help you find out!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b) Draw the </a:t>
            </a:r>
            <a:r>
              <a:rPr b="1" lang="en-GB" sz="1800"/>
              <a:t>line of reflection</a:t>
            </a:r>
            <a:r>
              <a:rPr lang="en-GB" sz="1800"/>
              <a:t> for all diagrams that show a reflection.</a:t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11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reflection</a:t>
            </a:r>
            <a:endParaRPr/>
          </a:p>
        </p:txBody>
      </p:sp>
      <p:sp>
        <p:nvSpPr>
          <p:cNvPr id="1405" name="Google Shape;1405;p114"/>
          <p:cNvSpPr txBox="1"/>
          <p:nvPr/>
        </p:nvSpPr>
        <p:spPr>
          <a:xfrm>
            <a:off x="324000" y="1080000"/>
            <a:ext cx="8496000" cy="3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line of reflection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essential in defining the location of an image after reflection.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line of reflection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can be described using any two coordinates that lie on that line.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Acknowledging that an object and image are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equidistant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from a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line of reflection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essential in finding the mirror line.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Acknowledging that an object and image are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equidistant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from a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line of reflection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essential identifying reflections from non-reflections, especially on diagonal reflections.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1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11" name="Google Shape;1411;p1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