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/>
  <p:notesSz cx="6858000" cy="9144000"/>
  <p:embeddedFontLst>
    <p:embeddedFont>
      <p:font typeface="Lexend" panose="00000000000000000000"/>
      <p:regular r:id="rId37"/>
    </p:embeddedFont>
    <p:embeddedFont>
      <p:font typeface="Lexend Medium" panose="00000000000000000000"/>
      <p:regular r:id="rId38"/>
    </p:embeddedFont>
    <p:embeddedFont>
      <p:font typeface="Kalam" panose="02000000000000000000"/>
      <p:regular r:id="rId39"/>
    </p:embeddedFont>
    <p:embeddedFont>
      <p:font typeface="Lexend Light" panose="00000000000000000000"/>
      <p:regular r:id="rId40"/>
    </p:embeddedFont>
  </p:embeddedFontLst>
  <p:custDataLst>
    <p:tags r:id="rId3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891AC11-D0A5-4899-BF3A-171147FCE1E2}">
  <a:tblStyle styleId="{F891AC11-D0A5-4899-BF3A-171147FCE1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tags" Target="tags/tag1.xml" /><Relationship Id="rId37" Type="http://schemas.openxmlformats.org/officeDocument/2006/relationships/font" Target="fonts/font1.fntdata" /><Relationship Id="rId38" Type="http://schemas.openxmlformats.org/officeDocument/2006/relationships/font" Target="fonts/font2.fntdata" /><Relationship Id="rId39" Type="http://schemas.openxmlformats.org/officeDocument/2006/relationships/font" Target="fonts/font3.fntdata" /><Relationship Id="rId4" Type="http://schemas.openxmlformats.org/officeDocument/2006/relationships/slide" Target="slides/slide2.xml" /><Relationship Id="rId40" Type="http://schemas.openxmlformats.org/officeDocument/2006/relationships/font" Target="fonts/font4.fntdata" /><Relationship Id="rId41" Type="http://schemas.openxmlformats.org/officeDocument/2006/relationships/presProps" Target="presProps.xml" /><Relationship Id="rId42" Type="http://schemas.openxmlformats.org/officeDocument/2006/relationships/viewProps" Target="viewProps.xml" /><Relationship Id="rId43" Type="http://schemas.openxmlformats.org/officeDocument/2006/relationships/theme" Target="theme/theme1.xml" /><Relationship Id="rId44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47508a435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47508a435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8" name="Shape 798"/>
        <p:cNvGrpSpPr/>
        <p:nvPr/>
      </p:nvGrpSpPr>
      <p:grpSpPr>
        <a:xfrm>
          <a:off x="0" y="0"/>
          <a:ext cx="0" cy="0"/>
        </a:xfrm>
      </p:grpSpPr>
      <p:sp>
        <p:nvSpPr>
          <p:cNvPr id="799" name="Google Shape;799;g247508a435b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47508a435b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3" name="Shape 803"/>
        <p:cNvGrpSpPr/>
        <p:nvPr/>
      </p:nvGrpSpPr>
      <p:grpSpPr>
        <a:xfrm>
          <a:off x="0" y="0"/>
          <a:ext cx="0" cy="0"/>
        </a:xfrm>
      </p:grpSpPr>
      <p:sp>
        <p:nvSpPr>
          <p:cNvPr id="804" name="Google Shape;804;g247508a435b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47508a435b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1" name="Shape 811"/>
        <p:cNvGrpSpPr/>
        <p:nvPr/>
      </p:nvGrpSpPr>
      <p:grpSpPr>
        <a:xfrm>
          <a:off x="0" y="0"/>
          <a:ext cx="0" cy="0"/>
        </a:xfrm>
      </p:grpSpPr>
      <p:sp>
        <p:nvSpPr>
          <p:cNvPr id="812" name="Google Shape;812;g247508a435b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47508a435b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9" name="Shape 829"/>
        <p:cNvGrpSpPr/>
        <p:nvPr/>
      </p:nvGrpSpPr>
      <p:grpSpPr>
        <a:xfrm>
          <a:off x="0" y="0"/>
          <a:ext cx="0" cy="0"/>
        </a:xfrm>
      </p:grpSpPr>
      <p:sp>
        <p:nvSpPr>
          <p:cNvPr id="830" name="Google Shape;830;g282678b5a0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82678b5a0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6" name="Shape 846"/>
        <p:cNvGrpSpPr/>
        <p:nvPr/>
      </p:nvGrpSpPr>
      <p:grpSpPr>
        <a:xfrm>
          <a:off x="0" y="0"/>
          <a:ext cx="0" cy="0"/>
        </a:xfrm>
      </p:grpSpPr>
      <p:sp>
        <p:nvSpPr>
          <p:cNvPr id="847" name="Google Shape;847;g247508a435b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47508a435b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2" name="Shape 852"/>
        <p:cNvGrpSpPr/>
        <p:nvPr/>
      </p:nvGrpSpPr>
      <p:grpSpPr>
        <a:xfrm>
          <a:off x="0" y="0"/>
          <a:ext cx="0" cy="0"/>
        </a:xfrm>
      </p:grpSpPr>
      <p:sp>
        <p:nvSpPr>
          <p:cNvPr id="853" name="Google Shape;853;g247508a435b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47508a435b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5" name="Shape 865"/>
        <p:cNvGrpSpPr/>
        <p:nvPr/>
      </p:nvGrpSpPr>
      <p:grpSpPr>
        <a:xfrm>
          <a:off x="0" y="0"/>
          <a:ext cx="0" cy="0"/>
        </a:xfrm>
      </p:grpSpPr>
      <p:sp>
        <p:nvSpPr>
          <p:cNvPr id="866" name="Google Shape;866;g247508a435b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47508a435b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4" name="Shape 874"/>
        <p:cNvGrpSpPr/>
        <p:nvPr/>
      </p:nvGrpSpPr>
      <p:grpSpPr>
        <a:xfrm>
          <a:off x="0" y="0"/>
          <a:ext cx="0" cy="0"/>
        </a:xfrm>
      </p:grpSpPr>
      <p:sp>
        <p:nvSpPr>
          <p:cNvPr id="875" name="Google Shape;875;g247508a435b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47508a435b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4" name="Shape 884"/>
        <p:cNvGrpSpPr/>
        <p:nvPr/>
      </p:nvGrpSpPr>
      <p:grpSpPr>
        <a:xfrm>
          <a:off x="0" y="0"/>
          <a:ext cx="0" cy="0"/>
        </a:xfrm>
      </p:grpSpPr>
      <p:sp>
        <p:nvSpPr>
          <p:cNvPr id="885" name="Google Shape;885;g282678b5a0d_0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82678b5a0d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1" name="Shape 891"/>
        <p:cNvGrpSpPr/>
        <p:nvPr/>
      </p:nvGrpSpPr>
      <p:grpSpPr>
        <a:xfrm>
          <a:off x="0" y="0"/>
          <a:ext cx="0" cy="0"/>
        </a:xfrm>
      </p:grpSpPr>
      <p:sp>
        <p:nvSpPr>
          <p:cNvPr id="892" name="Google Shape;892;g282678b5a0d_0_2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82678b5a0d_0_2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sp>
        <p:nvSpPr>
          <p:cNvPr id="907" name="Google Shape;907;g282678b5a0d_0_2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82678b5a0d_0_2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4" name="Shape 914"/>
        <p:cNvGrpSpPr/>
        <p:nvPr/>
      </p:nvGrpSpPr>
      <p:grpSpPr>
        <a:xfrm>
          <a:off x="0" y="0"/>
          <a:ext cx="0" cy="0"/>
        </a:xfrm>
      </p:grpSpPr>
      <p:sp>
        <p:nvSpPr>
          <p:cNvPr id="915" name="Google Shape;915;g282678b5a0d_0_2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82678b5a0d_0_2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0" name="Shape 930"/>
        <p:cNvGrpSpPr/>
        <p:nvPr/>
      </p:nvGrpSpPr>
      <p:grpSpPr>
        <a:xfrm>
          <a:off x="0" y="0"/>
          <a:ext cx="0" cy="0"/>
        </a:xfrm>
      </p:grpSpPr>
      <p:sp>
        <p:nvSpPr>
          <p:cNvPr id="931" name="Google Shape;931;g247508a435b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47508a435b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8" name="Shape 938"/>
        <p:cNvGrpSpPr/>
        <p:nvPr/>
      </p:nvGrpSpPr>
      <p:grpSpPr>
        <a:xfrm>
          <a:off x="0" y="0"/>
          <a:ext cx="0" cy="0"/>
        </a:xfrm>
      </p:grpSpPr>
      <p:sp>
        <p:nvSpPr>
          <p:cNvPr id="939" name="Google Shape;939;g282678b5a0d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82678b5a0d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1" name="Shape 951"/>
        <p:cNvGrpSpPr/>
        <p:nvPr/>
      </p:nvGrpSpPr>
      <p:grpSpPr>
        <a:xfrm>
          <a:off x="0" y="0"/>
          <a:ext cx="0" cy="0"/>
        </a:xfrm>
      </p:grpSpPr>
      <p:sp>
        <p:nvSpPr>
          <p:cNvPr id="952" name="Google Shape;952;g282678b5a0d_0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82678b5a0d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9" name="Shape 969"/>
        <p:cNvGrpSpPr/>
        <p:nvPr/>
      </p:nvGrpSpPr>
      <p:grpSpPr>
        <a:xfrm>
          <a:off x="0" y="0"/>
          <a:ext cx="0" cy="0"/>
        </a:xfrm>
      </p:grpSpPr>
      <p:sp>
        <p:nvSpPr>
          <p:cNvPr id="970" name="Google Shape;970;g285ed4dcec9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285ed4dcec9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5" name="Shape 985"/>
        <p:cNvGrpSpPr/>
        <p:nvPr/>
      </p:nvGrpSpPr>
      <p:grpSpPr>
        <a:xfrm>
          <a:off x="0" y="0"/>
          <a:ext cx="0" cy="0"/>
        </a:xfrm>
      </p:grpSpPr>
      <p:sp>
        <p:nvSpPr>
          <p:cNvPr id="986" name="Google Shape;986;g282678b5a0d_0_1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82678b5a0d_0_1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1" name="Shape 991"/>
        <p:cNvGrpSpPr/>
        <p:nvPr/>
      </p:nvGrpSpPr>
      <p:grpSpPr>
        <a:xfrm>
          <a:off x="0" y="0"/>
          <a:ext cx="0" cy="0"/>
        </a:xfrm>
      </p:grpSpPr>
      <p:sp>
        <p:nvSpPr>
          <p:cNvPr id="992" name="Google Shape;992;g282678b5a0d_0_1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82678b5a0d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3" name="Shape 1003"/>
        <p:cNvGrpSpPr/>
        <p:nvPr/>
      </p:nvGrpSpPr>
      <p:grpSpPr>
        <a:xfrm>
          <a:off x="0" y="0"/>
          <a:ext cx="0" cy="0"/>
        </a:xfrm>
      </p:grpSpPr>
      <p:sp>
        <p:nvSpPr>
          <p:cNvPr id="1004" name="Google Shape;1004;g282678b5a0d_0_1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82678b5a0d_0_1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1" name="Shape 1011"/>
        <p:cNvGrpSpPr/>
        <p:nvPr/>
      </p:nvGrpSpPr>
      <p:grpSpPr>
        <a:xfrm>
          <a:off x="0" y="0"/>
          <a:ext cx="0" cy="0"/>
        </a:xfrm>
      </p:grpSpPr>
      <p:sp>
        <p:nvSpPr>
          <p:cNvPr id="1012" name="Google Shape;1012;g2901b6c19b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01b6c19b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9" name="Shape 1019"/>
        <p:cNvGrpSpPr/>
        <p:nvPr/>
      </p:nvGrpSpPr>
      <p:grpSpPr>
        <a:xfrm>
          <a:off x="0" y="0"/>
          <a:ext cx="0" cy="0"/>
        </a:xfrm>
      </p:grpSpPr>
      <p:sp>
        <p:nvSpPr>
          <p:cNvPr id="1020" name="Google Shape;1020;g2901b6c19bb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901b6c19bb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9" name="Shape 1029"/>
        <p:cNvGrpSpPr/>
        <p:nvPr/>
      </p:nvGrpSpPr>
      <p:grpSpPr>
        <a:xfrm>
          <a:off x="0" y="0"/>
          <a:ext cx="0" cy="0"/>
        </a:xfrm>
      </p:grpSpPr>
      <p:sp>
        <p:nvSpPr>
          <p:cNvPr id="1030" name="Google Shape;1030;g282678b5a0d_0_1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82678b5a0d_0_1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8" name="Shape 1058"/>
        <p:cNvGrpSpPr/>
        <p:nvPr/>
      </p:nvGrpSpPr>
      <p:grpSpPr>
        <a:xfrm>
          <a:off x="0" y="0"/>
          <a:ext cx="0" cy="0"/>
        </a:xfrm>
      </p:grpSpPr>
      <p:sp>
        <p:nvSpPr>
          <p:cNvPr id="1059" name="Google Shape;1059;g282678b5a0d_0_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82678b5a0d_0_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2" name="Shape 1072"/>
        <p:cNvGrpSpPr/>
        <p:nvPr/>
      </p:nvGrpSpPr>
      <p:grpSpPr>
        <a:xfrm>
          <a:off x="0" y="0"/>
          <a:ext cx="0" cy="0"/>
        </a:xfrm>
      </p:grpSpPr>
      <p:sp>
        <p:nvSpPr>
          <p:cNvPr id="1073" name="Google Shape;1073;g28684c712a2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8684c712a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0" name="Shape 1080"/>
        <p:cNvGrpSpPr/>
        <p:nvPr/>
      </p:nvGrpSpPr>
      <p:grpSpPr>
        <a:xfrm>
          <a:off x="0" y="0"/>
          <a:ext cx="0" cy="0"/>
        </a:xfrm>
      </p:grpSpPr>
      <p:sp>
        <p:nvSpPr>
          <p:cNvPr id="1081" name="Google Shape;1081;g282678b5a0d_0_1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82678b5a0d_0_1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3" name="Shape 1113"/>
        <p:cNvGrpSpPr/>
        <p:nvPr/>
      </p:nvGrpSpPr>
      <p:grpSpPr>
        <a:xfrm>
          <a:off x="0" y="0"/>
          <a:ext cx="0" cy="0"/>
        </a:xfrm>
      </p:grpSpPr>
      <p:sp>
        <p:nvSpPr>
          <p:cNvPr id="1114" name="Google Shape;1114;g282678b5a0d_0_2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82678b5a0d_0_2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7" name="Shape 1127"/>
        <p:cNvGrpSpPr/>
        <p:nvPr/>
      </p:nvGrpSpPr>
      <p:grpSpPr>
        <a:xfrm>
          <a:off x="0" y="0"/>
          <a:ext cx="0" cy="0"/>
        </a:xfrm>
      </p:grpSpPr>
      <p:sp>
        <p:nvSpPr>
          <p:cNvPr id="1128" name="Google Shape;1128;g28684c712a2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8684c712a2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6" name="Shape 1136"/>
        <p:cNvGrpSpPr/>
        <p:nvPr/>
      </p:nvGrpSpPr>
      <p:grpSpPr>
        <a:xfrm>
          <a:off x="0" y="0"/>
          <a:ext cx="0" cy="0"/>
        </a:xfrm>
      </p:grpSpPr>
      <p:sp>
        <p:nvSpPr>
          <p:cNvPr id="1137" name="Google Shape;1137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2" name="Shape 1142"/>
        <p:cNvGrpSpPr/>
        <p:nvPr/>
      </p:nvGrpSpPr>
      <p:grpSpPr>
        <a:xfrm>
          <a:off x="0" y="0"/>
          <a:ext cx="0" cy="0"/>
        </a:xfrm>
      </p:grpSpPr>
      <p:sp>
        <p:nvSpPr>
          <p:cNvPr id="1143" name="Google Shape;1143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Relationship Id="rId4" Type="http://schemas.openxmlformats.org/officeDocument/2006/relationships/image" Target="../media/image4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5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6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9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0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2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1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5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3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56.png" /><Relationship Id="rId6" Type="http://schemas.openxmlformats.org/officeDocument/2006/relationships/image" Target="../media/image57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4.png" /><Relationship Id="rId4" Type="http://schemas.openxmlformats.org/officeDocument/2006/relationships/image" Target="../media/image57.png" /><Relationship Id="rId5" Type="http://schemas.openxmlformats.org/officeDocument/2006/relationships/image" Target="../media/image58.png" /><Relationship Id="rId6" Type="http://schemas.openxmlformats.org/officeDocument/2006/relationships/image" Target="../media/image59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9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9.png" /><Relationship Id="rId4" Type="http://schemas.openxmlformats.org/officeDocument/2006/relationships/image" Target="../media/image70.png" /><Relationship Id="rId5" Type="http://schemas.openxmlformats.org/officeDocument/2006/relationships/image" Target="../media/image71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72.png" /><Relationship Id="rId4" Type="http://schemas.openxmlformats.org/officeDocument/2006/relationships/image" Target="../media/image73.png" /><Relationship Id="rId5" Type="http://schemas.openxmlformats.org/officeDocument/2006/relationships/image" Target="../media/image74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8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translation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8165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understand the nature of a </a:t>
            </a:r>
            <a:r>
              <a:rPr lang="en-GB" b="1"/>
              <a:t>translation</a:t>
            </a:r>
            <a:r>
              <a:rPr lang="en-GB"/>
              <a:t> and appreciate what changes and what is invariant.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715275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If one shape can fit exactly on top of another using rotation, reflection or translation, then the shapes are congruent.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767" name="Google Shape;767;p67"/>
          <p:cNvSpPr txBox="1"/>
          <p:nvPr/>
        </p:nvSpPr>
        <p:spPr>
          <a:xfrm>
            <a:off x="456875" y="3892279"/>
            <a:ext cx="32118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 of orientation </a:t>
            </a:r>
            <a:b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changing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4742800" y="3885079"/>
            <a:ext cx="33228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 of orientation </a:t>
            </a:r>
            <a:b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not changing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9" name="Google Shape;7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75" y="1992404"/>
            <a:ext cx="2846700" cy="161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7"/>
          <p:cNvSpPr txBox="1"/>
          <p:nvPr/>
        </p:nvSpPr>
        <p:spPr>
          <a:xfrm>
            <a:off x="900500" y="169997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/>
        </p:nvSpPr>
        <p:spPr>
          <a:xfrm>
            <a:off x="290900" y="253817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7"/>
          <p:cNvSpPr txBox="1"/>
          <p:nvPr/>
        </p:nvSpPr>
        <p:spPr>
          <a:xfrm>
            <a:off x="618594" y="265241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7"/>
          <p:cNvSpPr txBox="1"/>
          <p:nvPr/>
        </p:nvSpPr>
        <p:spPr>
          <a:xfrm>
            <a:off x="618594" y="318581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7"/>
          <p:cNvSpPr txBox="1"/>
          <p:nvPr/>
        </p:nvSpPr>
        <p:spPr>
          <a:xfrm>
            <a:off x="1190150" y="318581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7"/>
          <p:cNvSpPr txBox="1"/>
          <p:nvPr/>
        </p:nvSpPr>
        <p:spPr>
          <a:xfrm>
            <a:off x="1190150" y="265241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67"/>
          <p:cNvSpPr txBox="1"/>
          <p:nvPr/>
        </p:nvSpPr>
        <p:spPr>
          <a:xfrm>
            <a:off x="1540625" y="253817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67"/>
          <p:cNvSpPr txBox="1"/>
          <p:nvPr/>
        </p:nvSpPr>
        <p:spPr>
          <a:xfrm>
            <a:off x="3103250" y="203829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 txBox="1"/>
          <p:nvPr/>
        </p:nvSpPr>
        <p:spPr>
          <a:xfrm>
            <a:off x="2043725" y="217452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7"/>
          <p:cNvSpPr txBox="1"/>
          <p:nvPr/>
        </p:nvSpPr>
        <p:spPr>
          <a:xfrm>
            <a:off x="2218794" y="250001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7"/>
          <p:cNvSpPr txBox="1"/>
          <p:nvPr/>
        </p:nvSpPr>
        <p:spPr>
          <a:xfrm>
            <a:off x="1792219" y="2965291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 txBox="1"/>
          <p:nvPr/>
        </p:nvSpPr>
        <p:spPr>
          <a:xfrm>
            <a:off x="2169213" y="334276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/>
        </p:nvSpPr>
        <p:spPr>
          <a:xfrm>
            <a:off x="2653213" y="293432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7"/>
          <p:cNvSpPr txBox="1"/>
          <p:nvPr/>
        </p:nvSpPr>
        <p:spPr>
          <a:xfrm>
            <a:off x="3056700" y="2965285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4" name="Google Shape;784;p67"/>
          <p:cNvPicPr preferRelativeResize="0"/>
          <p:nvPr/>
        </p:nvPicPr>
        <p:blipFill>
          <a:blip r:embed="rId4">
            <a:alphaModFix/>
          </a:blip>
          <a:srcRect r="59172"/>
          <a:stretch>
            <a:fillRect/>
          </a:stretch>
        </p:blipFill>
        <p:spPr>
          <a:xfrm>
            <a:off x="4824000" y="1745279"/>
            <a:ext cx="998600" cy="18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7"/>
          <p:cNvSpPr txBox="1"/>
          <p:nvPr/>
        </p:nvSpPr>
        <p:spPr>
          <a:xfrm>
            <a:off x="4995161" y="2088713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/>
        </p:nvSpPr>
        <p:spPr>
          <a:xfrm>
            <a:off x="5021407" y="2762141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7"/>
          <p:cNvSpPr txBox="1"/>
          <p:nvPr/>
        </p:nvSpPr>
        <p:spPr>
          <a:xfrm>
            <a:off x="4640407" y="2762141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7"/>
          <p:cNvSpPr txBox="1"/>
          <p:nvPr/>
        </p:nvSpPr>
        <p:spPr>
          <a:xfrm>
            <a:off x="4640407" y="3295541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7"/>
          <p:cNvSpPr txBox="1"/>
          <p:nvPr/>
        </p:nvSpPr>
        <p:spPr>
          <a:xfrm>
            <a:off x="5631007" y="3295541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7"/>
          <p:cNvPicPr preferRelativeResize="0"/>
          <p:nvPr/>
        </p:nvPicPr>
        <p:blipFill>
          <a:blip r:embed="rId4">
            <a:alphaModFix/>
          </a:blip>
          <a:srcRect l="44582"/>
          <a:stretch>
            <a:fillRect/>
          </a:stretch>
        </p:blipFill>
        <p:spPr>
          <a:xfrm>
            <a:off x="6211695" y="1752910"/>
            <a:ext cx="1355425" cy="18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7"/>
          <p:cNvSpPr txBox="1"/>
          <p:nvPr/>
        </p:nvSpPr>
        <p:spPr>
          <a:xfrm>
            <a:off x="5646156" y="2102558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7"/>
          <p:cNvSpPr txBox="1"/>
          <p:nvPr/>
        </p:nvSpPr>
        <p:spPr>
          <a:xfrm>
            <a:off x="6584126" y="1601360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7"/>
          <p:cNvSpPr txBox="1"/>
          <p:nvPr/>
        </p:nvSpPr>
        <p:spPr>
          <a:xfrm>
            <a:off x="6601224" y="2571478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7"/>
          <p:cNvSpPr txBox="1"/>
          <p:nvPr/>
        </p:nvSpPr>
        <p:spPr>
          <a:xfrm>
            <a:off x="6073519" y="2571491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7"/>
          <p:cNvSpPr txBox="1"/>
          <p:nvPr/>
        </p:nvSpPr>
        <p:spPr>
          <a:xfrm>
            <a:off x="6029246" y="3308475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7"/>
          <p:cNvSpPr txBox="1"/>
          <p:nvPr/>
        </p:nvSpPr>
        <p:spPr>
          <a:xfrm>
            <a:off x="7387317" y="331379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7"/>
          <p:cNvSpPr txBox="1"/>
          <p:nvPr/>
        </p:nvSpPr>
        <p:spPr>
          <a:xfrm>
            <a:off x="7383287" y="1575484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sp>
        <p:nvSpPr>
          <p:cNvPr id="802" name="Google Shape;802;p68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highlight>
                  <a:srgbClr val="FFFFFF"/>
                </a:highlight>
              </a:rPr>
              <a:t>Translation</a:t>
            </a:r>
            <a:r>
              <a:rPr lang="en-GB">
                <a:highlight>
                  <a:srgbClr val="FFFFFF"/>
                </a:highlight>
              </a:rPr>
              <a:t> is a transformation in which every point of a shape moves the same distance in the same direction.  </a:t>
            </a:r>
            <a:endParaRPr sz="33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6" name="Shape 806"/>
        <p:cNvGrpSpPr/>
        <p:nvPr/>
      </p:nvGrpSpPr>
      <p:grpSpPr>
        <a:xfrm>
          <a:off x="0" y="0"/>
          <a:ext cx="0" cy="0"/>
        </a:xfrm>
      </p:grpSpPr>
      <p:sp>
        <p:nvSpPr>
          <p:cNvPr id="807" name="Google Shape;807;p6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808" name="Google Shape;808;p6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pic>
        <p:nvPicPr>
          <p:cNvPr id="809" name="Google Shape;80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9"/>
          <p:cNvSpPr txBox="1"/>
          <p:nvPr>
            <p:ph type="title" idx="3"/>
          </p:nvPr>
        </p:nvSpPr>
        <p:spPr>
          <a:xfrm>
            <a:off x="324000" y="7722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translation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4" name="Shape 814"/>
        <p:cNvGrpSpPr/>
        <p:nvPr/>
      </p:nvGrpSpPr>
      <p:grpSpPr>
        <a:xfrm>
          <a:off x="0" y="0"/>
          <a:ext cx="0" cy="0"/>
        </a:xfrm>
      </p:grpSpPr>
      <p:sp>
        <p:nvSpPr>
          <p:cNvPr id="815" name="Google Shape;81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816" name="Google Shape;816;p7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All of the L shapes in the figure are congruent. </a:t>
            </a:r>
            <a:endParaRPr/>
          </a:p>
        </p:txBody>
      </p:sp>
      <p:sp>
        <p:nvSpPr>
          <p:cNvPr id="817" name="Google Shape;817;p70"/>
          <p:cNvSpPr txBox="1"/>
          <p:nvPr/>
        </p:nvSpPr>
        <p:spPr>
          <a:xfrm>
            <a:off x="3853800" y="1224900"/>
            <a:ext cx="47469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you could cut them out individually you would be able to put one exactly on top of another.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 may need to turn them over, or twist them around but you can stack them up.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0"/>
          <p:cNvSpPr txBox="1"/>
          <p:nvPr/>
        </p:nvSpPr>
        <p:spPr>
          <a:xfrm>
            <a:off x="461350" y="3928775"/>
            <a:ext cx="73455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 of the L shapes can be slid (without turning or flipping) onto each other?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9" name="Google Shape;819;p70"/>
          <p:cNvGrpSpPr/>
          <p:nvPr/>
        </p:nvGrpSpPr>
        <p:grpSpPr>
          <a:xfrm>
            <a:off x="545324" y="1376326"/>
            <a:ext cx="3041125" cy="2304449"/>
            <a:chOff x="545324" y="1254226"/>
            <a:chExt cx="3041125" cy="2304449"/>
          </a:xfrm>
        </p:grpSpPr>
        <p:pic>
          <p:nvPicPr>
            <p:cNvPr id="820" name="Google Shape;820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5324" y="1269275"/>
              <a:ext cx="3041125" cy="228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0"/>
            <p:cNvSpPr txBox="1"/>
            <p:nvPr/>
          </p:nvSpPr>
          <p:spPr>
            <a:xfrm>
              <a:off x="1709294" y="1254226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2" name="Google Shape;822;p70"/>
            <p:cNvSpPr txBox="1"/>
            <p:nvPr/>
          </p:nvSpPr>
          <p:spPr>
            <a:xfrm>
              <a:off x="556944" y="1597220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3" name="Google Shape;823;p70"/>
            <p:cNvSpPr txBox="1"/>
            <p:nvPr/>
          </p:nvSpPr>
          <p:spPr>
            <a:xfrm>
              <a:off x="2090731" y="1254226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4" name="Google Shape;824;p70"/>
            <p:cNvSpPr txBox="1"/>
            <p:nvPr/>
          </p:nvSpPr>
          <p:spPr>
            <a:xfrm>
              <a:off x="2449325" y="1604845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5" name="Google Shape;825;p70"/>
            <p:cNvSpPr txBox="1"/>
            <p:nvPr/>
          </p:nvSpPr>
          <p:spPr>
            <a:xfrm>
              <a:off x="945712" y="2000638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6" name="Google Shape;826;p70"/>
            <p:cNvSpPr txBox="1"/>
            <p:nvPr/>
          </p:nvSpPr>
          <p:spPr>
            <a:xfrm>
              <a:off x="1318587" y="2378932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7" name="Google Shape;827;p70"/>
            <p:cNvSpPr txBox="1"/>
            <p:nvPr/>
          </p:nvSpPr>
          <p:spPr>
            <a:xfrm>
              <a:off x="2083112" y="2377694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70"/>
            <p:cNvSpPr txBox="1"/>
            <p:nvPr/>
          </p:nvSpPr>
          <p:spPr>
            <a:xfrm>
              <a:off x="3220237" y="2386144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2" name="Shape 832"/>
        <p:cNvGrpSpPr/>
        <p:nvPr/>
      </p:nvGrpSpPr>
      <p:grpSpPr>
        <a:xfrm>
          <a:off x="0" y="0"/>
          <a:ext cx="0" cy="0"/>
        </a:xfrm>
      </p:grpSpPr>
      <p:sp>
        <p:nvSpPr>
          <p:cNvPr id="833" name="Google Shape;833;p7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 this figure, there are 2 pairs that have been </a:t>
            </a:r>
            <a:r>
              <a:rPr lang="en-GB" b="1"/>
              <a:t>translated</a:t>
            </a:r>
            <a:r>
              <a:rPr lang="en-GB"/>
              <a:t>.</a:t>
            </a:r>
            <a:endParaRPr/>
          </a:p>
        </p:txBody>
      </p:sp>
      <p:sp>
        <p:nvSpPr>
          <p:cNvPr id="834" name="Google Shape;83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Translation</a:t>
            </a:r>
            <a:endParaRPr/>
          </a:p>
        </p:txBody>
      </p:sp>
      <p:grpSp>
        <p:nvGrpSpPr>
          <p:cNvPr id="835" name="Google Shape;835;p71"/>
          <p:cNvGrpSpPr/>
          <p:nvPr/>
        </p:nvGrpSpPr>
        <p:grpSpPr>
          <a:xfrm>
            <a:off x="545324" y="1376326"/>
            <a:ext cx="3041125" cy="2304449"/>
            <a:chOff x="545324" y="1254226"/>
            <a:chExt cx="3041125" cy="2304449"/>
          </a:xfrm>
        </p:grpSpPr>
        <p:pic>
          <p:nvPicPr>
            <p:cNvPr id="836" name="Google Shape;836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5324" y="1269275"/>
              <a:ext cx="3041125" cy="228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" name="Google Shape;837;p71"/>
            <p:cNvSpPr txBox="1"/>
            <p:nvPr/>
          </p:nvSpPr>
          <p:spPr>
            <a:xfrm>
              <a:off x="1709294" y="1254226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71"/>
            <p:cNvSpPr txBox="1"/>
            <p:nvPr/>
          </p:nvSpPr>
          <p:spPr>
            <a:xfrm>
              <a:off x="556944" y="1597220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9" name="Google Shape;839;p71"/>
            <p:cNvSpPr txBox="1"/>
            <p:nvPr/>
          </p:nvSpPr>
          <p:spPr>
            <a:xfrm>
              <a:off x="2090731" y="1254226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0" name="Google Shape;840;p71"/>
            <p:cNvSpPr txBox="1"/>
            <p:nvPr/>
          </p:nvSpPr>
          <p:spPr>
            <a:xfrm>
              <a:off x="2449325" y="1604845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1" name="Google Shape;841;p71"/>
            <p:cNvSpPr txBox="1"/>
            <p:nvPr/>
          </p:nvSpPr>
          <p:spPr>
            <a:xfrm>
              <a:off x="945712" y="2000638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2" name="Google Shape;842;p71"/>
            <p:cNvSpPr txBox="1"/>
            <p:nvPr/>
          </p:nvSpPr>
          <p:spPr>
            <a:xfrm>
              <a:off x="1318587" y="2378932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71"/>
            <p:cNvSpPr txBox="1"/>
            <p:nvPr/>
          </p:nvSpPr>
          <p:spPr>
            <a:xfrm>
              <a:off x="2083112" y="2377694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71"/>
            <p:cNvSpPr txBox="1"/>
            <p:nvPr/>
          </p:nvSpPr>
          <p:spPr>
            <a:xfrm>
              <a:off x="3220237" y="2386144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5" name="Google Shape;845;p71"/>
          <p:cNvSpPr txBox="1"/>
          <p:nvPr/>
        </p:nvSpPr>
        <p:spPr>
          <a:xfrm>
            <a:off x="4059000" y="1558950"/>
            <a:ext cx="43956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 could slide onto E,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flipping or twisting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 could slide onto D,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flipping or twisting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9" name="Shape 849"/>
        <p:cNvGrpSpPr/>
        <p:nvPr/>
      </p:nvGrpSpPr>
      <p:grpSpPr>
        <a:xfrm>
          <a:off x="0" y="0"/>
          <a:ext cx="0" cy="0"/>
        </a:xfrm>
      </p:grpSpPr>
      <p:sp>
        <p:nvSpPr>
          <p:cNvPr id="850" name="Google Shape;85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851" name="Google Shape;851;p7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</a:t>
            </a:r>
            <a:r>
              <a:rPr lang="en-GB" b="1"/>
              <a:t>translation</a:t>
            </a:r>
            <a:r>
              <a:rPr lang="en-GB"/>
              <a:t> is a type of transformation.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When a </a:t>
            </a:r>
            <a:r>
              <a:rPr lang="en-GB" b="1"/>
              <a:t>translation </a:t>
            </a:r>
            <a:r>
              <a:rPr lang="en-GB"/>
              <a:t>takes place, the object is moved to create its image.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the image and object are not congruent then it cannot be a </a:t>
            </a:r>
            <a:r>
              <a:rPr lang="en-GB" b="1"/>
              <a:t>translation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857" name="Google Shape;857;p7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Examples of </a:t>
            </a:r>
            <a:r>
              <a:rPr lang="en-GB" b="1"/>
              <a:t>translated</a:t>
            </a:r>
            <a:r>
              <a:rPr lang="en-GB"/>
              <a:t> objects</a:t>
            </a:r>
            <a:endParaRPr/>
          </a:p>
        </p:txBody>
      </p:sp>
      <p:pic>
        <p:nvPicPr>
          <p:cNvPr id="858" name="Google Shape;858;p73"/>
          <p:cNvPicPr preferRelativeResize="0"/>
          <p:nvPr/>
        </p:nvPicPr>
        <p:blipFill>
          <a:blip r:embed="rId3">
            <a:alphaModFix/>
          </a:blip>
          <a:srcRect l="6487" t="7345" r="6548" b="6839"/>
          <a:stretch>
            <a:fillRect/>
          </a:stretch>
        </p:blipFill>
        <p:spPr>
          <a:xfrm>
            <a:off x="2487800" y="1480475"/>
            <a:ext cx="3907225" cy="3339925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3"/>
          <p:cNvSpPr txBox="1"/>
          <p:nvPr/>
        </p:nvSpPr>
        <p:spPr>
          <a:xfrm>
            <a:off x="2525938" y="2609913"/>
            <a:ext cx="3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3"/>
          <p:cNvSpPr txBox="1"/>
          <p:nvPr/>
        </p:nvSpPr>
        <p:spPr>
          <a:xfrm>
            <a:off x="3426223" y="2609925"/>
            <a:ext cx="47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3"/>
          <p:cNvSpPr txBox="1"/>
          <p:nvPr/>
        </p:nvSpPr>
        <p:spPr>
          <a:xfrm>
            <a:off x="3976395" y="3025938"/>
            <a:ext cx="3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3"/>
          <p:cNvSpPr txBox="1"/>
          <p:nvPr/>
        </p:nvSpPr>
        <p:spPr>
          <a:xfrm>
            <a:off x="2761972" y="3322950"/>
            <a:ext cx="60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3"/>
          <p:cNvSpPr txBox="1"/>
          <p:nvPr/>
        </p:nvSpPr>
        <p:spPr>
          <a:xfrm>
            <a:off x="5082324" y="2204000"/>
            <a:ext cx="47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3"/>
          <p:cNvSpPr txBox="1"/>
          <p:nvPr/>
        </p:nvSpPr>
        <p:spPr>
          <a:xfrm>
            <a:off x="5082324" y="1894926"/>
            <a:ext cx="47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pic>
        <p:nvPicPr>
          <p:cNvPr id="869" name="Google Shape;86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000" y="1127094"/>
            <a:ext cx="6299676" cy="3678158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871" name="Google Shape;871;p7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Non-examples of </a:t>
            </a:r>
            <a:r>
              <a:rPr lang="en-GB" b="1"/>
              <a:t>translated</a:t>
            </a:r>
            <a:r>
              <a:rPr lang="en-GB"/>
              <a:t> objects</a:t>
            </a:r>
            <a:endParaRPr/>
          </a:p>
        </p:txBody>
      </p:sp>
      <p:sp>
        <p:nvSpPr>
          <p:cNvPr id="872" name="Google Shape;872;p74"/>
          <p:cNvSpPr txBox="1"/>
          <p:nvPr/>
        </p:nvSpPr>
        <p:spPr>
          <a:xfrm>
            <a:off x="4383900" y="3876469"/>
            <a:ext cx="75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56°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4"/>
          <p:cNvSpPr txBox="1"/>
          <p:nvPr/>
        </p:nvSpPr>
        <p:spPr>
          <a:xfrm>
            <a:off x="5946425" y="3495844"/>
            <a:ext cx="75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p7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… a different size to the object.</a:t>
            </a:r>
            <a:endParaRPr/>
          </a:p>
        </p:txBody>
      </p:sp>
      <p:sp>
        <p:nvSpPr>
          <p:cNvPr id="879" name="Google Shape;879;p7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880" name="Google Shape;880;p75"/>
          <p:cNvSpPr txBox="1"/>
          <p:nvPr>
            <p:ph type="title"/>
          </p:nvPr>
        </p:nvSpPr>
        <p:spPr>
          <a:xfrm>
            <a:off x="324000" y="748775"/>
            <a:ext cx="86124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To be a </a:t>
            </a:r>
            <a:r>
              <a:rPr lang="en-GB" sz="2000" b="1"/>
              <a:t>translation</a:t>
            </a:r>
            <a:r>
              <a:rPr lang="en-GB" sz="2000"/>
              <a:t>, the image must be …</a:t>
            </a:r>
            <a:endParaRPr sz="2000"/>
          </a:p>
        </p:txBody>
      </p:sp>
      <p:sp>
        <p:nvSpPr>
          <p:cNvPr id="881" name="Google Shape;881;p7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… congruent to the object.</a:t>
            </a:r>
            <a:endParaRPr/>
          </a:p>
        </p:txBody>
      </p:sp>
      <p:sp>
        <p:nvSpPr>
          <p:cNvPr id="882" name="Google Shape;882;p7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… a different orientation to the object.</a:t>
            </a:r>
            <a:endParaRPr/>
          </a:p>
        </p:txBody>
      </p:sp>
      <p:pic>
        <p:nvPicPr>
          <p:cNvPr id="883" name="Google Shape;88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00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7" name="Shape 887"/>
        <p:cNvGrpSpPr/>
        <p:nvPr/>
      </p:nvGrpSpPr>
      <p:grpSpPr>
        <a:xfrm>
          <a:off x="0" y="0"/>
          <a:ext cx="0" cy="0"/>
        </a:xfrm>
      </p:grpSpPr>
      <p:sp>
        <p:nvSpPr>
          <p:cNvPr id="888" name="Google Shape;888;p7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889" name="Google Shape;889;p7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Draw four more copies of the shape so that they could be a </a:t>
            </a:r>
            <a:r>
              <a:rPr lang="en-GB" b="1"/>
              <a:t>translation</a:t>
            </a:r>
            <a:r>
              <a:rPr lang="en-GB"/>
              <a:t>.</a:t>
            </a:r>
            <a:endParaRPr/>
          </a:p>
        </p:txBody>
      </p:sp>
      <p:pic>
        <p:nvPicPr>
          <p:cNvPr id="890" name="Google Shape;89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985" y="1563400"/>
            <a:ext cx="5589839" cy="327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4" name="Shape 894"/>
        <p:cNvGrpSpPr/>
        <p:nvPr/>
      </p:nvGrpSpPr>
      <p:grpSpPr>
        <a:xfrm>
          <a:off x="0" y="0"/>
          <a:ext cx="0" cy="0"/>
        </a:xfrm>
      </p:grpSpPr>
      <p:sp>
        <p:nvSpPr>
          <p:cNvPr id="895" name="Google Shape;895;p7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896" name="Google Shape;896;p7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 startAt="2"/>
            </a:pPr>
            <a:r>
              <a:rPr lang="en-GB"/>
              <a:t>Write down the pairs that are a </a:t>
            </a:r>
            <a:r>
              <a:rPr lang="en-GB" b="1"/>
              <a:t>translation</a:t>
            </a:r>
            <a:r>
              <a:rPr lang="en-GB"/>
              <a:t> of each other. </a:t>
            </a:r>
            <a:endParaRPr/>
          </a:p>
        </p:txBody>
      </p:sp>
      <p:pic>
        <p:nvPicPr>
          <p:cNvPr id="897" name="Google Shape;89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000" y="1293050"/>
            <a:ext cx="4364699" cy="34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7"/>
          <p:cNvSpPr txBox="1"/>
          <p:nvPr/>
        </p:nvSpPr>
        <p:spPr>
          <a:xfrm>
            <a:off x="3423934" y="2000644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7"/>
          <p:cNvSpPr txBox="1"/>
          <p:nvPr/>
        </p:nvSpPr>
        <p:spPr>
          <a:xfrm>
            <a:off x="4254750" y="2000650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7"/>
          <p:cNvSpPr txBox="1"/>
          <p:nvPr/>
        </p:nvSpPr>
        <p:spPr>
          <a:xfrm>
            <a:off x="3845777" y="2816234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7"/>
          <p:cNvSpPr txBox="1"/>
          <p:nvPr/>
        </p:nvSpPr>
        <p:spPr>
          <a:xfrm>
            <a:off x="5459875" y="3209450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7"/>
          <p:cNvSpPr txBox="1"/>
          <p:nvPr/>
        </p:nvSpPr>
        <p:spPr>
          <a:xfrm>
            <a:off x="3029925" y="3209452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7"/>
          <p:cNvSpPr txBox="1"/>
          <p:nvPr/>
        </p:nvSpPr>
        <p:spPr>
          <a:xfrm>
            <a:off x="4214352" y="3622650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7"/>
          <p:cNvSpPr txBox="1"/>
          <p:nvPr/>
        </p:nvSpPr>
        <p:spPr>
          <a:xfrm>
            <a:off x="4635900" y="2808625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7"/>
          <p:cNvSpPr txBox="1"/>
          <p:nvPr/>
        </p:nvSpPr>
        <p:spPr>
          <a:xfrm>
            <a:off x="4635900" y="3622650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9" name="Shape 909"/>
        <p:cNvGrpSpPr/>
        <p:nvPr/>
      </p:nvGrpSpPr>
      <p:grpSpPr>
        <a:xfrm>
          <a:off x="0" y="0"/>
          <a:ext cx="0" cy="0"/>
        </a:xfrm>
      </p:grpSpPr>
      <p:sp>
        <p:nvSpPr>
          <p:cNvPr id="910" name="Google Shape;910;p7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pic>
        <p:nvPicPr>
          <p:cNvPr id="911" name="Google Shape;91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625" y="1545025"/>
            <a:ext cx="5596200" cy="327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Draw four more copies of the shape so that they could be a </a:t>
            </a:r>
            <a:r>
              <a:rPr lang="en-GB" b="1"/>
              <a:t>translation</a:t>
            </a:r>
            <a:r>
              <a:rPr lang="en-GB"/>
              <a:t>.</a:t>
            </a:r>
            <a:endParaRPr/>
          </a:p>
        </p:txBody>
      </p:sp>
      <p:sp>
        <p:nvSpPr>
          <p:cNvPr id="913" name="Google Shape;913;p78"/>
          <p:cNvSpPr txBox="1"/>
          <p:nvPr/>
        </p:nvSpPr>
        <p:spPr>
          <a:xfrm>
            <a:off x="1920625" y="154502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Example of four you may have drawn.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7" name="Shape 917"/>
        <p:cNvGrpSpPr/>
        <p:nvPr/>
      </p:nvGrpSpPr>
      <p:grpSpPr>
        <a:xfrm>
          <a:off x="0" y="0"/>
          <a:ext cx="0" cy="0"/>
        </a:xfrm>
      </p:grpSpPr>
      <p:sp>
        <p:nvSpPr>
          <p:cNvPr id="918" name="Google Shape;918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919" name="Google Shape;919;p7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 startAt="2"/>
            </a:pPr>
            <a:r>
              <a:rPr lang="en-GB"/>
              <a:t>Write down the pairs that are a </a:t>
            </a:r>
            <a:r>
              <a:rPr lang="en-GB" b="1"/>
              <a:t>translation</a:t>
            </a:r>
            <a:r>
              <a:rPr lang="en-GB"/>
              <a:t> of each other. </a:t>
            </a:r>
            <a:endParaRPr/>
          </a:p>
        </p:txBody>
      </p:sp>
      <p:pic>
        <p:nvPicPr>
          <p:cNvPr id="920" name="Google Shape;92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000" y="1293050"/>
            <a:ext cx="4364699" cy="34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9"/>
          <p:cNvSpPr txBox="1"/>
          <p:nvPr/>
        </p:nvSpPr>
        <p:spPr>
          <a:xfrm>
            <a:off x="3423934" y="2000644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9"/>
          <p:cNvSpPr txBox="1"/>
          <p:nvPr/>
        </p:nvSpPr>
        <p:spPr>
          <a:xfrm>
            <a:off x="4254750" y="2000650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9"/>
          <p:cNvSpPr txBox="1"/>
          <p:nvPr/>
        </p:nvSpPr>
        <p:spPr>
          <a:xfrm>
            <a:off x="3845777" y="2816234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9"/>
          <p:cNvSpPr txBox="1"/>
          <p:nvPr/>
        </p:nvSpPr>
        <p:spPr>
          <a:xfrm>
            <a:off x="5459875" y="3209450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9"/>
          <p:cNvSpPr txBox="1"/>
          <p:nvPr/>
        </p:nvSpPr>
        <p:spPr>
          <a:xfrm>
            <a:off x="3029925" y="3209452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9"/>
          <p:cNvSpPr txBox="1"/>
          <p:nvPr/>
        </p:nvSpPr>
        <p:spPr>
          <a:xfrm>
            <a:off x="4214352" y="3622650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9"/>
          <p:cNvSpPr txBox="1"/>
          <p:nvPr/>
        </p:nvSpPr>
        <p:spPr>
          <a:xfrm>
            <a:off x="4635900" y="2808625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9"/>
          <p:cNvSpPr txBox="1"/>
          <p:nvPr/>
        </p:nvSpPr>
        <p:spPr>
          <a:xfrm>
            <a:off x="4635900" y="3622650"/>
            <a:ext cx="3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9"/>
          <p:cNvSpPr txBox="1"/>
          <p:nvPr/>
        </p:nvSpPr>
        <p:spPr>
          <a:xfrm>
            <a:off x="7073975" y="1909800"/>
            <a:ext cx="21381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and F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and H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 and G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 and 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3" name="Shape 933"/>
        <p:cNvGrpSpPr/>
        <p:nvPr/>
      </p:nvGrpSpPr>
      <p:grpSpPr>
        <a:xfrm>
          <a:off x="0" y="0"/>
          <a:ext cx="0" cy="0"/>
        </a:xfrm>
      </p:grpSpPr>
      <p:sp>
        <p:nvSpPr>
          <p:cNvPr id="934" name="Google Shape;934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935" name="Google Shape;935;p80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sp>
        <p:nvSpPr>
          <p:cNvPr id="936" name="Google Shape;936;p80"/>
          <p:cNvSpPr txBox="1"/>
          <p:nvPr>
            <p:ph type="title" idx="3"/>
          </p:nvPr>
        </p:nvSpPr>
        <p:spPr>
          <a:xfrm>
            <a:off x="324000" y="7722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translation</a:t>
            </a:r>
            <a:endParaRPr/>
          </a:p>
        </p:txBody>
      </p:sp>
      <p:pic>
        <p:nvPicPr>
          <p:cNvPr id="937" name="Google Shape;93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98906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1" name="Shape 941"/>
        <p:cNvGrpSpPr/>
        <p:nvPr/>
      </p:nvGrpSpPr>
      <p:grpSpPr>
        <a:xfrm>
          <a:off x="0" y="0"/>
          <a:ext cx="0" cy="0"/>
        </a:xfrm>
      </p:grpSpPr>
      <p:sp>
        <p:nvSpPr>
          <p:cNvPr id="942" name="Google Shape;942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object and image are congruent if a </a:t>
            </a:r>
            <a:r>
              <a:rPr lang="en-GB" b="1"/>
              <a:t>translation</a:t>
            </a:r>
            <a:r>
              <a:rPr lang="en-GB"/>
              <a:t> has taken place. </a:t>
            </a:r>
            <a:endParaRPr/>
          </a:p>
        </p:txBody>
      </p:sp>
      <p:sp>
        <p:nvSpPr>
          <p:cNvPr id="943" name="Google Shape;94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pic>
        <p:nvPicPr>
          <p:cNvPr id="944" name="Google Shape;94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651" y="1584725"/>
            <a:ext cx="2647984" cy="30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1"/>
          <p:cNvSpPr txBox="1"/>
          <p:nvPr/>
        </p:nvSpPr>
        <p:spPr>
          <a:xfrm>
            <a:off x="3098288" y="2340888"/>
            <a:ext cx="3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1"/>
          <p:cNvSpPr txBox="1"/>
          <p:nvPr/>
        </p:nvSpPr>
        <p:spPr>
          <a:xfrm>
            <a:off x="4201167" y="1620000"/>
            <a:ext cx="42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81"/>
          <p:cNvSpPr txBox="1"/>
          <p:nvPr/>
        </p:nvSpPr>
        <p:spPr>
          <a:xfrm>
            <a:off x="3067876" y="4047813"/>
            <a:ext cx="3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1"/>
          <p:cNvSpPr txBox="1"/>
          <p:nvPr/>
        </p:nvSpPr>
        <p:spPr>
          <a:xfrm>
            <a:off x="4152075" y="3296400"/>
            <a:ext cx="42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81"/>
          <p:cNvSpPr txBox="1"/>
          <p:nvPr/>
        </p:nvSpPr>
        <p:spPr>
          <a:xfrm>
            <a:off x="4165088" y="4017288"/>
            <a:ext cx="39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81"/>
          <p:cNvSpPr txBox="1"/>
          <p:nvPr/>
        </p:nvSpPr>
        <p:spPr>
          <a:xfrm>
            <a:off x="5347799" y="3296400"/>
            <a:ext cx="42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4" name="Shape 954"/>
        <p:cNvGrpSpPr/>
        <p:nvPr/>
      </p:nvGrpSpPr>
      <p:grpSpPr>
        <a:xfrm>
          <a:off x="0" y="0"/>
          <a:ext cx="0" cy="0"/>
        </a:xfrm>
      </p:grpSpPr>
      <p:sp>
        <p:nvSpPr>
          <p:cNvPr id="955" name="Google Shape;955;p82"/>
          <p:cNvSpPr txBox="1"/>
          <p:nvPr/>
        </p:nvSpPr>
        <p:spPr>
          <a:xfrm>
            <a:off x="1335600" y="719763"/>
            <a:ext cx="2225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shape is congruent to yours, so it is a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2"/>
          <p:cNvSpPr txBox="1"/>
          <p:nvPr>
            <p:ph type="body" idx="1"/>
          </p:nvPr>
        </p:nvSpPr>
        <p:spPr>
          <a:xfrm>
            <a:off x="324000" y="72115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57" name="Google Shape;95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pic>
        <p:nvPicPr>
          <p:cNvPr id="958" name="Google Shape;958;p8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1205151" y="719775"/>
            <a:ext cx="2282424" cy="15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4" y="1467024"/>
            <a:ext cx="935175" cy="31762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0" name="Google Shape;960;p82"/>
          <p:cNvGrpSpPr/>
          <p:nvPr/>
        </p:nvGrpSpPr>
        <p:grpSpPr>
          <a:xfrm>
            <a:off x="2353453" y="2397776"/>
            <a:ext cx="3436428" cy="2133023"/>
            <a:chOff x="1381275" y="2483450"/>
            <a:chExt cx="2106300" cy="1307400"/>
          </a:xfrm>
        </p:grpSpPr>
        <p:sp>
          <p:nvSpPr>
            <p:cNvPr id="961" name="Google Shape;961;p82"/>
            <p:cNvSpPr/>
            <p:nvPr/>
          </p:nvSpPr>
          <p:spPr>
            <a:xfrm>
              <a:off x="1381275" y="2483450"/>
              <a:ext cx="2106300" cy="13074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962" name="Google Shape;962;p8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54275" y="2571750"/>
              <a:ext cx="767300" cy="78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3" name="Google Shape;963;p8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2602300" y="2846988"/>
              <a:ext cx="767300" cy="786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64" name="Google Shape;964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4151" y="2080577"/>
            <a:ext cx="1910124" cy="209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82"/>
          <p:cNvPicPr preferRelativeResize="0"/>
          <p:nvPr/>
        </p:nvPicPr>
        <p:blipFill>
          <a:blip r:embed="rId3">
            <a:alphaModFix/>
          </a:blip>
          <a:srcRect t="56280" r="70143"/>
          <a:stretch>
            <a:fillRect/>
          </a:stretch>
        </p:blipFill>
        <p:spPr>
          <a:xfrm>
            <a:off x="5188625" y="679300"/>
            <a:ext cx="2473923" cy="15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82"/>
          <p:cNvSpPr txBox="1"/>
          <p:nvPr/>
        </p:nvSpPr>
        <p:spPr>
          <a:xfrm>
            <a:off x="5313038" y="755502"/>
            <a:ext cx="2225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cannot be.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cannot slide one on top of the other completely.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2"/>
          <p:cNvSpPr txBox="1"/>
          <p:nvPr/>
        </p:nvSpPr>
        <p:spPr>
          <a:xfrm>
            <a:off x="923400" y="4288800"/>
            <a:ext cx="9351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2"/>
          <p:cNvSpPr txBox="1"/>
          <p:nvPr/>
        </p:nvSpPr>
        <p:spPr>
          <a:xfrm>
            <a:off x="6761350" y="4129200"/>
            <a:ext cx="9351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2" name="Shape 972"/>
        <p:cNvGrpSpPr/>
        <p:nvPr/>
      </p:nvGrpSpPr>
      <p:grpSpPr>
        <a:xfrm>
          <a:off x="0" y="0"/>
          <a:ext cx="0" cy="0"/>
        </a:xfrm>
      </p:grpSpPr>
      <p:sp>
        <p:nvSpPr>
          <p:cNvPr id="973" name="Google Shape;973;p83"/>
          <p:cNvSpPr txBox="1"/>
          <p:nvPr/>
        </p:nvSpPr>
        <p:spPr>
          <a:xfrm>
            <a:off x="1335600" y="795963"/>
            <a:ext cx="2225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shape is congruent to yours, so it is a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pic>
        <p:nvPicPr>
          <p:cNvPr id="975" name="Google Shape;975;p83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1205151" y="795975"/>
            <a:ext cx="2282424" cy="146039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3"/>
          <p:cNvSpPr/>
          <p:nvPr/>
        </p:nvSpPr>
        <p:spPr>
          <a:xfrm>
            <a:off x="2353453" y="2397776"/>
            <a:ext cx="3436428" cy="2133023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7" name="Google Shape;97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4151" y="2080577"/>
            <a:ext cx="1910124" cy="209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83"/>
          <p:cNvPicPr preferRelativeResize="0"/>
          <p:nvPr/>
        </p:nvPicPr>
        <p:blipFill>
          <a:blip r:embed="rId3">
            <a:alphaModFix/>
          </a:blip>
          <a:srcRect t="56280" r="70143"/>
          <a:stretch>
            <a:fillRect/>
          </a:stretch>
        </p:blipFill>
        <p:spPr>
          <a:xfrm>
            <a:off x="5188625" y="721150"/>
            <a:ext cx="2473923" cy="161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3"/>
          <p:cNvSpPr txBox="1"/>
          <p:nvPr/>
        </p:nvSpPr>
        <p:spPr>
          <a:xfrm>
            <a:off x="5313038" y="795977"/>
            <a:ext cx="2225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cannot be.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cannot slide one on top of the other completely.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0" name="Google Shape;980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378" y="1735173"/>
            <a:ext cx="706775" cy="258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2862798" y="2491448"/>
            <a:ext cx="846574" cy="12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5923" y="3101723"/>
            <a:ext cx="846574" cy="12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83"/>
          <p:cNvSpPr txBox="1"/>
          <p:nvPr/>
        </p:nvSpPr>
        <p:spPr>
          <a:xfrm>
            <a:off x="923400" y="4288800"/>
            <a:ext cx="9351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3"/>
          <p:cNvSpPr txBox="1"/>
          <p:nvPr/>
        </p:nvSpPr>
        <p:spPr>
          <a:xfrm>
            <a:off x="6761350" y="4129200"/>
            <a:ext cx="9351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8" name="Shape 988"/>
        <p:cNvGrpSpPr/>
        <p:nvPr/>
      </p:nvGrpSpPr>
      <p:grpSpPr>
        <a:xfrm>
          <a:off x="0" y="0"/>
          <a:ext cx="0" cy="0"/>
        </a:xfrm>
      </p:grpSpPr>
      <p:sp>
        <p:nvSpPr>
          <p:cNvPr id="989" name="Google Shape;989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object and image are congruent if a </a:t>
            </a:r>
            <a:r>
              <a:rPr lang="en-GB" b="1"/>
              <a:t>translation</a:t>
            </a:r>
            <a:r>
              <a:rPr lang="en-GB"/>
              <a:t> has taken place.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image will not be mirrored if a </a:t>
            </a:r>
            <a:r>
              <a:rPr lang="en-GB" b="1"/>
              <a:t>translation</a:t>
            </a:r>
            <a:r>
              <a:rPr lang="en-GB"/>
              <a:t> has taken place.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image will have the same orientation as the object.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90" name="Google Shape;99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4" name="Shape 994"/>
        <p:cNvGrpSpPr/>
        <p:nvPr/>
      </p:nvGrpSpPr>
      <p:grpSpPr>
        <a:xfrm>
          <a:off x="0" y="0"/>
          <a:ext cx="0" cy="0"/>
        </a:xfrm>
      </p:grpSpPr>
      <p:sp>
        <p:nvSpPr>
          <p:cNvPr id="995" name="Google Shape;99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graphicFrame>
        <p:nvGraphicFramePr>
          <p:cNvPr id="996" name="Google Shape;996;p85"/>
          <p:cNvGraphicFramePr>
            <a:graphicFrameLocks noGrp="1"/>
          </p:cNvGraphicFramePr>
          <p:nvPr/>
        </p:nvGraphicFramePr>
        <p:xfrm>
          <a:off x="3002275" y="146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{F891AC11-D0A5-4899-BF3A-171147FCE1E2}</a:tableStyleId>
              </a:tblPr>
              <a:tblGrid>
                <a:gridCol w="1377800"/>
                <a:gridCol w="22656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6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6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997" name="Google Shape;997;p85"/>
          <p:cNvSpPr txBox="1"/>
          <p:nvPr/>
        </p:nvSpPr>
        <p:spPr>
          <a:xfrm>
            <a:off x="290000" y="816550"/>
            <a:ext cx="876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an object is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translated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changes and what is invariant?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5"/>
          <p:cNvSpPr txBox="1"/>
          <p:nvPr/>
        </p:nvSpPr>
        <p:spPr>
          <a:xfrm>
            <a:off x="4380075" y="1888250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No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5"/>
          <p:cNvSpPr txBox="1"/>
          <p:nvPr/>
        </p:nvSpPr>
        <p:spPr>
          <a:xfrm>
            <a:off x="4380075" y="2314925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No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5"/>
          <p:cNvSpPr txBox="1"/>
          <p:nvPr/>
        </p:nvSpPr>
        <p:spPr>
          <a:xfrm>
            <a:off x="4380075" y="2741600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No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5"/>
          <p:cNvSpPr txBox="1"/>
          <p:nvPr/>
        </p:nvSpPr>
        <p:spPr>
          <a:xfrm>
            <a:off x="4380075" y="3168275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No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5"/>
          <p:cNvSpPr txBox="1"/>
          <p:nvPr/>
        </p:nvSpPr>
        <p:spPr>
          <a:xfrm>
            <a:off x="4380075" y="3594950"/>
            <a:ext cx="61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Yes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6" name="Shape 1006"/>
        <p:cNvGrpSpPr/>
        <p:nvPr/>
      </p:nvGrpSpPr>
      <p:grpSpPr>
        <a:xfrm>
          <a:off x="0" y="0"/>
          <a:ext cx="0" cy="0"/>
        </a:xfrm>
      </p:grpSpPr>
      <p:sp>
        <p:nvSpPr>
          <p:cNvPr id="1007" name="Google Shape;100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sp>
        <p:nvSpPr>
          <p:cNvPr id="1008" name="Google Shape;1008;p86"/>
          <p:cNvSpPr txBox="1"/>
          <p:nvPr>
            <p:ph type="body" idx="1"/>
          </p:nvPr>
        </p:nvSpPr>
        <p:spPr>
          <a:xfrm>
            <a:off x="324000" y="9879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Complete the following statement.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only property that isn’t invariant when a </a:t>
            </a:r>
            <a:r>
              <a:rPr lang="en-GB" b="1"/>
              <a:t>translation</a:t>
            </a:r>
            <a:r>
              <a:rPr lang="en-GB"/>
              <a:t> is completed is                   . </a:t>
            </a:r>
            <a:endParaRPr/>
          </a:p>
        </p:txBody>
      </p:sp>
      <p:sp>
        <p:nvSpPr>
          <p:cNvPr id="1009" name="Google Shape;1009;p86"/>
          <p:cNvSpPr txBox="1"/>
          <p:nvPr/>
        </p:nvSpPr>
        <p:spPr>
          <a:xfrm>
            <a:off x="2245050" y="2289100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position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10" name="Google Shape;1010;p86"/>
          <p:cNvCxnSpPr/>
          <p:nvPr/>
        </p:nvCxnSpPr>
        <p:spPr>
          <a:xfrm>
            <a:off x="2121500" y="2663325"/>
            <a:ext cx="1312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4" name="Shape 1014"/>
        <p:cNvGrpSpPr/>
        <p:nvPr/>
      </p:nvGrpSpPr>
      <p:grpSpPr>
        <a:xfrm>
          <a:off x="0" y="0"/>
          <a:ext cx="0" cy="0"/>
        </a:xfrm>
      </p:grpSpPr>
      <p:sp>
        <p:nvSpPr>
          <p:cNvPr id="1015" name="Google Shape;1015;p87"/>
          <p:cNvSpPr txBox="1"/>
          <p:nvPr>
            <p:ph type="body" idx="1"/>
          </p:nvPr>
        </p:nvSpPr>
        <p:spPr>
          <a:xfrm>
            <a:off x="324000" y="759300"/>
            <a:ext cx="8237700" cy="8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 b="1"/>
              <a:t>translation </a:t>
            </a:r>
            <a:r>
              <a:rPr lang="en-GB"/>
              <a:t>has taken place where do the other vertices need to be?</a:t>
            </a:r>
            <a:endParaRPr/>
          </a:p>
        </p:txBody>
      </p:sp>
      <p:pic>
        <p:nvPicPr>
          <p:cNvPr id="1016" name="Google Shape;101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6374" y="1570975"/>
            <a:ext cx="4932975" cy="2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pic>
        <p:nvPicPr>
          <p:cNvPr id="1018" name="Google Shape;101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2875" y="1570975"/>
            <a:ext cx="4928953" cy="28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sp>
        <p:nvSpPr>
          <p:cNvPr id="1023" name="Google Shape;1023;p88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position of the image is all that matters.</a:t>
            </a:r>
            <a:endParaRPr/>
          </a:p>
        </p:txBody>
      </p:sp>
      <p:sp>
        <p:nvSpPr>
          <p:cNvPr id="1024" name="Google Shape;1024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sp>
        <p:nvSpPr>
          <p:cNvPr id="1025" name="Google Shape;1025;p88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vertex label doesn’t matter in a </a:t>
            </a:r>
            <a:r>
              <a:rPr lang="en-GB" b="1"/>
              <a:t>translation</a:t>
            </a:r>
            <a:r>
              <a:rPr lang="en-GB"/>
              <a:t>.</a:t>
            </a:r>
            <a:endParaRPr/>
          </a:p>
        </p:txBody>
      </p:sp>
      <p:sp>
        <p:nvSpPr>
          <p:cNvPr id="1026" name="Google Shape;1026;p8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the labels are not in the same position as the object, then a </a:t>
            </a:r>
            <a:r>
              <a:rPr lang="en-GB" b="1"/>
              <a:t>translation</a:t>
            </a:r>
            <a:r>
              <a:rPr lang="en-GB"/>
              <a:t> has not taken place.</a:t>
            </a:r>
            <a:endParaRPr/>
          </a:p>
        </p:txBody>
      </p:sp>
      <p:pic>
        <p:nvPicPr>
          <p:cNvPr id="1027" name="Google Shape;102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833" y="44013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2" name="Shape 1032"/>
        <p:cNvGrpSpPr/>
        <p:nvPr/>
      </p:nvGrpSpPr>
      <p:grpSpPr>
        <a:xfrm>
          <a:off x="0" y="0"/>
          <a:ext cx="0" cy="0"/>
        </a:xfrm>
      </p:grpSpPr>
      <p:sp>
        <p:nvSpPr>
          <p:cNvPr id="1033" name="Google Shape;1033;p8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Complete the shape, so that a </a:t>
            </a:r>
            <a:r>
              <a:rPr lang="en-GB" b="1"/>
              <a:t>translation</a:t>
            </a:r>
            <a:r>
              <a:rPr lang="en-GB"/>
              <a:t> has taken place.</a:t>
            </a:r>
            <a:br>
              <a:rPr lang="en-GB"/>
            </a:br>
            <a:endParaRPr/>
          </a:p>
          <a:p>
            <a:pPr marL="914400" lvl="1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endParaRPr/>
          </a:p>
        </p:txBody>
      </p:sp>
      <p:sp>
        <p:nvSpPr>
          <p:cNvPr id="1034" name="Google Shape;1034;p8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pic>
        <p:nvPicPr>
          <p:cNvPr id="1035" name="Google Shape;103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50" y="1934275"/>
            <a:ext cx="1625625" cy="23611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89"/>
          <p:cNvSpPr txBox="1"/>
          <p:nvPr/>
        </p:nvSpPr>
        <p:spPr>
          <a:xfrm>
            <a:off x="3163894" y="1808631"/>
            <a:ext cx="40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7" name="Google Shape;103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3450" y="1934275"/>
            <a:ext cx="1848450" cy="23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/>
          <p:cNvSpPr txBox="1"/>
          <p:nvPr/>
        </p:nvSpPr>
        <p:spPr>
          <a:xfrm>
            <a:off x="5858294" y="1808631"/>
            <a:ext cx="40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1072" y="1970251"/>
            <a:ext cx="2182925" cy="195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/>
          <p:cNvSpPr txBox="1"/>
          <p:nvPr/>
        </p:nvSpPr>
        <p:spPr>
          <a:xfrm>
            <a:off x="1276675" y="1936800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A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9"/>
          <p:cNvSpPr txBox="1"/>
          <p:nvPr/>
        </p:nvSpPr>
        <p:spPr>
          <a:xfrm>
            <a:off x="1276675" y="348372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B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9"/>
          <p:cNvSpPr txBox="1"/>
          <p:nvPr/>
        </p:nvSpPr>
        <p:spPr>
          <a:xfrm>
            <a:off x="1909725" y="3480600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9"/>
          <p:cNvSpPr txBox="1"/>
          <p:nvPr/>
        </p:nvSpPr>
        <p:spPr>
          <a:xfrm>
            <a:off x="1909725" y="1936800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D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9"/>
          <p:cNvSpPr txBox="1"/>
          <p:nvPr/>
        </p:nvSpPr>
        <p:spPr>
          <a:xfrm>
            <a:off x="1962475" y="2279750"/>
            <a:ext cx="406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9"/>
          <p:cNvSpPr txBox="1"/>
          <p:nvPr/>
        </p:nvSpPr>
        <p:spPr>
          <a:xfrm>
            <a:off x="1962475" y="3902875"/>
            <a:ext cx="406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9"/>
          <p:cNvSpPr txBox="1"/>
          <p:nvPr/>
        </p:nvSpPr>
        <p:spPr>
          <a:xfrm>
            <a:off x="2612389" y="3899750"/>
            <a:ext cx="406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9"/>
          <p:cNvSpPr txBox="1"/>
          <p:nvPr/>
        </p:nvSpPr>
        <p:spPr>
          <a:xfrm>
            <a:off x="5382081" y="3386906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9"/>
          <p:cNvSpPr txBox="1"/>
          <p:nvPr/>
        </p:nvSpPr>
        <p:spPr>
          <a:xfrm>
            <a:off x="4939225" y="1936800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Q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9"/>
          <p:cNvSpPr txBox="1"/>
          <p:nvPr/>
        </p:nvSpPr>
        <p:spPr>
          <a:xfrm>
            <a:off x="4658250" y="33802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R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9"/>
          <p:cNvSpPr txBox="1"/>
          <p:nvPr/>
        </p:nvSpPr>
        <p:spPr>
          <a:xfrm>
            <a:off x="4612640" y="3882150"/>
            <a:ext cx="406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9"/>
          <p:cNvSpPr txBox="1"/>
          <p:nvPr/>
        </p:nvSpPr>
        <p:spPr>
          <a:xfrm>
            <a:off x="3803624" y="3875525"/>
            <a:ext cx="406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9"/>
          <p:cNvSpPr txBox="1"/>
          <p:nvPr/>
        </p:nvSpPr>
        <p:spPr>
          <a:xfrm>
            <a:off x="6373669" y="19245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Y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9"/>
          <p:cNvSpPr txBox="1"/>
          <p:nvPr/>
        </p:nvSpPr>
        <p:spPr>
          <a:xfrm>
            <a:off x="6373669" y="25260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Z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9"/>
          <p:cNvSpPr txBox="1"/>
          <p:nvPr/>
        </p:nvSpPr>
        <p:spPr>
          <a:xfrm>
            <a:off x="7446956" y="25260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W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9"/>
          <p:cNvSpPr txBox="1"/>
          <p:nvPr/>
        </p:nvSpPr>
        <p:spPr>
          <a:xfrm>
            <a:off x="7489331" y="19245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9"/>
          <p:cNvSpPr txBox="1"/>
          <p:nvPr/>
        </p:nvSpPr>
        <p:spPr>
          <a:xfrm>
            <a:off x="7154884" y="3440475"/>
            <a:ext cx="406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Z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9"/>
          <p:cNvSpPr txBox="1"/>
          <p:nvPr/>
        </p:nvSpPr>
        <p:spPr>
          <a:xfrm>
            <a:off x="8231850" y="3440475"/>
            <a:ext cx="52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1" name="Shape 1061"/>
        <p:cNvGrpSpPr/>
        <p:nvPr/>
      </p:nvGrpSpPr>
      <p:grpSpPr>
        <a:xfrm>
          <a:off x="0" y="0"/>
          <a:ext cx="0" cy="0"/>
        </a:xfrm>
      </p:grpSpPr>
      <p:sp>
        <p:nvSpPr>
          <p:cNvPr id="1062" name="Google Shape;1062;p9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 startAt="2"/>
            </a:pPr>
            <a:r>
              <a:rPr lang="en-GB"/>
              <a:t>Identify which property of the image is incorrect for it to be a </a:t>
            </a:r>
            <a:r>
              <a:rPr lang="en-GB" b="1"/>
              <a:t>translation</a:t>
            </a:r>
            <a:r>
              <a:rPr lang="en-GB"/>
              <a:t>.</a:t>
            </a:r>
            <a:br>
              <a:rPr lang="en-GB"/>
            </a:br>
            <a:endParaRPr/>
          </a:p>
          <a:p>
            <a:pPr marL="914400" lvl="1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endParaRPr/>
          </a:p>
        </p:txBody>
      </p:sp>
      <p:sp>
        <p:nvSpPr>
          <p:cNvPr id="1063" name="Google Shape;1063;p9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Orientation and position of the image</a:t>
            </a:r>
            <a:endParaRPr/>
          </a:p>
        </p:txBody>
      </p:sp>
      <p:pic>
        <p:nvPicPr>
          <p:cNvPr id="1064" name="Google Shape;106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500" y="1823188"/>
            <a:ext cx="2025525" cy="20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750" y="1577225"/>
            <a:ext cx="2459800" cy="23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3163894" y="1808631"/>
            <a:ext cx="40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5858294" y="1808631"/>
            <a:ext cx="40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8" name="Google Shape;1068;p90"/>
          <p:cNvCxnSpPr/>
          <p:nvPr/>
        </p:nvCxnSpPr>
        <p:spPr>
          <a:xfrm>
            <a:off x="1159950" y="4349625"/>
            <a:ext cx="166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9" name="Google Shape;1069;p90"/>
          <p:cNvCxnSpPr/>
          <p:nvPr/>
        </p:nvCxnSpPr>
        <p:spPr>
          <a:xfrm>
            <a:off x="3892650" y="4349625"/>
            <a:ext cx="166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0" name="Google Shape;1070;p90"/>
          <p:cNvCxnSpPr/>
          <p:nvPr/>
        </p:nvCxnSpPr>
        <p:spPr>
          <a:xfrm>
            <a:off x="6627450" y="4349625"/>
            <a:ext cx="166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71" name="Google Shape;1071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9794" y="1947019"/>
            <a:ext cx="2492925" cy="119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5" name="Shape 1075"/>
        <p:cNvGrpSpPr/>
        <p:nvPr/>
      </p:nvGrpSpPr>
      <p:grpSpPr>
        <a:xfrm>
          <a:off x="0" y="0"/>
          <a:ext cx="0" cy="0"/>
        </a:xfrm>
      </p:grpSpPr>
      <p:sp>
        <p:nvSpPr>
          <p:cNvPr id="1076" name="Google Shape;1076;p9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 startAt="3"/>
            </a:pPr>
            <a:r>
              <a:rPr lang="en-GB"/>
              <a:t>Complete the table and decide whether a </a:t>
            </a:r>
            <a:r>
              <a:rPr lang="en-GB" b="1"/>
              <a:t>translation</a:t>
            </a:r>
            <a:r>
              <a:rPr lang="en-GB"/>
              <a:t> has taken place.</a:t>
            </a:r>
            <a:endParaRPr/>
          </a:p>
        </p:txBody>
      </p:sp>
      <p:sp>
        <p:nvSpPr>
          <p:cNvPr id="1077" name="Google Shape;1077;p9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Orientation and position of the image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aphicFrame>
        <p:nvGraphicFramePr>
          <p:cNvPr id="1078" name="Google Shape;1078;p91"/>
          <p:cNvGraphicFramePr>
            <a:graphicFrameLocks noGrp="1"/>
          </p:cNvGraphicFramePr>
          <p:nvPr/>
        </p:nvGraphicFramePr>
        <p:xfrm>
          <a:off x="804450" y="182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{F891AC11-D0A5-4899-BF3A-171147FCE1E2}</a:tableStyleId>
              </a:tblPr>
              <a:tblGrid>
                <a:gridCol w="1377800"/>
                <a:gridCol w="22656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6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6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1079" name="Google Shape;1079;p91"/>
          <p:cNvPicPr preferRelativeResize="0"/>
          <p:nvPr/>
        </p:nvPicPr>
        <p:blipFill>
          <a:blip r:embed="rId3">
            <a:alphaModFix/>
          </a:blip>
          <a:srcRect l="13793" t="10241" r="29862" b="12460"/>
          <a:stretch>
            <a:fillRect/>
          </a:stretch>
        </p:blipFill>
        <p:spPr>
          <a:xfrm>
            <a:off x="5068375" y="1620002"/>
            <a:ext cx="3290148" cy="266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3" name="Shape 1083"/>
        <p:cNvGrpSpPr/>
        <p:nvPr/>
      </p:nvGrpSpPr>
      <p:grpSpPr>
        <a:xfrm>
          <a:off x="0" y="0"/>
          <a:ext cx="0" cy="0"/>
        </a:xfrm>
      </p:grpSpPr>
      <p:sp>
        <p:nvSpPr>
          <p:cNvPr id="1084" name="Google Shape;1084;p9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Complete the shape, so that a </a:t>
            </a:r>
            <a:r>
              <a:rPr lang="en-GB" b="1"/>
              <a:t>translation</a:t>
            </a:r>
            <a:r>
              <a:rPr lang="en-GB"/>
              <a:t> has taken place.</a:t>
            </a:r>
            <a:br>
              <a:rPr lang="en-GB"/>
            </a:br>
            <a:endParaRPr/>
          </a:p>
          <a:p>
            <a:pPr marL="914400" lvl="1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endParaRPr/>
          </a:p>
        </p:txBody>
      </p:sp>
      <p:sp>
        <p:nvSpPr>
          <p:cNvPr id="1085" name="Google Shape;1085;p9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sp>
        <p:nvSpPr>
          <p:cNvPr id="1086" name="Google Shape;1086;p92"/>
          <p:cNvSpPr txBox="1"/>
          <p:nvPr/>
        </p:nvSpPr>
        <p:spPr>
          <a:xfrm>
            <a:off x="3163894" y="1808631"/>
            <a:ext cx="40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2"/>
          <p:cNvSpPr txBox="1"/>
          <p:nvPr/>
        </p:nvSpPr>
        <p:spPr>
          <a:xfrm>
            <a:off x="5858294" y="1808631"/>
            <a:ext cx="40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8" name="Google Shape;108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50" y="1934275"/>
            <a:ext cx="1625625" cy="2324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92"/>
          <p:cNvPicPr preferRelativeResize="0"/>
          <p:nvPr/>
        </p:nvPicPr>
        <p:blipFill>
          <a:blip r:embed="rId4">
            <a:alphaModFix/>
          </a:blip>
          <a:srcRect t="2047" r="6751"/>
          <a:stretch>
            <a:fillRect/>
          </a:stretch>
        </p:blipFill>
        <p:spPr>
          <a:xfrm>
            <a:off x="3783450" y="1934275"/>
            <a:ext cx="1797007" cy="23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92"/>
          <p:cNvPicPr preferRelativeResize="0"/>
          <p:nvPr/>
        </p:nvPicPr>
        <p:blipFill>
          <a:blip r:embed="rId5">
            <a:alphaModFix/>
          </a:blip>
          <a:srcRect l="2839" t="4516" r="3745"/>
          <a:stretch>
            <a:fillRect/>
          </a:stretch>
        </p:blipFill>
        <p:spPr>
          <a:xfrm>
            <a:off x="6431075" y="1970250"/>
            <a:ext cx="2182925" cy="190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92"/>
          <p:cNvSpPr txBox="1"/>
          <p:nvPr/>
        </p:nvSpPr>
        <p:spPr>
          <a:xfrm>
            <a:off x="1276675" y="1936800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A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92"/>
          <p:cNvSpPr txBox="1"/>
          <p:nvPr/>
        </p:nvSpPr>
        <p:spPr>
          <a:xfrm>
            <a:off x="1276675" y="348372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B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2"/>
          <p:cNvSpPr txBox="1"/>
          <p:nvPr/>
        </p:nvSpPr>
        <p:spPr>
          <a:xfrm>
            <a:off x="1909725" y="3480600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2"/>
          <p:cNvSpPr txBox="1"/>
          <p:nvPr/>
        </p:nvSpPr>
        <p:spPr>
          <a:xfrm>
            <a:off x="1909725" y="1936800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D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1962475" y="2279750"/>
            <a:ext cx="41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1886275" y="3826675"/>
            <a:ext cx="41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/>
        </p:nvSpPr>
        <p:spPr>
          <a:xfrm>
            <a:off x="2633154" y="3823550"/>
            <a:ext cx="41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2"/>
          <p:cNvSpPr txBox="1"/>
          <p:nvPr/>
        </p:nvSpPr>
        <p:spPr>
          <a:xfrm>
            <a:off x="5382081" y="3386906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2"/>
          <p:cNvSpPr txBox="1"/>
          <p:nvPr/>
        </p:nvSpPr>
        <p:spPr>
          <a:xfrm>
            <a:off x="4939225" y="1936800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Q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2"/>
          <p:cNvSpPr txBox="1"/>
          <p:nvPr/>
        </p:nvSpPr>
        <p:spPr>
          <a:xfrm>
            <a:off x="4658250" y="33802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R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/>
        </p:nvSpPr>
        <p:spPr>
          <a:xfrm>
            <a:off x="4543874" y="3805950"/>
            <a:ext cx="395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2"/>
          <p:cNvSpPr txBox="1"/>
          <p:nvPr/>
        </p:nvSpPr>
        <p:spPr>
          <a:xfrm>
            <a:off x="3755850" y="3799325"/>
            <a:ext cx="52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2"/>
          <p:cNvSpPr txBox="1"/>
          <p:nvPr/>
        </p:nvSpPr>
        <p:spPr>
          <a:xfrm>
            <a:off x="6373669" y="19245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Y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2"/>
          <p:cNvSpPr txBox="1"/>
          <p:nvPr/>
        </p:nvSpPr>
        <p:spPr>
          <a:xfrm>
            <a:off x="6373669" y="25260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Z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2"/>
          <p:cNvSpPr txBox="1"/>
          <p:nvPr/>
        </p:nvSpPr>
        <p:spPr>
          <a:xfrm>
            <a:off x="7446956" y="25260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W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2"/>
          <p:cNvSpPr txBox="1"/>
          <p:nvPr/>
        </p:nvSpPr>
        <p:spPr>
          <a:xfrm>
            <a:off x="7489331" y="1924575"/>
            <a:ext cx="3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2"/>
          <p:cNvSpPr txBox="1"/>
          <p:nvPr/>
        </p:nvSpPr>
        <p:spPr>
          <a:xfrm>
            <a:off x="7094375" y="3288075"/>
            <a:ext cx="414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Z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2"/>
          <p:cNvSpPr txBox="1"/>
          <p:nvPr/>
        </p:nvSpPr>
        <p:spPr>
          <a:xfrm>
            <a:off x="8231850" y="3288075"/>
            <a:ext cx="52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2"/>
          <p:cNvSpPr txBox="1"/>
          <p:nvPr/>
        </p:nvSpPr>
        <p:spPr>
          <a:xfrm>
            <a:off x="2595304" y="2279750"/>
            <a:ext cx="426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′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92"/>
          <p:cNvSpPr txBox="1"/>
          <p:nvPr/>
        </p:nvSpPr>
        <p:spPr>
          <a:xfrm>
            <a:off x="4111175" y="2295150"/>
            <a:ext cx="42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Q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92"/>
          <p:cNvSpPr txBox="1"/>
          <p:nvPr/>
        </p:nvSpPr>
        <p:spPr>
          <a:xfrm>
            <a:off x="7147675" y="2686575"/>
            <a:ext cx="39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92"/>
          <p:cNvSpPr txBox="1"/>
          <p:nvPr/>
        </p:nvSpPr>
        <p:spPr>
          <a:xfrm>
            <a:off x="8305702" y="2686575"/>
            <a:ext cx="41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6" name="Shape 1116"/>
        <p:cNvGrpSpPr/>
        <p:nvPr/>
      </p:nvGrpSpPr>
      <p:grpSpPr>
        <a:xfrm>
          <a:off x="0" y="0"/>
          <a:ext cx="0" cy="0"/>
        </a:xfrm>
      </p:grpSpPr>
      <p:sp>
        <p:nvSpPr>
          <p:cNvPr id="1117" name="Google Shape;1117;p93"/>
          <p:cNvSpPr txBox="1"/>
          <p:nvPr/>
        </p:nvSpPr>
        <p:spPr>
          <a:xfrm>
            <a:off x="6627463" y="3902625"/>
            <a:ext cx="179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orientation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9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 startAt="2"/>
            </a:pPr>
            <a:r>
              <a:rPr lang="en-GB"/>
              <a:t>Identify which property of the image is incorrect for it to be a </a:t>
            </a:r>
            <a:r>
              <a:rPr lang="en-GB" b="1"/>
              <a:t>translation</a:t>
            </a:r>
            <a:r>
              <a:rPr lang="en-GB"/>
              <a:t>.</a:t>
            </a:r>
            <a:br>
              <a:rPr lang="en-GB"/>
            </a:br>
            <a:endParaRPr/>
          </a:p>
          <a:p>
            <a:pPr marL="914400" lvl="1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endParaRPr/>
          </a:p>
        </p:txBody>
      </p:sp>
      <p:sp>
        <p:nvSpPr>
          <p:cNvPr id="1119" name="Google Shape;1119;p9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Orientation and position of the image</a:t>
            </a:r>
            <a:endParaRPr/>
          </a:p>
        </p:txBody>
      </p:sp>
      <p:sp>
        <p:nvSpPr>
          <p:cNvPr id="1120" name="Google Shape;1120;p93"/>
          <p:cNvSpPr txBox="1"/>
          <p:nvPr/>
        </p:nvSpPr>
        <p:spPr>
          <a:xfrm>
            <a:off x="3163894" y="1808631"/>
            <a:ext cx="40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3"/>
          <p:cNvSpPr txBox="1"/>
          <p:nvPr/>
        </p:nvSpPr>
        <p:spPr>
          <a:xfrm>
            <a:off x="5858294" y="1808631"/>
            <a:ext cx="40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93"/>
          <p:cNvSpPr txBox="1"/>
          <p:nvPr/>
        </p:nvSpPr>
        <p:spPr>
          <a:xfrm>
            <a:off x="1365775" y="3937875"/>
            <a:ext cx="1236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mirrored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93"/>
          <p:cNvSpPr txBox="1"/>
          <p:nvPr/>
        </p:nvSpPr>
        <p:spPr>
          <a:xfrm>
            <a:off x="4216313" y="3902625"/>
            <a:ext cx="1305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lengths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4" name="Google Shape;112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500" y="1947025"/>
            <a:ext cx="1867612" cy="1974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750" y="1567950"/>
            <a:ext cx="2373954" cy="23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9788" y="1903724"/>
            <a:ext cx="2492925" cy="13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0" name="Shape 1130"/>
        <p:cNvGrpSpPr/>
        <p:nvPr/>
      </p:nvGrpSpPr>
      <p:grpSpPr>
        <a:xfrm>
          <a:off x="0" y="0"/>
          <a:ext cx="0" cy="0"/>
        </a:xfrm>
      </p:grpSpPr>
      <p:sp>
        <p:nvSpPr>
          <p:cNvPr id="1131" name="Google Shape;1131;p9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 startAt="3"/>
            </a:pPr>
            <a:r>
              <a:rPr lang="en-GB"/>
              <a:t>Complete the table and decide whether a translation has taken place.</a:t>
            </a:r>
            <a:endParaRPr/>
          </a:p>
        </p:txBody>
      </p:sp>
      <p:sp>
        <p:nvSpPr>
          <p:cNvPr id="1132" name="Google Shape;1132;p9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Orientation and position of the image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aphicFrame>
        <p:nvGraphicFramePr>
          <p:cNvPr id="1133" name="Google Shape;1133;p94"/>
          <p:cNvGraphicFramePr>
            <a:graphicFrameLocks noGrp="1"/>
          </p:cNvGraphicFramePr>
          <p:nvPr/>
        </p:nvGraphicFramePr>
        <p:xfrm>
          <a:off x="804450" y="182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{F891AC11-D0A5-4899-BF3A-171147FCE1E2}</a:tableStyleId>
              </a:tblPr>
              <a:tblGrid>
                <a:gridCol w="1377800"/>
                <a:gridCol w="22656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6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6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1134" name="Google Shape;1134;p94"/>
          <p:cNvPicPr preferRelativeResize="0"/>
          <p:nvPr/>
        </p:nvPicPr>
        <p:blipFill>
          <a:blip r:embed="rId3">
            <a:alphaModFix/>
          </a:blip>
          <a:srcRect l="13793" t="10241" r="29862" b="12460"/>
          <a:stretch>
            <a:fillRect/>
          </a:stretch>
        </p:blipFill>
        <p:spPr>
          <a:xfrm>
            <a:off x="5068375" y="1620002"/>
            <a:ext cx="3290148" cy="266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 txBox="1"/>
          <p:nvPr/>
        </p:nvSpPr>
        <p:spPr>
          <a:xfrm>
            <a:off x="4807725" y="4395625"/>
            <a:ext cx="435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not a translation.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9" name="Shape 1139"/>
        <p:cNvGrpSpPr/>
        <p:nvPr/>
      </p:nvGrpSpPr>
      <p:grpSpPr>
        <a:xfrm>
          <a:off x="0" y="0"/>
          <a:ext cx="0" cy="0"/>
        </a:xfrm>
      </p:grpSpPr>
      <p:sp>
        <p:nvSpPr>
          <p:cNvPr id="1140" name="Google Shape;1140;p95"/>
          <p:cNvSpPr txBox="1"/>
          <p:nvPr>
            <p:ph type="body" idx="1"/>
          </p:nvPr>
        </p:nvSpPr>
        <p:spPr>
          <a:xfrm>
            <a:off x="324000" y="8298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82828"/>
                </a:solidFill>
                <a:highlight>
                  <a:schemeClr val="lt1"/>
                </a:highlight>
              </a:rPr>
              <a:t>A</a:t>
            </a:r>
            <a:r>
              <a:rPr lang="en-GB" b="1">
                <a:solidFill>
                  <a:srgbClr val="282828"/>
                </a:solidFill>
                <a:highlight>
                  <a:schemeClr val="lt1"/>
                </a:highlight>
              </a:rPr>
              <a:t> translation</a:t>
            </a:r>
            <a:r>
              <a:rPr lang="en-GB">
                <a:solidFill>
                  <a:srgbClr val="282828"/>
                </a:solidFill>
                <a:highlight>
                  <a:schemeClr val="lt1"/>
                </a:highlight>
              </a:rPr>
              <a:t> is a transformation in which every point of a shape moves the same distance in the same direction.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image is congruent to the object, so its lengths and angles do not change.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image has the same orientation as the object.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only property of the object that changes in a </a:t>
            </a:r>
            <a:r>
              <a:rPr lang="en-GB" b="1"/>
              <a:t>translation</a:t>
            </a:r>
            <a:r>
              <a:rPr lang="en-GB"/>
              <a:t> is its position.</a:t>
            </a:r>
            <a:endParaRPr/>
          </a:p>
        </p:txBody>
      </p:sp>
      <p:sp>
        <p:nvSpPr>
          <p:cNvPr id="1141" name="Google Shape;1141;p9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translation</a:t>
            </a:r>
            <a:endParaRPr/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5" name="Shape 1145"/>
        <p:cNvGrpSpPr/>
        <p:nvPr/>
      </p:nvGrpSpPr>
      <p:grpSpPr>
        <a:xfrm>
          <a:off x="0" y="0"/>
          <a:ext cx="0" cy="0"/>
        </a:xfrm>
      </p:grpSpPr>
      <p:sp>
        <p:nvSpPr>
          <p:cNvPr id="1146" name="Google Shape;1146;p96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47" name="Google Shape;114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228</Paragraphs>
  <Slides>33</Slides>
  <Notes>33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baseType="lpstr" size="41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Introduction to translation</vt:lpstr>
      <vt:lpstr>PowerPoint Presentation</vt:lpstr>
      <vt:lpstr>PowerPoint Presentation</vt:lpstr>
      <vt:lpstr>PowerPoint Presentation</vt:lpstr>
      <vt:lpstr>PowerPoint Presentation</vt:lpstr>
      <vt:lpstr>Translation</vt:lpstr>
      <vt:lpstr>Translation</vt:lpstr>
      <vt:lpstr>Translation</vt:lpstr>
      <vt:lpstr>Translation</vt:lpstr>
      <vt:lpstr>Translation</vt:lpstr>
      <vt:lpstr>Translation</vt:lpstr>
      <vt:lpstr>Translation</vt:lpstr>
      <vt:lpstr>PowerPoint Presentation</vt:lpstr>
      <vt:lpstr>PowerPoint Presentation</vt:lpstr>
      <vt:lpstr>PowerPoint Presentation</vt:lpstr>
      <vt:lpstr>PowerPoint Presentation</vt:lpstr>
      <vt:lpstr>Translation</vt:lpstr>
      <vt:lpstr>Orientation and position of the image</vt:lpstr>
      <vt:lpstr>Orientation and position of the image</vt:lpstr>
      <vt:lpstr>Orientation and position of the image</vt:lpstr>
      <vt:lpstr>Orientation and position of the image</vt:lpstr>
      <vt:lpstr>Orientation and position of the image</vt:lpstr>
      <vt:lpstr>Orientation and position of the image</vt:lpstr>
      <vt:lpstr>Orientation and position of the image</vt:lpstr>
      <vt:lpstr>Orientation and position of the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translation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2023-11-02T14:19:03.055</cp:lastPrinted>
  <dcterms:created xsi:type="dcterms:W3CDTF">2023-11-02T14:19:03Z</dcterms:created>
  <dcterms:modified xsi:type="dcterms:W3CDTF">2023-11-02T14:19:16Z</dcterms:modified>
</cp:coreProperties>
</file>