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8">
          <p15:clr>
            <a:srgbClr val="747775"/>
          </p15:clr>
        </p15:guide>
        <p15:guide id="2" orient="horz" pos="2247">
          <p15:clr>
            <a:srgbClr val="747775"/>
          </p15:clr>
        </p15:guide>
        <p15:guide id="3" orient="horz" pos="2586">
          <p15:clr>
            <a:srgbClr val="747775"/>
          </p15:clr>
        </p15:guide>
        <p15:guide id="4" pos="342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CCF97D-CC12-4D79-9FF7-ADEBCB61A720}">
  <a:tblStyle styleId="{0ACCF97D-CC12-4D79-9FF7-ADEBCB61A7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8" orient="horz"/>
        <p:guide pos="2247" orient="horz"/>
        <p:guide pos="2586" orient="horz"/>
        <p:guide pos="34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4af1b0b9b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4af1b0b9b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842a7709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842a7709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842a77093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842a77093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842a77093f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842a77093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8702ce245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8702ce24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8702ce245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8702ce24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8702ce245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8702ce245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842a77093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842a77093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842a77093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842a77093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842a77093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842a77093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842a77093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842a77093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842a77093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842a77093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e821e6fa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e821e6fa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842a77093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2842a77093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85dd2b6c29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85dd2b6c29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85dd2b6c29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85dd2b6c29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86a53c7b9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86a53c7b9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86a53c7b9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86a53c7b9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86a53c7b9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86a53c7b9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842a77093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842a77093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1e821e6faa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1e821e6faa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85dd2b6c2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85dd2b6c2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85dd2b6c29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85dd2b6c29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85dd2b6c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85dd2b6c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85dd2b6c2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85dd2b6c2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85dd2b6c29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85dd2b6c29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85dd2b6c29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85dd2b6c29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842a77093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842a77093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842a77093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842a77093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2842a77093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2842a77093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842a77093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842a77093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842a77093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842a77093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821e6faa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821e6faa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1e821e6faa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1e821e6faa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85dd2b6c29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85dd2b6c29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1e853faab6a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1e853faab6a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85dd2b6c2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85dd2b6c2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1e853faab6a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1e853faab6a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1e853faab6a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1e853faab6a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85dd2b6c29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85dd2b6c29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Relationship Id="rId4" Type="http://schemas.openxmlformats.org/officeDocument/2006/relationships/image" Target="../media/image8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8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8.png"/><Relationship Id="rId4" Type="http://schemas.openxmlformats.org/officeDocument/2006/relationships/image" Target="../media/image27.png"/><Relationship Id="rId11" Type="http://schemas.openxmlformats.org/officeDocument/2006/relationships/image" Target="../media/image18.png"/><Relationship Id="rId10" Type="http://schemas.openxmlformats.org/officeDocument/2006/relationships/image" Target="../media/image37.png"/><Relationship Id="rId9" Type="http://schemas.openxmlformats.org/officeDocument/2006/relationships/image" Target="../media/image31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Relationship Id="rId4" Type="http://schemas.openxmlformats.org/officeDocument/2006/relationships/image" Target="../media/image43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67.png"/><Relationship Id="rId6" Type="http://schemas.openxmlformats.org/officeDocument/2006/relationships/image" Target="../media/image64.png"/><Relationship Id="rId7" Type="http://schemas.openxmlformats.org/officeDocument/2006/relationships/image" Target="../media/image6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Relationship Id="rId4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3.png"/><Relationship Id="rId4" Type="http://schemas.openxmlformats.org/officeDocument/2006/relationships/image" Target="../media/image51.png"/><Relationship Id="rId5" Type="http://schemas.openxmlformats.org/officeDocument/2006/relationships/image" Target="../media/image71.png"/><Relationship Id="rId6" Type="http://schemas.openxmlformats.org/officeDocument/2006/relationships/image" Target="../media/image84.png"/><Relationship Id="rId7" Type="http://schemas.openxmlformats.org/officeDocument/2006/relationships/image" Target="../media/image7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1.png"/><Relationship Id="rId4" Type="http://schemas.openxmlformats.org/officeDocument/2006/relationships/image" Target="../media/image7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8.png"/><Relationship Id="rId4" Type="http://schemas.openxmlformats.org/officeDocument/2006/relationships/image" Target="../media/image8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8.png"/><Relationship Id="rId4" Type="http://schemas.openxmlformats.org/officeDocument/2006/relationships/image" Target="../media/image8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8.png"/><Relationship Id="rId4" Type="http://schemas.openxmlformats.org/officeDocument/2006/relationships/image" Target="../media/image8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8.png"/><Relationship Id="rId4" Type="http://schemas.openxmlformats.org/officeDocument/2006/relationships/image" Target="../media/image8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3.png"/><Relationship Id="rId4" Type="http://schemas.openxmlformats.org/officeDocument/2006/relationships/image" Target="../media/image87.png"/><Relationship Id="rId5" Type="http://schemas.openxmlformats.org/officeDocument/2006/relationships/image" Target="../media/image6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Transformed objects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450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identify whether a shape has been transformed or not.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820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A transformation is a process that may change the size, orientation or position of a shape.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0460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If one shape can fit exactly on top of another using rotation, reflection or translation, then the shapes are congruent.</a:t>
            </a:r>
            <a:r>
              <a:rPr lang="en-GB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266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A property of a shape is invariant if that property has not changed after the shape is transformed.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Transformed objects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843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82377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change one or more propert</a:t>
            </a:r>
            <a:r>
              <a:rPr lang="en-GB"/>
              <a:t>ies</a:t>
            </a:r>
            <a:r>
              <a:rPr lang="en-GB"/>
              <a:t> of the object.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2133200"/>
            <a:ext cx="82377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key properties are lengths, angles, position, orientation and sense.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789" name="Google Shape;789;p70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90" name="Google Shape;790;p70"/>
          <p:cNvGraphicFramePr/>
          <p:nvPr/>
        </p:nvGraphicFramePr>
        <p:xfrm>
          <a:off x="403300" y="137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{0ACCF97D-CC12-4D79-9FF7-ADEBCB61A720}</a:tableStyleId>
              </a:tblPr>
              <a:tblGrid>
                <a:gridCol w="1614375"/>
                <a:gridCol w="2029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b="1"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b="1"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Sense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91" name="Google Shape;79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250" y="911700"/>
            <a:ext cx="2437100" cy="36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0"/>
          <p:cNvSpPr txBox="1"/>
          <p:nvPr/>
        </p:nvSpPr>
        <p:spPr>
          <a:xfrm>
            <a:off x="1617825" y="4029325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70"/>
          <p:cNvSpPr txBox="1"/>
          <p:nvPr/>
        </p:nvSpPr>
        <p:spPr>
          <a:xfrm>
            <a:off x="2090975" y="2090563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0"/>
          <p:cNvSpPr txBox="1"/>
          <p:nvPr/>
        </p:nvSpPr>
        <p:spPr>
          <a:xfrm>
            <a:off x="2090750" y="25641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70"/>
          <p:cNvSpPr txBox="1"/>
          <p:nvPr/>
        </p:nvSpPr>
        <p:spPr>
          <a:xfrm>
            <a:off x="2090750" y="3021300"/>
            <a:ext cx="8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/>
        </p:nvSpPr>
        <p:spPr>
          <a:xfrm>
            <a:off x="2090975" y="34830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70"/>
          <p:cNvSpPr txBox="1"/>
          <p:nvPr/>
        </p:nvSpPr>
        <p:spPr>
          <a:xfrm>
            <a:off x="2090875" y="39314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803" name="Google Shape;803;p71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4" name="Google Shape;804;p71"/>
          <p:cNvGraphicFramePr/>
          <p:nvPr/>
        </p:nvGraphicFramePr>
        <p:xfrm>
          <a:off x="403300" y="137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{0ACCF97D-CC12-4D79-9FF7-ADEBCB61A720}</a:tableStyleId>
              </a:tblPr>
              <a:tblGrid>
                <a:gridCol w="1614375"/>
                <a:gridCol w="2029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b="1"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b="1"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Sense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05" name="Google Shape;805;p71"/>
          <p:cNvSpPr txBox="1"/>
          <p:nvPr/>
        </p:nvSpPr>
        <p:spPr>
          <a:xfrm>
            <a:off x="1617825" y="4029325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1"/>
          <p:cNvSpPr txBox="1"/>
          <p:nvPr/>
        </p:nvSpPr>
        <p:spPr>
          <a:xfrm>
            <a:off x="2090975" y="2090575"/>
            <a:ext cx="6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1"/>
          <p:cNvSpPr txBox="1"/>
          <p:nvPr/>
        </p:nvSpPr>
        <p:spPr>
          <a:xfrm>
            <a:off x="2090750" y="25641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1"/>
          <p:cNvSpPr txBox="1"/>
          <p:nvPr/>
        </p:nvSpPr>
        <p:spPr>
          <a:xfrm>
            <a:off x="2090750" y="3021300"/>
            <a:ext cx="8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/>
        </p:nvSpPr>
        <p:spPr>
          <a:xfrm>
            <a:off x="2090975" y="34830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1"/>
          <p:cNvSpPr txBox="1"/>
          <p:nvPr/>
        </p:nvSpPr>
        <p:spPr>
          <a:xfrm>
            <a:off x="2090875" y="39314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1" name="Google Shape;81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750" y="1080000"/>
            <a:ext cx="2319125" cy="34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817" name="Google Shape;817;p72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Reflection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8" name="Google Shape;818;p72"/>
          <p:cNvGraphicFramePr/>
          <p:nvPr/>
        </p:nvGraphicFramePr>
        <p:xfrm>
          <a:off x="403300" y="137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{0ACCF97D-CC12-4D79-9FF7-ADEBCB61A720}</a:tableStyleId>
              </a:tblPr>
              <a:tblGrid>
                <a:gridCol w="1614375"/>
                <a:gridCol w="2029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b="1"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b="1"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Sense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19" name="Google Shape;819;p72"/>
          <p:cNvSpPr txBox="1"/>
          <p:nvPr/>
        </p:nvSpPr>
        <p:spPr>
          <a:xfrm>
            <a:off x="1617825" y="4029325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2"/>
          <p:cNvSpPr txBox="1"/>
          <p:nvPr/>
        </p:nvSpPr>
        <p:spPr>
          <a:xfrm>
            <a:off x="2090975" y="2090575"/>
            <a:ext cx="6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2"/>
          <p:cNvSpPr txBox="1"/>
          <p:nvPr/>
        </p:nvSpPr>
        <p:spPr>
          <a:xfrm>
            <a:off x="2090750" y="25641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2"/>
          <p:cNvSpPr txBox="1"/>
          <p:nvPr/>
        </p:nvSpPr>
        <p:spPr>
          <a:xfrm>
            <a:off x="2090750" y="3021300"/>
            <a:ext cx="8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2"/>
          <p:cNvSpPr txBox="1"/>
          <p:nvPr/>
        </p:nvSpPr>
        <p:spPr>
          <a:xfrm>
            <a:off x="2090975" y="34830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2"/>
          <p:cNvSpPr txBox="1"/>
          <p:nvPr/>
        </p:nvSpPr>
        <p:spPr>
          <a:xfrm>
            <a:off x="2090875" y="3931400"/>
            <a:ext cx="79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5" name="Google Shape;82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825" y="1579325"/>
            <a:ext cx="3405251" cy="21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831" name="Google Shape;831;p73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Enlargement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2" name="Google Shape;832;p73"/>
          <p:cNvGraphicFramePr/>
          <p:nvPr/>
        </p:nvGraphicFramePr>
        <p:xfrm>
          <a:off x="403300" y="137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{0ACCF97D-CC12-4D79-9FF7-ADEBCB61A720}</a:tableStyleId>
              </a:tblPr>
              <a:tblGrid>
                <a:gridCol w="1614375"/>
                <a:gridCol w="2029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b="1"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b="1"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Sense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33" name="Google Shape;833;p73"/>
          <p:cNvSpPr txBox="1"/>
          <p:nvPr/>
        </p:nvSpPr>
        <p:spPr>
          <a:xfrm>
            <a:off x="1617825" y="4029325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2090975" y="2090575"/>
            <a:ext cx="6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2090750" y="2564100"/>
            <a:ext cx="6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2090750" y="3021300"/>
            <a:ext cx="8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2090975" y="3483006"/>
            <a:ext cx="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/>
        </p:nvSpPr>
        <p:spPr>
          <a:xfrm>
            <a:off x="2090875" y="3931400"/>
            <a:ext cx="79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9" name="Google Shape;83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250" y="1360650"/>
            <a:ext cx="3337233" cy="267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grpSp>
        <p:nvGrpSpPr>
          <p:cNvPr id="845" name="Google Shape;845;p74"/>
          <p:cNvGrpSpPr/>
          <p:nvPr/>
        </p:nvGrpSpPr>
        <p:grpSpPr>
          <a:xfrm>
            <a:off x="400306" y="1549446"/>
            <a:ext cx="2106244" cy="1751406"/>
            <a:chOff x="400306" y="1121894"/>
            <a:chExt cx="2106244" cy="1751406"/>
          </a:xfrm>
        </p:grpSpPr>
        <p:pic>
          <p:nvPicPr>
            <p:cNvPr id="846" name="Google Shape;846;p74"/>
            <p:cNvPicPr preferRelativeResize="0"/>
            <p:nvPr/>
          </p:nvPicPr>
          <p:blipFill rotWithShape="1">
            <a:blip r:embed="rId3">
              <a:alphaModFix/>
            </a:blip>
            <a:srcRect b="63949" l="9215" r="63641" t="4606"/>
            <a:stretch/>
          </p:blipFill>
          <p:spPr>
            <a:xfrm>
              <a:off x="453725" y="1285975"/>
              <a:ext cx="2052825" cy="158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7" name="Google Shape;847;p74"/>
            <p:cNvSpPr txBox="1"/>
            <p:nvPr/>
          </p:nvSpPr>
          <p:spPr>
            <a:xfrm>
              <a:off x="400306" y="11218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8" name="Google Shape;848;p74"/>
            <p:cNvSpPr txBox="1"/>
            <p:nvPr/>
          </p:nvSpPr>
          <p:spPr>
            <a:xfrm>
              <a:off x="1548776" y="1343362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9" name="Google Shape;849;p74"/>
          <p:cNvGrpSpPr/>
          <p:nvPr/>
        </p:nvGrpSpPr>
        <p:grpSpPr>
          <a:xfrm>
            <a:off x="2747275" y="1713527"/>
            <a:ext cx="2297025" cy="2068075"/>
            <a:chOff x="2747275" y="1285975"/>
            <a:chExt cx="2297025" cy="2068075"/>
          </a:xfrm>
        </p:grpSpPr>
        <p:pic>
          <p:nvPicPr>
            <p:cNvPr id="850" name="Google Shape;850;p74"/>
            <p:cNvPicPr preferRelativeResize="0"/>
            <p:nvPr/>
          </p:nvPicPr>
          <p:blipFill rotWithShape="1">
            <a:blip r:embed="rId3">
              <a:alphaModFix/>
            </a:blip>
            <a:srcRect b="18288" l="36164" r="33463" t="40743"/>
            <a:stretch/>
          </p:blipFill>
          <p:spPr>
            <a:xfrm>
              <a:off x="2747275" y="1285975"/>
              <a:ext cx="2297025" cy="2068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1" name="Google Shape;851;p74"/>
            <p:cNvSpPr txBox="1"/>
            <p:nvPr/>
          </p:nvSpPr>
          <p:spPr>
            <a:xfrm>
              <a:off x="3441318" y="15149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2" name="Google Shape;852;p74"/>
            <p:cNvSpPr txBox="1"/>
            <p:nvPr/>
          </p:nvSpPr>
          <p:spPr>
            <a:xfrm>
              <a:off x="4046969" y="2075806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3" name="Google Shape;853;p74"/>
          <p:cNvGrpSpPr/>
          <p:nvPr/>
        </p:nvGrpSpPr>
        <p:grpSpPr>
          <a:xfrm>
            <a:off x="5206168" y="1713527"/>
            <a:ext cx="1910381" cy="2415731"/>
            <a:chOff x="5206168" y="1285975"/>
            <a:chExt cx="1910381" cy="2415731"/>
          </a:xfrm>
        </p:grpSpPr>
        <p:pic>
          <p:nvPicPr>
            <p:cNvPr id="854" name="Google Shape;854;p74"/>
            <p:cNvPicPr preferRelativeResize="0"/>
            <p:nvPr/>
          </p:nvPicPr>
          <p:blipFill rotWithShape="1">
            <a:blip r:embed="rId3">
              <a:alphaModFix/>
            </a:blip>
            <a:srcRect b="55017" l="72491" r="3291" t="0"/>
            <a:stretch/>
          </p:blipFill>
          <p:spPr>
            <a:xfrm>
              <a:off x="5285025" y="1285975"/>
              <a:ext cx="1831524" cy="2270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" name="Google Shape;855;p74"/>
            <p:cNvSpPr txBox="1"/>
            <p:nvPr/>
          </p:nvSpPr>
          <p:spPr>
            <a:xfrm>
              <a:off x="5206168" y="23408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6" name="Google Shape;856;p74"/>
            <p:cNvSpPr txBox="1"/>
            <p:nvPr/>
          </p:nvSpPr>
          <p:spPr>
            <a:xfrm>
              <a:off x="5602994" y="3240006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7" name="Google Shape;857;p74"/>
          <p:cNvGrpSpPr/>
          <p:nvPr/>
        </p:nvGrpSpPr>
        <p:grpSpPr>
          <a:xfrm>
            <a:off x="7319794" y="1618846"/>
            <a:ext cx="1461104" cy="2317712"/>
            <a:chOff x="7319794" y="1191294"/>
            <a:chExt cx="1461104" cy="2317712"/>
          </a:xfrm>
        </p:grpSpPr>
        <p:pic>
          <p:nvPicPr>
            <p:cNvPr id="858" name="Google Shape;858;p74"/>
            <p:cNvPicPr preferRelativeResize="0"/>
            <p:nvPr/>
          </p:nvPicPr>
          <p:blipFill rotWithShape="1">
            <a:blip r:embed="rId3">
              <a:alphaModFix/>
            </a:blip>
            <a:srcRect b="0" l="6293" r="75579" t="59033"/>
            <a:stretch/>
          </p:blipFill>
          <p:spPr>
            <a:xfrm>
              <a:off x="7409975" y="1285975"/>
              <a:ext cx="1370924" cy="2068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9" name="Google Shape;859;p74"/>
            <p:cNvSpPr txBox="1"/>
            <p:nvPr/>
          </p:nvSpPr>
          <p:spPr>
            <a:xfrm>
              <a:off x="7510568" y="11912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4"/>
            <p:cNvSpPr txBox="1"/>
            <p:nvPr/>
          </p:nvSpPr>
          <p:spPr>
            <a:xfrm>
              <a:off x="7319794" y="3047306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1" name="Google Shape;861;p74"/>
          <p:cNvSpPr txBox="1"/>
          <p:nvPr/>
        </p:nvSpPr>
        <p:spPr>
          <a:xfrm>
            <a:off x="883481" y="1318313"/>
            <a:ext cx="10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4"/>
          <p:cNvSpPr txBox="1"/>
          <p:nvPr/>
        </p:nvSpPr>
        <p:spPr>
          <a:xfrm>
            <a:off x="3325843" y="1318313"/>
            <a:ext cx="10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4"/>
          <p:cNvSpPr txBox="1"/>
          <p:nvPr/>
        </p:nvSpPr>
        <p:spPr>
          <a:xfrm>
            <a:off x="5686856" y="1318313"/>
            <a:ext cx="10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4"/>
          <p:cNvSpPr txBox="1"/>
          <p:nvPr/>
        </p:nvSpPr>
        <p:spPr>
          <a:xfrm>
            <a:off x="7486756" y="1318313"/>
            <a:ext cx="12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4"/>
          <p:cNvSpPr txBox="1"/>
          <p:nvPr/>
        </p:nvSpPr>
        <p:spPr>
          <a:xfrm>
            <a:off x="247800" y="679800"/>
            <a:ext cx="8318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One of the figures below, has been selected by Aisha. By asking a series of questions her friends are going to find which one.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6" name="Google Shape;86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0" y="3549600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4"/>
          <p:cNvSpPr txBox="1"/>
          <p:nvPr/>
        </p:nvSpPr>
        <p:spPr>
          <a:xfrm>
            <a:off x="262800" y="437400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8" name="Google Shape;868;p74"/>
          <p:cNvGrpSpPr/>
          <p:nvPr/>
        </p:nvGrpSpPr>
        <p:grpSpPr>
          <a:xfrm>
            <a:off x="1085001" y="3370225"/>
            <a:ext cx="1831070" cy="1408001"/>
            <a:chOff x="1273359" y="2971403"/>
            <a:chExt cx="2290556" cy="1001922"/>
          </a:xfrm>
        </p:grpSpPr>
        <p:pic>
          <p:nvPicPr>
            <p:cNvPr id="869" name="Google Shape;869;p7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73359" y="2971403"/>
              <a:ext cx="2162401" cy="10019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74"/>
            <p:cNvSpPr txBox="1"/>
            <p:nvPr/>
          </p:nvSpPr>
          <p:spPr>
            <a:xfrm>
              <a:off x="1401515" y="3092908"/>
              <a:ext cx="2162400" cy="7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the image congruent to the object?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71" name="Google Shape;87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173851" y="3885699"/>
            <a:ext cx="515699" cy="974495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4"/>
          <p:cNvSpPr txBox="1"/>
          <p:nvPr/>
        </p:nvSpPr>
        <p:spPr>
          <a:xfrm>
            <a:off x="6311250" y="4361250"/>
            <a:ext cx="83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3" name="Google Shape;873;p74"/>
          <p:cNvGrpSpPr/>
          <p:nvPr/>
        </p:nvGrpSpPr>
        <p:grpSpPr>
          <a:xfrm>
            <a:off x="4972501" y="4040697"/>
            <a:ext cx="2041000" cy="800365"/>
            <a:chOff x="3707931" y="3760680"/>
            <a:chExt cx="1886496" cy="882334"/>
          </a:xfrm>
        </p:grpSpPr>
        <p:pic>
          <p:nvPicPr>
            <p:cNvPr id="874" name="Google Shape;874;p74"/>
            <p:cNvPicPr preferRelativeResize="0"/>
            <p:nvPr/>
          </p:nvPicPr>
          <p:blipFill rotWithShape="1">
            <a:blip r:embed="rId5">
              <a:alphaModFix/>
            </a:blip>
            <a:srcRect b="0" l="0" r="70143" t="56280"/>
            <a:stretch/>
          </p:blipFill>
          <p:spPr>
            <a:xfrm>
              <a:off x="3707931" y="3760680"/>
              <a:ext cx="1265700" cy="88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" name="Google Shape;875;p74"/>
            <p:cNvSpPr txBox="1"/>
            <p:nvPr/>
          </p:nvSpPr>
          <p:spPr>
            <a:xfrm>
              <a:off x="3885027" y="3917747"/>
              <a:ext cx="1709400" cy="50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 it is.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grpSp>
        <p:nvGrpSpPr>
          <p:cNvPr id="881" name="Google Shape;881;p75"/>
          <p:cNvGrpSpPr/>
          <p:nvPr/>
        </p:nvGrpSpPr>
        <p:grpSpPr>
          <a:xfrm>
            <a:off x="400306" y="969494"/>
            <a:ext cx="2106244" cy="1751406"/>
            <a:chOff x="400306" y="1121894"/>
            <a:chExt cx="2106244" cy="1751406"/>
          </a:xfrm>
        </p:grpSpPr>
        <p:pic>
          <p:nvPicPr>
            <p:cNvPr id="882" name="Google Shape;882;p75"/>
            <p:cNvPicPr preferRelativeResize="0"/>
            <p:nvPr/>
          </p:nvPicPr>
          <p:blipFill rotWithShape="1">
            <a:blip r:embed="rId3">
              <a:alphaModFix/>
            </a:blip>
            <a:srcRect b="63949" l="9215" r="63641" t="4606"/>
            <a:stretch/>
          </p:blipFill>
          <p:spPr>
            <a:xfrm>
              <a:off x="453725" y="1285975"/>
              <a:ext cx="2052825" cy="158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75"/>
            <p:cNvSpPr txBox="1"/>
            <p:nvPr/>
          </p:nvSpPr>
          <p:spPr>
            <a:xfrm>
              <a:off x="400306" y="11218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75"/>
            <p:cNvSpPr txBox="1"/>
            <p:nvPr/>
          </p:nvSpPr>
          <p:spPr>
            <a:xfrm>
              <a:off x="1548776" y="1343362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5" name="Google Shape;885;p75"/>
          <p:cNvGrpSpPr/>
          <p:nvPr/>
        </p:nvGrpSpPr>
        <p:grpSpPr>
          <a:xfrm>
            <a:off x="2747275" y="1133575"/>
            <a:ext cx="2297025" cy="2068075"/>
            <a:chOff x="2747275" y="1285975"/>
            <a:chExt cx="2297025" cy="2068075"/>
          </a:xfrm>
        </p:grpSpPr>
        <p:pic>
          <p:nvPicPr>
            <p:cNvPr id="886" name="Google Shape;886;p75"/>
            <p:cNvPicPr preferRelativeResize="0"/>
            <p:nvPr/>
          </p:nvPicPr>
          <p:blipFill rotWithShape="1">
            <a:blip r:embed="rId3">
              <a:alphaModFix/>
            </a:blip>
            <a:srcRect b="18288" l="36164" r="33463" t="40743"/>
            <a:stretch/>
          </p:blipFill>
          <p:spPr>
            <a:xfrm>
              <a:off x="2747275" y="1285975"/>
              <a:ext cx="2297025" cy="2068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7" name="Google Shape;887;p75"/>
            <p:cNvSpPr txBox="1"/>
            <p:nvPr/>
          </p:nvSpPr>
          <p:spPr>
            <a:xfrm>
              <a:off x="3441318" y="15149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8" name="Google Shape;888;p75"/>
            <p:cNvSpPr txBox="1"/>
            <p:nvPr/>
          </p:nvSpPr>
          <p:spPr>
            <a:xfrm>
              <a:off x="4046969" y="2075806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9" name="Google Shape;889;p75"/>
          <p:cNvGrpSpPr/>
          <p:nvPr/>
        </p:nvGrpSpPr>
        <p:grpSpPr>
          <a:xfrm>
            <a:off x="7319794" y="1038894"/>
            <a:ext cx="1461104" cy="2317712"/>
            <a:chOff x="7319794" y="1191294"/>
            <a:chExt cx="1461104" cy="2317712"/>
          </a:xfrm>
        </p:grpSpPr>
        <p:pic>
          <p:nvPicPr>
            <p:cNvPr id="890" name="Google Shape;890;p75"/>
            <p:cNvPicPr preferRelativeResize="0"/>
            <p:nvPr/>
          </p:nvPicPr>
          <p:blipFill rotWithShape="1">
            <a:blip r:embed="rId3">
              <a:alphaModFix/>
            </a:blip>
            <a:srcRect b="0" l="6293" r="75579" t="59033"/>
            <a:stretch/>
          </p:blipFill>
          <p:spPr>
            <a:xfrm>
              <a:off x="7409975" y="1285975"/>
              <a:ext cx="1370924" cy="2068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1" name="Google Shape;891;p75"/>
            <p:cNvSpPr txBox="1"/>
            <p:nvPr/>
          </p:nvSpPr>
          <p:spPr>
            <a:xfrm>
              <a:off x="7510568" y="11912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75"/>
            <p:cNvSpPr txBox="1"/>
            <p:nvPr/>
          </p:nvSpPr>
          <p:spPr>
            <a:xfrm>
              <a:off x="7319794" y="3047306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3" name="Google Shape;893;p75"/>
          <p:cNvSpPr txBox="1"/>
          <p:nvPr/>
        </p:nvSpPr>
        <p:spPr>
          <a:xfrm>
            <a:off x="911925" y="696750"/>
            <a:ext cx="10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5"/>
          <p:cNvSpPr txBox="1"/>
          <p:nvPr/>
        </p:nvSpPr>
        <p:spPr>
          <a:xfrm>
            <a:off x="3354288" y="696750"/>
            <a:ext cx="10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5"/>
          <p:cNvSpPr txBox="1"/>
          <p:nvPr/>
        </p:nvSpPr>
        <p:spPr>
          <a:xfrm>
            <a:off x="7515200" y="696750"/>
            <a:ext cx="12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6" name="Google Shape;896;p75"/>
          <p:cNvGrpSpPr/>
          <p:nvPr/>
        </p:nvGrpSpPr>
        <p:grpSpPr>
          <a:xfrm>
            <a:off x="1112325" y="3123800"/>
            <a:ext cx="1774875" cy="1302524"/>
            <a:chOff x="1112358" y="2971400"/>
            <a:chExt cx="1557591" cy="1302524"/>
          </a:xfrm>
        </p:grpSpPr>
        <p:pic>
          <p:nvPicPr>
            <p:cNvPr id="897" name="Google Shape;897;p7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12358" y="2971400"/>
              <a:ext cx="1557591" cy="1302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8" name="Google Shape;898;p75"/>
            <p:cNvSpPr txBox="1"/>
            <p:nvPr/>
          </p:nvSpPr>
          <p:spPr>
            <a:xfrm>
              <a:off x="1323500" y="3104100"/>
              <a:ext cx="13131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Has the orientation changed?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9" name="Google Shape;899;p75"/>
          <p:cNvGrpSpPr/>
          <p:nvPr/>
        </p:nvGrpSpPr>
        <p:grpSpPr>
          <a:xfrm>
            <a:off x="3326633" y="3340787"/>
            <a:ext cx="2490741" cy="1077682"/>
            <a:chOff x="3828804" y="3338829"/>
            <a:chExt cx="1886496" cy="882334"/>
          </a:xfrm>
        </p:grpSpPr>
        <p:pic>
          <p:nvPicPr>
            <p:cNvPr id="900" name="Google Shape;900;p75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3828804" y="3338829"/>
              <a:ext cx="1265700" cy="88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1" name="Google Shape;901;p75"/>
            <p:cNvSpPr txBox="1"/>
            <p:nvPr/>
          </p:nvSpPr>
          <p:spPr>
            <a:xfrm>
              <a:off x="4005900" y="3579900"/>
              <a:ext cx="17094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 it has.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2" name="Google Shape;902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12" y="3549312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5"/>
          <p:cNvSpPr txBox="1"/>
          <p:nvPr/>
        </p:nvSpPr>
        <p:spPr>
          <a:xfrm>
            <a:off x="263709" y="43750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4" name="Google Shape;904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227575" y="35452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5"/>
          <p:cNvSpPr txBox="1"/>
          <p:nvPr/>
        </p:nvSpPr>
        <p:spPr>
          <a:xfrm>
            <a:off x="5642525" y="43289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grpSp>
        <p:nvGrpSpPr>
          <p:cNvPr id="911" name="Google Shape;911;p76"/>
          <p:cNvGrpSpPr/>
          <p:nvPr/>
        </p:nvGrpSpPr>
        <p:grpSpPr>
          <a:xfrm>
            <a:off x="2747275" y="1133575"/>
            <a:ext cx="2297025" cy="2068075"/>
            <a:chOff x="2747275" y="1285975"/>
            <a:chExt cx="2297025" cy="2068075"/>
          </a:xfrm>
        </p:grpSpPr>
        <p:pic>
          <p:nvPicPr>
            <p:cNvPr id="912" name="Google Shape;912;p76"/>
            <p:cNvPicPr preferRelativeResize="0"/>
            <p:nvPr/>
          </p:nvPicPr>
          <p:blipFill rotWithShape="1">
            <a:blip r:embed="rId3">
              <a:alphaModFix/>
            </a:blip>
            <a:srcRect b="18288" l="36164" r="33463" t="40743"/>
            <a:stretch/>
          </p:blipFill>
          <p:spPr>
            <a:xfrm>
              <a:off x="2747275" y="1285975"/>
              <a:ext cx="2297025" cy="2068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3" name="Google Shape;913;p76"/>
            <p:cNvSpPr txBox="1"/>
            <p:nvPr/>
          </p:nvSpPr>
          <p:spPr>
            <a:xfrm>
              <a:off x="3441318" y="15149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4" name="Google Shape;914;p76"/>
            <p:cNvSpPr txBox="1"/>
            <p:nvPr/>
          </p:nvSpPr>
          <p:spPr>
            <a:xfrm>
              <a:off x="4046969" y="2075806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5" name="Google Shape;915;p76"/>
          <p:cNvGrpSpPr/>
          <p:nvPr/>
        </p:nvGrpSpPr>
        <p:grpSpPr>
          <a:xfrm>
            <a:off x="7319794" y="1038894"/>
            <a:ext cx="1461104" cy="2317712"/>
            <a:chOff x="7319794" y="1191294"/>
            <a:chExt cx="1461104" cy="2317712"/>
          </a:xfrm>
        </p:grpSpPr>
        <p:pic>
          <p:nvPicPr>
            <p:cNvPr id="916" name="Google Shape;916;p76"/>
            <p:cNvPicPr preferRelativeResize="0"/>
            <p:nvPr/>
          </p:nvPicPr>
          <p:blipFill rotWithShape="1">
            <a:blip r:embed="rId3">
              <a:alphaModFix/>
            </a:blip>
            <a:srcRect b="0" l="6293" r="75579" t="59033"/>
            <a:stretch/>
          </p:blipFill>
          <p:spPr>
            <a:xfrm>
              <a:off x="7409975" y="1285975"/>
              <a:ext cx="1370924" cy="2068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76"/>
            <p:cNvSpPr txBox="1"/>
            <p:nvPr/>
          </p:nvSpPr>
          <p:spPr>
            <a:xfrm>
              <a:off x="7510568" y="11912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8" name="Google Shape;918;p76"/>
            <p:cNvSpPr txBox="1"/>
            <p:nvPr/>
          </p:nvSpPr>
          <p:spPr>
            <a:xfrm>
              <a:off x="7319794" y="3047306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9" name="Google Shape;919;p76"/>
          <p:cNvSpPr txBox="1"/>
          <p:nvPr/>
        </p:nvSpPr>
        <p:spPr>
          <a:xfrm>
            <a:off x="3354288" y="696750"/>
            <a:ext cx="10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6"/>
          <p:cNvSpPr txBox="1"/>
          <p:nvPr/>
        </p:nvSpPr>
        <p:spPr>
          <a:xfrm>
            <a:off x="7515200" y="696750"/>
            <a:ext cx="12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1" name="Google Shape;921;p76"/>
          <p:cNvGrpSpPr/>
          <p:nvPr/>
        </p:nvGrpSpPr>
        <p:grpSpPr>
          <a:xfrm>
            <a:off x="1112284" y="3200000"/>
            <a:ext cx="2023731" cy="1153150"/>
            <a:chOff x="1112352" y="2971400"/>
            <a:chExt cx="1433948" cy="1153150"/>
          </a:xfrm>
        </p:grpSpPr>
        <p:pic>
          <p:nvPicPr>
            <p:cNvPr id="922" name="Google Shape;922;p76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12352" y="2971400"/>
              <a:ext cx="1433948" cy="115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3" name="Google Shape;923;p76"/>
            <p:cNvSpPr txBox="1"/>
            <p:nvPr/>
          </p:nvSpPr>
          <p:spPr>
            <a:xfrm>
              <a:off x="1217925" y="3132325"/>
              <a:ext cx="12228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Has its sense changed?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4" name="Google Shape;924;p76"/>
          <p:cNvGrpSpPr/>
          <p:nvPr/>
        </p:nvGrpSpPr>
        <p:grpSpPr>
          <a:xfrm>
            <a:off x="3598240" y="3200056"/>
            <a:ext cx="2345670" cy="1177033"/>
            <a:chOff x="3828804" y="3338829"/>
            <a:chExt cx="1886496" cy="882334"/>
          </a:xfrm>
        </p:grpSpPr>
        <p:pic>
          <p:nvPicPr>
            <p:cNvPr id="925" name="Google Shape;925;p76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3828804" y="3338829"/>
              <a:ext cx="1265700" cy="88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76"/>
            <p:cNvSpPr txBox="1"/>
            <p:nvPr/>
          </p:nvSpPr>
          <p:spPr>
            <a:xfrm>
              <a:off x="4005900" y="3579900"/>
              <a:ext cx="17094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27" name="Google Shape;92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12" y="3549312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6"/>
          <p:cNvSpPr txBox="1"/>
          <p:nvPr/>
        </p:nvSpPr>
        <p:spPr>
          <a:xfrm>
            <a:off x="263709" y="43750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9" name="Google Shape;92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227575" y="35452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6"/>
          <p:cNvSpPr txBox="1"/>
          <p:nvPr/>
        </p:nvSpPr>
        <p:spPr>
          <a:xfrm>
            <a:off x="5642525" y="43289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grpSp>
        <p:nvGrpSpPr>
          <p:cNvPr id="936" name="Google Shape;936;p77"/>
          <p:cNvGrpSpPr/>
          <p:nvPr/>
        </p:nvGrpSpPr>
        <p:grpSpPr>
          <a:xfrm>
            <a:off x="3841444" y="988381"/>
            <a:ext cx="1461104" cy="2317712"/>
            <a:chOff x="7319794" y="1191294"/>
            <a:chExt cx="1461104" cy="2317712"/>
          </a:xfrm>
        </p:grpSpPr>
        <p:pic>
          <p:nvPicPr>
            <p:cNvPr id="937" name="Google Shape;937;p77"/>
            <p:cNvPicPr preferRelativeResize="0"/>
            <p:nvPr/>
          </p:nvPicPr>
          <p:blipFill rotWithShape="1">
            <a:blip r:embed="rId3">
              <a:alphaModFix/>
            </a:blip>
            <a:srcRect b="0" l="6293" r="75579" t="59033"/>
            <a:stretch/>
          </p:blipFill>
          <p:spPr>
            <a:xfrm>
              <a:off x="7409975" y="1285975"/>
              <a:ext cx="1370924" cy="2068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77"/>
            <p:cNvSpPr txBox="1"/>
            <p:nvPr/>
          </p:nvSpPr>
          <p:spPr>
            <a:xfrm>
              <a:off x="7510568" y="1191294"/>
              <a:ext cx="3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77"/>
            <p:cNvSpPr txBox="1"/>
            <p:nvPr/>
          </p:nvSpPr>
          <p:spPr>
            <a:xfrm>
              <a:off x="7319794" y="3047306"/>
              <a:ext cx="45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0" name="Google Shape;940;p77"/>
          <p:cNvSpPr txBox="1"/>
          <p:nvPr/>
        </p:nvSpPr>
        <p:spPr>
          <a:xfrm>
            <a:off x="4036850" y="646238"/>
            <a:ext cx="12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Figure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1" name="Google Shape;941;p77"/>
          <p:cNvGrpSpPr/>
          <p:nvPr/>
        </p:nvGrpSpPr>
        <p:grpSpPr>
          <a:xfrm>
            <a:off x="3522145" y="3338763"/>
            <a:ext cx="2269569" cy="882334"/>
            <a:chOff x="3828804" y="3338829"/>
            <a:chExt cx="1810296" cy="882334"/>
          </a:xfrm>
        </p:grpSpPr>
        <p:pic>
          <p:nvPicPr>
            <p:cNvPr id="942" name="Google Shape;942;p77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3828804" y="3338829"/>
              <a:ext cx="1265700" cy="88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7"/>
            <p:cNvSpPr txBox="1"/>
            <p:nvPr/>
          </p:nvSpPr>
          <p:spPr>
            <a:xfrm>
              <a:off x="3929700" y="3579900"/>
              <a:ext cx="1709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Well done!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4" name="Google Shape;944;p77"/>
          <p:cNvGrpSpPr/>
          <p:nvPr/>
        </p:nvGrpSpPr>
        <p:grpSpPr>
          <a:xfrm>
            <a:off x="1112371" y="2971400"/>
            <a:ext cx="1977478" cy="1153150"/>
            <a:chOff x="1112352" y="2971400"/>
            <a:chExt cx="1434098" cy="1153150"/>
          </a:xfrm>
        </p:grpSpPr>
        <p:pic>
          <p:nvPicPr>
            <p:cNvPr id="945" name="Google Shape;945;p77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12352" y="2971400"/>
              <a:ext cx="1433948" cy="115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7"/>
            <p:cNvSpPr txBox="1"/>
            <p:nvPr/>
          </p:nvSpPr>
          <p:spPr>
            <a:xfrm>
              <a:off x="1205750" y="3201650"/>
              <a:ext cx="1340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You selected figure 4!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47" name="Google Shape;947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012" y="3549312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7"/>
          <p:cNvSpPr txBox="1"/>
          <p:nvPr/>
        </p:nvSpPr>
        <p:spPr>
          <a:xfrm>
            <a:off x="263709" y="43750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9" name="Google Shape;949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227575" y="35452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7"/>
          <p:cNvSpPr txBox="1"/>
          <p:nvPr/>
        </p:nvSpPr>
        <p:spPr>
          <a:xfrm>
            <a:off x="5642525" y="43289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pic>
        <p:nvPicPr>
          <p:cNvPr id="956" name="Google Shape;956;p78"/>
          <p:cNvPicPr preferRelativeResize="0"/>
          <p:nvPr/>
        </p:nvPicPr>
        <p:blipFill rotWithShape="1">
          <a:blip r:embed="rId3">
            <a:alphaModFix/>
          </a:blip>
          <a:srcRect b="5329" l="80030" r="909" t="0"/>
          <a:stretch/>
        </p:blipFill>
        <p:spPr>
          <a:xfrm>
            <a:off x="7347862" y="836333"/>
            <a:ext cx="1125489" cy="3419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8"/>
          <p:cNvPicPr preferRelativeResize="0"/>
          <p:nvPr/>
        </p:nvPicPr>
        <p:blipFill rotWithShape="1">
          <a:blip r:embed="rId3">
            <a:alphaModFix/>
          </a:blip>
          <a:srcRect b="5329" l="53531" r="27407" t="0"/>
          <a:stretch/>
        </p:blipFill>
        <p:spPr>
          <a:xfrm>
            <a:off x="5981875" y="836331"/>
            <a:ext cx="1125489" cy="3419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78"/>
          <p:cNvPicPr preferRelativeResize="0"/>
          <p:nvPr/>
        </p:nvPicPr>
        <p:blipFill rotWithShape="1">
          <a:blip r:embed="rId3">
            <a:alphaModFix/>
          </a:blip>
          <a:srcRect b="5329" l="26851" r="53648" t="0"/>
          <a:stretch/>
        </p:blipFill>
        <p:spPr>
          <a:xfrm>
            <a:off x="4589927" y="836325"/>
            <a:ext cx="1151468" cy="3419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78"/>
          <p:cNvPicPr preferRelativeResize="0"/>
          <p:nvPr/>
        </p:nvPicPr>
        <p:blipFill rotWithShape="1">
          <a:blip r:embed="rId3">
            <a:alphaModFix/>
          </a:blip>
          <a:srcRect b="5329" l="0" r="80499" t="0"/>
          <a:stretch/>
        </p:blipFill>
        <p:spPr>
          <a:xfrm>
            <a:off x="3132600" y="836328"/>
            <a:ext cx="1151468" cy="34198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0" name="Google Shape;960;p78"/>
          <p:cNvGrpSpPr/>
          <p:nvPr/>
        </p:nvGrpSpPr>
        <p:grpSpPr>
          <a:xfrm>
            <a:off x="3479728" y="4287000"/>
            <a:ext cx="457200" cy="457200"/>
            <a:chOff x="1020916" y="1442088"/>
            <a:chExt cx="457200" cy="457200"/>
          </a:xfrm>
        </p:grpSpPr>
        <p:pic>
          <p:nvPicPr>
            <p:cNvPr id="961" name="Google Shape;961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3" name="Google Shape;963;p78"/>
          <p:cNvGrpSpPr/>
          <p:nvPr/>
        </p:nvGrpSpPr>
        <p:grpSpPr>
          <a:xfrm>
            <a:off x="4897878" y="4301950"/>
            <a:ext cx="457200" cy="457200"/>
            <a:chOff x="1020916" y="1442088"/>
            <a:chExt cx="457200" cy="457200"/>
          </a:xfrm>
        </p:grpSpPr>
        <p:pic>
          <p:nvPicPr>
            <p:cNvPr id="964" name="Google Shape;964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6" name="Google Shape;966;p78"/>
          <p:cNvGrpSpPr/>
          <p:nvPr/>
        </p:nvGrpSpPr>
        <p:grpSpPr>
          <a:xfrm>
            <a:off x="6289928" y="4287000"/>
            <a:ext cx="457200" cy="457200"/>
            <a:chOff x="1020916" y="1442088"/>
            <a:chExt cx="457200" cy="457200"/>
          </a:xfrm>
        </p:grpSpPr>
        <p:pic>
          <p:nvPicPr>
            <p:cNvPr id="967" name="Google Shape;967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8" name="Google Shape;968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9" name="Google Shape;969;p78"/>
          <p:cNvGrpSpPr/>
          <p:nvPr/>
        </p:nvGrpSpPr>
        <p:grpSpPr>
          <a:xfrm>
            <a:off x="7681966" y="4286988"/>
            <a:ext cx="457200" cy="457200"/>
            <a:chOff x="1020916" y="1442088"/>
            <a:chExt cx="457200" cy="457200"/>
          </a:xfrm>
        </p:grpSpPr>
        <p:pic>
          <p:nvPicPr>
            <p:cNvPr id="970" name="Google Shape;970;p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72" name="Google Shape;972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9684" y="3352438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721" y="1620000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78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 flipH="1">
            <a:off x="973023" y="759300"/>
            <a:ext cx="1955251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78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>
            <a:off x="404075" y="2737125"/>
            <a:ext cx="1825398" cy="923401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78"/>
          <p:cNvSpPr txBox="1"/>
          <p:nvPr/>
        </p:nvSpPr>
        <p:spPr>
          <a:xfrm>
            <a:off x="1181100" y="891550"/>
            <a:ext cx="167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 image congruent to the object?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8"/>
          <p:cNvSpPr txBox="1"/>
          <p:nvPr/>
        </p:nvSpPr>
        <p:spPr>
          <a:xfrm>
            <a:off x="502125" y="2971795"/>
            <a:ext cx="16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 it is not.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8" name="Google Shape;978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7383" y="767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984" name="Google Shape;984;p79"/>
          <p:cNvSpPr txBox="1"/>
          <p:nvPr/>
        </p:nvSpPr>
        <p:spPr>
          <a:xfrm>
            <a:off x="1050163" y="2700000"/>
            <a:ext cx="704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the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changed, a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may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have taken place.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5" name="Google Shape;985;p79"/>
          <p:cNvPicPr preferRelativeResize="0"/>
          <p:nvPr/>
        </p:nvPicPr>
        <p:blipFill rotWithShape="1">
          <a:blip r:embed="rId3">
            <a:alphaModFix/>
          </a:blip>
          <a:srcRect b="5329" l="53531" r="27407" t="0"/>
          <a:stretch/>
        </p:blipFill>
        <p:spPr>
          <a:xfrm rot="-5400000">
            <a:off x="4009263" y="-89906"/>
            <a:ext cx="1125489" cy="3419817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9"/>
          <p:cNvSpPr txBox="1"/>
          <p:nvPr/>
        </p:nvSpPr>
        <p:spPr>
          <a:xfrm>
            <a:off x="2148339" y="2631727"/>
            <a:ext cx="89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sense</a:t>
            </a:r>
            <a:endParaRPr/>
          </a:p>
        </p:txBody>
      </p:sp>
      <p:sp>
        <p:nvSpPr>
          <p:cNvPr id="987" name="Google Shape;987;p79"/>
          <p:cNvSpPr txBox="1"/>
          <p:nvPr/>
        </p:nvSpPr>
        <p:spPr>
          <a:xfrm>
            <a:off x="5224871" y="2647409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reflection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993" name="Google Shape;993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square could have been transformed in various ways.</a:t>
            </a:r>
            <a:endParaRPr sz="2000"/>
          </a:p>
        </p:txBody>
      </p:sp>
      <p:grpSp>
        <p:nvGrpSpPr>
          <p:cNvPr id="994" name="Google Shape;994;p80"/>
          <p:cNvGrpSpPr/>
          <p:nvPr/>
        </p:nvGrpSpPr>
        <p:grpSpPr>
          <a:xfrm>
            <a:off x="1684773" y="1084729"/>
            <a:ext cx="5145133" cy="2586408"/>
            <a:chOff x="1684800" y="1389550"/>
            <a:chExt cx="5677701" cy="2854125"/>
          </a:xfrm>
        </p:grpSpPr>
        <p:pic>
          <p:nvPicPr>
            <p:cNvPr id="995" name="Google Shape;995;p80"/>
            <p:cNvPicPr preferRelativeResize="0"/>
            <p:nvPr/>
          </p:nvPicPr>
          <p:blipFill rotWithShape="1">
            <a:blip r:embed="rId3">
              <a:alphaModFix/>
            </a:blip>
            <a:srcRect b="25520" l="11836" r="25368" t="18988"/>
            <a:stretch/>
          </p:blipFill>
          <p:spPr>
            <a:xfrm>
              <a:off x="1684800" y="1389550"/>
              <a:ext cx="5677701" cy="2854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0"/>
            <p:cNvSpPr txBox="1"/>
            <p:nvPr/>
          </p:nvSpPr>
          <p:spPr>
            <a:xfrm>
              <a:off x="1938325" y="16200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7" name="Google Shape;997;p80"/>
            <p:cNvSpPr txBox="1"/>
            <p:nvPr/>
          </p:nvSpPr>
          <p:spPr>
            <a:xfrm>
              <a:off x="1961219" y="36000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8" name="Google Shape;998;p80"/>
            <p:cNvSpPr txBox="1"/>
            <p:nvPr/>
          </p:nvSpPr>
          <p:spPr>
            <a:xfrm>
              <a:off x="3929850" y="35829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9" name="Google Shape;999;p80"/>
            <p:cNvSpPr txBox="1"/>
            <p:nvPr/>
          </p:nvSpPr>
          <p:spPr>
            <a:xfrm>
              <a:off x="3929850" y="16017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80"/>
          <p:cNvGrpSpPr/>
          <p:nvPr/>
        </p:nvGrpSpPr>
        <p:grpSpPr>
          <a:xfrm>
            <a:off x="4433799" y="1293575"/>
            <a:ext cx="2446358" cy="2272468"/>
            <a:chOff x="1893588" y="1601713"/>
            <a:chExt cx="2699579" cy="2507690"/>
          </a:xfrm>
        </p:grpSpPr>
        <p:sp>
          <p:nvSpPr>
            <p:cNvPr id="1001" name="Google Shape;1001;p80"/>
            <p:cNvSpPr txBox="1"/>
            <p:nvPr/>
          </p:nvSpPr>
          <p:spPr>
            <a:xfrm>
              <a:off x="1893588" y="1620003"/>
              <a:ext cx="4644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2" name="Google Shape;1002;p80"/>
            <p:cNvSpPr txBox="1"/>
            <p:nvPr/>
          </p:nvSpPr>
          <p:spPr>
            <a:xfrm>
              <a:off x="1908763" y="3600002"/>
              <a:ext cx="4644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3" name="Google Shape;1003;p80"/>
            <p:cNvSpPr txBox="1"/>
            <p:nvPr/>
          </p:nvSpPr>
          <p:spPr>
            <a:xfrm>
              <a:off x="3929872" y="3582900"/>
              <a:ext cx="525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80"/>
            <p:cNvSpPr txBox="1"/>
            <p:nvPr/>
          </p:nvSpPr>
          <p:spPr>
            <a:xfrm>
              <a:off x="3929867" y="1601713"/>
              <a:ext cx="6633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5" name="Google Shape;1005;p80"/>
          <p:cNvSpPr txBox="1"/>
          <p:nvPr/>
        </p:nvSpPr>
        <p:spPr>
          <a:xfrm>
            <a:off x="2575250" y="3827400"/>
            <a:ext cx="88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could have been a translation.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1011" name="Google Shape;1011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square could have been transformed in various ways.</a:t>
            </a:r>
            <a:endParaRPr sz="2000"/>
          </a:p>
        </p:txBody>
      </p:sp>
      <p:grpSp>
        <p:nvGrpSpPr>
          <p:cNvPr id="1012" name="Google Shape;1012;p81"/>
          <p:cNvGrpSpPr/>
          <p:nvPr/>
        </p:nvGrpSpPr>
        <p:grpSpPr>
          <a:xfrm>
            <a:off x="1684773" y="1084729"/>
            <a:ext cx="5145133" cy="2586408"/>
            <a:chOff x="1684800" y="1389550"/>
            <a:chExt cx="5677701" cy="2854125"/>
          </a:xfrm>
        </p:grpSpPr>
        <p:pic>
          <p:nvPicPr>
            <p:cNvPr id="1013" name="Google Shape;1013;p81"/>
            <p:cNvPicPr preferRelativeResize="0"/>
            <p:nvPr/>
          </p:nvPicPr>
          <p:blipFill rotWithShape="1">
            <a:blip r:embed="rId3">
              <a:alphaModFix/>
            </a:blip>
            <a:srcRect b="25520" l="11836" r="25368" t="18988"/>
            <a:stretch/>
          </p:blipFill>
          <p:spPr>
            <a:xfrm>
              <a:off x="1684800" y="1389550"/>
              <a:ext cx="5677701" cy="2854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4" name="Google Shape;1014;p81"/>
            <p:cNvSpPr txBox="1"/>
            <p:nvPr/>
          </p:nvSpPr>
          <p:spPr>
            <a:xfrm>
              <a:off x="1938325" y="16200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81"/>
            <p:cNvSpPr txBox="1"/>
            <p:nvPr/>
          </p:nvSpPr>
          <p:spPr>
            <a:xfrm>
              <a:off x="1961219" y="36000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81"/>
            <p:cNvSpPr txBox="1"/>
            <p:nvPr/>
          </p:nvSpPr>
          <p:spPr>
            <a:xfrm>
              <a:off x="3929850" y="35829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7" name="Google Shape;1017;p81"/>
            <p:cNvSpPr txBox="1"/>
            <p:nvPr/>
          </p:nvSpPr>
          <p:spPr>
            <a:xfrm>
              <a:off x="3929850" y="16017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8" name="Google Shape;1018;p81"/>
          <p:cNvSpPr txBox="1"/>
          <p:nvPr/>
        </p:nvSpPr>
        <p:spPr>
          <a:xfrm>
            <a:off x="6306774" y="1270675"/>
            <a:ext cx="4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1"/>
          <p:cNvSpPr txBox="1"/>
          <p:nvPr/>
        </p:nvSpPr>
        <p:spPr>
          <a:xfrm>
            <a:off x="6256801" y="3060000"/>
            <a:ext cx="4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1"/>
          <p:cNvSpPr txBox="1"/>
          <p:nvPr/>
        </p:nvSpPr>
        <p:spPr>
          <a:xfrm>
            <a:off x="4419780" y="3059989"/>
            <a:ext cx="47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1"/>
          <p:cNvSpPr txBox="1"/>
          <p:nvPr/>
        </p:nvSpPr>
        <p:spPr>
          <a:xfrm>
            <a:off x="4447525" y="1270675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1"/>
          <p:cNvSpPr txBox="1"/>
          <p:nvPr/>
        </p:nvSpPr>
        <p:spPr>
          <a:xfrm>
            <a:off x="2575250" y="3827400"/>
            <a:ext cx="88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could have been a reflection.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1028" name="Google Shape;1028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square could have been transformed in various ways.</a:t>
            </a:r>
            <a:endParaRPr sz="2000"/>
          </a:p>
        </p:txBody>
      </p:sp>
      <p:grpSp>
        <p:nvGrpSpPr>
          <p:cNvPr id="1029" name="Google Shape;1029;p82"/>
          <p:cNvGrpSpPr/>
          <p:nvPr/>
        </p:nvGrpSpPr>
        <p:grpSpPr>
          <a:xfrm>
            <a:off x="1684773" y="1084729"/>
            <a:ext cx="5145133" cy="2586408"/>
            <a:chOff x="1684800" y="1389550"/>
            <a:chExt cx="5677701" cy="2854125"/>
          </a:xfrm>
        </p:grpSpPr>
        <p:pic>
          <p:nvPicPr>
            <p:cNvPr id="1030" name="Google Shape;1030;p82"/>
            <p:cNvPicPr preferRelativeResize="0"/>
            <p:nvPr/>
          </p:nvPicPr>
          <p:blipFill rotWithShape="1">
            <a:blip r:embed="rId3">
              <a:alphaModFix/>
            </a:blip>
            <a:srcRect b="25520" l="11836" r="25368" t="18988"/>
            <a:stretch/>
          </p:blipFill>
          <p:spPr>
            <a:xfrm>
              <a:off x="1684800" y="1389550"/>
              <a:ext cx="5677701" cy="2854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1" name="Google Shape;1031;p82"/>
            <p:cNvSpPr txBox="1"/>
            <p:nvPr/>
          </p:nvSpPr>
          <p:spPr>
            <a:xfrm>
              <a:off x="1938325" y="16200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82"/>
            <p:cNvSpPr txBox="1"/>
            <p:nvPr/>
          </p:nvSpPr>
          <p:spPr>
            <a:xfrm>
              <a:off x="1961219" y="36000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3" name="Google Shape;1033;p82"/>
            <p:cNvSpPr txBox="1"/>
            <p:nvPr/>
          </p:nvSpPr>
          <p:spPr>
            <a:xfrm>
              <a:off x="3929850" y="35829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82"/>
            <p:cNvSpPr txBox="1"/>
            <p:nvPr/>
          </p:nvSpPr>
          <p:spPr>
            <a:xfrm>
              <a:off x="3929850" y="1601700"/>
              <a:ext cx="297600" cy="5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5" name="Google Shape;1035;p82"/>
          <p:cNvSpPr txBox="1"/>
          <p:nvPr/>
        </p:nvSpPr>
        <p:spPr>
          <a:xfrm>
            <a:off x="6306774" y="1270675"/>
            <a:ext cx="4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2"/>
          <p:cNvSpPr txBox="1"/>
          <p:nvPr/>
        </p:nvSpPr>
        <p:spPr>
          <a:xfrm>
            <a:off x="4450301" y="3060000"/>
            <a:ext cx="4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2"/>
          <p:cNvSpPr txBox="1"/>
          <p:nvPr/>
        </p:nvSpPr>
        <p:spPr>
          <a:xfrm>
            <a:off x="4450305" y="1270664"/>
            <a:ext cx="47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2"/>
          <p:cNvSpPr txBox="1"/>
          <p:nvPr/>
        </p:nvSpPr>
        <p:spPr>
          <a:xfrm>
            <a:off x="6256800" y="3060000"/>
            <a:ext cx="42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2"/>
          <p:cNvSpPr txBox="1"/>
          <p:nvPr/>
        </p:nvSpPr>
        <p:spPr>
          <a:xfrm>
            <a:off x="2575250" y="3827400"/>
            <a:ext cx="88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could have been a rotation.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Each transformation causes a different effect on the image and therefore its vertices may change position.</a:t>
            </a:r>
            <a:endParaRPr sz="1800"/>
          </a:p>
        </p:txBody>
      </p:sp>
      <p:sp>
        <p:nvSpPr>
          <p:cNvPr id="1045" name="Google Shape;104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1046" name="Google Shape;1046;p83"/>
          <p:cNvSpPr txBox="1"/>
          <p:nvPr>
            <p:ph idx="2" type="subTitle"/>
          </p:nvPr>
        </p:nvSpPr>
        <p:spPr>
          <a:xfrm>
            <a:off x="324000" y="1080000"/>
            <a:ext cx="8221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vertices of the image are always in the same position regardless of the transformation.</a:t>
            </a:r>
            <a:endParaRPr sz="1800"/>
          </a:p>
        </p:txBody>
      </p:sp>
      <p:sp>
        <p:nvSpPr>
          <p:cNvPr id="1047" name="Google Shape;1047;p8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image is congruent or similar to the object.</a:t>
            </a:r>
            <a:endParaRPr sz="1800"/>
          </a:p>
        </p:txBody>
      </p:sp>
      <p:pic>
        <p:nvPicPr>
          <p:cNvPr id="1048" name="Google Shape;104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808" y="3476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4"/>
          <p:cNvSpPr txBox="1"/>
          <p:nvPr>
            <p:ph idx="1" type="body"/>
          </p:nvPr>
        </p:nvSpPr>
        <p:spPr>
          <a:xfrm>
            <a:off x="35355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trapezium, along with its image, can create these three shapes. Which type of transformation has taken place?</a:t>
            </a:r>
            <a:endParaRPr sz="2000"/>
          </a:p>
        </p:txBody>
      </p:sp>
      <p:sp>
        <p:nvSpPr>
          <p:cNvPr id="1055" name="Google Shape;105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pic>
        <p:nvPicPr>
          <p:cNvPr id="1056" name="Google Shape;105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792" y="1566392"/>
            <a:ext cx="1187200" cy="11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598" y="3059990"/>
            <a:ext cx="2142250" cy="112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8878" y="3044068"/>
            <a:ext cx="2142250" cy="1139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3850" y="3036450"/>
            <a:ext cx="1594098" cy="113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4"/>
          <p:cNvSpPr txBox="1"/>
          <p:nvPr/>
        </p:nvSpPr>
        <p:spPr>
          <a:xfrm>
            <a:off x="1174775" y="4416600"/>
            <a:ext cx="150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reflection.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61" name="Google Shape;1061;p84"/>
          <p:cNvCxnSpPr/>
          <p:nvPr/>
        </p:nvCxnSpPr>
        <p:spPr>
          <a:xfrm>
            <a:off x="1957157" y="2808511"/>
            <a:ext cx="0" cy="151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062" name="Google Shape;1062;p84"/>
          <p:cNvPicPr preferRelativeResize="0"/>
          <p:nvPr/>
        </p:nvPicPr>
        <p:blipFill rotWithShape="1">
          <a:blip r:embed="rId7">
            <a:alphaModFix/>
          </a:blip>
          <a:srcRect b="36882" l="61925" r="14808" t="50044"/>
          <a:stretch/>
        </p:blipFill>
        <p:spPr>
          <a:xfrm rot="-5400000">
            <a:off x="3621184" y="3353261"/>
            <a:ext cx="871324" cy="4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4"/>
          <p:cNvSpPr txBox="1"/>
          <p:nvPr/>
        </p:nvSpPr>
        <p:spPr>
          <a:xfrm>
            <a:off x="3507500" y="4375000"/>
            <a:ext cx="619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rotation.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4" name="Google Shape;1064;p84"/>
          <p:cNvSpPr txBox="1"/>
          <p:nvPr/>
        </p:nvSpPr>
        <p:spPr>
          <a:xfrm>
            <a:off x="4161096" y="3338800"/>
            <a:ext cx="30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endParaRPr sz="1200"/>
          </a:p>
        </p:txBody>
      </p:sp>
      <p:pic>
        <p:nvPicPr>
          <p:cNvPr id="1065" name="Google Shape;1065;p84"/>
          <p:cNvPicPr preferRelativeResize="0"/>
          <p:nvPr/>
        </p:nvPicPr>
        <p:blipFill rotWithShape="1">
          <a:blip r:embed="rId7">
            <a:alphaModFix/>
          </a:blip>
          <a:srcRect b="36882" l="61925" r="14808" t="50044"/>
          <a:stretch/>
        </p:blipFill>
        <p:spPr>
          <a:xfrm rot="-5400000">
            <a:off x="5879824" y="3399435"/>
            <a:ext cx="753952" cy="428402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84"/>
          <p:cNvSpPr txBox="1"/>
          <p:nvPr/>
        </p:nvSpPr>
        <p:spPr>
          <a:xfrm>
            <a:off x="6305058" y="3367504"/>
            <a:ext cx="342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x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4"/>
          <p:cNvSpPr txBox="1"/>
          <p:nvPr/>
        </p:nvSpPr>
        <p:spPr>
          <a:xfrm>
            <a:off x="5720250" y="4326500"/>
            <a:ext cx="619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rotation.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Which transformation could </a:t>
            </a:r>
            <a:r>
              <a:rPr b="0" lang="en-GB">
                <a:solidFill>
                  <a:schemeClr val="accent4"/>
                </a:solidFill>
              </a:rPr>
              <a:t>not</a:t>
            </a:r>
            <a:r>
              <a:rPr b="0" lang="en-GB"/>
              <a:t> have taken place to create this shape, using the object and image.</a:t>
            </a:r>
            <a:endParaRPr b="0"/>
          </a:p>
        </p:txBody>
      </p:sp>
      <p:sp>
        <p:nvSpPr>
          <p:cNvPr id="1073" name="Google Shape;1073;p8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1074" name="Google Shape;1074;p8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sp>
        <p:nvSpPr>
          <p:cNvPr id="1075" name="Google Shape;1075;p8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rotation</a:t>
            </a:r>
            <a:endParaRPr/>
          </a:p>
        </p:txBody>
      </p:sp>
      <p:sp>
        <p:nvSpPr>
          <p:cNvPr id="1076" name="Google Shape;1076;p8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reflection</a:t>
            </a:r>
            <a:endParaRPr/>
          </a:p>
        </p:txBody>
      </p:sp>
      <p:pic>
        <p:nvPicPr>
          <p:cNvPr id="1077" name="Google Shape;107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399" y="1959874"/>
            <a:ext cx="3541139" cy="194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6708" y="18067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By considering the changes, decide which transformation could have taken place in each case. There might be more than one. </a:t>
            </a:r>
            <a:br>
              <a:rPr lang="en-GB"/>
            </a:b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lengths have changed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sense has changed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orientation has changed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position has changed </a:t>
            </a:r>
            <a:endParaRPr/>
          </a:p>
        </p:txBody>
      </p:sp>
      <p:sp>
        <p:nvSpPr>
          <p:cNvPr id="1084" name="Google Shape;1084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7"/>
          <p:cNvSpPr txBox="1"/>
          <p:nvPr>
            <p:ph idx="1" type="body"/>
          </p:nvPr>
        </p:nvSpPr>
        <p:spPr>
          <a:xfrm>
            <a:off x="324000" y="759300"/>
            <a:ext cx="8237700" cy="36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By considering the invariant properties, decide which transformation could </a:t>
            </a:r>
            <a:r>
              <a:rPr lang="en-GB">
                <a:solidFill>
                  <a:schemeClr val="accent4"/>
                </a:solidFill>
              </a:rPr>
              <a:t>not</a:t>
            </a:r>
            <a:r>
              <a:rPr lang="en-GB"/>
              <a:t> have taken place in each case. There might be more than one.</a:t>
            </a:r>
            <a:br>
              <a:rPr lang="en-GB"/>
            </a:b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lengths are invariant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sense is invariant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orientation is invariant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</a:t>
            </a:r>
            <a:r>
              <a:rPr lang="en-GB"/>
              <a:t>he angles are invariant </a:t>
            </a:r>
            <a:endParaRPr/>
          </a:p>
        </p:txBody>
      </p:sp>
      <p:sp>
        <p:nvSpPr>
          <p:cNvPr id="1090" name="Google Shape;1090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875" y="753200"/>
            <a:ext cx="6189199" cy="2904197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88"/>
          <p:cNvSpPr txBox="1"/>
          <p:nvPr/>
        </p:nvSpPr>
        <p:spPr>
          <a:xfrm>
            <a:off x="144975" y="773525"/>
            <a:ext cx="231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rabi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Identify the type of transformation that has taken place to create the new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8"/>
          <p:cNvSpPr txBox="1"/>
          <p:nvPr/>
        </p:nvSpPr>
        <p:spPr>
          <a:xfrm>
            <a:off x="2770500" y="84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8"/>
          <p:cNvSpPr txBox="1"/>
          <p:nvPr/>
        </p:nvSpPr>
        <p:spPr>
          <a:xfrm>
            <a:off x="4731725" y="84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8"/>
          <p:cNvSpPr txBox="1"/>
          <p:nvPr/>
        </p:nvSpPr>
        <p:spPr>
          <a:xfrm>
            <a:off x="6430550" y="84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8"/>
          <p:cNvSpPr txBox="1"/>
          <p:nvPr/>
        </p:nvSpPr>
        <p:spPr>
          <a:xfrm>
            <a:off x="2770500" y="192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8"/>
          <p:cNvSpPr txBox="1"/>
          <p:nvPr/>
        </p:nvSpPr>
        <p:spPr>
          <a:xfrm>
            <a:off x="4465500" y="192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8"/>
          <p:cNvSpPr txBox="1"/>
          <p:nvPr/>
        </p:nvSpPr>
        <p:spPr>
          <a:xfrm>
            <a:off x="5708550" y="192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transformation?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89"/>
          <p:cNvSpPr txBox="1"/>
          <p:nvPr/>
        </p:nvSpPr>
        <p:spPr>
          <a:xfrm>
            <a:off x="152600" y="694500"/>
            <a:ext cx="85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rabicParenR" startAt="4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the labels to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vertices.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10" name="Google Shape;1110;p89"/>
          <p:cNvPicPr preferRelativeResize="0"/>
          <p:nvPr/>
        </p:nvPicPr>
        <p:blipFill rotWithShape="1">
          <a:blip r:embed="rId3">
            <a:alphaModFix/>
          </a:blip>
          <a:srcRect b="18618" l="8914" r="15789" t="15077"/>
          <a:stretch/>
        </p:blipFill>
        <p:spPr>
          <a:xfrm rot="5400000">
            <a:off x="692138" y="2417038"/>
            <a:ext cx="2870651" cy="143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89"/>
          <p:cNvSpPr txBox="1"/>
          <p:nvPr/>
        </p:nvSpPr>
        <p:spPr>
          <a:xfrm>
            <a:off x="1831650" y="159462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9"/>
          <p:cNvSpPr txBox="1"/>
          <p:nvPr/>
        </p:nvSpPr>
        <p:spPr>
          <a:xfrm>
            <a:off x="2563125" y="21737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9"/>
          <p:cNvSpPr txBox="1"/>
          <p:nvPr/>
        </p:nvSpPr>
        <p:spPr>
          <a:xfrm>
            <a:off x="1801125" y="27071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9"/>
          <p:cNvSpPr txBox="1"/>
          <p:nvPr/>
        </p:nvSpPr>
        <p:spPr>
          <a:xfrm>
            <a:off x="1343925" y="21737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9"/>
          <p:cNvSpPr txBox="1"/>
          <p:nvPr/>
        </p:nvSpPr>
        <p:spPr>
          <a:xfrm>
            <a:off x="428400" y="1053975"/>
            <a:ext cx="2458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a vertical reflection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6" name="Google Shape;1116;p89"/>
          <p:cNvPicPr preferRelativeResize="0"/>
          <p:nvPr/>
        </p:nvPicPr>
        <p:blipFill rotWithShape="1">
          <a:blip r:embed="rId3">
            <a:alphaModFix/>
          </a:blip>
          <a:srcRect b="18618" l="8914" r="15789" t="15077"/>
          <a:stretch/>
        </p:blipFill>
        <p:spPr>
          <a:xfrm rot="5400000">
            <a:off x="3481175" y="2470088"/>
            <a:ext cx="2870651" cy="143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89"/>
          <p:cNvSpPr txBox="1"/>
          <p:nvPr/>
        </p:nvSpPr>
        <p:spPr>
          <a:xfrm>
            <a:off x="4620688" y="164767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9"/>
          <p:cNvSpPr txBox="1"/>
          <p:nvPr/>
        </p:nvSpPr>
        <p:spPr>
          <a:xfrm>
            <a:off x="5352162" y="222675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9"/>
          <p:cNvSpPr txBox="1"/>
          <p:nvPr/>
        </p:nvSpPr>
        <p:spPr>
          <a:xfrm>
            <a:off x="4590162" y="276015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9"/>
          <p:cNvSpPr txBox="1"/>
          <p:nvPr/>
        </p:nvSpPr>
        <p:spPr>
          <a:xfrm>
            <a:off x="4132962" y="222675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1" name="Google Shape;1121;p89"/>
          <p:cNvPicPr preferRelativeResize="0"/>
          <p:nvPr/>
        </p:nvPicPr>
        <p:blipFill rotWithShape="1">
          <a:blip r:embed="rId3">
            <a:alphaModFix/>
          </a:blip>
          <a:srcRect b="18618" l="8914" r="15789" t="15077"/>
          <a:stretch/>
        </p:blipFill>
        <p:spPr>
          <a:xfrm rot="5400000">
            <a:off x="6117538" y="2523138"/>
            <a:ext cx="2870651" cy="143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9"/>
          <p:cNvSpPr txBox="1"/>
          <p:nvPr/>
        </p:nvSpPr>
        <p:spPr>
          <a:xfrm>
            <a:off x="7257050" y="170072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9"/>
          <p:cNvSpPr txBox="1"/>
          <p:nvPr/>
        </p:nvSpPr>
        <p:spPr>
          <a:xfrm>
            <a:off x="7988525" y="22798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9"/>
          <p:cNvSpPr txBox="1"/>
          <p:nvPr/>
        </p:nvSpPr>
        <p:spPr>
          <a:xfrm>
            <a:off x="7226525" y="28132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9"/>
          <p:cNvSpPr txBox="1"/>
          <p:nvPr/>
        </p:nvSpPr>
        <p:spPr>
          <a:xfrm>
            <a:off x="6769325" y="22798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9"/>
          <p:cNvSpPr txBox="1"/>
          <p:nvPr/>
        </p:nvSpPr>
        <p:spPr>
          <a:xfrm>
            <a:off x="3136325" y="1053975"/>
            <a:ext cx="29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2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a translation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9"/>
          <p:cNvSpPr txBox="1"/>
          <p:nvPr/>
        </p:nvSpPr>
        <p:spPr>
          <a:xfrm>
            <a:off x="5989700" y="1053975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a 180° rotation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By considering the changes, decide which transformation could have taken place in each case. There might be more than one. </a:t>
            </a:r>
            <a:br>
              <a:rPr lang="en-GB"/>
            </a:b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lengths have changed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sense has changed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orientation has changed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position has changed </a:t>
            </a:r>
            <a:endParaRPr/>
          </a:p>
        </p:txBody>
      </p:sp>
      <p:sp>
        <p:nvSpPr>
          <p:cNvPr id="1133" name="Google Shape;1133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1134" name="Google Shape;1134;p90"/>
          <p:cNvSpPr txBox="1"/>
          <p:nvPr/>
        </p:nvSpPr>
        <p:spPr>
          <a:xfrm>
            <a:off x="5355275" y="2220937"/>
            <a:ext cx="378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enlargement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90"/>
          <p:cNvSpPr txBox="1"/>
          <p:nvPr/>
        </p:nvSpPr>
        <p:spPr>
          <a:xfrm>
            <a:off x="5357332" y="2700012"/>
            <a:ext cx="378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6" name="Google Shape;1136;p90"/>
          <p:cNvSpPr txBox="1"/>
          <p:nvPr/>
        </p:nvSpPr>
        <p:spPr>
          <a:xfrm>
            <a:off x="5357006" y="3240012"/>
            <a:ext cx="378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or rotation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7" name="Google Shape;1137;p90"/>
          <p:cNvSpPr txBox="1"/>
          <p:nvPr/>
        </p:nvSpPr>
        <p:spPr>
          <a:xfrm>
            <a:off x="5356793" y="3732612"/>
            <a:ext cx="378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ll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By considering the invariant properties, decide which transformation could </a:t>
            </a:r>
            <a:r>
              <a:rPr lang="en-GB">
                <a:solidFill>
                  <a:schemeClr val="accent4"/>
                </a:solidFill>
              </a:rPr>
              <a:t>not</a:t>
            </a:r>
            <a:r>
              <a:rPr lang="en-GB"/>
              <a:t> have taken place in each case. There might be more than one.</a:t>
            </a:r>
            <a:br>
              <a:rPr lang="en-GB"/>
            </a:b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lengths are invariant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sense is invariant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the orientation is invariant</a:t>
            </a:r>
            <a:endParaRPr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t</a:t>
            </a:r>
            <a:r>
              <a:rPr lang="en-GB"/>
              <a:t>he angles are invariant </a:t>
            </a:r>
            <a:endParaRPr/>
          </a:p>
        </p:txBody>
      </p:sp>
      <p:sp>
        <p:nvSpPr>
          <p:cNvPr id="1143" name="Google Shape;1143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1144" name="Google Shape;1144;p91"/>
          <p:cNvSpPr txBox="1"/>
          <p:nvPr/>
        </p:nvSpPr>
        <p:spPr>
          <a:xfrm>
            <a:off x="5050475" y="2220925"/>
            <a:ext cx="373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enlargement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5" name="Google Shape;1145;p91"/>
          <p:cNvSpPr txBox="1"/>
          <p:nvPr/>
        </p:nvSpPr>
        <p:spPr>
          <a:xfrm>
            <a:off x="5060003" y="2708992"/>
            <a:ext cx="373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 reflection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91"/>
          <p:cNvSpPr txBox="1"/>
          <p:nvPr/>
        </p:nvSpPr>
        <p:spPr>
          <a:xfrm>
            <a:off x="5082497" y="3229385"/>
            <a:ext cx="373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neither 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eflection nor rotation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91"/>
          <p:cNvSpPr txBox="1"/>
          <p:nvPr/>
        </p:nvSpPr>
        <p:spPr>
          <a:xfrm>
            <a:off x="5082274" y="3729621"/>
            <a:ext cx="373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(since all 4 transformations you are familiar with have invariant angles!)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2" name="Google Shape;115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875" y="829400"/>
            <a:ext cx="6189199" cy="2904197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92"/>
          <p:cNvSpPr txBox="1"/>
          <p:nvPr/>
        </p:nvSpPr>
        <p:spPr>
          <a:xfrm>
            <a:off x="144975" y="773525"/>
            <a:ext cx="231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rabi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Identify the type of transformation that has taken place to create the new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92"/>
          <p:cNvSpPr txBox="1"/>
          <p:nvPr/>
        </p:nvSpPr>
        <p:spPr>
          <a:xfrm>
            <a:off x="2770500" y="84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92"/>
          <p:cNvSpPr txBox="1"/>
          <p:nvPr/>
        </p:nvSpPr>
        <p:spPr>
          <a:xfrm>
            <a:off x="4731725" y="84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92"/>
          <p:cNvSpPr txBox="1"/>
          <p:nvPr/>
        </p:nvSpPr>
        <p:spPr>
          <a:xfrm>
            <a:off x="6430550" y="84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2"/>
          <p:cNvSpPr txBox="1"/>
          <p:nvPr/>
        </p:nvSpPr>
        <p:spPr>
          <a:xfrm>
            <a:off x="2770500" y="192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2"/>
          <p:cNvSpPr txBox="1"/>
          <p:nvPr/>
        </p:nvSpPr>
        <p:spPr>
          <a:xfrm>
            <a:off x="4465500" y="192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2"/>
          <p:cNvSpPr txBox="1"/>
          <p:nvPr/>
        </p:nvSpPr>
        <p:spPr>
          <a:xfrm>
            <a:off x="5708550" y="1929150"/>
            <a:ext cx="4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92"/>
          <p:cNvSpPr txBox="1"/>
          <p:nvPr/>
        </p:nvSpPr>
        <p:spPr>
          <a:xfrm>
            <a:off x="3141000" y="1549175"/>
            <a:ext cx="123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92"/>
          <p:cNvSpPr txBox="1"/>
          <p:nvPr/>
        </p:nvSpPr>
        <p:spPr>
          <a:xfrm>
            <a:off x="2922200" y="3464550"/>
            <a:ext cx="123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3" name="Google Shape;1163;p92"/>
          <p:cNvSpPr txBox="1"/>
          <p:nvPr/>
        </p:nvSpPr>
        <p:spPr>
          <a:xfrm>
            <a:off x="4677525" y="3533700"/>
            <a:ext cx="123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92"/>
          <p:cNvSpPr txBox="1"/>
          <p:nvPr/>
        </p:nvSpPr>
        <p:spPr>
          <a:xfrm>
            <a:off x="7043550" y="1488925"/>
            <a:ext cx="123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rotation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5" name="Google Shape;1165;p92"/>
          <p:cNvSpPr txBox="1"/>
          <p:nvPr/>
        </p:nvSpPr>
        <p:spPr>
          <a:xfrm>
            <a:off x="6310925" y="3464550"/>
            <a:ext cx="123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rotation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92"/>
          <p:cNvSpPr txBox="1"/>
          <p:nvPr/>
        </p:nvSpPr>
        <p:spPr>
          <a:xfrm>
            <a:off x="5166725" y="1488925"/>
            <a:ext cx="123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rotation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93"/>
          <p:cNvSpPr txBox="1"/>
          <p:nvPr/>
        </p:nvSpPr>
        <p:spPr>
          <a:xfrm>
            <a:off x="152600" y="694500"/>
            <a:ext cx="85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rabicParenR" startAt="4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the image vertices labels.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73" name="Google Shape;1173;p93"/>
          <p:cNvPicPr preferRelativeResize="0"/>
          <p:nvPr/>
        </p:nvPicPr>
        <p:blipFill rotWithShape="1">
          <a:blip r:embed="rId3">
            <a:alphaModFix/>
          </a:blip>
          <a:srcRect b="18618" l="8914" r="15789" t="15077"/>
          <a:stretch/>
        </p:blipFill>
        <p:spPr>
          <a:xfrm rot="5400000">
            <a:off x="692138" y="2417038"/>
            <a:ext cx="2870651" cy="143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93"/>
          <p:cNvSpPr txBox="1"/>
          <p:nvPr/>
        </p:nvSpPr>
        <p:spPr>
          <a:xfrm>
            <a:off x="1831650" y="159462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93"/>
          <p:cNvSpPr txBox="1"/>
          <p:nvPr/>
        </p:nvSpPr>
        <p:spPr>
          <a:xfrm>
            <a:off x="2563125" y="21737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93"/>
          <p:cNvSpPr txBox="1"/>
          <p:nvPr/>
        </p:nvSpPr>
        <p:spPr>
          <a:xfrm>
            <a:off x="1801125" y="27071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3"/>
          <p:cNvSpPr txBox="1"/>
          <p:nvPr/>
        </p:nvSpPr>
        <p:spPr>
          <a:xfrm>
            <a:off x="1343925" y="21737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93"/>
          <p:cNvSpPr txBox="1"/>
          <p:nvPr/>
        </p:nvSpPr>
        <p:spPr>
          <a:xfrm>
            <a:off x="428400" y="1053975"/>
            <a:ext cx="2458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a vertical reflection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9" name="Google Shape;1179;p93"/>
          <p:cNvPicPr preferRelativeResize="0"/>
          <p:nvPr/>
        </p:nvPicPr>
        <p:blipFill rotWithShape="1">
          <a:blip r:embed="rId3">
            <a:alphaModFix/>
          </a:blip>
          <a:srcRect b="18618" l="8914" r="15789" t="15077"/>
          <a:stretch/>
        </p:blipFill>
        <p:spPr>
          <a:xfrm rot="5400000">
            <a:off x="3481175" y="2470088"/>
            <a:ext cx="2870651" cy="143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3"/>
          <p:cNvSpPr txBox="1"/>
          <p:nvPr/>
        </p:nvSpPr>
        <p:spPr>
          <a:xfrm>
            <a:off x="4620688" y="164767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3"/>
          <p:cNvSpPr txBox="1"/>
          <p:nvPr/>
        </p:nvSpPr>
        <p:spPr>
          <a:xfrm>
            <a:off x="5352162" y="222675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93"/>
          <p:cNvSpPr txBox="1"/>
          <p:nvPr/>
        </p:nvSpPr>
        <p:spPr>
          <a:xfrm>
            <a:off x="4590162" y="276015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93"/>
          <p:cNvSpPr txBox="1"/>
          <p:nvPr/>
        </p:nvSpPr>
        <p:spPr>
          <a:xfrm>
            <a:off x="4132962" y="222675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4" name="Google Shape;1184;p93"/>
          <p:cNvPicPr preferRelativeResize="0"/>
          <p:nvPr/>
        </p:nvPicPr>
        <p:blipFill rotWithShape="1">
          <a:blip r:embed="rId3">
            <a:alphaModFix/>
          </a:blip>
          <a:srcRect b="18618" l="8914" r="15789" t="15077"/>
          <a:stretch/>
        </p:blipFill>
        <p:spPr>
          <a:xfrm rot="5400000">
            <a:off x="6117538" y="2523138"/>
            <a:ext cx="2870651" cy="143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93"/>
          <p:cNvSpPr txBox="1"/>
          <p:nvPr/>
        </p:nvSpPr>
        <p:spPr>
          <a:xfrm>
            <a:off x="7257050" y="1700725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93"/>
          <p:cNvSpPr txBox="1"/>
          <p:nvPr/>
        </p:nvSpPr>
        <p:spPr>
          <a:xfrm>
            <a:off x="7988525" y="22798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93"/>
          <p:cNvSpPr txBox="1"/>
          <p:nvPr/>
        </p:nvSpPr>
        <p:spPr>
          <a:xfrm>
            <a:off x="7226525" y="28132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3"/>
          <p:cNvSpPr txBox="1"/>
          <p:nvPr/>
        </p:nvSpPr>
        <p:spPr>
          <a:xfrm>
            <a:off x="6769325" y="2279800"/>
            <a:ext cx="3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93"/>
          <p:cNvSpPr txBox="1"/>
          <p:nvPr/>
        </p:nvSpPr>
        <p:spPr>
          <a:xfrm>
            <a:off x="3136325" y="1053975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2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a translation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93"/>
          <p:cNvSpPr txBox="1"/>
          <p:nvPr/>
        </p:nvSpPr>
        <p:spPr>
          <a:xfrm flipH="1">
            <a:off x="1953525" y="4240125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93"/>
          <p:cNvSpPr txBox="1"/>
          <p:nvPr/>
        </p:nvSpPr>
        <p:spPr>
          <a:xfrm>
            <a:off x="5989700" y="1053975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a 180° rotation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3"/>
          <p:cNvSpPr txBox="1"/>
          <p:nvPr/>
        </p:nvSpPr>
        <p:spPr>
          <a:xfrm flipH="1">
            <a:off x="1343925" y="3600000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3" name="Google Shape;1193;p93"/>
          <p:cNvSpPr txBox="1"/>
          <p:nvPr/>
        </p:nvSpPr>
        <p:spPr>
          <a:xfrm flipH="1">
            <a:off x="2586881" y="3601856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4" name="Google Shape;1194;p93"/>
          <p:cNvSpPr txBox="1"/>
          <p:nvPr/>
        </p:nvSpPr>
        <p:spPr>
          <a:xfrm flipH="1">
            <a:off x="1861955" y="3044744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5" name="Google Shape;1195;p93"/>
          <p:cNvSpPr txBox="1"/>
          <p:nvPr/>
        </p:nvSpPr>
        <p:spPr>
          <a:xfrm flipH="1">
            <a:off x="4132950" y="3624750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6" name="Google Shape;1196;p93"/>
          <p:cNvSpPr txBox="1"/>
          <p:nvPr/>
        </p:nvSpPr>
        <p:spPr>
          <a:xfrm flipH="1">
            <a:off x="8023500" y="3723725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7" name="Google Shape;1197;p93"/>
          <p:cNvSpPr txBox="1"/>
          <p:nvPr/>
        </p:nvSpPr>
        <p:spPr>
          <a:xfrm flipH="1">
            <a:off x="4683705" y="4278294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8" name="Google Shape;1198;p93"/>
          <p:cNvSpPr txBox="1"/>
          <p:nvPr/>
        </p:nvSpPr>
        <p:spPr>
          <a:xfrm flipH="1">
            <a:off x="7257055" y="3168794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9" name="Google Shape;1199;p93"/>
          <p:cNvSpPr txBox="1"/>
          <p:nvPr/>
        </p:nvSpPr>
        <p:spPr>
          <a:xfrm flipH="1">
            <a:off x="5352144" y="3649706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93"/>
          <p:cNvSpPr txBox="1"/>
          <p:nvPr/>
        </p:nvSpPr>
        <p:spPr>
          <a:xfrm flipH="1">
            <a:off x="6760919" y="3723731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93"/>
          <p:cNvSpPr txBox="1"/>
          <p:nvPr/>
        </p:nvSpPr>
        <p:spPr>
          <a:xfrm flipH="1">
            <a:off x="4683700" y="3044750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2" name="Google Shape;1202;p93"/>
          <p:cNvSpPr txBox="1"/>
          <p:nvPr/>
        </p:nvSpPr>
        <p:spPr>
          <a:xfrm flipH="1">
            <a:off x="7320050" y="4320000"/>
            <a:ext cx="465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4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transformation?</a:t>
            </a:r>
            <a:endParaRPr/>
          </a:p>
        </p:txBody>
      </p:sp>
      <p:sp>
        <p:nvSpPr>
          <p:cNvPr id="1208" name="Google Shape;1208;p94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209" name="Google Shape;1209;p94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Transformed objects</a:t>
            </a:r>
            <a:endParaRPr/>
          </a:p>
        </p:txBody>
      </p:sp>
      <p:pic>
        <p:nvPicPr>
          <p:cNvPr id="1210" name="Google Shape;121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843" y="299143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pic>
        <p:nvPicPr>
          <p:cNvPr id="1216" name="Google Shape;121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50" y="1094288"/>
            <a:ext cx="2563200" cy="32114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7" name="Google Shape;1217;p95"/>
          <p:cNvGrpSpPr/>
          <p:nvPr/>
        </p:nvGrpSpPr>
        <p:grpSpPr>
          <a:xfrm>
            <a:off x="3686951" y="758588"/>
            <a:ext cx="5139702" cy="3517644"/>
            <a:chOff x="3686950" y="674550"/>
            <a:chExt cx="5139702" cy="3601561"/>
          </a:xfrm>
        </p:grpSpPr>
        <p:pic>
          <p:nvPicPr>
            <p:cNvPr id="1218" name="Google Shape;1218;p95"/>
            <p:cNvPicPr preferRelativeResize="0"/>
            <p:nvPr/>
          </p:nvPicPr>
          <p:blipFill rotWithShape="1">
            <a:blip r:embed="rId4">
              <a:alphaModFix/>
            </a:blip>
            <a:srcRect b="7937" l="40627" r="-77" t="11475"/>
            <a:stretch/>
          </p:blipFill>
          <p:spPr>
            <a:xfrm>
              <a:off x="3686950" y="674550"/>
              <a:ext cx="5139702" cy="1817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9" name="Google Shape;1219;p9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93181" y="2458844"/>
              <a:ext cx="503119" cy="18172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0" name="Google Shape;1220;p95"/>
          <p:cNvSpPr txBox="1"/>
          <p:nvPr/>
        </p:nvSpPr>
        <p:spPr>
          <a:xfrm>
            <a:off x="4019200" y="810000"/>
            <a:ext cx="4886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sense has changed,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position has changed,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orientation has changed,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lengths and angles are invariant.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1" name="Google Shape;1221;p95"/>
          <p:cNvGrpSpPr/>
          <p:nvPr/>
        </p:nvGrpSpPr>
        <p:grpSpPr>
          <a:xfrm>
            <a:off x="5289730" y="2244175"/>
            <a:ext cx="2839907" cy="2536696"/>
            <a:chOff x="5289730" y="2244175"/>
            <a:chExt cx="2839907" cy="2536696"/>
          </a:xfrm>
        </p:grpSpPr>
        <p:pic>
          <p:nvPicPr>
            <p:cNvPr id="1222" name="Google Shape;1222;p9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88773" y="3308701"/>
              <a:ext cx="1340864" cy="14721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3" name="Google Shape;1223;p95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5289730" y="2244175"/>
              <a:ext cx="2563200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95"/>
            <p:cNvSpPr txBox="1"/>
            <p:nvPr/>
          </p:nvSpPr>
          <p:spPr>
            <a:xfrm>
              <a:off x="5510025" y="2468650"/>
              <a:ext cx="2301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It must be a reflection.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25" name="Google Shape;1225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624" y="1080000"/>
            <a:ext cx="2929311" cy="32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231" name="Google Shape;1231;p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Knowing the properties have changed or are invariant only gives you an indication of the type of transformation that </a:t>
            </a:r>
            <a:r>
              <a:rPr lang="en-GB">
                <a:solidFill>
                  <a:schemeClr val="accent5"/>
                </a:solidFill>
              </a:rPr>
              <a:t>might</a:t>
            </a:r>
            <a:r>
              <a:rPr lang="en-GB"/>
              <a:t> have taken place.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position of the image is important too.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pic>
        <p:nvPicPr>
          <p:cNvPr id="1237" name="Google Shape;123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150" y="1167325"/>
            <a:ext cx="2686450" cy="29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8" name="Google Shape;1238;p97"/>
          <p:cNvPicPr preferRelativeResize="0"/>
          <p:nvPr/>
        </p:nvPicPr>
        <p:blipFill rotWithShape="1">
          <a:blip r:embed="rId4">
            <a:alphaModFix/>
          </a:blip>
          <a:srcRect b="9041" l="0" r="0" t="0"/>
          <a:stretch/>
        </p:blipFill>
        <p:spPr>
          <a:xfrm>
            <a:off x="5629475" y="1035100"/>
            <a:ext cx="2911399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97"/>
          <p:cNvSpPr txBox="1"/>
          <p:nvPr/>
        </p:nvSpPr>
        <p:spPr>
          <a:xfrm>
            <a:off x="242075" y="622275"/>
            <a:ext cx="477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Enlargement from a set point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97"/>
          <p:cNvSpPr txBox="1"/>
          <p:nvPr/>
        </p:nvSpPr>
        <p:spPr>
          <a:xfrm>
            <a:off x="242075" y="1167325"/>
            <a:ext cx="4778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Invariant properties: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ngles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ense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rientation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Changed properties: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osition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7"/>
          <p:cNvSpPr txBox="1"/>
          <p:nvPr/>
        </p:nvSpPr>
        <p:spPr>
          <a:xfrm>
            <a:off x="3549282" y="2159969"/>
            <a:ext cx="10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7"/>
          <p:cNvSpPr txBox="1"/>
          <p:nvPr/>
        </p:nvSpPr>
        <p:spPr>
          <a:xfrm>
            <a:off x="6521082" y="2159969"/>
            <a:ext cx="10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7"/>
          <p:cNvSpPr txBox="1"/>
          <p:nvPr/>
        </p:nvSpPr>
        <p:spPr>
          <a:xfrm>
            <a:off x="6681113" y="3683969"/>
            <a:ext cx="10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7"/>
          <p:cNvSpPr txBox="1"/>
          <p:nvPr/>
        </p:nvSpPr>
        <p:spPr>
          <a:xfrm>
            <a:off x="3716944" y="3294557"/>
            <a:ext cx="10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250" name="Google Shape;1250;p98"/>
          <p:cNvSpPr txBox="1"/>
          <p:nvPr/>
        </p:nvSpPr>
        <p:spPr>
          <a:xfrm>
            <a:off x="4481100" y="886075"/>
            <a:ext cx="4338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orientation, position and sense have changed. It is a reflection.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8"/>
          <p:cNvSpPr txBox="1"/>
          <p:nvPr/>
        </p:nvSpPr>
        <p:spPr>
          <a:xfrm>
            <a:off x="4481100" y="2507125"/>
            <a:ext cx="4338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object has been reflected in the </a:t>
            </a:r>
            <a:r>
              <a:rPr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-axis.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2" name="Google Shape;1252;p98"/>
          <p:cNvPicPr preferRelativeResize="0"/>
          <p:nvPr/>
        </p:nvPicPr>
        <p:blipFill rotWithShape="1">
          <a:blip r:embed="rId3">
            <a:alphaModFix/>
          </a:blip>
          <a:srcRect b="0" l="55148" r="0" t="0"/>
          <a:stretch/>
        </p:blipFill>
        <p:spPr>
          <a:xfrm>
            <a:off x="936524" y="886075"/>
            <a:ext cx="3085225" cy="391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53" name="Google Shape;1253;p98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149" y="2987644"/>
            <a:ext cx="170200" cy="1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259" name="Google Shape;1259;p99"/>
          <p:cNvSpPr txBox="1"/>
          <p:nvPr/>
        </p:nvSpPr>
        <p:spPr>
          <a:xfrm>
            <a:off x="4481100" y="886075"/>
            <a:ext cx="433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position and lengths have changed. It has been enlarged.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9"/>
          <p:cNvSpPr txBox="1"/>
          <p:nvPr/>
        </p:nvSpPr>
        <p:spPr>
          <a:xfrm>
            <a:off x="4481100" y="2508300"/>
            <a:ext cx="433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object has been enlarged by a scale factor of 2 from the origin.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1" name="Google Shape;1261;p99"/>
          <p:cNvPicPr preferRelativeResize="0"/>
          <p:nvPr/>
        </p:nvPicPr>
        <p:blipFill rotWithShape="1">
          <a:blip r:embed="rId3">
            <a:alphaModFix/>
          </a:blip>
          <a:srcRect b="0" l="43429" r="0" t="0"/>
          <a:stretch/>
        </p:blipFill>
        <p:spPr>
          <a:xfrm>
            <a:off x="324000" y="810000"/>
            <a:ext cx="3938376" cy="396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99"/>
          <p:cNvPicPr preferRelativeResize="0"/>
          <p:nvPr/>
        </p:nvPicPr>
        <p:blipFill rotWithShape="1">
          <a:blip r:embed="rId4">
            <a:alphaModFix/>
          </a:blip>
          <a:srcRect b="0" l="43406" r="0" t="0"/>
          <a:stretch/>
        </p:blipFill>
        <p:spPr>
          <a:xfrm>
            <a:off x="331400" y="818300"/>
            <a:ext cx="3938376" cy="395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00"/>
          <p:cNvSpPr txBox="1"/>
          <p:nvPr>
            <p:ph idx="1" type="subTitle"/>
          </p:nvPr>
        </p:nvSpPr>
        <p:spPr>
          <a:xfrm>
            <a:off x="8820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Centre of rotation and direction of turn</a:t>
            </a:r>
            <a:endParaRPr/>
          </a:p>
        </p:txBody>
      </p:sp>
      <p:sp>
        <p:nvSpPr>
          <p:cNvPr id="1268" name="Google Shape;1268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269" name="Google Shape;1269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information do you require in the description of a rotation?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00"/>
          <p:cNvSpPr txBox="1"/>
          <p:nvPr>
            <p:ph idx="3" type="subTitle"/>
          </p:nvPr>
        </p:nvSpPr>
        <p:spPr>
          <a:xfrm>
            <a:off x="8820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Centre of rotation, direction of turn and amount of turn</a:t>
            </a:r>
            <a:endParaRPr/>
          </a:p>
        </p:txBody>
      </p:sp>
      <p:sp>
        <p:nvSpPr>
          <p:cNvPr id="1271" name="Google Shape;1271;p100"/>
          <p:cNvSpPr txBox="1"/>
          <p:nvPr>
            <p:ph idx="4" type="subTitle"/>
          </p:nvPr>
        </p:nvSpPr>
        <p:spPr>
          <a:xfrm>
            <a:off x="8820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Centre of rotation and amount of turn</a:t>
            </a:r>
            <a:endParaRPr/>
          </a:p>
        </p:txBody>
      </p:sp>
      <p:pic>
        <p:nvPicPr>
          <p:cNvPr id="1272" name="Google Shape;127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833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01"/>
          <p:cNvSpPr txBox="1"/>
          <p:nvPr/>
        </p:nvSpPr>
        <p:spPr>
          <a:xfrm>
            <a:off x="236875" y="744000"/>
            <a:ext cx="715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rabi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Complete the descriptions.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8" name="Google Shape;1278;p101"/>
          <p:cNvPicPr preferRelativeResize="0"/>
          <p:nvPr/>
        </p:nvPicPr>
        <p:blipFill rotWithShape="1">
          <a:blip r:embed="rId3">
            <a:alphaModFix/>
          </a:blip>
          <a:srcRect b="0" l="36700" r="0" t="0"/>
          <a:stretch/>
        </p:blipFill>
        <p:spPr>
          <a:xfrm>
            <a:off x="4591971" y="744000"/>
            <a:ext cx="3983099" cy="357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280" name="Google Shape;1280;p101"/>
          <p:cNvSpPr txBox="1"/>
          <p:nvPr/>
        </p:nvSpPr>
        <p:spPr>
          <a:xfrm>
            <a:off x="5684775" y="97680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101"/>
          <p:cNvSpPr txBox="1"/>
          <p:nvPr/>
        </p:nvSpPr>
        <p:spPr>
          <a:xfrm>
            <a:off x="5271118" y="1174881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01"/>
          <p:cNvSpPr txBox="1"/>
          <p:nvPr/>
        </p:nvSpPr>
        <p:spPr>
          <a:xfrm>
            <a:off x="4869356" y="1605933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101"/>
          <p:cNvSpPr txBox="1"/>
          <p:nvPr/>
        </p:nvSpPr>
        <p:spPr>
          <a:xfrm>
            <a:off x="5464371" y="2226418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101"/>
          <p:cNvSpPr txBox="1"/>
          <p:nvPr/>
        </p:nvSpPr>
        <p:spPr>
          <a:xfrm>
            <a:off x="6310203" y="1822525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101"/>
          <p:cNvSpPr txBox="1"/>
          <p:nvPr/>
        </p:nvSpPr>
        <p:spPr>
          <a:xfrm>
            <a:off x="7026528" y="1136725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101"/>
          <p:cNvSpPr txBox="1"/>
          <p:nvPr/>
        </p:nvSpPr>
        <p:spPr>
          <a:xfrm>
            <a:off x="7758116" y="2020599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101"/>
          <p:cNvSpPr txBox="1"/>
          <p:nvPr/>
        </p:nvSpPr>
        <p:spPr>
          <a:xfrm>
            <a:off x="4953978" y="3567493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/>
        </p:nvSpPr>
        <p:spPr>
          <a:xfrm>
            <a:off x="5274154" y="285868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01"/>
          <p:cNvSpPr txBox="1"/>
          <p:nvPr/>
        </p:nvSpPr>
        <p:spPr>
          <a:xfrm>
            <a:off x="6516248" y="285868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101"/>
          <p:cNvSpPr txBox="1"/>
          <p:nvPr/>
        </p:nvSpPr>
        <p:spPr>
          <a:xfrm>
            <a:off x="7034385" y="3582530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K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1"/>
          <p:cNvSpPr txBox="1"/>
          <p:nvPr/>
        </p:nvSpPr>
        <p:spPr>
          <a:xfrm>
            <a:off x="398550" y="1291650"/>
            <a:ext cx="39831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Shape A has been reflected  in a diagonal line passing through (-3, 3) and (1, -1) onto shape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been reflected in the y-axis onto shape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translated by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onto shape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-2\\&amp;#13;&amp;#10;-6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o&gt;−&lt;/mo&gt;&lt;mn&gt;6&lt;/mn&gt;&lt;/mtd&gt;&lt;/mtr&gt;&lt;/mtable&gt;&lt;mo data-mjx-texclass=&quot;CLOSE&quot;&gt;)&lt;/mo&gt;&lt;/mrow&gt;&lt;/math&gt;" id="1292" name="Google Shape;1292;p101" title="the 2 by 1 column matrix negative 2 negative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8449" y="4014501"/>
            <a:ext cx="634850" cy="5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02"/>
          <p:cNvSpPr txBox="1"/>
          <p:nvPr/>
        </p:nvSpPr>
        <p:spPr>
          <a:xfrm>
            <a:off x="236875" y="744000"/>
            <a:ext cx="715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rabi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Complete the descriptions.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299" name="Google Shape;1299;p102"/>
          <p:cNvSpPr txBox="1"/>
          <p:nvPr/>
        </p:nvSpPr>
        <p:spPr>
          <a:xfrm>
            <a:off x="398550" y="1291650"/>
            <a:ext cx="3983100" cy="30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Lexend"/>
              <a:buAutoNum type="alphaLcParenR" startAt="4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been enlarged by scale factor 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from (-2, -1) onto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shape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800"/>
              <a:buFont typeface="Lexend"/>
              <a:buAutoNum type="alphaLcParenR" startAt="4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translated by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__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 shape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Lexend"/>
              <a:buAutoNum type="alphaLcParenR" startAt="4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been rotated 180° about the origin onto shape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0" name="Google Shape;1300;p102"/>
          <p:cNvPicPr preferRelativeResize="0"/>
          <p:nvPr/>
        </p:nvPicPr>
        <p:blipFill rotWithShape="1">
          <a:blip r:embed="rId3">
            <a:alphaModFix/>
          </a:blip>
          <a:srcRect b="0" l="36700" r="0" t="0"/>
          <a:stretch/>
        </p:blipFill>
        <p:spPr>
          <a:xfrm>
            <a:off x="4515771" y="744000"/>
            <a:ext cx="3983099" cy="357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102"/>
          <p:cNvSpPr txBox="1"/>
          <p:nvPr/>
        </p:nvSpPr>
        <p:spPr>
          <a:xfrm>
            <a:off x="5608575" y="97680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102"/>
          <p:cNvSpPr txBox="1"/>
          <p:nvPr/>
        </p:nvSpPr>
        <p:spPr>
          <a:xfrm>
            <a:off x="5194918" y="1174881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102"/>
          <p:cNvSpPr txBox="1"/>
          <p:nvPr/>
        </p:nvSpPr>
        <p:spPr>
          <a:xfrm>
            <a:off x="4793156" y="1605933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102"/>
          <p:cNvSpPr txBox="1"/>
          <p:nvPr/>
        </p:nvSpPr>
        <p:spPr>
          <a:xfrm>
            <a:off x="5388171" y="2226418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102"/>
          <p:cNvSpPr txBox="1"/>
          <p:nvPr/>
        </p:nvSpPr>
        <p:spPr>
          <a:xfrm>
            <a:off x="6234003" y="1822525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102"/>
          <p:cNvSpPr txBox="1"/>
          <p:nvPr/>
        </p:nvSpPr>
        <p:spPr>
          <a:xfrm>
            <a:off x="6950328" y="1136725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/>
        </p:nvSpPr>
        <p:spPr>
          <a:xfrm>
            <a:off x="7681916" y="2020599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102"/>
          <p:cNvSpPr txBox="1"/>
          <p:nvPr/>
        </p:nvSpPr>
        <p:spPr>
          <a:xfrm>
            <a:off x="4877778" y="3567493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102"/>
          <p:cNvSpPr txBox="1"/>
          <p:nvPr/>
        </p:nvSpPr>
        <p:spPr>
          <a:xfrm>
            <a:off x="5197954" y="285868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2"/>
          <p:cNvSpPr txBox="1"/>
          <p:nvPr/>
        </p:nvSpPr>
        <p:spPr>
          <a:xfrm>
            <a:off x="6440048" y="285868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2"/>
          <p:cNvSpPr txBox="1"/>
          <p:nvPr/>
        </p:nvSpPr>
        <p:spPr>
          <a:xfrm>
            <a:off x="6958185" y="3582530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K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0\\&amp;#13;&amp;#10;?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?&lt;/mo&gt;&lt;/mtd&gt;&lt;/mtr&gt;&lt;/mtable&gt;&lt;mo data-mjx-texclass=&quot;CLOSE&quot;&gt;)&lt;/mo&gt;&lt;/mrow&gt;&lt;/math&gt;" id="1312" name="Google Shape;1312;p102" title="the 2 by 1 column matrix Row 1: 0 Row 2: question mar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800" y="2863837"/>
            <a:ext cx="312900" cy="39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p103"/>
          <p:cNvGrpSpPr/>
          <p:nvPr/>
        </p:nvGrpSpPr>
        <p:grpSpPr>
          <a:xfrm>
            <a:off x="724950" y="2515701"/>
            <a:ext cx="7694080" cy="1884850"/>
            <a:chOff x="724950" y="686901"/>
            <a:chExt cx="7694080" cy="1884850"/>
          </a:xfrm>
        </p:grpSpPr>
        <p:pic>
          <p:nvPicPr>
            <p:cNvPr id="1318" name="Google Shape;1318;p103"/>
            <p:cNvPicPr preferRelativeResize="0"/>
            <p:nvPr/>
          </p:nvPicPr>
          <p:blipFill rotWithShape="1">
            <a:blip r:embed="rId3">
              <a:alphaModFix/>
            </a:blip>
            <a:srcRect b="53216" l="0" r="43159" t="0"/>
            <a:stretch/>
          </p:blipFill>
          <p:spPr>
            <a:xfrm>
              <a:off x="724950" y="705800"/>
              <a:ext cx="3968302" cy="1865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9" name="Google Shape;1319;p103"/>
            <p:cNvPicPr preferRelativeResize="0"/>
            <p:nvPr/>
          </p:nvPicPr>
          <p:blipFill rotWithShape="1">
            <a:blip r:embed="rId3">
              <a:alphaModFix/>
            </a:blip>
            <a:srcRect b="6084" l="26781" r="43472" t="46747"/>
            <a:stretch/>
          </p:blipFill>
          <p:spPr>
            <a:xfrm>
              <a:off x="4465013" y="690520"/>
              <a:ext cx="2076723" cy="188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0" name="Google Shape;1320;p103"/>
            <p:cNvPicPr preferRelativeResize="0"/>
            <p:nvPr/>
          </p:nvPicPr>
          <p:blipFill rotWithShape="1">
            <a:blip r:embed="rId3">
              <a:alphaModFix/>
            </a:blip>
            <a:srcRect b="6084" l="26781" r="43472" t="46747"/>
            <a:stretch/>
          </p:blipFill>
          <p:spPr>
            <a:xfrm>
              <a:off x="6342307" y="686901"/>
              <a:ext cx="2076723" cy="1881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1" name="Google Shape;1321;p103"/>
          <p:cNvSpPr txBox="1"/>
          <p:nvPr/>
        </p:nvSpPr>
        <p:spPr>
          <a:xfrm>
            <a:off x="465475" y="744000"/>
            <a:ext cx="71583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rabicParenR" startAt="2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different transformations have taken place to create an image, which combined with the object forms a square.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900"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are they? Describe each fully.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04"/>
          <p:cNvSpPr txBox="1"/>
          <p:nvPr/>
        </p:nvSpPr>
        <p:spPr>
          <a:xfrm>
            <a:off x="236875" y="744000"/>
            <a:ext cx="715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rabi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Complete the descriptions.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329" name="Google Shape;1329;p104"/>
          <p:cNvSpPr txBox="1"/>
          <p:nvPr/>
        </p:nvSpPr>
        <p:spPr>
          <a:xfrm>
            <a:off x="398550" y="1291650"/>
            <a:ext cx="39831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A has been reflected  in a diagonal line passing through (-3, 3) and (1, -1) onto shape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been reflected in the y-axis onto shape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translated by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onto shape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0" name="Google Shape;1330;p104"/>
          <p:cNvPicPr preferRelativeResize="0"/>
          <p:nvPr/>
        </p:nvPicPr>
        <p:blipFill rotWithShape="1">
          <a:blip r:embed="rId3">
            <a:alphaModFix/>
          </a:blip>
          <a:srcRect b="0" l="36700" r="0" t="0"/>
          <a:stretch/>
        </p:blipFill>
        <p:spPr>
          <a:xfrm>
            <a:off x="4515771" y="744000"/>
            <a:ext cx="3983099" cy="357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104"/>
          <p:cNvSpPr txBox="1"/>
          <p:nvPr/>
        </p:nvSpPr>
        <p:spPr>
          <a:xfrm>
            <a:off x="5608575" y="97680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104"/>
          <p:cNvSpPr txBox="1"/>
          <p:nvPr/>
        </p:nvSpPr>
        <p:spPr>
          <a:xfrm>
            <a:off x="5194918" y="1174881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4"/>
          <p:cNvSpPr txBox="1"/>
          <p:nvPr/>
        </p:nvSpPr>
        <p:spPr>
          <a:xfrm>
            <a:off x="4793156" y="1605933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104"/>
          <p:cNvSpPr txBox="1"/>
          <p:nvPr/>
        </p:nvSpPr>
        <p:spPr>
          <a:xfrm>
            <a:off x="5388171" y="2226418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104"/>
          <p:cNvSpPr txBox="1"/>
          <p:nvPr/>
        </p:nvSpPr>
        <p:spPr>
          <a:xfrm>
            <a:off x="6234003" y="1822525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104"/>
          <p:cNvSpPr txBox="1"/>
          <p:nvPr/>
        </p:nvSpPr>
        <p:spPr>
          <a:xfrm>
            <a:off x="6950328" y="1136725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4"/>
          <p:cNvSpPr txBox="1"/>
          <p:nvPr/>
        </p:nvSpPr>
        <p:spPr>
          <a:xfrm>
            <a:off x="7681916" y="2020599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104"/>
          <p:cNvSpPr txBox="1"/>
          <p:nvPr/>
        </p:nvSpPr>
        <p:spPr>
          <a:xfrm>
            <a:off x="4877778" y="3567493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104"/>
          <p:cNvSpPr txBox="1"/>
          <p:nvPr/>
        </p:nvSpPr>
        <p:spPr>
          <a:xfrm>
            <a:off x="5197954" y="285868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104"/>
          <p:cNvSpPr txBox="1"/>
          <p:nvPr/>
        </p:nvSpPr>
        <p:spPr>
          <a:xfrm>
            <a:off x="6440048" y="285868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4"/>
          <p:cNvSpPr txBox="1"/>
          <p:nvPr/>
        </p:nvSpPr>
        <p:spPr>
          <a:xfrm>
            <a:off x="6958185" y="3582530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K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-2\\&amp;#13;&amp;#10;-6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o&gt;−&lt;/mo&gt;&lt;mn&gt;6&lt;/mn&gt;&lt;/mtd&gt;&lt;/mtr&gt;&lt;/mtable&gt;&lt;mo data-mjx-texclass=&quot;CLOSE&quot;&gt;)&lt;/mo&gt;&lt;/mrow&gt;&lt;/math&gt;" id="1342" name="Google Shape;1342;p104" title="the 2 by 1 column matrix negative 2 negative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1374" y="4125651"/>
            <a:ext cx="634850" cy="5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5"/>
          <p:cNvSpPr txBox="1"/>
          <p:nvPr/>
        </p:nvSpPr>
        <p:spPr>
          <a:xfrm>
            <a:off x="236875" y="744000"/>
            <a:ext cx="715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rabicParenR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Complete the descriptions.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349" name="Google Shape;1349;p105"/>
          <p:cNvSpPr txBox="1"/>
          <p:nvPr/>
        </p:nvSpPr>
        <p:spPr>
          <a:xfrm>
            <a:off x="398550" y="1291650"/>
            <a:ext cx="3983100" cy="3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Lexend"/>
              <a:buAutoNum type="alphaLcParenR" startAt="4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been enlarged by scale factor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from (-2, -1) onto shape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J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4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 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has translated by  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__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onto shape 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Lexend"/>
              <a:buAutoNum type="alphaLcParenR" startAt="4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been rotated 180° about the origin onto shape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0" name="Google Shape;1350;p105"/>
          <p:cNvPicPr preferRelativeResize="0"/>
          <p:nvPr/>
        </p:nvPicPr>
        <p:blipFill rotWithShape="1">
          <a:blip r:embed="rId3">
            <a:alphaModFix/>
          </a:blip>
          <a:srcRect b="0" l="36700" r="0" t="0"/>
          <a:stretch/>
        </p:blipFill>
        <p:spPr>
          <a:xfrm>
            <a:off x="4515771" y="744000"/>
            <a:ext cx="3983099" cy="357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5"/>
          <p:cNvSpPr txBox="1"/>
          <p:nvPr/>
        </p:nvSpPr>
        <p:spPr>
          <a:xfrm>
            <a:off x="5608575" y="97680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5"/>
          <p:cNvSpPr txBox="1"/>
          <p:nvPr/>
        </p:nvSpPr>
        <p:spPr>
          <a:xfrm>
            <a:off x="5194918" y="1174881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105"/>
          <p:cNvSpPr txBox="1"/>
          <p:nvPr/>
        </p:nvSpPr>
        <p:spPr>
          <a:xfrm>
            <a:off x="4793156" y="1605933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105"/>
          <p:cNvSpPr txBox="1"/>
          <p:nvPr/>
        </p:nvSpPr>
        <p:spPr>
          <a:xfrm>
            <a:off x="5388171" y="2226418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105"/>
          <p:cNvSpPr txBox="1"/>
          <p:nvPr/>
        </p:nvSpPr>
        <p:spPr>
          <a:xfrm>
            <a:off x="6234003" y="1822525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5"/>
          <p:cNvSpPr txBox="1"/>
          <p:nvPr/>
        </p:nvSpPr>
        <p:spPr>
          <a:xfrm>
            <a:off x="6950328" y="1136725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5"/>
          <p:cNvSpPr txBox="1"/>
          <p:nvPr/>
        </p:nvSpPr>
        <p:spPr>
          <a:xfrm>
            <a:off x="7681916" y="2020599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105"/>
          <p:cNvSpPr txBox="1"/>
          <p:nvPr/>
        </p:nvSpPr>
        <p:spPr>
          <a:xfrm>
            <a:off x="4877778" y="3567493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05"/>
          <p:cNvSpPr txBox="1"/>
          <p:nvPr/>
        </p:nvSpPr>
        <p:spPr>
          <a:xfrm>
            <a:off x="5197954" y="285868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105"/>
          <p:cNvSpPr txBox="1"/>
          <p:nvPr/>
        </p:nvSpPr>
        <p:spPr>
          <a:xfrm>
            <a:off x="6440048" y="2858686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5"/>
          <p:cNvSpPr txBox="1"/>
          <p:nvPr/>
        </p:nvSpPr>
        <p:spPr>
          <a:xfrm>
            <a:off x="6958185" y="3582530"/>
            <a:ext cx="31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K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0\\&amp;#13;&amp;#10;8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n&gt;8&lt;/mn&gt;&lt;/mtd&gt;&lt;/mtr&gt;&lt;/mtable&gt;&lt;mo data-mjx-texclass=&quot;CLOSE&quot;&gt;)&lt;/mo&gt;&lt;/mrow&gt;&lt;/math&gt;" id="1362" name="Google Shape;1362;p105" title="the 2 by 1 column matrix 0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50" y="2879294"/>
            <a:ext cx="312900" cy="39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7" name="Google Shape;1367;p106"/>
          <p:cNvGrpSpPr/>
          <p:nvPr/>
        </p:nvGrpSpPr>
        <p:grpSpPr>
          <a:xfrm>
            <a:off x="724950" y="2896701"/>
            <a:ext cx="7694080" cy="1884850"/>
            <a:chOff x="724950" y="686901"/>
            <a:chExt cx="7694080" cy="1884850"/>
          </a:xfrm>
        </p:grpSpPr>
        <p:pic>
          <p:nvPicPr>
            <p:cNvPr id="1368" name="Google Shape;1368;p106"/>
            <p:cNvPicPr preferRelativeResize="0"/>
            <p:nvPr/>
          </p:nvPicPr>
          <p:blipFill rotWithShape="1">
            <a:blip r:embed="rId3">
              <a:alphaModFix/>
            </a:blip>
            <a:srcRect b="53216" l="0" r="43159" t="0"/>
            <a:stretch/>
          </p:blipFill>
          <p:spPr>
            <a:xfrm>
              <a:off x="724950" y="705800"/>
              <a:ext cx="3968302" cy="1865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9" name="Google Shape;1369;p106"/>
            <p:cNvPicPr preferRelativeResize="0"/>
            <p:nvPr/>
          </p:nvPicPr>
          <p:blipFill rotWithShape="1">
            <a:blip r:embed="rId3">
              <a:alphaModFix/>
            </a:blip>
            <a:srcRect b="6084" l="26781" r="43472" t="46747"/>
            <a:stretch/>
          </p:blipFill>
          <p:spPr>
            <a:xfrm>
              <a:off x="4465013" y="690520"/>
              <a:ext cx="2076723" cy="188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0" name="Google Shape;1370;p106"/>
            <p:cNvPicPr preferRelativeResize="0"/>
            <p:nvPr/>
          </p:nvPicPr>
          <p:blipFill rotWithShape="1">
            <a:blip r:embed="rId3">
              <a:alphaModFix/>
            </a:blip>
            <a:srcRect b="6084" l="26781" r="43472" t="46747"/>
            <a:stretch/>
          </p:blipFill>
          <p:spPr>
            <a:xfrm>
              <a:off x="6342307" y="686901"/>
              <a:ext cx="2076723" cy="1881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1" name="Google Shape;1371;p106"/>
          <p:cNvSpPr txBox="1"/>
          <p:nvPr/>
        </p:nvSpPr>
        <p:spPr>
          <a:xfrm>
            <a:off x="465475" y="744000"/>
            <a:ext cx="7158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"/>
              <a:buAutoNum type="arabicParenR" startAt="2"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Three different transformations have taken place to create the image, which combined makes a square.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300">
                <a:latin typeface="Lexend"/>
                <a:ea typeface="Lexend"/>
                <a:cs typeface="Lexend"/>
                <a:sym typeface="Lexend"/>
              </a:rPr>
            </a:b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are they?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and describing transformations</a:t>
            </a:r>
            <a:endParaRPr/>
          </a:p>
        </p:txBody>
      </p:sp>
      <p:sp>
        <p:nvSpPr>
          <p:cNvPr id="1373" name="Google Shape;1373;p106"/>
          <p:cNvSpPr txBox="1"/>
          <p:nvPr/>
        </p:nvSpPr>
        <p:spPr>
          <a:xfrm>
            <a:off x="951075" y="1790225"/>
            <a:ext cx="41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1)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Translate by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2\\&amp;#13;&amp;#10;0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0&lt;/mn&gt;&lt;/mtd&gt;&lt;/mtr&gt;&lt;/mtable&gt;&lt;mo data-mjx-texclass=&quot;CLOSE&quot;&gt;)&lt;/mo&gt;&lt;/mrow&gt;&lt;/math&gt;" id="1374" name="Google Shape;1374;p106" title="the 2 by 1 column matrix 2 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6650" y="1808686"/>
            <a:ext cx="322175" cy="404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106"/>
          <p:cNvSpPr txBox="1"/>
          <p:nvPr/>
        </p:nvSpPr>
        <p:spPr>
          <a:xfrm>
            <a:off x="951075" y="2129625"/>
            <a:ext cx="693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2)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Reflect along the right edge of the shape.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6" name="Google Shape;1376;p106"/>
          <p:cNvSpPr txBox="1"/>
          <p:nvPr/>
        </p:nvSpPr>
        <p:spPr>
          <a:xfrm>
            <a:off x="951075" y="2497575"/>
            <a:ext cx="80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3)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Rotate 180° around the midpoint of the right edge.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77" name="Google Shape;1377;p106"/>
          <p:cNvCxnSpPr/>
          <p:nvPr/>
        </p:nvCxnSpPr>
        <p:spPr>
          <a:xfrm>
            <a:off x="3128825" y="3204925"/>
            <a:ext cx="6105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8" name="Google Shape;1378;p106"/>
          <p:cNvCxnSpPr/>
          <p:nvPr/>
        </p:nvCxnSpPr>
        <p:spPr>
          <a:xfrm>
            <a:off x="5609000" y="3044675"/>
            <a:ext cx="0" cy="159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106"/>
          <p:cNvCxnSpPr/>
          <p:nvPr/>
        </p:nvCxnSpPr>
        <p:spPr>
          <a:xfrm>
            <a:off x="7432900" y="3784900"/>
            <a:ext cx="129600" cy="9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0" name="Google Shape;1380;p106"/>
          <p:cNvCxnSpPr/>
          <p:nvPr/>
        </p:nvCxnSpPr>
        <p:spPr>
          <a:xfrm flipH="1">
            <a:off x="7417750" y="3777388"/>
            <a:ext cx="129600" cy="12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81" name="Google Shape;1381;p106"/>
          <p:cNvPicPr preferRelativeResize="0"/>
          <p:nvPr/>
        </p:nvPicPr>
        <p:blipFill rotWithShape="1">
          <a:blip r:embed="rId5">
            <a:alphaModFix/>
          </a:blip>
          <a:srcRect b="36882" l="61925" r="14808" t="50044"/>
          <a:stretch/>
        </p:blipFill>
        <p:spPr>
          <a:xfrm rot="-5400000">
            <a:off x="6704730" y="3464970"/>
            <a:ext cx="1113248" cy="63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07"/>
          <p:cNvSpPr txBox="1"/>
          <p:nvPr>
            <p:ph idx="1" type="body"/>
          </p:nvPr>
        </p:nvSpPr>
        <p:spPr>
          <a:xfrm>
            <a:off x="324000" y="778400"/>
            <a:ext cx="8113800" cy="404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When identifying the type of transformation that may have </a:t>
            </a:r>
            <a:r>
              <a:rPr lang="en-GB" sz="2000"/>
              <a:t>occurred, it is important to consider the properties of the image compared to the object.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If the lengths have changed, then an enlargement may have taken place.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If the sense has changed, then a reflection may have taken place.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If the orientation has changed, then a rotation may have taken place.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If the position has changed, then a translation may have taken place.</a:t>
            </a:r>
            <a:endParaRPr sz="2000"/>
          </a:p>
        </p:txBody>
      </p:sp>
      <p:sp>
        <p:nvSpPr>
          <p:cNvPr id="1387" name="Google Shape;1387;p107"/>
          <p:cNvSpPr txBox="1"/>
          <p:nvPr>
            <p:ph type="title"/>
          </p:nvPr>
        </p:nvSpPr>
        <p:spPr>
          <a:xfrm>
            <a:off x="1684800" y="157525"/>
            <a:ext cx="6831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Transformed objects</a:t>
            </a:r>
            <a:endParaRPr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93" name="Google Shape;1393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