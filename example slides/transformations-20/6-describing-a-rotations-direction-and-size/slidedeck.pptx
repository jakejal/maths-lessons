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8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8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827af1961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2827af1961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27af1961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27af1961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1e8208ea5b9_0_9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4" name="Google Shape;804;g1e8208ea5b9_0_9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8db9543187_6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6" name="Google Shape;896;g28db9543187_6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1e8208ea5b9_0_17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g1e8208ea5b9_0_17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86631412dd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86631412d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86631412dd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286631412dd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86631412dd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86631412dd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86631412dd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86631412dd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86631412dd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86631412dd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827af1961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2827af1961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86631412dd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86631412dd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879ffcd7b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879ffcd7b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8db9543187_6_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g28db9543187_6_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86631412dd_0_9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5" name="Google Shape;1135;g286631412dd_0_9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286631412dd_0_8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3" name="Google Shape;1183;g286631412dd_0_8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29393f50c91_1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6" name="Google Shape;1216;g29393f50c91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54679870397f7c3b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54679870397f7c3b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286631412dd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286631412dd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54679870397f7c3b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54679870397f7c3b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54679870397f7c3b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1" name="Google Shape;1281;g54679870397f7c3b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286631412dd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286631412dd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86631412dd_0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86631412dd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286631412dd_0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286631412dd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286631412dd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286631412dd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286631412dd_0_1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286631412dd_0_1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286631412dd_0_1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286631412dd_0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286631412dd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286631412dd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54679870397f7c3b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54679870397f7c3b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54679870397f7c3b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54679870397f7c3b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54679870397f7c3b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4" name="Google Shape;1484;g54679870397f7c3b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286631412dd_0_1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286631412dd_0_1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54679870397f7c3b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54679870397f7c3b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54679870397f7c3b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54679870397f7c3b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1e8208ea5b9_0_1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1e8208ea5b9_0_1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286631412dd_0_1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286631412dd_0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1e8208ea5b9_0_1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1e8208ea5b9_0_1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2879ffcd7b2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2879ffcd7b2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1e8208ea5b9_0_1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1e8208ea5b9_0_1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74.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6.png"/><Relationship Id="rId8"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4.png"/><Relationship Id="rId4" Type="http://schemas.openxmlformats.org/officeDocument/2006/relationships/image" Target="../media/image31.png"/><Relationship Id="rId11" Type="http://schemas.openxmlformats.org/officeDocument/2006/relationships/image" Target="../media/image22.png"/><Relationship Id="rId10" Type="http://schemas.openxmlformats.org/officeDocument/2006/relationships/image" Target="../media/image36.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 Id="rId4"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0.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4000" y="2098125"/>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4000" y="3053050"/>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4600" y="178702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2150"/>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922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70276"/>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352"/>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20684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20457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7000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2723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1165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2156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40640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20091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2009116"/>
            <a:ext cx="457425" cy="457425"/>
          </a:xfrm>
          <a:prstGeom prst="rect">
            <a:avLst/>
          </a:prstGeom>
          <a:noFill/>
          <a:ln>
            <a:noFill/>
          </a:ln>
        </p:spPr>
      </p:pic>
      <p:sp>
        <p:nvSpPr>
          <p:cNvPr id="332" name="Google Shape;332;p31"/>
          <p:cNvSpPr txBox="1"/>
          <p:nvPr/>
        </p:nvSpPr>
        <p:spPr>
          <a:xfrm>
            <a:off x="2454488" y="20992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20992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1">
  <p:cSld name="TITLE_AND_TWO_COLUMNS_1_1_9_1_3_1_1_1_2">
    <p:bg>
      <p:bgPr>
        <a:solidFill>
          <a:srgbClr val="E6F2F2"/>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84" name="Google Shape;384;p3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85" name="Google Shape;385;p3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86" name="Google Shape;386;p34"/>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7" name="Google Shape;387;p3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88" name="Google Shape;38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9" name="Google Shape;38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90" name="Google Shape;390;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1" name="Google Shape;391;p34"/>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2" name="Google Shape;392;p3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3" name="Google Shape;393;p34"/>
          <p:cNvGrpSpPr/>
          <p:nvPr/>
        </p:nvGrpSpPr>
        <p:grpSpPr>
          <a:xfrm>
            <a:off x="324128" y="3139463"/>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4128" y="3987825"/>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99" name="Google Shape;399;p34"/>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400" name="Google Shape;400;p34"/>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401" name="Google Shape;401;p3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02" name="Google Shape;402;p3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03" name="Shape 403"/>
        <p:cNvGrpSpPr/>
        <p:nvPr/>
      </p:nvGrpSpPr>
      <p:grpSpPr>
        <a:xfrm>
          <a:off x="0" y="0"/>
          <a:ext cx="0" cy="0"/>
          <a:chOff x="0" y="0"/>
          <a:chExt cx="0" cy="0"/>
        </a:xfrm>
      </p:grpSpPr>
      <p:pic>
        <p:nvPicPr>
          <p:cNvPr id="404" name="Google Shape;404;p3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05" name="Google Shape;405;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7" name="Google Shape;40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8" name="Google Shape;40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09" name="Google Shape;40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0" name="Google Shape;41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1" name="Google Shape;41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2" name="Google Shape;41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13" name="Google Shape;413;p35"/>
          <p:cNvGrpSpPr/>
          <p:nvPr/>
        </p:nvGrpSpPr>
        <p:grpSpPr>
          <a:xfrm>
            <a:off x="323653" y="1804438"/>
            <a:ext cx="457200" cy="457200"/>
            <a:chOff x="1020916" y="1442088"/>
            <a:chExt cx="457200" cy="457200"/>
          </a:xfrm>
        </p:grpSpPr>
        <p:pic>
          <p:nvPicPr>
            <p:cNvPr id="414" name="Google Shape;41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5" name="Google Shape;41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6" name="Google Shape;416;p35"/>
          <p:cNvGrpSpPr/>
          <p:nvPr/>
        </p:nvGrpSpPr>
        <p:grpSpPr>
          <a:xfrm>
            <a:off x="323653" y="2766575"/>
            <a:ext cx="457200" cy="457200"/>
            <a:chOff x="1020916" y="1442088"/>
            <a:chExt cx="457200" cy="457200"/>
          </a:xfrm>
        </p:grpSpPr>
        <p:pic>
          <p:nvPicPr>
            <p:cNvPr id="417" name="Google Shape;41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8" name="Google Shape;41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9" name="Google Shape;419;p35"/>
          <p:cNvGrpSpPr/>
          <p:nvPr/>
        </p:nvGrpSpPr>
        <p:grpSpPr>
          <a:xfrm>
            <a:off x="323641" y="3729038"/>
            <a:ext cx="457200" cy="457200"/>
            <a:chOff x="1020916" y="1442088"/>
            <a:chExt cx="457200" cy="457200"/>
          </a:xfrm>
        </p:grpSpPr>
        <p:pic>
          <p:nvPicPr>
            <p:cNvPr id="420" name="Google Shape;42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1" name="Google Shape;42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22" name="Shape 422"/>
        <p:cNvGrpSpPr/>
        <p:nvPr/>
      </p:nvGrpSpPr>
      <p:grpSpPr>
        <a:xfrm>
          <a:off x="0" y="0"/>
          <a:ext cx="0" cy="0"/>
          <a:chOff x="0" y="0"/>
          <a:chExt cx="0" cy="0"/>
        </a:xfrm>
      </p:grpSpPr>
      <p:pic>
        <p:nvPicPr>
          <p:cNvPr id="423" name="Google Shape;423;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4" name="Google Shape;424;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7" name="Google Shape;42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8" name="Google Shape;42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9" name="Google Shape;429;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0" name="Google Shape;430;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1" name="Google Shape;431;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32" name="Google Shape;432;p36"/>
          <p:cNvGrpSpPr/>
          <p:nvPr/>
        </p:nvGrpSpPr>
        <p:grpSpPr>
          <a:xfrm>
            <a:off x="323653" y="1804438"/>
            <a:ext cx="457200" cy="457200"/>
            <a:chOff x="1020916" y="1442088"/>
            <a:chExt cx="457200" cy="457200"/>
          </a:xfrm>
        </p:grpSpPr>
        <p:pic>
          <p:nvPicPr>
            <p:cNvPr id="433" name="Google Shape;43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4" name="Google Shape;43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5" name="Google Shape;435;p36"/>
          <p:cNvGrpSpPr/>
          <p:nvPr/>
        </p:nvGrpSpPr>
        <p:grpSpPr>
          <a:xfrm>
            <a:off x="323653" y="2766575"/>
            <a:ext cx="457200" cy="457200"/>
            <a:chOff x="1020916" y="1442088"/>
            <a:chExt cx="457200" cy="457200"/>
          </a:xfrm>
        </p:grpSpPr>
        <p:pic>
          <p:nvPicPr>
            <p:cNvPr id="436" name="Google Shape;436;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7" name="Google Shape;437;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8" name="Google Shape;438;p36"/>
          <p:cNvGrpSpPr/>
          <p:nvPr/>
        </p:nvGrpSpPr>
        <p:grpSpPr>
          <a:xfrm>
            <a:off x="323641" y="3729038"/>
            <a:ext cx="457200" cy="457200"/>
            <a:chOff x="1020916" y="1442088"/>
            <a:chExt cx="457200" cy="457200"/>
          </a:xfrm>
        </p:grpSpPr>
        <p:pic>
          <p:nvPicPr>
            <p:cNvPr id="439" name="Google Shape;43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0" name="Google Shape;44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41" name="Shape 441"/>
        <p:cNvGrpSpPr/>
        <p:nvPr/>
      </p:nvGrpSpPr>
      <p:grpSpPr>
        <a:xfrm>
          <a:off x="0" y="0"/>
          <a:ext cx="0" cy="0"/>
          <a:chOff x="0" y="0"/>
          <a:chExt cx="0" cy="0"/>
        </a:xfrm>
      </p:grpSpPr>
      <p:pic>
        <p:nvPicPr>
          <p:cNvPr id="442" name="Google Shape;442;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43" name="Google Shape;443;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5" name="Google Shape;445;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6" name="Google Shape;446;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7" name="Google Shape;447;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8" name="Google Shape;448;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9" name="Google Shape;449;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50" name="Google Shape;450;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51" name="Google Shape;451;p37"/>
          <p:cNvGrpSpPr/>
          <p:nvPr/>
        </p:nvGrpSpPr>
        <p:grpSpPr>
          <a:xfrm>
            <a:off x="323653" y="1804438"/>
            <a:ext cx="457200" cy="457200"/>
            <a:chOff x="1020916" y="1442088"/>
            <a:chExt cx="457200" cy="457200"/>
          </a:xfrm>
        </p:grpSpPr>
        <p:pic>
          <p:nvPicPr>
            <p:cNvPr id="452" name="Google Shape;452;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3" name="Google Shape;453;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4" name="Google Shape;454;p37"/>
          <p:cNvGrpSpPr/>
          <p:nvPr/>
        </p:nvGrpSpPr>
        <p:grpSpPr>
          <a:xfrm>
            <a:off x="323653" y="2766575"/>
            <a:ext cx="457200" cy="457200"/>
            <a:chOff x="1020916" y="1442088"/>
            <a:chExt cx="457200" cy="457200"/>
          </a:xfrm>
        </p:grpSpPr>
        <p:pic>
          <p:nvPicPr>
            <p:cNvPr id="455" name="Google Shape;455;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6" name="Google Shape;456;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7" name="Google Shape;457;p37"/>
          <p:cNvGrpSpPr/>
          <p:nvPr/>
        </p:nvGrpSpPr>
        <p:grpSpPr>
          <a:xfrm>
            <a:off x="323641" y="3729038"/>
            <a:ext cx="457200" cy="457200"/>
            <a:chOff x="1020916" y="1442088"/>
            <a:chExt cx="457200" cy="457200"/>
          </a:xfrm>
        </p:grpSpPr>
        <p:pic>
          <p:nvPicPr>
            <p:cNvPr id="458" name="Google Shape;45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9" name="Google Shape;45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60" name="Shape 460"/>
        <p:cNvGrpSpPr/>
        <p:nvPr/>
      </p:nvGrpSpPr>
      <p:grpSpPr>
        <a:xfrm>
          <a:off x="0" y="0"/>
          <a:ext cx="0" cy="0"/>
          <a:chOff x="0" y="0"/>
          <a:chExt cx="0" cy="0"/>
        </a:xfrm>
      </p:grpSpPr>
      <p:pic>
        <p:nvPicPr>
          <p:cNvPr id="461" name="Google Shape;461;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2" name="Google Shape;462;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4" name="Google Shape;464;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5" name="Google Shape;465;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66" name="Google Shape;466;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7" name="Google Shape;467;p3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8" name="Google Shape;468;p3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9" name="Google Shape;469;p3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0" name="Google Shape;470;p38"/>
          <p:cNvGrpSpPr/>
          <p:nvPr/>
        </p:nvGrpSpPr>
        <p:grpSpPr>
          <a:xfrm>
            <a:off x="323653" y="1804438"/>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53" y="2766575"/>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3729038"/>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50" name="Google Shape;550;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6" name="Google Shape;556;p4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7" name="Google Shape;557;p4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8" name="Google Shape;558;p4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9" name="Google Shape;559;p42"/>
          <p:cNvGrpSpPr/>
          <p:nvPr/>
        </p:nvGrpSpPr>
        <p:grpSpPr>
          <a:xfrm>
            <a:off x="323653" y="1652038"/>
            <a:ext cx="457200" cy="457200"/>
            <a:chOff x="1020916" y="1442088"/>
            <a:chExt cx="457200" cy="457200"/>
          </a:xfrm>
        </p:grpSpPr>
        <p:pic>
          <p:nvPicPr>
            <p:cNvPr id="560" name="Google Shape;56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1" name="Google Shape;56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2" name="Google Shape;562;p42"/>
          <p:cNvGrpSpPr/>
          <p:nvPr/>
        </p:nvGrpSpPr>
        <p:grpSpPr>
          <a:xfrm>
            <a:off x="323653" y="2461775"/>
            <a:ext cx="457200" cy="457200"/>
            <a:chOff x="1020916" y="1442088"/>
            <a:chExt cx="457200" cy="457200"/>
          </a:xfrm>
        </p:grpSpPr>
        <p:pic>
          <p:nvPicPr>
            <p:cNvPr id="563" name="Google Shape;56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4" name="Google Shape;56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5" name="Google Shape;565;p42"/>
          <p:cNvGrpSpPr/>
          <p:nvPr/>
        </p:nvGrpSpPr>
        <p:grpSpPr>
          <a:xfrm>
            <a:off x="323641" y="3271838"/>
            <a:ext cx="457200" cy="457200"/>
            <a:chOff x="1020916" y="1442088"/>
            <a:chExt cx="457200" cy="457200"/>
          </a:xfrm>
        </p:grpSpPr>
        <p:pic>
          <p:nvPicPr>
            <p:cNvPr id="566" name="Google Shape;56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7" name="Google Shape;56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8" name="Google Shape;568;p42"/>
          <p:cNvGrpSpPr/>
          <p:nvPr/>
        </p:nvGrpSpPr>
        <p:grpSpPr>
          <a:xfrm>
            <a:off x="323641" y="4081763"/>
            <a:ext cx="457200" cy="457200"/>
            <a:chOff x="1020916" y="1442088"/>
            <a:chExt cx="457200" cy="457200"/>
          </a:xfrm>
        </p:grpSpPr>
        <p:pic>
          <p:nvPicPr>
            <p:cNvPr id="569" name="Google Shape;56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0" name="Google Shape;57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71" name="Shape 571"/>
        <p:cNvGrpSpPr/>
        <p:nvPr/>
      </p:nvGrpSpPr>
      <p:grpSpPr>
        <a:xfrm>
          <a:off x="0" y="0"/>
          <a:ext cx="0" cy="0"/>
          <a:chOff x="0" y="0"/>
          <a:chExt cx="0" cy="0"/>
        </a:xfrm>
      </p:grpSpPr>
      <p:pic>
        <p:nvPicPr>
          <p:cNvPr id="572" name="Google Shape;572;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73" name="Google Shape;573;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5" name="Google Shape;57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6" name="Google Shape;57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77" name="Google Shape;57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8" name="Google Shape;578;p43"/>
          <p:cNvSpPr/>
          <p:nvPr>
            <p:ph idx="3" type="pic"/>
          </p:nvPr>
        </p:nvSpPr>
        <p:spPr>
          <a:xfrm>
            <a:off x="324000" y="1893950"/>
            <a:ext cx="2555400" cy="1939500"/>
          </a:xfrm>
          <a:prstGeom prst="rect">
            <a:avLst/>
          </a:prstGeom>
          <a:noFill/>
          <a:ln>
            <a:noFill/>
          </a:ln>
        </p:spPr>
      </p:sp>
      <p:sp>
        <p:nvSpPr>
          <p:cNvPr id="579" name="Google Shape;579;p43"/>
          <p:cNvSpPr/>
          <p:nvPr>
            <p:ph idx="4" type="pic"/>
          </p:nvPr>
        </p:nvSpPr>
        <p:spPr>
          <a:xfrm>
            <a:off x="6256800" y="1893950"/>
            <a:ext cx="2555400" cy="1939500"/>
          </a:xfrm>
          <a:prstGeom prst="rect">
            <a:avLst/>
          </a:prstGeom>
          <a:noFill/>
          <a:ln>
            <a:noFill/>
          </a:ln>
        </p:spPr>
      </p:sp>
      <p:sp>
        <p:nvSpPr>
          <p:cNvPr id="580" name="Google Shape;580;p43"/>
          <p:cNvSpPr/>
          <p:nvPr>
            <p:ph idx="5" type="pic"/>
          </p:nvPr>
        </p:nvSpPr>
        <p:spPr>
          <a:xfrm>
            <a:off x="3294300" y="1893950"/>
            <a:ext cx="2555400" cy="1939500"/>
          </a:xfrm>
          <a:prstGeom prst="rect">
            <a:avLst/>
          </a:prstGeom>
          <a:noFill/>
          <a:ln>
            <a:noFill/>
          </a:ln>
        </p:spPr>
      </p:sp>
      <p:grpSp>
        <p:nvGrpSpPr>
          <p:cNvPr id="581" name="Google Shape;581;p43"/>
          <p:cNvGrpSpPr/>
          <p:nvPr/>
        </p:nvGrpSpPr>
        <p:grpSpPr>
          <a:xfrm>
            <a:off x="1381028" y="4148538"/>
            <a:ext cx="457200" cy="457200"/>
            <a:chOff x="1020916" y="1442088"/>
            <a:chExt cx="457200" cy="457200"/>
          </a:xfrm>
        </p:grpSpPr>
        <p:pic>
          <p:nvPicPr>
            <p:cNvPr id="582" name="Google Shape;5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4" name="Google Shape;584;p43"/>
          <p:cNvGrpSpPr/>
          <p:nvPr/>
        </p:nvGrpSpPr>
        <p:grpSpPr>
          <a:xfrm>
            <a:off x="4331066" y="4148550"/>
            <a:ext cx="457200" cy="457200"/>
            <a:chOff x="1020916" y="1442088"/>
            <a:chExt cx="457200" cy="457200"/>
          </a:xfrm>
        </p:grpSpPr>
        <p:pic>
          <p:nvPicPr>
            <p:cNvPr id="585" name="Google Shape;58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7" name="Google Shape;587;p43"/>
          <p:cNvGrpSpPr/>
          <p:nvPr/>
        </p:nvGrpSpPr>
        <p:grpSpPr>
          <a:xfrm>
            <a:off x="7305791" y="4148538"/>
            <a:ext cx="457200" cy="457200"/>
            <a:chOff x="1020916" y="1442088"/>
            <a:chExt cx="457200" cy="457200"/>
          </a:xfrm>
        </p:grpSpPr>
        <p:pic>
          <p:nvPicPr>
            <p:cNvPr id="588" name="Google Shape;58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9" name="Google Shape;58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90" name="Shape 590"/>
        <p:cNvGrpSpPr/>
        <p:nvPr/>
      </p:nvGrpSpPr>
      <p:grpSpPr>
        <a:xfrm>
          <a:off x="0" y="0"/>
          <a:ext cx="0" cy="0"/>
          <a:chOff x="0" y="0"/>
          <a:chExt cx="0" cy="0"/>
        </a:xfrm>
      </p:grpSpPr>
      <p:pic>
        <p:nvPicPr>
          <p:cNvPr id="591" name="Google Shape;591;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92" name="Google Shape;592;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4" name="Google Shape;59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5" name="Google Shape;59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6" name="Google Shape;596;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7" name="Google Shape;597;p44"/>
          <p:cNvSpPr/>
          <p:nvPr>
            <p:ph idx="3" type="pic"/>
          </p:nvPr>
        </p:nvSpPr>
        <p:spPr>
          <a:xfrm>
            <a:off x="324000" y="1893950"/>
            <a:ext cx="2555400" cy="1939500"/>
          </a:xfrm>
          <a:prstGeom prst="rect">
            <a:avLst/>
          </a:prstGeom>
          <a:noFill/>
          <a:ln>
            <a:noFill/>
          </a:ln>
        </p:spPr>
      </p:sp>
      <p:sp>
        <p:nvSpPr>
          <p:cNvPr id="598" name="Google Shape;598;p44"/>
          <p:cNvSpPr/>
          <p:nvPr>
            <p:ph idx="4" type="pic"/>
          </p:nvPr>
        </p:nvSpPr>
        <p:spPr>
          <a:xfrm>
            <a:off x="6256800" y="1893950"/>
            <a:ext cx="2555400" cy="1939500"/>
          </a:xfrm>
          <a:prstGeom prst="rect">
            <a:avLst/>
          </a:prstGeom>
          <a:noFill/>
          <a:ln>
            <a:noFill/>
          </a:ln>
        </p:spPr>
      </p:sp>
      <p:sp>
        <p:nvSpPr>
          <p:cNvPr id="599" name="Google Shape;599;p44"/>
          <p:cNvSpPr/>
          <p:nvPr>
            <p:ph idx="5" type="pic"/>
          </p:nvPr>
        </p:nvSpPr>
        <p:spPr>
          <a:xfrm>
            <a:off x="3294300" y="1893950"/>
            <a:ext cx="2555400" cy="1939500"/>
          </a:xfrm>
          <a:prstGeom prst="rect">
            <a:avLst/>
          </a:prstGeom>
          <a:noFill/>
          <a:ln>
            <a:noFill/>
          </a:ln>
        </p:spPr>
      </p:sp>
      <p:grpSp>
        <p:nvGrpSpPr>
          <p:cNvPr id="600" name="Google Shape;600;p44"/>
          <p:cNvGrpSpPr/>
          <p:nvPr/>
        </p:nvGrpSpPr>
        <p:grpSpPr>
          <a:xfrm>
            <a:off x="1381028" y="4148538"/>
            <a:ext cx="457200" cy="457200"/>
            <a:chOff x="1020916" y="1442088"/>
            <a:chExt cx="457200" cy="457200"/>
          </a:xfrm>
        </p:grpSpPr>
        <p:pic>
          <p:nvPicPr>
            <p:cNvPr id="601" name="Google Shape;6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2" name="Google Shape;6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3" name="Google Shape;603;p44"/>
          <p:cNvGrpSpPr/>
          <p:nvPr/>
        </p:nvGrpSpPr>
        <p:grpSpPr>
          <a:xfrm>
            <a:off x="4331066" y="4148550"/>
            <a:ext cx="457200" cy="457200"/>
            <a:chOff x="1020916" y="1442088"/>
            <a:chExt cx="457200" cy="457200"/>
          </a:xfrm>
        </p:grpSpPr>
        <p:pic>
          <p:nvPicPr>
            <p:cNvPr id="604" name="Google Shape;604;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5" name="Google Shape;605;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6" name="Google Shape;606;p44"/>
          <p:cNvGrpSpPr/>
          <p:nvPr/>
        </p:nvGrpSpPr>
        <p:grpSpPr>
          <a:xfrm>
            <a:off x="7305791" y="4148538"/>
            <a:ext cx="457200" cy="457200"/>
            <a:chOff x="1020916" y="1442088"/>
            <a:chExt cx="457200" cy="457200"/>
          </a:xfrm>
        </p:grpSpPr>
        <p:pic>
          <p:nvPicPr>
            <p:cNvPr id="607" name="Google Shape;60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8" name="Google Shape;60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09" name="Shape 609"/>
        <p:cNvGrpSpPr/>
        <p:nvPr/>
      </p:nvGrpSpPr>
      <p:grpSpPr>
        <a:xfrm>
          <a:off x="0" y="0"/>
          <a:ext cx="0" cy="0"/>
          <a:chOff x="0" y="0"/>
          <a:chExt cx="0" cy="0"/>
        </a:xfrm>
      </p:grpSpPr>
      <p:pic>
        <p:nvPicPr>
          <p:cNvPr id="610" name="Google Shape;610;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1" name="Google Shape;611;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3" name="Google Shape;613;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4" name="Google Shape;614;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15" name="Google Shape;615;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6" name="Google Shape;616;p45"/>
          <p:cNvSpPr/>
          <p:nvPr>
            <p:ph idx="3" type="pic"/>
          </p:nvPr>
        </p:nvSpPr>
        <p:spPr>
          <a:xfrm>
            <a:off x="324000" y="1893950"/>
            <a:ext cx="2555400" cy="1939500"/>
          </a:xfrm>
          <a:prstGeom prst="rect">
            <a:avLst/>
          </a:prstGeom>
          <a:noFill/>
          <a:ln>
            <a:noFill/>
          </a:ln>
        </p:spPr>
      </p:sp>
      <p:sp>
        <p:nvSpPr>
          <p:cNvPr id="617" name="Google Shape;617;p45"/>
          <p:cNvSpPr/>
          <p:nvPr>
            <p:ph idx="4" type="pic"/>
          </p:nvPr>
        </p:nvSpPr>
        <p:spPr>
          <a:xfrm>
            <a:off x="6256800" y="1893950"/>
            <a:ext cx="2555400" cy="1939500"/>
          </a:xfrm>
          <a:prstGeom prst="rect">
            <a:avLst/>
          </a:prstGeom>
          <a:noFill/>
          <a:ln>
            <a:noFill/>
          </a:ln>
        </p:spPr>
      </p:sp>
      <p:sp>
        <p:nvSpPr>
          <p:cNvPr id="618" name="Google Shape;618;p45"/>
          <p:cNvSpPr/>
          <p:nvPr>
            <p:ph idx="5" type="pic"/>
          </p:nvPr>
        </p:nvSpPr>
        <p:spPr>
          <a:xfrm>
            <a:off x="3294300" y="1893950"/>
            <a:ext cx="2555400" cy="1939500"/>
          </a:xfrm>
          <a:prstGeom prst="rect">
            <a:avLst/>
          </a:prstGeom>
          <a:noFill/>
          <a:ln>
            <a:noFill/>
          </a:ln>
        </p:spPr>
      </p:sp>
      <p:grpSp>
        <p:nvGrpSpPr>
          <p:cNvPr id="619" name="Google Shape;619;p45"/>
          <p:cNvGrpSpPr/>
          <p:nvPr/>
        </p:nvGrpSpPr>
        <p:grpSpPr>
          <a:xfrm>
            <a:off x="1381028" y="4148538"/>
            <a:ext cx="457200" cy="457200"/>
            <a:chOff x="1020916" y="1442088"/>
            <a:chExt cx="457200" cy="457200"/>
          </a:xfrm>
        </p:grpSpPr>
        <p:pic>
          <p:nvPicPr>
            <p:cNvPr id="620" name="Google Shape;6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1" name="Google Shape;6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2" name="Google Shape;622;p45"/>
          <p:cNvGrpSpPr/>
          <p:nvPr/>
        </p:nvGrpSpPr>
        <p:grpSpPr>
          <a:xfrm>
            <a:off x="4331066" y="4148550"/>
            <a:ext cx="457200" cy="457200"/>
            <a:chOff x="1020916" y="1442088"/>
            <a:chExt cx="457200" cy="457200"/>
          </a:xfrm>
        </p:grpSpPr>
        <p:pic>
          <p:nvPicPr>
            <p:cNvPr id="623" name="Google Shape;623;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4" name="Google Shape;624;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5" name="Google Shape;625;p45"/>
          <p:cNvGrpSpPr/>
          <p:nvPr/>
        </p:nvGrpSpPr>
        <p:grpSpPr>
          <a:xfrm>
            <a:off x="7305791" y="4148538"/>
            <a:ext cx="457200" cy="457200"/>
            <a:chOff x="1020916" y="1442088"/>
            <a:chExt cx="457200" cy="457200"/>
          </a:xfrm>
        </p:grpSpPr>
        <p:pic>
          <p:nvPicPr>
            <p:cNvPr id="626" name="Google Shape;62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7" name="Google Shape;62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28" name="Shape 628"/>
        <p:cNvGrpSpPr/>
        <p:nvPr/>
      </p:nvGrpSpPr>
      <p:grpSpPr>
        <a:xfrm>
          <a:off x="0" y="0"/>
          <a:ext cx="0" cy="0"/>
          <a:chOff x="0" y="0"/>
          <a:chExt cx="0" cy="0"/>
        </a:xfrm>
      </p:grpSpPr>
      <p:pic>
        <p:nvPicPr>
          <p:cNvPr id="629" name="Google Shape;629;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2" name="Google Shape;632;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34" name="Google Shape;634;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5" name="Google Shape;635;p46"/>
          <p:cNvSpPr/>
          <p:nvPr>
            <p:ph idx="3" type="pic"/>
          </p:nvPr>
        </p:nvSpPr>
        <p:spPr>
          <a:xfrm>
            <a:off x="324000" y="1893950"/>
            <a:ext cx="2555400" cy="1939500"/>
          </a:xfrm>
          <a:prstGeom prst="rect">
            <a:avLst/>
          </a:prstGeom>
          <a:noFill/>
          <a:ln>
            <a:noFill/>
          </a:ln>
        </p:spPr>
      </p:sp>
      <p:sp>
        <p:nvSpPr>
          <p:cNvPr id="636" name="Google Shape;636;p46"/>
          <p:cNvSpPr/>
          <p:nvPr>
            <p:ph idx="4" type="pic"/>
          </p:nvPr>
        </p:nvSpPr>
        <p:spPr>
          <a:xfrm>
            <a:off x="6256800" y="1893950"/>
            <a:ext cx="2555400" cy="1939500"/>
          </a:xfrm>
          <a:prstGeom prst="rect">
            <a:avLst/>
          </a:prstGeom>
          <a:noFill/>
          <a:ln>
            <a:noFill/>
          </a:ln>
        </p:spPr>
      </p:sp>
      <p:sp>
        <p:nvSpPr>
          <p:cNvPr id="637" name="Google Shape;637;p46"/>
          <p:cNvSpPr/>
          <p:nvPr>
            <p:ph idx="5" type="pic"/>
          </p:nvPr>
        </p:nvSpPr>
        <p:spPr>
          <a:xfrm>
            <a:off x="3294300" y="1893950"/>
            <a:ext cx="2555400" cy="1939500"/>
          </a:xfrm>
          <a:prstGeom prst="rect">
            <a:avLst/>
          </a:prstGeom>
          <a:noFill/>
          <a:ln>
            <a:noFill/>
          </a:ln>
        </p:spPr>
      </p:sp>
      <p:grpSp>
        <p:nvGrpSpPr>
          <p:cNvPr id="638" name="Google Shape;638;p46"/>
          <p:cNvGrpSpPr/>
          <p:nvPr/>
        </p:nvGrpSpPr>
        <p:grpSpPr>
          <a:xfrm>
            <a:off x="1381028" y="4148538"/>
            <a:ext cx="457200" cy="457200"/>
            <a:chOff x="1020916" y="1442088"/>
            <a:chExt cx="457200" cy="457200"/>
          </a:xfrm>
        </p:grpSpPr>
        <p:pic>
          <p:nvPicPr>
            <p:cNvPr id="639" name="Google Shape;6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0" name="Google Shape;6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1" name="Google Shape;641;p46"/>
          <p:cNvGrpSpPr/>
          <p:nvPr/>
        </p:nvGrpSpPr>
        <p:grpSpPr>
          <a:xfrm>
            <a:off x="4331066" y="4148550"/>
            <a:ext cx="457200" cy="457200"/>
            <a:chOff x="1020916" y="1442088"/>
            <a:chExt cx="457200" cy="457200"/>
          </a:xfrm>
        </p:grpSpPr>
        <p:pic>
          <p:nvPicPr>
            <p:cNvPr id="642" name="Google Shape;642;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3" name="Google Shape;643;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4" name="Google Shape;644;p46"/>
          <p:cNvGrpSpPr/>
          <p:nvPr/>
        </p:nvGrpSpPr>
        <p:grpSpPr>
          <a:xfrm>
            <a:off x="7305791" y="4148538"/>
            <a:ext cx="457200" cy="457200"/>
            <a:chOff x="1020916" y="1442088"/>
            <a:chExt cx="457200" cy="457200"/>
          </a:xfrm>
        </p:grpSpPr>
        <p:pic>
          <p:nvPicPr>
            <p:cNvPr id="645" name="Google Shape;645;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6" name="Google Shape;646;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47" name="Shape 647"/>
        <p:cNvGrpSpPr/>
        <p:nvPr/>
      </p:nvGrpSpPr>
      <p:grpSpPr>
        <a:xfrm>
          <a:off x="0" y="0"/>
          <a:ext cx="0" cy="0"/>
          <a:chOff x="0" y="0"/>
          <a:chExt cx="0" cy="0"/>
        </a:xfrm>
      </p:grpSpPr>
      <p:pic>
        <p:nvPicPr>
          <p:cNvPr id="648" name="Google Shape;648;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49" name="Google Shape;649;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1" name="Google Shape;651;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2" name="Google Shape;652;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53" name="Google Shape;653;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54" name="Shape 654"/>
        <p:cNvGrpSpPr/>
        <p:nvPr/>
      </p:nvGrpSpPr>
      <p:grpSpPr>
        <a:xfrm>
          <a:off x="0" y="0"/>
          <a:ext cx="0" cy="0"/>
          <a:chOff x="0" y="0"/>
          <a:chExt cx="0" cy="0"/>
        </a:xfrm>
      </p:grpSpPr>
      <p:pic>
        <p:nvPicPr>
          <p:cNvPr id="655" name="Google Shape;65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6" name="Google Shape;65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8" name="Google Shape;65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9" name="Google Shape;65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60" name="Google Shape;660;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61" name="Shape 661"/>
        <p:cNvGrpSpPr/>
        <p:nvPr/>
      </p:nvGrpSpPr>
      <p:grpSpPr>
        <a:xfrm>
          <a:off x="0" y="0"/>
          <a:ext cx="0" cy="0"/>
          <a:chOff x="0" y="0"/>
          <a:chExt cx="0" cy="0"/>
        </a:xfrm>
      </p:grpSpPr>
      <p:pic>
        <p:nvPicPr>
          <p:cNvPr id="662" name="Google Shape;662;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3" name="Google Shape;663;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65" name="Google Shape;665;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66" name="Google Shape;666;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67" name="Google Shape;667;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68" name="Shape 668"/>
        <p:cNvGrpSpPr/>
        <p:nvPr/>
      </p:nvGrpSpPr>
      <p:grpSpPr>
        <a:xfrm>
          <a:off x="0" y="0"/>
          <a:ext cx="0" cy="0"/>
          <a:chOff x="0" y="0"/>
          <a:chExt cx="0" cy="0"/>
        </a:xfrm>
      </p:grpSpPr>
      <p:pic>
        <p:nvPicPr>
          <p:cNvPr id="669" name="Google Shape;669;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72" name="Google Shape;672;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3" name="Google Shape;673;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74" name="Google Shape;674;p5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75" name="Shape 675"/>
        <p:cNvGrpSpPr/>
        <p:nvPr/>
      </p:nvGrpSpPr>
      <p:grpSpPr>
        <a:xfrm>
          <a:off x="0" y="0"/>
          <a:ext cx="0" cy="0"/>
          <a:chOff x="0" y="0"/>
          <a:chExt cx="0" cy="0"/>
        </a:xfrm>
      </p:grpSpPr>
      <p:pic>
        <p:nvPicPr>
          <p:cNvPr id="676" name="Google Shape;676;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77" name="Google Shape;677;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9" name="Google Shape;679;p51"/>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0" name="Google Shape;680;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1" name="Google Shape;681;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82" name="Google Shape;682;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83" name="Shape 683"/>
        <p:cNvGrpSpPr/>
        <p:nvPr/>
      </p:nvGrpSpPr>
      <p:grpSpPr>
        <a:xfrm>
          <a:off x="0" y="0"/>
          <a:ext cx="0" cy="0"/>
          <a:chOff x="0" y="0"/>
          <a:chExt cx="0" cy="0"/>
        </a:xfrm>
      </p:grpSpPr>
      <p:pic>
        <p:nvPicPr>
          <p:cNvPr id="684" name="Google Shape;684;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85" name="Google Shape;685;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7" name="Google Shape;68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88" name="Google Shape;688;p52"/>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89" name="Google Shape;689;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91" name="Shape 691"/>
        <p:cNvGrpSpPr/>
        <p:nvPr/>
      </p:nvGrpSpPr>
      <p:grpSpPr>
        <a:xfrm>
          <a:off x="0" y="0"/>
          <a:ext cx="0" cy="0"/>
          <a:chOff x="0" y="0"/>
          <a:chExt cx="0" cy="0"/>
        </a:xfrm>
      </p:grpSpPr>
      <p:pic>
        <p:nvPicPr>
          <p:cNvPr id="692" name="Google Shape;69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3" name="Google Shape;69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5" name="Google Shape;695;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96" name="Google Shape;696;p53"/>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97" name="Google Shape;697;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8" name="Google Shape;698;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99" name="Shape 699"/>
        <p:cNvGrpSpPr/>
        <p:nvPr/>
      </p:nvGrpSpPr>
      <p:grpSpPr>
        <a:xfrm>
          <a:off x="0" y="0"/>
          <a:ext cx="0" cy="0"/>
          <a:chOff x="0" y="0"/>
          <a:chExt cx="0" cy="0"/>
        </a:xfrm>
      </p:grpSpPr>
      <p:pic>
        <p:nvPicPr>
          <p:cNvPr id="700" name="Google Shape;700;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1" name="Google Shape;701;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3" name="Google Shape;703;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704" name="Google Shape;704;p54"/>
          <p:cNvSpPr txBox="1"/>
          <p:nvPr/>
        </p:nvSpPr>
        <p:spPr>
          <a:xfrm>
            <a:off x="324000" y="45525"/>
            <a:ext cx="10419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05" name="Google Shape;705;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706" name="Google Shape;706;p5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07" name="Shape 707"/>
        <p:cNvGrpSpPr/>
        <p:nvPr/>
      </p:nvGrpSpPr>
      <p:grpSpPr>
        <a:xfrm>
          <a:off x="0" y="0"/>
          <a:ext cx="0" cy="0"/>
          <a:chOff x="0" y="0"/>
          <a:chExt cx="0" cy="0"/>
        </a:xfrm>
      </p:grpSpPr>
      <p:pic>
        <p:nvPicPr>
          <p:cNvPr id="708" name="Google Shape;708;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09" name="Google Shape;709;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1" name="Google Shape;711;p55"/>
          <p:cNvSpPr txBox="1"/>
          <p:nvPr/>
        </p:nvSpPr>
        <p:spPr>
          <a:xfrm>
            <a:off x="324000" y="45525"/>
            <a:ext cx="11949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712" name="Google Shape;712;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15" name="Shape 715"/>
        <p:cNvGrpSpPr/>
        <p:nvPr/>
      </p:nvGrpSpPr>
      <p:grpSpPr>
        <a:xfrm>
          <a:off x="0" y="0"/>
          <a:ext cx="0" cy="0"/>
          <a:chOff x="0" y="0"/>
          <a:chExt cx="0" cy="0"/>
        </a:xfrm>
      </p:grpSpPr>
      <p:pic>
        <p:nvPicPr>
          <p:cNvPr id="716" name="Google Shape;716;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7" name="Google Shape;717;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9" name="Google Shape;719;p56"/>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720" name="Google Shape;720;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22" name="Google Shape;722;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7" name="Google Shape;727;p57"/>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28" name="Google Shape;728;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29" name="Google Shape;729;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30" name="Google Shape;730;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31" name="Shape 731"/>
        <p:cNvGrpSpPr/>
        <p:nvPr/>
      </p:nvGrpSpPr>
      <p:grpSpPr>
        <a:xfrm>
          <a:off x="0" y="0"/>
          <a:ext cx="0" cy="0"/>
          <a:chOff x="0" y="0"/>
          <a:chExt cx="0" cy="0"/>
        </a:xfrm>
      </p:grpSpPr>
      <p:pic>
        <p:nvPicPr>
          <p:cNvPr id="732" name="Google Shape;732;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3" name="Google Shape;733;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35" name="Google Shape;735;p58"/>
          <p:cNvSpPr txBox="1"/>
          <p:nvPr/>
        </p:nvSpPr>
        <p:spPr>
          <a:xfrm>
            <a:off x="324000" y="45525"/>
            <a:ext cx="988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36" name="Google Shape;736;p5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37" name="Google Shape;737;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38" name="Google Shape;738;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39" name="Shape 739"/>
        <p:cNvGrpSpPr/>
        <p:nvPr/>
      </p:nvGrpSpPr>
      <p:grpSpPr>
        <a:xfrm>
          <a:off x="0" y="0"/>
          <a:ext cx="0" cy="0"/>
          <a:chOff x="0" y="0"/>
          <a:chExt cx="0" cy="0"/>
        </a:xfrm>
      </p:grpSpPr>
      <p:sp>
        <p:nvSpPr>
          <p:cNvPr id="740" name="Google Shape;740;p59"/>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1" name="Google Shape;741;p59"/>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42" name="Google Shape;742;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3" name="Google Shape;743;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44" name="Google Shape;744;p59"/>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45" name="Shape 745"/>
        <p:cNvGrpSpPr/>
        <p:nvPr/>
      </p:nvGrpSpPr>
      <p:grpSpPr>
        <a:xfrm>
          <a:off x="0" y="0"/>
          <a:ext cx="0" cy="0"/>
          <a:chOff x="0" y="0"/>
          <a:chExt cx="0" cy="0"/>
        </a:xfrm>
      </p:grpSpPr>
      <p:sp>
        <p:nvSpPr>
          <p:cNvPr id="746" name="Google Shape;746;p60"/>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7" name="Google Shape;747;p60"/>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48" name="Google Shape;748;p6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50" name="Google Shape;750;p60"/>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51" name="Shape 751"/>
        <p:cNvGrpSpPr/>
        <p:nvPr/>
      </p:nvGrpSpPr>
      <p:grpSpPr>
        <a:xfrm>
          <a:off x="0" y="0"/>
          <a:ext cx="0" cy="0"/>
          <a:chOff x="0" y="0"/>
          <a:chExt cx="0" cy="0"/>
        </a:xfrm>
      </p:grpSpPr>
      <p:pic>
        <p:nvPicPr>
          <p:cNvPr id="752" name="Google Shape;752;p61"/>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53" name="Google Shape;753;p61"/>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54" name="Shape 754"/>
        <p:cNvGrpSpPr/>
        <p:nvPr/>
      </p:nvGrpSpPr>
      <p:grpSpPr>
        <a:xfrm>
          <a:off x="0" y="0"/>
          <a:ext cx="0" cy="0"/>
          <a:chOff x="0" y="0"/>
          <a:chExt cx="0" cy="0"/>
        </a:xfrm>
      </p:grpSpPr>
      <p:sp>
        <p:nvSpPr>
          <p:cNvPr id="755" name="Google Shape;755;p62"/>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56" name="Google Shape;756;p62"/>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57" name="Google Shape;757;p62"/>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58" name="Google Shape;758;p62"/>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59" name="Google Shape;759;p62"/>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60" name="Google Shape;760;p62"/>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61" name="Google Shape;761;p62"/>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62" name="Google Shape;762;p62"/>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63" name="Google Shape;763;p62"/>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64" name="Shape 764"/>
        <p:cNvGrpSpPr/>
        <p:nvPr/>
      </p:nvGrpSpPr>
      <p:grpSpPr>
        <a:xfrm>
          <a:off x="0" y="0"/>
          <a:ext cx="0" cy="0"/>
          <a:chOff x="0" y="0"/>
          <a:chExt cx="0" cy="0"/>
        </a:xfrm>
      </p:grpSpPr>
      <p:pic>
        <p:nvPicPr>
          <p:cNvPr id="765" name="Google Shape;765;p63"/>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66" name="Google Shape;766;p63"/>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67" name="Shape 767"/>
        <p:cNvGrpSpPr/>
        <p:nvPr/>
      </p:nvGrpSpPr>
      <p:grpSpPr>
        <a:xfrm>
          <a:off x="0" y="0"/>
          <a:ext cx="0" cy="0"/>
          <a:chOff x="0" y="0"/>
          <a:chExt cx="0" cy="0"/>
        </a:xfrm>
      </p:grpSpPr>
      <p:sp>
        <p:nvSpPr>
          <p:cNvPr id="768" name="Google Shape;768;p64"/>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65" Type="http://schemas.openxmlformats.org/officeDocument/2006/relationships/theme" Target="../theme/theme1.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50.png"/><Relationship Id="rId5"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43.png"/><Relationship Id="rId4" Type="http://schemas.openxmlformats.org/officeDocument/2006/relationships/image" Target="../media/image50.png"/><Relationship Id="rId5"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 Id="rId3"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4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 Id="rId3" Type="http://schemas.openxmlformats.org/officeDocument/2006/relationships/image" Target="../media/image43.png"/><Relationship Id="rId4" Type="http://schemas.openxmlformats.org/officeDocument/2006/relationships/image" Target="../media/image53.png"/><Relationship Id="rId9" Type="http://schemas.openxmlformats.org/officeDocument/2006/relationships/image" Target="../media/image58.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53.png"/><Relationship Id="rId9" Type="http://schemas.openxmlformats.org/officeDocument/2006/relationships/image" Target="../media/image58.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53.png"/><Relationship Id="rId9" Type="http://schemas.openxmlformats.org/officeDocument/2006/relationships/image" Target="../media/image59.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image" Target="../media/image49.png"/><Relationship Id="rId9" Type="http://schemas.openxmlformats.org/officeDocument/2006/relationships/image" Target="../media/image55.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6.png"/><Relationship Id="rId8" Type="http://schemas.openxmlformats.org/officeDocument/2006/relationships/image" Target="../media/image54.png"/><Relationship Id="rId11" Type="http://schemas.openxmlformats.org/officeDocument/2006/relationships/image" Target="../media/image67.png"/><Relationship Id="rId10"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image" Target="../media/image55.png"/><Relationship Id="rId5" Type="http://schemas.openxmlformats.org/officeDocument/2006/relationships/image" Target="../media/image6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43.png"/><Relationship Id="rId4" Type="http://schemas.openxmlformats.org/officeDocument/2006/relationships/image" Target="../media/image49.png"/><Relationship Id="rId9" Type="http://schemas.openxmlformats.org/officeDocument/2006/relationships/image" Target="../media/image72.png"/><Relationship Id="rId5" Type="http://schemas.openxmlformats.org/officeDocument/2006/relationships/image" Target="../media/image50.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53.png"/><Relationship Id="rId10" Type="http://schemas.openxmlformats.org/officeDocument/2006/relationships/image" Target="../media/image7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4.xml"/><Relationship Id="rId3" Type="http://schemas.openxmlformats.org/officeDocument/2006/relationships/image" Target="../media/image70.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5"/>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a rotation's direction and size</a:t>
            </a:r>
            <a:endParaRPr/>
          </a:p>
        </p:txBody>
      </p:sp>
      <p:sp>
        <p:nvSpPr>
          <p:cNvPr id="774" name="Google Shape;774;p65"/>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Transformations</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8" name="Shape 778"/>
        <p:cNvGrpSpPr/>
        <p:nvPr/>
      </p:nvGrpSpPr>
      <p:grpSpPr>
        <a:xfrm>
          <a:off x="0" y="0"/>
          <a:ext cx="0" cy="0"/>
          <a:chOff x="0" y="0"/>
          <a:chExt cx="0" cy="0"/>
        </a:xfrm>
      </p:grpSpPr>
      <p:sp>
        <p:nvSpPr>
          <p:cNvPr id="779" name="Google Shape;779;p66"/>
          <p:cNvSpPr txBox="1"/>
          <p:nvPr/>
        </p:nvSpPr>
        <p:spPr>
          <a:xfrm>
            <a:off x="5590850" y="725950"/>
            <a:ext cx="1928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7"/>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the size and direction of rotation.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8"/>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en-GB"/>
              <a:t>C</a:t>
            </a:r>
            <a:r>
              <a:rPr b="0" lang="en-GB"/>
              <a:t>lockwise is the direction that the hands </a:t>
            </a:r>
            <a:br>
              <a:rPr b="0" lang="en-GB"/>
            </a:br>
            <a:r>
              <a:rPr b="0" lang="en-GB"/>
              <a:t>of an analogue clock travel in.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
        <p:nvSpPr>
          <p:cNvPr id="790" name="Google Shape;790;p68"/>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0" lang="en-GB"/>
              <a:t>Anti-clockwise is the opposite direction to </a:t>
            </a:r>
            <a:br>
              <a:rPr b="0" lang="en-GB"/>
            </a:br>
            <a:r>
              <a:rPr b="0" lang="en-GB"/>
              <a:t>which the hands of an analogue clock travel. </a:t>
            </a:r>
            <a:endParaRPr/>
          </a:p>
        </p:txBody>
      </p:sp>
      <p:sp>
        <p:nvSpPr>
          <p:cNvPr id="791" name="Google Shape;791;p68"/>
          <p:cNvSpPr txBox="1"/>
          <p:nvPr>
            <p:ph idx="3" type="subTitle"/>
          </p:nvPr>
        </p:nvSpPr>
        <p:spPr>
          <a:xfrm>
            <a:off x="324000" y="3483825"/>
            <a:ext cx="8496000" cy="885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b="0" lang="en-GB"/>
              <a:t>Degrees is the most common unit of measurement for angle. One whole turn is equal to 360 degrees, written 360°.</a:t>
            </a:r>
            <a:endParaRPr/>
          </a:p>
        </p:txBody>
      </p:sp>
      <p:pic>
        <p:nvPicPr>
          <p:cNvPr descr="&lt;math xmlns=&quot;http://www.w3.org/1998/Math/MathML&quot; data-is-equatio=&quot;1&quot; data-equatio-url=&quot;https://equatio-api.texthelp.com/desmos/get/03-10-2023/016a48cd-2ac8-49a1-9038-a70a146b7c2b&quot; data-equatio-type=&quot;image&quot;&gt;&lt;mglyph src=&quot;https://equatio-api.texthelp.com/desmos/get/03-10-2023/016a48cd-2ac8-49a1-9038-a70a146b7c2b&quot; alt=&quot;Equatio Image&quot;/&gt;&lt;/math&gt;" id="792" name="Google Shape;792;p68" title="Equatio Image"/>
          <p:cNvPicPr preferRelativeResize="0"/>
          <p:nvPr/>
        </p:nvPicPr>
        <p:blipFill>
          <a:blip r:embed="rId3">
            <a:alphaModFix/>
          </a:blip>
          <a:stretch>
            <a:fillRect/>
          </a:stretch>
        </p:blipFill>
        <p:spPr>
          <a:xfrm>
            <a:off x="6229576" y="972712"/>
            <a:ext cx="1386612" cy="13866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9"/>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a:t>
            </a:r>
            <a:r>
              <a:rPr lang="en-GB"/>
              <a:t> the </a:t>
            </a:r>
            <a:r>
              <a:rPr lang="en-GB"/>
              <a:t>direction </a:t>
            </a:r>
            <a:r>
              <a:rPr lang="en-GB"/>
              <a:t>of a rotation</a:t>
            </a:r>
            <a:endParaRPr/>
          </a:p>
        </p:txBody>
      </p:sp>
      <p:sp>
        <p:nvSpPr>
          <p:cNvPr id="798" name="Google Shape;798;p69"/>
          <p:cNvSpPr txBox="1"/>
          <p:nvPr>
            <p:ph idx="4" type="title"/>
          </p:nvPr>
        </p:nvSpPr>
        <p:spPr>
          <a:xfrm>
            <a:off x="324000" y="8100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a rotation's direction and size</a:t>
            </a:r>
            <a:endParaRPr/>
          </a:p>
        </p:txBody>
      </p:sp>
      <p:sp>
        <p:nvSpPr>
          <p:cNvPr id="799" name="Google Shape;799;p69"/>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pic>
        <p:nvPicPr>
          <p:cNvPr id="800" name="Google Shape;800;p69"/>
          <p:cNvPicPr preferRelativeResize="0"/>
          <p:nvPr/>
        </p:nvPicPr>
        <p:blipFill>
          <a:blip r:embed="rId3">
            <a:alphaModFix/>
          </a:blip>
          <a:stretch>
            <a:fillRect/>
          </a:stretch>
        </p:blipFill>
        <p:spPr>
          <a:xfrm>
            <a:off x="410550" y="1748312"/>
            <a:ext cx="450575" cy="446750"/>
          </a:xfrm>
          <a:prstGeom prst="rect">
            <a:avLst/>
          </a:prstGeom>
          <a:noFill/>
          <a:ln>
            <a:noFill/>
          </a:ln>
        </p:spPr>
      </p:pic>
      <p:sp>
        <p:nvSpPr>
          <p:cNvPr id="801" name="Google Shape;801;p69"/>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the size of a rotation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0"/>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direction of a rotation</a:t>
            </a:r>
            <a:endParaRPr/>
          </a:p>
        </p:txBody>
      </p:sp>
      <p:sp>
        <p:nvSpPr>
          <p:cNvPr id="807" name="Google Shape;807;p70"/>
          <p:cNvSpPr txBox="1"/>
          <p:nvPr>
            <p:ph idx="1" type="body"/>
          </p:nvPr>
        </p:nvSpPr>
        <p:spPr>
          <a:xfrm>
            <a:off x="324000" y="759300"/>
            <a:ext cx="7779900" cy="782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A shape can be rotated in two directions: </a:t>
            </a:r>
            <a:r>
              <a:rPr lang="en-GB" sz="1800"/>
              <a:t>clockwise and anti-clockwise.</a:t>
            </a:r>
            <a:endParaRPr sz="1800"/>
          </a:p>
        </p:txBody>
      </p:sp>
      <p:pic>
        <p:nvPicPr>
          <p:cNvPr id="808" name="Google Shape;808;p70"/>
          <p:cNvPicPr preferRelativeResize="0"/>
          <p:nvPr/>
        </p:nvPicPr>
        <p:blipFill rotWithShape="1">
          <a:blip r:embed="rId3">
            <a:alphaModFix/>
          </a:blip>
          <a:srcRect b="84456" l="69479" r="18283" t="2791"/>
          <a:stretch/>
        </p:blipFill>
        <p:spPr>
          <a:xfrm>
            <a:off x="1801494" y="1471079"/>
            <a:ext cx="776752" cy="818550"/>
          </a:xfrm>
          <a:prstGeom prst="rect">
            <a:avLst/>
          </a:prstGeom>
          <a:noFill/>
          <a:ln>
            <a:noFill/>
          </a:ln>
        </p:spPr>
      </p:pic>
      <p:sp>
        <p:nvSpPr>
          <p:cNvPr id="809" name="Google Shape;809;p70"/>
          <p:cNvSpPr txBox="1"/>
          <p:nvPr>
            <p:ph idx="1" type="body"/>
          </p:nvPr>
        </p:nvSpPr>
        <p:spPr>
          <a:xfrm>
            <a:off x="2746019" y="1711537"/>
            <a:ext cx="5658900" cy="72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Clockwise </a:t>
            </a:r>
            <a:r>
              <a:rPr lang="en-GB" sz="1800"/>
              <a:t>can be described as the top of an object being rotated right…</a:t>
            </a:r>
            <a:endParaRPr sz="1800"/>
          </a:p>
        </p:txBody>
      </p:sp>
      <p:sp>
        <p:nvSpPr>
          <p:cNvPr id="810" name="Google Shape;810;p70"/>
          <p:cNvSpPr txBox="1"/>
          <p:nvPr>
            <p:ph idx="1" type="body"/>
          </p:nvPr>
        </p:nvSpPr>
        <p:spPr>
          <a:xfrm>
            <a:off x="2746019" y="2434237"/>
            <a:ext cx="5658900" cy="72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sz="1800"/>
              <a:t>and the bottom of the object being rotated left.</a:t>
            </a:r>
            <a:endParaRPr sz="1800"/>
          </a:p>
        </p:txBody>
      </p:sp>
      <p:pic>
        <p:nvPicPr>
          <p:cNvPr id="811" name="Google Shape;811;p70"/>
          <p:cNvPicPr preferRelativeResize="0"/>
          <p:nvPr/>
        </p:nvPicPr>
        <p:blipFill rotWithShape="1">
          <a:blip r:embed="rId3">
            <a:alphaModFix/>
          </a:blip>
          <a:srcRect b="84456" l="69479" r="18283" t="2791"/>
          <a:stretch/>
        </p:blipFill>
        <p:spPr>
          <a:xfrm rot="10800000">
            <a:off x="739081" y="2195828"/>
            <a:ext cx="776752" cy="818550"/>
          </a:xfrm>
          <a:prstGeom prst="rect">
            <a:avLst/>
          </a:prstGeom>
          <a:noFill/>
          <a:ln>
            <a:noFill/>
          </a:ln>
        </p:spPr>
      </p:pic>
      <p:grpSp>
        <p:nvGrpSpPr>
          <p:cNvPr id="812" name="Google Shape;812;p70"/>
          <p:cNvGrpSpPr/>
          <p:nvPr/>
        </p:nvGrpSpPr>
        <p:grpSpPr>
          <a:xfrm>
            <a:off x="1204619" y="1718447"/>
            <a:ext cx="978718" cy="977882"/>
            <a:chOff x="1204619" y="1566047"/>
            <a:chExt cx="978718" cy="977882"/>
          </a:xfrm>
        </p:grpSpPr>
        <p:sp>
          <p:nvSpPr>
            <p:cNvPr id="813" name="Google Shape;813;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15" name="Google Shape;815;p70"/>
          <p:cNvGrpSpPr/>
          <p:nvPr/>
        </p:nvGrpSpPr>
        <p:grpSpPr>
          <a:xfrm rot="1800044">
            <a:off x="1204591" y="1718390"/>
            <a:ext cx="978696" cy="977860"/>
            <a:chOff x="1204619" y="1566047"/>
            <a:chExt cx="978718" cy="977882"/>
          </a:xfrm>
        </p:grpSpPr>
        <p:sp>
          <p:nvSpPr>
            <p:cNvPr id="816" name="Google Shape;816;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18" name="Google Shape;818;p70"/>
          <p:cNvGrpSpPr/>
          <p:nvPr/>
        </p:nvGrpSpPr>
        <p:grpSpPr>
          <a:xfrm rot="3599956">
            <a:off x="1204697" y="1706826"/>
            <a:ext cx="978696" cy="977860"/>
            <a:chOff x="1204619" y="1566047"/>
            <a:chExt cx="978718" cy="977882"/>
          </a:xfrm>
        </p:grpSpPr>
        <p:sp>
          <p:nvSpPr>
            <p:cNvPr id="819" name="Google Shape;819;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21" name="Google Shape;821;p70"/>
          <p:cNvGrpSpPr/>
          <p:nvPr/>
        </p:nvGrpSpPr>
        <p:grpSpPr>
          <a:xfrm rot="5400000">
            <a:off x="1204650" y="1706855"/>
            <a:ext cx="978718" cy="977882"/>
            <a:chOff x="1204619" y="1566047"/>
            <a:chExt cx="978718" cy="977882"/>
          </a:xfrm>
        </p:grpSpPr>
        <p:sp>
          <p:nvSpPr>
            <p:cNvPr id="822" name="Google Shape;822;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24" name="Google Shape;824;p70"/>
          <p:cNvGrpSpPr/>
          <p:nvPr/>
        </p:nvGrpSpPr>
        <p:grpSpPr>
          <a:xfrm rot="7200044">
            <a:off x="1204729" y="1706826"/>
            <a:ext cx="978696" cy="977860"/>
            <a:chOff x="1204619" y="1566047"/>
            <a:chExt cx="978718" cy="977882"/>
          </a:xfrm>
        </p:grpSpPr>
        <p:sp>
          <p:nvSpPr>
            <p:cNvPr id="825" name="Google Shape;825;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27" name="Google Shape;827;p70"/>
          <p:cNvGrpSpPr/>
          <p:nvPr/>
        </p:nvGrpSpPr>
        <p:grpSpPr>
          <a:xfrm rot="8999956">
            <a:off x="1204732" y="1712244"/>
            <a:ext cx="978696" cy="977860"/>
            <a:chOff x="1204619" y="1566047"/>
            <a:chExt cx="978718" cy="977882"/>
          </a:xfrm>
        </p:grpSpPr>
        <p:sp>
          <p:nvSpPr>
            <p:cNvPr id="828" name="Google Shape;828;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30" name="Google Shape;830;p70"/>
          <p:cNvGrpSpPr/>
          <p:nvPr/>
        </p:nvGrpSpPr>
        <p:grpSpPr>
          <a:xfrm rot="10800000">
            <a:off x="1204683" y="1711266"/>
            <a:ext cx="978718" cy="977882"/>
            <a:chOff x="1204619" y="1566047"/>
            <a:chExt cx="978718" cy="977882"/>
          </a:xfrm>
        </p:grpSpPr>
        <p:sp>
          <p:nvSpPr>
            <p:cNvPr id="831" name="Google Shape;831;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33" name="Google Shape;833;p70"/>
          <p:cNvGrpSpPr/>
          <p:nvPr/>
        </p:nvGrpSpPr>
        <p:grpSpPr>
          <a:xfrm rot="-8999956">
            <a:off x="1204733" y="1711074"/>
            <a:ext cx="978696" cy="977860"/>
            <a:chOff x="1204619" y="1566047"/>
            <a:chExt cx="978718" cy="977882"/>
          </a:xfrm>
        </p:grpSpPr>
        <p:sp>
          <p:nvSpPr>
            <p:cNvPr id="834" name="Google Shape;834;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36" name="Google Shape;836;p70"/>
          <p:cNvGrpSpPr/>
          <p:nvPr/>
        </p:nvGrpSpPr>
        <p:grpSpPr>
          <a:xfrm rot="-7200044">
            <a:off x="1204627" y="1712278"/>
            <a:ext cx="978696" cy="977860"/>
            <a:chOff x="1204619" y="1566047"/>
            <a:chExt cx="978718" cy="977882"/>
          </a:xfrm>
        </p:grpSpPr>
        <p:sp>
          <p:nvSpPr>
            <p:cNvPr id="837" name="Google Shape;837;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39" name="Google Shape;839;p70"/>
          <p:cNvGrpSpPr/>
          <p:nvPr/>
        </p:nvGrpSpPr>
        <p:grpSpPr>
          <a:xfrm rot="-5400000">
            <a:off x="1204652" y="1719857"/>
            <a:ext cx="978718" cy="977882"/>
            <a:chOff x="1204619" y="1566047"/>
            <a:chExt cx="978718" cy="977882"/>
          </a:xfrm>
        </p:grpSpPr>
        <p:sp>
          <p:nvSpPr>
            <p:cNvPr id="840" name="Google Shape;840;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42" name="Google Shape;842;p70"/>
          <p:cNvGrpSpPr/>
          <p:nvPr/>
        </p:nvGrpSpPr>
        <p:grpSpPr>
          <a:xfrm rot="-3599956">
            <a:off x="1204595" y="1712771"/>
            <a:ext cx="978696" cy="977860"/>
            <a:chOff x="1204619" y="1566047"/>
            <a:chExt cx="978718" cy="977882"/>
          </a:xfrm>
        </p:grpSpPr>
        <p:sp>
          <p:nvSpPr>
            <p:cNvPr id="843" name="Google Shape;843;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45" name="Google Shape;845;p70"/>
          <p:cNvGrpSpPr/>
          <p:nvPr/>
        </p:nvGrpSpPr>
        <p:grpSpPr>
          <a:xfrm rot="-1800044">
            <a:off x="1204592" y="1714098"/>
            <a:ext cx="978696" cy="977860"/>
            <a:chOff x="1204619" y="1566047"/>
            <a:chExt cx="978718" cy="977882"/>
          </a:xfrm>
        </p:grpSpPr>
        <p:sp>
          <p:nvSpPr>
            <p:cNvPr id="846" name="Google Shape;846;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48" name="Google Shape;848;p70"/>
          <p:cNvGrpSpPr/>
          <p:nvPr/>
        </p:nvGrpSpPr>
        <p:grpSpPr>
          <a:xfrm>
            <a:off x="1204619" y="1719644"/>
            <a:ext cx="978718" cy="977882"/>
            <a:chOff x="1204619" y="1566047"/>
            <a:chExt cx="978718" cy="977882"/>
          </a:xfrm>
        </p:grpSpPr>
        <p:sp>
          <p:nvSpPr>
            <p:cNvPr id="849" name="Google Shape;849;p70"/>
            <p:cNvSpPr/>
            <p:nvPr/>
          </p:nvSpPr>
          <p:spPr>
            <a:xfrm>
              <a:off x="1204619" y="1636729"/>
              <a:ext cx="908100" cy="9072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70"/>
            <p:cNvSpPr/>
            <p:nvPr/>
          </p:nvSpPr>
          <p:spPr>
            <a:xfrm>
              <a:off x="2042037" y="1566047"/>
              <a:ext cx="141300" cy="141300"/>
            </a:xfrm>
            <a:prstGeom prst="ellipse">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id="851" name="Google Shape;851;p70"/>
          <p:cNvPicPr preferRelativeResize="0"/>
          <p:nvPr/>
        </p:nvPicPr>
        <p:blipFill rotWithShape="1">
          <a:blip r:embed="rId3">
            <a:alphaModFix/>
          </a:blip>
          <a:srcRect b="59596" l="72295" r="13950" t="27330"/>
          <a:stretch/>
        </p:blipFill>
        <p:spPr>
          <a:xfrm flipH="1">
            <a:off x="6472845" y="3101458"/>
            <a:ext cx="868248" cy="834625"/>
          </a:xfrm>
          <a:prstGeom prst="rect">
            <a:avLst/>
          </a:prstGeom>
          <a:noFill/>
          <a:ln>
            <a:noFill/>
          </a:ln>
        </p:spPr>
      </p:pic>
      <p:pic>
        <p:nvPicPr>
          <p:cNvPr id="852" name="Google Shape;852;p70"/>
          <p:cNvPicPr preferRelativeResize="0"/>
          <p:nvPr/>
        </p:nvPicPr>
        <p:blipFill rotWithShape="1">
          <a:blip r:embed="rId3">
            <a:alphaModFix/>
          </a:blip>
          <a:srcRect b="59596" l="72295" r="13950" t="27330"/>
          <a:stretch/>
        </p:blipFill>
        <p:spPr>
          <a:xfrm flipH="1" rot="10800000">
            <a:off x="7747895" y="3908830"/>
            <a:ext cx="868248" cy="834625"/>
          </a:xfrm>
          <a:prstGeom prst="rect">
            <a:avLst/>
          </a:prstGeom>
          <a:noFill/>
          <a:ln>
            <a:noFill/>
          </a:ln>
        </p:spPr>
      </p:pic>
      <p:sp>
        <p:nvSpPr>
          <p:cNvPr id="853" name="Google Shape;853;p70"/>
          <p:cNvSpPr txBox="1"/>
          <p:nvPr/>
        </p:nvSpPr>
        <p:spPr>
          <a:xfrm>
            <a:off x="739069" y="3473605"/>
            <a:ext cx="5658900" cy="72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chemeClr val="dk1"/>
              </a:buClr>
              <a:buSzPts val="2200"/>
              <a:buFont typeface="Lexend"/>
              <a:buNone/>
            </a:pPr>
            <a:r>
              <a:rPr i="0" lang="en-GB" sz="1800" u="none" cap="none" strike="noStrike">
                <a:solidFill>
                  <a:schemeClr val="dk1"/>
                </a:solidFill>
                <a:latin typeface="Lexend"/>
                <a:ea typeface="Lexend"/>
                <a:cs typeface="Lexend"/>
                <a:sym typeface="Lexend"/>
              </a:rPr>
              <a:t>Anti-clockwise c</a:t>
            </a:r>
            <a:r>
              <a:rPr b="0" i="0" lang="en-GB" sz="1800" u="none" cap="none" strike="noStrike">
                <a:solidFill>
                  <a:schemeClr val="dk1"/>
                </a:solidFill>
                <a:latin typeface="Lexend"/>
                <a:ea typeface="Lexend"/>
                <a:cs typeface="Lexend"/>
                <a:sym typeface="Lexend"/>
              </a:rPr>
              <a:t>an be described as the top of an object being rotated left…</a:t>
            </a:r>
            <a:endParaRPr/>
          </a:p>
        </p:txBody>
      </p:sp>
      <p:sp>
        <p:nvSpPr>
          <p:cNvPr id="854" name="Google Shape;854;p70"/>
          <p:cNvSpPr txBox="1"/>
          <p:nvPr/>
        </p:nvSpPr>
        <p:spPr>
          <a:xfrm>
            <a:off x="739069" y="4196317"/>
            <a:ext cx="5658900" cy="72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1000"/>
              </a:spcAft>
              <a:buClr>
                <a:schemeClr val="dk1"/>
              </a:buClr>
              <a:buSzPts val="2200"/>
              <a:buFont typeface="Lexend"/>
              <a:buNone/>
            </a:pPr>
            <a:r>
              <a:rPr b="0" i="0" lang="en-GB" sz="1800" u="none" cap="none" strike="noStrike">
                <a:solidFill>
                  <a:schemeClr val="dk1"/>
                </a:solidFill>
                <a:latin typeface="Lexend"/>
                <a:ea typeface="Lexend"/>
                <a:cs typeface="Lexend"/>
                <a:sym typeface="Lexend"/>
              </a:rPr>
              <a:t>and the bottom of the object being rotated right.</a:t>
            </a:r>
            <a:endParaRPr/>
          </a:p>
        </p:txBody>
      </p:sp>
      <p:grpSp>
        <p:nvGrpSpPr>
          <p:cNvPr id="855" name="Google Shape;855;p70"/>
          <p:cNvGrpSpPr/>
          <p:nvPr/>
        </p:nvGrpSpPr>
        <p:grpSpPr>
          <a:xfrm flipH="1">
            <a:off x="7055168" y="3419434"/>
            <a:ext cx="978718" cy="977882"/>
            <a:chOff x="1204619" y="1566047"/>
            <a:chExt cx="978718" cy="977882"/>
          </a:xfrm>
        </p:grpSpPr>
        <p:sp>
          <p:nvSpPr>
            <p:cNvPr id="856" name="Google Shape;856;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58" name="Google Shape;858;p70"/>
          <p:cNvGrpSpPr/>
          <p:nvPr/>
        </p:nvGrpSpPr>
        <p:grpSpPr>
          <a:xfrm flipH="1" rot="-1800044">
            <a:off x="7055218" y="3419377"/>
            <a:ext cx="978696" cy="977860"/>
            <a:chOff x="1204619" y="1566047"/>
            <a:chExt cx="978718" cy="977882"/>
          </a:xfrm>
        </p:grpSpPr>
        <p:sp>
          <p:nvSpPr>
            <p:cNvPr id="859" name="Google Shape;859;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61" name="Google Shape;861;p70"/>
          <p:cNvGrpSpPr/>
          <p:nvPr/>
        </p:nvGrpSpPr>
        <p:grpSpPr>
          <a:xfrm flipH="1" rot="-3599956">
            <a:off x="7055110" y="3407813"/>
            <a:ext cx="978696" cy="977860"/>
            <a:chOff x="1204619" y="1566047"/>
            <a:chExt cx="978718" cy="977882"/>
          </a:xfrm>
        </p:grpSpPr>
        <p:sp>
          <p:nvSpPr>
            <p:cNvPr id="862" name="Google Shape;862;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64" name="Google Shape;864;p70"/>
          <p:cNvGrpSpPr/>
          <p:nvPr/>
        </p:nvGrpSpPr>
        <p:grpSpPr>
          <a:xfrm flipH="1" rot="-5400000">
            <a:off x="7055135" y="3407842"/>
            <a:ext cx="978718" cy="977882"/>
            <a:chOff x="1204619" y="1566047"/>
            <a:chExt cx="978718" cy="977882"/>
          </a:xfrm>
        </p:grpSpPr>
        <p:sp>
          <p:nvSpPr>
            <p:cNvPr id="865" name="Google Shape;865;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67" name="Google Shape;867;p70"/>
          <p:cNvGrpSpPr/>
          <p:nvPr/>
        </p:nvGrpSpPr>
        <p:grpSpPr>
          <a:xfrm flipH="1" rot="-7200044">
            <a:off x="7055078" y="3407813"/>
            <a:ext cx="978696" cy="977860"/>
            <a:chOff x="1204619" y="1566047"/>
            <a:chExt cx="978718" cy="977882"/>
          </a:xfrm>
        </p:grpSpPr>
        <p:sp>
          <p:nvSpPr>
            <p:cNvPr id="868" name="Google Shape;868;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70" name="Google Shape;870;p70"/>
          <p:cNvGrpSpPr/>
          <p:nvPr/>
        </p:nvGrpSpPr>
        <p:grpSpPr>
          <a:xfrm flipH="1" rot="-8999956">
            <a:off x="7055075" y="3413231"/>
            <a:ext cx="978696" cy="977860"/>
            <a:chOff x="1204619" y="1566047"/>
            <a:chExt cx="978718" cy="977882"/>
          </a:xfrm>
        </p:grpSpPr>
        <p:sp>
          <p:nvSpPr>
            <p:cNvPr id="871" name="Google Shape;871;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73" name="Google Shape;873;p70"/>
          <p:cNvGrpSpPr/>
          <p:nvPr/>
        </p:nvGrpSpPr>
        <p:grpSpPr>
          <a:xfrm flipH="1" rot="10800000">
            <a:off x="7055104" y="3412253"/>
            <a:ext cx="978718" cy="977882"/>
            <a:chOff x="1204619" y="1566047"/>
            <a:chExt cx="978718" cy="977882"/>
          </a:xfrm>
        </p:grpSpPr>
        <p:sp>
          <p:nvSpPr>
            <p:cNvPr id="874" name="Google Shape;874;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76" name="Google Shape;876;p70"/>
          <p:cNvGrpSpPr/>
          <p:nvPr/>
        </p:nvGrpSpPr>
        <p:grpSpPr>
          <a:xfrm flipH="1" rot="8999956">
            <a:off x="7055076" y="3412061"/>
            <a:ext cx="978696" cy="977860"/>
            <a:chOff x="1204619" y="1566047"/>
            <a:chExt cx="978718" cy="977882"/>
          </a:xfrm>
        </p:grpSpPr>
        <p:sp>
          <p:nvSpPr>
            <p:cNvPr id="877" name="Google Shape;877;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79" name="Google Shape;879;p70"/>
          <p:cNvGrpSpPr/>
          <p:nvPr/>
        </p:nvGrpSpPr>
        <p:grpSpPr>
          <a:xfrm flipH="1" rot="7200044">
            <a:off x="7055184" y="3413265"/>
            <a:ext cx="978696" cy="977860"/>
            <a:chOff x="1204619" y="1566047"/>
            <a:chExt cx="978718" cy="977882"/>
          </a:xfrm>
        </p:grpSpPr>
        <p:sp>
          <p:nvSpPr>
            <p:cNvPr id="880" name="Google Shape;880;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82" name="Google Shape;882;p70"/>
          <p:cNvGrpSpPr/>
          <p:nvPr/>
        </p:nvGrpSpPr>
        <p:grpSpPr>
          <a:xfrm flipH="1" rot="5400000">
            <a:off x="7055137" y="3420844"/>
            <a:ext cx="978718" cy="977882"/>
            <a:chOff x="1204619" y="1566047"/>
            <a:chExt cx="978718" cy="977882"/>
          </a:xfrm>
        </p:grpSpPr>
        <p:sp>
          <p:nvSpPr>
            <p:cNvPr id="883" name="Google Shape;883;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85" name="Google Shape;885;p70"/>
          <p:cNvGrpSpPr/>
          <p:nvPr/>
        </p:nvGrpSpPr>
        <p:grpSpPr>
          <a:xfrm flipH="1" rot="3599956">
            <a:off x="7055216" y="3413758"/>
            <a:ext cx="978696" cy="977860"/>
            <a:chOff x="1204619" y="1566047"/>
            <a:chExt cx="978718" cy="977882"/>
          </a:xfrm>
        </p:grpSpPr>
        <p:sp>
          <p:nvSpPr>
            <p:cNvPr id="886" name="Google Shape;886;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88" name="Google Shape;888;p70"/>
          <p:cNvGrpSpPr/>
          <p:nvPr/>
        </p:nvGrpSpPr>
        <p:grpSpPr>
          <a:xfrm flipH="1" rot="1800044">
            <a:off x="7055219" y="3415085"/>
            <a:ext cx="978696" cy="977860"/>
            <a:chOff x="1204619" y="1566047"/>
            <a:chExt cx="978718" cy="977882"/>
          </a:xfrm>
        </p:grpSpPr>
        <p:sp>
          <p:nvSpPr>
            <p:cNvPr id="889" name="Google Shape;889;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891" name="Google Shape;891;p70"/>
          <p:cNvGrpSpPr/>
          <p:nvPr/>
        </p:nvGrpSpPr>
        <p:grpSpPr>
          <a:xfrm flipH="1">
            <a:off x="7055168" y="3420631"/>
            <a:ext cx="978718" cy="977882"/>
            <a:chOff x="1204619" y="1566047"/>
            <a:chExt cx="978718" cy="977882"/>
          </a:xfrm>
        </p:grpSpPr>
        <p:sp>
          <p:nvSpPr>
            <p:cNvPr id="892" name="Google Shape;892;p70"/>
            <p:cNvSpPr/>
            <p:nvPr/>
          </p:nvSpPr>
          <p:spPr>
            <a:xfrm>
              <a:off x="1204619" y="1636729"/>
              <a:ext cx="908100" cy="9072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70"/>
            <p:cNvSpPr/>
            <p:nvPr/>
          </p:nvSpPr>
          <p:spPr>
            <a:xfrm>
              <a:off x="2042037" y="1566047"/>
              <a:ext cx="141300" cy="141300"/>
            </a:xfrm>
            <a:prstGeom prst="ellipse">
              <a:avLst/>
            </a:prstGeom>
            <a:solidFill>
              <a:srgbClr val="E6F2F2"/>
            </a:solidFill>
            <a:ln cap="flat" cmpd="sng" w="25400">
              <a:solidFill>
                <a:srgbClr val="037B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1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15"/>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18"/>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100"/>
                                  </p:stCondLst>
                                  <p:childTnLst>
                                    <p:set>
                                      <p:cBhvr>
                                        <p:cTn dur="1" fill="hold">
                                          <p:stCondLst>
                                            <p:cond delay="1"/>
                                          </p:stCondLst>
                                        </p:cTn>
                                        <p:tgtEl>
                                          <p:spTgt spid="818"/>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21"/>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100"/>
                                  </p:stCondLst>
                                  <p:childTnLst>
                                    <p:set>
                                      <p:cBhvr>
                                        <p:cTn dur="1" fill="hold">
                                          <p:stCondLst>
                                            <p:cond delay="1"/>
                                          </p:stCondLst>
                                        </p:cTn>
                                        <p:tgtEl>
                                          <p:spTgt spid="821"/>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24"/>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100"/>
                                  </p:stCondLst>
                                  <p:childTnLst>
                                    <p:set>
                                      <p:cBhvr>
                                        <p:cTn dur="1" fill="hold">
                                          <p:stCondLst>
                                            <p:cond delay="1"/>
                                          </p:stCondLst>
                                        </p:cTn>
                                        <p:tgtEl>
                                          <p:spTgt spid="824"/>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27"/>
                                        </p:tgtEl>
                                        <p:attrNameLst>
                                          <p:attrName>style.visibility</p:attrName>
                                        </p:attrNameLst>
                                      </p:cBhvr>
                                      <p:to>
                                        <p:strVal val="visible"/>
                                      </p:to>
                                    </p:set>
                                  </p:childTnLst>
                                </p:cTn>
                              </p:par>
                            </p:childTnLst>
                          </p:cTn>
                        </p:par>
                        <p:par>
                          <p:cTn fill="hold">
                            <p:stCondLst>
                              <p:cond delay="4"/>
                            </p:stCondLst>
                            <p:childTnLst>
                              <p:par>
                                <p:cTn fill="hold" nodeType="afterEffect" presetClass="exit" presetID="1" presetSubtype="0">
                                  <p:stCondLst>
                                    <p:cond delay="100"/>
                                  </p:stCondLst>
                                  <p:childTnLst>
                                    <p:set>
                                      <p:cBhvr>
                                        <p:cTn dur="1" fill="hold">
                                          <p:stCondLst>
                                            <p:cond delay="1"/>
                                          </p:stCondLst>
                                        </p:cTn>
                                        <p:tgtEl>
                                          <p:spTgt spid="827"/>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30"/>
                                        </p:tgtEl>
                                        <p:attrNameLst>
                                          <p:attrName>style.visibility</p:attrName>
                                        </p:attrNameLst>
                                      </p:cBhvr>
                                      <p:to>
                                        <p:strVal val="visible"/>
                                      </p:to>
                                    </p:set>
                                  </p:childTnLst>
                                </p:cTn>
                              </p:par>
                            </p:childTnLst>
                          </p:cTn>
                        </p:par>
                        <p:par>
                          <p:cTn fill="hold">
                            <p:stCondLst>
                              <p:cond delay="5"/>
                            </p:stCondLst>
                            <p:childTnLst>
                              <p:par>
                                <p:cTn fill="hold" nodeType="afterEffect" presetClass="exit" presetID="1" presetSubtype="0">
                                  <p:stCondLst>
                                    <p:cond delay="100"/>
                                  </p:stCondLst>
                                  <p:childTnLst>
                                    <p:set>
                                      <p:cBhvr>
                                        <p:cTn dur="1" fill="hold">
                                          <p:stCondLst>
                                            <p:cond delay="1"/>
                                          </p:stCondLst>
                                        </p:cTn>
                                        <p:tgtEl>
                                          <p:spTgt spid="830"/>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33"/>
                                        </p:tgtEl>
                                        <p:attrNameLst>
                                          <p:attrName>style.visibility</p:attrName>
                                        </p:attrNameLst>
                                      </p:cBhvr>
                                      <p:to>
                                        <p:strVal val="visible"/>
                                      </p:to>
                                    </p:set>
                                  </p:childTnLst>
                                </p:cTn>
                              </p:par>
                            </p:childTnLst>
                          </p:cTn>
                        </p:par>
                        <p:par>
                          <p:cTn fill="hold">
                            <p:stCondLst>
                              <p:cond delay="6"/>
                            </p:stCondLst>
                            <p:childTnLst>
                              <p:par>
                                <p:cTn fill="hold" nodeType="afterEffect" presetClass="exit" presetID="1" presetSubtype="0">
                                  <p:stCondLst>
                                    <p:cond delay="100"/>
                                  </p:stCondLst>
                                  <p:childTnLst>
                                    <p:set>
                                      <p:cBhvr>
                                        <p:cTn dur="1" fill="hold">
                                          <p:stCondLst>
                                            <p:cond delay="1"/>
                                          </p:stCondLst>
                                        </p:cTn>
                                        <p:tgtEl>
                                          <p:spTgt spid="833"/>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36"/>
                                        </p:tgtEl>
                                        <p:attrNameLst>
                                          <p:attrName>style.visibility</p:attrName>
                                        </p:attrNameLst>
                                      </p:cBhvr>
                                      <p:to>
                                        <p:strVal val="visible"/>
                                      </p:to>
                                    </p:set>
                                  </p:childTnLst>
                                </p:cTn>
                              </p:par>
                            </p:childTnLst>
                          </p:cTn>
                        </p:par>
                        <p:par>
                          <p:cTn fill="hold">
                            <p:stCondLst>
                              <p:cond delay="7"/>
                            </p:stCondLst>
                            <p:childTnLst>
                              <p:par>
                                <p:cTn fill="hold" nodeType="afterEffect" presetClass="exit" presetID="1" presetSubtype="0">
                                  <p:stCondLst>
                                    <p:cond delay="100"/>
                                  </p:stCondLst>
                                  <p:childTnLst>
                                    <p:set>
                                      <p:cBhvr>
                                        <p:cTn dur="1" fill="hold">
                                          <p:stCondLst>
                                            <p:cond delay="1"/>
                                          </p:stCondLst>
                                        </p:cTn>
                                        <p:tgtEl>
                                          <p:spTgt spid="836"/>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39"/>
                                        </p:tgtEl>
                                        <p:attrNameLst>
                                          <p:attrName>style.visibility</p:attrName>
                                        </p:attrNameLst>
                                      </p:cBhvr>
                                      <p:to>
                                        <p:strVal val="visible"/>
                                      </p:to>
                                    </p:set>
                                  </p:childTnLst>
                                </p:cTn>
                              </p:par>
                            </p:childTnLst>
                          </p:cTn>
                        </p:par>
                        <p:par>
                          <p:cTn fill="hold">
                            <p:stCondLst>
                              <p:cond delay="8"/>
                            </p:stCondLst>
                            <p:childTnLst>
                              <p:par>
                                <p:cTn fill="hold" nodeType="afterEffect" presetClass="exit" presetID="1" presetSubtype="0">
                                  <p:stCondLst>
                                    <p:cond delay="100"/>
                                  </p:stCondLst>
                                  <p:childTnLst>
                                    <p:set>
                                      <p:cBhvr>
                                        <p:cTn dur="1" fill="hold">
                                          <p:stCondLst>
                                            <p:cond delay="1"/>
                                          </p:stCondLst>
                                        </p:cTn>
                                        <p:tgtEl>
                                          <p:spTgt spid="839"/>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42"/>
                                        </p:tgtEl>
                                        <p:attrNameLst>
                                          <p:attrName>style.visibility</p:attrName>
                                        </p:attrNameLst>
                                      </p:cBhvr>
                                      <p:to>
                                        <p:strVal val="visible"/>
                                      </p:to>
                                    </p:set>
                                  </p:childTnLst>
                                </p:cTn>
                              </p:par>
                            </p:childTnLst>
                          </p:cTn>
                        </p:par>
                        <p:par>
                          <p:cTn fill="hold">
                            <p:stCondLst>
                              <p:cond delay="9"/>
                            </p:stCondLst>
                            <p:childTnLst>
                              <p:par>
                                <p:cTn fill="hold" nodeType="afterEffect" presetClass="exit" presetID="1" presetSubtype="0">
                                  <p:stCondLst>
                                    <p:cond delay="100"/>
                                  </p:stCondLst>
                                  <p:childTnLst>
                                    <p:set>
                                      <p:cBhvr>
                                        <p:cTn dur="1" fill="hold">
                                          <p:stCondLst>
                                            <p:cond delay="1"/>
                                          </p:stCondLst>
                                        </p:cTn>
                                        <p:tgtEl>
                                          <p:spTgt spid="842"/>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45"/>
                                        </p:tgtEl>
                                        <p:attrNameLst>
                                          <p:attrName>style.visibility</p:attrName>
                                        </p:attrNameLst>
                                      </p:cBhvr>
                                      <p:to>
                                        <p:strVal val="visible"/>
                                      </p:to>
                                    </p:set>
                                  </p:childTnLst>
                                </p:cTn>
                              </p:par>
                            </p:childTnLst>
                          </p:cTn>
                        </p:par>
                        <p:par>
                          <p:cTn fill="hold">
                            <p:stCondLst>
                              <p:cond delay="10"/>
                            </p:stCondLst>
                            <p:childTnLst>
                              <p:par>
                                <p:cTn fill="hold" nodeType="afterEffect" presetClass="exit" presetID="1" presetSubtype="0">
                                  <p:stCondLst>
                                    <p:cond delay="100"/>
                                  </p:stCondLst>
                                  <p:childTnLst>
                                    <p:set>
                                      <p:cBhvr>
                                        <p:cTn dur="1" fill="hold">
                                          <p:stCondLst>
                                            <p:cond delay="1"/>
                                          </p:stCondLst>
                                        </p:cTn>
                                        <p:tgtEl>
                                          <p:spTgt spid="845"/>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58"/>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61"/>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100"/>
                                  </p:stCondLst>
                                  <p:childTnLst>
                                    <p:set>
                                      <p:cBhvr>
                                        <p:cTn dur="1" fill="hold">
                                          <p:stCondLst>
                                            <p:cond delay="1"/>
                                          </p:stCondLst>
                                        </p:cTn>
                                        <p:tgtEl>
                                          <p:spTgt spid="861"/>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64"/>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100"/>
                                  </p:stCondLst>
                                  <p:childTnLst>
                                    <p:set>
                                      <p:cBhvr>
                                        <p:cTn dur="1" fill="hold">
                                          <p:stCondLst>
                                            <p:cond delay="1"/>
                                          </p:stCondLst>
                                        </p:cTn>
                                        <p:tgtEl>
                                          <p:spTgt spid="864"/>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67"/>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100"/>
                                  </p:stCondLst>
                                  <p:childTnLst>
                                    <p:set>
                                      <p:cBhvr>
                                        <p:cTn dur="1" fill="hold">
                                          <p:stCondLst>
                                            <p:cond delay="1"/>
                                          </p:stCondLst>
                                        </p:cTn>
                                        <p:tgtEl>
                                          <p:spTgt spid="867"/>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70"/>
                                        </p:tgtEl>
                                        <p:attrNameLst>
                                          <p:attrName>style.visibility</p:attrName>
                                        </p:attrNameLst>
                                      </p:cBhvr>
                                      <p:to>
                                        <p:strVal val="visible"/>
                                      </p:to>
                                    </p:set>
                                  </p:childTnLst>
                                </p:cTn>
                              </p:par>
                            </p:childTnLst>
                          </p:cTn>
                        </p:par>
                        <p:par>
                          <p:cTn fill="hold">
                            <p:stCondLst>
                              <p:cond delay="4"/>
                            </p:stCondLst>
                            <p:childTnLst>
                              <p:par>
                                <p:cTn fill="hold" nodeType="afterEffect" presetClass="exit" presetID="1" presetSubtype="0">
                                  <p:stCondLst>
                                    <p:cond delay="100"/>
                                  </p:stCondLst>
                                  <p:childTnLst>
                                    <p:set>
                                      <p:cBhvr>
                                        <p:cTn dur="1" fill="hold">
                                          <p:stCondLst>
                                            <p:cond delay="1"/>
                                          </p:stCondLst>
                                        </p:cTn>
                                        <p:tgtEl>
                                          <p:spTgt spid="870"/>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73"/>
                                        </p:tgtEl>
                                        <p:attrNameLst>
                                          <p:attrName>style.visibility</p:attrName>
                                        </p:attrNameLst>
                                      </p:cBhvr>
                                      <p:to>
                                        <p:strVal val="visible"/>
                                      </p:to>
                                    </p:set>
                                  </p:childTnLst>
                                </p:cTn>
                              </p:par>
                            </p:childTnLst>
                          </p:cTn>
                        </p:par>
                        <p:par>
                          <p:cTn fill="hold">
                            <p:stCondLst>
                              <p:cond delay="5"/>
                            </p:stCondLst>
                            <p:childTnLst>
                              <p:par>
                                <p:cTn fill="hold" nodeType="afterEffect" presetClass="exit" presetID="1" presetSubtype="0">
                                  <p:stCondLst>
                                    <p:cond delay="100"/>
                                  </p:stCondLst>
                                  <p:childTnLst>
                                    <p:set>
                                      <p:cBhvr>
                                        <p:cTn dur="1" fill="hold">
                                          <p:stCondLst>
                                            <p:cond delay="1"/>
                                          </p:stCondLst>
                                        </p:cTn>
                                        <p:tgtEl>
                                          <p:spTgt spid="873"/>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76"/>
                                        </p:tgtEl>
                                        <p:attrNameLst>
                                          <p:attrName>style.visibility</p:attrName>
                                        </p:attrNameLst>
                                      </p:cBhvr>
                                      <p:to>
                                        <p:strVal val="visible"/>
                                      </p:to>
                                    </p:set>
                                  </p:childTnLst>
                                </p:cTn>
                              </p:par>
                            </p:childTnLst>
                          </p:cTn>
                        </p:par>
                        <p:par>
                          <p:cTn fill="hold">
                            <p:stCondLst>
                              <p:cond delay="6"/>
                            </p:stCondLst>
                            <p:childTnLst>
                              <p:par>
                                <p:cTn fill="hold" nodeType="afterEffect" presetClass="exit" presetID="1" presetSubtype="0">
                                  <p:stCondLst>
                                    <p:cond delay="100"/>
                                  </p:stCondLst>
                                  <p:childTnLst>
                                    <p:set>
                                      <p:cBhvr>
                                        <p:cTn dur="1" fill="hold">
                                          <p:stCondLst>
                                            <p:cond delay="1"/>
                                          </p:stCondLst>
                                        </p:cTn>
                                        <p:tgtEl>
                                          <p:spTgt spid="876"/>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79"/>
                                        </p:tgtEl>
                                        <p:attrNameLst>
                                          <p:attrName>style.visibility</p:attrName>
                                        </p:attrNameLst>
                                      </p:cBhvr>
                                      <p:to>
                                        <p:strVal val="visible"/>
                                      </p:to>
                                    </p:set>
                                  </p:childTnLst>
                                </p:cTn>
                              </p:par>
                            </p:childTnLst>
                          </p:cTn>
                        </p:par>
                        <p:par>
                          <p:cTn fill="hold">
                            <p:stCondLst>
                              <p:cond delay="7"/>
                            </p:stCondLst>
                            <p:childTnLst>
                              <p:par>
                                <p:cTn fill="hold" nodeType="afterEffect" presetClass="exit" presetID="1" presetSubtype="0">
                                  <p:stCondLst>
                                    <p:cond delay="100"/>
                                  </p:stCondLst>
                                  <p:childTnLst>
                                    <p:set>
                                      <p:cBhvr>
                                        <p:cTn dur="1" fill="hold">
                                          <p:stCondLst>
                                            <p:cond delay="1"/>
                                          </p:stCondLst>
                                        </p:cTn>
                                        <p:tgtEl>
                                          <p:spTgt spid="879"/>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82"/>
                                        </p:tgtEl>
                                        <p:attrNameLst>
                                          <p:attrName>style.visibility</p:attrName>
                                        </p:attrNameLst>
                                      </p:cBhvr>
                                      <p:to>
                                        <p:strVal val="visible"/>
                                      </p:to>
                                    </p:set>
                                  </p:childTnLst>
                                </p:cTn>
                              </p:par>
                            </p:childTnLst>
                          </p:cTn>
                        </p:par>
                        <p:par>
                          <p:cTn fill="hold">
                            <p:stCondLst>
                              <p:cond delay="8"/>
                            </p:stCondLst>
                            <p:childTnLst>
                              <p:par>
                                <p:cTn fill="hold" nodeType="afterEffect" presetClass="exit" presetID="1" presetSubtype="0">
                                  <p:stCondLst>
                                    <p:cond delay="100"/>
                                  </p:stCondLst>
                                  <p:childTnLst>
                                    <p:set>
                                      <p:cBhvr>
                                        <p:cTn dur="1" fill="hold">
                                          <p:stCondLst>
                                            <p:cond delay="1"/>
                                          </p:stCondLst>
                                        </p:cTn>
                                        <p:tgtEl>
                                          <p:spTgt spid="882"/>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85"/>
                                        </p:tgtEl>
                                        <p:attrNameLst>
                                          <p:attrName>style.visibility</p:attrName>
                                        </p:attrNameLst>
                                      </p:cBhvr>
                                      <p:to>
                                        <p:strVal val="visible"/>
                                      </p:to>
                                    </p:set>
                                  </p:childTnLst>
                                </p:cTn>
                              </p:par>
                            </p:childTnLst>
                          </p:cTn>
                        </p:par>
                        <p:par>
                          <p:cTn fill="hold">
                            <p:stCondLst>
                              <p:cond delay="9"/>
                            </p:stCondLst>
                            <p:childTnLst>
                              <p:par>
                                <p:cTn fill="hold" nodeType="afterEffect" presetClass="exit" presetID="1" presetSubtype="0">
                                  <p:stCondLst>
                                    <p:cond delay="100"/>
                                  </p:stCondLst>
                                  <p:childTnLst>
                                    <p:set>
                                      <p:cBhvr>
                                        <p:cTn dur="1" fill="hold">
                                          <p:stCondLst>
                                            <p:cond delay="1"/>
                                          </p:stCondLst>
                                        </p:cTn>
                                        <p:tgtEl>
                                          <p:spTgt spid="885"/>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88"/>
                                        </p:tgtEl>
                                        <p:attrNameLst>
                                          <p:attrName>style.visibility</p:attrName>
                                        </p:attrNameLst>
                                      </p:cBhvr>
                                      <p:to>
                                        <p:strVal val="visible"/>
                                      </p:to>
                                    </p:set>
                                  </p:childTnLst>
                                </p:cTn>
                              </p:par>
                            </p:childTnLst>
                          </p:cTn>
                        </p:par>
                        <p:par>
                          <p:cTn fill="hold">
                            <p:stCondLst>
                              <p:cond delay="10"/>
                            </p:stCondLst>
                            <p:childTnLst>
                              <p:par>
                                <p:cTn fill="hold" nodeType="afterEffect" presetClass="exit" presetID="1" presetSubtype="0">
                                  <p:stCondLst>
                                    <p:cond delay="100"/>
                                  </p:stCondLst>
                                  <p:childTnLst>
                                    <p:set>
                                      <p:cBhvr>
                                        <p:cTn dur="1" fill="hold">
                                          <p:stCondLst>
                                            <p:cond delay="1"/>
                                          </p:stCondLst>
                                        </p:cTn>
                                        <p:tgtEl>
                                          <p:spTgt spid="888"/>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71"/>
          <p:cNvSpPr/>
          <p:nvPr/>
        </p:nvSpPr>
        <p:spPr>
          <a:xfrm>
            <a:off x="4572000" y="1814355"/>
            <a:ext cx="2165700" cy="1089900"/>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71"/>
          <p:cNvSpPr/>
          <p:nvPr/>
        </p:nvSpPr>
        <p:spPr>
          <a:xfrm rot="-1799755">
            <a:off x="4572235" y="1814232"/>
            <a:ext cx="2165667" cy="1089755"/>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71"/>
          <p:cNvSpPr/>
          <p:nvPr/>
        </p:nvSpPr>
        <p:spPr>
          <a:xfrm rot="-3600245">
            <a:off x="4572061" y="1814083"/>
            <a:ext cx="2165667" cy="1089755"/>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71"/>
          <p:cNvSpPr/>
          <p:nvPr/>
        </p:nvSpPr>
        <p:spPr>
          <a:xfrm rot="-5400000">
            <a:off x="4571992" y="1814103"/>
            <a:ext cx="2165700" cy="1089900"/>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71"/>
          <p:cNvSpPr txBox="1"/>
          <p:nvPr>
            <p:ph idx="1" type="body"/>
          </p:nvPr>
        </p:nvSpPr>
        <p:spPr>
          <a:xfrm>
            <a:off x="324000" y="759300"/>
            <a:ext cx="6503700" cy="80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a:t>In which direction is this trapezium rotating?</a:t>
            </a:r>
            <a:endParaRPr/>
          </a:p>
        </p:txBody>
      </p:sp>
      <p:sp>
        <p:nvSpPr>
          <p:cNvPr id="903" name="Google Shape;903;p7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direction of a rotation</a:t>
            </a:r>
            <a:endParaRPr/>
          </a:p>
        </p:txBody>
      </p:sp>
      <p:grpSp>
        <p:nvGrpSpPr>
          <p:cNvPr id="904" name="Google Shape;904;p71"/>
          <p:cNvGrpSpPr/>
          <p:nvPr/>
        </p:nvGrpSpPr>
        <p:grpSpPr>
          <a:xfrm>
            <a:off x="902891" y="1307588"/>
            <a:ext cx="457200" cy="457200"/>
            <a:chOff x="1020916" y="1442088"/>
            <a:chExt cx="457200" cy="457200"/>
          </a:xfrm>
        </p:grpSpPr>
        <p:pic>
          <p:nvPicPr>
            <p:cNvPr id="905" name="Google Shape;905;p71"/>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906" name="Google Shape;906;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907" name="Google Shape;907;p71"/>
          <p:cNvGrpSpPr/>
          <p:nvPr/>
        </p:nvGrpSpPr>
        <p:grpSpPr>
          <a:xfrm>
            <a:off x="902891" y="2045888"/>
            <a:ext cx="457200" cy="457200"/>
            <a:chOff x="1020916" y="1442088"/>
            <a:chExt cx="457200" cy="457200"/>
          </a:xfrm>
        </p:grpSpPr>
        <p:pic>
          <p:nvPicPr>
            <p:cNvPr id="908" name="Google Shape;908;p71"/>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909" name="Google Shape;909;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
        <p:nvSpPr>
          <p:cNvPr id="910" name="Google Shape;910;p71"/>
          <p:cNvSpPr txBox="1"/>
          <p:nvPr>
            <p:ph idx="1" type="body"/>
          </p:nvPr>
        </p:nvSpPr>
        <p:spPr>
          <a:xfrm>
            <a:off x="1516650" y="1345538"/>
            <a:ext cx="2536800" cy="381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a:t>clockwise</a:t>
            </a:r>
            <a:endParaRPr/>
          </a:p>
        </p:txBody>
      </p:sp>
      <p:sp>
        <p:nvSpPr>
          <p:cNvPr id="911" name="Google Shape;911;p71"/>
          <p:cNvSpPr txBox="1"/>
          <p:nvPr>
            <p:ph idx="1" type="body"/>
          </p:nvPr>
        </p:nvSpPr>
        <p:spPr>
          <a:xfrm>
            <a:off x="1516650" y="2083838"/>
            <a:ext cx="2536800" cy="381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a:t>anti-clockwise</a:t>
            </a:r>
            <a:endParaRPr/>
          </a:p>
        </p:txBody>
      </p:sp>
      <p:sp>
        <p:nvSpPr>
          <p:cNvPr id="912" name="Google Shape;912;p71"/>
          <p:cNvSpPr/>
          <p:nvPr/>
        </p:nvSpPr>
        <p:spPr>
          <a:xfrm rot="-7200167">
            <a:off x="4571818" y="1814001"/>
            <a:ext cx="2165817" cy="1089905"/>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71"/>
          <p:cNvSpPr/>
          <p:nvPr/>
        </p:nvSpPr>
        <p:spPr>
          <a:xfrm rot="-8999833">
            <a:off x="4571916" y="1814068"/>
            <a:ext cx="2165817" cy="1089905"/>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71"/>
          <p:cNvSpPr/>
          <p:nvPr/>
        </p:nvSpPr>
        <p:spPr>
          <a:xfrm rot="10800000">
            <a:off x="4571924" y="1814106"/>
            <a:ext cx="2165700" cy="1089900"/>
          </a:xfrm>
          <a:prstGeom prst="trapezoid">
            <a:avLst>
              <a:gd fmla="val 63403"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5" name="Google Shape;915;p71"/>
          <p:cNvPicPr preferRelativeResize="0"/>
          <p:nvPr/>
        </p:nvPicPr>
        <p:blipFill rotWithShape="1">
          <a:blip r:embed="rId4">
            <a:alphaModFix/>
          </a:blip>
          <a:srcRect b="84457" l="69479" r="18284" t="2791"/>
          <a:stretch/>
        </p:blipFill>
        <p:spPr>
          <a:xfrm flipH="1">
            <a:off x="3947656" y="1409378"/>
            <a:ext cx="776752" cy="818550"/>
          </a:xfrm>
          <a:prstGeom prst="rect">
            <a:avLst/>
          </a:prstGeom>
          <a:noFill/>
          <a:ln>
            <a:noFill/>
          </a:ln>
        </p:spPr>
      </p:pic>
      <p:pic>
        <p:nvPicPr>
          <p:cNvPr id="916" name="Google Shape;916;p71"/>
          <p:cNvPicPr preferRelativeResize="0"/>
          <p:nvPr/>
        </p:nvPicPr>
        <p:blipFill>
          <a:blip r:embed="rId5">
            <a:alphaModFix/>
          </a:blip>
          <a:stretch>
            <a:fillRect/>
          </a:stretch>
        </p:blipFill>
        <p:spPr>
          <a:xfrm>
            <a:off x="3377858" y="2193181"/>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89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xit" presetID="1" presetSubtype="0">
                                  <p:stCondLst>
                                    <p:cond delay="250"/>
                                  </p:stCondLst>
                                  <p:childTnLst>
                                    <p:set>
                                      <p:cBhvr>
                                        <p:cTn dur="1" fill="hold">
                                          <p:stCondLst>
                                            <p:cond delay="1"/>
                                          </p:stCondLst>
                                        </p:cTn>
                                        <p:tgtEl>
                                          <p:spTgt spid="899"/>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00"/>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250"/>
                                  </p:stCondLst>
                                  <p:childTnLst>
                                    <p:set>
                                      <p:cBhvr>
                                        <p:cTn dur="1" fill="hold">
                                          <p:stCondLst>
                                            <p:cond delay="1"/>
                                          </p:stCondLst>
                                        </p:cTn>
                                        <p:tgtEl>
                                          <p:spTgt spid="900"/>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01"/>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250"/>
                                  </p:stCondLst>
                                  <p:childTnLst>
                                    <p:set>
                                      <p:cBhvr>
                                        <p:cTn dur="1" fill="hold">
                                          <p:stCondLst>
                                            <p:cond delay="1"/>
                                          </p:stCondLst>
                                        </p:cTn>
                                        <p:tgtEl>
                                          <p:spTgt spid="901"/>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12"/>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250"/>
                                  </p:stCondLst>
                                  <p:childTnLst>
                                    <p:set>
                                      <p:cBhvr>
                                        <p:cTn dur="1" fill="hold">
                                          <p:stCondLst>
                                            <p:cond delay="1"/>
                                          </p:stCondLst>
                                        </p:cTn>
                                        <p:tgtEl>
                                          <p:spTgt spid="912"/>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13"/>
                                        </p:tgtEl>
                                        <p:attrNameLst>
                                          <p:attrName>style.visibility</p:attrName>
                                        </p:attrNameLst>
                                      </p:cBhvr>
                                      <p:to>
                                        <p:strVal val="visible"/>
                                      </p:to>
                                    </p:set>
                                  </p:childTnLst>
                                </p:cTn>
                              </p:par>
                            </p:childTnLst>
                          </p:cTn>
                        </p:par>
                        <p:par>
                          <p:cTn fill="hold">
                            <p:stCondLst>
                              <p:cond delay="4"/>
                            </p:stCondLst>
                            <p:childTnLst>
                              <p:par>
                                <p:cTn fill="hold" nodeType="afterEffect" presetClass="exit" presetID="1" presetSubtype="0">
                                  <p:stCondLst>
                                    <p:cond delay="250"/>
                                  </p:stCondLst>
                                  <p:childTnLst>
                                    <p:set>
                                      <p:cBhvr>
                                        <p:cTn dur="1" fill="hold">
                                          <p:stCondLst>
                                            <p:cond delay="1"/>
                                          </p:stCondLst>
                                        </p:cTn>
                                        <p:tgtEl>
                                          <p:spTgt spid="913"/>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grpSp>
        <p:nvGrpSpPr>
          <p:cNvPr id="921" name="Google Shape;921;p72"/>
          <p:cNvGrpSpPr/>
          <p:nvPr/>
        </p:nvGrpSpPr>
        <p:grpSpPr>
          <a:xfrm>
            <a:off x="5215466" y="2081483"/>
            <a:ext cx="2250422" cy="2250621"/>
            <a:chOff x="5048325" y="2258875"/>
            <a:chExt cx="1991700" cy="1991700"/>
          </a:xfrm>
        </p:grpSpPr>
        <p:cxnSp>
          <p:nvCxnSpPr>
            <p:cNvPr id="922" name="Google Shape;922;p72"/>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cxnSp>
          <p:nvCxnSpPr>
            <p:cNvPr id="923" name="Google Shape;923;p72"/>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grpSp>
      <p:sp>
        <p:nvSpPr>
          <p:cNvPr id="924" name="Google Shape;924;p72"/>
          <p:cNvSpPr txBox="1"/>
          <p:nvPr>
            <p:ph idx="1" type="body"/>
          </p:nvPr>
        </p:nvSpPr>
        <p:spPr>
          <a:xfrm>
            <a:off x="324000" y="759300"/>
            <a:ext cx="7141800" cy="80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SzPts val="2200"/>
              <a:buNone/>
            </a:pPr>
            <a:r>
              <a:rPr lang="en-GB"/>
              <a:t>If this arrow, currently pointing S (south), was to rotate </a:t>
            </a:r>
            <a:r>
              <a:rPr lang="en-GB"/>
              <a:t>clockwise</a:t>
            </a:r>
            <a:r>
              <a:rPr lang="en-GB"/>
              <a:t>, which compass direction would it pass first?</a:t>
            </a:r>
            <a:endParaRPr/>
          </a:p>
        </p:txBody>
      </p:sp>
      <p:sp>
        <p:nvSpPr>
          <p:cNvPr id="925" name="Google Shape;925;p7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direction of a rotation</a:t>
            </a:r>
            <a:endParaRPr/>
          </a:p>
        </p:txBody>
      </p:sp>
      <p:grpSp>
        <p:nvGrpSpPr>
          <p:cNvPr id="926" name="Google Shape;926;p72"/>
          <p:cNvGrpSpPr/>
          <p:nvPr/>
        </p:nvGrpSpPr>
        <p:grpSpPr>
          <a:xfrm>
            <a:off x="902891" y="2077188"/>
            <a:ext cx="457200" cy="457200"/>
            <a:chOff x="1020916" y="1442088"/>
            <a:chExt cx="457200" cy="457200"/>
          </a:xfrm>
        </p:grpSpPr>
        <p:pic>
          <p:nvPicPr>
            <p:cNvPr id="927" name="Google Shape;927;p72"/>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928" name="Google Shape;928;p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a</a:t>
              </a:r>
              <a:endParaRPr b="1" i="0" sz="1800" u="none" cap="none" strike="noStrike">
                <a:solidFill>
                  <a:srgbClr val="FFFFFF"/>
                </a:solidFill>
                <a:latin typeface="Lexend"/>
                <a:ea typeface="Lexend"/>
                <a:cs typeface="Lexend"/>
                <a:sym typeface="Lexend"/>
              </a:endParaRPr>
            </a:p>
          </p:txBody>
        </p:sp>
      </p:grpSp>
      <p:grpSp>
        <p:nvGrpSpPr>
          <p:cNvPr id="929" name="Google Shape;929;p72"/>
          <p:cNvGrpSpPr/>
          <p:nvPr/>
        </p:nvGrpSpPr>
        <p:grpSpPr>
          <a:xfrm>
            <a:off x="902891" y="2815488"/>
            <a:ext cx="457200" cy="457200"/>
            <a:chOff x="1020916" y="1442088"/>
            <a:chExt cx="457200" cy="457200"/>
          </a:xfrm>
        </p:grpSpPr>
        <p:pic>
          <p:nvPicPr>
            <p:cNvPr id="930" name="Google Shape;930;p72"/>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931" name="Google Shape;931;p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Lexend"/>
                  <a:ea typeface="Lexend"/>
                  <a:cs typeface="Lexend"/>
                  <a:sym typeface="Lexend"/>
                </a:rPr>
                <a:t>b</a:t>
              </a:r>
              <a:endParaRPr b="1" i="0" sz="1800" u="none" cap="none" strike="noStrike">
                <a:solidFill>
                  <a:srgbClr val="FFFFFF"/>
                </a:solidFill>
                <a:latin typeface="Lexend"/>
                <a:ea typeface="Lexend"/>
                <a:cs typeface="Lexend"/>
                <a:sym typeface="Lexend"/>
              </a:endParaRPr>
            </a:p>
          </p:txBody>
        </p:sp>
      </p:grpSp>
      <p:sp>
        <p:nvSpPr>
          <p:cNvPr id="932" name="Google Shape;932;p72"/>
          <p:cNvSpPr txBox="1"/>
          <p:nvPr>
            <p:ph idx="1" type="body"/>
          </p:nvPr>
        </p:nvSpPr>
        <p:spPr>
          <a:xfrm>
            <a:off x="1516650" y="2115138"/>
            <a:ext cx="2536800" cy="381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a:t>N (north)</a:t>
            </a:r>
            <a:endParaRPr/>
          </a:p>
        </p:txBody>
      </p:sp>
      <p:sp>
        <p:nvSpPr>
          <p:cNvPr id="933" name="Google Shape;933;p72"/>
          <p:cNvSpPr txBox="1"/>
          <p:nvPr>
            <p:ph idx="1" type="body"/>
          </p:nvPr>
        </p:nvSpPr>
        <p:spPr>
          <a:xfrm>
            <a:off x="1516650" y="2853438"/>
            <a:ext cx="2536800" cy="381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a:t>E (east)</a:t>
            </a:r>
            <a:endParaRPr/>
          </a:p>
        </p:txBody>
      </p:sp>
      <p:pic>
        <p:nvPicPr>
          <p:cNvPr id="934" name="Google Shape;934;p72"/>
          <p:cNvPicPr preferRelativeResize="0"/>
          <p:nvPr/>
        </p:nvPicPr>
        <p:blipFill rotWithShape="1">
          <a:blip r:embed="rId4">
            <a:alphaModFix/>
          </a:blip>
          <a:srcRect b="84457" l="69479" r="18284" t="2791"/>
          <a:stretch/>
        </p:blipFill>
        <p:spPr>
          <a:xfrm rot="10800000">
            <a:off x="5425706" y="3910728"/>
            <a:ext cx="776752" cy="818550"/>
          </a:xfrm>
          <a:prstGeom prst="rect">
            <a:avLst/>
          </a:prstGeom>
          <a:noFill/>
          <a:ln>
            <a:noFill/>
          </a:ln>
        </p:spPr>
      </p:pic>
      <p:pic>
        <p:nvPicPr>
          <p:cNvPr id="935" name="Google Shape;935;p72"/>
          <p:cNvPicPr preferRelativeResize="0"/>
          <p:nvPr/>
        </p:nvPicPr>
        <p:blipFill>
          <a:blip r:embed="rId5">
            <a:alphaModFix/>
          </a:blip>
          <a:stretch>
            <a:fillRect/>
          </a:stretch>
        </p:blipFill>
        <p:spPr>
          <a:xfrm>
            <a:off x="2780708" y="3591756"/>
            <a:ext cx="396000" cy="419100"/>
          </a:xfrm>
          <a:prstGeom prst="rect">
            <a:avLst/>
          </a:prstGeom>
          <a:noFill/>
          <a:ln>
            <a:noFill/>
          </a:ln>
        </p:spPr>
      </p:pic>
      <p:sp>
        <p:nvSpPr>
          <p:cNvPr id="936" name="Google Shape;936;p72"/>
          <p:cNvSpPr/>
          <p:nvPr/>
        </p:nvSpPr>
        <p:spPr>
          <a:xfrm rot="10800000">
            <a:off x="6150638" y="3220138"/>
            <a:ext cx="380100" cy="10377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2"/>
          <p:cNvSpPr txBox="1"/>
          <p:nvPr>
            <p:ph idx="1" type="body"/>
          </p:nvPr>
        </p:nvSpPr>
        <p:spPr>
          <a:xfrm>
            <a:off x="5952350" y="1764125"/>
            <a:ext cx="776700" cy="38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a:t>N</a:t>
            </a:r>
            <a:endParaRPr/>
          </a:p>
        </p:txBody>
      </p:sp>
      <p:sp>
        <p:nvSpPr>
          <p:cNvPr id="938" name="Google Shape;938;p72"/>
          <p:cNvSpPr txBox="1"/>
          <p:nvPr>
            <p:ph idx="1" type="body"/>
          </p:nvPr>
        </p:nvSpPr>
        <p:spPr>
          <a:xfrm>
            <a:off x="5952350" y="4217750"/>
            <a:ext cx="776700" cy="457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a:t>S</a:t>
            </a:r>
            <a:endParaRPr/>
          </a:p>
        </p:txBody>
      </p:sp>
      <p:sp>
        <p:nvSpPr>
          <p:cNvPr id="939" name="Google Shape;939;p72"/>
          <p:cNvSpPr txBox="1"/>
          <p:nvPr>
            <p:ph idx="1" type="body"/>
          </p:nvPr>
        </p:nvSpPr>
        <p:spPr>
          <a:xfrm>
            <a:off x="7459200" y="3016150"/>
            <a:ext cx="457200" cy="38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a:t>E</a:t>
            </a:r>
            <a:endParaRPr/>
          </a:p>
        </p:txBody>
      </p:sp>
      <p:sp>
        <p:nvSpPr>
          <p:cNvPr id="940" name="Google Shape;940;p72"/>
          <p:cNvSpPr txBox="1"/>
          <p:nvPr>
            <p:ph idx="1" type="body"/>
          </p:nvPr>
        </p:nvSpPr>
        <p:spPr>
          <a:xfrm>
            <a:off x="4765000" y="3016150"/>
            <a:ext cx="457200" cy="3813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a:t>W</a:t>
            </a:r>
            <a:endParaRPr/>
          </a:p>
        </p:txBody>
      </p:sp>
      <p:grpSp>
        <p:nvGrpSpPr>
          <p:cNvPr id="941" name="Google Shape;941;p72"/>
          <p:cNvGrpSpPr/>
          <p:nvPr/>
        </p:nvGrpSpPr>
        <p:grpSpPr>
          <a:xfrm>
            <a:off x="902891" y="3553788"/>
            <a:ext cx="457200" cy="457200"/>
            <a:chOff x="1020916" y="1442088"/>
            <a:chExt cx="457200" cy="457200"/>
          </a:xfrm>
        </p:grpSpPr>
        <p:pic>
          <p:nvPicPr>
            <p:cNvPr id="942" name="Google Shape;942;p72"/>
            <p:cNvPicPr preferRelativeResize="0"/>
            <p:nvPr/>
          </p:nvPicPr>
          <p:blipFill rotWithShape="1">
            <a:blip r:embed="rId3">
              <a:alphaModFix/>
            </a:blip>
            <a:srcRect b="0" l="0" r="0" t="0"/>
            <a:stretch/>
          </p:blipFill>
          <p:spPr>
            <a:xfrm>
              <a:off x="1020916" y="1442088"/>
              <a:ext cx="457200" cy="457200"/>
            </a:xfrm>
            <a:prstGeom prst="rect">
              <a:avLst/>
            </a:prstGeom>
            <a:noFill/>
            <a:ln>
              <a:noFill/>
            </a:ln>
          </p:spPr>
        </p:pic>
        <p:sp>
          <p:nvSpPr>
            <p:cNvPr id="943" name="Google Shape;943;p7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lang="en-GB" sz="1800">
                  <a:solidFill>
                    <a:srgbClr val="FFFFFF"/>
                  </a:solidFill>
                  <a:latin typeface="Lexend"/>
                  <a:ea typeface="Lexend"/>
                  <a:cs typeface="Lexend"/>
                  <a:sym typeface="Lexend"/>
                </a:rPr>
                <a:t>c</a:t>
              </a:r>
              <a:endParaRPr b="1" i="0" sz="1800" u="none" cap="none" strike="noStrike">
                <a:solidFill>
                  <a:srgbClr val="FFFFFF"/>
                </a:solidFill>
                <a:latin typeface="Lexend"/>
                <a:ea typeface="Lexend"/>
                <a:cs typeface="Lexend"/>
                <a:sym typeface="Lexend"/>
              </a:endParaRPr>
            </a:p>
          </p:txBody>
        </p:sp>
      </p:grpSp>
      <p:sp>
        <p:nvSpPr>
          <p:cNvPr id="944" name="Google Shape;944;p72"/>
          <p:cNvSpPr txBox="1"/>
          <p:nvPr>
            <p:ph idx="1" type="body"/>
          </p:nvPr>
        </p:nvSpPr>
        <p:spPr>
          <a:xfrm>
            <a:off x="1516650" y="3591738"/>
            <a:ext cx="2536800" cy="3813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a:t>W</a:t>
            </a:r>
            <a:r>
              <a:rPr lang="en-GB"/>
              <a:t> (west)</a:t>
            </a:r>
            <a:endParaRPr/>
          </a:p>
        </p:txBody>
      </p:sp>
      <p:sp>
        <p:nvSpPr>
          <p:cNvPr id="945" name="Google Shape;945;p72"/>
          <p:cNvSpPr/>
          <p:nvPr/>
        </p:nvSpPr>
        <p:spPr>
          <a:xfrm rot="-5400000">
            <a:off x="5624013" y="2687938"/>
            <a:ext cx="380100" cy="10377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7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direction of a rotation</a:t>
            </a:r>
            <a:endParaRPr/>
          </a:p>
        </p:txBody>
      </p:sp>
      <p:sp>
        <p:nvSpPr>
          <p:cNvPr id="951" name="Google Shape;951;p73"/>
          <p:cNvSpPr txBox="1"/>
          <p:nvPr>
            <p:ph idx="1" type="body"/>
          </p:nvPr>
        </p:nvSpPr>
        <p:spPr>
          <a:xfrm>
            <a:off x="324000" y="807750"/>
            <a:ext cx="5577300" cy="128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a:t>
            </a:r>
            <a:r>
              <a:rPr lang="en-GB" sz="2000"/>
              <a:t>) In which direction does this arrow suggest the rotation is happening?</a:t>
            </a:r>
            <a:endParaRPr sz="2000"/>
          </a:p>
        </p:txBody>
      </p:sp>
      <p:sp>
        <p:nvSpPr>
          <p:cNvPr id="952" name="Google Shape;952;p73"/>
          <p:cNvSpPr/>
          <p:nvPr/>
        </p:nvSpPr>
        <p:spPr>
          <a:xfrm rot="10800000">
            <a:off x="6269494" y="810008"/>
            <a:ext cx="1140900" cy="978000"/>
          </a:xfrm>
          <a:prstGeom prst="hexagon">
            <a:avLst>
              <a:gd fmla="val 25000" name="adj"/>
              <a:gd fmla="val 115470" name="vf"/>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3" name="Google Shape;953;p73"/>
          <p:cNvPicPr preferRelativeResize="0"/>
          <p:nvPr/>
        </p:nvPicPr>
        <p:blipFill rotWithShape="1">
          <a:blip r:embed="rId3">
            <a:alphaModFix/>
          </a:blip>
          <a:srcRect b="84457" l="69479" r="18284" t="2791"/>
          <a:stretch/>
        </p:blipFill>
        <p:spPr>
          <a:xfrm flipH="1" rot="-4499994">
            <a:off x="5983318" y="1436462"/>
            <a:ext cx="592750" cy="624649"/>
          </a:xfrm>
          <a:prstGeom prst="rect">
            <a:avLst/>
          </a:prstGeom>
          <a:noFill/>
          <a:ln>
            <a:noFill/>
          </a:ln>
        </p:spPr>
      </p:pic>
      <p:sp>
        <p:nvSpPr>
          <p:cNvPr id="954" name="Google Shape;954;p73"/>
          <p:cNvSpPr txBox="1"/>
          <p:nvPr>
            <p:ph idx="1" type="body"/>
          </p:nvPr>
        </p:nvSpPr>
        <p:spPr>
          <a:xfrm>
            <a:off x="324000" y="2293875"/>
            <a:ext cx="5577300" cy="128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r>
              <a:rPr lang="en-GB" sz="2000"/>
              <a:t>) In which direction does this arrow suggest the rotation is happening?</a:t>
            </a:r>
            <a:endParaRPr sz="2000"/>
          </a:p>
        </p:txBody>
      </p:sp>
      <p:sp>
        <p:nvSpPr>
          <p:cNvPr id="955" name="Google Shape;955;p73"/>
          <p:cNvSpPr/>
          <p:nvPr/>
        </p:nvSpPr>
        <p:spPr>
          <a:xfrm rot="10800000">
            <a:off x="6269494" y="2413237"/>
            <a:ext cx="1140900" cy="978000"/>
          </a:xfrm>
          <a:prstGeom prst="diamond">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6" name="Google Shape;956;p73"/>
          <p:cNvPicPr preferRelativeResize="0"/>
          <p:nvPr/>
        </p:nvPicPr>
        <p:blipFill rotWithShape="1">
          <a:blip r:embed="rId3">
            <a:alphaModFix/>
          </a:blip>
          <a:srcRect b="84457" l="69479" r="18284" t="2791"/>
          <a:stretch/>
        </p:blipFill>
        <p:spPr>
          <a:xfrm flipH="1" rot="5400000">
            <a:off x="6850508" y="2238210"/>
            <a:ext cx="592752" cy="624649"/>
          </a:xfrm>
          <a:prstGeom prst="rect">
            <a:avLst/>
          </a:prstGeom>
          <a:noFill/>
          <a:ln>
            <a:noFill/>
          </a:ln>
        </p:spPr>
      </p:pic>
      <p:sp>
        <p:nvSpPr>
          <p:cNvPr id="957" name="Google Shape;957;p73"/>
          <p:cNvSpPr txBox="1"/>
          <p:nvPr>
            <p:ph idx="1" type="body"/>
          </p:nvPr>
        </p:nvSpPr>
        <p:spPr>
          <a:xfrm>
            <a:off x="324000" y="3780000"/>
            <a:ext cx="5577300" cy="105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a:t>
            </a:r>
            <a:r>
              <a:rPr lang="en-GB" sz="2000"/>
              <a:t>) In which direction does this arrow suggest the rotation is happening?</a:t>
            </a:r>
            <a:endParaRPr sz="2000"/>
          </a:p>
        </p:txBody>
      </p:sp>
      <p:sp>
        <p:nvSpPr>
          <p:cNvPr id="958" name="Google Shape;958;p73"/>
          <p:cNvSpPr/>
          <p:nvPr/>
        </p:nvSpPr>
        <p:spPr>
          <a:xfrm rot="10800000">
            <a:off x="6402850" y="3985900"/>
            <a:ext cx="874200" cy="720900"/>
          </a:xfrm>
          <a:prstGeom prst="corner">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9" name="Google Shape;959;p73"/>
          <p:cNvPicPr preferRelativeResize="0"/>
          <p:nvPr/>
        </p:nvPicPr>
        <p:blipFill rotWithShape="1">
          <a:blip r:embed="rId3">
            <a:alphaModFix/>
          </a:blip>
          <a:srcRect b="84457" l="69479" r="18284" t="2791"/>
          <a:stretch/>
        </p:blipFill>
        <p:spPr>
          <a:xfrm rot="-2700000">
            <a:off x="6647099" y="3591914"/>
            <a:ext cx="592753" cy="6246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4"/>
          <p:cNvSpPr txBox="1"/>
          <p:nvPr>
            <p:ph idx="1" type="body"/>
          </p:nvPr>
        </p:nvSpPr>
        <p:spPr>
          <a:xfrm>
            <a:off x="324000" y="2912400"/>
            <a:ext cx="6332400" cy="17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5</a:t>
            </a:r>
            <a:r>
              <a:rPr lang="en-GB" sz="2000"/>
              <a:t>) An arrow is pointing N (north).</a:t>
            </a:r>
            <a:endParaRPr sz="2000"/>
          </a:p>
          <a:p>
            <a:pPr indent="0" lvl="0" marL="0" rtl="0" algn="l">
              <a:spcBef>
                <a:spcPts val="1000"/>
              </a:spcBef>
              <a:spcAft>
                <a:spcPts val="1000"/>
              </a:spcAft>
              <a:buNone/>
            </a:pPr>
            <a:r>
              <a:rPr lang="en-GB" sz="2000"/>
              <a:t>The arrow will rotate </a:t>
            </a:r>
            <a:r>
              <a:rPr lang="en-GB" sz="2000"/>
              <a:t>clockwise</a:t>
            </a:r>
            <a:r>
              <a:rPr b="1" lang="en-GB" sz="2000"/>
              <a:t> </a:t>
            </a:r>
            <a:r>
              <a:rPr lang="en-GB" sz="2000"/>
              <a:t>until it points N (north) again. In what order will it pass through the other compass directions?</a:t>
            </a:r>
            <a:endParaRPr sz="2000"/>
          </a:p>
        </p:txBody>
      </p:sp>
      <p:sp>
        <p:nvSpPr>
          <p:cNvPr id="965" name="Google Shape;965;p74"/>
          <p:cNvSpPr txBox="1"/>
          <p:nvPr>
            <p:ph idx="1" type="body"/>
          </p:nvPr>
        </p:nvSpPr>
        <p:spPr>
          <a:xfrm>
            <a:off x="2487800" y="683100"/>
            <a:ext cx="6332400" cy="17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4</a:t>
            </a:r>
            <a:r>
              <a:rPr lang="en-GB" sz="2000"/>
              <a:t>) An arrow is pointing E (east).</a:t>
            </a:r>
            <a:endParaRPr sz="2000"/>
          </a:p>
          <a:p>
            <a:pPr indent="0" lvl="0" marL="0" rtl="0" algn="l">
              <a:spcBef>
                <a:spcPts val="1000"/>
              </a:spcBef>
              <a:spcAft>
                <a:spcPts val="1000"/>
              </a:spcAft>
              <a:buNone/>
            </a:pPr>
            <a:r>
              <a:rPr lang="en-GB" sz="2000"/>
              <a:t>If the arrow rotates </a:t>
            </a:r>
            <a:r>
              <a:rPr lang="en-GB" sz="2000"/>
              <a:t>anti-clockwise</a:t>
            </a:r>
            <a:r>
              <a:rPr lang="en-GB" sz="2000"/>
              <a:t>, which compass direction will it pass first?</a:t>
            </a:r>
            <a:endParaRPr sz="2000"/>
          </a:p>
        </p:txBody>
      </p:sp>
      <p:sp>
        <p:nvSpPr>
          <p:cNvPr id="966" name="Google Shape;966;p7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direction of a rotation</a:t>
            </a:r>
            <a:endParaRPr/>
          </a:p>
        </p:txBody>
      </p:sp>
      <p:grpSp>
        <p:nvGrpSpPr>
          <p:cNvPr id="967" name="Google Shape;967;p74"/>
          <p:cNvGrpSpPr/>
          <p:nvPr/>
        </p:nvGrpSpPr>
        <p:grpSpPr>
          <a:xfrm>
            <a:off x="628521" y="897457"/>
            <a:ext cx="1520862" cy="1520862"/>
            <a:chOff x="5048325" y="2258875"/>
            <a:chExt cx="1991700" cy="1991700"/>
          </a:xfrm>
        </p:grpSpPr>
        <p:cxnSp>
          <p:nvCxnSpPr>
            <p:cNvPr id="968" name="Google Shape;968;p74"/>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cxnSp>
          <p:nvCxnSpPr>
            <p:cNvPr id="969" name="Google Shape;969;p74"/>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grpSp>
      <p:sp>
        <p:nvSpPr>
          <p:cNvPr id="970" name="Google Shape;970;p74"/>
          <p:cNvSpPr txBox="1"/>
          <p:nvPr>
            <p:ph idx="4294967295" type="body"/>
          </p:nvPr>
        </p:nvSpPr>
        <p:spPr>
          <a:xfrm>
            <a:off x="1126405" y="683100"/>
            <a:ext cx="525000" cy="257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N</a:t>
            </a:r>
            <a:endParaRPr sz="1800"/>
          </a:p>
        </p:txBody>
      </p:sp>
      <p:sp>
        <p:nvSpPr>
          <p:cNvPr id="971" name="Google Shape;971;p74"/>
          <p:cNvSpPr txBox="1"/>
          <p:nvPr>
            <p:ph idx="4294967295" type="body"/>
          </p:nvPr>
        </p:nvSpPr>
        <p:spPr>
          <a:xfrm>
            <a:off x="1126405" y="2341251"/>
            <a:ext cx="525000" cy="309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S</a:t>
            </a:r>
            <a:endParaRPr sz="1800"/>
          </a:p>
        </p:txBody>
      </p:sp>
      <p:sp>
        <p:nvSpPr>
          <p:cNvPr id="972" name="Google Shape;972;p74"/>
          <p:cNvSpPr txBox="1"/>
          <p:nvPr>
            <p:ph idx="4294967295" type="body"/>
          </p:nvPr>
        </p:nvSpPr>
        <p:spPr>
          <a:xfrm>
            <a:off x="2144725" y="1529225"/>
            <a:ext cx="228600" cy="257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sz="1800"/>
              <a:t>E</a:t>
            </a:r>
            <a:endParaRPr sz="1800"/>
          </a:p>
        </p:txBody>
      </p:sp>
      <p:sp>
        <p:nvSpPr>
          <p:cNvPr id="973" name="Google Shape;973;p74"/>
          <p:cNvSpPr txBox="1"/>
          <p:nvPr>
            <p:ph idx="4294967295" type="body"/>
          </p:nvPr>
        </p:nvSpPr>
        <p:spPr>
          <a:xfrm>
            <a:off x="324000" y="1529214"/>
            <a:ext cx="309000" cy="2577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2200"/>
              <a:buNone/>
            </a:pPr>
            <a:r>
              <a:rPr lang="en-GB" sz="1800"/>
              <a:t>W</a:t>
            </a:r>
            <a:endParaRPr sz="1800"/>
          </a:p>
        </p:txBody>
      </p:sp>
      <p:sp>
        <p:nvSpPr>
          <p:cNvPr id="974" name="Google Shape;974;p74"/>
          <p:cNvSpPr/>
          <p:nvPr/>
        </p:nvSpPr>
        <p:spPr>
          <a:xfrm rot="5400000">
            <a:off x="1479487" y="1403969"/>
            <a:ext cx="380100" cy="5082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5" name="Google Shape;975;p74"/>
          <p:cNvGrpSpPr/>
          <p:nvPr/>
        </p:nvGrpSpPr>
        <p:grpSpPr>
          <a:xfrm>
            <a:off x="7075196" y="2632657"/>
            <a:ext cx="1520862" cy="1520862"/>
            <a:chOff x="5048325" y="2258875"/>
            <a:chExt cx="1991700" cy="1991700"/>
          </a:xfrm>
        </p:grpSpPr>
        <p:cxnSp>
          <p:nvCxnSpPr>
            <p:cNvPr id="976" name="Google Shape;976;p74"/>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cxnSp>
          <p:nvCxnSpPr>
            <p:cNvPr id="977" name="Google Shape;977;p74"/>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grpSp>
      <p:sp>
        <p:nvSpPr>
          <p:cNvPr id="978" name="Google Shape;978;p74"/>
          <p:cNvSpPr txBox="1"/>
          <p:nvPr>
            <p:ph idx="4294967295" type="body"/>
          </p:nvPr>
        </p:nvSpPr>
        <p:spPr>
          <a:xfrm>
            <a:off x="7573080" y="2418300"/>
            <a:ext cx="525000" cy="257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N</a:t>
            </a:r>
            <a:endParaRPr sz="1800"/>
          </a:p>
        </p:txBody>
      </p:sp>
      <p:sp>
        <p:nvSpPr>
          <p:cNvPr id="979" name="Google Shape;979;p74"/>
          <p:cNvSpPr txBox="1"/>
          <p:nvPr>
            <p:ph idx="4294967295" type="body"/>
          </p:nvPr>
        </p:nvSpPr>
        <p:spPr>
          <a:xfrm>
            <a:off x="7573080" y="4076451"/>
            <a:ext cx="525000" cy="309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S</a:t>
            </a:r>
            <a:endParaRPr sz="1800"/>
          </a:p>
        </p:txBody>
      </p:sp>
      <p:sp>
        <p:nvSpPr>
          <p:cNvPr id="980" name="Google Shape;980;p74"/>
          <p:cNvSpPr txBox="1"/>
          <p:nvPr>
            <p:ph idx="4294967295" type="body"/>
          </p:nvPr>
        </p:nvSpPr>
        <p:spPr>
          <a:xfrm>
            <a:off x="8591400" y="3264425"/>
            <a:ext cx="228600" cy="257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sz="1800"/>
              <a:t>E</a:t>
            </a:r>
            <a:endParaRPr sz="1800"/>
          </a:p>
        </p:txBody>
      </p:sp>
      <p:sp>
        <p:nvSpPr>
          <p:cNvPr id="981" name="Google Shape;981;p74"/>
          <p:cNvSpPr txBox="1"/>
          <p:nvPr>
            <p:ph idx="4294967295" type="body"/>
          </p:nvPr>
        </p:nvSpPr>
        <p:spPr>
          <a:xfrm>
            <a:off x="6770675" y="3264414"/>
            <a:ext cx="309000" cy="2577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2200"/>
              <a:buNone/>
            </a:pPr>
            <a:r>
              <a:rPr lang="en-GB" sz="1800"/>
              <a:t>W</a:t>
            </a:r>
            <a:endParaRPr sz="1800"/>
          </a:p>
        </p:txBody>
      </p:sp>
      <p:sp>
        <p:nvSpPr>
          <p:cNvPr id="982" name="Google Shape;982;p74"/>
          <p:cNvSpPr/>
          <p:nvPr/>
        </p:nvSpPr>
        <p:spPr>
          <a:xfrm>
            <a:off x="7645500" y="2848645"/>
            <a:ext cx="380100" cy="5082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direction of a rotation</a:t>
            </a:r>
            <a:endParaRPr/>
          </a:p>
        </p:txBody>
      </p:sp>
      <p:sp>
        <p:nvSpPr>
          <p:cNvPr id="988" name="Google Shape;988;p75"/>
          <p:cNvSpPr txBox="1"/>
          <p:nvPr>
            <p:ph idx="1" type="body"/>
          </p:nvPr>
        </p:nvSpPr>
        <p:spPr>
          <a:xfrm>
            <a:off x="324000" y="807750"/>
            <a:ext cx="5577300" cy="128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In which direction does this arrow suggest the rotation is happening?</a:t>
            </a:r>
            <a:endParaRPr sz="2000"/>
          </a:p>
        </p:txBody>
      </p:sp>
      <p:sp>
        <p:nvSpPr>
          <p:cNvPr id="989" name="Google Shape;989;p75"/>
          <p:cNvSpPr/>
          <p:nvPr/>
        </p:nvSpPr>
        <p:spPr>
          <a:xfrm rot="10800000">
            <a:off x="6269494" y="810008"/>
            <a:ext cx="1140900" cy="978000"/>
          </a:xfrm>
          <a:prstGeom prst="hexagon">
            <a:avLst>
              <a:gd fmla="val 25000" name="adj"/>
              <a:gd fmla="val 115470" name="vf"/>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0" name="Google Shape;990;p75"/>
          <p:cNvPicPr preferRelativeResize="0"/>
          <p:nvPr/>
        </p:nvPicPr>
        <p:blipFill rotWithShape="1">
          <a:blip r:embed="rId3">
            <a:alphaModFix/>
          </a:blip>
          <a:srcRect b="84457" l="69479" r="18284" t="2791"/>
          <a:stretch/>
        </p:blipFill>
        <p:spPr>
          <a:xfrm flipH="1" rot="-4499994">
            <a:off x="5983318" y="1436462"/>
            <a:ext cx="592750" cy="624649"/>
          </a:xfrm>
          <a:prstGeom prst="rect">
            <a:avLst/>
          </a:prstGeom>
          <a:noFill/>
          <a:ln>
            <a:noFill/>
          </a:ln>
        </p:spPr>
      </p:pic>
      <p:sp>
        <p:nvSpPr>
          <p:cNvPr id="991" name="Google Shape;991;p75"/>
          <p:cNvSpPr txBox="1"/>
          <p:nvPr>
            <p:ph idx="1" type="body"/>
          </p:nvPr>
        </p:nvSpPr>
        <p:spPr>
          <a:xfrm>
            <a:off x="324000" y="2293875"/>
            <a:ext cx="5577300" cy="128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In which direction does this arrow suggest the rotation is happening?</a:t>
            </a:r>
            <a:endParaRPr sz="2000"/>
          </a:p>
        </p:txBody>
      </p:sp>
      <p:sp>
        <p:nvSpPr>
          <p:cNvPr id="992" name="Google Shape;992;p75"/>
          <p:cNvSpPr/>
          <p:nvPr/>
        </p:nvSpPr>
        <p:spPr>
          <a:xfrm rot="10800000">
            <a:off x="6269494" y="2413237"/>
            <a:ext cx="1140900" cy="978000"/>
          </a:xfrm>
          <a:prstGeom prst="diamond">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3" name="Google Shape;993;p75"/>
          <p:cNvPicPr preferRelativeResize="0"/>
          <p:nvPr/>
        </p:nvPicPr>
        <p:blipFill rotWithShape="1">
          <a:blip r:embed="rId3">
            <a:alphaModFix/>
          </a:blip>
          <a:srcRect b="84457" l="69479" r="18284" t="2791"/>
          <a:stretch/>
        </p:blipFill>
        <p:spPr>
          <a:xfrm flipH="1" rot="5400000">
            <a:off x="6850508" y="2238210"/>
            <a:ext cx="592752" cy="624649"/>
          </a:xfrm>
          <a:prstGeom prst="rect">
            <a:avLst/>
          </a:prstGeom>
          <a:noFill/>
          <a:ln>
            <a:noFill/>
          </a:ln>
        </p:spPr>
      </p:pic>
      <p:sp>
        <p:nvSpPr>
          <p:cNvPr id="994" name="Google Shape;994;p75"/>
          <p:cNvSpPr txBox="1"/>
          <p:nvPr>
            <p:ph idx="1" type="body"/>
          </p:nvPr>
        </p:nvSpPr>
        <p:spPr>
          <a:xfrm>
            <a:off x="324000" y="3780000"/>
            <a:ext cx="5577300" cy="105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In which direction does this arrow suggest the rotation is happening?</a:t>
            </a:r>
            <a:endParaRPr sz="2000"/>
          </a:p>
        </p:txBody>
      </p:sp>
      <p:sp>
        <p:nvSpPr>
          <p:cNvPr id="995" name="Google Shape;995;p75"/>
          <p:cNvSpPr/>
          <p:nvPr/>
        </p:nvSpPr>
        <p:spPr>
          <a:xfrm rot="10800000">
            <a:off x="6402850" y="3985900"/>
            <a:ext cx="874200" cy="720900"/>
          </a:xfrm>
          <a:prstGeom prst="corner">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6" name="Google Shape;996;p75"/>
          <p:cNvPicPr preferRelativeResize="0"/>
          <p:nvPr/>
        </p:nvPicPr>
        <p:blipFill rotWithShape="1">
          <a:blip r:embed="rId3">
            <a:alphaModFix/>
          </a:blip>
          <a:srcRect b="84457" l="69479" r="18284" t="2791"/>
          <a:stretch/>
        </p:blipFill>
        <p:spPr>
          <a:xfrm rot="-2700000">
            <a:off x="6647099" y="3591914"/>
            <a:ext cx="592753" cy="624649"/>
          </a:xfrm>
          <a:prstGeom prst="rect">
            <a:avLst/>
          </a:prstGeom>
          <a:noFill/>
          <a:ln>
            <a:noFill/>
          </a:ln>
        </p:spPr>
      </p:pic>
      <p:sp>
        <p:nvSpPr>
          <p:cNvPr id="997" name="Google Shape;997;p75"/>
          <p:cNvSpPr txBox="1"/>
          <p:nvPr>
            <p:ph idx="1" type="body"/>
          </p:nvPr>
        </p:nvSpPr>
        <p:spPr>
          <a:xfrm>
            <a:off x="1547850" y="1474854"/>
            <a:ext cx="3643500" cy="40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anti-clockwise</a:t>
            </a:r>
            <a:endParaRPr sz="2000">
              <a:latin typeface="Kalam"/>
              <a:ea typeface="Kalam"/>
              <a:cs typeface="Kalam"/>
              <a:sym typeface="Kalam"/>
            </a:endParaRPr>
          </a:p>
        </p:txBody>
      </p:sp>
      <p:sp>
        <p:nvSpPr>
          <p:cNvPr id="998" name="Google Shape;998;p75"/>
          <p:cNvSpPr txBox="1"/>
          <p:nvPr>
            <p:ph idx="1" type="body"/>
          </p:nvPr>
        </p:nvSpPr>
        <p:spPr>
          <a:xfrm>
            <a:off x="1547850" y="2953970"/>
            <a:ext cx="3643500" cy="40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anti-clockwise</a:t>
            </a:r>
            <a:endParaRPr sz="2000">
              <a:latin typeface="Kalam"/>
              <a:ea typeface="Kalam"/>
              <a:cs typeface="Kalam"/>
              <a:sym typeface="Kalam"/>
            </a:endParaRPr>
          </a:p>
        </p:txBody>
      </p:sp>
      <p:sp>
        <p:nvSpPr>
          <p:cNvPr id="999" name="Google Shape;999;p75"/>
          <p:cNvSpPr txBox="1"/>
          <p:nvPr>
            <p:ph idx="1" type="body"/>
          </p:nvPr>
        </p:nvSpPr>
        <p:spPr>
          <a:xfrm>
            <a:off x="1547850" y="4433095"/>
            <a:ext cx="3643500" cy="40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clockwise</a:t>
            </a:r>
            <a:endParaRPr sz="2000">
              <a:latin typeface="Kalam"/>
              <a:ea typeface="Kalam"/>
              <a:cs typeface="Kalam"/>
              <a:sym typeface="Kala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direction of a rotation</a:t>
            </a:r>
            <a:endParaRPr/>
          </a:p>
        </p:txBody>
      </p:sp>
      <p:sp>
        <p:nvSpPr>
          <p:cNvPr id="1005" name="Google Shape;1005;p76"/>
          <p:cNvSpPr txBox="1"/>
          <p:nvPr>
            <p:ph idx="1" type="body"/>
          </p:nvPr>
        </p:nvSpPr>
        <p:spPr>
          <a:xfrm>
            <a:off x="324000" y="2912400"/>
            <a:ext cx="6332400" cy="17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5) An arrow is pointing N (north).</a:t>
            </a:r>
            <a:endParaRPr sz="2000"/>
          </a:p>
          <a:p>
            <a:pPr indent="0" lvl="0" marL="0" rtl="0" algn="l">
              <a:spcBef>
                <a:spcPts val="1000"/>
              </a:spcBef>
              <a:spcAft>
                <a:spcPts val="1000"/>
              </a:spcAft>
              <a:buNone/>
            </a:pPr>
            <a:r>
              <a:rPr lang="en-GB" sz="2000"/>
              <a:t>The arrow will rotate </a:t>
            </a:r>
            <a:r>
              <a:rPr lang="en-GB" sz="2000"/>
              <a:t>clockwise</a:t>
            </a:r>
            <a:r>
              <a:rPr lang="en-GB" sz="2000"/>
              <a:t> until it points N (north) again. In what order will it pass through the other compass directions?</a:t>
            </a:r>
            <a:endParaRPr sz="2000"/>
          </a:p>
        </p:txBody>
      </p:sp>
      <p:sp>
        <p:nvSpPr>
          <p:cNvPr id="1006" name="Google Shape;1006;p76"/>
          <p:cNvSpPr txBox="1"/>
          <p:nvPr>
            <p:ph idx="1" type="body"/>
          </p:nvPr>
        </p:nvSpPr>
        <p:spPr>
          <a:xfrm>
            <a:off x="2487800" y="683100"/>
            <a:ext cx="6332400" cy="17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4) An arrow is pointing E (east).</a:t>
            </a:r>
            <a:endParaRPr sz="2000"/>
          </a:p>
          <a:p>
            <a:pPr indent="0" lvl="0" marL="0" rtl="0" algn="l">
              <a:spcBef>
                <a:spcPts val="1000"/>
              </a:spcBef>
              <a:spcAft>
                <a:spcPts val="1000"/>
              </a:spcAft>
              <a:buNone/>
            </a:pPr>
            <a:r>
              <a:rPr lang="en-GB" sz="2000"/>
              <a:t>If the arrow rotates </a:t>
            </a:r>
            <a:r>
              <a:rPr lang="en-GB" sz="2000"/>
              <a:t>anti-clockwise</a:t>
            </a:r>
            <a:r>
              <a:rPr lang="en-GB" sz="2000"/>
              <a:t>, which compass direction will it pass first?</a:t>
            </a:r>
            <a:endParaRPr sz="2000"/>
          </a:p>
        </p:txBody>
      </p:sp>
      <p:grpSp>
        <p:nvGrpSpPr>
          <p:cNvPr id="1007" name="Google Shape;1007;p76"/>
          <p:cNvGrpSpPr/>
          <p:nvPr/>
        </p:nvGrpSpPr>
        <p:grpSpPr>
          <a:xfrm>
            <a:off x="628521" y="897457"/>
            <a:ext cx="1520862" cy="1520862"/>
            <a:chOff x="5048325" y="2258875"/>
            <a:chExt cx="1991700" cy="1991700"/>
          </a:xfrm>
        </p:grpSpPr>
        <p:cxnSp>
          <p:nvCxnSpPr>
            <p:cNvPr id="1008" name="Google Shape;1008;p76"/>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cxnSp>
          <p:nvCxnSpPr>
            <p:cNvPr id="1009" name="Google Shape;1009;p76"/>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grpSp>
      <p:sp>
        <p:nvSpPr>
          <p:cNvPr id="1010" name="Google Shape;1010;p76"/>
          <p:cNvSpPr txBox="1"/>
          <p:nvPr>
            <p:ph idx="4294967295" type="body"/>
          </p:nvPr>
        </p:nvSpPr>
        <p:spPr>
          <a:xfrm>
            <a:off x="1126405" y="683100"/>
            <a:ext cx="525000" cy="257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N</a:t>
            </a:r>
            <a:endParaRPr sz="1800"/>
          </a:p>
        </p:txBody>
      </p:sp>
      <p:sp>
        <p:nvSpPr>
          <p:cNvPr id="1011" name="Google Shape;1011;p76"/>
          <p:cNvSpPr txBox="1"/>
          <p:nvPr>
            <p:ph idx="4294967295" type="body"/>
          </p:nvPr>
        </p:nvSpPr>
        <p:spPr>
          <a:xfrm>
            <a:off x="1126405" y="2341251"/>
            <a:ext cx="525000" cy="309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S</a:t>
            </a:r>
            <a:endParaRPr sz="1800"/>
          </a:p>
        </p:txBody>
      </p:sp>
      <p:sp>
        <p:nvSpPr>
          <p:cNvPr id="1012" name="Google Shape;1012;p76"/>
          <p:cNvSpPr txBox="1"/>
          <p:nvPr>
            <p:ph idx="4294967295" type="body"/>
          </p:nvPr>
        </p:nvSpPr>
        <p:spPr>
          <a:xfrm>
            <a:off x="2144725" y="1529225"/>
            <a:ext cx="228600" cy="257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sz="1800"/>
              <a:t>E</a:t>
            </a:r>
            <a:endParaRPr sz="1800"/>
          </a:p>
        </p:txBody>
      </p:sp>
      <p:sp>
        <p:nvSpPr>
          <p:cNvPr id="1013" name="Google Shape;1013;p76"/>
          <p:cNvSpPr txBox="1"/>
          <p:nvPr>
            <p:ph idx="4294967295" type="body"/>
          </p:nvPr>
        </p:nvSpPr>
        <p:spPr>
          <a:xfrm>
            <a:off x="324000" y="1529214"/>
            <a:ext cx="309000" cy="2577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2200"/>
              <a:buNone/>
            </a:pPr>
            <a:r>
              <a:rPr lang="en-GB" sz="1800"/>
              <a:t>W</a:t>
            </a:r>
            <a:endParaRPr sz="1800"/>
          </a:p>
        </p:txBody>
      </p:sp>
      <p:sp>
        <p:nvSpPr>
          <p:cNvPr id="1014" name="Google Shape;1014;p76"/>
          <p:cNvSpPr/>
          <p:nvPr/>
        </p:nvSpPr>
        <p:spPr>
          <a:xfrm rot="5400000">
            <a:off x="1479487" y="1403969"/>
            <a:ext cx="380100" cy="5082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5" name="Google Shape;1015;p76"/>
          <p:cNvGrpSpPr/>
          <p:nvPr/>
        </p:nvGrpSpPr>
        <p:grpSpPr>
          <a:xfrm>
            <a:off x="7075196" y="2632657"/>
            <a:ext cx="1520862" cy="1520862"/>
            <a:chOff x="5048325" y="2258875"/>
            <a:chExt cx="1991700" cy="1991700"/>
          </a:xfrm>
        </p:grpSpPr>
        <p:cxnSp>
          <p:nvCxnSpPr>
            <p:cNvPr id="1016" name="Google Shape;1016;p76"/>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cxnSp>
          <p:nvCxnSpPr>
            <p:cNvPr id="1017" name="Google Shape;1017;p76"/>
            <p:cNvCxnSpPr/>
            <p:nvPr/>
          </p:nvCxnSpPr>
          <p:spPr>
            <a:xfrm>
              <a:off x="6044175" y="2258875"/>
              <a:ext cx="0" cy="1991700"/>
            </a:xfrm>
            <a:prstGeom prst="straightConnector1">
              <a:avLst/>
            </a:prstGeom>
            <a:noFill/>
            <a:ln cap="flat" cmpd="sng" w="38100">
              <a:solidFill>
                <a:schemeClr val="dk1"/>
              </a:solidFill>
              <a:prstDash val="solid"/>
              <a:round/>
              <a:headEnd len="med" w="med" type="triangle"/>
              <a:tailEnd len="med" w="med" type="triangle"/>
            </a:ln>
          </p:spPr>
        </p:cxnSp>
      </p:grpSp>
      <p:sp>
        <p:nvSpPr>
          <p:cNvPr id="1018" name="Google Shape;1018;p76"/>
          <p:cNvSpPr txBox="1"/>
          <p:nvPr>
            <p:ph idx="4294967295" type="body"/>
          </p:nvPr>
        </p:nvSpPr>
        <p:spPr>
          <a:xfrm>
            <a:off x="7573080" y="2418300"/>
            <a:ext cx="525000" cy="257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N</a:t>
            </a:r>
            <a:endParaRPr sz="1800"/>
          </a:p>
        </p:txBody>
      </p:sp>
      <p:sp>
        <p:nvSpPr>
          <p:cNvPr id="1019" name="Google Shape;1019;p76"/>
          <p:cNvSpPr txBox="1"/>
          <p:nvPr>
            <p:ph idx="4294967295" type="body"/>
          </p:nvPr>
        </p:nvSpPr>
        <p:spPr>
          <a:xfrm>
            <a:off x="7573080" y="4076451"/>
            <a:ext cx="525000" cy="309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200"/>
              <a:buNone/>
            </a:pPr>
            <a:r>
              <a:rPr lang="en-GB" sz="1800"/>
              <a:t>S</a:t>
            </a:r>
            <a:endParaRPr sz="1800"/>
          </a:p>
        </p:txBody>
      </p:sp>
      <p:sp>
        <p:nvSpPr>
          <p:cNvPr id="1020" name="Google Shape;1020;p76"/>
          <p:cNvSpPr txBox="1"/>
          <p:nvPr>
            <p:ph idx="4294967295" type="body"/>
          </p:nvPr>
        </p:nvSpPr>
        <p:spPr>
          <a:xfrm>
            <a:off x="8591400" y="3264425"/>
            <a:ext cx="228600" cy="257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200"/>
              <a:buNone/>
            </a:pPr>
            <a:r>
              <a:rPr lang="en-GB" sz="1800"/>
              <a:t>E</a:t>
            </a:r>
            <a:endParaRPr sz="1800"/>
          </a:p>
        </p:txBody>
      </p:sp>
      <p:sp>
        <p:nvSpPr>
          <p:cNvPr id="1021" name="Google Shape;1021;p76"/>
          <p:cNvSpPr txBox="1"/>
          <p:nvPr>
            <p:ph idx="4294967295" type="body"/>
          </p:nvPr>
        </p:nvSpPr>
        <p:spPr>
          <a:xfrm>
            <a:off x="6770675" y="3264414"/>
            <a:ext cx="309000" cy="2577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2200"/>
              <a:buNone/>
            </a:pPr>
            <a:r>
              <a:rPr lang="en-GB" sz="1800"/>
              <a:t>W</a:t>
            </a:r>
            <a:endParaRPr sz="1800"/>
          </a:p>
        </p:txBody>
      </p:sp>
      <p:sp>
        <p:nvSpPr>
          <p:cNvPr id="1022" name="Google Shape;1022;p76"/>
          <p:cNvSpPr/>
          <p:nvPr/>
        </p:nvSpPr>
        <p:spPr>
          <a:xfrm>
            <a:off x="7645500" y="2848645"/>
            <a:ext cx="380100" cy="508200"/>
          </a:xfrm>
          <a:prstGeom prst="upArrow">
            <a:avLst>
              <a:gd fmla="val 31050" name="adj1"/>
              <a:gd fmla="val 4896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6"/>
          <p:cNvSpPr txBox="1"/>
          <p:nvPr>
            <p:ph idx="1" type="body"/>
          </p:nvPr>
        </p:nvSpPr>
        <p:spPr>
          <a:xfrm>
            <a:off x="3431700" y="1935054"/>
            <a:ext cx="3643500" cy="40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 (north)</a:t>
            </a:r>
            <a:endParaRPr sz="2000">
              <a:latin typeface="Kalam"/>
              <a:ea typeface="Kalam"/>
              <a:cs typeface="Kalam"/>
              <a:sym typeface="Kalam"/>
            </a:endParaRPr>
          </a:p>
        </p:txBody>
      </p:sp>
      <p:sp>
        <p:nvSpPr>
          <p:cNvPr id="1024" name="Google Shape;1024;p76"/>
          <p:cNvSpPr txBox="1"/>
          <p:nvPr>
            <p:ph idx="1" type="body"/>
          </p:nvPr>
        </p:nvSpPr>
        <p:spPr>
          <a:xfrm>
            <a:off x="3919125" y="4193100"/>
            <a:ext cx="1050300" cy="40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 S, W</a:t>
            </a:r>
            <a:endParaRPr sz="2000">
              <a:latin typeface="Kalam"/>
              <a:ea typeface="Kalam"/>
              <a:cs typeface="Kalam"/>
              <a:sym typeface="Kala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7"/>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the direction of a rotation</a:t>
            </a:r>
            <a:endParaRPr/>
          </a:p>
        </p:txBody>
      </p:sp>
      <p:sp>
        <p:nvSpPr>
          <p:cNvPr id="1030" name="Google Shape;1030;p77"/>
          <p:cNvSpPr txBox="1"/>
          <p:nvPr>
            <p:ph idx="4" type="title"/>
          </p:nvPr>
        </p:nvSpPr>
        <p:spPr>
          <a:xfrm>
            <a:off x="324000" y="8100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a rotation's direction and size</a:t>
            </a:r>
            <a:endParaRPr/>
          </a:p>
        </p:txBody>
      </p:sp>
      <p:sp>
        <p:nvSpPr>
          <p:cNvPr id="1031" name="Google Shape;1031;p77"/>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pic>
        <p:nvPicPr>
          <p:cNvPr id="1032" name="Google Shape;1032;p77"/>
          <p:cNvPicPr preferRelativeResize="0"/>
          <p:nvPr/>
        </p:nvPicPr>
        <p:blipFill>
          <a:blip r:embed="rId3">
            <a:alphaModFix/>
          </a:blip>
          <a:stretch>
            <a:fillRect/>
          </a:stretch>
        </p:blipFill>
        <p:spPr>
          <a:xfrm>
            <a:off x="410550" y="2764848"/>
            <a:ext cx="450575" cy="446750"/>
          </a:xfrm>
          <a:prstGeom prst="rect">
            <a:avLst/>
          </a:prstGeom>
          <a:noFill/>
          <a:ln>
            <a:noFill/>
          </a:ln>
        </p:spPr>
      </p:pic>
      <p:sp>
        <p:nvSpPr>
          <p:cNvPr id="1033" name="Google Shape;1033;p77"/>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the size of a rotation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pic>
        <p:nvPicPr>
          <p:cNvPr id="1038" name="Google Shape;1038;p78"/>
          <p:cNvPicPr preferRelativeResize="0"/>
          <p:nvPr/>
        </p:nvPicPr>
        <p:blipFill rotWithShape="1">
          <a:blip r:embed="rId3">
            <a:alphaModFix/>
          </a:blip>
          <a:srcRect b="59597" l="61559" r="13951" t="27330"/>
          <a:stretch/>
        </p:blipFill>
        <p:spPr>
          <a:xfrm>
            <a:off x="1345185" y="3075279"/>
            <a:ext cx="1171800" cy="632549"/>
          </a:xfrm>
          <a:prstGeom prst="rect">
            <a:avLst/>
          </a:prstGeom>
          <a:noFill/>
          <a:ln>
            <a:noFill/>
          </a:ln>
        </p:spPr>
      </p:pic>
      <p:grpSp>
        <p:nvGrpSpPr>
          <p:cNvPr id="1039" name="Google Shape;1039;p78"/>
          <p:cNvGrpSpPr/>
          <p:nvPr/>
        </p:nvGrpSpPr>
        <p:grpSpPr>
          <a:xfrm>
            <a:off x="6100019" y="1165794"/>
            <a:ext cx="1113252" cy="1041137"/>
            <a:chOff x="5427749" y="1629663"/>
            <a:chExt cx="1113252" cy="1041137"/>
          </a:xfrm>
        </p:grpSpPr>
        <p:pic>
          <p:nvPicPr>
            <p:cNvPr id="1040" name="Google Shape;1040;p78"/>
            <p:cNvPicPr preferRelativeResize="0"/>
            <p:nvPr/>
          </p:nvPicPr>
          <p:blipFill rotWithShape="1">
            <a:blip r:embed="rId3">
              <a:alphaModFix/>
            </a:blip>
            <a:srcRect b="12671" l="61925" r="14808" t="74256"/>
            <a:stretch/>
          </p:blipFill>
          <p:spPr>
            <a:xfrm>
              <a:off x="5427749" y="1629663"/>
              <a:ext cx="1113252" cy="632549"/>
            </a:xfrm>
            <a:prstGeom prst="rect">
              <a:avLst/>
            </a:prstGeom>
            <a:noFill/>
            <a:ln>
              <a:noFill/>
            </a:ln>
          </p:spPr>
        </p:pic>
        <p:pic>
          <p:nvPicPr>
            <p:cNvPr id="1041" name="Google Shape;1041;p78"/>
            <p:cNvPicPr preferRelativeResize="0"/>
            <p:nvPr/>
          </p:nvPicPr>
          <p:blipFill rotWithShape="1">
            <a:blip r:embed="rId3">
              <a:alphaModFix/>
            </a:blip>
            <a:srcRect b="12671" l="61924" r="26811" t="74256"/>
            <a:stretch/>
          </p:blipFill>
          <p:spPr>
            <a:xfrm rot="-5400000">
              <a:off x="5493312" y="2085037"/>
              <a:ext cx="538976" cy="632549"/>
            </a:xfrm>
            <a:prstGeom prst="rect">
              <a:avLst/>
            </a:prstGeom>
            <a:noFill/>
            <a:ln>
              <a:noFill/>
            </a:ln>
          </p:spPr>
        </p:pic>
      </p:grpSp>
      <p:sp>
        <p:nvSpPr>
          <p:cNvPr id="1042" name="Google Shape;104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the size of a rotation</a:t>
            </a:r>
            <a:endParaRPr/>
          </a:p>
        </p:txBody>
      </p:sp>
      <p:sp>
        <p:nvSpPr>
          <p:cNvPr id="1043" name="Google Shape;1043;p78"/>
          <p:cNvSpPr txBox="1"/>
          <p:nvPr>
            <p:ph idx="1" type="body"/>
          </p:nvPr>
        </p:nvSpPr>
        <p:spPr>
          <a:xfrm>
            <a:off x="324000" y="759300"/>
            <a:ext cx="71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size of a rotation can be described using angles written in degrees.</a:t>
            </a:r>
            <a:endParaRPr sz="1800"/>
          </a:p>
        </p:txBody>
      </p:sp>
      <p:sp>
        <p:nvSpPr>
          <p:cNvPr id="1044" name="Google Shape;1044;p78"/>
          <p:cNvSpPr/>
          <p:nvPr/>
        </p:nvSpPr>
        <p:spPr>
          <a:xfrm>
            <a:off x="1695225" y="3375099"/>
            <a:ext cx="375300" cy="375600"/>
          </a:xfrm>
          <a:prstGeom prst="rect">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8"/>
          <p:cNvSpPr/>
          <p:nvPr/>
        </p:nvSpPr>
        <p:spPr>
          <a:xfrm>
            <a:off x="1699016" y="1496928"/>
            <a:ext cx="375300" cy="3753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8"/>
          <p:cNvSpPr/>
          <p:nvPr/>
        </p:nvSpPr>
        <p:spPr>
          <a:xfrm>
            <a:off x="6433300" y="1493122"/>
            <a:ext cx="375300" cy="375600"/>
          </a:xfrm>
          <a:prstGeom prst="rect">
            <a:avLst/>
          </a:prstGeom>
          <a:solidFill>
            <a:srgbClr val="EBECFE"/>
          </a:solidFill>
          <a:ln cap="flat" cmpd="sng" w="38100">
            <a:solidFill>
              <a:srgbClr val="374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7" name="Google Shape;1047;p78"/>
          <p:cNvPicPr preferRelativeResize="0"/>
          <p:nvPr/>
        </p:nvPicPr>
        <p:blipFill rotWithShape="1">
          <a:blip r:embed="rId3">
            <a:alphaModFix/>
          </a:blip>
          <a:srcRect b="84458" l="22691" r="64445" t="0"/>
          <a:stretch/>
        </p:blipFill>
        <p:spPr>
          <a:xfrm>
            <a:off x="1913267" y="1111975"/>
            <a:ext cx="615476" cy="752002"/>
          </a:xfrm>
          <a:prstGeom prst="rect">
            <a:avLst/>
          </a:prstGeom>
          <a:noFill/>
          <a:ln>
            <a:noFill/>
          </a:ln>
        </p:spPr>
      </p:pic>
      <p:sp>
        <p:nvSpPr>
          <p:cNvPr id="1048" name="Google Shape;1048;p78"/>
          <p:cNvSpPr txBox="1"/>
          <p:nvPr>
            <p:ph idx="1" type="body"/>
          </p:nvPr>
        </p:nvSpPr>
        <p:spPr>
          <a:xfrm>
            <a:off x="883875" y="2218313"/>
            <a:ext cx="2462400" cy="3813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a</a:t>
            </a:r>
            <a:r>
              <a:rPr lang="en-GB" sz="1800"/>
              <a:t> quarter turn is a 90°       rotation</a:t>
            </a:r>
            <a:endParaRPr sz="1800"/>
          </a:p>
        </p:txBody>
      </p:sp>
      <p:sp>
        <p:nvSpPr>
          <p:cNvPr id="1049" name="Google Shape;1049;p78"/>
          <p:cNvSpPr txBox="1"/>
          <p:nvPr>
            <p:ph idx="1" type="body"/>
          </p:nvPr>
        </p:nvSpPr>
        <p:spPr>
          <a:xfrm>
            <a:off x="883875" y="4042725"/>
            <a:ext cx="2336400" cy="3813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a half turn is a 180°        rotation</a:t>
            </a:r>
            <a:endParaRPr sz="1800"/>
          </a:p>
        </p:txBody>
      </p:sp>
      <p:sp>
        <p:nvSpPr>
          <p:cNvPr id="1050" name="Google Shape;1050;p78"/>
          <p:cNvSpPr txBox="1"/>
          <p:nvPr>
            <p:ph idx="1" type="body"/>
          </p:nvPr>
        </p:nvSpPr>
        <p:spPr>
          <a:xfrm>
            <a:off x="5145075" y="2228700"/>
            <a:ext cx="3310500" cy="3813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a </a:t>
            </a:r>
            <a:r>
              <a:rPr lang="en-GB" sz="1800"/>
              <a:t>t</a:t>
            </a:r>
            <a:r>
              <a:rPr lang="en-GB" sz="1800"/>
              <a:t>hree-quarter</a:t>
            </a:r>
            <a:r>
              <a:rPr lang="en-GB" sz="1800"/>
              <a:t> turn is a 270°     rotation</a:t>
            </a:r>
            <a:endParaRPr sz="1800"/>
          </a:p>
        </p:txBody>
      </p:sp>
      <p:grpSp>
        <p:nvGrpSpPr>
          <p:cNvPr id="1051" name="Google Shape;1051;p78"/>
          <p:cNvGrpSpPr/>
          <p:nvPr/>
        </p:nvGrpSpPr>
        <p:grpSpPr>
          <a:xfrm>
            <a:off x="6014545" y="2977504"/>
            <a:ext cx="1236979" cy="1199336"/>
            <a:chOff x="4451347" y="1280815"/>
            <a:chExt cx="1236979" cy="1199336"/>
          </a:xfrm>
        </p:grpSpPr>
        <p:pic>
          <p:nvPicPr>
            <p:cNvPr id="1052" name="Google Shape;1052;p78"/>
            <p:cNvPicPr preferRelativeResize="0"/>
            <p:nvPr/>
          </p:nvPicPr>
          <p:blipFill rotWithShape="1">
            <a:blip r:embed="rId3">
              <a:alphaModFix/>
            </a:blip>
            <a:srcRect b="84458" l="57225" r="24607" t="0"/>
            <a:stretch/>
          </p:blipFill>
          <p:spPr>
            <a:xfrm rot="10800000">
              <a:off x="4819051" y="1689998"/>
              <a:ext cx="869276" cy="752002"/>
            </a:xfrm>
            <a:prstGeom prst="rect">
              <a:avLst/>
            </a:prstGeom>
            <a:noFill/>
            <a:ln>
              <a:noFill/>
            </a:ln>
          </p:spPr>
        </p:pic>
        <p:pic>
          <p:nvPicPr>
            <p:cNvPr id="1053" name="Google Shape;1053;p78"/>
            <p:cNvPicPr preferRelativeResize="0"/>
            <p:nvPr/>
          </p:nvPicPr>
          <p:blipFill rotWithShape="1">
            <a:blip r:embed="rId3">
              <a:alphaModFix/>
            </a:blip>
            <a:srcRect b="84458" l="57225" r="24607" t="0"/>
            <a:stretch/>
          </p:blipFill>
          <p:spPr>
            <a:xfrm rot="-5400000">
              <a:off x="4431201" y="1669512"/>
              <a:ext cx="869276" cy="752002"/>
            </a:xfrm>
            <a:prstGeom prst="rect">
              <a:avLst/>
            </a:prstGeom>
            <a:noFill/>
            <a:ln>
              <a:noFill/>
            </a:ln>
          </p:spPr>
        </p:pic>
        <p:pic>
          <p:nvPicPr>
            <p:cNvPr id="1054" name="Google Shape;1054;p78"/>
            <p:cNvPicPr preferRelativeResize="0"/>
            <p:nvPr/>
          </p:nvPicPr>
          <p:blipFill rotWithShape="1">
            <a:blip r:embed="rId3">
              <a:alphaModFix/>
            </a:blip>
            <a:srcRect b="84458" l="57225" r="18284" t="0"/>
            <a:stretch/>
          </p:blipFill>
          <p:spPr>
            <a:xfrm>
              <a:off x="4451347" y="1280815"/>
              <a:ext cx="1171824" cy="752002"/>
            </a:xfrm>
            <a:prstGeom prst="rect">
              <a:avLst/>
            </a:prstGeom>
            <a:noFill/>
            <a:ln>
              <a:noFill/>
            </a:ln>
          </p:spPr>
        </p:pic>
      </p:grpSp>
      <p:sp>
        <p:nvSpPr>
          <p:cNvPr id="1055" name="Google Shape;1055;p78"/>
          <p:cNvSpPr/>
          <p:nvPr/>
        </p:nvSpPr>
        <p:spPr>
          <a:xfrm>
            <a:off x="6436509" y="3362471"/>
            <a:ext cx="375300" cy="3753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8"/>
          <p:cNvSpPr txBox="1"/>
          <p:nvPr>
            <p:ph idx="1" type="body"/>
          </p:nvPr>
        </p:nvSpPr>
        <p:spPr>
          <a:xfrm>
            <a:off x="5145077" y="3850425"/>
            <a:ext cx="3234000" cy="613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a full turn is a </a:t>
            </a:r>
            <a:r>
              <a:rPr lang="en-GB" sz="1800"/>
              <a:t>3</a:t>
            </a:r>
            <a:r>
              <a:rPr lang="en-GB" sz="1800"/>
              <a:t>60° rotation</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79"/>
          <p:cNvSpPr/>
          <p:nvPr/>
        </p:nvSpPr>
        <p:spPr>
          <a:xfrm rot="-5400000">
            <a:off x="6266875" y="1148550"/>
            <a:ext cx="628800" cy="1305900"/>
          </a:xfrm>
          <a:prstGeom prst="rightArrow">
            <a:avLst>
              <a:gd fmla="val 50000" name="adj1"/>
              <a:gd fmla="val 50000"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9"/>
          <p:cNvSpPr/>
          <p:nvPr/>
        </p:nvSpPr>
        <p:spPr>
          <a:xfrm>
            <a:off x="7857826" y="1343400"/>
            <a:ext cx="628800" cy="1305900"/>
          </a:xfrm>
          <a:prstGeom prst="right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79"/>
          <p:cNvSpPr txBox="1"/>
          <p:nvPr>
            <p:ph idx="4294967295" type="body"/>
          </p:nvPr>
        </p:nvSpPr>
        <p:spPr>
          <a:xfrm>
            <a:off x="324000" y="2532925"/>
            <a:ext cx="67068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a:t>
            </a:r>
            <a:r>
              <a:rPr lang="en-GB" sz="1800" u="sng"/>
              <a:t>                </a:t>
            </a:r>
            <a:r>
              <a:rPr lang="en-GB" sz="1800"/>
              <a:t>  clockwise.</a:t>
            </a:r>
            <a:endParaRPr sz="1800"/>
          </a:p>
        </p:txBody>
      </p:sp>
      <p:sp>
        <p:nvSpPr>
          <p:cNvPr id="1064" name="Google Shape;1064;p79"/>
          <p:cNvSpPr txBox="1"/>
          <p:nvPr/>
        </p:nvSpPr>
        <p:spPr>
          <a:xfrm>
            <a:off x="6211900" y="21159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065" name="Google Shape;1065;p79"/>
          <p:cNvSpPr txBox="1"/>
          <p:nvPr/>
        </p:nvSpPr>
        <p:spPr>
          <a:xfrm>
            <a:off x="7519280" y="2677513"/>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066" name="Google Shape;1066;p79"/>
          <p:cNvSpPr txBox="1"/>
          <p:nvPr>
            <p:ph idx="4294967295" type="body"/>
          </p:nvPr>
        </p:nvSpPr>
        <p:spPr>
          <a:xfrm>
            <a:off x="324000" y="39750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270°   </a:t>
            </a:r>
            <a:r>
              <a:rPr lang="en-GB" sz="1800" u="sng"/>
              <a:t>                               </a:t>
            </a:r>
            <a:r>
              <a:rPr lang="en-GB" sz="1800"/>
              <a:t> .</a:t>
            </a:r>
            <a:endParaRPr sz="1800"/>
          </a:p>
        </p:txBody>
      </p:sp>
      <p:sp>
        <p:nvSpPr>
          <p:cNvPr id="1067" name="Google Shape;1067;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the size of a rotation</a:t>
            </a:r>
            <a:endParaRPr/>
          </a:p>
        </p:txBody>
      </p:sp>
      <p:pic>
        <p:nvPicPr>
          <p:cNvPr id="1068" name="Google Shape;1068;p79"/>
          <p:cNvPicPr preferRelativeResize="0"/>
          <p:nvPr/>
        </p:nvPicPr>
        <p:blipFill rotWithShape="1">
          <a:blip r:embed="rId3">
            <a:alphaModFix/>
          </a:blip>
          <a:srcRect b="59597" l="72906" r="13952" t="27330"/>
          <a:stretch/>
        </p:blipFill>
        <p:spPr>
          <a:xfrm>
            <a:off x="6940605" y="1352125"/>
            <a:ext cx="628800" cy="632549"/>
          </a:xfrm>
          <a:prstGeom prst="rect">
            <a:avLst/>
          </a:prstGeom>
          <a:noFill/>
          <a:ln>
            <a:noFill/>
          </a:ln>
        </p:spPr>
      </p:pic>
      <p:sp>
        <p:nvSpPr>
          <p:cNvPr id="1069" name="Google Shape;1069;p79"/>
          <p:cNvSpPr txBox="1"/>
          <p:nvPr/>
        </p:nvSpPr>
        <p:spPr>
          <a:xfrm>
            <a:off x="7139225" y="3144575"/>
            <a:ext cx="15786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Kalam"/>
                <a:ea typeface="Kalam"/>
                <a:cs typeface="Kalam"/>
                <a:sym typeface="Kalam"/>
              </a:rPr>
              <a:t>t</a:t>
            </a:r>
            <a:r>
              <a:rPr lang="en-GB" sz="2000">
                <a:latin typeface="Kalam"/>
                <a:ea typeface="Kalam"/>
                <a:cs typeface="Kalam"/>
                <a:sym typeface="Kalam"/>
              </a:rPr>
              <a:t>he a</a:t>
            </a:r>
            <a:r>
              <a:rPr lang="en-GB" sz="2000">
                <a:latin typeface="Kalam"/>
                <a:ea typeface="Kalam"/>
                <a:cs typeface="Kalam"/>
                <a:sym typeface="Kalam"/>
              </a:rPr>
              <a:t>rrow has </a:t>
            </a:r>
            <a:r>
              <a:rPr lang="en-GB" sz="2000">
                <a:latin typeface="Kalam"/>
                <a:ea typeface="Kalam"/>
                <a:cs typeface="Kalam"/>
                <a:sym typeface="Kalam"/>
              </a:rPr>
              <a:t>made a quarter turn</a:t>
            </a:r>
            <a:endParaRPr sz="2000">
              <a:solidFill>
                <a:srgbClr val="000000"/>
              </a:solidFill>
              <a:latin typeface="Kalam"/>
              <a:ea typeface="Kalam"/>
              <a:cs typeface="Kalam"/>
              <a:sym typeface="Kalam"/>
            </a:endParaRPr>
          </a:p>
        </p:txBody>
      </p:sp>
      <p:sp>
        <p:nvSpPr>
          <p:cNvPr id="1070" name="Google Shape;1070;p79"/>
          <p:cNvSpPr txBox="1"/>
          <p:nvPr>
            <p:ph idx="4294967295" type="body"/>
          </p:nvPr>
        </p:nvSpPr>
        <p:spPr>
          <a:xfrm>
            <a:off x="324000" y="759300"/>
            <a:ext cx="70755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object has been rotated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0"/>
          <p:cNvSpPr/>
          <p:nvPr/>
        </p:nvSpPr>
        <p:spPr>
          <a:xfrm rot="-5400000">
            <a:off x="6266875" y="1148550"/>
            <a:ext cx="628800" cy="1305900"/>
          </a:xfrm>
          <a:prstGeom prst="rightArrow">
            <a:avLst>
              <a:gd fmla="val 50000" name="adj1"/>
              <a:gd fmla="val 50000"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80"/>
          <p:cNvSpPr/>
          <p:nvPr/>
        </p:nvSpPr>
        <p:spPr>
          <a:xfrm>
            <a:off x="7857826" y="1343400"/>
            <a:ext cx="628800" cy="1305900"/>
          </a:xfrm>
          <a:prstGeom prst="right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80"/>
          <p:cNvSpPr txBox="1"/>
          <p:nvPr>
            <p:ph idx="4294967295" type="body"/>
          </p:nvPr>
        </p:nvSpPr>
        <p:spPr>
          <a:xfrm>
            <a:off x="324000" y="2532925"/>
            <a:ext cx="65772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a:t>
            </a:r>
            <a:r>
              <a:rPr lang="en-GB" sz="1800">
                <a:solidFill>
                  <a:srgbClr val="FFFFFF"/>
                </a:solidFill>
              </a:rPr>
              <a:t> </a:t>
            </a:r>
            <a:r>
              <a:rPr lang="en-GB" sz="1800" u="sng">
                <a:solidFill>
                  <a:srgbClr val="FFFFFF"/>
                </a:solidFill>
              </a:rPr>
              <a:t>                </a:t>
            </a:r>
            <a:r>
              <a:rPr lang="en-GB" sz="1800">
                <a:solidFill>
                  <a:srgbClr val="FFFFFF"/>
                </a:solidFill>
              </a:rPr>
              <a:t>  </a:t>
            </a:r>
            <a:r>
              <a:rPr lang="en-GB" sz="1800"/>
              <a:t>clockwise.</a:t>
            </a:r>
            <a:endParaRPr sz="1800"/>
          </a:p>
        </p:txBody>
      </p:sp>
      <p:sp>
        <p:nvSpPr>
          <p:cNvPr id="1078" name="Google Shape;1078;p80"/>
          <p:cNvSpPr txBox="1"/>
          <p:nvPr/>
        </p:nvSpPr>
        <p:spPr>
          <a:xfrm>
            <a:off x="6211900" y="21159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079" name="Google Shape;1079;p80"/>
          <p:cNvSpPr txBox="1"/>
          <p:nvPr/>
        </p:nvSpPr>
        <p:spPr>
          <a:xfrm>
            <a:off x="7519280" y="2677513"/>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080" name="Google Shape;1080;p80"/>
          <p:cNvSpPr txBox="1"/>
          <p:nvPr>
            <p:ph idx="4294967295" type="body"/>
          </p:nvPr>
        </p:nvSpPr>
        <p:spPr>
          <a:xfrm>
            <a:off x="324000" y="397303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a:t>
            </a:r>
            <a:r>
              <a:rPr lang="en-GB" sz="1800"/>
              <a:t>270°</a:t>
            </a:r>
            <a:r>
              <a:rPr lang="en-GB" sz="1800"/>
              <a:t>   </a:t>
            </a:r>
            <a:r>
              <a:rPr lang="en-GB" sz="1800" u="sng">
                <a:solidFill>
                  <a:srgbClr val="FFFFFF"/>
                </a:solidFill>
                <a:highlight>
                  <a:srgbClr val="FFFFFF"/>
                </a:highlight>
              </a:rPr>
              <a:t>                               </a:t>
            </a:r>
            <a:r>
              <a:rPr lang="en-GB" sz="1800">
                <a:solidFill>
                  <a:srgbClr val="FFFFFF"/>
                </a:solidFill>
                <a:highlight>
                  <a:srgbClr val="FFFFFF"/>
                </a:highlight>
              </a:rPr>
              <a:t> </a:t>
            </a:r>
            <a:r>
              <a:rPr lang="en-GB" sz="1800"/>
              <a:t>.</a:t>
            </a:r>
            <a:endParaRPr sz="1800"/>
          </a:p>
        </p:txBody>
      </p:sp>
      <p:sp>
        <p:nvSpPr>
          <p:cNvPr id="1081" name="Google Shape;1081;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the size of a rotation</a:t>
            </a:r>
            <a:endParaRPr/>
          </a:p>
        </p:txBody>
      </p:sp>
      <p:sp>
        <p:nvSpPr>
          <p:cNvPr id="1082" name="Google Shape;1082;p80"/>
          <p:cNvSpPr txBox="1"/>
          <p:nvPr>
            <p:ph idx="4294967295" type="body"/>
          </p:nvPr>
        </p:nvSpPr>
        <p:spPr>
          <a:xfrm>
            <a:off x="324000" y="759300"/>
            <a:ext cx="70755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object has been rotated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pic>
        <p:nvPicPr>
          <p:cNvPr id="1083" name="Google Shape;1083;p80"/>
          <p:cNvPicPr preferRelativeResize="0"/>
          <p:nvPr/>
        </p:nvPicPr>
        <p:blipFill rotWithShape="1">
          <a:blip r:embed="rId3">
            <a:alphaModFix/>
          </a:blip>
          <a:srcRect b="59597" l="72906" r="13952" t="27330"/>
          <a:stretch/>
        </p:blipFill>
        <p:spPr>
          <a:xfrm>
            <a:off x="6940605" y="1352125"/>
            <a:ext cx="628800" cy="632549"/>
          </a:xfrm>
          <a:prstGeom prst="rect">
            <a:avLst/>
          </a:prstGeom>
          <a:noFill/>
          <a:ln>
            <a:noFill/>
          </a:ln>
        </p:spPr>
      </p:pic>
      <p:sp>
        <p:nvSpPr>
          <p:cNvPr id="1084" name="Google Shape;1084;p80"/>
          <p:cNvSpPr txBox="1"/>
          <p:nvPr/>
        </p:nvSpPr>
        <p:spPr>
          <a:xfrm>
            <a:off x="3569000" y="2986600"/>
            <a:ext cx="1003200" cy="2754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Kalam"/>
                <a:ea typeface="Kalam"/>
                <a:cs typeface="Kalam"/>
                <a:sym typeface="Kalam"/>
              </a:rPr>
              <a:t>90°</a:t>
            </a:r>
            <a:endParaRPr sz="2000">
              <a:solidFill>
                <a:srgbClr val="000000"/>
              </a:solidFill>
              <a:latin typeface="Kalam"/>
              <a:ea typeface="Kalam"/>
              <a:cs typeface="Kalam"/>
              <a:sym typeface="Kalam"/>
            </a:endParaRPr>
          </a:p>
        </p:txBody>
      </p:sp>
      <p:sp>
        <p:nvSpPr>
          <p:cNvPr id="1085" name="Google Shape;1085;p80"/>
          <p:cNvSpPr txBox="1"/>
          <p:nvPr/>
        </p:nvSpPr>
        <p:spPr>
          <a:xfrm>
            <a:off x="7139225" y="3144575"/>
            <a:ext cx="15786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Kalam"/>
                <a:ea typeface="Kalam"/>
                <a:cs typeface="Kalam"/>
                <a:sym typeface="Kalam"/>
              </a:rPr>
              <a:t>the arrow has made a quarter turn</a:t>
            </a:r>
            <a:endParaRPr sz="2000">
              <a:solidFill>
                <a:srgbClr val="000000"/>
              </a:solidFill>
              <a:latin typeface="Kalam"/>
              <a:ea typeface="Kalam"/>
              <a:cs typeface="Kalam"/>
              <a:sym typeface="Kalam"/>
            </a:endParaRPr>
          </a:p>
        </p:txBody>
      </p:sp>
      <p:sp>
        <p:nvSpPr>
          <p:cNvPr id="1086" name="Google Shape;1086;p80"/>
          <p:cNvSpPr txBox="1"/>
          <p:nvPr/>
        </p:nvSpPr>
        <p:spPr>
          <a:xfrm>
            <a:off x="4072950" y="4418995"/>
            <a:ext cx="1992000" cy="2754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Kalam"/>
                <a:ea typeface="Kalam"/>
                <a:cs typeface="Kalam"/>
                <a:sym typeface="Kalam"/>
              </a:rPr>
              <a:t>anti-clockwise</a:t>
            </a:r>
            <a:endParaRPr sz="20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8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size of a rotation</a:t>
            </a:r>
            <a:endParaRPr/>
          </a:p>
        </p:txBody>
      </p:sp>
      <p:sp>
        <p:nvSpPr>
          <p:cNvPr id="1092" name="Google Shape;1092;p81"/>
          <p:cNvSpPr txBox="1"/>
          <p:nvPr>
            <p:ph idx="1" type="body"/>
          </p:nvPr>
        </p:nvSpPr>
        <p:spPr>
          <a:xfrm>
            <a:off x="324000" y="606900"/>
            <a:ext cx="8496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Match the size measured in degrees with its description.                    Some numbers do not match with a description.</a:t>
            </a:r>
            <a:endParaRPr/>
          </a:p>
        </p:txBody>
      </p:sp>
      <p:grpSp>
        <p:nvGrpSpPr>
          <p:cNvPr id="1093" name="Google Shape;1093;p81"/>
          <p:cNvGrpSpPr/>
          <p:nvPr/>
        </p:nvGrpSpPr>
        <p:grpSpPr>
          <a:xfrm>
            <a:off x="811316" y="1419300"/>
            <a:ext cx="457200" cy="457200"/>
            <a:chOff x="1020916" y="1442088"/>
            <a:chExt cx="457200" cy="457200"/>
          </a:xfrm>
        </p:grpSpPr>
        <p:pic>
          <p:nvPicPr>
            <p:cNvPr id="1094" name="Google Shape;1094;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95" name="Google Shape;1095;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96" name="Google Shape;1096;p81"/>
          <p:cNvGrpSpPr/>
          <p:nvPr/>
        </p:nvGrpSpPr>
        <p:grpSpPr>
          <a:xfrm>
            <a:off x="811316" y="1992840"/>
            <a:ext cx="457200" cy="457200"/>
            <a:chOff x="1020916" y="1442088"/>
            <a:chExt cx="457200" cy="457200"/>
          </a:xfrm>
        </p:grpSpPr>
        <p:pic>
          <p:nvPicPr>
            <p:cNvPr id="1097" name="Google Shape;1097;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98" name="Google Shape;1098;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99" name="Google Shape;1099;p81"/>
          <p:cNvGrpSpPr/>
          <p:nvPr/>
        </p:nvGrpSpPr>
        <p:grpSpPr>
          <a:xfrm>
            <a:off x="811316" y="2566380"/>
            <a:ext cx="457200" cy="457200"/>
            <a:chOff x="1020916" y="1442088"/>
            <a:chExt cx="457200" cy="457200"/>
          </a:xfrm>
        </p:grpSpPr>
        <p:pic>
          <p:nvPicPr>
            <p:cNvPr id="1100" name="Google Shape;1100;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1" name="Google Shape;1101;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02" name="Google Shape;1102;p81"/>
          <p:cNvGrpSpPr/>
          <p:nvPr/>
        </p:nvGrpSpPr>
        <p:grpSpPr>
          <a:xfrm>
            <a:off x="811316" y="3139920"/>
            <a:ext cx="457200" cy="457200"/>
            <a:chOff x="1020916" y="1442088"/>
            <a:chExt cx="457200" cy="457200"/>
          </a:xfrm>
        </p:grpSpPr>
        <p:pic>
          <p:nvPicPr>
            <p:cNvPr id="1103" name="Google Shape;1103;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4" name="Google Shape;1104;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0^{\circ}&quot;&gt;&lt;msup&gt;&lt;mn&gt;90&lt;/mn&gt;&lt;mrow data-mjx-texclass=&quot;ORD&quot;&gt;&lt;mo&gt;∘&lt;/mo&gt;&lt;/mrow&gt;&lt;/msup&gt;&lt;/math&gt;" id="1105" name="Google Shape;1105;p81" title="90 degrees"/>
          <p:cNvPicPr preferRelativeResize="0"/>
          <p:nvPr/>
        </p:nvPicPr>
        <p:blipFill>
          <a:blip r:embed="rId4">
            <a:alphaModFix/>
          </a:blip>
          <a:stretch>
            <a:fillRect/>
          </a:stretch>
        </p:blipFill>
        <p:spPr>
          <a:xfrm>
            <a:off x="1329677" y="1514013"/>
            <a:ext cx="452678" cy="267779"/>
          </a:xfrm>
          <a:prstGeom prst="rect">
            <a:avLst/>
          </a:prstGeom>
          <a:noFill/>
          <a:ln>
            <a:noFill/>
          </a:ln>
        </p:spPr>
      </p:pic>
      <p:pic>
        <p:nvPicPr>
          <p:cNvPr descr="&lt;math xmlns=&quot;http://www.w3.org/1998/Math/MathML&quot; display=&quot;block&quot; data-is-equatio=&quot;1&quot; data-latex=&quot;180^{\circ}&quot;&gt;&lt;msup&gt;&lt;mn&gt;180&lt;/mn&gt;&lt;mrow data-mjx-texclass=&quot;ORD&quot;&gt;&lt;mo&gt;∘&lt;/mo&gt;&lt;/mrow&gt;&lt;/msup&gt;&lt;/math&gt;" id="1106" name="Google Shape;1106;p81" title="180 degrees"/>
          <p:cNvPicPr preferRelativeResize="0"/>
          <p:nvPr/>
        </p:nvPicPr>
        <p:blipFill>
          <a:blip r:embed="rId5">
            <a:alphaModFix/>
          </a:blip>
          <a:stretch>
            <a:fillRect/>
          </a:stretch>
        </p:blipFill>
        <p:spPr>
          <a:xfrm>
            <a:off x="1329677" y="2087560"/>
            <a:ext cx="605696" cy="267779"/>
          </a:xfrm>
          <a:prstGeom prst="rect">
            <a:avLst/>
          </a:prstGeom>
          <a:noFill/>
          <a:ln>
            <a:noFill/>
          </a:ln>
        </p:spPr>
      </p:pic>
      <p:pic>
        <p:nvPicPr>
          <p:cNvPr descr="&lt;math xmlns=&quot;http://www.w3.org/1998/Math/MathML&quot; display=&quot;block&quot; data-is-equatio=&quot;1&quot; data-latex=&quot;270^{\circ}&quot;&gt;&lt;msup&gt;&lt;mn&gt;270&lt;/mn&gt;&lt;mrow data-mjx-texclass=&quot;ORD&quot;&gt;&lt;mo&gt;∘&lt;/mo&gt;&lt;/mrow&gt;&lt;/msup&gt;&lt;/math&gt;" id="1107" name="Google Shape;1107;p81" title="270 degrees"/>
          <p:cNvPicPr preferRelativeResize="0"/>
          <p:nvPr/>
        </p:nvPicPr>
        <p:blipFill>
          <a:blip r:embed="rId6">
            <a:alphaModFix/>
          </a:blip>
          <a:stretch>
            <a:fillRect/>
          </a:stretch>
        </p:blipFill>
        <p:spPr>
          <a:xfrm>
            <a:off x="1313739" y="3234648"/>
            <a:ext cx="637575" cy="267779"/>
          </a:xfrm>
          <a:prstGeom prst="rect">
            <a:avLst/>
          </a:prstGeom>
          <a:noFill/>
          <a:ln>
            <a:noFill/>
          </a:ln>
        </p:spPr>
      </p:pic>
      <p:pic>
        <p:nvPicPr>
          <p:cNvPr descr="&lt;math xmlns=&quot;http://www.w3.org/1998/Math/MathML&quot; display=&quot;block&quot; data-is-equatio=&quot;1&quot; data-latex=&quot;360^{\circ}&quot;&gt;&lt;msup&gt;&lt;mn&gt;360&lt;/mn&gt;&lt;mrow data-mjx-texclass=&quot;ORD&quot;&gt;&lt;mo&gt;∘&lt;/mo&gt;&lt;/mrow&gt;&lt;/msup&gt;&lt;/math&gt;" id="1108" name="Google Shape;1108;p81" title="360 degrees"/>
          <p:cNvPicPr preferRelativeResize="0"/>
          <p:nvPr/>
        </p:nvPicPr>
        <p:blipFill>
          <a:blip r:embed="rId7">
            <a:alphaModFix/>
          </a:blip>
          <a:stretch>
            <a:fillRect/>
          </a:stretch>
        </p:blipFill>
        <p:spPr>
          <a:xfrm>
            <a:off x="1297827" y="3808171"/>
            <a:ext cx="631188" cy="267779"/>
          </a:xfrm>
          <a:prstGeom prst="rect">
            <a:avLst/>
          </a:prstGeom>
          <a:noFill/>
          <a:ln>
            <a:noFill/>
          </a:ln>
        </p:spPr>
      </p:pic>
      <p:grpSp>
        <p:nvGrpSpPr>
          <p:cNvPr id="1109" name="Google Shape;1109;p81"/>
          <p:cNvGrpSpPr/>
          <p:nvPr/>
        </p:nvGrpSpPr>
        <p:grpSpPr>
          <a:xfrm>
            <a:off x="811316" y="3713460"/>
            <a:ext cx="457200" cy="457200"/>
            <a:chOff x="1020916" y="1442088"/>
            <a:chExt cx="457200" cy="457200"/>
          </a:xfrm>
        </p:grpSpPr>
        <p:pic>
          <p:nvPicPr>
            <p:cNvPr id="1110" name="Google Shape;1110;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1" name="Google Shape;1111;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112" name="Google Shape;1112;p81"/>
          <p:cNvGrpSpPr/>
          <p:nvPr/>
        </p:nvGrpSpPr>
        <p:grpSpPr>
          <a:xfrm>
            <a:off x="811316" y="4287000"/>
            <a:ext cx="457200" cy="457200"/>
            <a:chOff x="1020916" y="1442088"/>
            <a:chExt cx="457200" cy="457200"/>
          </a:xfrm>
        </p:grpSpPr>
        <p:pic>
          <p:nvPicPr>
            <p:cNvPr id="1113" name="Google Shape;1113;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4" name="Google Shape;1114;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190^{\circ}&quot;&gt;&lt;msup&gt;&lt;mn&gt;190&lt;/mn&gt;&lt;mrow data-mjx-texclass=&quot;ORD&quot;&gt;&lt;mo&gt;∘&lt;/mo&gt;&lt;/mrow&gt;&lt;/msup&gt;&lt;/math&gt;" id="1115" name="Google Shape;1115;p81" title="190 degrees"/>
          <p:cNvPicPr preferRelativeResize="0"/>
          <p:nvPr/>
        </p:nvPicPr>
        <p:blipFill>
          <a:blip r:embed="rId8">
            <a:alphaModFix/>
          </a:blip>
          <a:stretch>
            <a:fillRect/>
          </a:stretch>
        </p:blipFill>
        <p:spPr>
          <a:xfrm>
            <a:off x="1329655" y="2661100"/>
            <a:ext cx="605738" cy="267800"/>
          </a:xfrm>
          <a:prstGeom prst="rect">
            <a:avLst/>
          </a:prstGeom>
          <a:noFill/>
          <a:ln>
            <a:noFill/>
          </a:ln>
        </p:spPr>
      </p:pic>
      <p:pic>
        <p:nvPicPr>
          <p:cNvPr descr="&lt;math xmlns=&quot;http://www.w3.org/1998/Math/MathML&quot; display=&quot;block&quot; data-is-equatio=&quot;1&quot; data-latex=&quot;365^{\circ}&quot;&gt;&lt;msup&gt;&lt;mn&gt;365&lt;/mn&gt;&lt;mrow data-mjx-texclass=&quot;ORD&quot;&gt;&lt;mo&gt;∘&lt;/mo&gt;&lt;/mrow&gt;&lt;/msup&gt;&lt;/math&gt;" id="1116" name="Google Shape;1116;p81" title="365 degrees"/>
          <p:cNvPicPr preferRelativeResize="0"/>
          <p:nvPr/>
        </p:nvPicPr>
        <p:blipFill>
          <a:blip r:embed="rId9">
            <a:alphaModFix/>
          </a:blip>
          <a:stretch>
            <a:fillRect/>
          </a:stretch>
        </p:blipFill>
        <p:spPr>
          <a:xfrm>
            <a:off x="1297824" y="4341007"/>
            <a:ext cx="637575" cy="270486"/>
          </a:xfrm>
          <a:prstGeom prst="rect">
            <a:avLst/>
          </a:prstGeom>
          <a:noFill/>
          <a:ln>
            <a:noFill/>
          </a:ln>
        </p:spPr>
      </p:pic>
      <p:grpSp>
        <p:nvGrpSpPr>
          <p:cNvPr id="1117" name="Google Shape;1117;p81"/>
          <p:cNvGrpSpPr/>
          <p:nvPr/>
        </p:nvGrpSpPr>
        <p:grpSpPr>
          <a:xfrm>
            <a:off x="4452341" y="1419300"/>
            <a:ext cx="457200" cy="457200"/>
            <a:chOff x="1020916" y="1442088"/>
            <a:chExt cx="457200" cy="457200"/>
          </a:xfrm>
        </p:grpSpPr>
        <p:pic>
          <p:nvPicPr>
            <p:cNvPr id="1118" name="Google Shape;1118;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9" name="Google Shape;1119;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20" name="Google Shape;1120;p81"/>
          <p:cNvGrpSpPr/>
          <p:nvPr/>
        </p:nvGrpSpPr>
        <p:grpSpPr>
          <a:xfrm>
            <a:off x="4452341" y="1992840"/>
            <a:ext cx="457200" cy="457200"/>
            <a:chOff x="1020916" y="1442088"/>
            <a:chExt cx="457200" cy="457200"/>
          </a:xfrm>
        </p:grpSpPr>
        <p:pic>
          <p:nvPicPr>
            <p:cNvPr id="1121" name="Google Shape;1121;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2" name="Google Shape;1122;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23" name="Google Shape;1123;p81"/>
          <p:cNvGrpSpPr/>
          <p:nvPr/>
        </p:nvGrpSpPr>
        <p:grpSpPr>
          <a:xfrm>
            <a:off x="4452341" y="2566380"/>
            <a:ext cx="457200" cy="457200"/>
            <a:chOff x="1020916" y="1442088"/>
            <a:chExt cx="457200" cy="457200"/>
          </a:xfrm>
        </p:grpSpPr>
        <p:pic>
          <p:nvPicPr>
            <p:cNvPr id="1124" name="Google Shape;1124;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5" name="Google Shape;1125;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26" name="Google Shape;1126;p81"/>
          <p:cNvGrpSpPr/>
          <p:nvPr/>
        </p:nvGrpSpPr>
        <p:grpSpPr>
          <a:xfrm>
            <a:off x="4452341" y="3139920"/>
            <a:ext cx="457200" cy="457200"/>
            <a:chOff x="1020916" y="1442088"/>
            <a:chExt cx="457200" cy="457200"/>
          </a:xfrm>
        </p:grpSpPr>
        <p:pic>
          <p:nvPicPr>
            <p:cNvPr id="1127" name="Google Shape;1127;p8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8" name="Google Shape;1128;p8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129" name="Google Shape;1129;p81"/>
          <p:cNvSpPr txBox="1"/>
          <p:nvPr>
            <p:ph idx="1" type="body"/>
          </p:nvPr>
        </p:nvSpPr>
        <p:spPr>
          <a:xfrm>
            <a:off x="4948225" y="1466700"/>
            <a:ext cx="17730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f</a:t>
            </a:r>
            <a:r>
              <a:rPr lang="en-GB"/>
              <a:t>ull turn</a:t>
            </a:r>
            <a:endParaRPr/>
          </a:p>
        </p:txBody>
      </p:sp>
      <p:sp>
        <p:nvSpPr>
          <p:cNvPr id="1130" name="Google Shape;1130;p81"/>
          <p:cNvSpPr txBox="1"/>
          <p:nvPr>
            <p:ph idx="1" type="body"/>
          </p:nvPr>
        </p:nvSpPr>
        <p:spPr>
          <a:xfrm>
            <a:off x="4948225" y="2040250"/>
            <a:ext cx="17730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h</a:t>
            </a:r>
            <a:r>
              <a:rPr lang="en-GB"/>
              <a:t>alf turn</a:t>
            </a:r>
            <a:endParaRPr/>
          </a:p>
        </p:txBody>
      </p:sp>
      <p:sp>
        <p:nvSpPr>
          <p:cNvPr id="1131" name="Google Shape;1131;p81"/>
          <p:cNvSpPr txBox="1"/>
          <p:nvPr>
            <p:ph idx="1" type="body"/>
          </p:nvPr>
        </p:nvSpPr>
        <p:spPr>
          <a:xfrm>
            <a:off x="4948225" y="2613800"/>
            <a:ext cx="26004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three-quarter</a:t>
            </a:r>
            <a:r>
              <a:rPr lang="en-GB"/>
              <a:t> turn</a:t>
            </a:r>
            <a:endParaRPr/>
          </a:p>
        </p:txBody>
      </p:sp>
      <p:sp>
        <p:nvSpPr>
          <p:cNvPr id="1132" name="Google Shape;1132;p81"/>
          <p:cNvSpPr txBox="1"/>
          <p:nvPr>
            <p:ph idx="1" type="body"/>
          </p:nvPr>
        </p:nvSpPr>
        <p:spPr>
          <a:xfrm>
            <a:off x="4948225" y="3187350"/>
            <a:ext cx="26004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quarter turn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82"/>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size of a rotation</a:t>
            </a:r>
            <a:endParaRPr/>
          </a:p>
        </p:txBody>
      </p:sp>
      <p:sp>
        <p:nvSpPr>
          <p:cNvPr id="1138" name="Google Shape;1138;p82"/>
          <p:cNvSpPr txBox="1"/>
          <p:nvPr>
            <p:ph idx="1" type="body"/>
          </p:nvPr>
        </p:nvSpPr>
        <p:spPr>
          <a:xfrm>
            <a:off x="324000" y="606900"/>
            <a:ext cx="8496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Match the size measured in degrees with its description.                    Some numbers do not match with a description.</a:t>
            </a:r>
            <a:endParaRPr/>
          </a:p>
        </p:txBody>
      </p:sp>
      <p:grpSp>
        <p:nvGrpSpPr>
          <p:cNvPr id="1139" name="Google Shape;1139;p82"/>
          <p:cNvGrpSpPr/>
          <p:nvPr/>
        </p:nvGrpSpPr>
        <p:grpSpPr>
          <a:xfrm>
            <a:off x="7507841" y="3092550"/>
            <a:ext cx="457200" cy="457200"/>
            <a:chOff x="1020916" y="1442088"/>
            <a:chExt cx="457200" cy="457200"/>
          </a:xfrm>
        </p:grpSpPr>
        <p:pic>
          <p:nvPicPr>
            <p:cNvPr id="1140" name="Google Shape;1140;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41" name="Google Shape;1141;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42" name="Google Shape;1142;p82"/>
          <p:cNvGrpSpPr/>
          <p:nvPr/>
        </p:nvGrpSpPr>
        <p:grpSpPr>
          <a:xfrm>
            <a:off x="7507841" y="1992840"/>
            <a:ext cx="457200" cy="457200"/>
            <a:chOff x="1020916" y="1442088"/>
            <a:chExt cx="457200" cy="457200"/>
          </a:xfrm>
        </p:grpSpPr>
        <p:pic>
          <p:nvPicPr>
            <p:cNvPr id="1143" name="Google Shape;1143;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44" name="Google Shape;1144;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45" name="Google Shape;1145;p82"/>
          <p:cNvGrpSpPr/>
          <p:nvPr/>
        </p:nvGrpSpPr>
        <p:grpSpPr>
          <a:xfrm>
            <a:off x="811316" y="2566380"/>
            <a:ext cx="457200" cy="457200"/>
            <a:chOff x="1020916" y="1442088"/>
            <a:chExt cx="457200" cy="457200"/>
          </a:xfrm>
        </p:grpSpPr>
        <p:pic>
          <p:nvPicPr>
            <p:cNvPr id="1146" name="Google Shape;1146;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47" name="Google Shape;1147;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48" name="Google Shape;1148;p82"/>
          <p:cNvGrpSpPr/>
          <p:nvPr/>
        </p:nvGrpSpPr>
        <p:grpSpPr>
          <a:xfrm>
            <a:off x="7507841" y="2542695"/>
            <a:ext cx="457200" cy="457200"/>
            <a:chOff x="1020916" y="1442088"/>
            <a:chExt cx="457200" cy="457200"/>
          </a:xfrm>
        </p:grpSpPr>
        <p:pic>
          <p:nvPicPr>
            <p:cNvPr id="1149" name="Google Shape;1149;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0" name="Google Shape;1150;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0^{\circ}&quot;&gt;&lt;msup&gt;&lt;mn&gt;90&lt;/mn&gt;&lt;mrow data-mjx-texclass=&quot;ORD&quot;&gt;&lt;mo&gt;∘&lt;/mo&gt;&lt;/mrow&gt;&lt;/msup&gt;&lt;/math&gt;" id="1151" name="Google Shape;1151;p82" title="90 degrees"/>
          <p:cNvPicPr preferRelativeResize="0"/>
          <p:nvPr/>
        </p:nvPicPr>
        <p:blipFill>
          <a:blip r:embed="rId4">
            <a:alphaModFix/>
          </a:blip>
          <a:stretch>
            <a:fillRect/>
          </a:stretch>
        </p:blipFill>
        <p:spPr>
          <a:xfrm>
            <a:off x="8026202" y="3187263"/>
            <a:ext cx="452678" cy="267779"/>
          </a:xfrm>
          <a:prstGeom prst="rect">
            <a:avLst/>
          </a:prstGeom>
          <a:noFill/>
          <a:ln>
            <a:noFill/>
          </a:ln>
        </p:spPr>
      </p:pic>
      <p:pic>
        <p:nvPicPr>
          <p:cNvPr descr="&lt;math xmlns=&quot;http://www.w3.org/1998/Math/MathML&quot; display=&quot;block&quot; data-is-equatio=&quot;1&quot; data-latex=&quot;180^{\circ}&quot;&gt;&lt;msup&gt;&lt;mn&gt;180&lt;/mn&gt;&lt;mrow data-mjx-texclass=&quot;ORD&quot;&gt;&lt;mo&gt;∘&lt;/mo&gt;&lt;/mrow&gt;&lt;/msup&gt;&lt;/math&gt;" id="1152" name="Google Shape;1152;p82" title="180 degrees"/>
          <p:cNvPicPr preferRelativeResize="0"/>
          <p:nvPr/>
        </p:nvPicPr>
        <p:blipFill>
          <a:blip r:embed="rId5">
            <a:alphaModFix/>
          </a:blip>
          <a:stretch>
            <a:fillRect/>
          </a:stretch>
        </p:blipFill>
        <p:spPr>
          <a:xfrm>
            <a:off x="8026202" y="2087560"/>
            <a:ext cx="605696" cy="267779"/>
          </a:xfrm>
          <a:prstGeom prst="rect">
            <a:avLst/>
          </a:prstGeom>
          <a:noFill/>
          <a:ln>
            <a:noFill/>
          </a:ln>
        </p:spPr>
      </p:pic>
      <p:pic>
        <p:nvPicPr>
          <p:cNvPr descr="&lt;math xmlns=&quot;http://www.w3.org/1998/Math/MathML&quot; display=&quot;block&quot; data-is-equatio=&quot;1&quot; data-latex=&quot;270^{\circ}&quot;&gt;&lt;msup&gt;&lt;mn&gt;270&lt;/mn&gt;&lt;mrow data-mjx-texclass=&quot;ORD&quot;&gt;&lt;mo&gt;∘&lt;/mo&gt;&lt;/mrow&gt;&lt;/msup&gt;&lt;/math&gt;" id="1153" name="Google Shape;1153;p82" title="270 degrees"/>
          <p:cNvPicPr preferRelativeResize="0"/>
          <p:nvPr/>
        </p:nvPicPr>
        <p:blipFill>
          <a:blip r:embed="rId6">
            <a:alphaModFix/>
          </a:blip>
          <a:stretch>
            <a:fillRect/>
          </a:stretch>
        </p:blipFill>
        <p:spPr>
          <a:xfrm>
            <a:off x="8010264" y="2637423"/>
            <a:ext cx="637575" cy="267779"/>
          </a:xfrm>
          <a:prstGeom prst="rect">
            <a:avLst/>
          </a:prstGeom>
          <a:noFill/>
          <a:ln>
            <a:noFill/>
          </a:ln>
        </p:spPr>
      </p:pic>
      <p:pic>
        <p:nvPicPr>
          <p:cNvPr descr="&lt;math xmlns=&quot;http://www.w3.org/1998/Math/MathML&quot; display=&quot;block&quot; data-is-equatio=&quot;1&quot; data-latex=&quot;360^{\circ}&quot;&gt;&lt;msup&gt;&lt;mn&gt;360&lt;/mn&gt;&lt;mrow data-mjx-texclass=&quot;ORD&quot;&gt;&lt;mo&gt;∘&lt;/mo&gt;&lt;/mrow&gt;&lt;/msup&gt;&lt;/math&gt;" id="1154" name="Google Shape;1154;p82" title="360 degrees"/>
          <p:cNvPicPr preferRelativeResize="0"/>
          <p:nvPr/>
        </p:nvPicPr>
        <p:blipFill>
          <a:blip r:embed="rId7">
            <a:alphaModFix/>
          </a:blip>
          <a:stretch>
            <a:fillRect/>
          </a:stretch>
        </p:blipFill>
        <p:spPr>
          <a:xfrm>
            <a:off x="7994352" y="1537721"/>
            <a:ext cx="631188" cy="267779"/>
          </a:xfrm>
          <a:prstGeom prst="rect">
            <a:avLst/>
          </a:prstGeom>
          <a:noFill/>
          <a:ln>
            <a:noFill/>
          </a:ln>
        </p:spPr>
      </p:pic>
      <p:grpSp>
        <p:nvGrpSpPr>
          <p:cNvPr id="1155" name="Google Shape;1155;p82"/>
          <p:cNvGrpSpPr/>
          <p:nvPr/>
        </p:nvGrpSpPr>
        <p:grpSpPr>
          <a:xfrm>
            <a:off x="7507841" y="1443010"/>
            <a:ext cx="457200" cy="457200"/>
            <a:chOff x="1020916" y="1442088"/>
            <a:chExt cx="457200" cy="457200"/>
          </a:xfrm>
        </p:grpSpPr>
        <p:pic>
          <p:nvPicPr>
            <p:cNvPr id="1156" name="Google Shape;1156;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7" name="Google Shape;1157;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158" name="Google Shape;1158;p82"/>
          <p:cNvGrpSpPr/>
          <p:nvPr/>
        </p:nvGrpSpPr>
        <p:grpSpPr>
          <a:xfrm>
            <a:off x="811316" y="4287000"/>
            <a:ext cx="457200" cy="457200"/>
            <a:chOff x="1020916" y="1442088"/>
            <a:chExt cx="457200" cy="457200"/>
          </a:xfrm>
        </p:grpSpPr>
        <p:pic>
          <p:nvPicPr>
            <p:cNvPr id="1159" name="Google Shape;1159;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60" name="Google Shape;1160;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190^{\circ}&quot;&gt;&lt;msup&gt;&lt;mn&gt;190&lt;/mn&gt;&lt;mrow data-mjx-texclass=&quot;ORD&quot;&gt;&lt;mo&gt;∘&lt;/mo&gt;&lt;/mrow&gt;&lt;/msup&gt;&lt;/math&gt;" id="1161" name="Google Shape;1161;p82" title="190 degrees"/>
          <p:cNvPicPr preferRelativeResize="0"/>
          <p:nvPr/>
        </p:nvPicPr>
        <p:blipFill>
          <a:blip r:embed="rId8">
            <a:alphaModFix/>
          </a:blip>
          <a:stretch>
            <a:fillRect/>
          </a:stretch>
        </p:blipFill>
        <p:spPr>
          <a:xfrm>
            <a:off x="1329655" y="2661100"/>
            <a:ext cx="605738" cy="267800"/>
          </a:xfrm>
          <a:prstGeom prst="rect">
            <a:avLst/>
          </a:prstGeom>
          <a:noFill/>
          <a:ln>
            <a:noFill/>
          </a:ln>
        </p:spPr>
      </p:pic>
      <p:pic>
        <p:nvPicPr>
          <p:cNvPr descr="&lt;math xmlns=&quot;http://www.w3.org/1998/Math/MathML&quot; display=&quot;block&quot; data-is-equatio=&quot;1&quot; data-latex=&quot;365^{\circ}&quot;&gt;&lt;msup&gt;&lt;mn&gt;365&lt;/mn&gt;&lt;mrow data-mjx-texclass=&quot;ORD&quot;&gt;&lt;mo&gt;∘&lt;/mo&gt;&lt;/mrow&gt;&lt;/msup&gt;&lt;/math&gt;" id="1162" name="Google Shape;1162;p82" title="365 degrees"/>
          <p:cNvPicPr preferRelativeResize="0"/>
          <p:nvPr/>
        </p:nvPicPr>
        <p:blipFill>
          <a:blip r:embed="rId9">
            <a:alphaModFix/>
          </a:blip>
          <a:stretch>
            <a:fillRect/>
          </a:stretch>
        </p:blipFill>
        <p:spPr>
          <a:xfrm>
            <a:off x="1297824" y="4341007"/>
            <a:ext cx="637575" cy="270486"/>
          </a:xfrm>
          <a:prstGeom prst="rect">
            <a:avLst/>
          </a:prstGeom>
          <a:noFill/>
          <a:ln>
            <a:noFill/>
          </a:ln>
        </p:spPr>
      </p:pic>
      <p:grpSp>
        <p:nvGrpSpPr>
          <p:cNvPr id="1163" name="Google Shape;1163;p82"/>
          <p:cNvGrpSpPr/>
          <p:nvPr/>
        </p:nvGrpSpPr>
        <p:grpSpPr>
          <a:xfrm>
            <a:off x="4452341" y="1419300"/>
            <a:ext cx="457200" cy="457200"/>
            <a:chOff x="1020916" y="1442088"/>
            <a:chExt cx="457200" cy="457200"/>
          </a:xfrm>
        </p:grpSpPr>
        <p:pic>
          <p:nvPicPr>
            <p:cNvPr id="1164" name="Google Shape;1164;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65" name="Google Shape;1165;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66" name="Google Shape;1166;p82"/>
          <p:cNvGrpSpPr/>
          <p:nvPr/>
        </p:nvGrpSpPr>
        <p:grpSpPr>
          <a:xfrm>
            <a:off x="4452341" y="1992840"/>
            <a:ext cx="457200" cy="457200"/>
            <a:chOff x="1020916" y="1442088"/>
            <a:chExt cx="457200" cy="457200"/>
          </a:xfrm>
        </p:grpSpPr>
        <p:pic>
          <p:nvPicPr>
            <p:cNvPr id="1167" name="Google Shape;1167;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68" name="Google Shape;1168;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69" name="Google Shape;1169;p82"/>
          <p:cNvGrpSpPr/>
          <p:nvPr/>
        </p:nvGrpSpPr>
        <p:grpSpPr>
          <a:xfrm>
            <a:off x="4452341" y="2566380"/>
            <a:ext cx="457200" cy="457200"/>
            <a:chOff x="1020916" y="1442088"/>
            <a:chExt cx="457200" cy="457200"/>
          </a:xfrm>
        </p:grpSpPr>
        <p:pic>
          <p:nvPicPr>
            <p:cNvPr id="1170" name="Google Shape;1170;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1" name="Google Shape;1171;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72" name="Google Shape;1172;p82"/>
          <p:cNvGrpSpPr/>
          <p:nvPr/>
        </p:nvGrpSpPr>
        <p:grpSpPr>
          <a:xfrm>
            <a:off x="4452341" y="3139920"/>
            <a:ext cx="457200" cy="457200"/>
            <a:chOff x="1020916" y="1442088"/>
            <a:chExt cx="457200" cy="457200"/>
          </a:xfrm>
        </p:grpSpPr>
        <p:pic>
          <p:nvPicPr>
            <p:cNvPr id="1173" name="Google Shape;1173;p8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4" name="Google Shape;1174;p8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175" name="Google Shape;1175;p82"/>
          <p:cNvSpPr txBox="1"/>
          <p:nvPr>
            <p:ph idx="1" type="body"/>
          </p:nvPr>
        </p:nvSpPr>
        <p:spPr>
          <a:xfrm>
            <a:off x="4948225" y="1466700"/>
            <a:ext cx="17730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full turn</a:t>
            </a:r>
            <a:endParaRPr/>
          </a:p>
        </p:txBody>
      </p:sp>
      <p:sp>
        <p:nvSpPr>
          <p:cNvPr id="1176" name="Google Shape;1176;p82"/>
          <p:cNvSpPr txBox="1"/>
          <p:nvPr>
            <p:ph idx="1" type="body"/>
          </p:nvPr>
        </p:nvSpPr>
        <p:spPr>
          <a:xfrm>
            <a:off x="4948225" y="2040250"/>
            <a:ext cx="17730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half turn</a:t>
            </a:r>
            <a:endParaRPr/>
          </a:p>
        </p:txBody>
      </p:sp>
      <p:sp>
        <p:nvSpPr>
          <p:cNvPr id="1177" name="Google Shape;1177;p82"/>
          <p:cNvSpPr txBox="1"/>
          <p:nvPr>
            <p:ph idx="1" type="body"/>
          </p:nvPr>
        </p:nvSpPr>
        <p:spPr>
          <a:xfrm>
            <a:off x="4948225" y="2613800"/>
            <a:ext cx="26004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three-quarter turn</a:t>
            </a:r>
            <a:endParaRPr/>
          </a:p>
        </p:txBody>
      </p:sp>
      <p:sp>
        <p:nvSpPr>
          <p:cNvPr id="1178" name="Google Shape;1178;p82"/>
          <p:cNvSpPr txBox="1"/>
          <p:nvPr>
            <p:ph idx="1" type="body"/>
          </p:nvPr>
        </p:nvSpPr>
        <p:spPr>
          <a:xfrm>
            <a:off x="4948225" y="3187350"/>
            <a:ext cx="2600400" cy="362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quarter turn</a:t>
            </a:r>
            <a:endParaRPr/>
          </a:p>
        </p:txBody>
      </p:sp>
      <p:cxnSp>
        <p:nvCxnSpPr>
          <p:cNvPr id="1179" name="Google Shape;1179;p82"/>
          <p:cNvCxnSpPr/>
          <p:nvPr/>
        </p:nvCxnSpPr>
        <p:spPr>
          <a:xfrm>
            <a:off x="705275" y="2792600"/>
            <a:ext cx="1374900" cy="0"/>
          </a:xfrm>
          <a:prstGeom prst="straightConnector1">
            <a:avLst/>
          </a:prstGeom>
          <a:noFill/>
          <a:ln cap="flat" cmpd="sng" w="38100">
            <a:solidFill>
              <a:schemeClr val="dk2"/>
            </a:solidFill>
            <a:prstDash val="solid"/>
            <a:round/>
            <a:headEnd len="med" w="med" type="none"/>
            <a:tailEnd len="med" w="med" type="none"/>
          </a:ln>
        </p:spPr>
      </p:cxnSp>
      <p:cxnSp>
        <p:nvCxnSpPr>
          <p:cNvPr id="1180" name="Google Shape;1180;p82"/>
          <p:cNvCxnSpPr/>
          <p:nvPr/>
        </p:nvCxnSpPr>
        <p:spPr>
          <a:xfrm>
            <a:off x="705275" y="4476250"/>
            <a:ext cx="13749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84" name="Shape 1184"/>
        <p:cNvGrpSpPr/>
        <p:nvPr/>
      </p:nvGrpSpPr>
      <p:grpSpPr>
        <a:xfrm>
          <a:off x="0" y="0"/>
          <a:ext cx="0" cy="0"/>
          <a:chOff x="0" y="0"/>
          <a:chExt cx="0" cy="0"/>
        </a:xfrm>
      </p:grpSpPr>
      <p:sp>
        <p:nvSpPr>
          <p:cNvPr id="1185" name="Google Shape;1185;p83"/>
          <p:cNvSpPr/>
          <p:nvPr/>
        </p:nvSpPr>
        <p:spPr>
          <a:xfrm>
            <a:off x="6922802" y="1610045"/>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6" name="Google Shape;1186;p83"/>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size of a rotation</a:t>
            </a:r>
            <a:endParaRPr/>
          </a:p>
        </p:txBody>
      </p:sp>
      <p:sp>
        <p:nvSpPr>
          <p:cNvPr id="1187" name="Google Shape;1187;p83"/>
          <p:cNvSpPr/>
          <p:nvPr/>
        </p:nvSpPr>
        <p:spPr>
          <a:xfrm rot="-1800447">
            <a:off x="6922745" y="1610024"/>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8" name="Google Shape;1188;p83"/>
          <p:cNvSpPr/>
          <p:nvPr/>
        </p:nvSpPr>
        <p:spPr>
          <a:xfrm rot="-3599553">
            <a:off x="6922807" y="1610157"/>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9" name="Google Shape;1189;p83"/>
          <p:cNvSpPr/>
          <p:nvPr/>
        </p:nvSpPr>
        <p:spPr>
          <a:xfrm rot="-5400000">
            <a:off x="6922678" y="1610055"/>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0" name="Google Shape;1190;p83"/>
          <p:cNvSpPr/>
          <p:nvPr/>
        </p:nvSpPr>
        <p:spPr>
          <a:xfrm rot="-7200447">
            <a:off x="6922750" y="1610224"/>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1" name="Google Shape;1191;p83"/>
          <p:cNvSpPr/>
          <p:nvPr/>
        </p:nvSpPr>
        <p:spPr>
          <a:xfrm rot="-8999553">
            <a:off x="6922882" y="1610161"/>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2" name="Google Shape;1192;p83"/>
          <p:cNvSpPr/>
          <p:nvPr/>
        </p:nvSpPr>
        <p:spPr>
          <a:xfrm rot="10800000">
            <a:off x="6919930" y="1610177"/>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3" name="Google Shape;1193;p83"/>
          <p:cNvSpPr/>
          <p:nvPr/>
        </p:nvSpPr>
        <p:spPr>
          <a:xfrm rot="8999553">
            <a:off x="6925708" y="1610218"/>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4" name="Google Shape;1194;p83"/>
          <p:cNvSpPr/>
          <p:nvPr/>
        </p:nvSpPr>
        <p:spPr>
          <a:xfrm rot="7200447">
            <a:off x="6928405" y="1610084"/>
            <a:ext cx="909395" cy="183598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5" name="Google Shape;1195;p83"/>
          <p:cNvSpPr/>
          <p:nvPr/>
        </p:nvSpPr>
        <p:spPr>
          <a:xfrm rot="5400000">
            <a:off x="6928330" y="1610167"/>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6" name="Google Shape;1196;p8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By how many </a:t>
            </a:r>
            <a:r>
              <a:rPr lang="en-GB"/>
              <a:t>degrees</a:t>
            </a:r>
            <a:r>
              <a:rPr lang="en-GB"/>
              <a:t> does this shape rotate?</a:t>
            </a:r>
            <a:endParaRPr/>
          </a:p>
        </p:txBody>
      </p:sp>
      <p:grpSp>
        <p:nvGrpSpPr>
          <p:cNvPr id="1197" name="Google Shape;1197;p83"/>
          <p:cNvGrpSpPr/>
          <p:nvPr/>
        </p:nvGrpSpPr>
        <p:grpSpPr>
          <a:xfrm>
            <a:off x="902891" y="2014200"/>
            <a:ext cx="457200" cy="457200"/>
            <a:chOff x="1020916" y="1442088"/>
            <a:chExt cx="457200" cy="457200"/>
          </a:xfrm>
        </p:grpSpPr>
        <p:pic>
          <p:nvPicPr>
            <p:cNvPr id="1198" name="Google Shape;1198;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99" name="Google Shape;1199;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00" name="Google Shape;1200;p83"/>
          <p:cNvGrpSpPr/>
          <p:nvPr/>
        </p:nvGrpSpPr>
        <p:grpSpPr>
          <a:xfrm>
            <a:off x="902891" y="2752500"/>
            <a:ext cx="457200" cy="457200"/>
            <a:chOff x="1020916" y="1442088"/>
            <a:chExt cx="457200" cy="457200"/>
          </a:xfrm>
        </p:grpSpPr>
        <p:pic>
          <p:nvPicPr>
            <p:cNvPr id="1201" name="Google Shape;1201;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02" name="Google Shape;1202;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03" name="Google Shape;1203;p83"/>
          <p:cNvGrpSpPr/>
          <p:nvPr/>
        </p:nvGrpSpPr>
        <p:grpSpPr>
          <a:xfrm>
            <a:off x="902891" y="3490800"/>
            <a:ext cx="457200" cy="457200"/>
            <a:chOff x="1020916" y="1442088"/>
            <a:chExt cx="457200" cy="457200"/>
          </a:xfrm>
        </p:grpSpPr>
        <p:pic>
          <p:nvPicPr>
            <p:cNvPr id="1204" name="Google Shape;1204;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05" name="Google Shape;1205;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06" name="Google Shape;1206;p83"/>
          <p:cNvGrpSpPr/>
          <p:nvPr/>
        </p:nvGrpSpPr>
        <p:grpSpPr>
          <a:xfrm>
            <a:off x="902891" y="4229100"/>
            <a:ext cx="457200" cy="457200"/>
            <a:chOff x="1020916" y="1442088"/>
            <a:chExt cx="457200" cy="457200"/>
          </a:xfrm>
        </p:grpSpPr>
        <p:pic>
          <p:nvPicPr>
            <p:cNvPr id="1207" name="Google Shape;1207;p8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08" name="Google Shape;1208;p8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0^{\circ}&quot;&gt;&lt;msup&gt;&lt;mn&gt;90&lt;/mn&gt;&lt;mrow data-mjx-texclass=&quot;ORD&quot;&gt;&lt;mo&gt;∘&lt;/mo&gt;&lt;/mrow&gt;&lt;/msup&gt;&lt;/math&gt;" id="1209" name="Google Shape;1209;p83" title="90 degrees"/>
          <p:cNvPicPr preferRelativeResize="0"/>
          <p:nvPr/>
        </p:nvPicPr>
        <p:blipFill>
          <a:blip r:embed="rId4">
            <a:alphaModFix/>
          </a:blip>
          <a:stretch>
            <a:fillRect/>
          </a:stretch>
        </p:blipFill>
        <p:spPr>
          <a:xfrm>
            <a:off x="1421252" y="2108913"/>
            <a:ext cx="452678" cy="267779"/>
          </a:xfrm>
          <a:prstGeom prst="rect">
            <a:avLst/>
          </a:prstGeom>
          <a:noFill/>
          <a:ln>
            <a:noFill/>
          </a:ln>
        </p:spPr>
      </p:pic>
      <p:pic>
        <p:nvPicPr>
          <p:cNvPr descr="&lt;math xmlns=&quot;http://www.w3.org/1998/Math/MathML&quot; display=&quot;block&quot; data-is-equatio=&quot;1&quot; data-latex=&quot;180^{\circ}&quot;&gt;&lt;msup&gt;&lt;mn&gt;180&lt;/mn&gt;&lt;mrow data-mjx-texclass=&quot;ORD&quot;&gt;&lt;mo&gt;∘&lt;/mo&gt;&lt;/mrow&gt;&lt;/msup&gt;&lt;/math&gt;" id="1210" name="Google Shape;1210;p83" title="180 degrees"/>
          <p:cNvPicPr preferRelativeResize="0"/>
          <p:nvPr/>
        </p:nvPicPr>
        <p:blipFill>
          <a:blip r:embed="rId5">
            <a:alphaModFix/>
          </a:blip>
          <a:stretch>
            <a:fillRect/>
          </a:stretch>
        </p:blipFill>
        <p:spPr>
          <a:xfrm>
            <a:off x="1421252" y="2847210"/>
            <a:ext cx="605696" cy="267779"/>
          </a:xfrm>
          <a:prstGeom prst="rect">
            <a:avLst/>
          </a:prstGeom>
          <a:noFill/>
          <a:ln>
            <a:noFill/>
          </a:ln>
        </p:spPr>
      </p:pic>
      <p:pic>
        <p:nvPicPr>
          <p:cNvPr descr="&lt;math xmlns=&quot;http://www.w3.org/1998/Math/MathML&quot; display=&quot;block&quot; data-is-equatio=&quot;1&quot; data-latex=&quot;270^{\circ}&quot;&gt;&lt;msup&gt;&lt;mn&gt;270&lt;/mn&gt;&lt;mrow data-mjx-texclass=&quot;ORD&quot;&gt;&lt;mo&gt;∘&lt;/mo&gt;&lt;/mrow&gt;&lt;/msup&gt;&lt;/math&gt;" id="1211" name="Google Shape;1211;p83" title="270 degrees"/>
          <p:cNvPicPr preferRelativeResize="0"/>
          <p:nvPr/>
        </p:nvPicPr>
        <p:blipFill>
          <a:blip r:embed="rId6">
            <a:alphaModFix/>
          </a:blip>
          <a:stretch>
            <a:fillRect/>
          </a:stretch>
        </p:blipFill>
        <p:spPr>
          <a:xfrm>
            <a:off x="1421252" y="3582848"/>
            <a:ext cx="637575" cy="267779"/>
          </a:xfrm>
          <a:prstGeom prst="rect">
            <a:avLst/>
          </a:prstGeom>
          <a:noFill/>
          <a:ln>
            <a:noFill/>
          </a:ln>
        </p:spPr>
      </p:pic>
      <p:pic>
        <p:nvPicPr>
          <p:cNvPr descr="&lt;math xmlns=&quot;http://www.w3.org/1998/Math/MathML&quot; display=&quot;block&quot; data-is-equatio=&quot;1&quot; data-latex=&quot;360^{\circ}&quot;&gt;&lt;msup&gt;&lt;mn&gt;360&lt;/mn&gt;&lt;mrow data-mjx-texclass=&quot;ORD&quot;&gt;&lt;mo&gt;∘&lt;/mo&gt;&lt;/mrow&gt;&lt;/msup&gt;&lt;/math&gt;" id="1212" name="Google Shape;1212;p83" title="360 degrees"/>
          <p:cNvPicPr preferRelativeResize="0"/>
          <p:nvPr/>
        </p:nvPicPr>
        <p:blipFill>
          <a:blip r:embed="rId7">
            <a:alphaModFix/>
          </a:blip>
          <a:stretch>
            <a:fillRect/>
          </a:stretch>
        </p:blipFill>
        <p:spPr>
          <a:xfrm>
            <a:off x="1421252" y="4318471"/>
            <a:ext cx="631188" cy="267779"/>
          </a:xfrm>
          <a:prstGeom prst="rect">
            <a:avLst/>
          </a:prstGeom>
          <a:noFill/>
          <a:ln>
            <a:noFill/>
          </a:ln>
        </p:spPr>
      </p:pic>
      <p:pic>
        <p:nvPicPr>
          <p:cNvPr id="1213" name="Google Shape;1213;p83"/>
          <p:cNvPicPr preferRelativeResize="0"/>
          <p:nvPr/>
        </p:nvPicPr>
        <p:blipFill>
          <a:blip r:embed="rId8">
            <a:alphaModFix/>
          </a:blip>
          <a:stretch>
            <a:fillRect/>
          </a:stretch>
        </p:blipFill>
        <p:spPr>
          <a:xfrm>
            <a:off x="2189808" y="350718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8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xit" presetID="1" presetSubtype="0">
                                  <p:stCondLst>
                                    <p:cond delay="250"/>
                                  </p:stCondLst>
                                  <p:childTnLst>
                                    <p:set>
                                      <p:cBhvr>
                                        <p:cTn dur="1" fill="hold">
                                          <p:stCondLst>
                                            <p:cond delay="1"/>
                                          </p:stCondLst>
                                        </p:cTn>
                                        <p:tgtEl>
                                          <p:spTgt spid="1187"/>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88"/>
                                        </p:tgtEl>
                                        <p:attrNameLst>
                                          <p:attrName>style.visibility</p:attrName>
                                        </p:attrNameLst>
                                      </p:cBhvr>
                                      <p:to>
                                        <p:strVal val="visible"/>
                                      </p:to>
                                    </p:set>
                                  </p:childTnLst>
                                </p:cTn>
                              </p:par>
                            </p:childTnLst>
                          </p:cTn>
                        </p:par>
                        <p:par>
                          <p:cTn fill="hold">
                            <p:stCondLst>
                              <p:cond delay="1"/>
                            </p:stCondLst>
                            <p:childTnLst>
                              <p:par>
                                <p:cTn fill="hold" nodeType="afterEffect" presetClass="exit" presetID="1" presetSubtype="0">
                                  <p:stCondLst>
                                    <p:cond delay="250"/>
                                  </p:stCondLst>
                                  <p:childTnLst>
                                    <p:set>
                                      <p:cBhvr>
                                        <p:cTn dur="1" fill="hold">
                                          <p:stCondLst>
                                            <p:cond delay="1"/>
                                          </p:stCondLst>
                                        </p:cTn>
                                        <p:tgtEl>
                                          <p:spTgt spid="1188"/>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89"/>
                                        </p:tgtEl>
                                        <p:attrNameLst>
                                          <p:attrName>style.visibility</p:attrName>
                                        </p:attrNameLst>
                                      </p:cBhvr>
                                      <p:to>
                                        <p:strVal val="visible"/>
                                      </p:to>
                                    </p:set>
                                  </p:childTnLst>
                                </p:cTn>
                              </p:par>
                            </p:childTnLst>
                          </p:cTn>
                        </p:par>
                        <p:par>
                          <p:cTn fill="hold">
                            <p:stCondLst>
                              <p:cond delay="2"/>
                            </p:stCondLst>
                            <p:childTnLst>
                              <p:par>
                                <p:cTn fill="hold" nodeType="afterEffect" presetClass="exit" presetID="1" presetSubtype="0">
                                  <p:stCondLst>
                                    <p:cond delay="500"/>
                                  </p:stCondLst>
                                  <p:childTnLst>
                                    <p:set>
                                      <p:cBhvr>
                                        <p:cTn dur="1" fill="hold">
                                          <p:stCondLst>
                                            <p:cond delay="1"/>
                                          </p:stCondLst>
                                        </p:cTn>
                                        <p:tgtEl>
                                          <p:spTgt spid="1189"/>
                                        </p:tgtEl>
                                        <p:attrNameLst>
                                          <p:attrName>style.visibility</p:attrName>
                                        </p:attrNameLst>
                                      </p:cBhvr>
                                      <p:to>
                                        <p:strVal val="hidden"/>
                                      </p:to>
                                    </p:set>
                                  </p:childTnLst>
                                </p:cTn>
                              </p:par>
                              <p:par>
                                <p:cTn fill="hold" nodeType="withEffect" presetClass="entr" presetID="1" presetSubtype="0">
                                  <p:stCondLst>
                                    <p:cond delay="500"/>
                                  </p:stCondLst>
                                  <p:childTnLst>
                                    <p:set>
                                      <p:cBhvr>
                                        <p:cTn dur="1" fill="hold">
                                          <p:stCondLst>
                                            <p:cond delay="0"/>
                                          </p:stCondLst>
                                        </p:cTn>
                                        <p:tgtEl>
                                          <p:spTgt spid="1190"/>
                                        </p:tgtEl>
                                        <p:attrNameLst>
                                          <p:attrName>style.visibility</p:attrName>
                                        </p:attrNameLst>
                                      </p:cBhvr>
                                      <p:to>
                                        <p:strVal val="visible"/>
                                      </p:to>
                                    </p:set>
                                  </p:childTnLst>
                                </p:cTn>
                              </p:par>
                            </p:childTnLst>
                          </p:cTn>
                        </p:par>
                        <p:par>
                          <p:cTn fill="hold">
                            <p:stCondLst>
                              <p:cond delay="3"/>
                            </p:stCondLst>
                            <p:childTnLst>
                              <p:par>
                                <p:cTn fill="hold" nodeType="afterEffect" presetClass="exit" presetID="1" presetSubtype="0">
                                  <p:stCondLst>
                                    <p:cond delay="250"/>
                                  </p:stCondLst>
                                  <p:childTnLst>
                                    <p:set>
                                      <p:cBhvr>
                                        <p:cTn dur="1" fill="hold">
                                          <p:stCondLst>
                                            <p:cond delay="1"/>
                                          </p:stCondLst>
                                        </p:cTn>
                                        <p:tgtEl>
                                          <p:spTgt spid="1190"/>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91"/>
                                        </p:tgtEl>
                                        <p:attrNameLst>
                                          <p:attrName>style.visibility</p:attrName>
                                        </p:attrNameLst>
                                      </p:cBhvr>
                                      <p:to>
                                        <p:strVal val="visible"/>
                                      </p:to>
                                    </p:set>
                                  </p:childTnLst>
                                </p:cTn>
                              </p:par>
                            </p:childTnLst>
                          </p:cTn>
                        </p:par>
                        <p:par>
                          <p:cTn fill="hold">
                            <p:stCondLst>
                              <p:cond delay="4"/>
                            </p:stCondLst>
                            <p:childTnLst>
                              <p:par>
                                <p:cTn fill="hold" nodeType="afterEffect" presetClass="exit" presetID="1" presetSubtype="0">
                                  <p:stCondLst>
                                    <p:cond delay="250"/>
                                  </p:stCondLst>
                                  <p:childTnLst>
                                    <p:set>
                                      <p:cBhvr>
                                        <p:cTn dur="1" fill="hold">
                                          <p:stCondLst>
                                            <p:cond delay="1"/>
                                          </p:stCondLst>
                                        </p:cTn>
                                        <p:tgtEl>
                                          <p:spTgt spid="1191"/>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92"/>
                                        </p:tgtEl>
                                        <p:attrNameLst>
                                          <p:attrName>style.visibility</p:attrName>
                                        </p:attrNameLst>
                                      </p:cBhvr>
                                      <p:to>
                                        <p:strVal val="visible"/>
                                      </p:to>
                                    </p:set>
                                  </p:childTnLst>
                                </p:cTn>
                              </p:par>
                            </p:childTnLst>
                          </p:cTn>
                        </p:par>
                        <p:par>
                          <p:cTn fill="hold">
                            <p:stCondLst>
                              <p:cond delay="5"/>
                            </p:stCondLst>
                            <p:childTnLst>
                              <p:par>
                                <p:cTn fill="hold" nodeType="afterEffect" presetClass="exit" presetID="1" presetSubtype="0">
                                  <p:stCondLst>
                                    <p:cond delay="500"/>
                                  </p:stCondLst>
                                  <p:childTnLst>
                                    <p:set>
                                      <p:cBhvr>
                                        <p:cTn dur="1" fill="hold">
                                          <p:stCondLst>
                                            <p:cond delay="1"/>
                                          </p:stCondLst>
                                        </p:cTn>
                                        <p:tgtEl>
                                          <p:spTgt spid="1192"/>
                                        </p:tgtEl>
                                        <p:attrNameLst>
                                          <p:attrName>style.visibility</p:attrName>
                                        </p:attrNameLst>
                                      </p:cBhvr>
                                      <p:to>
                                        <p:strVal val="hidden"/>
                                      </p:to>
                                    </p:set>
                                  </p:childTnLst>
                                </p:cTn>
                              </p:par>
                              <p:par>
                                <p:cTn fill="hold" nodeType="withEffect" presetClass="entr" presetID="1" presetSubtype="0">
                                  <p:stCondLst>
                                    <p:cond delay="500"/>
                                  </p:stCondLst>
                                  <p:childTnLst>
                                    <p:set>
                                      <p:cBhvr>
                                        <p:cTn dur="1" fill="hold">
                                          <p:stCondLst>
                                            <p:cond delay="0"/>
                                          </p:stCondLst>
                                        </p:cTn>
                                        <p:tgtEl>
                                          <p:spTgt spid="1193"/>
                                        </p:tgtEl>
                                        <p:attrNameLst>
                                          <p:attrName>style.visibility</p:attrName>
                                        </p:attrNameLst>
                                      </p:cBhvr>
                                      <p:to>
                                        <p:strVal val="visible"/>
                                      </p:to>
                                    </p:set>
                                  </p:childTnLst>
                                </p:cTn>
                              </p:par>
                            </p:childTnLst>
                          </p:cTn>
                        </p:par>
                        <p:par>
                          <p:cTn fill="hold">
                            <p:stCondLst>
                              <p:cond delay="6"/>
                            </p:stCondLst>
                            <p:childTnLst>
                              <p:par>
                                <p:cTn fill="hold" nodeType="afterEffect" presetClass="exit" presetID="1" presetSubtype="0">
                                  <p:stCondLst>
                                    <p:cond delay="250"/>
                                  </p:stCondLst>
                                  <p:childTnLst>
                                    <p:set>
                                      <p:cBhvr>
                                        <p:cTn dur="1" fill="hold">
                                          <p:stCondLst>
                                            <p:cond delay="1"/>
                                          </p:stCondLst>
                                        </p:cTn>
                                        <p:tgtEl>
                                          <p:spTgt spid="1193"/>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94"/>
                                        </p:tgtEl>
                                        <p:attrNameLst>
                                          <p:attrName>style.visibility</p:attrName>
                                        </p:attrNameLst>
                                      </p:cBhvr>
                                      <p:to>
                                        <p:strVal val="visible"/>
                                      </p:to>
                                    </p:set>
                                  </p:childTnLst>
                                </p:cTn>
                              </p:par>
                            </p:childTnLst>
                          </p:cTn>
                        </p:par>
                        <p:par>
                          <p:cTn fill="hold">
                            <p:stCondLst>
                              <p:cond delay="7"/>
                            </p:stCondLst>
                            <p:childTnLst>
                              <p:par>
                                <p:cTn fill="hold" nodeType="afterEffect" presetClass="exit" presetID="1" presetSubtype="0">
                                  <p:stCondLst>
                                    <p:cond delay="250"/>
                                  </p:stCondLst>
                                  <p:childTnLst>
                                    <p:set>
                                      <p:cBhvr>
                                        <p:cTn dur="1" fill="hold">
                                          <p:stCondLst>
                                            <p:cond delay="1"/>
                                          </p:stCondLst>
                                        </p:cTn>
                                        <p:tgtEl>
                                          <p:spTgt spid="1194"/>
                                        </p:tgtEl>
                                        <p:attrNameLst>
                                          <p:attrName>style.visibility</p:attrName>
                                        </p:attrNameLst>
                                      </p:cBhvr>
                                      <p:to>
                                        <p:strVal val="hidden"/>
                                      </p:to>
                                    </p:set>
                                  </p:childTnLst>
                                </p:cTn>
                              </p:par>
                              <p:par>
                                <p:cTn fill="hold" nodeType="withEffect" presetClass="entr" presetID="1" presetSubtype="0">
                                  <p:stCondLst>
                                    <p:cond delay="25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84"/>
          <p:cNvSpPr/>
          <p:nvPr/>
        </p:nvSpPr>
        <p:spPr>
          <a:xfrm>
            <a:off x="4495852" y="1610045"/>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19" name="Google Shape;1219;p84"/>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Describing the size of a rotation</a:t>
            </a:r>
            <a:endParaRPr/>
          </a:p>
        </p:txBody>
      </p:sp>
      <p:sp>
        <p:nvSpPr>
          <p:cNvPr id="1220" name="Google Shape;1220;p84"/>
          <p:cNvSpPr txBox="1"/>
          <p:nvPr>
            <p:ph idx="1" type="body"/>
          </p:nvPr>
        </p:nvSpPr>
        <p:spPr>
          <a:xfrm>
            <a:off x="324000" y="759300"/>
            <a:ext cx="8237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By how many degrees does this shape rotate?</a:t>
            </a:r>
            <a:endParaRPr/>
          </a:p>
        </p:txBody>
      </p:sp>
      <p:grpSp>
        <p:nvGrpSpPr>
          <p:cNvPr id="1221" name="Google Shape;1221;p84"/>
          <p:cNvGrpSpPr/>
          <p:nvPr/>
        </p:nvGrpSpPr>
        <p:grpSpPr>
          <a:xfrm>
            <a:off x="902891" y="2014200"/>
            <a:ext cx="457200" cy="457200"/>
            <a:chOff x="1020916" y="1442088"/>
            <a:chExt cx="457200" cy="457200"/>
          </a:xfrm>
        </p:grpSpPr>
        <p:pic>
          <p:nvPicPr>
            <p:cNvPr id="1222" name="Google Shape;1222;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3" name="Google Shape;1223;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24" name="Google Shape;1224;p84"/>
          <p:cNvGrpSpPr/>
          <p:nvPr/>
        </p:nvGrpSpPr>
        <p:grpSpPr>
          <a:xfrm>
            <a:off x="902891" y="2752500"/>
            <a:ext cx="457200" cy="457200"/>
            <a:chOff x="1020916" y="1442088"/>
            <a:chExt cx="457200" cy="457200"/>
          </a:xfrm>
        </p:grpSpPr>
        <p:pic>
          <p:nvPicPr>
            <p:cNvPr id="1225" name="Google Shape;1225;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6" name="Google Shape;1226;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27" name="Google Shape;1227;p84"/>
          <p:cNvGrpSpPr/>
          <p:nvPr/>
        </p:nvGrpSpPr>
        <p:grpSpPr>
          <a:xfrm>
            <a:off x="902891" y="3490800"/>
            <a:ext cx="457200" cy="457200"/>
            <a:chOff x="1020916" y="1442088"/>
            <a:chExt cx="457200" cy="457200"/>
          </a:xfrm>
        </p:grpSpPr>
        <p:pic>
          <p:nvPicPr>
            <p:cNvPr id="1228" name="Google Shape;1228;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9" name="Google Shape;1229;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30" name="Google Shape;1230;p84"/>
          <p:cNvGrpSpPr/>
          <p:nvPr/>
        </p:nvGrpSpPr>
        <p:grpSpPr>
          <a:xfrm>
            <a:off x="902891" y="4229100"/>
            <a:ext cx="457200" cy="457200"/>
            <a:chOff x="1020916" y="1442088"/>
            <a:chExt cx="457200" cy="457200"/>
          </a:xfrm>
        </p:grpSpPr>
        <p:pic>
          <p:nvPicPr>
            <p:cNvPr id="1231" name="Google Shape;1231;p8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32" name="Google Shape;1232;p8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90^{\circ}&quot;&gt;&lt;msup&gt;&lt;mn&gt;90&lt;/mn&gt;&lt;mrow data-mjx-texclass=&quot;ORD&quot;&gt;&lt;mo&gt;∘&lt;/mo&gt;&lt;/mrow&gt;&lt;/msup&gt;&lt;/math&gt;" id="1233" name="Google Shape;1233;p84" title="90 degrees"/>
          <p:cNvPicPr preferRelativeResize="0"/>
          <p:nvPr/>
        </p:nvPicPr>
        <p:blipFill>
          <a:blip r:embed="rId4">
            <a:alphaModFix/>
          </a:blip>
          <a:stretch>
            <a:fillRect/>
          </a:stretch>
        </p:blipFill>
        <p:spPr>
          <a:xfrm>
            <a:off x="1421252" y="2108913"/>
            <a:ext cx="452678" cy="267779"/>
          </a:xfrm>
          <a:prstGeom prst="rect">
            <a:avLst/>
          </a:prstGeom>
          <a:noFill/>
          <a:ln>
            <a:noFill/>
          </a:ln>
        </p:spPr>
      </p:pic>
      <p:pic>
        <p:nvPicPr>
          <p:cNvPr descr="&lt;math xmlns=&quot;http://www.w3.org/1998/Math/MathML&quot; display=&quot;block&quot; data-is-equatio=&quot;1&quot; data-latex=&quot;180^{\circ}&quot;&gt;&lt;msup&gt;&lt;mn&gt;180&lt;/mn&gt;&lt;mrow data-mjx-texclass=&quot;ORD&quot;&gt;&lt;mo&gt;∘&lt;/mo&gt;&lt;/mrow&gt;&lt;/msup&gt;&lt;/math&gt;" id="1234" name="Google Shape;1234;p84" title="180 degrees"/>
          <p:cNvPicPr preferRelativeResize="0"/>
          <p:nvPr/>
        </p:nvPicPr>
        <p:blipFill>
          <a:blip r:embed="rId5">
            <a:alphaModFix/>
          </a:blip>
          <a:stretch>
            <a:fillRect/>
          </a:stretch>
        </p:blipFill>
        <p:spPr>
          <a:xfrm>
            <a:off x="1421252" y="2847210"/>
            <a:ext cx="605696" cy="267779"/>
          </a:xfrm>
          <a:prstGeom prst="rect">
            <a:avLst/>
          </a:prstGeom>
          <a:noFill/>
          <a:ln>
            <a:noFill/>
          </a:ln>
        </p:spPr>
      </p:pic>
      <p:pic>
        <p:nvPicPr>
          <p:cNvPr descr="&lt;math xmlns=&quot;http://www.w3.org/1998/Math/MathML&quot; display=&quot;block&quot; data-is-equatio=&quot;1&quot; data-latex=&quot;270^{\circ}&quot;&gt;&lt;msup&gt;&lt;mn&gt;270&lt;/mn&gt;&lt;mrow data-mjx-texclass=&quot;ORD&quot;&gt;&lt;mo&gt;∘&lt;/mo&gt;&lt;/mrow&gt;&lt;/msup&gt;&lt;/math&gt;" id="1235" name="Google Shape;1235;p84" title="270 degrees"/>
          <p:cNvPicPr preferRelativeResize="0"/>
          <p:nvPr/>
        </p:nvPicPr>
        <p:blipFill>
          <a:blip r:embed="rId6">
            <a:alphaModFix/>
          </a:blip>
          <a:stretch>
            <a:fillRect/>
          </a:stretch>
        </p:blipFill>
        <p:spPr>
          <a:xfrm>
            <a:off x="1421252" y="3582848"/>
            <a:ext cx="637575" cy="267779"/>
          </a:xfrm>
          <a:prstGeom prst="rect">
            <a:avLst/>
          </a:prstGeom>
          <a:noFill/>
          <a:ln>
            <a:noFill/>
          </a:ln>
        </p:spPr>
      </p:pic>
      <p:pic>
        <p:nvPicPr>
          <p:cNvPr descr="&lt;math xmlns=&quot;http://www.w3.org/1998/Math/MathML&quot; display=&quot;block&quot; data-is-equatio=&quot;1&quot; data-latex=&quot;360^{\circ}&quot;&gt;&lt;msup&gt;&lt;mn&gt;360&lt;/mn&gt;&lt;mrow data-mjx-texclass=&quot;ORD&quot;&gt;&lt;mo&gt;∘&lt;/mo&gt;&lt;/mrow&gt;&lt;/msup&gt;&lt;/math&gt;" id="1236" name="Google Shape;1236;p84" title="360 degrees"/>
          <p:cNvPicPr preferRelativeResize="0"/>
          <p:nvPr/>
        </p:nvPicPr>
        <p:blipFill>
          <a:blip r:embed="rId7">
            <a:alphaModFix/>
          </a:blip>
          <a:stretch>
            <a:fillRect/>
          </a:stretch>
        </p:blipFill>
        <p:spPr>
          <a:xfrm>
            <a:off x="1421252" y="4318471"/>
            <a:ext cx="631188" cy="267779"/>
          </a:xfrm>
          <a:prstGeom prst="rect">
            <a:avLst/>
          </a:prstGeom>
          <a:noFill/>
          <a:ln>
            <a:noFill/>
          </a:ln>
        </p:spPr>
      </p:pic>
      <p:pic>
        <p:nvPicPr>
          <p:cNvPr id="1237" name="Google Shape;1237;p84"/>
          <p:cNvPicPr preferRelativeResize="0"/>
          <p:nvPr/>
        </p:nvPicPr>
        <p:blipFill>
          <a:blip r:embed="rId8">
            <a:alphaModFix/>
          </a:blip>
          <a:stretch>
            <a:fillRect/>
          </a:stretch>
        </p:blipFill>
        <p:spPr>
          <a:xfrm>
            <a:off x="2189808" y="3507188"/>
            <a:ext cx="396000" cy="419100"/>
          </a:xfrm>
          <a:prstGeom prst="rect">
            <a:avLst/>
          </a:prstGeom>
          <a:noFill/>
          <a:ln>
            <a:noFill/>
          </a:ln>
        </p:spPr>
      </p:pic>
      <p:sp>
        <p:nvSpPr>
          <p:cNvPr id="1238" name="Google Shape;1238;p84"/>
          <p:cNvSpPr/>
          <p:nvPr/>
        </p:nvSpPr>
        <p:spPr>
          <a:xfrm rot="5400000">
            <a:off x="7395102" y="1610045"/>
            <a:ext cx="909600" cy="1836000"/>
          </a:xfrm>
          <a:prstGeom prst="bentUpArrow">
            <a:avLst>
              <a:gd fmla="val 21953" name="adj1"/>
              <a:gd fmla="val 25000" name="adj2"/>
              <a:gd fmla="val 35663" name="adj3"/>
            </a:avLst>
          </a:prstGeom>
          <a:solidFill>
            <a:srgbClr val="F3EEFB"/>
          </a:solidFill>
          <a:ln cap="flat" cmpd="sng" w="25400">
            <a:solidFill>
              <a:srgbClr val="845A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39" name="Google Shape;1239;p84"/>
          <p:cNvPicPr preferRelativeResize="0"/>
          <p:nvPr/>
        </p:nvPicPr>
        <p:blipFill>
          <a:blip r:embed="rId9">
            <a:alphaModFix/>
          </a:blip>
          <a:stretch>
            <a:fillRect/>
          </a:stretch>
        </p:blipFill>
        <p:spPr>
          <a:xfrm rot="6299997">
            <a:off x="5776856" y="2294754"/>
            <a:ext cx="583939" cy="5539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85"/>
          <p:cNvSpPr txBox="1"/>
          <p:nvPr>
            <p:ph idx="1" type="body"/>
          </p:nvPr>
        </p:nvSpPr>
        <p:spPr>
          <a:xfrm>
            <a:off x="324000" y="349995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180° rotation clockwise</a:t>
            </a:r>
            <a:endParaRPr sz="2000"/>
          </a:p>
        </p:txBody>
      </p:sp>
      <p:sp>
        <p:nvSpPr>
          <p:cNvPr id="1245" name="Google Shape;1245;p85"/>
          <p:cNvSpPr txBox="1"/>
          <p:nvPr>
            <p:ph idx="1" type="body"/>
          </p:nvPr>
        </p:nvSpPr>
        <p:spPr>
          <a:xfrm>
            <a:off x="324000" y="174990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90° rotation anti-clockwise</a:t>
            </a:r>
            <a:endParaRPr sz="2000"/>
          </a:p>
        </p:txBody>
      </p:sp>
      <p:sp>
        <p:nvSpPr>
          <p:cNvPr id="1246" name="Google Shape;1246;p85"/>
          <p:cNvSpPr txBox="1"/>
          <p:nvPr>
            <p:ph idx="1" type="body"/>
          </p:nvPr>
        </p:nvSpPr>
        <p:spPr>
          <a:xfrm>
            <a:off x="324000" y="759300"/>
            <a:ext cx="71352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Write down the direction (up, down, left, right) each arrow will be pointing in after the rotation has been applied.</a:t>
            </a:r>
            <a:endParaRPr sz="2000"/>
          </a:p>
        </p:txBody>
      </p:sp>
      <p:sp>
        <p:nvSpPr>
          <p:cNvPr id="1247" name="Google Shape;1247;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248" name="Google Shape;1248;p85"/>
          <p:cNvSpPr/>
          <p:nvPr/>
        </p:nvSpPr>
        <p:spPr>
          <a:xfrm>
            <a:off x="2848950" y="175005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85"/>
          <p:cNvSpPr/>
          <p:nvPr/>
        </p:nvSpPr>
        <p:spPr>
          <a:xfrm rot="5400000">
            <a:off x="2848950" y="350010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0" name="Google Shape;1250;p85"/>
          <p:cNvCxnSpPr/>
          <p:nvPr/>
        </p:nvCxnSpPr>
        <p:spPr>
          <a:xfrm>
            <a:off x="4572000" y="1457325"/>
            <a:ext cx="0" cy="3171900"/>
          </a:xfrm>
          <a:prstGeom prst="straightConnector1">
            <a:avLst/>
          </a:prstGeom>
          <a:noFill/>
          <a:ln cap="flat" cmpd="sng" w="38100">
            <a:solidFill>
              <a:srgbClr val="037B7D"/>
            </a:solidFill>
            <a:prstDash val="solid"/>
            <a:round/>
            <a:headEnd len="med" w="med" type="none"/>
            <a:tailEnd len="med" w="med" type="none"/>
          </a:ln>
        </p:spPr>
      </p:cxnSp>
      <p:sp>
        <p:nvSpPr>
          <p:cNvPr id="1251" name="Google Shape;1251;p85"/>
          <p:cNvSpPr txBox="1"/>
          <p:nvPr>
            <p:ph idx="1" type="body"/>
          </p:nvPr>
        </p:nvSpPr>
        <p:spPr>
          <a:xfrm>
            <a:off x="4824000" y="174990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270° rotation anti-clockwise</a:t>
            </a:r>
            <a:endParaRPr sz="2000"/>
          </a:p>
        </p:txBody>
      </p:sp>
      <p:sp>
        <p:nvSpPr>
          <p:cNvPr id="1252" name="Google Shape;1252;p85"/>
          <p:cNvSpPr txBox="1"/>
          <p:nvPr>
            <p:ph idx="1" type="body"/>
          </p:nvPr>
        </p:nvSpPr>
        <p:spPr>
          <a:xfrm>
            <a:off x="4824000" y="349995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 90° rotation clockwise</a:t>
            </a:r>
            <a:endParaRPr sz="2000"/>
          </a:p>
        </p:txBody>
      </p:sp>
      <p:sp>
        <p:nvSpPr>
          <p:cNvPr id="1253" name="Google Shape;1253;p85"/>
          <p:cNvSpPr/>
          <p:nvPr/>
        </p:nvSpPr>
        <p:spPr>
          <a:xfrm rot="-5400000">
            <a:off x="7348950" y="175005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85"/>
          <p:cNvSpPr/>
          <p:nvPr/>
        </p:nvSpPr>
        <p:spPr>
          <a:xfrm rot="10800000">
            <a:off x="7348950" y="350010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86"/>
          <p:cNvSpPr txBox="1"/>
          <p:nvPr>
            <p:ph idx="1" type="body"/>
          </p:nvPr>
        </p:nvSpPr>
        <p:spPr>
          <a:xfrm>
            <a:off x="324000" y="25329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a:t>
            </a:r>
            <a:r>
              <a:rPr lang="en-GB" sz="1800" u="sng"/>
              <a:t>                </a:t>
            </a:r>
            <a:r>
              <a:rPr lang="en-GB" sz="1800"/>
              <a:t>  clockwise.</a:t>
            </a:r>
            <a:endParaRPr sz="1800"/>
          </a:p>
        </p:txBody>
      </p:sp>
      <p:sp>
        <p:nvSpPr>
          <p:cNvPr id="1260" name="Google Shape;1260;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261" name="Google Shape;1261;p86"/>
          <p:cNvSpPr/>
          <p:nvPr/>
        </p:nvSpPr>
        <p:spPr>
          <a:xfrm>
            <a:off x="6266875" y="2019150"/>
            <a:ext cx="628800" cy="1305900"/>
          </a:xfrm>
          <a:prstGeom prst="rtTriangle">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86"/>
          <p:cNvSpPr/>
          <p:nvPr/>
        </p:nvSpPr>
        <p:spPr>
          <a:xfrm rot="5400000">
            <a:off x="7857826" y="2019150"/>
            <a:ext cx="628800" cy="1305900"/>
          </a:xfrm>
          <a:prstGeom prst="rtTriangle">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86"/>
          <p:cNvSpPr txBox="1"/>
          <p:nvPr/>
        </p:nvSpPr>
        <p:spPr>
          <a:xfrm>
            <a:off x="6211900" y="332505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264" name="Google Shape;1264;p86"/>
          <p:cNvSpPr txBox="1"/>
          <p:nvPr/>
        </p:nvSpPr>
        <p:spPr>
          <a:xfrm>
            <a:off x="7519280" y="305922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265" name="Google Shape;1265;p86"/>
          <p:cNvSpPr txBox="1"/>
          <p:nvPr>
            <p:ph idx="1" type="body"/>
          </p:nvPr>
        </p:nvSpPr>
        <p:spPr>
          <a:xfrm>
            <a:off x="324000" y="39750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270° </a:t>
            </a:r>
            <a:r>
              <a:rPr lang="en-GB" sz="1800" u="sng"/>
              <a:t>                               </a:t>
            </a:r>
            <a:r>
              <a:rPr lang="en-GB" sz="1800"/>
              <a:t> .</a:t>
            </a:r>
            <a:endParaRPr sz="1800"/>
          </a:p>
        </p:txBody>
      </p:sp>
      <p:sp>
        <p:nvSpPr>
          <p:cNvPr id="1266" name="Google Shape;1266;p86"/>
          <p:cNvSpPr txBox="1"/>
          <p:nvPr>
            <p:ph idx="1" type="body"/>
          </p:nvPr>
        </p:nvSpPr>
        <p:spPr>
          <a:xfrm>
            <a:off x="324000" y="759300"/>
            <a:ext cx="7135200" cy="130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272" name="Google Shape;1272;p87"/>
          <p:cNvSpPr txBox="1"/>
          <p:nvPr>
            <p:ph idx="1" type="body"/>
          </p:nvPr>
        </p:nvSpPr>
        <p:spPr>
          <a:xfrm>
            <a:off x="324000" y="759300"/>
            <a:ext cx="7135200" cy="5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
        <p:nvSpPr>
          <p:cNvPr id="1273" name="Google Shape;1273;p87"/>
          <p:cNvSpPr/>
          <p:nvPr/>
        </p:nvSpPr>
        <p:spPr>
          <a:xfrm>
            <a:off x="6266875" y="1800600"/>
            <a:ext cx="628800" cy="1305900"/>
          </a:xfrm>
          <a:prstGeom prst="trapezoid">
            <a:avLst>
              <a:gd fmla="val 25000" name="adj"/>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7"/>
          <p:cNvSpPr/>
          <p:nvPr/>
        </p:nvSpPr>
        <p:spPr>
          <a:xfrm rot="-5400000">
            <a:off x="7857826" y="1800600"/>
            <a:ext cx="628800" cy="1305900"/>
          </a:xfrm>
          <a:prstGeom prst="trapezoid">
            <a:avLst>
              <a:gd fmla="val 25000"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87"/>
          <p:cNvSpPr txBox="1"/>
          <p:nvPr>
            <p:ph idx="1" type="body"/>
          </p:nvPr>
        </p:nvSpPr>
        <p:spPr>
          <a:xfrm>
            <a:off x="324000" y="2532925"/>
            <a:ext cx="58422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90° </a:t>
            </a:r>
            <a:r>
              <a:rPr lang="en-GB" sz="1800" u="sng"/>
              <a:t>                               </a:t>
            </a:r>
            <a:r>
              <a:rPr lang="en-GB" sz="1800"/>
              <a:t> .</a:t>
            </a:r>
            <a:endParaRPr sz="1800"/>
          </a:p>
        </p:txBody>
      </p:sp>
      <p:sp>
        <p:nvSpPr>
          <p:cNvPr id="1276" name="Google Shape;1276;p87"/>
          <p:cNvSpPr txBox="1"/>
          <p:nvPr/>
        </p:nvSpPr>
        <p:spPr>
          <a:xfrm>
            <a:off x="6211900" y="31065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277" name="Google Shape;1277;p87"/>
          <p:cNvSpPr txBox="1"/>
          <p:nvPr/>
        </p:nvSpPr>
        <p:spPr>
          <a:xfrm>
            <a:off x="7519280" y="284067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278" name="Google Shape;1278;p87"/>
          <p:cNvSpPr txBox="1"/>
          <p:nvPr>
            <p:ph idx="1" type="body"/>
          </p:nvPr>
        </p:nvSpPr>
        <p:spPr>
          <a:xfrm>
            <a:off x="324000" y="39750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a:t>
            </a:r>
            <a:r>
              <a:rPr lang="en-GB" sz="1800" u="sng"/>
              <a:t>                 </a:t>
            </a:r>
            <a:r>
              <a:rPr lang="en-GB" sz="1800"/>
              <a:t>    </a:t>
            </a:r>
            <a:r>
              <a:rPr lang="en-GB" sz="1800" u="sng"/>
              <a:t>                               </a:t>
            </a:r>
            <a:r>
              <a:rPr lang="en-GB" sz="1800"/>
              <a:t>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284" name="Google Shape;1284;p88"/>
          <p:cNvSpPr/>
          <p:nvPr/>
        </p:nvSpPr>
        <p:spPr>
          <a:xfrm>
            <a:off x="6422738" y="1876800"/>
            <a:ext cx="628800" cy="1305900"/>
          </a:xfrm>
          <a:prstGeom prst="homePlate">
            <a:avLst>
              <a:gd fmla="val 50000" name="adj"/>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88"/>
          <p:cNvSpPr/>
          <p:nvPr/>
        </p:nvSpPr>
        <p:spPr>
          <a:xfrm rot="-5400000">
            <a:off x="7857826" y="1876800"/>
            <a:ext cx="628800" cy="1305900"/>
          </a:xfrm>
          <a:prstGeom prst="homePlate">
            <a:avLst>
              <a:gd fmla="val 50000"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88"/>
          <p:cNvSpPr txBox="1"/>
          <p:nvPr>
            <p:ph idx="1" type="body"/>
          </p:nvPr>
        </p:nvSpPr>
        <p:spPr>
          <a:xfrm>
            <a:off x="324000" y="25329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0"/>
              </a:spcAft>
              <a:buNone/>
            </a:pPr>
            <a:r>
              <a:rPr lang="en-GB" sz="1800"/>
              <a:t>The object has been rotated  </a:t>
            </a:r>
            <a:r>
              <a:rPr lang="en-GB" sz="1800" u="sng"/>
              <a:t>                 </a:t>
            </a:r>
            <a:r>
              <a:rPr lang="en-GB" sz="1800"/>
              <a:t>  clockwise.</a:t>
            </a:r>
            <a:endParaRPr sz="1800"/>
          </a:p>
          <a:p>
            <a:pPr indent="0" lvl="0" marL="0" rtl="0" algn="l">
              <a:spcBef>
                <a:spcPts val="1000"/>
              </a:spcBef>
              <a:spcAft>
                <a:spcPts val="1000"/>
              </a:spcAft>
              <a:buNone/>
            </a:pPr>
            <a:r>
              <a:t/>
            </a:r>
            <a:endParaRPr sz="1800"/>
          </a:p>
        </p:txBody>
      </p:sp>
      <p:sp>
        <p:nvSpPr>
          <p:cNvPr id="1287" name="Google Shape;1287;p88"/>
          <p:cNvSpPr txBox="1"/>
          <p:nvPr/>
        </p:nvSpPr>
        <p:spPr>
          <a:xfrm>
            <a:off x="6211900" y="31827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288" name="Google Shape;1288;p88"/>
          <p:cNvSpPr txBox="1"/>
          <p:nvPr/>
        </p:nvSpPr>
        <p:spPr>
          <a:xfrm>
            <a:off x="7519280" y="291687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289" name="Google Shape;1289;p88"/>
          <p:cNvSpPr txBox="1"/>
          <p:nvPr>
            <p:ph idx="1" type="body"/>
          </p:nvPr>
        </p:nvSpPr>
        <p:spPr>
          <a:xfrm>
            <a:off x="324000" y="39750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Clr>
                <a:schemeClr val="dk1"/>
              </a:buClr>
              <a:buSzPts val="1100"/>
              <a:buFont typeface="Arial"/>
              <a:buNone/>
            </a:pPr>
            <a:r>
              <a:rPr lang="en-GB" sz="1800"/>
              <a:t>The object has been </a:t>
            </a:r>
            <a:r>
              <a:rPr lang="en-GB" sz="1800" u="sng"/>
              <a:t>                           </a:t>
            </a:r>
            <a:r>
              <a:rPr lang="en-GB" sz="1800"/>
              <a:t>  </a:t>
            </a:r>
            <a:r>
              <a:rPr lang="en-GB" sz="1800" u="sng"/>
              <a:t>                 </a:t>
            </a:r>
            <a:r>
              <a:rPr lang="en-GB" sz="1800"/>
              <a:t>  anti-clockwise.</a:t>
            </a:r>
            <a:endParaRPr sz="1800"/>
          </a:p>
          <a:p>
            <a:pPr indent="0" lvl="0" marL="0" rtl="0" algn="l">
              <a:spcBef>
                <a:spcPts val="1000"/>
              </a:spcBef>
              <a:spcAft>
                <a:spcPts val="1000"/>
              </a:spcAft>
              <a:buNone/>
            </a:pPr>
            <a:r>
              <a:t/>
            </a:r>
            <a:endParaRPr sz="1800"/>
          </a:p>
        </p:txBody>
      </p:sp>
      <p:sp>
        <p:nvSpPr>
          <p:cNvPr id="1290" name="Google Shape;1290;p88"/>
          <p:cNvSpPr txBox="1"/>
          <p:nvPr>
            <p:ph idx="1" type="body"/>
          </p:nvPr>
        </p:nvSpPr>
        <p:spPr>
          <a:xfrm>
            <a:off x="324000" y="759300"/>
            <a:ext cx="7135200" cy="5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4</a:t>
            </a:r>
            <a:r>
              <a:rPr lang="en-GB" sz="1800"/>
              <a:t>)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296" name="Google Shape;1296;p89"/>
          <p:cNvSpPr txBox="1"/>
          <p:nvPr>
            <p:ph idx="1" type="body"/>
          </p:nvPr>
        </p:nvSpPr>
        <p:spPr>
          <a:xfrm>
            <a:off x="324000" y="349995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180° rotation clockwise</a:t>
            </a:r>
            <a:endParaRPr sz="2000"/>
          </a:p>
        </p:txBody>
      </p:sp>
      <p:sp>
        <p:nvSpPr>
          <p:cNvPr id="1297" name="Google Shape;1297;p89"/>
          <p:cNvSpPr txBox="1"/>
          <p:nvPr>
            <p:ph idx="1" type="body"/>
          </p:nvPr>
        </p:nvSpPr>
        <p:spPr>
          <a:xfrm>
            <a:off x="324000" y="174990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90° rotation anti-clockwise</a:t>
            </a:r>
            <a:endParaRPr sz="2000"/>
          </a:p>
        </p:txBody>
      </p:sp>
      <p:sp>
        <p:nvSpPr>
          <p:cNvPr id="1298" name="Google Shape;1298;p89"/>
          <p:cNvSpPr txBox="1"/>
          <p:nvPr>
            <p:ph idx="1" type="body"/>
          </p:nvPr>
        </p:nvSpPr>
        <p:spPr>
          <a:xfrm>
            <a:off x="324000" y="759300"/>
            <a:ext cx="84960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Write down the direction (up, down, left, right) each arrow will be pointing in after the rotation has been applied.</a:t>
            </a:r>
            <a:endParaRPr sz="2000"/>
          </a:p>
        </p:txBody>
      </p:sp>
      <p:sp>
        <p:nvSpPr>
          <p:cNvPr id="1299" name="Google Shape;1299;p89"/>
          <p:cNvSpPr/>
          <p:nvPr/>
        </p:nvSpPr>
        <p:spPr>
          <a:xfrm>
            <a:off x="2848950" y="175005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89"/>
          <p:cNvSpPr/>
          <p:nvPr/>
        </p:nvSpPr>
        <p:spPr>
          <a:xfrm rot="5400000">
            <a:off x="2848950" y="350010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1" name="Google Shape;1301;p89"/>
          <p:cNvCxnSpPr/>
          <p:nvPr/>
        </p:nvCxnSpPr>
        <p:spPr>
          <a:xfrm>
            <a:off x="4572000" y="1457325"/>
            <a:ext cx="0" cy="3171900"/>
          </a:xfrm>
          <a:prstGeom prst="straightConnector1">
            <a:avLst/>
          </a:prstGeom>
          <a:noFill/>
          <a:ln cap="flat" cmpd="sng" w="38100">
            <a:solidFill>
              <a:srgbClr val="037B7D"/>
            </a:solidFill>
            <a:prstDash val="solid"/>
            <a:round/>
            <a:headEnd len="med" w="med" type="none"/>
            <a:tailEnd len="med" w="med" type="none"/>
          </a:ln>
        </p:spPr>
      </p:cxnSp>
      <p:sp>
        <p:nvSpPr>
          <p:cNvPr id="1302" name="Google Shape;1302;p89"/>
          <p:cNvSpPr txBox="1"/>
          <p:nvPr>
            <p:ph idx="1" type="body"/>
          </p:nvPr>
        </p:nvSpPr>
        <p:spPr>
          <a:xfrm>
            <a:off x="4824000" y="174990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270° rotation anti-clockwise</a:t>
            </a:r>
            <a:endParaRPr sz="2000"/>
          </a:p>
        </p:txBody>
      </p:sp>
      <p:sp>
        <p:nvSpPr>
          <p:cNvPr id="1303" name="Google Shape;1303;p89"/>
          <p:cNvSpPr txBox="1"/>
          <p:nvPr>
            <p:ph idx="1" type="body"/>
          </p:nvPr>
        </p:nvSpPr>
        <p:spPr>
          <a:xfrm>
            <a:off x="4824000" y="3499950"/>
            <a:ext cx="2447700" cy="2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 90° rotation clockwise</a:t>
            </a:r>
            <a:endParaRPr sz="2000"/>
          </a:p>
        </p:txBody>
      </p:sp>
      <p:sp>
        <p:nvSpPr>
          <p:cNvPr id="1304" name="Google Shape;1304;p89"/>
          <p:cNvSpPr/>
          <p:nvPr/>
        </p:nvSpPr>
        <p:spPr>
          <a:xfrm rot="-5400000">
            <a:off x="7348950" y="175005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89"/>
          <p:cNvSpPr/>
          <p:nvPr/>
        </p:nvSpPr>
        <p:spPr>
          <a:xfrm rot="10800000">
            <a:off x="7348950" y="3500100"/>
            <a:ext cx="393600" cy="819900"/>
          </a:xfrm>
          <a:prstGeom prst="upArrow">
            <a:avLst>
              <a:gd fmla="val 50000" name="adj1"/>
              <a:gd fmla="val 50000"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89"/>
          <p:cNvSpPr txBox="1"/>
          <p:nvPr>
            <p:ph idx="1" type="body"/>
          </p:nvPr>
        </p:nvSpPr>
        <p:spPr>
          <a:xfrm>
            <a:off x="590838" y="2403150"/>
            <a:ext cx="19140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left</a:t>
            </a:r>
            <a:endParaRPr sz="1800">
              <a:latin typeface="Kalam"/>
              <a:ea typeface="Kalam"/>
              <a:cs typeface="Kalam"/>
              <a:sym typeface="Kalam"/>
            </a:endParaRPr>
          </a:p>
        </p:txBody>
      </p:sp>
      <p:sp>
        <p:nvSpPr>
          <p:cNvPr id="1307" name="Google Shape;1307;p89"/>
          <p:cNvSpPr txBox="1"/>
          <p:nvPr>
            <p:ph idx="1" type="body"/>
          </p:nvPr>
        </p:nvSpPr>
        <p:spPr>
          <a:xfrm>
            <a:off x="590838" y="4151400"/>
            <a:ext cx="19140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left</a:t>
            </a:r>
            <a:endParaRPr sz="1800">
              <a:latin typeface="Kalam"/>
              <a:ea typeface="Kalam"/>
              <a:cs typeface="Kalam"/>
              <a:sym typeface="Kalam"/>
            </a:endParaRPr>
          </a:p>
        </p:txBody>
      </p:sp>
      <p:sp>
        <p:nvSpPr>
          <p:cNvPr id="1308" name="Google Shape;1308;p89"/>
          <p:cNvSpPr txBox="1"/>
          <p:nvPr>
            <p:ph idx="1" type="body"/>
          </p:nvPr>
        </p:nvSpPr>
        <p:spPr>
          <a:xfrm>
            <a:off x="5090838" y="2403150"/>
            <a:ext cx="19140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up</a:t>
            </a:r>
            <a:endParaRPr sz="1800">
              <a:latin typeface="Kalam"/>
              <a:ea typeface="Kalam"/>
              <a:cs typeface="Kalam"/>
              <a:sym typeface="Kalam"/>
            </a:endParaRPr>
          </a:p>
        </p:txBody>
      </p:sp>
      <p:sp>
        <p:nvSpPr>
          <p:cNvPr id="1309" name="Google Shape;1309;p89"/>
          <p:cNvSpPr txBox="1"/>
          <p:nvPr>
            <p:ph idx="1" type="body"/>
          </p:nvPr>
        </p:nvSpPr>
        <p:spPr>
          <a:xfrm>
            <a:off x="5090838" y="4151400"/>
            <a:ext cx="19140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left</a:t>
            </a:r>
            <a:endParaRPr sz="1800">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90"/>
          <p:cNvSpPr txBox="1"/>
          <p:nvPr>
            <p:ph idx="1" type="body"/>
          </p:nvPr>
        </p:nvSpPr>
        <p:spPr>
          <a:xfrm>
            <a:off x="324000" y="36702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270°                                 .</a:t>
            </a:r>
            <a:endParaRPr sz="1800"/>
          </a:p>
        </p:txBody>
      </p:sp>
      <p:sp>
        <p:nvSpPr>
          <p:cNvPr id="1315" name="Google Shape;1315;p9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316" name="Google Shape;1316;p90"/>
          <p:cNvSpPr txBox="1"/>
          <p:nvPr>
            <p:ph idx="1" type="body"/>
          </p:nvPr>
        </p:nvSpPr>
        <p:spPr>
          <a:xfrm>
            <a:off x="3613088" y="2563175"/>
            <a:ext cx="9198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90°</a:t>
            </a:r>
            <a:endParaRPr sz="1800">
              <a:latin typeface="Kalam"/>
              <a:ea typeface="Kalam"/>
              <a:cs typeface="Kalam"/>
              <a:sym typeface="Kalam"/>
            </a:endParaRPr>
          </a:p>
        </p:txBody>
      </p:sp>
      <p:sp>
        <p:nvSpPr>
          <p:cNvPr id="1317" name="Google Shape;1317;p90"/>
          <p:cNvSpPr txBox="1"/>
          <p:nvPr>
            <p:ph idx="1" type="body"/>
          </p:nvPr>
        </p:nvSpPr>
        <p:spPr>
          <a:xfrm>
            <a:off x="4114663" y="4001750"/>
            <a:ext cx="19140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anticlockwise</a:t>
            </a:r>
            <a:endParaRPr sz="1800">
              <a:latin typeface="Kalam"/>
              <a:ea typeface="Kalam"/>
              <a:cs typeface="Kalam"/>
              <a:sym typeface="Kalam"/>
            </a:endParaRPr>
          </a:p>
        </p:txBody>
      </p:sp>
      <p:sp>
        <p:nvSpPr>
          <p:cNvPr id="1318" name="Google Shape;1318;p90"/>
          <p:cNvSpPr txBox="1"/>
          <p:nvPr>
            <p:ph idx="1" type="body"/>
          </p:nvPr>
        </p:nvSpPr>
        <p:spPr>
          <a:xfrm>
            <a:off x="324000" y="22281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clockwise.</a:t>
            </a:r>
            <a:endParaRPr sz="1800"/>
          </a:p>
        </p:txBody>
      </p:sp>
      <p:sp>
        <p:nvSpPr>
          <p:cNvPr id="1319" name="Google Shape;1319;p90"/>
          <p:cNvSpPr/>
          <p:nvPr/>
        </p:nvSpPr>
        <p:spPr>
          <a:xfrm>
            <a:off x="6266875" y="1866750"/>
            <a:ext cx="628800" cy="1305900"/>
          </a:xfrm>
          <a:prstGeom prst="rtTriangle">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90"/>
          <p:cNvSpPr/>
          <p:nvPr/>
        </p:nvSpPr>
        <p:spPr>
          <a:xfrm rot="5400000">
            <a:off x="7857826" y="1866750"/>
            <a:ext cx="628800" cy="1305900"/>
          </a:xfrm>
          <a:prstGeom prst="rtTriangle">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90"/>
          <p:cNvSpPr txBox="1"/>
          <p:nvPr/>
        </p:nvSpPr>
        <p:spPr>
          <a:xfrm>
            <a:off x="6211900" y="317265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322" name="Google Shape;1322;p90"/>
          <p:cNvSpPr txBox="1"/>
          <p:nvPr/>
        </p:nvSpPr>
        <p:spPr>
          <a:xfrm>
            <a:off x="7519280" y="290682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323" name="Google Shape;1323;p90"/>
          <p:cNvSpPr txBox="1"/>
          <p:nvPr>
            <p:ph idx="1" type="body"/>
          </p:nvPr>
        </p:nvSpPr>
        <p:spPr>
          <a:xfrm>
            <a:off x="324000" y="759300"/>
            <a:ext cx="8496000" cy="130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91"/>
          <p:cNvSpPr txBox="1"/>
          <p:nvPr>
            <p:ph idx="1" type="body"/>
          </p:nvPr>
        </p:nvSpPr>
        <p:spPr>
          <a:xfrm>
            <a:off x="324000" y="22281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90°                             .</a:t>
            </a:r>
            <a:endParaRPr sz="1800"/>
          </a:p>
        </p:txBody>
      </p:sp>
      <p:sp>
        <p:nvSpPr>
          <p:cNvPr id="1329" name="Google Shape;1329;p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330" name="Google Shape;1330;p91"/>
          <p:cNvSpPr txBox="1"/>
          <p:nvPr>
            <p:ph idx="1" type="body"/>
          </p:nvPr>
        </p:nvSpPr>
        <p:spPr>
          <a:xfrm>
            <a:off x="324000" y="36702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1000"/>
              </a:spcAft>
              <a:buNone/>
            </a:pPr>
            <a:r>
              <a:rPr lang="en-GB" sz="1800"/>
              <a:t>The object has been rotated                                                  .</a:t>
            </a:r>
            <a:endParaRPr sz="1800"/>
          </a:p>
        </p:txBody>
      </p:sp>
      <p:sp>
        <p:nvSpPr>
          <p:cNvPr id="1331" name="Google Shape;1331;p91"/>
          <p:cNvSpPr txBox="1"/>
          <p:nvPr>
            <p:ph idx="1" type="body"/>
          </p:nvPr>
        </p:nvSpPr>
        <p:spPr>
          <a:xfrm>
            <a:off x="3951688" y="2563175"/>
            <a:ext cx="19626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anti-clockwise</a:t>
            </a:r>
            <a:endParaRPr sz="1800">
              <a:latin typeface="Kalam"/>
              <a:ea typeface="Kalam"/>
              <a:cs typeface="Kalam"/>
              <a:sym typeface="Kalam"/>
            </a:endParaRPr>
          </a:p>
        </p:txBody>
      </p:sp>
      <p:sp>
        <p:nvSpPr>
          <p:cNvPr id="1332" name="Google Shape;1332;p91"/>
          <p:cNvSpPr txBox="1"/>
          <p:nvPr>
            <p:ph idx="1" type="body"/>
          </p:nvPr>
        </p:nvSpPr>
        <p:spPr>
          <a:xfrm>
            <a:off x="3441725" y="4001750"/>
            <a:ext cx="19995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270°</a:t>
            </a:r>
            <a:endParaRPr sz="1800">
              <a:latin typeface="Kalam"/>
              <a:ea typeface="Kalam"/>
              <a:cs typeface="Kalam"/>
              <a:sym typeface="Kalam"/>
            </a:endParaRPr>
          </a:p>
        </p:txBody>
      </p:sp>
      <p:sp>
        <p:nvSpPr>
          <p:cNvPr id="1333" name="Google Shape;1333;p91"/>
          <p:cNvSpPr txBox="1"/>
          <p:nvPr>
            <p:ph idx="1" type="body"/>
          </p:nvPr>
        </p:nvSpPr>
        <p:spPr>
          <a:xfrm>
            <a:off x="4941427" y="4001750"/>
            <a:ext cx="19116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clockwise</a:t>
            </a:r>
            <a:endParaRPr sz="1800">
              <a:latin typeface="Kalam"/>
              <a:ea typeface="Kalam"/>
              <a:cs typeface="Kalam"/>
              <a:sym typeface="Kalam"/>
            </a:endParaRPr>
          </a:p>
        </p:txBody>
      </p:sp>
      <p:sp>
        <p:nvSpPr>
          <p:cNvPr id="1334" name="Google Shape;1334;p91"/>
          <p:cNvSpPr txBox="1"/>
          <p:nvPr>
            <p:ph idx="1" type="body"/>
          </p:nvPr>
        </p:nvSpPr>
        <p:spPr>
          <a:xfrm>
            <a:off x="324000" y="759300"/>
            <a:ext cx="8501100" cy="5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
        <p:nvSpPr>
          <p:cNvPr id="1335" name="Google Shape;1335;p91"/>
          <p:cNvSpPr/>
          <p:nvPr/>
        </p:nvSpPr>
        <p:spPr>
          <a:xfrm>
            <a:off x="6266875" y="1800600"/>
            <a:ext cx="628800" cy="1305900"/>
          </a:xfrm>
          <a:prstGeom prst="trapezoid">
            <a:avLst>
              <a:gd fmla="val 25000" name="adj"/>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91"/>
          <p:cNvSpPr/>
          <p:nvPr/>
        </p:nvSpPr>
        <p:spPr>
          <a:xfrm rot="-5400000">
            <a:off x="7857826" y="1800600"/>
            <a:ext cx="628800" cy="1305900"/>
          </a:xfrm>
          <a:prstGeom prst="trapezoid">
            <a:avLst>
              <a:gd fmla="val 25000"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91"/>
          <p:cNvSpPr txBox="1"/>
          <p:nvPr/>
        </p:nvSpPr>
        <p:spPr>
          <a:xfrm>
            <a:off x="6211900" y="31065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338" name="Google Shape;1338;p91"/>
          <p:cNvSpPr txBox="1"/>
          <p:nvPr/>
        </p:nvSpPr>
        <p:spPr>
          <a:xfrm>
            <a:off x="7519280" y="284067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92"/>
          <p:cNvSpPr txBox="1"/>
          <p:nvPr>
            <p:ph idx="1" type="body"/>
          </p:nvPr>
        </p:nvSpPr>
        <p:spPr>
          <a:xfrm>
            <a:off x="324000" y="21519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0"/>
              </a:spcAft>
              <a:buNone/>
            </a:pPr>
            <a:r>
              <a:rPr lang="en-GB" sz="1800"/>
              <a:t>The object has been rotated                     clockwise.</a:t>
            </a:r>
            <a:endParaRPr sz="1800"/>
          </a:p>
          <a:p>
            <a:pPr indent="0" lvl="0" marL="0" rtl="0" algn="l">
              <a:spcBef>
                <a:spcPts val="1000"/>
              </a:spcBef>
              <a:spcAft>
                <a:spcPts val="1000"/>
              </a:spcAft>
              <a:buNone/>
            </a:pPr>
            <a:r>
              <a:t/>
            </a:r>
            <a:endParaRPr sz="1800"/>
          </a:p>
        </p:txBody>
      </p:sp>
      <p:sp>
        <p:nvSpPr>
          <p:cNvPr id="1344" name="Google Shape;1344;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the size of a rotation</a:t>
            </a:r>
            <a:endParaRPr/>
          </a:p>
        </p:txBody>
      </p:sp>
      <p:sp>
        <p:nvSpPr>
          <p:cNvPr id="1345" name="Google Shape;1345;p92"/>
          <p:cNvSpPr txBox="1"/>
          <p:nvPr>
            <p:ph idx="1" type="body"/>
          </p:nvPr>
        </p:nvSpPr>
        <p:spPr>
          <a:xfrm>
            <a:off x="324000" y="35940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Clr>
                <a:schemeClr val="dk1"/>
              </a:buClr>
              <a:buSzPts val="1100"/>
              <a:buFont typeface="Arial"/>
              <a:buNone/>
            </a:pPr>
            <a:r>
              <a:rPr lang="en-GB" sz="1800"/>
              <a:t>The object has been                                                 anti-clockwise.</a:t>
            </a:r>
            <a:endParaRPr sz="1800"/>
          </a:p>
          <a:p>
            <a:pPr indent="0" lvl="0" marL="0" rtl="0" algn="l">
              <a:spcBef>
                <a:spcPts val="1000"/>
              </a:spcBef>
              <a:spcAft>
                <a:spcPts val="1000"/>
              </a:spcAft>
              <a:buNone/>
            </a:pPr>
            <a:r>
              <a:t/>
            </a:r>
            <a:endParaRPr sz="1800"/>
          </a:p>
        </p:txBody>
      </p:sp>
      <p:sp>
        <p:nvSpPr>
          <p:cNvPr id="1346" name="Google Shape;1346;p92"/>
          <p:cNvSpPr txBox="1"/>
          <p:nvPr>
            <p:ph idx="1" type="body"/>
          </p:nvPr>
        </p:nvSpPr>
        <p:spPr>
          <a:xfrm>
            <a:off x="3597839" y="2537107"/>
            <a:ext cx="10191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270°</a:t>
            </a:r>
            <a:endParaRPr sz="1800">
              <a:latin typeface="Kalam"/>
              <a:ea typeface="Kalam"/>
              <a:cs typeface="Kalam"/>
              <a:sym typeface="Kalam"/>
            </a:endParaRPr>
          </a:p>
        </p:txBody>
      </p:sp>
      <p:sp>
        <p:nvSpPr>
          <p:cNvPr id="1347" name="Google Shape;1347;p92"/>
          <p:cNvSpPr txBox="1"/>
          <p:nvPr>
            <p:ph idx="1" type="body"/>
          </p:nvPr>
        </p:nvSpPr>
        <p:spPr>
          <a:xfrm>
            <a:off x="2629957" y="3985708"/>
            <a:ext cx="16899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rotated</a:t>
            </a:r>
            <a:endParaRPr sz="1800">
              <a:latin typeface="Kalam"/>
              <a:ea typeface="Kalam"/>
              <a:cs typeface="Kalam"/>
              <a:sym typeface="Kalam"/>
            </a:endParaRPr>
          </a:p>
        </p:txBody>
      </p:sp>
      <p:sp>
        <p:nvSpPr>
          <p:cNvPr id="1348" name="Google Shape;1348;p92"/>
          <p:cNvSpPr txBox="1"/>
          <p:nvPr>
            <p:ph idx="1" type="body"/>
          </p:nvPr>
        </p:nvSpPr>
        <p:spPr>
          <a:xfrm>
            <a:off x="4466825" y="3985708"/>
            <a:ext cx="10833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90°</a:t>
            </a:r>
            <a:endParaRPr sz="1800">
              <a:latin typeface="Kalam"/>
              <a:ea typeface="Kalam"/>
              <a:cs typeface="Kalam"/>
              <a:sym typeface="Kalam"/>
            </a:endParaRPr>
          </a:p>
        </p:txBody>
      </p:sp>
      <p:sp>
        <p:nvSpPr>
          <p:cNvPr id="1349" name="Google Shape;1349;p92"/>
          <p:cNvSpPr/>
          <p:nvPr/>
        </p:nvSpPr>
        <p:spPr>
          <a:xfrm>
            <a:off x="6422738" y="1876800"/>
            <a:ext cx="628800" cy="1305900"/>
          </a:xfrm>
          <a:prstGeom prst="homePlate">
            <a:avLst>
              <a:gd fmla="val 50000" name="adj"/>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92"/>
          <p:cNvSpPr/>
          <p:nvPr/>
        </p:nvSpPr>
        <p:spPr>
          <a:xfrm rot="-5400000">
            <a:off x="7857826" y="1876800"/>
            <a:ext cx="628800" cy="1305900"/>
          </a:xfrm>
          <a:prstGeom prst="homePlate">
            <a:avLst>
              <a:gd fmla="val 50000" name="adj"/>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92"/>
          <p:cNvSpPr txBox="1"/>
          <p:nvPr/>
        </p:nvSpPr>
        <p:spPr>
          <a:xfrm>
            <a:off x="6211900" y="31827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352" name="Google Shape;1352;p92"/>
          <p:cNvSpPr txBox="1"/>
          <p:nvPr/>
        </p:nvSpPr>
        <p:spPr>
          <a:xfrm>
            <a:off x="7519280" y="2916875"/>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353" name="Google Shape;1353;p92"/>
          <p:cNvSpPr txBox="1"/>
          <p:nvPr>
            <p:ph idx="1" type="body"/>
          </p:nvPr>
        </p:nvSpPr>
        <p:spPr>
          <a:xfrm>
            <a:off x="324000" y="759300"/>
            <a:ext cx="8501100" cy="5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4) The object has been rotated by less than 360°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93"/>
          <p:cNvSpPr txBox="1"/>
          <p:nvPr>
            <p:ph type="title"/>
          </p:nvPr>
        </p:nvSpPr>
        <p:spPr>
          <a:xfrm>
            <a:off x="1224600" y="178702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the direction of a rotation</a:t>
            </a:r>
            <a:endParaRPr/>
          </a:p>
        </p:txBody>
      </p:sp>
      <p:sp>
        <p:nvSpPr>
          <p:cNvPr id="1359" name="Google Shape;1359;p93"/>
          <p:cNvSpPr txBox="1"/>
          <p:nvPr>
            <p:ph idx="4" type="title"/>
          </p:nvPr>
        </p:nvSpPr>
        <p:spPr>
          <a:xfrm>
            <a:off x="324000" y="8100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a rotation's direction and size</a:t>
            </a:r>
            <a:endParaRPr/>
          </a:p>
        </p:txBody>
      </p:sp>
      <p:sp>
        <p:nvSpPr>
          <p:cNvPr id="1360" name="Google Shape;1360;p93"/>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pic>
        <p:nvPicPr>
          <p:cNvPr id="1361" name="Google Shape;1361;p93"/>
          <p:cNvPicPr preferRelativeResize="0"/>
          <p:nvPr/>
        </p:nvPicPr>
        <p:blipFill>
          <a:blip r:embed="rId3">
            <a:alphaModFix/>
          </a:blip>
          <a:stretch>
            <a:fillRect/>
          </a:stretch>
        </p:blipFill>
        <p:spPr>
          <a:xfrm>
            <a:off x="420075" y="3700498"/>
            <a:ext cx="450575" cy="446750"/>
          </a:xfrm>
          <a:prstGeom prst="rect">
            <a:avLst/>
          </a:prstGeom>
          <a:noFill/>
          <a:ln>
            <a:noFill/>
          </a:ln>
        </p:spPr>
      </p:pic>
      <p:sp>
        <p:nvSpPr>
          <p:cNvPr id="1362" name="Google Shape;1362;p93"/>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the size of a rotation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grpSp>
        <p:nvGrpSpPr>
          <p:cNvPr id="1367" name="Google Shape;1367;p94"/>
          <p:cNvGrpSpPr/>
          <p:nvPr/>
        </p:nvGrpSpPr>
        <p:grpSpPr>
          <a:xfrm>
            <a:off x="902945" y="1189391"/>
            <a:ext cx="1236979" cy="1199336"/>
            <a:chOff x="4451347" y="1280815"/>
            <a:chExt cx="1236979" cy="1199336"/>
          </a:xfrm>
        </p:grpSpPr>
        <p:pic>
          <p:nvPicPr>
            <p:cNvPr id="1368" name="Google Shape;1368;p94"/>
            <p:cNvPicPr preferRelativeResize="0"/>
            <p:nvPr/>
          </p:nvPicPr>
          <p:blipFill rotWithShape="1">
            <a:blip r:embed="rId3">
              <a:alphaModFix/>
            </a:blip>
            <a:srcRect b="84458" l="57225" r="24607" t="0"/>
            <a:stretch/>
          </p:blipFill>
          <p:spPr>
            <a:xfrm rot="10800000">
              <a:off x="4819051" y="1689998"/>
              <a:ext cx="869276" cy="752002"/>
            </a:xfrm>
            <a:prstGeom prst="rect">
              <a:avLst/>
            </a:prstGeom>
            <a:noFill/>
            <a:ln>
              <a:noFill/>
            </a:ln>
          </p:spPr>
        </p:pic>
        <p:pic>
          <p:nvPicPr>
            <p:cNvPr id="1369" name="Google Shape;1369;p94"/>
            <p:cNvPicPr preferRelativeResize="0"/>
            <p:nvPr/>
          </p:nvPicPr>
          <p:blipFill rotWithShape="1">
            <a:blip r:embed="rId3">
              <a:alphaModFix/>
            </a:blip>
            <a:srcRect b="84458" l="57225" r="24607" t="0"/>
            <a:stretch/>
          </p:blipFill>
          <p:spPr>
            <a:xfrm rot="-5400000">
              <a:off x="4431201" y="1669512"/>
              <a:ext cx="869276" cy="752002"/>
            </a:xfrm>
            <a:prstGeom prst="rect">
              <a:avLst/>
            </a:prstGeom>
            <a:noFill/>
            <a:ln>
              <a:noFill/>
            </a:ln>
          </p:spPr>
        </p:pic>
        <p:pic>
          <p:nvPicPr>
            <p:cNvPr id="1370" name="Google Shape;1370;p94"/>
            <p:cNvPicPr preferRelativeResize="0"/>
            <p:nvPr/>
          </p:nvPicPr>
          <p:blipFill rotWithShape="1">
            <a:blip r:embed="rId3">
              <a:alphaModFix/>
            </a:blip>
            <a:srcRect b="84458" l="57225" r="18284" t="0"/>
            <a:stretch/>
          </p:blipFill>
          <p:spPr>
            <a:xfrm>
              <a:off x="4451347" y="1280815"/>
              <a:ext cx="1171824" cy="752002"/>
            </a:xfrm>
            <a:prstGeom prst="rect">
              <a:avLst/>
            </a:prstGeom>
            <a:noFill/>
            <a:ln>
              <a:noFill/>
            </a:ln>
          </p:spPr>
        </p:pic>
      </p:grpSp>
      <p:sp>
        <p:nvSpPr>
          <p:cNvPr id="1371" name="Google Shape;1371;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sp>
        <p:nvSpPr>
          <p:cNvPr id="1372" name="Google Shape;1372;p94"/>
          <p:cNvSpPr/>
          <p:nvPr/>
        </p:nvSpPr>
        <p:spPr>
          <a:xfrm>
            <a:off x="1324909" y="1574358"/>
            <a:ext cx="375300" cy="3753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94"/>
          <p:cNvSpPr txBox="1"/>
          <p:nvPr>
            <p:ph idx="1" type="body"/>
          </p:nvPr>
        </p:nvSpPr>
        <p:spPr>
          <a:xfrm>
            <a:off x="2393700" y="1413000"/>
            <a:ext cx="5698800" cy="752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a full turn is a        rotation</a:t>
            </a:r>
            <a:endParaRPr sz="1800"/>
          </a:p>
        </p:txBody>
      </p:sp>
      <p:pic>
        <p:nvPicPr>
          <p:cNvPr descr="&lt;math xmlns=&quot;http://www.w3.org/1998/Math/MathML&quot; display=&quot;block&quot; data-is-equatio=&quot;1&quot; data-latex=&quot;360^{\circ}&quot;&gt;&lt;msup&gt;&lt;mn&gt;360&lt;/mn&gt;&lt;mrow data-mjx-texclass=&quot;ORD&quot;&gt;&lt;mo&gt;∘&lt;/mo&gt;&lt;/mrow&gt;&lt;/msup&gt;&lt;/math&gt;" id="1374" name="Google Shape;1374;p94" title="360 degrees"/>
          <p:cNvPicPr preferRelativeResize="0"/>
          <p:nvPr/>
        </p:nvPicPr>
        <p:blipFill>
          <a:blip r:embed="rId4">
            <a:alphaModFix/>
          </a:blip>
          <a:stretch>
            <a:fillRect/>
          </a:stretch>
        </p:blipFill>
        <p:spPr>
          <a:xfrm>
            <a:off x="3988723" y="1723066"/>
            <a:ext cx="377143" cy="160000"/>
          </a:xfrm>
          <a:prstGeom prst="rect">
            <a:avLst/>
          </a:prstGeom>
          <a:noFill/>
          <a:ln>
            <a:noFill/>
          </a:ln>
        </p:spPr>
      </p:pic>
      <p:sp>
        <p:nvSpPr>
          <p:cNvPr id="1375" name="Google Shape;1375;p94"/>
          <p:cNvSpPr txBox="1"/>
          <p:nvPr>
            <p:ph idx="1" type="body"/>
          </p:nvPr>
        </p:nvSpPr>
        <p:spPr>
          <a:xfrm>
            <a:off x="324000" y="2673325"/>
            <a:ext cx="8496000" cy="38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You can rotate through more than       , that just means you’re going through more than one full turn.</a:t>
            </a:r>
            <a:endParaRPr sz="1800"/>
          </a:p>
        </p:txBody>
      </p:sp>
      <p:grpSp>
        <p:nvGrpSpPr>
          <p:cNvPr id="1376" name="Google Shape;1376;p94"/>
          <p:cNvGrpSpPr/>
          <p:nvPr/>
        </p:nvGrpSpPr>
        <p:grpSpPr>
          <a:xfrm>
            <a:off x="894058" y="3239991"/>
            <a:ext cx="1236979" cy="1199336"/>
            <a:chOff x="902945" y="2673316"/>
            <a:chExt cx="1236979" cy="1199336"/>
          </a:xfrm>
        </p:grpSpPr>
        <p:grpSp>
          <p:nvGrpSpPr>
            <p:cNvPr id="1377" name="Google Shape;1377;p94"/>
            <p:cNvGrpSpPr/>
            <p:nvPr/>
          </p:nvGrpSpPr>
          <p:grpSpPr>
            <a:xfrm>
              <a:off x="902945" y="2673316"/>
              <a:ext cx="1236979" cy="1199336"/>
              <a:chOff x="4451347" y="1280815"/>
              <a:chExt cx="1236979" cy="1199336"/>
            </a:xfrm>
          </p:grpSpPr>
          <p:pic>
            <p:nvPicPr>
              <p:cNvPr id="1378" name="Google Shape;1378;p94"/>
              <p:cNvPicPr preferRelativeResize="0"/>
              <p:nvPr/>
            </p:nvPicPr>
            <p:blipFill rotWithShape="1">
              <a:blip r:embed="rId3">
                <a:alphaModFix/>
              </a:blip>
              <a:srcRect b="84458" l="57225" r="24607" t="0"/>
              <a:stretch/>
            </p:blipFill>
            <p:spPr>
              <a:xfrm rot="10800000">
                <a:off x="4819051" y="1689998"/>
                <a:ext cx="869276" cy="752002"/>
              </a:xfrm>
              <a:prstGeom prst="rect">
                <a:avLst/>
              </a:prstGeom>
              <a:noFill/>
              <a:ln>
                <a:noFill/>
              </a:ln>
            </p:spPr>
          </p:pic>
          <p:pic>
            <p:nvPicPr>
              <p:cNvPr id="1379" name="Google Shape;1379;p94"/>
              <p:cNvPicPr preferRelativeResize="0"/>
              <p:nvPr/>
            </p:nvPicPr>
            <p:blipFill rotWithShape="1">
              <a:blip r:embed="rId3">
                <a:alphaModFix/>
              </a:blip>
              <a:srcRect b="84458" l="57225" r="24607" t="0"/>
              <a:stretch/>
            </p:blipFill>
            <p:spPr>
              <a:xfrm rot="-5400000">
                <a:off x="4431201" y="1669512"/>
                <a:ext cx="869276" cy="752002"/>
              </a:xfrm>
              <a:prstGeom prst="rect">
                <a:avLst/>
              </a:prstGeom>
              <a:noFill/>
              <a:ln>
                <a:noFill/>
              </a:ln>
            </p:spPr>
          </p:pic>
          <p:pic>
            <p:nvPicPr>
              <p:cNvPr id="1380" name="Google Shape;1380;p94"/>
              <p:cNvPicPr preferRelativeResize="0"/>
              <p:nvPr/>
            </p:nvPicPr>
            <p:blipFill rotWithShape="1">
              <a:blip r:embed="rId3">
                <a:alphaModFix/>
              </a:blip>
              <a:srcRect b="84458" l="57225" r="18284" t="0"/>
              <a:stretch/>
            </p:blipFill>
            <p:spPr>
              <a:xfrm>
                <a:off x="4451347" y="1280815"/>
                <a:ext cx="1171824" cy="752002"/>
              </a:xfrm>
              <a:prstGeom prst="rect">
                <a:avLst/>
              </a:prstGeom>
              <a:noFill/>
              <a:ln>
                <a:noFill/>
              </a:ln>
            </p:spPr>
          </p:pic>
        </p:grpSp>
        <p:sp>
          <p:nvSpPr>
            <p:cNvPr id="1381" name="Google Shape;1381;p94"/>
            <p:cNvSpPr/>
            <p:nvPr/>
          </p:nvSpPr>
          <p:spPr>
            <a:xfrm>
              <a:off x="1324909" y="3058283"/>
              <a:ext cx="375300" cy="3753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t;math xmlns=&quot;http://www.w3.org/1998/Math/MathML&quot; display=&quot;block&quot; data-is-equatio=&quot;1&quot; data-latex=&quot;360^{\circ}&quot;&gt;&lt;msup&gt;&lt;mn&gt;360&lt;/mn&gt;&lt;mrow data-mjx-texclass=&quot;ORD&quot;&gt;&lt;mo&gt;∘&lt;/mo&gt;&lt;/mrow&gt;&lt;/msup&gt;&lt;/math&gt;" id="1382" name="Google Shape;1382;p94" title="360 degrees"/>
          <p:cNvPicPr preferRelativeResize="0"/>
          <p:nvPr/>
        </p:nvPicPr>
        <p:blipFill>
          <a:blip r:embed="rId4">
            <a:alphaModFix/>
          </a:blip>
          <a:stretch>
            <a:fillRect/>
          </a:stretch>
        </p:blipFill>
        <p:spPr>
          <a:xfrm>
            <a:off x="4151515" y="2749691"/>
            <a:ext cx="377143" cy="160000"/>
          </a:xfrm>
          <a:prstGeom prst="rect">
            <a:avLst/>
          </a:prstGeom>
          <a:noFill/>
          <a:ln>
            <a:noFill/>
          </a:ln>
        </p:spPr>
      </p:pic>
      <p:sp>
        <p:nvSpPr>
          <p:cNvPr id="1383" name="Google Shape;1383;p94"/>
          <p:cNvSpPr txBox="1"/>
          <p:nvPr>
            <p:ph idx="1" type="body"/>
          </p:nvPr>
        </p:nvSpPr>
        <p:spPr>
          <a:xfrm>
            <a:off x="2131025" y="3589350"/>
            <a:ext cx="566100" cy="3813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300"/>
              <a:t>and</a:t>
            </a:r>
            <a:endParaRPr sz="2300"/>
          </a:p>
        </p:txBody>
      </p:sp>
      <p:sp>
        <p:nvSpPr>
          <p:cNvPr id="1384" name="Google Shape;1384;p94"/>
          <p:cNvSpPr/>
          <p:nvPr/>
        </p:nvSpPr>
        <p:spPr>
          <a:xfrm>
            <a:off x="2810598" y="3625939"/>
            <a:ext cx="375300" cy="3753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5" name="Google Shape;1385;p94"/>
          <p:cNvPicPr preferRelativeResize="0"/>
          <p:nvPr/>
        </p:nvPicPr>
        <p:blipFill rotWithShape="1">
          <a:blip r:embed="rId3">
            <a:alphaModFix/>
          </a:blip>
          <a:srcRect b="84458" l="22691" r="64445" t="0"/>
          <a:stretch/>
        </p:blipFill>
        <p:spPr>
          <a:xfrm>
            <a:off x="3024849" y="3240986"/>
            <a:ext cx="615476" cy="752002"/>
          </a:xfrm>
          <a:prstGeom prst="rect">
            <a:avLst/>
          </a:prstGeom>
          <a:noFill/>
          <a:ln>
            <a:noFill/>
          </a:ln>
        </p:spPr>
      </p:pic>
      <p:pic>
        <p:nvPicPr>
          <p:cNvPr descr="&lt;math xmlns=&quot;http://www.w3.org/1998/Math/MathML&quot; display=&quot;block&quot; data-is-equatio=&quot;1&quot; data-latex=&quot;360^{\circ}&quot;&gt;&lt;msup&gt;&lt;mn&gt;360&lt;/mn&gt;&lt;mrow data-mjx-texclass=&quot;ORD&quot;&gt;&lt;mo&gt;∘&lt;/mo&gt;&lt;/mrow&gt;&lt;/msup&gt;&lt;/math&gt;" id="1386" name="Google Shape;1386;p94" title="360 degrees"/>
          <p:cNvPicPr preferRelativeResize="0"/>
          <p:nvPr/>
        </p:nvPicPr>
        <p:blipFill>
          <a:blip r:embed="rId4">
            <a:alphaModFix/>
          </a:blip>
          <a:stretch>
            <a:fillRect/>
          </a:stretch>
        </p:blipFill>
        <p:spPr>
          <a:xfrm>
            <a:off x="1323960" y="4319991"/>
            <a:ext cx="377143" cy="160000"/>
          </a:xfrm>
          <a:prstGeom prst="rect">
            <a:avLst/>
          </a:prstGeom>
          <a:noFill/>
          <a:ln>
            <a:noFill/>
          </a:ln>
        </p:spPr>
      </p:pic>
      <p:pic>
        <p:nvPicPr>
          <p:cNvPr descr="&lt;math xmlns=&quot;http://www.w3.org/1998/Math/MathML&quot; display=&quot;block&quot; data-is-equatio=&quot;1&quot; data-latex=&quot;90^{\circ}&quot;&gt;&lt;msup&gt;&lt;mn&gt;90&lt;/mn&gt;&lt;mrow data-mjx-texclass=&quot;ORD&quot;&gt;&lt;mo&gt;∘&lt;/mo&gt;&lt;/mrow&gt;&lt;/msup&gt;&lt;/math&gt;" id="1387" name="Google Shape;1387;p94" title="90 degrees"/>
          <p:cNvPicPr preferRelativeResize="0"/>
          <p:nvPr/>
        </p:nvPicPr>
        <p:blipFill>
          <a:blip r:embed="rId5">
            <a:alphaModFix/>
          </a:blip>
          <a:stretch>
            <a:fillRect/>
          </a:stretch>
        </p:blipFill>
        <p:spPr>
          <a:xfrm>
            <a:off x="2863006" y="4320007"/>
            <a:ext cx="270481" cy="160000"/>
          </a:xfrm>
          <a:prstGeom prst="rect">
            <a:avLst/>
          </a:prstGeom>
          <a:noFill/>
          <a:ln>
            <a:noFill/>
          </a:ln>
        </p:spPr>
      </p:pic>
      <p:pic>
        <p:nvPicPr>
          <p:cNvPr descr="&lt;math xmlns=&quot;http://www.w3.org/1998/Math/MathML&quot; display=&quot;block&quot; data-is-equatio=&quot;1&quot; data-latex=&quot;=450^{\circ}&quot;&gt;&lt;mo&gt;=&lt;/mo&gt;&lt;msup&gt;&lt;mn&gt;450&lt;/mn&gt;&lt;mrow data-mjx-texclass=&quot;ORD&quot;&gt;&lt;mo&gt;∘&lt;/mo&gt;&lt;/mrow&gt;&lt;/msup&gt;&lt;/math&gt;" id="1388" name="Google Shape;1388;p94" title="equals 450 degrees"/>
          <p:cNvPicPr preferRelativeResize="0"/>
          <p:nvPr/>
        </p:nvPicPr>
        <p:blipFill>
          <a:blip r:embed="rId6">
            <a:alphaModFix/>
          </a:blip>
          <a:stretch>
            <a:fillRect/>
          </a:stretch>
        </p:blipFill>
        <p:spPr>
          <a:xfrm>
            <a:off x="3670400" y="3718575"/>
            <a:ext cx="705450" cy="190075"/>
          </a:xfrm>
          <a:prstGeom prst="rect">
            <a:avLst/>
          </a:prstGeom>
          <a:noFill/>
          <a:ln>
            <a:noFill/>
          </a:ln>
        </p:spPr>
      </p:pic>
      <p:sp>
        <p:nvSpPr>
          <p:cNvPr id="1389" name="Google Shape;1389;p94"/>
          <p:cNvSpPr txBox="1"/>
          <p:nvPr>
            <p:ph idx="1" type="body"/>
          </p:nvPr>
        </p:nvSpPr>
        <p:spPr>
          <a:xfrm>
            <a:off x="324000" y="759300"/>
            <a:ext cx="7135200" cy="145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size of a rotation can be described using angles written in </a:t>
            </a:r>
            <a:r>
              <a:rPr lang="en-GB" sz="1800"/>
              <a:t>degrees</a:t>
            </a: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sp>
        <p:nvSpPr>
          <p:cNvPr id="1395" name="Google Shape;1395;p95"/>
          <p:cNvSpPr txBox="1"/>
          <p:nvPr>
            <p:ph idx="1" type="body"/>
          </p:nvPr>
        </p:nvSpPr>
        <p:spPr>
          <a:xfrm>
            <a:off x="324000" y="759300"/>
            <a:ext cx="7135200" cy="39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One and a half full turns would be equal to how many degrees?</a:t>
            </a:r>
            <a:endParaRPr sz="2000"/>
          </a:p>
        </p:txBody>
      </p:sp>
      <p:grpSp>
        <p:nvGrpSpPr>
          <p:cNvPr id="1396" name="Google Shape;1396;p95"/>
          <p:cNvGrpSpPr/>
          <p:nvPr/>
        </p:nvGrpSpPr>
        <p:grpSpPr>
          <a:xfrm>
            <a:off x="902891" y="1633200"/>
            <a:ext cx="457200" cy="457200"/>
            <a:chOff x="1020916" y="1442088"/>
            <a:chExt cx="457200" cy="457200"/>
          </a:xfrm>
        </p:grpSpPr>
        <p:pic>
          <p:nvPicPr>
            <p:cNvPr id="1397" name="Google Shape;1397;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398" name="Google Shape;1398;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99" name="Google Shape;1399;p95"/>
          <p:cNvGrpSpPr/>
          <p:nvPr/>
        </p:nvGrpSpPr>
        <p:grpSpPr>
          <a:xfrm>
            <a:off x="902891" y="2371500"/>
            <a:ext cx="457200" cy="457200"/>
            <a:chOff x="1020916" y="1442088"/>
            <a:chExt cx="457200" cy="457200"/>
          </a:xfrm>
        </p:grpSpPr>
        <p:pic>
          <p:nvPicPr>
            <p:cNvPr id="1400" name="Google Shape;1400;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01" name="Google Shape;1401;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02" name="Google Shape;1402;p95"/>
          <p:cNvGrpSpPr/>
          <p:nvPr/>
        </p:nvGrpSpPr>
        <p:grpSpPr>
          <a:xfrm>
            <a:off x="902891" y="3109800"/>
            <a:ext cx="457200" cy="457200"/>
            <a:chOff x="1020916" y="1442088"/>
            <a:chExt cx="457200" cy="457200"/>
          </a:xfrm>
        </p:grpSpPr>
        <p:pic>
          <p:nvPicPr>
            <p:cNvPr id="1403" name="Google Shape;1403;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04" name="Google Shape;1404;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405" name="Google Shape;1405;p95"/>
          <p:cNvPicPr preferRelativeResize="0"/>
          <p:nvPr/>
        </p:nvPicPr>
        <p:blipFill>
          <a:blip r:embed="rId4">
            <a:alphaModFix/>
          </a:blip>
          <a:stretch>
            <a:fillRect/>
          </a:stretch>
        </p:blipFill>
        <p:spPr>
          <a:xfrm>
            <a:off x="3102808" y="3128850"/>
            <a:ext cx="396000" cy="419100"/>
          </a:xfrm>
          <a:prstGeom prst="rect">
            <a:avLst/>
          </a:prstGeom>
          <a:noFill/>
          <a:ln>
            <a:noFill/>
          </a:ln>
        </p:spPr>
      </p:pic>
      <p:pic>
        <p:nvPicPr>
          <p:cNvPr descr="&lt;math xmlns=&quot;http://www.w3.org/1998/Math/MathML&quot; display=&quot;block&quot; data-is-equatio=&quot;1&quot; data-latex=&quot;360^{\circ}+180^{\circ}&quot;&gt;&lt;msup&gt;&lt;mn&gt;360&lt;/mn&gt;&lt;mrow data-mjx-texclass=&quot;ORD&quot;&gt;&lt;mo&gt;∘&lt;/mo&gt;&lt;/mrow&gt;&lt;/msup&gt;&lt;mo&gt;+&lt;/mo&gt;&lt;msup&gt;&lt;mn&gt;180&lt;/mn&gt;&lt;mrow data-mjx-texclass=&quot;ORD&quot;&gt;&lt;mo&gt;∘&lt;/mo&gt;&lt;/mrow&gt;&lt;/msup&gt;&lt;/math&gt;" id="1406" name="Google Shape;1406;p95" title="360 degrees plus 180 degrees"/>
          <p:cNvPicPr preferRelativeResize="0"/>
          <p:nvPr/>
        </p:nvPicPr>
        <p:blipFill>
          <a:blip r:embed="rId5">
            <a:alphaModFix/>
          </a:blip>
          <a:stretch>
            <a:fillRect/>
          </a:stretch>
        </p:blipFill>
        <p:spPr>
          <a:xfrm>
            <a:off x="1395734" y="3205200"/>
            <a:ext cx="1671445" cy="266400"/>
          </a:xfrm>
          <a:prstGeom prst="rect">
            <a:avLst/>
          </a:prstGeom>
          <a:noFill/>
          <a:ln>
            <a:noFill/>
          </a:ln>
        </p:spPr>
      </p:pic>
      <p:pic>
        <p:nvPicPr>
          <p:cNvPr descr="&lt;math xmlns=&quot;http://www.w3.org/1998/Math/MathML&quot; display=&quot;block&quot; data-is-equatio=&quot;1&quot; data-latex=&quot;360^{\circ}+90^{\circ}&quot;&gt;&lt;msup&gt;&lt;mn&gt;360&lt;/mn&gt;&lt;mrow data-mjx-texclass=&quot;ORD&quot;&gt;&lt;mo&gt;∘&lt;/mo&gt;&lt;/mrow&gt;&lt;/msup&gt;&lt;mo&gt;+&lt;/mo&gt;&lt;msup&gt;&lt;mn&gt;90&lt;/mn&gt;&lt;mrow data-mjx-texclass=&quot;ORD&quot;&gt;&lt;mo&gt;∘&lt;/mo&gt;&lt;/mrow&gt;&lt;/msup&gt;&lt;/math&gt;" id="1407" name="Google Shape;1407;p95"/>
          <p:cNvPicPr preferRelativeResize="0"/>
          <p:nvPr/>
        </p:nvPicPr>
        <p:blipFill>
          <a:blip r:embed="rId6">
            <a:alphaModFix/>
          </a:blip>
          <a:stretch>
            <a:fillRect/>
          </a:stretch>
        </p:blipFill>
        <p:spPr>
          <a:xfrm>
            <a:off x="1395716" y="1728600"/>
            <a:ext cx="1488832" cy="266400"/>
          </a:xfrm>
          <a:prstGeom prst="rect">
            <a:avLst/>
          </a:prstGeom>
          <a:noFill/>
          <a:ln>
            <a:noFill/>
          </a:ln>
        </p:spPr>
      </p:pic>
      <p:pic>
        <p:nvPicPr>
          <p:cNvPr descr="&lt;math xmlns=&quot;http://www.w3.org/1998/Math/MathML&quot; display=&quot;block&quot; data-is-equatio=&quot;1&quot; data-latex=&quot;180^{\circ}+90^{\circ}&quot;&gt;&lt;msup&gt;&lt;mn&gt;180&lt;/mn&gt;&lt;mrow data-mjx-texclass=&quot;ORD&quot;&gt;&lt;mo&gt;∘&lt;/mo&gt;&lt;/mrow&gt;&lt;/msup&gt;&lt;mo&gt;+&lt;/mo&gt;&lt;msup&gt;&lt;mn&gt;90&lt;/mn&gt;&lt;mrow data-mjx-texclass=&quot;ORD&quot;&gt;&lt;mo&gt;∘&lt;/mo&gt;&lt;/mrow&gt;&lt;/msup&gt;&lt;/math&gt;" id="1408" name="Google Shape;1408;p95" title="180 degrees plus 90 degrees"/>
          <p:cNvPicPr preferRelativeResize="0"/>
          <p:nvPr/>
        </p:nvPicPr>
        <p:blipFill>
          <a:blip r:embed="rId7">
            <a:alphaModFix/>
          </a:blip>
          <a:stretch>
            <a:fillRect/>
          </a:stretch>
        </p:blipFill>
        <p:spPr>
          <a:xfrm>
            <a:off x="1395733" y="2466900"/>
            <a:ext cx="1467349" cy="266400"/>
          </a:xfrm>
          <a:prstGeom prst="rect">
            <a:avLst/>
          </a:prstGeom>
          <a:noFill/>
          <a:ln>
            <a:noFill/>
          </a:ln>
        </p:spPr>
      </p:pic>
      <p:grpSp>
        <p:nvGrpSpPr>
          <p:cNvPr id="1409" name="Google Shape;1409;p95"/>
          <p:cNvGrpSpPr/>
          <p:nvPr/>
        </p:nvGrpSpPr>
        <p:grpSpPr>
          <a:xfrm>
            <a:off x="4319991" y="1633200"/>
            <a:ext cx="457200" cy="457200"/>
            <a:chOff x="1020916" y="1442088"/>
            <a:chExt cx="457200" cy="457200"/>
          </a:xfrm>
        </p:grpSpPr>
        <p:pic>
          <p:nvPicPr>
            <p:cNvPr id="1410" name="Google Shape;1410;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11" name="Google Shape;1411;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412" name="Google Shape;1412;p95"/>
          <p:cNvGrpSpPr/>
          <p:nvPr/>
        </p:nvGrpSpPr>
        <p:grpSpPr>
          <a:xfrm>
            <a:off x="4319991" y="2371500"/>
            <a:ext cx="457200" cy="457200"/>
            <a:chOff x="1020916" y="1442088"/>
            <a:chExt cx="457200" cy="457200"/>
          </a:xfrm>
        </p:grpSpPr>
        <p:pic>
          <p:nvPicPr>
            <p:cNvPr id="1413" name="Google Shape;1413;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14" name="Google Shape;1414;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415" name="Google Shape;1415;p95"/>
          <p:cNvGrpSpPr/>
          <p:nvPr/>
        </p:nvGrpSpPr>
        <p:grpSpPr>
          <a:xfrm>
            <a:off x="4319991" y="3109800"/>
            <a:ext cx="457200" cy="457200"/>
            <a:chOff x="1020916" y="1442088"/>
            <a:chExt cx="457200" cy="457200"/>
          </a:xfrm>
        </p:grpSpPr>
        <p:pic>
          <p:nvPicPr>
            <p:cNvPr id="1416" name="Google Shape;1416;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17" name="Google Shape;1417;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f</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360^{\circ}&quot;&gt;&lt;msup&gt;&lt;mn&gt;360&lt;/mn&gt;&lt;mrow data-mjx-texclass=&quot;ORD&quot;&gt;&lt;mo&gt;∘&lt;/mo&gt;&lt;/mrow&gt;&lt;/msup&gt;&lt;/math&gt;" id="1418" name="Google Shape;1418;p95" title="360 degrees"/>
          <p:cNvPicPr preferRelativeResize="0"/>
          <p:nvPr/>
        </p:nvPicPr>
        <p:blipFill>
          <a:blip r:embed="rId8">
            <a:alphaModFix/>
          </a:blip>
          <a:stretch>
            <a:fillRect/>
          </a:stretch>
        </p:blipFill>
        <p:spPr>
          <a:xfrm>
            <a:off x="4834677" y="2466209"/>
            <a:ext cx="631188" cy="267779"/>
          </a:xfrm>
          <a:prstGeom prst="rect">
            <a:avLst/>
          </a:prstGeom>
          <a:noFill/>
          <a:ln>
            <a:noFill/>
          </a:ln>
        </p:spPr>
      </p:pic>
      <p:grpSp>
        <p:nvGrpSpPr>
          <p:cNvPr id="1419" name="Google Shape;1419;p95"/>
          <p:cNvGrpSpPr/>
          <p:nvPr/>
        </p:nvGrpSpPr>
        <p:grpSpPr>
          <a:xfrm>
            <a:off x="4319991" y="3848100"/>
            <a:ext cx="457200" cy="457200"/>
            <a:chOff x="1020916" y="1442088"/>
            <a:chExt cx="457200" cy="457200"/>
          </a:xfrm>
        </p:grpSpPr>
        <p:pic>
          <p:nvPicPr>
            <p:cNvPr id="1420" name="Google Shape;1420;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21" name="Google Shape;1421;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g</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180^{\circ}&quot;&gt;&lt;msup&gt;&lt;mn&gt;180&lt;/mn&gt;&lt;mrow data-mjx-texclass=&quot;ORD&quot;&gt;&lt;mo&gt;∘&lt;/mo&gt;&lt;/mrow&gt;&lt;/msup&gt;&lt;/math&gt;" id="1422" name="Google Shape;1422;p95" title="180 degrees"/>
          <p:cNvPicPr preferRelativeResize="0"/>
          <p:nvPr/>
        </p:nvPicPr>
        <p:blipFill>
          <a:blip r:embed="rId9">
            <a:alphaModFix/>
          </a:blip>
          <a:stretch>
            <a:fillRect/>
          </a:stretch>
        </p:blipFill>
        <p:spPr>
          <a:xfrm>
            <a:off x="4834683" y="1728600"/>
            <a:ext cx="601303" cy="266400"/>
          </a:xfrm>
          <a:prstGeom prst="rect">
            <a:avLst/>
          </a:prstGeom>
          <a:noFill/>
          <a:ln>
            <a:noFill/>
          </a:ln>
        </p:spPr>
      </p:pic>
      <p:pic>
        <p:nvPicPr>
          <p:cNvPr descr="&lt;math xmlns=&quot;http://www.w3.org/1998/Math/MathML&quot; display=&quot;block&quot; data-is-equatio=&quot;1&quot; data-latex=&quot;450^{\circ}&quot;&gt;&lt;msup&gt;&lt;mn&gt;450&lt;/mn&gt;&lt;mrow data-mjx-texclass=&quot;ORD&quot;&gt;&lt;mo&gt;∘&lt;/mo&gt;&lt;/mrow&gt;&lt;/msup&gt;&lt;/math&gt;" id="1423" name="Google Shape;1423;p95" title="450 degrees"/>
          <p:cNvPicPr preferRelativeResize="0"/>
          <p:nvPr/>
        </p:nvPicPr>
        <p:blipFill>
          <a:blip r:embed="rId10">
            <a:alphaModFix/>
          </a:blip>
          <a:stretch>
            <a:fillRect/>
          </a:stretch>
        </p:blipFill>
        <p:spPr>
          <a:xfrm>
            <a:off x="4815646" y="3205200"/>
            <a:ext cx="639360" cy="266400"/>
          </a:xfrm>
          <a:prstGeom prst="rect">
            <a:avLst/>
          </a:prstGeom>
          <a:noFill/>
          <a:ln>
            <a:noFill/>
          </a:ln>
        </p:spPr>
      </p:pic>
      <p:pic>
        <p:nvPicPr>
          <p:cNvPr descr="&lt;math xmlns=&quot;http://www.w3.org/1998/Math/MathML&quot; display=&quot;block&quot; data-is-equatio=&quot;1&quot; data-latex=&quot;540^{\circ}&quot;&gt;&lt;msup&gt;&lt;mn&gt;540&lt;/mn&gt;&lt;mrow data-mjx-texclass=&quot;ORD&quot;&gt;&lt;mo&gt;∘&lt;/mo&gt;&lt;/mrow&gt;&lt;/msup&gt;&lt;/math&gt;" id="1424" name="Google Shape;1424;p95" title="540 degrees"/>
          <p:cNvPicPr preferRelativeResize="0"/>
          <p:nvPr/>
        </p:nvPicPr>
        <p:blipFill>
          <a:blip r:embed="rId11">
            <a:alphaModFix/>
          </a:blip>
          <a:stretch>
            <a:fillRect/>
          </a:stretch>
        </p:blipFill>
        <p:spPr>
          <a:xfrm>
            <a:off x="4817333" y="3942800"/>
            <a:ext cx="636000" cy="266400"/>
          </a:xfrm>
          <a:prstGeom prst="rect">
            <a:avLst/>
          </a:prstGeom>
          <a:noFill/>
          <a:ln>
            <a:noFill/>
          </a:ln>
        </p:spPr>
      </p:pic>
      <p:pic>
        <p:nvPicPr>
          <p:cNvPr id="1425" name="Google Shape;1425;p95"/>
          <p:cNvPicPr preferRelativeResize="0"/>
          <p:nvPr/>
        </p:nvPicPr>
        <p:blipFill>
          <a:blip r:embed="rId4">
            <a:alphaModFix/>
          </a:blip>
          <a:stretch>
            <a:fillRect/>
          </a:stretch>
        </p:blipFill>
        <p:spPr>
          <a:xfrm>
            <a:off x="5493458" y="38671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size of a rotation can be any number (not just multiples of     </a:t>
            </a:r>
            <a:r>
              <a:rPr lang="en-GB" sz="1000"/>
              <a:t> </a:t>
            </a:r>
            <a:r>
              <a:rPr lang="en-GB" sz="1800"/>
              <a:t>).</a:t>
            </a:r>
            <a:endParaRPr sz="1800"/>
          </a:p>
          <a:p>
            <a:pPr indent="0" lvl="0" marL="0" rtl="0" algn="l">
              <a:spcBef>
                <a:spcPts val="1000"/>
              </a:spcBef>
              <a:spcAft>
                <a:spcPts val="1000"/>
              </a:spcAft>
              <a:buNone/>
            </a:pPr>
            <a:r>
              <a:rPr lang="en-GB" sz="1800"/>
              <a:t>If you need to estimate the size of the rotation, you can compare how much it has been rotated to the more familiar: </a:t>
            </a:r>
            <a:endParaRPr sz="1800"/>
          </a:p>
        </p:txBody>
      </p:sp>
      <p:sp>
        <p:nvSpPr>
          <p:cNvPr id="1431" name="Google Shape;1431;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pic>
        <p:nvPicPr>
          <p:cNvPr descr="&lt;math xmlns=&quot;http://www.w3.org/1998/Math/MathML&quot; display=&quot;block&quot; data-is-equatio=&quot;1&quot; data-latex=&quot;90^{\circ}&quot;&gt;&lt;msup&gt;&lt;mn&gt;90&lt;/mn&gt;&lt;mrow data-mjx-texclass=&quot;ORD&quot;&gt;&lt;mo&gt;∘&lt;/mo&gt;&lt;/mrow&gt;&lt;/msup&gt;&lt;/math&gt;" id="1432" name="Google Shape;1432;p96" title="90 degrees"/>
          <p:cNvPicPr preferRelativeResize="0"/>
          <p:nvPr/>
        </p:nvPicPr>
        <p:blipFill>
          <a:blip r:embed="rId3">
            <a:alphaModFix/>
          </a:blip>
          <a:stretch>
            <a:fillRect/>
          </a:stretch>
        </p:blipFill>
        <p:spPr>
          <a:xfrm>
            <a:off x="7246599" y="824057"/>
            <a:ext cx="270481" cy="160000"/>
          </a:xfrm>
          <a:prstGeom prst="rect">
            <a:avLst/>
          </a:prstGeom>
          <a:noFill/>
          <a:ln>
            <a:noFill/>
          </a:ln>
        </p:spPr>
      </p:pic>
      <p:sp>
        <p:nvSpPr>
          <p:cNvPr id="1433" name="Google Shape;1433;p96"/>
          <p:cNvSpPr txBox="1"/>
          <p:nvPr/>
        </p:nvSpPr>
        <p:spPr>
          <a:xfrm>
            <a:off x="3853931" y="1858960"/>
            <a:ext cx="3000000" cy="9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three-quarter turn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chemeClr val="dk1"/>
                </a:solidFill>
                <a:latin typeface="Lexend"/>
                <a:ea typeface="Lexend"/>
                <a:cs typeface="Lexend"/>
                <a:sym typeface="Lexend"/>
              </a:rPr>
              <a:t>      full turn</a:t>
            </a:r>
            <a:endParaRPr sz="1800">
              <a:solidFill>
                <a:schemeClr val="dk1"/>
              </a:solidFill>
              <a:latin typeface="Lexend"/>
              <a:ea typeface="Lexend"/>
              <a:cs typeface="Lexend"/>
              <a:sym typeface="Lexend"/>
            </a:endParaRPr>
          </a:p>
        </p:txBody>
      </p:sp>
      <p:grpSp>
        <p:nvGrpSpPr>
          <p:cNvPr id="1434" name="Google Shape;1434;p96"/>
          <p:cNvGrpSpPr/>
          <p:nvPr/>
        </p:nvGrpSpPr>
        <p:grpSpPr>
          <a:xfrm>
            <a:off x="4672650" y="3484739"/>
            <a:ext cx="1447990" cy="967276"/>
            <a:chOff x="3529050" y="3418495"/>
            <a:chExt cx="1447990" cy="967276"/>
          </a:xfrm>
        </p:grpSpPr>
        <p:sp>
          <p:nvSpPr>
            <p:cNvPr id="1435" name="Google Shape;1435;p96"/>
            <p:cNvSpPr/>
            <p:nvPr/>
          </p:nvSpPr>
          <p:spPr>
            <a:xfrm>
              <a:off x="3529050" y="3418495"/>
              <a:ext cx="436200" cy="908700"/>
            </a:xfrm>
            <a:prstGeom prst="upArrow">
              <a:avLst>
                <a:gd fmla="val 50000" name="adj1"/>
                <a:gd fmla="val 32004"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96"/>
            <p:cNvSpPr/>
            <p:nvPr/>
          </p:nvSpPr>
          <p:spPr>
            <a:xfrm rot="8100000">
              <a:off x="4283469" y="3455884"/>
              <a:ext cx="436143" cy="908774"/>
            </a:xfrm>
            <a:prstGeom prst="upArrow">
              <a:avLst>
                <a:gd fmla="val 50000" name="adj1"/>
                <a:gd fmla="val 32004"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7" name="Google Shape;1437;p96"/>
          <p:cNvSpPr txBox="1"/>
          <p:nvPr/>
        </p:nvSpPr>
        <p:spPr>
          <a:xfrm>
            <a:off x="324002" y="3522225"/>
            <a:ext cx="22623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By roughly how many degrees has this object been rotated?</a:t>
            </a:r>
            <a:endParaRPr sz="1800">
              <a:solidFill>
                <a:schemeClr val="dk1"/>
              </a:solidFill>
              <a:latin typeface="Lexend"/>
              <a:ea typeface="Lexend"/>
              <a:cs typeface="Lexend"/>
              <a:sym typeface="Lexend"/>
            </a:endParaRPr>
          </a:p>
        </p:txBody>
      </p:sp>
      <p:sp>
        <p:nvSpPr>
          <p:cNvPr id="1438" name="Google Shape;1438;p96"/>
          <p:cNvSpPr txBox="1"/>
          <p:nvPr/>
        </p:nvSpPr>
        <p:spPr>
          <a:xfrm>
            <a:off x="4529111" y="4468344"/>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439" name="Google Shape;1439;p96"/>
          <p:cNvSpPr txBox="1"/>
          <p:nvPr/>
        </p:nvSpPr>
        <p:spPr>
          <a:xfrm>
            <a:off x="5548326" y="3558394"/>
            <a:ext cx="9696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grpSp>
        <p:nvGrpSpPr>
          <p:cNvPr id="1440" name="Google Shape;1440;p96"/>
          <p:cNvGrpSpPr/>
          <p:nvPr/>
        </p:nvGrpSpPr>
        <p:grpSpPr>
          <a:xfrm>
            <a:off x="2378900" y="3484739"/>
            <a:ext cx="1344908" cy="908700"/>
            <a:chOff x="3529050" y="3418495"/>
            <a:chExt cx="1344908" cy="908700"/>
          </a:xfrm>
        </p:grpSpPr>
        <p:sp>
          <p:nvSpPr>
            <p:cNvPr id="1441" name="Google Shape;1441;p96"/>
            <p:cNvSpPr/>
            <p:nvPr/>
          </p:nvSpPr>
          <p:spPr>
            <a:xfrm>
              <a:off x="3529050" y="3418495"/>
              <a:ext cx="436200" cy="908700"/>
            </a:xfrm>
            <a:prstGeom prst="upArrow">
              <a:avLst>
                <a:gd fmla="val 50000" name="adj1"/>
                <a:gd fmla="val 32004"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96"/>
            <p:cNvSpPr/>
            <p:nvPr/>
          </p:nvSpPr>
          <p:spPr>
            <a:xfrm rot="5400000">
              <a:off x="4201508" y="3446316"/>
              <a:ext cx="436200" cy="908700"/>
            </a:xfrm>
            <a:prstGeom prst="upArrow">
              <a:avLst>
                <a:gd fmla="val 50000" name="adj1"/>
                <a:gd fmla="val 32004"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96"/>
          <p:cNvGrpSpPr/>
          <p:nvPr/>
        </p:nvGrpSpPr>
        <p:grpSpPr>
          <a:xfrm>
            <a:off x="7096525" y="3484739"/>
            <a:ext cx="1108658" cy="946171"/>
            <a:chOff x="3529050" y="3418495"/>
            <a:chExt cx="1108658" cy="946171"/>
          </a:xfrm>
        </p:grpSpPr>
        <p:sp>
          <p:nvSpPr>
            <p:cNvPr id="1444" name="Google Shape;1444;p96"/>
            <p:cNvSpPr/>
            <p:nvPr/>
          </p:nvSpPr>
          <p:spPr>
            <a:xfrm>
              <a:off x="3529050" y="3418495"/>
              <a:ext cx="436200" cy="908700"/>
            </a:xfrm>
            <a:prstGeom prst="upArrow">
              <a:avLst>
                <a:gd fmla="val 50000" name="adj1"/>
                <a:gd fmla="val 32004"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96"/>
            <p:cNvSpPr/>
            <p:nvPr/>
          </p:nvSpPr>
          <p:spPr>
            <a:xfrm rot="10800000">
              <a:off x="4201508" y="3455966"/>
              <a:ext cx="436200" cy="908700"/>
            </a:xfrm>
            <a:prstGeom prst="upArrow">
              <a:avLst>
                <a:gd fmla="val 50000" name="adj1"/>
                <a:gd fmla="val 32004"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t;math xmlns=&quot;http://www.w3.org/1998/Math/MathML&quot; display=&quot;block&quot; data-is-equatio=&quot;1&quot; data-latex=&quot;90^{\circ}&quot;&gt;&lt;msup&gt;&lt;mn&gt;90&lt;/mn&gt;&lt;mrow data-mjx-texclass=&quot;ORD&quot;&gt;&lt;mo&gt;∘&lt;/mo&gt;&lt;/mrow&gt;&lt;/msup&gt;&lt;/math&gt;" id="1446" name="Google Shape;1446;p96" title="90 degrees"/>
          <p:cNvPicPr preferRelativeResize="0"/>
          <p:nvPr/>
        </p:nvPicPr>
        <p:blipFill>
          <a:blip r:embed="rId3">
            <a:alphaModFix/>
          </a:blip>
          <a:stretch>
            <a:fillRect/>
          </a:stretch>
        </p:blipFill>
        <p:spPr>
          <a:xfrm>
            <a:off x="2829006" y="3277088"/>
            <a:ext cx="270481" cy="160000"/>
          </a:xfrm>
          <a:prstGeom prst="rect">
            <a:avLst/>
          </a:prstGeom>
          <a:noFill/>
          <a:ln>
            <a:noFill/>
          </a:ln>
        </p:spPr>
      </p:pic>
      <p:pic>
        <p:nvPicPr>
          <p:cNvPr descr="&lt;math xmlns=&quot;http://www.w3.org/1998/Math/MathML&quot; display=&quot;block&quot; data-is-equatio=&quot;1&quot; data-latex=&quot;180^{\circ}&quot;&gt;&lt;msup&gt;&lt;mn&gt;180&lt;/mn&gt;&lt;mrow data-mjx-texclass=&quot;ORD&quot;&gt;&lt;mo&gt;∘&lt;/mo&gt;&lt;/mrow&gt;&lt;/msup&gt;&lt;/math&gt;" id="1447" name="Google Shape;1447;p96" title="180 degrees"/>
          <p:cNvPicPr preferRelativeResize="0"/>
          <p:nvPr/>
        </p:nvPicPr>
        <p:blipFill>
          <a:blip r:embed="rId4">
            <a:alphaModFix/>
          </a:blip>
          <a:stretch>
            <a:fillRect/>
          </a:stretch>
        </p:blipFill>
        <p:spPr>
          <a:xfrm>
            <a:off x="7469893" y="3277089"/>
            <a:ext cx="361911" cy="160000"/>
          </a:xfrm>
          <a:prstGeom prst="rect">
            <a:avLst/>
          </a:prstGeom>
          <a:noFill/>
          <a:ln>
            <a:noFill/>
          </a:ln>
        </p:spPr>
      </p:pic>
      <p:sp>
        <p:nvSpPr>
          <p:cNvPr id="1448" name="Google Shape;1448;p96"/>
          <p:cNvSpPr txBox="1"/>
          <p:nvPr/>
        </p:nvSpPr>
        <p:spPr>
          <a:xfrm>
            <a:off x="4654738" y="3073726"/>
            <a:ext cx="1066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Around </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135^{\circ}&quot;&gt;&lt;msup&gt;&lt;mn&gt;135&lt;/mn&gt;&lt;mrow data-mjx-texclass=&quot;ORD&quot;&gt;&lt;mo&gt;∘&lt;/mo&gt;&lt;/mrow&gt;&lt;/msup&gt;&lt;/math&gt;" id="1449" name="Google Shape;1449;p96" title="135 degrees"/>
          <p:cNvPicPr preferRelativeResize="0"/>
          <p:nvPr/>
        </p:nvPicPr>
        <p:blipFill>
          <a:blip r:embed="rId5">
            <a:alphaModFix/>
          </a:blip>
          <a:stretch>
            <a:fillRect/>
          </a:stretch>
        </p:blipFill>
        <p:spPr>
          <a:xfrm>
            <a:off x="5626563" y="3207476"/>
            <a:ext cx="426550" cy="188600"/>
          </a:xfrm>
          <a:prstGeom prst="rect">
            <a:avLst/>
          </a:prstGeom>
          <a:noFill/>
          <a:ln>
            <a:noFill/>
          </a:ln>
        </p:spPr>
      </p:pic>
      <p:sp>
        <p:nvSpPr>
          <p:cNvPr id="1450" name="Google Shape;1450;p96"/>
          <p:cNvSpPr txBox="1"/>
          <p:nvPr/>
        </p:nvSpPr>
        <p:spPr>
          <a:xfrm>
            <a:off x="324007" y="1858950"/>
            <a:ext cx="3000000" cy="90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      quarter turn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800">
                <a:solidFill>
                  <a:schemeClr val="dk1"/>
                </a:solidFill>
                <a:latin typeface="Lexend"/>
                <a:ea typeface="Lexend"/>
                <a:cs typeface="Lexend"/>
                <a:sym typeface="Lexend"/>
              </a:rPr>
              <a:t>      half turn</a:t>
            </a:r>
            <a:endParaRPr/>
          </a:p>
        </p:txBody>
      </p:sp>
      <p:sp>
        <p:nvSpPr>
          <p:cNvPr id="1451" name="Google Shape;1451;p96"/>
          <p:cNvSpPr txBox="1"/>
          <p:nvPr/>
        </p:nvSpPr>
        <p:spPr>
          <a:xfrm>
            <a:off x="2174787" y="2858550"/>
            <a:ext cx="15789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q</a:t>
            </a:r>
            <a:r>
              <a:rPr lang="en-GB" sz="1800">
                <a:solidFill>
                  <a:schemeClr val="dk1"/>
                </a:solidFill>
                <a:latin typeface="Lexend"/>
                <a:ea typeface="Lexend"/>
                <a:cs typeface="Lexend"/>
                <a:sym typeface="Lexend"/>
              </a:rPr>
              <a:t>uarter turn</a:t>
            </a:r>
            <a:endParaRPr sz="1800">
              <a:solidFill>
                <a:schemeClr val="dk1"/>
              </a:solidFill>
              <a:latin typeface="Lexend"/>
              <a:ea typeface="Lexend"/>
              <a:cs typeface="Lexend"/>
              <a:sym typeface="Lexend"/>
            </a:endParaRPr>
          </a:p>
        </p:txBody>
      </p:sp>
      <p:sp>
        <p:nvSpPr>
          <p:cNvPr id="1452" name="Google Shape;1452;p96"/>
          <p:cNvSpPr txBox="1"/>
          <p:nvPr/>
        </p:nvSpPr>
        <p:spPr>
          <a:xfrm>
            <a:off x="6861412" y="2858550"/>
            <a:ext cx="15789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GB" sz="1800">
                <a:solidFill>
                  <a:schemeClr val="dk1"/>
                </a:solidFill>
                <a:latin typeface="Lexend"/>
                <a:ea typeface="Lexend"/>
                <a:cs typeface="Lexend"/>
                <a:sym typeface="Lexend"/>
              </a:rPr>
              <a:t>half</a:t>
            </a:r>
            <a:r>
              <a:rPr lang="en-GB" sz="1800">
                <a:solidFill>
                  <a:schemeClr val="dk1"/>
                </a:solidFill>
                <a:latin typeface="Lexend"/>
                <a:ea typeface="Lexend"/>
                <a:cs typeface="Lexend"/>
                <a:sym typeface="Lexend"/>
              </a:rPr>
              <a:t> turn</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430">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4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Which of these values is a sensible estimate for the size of this anti-clockwise rotation?</a:t>
            </a:r>
            <a:endParaRPr/>
          </a:p>
        </p:txBody>
      </p:sp>
      <p:sp>
        <p:nvSpPr>
          <p:cNvPr id="1458" name="Google Shape;1458;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Describing more complex sizes of rotations</a:t>
            </a:r>
            <a:endParaRPr/>
          </a:p>
        </p:txBody>
      </p:sp>
      <p:grpSp>
        <p:nvGrpSpPr>
          <p:cNvPr id="1459" name="Google Shape;1459;p97"/>
          <p:cNvGrpSpPr/>
          <p:nvPr/>
        </p:nvGrpSpPr>
        <p:grpSpPr>
          <a:xfrm>
            <a:off x="902891" y="2014200"/>
            <a:ext cx="457200" cy="457200"/>
            <a:chOff x="1020916" y="1442088"/>
            <a:chExt cx="457200" cy="457200"/>
          </a:xfrm>
        </p:grpSpPr>
        <p:pic>
          <p:nvPicPr>
            <p:cNvPr id="1460" name="Google Shape;1460;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1" name="Google Shape;1461;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62" name="Google Shape;1462;p97"/>
          <p:cNvGrpSpPr/>
          <p:nvPr/>
        </p:nvGrpSpPr>
        <p:grpSpPr>
          <a:xfrm>
            <a:off x="902891" y="2752500"/>
            <a:ext cx="457200" cy="457200"/>
            <a:chOff x="1020916" y="1442088"/>
            <a:chExt cx="457200" cy="457200"/>
          </a:xfrm>
        </p:grpSpPr>
        <p:pic>
          <p:nvPicPr>
            <p:cNvPr id="1463" name="Google Shape;1463;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4" name="Google Shape;1464;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65" name="Google Shape;1465;p97"/>
          <p:cNvGrpSpPr/>
          <p:nvPr/>
        </p:nvGrpSpPr>
        <p:grpSpPr>
          <a:xfrm>
            <a:off x="902891" y="3490800"/>
            <a:ext cx="457200" cy="457200"/>
            <a:chOff x="1020916" y="1442088"/>
            <a:chExt cx="457200" cy="457200"/>
          </a:xfrm>
        </p:grpSpPr>
        <p:pic>
          <p:nvPicPr>
            <p:cNvPr id="1466" name="Google Shape;1466;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67" name="Google Shape;1467;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468" name="Google Shape;1468;p97"/>
          <p:cNvPicPr preferRelativeResize="0"/>
          <p:nvPr/>
        </p:nvPicPr>
        <p:blipFill>
          <a:blip r:embed="rId4">
            <a:alphaModFix/>
          </a:blip>
          <a:stretch>
            <a:fillRect/>
          </a:stretch>
        </p:blipFill>
        <p:spPr>
          <a:xfrm>
            <a:off x="2254208" y="2033250"/>
            <a:ext cx="396000" cy="419100"/>
          </a:xfrm>
          <a:prstGeom prst="rect">
            <a:avLst/>
          </a:prstGeom>
          <a:noFill/>
          <a:ln>
            <a:noFill/>
          </a:ln>
        </p:spPr>
      </p:pic>
      <p:pic>
        <p:nvPicPr>
          <p:cNvPr id="1469" name="Google Shape;1469;p97"/>
          <p:cNvPicPr preferRelativeResize="0"/>
          <p:nvPr/>
        </p:nvPicPr>
        <p:blipFill rotWithShape="1">
          <a:blip r:embed="rId5">
            <a:alphaModFix/>
          </a:blip>
          <a:srcRect b="59597" l="75706" r="13951" t="27330"/>
          <a:stretch/>
        </p:blipFill>
        <p:spPr>
          <a:xfrm flipH="1">
            <a:off x="3952154" y="1457300"/>
            <a:ext cx="871848" cy="1114450"/>
          </a:xfrm>
          <a:prstGeom prst="rect">
            <a:avLst/>
          </a:prstGeom>
          <a:noFill/>
          <a:ln>
            <a:noFill/>
          </a:ln>
        </p:spPr>
      </p:pic>
      <p:pic>
        <p:nvPicPr>
          <p:cNvPr id="1470" name="Google Shape;1470;p97"/>
          <p:cNvPicPr preferRelativeResize="0"/>
          <p:nvPr/>
        </p:nvPicPr>
        <p:blipFill rotWithShape="1">
          <a:blip r:embed="rId6">
            <a:alphaModFix/>
          </a:blip>
          <a:srcRect b="0" l="0" r="69103" t="0"/>
          <a:stretch/>
        </p:blipFill>
        <p:spPr>
          <a:xfrm>
            <a:off x="4572000" y="1595425"/>
            <a:ext cx="1530300" cy="1952625"/>
          </a:xfrm>
          <a:prstGeom prst="rect">
            <a:avLst/>
          </a:prstGeom>
          <a:noFill/>
          <a:ln>
            <a:noFill/>
          </a:ln>
        </p:spPr>
      </p:pic>
      <p:pic>
        <p:nvPicPr>
          <p:cNvPr id="1471" name="Google Shape;1471;p97"/>
          <p:cNvPicPr preferRelativeResize="0"/>
          <p:nvPr/>
        </p:nvPicPr>
        <p:blipFill rotWithShape="1">
          <a:blip r:embed="rId6">
            <a:alphaModFix/>
          </a:blip>
          <a:srcRect b="0" l="65233" r="0" t="0"/>
          <a:stretch/>
        </p:blipFill>
        <p:spPr>
          <a:xfrm>
            <a:off x="6729350" y="1595438"/>
            <a:ext cx="1722026" cy="1952625"/>
          </a:xfrm>
          <a:prstGeom prst="rect">
            <a:avLst/>
          </a:prstGeom>
          <a:noFill/>
          <a:ln>
            <a:noFill/>
          </a:ln>
        </p:spPr>
      </p:pic>
      <p:sp>
        <p:nvSpPr>
          <p:cNvPr id="1472" name="Google Shape;1472;p97"/>
          <p:cNvSpPr txBox="1"/>
          <p:nvPr/>
        </p:nvSpPr>
        <p:spPr>
          <a:xfrm>
            <a:off x="4872432" y="3505825"/>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473" name="Google Shape;1473;p97"/>
          <p:cNvSpPr txBox="1"/>
          <p:nvPr/>
        </p:nvSpPr>
        <p:spPr>
          <a:xfrm>
            <a:off x="6937417" y="3171750"/>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135^{\circ}&quot;&gt;&lt;msup&gt;&lt;mn&gt;135&lt;/mn&gt;&lt;mrow data-mjx-texclass=&quot;ORD&quot;&gt;&lt;mo&gt;∘&lt;/mo&gt;&lt;/mrow&gt;&lt;/msup&gt;&lt;/math&gt;" id="1474" name="Google Shape;1474;p97" title="135 degrees"/>
          <p:cNvPicPr preferRelativeResize="0"/>
          <p:nvPr/>
        </p:nvPicPr>
        <p:blipFill>
          <a:blip r:embed="rId7">
            <a:alphaModFix/>
          </a:blip>
          <a:stretch>
            <a:fillRect/>
          </a:stretch>
        </p:blipFill>
        <p:spPr>
          <a:xfrm>
            <a:off x="1576525" y="3536337"/>
            <a:ext cx="677675" cy="299588"/>
          </a:xfrm>
          <a:prstGeom prst="rect">
            <a:avLst/>
          </a:prstGeom>
          <a:noFill/>
          <a:ln>
            <a:noFill/>
          </a:ln>
        </p:spPr>
      </p:pic>
      <p:pic>
        <p:nvPicPr>
          <p:cNvPr descr="&lt;math xmlns=&quot;http://www.w3.org/1998/Math/MathML&quot; display=&quot;block&quot; data-is-equatio=&quot;1&quot; data-latex=&quot;90^{\circ}&quot;&gt;&lt;msup&gt;&lt;mn&gt;90&lt;/mn&gt;&lt;mrow data-mjx-texclass=&quot;ORD&quot;&gt;&lt;mo&gt;∘&lt;/mo&gt;&lt;/mrow&gt;&lt;/msup&gt;&lt;/math&gt;" id="1475" name="Google Shape;1475;p97" title="90 degrees"/>
          <p:cNvPicPr preferRelativeResize="0"/>
          <p:nvPr/>
        </p:nvPicPr>
        <p:blipFill>
          <a:blip r:embed="rId8">
            <a:alphaModFix/>
          </a:blip>
          <a:stretch>
            <a:fillRect/>
          </a:stretch>
        </p:blipFill>
        <p:spPr>
          <a:xfrm>
            <a:off x="1576535" y="2831312"/>
            <a:ext cx="506473" cy="299588"/>
          </a:xfrm>
          <a:prstGeom prst="rect">
            <a:avLst/>
          </a:prstGeom>
          <a:noFill/>
          <a:ln>
            <a:noFill/>
          </a:ln>
        </p:spPr>
      </p:pic>
      <p:pic>
        <p:nvPicPr>
          <p:cNvPr descr="&lt;math xmlns=&quot;http://www.w3.org/1998/Math/MathML&quot; display=&quot;block&quot; data-is-equatio=&quot;1&quot; data-latex=&quot;45^{\circ}&quot;&gt;&lt;msup&gt;&lt;mn&gt;45&lt;/mn&gt;&lt;mrow data-mjx-texclass=&quot;ORD&quot;&gt;&lt;mo&gt;∘&lt;/mo&gt;&lt;/mrow&gt;&lt;/msup&gt;&lt;/math&gt;" id="1476" name="Google Shape;1476;p97" title="45 degrees"/>
          <p:cNvPicPr preferRelativeResize="0"/>
          <p:nvPr/>
        </p:nvPicPr>
        <p:blipFill>
          <a:blip r:embed="rId9">
            <a:alphaModFix/>
          </a:blip>
          <a:stretch>
            <a:fillRect/>
          </a:stretch>
        </p:blipFill>
        <p:spPr>
          <a:xfrm>
            <a:off x="1576517" y="2093000"/>
            <a:ext cx="513606" cy="299588"/>
          </a:xfrm>
          <a:prstGeom prst="rect">
            <a:avLst/>
          </a:prstGeom>
          <a:noFill/>
          <a:ln>
            <a:noFill/>
          </a:ln>
        </p:spPr>
      </p:pic>
      <p:grpSp>
        <p:nvGrpSpPr>
          <p:cNvPr id="1477" name="Google Shape;1477;p97"/>
          <p:cNvGrpSpPr/>
          <p:nvPr/>
        </p:nvGrpSpPr>
        <p:grpSpPr>
          <a:xfrm>
            <a:off x="902891" y="4229100"/>
            <a:ext cx="457200" cy="457200"/>
            <a:chOff x="1020916" y="1442088"/>
            <a:chExt cx="457200" cy="457200"/>
          </a:xfrm>
        </p:grpSpPr>
        <p:pic>
          <p:nvPicPr>
            <p:cNvPr id="1478" name="Google Shape;1478;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9" name="Google Shape;1479;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315^{\circ}&quot;&gt;&lt;msup&gt;&lt;mn&gt;315&lt;/mn&gt;&lt;mrow data-mjx-texclass=&quot;ORD&quot;&gt;&lt;mo&gt;∘&lt;/mo&gt;&lt;/mrow&gt;&lt;/msup&gt;&lt;/math&gt;" id="1480" name="Google Shape;1480;p97" title="315 degrees"/>
          <p:cNvPicPr preferRelativeResize="0"/>
          <p:nvPr/>
        </p:nvPicPr>
        <p:blipFill>
          <a:blip r:embed="rId10">
            <a:alphaModFix/>
          </a:blip>
          <a:stretch>
            <a:fillRect/>
          </a:stretch>
        </p:blipFill>
        <p:spPr>
          <a:xfrm>
            <a:off x="1576526" y="4307900"/>
            <a:ext cx="706200" cy="299600"/>
          </a:xfrm>
          <a:prstGeom prst="rect">
            <a:avLst/>
          </a:prstGeom>
          <a:noFill/>
          <a:ln>
            <a:noFill/>
          </a:ln>
        </p:spPr>
      </p:pic>
      <p:pic>
        <p:nvPicPr>
          <p:cNvPr id="1481" name="Google Shape;1481;p97"/>
          <p:cNvPicPr preferRelativeResize="0"/>
          <p:nvPr/>
        </p:nvPicPr>
        <p:blipFill rotWithShape="1">
          <a:blip r:embed="rId6">
            <a:alphaModFix/>
          </a:blip>
          <a:srcRect b="0" l="0" r="69103" t="0"/>
          <a:stretch/>
        </p:blipFill>
        <p:spPr>
          <a:xfrm rot="-2700002">
            <a:off x="4668733" y="1530943"/>
            <a:ext cx="1530300" cy="1952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7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98"/>
          <p:cNvSpPr txBox="1"/>
          <p:nvPr>
            <p:ph idx="1" type="body"/>
          </p:nvPr>
        </p:nvSpPr>
        <p:spPr>
          <a:xfrm>
            <a:off x="628650" y="41550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one and three-quarter turns</a:t>
            </a:r>
            <a:endParaRPr sz="1800"/>
          </a:p>
        </p:txBody>
      </p:sp>
      <p:sp>
        <p:nvSpPr>
          <p:cNvPr id="1487" name="Google Shape;1487;p98"/>
          <p:cNvSpPr txBox="1"/>
          <p:nvPr>
            <p:ph idx="1" type="body"/>
          </p:nvPr>
        </p:nvSpPr>
        <p:spPr>
          <a:xfrm>
            <a:off x="628650" y="33554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between no </a:t>
            </a:r>
            <a:r>
              <a:rPr lang="en-GB" sz="1800"/>
              <a:t>rotation</a:t>
            </a:r>
            <a:r>
              <a:rPr lang="en-GB" sz="1800"/>
              <a:t> and a quarter turn</a:t>
            </a:r>
            <a:endParaRPr sz="1800"/>
          </a:p>
        </p:txBody>
      </p:sp>
      <p:sp>
        <p:nvSpPr>
          <p:cNvPr id="1488" name="Google Shape;1488;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489" name="Google Shape;1489;p98"/>
          <p:cNvSpPr txBox="1"/>
          <p:nvPr>
            <p:ph idx="1" type="body"/>
          </p:nvPr>
        </p:nvSpPr>
        <p:spPr>
          <a:xfrm>
            <a:off x="324000" y="759300"/>
            <a:ext cx="7135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Write down the calculation and single </a:t>
            </a:r>
            <a:r>
              <a:rPr lang="en-GB" sz="1800"/>
              <a:t>rotation</a:t>
            </a:r>
            <a:r>
              <a:rPr lang="en-GB" sz="1800"/>
              <a:t> angle in degrees to each of the following statements.</a:t>
            </a:r>
            <a:endParaRPr sz="1800"/>
          </a:p>
        </p:txBody>
      </p:sp>
      <p:sp>
        <p:nvSpPr>
          <p:cNvPr id="1490" name="Google Shape;1490;p98"/>
          <p:cNvSpPr txBox="1"/>
          <p:nvPr>
            <p:ph idx="1" type="body"/>
          </p:nvPr>
        </p:nvSpPr>
        <p:spPr>
          <a:xfrm>
            <a:off x="628650" y="17562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between a quarter turn and a half turn</a:t>
            </a:r>
            <a:endParaRPr sz="1800"/>
          </a:p>
        </p:txBody>
      </p:sp>
      <p:sp>
        <p:nvSpPr>
          <p:cNvPr id="1491" name="Google Shape;1491;p98"/>
          <p:cNvSpPr txBox="1"/>
          <p:nvPr>
            <p:ph idx="1" type="body"/>
          </p:nvPr>
        </p:nvSpPr>
        <p:spPr>
          <a:xfrm>
            <a:off x="628650" y="25558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two full turns</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99"/>
          <p:cNvSpPr txBox="1"/>
          <p:nvPr>
            <p:ph idx="1" type="body"/>
          </p:nvPr>
        </p:nvSpPr>
        <p:spPr>
          <a:xfrm>
            <a:off x="324000" y="23043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0"/>
              </a:spcAft>
              <a:buNone/>
            </a:pPr>
            <a:r>
              <a:rPr lang="en-GB" sz="1800"/>
              <a:t>The object has been rotated 100° clockwise.</a:t>
            </a:r>
            <a:endParaRPr sz="1800"/>
          </a:p>
          <a:p>
            <a:pPr indent="0" lvl="0" marL="0" rtl="0" algn="l">
              <a:spcBef>
                <a:spcPts val="1000"/>
              </a:spcBef>
              <a:spcAft>
                <a:spcPts val="1000"/>
              </a:spcAft>
              <a:buNone/>
            </a:pPr>
            <a:r>
              <a:t/>
            </a:r>
            <a:endParaRPr sz="1800"/>
          </a:p>
        </p:txBody>
      </p:sp>
      <p:sp>
        <p:nvSpPr>
          <p:cNvPr id="1497" name="Google Shape;1497;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498" name="Google Shape;1498;p99"/>
          <p:cNvSpPr txBox="1"/>
          <p:nvPr>
            <p:ph idx="1" type="body"/>
          </p:nvPr>
        </p:nvSpPr>
        <p:spPr>
          <a:xfrm>
            <a:off x="324000" y="759300"/>
            <a:ext cx="5450400" cy="118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The object has been rotated to create its image.</a:t>
            </a:r>
            <a:endParaRPr sz="1800"/>
          </a:p>
          <a:p>
            <a:pPr indent="0" lvl="0" marL="0" rtl="0" algn="l">
              <a:spcBef>
                <a:spcPts val="1000"/>
              </a:spcBef>
              <a:spcAft>
                <a:spcPts val="1000"/>
              </a:spcAft>
              <a:buNone/>
            </a:pPr>
            <a:r>
              <a:rPr lang="en-GB" sz="1800"/>
              <a:t>Complete the second sentence that could describe this transformation.</a:t>
            </a:r>
            <a:endParaRPr sz="1800"/>
          </a:p>
        </p:txBody>
      </p:sp>
      <p:sp>
        <p:nvSpPr>
          <p:cNvPr id="1499" name="Google Shape;1499;p99"/>
          <p:cNvSpPr/>
          <p:nvPr/>
        </p:nvSpPr>
        <p:spPr>
          <a:xfrm>
            <a:off x="6261838" y="810000"/>
            <a:ext cx="628800" cy="1305900"/>
          </a:xfrm>
          <a:prstGeom prst="upArrow">
            <a:avLst>
              <a:gd fmla="val 50000" name="adj1"/>
              <a:gd fmla="val 24181"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99"/>
          <p:cNvSpPr txBox="1"/>
          <p:nvPr/>
        </p:nvSpPr>
        <p:spPr>
          <a:xfrm>
            <a:off x="6211900" y="21159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501" name="Google Shape;1501;p99"/>
          <p:cNvSpPr txBox="1"/>
          <p:nvPr/>
        </p:nvSpPr>
        <p:spPr>
          <a:xfrm>
            <a:off x="7519280" y="2115900"/>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502" name="Google Shape;1502;p99"/>
          <p:cNvSpPr txBox="1"/>
          <p:nvPr>
            <p:ph idx="1" type="body"/>
          </p:nvPr>
        </p:nvSpPr>
        <p:spPr>
          <a:xfrm>
            <a:off x="324000" y="37464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None/>
            </a:pPr>
            <a:r>
              <a:rPr lang="en-GB" sz="1800"/>
              <a:t>The object has been rotated  </a:t>
            </a:r>
            <a:r>
              <a:rPr lang="en-GB" sz="1800" u="sng"/>
              <a:t>                 </a:t>
            </a:r>
            <a:r>
              <a:rPr lang="en-GB" sz="1800"/>
              <a:t>  anti-clockwise.</a:t>
            </a:r>
            <a:endParaRPr sz="1800"/>
          </a:p>
          <a:p>
            <a:pPr indent="0" lvl="0" marL="0" rtl="0" algn="l">
              <a:spcBef>
                <a:spcPts val="1000"/>
              </a:spcBef>
              <a:spcAft>
                <a:spcPts val="1000"/>
              </a:spcAft>
              <a:buNone/>
            </a:pPr>
            <a:r>
              <a:t/>
            </a:r>
            <a:endParaRPr sz="1800"/>
          </a:p>
        </p:txBody>
      </p:sp>
      <p:sp>
        <p:nvSpPr>
          <p:cNvPr id="1503" name="Google Shape;1503;p99"/>
          <p:cNvSpPr/>
          <p:nvPr/>
        </p:nvSpPr>
        <p:spPr>
          <a:xfrm rot="6000099">
            <a:off x="7857895" y="810069"/>
            <a:ext cx="628755" cy="1305945"/>
          </a:xfrm>
          <a:prstGeom prst="upArrow">
            <a:avLst>
              <a:gd fmla="val 50000" name="adj1"/>
              <a:gd fmla="val 2418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00"/>
          <p:cNvSpPr txBox="1"/>
          <p:nvPr>
            <p:ph idx="1" type="body"/>
          </p:nvPr>
        </p:nvSpPr>
        <p:spPr>
          <a:xfrm>
            <a:off x="324000" y="2304325"/>
            <a:ext cx="59328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140° </a:t>
            </a:r>
            <a:r>
              <a:rPr lang="en-GB" sz="1800" u="sng"/>
              <a:t>                               </a:t>
            </a:r>
            <a:r>
              <a:rPr lang="en-GB" sz="1800"/>
              <a:t> .</a:t>
            </a:r>
            <a:endParaRPr sz="1800"/>
          </a:p>
        </p:txBody>
      </p:sp>
      <p:sp>
        <p:nvSpPr>
          <p:cNvPr id="1509" name="Google Shape;1509;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10" name="Google Shape;1510;p100"/>
          <p:cNvSpPr txBox="1"/>
          <p:nvPr>
            <p:ph idx="1" type="body"/>
          </p:nvPr>
        </p:nvSpPr>
        <p:spPr>
          <a:xfrm>
            <a:off x="324000" y="759300"/>
            <a:ext cx="5450400" cy="122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The object has been rotated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
        <p:nvSpPr>
          <p:cNvPr id="1511" name="Google Shape;1511;p100"/>
          <p:cNvSpPr/>
          <p:nvPr/>
        </p:nvSpPr>
        <p:spPr>
          <a:xfrm>
            <a:off x="6439163" y="1114800"/>
            <a:ext cx="426600" cy="1305900"/>
          </a:xfrm>
          <a:prstGeom prst="pentagon">
            <a:avLst>
              <a:gd fmla="val 105146" name="hf"/>
              <a:gd fmla="val 110557" name="vf"/>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00"/>
          <p:cNvSpPr txBox="1"/>
          <p:nvPr/>
        </p:nvSpPr>
        <p:spPr>
          <a:xfrm>
            <a:off x="6288100" y="24207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513" name="Google Shape;1513;p100"/>
          <p:cNvSpPr txBox="1"/>
          <p:nvPr/>
        </p:nvSpPr>
        <p:spPr>
          <a:xfrm>
            <a:off x="7595480" y="2420700"/>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514" name="Google Shape;1514;p100"/>
          <p:cNvSpPr txBox="1"/>
          <p:nvPr>
            <p:ph idx="1" type="body"/>
          </p:nvPr>
        </p:nvSpPr>
        <p:spPr>
          <a:xfrm>
            <a:off x="324000" y="37464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None/>
            </a:pPr>
            <a:r>
              <a:rPr lang="en-GB" sz="1800"/>
              <a:t>The object has been rotated  </a:t>
            </a:r>
            <a:r>
              <a:rPr lang="en-GB" sz="1800" u="sng"/>
              <a:t>                 </a:t>
            </a:r>
            <a:r>
              <a:rPr lang="en-GB" sz="1800"/>
              <a:t>  </a:t>
            </a:r>
            <a:r>
              <a:rPr lang="en-GB" sz="1800" u="sng"/>
              <a:t>                               </a:t>
            </a:r>
            <a:r>
              <a:rPr lang="en-GB" sz="1800"/>
              <a:t> </a:t>
            </a:r>
            <a:r>
              <a:rPr lang="en-GB" sz="1800"/>
              <a:t>.</a:t>
            </a:r>
            <a:endParaRPr sz="1800"/>
          </a:p>
          <a:p>
            <a:pPr indent="0" lvl="0" marL="0" rtl="0" algn="l">
              <a:spcBef>
                <a:spcPts val="1000"/>
              </a:spcBef>
              <a:spcAft>
                <a:spcPts val="1000"/>
              </a:spcAft>
              <a:buNone/>
            </a:pPr>
            <a:r>
              <a:t/>
            </a:r>
            <a:endParaRPr sz="1800"/>
          </a:p>
        </p:txBody>
      </p:sp>
      <p:sp>
        <p:nvSpPr>
          <p:cNvPr id="1515" name="Google Shape;1515;p100"/>
          <p:cNvSpPr/>
          <p:nvPr/>
        </p:nvSpPr>
        <p:spPr>
          <a:xfrm rot="-8100000">
            <a:off x="8034928" y="1114739"/>
            <a:ext cx="426810" cy="1305885"/>
          </a:xfrm>
          <a:prstGeom prst="pentagon">
            <a:avLst>
              <a:gd fmla="val 105146" name="hf"/>
              <a:gd fmla="val 110557" name="vf"/>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01"/>
          <p:cNvSpPr txBox="1"/>
          <p:nvPr>
            <p:ph idx="1" type="body"/>
          </p:nvPr>
        </p:nvSpPr>
        <p:spPr>
          <a:xfrm>
            <a:off x="324000" y="789300"/>
            <a:ext cx="7135200" cy="769800"/>
          </a:xfrm>
          <a:prstGeom prst="rect">
            <a:avLst/>
          </a:prstGeom>
        </p:spPr>
        <p:txBody>
          <a:bodyPr anchorCtr="0" anchor="t" bIns="0" lIns="0" spcFirstLastPara="1" rIns="0" wrap="square" tIns="0">
            <a:noAutofit/>
          </a:bodyPr>
          <a:lstStyle/>
          <a:p>
            <a:pPr indent="0" lvl="0" marL="0" rtl="0" algn="l">
              <a:spcBef>
                <a:spcPts val="0"/>
              </a:spcBef>
              <a:spcAft>
                <a:spcPts val="2500"/>
              </a:spcAft>
              <a:buNone/>
            </a:pPr>
            <a:r>
              <a:rPr lang="en-GB" sz="1800"/>
              <a:t>4</a:t>
            </a:r>
            <a:r>
              <a:rPr lang="en-GB" sz="1800"/>
              <a:t>) This arrow will be rotated anti-clockwise through two full turns and three-quarters of another</a:t>
            </a:r>
            <a:r>
              <a:rPr lang="en-GB" sz="1800"/>
              <a:t>.</a:t>
            </a:r>
            <a:endParaRPr sz="1800"/>
          </a:p>
        </p:txBody>
      </p:sp>
      <p:sp>
        <p:nvSpPr>
          <p:cNvPr id="1521" name="Google Shape;1521;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22" name="Google Shape;1522;p101"/>
          <p:cNvSpPr/>
          <p:nvPr/>
        </p:nvSpPr>
        <p:spPr>
          <a:xfrm rot="10800000">
            <a:off x="7351491" y="1267200"/>
            <a:ext cx="1434600" cy="2979300"/>
          </a:xfrm>
          <a:prstGeom prst="upArrow">
            <a:avLst>
              <a:gd fmla="val 50000" name="adj1"/>
              <a:gd fmla="val 78030"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01"/>
          <p:cNvSpPr txBox="1"/>
          <p:nvPr/>
        </p:nvSpPr>
        <p:spPr>
          <a:xfrm>
            <a:off x="324000" y="1768950"/>
            <a:ext cx="6910500" cy="288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a) Which direction will the image of the arrow be pointing?</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b) In total, how many degrees will the arrow have rotated?</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c) Give a description of a different anti-clockwise rotation that would result in the arrow pointing in the same direction.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d) Give a description of a clockwise rotation that would result in the arrow pointing in the same direction.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29" name="Google Shape;1529;p102"/>
          <p:cNvSpPr txBox="1"/>
          <p:nvPr>
            <p:ph idx="1" type="body"/>
          </p:nvPr>
        </p:nvSpPr>
        <p:spPr>
          <a:xfrm>
            <a:off x="628650" y="32792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between no </a:t>
            </a:r>
            <a:r>
              <a:rPr lang="en-GB" sz="1800"/>
              <a:t>rotation</a:t>
            </a:r>
            <a:r>
              <a:rPr lang="en-GB" sz="1800"/>
              <a:t> and a quarter turn</a:t>
            </a:r>
            <a:endParaRPr sz="1800"/>
          </a:p>
        </p:txBody>
      </p:sp>
      <p:sp>
        <p:nvSpPr>
          <p:cNvPr id="1530" name="Google Shape;1530;p102"/>
          <p:cNvSpPr txBox="1"/>
          <p:nvPr>
            <p:ph idx="1" type="body"/>
          </p:nvPr>
        </p:nvSpPr>
        <p:spPr>
          <a:xfrm>
            <a:off x="628650" y="16800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between a quarter turn and a half turn</a:t>
            </a:r>
            <a:endParaRPr sz="1800"/>
          </a:p>
        </p:txBody>
      </p:sp>
      <p:sp>
        <p:nvSpPr>
          <p:cNvPr id="1531" name="Google Shape;1531;p102"/>
          <p:cNvSpPr txBox="1"/>
          <p:nvPr>
            <p:ph idx="1" type="body"/>
          </p:nvPr>
        </p:nvSpPr>
        <p:spPr>
          <a:xfrm>
            <a:off x="628650" y="24796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two full turns</a:t>
            </a:r>
            <a:endParaRPr sz="1800"/>
          </a:p>
        </p:txBody>
      </p:sp>
      <p:sp>
        <p:nvSpPr>
          <p:cNvPr id="1532" name="Google Shape;1532;p102"/>
          <p:cNvSpPr txBox="1"/>
          <p:nvPr>
            <p:ph idx="1" type="body"/>
          </p:nvPr>
        </p:nvSpPr>
        <p:spPr>
          <a:xfrm>
            <a:off x="1072825" y="2019250"/>
            <a:ext cx="7747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between 90° and 180°  =  135°, or any number between 90° and 180°.</a:t>
            </a:r>
            <a:endParaRPr sz="2000">
              <a:latin typeface="Kalam"/>
              <a:ea typeface="Kalam"/>
              <a:cs typeface="Kalam"/>
              <a:sym typeface="Kalam"/>
            </a:endParaRPr>
          </a:p>
        </p:txBody>
      </p:sp>
      <p:sp>
        <p:nvSpPr>
          <p:cNvPr id="1533" name="Google Shape;1533;p102"/>
          <p:cNvSpPr txBox="1"/>
          <p:nvPr>
            <p:ph idx="1" type="body"/>
          </p:nvPr>
        </p:nvSpPr>
        <p:spPr>
          <a:xfrm>
            <a:off x="1072825" y="3614350"/>
            <a:ext cx="7279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between 0° and 90°  =  45°</a:t>
            </a:r>
            <a:r>
              <a:rPr lang="en-GB" sz="2000">
                <a:latin typeface="Kalam"/>
                <a:ea typeface="Kalam"/>
                <a:cs typeface="Kalam"/>
                <a:sym typeface="Kalam"/>
              </a:rPr>
              <a:t>, or any number between 0° and 90°.</a:t>
            </a:r>
            <a:endParaRPr sz="2000">
              <a:latin typeface="Kalam"/>
              <a:ea typeface="Kalam"/>
              <a:cs typeface="Kalam"/>
              <a:sym typeface="Kalam"/>
            </a:endParaRPr>
          </a:p>
        </p:txBody>
      </p:sp>
      <p:sp>
        <p:nvSpPr>
          <p:cNvPr id="1534" name="Google Shape;1534;p102"/>
          <p:cNvSpPr txBox="1"/>
          <p:nvPr>
            <p:ph idx="1" type="body"/>
          </p:nvPr>
        </p:nvSpPr>
        <p:spPr>
          <a:xfrm>
            <a:off x="1072825" y="2816808"/>
            <a:ext cx="4654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360°  +  360°  =  720°</a:t>
            </a:r>
            <a:endParaRPr sz="2000">
              <a:latin typeface="Kalam"/>
              <a:ea typeface="Kalam"/>
              <a:cs typeface="Kalam"/>
              <a:sym typeface="Kalam"/>
            </a:endParaRPr>
          </a:p>
        </p:txBody>
      </p:sp>
      <p:sp>
        <p:nvSpPr>
          <p:cNvPr id="1535" name="Google Shape;1535;p102"/>
          <p:cNvSpPr txBox="1"/>
          <p:nvPr>
            <p:ph idx="1" type="body"/>
          </p:nvPr>
        </p:nvSpPr>
        <p:spPr>
          <a:xfrm>
            <a:off x="1072825" y="4411900"/>
            <a:ext cx="4654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360°  +  270°  =  630°</a:t>
            </a:r>
            <a:endParaRPr sz="2000">
              <a:latin typeface="Kalam"/>
              <a:ea typeface="Kalam"/>
              <a:cs typeface="Kalam"/>
              <a:sym typeface="Kalam"/>
            </a:endParaRPr>
          </a:p>
        </p:txBody>
      </p:sp>
      <p:sp>
        <p:nvSpPr>
          <p:cNvPr id="1536" name="Google Shape;1536;p102"/>
          <p:cNvSpPr txBox="1"/>
          <p:nvPr>
            <p:ph idx="1" type="body"/>
          </p:nvPr>
        </p:nvSpPr>
        <p:spPr>
          <a:xfrm>
            <a:off x="628650" y="4078800"/>
            <a:ext cx="8191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one and three-quarter turns</a:t>
            </a:r>
            <a:endParaRPr sz="1800"/>
          </a:p>
        </p:txBody>
      </p:sp>
      <p:sp>
        <p:nvSpPr>
          <p:cNvPr id="1537" name="Google Shape;1537;p102"/>
          <p:cNvSpPr txBox="1"/>
          <p:nvPr>
            <p:ph idx="1" type="body"/>
          </p:nvPr>
        </p:nvSpPr>
        <p:spPr>
          <a:xfrm>
            <a:off x="324000" y="759300"/>
            <a:ext cx="71352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Write down the calculation and single </a:t>
            </a:r>
            <a:r>
              <a:rPr lang="en-GB" sz="1800"/>
              <a:t>rotation</a:t>
            </a:r>
            <a:r>
              <a:rPr lang="en-GB" sz="1800"/>
              <a:t> angle in degrees to each of the following statements.</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43" name="Google Shape;1543;p103"/>
          <p:cNvSpPr/>
          <p:nvPr/>
        </p:nvSpPr>
        <p:spPr>
          <a:xfrm>
            <a:off x="6261838" y="810000"/>
            <a:ext cx="628800" cy="1305900"/>
          </a:xfrm>
          <a:prstGeom prst="upArrow">
            <a:avLst>
              <a:gd fmla="val 50000" name="adj1"/>
              <a:gd fmla="val 24181"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03"/>
          <p:cNvSpPr txBox="1"/>
          <p:nvPr/>
        </p:nvSpPr>
        <p:spPr>
          <a:xfrm>
            <a:off x="6211900" y="21159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545" name="Google Shape;1545;p103"/>
          <p:cNvSpPr txBox="1"/>
          <p:nvPr/>
        </p:nvSpPr>
        <p:spPr>
          <a:xfrm>
            <a:off x="7519280" y="2115900"/>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546" name="Google Shape;1546;p103"/>
          <p:cNvSpPr txBox="1"/>
          <p:nvPr>
            <p:ph idx="1" type="body"/>
          </p:nvPr>
        </p:nvSpPr>
        <p:spPr>
          <a:xfrm>
            <a:off x="324000" y="37464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None/>
            </a:pPr>
            <a:r>
              <a:rPr lang="en-GB" sz="1800"/>
              <a:t>The object has been rotated                     anti-clockwise.</a:t>
            </a:r>
            <a:endParaRPr sz="1800"/>
          </a:p>
          <a:p>
            <a:pPr indent="0" lvl="0" marL="0" rtl="0" algn="l">
              <a:spcBef>
                <a:spcPts val="1000"/>
              </a:spcBef>
              <a:spcAft>
                <a:spcPts val="1000"/>
              </a:spcAft>
              <a:buNone/>
            </a:pPr>
            <a:r>
              <a:t/>
            </a:r>
            <a:endParaRPr sz="1800"/>
          </a:p>
        </p:txBody>
      </p:sp>
      <p:sp>
        <p:nvSpPr>
          <p:cNvPr id="1547" name="Google Shape;1547;p103"/>
          <p:cNvSpPr/>
          <p:nvPr/>
        </p:nvSpPr>
        <p:spPr>
          <a:xfrm rot="6000099">
            <a:off x="7857895" y="810069"/>
            <a:ext cx="628755" cy="1305945"/>
          </a:xfrm>
          <a:prstGeom prst="upArrow">
            <a:avLst>
              <a:gd fmla="val 50000" name="adj1"/>
              <a:gd fmla="val 24181" name="adj2"/>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03"/>
          <p:cNvSpPr txBox="1"/>
          <p:nvPr>
            <p:ph idx="1" type="body"/>
          </p:nvPr>
        </p:nvSpPr>
        <p:spPr>
          <a:xfrm>
            <a:off x="324000" y="759300"/>
            <a:ext cx="56310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The object has been rotated to create its image.</a:t>
            </a:r>
            <a:endParaRPr sz="1800"/>
          </a:p>
          <a:p>
            <a:pPr indent="0" lvl="0" marL="0" rtl="0" algn="l">
              <a:spcBef>
                <a:spcPts val="1000"/>
              </a:spcBef>
              <a:spcAft>
                <a:spcPts val="1000"/>
              </a:spcAft>
              <a:buNone/>
            </a:pPr>
            <a:r>
              <a:rPr lang="en-GB" sz="1800"/>
              <a:t>Complete the second sentence that could describe this transformation.</a:t>
            </a:r>
            <a:endParaRPr sz="1800"/>
          </a:p>
        </p:txBody>
      </p:sp>
      <p:sp>
        <p:nvSpPr>
          <p:cNvPr id="1549" name="Google Shape;1549;p103"/>
          <p:cNvSpPr txBox="1"/>
          <p:nvPr>
            <p:ph idx="1" type="body"/>
          </p:nvPr>
        </p:nvSpPr>
        <p:spPr>
          <a:xfrm>
            <a:off x="3566325" y="4128082"/>
            <a:ext cx="10833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260°</a:t>
            </a:r>
            <a:endParaRPr sz="1800">
              <a:latin typeface="Kalam"/>
              <a:ea typeface="Kalam"/>
              <a:cs typeface="Kalam"/>
              <a:sym typeface="Kalam"/>
            </a:endParaRPr>
          </a:p>
        </p:txBody>
      </p:sp>
      <p:sp>
        <p:nvSpPr>
          <p:cNvPr id="1550" name="Google Shape;1550;p103"/>
          <p:cNvSpPr txBox="1"/>
          <p:nvPr>
            <p:ph idx="1" type="body"/>
          </p:nvPr>
        </p:nvSpPr>
        <p:spPr>
          <a:xfrm>
            <a:off x="324000" y="23043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0"/>
              </a:spcAft>
              <a:buNone/>
            </a:pPr>
            <a:r>
              <a:rPr lang="en-GB" sz="1800"/>
              <a:t>The object has been rotated 100° clockwise.</a:t>
            </a:r>
            <a:endParaRPr sz="1800"/>
          </a:p>
          <a:p>
            <a:pPr indent="0" lvl="0" marL="0" rtl="0" algn="l">
              <a:spcBef>
                <a:spcPts val="1000"/>
              </a:spcBef>
              <a:spcAft>
                <a:spcPts val="1000"/>
              </a:spcAft>
              <a:buNone/>
            </a:pPr>
            <a:r>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104"/>
          <p:cNvSpPr txBox="1"/>
          <p:nvPr>
            <p:ph idx="1" type="body"/>
          </p:nvPr>
        </p:nvSpPr>
        <p:spPr>
          <a:xfrm>
            <a:off x="324000" y="2304319"/>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1:</a:t>
            </a:r>
            <a:endParaRPr sz="1800"/>
          </a:p>
          <a:p>
            <a:pPr indent="0" lvl="0" marL="0" rtl="0" algn="l">
              <a:spcBef>
                <a:spcPts val="1000"/>
              </a:spcBef>
              <a:spcAft>
                <a:spcPts val="1000"/>
              </a:spcAft>
              <a:buNone/>
            </a:pPr>
            <a:r>
              <a:rPr lang="en-GB" sz="1800"/>
              <a:t>The object has been rotated 140°                                 .</a:t>
            </a:r>
            <a:endParaRPr sz="1800"/>
          </a:p>
        </p:txBody>
      </p:sp>
      <p:sp>
        <p:nvSpPr>
          <p:cNvPr id="1556" name="Google Shape;1556;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57" name="Google Shape;1557;p104"/>
          <p:cNvSpPr txBox="1"/>
          <p:nvPr>
            <p:ph idx="1" type="body"/>
          </p:nvPr>
        </p:nvSpPr>
        <p:spPr>
          <a:xfrm>
            <a:off x="324000" y="3746444"/>
            <a:ext cx="85011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Possible Statement 2:</a:t>
            </a:r>
            <a:endParaRPr sz="1800"/>
          </a:p>
          <a:p>
            <a:pPr indent="0" lvl="0" marL="0" rtl="0" algn="l">
              <a:spcBef>
                <a:spcPts val="1000"/>
              </a:spcBef>
              <a:spcAft>
                <a:spcPts val="0"/>
              </a:spcAft>
              <a:buNone/>
            </a:pPr>
            <a:r>
              <a:rPr lang="en-GB" sz="1800"/>
              <a:t>The object has been rotated                                                     .</a:t>
            </a:r>
            <a:endParaRPr sz="1800"/>
          </a:p>
          <a:p>
            <a:pPr indent="0" lvl="0" marL="0" rtl="0" algn="l">
              <a:spcBef>
                <a:spcPts val="1000"/>
              </a:spcBef>
              <a:spcAft>
                <a:spcPts val="1000"/>
              </a:spcAft>
              <a:buNone/>
            </a:pPr>
            <a:r>
              <a:t/>
            </a:r>
            <a:endParaRPr sz="1800"/>
          </a:p>
        </p:txBody>
      </p:sp>
      <p:sp>
        <p:nvSpPr>
          <p:cNvPr id="1558" name="Google Shape;1558;p104"/>
          <p:cNvSpPr txBox="1"/>
          <p:nvPr>
            <p:ph idx="1" type="body"/>
          </p:nvPr>
        </p:nvSpPr>
        <p:spPr>
          <a:xfrm>
            <a:off x="324000" y="759300"/>
            <a:ext cx="5631000" cy="10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The object has been rotated to create its image.</a:t>
            </a:r>
            <a:endParaRPr sz="1800"/>
          </a:p>
          <a:p>
            <a:pPr indent="0" lvl="0" marL="0" rtl="0" algn="l">
              <a:spcBef>
                <a:spcPts val="1000"/>
              </a:spcBef>
              <a:spcAft>
                <a:spcPts val="1000"/>
              </a:spcAft>
              <a:buNone/>
            </a:pPr>
            <a:r>
              <a:rPr lang="en-GB" sz="1800"/>
              <a:t>Complete the two sentences that could describe this transformation.</a:t>
            </a:r>
            <a:endParaRPr sz="1800"/>
          </a:p>
        </p:txBody>
      </p:sp>
      <p:sp>
        <p:nvSpPr>
          <p:cNvPr id="1559" name="Google Shape;1559;p104"/>
          <p:cNvSpPr txBox="1"/>
          <p:nvPr>
            <p:ph idx="1" type="body"/>
          </p:nvPr>
        </p:nvSpPr>
        <p:spPr>
          <a:xfrm>
            <a:off x="4082750" y="2698407"/>
            <a:ext cx="19626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anti-clockwise</a:t>
            </a:r>
            <a:endParaRPr sz="1800">
              <a:latin typeface="Kalam"/>
              <a:ea typeface="Kalam"/>
              <a:cs typeface="Kalam"/>
              <a:sym typeface="Kalam"/>
            </a:endParaRPr>
          </a:p>
        </p:txBody>
      </p:sp>
      <p:sp>
        <p:nvSpPr>
          <p:cNvPr id="1560" name="Google Shape;1560;p104"/>
          <p:cNvSpPr txBox="1"/>
          <p:nvPr>
            <p:ph idx="1" type="body"/>
          </p:nvPr>
        </p:nvSpPr>
        <p:spPr>
          <a:xfrm>
            <a:off x="3575772" y="4128082"/>
            <a:ext cx="10716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220°</a:t>
            </a:r>
            <a:endParaRPr sz="1800">
              <a:solidFill>
                <a:srgbClr val="000000"/>
              </a:solidFill>
              <a:latin typeface="Kalam"/>
              <a:ea typeface="Kalam"/>
              <a:cs typeface="Kalam"/>
              <a:sym typeface="Kalam"/>
            </a:endParaRPr>
          </a:p>
        </p:txBody>
      </p:sp>
      <p:sp>
        <p:nvSpPr>
          <p:cNvPr id="1561" name="Google Shape;1561;p104"/>
          <p:cNvSpPr txBox="1"/>
          <p:nvPr>
            <p:ph idx="1" type="body"/>
          </p:nvPr>
        </p:nvSpPr>
        <p:spPr>
          <a:xfrm>
            <a:off x="4793100" y="4128082"/>
            <a:ext cx="1962600" cy="337200"/>
          </a:xfrm>
          <a:prstGeom prst="rect">
            <a:avLst/>
          </a:prstGeom>
        </p:spPr>
        <p:txBody>
          <a:bodyPr anchorCtr="0" anchor="b" bIns="0" lIns="0" spcFirstLastPara="1" rIns="0" wrap="square" tIns="0">
            <a:noAutofit/>
          </a:bodyPr>
          <a:lstStyle/>
          <a:p>
            <a:pPr indent="0" lvl="0" marL="0" rtl="0" algn="ctr">
              <a:lnSpc>
                <a:spcPct val="100000"/>
              </a:lnSpc>
              <a:spcBef>
                <a:spcPts val="0"/>
              </a:spcBef>
              <a:spcAft>
                <a:spcPts val="0"/>
              </a:spcAft>
              <a:buNone/>
            </a:pPr>
            <a:r>
              <a:rPr lang="en-GB" sz="1800">
                <a:solidFill>
                  <a:srgbClr val="000000"/>
                </a:solidFill>
                <a:latin typeface="Kalam"/>
                <a:ea typeface="Kalam"/>
                <a:cs typeface="Kalam"/>
                <a:sym typeface="Kalam"/>
              </a:rPr>
              <a:t>clockwise</a:t>
            </a:r>
            <a:endParaRPr sz="1800">
              <a:latin typeface="Kalam"/>
              <a:ea typeface="Kalam"/>
              <a:cs typeface="Kalam"/>
              <a:sym typeface="Kalam"/>
            </a:endParaRPr>
          </a:p>
        </p:txBody>
      </p:sp>
      <p:sp>
        <p:nvSpPr>
          <p:cNvPr id="1562" name="Google Shape;1562;p104"/>
          <p:cNvSpPr/>
          <p:nvPr/>
        </p:nvSpPr>
        <p:spPr>
          <a:xfrm>
            <a:off x="6439163" y="1114800"/>
            <a:ext cx="426600" cy="1305900"/>
          </a:xfrm>
          <a:prstGeom prst="pentagon">
            <a:avLst>
              <a:gd fmla="val 105146" name="hf"/>
              <a:gd fmla="val 110557" name="vf"/>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04"/>
          <p:cNvSpPr txBox="1"/>
          <p:nvPr/>
        </p:nvSpPr>
        <p:spPr>
          <a:xfrm>
            <a:off x="6288100" y="2420700"/>
            <a:ext cx="7287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object</a:t>
            </a:r>
            <a:endParaRPr sz="1800">
              <a:solidFill>
                <a:srgbClr val="000000"/>
              </a:solidFill>
              <a:latin typeface="Lexend"/>
              <a:ea typeface="Lexend"/>
              <a:cs typeface="Lexend"/>
              <a:sym typeface="Lexend"/>
            </a:endParaRPr>
          </a:p>
        </p:txBody>
      </p:sp>
      <p:sp>
        <p:nvSpPr>
          <p:cNvPr id="1564" name="Google Shape;1564;p104"/>
          <p:cNvSpPr txBox="1"/>
          <p:nvPr/>
        </p:nvSpPr>
        <p:spPr>
          <a:xfrm>
            <a:off x="7595480" y="2420700"/>
            <a:ext cx="1305900" cy="360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1800">
                <a:solidFill>
                  <a:srgbClr val="000000"/>
                </a:solidFill>
                <a:latin typeface="Lexend"/>
                <a:ea typeface="Lexend"/>
                <a:cs typeface="Lexend"/>
                <a:sym typeface="Lexend"/>
              </a:rPr>
              <a:t>image</a:t>
            </a:r>
            <a:endParaRPr sz="1800">
              <a:solidFill>
                <a:srgbClr val="000000"/>
              </a:solidFill>
              <a:latin typeface="Lexend"/>
              <a:ea typeface="Lexend"/>
              <a:cs typeface="Lexend"/>
              <a:sym typeface="Lexend"/>
            </a:endParaRPr>
          </a:p>
        </p:txBody>
      </p:sp>
      <p:sp>
        <p:nvSpPr>
          <p:cNvPr id="1565" name="Google Shape;1565;p104"/>
          <p:cNvSpPr/>
          <p:nvPr/>
        </p:nvSpPr>
        <p:spPr>
          <a:xfrm rot="-8100000">
            <a:off x="8034928" y="1114739"/>
            <a:ext cx="426810" cy="1305885"/>
          </a:xfrm>
          <a:prstGeom prst="pentagon">
            <a:avLst>
              <a:gd fmla="val 105146" name="hf"/>
              <a:gd fmla="val 110557" name="vf"/>
            </a:avLst>
          </a:prstGeom>
          <a:solidFill>
            <a:srgbClr val="F3EEFB"/>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05"/>
          <p:cNvSpPr txBox="1"/>
          <p:nvPr>
            <p:ph idx="1" type="body"/>
          </p:nvPr>
        </p:nvSpPr>
        <p:spPr>
          <a:xfrm>
            <a:off x="324000" y="789300"/>
            <a:ext cx="7223400" cy="769800"/>
          </a:xfrm>
          <a:prstGeom prst="rect">
            <a:avLst/>
          </a:prstGeom>
        </p:spPr>
        <p:txBody>
          <a:bodyPr anchorCtr="0" anchor="t" bIns="0" lIns="0" spcFirstLastPara="1" rIns="0" wrap="square" tIns="0">
            <a:noAutofit/>
          </a:bodyPr>
          <a:lstStyle/>
          <a:p>
            <a:pPr indent="0" lvl="0" marL="0" rtl="0" algn="l">
              <a:spcBef>
                <a:spcPts val="0"/>
              </a:spcBef>
              <a:spcAft>
                <a:spcPts val="2500"/>
              </a:spcAft>
              <a:buNone/>
            </a:pPr>
            <a:r>
              <a:rPr lang="en-GB" sz="1800"/>
              <a:t>4) This arrow will be rotated anti-clockwise through two full turns and then three-quarters of another.</a:t>
            </a:r>
            <a:endParaRPr sz="1800"/>
          </a:p>
        </p:txBody>
      </p:sp>
      <p:sp>
        <p:nvSpPr>
          <p:cNvPr id="1571" name="Google Shape;1571;p105"/>
          <p:cNvSpPr txBox="1"/>
          <p:nvPr/>
        </p:nvSpPr>
        <p:spPr>
          <a:xfrm>
            <a:off x="324000" y="1684425"/>
            <a:ext cx="6910500" cy="227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a) Which direction will the image of the arrow be pointing?</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6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b) In total, how many degrees will the arrow have rotated?</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6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chemeClr val="dk1"/>
              </a:solidFill>
              <a:latin typeface="Lexend"/>
              <a:ea typeface="Lexend"/>
              <a:cs typeface="Lexend"/>
              <a:sym typeface="Lexend"/>
            </a:endParaRPr>
          </a:p>
        </p:txBody>
      </p:sp>
      <p:sp>
        <p:nvSpPr>
          <p:cNvPr id="1572" name="Google Shape;1572;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73" name="Google Shape;1573;p105"/>
          <p:cNvSpPr txBox="1"/>
          <p:nvPr>
            <p:ph idx="1" type="body"/>
          </p:nvPr>
        </p:nvSpPr>
        <p:spPr>
          <a:xfrm>
            <a:off x="1297450" y="2250350"/>
            <a:ext cx="3468000" cy="3372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GB" sz="1800">
                <a:solidFill>
                  <a:srgbClr val="000000"/>
                </a:solidFill>
                <a:latin typeface="Kalam"/>
                <a:ea typeface="Kalam"/>
                <a:cs typeface="Kalam"/>
                <a:sym typeface="Kalam"/>
              </a:rPr>
              <a:t>It will be facing left.</a:t>
            </a:r>
            <a:endParaRPr sz="1800">
              <a:latin typeface="Kalam"/>
              <a:ea typeface="Kalam"/>
              <a:cs typeface="Kalam"/>
              <a:sym typeface="Kalam"/>
            </a:endParaRPr>
          </a:p>
        </p:txBody>
      </p:sp>
      <p:sp>
        <p:nvSpPr>
          <p:cNvPr id="1574" name="Google Shape;1574;p105"/>
          <p:cNvSpPr txBox="1"/>
          <p:nvPr>
            <p:ph idx="1" type="body"/>
          </p:nvPr>
        </p:nvSpPr>
        <p:spPr>
          <a:xfrm>
            <a:off x="1486650" y="3278800"/>
            <a:ext cx="3468000" cy="3372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GB" sz="1800">
                <a:solidFill>
                  <a:srgbClr val="000000"/>
                </a:solidFill>
                <a:latin typeface="Kalam"/>
                <a:ea typeface="Kalam"/>
                <a:cs typeface="Kalam"/>
                <a:sym typeface="Kalam"/>
              </a:rPr>
              <a:t>360° + </a:t>
            </a:r>
            <a:r>
              <a:rPr lang="en-GB" sz="1800">
                <a:latin typeface="Kalam"/>
                <a:ea typeface="Kalam"/>
                <a:cs typeface="Kalam"/>
                <a:sym typeface="Kalam"/>
              </a:rPr>
              <a:t>360° + 270° = 990°</a:t>
            </a:r>
            <a:endParaRPr sz="1800">
              <a:solidFill>
                <a:srgbClr val="000000"/>
              </a:solidFill>
              <a:latin typeface="Kalam"/>
              <a:ea typeface="Kalam"/>
              <a:cs typeface="Kalam"/>
              <a:sym typeface="Kalam"/>
            </a:endParaRPr>
          </a:p>
        </p:txBody>
      </p:sp>
      <p:sp>
        <p:nvSpPr>
          <p:cNvPr id="1575" name="Google Shape;1575;p105"/>
          <p:cNvSpPr/>
          <p:nvPr/>
        </p:nvSpPr>
        <p:spPr>
          <a:xfrm rot="10800000">
            <a:off x="7351491" y="1267200"/>
            <a:ext cx="1434600" cy="2979300"/>
          </a:xfrm>
          <a:prstGeom prst="upArrow">
            <a:avLst>
              <a:gd fmla="val 50000" name="adj1"/>
              <a:gd fmla="val 78030"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06"/>
          <p:cNvSpPr txBox="1"/>
          <p:nvPr>
            <p:ph idx="1" type="body"/>
          </p:nvPr>
        </p:nvSpPr>
        <p:spPr>
          <a:xfrm>
            <a:off x="324000" y="789300"/>
            <a:ext cx="7223400" cy="769800"/>
          </a:xfrm>
          <a:prstGeom prst="rect">
            <a:avLst/>
          </a:prstGeom>
        </p:spPr>
        <p:txBody>
          <a:bodyPr anchorCtr="0" anchor="t" bIns="0" lIns="0" spcFirstLastPara="1" rIns="0" wrap="square" tIns="0">
            <a:noAutofit/>
          </a:bodyPr>
          <a:lstStyle/>
          <a:p>
            <a:pPr indent="0" lvl="0" marL="0" rtl="0" algn="l">
              <a:spcBef>
                <a:spcPts val="0"/>
              </a:spcBef>
              <a:spcAft>
                <a:spcPts val="2500"/>
              </a:spcAft>
              <a:buNone/>
            </a:pPr>
            <a:r>
              <a:rPr lang="en-GB" sz="1800"/>
              <a:t>4) This arrow will be rotated anti-clockwise through two full turns and three-quarters of another.</a:t>
            </a:r>
            <a:endParaRPr sz="1800"/>
          </a:p>
        </p:txBody>
      </p:sp>
      <p:sp>
        <p:nvSpPr>
          <p:cNvPr id="1581" name="Google Shape;1581;p106"/>
          <p:cNvSpPr txBox="1"/>
          <p:nvPr/>
        </p:nvSpPr>
        <p:spPr>
          <a:xfrm>
            <a:off x="324000" y="1533300"/>
            <a:ext cx="6910500" cy="278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c) Give a description of a different anti-clockwise rotation that would result in the arrow pointing in the same direction.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chemeClr val="dk1"/>
                </a:solidFill>
                <a:latin typeface="Lexend"/>
                <a:ea typeface="Lexend"/>
                <a:cs typeface="Lexend"/>
                <a:sym typeface="Lexend"/>
              </a:rPr>
              <a:t>d) Give a description of a clockwise rotation that would result in the arrow pointing in the same direction.</a:t>
            </a:r>
            <a:endParaRPr sz="1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chemeClr val="dk1"/>
              </a:solidFill>
              <a:latin typeface="Lexend"/>
              <a:ea typeface="Lexend"/>
              <a:cs typeface="Lexend"/>
              <a:sym typeface="Lexend"/>
            </a:endParaRPr>
          </a:p>
        </p:txBody>
      </p:sp>
      <p:sp>
        <p:nvSpPr>
          <p:cNvPr id="1582" name="Google Shape;1582;p10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Describing more complex sizes of rotations</a:t>
            </a:r>
            <a:endParaRPr/>
          </a:p>
        </p:txBody>
      </p:sp>
      <p:sp>
        <p:nvSpPr>
          <p:cNvPr id="1583" name="Google Shape;1583;p106"/>
          <p:cNvSpPr txBox="1"/>
          <p:nvPr>
            <p:ph idx="1" type="body"/>
          </p:nvPr>
        </p:nvSpPr>
        <p:spPr>
          <a:xfrm>
            <a:off x="382025" y="3900275"/>
            <a:ext cx="8043300" cy="337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Any number of full turns (including zero)</a:t>
            </a:r>
            <a:r>
              <a:rPr lang="en-GB" sz="1800">
                <a:solidFill>
                  <a:srgbClr val="000000"/>
                </a:solidFill>
                <a:latin typeface="Kalam"/>
                <a:ea typeface="Kalam"/>
                <a:cs typeface="Kalam"/>
                <a:sym typeface="Kalam"/>
              </a:rPr>
              <a:t> and one-quarter of another.</a:t>
            </a:r>
            <a:endParaRPr sz="1800">
              <a:latin typeface="Kalam"/>
              <a:ea typeface="Kalam"/>
              <a:cs typeface="Kalam"/>
              <a:sym typeface="Kalam"/>
            </a:endParaRPr>
          </a:p>
        </p:txBody>
      </p:sp>
      <p:sp>
        <p:nvSpPr>
          <p:cNvPr id="1584" name="Google Shape;1584;p106"/>
          <p:cNvSpPr txBox="1"/>
          <p:nvPr>
            <p:ph idx="1" type="body"/>
          </p:nvPr>
        </p:nvSpPr>
        <p:spPr>
          <a:xfrm>
            <a:off x="415950" y="2362800"/>
            <a:ext cx="7039500" cy="337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solidFill>
                  <a:srgbClr val="000000"/>
                </a:solidFill>
                <a:latin typeface="Kalam"/>
                <a:ea typeface="Kalam"/>
                <a:cs typeface="Kalam"/>
                <a:sym typeface="Kalam"/>
              </a:rPr>
              <a:t>Any number of full turns (including zero) and three-quarters of another.</a:t>
            </a:r>
            <a:endParaRPr sz="1800">
              <a:latin typeface="Kalam"/>
              <a:ea typeface="Kalam"/>
              <a:cs typeface="Kalam"/>
              <a:sym typeface="Kalam"/>
            </a:endParaRPr>
          </a:p>
        </p:txBody>
      </p:sp>
      <p:sp>
        <p:nvSpPr>
          <p:cNvPr id="1585" name="Google Shape;1585;p106"/>
          <p:cNvSpPr/>
          <p:nvPr/>
        </p:nvSpPr>
        <p:spPr>
          <a:xfrm rot="10800000">
            <a:off x="7351491" y="1267200"/>
            <a:ext cx="1434600" cy="2979300"/>
          </a:xfrm>
          <a:prstGeom prst="upArrow">
            <a:avLst>
              <a:gd fmla="val 50000" name="adj1"/>
              <a:gd fmla="val 78030" name="adj2"/>
            </a:avLst>
          </a:prstGeom>
          <a:solidFill>
            <a:srgbClr val="E6F2F2"/>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07"/>
          <p:cNvSpPr txBox="1"/>
          <p:nvPr>
            <p:ph idx="1" type="body"/>
          </p:nvPr>
        </p:nvSpPr>
        <p:spPr>
          <a:xfrm>
            <a:off x="324000" y="1038300"/>
            <a:ext cx="8496000" cy="301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t>Knowing that </a:t>
            </a:r>
            <a:r>
              <a:rPr lang="en-GB" sz="1900">
                <a:solidFill>
                  <a:schemeClr val="accent1"/>
                </a:solidFill>
              </a:rPr>
              <a:t>an object can be rotated in two directions</a:t>
            </a:r>
            <a:r>
              <a:rPr lang="en-GB" sz="1900"/>
              <a:t> (clockwise and anti-clockwise) is helpful for clearly defining a rotation, and solving problems about facing in compass directions (north, south, east, west).</a:t>
            </a:r>
            <a:endParaRPr sz="1900"/>
          </a:p>
          <a:p>
            <a:pPr indent="0" lvl="0" marL="0" rtl="0" algn="l">
              <a:spcBef>
                <a:spcPts val="1200"/>
              </a:spcBef>
              <a:spcAft>
                <a:spcPts val="0"/>
              </a:spcAft>
              <a:buClr>
                <a:schemeClr val="dk1"/>
              </a:buClr>
              <a:buSzPts val="1100"/>
              <a:buFont typeface="Arial"/>
              <a:buNone/>
            </a:pPr>
            <a:r>
              <a:rPr lang="en-GB" sz="1900"/>
              <a:t>Knowing that </a:t>
            </a:r>
            <a:r>
              <a:rPr lang="en-GB" sz="1900">
                <a:solidFill>
                  <a:srgbClr val="BEF2BD"/>
                </a:solidFill>
              </a:rPr>
              <a:t>an object can be rotated by different amounts</a:t>
            </a:r>
            <a:r>
              <a:rPr lang="en-GB" sz="1900"/>
              <a:t>, and that these amounts can be described both in words and using numerical angles, is essential in demonstrating that the same object can have different images and orientations when rotated by different amounts.</a:t>
            </a:r>
            <a:endParaRPr sz="1900"/>
          </a:p>
          <a:p>
            <a:pPr indent="0" lvl="0" marL="0" rtl="0" algn="l">
              <a:spcBef>
                <a:spcPts val="1200"/>
              </a:spcBef>
              <a:spcAft>
                <a:spcPts val="1200"/>
              </a:spcAft>
              <a:buNone/>
            </a:pPr>
            <a:r>
              <a:rPr lang="en-GB" sz="1900"/>
              <a:t>Knowing that </a:t>
            </a:r>
            <a:r>
              <a:rPr lang="en-GB" sz="1900">
                <a:solidFill>
                  <a:srgbClr val="BEF2BD"/>
                </a:solidFill>
              </a:rPr>
              <a:t>rotations can have any sized angle</a:t>
            </a:r>
            <a:r>
              <a:rPr lang="en-GB" sz="1900"/>
              <a:t>. Rotations are not limited to multiples of 90° and can go beyond one full turn of 360°.</a:t>
            </a:r>
            <a:endParaRPr sz="1900"/>
          </a:p>
        </p:txBody>
      </p:sp>
      <p:sp>
        <p:nvSpPr>
          <p:cNvPr id="1591" name="Google Shape;1591;p107"/>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Describing a rotation's direction and size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pic>
        <p:nvPicPr>
          <p:cNvPr id="1596" name="Google Shape;1596;p108"/>
          <p:cNvPicPr preferRelativeResize="0"/>
          <p:nvPr/>
        </p:nvPicPr>
        <p:blipFill>
          <a:blip r:embed="rId3">
            <a:alphaModFix/>
          </a:blip>
          <a:stretch>
            <a:fillRect/>
          </a:stretch>
        </p:blipFill>
        <p:spPr>
          <a:xfrm>
            <a:off x="7242100" y="3453600"/>
            <a:ext cx="652800" cy="326400"/>
          </a:xfrm>
          <a:prstGeom prst="rect">
            <a:avLst/>
          </a:prstGeom>
          <a:noFill/>
          <a:ln>
            <a:noFill/>
          </a:ln>
        </p:spPr>
      </p:pic>
      <p:sp>
        <p:nvSpPr>
          <p:cNvPr id="1597" name="Google Shape;1597;p108"/>
          <p:cNvSpPr txBox="1"/>
          <p:nvPr/>
        </p:nvSpPr>
        <p:spPr>
          <a:xfrm>
            <a:off x="661775" y="1129425"/>
            <a:ext cx="7351200" cy="235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 Oak National Academy 2023. </a:t>
            </a:r>
            <a:endParaRPr sz="1800">
              <a:solidFill>
                <a:srgbClr val="000000"/>
              </a:solidFill>
              <a:latin typeface="Lexend"/>
              <a:ea typeface="Lexend"/>
              <a:cs typeface="Lexend"/>
              <a:sym typeface="Lexend"/>
            </a:endParaRPr>
          </a:p>
          <a:p>
            <a:pPr indent="0" lvl="0" marL="0" rtl="0" algn="l">
              <a:lnSpc>
                <a:spcPct val="115000"/>
              </a:lnSpc>
              <a:spcBef>
                <a:spcPts val="0"/>
              </a:spcBef>
              <a:spcAft>
                <a:spcPts val="0"/>
              </a:spcAft>
              <a:buNone/>
            </a:pPr>
            <a:r>
              <a:t/>
            </a:r>
            <a:endParaRPr sz="1800">
              <a:solidFill>
                <a:srgbClr val="000000"/>
              </a:solidFill>
              <a:latin typeface="Lexend"/>
              <a:ea typeface="Lexend"/>
              <a:cs typeface="Lexend"/>
              <a:sym typeface="Lexend"/>
            </a:endParaRPr>
          </a:p>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Produced in partnership with Mathematics in Education and Industry </a:t>
            </a:r>
            <a:endParaRPr sz="1800">
              <a:solidFill>
                <a:srgbClr val="000000"/>
              </a:solidFill>
              <a:latin typeface="Lexend"/>
              <a:ea typeface="Lexend"/>
              <a:cs typeface="Lexend"/>
              <a:sym typeface="Lexend"/>
            </a:endParaRPr>
          </a:p>
          <a:p>
            <a:pPr indent="0" lvl="0" marL="0" rtl="0" algn="l">
              <a:lnSpc>
                <a:spcPct val="115000"/>
              </a:lnSpc>
              <a:spcBef>
                <a:spcPts val="0"/>
              </a:spcBef>
              <a:spcAft>
                <a:spcPts val="0"/>
              </a:spcAft>
              <a:buNone/>
            </a:pPr>
            <a:r>
              <a:t/>
            </a:r>
            <a:endParaRPr sz="1800">
              <a:solidFill>
                <a:srgbClr val="000000"/>
              </a:solidFill>
              <a:latin typeface="Lexend"/>
              <a:ea typeface="Lexend"/>
              <a:cs typeface="Lexend"/>
              <a:sym typeface="Lexend"/>
            </a:endParaRPr>
          </a:p>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Licensed on the </a:t>
            </a:r>
            <a:r>
              <a:rPr lang="en-GB" sz="1800" u="sng">
                <a:solidFill>
                  <a:srgbClr val="374CF1"/>
                </a:solidFill>
                <a:latin typeface="Lexend"/>
                <a:ea typeface="Lexend"/>
                <a:cs typeface="Lexend"/>
                <a:sym typeface="Lexend"/>
                <a:hlinkClick r:id="rId4">
                  <a:extLst>
                    <a:ext uri="{A12FA001-AC4F-418D-AE19-62706E023703}">
                      <ahyp:hlinkClr val="tx"/>
                    </a:ext>
                  </a:extLst>
                </a:hlinkClick>
              </a:rPr>
              <a:t>Open Government Licence v3.0</a:t>
            </a:r>
            <a:r>
              <a:rPr lang="en-GB" sz="1800">
                <a:solidFill>
                  <a:srgbClr val="000000"/>
                </a:solidFill>
                <a:latin typeface="Lexend"/>
                <a:ea typeface="Lexend"/>
                <a:cs typeface="Lexend"/>
                <a:sym typeface="Lexend"/>
              </a:rPr>
              <a:t>, except where otherwise stated. See </a:t>
            </a:r>
            <a:r>
              <a:rPr lang="en-GB" sz="1800" u="sng">
                <a:solidFill>
                  <a:srgbClr val="374CF1"/>
                </a:solidFill>
                <a:latin typeface="Lexend"/>
                <a:ea typeface="Lexend"/>
                <a:cs typeface="Lexend"/>
                <a:sym typeface="Lexend"/>
                <a:hlinkClick r:id="rId5">
                  <a:extLst>
                    <a:ext uri="{A12FA001-AC4F-418D-AE19-62706E023703}">
                      <ahyp:hlinkClr val="tx"/>
                    </a:ext>
                  </a:extLst>
                </a:hlinkClick>
              </a:rPr>
              <a:t>Oak terms and conditions</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78787"/>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