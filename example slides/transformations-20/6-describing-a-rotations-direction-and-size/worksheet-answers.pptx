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8" name="Shape 208"/>
        <p:cNvGrpSpPr/>
        <p:nvPr/>
      </p:nvGrpSpPr>
      <p:grpSpPr>
        <a:xfrm>
          <a:off x="0" y="0"/>
          <a:ext cx="0" cy="0"/>
        </a:xfrm>
      </p:grpSpPr>
      <p:sp>
        <p:nvSpPr>
          <p:cNvPr id="209" name="Google Shape;209;g28be1f986ad_0_6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8be1f986ad_0_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62" name="Shape 262"/>
        <p:cNvGrpSpPr/>
        <p:nvPr/>
      </p:nvGrpSpPr>
      <p:grpSpPr>
        <a:xfrm>
          <a:off x="0" y="0"/>
          <a:ext cx="0" cy="0"/>
        </a:xfrm>
      </p:grpSpPr>
      <p:sp>
        <p:nvSpPr>
          <p:cNvPr id="263" name="Google Shape;263;g28be1f986ad_0_4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8be1f986ad_0_4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/>
        </p:nvSpPr>
        <p:spPr>
          <a:xfrm>
            <a:off x="468000" y="13455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Describing the direction of a rotation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3" name="Google Shape;173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Describing a rotation's direction and size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714466"/>
            <a:ext cx="1944000" cy="4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In which direction does this arrow suggest the rotation is happening?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 rot="10800000">
            <a:off x="809683" y="2417368"/>
            <a:ext cx="1059300" cy="907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p20"/>
          <p:cNvPicPr preferRelativeResize="0"/>
          <p:nvPr/>
        </p:nvPicPr>
        <p:blipFill>
          <a:blip r:embed="rId3">
            <a:alphaModFix/>
          </a:blip>
          <a:srcRect l="69479" t="2791" r="18284" b="84457"/>
          <a:stretch>
            <a:fillRect/>
          </a:stretch>
        </p:blipFill>
        <p:spPr>
          <a:xfrm rot="-4499997" flipH="1">
            <a:off x="544150" y="2998810"/>
            <a:ext cx="550283" cy="57989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2808000" y="1714466"/>
            <a:ext cx="1944000" cy="4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In which direction does this arrow suggest the rotation is happening?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/>
          <p:nvPr/>
        </p:nvSpPr>
        <p:spPr>
          <a:xfrm rot="10800000">
            <a:off x="3227695" y="2491272"/>
            <a:ext cx="1059300" cy="907800"/>
          </a:xfrm>
          <a:prstGeom prst="diamond">
            <a:avLst/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20"/>
          <p:cNvPicPr preferRelativeResize="0"/>
          <p:nvPr/>
        </p:nvPicPr>
        <p:blipFill>
          <a:blip r:embed="rId3">
            <a:alphaModFix/>
          </a:blip>
          <a:srcRect l="69479" t="2791" r="18284" b="84457"/>
          <a:stretch>
            <a:fillRect/>
          </a:stretch>
        </p:blipFill>
        <p:spPr>
          <a:xfrm rot="5400000" flipH="1">
            <a:off x="3767223" y="2328654"/>
            <a:ext cx="550284" cy="57989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5148000" y="1714466"/>
            <a:ext cx="1944000" cy="4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In which direction does this arrow suggest the rotation is happening?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 rot="10800000">
            <a:off x="5669292" y="2774294"/>
            <a:ext cx="811500" cy="669300"/>
          </a:xfrm>
          <a:prstGeom prst="corner">
            <a:avLst>
              <a:gd name="adj1" fmla="val 50000"/>
              <a:gd name="adj2" fmla="val 50000"/>
            </a:avLst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20"/>
          <p:cNvPicPr preferRelativeResize="0"/>
          <p:nvPr/>
        </p:nvPicPr>
        <p:blipFill>
          <a:blip r:embed="rId3">
            <a:alphaModFix/>
          </a:blip>
          <a:srcRect l="69479" t="2791" r="18284" b="84457"/>
          <a:stretch>
            <a:fillRect/>
          </a:stretch>
        </p:blipFill>
        <p:spPr>
          <a:xfrm rot="-2700000">
            <a:off x="5895975" y="2408583"/>
            <a:ext cx="550287" cy="579898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468000" y="3504475"/>
            <a:ext cx="19440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anti-clockwise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2808000" y="3504475"/>
            <a:ext cx="19440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anti-clockwise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5148000" y="3504475"/>
            <a:ext cx="19440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clockwise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4139648" y="4527825"/>
            <a:ext cx="2952000" cy="13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5) An arrow is pointing N (north).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arrow will rotate clockwise until it points N (north) again. In what order will it pass through the other compass directions?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67996" y="4530950"/>
            <a:ext cx="2952000" cy="13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An arrow is pointing E (east).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the arrow rotates anti-clockwise, which compass direction will it pass first?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8" name="Google Shape;188;p20"/>
          <p:cNvGrpSpPr/>
          <p:nvPr/>
        </p:nvGrpSpPr>
        <p:grpSpPr>
          <a:xfrm>
            <a:off x="1145138" y="5455672"/>
            <a:ext cx="1597715" cy="1533665"/>
            <a:chOff x="468000" y="3997547"/>
            <a:chExt cx="1597715" cy="1533665"/>
          </a:xfrm>
        </p:grpSpPr>
        <p:grpSp>
          <p:nvGrpSpPr>
            <p:cNvPr id="189" name="Google Shape;189;p20"/>
            <p:cNvGrpSpPr/>
            <p:nvPr/>
          </p:nvGrpSpPr>
          <p:grpSpPr>
            <a:xfrm>
              <a:off x="705240" y="4164590"/>
              <a:ext cx="1185659" cy="1185659"/>
              <a:chOff x="5048325" y="2258875"/>
              <a:chExt cx="1991700" cy="1991700"/>
            </a:xfrm>
          </p:grpSpPr>
          <p:cxnSp>
            <p:nvCxnSpPr>
              <p:cNvPr id="190" name="Google Shape;190;p20"/>
              <p:cNvCxnSpPr/>
              <p:nvPr/>
            </p:nvCxnSpPr>
            <p:spPr>
              <a:xfrm flipH="1">
                <a:off x="6044175" y="2258875"/>
                <a:ext cx="0" cy="19917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191" name="Google Shape;191;p20"/>
              <p:cNvCxnSpPr/>
              <p:nvPr/>
            </p:nvCxnSpPr>
            <p:spPr>
              <a:xfrm flipH="1">
                <a:off x="6044175" y="2258875"/>
                <a:ext cx="0" cy="19917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</p:grpSp>
        <p:sp>
          <p:nvSpPr>
            <p:cNvPr id="192" name="Google Shape;192;p20"/>
            <p:cNvSpPr txBox="1"/>
            <p:nvPr/>
          </p:nvSpPr>
          <p:spPr>
            <a:xfrm>
              <a:off x="1093589" y="3997547"/>
              <a:ext cx="4092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N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" name="Google Shape;193;p20"/>
            <p:cNvSpPr txBox="1"/>
            <p:nvPr/>
          </p:nvSpPr>
          <p:spPr>
            <a:xfrm>
              <a:off x="1093589" y="5290312"/>
              <a:ext cx="409200" cy="24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4" name="Google Shape;194;p20"/>
            <p:cNvSpPr txBox="1"/>
            <p:nvPr/>
          </p:nvSpPr>
          <p:spPr>
            <a:xfrm>
              <a:off x="1887515" y="4657222"/>
              <a:ext cx="1782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5" name="Google Shape;195;p20"/>
            <p:cNvSpPr txBox="1"/>
            <p:nvPr/>
          </p:nvSpPr>
          <p:spPr>
            <a:xfrm>
              <a:off x="468000" y="4657214"/>
              <a:ext cx="2409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W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6" name="Google Shape;196;p20"/>
            <p:cNvSpPr/>
            <p:nvPr/>
          </p:nvSpPr>
          <p:spPr>
            <a:xfrm rot="5400000">
              <a:off x="1368796" y="4559553"/>
              <a:ext cx="296400" cy="396300"/>
            </a:xfrm>
            <a:prstGeom prst="upArrow">
              <a:avLst>
                <a:gd name="adj1" fmla="val 31050"/>
                <a:gd name="adj2" fmla="val 48961"/>
              </a:avLst>
            </a:prstGeom>
            <a:solidFill>
              <a:srgbClr val="F3EEFB"/>
            </a:solidFill>
            <a:ln w="3810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97" name="Google Shape;197;p20"/>
          <p:cNvGrpSpPr/>
          <p:nvPr/>
        </p:nvGrpSpPr>
        <p:grpSpPr>
          <a:xfrm>
            <a:off x="5054030" y="5857851"/>
            <a:ext cx="1185659" cy="1185659"/>
            <a:chOff x="5048325" y="2258875"/>
            <a:chExt cx="1991700" cy="1991700"/>
          </a:xfrm>
        </p:grpSpPr>
        <p:cxnSp>
          <p:nvCxnSpPr>
            <p:cNvPr id="198" name="Google Shape;198;p20"/>
            <p:cNvCxnSpPr/>
            <p:nvPr/>
          </p:nvCxnSpPr>
          <p:spPr>
            <a:xfrm flipH="1">
              <a:off x="6044175" y="2258875"/>
              <a:ext cx="0" cy="19917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99" name="Google Shape;199;p20"/>
            <p:cNvCxnSpPr/>
            <p:nvPr/>
          </p:nvCxnSpPr>
          <p:spPr>
            <a:xfrm flipH="1">
              <a:off x="6044175" y="2258875"/>
              <a:ext cx="0" cy="19917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200" name="Google Shape;200;p20"/>
          <p:cNvSpPr txBox="1"/>
          <p:nvPr/>
        </p:nvSpPr>
        <p:spPr>
          <a:xfrm>
            <a:off x="5442380" y="5690808"/>
            <a:ext cx="4092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5442380" y="6983573"/>
            <a:ext cx="4092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6236306" y="6350483"/>
            <a:ext cx="1782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4816790" y="6350475"/>
            <a:ext cx="2409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5498841" y="6026324"/>
            <a:ext cx="296400" cy="396300"/>
          </a:xfrm>
          <a:prstGeom prst="upArrow">
            <a:avLst>
              <a:gd name="adj1" fmla="val 31050"/>
              <a:gd name="adj2" fmla="val 48961"/>
            </a:avLst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468002" y="6565275"/>
            <a:ext cx="819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 (north)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6137313" y="6882068"/>
            <a:ext cx="819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E, S, W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07" name="Google Shape;207;p20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1" name="Shape 211"/>
        <p:cNvGrpSpPr/>
        <p:nvPr/>
      </p:nvGrpSpPr>
      <p:grpSpPr>
        <a:xfrm>
          <a:off x="0" y="0"/>
          <a:ext cx="0" cy="0"/>
        </a:xfrm>
      </p:grpSpPr>
      <p:sp>
        <p:nvSpPr>
          <p:cNvPr id="212" name="Google Shape;212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Describing the size of a rotation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14" name="Google Shape;214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Describing a rotation's direction and size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2274200" y="1437889"/>
            <a:ext cx="12054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180° rotation clockwise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468000" y="1437900"/>
            <a:ext cx="12054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90° rotation anti-clockwise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468000" y="970356"/>
            <a:ext cx="66240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Write down the direction (up, down, left, right) each arrow will be pointing in after the rotation has been applied.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917255" y="1905455"/>
            <a:ext cx="306900" cy="6393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0" name="Google Shape;220;p21"/>
          <p:cNvSpPr/>
          <p:nvPr/>
        </p:nvSpPr>
        <p:spPr>
          <a:xfrm rot="5400000">
            <a:off x="2723439" y="1739260"/>
            <a:ext cx="306900" cy="6393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4080400" y="1437912"/>
            <a:ext cx="12054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270° rotation anti-clockwise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5886600" y="1437901"/>
            <a:ext cx="12054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90° rotation clockwise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/>
          <p:nvPr/>
        </p:nvSpPr>
        <p:spPr>
          <a:xfrm rot="-5400000">
            <a:off x="4529645" y="1739239"/>
            <a:ext cx="306900" cy="6393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4" name="Google Shape;224;p21"/>
          <p:cNvSpPr/>
          <p:nvPr/>
        </p:nvSpPr>
        <p:spPr>
          <a:xfrm rot="10800000">
            <a:off x="6169654" y="1905445"/>
            <a:ext cx="306900" cy="6393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225" name="Google Shape;225;p21"/>
          <p:cNvGrpSpPr/>
          <p:nvPr/>
        </p:nvGrpSpPr>
        <p:grpSpPr>
          <a:xfrm>
            <a:off x="468000" y="2889600"/>
            <a:ext cx="6624000" cy="2188910"/>
            <a:chOff x="468000" y="2889600"/>
            <a:chExt cx="6624000" cy="2188910"/>
          </a:xfrm>
        </p:grpSpPr>
        <p:sp>
          <p:nvSpPr>
            <p:cNvPr id="226" name="Google Shape;226;p21"/>
            <p:cNvSpPr txBox="1"/>
            <p:nvPr/>
          </p:nvSpPr>
          <p:spPr>
            <a:xfrm>
              <a:off x="3420000" y="3400911"/>
              <a:ext cx="3672000" cy="79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Possible Statement 1: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The object has been rotated  </a:t>
              </a:r>
              <a:r>
                <a:rPr lang="en-GB" sz="1200" u="sng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               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 clockwise.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7" name="Google Shape;227;p21"/>
            <p:cNvSpPr/>
            <p:nvPr/>
          </p:nvSpPr>
          <p:spPr>
            <a:xfrm>
              <a:off x="807352" y="3526211"/>
              <a:ext cx="489900" cy="1017600"/>
            </a:xfrm>
            <a:prstGeom prst="rtTriangle">
              <a:avLst/>
            </a:prstGeom>
            <a:solidFill>
              <a:srgbClr val="E6F2F2"/>
            </a:solidFill>
            <a:ln w="38100" cap="flat" cmpd="sng">
              <a:solidFill>
                <a:srgbClr val="037B7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28" name="Google Shape;228;p21"/>
            <p:cNvSpPr/>
            <p:nvPr/>
          </p:nvSpPr>
          <p:spPr>
            <a:xfrm rot="5400000">
              <a:off x="2046994" y="3526155"/>
              <a:ext cx="489900" cy="1017600"/>
            </a:xfrm>
            <a:prstGeom prst="rtTriangle">
              <a:avLst/>
            </a:prstGeom>
            <a:solidFill>
              <a:srgbClr val="F3EEFB"/>
            </a:solidFill>
            <a:ln w="3810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29" name="Google Shape;229;p21"/>
            <p:cNvSpPr txBox="1"/>
            <p:nvPr/>
          </p:nvSpPr>
          <p:spPr>
            <a:xfrm>
              <a:off x="764516" y="4543752"/>
              <a:ext cx="567900" cy="28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object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0" name="Google Shape;230;p21"/>
            <p:cNvSpPr txBox="1"/>
            <p:nvPr/>
          </p:nvSpPr>
          <p:spPr>
            <a:xfrm>
              <a:off x="1783208" y="4336625"/>
              <a:ext cx="1017600" cy="28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image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1" name="Google Shape;231;p21"/>
            <p:cNvSpPr txBox="1"/>
            <p:nvPr/>
          </p:nvSpPr>
          <p:spPr>
            <a:xfrm>
              <a:off x="3420000" y="4279910"/>
              <a:ext cx="3672000" cy="79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Possible Statement 2: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The object has been rotated 270° </a:t>
              </a:r>
              <a:r>
                <a:rPr lang="en-GB" sz="1200" u="sng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 </a:t>
              </a:r>
              <a:r>
                <a:rPr lang="en-GB" sz="1200" u="sng"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200" u="sng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                     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.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2" name="Google Shape;232;p21"/>
            <p:cNvSpPr txBox="1"/>
            <p:nvPr/>
          </p:nvSpPr>
          <p:spPr>
            <a:xfrm>
              <a:off x="468000" y="2889600"/>
              <a:ext cx="6624000" cy="33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2) The object has been rotated by less than 360° to create its image.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Complete the two sentences that could describe this transformation.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3" name="Google Shape;233;p21"/>
          <p:cNvGrpSpPr/>
          <p:nvPr/>
        </p:nvGrpSpPr>
        <p:grpSpPr>
          <a:xfrm>
            <a:off x="468000" y="5248654"/>
            <a:ext cx="6624000" cy="2157220"/>
            <a:chOff x="468000" y="5140813"/>
            <a:chExt cx="6624000" cy="2157220"/>
          </a:xfrm>
        </p:grpSpPr>
        <p:sp>
          <p:nvSpPr>
            <p:cNvPr id="234" name="Google Shape;234;p21"/>
            <p:cNvSpPr/>
            <p:nvPr/>
          </p:nvSpPr>
          <p:spPr>
            <a:xfrm>
              <a:off x="807348" y="5655384"/>
              <a:ext cx="521700" cy="1083600"/>
            </a:xfrm>
            <a:prstGeom prst="homePlate">
              <a:avLst>
                <a:gd name="adj" fmla="val 50000"/>
              </a:avLst>
            </a:prstGeom>
            <a:solidFill>
              <a:srgbClr val="E6F2F2"/>
            </a:solidFill>
            <a:ln w="38100" cap="flat" cmpd="sng">
              <a:solidFill>
                <a:srgbClr val="037B7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35" name="Google Shape;235;p21"/>
            <p:cNvSpPr/>
            <p:nvPr/>
          </p:nvSpPr>
          <p:spPr>
            <a:xfrm rot="-5400000">
              <a:off x="1998266" y="5655499"/>
              <a:ext cx="521700" cy="1083600"/>
            </a:xfrm>
            <a:prstGeom prst="homePlate">
              <a:avLst>
                <a:gd name="adj" fmla="val 50000"/>
              </a:avLst>
            </a:prstGeom>
            <a:solidFill>
              <a:srgbClr val="F3EEFB"/>
            </a:solidFill>
            <a:ln w="3810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36" name="Google Shape;236;p21"/>
            <p:cNvSpPr txBox="1"/>
            <p:nvPr/>
          </p:nvSpPr>
          <p:spPr>
            <a:xfrm>
              <a:off x="3420000" y="5620434"/>
              <a:ext cx="3672000" cy="79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Possible Statement 1: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The object has been rotated 90° </a:t>
              </a:r>
              <a:r>
                <a:rPr lang="en-GB" sz="1200" u="sng">
                  <a:latin typeface="Lexend"/>
                  <a:ea typeface="Lexend"/>
                  <a:cs typeface="Lexend"/>
                  <a:sym typeface="Lexend"/>
                </a:rPr>
                <a:t>                            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7" name="Google Shape;237;p21"/>
            <p:cNvSpPr txBox="1"/>
            <p:nvPr/>
          </p:nvSpPr>
          <p:spPr>
            <a:xfrm>
              <a:off x="764516" y="6763275"/>
              <a:ext cx="567900" cy="28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object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8" name="Google Shape;238;p21"/>
            <p:cNvSpPr txBox="1"/>
            <p:nvPr/>
          </p:nvSpPr>
          <p:spPr>
            <a:xfrm>
              <a:off x="1783208" y="6556147"/>
              <a:ext cx="1017600" cy="28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image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9" name="Google Shape;239;p21"/>
            <p:cNvSpPr txBox="1"/>
            <p:nvPr/>
          </p:nvSpPr>
          <p:spPr>
            <a:xfrm>
              <a:off x="3420000" y="6499433"/>
              <a:ext cx="3672000" cy="79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Possible Statement 2: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The object has been rotated </a:t>
              </a:r>
              <a:r>
                <a:rPr lang="en-GB" sz="1200" u="sng">
                  <a:latin typeface="Lexend"/>
                  <a:ea typeface="Lexend"/>
                  <a:cs typeface="Lexend"/>
                  <a:sym typeface="Lexend"/>
                </a:rPr>
                <a:t>          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200" u="sng">
                  <a:latin typeface="Lexend"/>
                  <a:ea typeface="Lexend"/>
                  <a:cs typeface="Lexend"/>
                  <a:sym typeface="Lexend"/>
                </a:rPr>
                <a:t>                        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0" name="Google Shape;240;p21"/>
            <p:cNvSpPr txBox="1"/>
            <p:nvPr/>
          </p:nvSpPr>
          <p:spPr>
            <a:xfrm>
              <a:off x="468000" y="5140813"/>
              <a:ext cx="6624000" cy="10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3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) The object has been rotated by less than 360° to create its image.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Complete the two sentences that could describe this transformation.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1" name="Google Shape;241;p21"/>
          <p:cNvGrpSpPr/>
          <p:nvPr/>
        </p:nvGrpSpPr>
        <p:grpSpPr>
          <a:xfrm>
            <a:off x="468000" y="7576017"/>
            <a:ext cx="6624000" cy="2157216"/>
            <a:chOff x="468000" y="7347417"/>
            <a:chExt cx="6624000" cy="2157216"/>
          </a:xfrm>
        </p:grpSpPr>
        <p:sp>
          <p:nvSpPr>
            <p:cNvPr id="242" name="Google Shape;242;p21"/>
            <p:cNvSpPr/>
            <p:nvPr/>
          </p:nvSpPr>
          <p:spPr>
            <a:xfrm>
              <a:off x="807350" y="7952272"/>
              <a:ext cx="490200" cy="1017600"/>
            </a:xfrm>
            <a:prstGeom prst="trapezoid">
              <a:avLst>
                <a:gd name="adj" fmla="val 25000"/>
              </a:avLst>
            </a:prstGeom>
            <a:solidFill>
              <a:srgbClr val="E6F2F2"/>
            </a:solidFill>
            <a:ln w="38100" cap="flat" cmpd="sng">
              <a:solidFill>
                <a:srgbClr val="037B7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43" name="Google Shape;243;p21"/>
            <p:cNvSpPr/>
            <p:nvPr/>
          </p:nvSpPr>
          <p:spPr>
            <a:xfrm rot="-5400000">
              <a:off x="2047121" y="7952287"/>
              <a:ext cx="490200" cy="1017600"/>
            </a:xfrm>
            <a:prstGeom prst="trapezoid">
              <a:avLst>
                <a:gd name="adj" fmla="val 25000"/>
              </a:avLst>
            </a:prstGeom>
            <a:solidFill>
              <a:srgbClr val="F3EEFB"/>
            </a:solidFill>
            <a:ln w="3810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44" name="Google Shape;244;p21"/>
            <p:cNvSpPr txBox="1"/>
            <p:nvPr/>
          </p:nvSpPr>
          <p:spPr>
            <a:xfrm>
              <a:off x="3420000" y="7827034"/>
              <a:ext cx="3672000" cy="79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Possible Statement 1: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The object has been rotated </a:t>
              </a:r>
              <a:r>
                <a:rPr lang="en-GB" sz="1200" u="sng">
                  <a:latin typeface="Lexend"/>
                  <a:ea typeface="Lexend"/>
                  <a:cs typeface="Lexend"/>
                  <a:sym typeface="Lexend"/>
                </a:rPr>
                <a:t>                  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clockwise.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5" name="Google Shape;245;p21"/>
            <p:cNvSpPr txBox="1"/>
            <p:nvPr/>
          </p:nvSpPr>
          <p:spPr>
            <a:xfrm>
              <a:off x="764516" y="8969875"/>
              <a:ext cx="567900" cy="28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object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6" name="Google Shape;246;p21"/>
            <p:cNvSpPr txBox="1"/>
            <p:nvPr/>
          </p:nvSpPr>
          <p:spPr>
            <a:xfrm>
              <a:off x="3420000" y="8706033"/>
              <a:ext cx="3672000" cy="79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Possible Statement 2: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The object has been </a:t>
              </a:r>
              <a:r>
                <a:rPr lang="en-GB" sz="1200" u="sng">
                  <a:latin typeface="Lexend"/>
                  <a:ea typeface="Lexend"/>
                  <a:cs typeface="Lexend"/>
                  <a:sym typeface="Lexend"/>
                </a:rPr>
                <a:t> __                     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200" u="sng">
                  <a:latin typeface="Lexend"/>
                  <a:ea typeface="Lexend"/>
                  <a:cs typeface="Lexend"/>
                  <a:sym typeface="Lexend"/>
                </a:rPr>
                <a:t>                     </a:t>
              </a:r>
              <a:r>
                <a:rPr lang="en-GB" sz="1200" u="sng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.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anti-clockwise.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7" name="Google Shape;247;p21"/>
            <p:cNvSpPr txBox="1"/>
            <p:nvPr/>
          </p:nvSpPr>
          <p:spPr>
            <a:xfrm>
              <a:off x="1783208" y="8762747"/>
              <a:ext cx="1017600" cy="28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image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8" name="Google Shape;248;p21"/>
            <p:cNvSpPr txBox="1"/>
            <p:nvPr/>
          </p:nvSpPr>
          <p:spPr>
            <a:xfrm>
              <a:off x="468000" y="7347417"/>
              <a:ext cx="6624000" cy="33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) The object has been rotated by less than 360° to create its image.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Complete the two sentences that could describe this transformation.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49" name="Google Shape;249;p21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0" name="Google Shape;250;p21"/>
          <p:cNvSpPr txBox="1"/>
          <p:nvPr/>
        </p:nvSpPr>
        <p:spPr>
          <a:xfrm>
            <a:off x="661202" y="2544750"/>
            <a:ext cx="819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left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2339377" y="2544750"/>
            <a:ext cx="819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left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4273602" y="2544750"/>
            <a:ext cx="819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up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5913602" y="2544750"/>
            <a:ext cx="819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left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5575325" y="3595175"/>
            <a:ext cx="684900" cy="3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90°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5913600" y="4480450"/>
            <a:ext cx="1075200" cy="3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anti-clockwise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5913600" y="5922275"/>
            <a:ext cx="1075200" cy="3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anti-clockwise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5537975" y="6800050"/>
            <a:ext cx="419700" cy="3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270°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6010050" y="6800050"/>
            <a:ext cx="1016100" cy="3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clockwise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5537975" y="8249375"/>
            <a:ext cx="767100" cy="3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270°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6134550" y="9134650"/>
            <a:ext cx="891600" cy="3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90°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4953600" y="9134650"/>
            <a:ext cx="1131300" cy="3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rotated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65" name="Shape 265"/>
        <p:cNvGrpSpPr/>
        <p:nvPr/>
      </p:nvGrpSpPr>
      <p:grpSpPr>
        <a:xfrm>
          <a:off x="0" y="0"/>
          <a:ext cx="0" cy="0"/>
        </a:xfrm>
      </p:grpSpPr>
      <p:sp>
        <p:nvSpPr>
          <p:cNvPr id="266" name="Google Shape;266;p22"/>
          <p:cNvSpPr txBox="1"/>
          <p:nvPr/>
        </p:nvSpPr>
        <p:spPr>
          <a:xfrm>
            <a:off x="467925" y="7806275"/>
            <a:ext cx="2138400" cy="17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Which direction will the image of the arrow be pointing?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6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In total, how many degrees will the arrow have rotated?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933725" y="5726694"/>
            <a:ext cx="329100" cy="1006800"/>
          </a:xfrm>
          <a:prstGeom prst="pentagon">
            <a:avLst>
              <a:gd name="hf" fmla="val 105146"/>
              <a:gd name="vf" fmla="val 110557"/>
            </a:avLst>
          </a:prstGeom>
          <a:solidFill>
            <a:srgbClr val="E6F2F2"/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8" name="Google Shape;268;p22"/>
          <p:cNvSpPr/>
          <p:nvPr/>
        </p:nvSpPr>
        <p:spPr>
          <a:xfrm rot="-8100000">
            <a:off x="2163822" y="5726575"/>
            <a:ext cx="329229" cy="1006779"/>
          </a:xfrm>
          <a:prstGeom prst="pentagon">
            <a:avLst>
              <a:gd name="hf" fmla="val 105146"/>
              <a:gd name="vf" fmla="val 110557"/>
            </a:avLst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9" name="Google Shape;269;p22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Describing more complex sizes of rotation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71" name="Google Shape;271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Describing a rotation's direction and size</a:t>
            </a:r>
            <a:endParaRPr/>
          </a:p>
        </p:txBody>
      </p:sp>
      <p:sp>
        <p:nvSpPr>
          <p:cNvPr id="272" name="Google Shape;272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74" name="Google Shape;274;p22"/>
          <p:cNvSpPr txBox="1"/>
          <p:nvPr/>
        </p:nvSpPr>
        <p:spPr>
          <a:xfrm>
            <a:off x="4140000" y="2214334"/>
            <a:ext cx="29520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one and three-quarter turns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2"/>
          <p:cNvSpPr txBox="1"/>
          <p:nvPr/>
        </p:nvSpPr>
        <p:spPr>
          <a:xfrm>
            <a:off x="4140000" y="1546417"/>
            <a:ext cx="29520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between no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rotation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a quarter turn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2"/>
          <p:cNvSpPr txBox="1"/>
          <p:nvPr/>
        </p:nvSpPr>
        <p:spPr>
          <a:xfrm>
            <a:off x="468000" y="981000"/>
            <a:ext cx="66240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Write down the calculation and single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rotation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angle in degrees to each of the following statements.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2"/>
          <p:cNvSpPr txBox="1"/>
          <p:nvPr/>
        </p:nvSpPr>
        <p:spPr>
          <a:xfrm>
            <a:off x="467925" y="1546425"/>
            <a:ext cx="29520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between a quarter turn and a half turn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2"/>
          <p:cNvSpPr txBox="1"/>
          <p:nvPr/>
        </p:nvSpPr>
        <p:spPr>
          <a:xfrm>
            <a:off x="467925" y="2214343"/>
            <a:ext cx="29520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two full turns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2"/>
          <p:cNvSpPr/>
          <p:nvPr/>
        </p:nvSpPr>
        <p:spPr>
          <a:xfrm>
            <a:off x="811847" y="3401745"/>
            <a:ext cx="479400" cy="996000"/>
          </a:xfrm>
          <a:prstGeom prst="upArrow">
            <a:avLst>
              <a:gd name="adj1" fmla="val 50000"/>
              <a:gd name="adj2" fmla="val 24181"/>
            </a:avLst>
          </a:prstGeom>
          <a:solidFill>
            <a:srgbClr val="E6F2F2"/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80" name="Google Shape;280;p22"/>
          <p:cNvSpPr/>
          <p:nvPr/>
        </p:nvSpPr>
        <p:spPr>
          <a:xfrm rot="6000977">
            <a:off x="2028993" y="3401758"/>
            <a:ext cx="479508" cy="995859"/>
          </a:xfrm>
          <a:prstGeom prst="upArrow">
            <a:avLst>
              <a:gd name="adj1" fmla="val 50000"/>
              <a:gd name="adj2" fmla="val 24181"/>
            </a:avLst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281" name="Google Shape;281;p22"/>
          <p:cNvGrpSpPr/>
          <p:nvPr/>
        </p:nvGrpSpPr>
        <p:grpSpPr>
          <a:xfrm>
            <a:off x="468000" y="2813392"/>
            <a:ext cx="6624000" cy="2157216"/>
            <a:chOff x="468000" y="7347417"/>
            <a:chExt cx="6624000" cy="2157216"/>
          </a:xfrm>
        </p:grpSpPr>
        <p:sp>
          <p:nvSpPr>
            <p:cNvPr id="282" name="Google Shape;282;p22"/>
            <p:cNvSpPr txBox="1"/>
            <p:nvPr/>
          </p:nvSpPr>
          <p:spPr>
            <a:xfrm>
              <a:off x="3420000" y="7827034"/>
              <a:ext cx="3672000" cy="79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Possible Statement 1: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The object has been rotated 100° clockwise.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3" name="Google Shape;283;p22"/>
            <p:cNvSpPr txBox="1"/>
            <p:nvPr/>
          </p:nvSpPr>
          <p:spPr>
            <a:xfrm>
              <a:off x="764516" y="8969875"/>
              <a:ext cx="567900" cy="28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object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4" name="Google Shape;284;p22"/>
            <p:cNvSpPr txBox="1"/>
            <p:nvPr/>
          </p:nvSpPr>
          <p:spPr>
            <a:xfrm>
              <a:off x="3420000" y="8706033"/>
              <a:ext cx="3672000" cy="79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Possible Statement 2: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The object has been rotated </a:t>
              </a:r>
              <a:r>
                <a:rPr lang="en-GB" sz="1200" u="sng">
                  <a:latin typeface="Lexend"/>
                  <a:ea typeface="Lexend"/>
                  <a:cs typeface="Lexend"/>
                  <a:sym typeface="Lexend"/>
                </a:rPr>
                <a:t>         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anti-clockwise.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5" name="Google Shape;285;p22"/>
            <p:cNvSpPr txBox="1"/>
            <p:nvPr/>
          </p:nvSpPr>
          <p:spPr>
            <a:xfrm>
              <a:off x="1783208" y="8718238"/>
              <a:ext cx="1017600" cy="28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image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6" name="Google Shape;286;p22"/>
            <p:cNvSpPr txBox="1"/>
            <p:nvPr/>
          </p:nvSpPr>
          <p:spPr>
            <a:xfrm>
              <a:off x="468000" y="7347417"/>
              <a:ext cx="6624000" cy="33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) The object has been rotated by less than 360° to create its image.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Complete the two sentences that could describe this transformation.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7" name="Google Shape;287;p22"/>
          <p:cNvSpPr txBox="1"/>
          <p:nvPr/>
        </p:nvSpPr>
        <p:spPr>
          <a:xfrm>
            <a:off x="3420000" y="5597009"/>
            <a:ext cx="3672000" cy="7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Possible Statement 1: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object has been rotated 140° </a:t>
            </a:r>
            <a:r>
              <a:rPr lang="en-GB" sz="1200" u="sng">
                <a:latin typeface="Lexend"/>
                <a:ea typeface="Lexend"/>
                <a:cs typeface="Lexend"/>
                <a:sym typeface="Lexend"/>
              </a:rPr>
              <a:t>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2"/>
          <p:cNvSpPr txBox="1"/>
          <p:nvPr/>
        </p:nvSpPr>
        <p:spPr>
          <a:xfrm>
            <a:off x="764516" y="6739850"/>
            <a:ext cx="5679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object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2"/>
          <p:cNvSpPr txBox="1"/>
          <p:nvPr/>
        </p:nvSpPr>
        <p:spPr>
          <a:xfrm>
            <a:off x="3420000" y="6476008"/>
            <a:ext cx="3672000" cy="7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Possible Statement 2: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object has been rotated </a:t>
            </a:r>
            <a:r>
              <a:rPr lang="en-GB" sz="1200" u="sng">
                <a:latin typeface="Lexend"/>
                <a:ea typeface="Lexend"/>
                <a:cs typeface="Lexend"/>
                <a:sym typeface="Lexend"/>
              </a:rPr>
              <a:t>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latin typeface="Lexend"/>
                <a:ea typeface="Lexend"/>
                <a:cs typeface="Lexend"/>
                <a:sym typeface="Lexend"/>
              </a:rPr>
              <a:t>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2"/>
          <p:cNvSpPr txBox="1"/>
          <p:nvPr/>
        </p:nvSpPr>
        <p:spPr>
          <a:xfrm>
            <a:off x="1783208" y="6640613"/>
            <a:ext cx="10176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image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2"/>
          <p:cNvSpPr txBox="1"/>
          <p:nvPr/>
        </p:nvSpPr>
        <p:spPr>
          <a:xfrm>
            <a:off x="468000" y="5117392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The object has been rotated by less than 360° to create its image.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two sentences that could describe this transformation.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2"/>
          <p:cNvSpPr txBox="1"/>
          <p:nvPr/>
        </p:nvSpPr>
        <p:spPr>
          <a:xfrm>
            <a:off x="467925" y="7325850"/>
            <a:ext cx="59997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25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This arrow will be rotated anti-clockwise through                                                                 two full turns and three-quarters of another.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2"/>
          <p:cNvSpPr/>
          <p:nvPr/>
        </p:nvSpPr>
        <p:spPr>
          <a:xfrm rot="10800000">
            <a:off x="4415200" y="7337500"/>
            <a:ext cx="270300" cy="561300"/>
          </a:xfrm>
          <a:prstGeom prst="upArrow">
            <a:avLst>
              <a:gd name="adj1" fmla="val 50000"/>
              <a:gd name="adj2" fmla="val 78030"/>
            </a:avLst>
          </a:prstGeom>
          <a:solidFill>
            <a:srgbClr val="E6F2F2"/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4" name="Google Shape;294;p22"/>
          <p:cNvSpPr txBox="1"/>
          <p:nvPr/>
        </p:nvSpPr>
        <p:spPr>
          <a:xfrm>
            <a:off x="2800800" y="7806275"/>
            <a:ext cx="4291200" cy="16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Give a description of a different anti-clockwise rotation that would result in the arrow pointing in the same direction.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Give a description of a clockwise rotation that would result in the arrow pointing in the same direction.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2"/>
          <p:cNvSpPr txBox="1"/>
          <p:nvPr/>
        </p:nvSpPr>
        <p:spPr>
          <a:xfrm>
            <a:off x="957825" y="1791775"/>
            <a:ext cx="2577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between 90° and 180°  =  135°, or any number between 90° and 180°.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6" name="Google Shape;296;p22"/>
          <p:cNvSpPr txBox="1"/>
          <p:nvPr/>
        </p:nvSpPr>
        <p:spPr>
          <a:xfrm>
            <a:off x="877700" y="2440782"/>
            <a:ext cx="26571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360°  +  360°  =  720°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7" name="Google Shape;297;p22"/>
          <p:cNvSpPr txBox="1"/>
          <p:nvPr/>
        </p:nvSpPr>
        <p:spPr>
          <a:xfrm>
            <a:off x="4653125" y="1791775"/>
            <a:ext cx="2577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between 0° and 90°  =  45°, or any number between 0° and 90°.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8" name="Google Shape;298;p22"/>
          <p:cNvSpPr txBox="1"/>
          <p:nvPr/>
        </p:nvSpPr>
        <p:spPr>
          <a:xfrm>
            <a:off x="4573000" y="2440782"/>
            <a:ext cx="26571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360°  +  270°  =  630°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9" name="Google Shape;299;p22"/>
          <p:cNvSpPr txBox="1"/>
          <p:nvPr/>
        </p:nvSpPr>
        <p:spPr>
          <a:xfrm>
            <a:off x="5537325" y="4366150"/>
            <a:ext cx="382800" cy="3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260°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0" name="Google Shape;300;p22"/>
          <p:cNvSpPr txBox="1"/>
          <p:nvPr/>
        </p:nvSpPr>
        <p:spPr>
          <a:xfrm>
            <a:off x="5920125" y="5792400"/>
            <a:ext cx="1116300" cy="3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anti-clockwise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1" name="Google Shape;301;p22"/>
          <p:cNvSpPr txBox="1"/>
          <p:nvPr/>
        </p:nvSpPr>
        <p:spPr>
          <a:xfrm>
            <a:off x="5537325" y="6675075"/>
            <a:ext cx="382800" cy="3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220°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2" name="Google Shape;302;p22"/>
          <p:cNvSpPr txBox="1"/>
          <p:nvPr/>
        </p:nvSpPr>
        <p:spPr>
          <a:xfrm>
            <a:off x="5969525" y="6675075"/>
            <a:ext cx="1064100" cy="3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clockwise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3" name="Google Shape;303;p22"/>
          <p:cNvSpPr txBox="1"/>
          <p:nvPr/>
        </p:nvSpPr>
        <p:spPr>
          <a:xfrm>
            <a:off x="764525" y="8520900"/>
            <a:ext cx="1773300" cy="3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It will be facing left.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4" name="Google Shape;304;p22"/>
          <p:cNvSpPr txBox="1"/>
          <p:nvPr/>
        </p:nvSpPr>
        <p:spPr>
          <a:xfrm>
            <a:off x="579500" y="9514800"/>
            <a:ext cx="1958400" cy="3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360° + 360° + 270° = 990°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5" name="Google Shape;305;p22"/>
          <p:cNvSpPr txBox="1"/>
          <p:nvPr/>
        </p:nvSpPr>
        <p:spPr>
          <a:xfrm>
            <a:off x="3656800" y="8597100"/>
            <a:ext cx="3573300" cy="3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Any number of full turns (including zero) and three-quarters of another.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6" name="Google Shape;306;p22"/>
          <p:cNvSpPr txBox="1"/>
          <p:nvPr/>
        </p:nvSpPr>
        <p:spPr>
          <a:xfrm>
            <a:off x="3656800" y="9526078"/>
            <a:ext cx="3573300" cy="3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Any number of full turns (including zero) and one-quarter of another.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07" name="Google Shape;307;p22"/>
          <p:cNvCxnSpPr/>
          <p:nvPr/>
        </p:nvCxnSpPr>
        <p:spPr>
          <a:xfrm>
            <a:off x="474750" y="98958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111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simple-light-2</vt:lpstr>
      <vt:lpstr>Describing a rotation's direction and size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2023-11-02T14:20:26.521</cp:lastPrinted>
  <dcterms:created xsi:type="dcterms:W3CDTF">2023-11-02T14:20:26Z</dcterms:created>
  <dcterms:modified xsi:type="dcterms:W3CDTF">2023-11-02T14:21:18Z</dcterms:modified>
</cp:coreProperties>
</file>