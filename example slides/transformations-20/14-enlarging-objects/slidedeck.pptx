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</p:sldIdLst>
  <p:sldSz cx="9144000" cy="5143500"/>
  <p:notesSz cx="6858000" cy="9144000"/>
  <p:embeddedFontLst>
    <p:embeddedFont>
      <p:font typeface="Lexend" panose="00000000000000000000"/>
      <p:regular r:id="rId32"/>
    </p:embeddedFont>
    <p:embeddedFont>
      <p:font typeface="Lexend Medium" panose="00000000000000000000"/>
      <p:regular r:id="rId33"/>
    </p:embeddedFont>
    <p:embeddedFont>
      <p:font typeface="Kalam" panose="02000000000000000000"/>
      <p:regular r:id="rId34"/>
    </p:embeddedFont>
    <p:embeddedFont>
      <p:font typeface="Lexend Light" panose="00000000000000000000"/>
      <p:regular r:id="rId35"/>
    </p:embeddedFont>
  </p:embeddedFontLst>
  <p:custDataLst>
    <p:tags r:id="rId31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tags" Target="tags/tag1.xml" /><Relationship Id="rId32" Type="http://schemas.openxmlformats.org/officeDocument/2006/relationships/font" Target="fonts/font1.fntdata" /><Relationship Id="rId33" Type="http://schemas.openxmlformats.org/officeDocument/2006/relationships/font" Target="fonts/font2.fntdata" /><Relationship Id="rId34" Type="http://schemas.openxmlformats.org/officeDocument/2006/relationships/font" Target="fonts/font3.fntdata" /><Relationship Id="rId35" Type="http://schemas.openxmlformats.org/officeDocument/2006/relationships/font" Target="fonts/font4.fntdata" /><Relationship Id="rId36" Type="http://schemas.openxmlformats.org/officeDocument/2006/relationships/presProps" Target="presProps.xml" /><Relationship Id="rId37" Type="http://schemas.openxmlformats.org/officeDocument/2006/relationships/viewProps" Target="viewProps.xml" /><Relationship Id="rId38" Type="http://schemas.openxmlformats.org/officeDocument/2006/relationships/theme" Target="theme/theme1.xml" /><Relationship Id="rId39" Type="http://schemas.openxmlformats.org/officeDocument/2006/relationships/tableStyles" Target="tableStyles.xml" /><Relationship Id="rId4" Type="http://schemas.openxmlformats.org/officeDocument/2006/relationships/slide" Target="slides/slide2.xml" /><Relationship Id="rId5" Type="http://schemas.openxmlformats.org/officeDocument/2006/relationships/slide" Target="slides/slide3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1e7e98aee68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7e98aee68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8" name="Shape 768"/>
        <p:cNvGrpSpPr/>
        <p:nvPr/>
      </p:nvGrpSpPr>
      <p:grpSpPr>
        <a:xfrm>
          <a:off x="0" y="0"/>
          <a:ext cx="0" cy="0"/>
        </a:xfrm>
      </p:grpSpPr>
      <p:sp>
        <p:nvSpPr>
          <p:cNvPr id="769" name="Google Shape;769;g1e7e98aee68_0_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1e7e98aee68_0_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6" name="Shape 776"/>
        <p:cNvGrpSpPr/>
        <p:nvPr/>
      </p:nvGrpSpPr>
      <p:grpSpPr>
        <a:xfrm>
          <a:off x="0" y="0"/>
          <a:ext cx="0" cy="0"/>
        </a:xfrm>
      </p:grpSpPr>
      <p:sp>
        <p:nvSpPr>
          <p:cNvPr id="777" name="Google Shape;777;g1e7e98aee68_0_2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1e7e98aee68_0_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01" name="Shape 801"/>
        <p:cNvGrpSpPr/>
        <p:nvPr/>
      </p:nvGrpSpPr>
      <p:grpSpPr>
        <a:xfrm>
          <a:off x="0" y="0"/>
          <a:ext cx="0" cy="0"/>
        </a:xfrm>
      </p:grpSpPr>
      <p:sp>
        <p:nvSpPr>
          <p:cNvPr id="802" name="Google Shape;802;g285cf5b5a17_0_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3" name="Google Shape;803;g285cf5b5a17_0_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5" name="Shape 845"/>
        <p:cNvGrpSpPr/>
        <p:nvPr/>
      </p:nvGrpSpPr>
      <p:grpSpPr>
        <a:xfrm>
          <a:off x="0" y="0"/>
          <a:ext cx="0" cy="0"/>
        </a:xfrm>
      </p:grpSpPr>
      <p:sp>
        <p:nvSpPr>
          <p:cNvPr id="846" name="Google Shape;846;g285cf5b5a17_0_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7" name="Google Shape;847;g285cf5b5a17_0_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9" name="Shape 879"/>
        <p:cNvGrpSpPr/>
        <p:nvPr/>
      </p:nvGrpSpPr>
      <p:grpSpPr>
        <a:xfrm>
          <a:off x="0" y="0"/>
          <a:ext cx="0" cy="0"/>
        </a:xfrm>
      </p:grpSpPr>
      <p:sp>
        <p:nvSpPr>
          <p:cNvPr id="880" name="Google Shape;880;g2850f578e7d_0_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850f578e7d_0_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5" name="Shape 895"/>
        <p:cNvGrpSpPr/>
        <p:nvPr/>
      </p:nvGrpSpPr>
      <p:grpSpPr>
        <a:xfrm>
          <a:off x="0" y="0"/>
          <a:ext cx="0" cy="0"/>
        </a:xfrm>
      </p:grpSpPr>
      <p:sp>
        <p:nvSpPr>
          <p:cNvPr id="896" name="Google Shape;896;g2850f578e7d_0_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2850f578e7d_0_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3" name="Shape 913"/>
        <p:cNvGrpSpPr/>
        <p:nvPr/>
      </p:nvGrpSpPr>
      <p:grpSpPr>
        <a:xfrm>
          <a:off x="0" y="0"/>
          <a:ext cx="0" cy="0"/>
        </a:xfrm>
      </p:grpSpPr>
      <p:sp>
        <p:nvSpPr>
          <p:cNvPr id="914" name="Google Shape;914;g285cf5b5a17_0_10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5" name="Google Shape;915;g285cf5b5a17_0_10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24" name="Shape 924"/>
        <p:cNvGrpSpPr/>
        <p:nvPr/>
      </p:nvGrpSpPr>
      <p:grpSpPr>
        <a:xfrm>
          <a:off x="0" y="0"/>
          <a:ext cx="0" cy="0"/>
        </a:xfrm>
      </p:grpSpPr>
      <p:sp>
        <p:nvSpPr>
          <p:cNvPr id="925" name="Google Shape;925;g285f3971efa_0_9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6" name="Google Shape;926;g285f3971efa_0_9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61" name="Shape 961"/>
        <p:cNvGrpSpPr/>
        <p:nvPr/>
      </p:nvGrpSpPr>
      <p:grpSpPr>
        <a:xfrm>
          <a:off x="0" y="0"/>
          <a:ext cx="0" cy="0"/>
        </a:xfrm>
      </p:grpSpPr>
      <p:sp>
        <p:nvSpPr>
          <p:cNvPr id="962" name="Google Shape;962;g285f3971efa_0_1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285f3971efa_0_1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7" name="Shape 977"/>
        <p:cNvGrpSpPr/>
        <p:nvPr/>
      </p:nvGrpSpPr>
      <p:grpSpPr>
        <a:xfrm>
          <a:off x="0" y="0"/>
          <a:ext cx="0" cy="0"/>
        </a:xfrm>
      </p:grpSpPr>
      <p:sp>
        <p:nvSpPr>
          <p:cNvPr id="978" name="Google Shape;978;g2850f578e7d_0_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9" name="Google Shape;979;g2850f578e7d_0_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7" name="Shape 987"/>
        <p:cNvGrpSpPr/>
        <p:nvPr/>
      </p:nvGrpSpPr>
      <p:grpSpPr>
        <a:xfrm>
          <a:off x="0" y="0"/>
          <a:ext cx="0" cy="0"/>
        </a:xfrm>
      </p:grpSpPr>
      <p:sp>
        <p:nvSpPr>
          <p:cNvPr id="988" name="Google Shape;988;g285cf5b5a17_0_28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285cf5b5a17_0_28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97" name="Shape 997"/>
        <p:cNvGrpSpPr/>
        <p:nvPr/>
      </p:nvGrpSpPr>
      <p:grpSpPr>
        <a:xfrm>
          <a:off x="0" y="0"/>
          <a:ext cx="0" cy="0"/>
        </a:xfrm>
      </p:grpSpPr>
      <p:sp>
        <p:nvSpPr>
          <p:cNvPr id="998" name="Google Shape;998;g285cf5b5a17_0_29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9" name="Google Shape;999;g285cf5b5a17_0_2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6" name="Shape 1006"/>
        <p:cNvGrpSpPr/>
        <p:nvPr/>
      </p:nvGrpSpPr>
      <p:grpSpPr>
        <a:xfrm>
          <a:off x="0" y="0"/>
          <a:ext cx="0" cy="0"/>
        </a:xfrm>
      </p:grpSpPr>
      <p:sp>
        <p:nvSpPr>
          <p:cNvPr id="1007" name="Google Shape;1007;g285cf5b5a17_0_3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85cf5b5a17_0_3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36" name="Shape 1036"/>
        <p:cNvGrpSpPr/>
        <p:nvPr/>
      </p:nvGrpSpPr>
      <p:grpSpPr>
        <a:xfrm>
          <a:off x="0" y="0"/>
          <a:ext cx="0" cy="0"/>
        </a:xfrm>
      </p:grpSpPr>
      <p:sp>
        <p:nvSpPr>
          <p:cNvPr id="1037" name="Google Shape;1037;g1e7e98aee68_0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8" name="Google Shape;1038;g1e7e98aee68_0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44" name="Shape 1044"/>
        <p:cNvGrpSpPr/>
        <p:nvPr/>
      </p:nvGrpSpPr>
      <p:grpSpPr>
        <a:xfrm>
          <a:off x="0" y="0"/>
          <a:ext cx="0" cy="0"/>
        </a:xfrm>
      </p:grpSpPr>
      <p:sp>
        <p:nvSpPr>
          <p:cNvPr id="1045" name="Google Shape;1045;g1e7e98aee68_0_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1e7e98aee68_0_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78" name="Shape 1078"/>
        <p:cNvGrpSpPr/>
        <p:nvPr/>
      </p:nvGrpSpPr>
      <p:grpSpPr>
        <a:xfrm>
          <a:off x="0" y="0"/>
          <a:ext cx="0" cy="0"/>
        </a:xfrm>
      </p:grpSpPr>
      <p:sp>
        <p:nvSpPr>
          <p:cNvPr id="1079" name="Google Shape;1079;g285cf5b5a17_0_19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0" name="Google Shape;1080;g285cf5b5a17_0_19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14" name="Shape 1114"/>
        <p:cNvGrpSpPr/>
        <p:nvPr/>
      </p:nvGrpSpPr>
      <p:grpSpPr>
        <a:xfrm>
          <a:off x="0" y="0"/>
          <a:ext cx="0" cy="0"/>
        </a:xfrm>
      </p:grpSpPr>
      <p:sp>
        <p:nvSpPr>
          <p:cNvPr id="1115" name="Google Shape;1115;g285cf5b5a17_0_26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285cf5b5a17_0_26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0" name="Shape 1130"/>
        <p:cNvGrpSpPr/>
        <p:nvPr/>
      </p:nvGrpSpPr>
      <p:grpSpPr>
        <a:xfrm>
          <a:off x="0" y="0"/>
          <a:ext cx="0" cy="0"/>
        </a:xfrm>
      </p:grpSpPr>
      <p:sp>
        <p:nvSpPr>
          <p:cNvPr id="1131" name="Google Shape;1131;g285cf5b5a17_0_2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285cf5b5a17_0_2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53" name="Shape 1153"/>
        <p:cNvGrpSpPr/>
        <p:nvPr/>
      </p:nvGrpSpPr>
      <p:grpSpPr>
        <a:xfrm>
          <a:off x="0" y="0"/>
          <a:ext cx="0" cy="0"/>
        </a:xfrm>
      </p:grpSpPr>
      <p:sp>
        <p:nvSpPr>
          <p:cNvPr id="1154" name="Google Shape;1154;g285f3971efa_0_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5" name="Google Shape;1155;g285f3971efa_0_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65" name="Shape 1165"/>
        <p:cNvGrpSpPr/>
        <p:nvPr/>
      </p:nvGrpSpPr>
      <p:grpSpPr>
        <a:xfrm>
          <a:off x="0" y="0"/>
          <a:ext cx="0" cy="0"/>
        </a:xfrm>
      </p:grpSpPr>
      <p:sp>
        <p:nvSpPr>
          <p:cNvPr id="1166" name="Google Shape;1166;g285f3971efa_0_2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7" name="Google Shape;1167;g285f3971efa_0_2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78" name="Shape 1178"/>
        <p:cNvGrpSpPr/>
        <p:nvPr/>
      </p:nvGrpSpPr>
      <p:grpSpPr>
        <a:xfrm>
          <a:off x="0" y="0"/>
          <a:ext cx="0" cy="0"/>
        </a:xfrm>
      </p:grpSpPr>
      <p:sp>
        <p:nvSpPr>
          <p:cNvPr id="1179" name="Google Shape;1179;g285f3971efa_0_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285f3971efa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91" name="Shape 1191"/>
        <p:cNvGrpSpPr/>
        <p:nvPr/>
      </p:nvGrpSpPr>
      <p:grpSpPr>
        <a:xfrm>
          <a:off x="0" y="0"/>
          <a:ext cx="0" cy="0"/>
        </a:xfrm>
      </p:grpSpPr>
      <p:sp>
        <p:nvSpPr>
          <p:cNvPr id="1192" name="Google Shape;1192;g285f3971efa_0_5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3" name="Google Shape;1193;g285f3971efa_0_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3" name="Shape 1203"/>
        <p:cNvGrpSpPr/>
        <p:nvPr/>
      </p:nvGrpSpPr>
      <p:grpSpPr>
        <a:xfrm>
          <a:off x="0" y="0"/>
          <a:ext cx="0" cy="0"/>
        </a:xfrm>
      </p:grpSpPr>
      <p:sp>
        <p:nvSpPr>
          <p:cNvPr id="1204" name="Google Shape;1204;g279955a40ae_0_84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279955a40ae_0_84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09" name="Shape 1209"/>
        <p:cNvGrpSpPr/>
        <p:nvPr/>
      </p:nvGrpSpPr>
      <p:grpSpPr>
        <a:xfrm>
          <a:off x="0" y="0"/>
          <a:ext cx="0" cy="0"/>
        </a:xfrm>
      </p:grpSpPr>
      <p:sp>
        <p:nvSpPr>
          <p:cNvPr id="1210" name="Google Shape;1210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1" name="Google Shape;1211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194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4.png" /><Relationship Id="rId4" Type="http://schemas.openxmlformats.org/officeDocument/2006/relationships/image" Target="../media/image45.jpe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6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6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5.jpeg" /><Relationship Id="rId4" Type="http://schemas.openxmlformats.org/officeDocument/2006/relationships/image" Target="../media/image47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48.png" /><Relationship Id="rId4" Type="http://schemas.openxmlformats.org/officeDocument/2006/relationships/image" Target="../media/image49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44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49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50.png" /><Relationship Id="rId4" Type="http://schemas.openxmlformats.org/officeDocument/2006/relationships/image" Target="../media/image51.png" /><Relationship Id="rId5" Type="http://schemas.openxmlformats.org/officeDocument/2006/relationships/image" Target="../media/image52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3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54.png" /><Relationship Id="rId4" Type="http://schemas.openxmlformats.org/officeDocument/2006/relationships/image" Target="../media/image50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55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43.png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6.png" /><Relationship Id="rId4" Type="http://schemas.openxmlformats.org/officeDocument/2006/relationships/image" Target="../media/image57.png" /><Relationship Id="rId5" Type="http://schemas.openxmlformats.org/officeDocument/2006/relationships/image" Target="../media/image58.png" /><Relationship Id="rId6" Type="http://schemas.openxmlformats.org/officeDocument/2006/relationships/image" Target="../media/image59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60.png" /><Relationship Id="rId4" Type="http://schemas.openxmlformats.org/officeDocument/2006/relationships/image" Target="../media/image57.png" /><Relationship Id="rId5" Type="http://schemas.openxmlformats.org/officeDocument/2006/relationships/image" Target="../media/image61.png" /><Relationship Id="rId6" Type="http://schemas.openxmlformats.org/officeDocument/2006/relationships/image" Target="../media/image62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21.xml" /><Relationship Id="rId3" Type="http://schemas.openxmlformats.org/officeDocument/2006/relationships/image" Target="../media/image63.png" /><Relationship Id="rId4" Type="http://schemas.openxmlformats.org/officeDocument/2006/relationships/image" Target="../media/image64.png" /><Relationship Id="rId5" Type="http://schemas.openxmlformats.org/officeDocument/2006/relationships/image" Target="../media/image58.png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2.xml" /><Relationship Id="rId2" Type="http://schemas.openxmlformats.org/officeDocument/2006/relationships/notesSlide" Target="../notesSlides/notesSlide22.xml" /><Relationship Id="rId3" Type="http://schemas.openxmlformats.org/officeDocument/2006/relationships/image" Target="../media/image65.png" /><Relationship Id="rId4" Type="http://schemas.openxmlformats.org/officeDocument/2006/relationships/image" Target="../media/image66.png" /><Relationship Id="rId5" Type="http://schemas.openxmlformats.org/officeDocument/2006/relationships/image" Target="../media/image67.png" /><Relationship Id="rId6" Type="http://schemas.openxmlformats.org/officeDocument/2006/relationships/image" Target="../media/image68.png" /><Relationship Id="rId7" Type="http://schemas.openxmlformats.org/officeDocument/2006/relationships/image" Target="../media/image49.pn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69.png" /><Relationship Id="rId4" Type="http://schemas.openxmlformats.org/officeDocument/2006/relationships/image" Target="../media/image70.png" /><Relationship Id="rId5" Type="http://schemas.openxmlformats.org/officeDocument/2006/relationships/image" Target="../media/image68.png" /><Relationship Id="rId6" Type="http://schemas.openxmlformats.org/officeDocument/2006/relationships/image" Target="../media/image62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24.xml" /><Relationship Id="rId3" Type="http://schemas.openxmlformats.org/officeDocument/2006/relationships/image" Target="../media/image71.png" /><Relationship Id="rId4" Type="http://schemas.openxmlformats.org/officeDocument/2006/relationships/image" Target="../media/image63.png" /><Relationship Id="rId5" Type="http://schemas.openxmlformats.org/officeDocument/2006/relationships/image" Target="../media/image72.png" /><Relationship Id="rId6" Type="http://schemas.openxmlformats.org/officeDocument/2006/relationships/image" Target="../media/image58.png" /><Relationship Id="rId7" Type="http://schemas.openxmlformats.org/officeDocument/2006/relationships/image" Target="../media/image73.png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25.xml" /><Relationship Id="rId3" Type="http://schemas.openxmlformats.org/officeDocument/2006/relationships/image" Target="../media/image74.png" /><Relationship Id="rId4" Type="http://schemas.openxmlformats.org/officeDocument/2006/relationships/image" Target="../media/image75.png" /><Relationship Id="rId5" Type="http://schemas.openxmlformats.org/officeDocument/2006/relationships/image" Target="../media/image68.png" /><Relationship Id="rId6" Type="http://schemas.openxmlformats.org/officeDocument/2006/relationships/image" Target="../media/image62.png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76.png" /><Relationship Id="rId4" Type="http://schemas.openxmlformats.org/officeDocument/2006/relationships/image" Target="../media/image77.png" /><Relationship Id="rId5" Type="http://schemas.openxmlformats.org/officeDocument/2006/relationships/image" Target="../media/image63.png" /><Relationship Id="rId6" Type="http://schemas.openxmlformats.org/officeDocument/2006/relationships/image" Target="../media/image58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28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78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objects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Transformations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enlarge objects using information about the centre of enlargement and scale factor.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1"/>
          </p:nvPr>
        </p:nvSpPr>
        <p:spPr>
          <a:xfrm>
            <a:off x="324000" y="993650"/>
            <a:ext cx="8496000" cy="858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centre of enlargement</a:t>
            </a:r>
            <a:r>
              <a:rPr lang="en-GB" b="1"/>
              <a:t> </a:t>
            </a:r>
            <a:r>
              <a:rPr lang="en-GB"/>
              <a:t>is the point from which a shape is enlarged.</a:t>
            </a:r>
            <a:endParaRPr/>
          </a:p>
        </p:txBody>
      </p:sp>
      <p:sp>
        <p:nvSpPr>
          <p:cNvPr id="767" name="Google Shape;767;p67"/>
          <p:cNvSpPr txBox="1"/>
          <p:nvPr>
            <p:ph type="subTitle" idx="2"/>
          </p:nvPr>
        </p:nvSpPr>
        <p:spPr>
          <a:xfrm>
            <a:off x="324000" y="2238725"/>
            <a:ext cx="8496000" cy="88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Scale factor is the multiplier between similar shapes that describes how large one shape is compared to the other.</a:t>
            </a:r>
            <a:endParaRPr/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1" name="Shape 771"/>
        <p:cNvGrpSpPr/>
        <p:nvPr/>
      </p:nvGrpSpPr>
      <p:grpSpPr>
        <a:xfrm>
          <a:off x="0" y="0"/>
          <a:ext cx="0" cy="0"/>
        </a:xfrm>
      </p:grpSpPr>
      <p:sp>
        <p:nvSpPr>
          <p:cNvPr id="772" name="Google Shape;772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using an integer scale factor</a:t>
            </a:r>
            <a:endParaRPr/>
          </a:p>
        </p:txBody>
      </p:sp>
      <p:sp>
        <p:nvSpPr>
          <p:cNvPr id="773" name="Google Shape;773;p68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using a non-integer scale factor</a:t>
            </a:r>
            <a:endParaRPr/>
          </a:p>
        </p:txBody>
      </p:sp>
      <p:sp>
        <p:nvSpPr>
          <p:cNvPr id="774" name="Google Shape;774;p68"/>
          <p:cNvSpPr txBox="1"/>
          <p:nvPr>
            <p:ph type="title" idx="3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objects</a:t>
            </a:r>
            <a:endParaRPr/>
          </a:p>
        </p:txBody>
      </p:sp>
      <p:pic>
        <p:nvPicPr>
          <p:cNvPr id="775" name="Google Shape;775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150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9" name="Shape 779"/>
        <p:cNvGrpSpPr/>
        <p:nvPr/>
      </p:nvGrpSpPr>
      <p:grpSpPr>
        <a:xfrm>
          <a:off x="0" y="0"/>
          <a:ext cx="0" cy="0"/>
        </a:xfrm>
      </p:grpSpPr>
      <p:sp>
        <p:nvSpPr>
          <p:cNvPr id="780" name="Google Shape;780;p69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Enlarge the triangle by a scale factor of 2 from the centre of enlargement.</a:t>
            </a:r>
            <a:endParaRPr sz="1800"/>
          </a:p>
        </p:txBody>
      </p:sp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using an integer scale factor</a:t>
            </a:r>
            <a:endParaRPr/>
          </a:p>
        </p:txBody>
      </p:sp>
      <p:pic>
        <p:nvPicPr>
          <p:cNvPr id="782" name="Google Shape;782;p69"/>
          <p:cNvPicPr preferRelativeResize="0"/>
          <p:nvPr/>
        </p:nvPicPr>
        <p:blipFill>
          <a:blip r:embed="rId3">
            <a:alphaModFix/>
          </a:blip>
          <a:srcRect r="47451"/>
          <a:stretch>
            <a:fillRect/>
          </a:stretch>
        </p:blipFill>
        <p:spPr>
          <a:xfrm>
            <a:off x="5351140" y="1212312"/>
            <a:ext cx="1250987" cy="33065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3" name="Google Shape;783;p69"/>
          <p:cNvCxnSpPr/>
          <p:nvPr/>
        </p:nvCxnSpPr>
        <p:spPr>
          <a:xfrm>
            <a:off x="5532625" y="2890729"/>
            <a:ext cx="2407200" cy="1824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84" name="Google Shape;784;p69"/>
          <p:cNvPicPr preferRelativeResize="0"/>
          <p:nvPr/>
        </p:nvPicPr>
        <p:blipFill>
          <a:blip r:embed="rId4">
            <a:alphaModFix/>
          </a:blip>
          <a:srcRect l="3911" t="12846" r="64101" b="42825"/>
          <a:stretch>
            <a:fillRect/>
          </a:stretch>
        </p:blipFill>
        <p:spPr>
          <a:xfrm rot="2236720">
            <a:off x="5082739" y="3618561"/>
            <a:ext cx="2622882" cy="452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785" name="Google Shape;785;p69"/>
          <p:cNvPicPr preferRelativeResize="0"/>
          <p:nvPr/>
        </p:nvPicPr>
        <p:blipFill>
          <a:blip r:embed="rId4">
            <a:alphaModFix/>
          </a:blip>
          <a:srcRect l="3996" t="12485" r="63591" b="40329"/>
          <a:stretch>
            <a:fillRect/>
          </a:stretch>
        </p:blipFill>
        <p:spPr>
          <a:xfrm rot="-13">
            <a:off x="5468525" y="2904681"/>
            <a:ext cx="2740675" cy="496812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69"/>
          <p:cNvSpPr/>
          <p:nvPr/>
        </p:nvSpPr>
        <p:spPr>
          <a:xfrm>
            <a:off x="6473227" y="3597906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787" name="Google Shape;787;p69"/>
          <p:cNvCxnSpPr/>
          <p:nvPr/>
        </p:nvCxnSpPr>
        <p:spPr>
          <a:xfrm>
            <a:off x="5532625" y="2890729"/>
            <a:ext cx="31434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8" name="Google Shape;788;p69"/>
          <p:cNvSpPr/>
          <p:nvPr/>
        </p:nvSpPr>
        <p:spPr>
          <a:xfrm>
            <a:off x="6232777" y="2858781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789" name="Google Shape;789;p69"/>
          <p:cNvCxnSpPr/>
          <p:nvPr/>
        </p:nvCxnSpPr>
        <p:spPr>
          <a:xfrm rot="10800000" flipH="1">
            <a:off x="5534275" y="1223090"/>
            <a:ext cx="2195700" cy="1673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90" name="Google Shape;790;p69"/>
          <p:cNvPicPr preferRelativeResize="0"/>
          <p:nvPr/>
        </p:nvPicPr>
        <p:blipFill>
          <a:blip r:embed="rId4">
            <a:alphaModFix/>
          </a:blip>
          <a:srcRect l="3560" t="13553" r="63596" b="40329"/>
          <a:stretch>
            <a:fillRect/>
          </a:stretch>
        </p:blipFill>
        <p:spPr>
          <a:xfrm rot="-2248383">
            <a:off x="5322206" y="2090444"/>
            <a:ext cx="2751986" cy="481136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9"/>
          <p:cNvSpPr/>
          <p:nvPr/>
        </p:nvSpPr>
        <p:spPr>
          <a:xfrm>
            <a:off x="6485427" y="2092756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92" name="Google Shape;792;p69"/>
          <p:cNvSpPr/>
          <p:nvPr/>
        </p:nvSpPr>
        <p:spPr>
          <a:xfrm rot="-5400000">
            <a:off x="5796449" y="2668100"/>
            <a:ext cx="3000900" cy="483900"/>
          </a:xfrm>
          <a:prstGeom prst="triangle">
            <a:avLst>
              <a:gd name="adj" fmla="val 50000"/>
            </a:avLst>
          </a:prstGeom>
          <a:solidFill>
            <a:srgbClr val="C1DEDF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93" name="Google Shape;793;p69"/>
          <p:cNvSpPr txBox="1"/>
          <p:nvPr>
            <p:ph type="body" idx="1"/>
          </p:nvPr>
        </p:nvSpPr>
        <p:spPr>
          <a:xfrm>
            <a:off x="324000" y="1397417"/>
            <a:ext cx="39960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Method 1: measuring with a ruler</a:t>
            </a:r>
            <a:endParaRPr sz="1800"/>
          </a:p>
        </p:txBody>
      </p:sp>
      <p:sp>
        <p:nvSpPr>
          <p:cNvPr id="794" name="Google Shape;794;p69"/>
          <p:cNvSpPr txBox="1"/>
          <p:nvPr>
            <p:ph type="body" idx="1"/>
          </p:nvPr>
        </p:nvSpPr>
        <p:spPr>
          <a:xfrm>
            <a:off x="320125" y="1836275"/>
            <a:ext cx="45039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Draw a line through a vertex from the centre of enlargement.</a:t>
            </a:r>
            <a:endParaRPr sz="1800"/>
          </a:p>
        </p:txBody>
      </p:sp>
      <p:sp>
        <p:nvSpPr>
          <p:cNvPr id="795" name="Google Shape;795;p69"/>
          <p:cNvSpPr txBox="1"/>
          <p:nvPr>
            <p:ph type="body" idx="1"/>
          </p:nvPr>
        </p:nvSpPr>
        <p:spPr>
          <a:xfrm>
            <a:off x="320908" y="2561232"/>
            <a:ext cx="4497300" cy="40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Measure the distance.</a:t>
            </a:r>
            <a:endParaRPr sz="1800"/>
          </a:p>
        </p:txBody>
      </p:sp>
      <p:sp>
        <p:nvSpPr>
          <p:cNvPr id="796" name="Google Shape;796;p69"/>
          <p:cNvSpPr txBox="1"/>
          <p:nvPr>
            <p:ph type="body" idx="1"/>
          </p:nvPr>
        </p:nvSpPr>
        <p:spPr>
          <a:xfrm>
            <a:off x="320925" y="2962270"/>
            <a:ext cx="4503900" cy="94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Multiply the distance by the scale factor and mark the corresponding vertex in the image. </a:t>
            </a:r>
            <a:endParaRPr sz="1800"/>
          </a:p>
        </p:txBody>
      </p:sp>
      <p:sp>
        <p:nvSpPr>
          <p:cNvPr id="797" name="Google Shape;797;p69"/>
          <p:cNvSpPr txBox="1"/>
          <p:nvPr>
            <p:ph type="body" idx="1"/>
          </p:nvPr>
        </p:nvSpPr>
        <p:spPr>
          <a:xfrm>
            <a:off x="320934" y="4005400"/>
            <a:ext cx="4503900" cy="434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Join up the new vertices.</a:t>
            </a:r>
            <a:endParaRPr sz="1800"/>
          </a:p>
        </p:txBody>
      </p:sp>
      <p:sp>
        <p:nvSpPr>
          <p:cNvPr id="798" name="Google Shape;798;p69"/>
          <p:cNvSpPr/>
          <p:nvPr/>
        </p:nvSpPr>
        <p:spPr>
          <a:xfrm>
            <a:off x="7473296" y="4355874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99" name="Google Shape;799;p69"/>
          <p:cNvSpPr/>
          <p:nvPr/>
        </p:nvSpPr>
        <p:spPr>
          <a:xfrm>
            <a:off x="7020508" y="2858781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00" name="Google Shape;800;p69"/>
          <p:cNvSpPr/>
          <p:nvPr/>
        </p:nvSpPr>
        <p:spPr>
          <a:xfrm>
            <a:off x="7495682" y="1332261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4" name="Shape 804"/>
        <p:cNvGrpSpPr/>
        <p:nvPr/>
      </p:nvGrpSpPr>
      <p:grpSpPr>
        <a:xfrm>
          <a:off x="0" y="0"/>
          <a:ext cx="0" cy="0"/>
        </a:xfrm>
      </p:grpSpPr>
      <p:pic>
        <p:nvPicPr>
          <p:cNvPr id="805" name="Google Shape;805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1844" y="1146025"/>
            <a:ext cx="2520925" cy="3517350"/>
          </a:xfrm>
          <a:prstGeom prst="rect">
            <a:avLst/>
          </a:prstGeom>
          <a:noFill/>
          <a:ln>
            <a:noFill/>
          </a:ln>
        </p:spPr>
      </p:pic>
      <p:sp>
        <p:nvSpPr>
          <p:cNvPr id="806" name="Google Shape;806;p70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Enlarge the triangle by a scale factor of 2 from the centre of enlargement.</a:t>
            </a:r>
            <a:endParaRPr sz="1800"/>
          </a:p>
        </p:txBody>
      </p:sp>
      <p:sp>
        <p:nvSpPr>
          <p:cNvPr id="807" name="Google Shape;80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using an integer scale factor</a:t>
            </a:r>
            <a:endParaRPr/>
          </a:p>
        </p:txBody>
      </p:sp>
      <p:sp>
        <p:nvSpPr>
          <p:cNvPr id="808" name="Google Shape;808;p70"/>
          <p:cNvSpPr txBox="1"/>
          <p:nvPr>
            <p:ph type="body" idx="1"/>
          </p:nvPr>
        </p:nvSpPr>
        <p:spPr>
          <a:xfrm>
            <a:off x="324000" y="1397417"/>
            <a:ext cx="39960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Method 2: count squares</a:t>
            </a:r>
            <a:endParaRPr sz="1800"/>
          </a:p>
        </p:txBody>
      </p:sp>
      <p:cxnSp>
        <p:nvCxnSpPr>
          <p:cNvPr id="809" name="Google Shape;809;p70"/>
          <p:cNvCxnSpPr/>
          <p:nvPr/>
        </p:nvCxnSpPr>
        <p:spPr>
          <a:xfrm flipH="1">
            <a:off x="5525949" y="2941500"/>
            <a:ext cx="0" cy="713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0" name="Google Shape;810;p70"/>
          <p:cNvCxnSpPr/>
          <p:nvPr/>
        </p:nvCxnSpPr>
        <p:spPr>
          <a:xfrm>
            <a:off x="5528994" y="3654600"/>
            <a:ext cx="993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1" name="Google Shape;811;p70"/>
          <p:cNvSpPr/>
          <p:nvPr/>
        </p:nvSpPr>
        <p:spPr>
          <a:xfrm>
            <a:off x="6473227" y="3619391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812" name="Google Shape;812;p70"/>
          <p:cNvCxnSpPr/>
          <p:nvPr/>
        </p:nvCxnSpPr>
        <p:spPr>
          <a:xfrm flipH="1">
            <a:off x="5525949" y="2949368"/>
            <a:ext cx="0" cy="1450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3" name="Google Shape;813;p70"/>
          <p:cNvCxnSpPr>
            <a:endCxn id="814" idx="2"/>
          </p:cNvCxnSpPr>
          <p:nvPr/>
        </p:nvCxnSpPr>
        <p:spPr>
          <a:xfrm>
            <a:off x="5520027" y="4399566"/>
            <a:ext cx="19578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5" name="Google Shape;815;p70"/>
          <p:cNvSpPr txBox="1"/>
          <p:nvPr>
            <p:ph type="body" idx="1"/>
          </p:nvPr>
        </p:nvSpPr>
        <p:spPr>
          <a:xfrm>
            <a:off x="5357644" y="3159008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816" name="Google Shape;816;p70"/>
          <p:cNvSpPr txBox="1"/>
          <p:nvPr>
            <p:ph type="body" idx="1"/>
          </p:nvPr>
        </p:nvSpPr>
        <p:spPr>
          <a:xfrm>
            <a:off x="5935274" y="3626828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817" name="Google Shape;817;p70"/>
          <p:cNvSpPr txBox="1"/>
          <p:nvPr>
            <p:ph type="body" idx="1"/>
          </p:nvPr>
        </p:nvSpPr>
        <p:spPr>
          <a:xfrm>
            <a:off x="5356203" y="3524870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818" name="Google Shape;818;p70"/>
          <p:cNvSpPr txBox="1"/>
          <p:nvPr>
            <p:ph type="body" idx="1"/>
          </p:nvPr>
        </p:nvSpPr>
        <p:spPr>
          <a:xfrm>
            <a:off x="6459174" y="4399570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819" name="Google Shape;819;p70"/>
          <p:cNvSpPr txBox="1"/>
          <p:nvPr>
            <p:ph type="body" idx="1"/>
          </p:nvPr>
        </p:nvSpPr>
        <p:spPr>
          <a:xfrm>
            <a:off x="6769463" y="3514112"/>
            <a:ext cx="3678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× 2</a:t>
            </a:r>
            <a:endParaRPr sz="1600"/>
          </a:p>
        </p:txBody>
      </p:sp>
      <p:sp>
        <p:nvSpPr>
          <p:cNvPr id="820" name="Google Shape;820;p70"/>
          <p:cNvSpPr txBox="1"/>
          <p:nvPr>
            <p:ph type="body" idx="1"/>
          </p:nvPr>
        </p:nvSpPr>
        <p:spPr>
          <a:xfrm>
            <a:off x="6769463" y="2783344"/>
            <a:ext cx="3678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× 2</a:t>
            </a:r>
            <a:endParaRPr sz="1600"/>
          </a:p>
        </p:txBody>
      </p:sp>
      <p:sp>
        <p:nvSpPr>
          <p:cNvPr id="821" name="Google Shape;821;p70"/>
          <p:cNvSpPr txBox="1"/>
          <p:nvPr>
            <p:ph type="body" idx="1"/>
          </p:nvPr>
        </p:nvSpPr>
        <p:spPr>
          <a:xfrm>
            <a:off x="6774844" y="2009524"/>
            <a:ext cx="3678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× 2</a:t>
            </a:r>
            <a:endParaRPr sz="1600"/>
          </a:p>
        </p:txBody>
      </p:sp>
      <p:sp>
        <p:nvSpPr>
          <p:cNvPr id="822" name="Google Shape;822;p70"/>
          <p:cNvSpPr/>
          <p:nvPr/>
        </p:nvSpPr>
        <p:spPr>
          <a:xfrm>
            <a:off x="6232802" y="2858941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823" name="Google Shape;823;p70"/>
          <p:cNvCxnSpPr>
            <a:endCxn id="822" idx="2"/>
          </p:cNvCxnSpPr>
          <p:nvPr/>
        </p:nvCxnSpPr>
        <p:spPr>
          <a:xfrm>
            <a:off x="5563202" y="2904691"/>
            <a:ext cx="6696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24" name="Google Shape;824;p70"/>
          <p:cNvSpPr txBox="1"/>
          <p:nvPr>
            <p:ph type="body" idx="1"/>
          </p:nvPr>
        </p:nvSpPr>
        <p:spPr>
          <a:xfrm>
            <a:off x="5813849" y="2916303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825" name="Google Shape;825;p70"/>
          <p:cNvSpPr txBox="1"/>
          <p:nvPr>
            <p:ph type="body" idx="1"/>
          </p:nvPr>
        </p:nvSpPr>
        <p:spPr>
          <a:xfrm>
            <a:off x="320125" y="1836275"/>
            <a:ext cx="4503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Choose a vertex on the object.</a:t>
            </a:r>
            <a:endParaRPr sz="1800"/>
          </a:p>
        </p:txBody>
      </p:sp>
      <p:sp>
        <p:nvSpPr>
          <p:cNvPr id="826" name="Google Shape;826;p70"/>
          <p:cNvSpPr txBox="1"/>
          <p:nvPr>
            <p:ph type="body" idx="1"/>
          </p:nvPr>
        </p:nvSpPr>
        <p:spPr>
          <a:xfrm>
            <a:off x="316500" y="2244548"/>
            <a:ext cx="4727100" cy="63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Starting at the centre of enlargement, travel along the grid to the vertex.</a:t>
            </a:r>
            <a:endParaRPr sz="1800"/>
          </a:p>
        </p:txBody>
      </p:sp>
      <p:sp>
        <p:nvSpPr>
          <p:cNvPr id="827" name="Google Shape;827;p70"/>
          <p:cNvSpPr txBox="1"/>
          <p:nvPr>
            <p:ph type="body" idx="1"/>
          </p:nvPr>
        </p:nvSpPr>
        <p:spPr>
          <a:xfrm>
            <a:off x="321050" y="2962273"/>
            <a:ext cx="4503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Count the number of squares you travel in each direction.</a:t>
            </a:r>
            <a:endParaRPr sz="1800"/>
          </a:p>
        </p:txBody>
      </p:sp>
      <p:sp>
        <p:nvSpPr>
          <p:cNvPr id="828" name="Google Shape;828;p70"/>
          <p:cNvSpPr txBox="1"/>
          <p:nvPr>
            <p:ph type="body" idx="1"/>
          </p:nvPr>
        </p:nvSpPr>
        <p:spPr>
          <a:xfrm>
            <a:off x="321050" y="4504003"/>
            <a:ext cx="4503000" cy="31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Join up the new vertices.</a:t>
            </a:r>
            <a:endParaRPr sz="1800"/>
          </a:p>
        </p:txBody>
      </p:sp>
      <p:sp>
        <p:nvSpPr>
          <p:cNvPr id="829" name="Google Shape;829;p70"/>
          <p:cNvSpPr txBox="1"/>
          <p:nvPr>
            <p:ph type="body" idx="1"/>
          </p:nvPr>
        </p:nvSpPr>
        <p:spPr>
          <a:xfrm>
            <a:off x="321050" y="3688068"/>
            <a:ext cx="4503000" cy="31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Multiply by the scale factor. </a:t>
            </a:r>
            <a:endParaRPr sz="1800"/>
          </a:p>
        </p:txBody>
      </p:sp>
      <p:sp>
        <p:nvSpPr>
          <p:cNvPr id="830" name="Google Shape;830;p70"/>
          <p:cNvSpPr txBox="1"/>
          <p:nvPr>
            <p:ph type="body" idx="1"/>
          </p:nvPr>
        </p:nvSpPr>
        <p:spPr>
          <a:xfrm>
            <a:off x="316541" y="4098396"/>
            <a:ext cx="40662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Mark the corresponding vertex.</a:t>
            </a:r>
            <a:endParaRPr sz="1800"/>
          </a:p>
        </p:txBody>
      </p:sp>
      <p:cxnSp>
        <p:nvCxnSpPr>
          <p:cNvPr id="831" name="Google Shape;831;p70"/>
          <p:cNvCxnSpPr/>
          <p:nvPr/>
        </p:nvCxnSpPr>
        <p:spPr>
          <a:xfrm>
            <a:off x="5563202" y="2901228"/>
            <a:ext cx="1409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2" name="Google Shape;832;p70"/>
          <p:cNvSpPr txBox="1"/>
          <p:nvPr>
            <p:ph type="body" idx="1"/>
          </p:nvPr>
        </p:nvSpPr>
        <p:spPr>
          <a:xfrm>
            <a:off x="6019367" y="2920873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cxnSp>
        <p:nvCxnSpPr>
          <p:cNvPr id="833" name="Google Shape;833;p70"/>
          <p:cNvCxnSpPr/>
          <p:nvPr/>
        </p:nvCxnSpPr>
        <p:spPr>
          <a:xfrm rot="10800000">
            <a:off x="5522724" y="2164150"/>
            <a:ext cx="1800" cy="694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34" name="Google Shape;834;p70"/>
          <p:cNvCxnSpPr/>
          <p:nvPr/>
        </p:nvCxnSpPr>
        <p:spPr>
          <a:xfrm>
            <a:off x="5528994" y="2162300"/>
            <a:ext cx="993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5" name="Google Shape;835;p70"/>
          <p:cNvSpPr/>
          <p:nvPr/>
        </p:nvSpPr>
        <p:spPr>
          <a:xfrm>
            <a:off x="6479143" y="2108325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36" name="Google Shape;836;p70"/>
          <p:cNvSpPr txBox="1"/>
          <p:nvPr>
            <p:ph type="body" idx="1"/>
          </p:nvPr>
        </p:nvSpPr>
        <p:spPr>
          <a:xfrm>
            <a:off x="5362110" y="2403761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837" name="Google Shape;837;p70"/>
          <p:cNvSpPr txBox="1"/>
          <p:nvPr>
            <p:ph type="body" idx="1"/>
          </p:nvPr>
        </p:nvSpPr>
        <p:spPr>
          <a:xfrm>
            <a:off x="5947106" y="1931436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cxnSp>
        <p:nvCxnSpPr>
          <p:cNvPr id="838" name="Google Shape;838;p70"/>
          <p:cNvCxnSpPr/>
          <p:nvPr/>
        </p:nvCxnSpPr>
        <p:spPr>
          <a:xfrm rot="10800000" flipH="1">
            <a:off x="5524525" y="1412675"/>
            <a:ext cx="0" cy="1419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9" name="Google Shape;839;p70"/>
          <p:cNvSpPr txBox="1"/>
          <p:nvPr>
            <p:ph type="body" idx="1"/>
          </p:nvPr>
        </p:nvSpPr>
        <p:spPr>
          <a:xfrm>
            <a:off x="5359417" y="2021810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cxnSp>
        <p:nvCxnSpPr>
          <p:cNvPr id="840" name="Google Shape;840;p70"/>
          <p:cNvCxnSpPr/>
          <p:nvPr/>
        </p:nvCxnSpPr>
        <p:spPr>
          <a:xfrm>
            <a:off x="5531859" y="1413934"/>
            <a:ext cx="19578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41" name="Google Shape;841;p70"/>
          <p:cNvSpPr txBox="1"/>
          <p:nvPr>
            <p:ph type="body" idx="1"/>
          </p:nvPr>
        </p:nvSpPr>
        <p:spPr>
          <a:xfrm>
            <a:off x="6465090" y="1191255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sp>
        <p:nvSpPr>
          <p:cNvPr id="842" name="Google Shape;842;p70"/>
          <p:cNvSpPr/>
          <p:nvPr/>
        </p:nvSpPr>
        <p:spPr>
          <a:xfrm rot="-5400000">
            <a:off x="5772750" y="2659700"/>
            <a:ext cx="3005400" cy="505500"/>
          </a:xfrm>
          <a:prstGeom prst="triangle">
            <a:avLst>
              <a:gd name="adj" fmla="val 50000"/>
            </a:avLst>
          </a:prstGeom>
          <a:solidFill>
            <a:srgbClr val="C1DEDF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14" name="Google Shape;814;p70"/>
          <p:cNvSpPr/>
          <p:nvPr/>
        </p:nvSpPr>
        <p:spPr>
          <a:xfrm>
            <a:off x="7477827" y="4353816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3" name="Google Shape;843;p70"/>
          <p:cNvSpPr/>
          <p:nvPr/>
        </p:nvSpPr>
        <p:spPr>
          <a:xfrm>
            <a:off x="6972302" y="2849236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44" name="Google Shape;844;p70"/>
          <p:cNvSpPr/>
          <p:nvPr/>
        </p:nvSpPr>
        <p:spPr>
          <a:xfrm>
            <a:off x="7477827" y="1368166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6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8" name="Shape 848"/>
        <p:cNvGrpSpPr/>
        <p:nvPr/>
      </p:nvGrpSpPr>
      <p:grpSpPr>
        <a:xfrm>
          <a:off x="0" y="0"/>
          <a:ext cx="0" cy="0"/>
        </a:xfrm>
      </p:grpSpPr>
      <p:pic>
        <p:nvPicPr>
          <p:cNvPr id="849" name="Google Shape;849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1844" y="1146025"/>
            <a:ext cx="2520925" cy="351735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71"/>
          <p:cNvSpPr txBox="1"/>
          <p:nvPr>
            <p:ph type="body" idx="1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Enlarge the triangle by a scale factor of 2 from the centre of enlargement.</a:t>
            </a:r>
            <a:endParaRPr sz="1800"/>
          </a:p>
        </p:txBody>
      </p:sp>
      <p:sp>
        <p:nvSpPr>
          <p:cNvPr id="851" name="Google Shape;85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using an integer scale factor</a:t>
            </a:r>
            <a:endParaRPr/>
          </a:p>
        </p:txBody>
      </p:sp>
      <p:sp>
        <p:nvSpPr>
          <p:cNvPr id="852" name="Google Shape;852;p71"/>
          <p:cNvSpPr txBox="1"/>
          <p:nvPr>
            <p:ph type="body" idx="1"/>
          </p:nvPr>
        </p:nvSpPr>
        <p:spPr>
          <a:xfrm>
            <a:off x="324000" y="1397417"/>
            <a:ext cx="3996000" cy="36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Method 3: mark just one point</a:t>
            </a:r>
            <a:endParaRPr sz="1800"/>
          </a:p>
        </p:txBody>
      </p:sp>
      <p:sp>
        <p:nvSpPr>
          <p:cNvPr id="853" name="Google Shape;853;p71"/>
          <p:cNvSpPr/>
          <p:nvPr/>
        </p:nvSpPr>
        <p:spPr>
          <a:xfrm>
            <a:off x="6473227" y="3619391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854" name="Google Shape;854;p71"/>
          <p:cNvCxnSpPr/>
          <p:nvPr/>
        </p:nvCxnSpPr>
        <p:spPr>
          <a:xfrm flipH="1">
            <a:off x="6625546" y="2158415"/>
            <a:ext cx="0" cy="1490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55" name="Google Shape;855;p71"/>
          <p:cNvSpPr txBox="1"/>
          <p:nvPr>
            <p:ph type="body" idx="1"/>
          </p:nvPr>
        </p:nvSpPr>
        <p:spPr>
          <a:xfrm>
            <a:off x="6646722" y="2782753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856" name="Google Shape;856;p71"/>
          <p:cNvSpPr txBox="1"/>
          <p:nvPr>
            <p:ph type="body" idx="1"/>
          </p:nvPr>
        </p:nvSpPr>
        <p:spPr>
          <a:xfrm>
            <a:off x="6337696" y="3683556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endParaRPr sz="1600"/>
          </a:p>
        </p:txBody>
      </p:sp>
      <p:sp>
        <p:nvSpPr>
          <p:cNvPr id="857" name="Google Shape;857;p71"/>
          <p:cNvSpPr txBox="1"/>
          <p:nvPr>
            <p:ph type="body" idx="1"/>
          </p:nvPr>
        </p:nvSpPr>
        <p:spPr>
          <a:xfrm>
            <a:off x="6993713" y="2762462"/>
            <a:ext cx="3678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× 2</a:t>
            </a:r>
            <a:endParaRPr sz="1600"/>
          </a:p>
        </p:txBody>
      </p:sp>
      <p:sp>
        <p:nvSpPr>
          <p:cNvPr id="858" name="Google Shape;858;p71"/>
          <p:cNvSpPr txBox="1"/>
          <p:nvPr>
            <p:ph type="body" idx="1"/>
          </p:nvPr>
        </p:nvSpPr>
        <p:spPr>
          <a:xfrm>
            <a:off x="320125" y="1836275"/>
            <a:ext cx="4503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Use any method to find the position of the first vertex on the image.</a:t>
            </a:r>
            <a:endParaRPr sz="1800"/>
          </a:p>
        </p:txBody>
      </p:sp>
      <p:sp>
        <p:nvSpPr>
          <p:cNvPr id="859" name="Google Shape;859;p71"/>
          <p:cNvSpPr txBox="1"/>
          <p:nvPr>
            <p:ph type="body" idx="1"/>
          </p:nvPr>
        </p:nvSpPr>
        <p:spPr>
          <a:xfrm>
            <a:off x="322424" y="2567100"/>
            <a:ext cx="4503000" cy="6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Measure the distance between two vertices on the object.</a:t>
            </a:r>
            <a:endParaRPr sz="1800"/>
          </a:p>
        </p:txBody>
      </p:sp>
      <p:sp>
        <p:nvSpPr>
          <p:cNvPr id="860" name="Google Shape;860;p71"/>
          <p:cNvSpPr txBox="1"/>
          <p:nvPr>
            <p:ph type="body" idx="1"/>
          </p:nvPr>
        </p:nvSpPr>
        <p:spPr>
          <a:xfrm>
            <a:off x="321000" y="3294075"/>
            <a:ext cx="4503000" cy="31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Multiply by the scale factor.</a:t>
            </a:r>
            <a:endParaRPr sz="1800"/>
          </a:p>
        </p:txBody>
      </p:sp>
      <p:sp>
        <p:nvSpPr>
          <p:cNvPr id="861" name="Google Shape;861;p71"/>
          <p:cNvSpPr txBox="1"/>
          <p:nvPr>
            <p:ph type="body" idx="1"/>
          </p:nvPr>
        </p:nvSpPr>
        <p:spPr>
          <a:xfrm>
            <a:off x="316425" y="3707225"/>
            <a:ext cx="4503000" cy="63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Use your answer to find a new vertex on the image.</a:t>
            </a:r>
            <a:endParaRPr sz="1800"/>
          </a:p>
        </p:txBody>
      </p:sp>
      <p:sp>
        <p:nvSpPr>
          <p:cNvPr id="862" name="Google Shape;862;p71"/>
          <p:cNvSpPr txBox="1"/>
          <p:nvPr>
            <p:ph type="body" idx="1"/>
          </p:nvPr>
        </p:nvSpPr>
        <p:spPr>
          <a:xfrm>
            <a:off x="315134" y="4422597"/>
            <a:ext cx="4503000" cy="31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spcBef>
                <a:spcPct val="0"/>
              </a:spcBef>
              <a:spcAft>
                <a:spcPct val="0"/>
              </a:spcAft>
              <a:buSzPts val="1800"/>
              <a:buChar char="●"/>
            </a:pPr>
            <a:r>
              <a:rPr lang="en-GB" sz="1800"/>
              <a:t>Join up the new vertices.</a:t>
            </a:r>
            <a:endParaRPr sz="1800"/>
          </a:p>
        </p:txBody>
      </p:sp>
      <p:sp>
        <p:nvSpPr>
          <p:cNvPr id="863" name="Google Shape;863;p71"/>
          <p:cNvSpPr/>
          <p:nvPr/>
        </p:nvSpPr>
        <p:spPr>
          <a:xfrm>
            <a:off x="6470648" y="2097266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864" name="Google Shape;864;p71"/>
          <p:cNvCxnSpPr/>
          <p:nvPr/>
        </p:nvCxnSpPr>
        <p:spPr>
          <a:xfrm flipH="1">
            <a:off x="7517650" y="1435700"/>
            <a:ext cx="0" cy="2896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65" name="Google Shape;865;p71"/>
          <p:cNvSpPr txBox="1"/>
          <p:nvPr>
            <p:ph type="body" idx="1"/>
          </p:nvPr>
        </p:nvSpPr>
        <p:spPr>
          <a:xfrm>
            <a:off x="7540228" y="2785034"/>
            <a:ext cx="2538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12</a:t>
            </a:r>
            <a:endParaRPr sz="1600"/>
          </a:p>
        </p:txBody>
      </p:sp>
      <p:sp>
        <p:nvSpPr>
          <p:cNvPr id="866" name="Google Shape;866;p71"/>
          <p:cNvSpPr/>
          <p:nvPr/>
        </p:nvSpPr>
        <p:spPr>
          <a:xfrm>
            <a:off x="6211052" y="2860616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867" name="Google Shape;867;p71"/>
          <p:cNvCxnSpPr/>
          <p:nvPr/>
        </p:nvCxnSpPr>
        <p:spPr>
          <a:xfrm>
            <a:off x="6255100" y="3652353"/>
            <a:ext cx="262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68" name="Google Shape;868;p71"/>
          <p:cNvCxnSpPr>
            <a:stCxn id="866" idx="4"/>
          </p:cNvCxnSpPr>
          <p:nvPr/>
        </p:nvCxnSpPr>
        <p:spPr>
          <a:xfrm>
            <a:off x="6256802" y="2952116"/>
            <a:ext cx="11400" cy="700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69" name="Google Shape;869;p71"/>
          <p:cNvSpPr txBox="1"/>
          <p:nvPr>
            <p:ph type="body" idx="1"/>
          </p:nvPr>
        </p:nvSpPr>
        <p:spPr>
          <a:xfrm>
            <a:off x="6086671" y="3181031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870" name="Google Shape;870;p71"/>
          <p:cNvSpPr txBox="1"/>
          <p:nvPr>
            <p:ph type="body" idx="1"/>
          </p:nvPr>
        </p:nvSpPr>
        <p:spPr>
          <a:xfrm>
            <a:off x="6508732" y="3944398"/>
            <a:ext cx="3678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× 2</a:t>
            </a:r>
            <a:endParaRPr sz="1600"/>
          </a:p>
        </p:txBody>
      </p:sp>
      <p:cxnSp>
        <p:nvCxnSpPr>
          <p:cNvPr id="871" name="Google Shape;871;p71"/>
          <p:cNvCxnSpPr/>
          <p:nvPr/>
        </p:nvCxnSpPr>
        <p:spPr>
          <a:xfrm>
            <a:off x="7016575" y="4399575"/>
            <a:ext cx="4575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72" name="Google Shape;872;p71"/>
          <p:cNvSpPr txBox="1"/>
          <p:nvPr>
            <p:ph type="body" idx="1"/>
          </p:nvPr>
        </p:nvSpPr>
        <p:spPr>
          <a:xfrm>
            <a:off x="7202584" y="4381832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cxnSp>
        <p:nvCxnSpPr>
          <p:cNvPr id="873" name="Google Shape;873;p71"/>
          <p:cNvCxnSpPr/>
          <p:nvPr/>
        </p:nvCxnSpPr>
        <p:spPr>
          <a:xfrm flipH="1">
            <a:off x="7024259" y="2907290"/>
            <a:ext cx="0" cy="14901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74" name="Google Shape;874;p71"/>
          <p:cNvSpPr txBox="1"/>
          <p:nvPr>
            <p:ph type="body" idx="1"/>
          </p:nvPr>
        </p:nvSpPr>
        <p:spPr>
          <a:xfrm>
            <a:off x="6867779" y="3525111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875" name="Google Shape;875;p71"/>
          <p:cNvSpPr/>
          <p:nvPr/>
        </p:nvSpPr>
        <p:spPr>
          <a:xfrm rot="-5400000">
            <a:off x="5772750" y="2659700"/>
            <a:ext cx="3005400" cy="505500"/>
          </a:xfrm>
          <a:prstGeom prst="triangle">
            <a:avLst>
              <a:gd name="adj" fmla="val 50000"/>
            </a:avLst>
          </a:prstGeom>
          <a:solidFill>
            <a:srgbClr val="C1DEDF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76" name="Google Shape;876;p71"/>
          <p:cNvSpPr/>
          <p:nvPr/>
        </p:nvSpPr>
        <p:spPr>
          <a:xfrm>
            <a:off x="6982902" y="2860616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77" name="Google Shape;877;p71"/>
          <p:cNvSpPr/>
          <p:nvPr/>
        </p:nvSpPr>
        <p:spPr>
          <a:xfrm>
            <a:off x="7471898" y="1366791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78" name="Google Shape;878;p71"/>
          <p:cNvSpPr/>
          <p:nvPr/>
        </p:nvSpPr>
        <p:spPr>
          <a:xfrm>
            <a:off x="7477827" y="4353816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2" name="Shape 882"/>
        <p:cNvGrpSpPr/>
        <p:nvPr/>
      </p:nvGrpSpPr>
      <p:grpSpPr>
        <a:xfrm>
          <a:off x="0" y="0"/>
          <a:ext cx="0" cy="0"/>
        </a:xfrm>
      </p:grpSpPr>
      <p:sp>
        <p:nvSpPr>
          <p:cNvPr id="883" name="Google Shape;883;p72"/>
          <p:cNvSpPr txBox="1"/>
          <p:nvPr>
            <p:ph type="body" idx="1"/>
          </p:nvPr>
        </p:nvSpPr>
        <p:spPr>
          <a:xfrm>
            <a:off x="324000" y="759300"/>
            <a:ext cx="8496000" cy="129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Sam is enlarging the object below by a scale factor of 3.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800"/>
              <a:t>They measure distance from the centre of enlargement to the first vertex.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far will its corresponding vertex be from the centre of enlargement?</a:t>
            </a:r>
            <a:endParaRPr sz="1800"/>
          </a:p>
        </p:txBody>
      </p:sp>
      <p:sp>
        <p:nvSpPr>
          <p:cNvPr id="884" name="Google Shape;884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Enlarging using an integer scale factor</a:t>
            </a:r>
            <a:endParaRPr/>
          </a:p>
        </p:txBody>
      </p:sp>
      <p:sp>
        <p:nvSpPr>
          <p:cNvPr id="885" name="Google Shape;885;p72"/>
          <p:cNvSpPr/>
          <p:nvPr/>
        </p:nvSpPr>
        <p:spPr>
          <a:xfrm rot="-1799820">
            <a:off x="2456943" y="2240627"/>
            <a:ext cx="1454532" cy="1258171"/>
          </a:xfrm>
          <a:prstGeom prst="triangle">
            <a:avLst>
              <a:gd name="adj" fmla="val 50000"/>
            </a:avLst>
          </a:prstGeom>
          <a:solidFill>
            <a:srgbClr val="E1D6F6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886" name="Google Shape;886;p72"/>
          <p:cNvSpPr/>
          <p:nvPr/>
        </p:nvSpPr>
        <p:spPr>
          <a:xfrm>
            <a:off x="1624444" y="4004995"/>
            <a:ext cx="135600" cy="1356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887" name="Google Shape;887;p72"/>
          <p:cNvPicPr preferRelativeResize="0"/>
          <p:nvPr/>
        </p:nvPicPr>
        <p:blipFill>
          <a:blip r:embed="rId3">
            <a:alphaModFix/>
          </a:blip>
          <a:srcRect l="3652" t="12995" r="63593" b="40325"/>
          <a:stretch>
            <a:fillRect/>
          </a:stretch>
        </p:blipFill>
        <p:spPr>
          <a:xfrm rot="-863858">
            <a:off x="1613935" y="3750734"/>
            <a:ext cx="3309707" cy="587259"/>
          </a:xfrm>
          <a:prstGeom prst="rect">
            <a:avLst/>
          </a:prstGeom>
          <a:noFill/>
          <a:ln>
            <a:noFill/>
          </a:ln>
        </p:spPr>
      </p:pic>
      <p:sp>
        <p:nvSpPr>
          <p:cNvPr id="888" name="Google Shape;888;p72"/>
          <p:cNvSpPr/>
          <p:nvPr/>
        </p:nvSpPr>
        <p:spPr>
          <a:xfrm>
            <a:off x="2787335" y="3712202"/>
            <a:ext cx="135600" cy="1356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889" name="Google Shape;889;p72"/>
          <p:cNvCxnSpPr>
            <a:stCxn id="888" idx="3"/>
            <a:endCxn id="886" idx="6"/>
          </p:cNvCxnSpPr>
          <p:nvPr/>
        </p:nvCxnSpPr>
        <p:spPr>
          <a:xfrm flipH="1">
            <a:off x="1760193" y="3827944"/>
            <a:ext cx="1047000" cy="244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90" name="Google Shape;890;p72"/>
          <p:cNvSpPr txBox="1"/>
          <p:nvPr>
            <p:ph type="body" idx="1"/>
          </p:nvPr>
        </p:nvSpPr>
        <p:spPr>
          <a:xfrm>
            <a:off x="1891444" y="3712200"/>
            <a:ext cx="5682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 cm</a:t>
            </a:r>
            <a:endParaRPr sz="1800"/>
          </a:p>
        </p:txBody>
      </p:sp>
      <p:sp>
        <p:nvSpPr>
          <p:cNvPr id="891" name="Google Shape;891;p72"/>
          <p:cNvSpPr txBox="1"/>
          <p:nvPr/>
        </p:nvSpPr>
        <p:spPr>
          <a:xfrm>
            <a:off x="1624427" y="2579481"/>
            <a:ext cx="907500" cy="3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92" name="Google Shape;892;p72"/>
          <p:cNvCxnSpPr/>
          <p:nvPr/>
        </p:nvCxnSpPr>
        <p:spPr>
          <a:xfrm>
            <a:off x="2406985" y="2838803"/>
            <a:ext cx="304500" cy="121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93" name="Google Shape;893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507" y="3303437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72"/>
          <p:cNvSpPr txBox="1"/>
          <p:nvPr>
            <p:ph type="body" idx="1"/>
          </p:nvPr>
        </p:nvSpPr>
        <p:spPr>
          <a:xfrm>
            <a:off x="5691350" y="3819000"/>
            <a:ext cx="1928700" cy="507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 × 3 = 12 cm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8" name="Shape 898"/>
        <p:cNvGrpSpPr/>
        <p:nvPr/>
      </p:nvGrpSpPr>
      <p:grpSpPr>
        <a:xfrm>
          <a:off x="0" y="0"/>
          <a:ext cx="0" cy="0"/>
        </a:xfrm>
      </p:grpSpPr>
      <p:sp>
        <p:nvSpPr>
          <p:cNvPr id="899" name="Google Shape;899;p73"/>
          <p:cNvSpPr txBox="1"/>
          <p:nvPr>
            <p:ph type="subTitle" idx="1"/>
          </p:nvPr>
        </p:nvSpPr>
        <p:spPr>
          <a:xfrm>
            <a:off x="1034425" y="1685375"/>
            <a:ext cx="6504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900" name="Google Shape;900;p7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Enlarging using an integer scale factor</a:t>
            </a:r>
            <a:endParaRPr/>
          </a:p>
        </p:txBody>
      </p:sp>
      <p:sp>
        <p:nvSpPr>
          <p:cNvPr id="901" name="Google Shape;901;p73"/>
          <p:cNvSpPr txBox="1"/>
          <p:nvPr>
            <p:ph type="title"/>
          </p:nvPr>
        </p:nvSpPr>
        <p:spPr>
          <a:xfrm>
            <a:off x="324000" y="810009"/>
            <a:ext cx="8179200" cy="81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The shape is being enlarged by a scale factor of 4.</a:t>
            </a:r>
            <a:br>
              <a:rPr lang="en-GB" sz="2000"/>
            </a:br>
            <a:r>
              <a:rPr lang="en-GB" sz="2000"/>
              <a:t>Which is the correct position for the corresponding vertex?</a:t>
            </a:r>
            <a:endParaRPr sz="20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2000"/>
          </a:p>
        </p:txBody>
      </p:sp>
      <p:sp>
        <p:nvSpPr>
          <p:cNvPr id="902" name="Google Shape;902;p73"/>
          <p:cNvSpPr txBox="1"/>
          <p:nvPr>
            <p:ph type="subTitle" idx="3"/>
          </p:nvPr>
        </p:nvSpPr>
        <p:spPr>
          <a:xfrm>
            <a:off x="1034425" y="2489443"/>
            <a:ext cx="6504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B</a:t>
            </a:r>
            <a:endParaRPr/>
          </a:p>
        </p:txBody>
      </p:sp>
      <p:sp>
        <p:nvSpPr>
          <p:cNvPr id="903" name="Google Shape;903;p73"/>
          <p:cNvSpPr txBox="1"/>
          <p:nvPr>
            <p:ph type="subTitle" idx="4"/>
          </p:nvPr>
        </p:nvSpPr>
        <p:spPr>
          <a:xfrm>
            <a:off x="1034425" y="3309758"/>
            <a:ext cx="6468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C</a:t>
            </a:r>
            <a:endParaRPr/>
          </a:p>
        </p:txBody>
      </p:sp>
      <p:sp>
        <p:nvSpPr>
          <p:cNvPr id="904" name="Google Shape;904;p73"/>
          <p:cNvSpPr txBox="1"/>
          <p:nvPr>
            <p:ph type="subTitle" idx="5"/>
          </p:nvPr>
        </p:nvSpPr>
        <p:spPr>
          <a:xfrm>
            <a:off x="1034425" y="4113827"/>
            <a:ext cx="6504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</a:t>
            </a:r>
            <a:endParaRPr/>
          </a:p>
        </p:txBody>
      </p:sp>
      <p:pic>
        <p:nvPicPr>
          <p:cNvPr id="905" name="Google Shape;905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5825" y="2160000"/>
            <a:ext cx="4598599" cy="2689350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3"/>
          <p:cNvSpPr txBox="1"/>
          <p:nvPr>
            <p:ph type="subTitle" idx="1"/>
          </p:nvPr>
        </p:nvSpPr>
        <p:spPr>
          <a:xfrm>
            <a:off x="4699866" y="2977266"/>
            <a:ext cx="2421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</a:t>
            </a:r>
            <a:endParaRPr sz="2000"/>
          </a:p>
        </p:txBody>
      </p:sp>
      <p:sp>
        <p:nvSpPr>
          <p:cNvPr id="907" name="Google Shape;907;p73"/>
          <p:cNvSpPr txBox="1"/>
          <p:nvPr>
            <p:ph type="subTitle" idx="1"/>
          </p:nvPr>
        </p:nvSpPr>
        <p:spPr>
          <a:xfrm>
            <a:off x="5469801" y="3367484"/>
            <a:ext cx="2421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B</a:t>
            </a:r>
            <a:endParaRPr sz="2000"/>
          </a:p>
        </p:txBody>
      </p:sp>
      <p:sp>
        <p:nvSpPr>
          <p:cNvPr id="908" name="Google Shape;908;p73"/>
          <p:cNvSpPr txBox="1"/>
          <p:nvPr>
            <p:ph type="subTitle" idx="1"/>
          </p:nvPr>
        </p:nvSpPr>
        <p:spPr>
          <a:xfrm>
            <a:off x="6231801" y="3748484"/>
            <a:ext cx="2421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C</a:t>
            </a:r>
            <a:endParaRPr sz="2000"/>
          </a:p>
        </p:txBody>
      </p:sp>
      <p:sp>
        <p:nvSpPr>
          <p:cNvPr id="909" name="Google Shape;909;p73"/>
          <p:cNvSpPr txBox="1"/>
          <p:nvPr>
            <p:ph type="subTitle" idx="1"/>
          </p:nvPr>
        </p:nvSpPr>
        <p:spPr>
          <a:xfrm>
            <a:off x="6980818" y="4131684"/>
            <a:ext cx="2421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</a:t>
            </a:r>
            <a:endParaRPr sz="2000"/>
          </a:p>
        </p:txBody>
      </p:sp>
      <p:cxnSp>
        <p:nvCxnSpPr>
          <p:cNvPr id="910" name="Google Shape;910;p73"/>
          <p:cNvCxnSpPr/>
          <p:nvPr/>
        </p:nvCxnSpPr>
        <p:spPr>
          <a:xfrm rot="10800000" flipH="1">
            <a:off x="3318042" y="2062149"/>
            <a:ext cx="251100" cy="3348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11" name="Google Shape;911;p73"/>
          <p:cNvSpPr txBox="1"/>
          <p:nvPr/>
        </p:nvSpPr>
        <p:spPr>
          <a:xfrm>
            <a:off x="3571401" y="1765950"/>
            <a:ext cx="25515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centre of enlargement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2" name="Google Shape;912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5258" y="3286638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6" name="Shape 916"/>
        <p:cNvGrpSpPr/>
        <p:nvPr/>
      </p:nvGrpSpPr>
      <p:grpSpPr>
        <a:xfrm>
          <a:off x="0" y="0"/>
          <a:ext cx="0" cy="0"/>
        </a:xfrm>
      </p:grpSpPr>
      <p:sp>
        <p:nvSpPr>
          <p:cNvPr id="917" name="Google Shape;917;p74"/>
          <p:cNvSpPr txBox="1"/>
          <p:nvPr>
            <p:ph type="body" idx="1"/>
          </p:nvPr>
        </p:nvSpPr>
        <p:spPr>
          <a:xfrm>
            <a:off x="324000" y="759300"/>
            <a:ext cx="8363700" cy="111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When the centre of enlargement is at one of the object’s vertices, the distance between that and its corresponding vertex on the image will be 0.</a:t>
            </a:r>
            <a:endParaRPr sz="2000"/>
          </a:p>
        </p:txBody>
      </p:sp>
      <p:sp>
        <p:nvSpPr>
          <p:cNvPr id="918" name="Google Shape;918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using an integer scale factor</a:t>
            </a:r>
            <a:endParaRPr/>
          </a:p>
        </p:txBody>
      </p:sp>
      <p:sp>
        <p:nvSpPr>
          <p:cNvPr id="919" name="Google Shape;919;p74"/>
          <p:cNvSpPr/>
          <p:nvPr/>
        </p:nvSpPr>
        <p:spPr>
          <a:xfrm rot="-5400000">
            <a:off x="3594986" y="2993990"/>
            <a:ext cx="3005400" cy="505500"/>
          </a:xfrm>
          <a:prstGeom prst="triangle">
            <a:avLst>
              <a:gd name="adj" fmla="val 50000"/>
            </a:avLst>
          </a:prstGeom>
          <a:solidFill>
            <a:srgbClr val="C1DEDF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20" name="Google Shape;920;p74"/>
          <p:cNvSpPr/>
          <p:nvPr/>
        </p:nvSpPr>
        <p:spPr>
          <a:xfrm rot="-5400000">
            <a:off x="4222886" y="3120886"/>
            <a:ext cx="1495800" cy="251700"/>
          </a:xfrm>
          <a:prstGeom prst="triangle">
            <a:avLst>
              <a:gd name="adj" fmla="val 50000"/>
            </a:avLst>
          </a:prstGeom>
          <a:solidFill>
            <a:srgbClr val="E1D6F6"/>
          </a:solidFill>
          <a:ln w="2857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21" name="Google Shape;921;p74"/>
          <p:cNvSpPr/>
          <p:nvPr/>
        </p:nvSpPr>
        <p:spPr>
          <a:xfrm>
            <a:off x="4787412" y="3200981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22" name="Google Shape;922;p74"/>
          <p:cNvSpPr txBox="1"/>
          <p:nvPr>
            <p:ph type="body" idx="1"/>
          </p:nvPr>
        </p:nvSpPr>
        <p:spPr>
          <a:xfrm>
            <a:off x="324000" y="2219100"/>
            <a:ext cx="39960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That point will be invariant.</a:t>
            </a:r>
            <a:endParaRPr sz="2000"/>
          </a:p>
        </p:txBody>
      </p:sp>
      <p:sp>
        <p:nvSpPr>
          <p:cNvPr id="923" name="Google Shape;923;p74"/>
          <p:cNvSpPr txBox="1"/>
          <p:nvPr>
            <p:ph type="body" idx="1"/>
          </p:nvPr>
        </p:nvSpPr>
        <p:spPr>
          <a:xfrm>
            <a:off x="324000" y="2963400"/>
            <a:ext cx="3996000" cy="429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shapes will overlap.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27" name="Shape 927"/>
        <p:cNvGrpSpPr/>
        <p:nvPr/>
      </p:nvGrpSpPr>
      <p:grpSpPr>
        <a:xfrm>
          <a:off x="0" y="0"/>
          <a:ext cx="0" cy="0"/>
        </a:xfrm>
      </p:grpSpPr>
      <p:sp>
        <p:nvSpPr>
          <p:cNvPr id="928" name="Google Shape;928;p75"/>
          <p:cNvSpPr txBox="1"/>
          <p:nvPr>
            <p:ph type="body" idx="1"/>
          </p:nvPr>
        </p:nvSpPr>
        <p:spPr>
          <a:xfrm>
            <a:off x="324000" y="759300"/>
            <a:ext cx="8237700" cy="49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Lines can also be used to check that the image is in the correct position.</a:t>
            </a:r>
            <a:endParaRPr sz="2000"/>
          </a:p>
        </p:txBody>
      </p:sp>
      <p:sp>
        <p:nvSpPr>
          <p:cNvPr id="929" name="Google Shape;929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Enlarging using an integer scale factor</a:t>
            </a:r>
            <a:endParaRPr/>
          </a:p>
        </p:txBody>
      </p:sp>
      <p:pic>
        <p:nvPicPr>
          <p:cNvPr id="930" name="Google Shape;930;p75"/>
          <p:cNvPicPr preferRelativeResize="0"/>
          <p:nvPr/>
        </p:nvPicPr>
        <p:blipFill>
          <a:blip r:embed="rId3">
            <a:alphaModFix/>
          </a:blip>
          <a:srcRect r="47451"/>
          <a:stretch>
            <a:fillRect/>
          </a:stretch>
        </p:blipFill>
        <p:spPr>
          <a:xfrm>
            <a:off x="329300" y="2512100"/>
            <a:ext cx="956955" cy="21702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1" name="Google Shape;931;p75"/>
          <p:cNvCxnSpPr/>
          <p:nvPr/>
        </p:nvCxnSpPr>
        <p:spPr>
          <a:xfrm>
            <a:off x="468129" y="3613710"/>
            <a:ext cx="1841400" cy="119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2" name="Google Shape;932;p75"/>
          <p:cNvCxnSpPr/>
          <p:nvPr/>
        </p:nvCxnSpPr>
        <p:spPr>
          <a:xfrm>
            <a:off x="468129" y="3613710"/>
            <a:ext cx="24048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33" name="Google Shape;933;p75"/>
          <p:cNvCxnSpPr/>
          <p:nvPr/>
        </p:nvCxnSpPr>
        <p:spPr>
          <a:xfrm rot="10800000" flipH="1">
            <a:off x="469390" y="2519388"/>
            <a:ext cx="1679700" cy="1098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4" name="Google Shape;934;p75"/>
          <p:cNvSpPr/>
          <p:nvPr/>
        </p:nvSpPr>
        <p:spPr>
          <a:xfrm rot="-5400000">
            <a:off x="796195" y="3442503"/>
            <a:ext cx="1876800" cy="352800"/>
          </a:xfrm>
          <a:prstGeom prst="triangle">
            <a:avLst>
              <a:gd name="adj" fmla="val 50000"/>
            </a:avLst>
          </a:prstGeom>
          <a:solidFill>
            <a:srgbClr val="C1DEDF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5" name="Google Shape;935;p75"/>
          <p:cNvSpPr/>
          <p:nvPr/>
        </p:nvSpPr>
        <p:spPr>
          <a:xfrm>
            <a:off x="1871815" y="4497573"/>
            <a:ext cx="91500" cy="84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6" name="Google Shape;936;p75"/>
          <p:cNvSpPr/>
          <p:nvPr/>
        </p:nvSpPr>
        <p:spPr>
          <a:xfrm>
            <a:off x="1861354" y="2644748"/>
            <a:ext cx="91500" cy="84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7" name="Google Shape;937;p75"/>
          <p:cNvSpPr/>
          <p:nvPr/>
        </p:nvSpPr>
        <p:spPr>
          <a:xfrm>
            <a:off x="409300" y="3576344"/>
            <a:ext cx="91500" cy="84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8" name="Google Shape;938;p75"/>
          <p:cNvSpPr/>
          <p:nvPr/>
        </p:nvSpPr>
        <p:spPr>
          <a:xfrm>
            <a:off x="1516317" y="3566619"/>
            <a:ext cx="91500" cy="84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39" name="Google Shape;939;p75"/>
          <p:cNvSpPr txBox="1"/>
          <p:nvPr>
            <p:ph type="body" idx="1"/>
          </p:nvPr>
        </p:nvSpPr>
        <p:spPr>
          <a:xfrm>
            <a:off x="324000" y="1539734"/>
            <a:ext cx="8237700" cy="496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All the vertices of the image should be on a line.</a:t>
            </a:r>
            <a:endParaRPr sz="2000"/>
          </a:p>
        </p:txBody>
      </p:sp>
      <p:pic>
        <p:nvPicPr>
          <p:cNvPr id="940" name="Google Shape;940;p75"/>
          <p:cNvPicPr preferRelativeResize="0"/>
          <p:nvPr/>
        </p:nvPicPr>
        <p:blipFill>
          <a:blip r:embed="rId3">
            <a:alphaModFix/>
          </a:blip>
          <a:srcRect r="47451"/>
          <a:stretch>
            <a:fillRect/>
          </a:stretch>
        </p:blipFill>
        <p:spPr>
          <a:xfrm>
            <a:off x="3369598" y="2519167"/>
            <a:ext cx="956955" cy="21702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41" name="Google Shape;941;p75"/>
          <p:cNvCxnSpPr/>
          <p:nvPr/>
        </p:nvCxnSpPr>
        <p:spPr>
          <a:xfrm>
            <a:off x="3508427" y="3620777"/>
            <a:ext cx="1841400" cy="119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2" name="Google Shape;942;p75"/>
          <p:cNvCxnSpPr/>
          <p:nvPr/>
        </p:nvCxnSpPr>
        <p:spPr>
          <a:xfrm>
            <a:off x="3508427" y="3620777"/>
            <a:ext cx="24048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43" name="Google Shape;943;p75"/>
          <p:cNvCxnSpPr/>
          <p:nvPr/>
        </p:nvCxnSpPr>
        <p:spPr>
          <a:xfrm rot="10800000" flipH="1">
            <a:off x="3509689" y="2526455"/>
            <a:ext cx="1679700" cy="1098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44" name="Google Shape;944;p75"/>
          <p:cNvSpPr/>
          <p:nvPr/>
        </p:nvSpPr>
        <p:spPr>
          <a:xfrm rot="-5400000">
            <a:off x="3836493" y="3643838"/>
            <a:ext cx="1876800" cy="352800"/>
          </a:xfrm>
          <a:prstGeom prst="triangle">
            <a:avLst>
              <a:gd name="adj" fmla="val 50000"/>
            </a:avLst>
          </a:prstGeom>
          <a:solidFill>
            <a:srgbClr val="C1DEDF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5" name="Google Shape;945;p75"/>
          <p:cNvSpPr/>
          <p:nvPr/>
        </p:nvSpPr>
        <p:spPr>
          <a:xfrm>
            <a:off x="4912114" y="4709375"/>
            <a:ext cx="91500" cy="84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6" name="Google Shape;946;p75"/>
          <p:cNvSpPr/>
          <p:nvPr/>
        </p:nvSpPr>
        <p:spPr>
          <a:xfrm>
            <a:off x="4901652" y="2856550"/>
            <a:ext cx="91500" cy="84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7" name="Google Shape;947;p75"/>
          <p:cNvSpPr/>
          <p:nvPr/>
        </p:nvSpPr>
        <p:spPr>
          <a:xfrm>
            <a:off x="3449599" y="3583411"/>
            <a:ext cx="91500" cy="84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48" name="Google Shape;948;p75"/>
          <p:cNvSpPr/>
          <p:nvPr/>
        </p:nvSpPr>
        <p:spPr>
          <a:xfrm>
            <a:off x="4556615" y="3778421"/>
            <a:ext cx="91500" cy="84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949" name="Google Shape;949;p75"/>
          <p:cNvPicPr preferRelativeResize="0"/>
          <p:nvPr/>
        </p:nvPicPr>
        <p:blipFill>
          <a:blip r:embed="rId3">
            <a:alphaModFix/>
          </a:blip>
          <a:srcRect r="47451"/>
          <a:stretch>
            <a:fillRect/>
          </a:stretch>
        </p:blipFill>
        <p:spPr>
          <a:xfrm>
            <a:off x="6256797" y="2526234"/>
            <a:ext cx="956955" cy="21702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0" name="Google Shape;950;p75"/>
          <p:cNvCxnSpPr/>
          <p:nvPr/>
        </p:nvCxnSpPr>
        <p:spPr>
          <a:xfrm>
            <a:off x="6395625" y="3627844"/>
            <a:ext cx="1841400" cy="11976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1" name="Google Shape;951;p75"/>
          <p:cNvCxnSpPr/>
          <p:nvPr/>
        </p:nvCxnSpPr>
        <p:spPr>
          <a:xfrm>
            <a:off x="6395625" y="3627844"/>
            <a:ext cx="24048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52" name="Google Shape;952;p75"/>
          <p:cNvCxnSpPr/>
          <p:nvPr/>
        </p:nvCxnSpPr>
        <p:spPr>
          <a:xfrm rot="10800000" flipH="1">
            <a:off x="6396887" y="2533522"/>
            <a:ext cx="1679700" cy="10983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3" name="Google Shape;953;p75"/>
          <p:cNvSpPr/>
          <p:nvPr/>
        </p:nvSpPr>
        <p:spPr>
          <a:xfrm rot="-5400000">
            <a:off x="6894100" y="3627027"/>
            <a:ext cx="1536000" cy="352800"/>
          </a:xfrm>
          <a:prstGeom prst="triangle">
            <a:avLst>
              <a:gd name="adj" fmla="val 61157"/>
            </a:avLst>
          </a:prstGeom>
          <a:solidFill>
            <a:srgbClr val="C1DEDF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4" name="Google Shape;954;p75"/>
          <p:cNvSpPr/>
          <p:nvPr/>
        </p:nvSpPr>
        <p:spPr>
          <a:xfrm>
            <a:off x="7799312" y="4511706"/>
            <a:ext cx="91500" cy="84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5" name="Google Shape;955;p75"/>
          <p:cNvSpPr/>
          <p:nvPr/>
        </p:nvSpPr>
        <p:spPr>
          <a:xfrm>
            <a:off x="7788850" y="2998014"/>
            <a:ext cx="91500" cy="84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6" name="Google Shape;956;p75"/>
          <p:cNvSpPr/>
          <p:nvPr/>
        </p:nvSpPr>
        <p:spPr>
          <a:xfrm>
            <a:off x="6336797" y="3590478"/>
            <a:ext cx="91500" cy="84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7" name="Google Shape;957;p75"/>
          <p:cNvSpPr/>
          <p:nvPr/>
        </p:nvSpPr>
        <p:spPr>
          <a:xfrm>
            <a:off x="7443813" y="3580753"/>
            <a:ext cx="91500" cy="84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58" name="Google Shape;958;p75"/>
          <p:cNvSpPr txBox="1"/>
          <p:nvPr>
            <p:ph type="body" idx="1"/>
          </p:nvPr>
        </p:nvSpPr>
        <p:spPr>
          <a:xfrm>
            <a:off x="701459" y="2158905"/>
            <a:ext cx="1629000" cy="30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correct position</a:t>
            </a:r>
            <a:endParaRPr sz="1600"/>
          </a:p>
        </p:txBody>
      </p:sp>
      <p:sp>
        <p:nvSpPr>
          <p:cNvPr id="959" name="Google Shape;959;p75"/>
          <p:cNvSpPr txBox="1"/>
          <p:nvPr>
            <p:ph type="body" idx="1"/>
          </p:nvPr>
        </p:nvSpPr>
        <p:spPr>
          <a:xfrm>
            <a:off x="3826622" y="2158900"/>
            <a:ext cx="1484700" cy="30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image too low</a:t>
            </a:r>
            <a:endParaRPr sz="1600"/>
          </a:p>
        </p:txBody>
      </p:sp>
      <p:sp>
        <p:nvSpPr>
          <p:cNvPr id="960" name="Google Shape;960;p75"/>
          <p:cNvSpPr txBox="1"/>
          <p:nvPr>
            <p:ph type="body" idx="1"/>
          </p:nvPr>
        </p:nvSpPr>
        <p:spPr>
          <a:xfrm>
            <a:off x="6625643" y="2130925"/>
            <a:ext cx="1764900" cy="30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one vertex wrong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64" name="Shape 964"/>
        <p:cNvGrpSpPr/>
        <p:nvPr/>
      </p:nvGrpSpPr>
      <p:grpSpPr>
        <a:xfrm>
          <a:off x="0" y="0"/>
          <a:ext cx="0" cy="0"/>
        </a:xfrm>
      </p:grpSpPr>
      <p:sp>
        <p:nvSpPr>
          <p:cNvPr id="965" name="Google Shape;965;p76"/>
          <p:cNvSpPr txBox="1"/>
          <p:nvPr>
            <p:ph type="subTitle" idx="1"/>
          </p:nvPr>
        </p:nvSpPr>
        <p:spPr>
          <a:xfrm>
            <a:off x="980575" y="3135096"/>
            <a:ext cx="7452600" cy="49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Some of the vertices in the image are not on a line.</a:t>
            </a:r>
            <a:endParaRPr/>
          </a:p>
        </p:txBody>
      </p:sp>
      <p:sp>
        <p:nvSpPr>
          <p:cNvPr id="966" name="Google Shape;966;p76"/>
          <p:cNvSpPr txBox="1"/>
          <p:nvPr>
            <p:ph type="subTitle" idx="2"/>
          </p:nvPr>
        </p:nvSpPr>
        <p:spPr>
          <a:xfrm>
            <a:off x="324000" y="1080000"/>
            <a:ext cx="6722400" cy="4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enlargement has been drawn correctly.</a:t>
            </a:r>
            <a:endParaRPr/>
          </a:p>
        </p:txBody>
      </p:sp>
      <p:sp>
        <p:nvSpPr>
          <p:cNvPr id="967" name="Google Shape;967;p76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The image is an enlarged version of the object.</a:t>
            </a:r>
            <a:endParaRPr/>
          </a:p>
        </p:txBody>
      </p:sp>
      <p:sp>
        <p:nvSpPr>
          <p:cNvPr id="968" name="Google Shape;968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Enlarging using an integer scale factor</a:t>
            </a:r>
            <a:endParaRPr/>
          </a:p>
        </p:txBody>
      </p:sp>
      <p:sp>
        <p:nvSpPr>
          <p:cNvPr id="969" name="Google Shape;969;p76"/>
          <p:cNvSpPr/>
          <p:nvPr/>
        </p:nvSpPr>
        <p:spPr>
          <a:xfrm>
            <a:off x="7009137" y="1201200"/>
            <a:ext cx="418800" cy="418800"/>
          </a:xfrm>
          <a:prstGeom prst="rect">
            <a:avLst/>
          </a:prstGeom>
          <a:solidFill>
            <a:srgbClr val="E1D6F6"/>
          </a:solidFill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70" name="Google Shape;970;p76"/>
          <p:cNvSpPr/>
          <p:nvPr/>
        </p:nvSpPr>
        <p:spPr>
          <a:xfrm>
            <a:off x="7662669" y="1702126"/>
            <a:ext cx="871800" cy="922800"/>
          </a:xfrm>
          <a:prstGeom prst="rect">
            <a:avLst/>
          </a:prstGeom>
          <a:solidFill>
            <a:srgbClr val="C1DEDF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971" name="Google Shape;971;p76"/>
          <p:cNvCxnSpPr/>
          <p:nvPr/>
        </p:nvCxnSpPr>
        <p:spPr>
          <a:xfrm>
            <a:off x="6640328" y="809988"/>
            <a:ext cx="2016000" cy="943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2" name="Google Shape;972;p76"/>
          <p:cNvCxnSpPr>
            <a:stCxn id="973" idx="4"/>
          </p:cNvCxnSpPr>
          <p:nvPr/>
        </p:nvCxnSpPr>
        <p:spPr>
          <a:xfrm>
            <a:off x="6624430" y="881708"/>
            <a:ext cx="1076100" cy="208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74" name="Google Shape;974;p76"/>
          <p:cNvCxnSpPr/>
          <p:nvPr/>
        </p:nvCxnSpPr>
        <p:spPr>
          <a:xfrm>
            <a:off x="6646564" y="850220"/>
            <a:ext cx="1977300" cy="19404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75" name="Google Shape;97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6408" y="2160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6" name="Google Shape;97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0883" y="32400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76"/>
          <p:cNvSpPr/>
          <p:nvPr/>
        </p:nvSpPr>
        <p:spPr>
          <a:xfrm>
            <a:off x="6578680" y="796808"/>
            <a:ext cx="91500" cy="849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80" name="Shape 980"/>
        <p:cNvGrpSpPr/>
        <p:nvPr/>
      </p:nvGrpSpPr>
      <p:grpSpPr>
        <a:xfrm>
          <a:off x="0" y="0"/>
          <a:ext cx="0" cy="0"/>
        </a:xfrm>
      </p:grpSpPr>
      <p:sp>
        <p:nvSpPr>
          <p:cNvPr id="981" name="Google Shape;981;p7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Enlarging using an integer scale factor</a:t>
            </a:r>
            <a:endParaRPr/>
          </a:p>
        </p:txBody>
      </p:sp>
      <p:sp>
        <p:nvSpPr>
          <p:cNvPr id="982" name="Google Shape;982;p77"/>
          <p:cNvSpPr txBox="1"/>
          <p:nvPr>
            <p:ph type="body" idx="1"/>
          </p:nvPr>
        </p:nvSpPr>
        <p:spPr>
          <a:xfrm>
            <a:off x="324000" y="837050"/>
            <a:ext cx="4063500" cy="54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Enlarge the object by a scale </a:t>
            </a:r>
            <a:br>
              <a:rPr lang="en-GB" sz="1800"/>
            </a:br>
            <a:r>
              <a:rPr lang="en-GB" sz="1800"/>
              <a:t>    factor of 3 from the point marked.</a:t>
            </a:r>
            <a:endParaRPr sz="2400"/>
          </a:p>
        </p:txBody>
      </p:sp>
      <p:pic>
        <p:nvPicPr>
          <p:cNvPr id="983" name="Google Shape;98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8790" y="1624643"/>
            <a:ext cx="3874475" cy="26518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8790" y="1616133"/>
            <a:ext cx="3874475" cy="2660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5" name="Google Shape;985;p77"/>
          <p:cNvPicPr preferRelativeResize="0"/>
          <p:nvPr/>
        </p:nvPicPr>
        <p:blipFill>
          <a:blip r:embed="rId5">
            <a:alphaModFix/>
          </a:blip>
          <a:srcRect r="497" b="457"/>
          <a:stretch>
            <a:fillRect/>
          </a:stretch>
        </p:blipFill>
        <p:spPr>
          <a:xfrm>
            <a:off x="628800" y="1624633"/>
            <a:ext cx="3414627" cy="2651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6" name="Google Shape;986;p77"/>
          <p:cNvSpPr txBox="1"/>
          <p:nvPr>
            <p:ph type="body" idx="1"/>
          </p:nvPr>
        </p:nvSpPr>
        <p:spPr>
          <a:xfrm>
            <a:off x="4736751" y="837050"/>
            <a:ext cx="4006500" cy="54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Enlarge the object by a scale </a:t>
            </a:r>
            <a:br>
              <a:rPr lang="en-GB" sz="1800"/>
            </a:br>
            <a:r>
              <a:rPr lang="en-GB" sz="1800"/>
              <a:t>    factor of 4 from the point (2, 1).</a:t>
            </a:r>
            <a:endParaRPr sz="2400"/>
          </a:p>
        </p:txBody>
      </p:sp>
    </p:spTree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0" name="Shape 990"/>
        <p:cNvGrpSpPr/>
        <p:nvPr/>
      </p:nvGrpSpPr>
      <p:grpSpPr>
        <a:xfrm>
          <a:off x="0" y="0"/>
          <a:ext cx="0" cy="0"/>
        </a:xfrm>
      </p:grpSpPr>
      <p:sp>
        <p:nvSpPr>
          <p:cNvPr id="991" name="Google Shape;991;p7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Enlarging using an integer scale factor</a:t>
            </a:r>
            <a:endParaRPr/>
          </a:p>
        </p:txBody>
      </p:sp>
      <p:pic>
        <p:nvPicPr>
          <p:cNvPr id="992" name="Google Shape;992;p78"/>
          <p:cNvPicPr preferRelativeResize="0"/>
          <p:nvPr/>
        </p:nvPicPr>
        <p:blipFill>
          <a:blip r:embed="rId3">
            <a:alphaModFix/>
          </a:blip>
          <a:srcRect r="47078"/>
          <a:stretch>
            <a:fillRect/>
          </a:stretch>
        </p:blipFill>
        <p:spPr>
          <a:xfrm>
            <a:off x="476400" y="1307666"/>
            <a:ext cx="2563200" cy="3508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3" name="Google Shape;993;p78"/>
          <p:cNvPicPr preferRelativeResize="0"/>
          <p:nvPr/>
        </p:nvPicPr>
        <p:blipFill>
          <a:blip r:embed="rId3">
            <a:alphaModFix/>
          </a:blip>
          <a:srcRect l="53318" r="494"/>
          <a:stretch>
            <a:fillRect/>
          </a:stretch>
        </p:blipFill>
        <p:spPr>
          <a:xfrm>
            <a:off x="5128400" y="1308433"/>
            <a:ext cx="2237051" cy="3508576"/>
          </a:xfrm>
          <a:prstGeom prst="rect">
            <a:avLst/>
          </a:prstGeom>
          <a:noFill/>
          <a:ln>
            <a:noFill/>
          </a:ln>
        </p:spPr>
      </p:pic>
      <p:sp>
        <p:nvSpPr>
          <p:cNvPr id="994" name="Google Shape;994;p78"/>
          <p:cNvSpPr/>
          <p:nvPr/>
        </p:nvSpPr>
        <p:spPr>
          <a:xfrm>
            <a:off x="5584050" y="4339558"/>
            <a:ext cx="109200" cy="1092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995" name="Google Shape;995;p78"/>
          <p:cNvSpPr txBox="1"/>
          <p:nvPr>
            <p:ph type="body" idx="1"/>
          </p:nvPr>
        </p:nvSpPr>
        <p:spPr>
          <a:xfrm>
            <a:off x="324000" y="835500"/>
            <a:ext cx="4029600" cy="54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3) Enlarge the object by a scale </a:t>
            </a:r>
            <a:br>
              <a:rPr lang="en-GB" sz="1800"/>
            </a:br>
            <a:r>
              <a:rPr lang="en-GB" sz="1800"/>
              <a:t>    factor of 2 from the point marked.</a:t>
            </a:r>
            <a:endParaRPr sz="2400"/>
          </a:p>
        </p:txBody>
      </p:sp>
      <p:sp>
        <p:nvSpPr>
          <p:cNvPr id="996" name="Google Shape;996;p78"/>
          <p:cNvSpPr txBox="1"/>
          <p:nvPr>
            <p:ph type="body" idx="1"/>
          </p:nvPr>
        </p:nvSpPr>
        <p:spPr>
          <a:xfrm>
            <a:off x="4655025" y="837050"/>
            <a:ext cx="4185900" cy="54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4) Enlarge the object by a scale </a:t>
            </a:r>
            <a:br>
              <a:rPr lang="en-GB" sz="1800"/>
            </a:br>
            <a:r>
              <a:rPr lang="en-GB" sz="1800"/>
              <a:t>    factor of 3 from the marked vertex.</a:t>
            </a:r>
            <a:endParaRPr sz="2400"/>
          </a:p>
        </p:txBody>
      </p:sp>
    </p:spTree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0" name="Shape 1000"/>
        <p:cNvGrpSpPr/>
        <p:nvPr/>
      </p:nvGrpSpPr>
      <p:grpSpPr>
        <a:xfrm>
          <a:off x="0" y="0"/>
          <a:ext cx="0" cy="0"/>
        </a:xfrm>
      </p:grpSpPr>
      <p:pic>
        <p:nvPicPr>
          <p:cNvPr id="1001" name="Google Shape;1001;p79"/>
          <p:cNvPicPr preferRelativeResize="0"/>
          <p:nvPr/>
        </p:nvPicPr>
        <p:blipFill>
          <a:blip r:embed="rId3">
            <a:alphaModFix/>
          </a:blip>
          <a:srcRect l="188" t="405" r="526" b="682"/>
          <a:stretch>
            <a:fillRect/>
          </a:stretch>
        </p:blipFill>
        <p:spPr>
          <a:xfrm>
            <a:off x="628800" y="1614166"/>
            <a:ext cx="3413333" cy="2651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2" name="Google Shape;1002;p7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Enlarging using an integer scale factor</a:t>
            </a:r>
            <a:endParaRPr/>
          </a:p>
        </p:txBody>
      </p:sp>
      <p:pic>
        <p:nvPicPr>
          <p:cNvPr id="1003" name="Google Shape;1003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68790" y="1614176"/>
            <a:ext cx="3874475" cy="2651890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79"/>
          <p:cNvSpPr txBox="1"/>
          <p:nvPr>
            <p:ph type="body" idx="1"/>
          </p:nvPr>
        </p:nvSpPr>
        <p:spPr>
          <a:xfrm>
            <a:off x="324000" y="837050"/>
            <a:ext cx="4063500" cy="54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 Enlarge the object by a scale </a:t>
            </a:r>
            <a:br>
              <a:rPr lang="en-GB" sz="1800"/>
            </a:br>
            <a:r>
              <a:rPr lang="en-GB" sz="1800"/>
              <a:t>    factor of 3 from the point marked.</a:t>
            </a:r>
            <a:endParaRPr sz="2400"/>
          </a:p>
        </p:txBody>
      </p:sp>
      <p:sp>
        <p:nvSpPr>
          <p:cNvPr id="1005" name="Google Shape;1005;p79"/>
          <p:cNvSpPr txBox="1"/>
          <p:nvPr>
            <p:ph type="body" idx="1"/>
          </p:nvPr>
        </p:nvSpPr>
        <p:spPr>
          <a:xfrm>
            <a:off x="4736751" y="837050"/>
            <a:ext cx="4006500" cy="54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 Enlarge the object by a scale </a:t>
            </a:r>
            <a:br>
              <a:rPr lang="en-GB" sz="1800"/>
            </a:br>
            <a:r>
              <a:rPr lang="en-GB" sz="1800"/>
              <a:t>    factor of 4 from the point (2, 1).</a:t>
            </a:r>
            <a:endParaRPr sz="2400"/>
          </a:p>
        </p:txBody>
      </p:sp>
    </p:spTree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9" name="Shape 1009"/>
        <p:cNvGrpSpPr/>
        <p:nvPr/>
      </p:nvGrpSpPr>
      <p:grpSpPr>
        <a:xfrm>
          <a:off x="0" y="0"/>
          <a:ext cx="0" cy="0"/>
        </a:xfrm>
      </p:grpSpPr>
      <p:sp>
        <p:nvSpPr>
          <p:cNvPr id="1010" name="Google Shape;1010;p8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Enlarging using an integer scale factor</a:t>
            </a:r>
            <a:endParaRPr/>
          </a:p>
        </p:txBody>
      </p:sp>
      <p:sp>
        <p:nvSpPr>
          <p:cNvPr id="1011" name="Google Shape;1011;p80"/>
          <p:cNvSpPr txBox="1"/>
          <p:nvPr>
            <p:ph type="body" idx="1"/>
          </p:nvPr>
        </p:nvSpPr>
        <p:spPr>
          <a:xfrm>
            <a:off x="324000" y="835500"/>
            <a:ext cx="4029600" cy="54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3) Enlarge the object by a scale </a:t>
            </a:r>
            <a:br>
              <a:rPr lang="en-GB" sz="1800"/>
            </a:br>
            <a:r>
              <a:rPr lang="en-GB" sz="1800"/>
              <a:t>    factor of 2 from the point marked.</a:t>
            </a:r>
            <a:endParaRPr sz="2400"/>
          </a:p>
        </p:txBody>
      </p:sp>
      <p:sp>
        <p:nvSpPr>
          <p:cNvPr id="1012" name="Google Shape;1012;p80"/>
          <p:cNvSpPr/>
          <p:nvPr/>
        </p:nvSpPr>
        <p:spPr>
          <a:xfrm>
            <a:off x="5576313" y="4360383"/>
            <a:ext cx="105900" cy="1050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13" name="Google Shape;1013;p80"/>
          <p:cNvSpPr txBox="1"/>
          <p:nvPr>
            <p:ph type="body" idx="1"/>
          </p:nvPr>
        </p:nvSpPr>
        <p:spPr>
          <a:xfrm>
            <a:off x="4655025" y="837050"/>
            <a:ext cx="4185900" cy="54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4) Enlarge the object by a scale </a:t>
            </a:r>
            <a:br>
              <a:rPr lang="en-GB" sz="1800"/>
            </a:br>
            <a:r>
              <a:rPr lang="en-GB" sz="1800"/>
              <a:t>    factor of 3 from the marked vertex.</a:t>
            </a:r>
            <a:endParaRPr sz="2400"/>
          </a:p>
        </p:txBody>
      </p:sp>
      <p:pic>
        <p:nvPicPr>
          <p:cNvPr id="1014" name="Google Shape;1014;p80"/>
          <p:cNvPicPr preferRelativeResize="0"/>
          <p:nvPr/>
        </p:nvPicPr>
        <p:blipFill>
          <a:blip r:embed="rId3">
            <a:alphaModFix/>
          </a:blip>
          <a:srcRect l="6806" r="65023"/>
          <a:stretch>
            <a:fillRect/>
          </a:stretch>
        </p:blipFill>
        <p:spPr>
          <a:xfrm>
            <a:off x="868285" y="1449025"/>
            <a:ext cx="1296213" cy="33681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5" name="Google Shape;1015;p80"/>
          <p:cNvPicPr preferRelativeResize="0"/>
          <p:nvPr/>
        </p:nvPicPr>
        <p:blipFill>
          <a:blip r:embed="rId3">
            <a:alphaModFix/>
          </a:blip>
          <a:srcRect l="58764" r="7052"/>
          <a:stretch>
            <a:fillRect/>
          </a:stretch>
        </p:blipFill>
        <p:spPr>
          <a:xfrm>
            <a:off x="5386843" y="1449025"/>
            <a:ext cx="1605681" cy="3369096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80"/>
          <p:cNvSpPr txBox="1"/>
          <p:nvPr>
            <p:ph type="body" idx="1"/>
          </p:nvPr>
        </p:nvSpPr>
        <p:spPr>
          <a:xfrm>
            <a:off x="2887200" y="2168700"/>
            <a:ext cx="1432800" cy="80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Measure and check a = b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17" name="Google Shape;1017;p80"/>
          <p:cNvCxnSpPr/>
          <p:nvPr/>
        </p:nvCxnSpPr>
        <p:spPr>
          <a:xfrm rot="10800000">
            <a:off x="957305" y="4515512"/>
            <a:ext cx="815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18" name="Google Shape;1018;p80"/>
          <p:cNvCxnSpPr/>
          <p:nvPr/>
        </p:nvCxnSpPr>
        <p:spPr>
          <a:xfrm rot="10800000" flipH="1">
            <a:off x="828117" y="3576824"/>
            <a:ext cx="5400" cy="818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19" name="Google Shape;1019;p80"/>
          <p:cNvSpPr txBox="1"/>
          <p:nvPr>
            <p:ph type="body" idx="1"/>
          </p:nvPr>
        </p:nvSpPr>
        <p:spPr>
          <a:xfrm>
            <a:off x="595025" y="3823983"/>
            <a:ext cx="198600" cy="3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0" name="Google Shape;1020;p80"/>
          <p:cNvSpPr txBox="1"/>
          <p:nvPr>
            <p:ph type="body" idx="1"/>
          </p:nvPr>
        </p:nvSpPr>
        <p:spPr>
          <a:xfrm>
            <a:off x="1288519" y="4515519"/>
            <a:ext cx="198600" cy="3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21" name="Google Shape;1021;p80"/>
          <p:cNvCxnSpPr/>
          <p:nvPr/>
        </p:nvCxnSpPr>
        <p:spPr>
          <a:xfrm rot="10800000" flipH="1">
            <a:off x="1885890" y="1902727"/>
            <a:ext cx="0" cy="774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22" name="Google Shape;1022;p80"/>
          <p:cNvCxnSpPr/>
          <p:nvPr/>
        </p:nvCxnSpPr>
        <p:spPr>
          <a:xfrm rot="10800000" flipH="1">
            <a:off x="1887537" y="2696954"/>
            <a:ext cx="0" cy="823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23" name="Google Shape;1023;p80"/>
          <p:cNvSpPr txBox="1"/>
          <p:nvPr>
            <p:ph type="body" idx="1"/>
          </p:nvPr>
        </p:nvSpPr>
        <p:spPr>
          <a:xfrm>
            <a:off x="1966133" y="2127962"/>
            <a:ext cx="198600" cy="3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4" name="Google Shape;1024;p80"/>
          <p:cNvSpPr txBox="1"/>
          <p:nvPr>
            <p:ph type="body" idx="1"/>
          </p:nvPr>
        </p:nvSpPr>
        <p:spPr>
          <a:xfrm>
            <a:off x="1966133" y="2946933"/>
            <a:ext cx="198600" cy="3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5" name="Google Shape;1025;p80"/>
          <p:cNvSpPr txBox="1"/>
          <p:nvPr>
            <p:ph type="body" idx="1"/>
          </p:nvPr>
        </p:nvSpPr>
        <p:spPr>
          <a:xfrm>
            <a:off x="2887200" y="3695925"/>
            <a:ext cx="1432800" cy="80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Measure and check c = 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26" name="Google Shape;1026;p80"/>
          <p:cNvCxnSpPr/>
          <p:nvPr/>
        </p:nvCxnSpPr>
        <p:spPr>
          <a:xfrm rot="10800000" flipH="1">
            <a:off x="5530245" y="3599579"/>
            <a:ext cx="0" cy="774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27" name="Google Shape;1027;p80"/>
          <p:cNvCxnSpPr/>
          <p:nvPr/>
        </p:nvCxnSpPr>
        <p:spPr>
          <a:xfrm rot="10800000" flipH="1">
            <a:off x="5530245" y="1852752"/>
            <a:ext cx="0" cy="17181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28" name="Google Shape;1028;p80"/>
          <p:cNvSpPr txBox="1"/>
          <p:nvPr>
            <p:ph type="body" idx="1"/>
          </p:nvPr>
        </p:nvSpPr>
        <p:spPr>
          <a:xfrm>
            <a:off x="5327798" y="2697168"/>
            <a:ext cx="202500" cy="3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9" name="Google Shape;1029;p80"/>
          <p:cNvSpPr txBox="1"/>
          <p:nvPr>
            <p:ph type="body" idx="1"/>
          </p:nvPr>
        </p:nvSpPr>
        <p:spPr>
          <a:xfrm>
            <a:off x="5327750" y="3824658"/>
            <a:ext cx="202500" cy="3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0" name="Google Shape;1030;p80"/>
          <p:cNvSpPr txBox="1"/>
          <p:nvPr>
            <p:ph type="body" idx="1"/>
          </p:nvPr>
        </p:nvSpPr>
        <p:spPr>
          <a:xfrm>
            <a:off x="6992525" y="1750325"/>
            <a:ext cx="1432800" cy="80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Measure and check f = 2e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31" name="Google Shape;1031;p80"/>
          <p:cNvCxnSpPr/>
          <p:nvPr/>
        </p:nvCxnSpPr>
        <p:spPr>
          <a:xfrm rot="10800000">
            <a:off x="5611956" y="4516391"/>
            <a:ext cx="4467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032" name="Google Shape;1032;p80"/>
          <p:cNvCxnSpPr/>
          <p:nvPr/>
        </p:nvCxnSpPr>
        <p:spPr>
          <a:xfrm rot="10800000">
            <a:off x="6058624" y="4516391"/>
            <a:ext cx="873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033" name="Google Shape;1033;p80"/>
          <p:cNvSpPr txBox="1"/>
          <p:nvPr>
            <p:ph type="body" idx="1"/>
          </p:nvPr>
        </p:nvSpPr>
        <p:spPr>
          <a:xfrm>
            <a:off x="5777404" y="4486238"/>
            <a:ext cx="202500" cy="3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g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4" name="Google Shape;1034;p80"/>
          <p:cNvSpPr txBox="1"/>
          <p:nvPr>
            <p:ph type="body" idx="1"/>
          </p:nvPr>
        </p:nvSpPr>
        <p:spPr>
          <a:xfrm>
            <a:off x="6419333" y="4539307"/>
            <a:ext cx="202500" cy="32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5" name="Google Shape;1035;p80"/>
          <p:cNvSpPr txBox="1"/>
          <p:nvPr>
            <p:ph type="body" idx="1"/>
          </p:nvPr>
        </p:nvSpPr>
        <p:spPr>
          <a:xfrm>
            <a:off x="6992525" y="2921300"/>
            <a:ext cx="1569600" cy="80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Measure and check h = 2g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39" name="Shape 1039"/>
        <p:cNvGrpSpPr/>
        <p:nvPr/>
      </p:nvGrpSpPr>
      <p:grpSpPr>
        <a:xfrm>
          <a:off x="0" y="0"/>
          <a:ext cx="0" cy="0"/>
        </a:xfrm>
      </p:grpSpPr>
      <p:sp>
        <p:nvSpPr>
          <p:cNvPr id="1040" name="Google Shape;1040;p81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using an integer scale factor</a:t>
            </a:r>
            <a:endParaRPr/>
          </a:p>
        </p:txBody>
      </p:sp>
      <p:sp>
        <p:nvSpPr>
          <p:cNvPr id="1041" name="Google Shape;1041;p81"/>
          <p:cNvSpPr txBox="1"/>
          <p:nvPr>
            <p:ph type="title" idx="2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using a non-integer scale factor</a:t>
            </a:r>
            <a:endParaRPr/>
          </a:p>
        </p:txBody>
      </p:sp>
      <p:sp>
        <p:nvSpPr>
          <p:cNvPr id="1042" name="Google Shape;1042;p81"/>
          <p:cNvSpPr txBox="1"/>
          <p:nvPr>
            <p:ph type="title" idx="3"/>
          </p:nvPr>
        </p:nvSpPr>
        <p:spPr>
          <a:xfrm>
            <a:off x="324000" y="8100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objects</a:t>
            </a:r>
            <a:endParaRPr/>
          </a:p>
        </p:txBody>
      </p:sp>
      <p:pic>
        <p:nvPicPr>
          <p:cNvPr id="1043" name="Google Shape;1043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447" y="299569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47" name="Shape 1047"/>
        <p:cNvGrpSpPr/>
        <p:nvPr/>
      </p:nvGrpSpPr>
      <p:grpSpPr>
        <a:xfrm>
          <a:off x="0" y="0"/>
          <a:ext cx="0" cy="0"/>
        </a:xfrm>
      </p:grpSpPr>
      <p:pic>
        <p:nvPicPr>
          <p:cNvPr id="1048" name="Google Shape;1048;p82"/>
          <p:cNvPicPr preferRelativeResize="0"/>
          <p:nvPr/>
        </p:nvPicPr>
        <p:blipFill>
          <a:blip r:embed="rId3">
            <a:alphaModFix/>
          </a:blip>
          <a:srcRect l="149" t="456" b="268"/>
          <a:stretch>
            <a:fillRect/>
          </a:stretch>
        </p:blipFill>
        <p:spPr>
          <a:xfrm>
            <a:off x="1773851" y="1614803"/>
            <a:ext cx="559847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9" name="Google Shape;1049;p82"/>
          <p:cNvPicPr preferRelativeResize="0"/>
          <p:nvPr/>
        </p:nvPicPr>
        <p:blipFill>
          <a:blip r:embed="rId4">
            <a:alphaModFix/>
          </a:blip>
          <a:srcRect l="109" t="309" r="159"/>
          <a:stretch>
            <a:fillRect/>
          </a:stretch>
        </p:blipFill>
        <p:spPr>
          <a:xfrm>
            <a:off x="1771390" y="1620000"/>
            <a:ext cx="5601221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0" name="Google Shape;1050;p82"/>
          <p:cNvSpPr txBox="1"/>
          <p:nvPr>
            <p:ph type="body" idx="1"/>
          </p:nvPr>
        </p:nvSpPr>
        <p:spPr>
          <a:xfrm>
            <a:off x="324000" y="911700"/>
            <a:ext cx="8496000" cy="74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Enlarge the triangle by a scale factor of      from the centre of enlargement.</a:t>
            </a:r>
            <a:endParaRPr sz="2400"/>
          </a:p>
        </p:txBody>
      </p:sp>
      <p:sp>
        <p:nvSpPr>
          <p:cNvPr id="1051" name="Google Shape;1051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using a non-integer scale factor</a:t>
            </a:r>
            <a:endParaRPr/>
          </a:p>
        </p:txBody>
      </p:sp>
      <p:pic>
        <p:nvPicPr>
          <p:cNvPr id="1052" name="Google Shape;1052;p82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0850" y="819594"/>
            <a:ext cx="167150" cy="5325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3" name="Google Shape;1053;p82"/>
          <p:cNvCxnSpPr/>
          <p:nvPr/>
        </p:nvCxnSpPr>
        <p:spPr>
          <a:xfrm rot="10800000">
            <a:off x="4647375" y="2020275"/>
            <a:ext cx="22248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54" name="Google Shape;1054;p82"/>
          <p:cNvSpPr txBox="1"/>
          <p:nvPr>
            <p:ph type="body" idx="1"/>
          </p:nvPr>
        </p:nvSpPr>
        <p:spPr>
          <a:xfrm>
            <a:off x="6310136" y="1792405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1055" name="Google Shape;1055;p82"/>
          <p:cNvSpPr txBox="1"/>
          <p:nvPr>
            <p:ph type="body" idx="1"/>
          </p:nvPr>
        </p:nvSpPr>
        <p:spPr>
          <a:xfrm>
            <a:off x="7036299" y="2329053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1056" name="Google Shape;1056;p82"/>
          <p:cNvSpPr txBox="1"/>
          <p:nvPr>
            <p:ph type="body" idx="1"/>
          </p:nvPr>
        </p:nvSpPr>
        <p:spPr>
          <a:xfrm>
            <a:off x="5711187" y="1788045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057" name="Google Shape;1057;p82"/>
          <p:cNvSpPr/>
          <p:nvPr/>
        </p:nvSpPr>
        <p:spPr>
          <a:xfrm>
            <a:off x="4526252" y="1980491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058" name="Google Shape;1058;p82"/>
          <p:cNvCxnSpPr/>
          <p:nvPr/>
        </p:nvCxnSpPr>
        <p:spPr>
          <a:xfrm rot="10800000">
            <a:off x="5778101" y="2015774"/>
            <a:ext cx="1092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059" name="Google Shape;1059;p82" descr="&lt;math xmlns=&quot;http://www.w3.org/1998/Math/MathML&quot; display=&quot;block&quot; data-is-equatio=&quot;1&quot; data-latex=&quot;\times\frac{1}{2}&quot;&gt;&lt;mo&gt;×&lt;/mo&gt;&lt;mfrac&gt;&lt;mn&gt;1&lt;/mn&gt;&lt;mn&gt;2&lt;/mn&gt;&lt;/mfrac&gt;&lt;/math&gt;" title="times 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72599" y="1768451"/>
            <a:ext cx="327300" cy="49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0" name="Google Shape;1060;p82"/>
          <p:cNvSpPr/>
          <p:nvPr/>
        </p:nvSpPr>
        <p:spPr>
          <a:xfrm>
            <a:off x="5728645" y="1970024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061" name="Google Shape;1061;p82"/>
          <p:cNvCxnSpPr/>
          <p:nvPr/>
        </p:nvCxnSpPr>
        <p:spPr>
          <a:xfrm rot="10800000">
            <a:off x="4639350" y="2818169"/>
            <a:ext cx="2270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2" name="Google Shape;1062;p82"/>
          <p:cNvSpPr/>
          <p:nvPr/>
        </p:nvSpPr>
        <p:spPr>
          <a:xfrm>
            <a:off x="4534124" y="2772410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063" name="Google Shape;1063;p82"/>
          <p:cNvCxnSpPr/>
          <p:nvPr/>
        </p:nvCxnSpPr>
        <p:spPr>
          <a:xfrm flipH="1">
            <a:off x="6966631" y="2172650"/>
            <a:ext cx="0" cy="6297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4" name="Google Shape;1064;p82"/>
          <p:cNvSpPr txBox="1"/>
          <p:nvPr>
            <p:ph type="body" idx="1"/>
          </p:nvPr>
        </p:nvSpPr>
        <p:spPr>
          <a:xfrm>
            <a:off x="5727718" y="2578653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cxnSp>
        <p:nvCxnSpPr>
          <p:cNvPr id="1065" name="Google Shape;1065;p82"/>
          <p:cNvCxnSpPr/>
          <p:nvPr/>
        </p:nvCxnSpPr>
        <p:spPr>
          <a:xfrm flipH="1">
            <a:off x="6966631" y="2072012"/>
            <a:ext cx="0" cy="346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6" name="Google Shape;1066;p82"/>
          <p:cNvSpPr txBox="1"/>
          <p:nvPr>
            <p:ph type="body" idx="1"/>
          </p:nvPr>
        </p:nvSpPr>
        <p:spPr>
          <a:xfrm>
            <a:off x="7036299" y="2072003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endParaRPr sz="1600"/>
          </a:p>
        </p:txBody>
      </p:sp>
      <p:cxnSp>
        <p:nvCxnSpPr>
          <p:cNvPr id="1067" name="Google Shape;1067;p82"/>
          <p:cNvCxnSpPr/>
          <p:nvPr/>
        </p:nvCxnSpPr>
        <p:spPr>
          <a:xfrm rot="10800000">
            <a:off x="5820695" y="2418499"/>
            <a:ext cx="1092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8" name="Google Shape;1068;p82"/>
          <p:cNvSpPr txBox="1"/>
          <p:nvPr>
            <p:ph type="body" idx="1"/>
          </p:nvPr>
        </p:nvSpPr>
        <p:spPr>
          <a:xfrm>
            <a:off x="6310136" y="2189149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1069" name="Google Shape;1069;p82"/>
          <p:cNvSpPr/>
          <p:nvPr/>
        </p:nvSpPr>
        <p:spPr>
          <a:xfrm>
            <a:off x="5730424" y="2371235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070" name="Google Shape;1070;p82"/>
          <p:cNvCxnSpPr/>
          <p:nvPr/>
        </p:nvCxnSpPr>
        <p:spPr>
          <a:xfrm>
            <a:off x="6969481" y="2108756"/>
            <a:ext cx="5100" cy="1473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71" name="Google Shape;1071;p82"/>
          <p:cNvSpPr/>
          <p:nvPr/>
        </p:nvSpPr>
        <p:spPr>
          <a:xfrm>
            <a:off x="3734027" y="3573888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072" name="Google Shape;1072;p82"/>
          <p:cNvCxnSpPr>
            <a:endCxn id="1071" idx="6"/>
          </p:cNvCxnSpPr>
          <p:nvPr/>
        </p:nvCxnSpPr>
        <p:spPr>
          <a:xfrm rot="10800000">
            <a:off x="3825527" y="3619638"/>
            <a:ext cx="3149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73" name="Google Shape;1073;p82"/>
          <p:cNvSpPr txBox="1"/>
          <p:nvPr>
            <p:ph type="body" idx="1"/>
          </p:nvPr>
        </p:nvSpPr>
        <p:spPr>
          <a:xfrm>
            <a:off x="7034599" y="2696803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074" name="Google Shape;1074;p82"/>
          <p:cNvSpPr txBox="1"/>
          <p:nvPr>
            <p:ph type="body" idx="1"/>
          </p:nvPr>
        </p:nvSpPr>
        <p:spPr>
          <a:xfrm>
            <a:off x="5315918" y="3387478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cxnSp>
        <p:nvCxnSpPr>
          <p:cNvPr id="1075" name="Google Shape;1075;p82"/>
          <p:cNvCxnSpPr/>
          <p:nvPr/>
        </p:nvCxnSpPr>
        <p:spPr>
          <a:xfrm rot="10800000">
            <a:off x="5386325" y="2814631"/>
            <a:ext cx="15567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76" name="Google Shape;1076;p82"/>
          <p:cNvSpPr/>
          <p:nvPr/>
        </p:nvSpPr>
        <p:spPr>
          <a:xfrm>
            <a:off x="5331670" y="2774200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077" name="Google Shape;1077;p82"/>
          <p:cNvSpPr txBox="1"/>
          <p:nvPr>
            <p:ph type="body" idx="1"/>
          </p:nvPr>
        </p:nvSpPr>
        <p:spPr>
          <a:xfrm>
            <a:off x="6105377" y="2585903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0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81" name="Shape 1081"/>
        <p:cNvGrpSpPr/>
        <p:nvPr/>
      </p:nvGrpSpPr>
      <p:grpSpPr>
        <a:xfrm>
          <a:off x="0" y="0"/>
          <a:ext cx="0" cy="0"/>
        </a:xfrm>
      </p:grpSpPr>
      <p:pic>
        <p:nvPicPr>
          <p:cNvPr id="1082" name="Google Shape;1082;p83"/>
          <p:cNvPicPr preferRelativeResize="0"/>
          <p:nvPr/>
        </p:nvPicPr>
        <p:blipFill>
          <a:blip r:embed="rId3">
            <a:alphaModFix/>
          </a:blip>
          <a:srcRect l="248" t="466" r="179" b="287"/>
          <a:stretch>
            <a:fillRect/>
          </a:stretch>
        </p:blipFill>
        <p:spPr>
          <a:xfrm>
            <a:off x="1770790" y="1618600"/>
            <a:ext cx="5599210" cy="3200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3" name="Google Shape;1083;p83"/>
          <p:cNvPicPr preferRelativeResize="0"/>
          <p:nvPr/>
        </p:nvPicPr>
        <p:blipFill>
          <a:blip r:embed="rId4">
            <a:alphaModFix/>
          </a:blip>
          <a:srcRect l="109" t="309" r="159"/>
          <a:stretch>
            <a:fillRect/>
          </a:stretch>
        </p:blipFill>
        <p:spPr>
          <a:xfrm>
            <a:off x="1771390" y="1620000"/>
            <a:ext cx="5601221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4" name="Google Shape;1084;p83"/>
          <p:cNvSpPr txBox="1"/>
          <p:nvPr>
            <p:ph type="body" idx="1"/>
          </p:nvPr>
        </p:nvSpPr>
        <p:spPr>
          <a:xfrm>
            <a:off x="324000" y="911700"/>
            <a:ext cx="8496000" cy="74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Enlarge the triangle by a scale factor of       from the centre of enlargement.</a:t>
            </a:r>
            <a:endParaRPr sz="2400"/>
          </a:p>
        </p:txBody>
      </p:sp>
      <p:sp>
        <p:nvSpPr>
          <p:cNvPr id="1085" name="Google Shape;1085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using a non-integer scale factor</a:t>
            </a:r>
            <a:endParaRPr/>
          </a:p>
        </p:txBody>
      </p:sp>
      <p:cxnSp>
        <p:nvCxnSpPr>
          <p:cNvPr id="1086" name="Google Shape;1086;p83"/>
          <p:cNvCxnSpPr/>
          <p:nvPr/>
        </p:nvCxnSpPr>
        <p:spPr>
          <a:xfrm rot="10800000">
            <a:off x="4647375" y="2020275"/>
            <a:ext cx="22248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87" name="Google Shape;1087;p83"/>
          <p:cNvSpPr txBox="1"/>
          <p:nvPr>
            <p:ph type="body" idx="1"/>
          </p:nvPr>
        </p:nvSpPr>
        <p:spPr>
          <a:xfrm>
            <a:off x="5120517" y="1792405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9</a:t>
            </a:r>
            <a:endParaRPr sz="1600"/>
          </a:p>
        </p:txBody>
      </p:sp>
      <p:sp>
        <p:nvSpPr>
          <p:cNvPr id="1088" name="Google Shape;1088;p83"/>
          <p:cNvSpPr txBox="1"/>
          <p:nvPr>
            <p:ph type="body" idx="1"/>
          </p:nvPr>
        </p:nvSpPr>
        <p:spPr>
          <a:xfrm>
            <a:off x="7036299" y="2292679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1089" name="Google Shape;1089;p83"/>
          <p:cNvSpPr txBox="1"/>
          <p:nvPr>
            <p:ph type="body" idx="1"/>
          </p:nvPr>
        </p:nvSpPr>
        <p:spPr>
          <a:xfrm>
            <a:off x="5711187" y="1788045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sp>
        <p:nvSpPr>
          <p:cNvPr id="1090" name="Google Shape;1090;p83"/>
          <p:cNvSpPr/>
          <p:nvPr/>
        </p:nvSpPr>
        <p:spPr>
          <a:xfrm>
            <a:off x="4526252" y="1980491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091" name="Google Shape;1091;p83"/>
          <p:cNvCxnSpPr/>
          <p:nvPr/>
        </p:nvCxnSpPr>
        <p:spPr>
          <a:xfrm flipH="1">
            <a:off x="3413501" y="2015774"/>
            <a:ext cx="3456600" cy="75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2" name="Google Shape;1092;p83"/>
          <p:cNvSpPr/>
          <p:nvPr/>
        </p:nvSpPr>
        <p:spPr>
          <a:xfrm>
            <a:off x="3336865" y="1970024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093" name="Google Shape;1093;p83"/>
          <p:cNvCxnSpPr/>
          <p:nvPr/>
        </p:nvCxnSpPr>
        <p:spPr>
          <a:xfrm rot="10800000">
            <a:off x="4639275" y="2818175"/>
            <a:ext cx="23070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4" name="Google Shape;1094;p83"/>
          <p:cNvSpPr/>
          <p:nvPr/>
        </p:nvSpPr>
        <p:spPr>
          <a:xfrm>
            <a:off x="4534124" y="2772410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095" name="Google Shape;1095;p83"/>
          <p:cNvCxnSpPr/>
          <p:nvPr/>
        </p:nvCxnSpPr>
        <p:spPr>
          <a:xfrm flipH="1">
            <a:off x="6966625" y="2107450"/>
            <a:ext cx="0" cy="690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6" name="Google Shape;1096;p83"/>
          <p:cNvSpPr txBox="1"/>
          <p:nvPr>
            <p:ph type="body" idx="1"/>
          </p:nvPr>
        </p:nvSpPr>
        <p:spPr>
          <a:xfrm>
            <a:off x="5727718" y="2578653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cxnSp>
        <p:nvCxnSpPr>
          <p:cNvPr id="1097" name="Google Shape;1097;p83"/>
          <p:cNvCxnSpPr/>
          <p:nvPr/>
        </p:nvCxnSpPr>
        <p:spPr>
          <a:xfrm flipH="1">
            <a:off x="6966631" y="2072012"/>
            <a:ext cx="0" cy="1134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8" name="Google Shape;1098;p83"/>
          <p:cNvSpPr txBox="1"/>
          <p:nvPr>
            <p:ph type="body" idx="1"/>
          </p:nvPr>
        </p:nvSpPr>
        <p:spPr>
          <a:xfrm>
            <a:off x="7036299" y="2496148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cxnSp>
        <p:nvCxnSpPr>
          <p:cNvPr id="1099" name="Google Shape;1099;p83"/>
          <p:cNvCxnSpPr/>
          <p:nvPr/>
        </p:nvCxnSpPr>
        <p:spPr>
          <a:xfrm rot="10800000">
            <a:off x="3413495" y="3215286"/>
            <a:ext cx="34992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0" name="Google Shape;1100;p83"/>
          <p:cNvSpPr txBox="1"/>
          <p:nvPr>
            <p:ph type="body" idx="1"/>
          </p:nvPr>
        </p:nvSpPr>
        <p:spPr>
          <a:xfrm>
            <a:off x="5114601" y="2985936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9</a:t>
            </a:r>
            <a:endParaRPr sz="1600"/>
          </a:p>
        </p:txBody>
      </p:sp>
      <p:sp>
        <p:nvSpPr>
          <p:cNvPr id="1101" name="Google Shape;1101;p83"/>
          <p:cNvSpPr/>
          <p:nvPr/>
        </p:nvSpPr>
        <p:spPr>
          <a:xfrm>
            <a:off x="3339353" y="3168022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102" name="Google Shape;1102;p83"/>
          <p:cNvCxnSpPr/>
          <p:nvPr/>
        </p:nvCxnSpPr>
        <p:spPr>
          <a:xfrm>
            <a:off x="6969481" y="2108756"/>
            <a:ext cx="5100" cy="1473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3" name="Google Shape;1103;p83"/>
          <p:cNvSpPr/>
          <p:nvPr/>
        </p:nvSpPr>
        <p:spPr>
          <a:xfrm>
            <a:off x="3734027" y="3573888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104" name="Google Shape;1104;p83"/>
          <p:cNvCxnSpPr>
            <a:endCxn id="1103" idx="6"/>
          </p:cNvCxnSpPr>
          <p:nvPr/>
        </p:nvCxnSpPr>
        <p:spPr>
          <a:xfrm rot="10800000">
            <a:off x="3825527" y="3619638"/>
            <a:ext cx="31491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5" name="Google Shape;1105;p83"/>
          <p:cNvSpPr txBox="1"/>
          <p:nvPr>
            <p:ph type="body" idx="1"/>
          </p:nvPr>
        </p:nvSpPr>
        <p:spPr>
          <a:xfrm>
            <a:off x="7034599" y="2696803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4</a:t>
            </a:r>
            <a:endParaRPr sz="1600"/>
          </a:p>
        </p:txBody>
      </p:sp>
      <p:sp>
        <p:nvSpPr>
          <p:cNvPr id="1106" name="Google Shape;1106;p83"/>
          <p:cNvSpPr txBox="1"/>
          <p:nvPr>
            <p:ph type="body" idx="1"/>
          </p:nvPr>
        </p:nvSpPr>
        <p:spPr>
          <a:xfrm>
            <a:off x="5315918" y="3387478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8</a:t>
            </a:r>
            <a:endParaRPr sz="1600"/>
          </a:p>
        </p:txBody>
      </p:sp>
      <p:cxnSp>
        <p:nvCxnSpPr>
          <p:cNvPr id="1107" name="Google Shape;1107;p83"/>
          <p:cNvCxnSpPr/>
          <p:nvPr/>
        </p:nvCxnSpPr>
        <p:spPr>
          <a:xfrm rot="10800000">
            <a:off x="2212625" y="4411646"/>
            <a:ext cx="4730400" cy="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08" name="Google Shape;1108;p83"/>
          <p:cNvSpPr/>
          <p:nvPr/>
        </p:nvSpPr>
        <p:spPr>
          <a:xfrm>
            <a:off x="2121120" y="4365891"/>
            <a:ext cx="91500" cy="915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09" name="Google Shape;1109;p83"/>
          <p:cNvSpPr txBox="1"/>
          <p:nvPr>
            <p:ph type="body" idx="1"/>
          </p:nvPr>
        </p:nvSpPr>
        <p:spPr>
          <a:xfrm>
            <a:off x="4691747" y="4184191"/>
            <a:ext cx="3669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12</a:t>
            </a:r>
            <a:endParaRPr sz="1600"/>
          </a:p>
        </p:txBody>
      </p:sp>
      <p:cxnSp>
        <p:nvCxnSpPr>
          <p:cNvPr id="1110" name="Google Shape;1110;p83"/>
          <p:cNvCxnSpPr/>
          <p:nvPr/>
        </p:nvCxnSpPr>
        <p:spPr>
          <a:xfrm flipH="1">
            <a:off x="6962425" y="2110525"/>
            <a:ext cx="0" cy="2293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11" name="Google Shape;1111;p83"/>
          <p:cNvSpPr txBox="1"/>
          <p:nvPr>
            <p:ph type="body" idx="1"/>
          </p:nvPr>
        </p:nvSpPr>
        <p:spPr>
          <a:xfrm>
            <a:off x="7031049" y="3075138"/>
            <a:ext cx="168300" cy="2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6</a:t>
            </a:r>
            <a:endParaRPr sz="1600"/>
          </a:p>
        </p:txBody>
      </p:sp>
      <p:pic>
        <p:nvPicPr>
          <p:cNvPr id="1112" name="Google Shape;1112;p83" descr="&lt;math xmlns=&quot;http://www.w3.org/1998/Math/MathML&quot; display=&quot;block&quot; data-is-equatio=&quot;1&quot; data-latex=&quot;1\frac{1}{2}&quot;&gt;&lt;mn&gt;1&lt;/mn&gt;&lt;mfrac&gt;&lt;mn&gt;1&lt;/mn&gt;&lt;mn&gt;2&lt;/mn&gt;&lt;/mfrac&gt;&lt;/math&gt;" title="1 and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29655" y="810705"/>
            <a:ext cx="291542" cy="5325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3" name="Google Shape;1113;p83" descr="&lt;math xmlns=&quot;http://www.w3.org/1998/Math/MathML&quot; display=&quot;block&quot; data-is-equatio=&quot;1&quot; data-latex=&quot;\times1\frac{1}{2}&quot;&gt;&lt;mo&gt;×&lt;/mo&gt;&lt;mn&gt;1&lt;/mn&gt;&lt;mfrac&gt;&lt;mn&gt;1&lt;/mn&gt;&lt;mn&gt;2&lt;/mn&gt;&lt;/mfrac&gt;&lt;/math&gt;" title="times 1 and 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15863" y="1753250"/>
            <a:ext cx="478123" cy="53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1"/>
                            </p:stCondLst>
                            <p:childTnLst>
                              <p:par>
                                <p:cTn id="10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17" name="Shape 1117"/>
        <p:cNvGrpSpPr/>
        <p:nvPr/>
      </p:nvGrpSpPr>
      <p:grpSpPr>
        <a:xfrm>
          <a:off x="0" y="0"/>
          <a:ext cx="0" cy="0"/>
        </a:xfrm>
      </p:grpSpPr>
      <p:sp>
        <p:nvSpPr>
          <p:cNvPr id="1118" name="Google Shape;1118;p84"/>
          <p:cNvSpPr txBox="1"/>
          <p:nvPr>
            <p:ph type="body" idx="1"/>
          </p:nvPr>
        </p:nvSpPr>
        <p:spPr>
          <a:xfrm>
            <a:off x="324000" y="911700"/>
            <a:ext cx="8237700" cy="86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Izzy is about to enlarge the object below by a scale factor of       .</a:t>
            </a:r>
            <a:br>
              <a:rPr lang="en-GB" sz="2000"/>
            </a:br>
            <a:r>
              <a:rPr lang="en-GB" sz="2000"/>
              <a:t>What will the height of the image be?</a:t>
            </a:r>
            <a:endParaRPr sz="2000"/>
          </a:p>
        </p:txBody>
      </p:sp>
      <p:sp>
        <p:nvSpPr>
          <p:cNvPr id="1119" name="Google Shape;111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using a non-integer scale factor</a:t>
            </a:r>
            <a:endParaRPr/>
          </a:p>
        </p:txBody>
      </p:sp>
      <p:sp>
        <p:nvSpPr>
          <p:cNvPr id="1120" name="Google Shape;1120;p84"/>
          <p:cNvSpPr/>
          <p:nvPr/>
        </p:nvSpPr>
        <p:spPr>
          <a:xfrm>
            <a:off x="2881106" y="2164775"/>
            <a:ext cx="2155200" cy="2155200"/>
          </a:xfrm>
          <a:prstGeom prst="rtTriangle">
            <a:avLst/>
          </a:prstGeom>
          <a:solidFill>
            <a:srgbClr val="E6F2F2"/>
          </a:solidFill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1121" name="Google Shape;1121;p84"/>
          <p:cNvCxnSpPr/>
          <p:nvPr/>
        </p:nvCxnSpPr>
        <p:spPr>
          <a:xfrm rot="10800000" flipH="1">
            <a:off x="2739409" y="2164675"/>
            <a:ext cx="0" cy="2157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1122" name="Google Shape;1122;p84"/>
          <p:cNvSpPr txBox="1"/>
          <p:nvPr>
            <p:ph type="body" idx="1"/>
          </p:nvPr>
        </p:nvSpPr>
        <p:spPr>
          <a:xfrm>
            <a:off x="2062453" y="3079650"/>
            <a:ext cx="6927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4 cm</a:t>
            </a:r>
            <a:endParaRPr sz="2000"/>
          </a:p>
        </p:txBody>
      </p:sp>
      <p:pic>
        <p:nvPicPr>
          <p:cNvPr id="1123" name="Google Shape;1123;p84" descr="&lt;math xmlns=&quot;http://www.w3.org/1998/Math/MathML&quot; display=&quot;block&quot; data-is-equatio=&quot;1&quot; data-latex=&quot;2\frac{1}{2}&quot;&gt;&lt;mn&gt;2&lt;/mn&gt;&lt;mfrac&gt;&lt;mn&gt;1&lt;/mn&gt;&lt;mn&gt;2&lt;/mn&gt;&lt;/mfrac&gt;&lt;/math&gt;" title="2 and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4960" y="814274"/>
            <a:ext cx="314275" cy="53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4" name="Google Shape;1124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570550" y="2708419"/>
            <a:ext cx="1114250" cy="107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5" name="Google Shape;1125;p84"/>
          <p:cNvSpPr txBox="1"/>
          <p:nvPr>
            <p:ph type="body" idx="1"/>
          </p:nvPr>
        </p:nvSpPr>
        <p:spPr>
          <a:xfrm>
            <a:off x="5774400" y="2098116"/>
            <a:ext cx="1684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 × 2 = 8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6" name="Google Shape;1126;p84"/>
          <p:cNvSpPr txBox="1"/>
          <p:nvPr>
            <p:ph type="body" idx="1"/>
          </p:nvPr>
        </p:nvSpPr>
        <p:spPr>
          <a:xfrm>
            <a:off x="5774400" y="2787682"/>
            <a:ext cx="16848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 ×    = 2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27" name="Google Shape;1127;p84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72360" y="2697507"/>
            <a:ext cx="167150" cy="532530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84"/>
          <p:cNvSpPr txBox="1"/>
          <p:nvPr>
            <p:ph type="body" idx="1"/>
          </p:nvPr>
        </p:nvSpPr>
        <p:spPr>
          <a:xfrm>
            <a:off x="5774400" y="3619563"/>
            <a:ext cx="1995300" cy="3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 ×     = 10 cm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29" name="Google Shape;1129;p84" descr="&lt;math xmlns=&quot;http://www.w3.org/1998/Math/MathML&quot; display=&quot;block&quot; data-is-equatio=&quot;1&quot; data-latex=&quot;2\frac{1}{2}&quot;&gt;&lt;mn&gt;2&lt;/mn&gt;&lt;mfrac&gt;&lt;mn&gt;1&lt;/mn&gt;&lt;mn&gt;2&lt;/mn&gt;&lt;/mfrac&gt;&lt;/math&gt;" title="2 and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4032" y="3514143"/>
            <a:ext cx="314275" cy="5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3" name="Shape 1133"/>
        <p:cNvGrpSpPr/>
        <p:nvPr/>
      </p:nvGrpSpPr>
      <p:grpSpPr>
        <a:xfrm>
          <a:off x="0" y="0"/>
          <a:ext cx="0" cy="0"/>
        </a:xfrm>
      </p:grpSpPr>
      <p:pic>
        <p:nvPicPr>
          <p:cNvPr id="1134" name="Google Shape;1134;p85"/>
          <p:cNvPicPr preferRelativeResize="0"/>
          <p:nvPr/>
        </p:nvPicPr>
        <p:blipFill>
          <a:blip r:embed="rId3">
            <a:alphaModFix/>
          </a:blip>
          <a:srcRect l="189" t="278" r="238" b="189"/>
          <a:stretch>
            <a:fillRect/>
          </a:stretch>
        </p:blipFill>
        <p:spPr>
          <a:xfrm>
            <a:off x="3295800" y="1424075"/>
            <a:ext cx="2555400" cy="2549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5" name="Google Shape;1135;p85"/>
          <p:cNvPicPr preferRelativeResize="0"/>
          <p:nvPr/>
        </p:nvPicPr>
        <p:blipFill>
          <a:blip r:embed="rId4">
            <a:alphaModFix/>
          </a:blip>
          <a:srcRect l="357" t="267" r="218" b="604"/>
          <a:stretch>
            <a:fillRect/>
          </a:stretch>
        </p:blipFill>
        <p:spPr>
          <a:xfrm>
            <a:off x="329067" y="1424934"/>
            <a:ext cx="2555401" cy="2547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6" name="Google Shape;1136;p85"/>
          <p:cNvPicPr preferRelativeResize="0"/>
          <p:nvPr/>
        </p:nvPicPr>
        <p:blipFill>
          <a:blip r:embed="rId5">
            <a:alphaModFix/>
          </a:blip>
          <a:srcRect l="318" t="258" r="248" b="367"/>
          <a:stretch>
            <a:fillRect/>
          </a:stretch>
        </p:blipFill>
        <p:spPr>
          <a:xfrm>
            <a:off x="6249749" y="1417436"/>
            <a:ext cx="2555401" cy="2549489"/>
          </a:xfrm>
          <a:prstGeom prst="rect">
            <a:avLst/>
          </a:prstGeom>
          <a:noFill/>
          <a:ln>
            <a:noFill/>
          </a:ln>
        </p:spPr>
      </p:pic>
      <p:sp>
        <p:nvSpPr>
          <p:cNvPr id="1137" name="Google Shape;1137;p8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Enlarging using a non-integer scale factor</a:t>
            </a:r>
            <a:endParaRPr/>
          </a:p>
        </p:txBody>
      </p:sp>
      <p:sp>
        <p:nvSpPr>
          <p:cNvPr id="1138" name="Google Shape;1138;p85"/>
          <p:cNvSpPr txBox="1"/>
          <p:nvPr>
            <p:ph type="title"/>
          </p:nvPr>
        </p:nvSpPr>
        <p:spPr>
          <a:xfrm>
            <a:off x="324000" y="901175"/>
            <a:ext cx="84960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/>
              <a:t>Which diagram has correctly enlarged the object by a factor of     ?</a:t>
            </a:r>
            <a:endParaRPr sz="2000"/>
          </a:p>
        </p:txBody>
      </p:sp>
      <p:pic>
        <p:nvPicPr>
          <p:cNvPr id="1139" name="Google Shape;1139;p85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91475" y="817836"/>
            <a:ext cx="158450" cy="524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8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55409" y="4167275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85"/>
          <p:cNvSpPr txBox="1"/>
          <p:nvPr/>
        </p:nvSpPr>
        <p:spPr>
          <a:xfrm>
            <a:off x="2100225" y="2467578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2" name="Google Shape;1142;p85"/>
          <p:cNvCxnSpPr/>
          <p:nvPr/>
        </p:nvCxnSpPr>
        <p:spPr>
          <a:xfrm rot="10800000">
            <a:off x="2108997" y="2252475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3" name="Google Shape;1143;p85"/>
          <p:cNvSpPr txBox="1"/>
          <p:nvPr/>
        </p:nvSpPr>
        <p:spPr>
          <a:xfrm>
            <a:off x="1414875" y="3239103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4" name="Google Shape;1144;p85"/>
          <p:cNvCxnSpPr/>
          <p:nvPr/>
        </p:nvCxnSpPr>
        <p:spPr>
          <a:xfrm rot="10800000">
            <a:off x="1347447" y="3024000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5" name="Google Shape;1145;p85"/>
          <p:cNvSpPr txBox="1"/>
          <p:nvPr/>
        </p:nvSpPr>
        <p:spPr>
          <a:xfrm>
            <a:off x="5052975" y="2467578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6" name="Google Shape;1146;p85"/>
          <p:cNvCxnSpPr/>
          <p:nvPr/>
        </p:nvCxnSpPr>
        <p:spPr>
          <a:xfrm rot="10800000">
            <a:off x="5061747" y="2252475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7" name="Google Shape;1147;p85"/>
          <p:cNvSpPr txBox="1"/>
          <p:nvPr/>
        </p:nvSpPr>
        <p:spPr>
          <a:xfrm>
            <a:off x="4215225" y="3467703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48" name="Google Shape;1148;p85"/>
          <p:cNvCxnSpPr/>
          <p:nvPr/>
        </p:nvCxnSpPr>
        <p:spPr>
          <a:xfrm rot="10800000">
            <a:off x="4147797" y="3252600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49" name="Google Shape;1149;p85"/>
          <p:cNvSpPr txBox="1"/>
          <p:nvPr/>
        </p:nvSpPr>
        <p:spPr>
          <a:xfrm>
            <a:off x="8081925" y="2462966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object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0" name="Google Shape;1150;p85"/>
          <p:cNvCxnSpPr/>
          <p:nvPr/>
        </p:nvCxnSpPr>
        <p:spPr>
          <a:xfrm rot="10800000">
            <a:off x="8090697" y="2247863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1" name="Google Shape;1151;p85"/>
          <p:cNvSpPr txBox="1"/>
          <p:nvPr/>
        </p:nvSpPr>
        <p:spPr>
          <a:xfrm>
            <a:off x="7091775" y="3310691"/>
            <a:ext cx="749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image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2" name="Google Shape;1152;p85"/>
          <p:cNvCxnSpPr/>
          <p:nvPr/>
        </p:nvCxnSpPr>
        <p:spPr>
          <a:xfrm rot="10800000">
            <a:off x="7024347" y="3095588"/>
            <a:ext cx="354600" cy="21510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6" name="Shape 1156"/>
        <p:cNvGrpSpPr/>
        <p:nvPr/>
      </p:nvGrpSpPr>
      <p:grpSpPr>
        <a:xfrm>
          <a:off x="0" y="0"/>
          <a:ext cx="0" cy="0"/>
        </a:xfrm>
      </p:grpSpPr>
      <p:pic>
        <p:nvPicPr>
          <p:cNvPr id="1157" name="Google Shape;1157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8775" y="1618050"/>
            <a:ext cx="2551449" cy="3198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8" name="Google Shape;1158;p86"/>
          <p:cNvPicPr preferRelativeResize="0"/>
          <p:nvPr/>
        </p:nvPicPr>
        <p:blipFill>
          <a:blip r:embed="rId4">
            <a:alphaModFix/>
          </a:blip>
          <a:srcRect l="239" t="258" r="159" b="169"/>
          <a:stretch>
            <a:fillRect/>
          </a:stretch>
        </p:blipFill>
        <p:spPr>
          <a:xfrm>
            <a:off x="853628" y="1620000"/>
            <a:ext cx="3199747" cy="3199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9" name="Google Shape;1159;p8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Enlarging using a non-integer scale factor</a:t>
            </a:r>
            <a:endParaRPr/>
          </a:p>
        </p:txBody>
      </p:sp>
      <p:sp>
        <p:nvSpPr>
          <p:cNvPr id="1160" name="Google Shape;1160;p86"/>
          <p:cNvSpPr txBox="1"/>
          <p:nvPr>
            <p:ph type="body" idx="1"/>
          </p:nvPr>
        </p:nvSpPr>
        <p:spPr>
          <a:xfrm>
            <a:off x="552600" y="835500"/>
            <a:ext cx="4116900" cy="54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a) Enlarge the object by a scale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 factor of     from the point marked.</a:t>
            </a:r>
            <a:endParaRPr sz="1800"/>
          </a:p>
        </p:txBody>
      </p:sp>
      <p:sp>
        <p:nvSpPr>
          <p:cNvPr id="1161" name="Google Shape;1161;p86"/>
          <p:cNvSpPr txBox="1"/>
          <p:nvPr>
            <p:ph type="body" idx="1"/>
          </p:nvPr>
        </p:nvSpPr>
        <p:spPr>
          <a:xfrm>
            <a:off x="324000" y="835500"/>
            <a:ext cx="324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</a:t>
            </a:r>
            <a:endParaRPr sz="1800"/>
          </a:p>
        </p:txBody>
      </p:sp>
      <p:pic>
        <p:nvPicPr>
          <p:cNvPr id="1162" name="Google Shape;1162;p86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72915" y="1123743"/>
            <a:ext cx="132047" cy="4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3" name="Google Shape;1163;p86"/>
          <p:cNvSpPr txBox="1"/>
          <p:nvPr>
            <p:ph type="body" idx="1"/>
          </p:nvPr>
        </p:nvSpPr>
        <p:spPr>
          <a:xfrm>
            <a:off x="4800600" y="837050"/>
            <a:ext cx="4031700" cy="54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b) Enlarge the object by a scale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 factor of        from the point (4, 0).</a:t>
            </a:r>
            <a:endParaRPr sz="1800"/>
          </a:p>
        </p:txBody>
      </p:sp>
      <p:pic>
        <p:nvPicPr>
          <p:cNvPr id="1164" name="Google Shape;1164;p86" descr="&lt;math xmlns=&quot;http://www.w3.org/1998/Math/MathML&quot; display=&quot;block&quot; data-is-equatio=&quot;1&quot; data-latex=&quot;\times1\frac{1}{2}&quot;&gt;&lt;mo&gt;×&lt;/mo&gt;&lt;mn&gt;1&lt;/mn&gt;&lt;mfrac&gt;&lt;mn&gt;1&lt;/mn&gt;&lt;mn&gt;2&lt;/mn&gt;&lt;/mfrac&gt;&lt;/math&gt;" title="times 1 and one half"/>
          <p:cNvPicPr preferRelativeResize="0"/>
          <p:nvPr/>
        </p:nvPicPr>
        <p:blipFill>
          <a:blip r:embed="rId6">
            <a:alphaModFix/>
          </a:blip>
          <a:srcRect l="34374"/>
          <a:stretch>
            <a:fillRect/>
          </a:stretch>
        </p:blipFill>
        <p:spPr>
          <a:xfrm>
            <a:off x="6135933" y="1137075"/>
            <a:ext cx="241750" cy="41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68" name="Shape 1168"/>
        <p:cNvGrpSpPr/>
        <p:nvPr/>
      </p:nvGrpSpPr>
      <p:grpSpPr>
        <a:xfrm>
          <a:off x="0" y="0"/>
          <a:ext cx="0" cy="0"/>
        </a:xfrm>
      </p:grpSpPr>
      <p:pic>
        <p:nvPicPr>
          <p:cNvPr id="1169" name="Google Shape;1169;p87"/>
          <p:cNvPicPr preferRelativeResize="0"/>
          <p:nvPr/>
        </p:nvPicPr>
        <p:blipFill>
          <a:blip r:embed="rId3">
            <a:alphaModFix/>
          </a:blip>
          <a:srcRect l="278" t="367" r="337" b="406"/>
          <a:stretch>
            <a:fillRect/>
          </a:stretch>
        </p:blipFill>
        <p:spPr>
          <a:xfrm>
            <a:off x="5282000" y="1791481"/>
            <a:ext cx="3064975" cy="3029944"/>
          </a:xfrm>
          <a:prstGeom prst="rect">
            <a:avLst/>
          </a:prstGeom>
          <a:noFill/>
          <a:ln>
            <a:noFill/>
          </a:ln>
        </p:spPr>
      </p:pic>
      <p:sp>
        <p:nvSpPr>
          <p:cNvPr id="1170" name="Google Shape;1170;p8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Enlarging using a non-integer scale factor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1171" name="Google Shape;1171;p87"/>
          <p:cNvSpPr txBox="1"/>
          <p:nvPr>
            <p:ph type="body" idx="1"/>
          </p:nvPr>
        </p:nvSpPr>
        <p:spPr>
          <a:xfrm>
            <a:off x="552600" y="835500"/>
            <a:ext cx="4116900" cy="73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a) Enlarge the object by a scale 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 factor of     from the point marked.</a:t>
            </a:r>
            <a:endParaRPr sz="1800"/>
          </a:p>
        </p:txBody>
      </p:sp>
      <p:sp>
        <p:nvSpPr>
          <p:cNvPr id="1172" name="Google Shape;1172;p87"/>
          <p:cNvSpPr txBox="1"/>
          <p:nvPr>
            <p:ph type="body" idx="1"/>
          </p:nvPr>
        </p:nvSpPr>
        <p:spPr>
          <a:xfrm>
            <a:off x="4782725" y="837050"/>
            <a:ext cx="4037400" cy="54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Enlarge the object by a scale factor of        from the point marked.</a:t>
            </a:r>
            <a:endParaRPr sz="1800"/>
          </a:p>
        </p:txBody>
      </p:sp>
      <p:sp>
        <p:nvSpPr>
          <p:cNvPr id="1173" name="Google Shape;1173;p87"/>
          <p:cNvSpPr txBox="1"/>
          <p:nvPr>
            <p:ph type="body" idx="1"/>
          </p:nvPr>
        </p:nvSpPr>
        <p:spPr>
          <a:xfrm>
            <a:off x="324000" y="835500"/>
            <a:ext cx="324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</a:t>
            </a:r>
            <a:endParaRPr sz="1800"/>
          </a:p>
        </p:txBody>
      </p:sp>
      <p:pic>
        <p:nvPicPr>
          <p:cNvPr id="1174" name="Google Shape;1174;p87" descr="&lt;math xmlns=&quot;http://www.w3.org/1998/Math/MathML&quot; display=&quot;block&quot; data-is-equatio=&quot;1&quot; data-latex=&quot;2\frac{1}{2}&quot;&gt;&lt;mn&gt;2&lt;/mn&gt;&lt;mfrac&gt;&lt;mn&gt;1&lt;/mn&gt;&lt;mn&gt;2&lt;/mn&gt;&lt;/mfrac&gt;&lt;/math&gt;" title="2 and one half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2057" y="1080003"/>
            <a:ext cx="241750" cy="4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5" name="Google Shape;1175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57400" y="1620000"/>
            <a:ext cx="3194775" cy="3194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87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8475" y="1122541"/>
            <a:ext cx="141320" cy="450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8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9800" y="1749800"/>
            <a:ext cx="3064975" cy="306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81" name="Shape 1181"/>
        <p:cNvGrpSpPr/>
        <p:nvPr/>
      </p:nvGrpSpPr>
      <p:grpSpPr>
        <a:xfrm>
          <a:off x="0" y="0"/>
          <a:ext cx="0" cy="0"/>
        </a:xfrm>
      </p:grpSpPr>
      <p:sp>
        <p:nvSpPr>
          <p:cNvPr id="1182" name="Google Shape;1182;p8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Enlarging using a non-integer scale factor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pic>
        <p:nvPicPr>
          <p:cNvPr id="1183" name="Google Shape;1183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06260" y="1614175"/>
            <a:ext cx="2570845" cy="320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4" name="Google Shape;1184;p88"/>
          <p:cNvPicPr preferRelativeResize="0"/>
          <p:nvPr/>
        </p:nvPicPr>
        <p:blipFill>
          <a:blip r:embed="rId4">
            <a:alphaModFix/>
          </a:blip>
          <a:srcRect l="268" t="149" r="169" b="179"/>
          <a:stretch>
            <a:fillRect/>
          </a:stretch>
        </p:blipFill>
        <p:spPr>
          <a:xfrm>
            <a:off x="857400" y="1620000"/>
            <a:ext cx="3192080" cy="3191826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88"/>
          <p:cNvSpPr/>
          <p:nvPr/>
        </p:nvSpPr>
        <p:spPr>
          <a:xfrm>
            <a:off x="6366300" y="4648200"/>
            <a:ext cx="85800" cy="858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1186" name="Google Shape;1186;p88"/>
          <p:cNvSpPr txBox="1"/>
          <p:nvPr>
            <p:ph type="body" idx="1"/>
          </p:nvPr>
        </p:nvSpPr>
        <p:spPr>
          <a:xfrm>
            <a:off x="552600" y="835500"/>
            <a:ext cx="4116900" cy="54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a) Enlarge the object by a scale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 factor of     from the point marked.</a:t>
            </a:r>
            <a:endParaRPr sz="1800"/>
          </a:p>
        </p:txBody>
      </p:sp>
      <p:sp>
        <p:nvSpPr>
          <p:cNvPr id="1187" name="Google Shape;1187;p88"/>
          <p:cNvSpPr txBox="1"/>
          <p:nvPr>
            <p:ph type="body" idx="1"/>
          </p:nvPr>
        </p:nvSpPr>
        <p:spPr>
          <a:xfrm>
            <a:off x="324000" y="835500"/>
            <a:ext cx="324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1)</a:t>
            </a:r>
            <a:endParaRPr sz="1800"/>
          </a:p>
        </p:txBody>
      </p:sp>
      <p:pic>
        <p:nvPicPr>
          <p:cNvPr id="1188" name="Google Shape;1188;p88" descr="&lt;math xmlns=&quot;http://www.w3.org/1998/Math/MathML&quot; display=&quot;block&quot; data-is-equatio=&quot;1&quot; data-latex=&quot;\frac{1}{3}&quot;&gt;&lt;mfrac&gt;&lt;mn&gt;1&lt;/mn&gt;&lt;mn&gt;3&lt;/mn&gt;&lt;/mfrac&gt;&lt;/math&gt;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3715" y="1123743"/>
            <a:ext cx="132047" cy="43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9" name="Google Shape;1189;p88"/>
          <p:cNvSpPr txBox="1"/>
          <p:nvPr>
            <p:ph type="body" idx="1"/>
          </p:nvPr>
        </p:nvSpPr>
        <p:spPr>
          <a:xfrm>
            <a:off x="4800600" y="837050"/>
            <a:ext cx="4031700" cy="54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b) Enlarge the object by a scale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 factor of        from the point (4, 0).</a:t>
            </a:r>
            <a:endParaRPr sz="1800"/>
          </a:p>
        </p:txBody>
      </p:sp>
      <p:pic>
        <p:nvPicPr>
          <p:cNvPr id="1190" name="Google Shape;1190;p88" descr="&lt;math xmlns=&quot;http://www.w3.org/1998/Math/MathML&quot; display=&quot;block&quot; data-is-equatio=&quot;1&quot; data-latex=&quot;\times1\frac{1}{2}&quot;&gt;&lt;mo&gt;×&lt;/mo&gt;&lt;mn&gt;1&lt;/mn&gt;&lt;mfrac&gt;&lt;mn&gt;1&lt;/mn&gt;&lt;mn&gt;2&lt;/mn&gt;&lt;/mfrac&gt;&lt;/math&gt;" title="times 1 and one half"/>
          <p:cNvPicPr preferRelativeResize="0"/>
          <p:nvPr/>
        </p:nvPicPr>
        <p:blipFill>
          <a:blip r:embed="rId6">
            <a:alphaModFix/>
          </a:blip>
          <a:srcRect l="34374"/>
          <a:stretch>
            <a:fillRect/>
          </a:stretch>
        </p:blipFill>
        <p:spPr>
          <a:xfrm>
            <a:off x="6135933" y="1137075"/>
            <a:ext cx="241750" cy="41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94" name="Shape 1194"/>
        <p:cNvGrpSpPr/>
        <p:nvPr/>
      </p:nvGrpSpPr>
      <p:grpSpPr>
        <a:xfrm>
          <a:off x="0" y="0"/>
          <a:ext cx="0" cy="0"/>
        </a:xfrm>
      </p:grpSpPr>
      <p:pic>
        <p:nvPicPr>
          <p:cNvPr id="1195" name="Google Shape;1195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867" y="1620000"/>
            <a:ext cx="3180641" cy="319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8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Enlarging using a non-integer scale factor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pic>
        <p:nvPicPr>
          <p:cNvPr id="1197" name="Google Shape;1197;p89"/>
          <p:cNvPicPr preferRelativeResize="0"/>
          <p:nvPr/>
        </p:nvPicPr>
        <p:blipFill>
          <a:blip r:embed="rId4">
            <a:alphaModFix/>
          </a:blip>
          <a:srcRect l="377" t="544" r="337" b="484"/>
          <a:stretch>
            <a:fillRect/>
          </a:stretch>
        </p:blipFill>
        <p:spPr>
          <a:xfrm>
            <a:off x="5112345" y="1620000"/>
            <a:ext cx="3232857" cy="3194774"/>
          </a:xfrm>
          <a:prstGeom prst="rect">
            <a:avLst/>
          </a:prstGeom>
          <a:noFill/>
          <a:ln>
            <a:noFill/>
          </a:ln>
        </p:spPr>
      </p:pic>
      <p:sp>
        <p:nvSpPr>
          <p:cNvPr id="1198" name="Google Shape;1198;p89"/>
          <p:cNvSpPr txBox="1"/>
          <p:nvPr>
            <p:ph type="body" idx="1"/>
          </p:nvPr>
        </p:nvSpPr>
        <p:spPr>
          <a:xfrm>
            <a:off x="552600" y="835500"/>
            <a:ext cx="4116900" cy="73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a) Enlarge the object by a scale </a:t>
            </a:r>
            <a:endParaRPr sz="1800"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    factor of     from the point marked.</a:t>
            </a:r>
            <a:endParaRPr sz="1800"/>
          </a:p>
        </p:txBody>
      </p:sp>
      <p:sp>
        <p:nvSpPr>
          <p:cNvPr id="1199" name="Google Shape;1199;p89"/>
          <p:cNvSpPr txBox="1"/>
          <p:nvPr>
            <p:ph type="body" idx="1"/>
          </p:nvPr>
        </p:nvSpPr>
        <p:spPr>
          <a:xfrm>
            <a:off x="4782725" y="837050"/>
            <a:ext cx="4037400" cy="54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b) Enlarge the object by a scale factor of        from the point marked.</a:t>
            </a:r>
            <a:endParaRPr sz="1800"/>
          </a:p>
        </p:txBody>
      </p:sp>
      <p:sp>
        <p:nvSpPr>
          <p:cNvPr id="1200" name="Google Shape;1200;p89"/>
          <p:cNvSpPr txBox="1"/>
          <p:nvPr>
            <p:ph type="body" idx="1"/>
          </p:nvPr>
        </p:nvSpPr>
        <p:spPr>
          <a:xfrm>
            <a:off x="324000" y="835500"/>
            <a:ext cx="3249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2)</a:t>
            </a:r>
            <a:endParaRPr sz="1800"/>
          </a:p>
        </p:txBody>
      </p:sp>
      <p:pic>
        <p:nvPicPr>
          <p:cNvPr id="1201" name="Google Shape;1201;p89" descr="&lt;math xmlns=&quot;http://www.w3.org/1998/Math/MathML&quot; display=&quot;block&quot; data-is-equatio=&quot;1&quot; data-latex=&quot;2\frac{1}{2}&quot;&gt;&lt;mn&gt;2&lt;/mn&gt;&lt;mfrac&gt;&lt;mn&gt;1&lt;/mn&gt;&lt;mn&gt;2&lt;/mn&gt;&lt;/mfrac&gt;&lt;/math&gt;" title="2 and one hal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2057" y="1080003"/>
            <a:ext cx="241750" cy="40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2" name="Google Shape;1202;p89" descr="&lt;math xmlns=&quot;http://www.w3.org/1998/Math/MathML&quot; display=&quot;block&quot; data-is-equatio=&quot;1&quot; data-latex=&quot;\frac{1}{2}&quot;&gt;&lt;mfrac&gt;&lt;mn&gt;1&lt;/mn&gt;&lt;mn&gt;2&lt;/mn&gt;&lt;/mfrac&gt;&lt;/math&gt;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8475" y="1122541"/>
            <a:ext cx="141320" cy="45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06" name="Shape 1206"/>
        <p:cNvGrpSpPr/>
        <p:nvPr/>
      </p:nvGrpSpPr>
      <p:grpSpPr>
        <a:xfrm>
          <a:off x="0" y="0"/>
          <a:ext cx="0" cy="0"/>
        </a:xfrm>
      </p:grpSpPr>
      <p:sp>
        <p:nvSpPr>
          <p:cNvPr id="1207" name="Google Shape;1207;p90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Different methods can be used to enlarge objects.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Lines from the centre of enlargement passing through the object’s vertices can be drawn to check that an image is in the correct position.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/>
              <a:t>When a line joins the centre of enlargement and a vertex of the object, it should also intersect the corresponding vertex of the image.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endParaRPr/>
          </a:p>
        </p:txBody>
      </p:sp>
      <p:sp>
        <p:nvSpPr>
          <p:cNvPr id="1208" name="Google Shape;1208;p90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Enlarging objects</a:t>
            </a:r>
            <a:endParaRPr/>
          </a:p>
        </p:txBody>
      </p:sp>
    </p:spTree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12" name="Shape 1212"/>
        <p:cNvGrpSpPr/>
        <p:nvPr/>
      </p:nvGrpSpPr>
      <p:grpSpPr>
        <a:xfrm>
          <a:off x="0" y="0"/>
          <a:ext cx="0" cy="0"/>
        </a:xfrm>
      </p:grpSpPr>
      <p:sp>
        <p:nvSpPr>
          <p:cNvPr id="1213" name="Google Shape;1213;p91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214" name="Google Shape;1214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179</Paragraphs>
  <Slides>28</Slides>
  <Notes>28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baseType="lpstr" size="36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Enlarging objects</vt:lpstr>
      <vt:lpstr>PowerPoint Presentation</vt:lpstr>
      <vt:lpstr>PowerPoint Presentation</vt:lpstr>
      <vt:lpstr>PowerPoint Presentation</vt:lpstr>
      <vt:lpstr>Enlarging using an integer scale factor</vt:lpstr>
      <vt:lpstr>Enlarging using an integer scale factor</vt:lpstr>
      <vt:lpstr>Enlarging using an integer scale factor</vt:lpstr>
      <vt:lpstr>Enlarging using an integer scale factor</vt:lpstr>
      <vt:lpstr>Enlarging using an integer scale factor</vt:lpstr>
      <vt:lpstr>Enlarging using an integer scale factor</vt:lpstr>
      <vt:lpstr>Enlarging using an integer scale factor</vt:lpstr>
      <vt:lpstr>Enlarging using an integer scale factor</vt:lpstr>
      <vt:lpstr>Enlarging using an integer scale factor</vt:lpstr>
      <vt:lpstr>PowerPoint Presentation</vt:lpstr>
      <vt:lpstr>PowerPoint Presentation</vt:lpstr>
      <vt:lpstr>PowerPoint Presentation</vt:lpstr>
      <vt:lpstr>PowerPoint Presentation</vt:lpstr>
      <vt:lpstr>Enlarging using an integer scale factor</vt:lpstr>
      <vt:lpstr>Enlarging using a non-integer scale factor</vt:lpstr>
      <vt:lpstr>Enlarging using a non-integer scale factor</vt:lpstr>
      <vt:lpstr>Enlarging using a non-integer scale factor</vt:lpstr>
      <vt:lpstr>Enlarging using a non-integer scale factor</vt:lpstr>
      <vt:lpstr>PowerPoint Presentation</vt:lpstr>
      <vt:lpstr>PowerPoint Presentation</vt:lpstr>
      <vt:lpstr>PowerPoint Presentation</vt:lpstr>
      <vt:lpstr>PowerPoint Presentation</vt:lpstr>
      <vt:lpstr>Enlarging objects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2023-11-02T14:26:07.676</cp:lastPrinted>
  <dcterms:created xsi:type="dcterms:W3CDTF">2023-11-02T14:26:07Z</dcterms:created>
  <dcterms:modified xsi:type="dcterms:W3CDTF">2023-11-02T14:25:40Z</dcterms:modified>
</cp:coreProperties>
</file>