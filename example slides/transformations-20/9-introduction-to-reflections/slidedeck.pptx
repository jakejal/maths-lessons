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5143500"/>
  <p:notesSz cx="6858000" cy="9144000"/>
  <p:embeddedFontLst>
    <p:embeddedFont>
      <p:font typeface="Lexend" panose="00000000000000000000"/>
      <p:regular r:id="rId39"/>
    </p:embeddedFont>
    <p:embeddedFont>
      <p:font typeface="Lexend Medium" panose="00000000000000000000"/>
      <p:regular r:id="rId40"/>
    </p:embeddedFont>
    <p:embeddedFont>
      <p:font typeface="Kalam" panose="02000000000000000000"/>
      <p:regular r:id="rId41"/>
    </p:embeddedFont>
    <p:embeddedFont>
      <p:font typeface="Lexend Light" panose="00000000000000000000"/>
      <p:regular r:id="rId42"/>
    </p:embeddedFont>
  </p:embeddedFontLst>
  <p:custDataLst>
    <p:tags r:id="rId3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5D4EAC6-A3BD-4E46-B0F7-FB511F3641CD}">
  <a:tblStyle styleId="{65D4EAC6-A3BD-4E46-B0F7-FB511F3641C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tags" Target="tags/tag1.xml" /><Relationship Id="rId39" Type="http://schemas.openxmlformats.org/officeDocument/2006/relationships/font" Target="fonts/font1.fntdata" /><Relationship Id="rId4" Type="http://schemas.openxmlformats.org/officeDocument/2006/relationships/slide" Target="slides/slide2.xml" /><Relationship Id="rId40" Type="http://schemas.openxmlformats.org/officeDocument/2006/relationships/font" Target="fonts/font2.fntdata" /><Relationship Id="rId41" Type="http://schemas.openxmlformats.org/officeDocument/2006/relationships/font" Target="fonts/font3.fntdata" /><Relationship Id="rId42" Type="http://schemas.openxmlformats.org/officeDocument/2006/relationships/font" Target="fonts/font4.fntdata" /><Relationship Id="rId43" Type="http://schemas.openxmlformats.org/officeDocument/2006/relationships/presProps" Target="presProps.xml" /><Relationship Id="rId44" Type="http://schemas.openxmlformats.org/officeDocument/2006/relationships/viewProps" Target="viewProps.xml" /><Relationship Id="rId45" Type="http://schemas.openxmlformats.org/officeDocument/2006/relationships/theme" Target="theme/theme1.xml" /><Relationship Id="rId46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sp>
        <p:nvSpPr>
          <p:cNvPr id="789" name="Google Shape;789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4" name="Shape 794"/>
        <p:cNvGrpSpPr/>
        <p:nvPr/>
      </p:nvGrpSpPr>
      <p:grpSpPr>
        <a:xfrm>
          <a:off x="0" y="0"/>
          <a:ext cx="0" cy="0"/>
        </a:xfrm>
      </p:grpSpPr>
      <p:sp>
        <p:nvSpPr>
          <p:cNvPr id="795" name="Google Shape;795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9" name="Shape 799"/>
        <p:cNvGrpSpPr/>
        <p:nvPr/>
      </p:nvGrpSpPr>
      <p:grpSpPr>
        <a:xfrm>
          <a:off x="0" y="0"/>
          <a:ext cx="0" cy="0"/>
        </a:xfrm>
      </p:grpSpPr>
      <p:sp>
        <p:nvSpPr>
          <p:cNvPr id="800" name="Google Shape;800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4" name="Shape 804"/>
        <p:cNvGrpSpPr/>
        <p:nvPr/>
      </p:nvGrpSpPr>
      <p:grpSpPr>
        <a:xfrm>
          <a:off x="0" y="0"/>
          <a:ext cx="0" cy="0"/>
        </a:xfrm>
      </p:grpSpPr>
      <p:sp>
        <p:nvSpPr>
          <p:cNvPr id="805" name="Google Shape;805;g2869c32bb7b_1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6" name="Google Shape;806;g2869c32bb7b_1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g2869c32bb7b_1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2" name="Google Shape;812;g2869c32bb7b_1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sp>
        <p:nvSpPr>
          <p:cNvPr id="819" name="Google Shape;819;g2869c32bb7b_1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g2869c32bb7b_1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g2869c32bb7b_1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3" name="Google Shape;833;g2869c32bb7b_1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6" name="Shape 846"/>
        <p:cNvGrpSpPr/>
        <p:nvPr/>
      </p:nvGrpSpPr>
      <p:grpSpPr>
        <a:xfrm>
          <a:off x="0" y="0"/>
          <a:ext cx="0" cy="0"/>
        </a:xfrm>
      </p:grpSpPr>
      <p:sp>
        <p:nvSpPr>
          <p:cNvPr id="847" name="Google Shape;847;g2869c32bb7b_1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g2869c32bb7b_1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2" name="Shape 862"/>
        <p:cNvGrpSpPr/>
        <p:nvPr/>
      </p:nvGrpSpPr>
      <p:grpSpPr>
        <a:xfrm>
          <a:off x="0" y="0"/>
          <a:ext cx="0" cy="0"/>
        </a:xfrm>
      </p:grpSpPr>
      <p:sp>
        <p:nvSpPr>
          <p:cNvPr id="863" name="Google Shape;863;g2869c32bb7b_1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4" name="Google Shape;864;g2869c32bb7b_1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3" name="Shape 873"/>
        <p:cNvGrpSpPr/>
        <p:nvPr/>
      </p:nvGrpSpPr>
      <p:grpSpPr>
        <a:xfrm>
          <a:off x="0" y="0"/>
          <a:ext cx="0" cy="0"/>
        </a:xfrm>
      </p:grpSpPr>
      <p:sp>
        <p:nvSpPr>
          <p:cNvPr id="874" name="Google Shape;874;g2869c32bb7b_1_6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2869c32bb7b_1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5" name="Shape 885"/>
        <p:cNvGrpSpPr/>
        <p:nvPr/>
      </p:nvGrpSpPr>
      <p:grpSpPr>
        <a:xfrm>
          <a:off x="0" y="0"/>
          <a:ext cx="0" cy="0"/>
        </a:xfrm>
      </p:grpSpPr>
      <p:sp>
        <p:nvSpPr>
          <p:cNvPr id="886" name="Google Shape;886;g29546cb3c27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g29546cb3c2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g2869c32bb7b_1_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1" name="Google Shape;901;g2869c32bb7b_1_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1" name="Shape 911"/>
        <p:cNvGrpSpPr/>
        <p:nvPr/>
      </p:nvGrpSpPr>
      <p:grpSpPr>
        <a:xfrm>
          <a:off x="0" y="0"/>
          <a:ext cx="0" cy="0"/>
        </a:xfrm>
      </p:grpSpPr>
      <p:sp>
        <p:nvSpPr>
          <p:cNvPr id="912" name="Google Shape;912;g2869c32bb7b_1_1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3" name="Google Shape;913;g2869c32bb7b_1_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3" name="Shape 923"/>
        <p:cNvGrpSpPr/>
        <p:nvPr/>
      </p:nvGrpSpPr>
      <p:grpSpPr>
        <a:xfrm>
          <a:off x="0" y="0"/>
          <a:ext cx="0" cy="0"/>
        </a:xfrm>
      </p:grpSpPr>
      <p:sp>
        <p:nvSpPr>
          <p:cNvPr id="924" name="Google Shape;924;g2869c32bb7b_1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g2869c32bb7b_1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9" name="Shape 939"/>
        <p:cNvGrpSpPr/>
        <p:nvPr/>
      </p:nvGrpSpPr>
      <p:grpSpPr>
        <a:xfrm>
          <a:off x="0" y="0"/>
          <a:ext cx="0" cy="0"/>
        </a:xfrm>
      </p:grpSpPr>
      <p:sp>
        <p:nvSpPr>
          <p:cNvPr id="940" name="Google Shape;940;g2869c32bb7b_1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1" name="Google Shape;941;g2869c32bb7b_1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8" name="Shape 958"/>
        <p:cNvGrpSpPr/>
        <p:nvPr/>
      </p:nvGrpSpPr>
      <p:grpSpPr>
        <a:xfrm>
          <a:off x="0" y="0"/>
          <a:ext cx="0" cy="0"/>
        </a:xfrm>
      </p:grpSpPr>
      <p:sp>
        <p:nvSpPr>
          <p:cNvPr id="959" name="Google Shape;959;g2869c32bb7b_1_13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0" name="Google Shape;960;g2869c32bb7b_1_1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sp>
        <p:nvSpPr>
          <p:cNvPr id="972" name="Google Shape;972;g2869c32bb7b_1_13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3" name="Google Shape;973;g2869c32bb7b_1_13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9" name="Shape 979"/>
        <p:cNvGrpSpPr/>
        <p:nvPr/>
      </p:nvGrpSpPr>
      <p:grpSpPr>
        <a:xfrm>
          <a:off x="0" y="0"/>
          <a:ext cx="0" cy="0"/>
        </a:xfrm>
      </p:grpSpPr>
      <p:sp>
        <p:nvSpPr>
          <p:cNvPr id="980" name="Google Shape;980;g2869c32bb7b_1_1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" name="Google Shape;981;g2869c32bb7b_1_1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sp>
        <p:nvSpPr>
          <p:cNvPr id="998" name="Google Shape;998;g2869c32bb7b_1_13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9" name="Google Shape;999;g2869c32bb7b_1_13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0" name="Shape 1010"/>
        <p:cNvGrpSpPr/>
        <p:nvPr/>
      </p:nvGrpSpPr>
      <p:grpSpPr>
        <a:xfrm>
          <a:off x="0" y="0"/>
          <a:ext cx="0" cy="0"/>
        </a:xfrm>
      </p:grpSpPr>
      <p:sp>
        <p:nvSpPr>
          <p:cNvPr id="1011" name="Google Shape;1011;g2869c32bb7b_1_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2" name="Google Shape;1012;g2869c32bb7b_1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8" name="Shape 1018"/>
        <p:cNvGrpSpPr/>
        <p:nvPr/>
      </p:nvGrpSpPr>
      <p:grpSpPr>
        <a:xfrm>
          <a:off x="0" y="0"/>
          <a:ext cx="0" cy="0"/>
        </a:xfrm>
      </p:grpSpPr>
      <p:sp>
        <p:nvSpPr>
          <p:cNvPr id="1019" name="Google Shape;1019;g2869c32bb7b_1_17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g2869c32bb7b_1_1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9" name="Shape 1039"/>
        <p:cNvGrpSpPr/>
        <p:nvPr/>
      </p:nvGrpSpPr>
      <p:grpSpPr>
        <a:xfrm>
          <a:off x="0" y="0"/>
          <a:ext cx="0" cy="0"/>
        </a:xfrm>
      </p:grpSpPr>
      <p:sp>
        <p:nvSpPr>
          <p:cNvPr id="1040" name="Google Shape;1040;g2869c32bb7b_1_1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1" name="Google Shape;1041;g2869c32bb7b_1_1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4" name="Shape 1074"/>
        <p:cNvGrpSpPr/>
        <p:nvPr/>
      </p:nvGrpSpPr>
      <p:grpSpPr>
        <a:xfrm>
          <a:off x="0" y="0"/>
          <a:ext cx="0" cy="0"/>
        </a:xfrm>
      </p:grpSpPr>
      <p:sp>
        <p:nvSpPr>
          <p:cNvPr id="1075" name="Google Shape;1075;g2869c32bb7b_1_2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g2869c32bb7b_1_2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g2869c32bb7b_1_2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0" name="Google Shape;1100;g2869c32bb7b_1_2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6" name="Shape 1116"/>
        <p:cNvGrpSpPr/>
        <p:nvPr/>
      </p:nvGrpSpPr>
      <p:grpSpPr>
        <a:xfrm>
          <a:off x="0" y="0"/>
          <a:ext cx="0" cy="0"/>
        </a:xfrm>
      </p:grpSpPr>
      <p:sp>
        <p:nvSpPr>
          <p:cNvPr id="1117" name="Google Shape;1117;g2869c32bb7b_1_2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8" name="Google Shape;1118;g2869c32bb7b_1_2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9" name="Shape 1139"/>
        <p:cNvGrpSpPr/>
        <p:nvPr/>
      </p:nvGrpSpPr>
      <p:grpSpPr>
        <a:xfrm>
          <a:off x="0" y="0"/>
          <a:ext cx="0" cy="0"/>
        </a:xfrm>
      </p:grpSpPr>
      <p:sp>
        <p:nvSpPr>
          <p:cNvPr id="1140" name="Google Shape;1140;g2869c32bb7b_1_2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1" name="Google Shape;1141;g2869c32bb7b_1_2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g2869c32bb7b_1_3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2" name="Google Shape;1152;g2869c32bb7b_1_3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3" name="Shape 1163"/>
        <p:cNvGrpSpPr/>
        <p:nvPr/>
      </p:nvGrpSpPr>
      <p:grpSpPr>
        <a:xfrm>
          <a:off x="0" y="0"/>
          <a:ext cx="0" cy="0"/>
        </a:xfrm>
      </p:grpSpPr>
      <p:sp>
        <p:nvSpPr>
          <p:cNvPr id="1164" name="Google Shape;1164;g2869c32bb7b_1_3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5" name="Google Shape;1165;g2869c32bb7b_1_3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sp>
        <p:nvSpPr>
          <p:cNvPr id="1192" name="Google Shape;1192;g2869c32bb7b_1_3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3" name="Google Shape;1193;g2869c32bb7b_1_3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7" name="Shape 1237"/>
        <p:cNvGrpSpPr/>
        <p:nvPr/>
      </p:nvGrpSpPr>
      <p:grpSpPr>
        <a:xfrm>
          <a:off x="0" y="0"/>
          <a:ext cx="0" cy="0"/>
        </a:xfrm>
      </p:grpSpPr>
      <p:sp>
        <p:nvSpPr>
          <p:cNvPr id="1238" name="Google Shape;1238;g2869c32bb7b_1_39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9" name="Google Shape;1239;g2869c32bb7b_1_3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g2869c32bb7b_1_4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7" name="Google Shape;1247;g2869c32bb7b_1_4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4" name="Shape 1284"/>
        <p:cNvGrpSpPr/>
        <p:nvPr/>
      </p:nvGrpSpPr>
      <p:grpSpPr>
        <a:xfrm>
          <a:off x="0" y="0"/>
          <a:ext cx="0" cy="0"/>
        </a:xfrm>
      </p:grpSpPr>
      <p:sp>
        <p:nvSpPr>
          <p:cNvPr id="1285" name="Google Shape;1285;g2869c32bb7b_1_4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6" name="Google Shape;1286;g2869c32bb7b_1_4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sp>
        <p:nvSpPr>
          <p:cNvPr id="1338" name="Google Shape;1338;g2869c32bb7b_1_48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9" name="Google Shape;1339;g2869c32bb7b_1_4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0" name="Shape 1350"/>
        <p:cNvGrpSpPr/>
        <p:nvPr/>
      </p:nvGrpSpPr>
      <p:grpSpPr>
        <a:xfrm>
          <a:off x="0" y="0"/>
          <a:ext cx="0" cy="0"/>
        </a:xfrm>
      </p:grpSpPr>
      <p:sp>
        <p:nvSpPr>
          <p:cNvPr id="1351" name="Google Shape;1351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6" name="Shape 1356"/>
        <p:cNvGrpSpPr/>
        <p:nvPr/>
      </p:nvGrpSpPr>
      <p:grpSpPr>
        <a:xfrm>
          <a:off x="0" y="0"/>
          <a:ext cx="0" cy="0"/>
        </a:xfrm>
      </p:grpSpPr>
      <p:sp>
        <p:nvSpPr>
          <p:cNvPr id="1357" name="Google Shape;1357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 1">
  <p:cSld name="CUSTOM_3_2_1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pic>
        <p:nvPicPr>
          <p:cNvPr id="747" name="Google Shape;747;p64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64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4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4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64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4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3" name="Google Shape;753;p64"/>
          <p:cNvCxnSpPr>
            <a:endCxn id="754" idx="2"/>
          </p:cNvCxnSpPr>
          <p:nvPr/>
        </p:nvCxnSpPr>
        <p:spPr>
          <a:xfrm flipH="1">
            <a:off x="647802" y="1841897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54" name="Google Shape;754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7" name="Google Shape;757;p64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8" name="Google Shape;758;p64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4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 1">
  <p:cSld name="TITLE_AND_TWO_COLUMNS_1_1_5_1_3_1_1_2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pic>
        <p:nvPicPr>
          <p:cNvPr id="765" name="Google Shape;765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algn="l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algn="l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8" name="Google Shape;768;p65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0" name="Google Shape;770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 i="0" u="none" strike="noStrike" cap="non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 1">
  <p:cSld name="TITLE_AND_TWO_COLUMNS_1_1_5_1_3_1_1_1_1_3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pic>
        <p:nvPicPr>
          <p:cNvPr id="773" name="Google Shape;773;p6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algn="l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algn="l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6" name="Google Shape;776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 i="0" u="none" strike="noStrike" cap="non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6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9" name="Google Shape;779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pic>
        <p:nvPicPr>
          <p:cNvPr id="781" name="Google Shape;781;p6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algn="l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algn="l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6" name="Google Shape;786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 i="0" u="none" strike="noStrike" cap="non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7" name="Google Shape;787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slideLayout" Target="../slideLayouts/slideLayout63.xml" /><Relationship Id="rId64" Type="http://schemas.openxmlformats.org/officeDocument/2006/relationships/slideLayout" Target="../slideLayouts/slideLayout64.xml" /><Relationship Id="rId65" Type="http://schemas.openxmlformats.org/officeDocument/2006/relationships/slideLayout" Target="../slideLayouts/slideLayout65.xml" /><Relationship Id="rId66" Type="http://schemas.openxmlformats.org/officeDocument/2006/relationships/slideLayout" Target="../slideLayouts/slideLayout66.xml" /><Relationship Id="rId67" Type="http://schemas.openxmlformats.org/officeDocument/2006/relationships/image" Target="../media/image42.png" /><Relationship Id="rId68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8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Relationship Id="rId6" Type="http://schemas.openxmlformats.org/officeDocument/2006/relationships/image" Target="../media/image54.png" /><Relationship Id="rId7" Type="http://schemas.openxmlformats.org/officeDocument/2006/relationships/image" Target="../media/image55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Relationship Id="rId6" Type="http://schemas.openxmlformats.org/officeDocument/2006/relationships/image" Target="../media/image54.png" /><Relationship Id="rId7" Type="http://schemas.openxmlformats.org/officeDocument/2006/relationships/image" Target="../media/image55.png" /><Relationship Id="rId8" Type="http://schemas.openxmlformats.org/officeDocument/2006/relationships/image" Target="../media/image4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4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4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6.png" /><Relationship Id="rId4" Type="http://schemas.openxmlformats.org/officeDocument/2006/relationships/image" Target="../media/image45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8.png" /><Relationship Id="rId4" Type="http://schemas.openxmlformats.org/officeDocument/2006/relationships/image" Target="../media/image45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1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2.png" /><Relationship Id="rId4" Type="http://schemas.openxmlformats.org/officeDocument/2006/relationships/image" Target="../media/image39.png" /><Relationship Id="rId5" Type="http://schemas.openxmlformats.org/officeDocument/2006/relationships/image" Target="../media/image4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7.png" /><Relationship Id="rId4" Type="http://schemas.openxmlformats.org/officeDocument/2006/relationships/image" Target="../media/image6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7.png" /><Relationship Id="rId4" Type="http://schemas.openxmlformats.org/officeDocument/2006/relationships/image" Target="../media/image6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5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5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5.png" /><Relationship Id="rId4" Type="http://schemas.openxmlformats.org/officeDocument/2006/relationships/image" Target="../media/image3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5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5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6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4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6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5.png" /><Relationship Id="rId4" Type="http://schemas.openxmlformats.org/officeDocument/2006/relationships/image" Target="../media/image39.png" /><Relationship Id="rId5" Type="http://schemas.openxmlformats.org/officeDocument/2006/relationships/image" Target="../media/image66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6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5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5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1" name="Shape 791"/>
        <p:cNvGrpSpPr/>
        <p:nvPr/>
      </p:nvGrpSpPr>
      <p:grpSpPr>
        <a:xfrm>
          <a:off x="0" y="0"/>
          <a:ext cx="0" cy="0"/>
        </a:xfrm>
      </p:grpSpPr>
      <p:sp>
        <p:nvSpPr>
          <p:cNvPr id="792" name="Google Shape;792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reflections</a:t>
            </a:r>
            <a:endParaRPr/>
          </a:p>
        </p:txBody>
      </p:sp>
      <p:sp>
        <p:nvSpPr>
          <p:cNvPr id="793" name="Google Shape;793;p68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p69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2" name="Shape 802"/>
        <p:cNvGrpSpPr/>
        <p:nvPr/>
      </p:nvGrpSpPr>
      <p:grpSpPr>
        <a:xfrm>
          <a:off x="0" y="0"/>
          <a:ext cx="0" cy="0"/>
        </a:xfrm>
      </p:grpSpPr>
      <p:sp>
        <p:nvSpPr>
          <p:cNvPr id="803" name="Google Shape;803;p70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the nature of reflections and appreciate what changes and what is invariant.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p71"/>
          <p:cNvSpPr txBox="1"/>
          <p:nvPr>
            <p:ph type="subTitle" idx="1"/>
          </p:nvPr>
        </p:nvSpPr>
        <p:spPr>
          <a:xfrm>
            <a:off x="324000" y="993675"/>
            <a:ext cx="8496000" cy="1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b="0"/>
              <a:t>A </a:t>
            </a:r>
            <a:r>
              <a:rPr lang="en-GB"/>
              <a:t>reflection</a:t>
            </a:r>
            <a:r>
              <a:rPr lang="en-GB" b="0"/>
              <a:t> of a shape is the mirror image of the shape. </a:t>
            </a:r>
            <a:br>
              <a:rPr lang="en-GB" b="0"/>
            </a:br>
            <a:r>
              <a:rPr lang="en-GB" b="0"/>
              <a:t>An object is </a:t>
            </a:r>
            <a:r>
              <a:rPr lang="en-GB"/>
              <a:t>reflected</a:t>
            </a:r>
            <a:r>
              <a:rPr lang="en-GB" b="0"/>
              <a:t> when it is flipped over a fixed line (called the line of </a:t>
            </a:r>
            <a:r>
              <a:rPr lang="en-GB"/>
              <a:t>reflection</a:t>
            </a:r>
            <a:r>
              <a:rPr lang="en-GB" b="0"/>
              <a:t>), without the image being turned or its size changing.</a:t>
            </a:r>
            <a:endParaRPr b="0"/>
          </a:p>
        </p:txBody>
      </p:sp>
      <p:sp>
        <p:nvSpPr>
          <p:cNvPr id="809" name="Google Shape;809;p71"/>
          <p:cNvSpPr txBox="1"/>
          <p:nvPr/>
        </p:nvSpPr>
        <p:spPr>
          <a:xfrm>
            <a:off x="260800" y="2934150"/>
            <a:ext cx="84579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sense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of an object is the direction of the orientation of the object. When the </a:t>
            </a:r>
            <a:r>
              <a:rPr lang="en-GB" sz="22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sense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of an object changes, the direction of its orientation changes from clockwise to anti-clockwise, or vice versa.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3" name="Shape 813"/>
        <p:cNvGrpSpPr/>
        <p:nvPr/>
      </p:nvGrpSpPr>
      <p:grpSpPr>
        <a:xfrm>
          <a:off x="0" y="0"/>
          <a:ext cx="0" cy="0"/>
        </a:xfrm>
      </p:grpSpPr>
      <p:sp>
        <p:nvSpPr>
          <p:cNvPr id="814" name="Google Shape;814;p72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</a:pPr>
            <a:r>
              <a:rPr lang="en-GB"/>
              <a:t>Understanding properties of </a:t>
            </a:r>
            <a:r>
              <a:rPr lang="en-GB" b="1"/>
              <a:t>reflection</a:t>
            </a:r>
            <a:endParaRPr b="1"/>
          </a:p>
        </p:txBody>
      </p:sp>
      <p:sp>
        <p:nvSpPr>
          <p:cNvPr id="815" name="Google Shape;815;p7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</a:pPr>
            <a:r>
              <a:rPr lang="en-GB"/>
              <a:t>Understanding transformations and </a:t>
            </a:r>
            <a:r>
              <a:rPr lang="en-GB" b="1"/>
              <a:t>sense</a:t>
            </a:r>
            <a:endParaRPr b="1"/>
          </a:p>
        </p:txBody>
      </p:sp>
      <p:pic>
        <p:nvPicPr>
          <p:cNvPr id="816" name="Google Shape;8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37" y="2053112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2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reflections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1" name="Shape 821"/>
        <p:cNvGrpSpPr/>
        <p:nvPr/>
      </p:nvGrpSpPr>
      <p:grpSpPr>
        <a:xfrm>
          <a:off x="0" y="0"/>
          <a:ext cx="0" cy="0"/>
        </a:xfrm>
      </p:grpSpPr>
      <p:sp>
        <p:nvSpPr>
          <p:cNvPr id="822" name="Google Shape;822;p73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Which of these shows a </a:t>
            </a:r>
            <a:r>
              <a:rPr lang="en-GB" b="1"/>
              <a:t>reflection</a:t>
            </a:r>
            <a:r>
              <a:rPr lang="en-GB"/>
              <a:t>?</a:t>
            </a:r>
            <a:endParaRPr/>
          </a:p>
        </p:txBody>
      </p:sp>
      <p:sp>
        <p:nvSpPr>
          <p:cNvPr id="823" name="Google Shape;82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pic>
        <p:nvPicPr>
          <p:cNvPr id="824" name="Google Shape;82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25" y="1519500"/>
            <a:ext cx="1289799" cy="12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100" y="1519500"/>
            <a:ext cx="1289799" cy="12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3275" y="1519500"/>
            <a:ext cx="1289799" cy="12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40925" y="2822087"/>
            <a:ext cx="1289799" cy="12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550" y="2485437"/>
            <a:ext cx="2003450" cy="18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8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927100" y="2736375"/>
            <a:ext cx="1289799" cy="121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pic>
        <p:nvPicPr>
          <p:cNvPr id="835" name="Google Shape;8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575" y="1519500"/>
            <a:ext cx="1289799" cy="12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20575" y="2736375"/>
            <a:ext cx="1289799" cy="12168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4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What words do you associate with </a:t>
            </a:r>
            <a:r>
              <a:rPr lang="en-GB" b="1"/>
              <a:t>reflection</a:t>
            </a:r>
            <a:r>
              <a:rPr lang="en-GB"/>
              <a:t>?</a:t>
            </a:r>
            <a:endParaRPr/>
          </a:p>
        </p:txBody>
      </p:sp>
      <p:sp>
        <p:nvSpPr>
          <p:cNvPr id="838" name="Google Shape;83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839" name="Google Shape;839;p74"/>
          <p:cNvSpPr txBox="1"/>
          <p:nvPr>
            <p:ph type="body" idx="1"/>
          </p:nvPr>
        </p:nvSpPr>
        <p:spPr>
          <a:xfrm>
            <a:off x="2174925" y="1654875"/>
            <a:ext cx="17172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2000"/>
              <a:t>Flip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200"/>
              <a:buNone/>
            </a:pPr>
            <a:r>
              <a:rPr lang="en-GB" sz="2000"/>
              <a:t>Mirror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Equidistant</a:t>
            </a:r>
            <a:endParaRPr sz="2000"/>
          </a:p>
        </p:txBody>
      </p:sp>
      <p:pic>
        <p:nvPicPr>
          <p:cNvPr id="840" name="Google Shape;84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275" y="3664050"/>
            <a:ext cx="1451475" cy="97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4"/>
          <p:cNvPicPr preferRelativeResize="0"/>
          <p:nvPr/>
        </p:nvPicPr>
        <p:blipFill>
          <a:blip r:embed="rId5">
            <a:alphaModFix/>
          </a:blip>
          <a:srcRect l="-185" t="-2012" r="59770" b="43327"/>
          <a:stretch>
            <a:fillRect/>
          </a:stretch>
        </p:blipFill>
        <p:spPr>
          <a:xfrm>
            <a:off x="4456675" y="2963425"/>
            <a:ext cx="2886077" cy="14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4"/>
          <p:cNvSpPr txBox="1"/>
          <p:nvPr/>
        </p:nvSpPr>
        <p:spPr>
          <a:xfrm flipH="1">
            <a:off x="4555875" y="3066425"/>
            <a:ext cx="26694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image of the cat has flipped in the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3" name="Google Shape;843;p74"/>
          <p:cNvPicPr preferRelativeResize="0"/>
          <p:nvPr/>
        </p:nvPicPr>
        <p:blipFill>
          <a:blip r:embed="rId5">
            <a:alphaModFix/>
          </a:blip>
          <a:srcRect l="-185" t="-2012" r="59770" b="43327"/>
          <a:stretch>
            <a:fillRect/>
          </a:stretch>
        </p:blipFill>
        <p:spPr>
          <a:xfrm>
            <a:off x="4456675" y="1519500"/>
            <a:ext cx="2886077" cy="14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4"/>
          <p:cNvSpPr txBox="1"/>
          <p:nvPr/>
        </p:nvSpPr>
        <p:spPr>
          <a:xfrm flipH="1">
            <a:off x="4555875" y="1622500"/>
            <a:ext cx="26694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mirror image of the cat.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4"/>
          <p:cNvSpPr txBox="1"/>
          <p:nvPr/>
        </p:nvSpPr>
        <p:spPr>
          <a:xfrm>
            <a:off x="7890775" y="3524575"/>
            <a:ext cx="7173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9" name="Shape 849"/>
        <p:cNvGrpSpPr/>
        <p:nvPr/>
      </p:nvGrpSpPr>
      <p:grpSpPr>
        <a:xfrm>
          <a:off x="0" y="0"/>
          <a:ext cx="0" cy="0"/>
        </a:xfrm>
      </p:grpSpPr>
      <p:pic>
        <p:nvPicPr>
          <p:cNvPr id="850" name="Google Shape;85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4900" y="124860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875" y="124860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925" y="124860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75" y="1248608"/>
            <a:ext cx="1215100" cy="590383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 txBox="1"/>
          <p:nvPr>
            <p:ph type="body" idx="1"/>
          </p:nvPr>
        </p:nvSpPr>
        <p:spPr>
          <a:xfrm>
            <a:off x="324000" y="759300"/>
            <a:ext cx="84960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words has been </a:t>
            </a:r>
            <a:r>
              <a:rPr lang="en-GB" sz="1800" b="1"/>
              <a:t>reflected</a:t>
            </a:r>
            <a:r>
              <a:rPr lang="en-GB" sz="1800"/>
              <a:t>, and which have been rotated?</a:t>
            </a:r>
            <a:endParaRPr sz="1800"/>
          </a:p>
        </p:txBody>
      </p:sp>
      <p:sp>
        <p:nvSpPr>
          <p:cNvPr id="855" name="Google Shape;85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856" name="Google Shape;856;p75"/>
          <p:cNvSpPr txBox="1"/>
          <p:nvPr>
            <p:ph type="body" idx="1"/>
          </p:nvPr>
        </p:nvSpPr>
        <p:spPr>
          <a:xfrm>
            <a:off x="324000" y="3409800"/>
            <a:ext cx="84960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How can you tell?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strategies could you use to make some words more readable?</a:t>
            </a:r>
            <a:endParaRPr sz="1800"/>
          </a:p>
        </p:txBody>
      </p:sp>
      <p:pic>
        <p:nvPicPr>
          <p:cNvPr id="857" name="Google Shape;85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323975" y="2198333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2345925" y="1842865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89779" y="124860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604900" y="2153951"/>
            <a:ext cx="1215100" cy="590383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5"/>
          <p:cNvSpPr txBox="1"/>
          <p:nvPr>
            <p:ph type="body" idx="1"/>
          </p:nvPr>
        </p:nvSpPr>
        <p:spPr>
          <a:xfrm>
            <a:off x="1104225" y="4200550"/>
            <a:ext cx="74034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can tilt your head left and right to help read the first and last words.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p76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The </a:t>
            </a:r>
            <a:r>
              <a:rPr lang="en-GB" sz="2000" b="1"/>
              <a:t>sense</a:t>
            </a:r>
            <a:r>
              <a:rPr lang="en-GB" sz="2000"/>
              <a:t> of an object</a:t>
            </a:r>
            <a:endParaRPr sz="2000"/>
          </a:p>
        </p:txBody>
      </p:sp>
      <p:sp>
        <p:nvSpPr>
          <p:cNvPr id="867" name="Google Shape;86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868" name="Google Shape;868;p76"/>
          <p:cNvSpPr txBox="1"/>
          <p:nvPr>
            <p:ph type="body" idx="1"/>
          </p:nvPr>
        </p:nvSpPr>
        <p:spPr>
          <a:xfrm>
            <a:off x="755500" y="3376350"/>
            <a:ext cx="78063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All transformations maintain the </a:t>
            </a:r>
            <a:r>
              <a:rPr lang="en-GB" sz="2000" b="1"/>
              <a:t>sense</a:t>
            </a:r>
            <a:r>
              <a:rPr lang="en-GB" sz="2000"/>
              <a:t> of an object, except for one…</a:t>
            </a:r>
            <a:endParaRPr sz="2000"/>
          </a:p>
        </p:txBody>
      </p:sp>
      <p:sp>
        <p:nvSpPr>
          <p:cNvPr id="869" name="Google Shape;869;p76"/>
          <p:cNvSpPr txBox="1"/>
          <p:nvPr>
            <p:ph type="body" idx="1"/>
          </p:nvPr>
        </p:nvSpPr>
        <p:spPr>
          <a:xfrm>
            <a:off x="324000" y="288585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Which transformations maintain sense?</a:t>
            </a:r>
            <a:endParaRPr sz="2000"/>
          </a:p>
        </p:txBody>
      </p:sp>
      <p:sp>
        <p:nvSpPr>
          <p:cNvPr id="870" name="Google Shape;870;p76"/>
          <p:cNvSpPr txBox="1"/>
          <p:nvPr>
            <p:ph type="body" idx="1"/>
          </p:nvPr>
        </p:nvSpPr>
        <p:spPr>
          <a:xfrm>
            <a:off x="755500" y="1249800"/>
            <a:ext cx="78063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An object maintains </a:t>
            </a:r>
            <a:r>
              <a:rPr lang="en-GB" sz="2000" b="1"/>
              <a:t>sense</a:t>
            </a:r>
            <a:r>
              <a:rPr lang="en-GB" sz="2000"/>
              <a:t> after a transformation has been applied if: the object is still identifiable as exactly the same object without any further transformations being applied.</a:t>
            </a:r>
            <a:endParaRPr sz="2000"/>
          </a:p>
        </p:txBody>
      </p:sp>
      <p:sp>
        <p:nvSpPr>
          <p:cNvPr id="871" name="Google Shape;871;p76"/>
          <p:cNvSpPr txBox="1"/>
          <p:nvPr>
            <p:ph type="body" idx="1"/>
          </p:nvPr>
        </p:nvSpPr>
        <p:spPr>
          <a:xfrm>
            <a:off x="2567250" y="3866850"/>
            <a:ext cx="37512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 b="1"/>
              <a:t>reflection</a:t>
            </a:r>
            <a:endParaRPr sz="2000" b="1"/>
          </a:p>
        </p:txBody>
      </p:sp>
      <p:pic>
        <p:nvPicPr>
          <p:cNvPr id="872" name="Google Shape;87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94104" y="2295458"/>
            <a:ext cx="1215100" cy="59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6" name="Shape 876"/>
        <p:cNvGrpSpPr/>
        <p:nvPr/>
      </p:nvGrpSpPr>
      <p:grpSpPr>
        <a:xfrm>
          <a:off x="0" y="0"/>
          <a:ext cx="0" cy="0"/>
        </a:xfrm>
      </p:grpSpPr>
      <p:pic>
        <p:nvPicPr>
          <p:cNvPr id="877" name="Google Shape;87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50" y="2360758"/>
            <a:ext cx="1215100" cy="590383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879" name="Google Shape;879;p77"/>
          <p:cNvSpPr txBox="1"/>
          <p:nvPr>
            <p:ph type="body" idx="1"/>
          </p:nvPr>
        </p:nvSpPr>
        <p:spPr>
          <a:xfrm>
            <a:off x="1054925" y="1281900"/>
            <a:ext cx="75069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As a word is translated, you can still identify the letters in the word.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It is still as readable as it was before moving.</a:t>
            </a:r>
            <a:endParaRPr sz="1800"/>
          </a:p>
        </p:txBody>
      </p:sp>
      <p:sp>
        <p:nvSpPr>
          <p:cNvPr id="880" name="Google Shape;880;p77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How does translation maintain </a:t>
            </a:r>
            <a:r>
              <a:rPr lang="en-GB" b="1"/>
              <a:t>sense</a:t>
            </a:r>
            <a:r>
              <a:rPr lang="en-GB"/>
              <a:t>?</a:t>
            </a:r>
            <a:endParaRPr/>
          </a:p>
        </p:txBody>
      </p:sp>
      <p:pic>
        <p:nvPicPr>
          <p:cNvPr id="881" name="Google Shape;88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550" y="263035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350" y="289995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150" y="316955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50" y="3439158"/>
            <a:ext cx="1215100" cy="59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2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4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8" name="Shape 888"/>
        <p:cNvGrpSpPr/>
        <p:nvPr/>
      </p:nvGrpSpPr>
      <p:grpSpPr>
        <a:xfrm>
          <a:off x="0" y="0"/>
          <a:ext cx="0" cy="0"/>
        </a:xfrm>
      </p:grpSpPr>
      <p:sp>
        <p:nvSpPr>
          <p:cNvPr id="889" name="Google Shape;88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890" name="Google Shape;890;p78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How does rotation maintain </a:t>
            </a:r>
            <a:r>
              <a:rPr lang="en-GB" b="1"/>
              <a:t>sense</a:t>
            </a:r>
            <a:r>
              <a:rPr lang="en-GB"/>
              <a:t>?</a:t>
            </a:r>
            <a:endParaRPr/>
          </a:p>
        </p:txBody>
      </p:sp>
      <p:sp>
        <p:nvSpPr>
          <p:cNvPr id="891" name="Google Shape;891;p78"/>
          <p:cNvSpPr txBox="1"/>
          <p:nvPr>
            <p:ph type="body" idx="1"/>
          </p:nvPr>
        </p:nvSpPr>
        <p:spPr>
          <a:xfrm>
            <a:off x="1054925" y="1281900"/>
            <a:ext cx="75069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As a word is rotated, you can still identify the letters in the word.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It might become more difficult to read the word as the rotation gets closer to a 180° rotation, but you can tilt your head left or right to help with this.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Because you can tilt your head to make the letters look like they were before, the sense of the letters has remained.</a:t>
            </a:r>
            <a:endParaRPr sz="1800"/>
          </a:p>
        </p:txBody>
      </p:sp>
      <p:pic>
        <p:nvPicPr>
          <p:cNvPr id="892" name="Google Shape;89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200000">
            <a:off x="5099207" y="3824859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900000">
            <a:off x="7113854" y="382485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600000">
            <a:off x="2990646" y="3824857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944" y="3878734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0" flipH="1">
            <a:off x="2364510" y="3928158"/>
            <a:ext cx="518106" cy="49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900000" flipH="1">
            <a:off x="4421910" y="3928158"/>
            <a:ext cx="518106" cy="49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01" flipH="1">
            <a:off x="6403110" y="3928158"/>
            <a:ext cx="518106" cy="491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pic>
        <p:nvPicPr>
          <p:cNvPr id="903" name="Google Shape;90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50" y="317340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03650" y="3173408"/>
            <a:ext cx="1215100" cy="59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1013750" y="3958708"/>
            <a:ext cx="1215100" cy="590383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907" name="Google Shape;907;p79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Why does </a:t>
            </a:r>
            <a:r>
              <a:rPr lang="en-GB" b="1"/>
              <a:t>reflection</a:t>
            </a:r>
            <a:r>
              <a:rPr lang="en-GB"/>
              <a:t> not maintain </a:t>
            </a:r>
            <a:r>
              <a:rPr lang="en-GB" b="1"/>
              <a:t>sense</a:t>
            </a:r>
            <a:r>
              <a:rPr lang="en-GB"/>
              <a:t>?</a:t>
            </a:r>
            <a:endParaRPr/>
          </a:p>
        </p:txBody>
      </p:sp>
      <p:sp>
        <p:nvSpPr>
          <p:cNvPr id="908" name="Google Shape;908;p79"/>
          <p:cNvSpPr txBox="1"/>
          <p:nvPr>
            <p:ph type="body" idx="1"/>
          </p:nvPr>
        </p:nvSpPr>
        <p:spPr>
          <a:xfrm>
            <a:off x="1054925" y="1281900"/>
            <a:ext cx="75069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When a word has been </a:t>
            </a:r>
            <a:r>
              <a:rPr lang="en-GB" sz="1800" b="1"/>
              <a:t>reflected</a:t>
            </a:r>
            <a:r>
              <a:rPr lang="en-GB" sz="1800"/>
              <a:t>, the letters of the word will have been transformed in a way that makes it impossible to identify as the same letter, no matter how much you tilt your head.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lang="en-GB" sz="1800" b="1"/>
              <a:t>sense</a:t>
            </a:r>
            <a:r>
              <a:rPr lang="en-GB" sz="1800"/>
              <a:t> of those letters has changed, because it will never look like the original again without another reflection.</a:t>
            </a:r>
            <a:endParaRPr sz="1800"/>
          </a:p>
        </p:txBody>
      </p:sp>
      <p:sp>
        <p:nvSpPr>
          <p:cNvPr id="909" name="Google Shape;909;p79"/>
          <p:cNvSpPr/>
          <p:nvPr/>
        </p:nvSpPr>
        <p:spPr>
          <a:xfrm>
            <a:off x="-3889550" y="1334550"/>
            <a:ext cx="1215000" cy="570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FROG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9"/>
          <p:cNvSpPr txBox="1"/>
          <p:nvPr>
            <p:ph type="body" idx="1"/>
          </p:nvPr>
        </p:nvSpPr>
        <p:spPr>
          <a:xfrm>
            <a:off x="4572000" y="3728399"/>
            <a:ext cx="37920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Can you tilt your head to make the letter F look like this?</a:t>
            </a:r>
            <a:endParaRPr sz="1800"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500"/>
              <a:t>F</a:t>
            </a:r>
            <a:endParaRPr sz="25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4" name="Shape 914"/>
        <p:cNvGrpSpPr/>
        <p:nvPr/>
      </p:nvGrpSpPr>
      <p:grpSpPr>
        <a:xfrm>
          <a:off x="0" y="0"/>
          <a:ext cx="0" cy="0"/>
        </a:xfrm>
      </p:grpSpPr>
      <p:pic>
        <p:nvPicPr>
          <p:cNvPr id="915" name="Google Shape;91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50" y="3173912"/>
            <a:ext cx="1215001" cy="58938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917" name="Google Shape;917;p80"/>
          <p:cNvSpPr txBox="1"/>
          <p:nvPr>
            <p:ph type="body" idx="1"/>
          </p:nvPr>
        </p:nvSpPr>
        <p:spPr>
          <a:xfrm>
            <a:off x="1054925" y="1281900"/>
            <a:ext cx="75069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Some letters, like the O in frog, might still look the same, but their </a:t>
            </a:r>
            <a:r>
              <a:rPr lang="en-GB" sz="1800" b="1"/>
              <a:t>sense</a:t>
            </a:r>
            <a:r>
              <a:rPr lang="en-GB" sz="1800"/>
              <a:t> has still changed.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This becomes more visible if you mark the letter O in a different font.</a:t>
            </a:r>
            <a:endParaRPr sz="1800"/>
          </a:p>
        </p:txBody>
      </p:sp>
      <p:sp>
        <p:nvSpPr>
          <p:cNvPr id="918" name="Google Shape;918;p80"/>
          <p:cNvSpPr txBox="1"/>
          <p:nvPr>
            <p:ph type="body" idx="1"/>
          </p:nvPr>
        </p:nvSpPr>
        <p:spPr>
          <a:xfrm>
            <a:off x="324000" y="759300"/>
            <a:ext cx="823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Why does </a:t>
            </a:r>
            <a:r>
              <a:rPr lang="en-GB" b="1"/>
              <a:t>reflection</a:t>
            </a:r>
            <a:r>
              <a:rPr lang="en-GB"/>
              <a:t> not maintain </a:t>
            </a:r>
            <a:r>
              <a:rPr lang="en-GB" b="1"/>
              <a:t>sense</a:t>
            </a:r>
            <a:r>
              <a:rPr lang="en-GB"/>
              <a:t>?</a:t>
            </a:r>
            <a:endParaRPr/>
          </a:p>
        </p:txBody>
      </p:sp>
      <p:sp>
        <p:nvSpPr>
          <p:cNvPr id="919" name="Google Shape;919;p80"/>
          <p:cNvSpPr/>
          <p:nvPr/>
        </p:nvSpPr>
        <p:spPr>
          <a:xfrm>
            <a:off x="-3889550" y="1334550"/>
            <a:ext cx="1215000" cy="570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FROG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80"/>
          <p:cNvSpPr/>
          <p:nvPr/>
        </p:nvSpPr>
        <p:spPr>
          <a:xfrm>
            <a:off x="-3811225" y="2038925"/>
            <a:ext cx="1215000" cy="570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</a:t>
            </a:r>
            <a:r>
              <a:rPr lang="en-GB" sz="2200" b="0" i="0" u="none" strike="noStrike" cap="none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r>
              <a:rPr lang="en-GB" sz="2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1" name="Google Shape;92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03700" y="3173912"/>
            <a:ext cx="1215001" cy="589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1013750" y="3959212"/>
            <a:ext cx="1215001" cy="589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pic>
        <p:nvPicPr>
          <p:cNvPr id="927" name="Google Shape;92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1" y="1546489"/>
            <a:ext cx="126157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81"/>
          <p:cNvSpPr txBox="1"/>
          <p:nvPr>
            <p:ph type="body" idx="1"/>
          </p:nvPr>
        </p:nvSpPr>
        <p:spPr>
          <a:xfrm>
            <a:off x="324000" y="759300"/>
            <a:ext cx="84960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In which of these pairs of words has the </a:t>
            </a:r>
            <a:r>
              <a:rPr lang="en-GB" b="1"/>
              <a:t>sense</a:t>
            </a:r>
            <a:r>
              <a:rPr lang="en-GB"/>
              <a:t> changed?</a:t>
            </a:r>
            <a:endParaRPr/>
          </a:p>
        </p:txBody>
      </p:sp>
      <p:sp>
        <p:nvSpPr>
          <p:cNvPr id="929" name="Google Shape;92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pic>
        <p:nvPicPr>
          <p:cNvPr id="930" name="Google Shape;93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684811" y="1546489"/>
            <a:ext cx="126157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558425" y="2190908"/>
            <a:ext cx="1261575" cy="61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5637" y="1546396"/>
            <a:ext cx="1261575" cy="61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5467" y="1546500"/>
            <a:ext cx="126106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265467" y="2191013"/>
            <a:ext cx="126106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9875" y="3301123"/>
            <a:ext cx="1261050" cy="6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 flipH="1">
            <a:off x="1522600" y="3624898"/>
            <a:ext cx="1261050" cy="6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2762" y="3518960"/>
            <a:ext cx="1261050" cy="61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6339712" y="3518960"/>
            <a:ext cx="1261050" cy="612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pic>
        <p:nvPicPr>
          <p:cNvPr id="943" name="Google Shape;94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1" y="1546489"/>
            <a:ext cx="126157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>
            <p:ph type="body" idx="1"/>
          </p:nvPr>
        </p:nvSpPr>
        <p:spPr>
          <a:xfrm>
            <a:off x="324000" y="759300"/>
            <a:ext cx="84960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In which of these pairs of words has the </a:t>
            </a:r>
            <a:r>
              <a:rPr lang="en-GB" b="1"/>
              <a:t>sense</a:t>
            </a:r>
            <a:r>
              <a:rPr lang="en-GB"/>
              <a:t> changed?</a:t>
            </a:r>
            <a:endParaRPr/>
          </a:p>
        </p:txBody>
      </p:sp>
      <p:sp>
        <p:nvSpPr>
          <p:cNvPr id="945" name="Google Shape;94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pic>
        <p:nvPicPr>
          <p:cNvPr id="946" name="Google Shape;94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684811" y="1546489"/>
            <a:ext cx="126157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558425" y="2190908"/>
            <a:ext cx="1261575" cy="61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5637" y="1546396"/>
            <a:ext cx="1261575" cy="61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5467" y="1546500"/>
            <a:ext cx="126106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265467" y="2191013"/>
            <a:ext cx="126106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9875" y="3301123"/>
            <a:ext cx="1261050" cy="6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 flipH="1">
            <a:off x="1522600" y="3624898"/>
            <a:ext cx="1261050" cy="6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2762" y="3518960"/>
            <a:ext cx="1261050" cy="61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6339712" y="3518960"/>
            <a:ext cx="1261050" cy="61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558" y="2162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62433" y="2162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59883" y="39146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1" name="Shape 961"/>
        <p:cNvGrpSpPr/>
        <p:nvPr/>
      </p:nvGrpSpPr>
      <p:grpSpPr>
        <a:xfrm>
          <a:off x="0" y="0"/>
          <a:ext cx="0" cy="0"/>
        </a:xfrm>
      </p:grpSpPr>
      <p:sp>
        <p:nvSpPr>
          <p:cNvPr id="962" name="Google Shape;962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sp>
        <p:nvSpPr>
          <p:cNvPr id="963" name="Google Shape;963;p83"/>
          <p:cNvSpPr txBox="1"/>
          <p:nvPr>
            <p:ph type="body" idx="1"/>
          </p:nvPr>
        </p:nvSpPr>
        <p:spPr>
          <a:xfrm>
            <a:off x="5649400" y="713500"/>
            <a:ext cx="12150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object </a:t>
            </a:r>
            <a:endParaRPr sz="2000"/>
          </a:p>
        </p:txBody>
      </p:sp>
      <p:sp>
        <p:nvSpPr>
          <p:cNvPr id="964" name="Google Shape;964;p83"/>
          <p:cNvSpPr txBox="1"/>
          <p:nvPr/>
        </p:nvSpPr>
        <p:spPr>
          <a:xfrm>
            <a:off x="324000" y="759300"/>
            <a:ext cx="3247500" cy="14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 w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hich of these images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has the sense changed (due to 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For the non-</a:t>
            </a:r>
            <a:r>
              <a:rPr lang="en-GB" sz="20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3"/>
          <p:cNvSpPr/>
          <p:nvPr/>
        </p:nvSpPr>
        <p:spPr>
          <a:xfrm>
            <a:off x="5649300" y="1080000"/>
            <a:ext cx="1215000" cy="570900"/>
          </a:xfrm>
          <a:prstGeom prst="roundRect">
            <a:avLst>
              <a:gd name="adj" fmla="val 16667"/>
            </a:avLst>
          </a:prstGeom>
          <a:solidFill>
            <a:srgbClr val="037B7D">
              <a:alpha val="15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ZONE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6" name="Google Shape;96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632900" y="214462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750" y="226822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696100" y="214462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78125" y="347647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6560325" y="3476475"/>
            <a:ext cx="1247801" cy="6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transformations and sense</a:t>
            </a:r>
            <a:endParaRPr/>
          </a:p>
        </p:txBody>
      </p:sp>
      <p:pic>
        <p:nvPicPr>
          <p:cNvPr id="976" name="Google Shape;97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007500"/>
            <a:ext cx="4500000" cy="3312509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4"/>
          <p:cNvSpPr txBox="1"/>
          <p:nvPr>
            <p:ph type="body" idx="1"/>
          </p:nvPr>
        </p:nvSpPr>
        <p:spPr>
          <a:xfrm>
            <a:off x="5787700" y="713500"/>
            <a:ext cx="8409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object </a:t>
            </a:r>
            <a:endParaRPr sz="2000"/>
          </a:p>
        </p:txBody>
      </p:sp>
      <p:sp>
        <p:nvSpPr>
          <p:cNvPr id="978" name="Google Shape;978;p84"/>
          <p:cNvSpPr txBox="1"/>
          <p:nvPr/>
        </p:nvSpPr>
        <p:spPr>
          <a:xfrm>
            <a:off x="324000" y="759300"/>
            <a:ext cx="3247500" cy="14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 w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hich of these images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has the sense changed (having been 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For the non-</a:t>
            </a:r>
            <a:r>
              <a:rPr lang="en-GB" sz="20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2" name="Shape 982"/>
        <p:cNvGrpSpPr/>
        <p:nvPr/>
      </p:nvGrpSpPr>
      <p:grpSpPr>
        <a:xfrm>
          <a:off x="0" y="0"/>
          <a:ext cx="0" cy="0"/>
        </a:xfrm>
      </p:grpSpPr>
      <p:sp>
        <p:nvSpPr>
          <p:cNvPr id="983" name="Google Shape;983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transformations and sense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84" name="Google Shape;984;p85"/>
          <p:cNvSpPr txBox="1"/>
          <p:nvPr>
            <p:ph type="body" idx="4294967295"/>
          </p:nvPr>
        </p:nvSpPr>
        <p:spPr>
          <a:xfrm>
            <a:off x="5787700" y="713500"/>
            <a:ext cx="8409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 </a:t>
            </a:r>
            <a:endParaRPr sz="2000"/>
          </a:p>
        </p:txBody>
      </p:sp>
      <p:sp>
        <p:nvSpPr>
          <p:cNvPr id="985" name="Google Shape;985;p85"/>
          <p:cNvSpPr txBox="1"/>
          <p:nvPr/>
        </p:nvSpPr>
        <p:spPr>
          <a:xfrm>
            <a:off x="324000" y="759300"/>
            <a:ext cx="3247500" cy="14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which of these images has the sense changed (due to 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For the non-</a:t>
            </a:r>
            <a:r>
              <a:rPr lang="en-GB" sz="20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5"/>
          <p:cNvSpPr/>
          <p:nvPr/>
        </p:nvSpPr>
        <p:spPr>
          <a:xfrm>
            <a:off x="5600650" y="1080000"/>
            <a:ext cx="1215000" cy="570900"/>
          </a:xfrm>
          <a:prstGeom prst="roundRect">
            <a:avLst>
              <a:gd name="adj" fmla="val 16667"/>
            </a:avLst>
          </a:prstGeom>
          <a:solidFill>
            <a:srgbClr val="037B7D">
              <a:alpha val="15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ZONE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7" name="Google Shape;98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632900" y="214462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750" y="226822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696100" y="214462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78125" y="347647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6560325" y="3476475"/>
            <a:ext cx="1247801" cy="6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033" y="4083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6233" y="40835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5"/>
          <p:cNvSpPr txBox="1"/>
          <p:nvPr>
            <p:ph type="body" idx="4294967295"/>
          </p:nvPr>
        </p:nvSpPr>
        <p:spPr>
          <a:xfrm>
            <a:off x="3816000" y="1822800"/>
            <a:ext cx="1008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rotation</a:t>
            </a:r>
            <a:endParaRPr sz="2000"/>
          </a:p>
        </p:txBody>
      </p:sp>
      <p:sp>
        <p:nvSpPr>
          <p:cNvPr id="995" name="Google Shape;995;p85"/>
          <p:cNvSpPr txBox="1"/>
          <p:nvPr>
            <p:ph type="body" idx="4294967295"/>
          </p:nvPr>
        </p:nvSpPr>
        <p:spPr>
          <a:xfrm>
            <a:off x="5704150" y="3021101"/>
            <a:ext cx="1008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rotation</a:t>
            </a:r>
            <a:endParaRPr sz="2000"/>
          </a:p>
        </p:txBody>
      </p:sp>
      <p:sp>
        <p:nvSpPr>
          <p:cNvPr id="996" name="Google Shape;996;p85"/>
          <p:cNvSpPr txBox="1"/>
          <p:nvPr>
            <p:ph type="body" idx="4294967295"/>
          </p:nvPr>
        </p:nvSpPr>
        <p:spPr>
          <a:xfrm>
            <a:off x="7314275" y="1898700"/>
            <a:ext cx="1434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translation</a:t>
            </a:r>
            <a:endParaRPr sz="20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0" name="Shape 1000"/>
        <p:cNvGrpSpPr/>
        <p:nvPr/>
      </p:nvGrpSpPr>
      <p:grpSpPr>
        <a:xfrm>
          <a:off x="0" y="0"/>
          <a:ext cx="0" cy="0"/>
        </a:xfrm>
      </p:grpSpPr>
      <p:pic>
        <p:nvPicPr>
          <p:cNvPr id="1001" name="Google Shape;100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300" y="1083900"/>
            <a:ext cx="4190659" cy="308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transformations and sense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03" name="Google Shape;1003;p86"/>
          <p:cNvSpPr txBox="1"/>
          <p:nvPr>
            <p:ph type="body" idx="4294967295"/>
          </p:nvPr>
        </p:nvSpPr>
        <p:spPr>
          <a:xfrm>
            <a:off x="5787700" y="713500"/>
            <a:ext cx="8409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 </a:t>
            </a:r>
            <a:endParaRPr sz="2000"/>
          </a:p>
        </p:txBody>
      </p:sp>
      <p:pic>
        <p:nvPicPr>
          <p:cNvPr id="1004" name="Google Shape;100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8" y="2235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0158" y="40601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86"/>
          <p:cNvSpPr txBox="1"/>
          <p:nvPr>
            <p:ph type="body" idx="4294967295"/>
          </p:nvPr>
        </p:nvSpPr>
        <p:spPr>
          <a:xfrm>
            <a:off x="7584425" y="2236218"/>
            <a:ext cx="11622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rotation</a:t>
            </a:r>
            <a:endParaRPr sz="2000"/>
          </a:p>
        </p:txBody>
      </p:sp>
      <p:sp>
        <p:nvSpPr>
          <p:cNvPr id="1007" name="Google Shape;1007;p86"/>
          <p:cNvSpPr txBox="1"/>
          <p:nvPr>
            <p:ph type="body" idx="4294967295"/>
          </p:nvPr>
        </p:nvSpPr>
        <p:spPr>
          <a:xfrm>
            <a:off x="4242900" y="4171918"/>
            <a:ext cx="11622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rotation</a:t>
            </a:r>
            <a:endParaRPr sz="2000"/>
          </a:p>
        </p:txBody>
      </p:sp>
      <p:sp>
        <p:nvSpPr>
          <p:cNvPr id="1008" name="Google Shape;1008;p86"/>
          <p:cNvSpPr txBox="1"/>
          <p:nvPr>
            <p:ph type="body" idx="4294967295"/>
          </p:nvPr>
        </p:nvSpPr>
        <p:spPr>
          <a:xfrm>
            <a:off x="7097775" y="4171925"/>
            <a:ext cx="13722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translation</a:t>
            </a:r>
            <a:endParaRPr sz="2000"/>
          </a:p>
        </p:txBody>
      </p:sp>
      <p:sp>
        <p:nvSpPr>
          <p:cNvPr id="1009" name="Google Shape;1009;p86"/>
          <p:cNvSpPr txBox="1"/>
          <p:nvPr/>
        </p:nvSpPr>
        <p:spPr>
          <a:xfrm>
            <a:off x="324000" y="759300"/>
            <a:ext cx="3247500" cy="14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which of these images has the sense changed (having been 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For the non-</a:t>
            </a:r>
            <a:r>
              <a:rPr lang="en-GB" sz="20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p87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</a:pPr>
            <a:r>
              <a:rPr lang="en-GB"/>
              <a:t>Understanding properties of </a:t>
            </a:r>
            <a:r>
              <a:rPr lang="en-GB" b="1"/>
              <a:t>reflection</a:t>
            </a:r>
            <a:endParaRPr b="1"/>
          </a:p>
        </p:txBody>
      </p:sp>
      <p:sp>
        <p:nvSpPr>
          <p:cNvPr id="1015" name="Google Shape;1015;p87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</a:pPr>
            <a:r>
              <a:rPr lang="en-GB"/>
              <a:t>Understanding transformations and </a:t>
            </a:r>
            <a:r>
              <a:rPr lang="en-GB" b="1"/>
              <a:t>sense</a:t>
            </a:r>
            <a:endParaRPr b="1"/>
          </a:p>
        </p:txBody>
      </p:sp>
      <p:pic>
        <p:nvPicPr>
          <p:cNvPr id="1016" name="Google Shape;101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8" y="299085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reflections</a:t>
            </a:r>
            <a:endParaRPr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pic>
        <p:nvPicPr>
          <p:cNvPr id="1022" name="Google Shape;1022;p88"/>
          <p:cNvPicPr preferRelativeResize="0"/>
          <p:nvPr/>
        </p:nvPicPr>
        <p:blipFill>
          <a:blip r:embed="rId3">
            <a:alphaModFix/>
          </a:blip>
          <a:srcRect l="69681"/>
          <a:stretch>
            <a:fillRect/>
          </a:stretch>
        </p:blipFill>
        <p:spPr>
          <a:xfrm>
            <a:off x="5774402" y="2119425"/>
            <a:ext cx="1097075" cy="27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8"/>
          <p:cNvSpPr txBox="1"/>
          <p:nvPr/>
        </p:nvSpPr>
        <p:spPr>
          <a:xfrm>
            <a:off x="2751456" y="2333625"/>
            <a:ext cx="14682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sides remain the same length, but some have changed their location.</a:t>
            </a:r>
            <a:endParaRPr sz="1800" b="1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88"/>
          <p:cNvSpPr txBox="1"/>
          <p:nvPr/>
        </p:nvSpPr>
        <p:spPr>
          <a:xfrm>
            <a:off x="4385275" y="4229400"/>
            <a:ext cx="1251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non-example</a:t>
            </a:r>
            <a:endParaRPr sz="1800" b="1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026" name="Google Shape;1026;p88"/>
          <p:cNvSpPr txBox="1"/>
          <p:nvPr/>
        </p:nvSpPr>
        <p:spPr>
          <a:xfrm>
            <a:off x="324000" y="7593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an object is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the lengths of the sides are invariant, but the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sense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sides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will always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change.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8"/>
          <p:cNvSpPr txBox="1"/>
          <p:nvPr/>
        </p:nvSpPr>
        <p:spPr>
          <a:xfrm>
            <a:off x="324000" y="1678275"/>
            <a:ext cx="864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is an example of a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which is a non-example?</a:t>
            </a:r>
            <a:endParaRPr sz="18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8"/>
          <p:cNvSpPr txBox="1"/>
          <p:nvPr/>
        </p:nvSpPr>
        <p:spPr>
          <a:xfrm>
            <a:off x="324000" y="2121015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8"/>
          <p:cNvSpPr txBox="1"/>
          <p:nvPr/>
        </p:nvSpPr>
        <p:spPr>
          <a:xfrm>
            <a:off x="324000" y="3478236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0" name="Google Shape;1030;p88"/>
          <p:cNvCxnSpPr/>
          <p:nvPr/>
        </p:nvCxnSpPr>
        <p:spPr>
          <a:xfrm>
            <a:off x="1196700" y="2301315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1" name="Google Shape;1031;p88"/>
          <p:cNvCxnSpPr/>
          <p:nvPr/>
        </p:nvCxnSpPr>
        <p:spPr>
          <a:xfrm>
            <a:off x="1196700" y="3658536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2" name="Google Shape;1032;p88"/>
          <p:cNvSpPr txBox="1"/>
          <p:nvPr/>
        </p:nvSpPr>
        <p:spPr>
          <a:xfrm>
            <a:off x="4524538" y="2121015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8"/>
          <p:cNvSpPr txBox="1"/>
          <p:nvPr/>
        </p:nvSpPr>
        <p:spPr>
          <a:xfrm>
            <a:off x="4524538" y="3478236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4" name="Google Shape;1034;p88"/>
          <p:cNvCxnSpPr/>
          <p:nvPr/>
        </p:nvCxnSpPr>
        <p:spPr>
          <a:xfrm>
            <a:off x="5397238" y="2301315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5" name="Google Shape;1035;p88"/>
          <p:cNvCxnSpPr/>
          <p:nvPr/>
        </p:nvCxnSpPr>
        <p:spPr>
          <a:xfrm>
            <a:off x="5397238" y="3658536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6" name="Google Shape;1036;p88"/>
          <p:cNvSpPr txBox="1"/>
          <p:nvPr/>
        </p:nvSpPr>
        <p:spPr>
          <a:xfrm>
            <a:off x="324000" y="4229400"/>
            <a:ext cx="1065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of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1800" b="1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88"/>
          <p:cNvSpPr txBox="1"/>
          <p:nvPr/>
        </p:nvSpPr>
        <p:spPr>
          <a:xfrm>
            <a:off x="6910706" y="2333625"/>
            <a:ext cx="14682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height of the object was at its maximum 5 units.</a:t>
            </a:r>
            <a:endParaRPr sz="18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However, the height of the image is only 4 units.</a:t>
            </a:r>
            <a:endParaRPr sz="18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38" name="Google Shape;1038;p88"/>
          <p:cNvPicPr preferRelativeResize="0"/>
          <p:nvPr/>
        </p:nvPicPr>
        <p:blipFill>
          <a:blip r:embed="rId3">
            <a:alphaModFix/>
          </a:blip>
          <a:srcRect r="69681"/>
          <a:stretch>
            <a:fillRect/>
          </a:stretch>
        </p:blipFill>
        <p:spPr>
          <a:xfrm>
            <a:off x="1584025" y="2119425"/>
            <a:ext cx="1097075" cy="270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2" name="Shape 1042"/>
        <p:cNvGrpSpPr/>
        <p:nvPr/>
      </p:nvGrpSpPr>
      <p:grpSpPr>
        <a:xfrm>
          <a:off x="0" y="0"/>
          <a:ext cx="0" cy="0"/>
        </a:xfrm>
      </p:grpSpPr>
      <p:pic>
        <p:nvPicPr>
          <p:cNvPr id="1043" name="Google Shape;1043;p89"/>
          <p:cNvPicPr preferRelativeResize="0"/>
          <p:nvPr/>
        </p:nvPicPr>
        <p:blipFill>
          <a:blip r:embed="rId3">
            <a:alphaModFix/>
          </a:blip>
          <a:srcRect l="52128" t="10653" r="15602" b="2946"/>
          <a:stretch>
            <a:fillRect/>
          </a:stretch>
        </p:blipFill>
        <p:spPr>
          <a:xfrm>
            <a:off x="5774400" y="2131225"/>
            <a:ext cx="1753750" cy="21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9"/>
          <p:cNvPicPr preferRelativeResize="0"/>
          <p:nvPr/>
        </p:nvPicPr>
        <p:blipFill>
          <a:blip r:embed="rId3">
            <a:alphaModFix/>
          </a:blip>
          <a:srcRect l="1213" t="10339" r="66069" b="2552"/>
          <a:stretch>
            <a:fillRect/>
          </a:stretch>
        </p:blipFill>
        <p:spPr>
          <a:xfrm>
            <a:off x="1576500" y="2121025"/>
            <a:ext cx="1777999" cy="21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046" name="Google Shape;1046;p89"/>
          <p:cNvSpPr txBox="1"/>
          <p:nvPr/>
        </p:nvSpPr>
        <p:spPr>
          <a:xfrm>
            <a:off x="4524538" y="2197215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9"/>
          <p:cNvSpPr txBox="1"/>
          <p:nvPr/>
        </p:nvSpPr>
        <p:spPr>
          <a:xfrm>
            <a:off x="4524538" y="3478236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8" name="Google Shape;1048;p89"/>
          <p:cNvCxnSpPr/>
          <p:nvPr/>
        </p:nvCxnSpPr>
        <p:spPr>
          <a:xfrm>
            <a:off x="5397238" y="2377515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9" name="Google Shape;1049;p89"/>
          <p:cNvCxnSpPr/>
          <p:nvPr/>
        </p:nvCxnSpPr>
        <p:spPr>
          <a:xfrm>
            <a:off x="5397238" y="3658536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0" name="Google Shape;1050;p89"/>
          <p:cNvSpPr txBox="1"/>
          <p:nvPr/>
        </p:nvSpPr>
        <p:spPr>
          <a:xfrm>
            <a:off x="324000" y="7593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an object is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the angles within the shape are always invariant.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9"/>
          <p:cNvSpPr txBox="1"/>
          <p:nvPr/>
        </p:nvSpPr>
        <p:spPr>
          <a:xfrm>
            <a:off x="324000" y="1678275"/>
            <a:ext cx="8237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is an example of a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which is a non-example?</a:t>
            </a:r>
            <a:endParaRPr sz="18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9"/>
          <p:cNvSpPr txBox="1"/>
          <p:nvPr/>
        </p:nvSpPr>
        <p:spPr>
          <a:xfrm>
            <a:off x="2441600" y="2326790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107°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9"/>
          <p:cNvSpPr txBox="1"/>
          <p:nvPr/>
        </p:nvSpPr>
        <p:spPr>
          <a:xfrm>
            <a:off x="1790525" y="2331375"/>
            <a:ext cx="39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9"/>
          <p:cNvSpPr txBox="1"/>
          <p:nvPr/>
        </p:nvSpPr>
        <p:spPr>
          <a:xfrm>
            <a:off x="2230465" y="2608700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9"/>
          <p:cNvSpPr txBox="1"/>
          <p:nvPr/>
        </p:nvSpPr>
        <p:spPr>
          <a:xfrm>
            <a:off x="2774600" y="2741325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9"/>
          <p:cNvSpPr txBox="1"/>
          <p:nvPr/>
        </p:nvSpPr>
        <p:spPr>
          <a:xfrm flipH="1">
            <a:off x="2441600" y="3871753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107°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9"/>
          <p:cNvSpPr txBox="1"/>
          <p:nvPr/>
        </p:nvSpPr>
        <p:spPr>
          <a:xfrm flipH="1">
            <a:off x="1790525" y="3844123"/>
            <a:ext cx="39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9"/>
          <p:cNvSpPr txBox="1"/>
          <p:nvPr/>
        </p:nvSpPr>
        <p:spPr>
          <a:xfrm flipH="1">
            <a:off x="2230465" y="3597524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9"/>
          <p:cNvSpPr txBox="1"/>
          <p:nvPr/>
        </p:nvSpPr>
        <p:spPr>
          <a:xfrm flipH="1">
            <a:off x="2774600" y="3434173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9"/>
          <p:cNvSpPr txBox="1"/>
          <p:nvPr/>
        </p:nvSpPr>
        <p:spPr>
          <a:xfrm>
            <a:off x="6642550" y="2326790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107°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9"/>
          <p:cNvSpPr txBox="1"/>
          <p:nvPr/>
        </p:nvSpPr>
        <p:spPr>
          <a:xfrm>
            <a:off x="5991475" y="2331375"/>
            <a:ext cx="39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9"/>
          <p:cNvSpPr txBox="1"/>
          <p:nvPr/>
        </p:nvSpPr>
        <p:spPr>
          <a:xfrm>
            <a:off x="6431415" y="2608700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9"/>
          <p:cNvSpPr txBox="1"/>
          <p:nvPr/>
        </p:nvSpPr>
        <p:spPr>
          <a:xfrm>
            <a:off x="6975550" y="2741325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9"/>
          <p:cNvSpPr txBox="1"/>
          <p:nvPr/>
        </p:nvSpPr>
        <p:spPr>
          <a:xfrm flipH="1">
            <a:off x="6745784" y="3953902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9"/>
          <p:cNvSpPr txBox="1"/>
          <p:nvPr/>
        </p:nvSpPr>
        <p:spPr>
          <a:xfrm flipH="1">
            <a:off x="5944852" y="3534915"/>
            <a:ext cx="39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9"/>
          <p:cNvSpPr txBox="1"/>
          <p:nvPr/>
        </p:nvSpPr>
        <p:spPr>
          <a:xfrm flipH="1">
            <a:off x="6431433" y="3533346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162°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9"/>
          <p:cNvSpPr txBox="1"/>
          <p:nvPr/>
        </p:nvSpPr>
        <p:spPr>
          <a:xfrm flipH="1">
            <a:off x="6982658" y="3434173"/>
            <a:ext cx="5217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63°</a:t>
            </a:r>
            <a:endParaRPr sz="16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9"/>
          <p:cNvSpPr txBox="1"/>
          <p:nvPr/>
        </p:nvSpPr>
        <p:spPr>
          <a:xfrm>
            <a:off x="324000" y="2197215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9"/>
          <p:cNvSpPr txBox="1"/>
          <p:nvPr/>
        </p:nvSpPr>
        <p:spPr>
          <a:xfrm>
            <a:off x="324000" y="3878097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0" name="Google Shape;1070;p89"/>
          <p:cNvCxnSpPr/>
          <p:nvPr/>
        </p:nvCxnSpPr>
        <p:spPr>
          <a:xfrm>
            <a:off x="1196700" y="2377515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1" name="Google Shape;1071;p89"/>
          <p:cNvCxnSpPr/>
          <p:nvPr/>
        </p:nvCxnSpPr>
        <p:spPr>
          <a:xfrm>
            <a:off x="1196700" y="4058397"/>
            <a:ext cx="379800" cy="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2" name="Google Shape;1072;p89"/>
          <p:cNvSpPr txBox="1"/>
          <p:nvPr/>
        </p:nvSpPr>
        <p:spPr>
          <a:xfrm>
            <a:off x="324000" y="4458000"/>
            <a:ext cx="26394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of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1800" b="1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89"/>
          <p:cNvSpPr txBox="1"/>
          <p:nvPr/>
        </p:nvSpPr>
        <p:spPr>
          <a:xfrm>
            <a:off x="4888750" y="4458000"/>
            <a:ext cx="26394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non-example</a:t>
            </a:r>
            <a:endParaRPr sz="1800" b="1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7" name="Shape 1077"/>
        <p:cNvGrpSpPr/>
        <p:nvPr/>
      </p:nvGrpSpPr>
      <p:grpSpPr>
        <a:xfrm>
          <a:off x="0" y="0"/>
          <a:ext cx="0" cy="0"/>
        </a:xfrm>
      </p:grpSpPr>
      <p:sp>
        <p:nvSpPr>
          <p:cNvPr id="1078" name="Google Shape;1078;p90"/>
          <p:cNvSpPr txBox="1"/>
          <p:nvPr>
            <p:ph type="body" idx="1"/>
          </p:nvPr>
        </p:nvSpPr>
        <p:spPr>
          <a:xfrm>
            <a:off x="324000" y="835275"/>
            <a:ext cx="3350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When an object is </a:t>
            </a:r>
            <a:r>
              <a:rPr lang="en-GB" sz="1800" b="1"/>
              <a:t>reflected</a:t>
            </a:r>
            <a:r>
              <a:rPr lang="en-GB" sz="1800"/>
              <a:t>, its orientation always changes, even if the image looks the same as its object.</a:t>
            </a:r>
            <a:endParaRPr sz="1800"/>
          </a:p>
        </p:txBody>
      </p:sp>
      <p:sp>
        <p:nvSpPr>
          <p:cNvPr id="1079" name="Google Shape;107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080" name="Google Shape;1080;p90"/>
          <p:cNvSpPr/>
          <p:nvPr/>
        </p:nvSpPr>
        <p:spPr>
          <a:xfrm>
            <a:off x="4304725" y="880772"/>
            <a:ext cx="1080000" cy="1080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90"/>
          <p:cNvSpPr txBox="1"/>
          <p:nvPr>
            <p:ph type="body" idx="1"/>
          </p:nvPr>
        </p:nvSpPr>
        <p:spPr>
          <a:xfrm>
            <a:off x="4408375" y="2131773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082" name="Google Shape;1082;p90"/>
          <p:cNvSpPr txBox="1"/>
          <p:nvPr>
            <p:ph type="body" idx="1"/>
          </p:nvPr>
        </p:nvSpPr>
        <p:spPr>
          <a:xfrm>
            <a:off x="6736075" y="2131773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083" name="Google Shape;1083;p90"/>
          <p:cNvSpPr/>
          <p:nvPr/>
        </p:nvSpPr>
        <p:spPr>
          <a:xfrm rot="5400000">
            <a:off x="6632430" y="880769"/>
            <a:ext cx="1080000" cy="10800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90"/>
          <p:cNvSpPr txBox="1"/>
          <p:nvPr>
            <p:ph type="body" idx="1"/>
          </p:nvPr>
        </p:nvSpPr>
        <p:spPr>
          <a:xfrm>
            <a:off x="324000" y="3060800"/>
            <a:ext cx="3350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This is easier to see if we label the vertices of the object and image.</a:t>
            </a:r>
            <a:endParaRPr sz="1800"/>
          </a:p>
        </p:txBody>
      </p:sp>
      <p:sp>
        <p:nvSpPr>
          <p:cNvPr id="1085" name="Google Shape;1085;p90"/>
          <p:cNvSpPr/>
          <p:nvPr/>
        </p:nvSpPr>
        <p:spPr>
          <a:xfrm>
            <a:off x="4304725" y="3073034"/>
            <a:ext cx="1080000" cy="10800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90"/>
          <p:cNvSpPr txBox="1"/>
          <p:nvPr>
            <p:ph type="body" idx="1"/>
          </p:nvPr>
        </p:nvSpPr>
        <p:spPr>
          <a:xfrm>
            <a:off x="4408375" y="4493986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087" name="Google Shape;1087;p90"/>
          <p:cNvSpPr txBox="1"/>
          <p:nvPr>
            <p:ph type="body" idx="1"/>
          </p:nvPr>
        </p:nvSpPr>
        <p:spPr>
          <a:xfrm>
            <a:off x="6736075" y="4493986"/>
            <a:ext cx="872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1088" name="Google Shape;1088;p90"/>
          <p:cNvSpPr txBox="1"/>
          <p:nvPr>
            <p:ph type="body" idx="1"/>
          </p:nvPr>
        </p:nvSpPr>
        <p:spPr>
          <a:xfrm>
            <a:off x="4083501" y="3954175"/>
            <a:ext cx="236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089" name="Google Shape;1089;p90"/>
          <p:cNvSpPr txBox="1"/>
          <p:nvPr>
            <p:ph type="body" idx="1"/>
          </p:nvPr>
        </p:nvSpPr>
        <p:spPr>
          <a:xfrm>
            <a:off x="5357964" y="3954175"/>
            <a:ext cx="236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090" name="Google Shape;1090;p90"/>
          <p:cNvSpPr txBox="1"/>
          <p:nvPr>
            <p:ph type="body" idx="1"/>
          </p:nvPr>
        </p:nvSpPr>
        <p:spPr>
          <a:xfrm>
            <a:off x="4083501" y="2852175"/>
            <a:ext cx="236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091" name="Google Shape;1091;p90"/>
          <p:cNvSpPr txBox="1"/>
          <p:nvPr>
            <p:ph type="body" idx="1"/>
          </p:nvPr>
        </p:nvSpPr>
        <p:spPr>
          <a:xfrm>
            <a:off x="5357964" y="2852175"/>
            <a:ext cx="236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C</a:t>
            </a:r>
            <a:endParaRPr sz="1800"/>
          </a:p>
        </p:txBody>
      </p:sp>
      <p:grpSp>
        <p:nvGrpSpPr>
          <p:cNvPr id="1092" name="Google Shape;1092;p90"/>
          <p:cNvGrpSpPr/>
          <p:nvPr/>
        </p:nvGrpSpPr>
        <p:grpSpPr>
          <a:xfrm flipH="1">
            <a:off x="6406465" y="2830500"/>
            <a:ext cx="1595563" cy="1565035"/>
            <a:chOff x="6353264" y="2824314"/>
            <a:chExt cx="1595563" cy="1565035"/>
          </a:xfrm>
        </p:grpSpPr>
        <p:sp>
          <p:nvSpPr>
            <p:cNvPr id="1093" name="Google Shape;1093;p90"/>
            <p:cNvSpPr/>
            <p:nvPr/>
          </p:nvSpPr>
          <p:spPr>
            <a:xfrm rot="5400000">
              <a:off x="6632430" y="3073032"/>
              <a:ext cx="1080000" cy="10800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90"/>
            <p:cNvSpPr/>
            <p:nvPr/>
          </p:nvSpPr>
          <p:spPr>
            <a:xfrm>
              <a:off x="6416927" y="4152949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90"/>
            <p:cNvSpPr/>
            <p:nvPr/>
          </p:nvSpPr>
          <p:spPr>
            <a:xfrm>
              <a:off x="7712427" y="4152949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90"/>
            <p:cNvSpPr/>
            <p:nvPr/>
          </p:nvSpPr>
          <p:spPr>
            <a:xfrm>
              <a:off x="6353264" y="2824314"/>
              <a:ext cx="3000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90"/>
            <p:cNvSpPr/>
            <p:nvPr/>
          </p:nvSpPr>
          <p:spPr>
            <a:xfrm>
              <a:off x="7712427" y="2824324"/>
              <a:ext cx="2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C′</a:t>
              </a:r>
              <a:endParaRPr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1" name="Shape 1101"/>
        <p:cNvGrpSpPr/>
        <p:nvPr/>
      </p:nvGrpSpPr>
      <p:grpSpPr>
        <a:xfrm>
          <a:off x="0" y="0"/>
          <a:ext cx="0" cy="0"/>
        </a:xfrm>
      </p:grpSpPr>
      <p:sp>
        <p:nvSpPr>
          <p:cNvPr id="1102" name="Google Shape;1102;p91"/>
          <p:cNvSpPr txBox="1"/>
          <p:nvPr/>
        </p:nvSpPr>
        <p:spPr>
          <a:xfrm>
            <a:off x="324000" y="759300"/>
            <a:ext cx="84960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pentagon has been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labelling of the vertices of the image.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104" name="Google Shape;1104;p91"/>
          <p:cNvSpPr txBox="1"/>
          <p:nvPr/>
        </p:nvSpPr>
        <p:spPr>
          <a:xfrm>
            <a:off x="2777297" y="1826175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5" name="Google Shape;1105;p91"/>
          <p:cNvPicPr preferRelativeResize="0"/>
          <p:nvPr/>
        </p:nvPicPr>
        <p:blipFill>
          <a:blip r:embed="rId3">
            <a:alphaModFix/>
          </a:blip>
          <a:srcRect l="12403" t="16240" r="51684"/>
          <a:stretch>
            <a:fillRect/>
          </a:stretch>
        </p:blipFill>
        <p:spPr>
          <a:xfrm>
            <a:off x="2377749" y="2067550"/>
            <a:ext cx="1386100" cy="23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91"/>
          <p:cNvSpPr txBox="1"/>
          <p:nvPr/>
        </p:nvSpPr>
        <p:spPr>
          <a:xfrm>
            <a:off x="2144122" y="2455064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1"/>
          <p:cNvSpPr txBox="1"/>
          <p:nvPr/>
        </p:nvSpPr>
        <p:spPr>
          <a:xfrm>
            <a:off x="2115272" y="3569214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1"/>
          <p:cNvSpPr txBox="1"/>
          <p:nvPr/>
        </p:nvSpPr>
        <p:spPr>
          <a:xfrm>
            <a:off x="3292897" y="4155889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3391459" y="2459689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0" name="Google Shape;1110;p91"/>
          <p:cNvPicPr preferRelativeResize="0"/>
          <p:nvPr/>
        </p:nvPicPr>
        <p:blipFill>
          <a:blip r:embed="rId3">
            <a:alphaModFix/>
          </a:blip>
          <a:srcRect l="64089" t="16240"/>
          <a:stretch>
            <a:fillRect/>
          </a:stretch>
        </p:blipFill>
        <p:spPr>
          <a:xfrm>
            <a:off x="5095974" y="2067550"/>
            <a:ext cx="1386100" cy="23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1"/>
          <p:cNvSpPr txBox="1"/>
          <p:nvPr/>
        </p:nvSpPr>
        <p:spPr>
          <a:xfrm>
            <a:off x="6187534" y="2459689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B′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1"/>
          <p:cNvSpPr txBox="1"/>
          <p:nvPr/>
        </p:nvSpPr>
        <p:spPr>
          <a:xfrm>
            <a:off x="4853145" y="2514046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E′</a:t>
            </a:r>
            <a:endParaRPr sz="20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91"/>
          <p:cNvSpPr txBox="1"/>
          <p:nvPr/>
        </p:nvSpPr>
        <p:spPr>
          <a:xfrm>
            <a:off x="5571840" y="1866280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A′</a:t>
            </a:r>
            <a:endParaRPr sz="20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91"/>
          <p:cNvSpPr txBox="1"/>
          <p:nvPr/>
        </p:nvSpPr>
        <p:spPr>
          <a:xfrm>
            <a:off x="4904151" y="4148605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D′ </a:t>
            </a:r>
            <a:endParaRPr sz="20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91"/>
          <p:cNvSpPr txBox="1"/>
          <p:nvPr/>
        </p:nvSpPr>
        <p:spPr>
          <a:xfrm>
            <a:off x="6198520" y="3572190"/>
            <a:ext cx="3588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C′  </a:t>
            </a:r>
            <a:endParaRPr sz="20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9" name="Shape 1119"/>
        <p:cNvGrpSpPr/>
        <p:nvPr/>
      </p:nvGrpSpPr>
      <p:grpSpPr>
        <a:xfrm>
          <a:off x="0" y="0"/>
          <a:ext cx="0" cy="0"/>
        </a:xfrm>
      </p:grpSpPr>
      <p:sp>
        <p:nvSpPr>
          <p:cNvPr id="1120" name="Google Shape;112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121" name="Google Shape;1121;p92"/>
          <p:cNvSpPr txBox="1"/>
          <p:nvPr/>
        </p:nvSpPr>
        <p:spPr>
          <a:xfrm>
            <a:off x="324000" y="759300"/>
            <a:ext cx="84960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images is a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this quadrilateral? 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2" name="Google Shape;1122;p92"/>
          <p:cNvPicPr preferRelativeResize="0"/>
          <p:nvPr/>
        </p:nvPicPr>
        <p:blipFill>
          <a:blip r:embed="rId3">
            <a:alphaModFix/>
          </a:blip>
          <a:srcRect b="55031"/>
          <a:stretch>
            <a:fillRect/>
          </a:stretch>
        </p:blipFill>
        <p:spPr>
          <a:xfrm>
            <a:off x="324000" y="1111293"/>
            <a:ext cx="8496000" cy="121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2"/>
          <p:cNvSpPr txBox="1"/>
          <p:nvPr/>
        </p:nvSpPr>
        <p:spPr>
          <a:xfrm>
            <a:off x="2845463" y="1454194"/>
            <a:ext cx="9234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4" name="Google Shape;1124;p92"/>
          <p:cNvGrpSpPr/>
          <p:nvPr/>
        </p:nvGrpSpPr>
        <p:grpSpPr>
          <a:xfrm>
            <a:off x="694503" y="4114444"/>
            <a:ext cx="457200" cy="457200"/>
            <a:chOff x="1020916" y="1442088"/>
            <a:chExt cx="457200" cy="457200"/>
          </a:xfrm>
        </p:grpSpPr>
        <p:pic>
          <p:nvPicPr>
            <p:cNvPr id="1125" name="Google Shape;112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2"/>
          <p:cNvGrpSpPr/>
          <p:nvPr/>
        </p:nvGrpSpPr>
        <p:grpSpPr>
          <a:xfrm>
            <a:off x="3593857" y="4114444"/>
            <a:ext cx="457200" cy="457200"/>
            <a:chOff x="1020916" y="1442088"/>
            <a:chExt cx="457200" cy="457200"/>
          </a:xfrm>
        </p:grpSpPr>
        <p:pic>
          <p:nvPicPr>
            <p:cNvPr id="1128" name="Google Shape;112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2"/>
          <p:cNvGrpSpPr/>
          <p:nvPr/>
        </p:nvGrpSpPr>
        <p:grpSpPr>
          <a:xfrm>
            <a:off x="5738251" y="4114444"/>
            <a:ext cx="457200" cy="457200"/>
            <a:chOff x="1020916" y="1442088"/>
            <a:chExt cx="457200" cy="457200"/>
          </a:xfrm>
        </p:grpSpPr>
        <p:pic>
          <p:nvPicPr>
            <p:cNvPr id="1131" name="Google Shape;113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3" name="Google Shape;113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5458" y="4133494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4" name="Google Shape;1134;p92"/>
          <p:cNvGrpSpPr/>
          <p:nvPr/>
        </p:nvGrpSpPr>
        <p:grpSpPr>
          <a:xfrm>
            <a:off x="8011328" y="4114444"/>
            <a:ext cx="457200" cy="457200"/>
            <a:chOff x="1020916" y="1442088"/>
            <a:chExt cx="457200" cy="457200"/>
          </a:xfrm>
        </p:grpSpPr>
        <p:pic>
          <p:nvPicPr>
            <p:cNvPr id="1135" name="Google Shape;113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7" name="Google Shape;1137;p92"/>
          <p:cNvPicPr preferRelativeResize="0"/>
          <p:nvPr/>
        </p:nvPicPr>
        <p:blipFill>
          <a:blip r:embed="rId3">
            <a:alphaModFix/>
          </a:blip>
          <a:srcRect t="47251"/>
          <a:stretch>
            <a:fillRect/>
          </a:stretch>
        </p:blipFill>
        <p:spPr>
          <a:xfrm>
            <a:off x="324000" y="2646724"/>
            <a:ext cx="8496000" cy="14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708" y="4133494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2" name="Shape 1142"/>
        <p:cNvGrpSpPr/>
        <p:nvPr/>
      </p:nvGrpSpPr>
      <p:grpSpPr>
        <a:xfrm>
          <a:off x="0" y="0"/>
          <a:ext cx="0" cy="0"/>
        </a:xfrm>
      </p:grpSpPr>
      <p:sp>
        <p:nvSpPr>
          <p:cNvPr id="1143" name="Google Shape;114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144" name="Google Shape;1144;p93"/>
          <p:cNvSpPr/>
          <p:nvPr/>
        </p:nvSpPr>
        <p:spPr>
          <a:xfrm>
            <a:off x="6627300" y="2486278"/>
            <a:ext cx="2192700" cy="98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93"/>
          <p:cNvSpPr txBox="1"/>
          <p:nvPr/>
        </p:nvSpPr>
        <p:spPr>
          <a:xfrm>
            <a:off x="324000" y="759300"/>
            <a:ext cx="8496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Sofia’s statement is incorrect.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Come up with an explanation, or draw a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to show she is incorrect.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6" name="Google Shape;1146;p93"/>
          <p:cNvPicPr preferRelativeResize="0"/>
          <p:nvPr/>
        </p:nvPicPr>
        <p:blipFill>
          <a:blip r:embed="rId3">
            <a:alphaModFix/>
          </a:blip>
          <a:srcRect l="-185" t="-2012" r="59770" b="43327"/>
          <a:stretch>
            <a:fillRect/>
          </a:stretch>
        </p:blipFill>
        <p:spPr>
          <a:xfrm flipH="1">
            <a:off x="1140237" y="2528225"/>
            <a:ext cx="3191900" cy="18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93"/>
          <p:cNvSpPr txBox="1"/>
          <p:nvPr/>
        </p:nvSpPr>
        <p:spPr>
          <a:xfrm>
            <a:off x="1265114" y="2673200"/>
            <a:ext cx="2958900" cy="13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</a:t>
            </a: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arrow, it will have the same orientation as it will still face in the same direction.</a:t>
            </a:r>
            <a:endParaRPr sz="18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8" name="Google Shape;1148;p93"/>
          <p:cNvPicPr preferRelativeResize="0"/>
          <p:nvPr/>
        </p:nvPicPr>
        <p:blipFill>
          <a:blip r:embed="rId4">
            <a:alphaModFix/>
          </a:blip>
          <a:srcRect l="17852" r="17859"/>
          <a:stretch>
            <a:fillRect/>
          </a:stretch>
        </p:blipFill>
        <p:spPr>
          <a:xfrm flipH="1">
            <a:off x="320848" y="3500650"/>
            <a:ext cx="900800" cy="9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93"/>
          <p:cNvSpPr txBox="1"/>
          <p:nvPr/>
        </p:nvSpPr>
        <p:spPr>
          <a:xfrm>
            <a:off x="360550" y="4442700"/>
            <a:ext cx="82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p94"/>
          <p:cNvSpPr txBox="1"/>
          <p:nvPr/>
        </p:nvSpPr>
        <p:spPr>
          <a:xfrm>
            <a:off x="1106550" y="1080000"/>
            <a:ext cx="77136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 is incorrect because all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reflections</a:t>
            </a:r>
            <a:r>
              <a:rPr lang="en-GB" sz="20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change orientation, even if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image </a:t>
            </a:r>
            <a:r>
              <a:rPr lang="en-GB" sz="20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looks the same.</a:t>
            </a:r>
            <a:endParaRPr sz="20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can also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 </a:t>
            </a:r>
            <a:r>
              <a:rPr lang="en-GB" sz="2000" b="0" i="0" u="none" strike="noStrike" cap="non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horizontally so the arrow points left, not right.</a:t>
            </a:r>
            <a:endParaRPr sz="2000" b="0" i="0" u="none" strike="noStrike" cap="non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55" name="Google Shape;1155;p94"/>
          <p:cNvPicPr preferRelativeResize="0"/>
          <p:nvPr/>
        </p:nvPicPr>
        <p:blipFill>
          <a:blip r:embed="rId3">
            <a:alphaModFix/>
          </a:blip>
          <a:srcRect l="-185" t="-2012" r="59770" b="43327"/>
          <a:stretch>
            <a:fillRect/>
          </a:stretch>
        </p:blipFill>
        <p:spPr>
          <a:xfrm flipH="1">
            <a:off x="1140237" y="2528225"/>
            <a:ext cx="3191900" cy="18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94"/>
          <p:cNvSpPr txBox="1"/>
          <p:nvPr/>
        </p:nvSpPr>
        <p:spPr>
          <a:xfrm>
            <a:off x="1265114" y="2673200"/>
            <a:ext cx="2958900" cy="13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</a:t>
            </a:r>
            <a:r>
              <a:rPr lang="en-GB" sz="18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arrow, it will have the same orientation as it will still face in the same direction.</a:t>
            </a:r>
            <a:endParaRPr sz="18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pic>
        <p:nvPicPr>
          <p:cNvPr id="1158" name="Google Shape;1158;p94"/>
          <p:cNvPicPr preferRelativeResize="0"/>
          <p:nvPr/>
        </p:nvPicPr>
        <p:blipFill>
          <a:blip r:embed="rId4">
            <a:alphaModFix/>
          </a:blip>
          <a:srcRect l="17852" r="17859"/>
          <a:stretch>
            <a:fillRect/>
          </a:stretch>
        </p:blipFill>
        <p:spPr>
          <a:xfrm flipH="1">
            <a:off x="320848" y="3500650"/>
            <a:ext cx="900800" cy="9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4"/>
          <p:cNvSpPr/>
          <p:nvPr/>
        </p:nvSpPr>
        <p:spPr>
          <a:xfrm>
            <a:off x="6627300" y="2486278"/>
            <a:ext cx="2192700" cy="98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94"/>
          <p:cNvSpPr txBox="1"/>
          <p:nvPr/>
        </p:nvSpPr>
        <p:spPr>
          <a:xfrm>
            <a:off x="360550" y="4442700"/>
            <a:ext cx="82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4"/>
          <p:cNvSpPr txBox="1"/>
          <p:nvPr/>
        </p:nvSpPr>
        <p:spPr>
          <a:xfrm>
            <a:off x="324000" y="759300"/>
            <a:ext cx="8496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Sofia’s statement is incorrect.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4"/>
          <p:cNvSpPr/>
          <p:nvPr/>
        </p:nvSpPr>
        <p:spPr>
          <a:xfrm flipH="1">
            <a:off x="4383375" y="2486278"/>
            <a:ext cx="2192700" cy="98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6" name="Shape 1166"/>
        <p:cNvGrpSpPr/>
        <p:nvPr/>
      </p:nvGrpSpPr>
      <p:grpSpPr>
        <a:xfrm>
          <a:off x="0" y="0"/>
          <a:ext cx="0" cy="0"/>
        </a:xfrm>
      </p:grpSpPr>
      <p:sp>
        <p:nvSpPr>
          <p:cNvPr id="1167" name="Google Shape;1167;p95"/>
          <p:cNvSpPr txBox="1"/>
          <p:nvPr>
            <p:ph type="body" idx="1"/>
          </p:nvPr>
        </p:nvSpPr>
        <p:spPr>
          <a:xfrm>
            <a:off x="324000" y="766979"/>
            <a:ext cx="8237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/>
              <a:t>1) Each object has been </a:t>
            </a:r>
            <a:r>
              <a:rPr lang="en-GB" b="1"/>
              <a:t>reflected</a:t>
            </a:r>
            <a:r>
              <a:rPr lang="en-GB"/>
              <a:t>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Complete the labelling of the vertices of each image.</a:t>
            </a:r>
            <a:endParaRPr/>
          </a:p>
        </p:txBody>
      </p:sp>
      <p:sp>
        <p:nvSpPr>
          <p:cNvPr id="1168" name="Google Shape;1168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pic>
        <p:nvPicPr>
          <p:cNvPr id="1169" name="Google Shape;11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63" y="1625900"/>
            <a:ext cx="7900273" cy="31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5"/>
          <p:cNvSpPr txBox="1"/>
          <p:nvPr>
            <p:ph type="body" idx="1"/>
          </p:nvPr>
        </p:nvSpPr>
        <p:spPr>
          <a:xfrm>
            <a:off x="2998500" y="20613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A′</a:t>
            </a:r>
            <a:endParaRPr sz="1800"/>
          </a:p>
        </p:txBody>
      </p:sp>
      <p:sp>
        <p:nvSpPr>
          <p:cNvPr id="1171" name="Google Shape;1171;p95"/>
          <p:cNvSpPr txBox="1"/>
          <p:nvPr>
            <p:ph type="body" idx="1"/>
          </p:nvPr>
        </p:nvSpPr>
        <p:spPr>
          <a:xfrm>
            <a:off x="1499250" y="20613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172" name="Google Shape;1172;p95"/>
          <p:cNvSpPr txBox="1"/>
          <p:nvPr>
            <p:ph type="body" idx="1"/>
          </p:nvPr>
        </p:nvSpPr>
        <p:spPr>
          <a:xfrm>
            <a:off x="667975" y="20613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173" name="Google Shape;1173;p95"/>
          <p:cNvSpPr txBox="1"/>
          <p:nvPr>
            <p:ph type="body" idx="1"/>
          </p:nvPr>
        </p:nvSpPr>
        <p:spPr>
          <a:xfrm>
            <a:off x="1730150" y="27241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174" name="Google Shape;1174;p95"/>
          <p:cNvSpPr txBox="1"/>
          <p:nvPr>
            <p:ph type="body" idx="1"/>
          </p:nvPr>
        </p:nvSpPr>
        <p:spPr>
          <a:xfrm>
            <a:off x="667975" y="27241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175" name="Google Shape;1175;p95"/>
          <p:cNvSpPr txBox="1"/>
          <p:nvPr>
            <p:ph type="body" idx="1"/>
          </p:nvPr>
        </p:nvSpPr>
        <p:spPr>
          <a:xfrm>
            <a:off x="3766275" y="2765575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C′</a:t>
            </a:r>
            <a:endParaRPr sz="1800"/>
          </a:p>
        </p:txBody>
      </p:sp>
      <p:sp>
        <p:nvSpPr>
          <p:cNvPr id="1176" name="Google Shape;1176;p95"/>
          <p:cNvSpPr txBox="1"/>
          <p:nvPr>
            <p:ph type="body" idx="1"/>
          </p:nvPr>
        </p:nvSpPr>
        <p:spPr>
          <a:xfrm>
            <a:off x="1499250" y="3752250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1177" name="Google Shape;1177;p95"/>
          <p:cNvSpPr txBox="1"/>
          <p:nvPr>
            <p:ph type="body" idx="1"/>
          </p:nvPr>
        </p:nvSpPr>
        <p:spPr>
          <a:xfrm>
            <a:off x="425507" y="3752255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178" name="Google Shape;1178;p95"/>
          <p:cNvSpPr txBox="1"/>
          <p:nvPr>
            <p:ph type="body" idx="1"/>
          </p:nvPr>
        </p:nvSpPr>
        <p:spPr>
          <a:xfrm>
            <a:off x="1753250" y="45194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H</a:t>
            </a:r>
            <a:endParaRPr sz="1800"/>
          </a:p>
        </p:txBody>
      </p:sp>
      <p:sp>
        <p:nvSpPr>
          <p:cNvPr id="1179" name="Google Shape;1179;p95"/>
          <p:cNvSpPr txBox="1"/>
          <p:nvPr>
            <p:ph type="body" idx="1"/>
          </p:nvPr>
        </p:nvSpPr>
        <p:spPr>
          <a:xfrm>
            <a:off x="667975" y="45194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180" name="Google Shape;1180;p95"/>
          <p:cNvSpPr txBox="1"/>
          <p:nvPr>
            <p:ph type="body" idx="1"/>
          </p:nvPr>
        </p:nvSpPr>
        <p:spPr>
          <a:xfrm>
            <a:off x="4054900" y="37873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F′</a:t>
            </a:r>
            <a:endParaRPr sz="1800"/>
          </a:p>
        </p:txBody>
      </p:sp>
      <p:sp>
        <p:nvSpPr>
          <p:cNvPr id="1181" name="Google Shape;1181;p95"/>
          <p:cNvSpPr txBox="1"/>
          <p:nvPr>
            <p:ph type="body" idx="1"/>
          </p:nvPr>
        </p:nvSpPr>
        <p:spPr>
          <a:xfrm>
            <a:off x="5690245" y="1730139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I</a:t>
            </a:r>
            <a:endParaRPr sz="1800"/>
          </a:p>
        </p:txBody>
      </p:sp>
      <p:sp>
        <p:nvSpPr>
          <p:cNvPr id="1182" name="Google Shape;1182;p95"/>
          <p:cNvSpPr txBox="1"/>
          <p:nvPr>
            <p:ph type="body" idx="1"/>
          </p:nvPr>
        </p:nvSpPr>
        <p:spPr>
          <a:xfrm>
            <a:off x="5026370" y="2143800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J</a:t>
            </a:r>
            <a:endParaRPr sz="1800"/>
          </a:p>
        </p:txBody>
      </p:sp>
      <p:sp>
        <p:nvSpPr>
          <p:cNvPr id="1183" name="Google Shape;1183;p95"/>
          <p:cNvSpPr txBox="1"/>
          <p:nvPr>
            <p:ph type="body" idx="1"/>
          </p:nvPr>
        </p:nvSpPr>
        <p:spPr>
          <a:xfrm>
            <a:off x="5690245" y="2812280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K</a:t>
            </a:r>
            <a:endParaRPr sz="1800"/>
          </a:p>
        </p:txBody>
      </p:sp>
      <p:sp>
        <p:nvSpPr>
          <p:cNvPr id="1184" name="Google Shape;1184;p95"/>
          <p:cNvSpPr txBox="1"/>
          <p:nvPr>
            <p:ph type="body" idx="1"/>
          </p:nvPr>
        </p:nvSpPr>
        <p:spPr>
          <a:xfrm>
            <a:off x="6382974" y="2143800"/>
            <a:ext cx="255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L</a:t>
            </a:r>
            <a:endParaRPr sz="1800"/>
          </a:p>
        </p:txBody>
      </p:sp>
      <p:sp>
        <p:nvSpPr>
          <p:cNvPr id="1185" name="Google Shape;1185;p95"/>
          <p:cNvSpPr txBox="1"/>
          <p:nvPr>
            <p:ph type="body" idx="1"/>
          </p:nvPr>
        </p:nvSpPr>
        <p:spPr>
          <a:xfrm>
            <a:off x="4991725" y="41352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J′</a:t>
            </a:r>
            <a:endParaRPr sz="1800"/>
          </a:p>
        </p:txBody>
      </p:sp>
      <p:sp>
        <p:nvSpPr>
          <p:cNvPr id="1186" name="Google Shape;1186;p95"/>
          <p:cNvSpPr txBox="1"/>
          <p:nvPr>
            <p:ph type="body" idx="1"/>
          </p:nvPr>
        </p:nvSpPr>
        <p:spPr>
          <a:xfrm>
            <a:off x="7308295" y="16259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1187" name="Google Shape;1187;p95"/>
          <p:cNvSpPr txBox="1"/>
          <p:nvPr>
            <p:ph type="body" idx="1"/>
          </p:nvPr>
        </p:nvSpPr>
        <p:spPr>
          <a:xfrm>
            <a:off x="7544995" y="21438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1188" name="Google Shape;1188;p95"/>
          <p:cNvSpPr txBox="1"/>
          <p:nvPr>
            <p:ph type="body" idx="1"/>
          </p:nvPr>
        </p:nvSpPr>
        <p:spPr>
          <a:xfrm>
            <a:off x="7308295" y="26617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189" name="Google Shape;1189;p95"/>
          <p:cNvSpPr txBox="1"/>
          <p:nvPr>
            <p:ph type="body" idx="1"/>
          </p:nvPr>
        </p:nvSpPr>
        <p:spPr>
          <a:xfrm>
            <a:off x="8353170" y="21438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P</a:t>
            </a:r>
            <a:endParaRPr sz="1800"/>
          </a:p>
        </p:txBody>
      </p:sp>
      <p:sp>
        <p:nvSpPr>
          <p:cNvPr id="1190" name="Google Shape;1190;p95"/>
          <p:cNvSpPr txBox="1"/>
          <p:nvPr>
            <p:ph type="body" idx="1"/>
          </p:nvPr>
        </p:nvSpPr>
        <p:spPr>
          <a:xfrm>
            <a:off x="8306966" y="38523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P′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pic>
        <p:nvPicPr>
          <p:cNvPr id="1195" name="Google Shape;1195;p96"/>
          <p:cNvPicPr preferRelativeResize="0"/>
          <p:nvPr/>
        </p:nvPicPr>
        <p:blipFill>
          <a:blip r:embed="rId3">
            <a:alphaModFix/>
          </a:blip>
          <a:srcRect b="58812"/>
          <a:stretch>
            <a:fillRect/>
          </a:stretch>
        </p:blipFill>
        <p:spPr>
          <a:xfrm>
            <a:off x="1805150" y="2084475"/>
            <a:ext cx="6620175" cy="112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96"/>
          <p:cNvPicPr preferRelativeResize="0"/>
          <p:nvPr/>
        </p:nvPicPr>
        <p:blipFill>
          <a:blip r:embed="rId3">
            <a:alphaModFix/>
          </a:blip>
          <a:srcRect t="62775"/>
          <a:stretch>
            <a:fillRect/>
          </a:stretch>
        </p:blipFill>
        <p:spPr>
          <a:xfrm>
            <a:off x="1805150" y="3366392"/>
            <a:ext cx="6620175" cy="101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198" name="Google Shape;1198;p96"/>
          <p:cNvSpPr txBox="1"/>
          <p:nvPr>
            <p:ph type="body" idx="1"/>
          </p:nvPr>
        </p:nvSpPr>
        <p:spPr>
          <a:xfrm>
            <a:off x="324000" y="766979"/>
            <a:ext cx="8237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/>
              <a:t>2) Match the objects to their </a:t>
            </a:r>
            <a:r>
              <a:rPr lang="en-GB" b="1"/>
              <a:t>reflections</a:t>
            </a:r>
            <a:r>
              <a:rPr lang="en-GB"/>
              <a:t>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There are two images that do not pair with an object.</a:t>
            </a:r>
            <a:endParaRPr/>
          </a:p>
        </p:txBody>
      </p:sp>
      <p:sp>
        <p:nvSpPr>
          <p:cNvPr id="1199" name="Google Shape;1199;p96"/>
          <p:cNvSpPr txBox="1"/>
          <p:nvPr>
            <p:ph type="body" idx="1"/>
          </p:nvPr>
        </p:nvSpPr>
        <p:spPr>
          <a:xfrm>
            <a:off x="677450" y="2396891"/>
            <a:ext cx="11277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objects </a:t>
            </a:r>
            <a:endParaRPr/>
          </a:p>
        </p:txBody>
      </p:sp>
      <p:sp>
        <p:nvSpPr>
          <p:cNvPr id="1200" name="Google Shape;1200;p96"/>
          <p:cNvSpPr txBox="1"/>
          <p:nvPr>
            <p:ph type="body" idx="1"/>
          </p:nvPr>
        </p:nvSpPr>
        <p:spPr>
          <a:xfrm>
            <a:off x="677450" y="3840213"/>
            <a:ext cx="11277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images</a:t>
            </a:r>
            <a:endParaRPr/>
          </a:p>
        </p:txBody>
      </p:sp>
      <p:grpSp>
        <p:nvGrpSpPr>
          <p:cNvPr id="1201" name="Google Shape;1201;p96"/>
          <p:cNvGrpSpPr/>
          <p:nvPr/>
        </p:nvGrpSpPr>
        <p:grpSpPr>
          <a:xfrm>
            <a:off x="2390878" y="1627269"/>
            <a:ext cx="457200" cy="457200"/>
            <a:chOff x="1020916" y="1442088"/>
            <a:chExt cx="457200" cy="457200"/>
          </a:xfrm>
        </p:grpSpPr>
        <p:pic>
          <p:nvPicPr>
            <p:cNvPr id="1202" name="Google Shape;120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6"/>
          <p:cNvGrpSpPr/>
          <p:nvPr/>
        </p:nvGrpSpPr>
        <p:grpSpPr>
          <a:xfrm>
            <a:off x="3635645" y="1627269"/>
            <a:ext cx="457200" cy="457200"/>
            <a:chOff x="1020916" y="1442088"/>
            <a:chExt cx="457200" cy="457200"/>
          </a:xfrm>
        </p:grpSpPr>
        <p:pic>
          <p:nvPicPr>
            <p:cNvPr id="1205" name="Google Shape;120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6"/>
          <p:cNvGrpSpPr/>
          <p:nvPr/>
        </p:nvGrpSpPr>
        <p:grpSpPr>
          <a:xfrm>
            <a:off x="4744718" y="1627269"/>
            <a:ext cx="457200" cy="457200"/>
            <a:chOff x="1020916" y="1442088"/>
            <a:chExt cx="457200" cy="457200"/>
          </a:xfrm>
        </p:grpSpPr>
        <p:pic>
          <p:nvPicPr>
            <p:cNvPr id="1208" name="Google Shape;120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6"/>
          <p:cNvGrpSpPr/>
          <p:nvPr/>
        </p:nvGrpSpPr>
        <p:grpSpPr>
          <a:xfrm>
            <a:off x="5991663" y="1627269"/>
            <a:ext cx="457200" cy="457200"/>
            <a:chOff x="1020916" y="1442088"/>
            <a:chExt cx="457200" cy="457200"/>
          </a:xfrm>
        </p:grpSpPr>
        <p:pic>
          <p:nvPicPr>
            <p:cNvPr id="1211" name="Google Shape;121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6"/>
          <p:cNvGrpSpPr/>
          <p:nvPr/>
        </p:nvGrpSpPr>
        <p:grpSpPr>
          <a:xfrm>
            <a:off x="7380887" y="1627269"/>
            <a:ext cx="457200" cy="457200"/>
            <a:chOff x="1020916" y="1442088"/>
            <a:chExt cx="457200" cy="457200"/>
          </a:xfrm>
        </p:grpSpPr>
        <p:pic>
          <p:nvPicPr>
            <p:cNvPr id="1214" name="Google Shape;121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96"/>
          <p:cNvGrpSpPr/>
          <p:nvPr/>
        </p:nvGrpSpPr>
        <p:grpSpPr>
          <a:xfrm>
            <a:off x="1972777" y="4380217"/>
            <a:ext cx="457200" cy="457200"/>
            <a:chOff x="1020916" y="1442088"/>
            <a:chExt cx="457200" cy="457200"/>
          </a:xfrm>
        </p:grpSpPr>
        <p:pic>
          <p:nvPicPr>
            <p:cNvPr id="1217" name="Google Shape;121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96"/>
          <p:cNvGrpSpPr/>
          <p:nvPr/>
        </p:nvGrpSpPr>
        <p:grpSpPr>
          <a:xfrm>
            <a:off x="2945062" y="4380217"/>
            <a:ext cx="457200" cy="457200"/>
            <a:chOff x="1020916" y="1442088"/>
            <a:chExt cx="457200" cy="457200"/>
          </a:xfrm>
        </p:grpSpPr>
        <p:pic>
          <p:nvPicPr>
            <p:cNvPr id="1220" name="Google Shape;122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96"/>
          <p:cNvGrpSpPr/>
          <p:nvPr/>
        </p:nvGrpSpPr>
        <p:grpSpPr>
          <a:xfrm>
            <a:off x="4051076" y="4380217"/>
            <a:ext cx="457200" cy="457200"/>
            <a:chOff x="1020916" y="1442088"/>
            <a:chExt cx="457200" cy="457200"/>
          </a:xfrm>
        </p:grpSpPr>
        <p:pic>
          <p:nvPicPr>
            <p:cNvPr id="1223" name="Google Shape;122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96"/>
          <p:cNvGrpSpPr/>
          <p:nvPr/>
        </p:nvGrpSpPr>
        <p:grpSpPr>
          <a:xfrm>
            <a:off x="5020165" y="4380217"/>
            <a:ext cx="457200" cy="457200"/>
            <a:chOff x="1020916" y="1442088"/>
            <a:chExt cx="457200" cy="457200"/>
          </a:xfrm>
        </p:grpSpPr>
        <p:pic>
          <p:nvPicPr>
            <p:cNvPr id="1226" name="Google Shape;1226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96"/>
          <p:cNvGrpSpPr/>
          <p:nvPr/>
        </p:nvGrpSpPr>
        <p:grpSpPr>
          <a:xfrm>
            <a:off x="5992935" y="4380217"/>
            <a:ext cx="457200" cy="457200"/>
            <a:chOff x="1020916" y="1442088"/>
            <a:chExt cx="457200" cy="457200"/>
          </a:xfrm>
        </p:grpSpPr>
        <p:pic>
          <p:nvPicPr>
            <p:cNvPr id="1229" name="Google Shape;122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96"/>
          <p:cNvGrpSpPr/>
          <p:nvPr/>
        </p:nvGrpSpPr>
        <p:grpSpPr>
          <a:xfrm>
            <a:off x="6959343" y="4380217"/>
            <a:ext cx="457200" cy="457200"/>
            <a:chOff x="1020916" y="1442088"/>
            <a:chExt cx="457200" cy="457200"/>
          </a:xfrm>
        </p:grpSpPr>
        <p:pic>
          <p:nvPicPr>
            <p:cNvPr id="1232" name="Google Shape;123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k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96"/>
          <p:cNvGrpSpPr/>
          <p:nvPr/>
        </p:nvGrpSpPr>
        <p:grpSpPr>
          <a:xfrm>
            <a:off x="7786947" y="4380217"/>
            <a:ext cx="457200" cy="457200"/>
            <a:chOff x="1020916" y="1442088"/>
            <a:chExt cx="457200" cy="457200"/>
          </a:xfrm>
        </p:grpSpPr>
        <p:pic>
          <p:nvPicPr>
            <p:cNvPr id="1235" name="Google Shape;12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0" name="Shape 1240"/>
        <p:cNvGrpSpPr/>
        <p:nvPr/>
      </p:nvGrpSpPr>
      <p:grpSpPr>
        <a:xfrm>
          <a:off x="0" y="0"/>
          <a:ext cx="0" cy="0"/>
        </a:xfrm>
      </p:grpSpPr>
      <p:sp>
        <p:nvSpPr>
          <p:cNvPr id="1241" name="Google Shape;1241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242" name="Google Shape;1242;p97"/>
          <p:cNvSpPr txBox="1"/>
          <p:nvPr/>
        </p:nvSpPr>
        <p:spPr>
          <a:xfrm>
            <a:off x="324000" y="759300"/>
            <a:ext cx="8496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table with        to show the properties of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3" name="Google Shape;124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27" y="712819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4" name="Google Shape;1244;p97"/>
          <p:cNvGraphicFramePr>
            <a:graphicFrameLocks noGrp="1"/>
          </p:cNvGraphicFramePr>
          <p:nvPr/>
        </p:nvGraphicFramePr>
        <p:xfrm>
          <a:off x="1296525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{65D4EAC6-A3BD-4E46-B0F7-FB511F3641CD}</a:tableStyleId>
              </a:tblPr>
              <a:tblGrid>
                <a:gridCol w="2132850"/>
                <a:gridCol w="2216100"/>
                <a:gridCol w="2234625"/>
              </a:tblGrid>
              <a:tr h="38100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8000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8000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8000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pic>
        <p:nvPicPr>
          <p:cNvPr id="1250" name="Google Shape;125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63" y="1625900"/>
            <a:ext cx="7900273" cy="31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98"/>
          <p:cNvSpPr txBox="1"/>
          <p:nvPr>
            <p:ph type="body" idx="1"/>
          </p:nvPr>
        </p:nvSpPr>
        <p:spPr>
          <a:xfrm>
            <a:off x="2998500" y="20613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A′</a:t>
            </a:r>
            <a:endParaRPr sz="1800"/>
          </a:p>
        </p:txBody>
      </p:sp>
      <p:sp>
        <p:nvSpPr>
          <p:cNvPr id="1252" name="Google Shape;1252;p98"/>
          <p:cNvSpPr txBox="1"/>
          <p:nvPr>
            <p:ph type="body" idx="1"/>
          </p:nvPr>
        </p:nvSpPr>
        <p:spPr>
          <a:xfrm>
            <a:off x="1499250" y="20613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253" name="Google Shape;1253;p98"/>
          <p:cNvSpPr txBox="1"/>
          <p:nvPr>
            <p:ph type="body" idx="1"/>
          </p:nvPr>
        </p:nvSpPr>
        <p:spPr>
          <a:xfrm>
            <a:off x="667975" y="20613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254" name="Google Shape;1254;p98"/>
          <p:cNvSpPr txBox="1"/>
          <p:nvPr>
            <p:ph type="body" idx="1"/>
          </p:nvPr>
        </p:nvSpPr>
        <p:spPr>
          <a:xfrm>
            <a:off x="1730150" y="27241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255" name="Google Shape;1255;p98"/>
          <p:cNvSpPr txBox="1"/>
          <p:nvPr>
            <p:ph type="body" idx="1"/>
          </p:nvPr>
        </p:nvSpPr>
        <p:spPr>
          <a:xfrm>
            <a:off x="667975" y="27241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256" name="Google Shape;1256;p98"/>
          <p:cNvSpPr txBox="1"/>
          <p:nvPr>
            <p:ph type="body" idx="1"/>
          </p:nvPr>
        </p:nvSpPr>
        <p:spPr>
          <a:xfrm>
            <a:off x="3766275" y="2765575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C′</a:t>
            </a:r>
            <a:endParaRPr sz="1800"/>
          </a:p>
        </p:txBody>
      </p:sp>
      <p:sp>
        <p:nvSpPr>
          <p:cNvPr id="1257" name="Google Shape;1257;p98"/>
          <p:cNvSpPr txBox="1"/>
          <p:nvPr>
            <p:ph type="body" idx="1"/>
          </p:nvPr>
        </p:nvSpPr>
        <p:spPr>
          <a:xfrm>
            <a:off x="1499250" y="3752250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1258" name="Google Shape;1258;p98"/>
          <p:cNvSpPr txBox="1"/>
          <p:nvPr>
            <p:ph type="body" idx="1"/>
          </p:nvPr>
        </p:nvSpPr>
        <p:spPr>
          <a:xfrm>
            <a:off x="425507" y="3752255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259" name="Google Shape;1259;p98"/>
          <p:cNvSpPr txBox="1"/>
          <p:nvPr>
            <p:ph type="body" idx="1"/>
          </p:nvPr>
        </p:nvSpPr>
        <p:spPr>
          <a:xfrm>
            <a:off x="1753250" y="45194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H</a:t>
            </a:r>
            <a:endParaRPr sz="1800"/>
          </a:p>
        </p:txBody>
      </p:sp>
      <p:sp>
        <p:nvSpPr>
          <p:cNvPr id="1260" name="Google Shape;1260;p98"/>
          <p:cNvSpPr txBox="1"/>
          <p:nvPr>
            <p:ph type="body" idx="1"/>
          </p:nvPr>
        </p:nvSpPr>
        <p:spPr>
          <a:xfrm>
            <a:off x="667975" y="45194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261" name="Google Shape;1261;p98"/>
          <p:cNvSpPr txBox="1"/>
          <p:nvPr>
            <p:ph type="body" idx="1"/>
          </p:nvPr>
        </p:nvSpPr>
        <p:spPr>
          <a:xfrm>
            <a:off x="4054900" y="37873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F′</a:t>
            </a:r>
            <a:endParaRPr sz="1800"/>
          </a:p>
        </p:txBody>
      </p:sp>
      <p:sp>
        <p:nvSpPr>
          <p:cNvPr id="1262" name="Google Shape;1262;p98"/>
          <p:cNvSpPr txBox="1"/>
          <p:nvPr>
            <p:ph type="body" idx="1"/>
          </p:nvPr>
        </p:nvSpPr>
        <p:spPr>
          <a:xfrm>
            <a:off x="5690245" y="1730139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I</a:t>
            </a:r>
            <a:endParaRPr sz="1800"/>
          </a:p>
        </p:txBody>
      </p:sp>
      <p:sp>
        <p:nvSpPr>
          <p:cNvPr id="1263" name="Google Shape;1263;p98"/>
          <p:cNvSpPr txBox="1"/>
          <p:nvPr>
            <p:ph type="body" idx="1"/>
          </p:nvPr>
        </p:nvSpPr>
        <p:spPr>
          <a:xfrm>
            <a:off x="5026370" y="2143800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J</a:t>
            </a:r>
            <a:endParaRPr sz="1800"/>
          </a:p>
        </p:txBody>
      </p:sp>
      <p:sp>
        <p:nvSpPr>
          <p:cNvPr id="1264" name="Google Shape;1264;p98"/>
          <p:cNvSpPr txBox="1"/>
          <p:nvPr>
            <p:ph type="body" idx="1"/>
          </p:nvPr>
        </p:nvSpPr>
        <p:spPr>
          <a:xfrm>
            <a:off x="5690245" y="2812280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K</a:t>
            </a:r>
            <a:endParaRPr sz="1800"/>
          </a:p>
        </p:txBody>
      </p:sp>
      <p:sp>
        <p:nvSpPr>
          <p:cNvPr id="1265" name="Google Shape;1265;p98"/>
          <p:cNvSpPr txBox="1"/>
          <p:nvPr>
            <p:ph type="body" idx="1"/>
          </p:nvPr>
        </p:nvSpPr>
        <p:spPr>
          <a:xfrm>
            <a:off x="6382974" y="2143800"/>
            <a:ext cx="255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L</a:t>
            </a:r>
            <a:endParaRPr sz="1800"/>
          </a:p>
        </p:txBody>
      </p:sp>
      <p:sp>
        <p:nvSpPr>
          <p:cNvPr id="1266" name="Google Shape;1266;p98"/>
          <p:cNvSpPr txBox="1"/>
          <p:nvPr>
            <p:ph type="body" idx="1"/>
          </p:nvPr>
        </p:nvSpPr>
        <p:spPr>
          <a:xfrm>
            <a:off x="4991725" y="413520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J′</a:t>
            </a:r>
            <a:endParaRPr sz="1800"/>
          </a:p>
        </p:txBody>
      </p:sp>
      <p:sp>
        <p:nvSpPr>
          <p:cNvPr id="1267" name="Google Shape;1267;p98"/>
          <p:cNvSpPr txBox="1"/>
          <p:nvPr>
            <p:ph type="body" idx="1"/>
          </p:nvPr>
        </p:nvSpPr>
        <p:spPr>
          <a:xfrm>
            <a:off x="7308295" y="16259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1268" name="Google Shape;1268;p98"/>
          <p:cNvSpPr txBox="1"/>
          <p:nvPr>
            <p:ph type="body" idx="1"/>
          </p:nvPr>
        </p:nvSpPr>
        <p:spPr>
          <a:xfrm>
            <a:off x="7544995" y="21438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1269" name="Google Shape;1269;p98"/>
          <p:cNvSpPr txBox="1"/>
          <p:nvPr>
            <p:ph type="body" idx="1"/>
          </p:nvPr>
        </p:nvSpPr>
        <p:spPr>
          <a:xfrm>
            <a:off x="7308295" y="26617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270" name="Google Shape;1270;p98"/>
          <p:cNvSpPr txBox="1"/>
          <p:nvPr>
            <p:ph type="body" idx="1"/>
          </p:nvPr>
        </p:nvSpPr>
        <p:spPr>
          <a:xfrm>
            <a:off x="8353170" y="2143805"/>
            <a:ext cx="30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P</a:t>
            </a:r>
            <a:endParaRPr sz="1800"/>
          </a:p>
        </p:txBody>
      </p:sp>
      <p:sp>
        <p:nvSpPr>
          <p:cNvPr id="1271" name="Google Shape;1271;p98"/>
          <p:cNvSpPr txBox="1"/>
          <p:nvPr>
            <p:ph type="body" idx="1"/>
          </p:nvPr>
        </p:nvSpPr>
        <p:spPr>
          <a:xfrm>
            <a:off x="8306966" y="3852350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/>
              <a:t>P′</a:t>
            </a:r>
            <a:endParaRPr sz="1800"/>
          </a:p>
        </p:txBody>
      </p:sp>
      <p:sp>
        <p:nvSpPr>
          <p:cNvPr id="1272" name="Google Shape;1272;p98"/>
          <p:cNvSpPr txBox="1"/>
          <p:nvPr>
            <p:ph type="body" idx="1"/>
          </p:nvPr>
        </p:nvSpPr>
        <p:spPr>
          <a:xfrm>
            <a:off x="3795125" y="2058463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3" name="Google Shape;1273;p98"/>
          <p:cNvSpPr txBox="1"/>
          <p:nvPr>
            <p:ph type="body" idx="1"/>
          </p:nvPr>
        </p:nvSpPr>
        <p:spPr>
          <a:xfrm>
            <a:off x="2655450" y="272413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4" name="Google Shape;1274;p98"/>
          <p:cNvSpPr txBox="1"/>
          <p:nvPr>
            <p:ph type="body" idx="1"/>
          </p:nvPr>
        </p:nvSpPr>
        <p:spPr>
          <a:xfrm>
            <a:off x="324000" y="614579"/>
            <a:ext cx="8237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/>
              <a:t>1) Each object has been </a:t>
            </a:r>
            <a:r>
              <a:rPr lang="en-GB" b="1"/>
              <a:t>reflected</a:t>
            </a:r>
            <a:r>
              <a:rPr lang="en-GB"/>
              <a:t>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Complete the labelling of the vertices of each image.</a:t>
            </a:r>
            <a:endParaRPr/>
          </a:p>
        </p:txBody>
      </p:sp>
      <p:sp>
        <p:nvSpPr>
          <p:cNvPr id="1275" name="Google Shape;1275;p98"/>
          <p:cNvSpPr txBox="1"/>
          <p:nvPr>
            <p:ph type="body" idx="1"/>
          </p:nvPr>
        </p:nvSpPr>
        <p:spPr>
          <a:xfrm>
            <a:off x="3059550" y="372858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6" name="Google Shape;1276;p98"/>
          <p:cNvSpPr txBox="1"/>
          <p:nvPr>
            <p:ph type="body" idx="1"/>
          </p:nvPr>
        </p:nvSpPr>
        <p:spPr>
          <a:xfrm>
            <a:off x="3795125" y="447238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7" name="Google Shape;1277;p98"/>
          <p:cNvSpPr txBox="1"/>
          <p:nvPr>
            <p:ph type="body" idx="1"/>
          </p:nvPr>
        </p:nvSpPr>
        <p:spPr>
          <a:xfrm>
            <a:off x="2648541" y="449548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98"/>
          <p:cNvSpPr txBox="1"/>
          <p:nvPr>
            <p:ph type="body" idx="1"/>
          </p:nvPr>
        </p:nvSpPr>
        <p:spPr>
          <a:xfrm>
            <a:off x="5655591" y="4593613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98"/>
          <p:cNvSpPr txBox="1"/>
          <p:nvPr>
            <p:ph type="body" idx="1"/>
          </p:nvPr>
        </p:nvSpPr>
        <p:spPr>
          <a:xfrm>
            <a:off x="5655591" y="343812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K′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98"/>
          <p:cNvSpPr txBox="1"/>
          <p:nvPr>
            <p:ph type="body" idx="1"/>
          </p:nvPr>
        </p:nvSpPr>
        <p:spPr>
          <a:xfrm>
            <a:off x="6348316" y="4135203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1" name="Google Shape;1281;p98"/>
          <p:cNvSpPr txBox="1"/>
          <p:nvPr>
            <p:ph type="body" idx="1"/>
          </p:nvPr>
        </p:nvSpPr>
        <p:spPr>
          <a:xfrm>
            <a:off x="7238991" y="440212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2" name="Google Shape;1282;p98"/>
          <p:cNvSpPr txBox="1"/>
          <p:nvPr>
            <p:ph type="body" idx="1"/>
          </p:nvPr>
        </p:nvSpPr>
        <p:spPr>
          <a:xfrm>
            <a:off x="7510341" y="3882578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8"/>
          <p:cNvSpPr txBox="1"/>
          <p:nvPr>
            <p:ph type="body" idx="1"/>
          </p:nvPr>
        </p:nvSpPr>
        <p:spPr>
          <a:xfrm>
            <a:off x="7238991" y="3305303"/>
            <a:ext cx="3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7" name="Shape 1287"/>
        <p:cNvGrpSpPr/>
        <p:nvPr/>
      </p:nvGrpSpPr>
      <p:grpSpPr>
        <a:xfrm>
          <a:off x="0" y="0"/>
          <a:ext cx="0" cy="0"/>
        </a:xfrm>
      </p:grpSpPr>
      <p:pic>
        <p:nvPicPr>
          <p:cNvPr id="1288" name="Google Shape;1288;p99"/>
          <p:cNvPicPr preferRelativeResize="0"/>
          <p:nvPr/>
        </p:nvPicPr>
        <p:blipFill>
          <a:blip r:embed="rId3">
            <a:alphaModFix/>
          </a:blip>
          <a:srcRect b="58812"/>
          <a:stretch>
            <a:fillRect/>
          </a:stretch>
        </p:blipFill>
        <p:spPr>
          <a:xfrm>
            <a:off x="1805150" y="2084475"/>
            <a:ext cx="6620175" cy="112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99"/>
          <p:cNvPicPr preferRelativeResize="0"/>
          <p:nvPr/>
        </p:nvPicPr>
        <p:blipFill>
          <a:blip r:embed="rId3">
            <a:alphaModFix/>
          </a:blip>
          <a:srcRect t="62775"/>
          <a:stretch>
            <a:fillRect/>
          </a:stretch>
        </p:blipFill>
        <p:spPr>
          <a:xfrm>
            <a:off x="1805150" y="3366392"/>
            <a:ext cx="6620175" cy="101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291" name="Google Shape;1291;p99"/>
          <p:cNvSpPr txBox="1"/>
          <p:nvPr>
            <p:ph type="body" idx="1"/>
          </p:nvPr>
        </p:nvSpPr>
        <p:spPr>
          <a:xfrm>
            <a:off x="677450" y="2320691"/>
            <a:ext cx="11277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objects </a:t>
            </a:r>
            <a:endParaRPr/>
          </a:p>
        </p:txBody>
      </p:sp>
      <p:sp>
        <p:nvSpPr>
          <p:cNvPr id="1292" name="Google Shape;1292;p99"/>
          <p:cNvSpPr txBox="1"/>
          <p:nvPr>
            <p:ph type="body" idx="1"/>
          </p:nvPr>
        </p:nvSpPr>
        <p:spPr>
          <a:xfrm>
            <a:off x="677450" y="3840213"/>
            <a:ext cx="11277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images</a:t>
            </a:r>
            <a:endParaRPr/>
          </a:p>
        </p:txBody>
      </p:sp>
      <p:grpSp>
        <p:nvGrpSpPr>
          <p:cNvPr id="1293" name="Google Shape;1293;p99"/>
          <p:cNvGrpSpPr/>
          <p:nvPr/>
        </p:nvGrpSpPr>
        <p:grpSpPr>
          <a:xfrm>
            <a:off x="1972777" y="4380217"/>
            <a:ext cx="457200" cy="457200"/>
            <a:chOff x="1020916" y="1442088"/>
            <a:chExt cx="457200" cy="457200"/>
          </a:xfrm>
        </p:grpSpPr>
        <p:pic>
          <p:nvPicPr>
            <p:cNvPr id="1294" name="Google Shape;129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5" name="Google Shape;129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6" name="Google Shape;1296;p99"/>
          <p:cNvGrpSpPr/>
          <p:nvPr/>
        </p:nvGrpSpPr>
        <p:grpSpPr>
          <a:xfrm>
            <a:off x="2945062" y="4380217"/>
            <a:ext cx="457200" cy="457200"/>
            <a:chOff x="1020916" y="1442088"/>
            <a:chExt cx="457200" cy="457200"/>
          </a:xfrm>
        </p:grpSpPr>
        <p:pic>
          <p:nvPicPr>
            <p:cNvPr id="1297" name="Google Shape;129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99"/>
          <p:cNvGrpSpPr/>
          <p:nvPr/>
        </p:nvGrpSpPr>
        <p:grpSpPr>
          <a:xfrm>
            <a:off x="4051076" y="4380217"/>
            <a:ext cx="457200" cy="457200"/>
            <a:chOff x="1020916" y="1442088"/>
            <a:chExt cx="457200" cy="457200"/>
          </a:xfrm>
        </p:grpSpPr>
        <p:pic>
          <p:nvPicPr>
            <p:cNvPr id="1300" name="Google Shape;130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99"/>
          <p:cNvGrpSpPr/>
          <p:nvPr/>
        </p:nvGrpSpPr>
        <p:grpSpPr>
          <a:xfrm>
            <a:off x="5020165" y="4380217"/>
            <a:ext cx="457200" cy="457200"/>
            <a:chOff x="1020916" y="1442088"/>
            <a:chExt cx="457200" cy="457200"/>
          </a:xfrm>
        </p:grpSpPr>
        <p:pic>
          <p:nvPicPr>
            <p:cNvPr id="1303" name="Google Shape;130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99"/>
          <p:cNvGrpSpPr/>
          <p:nvPr/>
        </p:nvGrpSpPr>
        <p:grpSpPr>
          <a:xfrm>
            <a:off x="5992935" y="4380217"/>
            <a:ext cx="457200" cy="457200"/>
            <a:chOff x="1020916" y="1442088"/>
            <a:chExt cx="457200" cy="457200"/>
          </a:xfrm>
        </p:grpSpPr>
        <p:pic>
          <p:nvPicPr>
            <p:cNvPr id="1306" name="Google Shape;13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99"/>
          <p:cNvGrpSpPr/>
          <p:nvPr/>
        </p:nvGrpSpPr>
        <p:grpSpPr>
          <a:xfrm>
            <a:off x="6959343" y="4380217"/>
            <a:ext cx="457200" cy="457200"/>
            <a:chOff x="1020916" y="1442088"/>
            <a:chExt cx="457200" cy="457200"/>
          </a:xfrm>
        </p:grpSpPr>
        <p:pic>
          <p:nvPicPr>
            <p:cNvPr id="1309" name="Google Shape;13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k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1" name="Google Shape;1311;p99"/>
          <p:cNvGrpSpPr/>
          <p:nvPr/>
        </p:nvGrpSpPr>
        <p:grpSpPr>
          <a:xfrm>
            <a:off x="7786947" y="4380217"/>
            <a:ext cx="457200" cy="457200"/>
            <a:chOff x="1020916" y="1442088"/>
            <a:chExt cx="457200" cy="457200"/>
          </a:xfrm>
        </p:grpSpPr>
        <p:pic>
          <p:nvPicPr>
            <p:cNvPr id="1312" name="Google Shape;13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14" name="Google Shape;1314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1200" y="33895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7550" y="33895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9"/>
          <p:cNvSpPr txBox="1"/>
          <p:nvPr>
            <p:ph type="body" idx="1"/>
          </p:nvPr>
        </p:nvSpPr>
        <p:spPr>
          <a:xfrm>
            <a:off x="324000" y="766979"/>
            <a:ext cx="8237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None/>
            </a:pPr>
            <a:r>
              <a:rPr lang="en-GB"/>
              <a:t>2) Match the objects to their </a:t>
            </a:r>
            <a:r>
              <a:rPr lang="en-GB" b="1"/>
              <a:t>reflections</a:t>
            </a:r>
            <a:r>
              <a:rPr lang="en-GB"/>
              <a:t>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There are two images that do not pair with an object.</a:t>
            </a:r>
            <a:endParaRPr/>
          </a:p>
        </p:txBody>
      </p:sp>
      <p:grpSp>
        <p:nvGrpSpPr>
          <p:cNvPr id="1317" name="Google Shape;1317;p99"/>
          <p:cNvGrpSpPr/>
          <p:nvPr/>
        </p:nvGrpSpPr>
        <p:grpSpPr>
          <a:xfrm>
            <a:off x="2390878" y="1627269"/>
            <a:ext cx="457200" cy="457200"/>
            <a:chOff x="1020916" y="1442088"/>
            <a:chExt cx="457200" cy="457200"/>
          </a:xfrm>
        </p:grpSpPr>
        <p:pic>
          <p:nvPicPr>
            <p:cNvPr id="1318" name="Google Shape;131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99"/>
          <p:cNvGrpSpPr/>
          <p:nvPr/>
        </p:nvGrpSpPr>
        <p:grpSpPr>
          <a:xfrm>
            <a:off x="3635645" y="1627269"/>
            <a:ext cx="457200" cy="457200"/>
            <a:chOff x="1020916" y="1442088"/>
            <a:chExt cx="457200" cy="457200"/>
          </a:xfrm>
        </p:grpSpPr>
        <p:pic>
          <p:nvPicPr>
            <p:cNvPr id="1321" name="Google Shape;132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99"/>
          <p:cNvGrpSpPr/>
          <p:nvPr/>
        </p:nvGrpSpPr>
        <p:grpSpPr>
          <a:xfrm>
            <a:off x="4744718" y="1627269"/>
            <a:ext cx="457200" cy="457200"/>
            <a:chOff x="1020916" y="1442088"/>
            <a:chExt cx="457200" cy="457200"/>
          </a:xfrm>
        </p:grpSpPr>
        <p:pic>
          <p:nvPicPr>
            <p:cNvPr id="1324" name="Google Shape;132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99"/>
          <p:cNvGrpSpPr/>
          <p:nvPr/>
        </p:nvGrpSpPr>
        <p:grpSpPr>
          <a:xfrm>
            <a:off x="5991663" y="1627269"/>
            <a:ext cx="457200" cy="457200"/>
            <a:chOff x="1020916" y="1442088"/>
            <a:chExt cx="457200" cy="457200"/>
          </a:xfrm>
        </p:grpSpPr>
        <p:pic>
          <p:nvPicPr>
            <p:cNvPr id="1327" name="Google Shape;132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9" name="Google Shape;1329;p99"/>
          <p:cNvGrpSpPr/>
          <p:nvPr/>
        </p:nvGrpSpPr>
        <p:grpSpPr>
          <a:xfrm>
            <a:off x="7380887" y="1627269"/>
            <a:ext cx="457200" cy="457200"/>
            <a:chOff x="1020916" y="1442088"/>
            <a:chExt cx="457200" cy="457200"/>
          </a:xfrm>
        </p:grpSpPr>
        <p:pic>
          <p:nvPicPr>
            <p:cNvPr id="1330" name="Google Shape;133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1" name="Google Shape;133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2" name="Google Shape;1332;p99"/>
          <p:cNvSpPr txBox="1"/>
          <p:nvPr/>
        </p:nvSpPr>
        <p:spPr>
          <a:xfrm>
            <a:off x="1972775" y="3058325"/>
            <a:ext cx="306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3" name="Google Shape;1333;p99"/>
          <p:cNvSpPr txBox="1"/>
          <p:nvPr/>
        </p:nvSpPr>
        <p:spPr>
          <a:xfrm>
            <a:off x="3020200" y="3602151"/>
            <a:ext cx="306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4" name="Google Shape;1334;p99"/>
          <p:cNvSpPr txBox="1"/>
          <p:nvPr/>
        </p:nvSpPr>
        <p:spPr>
          <a:xfrm>
            <a:off x="3820375" y="3055125"/>
            <a:ext cx="306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5" name="Google Shape;1335;p99"/>
          <p:cNvSpPr txBox="1"/>
          <p:nvPr/>
        </p:nvSpPr>
        <p:spPr>
          <a:xfrm>
            <a:off x="5798043" y="3570356"/>
            <a:ext cx="306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6" name="Google Shape;1336;p99"/>
          <p:cNvSpPr txBox="1"/>
          <p:nvPr/>
        </p:nvSpPr>
        <p:spPr>
          <a:xfrm>
            <a:off x="6869450" y="3047381"/>
            <a:ext cx="306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0" name="Shape 1340"/>
        <p:cNvGrpSpPr/>
        <p:nvPr/>
      </p:nvGrpSpPr>
      <p:grpSpPr>
        <a:xfrm>
          <a:off x="0" y="0"/>
          <a:ext cx="0" cy="0"/>
        </a:xfrm>
      </p:grpSpPr>
      <p:sp>
        <p:nvSpPr>
          <p:cNvPr id="1341" name="Google Shape;1341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Understanding properties of reflection</a:t>
            </a:r>
            <a:endParaRPr/>
          </a:p>
        </p:txBody>
      </p:sp>
      <p:sp>
        <p:nvSpPr>
          <p:cNvPr id="1342" name="Google Shape;1342;p100"/>
          <p:cNvSpPr txBox="1"/>
          <p:nvPr/>
        </p:nvSpPr>
        <p:spPr>
          <a:xfrm>
            <a:off x="324000" y="759300"/>
            <a:ext cx="8496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table with        to show the properties of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20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3" name="Google Shape;134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27" y="71281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550" y="2160001"/>
            <a:ext cx="334900" cy="3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550" y="2590176"/>
            <a:ext cx="334900" cy="3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649" y="3062763"/>
            <a:ext cx="334900" cy="3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649" y="3514176"/>
            <a:ext cx="334900" cy="3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649" y="3965563"/>
            <a:ext cx="334900" cy="354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9" name="Google Shape;1349;p100"/>
          <p:cNvGraphicFramePr>
            <a:graphicFrameLocks noGrp="1"/>
          </p:cNvGraphicFramePr>
          <p:nvPr/>
        </p:nvGraphicFramePr>
        <p:xfrm>
          <a:off x="1296525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{65D4EAC6-A3BD-4E46-B0F7-FB511F3641CD}</a:tableStyleId>
              </a:tblPr>
              <a:tblGrid>
                <a:gridCol w="2132850"/>
                <a:gridCol w="2216100"/>
                <a:gridCol w="2234625"/>
              </a:tblGrid>
              <a:tr h="38100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8000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8000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18000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3" name="Shape 1353"/>
        <p:cNvGrpSpPr/>
        <p:nvPr/>
      </p:nvGrpSpPr>
      <p:grpSpPr>
        <a:xfrm>
          <a:off x="0" y="0"/>
          <a:ext cx="0" cy="0"/>
        </a:xfrm>
      </p:grpSpPr>
      <p:sp>
        <p:nvSpPr>
          <p:cNvPr id="1354" name="Google Shape;1354;p101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readability of words after a </a:t>
            </a:r>
            <a:r>
              <a:rPr lang="en-GB" b="1"/>
              <a:t>reflection</a:t>
            </a:r>
            <a:r>
              <a:rPr lang="en-GB"/>
              <a:t> has occurred can be helpful in understanding the meaning and implication of </a:t>
            </a:r>
            <a:r>
              <a:rPr lang="en-GB" b="1"/>
              <a:t>sense</a:t>
            </a:r>
            <a:r>
              <a:rPr lang="en-GB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b="1"/>
              <a:t>Sense</a:t>
            </a:r>
            <a:r>
              <a:rPr lang="en-GB"/>
              <a:t> always changes when an object has been </a:t>
            </a:r>
            <a:r>
              <a:rPr lang="en-GB" b="1"/>
              <a:t>reflected</a:t>
            </a:r>
            <a:r>
              <a:rPr lang="en-GB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Understanding the properties of </a:t>
            </a:r>
            <a:r>
              <a:rPr lang="en-GB" b="1"/>
              <a:t>reflection</a:t>
            </a:r>
            <a:r>
              <a:rPr lang="en-GB"/>
              <a:t> is important in distinguishing between </a:t>
            </a:r>
            <a:r>
              <a:rPr lang="en-GB" b="1"/>
              <a:t>reflections</a:t>
            </a:r>
            <a:r>
              <a:rPr lang="en-GB"/>
              <a:t> and non-</a:t>
            </a:r>
            <a:r>
              <a:rPr lang="en-GB" b="1"/>
              <a:t>reflections</a:t>
            </a:r>
            <a:r>
              <a:rPr lang="en-GB"/>
              <a:t>. </a:t>
            </a:r>
            <a:endParaRPr/>
          </a:p>
        </p:txBody>
      </p:sp>
      <p:sp>
        <p:nvSpPr>
          <p:cNvPr id="1355" name="Google Shape;1355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reflections</a:t>
            </a:r>
            <a:endParaRPr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9" name="Shape 1359"/>
        <p:cNvGrpSpPr/>
        <p:nvPr/>
      </p:nvGrpSpPr>
      <p:grpSpPr>
        <a:xfrm>
          <a:off x="0" y="0"/>
          <a:ext cx="0" cy="0"/>
        </a:xfrm>
      </p:grpSpPr>
      <p:sp>
        <p:nvSpPr>
          <p:cNvPr id="1360" name="Google Shape;1360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1" name="Google Shape;1361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275</Paragraphs>
  <Slides>35</Slides>
  <Notes>35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baseType="lpstr" size="44">
      <vt:lpstr>Arial</vt:lpstr>
      <vt:lpstr>Lexend</vt:lpstr>
      <vt:lpstr>Lexend Medium</vt:lpstr>
      <vt:lpstr>Kalam</vt:lpstr>
      <vt:lpstr>Lexend Light</vt:lpstr>
      <vt:lpstr>Calibri</vt:lpstr>
      <vt:lpstr>ABeeZee</vt:lpstr>
      <vt:lpstr>Lobster</vt:lpstr>
      <vt:lpstr>simple-light-2</vt:lpstr>
      <vt:lpstr>Introduction to reflections</vt:lpstr>
      <vt:lpstr>PowerPoint Presentation</vt:lpstr>
      <vt:lpstr>PowerPoint Presentation</vt:lpstr>
      <vt:lpstr>PowerPoint Presentation</vt:lpstr>
      <vt:lpstr>Understanding properties of reflection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Understanding transformations and sense</vt:lpstr>
      <vt:lpstr>PowerPoint Presentation</vt:lpstr>
      <vt:lpstr>PowerPoint Presentation</vt:lpstr>
      <vt:lpstr>PowerPoint Presentation</vt:lpstr>
      <vt:lpstr>PowerPoint Presentation</vt:lpstr>
      <vt:lpstr>Understanding properties of reflection</vt:lpstr>
      <vt:lpstr>Understanding properties of reflection</vt:lpstr>
      <vt:lpstr>Understanding properties of reflection</vt:lpstr>
      <vt:lpstr>Understanding properties of reflection</vt:lpstr>
      <vt:lpstr>Understanding properties of reflection</vt:lpstr>
      <vt:lpstr>Understanding properties of reflection</vt:lpstr>
      <vt:lpstr>Understanding properties of reflection</vt:lpstr>
      <vt:lpstr>Understanding properties of reflection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reflections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2023-11-02T14:22:10.535</cp:lastPrinted>
  <dcterms:created xsi:type="dcterms:W3CDTF">2023-11-02T14:22:10Z</dcterms:created>
  <dcterms:modified xsi:type="dcterms:W3CDTF">2023-11-02T14:22:25Z</dcterms:modified>
</cp:coreProperties>
</file>