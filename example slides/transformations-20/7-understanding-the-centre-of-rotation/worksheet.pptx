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3.10-->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 id="258" r:id="rId6"/>
    <p:sldId id="259" r:id="rId7"/>
  </p:sldIdLst>
  <p:sldSz cx="7560000" cy="10692000"/>
  <p:notesSz cx="6858000" cy="9144000"/>
  <p:embeddedFontLst>
    <p:embeddedFont>
      <p:font typeface="Lexend" panose="00000000000000000000"/>
      <p:regular r:id="rId9"/>
    </p:embeddedFont>
    <p:embeddedFont>
      <p:font typeface="Kalam" panose="02000000000000000000"/>
      <p:regular r:id="rId10"/>
    </p:embeddedFont>
    <p:embeddedFont>
      <p:font typeface="Lexend Medium" panose="00000000000000000000"/>
      <p:regular r:id="rId11"/>
    </p:embeddedFont>
    <p:embeddedFont>
      <p:font typeface="Lexend Light" panose="00000000000000000000"/>
      <p:regular r:id="rId12"/>
    </p:embeddedFont>
  </p:embeddedFontLst>
  <p:custDataLst>
    <p:tags r:id="rId8"/>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2.fntdata" /><Relationship Id="rId11" Type="http://schemas.openxmlformats.org/officeDocument/2006/relationships/font" Target="fonts/font3.fntdata" /><Relationship Id="rId12" Type="http://schemas.openxmlformats.org/officeDocument/2006/relationships/font" Target="fonts/font4.fntdata" /><Relationship Id="rId13" Type="http://schemas.openxmlformats.org/officeDocument/2006/relationships/presProps" Target="presProps.xml" /><Relationship Id="rId14" Type="http://schemas.openxmlformats.org/officeDocument/2006/relationships/viewProps" Target="viewProps.xml" /><Relationship Id="rId15" Type="http://schemas.openxmlformats.org/officeDocument/2006/relationships/theme" Target="theme/theme1.xml" /><Relationship Id="rId16"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tags" Target="tags/tag1.xml" /><Relationship Id="rId9" Type="http://schemas.openxmlformats.org/officeDocument/2006/relationships/font" Target="fonts/font1.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7" name="Shape 157"/>
        <p:cNvGrpSpPr/>
        <p:nvPr/>
      </p:nvGrpSpPr>
      <p:grpSpPr>
        <a:xfrm>
          <a:off x="0" y="0"/>
          <a:ext cx="0" cy="0"/>
        </a:xfrm>
      </p:grpSpPr>
      <p:sp>
        <p:nvSpPr>
          <p:cNvPr id="158" name="Google Shape;158;g27996905f60_0_125: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59" name="Google Shape;159;g27996905f60_0_1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76" name="Shape 176"/>
        <p:cNvGrpSpPr/>
        <p:nvPr/>
      </p:nvGrpSpPr>
      <p:grpSpPr>
        <a:xfrm>
          <a:off x="0" y="0"/>
          <a:ext cx="0" cy="0"/>
        </a:xfrm>
      </p:grpSpPr>
      <p:sp>
        <p:nvSpPr>
          <p:cNvPr id="177" name="Google Shape;177;g29020d57a56_0_0: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78" name="Google Shape;178;g29020d57a56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93" name="Shape 193"/>
        <p:cNvGrpSpPr/>
        <p:nvPr/>
      </p:nvGrpSpPr>
      <p:grpSpPr>
        <a:xfrm>
          <a:off x="0" y="0"/>
          <a:ext cx="0" cy="0"/>
        </a:xfrm>
      </p:grpSpPr>
      <p:sp>
        <p:nvSpPr>
          <p:cNvPr id="194" name="Google Shape;194;g29020d57a56_0_4: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95" name="Google Shape;195;g29020d57a56_0_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13" name="Shape 213"/>
        <p:cNvGrpSpPr/>
        <p:nvPr/>
      </p:nvGrpSpPr>
      <p:grpSpPr>
        <a:xfrm>
          <a:off x="0" y="0"/>
          <a:ext cx="0" cy="0"/>
        </a:xfrm>
      </p:grpSpPr>
      <p:sp>
        <p:nvSpPr>
          <p:cNvPr id="214" name="Google Shape;214;g27996905f60_0_130: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15" name="Google Shape;215;g27996905f60_0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3.png" /><Relationship Id="rId3" Type="http://schemas.openxmlformats.org/officeDocument/2006/relationships/image" Target="../media/image4.png" /><Relationship Id="rId4"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hyperlink" Target="https://www.nationalarchives.gov.uk/doc/open-government-licence/version/3/" TargetMode="External" /><Relationship Id="rId3" Type="http://schemas.openxmlformats.org/officeDocument/2006/relationships/hyperlink" Target="https://www.thenational.academy/legal/terms-and-conditions" TargetMode="External" /><Relationship Id="rId4"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hyperlink" Target="https://www.nationalarchives.gov.uk/doc/open-government-licence/version/3/" TargetMode="External" /><Relationship Id="rId3" Type="http://schemas.openxmlformats.org/officeDocument/2006/relationships/hyperlink" Target="https://www.thenational.academy/legal/terms-and-conditions" TargetMode="External" /><Relationship Id="rId4"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COL 1">
  <p:cSld name="SECTION_HEADER_1_1_1_1_1_1_1_1_1">
    <p:spTree>
      <p:nvGrpSpPr>
        <p:cNvPr id="9" name="Shape 9"/>
        <p:cNvGrpSpPr/>
        <p:nvPr/>
      </p:nvGrpSpPr>
      <p:grpSpPr>
        <a:xfrm>
          <a:off x="0" y="0"/>
          <a:ext cx="0" cy="0"/>
        </a:xfrm>
      </p:grpSpPr>
      <p:sp>
        <p:nvSpPr>
          <p:cNvPr id="10" name="Google Shape;10;p2"/>
          <p:cNvSpPr txBox="1"/>
          <p:nvPr>
            <p:ph type="title"/>
          </p:nvPr>
        </p:nvSpPr>
        <p:spPr>
          <a:xfrm>
            <a:off x="468000" y="266700"/>
            <a:ext cx="6624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14" name="Google Shape;14;p2"/>
          <p:cNvGrpSpPr/>
          <p:nvPr/>
        </p:nvGrpSpPr>
        <p:grpSpPr>
          <a:xfrm>
            <a:off x="466900" y="962525"/>
            <a:ext cx="2953057" cy="162000"/>
            <a:chOff x="466900" y="962525"/>
            <a:chExt cx="2953057" cy="162000"/>
          </a:xfrm>
        </p:grpSpPr>
        <p:sp>
          <p:nvSpPr>
            <p:cNvPr id="15" name="Google Shape;15;p2"/>
            <p:cNvSpPr txBox="1"/>
            <p:nvPr/>
          </p:nvSpPr>
          <p:spPr>
            <a:xfrm>
              <a:off x="466900" y="962525"/>
              <a:ext cx="2953057"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16" name="Google Shape;16;p2"/>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transition/>
  <p:timing/>
  <p:extLst>
    <p:ext uri="{DCECCB84-F9BA-43D5-87BE-67443E8EF086}">
      <p15:sldGuideLst xmlns:p15="http://schemas.microsoft.com/office/powerpoint/2012/main">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COL 1 1">
  <p:cSld name="SECTION_HEADER_1_1_1_1_1_1_1_1_1_3">
    <p:spTree>
      <p:nvGrpSpPr>
        <p:cNvPr id="17" name="Shape 17"/>
        <p:cNvGrpSpPr/>
        <p:nvPr/>
      </p:nvGrpSpPr>
      <p:grpSpPr>
        <a:xfrm>
          <a:off x="0" y="0"/>
          <a:ext cx="0" cy="0"/>
        </a:xfrm>
      </p:grpSpPr>
      <p:sp>
        <p:nvSpPr>
          <p:cNvPr id="18" name="Google Shape;18;p3"/>
          <p:cNvSpPr txBox="1"/>
          <p:nvPr>
            <p:ph type="title"/>
          </p:nvPr>
        </p:nvSpPr>
        <p:spPr>
          <a:xfrm>
            <a:off x="468000" y="266700"/>
            <a:ext cx="6624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9" name="Google Shape;19;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5" name="Google Shape;25;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6" name="Google Shape;26;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7" name="Google Shape;27;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8" name="Google Shape;28;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9" name="Google Shape;29;p3"/>
          <p:cNvGrpSpPr/>
          <p:nvPr/>
        </p:nvGrpSpPr>
        <p:grpSpPr>
          <a:xfrm>
            <a:off x="466900" y="962525"/>
            <a:ext cx="2953200" cy="162000"/>
            <a:chOff x="466900" y="962525"/>
            <a:chExt cx="2953200" cy="162000"/>
          </a:xfrm>
        </p:grpSpPr>
        <p:sp>
          <p:nvSpPr>
            <p:cNvPr id="30" name="Google Shape;30;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31" name="Google Shape;31;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sp>
        <p:nvSpPr>
          <p:cNvPr id="32" name="Google Shape;32;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3" name="Shape 33"/>
        <p:cNvGrpSpPr/>
        <p:nvPr/>
      </p:nvGrpSpPr>
      <p:grpSpPr>
        <a:xfrm>
          <a:off x="0" y="0"/>
          <a:ext cx="0" cy="0"/>
        </a:xfrm>
      </p:grpSpPr>
      <p:sp>
        <p:nvSpPr>
          <p:cNvPr id="34" name="Google Shape;34;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6" name="Google Shape;36;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7" name="Google Shape;37;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8" name="Google Shape;38;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9" name="Shape 39"/>
        <p:cNvGrpSpPr/>
        <p:nvPr/>
      </p:nvGrpSpPr>
      <p:grpSpPr>
        <a:xfrm>
          <a:off x="0" y="0"/>
          <a:ext cx="0" cy="0"/>
        </a:xfrm>
      </p:grpSpPr>
      <p:sp>
        <p:nvSpPr>
          <p:cNvPr id="40" name="Google Shape;40;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3" name="Google Shape;43;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4" name="Google Shape;44;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5" name="Google Shape;45;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6" name="Shape 46"/>
        <p:cNvGrpSpPr/>
        <p:nvPr/>
      </p:nvGrpSpPr>
      <p:grpSpPr>
        <a:xfrm>
          <a:off x="0" y="0"/>
          <a:ext cx="0" cy="0"/>
        </a:xfrm>
      </p:grpSpPr>
      <p:sp>
        <p:nvSpPr>
          <p:cNvPr id="47" name="Google Shape;47;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2" name="Google Shape;52;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3" name="Google Shape;53;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4" name="Google Shape;54;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5" name="Shape 55"/>
        <p:cNvGrpSpPr/>
        <p:nvPr/>
      </p:nvGrpSpPr>
      <p:grpSpPr>
        <a:xfrm>
          <a:off x="0" y="0"/>
          <a:ext cx="0" cy="0"/>
        </a:xfrm>
      </p:grpSpPr>
      <p:sp>
        <p:nvSpPr>
          <p:cNvPr id="56" name="Google Shape;56;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7" name="Google Shape;57;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8" name="Google Shape;58;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9" name="Shape 59"/>
        <p:cNvGrpSpPr/>
        <p:nvPr/>
      </p:nvGrpSpPr>
      <p:grpSpPr>
        <a:xfrm>
          <a:off x="0" y="0"/>
          <a:ext cx="0" cy="0"/>
        </a:xfrm>
      </p:grpSpPr>
      <p:sp>
        <p:nvSpPr>
          <p:cNvPr id="60" name="Google Shape;60;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1" name="Google Shape;61;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
    <p:bg>
      <p:bgPr>
        <a:solidFill>
          <a:schemeClr val="lt1"/>
        </a:solidFill>
      </p:bgPr>
    </p:bg>
    <p:spTree>
      <p:nvGrpSpPr>
        <p:cNvPr id="66" name="Shape 66"/>
        <p:cNvGrpSpPr/>
        <p:nvPr/>
      </p:nvGrpSpPr>
      <p:grpSpPr>
        <a:xfrm>
          <a:off x="0" y="0"/>
          <a:ext cx="0" cy="0"/>
        </a:xfrm>
      </p:grpSpPr>
      <p:pic>
        <p:nvPicPr>
          <p:cNvPr id="67" name="Google Shape;67;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8" name="Google Shape;68;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9" name="Google Shape;69;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70" name="Google Shape;70;p10"/>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71" name="Google Shape;71;p10"/>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72" name="Google Shape;72;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3" name="Google Shape;73;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4" name="Google Shape;74;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5" name="Shape 75"/>
        <p:cNvGrpSpPr/>
        <p:nvPr/>
      </p:nvGrpSpPr>
      <p:grpSpPr>
        <a:xfrm>
          <a:off x="0" y="0"/>
          <a:ext cx="0" cy="0"/>
        </a:xfrm>
      </p:grpSpPr>
      <p:pic>
        <p:nvPicPr>
          <p:cNvPr id="76" name="Google Shape;76;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7" name="Google Shape;77;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8" name="Google Shape;78;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9" name="Google Shape;79;p11"/>
          <p:cNvPicPr preferRelativeResize="0"/>
          <p:nvPr/>
        </p:nvPicPr>
        <p:blipFill>
          <a:blip r:embed="rId2">
            <a:alphaModFix/>
          </a:blip>
          <a:stretch>
            <a:fillRect/>
          </a:stretch>
        </p:blipFill>
        <p:spPr>
          <a:xfrm>
            <a:off x="468000" y="1543153"/>
            <a:ext cx="6624000" cy="66240"/>
          </a:xfrm>
          <a:prstGeom prst="rect">
            <a:avLst/>
          </a:prstGeom>
          <a:noFill/>
          <a:ln>
            <a:noFill/>
          </a:ln>
        </p:spPr>
      </p:pic>
      <p:sp>
        <p:nvSpPr>
          <p:cNvPr id="80" name="Google Shape;80;p11"/>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81" name="Google Shape;81;p11"/>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82" name="Google Shape;82;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3" name="Google Shape;83;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4" name="Shape 84"/>
        <p:cNvGrpSpPr/>
        <p:nvPr/>
      </p:nvGrpSpPr>
      <p:grpSpPr>
        <a:xfrm>
          <a:off x="0" y="0"/>
          <a:ext cx="0" cy="0"/>
        </a:xfrm>
      </p:grpSpPr>
      <p:pic>
        <p:nvPicPr>
          <p:cNvPr id="85" name="Google Shape;85;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6" name="Google Shape;86;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7" name="Google Shape;87;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8" name="Google Shape;88;p12"/>
          <p:cNvSpPr txBox="1"/>
          <p:nvPr>
            <p:ph type="subTitle" idx="1"/>
          </p:nvPr>
        </p:nvSpPr>
        <p:spPr>
          <a:xfrm>
            <a:off x="466825" y="360000"/>
            <a:ext cx="57792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89" name="Shape 89"/>
        <p:cNvGrpSpPr/>
        <p:nvPr/>
      </p:nvGrpSpPr>
      <p:grpSpPr>
        <a:xfrm>
          <a:off x="0" y="0"/>
          <a:ext cx="0" cy="0"/>
        </a:xfrm>
      </p:grpSpPr>
      <p:pic>
        <p:nvPicPr>
          <p:cNvPr id="90" name="Google Shape;90;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1" name="Google Shape;91;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2" name="Google Shape;92;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3" name="Google Shape;93;p13"/>
          <p:cNvSpPr txBox="1"/>
          <p:nvPr>
            <p:ph type="subTitle" idx="1"/>
          </p:nvPr>
        </p:nvSpPr>
        <p:spPr>
          <a:xfrm>
            <a:off x="466825" y="360000"/>
            <a:ext cx="57792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
        <p:nvSpPr>
          <p:cNvPr id="94" name="Google Shape;94;p13"/>
          <p:cNvSpPr txBox="1"/>
          <p:nvPr>
            <p:ph type="subTitle" idx="2"/>
          </p:nvPr>
        </p:nvSpPr>
        <p:spPr>
          <a:xfrm>
            <a:off x="39033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95" name="Google Shape;95;p13"/>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2">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6" name="Google Shape;96;p13"/>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
    <p:bg>
      <p:bgPr>
        <a:solidFill>
          <a:schemeClr val="lt1"/>
        </a:solidFill>
      </p:bgPr>
    </p:bg>
    <p:spTree>
      <p:nvGrpSpPr>
        <p:cNvPr id="97" name="Shape 97"/>
        <p:cNvGrpSpPr/>
        <p:nvPr/>
      </p:nvGrpSpPr>
      <p:grpSpPr>
        <a:xfrm>
          <a:off x="0" y="0"/>
          <a:ext cx="0" cy="0"/>
        </a:xfrm>
      </p:grpSpPr>
      <p:pic>
        <p:nvPicPr>
          <p:cNvPr id="98" name="Google Shape;98;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9" name="Google Shape;99;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0" name="Google Shape;100;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1" name="Google Shape;101;p14"/>
          <p:cNvPicPr preferRelativeResize="0"/>
          <p:nvPr/>
        </p:nvPicPr>
        <p:blipFill>
          <a:blip r:embed="rId2">
            <a:alphaModFix/>
          </a:blip>
          <a:stretch>
            <a:fillRect/>
          </a:stretch>
        </p:blipFill>
        <p:spPr>
          <a:xfrm>
            <a:off x="468000" y="1242003"/>
            <a:ext cx="6624000" cy="66240"/>
          </a:xfrm>
          <a:prstGeom prst="rect">
            <a:avLst/>
          </a:prstGeom>
          <a:noFill/>
          <a:ln>
            <a:noFill/>
          </a:ln>
        </p:spPr>
      </p:pic>
      <p:sp>
        <p:nvSpPr>
          <p:cNvPr id="102" name="Google Shape;102;p14"/>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03" name="Google Shape;103;p14"/>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104" name="Google Shape;104;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5" name="Google Shape;105;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06" name="Google Shape;106;p14"/>
          <p:cNvSpPr txBox="1"/>
          <p:nvPr>
            <p:ph type="subTitle" idx="1"/>
          </p:nvPr>
        </p:nvSpPr>
        <p:spPr>
          <a:xfrm>
            <a:off x="39033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07" name="Google Shape;107;p14"/>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08" name="Google Shape;108;p14"/>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09" name="Shape 109"/>
        <p:cNvGrpSpPr/>
        <p:nvPr/>
      </p:nvGrpSpPr>
      <p:grpSpPr>
        <a:xfrm>
          <a:off x="0" y="0"/>
          <a:ext cx="0" cy="0"/>
        </a:xfrm>
      </p:grpSpPr>
      <p:pic>
        <p:nvPicPr>
          <p:cNvPr id="110" name="Google Shape;110;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1" name="Google Shape;111;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2" name="Google Shape;112;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3" name="Google Shape;113;p15"/>
          <p:cNvPicPr preferRelativeResize="0"/>
          <p:nvPr/>
        </p:nvPicPr>
        <p:blipFill>
          <a:blip r:embed="rId2">
            <a:alphaModFix/>
          </a:blip>
          <a:stretch>
            <a:fillRect/>
          </a:stretch>
        </p:blipFill>
        <p:spPr>
          <a:xfrm>
            <a:off x="468000" y="1543153"/>
            <a:ext cx="6624000" cy="66240"/>
          </a:xfrm>
          <a:prstGeom prst="rect">
            <a:avLst/>
          </a:prstGeom>
          <a:noFill/>
          <a:ln>
            <a:noFill/>
          </a:ln>
        </p:spPr>
      </p:pic>
      <p:sp>
        <p:nvSpPr>
          <p:cNvPr id="114" name="Google Shape;114;p15"/>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15" name="Google Shape;115;p15"/>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116" name="Google Shape;116;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17" name="Google Shape;117;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18" name="Google Shape;118;p15"/>
          <p:cNvSpPr txBox="1"/>
          <p:nvPr>
            <p:ph type="subTitle" idx="1"/>
          </p:nvPr>
        </p:nvSpPr>
        <p:spPr>
          <a:xfrm>
            <a:off x="39033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19" name="Google Shape;119;p15"/>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0" name="Google Shape;120;p15"/>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1" name="Shape 121"/>
        <p:cNvGrpSpPr/>
        <p:nvPr/>
      </p:nvGrpSpPr>
      <p:grpSpPr>
        <a:xfrm>
          <a:off x="0" y="0"/>
          <a:ext cx="0" cy="0"/>
        </a:xfrm>
      </p:grpSpPr>
      <p:pic>
        <p:nvPicPr>
          <p:cNvPr id="122" name="Google Shape;122;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3" name="Google Shape;123;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24" name="Google Shape;124;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25" name="Google Shape;125;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sp>
        <p:nvSpPr>
          <p:cNvPr id="126" name="Google Shape;126;p16"/>
          <p:cNvSpPr txBox="1"/>
          <p:nvPr/>
        </p:nvSpPr>
        <p:spPr>
          <a:xfrm rot="-5400000">
            <a:off x="-595236" y="9057311"/>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27" name="Google Shape;127;p16"/>
          <p:cNvCxnSpPr/>
          <p:nvPr/>
        </p:nvCxnSpPr>
        <p:spPr>
          <a:xfrm rot="-5400000">
            <a:off x="-192111" y="8904711"/>
            <a:ext cx="1813200" cy="0"/>
          </a:xfrm>
          <a:prstGeom prst="straightConnector1">
            <a:avLst/>
          </a:prstGeom>
          <a:noFill/>
          <a:ln w="9525" cap="flat" cmpd="sng">
            <a:solidFill>
              <a:schemeClr val="dk2"/>
            </a:solidFill>
            <a:prstDash val="solid"/>
            <a:round/>
            <a:headEnd type="none" w="med" len="med"/>
            <a:tailEnd type="none" w="med" len="med"/>
          </a:ln>
        </p:spPr>
      </p:cxnSp>
      <p:pic>
        <p:nvPicPr>
          <p:cNvPr id="128" name="Google Shape;128;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29" name="Google Shape;129;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
    <p:bg>
      <p:bgPr>
        <a:solidFill>
          <a:schemeClr val="lt1"/>
        </a:solidFill>
      </p:bgPr>
    </p:bg>
    <p:spTree>
      <p:nvGrpSpPr>
        <p:cNvPr id="130" name="Shape 130"/>
        <p:cNvGrpSpPr/>
        <p:nvPr/>
      </p:nvGrpSpPr>
      <p:grpSpPr>
        <a:xfrm>
          <a:off x="0" y="0"/>
          <a:ext cx="0" cy="0"/>
        </a:xfrm>
      </p:grpSpPr>
      <p:pic>
        <p:nvPicPr>
          <p:cNvPr id="131" name="Google Shape;131;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2" name="Google Shape;132;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3" name="Google Shape;133;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134" name="Google Shape;134;p17"/>
          <p:cNvSpPr txBox="1"/>
          <p:nvPr>
            <p:ph type="subTitle" idx="1"/>
          </p:nvPr>
        </p:nvSpPr>
        <p:spPr>
          <a:xfrm rot="-5400000">
            <a:off x="-3976225" y="5682150"/>
            <a:ext cx="9096900" cy="202800"/>
          </a:xfrm>
          <a:prstGeom prst="rect">
            <a:avLst/>
          </a:prstGeom>
          <a:ln>
            <a:noFill/>
          </a:ln>
        </p:spPr>
        <p:txBody>
          <a:bodyPr spcFirstLastPara="1" wrap="square" lIns="0" tIns="0" rIns="0" bIns="0" anchor="t"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
    <p:bg>
      <p:bgPr>
        <a:solidFill>
          <a:schemeClr val="lt1"/>
        </a:solidFill>
      </p:bgPr>
    </p:bg>
    <p:spTree>
      <p:nvGrpSpPr>
        <p:cNvPr id="135" name="Shape 135"/>
        <p:cNvGrpSpPr/>
        <p:nvPr/>
      </p:nvGrpSpPr>
      <p:grpSpPr>
        <a:xfrm>
          <a:off x="0" y="0"/>
          <a:ext cx="0" cy="0"/>
        </a:xfrm>
      </p:grpSpPr>
      <p:pic>
        <p:nvPicPr>
          <p:cNvPr id="136" name="Google Shape;136;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7" name="Google Shape;137;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8" name="Google Shape;138;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139" name="Google Shape;139;p18"/>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2">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40" name="Google Shape;140;p18"/>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41" name="Google Shape;141;p18"/>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42" name="Google Shape;142;p18"/>
          <p:cNvSpPr txBox="1"/>
          <p:nvPr>
            <p:ph type="subTitle" idx="1"/>
          </p:nvPr>
        </p:nvSpPr>
        <p:spPr>
          <a:xfrm rot="-5400000">
            <a:off x="5488463" y="5454663"/>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43" name="Google Shape;143;p18"/>
          <p:cNvSpPr txBox="1"/>
          <p:nvPr>
            <p:ph type="subTitle" idx="2"/>
          </p:nvPr>
        </p:nvSpPr>
        <p:spPr>
          <a:xfrm rot="-5400000">
            <a:off x="-3976225" y="5682150"/>
            <a:ext cx="9096900" cy="202800"/>
          </a:xfrm>
          <a:prstGeom prst="rect">
            <a:avLst/>
          </a:prstGeom>
          <a:ln>
            <a:noFill/>
          </a:ln>
        </p:spPr>
        <p:txBody>
          <a:bodyPr spcFirstLastPara="1" wrap="square" lIns="0" tIns="0" rIns="0" bIns="0" anchor="t"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44" name="Shape 144"/>
        <p:cNvGrpSpPr/>
        <p:nvPr/>
      </p:nvGrpSpPr>
      <p:grpSpPr>
        <a:xfrm>
          <a:off x="0" y="0"/>
          <a:ext cx="0" cy="0"/>
        </a:xfrm>
      </p:grpSpPr>
      <p:pic>
        <p:nvPicPr>
          <p:cNvPr id="145" name="Google Shape;145;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6" name="Google Shape;146;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7" name="Google Shape;147;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48" name="Google Shape;148;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sp>
        <p:nvSpPr>
          <p:cNvPr id="149" name="Google Shape;149;p19"/>
          <p:cNvSpPr txBox="1"/>
          <p:nvPr/>
        </p:nvSpPr>
        <p:spPr>
          <a:xfrm rot="-5400000">
            <a:off x="-595236" y="9057311"/>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50" name="Google Shape;150;p19"/>
          <p:cNvCxnSpPr/>
          <p:nvPr/>
        </p:nvCxnSpPr>
        <p:spPr>
          <a:xfrm rot="-5400000">
            <a:off x="-192111" y="8904711"/>
            <a:ext cx="1813200" cy="0"/>
          </a:xfrm>
          <a:prstGeom prst="straightConnector1">
            <a:avLst/>
          </a:prstGeom>
          <a:noFill/>
          <a:ln w="9525" cap="flat" cmpd="sng">
            <a:solidFill>
              <a:schemeClr val="dk2"/>
            </a:solidFill>
            <a:prstDash val="solid"/>
            <a:round/>
            <a:headEnd type="none" w="med" len="med"/>
            <a:tailEnd type="none" w="med" len="med"/>
          </a:ln>
        </p:spPr>
      </p:cxnSp>
      <p:pic>
        <p:nvPicPr>
          <p:cNvPr id="151" name="Google Shape;151;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52" name="Google Shape;152;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53" name="Google Shape;153;p19"/>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4" name="Google Shape;154;p19"/>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5" name="Google Shape;155;p19"/>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56" name="Google Shape;156;p19"/>
          <p:cNvSpPr txBox="1"/>
          <p:nvPr>
            <p:ph type="subTitle" idx="1"/>
          </p:nvPr>
        </p:nvSpPr>
        <p:spPr>
          <a:xfrm rot="-5400000">
            <a:off x="5488463" y="5454663"/>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2" name="Shape 62"/>
        <p:cNvGrpSpPr/>
        <p:nvPr/>
      </p:nvGrpSpPr>
      <p:grpSpPr>
        <a:xfrm>
          <a:off x="0" y="0"/>
          <a:ext cx="0" cy="0"/>
        </a:xfrm>
      </p:grpSpPr>
      <p:sp>
        <p:nvSpPr>
          <p:cNvPr id="63" name="Google Shape;63;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4" name="Google Shape;64;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5" name="Google Shape;65;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image" Target="../media/image7.png" /><Relationship Id="rId6" Type="http://schemas.openxmlformats.org/officeDocument/2006/relationships/image" Target="../media/image8.png" /><Relationship Id="rId7" Type="http://schemas.openxmlformats.org/officeDocument/2006/relationships/image" Target="../media/image9.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2.xml" /><Relationship Id="rId3" Type="http://schemas.openxmlformats.org/officeDocument/2006/relationships/image" Target="../media/image10.png" /><Relationship Id="rId4" Type="http://schemas.openxmlformats.org/officeDocument/2006/relationships/image" Target="../media/image11.png" /><Relationship Id="rId5" Type="http://schemas.openxmlformats.org/officeDocument/2006/relationships/image" Target="../media/image12.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3.xml" /><Relationship Id="rId3" Type="http://schemas.openxmlformats.org/officeDocument/2006/relationships/image" Target="../media/image13.png" /><Relationship Id="rId4" Type="http://schemas.openxmlformats.org/officeDocument/2006/relationships/image" Target="../media/image14.pn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4.xml" /><Relationship Id="rId3" Type="http://schemas.openxmlformats.org/officeDocument/2006/relationships/image" Target="../media/image15.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0" name="Shape 160"/>
        <p:cNvGrpSpPr/>
        <p:nvPr/>
      </p:nvGrpSpPr>
      <p:grpSpPr>
        <a:xfrm>
          <a:off x="0" y="0"/>
          <a:ext cx="0" cy="0"/>
        </a:xfrm>
      </p:grpSpPr>
      <p:sp>
        <p:nvSpPr>
          <p:cNvPr id="161" name="Google Shape;161;p20"/>
          <p:cNvSpPr txBox="1"/>
          <p:nvPr/>
        </p:nvSpPr>
        <p:spPr>
          <a:xfrm>
            <a:off x="6352325" y="9972000"/>
            <a:ext cx="483300" cy="277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sz="1200">
                <a:solidFill>
                  <a:srgbClr val="000000"/>
                </a:solidFill>
                <a:latin typeface="Lexend Medium"/>
                <a:ea typeface="Lexend Medium"/>
                <a:cs typeface="Lexend Medium"/>
                <a:sym typeface="Lexend Medium"/>
              </a:rPr>
              <a:t>1</a:t>
            </a:fld>
            <a:endParaRPr sz="1200">
              <a:solidFill>
                <a:srgbClr val="000000"/>
              </a:solidFill>
              <a:latin typeface="Lexend Medium"/>
              <a:ea typeface="Lexend Medium"/>
              <a:cs typeface="Lexend Medium"/>
              <a:sym typeface="Lexend Medium"/>
            </a:endParaRPr>
          </a:p>
        </p:txBody>
      </p:sp>
      <p:sp>
        <p:nvSpPr>
          <p:cNvPr id="162" name="Google Shape;162;p20"/>
          <p:cNvSpPr txBox="1"/>
          <p:nvPr/>
        </p:nvSpPr>
        <p:spPr>
          <a:xfrm>
            <a:off x="468000" y="864000"/>
            <a:ext cx="6624000" cy="2772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800" b="1">
                <a:solidFill>
                  <a:srgbClr val="000000"/>
                </a:solidFill>
                <a:latin typeface="Lexend"/>
                <a:ea typeface="Lexend"/>
                <a:cs typeface="Lexend"/>
                <a:sym typeface="Lexend"/>
              </a:rPr>
              <a:t>Understanding the centre of rotation</a:t>
            </a:r>
            <a:endParaRPr sz="1800" b="1">
              <a:solidFill>
                <a:srgbClr val="000000"/>
              </a:solidFill>
              <a:latin typeface="Lexend"/>
              <a:ea typeface="Lexend"/>
              <a:cs typeface="Lexend"/>
              <a:sym typeface="Lexend"/>
            </a:endParaRPr>
          </a:p>
        </p:txBody>
      </p:sp>
      <p:sp>
        <p:nvSpPr>
          <p:cNvPr id="163" name="Google Shape;163;p20"/>
          <p:cNvSpPr txBox="1"/>
          <p:nvPr/>
        </p:nvSpPr>
        <p:spPr>
          <a:xfrm>
            <a:off x="468000" y="1638300"/>
            <a:ext cx="415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1) The line has been rotated less than 360°.</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Complete the information for the rotation of this line:</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anti-clockwise          by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sp>
        <p:nvSpPr>
          <p:cNvPr id="164" name="Google Shape;164;p20"/>
          <p:cNvSpPr txBox="1"/>
          <p:nvPr/>
        </p:nvSpPr>
        <p:spPr>
          <a:xfrm>
            <a:off x="468000" y="1345575"/>
            <a:ext cx="6624000" cy="3372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b="1">
                <a:latin typeface="Lexend"/>
                <a:ea typeface="Lexend"/>
                <a:cs typeface="Lexend"/>
                <a:sym typeface="Lexend"/>
              </a:rPr>
              <a:t>Task A: Describing with the centre of rotation</a:t>
            </a:r>
            <a:endParaRPr b="1">
              <a:latin typeface="Lexend"/>
              <a:ea typeface="Lexend"/>
              <a:cs typeface="Lexend"/>
              <a:sym typeface="Lexend"/>
            </a:endParaRPr>
          </a:p>
        </p:txBody>
      </p:sp>
      <p:pic>
        <p:nvPicPr>
          <p:cNvPr id="165" name="Google Shape;165;p20"/>
          <p:cNvPicPr preferRelativeResize="0"/>
          <p:nvPr/>
        </p:nvPicPr>
        <p:blipFill>
          <a:blip r:embed="rId3">
            <a:alphaModFix/>
          </a:blip>
          <a:stretch>
            <a:fillRect/>
          </a:stretch>
        </p:blipFill>
        <p:spPr>
          <a:xfrm>
            <a:off x="4698100" y="1682775"/>
            <a:ext cx="2393900" cy="1866250"/>
          </a:xfrm>
          <a:prstGeom prst="rect">
            <a:avLst/>
          </a:prstGeom>
          <a:noFill/>
          <a:ln>
            <a:noFill/>
          </a:ln>
        </p:spPr>
      </p:pic>
      <p:pic>
        <p:nvPicPr>
          <p:cNvPr id="166" name="Google Shape;166;p20"/>
          <p:cNvPicPr preferRelativeResize="0"/>
          <p:nvPr/>
        </p:nvPicPr>
        <p:blipFill>
          <a:blip r:embed="rId4">
            <a:alphaModFix/>
          </a:blip>
          <a:srcRect l="75706" t="27330" r="13951" b="59597"/>
          <a:stretch>
            <a:fillRect/>
          </a:stretch>
        </p:blipFill>
        <p:spPr>
          <a:xfrm rot="-2700000" flipH="1">
            <a:off x="4886222" y="1828584"/>
            <a:ext cx="871846" cy="1114449"/>
          </a:xfrm>
          <a:prstGeom prst="rect">
            <a:avLst/>
          </a:prstGeom>
          <a:noFill/>
          <a:ln>
            <a:noFill/>
          </a:ln>
        </p:spPr>
      </p:pic>
      <p:sp>
        <p:nvSpPr>
          <p:cNvPr id="167" name="Google Shape;167;p20"/>
          <p:cNvSpPr txBox="1"/>
          <p:nvPr/>
        </p:nvSpPr>
        <p:spPr>
          <a:xfrm>
            <a:off x="468000" y="3711625"/>
            <a:ext cx="415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2) The line has been rotated less than 360°.</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Complete the information for the rotation of this line:</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clockwise          by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pic>
        <p:nvPicPr>
          <p:cNvPr id="168" name="Google Shape;168;p20"/>
          <p:cNvPicPr preferRelativeResize="0"/>
          <p:nvPr/>
        </p:nvPicPr>
        <p:blipFill>
          <a:blip r:embed="rId5">
            <a:alphaModFix/>
          </a:blip>
          <a:stretch>
            <a:fillRect/>
          </a:stretch>
        </p:blipFill>
        <p:spPr>
          <a:xfrm>
            <a:off x="4694938" y="3781727"/>
            <a:ext cx="2393875" cy="1580754"/>
          </a:xfrm>
          <a:prstGeom prst="rect">
            <a:avLst/>
          </a:prstGeom>
          <a:noFill/>
          <a:ln>
            <a:noFill/>
          </a:ln>
        </p:spPr>
      </p:pic>
      <p:pic>
        <p:nvPicPr>
          <p:cNvPr id="169" name="Google Shape;169;p20"/>
          <p:cNvPicPr preferRelativeResize="0"/>
          <p:nvPr/>
        </p:nvPicPr>
        <p:blipFill>
          <a:blip r:embed="rId4">
            <a:alphaModFix/>
          </a:blip>
          <a:srcRect l="75706" t="27330" r="13951" b="59597"/>
          <a:stretch>
            <a:fillRect/>
          </a:stretch>
        </p:blipFill>
        <p:spPr>
          <a:xfrm rot="-9000009">
            <a:off x="4181388" y="4054969"/>
            <a:ext cx="871844" cy="1114448"/>
          </a:xfrm>
          <a:prstGeom prst="rect">
            <a:avLst/>
          </a:prstGeom>
          <a:noFill/>
          <a:ln>
            <a:noFill/>
          </a:ln>
        </p:spPr>
      </p:pic>
      <p:sp>
        <p:nvSpPr>
          <p:cNvPr id="170" name="Google Shape;170;p20"/>
          <p:cNvSpPr txBox="1"/>
          <p:nvPr/>
        </p:nvSpPr>
        <p:spPr>
          <a:xfrm>
            <a:off x="468000" y="5784950"/>
            <a:ext cx="367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3) The object has been rotated less than 360°.</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Complete the information for the rotation:</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clockwise          by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pic>
        <p:nvPicPr>
          <p:cNvPr id="171" name="Google Shape;171;p20"/>
          <p:cNvPicPr preferRelativeResize="0"/>
          <p:nvPr/>
        </p:nvPicPr>
        <p:blipFill>
          <a:blip r:embed="rId6">
            <a:alphaModFix/>
          </a:blip>
          <a:stretch>
            <a:fillRect/>
          </a:stretch>
        </p:blipFill>
        <p:spPr>
          <a:xfrm>
            <a:off x="4140000" y="5805133"/>
            <a:ext cx="2647193" cy="1502967"/>
          </a:xfrm>
          <a:prstGeom prst="rect">
            <a:avLst/>
          </a:prstGeom>
          <a:noFill/>
          <a:ln>
            <a:noFill/>
          </a:ln>
        </p:spPr>
      </p:pic>
      <p:pic>
        <p:nvPicPr>
          <p:cNvPr id="172" name="Google Shape;172;p20"/>
          <p:cNvPicPr preferRelativeResize="0"/>
          <p:nvPr/>
        </p:nvPicPr>
        <p:blipFill>
          <a:blip r:embed="rId4">
            <a:alphaModFix/>
          </a:blip>
          <a:srcRect l="75706" t="27330" r="13951" b="59597"/>
          <a:stretch>
            <a:fillRect/>
          </a:stretch>
        </p:blipFill>
        <p:spPr>
          <a:xfrm rot="5400000">
            <a:off x="6231384" y="6608537"/>
            <a:ext cx="755500" cy="965732"/>
          </a:xfrm>
          <a:prstGeom prst="rect">
            <a:avLst/>
          </a:prstGeom>
          <a:noFill/>
          <a:ln>
            <a:noFill/>
          </a:ln>
        </p:spPr>
      </p:pic>
      <p:sp>
        <p:nvSpPr>
          <p:cNvPr id="173" name="Google Shape;173;p20"/>
          <p:cNvSpPr txBox="1"/>
          <p:nvPr/>
        </p:nvSpPr>
        <p:spPr>
          <a:xfrm>
            <a:off x="468000" y="7858275"/>
            <a:ext cx="367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4) The object has been rotated less than 360°.</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Complete the information for the rotation:</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anti-clockwise          by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pic>
        <p:nvPicPr>
          <p:cNvPr id="174" name="Google Shape;174;p20"/>
          <p:cNvPicPr preferRelativeResize="0"/>
          <p:nvPr/>
        </p:nvPicPr>
        <p:blipFill>
          <a:blip r:embed="rId7">
            <a:alphaModFix/>
          </a:blip>
          <a:stretch>
            <a:fillRect/>
          </a:stretch>
        </p:blipFill>
        <p:spPr>
          <a:xfrm>
            <a:off x="4339080" y="7865672"/>
            <a:ext cx="2752919" cy="1596498"/>
          </a:xfrm>
          <a:prstGeom prst="rect">
            <a:avLst/>
          </a:prstGeom>
          <a:noFill/>
          <a:ln>
            <a:noFill/>
          </a:ln>
        </p:spPr>
      </p:pic>
      <p:pic>
        <p:nvPicPr>
          <p:cNvPr id="175" name="Google Shape;175;p20"/>
          <p:cNvPicPr preferRelativeResize="0"/>
          <p:nvPr/>
        </p:nvPicPr>
        <p:blipFill>
          <a:blip r:embed="rId4">
            <a:alphaModFix/>
          </a:blip>
          <a:srcRect l="75706" t="27330" r="13951" b="59597"/>
          <a:stretch>
            <a:fillRect/>
          </a:stretch>
        </p:blipFill>
        <p:spPr>
          <a:xfrm rot="-5400000" flipH="1">
            <a:off x="4251655" y="8719073"/>
            <a:ext cx="802516" cy="1025828"/>
          </a:xfrm>
          <a:prstGeom prst="rect">
            <a:avLst/>
          </a:prstGeom>
          <a:noFill/>
          <a:ln>
            <a:noFill/>
          </a:ln>
        </p:spPr>
      </p:pic>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9" name="Shape 179"/>
        <p:cNvGrpSpPr/>
        <p:nvPr/>
      </p:nvGrpSpPr>
      <p:grpSpPr>
        <a:xfrm>
          <a:off x="0" y="0"/>
          <a:ext cx="0" cy="0"/>
        </a:xfrm>
      </p:grpSpPr>
      <p:sp>
        <p:nvSpPr>
          <p:cNvPr id="180" name="Google Shape;180;p21"/>
          <p:cNvSpPr txBox="1"/>
          <p:nvPr/>
        </p:nvSpPr>
        <p:spPr>
          <a:xfrm>
            <a:off x="468000" y="360000"/>
            <a:ext cx="5778000" cy="1386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900">
                <a:solidFill>
                  <a:srgbClr val="000000"/>
                </a:solidFill>
                <a:latin typeface="Lexend"/>
                <a:ea typeface="Lexend"/>
                <a:cs typeface="Lexend"/>
                <a:sym typeface="Lexend"/>
              </a:rPr>
              <a:t>Understanding the centre of rotation</a:t>
            </a:r>
            <a:endParaRPr sz="900">
              <a:solidFill>
                <a:srgbClr val="000000"/>
              </a:solidFill>
              <a:latin typeface="Lexend"/>
              <a:ea typeface="Lexend"/>
              <a:cs typeface="Lexend"/>
              <a:sym typeface="Lexend"/>
            </a:endParaRPr>
          </a:p>
        </p:txBody>
      </p:sp>
      <p:sp>
        <p:nvSpPr>
          <p:cNvPr id="181" name="Google Shape;181;p21"/>
          <p:cNvSpPr txBox="1"/>
          <p:nvPr/>
        </p:nvSpPr>
        <p:spPr>
          <a:xfrm>
            <a:off x="468000" y="720000"/>
            <a:ext cx="367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5) There are lots of ways to fully describe this rotation. Complete these two descriptions:</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clockwise          by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solidFill>
                  <a:srgbClr val="000000"/>
                </a:solidFill>
                <a:latin typeface="Lexend"/>
                <a:ea typeface="Lexend"/>
                <a:cs typeface="Lexend"/>
                <a:sym typeface="Lexend"/>
              </a:rPr>
              <a:t>The object has been rotated: </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r>
              <a:rPr lang="en-GB" sz="1200">
                <a:solidFill>
                  <a:srgbClr val="000000"/>
                </a:solidFill>
                <a:latin typeface="Lexend"/>
                <a:ea typeface="Lexend"/>
                <a:cs typeface="Lexend"/>
                <a:sym typeface="Lexend"/>
              </a:rPr>
              <a:t>     anti-clockwise          by </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r>
              <a:rPr lang="en-GB" sz="1200">
                <a:solidFill>
                  <a:srgbClr val="000000"/>
                </a:solidFill>
                <a:latin typeface="Lexend"/>
                <a:ea typeface="Lexend"/>
                <a:cs typeface="Lexend"/>
                <a:sym typeface="Lexend"/>
              </a:rPr>
              <a:t>     with a centre of rotation at </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pic>
        <p:nvPicPr>
          <p:cNvPr id="182" name="Google Shape;182;p21"/>
          <p:cNvPicPr preferRelativeResize="0"/>
          <p:nvPr/>
        </p:nvPicPr>
        <p:blipFill>
          <a:blip r:embed="rId3">
            <a:alphaModFix/>
          </a:blip>
          <a:stretch>
            <a:fillRect/>
          </a:stretch>
        </p:blipFill>
        <p:spPr>
          <a:xfrm>
            <a:off x="4140000" y="864000"/>
            <a:ext cx="2952000" cy="2741981"/>
          </a:xfrm>
          <a:prstGeom prst="rect">
            <a:avLst/>
          </a:prstGeom>
          <a:noFill/>
          <a:ln>
            <a:noFill/>
          </a:ln>
        </p:spPr>
      </p:pic>
      <p:sp>
        <p:nvSpPr>
          <p:cNvPr id="183" name="Google Shape;183;p21"/>
          <p:cNvSpPr txBox="1"/>
          <p:nvPr/>
        </p:nvSpPr>
        <p:spPr>
          <a:xfrm>
            <a:off x="468000" y="3734797"/>
            <a:ext cx="367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6) There are two ways of describing this rotation, if done in less than a full turn. Complete both descriptions:</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clockwise          by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solidFill>
                  <a:srgbClr val="000000"/>
                </a:solidFill>
                <a:latin typeface="Lexend"/>
                <a:ea typeface="Lexend"/>
                <a:cs typeface="Lexend"/>
                <a:sym typeface="Lexend"/>
              </a:rPr>
              <a:t>The object has been rotated: </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pic>
        <p:nvPicPr>
          <p:cNvPr id="184" name="Google Shape;184;p21"/>
          <p:cNvPicPr preferRelativeResize="0"/>
          <p:nvPr/>
        </p:nvPicPr>
        <p:blipFill>
          <a:blip r:embed="rId4">
            <a:alphaModFix/>
          </a:blip>
          <a:stretch>
            <a:fillRect/>
          </a:stretch>
        </p:blipFill>
        <p:spPr>
          <a:xfrm>
            <a:off x="4140000" y="4007963"/>
            <a:ext cx="2494850" cy="2927700"/>
          </a:xfrm>
          <a:prstGeom prst="rect">
            <a:avLst/>
          </a:prstGeom>
          <a:noFill/>
          <a:ln>
            <a:noFill/>
          </a:ln>
        </p:spPr>
      </p:pic>
      <p:sp>
        <p:nvSpPr>
          <p:cNvPr id="185" name="Google Shape;185;p21"/>
          <p:cNvSpPr txBox="1"/>
          <p:nvPr/>
        </p:nvSpPr>
        <p:spPr>
          <a:xfrm>
            <a:off x="5938200" y="6277513"/>
            <a:ext cx="696600" cy="2925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object</a:t>
            </a:r>
            <a:endParaRPr>
              <a:solidFill>
                <a:srgbClr val="FF0000"/>
              </a:solidFill>
              <a:latin typeface="Lexend"/>
              <a:ea typeface="Lexend"/>
              <a:cs typeface="Lexend"/>
              <a:sym typeface="Lexend"/>
            </a:endParaRPr>
          </a:p>
        </p:txBody>
      </p:sp>
      <p:sp>
        <p:nvSpPr>
          <p:cNvPr id="186" name="Google Shape;186;p21"/>
          <p:cNvSpPr txBox="1"/>
          <p:nvPr/>
        </p:nvSpPr>
        <p:spPr>
          <a:xfrm>
            <a:off x="6151725" y="3756338"/>
            <a:ext cx="757800" cy="2925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image</a:t>
            </a:r>
            <a:endParaRPr>
              <a:solidFill>
                <a:srgbClr val="FF0000"/>
              </a:solidFill>
              <a:latin typeface="Lexend"/>
              <a:ea typeface="Lexend"/>
              <a:cs typeface="Lexend"/>
              <a:sym typeface="Lexend"/>
            </a:endParaRPr>
          </a:p>
        </p:txBody>
      </p:sp>
      <p:sp>
        <p:nvSpPr>
          <p:cNvPr id="187" name="Google Shape;187;p21"/>
          <p:cNvSpPr txBox="1"/>
          <p:nvPr/>
        </p:nvSpPr>
        <p:spPr>
          <a:xfrm>
            <a:off x="468000" y="7167572"/>
            <a:ext cx="367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7) There are multiple possible descriptions that could correctly describe this rotation. Fully describe this rotation in one way.</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a:t>
            </a:r>
            <a:r>
              <a:rPr lang="en-GB" sz="1200" u="sng">
                <a:latin typeface="Lexend"/>
                <a:ea typeface="Lexend"/>
                <a:cs typeface="Lexend"/>
                <a:sym typeface="Lexend"/>
              </a:rPr>
              <a:t>                                       </a:t>
            </a:r>
            <a:r>
              <a:rPr lang="en-GB" sz="1200">
                <a:latin typeface="Lexend"/>
                <a:ea typeface="Lexend"/>
                <a:cs typeface="Lexend"/>
                <a:sym typeface="Lexend"/>
              </a:rPr>
              <a:t>   by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a:p>
            <a:pPr marL="0" lvl="0" indent="0" algn="l" rtl="0">
              <a:lnSpc>
                <a:spcPct val="115000"/>
              </a:lnSpc>
              <a:spcBef>
                <a:spcPts val="1000"/>
              </a:spcBef>
              <a:spcAft>
                <a:spcPts val="1000"/>
              </a:spcAft>
              <a:buNone/>
            </a:pPr>
            <a:r>
              <a:rPr lang="en-GB" sz="1200">
                <a:latin typeface="Lexend"/>
                <a:ea typeface="Lexend"/>
                <a:cs typeface="Lexend"/>
                <a:sym typeface="Lexend"/>
              </a:rPr>
              <a:t>     with a centre of rotation at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p:txBody>
      </p:sp>
      <p:pic>
        <p:nvPicPr>
          <p:cNvPr id="188" name="Google Shape;188;p21"/>
          <p:cNvPicPr preferRelativeResize="0"/>
          <p:nvPr/>
        </p:nvPicPr>
        <p:blipFill>
          <a:blip r:embed="rId5">
            <a:alphaModFix/>
          </a:blip>
          <a:stretch>
            <a:fillRect/>
          </a:stretch>
        </p:blipFill>
        <p:spPr>
          <a:xfrm>
            <a:off x="4139675" y="7230428"/>
            <a:ext cx="2325561" cy="2675695"/>
          </a:xfrm>
          <a:prstGeom prst="rect">
            <a:avLst/>
          </a:prstGeom>
          <a:noFill/>
          <a:ln>
            <a:noFill/>
          </a:ln>
        </p:spPr>
      </p:pic>
      <p:sp>
        <p:nvSpPr>
          <p:cNvPr id="189" name="Google Shape;189;p21"/>
          <p:cNvSpPr txBox="1"/>
          <p:nvPr/>
        </p:nvSpPr>
        <p:spPr>
          <a:xfrm>
            <a:off x="6006055" y="9101628"/>
            <a:ext cx="697800" cy="2541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object</a:t>
            </a:r>
            <a:endParaRPr>
              <a:solidFill>
                <a:srgbClr val="FF0000"/>
              </a:solidFill>
              <a:latin typeface="Lexend"/>
              <a:ea typeface="Lexend"/>
              <a:cs typeface="Lexend"/>
              <a:sym typeface="Lexend"/>
            </a:endParaRPr>
          </a:p>
        </p:txBody>
      </p:sp>
      <p:sp>
        <p:nvSpPr>
          <p:cNvPr id="190" name="Google Shape;190;p21"/>
          <p:cNvSpPr txBox="1"/>
          <p:nvPr/>
        </p:nvSpPr>
        <p:spPr>
          <a:xfrm>
            <a:off x="5010081" y="7164149"/>
            <a:ext cx="830400" cy="2541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image</a:t>
            </a:r>
            <a:endParaRPr>
              <a:solidFill>
                <a:srgbClr val="FF0000"/>
              </a:solidFill>
              <a:latin typeface="Lexend"/>
              <a:ea typeface="Lexend"/>
              <a:cs typeface="Lexend"/>
              <a:sym typeface="Lexend"/>
            </a:endParaRPr>
          </a:p>
        </p:txBody>
      </p:sp>
      <p:cxnSp>
        <p:nvCxnSpPr>
          <p:cNvPr id="191" name="Google Shape;191;p21"/>
          <p:cNvCxnSpPr/>
          <p:nvPr/>
        </p:nvCxnSpPr>
        <p:spPr>
          <a:xfrm>
            <a:off x="474750" y="9972000"/>
            <a:ext cx="6610500" cy="0"/>
          </a:xfrm>
          <a:prstGeom prst="straightConnector1">
            <a:avLst/>
          </a:prstGeom>
          <a:noFill/>
          <a:ln w="38100" cap="flat" cmpd="sng">
            <a:solidFill>
              <a:srgbClr val="000000"/>
            </a:solidFill>
            <a:prstDash val="solid"/>
            <a:round/>
            <a:headEnd type="none" w="med" len="med"/>
            <a:tailEnd type="none" w="med" len="med"/>
          </a:ln>
        </p:spPr>
      </p:cxnSp>
      <p:sp>
        <p:nvSpPr>
          <p:cNvPr id="192" name="Google Shape;192;p21"/>
          <p:cNvSpPr txBox="1"/>
          <p:nvPr/>
        </p:nvSpPr>
        <p:spPr>
          <a:xfrm>
            <a:off x="6352325" y="9972000"/>
            <a:ext cx="483300" cy="277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sz="1200">
                <a:solidFill>
                  <a:srgbClr val="000000"/>
                </a:solidFill>
                <a:latin typeface="Lexend Medium"/>
                <a:ea typeface="Lexend Medium"/>
                <a:cs typeface="Lexend Medium"/>
                <a:sym typeface="Lexend Medium"/>
              </a:rPr>
              <a:t>2</a:t>
            </a:fld>
            <a:endParaRPr sz="1200">
              <a:solidFill>
                <a:srgbClr val="000000"/>
              </a:solidFill>
              <a:latin typeface="Lexend Medium"/>
              <a:ea typeface="Lexend Medium"/>
              <a:cs typeface="Lexend Medium"/>
              <a:sym typeface="Lexend Medium"/>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96" name="Shape 196"/>
        <p:cNvGrpSpPr/>
        <p:nvPr/>
      </p:nvGrpSpPr>
      <p:grpSpPr>
        <a:xfrm>
          <a:off x="0" y="0"/>
          <a:ext cx="0" cy="0"/>
        </a:xfrm>
      </p:grpSpPr>
      <p:sp>
        <p:nvSpPr>
          <p:cNvPr id="197" name="Google Shape;197;p22"/>
          <p:cNvSpPr txBox="1"/>
          <p:nvPr/>
        </p:nvSpPr>
        <p:spPr>
          <a:xfrm>
            <a:off x="468000" y="720000"/>
            <a:ext cx="6624000" cy="3372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b="1">
                <a:latin typeface="Lexend"/>
                <a:ea typeface="Lexend"/>
                <a:cs typeface="Lexend"/>
                <a:sym typeface="Lexend"/>
              </a:rPr>
              <a:t>Task B: Finding the centre of rotation for 180° rotations</a:t>
            </a:r>
            <a:endParaRPr b="1">
              <a:latin typeface="Lexend"/>
              <a:ea typeface="Lexend"/>
              <a:cs typeface="Lexend"/>
              <a:sym typeface="Lexend"/>
            </a:endParaRPr>
          </a:p>
        </p:txBody>
      </p:sp>
      <p:sp>
        <p:nvSpPr>
          <p:cNvPr id="198" name="Google Shape;198;p22"/>
          <p:cNvSpPr txBox="1"/>
          <p:nvPr/>
        </p:nvSpPr>
        <p:spPr>
          <a:xfrm>
            <a:off x="468050" y="360000"/>
            <a:ext cx="5778000" cy="1386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900">
                <a:solidFill>
                  <a:srgbClr val="000000"/>
                </a:solidFill>
                <a:latin typeface="Lexend"/>
                <a:ea typeface="Lexend"/>
                <a:cs typeface="Lexend"/>
                <a:sym typeface="Lexend"/>
              </a:rPr>
              <a:t>Understanding the centre of rotation</a:t>
            </a:r>
            <a:endParaRPr sz="900">
              <a:solidFill>
                <a:srgbClr val="000000"/>
              </a:solidFill>
              <a:latin typeface="Lexend"/>
              <a:ea typeface="Lexend"/>
              <a:cs typeface="Lexend"/>
              <a:sym typeface="Lexend"/>
            </a:endParaRPr>
          </a:p>
        </p:txBody>
      </p:sp>
      <p:sp>
        <p:nvSpPr>
          <p:cNvPr id="199" name="Google Shape;199;p22"/>
          <p:cNvSpPr txBox="1"/>
          <p:nvPr/>
        </p:nvSpPr>
        <p:spPr>
          <a:xfrm>
            <a:off x="468000" y="967369"/>
            <a:ext cx="6624000" cy="18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Below are two rotations where an object and its image have two pairs of corresponding vertices labelled. By connecting these corresponding vertices with line segments, find the centre of rotation of each object.</a:t>
            </a:r>
            <a:endParaRPr sz="1200">
              <a:solidFill>
                <a:srgbClr val="000000"/>
              </a:solidFill>
              <a:latin typeface="Lexend"/>
              <a:ea typeface="Lexend"/>
              <a:cs typeface="Lexend"/>
              <a:sym typeface="Lexend"/>
            </a:endParaRPr>
          </a:p>
        </p:txBody>
      </p:sp>
      <p:pic>
        <p:nvPicPr>
          <p:cNvPr id="200" name="Google Shape;200;p22"/>
          <p:cNvPicPr preferRelativeResize="0"/>
          <p:nvPr/>
        </p:nvPicPr>
        <p:blipFill>
          <a:blip r:embed="rId3">
            <a:alphaModFix/>
          </a:blip>
          <a:stretch>
            <a:fillRect/>
          </a:stretch>
        </p:blipFill>
        <p:spPr>
          <a:xfrm>
            <a:off x="468038" y="1652957"/>
            <a:ext cx="6623921" cy="3138690"/>
          </a:xfrm>
          <a:prstGeom prst="rect">
            <a:avLst/>
          </a:prstGeom>
          <a:noFill/>
          <a:ln>
            <a:noFill/>
          </a:ln>
        </p:spPr>
      </p:pic>
      <p:sp>
        <p:nvSpPr>
          <p:cNvPr id="201" name="Google Shape;201;p22"/>
          <p:cNvSpPr txBox="1"/>
          <p:nvPr/>
        </p:nvSpPr>
        <p:spPr>
          <a:xfrm>
            <a:off x="758247" y="2214330"/>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A</a:t>
            </a:r>
            <a:endParaRPr>
              <a:solidFill>
                <a:srgbClr val="000000"/>
              </a:solidFill>
              <a:latin typeface="Lexend"/>
              <a:ea typeface="Lexend"/>
              <a:cs typeface="Lexend"/>
              <a:sym typeface="Lexend"/>
            </a:endParaRPr>
          </a:p>
        </p:txBody>
      </p:sp>
      <p:sp>
        <p:nvSpPr>
          <p:cNvPr id="202" name="Google Shape;202;p22"/>
          <p:cNvSpPr txBox="1"/>
          <p:nvPr/>
        </p:nvSpPr>
        <p:spPr>
          <a:xfrm>
            <a:off x="3713827" y="3192467"/>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A′ </a:t>
            </a:r>
            <a:endParaRPr>
              <a:solidFill>
                <a:srgbClr val="000000"/>
              </a:solidFill>
              <a:latin typeface="Lexend"/>
              <a:ea typeface="Lexend"/>
              <a:cs typeface="Lexend"/>
              <a:sym typeface="Lexend"/>
            </a:endParaRPr>
          </a:p>
        </p:txBody>
      </p:sp>
      <p:sp>
        <p:nvSpPr>
          <p:cNvPr id="203" name="Google Shape;203;p22"/>
          <p:cNvSpPr txBox="1"/>
          <p:nvPr/>
        </p:nvSpPr>
        <p:spPr>
          <a:xfrm>
            <a:off x="1942049" y="3444386"/>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B′ </a:t>
            </a:r>
            <a:endParaRPr>
              <a:solidFill>
                <a:srgbClr val="000000"/>
              </a:solidFill>
              <a:latin typeface="Lexend"/>
              <a:ea typeface="Lexend"/>
              <a:cs typeface="Lexend"/>
              <a:sym typeface="Lexend"/>
            </a:endParaRPr>
          </a:p>
        </p:txBody>
      </p:sp>
      <p:sp>
        <p:nvSpPr>
          <p:cNvPr id="204" name="Google Shape;204;p22"/>
          <p:cNvSpPr txBox="1"/>
          <p:nvPr/>
        </p:nvSpPr>
        <p:spPr>
          <a:xfrm>
            <a:off x="2568549" y="2038897"/>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B</a:t>
            </a:r>
            <a:endParaRPr>
              <a:solidFill>
                <a:srgbClr val="000000"/>
              </a:solidFill>
              <a:latin typeface="Lexend"/>
              <a:ea typeface="Lexend"/>
              <a:cs typeface="Lexend"/>
              <a:sym typeface="Lexend"/>
            </a:endParaRPr>
          </a:p>
        </p:txBody>
      </p:sp>
      <p:sp>
        <p:nvSpPr>
          <p:cNvPr id="205" name="Google Shape;205;p22"/>
          <p:cNvSpPr txBox="1"/>
          <p:nvPr/>
        </p:nvSpPr>
        <p:spPr>
          <a:xfrm>
            <a:off x="5791319" y="2149679"/>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C</a:t>
            </a:r>
            <a:endParaRPr>
              <a:solidFill>
                <a:srgbClr val="000000"/>
              </a:solidFill>
              <a:latin typeface="Lexend"/>
              <a:ea typeface="Lexend"/>
              <a:cs typeface="Lexend"/>
              <a:sym typeface="Lexend"/>
            </a:endParaRPr>
          </a:p>
        </p:txBody>
      </p:sp>
      <p:sp>
        <p:nvSpPr>
          <p:cNvPr id="206" name="Google Shape;206;p22"/>
          <p:cNvSpPr txBox="1"/>
          <p:nvPr/>
        </p:nvSpPr>
        <p:spPr>
          <a:xfrm>
            <a:off x="6784813" y="3180726"/>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D</a:t>
            </a:r>
            <a:endParaRPr>
              <a:solidFill>
                <a:srgbClr val="000000"/>
              </a:solidFill>
              <a:latin typeface="Lexend"/>
              <a:ea typeface="Lexend"/>
              <a:cs typeface="Lexend"/>
              <a:sym typeface="Lexend"/>
            </a:endParaRPr>
          </a:p>
        </p:txBody>
      </p:sp>
      <p:sp>
        <p:nvSpPr>
          <p:cNvPr id="207" name="Google Shape;207;p22"/>
          <p:cNvSpPr txBox="1"/>
          <p:nvPr/>
        </p:nvSpPr>
        <p:spPr>
          <a:xfrm>
            <a:off x="3982899" y="2925060"/>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D′ </a:t>
            </a:r>
            <a:endParaRPr>
              <a:solidFill>
                <a:srgbClr val="000000"/>
              </a:solidFill>
              <a:latin typeface="Lexend"/>
              <a:ea typeface="Lexend"/>
              <a:cs typeface="Lexend"/>
              <a:sym typeface="Lexend"/>
            </a:endParaRPr>
          </a:p>
        </p:txBody>
      </p:sp>
      <p:sp>
        <p:nvSpPr>
          <p:cNvPr id="208" name="Google Shape;208;p22"/>
          <p:cNvSpPr txBox="1"/>
          <p:nvPr/>
        </p:nvSpPr>
        <p:spPr>
          <a:xfrm>
            <a:off x="4975767" y="4040112"/>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C′ </a:t>
            </a:r>
            <a:endParaRPr>
              <a:solidFill>
                <a:srgbClr val="000000"/>
              </a:solidFill>
              <a:latin typeface="Lexend"/>
              <a:ea typeface="Lexend"/>
              <a:cs typeface="Lexend"/>
              <a:sym typeface="Lexend"/>
            </a:endParaRPr>
          </a:p>
        </p:txBody>
      </p:sp>
      <p:sp>
        <p:nvSpPr>
          <p:cNvPr id="209" name="Google Shape;209;p22"/>
          <p:cNvSpPr txBox="1"/>
          <p:nvPr/>
        </p:nvSpPr>
        <p:spPr>
          <a:xfrm>
            <a:off x="468000" y="5278726"/>
            <a:ext cx="6624000" cy="18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2) By connecting corresponding points on the object and image, find the centre of rotation for these rotations.</a:t>
            </a:r>
            <a:endParaRPr sz="1200">
              <a:latin typeface="Lexend"/>
              <a:ea typeface="Lexend"/>
              <a:cs typeface="Lexend"/>
              <a:sym typeface="Lexend"/>
            </a:endParaRPr>
          </a:p>
        </p:txBody>
      </p:sp>
      <p:pic>
        <p:nvPicPr>
          <p:cNvPr id="210" name="Google Shape;210;p22"/>
          <p:cNvPicPr preferRelativeResize="0"/>
          <p:nvPr/>
        </p:nvPicPr>
        <p:blipFill>
          <a:blip r:embed="rId4">
            <a:alphaModFix/>
          </a:blip>
          <a:stretch>
            <a:fillRect/>
          </a:stretch>
        </p:blipFill>
        <p:spPr>
          <a:xfrm>
            <a:off x="468000" y="5764626"/>
            <a:ext cx="6624001" cy="2423055"/>
          </a:xfrm>
          <a:prstGeom prst="rect">
            <a:avLst/>
          </a:prstGeom>
          <a:noFill/>
          <a:ln>
            <a:noFill/>
          </a:ln>
        </p:spPr>
      </p:pic>
      <p:sp>
        <p:nvSpPr>
          <p:cNvPr id="211" name="Google Shape;211;p22"/>
          <p:cNvSpPr txBox="1"/>
          <p:nvPr/>
        </p:nvSpPr>
        <p:spPr>
          <a:xfrm>
            <a:off x="468000" y="8660326"/>
            <a:ext cx="6624000" cy="18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3) Complete the sentence below:</a:t>
            </a:r>
            <a:endParaRPr sz="1200">
              <a:latin typeface="Lexend"/>
              <a:ea typeface="Lexend"/>
              <a:cs typeface="Lexend"/>
              <a:sym typeface="Lexend"/>
            </a:endParaRPr>
          </a:p>
          <a:p>
            <a:pPr marL="0" lvl="0" indent="0" algn="l" rtl="0">
              <a:lnSpc>
                <a:spcPct val="115000"/>
              </a:lnSpc>
              <a:spcBef>
                <a:spcPts val="1000"/>
              </a:spcBef>
              <a:spcAft>
                <a:spcPts val="1000"/>
              </a:spcAft>
              <a:buNone/>
            </a:pPr>
            <a:r>
              <a:rPr lang="en-GB" sz="1200">
                <a:latin typeface="Lexend"/>
                <a:ea typeface="Lexend"/>
                <a:cs typeface="Lexend"/>
                <a:sym typeface="Lexend"/>
              </a:rPr>
              <a:t>“To find the centre of rotation by connecting corresponding points, the image must have been rotated by </a:t>
            </a:r>
            <a:r>
              <a:rPr lang="en-GB" sz="1200" u="sng">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p:txBody>
      </p:sp>
      <p:sp>
        <p:nvSpPr>
          <p:cNvPr id="212" name="Google Shape;212;p22"/>
          <p:cNvSpPr txBox="1"/>
          <p:nvPr/>
        </p:nvSpPr>
        <p:spPr>
          <a:xfrm>
            <a:off x="6352325" y="9972000"/>
            <a:ext cx="483300" cy="277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sz="1200">
                <a:solidFill>
                  <a:srgbClr val="000000"/>
                </a:solidFill>
                <a:latin typeface="Lexend Medium"/>
                <a:ea typeface="Lexend Medium"/>
                <a:cs typeface="Lexend Medium"/>
                <a:sym typeface="Lexend Medium"/>
              </a:rPr>
              <a:t>3</a:t>
            </a:fld>
            <a:endParaRPr sz="1200">
              <a:solidFill>
                <a:srgbClr val="000000"/>
              </a:solidFill>
              <a:latin typeface="Lexend Medium"/>
              <a:ea typeface="Lexend Medium"/>
              <a:cs typeface="Lexend Medium"/>
              <a:sym typeface="Lexend Medium"/>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16" name="Shape 216"/>
        <p:cNvGrpSpPr/>
        <p:nvPr/>
      </p:nvGrpSpPr>
      <p:grpSpPr>
        <a:xfrm>
          <a:off x="0" y="0"/>
          <a:ext cx="0" cy="0"/>
        </a:xfrm>
      </p:grpSpPr>
      <p:sp>
        <p:nvSpPr>
          <p:cNvPr id="217" name="Google Shape;217;p23"/>
          <p:cNvSpPr txBox="1"/>
          <p:nvPr/>
        </p:nvSpPr>
        <p:spPr>
          <a:xfrm>
            <a:off x="6352325" y="9972000"/>
            <a:ext cx="483300" cy="277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sz="1200">
                <a:solidFill>
                  <a:srgbClr val="000000"/>
                </a:solidFill>
                <a:latin typeface="Lexend Medium"/>
                <a:ea typeface="Lexend Medium"/>
                <a:cs typeface="Lexend Medium"/>
                <a:sym typeface="Lexend Medium"/>
              </a:rPr>
              <a:t>4</a:t>
            </a:fld>
            <a:endParaRPr sz="1200">
              <a:solidFill>
                <a:srgbClr val="000000"/>
              </a:solidFill>
              <a:latin typeface="Lexend Medium"/>
              <a:ea typeface="Lexend Medium"/>
              <a:cs typeface="Lexend Medium"/>
              <a:sym typeface="Lexend Medium"/>
            </a:endParaRPr>
          </a:p>
        </p:txBody>
      </p:sp>
      <p:sp>
        <p:nvSpPr>
          <p:cNvPr id="218" name="Google Shape;218;p23"/>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rgbClr val="FFFFFF"/>
                </a:solidFill>
                <a:latin typeface="Lexend"/>
                <a:ea typeface="Lexend"/>
                <a:cs typeface="Lexend"/>
                <a:sym typeface="Lexend"/>
              </a:rPr>
              <a:t>v2.2</a:t>
            </a:r>
            <a:endParaRPr sz="1000">
              <a:solidFill>
                <a:srgbClr val="FFFFFF"/>
              </a:solidFill>
              <a:latin typeface="Lexend"/>
              <a:ea typeface="Lexend"/>
              <a:cs typeface="Lexend"/>
              <a:sym typeface="Lexend"/>
            </a:endParaRPr>
          </a:p>
        </p:txBody>
      </p:sp>
      <p:sp>
        <p:nvSpPr>
          <p:cNvPr id="219" name="Google Shape;219;p23"/>
          <p:cNvSpPr txBox="1"/>
          <p:nvPr/>
        </p:nvSpPr>
        <p:spPr>
          <a:xfrm>
            <a:off x="3903375" y="9972000"/>
            <a:ext cx="2722800" cy="161100"/>
          </a:xfrm>
          <a:prstGeom prst="rect">
            <a:avLst/>
          </a:prstGeom>
          <a:noFill/>
          <a:ln>
            <a:noFill/>
          </a:ln>
        </p:spPr>
        <p:txBody>
          <a:bodyPr spcFirstLastPara="1" wrap="square" lIns="0" tIns="0" rIns="0" bIns="0" anchor="b" anchorCtr="0">
            <a:normAutofit/>
          </a:bodyPr>
          <a:lstStyle/>
          <a:p>
            <a:pPr marL="0" lvl="0" indent="0" algn="l" rtl="0">
              <a:lnSpc>
                <a:spcPct val="115000"/>
              </a:lnSpc>
              <a:spcBef>
                <a:spcPct val="0"/>
              </a:spcBef>
              <a:spcAft>
                <a:spcPct val="0"/>
              </a:spcAft>
              <a:buNone/>
            </a:pPr>
            <a:r>
              <a:rPr lang="en-GB" sz="900">
                <a:solidFill>
                  <a:srgbClr val="575756"/>
                </a:solidFill>
                <a:latin typeface="Lexend Light"/>
                <a:ea typeface="Lexend Light"/>
                <a:cs typeface="Lexend Light"/>
                <a:sym typeface="Lexend Light"/>
              </a:rPr>
              <a:t>Mathematics in Education and Industry</a:t>
            </a:r>
            <a:endParaRPr sz="900">
              <a:solidFill>
                <a:srgbClr val="575756"/>
              </a:solidFill>
              <a:latin typeface="Lexend Light"/>
              <a:ea typeface="Lexend Light"/>
              <a:cs typeface="Lexend Light"/>
              <a:sym typeface="Lexend Light"/>
            </a:endParaRPr>
          </a:p>
        </p:txBody>
      </p:sp>
      <p:sp>
        <p:nvSpPr>
          <p:cNvPr id="220" name="Google Shape;220;p23"/>
          <p:cNvSpPr txBox="1"/>
          <p:nvPr/>
        </p:nvSpPr>
        <p:spPr>
          <a:xfrm>
            <a:off x="468000" y="360000"/>
            <a:ext cx="5778000" cy="1386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900">
                <a:solidFill>
                  <a:srgbClr val="000000"/>
                </a:solidFill>
                <a:latin typeface="Lexend"/>
                <a:ea typeface="Lexend"/>
                <a:cs typeface="Lexend"/>
                <a:sym typeface="Lexend"/>
              </a:rPr>
              <a:t>Understanding the centre of rotation</a:t>
            </a:r>
            <a:endParaRPr sz="900">
              <a:solidFill>
                <a:srgbClr val="000000"/>
              </a:solidFill>
              <a:latin typeface="Lexend"/>
              <a:ea typeface="Lexend"/>
              <a:cs typeface="Lexend"/>
              <a:sym typeface="Lexend"/>
            </a:endParaRPr>
          </a:p>
        </p:txBody>
      </p:sp>
      <p:sp>
        <p:nvSpPr>
          <p:cNvPr id="221" name="Google Shape;221;p23"/>
          <p:cNvSpPr txBox="1"/>
          <p:nvPr/>
        </p:nvSpPr>
        <p:spPr>
          <a:xfrm>
            <a:off x="468000" y="719994"/>
            <a:ext cx="6624000" cy="18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4) Fully describe these rotations.</a:t>
            </a:r>
            <a:endParaRPr sz="1200">
              <a:latin typeface="Lexend"/>
              <a:ea typeface="Lexend"/>
              <a:cs typeface="Lexend"/>
              <a:sym typeface="Lexend"/>
            </a:endParaRPr>
          </a:p>
        </p:txBody>
      </p:sp>
      <p:pic>
        <p:nvPicPr>
          <p:cNvPr id="222" name="Google Shape;222;p23"/>
          <p:cNvPicPr preferRelativeResize="0"/>
          <p:nvPr/>
        </p:nvPicPr>
        <p:blipFill>
          <a:blip r:embed="rId3">
            <a:alphaModFix/>
          </a:blip>
          <a:stretch>
            <a:fillRect/>
          </a:stretch>
        </p:blipFill>
        <p:spPr>
          <a:xfrm>
            <a:off x="468000" y="1001700"/>
            <a:ext cx="6624000" cy="2611852"/>
          </a:xfrm>
          <a:prstGeom prst="rect">
            <a:avLst/>
          </a:prstGeom>
          <a:noFill/>
          <a:ln>
            <a:noFill/>
          </a:ln>
        </p:spPr>
      </p:pic>
      <p:sp>
        <p:nvSpPr>
          <p:cNvPr id="223" name="Google Shape;223;p23"/>
          <p:cNvSpPr txBox="1"/>
          <p:nvPr/>
        </p:nvSpPr>
        <p:spPr>
          <a:xfrm>
            <a:off x="1354691" y="1107024"/>
            <a:ext cx="1146900" cy="190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object 1</a:t>
            </a:r>
            <a:endParaRPr>
              <a:solidFill>
                <a:srgbClr val="000000"/>
              </a:solidFill>
              <a:latin typeface="Lexend"/>
              <a:ea typeface="Lexend"/>
              <a:cs typeface="Lexend"/>
              <a:sym typeface="Lexend"/>
            </a:endParaRPr>
          </a:p>
        </p:txBody>
      </p:sp>
      <p:sp>
        <p:nvSpPr>
          <p:cNvPr id="224" name="Google Shape;224;p23"/>
          <p:cNvSpPr txBox="1"/>
          <p:nvPr/>
        </p:nvSpPr>
        <p:spPr>
          <a:xfrm>
            <a:off x="4354277" y="1107024"/>
            <a:ext cx="1146900" cy="190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object 2</a:t>
            </a:r>
            <a:endParaRPr>
              <a:solidFill>
                <a:srgbClr val="000000"/>
              </a:solidFill>
              <a:latin typeface="Lexend"/>
              <a:ea typeface="Lexend"/>
              <a:cs typeface="Lexend"/>
              <a:sym typeface="Lexend"/>
            </a:endParaRPr>
          </a:p>
        </p:txBody>
      </p:sp>
      <p:sp>
        <p:nvSpPr>
          <p:cNvPr id="225" name="Google Shape;225;p23"/>
          <p:cNvSpPr txBox="1"/>
          <p:nvPr/>
        </p:nvSpPr>
        <p:spPr>
          <a:xfrm>
            <a:off x="468014" y="3781100"/>
            <a:ext cx="2952000" cy="190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Description for </a:t>
            </a:r>
            <a:r>
              <a:rPr lang="en-GB" sz="1200">
                <a:solidFill>
                  <a:srgbClr val="000000"/>
                </a:solidFill>
                <a:latin typeface="Lexend"/>
                <a:ea typeface="Lexend"/>
                <a:cs typeface="Lexend"/>
                <a:sym typeface="Lexend"/>
              </a:rPr>
              <a:t>object 1</a:t>
            </a:r>
            <a:endParaRPr sz="1200">
              <a:solidFill>
                <a:srgbClr val="000000"/>
              </a:solidFill>
              <a:latin typeface="Lexend"/>
              <a:ea typeface="Lexend"/>
              <a:cs typeface="Lexend"/>
              <a:sym typeface="Lexend"/>
            </a:endParaRPr>
          </a:p>
        </p:txBody>
      </p:sp>
      <p:sp>
        <p:nvSpPr>
          <p:cNvPr id="226" name="Google Shape;226;p23"/>
          <p:cNvSpPr txBox="1"/>
          <p:nvPr/>
        </p:nvSpPr>
        <p:spPr>
          <a:xfrm>
            <a:off x="4139989" y="3781100"/>
            <a:ext cx="2952000" cy="190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Description for </a:t>
            </a:r>
            <a:r>
              <a:rPr lang="en-GB" sz="1200">
                <a:solidFill>
                  <a:srgbClr val="000000"/>
                </a:solidFill>
                <a:latin typeface="Lexend"/>
                <a:ea typeface="Lexend"/>
                <a:cs typeface="Lexend"/>
                <a:sym typeface="Lexend"/>
              </a:rPr>
              <a:t>object </a:t>
            </a:r>
            <a:r>
              <a:rPr lang="en-GB" sz="1200">
                <a:latin typeface="Lexend"/>
                <a:ea typeface="Lexend"/>
                <a:cs typeface="Lexend"/>
                <a:sym typeface="Lexend"/>
              </a:rPr>
              <a:t>2</a:t>
            </a:r>
            <a:endParaRPr sz="1200">
              <a:solidFill>
                <a:srgbClr val="000000"/>
              </a:solidFill>
              <a:latin typeface="Lexend"/>
              <a:ea typeface="Lexend"/>
              <a:cs typeface="Lexend"/>
              <a:sym typeface="Lexend"/>
            </a:endParaRPr>
          </a:p>
        </p:txBody>
      </p:sp>
      <p:cxnSp>
        <p:nvCxnSpPr>
          <p:cNvPr id="227" name="Google Shape;227;p23"/>
          <p:cNvCxnSpPr/>
          <p:nvPr/>
        </p:nvCxnSpPr>
        <p:spPr>
          <a:xfrm>
            <a:off x="474750" y="9972000"/>
            <a:ext cx="6610500" cy="0"/>
          </a:xfrm>
          <a:prstGeom prst="straightConnector1">
            <a:avLst/>
          </a:prstGeom>
          <a:noFill/>
          <a:ln w="38100" cap="flat" cmpd="sng">
            <a:solidFill>
              <a:srgbClr val="000000"/>
            </a:solidFill>
            <a:prstDash val="solid"/>
            <a:round/>
            <a:headEnd type="none" w="med" len="med"/>
            <a:tailEnd type="none" w="med" len="med"/>
          </a:ln>
        </p:spPr>
      </p:cxnSp>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3.10.14"/>
  <p:tag name="AS_TITLE" val="Aspose.Slides for .NET Standard 2.0"/>
  <p:tag name="AS_VERSION" val="23.10"/>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69</Paragraphs>
  <Slides>4</Slides>
  <Notes>4</Notes>
  <TotalTime>0</TotalTime>
  <HiddenSlides>0</HiddenSlides>
  <MMClips>0</MMClips>
  <ScaleCrop>0</ScaleCrop>
  <HeadingPairs>
    <vt:vector baseType="variant" size="6">
      <vt:variant>
        <vt:lpstr>Fonts used</vt:lpstr>
      </vt:variant>
      <vt:variant>
        <vt:i4>5</vt:i4>
      </vt:variant>
      <vt:variant>
        <vt:lpstr>Theme</vt:lpstr>
      </vt:variant>
      <vt:variant>
        <vt:i4>1</vt:i4>
      </vt:variant>
      <vt:variant>
        <vt:lpstr>Slide Titles</vt:lpstr>
      </vt:variant>
      <vt:variant>
        <vt:i4>4</vt:i4>
      </vt:variant>
    </vt:vector>
  </HeadingPairs>
  <TitlesOfParts>
    <vt:vector baseType="lpstr" size="10">
      <vt:lpstr>Arial</vt:lpstr>
      <vt:lpstr>Lexend</vt:lpstr>
      <vt:lpstr>Kalam</vt:lpstr>
      <vt:lpstr>Lexend Medium</vt:lpstr>
      <vt:lpstr>Lexend Light</vt:lpstr>
      <vt:lpstr>simple-light-2</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23.1000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2023-11-02T16:02:38.461</cp:lastPrinted>
  <dcterms:created xsi:type="dcterms:W3CDTF">2023-11-02T16:02:38Z</dcterms:created>
  <dcterms:modified xsi:type="dcterms:W3CDTF">2023-11-02T16:02:07Z</dcterms:modified>
</cp:coreProperties>
</file>