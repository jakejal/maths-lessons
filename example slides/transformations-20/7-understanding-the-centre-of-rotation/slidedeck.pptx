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7078b0b8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7078b0b8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86e04c79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86e04c79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86e04c79ab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g286e04c79a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1ea5538f49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g1ea5538f4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1ea5538f49b_0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5" name="Google Shape;855;g1ea5538f49b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86e04c79ab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86e04c79ab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86e04c79ab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86e04c79ab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86e04c79ab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86e04c79ab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86e04c79ab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86e04c79ab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86e04c79ab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286e04c79ab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86e04c79ab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86e04c79ab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86e04c79ab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86e04c79ab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86e04c79ab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286e04c79ab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86e04c79ab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86e04c79ab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286e04c79ab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286e04c79ab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86e04c79ab_0_1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86e04c79ab_0_1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286e04c79ab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286e04c79ab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87078b0b8b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87078b0b8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286e04c79ab_0_1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286e04c79ab_0_1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87078b0b8b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87078b0b8b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286e04c79ab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286e04c79ab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86e04c79ab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86e04c79ab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86e04c79ab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86e04c79ab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286e04c79ab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286e04c79ab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287078b0b8b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287078b0b8b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286e04c79ab_0_1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286e04c79ab_0_1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287078b0b8b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287078b0b8b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286e04c79ab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286e04c79ab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286e04c79ab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286e04c79ab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286e04c79ab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286e04c79ab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286e04c79ab_0_1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286e04c79ab_0_1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286e04c79ab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286e04c79ab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286e04c79ab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286e04c79ab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286e04c79ab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286e04c79ab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286e04c79ab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286e04c79ab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287078b0b8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287078b0b8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287078b0b8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287078b0b8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287078b0b8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287078b0b8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286e04c79ab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86e04c79ab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287078b0b8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287078b0b8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90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Relationship Id="rId7" Type="http://schemas.openxmlformats.org/officeDocument/2006/relationships/image" Target="../media/image2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90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90.png"/><Relationship Id="rId4" Type="http://schemas.openxmlformats.org/officeDocument/2006/relationships/image" Target="../media/image29.png"/><Relationship Id="rId11" Type="http://schemas.openxmlformats.org/officeDocument/2006/relationships/image" Target="../media/image20.png"/><Relationship Id="rId10" Type="http://schemas.openxmlformats.org/officeDocument/2006/relationships/image" Target="../media/image36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3.png"/><Relationship Id="rId4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png"/><Relationship Id="rId4" Type="http://schemas.openxmlformats.org/officeDocument/2006/relationships/image" Target="../media/image4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6.png"/><Relationship Id="rId4" Type="http://schemas.openxmlformats.org/officeDocument/2006/relationships/image" Target="../media/image4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8.png"/><Relationship Id="rId4" Type="http://schemas.openxmlformats.org/officeDocument/2006/relationships/image" Target="../media/image66.png"/><Relationship Id="rId5" Type="http://schemas.openxmlformats.org/officeDocument/2006/relationships/image" Target="../media/image64.png"/><Relationship Id="rId6" Type="http://schemas.openxmlformats.org/officeDocument/2006/relationships/image" Target="../media/image4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6.png"/><Relationship Id="rId4" Type="http://schemas.openxmlformats.org/officeDocument/2006/relationships/image" Target="../media/image63.png"/><Relationship Id="rId5" Type="http://schemas.openxmlformats.org/officeDocument/2006/relationships/image" Target="../media/image60.png"/><Relationship Id="rId6" Type="http://schemas.openxmlformats.org/officeDocument/2006/relationships/image" Target="../media/image5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2.png"/><Relationship Id="rId4" Type="http://schemas.openxmlformats.org/officeDocument/2006/relationships/image" Target="../media/image65.png"/><Relationship Id="rId5" Type="http://schemas.openxmlformats.org/officeDocument/2006/relationships/image" Target="../media/image67.png"/><Relationship Id="rId6" Type="http://schemas.openxmlformats.org/officeDocument/2006/relationships/image" Target="../media/image61.png"/><Relationship Id="rId7" Type="http://schemas.openxmlformats.org/officeDocument/2006/relationships/image" Target="../media/image68.png"/><Relationship Id="rId8" Type="http://schemas.openxmlformats.org/officeDocument/2006/relationships/image" Target="../media/image4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6.png"/><Relationship Id="rId4" Type="http://schemas.openxmlformats.org/officeDocument/2006/relationships/image" Target="../media/image70.png"/><Relationship Id="rId5" Type="http://schemas.openxmlformats.org/officeDocument/2006/relationships/image" Target="../media/image7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1.png"/><Relationship Id="rId4" Type="http://schemas.openxmlformats.org/officeDocument/2006/relationships/image" Target="../media/image4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3.png"/><Relationship Id="rId4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4.png"/><Relationship Id="rId4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7.png"/><Relationship Id="rId4" Type="http://schemas.openxmlformats.org/officeDocument/2006/relationships/image" Target="../media/image4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1.png"/><Relationship Id="rId4" Type="http://schemas.openxmlformats.org/officeDocument/2006/relationships/image" Target="../media/image4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3.png"/><Relationship Id="rId4" Type="http://schemas.openxmlformats.org/officeDocument/2006/relationships/image" Target="../media/image4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4.png"/><Relationship Id="rId4" Type="http://schemas.openxmlformats.org/officeDocument/2006/relationships/image" Target="../media/image4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7.png"/><Relationship Id="rId4" Type="http://schemas.openxmlformats.org/officeDocument/2006/relationships/image" Target="../media/image4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8.png"/><Relationship Id="rId4" Type="http://schemas.openxmlformats.org/officeDocument/2006/relationships/image" Target="../media/image8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the centre of rotation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the minimum information required to fully describe a rotation.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>
                <a:solidFill>
                  <a:schemeClr val="dk1"/>
                </a:solidFill>
                <a:highlight>
                  <a:srgbClr val="FFFFFF"/>
                </a:highlight>
              </a:rPr>
              <a:t>The 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centre of rotation </a:t>
            </a:r>
            <a:r>
              <a:rPr b="0" lang="en-GB">
                <a:solidFill>
                  <a:schemeClr val="dk1"/>
                </a:solidFill>
                <a:highlight>
                  <a:srgbClr val="FFFFFF"/>
                </a:highlight>
              </a:rPr>
              <a:t>is the fixed point about which an object is rotated. </a:t>
            </a:r>
            <a:endParaRPr sz="3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with the </a:t>
            </a:r>
            <a:r>
              <a:rPr b="1" lang="en-GB"/>
              <a:t>centre of rotation</a:t>
            </a:r>
            <a:endParaRPr b="1"/>
          </a:p>
        </p:txBody>
      </p:sp>
      <p:sp>
        <p:nvSpPr>
          <p:cNvPr id="772" name="Google Shape;772;p68"/>
          <p:cNvSpPr txBox="1"/>
          <p:nvPr>
            <p:ph idx="3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the centre of rotation</a:t>
            </a:r>
            <a:endParaRPr/>
          </a:p>
        </p:txBody>
      </p:sp>
      <p:pic>
        <p:nvPicPr>
          <p:cNvPr id="773" name="Google Shape;77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50" y="2059393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b="1" lang="en-GB"/>
              <a:t>centre of rotation</a:t>
            </a:r>
            <a:r>
              <a:rPr lang="en-GB"/>
              <a:t> for 180° rotations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9" name="Google Shape;779;p69"/>
          <p:cNvGrpSpPr/>
          <p:nvPr/>
        </p:nvGrpSpPr>
        <p:grpSpPr>
          <a:xfrm>
            <a:off x="6516488" y="983979"/>
            <a:ext cx="721502" cy="2184896"/>
            <a:chOff x="2257222" y="1133186"/>
            <a:chExt cx="721502" cy="2184896"/>
          </a:xfrm>
        </p:grpSpPr>
        <p:sp>
          <p:nvSpPr>
            <p:cNvPr id="780" name="Google Shape;780;p69"/>
            <p:cNvSpPr/>
            <p:nvPr/>
          </p:nvSpPr>
          <p:spPr>
            <a:xfrm rot="10800000">
              <a:off x="2257222" y="2225182"/>
              <a:ext cx="359400" cy="1092900"/>
            </a:xfrm>
            <a:prstGeom prst="rtTriangl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69"/>
            <p:cNvSpPr/>
            <p:nvPr/>
          </p:nvSpPr>
          <p:spPr>
            <a:xfrm>
              <a:off x="2619324" y="1133186"/>
              <a:ext cx="359400" cy="1092900"/>
            </a:xfrm>
            <a:prstGeom prst="rtTriangle">
              <a:avLst/>
            </a:prstGeom>
            <a:solidFill>
              <a:srgbClr val="F3EEFB"/>
            </a:solidFill>
            <a:ln cap="flat" cmpd="sng" w="254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2" name="Google Shape;782;p69"/>
          <p:cNvGrpSpPr/>
          <p:nvPr/>
        </p:nvGrpSpPr>
        <p:grpSpPr>
          <a:xfrm>
            <a:off x="6516488" y="983979"/>
            <a:ext cx="721502" cy="2184896"/>
            <a:chOff x="2257222" y="1133186"/>
            <a:chExt cx="721502" cy="2184896"/>
          </a:xfrm>
        </p:grpSpPr>
        <p:sp>
          <p:nvSpPr>
            <p:cNvPr id="783" name="Google Shape;783;p69"/>
            <p:cNvSpPr/>
            <p:nvPr/>
          </p:nvSpPr>
          <p:spPr>
            <a:xfrm rot="10800000">
              <a:off x="2257222" y="2225182"/>
              <a:ext cx="359400" cy="1092900"/>
            </a:xfrm>
            <a:prstGeom prst="rtTriangl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69"/>
            <p:cNvSpPr/>
            <p:nvPr/>
          </p:nvSpPr>
          <p:spPr>
            <a:xfrm>
              <a:off x="2619324" y="1133186"/>
              <a:ext cx="359400" cy="1092900"/>
            </a:xfrm>
            <a:prstGeom prst="rtTriangle">
              <a:avLst/>
            </a:prstGeom>
            <a:solidFill>
              <a:srgbClr val="F3EEFB"/>
            </a:solidFill>
            <a:ln cap="flat" cmpd="sng" w="254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5" name="Google Shape;785;p69"/>
          <p:cNvGrpSpPr/>
          <p:nvPr/>
        </p:nvGrpSpPr>
        <p:grpSpPr>
          <a:xfrm rot="1800044">
            <a:off x="6515598" y="983946"/>
            <a:ext cx="721486" cy="2184848"/>
            <a:chOff x="2257222" y="1133186"/>
            <a:chExt cx="721502" cy="2184896"/>
          </a:xfrm>
        </p:grpSpPr>
        <p:sp>
          <p:nvSpPr>
            <p:cNvPr id="786" name="Google Shape;786;p69"/>
            <p:cNvSpPr/>
            <p:nvPr/>
          </p:nvSpPr>
          <p:spPr>
            <a:xfrm rot="10800000">
              <a:off x="2257222" y="2225182"/>
              <a:ext cx="359400" cy="1092900"/>
            </a:xfrm>
            <a:prstGeom prst="rtTriangl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69"/>
            <p:cNvSpPr/>
            <p:nvPr/>
          </p:nvSpPr>
          <p:spPr>
            <a:xfrm>
              <a:off x="2619324" y="1133186"/>
              <a:ext cx="359400" cy="1092900"/>
            </a:xfrm>
            <a:prstGeom prst="rtTriangle">
              <a:avLst/>
            </a:prstGeom>
            <a:solidFill>
              <a:srgbClr val="F3EEFB"/>
            </a:solidFill>
            <a:ln cap="flat" cmpd="sng" w="254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8" name="Google Shape;788;p69"/>
          <p:cNvGrpSpPr/>
          <p:nvPr/>
        </p:nvGrpSpPr>
        <p:grpSpPr>
          <a:xfrm rot="3599956">
            <a:off x="6517117" y="983937"/>
            <a:ext cx="721486" cy="2184848"/>
            <a:chOff x="2257222" y="1133186"/>
            <a:chExt cx="721502" cy="2184896"/>
          </a:xfrm>
        </p:grpSpPr>
        <p:sp>
          <p:nvSpPr>
            <p:cNvPr id="789" name="Google Shape;789;p69"/>
            <p:cNvSpPr/>
            <p:nvPr/>
          </p:nvSpPr>
          <p:spPr>
            <a:xfrm rot="10800000">
              <a:off x="2257222" y="2225182"/>
              <a:ext cx="359400" cy="1092900"/>
            </a:xfrm>
            <a:prstGeom prst="rtTriangl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69"/>
            <p:cNvSpPr/>
            <p:nvPr/>
          </p:nvSpPr>
          <p:spPr>
            <a:xfrm>
              <a:off x="2619324" y="1133186"/>
              <a:ext cx="359400" cy="1092900"/>
            </a:xfrm>
            <a:prstGeom prst="rtTriangle">
              <a:avLst/>
            </a:prstGeom>
            <a:solidFill>
              <a:srgbClr val="F3EEFB"/>
            </a:solidFill>
            <a:ln cap="flat" cmpd="sng" w="254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1" name="Google Shape;791;p69"/>
          <p:cNvGrpSpPr/>
          <p:nvPr/>
        </p:nvGrpSpPr>
        <p:grpSpPr>
          <a:xfrm rot="5400000">
            <a:off x="6514559" y="983979"/>
            <a:ext cx="721502" cy="2184896"/>
            <a:chOff x="2257222" y="1133186"/>
            <a:chExt cx="721502" cy="2184896"/>
          </a:xfrm>
        </p:grpSpPr>
        <p:sp>
          <p:nvSpPr>
            <p:cNvPr id="792" name="Google Shape;792;p69"/>
            <p:cNvSpPr/>
            <p:nvPr/>
          </p:nvSpPr>
          <p:spPr>
            <a:xfrm rot="10800000">
              <a:off x="2257222" y="2225182"/>
              <a:ext cx="359400" cy="1092900"/>
            </a:xfrm>
            <a:prstGeom prst="rtTriangl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69"/>
            <p:cNvSpPr/>
            <p:nvPr/>
          </p:nvSpPr>
          <p:spPr>
            <a:xfrm>
              <a:off x="2619324" y="1133186"/>
              <a:ext cx="359400" cy="1092900"/>
            </a:xfrm>
            <a:prstGeom prst="rtTriangle">
              <a:avLst/>
            </a:prstGeom>
            <a:solidFill>
              <a:srgbClr val="F3EEFB"/>
            </a:solidFill>
            <a:ln cap="flat" cmpd="sng" w="254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4" name="Google Shape;794;p69"/>
          <p:cNvGrpSpPr/>
          <p:nvPr/>
        </p:nvGrpSpPr>
        <p:grpSpPr>
          <a:xfrm>
            <a:off x="5977901" y="980786"/>
            <a:ext cx="1261108" cy="3181927"/>
            <a:chOff x="6219201" y="1560947"/>
            <a:chExt cx="1261108" cy="3181927"/>
          </a:xfrm>
        </p:grpSpPr>
        <p:sp>
          <p:nvSpPr>
            <p:cNvPr id="795" name="Google Shape;795;p69"/>
            <p:cNvSpPr/>
            <p:nvPr/>
          </p:nvSpPr>
          <p:spPr>
            <a:xfrm rot="10800000">
              <a:off x="6219201" y="3649974"/>
              <a:ext cx="359400" cy="1092900"/>
            </a:xfrm>
            <a:prstGeom prst="rtTriangle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6" name="Google Shape;796;p69"/>
            <p:cNvGrpSpPr/>
            <p:nvPr/>
          </p:nvGrpSpPr>
          <p:grpSpPr>
            <a:xfrm rot="1680038">
              <a:off x="6695799" y="2572548"/>
              <a:ext cx="293808" cy="1166699"/>
              <a:chOff x="5444838" y="1544782"/>
              <a:chExt cx="457200" cy="1815524"/>
            </a:xfrm>
          </p:grpSpPr>
          <p:cxnSp>
            <p:nvCxnSpPr>
              <p:cNvPr id="797" name="Google Shape;797;p69"/>
              <p:cNvCxnSpPr/>
              <p:nvPr/>
            </p:nvCxnSpPr>
            <p:spPr>
              <a:xfrm>
                <a:off x="5673436" y="1544782"/>
                <a:ext cx="0" cy="914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8" name="Google Shape;798;p69"/>
              <p:cNvCxnSpPr/>
              <p:nvPr/>
            </p:nvCxnSpPr>
            <p:spPr>
              <a:xfrm>
                <a:off x="5673436" y="2445906"/>
                <a:ext cx="0" cy="914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sp>
            <p:nvSpPr>
              <p:cNvPr id="799" name="Google Shape;799;p69"/>
              <p:cNvSpPr/>
              <p:nvPr/>
            </p:nvSpPr>
            <p:spPr>
              <a:xfrm>
                <a:off x="5444838" y="2212546"/>
                <a:ext cx="457200" cy="457200"/>
              </a:xfrm>
              <a:prstGeom prst="mathMultiply">
                <a:avLst>
                  <a:gd fmla="val 0" name="adj1"/>
                </a:avLst>
              </a:prstGeom>
              <a:solidFill>
                <a:schemeClr val="dk1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0" name="Google Shape;800;p69"/>
            <p:cNvSpPr/>
            <p:nvPr/>
          </p:nvSpPr>
          <p:spPr>
            <a:xfrm>
              <a:off x="7120909" y="1560947"/>
              <a:ext cx="359400" cy="1092900"/>
            </a:xfrm>
            <a:prstGeom prst="rtTriangle">
              <a:avLst/>
            </a:prstGeom>
            <a:solidFill>
              <a:srgbClr val="F3EEFB"/>
            </a:solidFill>
            <a:ln cap="flat" cmpd="sng" w="254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1" name="Google Shape;801;p69"/>
          <p:cNvSpPr/>
          <p:nvPr/>
        </p:nvSpPr>
        <p:spPr>
          <a:xfrm>
            <a:off x="6879750" y="980128"/>
            <a:ext cx="359400" cy="1092900"/>
          </a:xfrm>
          <a:prstGeom prst="rtTriangle">
            <a:avLst/>
          </a:prstGeom>
          <a:solidFill>
            <a:srgbClr val="E6F2F2"/>
          </a:solidFill>
          <a:ln cap="flat" cmpd="sng" w="254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2" name="Google Shape;802;p69"/>
          <p:cNvGrpSpPr/>
          <p:nvPr/>
        </p:nvGrpSpPr>
        <p:grpSpPr>
          <a:xfrm rot="899960">
            <a:off x="5977803" y="980622"/>
            <a:ext cx="1261070" cy="3181832"/>
            <a:chOff x="6219201" y="1560947"/>
            <a:chExt cx="1261108" cy="3181927"/>
          </a:xfrm>
        </p:grpSpPr>
        <p:sp>
          <p:nvSpPr>
            <p:cNvPr id="803" name="Google Shape;803;p69"/>
            <p:cNvSpPr/>
            <p:nvPr/>
          </p:nvSpPr>
          <p:spPr>
            <a:xfrm rot="10800000">
              <a:off x="6219201" y="3649974"/>
              <a:ext cx="359400" cy="1092900"/>
            </a:xfrm>
            <a:prstGeom prst="rtTriangle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4" name="Google Shape;804;p69"/>
            <p:cNvGrpSpPr/>
            <p:nvPr/>
          </p:nvGrpSpPr>
          <p:grpSpPr>
            <a:xfrm rot="1680038">
              <a:off x="6695799" y="2572548"/>
              <a:ext cx="293808" cy="1166699"/>
              <a:chOff x="5444838" y="1544782"/>
              <a:chExt cx="457200" cy="1815524"/>
            </a:xfrm>
          </p:grpSpPr>
          <p:cxnSp>
            <p:nvCxnSpPr>
              <p:cNvPr id="805" name="Google Shape;805;p69"/>
              <p:cNvCxnSpPr/>
              <p:nvPr/>
            </p:nvCxnSpPr>
            <p:spPr>
              <a:xfrm>
                <a:off x="5673436" y="1544782"/>
                <a:ext cx="0" cy="914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6" name="Google Shape;806;p69"/>
              <p:cNvCxnSpPr/>
              <p:nvPr/>
            </p:nvCxnSpPr>
            <p:spPr>
              <a:xfrm>
                <a:off x="5673436" y="2445906"/>
                <a:ext cx="0" cy="914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sp>
            <p:nvSpPr>
              <p:cNvPr id="807" name="Google Shape;807;p69"/>
              <p:cNvSpPr/>
              <p:nvPr/>
            </p:nvSpPr>
            <p:spPr>
              <a:xfrm>
                <a:off x="5444838" y="2212546"/>
                <a:ext cx="457200" cy="457200"/>
              </a:xfrm>
              <a:prstGeom prst="mathMultiply">
                <a:avLst>
                  <a:gd fmla="val 0" name="adj1"/>
                </a:avLst>
              </a:prstGeom>
              <a:solidFill>
                <a:schemeClr val="dk1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8" name="Google Shape;808;p69"/>
            <p:cNvSpPr/>
            <p:nvPr/>
          </p:nvSpPr>
          <p:spPr>
            <a:xfrm>
              <a:off x="7120909" y="1560947"/>
              <a:ext cx="359400" cy="1092900"/>
            </a:xfrm>
            <a:prstGeom prst="rtTriangle">
              <a:avLst/>
            </a:prstGeom>
            <a:solidFill>
              <a:srgbClr val="F3EEFB"/>
            </a:solidFill>
            <a:ln cap="flat" cmpd="sng" w="254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9" name="Google Shape;809;p69"/>
          <p:cNvGrpSpPr/>
          <p:nvPr/>
        </p:nvGrpSpPr>
        <p:grpSpPr>
          <a:xfrm rot="1800044">
            <a:off x="5977743" y="980741"/>
            <a:ext cx="1261080" cy="3181857"/>
            <a:chOff x="6219201" y="1560947"/>
            <a:chExt cx="1261108" cy="3181927"/>
          </a:xfrm>
        </p:grpSpPr>
        <p:sp>
          <p:nvSpPr>
            <p:cNvPr id="810" name="Google Shape;810;p69"/>
            <p:cNvSpPr/>
            <p:nvPr/>
          </p:nvSpPr>
          <p:spPr>
            <a:xfrm rot="10800000">
              <a:off x="6219201" y="3649974"/>
              <a:ext cx="359400" cy="1092900"/>
            </a:xfrm>
            <a:prstGeom prst="rtTriangle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1" name="Google Shape;811;p69"/>
            <p:cNvGrpSpPr/>
            <p:nvPr/>
          </p:nvGrpSpPr>
          <p:grpSpPr>
            <a:xfrm rot="1680038">
              <a:off x="6695799" y="2572548"/>
              <a:ext cx="293808" cy="1166699"/>
              <a:chOff x="5444838" y="1544782"/>
              <a:chExt cx="457200" cy="1815524"/>
            </a:xfrm>
          </p:grpSpPr>
          <p:cxnSp>
            <p:nvCxnSpPr>
              <p:cNvPr id="812" name="Google Shape;812;p69"/>
              <p:cNvCxnSpPr/>
              <p:nvPr/>
            </p:nvCxnSpPr>
            <p:spPr>
              <a:xfrm>
                <a:off x="5673436" y="1544782"/>
                <a:ext cx="0" cy="914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3" name="Google Shape;813;p69"/>
              <p:cNvCxnSpPr/>
              <p:nvPr/>
            </p:nvCxnSpPr>
            <p:spPr>
              <a:xfrm>
                <a:off x="5673436" y="2445906"/>
                <a:ext cx="0" cy="914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sp>
            <p:nvSpPr>
              <p:cNvPr id="814" name="Google Shape;814;p69"/>
              <p:cNvSpPr/>
              <p:nvPr/>
            </p:nvSpPr>
            <p:spPr>
              <a:xfrm>
                <a:off x="5444838" y="2212546"/>
                <a:ext cx="457200" cy="457200"/>
              </a:xfrm>
              <a:prstGeom prst="mathMultiply">
                <a:avLst>
                  <a:gd fmla="val 0" name="adj1"/>
                </a:avLst>
              </a:prstGeom>
              <a:solidFill>
                <a:schemeClr val="dk1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5" name="Google Shape;815;p69"/>
            <p:cNvSpPr/>
            <p:nvPr/>
          </p:nvSpPr>
          <p:spPr>
            <a:xfrm>
              <a:off x="7120909" y="1560947"/>
              <a:ext cx="359400" cy="1092900"/>
            </a:xfrm>
            <a:prstGeom prst="rtTriangle">
              <a:avLst/>
            </a:prstGeom>
            <a:solidFill>
              <a:srgbClr val="F3EEFB"/>
            </a:solidFill>
            <a:ln cap="flat" cmpd="sng" w="254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6" name="Google Shape;816;p69"/>
          <p:cNvGrpSpPr/>
          <p:nvPr/>
        </p:nvGrpSpPr>
        <p:grpSpPr>
          <a:xfrm rot="2700000">
            <a:off x="5977883" y="980733"/>
            <a:ext cx="1261096" cy="3181896"/>
            <a:chOff x="6219201" y="1560947"/>
            <a:chExt cx="1261108" cy="3181927"/>
          </a:xfrm>
        </p:grpSpPr>
        <p:sp>
          <p:nvSpPr>
            <p:cNvPr id="817" name="Google Shape;817;p69"/>
            <p:cNvSpPr/>
            <p:nvPr/>
          </p:nvSpPr>
          <p:spPr>
            <a:xfrm rot="10800000">
              <a:off x="6219201" y="3649974"/>
              <a:ext cx="359400" cy="1092900"/>
            </a:xfrm>
            <a:prstGeom prst="rtTriangle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8" name="Google Shape;818;p69"/>
            <p:cNvGrpSpPr/>
            <p:nvPr/>
          </p:nvGrpSpPr>
          <p:grpSpPr>
            <a:xfrm rot="1680038">
              <a:off x="6695799" y="2572548"/>
              <a:ext cx="293808" cy="1166699"/>
              <a:chOff x="5444838" y="1544782"/>
              <a:chExt cx="457200" cy="1815524"/>
            </a:xfrm>
          </p:grpSpPr>
          <p:cxnSp>
            <p:nvCxnSpPr>
              <p:cNvPr id="819" name="Google Shape;819;p69"/>
              <p:cNvCxnSpPr/>
              <p:nvPr/>
            </p:nvCxnSpPr>
            <p:spPr>
              <a:xfrm>
                <a:off x="5673436" y="1544782"/>
                <a:ext cx="0" cy="914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0" name="Google Shape;820;p69"/>
              <p:cNvCxnSpPr/>
              <p:nvPr/>
            </p:nvCxnSpPr>
            <p:spPr>
              <a:xfrm>
                <a:off x="5673436" y="2445906"/>
                <a:ext cx="0" cy="914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sp>
            <p:nvSpPr>
              <p:cNvPr id="821" name="Google Shape;821;p69"/>
              <p:cNvSpPr/>
              <p:nvPr/>
            </p:nvSpPr>
            <p:spPr>
              <a:xfrm>
                <a:off x="5444838" y="2212546"/>
                <a:ext cx="457200" cy="457200"/>
              </a:xfrm>
              <a:prstGeom prst="mathMultiply">
                <a:avLst>
                  <a:gd fmla="val 0" name="adj1"/>
                </a:avLst>
              </a:prstGeom>
              <a:solidFill>
                <a:schemeClr val="dk1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2" name="Google Shape;822;p69"/>
            <p:cNvSpPr/>
            <p:nvPr/>
          </p:nvSpPr>
          <p:spPr>
            <a:xfrm>
              <a:off x="7120909" y="1560947"/>
              <a:ext cx="359400" cy="1092900"/>
            </a:xfrm>
            <a:prstGeom prst="rtTriangle">
              <a:avLst/>
            </a:prstGeom>
            <a:solidFill>
              <a:srgbClr val="F3EEFB"/>
            </a:solidFill>
            <a:ln cap="flat" cmpd="sng" w="254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3" name="Google Shape;823;p69"/>
          <p:cNvGrpSpPr/>
          <p:nvPr/>
        </p:nvGrpSpPr>
        <p:grpSpPr>
          <a:xfrm rot="3599956">
            <a:off x="5977995" y="980647"/>
            <a:ext cx="1261080" cy="3181857"/>
            <a:chOff x="6219201" y="1560947"/>
            <a:chExt cx="1261108" cy="3181927"/>
          </a:xfrm>
        </p:grpSpPr>
        <p:sp>
          <p:nvSpPr>
            <p:cNvPr id="824" name="Google Shape;824;p69"/>
            <p:cNvSpPr/>
            <p:nvPr/>
          </p:nvSpPr>
          <p:spPr>
            <a:xfrm rot="10800000">
              <a:off x="6219201" y="3649974"/>
              <a:ext cx="359400" cy="1092900"/>
            </a:xfrm>
            <a:prstGeom prst="rtTriangle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5" name="Google Shape;825;p69"/>
            <p:cNvGrpSpPr/>
            <p:nvPr/>
          </p:nvGrpSpPr>
          <p:grpSpPr>
            <a:xfrm rot="1680038">
              <a:off x="6695799" y="2572548"/>
              <a:ext cx="293808" cy="1166699"/>
              <a:chOff x="5444838" y="1544782"/>
              <a:chExt cx="457200" cy="1815524"/>
            </a:xfrm>
          </p:grpSpPr>
          <p:cxnSp>
            <p:nvCxnSpPr>
              <p:cNvPr id="826" name="Google Shape;826;p69"/>
              <p:cNvCxnSpPr/>
              <p:nvPr/>
            </p:nvCxnSpPr>
            <p:spPr>
              <a:xfrm>
                <a:off x="5673436" y="1544782"/>
                <a:ext cx="0" cy="914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7" name="Google Shape;827;p69"/>
              <p:cNvCxnSpPr/>
              <p:nvPr/>
            </p:nvCxnSpPr>
            <p:spPr>
              <a:xfrm>
                <a:off x="5673436" y="2445906"/>
                <a:ext cx="0" cy="914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sp>
            <p:nvSpPr>
              <p:cNvPr id="828" name="Google Shape;828;p69"/>
              <p:cNvSpPr/>
              <p:nvPr/>
            </p:nvSpPr>
            <p:spPr>
              <a:xfrm>
                <a:off x="5444838" y="2212546"/>
                <a:ext cx="457200" cy="457200"/>
              </a:xfrm>
              <a:prstGeom prst="mathMultiply">
                <a:avLst>
                  <a:gd fmla="val 0" name="adj1"/>
                </a:avLst>
              </a:prstGeom>
              <a:solidFill>
                <a:schemeClr val="dk1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9" name="Google Shape;829;p69"/>
            <p:cNvSpPr/>
            <p:nvPr/>
          </p:nvSpPr>
          <p:spPr>
            <a:xfrm>
              <a:off x="7120909" y="1560947"/>
              <a:ext cx="359400" cy="1092900"/>
            </a:xfrm>
            <a:prstGeom prst="rtTriangle">
              <a:avLst/>
            </a:prstGeom>
            <a:solidFill>
              <a:srgbClr val="F3EEFB"/>
            </a:solidFill>
            <a:ln cap="flat" cmpd="sng" w="254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0" name="Google Shape;830;p69"/>
          <p:cNvGrpSpPr/>
          <p:nvPr/>
        </p:nvGrpSpPr>
        <p:grpSpPr>
          <a:xfrm rot="4500040">
            <a:off x="5976422" y="980598"/>
            <a:ext cx="1261070" cy="3181832"/>
            <a:chOff x="6219201" y="1560947"/>
            <a:chExt cx="1261108" cy="3181927"/>
          </a:xfrm>
        </p:grpSpPr>
        <p:sp>
          <p:nvSpPr>
            <p:cNvPr id="831" name="Google Shape;831;p69"/>
            <p:cNvSpPr/>
            <p:nvPr/>
          </p:nvSpPr>
          <p:spPr>
            <a:xfrm rot="10800000">
              <a:off x="6219201" y="3649974"/>
              <a:ext cx="359400" cy="1092900"/>
            </a:xfrm>
            <a:prstGeom prst="rtTriangle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2" name="Google Shape;832;p69"/>
            <p:cNvGrpSpPr/>
            <p:nvPr/>
          </p:nvGrpSpPr>
          <p:grpSpPr>
            <a:xfrm rot="1680038">
              <a:off x="6695799" y="2572548"/>
              <a:ext cx="293808" cy="1166699"/>
              <a:chOff x="5444838" y="1544782"/>
              <a:chExt cx="457200" cy="1815524"/>
            </a:xfrm>
          </p:grpSpPr>
          <p:cxnSp>
            <p:nvCxnSpPr>
              <p:cNvPr id="833" name="Google Shape;833;p69"/>
              <p:cNvCxnSpPr/>
              <p:nvPr/>
            </p:nvCxnSpPr>
            <p:spPr>
              <a:xfrm>
                <a:off x="5673436" y="1544782"/>
                <a:ext cx="0" cy="914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4" name="Google Shape;834;p69"/>
              <p:cNvCxnSpPr/>
              <p:nvPr/>
            </p:nvCxnSpPr>
            <p:spPr>
              <a:xfrm>
                <a:off x="5673436" y="2445906"/>
                <a:ext cx="0" cy="914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sp>
            <p:nvSpPr>
              <p:cNvPr id="835" name="Google Shape;835;p69"/>
              <p:cNvSpPr/>
              <p:nvPr/>
            </p:nvSpPr>
            <p:spPr>
              <a:xfrm>
                <a:off x="5444838" y="2212546"/>
                <a:ext cx="457200" cy="457200"/>
              </a:xfrm>
              <a:prstGeom prst="mathMultiply">
                <a:avLst>
                  <a:gd fmla="val 0" name="adj1"/>
                </a:avLst>
              </a:prstGeom>
              <a:solidFill>
                <a:schemeClr val="dk1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6" name="Google Shape;836;p69"/>
            <p:cNvSpPr/>
            <p:nvPr/>
          </p:nvSpPr>
          <p:spPr>
            <a:xfrm>
              <a:off x="7120909" y="1560947"/>
              <a:ext cx="359400" cy="1092900"/>
            </a:xfrm>
            <a:prstGeom prst="rtTriangle">
              <a:avLst/>
            </a:prstGeom>
            <a:solidFill>
              <a:srgbClr val="F3EEFB"/>
            </a:solidFill>
            <a:ln cap="flat" cmpd="sng" w="254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7" name="Google Shape;837;p69"/>
          <p:cNvGrpSpPr/>
          <p:nvPr/>
        </p:nvGrpSpPr>
        <p:grpSpPr>
          <a:xfrm rot="5400000">
            <a:off x="5984763" y="980787"/>
            <a:ext cx="1261108" cy="3181927"/>
            <a:chOff x="6219201" y="1560947"/>
            <a:chExt cx="1261108" cy="3181927"/>
          </a:xfrm>
        </p:grpSpPr>
        <p:sp>
          <p:nvSpPr>
            <p:cNvPr id="838" name="Google Shape;838;p69"/>
            <p:cNvSpPr/>
            <p:nvPr/>
          </p:nvSpPr>
          <p:spPr>
            <a:xfrm rot="10800000">
              <a:off x="6219201" y="3649974"/>
              <a:ext cx="359400" cy="1092900"/>
            </a:xfrm>
            <a:prstGeom prst="rtTriangle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9" name="Google Shape;839;p69"/>
            <p:cNvGrpSpPr/>
            <p:nvPr/>
          </p:nvGrpSpPr>
          <p:grpSpPr>
            <a:xfrm rot="1680038">
              <a:off x="6695799" y="2572548"/>
              <a:ext cx="293808" cy="1166699"/>
              <a:chOff x="5444838" y="1544782"/>
              <a:chExt cx="457200" cy="1815524"/>
            </a:xfrm>
          </p:grpSpPr>
          <p:cxnSp>
            <p:nvCxnSpPr>
              <p:cNvPr id="840" name="Google Shape;840;p69"/>
              <p:cNvCxnSpPr/>
              <p:nvPr/>
            </p:nvCxnSpPr>
            <p:spPr>
              <a:xfrm>
                <a:off x="5673436" y="1544782"/>
                <a:ext cx="0" cy="914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1" name="Google Shape;841;p69"/>
              <p:cNvCxnSpPr/>
              <p:nvPr/>
            </p:nvCxnSpPr>
            <p:spPr>
              <a:xfrm>
                <a:off x="5673436" y="2445906"/>
                <a:ext cx="0" cy="914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sp>
            <p:nvSpPr>
              <p:cNvPr id="842" name="Google Shape;842;p69"/>
              <p:cNvSpPr/>
              <p:nvPr/>
            </p:nvSpPr>
            <p:spPr>
              <a:xfrm>
                <a:off x="5444838" y="2212546"/>
                <a:ext cx="457200" cy="457200"/>
              </a:xfrm>
              <a:prstGeom prst="mathMultiply">
                <a:avLst>
                  <a:gd fmla="val 0" name="adj1"/>
                </a:avLst>
              </a:prstGeom>
              <a:solidFill>
                <a:schemeClr val="dk1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3" name="Google Shape;843;p69"/>
            <p:cNvSpPr/>
            <p:nvPr/>
          </p:nvSpPr>
          <p:spPr>
            <a:xfrm>
              <a:off x="7120909" y="1560947"/>
              <a:ext cx="359400" cy="1092900"/>
            </a:xfrm>
            <a:prstGeom prst="rtTriangle">
              <a:avLst/>
            </a:prstGeom>
            <a:solidFill>
              <a:srgbClr val="F3EEFB"/>
            </a:solidFill>
            <a:ln cap="flat" cmpd="sng" w="254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4" name="Google Shape;84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845" name="Google Shape;845;p69"/>
          <p:cNvSpPr txBox="1"/>
          <p:nvPr>
            <p:ph idx="1" type="body"/>
          </p:nvPr>
        </p:nvSpPr>
        <p:spPr>
          <a:xfrm>
            <a:off x="476400" y="911700"/>
            <a:ext cx="5274900" cy="10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Even if an object is rotated by the same amount, and in the same direction, it is possible for the image to end up in a different location.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851" name="Google Shape;851;p70"/>
          <p:cNvSpPr txBox="1"/>
          <p:nvPr>
            <p:ph idx="1" type="body"/>
          </p:nvPr>
        </p:nvSpPr>
        <p:spPr>
          <a:xfrm>
            <a:off x="476400" y="911700"/>
            <a:ext cx="5274900" cy="10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Even if an object is rotated by the same amount, and in the same direction, it is possible for the image to end up in a different location.</a:t>
            </a:r>
            <a:endParaRPr/>
          </a:p>
        </p:txBody>
      </p:sp>
      <p:pic>
        <p:nvPicPr>
          <p:cNvPr id="852" name="Google Shape;85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3700" y="765900"/>
            <a:ext cx="3087900" cy="3398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1"/>
          <p:cNvSpPr txBox="1"/>
          <p:nvPr>
            <p:ph idx="1" type="body"/>
          </p:nvPr>
        </p:nvSpPr>
        <p:spPr>
          <a:xfrm>
            <a:off x="476400" y="911700"/>
            <a:ext cx="30456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defines the location of the image is the </a:t>
            </a:r>
            <a:r>
              <a:rPr b="1" lang="en-GB"/>
              <a:t>centre of rotation</a:t>
            </a:r>
            <a:r>
              <a:rPr lang="en-GB"/>
              <a:t>.</a:t>
            </a:r>
            <a:endParaRPr/>
          </a:p>
        </p:txBody>
      </p:sp>
      <p:sp>
        <p:nvSpPr>
          <p:cNvPr id="858" name="Google Shape;85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859" name="Google Shape;859;p71"/>
          <p:cNvSpPr txBox="1"/>
          <p:nvPr>
            <p:ph idx="1" type="body"/>
          </p:nvPr>
        </p:nvSpPr>
        <p:spPr>
          <a:xfrm>
            <a:off x="476400" y="2626500"/>
            <a:ext cx="30456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centre of rotation acts as a fixed point, or pivot, for the rest of the shape as it rotates.</a:t>
            </a:r>
            <a:endParaRPr/>
          </a:p>
        </p:txBody>
      </p:sp>
      <p:pic>
        <p:nvPicPr>
          <p:cNvPr id="860" name="Google Shape;86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65900"/>
            <a:ext cx="4383900" cy="3507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2"/>
          <p:cNvSpPr/>
          <p:nvPr/>
        </p:nvSpPr>
        <p:spPr>
          <a:xfrm>
            <a:off x="852388" y="3113050"/>
            <a:ext cx="409200" cy="849600"/>
          </a:xfrm>
          <a:prstGeom prst="rtTriangle">
            <a:avLst/>
          </a:prstGeom>
          <a:solidFill>
            <a:srgbClr val="F3EEFB"/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867" name="Google Shape;867;p72"/>
          <p:cNvSpPr txBox="1"/>
          <p:nvPr/>
        </p:nvSpPr>
        <p:spPr>
          <a:xfrm>
            <a:off x="324000" y="1551300"/>
            <a:ext cx="21354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 a vertex of the object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centre of rotation</a:t>
            </a:r>
            <a:r>
              <a:rPr lang="en-GB"/>
              <a:t> can be anywhere:</a:t>
            </a:r>
            <a:endParaRPr/>
          </a:p>
        </p:txBody>
      </p:sp>
      <p:sp>
        <p:nvSpPr>
          <p:cNvPr id="869" name="Google Shape;869;p72"/>
          <p:cNvSpPr txBox="1"/>
          <p:nvPr/>
        </p:nvSpPr>
        <p:spPr>
          <a:xfrm>
            <a:off x="3504300" y="1551300"/>
            <a:ext cx="21354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outside the object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2"/>
          <p:cNvSpPr txBox="1"/>
          <p:nvPr/>
        </p:nvSpPr>
        <p:spPr>
          <a:xfrm>
            <a:off x="6684600" y="1551300"/>
            <a:ext cx="21354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inside the object  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2"/>
          <p:cNvSpPr/>
          <p:nvPr/>
        </p:nvSpPr>
        <p:spPr>
          <a:xfrm rot="-5400000">
            <a:off x="1072588" y="2463850"/>
            <a:ext cx="409200" cy="8496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72"/>
          <p:cNvSpPr/>
          <p:nvPr/>
        </p:nvSpPr>
        <p:spPr>
          <a:xfrm>
            <a:off x="704938" y="2941375"/>
            <a:ext cx="294900" cy="294900"/>
          </a:xfrm>
          <a:prstGeom prst="mathMultiply">
            <a:avLst>
              <a:gd fmla="val 7965" name="adj1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3" name="Google Shape;873;p72"/>
          <p:cNvPicPr preferRelativeResize="0"/>
          <p:nvPr/>
        </p:nvPicPr>
        <p:blipFill rotWithShape="1">
          <a:blip r:embed="rId3">
            <a:alphaModFix/>
          </a:blip>
          <a:srcRect b="59597" l="75706" r="13951" t="27330"/>
          <a:stretch/>
        </p:blipFill>
        <p:spPr>
          <a:xfrm>
            <a:off x="1642539" y="2517350"/>
            <a:ext cx="435924" cy="557223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72"/>
          <p:cNvSpPr/>
          <p:nvPr/>
        </p:nvSpPr>
        <p:spPr>
          <a:xfrm>
            <a:off x="3674938" y="3570250"/>
            <a:ext cx="409200" cy="849600"/>
          </a:xfrm>
          <a:prstGeom prst="rtTriangle">
            <a:avLst/>
          </a:prstGeom>
          <a:solidFill>
            <a:srgbClr val="F3EEFB"/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72"/>
          <p:cNvSpPr/>
          <p:nvPr/>
        </p:nvSpPr>
        <p:spPr>
          <a:xfrm rot="-5400000">
            <a:off x="4352338" y="2463850"/>
            <a:ext cx="409200" cy="8496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72"/>
          <p:cNvSpPr/>
          <p:nvPr/>
        </p:nvSpPr>
        <p:spPr>
          <a:xfrm>
            <a:off x="3527488" y="2941375"/>
            <a:ext cx="294900" cy="294900"/>
          </a:xfrm>
          <a:prstGeom prst="mathMultiply">
            <a:avLst>
              <a:gd fmla="val 7965" name="adj1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72"/>
          <p:cNvPicPr preferRelativeResize="0"/>
          <p:nvPr/>
        </p:nvPicPr>
        <p:blipFill rotWithShape="1">
          <a:blip r:embed="rId3">
            <a:alphaModFix/>
          </a:blip>
          <a:srcRect b="59597" l="75706" r="13951" t="27330"/>
          <a:stretch/>
        </p:blipFill>
        <p:spPr>
          <a:xfrm>
            <a:off x="4922289" y="2517350"/>
            <a:ext cx="435924" cy="557223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2"/>
          <p:cNvSpPr/>
          <p:nvPr/>
        </p:nvSpPr>
        <p:spPr>
          <a:xfrm>
            <a:off x="7224675" y="2655850"/>
            <a:ext cx="409200" cy="849600"/>
          </a:xfrm>
          <a:prstGeom prst="rtTriangle">
            <a:avLst/>
          </a:prstGeom>
          <a:solidFill>
            <a:srgbClr val="F3EEFB"/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72"/>
          <p:cNvSpPr/>
          <p:nvPr/>
        </p:nvSpPr>
        <p:spPr>
          <a:xfrm rot="-5400000">
            <a:off x="7140075" y="2463850"/>
            <a:ext cx="409200" cy="849600"/>
          </a:xfrm>
          <a:prstGeom prst="rtTriangle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72"/>
          <p:cNvSpPr/>
          <p:nvPr/>
        </p:nvSpPr>
        <p:spPr>
          <a:xfrm>
            <a:off x="7153425" y="2865175"/>
            <a:ext cx="294900" cy="294900"/>
          </a:xfrm>
          <a:prstGeom prst="mathMultiply">
            <a:avLst>
              <a:gd fmla="val 7965" name="adj1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1" name="Google Shape;881;p72"/>
          <p:cNvPicPr preferRelativeResize="0"/>
          <p:nvPr/>
        </p:nvPicPr>
        <p:blipFill rotWithShape="1">
          <a:blip r:embed="rId3">
            <a:alphaModFix/>
          </a:blip>
          <a:srcRect b="59597" l="75706" r="13951" t="27330"/>
          <a:stretch/>
        </p:blipFill>
        <p:spPr>
          <a:xfrm>
            <a:off x="7710027" y="2517350"/>
            <a:ext cx="435924" cy="557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887" name="Google Shape;887;p73"/>
          <p:cNvSpPr txBox="1"/>
          <p:nvPr>
            <p:ph idx="1" type="body"/>
          </p:nvPr>
        </p:nvSpPr>
        <p:spPr>
          <a:xfrm>
            <a:off x="324000" y="3240000"/>
            <a:ext cx="4199700" cy="4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b="1" lang="en-GB" sz="2000"/>
              <a:t>centre of rotation </a:t>
            </a:r>
            <a:r>
              <a:rPr lang="en-GB" sz="2000"/>
              <a:t>is at (5, 5).</a:t>
            </a:r>
            <a:endParaRPr sz="2000"/>
          </a:p>
        </p:txBody>
      </p:sp>
      <p:pic>
        <p:nvPicPr>
          <p:cNvPr id="888" name="Google Shape;88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3750" y="810000"/>
            <a:ext cx="2846088" cy="40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73"/>
          <p:cNvSpPr txBox="1"/>
          <p:nvPr>
            <p:ph idx="1" type="body"/>
          </p:nvPr>
        </p:nvSpPr>
        <p:spPr>
          <a:xfrm>
            <a:off x="476400" y="911700"/>
            <a:ext cx="3922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</a:t>
            </a:r>
            <a:r>
              <a:rPr b="1" lang="en-GB" sz="2000"/>
              <a:t>centre of rotation</a:t>
            </a:r>
            <a:r>
              <a:rPr lang="en-GB" sz="2000"/>
              <a:t> can be on the vertex of the object.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We can describe the location of the centre of rotation as a coordinate.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895" name="Google Shape;895;p74"/>
          <p:cNvSpPr txBox="1"/>
          <p:nvPr>
            <p:ph idx="1" type="body"/>
          </p:nvPr>
        </p:nvSpPr>
        <p:spPr>
          <a:xfrm>
            <a:off x="324000" y="2298275"/>
            <a:ext cx="45000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Rotation,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anti-clockwise,  by 90°,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centre of rotation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at (7, 3)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Which can be turned into a full sentence: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“The object has been rotated anti-clockwise through 90° about (7,3).”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96" name="Google Shape;89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011" y="765900"/>
            <a:ext cx="3657514" cy="40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74"/>
          <p:cNvPicPr preferRelativeResize="0"/>
          <p:nvPr/>
        </p:nvPicPr>
        <p:blipFill rotWithShape="1">
          <a:blip r:embed="rId4">
            <a:alphaModFix/>
          </a:blip>
          <a:srcRect b="59597" l="75706" r="13951" t="27330"/>
          <a:stretch/>
        </p:blipFill>
        <p:spPr>
          <a:xfrm flipH="1">
            <a:off x="5804735" y="826144"/>
            <a:ext cx="871848" cy="11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74"/>
          <p:cNvSpPr txBox="1"/>
          <p:nvPr>
            <p:ph idx="1" type="body"/>
          </p:nvPr>
        </p:nvSpPr>
        <p:spPr>
          <a:xfrm>
            <a:off x="324000" y="1505850"/>
            <a:ext cx="4140300" cy="44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Stating that it is a rotation, the d</a:t>
            </a:r>
            <a:r>
              <a:rPr lang="en-GB" sz="1800"/>
              <a:t>irection, size and centre of rotation</a:t>
            </a:r>
            <a:endParaRPr sz="1800"/>
          </a:p>
        </p:txBody>
      </p:sp>
      <p:sp>
        <p:nvSpPr>
          <p:cNvPr id="899" name="Google Shape;899;p74"/>
          <p:cNvSpPr txBox="1"/>
          <p:nvPr>
            <p:ph idx="1" type="body"/>
          </p:nvPr>
        </p:nvSpPr>
        <p:spPr>
          <a:xfrm>
            <a:off x="324000" y="765900"/>
            <a:ext cx="4248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Four</a:t>
            </a:r>
            <a:r>
              <a:rPr lang="en-GB" sz="1800"/>
              <a:t> pieces of information are needed to fully describe a rotation: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grpSp>
        <p:nvGrpSpPr>
          <p:cNvPr id="905" name="Google Shape;905;p75"/>
          <p:cNvGrpSpPr/>
          <p:nvPr/>
        </p:nvGrpSpPr>
        <p:grpSpPr>
          <a:xfrm>
            <a:off x="902891" y="2090400"/>
            <a:ext cx="457200" cy="457200"/>
            <a:chOff x="1020916" y="1442088"/>
            <a:chExt cx="457200" cy="457200"/>
          </a:xfrm>
        </p:grpSpPr>
        <p:pic>
          <p:nvPicPr>
            <p:cNvPr id="906" name="Google Shape;906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7" name="Google Shape;907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8" name="Google Shape;908;p75"/>
          <p:cNvGrpSpPr/>
          <p:nvPr/>
        </p:nvGrpSpPr>
        <p:grpSpPr>
          <a:xfrm>
            <a:off x="902891" y="2828700"/>
            <a:ext cx="457200" cy="457200"/>
            <a:chOff x="1020916" y="1442088"/>
            <a:chExt cx="457200" cy="457200"/>
          </a:xfrm>
        </p:grpSpPr>
        <p:pic>
          <p:nvPicPr>
            <p:cNvPr id="909" name="Google Shape;909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0" name="Google Shape;910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1" name="Google Shape;911;p75"/>
          <p:cNvGrpSpPr/>
          <p:nvPr/>
        </p:nvGrpSpPr>
        <p:grpSpPr>
          <a:xfrm>
            <a:off x="902891" y="3567000"/>
            <a:ext cx="457200" cy="457200"/>
            <a:chOff x="1020916" y="1442088"/>
            <a:chExt cx="457200" cy="457200"/>
          </a:xfrm>
        </p:grpSpPr>
        <p:pic>
          <p:nvPicPr>
            <p:cNvPr id="912" name="Google Shape;912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3" name="Google Shape;913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4" name="Google Shape;914;p75"/>
          <p:cNvSpPr txBox="1"/>
          <p:nvPr>
            <p:ph idx="1" type="body"/>
          </p:nvPr>
        </p:nvSpPr>
        <p:spPr>
          <a:xfrm>
            <a:off x="1516650" y="2866650"/>
            <a:ext cx="1530300" cy="38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(3, 6) </a:t>
            </a:r>
            <a:endParaRPr/>
          </a:p>
        </p:txBody>
      </p:sp>
      <p:pic>
        <p:nvPicPr>
          <p:cNvPr id="915" name="Google Shape;91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9108" y="28477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5"/>
          <p:cNvSpPr txBox="1"/>
          <p:nvPr>
            <p:ph idx="1" type="body"/>
          </p:nvPr>
        </p:nvSpPr>
        <p:spPr>
          <a:xfrm>
            <a:off x="1516650" y="3604950"/>
            <a:ext cx="1530300" cy="38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(3, 0)</a:t>
            </a:r>
            <a:endParaRPr/>
          </a:p>
        </p:txBody>
      </p:sp>
      <p:pic>
        <p:nvPicPr>
          <p:cNvPr id="917" name="Google Shape;917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8650" y="810000"/>
            <a:ext cx="1977820" cy="4010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8" name="Google Shape;918;p75"/>
          <p:cNvGrpSpPr/>
          <p:nvPr/>
        </p:nvGrpSpPr>
        <p:grpSpPr>
          <a:xfrm>
            <a:off x="902891" y="4305300"/>
            <a:ext cx="457200" cy="457200"/>
            <a:chOff x="1020916" y="1442088"/>
            <a:chExt cx="457200" cy="457200"/>
          </a:xfrm>
        </p:grpSpPr>
        <p:pic>
          <p:nvPicPr>
            <p:cNvPr id="919" name="Google Shape;919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0" name="Google Shape;920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1" name="Google Shape;921;p75"/>
          <p:cNvSpPr txBox="1"/>
          <p:nvPr>
            <p:ph idx="1" type="body"/>
          </p:nvPr>
        </p:nvSpPr>
        <p:spPr>
          <a:xfrm>
            <a:off x="1516650" y="4343250"/>
            <a:ext cx="1530300" cy="38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(3, 8)</a:t>
            </a:r>
            <a:endParaRPr/>
          </a:p>
        </p:txBody>
      </p:sp>
      <p:sp>
        <p:nvSpPr>
          <p:cNvPr id="922" name="Google Shape;922;p75"/>
          <p:cNvSpPr txBox="1"/>
          <p:nvPr>
            <p:ph idx="1" type="body"/>
          </p:nvPr>
        </p:nvSpPr>
        <p:spPr>
          <a:xfrm>
            <a:off x="324000" y="759300"/>
            <a:ext cx="3996000" cy="7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of these is the correct coordinate for the </a:t>
            </a:r>
            <a:r>
              <a:rPr b="1" lang="en-GB"/>
              <a:t>centre of rotation</a:t>
            </a:r>
            <a:r>
              <a:rPr lang="en-GB"/>
              <a:t> of this object?</a:t>
            </a:r>
            <a:endParaRPr/>
          </a:p>
        </p:txBody>
      </p:sp>
      <p:sp>
        <p:nvSpPr>
          <p:cNvPr id="923" name="Google Shape;923;p75"/>
          <p:cNvSpPr txBox="1"/>
          <p:nvPr>
            <p:ph idx="1" type="body"/>
          </p:nvPr>
        </p:nvSpPr>
        <p:spPr>
          <a:xfrm>
            <a:off x="1516650" y="2128350"/>
            <a:ext cx="1530300" cy="38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(6, 3)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76"/>
          <p:cNvSpPr txBox="1"/>
          <p:nvPr>
            <p:ph idx="1" type="body"/>
          </p:nvPr>
        </p:nvSpPr>
        <p:spPr>
          <a:xfrm>
            <a:off x="324000" y="759300"/>
            <a:ext cx="3743400" cy="10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Complete the description for this rotation.</a:t>
            </a:r>
            <a:endParaRPr/>
          </a:p>
        </p:txBody>
      </p:sp>
      <p:sp>
        <p:nvSpPr>
          <p:cNvPr id="929" name="Google Shape;929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pic>
        <p:nvPicPr>
          <p:cNvPr id="930" name="Google Shape;93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007" y="759300"/>
            <a:ext cx="3183144" cy="4054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76"/>
          <p:cNvSpPr txBox="1"/>
          <p:nvPr>
            <p:ph idx="1" type="body"/>
          </p:nvPr>
        </p:nvSpPr>
        <p:spPr>
          <a:xfrm>
            <a:off x="323950" y="1900200"/>
            <a:ext cx="3996000" cy="4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rotation is: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32" name="Google Shape;932;p76"/>
          <p:cNvSpPr txBox="1"/>
          <p:nvPr>
            <p:ph idx="1" type="body"/>
          </p:nvPr>
        </p:nvSpPr>
        <p:spPr>
          <a:xfrm>
            <a:off x="887175" y="2348850"/>
            <a:ext cx="3432900" cy="4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clockwise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by 90°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with a </a:t>
            </a:r>
            <a:r>
              <a:rPr b="1" lang="en-GB" sz="2000"/>
              <a:t>centre of rotation</a:t>
            </a:r>
            <a:r>
              <a:rPr lang="en-GB" sz="2000"/>
              <a:t> of</a:t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1000"/>
              </a:spcAft>
              <a:buNone/>
            </a:pPr>
            <a:r>
              <a:rPr lang="en-GB" sz="2000"/>
              <a:t>  </a:t>
            </a:r>
            <a:r>
              <a:rPr lang="en-GB" sz="2000">
                <a:solidFill>
                  <a:srgbClr val="E6F2F2"/>
                </a:solidFill>
              </a:rPr>
              <a:t>.</a:t>
            </a:r>
            <a:endParaRPr sz="2000">
              <a:solidFill>
                <a:srgbClr val="E6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3" name="Google Shape;933;p76"/>
          <p:cNvPicPr preferRelativeResize="0"/>
          <p:nvPr/>
        </p:nvPicPr>
        <p:blipFill rotWithShape="1">
          <a:blip r:embed="rId4">
            <a:alphaModFix/>
          </a:blip>
          <a:srcRect b="59597" l="75706" r="13951" t="27330"/>
          <a:stretch/>
        </p:blipFill>
        <p:spPr>
          <a:xfrm>
            <a:off x="6055860" y="787026"/>
            <a:ext cx="871848" cy="11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76"/>
          <p:cNvSpPr txBox="1"/>
          <p:nvPr>
            <p:ph idx="1" type="body"/>
          </p:nvPr>
        </p:nvSpPr>
        <p:spPr>
          <a:xfrm>
            <a:off x="710550" y="3874200"/>
            <a:ext cx="1281600" cy="4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(2, 4)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940" name="Google Shape;940;p77"/>
          <p:cNvSpPr txBox="1"/>
          <p:nvPr>
            <p:ph idx="1" type="subTitle"/>
          </p:nvPr>
        </p:nvSpPr>
        <p:spPr>
          <a:xfrm>
            <a:off x="370125" y="1085450"/>
            <a:ext cx="8251200" cy="7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a vertex of an object is the </a:t>
            </a:r>
            <a:r>
              <a:rPr b="1" lang="en-GB" sz="2000"/>
              <a:t>centre of rotation</a:t>
            </a:r>
            <a:r>
              <a:rPr lang="en-GB" sz="2000"/>
              <a:t>, then the location of that vertex is invariant.</a:t>
            </a:r>
            <a:endParaRPr sz="2000"/>
          </a:p>
        </p:txBody>
      </p:sp>
      <p:sp>
        <p:nvSpPr>
          <p:cNvPr id="941" name="Google Shape;941;p77"/>
          <p:cNvSpPr txBox="1"/>
          <p:nvPr>
            <p:ph idx="4294967295" type="body"/>
          </p:nvPr>
        </p:nvSpPr>
        <p:spPr>
          <a:xfrm>
            <a:off x="878325" y="3116950"/>
            <a:ext cx="7254600" cy="4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Because the centre of rotation acts as a pivot or fixed point for the rest of the shape.</a:t>
            </a:r>
            <a:endParaRPr sz="2000"/>
          </a:p>
        </p:txBody>
      </p:sp>
      <p:sp>
        <p:nvSpPr>
          <p:cNvPr id="942" name="Google Shape;942;p77"/>
          <p:cNvSpPr txBox="1"/>
          <p:nvPr>
            <p:ph idx="2" type="subTitle"/>
          </p:nvPr>
        </p:nvSpPr>
        <p:spPr>
          <a:xfrm>
            <a:off x="878334" y="3990375"/>
            <a:ext cx="7254600" cy="4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Because all the vertices of an object move location when it has been rotated.</a:t>
            </a:r>
            <a:endParaRPr sz="2000"/>
          </a:p>
        </p:txBody>
      </p:sp>
      <p:pic>
        <p:nvPicPr>
          <p:cNvPr id="943" name="Google Shape;94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3508" y="19551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4738" y="340839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pic>
        <p:nvPicPr>
          <p:cNvPr id="950" name="Google Shape;95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3137" y="810000"/>
            <a:ext cx="4816864" cy="35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78"/>
          <p:cNvPicPr preferRelativeResize="0"/>
          <p:nvPr/>
        </p:nvPicPr>
        <p:blipFill rotWithShape="1">
          <a:blip r:embed="rId4">
            <a:alphaModFix/>
          </a:blip>
          <a:srcRect b="59597" l="75706" r="13951" t="27330"/>
          <a:stretch/>
        </p:blipFill>
        <p:spPr>
          <a:xfrm rot="-5400000">
            <a:off x="4586285" y="409401"/>
            <a:ext cx="871848" cy="1114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2" name="Google Shape;952;p78"/>
          <p:cNvCxnSpPr/>
          <p:nvPr/>
        </p:nvCxnSpPr>
        <p:spPr>
          <a:xfrm rot="10800000">
            <a:off x="6159325" y="2818625"/>
            <a:ext cx="610800" cy="6108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953" name="Google Shape;953;p78"/>
          <p:cNvCxnSpPr/>
          <p:nvPr/>
        </p:nvCxnSpPr>
        <p:spPr>
          <a:xfrm flipH="1" rot="10800000">
            <a:off x="6768013" y="2818625"/>
            <a:ext cx="610800" cy="6108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954" name="Google Shape;954;p78"/>
          <p:cNvSpPr txBox="1"/>
          <p:nvPr/>
        </p:nvSpPr>
        <p:spPr>
          <a:xfrm>
            <a:off x="324000" y="759300"/>
            <a:ext cx="33363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rotation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can be outside the object.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rotation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still acts as a pivot, but imagine it now being attached to the object by an imaginary rope that rotates with the object.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9"/>
          <p:cNvSpPr txBox="1"/>
          <p:nvPr>
            <p:ph idx="1" type="body"/>
          </p:nvPr>
        </p:nvSpPr>
        <p:spPr>
          <a:xfrm>
            <a:off x="324000" y="759300"/>
            <a:ext cx="82377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Complete Izzy’s description of the rotation.</a:t>
            </a:r>
            <a:endParaRPr sz="2000"/>
          </a:p>
        </p:txBody>
      </p:sp>
      <p:sp>
        <p:nvSpPr>
          <p:cNvPr id="960" name="Google Shape;96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pic>
        <p:nvPicPr>
          <p:cNvPr id="961" name="Google Shape;96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3136450"/>
            <a:ext cx="1740075" cy="168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79"/>
          <p:cNvPicPr preferRelativeResize="0"/>
          <p:nvPr/>
        </p:nvPicPr>
        <p:blipFill rotWithShape="1">
          <a:blip r:embed="rId4">
            <a:alphaModFix/>
          </a:blip>
          <a:srcRect b="43327" l="-185" r="59770" t="-2012"/>
          <a:stretch/>
        </p:blipFill>
        <p:spPr>
          <a:xfrm flipH="1">
            <a:off x="1079048" y="1118350"/>
            <a:ext cx="3744952" cy="2743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4275" y="1244400"/>
            <a:ext cx="3825737" cy="3075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79"/>
          <p:cNvSpPr txBox="1"/>
          <p:nvPr>
            <p:ph idx="1" type="body"/>
          </p:nvPr>
        </p:nvSpPr>
        <p:spPr>
          <a:xfrm>
            <a:off x="1219633" y="1317400"/>
            <a:ext cx="3519300" cy="20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object has been rotated 90° in the </a:t>
            </a:r>
            <a:r>
              <a:rPr lang="en-GB" sz="2000" u="sng"/>
              <a:t>                             </a:t>
            </a:r>
            <a:r>
              <a:rPr lang="en-GB" sz="2000" u="sng">
                <a:solidFill>
                  <a:srgbClr val="F3EEFB"/>
                </a:solidFill>
              </a:rPr>
              <a:t> </a:t>
            </a:r>
            <a:r>
              <a:rPr lang="en-GB" sz="2000" u="sng">
                <a:solidFill>
                  <a:srgbClr val="E6F2F2"/>
                </a:solidFill>
              </a:rPr>
              <a:t>.</a:t>
            </a:r>
            <a:r>
              <a:rPr lang="en-GB" sz="2000" u="sng"/>
              <a:t> </a:t>
            </a:r>
            <a:r>
              <a:rPr lang="en-GB" sz="2000"/>
              <a:t>direction, with a </a:t>
            </a:r>
            <a:r>
              <a:rPr b="1" lang="en-GB" sz="2000"/>
              <a:t>centre of rotation</a:t>
            </a:r>
            <a:r>
              <a:rPr lang="en-GB" sz="2000"/>
              <a:t> of  </a:t>
            </a:r>
            <a:r>
              <a:rPr lang="en-GB" sz="2000" u="sng"/>
              <a:t>                  </a:t>
            </a:r>
            <a:r>
              <a:rPr lang="en-GB" sz="2000"/>
              <a:t> .</a:t>
            </a:r>
            <a:endParaRPr sz="2000"/>
          </a:p>
        </p:txBody>
      </p:sp>
      <p:pic>
        <p:nvPicPr>
          <p:cNvPr id="965" name="Google Shape;965;p79"/>
          <p:cNvPicPr preferRelativeResize="0"/>
          <p:nvPr/>
        </p:nvPicPr>
        <p:blipFill rotWithShape="1">
          <a:blip r:embed="rId6">
            <a:alphaModFix/>
          </a:blip>
          <a:srcRect b="59597" l="75706" r="13951" t="27330"/>
          <a:stretch/>
        </p:blipFill>
        <p:spPr>
          <a:xfrm rot="-5400000">
            <a:off x="5496135" y="805943"/>
            <a:ext cx="871848" cy="11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79"/>
          <p:cNvSpPr txBox="1"/>
          <p:nvPr/>
        </p:nvSpPr>
        <p:spPr>
          <a:xfrm>
            <a:off x="1934050" y="16726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clockwise </a:t>
            </a:r>
            <a:endParaRPr/>
          </a:p>
        </p:txBody>
      </p:sp>
      <p:sp>
        <p:nvSpPr>
          <p:cNvPr id="967" name="Google Shape;967;p79"/>
          <p:cNvSpPr txBox="1"/>
          <p:nvPr/>
        </p:nvSpPr>
        <p:spPr>
          <a:xfrm>
            <a:off x="1824000" y="27522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(6, 2)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80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1023350" y="683725"/>
            <a:ext cx="4447375" cy="17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80"/>
          <p:cNvPicPr preferRelativeResize="0"/>
          <p:nvPr/>
        </p:nvPicPr>
        <p:blipFill rotWithShape="1">
          <a:blip r:embed="rId4">
            <a:alphaModFix/>
          </a:blip>
          <a:srcRect b="0" l="0" r="2324" t="0"/>
          <a:stretch/>
        </p:blipFill>
        <p:spPr>
          <a:xfrm>
            <a:off x="5599656" y="765900"/>
            <a:ext cx="2878991" cy="4022889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80"/>
          <p:cNvSpPr txBox="1"/>
          <p:nvPr>
            <p:ph idx="1" type="body"/>
          </p:nvPr>
        </p:nvSpPr>
        <p:spPr>
          <a:xfrm>
            <a:off x="1446881" y="843528"/>
            <a:ext cx="4038300" cy="127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</a:t>
            </a:r>
            <a:r>
              <a:rPr lang="en-GB" sz="1800"/>
              <a:t>f the </a:t>
            </a:r>
            <a:r>
              <a:rPr b="1" lang="en-GB" sz="1800"/>
              <a:t>centre of rotation</a:t>
            </a:r>
            <a:r>
              <a:rPr lang="en-GB" sz="1800"/>
              <a:t> is outside the object, then the object and image will not overlap when the object is rotated.</a:t>
            </a:r>
            <a:endParaRPr sz="1800"/>
          </a:p>
        </p:txBody>
      </p:sp>
      <p:pic>
        <p:nvPicPr>
          <p:cNvPr id="975" name="Google Shape;975;p80"/>
          <p:cNvPicPr preferRelativeResize="0"/>
          <p:nvPr/>
        </p:nvPicPr>
        <p:blipFill rotWithShape="1">
          <a:blip r:embed="rId5">
            <a:alphaModFix/>
          </a:blip>
          <a:srcRect b="0" l="0" r="872" t="0"/>
          <a:stretch/>
        </p:blipFill>
        <p:spPr>
          <a:xfrm>
            <a:off x="5624792" y="779920"/>
            <a:ext cx="2853855" cy="4040481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977" name="Google Shape;977;p80"/>
          <p:cNvSpPr txBox="1"/>
          <p:nvPr>
            <p:ph idx="1" type="body"/>
          </p:nvPr>
        </p:nvSpPr>
        <p:spPr>
          <a:xfrm>
            <a:off x="699025" y="2690663"/>
            <a:ext cx="49257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Whilst this object does not overlap with its image when rotated by 180°,</a:t>
            </a:r>
            <a:endParaRPr sz="1800"/>
          </a:p>
        </p:txBody>
      </p:sp>
      <p:sp>
        <p:nvSpPr>
          <p:cNvPr id="978" name="Google Shape;978;p80"/>
          <p:cNvSpPr txBox="1"/>
          <p:nvPr>
            <p:ph idx="1" type="body"/>
          </p:nvPr>
        </p:nvSpPr>
        <p:spPr>
          <a:xfrm>
            <a:off x="699025" y="3409472"/>
            <a:ext cx="49257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 does when rotated by 90° clockwise.</a:t>
            </a:r>
            <a:endParaRPr sz="1800"/>
          </a:p>
        </p:txBody>
      </p:sp>
      <p:pic>
        <p:nvPicPr>
          <p:cNvPr id="979" name="Google Shape;979;p80"/>
          <p:cNvPicPr preferRelativeResize="0"/>
          <p:nvPr/>
        </p:nvPicPr>
        <p:blipFill rotWithShape="1">
          <a:blip r:embed="rId6">
            <a:alphaModFix/>
          </a:blip>
          <a:srcRect b="0" l="17093" r="17086" t="0"/>
          <a:stretch/>
        </p:blipFill>
        <p:spPr>
          <a:xfrm>
            <a:off x="324000" y="1530875"/>
            <a:ext cx="998875" cy="10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80"/>
          <p:cNvSpPr txBox="1"/>
          <p:nvPr>
            <p:ph idx="1" type="body"/>
          </p:nvPr>
        </p:nvSpPr>
        <p:spPr>
          <a:xfrm>
            <a:off x="854700" y="3856200"/>
            <a:ext cx="47703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Alex is wrong. Images might overlap the object, no matter where the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centre of rotation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is.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1" name="Google Shape;981;p80"/>
          <p:cNvSpPr txBox="1"/>
          <p:nvPr>
            <p:ph idx="1" type="body"/>
          </p:nvPr>
        </p:nvSpPr>
        <p:spPr>
          <a:xfrm>
            <a:off x="514768" y="1217375"/>
            <a:ext cx="630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Alex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982" y="851400"/>
            <a:ext cx="3397535" cy="3348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81"/>
          <p:cNvPicPr preferRelativeResize="0"/>
          <p:nvPr/>
        </p:nvPicPr>
        <p:blipFill rotWithShape="1">
          <a:blip r:embed="rId4">
            <a:alphaModFix/>
          </a:blip>
          <a:srcRect b="0" l="0" r="0" t="754"/>
          <a:stretch/>
        </p:blipFill>
        <p:spPr>
          <a:xfrm>
            <a:off x="4727925" y="890881"/>
            <a:ext cx="3439575" cy="3316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0817" y="908719"/>
            <a:ext cx="3313476" cy="3271449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pic>
        <p:nvPicPr>
          <p:cNvPr id="990" name="Google Shape;990;p81"/>
          <p:cNvPicPr preferRelativeResize="0"/>
          <p:nvPr/>
        </p:nvPicPr>
        <p:blipFill rotWithShape="1">
          <a:blip r:embed="rId6">
            <a:alphaModFix/>
          </a:blip>
          <a:srcRect b="0" l="0" r="0" t="428"/>
          <a:stretch/>
        </p:blipFill>
        <p:spPr>
          <a:xfrm>
            <a:off x="4799009" y="914851"/>
            <a:ext cx="3320483" cy="3257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81"/>
          <p:cNvPicPr preferRelativeResize="0"/>
          <p:nvPr/>
        </p:nvPicPr>
        <p:blipFill rotWithShape="1">
          <a:blip r:embed="rId7">
            <a:alphaModFix/>
          </a:blip>
          <a:srcRect b="0" l="0" r="0" t="139"/>
          <a:stretch/>
        </p:blipFill>
        <p:spPr>
          <a:xfrm>
            <a:off x="4785311" y="905228"/>
            <a:ext cx="3327488" cy="3252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81"/>
          <p:cNvPicPr preferRelativeResize="0"/>
          <p:nvPr/>
        </p:nvPicPr>
        <p:blipFill rotWithShape="1">
          <a:blip r:embed="rId8">
            <a:alphaModFix/>
          </a:blip>
          <a:srcRect b="59597" l="75706" r="13951" t="27330"/>
          <a:stretch/>
        </p:blipFill>
        <p:spPr>
          <a:xfrm flipH="1" rot="5400000">
            <a:off x="6841435" y="549201"/>
            <a:ext cx="871848" cy="11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81"/>
          <p:cNvSpPr txBox="1"/>
          <p:nvPr>
            <p:ph idx="1" type="body"/>
          </p:nvPr>
        </p:nvSpPr>
        <p:spPr>
          <a:xfrm>
            <a:off x="324000" y="759300"/>
            <a:ext cx="33975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centre of rotation</a:t>
            </a:r>
            <a:r>
              <a:rPr lang="en-GB" sz="1800"/>
              <a:t> can be inside the object.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object and image will always overlap at least slightly when the </a:t>
            </a:r>
            <a:r>
              <a:rPr b="1" lang="en-GB" sz="1800"/>
              <a:t>centre of rotation</a:t>
            </a:r>
            <a:r>
              <a:rPr lang="en-GB" sz="1800"/>
              <a:t> is inside the object.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82"/>
          <p:cNvSpPr txBox="1"/>
          <p:nvPr>
            <p:ph idx="1" type="body"/>
          </p:nvPr>
        </p:nvSpPr>
        <p:spPr>
          <a:xfrm>
            <a:off x="324000" y="759300"/>
            <a:ext cx="82377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Complete Laura’s description of the rotation.</a:t>
            </a:r>
            <a:endParaRPr sz="2000"/>
          </a:p>
        </p:txBody>
      </p:sp>
      <p:sp>
        <p:nvSpPr>
          <p:cNvPr id="999" name="Google Shape;999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pic>
        <p:nvPicPr>
          <p:cNvPr id="1000" name="Google Shape;1000;p82"/>
          <p:cNvPicPr preferRelativeResize="0"/>
          <p:nvPr/>
        </p:nvPicPr>
        <p:blipFill rotWithShape="1">
          <a:blip r:embed="rId3">
            <a:alphaModFix/>
          </a:blip>
          <a:srcRect b="43327" l="-185" r="59770" t="-2012"/>
          <a:stretch/>
        </p:blipFill>
        <p:spPr>
          <a:xfrm flipH="1">
            <a:off x="1079048" y="1118350"/>
            <a:ext cx="3744952" cy="2743774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82"/>
          <p:cNvSpPr txBox="1"/>
          <p:nvPr>
            <p:ph idx="1" type="body"/>
          </p:nvPr>
        </p:nvSpPr>
        <p:spPr>
          <a:xfrm>
            <a:off x="1219633" y="1317400"/>
            <a:ext cx="3519300" cy="20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object has been rotated </a:t>
            </a:r>
            <a:r>
              <a:rPr lang="en-GB" sz="2000"/>
              <a:t>90</a:t>
            </a:r>
            <a:r>
              <a:rPr lang="en-GB" sz="2000"/>
              <a:t>° in the </a:t>
            </a:r>
            <a:r>
              <a:rPr lang="en-GB" sz="2000" u="sng"/>
              <a:t>                             </a:t>
            </a:r>
            <a:r>
              <a:rPr lang="en-GB" sz="2000" u="sng">
                <a:solidFill>
                  <a:srgbClr val="F3EEFB"/>
                </a:solidFill>
              </a:rPr>
              <a:t> </a:t>
            </a:r>
            <a:r>
              <a:rPr lang="en-GB" sz="2000" u="sng">
                <a:solidFill>
                  <a:srgbClr val="E6F2F2"/>
                </a:solidFill>
              </a:rPr>
              <a:t>.</a:t>
            </a:r>
            <a:r>
              <a:rPr lang="en-GB" sz="2000" u="sng"/>
              <a:t> </a:t>
            </a:r>
            <a:r>
              <a:rPr lang="en-GB" sz="2000"/>
              <a:t>direction, with a </a:t>
            </a:r>
            <a:r>
              <a:rPr b="1" lang="en-GB" sz="2000"/>
              <a:t>centre of rotation</a:t>
            </a:r>
            <a:r>
              <a:rPr lang="en-GB" sz="2000"/>
              <a:t> of </a:t>
            </a:r>
            <a:r>
              <a:rPr lang="en-GB" sz="2000"/>
              <a:t> </a:t>
            </a:r>
            <a:r>
              <a:rPr lang="en-GB" sz="2000" u="sng"/>
              <a:t>                  </a:t>
            </a:r>
            <a:r>
              <a:rPr lang="en-GB" sz="2000"/>
              <a:t> </a:t>
            </a:r>
            <a:r>
              <a:rPr lang="en-GB" sz="2000"/>
              <a:t>.</a:t>
            </a:r>
            <a:endParaRPr sz="2000"/>
          </a:p>
        </p:txBody>
      </p:sp>
      <p:pic>
        <p:nvPicPr>
          <p:cNvPr id="1002" name="Google Shape;1002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5750" y="3407825"/>
            <a:ext cx="2124351" cy="1428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1900" y="1149900"/>
            <a:ext cx="2601475" cy="295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82"/>
          <p:cNvSpPr txBox="1"/>
          <p:nvPr>
            <p:ph idx="1" type="body"/>
          </p:nvPr>
        </p:nvSpPr>
        <p:spPr>
          <a:xfrm>
            <a:off x="6486600" y="1041650"/>
            <a:ext cx="8583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object</a:t>
            </a:r>
            <a:endParaRPr sz="1800"/>
          </a:p>
        </p:txBody>
      </p:sp>
      <p:sp>
        <p:nvSpPr>
          <p:cNvPr id="1005" name="Google Shape;1005;p82"/>
          <p:cNvSpPr txBox="1"/>
          <p:nvPr>
            <p:ph idx="1" type="body"/>
          </p:nvPr>
        </p:nvSpPr>
        <p:spPr>
          <a:xfrm>
            <a:off x="5906625" y="3275050"/>
            <a:ext cx="8583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image</a:t>
            </a:r>
            <a:endParaRPr sz="1800"/>
          </a:p>
        </p:txBody>
      </p:sp>
      <p:sp>
        <p:nvSpPr>
          <p:cNvPr id="1006" name="Google Shape;1006;p82"/>
          <p:cNvSpPr txBox="1"/>
          <p:nvPr/>
        </p:nvSpPr>
        <p:spPr>
          <a:xfrm>
            <a:off x="2041100" y="16681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anti-clockwise</a:t>
            </a:r>
            <a:endParaRPr/>
          </a:p>
        </p:txBody>
      </p:sp>
      <p:sp>
        <p:nvSpPr>
          <p:cNvPr id="1007" name="Google Shape;1007;p82"/>
          <p:cNvSpPr txBox="1"/>
          <p:nvPr>
            <p:ph idx="1" type="body"/>
          </p:nvPr>
        </p:nvSpPr>
        <p:spPr>
          <a:xfrm>
            <a:off x="2772950" y="2794438"/>
            <a:ext cx="1269900" cy="3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(5, 3)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83"/>
          <p:cNvSpPr txBox="1"/>
          <p:nvPr/>
        </p:nvSpPr>
        <p:spPr>
          <a:xfrm>
            <a:off x="324000" y="683100"/>
            <a:ext cx="4248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 line 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 been rotated less than 360°.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information for the rotation of this line: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3" name="Google Shape;101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800" y="810000"/>
            <a:ext cx="2393900" cy="186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1015" name="Google Shape;1015;p83"/>
          <p:cNvSpPr txBox="1"/>
          <p:nvPr/>
        </p:nvSpPr>
        <p:spPr>
          <a:xfrm>
            <a:off x="317149" y="2520521"/>
            <a:ext cx="3881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object has been rotated: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83"/>
          <p:cNvSpPr txBox="1"/>
          <p:nvPr/>
        </p:nvSpPr>
        <p:spPr>
          <a:xfrm>
            <a:off x="647650" y="2825631"/>
            <a:ext cx="3924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anti-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clockwise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rotation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 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7" name="Google Shape;1017;p83"/>
          <p:cNvPicPr preferRelativeResize="0"/>
          <p:nvPr/>
        </p:nvPicPr>
        <p:blipFill rotWithShape="1">
          <a:blip r:embed="rId4">
            <a:alphaModFix/>
          </a:blip>
          <a:srcRect b="59597" l="75706" r="13951" t="27330"/>
          <a:stretch/>
        </p:blipFill>
        <p:spPr>
          <a:xfrm flipH="1" rot="-2700000">
            <a:off x="6141922" y="955809"/>
            <a:ext cx="871846" cy="111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84"/>
          <p:cNvSpPr txBox="1"/>
          <p:nvPr/>
        </p:nvSpPr>
        <p:spPr>
          <a:xfrm>
            <a:off x="324000" y="683100"/>
            <a:ext cx="4248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 line 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 been rotated less than 360°.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information for the rotation of this line: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1024" name="Google Shape;1024;p84"/>
          <p:cNvSpPr txBox="1"/>
          <p:nvPr/>
        </p:nvSpPr>
        <p:spPr>
          <a:xfrm>
            <a:off x="317149" y="2520521"/>
            <a:ext cx="3881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object has been rotated: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4"/>
          <p:cNvSpPr txBox="1"/>
          <p:nvPr/>
        </p:nvSpPr>
        <p:spPr>
          <a:xfrm>
            <a:off x="647650" y="2825631"/>
            <a:ext cx="3924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clockwise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rotation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 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6" name="Google Shape;102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6112" y="864298"/>
            <a:ext cx="2393875" cy="1580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84"/>
          <p:cNvPicPr preferRelativeResize="0"/>
          <p:nvPr/>
        </p:nvPicPr>
        <p:blipFill rotWithShape="1">
          <a:blip r:embed="rId4">
            <a:alphaModFix/>
          </a:blip>
          <a:srcRect b="59597" l="75706" r="13951" t="27330"/>
          <a:stretch/>
        </p:blipFill>
        <p:spPr>
          <a:xfrm rot="-9000009">
            <a:off x="5899622" y="1141510"/>
            <a:ext cx="871844" cy="1114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1033" name="Google Shape;1033;p85"/>
          <p:cNvSpPr txBox="1"/>
          <p:nvPr/>
        </p:nvSpPr>
        <p:spPr>
          <a:xfrm>
            <a:off x="317149" y="2293211"/>
            <a:ext cx="3881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object has been rotated: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5"/>
          <p:cNvSpPr txBox="1"/>
          <p:nvPr/>
        </p:nvSpPr>
        <p:spPr>
          <a:xfrm>
            <a:off x="647650" y="2673231"/>
            <a:ext cx="3924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clockwise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rotation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 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5"/>
          <p:cNvSpPr txBox="1"/>
          <p:nvPr/>
        </p:nvSpPr>
        <p:spPr>
          <a:xfrm>
            <a:off x="324000" y="683100"/>
            <a:ext cx="4248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has been rotated less than 360°.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information for the rotation: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6" name="Google Shape;103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3400" y="1013125"/>
            <a:ext cx="3054850" cy="173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5"/>
          <p:cNvPicPr preferRelativeResize="0"/>
          <p:nvPr/>
        </p:nvPicPr>
        <p:blipFill rotWithShape="1">
          <a:blip r:embed="rId4">
            <a:alphaModFix/>
          </a:blip>
          <a:srcRect b="59597" l="75706" r="13951" t="27330"/>
          <a:stretch/>
        </p:blipFill>
        <p:spPr>
          <a:xfrm rot="5400000">
            <a:off x="7826847" y="1940257"/>
            <a:ext cx="871848" cy="11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1043" name="Google Shape;1043;p86"/>
          <p:cNvSpPr txBox="1"/>
          <p:nvPr/>
        </p:nvSpPr>
        <p:spPr>
          <a:xfrm>
            <a:off x="317149" y="2293211"/>
            <a:ext cx="3881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object has been rotated: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6"/>
          <p:cNvSpPr txBox="1"/>
          <p:nvPr/>
        </p:nvSpPr>
        <p:spPr>
          <a:xfrm>
            <a:off x="647650" y="2673231"/>
            <a:ext cx="3924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anti-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clockwise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rotation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 </a:t>
            </a: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86"/>
          <p:cNvSpPr txBox="1"/>
          <p:nvPr/>
        </p:nvSpPr>
        <p:spPr>
          <a:xfrm>
            <a:off x="324000" y="683100"/>
            <a:ext cx="4248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has been rotated less than 360°.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information for the rotation: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6" name="Google Shape;104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7500" y="1166788"/>
            <a:ext cx="2990741" cy="173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86"/>
          <p:cNvPicPr preferRelativeResize="0"/>
          <p:nvPr/>
        </p:nvPicPr>
        <p:blipFill rotWithShape="1">
          <a:blip r:embed="rId4">
            <a:alphaModFix/>
          </a:blip>
          <a:srcRect b="59597" l="75706" r="13951" t="27330"/>
          <a:stretch/>
        </p:blipFill>
        <p:spPr>
          <a:xfrm flipH="1" rot="-5400000">
            <a:off x="5382522" y="2093919"/>
            <a:ext cx="871848" cy="11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87"/>
          <p:cNvSpPr txBox="1"/>
          <p:nvPr>
            <p:ph idx="1" type="body"/>
          </p:nvPr>
        </p:nvSpPr>
        <p:spPr>
          <a:xfrm>
            <a:off x="317149" y="1356030"/>
            <a:ext cx="38811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object has been rotated: </a:t>
            </a:r>
            <a:endParaRPr sz="1800"/>
          </a:p>
        </p:txBody>
      </p:sp>
      <p:sp>
        <p:nvSpPr>
          <p:cNvPr id="1053" name="Google Shape;1053;p87"/>
          <p:cNvSpPr txBox="1"/>
          <p:nvPr>
            <p:ph idx="1" type="body"/>
          </p:nvPr>
        </p:nvSpPr>
        <p:spPr>
          <a:xfrm>
            <a:off x="647650" y="1659848"/>
            <a:ext cx="3924300" cy="14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clockwise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by </a:t>
            </a:r>
            <a:r>
              <a:rPr lang="en-GB" sz="1800" u="sng"/>
              <a:t>           </a:t>
            </a:r>
            <a:r>
              <a:rPr lang="en-GB" sz="1800"/>
              <a:t> °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with a </a:t>
            </a:r>
            <a:r>
              <a:rPr b="1" lang="en-GB" sz="1800"/>
              <a:t>centre of rotation</a:t>
            </a:r>
            <a:r>
              <a:rPr lang="en-GB" sz="1800"/>
              <a:t> at </a:t>
            </a:r>
            <a:r>
              <a:rPr lang="en-GB" sz="1800" u="sng"/>
              <a:t>            </a:t>
            </a:r>
            <a:r>
              <a:rPr lang="en-GB" sz="1800"/>
              <a:t> </a:t>
            </a:r>
            <a:r>
              <a:rPr lang="en-GB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054" name="Google Shape;1054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1055" name="Google Shape;1055;p87"/>
          <p:cNvSpPr txBox="1"/>
          <p:nvPr>
            <p:ph idx="1" type="body"/>
          </p:nvPr>
        </p:nvSpPr>
        <p:spPr>
          <a:xfrm>
            <a:off x="317149" y="2989236"/>
            <a:ext cx="38811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object has been rotated: </a:t>
            </a:r>
            <a:endParaRPr sz="1800"/>
          </a:p>
        </p:txBody>
      </p:sp>
      <p:sp>
        <p:nvSpPr>
          <p:cNvPr id="1056" name="Google Shape;1056;p87"/>
          <p:cNvSpPr txBox="1"/>
          <p:nvPr>
            <p:ph idx="1" type="body"/>
          </p:nvPr>
        </p:nvSpPr>
        <p:spPr>
          <a:xfrm>
            <a:off x="647650" y="3369256"/>
            <a:ext cx="39243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anti-clockwise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by </a:t>
            </a:r>
            <a:r>
              <a:rPr lang="en-GB" sz="1800" u="sng"/>
              <a:t>           </a:t>
            </a:r>
            <a:r>
              <a:rPr lang="en-GB" sz="1800"/>
              <a:t> °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with a </a:t>
            </a:r>
            <a:r>
              <a:rPr b="1" lang="en-GB" sz="1800"/>
              <a:t>centre of rotation</a:t>
            </a:r>
            <a:r>
              <a:rPr lang="en-GB" sz="1800"/>
              <a:t> at </a:t>
            </a:r>
            <a:r>
              <a:rPr lang="en-GB" sz="1800" u="sng"/>
              <a:t>            </a:t>
            </a:r>
            <a:r>
              <a:rPr lang="en-GB" sz="1800"/>
              <a:t> </a:t>
            </a:r>
            <a:r>
              <a:rPr lang="en-GB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057" name="Google Shape;105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52475"/>
            <a:ext cx="3654175" cy="33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87"/>
          <p:cNvSpPr txBox="1"/>
          <p:nvPr/>
        </p:nvSpPr>
        <p:spPr>
          <a:xfrm>
            <a:off x="324000" y="683100"/>
            <a:ext cx="8496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There are lots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ways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fully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describ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this rotation. Complete these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descriptions: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9" name="Google Shape;1059;p87"/>
          <p:cNvCxnSpPr/>
          <p:nvPr/>
        </p:nvCxnSpPr>
        <p:spPr>
          <a:xfrm>
            <a:off x="3823575" y="2790400"/>
            <a:ext cx="689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87"/>
          <p:cNvCxnSpPr/>
          <p:nvPr/>
        </p:nvCxnSpPr>
        <p:spPr>
          <a:xfrm>
            <a:off x="3823575" y="4458600"/>
            <a:ext cx="689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pic>
        <p:nvPicPr>
          <p:cNvPr id="1066" name="Google Shape;1066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9600" y="1467550"/>
            <a:ext cx="2494850" cy="292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88"/>
          <p:cNvSpPr txBox="1"/>
          <p:nvPr>
            <p:ph idx="4294967295" type="body"/>
          </p:nvPr>
        </p:nvSpPr>
        <p:spPr>
          <a:xfrm>
            <a:off x="7117800" y="3737100"/>
            <a:ext cx="696600" cy="292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object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068" name="Google Shape;1068;p88"/>
          <p:cNvSpPr txBox="1"/>
          <p:nvPr>
            <p:ph idx="4294967295" type="body"/>
          </p:nvPr>
        </p:nvSpPr>
        <p:spPr>
          <a:xfrm>
            <a:off x="7331325" y="1215925"/>
            <a:ext cx="757800" cy="292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image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069" name="Google Shape;1069;p88"/>
          <p:cNvSpPr txBox="1"/>
          <p:nvPr/>
        </p:nvSpPr>
        <p:spPr>
          <a:xfrm>
            <a:off x="647650" y="3521656"/>
            <a:ext cx="3924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8"/>
          <p:cNvSpPr txBox="1"/>
          <p:nvPr/>
        </p:nvSpPr>
        <p:spPr>
          <a:xfrm>
            <a:off x="324000" y="683100"/>
            <a:ext cx="8496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There are two ways of describing this rotation, if done in less than a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full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turn. Complete both descriptions: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8"/>
          <p:cNvSpPr txBox="1"/>
          <p:nvPr/>
        </p:nvSpPr>
        <p:spPr>
          <a:xfrm>
            <a:off x="317149" y="1356030"/>
            <a:ext cx="3881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object has been rotated: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8"/>
          <p:cNvSpPr txBox="1"/>
          <p:nvPr/>
        </p:nvSpPr>
        <p:spPr>
          <a:xfrm>
            <a:off x="647650" y="1736050"/>
            <a:ext cx="3924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clockwise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</a:t>
            </a:r>
            <a:r>
              <a:rPr lang="en-GB" sz="18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</a:t>
            </a: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rotation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 </a:t>
            </a:r>
            <a:r>
              <a:rPr lang="en-GB" sz="18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8"/>
          <p:cNvSpPr txBox="1"/>
          <p:nvPr/>
        </p:nvSpPr>
        <p:spPr>
          <a:xfrm>
            <a:off x="317149" y="3141636"/>
            <a:ext cx="3881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object has been rotated: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4" name="Google Shape;1074;p88"/>
          <p:cNvCxnSpPr/>
          <p:nvPr/>
        </p:nvCxnSpPr>
        <p:spPr>
          <a:xfrm>
            <a:off x="3840600" y="2824450"/>
            <a:ext cx="689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8550" y="1619775"/>
            <a:ext cx="2678024" cy="30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89"/>
          <p:cNvSpPr txBox="1"/>
          <p:nvPr>
            <p:ph idx="1" type="body"/>
          </p:nvPr>
        </p:nvSpPr>
        <p:spPr>
          <a:xfrm>
            <a:off x="317149" y="1660830"/>
            <a:ext cx="38811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The object has been rotated: </a:t>
            </a:r>
            <a:endParaRPr sz="1600"/>
          </a:p>
        </p:txBody>
      </p:sp>
      <p:sp>
        <p:nvSpPr>
          <p:cNvPr id="1081" name="Google Shape;1081;p89"/>
          <p:cNvSpPr txBox="1"/>
          <p:nvPr>
            <p:ph idx="1" type="body"/>
          </p:nvPr>
        </p:nvSpPr>
        <p:spPr>
          <a:xfrm>
            <a:off x="647650" y="2040850"/>
            <a:ext cx="39243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u="sng"/>
              <a:t>                                </a:t>
            </a:r>
            <a:r>
              <a:rPr lang="en-GB" sz="1600"/>
              <a:t> </a:t>
            </a:r>
            <a:r>
              <a:rPr lang="en-GB" sz="1600">
                <a:solidFill>
                  <a:schemeClr val="lt1"/>
                </a:solidFill>
              </a:rPr>
              <a:t>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by </a:t>
            </a:r>
            <a:r>
              <a:rPr lang="en-GB" sz="1600" u="sng"/>
              <a:t>           </a:t>
            </a:r>
            <a:r>
              <a:rPr lang="en-GB" sz="1600"/>
              <a:t> °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with a </a:t>
            </a:r>
            <a:r>
              <a:rPr b="1" lang="en-GB" sz="1600"/>
              <a:t>centre of rotation</a:t>
            </a:r>
            <a:r>
              <a:rPr lang="en-GB" sz="1600"/>
              <a:t> at </a:t>
            </a:r>
            <a:r>
              <a:rPr lang="en-GB" sz="1600" u="sng"/>
              <a:t>            </a:t>
            </a:r>
            <a:r>
              <a:rPr lang="en-GB" sz="1600"/>
              <a:t> </a:t>
            </a:r>
            <a:r>
              <a:rPr lang="en-GB" sz="1600">
                <a:solidFill>
                  <a:schemeClr val="lt1"/>
                </a:solidFill>
              </a:rPr>
              <a:t>.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082" name="Google Shape;1082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1083" name="Google Shape;1083;p89"/>
          <p:cNvSpPr txBox="1"/>
          <p:nvPr>
            <p:ph idx="4294967295" type="body"/>
          </p:nvPr>
        </p:nvSpPr>
        <p:spPr>
          <a:xfrm>
            <a:off x="7117800" y="3774575"/>
            <a:ext cx="803400" cy="292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object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084" name="Google Shape;1084;p89"/>
          <p:cNvSpPr txBox="1"/>
          <p:nvPr>
            <p:ph idx="4294967295" type="body"/>
          </p:nvPr>
        </p:nvSpPr>
        <p:spPr>
          <a:xfrm>
            <a:off x="5970875" y="1543450"/>
            <a:ext cx="956100" cy="292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image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085" name="Google Shape;1085;p89"/>
          <p:cNvSpPr txBox="1"/>
          <p:nvPr/>
        </p:nvSpPr>
        <p:spPr>
          <a:xfrm>
            <a:off x="324000" y="683100"/>
            <a:ext cx="8496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There are multiple possible descriptions that could correctly describe this rotation. Fully describe this rotation in one way.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90"/>
          <p:cNvSpPr txBox="1"/>
          <p:nvPr/>
        </p:nvSpPr>
        <p:spPr>
          <a:xfrm>
            <a:off x="647650" y="2825631"/>
            <a:ext cx="3924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anti-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clockwise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</a:t>
            </a:r>
            <a:r>
              <a:rPr lang="en-GB" sz="1600" u="sng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6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rotation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1092" name="Google Shape;1092;p90"/>
          <p:cNvSpPr txBox="1"/>
          <p:nvPr/>
        </p:nvSpPr>
        <p:spPr>
          <a:xfrm>
            <a:off x="324000" y="683100"/>
            <a:ext cx="4248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 line 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 been rotated less than 360°.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information for the rotation of this line: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3" name="Google Shape;109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800" y="810000"/>
            <a:ext cx="2393900" cy="186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90"/>
          <p:cNvSpPr txBox="1"/>
          <p:nvPr/>
        </p:nvSpPr>
        <p:spPr>
          <a:xfrm>
            <a:off x="317149" y="2520521"/>
            <a:ext cx="3881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object has been rotated: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5" name="Google Shape;1095;p90"/>
          <p:cNvPicPr preferRelativeResize="0"/>
          <p:nvPr/>
        </p:nvPicPr>
        <p:blipFill rotWithShape="1">
          <a:blip r:embed="rId4">
            <a:alphaModFix/>
          </a:blip>
          <a:srcRect b="59597" l="75706" r="13951" t="27330"/>
          <a:stretch/>
        </p:blipFill>
        <p:spPr>
          <a:xfrm flipH="1" rot="-2700000">
            <a:off x="6141922" y="955809"/>
            <a:ext cx="871846" cy="1114449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0"/>
          <p:cNvSpPr txBox="1"/>
          <p:nvPr/>
        </p:nvSpPr>
        <p:spPr>
          <a:xfrm>
            <a:off x="3454250" y="3533425"/>
            <a:ext cx="670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(8, 6)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7" name="Google Shape;1097;p90"/>
          <p:cNvSpPr txBox="1"/>
          <p:nvPr/>
        </p:nvSpPr>
        <p:spPr>
          <a:xfrm>
            <a:off x="922119" y="3124750"/>
            <a:ext cx="670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91"/>
          <p:cNvSpPr txBox="1"/>
          <p:nvPr/>
        </p:nvSpPr>
        <p:spPr>
          <a:xfrm>
            <a:off x="647650" y="2825631"/>
            <a:ext cx="3924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clockwise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</a:t>
            </a:r>
            <a:r>
              <a:rPr lang="en-GB" sz="1600" u="sng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6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rotation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1104" name="Google Shape;1104;p91"/>
          <p:cNvSpPr txBox="1"/>
          <p:nvPr/>
        </p:nvSpPr>
        <p:spPr>
          <a:xfrm>
            <a:off x="324000" y="683100"/>
            <a:ext cx="4248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 line 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 been rotated less than 360°.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information for the rotation of this line: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1"/>
          <p:cNvSpPr txBox="1"/>
          <p:nvPr/>
        </p:nvSpPr>
        <p:spPr>
          <a:xfrm>
            <a:off x="317149" y="2520521"/>
            <a:ext cx="3881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object has been rotated: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91"/>
          <p:cNvSpPr txBox="1"/>
          <p:nvPr/>
        </p:nvSpPr>
        <p:spPr>
          <a:xfrm>
            <a:off x="3435294" y="3568703"/>
            <a:ext cx="670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(3, 5)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7" name="Google Shape;1107;p91"/>
          <p:cNvSpPr txBox="1"/>
          <p:nvPr/>
        </p:nvSpPr>
        <p:spPr>
          <a:xfrm>
            <a:off x="903163" y="3160028"/>
            <a:ext cx="670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270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08" name="Google Shape;110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6112" y="864298"/>
            <a:ext cx="2393875" cy="1580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91"/>
          <p:cNvPicPr preferRelativeResize="0"/>
          <p:nvPr/>
        </p:nvPicPr>
        <p:blipFill rotWithShape="1">
          <a:blip r:embed="rId4">
            <a:alphaModFix/>
          </a:blip>
          <a:srcRect b="59597" l="75706" r="13951" t="27330"/>
          <a:stretch/>
        </p:blipFill>
        <p:spPr>
          <a:xfrm rot="-8100011">
            <a:off x="5777523" y="1139098"/>
            <a:ext cx="871843" cy="111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92"/>
          <p:cNvSpPr txBox="1"/>
          <p:nvPr/>
        </p:nvSpPr>
        <p:spPr>
          <a:xfrm>
            <a:off x="647650" y="2673231"/>
            <a:ext cx="3924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clockwise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            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rotation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1116" name="Google Shape;1116;p92"/>
          <p:cNvSpPr txBox="1"/>
          <p:nvPr/>
        </p:nvSpPr>
        <p:spPr>
          <a:xfrm>
            <a:off x="317149" y="2293211"/>
            <a:ext cx="3881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object has been rotated: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2"/>
          <p:cNvSpPr txBox="1"/>
          <p:nvPr/>
        </p:nvSpPr>
        <p:spPr>
          <a:xfrm>
            <a:off x="324000" y="683100"/>
            <a:ext cx="4248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has been rotated less than 360°.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information for the rotation: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8" name="Google Shape;111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3400" y="1013125"/>
            <a:ext cx="3054850" cy="173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92"/>
          <p:cNvPicPr preferRelativeResize="0"/>
          <p:nvPr/>
        </p:nvPicPr>
        <p:blipFill rotWithShape="1">
          <a:blip r:embed="rId4">
            <a:alphaModFix/>
          </a:blip>
          <a:srcRect b="59597" l="75706" r="13951" t="27330"/>
          <a:stretch/>
        </p:blipFill>
        <p:spPr>
          <a:xfrm rot="5400000">
            <a:off x="7826847" y="1940257"/>
            <a:ext cx="871848" cy="11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2"/>
          <p:cNvSpPr txBox="1"/>
          <p:nvPr/>
        </p:nvSpPr>
        <p:spPr>
          <a:xfrm>
            <a:off x="970074" y="2963414"/>
            <a:ext cx="600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1" name="Google Shape;1121;p92"/>
          <p:cNvSpPr txBox="1"/>
          <p:nvPr/>
        </p:nvSpPr>
        <p:spPr>
          <a:xfrm>
            <a:off x="3454250" y="3352056"/>
            <a:ext cx="670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(8, 7)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93"/>
          <p:cNvSpPr txBox="1"/>
          <p:nvPr/>
        </p:nvSpPr>
        <p:spPr>
          <a:xfrm>
            <a:off x="3452088" y="3353538"/>
            <a:ext cx="670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(8, 8)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7" name="Google Shape;1127;p93"/>
          <p:cNvSpPr txBox="1"/>
          <p:nvPr/>
        </p:nvSpPr>
        <p:spPr>
          <a:xfrm>
            <a:off x="647650" y="2673231"/>
            <a:ext cx="3924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anti-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clockwise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            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rotation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sp>
        <p:nvSpPr>
          <p:cNvPr id="1129" name="Google Shape;1129;p93"/>
          <p:cNvSpPr txBox="1"/>
          <p:nvPr/>
        </p:nvSpPr>
        <p:spPr>
          <a:xfrm>
            <a:off x="317149" y="2293211"/>
            <a:ext cx="3881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object has been rotated: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93"/>
          <p:cNvSpPr txBox="1"/>
          <p:nvPr/>
        </p:nvSpPr>
        <p:spPr>
          <a:xfrm>
            <a:off x="324000" y="683100"/>
            <a:ext cx="4248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has been rotated less than 360°.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information for the rotation: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3"/>
          <p:cNvSpPr txBox="1"/>
          <p:nvPr/>
        </p:nvSpPr>
        <p:spPr>
          <a:xfrm>
            <a:off x="970074" y="2963414"/>
            <a:ext cx="600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32" name="Google Shape;113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9250" y="1080001"/>
            <a:ext cx="2990741" cy="173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93"/>
          <p:cNvPicPr preferRelativeResize="0"/>
          <p:nvPr/>
        </p:nvPicPr>
        <p:blipFill rotWithShape="1">
          <a:blip r:embed="rId4">
            <a:alphaModFix/>
          </a:blip>
          <a:srcRect b="59597" l="75706" r="13951" t="27330"/>
          <a:stretch/>
        </p:blipFill>
        <p:spPr>
          <a:xfrm flipH="1" rot="-5400000">
            <a:off x="5734272" y="2007132"/>
            <a:ext cx="871848" cy="11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pic>
        <p:nvPicPr>
          <p:cNvPr id="1139" name="Google Shape;113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52475"/>
            <a:ext cx="3654175" cy="33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94"/>
          <p:cNvSpPr txBox="1"/>
          <p:nvPr/>
        </p:nvSpPr>
        <p:spPr>
          <a:xfrm>
            <a:off x="324000" y="683100"/>
            <a:ext cx="8496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lots of ways to fully describe this rotation. Complete these two  descriptions: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94"/>
          <p:cNvSpPr txBox="1"/>
          <p:nvPr/>
        </p:nvSpPr>
        <p:spPr>
          <a:xfrm>
            <a:off x="317149" y="1508430"/>
            <a:ext cx="3881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object has been rotated: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94"/>
          <p:cNvSpPr txBox="1"/>
          <p:nvPr/>
        </p:nvSpPr>
        <p:spPr>
          <a:xfrm>
            <a:off x="647650" y="1888450"/>
            <a:ext cx="3924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clockwise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</a:t>
            </a:r>
            <a:r>
              <a:rPr lang="en-GB" sz="16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 u="sng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rotation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 </a:t>
            </a:r>
            <a:r>
              <a:rPr lang="en-GB" sz="1600" u="sng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6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4"/>
          <p:cNvSpPr txBox="1"/>
          <p:nvPr/>
        </p:nvSpPr>
        <p:spPr>
          <a:xfrm>
            <a:off x="317149" y="3294036"/>
            <a:ext cx="3881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object has been rotated: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94"/>
          <p:cNvSpPr txBox="1"/>
          <p:nvPr/>
        </p:nvSpPr>
        <p:spPr>
          <a:xfrm>
            <a:off x="647650" y="3674056"/>
            <a:ext cx="3924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anti-clockwise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</a:t>
            </a:r>
            <a:r>
              <a:rPr lang="en-GB" sz="1600" u="sng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6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rotation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</a:t>
            </a:r>
            <a:r>
              <a:rPr lang="en-GB" sz="16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 u="sng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6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94"/>
          <p:cNvSpPr txBox="1"/>
          <p:nvPr/>
        </p:nvSpPr>
        <p:spPr>
          <a:xfrm>
            <a:off x="970074" y="2204988"/>
            <a:ext cx="600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180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6" name="Google Shape;1146;p94"/>
          <p:cNvSpPr txBox="1"/>
          <p:nvPr/>
        </p:nvSpPr>
        <p:spPr>
          <a:xfrm>
            <a:off x="3454250" y="2593631"/>
            <a:ext cx="670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(8, 6)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7" name="Google Shape;1147;p94"/>
          <p:cNvSpPr txBox="1"/>
          <p:nvPr/>
        </p:nvSpPr>
        <p:spPr>
          <a:xfrm>
            <a:off x="970074" y="3999332"/>
            <a:ext cx="600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180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8" name="Google Shape;1148;p94"/>
          <p:cNvSpPr txBox="1"/>
          <p:nvPr/>
        </p:nvSpPr>
        <p:spPr>
          <a:xfrm>
            <a:off x="3454250" y="4387975"/>
            <a:ext cx="670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(8, 6)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9" name="Google Shape;1149;p94"/>
          <p:cNvSpPr txBox="1"/>
          <p:nvPr/>
        </p:nvSpPr>
        <p:spPr>
          <a:xfrm>
            <a:off x="2113850" y="2110242"/>
            <a:ext cx="22818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Or (180 + 360n)°</a:t>
            </a:r>
            <a:endParaRPr sz="18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0" name="Google Shape;1150;p94"/>
          <p:cNvSpPr txBox="1"/>
          <p:nvPr/>
        </p:nvSpPr>
        <p:spPr>
          <a:xfrm>
            <a:off x="2167250" y="3975701"/>
            <a:ext cx="22818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Or (180 + 360n)°</a:t>
            </a:r>
            <a:endParaRPr sz="18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pic>
        <p:nvPicPr>
          <p:cNvPr id="1156" name="Google Shape;115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9600" y="1467550"/>
            <a:ext cx="2494850" cy="292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5"/>
          <p:cNvSpPr txBox="1"/>
          <p:nvPr/>
        </p:nvSpPr>
        <p:spPr>
          <a:xfrm>
            <a:off x="7117800" y="3737100"/>
            <a:ext cx="696600" cy="29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5"/>
          <p:cNvSpPr txBox="1"/>
          <p:nvPr/>
        </p:nvSpPr>
        <p:spPr>
          <a:xfrm>
            <a:off x="7331325" y="1215925"/>
            <a:ext cx="757800" cy="29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95"/>
          <p:cNvSpPr txBox="1"/>
          <p:nvPr/>
        </p:nvSpPr>
        <p:spPr>
          <a:xfrm>
            <a:off x="324000" y="683100"/>
            <a:ext cx="8496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two ways of describing this rotation, if done in less than a full turn.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Complete both  descriptions: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95"/>
          <p:cNvSpPr txBox="1"/>
          <p:nvPr/>
        </p:nvSpPr>
        <p:spPr>
          <a:xfrm>
            <a:off x="317149" y="1508430"/>
            <a:ext cx="3881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object has been rotated: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5"/>
          <p:cNvSpPr txBox="1"/>
          <p:nvPr/>
        </p:nvSpPr>
        <p:spPr>
          <a:xfrm>
            <a:off x="647650" y="1888450"/>
            <a:ext cx="3924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clockwise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            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rotation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              </a:t>
            </a:r>
            <a:r>
              <a:rPr lang="en-GB" sz="16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5"/>
          <p:cNvSpPr txBox="1"/>
          <p:nvPr/>
        </p:nvSpPr>
        <p:spPr>
          <a:xfrm>
            <a:off x="317149" y="3294036"/>
            <a:ext cx="3881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object has been rotated: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Anti-clockwise 270°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with a </a:t>
            </a:r>
            <a:r>
              <a:rPr b="1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centre of rotation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at (8, 4)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3" name="Google Shape;1163;p95"/>
          <p:cNvSpPr txBox="1"/>
          <p:nvPr/>
        </p:nvSpPr>
        <p:spPr>
          <a:xfrm>
            <a:off x="970074" y="2204988"/>
            <a:ext cx="600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4" name="Google Shape;1164;p95"/>
          <p:cNvSpPr txBox="1"/>
          <p:nvPr/>
        </p:nvSpPr>
        <p:spPr>
          <a:xfrm>
            <a:off x="3454250" y="2593631"/>
            <a:ext cx="670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(8, 4)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5" name="Google Shape;1165;p95"/>
          <p:cNvSpPr txBox="1"/>
          <p:nvPr/>
        </p:nvSpPr>
        <p:spPr>
          <a:xfrm>
            <a:off x="647650" y="4359950"/>
            <a:ext cx="3924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6" name="Google Shape;1166;p95"/>
          <p:cNvSpPr txBox="1"/>
          <p:nvPr/>
        </p:nvSpPr>
        <p:spPr>
          <a:xfrm>
            <a:off x="647650" y="3958450"/>
            <a:ext cx="18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with the centre of rotation</a:t>
            </a:r>
            <a:endParaRPr/>
          </a:p>
        </p:txBody>
      </p:sp>
      <p:pic>
        <p:nvPicPr>
          <p:cNvPr id="1172" name="Google Shape;117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8550" y="1619775"/>
            <a:ext cx="2678024" cy="30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96"/>
          <p:cNvSpPr txBox="1"/>
          <p:nvPr/>
        </p:nvSpPr>
        <p:spPr>
          <a:xfrm>
            <a:off x="7117800" y="3774575"/>
            <a:ext cx="803400" cy="29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96"/>
          <p:cNvSpPr txBox="1"/>
          <p:nvPr/>
        </p:nvSpPr>
        <p:spPr>
          <a:xfrm>
            <a:off x="5970875" y="1543450"/>
            <a:ext cx="956100" cy="29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96"/>
          <p:cNvSpPr txBox="1"/>
          <p:nvPr/>
        </p:nvSpPr>
        <p:spPr>
          <a:xfrm>
            <a:off x="647650" y="2040850"/>
            <a:ext cx="3924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</a:t>
            </a:r>
            <a:r>
              <a:rPr lang="en-GB" sz="16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            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rotation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at              </a:t>
            </a:r>
            <a:r>
              <a:rPr lang="en-GB" sz="16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96"/>
          <p:cNvSpPr txBox="1"/>
          <p:nvPr/>
        </p:nvSpPr>
        <p:spPr>
          <a:xfrm>
            <a:off x="324000" y="683100"/>
            <a:ext cx="8496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There are multiple possible descriptions that could correctly describe this rotation. Fully describe this rotation in one way.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96"/>
          <p:cNvSpPr txBox="1"/>
          <p:nvPr/>
        </p:nvSpPr>
        <p:spPr>
          <a:xfrm>
            <a:off x="317149" y="1660830"/>
            <a:ext cx="3881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object has been rotated: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96"/>
          <p:cNvSpPr txBox="1"/>
          <p:nvPr/>
        </p:nvSpPr>
        <p:spPr>
          <a:xfrm>
            <a:off x="647650" y="1925375"/>
            <a:ext cx="1818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anti-clockwise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9" name="Google Shape;1179;p96"/>
          <p:cNvSpPr txBox="1"/>
          <p:nvPr/>
        </p:nvSpPr>
        <p:spPr>
          <a:xfrm>
            <a:off x="944825" y="2345925"/>
            <a:ext cx="625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0" name="Google Shape;1180;p96"/>
          <p:cNvSpPr txBox="1"/>
          <p:nvPr/>
        </p:nvSpPr>
        <p:spPr>
          <a:xfrm>
            <a:off x="785916" y="3193555"/>
            <a:ext cx="4014900" cy="13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Can either be clockwise or anti-clockwise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Angle must be 45° greater than a multiple of 90°, such as 135° or 215°.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Centre of Rotation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must be (5, 6).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1" name="Google Shape;1181;p96"/>
          <p:cNvSpPr txBox="1"/>
          <p:nvPr/>
        </p:nvSpPr>
        <p:spPr>
          <a:xfrm>
            <a:off x="3456650" y="2745375"/>
            <a:ext cx="668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(5, 6)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97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with the </a:t>
            </a:r>
            <a:r>
              <a:rPr b="1" lang="en-GB"/>
              <a:t>centre of rotation</a:t>
            </a:r>
            <a:endParaRPr b="1"/>
          </a:p>
        </p:txBody>
      </p:sp>
      <p:sp>
        <p:nvSpPr>
          <p:cNvPr id="1187" name="Google Shape;1187;p97"/>
          <p:cNvSpPr txBox="1"/>
          <p:nvPr>
            <p:ph idx="3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the centre of rotation</a:t>
            </a:r>
            <a:endParaRPr/>
          </a:p>
        </p:txBody>
      </p:sp>
      <p:pic>
        <p:nvPicPr>
          <p:cNvPr id="1188" name="Google Shape;118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181" y="2990856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97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</a:t>
            </a:r>
            <a:r>
              <a:rPr b="1" lang="en-GB"/>
              <a:t>centre of rotation</a:t>
            </a:r>
            <a:r>
              <a:rPr lang="en-GB"/>
              <a:t> for 180° rotations</a:t>
            </a:r>
            <a:endParaRPr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98"/>
          <p:cNvSpPr txBox="1"/>
          <p:nvPr>
            <p:ph idx="1" type="body"/>
          </p:nvPr>
        </p:nvSpPr>
        <p:spPr>
          <a:xfrm>
            <a:off x="324000" y="861000"/>
            <a:ext cx="39960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For 180° rotations, you can find the </a:t>
            </a:r>
            <a:r>
              <a:rPr b="1" lang="en-GB" sz="1800"/>
              <a:t>centre of rotation</a:t>
            </a:r>
            <a:r>
              <a:rPr lang="en-GB" sz="1800"/>
              <a:t> by:</a:t>
            </a:r>
            <a:endParaRPr sz="1800"/>
          </a:p>
        </p:txBody>
      </p:sp>
      <p:sp>
        <p:nvSpPr>
          <p:cNvPr id="1195" name="Google Shape;1195;p98"/>
          <p:cNvSpPr txBox="1"/>
          <p:nvPr>
            <p:ph idx="1" type="body"/>
          </p:nvPr>
        </p:nvSpPr>
        <p:spPr>
          <a:xfrm>
            <a:off x="324000" y="3444244"/>
            <a:ext cx="39960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centre of rotation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(6, 5).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6" name="Google Shape;1196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centre of rotation for 180° rotations</a:t>
            </a:r>
            <a:endParaRPr/>
          </a:p>
        </p:txBody>
      </p:sp>
      <p:pic>
        <p:nvPicPr>
          <p:cNvPr id="1197" name="Google Shape;119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0195" y="810000"/>
            <a:ext cx="4041130" cy="401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8" name="Google Shape;1198;p98"/>
          <p:cNvCxnSpPr/>
          <p:nvPr/>
        </p:nvCxnSpPr>
        <p:spPr>
          <a:xfrm>
            <a:off x="5685750" y="2598475"/>
            <a:ext cx="1992600" cy="63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1199" name="Google Shape;1199;p98"/>
          <p:cNvCxnSpPr/>
          <p:nvPr/>
        </p:nvCxnSpPr>
        <p:spPr>
          <a:xfrm>
            <a:off x="6038075" y="2254525"/>
            <a:ext cx="1307700" cy="1320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1200" name="Google Shape;1200;p98"/>
          <p:cNvSpPr txBox="1"/>
          <p:nvPr>
            <p:ph idx="1" type="body"/>
          </p:nvPr>
        </p:nvSpPr>
        <p:spPr>
          <a:xfrm>
            <a:off x="663925" y="1620000"/>
            <a:ext cx="3808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connecting together corresponding points on the object and image with line segments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finding where the line segments intersect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01" name="Google Shape;1201;p98"/>
          <p:cNvSpPr/>
          <p:nvPr/>
        </p:nvSpPr>
        <p:spPr>
          <a:xfrm rot="-8100000">
            <a:off x="6426128" y="2652816"/>
            <a:ext cx="511662" cy="511662"/>
          </a:xfrm>
          <a:prstGeom prst="mathMultiply">
            <a:avLst>
              <a:gd fmla="val 0" name="adj1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99"/>
          <p:cNvSpPr txBox="1"/>
          <p:nvPr>
            <p:ph idx="1" type="body"/>
          </p:nvPr>
        </p:nvSpPr>
        <p:spPr>
          <a:xfrm>
            <a:off x="324000" y="759300"/>
            <a:ext cx="46542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point A is corresponding with which point on its image?</a:t>
            </a:r>
            <a:endParaRPr sz="2000"/>
          </a:p>
        </p:txBody>
      </p:sp>
      <p:sp>
        <p:nvSpPr>
          <p:cNvPr id="1207" name="Google Shape;1207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centre of rotation for 180° rotations</a:t>
            </a:r>
            <a:endParaRPr/>
          </a:p>
        </p:txBody>
      </p:sp>
      <p:pic>
        <p:nvPicPr>
          <p:cNvPr id="1208" name="Google Shape;1208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1310" y="765900"/>
            <a:ext cx="3406051" cy="40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99"/>
          <p:cNvSpPr txBox="1"/>
          <p:nvPr>
            <p:ph idx="1" type="body"/>
          </p:nvPr>
        </p:nvSpPr>
        <p:spPr>
          <a:xfrm>
            <a:off x="5936775" y="626700"/>
            <a:ext cx="6174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A</a:t>
            </a:r>
            <a:endParaRPr sz="2400"/>
          </a:p>
        </p:txBody>
      </p:sp>
      <p:sp>
        <p:nvSpPr>
          <p:cNvPr id="1210" name="Google Shape;1210;p99"/>
          <p:cNvSpPr txBox="1"/>
          <p:nvPr>
            <p:ph idx="1" type="body"/>
          </p:nvPr>
        </p:nvSpPr>
        <p:spPr>
          <a:xfrm>
            <a:off x="6342297" y="3113875"/>
            <a:ext cx="6174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E</a:t>
            </a:r>
            <a:endParaRPr sz="2400"/>
          </a:p>
        </p:txBody>
      </p:sp>
      <p:sp>
        <p:nvSpPr>
          <p:cNvPr id="1211" name="Google Shape;1211;p99"/>
          <p:cNvSpPr txBox="1"/>
          <p:nvPr>
            <p:ph idx="1" type="body"/>
          </p:nvPr>
        </p:nvSpPr>
        <p:spPr>
          <a:xfrm>
            <a:off x="7285372" y="3402900"/>
            <a:ext cx="6174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F</a:t>
            </a:r>
            <a:endParaRPr sz="2400"/>
          </a:p>
        </p:txBody>
      </p:sp>
      <p:sp>
        <p:nvSpPr>
          <p:cNvPr id="1212" name="Google Shape;1212;p99"/>
          <p:cNvSpPr txBox="1"/>
          <p:nvPr>
            <p:ph idx="1" type="body"/>
          </p:nvPr>
        </p:nvSpPr>
        <p:spPr>
          <a:xfrm>
            <a:off x="8058672" y="3490975"/>
            <a:ext cx="6174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G</a:t>
            </a:r>
            <a:endParaRPr sz="2400"/>
          </a:p>
        </p:txBody>
      </p:sp>
      <p:sp>
        <p:nvSpPr>
          <p:cNvPr id="1213" name="Google Shape;1213;p99"/>
          <p:cNvSpPr txBox="1"/>
          <p:nvPr>
            <p:ph idx="1" type="body"/>
          </p:nvPr>
        </p:nvSpPr>
        <p:spPr>
          <a:xfrm>
            <a:off x="6993004" y="4349925"/>
            <a:ext cx="6174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H</a:t>
            </a:r>
            <a:endParaRPr sz="2400"/>
          </a:p>
        </p:txBody>
      </p:sp>
      <p:sp>
        <p:nvSpPr>
          <p:cNvPr id="1214" name="Google Shape;1214;p99"/>
          <p:cNvSpPr txBox="1"/>
          <p:nvPr>
            <p:ph idx="1" type="body"/>
          </p:nvPr>
        </p:nvSpPr>
        <p:spPr>
          <a:xfrm>
            <a:off x="3497854" y="1312675"/>
            <a:ext cx="6174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H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100"/>
          <p:cNvSpPr txBox="1"/>
          <p:nvPr>
            <p:ph idx="1" type="body"/>
          </p:nvPr>
        </p:nvSpPr>
        <p:spPr>
          <a:xfrm>
            <a:off x="324000" y="759300"/>
            <a:ext cx="46542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point A has been connected to its corresponding point on the image.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Find the </a:t>
            </a:r>
            <a:r>
              <a:rPr b="1" lang="en-GB" sz="2000"/>
              <a:t>centre of rotation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220" name="Google Shape;1220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centre of rotation for 180° rotations</a:t>
            </a:r>
            <a:endParaRPr/>
          </a:p>
        </p:txBody>
      </p:sp>
      <p:pic>
        <p:nvPicPr>
          <p:cNvPr id="1221" name="Google Shape;1221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1310" y="765900"/>
            <a:ext cx="3406051" cy="40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0"/>
          <p:cNvSpPr txBox="1"/>
          <p:nvPr>
            <p:ph idx="1" type="body"/>
          </p:nvPr>
        </p:nvSpPr>
        <p:spPr>
          <a:xfrm>
            <a:off x="5936775" y="626700"/>
            <a:ext cx="6174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A</a:t>
            </a:r>
            <a:endParaRPr sz="2400"/>
          </a:p>
        </p:txBody>
      </p:sp>
      <p:cxnSp>
        <p:nvCxnSpPr>
          <p:cNvPr id="1223" name="Google Shape;1223;p100"/>
          <p:cNvCxnSpPr/>
          <p:nvPr/>
        </p:nvCxnSpPr>
        <p:spPr>
          <a:xfrm>
            <a:off x="6111875" y="992175"/>
            <a:ext cx="1397400" cy="350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1224" name="Google Shape;1224;p100"/>
          <p:cNvSpPr txBox="1"/>
          <p:nvPr>
            <p:ph idx="1" type="body"/>
          </p:nvPr>
        </p:nvSpPr>
        <p:spPr>
          <a:xfrm>
            <a:off x="324000" y="2997450"/>
            <a:ext cx="46542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centre of rotation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(4, 5).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25" name="Google Shape;1225;p100"/>
          <p:cNvCxnSpPr/>
          <p:nvPr/>
        </p:nvCxnSpPr>
        <p:spPr>
          <a:xfrm>
            <a:off x="6805350" y="2040075"/>
            <a:ext cx="0" cy="1409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1226" name="Google Shape;1226;p100"/>
          <p:cNvSpPr/>
          <p:nvPr/>
        </p:nvSpPr>
        <p:spPr>
          <a:xfrm rot="10800000">
            <a:off x="6554665" y="2481754"/>
            <a:ext cx="511800" cy="511800"/>
          </a:xfrm>
          <a:prstGeom prst="mathMultiply">
            <a:avLst>
              <a:gd fmla="val 0" name="adj1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01"/>
          <p:cNvSpPr txBox="1"/>
          <p:nvPr>
            <p:ph idx="1" type="body"/>
          </p:nvPr>
        </p:nvSpPr>
        <p:spPr>
          <a:xfrm>
            <a:off x="324000" y="683100"/>
            <a:ext cx="84960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r>
              <a:rPr lang="en-GB" sz="1800"/>
              <a:t>) Below are two rotations where an object and its image have two </a:t>
            </a:r>
            <a:r>
              <a:rPr lang="en-GB" sz="1800"/>
              <a:t>pairs of corresponding vertices labelled. By connecting these corresponding vertices with line segments, find the </a:t>
            </a:r>
            <a:r>
              <a:rPr b="1" lang="en-GB" sz="1800"/>
              <a:t>centre of rotation</a:t>
            </a:r>
            <a:r>
              <a:rPr lang="en-GB" sz="1800"/>
              <a:t> of each object.</a:t>
            </a:r>
            <a:endParaRPr sz="1800"/>
          </a:p>
        </p:txBody>
      </p:sp>
      <p:sp>
        <p:nvSpPr>
          <p:cNvPr id="1232" name="Google Shape;1232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centre of rotation for 180° rotations</a:t>
            </a:r>
            <a:endParaRPr/>
          </a:p>
        </p:txBody>
      </p:sp>
      <p:pic>
        <p:nvPicPr>
          <p:cNvPr id="1233" name="Google Shape;1233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75" y="1663674"/>
            <a:ext cx="6618625" cy="3136186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101"/>
          <p:cNvSpPr txBox="1"/>
          <p:nvPr>
            <p:ph idx="1" type="body"/>
          </p:nvPr>
        </p:nvSpPr>
        <p:spPr>
          <a:xfrm>
            <a:off x="1304952" y="2224600"/>
            <a:ext cx="3069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235" name="Google Shape;1235;p101"/>
          <p:cNvSpPr txBox="1"/>
          <p:nvPr>
            <p:ph idx="1" type="body"/>
          </p:nvPr>
        </p:nvSpPr>
        <p:spPr>
          <a:xfrm>
            <a:off x="4258170" y="3201957"/>
            <a:ext cx="3069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A′ </a:t>
            </a:r>
            <a:endParaRPr sz="1800"/>
          </a:p>
        </p:txBody>
      </p:sp>
      <p:sp>
        <p:nvSpPr>
          <p:cNvPr id="1236" name="Google Shape;1236;p101"/>
          <p:cNvSpPr txBox="1"/>
          <p:nvPr>
            <p:ph idx="1" type="body"/>
          </p:nvPr>
        </p:nvSpPr>
        <p:spPr>
          <a:xfrm>
            <a:off x="2487808" y="3453674"/>
            <a:ext cx="3069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B′ </a:t>
            </a:r>
            <a:endParaRPr sz="1800"/>
          </a:p>
        </p:txBody>
      </p:sp>
      <p:sp>
        <p:nvSpPr>
          <p:cNvPr id="1237" name="Google Shape;1237;p101"/>
          <p:cNvSpPr txBox="1"/>
          <p:nvPr>
            <p:ph idx="1" type="body"/>
          </p:nvPr>
        </p:nvSpPr>
        <p:spPr>
          <a:xfrm>
            <a:off x="3113808" y="2049306"/>
            <a:ext cx="3069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238" name="Google Shape;1238;p101"/>
          <p:cNvSpPr txBox="1"/>
          <p:nvPr>
            <p:ph idx="1" type="body"/>
          </p:nvPr>
        </p:nvSpPr>
        <p:spPr>
          <a:xfrm>
            <a:off x="6334002" y="2160000"/>
            <a:ext cx="3069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239" name="Google Shape;1239;p101"/>
          <p:cNvSpPr txBox="1"/>
          <p:nvPr>
            <p:ph idx="1" type="body"/>
          </p:nvPr>
        </p:nvSpPr>
        <p:spPr>
          <a:xfrm>
            <a:off x="7326702" y="3190225"/>
            <a:ext cx="3069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240" name="Google Shape;1240;p101"/>
          <p:cNvSpPr txBox="1"/>
          <p:nvPr>
            <p:ph idx="1" type="body"/>
          </p:nvPr>
        </p:nvSpPr>
        <p:spPr>
          <a:xfrm>
            <a:off x="4527027" y="2934762"/>
            <a:ext cx="3069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D′ </a:t>
            </a:r>
            <a:endParaRPr sz="1800"/>
          </a:p>
        </p:txBody>
      </p:sp>
      <p:sp>
        <p:nvSpPr>
          <p:cNvPr id="1241" name="Google Shape;1241;p101"/>
          <p:cNvSpPr txBox="1"/>
          <p:nvPr>
            <p:ph idx="1" type="body"/>
          </p:nvPr>
        </p:nvSpPr>
        <p:spPr>
          <a:xfrm>
            <a:off x="5519102" y="4048925"/>
            <a:ext cx="3069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C′ </a:t>
            </a:r>
            <a:endParaRPr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102"/>
          <p:cNvSpPr txBox="1"/>
          <p:nvPr>
            <p:ph idx="1" type="body"/>
          </p:nvPr>
        </p:nvSpPr>
        <p:spPr>
          <a:xfrm>
            <a:off x="324000" y="3792750"/>
            <a:ext cx="84960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) Complete the sentence below: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“To find the </a:t>
            </a:r>
            <a:r>
              <a:rPr b="1" lang="en-GB" sz="1800"/>
              <a:t>centre of rotation</a:t>
            </a:r>
            <a:r>
              <a:rPr lang="en-GB" sz="1800"/>
              <a:t> by connecting corresponding points, the image must have been rotated by </a:t>
            </a:r>
            <a:r>
              <a:rPr lang="en-GB" sz="1800" u="sng"/>
              <a:t>            </a:t>
            </a:r>
            <a:r>
              <a:rPr lang="en-GB" sz="1800"/>
              <a:t>°.”</a:t>
            </a:r>
            <a:endParaRPr sz="1800"/>
          </a:p>
        </p:txBody>
      </p:sp>
      <p:sp>
        <p:nvSpPr>
          <p:cNvPr id="1247" name="Google Shape;1247;p102"/>
          <p:cNvSpPr txBox="1"/>
          <p:nvPr>
            <p:ph idx="1" type="body"/>
          </p:nvPr>
        </p:nvSpPr>
        <p:spPr>
          <a:xfrm>
            <a:off x="324000" y="683100"/>
            <a:ext cx="84960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By connecting corresponding points on the object and image, find the </a:t>
            </a:r>
            <a:r>
              <a:rPr b="1" lang="en-GB" sz="1800"/>
              <a:t>centre of rotation</a:t>
            </a:r>
            <a:r>
              <a:rPr lang="en-GB" sz="1800"/>
              <a:t> for these rotations.</a:t>
            </a:r>
            <a:endParaRPr sz="1800"/>
          </a:p>
        </p:txBody>
      </p:sp>
      <p:sp>
        <p:nvSpPr>
          <p:cNvPr id="1248" name="Google Shape;1248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centre of rotation for 180° rotations</a:t>
            </a:r>
            <a:endParaRPr/>
          </a:p>
        </p:txBody>
      </p:sp>
      <p:pic>
        <p:nvPicPr>
          <p:cNvPr id="1249" name="Google Shape;1249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600" y="1277969"/>
            <a:ext cx="6942799" cy="253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4" name="Google Shape;1254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450" y="1051076"/>
            <a:ext cx="6311101" cy="2488478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103"/>
          <p:cNvSpPr txBox="1"/>
          <p:nvPr>
            <p:ph idx="1" type="body"/>
          </p:nvPr>
        </p:nvSpPr>
        <p:spPr>
          <a:xfrm>
            <a:off x="324000" y="683100"/>
            <a:ext cx="84960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r>
              <a:rPr lang="en-GB" sz="1800"/>
              <a:t>) Fully describe these rotations.</a:t>
            </a:r>
            <a:endParaRPr sz="1800"/>
          </a:p>
        </p:txBody>
      </p:sp>
      <p:sp>
        <p:nvSpPr>
          <p:cNvPr id="1256" name="Google Shape;1256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centre of rotation for 180° rotations</a:t>
            </a:r>
            <a:endParaRPr/>
          </a:p>
        </p:txBody>
      </p:sp>
      <p:sp>
        <p:nvSpPr>
          <p:cNvPr id="1257" name="Google Shape;1257;p103"/>
          <p:cNvSpPr txBox="1"/>
          <p:nvPr>
            <p:ph idx="1" type="body"/>
          </p:nvPr>
        </p:nvSpPr>
        <p:spPr>
          <a:xfrm>
            <a:off x="2261256" y="1151425"/>
            <a:ext cx="10926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object 1</a:t>
            </a:r>
            <a:endParaRPr sz="1800"/>
          </a:p>
        </p:txBody>
      </p:sp>
      <p:sp>
        <p:nvSpPr>
          <p:cNvPr id="1258" name="Google Shape;1258;p103"/>
          <p:cNvSpPr txBox="1"/>
          <p:nvPr>
            <p:ph idx="1" type="body"/>
          </p:nvPr>
        </p:nvSpPr>
        <p:spPr>
          <a:xfrm>
            <a:off x="5119150" y="1151425"/>
            <a:ext cx="10926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object 2</a:t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centre of rotation for 180° rotations</a:t>
            </a:r>
            <a:endParaRPr/>
          </a:p>
        </p:txBody>
      </p:sp>
      <p:pic>
        <p:nvPicPr>
          <p:cNvPr id="1264" name="Google Shape;126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75" y="1663675"/>
            <a:ext cx="6618625" cy="3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04"/>
          <p:cNvSpPr txBox="1"/>
          <p:nvPr>
            <p:ph idx="1" type="body"/>
          </p:nvPr>
        </p:nvSpPr>
        <p:spPr>
          <a:xfrm>
            <a:off x="324000" y="683100"/>
            <a:ext cx="84960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Below are two rotations where an object and its image have two pairs of corresponding vertices labelled. By connecting these corresponding vertices with line segments, find the </a:t>
            </a:r>
            <a:r>
              <a:rPr b="1" lang="en-GB" sz="1800"/>
              <a:t>centre of rotation</a:t>
            </a:r>
            <a:r>
              <a:rPr lang="en-GB" sz="1800"/>
              <a:t> of each object.</a:t>
            </a:r>
            <a:endParaRPr sz="1800"/>
          </a:p>
        </p:txBody>
      </p:sp>
      <p:sp>
        <p:nvSpPr>
          <p:cNvPr id="1266" name="Google Shape;1266;p104"/>
          <p:cNvSpPr txBox="1"/>
          <p:nvPr>
            <p:ph idx="1" type="body"/>
          </p:nvPr>
        </p:nvSpPr>
        <p:spPr>
          <a:xfrm>
            <a:off x="1304952" y="2224600"/>
            <a:ext cx="3069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267" name="Google Shape;1267;p104"/>
          <p:cNvSpPr txBox="1"/>
          <p:nvPr>
            <p:ph idx="1" type="body"/>
          </p:nvPr>
        </p:nvSpPr>
        <p:spPr>
          <a:xfrm>
            <a:off x="4220127" y="3240000"/>
            <a:ext cx="3069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r>
              <a:rPr lang="en-GB" sz="1800"/>
              <a:t>′ </a:t>
            </a:r>
            <a:endParaRPr sz="1800"/>
          </a:p>
        </p:txBody>
      </p:sp>
      <p:sp>
        <p:nvSpPr>
          <p:cNvPr id="1268" name="Google Shape;1268;p104"/>
          <p:cNvSpPr txBox="1"/>
          <p:nvPr>
            <p:ph idx="1" type="body"/>
          </p:nvPr>
        </p:nvSpPr>
        <p:spPr>
          <a:xfrm>
            <a:off x="2541227" y="3545250"/>
            <a:ext cx="3069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′ </a:t>
            </a:r>
            <a:endParaRPr sz="1800"/>
          </a:p>
        </p:txBody>
      </p:sp>
      <p:sp>
        <p:nvSpPr>
          <p:cNvPr id="1269" name="Google Shape;1269;p104"/>
          <p:cNvSpPr txBox="1"/>
          <p:nvPr>
            <p:ph idx="1" type="body"/>
          </p:nvPr>
        </p:nvSpPr>
        <p:spPr>
          <a:xfrm>
            <a:off x="3113808" y="2049306"/>
            <a:ext cx="3069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270" name="Google Shape;1270;p104"/>
          <p:cNvSpPr txBox="1"/>
          <p:nvPr>
            <p:ph idx="1" type="body"/>
          </p:nvPr>
        </p:nvSpPr>
        <p:spPr>
          <a:xfrm>
            <a:off x="6334002" y="2160000"/>
            <a:ext cx="3069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271" name="Google Shape;1271;p104"/>
          <p:cNvSpPr txBox="1"/>
          <p:nvPr>
            <p:ph idx="1" type="body"/>
          </p:nvPr>
        </p:nvSpPr>
        <p:spPr>
          <a:xfrm>
            <a:off x="7326702" y="3190225"/>
            <a:ext cx="3069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272" name="Google Shape;1272;p104"/>
          <p:cNvSpPr txBox="1"/>
          <p:nvPr>
            <p:ph idx="1" type="body"/>
          </p:nvPr>
        </p:nvSpPr>
        <p:spPr>
          <a:xfrm>
            <a:off x="4527027" y="2950025"/>
            <a:ext cx="3069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′ </a:t>
            </a:r>
            <a:endParaRPr sz="1800"/>
          </a:p>
        </p:txBody>
      </p:sp>
      <p:sp>
        <p:nvSpPr>
          <p:cNvPr id="1273" name="Google Shape;1273;p104"/>
          <p:cNvSpPr txBox="1"/>
          <p:nvPr>
            <p:ph idx="1" type="body"/>
          </p:nvPr>
        </p:nvSpPr>
        <p:spPr>
          <a:xfrm>
            <a:off x="5519102" y="4048925"/>
            <a:ext cx="3069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′ </a:t>
            </a:r>
            <a:endParaRPr sz="1800"/>
          </a:p>
        </p:txBody>
      </p:sp>
      <p:cxnSp>
        <p:nvCxnSpPr>
          <p:cNvPr id="1274" name="Google Shape;1274;p104"/>
          <p:cNvCxnSpPr/>
          <p:nvPr/>
        </p:nvCxnSpPr>
        <p:spPr>
          <a:xfrm flipH="1">
            <a:off x="2697625" y="2341250"/>
            <a:ext cx="562200" cy="1122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75" name="Google Shape;1275;p104"/>
          <p:cNvCxnSpPr/>
          <p:nvPr/>
        </p:nvCxnSpPr>
        <p:spPr>
          <a:xfrm>
            <a:off x="1570025" y="2341250"/>
            <a:ext cx="2808300" cy="1126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76" name="Google Shape;1276;p104"/>
          <p:cNvCxnSpPr/>
          <p:nvPr/>
        </p:nvCxnSpPr>
        <p:spPr>
          <a:xfrm flipH="1">
            <a:off x="5502050" y="2341050"/>
            <a:ext cx="1128900" cy="168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77" name="Google Shape;1277;p104"/>
          <p:cNvCxnSpPr>
            <a:stCxn id="1271" idx="0"/>
          </p:cNvCxnSpPr>
          <p:nvPr/>
        </p:nvCxnSpPr>
        <p:spPr>
          <a:xfrm rot="10800000">
            <a:off x="4662852" y="3186625"/>
            <a:ext cx="2817300" cy="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78" name="Google Shape;1278;p104"/>
          <p:cNvSpPr txBox="1"/>
          <p:nvPr>
            <p:ph idx="1" type="body"/>
          </p:nvPr>
        </p:nvSpPr>
        <p:spPr>
          <a:xfrm>
            <a:off x="2027900" y="2861200"/>
            <a:ext cx="7605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(6, 6)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9" name="Google Shape;1279;p104"/>
          <p:cNvSpPr txBox="1"/>
          <p:nvPr>
            <p:ph idx="1" type="body"/>
          </p:nvPr>
        </p:nvSpPr>
        <p:spPr>
          <a:xfrm>
            <a:off x="6076025" y="3322075"/>
            <a:ext cx="7605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(17, 5)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centre of rotation for 180° rotations</a:t>
            </a:r>
            <a:endParaRPr/>
          </a:p>
        </p:txBody>
      </p:sp>
      <p:pic>
        <p:nvPicPr>
          <p:cNvPr id="1285" name="Google Shape;1285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600" y="1277969"/>
            <a:ext cx="6942799" cy="2539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105"/>
          <p:cNvSpPr txBox="1"/>
          <p:nvPr>
            <p:ph idx="1" type="body"/>
          </p:nvPr>
        </p:nvSpPr>
        <p:spPr>
          <a:xfrm>
            <a:off x="324000" y="3792750"/>
            <a:ext cx="84960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) Complete the sentence below: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“To find the </a:t>
            </a:r>
            <a:r>
              <a:rPr b="1" lang="en-GB" sz="1800"/>
              <a:t>centre of rotation</a:t>
            </a:r>
            <a:r>
              <a:rPr lang="en-GB" sz="1800"/>
              <a:t> by connecting corresponding points, the image must have been rotated by </a:t>
            </a:r>
            <a:r>
              <a:rPr lang="en-GB" sz="1800" u="sng"/>
              <a:t>            </a:t>
            </a:r>
            <a:r>
              <a:rPr lang="en-GB" sz="1800"/>
              <a:t>°.”</a:t>
            </a:r>
            <a:endParaRPr sz="1800"/>
          </a:p>
        </p:txBody>
      </p:sp>
      <p:sp>
        <p:nvSpPr>
          <p:cNvPr id="1287" name="Google Shape;1287;p105"/>
          <p:cNvSpPr txBox="1"/>
          <p:nvPr>
            <p:ph idx="1" type="body"/>
          </p:nvPr>
        </p:nvSpPr>
        <p:spPr>
          <a:xfrm>
            <a:off x="324000" y="683100"/>
            <a:ext cx="84960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By connecting corresponding points on the object and image, find the </a:t>
            </a:r>
            <a:r>
              <a:rPr b="1" lang="en-GB" sz="1800"/>
              <a:t>centre of rotation</a:t>
            </a:r>
            <a:r>
              <a:rPr lang="en-GB" sz="1800"/>
              <a:t> for these rotations.</a:t>
            </a:r>
            <a:endParaRPr sz="1800"/>
          </a:p>
        </p:txBody>
      </p:sp>
      <p:cxnSp>
        <p:nvCxnSpPr>
          <p:cNvPr id="1288" name="Google Shape;1288;p105"/>
          <p:cNvCxnSpPr/>
          <p:nvPr/>
        </p:nvCxnSpPr>
        <p:spPr>
          <a:xfrm>
            <a:off x="1751375" y="2127750"/>
            <a:ext cx="491700" cy="99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1289" name="Google Shape;1289;p105"/>
          <p:cNvCxnSpPr/>
          <p:nvPr/>
        </p:nvCxnSpPr>
        <p:spPr>
          <a:xfrm flipH="1">
            <a:off x="1751375" y="2127750"/>
            <a:ext cx="491700" cy="99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1290" name="Google Shape;1290;p105"/>
          <p:cNvCxnSpPr/>
          <p:nvPr/>
        </p:nvCxnSpPr>
        <p:spPr>
          <a:xfrm rot="10800000">
            <a:off x="3722175" y="2129250"/>
            <a:ext cx="1471500" cy="494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105"/>
          <p:cNvCxnSpPr/>
          <p:nvPr/>
        </p:nvCxnSpPr>
        <p:spPr>
          <a:xfrm flipH="1">
            <a:off x="3723425" y="1391225"/>
            <a:ext cx="1477800" cy="1974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105"/>
          <p:cNvCxnSpPr/>
          <p:nvPr/>
        </p:nvCxnSpPr>
        <p:spPr>
          <a:xfrm flipH="1">
            <a:off x="5449525" y="2135900"/>
            <a:ext cx="2459100" cy="97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1293" name="Google Shape;1293;p105"/>
          <p:cNvCxnSpPr/>
          <p:nvPr/>
        </p:nvCxnSpPr>
        <p:spPr>
          <a:xfrm flipH="1">
            <a:off x="6436475" y="2130125"/>
            <a:ext cx="490800" cy="987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1294" name="Google Shape;1294;p105"/>
          <p:cNvSpPr txBox="1"/>
          <p:nvPr>
            <p:ph idx="1" type="body"/>
          </p:nvPr>
        </p:nvSpPr>
        <p:spPr>
          <a:xfrm>
            <a:off x="1559425" y="1736425"/>
            <a:ext cx="875700" cy="337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(3, 4)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5" name="Google Shape;1295;p105"/>
          <p:cNvSpPr txBox="1"/>
          <p:nvPr>
            <p:ph idx="1" type="body"/>
          </p:nvPr>
        </p:nvSpPr>
        <p:spPr>
          <a:xfrm>
            <a:off x="4217225" y="2700000"/>
            <a:ext cx="875700" cy="337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(13, 5)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6" name="Google Shape;1296;p105"/>
          <p:cNvSpPr txBox="1"/>
          <p:nvPr>
            <p:ph idx="1" type="body"/>
          </p:nvPr>
        </p:nvSpPr>
        <p:spPr>
          <a:xfrm>
            <a:off x="6836600" y="2700000"/>
            <a:ext cx="875700" cy="337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(22, 4)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7" name="Google Shape;1297;p105"/>
          <p:cNvSpPr txBox="1"/>
          <p:nvPr>
            <p:ph idx="1" type="body"/>
          </p:nvPr>
        </p:nvSpPr>
        <p:spPr>
          <a:xfrm>
            <a:off x="4153200" y="4444875"/>
            <a:ext cx="732300" cy="33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0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centre of rotation for 180° rotations</a:t>
            </a:r>
            <a:endParaRPr/>
          </a:p>
        </p:txBody>
      </p:sp>
      <p:sp>
        <p:nvSpPr>
          <p:cNvPr id="1303" name="Google Shape;1303;p106"/>
          <p:cNvSpPr txBox="1"/>
          <p:nvPr>
            <p:ph idx="1" type="body"/>
          </p:nvPr>
        </p:nvSpPr>
        <p:spPr>
          <a:xfrm>
            <a:off x="324000" y="683100"/>
            <a:ext cx="84960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r>
              <a:rPr lang="en-GB" sz="1800"/>
              <a:t>) Fully describe these rotations.</a:t>
            </a:r>
            <a:endParaRPr sz="1800"/>
          </a:p>
        </p:txBody>
      </p:sp>
      <p:pic>
        <p:nvPicPr>
          <p:cNvPr id="1304" name="Google Shape;1304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450" y="1127274"/>
            <a:ext cx="6311098" cy="251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106"/>
          <p:cNvSpPr txBox="1"/>
          <p:nvPr>
            <p:ph idx="1" type="body"/>
          </p:nvPr>
        </p:nvSpPr>
        <p:spPr>
          <a:xfrm>
            <a:off x="2277000" y="1227625"/>
            <a:ext cx="10926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object 1</a:t>
            </a:r>
            <a:endParaRPr sz="1800"/>
          </a:p>
        </p:txBody>
      </p:sp>
      <p:sp>
        <p:nvSpPr>
          <p:cNvPr id="1306" name="Google Shape;1306;p106"/>
          <p:cNvSpPr txBox="1"/>
          <p:nvPr>
            <p:ph idx="1" type="body"/>
          </p:nvPr>
        </p:nvSpPr>
        <p:spPr>
          <a:xfrm>
            <a:off x="5119150" y="1227625"/>
            <a:ext cx="10926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object 2</a:t>
            </a:r>
            <a:endParaRPr sz="1800"/>
          </a:p>
        </p:txBody>
      </p:sp>
      <p:cxnSp>
        <p:nvCxnSpPr>
          <p:cNvPr id="1307" name="Google Shape;1307;p106"/>
          <p:cNvCxnSpPr/>
          <p:nvPr/>
        </p:nvCxnSpPr>
        <p:spPr>
          <a:xfrm>
            <a:off x="3244475" y="1533475"/>
            <a:ext cx="12600" cy="1591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08" name="Google Shape;1308;p106"/>
          <p:cNvCxnSpPr/>
          <p:nvPr/>
        </p:nvCxnSpPr>
        <p:spPr>
          <a:xfrm flipH="1">
            <a:off x="1900625" y="1524875"/>
            <a:ext cx="2706000" cy="162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09" name="Google Shape;1309;p106"/>
          <p:cNvCxnSpPr/>
          <p:nvPr/>
        </p:nvCxnSpPr>
        <p:spPr>
          <a:xfrm flipH="1">
            <a:off x="5148550" y="1797625"/>
            <a:ext cx="1086000" cy="107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10" name="Google Shape;1310;p106"/>
          <p:cNvCxnSpPr/>
          <p:nvPr/>
        </p:nvCxnSpPr>
        <p:spPr>
          <a:xfrm flipH="1">
            <a:off x="4062450" y="1792000"/>
            <a:ext cx="3250200" cy="1084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11" name="Google Shape;1311;p106"/>
          <p:cNvSpPr txBox="1"/>
          <p:nvPr>
            <p:ph idx="1" type="body"/>
          </p:nvPr>
        </p:nvSpPr>
        <p:spPr>
          <a:xfrm>
            <a:off x="324000" y="3661150"/>
            <a:ext cx="39960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Object 1 has been rotated 180° around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centre of rotation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         (6, 4).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2" name="Google Shape;1312;p106"/>
          <p:cNvSpPr txBox="1"/>
          <p:nvPr>
            <p:ph idx="1" type="body"/>
          </p:nvPr>
        </p:nvSpPr>
        <p:spPr>
          <a:xfrm>
            <a:off x="4824000" y="3661150"/>
            <a:ext cx="39960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Object 2 has been rotated 180° around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centre of rotation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         (15, 4).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13" name="Google Shape;1313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6450" y="1127276"/>
            <a:ext cx="6311101" cy="2488478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106"/>
          <p:cNvSpPr txBox="1"/>
          <p:nvPr>
            <p:ph idx="1" type="body"/>
          </p:nvPr>
        </p:nvSpPr>
        <p:spPr>
          <a:xfrm>
            <a:off x="2261256" y="1227625"/>
            <a:ext cx="10926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object 1</a:t>
            </a:r>
            <a:endParaRPr sz="1800"/>
          </a:p>
        </p:txBody>
      </p:sp>
      <p:sp>
        <p:nvSpPr>
          <p:cNvPr id="1315" name="Google Shape;1315;p106"/>
          <p:cNvSpPr txBox="1"/>
          <p:nvPr>
            <p:ph idx="1" type="body"/>
          </p:nvPr>
        </p:nvSpPr>
        <p:spPr>
          <a:xfrm>
            <a:off x="5119150" y="1227625"/>
            <a:ext cx="10926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object 2</a:t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07"/>
          <p:cNvSpPr txBox="1"/>
          <p:nvPr>
            <p:ph idx="1" type="body"/>
          </p:nvPr>
        </p:nvSpPr>
        <p:spPr>
          <a:xfrm>
            <a:off x="324000" y="7752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centre of rotation</a:t>
            </a:r>
            <a:r>
              <a:rPr lang="en-GB"/>
              <a:t> is essential in defining the location of an image after rotation.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Formally defining a rotation comes in three parts: the direction, the size (in degrees), and the </a:t>
            </a:r>
            <a:r>
              <a:rPr b="1" lang="en-GB"/>
              <a:t>centre of rotation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centre of rotation</a:t>
            </a:r>
            <a:r>
              <a:rPr lang="en-GB"/>
              <a:t> can be found for all 180° rotations by connecting corresponding points on the object and image with a line segment, and finding the point of intersection.</a:t>
            </a:r>
            <a:endParaRPr/>
          </a:p>
        </p:txBody>
      </p:sp>
      <p:sp>
        <p:nvSpPr>
          <p:cNvPr id="1321" name="Google Shape;1321;p10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the centre of rotation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0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27" name="Google Shape;1327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