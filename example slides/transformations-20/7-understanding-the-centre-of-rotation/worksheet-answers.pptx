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3.10-->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665" r:id="rId1"/>
    <p:sldMasterId id="2147483666" r:id="rId2"/>
  </p:sldMasterIdLst>
  <p:notesMasterIdLst>
    <p:notesMasterId r:id="rId3"/>
  </p:notesMasterIdLst>
  <p:sldIdLst>
    <p:sldId id="256" r:id="rId4"/>
    <p:sldId id="257" r:id="rId5"/>
    <p:sldId id="258" r:id="rId6"/>
    <p:sldId id="259" r:id="rId7"/>
  </p:sldIdLst>
  <p:sldSz cx="7560000" cy="10692000"/>
  <p:notesSz cx="6858000" cy="9144000"/>
  <p:embeddedFontLst>
    <p:embeddedFont>
      <p:font typeface="Lexend" panose="00000000000000000000"/>
      <p:regular r:id="rId9"/>
    </p:embeddedFont>
    <p:embeddedFont>
      <p:font typeface="Kalam" panose="02000000000000000000"/>
      <p:regular r:id="rId10"/>
    </p:embeddedFont>
    <p:embeddedFont>
      <p:font typeface="Lexend Medium" panose="00000000000000000000"/>
      <p:regular r:id="rId11"/>
    </p:embeddedFont>
    <p:embeddedFont>
      <p:font typeface="Lexend Light" panose="00000000000000000000"/>
      <p:regular r:id="rId12"/>
    </p:embeddedFont>
  </p:embeddedFontLst>
  <p:custDataLst>
    <p:tags r:id="rId8"/>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font" Target="fonts/font2.fntdata" /><Relationship Id="rId11" Type="http://schemas.openxmlformats.org/officeDocument/2006/relationships/font" Target="fonts/font3.fntdata" /><Relationship Id="rId12" Type="http://schemas.openxmlformats.org/officeDocument/2006/relationships/font" Target="fonts/font4.fntdata" /><Relationship Id="rId13" Type="http://schemas.openxmlformats.org/officeDocument/2006/relationships/presProps" Target="presProps.xml" /><Relationship Id="rId14" Type="http://schemas.openxmlformats.org/officeDocument/2006/relationships/viewProps" Target="viewProps.xml" /><Relationship Id="rId15" Type="http://schemas.openxmlformats.org/officeDocument/2006/relationships/theme" Target="theme/theme1.xml" /><Relationship Id="rId16"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notesMaster" Target="notesMasters/notes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tags" Target="tags/tag1.xml" /><Relationship Id="rId9" Type="http://schemas.openxmlformats.org/officeDocument/2006/relationships/font" Target="fonts/font1.fntdata"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7" name="Shape 167"/>
        <p:cNvGrpSpPr/>
        <p:nvPr/>
      </p:nvGrpSpPr>
      <p:grpSpPr>
        <a:xfrm>
          <a:off x="0" y="0"/>
          <a:ext cx="0" cy="0"/>
        </a:xfrm>
      </p:grpSpPr>
      <p:sp>
        <p:nvSpPr>
          <p:cNvPr id="168" name="Google Shape;168;g279934fec8d_0_131: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69" name="Google Shape;169;g279934fec8d_0_1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94" name="Shape 194"/>
        <p:cNvGrpSpPr/>
        <p:nvPr/>
      </p:nvGrpSpPr>
      <p:grpSpPr>
        <a:xfrm>
          <a:off x="0" y="0"/>
          <a:ext cx="0" cy="0"/>
        </a:xfrm>
      </p:grpSpPr>
      <p:sp>
        <p:nvSpPr>
          <p:cNvPr id="195" name="Google Shape;195;g29057c38f50_0_23: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96" name="Google Shape;196;g29057c38f50_0_2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26" name="Shape 226"/>
        <p:cNvGrpSpPr/>
        <p:nvPr/>
      </p:nvGrpSpPr>
      <p:grpSpPr>
        <a:xfrm>
          <a:off x="0" y="0"/>
          <a:ext cx="0" cy="0"/>
        </a:xfrm>
      </p:grpSpPr>
      <p:sp>
        <p:nvSpPr>
          <p:cNvPr id="227" name="Google Shape;227;g29057c38f50_0_43: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228" name="Google Shape;228;g29057c38f50_0_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72" name="Shape 272"/>
        <p:cNvGrpSpPr/>
        <p:nvPr/>
      </p:nvGrpSpPr>
      <p:grpSpPr>
        <a:xfrm>
          <a:off x="0" y="0"/>
          <a:ext cx="0" cy="0"/>
        </a:xfrm>
      </p:grpSpPr>
      <p:sp>
        <p:nvSpPr>
          <p:cNvPr id="273" name="Google Shape;273;g279934fec8d_0_136: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274" name="Google Shape;274;g279934fec8d_0_1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5.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slideMaster" Target="../slideMasters/slideMaster2.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2.xml" /></Relationships>
</file>

<file path=ppt/slideLayouts/_rels/slideLayout1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Answers 1">
  <p:cSld name="SECTION_HEADER_1_1_1_1_1_1_1_1_1_2_2">
    <p:spTree>
      <p:nvGrpSpPr>
        <p:cNvPr id="9" name="Shape 9"/>
        <p:cNvGrpSpPr/>
        <p:nvPr/>
      </p:nvGrpSpPr>
      <p:grpSpPr>
        <a:xfrm>
          <a:off x="0" y="0"/>
          <a:ext cx="0" cy="0"/>
        </a:xfrm>
      </p:grpSpPr>
      <p:sp>
        <p:nvSpPr>
          <p:cNvPr id="10" name="Google Shape;10;p2"/>
          <p:cNvSpPr txBox="1"/>
          <p:nvPr>
            <p:ph type="title"/>
          </p:nvPr>
        </p:nvSpPr>
        <p:spPr>
          <a:xfrm>
            <a:off x="468000" y="266700"/>
            <a:ext cx="5577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 name="Google Shape;11;p2"/>
          <p:cNvSpPr txBox="1"/>
          <p:nvPr>
            <p:ph type="subTitle" idx="1"/>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12" name="Google Shape;12;p2"/>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pic>
        <p:nvPicPr>
          <p:cNvPr id="14" name="Google Shape;14;p2"/>
          <p:cNvPicPr preferRelativeResize="0"/>
          <p:nvPr/>
        </p:nvPicPr>
        <p:blipFill>
          <a:blip r:embed="rId3">
            <a:alphaModFix/>
          </a:blip>
          <a:stretch>
            <a:fillRect/>
          </a:stretch>
        </p:blipFill>
        <p:spPr>
          <a:xfrm>
            <a:off x="6261625" y="161271"/>
            <a:ext cx="805956" cy="498600"/>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Answers 1 1">
  <p:cSld name="SECTION_HEADER_1_1_1_1_1_1_1_1_1_2_1">
    <p:spTree>
      <p:nvGrpSpPr>
        <p:cNvPr id="15" name="Shape 15"/>
        <p:cNvGrpSpPr/>
        <p:nvPr/>
      </p:nvGrpSpPr>
      <p:grpSpPr>
        <a:xfrm>
          <a:off x="0" y="0"/>
          <a:ext cx="0" cy="0"/>
        </a:xfrm>
      </p:grpSpPr>
      <p:sp>
        <p:nvSpPr>
          <p:cNvPr id="16" name="Google Shape;16;p3"/>
          <p:cNvSpPr txBox="1"/>
          <p:nvPr>
            <p:ph type="title"/>
          </p:nvPr>
        </p:nvSpPr>
        <p:spPr>
          <a:xfrm>
            <a:off x="468000" y="266700"/>
            <a:ext cx="5577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7" name="Google Shape;17;p3"/>
          <p:cNvSpPr txBox="1"/>
          <p:nvPr>
            <p:ph type="subTitle" idx="1"/>
          </p:nvPr>
        </p:nvSpPr>
        <p:spPr>
          <a:xfrm>
            <a:off x="466825" y="17801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8" name="Google Shape;18;p3"/>
          <p:cNvSpPr txBox="1"/>
          <p:nvPr>
            <p:ph type="subTitle" idx="2"/>
          </p:nvPr>
        </p:nvSpPr>
        <p:spPr>
          <a:xfrm>
            <a:off x="2807400"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9" name="Google Shape;19;p3"/>
          <p:cNvSpPr txBox="1"/>
          <p:nvPr>
            <p:ph type="subTitle" idx="3"/>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0" name="Google Shape;20;p3"/>
          <p:cNvSpPr txBox="1"/>
          <p:nvPr>
            <p:ph type="subTitle" idx="4"/>
          </p:nvPr>
        </p:nvSpPr>
        <p:spPr>
          <a:xfrm>
            <a:off x="4127250"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1" name="Google Shape;21;p3"/>
          <p:cNvSpPr txBox="1"/>
          <p:nvPr>
            <p:ph type="subTitle" idx="5"/>
          </p:nvPr>
        </p:nvSpPr>
        <p:spPr>
          <a:xfrm>
            <a:off x="468000" y="5866375"/>
            <a:ext cx="65817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2" name="Google Shape;22;p3"/>
          <p:cNvSpPr txBox="1"/>
          <p:nvPr>
            <p:ph type="subTitle" idx="6"/>
          </p:nvPr>
        </p:nvSpPr>
        <p:spPr>
          <a:xfrm>
            <a:off x="466825"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3" name="Google Shape;23;p3"/>
          <p:cNvSpPr txBox="1"/>
          <p:nvPr>
            <p:ph type="subTitle" idx="7"/>
          </p:nvPr>
        </p:nvSpPr>
        <p:spPr>
          <a:xfrm>
            <a:off x="46682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4" name="Google Shape;24;p3"/>
          <p:cNvSpPr txBox="1"/>
          <p:nvPr>
            <p:ph type="subTitle" idx="8"/>
          </p:nvPr>
        </p:nvSpPr>
        <p:spPr>
          <a:xfrm>
            <a:off x="514797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25" name="Google Shape;25;p3"/>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000" b="1">
                  <a:solidFill>
                    <a:schemeClr val="dk2"/>
                  </a:solidFill>
                  <a:latin typeface="Lexend"/>
                  <a:ea typeface="Lexend"/>
                  <a:cs typeface="Lexend"/>
                  <a:sym typeface="Lexend"/>
                </a:rPr>
                <a:t>Name: </a:t>
              </a:r>
              <a:endParaRPr sz="1000" b="1">
                <a:solidFill>
                  <a:schemeClr val="dk2"/>
                </a:solidFill>
                <a:latin typeface="Lexend"/>
                <a:ea typeface="Lexend"/>
                <a:cs typeface="Lexend"/>
                <a:sym typeface="Lexend"/>
              </a:endParaRPr>
            </a:p>
          </p:txBody>
        </p:sp>
        <p:cxnSp>
          <p:nvCxnSpPr>
            <p:cNvPr id="29" name="Google Shape;29;p3"/>
            <p:cNvCxnSpPr/>
            <p:nvPr/>
          </p:nvCxnSpPr>
          <p:spPr>
            <a:xfrm rot="10800000" flipH="1">
              <a:off x="943904" y="1116425"/>
              <a:ext cx="1998900" cy="8100"/>
            </a:xfrm>
            <a:prstGeom prst="straightConnector1">
              <a:avLst/>
            </a:prstGeom>
            <a:noFill/>
            <a:ln w="9525" cap="flat" cmpd="sng">
              <a:solidFill>
                <a:schemeClr val="dk2"/>
              </a:solidFill>
              <a:prstDash val="solid"/>
              <a:round/>
              <a:headEnd type="none" w="med" len="med"/>
              <a:tailEnd type="none" w="med" len="med"/>
            </a:ln>
          </p:spPr>
        </p:cxnSp>
      </p:grpSp>
      <p:pic>
        <p:nvPicPr>
          <p:cNvPr id="30" name="Google Shape;30;p3"/>
          <p:cNvPicPr preferRelativeResize="0"/>
          <p:nvPr/>
        </p:nvPicPr>
        <p:blipFill>
          <a:blip r:embed="rId3">
            <a:alphaModFix/>
          </a:blip>
          <a:stretch>
            <a:fillRect/>
          </a:stretch>
        </p:blipFill>
        <p:spPr>
          <a:xfrm>
            <a:off x="6261625" y="161271"/>
            <a:ext cx="805956" cy="498600"/>
          </a:xfrm>
          <a:prstGeom prst="rect">
            <a:avLst/>
          </a:prstGeom>
          <a:noFill/>
          <a:ln>
            <a:noFill/>
          </a:ln>
        </p:spPr>
      </p:pic>
      <p:sp>
        <p:nvSpPr>
          <p:cNvPr id="31" name="Google Shape;31;p3"/>
          <p:cNvSpPr txBox="1"/>
          <p:nvPr>
            <p:ph type="subTitle" idx="9"/>
          </p:nvPr>
        </p:nvSpPr>
        <p:spPr>
          <a:xfrm>
            <a:off x="466825" y="13698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1">
  <p:cSld name="SECTION_HEADER_1_1_1_1_1_1_1_1_1_1">
    <p:spTree>
      <p:nvGrpSpPr>
        <p:cNvPr id="32" name="Shape 32"/>
        <p:cNvGrpSpPr/>
        <p:nvPr/>
      </p:nvGrpSpPr>
      <p:grpSpPr>
        <a:xfrm>
          <a:off x="0" y="0"/>
          <a:ext cx="0" cy="0"/>
        </a:xfrm>
      </p:grpSpPr>
      <p:sp>
        <p:nvSpPr>
          <p:cNvPr id="33" name="Google Shape;33;p4"/>
          <p:cNvSpPr txBox="1"/>
          <p:nvPr>
            <p:ph type="subTitle" idx="1"/>
          </p:nvPr>
        </p:nvSpPr>
        <p:spPr>
          <a:xfrm>
            <a:off x="466825" y="16277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4" name="Google Shape;34;p4"/>
          <p:cNvSpPr txBox="1"/>
          <p:nvPr>
            <p:ph type="subTitle" idx="2"/>
          </p:nvPr>
        </p:nvSpPr>
        <p:spPr>
          <a:xfrm>
            <a:off x="4127250"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5" name="Google Shape;35;p4"/>
          <p:cNvSpPr txBox="1"/>
          <p:nvPr>
            <p:ph type="subTitle" idx="3"/>
          </p:nvPr>
        </p:nvSpPr>
        <p:spPr>
          <a:xfrm>
            <a:off x="466825"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36" name="Google Shape;36;p4"/>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37" name="Google Shape;37;p4"/>
          <p:cNvSpPr txBox="1"/>
          <p:nvPr>
            <p:ph type="subTitle" idx="4"/>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2">
  <p:cSld name="SECTION_HEADER_1_1_1_1_1_1_1_1_1_1_1">
    <p:spTree>
      <p:nvGrpSpPr>
        <p:cNvPr id="38" name="Shape 38"/>
        <p:cNvGrpSpPr/>
        <p:nvPr/>
      </p:nvGrpSpPr>
      <p:grpSpPr>
        <a:xfrm>
          <a:off x="0" y="0"/>
          <a:ext cx="0" cy="0"/>
        </a:xfrm>
      </p:grpSpPr>
      <p:sp>
        <p:nvSpPr>
          <p:cNvPr id="39" name="Google Shape;39;p5"/>
          <p:cNvSpPr txBox="1"/>
          <p:nvPr>
            <p:ph type="subTitle" idx="1"/>
          </p:nvPr>
        </p:nvSpPr>
        <p:spPr>
          <a:xfrm>
            <a:off x="2807400"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0" name="Google Shape;40;p5"/>
          <p:cNvSpPr txBox="1"/>
          <p:nvPr>
            <p:ph type="subTitle" idx="2"/>
          </p:nvPr>
        </p:nvSpPr>
        <p:spPr>
          <a:xfrm>
            <a:off x="467950" y="2493013"/>
            <a:ext cx="66240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1" name="Google Shape;41;p5"/>
          <p:cNvSpPr txBox="1"/>
          <p:nvPr>
            <p:ph type="subTitle" idx="3"/>
          </p:nvPr>
        </p:nvSpPr>
        <p:spPr>
          <a:xfrm>
            <a:off x="46682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2" name="Google Shape;42;p5"/>
          <p:cNvSpPr txBox="1"/>
          <p:nvPr>
            <p:ph type="subTitle" idx="4"/>
          </p:nvPr>
        </p:nvSpPr>
        <p:spPr>
          <a:xfrm>
            <a:off x="514797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43" name="Google Shape;43;p5"/>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44" name="Google Shape;44;p5"/>
          <p:cNvSpPr txBox="1"/>
          <p:nvPr>
            <p:ph type="subTitle" idx="5"/>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3">
  <p:cSld name="SECTION_HEADER_1_1_1_1_1_1_1_1_1_1_1_2">
    <p:spTree>
      <p:nvGrpSpPr>
        <p:cNvPr id="45" name="Shape 45"/>
        <p:cNvGrpSpPr/>
        <p:nvPr/>
      </p:nvGrpSpPr>
      <p:grpSpPr>
        <a:xfrm>
          <a:off x="0" y="0"/>
          <a:ext cx="0" cy="0"/>
        </a:xfrm>
      </p:grpSpPr>
      <p:sp>
        <p:nvSpPr>
          <p:cNvPr id="46" name="Google Shape;46;p6"/>
          <p:cNvSpPr txBox="1"/>
          <p:nvPr>
            <p:ph type="subTitle" idx="1"/>
          </p:nvPr>
        </p:nvSpPr>
        <p:spPr>
          <a:xfrm>
            <a:off x="46682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7" name="Google Shape;47;p6"/>
          <p:cNvSpPr txBox="1"/>
          <p:nvPr>
            <p:ph type="subTitle" idx="2"/>
          </p:nvPr>
        </p:nvSpPr>
        <p:spPr>
          <a:xfrm>
            <a:off x="2807400"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8" name="Google Shape;48;p6"/>
          <p:cNvSpPr txBox="1"/>
          <p:nvPr>
            <p:ph type="subTitle" idx="3"/>
          </p:nvPr>
        </p:nvSpPr>
        <p:spPr>
          <a:xfrm>
            <a:off x="514797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9" name="Google Shape;49;p6"/>
          <p:cNvSpPr txBox="1"/>
          <p:nvPr>
            <p:ph type="subTitle" idx="4"/>
          </p:nvPr>
        </p:nvSpPr>
        <p:spPr>
          <a:xfrm>
            <a:off x="466825" y="170220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0" name="Google Shape;50;p6"/>
          <p:cNvSpPr txBox="1"/>
          <p:nvPr>
            <p:ph type="subTitle" idx="5"/>
          </p:nvPr>
        </p:nvSpPr>
        <p:spPr>
          <a:xfrm>
            <a:off x="466825"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1" name="Google Shape;51;p6"/>
          <p:cNvSpPr txBox="1"/>
          <p:nvPr>
            <p:ph type="subTitle" idx="6"/>
          </p:nvPr>
        </p:nvSpPr>
        <p:spPr>
          <a:xfrm>
            <a:off x="4127250"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2" name="Google Shape;52;p6"/>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3" name="Google Shape;53;p6"/>
          <p:cNvSpPr txBox="1"/>
          <p:nvPr>
            <p:ph type="subTitle" idx="7"/>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4">
  <p:cSld name="SECTION_HEADER_1_1_1_1_1_1_1_1_1_1_1_2_1">
    <p:spTree>
      <p:nvGrpSpPr>
        <p:cNvPr id="54" name="Shape 54"/>
        <p:cNvGrpSpPr/>
        <p:nvPr/>
      </p:nvGrpSpPr>
      <p:grpSpPr>
        <a:xfrm>
          <a:off x="0" y="0"/>
          <a:ext cx="0" cy="0"/>
        </a:xfrm>
      </p:grpSpPr>
      <p:sp>
        <p:nvSpPr>
          <p:cNvPr id="55" name="Google Shape;55;p7"/>
          <p:cNvSpPr txBox="1"/>
          <p:nvPr>
            <p:ph type="subTitle" idx="1"/>
          </p:nvPr>
        </p:nvSpPr>
        <p:spPr>
          <a:xfrm>
            <a:off x="468000" y="1327649"/>
            <a:ext cx="6624000" cy="38436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6" name="Google Shape;56;p7"/>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7" name="Google Shape;57;p7"/>
          <p:cNvSpPr txBox="1"/>
          <p:nvPr>
            <p:ph type="subTitle" idx="2"/>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Elements to copy and paste">
  <p:cSld name="SECTION_HEADER_1_1_1_1_1_1_1_1_1_1_1_2_1_1">
    <p:spTree>
      <p:nvGrpSpPr>
        <p:cNvPr id="58" name="Shape 58"/>
        <p:cNvGrpSpPr/>
        <p:nvPr/>
      </p:nvGrpSpPr>
      <p:grpSpPr>
        <a:xfrm>
          <a:off x="0" y="0"/>
          <a:ext cx="0" cy="0"/>
        </a:xfrm>
      </p:grpSpPr>
      <p:sp>
        <p:nvSpPr>
          <p:cNvPr id="59" name="Google Shape;59;p8"/>
          <p:cNvSpPr txBox="1"/>
          <p:nvPr/>
        </p:nvSpPr>
        <p:spPr>
          <a:xfrm>
            <a:off x="493450" y="416654"/>
            <a:ext cx="6624000" cy="215400"/>
          </a:xfrm>
          <a:prstGeom prst="rect">
            <a:avLst/>
          </a:prstGeom>
          <a:noFill/>
          <a:ln>
            <a:noFill/>
          </a:ln>
        </p:spPr>
        <p:txBody>
          <a:bodyPr spcFirstLastPara="1" wrap="square" lIns="0" tIns="0" rIns="0" bIns="0" anchor="t" anchorCtr="0">
            <a:spAutoFit/>
          </a:bodyPr>
          <a:lstStyle/>
          <a:p>
            <a:pPr marL="0" lvl="0" indent="0" algn="l" rtl="0">
              <a:lnSpc>
                <a:spcPct val="150000"/>
              </a:lnSpc>
              <a:spcBef>
                <a:spcPct val="0"/>
              </a:spcBef>
              <a:spcAft>
                <a:spcPct val="0"/>
              </a:spcAft>
              <a:buNone/>
            </a:pPr>
            <a:r>
              <a:rPr lang="en-GB" b="1">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1">
            <a:alphaModFix/>
          </a:blip>
          <a:stretch>
            <a:fillRect/>
          </a:stretch>
        </p:blipFill>
        <p:spPr>
          <a:xfrm>
            <a:off x="6886512" y="10041210"/>
            <a:ext cx="181075" cy="246288"/>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 Title page">
  <p:cSld name="SECTION_HEADER_1_1_1_1_1_1_1_1_1_1_1_2_1_1_1_1_1_2">
    <p:bg>
      <p:bgPr>
        <a:solidFill>
          <a:schemeClr val="lt1"/>
        </a:solidFill>
      </p:bgPr>
    </p:bg>
    <p:spTree>
      <p:nvGrpSpPr>
        <p:cNvPr id="65" name="Shape 65"/>
        <p:cNvGrpSpPr/>
        <p:nvPr/>
      </p:nvGrpSpPr>
      <p:grpSpPr>
        <a:xfrm>
          <a:off x="0" y="0"/>
          <a:ext cx="0" cy="0"/>
        </a:xfrm>
      </p:grpSpPr>
      <p:pic>
        <p:nvPicPr>
          <p:cNvPr id="66" name="Google Shape;66;p10"/>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67" name="Google Shape;67;p1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69" name="Google Shape;69;p10"/>
          <p:cNvPicPr preferRelativeResize="0"/>
          <p:nvPr/>
        </p:nvPicPr>
        <p:blipFill>
          <a:blip r:embed="rId2">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1 Title page with long title">
  <p:cSld name="SECTION_HEADER_1_1_1_1_1_1_1_1_1_1_1_2_1_1_1_1_1_1_2">
    <p:bg>
      <p:bgPr>
        <a:solidFill>
          <a:schemeClr val="lt1"/>
        </a:solidFill>
      </p:bgPr>
    </p:bg>
    <p:spTree>
      <p:nvGrpSpPr>
        <p:cNvPr id="74" name="Shape 74"/>
        <p:cNvGrpSpPr/>
        <p:nvPr/>
      </p:nvGrpSpPr>
      <p:grpSpPr>
        <a:xfrm>
          <a:off x="0" y="0"/>
          <a:ext cx="0" cy="0"/>
        </a:xfrm>
      </p:grpSpPr>
      <p:pic>
        <p:nvPicPr>
          <p:cNvPr id="75" name="Google Shape;75;p11"/>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76" name="Google Shape;76;p1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78" name="Google Shape;78;p11"/>
          <p:cNvPicPr preferRelativeResize="0"/>
          <p:nvPr/>
        </p:nvPicPr>
        <p:blipFill>
          <a:blip r:embed="rId2">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 Middle page">
  <p:cSld name="SECTION_HEADER_1_1_1_1_1_1_1_1_1_1_1_2_1_1_1_1_1_1_1_1_2">
    <p:bg>
      <p:bgPr>
        <a:solidFill>
          <a:schemeClr val="lt1"/>
        </a:solidFill>
      </p:bgPr>
    </p:bg>
    <p:spTree>
      <p:nvGrpSpPr>
        <p:cNvPr id="83" name="Shape 83"/>
        <p:cNvGrpSpPr/>
        <p:nvPr/>
      </p:nvGrpSpPr>
      <p:grpSpPr>
        <a:xfrm>
          <a:off x="0" y="0"/>
          <a:ext cx="0" cy="0"/>
        </a:xfrm>
      </p:grpSpPr>
      <p:pic>
        <p:nvPicPr>
          <p:cNvPr id="84" name="Google Shape;84;p12"/>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85" name="Google Shape;85;p1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87" name="Google Shape;87;p12"/>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88" name="Google Shape;88;p12"/>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1 Last page">
  <p:cSld name="SECTION_HEADER_1_1_1_1_1_1_1_1_1_1_1_2_1_1_1_1_1_1_1_1_1_3">
    <p:bg>
      <p:bgPr>
        <a:solidFill>
          <a:schemeClr val="lt1"/>
        </a:solidFill>
      </p:bgPr>
    </p:bg>
    <p:spTree>
      <p:nvGrpSpPr>
        <p:cNvPr id="90" name="Shape 90"/>
        <p:cNvGrpSpPr/>
        <p:nvPr/>
      </p:nvGrpSpPr>
      <p:grpSpPr>
        <a:xfrm>
          <a:off x="0" y="0"/>
          <a:ext cx="0" cy="0"/>
        </a:xfrm>
      </p:grpSpPr>
      <p:pic>
        <p:nvPicPr>
          <p:cNvPr id="91" name="Google Shape;91;p13"/>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92" name="Google Shape;92;p13"/>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94" name="Google Shape;94;p13"/>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95" name="Google Shape;95;p13"/>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00" name="Google Shape;100;p13"/>
          <p:cNvSpPr txBox="1"/>
          <p:nvPr>
            <p:ph type="subTitle" idx="2"/>
          </p:nvPr>
        </p:nvSpPr>
        <p:spPr>
          <a:xfrm>
            <a:off x="3903375" y="9972000"/>
            <a:ext cx="2722800" cy="161100"/>
          </a:xfrm>
          <a:prstGeom prst="rect">
            <a:avLst/>
          </a:prstGeom>
        </p:spPr>
        <p:txBody>
          <a:bodyPr spcFirstLastPara="1" wrap="square" lIns="0" tIns="0" rIns="0" bIns="0" anchor="b" anchorCtr="0">
            <a:normAutofit/>
          </a:bodyPr>
          <a:lstStyle>
            <a:lvl1pPr lv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ct val="0"/>
              </a:spcBef>
              <a:spcAft>
                <a:spcPct val="0"/>
              </a:spcAft>
              <a:buSzPts val="1400"/>
              <a:buNone/>
              <a:defRPr/>
            </a:lvl2pPr>
            <a:lvl3pPr lvl="2">
              <a:spcBef>
                <a:spcPct val="0"/>
              </a:spcBef>
              <a:spcAft>
                <a:spcPct val="0"/>
              </a:spcAft>
              <a:buSzPts val="1400"/>
              <a:buNone/>
              <a:defRPr/>
            </a:lvl3pPr>
            <a:lvl4pPr lvl="3">
              <a:spcBef>
                <a:spcPct val="0"/>
              </a:spcBef>
              <a:spcAft>
                <a:spcPct val="0"/>
              </a:spcAft>
              <a:buSzPts val="1400"/>
              <a:buNone/>
              <a:defRPr/>
            </a:lvl4pPr>
            <a:lvl5pPr lvl="4">
              <a:spcBef>
                <a:spcPct val="0"/>
              </a:spcBef>
              <a:spcAft>
                <a:spcPct val="0"/>
              </a:spcAft>
              <a:buSzPts val="1400"/>
              <a:buNone/>
              <a:defRPr/>
            </a:lvl5pPr>
            <a:lvl6pPr lvl="5">
              <a:spcBef>
                <a:spcPct val="0"/>
              </a:spcBef>
              <a:spcAft>
                <a:spcPct val="0"/>
              </a:spcAft>
              <a:buSzPts val="1400"/>
              <a:buNone/>
              <a:defRPr/>
            </a:lvl6pPr>
            <a:lvl7pPr lvl="6">
              <a:spcBef>
                <a:spcPct val="0"/>
              </a:spcBef>
              <a:spcAft>
                <a:spcPct val="0"/>
              </a:spcAft>
              <a:buSzPts val="1400"/>
              <a:buNone/>
              <a:defRPr/>
            </a:lvl7pPr>
            <a:lvl8pPr lvl="7">
              <a:spcBef>
                <a:spcPct val="0"/>
              </a:spcBef>
              <a:spcAft>
                <a:spcPct val="0"/>
              </a:spcAft>
              <a:buSzPts val="1400"/>
              <a:buNone/>
              <a:defRPr/>
            </a:lvl8pPr>
            <a:lvl9pPr lvl="8">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 Single page worksheet">
  <p:cSld name="SECTION_HEADER_1_1_1_1_1_1_1_1_1_1_1_2_1_1_1_1_1_2_1">
    <p:bg>
      <p:bgPr>
        <a:solidFill>
          <a:schemeClr val="lt1"/>
        </a:solidFill>
      </p:bgPr>
    </p:bg>
    <p:spTree>
      <p:nvGrpSpPr>
        <p:cNvPr id="101" name="Shape 101"/>
        <p:cNvGrpSpPr/>
        <p:nvPr/>
      </p:nvGrpSpPr>
      <p:grpSpPr>
        <a:xfrm>
          <a:off x="0" y="0"/>
          <a:ext cx="0" cy="0"/>
        </a:xfrm>
      </p:grpSpPr>
      <p:pic>
        <p:nvPicPr>
          <p:cNvPr id="102" name="Google Shape;102;p14"/>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03" name="Google Shape;103;p14"/>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05" name="Google Shape;105;p14"/>
          <p:cNvPicPr preferRelativeResize="0"/>
          <p:nvPr/>
        </p:nvPicPr>
        <p:blipFill>
          <a:blip r:embed="rId2">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13" name="Google Shape;113;p14"/>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xfrm>
      </p:grpSpPr>
      <p:pic>
        <p:nvPicPr>
          <p:cNvPr id="115" name="Google Shape;115;p15"/>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16" name="Google Shape;116;p15"/>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18" name="Google Shape;118;p15"/>
          <p:cNvPicPr preferRelativeResize="0"/>
          <p:nvPr/>
        </p:nvPicPr>
        <p:blipFill>
          <a:blip r:embed="rId2">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26" name="Google Shape;126;p15"/>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xfrm>
      </p:grpSpPr>
      <p:pic>
        <p:nvPicPr>
          <p:cNvPr id="128" name="Google Shape;128;p16"/>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29" name="Google Shape;129;p16"/>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31" name="Google Shape;131;p16"/>
          <p:cNvPicPr preferRelativeResize="0"/>
          <p:nvPr/>
        </p:nvPicPr>
        <p:blipFill>
          <a:blip r:embed="rId2">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xfrm>
      </p:grpSpPr>
      <p:pic>
        <p:nvPicPr>
          <p:cNvPr id="137" name="Google Shape;137;p17"/>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38" name="Google Shape;138;p17"/>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pic>
        <p:nvPicPr>
          <p:cNvPr id="140" name="Google Shape;140;p17"/>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42" name="Google Shape;142;p17"/>
          <p:cNvSpPr txBox="1"/>
          <p:nvPr>
            <p:ph type="subTitle" idx="1"/>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xfrm>
      </p:grpSpPr>
      <p:pic>
        <p:nvPicPr>
          <p:cNvPr id="144" name="Google Shape;144;p18"/>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45" name="Google Shape;145;p18"/>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pic>
        <p:nvPicPr>
          <p:cNvPr id="147" name="Google Shape;147;p18"/>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52" name="Google Shape;152;p18"/>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53" name="Google Shape;153;p18"/>
          <p:cNvSpPr txBox="1"/>
          <p:nvPr>
            <p:ph type="subTitle" idx="2"/>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xfrm>
      </p:grpSpPr>
      <p:pic>
        <p:nvPicPr>
          <p:cNvPr id="155" name="Google Shape;155;p19"/>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56" name="Google Shape;156;p19"/>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58" name="Google Shape;158;p19"/>
          <p:cNvPicPr preferRelativeResize="0"/>
          <p:nvPr/>
        </p:nvPicPr>
        <p:blipFill>
          <a:blip r:embed="rId2">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66" name="Google Shape;166;p19"/>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theme" Target="../theme/theme1.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slideLayout" Target="../slideLayouts/slideLayout17.xml" /><Relationship Id="rId11" Type="http://schemas.openxmlformats.org/officeDocument/2006/relationships/theme" Target="../theme/theme2.xml" /><Relationship Id="rId2" Type="http://schemas.openxmlformats.org/officeDocument/2006/relationships/slideLayout" Target="../slideLayouts/slideLayout9.xml" /><Relationship Id="rId3" Type="http://schemas.openxmlformats.org/officeDocument/2006/relationships/slideLayout" Target="../slideLayouts/slideLayout10.xml" /><Relationship Id="rId4" Type="http://schemas.openxmlformats.org/officeDocument/2006/relationships/slideLayout" Target="../slideLayouts/slideLayout11.xml" /><Relationship Id="rId5" Type="http://schemas.openxmlformats.org/officeDocument/2006/relationships/slideLayout" Target="../slideLayouts/slideLayout12.xml" /><Relationship Id="rId6" Type="http://schemas.openxmlformats.org/officeDocument/2006/relationships/slideLayout" Target="../slideLayouts/slideLayout13.xml" /><Relationship Id="rId7" Type="http://schemas.openxmlformats.org/officeDocument/2006/relationships/slideLayout" Target="../slideLayouts/slideLayout14.xml" /><Relationship Id="rId8" Type="http://schemas.openxmlformats.org/officeDocument/2006/relationships/slideLayout" Target="../slideLayouts/slideLayout15.xml" /><Relationship Id="rId9" Type="http://schemas.openxmlformats.org/officeDocument/2006/relationships/slideLayout" Target="../slideLayouts/slideLayout16.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7" name="Google Shape;7;p1"/>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8" name="Google Shape;8;p1"/>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61" name="Shape 61"/>
        <p:cNvGrpSpPr/>
        <p:nvPr/>
      </p:nvGrpSpPr>
      <p:grpSpPr>
        <a:xfrm>
          <a:off x="0" y="0"/>
          <a:ext cx="0" cy="0"/>
        </a:xfrm>
      </p:grpSpPr>
      <p:sp>
        <p:nvSpPr>
          <p:cNvPr id="62" name="Google Shape;62;p9"/>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63" name="Google Shape;63;p9"/>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64" name="Google Shape;64;p9"/>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image" Target="../media/image7.png" /><Relationship Id="rId4" Type="http://schemas.openxmlformats.org/officeDocument/2006/relationships/image" Target="../media/image8.png" /><Relationship Id="rId5" Type="http://schemas.openxmlformats.org/officeDocument/2006/relationships/image" Target="../media/image9.png" /><Relationship Id="rId6" Type="http://schemas.openxmlformats.org/officeDocument/2006/relationships/image" Target="../media/image10.png" /><Relationship Id="rId7" Type="http://schemas.openxmlformats.org/officeDocument/2006/relationships/image" Target="../media/image11.pn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0.xml" /><Relationship Id="rId2" Type="http://schemas.openxmlformats.org/officeDocument/2006/relationships/notesSlide" Target="../notesSlides/notesSlide2.xml" /><Relationship Id="rId3" Type="http://schemas.openxmlformats.org/officeDocument/2006/relationships/image" Target="../media/image12.png" /><Relationship Id="rId4" Type="http://schemas.openxmlformats.org/officeDocument/2006/relationships/image" Target="../media/image13.png" /><Relationship Id="rId5" Type="http://schemas.openxmlformats.org/officeDocument/2006/relationships/image" Target="../media/image14.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0.xml" /><Relationship Id="rId2" Type="http://schemas.openxmlformats.org/officeDocument/2006/relationships/notesSlide" Target="../notesSlides/notesSlide3.xml" /><Relationship Id="rId3" Type="http://schemas.openxmlformats.org/officeDocument/2006/relationships/image" Target="../media/image15.png" /><Relationship Id="rId4" Type="http://schemas.openxmlformats.org/officeDocument/2006/relationships/image" Target="../media/image16.png" /><Relationship Id="rId5" Type="http://schemas.openxmlformats.org/officeDocument/2006/relationships/image" Target="../media/image17.png"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1.xml" /><Relationship Id="rId2" Type="http://schemas.openxmlformats.org/officeDocument/2006/relationships/notesSlide" Target="../notesSlides/notesSlide4.xml" /><Relationship Id="rId3" Type="http://schemas.openxmlformats.org/officeDocument/2006/relationships/image" Target="../media/image18.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70" name="Shape 170"/>
        <p:cNvGrpSpPr/>
        <p:nvPr/>
      </p:nvGrpSpPr>
      <p:grpSpPr>
        <a:xfrm>
          <a:off x="0" y="0"/>
          <a:ext cx="0" cy="0"/>
        </a:xfrm>
      </p:grpSpPr>
      <p:sp>
        <p:nvSpPr>
          <p:cNvPr id="171" name="Google Shape;171;p2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1</a:t>
            </a:fld>
            <a:endParaRPr/>
          </a:p>
        </p:txBody>
      </p:sp>
      <p:sp>
        <p:nvSpPr>
          <p:cNvPr id="172" name="Google Shape;172;p20"/>
          <p:cNvSpPr txBox="1"/>
          <p:nvPr>
            <p:ph type="title"/>
          </p:nvPr>
        </p:nvSpPr>
        <p:spPr>
          <a:xfrm>
            <a:off x="468000" y="864000"/>
            <a:ext cx="6624000" cy="277200"/>
          </a:xfrm>
          <a:prstGeom prst="rect">
            <a:avLst/>
          </a:prstGeom>
        </p:spPr>
        <p:txBody>
          <a:bodyPr spcFirstLastPara="1" wrap="square" lIns="0" tIns="0" rIns="0" bIns="0" anchor="ctr" anchorCtr="0">
            <a:spAutoFit/>
          </a:bodyPr>
          <a:lstStyle/>
          <a:p>
            <a:pPr marL="0" lvl="0" indent="0" algn="l" rtl="0">
              <a:spcBef>
                <a:spcPct val="0"/>
              </a:spcBef>
              <a:spcAft>
                <a:spcPct val="0"/>
              </a:spcAft>
              <a:buNone/>
            </a:pPr>
            <a:r>
              <a:rPr lang="en-GB"/>
              <a:t>Understanding the centre of rotation</a:t>
            </a:r>
            <a:endParaRPr/>
          </a:p>
        </p:txBody>
      </p:sp>
      <p:sp>
        <p:nvSpPr>
          <p:cNvPr id="173" name="Google Shape;173;p20"/>
          <p:cNvSpPr txBox="1"/>
          <p:nvPr/>
        </p:nvSpPr>
        <p:spPr>
          <a:xfrm>
            <a:off x="468000" y="1638300"/>
            <a:ext cx="4152000" cy="1620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1200">
                <a:latin typeface="Lexend"/>
                <a:ea typeface="Lexend"/>
                <a:cs typeface="Lexend"/>
                <a:sym typeface="Lexend"/>
              </a:rPr>
              <a:t>1) The line has been rotated less than 360°.</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Complete the information for the rotation of this line:</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The object has been rotated: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anti-clockwise          by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with a centre of rotation at                   .</a:t>
            </a: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ts val="1000"/>
              </a:spcAft>
              <a:buNone/>
            </a:pPr>
            <a:endParaRPr sz="1200">
              <a:latin typeface="Lexend"/>
              <a:ea typeface="Lexend"/>
              <a:cs typeface="Lexend"/>
              <a:sym typeface="Lexend"/>
            </a:endParaRPr>
          </a:p>
        </p:txBody>
      </p:sp>
      <p:sp>
        <p:nvSpPr>
          <p:cNvPr id="174" name="Google Shape;174;p20"/>
          <p:cNvSpPr txBox="1"/>
          <p:nvPr/>
        </p:nvSpPr>
        <p:spPr>
          <a:xfrm>
            <a:off x="468000" y="1345575"/>
            <a:ext cx="6624000" cy="3372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b="1">
                <a:latin typeface="Lexend"/>
                <a:ea typeface="Lexend"/>
                <a:cs typeface="Lexend"/>
                <a:sym typeface="Lexend"/>
              </a:rPr>
              <a:t>Task A: Describing with the centre of rotation</a:t>
            </a:r>
            <a:endParaRPr b="1">
              <a:latin typeface="Lexend"/>
              <a:ea typeface="Lexend"/>
              <a:cs typeface="Lexend"/>
              <a:sym typeface="Lexend"/>
            </a:endParaRPr>
          </a:p>
        </p:txBody>
      </p:sp>
      <p:pic>
        <p:nvPicPr>
          <p:cNvPr id="175" name="Google Shape;175;p20"/>
          <p:cNvPicPr preferRelativeResize="0"/>
          <p:nvPr/>
        </p:nvPicPr>
        <p:blipFill>
          <a:blip r:embed="rId3">
            <a:alphaModFix/>
          </a:blip>
          <a:stretch>
            <a:fillRect/>
          </a:stretch>
        </p:blipFill>
        <p:spPr>
          <a:xfrm>
            <a:off x="4698100" y="1682775"/>
            <a:ext cx="2393900" cy="1866250"/>
          </a:xfrm>
          <a:prstGeom prst="rect">
            <a:avLst/>
          </a:prstGeom>
          <a:noFill/>
          <a:ln>
            <a:noFill/>
          </a:ln>
        </p:spPr>
      </p:pic>
      <p:pic>
        <p:nvPicPr>
          <p:cNvPr id="176" name="Google Shape;176;p20"/>
          <p:cNvPicPr preferRelativeResize="0"/>
          <p:nvPr/>
        </p:nvPicPr>
        <p:blipFill>
          <a:blip r:embed="rId4">
            <a:alphaModFix/>
          </a:blip>
          <a:srcRect l="75706" t="27330" r="13951" b="59597"/>
          <a:stretch>
            <a:fillRect/>
          </a:stretch>
        </p:blipFill>
        <p:spPr>
          <a:xfrm rot="-2700000" flipH="1">
            <a:off x="4886222" y="1828584"/>
            <a:ext cx="871846" cy="1114449"/>
          </a:xfrm>
          <a:prstGeom prst="rect">
            <a:avLst/>
          </a:prstGeom>
          <a:noFill/>
          <a:ln>
            <a:noFill/>
          </a:ln>
        </p:spPr>
      </p:pic>
      <p:sp>
        <p:nvSpPr>
          <p:cNvPr id="177" name="Google Shape;177;p20"/>
          <p:cNvSpPr txBox="1"/>
          <p:nvPr/>
        </p:nvSpPr>
        <p:spPr>
          <a:xfrm>
            <a:off x="468000" y="3711625"/>
            <a:ext cx="4152000" cy="1620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2) The line has been rotated less than 360°.</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Complete the information for the rotation of this line:</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The object has been rotated: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clockwise          by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with a centre of rotation at                   .</a:t>
            </a: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ts val="1000"/>
              </a:spcAft>
              <a:buNone/>
            </a:pPr>
            <a:endParaRPr sz="1200">
              <a:latin typeface="Lexend"/>
              <a:ea typeface="Lexend"/>
              <a:cs typeface="Lexend"/>
              <a:sym typeface="Lexend"/>
            </a:endParaRPr>
          </a:p>
        </p:txBody>
      </p:sp>
      <p:pic>
        <p:nvPicPr>
          <p:cNvPr id="178" name="Google Shape;178;p20"/>
          <p:cNvPicPr preferRelativeResize="0"/>
          <p:nvPr/>
        </p:nvPicPr>
        <p:blipFill>
          <a:blip r:embed="rId5">
            <a:alphaModFix/>
          </a:blip>
          <a:stretch>
            <a:fillRect/>
          </a:stretch>
        </p:blipFill>
        <p:spPr>
          <a:xfrm>
            <a:off x="4694938" y="3781727"/>
            <a:ext cx="2393875" cy="1580754"/>
          </a:xfrm>
          <a:prstGeom prst="rect">
            <a:avLst/>
          </a:prstGeom>
          <a:noFill/>
          <a:ln>
            <a:noFill/>
          </a:ln>
        </p:spPr>
      </p:pic>
      <p:pic>
        <p:nvPicPr>
          <p:cNvPr id="179" name="Google Shape;179;p20"/>
          <p:cNvPicPr preferRelativeResize="0"/>
          <p:nvPr/>
        </p:nvPicPr>
        <p:blipFill>
          <a:blip r:embed="rId4">
            <a:alphaModFix/>
          </a:blip>
          <a:srcRect l="75706" t="27330" r="13951" b="59597"/>
          <a:stretch>
            <a:fillRect/>
          </a:stretch>
        </p:blipFill>
        <p:spPr>
          <a:xfrm rot="-9000009">
            <a:off x="4181388" y="4054969"/>
            <a:ext cx="871844" cy="1114448"/>
          </a:xfrm>
          <a:prstGeom prst="rect">
            <a:avLst/>
          </a:prstGeom>
          <a:noFill/>
          <a:ln>
            <a:noFill/>
          </a:ln>
        </p:spPr>
      </p:pic>
      <p:sp>
        <p:nvSpPr>
          <p:cNvPr id="180" name="Google Shape;180;p20"/>
          <p:cNvSpPr txBox="1"/>
          <p:nvPr/>
        </p:nvSpPr>
        <p:spPr>
          <a:xfrm>
            <a:off x="468000" y="5784950"/>
            <a:ext cx="3672000" cy="1620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3) The object has been rotated less than 360°.</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Complete the information for the rotation:</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The object has been rotated: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clockwise          by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with a centre of rotation at                   .</a:t>
            </a: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ts val="1000"/>
              </a:spcAft>
              <a:buNone/>
            </a:pPr>
            <a:endParaRPr sz="1200">
              <a:latin typeface="Lexend"/>
              <a:ea typeface="Lexend"/>
              <a:cs typeface="Lexend"/>
              <a:sym typeface="Lexend"/>
            </a:endParaRPr>
          </a:p>
        </p:txBody>
      </p:sp>
      <p:pic>
        <p:nvPicPr>
          <p:cNvPr id="181" name="Google Shape;181;p20"/>
          <p:cNvPicPr preferRelativeResize="0"/>
          <p:nvPr/>
        </p:nvPicPr>
        <p:blipFill>
          <a:blip r:embed="rId6">
            <a:alphaModFix/>
          </a:blip>
          <a:stretch>
            <a:fillRect/>
          </a:stretch>
        </p:blipFill>
        <p:spPr>
          <a:xfrm>
            <a:off x="4140000" y="5805133"/>
            <a:ext cx="2647193" cy="1502967"/>
          </a:xfrm>
          <a:prstGeom prst="rect">
            <a:avLst/>
          </a:prstGeom>
          <a:noFill/>
          <a:ln>
            <a:noFill/>
          </a:ln>
        </p:spPr>
      </p:pic>
      <p:pic>
        <p:nvPicPr>
          <p:cNvPr id="182" name="Google Shape;182;p20"/>
          <p:cNvPicPr preferRelativeResize="0"/>
          <p:nvPr/>
        </p:nvPicPr>
        <p:blipFill>
          <a:blip r:embed="rId4">
            <a:alphaModFix/>
          </a:blip>
          <a:srcRect l="75706" t="27330" r="13951" b="59597"/>
          <a:stretch>
            <a:fillRect/>
          </a:stretch>
        </p:blipFill>
        <p:spPr>
          <a:xfrm rot="5400000">
            <a:off x="6231384" y="6608537"/>
            <a:ext cx="755500" cy="965732"/>
          </a:xfrm>
          <a:prstGeom prst="rect">
            <a:avLst/>
          </a:prstGeom>
          <a:noFill/>
          <a:ln>
            <a:noFill/>
          </a:ln>
        </p:spPr>
      </p:pic>
      <p:sp>
        <p:nvSpPr>
          <p:cNvPr id="183" name="Google Shape;183;p20"/>
          <p:cNvSpPr txBox="1"/>
          <p:nvPr/>
        </p:nvSpPr>
        <p:spPr>
          <a:xfrm>
            <a:off x="468000" y="7858275"/>
            <a:ext cx="3672000" cy="1620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4) The object has been rotated less than 360°.</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Complete the information for the rotation:</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The object has been rotated: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anti-clockwise          by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with a centre of rotation at                   .</a:t>
            </a: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ts val="1000"/>
              </a:spcAft>
              <a:buNone/>
            </a:pPr>
            <a:endParaRPr sz="1200">
              <a:latin typeface="Lexend"/>
              <a:ea typeface="Lexend"/>
              <a:cs typeface="Lexend"/>
              <a:sym typeface="Lexend"/>
            </a:endParaRPr>
          </a:p>
        </p:txBody>
      </p:sp>
      <p:pic>
        <p:nvPicPr>
          <p:cNvPr id="184" name="Google Shape;184;p20"/>
          <p:cNvPicPr preferRelativeResize="0"/>
          <p:nvPr/>
        </p:nvPicPr>
        <p:blipFill>
          <a:blip r:embed="rId7">
            <a:alphaModFix/>
          </a:blip>
          <a:stretch>
            <a:fillRect/>
          </a:stretch>
        </p:blipFill>
        <p:spPr>
          <a:xfrm>
            <a:off x="4339080" y="7865672"/>
            <a:ext cx="2752919" cy="1596498"/>
          </a:xfrm>
          <a:prstGeom prst="rect">
            <a:avLst/>
          </a:prstGeom>
          <a:noFill/>
          <a:ln>
            <a:noFill/>
          </a:ln>
        </p:spPr>
      </p:pic>
      <p:pic>
        <p:nvPicPr>
          <p:cNvPr id="185" name="Google Shape;185;p20"/>
          <p:cNvPicPr preferRelativeResize="0"/>
          <p:nvPr/>
        </p:nvPicPr>
        <p:blipFill>
          <a:blip r:embed="rId4">
            <a:alphaModFix/>
          </a:blip>
          <a:srcRect l="75706" t="27330" r="13951" b="59597"/>
          <a:stretch>
            <a:fillRect/>
          </a:stretch>
        </p:blipFill>
        <p:spPr>
          <a:xfrm rot="-5400000" flipH="1">
            <a:off x="4251655" y="8719073"/>
            <a:ext cx="802516" cy="1025828"/>
          </a:xfrm>
          <a:prstGeom prst="rect">
            <a:avLst/>
          </a:prstGeom>
          <a:noFill/>
          <a:ln>
            <a:noFill/>
          </a:ln>
        </p:spPr>
      </p:pic>
      <p:sp>
        <p:nvSpPr>
          <p:cNvPr id="186" name="Google Shape;186;p20"/>
          <p:cNvSpPr txBox="1"/>
          <p:nvPr/>
        </p:nvSpPr>
        <p:spPr>
          <a:xfrm>
            <a:off x="2382075" y="8695875"/>
            <a:ext cx="6780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90</a:t>
            </a:r>
            <a:endParaRPr sz="1200">
              <a:solidFill>
                <a:srgbClr val="000000"/>
              </a:solidFill>
              <a:latin typeface="Kalam"/>
              <a:ea typeface="Kalam"/>
              <a:cs typeface="Kalam"/>
              <a:sym typeface="Kalam"/>
            </a:endParaRPr>
          </a:p>
        </p:txBody>
      </p:sp>
      <p:sp>
        <p:nvSpPr>
          <p:cNvPr id="187" name="Google Shape;187;p20"/>
          <p:cNvSpPr txBox="1"/>
          <p:nvPr/>
        </p:nvSpPr>
        <p:spPr>
          <a:xfrm>
            <a:off x="2708725" y="9005650"/>
            <a:ext cx="7362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(8, 8)</a:t>
            </a:r>
            <a:endParaRPr sz="1200">
              <a:solidFill>
                <a:srgbClr val="000000"/>
              </a:solidFill>
              <a:latin typeface="Kalam"/>
              <a:ea typeface="Kalam"/>
              <a:cs typeface="Kalam"/>
              <a:sym typeface="Kalam"/>
            </a:endParaRPr>
          </a:p>
        </p:txBody>
      </p:sp>
      <p:sp>
        <p:nvSpPr>
          <p:cNvPr id="188" name="Google Shape;188;p20"/>
          <p:cNvSpPr txBox="1"/>
          <p:nvPr/>
        </p:nvSpPr>
        <p:spPr>
          <a:xfrm>
            <a:off x="2045525" y="6630000"/>
            <a:ext cx="6780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90</a:t>
            </a:r>
            <a:endParaRPr sz="1200">
              <a:solidFill>
                <a:srgbClr val="000000"/>
              </a:solidFill>
              <a:latin typeface="Kalam"/>
              <a:ea typeface="Kalam"/>
              <a:cs typeface="Kalam"/>
              <a:sym typeface="Kalam"/>
            </a:endParaRPr>
          </a:p>
        </p:txBody>
      </p:sp>
      <p:sp>
        <p:nvSpPr>
          <p:cNvPr id="189" name="Google Shape;189;p20"/>
          <p:cNvSpPr txBox="1"/>
          <p:nvPr/>
        </p:nvSpPr>
        <p:spPr>
          <a:xfrm>
            <a:off x="2708725" y="6939775"/>
            <a:ext cx="7362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(8, 7)</a:t>
            </a:r>
            <a:endParaRPr sz="1200">
              <a:solidFill>
                <a:srgbClr val="000000"/>
              </a:solidFill>
              <a:latin typeface="Kalam"/>
              <a:ea typeface="Kalam"/>
              <a:cs typeface="Kalam"/>
              <a:sym typeface="Kalam"/>
            </a:endParaRPr>
          </a:p>
        </p:txBody>
      </p:sp>
      <p:sp>
        <p:nvSpPr>
          <p:cNvPr id="190" name="Google Shape;190;p20"/>
          <p:cNvSpPr txBox="1"/>
          <p:nvPr/>
        </p:nvSpPr>
        <p:spPr>
          <a:xfrm>
            <a:off x="2045525" y="4556950"/>
            <a:ext cx="6780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270</a:t>
            </a:r>
            <a:endParaRPr sz="1200">
              <a:solidFill>
                <a:srgbClr val="000000"/>
              </a:solidFill>
              <a:latin typeface="Kalam"/>
              <a:ea typeface="Kalam"/>
              <a:cs typeface="Kalam"/>
              <a:sym typeface="Kalam"/>
            </a:endParaRPr>
          </a:p>
        </p:txBody>
      </p:sp>
      <p:sp>
        <p:nvSpPr>
          <p:cNvPr id="191" name="Google Shape;191;p20"/>
          <p:cNvSpPr txBox="1"/>
          <p:nvPr/>
        </p:nvSpPr>
        <p:spPr>
          <a:xfrm>
            <a:off x="2708725" y="4866725"/>
            <a:ext cx="7362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(3, 5)</a:t>
            </a:r>
            <a:endParaRPr sz="1200">
              <a:solidFill>
                <a:srgbClr val="000000"/>
              </a:solidFill>
              <a:latin typeface="Kalam"/>
              <a:ea typeface="Kalam"/>
              <a:cs typeface="Kalam"/>
              <a:sym typeface="Kalam"/>
            </a:endParaRPr>
          </a:p>
        </p:txBody>
      </p:sp>
      <p:sp>
        <p:nvSpPr>
          <p:cNvPr id="192" name="Google Shape;192;p20"/>
          <p:cNvSpPr txBox="1"/>
          <p:nvPr/>
        </p:nvSpPr>
        <p:spPr>
          <a:xfrm>
            <a:off x="2382075" y="2482196"/>
            <a:ext cx="6780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90</a:t>
            </a:r>
            <a:endParaRPr sz="1200">
              <a:solidFill>
                <a:srgbClr val="000000"/>
              </a:solidFill>
              <a:latin typeface="Kalam"/>
              <a:ea typeface="Kalam"/>
              <a:cs typeface="Kalam"/>
              <a:sym typeface="Kalam"/>
            </a:endParaRPr>
          </a:p>
        </p:txBody>
      </p:sp>
      <p:sp>
        <p:nvSpPr>
          <p:cNvPr id="193" name="Google Shape;193;p20"/>
          <p:cNvSpPr txBox="1"/>
          <p:nvPr/>
        </p:nvSpPr>
        <p:spPr>
          <a:xfrm>
            <a:off x="2708725" y="2791971"/>
            <a:ext cx="7362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(8, 6)</a:t>
            </a:r>
            <a:endParaRPr sz="1200">
              <a:solidFill>
                <a:srgbClr val="000000"/>
              </a:solidFill>
              <a:latin typeface="Kalam"/>
              <a:ea typeface="Kalam"/>
              <a:cs typeface="Kalam"/>
              <a:sym typeface="Kalam"/>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97" name="Shape 197"/>
        <p:cNvGrpSpPr/>
        <p:nvPr/>
      </p:nvGrpSpPr>
      <p:grpSpPr>
        <a:xfrm>
          <a:off x="0" y="0"/>
          <a:ext cx="0" cy="0"/>
        </a:xfrm>
      </p:grpSpPr>
      <p:sp>
        <p:nvSpPr>
          <p:cNvPr id="198" name="Google Shape;198;p21"/>
          <p:cNvSpPr txBox="1"/>
          <p:nvPr>
            <p:ph type="subTitle" idx="1"/>
          </p:nvPr>
        </p:nvSpPr>
        <p:spPr>
          <a:xfrm>
            <a:off x="1463400" y="360000"/>
            <a:ext cx="4782600" cy="1386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Understanding the centre of rotation</a:t>
            </a:r>
            <a:endParaRPr/>
          </a:p>
        </p:txBody>
      </p:sp>
      <p:sp>
        <p:nvSpPr>
          <p:cNvPr id="199" name="Google Shape;199;p21"/>
          <p:cNvSpPr txBox="1"/>
          <p:nvPr/>
        </p:nvSpPr>
        <p:spPr>
          <a:xfrm>
            <a:off x="468000" y="720000"/>
            <a:ext cx="3672000" cy="1620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5) There are lots of ways to fully describe this rotation. Complete these two descriptions:</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The object has been rotated: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clockwise          by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with a centre of rotation at                   .</a:t>
            </a: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solidFill>
                  <a:schemeClr val="dk1"/>
                </a:solidFill>
                <a:latin typeface="Lexend"/>
                <a:ea typeface="Lexend"/>
                <a:cs typeface="Lexend"/>
                <a:sym typeface="Lexend"/>
              </a:rPr>
              <a:t>The object has been rotated: </a:t>
            </a:r>
            <a:endParaRPr sz="1200">
              <a:solidFill>
                <a:schemeClr val="dk1"/>
              </a:solidFill>
              <a:latin typeface="Lexend"/>
              <a:ea typeface="Lexend"/>
              <a:cs typeface="Lexend"/>
              <a:sym typeface="Lexend"/>
            </a:endParaRPr>
          </a:p>
          <a:p>
            <a:pPr marL="0" lvl="0" indent="0" algn="l" rtl="0">
              <a:lnSpc>
                <a:spcPct val="115000"/>
              </a:lnSpc>
              <a:spcBef>
                <a:spcPts val="1000"/>
              </a:spcBef>
              <a:spcAft>
                <a:spcPct val="0"/>
              </a:spcAft>
              <a:buNone/>
            </a:pPr>
            <a:r>
              <a:rPr lang="en-GB" sz="1200">
                <a:solidFill>
                  <a:schemeClr val="dk1"/>
                </a:solidFill>
                <a:latin typeface="Lexend"/>
                <a:ea typeface="Lexend"/>
                <a:cs typeface="Lexend"/>
                <a:sym typeface="Lexend"/>
              </a:rPr>
              <a:t>     anti-clockwise          by                  °</a:t>
            </a:r>
            <a:endParaRPr sz="1200">
              <a:solidFill>
                <a:schemeClr val="dk1"/>
              </a:solidFill>
              <a:latin typeface="Lexend"/>
              <a:ea typeface="Lexend"/>
              <a:cs typeface="Lexend"/>
              <a:sym typeface="Lexend"/>
            </a:endParaRPr>
          </a:p>
          <a:p>
            <a:pPr marL="0" lvl="0" indent="0" algn="l" rtl="0">
              <a:lnSpc>
                <a:spcPct val="115000"/>
              </a:lnSpc>
              <a:spcBef>
                <a:spcPts val="1000"/>
              </a:spcBef>
              <a:spcAft>
                <a:spcPct val="0"/>
              </a:spcAft>
              <a:buNone/>
            </a:pPr>
            <a:r>
              <a:rPr lang="en-GB" sz="1200">
                <a:solidFill>
                  <a:schemeClr val="dk1"/>
                </a:solidFill>
                <a:latin typeface="Lexend"/>
                <a:ea typeface="Lexend"/>
                <a:cs typeface="Lexend"/>
                <a:sym typeface="Lexend"/>
              </a:rPr>
              <a:t>     with a centre of rotation at                   .</a:t>
            </a:r>
            <a:endParaRPr sz="1200">
              <a:solidFill>
                <a:schemeClr val="dk1"/>
              </a:solidFill>
              <a:latin typeface="Lexend"/>
              <a:ea typeface="Lexend"/>
              <a:cs typeface="Lexend"/>
              <a:sym typeface="Lexend"/>
            </a:endParaRPr>
          </a:p>
          <a:p>
            <a:pPr marL="0" lvl="0" indent="0" algn="l" rtl="0">
              <a:lnSpc>
                <a:spcPct val="115000"/>
              </a:lnSpc>
              <a:spcBef>
                <a:spcPts val="1000"/>
              </a:spcBef>
              <a:spcAft>
                <a:spcPct val="0"/>
              </a:spcAft>
              <a:buNone/>
            </a:pPr>
            <a:endParaRPr sz="1200">
              <a:solidFill>
                <a:schemeClr val="dk1"/>
              </a:solidFill>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ts val="1000"/>
              </a:spcAft>
              <a:buNone/>
            </a:pPr>
            <a:endParaRPr sz="1200">
              <a:latin typeface="Lexend"/>
              <a:ea typeface="Lexend"/>
              <a:cs typeface="Lexend"/>
              <a:sym typeface="Lexend"/>
            </a:endParaRPr>
          </a:p>
        </p:txBody>
      </p:sp>
      <p:pic>
        <p:nvPicPr>
          <p:cNvPr id="200" name="Google Shape;200;p21"/>
          <p:cNvPicPr preferRelativeResize="0"/>
          <p:nvPr/>
        </p:nvPicPr>
        <p:blipFill>
          <a:blip r:embed="rId3">
            <a:alphaModFix/>
          </a:blip>
          <a:stretch>
            <a:fillRect/>
          </a:stretch>
        </p:blipFill>
        <p:spPr>
          <a:xfrm>
            <a:off x="4140000" y="864000"/>
            <a:ext cx="2952000" cy="2741981"/>
          </a:xfrm>
          <a:prstGeom prst="rect">
            <a:avLst/>
          </a:prstGeom>
          <a:noFill/>
          <a:ln>
            <a:noFill/>
          </a:ln>
        </p:spPr>
      </p:pic>
      <p:sp>
        <p:nvSpPr>
          <p:cNvPr id="201" name="Google Shape;201;p21"/>
          <p:cNvSpPr txBox="1"/>
          <p:nvPr/>
        </p:nvSpPr>
        <p:spPr>
          <a:xfrm>
            <a:off x="468000" y="3734797"/>
            <a:ext cx="3672000" cy="1620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6) There are two ways of describing this rotation, if done in less than a full turn. Complete both descriptions:</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The object has been rotated: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clockwise          by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with a centre of rotation at                   .</a:t>
            </a: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solidFill>
                  <a:schemeClr val="dk1"/>
                </a:solidFill>
                <a:latin typeface="Lexend"/>
                <a:ea typeface="Lexend"/>
                <a:cs typeface="Lexend"/>
                <a:sym typeface="Lexend"/>
              </a:rPr>
              <a:t>The object has been rotated: </a:t>
            </a:r>
            <a:endParaRPr sz="1200">
              <a:solidFill>
                <a:schemeClr val="dk1"/>
              </a:solidFill>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ct val="0"/>
              </a:spcAft>
              <a:buNone/>
            </a:pPr>
            <a:endParaRPr sz="1200">
              <a:latin typeface="Lexend"/>
              <a:ea typeface="Lexend"/>
              <a:cs typeface="Lexend"/>
              <a:sym typeface="Lexend"/>
            </a:endParaRPr>
          </a:p>
          <a:p>
            <a:pPr marL="0" lvl="0" indent="0" algn="l" rtl="0">
              <a:lnSpc>
                <a:spcPct val="115000"/>
              </a:lnSpc>
              <a:spcBef>
                <a:spcPts val="1000"/>
              </a:spcBef>
              <a:spcAft>
                <a:spcPts val="1000"/>
              </a:spcAft>
              <a:buNone/>
            </a:pPr>
            <a:endParaRPr sz="1200">
              <a:latin typeface="Lexend"/>
              <a:ea typeface="Lexend"/>
              <a:cs typeface="Lexend"/>
              <a:sym typeface="Lexend"/>
            </a:endParaRPr>
          </a:p>
        </p:txBody>
      </p:sp>
      <p:pic>
        <p:nvPicPr>
          <p:cNvPr id="202" name="Google Shape;202;p21"/>
          <p:cNvPicPr preferRelativeResize="0"/>
          <p:nvPr/>
        </p:nvPicPr>
        <p:blipFill>
          <a:blip r:embed="rId4">
            <a:alphaModFix/>
          </a:blip>
          <a:stretch>
            <a:fillRect/>
          </a:stretch>
        </p:blipFill>
        <p:spPr>
          <a:xfrm>
            <a:off x="4140000" y="4007963"/>
            <a:ext cx="2494850" cy="2927700"/>
          </a:xfrm>
          <a:prstGeom prst="rect">
            <a:avLst/>
          </a:prstGeom>
          <a:noFill/>
          <a:ln>
            <a:noFill/>
          </a:ln>
        </p:spPr>
      </p:pic>
      <p:sp>
        <p:nvSpPr>
          <p:cNvPr id="203" name="Google Shape;203;p21"/>
          <p:cNvSpPr txBox="1"/>
          <p:nvPr/>
        </p:nvSpPr>
        <p:spPr>
          <a:xfrm>
            <a:off x="5938200" y="6277513"/>
            <a:ext cx="696600" cy="2925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object</a:t>
            </a:r>
            <a:endParaRPr>
              <a:solidFill>
                <a:srgbClr val="FF0000"/>
              </a:solidFill>
              <a:latin typeface="Lexend"/>
              <a:ea typeface="Lexend"/>
              <a:cs typeface="Lexend"/>
              <a:sym typeface="Lexend"/>
            </a:endParaRPr>
          </a:p>
        </p:txBody>
      </p:sp>
      <p:sp>
        <p:nvSpPr>
          <p:cNvPr id="204" name="Google Shape;204;p21"/>
          <p:cNvSpPr txBox="1"/>
          <p:nvPr/>
        </p:nvSpPr>
        <p:spPr>
          <a:xfrm>
            <a:off x="6151725" y="3756338"/>
            <a:ext cx="757800" cy="2925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image</a:t>
            </a:r>
            <a:endParaRPr>
              <a:solidFill>
                <a:srgbClr val="FF0000"/>
              </a:solidFill>
              <a:latin typeface="Lexend"/>
              <a:ea typeface="Lexend"/>
              <a:cs typeface="Lexend"/>
              <a:sym typeface="Lexend"/>
            </a:endParaRPr>
          </a:p>
        </p:txBody>
      </p:sp>
      <p:sp>
        <p:nvSpPr>
          <p:cNvPr id="205" name="Google Shape;205;p21"/>
          <p:cNvSpPr txBox="1"/>
          <p:nvPr/>
        </p:nvSpPr>
        <p:spPr>
          <a:xfrm>
            <a:off x="468000" y="7167572"/>
            <a:ext cx="3672000" cy="1620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7) There are multiple possible descriptions that could correctly describe this rotation. Fully describe this rotation in one way.</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The object has been rotated: </a:t>
            </a:r>
            <a:endParaRPr sz="1200">
              <a:latin typeface="Lexend"/>
              <a:ea typeface="Lexend"/>
              <a:cs typeface="Lexend"/>
              <a:sym typeface="Lexend"/>
            </a:endParaRPr>
          </a:p>
          <a:p>
            <a:pPr marL="0" lvl="0" indent="0" algn="l" rtl="0">
              <a:lnSpc>
                <a:spcPct val="115000"/>
              </a:lnSpc>
              <a:spcBef>
                <a:spcPts val="1000"/>
              </a:spcBef>
              <a:spcAft>
                <a:spcPct val="0"/>
              </a:spcAft>
              <a:buNone/>
            </a:pPr>
            <a:r>
              <a:rPr lang="en-GB" sz="1200">
                <a:latin typeface="Lexend"/>
                <a:ea typeface="Lexend"/>
                <a:cs typeface="Lexend"/>
                <a:sym typeface="Lexend"/>
              </a:rPr>
              <a:t>                                               by                  °</a:t>
            </a:r>
            <a:endParaRPr sz="1200">
              <a:latin typeface="Lexend"/>
              <a:ea typeface="Lexend"/>
              <a:cs typeface="Lexend"/>
              <a:sym typeface="Lexend"/>
            </a:endParaRPr>
          </a:p>
          <a:p>
            <a:pPr marL="0" lvl="0" indent="0" algn="l" rtl="0">
              <a:lnSpc>
                <a:spcPct val="115000"/>
              </a:lnSpc>
              <a:spcBef>
                <a:spcPts val="1000"/>
              </a:spcBef>
              <a:spcAft>
                <a:spcPts val="1000"/>
              </a:spcAft>
              <a:buNone/>
            </a:pPr>
            <a:r>
              <a:rPr lang="en-GB" sz="1200">
                <a:latin typeface="Lexend"/>
                <a:ea typeface="Lexend"/>
                <a:cs typeface="Lexend"/>
                <a:sym typeface="Lexend"/>
              </a:rPr>
              <a:t>     with a centre of rotation at                   .</a:t>
            </a:r>
            <a:endParaRPr sz="1200">
              <a:latin typeface="Lexend"/>
              <a:ea typeface="Lexend"/>
              <a:cs typeface="Lexend"/>
              <a:sym typeface="Lexend"/>
            </a:endParaRPr>
          </a:p>
        </p:txBody>
      </p:sp>
      <p:pic>
        <p:nvPicPr>
          <p:cNvPr id="206" name="Google Shape;206;p21"/>
          <p:cNvPicPr preferRelativeResize="0"/>
          <p:nvPr/>
        </p:nvPicPr>
        <p:blipFill>
          <a:blip r:embed="rId5">
            <a:alphaModFix/>
          </a:blip>
          <a:stretch>
            <a:fillRect/>
          </a:stretch>
        </p:blipFill>
        <p:spPr>
          <a:xfrm>
            <a:off x="4139675" y="7230428"/>
            <a:ext cx="2325561" cy="2675695"/>
          </a:xfrm>
          <a:prstGeom prst="rect">
            <a:avLst/>
          </a:prstGeom>
          <a:noFill/>
          <a:ln>
            <a:noFill/>
          </a:ln>
        </p:spPr>
      </p:pic>
      <p:sp>
        <p:nvSpPr>
          <p:cNvPr id="207" name="Google Shape;207;p21"/>
          <p:cNvSpPr txBox="1"/>
          <p:nvPr/>
        </p:nvSpPr>
        <p:spPr>
          <a:xfrm>
            <a:off x="6006055" y="9101628"/>
            <a:ext cx="697800" cy="2541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object</a:t>
            </a:r>
            <a:endParaRPr>
              <a:solidFill>
                <a:srgbClr val="FF0000"/>
              </a:solidFill>
              <a:latin typeface="Lexend"/>
              <a:ea typeface="Lexend"/>
              <a:cs typeface="Lexend"/>
              <a:sym typeface="Lexend"/>
            </a:endParaRPr>
          </a:p>
        </p:txBody>
      </p:sp>
      <p:sp>
        <p:nvSpPr>
          <p:cNvPr id="208" name="Google Shape;208;p21"/>
          <p:cNvSpPr txBox="1"/>
          <p:nvPr/>
        </p:nvSpPr>
        <p:spPr>
          <a:xfrm>
            <a:off x="5010081" y="7164149"/>
            <a:ext cx="830400" cy="2541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a:solidFill>
                  <a:srgbClr val="000000"/>
                </a:solidFill>
                <a:latin typeface="Lexend"/>
                <a:ea typeface="Lexend"/>
                <a:cs typeface="Lexend"/>
                <a:sym typeface="Lexend"/>
              </a:rPr>
              <a:t>image</a:t>
            </a:r>
            <a:endParaRPr>
              <a:solidFill>
                <a:srgbClr val="FF0000"/>
              </a:solidFill>
              <a:latin typeface="Lexend"/>
              <a:ea typeface="Lexend"/>
              <a:cs typeface="Lexend"/>
              <a:sym typeface="Lexend"/>
            </a:endParaRPr>
          </a:p>
        </p:txBody>
      </p:sp>
      <p:cxnSp>
        <p:nvCxnSpPr>
          <p:cNvPr id="209" name="Google Shape;209;p21"/>
          <p:cNvCxnSpPr/>
          <p:nvPr/>
        </p:nvCxnSpPr>
        <p:spPr>
          <a:xfrm>
            <a:off x="474750" y="9972000"/>
            <a:ext cx="6610500" cy="0"/>
          </a:xfrm>
          <a:prstGeom prst="straightConnector1">
            <a:avLst/>
          </a:prstGeom>
          <a:noFill/>
          <a:ln w="38100" cap="flat" cmpd="sng">
            <a:solidFill>
              <a:srgbClr val="000000"/>
            </a:solidFill>
            <a:prstDash val="solid"/>
            <a:round/>
            <a:headEnd type="none" w="med" len="med"/>
            <a:tailEnd type="none" w="med" len="med"/>
          </a:ln>
        </p:spPr>
      </p:cxnSp>
      <p:sp>
        <p:nvSpPr>
          <p:cNvPr id="210" name="Google Shape;210;p21"/>
          <p:cNvSpPr txBox="1"/>
          <p:nvPr/>
        </p:nvSpPr>
        <p:spPr>
          <a:xfrm>
            <a:off x="677325" y="8089900"/>
            <a:ext cx="16683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anti-clockwise</a:t>
            </a:r>
            <a:endParaRPr sz="1200">
              <a:solidFill>
                <a:srgbClr val="000000"/>
              </a:solidFill>
              <a:latin typeface="Kalam"/>
              <a:ea typeface="Kalam"/>
              <a:cs typeface="Kalam"/>
              <a:sym typeface="Kalam"/>
            </a:endParaRPr>
          </a:p>
        </p:txBody>
      </p:sp>
      <p:sp>
        <p:nvSpPr>
          <p:cNvPr id="211" name="Google Shape;211;p21"/>
          <p:cNvSpPr txBox="1"/>
          <p:nvPr/>
        </p:nvSpPr>
        <p:spPr>
          <a:xfrm>
            <a:off x="2708725" y="8089900"/>
            <a:ext cx="6780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45</a:t>
            </a:r>
            <a:endParaRPr sz="1200">
              <a:solidFill>
                <a:srgbClr val="000000"/>
              </a:solidFill>
              <a:latin typeface="Kalam"/>
              <a:ea typeface="Kalam"/>
              <a:cs typeface="Kalam"/>
              <a:sym typeface="Kalam"/>
            </a:endParaRPr>
          </a:p>
        </p:txBody>
      </p:sp>
      <p:sp>
        <p:nvSpPr>
          <p:cNvPr id="212" name="Google Shape;212;p21"/>
          <p:cNvSpPr txBox="1"/>
          <p:nvPr/>
        </p:nvSpPr>
        <p:spPr>
          <a:xfrm>
            <a:off x="2708725" y="8399675"/>
            <a:ext cx="7362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(5, 6)</a:t>
            </a:r>
            <a:endParaRPr sz="1200">
              <a:solidFill>
                <a:srgbClr val="000000"/>
              </a:solidFill>
              <a:latin typeface="Kalam"/>
              <a:ea typeface="Kalam"/>
              <a:cs typeface="Kalam"/>
              <a:sym typeface="Kalam"/>
            </a:endParaRPr>
          </a:p>
        </p:txBody>
      </p:sp>
      <p:sp>
        <p:nvSpPr>
          <p:cNvPr id="213" name="Google Shape;213;p21"/>
          <p:cNvSpPr txBox="1"/>
          <p:nvPr/>
        </p:nvSpPr>
        <p:spPr>
          <a:xfrm>
            <a:off x="925200" y="8733525"/>
            <a:ext cx="3000000" cy="12930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200">
                <a:solidFill>
                  <a:schemeClr val="dk1"/>
                </a:solidFill>
                <a:latin typeface="Kalam"/>
                <a:ea typeface="Kalam"/>
                <a:cs typeface="Kalam"/>
                <a:sym typeface="Kalam"/>
              </a:rPr>
              <a:t>Can either be clockwise or anti-clockwise</a:t>
            </a:r>
            <a:endParaRPr sz="1200">
              <a:solidFill>
                <a:schemeClr val="dk1"/>
              </a:solidFill>
              <a:latin typeface="Kalam"/>
              <a:ea typeface="Kalam"/>
              <a:cs typeface="Kalam"/>
              <a:sym typeface="Kalam"/>
            </a:endParaRPr>
          </a:p>
          <a:p>
            <a:pPr marL="0" lvl="0" indent="0" algn="l" rtl="0">
              <a:spcBef>
                <a:spcPct val="0"/>
              </a:spcBef>
              <a:spcAft>
                <a:spcPct val="0"/>
              </a:spcAft>
              <a:buNone/>
            </a:pPr>
            <a:endParaRPr sz="1200">
              <a:solidFill>
                <a:schemeClr val="dk1"/>
              </a:solidFill>
              <a:latin typeface="Kalam"/>
              <a:ea typeface="Kalam"/>
              <a:cs typeface="Kalam"/>
              <a:sym typeface="Kalam"/>
            </a:endParaRPr>
          </a:p>
          <a:p>
            <a:pPr marL="0" lvl="0" indent="0" algn="l" rtl="0">
              <a:spcBef>
                <a:spcPct val="0"/>
              </a:spcBef>
              <a:spcAft>
                <a:spcPct val="0"/>
              </a:spcAft>
              <a:buNone/>
            </a:pPr>
            <a:r>
              <a:rPr lang="en-GB" sz="1200">
                <a:solidFill>
                  <a:schemeClr val="dk1"/>
                </a:solidFill>
                <a:latin typeface="Kalam"/>
                <a:ea typeface="Kalam"/>
                <a:cs typeface="Kalam"/>
                <a:sym typeface="Kalam"/>
              </a:rPr>
              <a:t>Angle must be 45° greater than a multiple of 90°, such as 135° or 215°.</a:t>
            </a:r>
            <a:endParaRPr sz="1200">
              <a:solidFill>
                <a:schemeClr val="dk1"/>
              </a:solidFill>
              <a:latin typeface="Kalam"/>
              <a:ea typeface="Kalam"/>
              <a:cs typeface="Kalam"/>
              <a:sym typeface="Kalam"/>
            </a:endParaRPr>
          </a:p>
          <a:p>
            <a:pPr marL="0" lvl="0" indent="0" algn="l" rtl="0">
              <a:spcBef>
                <a:spcPct val="0"/>
              </a:spcBef>
              <a:spcAft>
                <a:spcPct val="0"/>
              </a:spcAft>
              <a:buNone/>
            </a:pPr>
            <a:endParaRPr sz="1200">
              <a:solidFill>
                <a:schemeClr val="dk1"/>
              </a:solidFill>
              <a:latin typeface="Kalam"/>
              <a:ea typeface="Kalam"/>
              <a:cs typeface="Kalam"/>
              <a:sym typeface="Kalam"/>
            </a:endParaRPr>
          </a:p>
          <a:p>
            <a:pPr marL="0" lvl="0" indent="0" algn="l" rtl="0">
              <a:spcBef>
                <a:spcPct val="0"/>
              </a:spcBef>
              <a:spcAft>
                <a:spcPct val="0"/>
              </a:spcAft>
              <a:buNone/>
            </a:pPr>
            <a:r>
              <a:rPr lang="en-GB" sz="1200" b="1">
                <a:solidFill>
                  <a:schemeClr val="dk1"/>
                </a:solidFill>
                <a:latin typeface="Kalam"/>
                <a:ea typeface="Kalam"/>
                <a:cs typeface="Kalam"/>
                <a:sym typeface="Kalam"/>
              </a:rPr>
              <a:t>Centre of Rotation</a:t>
            </a:r>
            <a:r>
              <a:rPr lang="en-GB" sz="1200">
                <a:solidFill>
                  <a:schemeClr val="dk1"/>
                </a:solidFill>
                <a:latin typeface="Kalam"/>
                <a:ea typeface="Kalam"/>
                <a:cs typeface="Kalam"/>
                <a:sym typeface="Kalam"/>
              </a:rPr>
              <a:t> must be (5, 6).</a:t>
            </a:r>
            <a:endParaRPr sz="1200">
              <a:solidFill>
                <a:schemeClr val="dk1"/>
              </a:solidFill>
              <a:latin typeface="Kalam"/>
              <a:ea typeface="Kalam"/>
              <a:cs typeface="Kalam"/>
              <a:sym typeface="Kalam"/>
            </a:endParaRPr>
          </a:p>
        </p:txBody>
      </p:sp>
      <p:sp>
        <p:nvSpPr>
          <p:cNvPr id="214" name="Google Shape;214;p21"/>
          <p:cNvSpPr txBox="1"/>
          <p:nvPr/>
        </p:nvSpPr>
        <p:spPr>
          <a:xfrm>
            <a:off x="2045525" y="4663950"/>
            <a:ext cx="6780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90</a:t>
            </a:r>
            <a:endParaRPr sz="1200">
              <a:solidFill>
                <a:srgbClr val="000000"/>
              </a:solidFill>
              <a:latin typeface="Kalam"/>
              <a:ea typeface="Kalam"/>
              <a:cs typeface="Kalam"/>
              <a:sym typeface="Kalam"/>
            </a:endParaRPr>
          </a:p>
        </p:txBody>
      </p:sp>
      <p:sp>
        <p:nvSpPr>
          <p:cNvPr id="215" name="Google Shape;215;p21"/>
          <p:cNvSpPr txBox="1"/>
          <p:nvPr/>
        </p:nvSpPr>
        <p:spPr>
          <a:xfrm>
            <a:off x="2708725" y="4973725"/>
            <a:ext cx="7362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(8, 4)</a:t>
            </a:r>
            <a:endParaRPr sz="1200">
              <a:solidFill>
                <a:srgbClr val="000000"/>
              </a:solidFill>
              <a:latin typeface="Kalam"/>
              <a:ea typeface="Kalam"/>
              <a:cs typeface="Kalam"/>
              <a:sym typeface="Kalam"/>
            </a:endParaRPr>
          </a:p>
        </p:txBody>
      </p:sp>
      <p:sp>
        <p:nvSpPr>
          <p:cNvPr id="216" name="Google Shape;216;p21"/>
          <p:cNvSpPr txBox="1"/>
          <p:nvPr/>
        </p:nvSpPr>
        <p:spPr>
          <a:xfrm>
            <a:off x="647650" y="5919150"/>
            <a:ext cx="18105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anti-clockwise</a:t>
            </a:r>
            <a:endParaRPr sz="1200">
              <a:solidFill>
                <a:srgbClr val="000000"/>
              </a:solidFill>
              <a:latin typeface="Kalam"/>
              <a:ea typeface="Kalam"/>
              <a:cs typeface="Kalam"/>
              <a:sym typeface="Kalam"/>
            </a:endParaRPr>
          </a:p>
        </p:txBody>
      </p:sp>
      <p:sp>
        <p:nvSpPr>
          <p:cNvPr id="217" name="Google Shape;217;p21"/>
          <p:cNvSpPr txBox="1"/>
          <p:nvPr/>
        </p:nvSpPr>
        <p:spPr>
          <a:xfrm>
            <a:off x="647650" y="6543363"/>
            <a:ext cx="35505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with a centre of rotation at (8, 4)</a:t>
            </a:r>
            <a:endParaRPr sz="1200">
              <a:solidFill>
                <a:srgbClr val="000000"/>
              </a:solidFill>
              <a:latin typeface="Kalam"/>
              <a:ea typeface="Kalam"/>
              <a:cs typeface="Kalam"/>
              <a:sym typeface="Kalam"/>
            </a:endParaRPr>
          </a:p>
        </p:txBody>
      </p:sp>
      <p:sp>
        <p:nvSpPr>
          <p:cNvPr id="218" name="Google Shape;218;p21"/>
          <p:cNvSpPr txBox="1"/>
          <p:nvPr/>
        </p:nvSpPr>
        <p:spPr>
          <a:xfrm>
            <a:off x="647650" y="6231256"/>
            <a:ext cx="18105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270°</a:t>
            </a:r>
            <a:endParaRPr sz="1200">
              <a:solidFill>
                <a:srgbClr val="000000"/>
              </a:solidFill>
              <a:latin typeface="Kalam"/>
              <a:ea typeface="Kalam"/>
              <a:cs typeface="Kalam"/>
              <a:sym typeface="Kalam"/>
            </a:endParaRPr>
          </a:p>
        </p:txBody>
      </p:sp>
      <p:sp>
        <p:nvSpPr>
          <p:cNvPr id="219" name="Google Shape;219;p21"/>
          <p:cNvSpPr txBox="1"/>
          <p:nvPr/>
        </p:nvSpPr>
        <p:spPr>
          <a:xfrm>
            <a:off x="2045525" y="1425453"/>
            <a:ext cx="6780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solidFill>
                  <a:schemeClr val="dk1"/>
                </a:solidFill>
                <a:latin typeface="Kalam"/>
                <a:ea typeface="Kalam"/>
                <a:cs typeface="Kalam"/>
                <a:sym typeface="Kalam"/>
              </a:rPr>
              <a:t>180</a:t>
            </a:r>
            <a:endParaRPr sz="1200">
              <a:latin typeface="Kalam"/>
              <a:ea typeface="Kalam"/>
              <a:cs typeface="Kalam"/>
              <a:sym typeface="Kalam"/>
            </a:endParaRPr>
          </a:p>
        </p:txBody>
      </p:sp>
      <p:sp>
        <p:nvSpPr>
          <p:cNvPr id="220" name="Google Shape;220;p21"/>
          <p:cNvSpPr txBox="1"/>
          <p:nvPr/>
        </p:nvSpPr>
        <p:spPr>
          <a:xfrm>
            <a:off x="2708725" y="1735228"/>
            <a:ext cx="7362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(8, 6)</a:t>
            </a:r>
            <a:endParaRPr sz="1200">
              <a:solidFill>
                <a:srgbClr val="000000"/>
              </a:solidFill>
              <a:latin typeface="Kalam"/>
              <a:ea typeface="Kalam"/>
              <a:cs typeface="Kalam"/>
              <a:sym typeface="Kalam"/>
            </a:endParaRPr>
          </a:p>
        </p:txBody>
      </p:sp>
      <p:sp>
        <p:nvSpPr>
          <p:cNvPr id="221" name="Google Shape;221;p21"/>
          <p:cNvSpPr txBox="1"/>
          <p:nvPr/>
        </p:nvSpPr>
        <p:spPr>
          <a:xfrm>
            <a:off x="2385603" y="2765711"/>
            <a:ext cx="6780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None/>
            </a:pPr>
            <a:r>
              <a:rPr lang="en-GB" sz="1200">
                <a:latin typeface="Kalam"/>
                <a:ea typeface="Kalam"/>
                <a:cs typeface="Kalam"/>
                <a:sym typeface="Kalam"/>
              </a:rPr>
              <a:t>180</a:t>
            </a:r>
            <a:endParaRPr sz="1200">
              <a:solidFill>
                <a:srgbClr val="000000"/>
              </a:solidFill>
              <a:latin typeface="Kalam"/>
              <a:ea typeface="Kalam"/>
              <a:cs typeface="Kalam"/>
              <a:sym typeface="Kalam"/>
            </a:endParaRPr>
          </a:p>
        </p:txBody>
      </p:sp>
      <p:sp>
        <p:nvSpPr>
          <p:cNvPr id="222" name="Google Shape;222;p21"/>
          <p:cNvSpPr txBox="1"/>
          <p:nvPr/>
        </p:nvSpPr>
        <p:spPr>
          <a:xfrm>
            <a:off x="2708725" y="3075486"/>
            <a:ext cx="736200" cy="337200"/>
          </a:xfrm>
          <a:prstGeom prst="rect">
            <a:avLst/>
          </a:prstGeom>
          <a:noFill/>
          <a:ln>
            <a:noFill/>
          </a:ln>
        </p:spPr>
        <p:txBody>
          <a:bodyPr spcFirstLastPara="1" wrap="square" lIns="0" tIns="0" rIns="0" bIns="0" anchor="b" anchorCtr="0">
            <a:noAutofit/>
          </a:bodyPr>
          <a:lstStyle/>
          <a:p>
            <a:pPr marL="0" lvl="0" indent="0" algn="ctr" rtl="0">
              <a:spcBef>
                <a:spcPct val="0"/>
              </a:spcBef>
              <a:spcAft>
                <a:spcPct val="0"/>
              </a:spcAft>
              <a:buClr>
                <a:schemeClr val="dk1"/>
              </a:buClr>
              <a:buSzPts val="1100"/>
              <a:buFont typeface="Arial"/>
              <a:buNone/>
            </a:pPr>
            <a:r>
              <a:rPr lang="en-GB" sz="1200">
                <a:solidFill>
                  <a:schemeClr val="dk1"/>
                </a:solidFill>
                <a:latin typeface="Kalam"/>
                <a:ea typeface="Kalam"/>
                <a:cs typeface="Kalam"/>
                <a:sym typeface="Kalam"/>
              </a:rPr>
              <a:t>(8, 6)</a:t>
            </a:r>
            <a:endParaRPr sz="1200">
              <a:solidFill>
                <a:srgbClr val="000000"/>
              </a:solidFill>
              <a:latin typeface="Kalam"/>
              <a:ea typeface="Kalam"/>
              <a:cs typeface="Kalam"/>
              <a:sym typeface="Kalam"/>
            </a:endParaRPr>
          </a:p>
        </p:txBody>
      </p:sp>
      <p:sp>
        <p:nvSpPr>
          <p:cNvPr id="223" name="Google Shape;223;p21"/>
          <p:cNvSpPr txBox="1"/>
          <p:nvPr/>
        </p:nvSpPr>
        <p:spPr>
          <a:xfrm>
            <a:off x="2113850" y="2089080"/>
            <a:ext cx="1759800" cy="2541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808080"/>
                </a:solidFill>
                <a:latin typeface="Kalam"/>
                <a:ea typeface="Kalam"/>
                <a:cs typeface="Kalam"/>
                <a:sym typeface="Kalam"/>
              </a:rPr>
              <a:t>Or (180 + 360n)°</a:t>
            </a:r>
            <a:endParaRPr sz="1200">
              <a:solidFill>
                <a:srgbClr val="808080"/>
              </a:solidFill>
              <a:latin typeface="Kalam"/>
              <a:ea typeface="Kalam"/>
              <a:cs typeface="Kalam"/>
              <a:sym typeface="Kalam"/>
            </a:endParaRPr>
          </a:p>
        </p:txBody>
      </p:sp>
      <p:sp>
        <p:nvSpPr>
          <p:cNvPr id="224" name="Google Shape;224;p21"/>
          <p:cNvSpPr txBox="1"/>
          <p:nvPr/>
        </p:nvSpPr>
        <p:spPr>
          <a:xfrm>
            <a:off x="2113850" y="3428346"/>
            <a:ext cx="1759800" cy="2541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808080"/>
                </a:solidFill>
                <a:latin typeface="Kalam"/>
                <a:ea typeface="Kalam"/>
                <a:cs typeface="Kalam"/>
                <a:sym typeface="Kalam"/>
              </a:rPr>
              <a:t>Or (180 + 360n)°</a:t>
            </a:r>
            <a:endParaRPr sz="1200">
              <a:solidFill>
                <a:srgbClr val="808080"/>
              </a:solidFill>
              <a:latin typeface="Kalam"/>
              <a:ea typeface="Kalam"/>
              <a:cs typeface="Kalam"/>
              <a:sym typeface="Kalam"/>
            </a:endParaRPr>
          </a:p>
        </p:txBody>
      </p:sp>
      <p:sp>
        <p:nvSpPr>
          <p:cNvPr id="225" name="Google Shape;225;p2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2</a:t>
            </a:fld>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29" name="Shape 229"/>
        <p:cNvGrpSpPr/>
        <p:nvPr/>
      </p:nvGrpSpPr>
      <p:grpSpPr>
        <a:xfrm>
          <a:off x="0" y="0"/>
          <a:ext cx="0" cy="0"/>
        </a:xfrm>
      </p:grpSpPr>
      <p:sp>
        <p:nvSpPr>
          <p:cNvPr id="230" name="Google Shape;230;p22"/>
          <p:cNvSpPr txBox="1"/>
          <p:nvPr/>
        </p:nvSpPr>
        <p:spPr>
          <a:xfrm>
            <a:off x="468000" y="720000"/>
            <a:ext cx="6624000" cy="3372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b="1">
                <a:latin typeface="Lexend"/>
                <a:ea typeface="Lexend"/>
                <a:cs typeface="Lexend"/>
                <a:sym typeface="Lexend"/>
              </a:rPr>
              <a:t>Task B: Finding the centre of rotation for 180° rotations</a:t>
            </a:r>
            <a:endParaRPr b="1">
              <a:latin typeface="Lexend"/>
              <a:ea typeface="Lexend"/>
              <a:cs typeface="Lexend"/>
              <a:sym typeface="Lexend"/>
            </a:endParaRPr>
          </a:p>
        </p:txBody>
      </p:sp>
      <p:sp>
        <p:nvSpPr>
          <p:cNvPr id="231" name="Google Shape;231;p22"/>
          <p:cNvSpPr txBox="1"/>
          <p:nvPr>
            <p:ph type="subTitle" idx="1"/>
          </p:nvPr>
        </p:nvSpPr>
        <p:spPr>
          <a:xfrm>
            <a:off x="1463400" y="360000"/>
            <a:ext cx="4782600" cy="1386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Understanding the centre of rotation</a:t>
            </a:r>
            <a:endParaRPr/>
          </a:p>
        </p:txBody>
      </p:sp>
      <p:sp>
        <p:nvSpPr>
          <p:cNvPr id="232" name="Google Shape;232;p22"/>
          <p:cNvSpPr txBox="1"/>
          <p:nvPr/>
        </p:nvSpPr>
        <p:spPr>
          <a:xfrm>
            <a:off x="468000" y="967369"/>
            <a:ext cx="6624000" cy="181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 Below are two rotations where an object and its image have two pairs of corresponding vertices labelled. By connecting these corresponding vertices with line segments, find the centre of rotation of each object.</a:t>
            </a:r>
            <a:endParaRPr sz="1200">
              <a:solidFill>
                <a:srgbClr val="000000"/>
              </a:solidFill>
              <a:latin typeface="Lexend"/>
              <a:ea typeface="Lexend"/>
              <a:cs typeface="Lexend"/>
              <a:sym typeface="Lexend"/>
            </a:endParaRPr>
          </a:p>
        </p:txBody>
      </p:sp>
      <p:pic>
        <p:nvPicPr>
          <p:cNvPr id="233" name="Google Shape;233;p22"/>
          <p:cNvPicPr preferRelativeResize="0"/>
          <p:nvPr/>
        </p:nvPicPr>
        <p:blipFill>
          <a:blip r:embed="rId3">
            <a:alphaModFix/>
          </a:blip>
          <a:stretch>
            <a:fillRect/>
          </a:stretch>
        </p:blipFill>
        <p:spPr>
          <a:xfrm>
            <a:off x="468038" y="1652957"/>
            <a:ext cx="6623921" cy="3138690"/>
          </a:xfrm>
          <a:prstGeom prst="rect">
            <a:avLst/>
          </a:prstGeom>
          <a:noFill/>
          <a:ln>
            <a:noFill/>
          </a:ln>
        </p:spPr>
      </p:pic>
      <p:sp>
        <p:nvSpPr>
          <p:cNvPr id="234" name="Google Shape;234;p22"/>
          <p:cNvSpPr txBox="1"/>
          <p:nvPr/>
        </p:nvSpPr>
        <p:spPr>
          <a:xfrm>
            <a:off x="758247" y="2214330"/>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A</a:t>
            </a:r>
            <a:endParaRPr>
              <a:solidFill>
                <a:srgbClr val="000000"/>
              </a:solidFill>
              <a:latin typeface="Lexend"/>
              <a:ea typeface="Lexend"/>
              <a:cs typeface="Lexend"/>
              <a:sym typeface="Lexend"/>
            </a:endParaRPr>
          </a:p>
        </p:txBody>
      </p:sp>
      <p:sp>
        <p:nvSpPr>
          <p:cNvPr id="235" name="Google Shape;235;p22"/>
          <p:cNvSpPr txBox="1"/>
          <p:nvPr/>
        </p:nvSpPr>
        <p:spPr>
          <a:xfrm>
            <a:off x="3713827" y="3192467"/>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A′ </a:t>
            </a:r>
            <a:endParaRPr>
              <a:solidFill>
                <a:srgbClr val="000000"/>
              </a:solidFill>
              <a:latin typeface="Lexend"/>
              <a:ea typeface="Lexend"/>
              <a:cs typeface="Lexend"/>
              <a:sym typeface="Lexend"/>
            </a:endParaRPr>
          </a:p>
        </p:txBody>
      </p:sp>
      <p:sp>
        <p:nvSpPr>
          <p:cNvPr id="236" name="Google Shape;236;p22"/>
          <p:cNvSpPr txBox="1"/>
          <p:nvPr/>
        </p:nvSpPr>
        <p:spPr>
          <a:xfrm>
            <a:off x="1942049" y="3444386"/>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B′ </a:t>
            </a:r>
            <a:endParaRPr>
              <a:solidFill>
                <a:srgbClr val="000000"/>
              </a:solidFill>
              <a:latin typeface="Lexend"/>
              <a:ea typeface="Lexend"/>
              <a:cs typeface="Lexend"/>
              <a:sym typeface="Lexend"/>
            </a:endParaRPr>
          </a:p>
        </p:txBody>
      </p:sp>
      <p:sp>
        <p:nvSpPr>
          <p:cNvPr id="237" name="Google Shape;237;p22"/>
          <p:cNvSpPr txBox="1"/>
          <p:nvPr/>
        </p:nvSpPr>
        <p:spPr>
          <a:xfrm>
            <a:off x="2568549" y="2038897"/>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B</a:t>
            </a:r>
            <a:endParaRPr>
              <a:solidFill>
                <a:srgbClr val="000000"/>
              </a:solidFill>
              <a:latin typeface="Lexend"/>
              <a:ea typeface="Lexend"/>
              <a:cs typeface="Lexend"/>
              <a:sym typeface="Lexend"/>
            </a:endParaRPr>
          </a:p>
        </p:txBody>
      </p:sp>
      <p:sp>
        <p:nvSpPr>
          <p:cNvPr id="238" name="Google Shape;238;p22"/>
          <p:cNvSpPr txBox="1"/>
          <p:nvPr/>
        </p:nvSpPr>
        <p:spPr>
          <a:xfrm>
            <a:off x="5791319" y="2149679"/>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C</a:t>
            </a:r>
            <a:endParaRPr>
              <a:solidFill>
                <a:srgbClr val="000000"/>
              </a:solidFill>
              <a:latin typeface="Lexend"/>
              <a:ea typeface="Lexend"/>
              <a:cs typeface="Lexend"/>
              <a:sym typeface="Lexend"/>
            </a:endParaRPr>
          </a:p>
        </p:txBody>
      </p:sp>
      <p:sp>
        <p:nvSpPr>
          <p:cNvPr id="239" name="Google Shape;239;p22"/>
          <p:cNvSpPr txBox="1"/>
          <p:nvPr/>
        </p:nvSpPr>
        <p:spPr>
          <a:xfrm>
            <a:off x="6784813" y="3180726"/>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D</a:t>
            </a:r>
            <a:endParaRPr>
              <a:solidFill>
                <a:srgbClr val="000000"/>
              </a:solidFill>
              <a:latin typeface="Lexend"/>
              <a:ea typeface="Lexend"/>
              <a:cs typeface="Lexend"/>
              <a:sym typeface="Lexend"/>
            </a:endParaRPr>
          </a:p>
        </p:txBody>
      </p:sp>
      <p:sp>
        <p:nvSpPr>
          <p:cNvPr id="240" name="Google Shape;240;p22"/>
          <p:cNvSpPr txBox="1"/>
          <p:nvPr/>
        </p:nvSpPr>
        <p:spPr>
          <a:xfrm>
            <a:off x="3982899" y="2925060"/>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D′ </a:t>
            </a:r>
            <a:endParaRPr>
              <a:solidFill>
                <a:srgbClr val="000000"/>
              </a:solidFill>
              <a:latin typeface="Lexend"/>
              <a:ea typeface="Lexend"/>
              <a:cs typeface="Lexend"/>
              <a:sym typeface="Lexend"/>
            </a:endParaRPr>
          </a:p>
        </p:txBody>
      </p:sp>
      <p:sp>
        <p:nvSpPr>
          <p:cNvPr id="241" name="Google Shape;241;p22"/>
          <p:cNvSpPr txBox="1"/>
          <p:nvPr/>
        </p:nvSpPr>
        <p:spPr>
          <a:xfrm>
            <a:off x="4975767" y="4040112"/>
            <a:ext cx="307200" cy="1815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C′ </a:t>
            </a:r>
            <a:endParaRPr>
              <a:solidFill>
                <a:srgbClr val="000000"/>
              </a:solidFill>
              <a:latin typeface="Lexend"/>
              <a:ea typeface="Lexend"/>
              <a:cs typeface="Lexend"/>
              <a:sym typeface="Lexend"/>
            </a:endParaRPr>
          </a:p>
        </p:txBody>
      </p:sp>
      <p:sp>
        <p:nvSpPr>
          <p:cNvPr id="242" name="Google Shape;242;p22"/>
          <p:cNvSpPr txBox="1"/>
          <p:nvPr/>
        </p:nvSpPr>
        <p:spPr>
          <a:xfrm>
            <a:off x="468000" y="5278726"/>
            <a:ext cx="6624000" cy="181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2) By connecting corresponding points on the object and image, find the centre of rotation for these rotations.</a:t>
            </a:r>
            <a:endParaRPr sz="1200">
              <a:latin typeface="Lexend"/>
              <a:ea typeface="Lexend"/>
              <a:cs typeface="Lexend"/>
              <a:sym typeface="Lexend"/>
            </a:endParaRPr>
          </a:p>
        </p:txBody>
      </p:sp>
      <p:pic>
        <p:nvPicPr>
          <p:cNvPr id="243" name="Google Shape;243;p22"/>
          <p:cNvPicPr preferRelativeResize="0"/>
          <p:nvPr/>
        </p:nvPicPr>
        <p:blipFill>
          <a:blip r:embed="rId4">
            <a:alphaModFix/>
          </a:blip>
          <a:stretch>
            <a:fillRect/>
          </a:stretch>
        </p:blipFill>
        <p:spPr>
          <a:xfrm>
            <a:off x="468000" y="5764626"/>
            <a:ext cx="6624001" cy="2423055"/>
          </a:xfrm>
          <a:prstGeom prst="rect">
            <a:avLst/>
          </a:prstGeom>
          <a:noFill/>
          <a:ln>
            <a:noFill/>
          </a:ln>
        </p:spPr>
      </p:pic>
      <p:sp>
        <p:nvSpPr>
          <p:cNvPr id="244" name="Google Shape;244;p22"/>
          <p:cNvSpPr txBox="1"/>
          <p:nvPr/>
        </p:nvSpPr>
        <p:spPr>
          <a:xfrm>
            <a:off x="468000" y="8660326"/>
            <a:ext cx="6624000" cy="181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latin typeface="Lexend"/>
                <a:ea typeface="Lexend"/>
                <a:cs typeface="Lexend"/>
                <a:sym typeface="Lexend"/>
              </a:rPr>
              <a:t>3) Complete the sentence below:</a:t>
            </a:r>
            <a:endParaRPr sz="1200">
              <a:latin typeface="Lexend"/>
              <a:ea typeface="Lexend"/>
              <a:cs typeface="Lexend"/>
              <a:sym typeface="Lexend"/>
            </a:endParaRPr>
          </a:p>
          <a:p>
            <a:pPr marL="0" lvl="0" indent="0" algn="l" rtl="0">
              <a:lnSpc>
                <a:spcPct val="115000"/>
              </a:lnSpc>
              <a:spcBef>
                <a:spcPts val="1000"/>
              </a:spcBef>
              <a:spcAft>
                <a:spcPts val="1000"/>
              </a:spcAft>
              <a:buNone/>
            </a:pPr>
            <a:r>
              <a:rPr lang="en-GB" sz="1200">
                <a:latin typeface="Lexend"/>
                <a:ea typeface="Lexend"/>
                <a:cs typeface="Lexend"/>
                <a:sym typeface="Lexend"/>
              </a:rPr>
              <a:t>“To find the centre of rotation by connecting corresponding points, the image must have been rotated by                        °.”</a:t>
            </a:r>
            <a:endParaRPr sz="1200">
              <a:latin typeface="Lexend"/>
              <a:ea typeface="Lexend"/>
              <a:cs typeface="Lexend"/>
              <a:sym typeface="Lexend"/>
            </a:endParaRPr>
          </a:p>
        </p:txBody>
      </p:sp>
      <p:sp>
        <p:nvSpPr>
          <p:cNvPr id="245" name="Google Shape;245;p22"/>
          <p:cNvSpPr txBox="1"/>
          <p:nvPr/>
        </p:nvSpPr>
        <p:spPr>
          <a:xfrm>
            <a:off x="1694679" y="9201225"/>
            <a:ext cx="937500" cy="1812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sz="1200">
                <a:latin typeface="Kalam"/>
                <a:ea typeface="Kalam"/>
                <a:cs typeface="Kalam"/>
                <a:sym typeface="Kalam"/>
              </a:rPr>
              <a:t>180</a:t>
            </a:r>
            <a:endParaRPr sz="1200">
              <a:solidFill>
                <a:srgbClr val="000000"/>
              </a:solidFill>
              <a:latin typeface="Kalam"/>
              <a:ea typeface="Kalam"/>
              <a:cs typeface="Kalam"/>
              <a:sym typeface="Kalam"/>
            </a:endParaRPr>
          </a:p>
        </p:txBody>
      </p:sp>
      <p:pic>
        <p:nvPicPr>
          <p:cNvPr id="246" name="Google Shape;246;p22"/>
          <p:cNvPicPr preferRelativeResize="0"/>
          <p:nvPr/>
        </p:nvPicPr>
        <p:blipFill>
          <a:blip r:embed="rId4">
            <a:alphaModFix/>
          </a:blip>
          <a:stretch>
            <a:fillRect/>
          </a:stretch>
        </p:blipFill>
        <p:spPr>
          <a:xfrm>
            <a:off x="468050" y="5752668"/>
            <a:ext cx="6623978" cy="2423050"/>
          </a:xfrm>
          <a:prstGeom prst="rect">
            <a:avLst/>
          </a:prstGeom>
          <a:noFill/>
          <a:ln>
            <a:noFill/>
          </a:ln>
        </p:spPr>
      </p:pic>
      <p:cxnSp>
        <p:nvCxnSpPr>
          <p:cNvPr id="247" name="Google Shape;247;p22"/>
          <p:cNvCxnSpPr/>
          <p:nvPr/>
        </p:nvCxnSpPr>
        <p:spPr>
          <a:xfrm>
            <a:off x="1088941" y="6563426"/>
            <a:ext cx="469200" cy="945300"/>
          </a:xfrm>
          <a:prstGeom prst="straightConnector1">
            <a:avLst/>
          </a:prstGeom>
          <a:noFill/>
          <a:ln w="38100" cap="flat" cmpd="sng">
            <a:solidFill>
              <a:srgbClr val="000000"/>
            </a:solidFill>
            <a:prstDash val="lgDash"/>
            <a:round/>
            <a:headEnd type="none" w="med" len="med"/>
            <a:tailEnd type="none" w="med" len="med"/>
          </a:ln>
        </p:spPr>
      </p:cxnSp>
      <p:cxnSp>
        <p:nvCxnSpPr>
          <p:cNvPr id="248" name="Google Shape;248;p22"/>
          <p:cNvCxnSpPr/>
          <p:nvPr/>
        </p:nvCxnSpPr>
        <p:spPr>
          <a:xfrm flipH="1">
            <a:off x="1088861" y="6563426"/>
            <a:ext cx="469200" cy="945300"/>
          </a:xfrm>
          <a:prstGeom prst="straightConnector1">
            <a:avLst/>
          </a:prstGeom>
          <a:noFill/>
          <a:ln w="38100" cap="flat" cmpd="sng">
            <a:solidFill>
              <a:srgbClr val="000000"/>
            </a:solidFill>
            <a:prstDash val="lgDash"/>
            <a:round/>
            <a:headEnd type="none" w="med" len="med"/>
            <a:tailEnd type="none" w="med" len="med"/>
          </a:ln>
        </p:spPr>
      </p:cxnSp>
      <p:cxnSp>
        <p:nvCxnSpPr>
          <p:cNvPr id="249" name="Google Shape;249;p22"/>
          <p:cNvCxnSpPr/>
          <p:nvPr/>
        </p:nvCxnSpPr>
        <p:spPr>
          <a:xfrm rot="10800000">
            <a:off x="2969166" y="6564954"/>
            <a:ext cx="1404000" cy="471600"/>
          </a:xfrm>
          <a:prstGeom prst="straightConnector1">
            <a:avLst/>
          </a:prstGeom>
          <a:noFill/>
          <a:ln w="38100" cap="flat" cmpd="sng">
            <a:solidFill>
              <a:srgbClr val="000000"/>
            </a:solidFill>
            <a:prstDash val="lgDash"/>
            <a:round/>
            <a:headEnd type="none" w="med" len="med"/>
            <a:tailEnd type="none" w="med" len="med"/>
          </a:ln>
        </p:spPr>
      </p:cxnSp>
      <p:cxnSp>
        <p:nvCxnSpPr>
          <p:cNvPr id="250" name="Google Shape;250;p22"/>
          <p:cNvCxnSpPr/>
          <p:nvPr/>
        </p:nvCxnSpPr>
        <p:spPr>
          <a:xfrm flipH="1">
            <a:off x="2970370" y="5860723"/>
            <a:ext cx="1410000" cy="1883700"/>
          </a:xfrm>
          <a:prstGeom prst="straightConnector1">
            <a:avLst/>
          </a:prstGeom>
          <a:noFill/>
          <a:ln w="38100" cap="flat" cmpd="sng">
            <a:solidFill>
              <a:srgbClr val="000000"/>
            </a:solidFill>
            <a:prstDash val="lgDash"/>
            <a:round/>
            <a:headEnd type="none" w="med" len="med"/>
            <a:tailEnd type="none" w="med" len="med"/>
          </a:ln>
        </p:spPr>
      </p:cxnSp>
      <p:cxnSp>
        <p:nvCxnSpPr>
          <p:cNvPr id="251" name="Google Shape;251;p22"/>
          <p:cNvCxnSpPr/>
          <p:nvPr/>
        </p:nvCxnSpPr>
        <p:spPr>
          <a:xfrm flipH="1">
            <a:off x="4617143" y="6571202"/>
            <a:ext cx="2346300" cy="930900"/>
          </a:xfrm>
          <a:prstGeom prst="straightConnector1">
            <a:avLst/>
          </a:prstGeom>
          <a:noFill/>
          <a:ln w="38100" cap="flat" cmpd="sng">
            <a:solidFill>
              <a:srgbClr val="000000"/>
            </a:solidFill>
            <a:prstDash val="lgDash"/>
            <a:round/>
            <a:headEnd type="none" w="med" len="med"/>
            <a:tailEnd type="none" w="med" len="med"/>
          </a:ln>
        </p:spPr>
      </p:cxnSp>
      <p:cxnSp>
        <p:nvCxnSpPr>
          <p:cNvPr id="252" name="Google Shape;252;p22"/>
          <p:cNvCxnSpPr/>
          <p:nvPr/>
        </p:nvCxnSpPr>
        <p:spPr>
          <a:xfrm flipH="1">
            <a:off x="5558858" y="6565692"/>
            <a:ext cx="468300" cy="942000"/>
          </a:xfrm>
          <a:prstGeom prst="straightConnector1">
            <a:avLst/>
          </a:prstGeom>
          <a:noFill/>
          <a:ln w="38100" cap="flat" cmpd="sng">
            <a:solidFill>
              <a:srgbClr val="000000"/>
            </a:solidFill>
            <a:prstDash val="lgDash"/>
            <a:round/>
            <a:headEnd type="none" w="med" len="med"/>
            <a:tailEnd type="none" w="med" len="med"/>
          </a:ln>
        </p:spPr>
      </p:cxnSp>
      <p:sp>
        <p:nvSpPr>
          <p:cNvPr id="253" name="Google Shape;253;p22"/>
          <p:cNvSpPr txBox="1"/>
          <p:nvPr/>
        </p:nvSpPr>
        <p:spPr>
          <a:xfrm>
            <a:off x="905805" y="6190071"/>
            <a:ext cx="835500" cy="3216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a:latin typeface="Kalam"/>
                <a:ea typeface="Kalam"/>
                <a:cs typeface="Kalam"/>
                <a:sym typeface="Kalam"/>
              </a:rPr>
              <a:t>(3, 4)</a:t>
            </a:r>
            <a:endParaRPr sz="1800">
              <a:solidFill>
                <a:srgbClr val="000000"/>
              </a:solidFill>
              <a:latin typeface="Kalam"/>
              <a:ea typeface="Kalam"/>
              <a:cs typeface="Kalam"/>
              <a:sym typeface="Kalam"/>
            </a:endParaRPr>
          </a:p>
        </p:txBody>
      </p:sp>
      <p:sp>
        <p:nvSpPr>
          <p:cNvPr id="254" name="Google Shape;254;p22"/>
          <p:cNvSpPr txBox="1"/>
          <p:nvPr/>
        </p:nvSpPr>
        <p:spPr>
          <a:xfrm>
            <a:off x="3441556" y="7109398"/>
            <a:ext cx="835500" cy="3216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a:latin typeface="Kalam"/>
                <a:ea typeface="Kalam"/>
                <a:cs typeface="Kalam"/>
                <a:sym typeface="Kalam"/>
              </a:rPr>
              <a:t>(13, 5)</a:t>
            </a:r>
            <a:endParaRPr sz="1800">
              <a:solidFill>
                <a:srgbClr val="000000"/>
              </a:solidFill>
              <a:latin typeface="Kalam"/>
              <a:ea typeface="Kalam"/>
              <a:cs typeface="Kalam"/>
              <a:sym typeface="Kalam"/>
            </a:endParaRPr>
          </a:p>
        </p:txBody>
      </p:sp>
      <p:sp>
        <p:nvSpPr>
          <p:cNvPr id="255" name="Google Shape;255;p22"/>
          <p:cNvSpPr txBox="1"/>
          <p:nvPr/>
        </p:nvSpPr>
        <p:spPr>
          <a:xfrm>
            <a:off x="5940647" y="7109398"/>
            <a:ext cx="835500" cy="321600"/>
          </a:xfrm>
          <a:prstGeom prst="rect">
            <a:avLst/>
          </a:prstGeom>
          <a:solidFill>
            <a:srgbClr val="FFFFFF"/>
          </a:solid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a:latin typeface="Kalam"/>
                <a:ea typeface="Kalam"/>
                <a:cs typeface="Kalam"/>
                <a:sym typeface="Kalam"/>
              </a:rPr>
              <a:t>(22, 4)</a:t>
            </a:r>
            <a:endParaRPr sz="1800">
              <a:solidFill>
                <a:srgbClr val="000000"/>
              </a:solidFill>
              <a:latin typeface="Kalam"/>
              <a:ea typeface="Kalam"/>
              <a:cs typeface="Kalam"/>
              <a:sym typeface="Kalam"/>
            </a:endParaRPr>
          </a:p>
        </p:txBody>
      </p:sp>
      <p:pic>
        <p:nvPicPr>
          <p:cNvPr id="256" name="Google Shape;256;p22"/>
          <p:cNvPicPr preferRelativeResize="0"/>
          <p:nvPr/>
        </p:nvPicPr>
        <p:blipFill>
          <a:blip r:embed="rId5">
            <a:alphaModFix/>
          </a:blip>
          <a:stretch>
            <a:fillRect/>
          </a:stretch>
        </p:blipFill>
        <p:spPr>
          <a:xfrm>
            <a:off x="470725" y="1652950"/>
            <a:ext cx="6618625" cy="3152650"/>
          </a:xfrm>
          <a:prstGeom prst="rect">
            <a:avLst/>
          </a:prstGeom>
          <a:noFill/>
          <a:ln>
            <a:noFill/>
          </a:ln>
        </p:spPr>
      </p:pic>
      <p:sp>
        <p:nvSpPr>
          <p:cNvPr id="257" name="Google Shape;257;p22"/>
          <p:cNvSpPr txBox="1"/>
          <p:nvPr/>
        </p:nvSpPr>
        <p:spPr>
          <a:xfrm>
            <a:off x="760702" y="2213875"/>
            <a:ext cx="306900" cy="1812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sz="1800">
                <a:solidFill>
                  <a:srgbClr val="000000"/>
                </a:solidFill>
                <a:latin typeface="Lexend"/>
                <a:ea typeface="Lexend"/>
                <a:cs typeface="Lexend"/>
                <a:sym typeface="Lexend"/>
              </a:rPr>
              <a:t>A</a:t>
            </a:r>
            <a:endParaRPr sz="1800">
              <a:solidFill>
                <a:srgbClr val="000000"/>
              </a:solidFill>
              <a:latin typeface="Lexend"/>
              <a:ea typeface="Lexend"/>
              <a:cs typeface="Lexend"/>
              <a:sym typeface="Lexend"/>
            </a:endParaRPr>
          </a:p>
        </p:txBody>
      </p:sp>
      <p:sp>
        <p:nvSpPr>
          <p:cNvPr id="258" name="Google Shape;258;p22"/>
          <p:cNvSpPr txBox="1"/>
          <p:nvPr/>
        </p:nvSpPr>
        <p:spPr>
          <a:xfrm>
            <a:off x="3675877" y="3229275"/>
            <a:ext cx="306900" cy="1812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sz="1800">
                <a:solidFill>
                  <a:srgbClr val="000000"/>
                </a:solidFill>
                <a:latin typeface="Lexend"/>
                <a:ea typeface="Lexend"/>
                <a:cs typeface="Lexend"/>
                <a:sym typeface="Lexend"/>
              </a:rPr>
              <a:t>A′ </a:t>
            </a:r>
            <a:endParaRPr sz="1800">
              <a:solidFill>
                <a:srgbClr val="000000"/>
              </a:solidFill>
              <a:latin typeface="Lexend"/>
              <a:ea typeface="Lexend"/>
              <a:cs typeface="Lexend"/>
              <a:sym typeface="Lexend"/>
            </a:endParaRPr>
          </a:p>
        </p:txBody>
      </p:sp>
      <p:sp>
        <p:nvSpPr>
          <p:cNvPr id="259" name="Google Shape;259;p22"/>
          <p:cNvSpPr txBox="1"/>
          <p:nvPr/>
        </p:nvSpPr>
        <p:spPr>
          <a:xfrm>
            <a:off x="1996977" y="3534525"/>
            <a:ext cx="306900" cy="1812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sz="1800">
                <a:solidFill>
                  <a:srgbClr val="000000"/>
                </a:solidFill>
                <a:latin typeface="Lexend"/>
                <a:ea typeface="Lexend"/>
                <a:cs typeface="Lexend"/>
                <a:sym typeface="Lexend"/>
              </a:rPr>
              <a:t>B′ </a:t>
            </a:r>
            <a:endParaRPr sz="1800">
              <a:solidFill>
                <a:srgbClr val="000000"/>
              </a:solidFill>
              <a:latin typeface="Lexend"/>
              <a:ea typeface="Lexend"/>
              <a:cs typeface="Lexend"/>
              <a:sym typeface="Lexend"/>
            </a:endParaRPr>
          </a:p>
        </p:txBody>
      </p:sp>
      <p:sp>
        <p:nvSpPr>
          <p:cNvPr id="260" name="Google Shape;260;p22"/>
          <p:cNvSpPr txBox="1"/>
          <p:nvPr/>
        </p:nvSpPr>
        <p:spPr>
          <a:xfrm>
            <a:off x="2569558" y="2038581"/>
            <a:ext cx="306900" cy="1812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sz="1800">
                <a:solidFill>
                  <a:srgbClr val="000000"/>
                </a:solidFill>
                <a:latin typeface="Lexend"/>
                <a:ea typeface="Lexend"/>
                <a:cs typeface="Lexend"/>
                <a:sym typeface="Lexend"/>
              </a:rPr>
              <a:t>B</a:t>
            </a:r>
            <a:endParaRPr sz="1800">
              <a:solidFill>
                <a:srgbClr val="000000"/>
              </a:solidFill>
              <a:latin typeface="Lexend"/>
              <a:ea typeface="Lexend"/>
              <a:cs typeface="Lexend"/>
              <a:sym typeface="Lexend"/>
            </a:endParaRPr>
          </a:p>
        </p:txBody>
      </p:sp>
      <p:sp>
        <p:nvSpPr>
          <p:cNvPr id="261" name="Google Shape;261;p22"/>
          <p:cNvSpPr txBox="1"/>
          <p:nvPr/>
        </p:nvSpPr>
        <p:spPr>
          <a:xfrm>
            <a:off x="5789752" y="2149275"/>
            <a:ext cx="306900" cy="1812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sz="1800">
                <a:solidFill>
                  <a:srgbClr val="000000"/>
                </a:solidFill>
                <a:latin typeface="Lexend"/>
                <a:ea typeface="Lexend"/>
                <a:cs typeface="Lexend"/>
                <a:sym typeface="Lexend"/>
              </a:rPr>
              <a:t>C</a:t>
            </a:r>
            <a:endParaRPr sz="1800">
              <a:solidFill>
                <a:srgbClr val="000000"/>
              </a:solidFill>
              <a:latin typeface="Lexend"/>
              <a:ea typeface="Lexend"/>
              <a:cs typeface="Lexend"/>
              <a:sym typeface="Lexend"/>
            </a:endParaRPr>
          </a:p>
        </p:txBody>
      </p:sp>
      <p:sp>
        <p:nvSpPr>
          <p:cNvPr id="262" name="Google Shape;262;p22"/>
          <p:cNvSpPr txBox="1"/>
          <p:nvPr/>
        </p:nvSpPr>
        <p:spPr>
          <a:xfrm>
            <a:off x="6782452" y="3179500"/>
            <a:ext cx="306900" cy="1812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sz="1800">
                <a:solidFill>
                  <a:srgbClr val="000000"/>
                </a:solidFill>
                <a:latin typeface="Lexend"/>
                <a:ea typeface="Lexend"/>
                <a:cs typeface="Lexend"/>
                <a:sym typeface="Lexend"/>
              </a:rPr>
              <a:t>D</a:t>
            </a:r>
            <a:endParaRPr sz="1800">
              <a:solidFill>
                <a:srgbClr val="000000"/>
              </a:solidFill>
              <a:latin typeface="Lexend"/>
              <a:ea typeface="Lexend"/>
              <a:cs typeface="Lexend"/>
              <a:sym typeface="Lexend"/>
            </a:endParaRPr>
          </a:p>
        </p:txBody>
      </p:sp>
      <p:sp>
        <p:nvSpPr>
          <p:cNvPr id="263" name="Google Shape;263;p22"/>
          <p:cNvSpPr txBox="1"/>
          <p:nvPr/>
        </p:nvSpPr>
        <p:spPr>
          <a:xfrm>
            <a:off x="3982777" y="2939300"/>
            <a:ext cx="306900" cy="1812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sz="1800">
                <a:solidFill>
                  <a:srgbClr val="000000"/>
                </a:solidFill>
                <a:latin typeface="Lexend"/>
                <a:ea typeface="Lexend"/>
                <a:cs typeface="Lexend"/>
                <a:sym typeface="Lexend"/>
              </a:rPr>
              <a:t>D′ </a:t>
            </a:r>
            <a:endParaRPr sz="1800">
              <a:solidFill>
                <a:srgbClr val="000000"/>
              </a:solidFill>
              <a:latin typeface="Lexend"/>
              <a:ea typeface="Lexend"/>
              <a:cs typeface="Lexend"/>
              <a:sym typeface="Lexend"/>
            </a:endParaRPr>
          </a:p>
        </p:txBody>
      </p:sp>
      <p:sp>
        <p:nvSpPr>
          <p:cNvPr id="264" name="Google Shape;264;p22"/>
          <p:cNvSpPr txBox="1"/>
          <p:nvPr/>
        </p:nvSpPr>
        <p:spPr>
          <a:xfrm>
            <a:off x="4974852" y="4038200"/>
            <a:ext cx="306900" cy="1812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sz="1800">
                <a:solidFill>
                  <a:srgbClr val="000000"/>
                </a:solidFill>
                <a:latin typeface="Lexend"/>
                <a:ea typeface="Lexend"/>
                <a:cs typeface="Lexend"/>
                <a:sym typeface="Lexend"/>
              </a:rPr>
              <a:t>C′ </a:t>
            </a:r>
            <a:endParaRPr sz="1800">
              <a:solidFill>
                <a:srgbClr val="000000"/>
              </a:solidFill>
              <a:latin typeface="Lexend"/>
              <a:ea typeface="Lexend"/>
              <a:cs typeface="Lexend"/>
              <a:sym typeface="Lexend"/>
            </a:endParaRPr>
          </a:p>
        </p:txBody>
      </p:sp>
      <p:cxnSp>
        <p:nvCxnSpPr>
          <p:cNvPr id="265" name="Google Shape;265;p22"/>
          <p:cNvCxnSpPr/>
          <p:nvPr/>
        </p:nvCxnSpPr>
        <p:spPr>
          <a:xfrm flipH="1">
            <a:off x="2153375" y="2330525"/>
            <a:ext cx="562200" cy="1122300"/>
          </a:xfrm>
          <a:prstGeom prst="straightConnector1">
            <a:avLst/>
          </a:prstGeom>
          <a:noFill/>
          <a:ln w="38100" cap="flat" cmpd="sng">
            <a:solidFill>
              <a:srgbClr val="000000"/>
            </a:solidFill>
            <a:prstDash val="dash"/>
            <a:round/>
            <a:headEnd type="none" w="med" len="med"/>
            <a:tailEnd type="none" w="med" len="med"/>
          </a:ln>
        </p:spPr>
      </p:cxnSp>
      <p:cxnSp>
        <p:nvCxnSpPr>
          <p:cNvPr id="266" name="Google Shape;266;p22"/>
          <p:cNvCxnSpPr/>
          <p:nvPr/>
        </p:nvCxnSpPr>
        <p:spPr>
          <a:xfrm>
            <a:off x="1025775" y="2330525"/>
            <a:ext cx="2808300" cy="1126500"/>
          </a:xfrm>
          <a:prstGeom prst="straightConnector1">
            <a:avLst/>
          </a:prstGeom>
          <a:noFill/>
          <a:ln w="38100" cap="flat" cmpd="sng">
            <a:solidFill>
              <a:srgbClr val="000000"/>
            </a:solidFill>
            <a:prstDash val="dash"/>
            <a:round/>
            <a:headEnd type="none" w="med" len="med"/>
            <a:tailEnd type="none" w="med" len="med"/>
          </a:ln>
        </p:spPr>
      </p:cxnSp>
      <p:cxnSp>
        <p:nvCxnSpPr>
          <p:cNvPr id="267" name="Google Shape;267;p22"/>
          <p:cNvCxnSpPr/>
          <p:nvPr/>
        </p:nvCxnSpPr>
        <p:spPr>
          <a:xfrm flipH="1">
            <a:off x="4957800" y="2330325"/>
            <a:ext cx="1128900" cy="1683600"/>
          </a:xfrm>
          <a:prstGeom prst="straightConnector1">
            <a:avLst/>
          </a:prstGeom>
          <a:noFill/>
          <a:ln w="38100" cap="flat" cmpd="sng">
            <a:solidFill>
              <a:srgbClr val="000000"/>
            </a:solidFill>
            <a:prstDash val="dash"/>
            <a:round/>
            <a:headEnd type="none" w="med" len="med"/>
            <a:tailEnd type="none" w="med" len="med"/>
          </a:ln>
        </p:spPr>
      </p:cxnSp>
      <p:cxnSp>
        <p:nvCxnSpPr>
          <p:cNvPr id="268" name="Google Shape;268;p22"/>
          <p:cNvCxnSpPr>
            <a:stCxn id="262" idx="0"/>
          </p:cNvCxnSpPr>
          <p:nvPr/>
        </p:nvCxnSpPr>
        <p:spPr>
          <a:xfrm rot="10800000">
            <a:off x="4118602" y="3175900"/>
            <a:ext cx="2817300" cy="3600"/>
          </a:xfrm>
          <a:prstGeom prst="straightConnector1">
            <a:avLst/>
          </a:prstGeom>
          <a:noFill/>
          <a:ln w="38100" cap="flat" cmpd="sng">
            <a:solidFill>
              <a:srgbClr val="000000"/>
            </a:solidFill>
            <a:prstDash val="dash"/>
            <a:round/>
            <a:headEnd type="none" w="med" len="med"/>
            <a:tailEnd type="none" w="med" len="med"/>
          </a:ln>
        </p:spPr>
      </p:cxnSp>
      <p:sp>
        <p:nvSpPr>
          <p:cNvPr id="269" name="Google Shape;269;p22"/>
          <p:cNvSpPr txBox="1"/>
          <p:nvPr/>
        </p:nvSpPr>
        <p:spPr>
          <a:xfrm>
            <a:off x="1483650" y="2850475"/>
            <a:ext cx="760500" cy="1812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sz="2000">
                <a:solidFill>
                  <a:srgbClr val="000000"/>
                </a:solidFill>
                <a:latin typeface="Kalam"/>
                <a:ea typeface="Kalam"/>
                <a:cs typeface="Kalam"/>
                <a:sym typeface="Kalam"/>
              </a:rPr>
              <a:t>(6, 6)</a:t>
            </a:r>
            <a:endParaRPr sz="2000">
              <a:solidFill>
                <a:srgbClr val="000000"/>
              </a:solidFill>
              <a:latin typeface="Kalam"/>
              <a:ea typeface="Kalam"/>
              <a:cs typeface="Kalam"/>
              <a:sym typeface="Kalam"/>
            </a:endParaRPr>
          </a:p>
        </p:txBody>
      </p:sp>
      <p:sp>
        <p:nvSpPr>
          <p:cNvPr id="270" name="Google Shape;270;p22"/>
          <p:cNvSpPr txBox="1"/>
          <p:nvPr/>
        </p:nvSpPr>
        <p:spPr>
          <a:xfrm>
            <a:off x="5531775" y="3311350"/>
            <a:ext cx="760500" cy="1812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sz="2000">
                <a:solidFill>
                  <a:srgbClr val="000000"/>
                </a:solidFill>
                <a:latin typeface="Kalam"/>
                <a:ea typeface="Kalam"/>
                <a:cs typeface="Kalam"/>
                <a:sym typeface="Kalam"/>
              </a:rPr>
              <a:t>(17, 5)</a:t>
            </a:r>
            <a:endParaRPr sz="2000">
              <a:solidFill>
                <a:srgbClr val="000000"/>
              </a:solidFill>
              <a:latin typeface="Kalam"/>
              <a:ea typeface="Kalam"/>
              <a:cs typeface="Kalam"/>
              <a:sym typeface="Kalam"/>
            </a:endParaRPr>
          </a:p>
        </p:txBody>
      </p:sp>
      <p:sp>
        <p:nvSpPr>
          <p:cNvPr id="271" name="Google Shape;271;p2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3</a:t>
            </a:fld>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75" name="Shape 275"/>
        <p:cNvGrpSpPr/>
        <p:nvPr/>
      </p:nvGrpSpPr>
      <p:grpSpPr>
        <a:xfrm>
          <a:off x="0" y="0"/>
          <a:ext cx="0" cy="0"/>
        </a:xfrm>
      </p:grpSpPr>
      <p:sp>
        <p:nvSpPr>
          <p:cNvPr id="276" name="Google Shape;276;p23"/>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4</a:t>
            </a:fld>
            <a:endParaRPr/>
          </a:p>
        </p:txBody>
      </p:sp>
      <p:sp>
        <p:nvSpPr>
          <p:cNvPr id="277" name="Google Shape;277;p23"/>
          <p:cNvSpPr txBox="1"/>
          <p:nvPr/>
        </p:nvSpPr>
        <p:spPr>
          <a:xfrm>
            <a:off x="6744600" y="10447800"/>
            <a:ext cx="815400" cy="244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r>
              <a:rPr lang="en-GB" sz="1000">
                <a:solidFill>
                  <a:schemeClr val="lt1"/>
                </a:solidFill>
                <a:latin typeface="Lexend"/>
                <a:ea typeface="Lexend"/>
                <a:cs typeface="Lexend"/>
                <a:sym typeface="Lexend"/>
              </a:rPr>
              <a:t>v2.2</a:t>
            </a:r>
            <a:endParaRPr sz="1000">
              <a:solidFill>
                <a:schemeClr val="lt1"/>
              </a:solidFill>
              <a:latin typeface="Lexend"/>
              <a:ea typeface="Lexend"/>
              <a:cs typeface="Lexend"/>
              <a:sym typeface="Lexend"/>
            </a:endParaRPr>
          </a:p>
        </p:txBody>
      </p:sp>
      <p:sp>
        <p:nvSpPr>
          <p:cNvPr id="278" name="Google Shape;278;p23"/>
          <p:cNvSpPr txBox="1"/>
          <p:nvPr>
            <p:ph type="subTitle" idx="2"/>
          </p:nvPr>
        </p:nvSpPr>
        <p:spPr>
          <a:xfrm>
            <a:off x="3903375" y="9972000"/>
            <a:ext cx="2722800" cy="161100"/>
          </a:xfrm>
          <a:prstGeom prst="rect">
            <a:avLst/>
          </a:prstGeom>
        </p:spPr>
        <p:txBody>
          <a:bodyPr spcFirstLastPara="1" wrap="square" lIns="0" tIns="0" rIns="0" bIns="0" anchor="b" anchorCtr="0">
            <a:normAutofit/>
          </a:bodyPr>
          <a:lstStyle/>
          <a:p>
            <a:pPr marL="0" lvl="0" indent="0" algn="l" rtl="0">
              <a:spcBef>
                <a:spcPct val="0"/>
              </a:spcBef>
              <a:spcAft>
                <a:spcPct val="0"/>
              </a:spcAft>
              <a:buNone/>
            </a:pPr>
            <a:r>
              <a:rPr lang="en-GB"/>
              <a:t>Mathematics in Education and Industry</a:t>
            </a:r>
            <a:endParaRPr/>
          </a:p>
        </p:txBody>
      </p:sp>
      <p:sp>
        <p:nvSpPr>
          <p:cNvPr id="279" name="Google Shape;279;p23"/>
          <p:cNvSpPr txBox="1"/>
          <p:nvPr>
            <p:ph type="subTitle" idx="1"/>
          </p:nvPr>
        </p:nvSpPr>
        <p:spPr>
          <a:xfrm>
            <a:off x="1463400" y="360000"/>
            <a:ext cx="4782600" cy="1386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Understanding the centre of rotation</a:t>
            </a:r>
            <a:endParaRPr/>
          </a:p>
        </p:txBody>
      </p:sp>
      <p:sp>
        <p:nvSpPr>
          <p:cNvPr id="280" name="Google Shape;280;p23"/>
          <p:cNvSpPr txBox="1"/>
          <p:nvPr/>
        </p:nvSpPr>
        <p:spPr>
          <a:xfrm>
            <a:off x="468000" y="719994"/>
            <a:ext cx="6624000" cy="181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4) Fully describe these rotations.</a:t>
            </a:r>
            <a:endParaRPr sz="1200">
              <a:latin typeface="Lexend"/>
              <a:ea typeface="Lexend"/>
              <a:cs typeface="Lexend"/>
              <a:sym typeface="Lexend"/>
            </a:endParaRPr>
          </a:p>
        </p:txBody>
      </p:sp>
      <p:pic>
        <p:nvPicPr>
          <p:cNvPr id="281" name="Google Shape;281;p23"/>
          <p:cNvPicPr preferRelativeResize="0"/>
          <p:nvPr/>
        </p:nvPicPr>
        <p:blipFill>
          <a:blip r:embed="rId3">
            <a:alphaModFix/>
          </a:blip>
          <a:stretch>
            <a:fillRect/>
          </a:stretch>
        </p:blipFill>
        <p:spPr>
          <a:xfrm>
            <a:off x="468000" y="1001700"/>
            <a:ext cx="6624000" cy="2611852"/>
          </a:xfrm>
          <a:prstGeom prst="rect">
            <a:avLst/>
          </a:prstGeom>
          <a:noFill/>
          <a:ln>
            <a:noFill/>
          </a:ln>
        </p:spPr>
      </p:pic>
      <p:sp>
        <p:nvSpPr>
          <p:cNvPr id="282" name="Google Shape;282;p23"/>
          <p:cNvSpPr txBox="1"/>
          <p:nvPr/>
        </p:nvSpPr>
        <p:spPr>
          <a:xfrm>
            <a:off x="1354691" y="1107024"/>
            <a:ext cx="1146900" cy="1902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object 1</a:t>
            </a:r>
            <a:endParaRPr>
              <a:solidFill>
                <a:srgbClr val="000000"/>
              </a:solidFill>
              <a:latin typeface="Lexend"/>
              <a:ea typeface="Lexend"/>
              <a:cs typeface="Lexend"/>
              <a:sym typeface="Lexend"/>
            </a:endParaRPr>
          </a:p>
        </p:txBody>
      </p:sp>
      <p:sp>
        <p:nvSpPr>
          <p:cNvPr id="283" name="Google Shape;283;p23"/>
          <p:cNvSpPr txBox="1"/>
          <p:nvPr/>
        </p:nvSpPr>
        <p:spPr>
          <a:xfrm>
            <a:off x="4354277" y="1107024"/>
            <a:ext cx="1146900" cy="190200"/>
          </a:xfrm>
          <a:prstGeom prst="rect">
            <a:avLst/>
          </a:prstGeom>
          <a:noFill/>
          <a:ln>
            <a:noFill/>
          </a:ln>
        </p:spPr>
        <p:txBody>
          <a:bodyPr spcFirstLastPara="1" wrap="square" lIns="0" tIns="0" rIns="0" bIns="0" anchor="t" anchorCtr="0">
            <a:noAutofit/>
          </a:bodyPr>
          <a:lstStyle/>
          <a:p>
            <a:pPr marL="0" lvl="0" indent="0" algn="ctr" rtl="0">
              <a:lnSpc>
                <a:spcPct val="115000"/>
              </a:lnSpc>
              <a:spcBef>
                <a:spcPct val="0"/>
              </a:spcBef>
              <a:spcAft>
                <a:spcPts val="1000"/>
              </a:spcAft>
              <a:buNone/>
            </a:pPr>
            <a:r>
              <a:rPr lang="en-GB">
                <a:solidFill>
                  <a:srgbClr val="000000"/>
                </a:solidFill>
                <a:latin typeface="Lexend"/>
                <a:ea typeface="Lexend"/>
                <a:cs typeface="Lexend"/>
                <a:sym typeface="Lexend"/>
              </a:rPr>
              <a:t>object 2</a:t>
            </a:r>
            <a:endParaRPr>
              <a:solidFill>
                <a:srgbClr val="000000"/>
              </a:solidFill>
              <a:latin typeface="Lexend"/>
              <a:ea typeface="Lexend"/>
              <a:cs typeface="Lexend"/>
              <a:sym typeface="Lexend"/>
            </a:endParaRPr>
          </a:p>
        </p:txBody>
      </p:sp>
      <p:sp>
        <p:nvSpPr>
          <p:cNvPr id="284" name="Google Shape;284;p23"/>
          <p:cNvSpPr txBox="1"/>
          <p:nvPr/>
        </p:nvSpPr>
        <p:spPr>
          <a:xfrm>
            <a:off x="468014" y="3781100"/>
            <a:ext cx="2952000" cy="190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Description for </a:t>
            </a:r>
            <a:r>
              <a:rPr lang="en-GB" sz="1200">
                <a:solidFill>
                  <a:srgbClr val="000000"/>
                </a:solidFill>
                <a:latin typeface="Lexend"/>
                <a:ea typeface="Lexend"/>
                <a:cs typeface="Lexend"/>
                <a:sym typeface="Lexend"/>
              </a:rPr>
              <a:t>object 1</a:t>
            </a:r>
            <a:endParaRPr sz="1200">
              <a:solidFill>
                <a:srgbClr val="000000"/>
              </a:solidFill>
              <a:latin typeface="Lexend"/>
              <a:ea typeface="Lexend"/>
              <a:cs typeface="Lexend"/>
              <a:sym typeface="Lexend"/>
            </a:endParaRPr>
          </a:p>
        </p:txBody>
      </p:sp>
      <p:sp>
        <p:nvSpPr>
          <p:cNvPr id="285" name="Google Shape;285;p23"/>
          <p:cNvSpPr txBox="1"/>
          <p:nvPr/>
        </p:nvSpPr>
        <p:spPr>
          <a:xfrm>
            <a:off x="4139989" y="3781100"/>
            <a:ext cx="2952000" cy="190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Description for </a:t>
            </a:r>
            <a:r>
              <a:rPr lang="en-GB" sz="1200">
                <a:solidFill>
                  <a:srgbClr val="000000"/>
                </a:solidFill>
                <a:latin typeface="Lexend"/>
                <a:ea typeface="Lexend"/>
                <a:cs typeface="Lexend"/>
                <a:sym typeface="Lexend"/>
              </a:rPr>
              <a:t>object </a:t>
            </a:r>
            <a:r>
              <a:rPr lang="en-GB" sz="1200">
                <a:latin typeface="Lexend"/>
                <a:ea typeface="Lexend"/>
                <a:cs typeface="Lexend"/>
                <a:sym typeface="Lexend"/>
              </a:rPr>
              <a:t>2</a:t>
            </a:r>
            <a:endParaRPr sz="1200">
              <a:solidFill>
                <a:srgbClr val="000000"/>
              </a:solidFill>
              <a:latin typeface="Lexend"/>
              <a:ea typeface="Lexend"/>
              <a:cs typeface="Lexend"/>
              <a:sym typeface="Lexend"/>
            </a:endParaRPr>
          </a:p>
        </p:txBody>
      </p:sp>
      <p:cxnSp>
        <p:nvCxnSpPr>
          <p:cNvPr id="286" name="Google Shape;286;p23"/>
          <p:cNvCxnSpPr/>
          <p:nvPr/>
        </p:nvCxnSpPr>
        <p:spPr>
          <a:xfrm>
            <a:off x="474750" y="9972000"/>
            <a:ext cx="6610500" cy="0"/>
          </a:xfrm>
          <a:prstGeom prst="straightConnector1">
            <a:avLst/>
          </a:prstGeom>
          <a:noFill/>
          <a:ln w="38100" cap="flat" cmpd="sng">
            <a:solidFill>
              <a:srgbClr val="000000"/>
            </a:solidFill>
            <a:prstDash val="solid"/>
            <a:round/>
            <a:headEnd type="none" w="med" len="med"/>
            <a:tailEnd type="none" w="med" len="med"/>
          </a:ln>
        </p:spPr>
      </p:cxnSp>
      <p:sp>
        <p:nvSpPr>
          <p:cNvPr id="287" name="Google Shape;287;p23"/>
          <p:cNvSpPr txBox="1"/>
          <p:nvPr/>
        </p:nvSpPr>
        <p:spPr>
          <a:xfrm>
            <a:off x="468000" y="4138850"/>
            <a:ext cx="2952000" cy="181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Object 1 has been rotated 180° around the centre of rotation of</a:t>
            </a:r>
            <a:r>
              <a:rPr lang="en-GB" sz="1200">
                <a:latin typeface="Kalam"/>
                <a:ea typeface="Kalam"/>
                <a:cs typeface="Kalam"/>
                <a:sym typeface="Kalam"/>
              </a:rPr>
              <a:t> </a:t>
            </a:r>
            <a:r>
              <a:rPr lang="en-GB" sz="1200">
                <a:solidFill>
                  <a:srgbClr val="000000"/>
                </a:solidFill>
                <a:latin typeface="Kalam"/>
                <a:ea typeface="Kalam"/>
                <a:cs typeface="Kalam"/>
                <a:sym typeface="Kalam"/>
              </a:rPr>
              <a:t>(6, 4).</a:t>
            </a:r>
            <a:endParaRPr sz="1200">
              <a:solidFill>
                <a:srgbClr val="000000"/>
              </a:solidFill>
              <a:latin typeface="Kalam"/>
              <a:ea typeface="Kalam"/>
              <a:cs typeface="Kalam"/>
              <a:sym typeface="Kalam"/>
            </a:endParaRPr>
          </a:p>
        </p:txBody>
      </p:sp>
      <p:sp>
        <p:nvSpPr>
          <p:cNvPr id="288" name="Google Shape;288;p23"/>
          <p:cNvSpPr txBox="1"/>
          <p:nvPr/>
        </p:nvSpPr>
        <p:spPr>
          <a:xfrm>
            <a:off x="4139975" y="4138850"/>
            <a:ext cx="2952000" cy="181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Object 2 has been rotated 180° around the centre of rotation of</a:t>
            </a:r>
            <a:r>
              <a:rPr lang="en-GB" sz="1200">
                <a:latin typeface="Kalam"/>
                <a:ea typeface="Kalam"/>
                <a:cs typeface="Kalam"/>
                <a:sym typeface="Kalam"/>
              </a:rPr>
              <a:t> </a:t>
            </a:r>
            <a:r>
              <a:rPr lang="en-GB" sz="1200">
                <a:solidFill>
                  <a:srgbClr val="000000"/>
                </a:solidFill>
                <a:latin typeface="Kalam"/>
                <a:ea typeface="Kalam"/>
                <a:cs typeface="Kalam"/>
                <a:sym typeface="Kalam"/>
              </a:rPr>
              <a:t>(15, 4).</a:t>
            </a:r>
            <a:endParaRPr sz="1200">
              <a:solidFill>
                <a:srgbClr val="000000"/>
              </a:solidFill>
              <a:latin typeface="Kalam"/>
              <a:ea typeface="Kalam"/>
              <a:cs typeface="Kalam"/>
              <a:sym typeface="Kalam"/>
            </a:endParaRPr>
          </a:p>
        </p:txBody>
      </p:sp>
    </p:spTree>
  </p:cSld>
  <p:clrMapOvr>
    <a:masterClrMapping/>
  </p:clrMapOvr>
  <p:transition/>
  <p:timing/>
</p:sld>
</file>

<file path=ppt/tags/tag1.xml><?xml version="1.0" encoding="utf-8"?>
<p:tagLst xmlns:p="http://schemas.openxmlformats.org/presentationml/2006/main">
  <p:tag name="AS_NET" val="3.1.32"/>
  <p:tag name="AS_OS" val="Microsoft Windows NT 6.2.9200.0"/>
  <p:tag name="AS_RELEASE_DATE" val="2023.10.14"/>
  <p:tag name="AS_TITLE" val="Aspose.Slides for .NET Standard 2.0"/>
  <p:tag name="AS_VERSION" val="23.10"/>
</p:tagLst>
</file>

<file path=ppt/theme/theme1.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110</Paragraphs>
  <Slides>4</Slides>
  <Notes>4</Notes>
  <TotalTime>0</TotalTime>
  <HiddenSlides>0</HiddenSlides>
  <MMClips>0</MMClips>
  <ScaleCrop>0</ScaleCrop>
  <HeadingPairs>
    <vt:vector baseType="variant" size="6">
      <vt:variant>
        <vt:lpstr>Fonts used</vt:lpstr>
      </vt:variant>
      <vt:variant>
        <vt:i4>5</vt:i4>
      </vt:variant>
      <vt:variant>
        <vt:lpstr>Theme</vt:lpstr>
      </vt:variant>
      <vt:variant>
        <vt:i4>1</vt:i4>
      </vt:variant>
      <vt:variant>
        <vt:lpstr>Slide Titles</vt:lpstr>
      </vt:variant>
      <vt:variant>
        <vt:i4>4</vt:i4>
      </vt:variant>
    </vt:vector>
  </HeadingPairs>
  <TitlesOfParts>
    <vt:vector baseType="lpstr" size="10">
      <vt:lpstr>Arial</vt:lpstr>
      <vt:lpstr>Lexend</vt:lpstr>
      <vt:lpstr>Kalam</vt:lpstr>
      <vt:lpstr>Lexend Medium</vt:lpstr>
      <vt:lpstr>Lexend Light</vt:lpstr>
      <vt:lpstr>simple-light-2</vt:lpstr>
      <vt:lpstr>Understanding the centre of rotation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23.1000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2023-11-02T16:02:41.363</cp:lastPrinted>
  <dcterms:created xsi:type="dcterms:W3CDTF">2023-11-02T16:02:41Z</dcterms:created>
  <dcterms:modified xsi:type="dcterms:W3CDTF">2023-11-02T16:02:52Z</dcterms:modified>
</cp:coreProperties>
</file>