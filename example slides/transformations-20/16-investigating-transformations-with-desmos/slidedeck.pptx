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</p:sldIdLst>
  <p:sldSz cx="9144000" cy="5143500"/>
  <p:notesSz cx="6858000" cy="9144000"/>
  <p:embeddedFontLst>
    <p:embeddedFont>
      <p:font typeface="Lexend" panose="00000000000000000000"/>
      <p:regular r:id="rId49"/>
    </p:embeddedFont>
    <p:embeddedFont>
      <p:font typeface="Lexend Medium" panose="00000000000000000000"/>
      <p:regular r:id="rId50"/>
    </p:embeddedFont>
    <p:embeddedFont>
      <p:font typeface="Kalam" panose="02000000000000000000"/>
      <p:regular r:id="rId51"/>
    </p:embeddedFont>
    <p:embeddedFont>
      <p:font typeface="Lexend Light" panose="00000000000000000000"/>
      <p:regular r:id="rId52"/>
    </p:embeddedFont>
  </p:embeddedFontLst>
  <p:custDataLst>
    <p:tags r:id="rId48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slide" Target="slides/slide41.xml" /><Relationship Id="rId44" Type="http://schemas.openxmlformats.org/officeDocument/2006/relationships/slide" Target="slides/slide42.xml" /><Relationship Id="rId45" Type="http://schemas.openxmlformats.org/officeDocument/2006/relationships/slide" Target="slides/slide43.xml" /><Relationship Id="rId46" Type="http://schemas.openxmlformats.org/officeDocument/2006/relationships/slide" Target="slides/slide44.xml" /><Relationship Id="rId47" Type="http://schemas.openxmlformats.org/officeDocument/2006/relationships/slide" Target="slides/slide45.xml" /><Relationship Id="rId48" Type="http://schemas.openxmlformats.org/officeDocument/2006/relationships/tags" Target="tags/tag1.xml" /><Relationship Id="rId49" Type="http://schemas.openxmlformats.org/officeDocument/2006/relationships/font" Target="fonts/font1.fntdata" /><Relationship Id="rId5" Type="http://schemas.openxmlformats.org/officeDocument/2006/relationships/slide" Target="slides/slide3.xml" /><Relationship Id="rId50" Type="http://schemas.openxmlformats.org/officeDocument/2006/relationships/font" Target="fonts/font2.fntdata" /><Relationship Id="rId51" Type="http://schemas.openxmlformats.org/officeDocument/2006/relationships/font" Target="fonts/font3.fntdata" /><Relationship Id="rId52" Type="http://schemas.openxmlformats.org/officeDocument/2006/relationships/font" Target="fonts/font4.fntdata" /><Relationship Id="rId53" Type="http://schemas.openxmlformats.org/officeDocument/2006/relationships/presProps" Target="presProps.xml" /><Relationship Id="rId54" Type="http://schemas.openxmlformats.org/officeDocument/2006/relationships/viewProps" Target="viewProps.xml" /><Relationship Id="rId55" Type="http://schemas.openxmlformats.org/officeDocument/2006/relationships/theme" Target="theme/theme1.xml" /><Relationship Id="rId56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_rels/notesSlide4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2.xml" /><Relationship Id="rId2" Type="http://schemas.openxmlformats.org/officeDocument/2006/relationships/notesMaster" Target="../notesMasters/notesMaster1.xml" /></Relationships>
</file>

<file path=ppt/notesSlides/_rels/notesSlide4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3.xml" /><Relationship Id="rId2" Type="http://schemas.openxmlformats.org/officeDocument/2006/relationships/notesMaster" Target="../notesMasters/notesMaster1.xml" /></Relationships>
</file>

<file path=ppt/notesSlides/_rels/notesSlide4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4.xml" /><Relationship Id="rId2" Type="http://schemas.openxmlformats.org/officeDocument/2006/relationships/notesMaster" Target="../notesMasters/notesMaster1.xml" /></Relationships>
</file>

<file path=ppt/notesSlides/_rels/notesSlide4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5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86ae15b904_3_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6ae15b904_3_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1" name="Shape 771"/>
        <p:cNvGrpSpPr/>
        <p:nvPr/>
      </p:nvGrpSpPr>
      <p:grpSpPr>
        <a:xfrm>
          <a:off x="0" y="0"/>
          <a:ext cx="0" cy="0"/>
        </a:xfrm>
      </p:grpSpPr>
      <p:sp>
        <p:nvSpPr>
          <p:cNvPr id="772" name="Google Shape;772;g286858774c8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86858774c8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1" name="Shape 781"/>
        <p:cNvGrpSpPr/>
        <p:nvPr/>
      </p:nvGrpSpPr>
      <p:grpSpPr>
        <a:xfrm>
          <a:off x="0" y="0"/>
          <a:ext cx="0" cy="0"/>
        </a:xfrm>
      </p:grpSpPr>
      <p:sp>
        <p:nvSpPr>
          <p:cNvPr id="782" name="Google Shape;782;g286858774c8_0_4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286858774c8_0_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9" name="Shape 789"/>
        <p:cNvGrpSpPr/>
        <p:nvPr/>
      </p:nvGrpSpPr>
      <p:grpSpPr>
        <a:xfrm>
          <a:off x="0" y="0"/>
          <a:ext cx="0" cy="0"/>
        </a:xfrm>
      </p:grpSpPr>
      <p:sp>
        <p:nvSpPr>
          <p:cNvPr id="790" name="Google Shape;790;g286858774c8_0_2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286858774c8_0_2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01" name="Shape 801"/>
        <p:cNvGrpSpPr/>
        <p:nvPr/>
      </p:nvGrpSpPr>
      <p:grpSpPr>
        <a:xfrm>
          <a:off x="0" y="0"/>
          <a:ext cx="0" cy="0"/>
        </a:xfrm>
      </p:grpSpPr>
      <p:sp>
        <p:nvSpPr>
          <p:cNvPr id="802" name="Google Shape;802;g286858774c8_0_10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286858774c8_0_10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14" name="Shape 814"/>
        <p:cNvGrpSpPr/>
        <p:nvPr/>
      </p:nvGrpSpPr>
      <p:grpSpPr>
        <a:xfrm>
          <a:off x="0" y="0"/>
          <a:ext cx="0" cy="0"/>
        </a:xfrm>
      </p:grpSpPr>
      <p:sp>
        <p:nvSpPr>
          <p:cNvPr id="815" name="Google Shape;815;g1e86f2bd416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1e86f2bd416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29" name="Shape 829"/>
        <p:cNvGrpSpPr/>
        <p:nvPr/>
      </p:nvGrpSpPr>
      <p:grpSpPr>
        <a:xfrm>
          <a:off x="0" y="0"/>
          <a:ext cx="0" cy="0"/>
        </a:xfrm>
      </p:grpSpPr>
      <p:sp>
        <p:nvSpPr>
          <p:cNvPr id="830" name="Google Shape;830;g286858774c8_0_9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286858774c8_0_9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41" name="Shape 841"/>
        <p:cNvGrpSpPr/>
        <p:nvPr/>
      </p:nvGrpSpPr>
      <p:grpSpPr>
        <a:xfrm>
          <a:off x="0" y="0"/>
          <a:ext cx="0" cy="0"/>
        </a:xfrm>
      </p:grpSpPr>
      <p:sp>
        <p:nvSpPr>
          <p:cNvPr id="842" name="Google Shape;842;g286858774c8_0_1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286858774c8_0_1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59" name="Shape 859"/>
        <p:cNvGrpSpPr/>
        <p:nvPr/>
      </p:nvGrpSpPr>
      <p:grpSpPr>
        <a:xfrm>
          <a:off x="0" y="0"/>
          <a:ext cx="0" cy="0"/>
        </a:xfrm>
      </p:grpSpPr>
      <p:sp>
        <p:nvSpPr>
          <p:cNvPr id="860" name="Google Shape;860;g286858774c8_0_2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86858774c8_0_2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5" name="Shape 875"/>
        <p:cNvGrpSpPr/>
        <p:nvPr/>
      </p:nvGrpSpPr>
      <p:grpSpPr>
        <a:xfrm>
          <a:off x="0" y="0"/>
          <a:ext cx="0" cy="0"/>
        </a:xfrm>
      </p:grpSpPr>
      <p:sp>
        <p:nvSpPr>
          <p:cNvPr id="876" name="Google Shape;876;g286858774c8_0_1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286858774c8_0_1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86" name="Shape 886"/>
        <p:cNvGrpSpPr/>
        <p:nvPr/>
      </p:nvGrpSpPr>
      <p:grpSpPr>
        <a:xfrm>
          <a:off x="0" y="0"/>
          <a:ext cx="0" cy="0"/>
        </a:xfrm>
      </p:grpSpPr>
      <p:sp>
        <p:nvSpPr>
          <p:cNvPr id="887" name="Google Shape;887;g286858774c8_0_1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286858774c8_0_1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97" name="Shape 897"/>
        <p:cNvGrpSpPr/>
        <p:nvPr/>
      </p:nvGrpSpPr>
      <p:grpSpPr>
        <a:xfrm>
          <a:off x="0" y="0"/>
          <a:ext cx="0" cy="0"/>
        </a:xfrm>
      </p:grpSpPr>
      <p:sp>
        <p:nvSpPr>
          <p:cNvPr id="898" name="Google Shape;898;g286858774c8_0_19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286858774c8_0_19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07" name="Shape 907"/>
        <p:cNvGrpSpPr/>
        <p:nvPr/>
      </p:nvGrpSpPr>
      <p:grpSpPr>
        <a:xfrm>
          <a:off x="0" y="0"/>
          <a:ext cx="0" cy="0"/>
        </a:xfrm>
      </p:grpSpPr>
      <p:sp>
        <p:nvSpPr>
          <p:cNvPr id="908" name="Google Shape;908;g286858774c8_0_20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286858774c8_0_2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13" name="Shape 913"/>
        <p:cNvGrpSpPr/>
        <p:nvPr/>
      </p:nvGrpSpPr>
      <p:grpSpPr>
        <a:xfrm>
          <a:off x="0" y="0"/>
          <a:ext cx="0" cy="0"/>
        </a:xfrm>
      </p:grpSpPr>
      <p:sp>
        <p:nvSpPr>
          <p:cNvPr id="914" name="Google Shape;914;g286858774c8_0_2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286858774c8_0_2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21" name="Shape 921"/>
        <p:cNvGrpSpPr/>
        <p:nvPr/>
      </p:nvGrpSpPr>
      <p:grpSpPr>
        <a:xfrm>
          <a:off x="0" y="0"/>
          <a:ext cx="0" cy="0"/>
        </a:xfrm>
      </p:grpSpPr>
      <p:sp>
        <p:nvSpPr>
          <p:cNvPr id="922" name="Google Shape;922;g287a1b0e2b5_0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287a1b0e2b5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28" name="Shape 928"/>
        <p:cNvGrpSpPr/>
        <p:nvPr/>
      </p:nvGrpSpPr>
      <p:grpSpPr>
        <a:xfrm>
          <a:off x="0" y="0"/>
          <a:ext cx="0" cy="0"/>
        </a:xfrm>
      </p:grpSpPr>
      <p:sp>
        <p:nvSpPr>
          <p:cNvPr id="929" name="Google Shape;929;g286858774c8_0_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286858774c8_0_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38" name="Shape 938"/>
        <p:cNvGrpSpPr/>
        <p:nvPr/>
      </p:nvGrpSpPr>
      <p:grpSpPr>
        <a:xfrm>
          <a:off x="0" y="0"/>
          <a:ext cx="0" cy="0"/>
        </a:xfrm>
      </p:grpSpPr>
      <p:sp>
        <p:nvSpPr>
          <p:cNvPr id="939" name="Google Shape;939;g286858774c8_0_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286858774c8_0_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55" name="Shape 955"/>
        <p:cNvGrpSpPr/>
        <p:nvPr/>
      </p:nvGrpSpPr>
      <p:grpSpPr>
        <a:xfrm>
          <a:off x="0" y="0"/>
          <a:ext cx="0" cy="0"/>
        </a:xfrm>
      </p:grpSpPr>
      <p:sp>
        <p:nvSpPr>
          <p:cNvPr id="956" name="Google Shape;956;g286858774c8_0_2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286858774c8_0_2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68" name="Shape 968"/>
        <p:cNvGrpSpPr/>
        <p:nvPr/>
      </p:nvGrpSpPr>
      <p:grpSpPr>
        <a:xfrm>
          <a:off x="0" y="0"/>
          <a:ext cx="0" cy="0"/>
        </a:xfrm>
      </p:grpSpPr>
      <p:sp>
        <p:nvSpPr>
          <p:cNvPr id="969" name="Google Shape;969;g286858774c8_0_28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286858774c8_0_28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83" name="Shape 983"/>
        <p:cNvGrpSpPr/>
        <p:nvPr/>
      </p:nvGrpSpPr>
      <p:grpSpPr>
        <a:xfrm>
          <a:off x="0" y="0"/>
          <a:ext cx="0" cy="0"/>
        </a:xfrm>
      </p:grpSpPr>
      <p:sp>
        <p:nvSpPr>
          <p:cNvPr id="984" name="Google Shape;984;g286858774c8_0_3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286858774c8_0_3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4" name="Shape 994"/>
        <p:cNvGrpSpPr/>
        <p:nvPr/>
      </p:nvGrpSpPr>
      <p:grpSpPr>
        <a:xfrm>
          <a:off x="0" y="0"/>
          <a:ext cx="0" cy="0"/>
        </a:xfrm>
      </p:grpSpPr>
      <p:sp>
        <p:nvSpPr>
          <p:cNvPr id="995" name="Google Shape;995;g286858774c8_0_3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286858774c8_0_3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05" name="Shape 1005"/>
        <p:cNvGrpSpPr/>
        <p:nvPr/>
      </p:nvGrpSpPr>
      <p:grpSpPr>
        <a:xfrm>
          <a:off x="0" y="0"/>
          <a:ext cx="0" cy="0"/>
        </a:xfrm>
      </p:grpSpPr>
      <p:sp>
        <p:nvSpPr>
          <p:cNvPr id="1006" name="Google Shape;1006;g286858774c8_0_3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286858774c8_0_3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11" name="Shape 1011"/>
        <p:cNvGrpSpPr/>
        <p:nvPr/>
      </p:nvGrpSpPr>
      <p:grpSpPr>
        <a:xfrm>
          <a:off x="0" y="0"/>
          <a:ext cx="0" cy="0"/>
        </a:xfrm>
      </p:grpSpPr>
      <p:sp>
        <p:nvSpPr>
          <p:cNvPr id="1012" name="Google Shape;1012;g286858774c8_0_4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286858774c8_0_4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19" name="Shape 1019"/>
        <p:cNvGrpSpPr/>
        <p:nvPr/>
      </p:nvGrpSpPr>
      <p:grpSpPr>
        <a:xfrm>
          <a:off x="0" y="0"/>
          <a:ext cx="0" cy="0"/>
        </a:xfrm>
      </p:grpSpPr>
      <p:sp>
        <p:nvSpPr>
          <p:cNvPr id="1020" name="Google Shape;1020;g287a9807b6c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287a9807b6c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26" name="Shape 1026"/>
        <p:cNvGrpSpPr/>
        <p:nvPr/>
      </p:nvGrpSpPr>
      <p:grpSpPr>
        <a:xfrm>
          <a:off x="0" y="0"/>
          <a:ext cx="0" cy="0"/>
        </a:xfrm>
      </p:grpSpPr>
      <p:sp>
        <p:nvSpPr>
          <p:cNvPr id="1027" name="Google Shape;1027;g286858774c8_0_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286858774c8_0_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36" name="Shape 1036"/>
        <p:cNvGrpSpPr/>
        <p:nvPr/>
      </p:nvGrpSpPr>
      <p:grpSpPr>
        <a:xfrm>
          <a:off x="0" y="0"/>
          <a:ext cx="0" cy="0"/>
        </a:xfrm>
      </p:grpSpPr>
      <p:sp>
        <p:nvSpPr>
          <p:cNvPr id="1037" name="Google Shape;1037;g286858774c8_0_5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286858774c8_0_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50" name="Shape 1050"/>
        <p:cNvGrpSpPr/>
        <p:nvPr/>
      </p:nvGrpSpPr>
      <p:grpSpPr>
        <a:xfrm>
          <a:off x="0" y="0"/>
          <a:ext cx="0" cy="0"/>
        </a:xfrm>
      </p:grpSpPr>
      <p:sp>
        <p:nvSpPr>
          <p:cNvPr id="1051" name="Google Shape;1051;g286858774c8_0_35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286858774c8_0_3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62" name="Shape 1062"/>
        <p:cNvGrpSpPr/>
        <p:nvPr/>
      </p:nvGrpSpPr>
      <p:grpSpPr>
        <a:xfrm>
          <a:off x="0" y="0"/>
          <a:ext cx="0" cy="0"/>
        </a:xfrm>
      </p:grpSpPr>
      <p:sp>
        <p:nvSpPr>
          <p:cNvPr id="1063" name="Google Shape;1063;g286858774c8_0_3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286858774c8_0_3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76" name="Shape 1076"/>
        <p:cNvGrpSpPr/>
        <p:nvPr/>
      </p:nvGrpSpPr>
      <p:grpSpPr>
        <a:xfrm>
          <a:off x="0" y="0"/>
          <a:ext cx="0" cy="0"/>
        </a:xfrm>
      </p:grpSpPr>
      <p:sp>
        <p:nvSpPr>
          <p:cNvPr id="1077" name="Google Shape;1077;g286858774c8_0_39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286858774c8_0_39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87" name="Shape 1087"/>
        <p:cNvGrpSpPr/>
        <p:nvPr/>
      </p:nvGrpSpPr>
      <p:grpSpPr>
        <a:xfrm>
          <a:off x="0" y="0"/>
          <a:ext cx="0" cy="0"/>
        </a:xfrm>
      </p:grpSpPr>
      <p:sp>
        <p:nvSpPr>
          <p:cNvPr id="1088" name="Google Shape;1088;g286858774c8_0_40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286858774c8_0_4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97" name="Shape 1097"/>
        <p:cNvGrpSpPr/>
        <p:nvPr/>
      </p:nvGrpSpPr>
      <p:grpSpPr>
        <a:xfrm>
          <a:off x="0" y="0"/>
          <a:ext cx="0" cy="0"/>
        </a:xfrm>
      </p:grpSpPr>
      <p:sp>
        <p:nvSpPr>
          <p:cNvPr id="1098" name="Google Shape;1098;g286858774c8_0_4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286858774c8_0_4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03" name="Shape 1103"/>
        <p:cNvGrpSpPr/>
        <p:nvPr/>
      </p:nvGrpSpPr>
      <p:grpSpPr>
        <a:xfrm>
          <a:off x="0" y="0"/>
          <a:ext cx="0" cy="0"/>
        </a:xfrm>
      </p:grpSpPr>
      <p:sp>
        <p:nvSpPr>
          <p:cNvPr id="1104" name="Google Shape;1104;g287a9807b6c_0_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Google Shape;1105;g287a9807b6c_0_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11" name="Shape 1111"/>
        <p:cNvGrpSpPr/>
        <p:nvPr/>
      </p:nvGrpSpPr>
      <p:grpSpPr>
        <a:xfrm>
          <a:off x="0" y="0"/>
          <a:ext cx="0" cy="0"/>
        </a:xfrm>
      </p:grpSpPr>
      <p:sp>
        <p:nvSpPr>
          <p:cNvPr id="1112" name="Google Shape;1112;g286858774c8_0_4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286858774c8_0_4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18" name="Shape 1118"/>
        <p:cNvGrpSpPr/>
        <p:nvPr/>
      </p:nvGrpSpPr>
      <p:grpSpPr>
        <a:xfrm>
          <a:off x="0" y="0"/>
          <a:ext cx="0" cy="0"/>
        </a:xfrm>
      </p:grpSpPr>
      <p:sp>
        <p:nvSpPr>
          <p:cNvPr id="1119" name="Google Shape;1119;g286858774c8_0_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286858774c8_0_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28" name="Shape 1128"/>
        <p:cNvGrpSpPr/>
        <p:nvPr/>
      </p:nvGrpSpPr>
      <p:grpSpPr>
        <a:xfrm>
          <a:off x="0" y="0"/>
          <a:ext cx="0" cy="0"/>
        </a:xfrm>
      </p:grpSpPr>
      <p:sp>
        <p:nvSpPr>
          <p:cNvPr id="1129" name="Google Shape;1129;g286858774c8_0_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286858774c8_0_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35" name="Shape 1135"/>
        <p:cNvGrpSpPr/>
        <p:nvPr/>
      </p:nvGrpSpPr>
      <p:grpSpPr>
        <a:xfrm>
          <a:off x="0" y="0"/>
          <a:ext cx="0" cy="0"/>
        </a:xfrm>
      </p:grpSpPr>
      <p:sp>
        <p:nvSpPr>
          <p:cNvPr id="1136" name="Google Shape;1136;g286858774c8_0_4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286858774c8_0_4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50" name="Shape 1150"/>
        <p:cNvGrpSpPr/>
        <p:nvPr/>
      </p:nvGrpSpPr>
      <p:grpSpPr>
        <a:xfrm>
          <a:off x="0" y="0"/>
          <a:ext cx="0" cy="0"/>
        </a:xfrm>
      </p:grpSpPr>
      <p:sp>
        <p:nvSpPr>
          <p:cNvPr id="1151" name="Google Shape;1151;g286ae15b904_3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286ae15b904_3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63" name="Shape 1163"/>
        <p:cNvGrpSpPr/>
        <p:nvPr/>
      </p:nvGrpSpPr>
      <p:grpSpPr>
        <a:xfrm>
          <a:off x="0" y="0"/>
          <a:ext cx="0" cy="0"/>
        </a:xfrm>
      </p:grpSpPr>
      <p:sp>
        <p:nvSpPr>
          <p:cNvPr id="1164" name="Google Shape;1164;g286ae15b904_3_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286ae15b904_3_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76" name="Shape 1176"/>
        <p:cNvGrpSpPr/>
        <p:nvPr/>
      </p:nvGrpSpPr>
      <p:grpSpPr>
        <a:xfrm>
          <a:off x="0" y="0"/>
          <a:ext cx="0" cy="0"/>
        </a:xfrm>
      </p:grpSpPr>
      <p:sp>
        <p:nvSpPr>
          <p:cNvPr id="1177" name="Google Shape;1177;g286ae15b904_3_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286ae15b904_3_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82" name="Shape 1182"/>
        <p:cNvGrpSpPr/>
        <p:nvPr/>
      </p:nvGrpSpPr>
      <p:grpSpPr>
        <a:xfrm>
          <a:off x="0" y="0"/>
          <a:ext cx="0" cy="0"/>
        </a:xfrm>
      </p:grpSpPr>
      <p:sp>
        <p:nvSpPr>
          <p:cNvPr id="1183" name="Google Shape;1183;g286ae15b904_3_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286ae15b904_3_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93" name="Shape 1193"/>
        <p:cNvGrpSpPr/>
        <p:nvPr/>
      </p:nvGrpSpPr>
      <p:grpSpPr>
        <a:xfrm>
          <a:off x="0" y="0"/>
          <a:ext cx="0" cy="0"/>
        </a:xfrm>
      </p:grpSpPr>
      <p:sp>
        <p:nvSpPr>
          <p:cNvPr id="1194" name="Google Shape;1194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99" name="Shape 1199"/>
        <p:cNvGrpSpPr/>
        <p:nvPr/>
      </p:nvGrpSpPr>
      <p:grpSpPr>
        <a:xfrm>
          <a:off x="0" y="0"/>
          <a:ext cx="0" cy="0"/>
        </a:xfrm>
      </p:grpSpPr>
      <p:sp>
        <p:nvSpPr>
          <p:cNvPr id="1200" name="Google Shape;1200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194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43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4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5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Relationship Id="rId5" Type="http://schemas.openxmlformats.org/officeDocument/2006/relationships/image" Target="../media/image48.png" /><Relationship Id="rId6" Type="http://schemas.openxmlformats.org/officeDocument/2006/relationships/image" Target="../media/image49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3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50.png" /><Relationship Id="rId4" Type="http://schemas.openxmlformats.org/officeDocument/2006/relationships/image" Target="../media/image51.png" /><Relationship Id="rId5" Type="http://schemas.openxmlformats.org/officeDocument/2006/relationships/image" Target="../media/image47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52.png" /><Relationship Id="rId4" Type="http://schemas.openxmlformats.org/officeDocument/2006/relationships/image" Target="../media/image53.png" /><Relationship Id="rId5" Type="http://schemas.openxmlformats.org/officeDocument/2006/relationships/image" Target="../media/image54.png" /><Relationship Id="rId6" Type="http://schemas.openxmlformats.org/officeDocument/2006/relationships/image" Target="../media/image55.png" /><Relationship Id="rId7" Type="http://schemas.openxmlformats.org/officeDocument/2006/relationships/image" Target="../media/image47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55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7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47.png" /><Relationship Id="rId4" Type="http://schemas.openxmlformats.org/officeDocument/2006/relationships/image" Target="../media/image56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7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47.png" /><Relationship Id="rId4" Type="http://schemas.openxmlformats.org/officeDocument/2006/relationships/image" Target="../media/image56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56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6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7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8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44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57.png" /><Relationship Id="rId4" Type="http://schemas.openxmlformats.org/officeDocument/2006/relationships/image" Target="../media/image58.png" /><Relationship Id="rId5" Type="http://schemas.openxmlformats.org/officeDocument/2006/relationships/image" Target="../media/image59.png" /><Relationship Id="rId6" Type="http://schemas.openxmlformats.org/officeDocument/2006/relationships/image" Target="../media/image60.png" /><Relationship Id="rId7" Type="http://schemas.openxmlformats.org/officeDocument/2006/relationships/image" Target="../media/image61.png" /><Relationship Id="rId8" Type="http://schemas.openxmlformats.org/officeDocument/2006/relationships/image" Target="../media/image55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62.png" /><Relationship Id="rId4" Type="http://schemas.openxmlformats.org/officeDocument/2006/relationships/image" Target="../media/image63.png" /><Relationship Id="rId5" Type="http://schemas.openxmlformats.org/officeDocument/2006/relationships/image" Target="../media/image64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58.png" /><Relationship Id="rId4" Type="http://schemas.openxmlformats.org/officeDocument/2006/relationships/image" Target="../media/image65.png" /><Relationship Id="rId5" Type="http://schemas.openxmlformats.org/officeDocument/2006/relationships/image" Target="../media/image66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0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56.png" /><Relationship Id="rId4" Type="http://schemas.openxmlformats.org/officeDocument/2006/relationships/image" Target="../media/image67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68.png" /><Relationship Id="rId4" Type="http://schemas.openxmlformats.org/officeDocument/2006/relationships/image" Target="../media/image69.png" /><Relationship Id="rId5" Type="http://schemas.openxmlformats.org/officeDocument/2006/relationships/image" Target="../media/image70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25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26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27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44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71.png" /><Relationship Id="rId4" Type="http://schemas.openxmlformats.org/officeDocument/2006/relationships/image" Target="../media/image72.png" /><Relationship Id="rId5" Type="http://schemas.openxmlformats.org/officeDocument/2006/relationships/image" Target="../media/image73.png" /><Relationship Id="rId6" Type="http://schemas.openxmlformats.org/officeDocument/2006/relationships/image" Target="../media/image74.png" /><Relationship Id="rId7" Type="http://schemas.openxmlformats.org/officeDocument/2006/relationships/image" Target="../media/image75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47.png" /><Relationship Id="rId4" Type="http://schemas.openxmlformats.org/officeDocument/2006/relationships/image" Target="../media/image76.png" /><Relationship Id="rId5" Type="http://schemas.openxmlformats.org/officeDocument/2006/relationships/image" Target="../media/image77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77.png" /><Relationship Id="rId4" Type="http://schemas.openxmlformats.org/officeDocument/2006/relationships/image" Target="../media/image78.png" /><Relationship Id="rId5" Type="http://schemas.openxmlformats.org/officeDocument/2006/relationships/image" Target="../media/image79.png" /><Relationship Id="rId6" Type="http://schemas.openxmlformats.org/officeDocument/2006/relationships/image" Target="../media/image80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9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47.png" /><Relationship Id="rId4" Type="http://schemas.openxmlformats.org/officeDocument/2006/relationships/image" Target="../media/image56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1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56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34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35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36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7.xml" /><Relationship Id="rId3" Type="http://schemas.openxmlformats.org/officeDocument/2006/relationships/image" Target="../media/image44.pn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 /><Relationship Id="rId2" Type="http://schemas.openxmlformats.org/officeDocument/2006/relationships/notesSlide" Target="../notesSlides/notesSlide38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 /><Relationship Id="rId2" Type="http://schemas.openxmlformats.org/officeDocument/2006/relationships/notesSlide" Target="../notesSlides/notesSlide39.xml" /><Relationship Id="rId3" Type="http://schemas.openxmlformats.org/officeDocument/2006/relationships/image" Target="../media/image81.png" /><Relationship Id="rId4" Type="http://schemas.openxmlformats.org/officeDocument/2006/relationships/image" Target="../media/image82.png" /><Relationship Id="rId5" Type="http://schemas.openxmlformats.org/officeDocument/2006/relationships/image" Target="../media/image83.png" /><Relationship Id="rId6" Type="http://schemas.openxmlformats.org/officeDocument/2006/relationships/image" Target="../media/image84.png" /><Relationship Id="rId7" Type="http://schemas.openxmlformats.org/officeDocument/2006/relationships/image" Target="../media/image85.png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 /><Relationship Id="rId2" Type="http://schemas.openxmlformats.org/officeDocument/2006/relationships/notesSlide" Target="../notesSlides/notesSlide40.xml" /><Relationship Id="rId3" Type="http://schemas.openxmlformats.org/officeDocument/2006/relationships/image" Target="../media/image86.png" /><Relationship Id="rId4" Type="http://schemas.openxmlformats.org/officeDocument/2006/relationships/image" Target="../media/image87.png" /><Relationship Id="rId5" Type="http://schemas.openxmlformats.org/officeDocument/2006/relationships/image" Target="../media/image88.png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6.xml" /><Relationship Id="rId2" Type="http://schemas.openxmlformats.org/officeDocument/2006/relationships/notesSlide" Target="../notesSlides/notesSlide41.xml" /><Relationship Id="rId3" Type="http://schemas.openxmlformats.org/officeDocument/2006/relationships/image" Target="../media/image89.png" /><Relationship Id="rId4" Type="http://schemas.openxmlformats.org/officeDocument/2006/relationships/image" Target="../media/image56.png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42.xml" /></Relationships>
</file>

<file path=ppt/slides/_rels/slide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6.xml" /><Relationship Id="rId2" Type="http://schemas.openxmlformats.org/officeDocument/2006/relationships/notesSlide" Target="../notesSlides/notesSlide43.xml" /></Relationships>
</file>

<file path=ppt/slides/_rels/slide4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44.xml" /></Relationships>
</file>

<file path=ppt/slides/_rels/slide4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5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9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transformations with Desmos</a:t>
            </a:r>
            <a:endParaRPr/>
          </a:p>
        </p:txBody>
      </p:sp>
      <p:sp>
        <p:nvSpPr>
          <p:cNvPr id="751" name="Google Shape;751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Transformations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investigate transformations using dynamic software.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7"/>
          <p:cNvSpPr txBox="1"/>
          <p:nvPr/>
        </p:nvSpPr>
        <p:spPr>
          <a:xfrm>
            <a:off x="324000" y="2902495"/>
            <a:ext cx="8496000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 vector can be used to describe a translation. The vector</a:t>
            </a:r>
            <a:b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shows the translation 2 units right and 5 units down.</a:t>
            </a:r>
            <a:endParaRPr sz="20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7" name="Google Shape;767;p67" descr="&lt;math xmlns=&quot;http://www.w3.org/1998/Math/MathML&quot; display=&quot;block&quot; data-is-equatio=&quot;1&quot; data-latex=&quot;\begin{pmatrix}&amp;#10;2 \\&amp;#10;-5&amp;#10;\end{pmatrix}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o&gt;−&lt;/mo&gt;&lt;mn&gt;5&lt;/mn&gt;&lt;/mtd&gt;&lt;/mtr&gt;&lt;/mtable&gt;&lt;mo data-mjx-texclass=&quot;CLOSE&quot;&gt;)&lt;/mo&gt;&lt;/mrow&gt;&lt;/math&gt;" title="the 2 by 1 column matrix 2 negative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4364" y="2819874"/>
            <a:ext cx="566225" cy="527525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67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0"/>
              <a:t>The object</a:t>
            </a:r>
            <a:r>
              <a:rPr lang="en-GB" sz="2000"/>
              <a:t> </a:t>
            </a:r>
            <a:r>
              <a:rPr lang="en-GB" sz="2000" b="0"/>
              <a:t>is the starting figure before a transformation has been applied.</a:t>
            </a:r>
            <a:endParaRPr sz="2400" b="0"/>
          </a:p>
        </p:txBody>
      </p:sp>
      <p:sp>
        <p:nvSpPr>
          <p:cNvPr id="769" name="Google Shape;769;p67"/>
          <p:cNvSpPr txBox="1"/>
          <p:nvPr>
            <p:ph type="subTitle" idx="2"/>
          </p:nvPr>
        </p:nvSpPr>
        <p:spPr>
          <a:xfrm>
            <a:off x="324000" y="1905625"/>
            <a:ext cx="8496000" cy="79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0"/>
              <a:t>The image is the resulting figure after a transformation has been applied.</a:t>
            </a:r>
            <a:endParaRPr sz="2400" b="0"/>
          </a:p>
        </p:txBody>
      </p:sp>
      <p:sp>
        <p:nvSpPr>
          <p:cNvPr id="770" name="Google Shape;770;p67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b="0"/>
              <a:t>A polygon is a flat (2D), closed figure made up of straight line segments.</a:t>
            </a:r>
            <a:r>
              <a:rPr lang="en-GB" sz="2000" b="0">
                <a:highlight>
                  <a:srgbClr val="FFFFFF"/>
                </a:highlight>
              </a:rPr>
              <a:t> </a:t>
            </a:r>
            <a:endParaRPr sz="2000" b="0"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4" name="Shape 774"/>
        <p:cNvGrpSpPr/>
        <p:nvPr/>
      </p:nvGrpSpPr>
      <p:grpSpPr>
        <a:xfrm>
          <a:off x="0" y="0"/>
          <a:ext cx="0" cy="0"/>
        </a:xfrm>
      </p:grpSpPr>
      <p:sp>
        <p:nvSpPr>
          <p:cNvPr id="775" name="Google Shape;775;p68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translation with Desmos</a:t>
            </a:r>
            <a:endParaRPr/>
          </a:p>
        </p:txBody>
      </p:sp>
      <p:sp>
        <p:nvSpPr>
          <p:cNvPr id="776" name="Google Shape;776;p68"/>
          <p:cNvSpPr txBox="1"/>
          <p:nvPr>
            <p:ph type="title" idx="2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Investigating rotation with Desmos</a:t>
            </a:r>
            <a:endParaRPr/>
          </a:p>
        </p:txBody>
      </p:sp>
      <p:sp>
        <p:nvSpPr>
          <p:cNvPr id="777" name="Google Shape;777;p68"/>
          <p:cNvSpPr txBox="1"/>
          <p:nvPr>
            <p:ph type="title" idx="3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Investigating reflection with Desmos</a:t>
            </a:r>
            <a:endParaRPr/>
          </a:p>
        </p:txBody>
      </p:sp>
      <p:sp>
        <p:nvSpPr>
          <p:cNvPr id="778" name="Google Shape;778;p68"/>
          <p:cNvSpPr txBox="1"/>
          <p:nvPr>
            <p:ph type="title" idx="4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Investigating enlargement with Desmos</a:t>
            </a:r>
            <a:endParaRPr/>
          </a:p>
        </p:txBody>
      </p:sp>
      <p:sp>
        <p:nvSpPr>
          <p:cNvPr id="779" name="Google Shape;779;p68"/>
          <p:cNvSpPr txBox="1"/>
          <p:nvPr>
            <p:ph type="title" idx="5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transformations with Desmos</a:t>
            </a:r>
            <a:endParaRPr/>
          </a:p>
        </p:txBody>
      </p:sp>
      <p:pic>
        <p:nvPicPr>
          <p:cNvPr id="780" name="Google Shape;78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00" y="152032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4" name="Shape 784"/>
        <p:cNvGrpSpPr/>
        <p:nvPr/>
      </p:nvGrpSpPr>
      <p:grpSpPr>
        <a:xfrm>
          <a:off x="0" y="0"/>
          <a:ext cx="0" cy="0"/>
        </a:xfrm>
      </p:grpSpPr>
      <p:sp>
        <p:nvSpPr>
          <p:cNvPr id="785" name="Google Shape;785;p69"/>
          <p:cNvSpPr txBox="1"/>
          <p:nvPr>
            <p:ph type="body" idx="1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Dynamic geometry software can be used to </a:t>
            </a:r>
            <a:r>
              <a:rPr lang="en-GB">
                <a:solidFill>
                  <a:schemeClr val="accent4"/>
                </a:solidFill>
              </a:rPr>
              <a:t>quickly</a:t>
            </a:r>
            <a:r>
              <a:rPr lang="en-GB"/>
              <a:t> draw shapes and transform them.</a:t>
            </a:r>
            <a:endParaRPr/>
          </a:p>
        </p:txBody>
      </p:sp>
      <p:sp>
        <p:nvSpPr>
          <p:cNvPr id="786" name="Google Shape;786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translation with Desmos</a:t>
            </a:r>
            <a:endParaRPr/>
          </a:p>
        </p:txBody>
      </p:sp>
      <p:sp>
        <p:nvSpPr>
          <p:cNvPr id="787" name="Google Shape;787;p69"/>
          <p:cNvSpPr txBox="1"/>
          <p:nvPr>
            <p:ph type="body" idx="1"/>
          </p:nvPr>
        </p:nvSpPr>
        <p:spPr>
          <a:xfrm>
            <a:off x="324000" y="1901900"/>
            <a:ext cx="8496000" cy="79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It is called ‘dynamic’ because items can be </a:t>
            </a:r>
            <a:r>
              <a:rPr lang="en-GB">
                <a:solidFill>
                  <a:schemeClr val="accent4"/>
                </a:solidFill>
              </a:rPr>
              <a:t>moved</a:t>
            </a:r>
            <a:r>
              <a:rPr lang="en-GB"/>
              <a:t> and </a:t>
            </a:r>
            <a:r>
              <a:rPr lang="en-GB">
                <a:solidFill>
                  <a:schemeClr val="accent4"/>
                </a:solidFill>
              </a:rPr>
              <a:t>manipulated</a:t>
            </a:r>
            <a:r>
              <a:rPr lang="en-GB"/>
              <a:t> after they have been created.</a:t>
            </a:r>
            <a:br>
              <a:rPr lang="en-GB"/>
            </a:br>
            <a:endParaRPr/>
          </a:p>
        </p:txBody>
      </p:sp>
      <p:sp>
        <p:nvSpPr>
          <p:cNvPr id="788" name="Google Shape;788;p69"/>
          <p:cNvSpPr txBox="1"/>
          <p:nvPr>
            <p:ph type="body" idx="1"/>
          </p:nvPr>
        </p:nvSpPr>
        <p:spPr>
          <a:xfrm>
            <a:off x="324000" y="3044527"/>
            <a:ext cx="8496000" cy="127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This allows us to </a:t>
            </a:r>
            <a:r>
              <a:rPr lang="en-GB">
                <a:solidFill>
                  <a:schemeClr val="accent4"/>
                </a:solidFill>
              </a:rPr>
              <a:t>explore</a:t>
            </a:r>
            <a:r>
              <a:rPr lang="en-GB"/>
              <a:t> transformations and examine what happens when we change aspects of a diagram, </a:t>
            </a:r>
            <a:r>
              <a:rPr lang="en-GB">
                <a:solidFill>
                  <a:schemeClr val="accent4"/>
                </a:solidFill>
              </a:rPr>
              <a:t>after</a:t>
            </a:r>
            <a:r>
              <a:rPr lang="en-GB"/>
              <a:t> a transformation has already taken place.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92" name="Shape 792"/>
        <p:cNvGrpSpPr/>
        <p:nvPr/>
      </p:nvGrpSpPr>
      <p:grpSpPr>
        <a:xfrm>
          <a:off x="0" y="0"/>
          <a:ext cx="0" cy="0"/>
        </a:xfrm>
      </p:grpSpPr>
      <p:sp>
        <p:nvSpPr>
          <p:cNvPr id="793" name="Google Shape;793;p70"/>
          <p:cNvSpPr txBox="1"/>
          <p:nvPr>
            <p:ph type="body" idx="1"/>
          </p:nvPr>
        </p:nvSpPr>
        <p:spPr>
          <a:xfrm>
            <a:off x="324000" y="759300"/>
            <a:ext cx="8237700" cy="3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To get started:</a:t>
            </a:r>
            <a:endParaRPr/>
          </a:p>
        </p:txBody>
      </p:sp>
      <p:sp>
        <p:nvSpPr>
          <p:cNvPr id="794" name="Google Shape;794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translation with Desmos</a:t>
            </a:r>
            <a:endParaRPr/>
          </a:p>
        </p:txBody>
      </p:sp>
      <p:pic>
        <p:nvPicPr>
          <p:cNvPr id="795" name="Google Shape;795;p70"/>
          <p:cNvPicPr preferRelativeResize="0"/>
          <p:nvPr/>
        </p:nvPicPr>
        <p:blipFill>
          <a:blip r:embed="rId3">
            <a:alphaModFix/>
          </a:blip>
          <a:srcRect l="42525" b="8113"/>
          <a:stretch>
            <a:fillRect/>
          </a:stretch>
        </p:blipFill>
        <p:spPr>
          <a:xfrm>
            <a:off x="3008625" y="2388600"/>
            <a:ext cx="3126748" cy="2431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96" name="Google Shape;796;p70"/>
          <p:cNvSpPr txBox="1"/>
          <p:nvPr/>
        </p:nvSpPr>
        <p:spPr>
          <a:xfrm>
            <a:off x="1473375" y="2629750"/>
            <a:ext cx="1016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toolbar</a:t>
            </a:r>
            <a:endParaRPr sz="1600"/>
          </a:p>
        </p:txBody>
      </p:sp>
      <p:cxnSp>
        <p:nvCxnSpPr>
          <p:cNvPr id="797" name="Google Shape;797;p70"/>
          <p:cNvCxnSpPr/>
          <p:nvPr/>
        </p:nvCxnSpPr>
        <p:spPr>
          <a:xfrm flipH="1">
            <a:off x="2376075" y="2813950"/>
            <a:ext cx="743100" cy="62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8" name="Google Shape;798;p70"/>
          <p:cNvSpPr txBox="1"/>
          <p:nvPr/>
        </p:nvSpPr>
        <p:spPr>
          <a:xfrm>
            <a:off x="1140901" y="3496300"/>
            <a:ext cx="138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workspace</a:t>
            </a:r>
            <a:endParaRPr sz="1600"/>
          </a:p>
        </p:txBody>
      </p:sp>
      <p:cxnSp>
        <p:nvCxnSpPr>
          <p:cNvPr id="799" name="Google Shape;799;p70"/>
          <p:cNvCxnSpPr/>
          <p:nvPr/>
        </p:nvCxnSpPr>
        <p:spPr>
          <a:xfrm rot="10800000">
            <a:off x="2376075" y="3743300"/>
            <a:ext cx="931500" cy="138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0" name="Google Shape;800;p70"/>
          <p:cNvSpPr txBox="1"/>
          <p:nvPr>
            <p:ph type="body" idx="1"/>
          </p:nvPr>
        </p:nvSpPr>
        <p:spPr>
          <a:xfrm>
            <a:off x="324000" y="1271754"/>
            <a:ext cx="8237700" cy="7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Open up a web browser and go to </a:t>
            </a:r>
            <a:r>
              <a:rPr lang="en-GB">
                <a:solidFill>
                  <a:schemeClr val="accent4"/>
                </a:solidFill>
              </a:rPr>
              <a:t>desmos.com</a:t>
            </a:r>
            <a:endParaRPr>
              <a:solidFill>
                <a:schemeClr val="accent4"/>
              </a:solidFill>
            </a:endParaRPr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Find and press the ‘</a:t>
            </a:r>
            <a:r>
              <a:rPr lang="en-GB">
                <a:solidFill>
                  <a:schemeClr val="accent4"/>
                </a:solidFill>
              </a:rPr>
              <a:t>Open Geometry</a:t>
            </a:r>
            <a:r>
              <a:rPr lang="en-GB"/>
              <a:t>’ button.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4" name="Shape 804"/>
        <p:cNvGrpSpPr/>
        <p:nvPr/>
      </p:nvGrpSpPr>
      <p:grpSpPr>
        <a:xfrm>
          <a:off x="0" y="0"/>
          <a:ext cx="0" cy="0"/>
        </a:xfrm>
      </p:grpSpPr>
      <p:sp>
        <p:nvSpPr>
          <p:cNvPr id="805" name="Google Shape;805;p71"/>
          <p:cNvSpPr txBox="1"/>
          <p:nvPr>
            <p:ph type="body" idx="1"/>
          </p:nvPr>
        </p:nvSpPr>
        <p:spPr>
          <a:xfrm>
            <a:off x="324000" y="759300"/>
            <a:ext cx="82377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How to draw a polygon:</a:t>
            </a:r>
            <a:endParaRPr/>
          </a:p>
        </p:txBody>
      </p:sp>
      <p:sp>
        <p:nvSpPr>
          <p:cNvPr id="806" name="Google Shape;806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translation with Desmos</a:t>
            </a:r>
            <a:endParaRPr/>
          </a:p>
        </p:txBody>
      </p:sp>
      <p:pic>
        <p:nvPicPr>
          <p:cNvPr id="807" name="Google Shape;807;p71"/>
          <p:cNvPicPr preferRelativeResize="0"/>
          <p:nvPr/>
        </p:nvPicPr>
        <p:blipFill>
          <a:blip r:embed="rId3">
            <a:alphaModFix/>
          </a:blip>
          <a:srcRect l="833" b="25334"/>
          <a:stretch>
            <a:fillRect/>
          </a:stretch>
        </p:blipFill>
        <p:spPr>
          <a:xfrm>
            <a:off x="4832475" y="1627173"/>
            <a:ext cx="3791400" cy="26928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08" name="Google Shape;808;p71"/>
          <p:cNvSpPr txBox="1"/>
          <p:nvPr>
            <p:ph type="body" idx="1"/>
          </p:nvPr>
        </p:nvSpPr>
        <p:spPr>
          <a:xfrm>
            <a:off x="324000" y="1620000"/>
            <a:ext cx="4248000" cy="38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on the polygon tool.</a:t>
            </a:r>
            <a:endParaRPr sz="1800"/>
          </a:p>
        </p:txBody>
      </p:sp>
      <p:pic>
        <p:nvPicPr>
          <p:cNvPr id="809" name="Google Shape;809;p71"/>
          <p:cNvPicPr preferRelativeResize="0"/>
          <p:nvPr/>
        </p:nvPicPr>
        <p:blipFill>
          <a:blip r:embed="rId4">
            <a:alphaModFix/>
          </a:blip>
          <a:srcRect l="87518" t="9031" r="1040" b="7342"/>
          <a:stretch>
            <a:fillRect/>
          </a:stretch>
        </p:blipFill>
        <p:spPr>
          <a:xfrm>
            <a:off x="3642099" y="1583050"/>
            <a:ext cx="471000" cy="472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10" name="Google Shape;810;p71"/>
          <p:cNvPicPr preferRelativeResize="0"/>
          <p:nvPr/>
        </p:nvPicPr>
        <p:blipFill>
          <a:blip r:embed="rId5">
            <a:alphaModFix/>
          </a:blip>
          <a:srcRect l="901" b="22999"/>
          <a:stretch>
            <a:fillRect/>
          </a:stretch>
        </p:blipFill>
        <p:spPr>
          <a:xfrm>
            <a:off x="4832475" y="1627175"/>
            <a:ext cx="3757125" cy="269282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11" name="Google Shape;811;p71"/>
          <p:cNvPicPr preferRelativeResize="0"/>
          <p:nvPr/>
        </p:nvPicPr>
        <p:blipFill>
          <a:blip r:embed="rId6">
            <a:alphaModFix/>
          </a:blip>
          <a:srcRect l="1312" b="24823"/>
          <a:stretch>
            <a:fillRect/>
          </a:stretch>
        </p:blipFill>
        <p:spPr>
          <a:xfrm>
            <a:off x="4831200" y="1627175"/>
            <a:ext cx="3791400" cy="26928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12" name="Google Shape;812;p71"/>
          <p:cNvSpPr txBox="1"/>
          <p:nvPr>
            <p:ph type="body" idx="1"/>
          </p:nvPr>
        </p:nvSpPr>
        <p:spPr>
          <a:xfrm>
            <a:off x="327000" y="2249082"/>
            <a:ext cx="4248000" cy="66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on the workspace to insert some vertices.</a:t>
            </a:r>
            <a:endParaRPr sz="1800"/>
          </a:p>
        </p:txBody>
      </p:sp>
      <p:sp>
        <p:nvSpPr>
          <p:cNvPr id="813" name="Google Shape;813;p71"/>
          <p:cNvSpPr txBox="1"/>
          <p:nvPr>
            <p:ph type="body" idx="1"/>
          </p:nvPr>
        </p:nvSpPr>
        <p:spPr>
          <a:xfrm>
            <a:off x="321391" y="3187700"/>
            <a:ext cx="4248000" cy="66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on the first vertex again to complete the polygon. 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17" name="Shape 817"/>
        <p:cNvGrpSpPr/>
        <p:nvPr/>
      </p:nvGrpSpPr>
      <p:grpSpPr>
        <a:xfrm>
          <a:off x="0" y="0"/>
          <a:ext cx="0" cy="0"/>
        </a:xfrm>
      </p:grpSpPr>
      <p:sp>
        <p:nvSpPr>
          <p:cNvPr id="818" name="Google Shape;818;p72"/>
          <p:cNvSpPr txBox="1"/>
          <p:nvPr>
            <p:ph type="body" idx="1"/>
          </p:nvPr>
        </p:nvSpPr>
        <p:spPr>
          <a:xfrm>
            <a:off x="324000" y="1366200"/>
            <a:ext cx="8237700" cy="83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For example, the vector           represents a movement of 2 units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to the right and 5 units down. </a:t>
            </a:r>
            <a:endParaRPr sz="2000"/>
          </a:p>
        </p:txBody>
      </p:sp>
      <p:sp>
        <p:nvSpPr>
          <p:cNvPr id="819" name="Google Shape;819;p72"/>
          <p:cNvSpPr txBox="1"/>
          <p:nvPr>
            <p:ph type="body" idx="1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vector can be used to describe the movement in a translation. </a:t>
            </a:r>
            <a:endParaRPr sz="2000"/>
          </a:p>
        </p:txBody>
      </p:sp>
      <p:sp>
        <p:nvSpPr>
          <p:cNvPr id="820" name="Google Shape;82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translation with Desmos</a:t>
            </a:r>
            <a:endParaRPr/>
          </a:p>
        </p:txBody>
      </p:sp>
      <p:pic>
        <p:nvPicPr>
          <p:cNvPr id="821" name="Google Shape;821;p72" descr="&lt;math xmlns=&quot;http://www.w3.org/1998/Math/MathML&quot; display=&quot;block&quot; data-is-equatio=&quot;1&quot; data-latex=&quot;\begin{pmatrix}&amp;#10;2 \\&amp;#10;-5&amp;#10;\end{pmatrix}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o&gt;−&lt;/mo&gt;&lt;mn&gt;5&lt;/mn&gt;&lt;/mtd&gt;&lt;/mtr&gt;&lt;/mtable&gt;&lt;mo data-mjx-texclass=&quot;CLOSE&quot;&gt;)&lt;/mo&gt;&lt;/mrow&gt;&lt;/math&gt;" title="the 2 by 1 column matrix 2 negative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4199" y="1257891"/>
            <a:ext cx="579609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2"/>
          <p:cNvSpPr txBox="1"/>
          <p:nvPr>
            <p:ph type="body" idx="1"/>
          </p:nvPr>
        </p:nvSpPr>
        <p:spPr>
          <a:xfrm>
            <a:off x="324000" y="2392804"/>
            <a:ext cx="8237700" cy="43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Desmos represents vectors as a single arrow. </a:t>
            </a:r>
            <a:endParaRPr sz="2000"/>
          </a:p>
        </p:txBody>
      </p:sp>
      <p:cxnSp>
        <p:nvCxnSpPr>
          <p:cNvPr id="823" name="Google Shape;823;p72"/>
          <p:cNvCxnSpPr/>
          <p:nvPr/>
        </p:nvCxnSpPr>
        <p:spPr>
          <a:xfrm>
            <a:off x="3994254" y="3458071"/>
            <a:ext cx="8595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4" name="Google Shape;824;p72"/>
          <p:cNvCxnSpPr/>
          <p:nvPr/>
        </p:nvCxnSpPr>
        <p:spPr>
          <a:xfrm flipH="1">
            <a:off x="4860790" y="3458071"/>
            <a:ext cx="0" cy="1016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25" name="Google Shape;825;p72"/>
          <p:cNvSpPr txBox="1"/>
          <p:nvPr>
            <p:ph type="body" idx="1"/>
          </p:nvPr>
        </p:nvSpPr>
        <p:spPr>
          <a:xfrm>
            <a:off x="4382020" y="3178491"/>
            <a:ext cx="251700" cy="41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endParaRPr sz="1600"/>
          </a:p>
        </p:txBody>
      </p:sp>
      <p:sp>
        <p:nvSpPr>
          <p:cNvPr id="826" name="Google Shape;826;p72"/>
          <p:cNvSpPr txBox="1"/>
          <p:nvPr>
            <p:ph type="body" idx="1"/>
          </p:nvPr>
        </p:nvSpPr>
        <p:spPr>
          <a:xfrm>
            <a:off x="4906038" y="3724181"/>
            <a:ext cx="251700" cy="41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cxnSp>
        <p:nvCxnSpPr>
          <p:cNvPr id="827" name="Google Shape;827;p72"/>
          <p:cNvCxnSpPr/>
          <p:nvPr/>
        </p:nvCxnSpPr>
        <p:spPr>
          <a:xfrm>
            <a:off x="3994254" y="3458071"/>
            <a:ext cx="863700" cy="1016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828" name="Google Shape;828;p72" descr="&lt;math xmlns=&quot;http://www.w3.org/1998/Math/MathML&quot; display=&quot;block&quot; data-is-equatio=&quot;1&quot; data-latex=&quot;\begin{pmatrix}&amp;#10;2 \\&amp;#10;-5&amp;#10;\end{pmatrix}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o&gt;−&lt;/mo&gt;&lt;mn&gt;5&lt;/mn&gt;&lt;/mtd&gt;&lt;/mtr&gt;&lt;/mtable&gt;&lt;mo data-mjx-texclass=&quot;CLOSE&quot;&gt;)&lt;/mo&gt;&lt;/mrow&gt;&lt;/math&gt;" title="the 2 by 1 column matrix 2 negative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4164" y="3490651"/>
            <a:ext cx="536700" cy="5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32" name="Shape 832"/>
        <p:cNvGrpSpPr/>
        <p:nvPr/>
      </p:nvGrpSpPr>
      <p:grpSpPr>
        <a:xfrm>
          <a:off x="0" y="0"/>
          <a:ext cx="0" cy="0"/>
        </a:xfrm>
      </p:grpSpPr>
      <p:pic>
        <p:nvPicPr>
          <p:cNvPr id="833" name="Google Shape;833;p73"/>
          <p:cNvPicPr preferRelativeResize="0"/>
          <p:nvPr/>
        </p:nvPicPr>
        <p:blipFill>
          <a:blip r:embed="rId3">
            <a:alphaModFix/>
          </a:blip>
          <a:srcRect l="566" b="21303"/>
          <a:stretch>
            <a:fillRect/>
          </a:stretch>
        </p:blipFill>
        <p:spPr>
          <a:xfrm>
            <a:off x="4823075" y="1627175"/>
            <a:ext cx="3757124" cy="269282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34" name="Google Shape;834;p73"/>
          <p:cNvPicPr preferRelativeResize="0"/>
          <p:nvPr/>
        </p:nvPicPr>
        <p:blipFill>
          <a:blip r:embed="rId4">
            <a:alphaModFix/>
          </a:blip>
          <a:srcRect l="793" b="24772"/>
          <a:stretch>
            <a:fillRect/>
          </a:stretch>
        </p:blipFill>
        <p:spPr>
          <a:xfrm>
            <a:off x="4823075" y="1627175"/>
            <a:ext cx="3757125" cy="26928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35" name="Google Shape;835;p73"/>
          <p:cNvSpPr txBox="1"/>
          <p:nvPr>
            <p:ph type="body" idx="1"/>
          </p:nvPr>
        </p:nvSpPr>
        <p:spPr>
          <a:xfrm>
            <a:off x="324000" y="759300"/>
            <a:ext cx="82377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How to draw a vector: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836" name="Google Shape;836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translation with Desmos</a:t>
            </a:r>
            <a:endParaRPr/>
          </a:p>
        </p:txBody>
      </p:sp>
      <p:sp>
        <p:nvSpPr>
          <p:cNvPr id="837" name="Google Shape;837;p73"/>
          <p:cNvSpPr txBox="1"/>
          <p:nvPr>
            <p:ph type="body" idx="1"/>
          </p:nvPr>
        </p:nvSpPr>
        <p:spPr>
          <a:xfrm>
            <a:off x="324000" y="1620000"/>
            <a:ext cx="4248000" cy="9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the down-arrow on the line segment button to open up an option menu.</a:t>
            </a:r>
            <a:endParaRPr sz="1800"/>
          </a:p>
        </p:txBody>
      </p:sp>
      <p:pic>
        <p:nvPicPr>
          <p:cNvPr id="838" name="Google Shape;838;p73"/>
          <p:cNvPicPr preferRelativeResize="0"/>
          <p:nvPr/>
        </p:nvPicPr>
        <p:blipFill>
          <a:blip r:embed="rId5">
            <a:alphaModFix/>
          </a:blip>
          <a:srcRect l="36187" t="9480" r="48960" b="9488"/>
          <a:stretch>
            <a:fillRect/>
          </a:stretch>
        </p:blipFill>
        <p:spPr>
          <a:xfrm>
            <a:off x="2318021" y="2242396"/>
            <a:ext cx="506400" cy="379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39" name="Google Shape;839;p73"/>
          <p:cNvSpPr txBox="1"/>
          <p:nvPr>
            <p:ph type="body" idx="1"/>
          </p:nvPr>
        </p:nvSpPr>
        <p:spPr>
          <a:xfrm>
            <a:off x="326363" y="2874875"/>
            <a:ext cx="42480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Choose ‘vector’.</a:t>
            </a:r>
            <a:endParaRPr sz="1800"/>
          </a:p>
        </p:txBody>
      </p:sp>
      <p:sp>
        <p:nvSpPr>
          <p:cNvPr id="840" name="Google Shape;840;p73"/>
          <p:cNvSpPr txBox="1"/>
          <p:nvPr>
            <p:ph type="body" idx="1"/>
          </p:nvPr>
        </p:nvSpPr>
        <p:spPr>
          <a:xfrm>
            <a:off x="326801" y="3507363"/>
            <a:ext cx="4248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two points on the workspace to insert a vector.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44" name="Shape 844"/>
        <p:cNvGrpSpPr/>
        <p:nvPr/>
      </p:nvGrpSpPr>
      <p:grpSpPr>
        <a:xfrm>
          <a:off x="0" y="0"/>
          <a:ext cx="0" cy="0"/>
        </a:xfrm>
      </p:grpSpPr>
      <p:sp>
        <p:nvSpPr>
          <p:cNvPr id="845" name="Google Shape;845;p74"/>
          <p:cNvSpPr txBox="1"/>
          <p:nvPr>
            <p:ph type="body" idx="1"/>
          </p:nvPr>
        </p:nvSpPr>
        <p:spPr>
          <a:xfrm>
            <a:off x="327575" y="2249312"/>
            <a:ext cx="4248000" cy="100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on the polygon and click the ‘transform’ button to open up an option menu.</a:t>
            </a:r>
            <a:endParaRPr sz="1800"/>
          </a:p>
        </p:txBody>
      </p:sp>
      <p:pic>
        <p:nvPicPr>
          <p:cNvPr id="846" name="Google Shape;846;p74"/>
          <p:cNvPicPr preferRelativeResize="0"/>
          <p:nvPr/>
        </p:nvPicPr>
        <p:blipFill>
          <a:blip r:embed="rId3">
            <a:alphaModFix/>
          </a:blip>
          <a:srcRect l="1526" b="25031"/>
          <a:stretch>
            <a:fillRect/>
          </a:stretch>
        </p:blipFill>
        <p:spPr>
          <a:xfrm>
            <a:off x="4815525" y="1622200"/>
            <a:ext cx="3757125" cy="269252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47" name="Google Shape;847;p74"/>
          <p:cNvPicPr preferRelativeResize="0"/>
          <p:nvPr/>
        </p:nvPicPr>
        <p:blipFill>
          <a:blip r:embed="rId4">
            <a:alphaModFix/>
          </a:blip>
          <a:srcRect l="665" b="23218"/>
          <a:stretch>
            <a:fillRect/>
          </a:stretch>
        </p:blipFill>
        <p:spPr>
          <a:xfrm>
            <a:off x="4840325" y="1622200"/>
            <a:ext cx="3692150" cy="26925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48" name="Google Shape;848;p74"/>
          <p:cNvPicPr preferRelativeResize="0"/>
          <p:nvPr/>
        </p:nvPicPr>
        <p:blipFill>
          <a:blip r:embed="rId5">
            <a:alphaModFix/>
          </a:blip>
          <a:srcRect b="24265"/>
          <a:stretch>
            <a:fillRect/>
          </a:stretch>
        </p:blipFill>
        <p:spPr>
          <a:xfrm>
            <a:off x="4815550" y="1622200"/>
            <a:ext cx="3757124" cy="26925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49" name="Google Shape;849;p74"/>
          <p:cNvPicPr preferRelativeResize="0"/>
          <p:nvPr/>
        </p:nvPicPr>
        <p:blipFill>
          <a:blip r:embed="rId6">
            <a:alphaModFix/>
          </a:blip>
          <a:srcRect l="803" b="24851"/>
          <a:stretch>
            <a:fillRect/>
          </a:stretch>
        </p:blipFill>
        <p:spPr>
          <a:xfrm>
            <a:off x="4818275" y="1612799"/>
            <a:ext cx="3757126" cy="26925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50" name="Google Shape;850;p74"/>
          <p:cNvSpPr txBox="1"/>
          <p:nvPr>
            <p:ph type="body" idx="1"/>
          </p:nvPr>
        </p:nvSpPr>
        <p:spPr>
          <a:xfrm>
            <a:off x="324000" y="759300"/>
            <a:ext cx="82377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How to translate the object:</a:t>
            </a:r>
            <a:endParaRPr/>
          </a:p>
        </p:txBody>
      </p:sp>
      <p:sp>
        <p:nvSpPr>
          <p:cNvPr id="851" name="Google Shape;851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translation with Desmos</a:t>
            </a:r>
            <a:endParaRPr/>
          </a:p>
        </p:txBody>
      </p:sp>
      <p:sp>
        <p:nvSpPr>
          <p:cNvPr id="852" name="Google Shape;852;p74"/>
          <p:cNvSpPr txBox="1"/>
          <p:nvPr>
            <p:ph type="body" idx="1"/>
          </p:nvPr>
        </p:nvSpPr>
        <p:spPr>
          <a:xfrm>
            <a:off x="324000" y="1620000"/>
            <a:ext cx="4248000" cy="37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on the select tool.</a:t>
            </a:r>
            <a:endParaRPr sz="1800"/>
          </a:p>
        </p:txBody>
      </p:sp>
      <p:pic>
        <p:nvPicPr>
          <p:cNvPr id="853" name="Google Shape;853;p74"/>
          <p:cNvPicPr preferRelativeResize="0"/>
          <p:nvPr/>
        </p:nvPicPr>
        <p:blipFill>
          <a:blip r:embed="rId7">
            <a:alphaModFix/>
          </a:blip>
          <a:srcRect l="1907" t="10566" r="83240" b="8402"/>
          <a:stretch>
            <a:fillRect/>
          </a:stretch>
        </p:blipFill>
        <p:spPr>
          <a:xfrm>
            <a:off x="3477638" y="1589625"/>
            <a:ext cx="506400" cy="379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54" name="Google Shape;854;p74"/>
          <p:cNvPicPr preferRelativeResize="0"/>
          <p:nvPr/>
        </p:nvPicPr>
        <p:blipFill>
          <a:blip r:embed="rId6">
            <a:alphaModFix/>
          </a:blip>
          <a:srcRect l="71914" t="8357" r="11976" b="87050"/>
          <a:stretch>
            <a:fillRect/>
          </a:stretch>
        </p:blipFill>
        <p:spPr>
          <a:xfrm>
            <a:off x="2475650" y="2917238"/>
            <a:ext cx="1002000" cy="270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55" name="Google Shape;855;p74"/>
          <p:cNvPicPr preferRelativeResize="0"/>
          <p:nvPr/>
        </p:nvPicPr>
        <p:blipFill>
          <a:blip r:embed="rId4">
            <a:alphaModFix/>
          </a:blip>
          <a:srcRect l="44906" t="15895" r="45998" b="73008"/>
          <a:stretch>
            <a:fillRect/>
          </a:stretch>
        </p:blipFill>
        <p:spPr>
          <a:xfrm>
            <a:off x="2887198" y="3342586"/>
            <a:ext cx="506400" cy="600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56" name="Google Shape;856;p74"/>
          <p:cNvSpPr txBox="1"/>
          <p:nvPr>
            <p:ph type="body" idx="1"/>
          </p:nvPr>
        </p:nvSpPr>
        <p:spPr>
          <a:xfrm>
            <a:off x="324000" y="3507863"/>
            <a:ext cx="4248000" cy="27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Choose ‘translate’.</a:t>
            </a:r>
            <a:endParaRPr sz="1800"/>
          </a:p>
        </p:txBody>
      </p:sp>
      <p:sp>
        <p:nvSpPr>
          <p:cNvPr id="857" name="Google Shape;857;p74"/>
          <p:cNvSpPr txBox="1"/>
          <p:nvPr>
            <p:ph type="body" idx="1"/>
          </p:nvPr>
        </p:nvSpPr>
        <p:spPr>
          <a:xfrm>
            <a:off x="320238" y="4135062"/>
            <a:ext cx="42480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on the vector. </a:t>
            </a:r>
            <a:endParaRPr sz="1800"/>
          </a:p>
        </p:txBody>
      </p:sp>
      <p:cxnSp>
        <p:nvCxnSpPr>
          <p:cNvPr id="858" name="Google Shape;858;p74"/>
          <p:cNvCxnSpPr/>
          <p:nvPr/>
        </p:nvCxnSpPr>
        <p:spPr>
          <a:xfrm rot="10800000" flipH="1">
            <a:off x="2904675" y="2640800"/>
            <a:ext cx="2399100" cy="1676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62" name="Shape 862"/>
        <p:cNvGrpSpPr/>
        <p:nvPr/>
      </p:nvGrpSpPr>
      <p:grpSpPr>
        <a:xfrm>
          <a:off x="0" y="0"/>
          <a:ext cx="0" cy="0"/>
        </a:xfrm>
      </p:grpSpPr>
      <p:pic>
        <p:nvPicPr>
          <p:cNvPr id="863" name="Google Shape;863;p75"/>
          <p:cNvPicPr preferRelativeResize="0"/>
          <p:nvPr/>
        </p:nvPicPr>
        <p:blipFill>
          <a:blip r:embed="rId3">
            <a:alphaModFix/>
          </a:blip>
          <a:srcRect l="802" t="17389" r="28138" b="15703"/>
          <a:stretch>
            <a:fillRect/>
          </a:stretch>
        </p:blipFill>
        <p:spPr>
          <a:xfrm>
            <a:off x="5452975" y="1765800"/>
            <a:ext cx="3077650" cy="2741374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75"/>
          <p:cNvSpPr txBox="1"/>
          <p:nvPr>
            <p:ph type="body" idx="1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We can describe the items in the workspace using mathematical terminology.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300"/>
          </a:p>
        </p:txBody>
      </p:sp>
      <p:sp>
        <p:nvSpPr>
          <p:cNvPr id="865" name="Google Shape;865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translation with Desmos</a:t>
            </a:r>
            <a:endParaRPr/>
          </a:p>
        </p:txBody>
      </p:sp>
      <p:sp>
        <p:nvSpPr>
          <p:cNvPr id="866" name="Google Shape;866;p75"/>
          <p:cNvSpPr txBox="1"/>
          <p:nvPr/>
        </p:nvSpPr>
        <p:spPr>
          <a:xfrm>
            <a:off x="303550" y="1638259"/>
            <a:ext cx="49824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vector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shows the movement between the object and image.</a:t>
            </a:r>
            <a:endParaRPr sz="1200"/>
          </a:p>
        </p:txBody>
      </p:sp>
      <p:sp>
        <p:nvSpPr>
          <p:cNvPr id="867" name="Google Shape;867;p75"/>
          <p:cNvSpPr txBox="1"/>
          <p:nvPr/>
        </p:nvSpPr>
        <p:spPr>
          <a:xfrm>
            <a:off x="5558000" y="4076075"/>
            <a:ext cx="80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object</a:t>
            </a:r>
            <a:endParaRPr sz="1600"/>
          </a:p>
        </p:txBody>
      </p:sp>
      <p:sp>
        <p:nvSpPr>
          <p:cNvPr id="868" name="Google Shape;868;p75"/>
          <p:cNvSpPr txBox="1"/>
          <p:nvPr/>
        </p:nvSpPr>
        <p:spPr>
          <a:xfrm>
            <a:off x="6728800" y="4320000"/>
            <a:ext cx="947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image</a:t>
            </a:r>
            <a:endParaRPr sz="1600"/>
          </a:p>
        </p:txBody>
      </p:sp>
      <p:sp>
        <p:nvSpPr>
          <p:cNvPr id="869" name="Google Shape;869;p75"/>
          <p:cNvSpPr txBox="1"/>
          <p:nvPr/>
        </p:nvSpPr>
        <p:spPr>
          <a:xfrm>
            <a:off x="6658150" y="1404450"/>
            <a:ext cx="947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vector</a:t>
            </a:r>
            <a:endParaRPr sz="1600"/>
          </a:p>
        </p:txBody>
      </p:sp>
      <p:cxnSp>
        <p:nvCxnSpPr>
          <p:cNvPr id="870" name="Google Shape;870;p75"/>
          <p:cNvCxnSpPr/>
          <p:nvPr/>
        </p:nvCxnSpPr>
        <p:spPr>
          <a:xfrm flipH="1">
            <a:off x="6364401" y="1689600"/>
            <a:ext cx="357000" cy="288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1" name="Google Shape;871;p75"/>
          <p:cNvCxnSpPr/>
          <p:nvPr/>
        </p:nvCxnSpPr>
        <p:spPr>
          <a:xfrm flipH="1">
            <a:off x="6322175" y="3780000"/>
            <a:ext cx="648900" cy="400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2" name="Google Shape;872;p75"/>
          <p:cNvCxnSpPr/>
          <p:nvPr/>
        </p:nvCxnSpPr>
        <p:spPr>
          <a:xfrm flipH="1">
            <a:off x="7459200" y="3993800"/>
            <a:ext cx="349500" cy="411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3" name="Google Shape;873;p75"/>
          <p:cNvSpPr txBox="1"/>
          <p:nvPr/>
        </p:nvSpPr>
        <p:spPr>
          <a:xfrm>
            <a:off x="303550" y="3771859"/>
            <a:ext cx="49824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polygon we select to transform is the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object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/>
          </a:p>
        </p:txBody>
      </p:sp>
      <p:sp>
        <p:nvSpPr>
          <p:cNvPr id="874" name="Google Shape;874;p75"/>
          <p:cNvSpPr txBox="1"/>
          <p:nvPr/>
        </p:nvSpPr>
        <p:spPr>
          <a:xfrm>
            <a:off x="303550" y="2690384"/>
            <a:ext cx="49824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new polygon that is created by the transformation is the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image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78" name="Shape 878"/>
        <p:cNvGrpSpPr/>
        <p:nvPr/>
      </p:nvGrpSpPr>
      <p:grpSpPr>
        <a:xfrm>
          <a:off x="0" y="0"/>
          <a:ext cx="0" cy="0"/>
        </a:xfrm>
      </p:grpSpPr>
      <p:sp>
        <p:nvSpPr>
          <p:cNvPr id="879" name="Google Shape;879;p7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button allows you to draw a polygon?  </a:t>
            </a:r>
            <a:endParaRPr/>
          </a:p>
        </p:txBody>
      </p:sp>
      <p:sp>
        <p:nvSpPr>
          <p:cNvPr id="880" name="Google Shape;880;p7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Investigating translation with Desmos</a:t>
            </a:r>
            <a:endParaRPr/>
          </a:p>
        </p:txBody>
      </p:sp>
      <p:pic>
        <p:nvPicPr>
          <p:cNvPr id="881" name="Google Shape;881;p76"/>
          <p:cNvPicPr preferRelativeResize="0"/>
          <p:nvPr/>
        </p:nvPicPr>
        <p:blipFill>
          <a:blip r:embed="rId3">
            <a:alphaModFix/>
          </a:blip>
          <a:srcRect l="1770" t="9705" r="83161" b="8387"/>
          <a:stretch>
            <a:fillRect/>
          </a:stretch>
        </p:blipFill>
        <p:spPr>
          <a:xfrm>
            <a:off x="970800" y="1620000"/>
            <a:ext cx="714000" cy="533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82" name="Google Shape;882;p76"/>
          <p:cNvPicPr preferRelativeResize="0"/>
          <p:nvPr/>
        </p:nvPicPr>
        <p:blipFill>
          <a:blip r:embed="rId3">
            <a:alphaModFix/>
          </a:blip>
          <a:srcRect l="36147" t="9042" r="48784" b="9050"/>
          <a:stretch>
            <a:fillRect/>
          </a:stretch>
        </p:blipFill>
        <p:spPr>
          <a:xfrm>
            <a:off x="970800" y="2430000"/>
            <a:ext cx="714000" cy="533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83" name="Google Shape;883;p76"/>
          <p:cNvPicPr preferRelativeResize="0"/>
          <p:nvPr/>
        </p:nvPicPr>
        <p:blipFill>
          <a:blip r:embed="rId3">
            <a:alphaModFix/>
          </a:blip>
          <a:srcRect l="70576" t="9050" r="14355" b="9042"/>
          <a:stretch>
            <a:fillRect/>
          </a:stretch>
        </p:blipFill>
        <p:spPr>
          <a:xfrm>
            <a:off x="970800" y="3240000"/>
            <a:ext cx="714000" cy="533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84" name="Google Shape;884;p76"/>
          <p:cNvPicPr preferRelativeResize="0"/>
          <p:nvPr/>
        </p:nvPicPr>
        <p:blipFill>
          <a:blip r:embed="rId3">
            <a:alphaModFix/>
          </a:blip>
          <a:srcRect l="87668" t="9042" r="1153" b="9050"/>
          <a:stretch>
            <a:fillRect/>
          </a:stretch>
        </p:blipFill>
        <p:spPr>
          <a:xfrm>
            <a:off x="988225" y="4053450"/>
            <a:ext cx="529800" cy="533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85" name="Google Shape;885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4808" y="40935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9" name="Shape 889"/>
        <p:cNvGrpSpPr/>
        <p:nvPr/>
      </p:nvGrpSpPr>
      <p:grpSpPr>
        <a:xfrm>
          <a:off x="0" y="0"/>
          <a:ext cx="0" cy="0"/>
        </a:xfrm>
      </p:grpSpPr>
      <p:sp>
        <p:nvSpPr>
          <p:cNvPr id="890" name="Google Shape;890;p77"/>
          <p:cNvSpPr txBox="1"/>
          <p:nvPr>
            <p:ph type="title"/>
          </p:nvPr>
        </p:nvSpPr>
        <p:spPr>
          <a:xfrm>
            <a:off x="324000" y="810000"/>
            <a:ext cx="82065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button opens up the option menu containing the vector tool?  </a:t>
            </a:r>
            <a:endParaRPr/>
          </a:p>
        </p:txBody>
      </p:sp>
      <p:sp>
        <p:nvSpPr>
          <p:cNvPr id="891" name="Google Shape;891;p7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translation with Desmos</a:t>
            </a:r>
            <a:endParaRPr/>
          </a:p>
        </p:txBody>
      </p:sp>
      <p:pic>
        <p:nvPicPr>
          <p:cNvPr id="892" name="Google Shape;892;p77"/>
          <p:cNvPicPr preferRelativeResize="0"/>
          <p:nvPr/>
        </p:nvPicPr>
        <p:blipFill>
          <a:blip r:embed="rId3">
            <a:alphaModFix/>
          </a:blip>
          <a:srcRect l="1770" t="9705" r="83161" b="8387"/>
          <a:stretch>
            <a:fillRect/>
          </a:stretch>
        </p:blipFill>
        <p:spPr>
          <a:xfrm>
            <a:off x="970800" y="1620000"/>
            <a:ext cx="714000" cy="533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93" name="Google Shape;893;p77"/>
          <p:cNvPicPr preferRelativeResize="0"/>
          <p:nvPr/>
        </p:nvPicPr>
        <p:blipFill>
          <a:blip r:embed="rId3">
            <a:alphaModFix/>
          </a:blip>
          <a:srcRect l="36147" t="9042" r="48784" b="9050"/>
          <a:stretch>
            <a:fillRect/>
          </a:stretch>
        </p:blipFill>
        <p:spPr>
          <a:xfrm>
            <a:off x="970800" y="2430000"/>
            <a:ext cx="714000" cy="533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94" name="Google Shape;894;p77"/>
          <p:cNvPicPr preferRelativeResize="0"/>
          <p:nvPr/>
        </p:nvPicPr>
        <p:blipFill>
          <a:blip r:embed="rId3">
            <a:alphaModFix/>
          </a:blip>
          <a:srcRect l="70576" t="9050" r="14355" b="9042"/>
          <a:stretch>
            <a:fillRect/>
          </a:stretch>
        </p:blipFill>
        <p:spPr>
          <a:xfrm>
            <a:off x="970800" y="3240000"/>
            <a:ext cx="714000" cy="533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95" name="Google Shape;895;p77"/>
          <p:cNvPicPr preferRelativeResize="0"/>
          <p:nvPr/>
        </p:nvPicPr>
        <p:blipFill>
          <a:blip r:embed="rId3">
            <a:alphaModFix/>
          </a:blip>
          <a:srcRect l="87668" t="9042" r="1153" b="9050"/>
          <a:stretch>
            <a:fillRect/>
          </a:stretch>
        </p:blipFill>
        <p:spPr>
          <a:xfrm>
            <a:off x="988225" y="4053450"/>
            <a:ext cx="529800" cy="533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96" name="Google Shape;896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7608" y="249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0" name="Shape 900"/>
        <p:cNvGrpSpPr/>
        <p:nvPr/>
      </p:nvGrpSpPr>
      <p:grpSpPr>
        <a:xfrm>
          <a:off x="0" y="0"/>
          <a:ext cx="0" cy="0"/>
        </a:xfrm>
      </p:grpSpPr>
      <p:sp>
        <p:nvSpPr>
          <p:cNvPr id="901" name="Google Shape;901;p7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You need to click on the object before you can see the transform button.</a:t>
            </a:r>
            <a:endParaRPr/>
          </a:p>
        </p:txBody>
      </p:sp>
      <p:sp>
        <p:nvSpPr>
          <p:cNvPr id="902" name="Google Shape;902;p78"/>
          <p:cNvSpPr txBox="1"/>
          <p:nvPr>
            <p:ph type="subTitle" idx="2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‘transform’ button is always displayed in the toolbar.</a:t>
            </a:r>
            <a:endParaRPr/>
          </a:p>
        </p:txBody>
      </p:sp>
      <p:sp>
        <p:nvSpPr>
          <p:cNvPr id="903" name="Google Shape;903;p7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You need to click on the transform button before you click on the object.</a:t>
            </a:r>
            <a:endParaRPr/>
          </a:p>
        </p:txBody>
      </p:sp>
      <p:sp>
        <p:nvSpPr>
          <p:cNvPr id="904" name="Google Shape;904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Investigating translation with Desmos</a:t>
            </a:r>
            <a:endParaRPr/>
          </a:p>
        </p:txBody>
      </p:sp>
      <p:pic>
        <p:nvPicPr>
          <p:cNvPr id="905" name="Google Shape;90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18414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608" y="35078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10" name="Shape 910"/>
        <p:cNvGrpSpPr/>
        <p:nvPr/>
      </p:nvGrpSpPr>
      <p:grpSpPr>
        <a:xfrm>
          <a:off x="0" y="0"/>
          <a:ext cx="0" cy="0"/>
        </a:xfrm>
      </p:grpSpPr>
      <p:sp>
        <p:nvSpPr>
          <p:cNvPr id="911" name="Google Shape;911;p79"/>
          <p:cNvSpPr txBox="1"/>
          <p:nvPr>
            <p:ph type="body" idx="1"/>
          </p:nvPr>
        </p:nvSpPr>
        <p:spPr>
          <a:xfrm>
            <a:off x="324000" y="759300"/>
            <a:ext cx="8496000" cy="406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Draw any polygon and translate it to the right using a vector.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1) Click on your object and drag it around the workspace. </a:t>
            </a:r>
            <a:br>
              <a:rPr lang="en-GB" sz="1800"/>
            </a:br>
            <a:r>
              <a:rPr lang="en-GB" sz="1800"/>
              <a:t>    What happens to the image? Why does it do this?</a:t>
            </a:r>
            <a:br>
              <a:rPr lang="en-GB" sz="1800"/>
            </a:br>
            <a:br>
              <a:rPr lang="en-GB" sz="1800"/>
            </a:b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2) Click on the end of your vector and drag to make the vector longer.</a:t>
            </a:r>
            <a:br>
              <a:rPr lang="en-GB" sz="1800"/>
            </a:br>
            <a:r>
              <a:rPr lang="en-GB" sz="1800"/>
              <a:t>    What happens to the image? Why does it do this?</a:t>
            </a:r>
            <a:br>
              <a:rPr lang="en-GB" sz="1800"/>
            </a:br>
            <a:br>
              <a:rPr lang="en-GB" sz="1800"/>
            </a:b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3) Click on the middle of your vector and drag it around the workspace.</a:t>
            </a:r>
            <a:br>
              <a:rPr lang="en-GB" sz="1800"/>
            </a:br>
            <a:r>
              <a:rPr lang="en-GB" sz="1800"/>
              <a:t>    What happens to the image? Why does it do this?</a:t>
            </a:r>
            <a:endParaRPr sz="1800"/>
          </a:p>
        </p:txBody>
      </p:sp>
      <p:sp>
        <p:nvSpPr>
          <p:cNvPr id="912" name="Google Shape;912;p7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Investigating translation with Desmos</a:t>
            </a:r>
            <a:endParaRPr/>
          </a:p>
        </p:txBody>
      </p:sp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16" name="Shape 916"/>
        <p:cNvGrpSpPr/>
        <p:nvPr/>
      </p:nvGrpSpPr>
      <p:grpSpPr>
        <a:xfrm>
          <a:off x="0" y="0"/>
          <a:ext cx="0" cy="0"/>
        </a:xfrm>
      </p:grpSpPr>
      <p:sp>
        <p:nvSpPr>
          <p:cNvPr id="917" name="Google Shape;917;p80"/>
          <p:cNvSpPr txBox="1"/>
          <p:nvPr>
            <p:ph type="body" idx="1"/>
          </p:nvPr>
        </p:nvSpPr>
        <p:spPr>
          <a:xfrm>
            <a:off x="324000" y="759300"/>
            <a:ext cx="8237700" cy="406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Draw any polygon and translate it to the right using a vector.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1) Click on your object and drag it around the workspace. </a:t>
            </a:r>
            <a:br>
              <a:rPr lang="en-GB" sz="1800"/>
            </a:br>
            <a:r>
              <a:rPr lang="en-GB" sz="1800"/>
              <a:t>    What happens to the image? Why does it do this?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800"/>
            </a:br>
            <a:br>
              <a:rPr lang="en-GB" sz="1800"/>
            </a:b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2) Click on the end of your vector and drag to make the vector longer.</a:t>
            </a:r>
            <a:br>
              <a:rPr lang="en-GB" sz="1800"/>
            </a:br>
            <a:r>
              <a:rPr lang="en-GB" sz="1800"/>
              <a:t>    What happens to the image? Why does it do this?</a:t>
            </a:r>
            <a:br>
              <a:rPr lang="en-GB" sz="1800"/>
            </a:br>
            <a:br>
              <a:rPr lang="en-GB" sz="1800"/>
            </a:b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918" name="Google Shape;918;p8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translation with Desmos</a:t>
            </a:r>
            <a:endParaRPr/>
          </a:p>
        </p:txBody>
      </p:sp>
      <p:sp>
        <p:nvSpPr>
          <p:cNvPr id="919" name="Google Shape;919;p80"/>
          <p:cNvSpPr txBox="1"/>
          <p:nvPr>
            <p:ph type="body" idx="1"/>
          </p:nvPr>
        </p:nvSpPr>
        <p:spPr>
          <a:xfrm>
            <a:off x="559625" y="4141200"/>
            <a:ext cx="8237700" cy="67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image moves further away from the object. This is because a longer vector means the movement is a greater distance.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0" name="Google Shape;920;p80"/>
          <p:cNvSpPr txBox="1"/>
          <p:nvPr>
            <p:ph type="body" idx="1"/>
          </p:nvPr>
        </p:nvSpPr>
        <p:spPr>
          <a:xfrm>
            <a:off x="519584" y="2020809"/>
            <a:ext cx="8317800" cy="67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image moves with the object. This is because the vector is the same, so the image is always to the right of the object and the same distance away.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24" name="Shape 924"/>
        <p:cNvGrpSpPr/>
        <p:nvPr/>
      </p:nvGrpSpPr>
      <p:grpSpPr>
        <a:xfrm>
          <a:off x="0" y="0"/>
          <a:ext cx="0" cy="0"/>
        </a:xfrm>
      </p:grpSpPr>
      <p:sp>
        <p:nvSpPr>
          <p:cNvPr id="925" name="Google Shape;925;p81"/>
          <p:cNvSpPr txBox="1"/>
          <p:nvPr>
            <p:ph type="body" idx="1"/>
          </p:nvPr>
        </p:nvSpPr>
        <p:spPr>
          <a:xfrm>
            <a:off x="324000" y="759300"/>
            <a:ext cx="8237700" cy="78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3) Click on the middle of your vector and drag it around the workspace.</a:t>
            </a:r>
            <a:br>
              <a:rPr lang="en-GB" sz="1800"/>
            </a:br>
            <a:r>
              <a:rPr lang="en-GB" sz="1800"/>
              <a:t>    What happens to the image? Why does it do this?</a:t>
            </a:r>
            <a:endParaRPr sz="1800"/>
          </a:p>
        </p:txBody>
      </p:sp>
      <p:sp>
        <p:nvSpPr>
          <p:cNvPr id="926" name="Google Shape;926;p8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translation with Desmos</a:t>
            </a:r>
            <a:endParaRPr/>
          </a:p>
        </p:txBody>
      </p:sp>
      <p:sp>
        <p:nvSpPr>
          <p:cNvPr id="927" name="Google Shape;927;p81"/>
          <p:cNvSpPr txBox="1"/>
          <p:nvPr>
            <p:ph type="body" idx="1"/>
          </p:nvPr>
        </p:nvSpPr>
        <p:spPr>
          <a:xfrm>
            <a:off x="539704" y="1544392"/>
            <a:ext cx="8228400" cy="67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image does not move. This is because the vector still has the same size and direction.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31" name="Shape 931"/>
        <p:cNvGrpSpPr/>
        <p:nvPr/>
      </p:nvGrpSpPr>
      <p:grpSpPr>
        <a:xfrm>
          <a:off x="0" y="0"/>
          <a:ext cx="0" cy="0"/>
        </a:xfrm>
      </p:grpSpPr>
      <p:sp>
        <p:nvSpPr>
          <p:cNvPr id="932" name="Google Shape;932;p82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translation with Desmos</a:t>
            </a:r>
            <a:endParaRPr/>
          </a:p>
        </p:txBody>
      </p:sp>
      <p:sp>
        <p:nvSpPr>
          <p:cNvPr id="933" name="Google Shape;933;p82"/>
          <p:cNvSpPr txBox="1"/>
          <p:nvPr>
            <p:ph type="title" idx="2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rotation with Desmos</a:t>
            </a:r>
            <a:endParaRPr/>
          </a:p>
        </p:txBody>
      </p:sp>
      <p:sp>
        <p:nvSpPr>
          <p:cNvPr id="934" name="Google Shape;934;p82"/>
          <p:cNvSpPr txBox="1"/>
          <p:nvPr>
            <p:ph type="title" idx="3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reflection with Desmos</a:t>
            </a:r>
            <a:endParaRPr/>
          </a:p>
        </p:txBody>
      </p:sp>
      <p:sp>
        <p:nvSpPr>
          <p:cNvPr id="935" name="Google Shape;935;p82"/>
          <p:cNvSpPr txBox="1"/>
          <p:nvPr>
            <p:ph type="title" idx="4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enlargement with Desmos</a:t>
            </a:r>
            <a:endParaRPr/>
          </a:p>
        </p:txBody>
      </p:sp>
      <p:sp>
        <p:nvSpPr>
          <p:cNvPr id="936" name="Google Shape;936;p82"/>
          <p:cNvSpPr txBox="1"/>
          <p:nvPr>
            <p:ph type="title" idx="5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transformations with Desmos</a:t>
            </a:r>
            <a:endParaRPr/>
          </a:p>
        </p:txBody>
      </p:sp>
      <p:pic>
        <p:nvPicPr>
          <p:cNvPr id="937" name="Google Shape;93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825" y="234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41" name="Shape 941"/>
        <p:cNvGrpSpPr/>
        <p:nvPr/>
      </p:nvGrpSpPr>
      <p:grpSpPr>
        <a:xfrm>
          <a:off x="0" y="0"/>
          <a:ext cx="0" cy="0"/>
        </a:xfrm>
      </p:grpSpPr>
      <p:pic>
        <p:nvPicPr>
          <p:cNvPr id="942" name="Google Shape;942;p83"/>
          <p:cNvPicPr preferRelativeResize="0"/>
          <p:nvPr/>
        </p:nvPicPr>
        <p:blipFill>
          <a:blip r:embed="rId3">
            <a:alphaModFix/>
          </a:blip>
          <a:srcRect r="3381" b="10434"/>
          <a:stretch>
            <a:fillRect/>
          </a:stretch>
        </p:blipFill>
        <p:spPr>
          <a:xfrm>
            <a:off x="4824000" y="1162800"/>
            <a:ext cx="3995999" cy="26999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43" name="Google Shape;943;p83"/>
          <p:cNvPicPr preferRelativeResize="0"/>
          <p:nvPr/>
        </p:nvPicPr>
        <p:blipFill>
          <a:blip r:embed="rId4">
            <a:alphaModFix/>
          </a:blip>
          <a:srcRect b="22185"/>
          <a:stretch>
            <a:fillRect/>
          </a:stretch>
        </p:blipFill>
        <p:spPr>
          <a:xfrm>
            <a:off x="4824000" y="1162800"/>
            <a:ext cx="3996000" cy="2700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44" name="Google Shape;944;p83"/>
          <p:cNvPicPr preferRelativeResize="0"/>
          <p:nvPr/>
        </p:nvPicPr>
        <p:blipFill>
          <a:blip r:embed="rId5">
            <a:alphaModFix/>
          </a:blip>
          <a:srcRect b="2410"/>
          <a:stretch>
            <a:fillRect/>
          </a:stretch>
        </p:blipFill>
        <p:spPr>
          <a:xfrm>
            <a:off x="4824000" y="1162800"/>
            <a:ext cx="3995999" cy="2700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45" name="Google Shape;945;p83"/>
          <p:cNvPicPr preferRelativeResize="0"/>
          <p:nvPr/>
        </p:nvPicPr>
        <p:blipFill>
          <a:blip r:embed="rId6">
            <a:alphaModFix/>
          </a:blip>
          <a:srcRect b="15325"/>
          <a:stretch>
            <a:fillRect/>
          </a:stretch>
        </p:blipFill>
        <p:spPr>
          <a:xfrm>
            <a:off x="4824000" y="1162800"/>
            <a:ext cx="3996000" cy="26999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46" name="Google Shape;946;p83"/>
          <p:cNvPicPr preferRelativeResize="0"/>
          <p:nvPr/>
        </p:nvPicPr>
        <p:blipFill>
          <a:blip r:embed="rId7">
            <a:alphaModFix/>
          </a:blip>
          <a:srcRect b="21160"/>
          <a:stretch>
            <a:fillRect/>
          </a:stretch>
        </p:blipFill>
        <p:spPr>
          <a:xfrm>
            <a:off x="4824000" y="1162800"/>
            <a:ext cx="3996000" cy="2700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47" name="Google Shape;947;p83"/>
          <p:cNvSpPr txBox="1"/>
          <p:nvPr>
            <p:ph type="body" idx="1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How to rotate an object:</a:t>
            </a:r>
            <a:endParaRPr/>
          </a:p>
        </p:txBody>
      </p:sp>
      <p:sp>
        <p:nvSpPr>
          <p:cNvPr id="948" name="Google Shape;948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Investigating rotation with Desmos</a:t>
            </a:r>
            <a:endParaRPr/>
          </a:p>
        </p:txBody>
      </p:sp>
      <p:sp>
        <p:nvSpPr>
          <p:cNvPr id="949" name="Google Shape;949;p83"/>
          <p:cNvSpPr txBox="1"/>
          <p:nvPr>
            <p:ph type="body" idx="1"/>
          </p:nvPr>
        </p:nvSpPr>
        <p:spPr>
          <a:xfrm>
            <a:off x="324000" y="1315200"/>
            <a:ext cx="4382400" cy="68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Using the select tool, click on the polygon and click transform.</a:t>
            </a:r>
            <a:endParaRPr sz="1800"/>
          </a:p>
        </p:txBody>
      </p:sp>
      <p:sp>
        <p:nvSpPr>
          <p:cNvPr id="950" name="Google Shape;950;p83"/>
          <p:cNvSpPr txBox="1"/>
          <p:nvPr>
            <p:ph type="body" idx="1"/>
          </p:nvPr>
        </p:nvSpPr>
        <p:spPr>
          <a:xfrm>
            <a:off x="321376" y="2259613"/>
            <a:ext cx="43824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Choose ‘rotate’.</a:t>
            </a:r>
            <a:endParaRPr sz="1800"/>
          </a:p>
        </p:txBody>
      </p:sp>
      <p:sp>
        <p:nvSpPr>
          <p:cNvPr id="951" name="Google Shape;951;p83"/>
          <p:cNvSpPr txBox="1"/>
          <p:nvPr>
            <p:ph type="body" idx="1"/>
          </p:nvPr>
        </p:nvSpPr>
        <p:spPr>
          <a:xfrm>
            <a:off x="324000" y="2884513"/>
            <a:ext cx="43824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a point on the workspace to plot a centre of rotation. </a:t>
            </a:r>
            <a:endParaRPr sz="1800"/>
          </a:p>
        </p:txBody>
      </p:sp>
      <p:sp>
        <p:nvSpPr>
          <p:cNvPr id="952" name="Google Shape;952;p83"/>
          <p:cNvSpPr txBox="1"/>
          <p:nvPr>
            <p:ph type="body" idx="1"/>
          </p:nvPr>
        </p:nvSpPr>
        <p:spPr>
          <a:xfrm>
            <a:off x="328713" y="3825738"/>
            <a:ext cx="43824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Type in an angle to rotate the object anticlockwise and press ‘go’.</a:t>
            </a:r>
            <a:endParaRPr sz="1800"/>
          </a:p>
        </p:txBody>
      </p:sp>
      <p:pic>
        <p:nvPicPr>
          <p:cNvPr id="953" name="Google Shape;953;p83"/>
          <p:cNvPicPr preferRelativeResize="0"/>
          <p:nvPr/>
        </p:nvPicPr>
        <p:blipFill>
          <a:blip r:embed="rId8">
            <a:alphaModFix/>
          </a:blip>
          <a:srcRect l="71914" t="8357" r="11976" b="87050"/>
          <a:stretch>
            <a:fillRect/>
          </a:stretch>
        </p:blipFill>
        <p:spPr>
          <a:xfrm>
            <a:off x="2945750" y="1904675"/>
            <a:ext cx="947700" cy="255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54" name="Google Shape;954;p83"/>
          <p:cNvPicPr preferRelativeResize="0"/>
          <p:nvPr/>
        </p:nvPicPr>
        <p:blipFill>
          <a:blip r:embed="rId4">
            <a:alphaModFix/>
          </a:blip>
          <a:srcRect l="78087" t="16819" r="13699" b="70417"/>
          <a:stretch>
            <a:fillRect/>
          </a:stretch>
        </p:blipFill>
        <p:spPr>
          <a:xfrm>
            <a:off x="2617550" y="2239313"/>
            <a:ext cx="399300" cy="538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58" name="Shape 958"/>
        <p:cNvGrpSpPr/>
        <p:nvPr/>
      </p:nvGrpSpPr>
      <p:grpSpPr>
        <a:xfrm>
          <a:off x="0" y="0"/>
          <a:ext cx="0" cy="0"/>
        </a:xfrm>
      </p:grpSpPr>
      <p:pic>
        <p:nvPicPr>
          <p:cNvPr id="959" name="Google Shape;959;p84"/>
          <p:cNvPicPr preferRelativeResize="0"/>
          <p:nvPr/>
        </p:nvPicPr>
        <p:blipFill>
          <a:blip r:embed="rId3">
            <a:alphaModFix/>
          </a:blip>
          <a:srcRect l="20609"/>
          <a:stretch>
            <a:fillRect/>
          </a:stretch>
        </p:blipFill>
        <p:spPr>
          <a:xfrm>
            <a:off x="4327375" y="1827725"/>
            <a:ext cx="3783375" cy="29097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60" name="Google Shape;960;p84"/>
          <p:cNvSpPr txBox="1"/>
          <p:nvPr>
            <p:ph type="body" idx="1"/>
          </p:nvPr>
        </p:nvSpPr>
        <p:spPr>
          <a:xfrm>
            <a:off x="324000" y="759300"/>
            <a:ext cx="8496000" cy="48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Desmos only rotates shapes </a:t>
            </a:r>
            <a:r>
              <a:rPr lang="en-GB">
                <a:solidFill>
                  <a:schemeClr val="accent5"/>
                </a:solidFill>
              </a:rPr>
              <a:t>anticlockwise</a:t>
            </a:r>
            <a:r>
              <a:rPr lang="en-GB"/>
              <a:t>.</a:t>
            </a:r>
            <a:endParaRPr/>
          </a:p>
        </p:txBody>
      </p:sp>
      <p:sp>
        <p:nvSpPr>
          <p:cNvPr id="961" name="Google Shape;961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rotation with Desmos</a:t>
            </a:r>
            <a:endParaRPr/>
          </a:p>
        </p:txBody>
      </p:sp>
      <p:sp>
        <p:nvSpPr>
          <p:cNvPr id="962" name="Google Shape;962;p84"/>
          <p:cNvSpPr txBox="1"/>
          <p:nvPr>
            <p:ph type="body" idx="1"/>
          </p:nvPr>
        </p:nvSpPr>
        <p:spPr>
          <a:xfrm>
            <a:off x="324000" y="2420000"/>
            <a:ext cx="3996000" cy="81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Example: 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Rotate the object 90° clockwise.</a:t>
            </a:r>
            <a:endParaRPr sz="1900"/>
          </a:p>
        </p:txBody>
      </p:sp>
      <p:pic>
        <p:nvPicPr>
          <p:cNvPr id="963" name="Google Shape;963;p84"/>
          <p:cNvPicPr preferRelativeResize="0"/>
          <p:nvPr/>
        </p:nvPicPr>
        <p:blipFill>
          <a:blip r:embed="rId4">
            <a:alphaModFix/>
          </a:blip>
          <a:srcRect l="19438" r="4838" b="9575"/>
          <a:stretch>
            <a:fillRect/>
          </a:stretch>
        </p:blipFill>
        <p:spPr>
          <a:xfrm>
            <a:off x="4325025" y="1833300"/>
            <a:ext cx="3884174" cy="296242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64" name="Google Shape;964;p84"/>
          <p:cNvSpPr txBox="1"/>
          <p:nvPr>
            <p:ph type="body" idx="1"/>
          </p:nvPr>
        </p:nvSpPr>
        <p:spPr>
          <a:xfrm>
            <a:off x="324000" y="3445875"/>
            <a:ext cx="3465000" cy="33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360 − 90 = 270°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5" name="Google Shape;965;p84"/>
          <p:cNvSpPr txBox="1"/>
          <p:nvPr>
            <p:ph type="body" idx="1"/>
          </p:nvPr>
        </p:nvSpPr>
        <p:spPr>
          <a:xfrm>
            <a:off x="326825" y="1271776"/>
            <a:ext cx="8496000" cy="81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Clockwise rotations can be replicated by subtracting the angle from 360°.</a:t>
            </a:r>
            <a:endParaRPr/>
          </a:p>
        </p:txBody>
      </p:sp>
      <p:pic>
        <p:nvPicPr>
          <p:cNvPr id="966" name="Google Shape;966;p84"/>
          <p:cNvPicPr preferRelativeResize="0"/>
          <p:nvPr/>
        </p:nvPicPr>
        <p:blipFill>
          <a:blip r:embed="rId5">
            <a:alphaModFix/>
          </a:blip>
          <a:srcRect l="71946" t="27330" r="13952" b="59597"/>
          <a:stretch>
            <a:fillRect/>
          </a:stretch>
        </p:blipFill>
        <p:spPr>
          <a:xfrm rot="5400000">
            <a:off x="6213325" y="4368176"/>
            <a:ext cx="425900" cy="399274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84"/>
          <p:cNvSpPr txBox="1"/>
          <p:nvPr>
            <p:ph type="body" idx="1"/>
          </p:nvPr>
        </p:nvSpPr>
        <p:spPr>
          <a:xfrm>
            <a:off x="324000" y="3910080"/>
            <a:ext cx="3465000" cy="68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90° clockwise is the same as 270° anticlockwise.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71" name="Shape 971"/>
        <p:cNvGrpSpPr/>
        <p:nvPr/>
      </p:nvGrpSpPr>
      <p:grpSpPr>
        <a:xfrm>
          <a:off x="0" y="0"/>
          <a:ext cx="0" cy="0"/>
        </a:xfrm>
      </p:grpSpPr>
      <p:sp>
        <p:nvSpPr>
          <p:cNvPr id="972" name="Google Shape;972;p85"/>
          <p:cNvSpPr txBox="1"/>
          <p:nvPr>
            <p:ph type="body" idx="1"/>
          </p:nvPr>
        </p:nvSpPr>
        <p:spPr>
          <a:xfrm>
            <a:off x="324000" y="759300"/>
            <a:ext cx="7788000" cy="78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We can make the angle of rotation dynamic by creating a slider.</a:t>
            </a:r>
            <a:endParaRPr/>
          </a:p>
        </p:txBody>
      </p:sp>
      <p:sp>
        <p:nvSpPr>
          <p:cNvPr id="973" name="Google Shape;973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rotation with Desmos</a:t>
            </a:r>
            <a:endParaRPr/>
          </a:p>
        </p:txBody>
      </p:sp>
      <p:sp>
        <p:nvSpPr>
          <p:cNvPr id="974" name="Google Shape;974;p85"/>
          <p:cNvSpPr txBox="1"/>
          <p:nvPr>
            <p:ph type="body" idx="1"/>
          </p:nvPr>
        </p:nvSpPr>
        <p:spPr>
          <a:xfrm>
            <a:off x="324000" y="1856118"/>
            <a:ext cx="4248000" cy="71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Carry out the same steps to rotate an object.</a:t>
            </a:r>
            <a:endParaRPr sz="1800"/>
          </a:p>
        </p:txBody>
      </p:sp>
      <p:pic>
        <p:nvPicPr>
          <p:cNvPr id="975" name="Google Shape;975;p85"/>
          <p:cNvPicPr preferRelativeResize="0"/>
          <p:nvPr/>
        </p:nvPicPr>
        <p:blipFill>
          <a:blip r:embed="rId3">
            <a:alphaModFix/>
          </a:blip>
          <a:srcRect b="22185"/>
          <a:stretch>
            <a:fillRect/>
          </a:stretch>
        </p:blipFill>
        <p:spPr>
          <a:xfrm>
            <a:off x="4824000" y="1391400"/>
            <a:ext cx="3996000" cy="2700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76" name="Google Shape;976;p85"/>
          <p:cNvPicPr preferRelativeResize="0"/>
          <p:nvPr/>
        </p:nvPicPr>
        <p:blipFill>
          <a:blip r:embed="rId4">
            <a:alphaModFix/>
          </a:blip>
          <a:srcRect b="22999"/>
          <a:stretch>
            <a:fillRect/>
          </a:stretch>
        </p:blipFill>
        <p:spPr>
          <a:xfrm>
            <a:off x="4824000" y="1391400"/>
            <a:ext cx="3996000" cy="27000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77" name="Google Shape;977;p85"/>
          <p:cNvPicPr preferRelativeResize="0"/>
          <p:nvPr/>
        </p:nvPicPr>
        <p:blipFill>
          <a:blip r:embed="rId5">
            <a:alphaModFix/>
          </a:blip>
          <a:srcRect r="1215" b="3975"/>
          <a:stretch>
            <a:fillRect/>
          </a:stretch>
        </p:blipFill>
        <p:spPr>
          <a:xfrm>
            <a:off x="4572000" y="1391400"/>
            <a:ext cx="4248000" cy="26999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78" name="Google Shape;978;p85"/>
          <p:cNvSpPr txBox="1"/>
          <p:nvPr/>
        </p:nvSpPr>
        <p:spPr>
          <a:xfrm>
            <a:off x="5175600" y="4212525"/>
            <a:ext cx="75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slider</a:t>
            </a:r>
            <a:endParaRPr sz="1600"/>
          </a:p>
        </p:txBody>
      </p:sp>
      <p:cxnSp>
        <p:nvCxnSpPr>
          <p:cNvPr id="979" name="Google Shape;979;p85"/>
          <p:cNvCxnSpPr>
            <a:endCxn id="978" idx="0"/>
          </p:cNvCxnSpPr>
          <p:nvPr/>
        </p:nvCxnSpPr>
        <p:spPr>
          <a:xfrm>
            <a:off x="5236050" y="2378625"/>
            <a:ext cx="317700" cy="1833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80" name="Google Shape;980;p85"/>
          <p:cNvSpPr txBox="1"/>
          <p:nvPr>
            <p:ph type="body" idx="1"/>
          </p:nvPr>
        </p:nvSpPr>
        <p:spPr>
          <a:xfrm>
            <a:off x="324000" y="2797191"/>
            <a:ext cx="4248000" cy="34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Enter a letter for the angle.</a:t>
            </a:r>
            <a:endParaRPr sz="1800"/>
          </a:p>
        </p:txBody>
      </p:sp>
      <p:sp>
        <p:nvSpPr>
          <p:cNvPr id="981" name="Google Shape;981;p85"/>
          <p:cNvSpPr txBox="1"/>
          <p:nvPr>
            <p:ph type="body" idx="1"/>
          </p:nvPr>
        </p:nvSpPr>
        <p:spPr>
          <a:xfrm>
            <a:off x="324000" y="3424629"/>
            <a:ext cx="4248000" cy="36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A slider appears in the left panel.</a:t>
            </a:r>
            <a:endParaRPr sz="1800"/>
          </a:p>
        </p:txBody>
      </p:sp>
      <p:sp>
        <p:nvSpPr>
          <p:cNvPr id="982" name="Google Shape;982;p85"/>
          <p:cNvSpPr txBox="1"/>
          <p:nvPr>
            <p:ph type="body" idx="1"/>
          </p:nvPr>
        </p:nvSpPr>
        <p:spPr>
          <a:xfrm>
            <a:off x="324000" y="4061805"/>
            <a:ext cx="4248000" cy="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Drag the slider left and right to change the angle of rotation.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86" name="Shape 986"/>
        <p:cNvGrpSpPr/>
        <p:nvPr/>
      </p:nvGrpSpPr>
      <p:grpSpPr>
        <a:xfrm>
          <a:off x="0" y="0"/>
          <a:ext cx="0" cy="0"/>
        </a:xfrm>
      </p:grpSpPr>
      <p:sp>
        <p:nvSpPr>
          <p:cNvPr id="987" name="Google Shape;987;p86"/>
          <p:cNvSpPr txBox="1"/>
          <p:nvPr>
            <p:ph type="subTitle" idx="1"/>
          </p:nvPr>
        </p:nvSpPr>
        <p:spPr>
          <a:xfrm>
            <a:off x="324000" y="1080000"/>
            <a:ext cx="54531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object will rotate 60° anticlockwise.</a:t>
            </a:r>
            <a:endParaRPr/>
          </a:p>
        </p:txBody>
      </p:sp>
      <p:sp>
        <p:nvSpPr>
          <p:cNvPr id="988" name="Google Shape;988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Investigating rotation with Desmos</a:t>
            </a:r>
            <a:endParaRPr/>
          </a:p>
        </p:txBody>
      </p:sp>
      <p:sp>
        <p:nvSpPr>
          <p:cNvPr id="989" name="Google Shape;989;p86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Desmos rotates objects clockwise.</a:t>
            </a:r>
            <a:endParaRPr/>
          </a:p>
        </p:txBody>
      </p:sp>
      <p:sp>
        <p:nvSpPr>
          <p:cNvPr id="990" name="Google Shape;990;p86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Desmos rotates objects anticlockwise.</a:t>
            </a:r>
            <a:endParaRPr/>
          </a:p>
        </p:txBody>
      </p:sp>
      <p:pic>
        <p:nvPicPr>
          <p:cNvPr id="991" name="Google Shape;991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3483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5108" y="40403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6440" y="809997"/>
            <a:ext cx="1931037" cy="80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97" name="Shape 997"/>
        <p:cNvGrpSpPr/>
        <p:nvPr/>
      </p:nvGrpSpPr>
      <p:grpSpPr>
        <a:xfrm>
          <a:off x="0" y="0"/>
          <a:ext cx="0" cy="0"/>
        </a:xfrm>
      </p:grpSpPr>
      <p:sp>
        <p:nvSpPr>
          <p:cNvPr id="998" name="Google Shape;998;p87"/>
          <p:cNvSpPr txBox="1"/>
          <p:nvPr>
            <p:ph type="body" idx="1"/>
          </p:nvPr>
        </p:nvSpPr>
        <p:spPr>
          <a:xfrm>
            <a:off x="324000" y="759300"/>
            <a:ext cx="8237700" cy="181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Jun wants to rotate the object 60° clockwise.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Desmos only rotates anticlockwise.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angle should he use?</a:t>
            </a:r>
            <a:endParaRPr/>
          </a:p>
        </p:txBody>
      </p:sp>
      <p:sp>
        <p:nvSpPr>
          <p:cNvPr id="999" name="Google Shape;999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Investigating rotation with Desmos</a:t>
            </a:r>
            <a:endParaRPr/>
          </a:p>
        </p:txBody>
      </p:sp>
      <p:pic>
        <p:nvPicPr>
          <p:cNvPr id="1000" name="Google Shape;1000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904562" y="2400687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9999" y="2160001"/>
            <a:ext cx="3261018" cy="26659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02" name="Google Shape;1002;p87"/>
          <p:cNvSpPr txBox="1"/>
          <p:nvPr>
            <p:ph type="body" idx="1"/>
          </p:nvPr>
        </p:nvSpPr>
        <p:spPr>
          <a:xfrm>
            <a:off x="324000" y="2717700"/>
            <a:ext cx="2421600" cy="54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360 − 60 = 300°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03" name="Google Shape;1003;p87"/>
          <p:cNvPicPr preferRelativeResize="0"/>
          <p:nvPr/>
        </p:nvPicPr>
        <p:blipFill>
          <a:blip r:embed="rId5">
            <a:alphaModFix/>
          </a:blip>
          <a:srcRect l="15934" r="11769" b="25980"/>
          <a:stretch>
            <a:fillRect/>
          </a:stretch>
        </p:blipFill>
        <p:spPr>
          <a:xfrm>
            <a:off x="4320000" y="2160000"/>
            <a:ext cx="3261024" cy="266597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04" name="Google Shape;1004;p87"/>
          <p:cNvSpPr txBox="1"/>
          <p:nvPr>
            <p:ph type="body" idx="1"/>
          </p:nvPr>
        </p:nvSpPr>
        <p:spPr>
          <a:xfrm>
            <a:off x="7989175" y="3362650"/>
            <a:ext cx="642300" cy="34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Jun</a:t>
            </a:r>
            <a:endParaRPr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08" name="Shape 1008"/>
        <p:cNvGrpSpPr/>
        <p:nvPr/>
      </p:nvGrpSpPr>
      <p:grpSpPr>
        <a:xfrm>
          <a:off x="0" y="0"/>
          <a:ext cx="0" cy="0"/>
        </a:xfrm>
      </p:grpSpPr>
      <p:sp>
        <p:nvSpPr>
          <p:cNvPr id="1009" name="Google Shape;1009;p8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Investigating rotation with Desmos</a:t>
            </a:r>
            <a:endParaRPr/>
          </a:p>
        </p:txBody>
      </p:sp>
      <p:sp>
        <p:nvSpPr>
          <p:cNvPr id="1010" name="Google Shape;1010;p88"/>
          <p:cNvSpPr txBox="1"/>
          <p:nvPr>
            <p:ph type="body" idx="1"/>
          </p:nvPr>
        </p:nvSpPr>
        <p:spPr>
          <a:xfrm>
            <a:off x="324000" y="759300"/>
            <a:ext cx="8496000" cy="411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Draw any polygon, rotate it using a slider and set the slider to 270°.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1) Drag the centre of rotation towards the image. </a:t>
            </a:r>
            <a:br>
              <a:rPr lang="en-GB" sz="1800"/>
            </a:br>
            <a:r>
              <a:rPr lang="en-GB" sz="1800"/>
              <a:t>    What happens to the image? Why does it do this?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2) Is it possible for the centre of rotation to be inside the image? </a:t>
            </a:r>
            <a:br>
              <a:rPr lang="en-GB" sz="1800"/>
            </a:br>
            <a:r>
              <a:rPr lang="en-GB" sz="1800"/>
              <a:t>    If so, how? If not, why not?</a:t>
            </a:r>
            <a:br>
              <a:rPr lang="en-GB" sz="1800"/>
            </a:b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3) Move the spot in the slider left and right. For what angles does the image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    perfectly overlay the object? Why does it do this for these angles?</a:t>
            </a:r>
            <a:endParaRPr sz="2400"/>
          </a:p>
        </p:txBody>
      </p:sp>
    </p:spTree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14" name="Shape 1014"/>
        <p:cNvGrpSpPr/>
        <p:nvPr/>
      </p:nvGrpSpPr>
      <p:grpSpPr>
        <a:xfrm>
          <a:off x="0" y="0"/>
          <a:ext cx="0" cy="0"/>
        </a:xfrm>
      </p:grpSpPr>
      <p:sp>
        <p:nvSpPr>
          <p:cNvPr id="1015" name="Google Shape;1015;p89"/>
          <p:cNvSpPr txBox="1"/>
          <p:nvPr>
            <p:ph type="body" idx="1"/>
          </p:nvPr>
        </p:nvSpPr>
        <p:spPr>
          <a:xfrm>
            <a:off x="324000" y="759300"/>
            <a:ext cx="8496000" cy="411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Draw any polygon, rotate it using a slider and set the slider to 270°.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1) Drag the centre of rotation towards the image. </a:t>
            </a:r>
            <a:br>
              <a:rPr lang="en-GB" sz="1800"/>
            </a:br>
            <a:r>
              <a:rPr lang="en-GB" sz="1800"/>
              <a:t>    What happens to the image? Why does it do this?</a:t>
            </a:r>
            <a:br>
              <a:rPr lang="en-GB" sz="1800"/>
            </a:b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800"/>
            </a:br>
            <a:r>
              <a:rPr lang="en-GB" sz="1800"/>
              <a:t>2) Is it possible for the centre of rotation to be inside the image? </a:t>
            </a:r>
            <a:br>
              <a:rPr lang="en-GB" sz="1800"/>
            </a:br>
            <a:r>
              <a:rPr lang="en-GB" sz="1800"/>
              <a:t>    If so, how? If not, why not?</a:t>
            </a:r>
            <a:br>
              <a:rPr lang="en-GB" sz="1800"/>
            </a:br>
            <a:endParaRPr sz="2400"/>
          </a:p>
        </p:txBody>
      </p:sp>
      <p:sp>
        <p:nvSpPr>
          <p:cNvPr id="1016" name="Google Shape;1016;p8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rotation with Desmos</a:t>
            </a:r>
            <a:endParaRPr/>
          </a:p>
        </p:txBody>
      </p:sp>
      <p:sp>
        <p:nvSpPr>
          <p:cNvPr id="1017" name="Google Shape;1017;p89"/>
          <p:cNvSpPr txBox="1"/>
          <p:nvPr>
            <p:ph type="body" idx="1"/>
          </p:nvPr>
        </p:nvSpPr>
        <p:spPr>
          <a:xfrm>
            <a:off x="567275" y="1910225"/>
            <a:ext cx="8252700" cy="67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image moves aways. This is because the centre of rotation has moved further away from the object, so the distance to the image increases too.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8" name="Google Shape;1018;p89"/>
          <p:cNvSpPr txBox="1"/>
          <p:nvPr>
            <p:ph type="body" idx="1"/>
          </p:nvPr>
        </p:nvSpPr>
        <p:spPr>
          <a:xfrm>
            <a:off x="555275" y="3735399"/>
            <a:ext cx="8252700" cy="67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Yes. When the centre of rotation is inside the object, it is also inside the image.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22" name="Shape 1022"/>
        <p:cNvGrpSpPr/>
        <p:nvPr/>
      </p:nvGrpSpPr>
      <p:grpSpPr>
        <a:xfrm>
          <a:off x="0" y="0"/>
          <a:ext cx="0" cy="0"/>
        </a:xfrm>
      </p:grpSpPr>
      <p:sp>
        <p:nvSpPr>
          <p:cNvPr id="1023" name="Google Shape;1023;p90"/>
          <p:cNvSpPr txBox="1"/>
          <p:nvPr>
            <p:ph type="body" idx="1"/>
          </p:nvPr>
        </p:nvSpPr>
        <p:spPr>
          <a:xfrm>
            <a:off x="324000" y="759300"/>
            <a:ext cx="84960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3) Move the spot in the slider left and right. For what angles does the image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    perfectly overlay the object? Why does it do this for these angles?</a:t>
            </a:r>
            <a:endParaRPr sz="2400"/>
          </a:p>
        </p:txBody>
      </p:sp>
      <p:sp>
        <p:nvSpPr>
          <p:cNvPr id="1024" name="Google Shape;1024;p9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rotation with Desmos</a:t>
            </a:r>
            <a:endParaRPr/>
          </a:p>
        </p:txBody>
      </p:sp>
      <p:sp>
        <p:nvSpPr>
          <p:cNvPr id="1025" name="Google Shape;1025;p90"/>
          <p:cNvSpPr txBox="1"/>
          <p:nvPr>
            <p:ph type="body" idx="1"/>
          </p:nvPr>
        </p:nvSpPr>
        <p:spPr>
          <a:xfrm>
            <a:off x="514925" y="1584701"/>
            <a:ext cx="8317800" cy="176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0° because the image has not turned. 360° because its a full turn.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the slider went further, then it would also overlay perfectly for any multiple of 360°.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29" name="Shape 1029"/>
        <p:cNvGrpSpPr/>
        <p:nvPr/>
      </p:nvGrpSpPr>
      <p:grpSpPr>
        <a:xfrm>
          <a:off x="0" y="0"/>
          <a:ext cx="0" cy="0"/>
        </a:xfrm>
      </p:grpSpPr>
      <p:sp>
        <p:nvSpPr>
          <p:cNvPr id="1030" name="Google Shape;1030;p9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translation with Desmos</a:t>
            </a:r>
            <a:endParaRPr/>
          </a:p>
        </p:txBody>
      </p:sp>
      <p:sp>
        <p:nvSpPr>
          <p:cNvPr id="1031" name="Google Shape;1031;p91"/>
          <p:cNvSpPr txBox="1"/>
          <p:nvPr>
            <p:ph type="title" idx="2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rotation with Desmos</a:t>
            </a:r>
            <a:endParaRPr/>
          </a:p>
        </p:txBody>
      </p:sp>
      <p:sp>
        <p:nvSpPr>
          <p:cNvPr id="1032" name="Google Shape;1032;p91"/>
          <p:cNvSpPr txBox="1"/>
          <p:nvPr>
            <p:ph type="title" idx="3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reflection with Desmos</a:t>
            </a:r>
            <a:endParaRPr/>
          </a:p>
        </p:txBody>
      </p:sp>
      <p:sp>
        <p:nvSpPr>
          <p:cNvPr id="1033" name="Google Shape;1033;p91"/>
          <p:cNvSpPr txBox="1"/>
          <p:nvPr>
            <p:ph type="title" idx="4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enlargement with Desmos</a:t>
            </a:r>
            <a:endParaRPr/>
          </a:p>
        </p:txBody>
      </p:sp>
      <p:sp>
        <p:nvSpPr>
          <p:cNvPr id="1034" name="Google Shape;1034;p91"/>
          <p:cNvSpPr txBox="1"/>
          <p:nvPr>
            <p:ph type="title" idx="5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transformations with Desmos</a:t>
            </a:r>
            <a:endParaRPr/>
          </a:p>
        </p:txBody>
      </p:sp>
      <p:pic>
        <p:nvPicPr>
          <p:cNvPr id="1035" name="Google Shape;1035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650" y="319360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39" name="Shape 1039"/>
        <p:cNvGrpSpPr/>
        <p:nvPr/>
      </p:nvGrpSpPr>
      <p:grpSpPr>
        <a:xfrm>
          <a:off x="0" y="0"/>
          <a:ext cx="0" cy="0"/>
        </a:xfrm>
      </p:grpSpPr>
      <p:pic>
        <p:nvPicPr>
          <p:cNvPr id="1040" name="Google Shape;1040;p92"/>
          <p:cNvPicPr preferRelativeResize="0"/>
          <p:nvPr/>
        </p:nvPicPr>
        <p:blipFill>
          <a:blip r:embed="rId3">
            <a:alphaModFix/>
          </a:blip>
          <a:srcRect l="2028" b="24834"/>
          <a:stretch>
            <a:fillRect/>
          </a:stretch>
        </p:blipFill>
        <p:spPr>
          <a:xfrm>
            <a:off x="4840375" y="1322607"/>
            <a:ext cx="3948274" cy="27000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41" name="Google Shape;1041;p92"/>
          <p:cNvPicPr preferRelativeResize="0"/>
          <p:nvPr/>
        </p:nvPicPr>
        <p:blipFill>
          <a:blip r:embed="rId4">
            <a:alphaModFix/>
          </a:blip>
          <a:srcRect l="3670" b="25451"/>
          <a:stretch>
            <a:fillRect/>
          </a:stretch>
        </p:blipFill>
        <p:spPr>
          <a:xfrm>
            <a:off x="4824000" y="1322607"/>
            <a:ext cx="4002324" cy="2700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42" name="Google Shape;1042;p92"/>
          <p:cNvPicPr preferRelativeResize="0"/>
          <p:nvPr/>
        </p:nvPicPr>
        <p:blipFill>
          <a:blip r:embed="rId5">
            <a:alphaModFix/>
          </a:blip>
          <a:srcRect l="3141" r="1665" b="22558"/>
          <a:stretch>
            <a:fillRect/>
          </a:stretch>
        </p:blipFill>
        <p:spPr>
          <a:xfrm>
            <a:off x="4817675" y="1316432"/>
            <a:ext cx="4002325" cy="2700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43" name="Google Shape;1043;p92"/>
          <p:cNvPicPr preferRelativeResize="0"/>
          <p:nvPr/>
        </p:nvPicPr>
        <p:blipFill>
          <a:blip r:embed="rId6">
            <a:alphaModFix/>
          </a:blip>
          <a:srcRect l="2932" r="2790" b="23931"/>
          <a:stretch>
            <a:fillRect/>
          </a:stretch>
        </p:blipFill>
        <p:spPr>
          <a:xfrm>
            <a:off x="4817675" y="1316432"/>
            <a:ext cx="4002325" cy="26999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44" name="Google Shape;1044;p92"/>
          <p:cNvSpPr txBox="1"/>
          <p:nvPr>
            <p:ph type="body" idx="1"/>
          </p:nvPr>
        </p:nvSpPr>
        <p:spPr>
          <a:xfrm>
            <a:off x="324000" y="759300"/>
            <a:ext cx="82377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How to reflect an object over an edge:</a:t>
            </a:r>
            <a:endParaRPr/>
          </a:p>
        </p:txBody>
      </p:sp>
      <p:sp>
        <p:nvSpPr>
          <p:cNvPr id="1045" name="Google Shape;1045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Investigating reflection with Desmos</a:t>
            </a:r>
            <a:endParaRPr/>
          </a:p>
        </p:txBody>
      </p:sp>
      <p:sp>
        <p:nvSpPr>
          <p:cNvPr id="1046" name="Google Shape;1046;p92"/>
          <p:cNvSpPr txBox="1"/>
          <p:nvPr>
            <p:ph type="body" idx="1"/>
          </p:nvPr>
        </p:nvSpPr>
        <p:spPr>
          <a:xfrm>
            <a:off x="324000" y="1543800"/>
            <a:ext cx="4382400" cy="69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Using the select tool, click on the polygon and click transform.</a:t>
            </a:r>
            <a:endParaRPr sz="1800"/>
          </a:p>
        </p:txBody>
      </p:sp>
      <p:sp>
        <p:nvSpPr>
          <p:cNvPr id="1047" name="Google Shape;1047;p92"/>
          <p:cNvSpPr txBox="1"/>
          <p:nvPr>
            <p:ph type="body" idx="1"/>
          </p:nvPr>
        </p:nvSpPr>
        <p:spPr>
          <a:xfrm>
            <a:off x="324000" y="2491099"/>
            <a:ext cx="4382400" cy="37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Choose ‘reflect’.</a:t>
            </a:r>
            <a:endParaRPr sz="1800"/>
          </a:p>
        </p:txBody>
      </p:sp>
      <p:sp>
        <p:nvSpPr>
          <p:cNvPr id="1048" name="Google Shape;1048;p92"/>
          <p:cNvSpPr txBox="1"/>
          <p:nvPr>
            <p:ph type="body" idx="1"/>
          </p:nvPr>
        </p:nvSpPr>
        <p:spPr>
          <a:xfrm>
            <a:off x="324000" y="3117135"/>
            <a:ext cx="4382400" cy="99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one on of the edges of the object to reflect the image over that edge.</a:t>
            </a:r>
            <a:endParaRPr sz="1800"/>
          </a:p>
        </p:txBody>
      </p:sp>
      <p:pic>
        <p:nvPicPr>
          <p:cNvPr id="1049" name="Google Shape;1049;p9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31550" y="2571748"/>
            <a:ext cx="403575" cy="469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53" name="Shape 1053"/>
        <p:cNvGrpSpPr/>
        <p:nvPr/>
      </p:nvGrpSpPr>
      <p:grpSpPr>
        <a:xfrm>
          <a:off x="0" y="0"/>
          <a:ext cx="0" cy="0"/>
        </a:xfrm>
      </p:grpSpPr>
      <p:sp>
        <p:nvSpPr>
          <p:cNvPr id="1054" name="Google Shape;1054;p93"/>
          <p:cNvSpPr txBox="1"/>
          <p:nvPr>
            <p:ph type="body" idx="1"/>
          </p:nvPr>
        </p:nvSpPr>
        <p:spPr>
          <a:xfrm>
            <a:off x="324000" y="759300"/>
            <a:ext cx="82377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How to draw a line:</a:t>
            </a:r>
            <a:endParaRPr/>
          </a:p>
        </p:txBody>
      </p:sp>
      <p:sp>
        <p:nvSpPr>
          <p:cNvPr id="1055" name="Google Shape;1055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reflection with Desmos</a:t>
            </a:r>
            <a:endParaRPr/>
          </a:p>
        </p:txBody>
      </p:sp>
      <p:sp>
        <p:nvSpPr>
          <p:cNvPr id="1056" name="Google Shape;1056;p93"/>
          <p:cNvSpPr txBox="1"/>
          <p:nvPr>
            <p:ph type="body" idx="1"/>
          </p:nvPr>
        </p:nvSpPr>
        <p:spPr>
          <a:xfrm>
            <a:off x="324000" y="1543800"/>
            <a:ext cx="4382400" cy="9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the down-arrow on the line segment button to open up an option menu.</a:t>
            </a:r>
            <a:endParaRPr sz="1800"/>
          </a:p>
        </p:txBody>
      </p:sp>
      <p:pic>
        <p:nvPicPr>
          <p:cNvPr id="1057" name="Google Shape;1057;p93"/>
          <p:cNvPicPr preferRelativeResize="0"/>
          <p:nvPr/>
        </p:nvPicPr>
        <p:blipFill>
          <a:blip r:embed="rId3">
            <a:alphaModFix/>
          </a:blip>
          <a:srcRect l="36187" t="9480" r="48960" b="9488"/>
          <a:stretch>
            <a:fillRect/>
          </a:stretch>
        </p:blipFill>
        <p:spPr>
          <a:xfrm>
            <a:off x="2318021" y="2220384"/>
            <a:ext cx="506400" cy="379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58" name="Google Shape;1058;p93"/>
          <p:cNvPicPr preferRelativeResize="0"/>
          <p:nvPr/>
        </p:nvPicPr>
        <p:blipFill>
          <a:blip r:embed="rId4">
            <a:alphaModFix/>
          </a:blip>
          <a:srcRect l="2926" r="5330" b="24908"/>
          <a:stretch>
            <a:fillRect/>
          </a:stretch>
        </p:blipFill>
        <p:spPr>
          <a:xfrm>
            <a:off x="4840375" y="1322600"/>
            <a:ext cx="3948274" cy="2700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59" name="Google Shape;1059;p93"/>
          <p:cNvPicPr preferRelativeResize="0"/>
          <p:nvPr/>
        </p:nvPicPr>
        <p:blipFill>
          <a:blip r:embed="rId5">
            <a:alphaModFix/>
          </a:blip>
          <a:srcRect l="2598" t="390" r="4928" b="24585"/>
          <a:stretch>
            <a:fillRect/>
          </a:stretch>
        </p:blipFill>
        <p:spPr>
          <a:xfrm>
            <a:off x="4820450" y="1322600"/>
            <a:ext cx="4002326" cy="270125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60" name="Google Shape;1060;p93"/>
          <p:cNvSpPr txBox="1"/>
          <p:nvPr>
            <p:ph type="body" idx="1"/>
          </p:nvPr>
        </p:nvSpPr>
        <p:spPr>
          <a:xfrm>
            <a:off x="328481" y="2799501"/>
            <a:ext cx="4382400" cy="3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Choose ‘line’.</a:t>
            </a:r>
            <a:endParaRPr sz="1800"/>
          </a:p>
        </p:txBody>
      </p:sp>
      <p:sp>
        <p:nvSpPr>
          <p:cNvPr id="1061" name="Google Shape;1061;p93"/>
          <p:cNvSpPr txBox="1"/>
          <p:nvPr>
            <p:ph type="body" idx="1"/>
          </p:nvPr>
        </p:nvSpPr>
        <p:spPr>
          <a:xfrm>
            <a:off x="320955" y="3433885"/>
            <a:ext cx="43824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two points on the workspace to draw a line.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65" name="Shape 1065"/>
        <p:cNvGrpSpPr/>
        <p:nvPr/>
      </p:nvGrpSpPr>
      <p:grpSpPr>
        <a:xfrm>
          <a:off x="0" y="0"/>
          <a:ext cx="0" cy="0"/>
        </a:xfrm>
      </p:grpSpPr>
      <p:sp>
        <p:nvSpPr>
          <p:cNvPr id="1066" name="Google Shape;1066;p94"/>
          <p:cNvSpPr txBox="1"/>
          <p:nvPr>
            <p:ph type="body" idx="1"/>
          </p:nvPr>
        </p:nvSpPr>
        <p:spPr>
          <a:xfrm>
            <a:off x="324000" y="759300"/>
            <a:ext cx="82377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How to reflect over a line:</a:t>
            </a:r>
            <a:endParaRPr/>
          </a:p>
        </p:txBody>
      </p:sp>
      <p:sp>
        <p:nvSpPr>
          <p:cNvPr id="1067" name="Google Shape;1067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reflection with Desmos</a:t>
            </a:r>
            <a:endParaRPr/>
          </a:p>
        </p:txBody>
      </p:sp>
      <p:sp>
        <p:nvSpPr>
          <p:cNvPr id="1068" name="Google Shape;1068;p94"/>
          <p:cNvSpPr txBox="1"/>
          <p:nvPr>
            <p:ph type="body" idx="1"/>
          </p:nvPr>
        </p:nvSpPr>
        <p:spPr>
          <a:xfrm>
            <a:off x="324000" y="1315200"/>
            <a:ext cx="4382400" cy="41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Draw a line.</a:t>
            </a:r>
            <a:endParaRPr sz="1800"/>
          </a:p>
        </p:txBody>
      </p:sp>
      <p:pic>
        <p:nvPicPr>
          <p:cNvPr id="1069" name="Google Shape;1069;p94"/>
          <p:cNvPicPr preferRelativeResize="0"/>
          <p:nvPr/>
        </p:nvPicPr>
        <p:blipFill>
          <a:blip r:embed="rId3">
            <a:alphaModFix/>
          </a:blip>
          <a:srcRect l="2598" t="390" r="4928" b="24585"/>
          <a:stretch>
            <a:fillRect/>
          </a:stretch>
        </p:blipFill>
        <p:spPr>
          <a:xfrm>
            <a:off x="4820450" y="1322600"/>
            <a:ext cx="4002326" cy="270125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70" name="Google Shape;1070;p94"/>
          <p:cNvPicPr preferRelativeResize="0"/>
          <p:nvPr/>
        </p:nvPicPr>
        <p:blipFill>
          <a:blip r:embed="rId4">
            <a:alphaModFix/>
          </a:blip>
          <a:srcRect l="3561" r="5114" b="18679"/>
          <a:stretch>
            <a:fillRect/>
          </a:stretch>
        </p:blipFill>
        <p:spPr>
          <a:xfrm>
            <a:off x="4820450" y="1321125"/>
            <a:ext cx="4002326" cy="26999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71" name="Google Shape;1071;p94"/>
          <p:cNvPicPr preferRelativeResize="0"/>
          <p:nvPr/>
        </p:nvPicPr>
        <p:blipFill>
          <a:blip r:embed="rId5">
            <a:alphaModFix/>
          </a:blip>
          <a:srcRect l="2649" r="8136" b="23588"/>
          <a:stretch>
            <a:fillRect/>
          </a:stretch>
        </p:blipFill>
        <p:spPr>
          <a:xfrm>
            <a:off x="4824000" y="1327065"/>
            <a:ext cx="4002324" cy="26585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72" name="Google Shape;1072;p94"/>
          <p:cNvPicPr preferRelativeResize="0"/>
          <p:nvPr/>
        </p:nvPicPr>
        <p:blipFill>
          <a:blip r:embed="rId6">
            <a:alphaModFix/>
          </a:blip>
          <a:srcRect l="2900" r="11299" b="20848"/>
          <a:stretch>
            <a:fillRect/>
          </a:stretch>
        </p:blipFill>
        <p:spPr>
          <a:xfrm>
            <a:off x="4824000" y="1323300"/>
            <a:ext cx="4002324" cy="27746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73" name="Google Shape;1073;p94"/>
          <p:cNvSpPr txBox="1"/>
          <p:nvPr>
            <p:ph type="body" idx="1"/>
          </p:nvPr>
        </p:nvSpPr>
        <p:spPr>
          <a:xfrm>
            <a:off x="326814" y="1940449"/>
            <a:ext cx="4382400" cy="6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the object and select reflect, as before.</a:t>
            </a:r>
            <a:endParaRPr sz="1800"/>
          </a:p>
        </p:txBody>
      </p:sp>
      <p:sp>
        <p:nvSpPr>
          <p:cNvPr id="1074" name="Google Shape;1074;p94"/>
          <p:cNvSpPr txBox="1"/>
          <p:nvPr>
            <p:ph type="body" idx="1"/>
          </p:nvPr>
        </p:nvSpPr>
        <p:spPr>
          <a:xfrm>
            <a:off x="318960" y="2883514"/>
            <a:ext cx="4382400" cy="31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on the line.</a:t>
            </a:r>
            <a:endParaRPr sz="1800"/>
          </a:p>
        </p:txBody>
      </p:sp>
      <p:sp>
        <p:nvSpPr>
          <p:cNvPr id="1075" name="Google Shape;1075;p94"/>
          <p:cNvSpPr txBox="1"/>
          <p:nvPr>
            <p:ph type="body" idx="1"/>
          </p:nvPr>
        </p:nvSpPr>
        <p:spPr>
          <a:xfrm>
            <a:off x="319441" y="3518151"/>
            <a:ext cx="43824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Adjust the line by moving the points.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79" name="Shape 1079"/>
        <p:cNvGrpSpPr/>
        <p:nvPr/>
      </p:nvGrpSpPr>
      <p:grpSpPr>
        <a:xfrm>
          <a:off x="0" y="0"/>
          <a:ext cx="0" cy="0"/>
        </a:xfrm>
      </p:grpSpPr>
      <p:sp>
        <p:nvSpPr>
          <p:cNvPr id="1080" name="Google Shape;1080;p9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button opens up the option menu containing the line tool?  </a:t>
            </a:r>
            <a:endParaRPr/>
          </a:p>
        </p:txBody>
      </p:sp>
      <p:sp>
        <p:nvSpPr>
          <p:cNvPr id="1081" name="Google Shape;1081;p9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reflection with Desmos</a:t>
            </a:r>
            <a:endParaRPr/>
          </a:p>
        </p:txBody>
      </p:sp>
      <p:pic>
        <p:nvPicPr>
          <p:cNvPr id="1082" name="Google Shape;1082;p95"/>
          <p:cNvPicPr preferRelativeResize="0"/>
          <p:nvPr/>
        </p:nvPicPr>
        <p:blipFill>
          <a:blip r:embed="rId3">
            <a:alphaModFix/>
          </a:blip>
          <a:srcRect l="18683" t="9050" r="66248" b="9042"/>
          <a:stretch>
            <a:fillRect/>
          </a:stretch>
        </p:blipFill>
        <p:spPr>
          <a:xfrm>
            <a:off x="970800" y="1620000"/>
            <a:ext cx="714000" cy="533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083" name="Google Shape;1083;p95"/>
          <p:cNvPicPr preferRelativeResize="0"/>
          <p:nvPr/>
        </p:nvPicPr>
        <p:blipFill>
          <a:blip r:embed="rId3">
            <a:alphaModFix/>
          </a:blip>
          <a:srcRect l="36147" t="9042" r="48784" b="9050"/>
          <a:stretch>
            <a:fillRect/>
          </a:stretch>
        </p:blipFill>
        <p:spPr>
          <a:xfrm>
            <a:off x="970800" y="4060350"/>
            <a:ext cx="714000" cy="533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084" name="Google Shape;1084;p95"/>
          <p:cNvPicPr preferRelativeResize="0"/>
          <p:nvPr/>
        </p:nvPicPr>
        <p:blipFill>
          <a:blip r:embed="rId3">
            <a:alphaModFix/>
          </a:blip>
          <a:srcRect l="70576" t="9050" r="14355" b="9042"/>
          <a:stretch>
            <a:fillRect/>
          </a:stretch>
        </p:blipFill>
        <p:spPr>
          <a:xfrm>
            <a:off x="970800" y="3246900"/>
            <a:ext cx="714000" cy="533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085" name="Google Shape;1085;p95"/>
          <p:cNvPicPr preferRelativeResize="0"/>
          <p:nvPr/>
        </p:nvPicPr>
        <p:blipFill>
          <a:blip r:embed="rId3">
            <a:alphaModFix/>
          </a:blip>
          <a:srcRect l="87668" t="9042" r="1153" b="9050"/>
          <a:stretch>
            <a:fillRect/>
          </a:stretch>
        </p:blipFill>
        <p:spPr>
          <a:xfrm>
            <a:off x="970800" y="2433450"/>
            <a:ext cx="529800" cy="533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086" name="Google Shape;1086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2283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90" name="Shape 1090"/>
        <p:cNvGrpSpPr/>
        <p:nvPr/>
      </p:nvGrpSpPr>
      <p:grpSpPr>
        <a:xfrm>
          <a:off x="0" y="0"/>
          <a:ext cx="0" cy="0"/>
        </a:xfrm>
      </p:grpSpPr>
      <p:sp>
        <p:nvSpPr>
          <p:cNvPr id="1091" name="Google Shape;1091;p96"/>
          <p:cNvSpPr txBox="1"/>
          <p:nvPr>
            <p:ph type="subTitle" idx="1"/>
          </p:nvPr>
        </p:nvSpPr>
        <p:spPr>
          <a:xfrm>
            <a:off x="324000" y="1080000"/>
            <a:ext cx="8496000" cy="54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You always need to draw a line before you reflect an object.</a:t>
            </a:r>
            <a:endParaRPr/>
          </a:p>
        </p:txBody>
      </p:sp>
      <p:sp>
        <p:nvSpPr>
          <p:cNvPr id="1092" name="Google Shape;1092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Investigating reflection with Desmos</a:t>
            </a:r>
            <a:endParaRPr/>
          </a:p>
        </p:txBody>
      </p:sp>
      <p:sp>
        <p:nvSpPr>
          <p:cNvPr id="1093" name="Google Shape;1093;p96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line tells Desmos where to reflect the image over.</a:t>
            </a:r>
            <a:endParaRPr/>
          </a:p>
        </p:txBody>
      </p:sp>
      <p:sp>
        <p:nvSpPr>
          <p:cNvPr id="1094" name="Google Shape;1094;p96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You can reflect over one of the edges of the object.</a:t>
            </a:r>
            <a:endParaRPr/>
          </a:p>
        </p:txBody>
      </p:sp>
      <p:pic>
        <p:nvPicPr>
          <p:cNvPr id="1095" name="Google Shape;1095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6458" y="39269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00" name="Shape 1100"/>
        <p:cNvGrpSpPr/>
        <p:nvPr/>
      </p:nvGrpSpPr>
      <p:grpSpPr>
        <a:xfrm>
          <a:off x="0" y="0"/>
          <a:ext cx="0" cy="0"/>
        </a:xfrm>
      </p:grpSpPr>
      <p:sp>
        <p:nvSpPr>
          <p:cNvPr id="1101" name="Google Shape;1101;p97"/>
          <p:cNvSpPr txBox="1"/>
          <p:nvPr>
            <p:ph type="body" idx="1"/>
          </p:nvPr>
        </p:nvSpPr>
        <p:spPr>
          <a:xfrm>
            <a:off x="324000" y="759300"/>
            <a:ext cx="8496000" cy="406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Draw a polygon where every edge is a different length (e.g. a scalene triangle). </a:t>
            </a:r>
            <a:br>
              <a:rPr lang="en-GB" sz="1800"/>
            </a:br>
            <a:r>
              <a:rPr lang="en-GB" sz="1800"/>
              <a:t>Draw a vertical line and reflect the polygon over the line.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1) Drag the line of symmetry towards the image. </a:t>
            </a:r>
            <a:br>
              <a:rPr lang="en-GB" sz="1800"/>
            </a:br>
            <a:r>
              <a:rPr lang="en-GB" sz="1800"/>
              <a:t>    What happens to the image? Why does it do this?</a:t>
            </a:r>
            <a:br>
              <a:rPr lang="en-GB" sz="1800"/>
            </a:b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2) Is it possible for the line of symmetry to be inside the image?</a:t>
            </a:r>
            <a:br>
              <a:rPr lang="en-GB" sz="1800"/>
            </a:br>
            <a:r>
              <a:rPr lang="en-GB" sz="1800"/>
              <a:t>    If so, how? If not, why not?</a:t>
            </a:r>
            <a:br>
              <a:rPr lang="en-GB" sz="1800"/>
            </a:br>
            <a:br>
              <a:rPr lang="en-GB" sz="1800"/>
            </a:br>
            <a:r>
              <a:rPr lang="en-GB" sz="1800"/>
              <a:t>3) Is it possible for the image to perfectly overlay the object? </a:t>
            </a:r>
            <a:br>
              <a:rPr lang="en-GB" sz="1800"/>
            </a:br>
            <a:r>
              <a:rPr lang="en-GB" sz="1800"/>
              <a:t>    If so, how? If not, why not?</a:t>
            </a:r>
            <a:endParaRPr sz="2400"/>
          </a:p>
        </p:txBody>
      </p:sp>
      <p:sp>
        <p:nvSpPr>
          <p:cNvPr id="1102" name="Google Shape;1102;p9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Investigating reflection with Desmos</a:t>
            </a:r>
            <a:endParaRPr/>
          </a:p>
        </p:txBody>
      </p:sp>
    </p:spTree>
  </p:cSld>
  <p:clrMapOvr>
    <a:masterClrMapping/>
  </p:clrMapOvr>
  <p:transition/>
  <p:timing/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06" name="Shape 1106"/>
        <p:cNvGrpSpPr/>
        <p:nvPr/>
      </p:nvGrpSpPr>
      <p:grpSpPr>
        <a:xfrm>
          <a:off x="0" y="0"/>
          <a:ext cx="0" cy="0"/>
        </a:xfrm>
      </p:grpSpPr>
      <p:sp>
        <p:nvSpPr>
          <p:cNvPr id="1107" name="Google Shape;1107;p98"/>
          <p:cNvSpPr txBox="1"/>
          <p:nvPr>
            <p:ph type="body" idx="1"/>
          </p:nvPr>
        </p:nvSpPr>
        <p:spPr>
          <a:xfrm>
            <a:off x="324000" y="759300"/>
            <a:ext cx="8237700" cy="396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Draw a polygon where every edge is a different length (e.g. a scalene triangle). </a:t>
            </a:r>
            <a:br>
              <a:rPr lang="en-GB" sz="1800"/>
            </a:br>
            <a:r>
              <a:rPr lang="en-GB" sz="1800"/>
              <a:t>Draw a vertical line and reflect the polygon over the line.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1) Drag the line of symmetry towards the image. </a:t>
            </a:r>
            <a:br>
              <a:rPr lang="en-GB" sz="1800"/>
            </a:br>
            <a:r>
              <a:rPr lang="en-GB" sz="1800"/>
              <a:t>    What happens to the image? Why does it do this?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800"/>
            </a:br>
            <a:br>
              <a:rPr lang="en-GB" sz="1800"/>
            </a:br>
            <a:br>
              <a:rPr lang="en-GB" sz="1800"/>
            </a:br>
            <a:r>
              <a:rPr lang="en-GB" sz="1800"/>
              <a:t>2) Is it possible for the line of symmetry to be inside the image?</a:t>
            </a:r>
            <a:br>
              <a:rPr lang="en-GB" sz="1800"/>
            </a:br>
            <a:r>
              <a:rPr lang="en-GB" sz="1800"/>
              <a:t>    If so, how? If not, why not?</a:t>
            </a:r>
            <a:br>
              <a:rPr lang="en-GB" sz="1800"/>
            </a:br>
            <a:br>
              <a:rPr lang="en-GB" sz="1800"/>
            </a:br>
            <a:endParaRPr sz="2400"/>
          </a:p>
        </p:txBody>
      </p:sp>
      <p:sp>
        <p:nvSpPr>
          <p:cNvPr id="1108" name="Google Shape;1108;p9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reflection with Desmos</a:t>
            </a:r>
            <a:endParaRPr/>
          </a:p>
        </p:txBody>
      </p:sp>
      <p:sp>
        <p:nvSpPr>
          <p:cNvPr id="1109" name="Google Shape;1109;p98"/>
          <p:cNvSpPr txBox="1"/>
          <p:nvPr>
            <p:ph type="body" idx="1"/>
          </p:nvPr>
        </p:nvSpPr>
        <p:spPr>
          <a:xfrm>
            <a:off x="556808" y="2572160"/>
            <a:ext cx="8252700" cy="67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image moves aways. This is because the line of symmetry is always equidistant between the object and image.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0" name="Google Shape;1110;p98"/>
          <p:cNvSpPr txBox="1"/>
          <p:nvPr>
            <p:ph type="body" idx="1"/>
          </p:nvPr>
        </p:nvSpPr>
        <p:spPr>
          <a:xfrm>
            <a:off x="555275" y="4300201"/>
            <a:ext cx="8252700" cy="39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Yes. When the line of symmetry is inside the object.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14" name="Shape 1114"/>
        <p:cNvGrpSpPr/>
        <p:nvPr/>
      </p:nvGrpSpPr>
      <p:grpSpPr>
        <a:xfrm>
          <a:off x="0" y="0"/>
          <a:ext cx="0" cy="0"/>
        </a:xfrm>
      </p:grpSpPr>
      <p:sp>
        <p:nvSpPr>
          <p:cNvPr id="1115" name="Google Shape;1115;p9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3) Is it possible for the image to perfectly overlay the object? </a:t>
            </a:r>
            <a:br>
              <a:rPr lang="en-GB" sz="1800"/>
            </a:br>
            <a:r>
              <a:rPr lang="en-GB" sz="1800"/>
              <a:t>    If so, how? If not, why not?</a:t>
            </a:r>
            <a:endParaRPr sz="2400"/>
          </a:p>
        </p:txBody>
      </p:sp>
      <p:sp>
        <p:nvSpPr>
          <p:cNvPr id="1116" name="Google Shape;1116;p9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reflection with Desmos</a:t>
            </a:r>
            <a:endParaRPr/>
          </a:p>
        </p:txBody>
      </p:sp>
      <p:sp>
        <p:nvSpPr>
          <p:cNvPr id="1117" name="Google Shape;1117;p99"/>
          <p:cNvSpPr txBox="1"/>
          <p:nvPr>
            <p:ph type="body" idx="1"/>
          </p:nvPr>
        </p:nvSpPr>
        <p:spPr>
          <a:xfrm>
            <a:off x="514925" y="1608598"/>
            <a:ext cx="8317800" cy="29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No. This is because the image does not retain the sense of the object.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21" name="Shape 1121"/>
        <p:cNvGrpSpPr/>
        <p:nvPr/>
      </p:nvGrpSpPr>
      <p:grpSpPr>
        <a:xfrm>
          <a:off x="0" y="0"/>
          <a:ext cx="0" cy="0"/>
        </a:xfrm>
      </p:grpSpPr>
      <p:sp>
        <p:nvSpPr>
          <p:cNvPr id="1122" name="Google Shape;1122;p100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translation with Desmos</a:t>
            </a:r>
            <a:endParaRPr/>
          </a:p>
        </p:txBody>
      </p:sp>
      <p:sp>
        <p:nvSpPr>
          <p:cNvPr id="1123" name="Google Shape;1123;p100"/>
          <p:cNvSpPr txBox="1"/>
          <p:nvPr>
            <p:ph type="title" idx="2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rotation with Desmos</a:t>
            </a:r>
            <a:endParaRPr/>
          </a:p>
        </p:txBody>
      </p:sp>
      <p:sp>
        <p:nvSpPr>
          <p:cNvPr id="1124" name="Google Shape;1124;p100"/>
          <p:cNvSpPr txBox="1"/>
          <p:nvPr>
            <p:ph type="title" idx="3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reflection with Desmos</a:t>
            </a:r>
            <a:endParaRPr/>
          </a:p>
        </p:txBody>
      </p:sp>
      <p:sp>
        <p:nvSpPr>
          <p:cNvPr id="1125" name="Google Shape;1125;p100"/>
          <p:cNvSpPr txBox="1"/>
          <p:nvPr>
            <p:ph type="title" idx="4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enlargement with Desmos</a:t>
            </a:r>
            <a:endParaRPr/>
          </a:p>
        </p:txBody>
      </p:sp>
      <p:sp>
        <p:nvSpPr>
          <p:cNvPr id="1126" name="Google Shape;1126;p100"/>
          <p:cNvSpPr txBox="1"/>
          <p:nvPr>
            <p:ph type="title" idx="5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transformations with Desmos</a:t>
            </a:r>
            <a:endParaRPr/>
          </a:p>
        </p:txBody>
      </p:sp>
      <p:pic>
        <p:nvPicPr>
          <p:cNvPr id="1127" name="Google Shape;1127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661" y="403668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31" name="Shape 1131"/>
        <p:cNvGrpSpPr/>
        <p:nvPr/>
      </p:nvGrpSpPr>
      <p:grpSpPr>
        <a:xfrm>
          <a:off x="0" y="0"/>
          <a:ext cx="0" cy="0"/>
        </a:xfrm>
      </p:grpSpPr>
      <p:sp>
        <p:nvSpPr>
          <p:cNvPr id="1132" name="Google Shape;1132;p101"/>
          <p:cNvSpPr txBox="1"/>
          <p:nvPr>
            <p:ph type="body" idx="1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In the UK, the word </a:t>
            </a:r>
            <a:r>
              <a:rPr lang="en-GB">
                <a:solidFill>
                  <a:schemeClr val="accent3"/>
                </a:solidFill>
              </a:rPr>
              <a:t>enlargement</a:t>
            </a:r>
            <a:r>
              <a:rPr lang="en-GB"/>
              <a:t> is used for a transformation that causes a change in size.</a:t>
            </a:r>
            <a:endParaRPr/>
          </a:p>
        </p:txBody>
      </p:sp>
      <p:sp>
        <p:nvSpPr>
          <p:cNvPr id="1133" name="Google Shape;1133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Investigating enlargement with Desmos</a:t>
            </a:r>
            <a:endParaRPr/>
          </a:p>
        </p:txBody>
      </p:sp>
      <p:sp>
        <p:nvSpPr>
          <p:cNvPr id="1134" name="Google Shape;1134;p101"/>
          <p:cNvSpPr txBox="1"/>
          <p:nvPr>
            <p:ph type="body" idx="1"/>
          </p:nvPr>
        </p:nvSpPr>
        <p:spPr>
          <a:xfrm>
            <a:off x="326734" y="1657991"/>
            <a:ext cx="8496000" cy="145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 the USA, the word </a:t>
            </a:r>
            <a:r>
              <a:rPr lang="en-GB">
                <a:solidFill>
                  <a:schemeClr val="accent3"/>
                </a:solidFill>
              </a:rPr>
              <a:t>dilation</a:t>
            </a:r>
            <a:r>
              <a:rPr lang="en-GB"/>
              <a:t> is used for a transformation that causes a change in size.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Desmos was created in the USA so uses the word </a:t>
            </a:r>
            <a:r>
              <a:rPr lang="en-GB">
                <a:solidFill>
                  <a:schemeClr val="accent3"/>
                </a:solidFill>
              </a:rPr>
              <a:t>dilate</a:t>
            </a:r>
            <a:r>
              <a:rPr lang="en-GB"/>
              <a:t>. 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38" name="Shape 1138"/>
        <p:cNvGrpSpPr/>
        <p:nvPr/>
      </p:nvGrpSpPr>
      <p:grpSpPr>
        <a:xfrm>
          <a:off x="0" y="0"/>
          <a:ext cx="0" cy="0"/>
        </a:xfrm>
      </p:grpSpPr>
      <p:pic>
        <p:nvPicPr>
          <p:cNvPr id="1139" name="Google Shape;1139;p102"/>
          <p:cNvPicPr preferRelativeResize="0"/>
          <p:nvPr/>
        </p:nvPicPr>
        <p:blipFill>
          <a:blip r:embed="rId3">
            <a:alphaModFix/>
          </a:blip>
          <a:srcRect l="5033" b="23371"/>
          <a:stretch>
            <a:fillRect/>
          </a:stretch>
        </p:blipFill>
        <p:spPr>
          <a:xfrm>
            <a:off x="4824000" y="1315200"/>
            <a:ext cx="4002549" cy="26999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40" name="Google Shape;1140;p102"/>
          <p:cNvPicPr preferRelativeResize="0"/>
          <p:nvPr/>
        </p:nvPicPr>
        <p:blipFill>
          <a:blip r:embed="rId4">
            <a:alphaModFix/>
          </a:blip>
          <a:srcRect l="4440" r="5315" b="22354"/>
          <a:stretch>
            <a:fillRect/>
          </a:stretch>
        </p:blipFill>
        <p:spPr>
          <a:xfrm>
            <a:off x="4824000" y="1325675"/>
            <a:ext cx="4002550" cy="2700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41" name="Google Shape;1141;p102"/>
          <p:cNvPicPr preferRelativeResize="0"/>
          <p:nvPr/>
        </p:nvPicPr>
        <p:blipFill>
          <a:blip r:embed="rId5">
            <a:alphaModFix/>
          </a:blip>
          <a:srcRect l="3571" r="5096" b="18949"/>
          <a:stretch>
            <a:fillRect/>
          </a:stretch>
        </p:blipFill>
        <p:spPr>
          <a:xfrm>
            <a:off x="4817450" y="1346600"/>
            <a:ext cx="4002550" cy="26686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42" name="Google Shape;1142;p102"/>
          <p:cNvPicPr preferRelativeResize="0"/>
          <p:nvPr/>
        </p:nvPicPr>
        <p:blipFill>
          <a:blip r:embed="rId6">
            <a:alphaModFix/>
          </a:blip>
          <a:srcRect l="4651" r="5726" b="22558"/>
          <a:stretch>
            <a:fillRect/>
          </a:stretch>
        </p:blipFill>
        <p:spPr>
          <a:xfrm>
            <a:off x="4817450" y="1320433"/>
            <a:ext cx="4002549" cy="26685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43" name="Google Shape;1143;p102"/>
          <p:cNvSpPr txBox="1"/>
          <p:nvPr>
            <p:ph type="body" idx="1"/>
          </p:nvPr>
        </p:nvSpPr>
        <p:spPr>
          <a:xfrm>
            <a:off x="324000" y="759300"/>
            <a:ext cx="8237700" cy="5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How to enlarge an object:</a:t>
            </a:r>
            <a:endParaRPr/>
          </a:p>
        </p:txBody>
      </p:sp>
      <p:sp>
        <p:nvSpPr>
          <p:cNvPr id="1144" name="Google Shape;1144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enlargement with Desmos</a:t>
            </a:r>
            <a:endParaRPr/>
          </a:p>
        </p:txBody>
      </p:sp>
      <p:sp>
        <p:nvSpPr>
          <p:cNvPr id="1145" name="Google Shape;1145;p102"/>
          <p:cNvSpPr txBox="1"/>
          <p:nvPr>
            <p:ph type="body" idx="1"/>
          </p:nvPr>
        </p:nvSpPr>
        <p:spPr>
          <a:xfrm>
            <a:off x="324000" y="1315200"/>
            <a:ext cx="43824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Using the select tool, click on the polygon and click transform.</a:t>
            </a:r>
            <a:endParaRPr sz="1800"/>
          </a:p>
        </p:txBody>
      </p:sp>
      <p:sp>
        <p:nvSpPr>
          <p:cNvPr id="1146" name="Google Shape;1146;p102"/>
          <p:cNvSpPr txBox="1"/>
          <p:nvPr>
            <p:ph type="body" idx="1"/>
          </p:nvPr>
        </p:nvSpPr>
        <p:spPr>
          <a:xfrm>
            <a:off x="324000" y="2257130"/>
            <a:ext cx="4382400" cy="3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Choose ‘dilate’.</a:t>
            </a:r>
            <a:endParaRPr sz="1800"/>
          </a:p>
        </p:txBody>
      </p:sp>
      <p:sp>
        <p:nvSpPr>
          <p:cNvPr id="1147" name="Google Shape;1147;p102"/>
          <p:cNvSpPr txBox="1"/>
          <p:nvPr>
            <p:ph type="body" idx="1"/>
          </p:nvPr>
        </p:nvSpPr>
        <p:spPr>
          <a:xfrm>
            <a:off x="324000" y="2886102"/>
            <a:ext cx="43824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Click a point on the workspace to plot a centre of enlargement.</a:t>
            </a:r>
            <a:endParaRPr sz="1800"/>
          </a:p>
        </p:txBody>
      </p:sp>
      <p:sp>
        <p:nvSpPr>
          <p:cNvPr id="1148" name="Google Shape;1148;p102"/>
          <p:cNvSpPr txBox="1"/>
          <p:nvPr>
            <p:ph type="body" idx="1"/>
          </p:nvPr>
        </p:nvSpPr>
        <p:spPr>
          <a:xfrm>
            <a:off x="324000" y="3824872"/>
            <a:ext cx="43824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Type in a scale factor to enlarge the object and press ‘go’.</a:t>
            </a:r>
            <a:endParaRPr sz="1800"/>
          </a:p>
        </p:txBody>
      </p:sp>
      <p:pic>
        <p:nvPicPr>
          <p:cNvPr id="1149" name="Google Shape;1149;p10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31550" y="2262490"/>
            <a:ext cx="437538" cy="5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3" name="Shape 1153"/>
        <p:cNvGrpSpPr/>
        <p:nvPr/>
      </p:nvGrpSpPr>
      <p:grpSpPr>
        <a:xfrm>
          <a:off x="0" y="0"/>
          <a:ext cx="0" cy="0"/>
        </a:xfrm>
      </p:grpSpPr>
      <p:pic>
        <p:nvPicPr>
          <p:cNvPr id="1154" name="Google Shape;1154;p103"/>
          <p:cNvPicPr preferRelativeResize="0"/>
          <p:nvPr/>
        </p:nvPicPr>
        <p:blipFill>
          <a:blip r:embed="rId3">
            <a:alphaModFix/>
          </a:blip>
          <a:srcRect b="27023"/>
          <a:stretch>
            <a:fillRect/>
          </a:stretch>
        </p:blipFill>
        <p:spPr>
          <a:xfrm>
            <a:off x="4817450" y="1391400"/>
            <a:ext cx="4002550" cy="26999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55" name="Google Shape;1155;p103"/>
          <p:cNvSpPr txBox="1"/>
          <p:nvPr>
            <p:ph type="body" idx="1"/>
          </p:nvPr>
        </p:nvSpPr>
        <p:spPr>
          <a:xfrm>
            <a:off x="324000" y="759300"/>
            <a:ext cx="8237700" cy="5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We can make the scale factor dynamic by creating a slider.</a:t>
            </a:r>
            <a:endParaRPr/>
          </a:p>
        </p:txBody>
      </p:sp>
      <p:sp>
        <p:nvSpPr>
          <p:cNvPr id="1156" name="Google Shape;1156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enlargement with Desmos</a:t>
            </a:r>
            <a:endParaRPr/>
          </a:p>
        </p:txBody>
      </p:sp>
      <p:sp>
        <p:nvSpPr>
          <p:cNvPr id="1157" name="Google Shape;1157;p103"/>
          <p:cNvSpPr txBox="1"/>
          <p:nvPr>
            <p:ph type="body" idx="1"/>
          </p:nvPr>
        </p:nvSpPr>
        <p:spPr>
          <a:xfrm>
            <a:off x="324000" y="1315200"/>
            <a:ext cx="4382400" cy="69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Carry out the same steps to enlarge an object.</a:t>
            </a:r>
            <a:endParaRPr sz="1800"/>
          </a:p>
        </p:txBody>
      </p:sp>
      <p:pic>
        <p:nvPicPr>
          <p:cNvPr id="1158" name="Google Shape;1158;p103"/>
          <p:cNvPicPr preferRelativeResize="0"/>
          <p:nvPr/>
        </p:nvPicPr>
        <p:blipFill>
          <a:blip r:embed="rId4">
            <a:alphaModFix/>
          </a:blip>
          <a:srcRect b="19034"/>
          <a:stretch>
            <a:fillRect/>
          </a:stretch>
        </p:blipFill>
        <p:spPr>
          <a:xfrm>
            <a:off x="4788800" y="1364849"/>
            <a:ext cx="3959574" cy="272654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59" name="Google Shape;1159;p103"/>
          <p:cNvPicPr preferRelativeResize="0"/>
          <p:nvPr/>
        </p:nvPicPr>
        <p:blipFill>
          <a:blip r:embed="rId5">
            <a:alphaModFix/>
          </a:blip>
          <a:srcRect b="12640"/>
          <a:stretch>
            <a:fillRect/>
          </a:stretch>
        </p:blipFill>
        <p:spPr>
          <a:xfrm>
            <a:off x="4797300" y="1364700"/>
            <a:ext cx="4002551" cy="2700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60" name="Google Shape;1160;p103"/>
          <p:cNvSpPr txBox="1"/>
          <p:nvPr>
            <p:ph type="body" idx="1"/>
          </p:nvPr>
        </p:nvSpPr>
        <p:spPr>
          <a:xfrm>
            <a:off x="327843" y="2257130"/>
            <a:ext cx="4382400" cy="39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Enter a letter for the scale factor.</a:t>
            </a:r>
            <a:endParaRPr sz="1800"/>
          </a:p>
        </p:txBody>
      </p:sp>
      <p:sp>
        <p:nvSpPr>
          <p:cNvPr id="1161" name="Google Shape;1161;p103"/>
          <p:cNvSpPr txBox="1"/>
          <p:nvPr>
            <p:ph type="body" idx="1"/>
          </p:nvPr>
        </p:nvSpPr>
        <p:spPr>
          <a:xfrm>
            <a:off x="327843" y="2885400"/>
            <a:ext cx="4382400" cy="33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A slider appears in the left panel.</a:t>
            </a:r>
            <a:endParaRPr sz="1800"/>
          </a:p>
        </p:txBody>
      </p:sp>
      <p:sp>
        <p:nvSpPr>
          <p:cNvPr id="1162" name="Google Shape;1162;p103"/>
          <p:cNvSpPr txBox="1"/>
          <p:nvPr>
            <p:ph type="body" idx="1"/>
          </p:nvPr>
        </p:nvSpPr>
        <p:spPr>
          <a:xfrm>
            <a:off x="327035" y="3513536"/>
            <a:ext cx="4382400" cy="69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Drag the slider left and right to change the scale factor.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66" name="Shape 1166"/>
        <p:cNvGrpSpPr/>
        <p:nvPr/>
      </p:nvGrpSpPr>
      <p:grpSpPr>
        <a:xfrm>
          <a:off x="0" y="0"/>
          <a:ext cx="0" cy="0"/>
        </a:xfrm>
      </p:grpSpPr>
      <p:sp>
        <p:nvSpPr>
          <p:cNvPr id="1167" name="Google Shape;1167;p104"/>
          <p:cNvSpPr txBox="1"/>
          <p:nvPr>
            <p:ph type="subTitle" idx="1"/>
          </p:nvPr>
        </p:nvSpPr>
        <p:spPr>
          <a:xfrm>
            <a:off x="1034425" y="1837775"/>
            <a:ext cx="3789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dilate</a:t>
            </a:r>
            <a:endParaRPr/>
          </a:p>
        </p:txBody>
      </p:sp>
      <p:sp>
        <p:nvSpPr>
          <p:cNvPr id="1168" name="Google Shape;1168;p10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Investigating enlargement with Desmos</a:t>
            </a:r>
            <a:endParaRPr/>
          </a:p>
        </p:txBody>
      </p:sp>
      <p:pic>
        <p:nvPicPr>
          <p:cNvPr id="1169" name="Google Shape;1169;p104"/>
          <p:cNvPicPr preferRelativeResize="0"/>
          <p:nvPr/>
        </p:nvPicPr>
        <p:blipFill>
          <a:blip r:embed="rId3">
            <a:alphaModFix/>
          </a:blip>
          <a:srcRect l="4501" t="4599" r="4564" b="3774"/>
          <a:stretch>
            <a:fillRect/>
          </a:stretch>
        </p:blipFill>
        <p:spPr>
          <a:xfrm>
            <a:off x="4891500" y="1667975"/>
            <a:ext cx="2082300" cy="24738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70" name="Google Shape;1170;p104"/>
          <p:cNvSpPr/>
          <p:nvPr/>
        </p:nvSpPr>
        <p:spPr>
          <a:xfrm>
            <a:off x="5281456" y="3578597"/>
            <a:ext cx="1286100" cy="459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71" name="Google Shape;1171;p104"/>
          <p:cNvSpPr txBox="1"/>
          <p:nvPr>
            <p:ph type="subTitle" idx="3"/>
          </p:nvPr>
        </p:nvSpPr>
        <p:spPr>
          <a:xfrm>
            <a:off x="1034425" y="2794250"/>
            <a:ext cx="396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enlarge</a:t>
            </a:r>
            <a:endParaRPr/>
          </a:p>
        </p:txBody>
      </p:sp>
      <p:sp>
        <p:nvSpPr>
          <p:cNvPr id="1172" name="Google Shape;1172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What word can be found on this transformation button?</a:t>
            </a:r>
            <a:endParaRPr/>
          </a:p>
        </p:txBody>
      </p:sp>
      <p:sp>
        <p:nvSpPr>
          <p:cNvPr id="1173" name="Google Shape;1173;p104"/>
          <p:cNvSpPr txBox="1"/>
          <p:nvPr>
            <p:ph type="subTitle" idx="4"/>
          </p:nvPr>
        </p:nvSpPr>
        <p:spPr>
          <a:xfrm>
            <a:off x="1034425" y="3766975"/>
            <a:ext cx="35841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move</a:t>
            </a:r>
            <a:endParaRPr/>
          </a:p>
        </p:txBody>
      </p:sp>
      <p:sp>
        <p:nvSpPr>
          <p:cNvPr id="1174" name="Google Shape;1174;p104"/>
          <p:cNvSpPr txBox="1"/>
          <p:nvPr>
            <p:ph type="title"/>
          </p:nvPr>
        </p:nvSpPr>
        <p:spPr>
          <a:xfrm>
            <a:off x="5867425" y="3585450"/>
            <a:ext cx="1713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?</a:t>
            </a:r>
            <a:endParaRPr/>
          </a:p>
        </p:txBody>
      </p:sp>
      <p:pic>
        <p:nvPicPr>
          <p:cNvPr id="1175" name="Google Shape;1175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9508" y="18242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79" name="Shape 1179"/>
        <p:cNvGrpSpPr/>
        <p:nvPr/>
      </p:nvGrpSpPr>
      <p:grpSpPr>
        <a:xfrm>
          <a:off x="0" y="0"/>
          <a:ext cx="0" cy="0"/>
        </a:xfrm>
      </p:grpSpPr>
      <p:sp>
        <p:nvSpPr>
          <p:cNvPr id="1180" name="Google Shape;1180;p10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Investigating enlargement with Desmos</a:t>
            </a:r>
            <a:endParaRPr/>
          </a:p>
        </p:txBody>
      </p:sp>
      <p:sp>
        <p:nvSpPr>
          <p:cNvPr id="1181" name="Google Shape;1181;p105"/>
          <p:cNvSpPr txBox="1"/>
          <p:nvPr>
            <p:ph type="body" idx="1"/>
          </p:nvPr>
        </p:nvSpPr>
        <p:spPr>
          <a:xfrm>
            <a:off x="324000" y="759300"/>
            <a:ext cx="8572200" cy="35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Draw any polygon and enlarge it with a slider scale factor. 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1) Drag the slider left and right.</a:t>
            </a:r>
            <a:br>
              <a:rPr lang="en-GB" sz="1800"/>
            </a:br>
            <a:r>
              <a:rPr lang="en-GB" sz="1800"/>
              <a:t>   a) When is the image larger than the object?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   b) When is the image the same size as the object?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   c) When is the image smaller than the object?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   d) What happens to the image when the scale factor is 0? Why does this 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        happen?</a:t>
            </a:r>
            <a:br>
              <a:rPr lang="en-GB" sz="1800"/>
            </a:br>
            <a:br>
              <a:rPr lang="en-GB" sz="1800"/>
            </a:br>
            <a:r>
              <a:rPr lang="en-GB" sz="1800"/>
              <a:t>2) Select the line tool.</a:t>
            </a:r>
            <a:br>
              <a:rPr lang="en-GB" sz="1800"/>
            </a:br>
            <a:r>
              <a:rPr lang="en-GB" sz="1800"/>
              <a:t>Click on a vertex on the object and its corresponding vertex on the image to draw a line that traverses both vertices. Repeat for all pairs of corresponding vertices.</a:t>
            </a:r>
            <a:br>
              <a:rPr lang="en-GB" sz="1800"/>
            </a:br>
            <a:r>
              <a:rPr lang="en-GB" sz="1800"/>
              <a:t>Where do the lines intersect each other?</a:t>
            </a:r>
            <a:endParaRPr sz="1800"/>
          </a:p>
        </p:txBody>
      </p:sp>
    </p:spTree>
  </p:cSld>
  <p:clrMapOvr>
    <a:masterClrMapping/>
  </p:clrMapOvr>
  <p:transition/>
  <p:timing/>
</p:sld>
</file>

<file path=ppt/slides/slide4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85" name="Shape 1185"/>
        <p:cNvGrpSpPr/>
        <p:nvPr/>
      </p:nvGrpSpPr>
      <p:grpSpPr>
        <a:xfrm>
          <a:off x="0" y="0"/>
          <a:ext cx="0" cy="0"/>
        </a:xfrm>
      </p:grpSpPr>
      <p:sp>
        <p:nvSpPr>
          <p:cNvPr id="1186" name="Google Shape;1186;p10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enlargement with Desmos</a:t>
            </a:r>
            <a:endParaRPr/>
          </a:p>
        </p:txBody>
      </p:sp>
      <p:sp>
        <p:nvSpPr>
          <p:cNvPr id="1187" name="Google Shape;1187;p106"/>
          <p:cNvSpPr txBox="1"/>
          <p:nvPr>
            <p:ph type="body" idx="1"/>
          </p:nvPr>
        </p:nvSpPr>
        <p:spPr>
          <a:xfrm>
            <a:off x="301200" y="767800"/>
            <a:ext cx="8541600" cy="406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Draw any polygon and enlarge it with a slider scale factor. 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1) Drag the slider left and right.</a:t>
            </a:r>
            <a:br>
              <a:rPr lang="en-GB" sz="1800"/>
            </a:br>
            <a:r>
              <a:rPr lang="en-GB" sz="1800"/>
              <a:t>   a) When is the image larger than the object?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   b) When is the image the same size as the object?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   c) When is the image smaller than the object?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   d) What happens to the image when the scale factor is 0? Why does this 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        happen?</a:t>
            </a:r>
            <a:br>
              <a:rPr lang="en-GB" sz="1800"/>
            </a:br>
            <a:br>
              <a:rPr lang="en-GB" sz="1800"/>
            </a:br>
            <a:r>
              <a:rPr lang="en-GB" sz="1800"/>
              <a:t>2) Select the line tool.</a:t>
            </a:r>
            <a:br>
              <a:rPr lang="en-GB" sz="1800"/>
            </a:br>
            <a:r>
              <a:rPr lang="en-GB" sz="1800"/>
              <a:t>Click on a vertex on the object and its corresponding vertex on the image to draw a line that traverses both vertices. Repeat for all pairs of corresponding vertices.</a:t>
            </a:r>
            <a:br>
              <a:rPr lang="en-GB" sz="1800"/>
            </a:br>
            <a:r>
              <a:rPr lang="en-GB" sz="1800"/>
              <a:t>Where do the lines intersect each other?</a:t>
            </a:r>
            <a:endParaRPr sz="2400"/>
          </a:p>
        </p:txBody>
      </p:sp>
      <p:sp>
        <p:nvSpPr>
          <p:cNvPr id="1188" name="Google Shape;1188;p106"/>
          <p:cNvSpPr txBox="1"/>
          <p:nvPr>
            <p:ph type="body" idx="1"/>
          </p:nvPr>
        </p:nvSpPr>
        <p:spPr>
          <a:xfrm>
            <a:off x="6399625" y="1556093"/>
            <a:ext cx="1853100" cy="29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scale factor &gt; 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9" name="Google Shape;1189;p106"/>
          <p:cNvSpPr txBox="1"/>
          <p:nvPr>
            <p:ph type="body" idx="1"/>
          </p:nvPr>
        </p:nvSpPr>
        <p:spPr>
          <a:xfrm>
            <a:off x="6423875" y="1867496"/>
            <a:ext cx="1853100" cy="29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scale factor = 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0" name="Google Shape;1190;p106"/>
          <p:cNvSpPr txBox="1"/>
          <p:nvPr>
            <p:ph type="body" idx="1"/>
          </p:nvPr>
        </p:nvSpPr>
        <p:spPr>
          <a:xfrm>
            <a:off x="6423868" y="2142196"/>
            <a:ext cx="1853100" cy="29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scale factor &lt; 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1" name="Google Shape;1191;p106"/>
          <p:cNvSpPr txBox="1"/>
          <p:nvPr>
            <p:ph type="body" idx="1"/>
          </p:nvPr>
        </p:nvSpPr>
        <p:spPr>
          <a:xfrm>
            <a:off x="3015300" y="2759000"/>
            <a:ext cx="5827500" cy="29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image disappears because it has no size.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2" name="Google Shape;1192;p106"/>
          <p:cNvSpPr txBox="1"/>
          <p:nvPr>
            <p:ph type="body" idx="1"/>
          </p:nvPr>
        </p:nvSpPr>
        <p:spPr>
          <a:xfrm>
            <a:off x="5059527" y="4320011"/>
            <a:ext cx="3441000" cy="29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At the centre of enlargement.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96" name="Shape 1196"/>
        <p:cNvGrpSpPr/>
        <p:nvPr/>
      </p:nvGrpSpPr>
      <p:grpSpPr>
        <a:xfrm>
          <a:off x="0" y="0"/>
          <a:ext cx="0" cy="0"/>
        </a:xfrm>
      </p:grpSpPr>
      <p:sp>
        <p:nvSpPr>
          <p:cNvPr id="1197" name="Google Shape;1197;p107"/>
          <p:cNvSpPr txBox="1"/>
          <p:nvPr>
            <p:ph type="body" idx="1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Dynamic geometry software can be used to quickly draw shapes and transform them.</a:t>
            </a:r>
            <a:endParaRPr/>
          </a:p>
          <a:p>
            <a:pPr marL="457200" lvl="0" indent="-368300" algn="l" rtl="0">
              <a:spcBef>
                <a:spcPts val="100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Dynamic software allows us to manipulate aspects of a diagram after a transformation has already taken place.</a:t>
            </a:r>
            <a:endParaRPr/>
          </a:p>
          <a:p>
            <a:pPr marL="457200" lvl="0" indent="-368300" algn="l" rtl="0">
              <a:spcBef>
                <a:spcPts val="1000"/>
              </a:spcBef>
              <a:spcAft>
                <a:spcPts val="1000"/>
              </a:spcAft>
              <a:buSzPts val="2200"/>
              <a:buChar char="●"/>
            </a:pPr>
            <a:r>
              <a:rPr lang="en-GB"/>
              <a:t>Sliders can be used to make values such as angles and scale factors dynamic.</a:t>
            </a:r>
            <a:endParaRPr/>
          </a:p>
        </p:txBody>
      </p:sp>
      <p:sp>
        <p:nvSpPr>
          <p:cNvPr id="1198" name="Google Shape;1198;p10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transformations with Desmos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02" name="Shape 1202"/>
        <p:cNvGrpSpPr/>
        <p:nvPr/>
      </p:nvGrpSpPr>
      <p:grpSpPr>
        <a:xfrm>
          <a:off x="0" y="0"/>
          <a:ext cx="0" cy="0"/>
        </a:xfrm>
      </p:grpSpPr>
      <p:sp>
        <p:nvSpPr>
          <p:cNvPr id="1203" name="Google Shape;1203;p108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04" name="Google Shape;1204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222</Paragraphs>
  <Slides>45</Slides>
  <Notes>45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baseType="lpstr" size="53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Investigating transformations with Desmos</vt:lpstr>
      <vt:lpstr>PowerPoint Presentation</vt:lpstr>
      <vt:lpstr>PowerPoint Presentation</vt:lpstr>
      <vt:lpstr>PowerPoint Presentation</vt:lpstr>
      <vt:lpstr>Investigating translation with Desmos</vt:lpstr>
      <vt:lpstr>Investigating translation with Desmos</vt:lpstr>
      <vt:lpstr>Investigating translation with Desmos</vt:lpstr>
      <vt:lpstr>Investigating translation with Desmos</vt:lpstr>
      <vt:lpstr>Investigating translation with Desmos</vt:lpstr>
      <vt:lpstr>Investigating translation with Desmos</vt:lpstr>
      <vt:lpstr>Investigating translation with Desmos</vt:lpstr>
      <vt:lpstr>Investigating translation with Desmos</vt:lpstr>
      <vt:lpstr>Which button allows you to draw a polygon?  </vt:lpstr>
      <vt:lpstr>Which button opens up the option menu containing the vector tool?  </vt:lpstr>
      <vt:lpstr>Investigating translation with Desmos</vt:lpstr>
      <vt:lpstr>PowerPoint Presentation</vt:lpstr>
      <vt:lpstr>PowerPoint Presentation</vt:lpstr>
      <vt:lpstr>PowerPoint Presentation</vt:lpstr>
      <vt:lpstr>Investigating translation with Desmos</vt:lpstr>
      <vt:lpstr>Investigating rotation with Desmos</vt:lpstr>
      <vt:lpstr>Investigating rotation with Desmos</vt:lpstr>
      <vt:lpstr>Investigating rotation with Desmos</vt:lpstr>
      <vt:lpstr>Investigating rotation with Desmos</vt:lpstr>
      <vt:lpstr>Investigating rotation with Desmos</vt:lpstr>
      <vt:lpstr>PowerPoint Presentation</vt:lpstr>
      <vt:lpstr>PowerPoint Presentation</vt:lpstr>
      <vt:lpstr>PowerPoint Presentation</vt:lpstr>
      <vt:lpstr>Investigating translation with Desmos</vt:lpstr>
      <vt:lpstr>Investigating reflection with Desmos</vt:lpstr>
      <vt:lpstr>Investigating reflection with Desmos</vt:lpstr>
      <vt:lpstr>Investigating reflection with Desmos</vt:lpstr>
      <vt:lpstr>Which button opens up the option menu containing the line tool?  </vt:lpstr>
      <vt:lpstr>Investigating reflection with Desmos</vt:lpstr>
      <vt:lpstr>PowerPoint Presentation</vt:lpstr>
      <vt:lpstr>PowerPoint Presentation</vt:lpstr>
      <vt:lpstr>PowerPoint Presentation</vt:lpstr>
      <vt:lpstr>Investigating translation with Desmos</vt:lpstr>
      <vt:lpstr>Investigating enlargement with Desmos</vt:lpstr>
      <vt:lpstr>Investigating enlargement with Desmos</vt:lpstr>
      <vt:lpstr>Investigating enlargement with Desmos</vt:lpstr>
      <vt:lpstr>Investigating enlargement with Desmos</vt:lpstr>
      <vt:lpstr>PowerPoint Presentation</vt:lpstr>
      <vt:lpstr>PowerPoint Presentation</vt:lpstr>
      <vt:lpstr>Investigating transformations with Desmos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2023-11-02T14:26:12.863</cp:lastPrinted>
  <dcterms:created xsi:type="dcterms:W3CDTF">2023-11-02T14:26:12Z</dcterms:created>
  <dcterms:modified xsi:type="dcterms:W3CDTF">2023-11-02T14:27:07Z</dcterms:modified>
</cp:coreProperties>
</file>