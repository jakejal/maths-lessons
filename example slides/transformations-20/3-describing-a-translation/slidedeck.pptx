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853aecea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853aecea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824a89f0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824a89f0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824a89f05d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824a89f05d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824a89f05d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824a89f05d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824a89f05d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824a89f05d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824a89f05d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824a89f05d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824a89f05d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824a89f05d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824a89f05d_0_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824a89f05d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824a89f05d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824a89f05d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824a89f05d_0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824a89f05d_0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824a89f05d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824a89f05d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824a89f05d_0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824a89f05d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824a89f05d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824a89f05d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824a89f05d_0_1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824a89f05d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824a89f05d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824a89f05d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824a89f05d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824a89f05d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824a89f05d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824a89f05d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824a89f05d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824a89f05d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824a89f05d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824a89f05d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824a89f05d_0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824a89f05d_0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824a89f05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824a89f05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824a89f05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824a89f05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824a89f05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824a89f05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2824a89f05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2824a89f05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824a89f05d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824a89f05d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824a89f05d_0_1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824a89f05d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824a89f05d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824a89f05d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1e853aecea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1e853aecea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1e853aecea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1e853aecea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824a89f05d_0_1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824a89f05d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824a89f05d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824a89f05d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85d1ddd2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85d1ddd2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1e853aecea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1e853aecea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824a89f05d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824a89f05d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824a89f05d_0_1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824a89f05d_0_1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824a89f05d_0_1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824a89f05d_0_1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2824a89f05d_0_1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824a89f05d_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2824a89f05d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824a89f05d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824a89f05d_0_1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824a89f05d_0_1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98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8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8.png"/><Relationship Id="rId4" Type="http://schemas.openxmlformats.org/officeDocument/2006/relationships/image" Target="../media/image28.png"/><Relationship Id="rId11" Type="http://schemas.openxmlformats.org/officeDocument/2006/relationships/image" Target="../media/image22.png"/><Relationship Id="rId10" Type="http://schemas.openxmlformats.org/officeDocument/2006/relationships/image" Target="../media/image40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47.png"/><Relationship Id="rId5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47.png"/><Relationship Id="rId5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58.png"/><Relationship Id="rId5" Type="http://schemas.openxmlformats.org/officeDocument/2006/relationships/image" Target="../media/image56.png"/><Relationship Id="rId6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Relationship Id="rId4" Type="http://schemas.openxmlformats.org/officeDocument/2006/relationships/image" Target="../media/image70.png"/><Relationship Id="rId5" Type="http://schemas.openxmlformats.org/officeDocument/2006/relationships/image" Target="../media/image7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Relationship Id="rId4" Type="http://schemas.openxmlformats.org/officeDocument/2006/relationships/image" Target="../media/image70.png"/><Relationship Id="rId5" Type="http://schemas.openxmlformats.org/officeDocument/2006/relationships/image" Target="../media/image75.png"/><Relationship Id="rId6" Type="http://schemas.openxmlformats.org/officeDocument/2006/relationships/image" Target="../media/image7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9.png"/><Relationship Id="rId4" Type="http://schemas.openxmlformats.org/officeDocument/2006/relationships/image" Target="../media/image7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0.png"/><Relationship Id="rId4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0.png"/><Relationship Id="rId4" Type="http://schemas.openxmlformats.org/officeDocument/2006/relationships/image" Target="../media/image77.png"/><Relationship Id="rId5" Type="http://schemas.openxmlformats.org/officeDocument/2006/relationships/image" Target="../media/image83.png"/><Relationship Id="rId6" Type="http://schemas.openxmlformats.org/officeDocument/2006/relationships/image" Target="../media/image78.png"/><Relationship Id="rId7" Type="http://schemas.openxmlformats.org/officeDocument/2006/relationships/image" Target="../media/image82.png"/><Relationship Id="rId8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1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9.png"/><Relationship Id="rId4" Type="http://schemas.openxmlformats.org/officeDocument/2006/relationships/image" Target="../media/image9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9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the minimum information required to describe a translation.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Displacement </a:t>
            </a:r>
            <a:r>
              <a:rPr lang="en-GB"/>
              <a:t>is the distance from the starting point when measured in a straight line.</a:t>
            </a:r>
            <a:r>
              <a:rPr b="1" lang="en-GB"/>
              <a:t> 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33055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vector </a:t>
            </a:r>
            <a:r>
              <a:rPr lang="en-GB"/>
              <a:t>can be used to describe a translation. (You will be finding out about vectors during this lesson).</a:t>
            </a:r>
            <a:endParaRPr/>
          </a:p>
        </p:txBody>
      </p:sp>
      <p:pic>
        <p:nvPicPr>
          <p:cNvPr id="768" name="Google Shape;76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380025"/>
            <a:ext cx="3737948" cy="157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 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0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247800" y="705875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of these shapes are translations from the object (A). </a:t>
            </a:r>
            <a:endParaRPr/>
          </a:p>
        </p:txBody>
      </p:sp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783" name="Google Shape;783;p69"/>
          <p:cNvPicPr preferRelativeResize="0"/>
          <p:nvPr/>
        </p:nvPicPr>
        <p:blipFill rotWithShape="1">
          <a:blip r:embed="rId3">
            <a:alphaModFix/>
          </a:blip>
          <a:srcRect b="0" l="28982" r="0" t="0"/>
          <a:stretch/>
        </p:blipFill>
        <p:spPr>
          <a:xfrm>
            <a:off x="3984001" y="1146775"/>
            <a:ext cx="4338729" cy="3475201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9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9"/>
          <p:cNvSpPr txBox="1"/>
          <p:nvPr/>
        </p:nvSpPr>
        <p:spPr>
          <a:xfrm>
            <a:off x="335775" y="1923100"/>
            <a:ext cx="43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6" name="Google Shape;78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394" y="2888651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/>
        </p:nvSpPr>
        <p:spPr>
          <a:xfrm>
            <a:off x="179500" y="1327825"/>
            <a:ext cx="375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Alex has chosen one of the shapes. Through his descriptions we are going to try and locate it.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70"/>
          <p:cNvPicPr preferRelativeResize="0"/>
          <p:nvPr/>
        </p:nvPicPr>
        <p:blipFill rotWithShape="1">
          <a:blip r:embed="rId3">
            <a:alphaModFix/>
          </a:blip>
          <a:srcRect b="0" l="28982" r="0" t="0"/>
          <a:stretch/>
        </p:blipFill>
        <p:spPr>
          <a:xfrm>
            <a:off x="3984001" y="1157017"/>
            <a:ext cx="4338729" cy="3475201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794" name="Google Shape;794;p70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5" name="Google Shape;79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469" y="2814126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0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51425" y="1342900"/>
            <a:ext cx="2396099" cy="1471224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70"/>
          <p:cNvSpPr txBox="1"/>
          <p:nvPr/>
        </p:nvSpPr>
        <p:spPr>
          <a:xfrm>
            <a:off x="1274425" y="1571500"/>
            <a:ext cx="239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across and up.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71"/>
          <p:cNvPicPr preferRelativeResize="0"/>
          <p:nvPr/>
        </p:nvPicPr>
        <p:blipFill rotWithShape="1">
          <a:blip r:embed="rId3">
            <a:alphaModFix/>
          </a:blip>
          <a:srcRect b="0" l="10889" r="0" t="0"/>
          <a:stretch/>
        </p:blipFill>
        <p:spPr>
          <a:xfrm>
            <a:off x="3943208" y="1149066"/>
            <a:ext cx="4290970" cy="3475199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804" name="Google Shape;804;p71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5" name="Google Shape;80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469" y="2814126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51425" y="1342900"/>
            <a:ext cx="2396099" cy="147122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/>
        </p:nvSpPr>
        <p:spPr>
          <a:xfrm>
            <a:off x="1274425" y="1571500"/>
            <a:ext cx="239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across and up.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813" name="Google Shape;813;p72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4" name="Google Shape;81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69" y="2814126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2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51425" y="1342900"/>
            <a:ext cx="2396099" cy="147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2"/>
          <p:cNvPicPr preferRelativeResize="0"/>
          <p:nvPr/>
        </p:nvPicPr>
        <p:blipFill rotWithShape="1">
          <a:blip r:embed="rId5">
            <a:alphaModFix/>
          </a:blip>
          <a:srcRect b="0" l="10889" r="0" t="0"/>
          <a:stretch/>
        </p:blipFill>
        <p:spPr>
          <a:xfrm>
            <a:off x="3943208" y="1149066"/>
            <a:ext cx="4290970" cy="3475199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2"/>
          <p:cNvSpPr txBox="1"/>
          <p:nvPr/>
        </p:nvSpPr>
        <p:spPr>
          <a:xfrm>
            <a:off x="1274425" y="1571500"/>
            <a:ext cx="188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right and up.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2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73"/>
          <p:cNvPicPr preferRelativeResize="0"/>
          <p:nvPr/>
        </p:nvPicPr>
        <p:blipFill rotWithShape="1">
          <a:blip r:embed="rId3">
            <a:alphaModFix/>
          </a:blip>
          <a:srcRect b="0" l="29057" r="0" t="0"/>
          <a:stretch/>
        </p:blipFill>
        <p:spPr>
          <a:xfrm>
            <a:off x="3984000" y="1157017"/>
            <a:ext cx="4338724" cy="3479101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825" name="Google Shape;825;p73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6" name="Google Shape;82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469" y="2814126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3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51425" y="1342900"/>
            <a:ext cx="2396099" cy="1471224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3"/>
          <p:cNvSpPr txBox="1"/>
          <p:nvPr/>
        </p:nvSpPr>
        <p:spPr>
          <a:xfrm>
            <a:off x="1274425" y="1571500"/>
            <a:ext cx="188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right and up.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3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835" name="Google Shape;83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69" y="2814126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4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51425" y="1342900"/>
            <a:ext cx="2396099" cy="1471224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4"/>
          <p:cNvSpPr txBox="1"/>
          <p:nvPr/>
        </p:nvSpPr>
        <p:spPr>
          <a:xfrm>
            <a:off x="1274425" y="1419100"/>
            <a:ext cx="2073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right by 3 and up.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8" name="Google Shape;838;p74"/>
          <p:cNvPicPr preferRelativeResize="0"/>
          <p:nvPr/>
        </p:nvPicPr>
        <p:blipFill rotWithShape="1">
          <a:blip r:embed="rId5">
            <a:alphaModFix/>
          </a:blip>
          <a:srcRect b="0" l="29057" r="0" t="0"/>
          <a:stretch/>
        </p:blipFill>
        <p:spPr>
          <a:xfrm>
            <a:off x="3984000" y="1157017"/>
            <a:ext cx="4338724" cy="3479101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4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845" name="Google Shape;84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69" y="2814126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5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51425" y="1342900"/>
            <a:ext cx="2396099" cy="147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 rotWithShape="1">
          <a:blip r:embed="rId5">
            <a:alphaModFix/>
          </a:blip>
          <a:srcRect b="0" l="28891" r="0" t="0"/>
          <a:stretch/>
        </p:blipFill>
        <p:spPr>
          <a:xfrm>
            <a:off x="3978232" y="1160851"/>
            <a:ext cx="4338724" cy="3470803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5"/>
          <p:cNvSpPr txBox="1"/>
          <p:nvPr/>
        </p:nvSpPr>
        <p:spPr>
          <a:xfrm>
            <a:off x="1274425" y="1419100"/>
            <a:ext cx="2073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right by 3 and up.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5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855" name="Google Shape;85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69" y="2814126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6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51425" y="1342900"/>
            <a:ext cx="2396099" cy="1471224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6"/>
          <p:cNvSpPr txBox="1"/>
          <p:nvPr/>
        </p:nvSpPr>
        <p:spPr>
          <a:xfrm>
            <a:off x="1274425" y="1419100"/>
            <a:ext cx="2073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right by 3 and up by 7.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8" name="Google Shape;858;p76"/>
          <p:cNvPicPr preferRelativeResize="0"/>
          <p:nvPr/>
        </p:nvPicPr>
        <p:blipFill rotWithShape="1">
          <a:blip r:embed="rId5">
            <a:alphaModFix/>
          </a:blip>
          <a:srcRect b="0" l="28891" r="0" t="0"/>
          <a:stretch/>
        </p:blipFill>
        <p:spPr>
          <a:xfrm>
            <a:off x="3978232" y="1160851"/>
            <a:ext cx="4338724" cy="3470803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6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865" name="Google Shape;86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69" y="2814126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7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951425" y="1342900"/>
            <a:ext cx="2396099" cy="1471224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7"/>
          <p:cNvSpPr txBox="1"/>
          <p:nvPr/>
        </p:nvSpPr>
        <p:spPr>
          <a:xfrm>
            <a:off x="1274425" y="1419100"/>
            <a:ext cx="2073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right by 3 and up by 7.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5">
            <a:alphaModFix/>
          </a:blip>
          <a:srcRect b="0" l="29313" r="0" t="0"/>
          <a:stretch/>
        </p:blipFill>
        <p:spPr>
          <a:xfrm>
            <a:off x="4005643" y="1160493"/>
            <a:ext cx="4312940" cy="34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Alex had said only the last description would we have known the correct image?</a:t>
            </a:r>
            <a:endParaRPr/>
          </a:p>
        </p:txBody>
      </p:sp>
      <p:sp>
        <p:nvSpPr>
          <p:cNvPr id="875" name="Google Shape;87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3">
            <a:alphaModFix/>
          </a:blip>
          <a:srcRect b="0" l="28982" r="0" t="0"/>
          <a:stretch/>
        </p:blipFill>
        <p:spPr>
          <a:xfrm>
            <a:off x="3984001" y="1146775"/>
            <a:ext cx="4338729" cy="347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/>
        </p:nvSpPr>
        <p:spPr>
          <a:xfrm>
            <a:off x="6027343" y="2630856"/>
            <a:ext cx="2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8" name="Google Shape;87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194" y="2888651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78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51425" y="1571500"/>
            <a:ext cx="2396099" cy="1471224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8"/>
          <p:cNvSpPr txBox="1"/>
          <p:nvPr/>
        </p:nvSpPr>
        <p:spPr>
          <a:xfrm>
            <a:off x="1274425" y="1647700"/>
            <a:ext cx="2073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 has moved right by 3 and up by 7.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8"/>
          <p:cNvSpPr txBox="1"/>
          <p:nvPr/>
        </p:nvSpPr>
        <p:spPr>
          <a:xfrm>
            <a:off x="1274425" y="3799750"/>
            <a:ext cx="25497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Yes, this would lead us to the correct image.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good description of a translation should state: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that it has been translated (rather than moved/slid)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whether it has been translated left or right and how far</a:t>
            </a:r>
            <a:r>
              <a:rPr lang="en-GB"/>
              <a:t> (</a:t>
            </a:r>
            <a:r>
              <a:rPr lang="en-GB"/>
              <a:t>the horizontal </a:t>
            </a:r>
            <a:r>
              <a:rPr b="1" lang="en-GB"/>
              <a:t>displacement</a:t>
            </a:r>
            <a:r>
              <a:rPr lang="en-GB"/>
              <a:t>)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whether it has been translated up or down and </a:t>
            </a:r>
            <a:r>
              <a:rPr lang="en-GB"/>
              <a:t>how far (</a:t>
            </a:r>
            <a:r>
              <a:rPr lang="en-GB"/>
              <a:t>the vertical </a:t>
            </a:r>
            <a:r>
              <a:rPr b="1" lang="en-GB"/>
              <a:t>displacement</a:t>
            </a:r>
            <a:r>
              <a:rPr lang="en-GB"/>
              <a:t>).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0"/>
          <p:cNvSpPr txBox="1"/>
          <p:nvPr>
            <p:ph type="title"/>
          </p:nvPr>
        </p:nvSpPr>
        <p:spPr>
          <a:xfrm>
            <a:off x="324000" y="748775"/>
            <a:ext cx="8451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Choose the figure that matches the description </a:t>
            </a:r>
            <a:br>
              <a:rPr lang="en-GB" sz="2000"/>
            </a:br>
            <a:r>
              <a:rPr lang="en-GB" sz="2000"/>
              <a:t>“The object has been translated left by 3 squares and down by 2 squares”.</a:t>
            </a:r>
            <a:endParaRPr sz="2000"/>
          </a:p>
        </p:txBody>
      </p:sp>
      <p:sp>
        <p:nvSpPr>
          <p:cNvPr id="893" name="Google Shape;893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00" y="1893950"/>
            <a:ext cx="2581205" cy="193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2250" y="1906763"/>
            <a:ext cx="2555399" cy="1913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1500" y="1906763"/>
            <a:ext cx="2555399" cy="1913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55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80"/>
          <p:cNvSpPr txBox="1"/>
          <p:nvPr/>
        </p:nvSpPr>
        <p:spPr>
          <a:xfrm>
            <a:off x="540150" y="2469150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80"/>
          <p:cNvSpPr txBox="1"/>
          <p:nvPr/>
        </p:nvSpPr>
        <p:spPr>
          <a:xfrm>
            <a:off x="4374600" y="1832925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80"/>
          <p:cNvSpPr txBox="1"/>
          <p:nvPr/>
        </p:nvSpPr>
        <p:spPr>
          <a:xfrm>
            <a:off x="6335525" y="1833013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80"/>
          <p:cNvSpPr txBox="1"/>
          <p:nvPr/>
        </p:nvSpPr>
        <p:spPr>
          <a:xfrm>
            <a:off x="7484807" y="2469145"/>
            <a:ext cx="4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80"/>
          <p:cNvSpPr txBox="1"/>
          <p:nvPr/>
        </p:nvSpPr>
        <p:spPr>
          <a:xfrm>
            <a:off x="3570801" y="2476651"/>
            <a:ext cx="4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80"/>
          <p:cNvSpPr txBox="1"/>
          <p:nvPr/>
        </p:nvSpPr>
        <p:spPr>
          <a:xfrm>
            <a:off x="1507250" y="1825400"/>
            <a:ext cx="4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1"/>
          <p:cNvSpPr txBox="1"/>
          <p:nvPr>
            <p:ph idx="1" type="body"/>
          </p:nvPr>
        </p:nvSpPr>
        <p:spPr>
          <a:xfrm>
            <a:off x="324000" y="759300"/>
            <a:ext cx="8237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Complete the description for each image.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     </a:t>
            </a:r>
            <a:br>
              <a:rPr lang="en-GB"/>
            </a:br>
            <a:endParaRPr/>
          </a:p>
        </p:txBody>
      </p:sp>
      <p:sp>
        <p:nvSpPr>
          <p:cNvPr id="909" name="Google Shape;909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910" name="Google Shape;91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888" y="1371638"/>
            <a:ext cx="1310675" cy="21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3036" y="1631022"/>
            <a:ext cx="1544375" cy="16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81"/>
          <p:cNvSpPr txBox="1"/>
          <p:nvPr/>
        </p:nvSpPr>
        <p:spPr>
          <a:xfrm>
            <a:off x="764101" y="3640150"/>
            <a:ext cx="3807900" cy="101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object has been translated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by        squares and   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by        squares.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3" name="Google Shape;913;p81"/>
          <p:cNvCxnSpPr/>
          <p:nvPr/>
        </p:nvCxnSpPr>
        <p:spPr>
          <a:xfrm>
            <a:off x="830100" y="4243000"/>
            <a:ext cx="111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81"/>
          <p:cNvCxnSpPr/>
          <p:nvPr/>
        </p:nvCxnSpPr>
        <p:spPr>
          <a:xfrm>
            <a:off x="830100" y="4532750"/>
            <a:ext cx="111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81"/>
          <p:cNvCxnSpPr/>
          <p:nvPr/>
        </p:nvCxnSpPr>
        <p:spPr>
          <a:xfrm>
            <a:off x="2363650" y="4243000"/>
            <a:ext cx="38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81"/>
          <p:cNvCxnSpPr/>
          <p:nvPr/>
        </p:nvCxnSpPr>
        <p:spPr>
          <a:xfrm>
            <a:off x="2363650" y="4532750"/>
            <a:ext cx="38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81"/>
          <p:cNvSpPr txBox="1"/>
          <p:nvPr/>
        </p:nvSpPr>
        <p:spPr>
          <a:xfrm>
            <a:off x="4955101" y="3640150"/>
            <a:ext cx="3807900" cy="101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object has been translated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by        squares and   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by        squares.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8" name="Google Shape;918;p81"/>
          <p:cNvCxnSpPr/>
          <p:nvPr/>
        </p:nvCxnSpPr>
        <p:spPr>
          <a:xfrm>
            <a:off x="5021100" y="4243000"/>
            <a:ext cx="111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81"/>
          <p:cNvCxnSpPr/>
          <p:nvPr/>
        </p:nvCxnSpPr>
        <p:spPr>
          <a:xfrm>
            <a:off x="5021100" y="4532750"/>
            <a:ext cx="111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81"/>
          <p:cNvCxnSpPr/>
          <p:nvPr/>
        </p:nvCxnSpPr>
        <p:spPr>
          <a:xfrm>
            <a:off x="6554650" y="4243000"/>
            <a:ext cx="38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81"/>
          <p:cNvCxnSpPr/>
          <p:nvPr/>
        </p:nvCxnSpPr>
        <p:spPr>
          <a:xfrm>
            <a:off x="6554650" y="4532750"/>
            <a:ext cx="38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81"/>
          <p:cNvSpPr txBox="1"/>
          <p:nvPr/>
        </p:nvSpPr>
        <p:spPr>
          <a:xfrm>
            <a:off x="4839544" y="1427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/>
        </p:nvSpPr>
        <p:spPr>
          <a:xfrm>
            <a:off x="1684800" y="2126725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81"/>
          <p:cNvSpPr txBox="1"/>
          <p:nvPr/>
        </p:nvSpPr>
        <p:spPr>
          <a:xfrm>
            <a:off x="2133000" y="1260675"/>
            <a:ext cx="61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81"/>
          <p:cNvSpPr txBox="1"/>
          <p:nvPr/>
        </p:nvSpPr>
        <p:spPr>
          <a:xfrm>
            <a:off x="6639456" y="1859406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1"/>
          <p:cNvSpPr txBox="1"/>
          <p:nvPr/>
        </p:nvSpPr>
        <p:spPr>
          <a:xfrm>
            <a:off x="6062104" y="1389150"/>
            <a:ext cx="6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81"/>
          <p:cNvSpPr txBox="1"/>
          <p:nvPr/>
        </p:nvSpPr>
        <p:spPr>
          <a:xfrm>
            <a:off x="642319" y="1427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2"/>
          <p:cNvSpPr txBox="1"/>
          <p:nvPr>
            <p:ph idx="1" type="body"/>
          </p:nvPr>
        </p:nvSpPr>
        <p:spPr>
          <a:xfrm>
            <a:off x="324000" y="759300"/>
            <a:ext cx="8237700" cy="17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</a:t>
            </a:r>
            <a:r>
              <a:rPr lang="en-GB" sz="2100"/>
              <a:t>Izzy has given</a:t>
            </a:r>
            <a:r>
              <a:rPr lang="en-GB" sz="2100"/>
              <a:t> an incomplete description of a translation.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/>
            </a:br>
            <a:r>
              <a:rPr lang="en-GB" sz="2100"/>
              <a:t> Write a full description for the translation shown. </a:t>
            </a:r>
            <a:br>
              <a:rPr lang="en-GB" sz="2100"/>
            </a:br>
            <a:br>
              <a:rPr lang="en-GB" sz="2100"/>
            </a:b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100"/>
            </a:br>
            <a:endParaRPr sz="2100"/>
          </a:p>
        </p:txBody>
      </p:sp>
      <p:sp>
        <p:nvSpPr>
          <p:cNvPr id="933" name="Google Shape;933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934" name="Google Shape;93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125" y="2357150"/>
            <a:ext cx="2165075" cy="222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82"/>
          <p:cNvSpPr txBox="1"/>
          <p:nvPr/>
        </p:nvSpPr>
        <p:spPr>
          <a:xfrm>
            <a:off x="3172900" y="2302750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82"/>
          <p:cNvSpPr txBox="1"/>
          <p:nvPr/>
        </p:nvSpPr>
        <p:spPr>
          <a:xfrm>
            <a:off x="3697168" y="2802600"/>
            <a:ext cx="6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7" name="Google Shape;93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6175" y="12178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82"/>
          <p:cNvSpPr txBox="1"/>
          <p:nvPr/>
        </p:nvSpPr>
        <p:spPr>
          <a:xfrm flipH="1">
            <a:off x="1701400" y="1156200"/>
            <a:ext cx="5572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has moved across and down.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9" name="Google Shape;939;p8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1556175" y="1183500"/>
            <a:ext cx="5718026" cy="7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3"/>
          <p:cNvSpPr txBox="1"/>
          <p:nvPr>
            <p:ph idx="1" type="body"/>
          </p:nvPr>
        </p:nvSpPr>
        <p:spPr>
          <a:xfrm>
            <a:off x="324000" y="759300"/>
            <a:ext cx="8237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Write full descriptions for the translations.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/>
            </a:br>
            <a:endParaRPr/>
          </a:p>
        </p:txBody>
      </p:sp>
      <p:sp>
        <p:nvSpPr>
          <p:cNvPr id="945" name="Google Shape;94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946" name="Google Shape;946;p83"/>
          <p:cNvSpPr txBox="1"/>
          <p:nvPr/>
        </p:nvSpPr>
        <p:spPr>
          <a:xfrm>
            <a:off x="4839544" y="1427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7" name="Google Shape;94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950" y="1373475"/>
            <a:ext cx="2259150" cy="22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 txBox="1"/>
          <p:nvPr/>
        </p:nvSpPr>
        <p:spPr>
          <a:xfrm>
            <a:off x="2575350" y="3188750"/>
            <a:ext cx="62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83"/>
          <p:cNvSpPr txBox="1"/>
          <p:nvPr/>
        </p:nvSpPr>
        <p:spPr>
          <a:xfrm>
            <a:off x="1570037" y="2661857"/>
            <a:ext cx="3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0" name="Google Shape;95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149775" y="1072600"/>
            <a:ext cx="1562625" cy="25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5646463" y="1457925"/>
            <a:ext cx="3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3"/>
          <p:cNvSpPr txBox="1"/>
          <p:nvPr/>
        </p:nvSpPr>
        <p:spPr>
          <a:xfrm>
            <a:off x="6689925" y="1465357"/>
            <a:ext cx="3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3"/>
          <p:cNvSpPr txBox="1"/>
          <p:nvPr/>
        </p:nvSpPr>
        <p:spPr>
          <a:xfrm>
            <a:off x="642319" y="1427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Complete the description for each figure.</a:t>
            </a:r>
            <a:br>
              <a:rPr lang="en-GB"/>
            </a:b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br>
              <a:rPr lang="en-GB"/>
            </a:br>
            <a:endParaRPr/>
          </a:p>
        </p:txBody>
      </p:sp>
      <p:sp>
        <p:nvSpPr>
          <p:cNvPr id="959" name="Google Shape;959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pic>
        <p:nvPicPr>
          <p:cNvPr id="960" name="Google Shape;96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888" y="1371638"/>
            <a:ext cx="1310675" cy="21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3036" y="1631022"/>
            <a:ext cx="1544375" cy="16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4"/>
          <p:cNvSpPr txBox="1"/>
          <p:nvPr/>
        </p:nvSpPr>
        <p:spPr>
          <a:xfrm>
            <a:off x="764101" y="3640150"/>
            <a:ext cx="380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object has been translated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8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by        squares and            </a:t>
            </a:r>
            <a:r>
              <a:rPr lang="en-GB" sz="18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by        squares.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84"/>
          <p:cNvSpPr txBox="1"/>
          <p:nvPr/>
        </p:nvSpPr>
        <p:spPr>
          <a:xfrm>
            <a:off x="4955101" y="3640150"/>
            <a:ext cx="380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object has been translated </a:t>
            </a:r>
            <a:r>
              <a:rPr lang="en-GB" sz="1800" u="sng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8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by        squares and            </a:t>
            </a:r>
            <a:r>
              <a:rPr lang="en-GB" sz="18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by        squares.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4"/>
          <p:cNvSpPr txBox="1"/>
          <p:nvPr/>
        </p:nvSpPr>
        <p:spPr>
          <a:xfrm>
            <a:off x="4839544" y="1427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4"/>
          <p:cNvSpPr txBox="1"/>
          <p:nvPr/>
        </p:nvSpPr>
        <p:spPr>
          <a:xfrm>
            <a:off x="1684800" y="2126725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4"/>
          <p:cNvSpPr txBox="1"/>
          <p:nvPr/>
        </p:nvSpPr>
        <p:spPr>
          <a:xfrm>
            <a:off x="2133003" y="1260675"/>
            <a:ext cx="53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4"/>
          <p:cNvSpPr txBox="1"/>
          <p:nvPr/>
        </p:nvSpPr>
        <p:spPr>
          <a:xfrm>
            <a:off x="6639456" y="1859406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4"/>
          <p:cNvSpPr txBox="1"/>
          <p:nvPr/>
        </p:nvSpPr>
        <p:spPr>
          <a:xfrm>
            <a:off x="5860800" y="1465350"/>
            <a:ext cx="53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4"/>
          <p:cNvSpPr txBox="1"/>
          <p:nvPr/>
        </p:nvSpPr>
        <p:spPr>
          <a:xfrm>
            <a:off x="1030225" y="3901750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right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84"/>
          <p:cNvSpPr txBox="1"/>
          <p:nvPr/>
        </p:nvSpPr>
        <p:spPr>
          <a:xfrm>
            <a:off x="1106525" y="4163350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84"/>
          <p:cNvSpPr txBox="1"/>
          <p:nvPr/>
        </p:nvSpPr>
        <p:spPr>
          <a:xfrm>
            <a:off x="2457000" y="3901750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2" name="Google Shape;972;p84"/>
          <p:cNvSpPr txBox="1"/>
          <p:nvPr/>
        </p:nvSpPr>
        <p:spPr>
          <a:xfrm>
            <a:off x="2457000" y="4163350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3" name="Google Shape;973;p84"/>
          <p:cNvSpPr txBox="1"/>
          <p:nvPr/>
        </p:nvSpPr>
        <p:spPr>
          <a:xfrm>
            <a:off x="5172025" y="3901750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left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84"/>
          <p:cNvSpPr txBox="1"/>
          <p:nvPr/>
        </p:nvSpPr>
        <p:spPr>
          <a:xfrm>
            <a:off x="5248325" y="4163350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84"/>
          <p:cNvSpPr txBox="1"/>
          <p:nvPr/>
        </p:nvSpPr>
        <p:spPr>
          <a:xfrm>
            <a:off x="6598800" y="3901750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6" name="Google Shape;976;p84"/>
          <p:cNvSpPr txBox="1"/>
          <p:nvPr/>
        </p:nvSpPr>
        <p:spPr>
          <a:xfrm>
            <a:off x="6598800" y="4163350"/>
            <a:ext cx="8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5"/>
          <p:cNvSpPr txBox="1"/>
          <p:nvPr>
            <p:ph idx="1" type="body"/>
          </p:nvPr>
        </p:nvSpPr>
        <p:spPr>
          <a:xfrm>
            <a:off x="324000" y="759300"/>
            <a:ext cx="8237700" cy="16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Izzy has given an incomplete description of a translation.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/>
            </a:br>
            <a:r>
              <a:rPr lang="en-GB" sz="2100"/>
              <a:t> Write a full description for the translation shown. </a:t>
            </a:r>
            <a:br>
              <a:rPr lang="en-GB" sz="2100"/>
            </a:br>
            <a:br>
              <a:rPr lang="en-GB" sz="2100"/>
            </a:b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2100"/>
            </a:br>
            <a:endParaRPr sz="2100"/>
          </a:p>
        </p:txBody>
      </p:sp>
      <p:sp>
        <p:nvSpPr>
          <p:cNvPr id="982" name="Google Shape;98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983" name="Google Shape;983;p85"/>
          <p:cNvSpPr txBox="1"/>
          <p:nvPr/>
        </p:nvSpPr>
        <p:spPr>
          <a:xfrm>
            <a:off x="4914550" y="2700000"/>
            <a:ext cx="3128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object has been translated right by 1 square and down by 1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84" name="Google Shape;98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125" y="2357150"/>
            <a:ext cx="2165075" cy="222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85"/>
          <p:cNvSpPr txBox="1"/>
          <p:nvPr/>
        </p:nvSpPr>
        <p:spPr>
          <a:xfrm>
            <a:off x="3172900" y="2302750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5"/>
          <p:cNvSpPr txBox="1"/>
          <p:nvPr/>
        </p:nvSpPr>
        <p:spPr>
          <a:xfrm>
            <a:off x="3697170" y="2802600"/>
            <a:ext cx="5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7" name="Google Shape;987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6175" y="12178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85"/>
          <p:cNvSpPr txBox="1"/>
          <p:nvPr/>
        </p:nvSpPr>
        <p:spPr>
          <a:xfrm flipH="1">
            <a:off x="1701400" y="1156200"/>
            <a:ext cx="5572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has moved across and down.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9" name="Google Shape;989;p8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1556175" y="1183500"/>
            <a:ext cx="5718026" cy="7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6"/>
          <p:cNvSpPr txBox="1"/>
          <p:nvPr>
            <p:ph idx="1" type="body"/>
          </p:nvPr>
        </p:nvSpPr>
        <p:spPr>
          <a:xfrm>
            <a:off x="324000" y="759300"/>
            <a:ext cx="82377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Write full descriptions for the translations.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/>
            </a:br>
            <a:endParaRPr/>
          </a:p>
        </p:txBody>
      </p:sp>
      <p:sp>
        <p:nvSpPr>
          <p:cNvPr id="995" name="Google Shape;995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  <p:sp>
        <p:nvSpPr>
          <p:cNvPr id="996" name="Google Shape;996;p86"/>
          <p:cNvSpPr txBox="1"/>
          <p:nvPr/>
        </p:nvSpPr>
        <p:spPr>
          <a:xfrm>
            <a:off x="4839544" y="1427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7" name="Google Shape;99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950" y="1373475"/>
            <a:ext cx="2259150" cy="2276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86"/>
          <p:cNvSpPr txBox="1"/>
          <p:nvPr/>
        </p:nvSpPr>
        <p:spPr>
          <a:xfrm>
            <a:off x="2651550" y="3188750"/>
            <a:ext cx="53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6"/>
          <p:cNvSpPr txBox="1"/>
          <p:nvPr/>
        </p:nvSpPr>
        <p:spPr>
          <a:xfrm>
            <a:off x="1570037" y="2661857"/>
            <a:ext cx="3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0" name="Google Shape;100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149775" y="1072600"/>
            <a:ext cx="1562625" cy="25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6"/>
          <p:cNvSpPr txBox="1"/>
          <p:nvPr/>
        </p:nvSpPr>
        <p:spPr>
          <a:xfrm>
            <a:off x="5646463" y="1457925"/>
            <a:ext cx="3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6"/>
          <p:cNvSpPr txBox="1"/>
          <p:nvPr/>
        </p:nvSpPr>
        <p:spPr>
          <a:xfrm>
            <a:off x="6689925" y="1465357"/>
            <a:ext cx="3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6"/>
          <p:cNvSpPr txBox="1"/>
          <p:nvPr/>
        </p:nvSpPr>
        <p:spPr>
          <a:xfrm>
            <a:off x="984450" y="3677025"/>
            <a:ext cx="351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object has been translated right by 2 squares and down by 1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86"/>
          <p:cNvSpPr txBox="1"/>
          <p:nvPr/>
        </p:nvSpPr>
        <p:spPr>
          <a:xfrm>
            <a:off x="5366750" y="3348425"/>
            <a:ext cx="312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object has been translated left by 2 squares.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5" name="Google Shape;1005;p86"/>
          <p:cNvSpPr txBox="1"/>
          <p:nvPr/>
        </p:nvSpPr>
        <p:spPr>
          <a:xfrm>
            <a:off x="642319" y="1427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7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 </a:t>
            </a:r>
            <a:endParaRPr/>
          </a:p>
        </p:txBody>
      </p:sp>
      <p:sp>
        <p:nvSpPr>
          <p:cNvPr id="1011" name="Google Shape;1011;p87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pic>
        <p:nvPicPr>
          <p:cNvPr id="1012" name="Google Shape;101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6" y="2991318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87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grpSp>
        <p:nvGrpSpPr>
          <p:cNvPr id="1019" name="Google Shape;1019;p88"/>
          <p:cNvGrpSpPr/>
          <p:nvPr/>
        </p:nvGrpSpPr>
        <p:grpSpPr>
          <a:xfrm>
            <a:off x="1149018" y="2238438"/>
            <a:ext cx="6658707" cy="441863"/>
            <a:chOff x="539418" y="1095438"/>
            <a:chExt cx="6658707" cy="441863"/>
          </a:xfrm>
        </p:grpSpPr>
        <p:sp>
          <p:nvSpPr>
            <p:cNvPr id="1020" name="Google Shape;1020;p88"/>
            <p:cNvSpPr txBox="1"/>
            <p:nvPr/>
          </p:nvSpPr>
          <p:spPr>
            <a:xfrm>
              <a:off x="539418" y="1106200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1" name="Google Shape;1021;p88"/>
            <p:cNvSpPr txBox="1"/>
            <p:nvPr/>
          </p:nvSpPr>
          <p:spPr>
            <a:xfrm>
              <a:off x="17729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2" name="Google Shape;1022;p88"/>
            <p:cNvSpPr txBox="1"/>
            <p:nvPr/>
          </p:nvSpPr>
          <p:spPr>
            <a:xfrm>
              <a:off x="30206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3" name="Google Shape;1023;p88"/>
            <p:cNvSpPr txBox="1"/>
            <p:nvPr/>
          </p:nvSpPr>
          <p:spPr>
            <a:xfrm>
              <a:off x="42941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4" name="Google Shape;1024;p88"/>
            <p:cNvSpPr txBox="1"/>
            <p:nvPr/>
          </p:nvSpPr>
          <p:spPr>
            <a:xfrm>
              <a:off x="5491425" y="1095450"/>
              <a:ext cx="40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5" name="Google Shape;1025;p88"/>
            <p:cNvSpPr txBox="1"/>
            <p:nvPr/>
          </p:nvSpPr>
          <p:spPr>
            <a:xfrm>
              <a:off x="6710625" y="1095450"/>
              <a:ext cx="48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6" name="Google Shape;1026;p88"/>
            <p:cNvSpPr txBox="1"/>
            <p:nvPr/>
          </p:nvSpPr>
          <p:spPr>
            <a:xfrm>
              <a:off x="1365750" y="1106200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7" name="Google Shape;1027;p88"/>
            <p:cNvSpPr txBox="1"/>
            <p:nvPr/>
          </p:nvSpPr>
          <p:spPr>
            <a:xfrm>
              <a:off x="3460256" y="110618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8" name="Google Shape;1028;p88"/>
            <p:cNvSpPr txBox="1"/>
            <p:nvPr/>
          </p:nvSpPr>
          <p:spPr>
            <a:xfrm>
              <a:off x="3812538" y="1106200"/>
              <a:ext cx="40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9" name="Google Shape;1029;p88"/>
            <p:cNvSpPr txBox="1"/>
            <p:nvPr/>
          </p:nvSpPr>
          <p:spPr>
            <a:xfrm>
              <a:off x="4612388" y="1106200"/>
              <a:ext cx="48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0" name="Google Shape;1030;p88"/>
            <p:cNvSpPr txBox="1"/>
            <p:nvPr/>
          </p:nvSpPr>
          <p:spPr>
            <a:xfrm>
              <a:off x="2199600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88"/>
            <p:cNvSpPr txBox="1"/>
            <p:nvPr/>
          </p:nvSpPr>
          <p:spPr>
            <a:xfrm>
              <a:off x="26111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88"/>
            <p:cNvSpPr txBox="1"/>
            <p:nvPr/>
          </p:nvSpPr>
          <p:spPr>
            <a:xfrm>
              <a:off x="810825" y="1095450"/>
              <a:ext cx="59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3" name="Google Shape;1033;p88"/>
          <p:cNvSpPr txBox="1"/>
          <p:nvPr/>
        </p:nvSpPr>
        <p:spPr>
          <a:xfrm>
            <a:off x="5649113" y="2238450"/>
            <a:ext cx="4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8"/>
          <p:cNvSpPr txBox="1"/>
          <p:nvPr/>
        </p:nvSpPr>
        <p:spPr>
          <a:xfrm>
            <a:off x="6520525" y="2238450"/>
            <a:ext cx="4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13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8"/>
          <p:cNvSpPr txBox="1"/>
          <p:nvPr/>
        </p:nvSpPr>
        <p:spPr>
          <a:xfrm>
            <a:off x="6883150" y="2238450"/>
            <a:ext cx="4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6" name="Google Shape;1036;p88"/>
          <p:cNvCxnSpPr/>
          <p:nvPr/>
        </p:nvCxnSpPr>
        <p:spPr>
          <a:xfrm>
            <a:off x="1045500" y="2724162"/>
            <a:ext cx="6762300" cy="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88"/>
          <p:cNvCxnSpPr/>
          <p:nvPr/>
        </p:nvCxnSpPr>
        <p:spPr>
          <a:xfrm flipH="1">
            <a:off x="1299825" y="257803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88"/>
          <p:cNvCxnSpPr/>
          <p:nvPr/>
        </p:nvCxnSpPr>
        <p:spPr>
          <a:xfrm flipH="1">
            <a:off x="1724475" y="2577403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88"/>
          <p:cNvCxnSpPr/>
          <p:nvPr/>
        </p:nvCxnSpPr>
        <p:spPr>
          <a:xfrm flipH="1">
            <a:off x="2127288" y="2578347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88"/>
          <p:cNvCxnSpPr/>
          <p:nvPr/>
        </p:nvCxnSpPr>
        <p:spPr>
          <a:xfrm flipH="1">
            <a:off x="2551938" y="257771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88"/>
          <p:cNvCxnSpPr/>
          <p:nvPr/>
        </p:nvCxnSpPr>
        <p:spPr>
          <a:xfrm flipH="1">
            <a:off x="2971656" y="257851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88"/>
          <p:cNvCxnSpPr/>
          <p:nvPr/>
        </p:nvCxnSpPr>
        <p:spPr>
          <a:xfrm flipH="1">
            <a:off x="3396306" y="2577878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88"/>
          <p:cNvCxnSpPr/>
          <p:nvPr/>
        </p:nvCxnSpPr>
        <p:spPr>
          <a:xfrm flipH="1">
            <a:off x="3799119" y="2578822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88"/>
          <p:cNvCxnSpPr/>
          <p:nvPr/>
        </p:nvCxnSpPr>
        <p:spPr>
          <a:xfrm flipH="1">
            <a:off x="4223769" y="257819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88"/>
          <p:cNvCxnSpPr/>
          <p:nvPr/>
        </p:nvCxnSpPr>
        <p:spPr>
          <a:xfrm flipH="1">
            <a:off x="4625302" y="2577322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88"/>
          <p:cNvCxnSpPr/>
          <p:nvPr/>
        </p:nvCxnSpPr>
        <p:spPr>
          <a:xfrm flipH="1">
            <a:off x="5049952" y="257669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88"/>
          <p:cNvCxnSpPr/>
          <p:nvPr/>
        </p:nvCxnSpPr>
        <p:spPr>
          <a:xfrm flipH="1">
            <a:off x="5452765" y="257763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88"/>
          <p:cNvCxnSpPr/>
          <p:nvPr/>
        </p:nvCxnSpPr>
        <p:spPr>
          <a:xfrm flipH="1">
            <a:off x="5877415" y="2577003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88"/>
          <p:cNvCxnSpPr/>
          <p:nvPr/>
        </p:nvCxnSpPr>
        <p:spPr>
          <a:xfrm flipH="1">
            <a:off x="6297132" y="2577797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88"/>
          <p:cNvCxnSpPr/>
          <p:nvPr/>
        </p:nvCxnSpPr>
        <p:spPr>
          <a:xfrm flipH="1">
            <a:off x="6721782" y="257716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88"/>
          <p:cNvCxnSpPr/>
          <p:nvPr/>
        </p:nvCxnSpPr>
        <p:spPr>
          <a:xfrm flipH="1">
            <a:off x="7124595" y="257811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88"/>
          <p:cNvCxnSpPr/>
          <p:nvPr/>
        </p:nvCxnSpPr>
        <p:spPr>
          <a:xfrm flipH="1">
            <a:off x="7549245" y="2577478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88"/>
          <p:cNvCxnSpPr/>
          <p:nvPr/>
        </p:nvCxnSpPr>
        <p:spPr>
          <a:xfrm>
            <a:off x="2043950" y="2725272"/>
            <a:ext cx="1431600" cy="1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54" name="Google Shape;1054;p88"/>
          <p:cNvSpPr txBox="1"/>
          <p:nvPr/>
        </p:nvSpPr>
        <p:spPr>
          <a:xfrm>
            <a:off x="500850" y="679800"/>
            <a:ext cx="814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a length is translated it remains unchanged, but in a different position.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Consider the distance between two numbers, such as 2 and 5.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8"/>
          <p:cNvSpPr txBox="1"/>
          <p:nvPr/>
        </p:nvSpPr>
        <p:spPr>
          <a:xfrm>
            <a:off x="532575" y="3164750"/>
            <a:ext cx="7497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we add 5 to both numbers, the distance between them remains unchanged.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6" name="Google Shape;1056;p88"/>
          <p:cNvGrpSpPr/>
          <p:nvPr/>
        </p:nvGrpSpPr>
        <p:grpSpPr>
          <a:xfrm>
            <a:off x="1149018" y="3991038"/>
            <a:ext cx="6658707" cy="441863"/>
            <a:chOff x="539418" y="1095438"/>
            <a:chExt cx="6658707" cy="441863"/>
          </a:xfrm>
        </p:grpSpPr>
        <p:sp>
          <p:nvSpPr>
            <p:cNvPr id="1057" name="Google Shape;1057;p88"/>
            <p:cNvSpPr txBox="1"/>
            <p:nvPr/>
          </p:nvSpPr>
          <p:spPr>
            <a:xfrm>
              <a:off x="539418" y="1106200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88"/>
            <p:cNvSpPr txBox="1"/>
            <p:nvPr/>
          </p:nvSpPr>
          <p:spPr>
            <a:xfrm>
              <a:off x="17729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88"/>
            <p:cNvSpPr txBox="1"/>
            <p:nvPr/>
          </p:nvSpPr>
          <p:spPr>
            <a:xfrm>
              <a:off x="30206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88"/>
            <p:cNvSpPr txBox="1"/>
            <p:nvPr/>
          </p:nvSpPr>
          <p:spPr>
            <a:xfrm>
              <a:off x="42941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88"/>
            <p:cNvSpPr txBox="1"/>
            <p:nvPr/>
          </p:nvSpPr>
          <p:spPr>
            <a:xfrm>
              <a:off x="5491425" y="1095450"/>
              <a:ext cx="40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88"/>
            <p:cNvSpPr txBox="1"/>
            <p:nvPr/>
          </p:nvSpPr>
          <p:spPr>
            <a:xfrm>
              <a:off x="6710625" y="1095450"/>
              <a:ext cx="48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88"/>
            <p:cNvSpPr txBox="1"/>
            <p:nvPr/>
          </p:nvSpPr>
          <p:spPr>
            <a:xfrm>
              <a:off x="1365750" y="1106200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88"/>
            <p:cNvSpPr txBox="1"/>
            <p:nvPr/>
          </p:nvSpPr>
          <p:spPr>
            <a:xfrm>
              <a:off x="3460256" y="110618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88"/>
            <p:cNvSpPr txBox="1"/>
            <p:nvPr/>
          </p:nvSpPr>
          <p:spPr>
            <a:xfrm>
              <a:off x="3812538" y="1106200"/>
              <a:ext cx="40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6" name="Google Shape;1066;p88"/>
            <p:cNvSpPr txBox="1"/>
            <p:nvPr/>
          </p:nvSpPr>
          <p:spPr>
            <a:xfrm>
              <a:off x="4612388" y="1106200"/>
              <a:ext cx="48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88"/>
            <p:cNvSpPr txBox="1"/>
            <p:nvPr/>
          </p:nvSpPr>
          <p:spPr>
            <a:xfrm>
              <a:off x="2199600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8" name="Google Shape;1068;p88"/>
            <p:cNvSpPr txBox="1"/>
            <p:nvPr/>
          </p:nvSpPr>
          <p:spPr>
            <a:xfrm>
              <a:off x="26111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9" name="Google Shape;1069;p88"/>
            <p:cNvSpPr txBox="1"/>
            <p:nvPr/>
          </p:nvSpPr>
          <p:spPr>
            <a:xfrm>
              <a:off x="810825" y="1095450"/>
              <a:ext cx="59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0" name="Google Shape;1070;p88"/>
          <p:cNvSpPr txBox="1"/>
          <p:nvPr/>
        </p:nvSpPr>
        <p:spPr>
          <a:xfrm>
            <a:off x="5649113" y="3991050"/>
            <a:ext cx="4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8"/>
          <p:cNvSpPr txBox="1"/>
          <p:nvPr/>
        </p:nvSpPr>
        <p:spPr>
          <a:xfrm>
            <a:off x="6520525" y="3991050"/>
            <a:ext cx="4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13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8"/>
          <p:cNvSpPr txBox="1"/>
          <p:nvPr/>
        </p:nvSpPr>
        <p:spPr>
          <a:xfrm>
            <a:off x="6883150" y="3991050"/>
            <a:ext cx="4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3" name="Google Shape;1073;p88"/>
          <p:cNvCxnSpPr/>
          <p:nvPr/>
        </p:nvCxnSpPr>
        <p:spPr>
          <a:xfrm>
            <a:off x="1045500" y="4476762"/>
            <a:ext cx="6762300" cy="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88"/>
          <p:cNvCxnSpPr/>
          <p:nvPr/>
        </p:nvCxnSpPr>
        <p:spPr>
          <a:xfrm flipH="1">
            <a:off x="1299825" y="433063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88"/>
          <p:cNvCxnSpPr/>
          <p:nvPr/>
        </p:nvCxnSpPr>
        <p:spPr>
          <a:xfrm flipH="1">
            <a:off x="1724475" y="4330003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88"/>
          <p:cNvCxnSpPr/>
          <p:nvPr/>
        </p:nvCxnSpPr>
        <p:spPr>
          <a:xfrm flipH="1">
            <a:off x="2127288" y="4330947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88"/>
          <p:cNvCxnSpPr/>
          <p:nvPr/>
        </p:nvCxnSpPr>
        <p:spPr>
          <a:xfrm flipH="1">
            <a:off x="2551938" y="433031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88"/>
          <p:cNvCxnSpPr/>
          <p:nvPr/>
        </p:nvCxnSpPr>
        <p:spPr>
          <a:xfrm flipH="1">
            <a:off x="2971656" y="433111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88"/>
          <p:cNvCxnSpPr/>
          <p:nvPr/>
        </p:nvCxnSpPr>
        <p:spPr>
          <a:xfrm flipH="1">
            <a:off x="3396306" y="4330478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88"/>
          <p:cNvCxnSpPr/>
          <p:nvPr/>
        </p:nvCxnSpPr>
        <p:spPr>
          <a:xfrm flipH="1">
            <a:off x="3799119" y="4331422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88"/>
          <p:cNvCxnSpPr/>
          <p:nvPr/>
        </p:nvCxnSpPr>
        <p:spPr>
          <a:xfrm flipH="1">
            <a:off x="4223769" y="433079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88"/>
          <p:cNvCxnSpPr/>
          <p:nvPr/>
        </p:nvCxnSpPr>
        <p:spPr>
          <a:xfrm flipH="1">
            <a:off x="4625302" y="4329922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88"/>
          <p:cNvCxnSpPr/>
          <p:nvPr/>
        </p:nvCxnSpPr>
        <p:spPr>
          <a:xfrm flipH="1">
            <a:off x="5049952" y="432929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88"/>
          <p:cNvCxnSpPr/>
          <p:nvPr/>
        </p:nvCxnSpPr>
        <p:spPr>
          <a:xfrm flipH="1">
            <a:off x="5487997" y="433023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88"/>
          <p:cNvCxnSpPr/>
          <p:nvPr/>
        </p:nvCxnSpPr>
        <p:spPr>
          <a:xfrm flipH="1">
            <a:off x="5877415" y="4329603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88"/>
          <p:cNvCxnSpPr/>
          <p:nvPr/>
        </p:nvCxnSpPr>
        <p:spPr>
          <a:xfrm flipH="1">
            <a:off x="6297132" y="4330397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88"/>
          <p:cNvCxnSpPr/>
          <p:nvPr/>
        </p:nvCxnSpPr>
        <p:spPr>
          <a:xfrm flipH="1">
            <a:off x="6721782" y="432976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88"/>
          <p:cNvCxnSpPr/>
          <p:nvPr/>
        </p:nvCxnSpPr>
        <p:spPr>
          <a:xfrm flipH="1">
            <a:off x="7124595" y="433071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88"/>
          <p:cNvCxnSpPr/>
          <p:nvPr/>
        </p:nvCxnSpPr>
        <p:spPr>
          <a:xfrm flipH="1">
            <a:off x="7549245" y="4330078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88"/>
          <p:cNvCxnSpPr/>
          <p:nvPr/>
        </p:nvCxnSpPr>
        <p:spPr>
          <a:xfrm>
            <a:off x="4132076" y="4477872"/>
            <a:ext cx="1431600" cy="1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096" name="Google Shape;1096;p89"/>
          <p:cNvSpPr txBox="1"/>
          <p:nvPr/>
        </p:nvSpPr>
        <p:spPr>
          <a:xfrm>
            <a:off x="532575" y="3164750"/>
            <a:ext cx="7497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we add 5 to one number and 3 to the other, the distance between them would change.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7" name="Google Shape;1097;p89"/>
          <p:cNvGrpSpPr/>
          <p:nvPr/>
        </p:nvGrpSpPr>
        <p:grpSpPr>
          <a:xfrm>
            <a:off x="1149018" y="3991038"/>
            <a:ext cx="6658707" cy="441863"/>
            <a:chOff x="539418" y="1095438"/>
            <a:chExt cx="6658707" cy="441863"/>
          </a:xfrm>
        </p:grpSpPr>
        <p:sp>
          <p:nvSpPr>
            <p:cNvPr id="1098" name="Google Shape;1098;p89"/>
            <p:cNvSpPr txBox="1"/>
            <p:nvPr/>
          </p:nvSpPr>
          <p:spPr>
            <a:xfrm>
              <a:off x="539418" y="1106200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89"/>
            <p:cNvSpPr txBox="1"/>
            <p:nvPr/>
          </p:nvSpPr>
          <p:spPr>
            <a:xfrm>
              <a:off x="17729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89"/>
            <p:cNvSpPr txBox="1"/>
            <p:nvPr/>
          </p:nvSpPr>
          <p:spPr>
            <a:xfrm>
              <a:off x="30206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1" name="Google Shape;1101;p89"/>
            <p:cNvSpPr txBox="1"/>
            <p:nvPr/>
          </p:nvSpPr>
          <p:spPr>
            <a:xfrm>
              <a:off x="42941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89"/>
            <p:cNvSpPr txBox="1"/>
            <p:nvPr/>
          </p:nvSpPr>
          <p:spPr>
            <a:xfrm>
              <a:off x="5491425" y="1095450"/>
              <a:ext cx="40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9"/>
            <p:cNvSpPr txBox="1"/>
            <p:nvPr/>
          </p:nvSpPr>
          <p:spPr>
            <a:xfrm>
              <a:off x="6710625" y="1095450"/>
              <a:ext cx="48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89"/>
            <p:cNvSpPr txBox="1"/>
            <p:nvPr/>
          </p:nvSpPr>
          <p:spPr>
            <a:xfrm>
              <a:off x="1365750" y="1106200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89"/>
            <p:cNvSpPr txBox="1"/>
            <p:nvPr/>
          </p:nvSpPr>
          <p:spPr>
            <a:xfrm>
              <a:off x="3460256" y="110618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89"/>
            <p:cNvSpPr txBox="1"/>
            <p:nvPr/>
          </p:nvSpPr>
          <p:spPr>
            <a:xfrm>
              <a:off x="3812538" y="1106200"/>
              <a:ext cx="40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89"/>
            <p:cNvSpPr txBox="1"/>
            <p:nvPr/>
          </p:nvSpPr>
          <p:spPr>
            <a:xfrm>
              <a:off x="4612388" y="1106200"/>
              <a:ext cx="48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89"/>
            <p:cNvSpPr txBox="1"/>
            <p:nvPr/>
          </p:nvSpPr>
          <p:spPr>
            <a:xfrm>
              <a:off x="2199600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89"/>
            <p:cNvSpPr txBox="1"/>
            <p:nvPr/>
          </p:nvSpPr>
          <p:spPr>
            <a:xfrm>
              <a:off x="26111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0" name="Google Shape;1110;p89"/>
            <p:cNvSpPr txBox="1"/>
            <p:nvPr/>
          </p:nvSpPr>
          <p:spPr>
            <a:xfrm>
              <a:off x="810825" y="1095450"/>
              <a:ext cx="59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1" name="Google Shape;1111;p89"/>
          <p:cNvSpPr txBox="1"/>
          <p:nvPr/>
        </p:nvSpPr>
        <p:spPr>
          <a:xfrm>
            <a:off x="5649113" y="3991050"/>
            <a:ext cx="4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9"/>
          <p:cNvSpPr txBox="1"/>
          <p:nvPr/>
        </p:nvSpPr>
        <p:spPr>
          <a:xfrm>
            <a:off x="6520525" y="3991050"/>
            <a:ext cx="4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13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9"/>
          <p:cNvSpPr txBox="1"/>
          <p:nvPr/>
        </p:nvSpPr>
        <p:spPr>
          <a:xfrm>
            <a:off x="6883150" y="3991050"/>
            <a:ext cx="4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4" name="Google Shape;1114;p89"/>
          <p:cNvCxnSpPr/>
          <p:nvPr/>
        </p:nvCxnSpPr>
        <p:spPr>
          <a:xfrm>
            <a:off x="1045500" y="4476762"/>
            <a:ext cx="6762300" cy="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5" name="Google Shape;1115;p89"/>
          <p:cNvCxnSpPr/>
          <p:nvPr/>
        </p:nvCxnSpPr>
        <p:spPr>
          <a:xfrm flipH="1">
            <a:off x="1299825" y="433063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89"/>
          <p:cNvCxnSpPr/>
          <p:nvPr/>
        </p:nvCxnSpPr>
        <p:spPr>
          <a:xfrm flipH="1">
            <a:off x="1724475" y="4330003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89"/>
          <p:cNvCxnSpPr/>
          <p:nvPr/>
        </p:nvCxnSpPr>
        <p:spPr>
          <a:xfrm flipH="1">
            <a:off x="2127288" y="4330947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89"/>
          <p:cNvCxnSpPr/>
          <p:nvPr/>
        </p:nvCxnSpPr>
        <p:spPr>
          <a:xfrm flipH="1">
            <a:off x="2551938" y="433031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89"/>
          <p:cNvCxnSpPr/>
          <p:nvPr/>
        </p:nvCxnSpPr>
        <p:spPr>
          <a:xfrm flipH="1">
            <a:off x="2971656" y="433111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89"/>
          <p:cNvCxnSpPr/>
          <p:nvPr/>
        </p:nvCxnSpPr>
        <p:spPr>
          <a:xfrm flipH="1">
            <a:off x="3396306" y="4330478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89"/>
          <p:cNvCxnSpPr/>
          <p:nvPr/>
        </p:nvCxnSpPr>
        <p:spPr>
          <a:xfrm flipH="1">
            <a:off x="3799119" y="4331422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89"/>
          <p:cNvCxnSpPr/>
          <p:nvPr/>
        </p:nvCxnSpPr>
        <p:spPr>
          <a:xfrm flipH="1">
            <a:off x="4223769" y="433079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89"/>
          <p:cNvCxnSpPr/>
          <p:nvPr/>
        </p:nvCxnSpPr>
        <p:spPr>
          <a:xfrm flipH="1">
            <a:off x="4625302" y="4329922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89"/>
          <p:cNvCxnSpPr/>
          <p:nvPr/>
        </p:nvCxnSpPr>
        <p:spPr>
          <a:xfrm flipH="1">
            <a:off x="5049952" y="432929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89"/>
          <p:cNvCxnSpPr/>
          <p:nvPr/>
        </p:nvCxnSpPr>
        <p:spPr>
          <a:xfrm flipH="1">
            <a:off x="5487997" y="433023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89"/>
          <p:cNvCxnSpPr/>
          <p:nvPr/>
        </p:nvCxnSpPr>
        <p:spPr>
          <a:xfrm flipH="1">
            <a:off x="5877415" y="4329603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89"/>
          <p:cNvCxnSpPr/>
          <p:nvPr/>
        </p:nvCxnSpPr>
        <p:spPr>
          <a:xfrm flipH="1">
            <a:off x="6297132" y="4330397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89"/>
          <p:cNvCxnSpPr/>
          <p:nvPr/>
        </p:nvCxnSpPr>
        <p:spPr>
          <a:xfrm flipH="1">
            <a:off x="6721782" y="432976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89"/>
          <p:cNvCxnSpPr/>
          <p:nvPr/>
        </p:nvCxnSpPr>
        <p:spPr>
          <a:xfrm flipH="1">
            <a:off x="7124595" y="433071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89"/>
          <p:cNvCxnSpPr/>
          <p:nvPr/>
        </p:nvCxnSpPr>
        <p:spPr>
          <a:xfrm flipH="1">
            <a:off x="7549245" y="4330078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89"/>
          <p:cNvCxnSpPr/>
          <p:nvPr/>
        </p:nvCxnSpPr>
        <p:spPr>
          <a:xfrm>
            <a:off x="4132076" y="4477872"/>
            <a:ext cx="571800" cy="8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1132" name="Google Shape;1132;p89"/>
          <p:cNvGrpSpPr/>
          <p:nvPr/>
        </p:nvGrpSpPr>
        <p:grpSpPr>
          <a:xfrm>
            <a:off x="1149018" y="2238438"/>
            <a:ext cx="6658707" cy="441863"/>
            <a:chOff x="539418" y="1095438"/>
            <a:chExt cx="6658707" cy="441863"/>
          </a:xfrm>
        </p:grpSpPr>
        <p:sp>
          <p:nvSpPr>
            <p:cNvPr id="1133" name="Google Shape;1133;p89"/>
            <p:cNvSpPr txBox="1"/>
            <p:nvPr/>
          </p:nvSpPr>
          <p:spPr>
            <a:xfrm>
              <a:off x="539418" y="1106200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89"/>
            <p:cNvSpPr txBox="1"/>
            <p:nvPr/>
          </p:nvSpPr>
          <p:spPr>
            <a:xfrm>
              <a:off x="17729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89"/>
            <p:cNvSpPr txBox="1"/>
            <p:nvPr/>
          </p:nvSpPr>
          <p:spPr>
            <a:xfrm>
              <a:off x="30206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89"/>
            <p:cNvSpPr txBox="1"/>
            <p:nvPr/>
          </p:nvSpPr>
          <p:spPr>
            <a:xfrm>
              <a:off x="42941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89"/>
            <p:cNvSpPr txBox="1"/>
            <p:nvPr/>
          </p:nvSpPr>
          <p:spPr>
            <a:xfrm>
              <a:off x="5491425" y="1095450"/>
              <a:ext cx="40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89"/>
            <p:cNvSpPr txBox="1"/>
            <p:nvPr/>
          </p:nvSpPr>
          <p:spPr>
            <a:xfrm>
              <a:off x="6710625" y="1095450"/>
              <a:ext cx="48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89"/>
            <p:cNvSpPr txBox="1"/>
            <p:nvPr/>
          </p:nvSpPr>
          <p:spPr>
            <a:xfrm>
              <a:off x="1365750" y="1106200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0" name="Google Shape;1140;p89"/>
            <p:cNvSpPr txBox="1"/>
            <p:nvPr/>
          </p:nvSpPr>
          <p:spPr>
            <a:xfrm>
              <a:off x="3460256" y="110618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1" name="Google Shape;1141;p89"/>
            <p:cNvSpPr txBox="1"/>
            <p:nvPr/>
          </p:nvSpPr>
          <p:spPr>
            <a:xfrm>
              <a:off x="3812538" y="1106200"/>
              <a:ext cx="408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2" name="Google Shape;1142;p89"/>
            <p:cNvSpPr txBox="1"/>
            <p:nvPr/>
          </p:nvSpPr>
          <p:spPr>
            <a:xfrm>
              <a:off x="4612388" y="1106200"/>
              <a:ext cx="48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3" name="Google Shape;1143;p89"/>
            <p:cNvSpPr txBox="1"/>
            <p:nvPr/>
          </p:nvSpPr>
          <p:spPr>
            <a:xfrm>
              <a:off x="2199600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4" name="Google Shape;1144;p89"/>
            <p:cNvSpPr txBox="1"/>
            <p:nvPr/>
          </p:nvSpPr>
          <p:spPr>
            <a:xfrm>
              <a:off x="2611125" y="1095438"/>
              <a:ext cx="27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5" name="Google Shape;1145;p89"/>
            <p:cNvSpPr txBox="1"/>
            <p:nvPr/>
          </p:nvSpPr>
          <p:spPr>
            <a:xfrm>
              <a:off x="810825" y="1095450"/>
              <a:ext cx="59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6" name="Google Shape;1146;p89"/>
          <p:cNvSpPr txBox="1"/>
          <p:nvPr/>
        </p:nvSpPr>
        <p:spPr>
          <a:xfrm>
            <a:off x="5649113" y="2238450"/>
            <a:ext cx="4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9"/>
          <p:cNvSpPr txBox="1"/>
          <p:nvPr/>
        </p:nvSpPr>
        <p:spPr>
          <a:xfrm>
            <a:off x="6520525" y="2238450"/>
            <a:ext cx="40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13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9"/>
          <p:cNvSpPr txBox="1"/>
          <p:nvPr/>
        </p:nvSpPr>
        <p:spPr>
          <a:xfrm>
            <a:off x="6883150" y="2238450"/>
            <a:ext cx="4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14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9" name="Google Shape;1149;p89"/>
          <p:cNvCxnSpPr/>
          <p:nvPr/>
        </p:nvCxnSpPr>
        <p:spPr>
          <a:xfrm>
            <a:off x="1045500" y="2724162"/>
            <a:ext cx="6762300" cy="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89"/>
          <p:cNvCxnSpPr/>
          <p:nvPr/>
        </p:nvCxnSpPr>
        <p:spPr>
          <a:xfrm flipH="1">
            <a:off x="1299825" y="257803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89"/>
          <p:cNvCxnSpPr/>
          <p:nvPr/>
        </p:nvCxnSpPr>
        <p:spPr>
          <a:xfrm flipH="1">
            <a:off x="1724475" y="2577403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89"/>
          <p:cNvCxnSpPr/>
          <p:nvPr/>
        </p:nvCxnSpPr>
        <p:spPr>
          <a:xfrm flipH="1">
            <a:off x="2127288" y="2578347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89"/>
          <p:cNvCxnSpPr/>
          <p:nvPr/>
        </p:nvCxnSpPr>
        <p:spPr>
          <a:xfrm flipH="1">
            <a:off x="2551938" y="257771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89"/>
          <p:cNvCxnSpPr/>
          <p:nvPr/>
        </p:nvCxnSpPr>
        <p:spPr>
          <a:xfrm flipH="1">
            <a:off x="2971656" y="257851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89"/>
          <p:cNvCxnSpPr/>
          <p:nvPr/>
        </p:nvCxnSpPr>
        <p:spPr>
          <a:xfrm flipH="1">
            <a:off x="3396306" y="2577878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89"/>
          <p:cNvCxnSpPr/>
          <p:nvPr/>
        </p:nvCxnSpPr>
        <p:spPr>
          <a:xfrm flipH="1">
            <a:off x="3799119" y="2578822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89"/>
          <p:cNvCxnSpPr/>
          <p:nvPr/>
        </p:nvCxnSpPr>
        <p:spPr>
          <a:xfrm flipH="1">
            <a:off x="4223769" y="257819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89"/>
          <p:cNvCxnSpPr/>
          <p:nvPr/>
        </p:nvCxnSpPr>
        <p:spPr>
          <a:xfrm flipH="1">
            <a:off x="4625302" y="2577322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89"/>
          <p:cNvCxnSpPr/>
          <p:nvPr/>
        </p:nvCxnSpPr>
        <p:spPr>
          <a:xfrm flipH="1">
            <a:off x="5049952" y="257669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89"/>
          <p:cNvCxnSpPr/>
          <p:nvPr/>
        </p:nvCxnSpPr>
        <p:spPr>
          <a:xfrm flipH="1">
            <a:off x="5452765" y="257763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89"/>
          <p:cNvCxnSpPr/>
          <p:nvPr/>
        </p:nvCxnSpPr>
        <p:spPr>
          <a:xfrm flipH="1">
            <a:off x="5877415" y="2577003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89"/>
          <p:cNvCxnSpPr/>
          <p:nvPr/>
        </p:nvCxnSpPr>
        <p:spPr>
          <a:xfrm flipH="1">
            <a:off x="6297132" y="2577797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89"/>
          <p:cNvCxnSpPr/>
          <p:nvPr/>
        </p:nvCxnSpPr>
        <p:spPr>
          <a:xfrm flipH="1">
            <a:off x="6721782" y="2577165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89"/>
          <p:cNvCxnSpPr/>
          <p:nvPr/>
        </p:nvCxnSpPr>
        <p:spPr>
          <a:xfrm flipH="1">
            <a:off x="7124595" y="2578110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89"/>
          <p:cNvCxnSpPr/>
          <p:nvPr/>
        </p:nvCxnSpPr>
        <p:spPr>
          <a:xfrm flipH="1">
            <a:off x="7549245" y="2577478"/>
            <a:ext cx="900" cy="30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89"/>
          <p:cNvCxnSpPr/>
          <p:nvPr/>
        </p:nvCxnSpPr>
        <p:spPr>
          <a:xfrm>
            <a:off x="2043950" y="2725272"/>
            <a:ext cx="1431600" cy="1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67" name="Google Shape;1167;p89"/>
          <p:cNvSpPr txBox="1"/>
          <p:nvPr/>
        </p:nvSpPr>
        <p:spPr>
          <a:xfrm>
            <a:off x="500850" y="679800"/>
            <a:ext cx="814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a length is translated it remains unchanged, but in a different position.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Consider the distance between two numbers, such as 2 and 5.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173" name="Google Shape;1173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Similarly, if a shape is translated, all vertices need to move by the same amount for it to be congruent.</a:t>
            </a:r>
            <a:endParaRPr sz="2000"/>
          </a:p>
        </p:txBody>
      </p:sp>
      <p:grpSp>
        <p:nvGrpSpPr>
          <p:cNvPr id="1174" name="Google Shape;1174;p90"/>
          <p:cNvGrpSpPr/>
          <p:nvPr/>
        </p:nvGrpSpPr>
        <p:grpSpPr>
          <a:xfrm>
            <a:off x="235200" y="1584725"/>
            <a:ext cx="4170000" cy="2739046"/>
            <a:chOff x="159000" y="1584725"/>
            <a:chExt cx="4170000" cy="2739046"/>
          </a:xfrm>
        </p:grpSpPr>
        <p:pic>
          <p:nvPicPr>
            <p:cNvPr id="1175" name="Google Shape;1175;p90"/>
            <p:cNvPicPr preferRelativeResize="0"/>
            <p:nvPr/>
          </p:nvPicPr>
          <p:blipFill rotWithShape="1">
            <a:blip r:embed="rId3">
              <a:alphaModFix/>
            </a:blip>
            <a:srcRect b="26556" l="47840" r="0" t="0"/>
            <a:stretch/>
          </p:blipFill>
          <p:spPr>
            <a:xfrm>
              <a:off x="159000" y="1584725"/>
              <a:ext cx="3405000" cy="2739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6" name="Google Shape;1176;p90"/>
            <p:cNvSpPr txBox="1"/>
            <p:nvPr/>
          </p:nvSpPr>
          <p:spPr>
            <a:xfrm>
              <a:off x="886200" y="3129600"/>
              <a:ext cx="83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(4, 4)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7" name="Google Shape;1177;p90"/>
            <p:cNvSpPr txBox="1"/>
            <p:nvPr/>
          </p:nvSpPr>
          <p:spPr>
            <a:xfrm>
              <a:off x="2480700" y="3129600"/>
              <a:ext cx="880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(12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8" name="Google Shape;1178;p90"/>
            <p:cNvSpPr txBox="1"/>
            <p:nvPr/>
          </p:nvSpPr>
          <p:spPr>
            <a:xfrm>
              <a:off x="886200" y="2007600"/>
              <a:ext cx="83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(4, 8)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9" name="Google Shape;1179;p90"/>
            <p:cNvSpPr txBox="1"/>
            <p:nvPr/>
          </p:nvSpPr>
          <p:spPr>
            <a:xfrm>
              <a:off x="2480700" y="2007600"/>
              <a:ext cx="880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(12, 8)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90"/>
            <p:cNvSpPr txBox="1"/>
            <p:nvPr/>
          </p:nvSpPr>
          <p:spPr>
            <a:xfrm>
              <a:off x="3319800" y="2844600"/>
              <a:ext cx="1009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(14, 4)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90"/>
            <p:cNvSpPr txBox="1"/>
            <p:nvPr/>
          </p:nvSpPr>
          <p:spPr>
            <a:xfrm>
              <a:off x="1590588" y="2811300"/>
              <a:ext cx="1009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(6, 4)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2" name="Google Shape;1182;p90"/>
          <p:cNvGrpSpPr/>
          <p:nvPr/>
        </p:nvGrpSpPr>
        <p:grpSpPr>
          <a:xfrm>
            <a:off x="4855825" y="1584725"/>
            <a:ext cx="4133975" cy="2739049"/>
            <a:chOff x="4779625" y="1432325"/>
            <a:chExt cx="4133975" cy="2739049"/>
          </a:xfrm>
        </p:grpSpPr>
        <p:pic>
          <p:nvPicPr>
            <p:cNvPr id="1183" name="Google Shape;1183;p90"/>
            <p:cNvPicPr preferRelativeResize="0"/>
            <p:nvPr/>
          </p:nvPicPr>
          <p:blipFill rotWithShape="1">
            <a:blip r:embed="rId4">
              <a:alphaModFix/>
            </a:blip>
            <a:srcRect b="26508" l="48699" r="0" t="0"/>
            <a:stretch/>
          </p:blipFill>
          <p:spPr>
            <a:xfrm>
              <a:off x="4779625" y="1432325"/>
              <a:ext cx="3346755" cy="2739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4" name="Google Shape;1184;p90"/>
            <p:cNvSpPr txBox="1"/>
            <p:nvPr/>
          </p:nvSpPr>
          <p:spPr>
            <a:xfrm>
              <a:off x="5470800" y="2977200"/>
              <a:ext cx="83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(4, 4)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90"/>
            <p:cNvSpPr txBox="1"/>
            <p:nvPr/>
          </p:nvSpPr>
          <p:spPr>
            <a:xfrm>
              <a:off x="6684300" y="2977200"/>
              <a:ext cx="880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(10, 4)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90"/>
            <p:cNvSpPr txBox="1"/>
            <p:nvPr/>
          </p:nvSpPr>
          <p:spPr>
            <a:xfrm>
              <a:off x="5470800" y="1855200"/>
              <a:ext cx="83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(4, 8)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90"/>
            <p:cNvSpPr txBox="1"/>
            <p:nvPr/>
          </p:nvSpPr>
          <p:spPr>
            <a:xfrm>
              <a:off x="6608100" y="1855200"/>
              <a:ext cx="880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(10, 8)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90"/>
            <p:cNvSpPr txBox="1"/>
            <p:nvPr/>
          </p:nvSpPr>
          <p:spPr>
            <a:xfrm>
              <a:off x="7904400" y="2692200"/>
              <a:ext cx="1009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(14, 4)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9" name="Google Shape;1189;p90"/>
            <p:cNvSpPr txBox="1"/>
            <p:nvPr/>
          </p:nvSpPr>
          <p:spPr>
            <a:xfrm>
              <a:off x="6175188" y="2658900"/>
              <a:ext cx="1009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(6, 4)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0" name="Google Shape;1190;p90"/>
          <p:cNvSpPr txBox="1"/>
          <p:nvPr/>
        </p:nvSpPr>
        <p:spPr>
          <a:xfrm>
            <a:off x="1171800" y="4288800"/>
            <a:ext cx="152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90"/>
          <p:cNvSpPr txBox="1"/>
          <p:nvPr/>
        </p:nvSpPr>
        <p:spPr>
          <a:xfrm>
            <a:off x="5774400" y="4358700"/>
            <a:ext cx="226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a 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ranslation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197" name="Google Shape;1197;p91"/>
          <p:cNvSpPr txBox="1"/>
          <p:nvPr>
            <p:ph idx="1" type="body"/>
          </p:nvPr>
        </p:nvSpPr>
        <p:spPr>
          <a:xfrm>
            <a:off x="324000" y="3701175"/>
            <a:ext cx="8237700" cy="954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this case, the </a:t>
            </a:r>
            <a:r>
              <a:rPr i="1" lang="en-GB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-coordinate of each has increased by 2, so the triangle has been translated up by 2 units. </a:t>
            </a:r>
            <a:endParaRPr sz="2000"/>
          </a:p>
        </p:txBody>
      </p:sp>
      <p:sp>
        <p:nvSpPr>
          <p:cNvPr id="1198" name="Google Shape;1198;p91"/>
          <p:cNvSpPr txBox="1"/>
          <p:nvPr/>
        </p:nvSpPr>
        <p:spPr>
          <a:xfrm>
            <a:off x="2827200" y="1576200"/>
            <a:ext cx="193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Object coordinate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1"/>
          <p:cNvSpPr txBox="1"/>
          <p:nvPr/>
        </p:nvSpPr>
        <p:spPr>
          <a:xfrm>
            <a:off x="4762200" y="1576200"/>
            <a:ext cx="193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coordinate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1"/>
          <p:cNvSpPr txBox="1"/>
          <p:nvPr/>
        </p:nvSpPr>
        <p:spPr>
          <a:xfrm>
            <a:off x="2859900" y="2283600"/>
            <a:ext cx="19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(2, 5)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1"/>
          <p:cNvSpPr txBox="1"/>
          <p:nvPr/>
        </p:nvSpPr>
        <p:spPr>
          <a:xfrm>
            <a:off x="2859900" y="2667300"/>
            <a:ext cx="8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(3, 6)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91"/>
          <p:cNvSpPr txBox="1"/>
          <p:nvPr/>
        </p:nvSpPr>
        <p:spPr>
          <a:xfrm>
            <a:off x="2859900" y="3069900"/>
            <a:ext cx="8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(4, 5)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91"/>
          <p:cNvSpPr txBox="1"/>
          <p:nvPr/>
        </p:nvSpPr>
        <p:spPr>
          <a:xfrm>
            <a:off x="4841100" y="2283600"/>
            <a:ext cx="19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(2, 7)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204" name="Google Shape;1204;p91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950" y="3834150"/>
            <a:ext cx="145225" cy="1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91"/>
          <p:cNvSpPr txBox="1"/>
          <p:nvPr/>
        </p:nvSpPr>
        <p:spPr>
          <a:xfrm>
            <a:off x="4841100" y="2667300"/>
            <a:ext cx="8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(3, 8)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1"/>
          <p:cNvSpPr txBox="1"/>
          <p:nvPr/>
        </p:nvSpPr>
        <p:spPr>
          <a:xfrm>
            <a:off x="4841100" y="3069900"/>
            <a:ext cx="8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(4, 7)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1"/>
          <p:cNvSpPr txBox="1"/>
          <p:nvPr/>
        </p:nvSpPr>
        <p:spPr>
          <a:xfrm>
            <a:off x="324000" y="729600"/>
            <a:ext cx="8767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looking at the object and image coordinates, we can check to see if a translation has taken place.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Has a translation taken place given these coordinates?</a:t>
            </a:r>
            <a:endParaRPr/>
          </a:p>
        </p:txBody>
      </p:sp>
      <p:sp>
        <p:nvSpPr>
          <p:cNvPr id="1213" name="Google Shape;121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214" name="Google Shape;1214;p92"/>
          <p:cNvSpPr txBox="1"/>
          <p:nvPr/>
        </p:nvSpPr>
        <p:spPr>
          <a:xfrm>
            <a:off x="2827200" y="1347600"/>
            <a:ext cx="193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Object coordinate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92"/>
          <p:cNvSpPr txBox="1"/>
          <p:nvPr/>
        </p:nvSpPr>
        <p:spPr>
          <a:xfrm>
            <a:off x="4762200" y="1347600"/>
            <a:ext cx="193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Image coordinate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92"/>
          <p:cNvSpPr txBox="1"/>
          <p:nvPr/>
        </p:nvSpPr>
        <p:spPr>
          <a:xfrm>
            <a:off x="2859900" y="2055000"/>
            <a:ext cx="19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(3, 0)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2"/>
          <p:cNvSpPr txBox="1"/>
          <p:nvPr/>
        </p:nvSpPr>
        <p:spPr>
          <a:xfrm>
            <a:off x="2859900" y="2438700"/>
            <a:ext cx="8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(5, 1)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2"/>
          <p:cNvSpPr txBox="1"/>
          <p:nvPr/>
        </p:nvSpPr>
        <p:spPr>
          <a:xfrm>
            <a:off x="2859900" y="2841300"/>
            <a:ext cx="8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(6, 5)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2"/>
          <p:cNvSpPr txBox="1"/>
          <p:nvPr/>
        </p:nvSpPr>
        <p:spPr>
          <a:xfrm>
            <a:off x="4764900" y="2055000"/>
            <a:ext cx="19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(1, 1)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92"/>
          <p:cNvSpPr txBox="1"/>
          <p:nvPr/>
        </p:nvSpPr>
        <p:spPr>
          <a:xfrm>
            <a:off x="4764900" y="2438700"/>
            <a:ext cx="126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(3, 2)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92"/>
          <p:cNvSpPr txBox="1"/>
          <p:nvPr/>
        </p:nvSpPr>
        <p:spPr>
          <a:xfrm>
            <a:off x="4764900" y="2841300"/>
            <a:ext cx="89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(4, 6)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2"/>
          <p:cNvSpPr txBox="1"/>
          <p:nvPr/>
        </p:nvSpPr>
        <p:spPr>
          <a:xfrm>
            <a:off x="692850" y="3827400"/>
            <a:ext cx="75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the shape has translated left by 2 units and up by 1 unit.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93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931775" y="575100"/>
            <a:ext cx="3647427" cy="24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229" name="Google Shape;1229;p93"/>
          <p:cNvSpPr txBox="1"/>
          <p:nvPr/>
        </p:nvSpPr>
        <p:spPr>
          <a:xfrm>
            <a:off x="1238100" y="714450"/>
            <a:ext cx="33411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description for this transformation is: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Moves left by 2 squares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Moves up by 1 square </a:t>
            </a:r>
            <a:endParaRPr/>
          </a:p>
        </p:txBody>
      </p:sp>
      <p:pic>
        <p:nvPicPr>
          <p:cNvPr id="1230" name="Google Shape;1230;p93"/>
          <p:cNvPicPr preferRelativeResize="0"/>
          <p:nvPr/>
        </p:nvPicPr>
        <p:blipFill rotWithShape="1">
          <a:blip r:embed="rId4">
            <a:alphaModFix/>
          </a:blip>
          <a:srcRect b="29338" l="59537" r="0" t="0"/>
          <a:stretch/>
        </p:blipFill>
        <p:spPr>
          <a:xfrm>
            <a:off x="4657500" y="1350800"/>
            <a:ext cx="3299625" cy="3277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1" name="Google Shape;1231;p93"/>
          <p:cNvCxnSpPr/>
          <p:nvPr/>
        </p:nvCxnSpPr>
        <p:spPr>
          <a:xfrm rot="10800000">
            <a:off x="6847500" y="23775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93"/>
          <p:cNvCxnSpPr/>
          <p:nvPr/>
        </p:nvCxnSpPr>
        <p:spPr>
          <a:xfrm rot="10800000">
            <a:off x="6847500" y="20925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3" name="Google Shape;1233;p93"/>
          <p:cNvCxnSpPr/>
          <p:nvPr/>
        </p:nvCxnSpPr>
        <p:spPr>
          <a:xfrm rot="10800000">
            <a:off x="6557700" y="35430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4" name="Google Shape;1234;p93"/>
          <p:cNvCxnSpPr/>
          <p:nvPr/>
        </p:nvCxnSpPr>
        <p:spPr>
          <a:xfrm rot="10800000">
            <a:off x="6557700" y="32580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5" name="Google Shape;1235;p93"/>
          <p:cNvCxnSpPr/>
          <p:nvPr/>
        </p:nvCxnSpPr>
        <p:spPr>
          <a:xfrm rot="10800000">
            <a:off x="5963100" y="38466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93"/>
          <p:cNvCxnSpPr/>
          <p:nvPr/>
        </p:nvCxnSpPr>
        <p:spPr>
          <a:xfrm rot="10800000">
            <a:off x="5963100" y="35616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37" name="Google Shape;1237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26573" y="2700000"/>
            <a:ext cx="971424" cy="125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3"/>
          <p:cNvSpPr txBox="1"/>
          <p:nvPr/>
        </p:nvSpPr>
        <p:spPr>
          <a:xfrm>
            <a:off x="526575" y="3846600"/>
            <a:ext cx="1297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3" name="Google Shape;1243;p94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931775" y="575100"/>
            <a:ext cx="3647427" cy="2912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245" name="Google Shape;1245;p94"/>
          <p:cNvSpPr txBox="1"/>
          <p:nvPr/>
        </p:nvSpPr>
        <p:spPr>
          <a:xfrm>
            <a:off x="1238100" y="714450"/>
            <a:ext cx="33411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do not need all the words.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Translated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-2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6" name="Google Shape;1246;p94"/>
          <p:cNvPicPr preferRelativeResize="0"/>
          <p:nvPr/>
        </p:nvPicPr>
        <p:blipFill rotWithShape="1">
          <a:blip r:embed="rId4">
            <a:alphaModFix/>
          </a:blip>
          <a:srcRect b="29338" l="59537" r="0" t="0"/>
          <a:stretch/>
        </p:blipFill>
        <p:spPr>
          <a:xfrm>
            <a:off x="4657500" y="1350800"/>
            <a:ext cx="3299625" cy="3277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7" name="Google Shape;1247;p94"/>
          <p:cNvCxnSpPr/>
          <p:nvPr/>
        </p:nvCxnSpPr>
        <p:spPr>
          <a:xfrm rot="10800000">
            <a:off x="6847500" y="23775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94"/>
          <p:cNvCxnSpPr/>
          <p:nvPr/>
        </p:nvCxnSpPr>
        <p:spPr>
          <a:xfrm rot="10800000">
            <a:off x="6847500" y="20925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94"/>
          <p:cNvCxnSpPr/>
          <p:nvPr/>
        </p:nvCxnSpPr>
        <p:spPr>
          <a:xfrm rot="10800000">
            <a:off x="6557700" y="35430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0" name="Google Shape;1250;p94"/>
          <p:cNvCxnSpPr/>
          <p:nvPr/>
        </p:nvCxnSpPr>
        <p:spPr>
          <a:xfrm rot="10800000">
            <a:off x="6557700" y="32580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1" name="Google Shape;1251;p94"/>
          <p:cNvCxnSpPr/>
          <p:nvPr/>
        </p:nvCxnSpPr>
        <p:spPr>
          <a:xfrm rot="10800000">
            <a:off x="5963100" y="38466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2" name="Google Shape;1252;p94"/>
          <p:cNvCxnSpPr/>
          <p:nvPr/>
        </p:nvCxnSpPr>
        <p:spPr>
          <a:xfrm rot="10800000">
            <a:off x="5963100" y="35616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53" name="Google Shape;125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794" y="3249419"/>
            <a:ext cx="1102798" cy="137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94"/>
          <p:cNvSpPr txBox="1"/>
          <p:nvPr/>
        </p:nvSpPr>
        <p:spPr>
          <a:xfrm>
            <a:off x="387600" y="4472375"/>
            <a:ext cx="1297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" name="Google Shape;1259;p95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931775" y="866850"/>
            <a:ext cx="3647427" cy="246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261" name="Google Shape;1261;p95"/>
          <p:cNvSpPr txBox="1"/>
          <p:nvPr/>
        </p:nvSpPr>
        <p:spPr>
          <a:xfrm>
            <a:off x="1238100" y="1019250"/>
            <a:ext cx="33411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only need this: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Translated by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2" name="Google Shape;1262;p95"/>
          <p:cNvPicPr preferRelativeResize="0"/>
          <p:nvPr/>
        </p:nvPicPr>
        <p:blipFill rotWithShape="1">
          <a:blip r:embed="rId4">
            <a:alphaModFix/>
          </a:blip>
          <a:srcRect b="29338" l="59537" r="0" t="0"/>
          <a:stretch/>
        </p:blipFill>
        <p:spPr>
          <a:xfrm>
            <a:off x="4657500" y="1350800"/>
            <a:ext cx="3299625" cy="3277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3" name="Google Shape;1263;p95"/>
          <p:cNvCxnSpPr/>
          <p:nvPr/>
        </p:nvCxnSpPr>
        <p:spPr>
          <a:xfrm rot="10800000">
            <a:off x="6847500" y="23775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4" name="Google Shape;1264;p95"/>
          <p:cNvCxnSpPr/>
          <p:nvPr/>
        </p:nvCxnSpPr>
        <p:spPr>
          <a:xfrm rot="10800000">
            <a:off x="6847500" y="20925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5" name="Google Shape;1265;p95"/>
          <p:cNvCxnSpPr/>
          <p:nvPr/>
        </p:nvCxnSpPr>
        <p:spPr>
          <a:xfrm rot="10800000">
            <a:off x="6557700" y="35430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95"/>
          <p:cNvCxnSpPr/>
          <p:nvPr/>
        </p:nvCxnSpPr>
        <p:spPr>
          <a:xfrm rot="10800000">
            <a:off x="6557700" y="32580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7" name="Google Shape;1267;p95"/>
          <p:cNvCxnSpPr/>
          <p:nvPr/>
        </p:nvCxnSpPr>
        <p:spPr>
          <a:xfrm rot="10800000">
            <a:off x="5963100" y="3846600"/>
            <a:ext cx="57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8" name="Google Shape;1268;p95"/>
          <p:cNvCxnSpPr/>
          <p:nvPr/>
        </p:nvCxnSpPr>
        <p:spPr>
          <a:xfrm rot="10800000">
            <a:off x="5963100" y="3561600"/>
            <a:ext cx="0" cy="28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left(\begin{matrix}-2\\&amp;#13;&amp;#10;1\end{matrix}\right)&quot;&gt;&lt;mrow data-mjx-texclass=&quot;INNER&quot;&gt;&lt;mo data-mjx-texclass=&quot;OPEN&quot;&gt;(&lt;/mo&gt;&lt;mtable columnspacing=&quot;1em&quot; rowspacing=&quot;4pt&quot;&gt;&lt;mtr&gt;&lt;mtd&gt;&lt;mo&gt;−&lt;/mo&gt;&lt;mn&gt;2&lt;/mn&gt;&lt;/mtd&gt;&lt;/mtr&gt;&lt;mtr&gt;&lt;mtd&gt;&lt;mn&gt;1&lt;/mn&gt;&lt;/mtd&gt;&lt;/mtr&gt;&lt;/mtable&gt;&lt;mo data-mjx-texclass=&quot;CLOSE&quot;&gt;)&lt;/mo&gt;&lt;/mrow&gt;&lt;/math&gt;" id="1269" name="Google Shape;1269;p95" title="the 2 by 1 column matrix negative 2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2284" y="2010800"/>
            <a:ext cx="893721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76930" y="3398550"/>
            <a:ext cx="1108684" cy="122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95"/>
          <p:cNvSpPr txBox="1"/>
          <p:nvPr/>
        </p:nvSpPr>
        <p:spPr>
          <a:xfrm>
            <a:off x="376925" y="4525825"/>
            <a:ext cx="1297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277" name="Google Shape;1277;p96"/>
          <p:cNvSpPr txBox="1"/>
          <p:nvPr/>
        </p:nvSpPr>
        <p:spPr>
          <a:xfrm>
            <a:off x="324000" y="729600"/>
            <a:ext cx="8767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Column vectors have the general form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\text{horizontal}\\&amp;#13;&amp;#10;\text{vertical}\end{matrix}\right)&quot;&gt;&lt;mrow data-mjx-texclass=&quot;INNER&quot;&gt;&lt;mo data-mjx-texclass=&quot;OPEN&quot;&gt;(&lt;/mo&gt;&lt;mtable columnspacing=&quot;1em&quot; rowspacing=&quot;4pt&quot;&gt;&lt;mtr&gt;&lt;mtd&gt;&lt;mtext&gt;horizontal&lt;/mtext&gt;&lt;/mtd&gt;&lt;/mtr&gt;&lt;mtr&gt;&lt;mtd&gt;&lt;mtext&gt;vertical&lt;/mtext&gt;&lt;/mtd&gt;&lt;/mtr&gt;&lt;/mtable&gt;&lt;mo data-mjx-texclass=&quot;CLOSE&quot;&gt;)&lt;/mo&gt;&lt;/mrow&gt;&lt;/math&gt;" id="1278" name="Google Shape;1278;p96" title="the 2 by 1 column matrix Row 1: horizontal Row 2: vertica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750" y="1327500"/>
            <a:ext cx="1864980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\text{left} (-) / \text{right}(+)\\&amp;#10;\text{down} (-) / \text{up} (+)\end{matrix}\right)&quot;&gt;&lt;mrow data-mjx-texclass=&quot;INNER&quot;&gt;&lt;mo data-mjx-texclass=&quot;OPEN&quot;&gt;(&lt;/mo&gt;&lt;mtable columnspacing=&quot;1em&quot; rowspacing=&quot;4pt&quot;&gt;&lt;mtr&gt;&lt;mtd&gt;&lt;mtext&gt;left&lt;/mtext&gt;&lt;mo stretchy=&quot;false&quot;&gt;(&lt;/mo&gt;&lt;mo&gt;−&lt;/mo&gt;&lt;mo stretchy=&quot;false&quot;&gt;)&lt;/mo&gt;&lt;mrow data-mjx-texclass=&quot;ORD&quot;&gt;&lt;mo&gt;/&lt;/mo&gt;&lt;/mrow&gt;&lt;mtext&gt;right&lt;/mtext&gt;&lt;mo stretchy=&quot;false&quot;&gt;(&lt;/mo&gt;&lt;mo&gt;+&lt;/mo&gt;&lt;mo stretchy=&quot;false&quot;&gt;)&lt;/mo&gt;&lt;/mtd&gt;&lt;/mtr&gt;&lt;mtr&gt;&lt;mtd&gt;&lt;mtext&gt;down&lt;/mtext&gt;&lt;mo stretchy=&quot;false&quot;&gt;(&lt;/mo&gt;&lt;mo&gt;−&lt;/mo&gt;&lt;mo stretchy=&quot;false&quot;&gt;)&lt;/mo&gt;&lt;mrow data-mjx-texclass=&quot;ORD&quot;&gt;&lt;mo&gt;/&lt;/mo&gt;&lt;/mrow&gt;&lt;mtext&gt;up&lt;/mtext&gt;&lt;mo stretchy=&quot;false&quot;&gt;(&lt;/mo&gt;&lt;mo&gt;+&lt;/mo&gt;&lt;mo stretchy=&quot;false&quot;&gt;)&lt;/mo&gt;&lt;/mtd&gt;&lt;/mtr&gt;&lt;/mtable&gt;&lt;mo data-mjx-texclass=&quot;CLOSE&quot;&gt;)&lt;/mo&gt;&lt;/mrow&gt;&lt;/math&gt;" id="1279" name="Google Shape;1279;p96" title="the 2 by 1 column matrix Row 1: left open paren minus close paren slash right open paren plus close paren Row 2: down open paren minus close paren slash up open paren plus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3900" y="2776200"/>
            <a:ext cx="2807700" cy="9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97"/>
          <p:cNvSpPr txBox="1"/>
          <p:nvPr>
            <p:ph type="title"/>
          </p:nvPr>
        </p:nvSpPr>
        <p:spPr>
          <a:xfrm>
            <a:off x="324000" y="9875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Translated by               means </a:t>
            </a:r>
            <a:endParaRPr/>
          </a:p>
        </p:txBody>
      </p:sp>
      <p:sp>
        <p:nvSpPr>
          <p:cNvPr id="1285" name="Google Shape;1285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286" name="Google Shape;1286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</a:t>
            </a:r>
            <a:r>
              <a:rPr lang="en-GB"/>
              <a:t>p by 3 and left by 5</a:t>
            </a:r>
            <a:endParaRPr/>
          </a:p>
        </p:txBody>
      </p:sp>
      <p:sp>
        <p:nvSpPr>
          <p:cNvPr id="1287" name="Google Shape;1287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</a:t>
            </a:r>
            <a:r>
              <a:rPr lang="en-GB"/>
              <a:t>eft by 3 and down by 5</a:t>
            </a:r>
            <a:endParaRPr/>
          </a:p>
        </p:txBody>
      </p:sp>
      <p:sp>
        <p:nvSpPr>
          <p:cNvPr id="1288" name="Google Shape;1288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</a:t>
            </a:r>
            <a:r>
              <a:rPr lang="en-GB"/>
              <a:t>ight by 3 and down by 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3\\&amp;#13;&amp;#10;-5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o&gt;−&lt;/mo&gt;&lt;mn&gt;5&lt;/mn&gt;&lt;/mtd&gt;&lt;/mtr&gt;&lt;/mtable&gt;&lt;mo data-mjx-texclass=&quot;CLOSE&quot;&gt;)&lt;/mo&gt;&lt;/mrow&gt;&lt;/math&gt;" id="1289" name="Google Shape;1289;p97" title="the 2 by 1 column matrix 3 negative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634" y="765900"/>
            <a:ext cx="893721" cy="83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83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9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644153" y="673075"/>
            <a:ext cx="2675098" cy="12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pic>
        <p:nvPicPr>
          <p:cNvPr id="1297" name="Google Shape;1297;p9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908025" y="703125"/>
            <a:ext cx="2550175" cy="12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98"/>
          <p:cNvSpPr txBox="1"/>
          <p:nvPr>
            <p:ph idx="1" type="body"/>
          </p:nvPr>
        </p:nvSpPr>
        <p:spPr>
          <a:xfrm>
            <a:off x="857400" y="759300"/>
            <a:ext cx="2675100" cy="15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object has been translated by </a:t>
            </a:r>
            <a:endParaRPr sz="1800"/>
          </a:p>
        </p:txBody>
      </p:sp>
      <p:pic>
        <p:nvPicPr>
          <p:cNvPr id="1299" name="Google Shape;1299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1050" y="1751375"/>
            <a:ext cx="3379901" cy="233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552" y="2042790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1\\&amp;#13;&amp;#10;-2\end{matrix}\right)&quot;&gt;&lt;mrow data-mjx-texclass=&quot;INNER&quot;&gt;&lt;mo data-mjx-texclass=&quot;OPEN&quot;&gt;(&lt;/mo&gt;&lt;mtable columnspacing=&quot;1em&quot; rowspacing=&quot;4pt&quot;&gt;&lt;mtr&gt;&lt;mtd&gt;&lt;mn&gt;1&lt;/mn&gt;&lt;/mtd&gt;&lt;/mtr&gt;&lt;mtr&gt;&lt;mtd&gt;&lt;mo&gt;−&lt;/mo&gt;&lt;mn&gt;2&lt;/mn&gt;&lt;/mtd&gt;&lt;/mtr&gt;&lt;/mtable&gt;&lt;mo data-mjx-texclass=&quot;CLOSE&quot;&gt;)&lt;/mo&gt;&lt;/mrow&gt;&lt;/math&gt;" id="1301" name="Google Shape;1301;p98" title="the 2 by 1 column matrix 1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0698" y="1007350"/>
            <a:ext cx="65860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98"/>
          <p:cNvSpPr txBox="1"/>
          <p:nvPr>
            <p:ph idx="1" type="body"/>
          </p:nvPr>
        </p:nvSpPr>
        <p:spPr>
          <a:xfrm>
            <a:off x="5995293" y="759300"/>
            <a:ext cx="2675100" cy="15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object has been translated by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left(\begin{matrix}5\\&amp;#13;&amp;#10;-2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o&gt;−&lt;/mo&gt;&lt;mn&gt;2&lt;/mn&gt;&lt;/mtd&gt;&lt;/mtr&gt;&lt;/mtable&gt;&lt;mo data-mjx-texclass=&quot;CLOSE&quot;&gt;)&lt;/mo&gt;&lt;/mrow&gt;&lt;/math&gt;" id="1303" name="Google Shape;1303;p98" title="the 2 by 1 column matrix 5 negative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4176" y="1080000"/>
            <a:ext cx="658600" cy="613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9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3750" y="2019875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98"/>
          <p:cNvSpPr txBox="1"/>
          <p:nvPr/>
        </p:nvSpPr>
        <p:spPr>
          <a:xfrm>
            <a:off x="3884337" y="1647687"/>
            <a:ext cx="2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98"/>
          <p:cNvSpPr txBox="1"/>
          <p:nvPr/>
        </p:nvSpPr>
        <p:spPr>
          <a:xfrm>
            <a:off x="5383369" y="2160012"/>
            <a:ext cx="43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8"/>
          <p:cNvSpPr txBox="1"/>
          <p:nvPr/>
        </p:nvSpPr>
        <p:spPr>
          <a:xfrm>
            <a:off x="341634" y="29470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Laura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98"/>
          <p:cNvSpPr txBox="1"/>
          <p:nvPr/>
        </p:nvSpPr>
        <p:spPr>
          <a:xfrm>
            <a:off x="7106259" y="30239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Izzy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9" name="Google Shape;1309;p98"/>
          <p:cNvCxnSpPr/>
          <p:nvPr/>
        </p:nvCxnSpPr>
        <p:spPr>
          <a:xfrm>
            <a:off x="4648900" y="2533954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0" name="Google Shape;1310;p98"/>
          <p:cNvCxnSpPr/>
          <p:nvPr/>
        </p:nvCxnSpPr>
        <p:spPr>
          <a:xfrm>
            <a:off x="4895800" y="2537575"/>
            <a:ext cx="0" cy="50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1" name="Google Shape;1311;p98"/>
          <p:cNvCxnSpPr/>
          <p:nvPr/>
        </p:nvCxnSpPr>
        <p:spPr>
          <a:xfrm>
            <a:off x="4125100" y="2012579"/>
            <a:ext cx="129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2" name="Google Shape;1312;p98"/>
          <p:cNvCxnSpPr/>
          <p:nvPr/>
        </p:nvCxnSpPr>
        <p:spPr>
          <a:xfrm>
            <a:off x="5421700" y="2012575"/>
            <a:ext cx="0" cy="50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3" name="Google Shape;1313;p98"/>
          <p:cNvSpPr txBox="1"/>
          <p:nvPr/>
        </p:nvSpPr>
        <p:spPr>
          <a:xfrm>
            <a:off x="800325" y="4101875"/>
            <a:ext cx="729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must count between corresponding vertices.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8"/>
          <p:cNvSpPr txBox="1"/>
          <p:nvPr/>
        </p:nvSpPr>
        <p:spPr>
          <a:xfrm>
            <a:off x="3817907" y="2895506"/>
            <a:ext cx="2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98"/>
          <p:cNvSpPr txBox="1"/>
          <p:nvPr/>
        </p:nvSpPr>
        <p:spPr>
          <a:xfrm>
            <a:off x="5383364" y="3357206"/>
            <a:ext cx="43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6" name="Google Shape;1316;p98"/>
          <p:cNvCxnSpPr/>
          <p:nvPr/>
        </p:nvCxnSpPr>
        <p:spPr>
          <a:xfrm>
            <a:off x="4115494" y="3057223"/>
            <a:ext cx="129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7" name="Google Shape;1317;p98"/>
          <p:cNvCxnSpPr/>
          <p:nvPr/>
        </p:nvCxnSpPr>
        <p:spPr>
          <a:xfrm>
            <a:off x="5412094" y="3057219"/>
            <a:ext cx="0" cy="50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8" name="Google Shape;1318;p98"/>
          <p:cNvSpPr txBox="1"/>
          <p:nvPr/>
        </p:nvSpPr>
        <p:spPr>
          <a:xfrm>
            <a:off x="814199" y="4454400"/>
            <a:ext cx="414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doesn’t matter which pair.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9"/>
          <p:cNvSpPr txBox="1"/>
          <p:nvPr>
            <p:ph idx="1" type="subTitle"/>
          </p:nvPr>
        </p:nvSpPr>
        <p:spPr>
          <a:xfrm>
            <a:off x="337825" y="810000"/>
            <a:ext cx="3982200" cy="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Describe the transformation.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325" name="Google Shape;1325;p9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Describe the transformation.</a:t>
            </a:r>
            <a:endParaRPr/>
          </a:p>
        </p:txBody>
      </p:sp>
      <p:pic>
        <p:nvPicPr>
          <p:cNvPr id="1326" name="Google Shape;1326;p99"/>
          <p:cNvPicPr preferRelativeResize="0"/>
          <p:nvPr/>
        </p:nvPicPr>
        <p:blipFill rotWithShape="1">
          <a:blip r:embed="rId3">
            <a:alphaModFix/>
          </a:blip>
          <a:srcRect b="7578" l="21921" r="24818" t="0"/>
          <a:stretch/>
        </p:blipFill>
        <p:spPr>
          <a:xfrm>
            <a:off x="898750" y="1210575"/>
            <a:ext cx="2627026" cy="19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99"/>
          <p:cNvSpPr txBox="1"/>
          <p:nvPr/>
        </p:nvSpPr>
        <p:spPr>
          <a:xfrm>
            <a:off x="324000" y="3433625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by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3\\&amp;#13;&amp;#10;1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1&lt;/mn&gt;&lt;/mtd&gt;&lt;/mtr&gt;&lt;/mtable&gt;&lt;mo data-mjx-texclass=&quot;CLOSE&quot;&gt;)&lt;/mo&gt;&lt;/mrow&gt;&lt;/math&gt;" id="1328" name="Google Shape;1328;p99" title="the 2 by 1 column matrix 3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6763" y="3322813"/>
            <a:ext cx="544325" cy="683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9" name="Google Shape;1329;p99"/>
          <p:cNvCxnSpPr/>
          <p:nvPr/>
        </p:nvCxnSpPr>
        <p:spPr>
          <a:xfrm>
            <a:off x="2020225" y="2780675"/>
            <a:ext cx="1175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0" name="Google Shape;1330;p99"/>
          <p:cNvCxnSpPr/>
          <p:nvPr/>
        </p:nvCxnSpPr>
        <p:spPr>
          <a:xfrm rot="10800000">
            <a:off x="3210850" y="2388875"/>
            <a:ext cx="0" cy="39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1" name="Google Shape;1331;p99"/>
          <p:cNvSpPr txBox="1"/>
          <p:nvPr/>
        </p:nvSpPr>
        <p:spPr>
          <a:xfrm>
            <a:off x="1328889" y="1620000"/>
            <a:ext cx="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9"/>
          <p:cNvSpPr txBox="1"/>
          <p:nvPr/>
        </p:nvSpPr>
        <p:spPr>
          <a:xfrm>
            <a:off x="871689" y="2534400"/>
            <a:ext cx="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99"/>
          <p:cNvSpPr txBox="1"/>
          <p:nvPr/>
        </p:nvSpPr>
        <p:spPr>
          <a:xfrm>
            <a:off x="1709889" y="2686800"/>
            <a:ext cx="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9"/>
          <p:cNvSpPr txBox="1"/>
          <p:nvPr/>
        </p:nvSpPr>
        <p:spPr>
          <a:xfrm>
            <a:off x="2534903" y="1259325"/>
            <a:ext cx="43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9"/>
          <p:cNvSpPr txBox="1"/>
          <p:nvPr/>
        </p:nvSpPr>
        <p:spPr>
          <a:xfrm>
            <a:off x="1985725" y="2173725"/>
            <a:ext cx="5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9"/>
          <p:cNvSpPr txBox="1"/>
          <p:nvPr/>
        </p:nvSpPr>
        <p:spPr>
          <a:xfrm>
            <a:off x="3154153" y="2014175"/>
            <a:ext cx="43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7" name="Google Shape;1337;p99"/>
          <p:cNvPicPr preferRelativeResize="0"/>
          <p:nvPr/>
        </p:nvPicPr>
        <p:blipFill rotWithShape="1">
          <a:blip r:embed="rId5">
            <a:alphaModFix/>
          </a:blip>
          <a:srcRect b="12441" l="12435" r="39178" t="0"/>
          <a:stretch/>
        </p:blipFill>
        <p:spPr>
          <a:xfrm>
            <a:off x="5464275" y="1210563"/>
            <a:ext cx="2701650" cy="211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99"/>
          <p:cNvSpPr txBox="1"/>
          <p:nvPr/>
        </p:nvSpPr>
        <p:spPr>
          <a:xfrm>
            <a:off x="6927439" y="1259313"/>
            <a:ext cx="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99"/>
          <p:cNvSpPr txBox="1"/>
          <p:nvPr/>
        </p:nvSpPr>
        <p:spPr>
          <a:xfrm>
            <a:off x="5479353" y="1721013"/>
            <a:ext cx="43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99"/>
          <p:cNvSpPr txBox="1"/>
          <p:nvPr/>
        </p:nvSpPr>
        <p:spPr>
          <a:xfrm>
            <a:off x="6927439" y="2326113"/>
            <a:ext cx="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99"/>
          <p:cNvSpPr txBox="1"/>
          <p:nvPr/>
        </p:nvSpPr>
        <p:spPr>
          <a:xfrm>
            <a:off x="7686689" y="2340888"/>
            <a:ext cx="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99"/>
          <p:cNvSpPr txBox="1"/>
          <p:nvPr/>
        </p:nvSpPr>
        <p:spPr>
          <a:xfrm>
            <a:off x="5517153" y="2780663"/>
            <a:ext cx="43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99"/>
          <p:cNvSpPr txBox="1"/>
          <p:nvPr/>
        </p:nvSpPr>
        <p:spPr>
          <a:xfrm>
            <a:off x="6333628" y="2802588"/>
            <a:ext cx="43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99"/>
          <p:cNvSpPr txBox="1"/>
          <p:nvPr/>
        </p:nvSpPr>
        <p:spPr>
          <a:xfrm>
            <a:off x="4743600" y="3586025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45" name="Google Shape;1345;p99"/>
          <p:cNvCxnSpPr/>
          <p:nvPr/>
        </p:nvCxnSpPr>
        <p:spPr>
          <a:xfrm rot="10800000">
            <a:off x="5850314" y="1610906"/>
            <a:ext cx="140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6" name="Google Shape;1346;p99"/>
          <p:cNvCxnSpPr/>
          <p:nvPr/>
        </p:nvCxnSpPr>
        <p:spPr>
          <a:xfrm>
            <a:off x="5883988" y="1613100"/>
            <a:ext cx="0" cy="46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left(\begin{matrix}-3\\&amp;#13;&amp;#10;-1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o&gt;−&lt;/mo&gt;&lt;mn&gt;1&lt;/mn&gt;&lt;/mtd&gt;&lt;/mtr&gt;&lt;/mtable&gt;&lt;mo data-mjx-texclass=&quot;CLOSE&quot;&gt;)&lt;/mo&gt;&lt;/mrow&gt;&lt;/math&gt;" id="1347" name="Google Shape;1347;p99" title="the 2 by 1 column matrix negative 3 negative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1073" y="3503050"/>
            <a:ext cx="733553" cy="68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the description to the column </a:t>
            </a:r>
            <a:r>
              <a:rPr b="1" lang="en-GB"/>
              <a:t>vector</a:t>
            </a:r>
            <a:r>
              <a:rPr lang="en-GB"/>
              <a:t>.</a:t>
            </a:r>
            <a:endParaRPr/>
          </a:p>
        </p:txBody>
      </p:sp>
      <p:sp>
        <p:nvSpPr>
          <p:cNvPr id="1353" name="Google Shape;1353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3\\&amp;#13;&amp;#10;5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5&lt;/mn&gt;&lt;/mtd&gt;&lt;/mtr&gt;&lt;/mtable&gt;&lt;mo data-mjx-texclass=&quot;CLOSE&quot;&gt;)&lt;/mo&gt;&lt;/mrow&gt;&lt;/math&gt;" id="1354" name="Google Shape;1354;p100" title="the 2 by 1 column matrix 3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936" y="2240090"/>
            <a:ext cx="632861" cy="794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5\\&amp;#13;&amp;#10;3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n&gt;3&lt;/mn&gt;&lt;/mtd&gt;&lt;/mtr&gt;&lt;/mtable&gt;&lt;mo data-mjx-texclass=&quot;CLOSE&quot;&gt;)&lt;/mo&gt;&lt;/mrow&gt;&lt;/math&gt;" id="1355" name="Google Shape;1355;p100" title="the 2 by 1 column matrix 5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7924" y="1327500"/>
            <a:ext cx="632861" cy="794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-5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5&lt;/mn&gt;&lt;/mtd&gt;&lt;/mtr&gt;&lt;mtr&gt;&lt;mtd&gt;&lt;mn&gt;3&lt;/mn&gt;&lt;/mtd&gt;&lt;/mtr&gt;&lt;/mtable&gt;&lt;mo data-mjx-texclass=&quot;CLOSE&quot;&gt;)&lt;/mo&gt;&lt;/mrow&gt;&lt;/math&gt;" id="1356" name="Google Shape;1356;p100" title="the 2 by 1 column matrix negative 5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7944" y="4025903"/>
            <a:ext cx="852902" cy="794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5\\&amp;#13;&amp;#10;-3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o&gt;−&lt;/mo&gt;&lt;mn&gt;3&lt;/mn&gt;&lt;/mtd&gt;&lt;/mtr&gt;&lt;/mtable&gt;&lt;mo data-mjx-texclass=&quot;CLOSE&quot;&gt;)&lt;/mo&gt;&lt;/mrow&gt;&lt;/math&gt;" id="1357" name="Google Shape;1357;p100" title="the 2 by 1 column matrix 5 negative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7932" y="3132996"/>
            <a:ext cx="852902" cy="794497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00"/>
          <p:cNvSpPr txBox="1"/>
          <p:nvPr/>
        </p:nvSpPr>
        <p:spPr>
          <a:xfrm>
            <a:off x="1755600" y="1374300"/>
            <a:ext cx="30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left by 5 and up by 3 units.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00"/>
          <p:cNvSpPr txBox="1"/>
          <p:nvPr/>
        </p:nvSpPr>
        <p:spPr>
          <a:xfrm>
            <a:off x="1755600" y="2330538"/>
            <a:ext cx="30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right by 3 and up by 5 units.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100"/>
          <p:cNvSpPr txBox="1"/>
          <p:nvPr/>
        </p:nvSpPr>
        <p:spPr>
          <a:xfrm>
            <a:off x="1755600" y="4201800"/>
            <a:ext cx="30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right by 5 and down by 3 units.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0"/>
          <p:cNvSpPr txBox="1"/>
          <p:nvPr/>
        </p:nvSpPr>
        <p:spPr>
          <a:xfrm>
            <a:off x="1755600" y="3266175"/>
            <a:ext cx="30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right by 5 and up by 3 units.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0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Write a description using a column </a:t>
            </a:r>
            <a:r>
              <a:rPr b="1" lang="en-GB"/>
              <a:t>vector</a:t>
            </a:r>
            <a:r>
              <a:rPr lang="en-GB"/>
              <a:t> for each translation.</a:t>
            </a:r>
            <a:endParaRPr/>
          </a:p>
        </p:txBody>
      </p:sp>
      <p:sp>
        <p:nvSpPr>
          <p:cNvPr id="1367" name="Google Shape;1367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368" name="Google Shape;1368;p101"/>
          <p:cNvSpPr txBox="1"/>
          <p:nvPr/>
        </p:nvSpPr>
        <p:spPr>
          <a:xfrm>
            <a:off x="4571994" y="17958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9" name="Google Shape;1369;p101"/>
          <p:cNvPicPr preferRelativeResize="0"/>
          <p:nvPr/>
        </p:nvPicPr>
        <p:blipFill rotWithShape="1">
          <a:blip r:embed="rId3">
            <a:alphaModFix/>
          </a:blip>
          <a:srcRect b="27436" l="63149" r="0" t="0"/>
          <a:stretch/>
        </p:blipFill>
        <p:spPr>
          <a:xfrm>
            <a:off x="1339650" y="1923375"/>
            <a:ext cx="2765102" cy="25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101"/>
          <p:cNvPicPr preferRelativeResize="0"/>
          <p:nvPr/>
        </p:nvPicPr>
        <p:blipFill rotWithShape="1">
          <a:blip r:embed="rId4">
            <a:alphaModFix/>
          </a:blip>
          <a:srcRect b="27140" l="62883" r="0" t="0"/>
          <a:stretch/>
        </p:blipFill>
        <p:spPr>
          <a:xfrm>
            <a:off x="5172150" y="1923375"/>
            <a:ext cx="2773801" cy="255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1"/>
          <p:cNvSpPr txBox="1"/>
          <p:nvPr/>
        </p:nvSpPr>
        <p:spPr>
          <a:xfrm>
            <a:off x="2887200" y="2110050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101"/>
          <p:cNvSpPr txBox="1"/>
          <p:nvPr/>
        </p:nvSpPr>
        <p:spPr>
          <a:xfrm>
            <a:off x="1979687" y="2571757"/>
            <a:ext cx="3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01"/>
          <p:cNvSpPr txBox="1"/>
          <p:nvPr/>
        </p:nvSpPr>
        <p:spPr>
          <a:xfrm>
            <a:off x="5814600" y="3009138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1"/>
          <p:cNvSpPr txBox="1"/>
          <p:nvPr/>
        </p:nvSpPr>
        <p:spPr>
          <a:xfrm>
            <a:off x="6722071" y="3231300"/>
            <a:ext cx="53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1"/>
          <p:cNvSpPr txBox="1"/>
          <p:nvPr/>
        </p:nvSpPr>
        <p:spPr>
          <a:xfrm>
            <a:off x="642319" y="1808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Given the coordinates of the object and image, describe the translation.</a:t>
            </a:r>
            <a:br>
              <a:rPr lang="en-GB"/>
            </a:b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t/>
            </a:r>
            <a:endParaRPr/>
          </a:p>
        </p:txBody>
      </p:sp>
      <p:sp>
        <p:nvSpPr>
          <p:cNvPr id="1381" name="Google Shape;1381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grpSp>
        <p:nvGrpSpPr>
          <p:cNvPr id="1382" name="Google Shape;1382;p102"/>
          <p:cNvGrpSpPr/>
          <p:nvPr/>
        </p:nvGrpSpPr>
        <p:grpSpPr>
          <a:xfrm>
            <a:off x="1150800" y="1804800"/>
            <a:ext cx="3489000" cy="1986300"/>
            <a:chOff x="2827200" y="1576200"/>
            <a:chExt cx="3489000" cy="1986300"/>
          </a:xfrm>
        </p:grpSpPr>
        <p:sp>
          <p:nvSpPr>
            <p:cNvPr id="1383" name="Google Shape;1383;p102"/>
            <p:cNvSpPr txBox="1"/>
            <p:nvPr/>
          </p:nvSpPr>
          <p:spPr>
            <a:xfrm>
              <a:off x="2827200" y="1576200"/>
              <a:ext cx="1935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Object coordinate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4" name="Google Shape;1384;p102"/>
            <p:cNvSpPr txBox="1"/>
            <p:nvPr/>
          </p:nvSpPr>
          <p:spPr>
            <a:xfrm>
              <a:off x="4381200" y="1576200"/>
              <a:ext cx="1935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Image coordinate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5" name="Google Shape;1385;p102"/>
            <p:cNvSpPr txBox="1"/>
            <p:nvPr/>
          </p:nvSpPr>
          <p:spPr>
            <a:xfrm>
              <a:off x="2882342" y="2283600"/>
              <a:ext cx="193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(-2, 2)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6" name="Google Shape;1386;p102"/>
            <p:cNvSpPr txBox="1"/>
            <p:nvPr/>
          </p:nvSpPr>
          <p:spPr>
            <a:xfrm>
              <a:off x="2882342" y="2667300"/>
              <a:ext cx="1129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(-2, -2)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7" name="Google Shape;1387;p102"/>
            <p:cNvSpPr txBox="1"/>
            <p:nvPr/>
          </p:nvSpPr>
          <p:spPr>
            <a:xfrm>
              <a:off x="2882342" y="30699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(1, -2)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102"/>
            <p:cNvSpPr txBox="1"/>
            <p:nvPr/>
          </p:nvSpPr>
          <p:spPr>
            <a:xfrm>
              <a:off x="4460100" y="2283600"/>
              <a:ext cx="153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(3, 1)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102"/>
            <p:cNvSpPr txBox="1"/>
            <p:nvPr/>
          </p:nvSpPr>
          <p:spPr>
            <a:xfrm>
              <a:off x="4460100" y="2667300"/>
              <a:ext cx="1263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(3, -3)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102"/>
            <p:cNvSpPr txBox="1"/>
            <p:nvPr/>
          </p:nvSpPr>
          <p:spPr>
            <a:xfrm>
              <a:off x="4460100" y="3069900"/>
              <a:ext cx="101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(6, -3)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1" name="Google Shape;1391;p102"/>
          <p:cNvGrpSpPr/>
          <p:nvPr/>
        </p:nvGrpSpPr>
        <p:grpSpPr>
          <a:xfrm>
            <a:off x="5189400" y="1804800"/>
            <a:ext cx="3489000" cy="1986300"/>
            <a:chOff x="2827200" y="1576200"/>
            <a:chExt cx="3489000" cy="1986300"/>
          </a:xfrm>
        </p:grpSpPr>
        <p:sp>
          <p:nvSpPr>
            <p:cNvPr id="1392" name="Google Shape;1392;p102"/>
            <p:cNvSpPr txBox="1"/>
            <p:nvPr/>
          </p:nvSpPr>
          <p:spPr>
            <a:xfrm>
              <a:off x="2827200" y="1576200"/>
              <a:ext cx="1935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Object coordinate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3" name="Google Shape;1393;p102"/>
            <p:cNvSpPr txBox="1"/>
            <p:nvPr/>
          </p:nvSpPr>
          <p:spPr>
            <a:xfrm>
              <a:off x="4381200" y="1576200"/>
              <a:ext cx="1935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Image coordinate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4" name="Google Shape;1394;p102"/>
            <p:cNvSpPr txBox="1"/>
            <p:nvPr/>
          </p:nvSpPr>
          <p:spPr>
            <a:xfrm>
              <a:off x="2859900" y="2283600"/>
              <a:ext cx="193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(2, 6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102"/>
            <p:cNvSpPr txBox="1"/>
            <p:nvPr/>
          </p:nvSpPr>
          <p:spPr>
            <a:xfrm>
              <a:off x="2859900" y="26673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(4, 3)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6" name="Google Shape;1396;p102"/>
            <p:cNvSpPr txBox="1"/>
            <p:nvPr/>
          </p:nvSpPr>
          <p:spPr>
            <a:xfrm>
              <a:off x="2859900" y="30699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(5, 6)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7" name="Google Shape;1397;p102"/>
            <p:cNvSpPr txBox="1"/>
            <p:nvPr/>
          </p:nvSpPr>
          <p:spPr>
            <a:xfrm>
              <a:off x="4460100" y="2283600"/>
              <a:ext cx="1442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(-1, 8)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8" name="Google Shape;1398;p102"/>
            <p:cNvSpPr txBox="1"/>
            <p:nvPr/>
          </p:nvSpPr>
          <p:spPr>
            <a:xfrm>
              <a:off x="4460100" y="2667300"/>
              <a:ext cx="1263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(1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, 5)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9" name="Google Shape;1399;p102"/>
            <p:cNvSpPr txBox="1"/>
            <p:nvPr/>
          </p:nvSpPr>
          <p:spPr>
            <a:xfrm>
              <a:off x="4460100" y="30699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(2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, 8)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00" name="Google Shape;1400;p102"/>
          <p:cNvSpPr txBox="1"/>
          <p:nvPr/>
        </p:nvSpPr>
        <p:spPr>
          <a:xfrm>
            <a:off x="4687144" y="1808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the description to the column </a:t>
            </a:r>
            <a:r>
              <a:rPr b="1" lang="en-GB"/>
              <a:t>vector</a:t>
            </a:r>
            <a:r>
              <a:rPr lang="en-GB"/>
              <a:t>.</a:t>
            </a:r>
            <a:endParaRPr/>
          </a:p>
        </p:txBody>
      </p:sp>
      <p:sp>
        <p:nvSpPr>
          <p:cNvPr id="1406" name="Google Shape;1406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begin{matrix}3\\&amp;#13;&amp;#10;5\end{matrix}\right)&quot;&gt;&lt;mrow data-mjx-texclass=&quot;INNER&quot;&gt;&lt;mo data-mjx-texclass=&quot;OPEN&quot;&gt;(&lt;/mo&gt;&lt;mtable columnspacing=&quot;1em&quot; rowspacing=&quot;4pt&quot;&gt;&lt;mtr&gt;&lt;mtd&gt;&lt;mn&gt;3&lt;/mn&gt;&lt;/mtd&gt;&lt;/mtr&gt;&lt;mtr&gt;&lt;mtd&gt;&lt;mn&gt;5&lt;/mn&gt;&lt;/mtd&gt;&lt;/mtr&gt;&lt;/mtable&gt;&lt;mo data-mjx-texclass=&quot;CLOSE&quot;&gt;)&lt;/mo&gt;&lt;/mrow&gt;&lt;/math&gt;" id="1407" name="Google Shape;1407;p103" title="the 2 by 1 column matrix 3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7937" y="2240090"/>
            <a:ext cx="632871" cy="794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5\\&amp;#13;&amp;#10;3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n&gt;3&lt;/mn&gt;&lt;/mtd&gt;&lt;/mtr&gt;&lt;/mtable&gt;&lt;mo data-mjx-texclass=&quot;CLOSE&quot;&gt;)&lt;/mo&gt;&lt;/mrow&gt;&lt;/math&gt;" id="1408" name="Google Shape;1408;p103" title="the 2 by 1 column matrix 5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7925" y="1327500"/>
            <a:ext cx="632871" cy="794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-5\\&amp;#13;&amp;#10;3\end{matrix}\right)&quot;&gt;&lt;mrow data-mjx-texclass=&quot;INNER&quot;&gt;&lt;mo data-mjx-texclass=&quot;OPEN&quot;&gt;(&lt;/mo&gt;&lt;mtable columnspacing=&quot;1em&quot; rowspacing=&quot;4pt&quot;&gt;&lt;mtr&gt;&lt;mtd&gt;&lt;mo&gt;−&lt;/mo&gt;&lt;mn&gt;5&lt;/mn&gt;&lt;/mtd&gt;&lt;/mtr&gt;&lt;mtr&gt;&lt;mtd&gt;&lt;mn&gt;3&lt;/mn&gt;&lt;/mtd&gt;&lt;/mtr&gt;&lt;/mtable&gt;&lt;mo data-mjx-texclass=&quot;CLOSE&quot;&gt;)&lt;/mo&gt;&lt;/mrow&gt;&lt;/math&gt;" id="1409" name="Google Shape;1409;p103" title="the 2 by 1 column matrix negative 5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7944" y="4025903"/>
            <a:ext cx="852915" cy="7944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5\\&amp;#13;&amp;#10;-3\end{matrix}\right)&quot;&gt;&lt;mrow data-mjx-texclass=&quot;INNER&quot;&gt;&lt;mo data-mjx-texclass=&quot;OPEN&quot;&gt;(&lt;/mo&gt;&lt;mtable columnspacing=&quot;1em&quot; rowspacing=&quot;4pt&quot;&gt;&lt;mtr&gt;&lt;mtd&gt;&lt;mn&gt;5&lt;/mn&gt;&lt;/mtd&gt;&lt;/mtr&gt;&lt;mtr&gt;&lt;mtd&gt;&lt;mo&gt;−&lt;/mo&gt;&lt;mn&gt;3&lt;/mn&gt;&lt;/mtd&gt;&lt;/mtr&gt;&lt;/mtable&gt;&lt;mo data-mjx-texclass=&quot;CLOSE&quot;&gt;)&lt;/mo&gt;&lt;/mrow&gt;&lt;/math&gt;" id="1410" name="Google Shape;1410;p103" title="the 2 by 1 column matrix 5 negative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7932" y="3132996"/>
            <a:ext cx="852915" cy="794497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03"/>
          <p:cNvSpPr txBox="1"/>
          <p:nvPr/>
        </p:nvSpPr>
        <p:spPr>
          <a:xfrm>
            <a:off x="1755600" y="1374300"/>
            <a:ext cx="30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left by 5 and up by 3 units.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03"/>
          <p:cNvSpPr txBox="1"/>
          <p:nvPr/>
        </p:nvSpPr>
        <p:spPr>
          <a:xfrm>
            <a:off x="1755600" y="2330538"/>
            <a:ext cx="30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right by 3 and up by 5 units.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103"/>
          <p:cNvSpPr txBox="1"/>
          <p:nvPr/>
        </p:nvSpPr>
        <p:spPr>
          <a:xfrm>
            <a:off x="1755600" y="4201800"/>
            <a:ext cx="30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right by 5 and down by 3 units.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03"/>
          <p:cNvSpPr txBox="1"/>
          <p:nvPr/>
        </p:nvSpPr>
        <p:spPr>
          <a:xfrm>
            <a:off x="1755600" y="3266175"/>
            <a:ext cx="306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Translated right by 5 and up by 3 units.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5" name="Google Shape;1415;p103"/>
          <p:cNvCxnSpPr>
            <a:stCxn id="1411" idx="3"/>
            <a:endCxn id="1409" idx="1"/>
          </p:cNvCxnSpPr>
          <p:nvPr/>
        </p:nvCxnSpPr>
        <p:spPr>
          <a:xfrm>
            <a:off x="4824000" y="1743750"/>
            <a:ext cx="1434000" cy="2679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103"/>
          <p:cNvCxnSpPr>
            <a:stCxn id="1412" idx="3"/>
            <a:endCxn id="1407" idx="1"/>
          </p:cNvCxnSpPr>
          <p:nvPr/>
        </p:nvCxnSpPr>
        <p:spPr>
          <a:xfrm flipH="1" rot="10800000">
            <a:off x="4824000" y="2637288"/>
            <a:ext cx="1434000" cy="62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7" name="Google Shape;1417;p103"/>
          <p:cNvCxnSpPr>
            <a:stCxn id="1414" idx="3"/>
            <a:endCxn id="1408" idx="1"/>
          </p:cNvCxnSpPr>
          <p:nvPr/>
        </p:nvCxnSpPr>
        <p:spPr>
          <a:xfrm flipH="1" rot="10800000">
            <a:off x="4824000" y="1724625"/>
            <a:ext cx="1434000" cy="1911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8" name="Google Shape;1418;p103"/>
          <p:cNvCxnSpPr>
            <a:stCxn id="1413" idx="3"/>
            <a:endCxn id="1410" idx="1"/>
          </p:cNvCxnSpPr>
          <p:nvPr/>
        </p:nvCxnSpPr>
        <p:spPr>
          <a:xfrm flipH="1" rot="10800000">
            <a:off x="4824000" y="3530250"/>
            <a:ext cx="1434000" cy="1041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Write a description using a column </a:t>
            </a:r>
            <a:r>
              <a:rPr b="1" lang="en-GB"/>
              <a:t>vector</a:t>
            </a:r>
            <a:r>
              <a:rPr lang="en-GB"/>
              <a:t> for each translation.</a:t>
            </a:r>
            <a:br>
              <a:rPr lang="en-GB"/>
            </a:br>
            <a:endParaRPr/>
          </a:p>
        </p:txBody>
      </p:sp>
      <p:sp>
        <p:nvSpPr>
          <p:cNvPr id="1424" name="Google Shape;1424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sp>
        <p:nvSpPr>
          <p:cNvPr id="1425" name="Google Shape;1425;p104"/>
          <p:cNvSpPr txBox="1"/>
          <p:nvPr/>
        </p:nvSpPr>
        <p:spPr>
          <a:xfrm>
            <a:off x="4571994" y="14910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6" name="Google Shape;1426;p104"/>
          <p:cNvPicPr preferRelativeResize="0"/>
          <p:nvPr/>
        </p:nvPicPr>
        <p:blipFill rotWithShape="1">
          <a:blip r:embed="rId3">
            <a:alphaModFix/>
          </a:blip>
          <a:srcRect b="27436" l="63149" r="0" t="0"/>
          <a:stretch/>
        </p:blipFill>
        <p:spPr>
          <a:xfrm>
            <a:off x="1339650" y="1618575"/>
            <a:ext cx="2765102" cy="25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104"/>
          <p:cNvPicPr preferRelativeResize="0"/>
          <p:nvPr/>
        </p:nvPicPr>
        <p:blipFill rotWithShape="1">
          <a:blip r:embed="rId4">
            <a:alphaModFix/>
          </a:blip>
          <a:srcRect b="27140" l="62883" r="0" t="0"/>
          <a:stretch/>
        </p:blipFill>
        <p:spPr>
          <a:xfrm>
            <a:off x="5172150" y="1618575"/>
            <a:ext cx="2773801" cy="255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04"/>
          <p:cNvSpPr txBox="1"/>
          <p:nvPr/>
        </p:nvSpPr>
        <p:spPr>
          <a:xfrm>
            <a:off x="2887200" y="1805250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104"/>
          <p:cNvSpPr txBox="1"/>
          <p:nvPr/>
        </p:nvSpPr>
        <p:spPr>
          <a:xfrm>
            <a:off x="1979687" y="2266957"/>
            <a:ext cx="3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04"/>
          <p:cNvSpPr txBox="1"/>
          <p:nvPr/>
        </p:nvSpPr>
        <p:spPr>
          <a:xfrm>
            <a:off x="5814600" y="3009138"/>
            <a:ext cx="3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04"/>
          <p:cNvSpPr txBox="1"/>
          <p:nvPr/>
        </p:nvSpPr>
        <p:spPr>
          <a:xfrm>
            <a:off x="6722071" y="3231300"/>
            <a:ext cx="53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04"/>
          <p:cNvSpPr txBox="1"/>
          <p:nvPr/>
        </p:nvSpPr>
        <p:spPr>
          <a:xfrm>
            <a:off x="1382100" y="4269300"/>
            <a:ext cx="410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3" name="Google Shape;1433;p104"/>
          <p:cNvSpPr txBox="1"/>
          <p:nvPr/>
        </p:nvSpPr>
        <p:spPr>
          <a:xfrm>
            <a:off x="5357400" y="4269300"/>
            <a:ext cx="410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begin{matrix}-4\\&amp;#13;&amp;#10;-2\end{matrix}\right)&quot;&gt;&lt;mrow data-mjx-texclass=&quot;INNER&quot;&gt;&lt;mo data-mjx-texclass=&quot;OPEN&quot;&gt;(&lt;/mo&gt;&lt;mtable columnspacing=&quot;1em&quot; rowspacing=&quot;4pt&quot;&gt;&lt;mtr&gt;&lt;mtd&gt;&lt;mo&gt;−&lt;/mo&gt;&lt;mn&gt;4&lt;/mn&gt;&lt;/mtd&gt;&lt;/mtr&gt;&lt;mtr&gt;&lt;mtd&gt;&lt;mo&gt;−&lt;/mo&gt;&lt;mn&gt;2&lt;/mn&gt;&lt;/mtd&gt;&lt;/mtr&gt;&lt;/mtable&gt;&lt;mo data-mjx-texclass=&quot;CLOSE&quot;&gt;)&lt;/mo&gt;&lt;/mrow&gt;&lt;/math&gt;" id="1434" name="Google Shape;1434;p104" title="the 2 by 1 column matrix negative 4 negative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4649" y="4230600"/>
            <a:ext cx="611900" cy="5699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4\\&amp;#13;&amp;#10;-1\end{matrix}\right)&quot;&gt;&lt;mrow data-mjx-texclass=&quot;INNER&quot;&gt;&lt;mo data-mjx-texclass=&quot;OPEN&quot;&gt;(&lt;/mo&gt;&lt;mtable columnspacing=&quot;1em&quot; rowspacing=&quot;4pt&quot;&gt;&lt;mtr&gt;&lt;mtd&gt;&lt;mn&gt;4&lt;/mn&gt;&lt;/mtd&gt;&lt;/mtr&gt;&lt;mtr&gt;&lt;mtd&gt;&lt;mo&gt;−&lt;/mo&gt;&lt;mn&gt;1&lt;/mn&gt;&lt;/mtd&gt;&lt;/mtr&gt;&lt;/mtable&gt;&lt;mo data-mjx-texclass=&quot;CLOSE&quot;&gt;)&lt;/mo&gt;&lt;/mrow&gt;&lt;/math&gt;" id="1435" name="Google Shape;1435;p104" title="the 2 by 1 column matrix 4 negative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9574" y="4230600"/>
            <a:ext cx="611900" cy="5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04"/>
          <p:cNvSpPr txBox="1"/>
          <p:nvPr/>
        </p:nvSpPr>
        <p:spPr>
          <a:xfrm>
            <a:off x="637869" y="1466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/>
              <a:t>Given the coordinates of the object and image, describe the translation.</a:t>
            </a:r>
            <a:br>
              <a:rPr lang="en-GB"/>
            </a:br>
            <a:endParaRPr sz="2100"/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Vector notation</a:t>
            </a:r>
            <a:endParaRPr/>
          </a:p>
        </p:txBody>
      </p:sp>
      <p:grpSp>
        <p:nvGrpSpPr>
          <p:cNvPr id="1443" name="Google Shape;1443;p105"/>
          <p:cNvGrpSpPr/>
          <p:nvPr/>
        </p:nvGrpSpPr>
        <p:grpSpPr>
          <a:xfrm>
            <a:off x="1150800" y="1804800"/>
            <a:ext cx="3720300" cy="1986300"/>
            <a:chOff x="2827200" y="1576200"/>
            <a:chExt cx="3720300" cy="1986300"/>
          </a:xfrm>
        </p:grpSpPr>
        <p:sp>
          <p:nvSpPr>
            <p:cNvPr id="1444" name="Google Shape;1444;p105"/>
            <p:cNvSpPr txBox="1"/>
            <p:nvPr/>
          </p:nvSpPr>
          <p:spPr>
            <a:xfrm>
              <a:off x="2827200" y="1576200"/>
              <a:ext cx="1935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Object coordinate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5" name="Google Shape;1445;p105"/>
            <p:cNvSpPr txBox="1"/>
            <p:nvPr/>
          </p:nvSpPr>
          <p:spPr>
            <a:xfrm>
              <a:off x="4381200" y="1576200"/>
              <a:ext cx="1935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Image coordinate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6" name="Google Shape;1446;p105"/>
            <p:cNvSpPr txBox="1"/>
            <p:nvPr/>
          </p:nvSpPr>
          <p:spPr>
            <a:xfrm>
              <a:off x="3164700" y="2283600"/>
              <a:ext cx="193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(-2, 2)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105"/>
            <p:cNvSpPr txBox="1"/>
            <p:nvPr/>
          </p:nvSpPr>
          <p:spPr>
            <a:xfrm>
              <a:off x="3164700" y="2667300"/>
              <a:ext cx="1129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(-2, -2)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105"/>
            <p:cNvSpPr txBox="1"/>
            <p:nvPr/>
          </p:nvSpPr>
          <p:spPr>
            <a:xfrm>
              <a:off x="3164700" y="30699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(1, -2)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9" name="Google Shape;1449;p105"/>
            <p:cNvSpPr txBox="1"/>
            <p:nvPr/>
          </p:nvSpPr>
          <p:spPr>
            <a:xfrm>
              <a:off x="4612500" y="2283600"/>
              <a:ext cx="193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(3, 1)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0" name="Google Shape;1450;p105"/>
            <p:cNvSpPr txBox="1"/>
            <p:nvPr/>
          </p:nvSpPr>
          <p:spPr>
            <a:xfrm>
              <a:off x="4612500" y="2667300"/>
              <a:ext cx="1263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(3, -3)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105"/>
            <p:cNvSpPr txBox="1"/>
            <p:nvPr/>
          </p:nvSpPr>
          <p:spPr>
            <a:xfrm>
              <a:off x="4612500" y="30699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(6, -3)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2" name="Google Shape;1452;p105"/>
          <p:cNvGrpSpPr/>
          <p:nvPr/>
        </p:nvGrpSpPr>
        <p:grpSpPr>
          <a:xfrm>
            <a:off x="5189400" y="1804800"/>
            <a:ext cx="3720300" cy="1986300"/>
            <a:chOff x="2827200" y="1576200"/>
            <a:chExt cx="3720300" cy="1986300"/>
          </a:xfrm>
        </p:grpSpPr>
        <p:sp>
          <p:nvSpPr>
            <p:cNvPr id="1453" name="Google Shape;1453;p105"/>
            <p:cNvSpPr txBox="1"/>
            <p:nvPr/>
          </p:nvSpPr>
          <p:spPr>
            <a:xfrm>
              <a:off x="2827200" y="1576200"/>
              <a:ext cx="1935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Object coordinate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4" name="Google Shape;1454;p105"/>
            <p:cNvSpPr txBox="1"/>
            <p:nvPr/>
          </p:nvSpPr>
          <p:spPr>
            <a:xfrm>
              <a:off x="4381200" y="1576200"/>
              <a:ext cx="1935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Image coordinate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5" name="Google Shape;1455;p105"/>
            <p:cNvSpPr txBox="1"/>
            <p:nvPr/>
          </p:nvSpPr>
          <p:spPr>
            <a:xfrm>
              <a:off x="3164700" y="2283600"/>
              <a:ext cx="193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(2, 6)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6" name="Google Shape;1456;p105"/>
            <p:cNvSpPr txBox="1"/>
            <p:nvPr/>
          </p:nvSpPr>
          <p:spPr>
            <a:xfrm>
              <a:off x="3164700" y="26673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(4, 3)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7" name="Google Shape;1457;p105"/>
            <p:cNvSpPr txBox="1"/>
            <p:nvPr/>
          </p:nvSpPr>
          <p:spPr>
            <a:xfrm>
              <a:off x="3164700" y="30699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(5, 6)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8" name="Google Shape;1458;p105"/>
            <p:cNvSpPr txBox="1"/>
            <p:nvPr/>
          </p:nvSpPr>
          <p:spPr>
            <a:xfrm>
              <a:off x="4612500" y="2283600"/>
              <a:ext cx="193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(-1, 8)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9" name="Google Shape;1459;p105"/>
            <p:cNvSpPr txBox="1"/>
            <p:nvPr/>
          </p:nvSpPr>
          <p:spPr>
            <a:xfrm>
              <a:off x="4612500" y="2667300"/>
              <a:ext cx="1263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(1, 5)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0" name="Google Shape;1460;p105"/>
            <p:cNvSpPr txBox="1"/>
            <p:nvPr/>
          </p:nvSpPr>
          <p:spPr>
            <a:xfrm>
              <a:off x="4612500" y="3069900"/>
              <a:ext cx="890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(2, 8)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1" name="Google Shape;1461;p105"/>
          <p:cNvSpPr txBox="1"/>
          <p:nvPr/>
        </p:nvSpPr>
        <p:spPr>
          <a:xfrm>
            <a:off x="4687144" y="1808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05"/>
          <p:cNvSpPr txBox="1"/>
          <p:nvPr/>
        </p:nvSpPr>
        <p:spPr>
          <a:xfrm>
            <a:off x="1150800" y="4191600"/>
            <a:ext cx="410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3" name="Google Shape;1463;p105"/>
          <p:cNvSpPr txBox="1"/>
          <p:nvPr/>
        </p:nvSpPr>
        <p:spPr>
          <a:xfrm>
            <a:off x="5143200" y="4191600"/>
            <a:ext cx="410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Translated by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64" name="Google Shape;146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200" y="4152925"/>
            <a:ext cx="611900" cy="569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begin{matrix}-3\\&amp;#13;&amp;#10;2\end{matrix}\right)&quot;&gt;&lt;mrow data-mjx-texclass=&quot;INNER&quot;&gt;&lt;mo data-mjx-texclass=&quot;OPEN&quot;&gt;(&lt;/mo&gt;&lt;mtable columnspacing=&quot;1em&quot; rowspacing=&quot;4pt&quot;&gt;&lt;mtr&gt;&lt;mtd&gt;&lt;mo&gt;−&lt;/mo&gt;&lt;mn&gt;3&lt;/mn&gt;&lt;/mtd&gt;&lt;/mtr&gt;&lt;mtr&gt;&lt;mtd&gt;&lt;mn&gt;2&lt;/mn&gt;&lt;/mtd&gt;&lt;/mtr&gt;&lt;/mtable&gt;&lt;mo data-mjx-texclass=&quot;CLOSE&quot;&gt;)&lt;/mo&gt;&lt;/mrow&gt;&lt;/math&gt;" id="1465" name="Google Shape;1465;p105" title="the 2 by 1 column matrix negative 3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603" y="4152913"/>
            <a:ext cx="611900" cy="569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05"/>
          <p:cNvSpPr txBox="1"/>
          <p:nvPr/>
        </p:nvSpPr>
        <p:spPr>
          <a:xfrm>
            <a:off x="616494" y="1808169"/>
            <a:ext cx="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0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describe a translation, you must give both direction and distance from the start. This is known as </a:t>
            </a:r>
            <a:r>
              <a:rPr b="1" lang="en-GB"/>
              <a:t>displacement</a:t>
            </a:r>
            <a:r>
              <a:rPr lang="en-GB"/>
              <a:t>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 column </a:t>
            </a:r>
            <a:r>
              <a:rPr b="1" lang="en-GB"/>
              <a:t>vector</a:t>
            </a:r>
            <a:r>
              <a:rPr lang="en-GB"/>
              <a:t> is a </a:t>
            </a:r>
            <a:r>
              <a:rPr lang="en-GB"/>
              <a:t>succinct</a:t>
            </a:r>
            <a:r>
              <a:rPr lang="en-GB"/>
              <a:t> way to describe a translation.</a:t>
            </a:r>
            <a:endParaRPr/>
          </a:p>
        </p:txBody>
      </p:sp>
      <p:sp>
        <p:nvSpPr>
          <p:cNvPr id="1472" name="Google Shape;1472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a translation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78" name="Google Shape;1478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