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/>
  <p:notesSz cx="6858000" cy="9144000"/>
  <p:embeddedFontLst>
    <p:embeddedFont>
      <p:font typeface="Lexend" panose="00000000000000000000"/>
      <p:regular r:id="rId37"/>
    </p:embeddedFont>
    <p:embeddedFont>
      <p:font typeface="Lexend Medium" panose="00000000000000000000"/>
      <p:regular r:id="rId38"/>
    </p:embeddedFont>
    <p:embeddedFont>
      <p:font typeface="Kalam" panose="02000000000000000000"/>
      <p:regular r:id="rId39"/>
    </p:embeddedFont>
    <p:embeddedFont>
      <p:font typeface="Lexend Light" panose="00000000000000000000"/>
      <p:regular r:id="rId40"/>
    </p:embeddedFont>
  </p:embeddedFontLst>
  <p:custDataLst>
    <p:tags r:id="rId3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tags" Target="tags/tag1.xml" /><Relationship Id="rId37" Type="http://schemas.openxmlformats.org/officeDocument/2006/relationships/font" Target="fonts/font1.fntdata" /><Relationship Id="rId38" Type="http://schemas.openxmlformats.org/officeDocument/2006/relationships/font" Target="fonts/font2.fntdata" /><Relationship Id="rId39" Type="http://schemas.openxmlformats.org/officeDocument/2006/relationships/font" Target="fonts/font3.fntdata" /><Relationship Id="rId4" Type="http://schemas.openxmlformats.org/officeDocument/2006/relationships/slide" Target="slides/slide2.xml" /><Relationship Id="rId40" Type="http://schemas.openxmlformats.org/officeDocument/2006/relationships/font" Target="fonts/font4.fntdata" /><Relationship Id="rId41" Type="http://schemas.openxmlformats.org/officeDocument/2006/relationships/presProps" Target="presProps.xml" /><Relationship Id="rId42" Type="http://schemas.openxmlformats.org/officeDocument/2006/relationships/viewProps" Target="viewProps.xml" /><Relationship Id="rId43" Type="http://schemas.openxmlformats.org/officeDocument/2006/relationships/theme" Target="theme/theme1.xml" /><Relationship Id="rId44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202244c50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202244c50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g28202244c50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8202244c50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6" name="Shape 776"/>
        <p:cNvGrpSpPr/>
        <p:nvPr/>
      </p:nvGrpSpPr>
      <p:grpSpPr>
        <a:xfrm>
          <a:off x="0" y="0"/>
          <a:ext cx="0" cy="0"/>
        </a:xfrm>
      </p:grpSpPr>
      <p:sp>
        <p:nvSpPr>
          <p:cNvPr id="777" name="Google Shape;777;g283b557155f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3b557155f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9" name="Shape 799"/>
        <p:cNvGrpSpPr/>
        <p:nvPr/>
      </p:nvGrpSpPr>
      <p:grpSpPr>
        <a:xfrm>
          <a:off x="0" y="0"/>
          <a:ext cx="0" cy="0"/>
        </a:xfrm>
      </p:grpSpPr>
      <p:sp>
        <p:nvSpPr>
          <p:cNvPr id="800" name="Google Shape;800;g28202244c50_0_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8202244c50_0_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sp>
        <p:nvSpPr>
          <p:cNvPr id="820" name="Google Shape;820;g28202244c50_0_1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8202244c50_0_1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5" name="Shape 835"/>
        <p:cNvGrpSpPr/>
        <p:nvPr/>
      </p:nvGrpSpPr>
      <p:grpSpPr>
        <a:xfrm>
          <a:off x="0" y="0"/>
          <a:ext cx="0" cy="0"/>
        </a:xfrm>
      </p:grpSpPr>
      <p:sp>
        <p:nvSpPr>
          <p:cNvPr id="836" name="Google Shape;836;g28202244c50_0_2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8202244c50_0_2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g28202244c50_0_1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8202244c50_0_1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sp>
        <p:nvSpPr>
          <p:cNvPr id="862" name="Google Shape;862;g28202244c50_0_1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202244c50_0_1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g28222419ff9_0_7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8222419ff9_0_7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7" name="Shape 887"/>
        <p:cNvGrpSpPr/>
        <p:nvPr/>
      </p:nvGrpSpPr>
      <p:grpSpPr>
        <a:xfrm>
          <a:off x="0" y="0"/>
          <a:ext cx="0" cy="0"/>
        </a:xfrm>
      </p:grpSpPr>
      <p:sp>
        <p:nvSpPr>
          <p:cNvPr id="888" name="Google Shape;888;g28222419ff9_0_7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8222419ff9_0_7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g28222419ff9_0_7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8222419ff9_0_7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g28222419ff9_0_7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8222419ff9_0_7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g28202244c50_0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8202244c50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4" name="Shape 934"/>
        <p:cNvGrpSpPr/>
        <p:nvPr/>
      </p:nvGrpSpPr>
      <p:grpSpPr>
        <a:xfrm>
          <a:off x="0" y="0"/>
          <a:ext cx="0" cy="0"/>
        </a:xfrm>
      </p:grpSpPr>
      <p:sp>
        <p:nvSpPr>
          <p:cNvPr id="935" name="Google Shape;935;g28202244c50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8202244c50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g28219467821_0_16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8219467821_0_16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2" name="Shape 982"/>
        <p:cNvGrpSpPr/>
        <p:nvPr/>
      </p:nvGrpSpPr>
      <p:grpSpPr>
        <a:xfrm>
          <a:off x="0" y="0"/>
          <a:ext cx="0" cy="0"/>
        </a:xfrm>
      </p:grpSpPr>
      <p:sp>
        <p:nvSpPr>
          <p:cNvPr id="983" name="Google Shape;983;g28219467821_0_19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8219467821_0_19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8" name="Shape 1008"/>
        <p:cNvGrpSpPr/>
        <p:nvPr/>
      </p:nvGrpSpPr>
      <p:grpSpPr>
        <a:xfrm>
          <a:off x="0" y="0"/>
          <a:ext cx="0" cy="0"/>
        </a:xfrm>
      </p:grpSpPr>
      <p:sp>
        <p:nvSpPr>
          <p:cNvPr id="1009" name="Google Shape;1009;g28219467821_0_18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8219467821_0_18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sp>
        <p:nvSpPr>
          <p:cNvPr id="1035" name="Google Shape;1035;g28222419ff9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8222419ff9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0" name="Shape 1060"/>
        <p:cNvGrpSpPr/>
        <p:nvPr/>
      </p:nvGrpSpPr>
      <p:grpSpPr>
        <a:xfrm>
          <a:off x="0" y="0"/>
          <a:ext cx="0" cy="0"/>
        </a:xfrm>
      </p:grpSpPr>
      <p:sp>
        <p:nvSpPr>
          <p:cNvPr id="1061" name="Google Shape;1061;g28219467821_0_19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8219467821_0_19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3" name="Shape 1093"/>
        <p:cNvGrpSpPr/>
        <p:nvPr/>
      </p:nvGrpSpPr>
      <p:grpSpPr>
        <a:xfrm>
          <a:off x="0" y="0"/>
          <a:ext cx="0" cy="0"/>
        </a:xfrm>
      </p:grpSpPr>
      <p:sp>
        <p:nvSpPr>
          <p:cNvPr id="1094" name="Google Shape;1094;g28219467821_0_21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8219467821_0_2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4" name="Shape 1124"/>
        <p:cNvGrpSpPr/>
        <p:nvPr/>
      </p:nvGrpSpPr>
      <p:grpSpPr>
        <a:xfrm>
          <a:off x="0" y="0"/>
          <a:ext cx="0" cy="0"/>
        </a:xfrm>
      </p:grpSpPr>
      <p:sp>
        <p:nvSpPr>
          <p:cNvPr id="1125" name="Google Shape;1125;g28222419ff9_0_1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8222419ff9_0_1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g28222419ff9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8222419ff9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6" name="Shape 1216"/>
        <p:cNvGrpSpPr/>
        <p:nvPr/>
      </p:nvGrpSpPr>
      <p:grpSpPr>
        <a:xfrm>
          <a:off x="0" y="0"/>
          <a:ext cx="0" cy="0"/>
        </a:xfrm>
      </p:grpSpPr>
      <p:sp>
        <p:nvSpPr>
          <p:cNvPr id="1217" name="Google Shape;1217;g28222419ff9_0_2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8222419ff9_0_2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1" name="Shape 1241"/>
        <p:cNvGrpSpPr/>
        <p:nvPr/>
      </p:nvGrpSpPr>
      <p:grpSpPr>
        <a:xfrm>
          <a:off x="0" y="0"/>
          <a:ext cx="0" cy="0"/>
        </a:xfrm>
      </p:grpSpPr>
      <p:sp>
        <p:nvSpPr>
          <p:cNvPr id="1242" name="Google Shape;1242;g28222419ff9_0_2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8222419ff9_0_2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0" name="Shape 1270"/>
        <p:cNvGrpSpPr/>
        <p:nvPr/>
      </p:nvGrpSpPr>
      <p:grpSpPr>
        <a:xfrm>
          <a:off x="0" y="0"/>
          <a:ext cx="0" cy="0"/>
        </a:xfrm>
      </p:grpSpPr>
      <p:sp>
        <p:nvSpPr>
          <p:cNvPr id="1271" name="Google Shape;1271;g28222419ff9_0_5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8222419ff9_0_5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5" name="Shape 1305"/>
        <p:cNvGrpSpPr/>
        <p:nvPr/>
      </p:nvGrpSpPr>
      <p:grpSpPr>
        <a:xfrm>
          <a:off x="0" y="0"/>
          <a:ext cx="0" cy="0"/>
        </a:xfrm>
      </p:grpSpPr>
      <p:sp>
        <p:nvSpPr>
          <p:cNvPr id="1306" name="Google Shape;1306;g28222419ff9_0_6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8222419ff9_0_6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7" name="Shape 1327"/>
        <p:cNvGrpSpPr/>
        <p:nvPr/>
      </p:nvGrpSpPr>
      <p:grpSpPr>
        <a:xfrm>
          <a:off x="0" y="0"/>
          <a:ext cx="0" cy="0"/>
        </a:xfrm>
      </p:grpSpPr>
      <p:sp>
        <p:nvSpPr>
          <p:cNvPr id="1328" name="Google Shape;1328;g28222419ff9_0_7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8222419ff9_0_7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sp>
        <p:nvSpPr>
          <p:cNvPr id="1366" name="Google Shape;1366;g28222419ff9_0_8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8222419ff9_0_8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5" name="Shape 1395"/>
        <p:cNvGrpSpPr/>
        <p:nvPr/>
      </p:nvGrpSpPr>
      <p:grpSpPr>
        <a:xfrm>
          <a:off x="0" y="0"/>
          <a:ext cx="0" cy="0"/>
        </a:xfrm>
      </p:grpSpPr>
      <p:sp>
        <p:nvSpPr>
          <p:cNvPr id="1396" name="Google Shape;1396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1" name="Shape 1401"/>
        <p:cNvGrpSpPr/>
        <p:nvPr/>
      </p:nvGrpSpPr>
      <p:grpSpPr>
        <a:xfrm>
          <a:off x="0" y="0"/>
          <a:ext cx="0" cy="0"/>
        </a:xfrm>
      </p:grpSpPr>
      <p:sp>
        <p:nvSpPr>
          <p:cNvPr id="1402" name="Google Shape;1402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3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4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9.png" /><Relationship Id="rId4" Type="http://schemas.openxmlformats.org/officeDocument/2006/relationships/image" Target="../media/image44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0.png" /><Relationship Id="rId4" Type="http://schemas.openxmlformats.org/officeDocument/2006/relationships/image" Target="../media/image44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the nature of enlargements and appreciate what changes and what is invariant.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Enlargement</a:t>
            </a:r>
            <a:r>
              <a:rPr lang="en-GB"/>
              <a:t> </a:t>
            </a:r>
            <a:r>
              <a:rPr lang="en-GB" b="0"/>
              <a:t>is a transformation that causes a change of size.</a:t>
            </a:r>
            <a:endParaRPr b="0"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0" y="2238725"/>
            <a:ext cx="8496000" cy="82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Two shapes are </a:t>
            </a:r>
            <a:r>
              <a:rPr lang="en-GB" b="1"/>
              <a:t>similar</a:t>
            </a:r>
            <a:r>
              <a:rPr lang="en-GB"/>
              <a:t> </a:t>
            </a:r>
            <a:r>
              <a:rPr lang="en-GB" b="0"/>
              <a:t>if </a:t>
            </a:r>
            <a:r>
              <a:rPr lang="en-GB"/>
              <a:t>the only difference between them is their size</a:t>
            </a:r>
            <a:r>
              <a:rPr lang="en-GB" b="0"/>
              <a:t>. </a:t>
            </a:r>
            <a:r>
              <a:rPr lang="en-GB" sz="2100"/>
              <a:t>Their side lengths are in the same proportions.</a:t>
            </a:r>
            <a:endParaRPr b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p69"/>
          <p:cNvSpPr txBox="1"/>
          <p:nvPr>
            <p:ph type="body" idx="1"/>
          </p:nvPr>
        </p:nvSpPr>
        <p:spPr>
          <a:xfrm>
            <a:off x="324000" y="759300"/>
            <a:ext cx="8237700" cy="76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>
                <a:solidFill>
                  <a:srgbClr val="282828"/>
                </a:solidFill>
              </a:rPr>
              <a:t>Enlargement</a:t>
            </a:r>
            <a:r>
              <a:rPr lang="en-GB" sz="2000">
                <a:solidFill>
                  <a:srgbClr val="282828"/>
                </a:solidFill>
              </a:rPr>
              <a:t> is a transformation that causes a change of size. </a:t>
            </a:r>
            <a:endParaRPr sz="2000"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782" name="Google Shape;782;p69"/>
          <p:cNvSpPr/>
          <p:nvPr/>
        </p:nvSpPr>
        <p:spPr>
          <a:xfrm>
            <a:off x="1714444" y="2700000"/>
            <a:ext cx="1202400" cy="5400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3" name="Google Shape;783;p69"/>
          <p:cNvSpPr/>
          <p:nvPr/>
        </p:nvSpPr>
        <p:spPr>
          <a:xfrm>
            <a:off x="1714444" y="4235875"/>
            <a:ext cx="1202400" cy="540000"/>
          </a:xfrm>
          <a:prstGeom prst="rect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4" name="Google Shape;784;p69"/>
          <p:cNvSpPr/>
          <p:nvPr/>
        </p:nvSpPr>
        <p:spPr>
          <a:xfrm>
            <a:off x="5051456" y="2435900"/>
            <a:ext cx="2378100" cy="10680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5" name="Google Shape;785;p69"/>
          <p:cNvSpPr/>
          <p:nvPr/>
        </p:nvSpPr>
        <p:spPr>
          <a:xfrm>
            <a:off x="5054164" y="4404261"/>
            <a:ext cx="452400" cy="2031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786" name="Google Shape;786;p69"/>
          <p:cNvCxnSpPr/>
          <p:nvPr/>
        </p:nvCxnSpPr>
        <p:spPr>
          <a:xfrm>
            <a:off x="3155774" y="2970000"/>
            <a:ext cx="172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7" name="Google Shape;787;p69"/>
          <p:cNvCxnSpPr/>
          <p:nvPr/>
        </p:nvCxnSpPr>
        <p:spPr>
          <a:xfrm>
            <a:off x="3141450" y="4505875"/>
            <a:ext cx="172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8" name="Google Shape;788;p69"/>
          <p:cNvSpPr txBox="1"/>
          <p:nvPr>
            <p:ph type="title" idx="4294967295"/>
          </p:nvPr>
        </p:nvSpPr>
        <p:spPr>
          <a:xfrm>
            <a:off x="321411" y="2395200"/>
            <a:ext cx="7494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0"/>
              <a:t>object</a:t>
            </a:r>
            <a:endParaRPr sz="1800" b="0"/>
          </a:p>
        </p:txBody>
      </p:sp>
      <p:sp>
        <p:nvSpPr>
          <p:cNvPr id="789" name="Google Shape;789;p69"/>
          <p:cNvSpPr txBox="1"/>
          <p:nvPr>
            <p:ph type="title" idx="4294967295"/>
          </p:nvPr>
        </p:nvSpPr>
        <p:spPr>
          <a:xfrm>
            <a:off x="8100600" y="2395200"/>
            <a:ext cx="9945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0"/>
              <a:t>image</a:t>
            </a:r>
            <a:endParaRPr sz="1800" b="0"/>
          </a:p>
        </p:txBody>
      </p:sp>
      <p:cxnSp>
        <p:nvCxnSpPr>
          <p:cNvPr id="790" name="Google Shape;790;p69"/>
          <p:cNvCxnSpPr>
            <a:stCxn id="788" idx="3"/>
          </p:cNvCxnSpPr>
          <p:nvPr/>
        </p:nvCxnSpPr>
        <p:spPr>
          <a:xfrm>
            <a:off x="1070811" y="2640000"/>
            <a:ext cx="405000" cy="145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69"/>
          <p:cNvCxnSpPr/>
          <p:nvPr/>
        </p:nvCxnSpPr>
        <p:spPr>
          <a:xfrm rot="10800000" flipH="1">
            <a:off x="7646925" y="2580000"/>
            <a:ext cx="409500" cy="205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2" name="Google Shape;792;p69"/>
          <p:cNvSpPr txBox="1"/>
          <p:nvPr>
            <p:ph type="body" idx="1"/>
          </p:nvPr>
        </p:nvSpPr>
        <p:spPr>
          <a:xfrm>
            <a:off x="324000" y="1426176"/>
            <a:ext cx="8237700" cy="44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change in size could be a stretch or a shrink.</a:t>
            </a:r>
            <a:endParaRPr sz="2000"/>
          </a:p>
        </p:txBody>
      </p:sp>
      <p:sp>
        <p:nvSpPr>
          <p:cNvPr id="793" name="Google Shape;793;p69"/>
          <p:cNvSpPr txBox="1"/>
          <p:nvPr>
            <p:ph type="title" idx="4294967295"/>
          </p:nvPr>
        </p:nvSpPr>
        <p:spPr>
          <a:xfrm>
            <a:off x="3225058" y="2700432"/>
            <a:ext cx="13731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enlargement</a:t>
            </a:r>
            <a:endParaRPr sz="1600"/>
          </a:p>
        </p:txBody>
      </p:sp>
      <p:sp>
        <p:nvSpPr>
          <p:cNvPr id="794" name="Google Shape;794;p69"/>
          <p:cNvSpPr txBox="1"/>
          <p:nvPr>
            <p:ph type="title" idx="4294967295"/>
          </p:nvPr>
        </p:nvSpPr>
        <p:spPr>
          <a:xfrm>
            <a:off x="3225058" y="4237048"/>
            <a:ext cx="13731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enlargement</a:t>
            </a:r>
            <a:endParaRPr sz="1600"/>
          </a:p>
        </p:txBody>
      </p:sp>
      <p:sp>
        <p:nvSpPr>
          <p:cNvPr id="795" name="Google Shape;795;p69"/>
          <p:cNvSpPr txBox="1"/>
          <p:nvPr>
            <p:ph type="title" idx="4294967295"/>
          </p:nvPr>
        </p:nvSpPr>
        <p:spPr>
          <a:xfrm>
            <a:off x="6119400" y="3995400"/>
            <a:ext cx="9945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0"/>
              <a:t>image</a:t>
            </a:r>
            <a:endParaRPr sz="1800" b="0"/>
          </a:p>
        </p:txBody>
      </p:sp>
      <p:cxnSp>
        <p:nvCxnSpPr>
          <p:cNvPr id="796" name="Google Shape;796;p69"/>
          <p:cNvCxnSpPr/>
          <p:nvPr/>
        </p:nvCxnSpPr>
        <p:spPr>
          <a:xfrm rot="10800000" flipH="1">
            <a:off x="5665725" y="4180200"/>
            <a:ext cx="409500" cy="205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7" name="Google Shape;797;p69"/>
          <p:cNvSpPr txBox="1"/>
          <p:nvPr>
            <p:ph type="title" idx="4294967295"/>
          </p:nvPr>
        </p:nvSpPr>
        <p:spPr>
          <a:xfrm>
            <a:off x="321411" y="3995400"/>
            <a:ext cx="7494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0"/>
              <a:t>object</a:t>
            </a:r>
            <a:endParaRPr sz="1800" b="0"/>
          </a:p>
        </p:txBody>
      </p:sp>
      <p:cxnSp>
        <p:nvCxnSpPr>
          <p:cNvPr id="798" name="Google Shape;798;p69"/>
          <p:cNvCxnSpPr>
            <a:stCxn id="797" idx="3"/>
          </p:cNvCxnSpPr>
          <p:nvPr/>
        </p:nvCxnSpPr>
        <p:spPr>
          <a:xfrm>
            <a:off x="1070811" y="4240200"/>
            <a:ext cx="405000" cy="145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2" name="Shape 802"/>
        <p:cNvGrpSpPr/>
        <p:nvPr/>
      </p:nvGrpSpPr>
      <p:grpSpPr>
        <a:xfrm>
          <a:off x="0" y="0"/>
          <a:ext cx="0" cy="0"/>
        </a:xfrm>
      </p:grpSpPr>
      <p:sp>
        <p:nvSpPr>
          <p:cNvPr id="803" name="Google Shape;803;p70"/>
          <p:cNvSpPr txBox="1"/>
          <p:nvPr>
            <p:ph type="body" idx="1"/>
          </p:nvPr>
        </p:nvSpPr>
        <p:spPr>
          <a:xfrm>
            <a:off x="324000" y="759300"/>
            <a:ext cx="8237700" cy="51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282828"/>
                </a:solidFill>
              </a:rPr>
              <a:t>Enlarging</a:t>
            </a:r>
            <a:r>
              <a:rPr lang="en-GB">
                <a:solidFill>
                  <a:srgbClr val="282828"/>
                </a:solidFill>
              </a:rPr>
              <a:t> a shape does not affect the size of the angles.</a:t>
            </a:r>
            <a:endParaRPr>
              <a:solidFill>
                <a:srgbClr val="282828"/>
              </a:solidFill>
            </a:endParaRPr>
          </a:p>
        </p:txBody>
      </p:sp>
      <p:sp>
        <p:nvSpPr>
          <p:cNvPr id="804" name="Google Shape;80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05" name="Google Shape;805;p70"/>
          <p:cNvSpPr txBox="1"/>
          <p:nvPr>
            <p:ph type="body" idx="1"/>
          </p:nvPr>
        </p:nvSpPr>
        <p:spPr>
          <a:xfrm>
            <a:off x="2802331" y="2272388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30°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06" name="Google Shape;806;p70"/>
          <p:cNvSpPr txBox="1"/>
          <p:nvPr>
            <p:ph type="body" idx="1"/>
          </p:nvPr>
        </p:nvSpPr>
        <p:spPr>
          <a:xfrm>
            <a:off x="1816189" y="2840027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60°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07" name="Google Shape;807;p70"/>
          <p:cNvSpPr txBox="1"/>
          <p:nvPr>
            <p:ph type="body" idx="1"/>
          </p:nvPr>
        </p:nvSpPr>
        <p:spPr>
          <a:xfrm>
            <a:off x="6641617" y="2279085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30°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08" name="Google Shape;808;p70"/>
          <p:cNvSpPr txBox="1"/>
          <p:nvPr>
            <p:ph type="body" idx="1"/>
          </p:nvPr>
        </p:nvSpPr>
        <p:spPr>
          <a:xfrm>
            <a:off x="4675145" y="3387502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60°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09" name="Google Shape;809;p70"/>
          <p:cNvSpPr txBox="1"/>
          <p:nvPr>
            <p:ph type="body" idx="1"/>
          </p:nvPr>
        </p:nvSpPr>
        <p:spPr>
          <a:xfrm>
            <a:off x="323998" y="1409137"/>
            <a:ext cx="1344600" cy="3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Example:</a:t>
            </a:r>
            <a:endParaRPr>
              <a:solidFill>
                <a:srgbClr val="282828"/>
              </a:solidFill>
            </a:endParaRPr>
          </a:p>
        </p:txBody>
      </p:sp>
      <p:sp>
        <p:nvSpPr>
          <p:cNvPr id="810" name="Google Shape;810;p70"/>
          <p:cNvSpPr txBox="1"/>
          <p:nvPr>
            <p:ph type="body" idx="1"/>
          </p:nvPr>
        </p:nvSpPr>
        <p:spPr>
          <a:xfrm>
            <a:off x="321882" y="4200295"/>
            <a:ext cx="8237700" cy="51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Angles are </a:t>
            </a:r>
            <a:r>
              <a:rPr lang="en-GB"/>
              <a:t>invariant</a:t>
            </a:r>
            <a:r>
              <a:rPr lang="en-GB">
                <a:solidFill>
                  <a:srgbClr val="282828"/>
                </a:solidFill>
              </a:rPr>
              <a:t> during </a:t>
            </a:r>
            <a:r>
              <a:rPr lang="en-GB" b="1">
                <a:solidFill>
                  <a:srgbClr val="282828"/>
                </a:solidFill>
              </a:rPr>
              <a:t>enlargement</a:t>
            </a:r>
            <a:r>
              <a:rPr lang="en-GB">
                <a:solidFill>
                  <a:srgbClr val="282828"/>
                </a:solidFill>
              </a:rPr>
              <a:t>.</a:t>
            </a:r>
            <a:endParaRPr>
              <a:solidFill>
                <a:srgbClr val="282828"/>
              </a:solidFill>
            </a:endParaRPr>
          </a:p>
        </p:txBody>
      </p:sp>
      <p:sp>
        <p:nvSpPr>
          <p:cNvPr id="811" name="Google Shape;811;p70"/>
          <p:cNvSpPr/>
          <p:nvPr/>
        </p:nvSpPr>
        <p:spPr>
          <a:xfrm>
            <a:off x="1457938" y="3045187"/>
            <a:ext cx="518400" cy="518100"/>
          </a:xfrm>
          <a:prstGeom prst="pie">
            <a:avLst>
              <a:gd name="adj1" fmla="val 16129614"/>
              <a:gd name="adj2" fmla="val 19811072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2" name="Google Shape;812;p70"/>
          <p:cNvSpPr/>
          <p:nvPr/>
        </p:nvSpPr>
        <p:spPr>
          <a:xfrm>
            <a:off x="3143274" y="1806425"/>
            <a:ext cx="843300" cy="843000"/>
          </a:xfrm>
          <a:prstGeom prst="pie">
            <a:avLst>
              <a:gd name="adj1" fmla="val 8892066"/>
              <a:gd name="adj2" fmla="val 1074588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3" name="Google Shape;813;p70"/>
          <p:cNvSpPr/>
          <p:nvPr/>
        </p:nvSpPr>
        <p:spPr>
          <a:xfrm>
            <a:off x="1705000" y="2226675"/>
            <a:ext cx="200100" cy="2001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4" name="Google Shape;814;p70"/>
          <p:cNvSpPr/>
          <p:nvPr/>
        </p:nvSpPr>
        <p:spPr>
          <a:xfrm>
            <a:off x="4325426" y="3630962"/>
            <a:ext cx="518400" cy="518100"/>
          </a:xfrm>
          <a:prstGeom prst="pie">
            <a:avLst>
              <a:gd name="adj1" fmla="val 16129614"/>
              <a:gd name="adj2" fmla="val 19811072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5" name="Google Shape;815;p70"/>
          <p:cNvSpPr/>
          <p:nvPr/>
        </p:nvSpPr>
        <p:spPr>
          <a:xfrm>
            <a:off x="7006124" y="1801650"/>
            <a:ext cx="843300" cy="843000"/>
          </a:xfrm>
          <a:prstGeom prst="pie">
            <a:avLst>
              <a:gd name="adj1" fmla="val 8892066"/>
              <a:gd name="adj2" fmla="val 1081006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6" name="Google Shape;816;p70"/>
          <p:cNvSpPr/>
          <p:nvPr/>
        </p:nvSpPr>
        <p:spPr>
          <a:xfrm>
            <a:off x="4577250" y="2221900"/>
            <a:ext cx="200100" cy="2001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7" name="Google Shape;817;p70"/>
          <p:cNvSpPr/>
          <p:nvPr/>
        </p:nvSpPr>
        <p:spPr>
          <a:xfrm rot="5400000">
            <a:off x="2101400" y="1839525"/>
            <a:ext cx="1086900" cy="18693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8" name="Google Shape;818;p70"/>
          <p:cNvSpPr/>
          <p:nvPr/>
        </p:nvSpPr>
        <p:spPr>
          <a:xfrm rot="5400000">
            <a:off x="5181888" y="1610488"/>
            <a:ext cx="1684200" cy="28968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p7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enlargement</a:t>
            </a:r>
            <a:endParaRPr/>
          </a:p>
        </p:txBody>
      </p:sp>
      <p:sp>
        <p:nvSpPr>
          <p:cNvPr id="824" name="Google Shape;824;p7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25" name="Google Shape;825;p7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type of transformation has occurred?</a:t>
            </a:r>
            <a:endParaRPr/>
          </a:p>
        </p:txBody>
      </p:sp>
      <p:sp>
        <p:nvSpPr>
          <p:cNvPr id="826" name="Google Shape;826;p7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reduction</a:t>
            </a:r>
            <a:endParaRPr/>
          </a:p>
        </p:txBody>
      </p:sp>
      <p:sp>
        <p:nvSpPr>
          <p:cNvPr id="827" name="Google Shape;827;p7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828" name="Google Shape;828;p7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sp>
        <p:nvSpPr>
          <p:cNvPr id="829" name="Google Shape;829;p71"/>
          <p:cNvSpPr/>
          <p:nvPr/>
        </p:nvSpPr>
        <p:spPr>
          <a:xfrm>
            <a:off x="4074750" y="2786642"/>
            <a:ext cx="994500" cy="976500"/>
          </a:xfrm>
          <a:prstGeom prst="triangle">
            <a:avLst>
              <a:gd name="adj" fmla="val 70822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0" name="Google Shape;830;p71"/>
          <p:cNvSpPr/>
          <p:nvPr/>
        </p:nvSpPr>
        <p:spPr>
          <a:xfrm>
            <a:off x="6330900" y="1693070"/>
            <a:ext cx="2106900" cy="2068800"/>
          </a:xfrm>
          <a:prstGeom prst="triangle">
            <a:avLst>
              <a:gd name="adj" fmla="val 70822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31" name="Google Shape;831;p71"/>
          <p:cNvCxnSpPr/>
          <p:nvPr/>
        </p:nvCxnSpPr>
        <p:spPr>
          <a:xfrm>
            <a:off x="5535750" y="3239100"/>
            <a:ext cx="477300" cy="1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71"/>
          <p:cNvSpPr txBox="1"/>
          <p:nvPr>
            <p:ph type="title"/>
          </p:nvPr>
        </p:nvSpPr>
        <p:spPr>
          <a:xfrm>
            <a:off x="4126988" y="3996937"/>
            <a:ext cx="9945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833" name="Google Shape;833;p71"/>
          <p:cNvSpPr txBox="1"/>
          <p:nvPr>
            <p:ph type="title"/>
          </p:nvPr>
        </p:nvSpPr>
        <p:spPr>
          <a:xfrm>
            <a:off x="6989738" y="3984537"/>
            <a:ext cx="9945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pic>
        <p:nvPicPr>
          <p:cNvPr id="834" name="Google Shape;83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25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8" name="Shape 838"/>
        <p:cNvGrpSpPr/>
        <p:nvPr/>
      </p:nvGrpSpPr>
      <p:grpSpPr>
        <a:xfrm>
          <a:off x="0" y="0"/>
          <a:ext cx="0" cy="0"/>
        </a:xfrm>
      </p:grpSpPr>
      <p:sp>
        <p:nvSpPr>
          <p:cNvPr id="839" name="Google Shape;839;p7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enlargement</a:t>
            </a:r>
            <a:endParaRPr/>
          </a:p>
        </p:txBody>
      </p:sp>
      <p:sp>
        <p:nvSpPr>
          <p:cNvPr id="840" name="Google Shape;840;p7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41" name="Google Shape;841;p7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type of transformation has occurred?</a:t>
            </a:r>
            <a:endParaRPr/>
          </a:p>
        </p:txBody>
      </p:sp>
      <p:sp>
        <p:nvSpPr>
          <p:cNvPr id="842" name="Google Shape;842;p7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reduction</a:t>
            </a:r>
            <a:endParaRPr/>
          </a:p>
        </p:txBody>
      </p:sp>
      <p:sp>
        <p:nvSpPr>
          <p:cNvPr id="843" name="Google Shape;843;p7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844" name="Google Shape;844;p7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sp>
        <p:nvSpPr>
          <p:cNvPr id="845" name="Google Shape;845;p72"/>
          <p:cNvSpPr/>
          <p:nvPr/>
        </p:nvSpPr>
        <p:spPr>
          <a:xfrm>
            <a:off x="4074750" y="2786642"/>
            <a:ext cx="994500" cy="976500"/>
          </a:xfrm>
          <a:prstGeom prst="triangle">
            <a:avLst>
              <a:gd name="adj" fmla="val 70822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6" name="Google Shape;846;p72"/>
          <p:cNvSpPr/>
          <p:nvPr/>
        </p:nvSpPr>
        <p:spPr>
          <a:xfrm>
            <a:off x="6330900" y="1693070"/>
            <a:ext cx="2106900" cy="2068800"/>
          </a:xfrm>
          <a:prstGeom prst="triangle">
            <a:avLst>
              <a:gd name="adj" fmla="val 70822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47" name="Google Shape;847;p72"/>
          <p:cNvCxnSpPr/>
          <p:nvPr/>
        </p:nvCxnSpPr>
        <p:spPr>
          <a:xfrm>
            <a:off x="5611950" y="3239100"/>
            <a:ext cx="477300" cy="1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48" name="Google Shape;848;p72"/>
          <p:cNvSpPr txBox="1"/>
          <p:nvPr>
            <p:ph type="title"/>
          </p:nvPr>
        </p:nvSpPr>
        <p:spPr>
          <a:xfrm>
            <a:off x="4126988" y="3996937"/>
            <a:ext cx="9945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849" name="Google Shape;849;p72"/>
          <p:cNvSpPr txBox="1"/>
          <p:nvPr>
            <p:ph type="title"/>
          </p:nvPr>
        </p:nvSpPr>
        <p:spPr>
          <a:xfrm>
            <a:off x="6989738" y="3984537"/>
            <a:ext cx="9945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pic>
        <p:nvPicPr>
          <p:cNvPr id="850" name="Google Shape;85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25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4" name="Shape 854"/>
        <p:cNvGrpSpPr/>
        <p:nvPr/>
      </p:nvGrpSpPr>
      <p:grpSpPr>
        <a:xfrm>
          <a:off x="0" y="0"/>
          <a:ext cx="0" cy="0"/>
        </a:xfrm>
      </p:grpSpPr>
      <p:sp>
        <p:nvSpPr>
          <p:cNvPr id="855" name="Google Shape;855;p7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lengths</a:t>
            </a:r>
            <a:endParaRPr/>
          </a:p>
        </p:txBody>
      </p:sp>
      <p:sp>
        <p:nvSpPr>
          <p:cNvPr id="856" name="Google Shape;856;p7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57" name="Google Shape;857;p7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property is always invariant during </a:t>
            </a:r>
            <a:r>
              <a:rPr lang="en-GB" b="1"/>
              <a:t>enlargement</a:t>
            </a:r>
            <a:r>
              <a:rPr lang="en-GB"/>
              <a:t>?</a:t>
            </a:r>
            <a:endParaRPr/>
          </a:p>
        </p:txBody>
      </p:sp>
      <p:sp>
        <p:nvSpPr>
          <p:cNvPr id="858" name="Google Shape;858;p7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angles</a:t>
            </a:r>
            <a:endParaRPr/>
          </a:p>
        </p:txBody>
      </p:sp>
      <p:sp>
        <p:nvSpPr>
          <p:cNvPr id="859" name="Google Shape;859;p7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areas</a:t>
            </a:r>
            <a:endParaRPr/>
          </a:p>
        </p:txBody>
      </p:sp>
      <p:pic>
        <p:nvPicPr>
          <p:cNvPr id="860" name="Google Shape;86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583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4" name="Shape 864"/>
        <p:cNvGrpSpPr/>
        <p:nvPr/>
      </p:nvGrpSpPr>
      <p:grpSpPr>
        <a:xfrm>
          <a:off x="0" y="0"/>
          <a:ext cx="0" cy="0"/>
        </a:xfrm>
      </p:grpSpPr>
      <p:pic>
        <p:nvPicPr>
          <p:cNvPr id="865" name="Google Shape;865;p74"/>
          <p:cNvPicPr preferRelativeResize="0"/>
          <p:nvPr/>
        </p:nvPicPr>
        <p:blipFill>
          <a:blip r:embed="rId3">
            <a:alphaModFix/>
          </a:blip>
          <a:srcRect l="10016" t="11408" r="14099" b="12988"/>
          <a:stretch>
            <a:fillRect/>
          </a:stretch>
        </p:blipFill>
        <p:spPr>
          <a:xfrm>
            <a:off x="1711075" y="1733575"/>
            <a:ext cx="5331474" cy="3157426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object has been </a:t>
            </a:r>
            <a:r>
              <a:rPr lang="en-GB" b="1"/>
              <a:t>enlarged</a:t>
            </a:r>
            <a:r>
              <a:rPr lang="en-GB"/>
              <a:t> to create the image.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size of the angle marked?</a:t>
            </a:r>
            <a:endParaRPr/>
          </a:p>
        </p:txBody>
      </p:sp>
      <p:sp>
        <p:nvSpPr>
          <p:cNvPr id="867" name="Google Shape;86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68" name="Google Shape;868;p74"/>
          <p:cNvSpPr txBox="1"/>
          <p:nvPr>
            <p:ph type="body" idx="1"/>
          </p:nvPr>
        </p:nvSpPr>
        <p:spPr>
          <a:xfrm>
            <a:off x="1125766" y="2530293"/>
            <a:ext cx="9075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object</a:t>
            </a:r>
            <a:endParaRPr sz="2000"/>
          </a:p>
        </p:txBody>
      </p:sp>
      <p:sp>
        <p:nvSpPr>
          <p:cNvPr id="869" name="Google Shape;869;p74"/>
          <p:cNvSpPr txBox="1"/>
          <p:nvPr>
            <p:ph type="body" idx="1"/>
          </p:nvPr>
        </p:nvSpPr>
        <p:spPr>
          <a:xfrm>
            <a:off x="6997308" y="2454098"/>
            <a:ext cx="9075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image</a:t>
            </a:r>
            <a:endParaRPr sz="2000"/>
          </a:p>
        </p:txBody>
      </p:sp>
      <p:sp>
        <p:nvSpPr>
          <p:cNvPr id="870" name="Google Shape;870;p74"/>
          <p:cNvSpPr txBox="1"/>
          <p:nvPr>
            <p:ph type="body" idx="1"/>
          </p:nvPr>
        </p:nvSpPr>
        <p:spPr>
          <a:xfrm>
            <a:off x="2554747" y="3640548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60°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71" name="Google Shape;871;p74"/>
          <p:cNvSpPr txBox="1"/>
          <p:nvPr>
            <p:ph type="body" idx="1"/>
          </p:nvPr>
        </p:nvSpPr>
        <p:spPr>
          <a:xfrm>
            <a:off x="3022143" y="3704857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74°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72" name="Google Shape;872;p74"/>
          <p:cNvSpPr txBox="1"/>
          <p:nvPr>
            <p:ph type="body" idx="1"/>
          </p:nvPr>
        </p:nvSpPr>
        <p:spPr>
          <a:xfrm>
            <a:off x="2940509" y="2996532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44°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873" name="Google Shape;873;p74"/>
          <p:cNvSpPr txBox="1"/>
          <p:nvPr>
            <p:ph type="body" idx="1"/>
          </p:nvPr>
        </p:nvSpPr>
        <p:spPr>
          <a:xfrm>
            <a:off x="5976029" y="2252807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?</a:t>
            </a:r>
            <a:endParaRPr>
              <a:solidFill>
                <a:srgbClr val="282828"/>
              </a:solidFill>
            </a:endParaRPr>
          </a:p>
        </p:txBody>
      </p:sp>
      <p:cxnSp>
        <p:nvCxnSpPr>
          <p:cNvPr id="874" name="Google Shape;874;p74"/>
          <p:cNvCxnSpPr/>
          <p:nvPr/>
        </p:nvCxnSpPr>
        <p:spPr>
          <a:xfrm>
            <a:off x="1908325" y="2789616"/>
            <a:ext cx="803100" cy="359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5" name="Google Shape;875;p74"/>
          <p:cNvCxnSpPr/>
          <p:nvPr/>
        </p:nvCxnSpPr>
        <p:spPr>
          <a:xfrm flipH="1">
            <a:off x="6449189" y="2706889"/>
            <a:ext cx="517800" cy="20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6" name="Google Shape;876;p74"/>
          <p:cNvSpPr txBox="1"/>
          <p:nvPr>
            <p:ph type="body" idx="1"/>
          </p:nvPr>
        </p:nvSpPr>
        <p:spPr>
          <a:xfrm>
            <a:off x="6328009" y="1975307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44°</a:t>
            </a:r>
            <a:endParaRPr sz="2000">
              <a:solidFill>
                <a:srgbClr val="282828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p7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Write true or false for each statement.</a:t>
            </a:r>
            <a:endParaRPr/>
          </a:p>
        </p:txBody>
      </p:sp>
      <p:sp>
        <p:nvSpPr>
          <p:cNvPr id="882" name="Google Shape;882;p7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83" name="Google Shape;883;p75"/>
          <p:cNvSpPr txBox="1"/>
          <p:nvPr>
            <p:ph type="body" idx="1"/>
          </p:nvPr>
        </p:nvSpPr>
        <p:spPr>
          <a:xfrm>
            <a:off x="795125" y="1359000"/>
            <a:ext cx="8025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 sz="2000" b="1"/>
              <a:t>Enlargement</a:t>
            </a:r>
            <a:r>
              <a:rPr lang="en-GB" sz="2000"/>
              <a:t> only refers to when a shape increases in size.</a:t>
            </a:r>
            <a:endParaRPr sz="2000"/>
          </a:p>
        </p:txBody>
      </p:sp>
      <p:sp>
        <p:nvSpPr>
          <p:cNvPr id="884" name="Google Shape;884;p75"/>
          <p:cNvSpPr txBox="1"/>
          <p:nvPr>
            <p:ph type="body" idx="1"/>
          </p:nvPr>
        </p:nvSpPr>
        <p:spPr>
          <a:xfrm>
            <a:off x="796500" y="2017500"/>
            <a:ext cx="8025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The image may have different lengths to the object after an </a:t>
            </a:r>
            <a:br>
              <a:rPr lang="en-GB" sz="2000"/>
            </a:br>
            <a:r>
              <a:rPr lang="en-GB" sz="2000"/>
              <a:t>     </a:t>
            </a:r>
            <a:r>
              <a:rPr lang="en-GB" sz="2000" b="1"/>
              <a:t>enlargement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85" name="Google Shape;885;p75"/>
          <p:cNvSpPr txBox="1"/>
          <p:nvPr>
            <p:ph type="body" idx="1"/>
          </p:nvPr>
        </p:nvSpPr>
        <p:spPr>
          <a:xfrm>
            <a:off x="796500" y="3027300"/>
            <a:ext cx="8025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The image may have different angles to the object after an </a:t>
            </a:r>
            <a:br>
              <a:rPr lang="en-GB" sz="2000"/>
            </a:br>
            <a:r>
              <a:rPr lang="en-GB" sz="2000"/>
              <a:t>     </a:t>
            </a:r>
            <a:r>
              <a:rPr lang="en-GB" sz="2000" b="1"/>
              <a:t>enlargement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86" name="Google Shape;886;p75"/>
          <p:cNvSpPr txBox="1"/>
          <p:nvPr>
            <p:ph type="body" idx="1"/>
          </p:nvPr>
        </p:nvSpPr>
        <p:spPr>
          <a:xfrm>
            <a:off x="795300" y="4044600"/>
            <a:ext cx="8025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d) The image can be smaller than the object after an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     </a:t>
            </a:r>
            <a:r>
              <a:rPr lang="en-GB" sz="2000" b="1"/>
              <a:t>enlargement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0" name="Shape 890"/>
        <p:cNvGrpSpPr/>
        <p:nvPr/>
      </p:nvGrpSpPr>
      <p:grpSpPr>
        <a:xfrm>
          <a:off x="0" y="0"/>
          <a:ext cx="0" cy="0"/>
        </a:xfrm>
      </p:grpSpPr>
      <p:sp>
        <p:nvSpPr>
          <p:cNvPr id="891" name="Google Shape;891;p7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Alex is going to </a:t>
            </a:r>
            <a:r>
              <a:rPr lang="en-GB" sz="2000" b="1"/>
              <a:t>enlarge </a:t>
            </a:r>
            <a:r>
              <a:rPr lang="en-GB" sz="2000"/>
              <a:t>the parallelogram to double </a:t>
            </a:r>
            <a:br>
              <a:rPr lang="en-GB" sz="2000"/>
            </a:br>
            <a:r>
              <a:rPr lang="en-GB" sz="2000"/>
              <a:t>    the size.</a:t>
            </a:r>
            <a:endParaRPr sz="2000"/>
          </a:p>
        </p:txBody>
      </p:sp>
      <p:sp>
        <p:nvSpPr>
          <p:cNvPr id="892" name="Google Shape;892;p7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893" name="Google Shape;893;p76"/>
          <p:cNvSpPr txBox="1"/>
          <p:nvPr>
            <p:ph type="body" idx="1"/>
          </p:nvPr>
        </p:nvSpPr>
        <p:spPr>
          <a:xfrm>
            <a:off x="610500" y="2678091"/>
            <a:ext cx="8057100" cy="8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He thinks that the corresponding angle in the image will be 70°.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Do you think he is correct? Justify your answer.</a:t>
            </a:r>
            <a:endParaRPr sz="2000"/>
          </a:p>
        </p:txBody>
      </p:sp>
      <p:grpSp>
        <p:nvGrpSpPr>
          <p:cNvPr id="894" name="Google Shape;894;p76"/>
          <p:cNvGrpSpPr/>
          <p:nvPr/>
        </p:nvGrpSpPr>
        <p:grpSpPr>
          <a:xfrm>
            <a:off x="2940915" y="1635624"/>
            <a:ext cx="2804969" cy="1185253"/>
            <a:chOff x="1778271" y="1864224"/>
            <a:chExt cx="2804969" cy="1185253"/>
          </a:xfrm>
        </p:grpSpPr>
        <p:sp>
          <p:nvSpPr>
            <p:cNvPr id="895" name="Google Shape;895;p76"/>
            <p:cNvSpPr/>
            <p:nvPr/>
          </p:nvSpPr>
          <p:spPr>
            <a:xfrm>
              <a:off x="1778271" y="2189378"/>
              <a:ext cx="860100" cy="860100"/>
            </a:xfrm>
            <a:prstGeom prst="pie">
              <a:avLst>
                <a:gd name="adj1" fmla="val 19490801"/>
                <a:gd name="adj2" fmla="val 13862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96" name="Google Shape;896;p76"/>
            <p:cNvSpPr/>
            <p:nvPr/>
          </p:nvSpPr>
          <p:spPr>
            <a:xfrm>
              <a:off x="2205441" y="1864224"/>
              <a:ext cx="2377800" cy="755700"/>
            </a:xfrm>
            <a:prstGeom prst="parallelogram">
              <a:avLst>
                <a:gd name="adj" fmla="val 141837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97" name="Google Shape;897;p76"/>
          <p:cNvSpPr txBox="1"/>
          <p:nvPr>
            <p:ph type="body" idx="1"/>
          </p:nvPr>
        </p:nvSpPr>
        <p:spPr>
          <a:xfrm>
            <a:off x="3821100" y="2083344"/>
            <a:ext cx="575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pic>
        <p:nvPicPr>
          <p:cNvPr id="898" name="Google Shape;89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25002" flipH="1">
            <a:off x="2597133" y="1626529"/>
            <a:ext cx="483360" cy="557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sp>
        <p:nvSpPr>
          <p:cNvPr id="903" name="Google Shape;903;p77"/>
          <p:cNvSpPr txBox="1"/>
          <p:nvPr>
            <p:ph type="body" idx="1"/>
          </p:nvPr>
        </p:nvSpPr>
        <p:spPr>
          <a:xfrm>
            <a:off x="324000" y="759300"/>
            <a:ext cx="8237700" cy="4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Write true or false for each statement.</a:t>
            </a:r>
            <a:endParaRPr/>
          </a:p>
        </p:txBody>
      </p:sp>
      <p:sp>
        <p:nvSpPr>
          <p:cNvPr id="904" name="Google Shape;904;p7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905" name="Google Shape;905;p77"/>
          <p:cNvSpPr txBox="1"/>
          <p:nvPr>
            <p:ph type="body" idx="1"/>
          </p:nvPr>
        </p:nvSpPr>
        <p:spPr>
          <a:xfrm>
            <a:off x="795125" y="1359000"/>
            <a:ext cx="8025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 sz="2000" b="1"/>
              <a:t>Enlargement</a:t>
            </a:r>
            <a:r>
              <a:rPr lang="en-GB" sz="2000"/>
              <a:t> only refers to when a shape increases in size.</a:t>
            </a:r>
            <a:endParaRPr sz="2000"/>
          </a:p>
        </p:txBody>
      </p:sp>
      <p:sp>
        <p:nvSpPr>
          <p:cNvPr id="906" name="Google Shape;906;p77"/>
          <p:cNvSpPr txBox="1"/>
          <p:nvPr>
            <p:ph type="body" idx="1"/>
          </p:nvPr>
        </p:nvSpPr>
        <p:spPr>
          <a:xfrm>
            <a:off x="796500" y="2017500"/>
            <a:ext cx="8025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The image may have different lengths to the object after an </a:t>
            </a:r>
            <a:br>
              <a:rPr lang="en-GB" sz="2000"/>
            </a:br>
            <a:r>
              <a:rPr lang="en-GB" sz="2000"/>
              <a:t>     </a:t>
            </a:r>
            <a:r>
              <a:rPr lang="en-GB" sz="2000" b="1"/>
              <a:t>enlargement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07" name="Google Shape;907;p77"/>
          <p:cNvSpPr txBox="1"/>
          <p:nvPr>
            <p:ph type="body" idx="1"/>
          </p:nvPr>
        </p:nvSpPr>
        <p:spPr>
          <a:xfrm>
            <a:off x="796500" y="3027300"/>
            <a:ext cx="8025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The image may have different angles to the object after an </a:t>
            </a:r>
            <a:br>
              <a:rPr lang="en-GB" sz="2000"/>
            </a:br>
            <a:r>
              <a:rPr lang="en-GB" sz="2000"/>
              <a:t>     </a:t>
            </a:r>
            <a:r>
              <a:rPr lang="en-GB" sz="2000" b="1"/>
              <a:t>enlargement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08" name="Google Shape;908;p77"/>
          <p:cNvSpPr txBox="1"/>
          <p:nvPr>
            <p:ph type="body" idx="1"/>
          </p:nvPr>
        </p:nvSpPr>
        <p:spPr>
          <a:xfrm>
            <a:off x="795300" y="4044600"/>
            <a:ext cx="8025000" cy="6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d) The image can be smaller than the object after an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     </a:t>
            </a:r>
            <a:r>
              <a:rPr lang="en-GB" sz="2000" b="1"/>
              <a:t>enlargement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09" name="Google Shape;909;p77"/>
          <p:cNvSpPr txBox="1"/>
          <p:nvPr>
            <p:ph type="body" idx="1"/>
          </p:nvPr>
        </p:nvSpPr>
        <p:spPr>
          <a:xfrm>
            <a:off x="7459200" y="1688700"/>
            <a:ext cx="110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False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0" name="Google Shape;910;p77"/>
          <p:cNvSpPr txBox="1"/>
          <p:nvPr>
            <p:ph type="body" idx="1"/>
          </p:nvPr>
        </p:nvSpPr>
        <p:spPr>
          <a:xfrm>
            <a:off x="7446600" y="2343150"/>
            <a:ext cx="110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1" name="Google Shape;911;p77"/>
          <p:cNvSpPr txBox="1"/>
          <p:nvPr>
            <p:ph type="body" idx="1"/>
          </p:nvPr>
        </p:nvSpPr>
        <p:spPr>
          <a:xfrm>
            <a:off x="7446600" y="3359400"/>
            <a:ext cx="110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False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2" name="Google Shape;912;p77"/>
          <p:cNvSpPr txBox="1"/>
          <p:nvPr>
            <p:ph type="body" idx="1"/>
          </p:nvPr>
        </p:nvSpPr>
        <p:spPr>
          <a:xfrm>
            <a:off x="7459200" y="4370550"/>
            <a:ext cx="1102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6" name="Shape 916"/>
        <p:cNvGrpSpPr/>
        <p:nvPr/>
      </p:nvGrpSpPr>
      <p:grpSpPr>
        <a:xfrm>
          <a:off x="0" y="0"/>
          <a:ext cx="0" cy="0"/>
        </a:xfrm>
      </p:grpSpPr>
      <p:sp>
        <p:nvSpPr>
          <p:cNvPr id="917" name="Google Shape;917;p7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Alex is going to </a:t>
            </a:r>
            <a:r>
              <a:rPr lang="en-GB" sz="2000" b="1"/>
              <a:t>enlarge </a:t>
            </a:r>
            <a:r>
              <a:rPr lang="en-GB" sz="2000"/>
              <a:t>the parallelogram to double </a:t>
            </a:r>
            <a:br>
              <a:rPr lang="en-GB" sz="2000"/>
            </a:br>
            <a:r>
              <a:rPr lang="en-GB" sz="2000"/>
              <a:t>    the size.</a:t>
            </a:r>
            <a:endParaRPr sz="2000"/>
          </a:p>
        </p:txBody>
      </p:sp>
      <p:sp>
        <p:nvSpPr>
          <p:cNvPr id="918" name="Google Shape;918;p7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919" name="Google Shape;919;p78"/>
          <p:cNvSpPr txBox="1"/>
          <p:nvPr>
            <p:ph type="body" idx="1"/>
          </p:nvPr>
        </p:nvSpPr>
        <p:spPr>
          <a:xfrm>
            <a:off x="610500" y="2678091"/>
            <a:ext cx="8057100" cy="8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He thinks that the corresponding angle in the image will be 70°.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Do you think he is correct? Justify your answer.</a:t>
            </a:r>
            <a:endParaRPr sz="2000"/>
          </a:p>
        </p:txBody>
      </p:sp>
      <p:grpSp>
        <p:nvGrpSpPr>
          <p:cNvPr id="920" name="Google Shape;920;p78"/>
          <p:cNvGrpSpPr/>
          <p:nvPr/>
        </p:nvGrpSpPr>
        <p:grpSpPr>
          <a:xfrm>
            <a:off x="2940915" y="1635624"/>
            <a:ext cx="2804969" cy="1185253"/>
            <a:chOff x="1778271" y="1864224"/>
            <a:chExt cx="2804969" cy="1185253"/>
          </a:xfrm>
        </p:grpSpPr>
        <p:sp>
          <p:nvSpPr>
            <p:cNvPr id="921" name="Google Shape;921;p78"/>
            <p:cNvSpPr/>
            <p:nvPr/>
          </p:nvSpPr>
          <p:spPr>
            <a:xfrm>
              <a:off x="1778271" y="2189378"/>
              <a:ext cx="860100" cy="860100"/>
            </a:xfrm>
            <a:prstGeom prst="pie">
              <a:avLst>
                <a:gd name="adj1" fmla="val 19490801"/>
                <a:gd name="adj2" fmla="val 13862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22" name="Google Shape;922;p78"/>
            <p:cNvSpPr/>
            <p:nvPr/>
          </p:nvSpPr>
          <p:spPr>
            <a:xfrm>
              <a:off x="2205441" y="1864224"/>
              <a:ext cx="2377800" cy="755700"/>
            </a:xfrm>
            <a:prstGeom prst="parallelogram">
              <a:avLst>
                <a:gd name="adj" fmla="val 141837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23" name="Google Shape;923;p78"/>
          <p:cNvSpPr txBox="1"/>
          <p:nvPr>
            <p:ph type="body" idx="1"/>
          </p:nvPr>
        </p:nvSpPr>
        <p:spPr>
          <a:xfrm>
            <a:off x="3821100" y="2083344"/>
            <a:ext cx="575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35°</a:t>
            </a:r>
            <a:endParaRPr sz="1800"/>
          </a:p>
        </p:txBody>
      </p:sp>
      <p:sp>
        <p:nvSpPr>
          <p:cNvPr id="924" name="Google Shape;924;p78"/>
          <p:cNvSpPr txBox="1"/>
          <p:nvPr>
            <p:ph type="body" idx="1"/>
          </p:nvPr>
        </p:nvSpPr>
        <p:spPr>
          <a:xfrm>
            <a:off x="762900" y="3611400"/>
            <a:ext cx="7727100" cy="11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Alex is not correct because…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55600" algn="l" rtl="0">
              <a:spcBef>
                <a:spcPts val="1000"/>
              </a:spcBef>
              <a:spcAft>
                <a:spcPct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enlarging a shape does not cause the angles to change size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corresponding angle will be 35°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25" name="Google Shape;92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25002" flipH="1">
            <a:off x="2597133" y="1626529"/>
            <a:ext cx="483360" cy="557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9" name="Shape 929"/>
        <p:cNvGrpSpPr/>
        <p:nvPr/>
      </p:nvGrpSpPr>
      <p:grpSpPr>
        <a:xfrm>
          <a:off x="0" y="0"/>
          <a:ext cx="0" cy="0"/>
        </a:xfrm>
      </p:grpSpPr>
      <p:sp>
        <p:nvSpPr>
          <p:cNvPr id="930" name="Google Shape;930;p7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enlargement</a:t>
            </a:r>
            <a:endParaRPr/>
          </a:p>
        </p:txBody>
      </p:sp>
      <p:sp>
        <p:nvSpPr>
          <p:cNvPr id="931" name="Google Shape;931;p7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932" name="Google Shape;932;p79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pic>
        <p:nvPicPr>
          <p:cNvPr id="933" name="Google Shape;9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78" y="298083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7" name="Shape 937"/>
        <p:cNvGrpSpPr/>
        <p:nvPr/>
      </p:nvGrpSpPr>
      <p:grpSpPr>
        <a:xfrm>
          <a:off x="0" y="0"/>
          <a:ext cx="0" cy="0"/>
        </a:xfrm>
      </p:grpSpPr>
      <p:sp>
        <p:nvSpPr>
          <p:cNvPr id="938" name="Google Shape;938;p80"/>
          <p:cNvSpPr txBox="1"/>
          <p:nvPr>
            <p:ph type="body" idx="1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is a photograph of Lucas.</a:t>
            </a:r>
            <a:endParaRPr sz="2000"/>
          </a:p>
        </p:txBody>
      </p:sp>
      <p:sp>
        <p:nvSpPr>
          <p:cNvPr id="939" name="Google Shape;93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940" name="Google Shape;940;p80"/>
          <p:cNvSpPr txBox="1"/>
          <p:nvPr>
            <p:ph type="body" idx="1"/>
          </p:nvPr>
        </p:nvSpPr>
        <p:spPr>
          <a:xfrm>
            <a:off x="324000" y="1719450"/>
            <a:ext cx="84960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Below are three larger versions of the photograph.</a:t>
            </a:r>
            <a:endParaRPr sz="2000"/>
          </a:p>
        </p:txBody>
      </p:sp>
      <p:sp>
        <p:nvSpPr>
          <p:cNvPr id="941" name="Google Shape;941;p80"/>
          <p:cNvSpPr txBox="1"/>
          <p:nvPr>
            <p:ph type="body" idx="1"/>
          </p:nvPr>
        </p:nvSpPr>
        <p:spPr>
          <a:xfrm>
            <a:off x="324000" y="4509172"/>
            <a:ext cx="8237700" cy="35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third image is </a:t>
            </a:r>
            <a:r>
              <a:rPr lang="en-GB" sz="2000" b="1"/>
              <a:t>similar</a:t>
            </a:r>
            <a:r>
              <a:rPr lang="en-GB" sz="2000"/>
              <a:t> to the original photograph.</a:t>
            </a:r>
            <a:endParaRPr sz="2000"/>
          </a:p>
        </p:txBody>
      </p:sp>
      <p:grpSp>
        <p:nvGrpSpPr>
          <p:cNvPr id="942" name="Google Shape;942;p80"/>
          <p:cNvGrpSpPr/>
          <p:nvPr/>
        </p:nvGrpSpPr>
        <p:grpSpPr>
          <a:xfrm>
            <a:off x="4593891" y="816512"/>
            <a:ext cx="760148" cy="776133"/>
            <a:chOff x="1303101" y="2261805"/>
            <a:chExt cx="955800" cy="975900"/>
          </a:xfrm>
        </p:grpSpPr>
        <p:pic>
          <p:nvPicPr>
            <p:cNvPr id="943" name="Google Shape;943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1846" y="2301675"/>
              <a:ext cx="798316" cy="8961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80"/>
            <p:cNvSpPr/>
            <p:nvPr/>
          </p:nvSpPr>
          <p:spPr>
            <a:xfrm>
              <a:off x="1303101" y="2261805"/>
              <a:ext cx="955800" cy="9759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45" name="Google Shape;945;p80"/>
          <p:cNvGrpSpPr/>
          <p:nvPr/>
        </p:nvGrpSpPr>
        <p:grpSpPr>
          <a:xfrm>
            <a:off x="1165141" y="2188623"/>
            <a:ext cx="6294235" cy="1352317"/>
            <a:chOff x="707397" y="2775654"/>
            <a:chExt cx="7209891" cy="1549046"/>
          </a:xfrm>
        </p:grpSpPr>
        <p:grpSp>
          <p:nvGrpSpPr>
            <p:cNvPr id="946" name="Google Shape;946;p80"/>
            <p:cNvGrpSpPr/>
            <p:nvPr/>
          </p:nvGrpSpPr>
          <p:grpSpPr>
            <a:xfrm>
              <a:off x="707397" y="2775686"/>
              <a:ext cx="2016165" cy="776133"/>
              <a:chOff x="1303101" y="2261805"/>
              <a:chExt cx="955800" cy="975900"/>
            </a:xfrm>
          </p:grpSpPr>
          <p:pic>
            <p:nvPicPr>
              <p:cNvPr id="947" name="Google Shape;947;p8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81846" y="2301675"/>
                <a:ext cx="798316" cy="8961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8" name="Google Shape;948;p80"/>
              <p:cNvSpPr/>
              <p:nvPr/>
            </p:nvSpPr>
            <p:spPr>
              <a:xfrm>
                <a:off x="1303101" y="2261805"/>
                <a:ext cx="955800" cy="975900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49" name="Google Shape;949;p80"/>
            <p:cNvGrpSpPr/>
            <p:nvPr/>
          </p:nvGrpSpPr>
          <p:grpSpPr>
            <a:xfrm>
              <a:off x="4179183" y="2775654"/>
              <a:ext cx="760148" cy="1549046"/>
              <a:chOff x="1303101" y="2261805"/>
              <a:chExt cx="955800" cy="975900"/>
            </a:xfrm>
          </p:grpSpPr>
          <p:pic>
            <p:nvPicPr>
              <p:cNvPr id="950" name="Google Shape;950;p8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81846" y="2301675"/>
                <a:ext cx="798316" cy="8961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1" name="Google Shape;951;p80"/>
              <p:cNvSpPr/>
              <p:nvPr/>
            </p:nvSpPr>
            <p:spPr>
              <a:xfrm>
                <a:off x="1303101" y="2261805"/>
                <a:ext cx="955800" cy="975900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952" name="Google Shape;952;p80"/>
            <p:cNvGrpSpPr/>
            <p:nvPr/>
          </p:nvGrpSpPr>
          <p:grpSpPr>
            <a:xfrm>
              <a:off x="6400147" y="2775654"/>
              <a:ext cx="1517141" cy="1549046"/>
              <a:chOff x="1303101" y="2261805"/>
              <a:chExt cx="955800" cy="975900"/>
            </a:xfrm>
          </p:grpSpPr>
          <p:pic>
            <p:nvPicPr>
              <p:cNvPr id="953" name="Google Shape;953;p8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81846" y="2301675"/>
                <a:ext cx="798316" cy="8961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4" name="Google Shape;954;p80"/>
              <p:cNvSpPr/>
              <p:nvPr/>
            </p:nvSpPr>
            <p:spPr>
              <a:xfrm>
                <a:off x="1303101" y="2261805"/>
                <a:ext cx="955800" cy="975900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55" name="Google Shape;955;p80"/>
          <p:cNvSpPr txBox="1"/>
          <p:nvPr>
            <p:ph type="body" idx="1"/>
          </p:nvPr>
        </p:nvSpPr>
        <p:spPr>
          <a:xfrm>
            <a:off x="324000" y="3681225"/>
            <a:ext cx="8496000" cy="7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Why does Lucas’s face look distorted in the first two images but not in the third?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9" name="Shape 959"/>
        <p:cNvGrpSpPr/>
        <p:nvPr/>
      </p:nvGrpSpPr>
      <p:grpSpPr>
        <a:xfrm>
          <a:off x="0" y="0"/>
          <a:ext cx="0" cy="0"/>
        </a:xfrm>
      </p:grpSpPr>
      <p:sp>
        <p:nvSpPr>
          <p:cNvPr id="960" name="Google Shape;96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961" name="Google Shape;961;p81"/>
          <p:cNvSpPr txBox="1"/>
          <p:nvPr>
            <p:ph type="body" idx="1"/>
          </p:nvPr>
        </p:nvSpPr>
        <p:spPr>
          <a:xfrm>
            <a:off x="324000" y="4091400"/>
            <a:ext cx="7534200" cy="7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rectangles are </a:t>
            </a:r>
            <a:r>
              <a:rPr lang="en-GB" sz="2000" b="1"/>
              <a:t>similar</a:t>
            </a:r>
            <a:r>
              <a:rPr lang="en-GB" sz="2000"/>
              <a:t> because the multipliers within each shape are equal.  </a:t>
            </a:r>
            <a:endParaRPr sz="2000"/>
          </a:p>
        </p:txBody>
      </p:sp>
      <p:pic>
        <p:nvPicPr>
          <p:cNvPr id="962" name="Google Shape;96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60" y="1986019"/>
            <a:ext cx="396495" cy="445067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81"/>
          <p:cNvSpPr/>
          <p:nvPr/>
        </p:nvSpPr>
        <p:spPr>
          <a:xfrm>
            <a:off x="1959290" y="1955524"/>
            <a:ext cx="1447500" cy="484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64" name="Google Shape;96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9556" y="1982757"/>
            <a:ext cx="405164" cy="449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1"/>
          <p:cNvSpPr txBox="1"/>
          <p:nvPr>
            <p:ph type="body" idx="1"/>
          </p:nvPr>
        </p:nvSpPr>
        <p:spPr>
          <a:xfrm>
            <a:off x="1149934" y="204694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2 cm</a:t>
            </a:r>
            <a:endParaRPr sz="1800"/>
          </a:p>
        </p:txBody>
      </p:sp>
      <p:sp>
        <p:nvSpPr>
          <p:cNvPr id="966" name="Google Shape;966;p81"/>
          <p:cNvSpPr txBox="1"/>
          <p:nvPr>
            <p:ph type="body" idx="1"/>
          </p:nvPr>
        </p:nvSpPr>
        <p:spPr>
          <a:xfrm>
            <a:off x="2392156" y="254696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cxnSp>
        <p:nvCxnSpPr>
          <p:cNvPr id="967" name="Google Shape;967;p81"/>
          <p:cNvCxnSpPr>
            <a:stCxn id="965" idx="2"/>
            <a:endCxn id="966" idx="1"/>
          </p:cNvCxnSpPr>
          <p:nvPr/>
        </p:nvCxnSpPr>
        <p:spPr>
          <a:xfrm rot="-5400000" flipH="1">
            <a:off x="1760734" y="2085494"/>
            <a:ext cx="330000" cy="9327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8" name="Google Shape;968;p81"/>
          <p:cNvCxnSpPr/>
          <p:nvPr/>
        </p:nvCxnSpPr>
        <p:spPr>
          <a:xfrm rot="10800000" flipH="1">
            <a:off x="1824057" y="1970569"/>
            <a:ext cx="0" cy="462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69" name="Google Shape;969;p81"/>
          <p:cNvCxnSpPr/>
          <p:nvPr/>
        </p:nvCxnSpPr>
        <p:spPr>
          <a:xfrm rot="10800000">
            <a:off x="1959314" y="2546955"/>
            <a:ext cx="1447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970" name="Google Shape;97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738" y="2018103"/>
            <a:ext cx="793120" cy="9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81"/>
          <p:cNvSpPr/>
          <p:nvPr/>
        </p:nvSpPr>
        <p:spPr>
          <a:xfrm>
            <a:off x="5098510" y="1955808"/>
            <a:ext cx="2895000" cy="990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2" name="Google Shape;97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303" y="2011439"/>
            <a:ext cx="810467" cy="918178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1"/>
          <p:cNvSpPr txBox="1"/>
          <p:nvPr>
            <p:ph type="body" idx="1"/>
          </p:nvPr>
        </p:nvSpPr>
        <p:spPr>
          <a:xfrm>
            <a:off x="4289134" y="2240614"/>
            <a:ext cx="674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 cm</a:t>
            </a:r>
            <a:endParaRPr sz="1800"/>
          </a:p>
        </p:txBody>
      </p:sp>
      <p:sp>
        <p:nvSpPr>
          <p:cNvPr id="974" name="Google Shape;974;p81"/>
          <p:cNvSpPr txBox="1"/>
          <p:nvPr>
            <p:ph type="body" idx="1"/>
          </p:nvPr>
        </p:nvSpPr>
        <p:spPr>
          <a:xfrm>
            <a:off x="6160699" y="3177869"/>
            <a:ext cx="7713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cxnSp>
        <p:nvCxnSpPr>
          <p:cNvPr id="975" name="Google Shape;975;p81"/>
          <p:cNvCxnSpPr>
            <a:stCxn id="973" idx="2"/>
          </p:cNvCxnSpPr>
          <p:nvPr/>
        </p:nvCxnSpPr>
        <p:spPr>
          <a:xfrm rot="-5400000" flipH="1">
            <a:off x="4920634" y="2286064"/>
            <a:ext cx="777600" cy="13665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6" name="Google Shape;976;p81"/>
          <p:cNvSpPr txBox="1"/>
          <p:nvPr>
            <p:ph type="body" idx="1"/>
          </p:nvPr>
        </p:nvSpPr>
        <p:spPr>
          <a:xfrm>
            <a:off x="4678675" y="3097962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3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977" name="Google Shape;977;p81"/>
          <p:cNvCxnSpPr/>
          <p:nvPr/>
        </p:nvCxnSpPr>
        <p:spPr>
          <a:xfrm rot="10800000" flipH="1">
            <a:off x="4947968" y="1964173"/>
            <a:ext cx="5400" cy="981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78" name="Google Shape;978;p81"/>
          <p:cNvCxnSpPr/>
          <p:nvPr/>
        </p:nvCxnSpPr>
        <p:spPr>
          <a:xfrm rot="10800000">
            <a:off x="5098766" y="3097956"/>
            <a:ext cx="2895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79" name="Google Shape;979;p81"/>
          <p:cNvSpPr txBox="1"/>
          <p:nvPr>
            <p:ph type="body" idx="1"/>
          </p:nvPr>
        </p:nvSpPr>
        <p:spPr>
          <a:xfrm>
            <a:off x="1493434" y="2645288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3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980" name="Google Shape;980;p81"/>
          <p:cNvSpPr txBox="1"/>
          <p:nvPr>
            <p:ph type="body" idx="1"/>
          </p:nvPr>
        </p:nvSpPr>
        <p:spPr>
          <a:xfrm>
            <a:off x="324000" y="1373150"/>
            <a:ext cx="18510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Example:  </a:t>
            </a:r>
            <a:endParaRPr sz="2000"/>
          </a:p>
        </p:txBody>
      </p:sp>
      <p:sp>
        <p:nvSpPr>
          <p:cNvPr id="981" name="Google Shape;981;p81"/>
          <p:cNvSpPr txBox="1"/>
          <p:nvPr>
            <p:ph type="body" idx="1"/>
          </p:nvPr>
        </p:nvSpPr>
        <p:spPr>
          <a:xfrm>
            <a:off x="324000" y="759300"/>
            <a:ext cx="8628000" cy="4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</a:rPr>
              <a:t>Two shapes are </a:t>
            </a:r>
            <a:r>
              <a:rPr lang="en-GB" sz="2100" b="1">
                <a:solidFill>
                  <a:srgbClr val="282828"/>
                </a:solidFill>
              </a:rPr>
              <a:t>similar</a:t>
            </a:r>
            <a:r>
              <a:rPr lang="en-GB" sz="2100">
                <a:solidFill>
                  <a:srgbClr val="282828"/>
                </a:solidFill>
              </a:rPr>
              <a:t> if the lengths are in the same proportions.  </a:t>
            </a:r>
            <a:endParaRPr sz="21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5" name="Shape 985"/>
        <p:cNvGrpSpPr/>
        <p:nvPr/>
      </p:nvGrpSpPr>
      <p:grpSpPr>
        <a:xfrm>
          <a:off x="0" y="0"/>
          <a:ext cx="0" cy="0"/>
        </a:xfrm>
      </p:grpSpPr>
      <p:sp>
        <p:nvSpPr>
          <p:cNvPr id="986" name="Google Shape;986;p82"/>
          <p:cNvSpPr txBox="1"/>
          <p:nvPr>
            <p:ph type="body" idx="1"/>
          </p:nvPr>
        </p:nvSpPr>
        <p:spPr>
          <a:xfrm>
            <a:off x="324000" y="759300"/>
            <a:ext cx="86280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</a:rPr>
              <a:t>Two shapes are </a:t>
            </a:r>
            <a:r>
              <a:rPr lang="en-GB" sz="2100" b="1">
                <a:solidFill>
                  <a:srgbClr val="282828"/>
                </a:solidFill>
              </a:rPr>
              <a:t>similar</a:t>
            </a:r>
            <a:r>
              <a:rPr lang="en-GB" sz="2100">
                <a:solidFill>
                  <a:srgbClr val="282828"/>
                </a:solidFill>
              </a:rPr>
              <a:t> if the lengths are in the same proportions.  </a:t>
            </a:r>
            <a:endParaRPr sz="2100"/>
          </a:p>
        </p:txBody>
      </p:sp>
      <p:sp>
        <p:nvSpPr>
          <p:cNvPr id="987" name="Google Shape;98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pic>
        <p:nvPicPr>
          <p:cNvPr id="988" name="Google Shape;98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60" y="1986019"/>
            <a:ext cx="396495" cy="445067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2"/>
          <p:cNvSpPr/>
          <p:nvPr/>
        </p:nvSpPr>
        <p:spPr>
          <a:xfrm>
            <a:off x="1959290" y="1955524"/>
            <a:ext cx="1447500" cy="484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0" name="Google Shape;99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9556" y="1982757"/>
            <a:ext cx="405164" cy="449475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2"/>
          <p:cNvSpPr txBox="1"/>
          <p:nvPr>
            <p:ph type="body" idx="1"/>
          </p:nvPr>
        </p:nvSpPr>
        <p:spPr>
          <a:xfrm>
            <a:off x="1149934" y="204694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2 cm</a:t>
            </a:r>
            <a:endParaRPr sz="1800"/>
          </a:p>
        </p:txBody>
      </p:sp>
      <p:sp>
        <p:nvSpPr>
          <p:cNvPr id="992" name="Google Shape;992;p82"/>
          <p:cNvSpPr txBox="1"/>
          <p:nvPr>
            <p:ph type="body" idx="1"/>
          </p:nvPr>
        </p:nvSpPr>
        <p:spPr>
          <a:xfrm>
            <a:off x="2392156" y="254696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cxnSp>
        <p:nvCxnSpPr>
          <p:cNvPr id="993" name="Google Shape;993;p82"/>
          <p:cNvCxnSpPr>
            <a:stCxn id="991" idx="0"/>
            <a:endCxn id="994" idx="0"/>
          </p:cNvCxnSpPr>
          <p:nvPr/>
        </p:nvCxnSpPr>
        <p:spPr>
          <a:xfrm rot="-5400000" flipH="1">
            <a:off x="2945884" y="560444"/>
            <a:ext cx="193800" cy="3166800"/>
          </a:xfrm>
          <a:prstGeom prst="curvedConnector3">
            <a:avLst>
              <a:gd name="adj1" fmla="val -12287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5" name="Google Shape;995;p82"/>
          <p:cNvCxnSpPr/>
          <p:nvPr/>
        </p:nvCxnSpPr>
        <p:spPr>
          <a:xfrm rot="10800000" flipH="1">
            <a:off x="1824057" y="1970569"/>
            <a:ext cx="0" cy="462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96" name="Google Shape;996;p82"/>
          <p:cNvCxnSpPr/>
          <p:nvPr/>
        </p:nvCxnSpPr>
        <p:spPr>
          <a:xfrm rot="10800000">
            <a:off x="1959314" y="2546955"/>
            <a:ext cx="1447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997" name="Google Shape;99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4738" y="2018103"/>
            <a:ext cx="793120" cy="9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82"/>
          <p:cNvSpPr/>
          <p:nvPr/>
        </p:nvSpPr>
        <p:spPr>
          <a:xfrm>
            <a:off x="5098510" y="1955808"/>
            <a:ext cx="2895000" cy="990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9" name="Google Shape;99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303" y="2011439"/>
            <a:ext cx="810467" cy="918178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2"/>
          <p:cNvSpPr txBox="1"/>
          <p:nvPr>
            <p:ph type="body" idx="1"/>
          </p:nvPr>
        </p:nvSpPr>
        <p:spPr>
          <a:xfrm>
            <a:off x="4289134" y="2240614"/>
            <a:ext cx="674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 cm</a:t>
            </a:r>
            <a:endParaRPr sz="1800"/>
          </a:p>
        </p:txBody>
      </p:sp>
      <p:sp>
        <p:nvSpPr>
          <p:cNvPr id="1000" name="Google Shape;1000;p82"/>
          <p:cNvSpPr txBox="1"/>
          <p:nvPr>
            <p:ph type="body" idx="1"/>
          </p:nvPr>
        </p:nvSpPr>
        <p:spPr>
          <a:xfrm>
            <a:off x="6160699" y="3177869"/>
            <a:ext cx="7713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cxnSp>
        <p:nvCxnSpPr>
          <p:cNvPr id="1001" name="Google Shape;1001;p82"/>
          <p:cNvCxnSpPr>
            <a:stCxn id="992" idx="2"/>
          </p:cNvCxnSpPr>
          <p:nvPr/>
        </p:nvCxnSpPr>
        <p:spPr>
          <a:xfrm rot="-5400000" flipH="1">
            <a:off x="4111456" y="1477014"/>
            <a:ext cx="471300" cy="32910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2" name="Google Shape;1002;p82"/>
          <p:cNvSpPr txBox="1"/>
          <p:nvPr>
            <p:ph type="body" idx="1"/>
          </p:nvPr>
        </p:nvSpPr>
        <p:spPr>
          <a:xfrm>
            <a:off x="4056450" y="3292962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2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003" name="Google Shape;1003;p82"/>
          <p:cNvCxnSpPr/>
          <p:nvPr/>
        </p:nvCxnSpPr>
        <p:spPr>
          <a:xfrm rot="10800000" flipH="1">
            <a:off x="4947968" y="1964173"/>
            <a:ext cx="5400" cy="981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04" name="Google Shape;1004;p82"/>
          <p:cNvCxnSpPr/>
          <p:nvPr/>
        </p:nvCxnSpPr>
        <p:spPr>
          <a:xfrm rot="10800000">
            <a:off x="5098766" y="3097956"/>
            <a:ext cx="2895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05" name="Google Shape;1005;p82"/>
          <p:cNvSpPr txBox="1"/>
          <p:nvPr>
            <p:ph type="body" idx="1"/>
          </p:nvPr>
        </p:nvSpPr>
        <p:spPr>
          <a:xfrm>
            <a:off x="2832634" y="1481763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2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006" name="Google Shape;1006;p82"/>
          <p:cNvSpPr txBox="1"/>
          <p:nvPr>
            <p:ph type="body" idx="1"/>
          </p:nvPr>
        </p:nvSpPr>
        <p:spPr>
          <a:xfrm>
            <a:off x="324000" y="1373150"/>
            <a:ext cx="18510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Example:  </a:t>
            </a:r>
            <a:endParaRPr sz="2000"/>
          </a:p>
        </p:txBody>
      </p:sp>
      <p:sp>
        <p:nvSpPr>
          <p:cNvPr id="1007" name="Google Shape;1007;p82"/>
          <p:cNvSpPr txBox="1"/>
          <p:nvPr>
            <p:ph type="body" idx="1"/>
          </p:nvPr>
        </p:nvSpPr>
        <p:spPr>
          <a:xfrm>
            <a:off x="324000" y="4091400"/>
            <a:ext cx="7669500" cy="7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rectangles are </a:t>
            </a:r>
            <a:r>
              <a:rPr lang="en-GB" sz="2000" b="1"/>
              <a:t>similar</a:t>
            </a:r>
            <a:r>
              <a:rPr lang="en-GB" sz="2000"/>
              <a:t> because the multipliers between each shape are equal. 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pic>
        <p:nvPicPr>
          <p:cNvPr id="1012" name="Google Shape;101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001" y="2051740"/>
            <a:ext cx="793120" cy="1335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3"/>
          <p:cNvSpPr/>
          <p:nvPr/>
        </p:nvSpPr>
        <p:spPr>
          <a:xfrm>
            <a:off x="5109774" y="1960235"/>
            <a:ext cx="2895000" cy="1454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4" name="Google Shape;101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0567" y="2041952"/>
            <a:ext cx="810467" cy="134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3"/>
          <p:cNvSpPr txBox="1"/>
          <p:nvPr>
            <p:ph type="body" idx="1"/>
          </p:nvPr>
        </p:nvSpPr>
        <p:spPr>
          <a:xfrm>
            <a:off x="4300372" y="2517453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sp>
        <p:nvSpPr>
          <p:cNvPr id="1016" name="Google Shape;1016;p83"/>
          <p:cNvSpPr txBox="1"/>
          <p:nvPr>
            <p:ph type="body" idx="1"/>
          </p:nvPr>
        </p:nvSpPr>
        <p:spPr>
          <a:xfrm>
            <a:off x="6171937" y="3646445"/>
            <a:ext cx="7713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cxnSp>
        <p:nvCxnSpPr>
          <p:cNvPr id="1017" name="Google Shape;1017;p83"/>
          <p:cNvCxnSpPr>
            <a:stCxn id="1015" idx="2"/>
          </p:cNvCxnSpPr>
          <p:nvPr/>
        </p:nvCxnSpPr>
        <p:spPr>
          <a:xfrm rot="-5400000" flipH="1">
            <a:off x="4657522" y="2809653"/>
            <a:ext cx="990300" cy="10857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8" name="Google Shape;1018;p83"/>
          <p:cNvSpPr txBox="1"/>
          <p:nvPr>
            <p:ph type="body" idx="1"/>
          </p:nvPr>
        </p:nvSpPr>
        <p:spPr>
          <a:xfrm>
            <a:off x="4539492" y="3486411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2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019" name="Google Shape;1019;p83"/>
          <p:cNvCxnSpPr/>
          <p:nvPr/>
        </p:nvCxnSpPr>
        <p:spPr>
          <a:xfrm rot="10800000" flipH="1">
            <a:off x="4959206" y="1959649"/>
            <a:ext cx="0" cy="1455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20" name="Google Shape;1020;p83"/>
          <p:cNvCxnSpPr/>
          <p:nvPr/>
        </p:nvCxnSpPr>
        <p:spPr>
          <a:xfrm rot="10800000">
            <a:off x="5110003" y="3566532"/>
            <a:ext cx="2895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1" name="Google Shape;1021;p83"/>
          <p:cNvSpPr txBox="1"/>
          <p:nvPr>
            <p:ph type="body" idx="1"/>
          </p:nvPr>
        </p:nvSpPr>
        <p:spPr>
          <a:xfrm>
            <a:off x="324000" y="759300"/>
            <a:ext cx="86280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</a:rPr>
              <a:t>Two shapes are </a:t>
            </a:r>
            <a:r>
              <a:rPr lang="en-GB" sz="2100" b="1">
                <a:solidFill>
                  <a:srgbClr val="282828"/>
                </a:solidFill>
              </a:rPr>
              <a:t>similar</a:t>
            </a:r>
            <a:r>
              <a:rPr lang="en-GB" sz="2100">
                <a:solidFill>
                  <a:srgbClr val="282828"/>
                </a:solidFill>
              </a:rPr>
              <a:t> if the lengths are in the same proportions.  </a:t>
            </a:r>
            <a:endParaRPr sz="2100"/>
          </a:p>
        </p:txBody>
      </p:sp>
      <p:sp>
        <p:nvSpPr>
          <p:cNvPr id="1022" name="Google Shape;102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023" name="Google Shape;1023;p83"/>
          <p:cNvSpPr txBox="1"/>
          <p:nvPr>
            <p:ph type="body" idx="1"/>
          </p:nvPr>
        </p:nvSpPr>
        <p:spPr>
          <a:xfrm>
            <a:off x="324000" y="1373150"/>
            <a:ext cx="18510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Non-example:  </a:t>
            </a:r>
            <a:endParaRPr sz="2000"/>
          </a:p>
        </p:txBody>
      </p:sp>
      <p:pic>
        <p:nvPicPr>
          <p:cNvPr id="1024" name="Google Shape;102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60" y="1986019"/>
            <a:ext cx="396495" cy="445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3"/>
          <p:cNvSpPr/>
          <p:nvPr/>
        </p:nvSpPr>
        <p:spPr>
          <a:xfrm>
            <a:off x="1959290" y="1955524"/>
            <a:ext cx="1447500" cy="484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26" name="Google Shape;1026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9556" y="1982757"/>
            <a:ext cx="405164" cy="44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3"/>
          <p:cNvSpPr txBox="1"/>
          <p:nvPr>
            <p:ph type="body" idx="1"/>
          </p:nvPr>
        </p:nvSpPr>
        <p:spPr>
          <a:xfrm>
            <a:off x="1149934" y="204694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2 cm</a:t>
            </a:r>
            <a:endParaRPr sz="1800"/>
          </a:p>
        </p:txBody>
      </p:sp>
      <p:sp>
        <p:nvSpPr>
          <p:cNvPr id="1028" name="Google Shape;1028;p83"/>
          <p:cNvSpPr txBox="1"/>
          <p:nvPr>
            <p:ph type="body" idx="1"/>
          </p:nvPr>
        </p:nvSpPr>
        <p:spPr>
          <a:xfrm>
            <a:off x="2392156" y="254696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cxnSp>
        <p:nvCxnSpPr>
          <p:cNvPr id="1029" name="Google Shape;1029;p83"/>
          <p:cNvCxnSpPr>
            <a:stCxn id="1027" idx="2"/>
            <a:endCxn id="1028" idx="1"/>
          </p:cNvCxnSpPr>
          <p:nvPr/>
        </p:nvCxnSpPr>
        <p:spPr>
          <a:xfrm rot="-5400000" flipH="1">
            <a:off x="1760734" y="2085494"/>
            <a:ext cx="330000" cy="9327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0" name="Google Shape;1030;p83"/>
          <p:cNvCxnSpPr/>
          <p:nvPr/>
        </p:nvCxnSpPr>
        <p:spPr>
          <a:xfrm rot="10800000" flipH="1">
            <a:off x="1824057" y="1970569"/>
            <a:ext cx="0" cy="462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31" name="Google Shape;1031;p83"/>
          <p:cNvCxnSpPr/>
          <p:nvPr/>
        </p:nvCxnSpPr>
        <p:spPr>
          <a:xfrm rot="10800000">
            <a:off x="1959314" y="2546955"/>
            <a:ext cx="1447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32" name="Google Shape;1032;p83"/>
          <p:cNvSpPr txBox="1"/>
          <p:nvPr>
            <p:ph type="body" idx="1"/>
          </p:nvPr>
        </p:nvSpPr>
        <p:spPr>
          <a:xfrm>
            <a:off x="1493434" y="2645288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3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033" name="Google Shape;1033;p83"/>
          <p:cNvSpPr txBox="1"/>
          <p:nvPr>
            <p:ph type="body" idx="1"/>
          </p:nvPr>
        </p:nvSpPr>
        <p:spPr>
          <a:xfrm>
            <a:off x="324000" y="4091400"/>
            <a:ext cx="7534200" cy="7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rectangles are not </a:t>
            </a:r>
            <a:r>
              <a:rPr lang="en-GB" sz="2000" b="1"/>
              <a:t>similar</a:t>
            </a:r>
            <a:r>
              <a:rPr lang="en-GB" sz="2000"/>
              <a:t> because the multipliers within each shape are not equal. 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7" name="Shape 1037"/>
        <p:cNvGrpSpPr/>
        <p:nvPr/>
      </p:nvGrpSpPr>
      <p:grpSpPr>
        <a:xfrm>
          <a:off x="0" y="0"/>
          <a:ext cx="0" cy="0"/>
        </a:xfrm>
      </p:grpSpPr>
      <p:pic>
        <p:nvPicPr>
          <p:cNvPr id="1038" name="Google Shape;103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001" y="2051740"/>
            <a:ext cx="793120" cy="1335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84"/>
          <p:cNvSpPr/>
          <p:nvPr/>
        </p:nvSpPr>
        <p:spPr>
          <a:xfrm>
            <a:off x="5109774" y="1960235"/>
            <a:ext cx="2895000" cy="1454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40" name="Google Shape;104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0567" y="2041952"/>
            <a:ext cx="810467" cy="134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4"/>
          <p:cNvSpPr txBox="1"/>
          <p:nvPr>
            <p:ph type="body" idx="1"/>
          </p:nvPr>
        </p:nvSpPr>
        <p:spPr>
          <a:xfrm>
            <a:off x="4300372" y="2517453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sp>
        <p:nvSpPr>
          <p:cNvPr id="1042" name="Google Shape;1042;p84"/>
          <p:cNvSpPr txBox="1"/>
          <p:nvPr>
            <p:ph type="body" idx="1"/>
          </p:nvPr>
        </p:nvSpPr>
        <p:spPr>
          <a:xfrm>
            <a:off x="6171937" y="3646445"/>
            <a:ext cx="7713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cxnSp>
        <p:nvCxnSpPr>
          <p:cNvPr id="1043" name="Google Shape;1043;p84"/>
          <p:cNvCxnSpPr>
            <a:stCxn id="1044" idx="2"/>
          </p:cNvCxnSpPr>
          <p:nvPr/>
        </p:nvCxnSpPr>
        <p:spPr>
          <a:xfrm rot="-5400000" flipH="1">
            <a:off x="3718156" y="1870314"/>
            <a:ext cx="960900" cy="29940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5" name="Google Shape;1045;p84"/>
          <p:cNvSpPr txBox="1"/>
          <p:nvPr>
            <p:ph type="body" idx="1"/>
          </p:nvPr>
        </p:nvSpPr>
        <p:spPr>
          <a:xfrm>
            <a:off x="3130667" y="3438236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2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1046" name="Google Shape;1046;p84"/>
          <p:cNvCxnSpPr/>
          <p:nvPr/>
        </p:nvCxnSpPr>
        <p:spPr>
          <a:xfrm rot="10800000" flipH="1">
            <a:off x="4959206" y="1959649"/>
            <a:ext cx="0" cy="1455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47" name="Google Shape;1047;p84"/>
          <p:cNvCxnSpPr/>
          <p:nvPr/>
        </p:nvCxnSpPr>
        <p:spPr>
          <a:xfrm rot="10800000">
            <a:off x="5110003" y="3566532"/>
            <a:ext cx="2895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48" name="Google Shape;1048;p84"/>
          <p:cNvSpPr txBox="1"/>
          <p:nvPr>
            <p:ph type="body" idx="1"/>
          </p:nvPr>
        </p:nvSpPr>
        <p:spPr>
          <a:xfrm>
            <a:off x="324000" y="759300"/>
            <a:ext cx="86280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</a:rPr>
              <a:t>Two shapes are </a:t>
            </a:r>
            <a:r>
              <a:rPr lang="en-GB" sz="2100" b="1">
                <a:solidFill>
                  <a:srgbClr val="282828"/>
                </a:solidFill>
              </a:rPr>
              <a:t>similar</a:t>
            </a:r>
            <a:r>
              <a:rPr lang="en-GB" sz="2100">
                <a:solidFill>
                  <a:srgbClr val="282828"/>
                </a:solidFill>
              </a:rPr>
              <a:t> if the lengths are in the same proportions.  </a:t>
            </a:r>
            <a:endParaRPr sz="2100"/>
          </a:p>
        </p:txBody>
      </p:sp>
      <p:sp>
        <p:nvSpPr>
          <p:cNvPr id="1049" name="Google Shape;104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050" name="Google Shape;1050;p84"/>
          <p:cNvSpPr txBox="1"/>
          <p:nvPr>
            <p:ph type="body" idx="1"/>
          </p:nvPr>
        </p:nvSpPr>
        <p:spPr>
          <a:xfrm>
            <a:off x="324000" y="1373150"/>
            <a:ext cx="1851000" cy="32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Non-example:  </a:t>
            </a:r>
            <a:endParaRPr sz="2000"/>
          </a:p>
        </p:txBody>
      </p:sp>
      <p:pic>
        <p:nvPicPr>
          <p:cNvPr id="1051" name="Google Shape;105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60" y="1986019"/>
            <a:ext cx="396495" cy="445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4"/>
          <p:cNvSpPr/>
          <p:nvPr/>
        </p:nvSpPr>
        <p:spPr>
          <a:xfrm>
            <a:off x="1959290" y="1955524"/>
            <a:ext cx="1447500" cy="484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53" name="Google Shape;105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9556" y="1982757"/>
            <a:ext cx="405164" cy="44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84"/>
          <p:cNvSpPr txBox="1"/>
          <p:nvPr>
            <p:ph type="body" idx="1"/>
          </p:nvPr>
        </p:nvSpPr>
        <p:spPr>
          <a:xfrm>
            <a:off x="1149934" y="204694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2 cm</a:t>
            </a:r>
            <a:endParaRPr sz="1800"/>
          </a:p>
        </p:txBody>
      </p:sp>
      <p:sp>
        <p:nvSpPr>
          <p:cNvPr id="1044" name="Google Shape;1044;p84"/>
          <p:cNvSpPr txBox="1"/>
          <p:nvPr>
            <p:ph type="body" idx="1"/>
          </p:nvPr>
        </p:nvSpPr>
        <p:spPr>
          <a:xfrm>
            <a:off x="2392156" y="2546964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cxnSp>
        <p:nvCxnSpPr>
          <p:cNvPr id="1055" name="Google Shape;1055;p84"/>
          <p:cNvCxnSpPr>
            <a:stCxn id="1054" idx="0"/>
            <a:endCxn id="1041" idx="0"/>
          </p:cNvCxnSpPr>
          <p:nvPr/>
        </p:nvCxnSpPr>
        <p:spPr>
          <a:xfrm rot="-5400000" flipH="1">
            <a:off x="2799334" y="706994"/>
            <a:ext cx="470400" cy="3150300"/>
          </a:xfrm>
          <a:prstGeom prst="curvedConnector3">
            <a:avLst>
              <a:gd name="adj1" fmla="val -50622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6" name="Google Shape;1056;p84"/>
          <p:cNvCxnSpPr/>
          <p:nvPr/>
        </p:nvCxnSpPr>
        <p:spPr>
          <a:xfrm rot="10800000" flipH="1">
            <a:off x="1824057" y="1970569"/>
            <a:ext cx="0" cy="462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57" name="Google Shape;1057;p84"/>
          <p:cNvCxnSpPr/>
          <p:nvPr/>
        </p:nvCxnSpPr>
        <p:spPr>
          <a:xfrm rot="10800000">
            <a:off x="1959314" y="2546955"/>
            <a:ext cx="1447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58" name="Google Shape;1058;p84"/>
          <p:cNvSpPr txBox="1"/>
          <p:nvPr>
            <p:ph type="body" idx="1"/>
          </p:nvPr>
        </p:nvSpPr>
        <p:spPr>
          <a:xfrm>
            <a:off x="3052734" y="1545888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× 3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059" name="Google Shape;1059;p84"/>
          <p:cNvSpPr txBox="1"/>
          <p:nvPr>
            <p:ph type="body" idx="1"/>
          </p:nvPr>
        </p:nvSpPr>
        <p:spPr>
          <a:xfrm>
            <a:off x="324000" y="4091400"/>
            <a:ext cx="8085600" cy="7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rectangles are not </a:t>
            </a:r>
            <a:r>
              <a:rPr lang="en-GB" sz="2000" b="1"/>
              <a:t>similar</a:t>
            </a:r>
            <a:r>
              <a:rPr lang="en-GB" sz="2000"/>
              <a:t> because the multipliers between each shape are not equal. 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3" name="Shape 1063"/>
        <p:cNvGrpSpPr/>
        <p:nvPr/>
      </p:nvGrpSpPr>
      <p:grpSpPr>
        <a:xfrm>
          <a:off x="0" y="0"/>
          <a:ext cx="0" cy="0"/>
        </a:xfrm>
      </p:grpSpPr>
      <p:sp>
        <p:nvSpPr>
          <p:cNvPr id="1064" name="Google Shape;1064;p85"/>
          <p:cNvSpPr txBox="1"/>
          <p:nvPr>
            <p:ph type="body" idx="1"/>
          </p:nvPr>
        </p:nvSpPr>
        <p:spPr>
          <a:xfrm>
            <a:off x="324000" y="759300"/>
            <a:ext cx="86280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500">
                <a:solidFill>
                  <a:srgbClr val="282828"/>
                </a:solidFill>
              </a:rPr>
              <a:t>Which triangle is </a:t>
            </a:r>
            <a:r>
              <a:rPr lang="en-GB" sz="2500" b="1">
                <a:solidFill>
                  <a:srgbClr val="282828"/>
                </a:solidFill>
              </a:rPr>
              <a:t>similar</a:t>
            </a:r>
            <a:r>
              <a:rPr lang="en-GB" sz="2500">
                <a:solidFill>
                  <a:srgbClr val="282828"/>
                </a:solidFill>
              </a:rPr>
              <a:t> to triangle A?  </a:t>
            </a:r>
            <a:endParaRPr sz="2500"/>
          </a:p>
        </p:txBody>
      </p:sp>
      <p:sp>
        <p:nvSpPr>
          <p:cNvPr id="1065" name="Google Shape;10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066" name="Google Shape;1066;p85"/>
          <p:cNvSpPr/>
          <p:nvPr/>
        </p:nvSpPr>
        <p:spPr>
          <a:xfrm rot="-5400000">
            <a:off x="262195" y="1985095"/>
            <a:ext cx="1097400" cy="8334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7" name="Google Shape;1067;p85"/>
          <p:cNvSpPr/>
          <p:nvPr/>
        </p:nvSpPr>
        <p:spPr>
          <a:xfrm rot="-5400000">
            <a:off x="2527200" y="2142498"/>
            <a:ext cx="2340900" cy="17781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8" name="Google Shape;1068;p85"/>
          <p:cNvSpPr/>
          <p:nvPr/>
        </p:nvSpPr>
        <p:spPr>
          <a:xfrm rot="-5400000">
            <a:off x="5995431" y="2444704"/>
            <a:ext cx="2340900" cy="12057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9" name="Google Shape;1069;p85"/>
          <p:cNvSpPr txBox="1"/>
          <p:nvPr>
            <p:ph type="body" idx="1"/>
          </p:nvPr>
        </p:nvSpPr>
        <p:spPr>
          <a:xfrm>
            <a:off x="556206" y="3162226"/>
            <a:ext cx="61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3 cm</a:t>
            </a:r>
            <a:endParaRPr sz="1800"/>
          </a:p>
        </p:txBody>
      </p:sp>
      <p:cxnSp>
        <p:nvCxnSpPr>
          <p:cNvPr id="1070" name="Google Shape;1070;p85"/>
          <p:cNvCxnSpPr/>
          <p:nvPr/>
        </p:nvCxnSpPr>
        <p:spPr>
          <a:xfrm rot="10800000">
            <a:off x="394195" y="3102895"/>
            <a:ext cx="833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71" name="Google Shape;1071;p85"/>
          <p:cNvCxnSpPr/>
          <p:nvPr/>
        </p:nvCxnSpPr>
        <p:spPr>
          <a:xfrm flipH="1">
            <a:off x="1379995" y="1853095"/>
            <a:ext cx="0" cy="109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72" name="Google Shape;1072;p85"/>
          <p:cNvCxnSpPr/>
          <p:nvPr/>
        </p:nvCxnSpPr>
        <p:spPr>
          <a:xfrm flipH="1">
            <a:off x="4749137" y="1861201"/>
            <a:ext cx="0" cy="234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73" name="Google Shape;1073;p85"/>
          <p:cNvCxnSpPr/>
          <p:nvPr/>
        </p:nvCxnSpPr>
        <p:spPr>
          <a:xfrm rot="10800000">
            <a:off x="2846299" y="4314436"/>
            <a:ext cx="1740300" cy="1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74" name="Google Shape;1074;p85"/>
          <p:cNvSpPr txBox="1"/>
          <p:nvPr>
            <p:ph type="body" idx="1"/>
          </p:nvPr>
        </p:nvSpPr>
        <p:spPr>
          <a:xfrm>
            <a:off x="1413599" y="2287125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 cm</a:t>
            </a:r>
            <a:endParaRPr sz="1800"/>
          </a:p>
        </p:txBody>
      </p:sp>
      <p:cxnSp>
        <p:nvCxnSpPr>
          <p:cNvPr id="1075" name="Google Shape;1075;p85"/>
          <p:cNvCxnSpPr/>
          <p:nvPr/>
        </p:nvCxnSpPr>
        <p:spPr>
          <a:xfrm flipH="1">
            <a:off x="7931106" y="1902795"/>
            <a:ext cx="0" cy="234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76" name="Google Shape;1076;p85"/>
          <p:cNvCxnSpPr/>
          <p:nvPr/>
        </p:nvCxnSpPr>
        <p:spPr>
          <a:xfrm flipH="1">
            <a:off x="6579081" y="4328048"/>
            <a:ext cx="1189500" cy="1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77" name="Google Shape;1077;p85"/>
          <p:cNvSpPr txBox="1"/>
          <p:nvPr>
            <p:ph type="body" idx="1"/>
          </p:nvPr>
        </p:nvSpPr>
        <p:spPr>
          <a:xfrm>
            <a:off x="3423695" y="4321037"/>
            <a:ext cx="772800" cy="3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9 cm</a:t>
            </a:r>
            <a:endParaRPr sz="1800"/>
          </a:p>
        </p:txBody>
      </p:sp>
      <p:sp>
        <p:nvSpPr>
          <p:cNvPr id="1078" name="Google Shape;1078;p85"/>
          <p:cNvSpPr txBox="1"/>
          <p:nvPr>
            <p:ph type="body" idx="1"/>
          </p:nvPr>
        </p:nvSpPr>
        <p:spPr>
          <a:xfrm>
            <a:off x="4830411" y="3022329"/>
            <a:ext cx="772800" cy="3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sp>
        <p:nvSpPr>
          <p:cNvPr id="1079" name="Google Shape;1079;p85"/>
          <p:cNvSpPr txBox="1"/>
          <p:nvPr>
            <p:ph type="body" idx="1"/>
          </p:nvPr>
        </p:nvSpPr>
        <p:spPr>
          <a:xfrm>
            <a:off x="7971105" y="3054325"/>
            <a:ext cx="772800" cy="3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sp>
        <p:nvSpPr>
          <p:cNvPr id="1080" name="Google Shape;1080;p85"/>
          <p:cNvSpPr txBox="1"/>
          <p:nvPr>
            <p:ph type="body" idx="1"/>
          </p:nvPr>
        </p:nvSpPr>
        <p:spPr>
          <a:xfrm>
            <a:off x="6843745" y="4343759"/>
            <a:ext cx="660000" cy="3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sp>
        <p:nvSpPr>
          <p:cNvPr id="1081" name="Google Shape;1081;p85"/>
          <p:cNvSpPr txBox="1"/>
          <p:nvPr>
            <p:ph type="body" idx="1"/>
          </p:nvPr>
        </p:nvSpPr>
        <p:spPr>
          <a:xfrm>
            <a:off x="857103" y="1361400"/>
            <a:ext cx="242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</a:t>
            </a:r>
            <a:endParaRPr sz="2000"/>
          </a:p>
        </p:txBody>
      </p:sp>
      <p:sp>
        <p:nvSpPr>
          <p:cNvPr id="1082" name="Google Shape;1082;p85"/>
          <p:cNvSpPr txBox="1"/>
          <p:nvPr>
            <p:ph type="body" idx="1"/>
          </p:nvPr>
        </p:nvSpPr>
        <p:spPr>
          <a:xfrm>
            <a:off x="3733353" y="1356975"/>
            <a:ext cx="242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B</a:t>
            </a:r>
            <a:endParaRPr sz="2000"/>
          </a:p>
        </p:txBody>
      </p:sp>
      <p:sp>
        <p:nvSpPr>
          <p:cNvPr id="1083" name="Google Shape;1083;p85"/>
          <p:cNvSpPr txBox="1"/>
          <p:nvPr>
            <p:ph type="body" idx="1"/>
          </p:nvPr>
        </p:nvSpPr>
        <p:spPr>
          <a:xfrm>
            <a:off x="6923253" y="1355100"/>
            <a:ext cx="242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C</a:t>
            </a:r>
            <a:endParaRPr sz="2000"/>
          </a:p>
        </p:txBody>
      </p:sp>
      <p:pic>
        <p:nvPicPr>
          <p:cNvPr id="1084" name="Google Shape;108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458" y="127590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5" name="Google Shape;1085;p85"/>
          <p:cNvCxnSpPr>
            <a:endCxn id="1078" idx="1"/>
          </p:cNvCxnSpPr>
          <p:nvPr/>
        </p:nvCxnSpPr>
        <p:spPr>
          <a:xfrm>
            <a:off x="1995111" y="2484729"/>
            <a:ext cx="2835300" cy="7188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6" name="Google Shape;1086;p85"/>
          <p:cNvCxnSpPr>
            <a:endCxn id="1077" idx="1"/>
          </p:cNvCxnSpPr>
          <p:nvPr/>
        </p:nvCxnSpPr>
        <p:spPr>
          <a:xfrm>
            <a:off x="897995" y="3502037"/>
            <a:ext cx="2525700" cy="1000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7" name="Google Shape;1087;p85"/>
          <p:cNvSpPr txBox="1"/>
          <p:nvPr>
            <p:ph type="body" idx="1"/>
          </p:nvPr>
        </p:nvSpPr>
        <p:spPr>
          <a:xfrm>
            <a:off x="2887199" y="2432025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8" name="Google Shape;1088;p85"/>
          <p:cNvSpPr txBox="1"/>
          <p:nvPr>
            <p:ph type="body" idx="1"/>
          </p:nvPr>
        </p:nvSpPr>
        <p:spPr>
          <a:xfrm>
            <a:off x="1767299" y="3617550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89" name="Google Shape;1089;p85"/>
          <p:cNvCxnSpPr>
            <a:endCxn id="1079" idx="1"/>
          </p:cNvCxnSpPr>
          <p:nvPr/>
        </p:nvCxnSpPr>
        <p:spPr>
          <a:xfrm>
            <a:off x="2017605" y="2492125"/>
            <a:ext cx="5953500" cy="7434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0" name="Google Shape;1090;p85"/>
          <p:cNvSpPr txBox="1"/>
          <p:nvPr>
            <p:ph type="body" idx="1"/>
          </p:nvPr>
        </p:nvSpPr>
        <p:spPr>
          <a:xfrm>
            <a:off x="2887211" y="2294013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91" name="Google Shape;1091;p85"/>
          <p:cNvCxnSpPr>
            <a:stCxn id="1069" idx="2"/>
            <a:endCxn id="1080" idx="1"/>
          </p:cNvCxnSpPr>
          <p:nvPr/>
        </p:nvCxnSpPr>
        <p:spPr>
          <a:xfrm>
            <a:off x="865656" y="3502126"/>
            <a:ext cx="5978100" cy="10227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2" name="Google Shape;1092;p85"/>
          <p:cNvSpPr txBox="1"/>
          <p:nvPr>
            <p:ph type="body" idx="1"/>
          </p:nvPr>
        </p:nvSpPr>
        <p:spPr>
          <a:xfrm>
            <a:off x="1877286" y="3416725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6" name="Shape 1096"/>
        <p:cNvGrpSpPr/>
        <p:nvPr/>
      </p:nvGrpSpPr>
      <p:grpSpPr>
        <a:xfrm>
          <a:off x="0" y="0"/>
          <a:ext cx="0" cy="0"/>
        </a:xfrm>
      </p:grpSpPr>
      <p:sp>
        <p:nvSpPr>
          <p:cNvPr id="1097" name="Google Shape;1097;p86"/>
          <p:cNvSpPr txBox="1"/>
          <p:nvPr>
            <p:ph type="body" idx="1"/>
          </p:nvPr>
        </p:nvSpPr>
        <p:spPr>
          <a:xfrm>
            <a:off x="324000" y="759300"/>
            <a:ext cx="8628000" cy="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500">
                <a:solidFill>
                  <a:srgbClr val="282828"/>
                </a:solidFill>
              </a:rPr>
              <a:t>Which triangle is similar to triangle A?  </a:t>
            </a:r>
            <a:endParaRPr sz="2500"/>
          </a:p>
        </p:txBody>
      </p:sp>
      <p:sp>
        <p:nvSpPr>
          <p:cNvPr id="1098" name="Google Shape;109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099" name="Google Shape;1099;p86"/>
          <p:cNvSpPr/>
          <p:nvPr/>
        </p:nvSpPr>
        <p:spPr>
          <a:xfrm rot="-5400000">
            <a:off x="-74548" y="2322036"/>
            <a:ext cx="1770900" cy="8334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0" name="Google Shape;1100;p86"/>
          <p:cNvSpPr txBox="1"/>
          <p:nvPr>
            <p:ph type="body" idx="1"/>
          </p:nvPr>
        </p:nvSpPr>
        <p:spPr>
          <a:xfrm>
            <a:off x="556216" y="3839419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3 cm</a:t>
            </a:r>
            <a:endParaRPr sz="1800"/>
          </a:p>
        </p:txBody>
      </p:sp>
      <p:cxnSp>
        <p:nvCxnSpPr>
          <p:cNvPr id="1101" name="Google Shape;1101;p86"/>
          <p:cNvCxnSpPr/>
          <p:nvPr/>
        </p:nvCxnSpPr>
        <p:spPr>
          <a:xfrm rot="10800000">
            <a:off x="394200" y="3771505"/>
            <a:ext cx="833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2" name="Google Shape;1102;p86"/>
          <p:cNvCxnSpPr/>
          <p:nvPr/>
        </p:nvCxnSpPr>
        <p:spPr>
          <a:xfrm flipH="1">
            <a:off x="1379999" y="1853100"/>
            <a:ext cx="0" cy="177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3" name="Google Shape;1103;p86"/>
          <p:cNvCxnSpPr/>
          <p:nvPr/>
        </p:nvCxnSpPr>
        <p:spPr>
          <a:xfrm flipH="1">
            <a:off x="4291929" y="1860464"/>
            <a:ext cx="0" cy="2346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4" name="Google Shape;1104;p86"/>
          <p:cNvCxnSpPr/>
          <p:nvPr/>
        </p:nvCxnSpPr>
        <p:spPr>
          <a:xfrm rot="10800000">
            <a:off x="3015349" y="4361489"/>
            <a:ext cx="1094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05" name="Google Shape;1105;p86"/>
          <p:cNvSpPr txBox="1"/>
          <p:nvPr>
            <p:ph type="body" idx="1"/>
          </p:nvPr>
        </p:nvSpPr>
        <p:spPr>
          <a:xfrm>
            <a:off x="1419903" y="2712575"/>
            <a:ext cx="76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9 cm</a:t>
            </a:r>
            <a:endParaRPr sz="1800"/>
          </a:p>
        </p:txBody>
      </p:sp>
      <p:sp>
        <p:nvSpPr>
          <p:cNvPr id="1106" name="Google Shape;1106;p86"/>
          <p:cNvSpPr txBox="1"/>
          <p:nvPr>
            <p:ph type="body" idx="1"/>
          </p:nvPr>
        </p:nvSpPr>
        <p:spPr>
          <a:xfrm>
            <a:off x="3265992" y="4368353"/>
            <a:ext cx="772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 cm</a:t>
            </a:r>
            <a:endParaRPr sz="1800"/>
          </a:p>
        </p:txBody>
      </p:sp>
      <p:sp>
        <p:nvSpPr>
          <p:cNvPr id="1107" name="Google Shape;1107;p86"/>
          <p:cNvSpPr txBox="1"/>
          <p:nvPr>
            <p:ph type="body" idx="1"/>
          </p:nvPr>
        </p:nvSpPr>
        <p:spPr>
          <a:xfrm>
            <a:off x="4373202" y="3124399"/>
            <a:ext cx="772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sp>
        <p:nvSpPr>
          <p:cNvPr id="1108" name="Google Shape;1108;p86"/>
          <p:cNvSpPr txBox="1"/>
          <p:nvPr>
            <p:ph type="body" idx="1"/>
          </p:nvPr>
        </p:nvSpPr>
        <p:spPr>
          <a:xfrm>
            <a:off x="857103" y="1361400"/>
            <a:ext cx="242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</a:t>
            </a:r>
            <a:endParaRPr sz="2000"/>
          </a:p>
        </p:txBody>
      </p:sp>
      <p:sp>
        <p:nvSpPr>
          <p:cNvPr id="1109" name="Google Shape;1109;p86"/>
          <p:cNvSpPr txBox="1"/>
          <p:nvPr>
            <p:ph type="body" idx="1"/>
          </p:nvPr>
        </p:nvSpPr>
        <p:spPr>
          <a:xfrm>
            <a:off x="3733353" y="1356975"/>
            <a:ext cx="242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B</a:t>
            </a:r>
            <a:endParaRPr sz="2000"/>
          </a:p>
        </p:txBody>
      </p:sp>
      <p:sp>
        <p:nvSpPr>
          <p:cNvPr id="1110" name="Google Shape;1110;p86"/>
          <p:cNvSpPr txBox="1"/>
          <p:nvPr>
            <p:ph type="body" idx="1"/>
          </p:nvPr>
        </p:nvSpPr>
        <p:spPr>
          <a:xfrm>
            <a:off x="6923253" y="1355100"/>
            <a:ext cx="2421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C</a:t>
            </a:r>
            <a:endParaRPr sz="2000"/>
          </a:p>
        </p:txBody>
      </p:sp>
      <p:sp>
        <p:nvSpPr>
          <p:cNvPr id="1111" name="Google Shape;1111;p86"/>
          <p:cNvSpPr/>
          <p:nvPr/>
        </p:nvSpPr>
        <p:spPr>
          <a:xfrm rot="-5400000">
            <a:off x="2399750" y="2512414"/>
            <a:ext cx="2325300" cy="10941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112" name="Google Shape;1112;p86"/>
          <p:cNvCxnSpPr/>
          <p:nvPr/>
        </p:nvCxnSpPr>
        <p:spPr>
          <a:xfrm flipH="1">
            <a:off x="7636552" y="1870981"/>
            <a:ext cx="0" cy="2346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13" name="Google Shape;1113;p86"/>
          <p:cNvCxnSpPr/>
          <p:nvPr/>
        </p:nvCxnSpPr>
        <p:spPr>
          <a:xfrm rot="10800000">
            <a:off x="5887472" y="4372007"/>
            <a:ext cx="1566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14" name="Google Shape;1114;p86"/>
          <p:cNvSpPr txBox="1"/>
          <p:nvPr>
            <p:ph type="body" idx="1"/>
          </p:nvPr>
        </p:nvSpPr>
        <p:spPr>
          <a:xfrm>
            <a:off x="6382015" y="4378870"/>
            <a:ext cx="772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sp>
        <p:nvSpPr>
          <p:cNvPr id="1115" name="Google Shape;1115;p86"/>
          <p:cNvSpPr txBox="1"/>
          <p:nvPr>
            <p:ph type="body" idx="1"/>
          </p:nvPr>
        </p:nvSpPr>
        <p:spPr>
          <a:xfrm>
            <a:off x="7717825" y="3134917"/>
            <a:ext cx="772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 cm</a:t>
            </a:r>
            <a:endParaRPr sz="1800"/>
          </a:p>
        </p:txBody>
      </p:sp>
      <p:sp>
        <p:nvSpPr>
          <p:cNvPr id="1116" name="Google Shape;1116;p86"/>
          <p:cNvSpPr/>
          <p:nvPr/>
        </p:nvSpPr>
        <p:spPr>
          <a:xfrm rot="-5400000">
            <a:off x="5504448" y="2282930"/>
            <a:ext cx="2325300" cy="15741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7" name="Google Shape;1117;p86"/>
          <p:cNvSpPr txBox="1"/>
          <p:nvPr>
            <p:ph type="body" idx="1"/>
          </p:nvPr>
        </p:nvSpPr>
        <p:spPr>
          <a:xfrm>
            <a:off x="1663124" y="3617875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18" name="Google Shape;1118;p86"/>
          <p:cNvCxnSpPr>
            <a:stCxn id="1100" idx="3"/>
            <a:endCxn id="1105" idx="2"/>
          </p:cNvCxnSpPr>
          <p:nvPr/>
        </p:nvCxnSpPr>
        <p:spPr>
          <a:xfrm rot="10800000" flipH="1">
            <a:off x="1175116" y="3101569"/>
            <a:ext cx="629100" cy="9324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9" name="Google Shape;1119;p86"/>
          <p:cNvCxnSpPr>
            <a:stCxn id="1106" idx="3"/>
            <a:endCxn id="1107" idx="2"/>
          </p:cNvCxnSpPr>
          <p:nvPr/>
        </p:nvCxnSpPr>
        <p:spPr>
          <a:xfrm rot="10800000" flipH="1">
            <a:off x="4038792" y="3375053"/>
            <a:ext cx="720900" cy="11187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0" name="Google Shape;1120;p86"/>
          <p:cNvSpPr txBox="1"/>
          <p:nvPr>
            <p:ph type="body" idx="1"/>
          </p:nvPr>
        </p:nvSpPr>
        <p:spPr>
          <a:xfrm>
            <a:off x="4613074" y="4033975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21" name="Google Shape;1121;p86"/>
          <p:cNvCxnSpPr>
            <a:stCxn id="1114" idx="3"/>
            <a:endCxn id="1115" idx="2"/>
          </p:cNvCxnSpPr>
          <p:nvPr/>
        </p:nvCxnSpPr>
        <p:spPr>
          <a:xfrm rot="10800000" flipH="1">
            <a:off x="7154815" y="3385570"/>
            <a:ext cx="949500" cy="11187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2" name="Google Shape;1122;p86"/>
          <p:cNvSpPr txBox="1"/>
          <p:nvPr>
            <p:ph type="body" idx="1"/>
          </p:nvPr>
        </p:nvSpPr>
        <p:spPr>
          <a:xfrm>
            <a:off x="7928974" y="4033975"/>
            <a:ext cx="768900" cy="33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3" name="Google Shape;112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458" y="1275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7" name="Shape 1127"/>
        <p:cNvGrpSpPr/>
        <p:nvPr/>
      </p:nvGrpSpPr>
      <p:grpSpPr>
        <a:xfrm>
          <a:off x="0" y="0"/>
          <a:ext cx="0" cy="0"/>
        </a:xfrm>
      </p:grpSpPr>
      <p:sp>
        <p:nvSpPr>
          <p:cNvPr id="1128" name="Google Shape;1128;p87"/>
          <p:cNvSpPr/>
          <p:nvPr/>
        </p:nvSpPr>
        <p:spPr>
          <a:xfrm>
            <a:off x="5079393" y="1223400"/>
            <a:ext cx="2354700" cy="1191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9" name="Google Shape;1129;p87"/>
          <p:cNvSpPr/>
          <p:nvPr/>
        </p:nvSpPr>
        <p:spPr>
          <a:xfrm>
            <a:off x="737550" y="2808110"/>
            <a:ext cx="1862700" cy="945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0" name="Google Shape;1130;p87"/>
          <p:cNvSpPr/>
          <p:nvPr/>
        </p:nvSpPr>
        <p:spPr>
          <a:xfrm>
            <a:off x="4129528" y="3271481"/>
            <a:ext cx="924300" cy="482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1" name="Google Shape;1131;p87"/>
          <p:cNvSpPr/>
          <p:nvPr/>
        </p:nvSpPr>
        <p:spPr>
          <a:xfrm>
            <a:off x="6852396" y="3308542"/>
            <a:ext cx="1269600" cy="440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2" name="Google Shape;1132;p8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133" name="Google Shape;1133;p8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rectangle is not </a:t>
            </a:r>
            <a:r>
              <a:rPr lang="en-GB" b="1"/>
              <a:t>similar</a:t>
            </a:r>
            <a:r>
              <a:rPr lang="en-GB"/>
              <a:t> to the object?</a:t>
            </a:r>
            <a:endParaRPr/>
          </a:p>
        </p:txBody>
      </p:sp>
      <p:sp>
        <p:nvSpPr>
          <p:cNvPr id="1134" name="Google Shape;1134;p87"/>
          <p:cNvSpPr txBox="1"/>
          <p:nvPr>
            <p:ph type="title"/>
          </p:nvPr>
        </p:nvSpPr>
        <p:spPr>
          <a:xfrm>
            <a:off x="3545100" y="1396775"/>
            <a:ext cx="774900" cy="3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object</a:t>
            </a:r>
            <a:endParaRPr sz="1800"/>
          </a:p>
        </p:txBody>
      </p:sp>
      <p:cxnSp>
        <p:nvCxnSpPr>
          <p:cNvPr id="1135" name="Google Shape;1135;p87"/>
          <p:cNvCxnSpPr/>
          <p:nvPr/>
        </p:nvCxnSpPr>
        <p:spPr>
          <a:xfrm>
            <a:off x="4260600" y="1620000"/>
            <a:ext cx="609000" cy="179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6" name="Google Shape;1136;p87"/>
          <p:cNvCxnSpPr/>
          <p:nvPr/>
        </p:nvCxnSpPr>
        <p:spPr>
          <a:xfrm>
            <a:off x="737550" y="3862180"/>
            <a:ext cx="1862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7" name="Google Shape;1137;p87"/>
          <p:cNvSpPr txBox="1"/>
          <p:nvPr>
            <p:ph type="body" idx="4294967295"/>
          </p:nvPr>
        </p:nvSpPr>
        <p:spPr>
          <a:xfrm>
            <a:off x="1402929" y="3862169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cxnSp>
        <p:nvCxnSpPr>
          <p:cNvPr id="1138" name="Google Shape;1138;p87"/>
          <p:cNvCxnSpPr/>
          <p:nvPr/>
        </p:nvCxnSpPr>
        <p:spPr>
          <a:xfrm>
            <a:off x="4129528" y="3865351"/>
            <a:ext cx="924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39" name="Google Shape;1139;p87"/>
          <p:cNvCxnSpPr/>
          <p:nvPr/>
        </p:nvCxnSpPr>
        <p:spPr>
          <a:xfrm>
            <a:off x="6852396" y="3856086"/>
            <a:ext cx="1269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0" name="Google Shape;1140;p87"/>
          <p:cNvCxnSpPr/>
          <p:nvPr/>
        </p:nvCxnSpPr>
        <p:spPr>
          <a:xfrm flipH="1">
            <a:off x="8232288" y="3308542"/>
            <a:ext cx="0" cy="440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1" name="Google Shape;1141;p87"/>
          <p:cNvCxnSpPr/>
          <p:nvPr/>
        </p:nvCxnSpPr>
        <p:spPr>
          <a:xfrm flipH="1">
            <a:off x="5153258" y="3271481"/>
            <a:ext cx="0" cy="482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2" name="Google Shape;1142;p87"/>
          <p:cNvCxnSpPr/>
          <p:nvPr/>
        </p:nvCxnSpPr>
        <p:spPr>
          <a:xfrm flipH="1">
            <a:off x="2735700" y="2808110"/>
            <a:ext cx="0" cy="94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3" name="Google Shape;1143;p87"/>
          <p:cNvSpPr txBox="1"/>
          <p:nvPr>
            <p:ph type="body" idx="4294967295"/>
          </p:nvPr>
        </p:nvSpPr>
        <p:spPr>
          <a:xfrm>
            <a:off x="2763885" y="3200260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1144" name="Google Shape;1144;p87"/>
          <p:cNvSpPr txBox="1"/>
          <p:nvPr>
            <p:ph type="body" idx="4294967295"/>
          </p:nvPr>
        </p:nvSpPr>
        <p:spPr>
          <a:xfrm>
            <a:off x="4333124" y="3865360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cm</a:t>
            </a:r>
            <a:endParaRPr sz="1600"/>
          </a:p>
        </p:txBody>
      </p:sp>
      <p:sp>
        <p:nvSpPr>
          <p:cNvPr id="1145" name="Google Shape;1145;p87"/>
          <p:cNvSpPr txBox="1"/>
          <p:nvPr>
            <p:ph type="body" idx="4294967295"/>
          </p:nvPr>
        </p:nvSpPr>
        <p:spPr>
          <a:xfrm>
            <a:off x="5223871" y="3381394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 cm</a:t>
            </a:r>
            <a:endParaRPr sz="1600"/>
          </a:p>
        </p:txBody>
      </p:sp>
      <p:sp>
        <p:nvSpPr>
          <p:cNvPr id="1146" name="Google Shape;1146;p87"/>
          <p:cNvSpPr txBox="1"/>
          <p:nvPr>
            <p:ph type="body" idx="4294967295"/>
          </p:nvPr>
        </p:nvSpPr>
        <p:spPr>
          <a:xfrm>
            <a:off x="7236176" y="3844921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1147" name="Google Shape;1147;p87"/>
          <p:cNvSpPr txBox="1"/>
          <p:nvPr>
            <p:ph type="body" idx="4294967295"/>
          </p:nvPr>
        </p:nvSpPr>
        <p:spPr>
          <a:xfrm>
            <a:off x="8296007" y="3392669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 cm</a:t>
            </a:r>
            <a:endParaRPr sz="1600"/>
          </a:p>
        </p:txBody>
      </p:sp>
      <p:cxnSp>
        <p:nvCxnSpPr>
          <p:cNvPr id="1148" name="Google Shape;1148;p87"/>
          <p:cNvCxnSpPr/>
          <p:nvPr/>
        </p:nvCxnSpPr>
        <p:spPr>
          <a:xfrm>
            <a:off x="5079393" y="2581050"/>
            <a:ext cx="235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49" name="Google Shape;1149;p87"/>
          <p:cNvCxnSpPr/>
          <p:nvPr/>
        </p:nvCxnSpPr>
        <p:spPr>
          <a:xfrm flipH="1">
            <a:off x="7552143" y="1207800"/>
            <a:ext cx="10500" cy="120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50" name="Google Shape;1150;p87"/>
          <p:cNvSpPr txBox="1"/>
          <p:nvPr>
            <p:ph type="body" idx="4294967295"/>
          </p:nvPr>
        </p:nvSpPr>
        <p:spPr>
          <a:xfrm>
            <a:off x="5956543" y="2623452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sp>
        <p:nvSpPr>
          <p:cNvPr id="1151" name="Google Shape;1151;p87"/>
          <p:cNvSpPr txBox="1"/>
          <p:nvPr>
            <p:ph type="body" idx="4294967295"/>
          </p:nvPr>
        </p:nvSpPr>
        <p:spPr>
          <a:xfrm>
            <a:off x="7590296" y="1666044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cm</a:t>
            </a:r>
            <a:endParaRPr sz="1600"/>
          </a:p>
        </p:txBody>
      </p:sp>
      <p:pic>
        <p:nvPicPr>
          <p:cNvPr id="1152" name="Google Shape;115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208" y="4155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sp>
        <p:nvSpPr>
          <p:cNvPr id="1157" name="Google Shape;1157;p88"/>
          <p:cNvSpPr txBox="1"/>
          <p:nvPr>
            <p:ph type="body" idx="1"/>
          </p:nvPr>
        </p:nvSpPr>
        <p:spPr>
          <a:xfrm>
            <a:off x="324000" y="759300"/>
            <a:ext cx="8237700" cy="4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>
                <a:solidFill>
                  <a:srgbClr val="282828"/>
                </a:solidFill>
              </a:rPr>
              <a:t>Enlarging</a:t>
            </a:r>
            <a:r>
              <a:rPr lang="en-GB" sz="2000">
                <a:solidFill>
                  <a:srgbClr val="282828"/>
                </a:solidFill>
              </a:rPr>
              <a:t> a shape does not affect the size of the angles.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158" name="Google Shape;11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159" name="Google Shape;1159;p88"/>
          <p:cNvSpPr txBox="1"/>
          <p:nvPr>
            <p:ph type="body" idx="1"/>
          </p:nvPr>
        </p:nvSpPr>
        <p:spPr>
          <a:xfrm>
            <a:off x="323999" y="1741308"/>
            <a:ext cx="3350100" cy="3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solidFill>
                  <a:srgbClr val="282828"/>
                </a:solidFill>
              </a:rPr>
              <a:t>similar</a:t>
            </a:r>
            <a:endParaRPr sz="1800" b="1">
              <a:solidFill>
                <a:srgbClr val="282828"/>
              </a:solidFill>
            </a:endParaRPr>
          </a:p>
        </p:txBody>
      </p:sp>
      <p:sp>
        <p:nvSpPr>
          <p:cNvPr id="1160" name="Google Shape;1160;p88"/>
          <p:cNvSpPr txBox="1"/>
          <p:nvPr>
            <p:ph type="body" idx="1"/>
          </p:nvPr>
        </p:nvSpPr>
        <p:spPr>
          <a:xfrm>
            <a:off x="4320600" y="1741308"/>
            <a:ext cx="2580000" cy="3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not </a:t>
            </a:r>
            <a:r>
              <a:rPr lang="en-GB" sz="2000" b="1">
                <a:solidFill>
                  <a:srgbClr val="282828"/>
                </a:solidFill>
              </a:rPr>
              <a:t>similar</a:t>
            </a:r>
            <a:endParaRPr sz="2000" b="1">
              <a:solidFill>
                <a:srgbClr val="282828"/>
              </a:solidFill>
            </a:endParaRPr>
          </a:p>
        </p:txBody>
      </p:sp>
      <p:sp>
        <p:nvSpPr>
          <p:cNvPr id="1161" name="Google Shape;1161;p88"/>
          <p:cNvSpPr txBox="1"/>
          <p:nvPr>
            <p:ph type="body" idx="1"/>
          </p:nvPr>
        </p:nvSpPr>
        <p:spPr>
          <a:xfrm>
            <a:off x="324000" y="4573835"/>
            <a:ext cx="3215400" cy="3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Corresponding angles are equal.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2" name="Google Shape;1162;p88"/>
          <p:cNvSpPr txBox="1"/>
          <p:nvPr>
            <p:ph type="body" idx="1"/>
          </p:nvPr>
        </p:nvSpPr>
        <p:spPr>
          <a:xfrm>
            <a:off x="4335600" y="4573836"/>
            <a:ext cx="3668100" cy="3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Corresponding angles are not equal.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3" name="Google Shape;1163;p88"/>
          <p:cNvSpPr txBox="1"/>
          <p:nvPr>
            <p:ph type="body" idx="1"/>
          </p:nvPr>
        </p:nvSpPr>
        <p:spPr>
          <a:xfrm>
            <a:off x="1631843" y="4042838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4" name="Google Shape;1164;p88"/>
          <p:cNvSpPr txBox="1"/>
          <p:nvPr>
            <p:ph type="body" idx="1"/>
          </p:nvPr>
        </p:nvSpPr>
        <p:spPr>
          <a:xfrm>
            <a:off x="7668210" y="3086247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27°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5" name="Google Shape;1165;p88"/>
          <p:cNvSpPr txBox="1"/>
          <p:nvPr>
            <p:ph type="body" idx="1"/>
          </p:nvPr>
        </p:nvSpPr>
        <p:spPr>
          <a:xfrm>
            <a:off x="5593717" y="4089071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6" name="Google Shape;1166;p88"/>
          <p:cNvSpPr txBox="1"/>
          <p:nvPr>
            <p:ph type="body" idx="1"/>
          </p:nvPr>
        </p:nvSpPr>
        <p:spPr>
          <a:xfrm>
            <a:off x="1297869" y="2346754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37°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7" name="Google Shape;1167;p88"/>
          <p:cNvSpPr txBox="1"/>
          <p:nvPr>
            <p:ph type="body" idx="1"/>
          </p:nvPr>
        </p:nvSpPr>
        <p:spPr>
          <a:xfrm>
            <a:off x="4839669" y="2649904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8" name="Google Shape;1168;p88"/>
          <p:cNvSpPr txBox="1"/>
          <p:nvPr>
            <p:ph type="body" idx="1"/>
          </p:nvPr>
        </p:nvSpPr>
        <p:spPr>
          <a:xfrm>
            <a:off x="927669" y="2655004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69" name="Google Shape;1169;p88"/>
          <p:cNvSpPr txBox="1"/>
          <p:nvPr>
            <p:ph type="body" idx="1"/>
          </p:nvPr>
        </p:nvSpPr>
        <p:spPr>
          <a:xfrm>
            <a:off x="5226769" y="2354254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37°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0" name="Google Shape;1170;p88"/>
          <p:cNvSpPr txBox="1"/>
          <p:nvPr>
            <p:ph type="body" idx="1"/>
          </p:nvPr>
        </p:nvSpPr>
        <p:spPr>
          <a:xfrm>
            <a:off x="4322452" y="2538750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1" name="Google Shape;1171;p88"/>
          <p:cNvSpPr txBox="1"/>
          <p:nvPr>
            <p:ph type="body" idx="1"/>
          </p:nvPr>
        </p:nvSpPr>
        <p:spPr>
          <a:xfrm>
            <a:off x="4991152" y="2119800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2" name="Google Shape;1172;p88"/>
          <p:cNvSpPr txBox="1"/>
          <p:nvPr>
            <p:ph type="body" idx="1"/>
          </p:nvPr>
        </p:nvSpPr>
        <p:spPr>
          <a:xfrm>
            <a:off x="1100552" y="3622838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3" name="Google Shape;1173;p88"/>
          <p:cNvSpPr txBox="1"/>
          <p:nvPr>
            <p:ph type="body" idx="1"/>
          </p:nvPr>
        </p:nvSpPr>
        <p:spPr>
          <a:xfrm>
            <a:off x="2284252" y="2816238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4" name="Google Shape;1174;p88"/>
          <p:cNvSpPr txBox="1"/>
          <p:nvPr>
            <p:ph type="body" idx="1"/>
          </p:nvPr>
        </p:nvSpPr>
        <p:spPr>
          <a:xfrm>
            <a:off x="374152" y="2535000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5" name="Google Shape;1175;p88"/>
          <p:cNvSpPr txBox="1"/>
          <p:nvPr>
            <p:ph type="body" idx="1"/>
          </p:nvPr>
        </p:nvSpPr>
        <p:spPr>
          <a:xfrm>
            <a:off x="1042852" y="2116050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6" name="Google Shape;1176;p88"/>
          <p:cNvSpPr txBox="1"/>
          <p:nvPr>
            <p:ph type="body" idx="1"/>
          </p:nvPr>
        </p:nvSpPr>
        <p:spPr>
          <a:xfrm>
            <a:off x="2915693" y="3075338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37°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7" name="Google Shape;1177;p88"/>
          <p:cNvSpPr txBox="1"/>
          <p:nvPr>
            <p:ph type="body" idx="1"/>
          </p:nvPr>
        </p:nvSpPr>
        <p:spPr>
          <a:xfrm>
            <a:off x="4991152" y="3612788"/>
            <a:ext cx="531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178" name="Google Shape;1178;p88"/>
          <p:cNvSpPr txBox="1"/>
          <p:nvPr>
            <p:ph type="body" idx="1"/>
          </p:nvPr>
        </p:nvSpPr>
        <p:spPr>
          <a:xfrm>
            <a:off x="6538549" y="2816250"/>
            <a:ext cx="7464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 cm</a:t>
            </a:r>
            <a:endParaRPr sz="1600">
              <a:solidFill>
                <a:srgbClr val="282828"/>
              </a:solidFill>
            </a:endParaRPr>
          </a:p>
        </p:txBody>
      </p:sp>
      <p:cxnSp>
        <p:nvCxnSpPr>
          <p:cNvPr id="1179" name="Google Shape;1179;p88"/>
          <p:cNvCxnSpPr>
            <a:endCxn id="1172" idx="1"/>
          </p:cNvCxnSpPr>
          <p:nvPr/>
        </p:nvCxnSpPr>
        <p:spPr>
          <a:xfrm rot="-5400000" flipH="1">
            <a:off x="338252" y="2999288"/>
            <a:ext cx="978600" cy="5460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0" name="Google Shape;1180;p88"/>
          <p:cNvSpPr txBox="1"/>
          <p:nvPr>
            <p:ph type="body" idx="1"/>
          </p:nvPr>
        </p:nvSpPr>
        <p:spPr>
          <a:xfrm>
            <a:off x="429642" y="3386311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cxnSp>
        <p:nvCxnSpPr>
          <p:cNvPr id="1181" name="Google Shape;1181;p88"/>
          <p:cNvCxnSpPr>
            <a:stCxn id="1175" idx="3"/>
            <a:endCxn id="1173" idx="0"/>
          </p:cNvCxnSpPr>
          <p:nvPr/>
        </p:nvCxnSpPr>
        <p:spPr>
          <a:xfrm>
            <a:off x="1574152" y="2254800"/>
            <a:ext cx="975900" cy="5613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2" name="Google Shape;1182;p88"/>
          <p:cNvSpPr txBox="1"/>
          <p:nvPr>
            <p:ph type="body" idx="1"/>
          </p:nvPr>
        </p:nvSpPr>
        <p:spPr>
          <a:xfrm>
            <a:off x="2086887" y="2136720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cxnSp>
        <p:nvCxnSpPr>
          <p:cNvPr id="1183" name="Google Shape;1183;p88"/>
          <p:cNvCxnSpPr>
            <a:stCxn id="1170" idx="2"/>
            <a:endCxn id="1177" idx="1"/>
          </p:cNvCxnSpPr>
          <p:nvPr/>
        </p:nvCxnSpPr>
        <p:spPr>
          <a:xfrm rot="-5400000" flipH="1">
            <a:off x="4322002" y="3082350"/>
            <a:ext cx="935400" cy="4032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4" name="Google Shape;1184;p88"/>
          <p:cNvCxnSpPr>
            <a:stCxn id="1171" idx="3"/>
            <a:endCxn id="1178" idx="0"/>
          </p:cNvCxnSpPr>
          <p:nvPr/>
        </p:nvCxnSpPr>
        <p:spPr>
          <a:xfrm>
            <a:off x="5522452" y="2258550"/>
            <a:ext cx="1389300" cy="557700"/>
          </a:xfrm>
          <a:prstGeom prst="curvedConnector2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5" name="Google Shape;1185;p88"/>
          <p:cNvSpPr txBox="1"/>
          <p:nvPr>
            <p:ph type="body" idx="1"/>
          </p:nvPr>
        </p:nvSpPr>
        <p:spPr>
          <a:xfrm>
            <a:off x="4335592" y="3240011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86" name="Google Shape;1186;p88"/>
          <p:cNvSpPr txBox="1"/>
          <p:nvPr>
            <p:ph type="body" idx="1"/>
          </p:nvPr>
        </p:nvSpPr>
        <p:spPr>
          <a:xfrm>
            <a:off x="6364912" y="2212495"/>
            <a:ext cx="420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3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87" name="Google Shape;1187;p88"/>
          <p:cNvSpPr/>
          <p:nvPr/>
        </p:nvSpPr>
        <p:spPr>
          <a:xfrm>
            <a:off x="668549" y="2851275"/>
            <a:ext cx="432000" cy="431700"/>
          </a:xfrm>
          <a:prstGeom prst="pie">
            <a:avLst>
              <a:gd name="adj1" fmla="val 16233173"/>
              <a:gd name="adj2" fmla="val 19369044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8" name="Google Shape;1188;p88"/>
          <p:cNvSpPr/>
          <p:nvPr/>
        </p:nvSpPr>
        <p:spPr>
          <a:xfrm>
            <a:off x="1613695" y="2123492"/>
            <a:ext cx="458100" cy="458100"/>
          </a:xfrm>
          <a:prstGeom prst="pie">
            <a:avLst>
              <a:gd name="adj1" fmla="val 8624030"/>
              <a:gd name="adj2" fmla="val 1074588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9" name="Google Shape;1189;p88"/>
          <p:cNvSpPr/>
          <p:nvPr/>
        </p:nvSpPr>
        <p:spPr>
          <a:xfrm>
            <a:off x="886725" y="2354247"/>
            <a:ext cx="157200" cy="157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0" name="Google Shape;1190;p88"/>
          <p:cNvSpPr/>
          <p:nvPr/>
        </p:nvSpPr>
        <p:spPr>
          <a:xfrm>
            <a:off x="1592175" y="3069922"/>
            <a:ext cx="157200" cy="157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1" name="Google Shape;1191;p88"/>
          <p:cNvSpPr/>
          <p:nvPr/>
        </p:nvSpPr>
        <p:spPr>
          <a:xfrm>
            <a:off x="1376265" y="4292766"/>
            <a:ext cx="432000" cy="431700"/>
          </a:xfrm>
          <a:prstGeom prst="pie">
            <a:avLst>
              <a:gd name="adj1" fmla="val 16233173"/>
              <a:gd name="adj2" fmla="val 19369044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2" name="Google Shape;1192;p88"/>
          <p:cNvSpPr/>
          <p:nvPr/>
        </p:nvSpPr>
        <p:spPr>
          <a:xfrm>
            <a:off x="3283938" y="2838083"/>
            <a:ext cx="458100" cy="458100"/>
          </a:xfrm>
          <a:prstGeom prst="pie">
            <a:avLst>
              <a:gd name="adj1" fmla="val 8624030"/>
              <a:gd name="adj2" fmla="val 1074588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3" name="Google Shape;1193;p88"/>
          <p:cNvSpPr/>
          <p:nvPr/>
        </p:nvSpPr>
        <p:spPr>
          <a:xfrm rot="5400000">
            <a:off x="1827517" y="2834575"/>
            <a:ext cx="1439700" cy="19104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4" name="Google Shape;1194;p88"/>
          <p:cNvSpPr/>
          <p:nvPr/>
        </p:nvSpPr>
        <p:spPr>
          <a:xfrm rot="5400000">
            <a:off x="1004325" y="2236750"/>
            <a:ext cx="719100" cy="9543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5" name="Google Shape;1195;p88"/>
          <p:cNvSpPr/>
          <p:nvPr/>
        </p:nvSpPr>
        <p:spPr>
          <a:xfrm>
            <a:off x="4602137" y="2865605"/>
            <a:ext cx="432000" cy="431700"/>
          </a:xfrm>
          <a:prstGeom prst="pie">
            <a:avLst>
              <a:gd name="adj1" fmla="val 16233173"/>
              <a:gd name="adj2" fmla="val 19369044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6" name="Google Shape;1196;p88"/>
          <p:cNvSpPr/>
          <p:nvPr/>
        </p:nvSpPr>
        <p:spPr>
          <a:xfrm>
            <a:off x="5547284" y="2137822"/>
            <a:ext cx="458100" cy="458100"/>
          </a:xfrm>
          <a:prstGeom prst="pie">
            <a:avLst>
              <a:gd name="adj1" fmla="val 8624030"/>
              <a:gd name="adj2" fmla="val 1074588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7" name="Google Shape;1197;p88"/>
          <p:cNvSpPr/>
          <p:nvPr/>
        </p:nvSpPr>
        <p:spPr>
          <a:xfrm>
            <a:off x="4820314" y="2368578"/>
            <a:ext cx="157200" cy="157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8" name="Google Shape;1198;p88"/>
          <p:cNvSpPr/>
          <p:nvPr/>
        </p:nvSpPr>
        <p:spPr>
          <a:xfrm rot="5400000">
            <a:off x="4937914" y="2251080"/>
            <a:ext cx="719100" cy="9543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9" name="Google Shape;1199;p88"/>
          <p:cNvSpPr/>
          <p:nvPr/>
        </p:nvSpPr>
        <p:spPr>
          <a:xfrm>
            <a:off x="5541482" y="3072081"/>
            <a:ext cx="157200" cy="157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0" name="Google Shape;1200;p88"/>
          <p:cNvSpPr/>
          <p:nvPr/>
        </p:nvSpPr>
        <p:spPr>
          <a:xfrm>
            <a:off x="5325573" y="4290186"/>
            <a:ext cx="432000" cy="431700"/>
          </a:xfrm>
          <a:prstGeom prst="pie">
            <a:avLst>
              <a:gd name="adj1" fmla="val 16233173"/>
              <a:gd name="adj2" fmla="val 1996892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1" name="Google Shape;1201;p88"/>
          <p:cNvSpPr/>
          <p:nvPr/>
        </p:nvSpPr>
        <p:spPr>
          <a:xfrm>
            <a:off x="8071163" y="2768486"/>
            <a:ext cx="601500" cy="601500"/>
          </a:xfrm>
          <a:prstGeom prst="pie">
            <a:avLst>
              <a:gd name="adj1" fmla="val 9150285"/>
              <a:gd name="adj2" fmla="val 1074588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2" name="Google Shape;1202;p88"/>
          <p:cNvSpPr/>
          <p:nvPr/>
        </p:nvSpPr>
        <p:spPr>
          <a:xfrm rot="5400000">
            <a:off x="6237675" y="2375925"/>
            <a:ext cx="1439700" cy="28320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3" name="Google Shape;1203;p88"/>
          <p:cNvSpPr txBox="1"/>
          <p:nvPr>
            <p:ph type="body" idx="1"/>
          </p:nvPr>
        </p:nvSpPr>
        <p:spPr>
          <a:xfrm>
            <a:off x="324000" y="1238448"/>
            <a:ext cx="82377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This means that corresponding angles in </a:t>
            </a:r>
            <a:r>
              <a:rPr lang="en-GB" sz="2000" b="1">
                <a:solidFill>
                  <a:srgbClr val="282828"/>
                </a:solidFill>
              </a:rPr>
              <a:t>similar</a:t>
            </a:r>
            <a:r>
              <a:rPr lang="en-GB" sz="2000">
                <a:solidFill>
                  <a:srgbClr val="282828"/>
                </a:solidFill>
              </a:rPr>
              <a:t> shapes are equal.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1204" name="Google Shape;1204;p88"/>
          <p:cNvSpPr/>
          <p:nvPr/>
        </p:nvSpPr>
        <p:spPr>
          <a:xfrm>
            <a:off x="881490" y="2585842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5" name="Google Shape;1205;p88"/>
          <p:cNvSpPr/>
          <p:nvPr/>
        </p:nvSpPr>
        <p:spPr>
          <a:xfrm>
            <a:off x="1574140" y="3967376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6" name="Google Shape;1206;p88"/>
          <p:cNvSpPr/>
          <p:nvPr/>
        </p:nvSpPr>
        <p:spPr>
          <a:xfrm>
            <a:off x="1241256" y="2277300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7" name="Google Shape;1207;p88"/>
          <p:cNvSpPr/>
          <p:nvPr/>
        </p:nvSpPr>
        <p:spPr>
          <a:xfrm>
            <a:off x="2854464" y="2982742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8" name="Google Shape;1208;p88"/>
          <p:cNvSpPr/>
          <p:nvPr/>
        </p:nvSpPr>
        <p:spPr>
          <a:xfrm>
            <a:off x="4793656" y="2579542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9" name="Google Shape;1209;p88"/>
          <p:cNvSpPr/>
          <p:nvPr/>
        </p:nvSpPr>
        <p:spPr>
          <a:xfrm>
            <a:off x="5541514" y="4026217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0" name="Google Shape;1210;p88"/>
          <p:cNvSpPr/>
          <p:nvPr/>
        </p:nvSpPr>
        <p:spPr>
          <a:xfrm>
            <a:off x="5196856" y="2250230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1" name="Google Shape;1211;p88"/>
          <p:cNvSpPr/>
          <p:nvPr/>
        </p:nvSpPr>
        <p:spPr>
          <a:xfrm>
            <a:off x="7626431" y="2982755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2" name="Google Shape;1212;p88"/>
          <p:cNvSpPr/>
          <p:nvPr/>
        </p:nvSpPr>
        <p:spPr>
          <a:xfrm>
            <a:off x="763731" y="2184350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3" name="Google Shape;1213;p88"/>
          <p:cNvSpPr/>
          <p:nvPr/>
        </p:nvSpPr>
        <p:spPr>
          <a:xfrm>
            <a:off x="1469181" y="2921950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4" name="Google Shape;1214;p88"/>
          <p:cNvSpPr/>
          <p:nvPr/>
        </p:nvSpPr>
        <p:spPr>
          <a:xfrm>
            <a:off x="4697331" y="2231250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5" name="Google Shape;1215;p88"/>
          <p:cNvSpPr/>
          <p:nvPr/>
        </p:nvSpPr>
        <p:spPr>
          <a:xfrm>
            <a:off x="5409006" y="2931513"/>
            <a:ext cx="403200" cy="403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9" name="Shape 1219"/>
        <p:cNvGrpSpPr/>
        <p:nvPr/>
      </p:nvGrpSpPr>
      <p:grpSpPr>
        <a:xfrm>
          <a:off x="0" y="0"/>
          <a:ext cx="0" cy="0"/>
        </a:xfrm>
      </p:grpSpPr>
      <p:sp>
        <p:nvSpPr>
          <p:cNvPr id="1220" name="Google Shape;1220;p8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221" name="Google Shape;1221;p8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triangle is </a:t>
            </a:r>
            <a:r>
              <a:rPr lang="en-GB" b="1"/>
              <a:t>similar</a:t>
            </a:r>
            <a:r>
              <a:rPr lang="en-GB"/>
              <a:t> to the object?</a:t>
            </a:r>
            <a:endParaRPr/>
          </a:p>
        </p:txBody>
      </p:sp>
      <p:pic>
        <p:nvPicPr>
          <p:cNvPr id="1222" name="Google Shape;1222;p89"/>
          <p:cNvPicPr preferRelativeResize="0"/>
          <p:nvPr/>
        </p:nvPicPr>
        <p:blipFill>
          <a:blip r:embed="rId3">
            <a:alphaModFix/>
          </a:blip>
          <a:srcRect l="-581" t="3440" r="71078" b="64130"/>
          <a:stretch>
            <a:fillRect/>
          </a:stretch>
        </p:blipFill>
        <p:spPr>
          <a:xfrm>
            <a:off x="5656014" y="765900"/>
            <a:ext cx="1554038" cy="1262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89"/>
          <p:cNvPicPr preferRelativeResize="0"/>
          <p:nvPr/>
        </p:nvPicPr>
        <p:blipFill>
          <a:blip r:embed="rId3">
            <a:alphaModFix/>
          </a:blip>
          <a:srcRect l="46098" t="2479" r="16758" b="50374"/>
          <a:stretch>
            <a:fillRect/>
          </a:stretch>
        </p:blipFill>
        <p:spPr>
          <a:xfrm>
            <a:off x="486833" y="2304195"/>
            <a:ext cx="1956515" cy="183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89"/>
          <p:cNvPicPr preferRelativeResize="0"/>
          <p:nvPr/>
        </p:nvPicPr>
        <p:blipFill>
          <a:blip r:embed="rId3">
            <a:alphaModFix/>
          </a:blip>
          <a:srcRect l="61809" t="54764" r="1047" b="-1909"/>
          <a:stretch>
            <a:fillRect/>
          </a:stretch>
        </p:blipFill>
        <p:spPr>
          <a:xfrm>
            <a:off x="6772440" y="2371249"/>
            <a:ext cx="1956515" cy="183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89"/>
          <p:cNvPicPr preferRelativeResize="0"/>
          <p:nvPr/>
        </p:nvPicPr>
        <p:blipFill>
          <a:blip r:embed="rId3">
            <a:alphaModFix/>
          </a:blip>
          <a:srcRect l="4999" t="45061" r="57857" b="7793"/>
          <a:stretch>
            <a:fillRect/>
          </a:stretch>
        </p:blipFill>
        <p:spPr>
          <a:xfrm>
            <a:off x="3723777" y="2304216"/>
            <a:ext cx="1956515" cy="183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89"/>
          <p:cNvSpPr txBox="1"/>
          <p:nvPr>
            <p:ph type="body" idx="4294967295"/>
          </p:nvPr>
        </p:nvSpPr>
        <p:spPr>
          <a:xfrm>
            <a:off x="6089272" y="1119451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54°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27" name="Google Shape;1227;p89"/>
          <p:cNvSpPr txBox="1"/>
          <p:nvPr>
            <p:ph type="body" idx="4294967295"/>
          </p:nvPr>
        </p:nvSpPr>
        <p:spPr>
          <a:xfrm>
            <a:off x="6439156" y="1617445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28" name="Google Shape;1228;p89"/>
          <p:cNvSpPr txBox="1"/>
          <p:nvPr>
            <p:ph type="body" idx="4294967295"/>
          </p:nvPr>
        </p:nvSpPr>
        <p:spPr>
          <a:xfrm>
            <a:off x="6084303" y="1492512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73°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29" name="Google Shape;1229;p89"/>
          <p:cNvSpPr txBox="1"/>
          <p:nvPr>
            <p:ph type="body" idx="4294967295"/>
          </p:nvPr>
        </p:nvSpPr>
        <p:spPr>
          <a:xfrm>
            <a:off x="4127419" y="2669610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54°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0" name="Google Shape;1230;p89"/>
          <p:cNvSpPr txBox="1"/>
          <p:nvPr>
            <p:ph type="body" idx="4294967295"/>
          </p:nvPr>
        </p:nvSpPr>
        <p:spPr>
          <a:xfrm>
            <a:off x="4977312" y="3618490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1" name="Google Shape;1231;p89"/>
          <p:cNvSpPr txBox="1"/>
          <p:nvPr>
            <p:ph type="body" idx="4294967295"/>
          </p:nvPr>
        </p:nvSpPr>
        <p:spPr>
          <a:xfrm>
            <a:off x="4089706" y="3658171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73°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2" name="Google Shape;1232;p89"/>
          <p:cNvSpPr txBox="1"/>
          <p:nvPr>
            <p:ph type="body" idx="4294967295"/>
          </p:nvPr>
        </p:nvSpPr>
        <p:spPr>
          <a:xfrm>
            <a:off x="1010894" y="2700010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54°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3" name="Google Shape;1233;p89"/>
          <p:cNvSpPr txBox="1"/>
          <p:nvPr>
            <p:ph type="body" idx="4294967295"/>
          </p:nvPr>
        </p:nvSpPr>
        <p:spPr>
          <a:xfrm>
            <a:off x="1718628" y="3618720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55°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4" name="Google Shape;1234;p89"/>
          <p:cNvSpPr txBox="1"/>
          <p:nvPr>
            <p:ph type="body" idx="4294967295"/>
          </p:nvPr>
        </p:nvSpPr>
        <p:spPr>
          <a:xfrm>
            <a:off x="854817" y="3675079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71°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5" name="Google Shape;1235;p89"/>
          <p:cNvSpPr txBox="1"/>
          <p:nvPr>
            <p:ph type="body" idx="4294967295"/>
          </p:nvPr>
        </p:nvSpPr>
        <p:spPr>
          <a:xfrm>
            <a:off x="7057644" y="2726210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54°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6" name="Google Shape;1236;p89"/>
          <p:cNvSpPr txBox="1"/>
          <p:nvPr>
            <p:ph type="body" idx="4294967295"/>
          </p:nvPr>
        </p:nvSpPr>
        <p:spPr>
          <a:xfrm>
            <a:off x="8015412" y="3618490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51°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7" name="Google Shape;1237;p89"/>
          <p:cNvSpPr txBox="1"/>
          <p:nvPr>
            <p:ph type="body" idx="4294967295"/>
          </p:nvPr>
        </p:nvSpPr>
        <p:spPr>
          <a:xfrm>
            <a:off x="7133856" y="3587607"/>
            <a:ext cx="407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75°</a:t>
            </a:r>
            <a:endParaRPr sz="1600">
              <a:solidFill>
                <a:srgbClr val="282828"/>
              </a:solidFill>
            </a:endParaRPr>
          </a:p>
        </p:txBody>
      </p:sp>
      <p:sp>
        <p:nvSpPr>
          <p:cNvPr id="1238" name="Google Shape;1238;p89"/>
          <p:cNvSpPr txBox="1"/>
          <p:nvPr>
            <p:ph type="title"/>
          </p:nvPr>
        </p:nvSpPr>
        <p:spPr>
          <a:xfrm>
            <a:off x="7286250" y="952200"/>
            <a:ext cx="774900" cy="3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object</a:t>
            </a:r>
            <a:endParaRPr sz="1800"/>
          </a:p>
        </p:txBody>
      </p:sp>
      <p:cxnSp>
        <p:nvCxnSpPr>
          <p:cNvPr id="1239" name="Google Shape;1239;p89"/>
          <p:cNvCxnSpPr/>
          <p:nvPr/>
        </p:nvCxnSpPr>
        <p:spPr>
          <a:xfrm flipH="1">
            <a:off x="6737339" y="1153789"/>
            <a:ext cx="517800" cy="20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40" name="Google Shape;124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8" y="4139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4" name="Shape 1244"/>
        <p:cNvGrpSpPr/>
        <p:nvPr/>
      </p:nvGrpSpPr>
      <p:grpSpPr>
        <a:xfrm>
          <a:off x="0" y="0"/>
          <a:ext cx="0" cy="0"/>
        </a:xfrm>
      </p:grpSpPr>
      <p:sp>
        <p:nvSpPr>
          <p:cNvPr id="1245" name="Google Shape;1245;p9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246" name="Google Shape;1246;p90"/>
          <p:cNvSpPr txBox="1"/>
          <p:nvPr>
            <p:ph type="title"/>
          </p:nvPr>
        </p:nvSpPr>
        <p:spPr>
          <a:xfrm>
            <a:off x="324000" y="748775"/>
            <a:ext cx="39960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triangle has the same angles as the object?</a:t>
            </a:r>
            <a:endParaRPr/>
          </a:p>
        </p:txBody>
      </p:sp>
      <p:pic>
        <p:nvPicPr>
          <p:cNvPr id="1247" name="Google Shape;1247;p90"/>
          <p:cNvPicPr preferRelativeResize="0"/>
          <p:nvPr/>
        </p:nvPicPr>
        <p:blipFill>
          <a:blip r:embed="rId3">
            <a:alphaModFix/>
          </a:blip>
          <a:srcRect r="56293" b="48557"/>
          <a:stretch>
            <a:fillRect/>
          </a:stretch>
        </p:blipFill>
        <p:spPr>
          <a:xfrm rot="2201615">
            <a:off x="4805558" y="1194514"/>
            <a:ext cx="2451525" cy="185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90"/>
          <p:cNvPicPr preferRelativeResize="0"/>
          <p:nvPr/>
        </p:nvPicPr>
        <p:blipFill>
          <a:blip r:embed="rId3">
            <a:alphaModFix/>
          </a:blip>
          <a:srcRect l="537" t="78861" r="75893" b="1115"/>
          <a:stretch>
            <a:fillRect/>
          </a:stretch>
        </p:blipFill>
        <p:spPr>
          <a:xfrm rot="1615381">
            <a:off x="3880859" y="3214032"/>
            <a:ext cx="1322012" cy="720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90"/>
          <p:cNvPicPr preferRelativeResize="0"/>
          <p:nvPr/>
        </p:nvPicPr>
        <p:blipFill>
          <a:blip r:embed="rId3">
            <a:alphaModFix/>
          </a:blip>
          <a:srcRect l="71068" t="107" r="6834" b="73096"/>
          <a:stretch>
            <a:fillRect/>
          </a:stretch>
        </p:blipFill>
        <p:spPr>
          <a:xfrm rot="2195127">
            <a:off x="1165366" y="3040437"/>
            <a:ext cx="1239431" cy="964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90"/>
          <p:cNvPicPr preferRelativeResize="0"/>
          <p:nvPr/>
        </p:nvPicPr>
        <p:blipFill>
          <a:blip r:embed="rId3">
            <a:alphaModFix/>
          </a:blip>
          <a:srcRect l="66054" t="70568" r="1483" b="2457"/>
          <a:stretch>
            <a:fillRect/>
          </a:stretch>
        </p:blipFill>
        <p:spPr>
          <a:xfrm rot="1628016">
            <a:off x="6825318" y="3048015"/>
            <a:ext cx="1820838" cy="9711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1" name="Google Shape;1251;p90"/>
          <p:cNvCxnSpPr/>
          <p:nvPr/>
        </p:nvCxnSpPr>
        <p:spPr>
          <a:xfrm flipH="1">
            <a:off x="4494983" y="756925"/>
            <a:ext cx="1014900" cy="1323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2" name="Google Shape;1252;p90"/>
          <p:cNvCxnSpPr/>
          <p:nvPr/>
        </p:nvCxnSpPr>
        <p:spPr>
          <a:xfrm>
            <a:off x="5780433" y="762575"/>
            <a:ext cx="1724700" cy="128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3" name="Google Shape;1253;p90"/>
          <p:cNvCxnSpPr/>
          <p:nvPr/>
        </p:nvCxnSpPr>
        <p:spPr>
          <a:xfrm>
            <a:off x="4247575" y="2985422"/>
            <a:ext cx="1000200" cy="51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4" name="Google Shape;1254;p90"/>
          <p:cNvCxnSpPr/>
          <p:nvPr/>
        </p:nvCxnSpPr>
        <p:spPr>
          <a:xfrm flipH="1">
            <a:off x="3815772" y="3054360"/>
            <a:ext cx="265200" cy="48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5" name="Google Shape;1255;p90"/>
          <p:cNvCxnSpPr/>
          <p:nvPr/>
        </p:nvCxnSpPr>
        <p:spPr>
          <a:xfrm>
            <a:off x="1661858" y="2810453"/>
            <a:ext cx="895800" cy="65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6" name="Google Shape;1256;p90"/>
          <p:cNvCxnSpPr/>
          <p:nvPr/>
        </p:nvCxnSpPr>
        <p:spPr>
          <a:xfrm rot="10800000" flipH="1">
            <a:off x="1026412" y="2825829"/>
            <a:ext cx="506400" cy="69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7" name="Google Shape;1257;p90"/>
          <p:cNvCxnSpPr/>
          <p:nvPr/>
        </p:nvCxnSpPr>
        <p:spPr>
          <a:xfrm rot="10800000">
            <a:off x="7267144" y="2731866"/>
            <a:ext cx="1503600" cy="756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8" name="Google Shape;1258;p90"/>
          <p:cNvCxnSpPr/>
          <p:nvPr/>
        </p:nvCxnSpPr>
        <p:spPr>
          <a:xfrm flipH="1">
            <a:off x="6699030" y="2755979"/>
            <a:ext cx="396600" cy="772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59" name="Google Shape;1259;p90"/>
          <p:cNvSpPr txBox="1"/>
          <p:nvPr>
            <p:ph type="body" idx="4294967295"/>
          </p:nvPr>
        </p:nvSpPr>
        <p:spPr>
          <a:xfrm>
            <a:off x="4494966" y="1181444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1260" name="Google Shape;1260;p90"/>
          <p:cNvSpPr txBox="1"/>
          <p:nvPr>
            <p:ph type="body" idx="4294967295"/>
          </p:nvPr>
        </p:nvSpPr>
        <p:spPr>
          <a:xfrm>
            <a:off x="6637791" y="1136369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 cm</a:t>
            </a:r>
            <a:endParaRPr sz="1600"/>
          </a:p>
        </p:txBody>
      </p:sp>
      <p:sp>
        <p:nvSpPr>
          <p:cNvPr id="1261" name="Google Shape;1261;p90"/>
          <p:cNvSpPr txBox="1"/>
          <p:nvPr>
            <p:ph type="body" idx="4294967295"/>
          </p:nvPr>
        </p:nvSpPr>
        <p:spPr>
          <a:xfrm>
            <a:off x="3408816" y="3104347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cm</a:t>
            </a:r>
            <a:endParaRPr sz="1600"/>
          </a:p>
        </p:txBody>
      </p:sp>
      <p:sp>
        <p:nvSpPr>
          <p:cNvPr id="1262" name="Google Shape;1262;p90"/>
          <p:cNvSpPr txBox="1"/>
          <p:nvPr>
            <p:ph type="body" idx="4294967295"/>
          </p:nvPr>
        </p:nvSpPr>
        <p:spPr>
          <a:xfrm>
            <a:off x="4628866" y="2953791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sp>
        <p:nvSpPr>
          <p:cNvPr id="1263" name="Google Shape;1263;p90"/>
          <p:cNvSpPr txBox="1"/>
          <p:nvPr>
            <p:ph type="body" idx="4294967295"/>
          </p:nvPr>
        </p:nvSpPr>
        <p:spPr>
          <a:xfrm>
            <a:off x="2041430" y="2881041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sp>
        <p:nvSpPr>
          <p:cNvPr id="1264" name="Google Shape;1264;p90"/>
          <p:cNvSpPr txBox="1"/>
          <p:nvPr>
            <p:ph type="body" idx="4294967295"/>
          </p:nvPr>
        </p:nvSpPr>
        <p:spPr>
          <a:xfrm>
            <a:off x="787430" y="2953791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1265" name="Google Shape;1265;p90"/>
          <p:cNvSpPr txBox="1"/>
          <p:nvPr>
            <p:ph type="body" idx="4294967295"/>
          </p:nvPr>
        </p:nvSpPr>
        <p:spPr>
          <a:xfrm>
            <a:off x="6409199" y="2942741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1266" name="Google Shape;1266;p90"/>
          <p:cNvSpPr txBox="1"/>
          <p:nvPr>
            <p:ph type="body" idx="4294967295"/>
          </p:nvPr>
        </p:nvSpPr>
        <p:spPr>
          <a:xfrm>
            <a:off x="7858824" y="2766116"/>
            <a:ext cx="61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1267" name="Google Shape;1267;p90"/>
          <p:cNvSpPr txBox="1"/>
          <p:nvPr>
            <p:ph type="title"/>
          </p:nvPr>
        </p:nvSpPr>
        <p:spPr>
          <a:xfrm>
            <a:off x="8012500" y="1285800"/>
            <a:ext cx="774900" cy="3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object</a:t>
            </a:r>
            <a:endParaRPr sz="1800"/>
          </a:p>
        </p:txBody>
      </p:sp>
      <p:cxnSp>
        <p:nvCxnSpPr>
          <p:cNvPr id="1268" name="Google Shape;1268;p90"/>
          <p:cNvCxnSpPr>
            <a:stCxn id="1267" idx="1"/>
          </p:cNvCxnSpPr>
          <p:nvPr/>
        </p:nvCxnSpPr>
        <p:spPr>
          <a:xfrm flipH="1">
            <a:off x="7318900" y="1452900"/>
            <a:ext cx="693600" cy="8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69" name="Google Shape;126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1758" y="41951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sp>
        <p:nvSpPr>
          <p:cNvPr id="1274" name="Google Shape;1274;p9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Match the rectangles which are </a:t>
            </a:r>
            <a:r>
              <a:rPr lang="en-GB" sz="2000" b="1"/>
              <a:t>similar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275" name="Google Shape;1275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276" name="Google Shape;1276;p91"/>
          <p:cNvSpPr/>
          <p:nvPr/>
        </p:nvSpPr>
        <p:spPr>
          <a:xfrm flipH="1">
            <a:off x="5489189" y="2875736"/>
            <a:ext cx="1557900" cy="519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7" name="Google Shape;1277;p91"/>
          <p:cNvSpPr/>
          <p:nvPr/>
        </p:nvSpPr>
        <p:spPr>
          <a:xfrm flipH="1">
            <a:off x="2046300" y="2242798"/>
            <a:ext cx="1298100" cy="519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8" name="Google Shape;1278;p91"/>
          <p:cNvSpPr/>
          <p:nvPr/>
        </p:nvSpPr>
        <p:spPr>
          <a:xfrm flipH="1">
            <a:off x="5492120" y="1338882"/>
            <a:ext cx="1557900" cy="778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279" name="Google Shape;1279;p91"/>
          <p:cNvCxnSpPr/>
          <p:nvPr/>
        </p:nvCxnSpPr>
        <p:spPr>
          <a:xfrm flipH="1">
            <a:off x="5376283" y="2866636"/>
            <a:ext cx="0" cy="52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0" name="Google Shape;1280;p91"/>
          <p:cNvSpPr txBox="1"/>
          <p:nvPr>
            <p:ph type="subTitle" idx="4294967295"/>
          </p:nvPr>
        </p:nvSpPr>
        <p:spPr>
          <a:xfrm>
            <a:off x="4819383" y="2973094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cxnSp>
        <p:nvCxnSpPr>
          <p:cNvPr id="1281" name="Google Shape;1281;p91"/>
          <p:cNvCxnSpPr/>
          <p:nvPr/>
        </p:nvCxnSpPr>
        <p:spPr>
          <a:xfrm flipH="1">
            <a:off x="1933350" y="2242798"/>
            <a:ext cx="0" cy="51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82" name="Google Shape;1282;p91"/>
          <p:cNvCxnSpPr/>
          <p:nvPr/>
        </p:nvCxnSpPr>
        <p:spPr>
          <a:xfrm flipH="1">
            <a:off x="5356670" y="1338882"/>
            <a:ext cx="0" cy="778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3" name="Google Shape;1283;p91"/>
          <p:cNvSpPr txBox="1"/>
          <p:nvPr>
            <p:ph type="subTitle" idx="4294967295"/>
          </p:nvPr>
        </p:nvSpPr>
        <p:spPr>
          <a:xfrm>
            <a:off x="1332114" y="2340158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sp>
        <p:nvSpPr>
          <p:cNvPr id="1284" name="Google Shape;1284;p91"/>
          <p:cNvSpPr txBox="1"/>
          <p:nvPr>
            <p:ph type="subTitle" idx="4294967295"/>
          </p:nvPr>
        </p:nvSpPr>
        <p:spPr>
          <a:xfrm>
            <a:off x="4824029" y="1593720"/>
            <a:ext cx="519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1285" name="Google Shape;1285;p91"/>
          <p:cNvSpPr txBox="1"/>
          <p:nvPr>
            <p:ph type="subTitle" idx="4294967295"/>
          </p:nvPr>
        </p:nvSpPr>
        <p:spPr>
          <a:xfrm>
            <a:off x="6028452" y="3535744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 cm</a:t>
            </a:r>
            <a:endParaRPr sz="1600"/>
          </a:p>
        </p:txBody>
      </p:sp>
      <p:cxnSp>
        <p:nvCxnSpPr>
          <p:cNvPr id="1286" name="Google Shape;1286;p91"/>
          <p:cNvCxnSpPr/>
          <p:nvPr/>
        </p:nvCxnSpPr>
        <p:spPr>
          <a:xfrm rot="10800000" flipH="1">
            <a:off x="5480452" y="3538994"/>
            <a:ext cx="1566600" cy="1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87" name="Google Shape;1287;p91"/>
          <p:cNvCxnSpPr/>
          <p:nvPr/>
        </p:nvCxnSpPr>
        <p:spPr>
          <a:xfrm>
            <a:off x="2046300" y="2877812"/>
            <a:ext cx="129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88" name="Google Shape;1288;p91"/>
          <p:cNvCxnSpPr/>
          <p:nvPr/>
        </p:nvCxnSpPr>
        <p:spPr>
          <a:xfrm>
            <a:off x="5492120" y="2219299"/>
            <a:ext cx="1557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9" name="Google Shape;1289;p91"/>
          <p:cNvSpPr txBox="1"/>
          <p:nvPr>
            <p:ph type="subTitle" idx="4294967295"/>
          </p:nvPr>
        </p:nvSpPr>
        <p:spPr>
          <a:xfrm>
            <a:off x="2433914" y="2870239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10 cm</a:t>
            </a:r>
            <a:endParaRPr sz="1600"/>
          </a:p>
        </p:txBody>
      </p:sp>
      <p:sp>
        <p:nvSpPr>
          <p:cNvPr id="1290" name="Google Shape;1290;p91"/>
          <p:cNvSpPr txBox="1"/>
          <p:nvPr>
            <p:ph type="subTitle" idx="4294967295"/>
          </p:nvPr>
        </p:nvSpPr>
        <p:spPr>
          <a:xfrm>
            <a:off x="6031383" y="2213975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 cm</a:t>
            </a:r>
            <a:endParaRPr sz="1600"/>
          </a:p>
        </p:txBody>
      </p:sp>
      <p:cxnSp>
        <p:nvCxnSpPr>
          <p:cNvPr id="1291" name="Google Shape;1291;p91"/>
          <p:cNvCxnSpPr/>
          <p:nvPr/>
        </p:nvCxnSpPr>
        <p:spPr>
          <a:xfrm flipH="1">
            <a:off x="973725" y="3372306"/>
            <a:ext cx="0" cy="110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92" name="Google Shape;1292;p91"/>
          <p:cNvSpPr txBox="1"/>
          <p:nvPr>
            <p:ph type="subTitle" idx="4294967295"/>
          </p:nvPr>
        </p:nvSpPr>
        <p:spPr>
          <a:xfrm>
            <a:off x="474118" y="3761722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 cm</a:t>
            </a:r>
            <a:endParaRPr sz="1600"/>
          </a:p>
        </p:txBody>
      </p:sp>
      <p:cxnSp>
        <p:nvCxnSpPr>
          <p:cNvPr id="1293" name="Google Shape;1293;p91"/>
          <p:cNvCxnSpPr/>
          <p:nvPr/>
        </p:nvCxnSpPr>
        <p:spPr>
          <a:xfrm>
            <a:off x="1109925" y="4588256"/>
            <a:ext cx="2245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94" name="Google Shape;1294;p91"/>
          <p:cNvSpPr txBox="1"/>
          <p:nvPr>
            <p:ph type="subTitle" idx="4294967295"/>
          </p:nvPr>
        </p:nvSpPr>
        <p:spPr>
          <a:xfrm>
            <a:off x="2090887" y="4613975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16 cm</a:t>
            </a:r>
            <a:endParaRPr sz="1600"/>
          </a:p>
        </p:txBody>
      </p:sp>
      <p:sp>
        <p:nvSpPr>
          <p:cNvPr id="1295" name="Google Shape;1295;p91"/>
          <p:cNvSpPr/>
          <p:nvPr/>
        </p:nvSpPr>
        <p:spPr>
          <a:xfrm flipH="1">
            <a:off x="5493278" y="4182746"/>
            <a:ext cx="698100" cy="280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296" name="Google Shape;1296;p91"/>
          <p:cNvCxnSpPr/>
          <p:nvPr/>
        </p:nvCxnSpPr>
        <p:spPr>
          <a:xfrm flipH="1">
            <a:off x="5418944" y="4182746"/>
            <a:ext cx="0" cy="28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97" name="Google Shape;1297;p91"/>
          <p:cNvSpPr txBox="1"/>
          <p:nvPr>
            <p:ph type="subTitle" idx="4294967295"/>
          </p:nvPr>
        </p:nvSpPr>
        <p:spPr>
          <a:xfrm>
            <a:off x="4819876" y="4182738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cm</a:t>
            </a:r>
            <a:endParaRPr sz="1600"/>
          </a:p>
        </p:txBody>
      </p:sp>
      <p:cxnSp>
        <p:nvCxnSpPr>
          <p:cNvPr id="1298" name="Google Shape;1298;p91"/>
          <p:cNvCxnSpPr/>
          <p:nvPr/>
        </p:nvCxnSpPr>
        <p:spPr>
          <a:xfrm>
            <a:off x="5498661" y="4559467"/>
            <a:ext cx="692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99" name="Google Shape;1299;p91"/>
          <p:cNvSpPr txBox="1"/>
          <p:nvPr>
            <p:ph type="subTitle" idx="4294967295"/>
          </p:nvPr>
        </p:nvSpPr>
        <p:spPr>
          <a:xfrm>
            <a:off x="5596355" y="4612036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sp>
        <p:nvSpPr>
          <p:cNvPr id="1300" name="Google Shape;1300;p91"/>
          <p:cNvSpPr/>
          <p:nvPr/>
        </p:nvSpPr>
        <p:spPr>
          <a:xfrm flipH="1">
            <a:off x="1109925" y="3359381"/>
            <a:ext cx="2246400" cy="1121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1" name="Google Shape;1301;p91"/>
          <p:cNvSpPr/>
          <p:nvPr/>
        </p:nvSpPr>
        <p:spPr>
          <a:xfrm flipH="1">
            <a:off x="2929072" y="1329182"/>
            <a:ext cx="418200" cy="165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2" name="Google Shape;1302;p91"/>
          <p:cNvSpPr txBox="1"/>
          <p:nvPr>
            <p:ph type="subTitle" idx="4294967295"/>
          </p:nvPr>
        </p:nvSpPr>
        <p:spPr>
          <a:xfrm>
            <a:off x="2409044" y="1270836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 cm</a:t>
            </a:r>
            <a:endParaRPr sz="1600"/>
          </a:p>
        </p:txBody>
      </p:sp>
      <p:cxnSp>
        <p:nvCxnSpPr>
          <p:cNvPr id="1303" name="Google Shape;1303;p91"/>
          <p:cNvCxnSpPr/>
          <p:nvPr/>
        </p:nvCxnSpPr>
        <p:spPr>
          <a:xfrm>
            <a:off x="2929061" y="1574003"/>
            <a:ext cx="441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04" name="Google Shape;1304;p91"/>
          <p:cNvSpPr txBox="1"/>
          <p:nvPr>
            <p:ph type="subTitle" idx="4294967295"/>
          </p:nvPr>
        </p:nvSpPr>
        <p:spPr>
          <a:xfrm>
            <a:off x="2916780" y="1595433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sp>
        <p:nvSpPr>
          <p:cNvPr id="1309" name="Google Shape;1309;p9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Use square paper to accurately draw the right-angled triangle below.</a:t>
            </a:r>
            <a:endParaRPr sz="1800"/>
          </a:p>
        </p:txBody>
      </p:sp>
      <p:sp>
        <p:nvSpPr>
          <p:cNvPr id="1310" name="Google Shape;1310;p9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311" name="Google Shape;1311;p92"/>
          <p:cNvSpPr txBox="1"/>
          <p:nvPr>
            <p:ph type="body" idx="1"/>
          </p:nvPr>
        </p:nvSpPr>
        <p:spPr>
          <a:xfrm>
            <a:off x="332700" y="2176800"/>
            <a:ext cx="8237700" cy="10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Draw another right-angled triangle that is </a:t>
            </a:r>
            <a:r>
              <a:rPr lang="en-GB" sz="1800" b="1"/>
              <a:t>similar</a:t>
            </a:r>
            <a:r>
              <a:rPr lang="en-GB" sz="1800"/>
              <a:t> to this one.</a:t>
            </a:r>
            <a:endParaRPr sz="1800"/>
          </a:p>
        </p:txBody>
      </p:sp>
      <p:grpSp>
        <p:nvGrpSpPr>
          <p:cNvPr id="1312" name="Google Shape;1312;p92"/>
          <p:cNvGrpSpPr/>
          <p:nvPr/>
        </p:nvGrpSpPr>
        <p:grpSpPr>
          <a:xfrm>
            <a:off x="4036635" y="1206532"/>
            <a:ext cx="1071081" cy="800366"/>
            <a:chOff x="1854175" y="1437634"/>
            <a:chExt cx="970358" cy="725166"/>
          </a:xfrm>
        </p:grpSpPr>
        <p:sp>
          <p:nvSpPr>
            <p:cNvPr id="1313" name="Google Shape;1313;p92"/>
            <p:cNvSpPr/>
            <p:nvPr/>
          </p:nvSpPr>
          <p:spPr>
            <a:xfrm>
              <a:off x="1854175" y="143810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4" name="Google Shape;1314;p92"/>
            <p:cNvSpPr/>
            <p:nvPr/>
          </p:nvSpPr>
          <p:spPr>
            <a:xfrm>
              <a:off x="1854175" y="1679312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5" name="Google Shape;1315;p92"/>
            <p:cNvSpPr/>
            <p:nvPr/>
          </p:nvSpPr>
          <p:spPr>
            <a:xfrm>
              <a:off x="1854175" y="191799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6" name="Google Shape;1316;p92"/>
            <p:cNvSpPr/>
            <p:nvPr/>
          </p:nvSpPr>
          <p:spPr>
            <a:xfrm>
              <a:off x="2096900" y="143769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7" name="Google Shape;1317;p92"/>
            <p:cNvSpPr/>
            <p:nvPr/>
          </p:nvSpPr>
          <p:spPr>
            <a:xfrm>
              <a:off x="2096900" y="1678900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8" name="Google Shape;1318;p92"/>
            <p:cNvSpPr/>
            <p:nvPr/>
          </p:nvSpPr>
          <p:spPr>
            <a:xfrm>
              <a:off x="2096900" y="191758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9" name="Google Shape;1319;p92"/>
            <p:cNvSpPr/>
            <p:nvPr/>
          </p:nvSpPr>
          <p:spPr>
            <a:xfrm>
              <a:off x="2339409" y="143804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0" name="Google Shape;1320;p92"/>
            <p:cNvSpPr/>
            <p:nvPr/>
          </p:nvSpPr>
          <p:spPr>
            <a:xfrm>
              <a:off x="2339409" y="167924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1" name="Google Shape;1321;p92"/>
            <p:cNvSpPr/>
            <p:nvPr/>
          </p:nvSpPr>
          <p:spPr>
            <a:xfrm>
              <a:off x="2339409" y="191793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2" name="Google Shape;1322;p92"/>
            <p:cNvSpPr/>
            <p:nvPr/>
          </p:nvSpPr>
          <p:spPr>
            <a:xfrm>
              <a:off x="2582133" y="143763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3" name="Google Shape;1323;p92"/>
            <p:cNvSpPr/>
            <p:nvPr/>
          </p:nvSpPr>
          <p:spPr>
            <a:xfrm>
              <a:off x="2582133" y="167883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4" name="Google Shape;1324;p92"/>
            <p:cNvSpPr/>
            <p:nvPr/>
          </p:nvSpPr>
          <p:spPr>
            <a:xfrm>
              <a:off x="2582133" y="191752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5" name="Google Shape;1325;p92"/>
            <p:cNvSpPr/>
            <p:nvPr/>
          </p:nvSpPr>
          <p:spPr>
            <a:xfrm rot="-5400000">
              <a:off x="1982100" y="1328500"/>
              <a:ext cx="715800" cy="952800"/>
            </a:xfrm>
            <a:prstGeom prst="rtTriangl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26" name="Google Shape;1326;p92"/>
          <p:cNvSpPr txBox="1"/>
          <p:nvPr/>
        </p:nvSpPr>
        <p:spPr>
          <a:xfrm>
            <a:off x="317700" y="3162450"/>
            <a:ext cx="8502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Cut out each triangle. Place one triangle on top of the other and match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up one of the vertices.  What do you notice? </a:t>
            </a:r>
            <a:endParaRPr/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0" name="Shape 1330"/>
        <p:cNvGrpSpPr/>
        <p:nvPr/>
      </p:nvGrpSpPr>
      <p:grpSpPr>
        <a:xfrm>
          <a:off x="0" y="0"/>
          <a:ext cx="0" cy="0"/>
        </a:xfrm>
      </p:grpSpPr>
      <p:sp>
        <p:nvSpPr>
          <p:cNvPr id="1331" name="Google Shape;1331;p93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Match the rectangles which are </a:t>
            </a:r>
            <a:r>
              <a:rPr lang="en-GB" sz="2000" b="1"/>
              <a:t>similar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332" name="Google Shape;1332;p9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333" name="Google Shape;1333;p93"/>
          <p:cNvSpPr/>
          <p:nvPr/>
        </p:nvSpPr>
        <p:spPr>
          <a:xfrm flipH="1">
            <a:off x="5489189" y="2875736"/>
            <a:ext cx="1557900" cy="519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4" name="Google Shape;1334;p93"/>
          <p:cNvSpPr/>
          <p:nvPr/>
        </p:nvSpPr>
        <p:spPr>
          <a:xfrm flipH="1">
            <a:off x="2046300" y="2242798"/>
            <a:ext cx="1298100" cy="519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5" name="Google Shape;1335;p93"/>
          <p:cNvSpPr/>
          <p:nvPr/>
        </p:nvSpPr>
        <p:spPr>
          <a:xfrm flipH="1">
            <a:off x="5492120" y="1338882"/>
            <a:ext cx="1557900" cy="778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336" name="Google Shape;1336;p93"/>
          <p:cNvCxnSpPr/>
          <p:nvPr/>
        </p:nvCxnSpPr>
        <p:spPr>
          <a:xfrm flipH="1">
            <a:off x="5376283" y="2866636"/>
            <a:ext cx="0" cy="52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37" name="Google Shape;1337;p93"/>
          <p:cNvSpPr txBox="1"/>
          <p:nvPr>
            <p:ph type="subTitle" idx="4294967295"/>
          </p:nvPr>
        </p:nvSpPr>
        <p:spPr>
          <a:xfrm>
            <a:off x="4819383" y="2973094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cxnSp>
        <p:nvCxnSpPr>
          <p:cNvPr id="1338" name="Google Shape;1338;p93"/>
          <p:cNvCxnSpPr/>
          <p:nvPr/>
        </p:nvCxnSpPr>
        <p:spPr>
          <a:xfrm flipH="1">
            <a:off x="1933350" y="2242798"/>
            <a:ext cx="0" cy="51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39" name="Google Shape;1339;p93"/>
          <p:cNvCxnSpPr/>
          <p:nvPr/>
        </p:nvCxnSpPr>
        <p:spPr>
          <a:xfrm flipH="1">
            <a:off x="5356670" y="1338882"/>
            <a:ext cx="0" cy="778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0" name="Google Shape;1340;p93"/>
          <p:cNvSpPr txBox="1"/>
          <p:nvPr>
            <p:ph type="subTitle" idx="4294967295"/>
          </p:nvPr>
        </p:nvSpPr>
        <p:spPr>
          <a:xfrm>
            <a:off x="1332114" y="2340158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sp>
        <p:nvSpPr>
          <p:cNvPr id="1341" name="Google Shape;1341;p93"/>
          <p:cNvSpPr txBox="1"/>
          <p:nvPr>
            <p:ph type="subTitle" idx="4294967295"/>
          </p:nvPr>
        </p:nvSpPr>
        <p:spPr>
          <a:xfrm>
            <a:off x="4824029" y="1593720"/>
            <a:ext cx="519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1342" name="Google Shape;1342;p93"/>
          <p:cNvSpPr txBox="1"/>
          <p:nvPr>
            <p:ph type="subTitle" idx="4294967295"/>
          </p:nvPr>
        </p:nvSpPr>
        <p:spPr>
          <a:xfrm>
            <a:off x="6028452" y="3535744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 cm</a:t>
            </a:r>
            <a:endParaRPr sz="1600"/>
          </a:p>
        </p:txBody>
      </p:sp>
      <p:cxnSp>
        <p:nvCxnSpPr>
          <p:cNvPr id="1343" name="Google Shape;1343;p93"/>
          <p:cNvCxnSpPr/>
          <p:nvPr/>
        </p:nvCxnSpPr>
        <p:spPr>
          <a:xfrm rot="10800000" flipH="1">
            <a:off x="5480452" y="3538994"/>
            <a:ext cx="1566600" cy="1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44" name="Google Shape;1344;p93"/>
          <p:cNvCxnSpPr/>
          <p:nvPr/>
        </p:nvCxnSpPr>
        <p:spPr>
          <a:xfrm>
            <a:off x="2046300" y="2877812"/>
            <a:ext cx="129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45" name="Google Shape;1345;p93"/>
          <p:cNvCxnSpPr/>
          <p:nvPr/>
        </p:nvCxnSpPr>
        <p:spPr>
          <a:xfrm>
            <a:off x="5492120" y="2219299"/>
            <a:ext cx="1557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6" name="Google Shape;1346;p93"/>
          <p:cNvSpPr txBox="1"/>
          <p:nvPr>
            <p:ph type="subTitle" idx="4294967295"/>
          </p:nvPr>
        </p:nvSpPr>
        <p:spPr>
          <a:xfrm>
            <a:off x="2433914" y="2870239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10 cm</a:t>
            </a:r>
            <a:endParaRPr sz="1600"/>
          </a:p>
        </p:txBody>
      </p:sp>
      <p:sp>
        <p:nvSpPr>
          <p:cNvPr id="1347" name="Google Shape;1347;p93"/>
          <p:cNvSpPr txBox="1"/>
          <p:nvPr>
            <p:ph type="subTitle" idx="4294967295"/>
          </p:nvPr>
        </p:nvSpPr>
        <p:spPr>
          <a:xfrm>
            <a:off x="6031383" y="2213975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 cm</a:t>
            </a:r>
            <a:endParaRPr sz="1600"/>
          </a:p>
        </p:txBody>
      </p:sp>
      <p:cxnSp>
        <p:nvCxnSpPr>
          <p:cNvPr id="1348" name="Google Shape;1348;p93"/>
          <p:cNvCxnSpPr/>
          <p:nvPr/>
        </p:nvCxnSpPr>
        <p:spPr>
          <a:xfrm flipH="1">
            <a:off x="973725" y="3372306"/>
            <a:ext cx="0" cy="110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9" name="Google Shape;1349;p93"/>
          <p:cNvSpPr txBox="1"/>
          <p:nvPr>
            <p:ph type="subTitle" idx="4294967295"/>
          </p:nvPr>
        </p:nvSpPr>
        <p:spPr>
          <a:xfrm>
            <a:off x="474118" y="3761722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 cm</a:t>
            </a:r>
            <a:endParaRPr sz="1600"/>
          </a:p>
        </p:txBody>
      </p:sp>
      <p:cxnSp>
        <p:nvCxnSpPr>
          <p:cNvPr id="1350" name="Google Shape;1350;p93"/>
          <p:cNvCxnSpPr/>
          <p:nvPr/>
        </p:nvCxnSpPr>
        <p:spPr>
          <a:xfrm>
            <a:off x="1109925" y="4588256"/>
            <a:ext cx="2245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1" name="Google Shape;1351;p93"/>
          <p:cNvSpPr txBox="1"/>
          <p:nvPr>
            <p:ph type="subTitle" idx="4294967295"/>
          </p:nvPr>
        </p:nvSpPr>
        <p:spPr>
          <a:xfrm>
            <a:off x="2090887" y="4613975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16 cm</a:t>
            </a:r>
            <a:endParaRPr sz="1600"/>
          </a:p>
        </p:txBody>
      </p:sp>
      <p:sp>
        <p:nvSpPr>
          <p:cNvPr id="1352" name="Google Shape;1352;p93"/>
          <p:cNvSpPr/>
          <p:nvPr/>
        </p:nvSpPr>
        <p:spPr>
          <a:xfrm flipH="1">
            <a:off x="5493278" y="4182746"/>
            <a:ext cx="698100" cy="280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353" name="Google Shape;1353;p93"/>
          <p:cNvCxnSpPr/>
          <p:nvPr/>
        </p:nvCxnSpPr>
        <p:spPr>
          <a:xfrm flipH="1">
            <a:off x="5418944" y="4182746"/>
            <a:ext cx="0" cy="28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4" name="Google Shape;1354;p93"/>
          <p:cNvSpPr txBox="1"/>
          <p:nvPr>
            <p:ph type="subTitle" idx="4294967295"/>
          </p:nvPr>
        </p:nvSpPr>
        <p:spPr>
          <a:xfrm>
            <a:off x="4819876" y="4182738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cm</a:t>
            </a:r>
            <a:endParaRPr sz="1600"/>
          </a:p>
        </p:txBody>
      </p:sp>
      <p:cxnSp>
        <p:nvCxnSpPr>
          <p:cNvPr id="1355" name="Google Shape;1355;p93"/>
          <p:cNvCxnSpPr/>
          <p:nvPr/>
        </p:nvCxnSpPr>
        <p:spPr>
          <a:xfrm>
            <a:off x="5498661" y="4559467"/>
            <a:ext cx="692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6" name="Google Shape;1356;p93"/>
          <p:cNvSpPr txBox="1"/>
          <p:nvPr>
            <p:ph type="subTitle" idx="4294967295"/>
          </p:nvPr>
        </p:nvSpPr>
        <p:spPr>
          <a:xfrm>
            <a:off x="5596355" y="4612036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sp>
        <p:nvSpPr>
          <p:cNvPr id="1357" name="Google Shape;1357;p93"/>
          <p:cNvSpPr/>
          <p:nvPr/>
        </p:nvSpPr>
        <p:spPr>
          <a:xfrm flipH="1">
            <a:off x="1109925" y="3359381"/>
            <a:ext cx="2246400" cy="1121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8" name="Google Shape;1358;p93"/>
          <p:cNvSpPr/>
          <p:nvPr/>
        </p:nvSpPr>
        <p:spPr>
          <a:xfrm flipH="1">
            <a:off x="2929072" y="1329182"/>
            <a:ext cx="418200" cy="1653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9" name="Google Shape;1359;p93"/>
          <p:cNvSpPr txBox="1"/>
          <p:nvPr>
            <p:ph type="subTitle" idx="4294967295"/>
          </p:nvPr>
        </p:nvSpPr>
        <p:spPr>
          <a:xfrm>
            <a:off x="2409044" y="1270836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 cm</a:t>
            </a:r>
            <a:endParaRPr sz="1600"/>
          </a:p>
        </p:txBody>
      </p:sp>
      <p:cxnSp>
        <p:nvCxnSpPr>
          <p:cNvPr id="1360" name="Google Shape;1360;p93"/>
          <p:cNvCxnSpPr/>
          <p:nvPr/>
        </p:nvCxnSpPr>
        <p:spPr>
          <a:xfrm>
            <a:off x="2929061" y="1574003"/>
            <a:ext cx="441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1" name="Google Shape;1361;p93"/>
          <p:cNvSpPr txBox="1"/>
          <p:nvPr>
            <p:ph type="subTitle" idx="4294967295"/>
          </p:nvPr>
        </p:nvSpPr>
        <p:spPr>
          <a:xfrm>
            <a:off x="2916780" y="1595433"/>
            <a:ext cx="61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cxnSp>
        <p:nvCxnSpPr>
          <p:cNvPr id="1362" name="Google Shape;1362;p93"/>
          <p:cNvCxnSpPr>
            <a:endCxn id="1337" idx="1"/>
          </p:cNvCxnSpPr>
          <p:nvPr/>
        </p:nvCxnSpPr>
        <p:spPr>
          <a:xfrm>
            <a:off x="3480183" y="1472194"/>
            <a:ext cx="1339200" cy="1663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3" name="Google Shape;1363;p93"/>
          <p:cNvCxnSpPr/>
          <p:nvPr/>
        </p:nvCxnSpPr>
        <p:spPr>
          <a:xfrm>
            <a:off x="3418258" y="2538569"/>
            <a:ext cx="1339200" cy="1663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4" name="Google Shape;1364;p93"/>
          <p:cNvCxnSpPr>
            <a:endCxn id="1341" idx="1"/>
          </p:cNvCxnSpPr>
          <p:nvPr/>
        </p:nvCxnSpPr>
        <p:spPr>
          <a:xfrm rot="10800000" flipH="1">
            <a:off x="3483329" y="1756020"/>
            <a:ext cx="1340700" cy="21885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8" name="Shape 1368"/>
        <p:cNvGrpSpPr/>
        <p:nvPr/>
      </p:nvGrpSpPr>
      <p:grpSpPr>
        <a:xfrm>
          <a:off x="0" y="0"/>
          <a:ext cx="0" cy="0"/>
        </a:xfrm>
      </p:grpSpPr>
      <p:sp>
        <p:nvSpPr>
          <p:cNvPr id="1369" name="Google Shape;1369;p94"/>
          <p:cNvSpPr txBox="1"/>
          <p:nvPr>
            <p:ph type="body" idx="1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Use square paper to accurately draw the right-angled triangle below.</a:t>
            </a:r>
            <a:endParaRPr sz="1800"/>
          </a:p>
        </p:txBody>
      </p:sp>
      <p:sp>
        <p:nvSpPr>
          <p:cNvPr id="1370" name="Google Shape;1370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similarity</a:t>
            </a:r>
            <a:endParaRPr/>
          </a:p>
        </p:txBody>
      </p:sp>
      <p:sp>
        <p:nvSpPr>
          <p:cNvPr id="1371" name="Google Shape;1371;p94"/>
          <p:cNvSpPr txBox="1"/>
          <p:nvPr>
            <p:ph type="body" idx="1"/>
          </p:nvPr>
        </p:nvSpPr>
        <p:spPr>
          <a:xfrm>
            <a:off x="332700" y="2024400"/>
            <a:ext cx="8237700" cy="10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Draw another right-angled triangle that is </a:t>
            </a:r>
            <a:r>
              <a:rPr lang="en-GB" sz="1800" b="1"/>
              <a:t>similar</a:t>
            </a:r>
            <a:r>
              <a:rPr lang="en-GB" sz="1800"/>
              <a:t> to this one.</a:t>
            </a:r>
            <a:endParaRPr sz="1800"/>
          </a:p>
        </p:txBody>
      </p:sp>
      <p:grpSp>
        <p:nvGrpSpPr>
          <p:cNvPr id="1372" name="Google Shape;1372;p94"/>
          <p:cNvGrpSpPr/>
          <p:nvPr/>
        </p:nvGrpSpPr>
        <p:grpSpPr>
          <a:xfrm>
            <a:off x="4036635" y="1130332"/>
            <a:ext cx="1071081" cy="800366"/>
            <a:chOff x="1854175" y="1437634"/>
            <a:chExt cx="970358" cy="725166"/>
          </a:xfrm>
        </p:grpSpPr>
        <p:sp>
          <p:nvSpPr>
            <p:cNvPr id="1373" name="Google Shape;1373;p94"/>
            <p:cNvSpPr/>
            <p:nvPr/>
          </p:nvSpPr>
          <p:spPr>
            <a:xfrm>
              <a:off x="1854175" y="143810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74" name="Google Shape;1374;p94"/>
            <p:cNvSpPr/>
            <p:nvPr/>
          </p:nvSpPr>
          <p:spPr>
            <a:xfrm>
              <a:off x="1854175" y="1679312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75" name="Google Shape;1375;p94"/>
            <p:cNvSpPr/>
            <p:nvPr/>
          </p:nvSpPr>
          <p:spPr>
            <a:xfrm>
              <a:off x="1854175" y="191799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76" name="Google Shape;1376;p94"/>
            <p:cNvSpPr/>
            <p:nvPr/>
          </p:nvSpPr>
          <p:spPr>
            <a:xfrm>
              <a:off x="2096900" y="143769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77" name="Google Shape;1377;p94"/>
            <p:cNvSpPr/>
            <p:nvPr/>
          </p:nvSpPr>
          <p:spPr>
            <a:xfrm>
              <a:off x="2096900" y="1678900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78" name="Google Shape;1378;p94"/>
            <p:cNvSpPr/>
            <p:nvPr/>
          </p:nvSpPr>
          <p:spPr>
            <a:xfrm>
              <a:off x="2096900" y="191758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79" name="Google Shape;1379;p94"/>
            <p:cNvSpPr/>
            <p:nvPr/>
          </p:nvSpPr>
          <p:spPr>
            <a:xfrm>
              <a:off x="2339409" y="143804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0" name="Google Shape;1380;p94"/>
            <p:cNvSpPr/>
            <p:nvPr/>
          </p:nvSpPr>
          <p:spPr>
            <a:xfrm>
              <a:off x="2339409" y="167924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1" name="Google Shape;1381;p94"/>
            <p:cNvSpPr/>
            <p:nvPr/>
          </p:nvSpPr>
          <p:spPr>
            <a:xfrm>
              <a:off x="2339409" y="191793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2" name="Google Shape;1382;p94"/>
            <p:cNvSpPr/>
            <p:nvPr/>
          </p:nvSpPr>
          <p:spPr>
            <a:xfrm>
              <a:off x="2582133" y="143763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3" name="Google Shape;1383;p94"/>
            <p:cNvSpPr/>
            <p:nvPr/>
          </p:nvSpPr>
          <p:spPr>
            <a:xfrm>
              <a:off x="2582133" y="167883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4" name="Google Shape;1384;p94"/>
            <p:cNvSpPr/>
            <p:nvPr/>
          </p:nvSpPr>
          <p:spPr>
            <a:xfrm>
              <a:off x="2582133" y="191752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5" name="Google Shape;1385;p94"/>
            <p:cNvSpPr/>
            <p:nvPr/>
          </p:nvSpPr>
          <p:spPr>
            <a:xfrm rot="-5400000">
              <a:off x="1982100" y="1328500"/>
              <a:ext cx="715800" cy="952800"/>
            </a:xfrm>
            <a:prstGeom prst="rtTriangl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86" name="Google Shape;1386;p94"/>
          <p:cNvSpPr txBox="1"/>
          <p:nvPr>
            <p:ph type="body" idx="1"/>
          </p:nvPr>
        </p:nvSpPr>
        <p:spPr>
          <a:xfrm>
            <a:off x="644725" y="2366175"/>
            <a:ext cx="8175300" cy="65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base and height should be pairs of numbers obtained by multiplying 4 and 3 by the same number. Examples: 8 and 6, 12 and 9, 16 and 12, 20 and 15, 2 and 1.5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94"/>
          <p:cNvSpPr txBox="1"/>
          <p:nvPr>
            <p:ph type="body" idx="1"/>
          </p:nvPr>
        </p:nvSpPr>
        <p:spPr>
          <a:xfrm>
            <a:off x="841800" y="4075800"/>
            <a:ext cx="3194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Corresponding angles are equal.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94"/>
          <p:cNvSpPr/>
          <p:nvPr/>
        </p:nvSpPr>
        <p:spPr>
          <a:xfrm rot="-5400000">
            <a:off x="4162338" y="3788698"/>
            <a:ext cx="789900" cy="10518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9" name="Google Shape;1389;p94"/>
          <p:cNvSpPr txBox="1"/>
          <p:nvPr/>
        </p:nvSpPr>
        <p:spPr>
          <a:xfrm>
            <a:off x="317700" y="3238650"/>
            <a:ext cx="8502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Cut out each triangle. Place one triangle on top of the other and match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up one of the vertices.  What do you notice?</a:t>
            </a:r>
            <a:endParaRPr/>
          </a:p>
        </p:txBody>
      </p:sp>
      <p:sp>
        <p:nvSpPr>
          <p:cNvPr id="1390" name="Google Shape;1390;p94"/>
          <p:cNvSpPr/>
          <p:nvPr/>
        </p:nvSpPr>
        <p:spPr>
          <a:xfrm rot="-5400000">
            <a:off x="4095300" y="4252349"/>
            <a:ext cx="392100" cy="522300"/>
          </a:xfrm>
          <a:prstGeom prst="rtTriangle">
            <a:avLst/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1" name="Google Shape;1391;p94"/>
          <p:cNvSpPr/>
          <p:nvPr/>
        </p:nvSpPr>
        <p:spPr>
          <a:xfrm rot="-5400000">
            <a:off x="5539338" y="3788698"/>
            <a:ext cx="789900" cy="10518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2" name="Google Shape;1392;p94"/>
          <p:cNvSpPr/>
          <p:nvPr/>
        </p:nvSpPr>
        <p:spPr>
          <a:xfrm rot="-5400000">
            <a:off x="6003000" y="3860249"/>
            <a:ext cx="392100" cy="522300"/>
          </a:xfrm>
          <a:prstGeom prst="rtTriangle">
            <a:avLst/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3" name="Google Shape;1393;p94"/>
          <p:cNvSpPr/>
          <p:nvPr/>
        </p:nvSpPr>
        <p:spPr>
          <a:xfrm rot="-5400000">
            <a:off x="7034238" y="3796198"/>
            <a:ext cx="789900" cy="10518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4" name="Google Shape;1394;p94"/>
          <p:cNvSpPr/>
          <p:nvPr/>
        </p:nvSpPr>
        <p:spPr>
          <a:xfrm rot="-5400000">
            <a:off x="7497900" y="4248749"/>
            <a:ext cx="392100" cy="522300"/>
          </a:xfrm>
          <a:prstGeom prst="rtTriangle">
            <a:avLst/>
          </a:prstGeom>
          <a:solidFill>
            <a:schemeClr val="accent5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8" name="Shape 1398"/>
        <p:cNvGrpSpPr/>
        <p:nvPr/>
      </p:nvGrpSpPr>
      <p:grpSpPr>
        <a:xfrm>
          <a:off x="0" y="0"/>
          <a:ext cx="0" cy="0"/>
        </a:xfrm>
      </p:grpSpPr>
      <p:sp>
        <p:nvSpPr>
          <p:cNvPr id="1399" name="Google Shape;1399;p95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282828"/>
                </a:solidFill>
              </a:rPr>
              <a:t>Enlargement </a:t>
            </a:r>
            <a:r>
              <a:rPr lang="en-GB">
                <a:solidFill>
                  <a:srgbClr val="282828"/>
                </a:solidFill>
              </a:rPr>
              <a:t>is a transformation that causes a change of size.</a:t>
            </a:r>
            <a:endParaRPr>
              <a:solidFill>
                <a:srgbClr val="282828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282828"/>
                </a:solidFill>
              </a:rPr>
              <a:t>Enlargement</a:t>
            </a:r>
            <a:r>
              <a:rPr lang="en-GB">
                <a:solidFill>
                  <a:srgbClr val="282828"/>
                </a:solidFill>
              </a:rPr>
              <a:t> can be a stretch or shrink.</a:t>
            </a:r>
            <a:endParaRPr>
              <a:solidFill>
                <a:srgbClr val="282828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82828"/>
                </a:solidFill>
              </a:rPr>
              <a:t>Angles remain invariant when a shape is </a:t>
            </a:r>
            <a:r>
              <a:rPr lang="en-GB" b="1">
                <a:solidFill>
                  <a:srgbClr val="282828"/>
                </a:solidFill>
              </a:rPr>
              <a:t>enlarged</a:t>
            </a:r>
            <a:r>
              <a:rPr lang="en-GB">
                <a:solidFill>
                  <a:srgbClr val="282828"/>
                </a:solidFill>
              </a:rPr>
              <a:t>.</a:t>
            </a:r>
            <a:endParaRPr>
              <a:solidFill>
                <a:srgbClr val="282828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282828"/>
                </a:solidFill>
              </a:rPr>
              <a:t>If two shapes are </a:t>
            </a:r>
            <a:r>
              <a:rPr lang="en-GB" b="1">
                <a:solidFill>
                  <a:srgbClr val="282828"/>
                </a:solidFill>
              </a:rPr>
              <a:t>similar </a:t>
            </a:r>
            <a:r>
              <a:rPr lang="en-GB">
                <a:solidFill>
                  <a:srgbClr val="282828"/>
                </a:solidFill>
              </a:rPr>
              <a:t>then their corresponding angles are equal and the lengths are in the same proportion.</a:t>
            </a:r>
            <a:endParaRPr>
              <a:solidFill>
                <a:srgbClr val="282828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82828"/>
                </a:solidFill>
              </a:rPr>
              <a:t>When a shape is </a:t>
            </a:r>
            <a:r>
              <a:rPr lang="en-GB" b="1">
                <a:solidFill>
                  <a:srgbClr val="282828"/>
                </a:solidFill>
              </a:rPr>
              <a:t>enlarged</a:t>
            </a:r>
            <a:r>
              <a:rPr lang="en-GB">
                <a:solidFill>
                  <a:srgbClr val="282828"/>
                </a:solidFill>
              </a:rPr>
              <a:t>, the image is </a:t>
            </a:r>
            <a:r>
              <a:rPr lang="en-GB" b="1">
                <a:solidFill>
                  <a:srgbClr val="282828"/>
                </a:solidFill>
              </a:rPr>
              <a:t>similar</a:t>
            </a:r>
            <a:r>
              <a:rPr lang="en-GB">
                <a:solidFill>
                  <a:srgbClr val="282828"/>
                </a:solidFill>
              </a:rPr>
              <a:t> to the object.</a:t>
            </a:r>
            <a:endParaRPr>
              <a:solidFill>
                <a:srgbClr val="282828"/>
              </a:solidFill>
            </a:endParaRPr>
          </a:p>
        </p:txBody>
      </p:sp>
      <p:sp>
        <p:nvSpPr>
          <p:cNvPr id="1400" name="Google Shape;1400;p9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4" name="Shape 1404"/>
        <p:cNvGrpSpPr/>
        <p:nvPr/>
      </p:nvGrpSpPr>
      <p:grpSpPr>
        <a:xfrm>
          <a:off x="0" y="0"/>
          <a:ext cx="0" cy="0"/>
        </a:xfrm>
      </p:grpSpPr>
      <p:sp>
        <p:nvSpPr>
          <p:cNvPr id="1405" name="Google Shape;1405;p9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06" name="Google Shape;140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276</Paragraphs>
  <Slides>33</Slides>
  <Notes>33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baseType="lpstr" size="41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Introduction to enlargements</vt:lpstr>
      <vt:lpstr>PowerPoint Presentation</vt:lpstr>
      <vt:lpstr>PowerPoint Presentation</vt:lpstr>
      <vt:lpstr>PowerPoint Presentation</vt:lpstr>
      <vt:lpstr>Understanding enlargement</vt:lpstr>
      <vt:lpstr>Understanding enlargement</vt:lpstr>
      <vt:lpstr>Understanding enlargement</vt:lpstr>
      <vt:lpstr>Understanding enlargement</vt:lpstr>
      <vt:lpstr>Understanding enlargement</vt:lpstr>
      <vt:lpstr>Understanding enlargement</vt:lpstr>
      <vt:lpstr>Understanding enlargement</vt:lpstr>
      <vt:lpstr>PowerPoint Presentation</vt:lpstr>
      <vt:lpstr>PowerPoint Presentation</vt:lpstr>
      <vt:lpstr>PowerPoint Presentation</vt:lpstr>
      <vt:lpstr>PowerPoint Presentation</vt:lpstr>
      <vt:lpstr>Understanding enlargement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Understanding similarity</vt:lpstr>
      <vt:lpstr>PowerPoint Presentation</vt:lpstr>
      <vt:lpstr>PowerPoint Presentation</vt:lpstr>
      <vt:lpstr>PowerPoint Presentation</vt:lpstr>
      <vt:lpstr>PowerPoint Presentation</vt:lpstr>
      <vt:lpstr>Introduction to enlargements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2023-11-02T14:24:12.806</cp:lastPrinted>
  <dcterms:created xsi:type="dcterms:W3CDTF">2023-11-02T14:24:12Z</dcterms:created>
  <dcterms:modified xsi:type="dcterms:W3CDTF">2023-11-02T14:24:26Z</dcterms:modified>
</cp:coreProperties>
</file>