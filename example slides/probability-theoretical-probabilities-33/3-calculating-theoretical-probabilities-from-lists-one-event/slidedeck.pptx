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/>
  <p:notesSz cx="6858000" cy="9144000"/>
  <p:embeddedFontLst>
    <p:embeddedFont>
      <p:font typeface="Lexend" panose="00000000000000000000"/>
      <p:regular r:id="rId44"/>
    </p:embeddedFont>
    <p:embeddedFont>
      <p:font typeface="Lexend Medium" panose="00000000000000000000"/>
      <p:regular r:id="rId45"/>
    </p:embeddedFont>
    <p:embeddedFont>
      <p:font typeface="Kalam" panose="02000000000000000000"/>
      <p:regular r:id="rId46"/>
    </p:embeddedFont>
    <p:embeddedFont>
      <p:font typeface="Lexend Light" panose="00000000000000000000"/>
      <p:regular r:id="rId47"/>
    </p:embeddedFont>
  </p:embeddedFontLst>
  <p:custDataLst>
    <p:tags r:id="rId43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tags" Target="tags/tag1.xml" /><Relationship Id="rId44" Type="http://schemas.openxmlformats.org/officeDocument/2006/relationships/font" Target="fonts/font1.fntdata" /><Relationship Id="rId45" Type="http://schemas.openxmlformats.org/officeDocument/2006/relationships/font" Target="fonts/font2.fntdata" /><Relationship Id="rId46" Type="http://schemas.openxmlformats.org/officeDocument/2006/relationships/font" Target="fonts/font3.fntdata" /><Relationship Id="rId47" Type="http://schemas.openxmlformats.org/officeDocument/2006/relationships/font" Target="fonts/font4.fntdata" /><Relationship Id="rId48" Type="http://schemas.openxmlformats.org/officeDocument/2006/relationships/presProps" Target="presProps.xml" /><Relationship Id="rId49" Type="http://schemas.openxmlformats.org/officeDocument/2006/relationships/viewProps" Target="viewProps.xml" /><Relationship Id="rId5" Type="http://schemas.openxmlformats.org/officeDocument/2006/relationships/slide" Target="slides/slide3.xml" /><Relationship Id="rId50" Type="http://schemas.openxmlformats.org/officeDocument/2006/relationships/theme" Target="theme/theme1.xml" /><Relationship Id="rId51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g1effb4e54a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1effb4e54a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2b740c047fe_0_24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740c047fe_0_24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g2b740c047f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b740c047f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g2b740c047fe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b740c047fe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6" name="Shape 796"/>
        <p:cNvGrpSpPr/>
        <p:nvPr/>
      </p:nvGrpSpPr>
      <p:grpSpPr>
        <a:xfrm>
          <a:off x="0" y="0"/>
          <a:ext cx="0" cy="0"/>
        </a:xfrm>
      </p:grpSpPr>
      <p:sp>
        <p:nvSpPr>
          <p:cNvPr id="797" name="Google Shape;797;g2b740c047fe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b740c047fe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3" name="Shape 823"/>
        <p:cNvGrpSpPr/>
        <p:nvPr/>
      </p:nvGrpSpPr>
      <p:grpSpPr>
        <a:xfrm>
          <a:off x="0" y="0"/>
          <a:ext cx="0" cy="0"/>
        </a:xfrm>
      </p:grpSpPr>
      <p:sp>
        <p:nvSpPr>
          <p:cNvPr id="824" name="Google Shape;824;g2b740c047fe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b740c047fe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sp>
        <p:nvSpPr>
          <p:cNvPr id="849" name="Google Shape;849;g2b740c047fe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b740c047fe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g2b740c047fe_0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b740c047fe_0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9" name="Shape 899"/>
        <p:cNvGrpSpPr/>
        <p:nvPr/>
      </p:nvGrpSpPr>
      <p:grpSpPr>
        <a:xfrm>
          <a:off x="0" y="0"/>
          <a:ext cx="0" cy="0"/>
        </a:xfrm>
      </p:grpSpPr>
      <p:sp>
        <p:nvSpPr>
          <p:cNvPr id="900" name="Google Shape;900;g2b740c047fe_0_1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b740c047fe_0_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4" name="Shape 934"/>
        <p:cNvGrpSpPr/>
        <p:nvPr/>
      </p:nvGrpSpPr>
      <p:grpSpPr>
        <a:xfrm>
          <a:off x="0" y="0"/>
          <a:ext cx="0" cy="0"/>
        </a:xfrm>
      </p:grpSpPr>
      <p:sp>
        <p:nvSpPr>
          <p:cNvPr id="935" name="Google Shape;935;g2b740c047fe_0_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b740c047fe_0_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2" name="Shape 962"/>
        <p:cNvGrpSpPr/>
        <p:nvPr/>
      </p:nvGrpSpPr>
      <p:grpSpPr>
        <a:xfrm>
          <a:off x="0" y="0"/>
          <a:ext cx="0" cy="0"/>
        </a:xfrm>
      </p:grpSpPr>
      <p:sp>
        <p:nvSpPr>
          <p:cNvPr id="963" name="Google Shape;963;g2b740c047fe_0_1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b740c047fe_0_1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g2b740c047fe_0_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b740c047fe_0_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8" name="Shape 1018"/>
        <p:cNvGrpSpPr/>
        <p:nvPr/>
      </p:nvGrpSpPr>
      <p:grpSpPr>
        <a:xfrm>
          <a:off x="0" y="0"/>
          <a:ext cx="0" cy="0"/>
        </a:xfrm>
      </p:grpSpPr>
      <p:sp>
        <p:nvSpPr>
          <p:cNvPr id="1019" name="Google Shape;1019;g2b740c047fe_0_2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b740c047fe_0_2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9" name="Shape 1049"/>
        <p:cNvGrpSpPr/>
        <p:nvPr/>
      </p:nvGrpSpPr>
      <p:grpSpPr>
        <a:xfrm>
          <a:off x="0" y="0"/>
          <a:ext cx="0" cy="0"/>
        </a:xfrm>
      </p:grpSpPr>
      <p:sp>
        <p:nvSpPr>
          <p:cNvPr id="1050" name="Google Shape;1050;g2b740c047fe_0_2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b740c047fe_0_2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0" name="Shape 1080"/>
        <p:cNvGrpSpPr/>
        <p:nvPr/>
      </p:nvGrpSpPr>
      <p:grpSpPr>
        <a:xfrm>
          <a:off x="0" y="0"/>
          <a:ext cx="0" cy="0"/>
        </a:xfrm>
      </p:grpSpPr>
      <p:sp>
        <p:nvSpPr>
          <p:cNvPr id="1081" name="Google Shape;1081;g2b740c047fe_0_14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b740c047fe_0_14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8" name="Shape 1108"/>
        <p:cNvGrpSpPr/>
        <p:nvPr/>
      </p:nvGrpSpPr>
      <p:grpSpPr>
        <a:xfrm>
          <a:off x="0" y="0"/>
          <a:ext cx="0" cy="0"/>
        </a:xfrm>
      </p:grpSpPr>
      <p:sp>
        <p:nvSpPr>
          <p:cNvPr id="1109" name="Google Shape;1109;g2b740c047fe_0_2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b740c047fe_0_2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8" name="Shape 1148"/>
        <p:cNvGrpSpPr/>
        <p:nvPr/>
      </p:nvGrpSpPr>
      <p:grpSpPr>
        <a:xfrm>
          <a:off x="0" y="0"/>
          <a:ext cx="0" cy="0"/>
        </a:xfrm>
      </p:grpSpPr>
      <p:sp>
        <p:nvSpPr>
          <p:cNvPr id="1149" name="Google Shape;1149;g2b740c047fe_0_3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b740c047fe_0_3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7" name="Shape 1177"/>
        <p:cNvGrpSpPr/>
        <p:nvPr/>
      </p:nvGrpSpPr>
      <p:grpSpPr>
        <a:xfrm>
          <a:off x="0" y="0"/>
          <a:ext cx="0" cy="0"/>
        </a:xfrm>
      </p:grpSpPr>
      <p:sp>
        <p:nvSpPr>
          <p:cNvPr id="1178" name="Google Shape;1178;g2b740c047fe_0_3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2b740c047fe_0_3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6" name="Shape 1246"/>
        <p:cNvGrpSpPr/>
        <p:nvPr/>
      </p:nvGrpSpPr>
      <p:grpSpPr>
        <a:xfrm>
          <a:off x="0" y="0"/>
          <a:ext cx="0" cy="0"/>
        </a:xfrm>
      </p:grpSpPr>
      <p:sp>
        <p:nvSpPr>
          <p:cNvPr id="1247" name="Google Shape;1247;g2b740c047fe_0_15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b740c047fe_0_15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3" name="Shape 1273"/>
        <p:cNvGrpSpPr/>
        <p:nvPr/>
      </p:nvGrpSpPr>
      <p:grpSpPr>
        <a:xfrm>
          <a:off x="0" y="0"/>
          <a:ext cx="0" cy="0"/>
        </a:xfrm>
      </p:grpSpPr>
      <p:sp>
        <p:nvSpPr>
          <p:cNvPr id="1274" name="Google Shape;1274;g2b740c047fe_0_18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b740c047fe_0_18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3" name="Shape 1353"/>
        <p:cNvGrpSpPr/>
        <p:nvPr/>
      </p:nvGrpSpPr>
      <p:grpSpPr>
        <a:xfrm>
          <a:off x="0" y="0"/>
          <a:ext cx="0" cy="0"/>
        </a:xfrm>
      </p:grpSpPr>
      <p:sp>
        <p:nvSpPr>
          <p:cNvPr id="1354" name="Google Shape;1354;g2b740c047fe_0_19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b740c047fe_0_19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6" name="Shape 1386"/>
        <p:cNvGrpSpPr/>
        <p:nvPr/>
      </p:nvGrpSpPr>
      <p:grpSpPr>
        <a:xfrm>
          <a:off x="0" y="0"/>
          <a:ext cx="0" cy="0"/>
        </a:xfrm>
      </p:grpSpPr>
      <p:sp>
        <p:nvSpPr>
          <p:cNvPr id="1387" name="Google Shape;1387;g2b740c047fe_0_19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2b740c047fe_0_19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9" name="Shape 1419"/>
        <p:cNvGrpSpPr/>
        <p:nvPr/>
      </p:nvGrpSpPr>
      <p:grpSpPr>
        <a:xfrm>
          <a:off x="0" y="0"/>
          <a:ext cx="0" cy="0"/>
        </a:xfrm>
      </p:grpSpPr>
      <p:sp>
        <p:nvSpPr>
          <p:cNvPr id="1420" name="Google Shape;1420;g2b740c047fe_0_3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b740c047fe_0_3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27" name="Shape 1427"/>
        <p:cNvGrpSpPr/>
        <p:nvPr/>
      </p:nvGrpSpPr>
      <p:grpSpPr>
        <a:xfrm>
          <a:off x="0" y="0"/>
          <a:ext cx="0" cy="0"/>
        </a:xfrm>
      </p:grpSpPr>
      <p:sp>
        <p:nvSpPr>
          <p:cNvPr id="1428" name="Google Shape;1428;g2b740c047fe_0_3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b740c047fe_0_3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5" name="Shape 1445"/>
        <p:cNvGrpSpPr/>
        <p:nvPr/>
      </p:nvGrpSpPr>
      <p:grpSpPr>
        <a:xfrm>
          <a:off x="0" y="0"/>
          <a:ext cx="0" cy="0"/>
        </a:xfrm>
      </p:grpSpPr>
      <p:sp>
        <p:nvSpPr>
          <p:cNvPr id="1446" name="Google Shape;1446;g2b740c047fe_0_11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2b740c047fe_0_1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66" name="Shape 1466"/>
        <p:cNvGrpSpPr/>
        <p:nvPr/>
      </p:nvGrpSpPr>
      <p:grpSpPr>
        <a:xfrm>
          <a:off x="0" y="0"/>
          <a:ext cx="0" cy="0"/>
        </a:xfrm>
      </p:grpSpPr>
      <p:sp>
        <p:nvSpPr>
          <p:cNvPr id="1467" name="Google Shape;1467;g2b740c047fe_0_11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2b740c047fe_0_11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sp>
        <p:nvSpPr>
          <p:cNvPr id="1504" name="Google Shape;1504;g2b740c047fe_0_12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b740c047fe_0_12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5" name="Shape 1535"/>
        <p:cNvGrpSpPr/>
        <p:nvPr/>
      </p:nvGrpSpPr>
      <p:grpSpPr>
        <a:xfrm>
          <a:off x="0" y="0"/>
          <a:ext cx="0" cy="0"/>
        </a:xfrm>
      </p:grpSpPr>
      <p:sp>
        <p:nvSpPr>
          <p:cNvPr id="1536" name="Google Shape;1536;g2b740c047fe_0_11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b740c047fe_0_11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9" name="Shape 1579"/>
        <p:cNvGrpSpPr/>
        <p:nvPr/>
      </p:nvGrpSpPr>
      <p:grpSpPr>
        <a:xfrm>
          <a:off x="0" y="0"/>
          <a:ext cx="0" cy="0"/>
        </a:xfrm>
      </p:grpSpPr>
      <p:sp>
        <p:nvSpPr>
          <p:cNvPr id="1580" name="Google Shape;1580;g2b740c047fe_0_21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b740c047fe_0_2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7" name="Shape 1587"/>
        <p:cNvGrpSpPr/>
        <p:nvPr/>
      </p:nvGrpSpPr>
      <p:grpSpPr>
        <a:xfrm>
          <a:off x="0" y="0"/>
          <a:ext cx="0" cy="0"/>
        </a:xfrm>
      </p:grpSpPr>
      <p:sp>
        <p:nvSpPr>
          <p:cNvPr id="1588" name="Google Shape;1588;g2b740c047fe_0_23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2b740c047fe_0_23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4" name="Shape 1604"/>
        <p:cNvGrpSpPr/>
        <p:nvPr/>
      </p:nvGrpSpPr>
      <p:grpSpPr>
        <a:xfrm>
          <a:off x="0" y="0"/>
          <a:ext cx="0" cy="0"/>
        </a:xfrm>
      </p:grpSpPr>
      <p:sp>
        <p:nvSpPr>
          <p:cNvPr id="1605" name="Google Shape;1605;g2b740c047fe_0_11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b740c047fe_0_11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8" name="Shape 1638"/>
        <p:cNvGrpSpPr/>
        <p:nvPr/>
      </p:nvGrpSpPr>
      <p:grpSpPr>
        <a:xfrm>
          <a:off x="0" y="0"/>
          <a:ext cx="0" cy="0"/>
        </a:xfrm>
      </p:grpSpPr>
      <p:sp>
        <p:nvSpPr>
          <p:cNvPr id="1639" name="Google Shape;1639;g2b740c047fe_0_2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2b740c047fe_0_2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7" name="Shape 1657"/>
        <p:cNvGrpSpPr/>
        <p:nvPr/>
      </p:nvGrpSpPr>
      <p:grpSpPr>
        <a:xfrm>
          <a:off x="0" y="0"/>
          <a:ext cx="0" cy="0"/>
        </a:xfrm>
      </p:grpSpPr>
      <p:sp>
        <p:nvSpPr>
          <p:cNvPr id="1658" name="Google Shape;1658;g2b740c047fe_0_22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2b740c047fe_0_22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5" name="Shape 1695"/>
        <p:cNvGrpSpPr/>
        <p:nvPr/>
      </p:nvGrpSpPr>
      <p:grpSpPr>
        <a:xfrm>
          <a:off x="0" y="0"/>
          <a:ext cx="0" cy="0"/>
        </a:xfrm>
      </p:grpSpPr>
      <p:sp>
        <p:nvSpPr>
          <p:cNvPr id="1696" name="Google Shape;1696;g2b740c047fe_0_22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2b740c047fe_0_22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2" name="Shape 1732"/>
        <p:cNvGrpSpPr/>
        <p:nvPr/>
      </p:nvGrpSpPr>
      <p:grpSpPr>
        <a:xfrm>
          <a:off x="0" y="0"/>
          <a:ext cx="0" cy="0"/>
        </a:xfrm>
      </p:grpSpPr>
      <p:sp>
        <p:nvSpPr>
          <p:cNvPr id="1733" name="Google Shape;1733;g2b740c047fe_0_22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b740c047fe_0_22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7" name="Shape 1757"/>
        <p:cNvGrpSpPr/>
        <p:nvPr/>
      </p:nvGrpSpPr>
      <p:grpSpPr>
        <a:xfrm>
          <a:off x="0" y="0"/>
          <a:ext cx="0" cy="0"/>
        </a:xfrm>
      </p:grpSpPr>
      <p:sp>
        <p:nvSpPr>
          <p:cNvPr id="1758" name="Google Shape;1758;g2b740c047fe_0_23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2b740c047fe_0_23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8" name="Shape 1798"/>
        <p:cNvGrpSpPr/>
        <p:nvPr/>
      </p:nvGrpSpPr>
      <p:grpSpPr>
        <a:xfrm>
          <a:off x="0" y="0"/>
          <a:ext cx="0" cy="0"/>
        </a:xfrm>
      </p:grpSpPr>
      <p:sp>
        <p:nvSpPr>
          <p:cNvPr id="1799" name="Google Shape;179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4" name="Shape 1804"/>
        <p:cNvGrpSpPr/>
        <p:nvPr/>
      </p:nvGrpSpPr>
      <p:grpSpPr>
        <a:xfrm>
          <a:off x="0" y="0"/>
          <a:ext cx="0" cy="0"/>
        </a:xfrm>
      </p:grpSpPr>
      <p:sp>
        <p:nvSpPr>
          <p:cNvPr id="1805" name="Google Shape;180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5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6.png" /><Relationship Id="rId4" Type="http://schemas.openxmlformats.org/officeDocument/2006/relationships/image" Target="../media/image39.png" /><Relationship Id="rId5" Type="http://schemas.openxmlformats.org/officeDocument/2006/relationships/image" Target="../media/image47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50.png" /><Relationship Id="rId6" Type="http://schemas.openxmlformats.org/officeDocument/2006/relationships/image" Target="../media/image44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2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2.png" /><Relationship Id="rId4" Type="http://schemas.openxmlformats.org/officeDocument/2006/relationships/image" Target="../media/image51.png" /><Relationship Id="rId5" Type="http://schemas.openxmlformats.org/officeDocument/2006/relationships/image" Target="../media/image53.png" /><Relationship Id="rId6" Type="http://schemas.openxmlformats.org/officeDocument/2006/relationships/image" Target="../media/image50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2.png" /><Relationship Id="rId4" Type="http://schemas.openxmlformats.org/officeDocument/2006/relationships/image" Target="../media/image51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7.png" /><Relationship Id="rId4" Type="http://schemas.openxmlformats.org/officeDocument/2006/relationships/image" Target="../media/image54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5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6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7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7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3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8.png" /><Relationship Id="rId4" Type="http://schemas.openxmlformats.org/officeDocument/2006/relationships/image" Target="../media/image48.png" /><Relationship Id="rId5" Type="http://schemas.openxmlformats.org/officeDocument/2006/relationships/image" Target="../media/image59.pn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8.png" /><Relationship Id="rId4" Type="http://schemas.openxmlformats.org/officeDocument/2006/relationships/image" Target="../media/image53.png" /><Relationship Id="rId5" Type="http://schemas.openxmlformats.org/officeDocument/2006/relationships/image" Target="../media/image59.png" /><Relationship Id="rId6" Type="http://schemas.openxmlformats.org/officeDocument/2006/relationships/image" Target="../media/image60.png" /><Relationship Id="rId7" Type="http://schemas.openxmlformats.org/officeDocument/2006/relationships/image" Target="../media/image58.png" /><Relationship Id="rId8" Type="http://schemas.openxmlformats.org/officeDocument/2006/relationships/image" Target="../media/image61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8.png" /><Relationship Id="rId4" Type="http://schemas.openxmlformats.org/officeDocument/2006/relationships/image" Target="../media/image63.png" /><Relationship Id="rId5" Type="http://schemas.openxmlformats.org/officeDocument/2006/relationships/image" Target="../media/image62.png" /><Relationship Id="rId6" Type="http://schemas.openxmlformats.org/officeDocument/2006/relationships/image" Target="../media/image64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5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6.png" /><Relationship Id="rId4" Type="http://schemas.openxmlformats.org/officeDocument/2006/relationships/image" Target="../media/image47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49.png" /><Relationship Id="rId4" Type="http://schemas.openxmlformats.org/officeDocument/2006/relationships/image" Target="../media/image64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4.xml" /><Relationship Id="rId3" Type="http://schemas.openxmlformats.org/officeDocument/2006/relationships/hyperlink" Target="https://www.desmos.com/calculator/xmdgq2hqel" TargetMode="Externa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49.png" /><Relationship Id="rId4" Type="http://schemas.openxmlformats.org/officeDocument/2006/relationships/image" Target="../media/image64.png" /><Relationship Id="rId5" Type="http://schemas.openxmlformats.org/officeDocument/2006/relationships/image" Target="../media/image67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49.png" /><Relationship Id="rId4" Type="http://schemas.openxmlformats.org/officeDocument/2006/relationships/image" Target="../media/image64.png" /><Relationship Id="rId5" Type="http://schemas.openxmlformats.org/officeDocument/2006/relationships/image" Target="../media/image68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69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70.png" /><Relationship Id="rId4" Type="http://schemas.openxmlformats.org/officeDocument/2006/relationships/image" Target="../media/image69.png" /><Relationship Id="rId5" Type="http://schemas.openxmlformats.org/officeDocument/2006/relationships/image" Target="../media/image71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lists (one event)</a:t>
            </a:r>
            <a:endParaRPr/>
          </a:p>
        </p:txBody>
      </p:sp>
      <p:sp>
        <p:nvSpPr>
          <p:cNvPr id="754" name="Google Shape;754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find theoretical probabilities from a list of possible outcomes for one event.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p66"/>
          <p:cNvSpPr txBox="1"/>
          <p:nvPr>
            <p:ph type="subTitle" idx="1"/>
          </p:nvPr>
        </p:nvSpPr>
        <p:spPr>
          <a:xfrm>
            <a:off x="324000" y="1048850"/>
            <a:ext cx="8496000" cy="10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 </a:t>
            </a:r>
            <a:r>
              <a:rPr lang="en-GB" sz="2000" b="1">
                <a:solidFill>
                  <a:schemeClr val="dk1"/>
                </a:solidFill>
              </a:rPr>
              <a:t>theoretical probability</a:t>
            </a:r>
            <a:r>
              <a:rPr lang="en-GB" sz="2000">
                <a:solidFill>
                  <a:schemeClr val="dk1"/>
                </a:solidFill>
              </a:rPr>
              <a:t> is a probability based on counting the number of desired outcomes from a sample space where all individual outcomes are equally likely.</a:t>
            </a:r>
            <a:endParaRPr sz="20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3" name="Shape 773"/>
        <p:cNvGrpSpPr/>
        <p:nvPr/>
      </p:nvGrpSpPr>
      <p:grpSpPr>
        <a:xfrm>
          <a:off x="0" y="0"/>
          <a:ext cx="0" cy="0"/>
        </a:xfrm>
      </p:grpSpPr>
      <p:sp>
        <p:nvSpPr>
          <p:cNvPr id="774" name="Google Shape;774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775" name="Google Shape;775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</a:t>
            </a:r>
            <a:endParaRPr/>
          </a:p>
        </p:txBody>
      </p:sp>
      <p:sp>
        <p:nvSpPr>
          <p:cNvPr id="776" name="Google Shape;776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</a:t>
            </a:r>
            <a:r>
              <a:rPr lang="en-GB" b="1"/>
              <a:t>theoretical probabilities</a:t>
            </a:r>
            <a:r>
              <a:rPr lang="en-GB"/>
              <a:t> from lists (one event)</a:t>
            </a:r>
            <a:endParaRPr/>
          </a:p>
        </p:txBody>
      </p:sp>
      <p:pic>
        <p:nvPicPr>
          <p:cNvPr id="777" name="Google Shape;77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364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1" name="Shape 781"/>
        <p:cNvGrpSpPr/>
        <p:nvPr/>
      </p:nvGrpSpPr>
      <p:grpSpPr>
        <a:xfrm>
          <a:off x="0" y="0"/>
          <a:ext cx="0" cy="0"/>
        </a:xfrm>
      </p:grpSpPr>
      <p:sp>
        <p:nvSpPr>
          <p:cNvPr id="782" name="Google Shape;782;p68"/>
          <p:cNvSpPr txBox="1"/>
          <p:nvPr>
            <p:ph type="body" idx="1"/>
          </p:nvPr>
        </p:nvSpPr>
        <p:spPr>
          <a:xfrm>
            <a:off x="324000" y="759300"/>
            <a:ext cx="82377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single spin of this spinner has two possible outcomes: A or B.</a:t>
            </a:r>
            <a:endParaRPr sz="2000"/>
          </a:p>
        </p:txBody>
      </p:sp>
      <p:sp>
        <p:nvSpPr>
          <p:cNvPr id="783" name="Google Shape;78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784" name="Google Shape;784;p68"/>
          <p:cNvSpPr/>
          <p:nvPr/>
        </p:nvSpPr>
        <p:spPr>
          <a:xfrm>
            <a:off x="6223400" y="1992050"/>
            <a:ext cx="1695900" cy="169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5" name="Google Shape;785;p68"/>
          <p:cNvSpPr/>
          <p:nvPr/>
        </p:nvSpPr>
        <p:spPr>
          <a:xfrm flipH="1">
            <a:off x="6238089" y="2006811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6" name="Google Shape;786;p68"/>
          <p:cNvSpPr/>
          <p:nvPr/>
        </p:nvSpPr>
        <p:spPr>
          <a:xfrm>
            <a:off x="6238161" y="2006811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7" name="Google Shape;787;p68"/>
          <p:cNvSpPr txBox="1"/>
          <p:nvPr/>
        </p:nvSpPr>
        <p:spPr>
          <a:xfrm>
            <a:off x="6525975" y="2629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8"/>
          <p:cNvSpPr txBox="1"/>
          <p:nvPr/>
        </p:nvSpPr>
        <p:spPr>
          <a:xfrm>
            <a:off x="73329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9" name="Google Shape;789;p68"/>
          <p:cNvGrpSpPr/>
          <p:nvPr/>
        </p:nvGrpSpPr>
        <p:grpSpPr>
          <a:xfrm>
            <a:off x="7022709" y="2084623"/>
            <a:ext cx="93900" cy="816939"/>
            <a:chOff x="996050" y="213293"/>
            <a:chExt cx="93900" cy="909732"/>
          </a:xfrm>
        </p:grpSpPr>
        <p:cxnSp>
          <p:nvCxnSpPr>
            <p:cNvPr id="790" name="Google Shape;790;p6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91" name="Google Shape;791;p6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92" name="Google Shape;792;p68"/>
          <p:cNvSpPr txBox="1"/>
          <p:nvPr>
            <p:ph type="body" idx="1"/>
          </p:nvPr>
        </p:nvSpPr>
        <p:spPr>
          <a:xfrm>
            <a:off x="324000" y="1183595"/>
            <a:ext cx="8237700" cy="6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These outcomes are </a:t>
            </a:r>
            <a:r>
              <a:rPr lang="en-GB" sz="2000">
                <a:solidFill>
                  <a:schemeClr val="accent4"/>
                </a:solidFill>
              </a:rPr>
              <a:t>equally likely</a:t>
            </a:r>
            <a:r>
              <a:rPr lang="en-GB" sz="2000"/>
              <a:t> because the sectors of the spinner are of equal size.</a:t>
            </a:r>
            <a:endParaRPr sz="2000"/>
          </a:p>
        </p:txBody>
      </p:sp>
      <p:sp>
        <p:nvSpPr>
          <p:cNvPr id="793" name="Google Shape;793;p68"/>
          <p:cNvSpPr txBox="1"/>
          <p:nvPr>
            <p:ph type="body" idx="1"/>
          </p:nvPr>
        </p:nvSpPr>
        <p:spPr>
          <a:xfrm>
            <a:off x="324000" y="2892900"/>
            <a:ext cx="5448000" cy="10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 theory, we would </a:t>
            </a:r>
            <a:r>
              <a:rPr lang="en-GB" sz="2000">
                <a:solidFill>
                  <a:schemeClr val="accent4"/>
                </a:solidFill>
              </a:rPr>
              <a:t>expect</a:t>
            </a:r>
            <a:r>
              <a:rPr lang="en-GB" sz="2000"/>
              <a:t> each outcome to occur an equal number of times in an experiment with a large number of trials.</a:t>
            </a:r>
            <a:endParaRPr sz="2000"/>
          </a:p>
        </p:txBody>
      </p:sp>
      <p:sp>
        <p:nvSpPr>
          <p:cNvPr id="794" name="Google Shape;794;p68"/>
          <p:cNvSpPr txBox="1"/>
          <p:nvPr>
            <p:ph type="body" idx="1"/>
          </p:nvPr>
        </p:nvSpPr>
        <p:spPr>
          <a:xfrm>
            <a:off x="335198" y="2098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B}</a:t>
            </a:r>
            <a:endParaRPr sz="2000"/>
          </a:p>
        </p:txBody>
      </p:sp>
      <p:sp>
        <p:nvSpPr>
          <p:cNvPr id="795" name="Google Shape;795;p68"/>
          <p:cNvSpPr txBox="1"/>
          <p:nvPr>
            <p:ph type="body" idx="1"/>
          </p:nvPr>
        </p:nvSpPr>
        <p:spPr>
          <a:xfrm>
            <a:off x="324000" y="4222925"/>
            <a:ext cx="8543100" cy="35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Therefore, we can find </a:t>
            </a:r>
            <a:r>
              <a:rPr lang="en-GB" sz="2000" b="1"/>
              <a:t>theoretical probabilities</a:t>
            </a:r>
            <a:r>
              <a:rPr lang="en-GB" sz="2000"/>
              <a:t> for each outcome.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9" name="Shape 799"/>
        <p:cNvGrpSpPr/>
        <p:nvPr/>
      </p:nvGrpSpPr>
      <p:grpSpPr>
        <a:xfrm>
          <a:off x="0" y="0"/>
          <a:ext cx="0" cy="0"/>
        </a:xfrm>
      </p:grpSpPr>
      <p:sp>
        <p:nvSpPr>
          <p:cNvPr id="800" name="Google Shape;800;p69"/>
          <p:cNvSpPr/>
          <p:nvPr/>
        </p:nvSpPr>
        <p:spPr>
          <a:xfrm>
            <a:off x="831984" y="2126028"/>
            <a:ext cx="5337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>
            <p:ph type="body" idx="1"/>
          </p:nvPr>
        </p:nvSpPr>
        <p:spPr>
          <a:xfrm>
            <a:off x="324000" y="835500"/>
            <a:ext cx="82377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probability that the spinner lands on ‘A’ is     . </a:t>
            </a:r>
            <a:endParaRPr sz="2000"/>
          </a:p>
        </p:txBody>
      </p:sp>
      <p:sp>
        <p:nvSpPr>
          <p:cNvPr id="802" name="Google Shape;80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803" name="Google Shape;803;p69"/>
          <p:cNvSpPr txBox="1"/>
          <p:nvPr>
            <p:ph type="body" idx="1"/>
          </p:nvPr>
        </p:nvSpPr>
        <p:spPr>
          <a:xfrm>
            <a:off x="324000" y="1368900"/>
            <a:ext cx="8237700" cy="3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is because </a:t>
            </a:r>
            <a:r>
              <a:rPr lang="en-GB" sz="2000">
                <a:solidFill>
                  <a:schemeClr val="accent4"/>
                </a:solidFill>
              </a:rPr>
              <a:t>1 out of the 2</a:t>
            </a:r>
            <a:r>
              <a:rPr lang="en-GB" sz="2000"/>
              <a:t> possible outcomes are ‘A’.</a:t>
            </a:r>
            <a:endParaRPr sz="2000"/>
          </a:p>
        </p:txBody>
      </p:sp>
      <p:sp>
        <p:nvSpPr>
          <p:cNvPr id="804" name="Google Shape;804;p69"/>
          <p:cNvSpPr txBox="1"/>
          <p:nvPr>
            <p:ph type="body" idx="1"/>
          </p:nvPr>
        </p:nvSpPr>
        <p:spPr>
          <a:xfrm>
            <a:off x="324000" y="4035900"/>
            <a:ext cx="8109900" cy="6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means that in an experiment with a large number of trials, we would </a:t>
            </a:r>
            <a:r>
              <a:rPr lang="en-GB" sz="2000">
                <a:solidFill>
                  <a:schemeClr val="accent4"/>
                </a:solidFill>
              </a:rPr>
              <a:t>expect approximately</a:t>
            </a:r>
            <a:r>
              <a:rPr lang="en-GB" sz="2000"/>
              <a:t>     of the outcomes to be ‘A’.</a:t>
            </a:r>
            <a:endParaRPr sz="2000"/>
          </a:p>
        </p:txBody>
      </p:sp>
      <p:pic>
        <p:nvPicPr>
          <p:cNvPr id="805" name="Google Shape;805;p69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959" y="761411"/>
            <a:ext cx="156589" cy="4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9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030" y="4326533"/>
            <a:ext cx="156589" cy="4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>
            <p:ph type="body" idx="1"/>
          </p:nvPr>
        </p:nvSpPr>
        <p:spPr>
          <a:xfrm>
            <a:off x="300561" y="30127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P(A) = </a:t>
            </a:r>
            <a:endParaRPr sz="2000"/>
          </a:p>
        </p:txBody>
      </p:sp>
      <p:pic>
        <p:nvPicPr>
          <p:cNvPr id="808" name="Google Shape;808;p69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453" y="2960458"/>
            <a:ext cx="156589" cy="4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9"/>
          <p:cNvSpPr txBox="1"/>
          <p:nvPr>
            <p:ph type="body" idx="1"/>
          </p:nvPr>
        </p:nvSpPr>
        <p:spPr>
          <a:xfrm>
            <a:off x="1818736" y="2784175"/>
            <a:ext cx="36513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of outcomes that are ‘A’ </a:t>
            </a:r>
            <a:endParaRPr sz="1800"/>
          </a:p>
        </p:txBody>
      </p:sp>
      <p:sp>
        <p:nvSpPr>
          <p:cNvPr id="810" name="Google Shape;810;p69"/>
          <p:cNvSpPr txBox="1"/>
          <p:nvPr>
            <p:ph type="body" idx="1"/>
          </p:nvPr>
        </p:nvSpPr>
        <p:spPr>
          <a:xfrm>
            <a:off x="1818736" y="3317575"/>
            <a:ext cx="29769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outcomes</a:t>
            </a:r>
            <a:endParaRPr sz="1800"/>
          </a:p>
        </p:txBody>
      </p:sp>
      <p:cxnSp>
        <p:nvCxnSpPr>
          <p:cNvPr id="811" name="Google Shape;811;p69"/>
          <p:cNvCxnSpPr>
            <a:stCxn id="809" idx="1"/>
          </p:cNvCxnSpPr>
          <p:nvPr/>
        </p:nvCxnSpPr>
        <p:spPr>
          <a:xfrm flipH="1">
            <a:off x="1360036" y="2935975"/>
            <a:ext cx="458700" cy="149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2" name="Google Shape;812;p69"/>
          <p:cNvCxnSpPr>
            <a:stCxn id="810" idx="1"/>
          </p:cNvCxnSpPr>
          <p:nvPr/>
        </p:nvCxnSpPr>
        <p:spPr>
          <a:xfrm rot="10800000">
            <a:off x="1365736" y="3373075"/>
            <a:ext cx="453000" cy="9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3" name="Google Shape;813;p69"/>
          <p:cNvSpPr/>
          <p:nvPr/>
        </p:nvSpPr>
        <p:spPr>
          <a:xfrm>
            <a:off x="831984" y="2126028"/>
            <a:ext cx="2052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9"/>
          <p:cNvSpPr txBox="1"/>
          <p:nvPr>
            <p:ph type="body" idx="1"/>
          </p:nvPr>
        </p:nvSpPr>
        <p:spPr>
          <a:xfrm>
            <a:off x="335198" y="2098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B}</a:t>
            </a:r>
            <a:endParaRPr sz="2000"/>
          </a:p>
        </p:txBody>
      </p:sp>
      <p:sp>
        <p:nvSpPr>
          <p:cNvPr id="815" name="Google Shape;815;p69"/>
          <p:cNvSpPr/>
          <p:nvPr/>
        </p:nvSpPr>
        <p:spPr>
          <a:xfrm>
            <a:off x="6223400" y="1992050"/>
            <a:ext cx="1695900" cy="169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6" name="Google Shape;816;p69"/>
          <p:cNvSpPr/>
          <p:nvPr/>
        </p:nvSpPr>
        <p:spPr>
          <a:xfrm flipH="1">
            <a:off x="6238089" y="2006811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7" name="Google Shape;817;p69"/>
          <p:cNvSpPr/>
          <p:nvPr/>
        </p:nvSpPr>
        <p:spPr>
          <a:xfrm>
            <a:off x="6238161" y="2006811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8" name="Google Shape;818;p69"/>
          <p:cNvSpPr txBox="1"/>
          <p:nvPr/>
        </p:nvSpPr>
        <p:spPr>
          <a:xfrm>
            <a:off x="6525975" y="2629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9"/>
          <p:cNvSpPr txBox="1"/>
          <p:nvPr/>
        </p:nvSpPr>
        <p:spPr>
          <a:xfrm>
            <a:off x="73329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0" name="Google Shape;820;p69"/>
          <p:cNvGrpSpPr/>
          <p:nvPr/>
        </p:nvGrpSpPr>
        <p:grpSpPr>
          <a:xfrm>
            <a:off x="7022709" y="2084623"/>
            <a:ext cx="93900" cy="816939"/>
            <a:chOff x="996050" y="213293"/>
            <a:chExt cx="93900" cy="909732"/>
          </a:xfrm>
        </p:grpSpPr>
        <p:cxnSp>
          <p:nvCxnSpPr>
            <p:cNvPr id="821" name="Google Shape;821;p6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22" name="Google Shape;822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6" name="Shape 826"/>
        <p:cNvGrpSpPr/>
        <p:nvPr/>
      </p:nvGrpSpPr>
      <p:grpSpPr>
        <a:xfrm>
          <a:off x="0" y="0"/>
          <a:ext cx="0" cy="0"/>
        </a:xfrm>
      </p:grpSpPr>
      <p:sp>
        <p:nvSpPr>
          <p:cNvPr id="827" name="Google Shape;827;p70"/>
          <p:cNvSpPr txBox="1"/>
          <p:nvPr>
            <p:ph type="body" idx="1"/>
          </p:nvPr>
        </p:nvSpPr>
        <p:spPr>
          <a:xfrm>
            <a:off x="324000" y="835500"/>
            <a:ext cx="82377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probability that the spinner lands on ‘B’ is also     . </a:t>
            </a:r>
            <a:endParaRPr sz="2000"/>
          </a:p>
        </p:txBody>
      </p:sp>
      <p:sp>
        <p:nvSpPr>
          <p:cNvPr id="828" name="Google Shape;82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pic>
        <p:nvPicPr>
          <p:cNvPr id="829" name="Google Shape;829;p7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559" y="761411"/>
            <a:ext cx="156589" cy="4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0"/>
          <p:cNvSpPr txBox="1"/>
          <p:nvPr>
            <p:ph type="body" idx="1"/>
          </p:nvPr>
        </p:nvSpPr>
        <p:spPr>
          <a:xfrm>
            <a:off x="302293" y="25555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P(B) = </a:t>
            </a:r>
            <a:endParaRPr sz="2000"/>
          </a:p>
        </p:txBody>
      </p:sp>
      <p:pic>
        <p:nvPicPr>
          <p:cNvPr id="831" name="Google Shape;831;p7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184" y="2503258"/>
            <a:ext cx="156589" cy="4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0"/>
          <p:cNvSpPr txBox="1"/>
          <p:nvPr>
            <p:ph type="body" idx="1"/>
          </p:nvPr>
        </p:nvSpPr>
        <p:spPr>
          <a:xfrm>
            <a:off x="1820468" y="2326975"/>
            <a:ext cx="36513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of outcomes that are ‘B’ </a:t>
            </a:r>
            <a:endParaRPr sz="1800"/>
          </a:p>
        </p:txBody>
      </p:sp>
      <p:sp>
        <p:nvSpPr>
          <p:cNvPr id="833" name="Google Shape;833;p70"/>
          <p:cNvSpPr txBox="1"/>
          <p:nvPr>
            <p:ph type="body" idx="1"/>
          </p:nvPr>
        </p:nvSpPr>
        <p:spPr>
          <a:xfrm>
            <a:off x="1820468" y="2860375"/>
            <a:ext cx="29769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outcomes</a:t>
            </a:r>
            <a:endParaRPr sz="1800"/>
          </a:p>
        </p:txBody>
      </p:sp>
      <p:cxnSp>
        <p:nvCxnSpPr>
          <p:cNvPr id="834" name="Google Shape;834;p70"/>
          <p:cNvCxnSpPr>
            <a:stCxn id="832" idx="1"/>
          </p:cNvCxnSpPr>
          <p:nvPr/>
        </p:nvCxnSpPr>
        <p:spPr>
          <a:xfrm flipH="1">
            <a:off x="1361768" y="2478775"/>
            <a:ext cx="458700" cy="149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5" name="Google Shape;835;p70"/>
          <p:cNvCxnSpPr>
            <a:stCxn id="833" idx="1"/>
          </p:cNvCxnSpPr>
          <p:nvPr/>
        </p:nvCxnSpPr>
        <p:spPr>
          <a:xfrm rot="10800000">
            <a:off x="1367468" y="2915875"/>
            <a:ext cx="453000" cy="9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6" name="Google Shape;836;p70"/>
          <p:cNvSpPr txBox="1"/>
          <p:nvPr>
            <p:ph type="body" idx="1"/>
          </p:nvPr>
        </p:nvSpPr>
        <p:spPr>
          <a:xfrm>
            <a:off x="336930" y="1634248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B}</a:t>
            </a:r>
            <a:endParaRPr sz="2000"/>
          </a:p>
        </p:txBody>
      </p:sp>
      <p:sp>
        <p:nvSpPr>
          <p:cNvPr id="837" name="Google Shape;837;p70"/>
          <p:cNvSpPr/>
          <p:nvPr/>
        </p:nvSpPr>
        <p:spPr>
          <a:xfrm>
            <a:off x="842375" y="1661901"/>
            <a:ext cx="5337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0"/>
          <p:cNvSpPr/>
          <p:nvPr/>
        </p:nvSpPr>
        <p:spPr>
          <a:xfrm>
            <a:off x="1153501" y="1661901"/>
            <a:ext cx="2052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0"/>
          <p:cNvSpPr/>
          <p:nvPr/>
        </p:nvSpPr>
        <p:spPr>
          <a:xfrm>
            <a:off x="6223400" y="1534850"/>
            <a:ext cx="1695900" cy="169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0" name="Google Shape;840;p70"/>
          <p:cNvSpPr/>
          <p:nvPr/>
        </p:nvSpPr>
        <p:spPr>
          <a:xfrm flipH="1">
            <a:off x="6238089" y="1549611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1" name="Google Shape;841;p70"/>
          <p:cNvSpPr/>
          <p:nvPr/>
        </p:nvSpPr>
        <p:spPr>
          <a:xfrm>
            <a:off x="6238161" y="1549611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2" name="Google Shape;842;p70"/>
          <p:cNvSpPr txBox="1"/>
          <p:nvPr/>
        </p:nvSpPr>
        <p:spPr>
          <a:xfrm>
            <a:off x="6525975" y="21721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0"/>
          <p:cNvSpPr txBox="1"/>
          <p:nvPr/>
        </p:nvSpPr>
        <p:spPr>
          <a:xfrm>
            <a:off x="7332926" y="2172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4" name="Google Shape;844;p70"/>
          <p:cNvGrpSpPr/>
          <p:nvPr/>
        </p:nvGrpSpPr>
        <p:grpSpPr>
          <a:xfrm>
            <a:off x="7022709" y="1627423"/>
            <a:ext cx="93900" cy="816939"/>
            <a:chOff x="996050" y="213293"/>
            <a:chExt cx="93900" cy="909732"/>
          </a:xfrm>
        </p:grpSpPr>
        <p:cxnSp>
          <p:nvCxnSpPr>
            <p:cNvPr id="845" name="Google Shape;845;p7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46" name="Google Shape;846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47" name="Google Shape;847;p70"/>
          <p:cNvSpPr txBox="1"/>
          <p:nvPr>
            <p:ph type="body" idx="1"/>
          </p:nvPr>
        </p:nvSpPr>
        <p:spPr>
          <a:xfrm>
            <a:off x="324000" y="3731100"/>
            <a:ext cx="8237700" cy="103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probability is based on the </a:t>
            </a:r>
            <a:r>
              <a:rPr lang="en-GB" sz="2000">
                <a:solidFill>
                  <a:schemeClr val="accent4"/>
                </a:solidFill>
              </a:rPr>
              <a:t>theory</a:t>
            </a:r>
            <a:r>
              <a:rPr lang="en-GB" sz="2000"/>
              <a:t> that the spinner would be expected to land on each sector an equal number of times. However, that might not happen in practice.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1" name="Shape 851"/>
        <p:cNvGrpSpPr/>
        <p:nvPr/>
      </p:nvGrpSpPr>
      <p:grpSpPr>
        <a:xfrm>
          <a:off x="0" y="0"/>
          <a:ext cx="0" cy="0"/>
        </a:xfrm>
      </p:grpSpPr>
      <p:sp>
        <p:nvSpPr>
          <p:cNvPr id="852" name="Google Shape;852;p71"/>
          <p:cNvSpPr txBox="1"/>
          <p:nvPr>
            <p:ph type="body" idx="1"/>
          </p:nvPr>
        </p:nvSpPr>
        <p:spPr>
          <a:xfrm>
            <a:off x="335198" y="2098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B, C}</a:t>
            </a:r>
            <a:endParaRPr sz="2000"/>
          </a:p>
        </p:txBody>
      </p:sp>
      <p:sp>
        <p:nvSpPr>
          <p:cNvPr id="853" name="Google Shape;853;p71"/>
          <p:cNvSpPr txBox="1"/>
          <p:nvPr>
            <p:ph type="body" idx="1"/>
          </p:nvPr>
        </p:nvSpPr>
        <p:spPr>
          <a:xfrm>
            <a:off x="300561" y="30127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P(A) = </a:t>
            </a:r>
            <a:endParaRPr sz="2000"/>
          </a:p>
        </p:txBody>
      </p:sp>
      <p:pic>
        <p:nvPicPr>
          <p:cNvPr id="854" name="Google Shape;854;p7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611" y="2956308"/>
            <a:ext cx="156600" cy="51828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1"/>
          <p:cNvSpPr txBox="1"/>
          <p:nvPr>
            <p:ph type="body" idx="1"/>
          </p:nvPr>
        </p:nvSpPr>
        <p:spPr>
          <a:xfrm>
            <a:off x="324000" y="835500"/>
            <a:ext cx="82377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probability that the spinner lands on ‘A’ is     . </a:t>
            </a:r>
            <a:endParaRPr sz="2000"/>
          </a:p>
        </p:txBody>
      </p:sp>
      <p:pic>
        <p:nvPicPr>
          <p:cNvPr id="856" name="Google Shape;856;p7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757" y="752838"/>
            <a:ext cx="156600" cy="51828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1"/>
          <p:cNvSpPr/>
          <p:nvPr/>
        </p:nvSpPr>
        <p:spPr>
          <a:xfrm>
            <a:off x="831975" y="2126025"/>
            <a:ext cx="8529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859" name="Google Shape;859;p71"/>
          <p:cNvSpPr txBox="1"/>
          <p:nvPr>
            <p:ph type="body" idx="1"/>
          </p:nvPr>
        </p:nvSpPr>
        <p:spPr>
          <a:xfrm>
            <a:off x="324000" y="1368900"/>
            <a:ext cx="8237700" cy="3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is because </a:t>
            </a:r>
            <a:r>
              <a:rPr lang="en-GB" sz="2000">
                <a:solidFill>
                  <a:schemeClr val="accent4"/>
                </a:solidFill>
              </a:rPr>
              <a:t>1 out of the 3</a:t>
            </a:r>
            <a:r>
              <a:rPr lang="en-GB" sz="2000"/>
              <a:t> possible outcomes are ‘A’.</a:t>
            </a:r>
            <a:endParaRPr sz="2000"/>
          </a:p>
        </p:txBody>
      </p:sp>
      <p:sp>
        <p:nvSpPr>
          <p:cNvPr id="860" name="Google Shape;860;p71"/>
          <p:cNvSpPr txBox="1"/>
          <p:nvPr>
            <p:ph type="body" idx="1"/>
          </p:nvPr>
        </p:nvSpPr>
        <p:spPr>
          <a:xfrm>
            <a:off x="324000" y="4035900"/>
            <a:ext cx="8109900" cy="6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means that in an experiment with a large number of trials, we would </a:t>
            </a:r>
            <a:r>
              <a:rPr lang="en-GB" sz="2000">
                <a:solidFill>
                  <a:schemeClr val="accent4"/>
                </a:solidFill>
              </a:rPr>
              <a:t>expect approximately</a:t>
            </a:r>
            <a:r>
              <a:rPr lang="en-GB" sz="2000"/>
              <a:t>     of the outcomes to be ‘A’.</a:t>
            </a:r>
            <a:endParaRPr sz="2000"/>
          </a:p>
        </p:txBody>
      </p:sp>
      <p:sp>
        <p:nvSpPr>
          <p:cNvPr id="861" name="Google Shape;861;p71"/>
          <p:cNvSpPr txBox="1"/>
          <p:nvPr>
            <p:ph type="body" idx="1"/>
          </p:nvPr>
        </p:nvSpPr>
        <p:spPr>
          <a:xfrm>
            <a:off x="1818736" y="2784175"/>
            <a:ext cx="36513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of outcomes that are ‘A’ </a:t>
            </a:r>
            <a:endParaRPr sz="1800"/>
          </a:p>
        </p:txBody>
      </p:sp>
      <p:sp>
        <p:nvSpPr>
          <p:cNvPr id="862" name="Google Shape;862;p71"/>
          <p:cNvSpPr txBox="1"/>
          <p:nvPr>
            <p:ph type="body" idx="1"/>
          </p:nvPr>
        </p:nvSpPr>
        <p:spPr>
          <a:xfrm>
            <a:off x="1818736" y="3317575"/>
            <a:ext cx="29769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outcomes</a:t>
            </a:r>
            <a:endParaRPr sz="1800"/>
          </a:p>
        </p:txBody>
      </p:sp>
      <p:cxnSp>
        <p:nvCxnSpPr>
          <p:cNvPr id="863" name="Google Shape;863;p71"/>
          <p:cNvCxnSpPr>
            <a:stCxn id="861" idx="1"/>
          </p:cNvCxnSpPr>
          <p:nvPr/>
        </p:nvCxnSpPr>
        <p:spPr>
          <a:xfrm flipH="1">
            <a:off x="1360036" y="2935975"/>
            <a:ext cx="458700" cy="149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4" name="Google Shape;864;p71"/>
          <p:cNvCxnSpPr>
            <a:stCxn id="862" idx="1"/>
          </p:cNvCxnSpPr>
          <p:nvPr/>
        </p:nvCxnSpPr>
        <p:spPr>
          <a:xfrm rot="10800000">
            <a:off x="1365736" y="3373075"/>
            <a:ext cx="453000" cy="9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5" name="Google Shape;865;p71"/>
          <p:cNvSpPr/>
          <p:nvPr/>
        </p:nvSpPr>
        <p:spPr>
          <a:xfrm>
            <a:off x="831984" y="2126028"/>
            <a:ext cx="2052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1"/>
          <p:cNvSpPr/>
          <p:nvPr/>
        </p:nvSpPr>
        <p:spPr>
          <a:xfrm>
            <a:off x="6223400" y="19920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7" name="Google Shape;867;p71"/>
          <p:cNvSpPr/>
          <p:nvPr/>
        </p:nvSpPr>
        <p:spPr>
          <a:xfrm rot="7199661">
            <a:off x="6238209" y="2006928"/>
            <a:ext cx="1666484" cy="1666484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8" name="Google Shape;868;p71"/>
          <p:cNvSpPr/>
          <p:nvPr/>
        </p:nvSpPr>
        <p:spPr>
          <a:xfrm rot="-7211867">
            <a:off x="6238277" y="2006988"/>
            <a:ext cx="1666446" cy="1666446"/>
          </a:xfrm>
          <a:prstGeom prst="pie">
            <a:avLst>
              <a:gd name="adj1" fmla="val 9034165"/>
              <a:gd name="adj2" fmla="val 16225322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9" name="Google Shape;869;p71"/>
          <p:cNvSpPr/>
          <p:nvPr/>
        </p:nvSpPr>
        <p:spPr>
          <a:xfrm>
            <a:off x="6238277" y="2006988"/>
            <a:ext cx="1666500" cy="1666500"/>
          </a:xfrm>
          <a:prstGeom prst="pie">
            <a:avLst>
              <a:gd name="adj1" fmla="val 9034165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0" name="Google Shape;870;p71"/>
          <p:cNvSpPr txBox="1"/>
          <p:nvPr/>
        </p:nvSpPr>
        <p:spPr>
          <a:xfrm>
            <a:off x="7256726" y="2400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1"/>
          <p:cNvSpPr txBox="1"/>
          <p:nvPr/>
        </p:nvSpPr>
        <p:spPr>
          <a:xfrm>
            <a:off x="6951926" y="3010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1"/>
          <p:cNvSpPr txBox="1"/>
          <p:nvPr/>
        </p:nvSpPr>
        <p:spPr>
          <a:xfrm>
            <a:off x="6494726" y="2400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3" name="Google Shape;873;p71"/>
          <p:cNvGrpSpPr/>
          <p:nvPr/>
        </p:nvGrpSpPr>
        <p:grpSpPr>
          <a:xfrm>
            <a:off x="7022709" y="2076806"/>
            <a:ext cx="93900" cy="816939"/>
            <a:chOff x="996050" y="213293"/>
            <a:chExt cx="93900" cy="909732"/>
          </a:xfrm>
        </p:grpSpPr>
        <p:cxnSp>
          <p:nvCxnSpPr>
            <p:cNvPr id="874" name="Google Shape;874;p7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75" name="Google Shape;875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876" name="Google Shape;876;p7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011" y="4310589"/>
            <a:ext cx="156600" cy="51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0" name="Shape 880"/>
        <p:cNvGrpSpPr/>
        <p:nvPr/>
      </p:nvGrpSpPr>
      <p:grpSpPr>
        <a:xfrm>
          <a:off x="0" y="0"/>
          <a:ext cx="0" cy="0"/>
        </a:xfrm>
      </p:grpSpPr>
      <p:sp>
        <p:nvSpPr>
          <p:cNvPr id="881" name="Google Shape;881;p72"/>
          <p:cNvSpPr txBox="1"/>
          <p:nvPr>
            <p:ph type="body" idx="1"/>
          </p:nvPr>
        </p:nvSpPr>
        <p:spPr>
          <a:xfrm>
            <a:off x="324000" y="759300"/>
            <a:ext cx="8237700" cy="92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probability that the spinner lands on the letter A?</a:t>
            </a:r>
            <a:endParaRPr/>
          </a:p>
        </p:txBody>
      </p:sp>
      <p:sp>
        <p:nvSpPr>
          <p:cNvPr id="882" name="Google Shape;88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883" name="Google Shape;883;p72"/>
          <p:cNvSpPr/>
          <p:nvPr/>
        </p:nvSpPr>
        <p:spPr>
          <a:xfrm>
            <a:off x="3599769" y="1704649"/>
            <a:ext cx="1914000" cy="1914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4" name="Google Shape;884;p72"/>
          <p:cNvSpPr/>
          <p:nvPr/>
        </p:nvSpPr>
        <p:spPr>
          <a:xfrm rot="8649889">
            <a:off x="3616558" y="1721439"/>
            <a:ext cx="1880587" cy="1880587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5" name="Google Shape;885;p72"/>
          <p:cNvSpPr/>
          <p:nvPr/>
        </p:nvSpPr>
        <p:spPr>
          <a:xfrm rot="-8628721">
            <a:off x="3616805" y="1721562"/>
            <a:ext cx="1880473" cy="188047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6" name="Google Shape;886;p72"/>
          <p:cNvSpPr/>
          <p:nvPr/>
        </p:nvSpPr>
        <p:spPr>
          <a:xfrm rot="-4309513">
            <a:off x="3616777" y="1721923"/>
            <a:ext cx="1880310" cy="188031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7" name="Google Shape;887;p72"/>
          <p:cNvSpPr/>
          <p:nvPr/>
        </p:nvSpPr>
        <p:spPr>
          <a:xfrm>
            <a:off x="3616744" y="1721777"/>
            <a:ext cx="1880400" cy="18804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8" name="Google Shape;888;p72"/>
          <p:cNvSpPr txBox="1"/>
          <p:nvPr/>
        </p:nvSpPr>
        <p:spPr>
          <a:xfrm>
            <a:off x="4391195" y="3025818"/>
            <a:ext cx="71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2"/>
          <p:cNvSpPr/>
          <p:nvPr/>
        </p:nvSpPr>
        <p:spPr>
          <a:xfrm rot="4312632">
            <a:off x="3616433" y="1721290"/>
            <a:ext cx="1880698" cy="188069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0" name="Google Shape;890;p72"/>
          <p:cNvSpPr txBox="1"/>
          <p:nvPr/>
        </p:nvSpPr>
        <p:spPr>
          <a:xfrm>
            <a:off x="4027237" y="1907873"/>
            <a:ext cx="71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2"/>
          <p:cNvSpPr txBox="1"/>
          <p:nvPr/>
        </p:nvSpPr>
        <p:spPr>
          <a:xfrm>
            <a:off x="4765933" y="1907881"/>
            <a:ext cx="71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2"/>
          <p:cNvSpPr txBox="1"/>
          <p:nvPr/>
        </p:nvSpPr>
        <p:spPr>
          <a:xfrm>
            <a:off x="4851929" y="2595848"/>
            <a:ext cx="71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2"/>
          <p:cNvSpPr txBox="1"/>
          <p:nvPr/>
        </p:nvSpPr>
        <p:spPr>
          <a:xfrm>
            <a:off x="3769249" y="2595848"/>
            <a:ext cx="645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4" name="Google Shape;894;p72"/>
          <p:cNvGrpSpPr/>
          <p:nvPr/>
        </p:nvGrpSpPr>
        <p:grpSpPr>
          <a:xfrm>
            <a:off x="4501878" y="1767717"/>
            <a:ext cx="105976" cy="921922"/>
            <a:chOff x="996050" y="213293"/>
            <a:chExt cx="93900" cy="909732"/>
          </a:xfrm>
        </p:grpSpPr>
        <p:cxnSp>
          <p:nvCxnSpPr>
            <p:cNvPr id="895" name="Google Shape;895;p7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96" name="Google Shape;896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97" name="Google Shape;897;p72"/>
          <p:cNvSpPr txBox="1"/>
          <p:nvPr>
            <p:ph type="body" idx="1"/>
          </p:nvPr>
        </p:nvSpPr>
        <p:spPr>
          <a:xfrm>
            <a:off x="3779784" y="4180020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P(A)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8" name="Google Shape;898;p72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891" y="4019646"/>
            <a:ext cx="203463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sp>
        <p:nvSpPr>
          <p:cNvPr id="903" name="Google Shape;903;p73"/>
          <p:cNvSpPr txBox="1"/>
          <p:nvPr>
            <p:ph type="body" idx="1"/>
          </p:nvPr>
        </p:nvSpPr>
        <p:spPr>
          <a:xfrm>
            <a:off x="324000" y="759300"/>
            <a:ext cx="8496000" cy="12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spinner is going to be spun 1000 times.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seems the most reasonable approximation for how many times the spinner would be expected to land on ‘A’?</a:t>
            </a:r>
            <a:endParaRPr/>
          </a:p>
        </p:txBody>
      </p:sp>
      <p:sp>
        <p:nvSpPr>
          <p:cNvPr id="904" name="Google Shape;90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905" name="Google Shape;905;p73"/>
          <p:cNvSpPr/>
          <p:nvPr/>
        </p:nvSpPr>
        <p:spPr>
          <a:xfrm>
            <a:off x="6299600" y="23730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6" name="Google Shape;906;p73"/>
          <p:cNvSpPr/>
          <p:nvPr/>
        </p:nvSpPr>
        <p:spPr>
          <a:xfrm rot="8649824">
            <a:off x="6314495" y="23879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7" name="Google Shape;907;p73"/>
          <p:cNvSpPr/>
          <p:nvPr/>
        </p:nvSpPr>
        <p:spPr>
          <a:xfrm rot="-8629029">
            <a:off x="6314596" y="23880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8" name="Google Shape;908;p73"/>
          <p:cNvSpPr/>
          <p:nvPr/>
        </p:nvSpPr>
        <p:spPr>
          <a:xfrm rot="-4309758">
            <a:off x="6314641" y="23882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9" name="Google Shape;909;p73"/>
          <p:cNvSpPr/>
          <p:nvPr/>
        </p:nvSpPr>
        <p:spPr>
          <a:xfrm>
            <a:off x="6314641" y="23882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10" name="Google Shape;910;p73"/>
          <p:cNvSpPr txBox="1"/>
          <p:nvPr/>
        </p:nvSpPr>
        <p:spPr>
          <a:xfrm>
            <a:off x="7000875" y="35437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3"/>
          <p:cNvSpPr/>
          <p:nvPr/>
        </p:nvSpPr>
        <p:spPr>
          <a:xfrm rot="4312496">
            <a:off x="6314474" y="23878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12" name="Google Shape;912;p73"/>
          <p:cNvSpPr txBox="1"/>
          <p:nvPr/>
        </p:nvSpPr>
        <p:spPr>
          <a:xfrm>
            <a:off x="6678375" y="25531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3"/>
          <p:cNvSpPr txBox="1"/>
          <p:nvPr/>
        </p:nvSpPr>
        <p:spPr>
          <a:xfrm>
            <a:off x="7332926" y="2553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3"/>
          <p:cNvSpPr txBox="1"/>
          <p:nvPr/>
        </p:nvSpPr>
        <p:spPr>
          <a:xfrm>
            <a:off x="7409126" y="316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3"/>
          <p:cNvSpPr txBox="1"/>
          <p:nvPr/>
        </p:nvSpPr>
        <p:spPr>
          <a:xfrm>
            <a:off x="6449775" y="316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6" name="Google Shape;916;p73"/>
          <p:cNvGrpSpPr/>
          <p:nvPr/>
        </p:nvGrpSpPr>
        <p:grpSpPr>
          <a:xfrm>
            <a:off x="7098909" y="2428942"/>
            <a:ext cx="93900" cy="816939"/>
            <a:chOff x="996050" y="213293"/>
            <a:chExt cx="93900" cy="909732"/>
          </a:xfrm>
        </p:grpSpPr>
        <p:cxnSp>
          <p:nvCxnSpPr>
            <p:cNvPr id="917" name="Google Shape;917;p7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8" name="Google Shape;918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19" name="Google Shape;919;p73"/>
          <p:cNvSpPr txBox="1"/>
          <p:nvPr>
            <p:ph type="body" idx="1"/>
          </p:nvPr>
        </p:nvSpPr>
        <p:spPr>
          <a:xfrm>
            <a:off x="6548961" y="43081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P(A) = </a:t>
            </a:r>
            <a:endParaRPr/>
          </a:p>
        </p:txBody>
      </p:sp>
      <p:pic>
        <p:nvPicPr>
          <p:cNvPr id="920" name="Google Shape;920;p73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7668" y="4147801"/>
            <a:ext cx="203463" cy="654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1" name="Google Shape;921;p73"/>
          <p:cNvGrpSpPr/>
          <p:nvPr/>
        </p:nvGrpSpPr>
        <p:grpSpPr>
          <a:xfrm>
            <a:off x="339041" y="2349325"/>
            <a:ext cx="457200" cy="457200"/>
            <a:chOff x="1020916" y="1442088"/>
            <a:chExt cx="457200" cy="457200"/>
          </a:xfrm>
        </p:grpSpPr>
        <p:pic>
          <p:nvPicPr>
            <p:cNvPr id="922" name="Google Shape;92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3" name="Google Shape;923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4" name="Google Shape;924;p73"/>
          <p:cNvGrpSpPr/>
          <p:nvPr/>
        </p:nvGrpSpPr>
        <p:grpSpPr>
          <a:xfrm>
            <a:off x="341218" y="3149425"/>
            <a:ext cx="457200" cy="457200"/>
            <a:chOff x="1020916" y="1442088"/>
            <a:chExt cx="457200" cy="457200"/>
          </a:xfrm>
        </p:grpSpPr>
        <p:pic>
          <p:nvPicPr>
            <p:cNvPr id="925" name="Google Shape;925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7" name="Google Shape;927;p73"/>
          <p:cNvGrpSpPr/>
          <p:nvPr/>
        </p:nvGrpSpPr>
        <p:grpSpPr>
          <a:xfrm>
            <a:off x="360714" y="3949525"/>
            <a:ext cx="457200" cy="457200"/>
            <a:chOff x="1020916" y="1442088"/>
            <a:chExt cx="457200" cy="457200"/>
          </a:xfrm>
        </p:grpSpPr>
        <p:pic>
          <p:nvPicPr>
            <p:cNvPr id="928" name="Google Shape;928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0" name="Google Shape;930;p73"/>
          <p:cNvSpPr txBox="1"/>
          <p:nvPr>
            <p:ph type="body" idx="1"/>
          </p:nvPr>
        </p:nvSpPr>
        <p:spPr>
          <a:xfrm>
            <a:off x="943989" y="2400602"/>
            <a:ext cx="571500" cy="34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100</a:t>
            </a:r>
            <a:endParaRPr/>
          </a:p>
        </p:txBody>
      </p:sp>
      <p:sp>
        <p:nvSpPr>
          <p:cNvPr id="931" name="Google Shape;931;p73"/>
          <p:cNvSpPr txBox="1"/>
          <p:nvPr>
            <p:ph type="body" idx="1"/>
          </p:nvPr>
        </p:nvSpPr>
        <p:spPr>
          <a:xfrm>
            <a:off x="944028" y="3188575"/>
            <a:ext cx="666600" cy="34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200</a:t>
            </a:r>
            <a:endParaRPr/>
          </a:p>
        </p:txBody>
      </p:sp>
      <p:sp>
        <p:nvSpPr>
          <p:cNvPr id="932" name="Google Shape;932;p73"/>
          <p:cNvSpPr txBox="1"/>
          <p:nvPr>
            <p:ph type="body" idx="1"/>
          </p:nvPr>
        </p:nvSpPr>
        <p:spPr>
          <a:xfrm>
            <a:off x="944024" y="3992150"/>
            <a:ext cx="891600" cy="34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500</a:t>
            </a:r>
            <a:endParaRPr/>
          </a:p>
        </p:txBody>
      </p:sp>
      <p:pic>
        <p:nvPicPr>
          <p:cNvPr id="933" name="Google Shape;933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508" y="31525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7" name="Shape 937"/>
        <p:cNvGrpSpPr/>
        <p:nvPr/>
      </p:nvGrpSpPr>
      <p:grpSpPr>
        <a:xfrm>
          <a:off x="0" y="0"/>
          <a:ext cx="0" cy="0"/>
        </a:xfrm>
      </p:grpSpPr>
      <p:pic>
        <p:nvPicPr>
          <p:cNvPr id="938" name="Google Shape;938;p74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rot="10800000">
            <a:off x="1426439" y="3093778"/>
            <a:ext cx="4344950" cy="1674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74"/>
          <p:cNvSpPr txBox="1"/>
          <p:nvPr>
            <p:ph type="body" idx="1"/>
          </p:nvPr>
        </p:nvSpPr>
        <p:spPr>
          <a:xfrm>
            <a:off x="324000" y="759300"/>
            <a:ext cx="8496000" cy="66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 and Laura are discussing the probability that the spinner lands on ‘A’ in a single spin.</a:t>
            </a:r>
            <a:endParaRPr sz="2000"/>
          </a:p>
        </p:txBody>
      </p:sp>
      <p:sp>
        <p:nvSpPr>
          <p:cNvPr id="940" name="Google Shape;94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941" name="Google Shape;941;p74"/>
          <p:cNvSpPr txBox="1"/>
          <p:nvPr>
            <p:ph type="body" idx="1"/>
          </p:nvPr>
        </p:nvSpPr>
        <p:spPr>
          <a:xfrm>
            <a:off x="1113925" y="1814000"/>
            <a:ext cx="3387000" cy="9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I think the probability is because there are two outcomes and one of them is A.</a:t>
            </a:r>
            <a:endParaRPr sz="1700"/>
          </a:p>
        </p:txBody>
      </p:sp>
      <p:sp>
        <p:nvSpPr>
          <p:cNvPr id="942" name="Google Shape;942;p74"/>
          <p:cNvSpPr txBox="1"/>
          <p:nvPr>
            <p:ph type="body" idx="1"/>
          </p:nvPr>
        </p:nvSpPr>
        <p:spPr>
          <a:xfrm>
            <a:off x="1571125" y="3414200"/>
            <a:ext cx="3904800" cy="135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/>
              <a:t>That doesn’t seem right because </a:t>
            </a:r>
            <a:r>
              <a:rPr lang="en-GB" sz="1700">
                <a:solidFill>
                  <a:schemeClr val="accent4"/>
                </a:solidFill>
              </a:rPr>
              <a:t>more than half</a:t>
            </a:r>
            <a:r>
              <a:rPr lang="en-GB" sz="1700"/>
              <a:t> of the spinner is ‘A’. </a:t>
            </a: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/>
              <a:t>So, we would expect more than half of the spins to land on ‘A’.</a:t>
            </a:r>
            <a:endParaRPr sz="1700"/>
          </a:p>
        </p:txBody>
      </p:sp>
      <p:pic>
        <p:nvPicPr>
          <p:cNvPr id="943" name="Google Shape;943;p74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775275" y="1620000"/>
            <a:ext cx="3720525" cy="143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7226" y="2592164"/>
            <a:ext cx="542406" cy="69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176078" y="2545773"/>
            <a:ext cx="555755" cy="727878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74"/>
          <p:cNvSpPr txBox="1"/>
          <p:nvPr>
            <p:ph type="body" idx="1"/>
          </p:nvPr>
        </p:nvSpPr>
        <p:spPr>
          <a:xfrm>
            <a:off x="6737730" y="4072648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B}</a:t>
            </a:r>
            <a:endParaRPr sz="2000"/>
          </a:p>
        </p:txBody>
      </p:sp>
      <p:pic>
        <p:nvPicPr>
          <p:cNvPr id="947" name="Google Shape;947;p74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3957" y="1754193"/>
            <a:ext cx="119927" cy="38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4"/>
          <p:cNvSpPr/>
          <p:nvPr/>
        </p:nvSpPr>
        <p:spPr>
          <a:xfrm>
            <a:off x="6604400" y="20682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9" name="Google Shape;949;p74"/>
          <p:cNvSpPr/>
          <p:nvPr/>
        </p:nvSpPr>
        <p:spPr>
          <a:xfrm rot="8649824">
            <a:off x="6619295" y="20831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0" name="Google Shape;950;p74"/>
          <p:cNvSpPr/>
          <p:nvPr/>
        </p:nvSpPr>
        <p:spPr>
          <a:xfrm rot="-8629029">
            <a:off x="6619396" y="20832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1" name="Google Shape;951;p74"/>
          <p:cNvSpPr/>
          <p:nvPr/>
        </p:nvSpPr>
        <p:spPr>
          <a:xfrm rot="-4309758">
            <a:off x="6619441" y="20834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2" name="Google Shape;952;p74"/>
          <p:cNvSpPr/>
          <p:nvPr/>
        </p:nvSpPr>
        <p:spPr>
          <a:xfrm>
            <a:off x="6619441" y="20834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3" name="Google Shape;953;p74"/>
          <p:cNvSpPr txBox="1"/>
          <p:nvPr/>
        </p:nvSpPr>
        <p:spPr>
          <a:xfrm>
            <a:off x="7305675" y="3238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4"/>
          <p:cNvSpPr/>
          <p:nvPr/>
        </p:nvSpPr>
        <p:spPr>
          <a:xfrm rot="4312496">
            <a:off x="6619274" y="20830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5" name="Google Shape;955;p74"/>
          <p:cNvSpPr txBox="1"/>
          <p:nvPr/>
        </p:nvSpPr>
        <p:spPr>
          <a:xfrm>
            <a:off x="6983175" y="2248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4"/>
          <p:cNvSpPr txBox="1"/>
          <p:nvPr/>
        </p:nvSpPr>
        <p:spPr>
          <a:xfrm>
            <a:off x="76377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4"/>
          <p:cNvSpPr txBox="1"/>
          <p:nvPr/>
        </p:nvSpPr>
        <p:spPr>
          <a:xfrm>
            <a:off x="7713926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4"/>
          <p:cNvSpPr txBox="1"/>
          <p:nvPr/>
        </p:nvSpPr>
        <p:spPr>
          <a:xfrm>
            <a:off x="6754575" y="285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9" name="Google Shape;959;p74"/>
          <p:cNvGrpSpPr/>
          <p:nvPr/>
        </p:nvGrpSpPr>
        <p:grpSpPr>
          <a:xfrm>
            <a:off x="7403709" y="2124142"/>
            <a:ext cx="93900" cy="816939"/>
            <a:chOff x="996050" y="213293"/>
            <a:chExt cx="93900" cy="909732"/>
          </a:xfrm>
        </p:grpSpPr>
        <p:cxnSp>
          <p:nvCxnSpPr>
            <p:cNvPr id="960" name="Google Shape;960;p7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61" name="Google Shape;961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5" name="Shape 965"/>
        <p:cNvGrpSpPr/>
        <p:nvPr/>
      </p:nvGrpSpPr>
      <p:grpSpPr>
        <a:xfrm>
          <a:off x="0" y="0"/>
          <a:ext cx="0" cy="0"/>
        </a:xfrm>
      </p:grpSpPr>
      <p:sp>
        <p:nvSpPr>
          <p:cNvPr id="966" name="Google Shape;966;p75"/>
          <p:cNvSpPr txBox="1"/>
          <p:nvPr>
            <p:ph type="body" idx="1"/>
          </p:nvPr>
        </p:nvSpPr>
        <p:spPr>
          <a:xfrm>
            <a:off x="6356724" y="4072650"/>
            <a:ext cx="2310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A, A, B, B}</a:t>
            </a:r>
            <a:endParaRPr sz="2000"/>
          </a:p>
        </p:txBody>
      </p:sp>
      <p:sp>
        <p:nvSpPr>
          <p:cNvPr id="967" name="Google Shape;967;p75"/>
          <p:cNvSpPr txBox="1"/>
          <p:nvPr>
            <p:ph type="body" idx="1"/>
          </p:nvPr>
        </p:nvSpPr>
        <p:spPr>
          <a:xfrm>
            <a:off x="324000" y="759300"/>
            <a:ext cx="8496000" cy="66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 b="1"/>
              <a:t>Theoretical probabilities</a:t>
            </a:r>
            <a:r>
              <a:rPr lang="en-GB" sz="1900"/>
              <a:t> can be found in scenarios where a trial has </a:t>
            </a:r>
            <a:r>
              <a:rPr lang="en-GB" sz="1900">
                <a:solidFill>
                  <a:schemeClr val="accent4"/>
                </a:solidFill>
              </a:rPr>
              <a:t>equally likely</a:t>
            </a:r>
            <a:r>
              <a:rPr lang="en-GB" sz="1900"/>
              <a:t> outcomes.</a:t>
            </a:r>
            <a:endParaRPr sz="1900"/>
          </a:p>
        </p:txBody>
      </p:sp>
      <p:sp>
        <p:nvSpPr>
          <p:cNvPr id="968" name="Google Shape;96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969" name="Google Shape;969;p75"/>
          <p:cNvSpPr txBox="1"/>
          <p:nvPr>
            <p:ph type="body" idx="1"/>
          </p:nvPr>
        </p:nvSpPr>
        <p:spPr>
          <a:xfrm>
            <a:off x="6737730" y="4072648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B}</a:t>
            </a:r>
            <a:endParaRPr sz="2000"/>
          </a:p>
        </p:txBody>
      </p:sp>
      <p:sp>
        <p:nvSpPr>
          <p:cNvPr id="970" name="Google Shape;970;p75"/>
          <p:cNvSpPr txBox="1"/>
          <p:nvPr>
            <p:ph type="body" idx="1"/>
          </p:nvPr>
        </p:nvSpPr>
        <p:spPr>
          <a:xfrm>
            <a:off x="324000" y="1571525"/>
            <a:ext cx="7885200" cy="73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likelihoods of the spinner landing on each </a:t>
            </a:r>
            <a:r>
              <a:rPr lang="en-GB" sz="1900">
                <a:solidFill>
                  <a:schemeClr val="accent4"/>
                </a:solidFill>
              </a:rPr>
              <a:t>letter</a:t>
            </a:r>
            <a:r>
              <a:rPr lang="en-GB" sz="1900"/>
              <a:t> are </a:t>
            </a:r>
            <a:r>
              <a:rPr lang="en-GB" sz="1900">
                <a:solidFill>
                  <a:schemeClr val="accent4"/>
                </a:solidFill>
              </a:rPr>
              <a:t>not equal</a:t>
            </a:r>
            <a:r>
              <a:rPr lang="en-GB" sz="1900"/>
              <a:t>; it is more likely to land on A than B.</a:t>
            </a:r>
            <a:endParaRPr sz="1900"/>
          </a:p>
        </p:txBody>
      </p:sp>
      <p:sp>
        <p:nvSpPr>
          <p:cNvPr id="971" name="Google Shape;971;p75"/>
          <p:cNvSpPr txBox="1"/>
          <p:nvPr>
            <p:ph type="body" idx="1"/>
          </p:nvPr>
        </p:nvSpPr>
        <p:spPr>
          <a:xfrm>
            <a:off x="324000" y="2459950"/>
            <a:ext cx="5243700" cy="10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However, the likelihoods of the spinner landing on each </a:t>
            </a:r>
            <a:r>
              <a:rPr lang="en-GB" sz="1900">
                <a:solidFill>
                  <a:schemeClr val="accent4"/>
                </a:solidFill>
              </a:rPr>
              <a:t>sector</a:t>
            </a:r>
            <a:r>
              <a:rPr lang="en-GB" sz="1900"/>
              <a:t> are </a:t>
            </a:r>
            <a:r>
              <a:rPr lang="en-GB" sz="1900">
                <a:solidFill>
                  <a:schemeClr val="accent4"/>
                </a:solidFill>
              </a:rPr>
              <a:t>equal</a:t>
            </a:r>
            <a:r>
              <a:rPr lang="en-GB" sz="1900"/>
              <a:t> because they are all the same size.</a:t>
            </a:r>
            <a:endParaRPr sz="1900"/>
          </a:p>
        </p:txBody>
      </p:sp>
      <p:sp>
        <p:nvSpPr>
          <p:cNvPr id="972" name="Google Shape;972;p75"/>
          <p:cNvSpPr txBox="1"/>
          <p:nvPr>
            <p:ph type="body" idx="1"/>
          </p:nvPr>
        </p:nvSpPr>
        <p:spPr>
          <a:xfrm>
            <a:off x="324000" y="3687800"/>
            <a:ext cx="4767600" cy="9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By considering each sector as a </a:t>
            </a:r>
            <a:r>
              <a:rPr lang="en-GB" sz="1900">
                <a:solidFill>
                  <a:schemeClr val="accent4"/>
                </a:solidFill>
              </a:rPr>
              <a:t>separate</a:t>
            </a:r>
            <a:r>
              <a:rPr lang="en-GB" sz="1900"/>
              <a:t> </a:t>
            </a:r>
            <a:r>
              <a:rPr lang="en-GB" sz="1900">
                <a:solidFill>
                  <a:schemeClr val="accent4"/>
                </a:solidFill>
              </a:rPr>
              <a:t>outcome</a:t>
            </a:r>
            <a:r>
              <a:rPr lang="en-GB" sz="1900"/>
              <a:t>, we can find </a:t>
            </a:r>
            <a:r>
              <a:rPr lang="en-GB" sz="1900" b="1"/>
              <a:t>theoretical probabilities</a:t>
            </a:r>
            <a:r>
              <a:rPr lang="en-GB" sz="1900"/>
              <a:t> for each letter.</a:t>
            </a:r>
            <a:endParaRPr sz="1900"/>
          </a:p>
        </p:txBody>
      </p:sp>
      <p:sp>
        <p:nvSpPr>
          <p:cNvPr id="973" name="Google Shape;973;p75"/>
          <p:cNvSpPr/>
          <p:nvPr/>
        </p:nvSpPr>
        <p:spPr>
          <a:xfrm>
            <a:off x="6604400" y="20682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4" name="Google Shape;974;p75"/>
          <p:cNvSpPr/>
          <p:nvPr/>
        </p:nvSpPr>
        <p:spPr>
          <a:xfrm rot="8649824">
            <a:off x="6619295" y="20831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5" name="Google Shape;975;p75"/>
          <p:cNvSpPr/>
          <p:nvPr/>
        </p:nvSpPr>
        <p:spPr>
          <a:xfrm rot="-8629029">
            <a:off x="6619396" y="20832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6" name="Google Shape;976;p75"/>
          <p:cNvSpPr/>
          <p:nvPr/>
        </p:nvSpPr>
        <p:spPr>
          <a:xfrm rot="-4309758">
            <a:off x="6619441" y="20834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7" name="Google Shape;977;p75"/>
          <p:cNvSpPr/>
          <p:nvPr/>
        </p:nvSpPr>
        <p:spPr>
          <a:xfrm>
            <a:off x="6619441" y="20834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8" name="Google Shape;978;p75"/>
          <p:cNvSpPr txBox="1"/>
          <p:nvPr/>
        </p:nvSpPr>
        <p:spPr>
          <a:xfrm>
            <a:off x="7305675" y="3238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5"/>
          <p:cNvSpPr/>
          <p:nvPr/>
        </p:nvSpPr>
        <p:spPr>
          <a:xfrm rot="4312496">
            <a:off x="6619274" y="20830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0" name="Google Shape;980;p75"/>
          <p:cNvSpPr txBox="1"/>
          <p:nvPr/>
        </p:nvSpPr>
        <p:spPr>
          <a:xfrm>
            <a:off x="6983175" y="2248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5"/>
          <p:cNvSpPr txBox="1"/>
          <p:nvPr/>
        </p:nvSpPr>
        <p:spPr>
          <a:xfrm>
            <a:off x="76377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5"/>
          <p:cNvSpPr txBox="1"/>
          <p:nvPr/>
        </p:nvSpPr>
        <p:spPr>
          <a:xfrm>
            <a:off x="7713926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5"/>
          <p:cNvSpPr txBox="1"/>
          <p:nvPr/>
        </p:nvSpPr>
        <p:spPr>
          <a:xfrm>
            <a:off x="6754575" y="285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4" name="Google Shape;984;p75"/>
          <p:cNvGrpSpPr/>
          <p:nvPr/>
        </p:nvGrpSpPr>
        <p:grpSpPr>
          <a:xfrm>
            <a:off x="7403709" y="2124142"/>
            <a:ext cx="93900" cy="816939"/>
            <a:chOff x="996050" y="213293"/>
            <a:chExt cx="93900" cy="909732"/>
          </a:xfrm>
        </p:grpSpPr>
        <p:cxnSp>
          <p:nvCxnSpPr>
            <p:cNvPr id="985" name="Google Shape;985;p7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86" name="Google Shape;986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p76"/>
          <p:cNvSpPr txBox="1"/>
          <p:nvPr>
            <p:ph type="body" idx="1"/>
          </p:nvPr>
        </p:nvSpPr>
        <p:spPr>
          <a:xfrm>
            <a:off x="335200" y="2098375"/>
            <a:ext cx="21585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A, A, B, B}</a:t>
            </a:r>
            <a:endParaRPr sz="2000"/>
          </a:p>
        </p:txBody>
      </p:sp>
      <p:sp>
        <p:nvSpPr>
          <p:cNvPr id="992" name="Google Shape;992;p76"/>
          <p:cNvSpPr/>
          <p:nvPr/>
        </p:nvSpPr>
        <p:spPr>
          <a:xfrm>
            <a:off x="831959" y="2126025"/>
            <a:ext cx="15147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6"/>
          <p:cNvSpPr txBox="1"/>
          <p:nvPr>
            <p:ph type="body" idx="1"/>
          </p:nvPr>
        </p:nvSpPr>
        <p:spPr>
          <a:xfrm>
            <a:off x="324000" y="835500"/>
            <a:ext cx="82377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probability that the spinner lands on ‘A’ is     . </a:t>
            </a:r>
            <a:endParaRPr sz="2000"/>
          </a:p>
        </p:txBody>
      </p:sp>
      <p:sp>
        <p:nvSpPr>
          <p:cNvPr id="994" name="Google Shape;99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995" name="Google Shape;995;p76"/>
          <p:cNvSpPr txBox="1"/>
          <p:nvPr>
            <p:ph type="body" idx="1"/>
          </p:nvPr>
        </p:nvSpPr>
        <p:spPr>
          <a:xfrm>
            <a:off x="324000" y="1368900"/>
            <a:ext cx="8237700" cy="3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is because </a:t>
            </a:r>
            <a:r>
              <a:rPr lang="en-GB" sz="2000">
                <a:solidFill>
                  <a:schemeClr val="accent4"/>
                </a:solidFill>
              </a:rPr>
              <a:t>3 out of the 5</a:t>
            </a:r>
            <a:r>
              <a:rPr lang="en-GB" sz="2000"/>
              <a:t> possible outcomes are ‘A’.</a:t>
            </a:r>
            <a:endParaRPr sz="2000"/>
          </a:p>
        </p:txBody>
      </p:sp>
      <p:sp>
        <p:nvSpPr>
          <p:cNvPr id="996" name="Google Shape;996;p76"/>
          <p:cNvSpPr txBox="1"/>
          <p:nvPr>
            <p:ph type="body" idx="1"/>
          </p:nvPr>
        </p:nvSpPr>
        <p:spPr>
          <a:xfrm>
            <a:off x="300561" y="30127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P(A) = </a:t>
            </a:r>
            <a:endParaRPr sz="2000"/>
          </a:p>
        </p:txBody>
      </p:sp>
      <p:sp>
        <p:nvSpPr>
          <p:cNvPr id="997" name="Google Shape;997;p76"/>
          <p:cNvSpPr txBox="1"/>
          <p:nvPr>
            <p:ph type="body" idx="1"/>
          </p:nvPr>
        </p:nvSpPr>
        <p:spPr>
          <a:xfrm>
            <a:off x="1818736" y="2784175"/>
            <a:ext cx="36513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of outcomes that are ‘A’ </a:t>
            </a:r>
            <a:endParaRPr sz="1800"/>
          </a:p>
        </p:txBody>
      </p:sp>
      <p:sp>
        <p:nvSpPr>
          <p:cNvPr id="998" name="Google Shape;998;p76"/>
          <p:cNvSpPr txBox="1"/>
          <p:nvPr>
            <p:ph type="body" idx="1"/>
          </p:nvPr>
        </p:nvSpPr>
        <p:spPr>
          <a:xfrm>
            <a:off x="1818736" y="3317575"/>
            <a:ext cx="29769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outcomes</a:t>
            </a:r>
            <a:endParaRPr sz="1800"/>
          </a:p>
        </p:txBody>
      </p:sp>
      <p:cxnSp>
        <p:nvCxnSpPr>
          <p:cNvPr id="999" name="Google Shape;999;p76"/>
          <p:cNvCxnSpPr>
            <a:stCxn id="997" idx="1"/>
          </p:cNvCxnSpPr>
          <p:nvPr/>
        </p:nvCxnSpPr>
        <p:spPr>
          <a:xfrm flipH="1">
            <a:off x="1360036" y="2935975"/>
            <a:ext cx="458700" cy="149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0" name="Google Shape;1000;p76"/>
          <p:cNvCxnSpPr>
            <a:stCxn id="998" idx="1"/>
          </p:cNvCxnSpPr>
          <p:nvPr/>
        </p:nvCxnSpPr>
        <p:spPr>
          <a:xfrm rot="10800000">
            <a:off x="1365736" y="3373075"/>
            <a:ext cx="453000" cy="9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1" name="Google Shape;1001;p76"/>
          <p:cNvSpPr/>
          <p:nvPr/>
        </p:nvSpPr>
        <p:spPr>
          <a:xfrm>
            <a:off x="831950" y="2126025"/>
            <a:ext cx="9000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2" name="Google Shape;1002;p76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127" y="2907558"/>
            <a:ext cx="19084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76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0127" y="756819"/>
            <a:ext cx="163972" cy="52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76"/>
          <p:cNvSpPr/>
          <p:nvPr/>
        </p:nvSpPr>
        <p:spPr>
          <a:xfrm>
            <a:off x="6604400" y="20682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5" name="Google Shape;1005;p76"/>
          <p:cNvSpPr/>
          <p:nvPr/>
        </p:nvSpPr>
        <p:spPr>
          <a:xfrm rot="8649824">
            <a:off x="6619295" y="20831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6" name="Google Shape;1006;p76"/>
          <p:cNvSpPr/>
          <p:nvPr/>
        </p:nvSpPr>
        <p:spPr>
          <a:xfrm rot="-8629029">
            <a:off x="6619396" y="20832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7" name="Google Shape;1007;p76"/>
          <p:cNvSpPr/>
          <p:nvPr/>
        </p:nvSpPr>
        <p:spPr>
          <a:xfrm rot="-4309758">
            <a:off x="6619441" y="20834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8" name="Google Shape;1008;p76"/>
          <p:cNvSpPr/>
          <p:nvPr/>
        </p:nvSpPr>
        <p:spPr>
          <a:xfrm>
            <a:off x="6619441" y="20834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9" name="Google Shape;1009;p76"/>
          <p:cNvSpPr txBox="1"/>
          <p:nvPr/>
        </p:nvSpPr>
        <p:spPr>
          <a:xfrm>
            <a:off x="7305675" y="3238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6"/>
          <p:cNvSpPr/>
          <p:nvPr/>
        </p:nvSpPr>
        <p:spPr>
          <a:xfrm rot="4312496">
            <a:off x="6619274" y="20830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1" name="Google Shape;1011;p76"/>
          <p:cNvSpPr txBox="1"/>
          <p:nvPr/>
        </p:nvSpPr>
        <p:spPr>
          <a:xfrm>
            <a:off x="6983175" y="2248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6"/>
          <p:cNvSpPr txBox="1"/>
          <p:nvPr/>
        </p:nvSpPr>
        <p:spPr>
          <a:xfrm>
            <a:off x="76377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6"/>
          <p:cNvSpPr txBox="1"/>
          <p:nvPr/>
        </p:nvSpPr>
        <p:spPr>
          <a:xfrm>
            <a:off x="7713926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6"/>
          <p:cNvSpPr txBox="1"/>
          <p:nvPr/>
        </p:nvSpPr>
        <p:spPr>
          <a:xfrm>
            <a:off x="6754575" y="285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5" name="Google Shape;1015;p76"/>
          <p:cNvGrpSpPr/>
          <p:nvPr/>
        </p:nvGrpSpPr>
        <p:grpSpPr>
          <a:xfrm>
            <a:off x="7403709" y="2124142"/>
            <a:ext cx="93900" cy="816939"/>
            <a:chOff x="996050" y="213293"/>
            <a:chExt cx="93900" cy="909732"/>
          </a:xfrm>
        </p:grpSpPr>
        <p:cxnSp>
          <p:nvCxnSpPr>
            <p:cNvPr id="1016" name="Google Shape;1016;p76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17" name="Google Shape;1017;p7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1" name="Shape 1021"/>
        <p:cNvGrpSpPr/>
        <p:nvPr/>
      </p:nvGrpSpPr>
      <p:grpSpPr>
        <a:xfrm>
          <a:off x="0" y="0"/>
          <a:ext cx="0" cy="0"/>
        </a:xfrm>
      </p:grpSpPr>
      <p:sp>
        <p:nvSpPr>
          <p:cNvPr id="1022" name="Google Shape;1022;p77"/>
          <p:cNvSpPr txBox="1"/>
          <p:nvPr>
            <p:ph type="body" idx="1"/>
          </p:nvPr>
        </p:nvSpPr>
        <p:spPr>
          <a:xfrm>
            <a:off x="324000" y="835500"/>
            <a:ext cx="82377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probability that the spinner lands on ‘B’ is     . </a:t>
            </a:r>
            <a:endParaRPr sz="2000"/>
          </a:p>
        </p:txBody>
      </p:sp>
      <p:pic>
        <p:nvPicPr>
          <p:cNvPr id="1023" name="Google Shape;1023;p77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112" y="756835"/>
            <a:ext cx="163975" cy="5270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77"/>
          <p:cNvSpPr txBox="1"/>
          <p:nvPr>
            <p:ph type="body" idx="1"/>
          </p:nvPr>
        </p:nvSpPr>
        <p:spPr>
          <a:xfrm>
            <a:off x="335200" y="2098375"/>
            <a:ext cx="21585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{A, A, A, B, B}</a:t>
            </a:r>
            <a:endParaRPr sz="2000"/>
          </a:p>
        </p:txBody>
      </p:sp>
      <p:sp>
        <p:nvSpPr>
          <p:cNvPr id="1025" name="Google Shape;1025;p77"/>
          <p:cNvSpPr/>
          <p:nvPr/>
        </p:nvSpPr>
        <p:spPr>
          <a:xfrm>
            <a:off x="831959" y="2126025"/>
            <a:ext cx="15147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027" name="Google Shape;1027;p77"/>
          <p:cNvSpPr txBox="1"/>
          <p:nvPr>
            <p:ph type="body" idx="1"/>
          </p:nvPr>
        </p:nvSpPr>
        <p:spPr>
          <a:xfrm>
            <a:off x="324000" y="1368900"/>
            <a:ext cx="8237700" cy="3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is because </a:t>
            </a:r>
            <a:r>
              <a:rPr lang="en-GB" sz="2000">
                <a:solidFill>
                  <a:schemeClr val="accent4"/>
                </a:solidFill>
              </a:rPr>
              <a:t>2 out of the 5</a:t>
            </a:r>
            <a:r>
              <a:rPr lang="en-GB" sz="2000"/>
              <a:t> possible outcomes are ‘B’.</a:t>
            </a:r>
            <a:endParaRPr sz="2000"/>
          </a:p>
        </p:txBody>
      </p:sp>
      <p:sp>
        <p:nvSpPr>
          <p:cNvPr id="1028" name="Google Shape;1028;p77"/>
          <p:cNvSpPr txBox="1"/>
          <p:nvPr>
            <p:ph type="body" idx="1"/>
          </p:nvPr>
        </p:nvSpPr>
        <p:spPr>
          <a:xfrm>
            <a:off x="300561" y="30127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P(B) = </a:t>
            </a:r>
            <a:endParaRPr sz="2000"/>
          </a:p>
        </p:txBody>
      </p:sp>
      <p:sp>
        <p:nvSpPr>
          <p:cNvPr id="1029" name="Google Shape;1029;p77"/>
          <p:cNvSpPr txBox="1"/>
          <p:nvPr>
            <p:ph type="body" idx="1"/>
          </p:nvPr>
        </p:nvSpPr>
        <p:spPr>
          <a:xfrm>
            <a:off x="1818736" y="2784175"/>
            <a:ext cx="36513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of outcomes that are ‘B’ </a:t>
            </a:r>
            <a:endParaRPr sz="1800"/>
          </a:p>
        </p:txBody>
      </p:sp>
      <p:sp>
        <p:nvSpPr>
          <p:cNvPr id="1030" name="Google Shape;1030;p77"/>
          <p:cNvSpPr txBox="1"/>
          <p:nvPr>
            <p:ph type="body" idx="1"/>
          </p:nvPr>
        </p:nvSpPr>
        <p:spPr>
          <a:xfrm>
            <a:off x="1818736" y="3317575"/>
            <a:ext cx="29769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outcomes</a:t>
            </a:r>
            <a:endParaRPr sz="1800"/>
          </a:p>
        </p:txBody>
      </p:sp>
      <p:cxnSp>
        <p:nvCxnSpPr>
          <p:cNvPr id="1031" name="Google Shape;1031;p77"/>
          <p:cNvCxnSpPr>
            <a:stCxn id="1029" idx="1"/>
          </p:cNvCxnSpPr>
          <p:nvPr/>
        </p:nvCxnSpPr>
        <p:spPr>
          <a:xfrm flipH="1">
            <a:off x="1360036" y="2935975"/>
            <a:ext cx="458700" cy="149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2" name="Google Shape;1032;p77"/>
          <p:cNvCxnSpPr>
            <a:stCxn id="1030" idx="1"/>
          </p:cNvCxnSpPr>
          <p:nvPr/>
        </p:nvCxnSpPr>
        <p:spPr>
          <a:xfrm rot="10800000">
            <a:off x="1365736" y="3373075"/>
            <a:ext cx="453000" cy="9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3" name="Google Shape;1033;p77"/>
          <p:cNvSpPr/>
          <p:nvPr/>
        </p:nvSpPr>
        <p:spPr>
          <a:xfrm>
            <a:off x="1716650" y="2126025"/>
            <a:ext cx="630000" cy="303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4" name="Google Shape;1034;p77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625" y="2933541"/>
            <a:ext cx="186700" cy="6001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77"/>
          <p:cNvSpPr/>
          <p:nvPr/>
        </p:nvSpPr>
        <p:spPr>
          <a:xfrm>
            <a:off x="6604400" y="20682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6" name="Google Shape;1036;p77"/>
          <p:cNvSpPr/>
          <p:nvPr/>
        </p:nvSpPr>
        <p:spPr>
          <a:xfrm rot="8649824">
            <a:off x="6619295" y="20831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7" name="Google Shape;1037;p77"/>
          <p:cNvSpPr/>
          <p:nvPr/>
        </p:nvSpPr>
        <p:spPr>
          <a:xfrm rot="-8629029">
            <a:off x="6619396" y="20832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8" name="Google Shape;1038;p77"/>
          <p:cNvSpPr/>
          <p:nvPr/>
        </p:nvSpPr>
        <p:spPr>
          <a:xfrm rot="-4309758">
            <a:off x="6619441" y="20834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9" name="Google Shape;1039;p77"/>
          <p:cNvSpPr/>
          <p:nvPr/>
        </p:nvSpPr>
        <p:spPr>
          <a:xfrm>
            <a:off x="6619441" y="20834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0" name="Google Shape;1040;p77"/>
          <p:cNvSpPr txBox="1"/>
          <p:nvPr/>
        </p:nvSpPr>
        <p:spPr>
          <a:xfrm>
            <a:off x="7305675" y="3238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7"/>
          <p:cNvSpPr/>
          <p:nvPr/>
        </p:nvSpPr>
        <p:spPr>
          <a:xfrm rot="4312496">
            <a:off x="6619274" y="20830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2" name="Google Shape;1042;p77"/>
          <p:cNvSpPr txBox="1"/>
          <p:nvPr/>
        </p:nvSpPr>
        <p:spPr>
          <a:xfrm>
            <a:off x="6983175" y="2248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7"/>
          <p:cNvSpPr txBox="1"/>
          <p:nvPr/>
        </p:nvSpPr>
        <p:spPr>
          <a:xfrm>
            <a:off x="76377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7"/>
          <p:cNvSpPr txBox="1"/>
          <p:nvPr/>
        </p:nvSpPr>
        <p:spPr>
          <a:xfrm>
            <a:off x="7713926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7"/>
          <p:cNvSpPr txBox="1"/>
          <p:nvPr/>
        </p:nvSpPr>
        <p:spPr>
          <a:xfrm>
            <a:off x="6754575" y="285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6" name="Google Shape;1046;p77"/>
          <p:cNvGrpSpPr/>
          <p:nvPr/>
        </p:nvGrpSpPr>
        <p:grpSpPr>
          <a:xfrm>
            <a:off x="7403709" y="2124142"/>
            <a:ext cx="93900" cy="816939"/>
            <a:chOff x="996050" y="213293"/>
            <a:chExt cx="93900" cy="909732"/>
          </a:xfrm>
        </p:grpSpPr>
        <p:cxnSp>
          <p:nvCxnSpPr>
            <p:cNvPr id="1047" name="Google Shape;1047;p77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48" name="Google Shape;1048;p77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2" name="Shape 1052"/>
        <p:cNvGrpSpPr/>
        <p:nvPr/>
      </p:nvGrpSpPr>
      <p:grpSpPr>
        <a:xfrm>
          <a:off x="0" y="0"/>
          <a:ext cx="0" cy="0"/>
        </a:xfrm>
      </p:grpSpPr>
      <p:sp>
        <p:nvSpPr>
          <p:cNvPr id="1053" name="Google Shape;1053;p78"/>
          <p:cNvSpPr txBox="1"/>
          <p:nvPr>
            <p:ph type="body" idx="1"/>
          </p:nvPr>
        </p:nvSpPr>
        <p:spPr>
          <a:xfrm>
            <a:off x="324000" y="759300"/>
            <a:ext cx="8496000" cy="10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 an experiment involving 500 trials, we would expect the spinner to land approximately </a:t>
            </a:r>
            <a:r>
              <a:rPr lang="en-GB" sz="2000">
                <a:solidFill>
                  <a:schemeClr val="accent4"/>
                </a:solidFill>
              </a:rPr>
              <a:t>300 times on ‘A’</a:t>
            </a:r>
            <a:r>
              <a:rPr lang="en-GB" sz="2000"/>
              <a:t> and </a:t>
            </a:r>
            <a:r>
              <a:rPr lang="en-GB" sz="2000">
                <a:solidFill>
                  <a:schemeClr val="accent4"/>
                </a:solidFill>
              </a:rPr>
              <a:t>200 times on ‘B’</a:t>
            </a:r>
            <a:r>
              <a:rPr lang="en-GB" sz="2000"/>
              <a:t>, based on these probabilities. </a:t>
            </a:r>
            <a:endParaRPr sz="2000"/>
          </a:p>
        </p:txBody>
      </p:sp>
      <p:sp>
        <p:nvSpPr>
          <p:cNvPr id="1054" name="Google Shape;105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055" name="Google Shape;1055;p78"/>
          <p:cNvSpPr txBox="1"/>
          <p:nvPr>
            <p:ph type="body" idx="1"/>
          </p:nvPr>
        </p:nvSpPr>
        <p:spPr>
          <a:xfrm>
            <a:off x="1672161" y="2098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056" name="Google Shape;1056;p78"/>
          <p:cNvSpPr txBox="1"/>
          <p:nvPr>
            <p:ph type="body" idx="1"/>
          </p:nvPr>
        </p:nvSpPr>
        <p:spPr>
          <a:xfrm>
            <a:off x="1894958" y="282883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-GB" sz="1800"/>
              <a:t> =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300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7" name="Google Shape;1057;p78"/>
          <p:cNvSpPr txBox="1"/>
          <p:nvPr>
            <p:ph type="body" idx="1"/>
          </p:nvPr>
        </p:nvSpPr>
        <p:spPr>
          <a:xfrm>
            <a:off x="4008384" y="2098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pic>
        <p:nvPicPr>
          <p:cNvPr id="1058" name="Google Shape;1058;p78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841" y="1979935"/>
            <a:ext cx="174850" cy="562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78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377" y="2732021"/>
            <a:ext cx="174850" cy="562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78"/>
          <p:cNvSpPr txBox="1"/>
          <p:nvPr>
            <p:ph type="body" idx="1"/>
          </p:nvPr>
        </p:nvSpPr>
        <p:spPr>
          <a:xfrm>
            <a:off x="4257158" y="282883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-GB" sz="1800"/>
              <a:t> =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200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1" name="Google Shape;1061;p78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8725" y="1978184"/>
            <a:ext cx="174850" cy="5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78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6872" y="2737623"/>
            <a:ext cx="174850" cy="5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 flipH="1">
            <a:off x="325600" y="3400518"/>
            <a:ext cx="6567076" cy="14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78"/>
          <p:cNvSpPr txBox="1"/>
          <p:nvPr>
            <p:ph type="body" idx="1"/>
          </p:nvPr>
        </p:nvSpPr>
        <p:spPr>
          <a:xfrm>
            <a:off x="410976" y="3774395"/>
            <a:ext cx="6474600" cy="10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/>
              <a:t>It seems reasonable to expect the spinner to land on ‘A’ more often than ‘B’ because it takes up more space on the spinner.</a:t>
            </a: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/>
              <a:t>However, actual results may differ to this.</a:t>
            </a:r>
            <a:endParaRPr sz="1700"/>
          </a:p>
        </p:txBody>
      </p:sp>
      <p:pic>
        <p:nvPicPr>
          <p:cNvPr id="1065" name="Google Shape;1065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168" y="2926773"/>
            <a:ext cx="555755" cy="727878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78"/>
          <p:cNvSpPr/>
          <p:nvPr/>
        </p:nvSpPr>
        <p:spPr>
          <a:xfrm>
            <a:off x="6604400" y="20682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7" name="Google Shape;1067;p78"/>
          <p:cNvSpPr/>
          <p:nvPr/>
        </p:nvSpPr>
        <p:spPr>
          <a:xfrm rot="8649824">
            <a:off x="6619295" y="20831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8" name="Google Shape;1068;p78"/>
          <p:cNvSpPr/>
          <p:nvPr/>
        </p:nvSpPr>
        <p:spPr>
          <a:xfrm rot="-8629029">
            <a:off x="6619396" y="20832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9" name="Google Shape;1069;p78"/>
          <p:cNvSpPr/>
          <p:nvPr/>
        </p:nvSpPr>
        <p:spPr>
          <a:xfrm rot="-4309758">
            <a:off x="6619441" y="20834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0" name="Google Shape;1070;p78"/>
          <p:cNvSpPr/>
          <p:nvPr/>
        </p:nvSpPr>
        <p:spPr>
          <a:xfrm>
            <a:off x="6619441" y="20834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1" name="Google Shape;1071;p78"/>
          <p:cNvSpPr txBox="1"/>
          <p:nvPr/>
        </p:nvSpPr>
        <p:spPr>
          <a:xfrm>
            <a:off x="7305675" y="3238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8"/>
          <p:cNvSpPr/>
          <p:nvPr/>
        </p:nvSpPr>
        <p:spPr>
          <a:xfrm rot="4312496">
            <a:off x="6619274" y="20830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3" name="Google Shape;1073;p78"/>
          <p:cNvSpPr txBox="1"/>
          <p:nvPr/>
        </p:nvSpPr>
        <p:spPr>
          <a:xfrm>
            <a:off x="6983175" y="2248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8"/>
          <p:cNvSpPr txBox="1"/>
          <p:nvPr/>
        </p:nvSpPr>
        <p:spPr>
          <a:xfrm>
            <a:off x="76377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8"/>
          <p:cNvSpPr txBox="1"/>
          <p:nvPr/>
        </p:nvSpPr>
        <p:spPr>
          <a:xfrm>
            <a:off x="7713926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8"/>
          <p:cNvSpPr txBox="1"/>
          <p:nvPr/>
        </p:nvSpPr>
        <p:spPr>
          <a:xfrm>
            <a:off x="6754575" y="285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7" name="Google Shape;1077;p78"/>
          <p:cNvGrpSpPr/>
          <p:nvPr/>
        </p:nvGrpSpPr>
        <p:grpSpPr>
          <a:xfrm>
            <a:off x="7403709" y="2124142"/>
            <a:ext cx="93900" cy="816939"/>
            <a:chOff x="996050" y="213293"/>
            <a:chExt cx="93900" cy="909732"/>
          </a:xfrm>
        </p:grpSpPr>
        <p:cxnSp>
          <p:nvCxnSpPr>
            <p:cNvPr id="1078" name="Google Shape;1078;p7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79" name="Google Shape;1079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3" name="Shape 1083"/>
        <p:cNvGrpSpPr/>
        <p:nvPr/>
      </p:nvGrpSpPr>
      <p:grpSpPr>
        <a:xfrm>
          <a:off x="0" y="0"/>
          <a:ext cx="0" cy="0"/>
        </a:xfrm>
      </p:grpSpPr>
      <p:sp>
        <p:nvSpPr>
          <p:cNvPr id="1084" name="Google Shape;1084;p79"/>
          <p:cNvSpPr txBox="1"/>
          <p:nvPr>
            <p:ph type="body" idx="1"/>
          </p:nvPr>
        </p:nvSpPr>
        <p:spPr>
          <a:xfrm>
            <a:off x="324000" y="759300"/>
            <a:ext cx="8496000" cy="10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Probabilities can also be expressed using the equivalent decimals or percentages. </a:t>
            </a:r>
            <a:endParaRPr sz="2000"/>
          </a:p>
        </p:txBody>
      </p:sp>
      <p:sp>
        <p:nvSpPr>
          <p:cNvPr id="1085" name="Google Shape;1085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086" name="Google Shape;1086;p79"/>
          <p:cNvSpPr txBox="1"/>
          <p:nvPr>
            <p:ph type="body" idx="1"/>
          </p:nvPr>
        </p:nvSpPr>
        <p:spPr>
          <a:xfrm>
            <a:off x="1672161" y="2098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P(A) = </a:t>
            </a:r>
            <a:endParaRPr sz="1800"/>
          </a:p>
        </p:txBody>
      </p:sp>
      <p:sp>
        <p:nvSpPr>
          <p:cNvPr id="1087" name="Google Shape;1087;p79"/>
          <p:cNvSpPr txBox="1"/>
          <p:nvPr>
            <p:ph type="body" idx="1"/>
          </p:nvPr>
        </p:nvSpPr>
        <p:spPr>
          <a:xfrm>
            <a:off x="4008384" y="2098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P(B) = </a:t>
            </a:r>
            <a:endParaRPr sz="1800"/>
          </a:p>
        </p:txBody>
      </p:sp>
      <p:pic>
        <p:nvPicPr>
          <p:cNvPr id="1088" name="Google Shape;1088;p79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841" y="1979935"/>
            <a:ext cx="174850" cy="562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79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8725" y="1978184"/>
            <a:ext cx="174850" cy="5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79"/>
          <p:cNvSpPr/>
          <p:nvPr/>
        </p:nvSpPr>
        <p:spPr>
          <a:xfrm>
            <a:off x="6604400" y="20682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1" name="Google Shape;1091;p79"/>
          <p:cNvSpPr/>
          <p:nvPr/>
        </p:nvSpPr>
        <p:spPr>
          <a:xfrm rot="8649824">
            <a:off x="6619295" y="20831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2" name="Google Shape;1092;p79"/>
          <p:cNvSpPr/>
          <p:nvPr/>
        </p:nvSpPr>
        <p:spPr>
          <a:xfrm rot="-8629029">
            <a:off x="6619396" y="20832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3" name="Google Shape;1093;p79"/>
          <p:cNvSpPr/>
          <p:nvPr/>
        </p:nvSpPr>
        <p:spPr>
          <a:xfrm rot="-4309758">
            <a:off x="6619441" y="20834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4" name="Google Shape;1094;p79"/>
          <p:cNvSpPr/>
          <p:nvPr/>
        </p:nvSpPr>
        <p:spPr>
          <a:xfrm>
            <a:off x="6619441" y="20834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5" name="Google Shape;1095;p79"/>
          <p:cNvSpPr txBox="1"/>
          <p:nvPr/>
        </p:nvSpPr>
        <p:spPr>
          <a:xfrm>
            <a:off x="7305675" y="3238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9"/>
          <p:cNvSpPr/>
          <p:nvPr/>
        </p:nvSpPr>
        <p:spPr>
          <a:xfrm rot="4312496">
            <a:off x="6619274" y="20830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7" name="Google Shape;1097;p79"/>
          <p:cNvSpPr txBox="1"/>
          <p:nvPr/>
        </p:nvSpPr>
        <p:spPr>
          <a:xfrm>
            <a:off x="6983175" y="2248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9"/>
          <p:cNvSpPr txBox="1"/>
          <p:nvPr/>
        </p:nvSpPr>
        <p:spPr>
          <a:xfrm>
            <a:off x="76377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9"/>
          <p:cNvSpPr txBox="1"/>
          <p:nvPr/>
        </p:nvSpPr>
        <p:spPr>
          <a:xfrm>
            <a:off x="7713926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9"/>
          <p:cNvSpPr txBox="1"/>
          <p:nvPr/>
        </p:nvSpPr>
        <p:spPr>
          <a:xfrm>
            <a:off x="6754575" y="285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1" name="Google Shape;1101;p79"/>
          <p:cNvGrpSpPr/>
          <p:nvPr/>
        </p:nvGrpSpPr>
        <p:grpSpPr>
          <a:xfrm>
            <a:off x="7403709" y="2124142"/>
            <a:ext cx="93900" cy="816939"/>
            <a:chOff x="996050" y="213293"/>
            <a:chExt cx="93900" cy="909732"/>
          </a:xfrm>
        </p:grpSpPr>
        <p:cxnSp>
          <p:nvCxnSpPr>
            <p:cNvPr id="1102" name="Google Shape;1102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03" name="Google Shape;1103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04" name="Google Shape;1104;p79"/>
          <p:cNvSpPr txBox="1"/>
          <p:nvPr>
            <p:ph type="body" idx="1"/>
          </p:nvPr>
        </p:nvSpPr>
        <p:spPr>
          <a:xfrm>
            <a:off x="1672161" y="2860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P(A) = 0.6 </a:t>
            </a:r>
            <a:endParaRPr sz="1800"/>
          </a:p>
        </p:txBody>
      </p:sp>
      <p:sp>
        <p:nvSpPr>
          <p:cNvPr id="1105" name="Google Shape;1105;p79"/>
          <p:cNvSpPr txBox="1"/>
          <p:nvPr>
            <p:ph type="body" idx="1"/>
          </p:nvPr>
        </p:nvSpPr>
        <p:spPr>
          <a:xfrm>
            <a:off x="4008384" y="28603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P(B) = 0.4 </a:t>
            </a:r>
            <a:endParaRPr sz="1800"/>
          </a:p>
        </p:txBody>
      </p:sp>
      <p:sp>
        <p:nvSpPr>
          <p:cNvPr id="1106" name="Google Shape;1106;p79"/>
          <p:cNvSpPr txBox="1"/>
          <p:nvPr>
            <p:ph type="body" idx="1"/>
          </p:nvPr>
        </p:nvSpPr>
        <p:spPr>
          <a:xfrm>
            <a:off x="1672161" y="35461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P(A) = 60% </a:t>
            </a:r>
            <a:endParaRPr sz="1800"/>
          </a:p>
        </p:txBody>
      </p:sp>
      <p:sp>
        <p:nvSpPr>
          <p:cNvPr id="1107" name="Google Shape;1107;p79"/>
          <p:cNvSpPr txBox="1"/>
          <p:nvPr>
            <p:ph type="body" idx="1"/>
          </p:nvPr>
        </p:nvSpPr>
        <p:spPr>
          <a:xfrm>
            <a:off x="4008384" y="35461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P(B) = 40%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1" name="Shape 1111"/>
        <p:cNvGrpSpPr/>
        <p:nvPr/>
      </p:nvGrpSpPr>
      <p:grpSpPr>
        <a:xfrm>
          <a:off x="0" y="0"/>
          <a:ext cx="0" cy="0"/>
        </a:xfrm>
      </p:grpSpPr>
      <p:sp>
        <p:nvSpPr>
          <p:cNvPr id="1112" name="Google Shape;1112;p80"/>
          <p:cNvSpPr txBox="1"/>
          <p:nvPr>
            <p:ph type="title"/>
          </p:nvPr>
        </p:nvSpPr>
        <p:spPr>
          <a:xfrm>
            <a:off x="324000" y="8249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spinner has a probability of     for landing on ‘win’?</a:t>
            </a:r>
            <a:endParaRPr/>
          </a:p>
        </p:txBody>
      </p:sp>
      <p:sp>
        <p:nvSpPr>
          <p:cNvPr id="1113" name="Google Shape;1113;p8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114" name="Google Shape;1114;p80"/>
          <p:cNvSpPr/>
          <p:nvPr/>
        </p:nvSpPr>
        <p:spPr>
          <a:xfrm>
            <a:off x="737000" y="22206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5" name="Google Shape;1115;p80"/>
          <p:cNvSpPr/>
          <p:nvPr/>
        </p:nvSpPr>
        <p:spPr>
          <a:xfrm rot="8649824">
            <a:off x="751895" y="22355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6" name="Google Shape;1116;p80"/>
          <p:cNvSpPr/>
          <p:nvPr/>
        </p:nvSpPr>
        <p:spPr>
          <a:xfrm rot="-8629029">
            <a:off x="751996" y="22356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7" name="Google Shape;1117;p80"/>
          <p:cNvSpPr/>
          <p:nvPr/>
        </p:nvSpPr>
        <p:spPr>
          <a:xfrm rot="-4309758">
            <a:off x="752041" y="22358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8" name="Google Shape;1118;p80"/>
          <p:cNvSpPr/>
          <p:nvPr/>
        </p:nvSpPr>
        <p:spPr>
          <a:xfrm>
            <a:off x="752041" y="22358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9" name="Google Shape;1119;p80"/>
          <p:cNvSpPr txBox="1"/>
          <p:nvPr/>
        </p:nvSpPr>
        <p:spPr>
          <a:xfrm>
            <a:off x="1285875" y="3391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0"/>
          <p:cNvSpPr/>
          <p:nvPr/>
        </p:nvSpPr>
        <p:spPr>
          <a:xfrm rot="4312496">
            <a:off x="751874" y="22354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1" name="Google Shape;1121;p80"/>
          <p:cNvSpPr txBox="1"/>
          <p:nvPr/>
        </p:nvSpPr>
        <p:spPr>
          <a:xfrm>
            <a:off x="963375" y="2476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0"/>
          <p:cNvSpPr txBox="1"/>
          <p:nvPr/>
        </p:nvSpPr>
        <p:spPr>
          <a:xfrm>
            <a:off x="1617926" y="2476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0"/>
          <p:cNvSpPr txBox="1"/>
          <p:nvPr/>
        </p:nvSpPr>
        <p:spPr>
          <a:xfrm>
            <a:off x="1770326" y="3010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0"/>
          <p:cNvSpPr txBox="1"/>
          <p:nvPr/>
        </p:nvSpPr>
        <p:spPr>
          <a:xfrm>
            <a:off x="810975" y="3010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5" name="Google Shape;1125;p80"/>
          <p:cNvGrpSpPr/>
          <p:nvPr/>
        </p:nvGrpSpPr>
        <p:grpSpPr>
          <a:xfrm>
            <a:off x="1536309" y="2276542"/>
            <a:ext cx="93900" cy="816939"/>
            <a:chOff x="996050" y="213293"/>
            <a:chExt cx="93900" cy="909732"/>
          </a:xfrm>
        </p:grpSpPr>
        <p:cxnSp>
          <p:nvCxnSpPr>
            <p:cNvPr id="1126" name="Google Shape;1126;p8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27" name="Google Shape;1127;p8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28" name="Google Shape;1128;p80"/>
          <p:cNvSpPr/>
          <p:nvPr/>
        </p:nvSpPr>
        <p:spPr>
          <a:xfrm>
            <a:off x="3708800" y="22206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9" name="Google Shape;1129;p80"/>
          <p:cNvSpPr/>
          <p:nvPr/>
        </p:nvSpPr>
        <p:spPr>
          <a:xfrm rot="7199661">
            <a:off x="3723609" y="2235528"/>
            <a:ext cx="1666484" cy="1666484"/>
          </a:xfrm>
          <a:prstGeom prst="pie">
            <a:avLst>
              <a:gd name="adj1" fmla="val 9034165"/>
              <a:gd name="adj2" fmla="val 16225322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0" name="Google Shape;1130;p80"/>
          <p:cNvSpPr/>
          <p:nvPr/>
        </p:nvSpPr>
        <p:spPr>
          <a:xfrm rot="-7211867">
            <a:off x="3723677" y="2235588"/>
            <a:ext cx="1666446" cy="1666446"/>
          </a:xfrm>
          <a:prstGeom prst="pie">
            <a:avLst>
              <a:gd name="adj1" fmla="val 9034165"/>
              <a:gd name="adj2" fmla="val 16225322"/>
            </a:avLst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1" name="Google Shape;1131;p80"/>
          <p:cNvSpPr/>
          <p:nvPr/>
        </p:nvSpPr>
        <p:spPr>
          <a:xfrm>
            <a:off x="3723677" y="2235588"/>
            <a:ext cx="1666500" cy="1666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2" name="Google Shape;1132;p80"/>
          <p:cNvSpPr txBox="1"/>
          <p:nvPr/>
        </p:nvSpPr>
        <p:spPr>
          <a:xfrm>
            <a:off x="46659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0"/>
          <p:cNvSpPr txBox="1"/>
          <p:nvPr/>
        </p:nvSpPr>
        <p:spPr>
          <a:xfrm>
            <a:off x="4284926" y="3238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0"/>
          <p:cNvSpPr txBox="1"/>
          <p:nvPr/>
        </p:nvSpPr>
        <p:spPr>
          <a:xfrm>
            <a:off x="38277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5" name="Google Shape;1135;p80"/>
          <p:cNvGrpSpPr/>
          <p:nvPr/>
        </p:nvGrpSpPr>
        <p:grpSpPr>
          <a:xfrm>
            <a:off x="4508109" y="2305406"/>
            <a:ext cx="93900" cy="816939"/>
            <a:chOff x="996050" y="213293"/>
            <a:chExt cx="93900" cy="909732"/>
          </a:xfrm>
        </p:grpSpPr>
        <p:cxnSp>
          <p:nvCxnSpPr>
            <p:cNvPr id="1136" name="Google Shape;1136;p8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37" name="Google Shape;1137;p8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38" name="Google Shape;1138;p80"/>
          <p:cNvSpPr/>
          <p:nvPr/>
        </p:nvSpPr>
        <p:spPr>
          <a:xfrm>
            <a:off x="6680600" y="2220650"/>
            <a:ext cx="1695900" cy="169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9" name="Google Shape;1139;p80"/>
          <p:cNvSpPr/>
          <p:nvPr/>
        </p:nvSpPr>
        <p:spPr>
          <a:xfrm flipH="1">
            <a:off x="6695289" y="2235411"/>
            <a:ext cx="1666500" cy="1666500"/>
          </a:xfrm>
          <a:prstGeom prst="pie">
            <a:avLst>
              <a:gd name="adj1" fmla="val 5387953"/>
              <a:gd name="adj2" fmla="val 17083187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0" name="Google Shape;1140;p80"/>
          <p:cNvSpPr/>
          <p:nvPr/>
        </p:nvSpPr>
        <p:spPr>
          <a:xfrm>
            <a:off x="6695361" y="2235411"/>
            <a:ext cx="1666500" cy="1666500"/>
          </a:xfrm>
          <a:prstGeom prst="pie">
            <a:avLst>
              <a:gd name="adj1" fmla="val 3653295"/>
              <a:gd name="adj2" fmla="val 16198563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1" name="Google Shape;1141;p80"/>
          <p:cNvSpPr txBox="1"/>
          <p:nvPr/>
        </p:nvSpPr>
        <p:spPr>
          <a:xfrm>
            <a:off x="6830775" y="285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0"/>
          <p:cNvSpPr txBox="1"/>
          <p:nvPr/>
        </p:nvSpPr>
        <p:spPr>
          <a:xfrm>
            <a:off x="7637726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3" name="Google Shape;1143;p80"/>
          <p:cNvGrpSpPr/>
          <p:nvPr/>
        </p:nvGrpSpPr>
        <p:grpSpPr>
          <a:xfrm>
            <a:off x="7479909" y="2276542"/>
            <a:ext cx="93900" cy="816939"/>
            <a:chOff x="996050" y="213293"/>
            <a:chExt cx="93900" cy="909732"/>
          </a:xfrm>
        </p:grpSpPr>
        <p:cxnSp>
          <p:nvCxnSpPr>
            <p:cNvPr id="1144" name="Google Shape;1144;p8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45" name="Google Shape;1145;p8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1146" name="Google Shape;114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8" y="41570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8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000" y="707977"/>
            <a:ext cx="185378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1" name="Shape 1151"/>
        <p:cNvGrpSpPr/>
        <p:nvPr/>
      </p:nvGrpSpPr>
      <p:grpSpPr>
        <a:xfrm>
          <a:off x="0" y="0"/>
          <a:ext cx="0" cy="0"/>
        </a:xfrm>
      </p:grpSpPr>
      <p:sp>
        <p:nvSpPr>
          <p:cNvPr id="1152" name="Google Shape;1152;p81"/>
          <p:cNvSpPr txBox="1"/>
          <p:nvPr>
            <p:ph type="title" idx="4294967295"/>
          </p:nvPr>
        </p:nvSpPr>
        <p:spPr>
          <a:xfrm>
            <a:off x="324000" y="748775"/>
            <a:ext cx="8496000" cy="7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0"/>
              <a:t>What is the probability that this spinner lands on ‘win’, each time it is spun?</a:t>
            </a:r>
            <a:endParaRPr b="0"/>
          </a:p>
        </p:txBody>
      </p:sp>
      <p:sp>
        <p:nvSpPr>
          <p:cNvPr id="1153" name="Google Shape;115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154" name="Google Shape;1154;p81"/>
          <p:cNvSpPr/>
          <p:nvPr/>
        </p:nvSpPr>
        <p:spPr>
          <a:xfrm>
            <a:off x="3533570" y="1664454"/>
            <a:ext cx="2046300" cy="2046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5" name="Google Shape;1155;p81"/>
          <p:cNvSpPr txBox="1"/>
          <p:nvPr/>
        </p:nvSpPr>
        <p:spPr>
          <a:xfrm>
            <a:off x="3806717" y="2801175"/>
            <a:ext cx="689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1"/>
          <p:cNvSpPr/>
          <p:nvPr/>
        </p:nvSpPr>
        <p:spPr>
          <a:xfrm rot="3054941">
            <a:off x="3551503" y="1682300"/>
            <a:ext cx="2010902" cy="2010902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7" name="Google Shape;1157;p81"/>
          <p:cNvSpPr txBox="1"/>
          <p:nvPr/>
        </p:nvSpPr>
        <p:spPr>
          <a:xfrm>
            <a:off x="3806717" y="1973685"/>
            <a:ext cx="689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1"/>
          <p:cNvSpPr txBox="1"/>
          <p:nvPr/>
        </p:nvSpPr>
        <p:spPr>
          <a:xfrm>
            <a:off x="4598275" y="1890559"/>
            <a:ext cx="7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1"/>
          <p:cNvSpPr txBox="1"/>
          <p:nvPr/>
        </p:nvSpPr>
        <p:spPr>
          <a:xfrm>
            <a:off x="4688454" y="2801175"/>
            <a:ext cx="7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1"/>
          <p:cNvSpPr/>
          <p:nvPr/>
        </p:nvSpPr>
        <p:spPr>
          <a:xfrm rot="6175371">
            <a:off x="3551492" y="1682301"/>
            <a:ext cx="2010830" cy="2010830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61" name="Google Shape;1161;p81"/>
          <p:cNvSpPr/>
          <p:nvPr/>
        </p:nvSpPr>
        <p:spPr>
          <a:xfrm rot="9204491">
            <a:off x="3551736" y="1682644"/>
            <a:ext cx="2010583" cy="2010583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62" name="Google Shape;1162;p81"/>
          <p:cNvSpPr/>
          <p:nvPr/>
        </p:nvSpPr>
        <p:spPr>
          <a:xfrm rot="-9367668">
            <a:off x="3551809" y="1682822"/>
            <a:ext cx="2010388" cy="201038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63" name="Google Shape;1163;p81"/>
          <p:cNvSpPr/>
          <p:nvPr/>
        </p:nvSpPr>
        <p:spPr>
          <a:xfrm rot="-6355173">
            <a:off x="3551780" y="1682668"/>
            <a:ext cx="2010300" cy="201058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64" name="Google Shape;1164;p81"/>
          <p:cNvSpPr/>
          <p:nvPr/>
        </p:nvSpPr>
        <p:spPr>
          <a:xfrm rot="-3302748">
            <a:off x="3551827" y="1682857"/>
            <a:ext cx="2010224" cy="2010469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65" name="Google Shape;1165;p81"/>
          <p:cNvSpPr/>
          <p:nvPr/>
        </p:nvSpPr>
        <p:spPr>
          <a:xfrm rot="-191444">
            <a:off x="3551705" y="1682895"/>
            <a:ext cx="2010417" cy="2010417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66" name="Google Shape;1166;p81"/>
          <p:cNvSpPr txBox="1"/>
          <p:nvPr/>
        </p:nvSpPr>
        <p:spPr>
          <a:xfrm>
            <a:off x="4688454" y="2771221"/>
            <a:ext cx="7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1"/>
          <p:cNvSpPr txBox="1"/>
          <p:nvPr/>
        </p:nvSpPr>
        <p:spPr>
          <a:xfrm>
            <a:off x="3677068" y="2845751"/>
            <a:ext cx="7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1"/>
          <p:cNvSpPr txBox="1"/>
          <p:nvPr/>
        </p:nvSpPr>
        <p:spPr>
          <a:xfrm>
            <a:off x="3904491" y="1888588"/>
            <a:ext cx="7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1"/>
          <p:cNvSpPr txBox="1"/>
          <p:nvPr/>
        </p:nvSpPr>
        <p:spPr>
          <a:xfrm>
            <a:off x="3625938" y="2316361"/>
            <a:ext cx="7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1"/>
          <p:cNvSpPr txBox="1"/>
          <p:nvPr/>
        </p:nvSpPr>
        <p:spPr>
          <a:xfrm>
            <a:off x="4913156" y="2316361"/>
            <a:ext cx="7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1"/>
          <p:cNvSpPr txBox="1"/>
          <p:nvPr/>
        </p:nvSpPr>
        <p:spPr>
          <a:xfrm>
            <a:off x="4269547" y="3143851"/>
            <a:ext cx="7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2" name="Google Shape;1172;p81"/>
          <p:cNvGrpSpPr/>
          <p:nvPr/>
        </p:nvGrpSpPr>
        <p:grpSpPr>
          <a:xfrm>
            <a:off x="4498013" y="1731887"/>
            <a:ext cx="113300" cy="985694"/>
            <a:chOff x="996050" y="213293"/>
            <a:chExt cx="93900" cy="909732"/>
          </a:xfrm>
        </p:grpSpPr>
        <p:cxnSp>
          <p:nvCxnSpPr>
            <p:cNvPr id="1173" name="Google Shape;1173;p8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4" name="Google Shape;1174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75" name="Google Shape;1175;p81"/>
          <p:cNvSpPr txBox="1"/>
          <p:nvPr>
            <p:ph type="body" idx="1"/>
          </p:nvPr>
        </p:nvSpPr>
        <p:spPr>
          <a:xfrm>
            <a:off x="3577161" y="41557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P(win)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6" name="Google Shape;1176;p8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200" y="3967251"/>
            <a:ext cx="208400" cy="6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0" name="Shape 1180"/>
        <p:cNvGrpSpPr/>
        <p:nvPr/>
      </p:nvGrpSpPr>
      <p:grpSpPr>
        <a:xfrm>
          <a:off x="0" y="0"/>
          <a:ext cx="0" cy="0"/>
        </a:xfrm>
      </p:grpSpPr>
      <p:sp>
        <p:nvSpPr>
          <p:cNvPr id="1181" name="Google Shape;1181;p82"/>
          <p:cNvSpPr txBox="1"/>
          <p:nvPr>
            <p:ph type="body" idx="1"/>
          </p:nvPr>
        </p:nvSpPr>
        <p:spPr>
          <a:xfrm>
            <a:off x="324000" y="759300"/>
            <a:ext cx="8237700" cy="54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Here are four win/lose spinners.</a:t>
            </a:r>
            <a:endParaRPr sz="1600"/>
          </a:p>
        </p:txBody>
      </p:sp>
      <p:sp>
        <p:nvSpPr>
          <p:cNvPr id="1182" name="Google Shape;1182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183" name="Google Shape;1183;p82"/>
          <p:cNvSpPr/>
          <p:nvPr/>
        </p:nvSpPr>
        <p:spPr>
          <a:xfrm>
            <a:off x="454120" y="2928368"/>
            <a:ext cx="1499700" cy="1499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4" name="Google Shape;1184;p82"/>
          <p:cNvSpPr/>
          <p:nvPr/>
        </p:nvSpPr>
        <p:spPr>
          <a:xfrm rot="8649678">
            <a:off x="467248" y="2941579"/>
            <a:ext cx="1473599" cy="147359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5" name="Google Shape;1185;p82"/>
          <p:cNvSpPr/>
          <p:nvPr/>
        </p:nvSpPr>
        <p:spPr>
          <a:xfrm rot="-8628683">
            <a:off x="467499" y="2941656"/>
            <a:ext cx="1473464" cy="1473464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6" name="Google Shape;1186;p82"/>
          <p:cNvSpPr/>
          <p:nvPr/>
        </p:nvSpPr>
        <p:spPr>
          <a:xfrm rot="-4309398">
            <a:off x="467457" y="2941973"/>
            <a:ext cx="1473320" cy="14733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7" name="Google Shape;1187;p82"/>
          <p:cNvSpPr/>
          <p:nvPr/>
        </p:nvSpPr>
        <p:spPr>
          <a:xfrm>
            <a:off x="467421" y="2941790"/>
            <a:ext cx="1473300" cy="14733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8" name="Google Shape;1188;p82"/>
          <p:cNvSpPr/>
          <p:nvPr/>
        </p:nvSpPr>
        <p:spPr>
          <a:xfrm>
            <a:off x="572815" y="1218292"/>
            <a:ext cx="1262400" cy="1262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9" name="Google Shape;1189;p82"/>
          <p:cNvSpPr/>
          <p:nvPr/>
        </p:nvSpPr>
        <p:spPr>
          <a:xfrm rot="7199646">
            <a:off x="583862" y="1229376"/>
            <a:ext cx="1240421" cy="124042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0" name="Google Shape;1190;p82"/>
          <p:cNvSpPr/>
          <p:nvPr/>
        </p:nvSpPr>
        <p:spPr>
          <a:xfrm rot="-7212334">
            <a:off x="583809" y="1229512"/>
            <a:ext cx="1240301" cy="124030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1" name="Google Shape;1191;p82"/>
          <p:cNvSpPr/>
          <p:nvPr/>
        </p:nvSpPr>
        <p:spPr>
          <a:xfrm>
            <a:off x="583888" y="1229410"/>
            <a:ext cx="1240500" cy="1240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2" name="Google Shape;1192;p82"/>
          <p:cNvSpPr txBox="1"/>
          <p:nvPr/>
        </p:nvSpPr>
        <p:spPr>
          <a:xfrm>
            <a:off x="1278573" y="1522500"/>
            <a:ext cx="57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2"/>
          <p:cNvSpPr txBox="1"/>
          <p:nvPr/>
        </p:nvSpPr>
        <p:spPr>
          <a:xfrm>
            <a:off x="928744" y="1976251"/>
            <a:ext cx="57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2"/>
          <p:cNvSpPr txBox="1"/>
          <p:nvPr/>
        </p:nvSpPr>
        <p:spPr>
          <a:xfrm>
            <a:off x="585150" y="1522500"/>
            <a:ext cx="57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2"/>
          <p:cNvSpPr txBox="1"/>
          <p:nvPr/>
        </p:nvSpPr>
        <p:spPr>
          <a:xfrm>
            <a:off x="939495" y="3963606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2"/>
          <p:cNvSpPr/>
          <p:nvPr/>
        </p:nvSpPr>
        <p:spPr>
          <a:xfrm rot="4312495">
            <a:off x="467341" y="2941407"/>
            <a:ext cx="1473516" cy="1473516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7" name="Google Shape;1197;p82"/>
          <p:cNvSpPr txBox="1"/>
          <p:nvPr/>
        </p:nvSpPr>
        <p:spPr>
          <a:xfrm>
            <a:off x="654305" y="3154995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2"/>
          <p:cNvSpPr txBox="1"/>
          <p:nvPr/>
        </p:nvSpPr>
        <p:spPr>
          <a:xfrm>
            <a:off x="1367900" y="362670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2"/>
          <p:cNvSpPr txBox="1"/>
          <p:nvPr/>
        </p:nvSpPr>
        <p:spPr>
          <a:xfrm>
            <a:off x="469300" y="362667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0" name="Google Shape;1200;p82"/>
          <p:cNvGrpSpPr/>
          <p:nvPr/>
        </p:nvGrpSpPr>
        <p:grpSpPr>
          <a:xfrm>
            <a:off x="1160948" y="2977792"/>
            <a:ext cx="83036" cy="722418"/>
            <a:chOff x="996050" y="213293"/>
            <a:chExt cx="93900" cy="909732"/>
          </a:xfrm>
        </p:grpSpPr>
        <p:cxnSp>
          <p:nvCxnSpPr>
            <p:cNvPr id="1201" name="Google Shape;1201;p8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02" name="Google Shape;1202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03" name="Google Shape;1203;p82"/>
          <p:cNvGrpSpPr/>
          <p:nvPr/>
        </p:nvGrpSpPr>
        <p:grpSpPr>
          <a:xfrm>
            <a:off x="1167832" y="1281375"/>
            <a:ext cx="69899" cy="608065"/>
            <a:chOff x="996050" y="213293"/>
            <a:chExt cx="93900" cy="909732"/>
          </a:xfrm>
        </p:grpSpPr>
        <p:cxnSp>
          <p:nvCxnSpPr>
            <p:cNvPr id="1204" name="Google Shape;1204;p8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05" name="Google Shape;1205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06" name="Google Shape;1206;p82"/>
          <p:cNvSpPr/>
          <p:nvPr/>
        </p:nvSpPr>
        <p:spPr>
          <a:xfrm>
            <a:off x="2477750" y="3504200"/>
            <a:ext cx="1262400" cy="1262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7" name="Google Shape;1207;p82"/>
          <p:cNvSpPr/>
          <p:nvPr/>
        </p:nvSpPr>
        <p:spPr>
          <a:xfrm flipH="1">
            <a:off x="2488700" y="3515188"/>
            <a:ext cx="1240500" cy="1240500"/>
          </a:xfrm>
          <a:prstGeom prst="pie">
            <a:avLst>
              <a:gd name="adj1" fmla="val 5387953"/>
              <a:gd name="adj2" fmla="val 10824216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8" name="Google Shape;1208;p82"/>
          <p:cNvSpPr/>
          <p:nvPr/>
        </p:nvSpPr>
        <p:spPr>
          <a:xfrm>
            <a:off x="2488738" y="3515188"/>
            <a:ext cx="1240500" cy="1240500"/>
          </a:xfrm>
          <a:prstGeom prst="pie">
            <a:avLst>
              <a:gd name="adj1" fmla="val 5387953"/>
              <a:gd name="adj2" fmla="val 1085822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9" name="Google Shape;1209;p82"/>
          <p:cNvSpPr/>
          <p:nvPr/>
        </p:nvSpPr>
        <p:spPr>
          <a:xfrm>
            <a:off x="2488738" y="3515188"/>
            <a:ext cx="1240500" cy="12405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0" name="Google Shape;1210;p82"/>
          <p:cNvSpPr txBox="1"/>
          <p:nvPr/>
        </p:nvSpPr>
        <p:spPr>
          <a:xfrm>
            <a:off x="2514547" y="3694975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2"/>
          <p:cNvSpPr/>
          <p:nvPr/>
        </p:nvSpPr>
        <p:spPr>
          <a:xfrm flipH="1">
            <a:off x="2488700" y="3515188"/>
            <a:ext cx="1240500" cy="12405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2" name="Google Shape;1212;p82"/>
          <p:cNvSpPr txBox="1"/>
          <p:nvPr/>
        </p:nvSpPr>
        <p:spPr>
          <a:xfrm>
            <a:off x="3114027" y="369497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3" name="Google Shape;1213;p82"/>
          <p:cNvGrpSpPr/>
          <p:nvPr/>
        </p:nvGrpSpPr>
        <p:grpSpPr>
          <a:xfrm>
            <a:off x="3072759" y="3552976"/>
            <a:ext cx="69899" cy="608156"/>
            <a:chOff x="996050" y="213293"/>
            <a:chExt cx="93900" cy="909732"/>
          </a:xfrm>
        </p:grpSpPr>
        <p:cxnSp>
          <p:nvCxnSpPr>
            <p:cNvPr id="1214" name="Google Shape;1214;p8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15" name="Google Shape;1215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16" name="Google Shape;1216;p82"/>
          <p:cNvSpPr txBox="1"/>
          <p:nvPr>
            <p:ph type="body" idx="1"/>
          </p:nvPr>
        </p:nvSpPr>
        <p:spPr>
          <a:xfrm>
            <a:off x="4316975" y="1065900"/>
            <a:ext cx="4503000" cy="54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For each spinner, find the probability that </a:t>
            </a:r>
            <a:br>
              <a:rPr lang="en-GB" sz="1600"/>
            </a:br>
            <a:r>
              <a:rPr lang="en-GB" sz="1600"/>
              <a:t>     it lands on ‘win’ in a single spin.</a:t>
            </a:r>
            <a:endParaRPr sz="1600"/>
          </a:p>
        </p:txBody>
      </p:sp>
      <p:sp>
        <p:nvSpPr>
          <p:cNvPr id="1217" name="Google Shape;1217;p82"/>
          <p:cNvSpPr txBox="1"/>
          <p:nvPr>
            <p:ph type="body" idx="1"/>
          </p:nvPr>
        </p:nvSpPr>
        <p:spPr>
          <a:xfrm>
            <a:off x="4316975" y="2437500"/>
            <a:ext cx="4503000" cy="103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b) Sofia wants to choose the spinner that </a:t>
            </a:r>
            <a:br>
              <a:rPr lang="en-GB" sz="1600"/>
            </a:br>
            <a:r>
              <a:rPr lang="en-GB" sz="1600"/>
              <a:t>    gives her the best chance of winning.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Which spinner should she choose?</a:t>
            </a:r>
            <a:endParaRPr sz="1600"/>
          </a:p>
        </p:txBody>
      </p:sp>
      <p:sp>
        <p:nvSpPr>
          <p:cNvPr id="1218" name="Google Shape;1218;p82"/>
          <p:cNvSpPr txBox="1"/>
          <p:nvPr>
            <p:ph type="body" idx="1"/>
          </p:nvPr>
        </p:nvSpPr>
        <p:spPr>
          <a:xfrm>
            <a:off x="4316975" y="4037700"/>
            <a:ext cx="45030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Which spinner is least likely to land on win?</a:t>
            </a:r>
            <a:endParaRPr sz="1600"/>
          </a:p>
        </p:txBody>
      </p:sp>
      <p:sp>
        <p:nvSpPr>
          <p:cNvPr id="1219" name="Google Shape;1219;p82"/>
          <p:cNvSpPr txBox="1"/>
          <p:nvPr>
            <p:ph type="body" idx="1"/>
          </p:nvPr>
        </p:nvSpPr>
        <p:spPr>
          <a:xfrm>
            <a:off x="454125" y="1218300"/>
            <a:ext cx="204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220" name="Google Shape;1220;p82"/>
          <p:cNvSpPr txBox="1"/>
          <p:nvPr>
            <p:ph type="body" idx="1"/>
          </p:nvPr>
        </p:nvSpPr>
        <p:spPr>
          <a:xfrm>
            <a:off x="2435325" y="3504300"/>
            <a:ext cx="204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221" name="Google Shape;1221;p82"/>
          <p:cNvSpPr txBox="1"/>
          <p:nvPr>
            <p:ph type="body" idx="1"/>
          </p:nvPr>
        </p:nvSpPr>
        <p:spPr>
          <a:xfrm>
            <a:off x="454125" y="2894700"/>
            <a:ext cx="204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222" name="Google Shape;1222;p82"/>
          <p:cNvSpPr txBox="1"/>
          <p:nvPr/>
        </p:nvSpPr>
        <p:spPr>
          <a:xfrm>
            <a:off x="1215500" y="316950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2"/>
          <p:cNvSpPr txBox="1"/>
          <p:nvPr/>
        </p:nvSpPr>
        <p:spPr>
          <a:xfrm>
            <a:off x="2514547" y="4152175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2"/>
          <p:cNvSpPr txBox="1"/>
          <p:nvPr/>
        </p:nvSpPr>
        <p:spPr>
          <a:xfrm>
            <a:off x="3124147" y="4152175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2"/>
          <p:cNvSpPr/>
          <p:nvPr/>
        </p:nvSpPr>
        <p:spPr>
          <a:xfrm>
            <a:off x="2261000" y="13824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6" name="Google Shape;1226;p82"/>
          <p:cNvSpPr/>
          <p:nvPr/>
        </p:nvSpPr>
        <p:spPr>
          <a:xfrm flipH="1">
            <a:off x="2275689" y="1397211"/>
            <a:ext cx="1666500" cy="16665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7" name="Google Shape;1227;p82"/>
          <p:cNvSpPr/>
          <p:nvPr/>
        </p:nvSpPr>
        <p:spPr>
          <a:xfrm>
            <a:off x="2275761" y="1397211"/>
            <a:ext cx="1666500" cy="16665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8" name="Google Shape;1228;p82"/>
          <p:cNvSpPr/>
          <p:nvPr/>
        </p:nvSpPr>
        <p:spPr>
          <a:xfrm>
            <a:off x="2275761" y="1397211"/>
            <a:ext cx="1666500" cy="1666500"/>
          </a:xfrm>
          <a:prstGeom prst="pie">
            <a:avLst>
              <a:gd name="adj1" fmla="val 10799941"/>
              <a:gd name="adj2" fmla="val 13483876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9" name="Google Shape;1229;p82"/>
          <p:cNvSpPr/>
          <p:nvPr/>
        </p:nvSpPr>
        <p:spPr>
          <a:xfrm flipH="1">
            <a:off x="2275689" y="1397211"/>
            <a:ext cx="1666500" cy="1666500"/>
          </a:xfrm>
          <a:prstGeom prst="pie">
            <a:avLst>
              <a:gd name="adj1" fmla="val 13450827"/>
              <a:gd name="adj2" fmla="val 162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0" name="Google Shape;1230;p82"/>
          <p:cNvSpPr/>
          <p:nvPr/>
        </p:nvSpPr>
        <p:spPr>
          <a:xfrm>
            <a:off x="2275761" y="1397211"/>
            <a:ext cx="1666500" cy="16665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1" name="Google Shape;1231;p82"/>
          <p:cNvSpPr/>
          <p:nvPr/>
        </p:nvSpPr>
        <p:spPr>
          <a:xfrm>
            <a:off x="2275761" y="1397211"/>
            <a:ext cx="1666500" cy="16665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2" name="Google Shape;1232;p82"/>
          <p:cNvSpPr txBox="1"/>
          <p:nvPr/>
        </p:nvSpPr>
        <p:spPr>
          <a:xfrm>
            <a:off x="2298651" y="21939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2"/>
          <p:cNvSpPr/>
          <p:nvPr/>
        </p:nvSpPr>
        <p:spPr>
          <a:xfrm flipH="1">
            <a:off x="2275689" y="1397211"/>
            <a:ext cx="1666500" cy="16665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4" name="Google Shape;1234;p82"/>
          <p:cNvSpPr/>
          <p:nvPr/>
        </p:nvSpPr>
        <p:spPr>
          <a:xfrm flipH="1">
            <a:off x="2275689" y="1397211"/>
            <a:ext cx="1666500" cy="16665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5" name="Google Shape;1235;p82"/>
          <p:cNvSpPr txBox="1"/>
          <p:nvPr/>
        </p:nvSpPr>
        <p:spPr>
          <a:xfrm>
            <a:off x="3073001" y="2553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2"/>
          <p:cNvSpPr txBox="1"/>
          <p:nvPr/>
        </p:nvSpPr>
        <p:spPr>
          <a:xfrm>
            <a:off x="3296322" y="216335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2"/>
          <p:cNvSpPr txBox="1"/>
          <p:nvPr/>
        </p:nvSpPr>
        <p:spPr>
          <a:xfrm>
            <a:off x="3365525" y="18447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8" name="Google Shape;1238;p82"/>
          <p:cNvGrpSpPr/>
          <p:nvPr/>
        </p:nvGrpSpPr>
        <p:grpSpPr>
          <a:xfrm>
            <a:off x="3060309" y="1447963"/>
            <a:ext cx="93900" cy="816939"/>
            <a:chOff x="996050" y="213293"/>
            <a:chExt cx="93900" cy="909732"/>
          </a:xfrm>
        </p:grpSpPr>
        <p:cxnSp>
          <p:nvCxnSpPr>
            <p:cNvPr id="1239" name="Google Shape;1239;p8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40" name="Google Shape;1240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41" name="Google Shape;1241;p82"/>
          <p:cNvSpPr txBox="1"/>
          <p:nvPr>
            <p:ph type="body" idx="1"/>
          </p:nvPr>
        </p:nvSpPr>
        <p:spPr>
          <a:xfrm>
            <a:off x="2282925" y="1370700"/>
            <a:ext cx="204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42" name="Google Shape;1242;p82"/>
          <p:cNvSpPr txBox="1"/>
          <p:nvPr/>
        </p:nvSpPr>
        <p:spPr>
          <a:xfrm>
            <a:off x="3123804" y="148321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2"/>
          <p:cNvSpPr txBox="1"/>
          <p:nvPr/>
        </p:nvSpPr>
        <p:spPr>
          <a:xfrm>
            <a:off x="2311341" y="18006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2"/>
          <p:cNvSpPr txBox="1"/>
          <p:nvPr/>
        </p:nvSpPr>
        <p:spPr>
          <a:xfrm>
            <a:off x="2540630" y="143920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2"/>
          <p:cNvSpPr txBox="1"/>
          <p:nvPr/>
        </p:nvSpPr>
        <p:spPr>
          <a:xfrm>
            <a:off x="2572674" y="257589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9" name="Shape 1249"/>
        <p:cNvGrpSpPr/>
        <p:nvPr/>
      </p:nvGrpSpPr>
      <p:grpSpPr>
        <a:xfrm>
          <a:off x="0" y="0"/>
          <a:ext cx="0" cy="0"/>
        </a:xfrm>
      </p:grpSpPr>
      <p:sp>
        <p:nvSpPr>
          <p:cNvPr id="1250" name="Google Shape;1250;p83"/>
          <p:cNvSpPr txBox="1"/>
          <p:nvPr>
            <p:ph type="body" idx="1"/>
          </p:nvPr>
        </p:nvSpPr>
        <p:spPr>
          <a:xfrm>
            <a:off x="324000" y="759300"/>
            <a:ext cx="8237700" cy="54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Alex, Jun and Sam spin the spinner 40 times in total. </a:t>
            </a:r>
            <a:br>
              <a:rPr lang="en-GB" sz="1600"/>
            </a:br>
            <a:r>
              <a:rPr lang="en-GB" sz="1600"/>
              <a:t>    They get a point every time the spinner lands on their name.</a:t>
            </a:r>
            <a:endParaRPr sz="1600"/>
          </a:p>
        </p:txBody>
      </p:sp>
      <p:sp>
        <p:nvSpPr>
          <p:cNvPr id="1251" name="Google Shape;1251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252" name="Google Shape;1252;p83"/>
          <p:cNvSpPr/>
          <p:nvPr/>
        </p:nvSpPr>
        <p:spPr>
          <a:xfrm>
            <a:off x="6139275" y="1377400"/>
            <a:ext cx="2010900" cy="2010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3" name="Google Shape;1253;p83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5387953"/>
              <a:gd name="adj2" fmla="val 10824216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4" name="Google Shape;1254;p83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5387953"/>
              <a:gd name="adj2" fmla="val 8080958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5" name="Google Shape;1255;p83"/>
          <p:cNvSpPr txBox="1"/>
          <p:nvPr/>
        </p:nvSpPr>
        <p:spPr>
          <a:xfrm>
            <a:off x="6519022" y="2765450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3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10799941"/>
              <a:gd name="adj2" fmla="val 13483876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7" name="Google Shape;1257;p83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13450827"/>
              <a:gd name="adj2" fmla="val 16200000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8" name="Google Shape;1258;p83"/>
          <p:cNvSpPr txBox="1"/>
          <p:nvPr/>
        </p:nvSpPr>
        <p:spPr>
          <a:xfrm>
            <a:off x="7168026" y="1505066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3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0" name="Google Shape;1260;p83"/>
          <p:cNvSpPr txBox="1"/>
          <p:nvPr/>
        </p:nvSpPr>
        <p:spPr>
          <a:xfrm>
            <a:off x="6564015" y="1482480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83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2" name="Google Shape;1262;p83"/>
          <p:cNvSpPr txBox="1"/>
          <p:nvPr/>
        </p:nvSpPr>
        <p:spPr>
          <a:xfrm>
            <a:off x="6183917" y="2339554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3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10765400"/>
              <a:gd name="adj2" fmla="val 13465582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4" name="Google Shape;1264;p83"/>
          <p:cNvSpPr txBox="1"/>
          <p:nvPr/>
        </p:nvSpPr>
        <p:spPr>
          <a:xfrm>
            <a:off x="6251424" y="1899186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3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6" name="Google Shape;1266;p83"/>
          <p:cNvSpPr txBox="1"/>
          <p:nvPr/>
        </p:nvSpPr>
        <p:spPr>
          <a:xfrm>
            <a:off x="7102059" y="2765458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3"/>
          <p:cNvSpPr txBox="1"/>
          <p:nvPr/>
        </p:nvSpPr>
        <p:spPr>
          <a:xfrm>
            <a:off x="7439688" y="2373341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3"/>
          <p:cNvSpPr txBox="1"/>
          <p:nvPr/>
        </p:nvSpPr>
        <p:spPr>
          <a:xfrm>
            <a:off x="7448902" y="1925579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9" name="Google Shape;1269;p83"/>
          <p:cNvGrpSpPr/>
          <p:nvPr/>
        </p:nvGrpSpPr>
        <p:grpSpPr>
          <a:xfrm>
            <a:off x="7087017" y="1455069"/>
            <a:ext cx="111337" cy="968591"/>
            <a:chOff x="996050" y="213293"/>
            <a:chExt cx="93900" cy="909732"/>
          </a:xfrm>
        </p:grpSpPr>
        <p:cxnSp>
          <p:nvCxnSpPr>
            <p:cNvPr id="1270" name="Google Shape;1270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71" name="Google Shape;1271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72" name="Google Shape;1272;p83"/>
          <p:cNvSpPr txBox="1"/>
          <p:nvPr>
            <p:ph type="body" idx="1"/>
          </p:nvPr>
        </p:nvSpPr>
        <p:spPr>
          <a:xfrm>
            <a:off x="324000" y="1597500"/>
            <a:ext cx="7660500" cy="3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a) Who should expect to get the most points?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b) Who should expect to get the fewest points?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c) What is the probability the spinner lands on Alex?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d) What is the probability the spinner lands on Jun?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e) What is the probability the spinner lands on Sam?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f) How many more points should Sam expect to get compared to Alex?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g) Will your answer to (f) necessarily happen when they spin the spinner? </a:t>
            </a:r>
            <a:br>
              <a:rPr lang="en-GB" sz="1600"/>
            </a:br>
            <a:r>
              <a:rPr lang="en-GB" sz="1600"/>
              <a:t>     Explain your answer.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6" name="Shape 1276"/>
        <p:cNvGrpSpPr/>
        <p:nvPr/>
      </p:nvGrpSpPr>
      <p:grpSpPr>
        <a:xfrm>
          <a:off x="0" y="0"/>
          <a:ext cx="0" cy="0"/>
        </a:xfrm>
      </p:grpSpPr>
      <p:sp>
        <p:nvSpPr>
          <p:cNvPr id="1277" name="Google Shape;1277;p84"/>
          <p:cNvSpPr txBox="1"/>
          <p:nvPr>
            <p:ph type="body" idx="1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Here are four win/lose spinners.</a:t>
            </a:r>
            <a:endParaRPr sz="1600"/>
          </a:p>
        </p:txBody>
      </p:sp>
      <p:sp>
        <p:nvSpPr>
          <p:cNvPr id="1278" name="Google Shape;1278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279" name="Google Shape;1279;p84"/>
          <p:cNvSpPr/>
          <p:nvPr/>
        </p:nvSpPr>
        <p:spPr>
          <a:xfrm>
            <a:off x="454120" y="2928368"/>
            <a:ext cx="1499700" cy="1499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0" name="Google Shape;1280;p84"/>
          <p:cNvSpPr/>
          <p:nvPr/>
        </p:nvSpPr>
        <p:spPr>
          <a:xfrm rot="8649678">
            <a:off x="467248" y="2941579"/>
            <a:ext cx="1473599" cy="147359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1" name="Google Shape;1281;p84"/>
          <p:cNvSpPr/>
          <p:nvPr/>
        </p:nvSpPr>
        <p:spPr>
          <a:xfrm rot="-8628683">
            <a:off x="467499" y="2941656"/>
            <a:ext cx="1473464" cy="1473464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2" name="Google Shape;1282;p84"/>
          <p:cNvSpPr/>
          <p:nvPr/>
        </p:nvSpPr>
        <p:spPr>
          <a:xfrm rot="-4309398">
            <a:off x="467457" y="2941973"/>
            <a:ext cx="1473320" cy="14733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3" name="Google Shape;1283;p84"/>
          <p:cNvSpPr/>
          <p:nvPr/>
        </p:nvSpPr>
        <p:spPr>
          <a:xfrm>
            <a:off x="467421" y="2941790"/>
            <a:ext cx="1473300" cy="14733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4" name="Google Shape;1284;p84"/>
          <p:cNvSpPr/>
          <p:nvPr/>
        </p:nvSpPr>
        <p:spPr>
          <a:xfrm>
            <a:off x="572815" y="1218292"/>
            <a:ext cx="1262400" cy="1262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5" name="Google Shape;1285;p84"/>
          <p:cNvSpPr/>
          <p:nvPr/>
        </p:nvSpPr>
        <p:spPr>
          <a:xfrm rot="7199646">
            <a:off x="583862" y="1229376"/>
            <a:ext cx="1240421" cy="124042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6" name="Google Shape;1286;p84"/>
          <p:cNvSpPr/>
          <p:nvPr/>
        </p:nvSpPr>
        <p:spPr>
          <a:xfrm rot="-7212334">
            <a:off x="583809" y="1229512"/>
            <a:ext cx="1240301" cy="124030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7" name="Google Shape;1287;p84"/>
          <p:cNvSpPr/>
          <p:nvPr/>
        </p:nvSpPr>
        <p:spPr>
          <a:xfrm>
            <a:off x="583888" y="1229410"/>
            <a:ext cx="1240500" cy="1240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8" name="Google Shape;1288;p84"/>
          <p:cNvSpPr txBox="1"/>
          <p:nvPr/>
        </p:nvSpPr>
        <p:spPr>
          <a:xfrm>
            <a:off x="1278573" y="1522500"/>
            <a:ext cx="57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4"/>
          <p:cNvSpPr txBox="1"/>
          <p:nvPr/>
        </p:nvSpPr>
        <p:spPr>
          <a:xfrm>
            <a:off x="928744" y="1976251"/>
            <a:ext cx="57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4"/>
          <p:cNvSpPr txBox="1"/>
          <p:nvPr/>
        </p:nvSpPr>
        <p:spPr>
          <a:xfrm>
            <a:off x="585150" y="1522500"/>
            <a:ext cx="57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4"/>
          <p:cNvSpPr txBox="1"/>
          <p:nvPr/>
        </p:nvSpPr>
        <p:spPr>
          <a:xfrm>
            <a:off x="939495" y="3963606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4"/>
          <p:cNvSpPr/>
          <p:nvPr/>
        </p:nvSpPr>
        <p:spPr>
          <a:xfrm rot="4312495">
            <a:off x="467341" y="2941407"/>
            <a:ext cx="1473516" cy="1473516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3" name="Google Shape;1293;p84"/>
          <p:cNvSpPr txBox="1"/>
          <p:nvPr/>
        </p:nvSpPr>
        <p:spPr>
          <a:xfrm>
            <a:off x="654305" y="3154995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4"/>
          <p:cNvSpPr txBox="1"/>
          <p:nvPr/>
        </p:nvSpPr>
        <p:spPr>
          <a:xfrm>
            <a:off x="1367900" y="362670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4"/>
          <p:cNvSpPr txBox="1"/>
          <p:nvPr/>
        </p:nvSpPr>
        <p:spPr>
          <a:xfrm>
            <a:off x="469300" y="362667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6" name="Google Shape;1296;p84"/>
          <p:cNvGrpSpPr/>
          <p:nvPr/>
        </p:nvGrpSpPr>
        <p:grpSpPr>
          <a:xfrm>
            <a:off x="1160948" y="2977792"/>
            <a:ext cx="83036" cy="722418"/>
            <a:chOff x="996050" y="213293"/>
            <a:chExt cx="93900" cy="909732"/>
          </a:xfrm>
        </p:grpSpPr>
        <p:cxnSp>
          <p:nvCxnSpPr>
            <p:cNvPr id="1297" name="Google Shape;1297;p8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98" name="Google Shape;1298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299" name="Google Shape;1299;p84"/>
          <p:cNvGrpSpPr/>
          <p:nvPr/>
        </p:nvGrpSpPr>
        <p:grpSpPr>
          <a:xfrm>
            <a:off x="1167832" y="1281375"/>
            <a:ext cx="69899" cy="608065"/>
            <a:chOff x="996050" y="213293"/>
            <a:chExt cx="93900" cy="909732"/>
          </a:xfrm>
        </p:grpSpPr>
        <p:cxnSp>
          <p:nvCxnSpPr>
            <p:cNvPr id="1300" name="Google Shape;1300;p8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01" name="Google Shape;1301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02" name="Google Shape;1302;p84"/>
          <p:cNvSpPr/>
          <p:nvPr/>
        </p:nvSpPr>
        <p:spPr>
          <a:xfrm>
            <a:off x="2477750" y="3504200"/>
            <a:ext cx="1262400" cy="1262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3" name="Google Shape;1303;p84"/>
          <p:cNvSpPr/>
          <p:nvPr/>
        </p:nvSpPr>
        <p:spPr>
          <a:xfrm flipH="1">
            <a:off x="2488700" y="3515188"/>
            <a:ext cx="1240500" cy="1240500"/>
          </a:xfrm>
          <a:prstGeom prst="pie">
            <a:avLst>
              <a:gd name="adj1" fmla="val 5387953"/>
              <a:gd name="adj2" fmla="val 10824216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4" name="Google Shape;1304;p84"/>
          <p:cNvSpPr/>
          <p:nvPr/>
        </p:nvSpPr>
        <p:spPr>
          <a:xfrm>
            <a:off x="2488738" y="3515188"/>
            <a:ext cx="1240500" cy="1240500"/>
          </a:xfrm>
          <a:prstGeom prst="pie">
            <a:avLst>
              <a:gd name="adj1" fmla="val 5387953"/>
              <a:gd name="adj2" fmla="val 1085822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5" name="Google Shape;1305;p84"/>
          <p:cNvSpPr/>
          <p:nvPr/>
        </p:nvSpPr>
        <p:spPr>
          <a:xfrm>
            <a:off x="2488738" y="3515188"/>
            <a:ext cx="1240500" cy="12405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6" name="Google Shape;1306;p84"/>
          <p:cNvSpPr txBox="1"/>
          <p:nvPr/>
        </p:nvSpPr>
        <p:spPr>
          <a:xfrm>
            <a:off x="2514547" y="3694975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4"/>
          <p:cNvSpPr/>
          <p:nvPr/>
        </p:nvSpPr>
        <p:spPr>
          <a:xfrm flipH="1">
            <a:off x="2488700" y="3515188"/>
            <a:ext cx="1240500" cy="12405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8" name="Google Shape;1308;p84"/>
          <p:cNvSpPr txBox="1"/>
          <p:nvPr/>
        </p:nvSpPr>
        <p:spPr>
          <a:xfrm>
            <a:off x="3114027" y="369497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9" name="Google Shape;1309;p84"/>
          <p:cNvGrpSpPr/>
          <p:nvPr/>
        </p:nvGrpSpPr>
        <p:grpSpPr>
          <a:xfrm>
            <a:off x="3072759" y="3552976"/>
            <a:ext cx="69899" cy="608156"/>
            <a:chOff x="996050" y="213293"/>
            <a:chExt cx="93900" cy="909732"/>
          </a:xfrm>
        </p:grpSpPr>
        <p:cxnSp>
          <p:nvCxnSpPr>
            <p:cNvPr id="1310" name="Google Shape;1310;p8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11" name="Google Shape;1311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12" name="Google Shape;1312;p84"/>
          <p:cNvSpPr/>
          <p:nvPr/>
        </p:nvSpPr>
        <p:spPr>
          <a:xfrm>
            <a:off x="2261000" y="13824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3" name="Google Shape;1313;p84"/>
          <p:cNvSpPr/>
          <p:nvPr/>
        </p:nvSpPr>
        <p:spPr>
          <a:xfrm flipH="1">
            <a:off x="2275689" y="1397211"/>
            <a:ext cx="1666500" cy="16665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4" name="Google Shape;1314;p84"/>
          <p:cNvSpPr/>
          <p:nvPr/>
        </p:nvSpPr>
        <p:spPr>
          <a:xfrm>
            <a:off x="2275761" y="1397211"/>
            <a:ext cx="1666500" cy="16665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5" name="Google Shape;1315;p84"/>
          <p:cNvSpPr/>
          <p:nvPr/>
        </p:nvSpPr>
        <p:spPr>
          <a:xfrm>
            <a:off x="2275761" y="1397211"/>
            <a:ext cx="1666500" cy="1666500"/>
          </a:xfrm>
          <a:prstGeom prst="pie">
            <a:avLst>
              <a:gd name="adj1" fmla="val 10799941"/>
              <a:gd name="adj2" fmla="val 13483876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6" name="Google Shape;1316;p84"/>
          <p:cNvSpPr/>
          <p:nvPr/>
        </p:nvSpPr>
        <p:spPr>
          <a:xfrm flipH="1">
            <a:off x="2275689" y="1397211"/>
            <a:ext cx="1666500" cy="1666500"/>
          </a:xfrm>
          <a:prstGeom prst="pie">
            <a:avLst>
              <a:gd name="adj1" fmla="val 13450827"/>
              <a:gd name="adj2" fmla="val 162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7" name="Google Shape;1317;p84"/>
          <p:cNvSpPr/>
          <p:nvPr/>
        </p:nvSpPr>
        <p:spPr>
          <a:xfrm>
            <a:off x="2275761" y="1397211"/>
            <a:ext cx="1666500" cy="16665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8" name="Google Shape;1318;p84"/>
          <p:cNvSpPr/>
          <p:nvPr/>
        </p:nvSpPr>
        <p:spPr>
          <a:xfrm>
            <a:off x="2275761" y="1397211"/>
            <a:ext cx="1666500" cy="16665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9" name="Google Shape;1319;p84"/>
          <p:cNvSpPr txBox="1"/>
          <p:nvPr/>
        </p:nvSpPr>
        <p:spPr>
          <a:xfrm>
            <a:off x="2298651" y="21939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4"/>
          <p:cNvSpPr/>
          <p:nvPr/>
        </p:nvSpPr>
        <p:spPr>
          <a:xfrm flipH="1">
            <a:off x="2275689" y="1397211"/>
            <a:ext cx="1666500" cy="16665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1" name="Google Shape;1321;p84"/>
          <p:cNvSpPr/>
          <p:nvPr/>
        </p:nvSpPr>
        <p:spPr>
          <a:xfrm flipH="1">
            <a:off x="2275689" y="1397211"/>
            <a:ext cx="1666500" cy="16665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2" name="Google Shape;1322;p84"/>
          <p:cNvSpPr txBox="1"/>
          <p:nvPr/>
        </p:nvSpPr>
        <p:spPr>
          <a:xfrm>
            <a:off x="3073001" y="2553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4"/>
          <p:cNvSpPr txBox="1"/>
          <p:nvPr/>
        </p:nvSpPr>
        <p:spPr>
          <a:xfrm>
            <a:off x="3296322" y="216335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4"/>
          <p:cNvSpPr txBox="1"/>
          <p:nvPr/>
        </p:nvSpPr>
        <p:spPr>
          <a:xfrm>
            <a:off x="3365525" y="18447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5" name="Google Shape;1325;p84"/>
          <p:cNvGrpSpPr/>
          <p:nvPr/>
        </p:nvGrpSpPr>
        <p:grpSpPr>
          <a:xfrm>
            <a:off x="3060309" y="1447963"/>
            <a:ext cx="93900" cy="816939"/>
            <a:chOff x="996050" y="213293"/>
            <a:chExt cx="93900" cy="909732"/>
          </a:xfrm>
        </p:grpSpPr>
        <p:cxnSp>
          <p:nvCxnSpPr>
            <p:cNvPr id="1326" name="Google Shape;1326;p8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27" name="Google Shape;1327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28" name="Google Shape;1328;p84"/>
          <p:cNvSpPr txBox="1"/>
          <p:nvPr>
            <p:ph type="body" idx="1"/>
          </p:nvPr>
        </p:nvSpPr>
        <p:spPr>
          <a:xfrm>
            <a:off x="4316975" y="989700"/>
            <a:ext cx="4503000" cy="54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For each spinner, find the probability that </a:t>
            </a:r>
            <a:br>
              <a:rPr lang="en-GB" sz="1600"/>
            </a:br>
            <a:r>
              <a:rPr lang="en-GB" sz="1600"/>
              <a:t>     it lands on ‘win’ in a single spin.</a:t>
            </a:r>
            <a:endParaRPr sz="1600"/>
          </a:p>
        </p:txBody>
      </p:sp>
      <p:sp>
        <p:nvSpPr>
          <p:cNvPr id="1329" name="Google Shape;1329;p84"/>
          <p:cNvSpPr txBox="1"/>
          <p:nvPr>
            <p:ph type="body" idx="1"/>
          </p:nvPr>
        </p:nvSpPr>
        <p:spPr>
          <a:xfrm>
            <a:off x="4316975" y="2894700"/>
            <a:ext cx="4503000" cy="103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Sofia wants to choose the spinner that </a:t>
            </a:r>
            <a:br>
              <a:rPr lang="en-GB" sz="1600"/>
            </a:br>
            <a:r>
              <a:rPr lang="en-GB" sz="1600"/>
              <a:t>    gives her the best chance of winning.</a:t>
            </a:r>
            <a:br>
              <a:rPr lang="en-GB" sz="1600"/>
            </a:br>
            <a:r>
              <a:rPr lang="en-GB" sz="1600"/>
              <a:t>    Which spinner should she choose?</a:t>
            </a:r>
            <a:endParaRPr sz="1600"/>
          </a:p>
        </p:txBody>
      </p:sp>
      <p:sp>
        <p:nvSpPr>
          <p:cNvPr id="1330" name="Google Shape;1330;p84"/>
          <p:cNvSpPr txBox="1"/>
          <p:nvPr>
            <p:ph type="body" idx="1"/>
          </p:nvPr>
        </p:nvSpPr>
        <p:spPr>
          <a:xfrm>
            <a:off x="4316975" y="4190100"/>
            <a:ext cx="45030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Which spinner is least likely to land on win?</a:t>
            </a:r>
            <a:endParaRPr sz="1600"/>
          </a:p>
        </p:txBody>
      </p:sp>
      <p:sp>
        <p:nvSpPr>
          <p:cNvPr id="1331" name="Google Shape;1331;p84"/>
          <p:cNvSpPr txBox="1"/>
          <p:nvPr>
            <p:ph type="body" idx="1"/>
          </p:nvPr>
        </p:nvSpPr>
        <p:spPr>
          <a:xfrm>
            <a:off x="454125" y="1218300"/>
            <a:ext cx="204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332" name="Google Shape;1332;p84"/>
          <p:cNvSpPr txBox="1"/>
          <p:nvPr>
            <p:ph type="body" idx="1"/>
          </p:nvPr>
        </p:nvSpPr>
        <p:spPr>
          <a:xfrm>
            <a:off x="2282925" y="1370700"/>
            <a:ext cx="204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333" name="Google Shape;1333;p84"/>
          <p:cNvSpPr txBox="1"/>
          <p:nvPr>
            <p:ph type="body" idx="1"/>
          </p:nvPr>
        </p:nvSpPr>
        <p:spPr>
          <a:xfrm>
            <a:off x="2435325" y="3504300"/>
            <a:ext cx="204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334" name="Google Shape;1334;p84"/>
          <p:cNvSpPr txBox="1"/>
          <p:nvPr>
            <p:ph type="body" idx="1"/>
          </p:nvPr>
        </p:nvSpPr>
        <p:spPr>
          <a:xfrm>
            <a:off x="454125" y="2894700"/>
            <a:ext cx="204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335" name="Google Shape;1335;p84"/>
          <p:cNvSpPr txBox="1"/>
          <p:nvPr/>
        </p:nvSpPr>
        <p:spPr>
          <a:xfrm>
            <a:off x="1215500" y="316950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4"/>
          <p:cNvSpPr txBox="1"/>
          <p:nvPr/>
        </p:nvSpPr>
        <p:spPr>
          <a:xfrm>
            <a:off x="3123804" y="148321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4"/>
          <p:cNvSpPr txBox="1"/>
          <p:nvPr/>
        </p:nvSpPr>
        <p:spPr>
          <a:xfrm>
            <a:off x="2311341" y="18006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4"/>
          <p:cNvSpPr txBox="1"/>
          <p:nvPr/>
        </p:nvSpPr>
        <p:spPr>
          <a:xfrm>
            <a:off x="2514547" y="4152175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4"/>
          <p:cNvSpPr txBox="1"/>
          <p:nvPr/>
        </p:nvSpPr>
        <p:spPr>
          <a:xfrm>
            <a:off x="3124147" y="4152175"/>
            <a:ext cx="55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84"/>
          <p:cNvSpPr txBox="1"/>
          <p:nvPr>
            <p:ph type="body" idx="1"/>
          </p:nvPr>
        </p:nvSpPr>
        <p:spPr>
          <a:xfrm>
            <a:off x="4546600" y="1680000"/>
            <a:ext cx="351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1" name="Google Shape;1341;p84"/>
          <p:cNvSpPr txBox="1"/>
          <p:nvPr>
            <p:ph type="body" idx="1"/>
          </p:nvPr>
        </p:nvSpPr>
        <p:spPr>
          <a:xfrm>
            <a:off x="5638800" y="1680000"/>
            <a:ext cx="351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2" name="Google Shape;1342;p84"/>
          <p:cNvSpPr txBox="1"/>
          <p:nvPr>
            <p:ph type="body" idx="1"/>
          </p:nvPr>
        </p:nvSpPr>
        <p:spPr>
          <a:xfrm>
            <a:off x="6731000" y="1680000"/>
            <a:ext cx="3513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3" name="Google Shape;1343;p84"/>
          <p:cNvSpPr txBox="1"/>
          <p:nvPr>
            <p:ph type="body" idx="1"/>
          </p:nvPr>
        </p:nvSpPr>
        <p:spPr>
          <a:xfrm>
            <a:off x="7823200" y="1680000"/>
            <a:ext cx="3120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4" name="Google Shape;1344;p84"/>
          <p:cNvSpPr txBox="1"/>
          <p:nvPr>
            <p:ph type="body" idx="1"/>
          </p:nvPr>
        </p:nvSpPr>
        <p:spPr>
          <a:xfrm>
            <a:off x="4546600" y="3775248"/>
            <a:ext cx="10485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spinner 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5" name="Google Shape;1345;p84"/>
          <p:cNvSpPr txBox="1"/>
          <p:nvPr/>
        </p:nvSpPr>
        <p:spPr>
          <a:xfrm>
            <a:off x="2540630" y="143920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84"/>
          <p:cNvSpPr txBox="1"/>
          <p:nvPr/>
        </p:nvSpPr>
        <p:spPr>
          <a:xfrm>
            <a:off x="2572674" y="257589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7" name="Google Shape;1347;p84" descr="&lt;math xmlns=&quot;http://www.w3.org/1998/Math/MathML&quot; display=&quot;block&quot; data-is-equatio=&quot;1&quot; data-latex=&quot;\frac{2}{3}\ \ \ \frac{5}{8}\ \ \ \ \ \frac{2}{5}\ \ \ \ \ \frac{3}{4}\ \ \ \ \ &quot;&gt;&lt;mfrac&gt;&lt;mn&gt;2&lt;/mn&gt;&lt;mn&gt;3&lt;/mn&gt;&lt;/mfrac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2&lt;/mn&gt;&lt;mn&gt;5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/math&gt;" title="two thirds five eighths two fifths three fourths"/>
          <p:cNvPicPr preferRelativeResize="0"/>
          <p:nvPr/>
        </p:nvPicPr>
        <p:blipFill>
          <a:blip r:embed="rId3">
            <a:alphaModFix/>
          </a:blip>
          <a:srcRect r="86377"/>
          <a:stretch>
            <a:fillRect/>
          </a:stretch>
        </p:blipFill>
        <p:spPr>
          <a:xfrm>
            <a:off x="4974000" y="1578200"/>
            <a:ext cx="204300" cy="4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84" descr="&lt;math xmlns=&quot;http://www.w3.org/1998/Math/MathML&quot; display=&quot;block&quot; data-is-equatio=&quot;1&quot; data-latex=&quot;\frac{2}{3}\ \ \ \frac{5}{8}\ \ \ \ \ \frac{2}{5}\ \ \ \ \ \frac{3}{4}\ \ \ \ \ &quot;&gt;&lt;mfrac&gt;&lt;mn&gt;2&lt;/mn&gt;&lt;mn&gt;3&lt;/mn&gt;&lt;/mfrac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2&lt;/mn&gt;&lt;mn&gt;5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/math&gt;" title="two thirds five eighths two fifths three fourths"/>
          <p:cNvPicPr preferRelativeResize="0"/>
          <p:nvPr/>
        </p:nvPicPr>
        <p:blipFill>
          <a:blip r:embed="rId3">
            <a:alphaModFix/>
          </a:blip>
          <a:srcRect l="19184" r="60016"/>
          <a:stretch>
            <a:fillRect/>
          </a:stretch>
        </p:blipFill>
        <p:spPr>
          <a:xfrm>
            <a:off x="5947500" y="1578200"/>
            <a:ext cx="311925" cy="4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p84" descr="&lt;math xmlns=&quot;http://www.w3.org/1998/Math/MathML&quot; display=&quot;block&quot; data-is-equatio=&quot;1&quot; data-latex=&quot;\frac{2}{3}\ \ \ \frac{5}{8}\ \ \ \ \ \frac{2}{5}\ \ \ \ \ \frac{3}{4}\ \ \ \ \ &quot;&gt;&lt;mfrac&gt;&lt;mn&gt;2&lt;/mn&gt;&lt;mn&gt;3&lt;/mn&gt;&lt;/mfrac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2&lt;/mn&gt;&lt;mn&gt;5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/math&gt;" title="two thirds five eighths two fifths three fourths"/>
          <p:cNvPicPr preferRelativeResize="0"/>
          <p:nvPr/>
        </p:nvPicPr>
        <p:blipFill>
          <a:blip r:embed="rId3">
            <a:alphaModFix/>
          </a:blip>
          <a:srcRect l="49294" r="23785"/>
          <a:stretch>
            <a:fillRect/>
          </a:stretch>
        </p:blipFill>
        <p:spPr>
          <a:xfrm>
            <a:off x="7008700" y="1578200"/>
            <a:ext cx="403700" cy="4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p84" descr="&lt;math xmlns=&quot;http://www.w3.org/1998/Math/MathML&quot; display=&quot;block&quot; data-is-equatio=&quot;1&quot; data-latex=&quot;\frac{2}{3}\ \ \ \frac{5}{8}\ \ \ \ \ \frac{2}{5}\ \ \ \ \ \frac{3}{4}\ \ \ \ \ &quot;&gt;&lt;mfrac&gt;&lt;mn&gt;2&lt;/mn&gt;&lt;mn&gt;3&lt;/mn&gt;&lt;/mfrac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2&lt;/mn&gt;&lt;mn&gt;5&lt;/mn&gt;&lt;/mfrac&gt;&lt;mtext&gt;&lt;/mtext&gt;&lt;mtext&gt;&lt;/mtext&gt;&lt;mtext&gt;&lt;/mtext&gt;&lt;mtext&gt;&lt;/mtext&gt;&lt;mtext&gt;&lt;/mtext&gt;&lt;mfrac&gt;&lt;mn&gt;3&lt;/mn&gt;&lt;mn&gt;4&lt;/mn&gt;&lt;/mfrac&gt;&lt;mtext&gt;&lt;/mtext&gt;&lt;mtext&gt;&lt;/mtext&gt;&lt;mtext&gt;&lt;/mtext&gt;&lt;mtext&gt;&lt;/mtext&gt;&lt;mtext&gt;&lt;/mtext&gt;&lt;/math&gt;" title="two thirds five eighths two fifths three fourths"/>
          <p:cNvPicPr preferRelativeResize="0"/>
          <p:nvPr/>
        </p:nvPicPr>
        <p:blipFill>
          <a:blip r:embed="rId3">
            <a:alphaModFix/>
          </a:blip>
          <a:srcRect l="81496"/>
          <a:stretch>
            <a:fillRect/>
          </a:stretch>
        </p:blipFill>
        <p:spPr>
          <a:xfrm>
            <a:off x="8101200" y="1578200"/>
            <a:ext cx="277500" cy="4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84"/>
          <p:cNvSpPr txBox="1"/>
          <p:nvPr>
            <p:ph type="body" idx="1"/>
          </p:nvPr>
        </p:nvSpPr>
        <p:spPr>
          <a:xfrm>
            <a:off x="4546600" y="2213400"/>
            <a:ext cx="38322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Other equivalent fractions, decimals or percentages may be used.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2" name="Google Shape;1352;p84"/>
          <p:cNvSpPr txBox="1"/>
          <p:nvPr>
            <p:ph type="body" idx="1"/>
          </p:nvPr>
        </p:nvSpPr>
        <p:spPr>
          <a:xfrm>
            <a:off x="4546600" y="4530940"/>
            <a:ext cx="1048500" cy="2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spinner 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6" name="Shape 1356"/>
        <p:cNvGrpSpPr/>
        <p:nvPr/>
      </p:nvGrpSpPr>
      <p:grpSpPr>
        <a:xfrm>
          <a:off x="0" y="0"/>
          <a:ext cx="0" cy="0"/>
        </a:xfrm>
      </p:grpSpPr>
      <p:sp>
        <p:nvSpPr>
          <p:cNvPr id="1357" name="Google Shape;1357;p8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Alex, Jun and Sam spin the spinner 40 times in total. </a:t>
            </a:r>
            <a:br>
              <a:rPr lang="en-GB" sz="1600"/>
            </a:br>
            <a:r>
              <a:rPr lang="en-GB" sz="1600"/>
              <a:t>    They get a point every time the spinner lands on their name.</a:t>
            </a:r>
            <a:endParaRPr sz="1600"/>
          </a:p>
        </p:txBody>
      </p:sp>
      <p:sp>
        <p:nvSpPr>
          <p:cNvPr id="1358" name="Google Shape;1358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359" name="Google Shape;1359;p85"/>
          <p:cNvSpPr/>
          <p:nvPr/>
        </p:nvSpPr>
        <p:spPr>
          <a:xfrm>
            <a:off x="6139275" y="1377400"/>
            <a:ext cx="2010900" cy="2010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0" name="Google Shape;1360;p85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5387953"/>
              <a:gd name="adj2" fmla="val 10824216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1" name="Google Shape;1361;p85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5387953"/>
              <a:gd name="adj2" fmla="val 8080958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2" name="Google Shape;1362;p85"/>
          <p:cNvSpPr txBox="1"/>
          <p:nvPr/>
        </p:nvSpPr>
        <p:spPr>
          <a:xfrm>
            <a:off x="6519022" y="2765450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5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10799941"/>
              <a:gd name="adj2" fmla="val 13483876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4" name="Google Shape;1364;p85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13450827"/>
              <a:gd name="adj2" fmla="val 16200000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5" name="Google Shape;1365;p85"/>
          <p:cNvSpPr txBox="1"/>
          <p:nvPr/>
        </p:nvSpPr>
        <p:spPr>
          <a:xfrm>
            <a:off x="7168026" y="1505066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5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7" name="Google Shape;1367;p85"/>
          <p:cNvSpPr txBox="1"/>
          <p:nvPr/>
        </p:nvSpPr>
        <p:spPr>
          <a:xfrm>
            <a:off x="6564015" y="1482480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5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9" name="Google Shape;1369;p85"/>
          <p:cNvSpPr txBox="1"/>
          <p:nvPr/>
        </p:nvSpPr>
        <p:spPr>
          <a:xfrm>
            <a:off x="6183917" y="2339554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5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10765400"/>
              <a:gd name="adj2" fmla="val 13465582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1" name="Google Shape;1371;p85"/>
          <p:cNvSpPr txBox="1"/>
          <p:nvPr/>
        </p:nvSpPr>
        <p:spPr>
          <a:xfrm>
            <a:off x="6251424" y="1899186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85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3" name="Google Shape;1373;p85"/>
          <p:cNvSpPr txBox="1"/>
          <p:nvPr/>
        </p:nvSpPr>
        <p:spPr>
          <a:xfrm>
            <a:off x="7102059" y="2765458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85"/>
          <p:cNvSpPr txBox="1"/>
          <p:nvPr/>
        </p:nvSpPr>
        <p:spPr>
          <a:xfrm>
            <a:off x="7439688" y="2373341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5"/>
          <p:cNvSpPr txBox="1"/>
          <p:nvPr/>
        </p:nvSpPr>
        <p:spPr>
          <a:xfrm>
            <a:off x="7448902" y="1925579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6" name="Google Shape;1376;p85"/>
          <p:cNvGrpSpPr/>
          <p:nvPr/>
        </p:nvGrpSpPr>
        <p:grpSpPr>
          <a:xfrm>
            <a:off x="7087017" y="1455069"/>
            <a:ext cx="111337" cy="968591"/>
            <a:chOff x="996050" y="213293"/>
            <a:chExt cx="93900" cy="909732"/>
          </a:xfrm>
        </p:grpSpPr>
        <p:cxnSp>
          <p:nvCxnSpPr>
            <p:cNvPr id="1377" name="Google Shape;1377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78" name="Google Shape;1378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85"/>
          <p:cNvSpPr txBox="1"/>
          <p:nvPr>
            <p:ph type="body" idx="1"/>
          </p:nvPr>
        </p:nvSpPr>
        <p:spPr>
          <a:xfrm>
            <a:off x="324000" y="1597500"/>
            <a:ext cx="7660500" cy="28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a) Who should expect to get the most points?</a:t>
            </a:r>
            <a:br>
              <a:rPr lang="en-GB" sz="1600"/>
            </a:br>
            <a:br>
              <a:rPr lang="en-GB" sz="1600"/>
            </a:br>
            <a:r>
              <a:rPr lang="en-GB" sz="1600"/>
              <a:t>b) Who should expect to get the fewest points?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c) What is the probability the spinner lands on Alex?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d) What is the probability the spinner lands on Jun?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e) What is the probability the spinner lands on Sam?</a:t>
            </a:r>
            <a:endParaRPr sz="1600"/>
          </a:p>
        </p:txBody>
      </p:sp>
      <p:sp>
        <p:nvSpPr>
          <p:cNvPr id="1380" name="Google Shape;1380;p85"/>
          <p:cNvSpPr txBox="1"/>
          <p:nvPr>
            <p:ph type="body" idx="1"/>
          </p:nvPr>
        </p:nvSpPr>
        <p:spPr>
          <a:xfrm>
            <a:off x="4896000" y="1597500"/>
            <a:ext cx="495000" cy="2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Sam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1" name="Google Shape;1381;p85"/>
          <p:cNvSpPr txBox="1"/>
          <p:nvPr>
            <p:ph type="body" idx="1"/>
          </p:nvPr>
        </p:nvSpPr>
        <p:spPr>
          <a:xfrm>
            <a:off x="5079940" y="2137208"/>
            <a:ext cx="495000" cy="2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Alex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82" name="Google Shape;1382;p85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3">
            <a:alphaModFix/>
          </a:blip>
          <a:srcRect r="76292"/>
          <a:stretch>
            <a:fillRect/>
          </a:stretch>
        </p:blipFill>
        <p:spPr>
          <a:xfrm>
            <a:off x="5582231" y="2792025"/>
            <a:ext cx="1921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85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3">
            <a:alphaModFix/>
          </a:blip>
          <a:srcRect l="38935" r="35300"/>
          <a:stretch>
            <a:fillRect/>
          </a:stretch>
        </p:blipFill>
        <p:spPr>
          <a:xfrm>
            <a:off x="5565548" y="3415650"/>
            <a:ext cx="2088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85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3">
            <a:alphaModFix/>
          </a:blip>
          <a:srcRect l="76292"/>
          <a:stretch>
            <a:fillRect/>
          </a:stretch>
        </p:blipFill>
        <p:spPr>
          <a:xfrm>
            <a:off x="5544140" y="4129475"/>
            <a:ext cx="1921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85"/>
          <p:cNvSpPr txBox="1"/>
          <p:nvPr>
            <p:ph type="body" idx="1"/>
          </p:nvPr>
        </p:nvSpPr>
        <p:spPr>
          <a:xfrm>
            <a:off x="6223000" y="3737400"/>
            <a:ext cx="2673300" cy="96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Other equivalent fractions, decimals or percentages may be used.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9" name="Shape 1389"/>
        <p:cNvGrpSpPr/>
        <p:nvPr/>
      </p:nvGrpSpPr>
      <p:grpSpPr>
        <a:xfrm>
          <a:off x="0" y="0"/>
          <a:ext cx="0" cy="0"/>
        </a:xfrm>
      </p:grpSpPr>
      <p:sp>
        <p:nvSpPr>
          <p:cNvPr id="1390" name="Google Shape;1390;p86"/>
          <p:cNvSpPr txBox="1"/>
          <p:nvPr>
            <p:ph type="body" idx="1"/>
          </p:nvPr>
        </p:nvSpPr>
        <p:spPr>
          <a:xfrm>
            <a:off x="324000" y="1445100"/>
            <a:ext cx="7660500" cy="28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f) How many more points should Sam expect to get </a:t>
            </a:r>
            <a:br>
              <a:rPr lang="en-GB" sz="1600"/>
            </a:br>
            <a:r>
              <a:rPr lang="en-GB" sz="1600"/>
              <a:t>    compared to Alex?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g) Will your answer to (f) necessarily happen when </a:t>
            </a:r>
            <a:br>
              <a:rPr lang="en-GB" sz="1600"/>
            </a:br>
            <a:r>
              <a:rPr lang="en-GB" sz="1600"/>
              <a:t>     they spin the spinner? Explain your answer.</a:t>
            </a:r>
            <a:endParaRPr sz="1600"/>
          </a:p>
        </p:txBody>
      </p:sp>
      <p:sp>
        <p:nvSpPr>
          <p:cNvPr id="1391" name="Google Shape;1391;p86"/>
          <p:cNvSpPr txBox="1"/>
          <p:nvPr>
            <p:ph type="body" idx="1"/>
          </p:nvPr>
        </p:nvSpPr>
        <p:spPr>
          <a:xfrm>
            <a:off x="324000" y="759300"/>
            <a:ext cx="8109900" cy="61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Alex, Jun and Sam spin the spinner 40 times in total. </a:t>
            </a:r>
            <a:br>
              <a:rPr lang="en-GB" sz="1600"/>
            </a:br>
            <a:r>
              <a:rPr lang="en-GB" sz="1600"/>
              <a:t>    They get a point every time the spinner lands on their name.</a:t>
            </a:r>
            <a:endParaRPr sz="1600"/>
          </a:p>
        </p:txBody>
      </p:sp>
      <p:sp>
        <p:nvSpPr>
          <p:cNvPr id="1392" name="Google Shape;1392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393" name="Google Shape;1393;p86"/>
          <p:cNvSpPr/>
          <p:nvPr/>
        </p:nvSpPr>
        <p:spPr>
          <a:xfrm>
            <a:off x="6139275" y="1377400"/>
            <a:ext cx="2010900" cy="2010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4" name="Google Shape;1394;p86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5387953"/>
              <a:gd name="adj2" fmla="val 10824216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5" name="Google Shape;1395;p86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5387953"/>
              <a:gd name="adj2" fmla="val 8080958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6" name="Google Shape;1396;p86"/>
          <p:cNvSpPr txBox="1"/>
          <p:nvPr/>
        </p:nvSpPr>
        <p:spPr>
          <a:xfrm>
            <a:off x="6519022" y="2765450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6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10799941"/>
              <a:gd name="adj2" fmla="val 13483876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8" name="Google Shape;1398;p86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13450827"/>
              <a:gd name="adj2" fmla="val 16200000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9" name="Google Shape;1399;p86"/>
          <p:cNvSpPr txBox="1"/>
          <p:nvPr/>
        </p:nvSpPr>
        <p:spPr>
          <a:xfrm>
            <a:off x="7168026" y="1505066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6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1" name="Google Shape;1401;p86"/>
          <p:cNvSpPr txBox="1"/>
          <p:nvPr/>
        </p:nvSpPr>
        <p:spPr>
          <a:xfrm>
            <a:off x="6564015" y="1482480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86"/>
          <p:cNvSpPr/>
          <p:nvPr/>
        </p:nvSpPr>
        <p:spPr>
          <a:xfrm>
            <a:off x="6156776" y="1394901"/>
            <a:ext cx="1976100" cy="19758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3" name="Google Shape;1403;p86"/>
          <p:cNvSpPr txBox="1"/>
          <p:nvPr/>
        </p:nvSpPr>
        <p:spPr>
          <a:xfrm>
            <a:off x="6183917" y="2339554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86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10765400"/>
              <a:gd name="adj2" fmla="val 13465582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5" name="Google Shape;1405;p86"/>
          <p:cNvSpPr txBox="1"/>
          <p:nvPr/>
        </p:nvSpPr>
        <p:spPr>
          <a:xfrm>
            <a:off x="6251424" y="1899186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86"/>
          <p:cNvSpPr/>
          <p:nvPr/>
        </p:nvSpPr>
        <p:spPr>
          <a:xfrm flipH="1">
            <a:off x="6156548" y="1394901"/>
            <a:ext cx="1976100" cy="19758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7" name="Google Shape;1407;p86"/>
          <p:cNvSpPr txBox="1"/>
          <p:nvPr/>
        </p:nvSpPr>
        <p:spPr>
          <a:xfrm>
            <a:off x="7102059" y="2765458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6"/>
          <p:cNvSpPr txBox="1"/>
          <p:nvPr/>
        </p:nvSpPr>
        <p:spPr>
          <a:xfrm>
            <a:off x="7439688" y="2373341"/>
            <a:ext cx="74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6"/>
          <p:cNvSpPr txBox="1"/>
          <p:nvPr/>
        </p:nvSpPr>
        <p:spPr>
          <a:xfrm>
            <a:off x="7448902" y="1925579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0" name="Google Shape;1410;p86"/>
          <p:cNvGrpSpPr/>
          <p:nvPr/>
        </p:nvGrpSpPr>
        <p:grpSpPr>
          <a:xfrm>
            <a:off x="7087017" y="1455069"/>
            <a:ext cx="111337" cy="968591"/>
            <a:chOff x="996050" y="213293"/>
            <a:chExt cx="93900" cy="909732"/>
          </a:xfrm>
        </p:grpSpPr>
        <p:cxnSp>
          <p:nvCxnSpPr>
            <p:cNvPr id="1411" name="Google Shape;1411;p86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12" name="Google Shape;1412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13" name="Google Shape;1413;p86"/>
          <p:cNvSpPr txBox="1"/>
          <p:nvPr>
            <p:ph type="body" idx="1"/>
          </p:nvPr>
        </p:nvSpPr>
        <p:spPr>
          <a:xfrm>
            <a:off x="2925125" y="2033456"/>
            <a:ext cx="1318800" cy="2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of 40 = 20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14" name="Google Shape;1414;p86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3">
            <a:alphaModFix/>
          </a:blip>
          <a:srcRect r="76292"/>
          <a:stretch>
            <a:fillRect/>
          </a:stretch>
        </p:blipFill>
        <p:spPr>
          <a:xfrm>
            <a:off x="2671190" y="2555003"/>
            <a:ext cx="1921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86" descr="&lt;math xmlns=&quot;http://www.w3.org/1998/Math/MathML&quot; display=&quot;block&quot; data-is-equatio=&quot;1&quot; data-latex=&quot;\frac{1}{8}\ \ \ \frac{3}{8}\ \ \ \frac{4}{8}&quot;&gt;&lt;mfrac&gt;&lt;mn&gt;1&lt;/mn&gt;&lt;mn&gt;8&lt;/mn&gt;&lt;/mfrac&gt;&lt;mtext&gt;&lt;/mtext&gt;&lt;mtext&gt;&lt;/mtext&gt;&lt;mtext&gt;&lt;/mtext&gt;&lt;mfrac&gt;&lt;mn&gt;3&lt;/mn&gt;&lt;mn&gt;8&lt;/mn&gt;&lt;/mfrac&gt;&lt;mtext&gt;&lt;/mtext&gt;&lt;mtext&gt;&lt;/mtext&gt;&lt;mtext&gt;&lt;/mtext&gt;&lt;mfrac&gt;&lt;mn&gt;4&lt;/mn&gt;&lt;mn&gt;8&lt;/mn&gt;&lt;/mfrac&gt;&lt;/math&gt;" title="one eighth three eighths four eighths"/>
          <p:cNvPicPr preferRelativeResize="0"/>
          <p:nvPr/>
        </p:nvPicPr>
        <p:blipFill>
          <a:blip r:embed="rId3">
            <a:alphaModFix/>
          </a:blip>
          <a:srcRect l="76292"/>
          <a:stretch>
            <a:fillRect/>
          </a:stretch>
        </p:blipFill>
        <p:spPr>
          <a:xfrm>
            <a:off x="2609433" y="1977448"/>
            <a:ext cx="1921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86"/>
          <p:cNvSpPr txBox="1"/>
          <p:nvPr>
            <p:ph type="body" idx="1"/>
          </p:nvPr>
        </p:nvSpPr>
        <p:spPr>
          <a:xfrm>
            <a:off x="2912509" y="2680903"/>
            <a:ext cx="1318800" cy="2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of 40 = 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7" name="Google Shape;1417;p86"/>
          <p:cNvSpPr txBox="1"/>
          <p:nvPr>
            <p:ph type="body" idx="1"/>
          </p:nvPr>
        </p:nvSpPr>
        <p:spPr>
          <a:xfrm>
            <a:off x="2696525" y="3176456"/>
            <a:ext cx="1318800" cy="2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20 − 5 = 15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8" name="Google Shape;1418;p86"/>
          <p:cNvSpPr txBox="1"/>
          <p:nvPr>
            <p:ph type="body" idx="1"/>
          </p:nvPr>
        </p:nvSpPr>
        <p:spPr>
          <a:xfrm>
            <a:off x="658050" y="4238600"/>
            <a:ext cx="7737900" cy="65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No. These results are only theoretical. The actual results may differ due to chance.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2" name="Shape 1422"/>
        <p:cNvGrpSpPr/>
        <p:nvPr/>
      </p:nvGrpSpPr>
      <p:grpSpPr>
        <a:xfrm>
          <a:off x="0" y="0"/>
          <a:ext cx="0" cy="0"/>
        </a:xfrm>
      </p:grpSpPr>
      <p:sp>
        <p:nvSpPr>
          <p:cNvPr id="1423" name="Google Shape;1423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 with spinners</a:t>
            </a:r>
            <a:endParaRPr/>
          </a:p>
        </p:txBody>
      </p:sp>
      <p:sp>
        <p:nvSpPr>
          <p:cNvPr id="1424" name="Google Shape;1424;p8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425" name="Google Shape;1425;p8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</a:t>
            </a:r>
            <a:r>
              <a:rPr lang="en-GB" b="1"/>
              <a:t>theoretical probabilities</a:t>
            </a:r>
            <a:r>
              <a:rPr lang="en-GB"/>
              <a:t> from lists (one event)</a:t>
            </a:r>
            <a:endParaRPr/>
          </a:p>
        </p:txBody>
      </p:sp>
      <p:pic>
        <p:nvPicPr>
          <p:cNvPr id="1426" name="Google Shape;142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89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0" name="Shape 1430"/>
        <p:cNvGrpSpPr/>
        <p:nvPr/>
      </p:nvGrpSpPr>
      <p:grpSpPr>
        <a:xfrm>
          <a:off x="0" y="0"/>
          <a:ext cx="0" cy="0"/>
        </a:xfrm>
      </p:grpSpPr>
      <p:pic>
        <p:nvPicPr>
          <p:cNvPr id="1431" name="Google Shape;143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2150" y="3208375"/>
            <a:ext cx="822851" cy="79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88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Jacob and Izzy are finding the probability of rolling the number 5 on a fair 6-sided dice.</a:t>
            </a:r>
            <a:endParaRPr sz="2000"/>
          </a:p>
        </p:txBody>
      </p:sp>
      <p:sp>
        <p:nvSpPr>
          <p:cNvPr id="1433" name="Google Shape;143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</a:t>
            </a:r>
            <a:endParaRPr/>
          </a:p>
        </p:txBody>
      </p:sp>
      <p:pic>
        <p:nvPicPr>
          <p:cNvPr id="1434" name="Google Shape;1434;p88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669776" y="1771758"/>
            <a:ext cx="2495288" cy="1589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88"/>
          <p:cNvSpPr txBox="1"/>
          <p:nvPr>
            <p:ph type="body" idx="1"/>
          </p:nvPr>
        </p:nvSpPr>
        <p:spPr>
          <a:xfrm>
            <a:off x="947459" y="1840364"/>
            <a:ext cx="2178600" cy="118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 think that the probability of rolling a 5 is     .  </a:t>
            </a:r>
            <a:endParaRPr sz="2000"/>
          </a:p>
        </p:txBody>
      </p:sp>
      <p:pic>
        <p:nvPicPr>
          <p:cNvPr id="1436" name="Google Shape;1436;p88" descr="&lt;math xmlns=&quot;http://www.w3.org/1998/Math/MathML&quot; display=&quot;block&quot; data-is-equatio=&quot;1&quot; data-latex=&quot;\frac{5}{6}\ \ \ \ \frac{1}{6}&quot;&gt;&lt;mfrac&gt;&lt;mn&gt;5&lt;/mn&gt;&lt;mn&gt;6&lt;/mn&gt;&lt;/mfrac&gt;&lt;mtext&gt;&lt;/mtext&gt;&lt;mtext&gt;&lt;/mtext&gt;&lt;mtext&gt;&lt;/mtext&gt;&lt;mtext&gt;&lt;/mtext&gt;&lt;mfrac&gt;&lt;mn&gt;1&lt;/mn&gt;&lt;mn&gt;6&lt;/mn&gt;&lt;/mfrac&gt;&lt;/math&gt;" title="five sixths one sixth"/>
          <p:cNvPicPr preferRelativeResize="0"/>
          <p:nvPr/>
        </p:nvPicPr>
        <p:blipFill>
          <a:blip r:embed="rId5">
            <a:alphaModFix/>
          </a:blip>
          <a:srcRect r="70703"/>
          <a:stretch>
            <a:fillRect/>
          </a:stretch>
        </p:blipFill>
        <p:spPr>
          <a:xfrm>
            <a:off x="2550901" y="2508672"/>
            <a:ext cx="176750" cy="50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p88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5731881" y="1911505"/>
            <a:ext cx="2495288" cy="1589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p88"/>
          <p:cNvSpPr txBox="1"/>
          <p:nvPr>
            <p:ph type="body" idx="1"/>
          </p:nvPr>
        </p:nvSpPr>
        <p:spPr>
          <a:xfrm flipH="1">
            <a:off x="5890382" y="1992764"/>
            <a:ext cx="2178600" cy="118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 think that the probability of rolling a 5 is     .  </a:t>
            </a:r>
            <a:endParaRPr sz="2000"/>
          </a:p>
        </p:txBody>
      </p:sp>
      <p:pic>
        <p:nvPicPr>
          <p:cNvPr id="1439" name="Google Shape;1439;p88" descr="&lt;math xmlns=&quot;http://www.w3.org/1998/Math/MathML&quot; display=&quot;block&quot; data-is-equatio=&quot;1&quot; data-latex=&quot;\frac{5}{6}\ \ \ \ \frac{1}{6}&quot;&gt;&lt;mfrac&gt;&lt;mn&gt;5&lt;/mn&gt;&lt;mn&gt;6&lt;/mn&gt;&lt;/mfrac&gt;&lt;mtext&gt;&lt;/mtext&gt;&lt;mtext&gt;&lt;/mtext&gt;&lt;mtext&gt;&lt;/mtext&gt;&lt;mtext&gt;&lt;/mtext&gt;&lt;mfrac&gt;&lt;mn&gt;1&lt;/mn&gt;&lt;mn&gt;6&lt;/mn&gt;&lt;/mfrac&gt;&lt;/math&gt;" title="five sixths one sixth"/>
          <p:cNvPicPr preferRelativeResize="0"/>
          <p:nvPr/>
        </p:nvPicPr>
        <p:blipFill>
          <a:blip r:embed="rId5">
            <a:alphaModFix/>
          </a:blip>
          <a:srcRect l="57125"/>
          <a:stretch>
            <a:fillRect/>
          </a:stretch>
        </p:blipFill>
        <p:spPr>
          <a:xfrm>
            <a:off x="7374109" y="2665066"/>
            <a:ext cx="258675" cy="5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88"/>
          <p:cNvSpPr txBox="1"/>
          <p:nvPr>
            <p:ph type="body" idx="1"/>
          </p:nvPr>
        </p:nvSpPr>
        <p:spPr>
          <a:xfrm>
            <a:off x="476400" y="4035900"/>
            <a:ext cx="6693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/>
          </a:p>
        </p:txBody>
      </p:sp>
      <p:sp>
        <p:nvSpPr>
          <p:cNvPr id="1441" name="Google Shape;1441;p88"/>
          <p:cNvSpPr txBox="1"/>
          <p:nvPr>
            <p:ph type="body" idx="1"/>
          </p:nvPr>
        </p:nvSpPr>
        <p:spPr>
          <a:xfrm>
            <a:off x="8039992" y="4035875"/>
            <a:ext cx="516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sp>
        <p:nvSpPr>
          <p:cNvPr id="1442" name="Google Shape;1442;p88"/>
          <p:cNvSpPr txBox="1"/>
          <p:nvPr>
            <p:ph type="body" idx="1"/>
          </p:nvPr>
        </p:nvSpPr>
        <p:spPr>
          <a:xfrm>
            <a:off x="3540622" y="4461750"/>
            <a:ext cx="20646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Who is correct?</a:t>
            </a:r>
            <a:endParaRPr sz="2000"/>
          </a:p>
        </p:txBody>
      </p:sp>
      <p:pic>
        <p:nvPicPr>
          <p:cNvPr id="1443" name="Google Shape;1443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76402" y="3265452"/>
            <a:ext cx="603325" cy="7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0336" y="1911500"/>
            <a:ext cx="1034787" cy="1116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8" name="Shape 1448"/>
        <p:cNvGrpSpPr/>
        <p:nvPr/>
      </p:nvGrpSpPr>
      <p:grpSpPr>
        <a:xfrm>
          <a:off x="0" y="0"/>
          <a:ext cx="0" cy="0"/>
        </a:xfrm>
      </p:grpSpPr>
      <p:pic>
        <p:nvPicPr>
          <p:cNvPr id="1449" name="Google Shape;1449;p89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4701695" y="1242878"/>
            <a:ext cx="3504225" cy="27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89"/>
          <p:cNvSpPr txBox="1"/>
          <p:nvPr>
            <p:ph type="body" idx="1"/>
          </p:nvPr>
        </p:nvSpPr>
        <p:spPr>
          <a:xfrm flipH="1">
            <a:off x="4909100" y="3048745"/>
            <a:ext cx="29172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So the probability is    . </a:t>
            </a:r>
            <a:endParaRPr sz="1700"/>
          </a:p>
        </p:txBody>
      </p:sp>
      <p:pic>
        <p:nvPicPr>
          <p:cNvPr id="1451" name="Google Shape;145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1049725" y="3754125"/>
            <a:ext cx="4877773" cy="10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89" descr="&lt;math xmlns=&quot;http://www.w3.org/1998/Math/MathML&quot; display=&quot;block&quot; data-is-equatio=&quot;1&quot; data-latex=&quot;\frac{5}{6}\ \ \ \ \frac{1}{6}&quot;&gt;&lt;mfrac&gt;&lt;mn&gt;5&lt;/mn&gt;&lt;mn&gt;6&lt;/mn&gt;&lt;/mfrac&gt;&lt;mtext&gt;&lt;/mtext&gt;&lt;mtext&gt;&lt;/mtext&gt;&lt;mtext&gt;&lt;/mtext&gt;&lt;mtext&gt;&lt;/mtext&gt;&lt;mfrac&gt;&lt;mn&gt;1&lt;/mn&gt;&lt;mn&gt;6&lt;/mn&gt;&lt;/mfrac&gt;&lt;/math&gt;" title="five sixths one sixth"/>
          <p:cNvPicPr preferRelativeResize="0"/>
          <p:nvPr/>
        </p:nvPicPr>
        <p:blipFill>
          <a:blip r:embed="rId5">
            <a:alphaModFix/>
          </a:blip>
          <a:srcRect l="57125"/>
          <a:stretch>
            <a:fillRect/>
          </a:stretch>
        </p:blipFill>
        <p:spPr>
          <a:xfrm>
            <a:off x="2589951" y="2431923"/>
            <a:ext cx="292126" cy="5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89"/>
          <p:cNvSpPr txBox="1"/>
          <p:nvPr>
            <p:ph type="body" idx="1"/>
          </p:nvPr>
        </p:nvSpPr>
        <p:spPr>
          <a:xfrm>
            <a:off x="324000" y="835500"/>
            <a:ext cx="8496000" cy="5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probability that the dice lands on the number 5 is     .</a:t>
            </a:r>
            <a:endParaRPr sz="2000"/>
          </a:p>
        </p:txBody>
      </p:sp>
      <p:sp>
        <p:nvSpPr>
          <p:cNvPr id="1454" name="Google Shape;145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455" name="Google Shape;1455;p89"/>
          <p:cNvSpPr txBox="1"/>
          <p:nvPr>
            <p:ph type="body" idx="1"/>
          </p:nvPr>
        </p:nvSpPr>
        <p:spPr>
          <a:xfrm flipH="1">
            <a:off x="4909100" y="1453048"/>
            <a:ext cx="2917200" cy="95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The dice is </a:t>
            </a:r>
            <a:r>
              <a:rPr lang="en-GB" sz="1700">
                <a:solidFill>
                  <a:schemeClr val="accent5"/>
                </a:solidFill>
              </a:rPr>
              <a:t>equally likely</a:t>
            </a:r>
            <a:r>
              <a:rPr lang="en-GB" sz="1700"/>
              <a:t> to land on each of the 6 faces of the dice.</a:t>
            </a:r>
            <a:endParaRPr sz="1700"/>
          </a:p>
        </p:txBody>
      </p:sp>
      <p:pic>
        <p:nvPicPr>
          <p:cNvPr id="1456" name="Google Shape;1456;p89" descr="&lt;math xmlns=&quot;http://www.w3.org/1998/Math/MathML&quot; display=&quot;block&quot; data-is-equatio=&quot;1&quot; data-latex=&quot;\frac{5}{6}\ \ \ \ \frac{1}{6}&quot;&gt;&lt;mfrac&gt;&lt;mn&gt;5&lt;/mn&gt;&lt;mn&gt;6&lt;/mn&gt;&lt;/mfrac&gt;&lt;mtext&gt;&lt;/mtext&gt;&lt;mtext&gt;&lt;/mtext&gt;&lt;mtext&gt;&lt;/mtext&gt;&lt;mtext&gt;&lt;/mtext&gt;&lt;mfrac&gt;&lt;mn&gt;1&lt;/mn&gt;&lt;mn&gt;6&lt;/mn&gt;&lt;/mfrac&gt;&lt;/math&gt;" title="five sixths one sixth"/>
          <p:cNvPicPr preferRelativeResize="0"/>
          <p:nvPr/>
        </p:nvPicPr>
        <p:blipFill>
          <a:blip r:embed="rId5">
            <a:alphaModFix/>
          </a:blip>
          <a:srcRect l="57125"/>
          <a:stretch>
            <a:fillRect/>
          </a:stretch>
        </p:blipFill>
        <p:spPr>
          <a:xfrm>
            <a:off x="6918893" y="746357"/>
            <a:ext cx="258675" cy="5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89"/>
          <p:cNvSpPr txBox="1"/>
          <p:nvPr>
            <p:ph type="body" idx="1"/>
          </p:nvPr>
        </p:nvSpPr>
        <p:spPr>
          <a:xfrm>
            <a:off x="1935400" y="1641175"/>
            <a:ext cx="21585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</a:rPr>
              <a:t>ξ </a:t>
            </a:r>
            <a:r>
              <a:rPr lang="en-GB" sz="2000"/>
              <a:t>= {1, 2, 3, 4, 5, 6}</a:t>
            </a:r>
            <a:endParaRPr sz="2000"/>
          </a:p>
        </p:txBody>
      </p:sp>
      <p:sp>
        <p:nvSpPr>
          <p:cNvPr id="1458" name="Google Shape;1458;p89"/>
          <p:cNvSpPr txBox="1"/>
          <p:nvPr>
            <p:ph type="body" idx="1"/>
          </p:nvPr>
        </p:nvSpPr>
        <p:spPr>
          <a:xfrm>
            <a:off x="1900761" y="255557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P(5) = </a:t>
            </a:r>
            <a:endParaRPr sz="2000"/>
          </a:p>
        </p:txBody>
      </p:sp>
      <p:pic>
        <p:nvPicPr>
          <p:cNvPr id="1459" name="Google Shape;1459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76402" y="3265452"/>
            <a:ext cx="603325" cy="7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89"/>
          <p:cNvSpPr/>
          <p:nvPr/>
        </p:nvSpPr>
        <p:spPr>
          <a:xfrm>
            <a:off x="3520575" y="1676850"/>
            <a:ext cx="222300" cy="3036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1" name="Google Shape;1461;p89" descr="&lt;math xmlns=&quot;http://www.w3.org/1998/Math/MathML&quot; display=&quot;block&quot; data-is-equatio=&quot;1&quot; data-latex=&quot;\frac{5}{6}\ \ \ \ \frac{1}{6}&quot;&gt;&lt;mfrac&gt;&lt;mn&gt;5&lt;/mn&gt;&lt;mn&gt;6&lt;/mn&gt;&lt;/mfrac&gt;&lt;mtext&gt;&lt;/mtext&gt;&lt;mtext&gt;&lt;/mtext&gt;&lt;mtext&gt;&lt;/mtext&gt;&lt;mtext&gt;&lt;/mtext&gt;&lt;mfrac&gt;&lt;mn&gt;1&lt;/mn&gt;&lt;mn&gt;6&lt;/mn&gt;&lt;/mfrac&gt;&lt;/math&gt;" title="five sixths one sixth"/>
          <p:cNvPicPr preferRelativeResize="0"/>
          <p:nvPr/>
        </p:nvPicPr>
        <p:blipFill>
          <a:blip r:embed="rId5">
            <a:alphaModFix/>
          </a:blip>
          <a:srcRect l="57125"/>
          <a:stretch>
            <a:fillRect/>
          </a:stretch>
        </p:blipFill>
        <p:spPr>
          <a:xfrm>
            <a:off x="6968722" y="2991534"/>
            <a:ext cx="222300" cy="432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89"/>
          <p:cNvSpPr txBox="1"/>
          <p:nvPr>
            <p:ph type="body" idx="1"/>
          </p:nvPr>
        </p:nvSpPr>
        <p:spPr>
          <a:xfrm flipH="1">
            <a:off x="4909100" y="2402523"/>
            <a:ext cx="2917200" cy="5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The number 5 is written on </a:t>
            </a:r>
            <a:r>
              <a:rPr lang="en-GB" sz="1700">
                <a:solidFill>
                  <a:schemeClr val="accent5"/>
                </a:solidFill>
              </a:rPr>
              <a:t>1 out of the 6</a:t>
            </a:r>
            <a:r>
              <a:rPr lang="en-GB" sz="1700"/>
              <a:t> faces. </a:t>
            </a:r>
            <a:endParaRPr sz="1700"/>
          </a:p>
        </p:txBody>
      </p:sp>
      <p:sp>
        <p:nvSpPr>
          <p:cNvPr id="1463" name="Google Shape;1463;p89"/>
          <p:cNvSpPr txBox="1"/>
          <p:nvPr>
            <p:ph type="body" idx="1"/>
          </p:nvPr>
        </p:nvSpPr>
        <p:spPr>
          <a:xfrm flipH="1">
            <a:off x="1197500" y="4119350"/>
            <a:ext cx="4665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So, the size of each number on the dice doesn’t affect the probability that it’s rolled. </a:t>
            </a:r>
            <a:endParaRPr sz="1700"/>
          </a:p>
        </p:txBody>
      </p:sp>
      <p:pic>
        <p:nvPicPr>
          <p:cNvPr id="1464" name="Google Shape;1464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12150" y="3208375"/>
            <a:ext cx="822851" cy="79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7527" y="1371623"/>
            <a:ext cx="883833" cy="9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9" name="Shape 1469"/>
        <p:cNvGrpSpPr/>
        <p:nvPr/>
      </p:nvGrpSpPr>
      <p:grpSpPr>
        <a:xfrm>
          <a:off x="0" y="0"/>
          <a:ext cx="0" cy="0"/>
        </a:xfrm>
      </p:grpSpPr>
      <p:sp>
        <p:nvSpPr>
          <p:cNvPr id="1470" name="Google Shape;1470;p90"/>
          <p:cNvSpPr/>
          <p:nvPr/>
        </p:nvSpPr>
        <p:spPr>
          <a:xfrm>
            <a:off x="5569801" y="1737950"/>
            <a:ext cx="2811089" cy="2617520"/>
          </a:xfrm>
          <a:custGeom>
            <a:rect l="l" t="t" r="r" b="b"/>
            <a:pathLst>
              <a:path w="69504" h="64718" extrusionOk="0">
                <a:moveTo>
                  <a:pt x="14914" y="1519"/>
                </a:moveTo>
                <a:cubicBezTo>
                  <a:pt x="19763" y="1519"/>
                  <a:pt x="25810" y="8052"/>
                  <a:pt x="24277" y="12653"/>
                </a:cubicBezTo>
                <a:cubicBezTo>
                  <a:pt x="20574" y="23765"/>
                  <a:pt x="5001" y="27966"/>
                  <a:pt x="995" y="38972"/>
                </a:cubicBezTo>
                <a:cubicBezTo>
                  <a:pt x="-1724" y="46442"/>
                  <a:pt x="1260" y="59099"/>
                  <a:pt x="8840" y="61494"/>
                </a:cubicBezTo>
                <a:cubicBezTo>
                  <a:pt x="21069" y="65357"/>
                  <a:pt x="34975" y="65777"/>
                  <a:pt x="47306" y="62254"/>
                </a:cubicBezTo>
                <a:cubicBezTo>
                  <a:pt x="54996" y="60057"/>
                  <a:pt x="66288" y="59212"/>
                  <a:pt x="68816" y="51625"/>
                </a:cubicBezTo>
                <a:cubicBezTo>
                  <a:pt x="72406" y="40852"/>
                  <a:pt x="60857" y="29803"/>
                  <a:pt x="53379" y="21258"/>
                </a:cubicBezTo>
                <a:cubicBezTo>
                  <a:pt x="50708" y="18205"/>
                  <a:pt x="45889" y="16553"/>
                  <a:pt x="44775" y="12653"/>
                </a:cubicBezTo>
                <a:cubicBezTo>
                  <a:pt x="43963" y="9810"/>
                  <a:pt x="42748" y="6332"/>
                  <a:pt x="44269" y="3796"/>
                </a:cubicBezTo>
                <a:cubicBezTo>
                  <a:pt x="45881" y="1108"/>
                  <a:pt x="49899" y="991"/>
                  <a:pt x="52873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471" name="Google Shape;1471;p90"/>
          <p:cNvSpPr/>
          <p:nvPr/>
        </p:nvSpPr>
        <p:spPr>
          <a:xfrm>
            <a:off x="6119891" y="2755878"/>
            <a:ext cx="411900" cy="411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2" name="Google Shape;1472;p90"/>
          <p:cNvSpPr txBox="1"/>
          <p:nvPr>
            <p:ph type="body" idx="1"/>
          </p:nvPr>
        </p:nvSpPr>
        <p:spPr>
          <a:xfrm>
            <a:off x="6188193" y="2856268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473" name="Google Shape;1473;p90"/>
          <p:cNvSpPr txBox="1"/>
          <p:nvPr>
            <p:ph type="body" idx="1"/>
          </p:nvPr>
        </p:nvSpPr>
        <p:spPr>
          <a:xfrm>
            <a:off x="324000" y="759300"/>
            <a:ext cx="84960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bag contains blue cubes         and green cubes        .</a:t>
            </a:r>
            <a:endParaRPr sz="2000"/>
          </a:p>
        </p:txBody>
      </p:sp>
      <p:sp>
        <p:nvSpPr>
          <p:cNvPr id="1474" name="Google Shape;147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475" name="Google Shape;1475;p90"/>
          <p:cNvSpPr/>
          <p:nvPr/>
        </p:nvSpPr>
        <p:spPr>
          <a:xfrm>
            <a:off x="6372068" y="788340"/>
            <a:ext cx="404100" cy="4041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6" name="Google Shape;1476;p90"/>
          <p:cNvSpPr txBox="1"/>
          <p:nvPr>
            <p:ph type="body" idx="1"/>
          </p:nvPr>
        </p:nvSpPr>
        <p:spPr>
          <a:xfrm>
            <a:off x="6428164" y="868266"/>
            <a:ext cx="142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</a:t>
            </a:r>
            <a:endParaRPr sz="2000"/>
          </a:p>
        </p:txBody>
      </p:sp>
      <p:sp>
        <p:nvSpPr>
          <p:cNvPr id="1477" name="Google Shape;1477;p90"/>
          <p:cNvSpPr/>
          <p:nvPr/>
        </p:nvSpPr>
        <p:spPr>
          <a:xfrm>
            <a:off x="7069738" y="3425969"/>
            <a:ext cx="411900" cy="411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8" name="Google Shape;1478;p90"/>
          <p:cNvSpPr txBox="1"/>
          <p:nvPr>
            <p:ph type="body" idx="1"/>
          </p:nvPr>
        </p:nvSpPr>
        <p:spPr>
          <a:xfrm>
            <a:off x="7138040" y="3526359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479" name="Google Shape;1479;p90"/>
          <p:cNvSpPr/>
          <p:nvPr/>
        </p:nvSpPr>
        <p:spPr>
          <a:xfrm>
            <a:off x="7419430" y="2726586"/>
            <a:ext cx="411900" cy="411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0" name="Google Shape;1480;p90"/>
          <p:cNvSpPr txBox="1"/>
          <p:nvPr>
            <p:ph type="body" idx="1"/>
          </p:nvPr>
        </p:nvSpPr>
        <p:spPr>
          <a:xfrm>
            <a:off x="7487732" y="2826977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481" name="Google Shape;1481;p90"/>
          <p:cNvSpPr/>
          <p:nvPr/>
        </p:nvSpPr>
        <p:spPr>
          <a:xfrm>
            <a:off x="5729294" y="3572168"/>
            <a:ext cx="411900" cy="411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2" name="Google Shape;1482;p90"/>
          <p:cNvSpPr txBox="1"/>
          <p:nvPr>
            <p:ph type="body" idx="1"/>
          </p:nvPr>
        </p:nvSpPr>
        <p:spPr>
          <a:xfrm>
            <a:off x="5793670" y="3684025"/>
            <a:ext cx="142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483" name="Google Shape;1483;p90"/>
          <p:cNvSpPr/>
          <p:nvPr/>
        </p:nvSpPr>
        <p:spPr>
          <a:xfrm>
            <a:off x="6510230" y="3845598"/>
            <a:ext cx="411900" cy="411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4" name="Google Shape;1484;p90"/>
          <p:cNvSpPr txBox="1"/>
          <p:nvPr>
            <p:ph type="body" idx="1"/>
          </p:nvPr>
        </p:nvSpPr>
        <p:spPr>
          <a:xfrm>
            <a:off x="6578532" y="3945989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485" name="Google Shape;1485;p90"/>
          <p:cNvSpPr/>
          <p:nvPr/>
        </p:nvSpPr>
        <p:spPr>
          <a:xfrm>
            <a:off x="7632390" y="3650996"/>
            <a:ext cx="411900" cy="4119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6" name="Google Shape;1486;p90"/>
          <p:cNvSpPr txBox="1"/>
          <p:nvPr>
            <p:ph type="body" idx="1"/>
          </p:nvPr>
        </p:nvSpPr>
        <p:spPr>
          <a:xfrm>
            <a:off x="7685298" y="3745580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1487" name="Google Shape;1487;p90"/>
          <p:cNvSpPr/>
          <p:nvPr/>
        </p:nvSpPr>
        <p:spPr>
          <a:xfrm>
            <a:off x="6414144" y="3284143"/>
            <a:ext cx="411900" cy="4119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8" name="Google Shape;1488;p90"/>
          <p:cNvSpPr txBox="1"/>
          <p:nvPr>
            <p:ph type="body" idx="1"/>
          </p:nvPr>
        </p:nvSpPr>
        <p:spPr>
          <a:xfrm>
            <a:off x="6467052" y="3378727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1489" name="Google Shape;1489;p90"/>
          <p:cNvSpPr/>
          <p:nvPr/>
        </p:nvSpPr>
        <p:spPr>
          <a:xfrm>
            <a:off x="3686055" y="783170"/>
            <a:ext cx="404100" cy="4041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0" name="Google Shape;1490;p90"/>
          <p:cNvSpPr txBox="1"/>
          <p:nvPr>
            <p:ph type="body" idx="1"/>
          </p:nvPr>
        </p:nvSpPr>
        <p:spPr>
          <a:xfrm>
            <a:off x="3755531" y="870952"/>
            <a:ext cx="142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491" name="Google Shape;1491;p90"/>
          <p:cNvSpPr/>
          <p:nvPr/>
        </p:nvSpPr>
        <p:spPr>
          <a:xfrm>
            <a:off x="6769643" y="2619601"/>
            <a:ext cx="411900" cy="4119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2" name="Google Shape;1492;p90"/>
          <p:cNvSpPr txBox="1"/>
          <p:nvPr>
            <p:ph type="body" idx="1"/>
          </p:nvPr>
        </p:nvSpPr>
        <p:spPr>
          <a:xfrm>
            <a:off x="6822551" y="2714184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1493" name="Google Shape;1493;p90"/>
          <p:cNvSpPr txBox="1"/>
          <p:nvPr>
            <p:ph type="body" idx="1"/>
          </p:nvPr>
        </p:nvSpPr>
        <p:spPr>
          <a:xfrm>
            <a:off x="324000" y="1946867"/>
            <a:ext cx="4863900" cy="75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Aisha closes her eyes and picks a cube out of the bag.</a:t>
            </a:r>
            <a:endParaRPr sz="2000"/>
          </a:p>
        </p:txBody>
      </p:sp>
      <p:sp>
        <p:nvSpPr>
          <p:cNvPr id="1494" name="Google Shape;1494;p90"/>
          <p:cNvSpPr txBox="1"/>
          <p:nvPr>
            <p:ph type="body" idx="1"/>
          </p:nvPr>
        </p:nvSpPr>
        <p:spPr>
          <a:xfrm>
            <a:off x="324000" y="2892900"/>
            <a:ext cx="4863900" cy="75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it is green?</a:t>
            </a:r>
            <a:endParaRPr sz="2000"/>
          </a:p>
        </p:txBody>
      </p:sp>
      <p:sp>
        <p:nvSpPr>
          <p:cNvPr id="1495" name="Google Shape;1495;p90"/>
          <p:cNvSpPr txBox="1"/>
          <p:nvPr>
            <p:ph type="body" idx="1"/>
          </p:nvPr>
        </p:nvSpPr>
        <p:spPr>
          <a:xfrm>
            <a:off x="300561" y="3869955"/>
            <a:ext cx="1842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P(green) = </a:t>
            </a:r>
            <a:endParaRPr sz="2000"/>
          </a:p>
        </p:txBody>
      </p:sp>
      <p:pic>
        <p:nvPicPr>
          <p:cNvPr id="1496" name="Google Shape;1496;p9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919" y="3709576"/>
            <a:ext cx="194725" cy="644386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90"/>
          <p:cNvSpPr txBox="1"/>
          <p:nvPr>
            <p:ph type="body" idx="1"/>
          </p:nvPr>
        </p:nvSpPr>
        <p:spPr>
          <a:xfrm>
            <a:off x="2352128" y="3546175"/>
            <a:ext cx="27108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number of green cubes</a:t>
            </a:r>
            <a:endParaRPr sz="1700"/>
          </a:p>
        </p:txBody>
      </p:sp>
      <p:sp>
        <p:nvSpPr>
          <p:cNvPr id="1498" name="Google Shape;1498;p90"/>
          <p:cNvSpPr txBox="1"/>
          <p:nvPr>
            <p:ph type="body" idx="1"/>
          </p:nvPr>
        </p:nvSpPr>
        <p:spPr>
          <a:xfrm>
            <a:off x="2352127" y="4079575"/>
            <a:ext cx="2519700" cy="3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total number of cubes</a:t>
            </a:r>
            <a:endParaRPr sz="1700"/>
          </a:p>
        </p:txBody>
      </p:sp>
      <p:cxnSp>
        <p:nvCxnSpPr>
          <p:cNvPr id="1499" name="Google Shape;1499;p90"/>
          <p:cNvCxnSpPr>
            <a:stCxn id="1497" idx="1"/>
          </p:cNvCxnSpPr>
          <p:nvPr/>
        </p:nvCxnSpPr>
        <p:spPr>
          <a:xfrm flipH="1">
            <a:off x="1893428" y="3697975"/>
            <a:ext cx="458700" cy="149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0" name="Google Shape;1500;p90"/>
          <p:cNvCxnSpPr>
            <a:stCxn id="1498" idx="1"/>
          </p:cNvCxnSpPr>
          <p:nvPr/>
        </p:nvCxnSpPr>
        <p:spPr>
          <a:xfrm rot="10800000">
            <a:off x="1899127" y="4135075"/>
            <a:ext cx="453000" cy="9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1" name="Google Shape;1501;p90"/>
          <p:cNvSpPr txBox="1"/>
          <p:nvPr>
            <p:ph type="body" idx="1"/>
          </p:nvPr>
        </p:nvSpPr>
        <p:spPr>
          <a:xfrm>
            <a:off x="324000" y="1362573"/>
            <a:ext cx="37377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All the cubes are equal size.</a:t>
            </a:r>
            <a:endParaRPr sz="2000"/>
          </a:p>
        </p:txBody>
      </p:sp>
      <p:pic>
        <p:nvPicPr>
          <p:cNvPr id="1502" name="Google Shape;1502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209200" y="1239599"/>
            <a:ext cx="523424" cy="988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6" name="Shape 1506"/>
        <p:cNvGrpSpPr/>
        <p:nvPr/>
      </p:nvGrpSpPr>
      <p:grpSpPr>
        <a:xfrm>
          <a:off x="0" y="0"/>
          <a:ext cx="0" cy="0"/>
        </a:xfrm>
      </p:grpSpPr>
      <p:pic>
        <p:nvPicPr>
          <p:cNvPr id="1507" name="Google Shape;1507;p91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281250" y="1754925"/>
            <a:ext cx="2683551" cy="20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91"/>
          <p:cNvSpPr/>
          <p:nvPr/>
        </p:nvSpPr>
        <p:spPr>
          <a:xfrm>
            <a:off x="5569801" y="1737950"/>
            <a:ext cx="2811089" cy="2617520"/>
          </a:xfrm>
          <a:custGeom>
            <a:rect l="l" t="t" r="r" b="b"/>
            <a:pathLst>
              <a:path w="69504" h="64718" extrusionOk="0">
                <a:moveTo>
                  <a:pt x="14914" y="1519"/>
                </a:moveTo>
                <a:cubicBezTo>
                  <a:pt x="19763" y="1519"/>
                  <a:pt x="25810" y="8052"/>
                  <a:pt x="24277" y="12653"/>
                </a:cubicBezTo>
                <a:cubicBezTo>
                  <a:pt x="20574" y="23765"/>
                  <a:pt x="5001" y="27966"/>
                  <a:pt x="995" y="38972"/>
                </a:cubicBezTo>
                <a:cubicBezTo>
                  <a:pt x="-1724" y="46442"/>
                  <a:pt x="1260" y="59099"/>
                  <a:pt x="8840" y="61494"/>
                </a:cubicBezTo>
                <a:cubicBezTo>
                  <a:pt x="21069" y="65357"/>
                  <a:pt x="34975" y="65777"/>
                  <a:pt x="47306" y="62254"/>
                </a:cubicBezTo>
                <a:cubicBezTo>
                  <a:pt x="54996" y="60057"/>
                  <a:pt x="66288" y="59212"/>
                  <a:pt x="68816" y="51625"/>
                </a:cubicBezTo>
                <a:cubicBezTo>
                  <a:pt x="72406" y="40852"/>
                  <a:pt x="60857" y="29803"/>
                  <a:pt x="53379" y="21258"/>
                </a:cubicBezTo>
                <a:cubicBezTo>
                  <a:pt x="50708" y="18205"/>
                  <a:pt x="45889" y="16553"/>
                  <a:pt x="44775" y="12653"/>
                </a:cubicBezTo>
                <a:cubicBezTo>
                  <a:pt x="43963" y="9810"/>
                  <a:pt x="42748" y="6332"/>
                  <a:pt x="44269" y="3796"/>
                </a:cubicBezTo>
                <a:cubicBezTo>
                  <a:pt x="45881" y="1108"/>
                  <a:pt x="49899" y="991"/>
                  <a:pt x="52873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09" name="Google Shape;1509;p91"/>
          <p:cNvSpPr/>
          <p:nvPr/>
        </p:nvSpPr>
        <p:spPr>
          <a:xfrm>
            <a:off x="6154550" y="2803727"/>
            <a:ext cx="374400" cy="3744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0" name="Google Shape;1510;p91"/>
          <p:cNvSpPr txBox="1"/>
          <p:nvPr>
            <p:ph type="body" idx="1"/>
          </p:nvPr>
        </p:nvSpPr>
        <p:spPr>
          <a:xfrm>
            <a:off x="6188193" y="2856268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511" name="Google Shape;1511;p91"/>
          <p:cNvSpPr txBox="1"/>
          <p:nvPr>
            <p:ph type="body" idx="1"/>
          </p:nvPr>
        </p:nvSpPr>
        <p:spPr>
          <a:xfrm>
            <a:off x="324000" y="826252"/>
            <a:ext cx="8496000" cy="6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Aisha are discussing whether the probability of choosing green would still be     if the cubes were different sizes.</a:t>
            </a:r>
            <a:endParaRPr sz="2000"/>
          </a:p>
        </p:txBody>
      </p:sp>
      <p:sp>
        <p:nvSpPr>
          <p:cNvPr id="1512" name="Google Shape;151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513" name="Google Shape;1513;p91"/>
          <p:cNvSpPr/>
          <p:nvPr/>
        </p:nvSpPr>
        <p:spPr>
          <a:xfrm>
            <a:off x="7075092" y="3463596"/>
            <a:ext cx="374400" cy="3744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4" name="Google Shape;1514;p91"/>
          <p:cNvSpPr txBox="1"/>
          <p:nvPr>
            <p:ph type="body" idx="1"/>
          </p:nvPr>
        </p:nvSpPr>
        <p:spPr>
          <a:xfrm>
            <a:off x="7138040" y="3526359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515" name="Google Shape;1515;p91"/>
          <p:cNvSpPr/>
          <p:nvPr/>
        </p:nvSpPr>
        <p:spPr>
          <a:xfrm>
            <a:off x="7443645" y="2777095"/>
            <a:ext cx="374400" cy="3744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6" name="Google Shape;1516;p91"/>
          <p:cNvSpPr txBox="1"/>
          <p:nvPr>
            <p:ph type="body" idx="1"/>
          </p:nvPr>
        </p:nvSpPr>
        <p:spPr>
          <a:xfrm>
            <a:off x="7487732" y="2826977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517" name="Google Shape;1517;p91"/>
          <p:cNvSpPr/>
          <p:nvPr/>
        </p:nvSpPr>
        <p:spPr>
          <a:xfrm>
            <a:off x="5761178" y="3615502"/>
            <a:ext cx="374400" cy="3744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8" name="Google Shape;1518;p91"/>
          <p:cNvSpPr txBox="1"/>
          <p:nvPr>
            <p:ph type="body" idx="1"/>
          </p:nvPr>
        </p:nvSpPr>
        <p:spPr>
          <a:xfrm>
            <a:off x="5793670" y="3684025"/>
            <a:ext cx="142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519" name="Google Shape;1519;p91"/>
          <p:cNvSpPr/>
          <p:nvPr/>
        </p:nvSpPr>
        <p:spPr>
          <a:xfrm>
            <a:off x="6534754" y="3883088"/>
            <a:ext cx="374400" cy="3744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0" name="Google Shape;1520;p91"/>
          <p:cNvSpPr txBox="1"/>
          <p:nvPr>
            <p:ph type="body" idx="1"/>
          </p:nvPr>
        </p:nvSpPr>
        <p:spPr>
          <a:xfrm>
            <a:off x="6578532" y="3945989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521" name="Google Shape;1521;p91"/>
          <p:cNvSpPr/>
          <p:nvPr/>
        </p:nvSpPr>
        <p:spPr>
          <a:xfrm>
            <a:off x="7647987" y="3514201"/>
            <a:ext cx="533100" cy="5331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2" name="Google Shape;1522;p91"/>
          <p:cNvSpPr txBox="1"/>
          <p:nvPr>
            <p:ph type="body" idx="1"/>
          </p:nvPr>
        </p:nvSpPr>
        <p:spPr>
          <a:xfrm>
            <a:off x="7735910" y="3682033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1523" name="Google Shape;1523;p91"/>
          <p:cNvSpPr/>
          <p:nvPr/>
        </p:nvSpPr>
        <p:spPr>
          <a:xfrm>
            <a:off x="6353552" y="3223536"/>
            <a:ext cx="533100" cy="5331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4" name="Google Shape;1524;p91"/>
          <p:cNvSpPr txBox="1"/>
          <p:nvPr>
            <p:ph type="body" idx="1"/>
          </p:nvPr>
        </p:nvSpPr>
        <p:spPr>
          <a:xfrm>
            <a:off x="6441746" y="3372400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1525" name="Google Shape;1525;p91"/>
          <p:cNvSpPr/>
          <p:nvPr/>
        </p:nvSpPr>
        <p:spPr>
          <a:xfrm>
            <a:off x="6709027" y="2558975"/>
            <a:ext cx="533100" cy="5331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6" name="Google Shape;1526;p91"/>
          <p:cNvSpPr txBox="1"/>
          <p:nvPr>
            <p:ph type="body" idx="1"/>
          </p:nvPr>
        </p:nvSpPr>
        <p:spPr>
          <a:xfrm>
            <a:off x="6803571" y="2726838"/>
            <a:ext cx="130500" cy="2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endParaRPr/>
          </a:p>
        </p:txBody>
      </p:sp>
      <p:pic>
        <p:nvPicPr>
          <p:cNvPr id="1527" name="Google Shape;152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943112" y="3637500"/>
            <a:ext cx="496138" cy="93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91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5592" y="1116165"/>
            <a:ext cx="161111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3789900"/>
            <a:ext cx="599195" cy="67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91"/>
          <p:cNvSpPr txBox="1"/>
          <p:nvPr>
            <p:ph type="body" idx="1"/>
          </p:nvPr>
        </p:nvSpPr>
        <p:spPr>
          <a:xfrm>
            <a:off x="538605" y="1891050"/>
            <a:ext cx="2321400" cy="15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I think the probability would still be     because there are </a:t>
            </a:r>
            <a:br>
              <a:rPr lang="en-GB" sz="1700"/>
            </a:br>
            <a:r>
              <a:rPr lang="en-GB" sz="1700">
                <a:solidFill>
                  <a:schemeClr val="accent5"/>
                </a:solidFill>
              </a:rPr>
              <a:t>3 green</a:t>
            </a:r>
            <a:r>
              <a:rPr lang="en-GB" sz="1700"/>
              <a:t> cubes and </a:t>
            </a:r>
            <a:br>
              <a:rPr lang="en-GB" sz="1700"/>
            </a:br>
            <a:r>
              <a:rPr lang="en-GB" sz="1700">
                <a:solidFill>
                  <a:schemeClr val="accent5"/>
                </a:solidFill>
              </a:rPr>
              <a:t>8 cubes</a:t>
            </a:r>
            <a:r>
              <a:rPr lang="en-GB" sz="1700"/>
              <a:t> in total.</a:t>
            </a:r>
            <a:endParaRPr sz="1700"/>
          </a:p>
        </p:txBody>
      </p:sp>
      <p:pic>
        <p:nvPicPr>
          <p:cNvPr id="1531" name="Google Shape;1531;p91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3050954" y="1992264"/>
            <a:ext cx="2553800" cy="16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91"/>
          <p:cNvSpPr txBox="1"/>
          <p:nvPr>
            <p:ph type="body" idx="1"/>
          </p:nvPr>
        </p:nvSpPr>
        <p:spPr>
          <a:xfrm>
            <a:off x="3147166" y="2119650"/>
            <a:ext cx="2262300" cy="129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I think it won’t be because all the cubes are </a:t>
            </a:r>
            <a:r>
              <a:rPr lang="en-GB" sz="1700">
                <a:solidFill>
                  <a:schemeClr val="accent5"/>
                </a:solidFill>
              </a:rPr>
              <a:t>not equally likely</a:t>
            </a:r>
            <a:r>
              <a:rPr lang="en-GB" sz="1700"/>
              <a:t> to be chosen.</a:t>
            </a:r>
            <a:endParaRPr sz="1700"/>
          </a:p>
        </p:txBody>
      </p:sp>
      <p:pic>
        <p:nvPicPr>
          <p:cNvPr id="1533" name="Google Shape;1533;p91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7166" y="2150902"/>
            <a:ext cx="113138" cy="3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91"/>
          <p:cNvSpPr txBox="1"/>
          <p:nvPr>
            <p:ph type="body" idx="1"/>
          </p:nvPr>
        </p:nvSpPr>
        <p:spPr>
          <a:xfrm>
            <a:off x="1439723" y="4488909"/>
            <a:ext cx="3114900" cy="3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Who do you agree with?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8" name="Shape 1538"/>
        <p:cNvGrpSpPr/>
        <p:nvPr/>
      </p:nvGrpSpPr>
      <p:grpSpPr>
        <a:xfrm>
          <a:off x="0" y="0"/>
          <a:ext cx="0" cy="0"/>
        </a:xfrm>
      </p:grpSpPr>
      <p:sp>
        <p:nvSpPr>
          <p:cNvPr id="1539" name="Google Shape;1539;p92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/>
              <a:t>Theoretical probabilities</a:t>
            </a:r>
            <a:r>
              <a:rPr lang="en-GB" sz="2000"/>
              <a:t> can be found in scenarios where a trial has </a:t>
            </a:r>
            <a:r>
              <a:rPr lang="en-GB" sz="2000">
                <a:solidFill>
                  <a:schemeClr val="accent5"/>
                </a:solidFill>
              </a:rPr>
              <a:t>equally likely</a:t>
            </a:r>
            <a:r>
              <a:rPr lang="en-GB" sz="2000"/>
              <a:t> outcomes.</a:t>
            </a:r>
            <a:endParaRPr sz="2100"/>
          </a:p>
        </p:txBody>
      </p:sp>
      <p:sp>
        <p:nvSpPr>
          <p:cNvPr id="1540" name="Google Shape;154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541" name="Google Shape;1541;p92"/>
          <p:cNvSpPr/>
          <p:nvPr/>
        </p:nvSpPr>
        <p:spPr>
          <a:xfrm>
            <a:off x="963500" y="2289400"/>
            <a:ext cx="2155667" cy="1861451"/>
          </a:xfrm>
          <a:custGeom>
            <a:rect l="l" t="t" r="r" b="b"/>
            <a:pathLst>
              <a:path w="69504" h="64718" extrusionOk="0">
                <a:moveTo>
                  <a:pt x="14914" y="1519"/>
                </a:moveTo>
                <a:cubicBezTo>
                  <a:pt x="19763" y="1519"/>
                  <a:pt x="25810" y="8052"/>
                  <a:pt x="24277" y="12653"/>
                </a:cubicBezTo>
                <a:cubicBezTo>
                  <a:pt x="20574" y="23765"/>
                  <a:pt x="5001" y="27966"/>
                  <a:pt x="995" y="38972"/>
                </a:cubicBezTo>
                <a:cubicBezTo>
                  <a:pt x="-1724" y="46442"/>
                  <a:pt x="1260" y="59099"/>
                  <a:pt x="8840" y="61494"/>
                </a:cubicBezTo>
                <a:cubicBezTo>
                  <a:pt x="21069" y="65357"/>
                  <a:pt x="34975" y="65777"/>
                  <a:pt x="47306" y="62254"/>
                </a:cubicBezTo>
                <a:cubicBezTo>
                  <a:pt x="54996" y="60057"/>
                  <a:pt x="66288" y="59212"/>
                  <a:pt x="68816" y="51625"/>
                </a:cubicBezTo>
                <a:cubicBezTo>
                  <a:pt x="72406" y="40852"/>
                  <a:pt x="60857" y="29803"/>
                  <a:pt x="53379" y="21258"/>
                </a:cubicBezTo>
                <a:cubicBezTo>
                  <a:pt x="50708" y="18205"/>
                  <a:pt x="45889" y="16553"/>
                  <a:pt x="44775" y="12653"/>
                </a:cubicBezTo>
                <a:cubicBezTo>
                  <a:pt x="43963" y="9810"/>
                  <a:pt x="42748" y="6332"/>
                  <a:pt x="44269" y="3796"/>
                </a:cubicBezTo>
                <a:cubicBezTo>
                  <a:pt x="45881" y="1108"/>
                  <a:pt x="49899" y="991"/>
                  <a:pt x="52873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42" name="Google Shape;1542;p92"/>
          <p:cNvSpPr/>
          <p:nvPr/>
        </p:nvSpPr>
        <p:spPr>
          <a:xfrm>
            <a:off x="1250389" y="3075173"/>
            <a:ext cx="315900" cy="315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43" name="Google Shape;1543;p92"/>
          <p:cNvSpPr txBox="1"/>
          <p:nvPr>
            <p:ph type="body" idx="1"/>
          </p:nvPr>
        </p:nvSpPr>
        <p:spPr>
          <a:xfrm>
            <a:off x="1302763" y="3152152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44" name="Google Shape;1544;p92"/>
          <p:cNvSpPr/>
          <p:nvPr/>
        </p:nvSpPr>
        <p:spPr>
          <a:xfrm>
            <a:off x="2113659" y="3436599"/>
            <a:ext cx="315900" cy="315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45" name="Google Shape;1545;p92"/>
          <p:cNvSpPr txBox="1"/>
          <p:nvPr>
            <p:ph type="body" idx="1"/>
          </p:nvPr>
        </p:nvSpPr>
        <p:spPr>
          <a:xfrm>
            <a:off x="2166033" y="3513579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46" name="Google Shape;1546;p92"/>
          <p:cNvSpPr/>
          <p:nvPr/>
        </p:nvSpPr>
        <p:spPr>
          <a:xfrm>
            <a:off x="2381804" y="3035235"/>
            <a:ext cx="315900" cy="315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47" name="Google Shape;1547;p92"/>
          <p:cNvSpPr txBox="1"/>
          <p:nvPr>
            <p:ph type="body" idx="1"/>
          </p:nvPr>
        </p:nvSpPr>
        <p:spPr>
          <a:xfrm>
            <a:off x="2434178" y="3112214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48" name="Google Shape;1548;p92"/>
          <p:cNvSpPr/>
          <p:nvPr/>
        </p:nvSpPr>
        <p:spPr>
          <a:xfrm>
            <a:off x="1085800" y="3548705"/>
            <a:ext cx="315900" cy="315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49" name="Google Shape;1549;p92"/>
          <p:cNvSpPr txBox="1"/>
          <p:nvPr>
            <p:ph type="body" idx="1"/>
          </p:nvPr>
        </p:nvSpPr>
        <p:spPr>
          <a:xfrm>
            <a:off x="1135164" y="3634478"/>
            <a:ext cx="109200" cy="1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50" name="Google Shape;1550;p92"/>
          <p:cNvSpPr/>
          <p:nvPr/>
        </p:nvSpPr>
        <p:spPr>
          <a:xfrm>
            <a:off x="1684626" y="3758372"/>
            <a:ext cx="315900" cy="3159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51" name="Google Shape;1551;p92"/>
          <p:cNvSpPr txBox="1"/>
          <p:nvPr>
            <p:ph type="body" idx="1"/>
          </p:nvPr>
        </p:nvSpPr>
        <p:spPr>
          <a:xfrm>
            <a:off x="1737000" y="3835351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52" name="Google Shape;1552;p92"/>
          <p:cNvSpPr/>
          <p:nvPr/>
        </p:nvSpPr>
        <p:spPr>
          <a:xfrm>
            <a:off x="2545103" y="3609151"/>
            <a:ext cx="315900" cy="3159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53" name="Google Shape;1553;p92"/>
          <p:cNvSpPr txBox="1"/>
          <p:nvPr>
            <p:ph type="body" idx="1"/>
          </p:nvPr>
        </p:nvSpPr>
        <p:spPr>
          <a:xfrm>
            <a:off x="2585673" y="3681678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54" name="Google Shape;1554;p92"/>
          <p:cNvSpPr/>
          <p:nvPr/>
        </p:nvSpPr>
        <p:spPr>
          <a:xfrm>
            <a:off x="1610946" y="3327847"/>
            <a:ext cx="315900" cy="3159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55" name="Google Shape;1555;p92"/>
          <p:cNvSpPr txBox="1"/>
          <p:nvPr>
            <p:ph type="body" idx="1"/>
          </p:nvPr>
        </p:nvSpPr>
        <p:spPr>
          <a:xfrm>
            <a:off x="1651516" y="3400374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56" name="Google Shape;1556;p92"/>
          <p:cNvSpPr/>
          <p:nvPr/>
        </p:nvSpPr>
        <p:spPr>
          <a:xfrm>
            <a:off x="1883545" y="2818275"/>
            <a:ext cx="315900" cy="3159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57" name="Google Shape;1557;p92"/>
          <p:cNvSpPr txBox="1"/>
          <p:nvPr>
            <p:ph type="body" idx="1"/>
          </p:nvPr>
        </p:nvSpPr>
        <p:spPr>
          <a:xfrm>
            <a:off x="1924115" y="2890802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58" name="Google Shape;1558;p92"/>
          <p:cNvSpPr/>
          <p:nvPr/>
        </p:nvSpPr>
        <p:spPr>
          <a:xfrm>
            <a:off x="5453240" y="2306264"/>
            <a:ext cx="2155667" cy="1861451"/>
          </a:xfrm>
          <a:custGeom>
            <a:rect l="l" t="t" r="r" b="b"/>
            <a:pathLst>
              <a:path w="69504" h="64718" extrusionOk="0">
                <a:moveTo>
                  <a:pt x="14914" y="1519"/>
                </a:moveTo>
                <a:cubicBezTo>
                  <a:pt x="19763" y="1519"/>
                  <a:pt x="25810" y="8052"/>
                  <a:pt x="24277" y="12653"/>
                </a:cubicBezTo>
                <a:cubicBezTo>
                  <a:pt x="20574" y="23765"/>
                  <a:pt x="5001" y="27966"/>
                  <a:pt x="995" y="38972"/>
                </a:cubicBezTo>
                <a:cubicBezTo>
                  <a:pt x="-1724" y="46442"/>
                  <a:pt x="1260" y="59099"/>
                  <a:pt x="8840" y="61494"/>
                </a:cubicBezTo>
                <a:cubicBezTo>
                  <a:pt x="21069" y="65357"/>
                  <a:pt x="34975" y="65777"/>
                  <a:pt x="47306" y="62254"/>
                </a:cubicBezTo>
                <a:cubicBezTo>
                  <a:pt x="54996" y="60057"/>
                  <a:pt x="66288" y="59212"/>
                  <a:pt x="68816" y="51625"/>
                </a:cubicBezTo>
                <a:cubicBezTo>
                  <a:pt x="72406" y="40852"/>
                  <a:pt x="60857" y="29803"/>
                  <a:pt x="53379" y="21258"/>
                </a:cubicBezTo>
                <a:cubicBezTo>
                  <a:pt x="50708" y="18205"/>
                  <a:pt x="45889" y="16553"/>
                  <a:pt x="44775" y="12653"/>
                </a:cubicBezTo>
                <a:cubicBezTo>
                  <a:pt x="43963" y="9810"/>
                  <a:pt x="42748" y="6332"/>
                  <a:pt x="44269" y="3796"/>
                </a:cubicBezTo>
                <a:cubicBezTo>
                  <a:pt x="45881" y="1108"/>
                  <a:pt x="49899" y="991"/>
                  <a:pt x="52873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559" name="Google Shape;1559;p92"/>
          <p:cNvSpPr/>
          <p:nvPr/>
        </p:nvSpPr>
        <p:spPr>
          <a:xfrm>
            <a:off x="5918958" y="2977677"/>
            <a:ext cx="287100" cy="2871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0" name="Google Shape;1560;p92"/>
          <p:cNvSpPr txBox="1"/>
          <p:nvPr>
            <p:ph type="body" idx="1"/>
          </p:nvPr>
        </p:nvSpPr>
        <p:spPr>
          <a:xfrm>
            <a:off x="5944755" y="3017967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61" name="Google Shape;1561;p92"/>
          <p:cNvSpPr/>
          <p:nvPr/>
        </p:nvSpPr>
        <p:spPr>
          <a:xfrm>
            <a:off x="6624856" y="3483683"/>
            <a:ext cx="287100" cy="2871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2" name="Google Shape;1562;p92"/>
          <p:cNvSpPr txBox="1"/>
          <p:nvPr>
            <p:ph type="body" idx="1"/>
          </p:nvPr>
        </p:nvSpPr>
        <p:spPr>
          <a:xfrm>
            <a:off x="6673127" y="3531812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63" name="Google Shape;1563;p92"/>
          <p:cNvSpPr/>
          <p:nvPr/>
        </p:nvSpPr>
        <p:spPr>
          <a:xfrm>
            <a:off x="6907474" y="3109655"/>
            <a:ext cx="287100" cy="2871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4" name="Google Shape;1564;p92"/>
          <p:cNvSpPr txBox="1"/>
          <p:nvPr>
            <p:ph type="body" idx="1"/>
          </p:nvPr>
        </p:nvSpPr>
        <p:spPr>
          <a:xfrm>
            <a:off x="6941281" y="3147906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65" name="Google Shape;1565;p92"/>
          <p:cNvSpPr/>
          <p:nvPr/>
        </p:nvSpPr>
        <p:spPr>
          <a:xfrm>
            <a:off x="5617308" y="3600169"/>
            <a:ext cx="287100" cy="2871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6" name="Google Shape;1566;p92"/>
          <p:cNvSpPr txBox="1"/>
          <p:nvPr>
            <p:ph type="body" idx="1"/>
          </p:nvPr>
        </p:nvSpPr>
        <p:spPr>
          <a:xfrm>
            <a:off x="5642224" y="3652715"/>
            <a:ext cx="109200" cy="1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67" name="Google Shape;1567;p92"/>
          <p:cNvSpPr/>
          <p:nvPr/>
        </p:nvSpPr>
        <p:spPr>
          <a:xfrm>
            <a:off x="6210509" y="3805362"/>
            <a:ext cx="287100" cy="287100"/>
          </a:xfrm>
          <a:prstGeom prst="cube">
            <a:avLst>
              <a:gd name="adj" fmla="val 25000"/>
            </a:avLst>
          </a:prstGeom>
          <a:solidFill>
            <a:srgbClr val="CFE2F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8" name="Google Shape;1568;p92"/>
          <p:cNvSpPr txBox="1"/>
          <p:nvPr>
            <p:ph type="body" idx="1"/>
          </p:nvPr>
        </p:nvSpPr>
        <p:spPr>
          <a:xfrm>
            <a:off x="6244079" y="3853595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69" name="Google Shape;1569;p92"/>
          <p:cNvSpPr/>
          <p:nvPr/>
        </p:nvSpPr>
        <p:spPr>
          <a:xfrm>
            <a:off x="7045470" y="3490433"/>
            <a:ext cx="453600" cy="4536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70" name="Google Shape;1570;p92"/>
          <p:cNvSpPr txBox="1"/>
          <p:nvPr>
            <p:ph type="body" idx="1"/>
          </p:nvPr>
        </p:nvSpPr>
        <p:spPr>
          <a:xfrm>
            <a:off x="7131592" y="3651187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71" name="Google Shape;1571;p92"/>
          <p:cNvSpPr/>
          <p:nvPr/>
        </p:nvSpPr>
        <p:spPr>
          <a:xfrm>
            <a:off x="6071549" y="3306769"/>
            <a:ext cx="453600" cy="4536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72" name="Google Shape;1572;p92"/>
          <p:cNvSpPr txBox="1"/>
          <p:nvPr>
            <p:ph type="body" idx="1"/>
          </p:nvPr>
        </p:nvSpPr>
        <p:spPr>
          <a:xfrm>
            <a:off x="6161225" y="3462724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73" name="Google Shape;1573;p92"/>
          <p:cNvSpPr/>
          <p:nvPr/>
        </p:nvSpPr>
        <p:spPr>
          <a:xfrm>
            <a:off x="6373928" y="2741476"/>
            <a:ext cx="453600" cy="453600"/>
          </a:xfrm>
          <a:prstGeom prst="cube">
            <a:avLst>
              <a:gd name="adj" fmla="val 25000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74" name="Google Shape;1574;p92"/>
          <p:cNvSpPr txBox="1"/>
          <p:nvPr>
            <p:ph type="body" idx="1"/>
          </p:nvPr>
        </p:nvSpPr>
        <p:spPr>
          <a:xfrm>
            <a:off x="6478155" y="2906474"/>
            <a:ext cx="99900" cy="1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75" name="Google Shape;1575;p92"/>
          <p:cNvSpPr txBox="1"/>
          <p:nvPr>
            <p:ph type="body" idx="1"/>
          </p:nvPr>
        </p:nvSpPr>
        <p:spPr>
          <a:xfrm>
            <a:off x="781200" y="1622082"/>
            <a:ext cx="3048600" cy="57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All cubes are </a:t>
            </a:r>
            <a:r>
              <a:rPr lang="en-GB" sz="1800">
                <a:solidFill>
                  <a:schemeClr val="accent5"/>
                </a:solidFill>
              </a:rPr>
              <a:t>equally likely</a:t>
            </a:r>
            <a:r>
              <a:rPr lang="en-GB" sz="1800"/>
              <a:t> to be chosen.</a:t>
            </a:r>
            <a:endParaRPr sz="1900"/>
          </a:p>
        </p:txBody>
      </p:sp>
      <p:sp>
        <p:nvSpPr>
          <p:cNvPr id="1576" name="Google Shape;1576;p92"/>
          <p:cNvSpPr txBox="1"/>
          <p:nvPr>
            <p:ph type="body" idx="1"/>
          </p:nvPr>
        </p:nvSpPr>
        <p:spPr>
          <a:xfrm>
            <a:off x="5048400" y="1615791"/>
            <a:ext cx="3390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All cubes are </a:t>
            </a:r>
            <a:r>
              <a:rPr lang="en-GB" sz="1800">
                <a:solidFill>
                  <a:schemeClr val="accent5"/>
                </a:solidFill>
              </a:rPr>
              <a:t>not equally likely</a:t>
            </a:r>
            <a:r>
              <a:rPr lang="en-GB" sz="1800"/>
              <a:t> to be chosen.</a:t>
            </a:r>
            <a:endParaRPr sz="1900"/>
          </a:p>
        </p:txBody>
      </p:sp>
      <p:sp>
        <p:nvSpPr>
          <p:cNvPr id="1577" name="Google Shape;1577;p92"/>
          <p:cNvSpPr txBox="1"/>
          <p:nvPr>
            <p:ph type="body" idx="1"/>
          </p:nvPr>
        </p:nvSpPr>
        <p:spPr>
          <a:xfrm>
            <a:off x="781200" y="4256575"/>
            <a:ext cx="3048600" cy="57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theoretical probabilities</a:t>
            </a:r>
            <a:r>
              <a:rPr lang="en-GB" sz="1800"/>
              <a:t> </a:t>
            </a:r>
            <a:r>
              <a:rPr lang="en-GB" sz="1800">
                <a:solidFill>
                  <a:schemeClr val="accent5"/>
                </a:solidFill>
              </a:rPr>
              <a:t>can</a:t>
            </a:r>
            <a:r>
              <a:rPr lang="en-GB" sz="1800"/>
              <a:t> be found</a:t>
            </a:r>
            <a:endParaRPr sz="1900"/>
          </a:p>
        </p:txBody>
      </p:sp>
      <p:sp>
        <p:nvSpPr>
          <p:cNvPr id="1578" name="Google Shape;1578;p92"/>
          <p:cNvSpPr txBox="1"/>
          <p:nvPr>
            <p:ph type="body" idx="1"/>
          </p:nvPr>
        </p:nvSpPr>
        <p:spPr>
          <a:xfrm>
            <a:off x="5048400" y="4256575"/>
            <a:ext cx="2943900" cy="57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theoretical probabilities</a:t>
            </a:r>
            <a:r>
              <a:rPr lang="en-GB" sz="1800"/>
              <a:t> </a:t>
            </a:r>
            <a:r>
              <a:rPr lang="en-GB" sz="1800">
                <a:solidFill>
                  <a:schemeClr val="accent5"/>
                </a:solidFill>
              </a:rPr>
              <a:t>cannot</a:t>
            </a:r>
            <a:r>
              <a:rPr lang="en-GB" sz="1800"/>
              <a:t> be found</a:t>
            </a: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2" name="Shape 1582"/>
        <p:cNvGrpSpPr/>
        <p:nvPr/>
      </p:nvGrpSpPr>
      <p:grpSpPr>
        <a:xfrm>
          <a:off x="0" y="0"/>
          <a:ext cx="0" cy="0"/>
        </a:xfrm>
      </p:grpSpPr>
      <p:sp>
        <p:nvSpPr>
          <p:cNvPr id="1583" name="Google Shape;1583;p93"/>
          <p:cNvSpPr txBox="1"/>
          <p:nvPr>
            <p:ph type="body" idx="1"/>
          </p:nvPr>
        </p:nvSpPr>
        <p:spPr>
          <a:xfrm>
            <a:off x="324000" y="759300"/>
            <a:ext cx="8237700" cy="21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letter is chosen at random from the word below.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probability that chosen letter is a vowel? </a:t>
            </a:r>
            <a:endParaRPr/>
          </a:p>
        </p:txBody>
      </p:sp>
      <p:sp>
        <p:nvSpPr>
          <p:cNvPr id="1584" name="Google Shape;158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585" name="Google Shape;1585;p93"/>
          <p:cNvSpPr txBox="1"/>
          <p:nvPr>
            <p:ph type="body" idx="1"/>
          </p:nvPr>
        </p:nvSpPr>
        <p:spPr>
          <a:xfrm>
            <a:off x="2686200" y="1445100"/>
            <a:ext cx="3785100" cy="3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  A  T  H  E  M  A  T  I  C  S </a:t>
            </a:r>
            <a:endParaRPr/>
          </a:p>
        </p:txBody>
      </p:sp>
      <p:pic>
        <p:nvPicPr>
          <p:cNvPr id="1586" name="Google Shape;1586;p93" descr="&lt;math xmlns=&quot;http://www.w3.org/1998/Math/MathML&quot; display=&quot;block&quot; data-is-equatio=&quot;1&quot; data-latex=&quot;\frac{4}{11}&quot;&gt;&lt;mfrac&gt;&lt;mn&gt;4&lt;/mn&gt;&lt;mn&gt;11&lt;/mn&gt;&lt;/mfrac&gt;&lt;/math&gt;" title="4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3120575"/>
            <a:ext cx="413825" cy="76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0" name="Shape 1590"/>
        <p:cNvGrpSpPr/>
        <p:nvPr/>
      </p:nvGrpSpPr>
      <p:grpSpPr>
        <a:xfrm>
          <a:off x="0" y="0"/>
          <a:ext cx="0" cy="0"/>
        </a:xfrm>
      </p:grpSpPr>
      <p:sp>
        <p:nvSpPr>
          <p:cNvPr id="1591" name="Google Shape;1591;p94"/>
          <p:cNvSpPr txBox="1"/>
          <p:nvPr>
            <p:ph type="subTitle" idx="1"/>
          </p:nvPr>
        </p:nvSpPr>
        <p:spPr>
          <a:xfrm>
            <a:off x="324000" y="1080000"/>
            <a:ext cx="85200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probability that somebody chooses pizza from this menu is     .</a:t>
            </a:r>
            <a:endParaRPr/>
          </a:p>
        </p:txBody>
      </p:sp>
      <p:sp>
        <p:nvSpPr>
          <p:cNvPr id="1592" name="Google Shape;1592;p94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There are four items on the menu and one is pizza.</a:t>
            </a:r>
            <a:endParaRPr sz="2000"/>
          </a:p>
        </p:txBody>
      </p:sp>
      <p:sp>
        <p:nvSpPr>
          <p:cNvPr id="1593" name="Google Shape;1593;p94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four options may not necessarily be equally likely to be chosen (e.g. if one item is more popular than others).</a:t>
            </a:r>
            <a:endParaRPr sz="2000"/>
          </a:p>
        </p:txBody>
      </p:sp>
      <p:sp>
        <p:nvSpPr>
          <p:cNvPr id="1594" name="Google Shape;1594;p94"/>
          <p:cNvSpPr/>
          <p:nvPr/>
        </p:nvSpPr>
        <p:spPr>
          <a:xfrm>
            <a:off x="7029065" y="1456840"/>
            <a:ext cx="1709400" cy="16371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4"/>
          <p:cNvSpPr txBox="1"/>
          <p:nvPr/>
        </p:nvSpPr>
        <p:spPr>
          <a:xfrm>
            <a:off x="7586497" y="1516371"/>
            <a:ext cx="8355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Menu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94"/>
          <p:cNvSpPr txBox="1"/>
          <p:nvPr/>
        </p:nvSpPr>
        <p:spPr>
          <a:xfrm>
            <a:off x="7289837" y="1848661"/>
            <a:ext cx="155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lasagne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4"/>
          <p:cNvSpPr txBox="1"/>
          <p:nvPr/>
        </p:nvSpPr>
        <p:spPr>
          <a:xfrm>
            <a:off x="7289840" y="2153461"/>
            <a:ext cx="15201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ravioli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4"/>
          <p:cNvSpPr txBox="1"/>
          <p:nvPr/>
        </p:nvSpPr>
        <p:spPr>
          <a:xfrm>
            <a:off x="7289840" y="2454250"/>
            <a:ext cx="14118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bologn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94"/>
          <p:cNvSpPr txBox="1"/>
          <p:nvPr/>
        </p:nvSpPr>
        <p:spPr>
          <a:xfrm>
            <a:off x="7289840" y="2759050"/>
            <a:ext cx="14118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pizza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0" name="Google Shape;1600;p94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324" y="1480973"/>
            <a:ext cx="201106" cy="64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8808" y="1922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2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of events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7" name="Shape 1607"/>
        <p:cNvGrpSpPr/>
        <p:nvPr/>
      </p:nvGrpSpPr>
      <p:grpSpPr>
        <a:xfrm>
          <a:off x="0" y="0"/>
          <a:ext cx="0" cy="0"/>
        </a:xfrm>
      </p:grpSpPr>
      <p:sp>
        <p:nvSpPr>
          <p:cNvPr id="1608" name="Google Shape;1608;p95"/>
          <p:cNvSpPr/>
          <p:nvPr/>
        </p:nvSpPr>
        <p:spPr>
          <a:xfrm>
            <a:off x="37254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610" name="Google Shape;1610;p95"/>
          <p:cNvSpPr txBox="1"/>
          <p:nvPr>
            <p:ph type="body" idx="4294967295"/>
          </p:nvPr>
        </p:nvSpPr>
        <p:spPr>
          <a:xfrm>
            <a:off x="324000" y="759300"/>
            <a:ext cx="8496000" cy="9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Andeep and Lucas each have a deck of cards spelling out their own name. </a:t>
            </a:r>
            <a:br>
              <a:rPr lang="en-GB" sz="1600"/>
            </a:br>
            <a:r>
              <a:rPr lang="en-GB" sz="1600"/>
              <a:t>    They play a game where they each randomly select a card from their deck, record </a:t>
            </a:r>
            <a:br>
              <a:rPr lang="en-GB" sz="1600"/>
            </a:br>
            <a:r>
              <a:rPr lang="en-GB" sz="1600"/>
              <a:t>    the letter and then return the card to the deck. </a:t>
            </a:r>
            <a:endParaRPr sz="1600"/>
          </a:p>
        </p:txBody>
      </p:sp>
      <p:pic>
        <p:nvPicPr>
          <p:cNvPr id="1611" name="Google Shape;161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67240" y="1799100"/>
            <a:ext cx="392935" cy="50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2" name="Google Shape;161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9760" y="1831975"/>
            <a:ext cx="422100" cy="47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95"/>
          <p:cNvSpPr/>
          <p:nvPr/>
        </p:nvSpPr>
        <p:spPr>
          <a:xfrm>
            <a:off x="14394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95"/>
          <p:cNvSpPr/>
          <p:nvPr/>
        </p:nvSpPr>
        <p:spPr>
          <a:xfrm>
            <a:off x="18966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95"/>
          <p:cNvSpPr/>
          <p:nvPr/>
        </p:nvSpPr>
        <p:spPr>
          <a:xfrm>
            <a:off x="23538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5"/>
          <p:cNvSpPr/>
          <p:nvPr/>
        </p:nvSpPr>
        <p:spPr>
          <a:xfrm>
            <a:off x="28110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5"/>
          <p:cNvSpPr/>
          <p:nvPr/>
        </p:nvSpPr>
        <p:spPr>
          <a:xfrm>
            <a:off x="32682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5"/>
          <p:cNvSpPr/>
          <p:nvPr/>
        </p:nvSpPr>
        <p:spPr>
          <a:xfrm>
            <a:off x="72306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95"/>
          <p:cNvSpPr/>
          <p:nvPr/>
        </p:nvSpPr>
        <p:spPr>
          <a:xfrm>
            <a:off x="54018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95"/>
          <p:cNvSpPr/>
          <p:nvPr/>
        </p:nvSpPr>
        <p:spPr>
          <a:xfrm>
            <a:off x="58590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95"/>
          <p:cNvSpPr/>
          <p:nvPr/>
        </p:nvSpPr>
        <p:spPr>
          <a:xfrm>
            <a:off x="63162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95"/>
          <p:cNvSpPr/>
          <p:nvPr/>
        </p:nvSpPr>
        <p:spPr>
          <a:xfrm>
            <a:off x="67734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5"/>
          <p:cNvSpPr txBox="1"/>
          <p:nvPr>
            <p:ph type="body" idx="4294967295"/>
          </p:nvPr>
        </p:nvSpPr>
        <p:spPr>
          <a:xfrm>
            <a:off x="15179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624" name="Google Shape;1624;p95"/>
          <p:cNvSpPr txBox="1"/>
          <p:nvPr>
            <p:ph type="body" idx="4294967295"/>
          </p:nvPr>
        </p:nvSpPr>
        <p:spPr>
          <a:xfrm>
            <a:off x="19751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</a:t>
            </a:r>
            <a:endParaRPr sz="2000"/>
          </a:p>
        </p:txBody>
      </p:sp>
      <p:sp>
        <p:nvSpPr>
          <p:cNvPr id="1625" name="Google Shape;1625;p95"/>
          <p:cNvSpPr txBox="1"/>
          <p:nvPr>
            <p:ph type="body" idx="4294967295"/>
          </p:nvPr>
        </p:nvSpPr>
        <p:spPr>
          <a:xfrm>
            <a:off x="24323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626" name="Google Shape;1626;p95"/>
          <p:cNvSpPr txBox="1"/>
          <p:nvPr>
            <p:ph type="body" idx="4294967295"/>
          </p:nvPr>
        </p:nvSpPr>
        <p:spPr>
          <a:xfrm>
            <a:off x="28895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sp>
        <p:nvSpPr>
          <p:cNvPr id="1627" name="Google Shape;1627;p95"/>
          <p:cNvSpPr txBox="1"/>
          <p:nvPr>
            <p:ph type="body" idx="4294967295"/>
          </p:nvPr>
        </p:nvSpPr>
        <p:spPr>
          <a:xfrm>
            <a:off x="33467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sp>
        <p:nvSpPr>
          <p:cNvPr id="1628" name="Google Shape;1628;p95"/>
          <p:cNvSpPr txBox="1"/>
          <p:nvPr>
            <p:ph type="body" idx="4294967295"/>
          </p:nvPr>
        </p:nvSpPr>
        <p:spPr>
          <a:xfrm>
            <a:off x="38039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</a:t>
            </a:r>
            <a:endParaRPr sz="2000"/>
          </a:p>
        </p:txBody>
      </p:sp>
      <p:sp>
        <p:nvSpPr>
          <p:cNvPr id="1629" name="Google Shape;1629;p95"/>
          <p:cNvSpPr txBox="1"/>
          <p:nvPr>
            <p:ph type="body" idx="4294967295"/>
          </p:nvPr>
        </p:nvSpPr>
        <p:spPr>
          <a:xfrm>
            <a:off x="54803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</a:t>
            </a:r>
            <a:endParaRPr sz="2000"/>
          </a:p>
        </p:txBody>
      </p:sp>
      <p:sp>
        <p:nvSpPr>
          <p:cNvPr id="1630" name="Google Shape;1630;p95"/>
          <p:cNvSpPr txBox="1"/>
          <p:nvPr>
            <p:ph type="body" idx="4294967295"/>
          </p:nvPr>
        </p:nvSpPr>
        <p:spPr>
          <a:xfrm>
            <a:off x="59375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</a:t>
            </a:r>
            <a:endParaRPr sz="2000"/>
          </a:p>
        </p:txBody>
      </p:sp>
      <p:sp>
        <p:nvSpPr>
          <p:cNvPr id="1631" name="Google Shape;1631;p95"/>
          <p:cNvSpPr txBox="1"/>
          <p:nvPr>
            <p:ph type="body" idx="4294967295"/>
          </p:nvPr>
        </p:nvSpPr>
        <p:spPr>
          <a:xfrm>
            <a:off x="63947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632" name="Google Shape;1632;p95"/>
          <p:cNvSpPr txBox="1"/>
          <p:nvPr>
            <p:ph type="body" idx="4294967295"/>
          </p:nvPr>
        </p:nvSpPr>
        <p:spPr>
          <a:xfrm>
            <a:off x="68519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633" name="Google Shape;1633;p95"/>
          <p:cNvSpPr txBox="1"/>
          <p:nvPr>
            <p:ph type="body" idx="4294967295"/>
          </p:nvPr>
        </p:nvSpPr>
        <p:spPr>
          <a:xfrm>
            <a:off x="73091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</a:t>
            </a:r>
            <a:endParaRPr sz="2000"/>
          </a:p>
        </p:txBody>
      </p:sp>
      <p:sp>
        <p:nvSpPr>
          <p:cNvPr id="1634" name="Google Shape;1634;p95"/>
          <p:cNvSpPr txBox="1"/>
          <p:nvPr>
            <p:ph type="body" idx="4294967295"/>
          </p:nvPr>
        </p:nvSpPr>
        <p:spPr>
          <a:xfrm>
            <a:off x="552600" y="2588100"/>
            <a:ext cx="84960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They win a point if they draw a card containing the letter A.</a:t>
            </a:r>
            <a:endParaRPr sz="1600"/>
          </a:p>
        </p:txBody>
      </p:sp>
      <p:sp>
        <p:nvSpPr>
          <p:cNvPr id="1635" name="Google Shape;1635;p95"/>
          <p:cNvSpPr txBox="1"/>
          <p:nvPr>
            <p:ph type="body" idx="4294967295"/>
          </p:nvPr>
        </p:nvSpPr>
        <p:spPr>
          <a:xfrm>
            <a:off x="552600" y="3045300"/>
            <a:ext cx="84960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What are the probabilities for each player winning a point? </a:t>
            </a:r>
            <a:endParaRPr sz="1600"/>
          </a:p>
        </p:txBody>
      </p:sp>
      <p:sp>
        <p:nvSpPr>
          <p:cNvPr id="1636" name="Google Shape;1636;p95"/>
          <p:cNvSpPr txBox="1"/>
          <p:nvPr>
            <p:ph type="body" idx="4294967295"/>
          </p:nvPr>
        </p:nvSpPr>
        <p:spPr>
          <a:xfrm>
            <a:off x="552600" y="3502500"/>
            <a:ext cx="84960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Who is most likely to get a point when they select a card? </a:t>
            </a:r>
            <a:endParaRPr sz="1600"/>
          </a:p>
        </p:txBody>
      </p:sp>
      <p:sp>
        <p:nvSpPr>
          <p:cNvPr id="1637" name="Google Shape;1637;p95"/>
          <p:cNvSpPr txBox="1"/>
          <p:nvPr>
            <p:ph type="body" idx="4294967295"/>
          </p:nvPr>
        </p:nvSpPr>
        <p:spPr>
          <a:xfrm>
            <a:off x="552600" y="3959700"/>
            <a:ext cx="8496000" cy="6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They change the rules so that they get a point if they select a vowel.</a:t>
            </a:r>
            <a:br>
              <a:rPr lang="en-GB" sz="1600"/>
            </a:br>
            <a:r>
              <a:rPr lang="en-GB" sz="1600"/>
              <a:t>     Who is most is most likely to get a point with these rules? Explain your answer.  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1" name="Shape 1641"/>
        <p:cNvGrpSpPr/>
        <p:nvPr/>
      </p:nvGrpSpPr>
      <p:grpSpPr>
        <a:xfrm>
          <a:off x="0" y="0"/>
          <a:ext cx="0" cy="0"/>
        </a:xfrm>
      </p:grpSpPr>
      <p:sp>
        <p:nvSpPr>
          <p:cNvPr id="1642" name="Google Shape;1642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643" name="Google Shape;1643;p96"/>
          <p:cNvSpPr txBox="1"/>
          <p:nvPr>
            <p:ph type="body" idx="4294967295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A regular six-sided dice is rolled. Find the following probabilities. </a:t>
            </a:r>
            <a:endParaRPr sz="1600"/>
          </a:p>
        </p:txBody>
      </p:sp>
      <p:sp>
        <p:nvSpPr>
          <p:cNvPr id="1644" name="Google Shape;1644;p96"/>
          <p:cNvSpPr txBox="1"/>
          <p:nvPr>
            <p:ph type="body" idx="4294967295"/>
          </p:nvPr>
        </p:nvSpPr>
        <p:spPr>
          <a:xfrm>
            <a:off x="324000" y="1140300"/>
            <a:ext cx="708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P(3)</a:t>
            </a:r>
            <a:endParaRPr sz="1600"/>
          </a:p>
        </p:txBody>
      </p:sp>
      <p:sp>
        <p:nvSpPr>
          <p:cNvPr id="1645" name="Google Shape;1645;p96"/>
          <p:cNvSpPr txBox="1"/>
          <p:nvPr>
            <p:ph type="body" idx="4294967295"/>
          </p:nvPr>
        </p:nvSpPr>
        <p:spPr>
          <a:xfrm>
            <a:off x="3054900" y="1140300"/>
            <a:ext cx="708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P(4)</a:t>
            </a:r>
            <a:endParaRPr sz="1600"/>
          </a:p>
        </p:txBody>
      </p:sp>
      <p:sp>
        <p:nvSpPr>
          <p:cNvPr id="1646" name="Google Shape;1646;p96"/>
          <p:cNvSpPr txBox="1"/>
          <p:nvPr>
            <p:ph type="body" idx="4294967295"/>
          </p:nvPr>
        </p:nvSpPr>
        <p:spPr>
          <a:xfrm>
            <a:off x="5785800" y="1140300"/>
            <a:ext cx="1050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P(not 4)</a:t>
            </a:r>
            <a:endParaRPr sz="1600"/>
          </a:p>
        </p:txBody>
      </p:sp>
      <p:sp>
        <p:nvSpPr>
          <p:cNvPr id="1647" name="Google Shape;1647;p96"/>
          <p:cNvSpPr txBox="1"/>
          <p:nvPr>
            <p:ph type="body" idx="4294967295"/>
          </p:nvPr>
        </p:nvSpPr>
        <p:spPr>
          <a:xfrm>
            <a:off x="324000" y="1597500"/>
            <a:ext cx="1050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 P(even)</a:t>
            </a:r>
            <a:endParaRPr sz="1600"/>
          </a:p>
        </p:txBody>
      </p:sp>
      <p:sp>
        <p:nvSpPr>
          <p:cNvPr id="1648" name="Google Shape;1648;p96"/>
          <p:cNvSpPr txBox="1"/>
          <p:nvPr>
            <p:ph type="body" idx="4294967295"/>
          </p:nvPr>
        </p:nvSpPr>
        <p:spPr>
          <a:xfrm>
            <a:off x="3067200" y="1597500"/>
            <a:ext cx="1089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e) P(odd)</a:t>
            </a:r>
            <a:endParaRPr sz="1600"/>
          </a:p>
        </p:txBody>
      </p:sp>
      <p:sp>
        <p:nvSpPr>
          <p:cNvPr id="1649" name="Google Shape;1649;p96"/>
          <p:cNvSpPr txBox="1"/>
          <p:nvPr>
            <p:ph type="body" idx="4294967295"/>
          </p:nvPr>
        </p:nvSpPr>
        <p:spPr>
          <a:xfrm>
            <a:off x="5810400" y="1597500"/>
            <a:ext cx="1745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f) P(multiple of 3)</a:t>
            </a:r>
            <a:endParaRPr sz="1600"/>
          </a:p>
        </p:txBody>
      </p:sp>
      <p:sp>
        <p:nvSpPr>
          <p:cNvPr id="1650" name="Google Shape;1650;p96"/>
          <p:cNvSpPr txBox="1"/>
          <p:nvPr>
            <p:ph type="body" idx="4294967295"/>
          </p:nvPr>
        </p:nvSpPr>
        <p:spPr>
          <a:xfrm>
            <a:off x="324000" y="2054700"/>
            <a:ext cx="1745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g) P(7)</a:t>
            </a:r>
            <a:endParaRPr sz="1600"/>
          </a:p>
        </p:txBody>
      </p:sp>
      <p:sp>
        <p:nvSpPr>
          <p:cNvPr id="1651" name="Google Shape;1651;p96"/>
          <p:cNvSpPr txBox="1"/>
          <p:nvPr>
            <p:ph type="body" idx="4294967295"/>
          </p:nvPr>
        </p:nvSpPr>
        <p:spPr>
          <a:xfrm>
            <a:off x="3067200" y="2054700"/>
            <a:ext cx="1745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h) P(not 7)</a:t>
            </a:r>
            <a:endParaRPr sz="1600"/>
          </a:p>
        </p:txBody>
      </p:sp>
      <p:sp>
        <p:nvSpPr>
          <p:cNvPr id="1652" name="Google Shape;1652;p96"/>
          <p:cNvSpPr txBox="1"/>
          <p:nvPr>
            <p:ph type="body" idx="4294967295"/>
          </p:nvPr>
        </p:nvSpPr>
        <p:spPr>
          <a:xfrm>
            <a:off x="324000" y="2588100"/>
            <a:ext cx="8431500" cy="5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j) The dice is rolled 60 times. Approximately how many times could it be expected to </a:t>
            </a:r>
            <a:br>
              <a:rPr lang="en-GB" sz="1600"/>
            </a:br>
            <a:r>
              <a:rPr lang="en-GB" sz="1600"/>
              <a:t>   land on the number 3, based on its probability?</a:t>
            </a:r>
            <a:endParaRPr sz="1600"/>
          </a:p>
        </p:txBody>
      </p:sp>
      <p:sp>
        <p:nvSpPr>
          <p:cNvPr id="1653" name="Google Shape;1653;p96"/>
          <p:cNvSpPr txBox="1"/>
          <p:nvPr>
            <p:ph type="body" idx="4294967295"/>
          </p:nvPr>
        </p:nvSpPr>
        <p:spPr>
          <a:xfrm>
            <a:off x="324000" y="3426300"/>
            <a:ext cx="8431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k) Will your answer to part (j) necessarily happen? Explain your answer.</a:t>
            </a:r>
            <a:endParaRPr sz="1600"/>
          </a:p>
        </p:txBody>
      </p:sp>
      <p:sp>
        <p:nvSpPr>
          <p:cNvPr id="1654" name="Google Shape;1654;p96"/>
          <p:cNvSpPr txBox="1"/>
          <p:nvPr/>
        </p:nvSpPr>
        <p:spPr>
          <a:xfrm>
            <a:off x="324000" y="4015034"/>
            <a:ext cx="8496000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To investigate parts (j) and (k) further:</a:t>
            </a:r>
            <a:b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Use the link to see some simulations of experiments where a fair dice is rolled 60 times. Move the slider to see the results from each experiment.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96"/>
          <p:cNvSpPr txBox="1"/>
          <p:nvPr/>
        </p:nvSpPr>
        <p:spPr>
          <a:xfrm>
            <a:off x="6570527" y="4524475"/>
            <a:ext cx="18852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dice - 60 trials</a:t>
            </a: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96"/>
          <p:cNvSpPr txBox="1"/>
          <p:nvPr>
            <p:ph type="body" idx="4294967295"/>
          </p:nvPr>
        </p:nvSpPr>
        <p:spPr>
          <a:xfrm>
            <a:off x="5810400" y="2054700"/>
            <a:ext cx="1856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i) P(factor of 60)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60" name="Shape 1660"/>
        <p:cNvGrpSpPr/>
        <p:nvPr/>
      </p:nvGrpSpPr>
      <p:grpSpPr>
        <a:xfrm>
          <a:off x="0" y="0"/>
          <a:ext cx="0" cy="0"/>
        </a:xfrm>
      </p:grpSpPr>
      <p:sp>
        <p:nvSpPr>
          <p:cNvPr id="1661" name="Google Shape;1661;p97"/>
          <p:cNvSpPr/>
          <p:nvPr/>
        </p:nvSpPr>
        <p:spPr>
          <a:xfrm>
            <a:off x="37254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663" name="Google Shape;1663;p97"/>
          <p:cNvSpPr txBox="1"/>
          <p:nvPr>
            <p:ph type="body" idx="4294967295"/>
          </p:nvPr>
        </p:nvSpPr>
        <p:spPr>
          <a:xfrm>
            <a:off x="324000" y="759300"/>
            <a:ext cx="8496000" cy="9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Andeep and Lucas each have a deck of cards spelling out their own name. </a:t>
            </a:r>
            <a:br>
              <a:rPr lang="en-GB" sz="1600"/>
            </a:br>
            <a:r>
              <a:rPr lang="en-GB" sz="1600"/>
              <a:t>    They play a game where they each randomly select a card from their deck, record </a:t>
            </a:r>
            <a:br>
              <a:rPr lang="en-GB" sz="1600"/>
            </a:br>
            <a:r>
              <a:rPr lang="en-GB" sz="1600"/>
              <a:t>    the letter and then return the card to the deck. </a:t>
            </a:r>
            <a:endParaRPr sz="1600"/>
          </a:p>
        </p:txBody>
      </p:sp>
      <p:pic>
        <p:nvPicPr>
          <p:cNvPr id="1664" name="Google Shape;166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67240" y="1799100"/>
            <a:ext cx="392935" cy="50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9760" y="1831975"/>
            <a:ext cx="422100" cy="47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97"/>
          <p:cNvSpPr/>
          <p:nvPr/>
        </p:nvSpPr>
        <p:spPr>
          <a:xfrm>
            <a:off x="14394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97"/>
          <p:cNvSpPr/>
          <p:nvPr/>
        </p:nvSpPr>
        <p:spPr>
          <a:xfrm>
            <a:off x="18966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7"/>
          <p:cNvSpPr/>
          <p:nvPr/>
        </p:nvSpPr>
        <p:spPr>
          <a:xfrm>
            <a:off x="23538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97"/>
          <p:cNvSpPr/>
          <p:nvPr/>
        </p:nvSpPr>
        <p:spPr>
          <a:xfrm>
            <a:off x="28110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97"/>
          <p:cNvSpPr/>
          <p:nvPr/>
        </p:nvSpPr>
        <p:spPr>
          <a:xfrm>
            <a:off x="32682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97"/>
          <p:cNvSpPr/>
          <p:nvPr/>
        </p:nvSpPr>
        <p:spPr>
          <a:xfrm>
            <a:off x="72306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97"/>
          <p:cNvSpPr/>
          <p:nvPr/>
        </p:nvSpPr>
        <p:spPr>
          <a:xfrm>
            <a:off x="54018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97"/>
          <p:cNvSpPr/>
          <p:nvPr/>
        </p:nvSpPr>
        <p:spPr>
          <a:xfrm>
            <a:off x="58590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97"/>
          <p:cNvSpPr/>
          <p:nvPr/>
        </p:nvSpPr>
        <p:spPr>
          <a:xfrm>
            <a:off x="63162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97"/>
          <p:cNvSpPr/>
          <p:nvPr/>
        </p:nvSpPr>
        <p:spPr>
          <a:xfrm>
            <a:off x="6773400" y="17991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97"/>
          <p:cNvSpPr txBox="1"/>
          <p:nvPr>
            <p:ph type="body" idx="4294967295"/>
          </p:nvPr>
        </p:nvSpPr>
        <p:spPr>
          <a:xfrm>
            <a:off x="15179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677" name="Google Shape;1677;p97"/>
          <p:cNvSpPr txBox="1"/>
          <p:nvPr>
            <p:ph type="body" idx="4294967295"/>
          </p:nvPr>
        </p:nvSpPr>
        <p:spPr>
          <a:xfrm>
            <a:off x="19751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</a:t>
            </a:r>
            <a:endParaRPr sz="2000"/>
          </a:p>
        </p:txBody>
      </p:sp>
      <p:sp>
        <p:nvSpPr>
          <p:cNvPr id="1678" name="Google Shape;1678;p97"/>
          <p:cNvSpPr txBox="1"/>
          <p:nvPr>
            <p:ph type="body" idx="4294967295"/>
          </p:nvPr>
        </p:nvSpPr>
        <p:spPr>
          <a:xfrm>
            <a:off x="24323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679" name="Google Shape;1679;p97"/>
          <p:cNvSpPr txBox="1"/>
          <p:nvPr>
            <p:ph type="body" idx="4294967295"/>
          </p:nvPr>
        </p:nvSpPr>
        <p:spPr>
          <a:xfrm>
            <a:off x="28895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sp>
        <p:nvSpPr>
          <p:cNvPr id="1680" name="Google Shape;1680;p97"/>
          <p:cNvSpPr txBox="1"/>
          <p:nvPr>
            <p:ph type="body" idx="4294967295"/>
          </p:nvPr>
        </p:nvSpPr>
        <p:spPr>
          <a:xfrm>
            <a:off x="33467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sp>
        <p:nvSpPr>
          <p:cNvPr id="1681" name="Google Shape;1681;p97"/>
          <p:cNvSpPr txBox="1"/>
          <p:nvPr>
            <p:ph type="body" idx="4294967295"/>
          </p:nvPr>
        </p:nvSpPr>
        <p:spPr>
          <a:xfrm>
            <a:off x="38039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</a:t>
            </a:r>
            <a:endParaRPr sz="2000"/>
          </a:p>
        </p:txBody>
      </p:sp>
      <p:sp>
        <p:nvSpPr>
          <p:cNvPr id="1682" name="Google Shape;1682;p97"/>
          <p:cNvSpPr txBox="1"/>
          <p:nvPr>
            <p:ph type="body" idx="4294967295"/>
          </p:nvPr>
        </p:nvSpPr>
        <p:spPr>
          <a:xfrm>
            <a:off x="54803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</a:t>
            </a:r>
            <a:endParaRPr sz="2000"/>
          </a:p>
        </p:txBody>
      </p:sp>
      <p:sp>
        <p:nvSpPr>
          <p:cNvPr id="1683" name="Google Shape;1683;p97"/>
          <p:cNvSpPr txBox="1"/>
          <p:nvPr>
            <p:ph type="body" idx="4294967295"/>
          </p:nvPr>
        </p:nvSpPr>
        <p:spPr>
          <a:xfrm>
            <a:off x="59375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</a:t>
            </a:r>
            <a:endParaRPr sz="2000"/>
          </a:p>
        </p:txBody>
      </p:sp>
      <p:sp>
        <p:nvSpPr>
          <p:cNvPr id="1684" name="Google Shape;1684;p97"/>
          <p:cNvSpPr txBox="1"/>
          <p:nvPr>
            <p:ph type="body" idx="4294967295"/>
          </p:nvPr>
        </p:nvSpPr>
        <p:spPr>
          <a:xfrm>
            <a:off x="63947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685" name="Google Shape;1685;p97"/>
          <p:cNvSpPr txBox="1"/>
          <p:nvPr>
            <p:ph type="body" idx="4294967295"/>
          </p:nvPr>
        </p:nvSpPr>
        <p:spPr>
          <a:xfrm>
            <a:off x="68519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686" name="Google Shape;1686;p97"/>
          <p:cNvSpPr txBox="1"/>
          <p:nvPr>
            <p:ph type="body" idx="4294967295"/>
          </p:nvPr>
        </p:nvSpPr>
        <p:spPr>
          <a:xfrm>
            <a:off x="7309168" y="18896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</a:t>
            </a:r>
            <a:endParaRPr sz="2000"/>
          </a:p>
        </p:txBody>
      </p:sp>
      <p:sp>
        <p:nvSpPr>
          <p:cNvPr id="1687" name="Google Shape;1687;p97"/>
          <p:cNvSpPr txBox="1"/>
          <p:nvPr>
            <p:ph type="body" idx="4294967295"/>
          </p:nvPr>
        </p:nvSpPr>
        <p:spPr>
          <a:xfrm>
            <a:off x="552600" y="2588100"/>
            <a:ext cx="84960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They win a point if they draw a card containing the letter A.</a:t>
            </a:r>
            <a:endParaRPr sz="1600"/>
          </a:p>
        </p:txBody>
      </p:sp>
      <p:sp>
        <p:nvSpPr>
          <p:cNvPr id="1688" name="Google Shape;1688;p97"/>
          <p:cNvSpPr txBox="1"/>
          <p:nvPr>
            <p:ph type="body" idx="4294967295"/>
          </p:nvPr>
        </p:nvSpPr>
        <p:spPr>
          <a:xfrm>
            <a:off x="552600" y="3045300"/>
            <a:ext cx="84960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What are the probabilities for each player winning a point? </a:t>
            </a:r>
            <a:endParaRPr sz="1600"/>
          </a:p>
        </p:txBody>
      </p:sp>
      <p:sp>
        <p:nvSpPr>
          <p:cNvPr id="1689" name="Google Shape;1689;p97"/>
          <p:cNvSpPr txBox="1"/>
          <p:nvPr>
            <p:ph type="body" idx="4294967295"/>
          </p:nvPr>
        </p:nvSpPr>
        <p:spPr>
          <a:xfrm>
            <a:off x="552600" y="4035900"/>
            <a:ext cx="84960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Who is most likely to get a point when they select a card? </a:t>
            </a:r>
            <a:endParaRPr sz="1600"/>
          </a:p>
        </p:txBody>
      </p:sp>
      <p:sp>
        <p:nvSpPr>
          <p:cNvPr id="1690" name="Google Shape;1690;p97"/>
          <p:cNvSpPr txBox="1"/>
          <p:nvPr>
            <p:ph type="body" idx="4294967295"/>
          </p:nvPr>
        </p:nvSpPr>
        <p:spPr>
          <a:xfrm>
            <a:off x="857400" y="3426300"/>
            <a:ext cx="8868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Andeep: 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1" name="Google Shape;1691;p97"/>
          <p:cNvSpPr txBox="1"/>
          <p:nvPr>
            <p:ph type="body" idx="4294967295"/>
          </p:nvPr>
        </p:nvSpPr>
        <p:spPr>
          <a:xfrm>
            <a:off x="3524400" y="3426300"/>
            <a:ext cx="8868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Lucas: 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2" name="Google Shape;1692;p97"/>
          <p:cNvSpPr txBox="1"/>
          <p:nvPr>
            <p:ph type="body" idx="4294967295"/>
          </p:nvPr>
        </p:nvSpPr>
        <p:spPr>
          <a:xfrm>
            <a:off x="857400" y="4416900"/>
            <a:ext cx="5883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Lucas 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93" name="Google Shape;1693;p97" descr="&lt;math xmlns=&quot;http://www.w3.org/1998/Math/MathML&quot; display=&quot;block&quot; data-is-equatio=&quot;1&quot; data-latex=&quot;\frac{1}{6}\ \ \ \ \frac{1}{5}&quot;&gt;&lt;mfrac&gt;&lt;mn&gt;1&lt;/mn&gt;&lt;mn&gt;6&lt;/mn&gt;&lt;/mfrac&gt;&lt;mtext&gt;&lt;/mtext&gt;&lt;mtext&gt;&lt;/mtext&gt;&lt;mtext&gt;&lt;/mtext&gt;&lt;mtext&gt;&lt;/mtext&gt;&lt;mfrac&gt;&lt;mn&gt;1&lt;/mn&gt;&lt;mn&gt;5&lt;/mn&gt;&lt;/mfrac&gt;&lt;/math&gt;" title="one sixth one fifth"/>
          <p:cNvPicPr preferRelativeResize="0"/>
          <p:nvPr/>
        </p:nvPicPr>
        <p:blipFill>
          <a:blip r:embed="rId5">
            <a:alphaModFix/>
          </a:blip>
          <a:srcRect r="48363"/>
          <a:stretch>
            <a:fillRect/>
          </a:stretch>
        </p:blipFill>
        <p:spPr>
          <a:xfrm>
            <a:off x="1771552" y="3328575"/>
            <a:ext cx="303775" cy="4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4" name="Google Shape;1694;p97" descr="&lt;math xmlns=&quot;http://www.w3.org/1998/Math/MathML&quot; display=&quot;block&quot; data-is-equatio=&quot;1&quot; data-latex=&quot;\frac{1}{6}\ \ \ \ \frac{1}{5}&quot;&gt;&lt;mfrac&gt;&lt;mn&gt;1&lt;/mn&gt;&lt;mn&gt;6&lt;/mn&gt;&lt;/mfrac&gt;&lt;mtext&gt;&lt;/mtext&gt;&lt;mtext&gt;&lt;/mtext&gt;&lt;mtext&gt;&lt;/mtext&gt;&lt;mtext&gt;&lt;/mtext&gt;&lt;mfrac&gt;&lt;mn&gt;1&lt;/mn&gt;&lt;mn&gt;5&lt;/mn&gt;&lt;/mfrac&gt;&lt;/math&gt;" title="one sixth one fifth"/>
          <p:cNvPicPr preferRelativeResize="0"/>
          <p:nvPr/>
        </p:nvPicPr>
        <p:blipFill>
          <a:blip r:embed="rId5">
            <a:alphaModFix/>
          </a:blip>
          <a:srcRect l="64099"/>
          <a:stretch>
            <a:fillRect/>
          </a:stretch>
        </p:blipFill>
        <p:spPr>
          <a:xfrm>
            <a:off x="4212361" y="3328575"/>
            <a:ext cx="211200" cy="4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8" name="Shape 1698"/>
        <p:cNvGrpSpPr/>
        <p:nvPr/>
      </p:nvGrpSpPr>
      <p:grpSpPr>
        <a:xfrm>
          <a:off x="0" y="0"/>
          <a:ext cx="0" cy="0"/>
        </a:xfrm>
      </p:grpSpPr>
      <p:sp>
        <p:nvSpPr>
          <p:cNvPr id="1699" name="Google Shape;1699;p98"/>
          <p:cNvSpPr/>
          <p:nvPr/>
        </p:nvSpPr>
        <p:spPr>
          <a:xfrm>
            <a:off x="37254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</a:t>
            </a:r>
            <a:endParaRPr/>
          </a:p>
        </p:txBody>
      </p:sp>
      <p:pic>
        <p:nvPicPr>
          <p:cNvPr id="1701" name="Google Shape;170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67240" y="808500"/>
            <a:ext cx="392935" cy="50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9760" y="841375"/>
            <a:ext cx="422100" cy="47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3" name="Google Shape;1703;p98"/>
          <p:cNvSpPr/>
          <p:nvPr/>
        </p:nvSpPr>
        <p:spPr>
          <a:xfrm>
            <a:off x="14394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8"/>
          <p:cNvSpPr/>
          <p:nvPr/>
        </p:nvSpPr>
        <p:spPr>
          <a:xfrm>
            <a:off x="18966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98"/>
          <p:cNvSpPr/>
          <p:nvPr/>
        </p:nvSpPr>
        <p:spPr>
          <a:xfrm>
            <a:off x="23538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98"/>
          <p:cNvSpPr/>
          <p:nvPr/>
        </p:nvSpPr>
        <p:spPr>
          <a:xfrm>
            <a:off x="28110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98"/>
          <p:cNvSpPr/>
          <p:nvPr/>
        </p:nvSpPr>
        <p:spPr>
          <a:xfrm>
            <a:off x="32682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98"/>
          <p:cNvSpPr/>
          <p:nvPr/>
        </p:nvSpPr>
        <p:spPr>
          <a:xfrm>
            <a:off x="72306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98"/>
          <p:cNvSpPr/>
          <p:nvPr/>
        </p:nvSpPr>
        <p:spPr>
          <a:xfrm>
            <a:off x="54018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98"/>
          <p:cNvSpPr/>
          <p:nvPr/>
        </p:nvSpPr>
        <p:spPr>
          <a:xfrm>
            <a:off x="58590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98"/>
          <p:cNvSpPr/>
          <p:nvPr/>
        </p:nvSpPr>
        <p:spPr>
          <a:xfrm>
            <a:off x="63162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98"/>
          <p:cNvSpPr/>
          <p:nvPr/>
        </p:nvSpPr>
        <p:spPr>
          <a:xfrm>
            <a:off x="6773400" y="808500"/>
            <a:ext cx="347100" cy="5067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8"/>
          <p:cNvSpPr txBox="1"/>
          <p:nvPr>
            <p:ph type="body" idx="4294967295"/>
          </p:nvPr>
        </p:nvSpPr>
        <p:spPr>
          <a:xfrm>
            <a:off x="15179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714" name="Google Shape;1714;p98"/>
          <p:cNvSpPr txBox="1"/>
          <p:nvPr>
            <p:ph type="body" idx="4294967295"/>
          </p:nvPr>
        </p:nvSpPr>
        <p:spPr>
          <a:xfrm>
            <a:off x="19751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</a:t>
            </a:r>
            <a:endParaRPr sz="2000"/>
          </a:p>
        </p:txBody>
      </p:sp>
      <p:sp>
        <p:nvSpPr>
          <p:cNvPr id="1715" name="Google Shape;1715;p98"/>
          <p:cNvSpPr txBox="1"/>
          <p:nvPr>
            <p:ph type="body" idx="4294967295"/>
          </p:nvPr>
        </p:nvSpPr>
        <p:spPr>
          <a:xfrm>
            <a:off x="24323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716" name="Google Shape;1716;p98"/>
          <p:cNvSpPr txBox="1"/>
          <p:nvPr>
            <p:ph type="body" idx="4294967295"/>
          </p:nvPr>
        </p:nvSpPr>
        <p:spPr>
          <a:xfrm>
            <a:off x="28895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sp>
        <p:nvSpPr>
          <p:cNvPr id="1717" name="Google Shape;1717;p98"/>
          <p:cNvSpPr txBox="1"/>
          <p:nvPr>
            <p:ph type="body" idx="4294967295"/>
          </p:nvPr>
        </p:nvSpPr>
        <p:spPr>
          <a:xfrm>
            <a:off x="33467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sp>
        <p:nvSpPr>
          <p:cNvPr id="1718" name="Google Shape;1718;p98"/>
          <p:cNvSpPr txBox="1"/>
          <p:nvPr>
            <p:ph type="body" idx="4294967295"/>
          </p:nvPr>
        </p:nvSpPr>
        <p:spPr>
          <a:xfrm>
            <a:off x="38039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</a:t>
            </a:r>
            <a:endParaRPr sz="2000"/>
          </a:p>
        </p:txBody>
      </p:sp>
      <p:sp>
        <p:nvSpPr>
          <p:cNvPr id="1719" name="Google Shape;1719;p98"/>
          <p:cNvSpPr txBox="1"/>
          <p:nvPr>
            <p:ph type="body" idx="4294967295"/>
          </p:nvPr>
        </p:nvSpPr>
        <p:spPr>
          <a:xfrm>
            <a:off x="54803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</a:t>
            </a:r>
            <a:endParaRPr sz="2000"/>
          </a:p>
        </p:txBody>
      </p:sp>
      <p:sp>
        <p:nvSpPr>
          <p:cNvPr id="1720" name="Google Shape;1720;p98"/>
          <p:cNvSpPr txBox="1"/>
          <p:nvPr>
            <p:ph type="body" idx="4294967295"/>
          </p:nvPr>
        </p:nvSpPr>
        <p:spPr>
          <a:xfrm>
            <a:off x="59375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</a:t>
            </a:r>
            <a:endParaRPr sz="2000"/>
          </a:p>
        </p:txBody>
      </p:sp>
      <p:sp>
        <p:nvSpPr>
          <p:cNvPr id="1721" name="Google Shape;1721;p98"/>
          <p:cNvSpPr txBox="1"/>
          <p:nvPr>
            <p:ph type="body" idx="4294967295"/>
          </p:nvPr>
        </p:nvSpPr>
        <p:spPr>
          <a:xfrm>
            <a:off x="63947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722" name="Google Shape;1722;p98"/>
          <p:cNvSpPr txBox="1"/>
          <p:nvPr>
            <p:ph type="body" idx="4294967295"/>
          </p:nvPr>
        </p:nvSpPr>
        <p:spPr>
          <a:xfrm>
            <a:off x="68519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723" name="Google Shape;1723;p98"/>
          <p:cNvSpPr txBox="1"/>
          <p:nvPr>
            <p:ph type="body" idx="4294967295"/>
          </p:nvPr>
        </p:nvSpPr>
        <p:spPr>
          <a:xfrm>
            <a:off x="7309168" y="899084"/>
            <a:ext cx="2112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</a:t>
            </a:r>
            <a:endParaRPr sz="2000"/>
          </a:p>
        </p:txBody>
      </p:sp>
      <p:sp>
        <p:nvSpPr>
          <p:cNvPr id="1724" name="Google Shape;1724;p98"/>
          <p:cNvSpPr txBox="1"/>
          <p:nvPr>
            <p:ph type="body" idx="4294967295"/>
          </p:nvPr>
        </p:nvSpPr>
        <p:spPr>
          <a:xfrm>
            <a:off x="552600" y="1597500"/>
            <a:ext cx="8496000" cy="6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They change the rules so that they get a point if they select a vowel.</a:t>
            </a:r>
            <a:br>
              <a:rPr lang="en-GB" sz="1600"/>
            </a:br>
            <a:r>
              <a:rPr lang="en-GB" sz="1600"/>
              <a:t>     Who is most is most likely to get a point with these rules? Explain your answer.  </a:t>
            </a:r>
            <a:endParaRPr sz="1600"/>
          </a:p>
        </p:txBody>
      </p:sp>
      <p:sp>
        <p:nvSpPr>
          <p:cNvPr id="1725" name="Google Shape;1725;p98"/>
          <p:cNvSpPr txBox="1"/>
          <p:nvPr>
            <p:ph type="body" idx="4294967295"/>
          </p:nvPr>
        </p:nvSpPr>
        <p:spPr>
          <a:xfrm>
            <a:off x="857400" y="2283300"/>
            <a:ext cx="8016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Andeep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6" name="Google Shape;1726;p98"/>
          <p:cNvSpPr txBox="1"/>
          <p:nvPr>
            <p:ph type="body" idx="4294967295"/>
          </p:nvPr>
        </p:nvSpPr>
        <p:spPr>
          <a:xfrm>
            <a:off x="838475" y="2715275"/>
            <a:ext cx="7981500" cy="6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probability that Andeep picks a vowel is    while the probability that Lucas picks a vowel is    and        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27" name="Google Shape;1727;p98" descr="&lt;math xmlns=&quot;http://www.w3.org/1998/Math/MathML&quot; display=&quot;block&quot; data-is-equatio=&quot;1&quot; data-latex=&quot;\frac{3}{6}&amp;gt;\frac{2}{5}&quot;&gt;&lt;mfrac&gt;&lt;mn&gt;3&lt;/mn&gt;&lt;mn&gt;6&lt;/mn&gt;&lt;/mfrac&gt;&lt;mo&gt;&amp;gt;&lt;/mo&gt;&lt;mfrac&gt;&lt;mn&gt;2&lt;/mn&gt;&lt;mn&gt;5&lt;/mn&gt;&lt;/mfrac&gt;&lt;/math&gt;" title="three sixths is greater than two fifths"/>
          <p:cNvPicPr preferRelativeResize="0"/>
          <p:nvPr/>
        </p:nvPicPr>
        <p:blipFill>
          <a:blip r:embed="rId5">
            <a:alphaModFix/>
          </a:blip>
          <a:srcRect r="66194"/>
          <a:stretch>
            <a:fillRect/>
          </a:stretch>
        </p:blipFill>
        <p:spPr>
          <a:xfrm>
            <a:off x="5235823" y="2613300"/>
            <a:ext cx="189400" cy="42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8" name="Google Shape;1728;p98" descr="&lt;math xmlns=&quot;http://www.w3.org/1998/Math/MathML&quot; display=&quot;block&quot; data-is-equatio=&quot;1&quot; data-latex=&quot;\frac{3}{6}&amp;gt;\frac{2}{5}&quot;&gt;&lt;mfrac&gt;&lt;mn&gt;3&lt;/mn&gt;&lt;mn&gt;6&lt;/mn&gt;&lt;/mfrac&gt;&lt;mo&gt;&amp;gt;&lt;/mo&gt;&lt;mfrac&gt;&lt;mn&gt;2&lt;/mn&gt;&lt;mn&gt;5&lt;/mn&gt;&lt;/mfrac&gt;&lt;/math&gt;" title="three sixths is greater than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2077" y="3017204"/>
            <a:ext cx="560255" cy="42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98" descr="&lt;math xmlns=&quot;http://www.w3.org/1998/Math/MathML&quot; display=&quot;block&quot; data-is-equatio=&quot;1&quot; data-latex=&quot;\frac{3}{6}&amp;gt;\frac{2}{5}&quot;&gt;&lt;mfrac&gt;&lt;mn&gt;3&lt;/mn&gt;&lt;mn&gt;6&lt;/mn&gt;&lt;/mfrac&gt;&lt;mo&gt;&amp;gt;&lt;/mo&gt;&lt;mfrac&gt;&lt;mn&gt;2&lt;/mn&gt;&lt;mn&gt;5&lt;/mn&gt;&lt;/mfrac&gt;&lt;/math&gt;" title="three sixths is greater than two fifths"/>
          <p:cNvPicPr preferRelativeResize="0"/>
          <p:nvPr/>
        </p:nvPicPr>
        <p:blipFill>
          <a:blip r:embed="rId5">
            <a:alphaModFix/>
          </a:blip>
          <a:srcRect l="66194"/>
          <a:stretch>
            <a:fillRect/>
          </a:stretch>
        </p:blipFill>
        <p:spPr>
          <a:xfrm>
            <a:off x="2445602" y="3017203"/>
            <a:ext cx="189400" cy="4249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98"/>
          <p:cNvSpPr txBox="1"/>
          <p:nvPr>
            <p:ph type="body" idx="4294967295"/>
          </p:nvPr>
        </p:nvSpPr>
        <p:spPr>
          <a:xfrm>
            <a:off x="838475" y="4086875"/>
            <a:ext cx="7620600" cy="6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probability that Andeep picks a vowel is a half, while the probability that Lucas picks a vowel is less than a half.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1" name="Google Shape;1731;p98"/>
          <p:cNvSpPr txBox="1"/>
          <p:nvPr>
            <p:ph type="body" idx="4294967295"/>
          </p:nvPr>
        </p:nvSpPr>
        <p:spPr>
          <a:xfrm>
            <a:off x="825860" y="3585519"/>
            <a:ext cx="2475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or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5" name="Shape 1735"/>
        <p:cNvGrpSpPr/>
        <p:nvPr/>
      </p:nvGrpSpPr>
      <p:grpSpPr>
        <a:xfrm>
          <a:off x="0" y="0"/>
          <a:ext cx="0" cy="0"/>
        </a:xfrm>
      </p:grpSpPr>
      <p:sp>
        <p:nvSpPr>
          <p:cNvPr id="1736" name="Google Shape;1736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737" name="Google Shape;1737;p99"/>
          <p:cNvSpPr txBox="1"/>
          <p:nvPr>
            <p:ph type="body" idx="4294967295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A regular six-sided dice is rolled. Find the following probabilities. </a:t>
            </a:r>
            <a:endParaRPr sz="1600"/>
          </a:p>
        </p:txBody>
      </p:sp>
      <p:sp>
        <p:nvSpPr>
          <p:cNvPr id="1738" name="Google Shape;1738;p99"/>
          <p:cNvSpPr txBox="1"/>
          <p:nvPr>
            <p:ph type="body" idx="4294967295"/>
          </p:nvPr>
        </p:nvSpPr>
        <p:spPr>
          <a:xfrm>
            <a:off x="324000" y="1140300"/>
            <a:ext cx="943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P(3)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 =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9" name="Google Shape;1739;p99"/>
          <p:cNvSpPr txBox="1"/>
          <p:nvPr>
            <p:ph type="body" idx="4294967295"/>
          </p:nvPr>
        </p:nvSpPr>
        <p:spPr>
          <a:xfrm>
            <a:off x="3054900" y="1140300"/>
            <a:ext cx="1171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P(4)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 =</a:t>
            </a:r>
            <a:endParaRPr sz="1600"/>
          </a:p>
        </p:txBody>
      </p:sp>
      <p:sp>
        <p:nvSpPr>
          <p:cNvPr id="1740" name="Google Shape;1740;p99"/>
          <p:cNvSpPr txBox="1"/>
          <p:nvPr>
            <p:ph type="body" idx="4294967295"/>
          </p:nvPr>
        </p:nvSpPr>
        <p:spPr>
          <a:xfrm>
            <a:off x="5785800" y="1140300"/>
            <a:ext cx="2238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P(not 4)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 =</a:t>
            </a:r>
            <a:endParaRPr sz="1600"/>
          </a:p>
        </p:txBody>
      </p:sp>
      <p:sp>
        <p:nvSpPr>
          <p:cNvPr id="1741" name="Google Shape;1741;p99"/>
          <p:cNvSpPr txBox="1"/>
          <p:nvPr>
            <p:ph type="body" idx="4294967295"/>
          </p:nvPr>
        </p:nvSpPr>
        <p:spPr>
          <a:xfrm>
            <a:off x="324000" y="1826100"/>
            <a:ext cx="1461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 P(even) 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=</a:t>
            </a:r>
            <a:endParaRPr sz="1600"/>
          </a:p>
        </p:txBody>
      </p:sp>
      <p:sp>
        <p:nvSpPr>
          <p:cNvPr id="1742" name="Google Shape;1742;p99"/>
          <p:cNvSpPr txBox="1"/>
          <p:nvPr>
            <p:ph type="body" idx="4294967295"/>
          </p:nvPr>
        </p:nvSpPr>
        <p:spPr>
          <a:xfrm>
            <a:off x="3067200" y="1826100"/>
            <a:ext cx="1504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e) P(odd)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 =</a:t>
            </a:r>
            <a:endParaRPr sz="1600"/>
          </a:p>
        </p:txBody>
      </p:sp>
      <p:sp>
        <p:nvSpPr>
          <p:cNvPr id="1743" name="Google Shape;1743;p99"/>
          <p:cNvSpPr txBox="1"/>
          <p:nvPr>
            <p:ph type="body" idx="4294967295"/>
          </p:nvPr>
        </p:nvSpPr>
        <p:spPr>
          <a:xfrm>
            <a:off x="5810400" y="1826100"/>
            <a:ext cx="2645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f) P(multiple of 3)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 =</a:t>
            </a:r>
            <a:endParaRPr sz="1600"/>
          </a:p>
        </p:txBody>
      </p:sp>
      <p:sp>
        <p:nvSpPr>
          <p:cNvPr id="1744" name="Google Shape;1744;p99"/>
          <p:cNvSpPr txBox="1"/>
          <p:nvPr>
            <p:ph type="body" idx="4294967295"/>
          </p:nvPr>
        </p:nvSpPr>
        <p:spPr>
          <a:xfrm>
            <a:off x="324000" y="2511900"/>
            <a:ext cx="1745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g) P(7) 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=</a:t>
            </a:r>
            <a:endParaRPr sz="1600"/>
          </a:p>
        </p:txBody>
      </p:sp>
      <p:sp>
        <p:nvSpPr>
          <p:cNvPr id="1745" name="Google Shape;1745;p99"/>
          <p:cNvSpPr txBox="1"/>
          <p:nvPr>
            <p:ph type="body" idx="4294967295"/>
          </p:nvPr>
        </p:nvSpPr>
        <p:spPr>
          <a:xfrm>
            <a:off x="3067200" y="2511900"/>
            <a:ext cx="1745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h) P(not 7)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 =</a:t>
            </a:r>
            <a:endParaRPr sz="1600"/>
          </a:p>
        </p:txBody>
      </p:sp>
      <p:sp>
        <p:nvSpPr>
          <p:cNvPr id="1746" name="Google Shape;1746;p99"/>
          <p:cNvSpPr txBox="1"/>
          <p:nvPr>
            <p:ph type="body" idx="4294967295"/>
          </p:nvPr>
        </p:nvSpPr>
        <p:spPr>
          <a:xfrm>
            <a:off x="5810400" y="2511900"/>
            <a:ext cx="1856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i) P(factor of 60)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 =</a:t>
            </a:r>
            <a:endParaRPr sz="1600"/>
          </a:p>
        </p:txBody>
      </p:sp>
      <p:pic>
        <p:nvPicPr>
          <p:cNvPr id="1747" name="Google Shape;1747;p99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3">
            <a:alphaModFix/>
          </a:blip>
          <a:srcRect r="78881"/>
          <a:stretch>
            <a:fillRect/>
          </a:stretch>
        </p:blipFill>
        <p:spPr>
          <a:xfrm>
            <a:off x="1283247" y="1063725"/>
            <a:ext cx="217025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" name="Google Shape;1748;p99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3">
            <a:alphaModFix/>
          </a:blip>
          <a:srcRect r="78881"/>
          <a:stretch>
            <a:fillRect/>
          </a:stretch>
        </p:blipFill>
        <p:spPr>
          <a:xfrm>
            <a:off x="4047725" y="1063725"/>
            <a:ext cx="217025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9" name="Google Shape;1749;p99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3">
            <a:alphaModFix/>
          </a:blip>
          <a:srcRect l="21734" r="50031"/>
          <a:stretch>
            <a:fillRect/>
          </a:stretch>
        </p:blipFill>
        <p:spPr>
          <a:xfrm>
            <a:off x="7090149" y="1063725"/>
            <a:ext cx="290150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0" name="Google Shape;1750;p99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3">
            <a:alphaModFix/>
          </a:blip>
          <a:srcRect l="49967" r="21797"/>
          <a:stretch>
            <a:fillRect/>
          </a:stretch>
        </p:blipFill>
        <p:spPr>
          <a:xfrm>
            <a:off x="1586074" y="1707625"/>
            <a:ext cx="290150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1" name="Google Shape;1751;p99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3">
            <a:alphaModFix/>
          </a:blip>
          <a:srcRect l="49967" r="21797"/>
          <a:stretch>
            <a:fillRect/>
          </a:stretch>
        </p:blipFill>
        <p:spPr>
          <a:xfrm>
            <a:off x="4253074" y="1726549"/>
            <a:ext cx="290150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2" name="Google Shape;1752;p99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3">
            <a:alphaModFix/>
          </a:blip>
          <a:srcRect l="78881"/>
          <a:stretch>
            <a:fillRect/>
          </a:stretch>
        </p:blipFill>
        <p:spPr>
          <a:xfrm>
            <a:off x="7765730" y="1724164"/>
            <a:ext cx="217025" cy="45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99"/>
          <p:cNvSpPr txBox="1"/>
          <p:nvPr>
            <p:ph type="body" idx="4294967295"/>
          </p:nvPr>
        </p:nvSpPr>
        <p:spPr>
          <a:xfrm>
            <a:off x="1232092" y="2511900"/>
            <a:ext cx="148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endParaRPr sz="1800"/>
          </a:p>
        </p:txBody>
      </p:sp>
      <p:sp>
        <p:nvSpPr>
          <p:cNvPr id="1754" name="Google Shape;1754;p99"/>
          <p:cNvSpPr txBox="1"/>
          <p:nvPr>
            <p:ph type="body" idx="4294967295"/>
          </p:nvPr>
        </p:nvSpPr>
        <p:spPr>
          <a:xfrm>
            <a:off x="4375216" y="2518208"/>
            <a:ext cx="148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/>
          </a:p>
        </p:txBody>
      </p:sp>
      <p:sp>
        <p:nvSpPr>
          <p:cNvPr id="1755" name="Google Shape;1755;p99"/>
          <p:cNvSpPr txBox="1"/>
          <p:nvPr>
            <p:ph type="body" idx="4294967295"/>
          </p:nvPr>
        </p:nvSpPr>
        <p:spPr>
          <a:xfrm>
            <a:off x="7734324" y="2518208"/>
            <a:ext cx="148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/>
          </a:p>
        </p:txBody>
      </p:sp>
      <p:sp>
        <p:nvSpPr>
          <p:cNvPr id="1756" name="Google Shape;1756;p99"/>
          <p:cNvSpPr txBox="1"/>
          <p:nvPr>
            <p:ph type="body" idx="4294967295"/>
          </p:nvPr>
        </p:nvSpPr>
        <p:spPr>
          <a:xfrm>
            <a:off x="342953" y="3204000"/>
            <a:ext cx="7610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Other equivalent fractions, decimals or percentages may be used.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0" name="Shape 1760"/>
        <p:cNvGrpSpPr/>
        <p:nvPr/>
      </p:nvGrpSpPr>
      <p:grpSpPr>
        <a:xfrm>
          <a:off x="0" y="0"/>
          <a:ext cx="0" cy="0"/>
        </a:xfrm>
      </p:grpSpPr>
      <p:pic>
        <p:nvPicPr>
          <p:cNvPr id="1761" name="Google Shape;176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1100" y="3352748"/>
            <a:ext cx="2179850" cy="123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of events</a:t>
            </a:r>
            <a:endParaRPr/>
          </a:p>
        </p:txBody>
      </p:sp>
      <p:sp>
        <p:nvSpPr>
          <p:cNvPr id="1763" name="Google Shape;1763;p100"/>
          <p:cNvSpPr txBox="1"/>
          <p:nvPr>
            <p:ph type="body" idx="4294967295"/>
          </p:nvPr>
        </p:nvSpPr>
        <p:spPr>
          <a:xfrm>
            <a:off x="324000" y="759300"/>
            <a:ext cx="8431500" cy="5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j) The dice is rolled 60 times. Approximately how many times could it be expected to </a:t>
            </a:r>
            <a:br>
              <a:rPr lang="en-GB" sz="1600"/>
            </a:br>
            <a:r>
              <a:rPr lang="en-GB" sz="1600"/>
              <a:t>   land on the number 3, based on its probability?</a:t>
            </a:r>
            <a:endParaRPr sz="1600"/>
          </a:p>
        </p:txBody>
      </p:sp>
      <p:sp>
        <p:nvSpPr>
          <p:cNvPr id="1764" name="Google Shape;1764;p100"/>
          <p:cNvSpPr txBox="1"/>
          <p:nvPr>
            <p:ph type="body" idx="4294967295"/>
          </p:nvPr>
        </p:nvSpPr>
        <p:spPr>
          <a:xfrm>
            <a:off x="324000" y="1749900"/>
            <a:ext cx="8431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k) Will your answer to part (j) necessarily happen? Explain your answer.</a:t>
            </a:r>
            <a:endParaRPr sz="1600"/>
          </a:p>
        </p:txBody>
      </p:sp>
      <p:sp>
        <p:nvSpPr>
          <p:cNvPr id="1765" name="Google Shape;1765;p100"/>
          <p:cNvSpPr txBox="1"/>
          <p:nvPr>
            <p:ph type="body" idx="4294967295"/>
          </p:nvPr>
        </p:nvSpPr>
        <p:spPr>
          <a:xfrm>
            <a:off x="5924459" y="1273768"/>
            <a:ext cx="1386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of 60 = 10</a:t>
            </a:r>
            <a:endParaRPr sz="1800"/>
          </a:p>
        </p:txBody>
      </p:sp>
      <p:pic>
        <p:nvPicPr>
          <p:cNvPr id="1766" name="Google Shape;1766;p100" descr="&lt;math xmlns=&quot;http://www.w3.org/1998/Math/MathML&quot; display=&quot;block&quot; data-is-equatio=&quot;1&quot; data-latex=&quot;\frac{1}{6}\ \ \frac{5}{6}\ \ \frac{3}{6}\ \ \frac{2}{6}\ \ &quot;&gt;&lt;mfrac&gt;&lt;mn&gt;1&lt;/mn&gt;&lt;mn&gt;6&lt;/mn&gt;&lt;/mfrac&gt;&lt;mtext&gt;&lt;/mtext&gt;&lt;mtext&gt;&lt;/mtext&gt;&lt;mfrac&gt;&lt;mn&gt;5&lt;/mn&gt;&lt;mn&gt;6&lt;/mn&gt;&lt;/mfrac&gt;&lt;mtext&gt;&lt;/mtext&gt;&lt;mtext&gt;&lt;/mtext&gt;&lt;mfrac&gt;&lt;mn&gt;3&lt;/mn&gt;&lt;mn&gt;6&lt;/mn&gt;&lt;/mfrac&gt;&lt;mtext&gt;&lt;/mtext&gt;&lt;mtext&gt;&lt;/mtext&gt;&lt;mfrac&gt;&lt;mn&gt;2&lt;/mn&gt;&lt;mn&gt;6&lt;/mn&gt;&lt;/mfrac&gt;&lt;mtext&gt;&lt;/mtext&gt;&lt;mtext&gt;&lt;/mtext&gt;&lt;/math&gt;" title="one sixth five sixths three sixths two sixths"/>
          <p:cNvPicPr preferRelativeResize="0"/>
          <p:nvPr/>
        </p:nvPicPr>
        <p:blipFill>
          <a:blip r:embed="rId4">
            <a:alphaModFix/>
          </a:blip>
          <a:srcRect r="78881"/>
          <a:stretch>
            <a:fillRect/>
          </a:stretch>
        </p:blipFill>
        <p:spPr>
          <a:xfrm>
            <a:off x="5698332" y="1219327"/>
            <a:ext cx="182668" cy="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00"/>
          <p:cNvSpPr txBox="1"/>
          <p:nvPr>
            <p:ph type="body" idx="4294967295"/>
          </p:nvPr>
        </p:nvSpPr>
        <p:spPr>
          <a:xfrm>
            <a:off x="489592" y="2094125"/>
            <a:ext cx="6796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No. The probability only provides a theoretical expectation.</a:t>
            </a:r>
            <a:endParaRPr sz="1800"/>
          </a:p>
        </p:txBody>
      </p:sp>
      <p:cxnSp>
        <p:nvCxnSpPr>
          <p:cNvPr id="1768" name="Google Shape;1768;p100"/>
          <p:cNvCxnSpPr/>
          <p:nvPr/>
        </p:nvCxnSpPr>
        <p:spPr>
          <a:xfrm rot="10800000" flipH="1">
            <a:off x="1474322" y="2902350"/>
            <a:ext cx="0" cy="1688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9" name="Google Shape;1769;p100"/>
          <p:cNvCxnSpPr/>
          <p:nvPr/>
        </p:nvCxnSpPr>
        <p:spPr>
          <a:xfrm>
            <a:off x="1452528" y="4582450"/>
            <a:ext cx="249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0" name="Google Shape;1770;p100"/>
          <p:cNvSpPr txBox="1"/>
          <p:nvPr/>
        </p:nvSpPr>
        <p:spPr>
          <a:xfrm>
            <a:off x="1755738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00"/>
          <p:cNvSpPr txBox="1"/>
          <p:nvPr/>
        </p:nvSpPr>
        <p:spPr>
          <a:xfrm>
            <a:off x="2075068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00"/>
          <p:cNvSpPr txBox="1"/>
          <p:nvPr/>
        </p:nvSpPr>
        <p:spPr>
          <a:xfrm>
            <a:off x="2401662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00"/>
          <p:cNvSpPr txBox="1"/>
          <p:nvPr/>
        </p:nvSpPr>
        <p:spPr>
          <a:xfrm>
            <a:off x="2720992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00"/>
          <p:cNvSpPr txBox="1"/>
          <p:nvPr/>
        </p:nvSpPr>
        <p:spPr>
          <a:xfrm>
            <a:off x="3070159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00"/>
          <p:cNvSpPr txBox="1"/>
          <p:nvPr/>
        </p:nvSpPr>
        <p:spPr>
          <a:xfrm>
            <a:off x="3416272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100"/>
          <p:cNvSpPr txBox="1"/>
          <p:nvPr/>
        </p:nvSpPr>
        <p:spPr>
          <a:xfrm rot="-5400000">
            <a:off x="371769" y="3614425"/>
            <a:ext cx="11163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7" name="Google Shape;1777;p100"/>
          <p:cNvCxnSpPr/>
          <p:nvPr/>
        </p:nvCxnSpPr>
        <p:spPr>
          <a:xfrm rot="10800000" flipH="1">
            <a:off x="5491109" y="2909550"/>
            <a:ext cx="0" cy="168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8" name="Google Shape;1778;p100"/>
          <p:cNvCxnSpPr/>
          <p:nvPr/>
        </p:nvCxnSpPr>
        <p:spPr>
          <a:xfrm>
            <a:off x="5469315" y="4582450"/>
            <a:ext cx="2491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9" name="Google Shape;1779;p100"/>
          <p:cNvSpPr txBox="1"/>
          <p:nvPr/>
        </p:nvSpPr>
        <p:spPr>
          <a:xfrm>
            <a:off x="5772525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00"/>
          <p:cNvSpPr txBox="1"/>
          <p:nvPr/>
        </p:nvSpPr>
        <p:spPr>
          <a:xfrm>
            <a:off x="6091855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100"/>
          <p:cNvSpPr txBox="1"/>
          <p:nvPr/>
        </p:nvSpPr>
        <p:spPr>
          <a:xfrm>
            <a:off x="6418449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00"/>
          <p:cNvSpPr txBox="1"/>
          <p:nvPr/>
        </p:nvSpPr>
        <p:spPr>
          <a:xfrm>
            <a:off x="6737779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00"/>
          <p:cNvSpPr txBox="1"/>
          <p:nvPr/>
        </p:nvSpPr>
        <p:spPr>
          <a:xfrm>
            <a:off x="7086946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00"/>
          <p:cNvSpPr txBox="1"/>
          <p:nvPr/>
        </p:nvSpPr>
        <p:spPr>
          <a:xfrm>
            <a:off x="7433059" y="45824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100"/>
          <p:cNvSpPr txBox="1"/>
          <p:nvPr/>
        </p:nvSpPr>
        <p:spPr>
          <a:xfrm>
            <a:off x="5278970" y="44300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00"/>
          <p:cNvSpPr txBox="1"/>
          <p:nvPr/>
        </p:nvSpPr>
        <p:spPr>
          <a:xfrm>
            <a:off x="5210115" y="3697117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100"/>
          <p:cNvSpPr txBox="1"/>
          <p:nvPr/>
        </p:nvSpPr>
        <p:spPr>
          <a:xfrm>
            <a:off x="5202644" y="33306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00"/>
          <p:cNvSpPr txBox="1"/>
          <p:nvPr/>
        </p:nvSpPr>
        <p:spPr>
          <a:xfrm rot="-5400000">
            <a:off x="4388556" y="3614425"/>
            <a:ext cx="11163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00"/>
          <p:cNvSpPr txBox="1"/>
          <p:nvPr/>
        </p:nvSpPr>
        <p:spPr>
          <a:xfrm>
            <a:off x="5286315" y="4063583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00"/>
          <p:cNvSpPr txBox="1"/>
          <p:nvPr/>
        </p:nvSpPr>
        <p:spPr>
          <a:xfrm>
            <a:off x="5202644" y="29496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00"/>
          <p:cNvSpPr txBox="1"/>
          <p:nvPr/>
        </p:nvSpPr>
        <p:spPr>
          <a:xfrm>
            <a:off x="1240370" y="44300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00"/>
          <p:cNvSpPr txBox="1"/>
          <p:nvPr/>
        </p:nvSpPr>
        <p:spPr>
          <a:xfrm>
            <a:off x="1171515" y="3697117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00"/>
          <p:cNvSpPr txBox="1"/>
          <p:nvPr/>
        </p:nvSpPr>
        <p:spPr>
          <a:xfrm>
            <a:off x="1164044" y="33306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00"/>
          <p:cNvSpPr txBox="1"/>
          <p:nvPr/>
        </p:nvSpPr>
        <p:spPr>
          <a:xfrm>
            <a:off x="1247715" y="4063583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00"/>
          <p:cNvSpPr txBox="1"/>
          <p:nvPr/>
        </p:nvSpPr>
        <p:spPr>
          <a:xfrm>
            <a:off x="1164044" y="2949650"/>
            <a:ext cx="237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00"/>
          <p:cNvSpPr txBox="1"/>
          <p:nvPr>
            <p:ph type="body" idx="4294967295"/>
          </p:nvPr>
        </p:nvSpPr>
        <p:spPr>
          <a:xfrm>
            <a:off x="489592" y="2551325"/>
            <a:ext cx="6796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 from the simulation:</a:t>
            </a:r>
            <a:endParaRPr sz="1800"/>
          </a:p>
        </p:txBody>
      </p:sp>
      <p:pic>
        <p:nvPicPr>
          <p:cNvPr id="1797" name="Google Shape;1797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4150" y="3071437"/>
            <a:ext cx="2244750" cy="1511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1" name="Shape 1801"/>
        <p:cNvGrpSpPr/>
        <p:nvPr/>
      </p:nvGrpSpPr>
      <p:grpSpPr>
        <a:xfrm>
          <a:off x="0" y="0"/>
          <a:ext cx="0" cy="0"/>
        </a:xfrm>
      </p:grpSpPr>
      <p:sp>
        <p:nvSpPr>
          <p:cNvPr id="1802" name="Google Shape;1802;p101"/>
          <p:cNvSpPr txBox="1"/>
          <p:nvPr>
            <p:ph type="body" idx="1"/>
          </p:nvPr>
        </p:nvSpPr>
        <p:spPr>
          <a:xfrm>
            <a:off x="324000" y="1080000"/>
            <a:ext cx="8496000" cy="298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A </a:t>
            </a:r>
            <a:r>
              <a:rPr lang="en-GB" sz="2000" b="1"/>
              <a:t>theoretical probability</a:t>
            </a:r>
            <a:r>
              <a:rPr lang="en-GB" sz="2000"/>
              <a:t> is a probability based on counting outcomes in scenarios where all individual outcomes are equally likely.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The probability of an outcome or set of outcomes can be found by considering the list of all possible outcomes.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A list of all possible outcomes can help us to find a probability, even when the sets of outcomes are not equally likely.</a:t>
            </a:r>
            <a:endParaRPr sz="2000"/>
          </a:p>
        </p:txBody>
      </p:sp>
      <p:sp>
        <p:nvSpPr>
          <p:cNvPr id="1803" name="Google Shape;1803;p101"/>
          <p:cNvSpPr txBox="1"/>
          <p:nvPr>
            <p:ph type="title"/>
          </p:nvPr>
        </p:nvSpPr>
        <p:spPr>
          <a:xfrm>
            <a:off x="1684800" y="43825"/>
            <a:ext cx="5741400" cy="711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lists (one event)</a:t>
            </a:r>
            <a:endParaRPr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7" name="Shape 1807"/>
        <p:cNvGrpSpPr/>
        <p:nvPr/>
      </p:nvGrpSpPr>
      <p:grpSpPr>
        <a:xfrm>
          <a:off x="0" y="0"/>
          <a:ext cx="0" cy="0"/>
        </a:xfrm>
      </p:grpSpPr>
      <p:sp>
        <p:nvSpPr>
          <p:cNvPr id="1808" name="Google Shape;1808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09" name="Google Shape;180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487</Paragraphs>
  <Slides>40</Slides>
  <Notes>40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baseType="lpstr" size="49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Calculating theoretical probabilities from lists (one event)</vt:lpstr>
      <vt:lpstr>PowerPoint Presentation</vt:lpstr>
      <vt:lpstr>PowerPoint Presentation</vt:lpstr>
      <vt:lpstr>PowerPoint Presentation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Which spinner has a probability of     for landing on ‘win’?</vt:lpstr>
      <vt:lpstr>What is the probability that this spinner lands on ‘win’, each time it is spun?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 with spinners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Finding probabilities of events</vt:lpstr>
      <vt:lpstr>Calculating theoretical probabilities from lists (one event)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2024-03-05T12:29:22.162</cp:lastPrinted>
  <dcterms:created xsi:type="dcterms:W3CDTF">2024-03-05T12:29:22Z</dcterms:created>
  <dcterms:modified xsi:type="dcterms:W3CDTF">2024-03-05T12:32:23Z</dcterms:modified>
</cp:coreProperties>
</file>