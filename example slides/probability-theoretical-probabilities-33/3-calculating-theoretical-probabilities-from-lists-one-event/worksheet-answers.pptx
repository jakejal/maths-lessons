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85" name="Shape 285"/>
        <p:cNvGrpSpPr/>
        <p:nvPr/>
      </p:nvGrpSpPr>
      <p:grpSpPr>
        <a:xfrm>
          <a:off x="0" y="0"/>
          <a:ext cx="0" cy="0"/>
        </a:xfrm>
      </p:grpSpPr>
      <p:sp>
        <p:nvSpPr>
          <p:cNvPr id="286" name="Google Shape;286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image" Target="../media/image11.png" /><Relationship Id="rId6" Type="http://schemas.openxmlformats.org/officeDocument/2006/relationships/image" Target="../media/image12.png" /><Relationship Id="rId7" Type="http://schemas.openxmlformats.org/officeDocument/2006/relationships/image" Target="../media/image13.png" /><Relationship Id="rId8" Type="http://schemas.openxmlformats.org/officeDocument/2006/relationships/image" Target="../media/image14.png" /><Relationship Id="rId9" Type="http://schemas.openxmlformats.org/officeDocument/2006/relationships/image" Target="../media/image15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lists (one event)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 txBox="1"/>
          <p:nvPr/>
        </p:nvSpPr>
        <p:spPr>
          <a:xfrm>
            <a:off x="517439" y="2037718"/>
            <a:ext cx="6298800" cy="2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Here are four win/lose spinners.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9927" y="1639850"/>
            <a:ext cx="6239100" cy="2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Finding probabilities of events with spinners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622307" y="3733311"/>
            <a:ext cx="1175400" cy="11754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7" name="Google Shape;177;p20"/>
          <p:cNvSpPr/>
          <p:nvPr/>
        </p:nvSpPr>
        <p:spPr>
          <a:xfrm rot="8650304">
            <a:off x="632512" y="3743461"/>
            <a:ext cx="1155191" cy="1155191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8" name="Google Shape;178;p20"/>
          <p:cNvSpPr/>
          <p:nvPr/>
        </p:nvSpPr>
        <p:spPr>
          <a:xfrm rot="-8628706">
            <a:off x="632845" y="3743833"/>
            <a:ext cx="1154902" cy="1154902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9" name="Google Shape;179;p20"/>
          <p:cNvSpPr/>
          <p:nvPr/>
        </p:nvSpPr>
        <p:spPr>
          <a:xfrm rot="-4310281">
            <a:off x="632674" y="3743736"/>
            <a:ext cx="1154940" cy="115494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632733" y="3743831"/>
            <a:ext cx="1154700" cy="11547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715347" y="2392850"/>
            <a:ext cx="989700" cy="9897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2" name="Google Shape;182;p20"/>
          <p:cNvSpPr/>
          <p:nvPr/>
        </p:nvSpPr>
        <p:spPr>
          <a:xfrm rot="7199428">
            <a:off x="724066" y="2401592"/>
            <a:ext cx="972280" cy="97228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 rot="-7211797">
            <a:off x="724068" y="2401667"/>
            <a:ext cx="972227" cy="972227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724027" y="2401565"/>
            <a:ext cx="972600" cy="97260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1299832" y="2642839"/>
            <a:ext cx="47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1012352" y="3015725"/>
            <a:ext cx="57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729975" y="2642839"/>
            <a:ext cx="47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1002775" y="4468600"/>
            <a:ext cx="52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 rot="4313105">
            <a:off x="632615" y="3743454"/>
            <a:ext cx="1154945" cy="1154945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786807" y="3908228"/>
            <a:ext cx="45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1373241" y="4295877"/>
            <a:ext cx="51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634770" y="4295856"/>
            <a:ext cx="51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3" name="Google Shape;193;p20"/>
          <p:cNvGrpSpPr/>
          <p:nvPr/>
        </p:nvGrpSpPr>
        <p:grpSpPr>
          <a:xfrm>
            <a:off x="1176392" y="3772060"/>
            <a:ext cx="65091" cy="566308"/>
            <a:chOff x="996050" y="213293"/>
            <a:chExt cx="93900" cy="909732"/>
          </a:xfrm>
        </p:grpSpPr>
        <p:cxnSp>
          <p:nvCxnSpPr>
            <p:cNvPr id="194" name="Google Shape;194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95" name="Google Shape;195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96" name="Google Shape;196;p20"/>
          <p:cNvGrpSpPr/>
          <p:nvPr/>
        </p:nvGrpSpPr>
        <p:grpSpPr>
          <a:xfrm>
            <a:off x="1181751" y="2442312"/>
            <a:ext cx="54791" cy="476699"/>
            <a:chOff x="996050" y="213293"/>
            <a:chExt cx="93900" cy="909732"/>
          </a:xfrm>
        </p:grpSpPr>
        <p:cxnSp>
          <p:nvCxnSpPr>
            <p:cNvPr id="197" name="Google Shape;197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98" name="Google Shape;198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99" name="Google Shape;199;p20"/>
          <p:cNvSpPr/>
          <p:nvPr/>
        </p:nvSpPr>
        <p:spPr>
          <a:xfrm>
            <a:off x="2208556" y="4184682"/>
            <a:ext cx="989700" cy="9897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0" name="Google Shape;200;p20"/>
          <p:cNvSpPr/>
          <p:nvPr/>
        </p:nvSpPr>
        <p:spPr>
          <a:xfrm flipH="1">
            <a:off x="2216922" y="4193295"/>
            <a:ext cx="972600" cy="9726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F0F0F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2217169" y="4193295"/>
            <a:ext cx="972600" cy="972600"/>
          </a:xfrm>
          <a:prstGeom prst="pie">
            <a:avLst>
              <a:gd name="adj1" fmla="val 5387953"/>
              <a:gd name="adj2" fmla="val 10858220"/>
            </a:avLst>
          </a:prstGeom>
          <a:solidFill>
            <a:srgbClr val="F0F0F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2217169" y="4193295"/>
            <a:ext cx="972600" cy="972600"/>
          </a:xfrm>
          <a:prstGeom prst="pie">
            <a:avLst>
              <a:gd name="adj1" fmla="val 10799941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2239359" y="4351985"/>
            <a:ext cx="45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 flipH="1">
            <a:off x="2216922" y="4193295"/>
            <a:ext cx="972600" cy="9726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2732013" y="4351985"/>
            <a:ext cx="51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6" name="Google Shape;206;p20"/>
          <p:cNvGrpSpPr/>
          <p:nvPr/>
        </p:nvGrpSpPr>
        <p:grpSpPr>
          <a:xfrm>
            <a:off x="2674954" y="4222935"/>
            <a:ext cx="54791" cy="476790"/>
            <a:chOff x="996050" y="213293"/>
            <a:chExt cx="93900" cy="909732"/>
          </a:xfrm>
        </p:grpSpPr>
        <p:cxnSp>
          <p:nvCxnSpPr>
            <p:cNvPr id="207" name="Google Shape;207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08" name="Google Shape;208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09" name="Google Shape;209;p20"/>
          <p:cNvSpPr/>
          <p:nvPr/>
        </p:nvSpPr>
        <p:spPr>
          <a:xfrm>
            <a:off x="2038654" y="2521527"/>
            <a:ext cx="1329300" cy="1329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0" name="Google Shape;210;p20"/>
          <p:cNvSpPr/>
          <p:nvPr/>
        </p:nvSpPr>
        <p:spPr>
          <a:xfrm flipH="1">
            <a:off x="2049976" y="2533097"/>
            <a:ext cx="1306500" cy="13065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2050224" y="2533097"/>
            <a:ext cx="1306500" cy="1306500"/>
          </a:xfrm>
          <a:prstGeom prst="pie">
            <a:avLst>
              <a:gd name="adj1" fmla="val 5387953"/>
              <a:gd name="adj2" fmla="val 8080958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2050224" y="2533097"/>
            <a:ext cx="1306500" cy="1306500"/>
          </a:xfrm>
          <a:prstGeom prst="pie">
            <a:avLst>
              <a:gd name="adj1" fmla="val 10799941"/>
              <a:gd name="adj2" fmla="val 13483876"/>
            </a:avLst>
          </a:prstGeom>
          <a:solidFill>
            <a:srgbClr val="F0F0F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3" name="Google Shape;213;p20"/>
          <p:cNvSpPr/>
          <p:nvPr/>
        </p:nvSpPr>
        <p:spPr>
          <a:xfrm flipH="1">
            <a:off x="2049976" y="2533097"/>
            <a:ext cx="1306500" cy="1306500"/>
          </a:xfrm>
          <a:prstGeom prst="pie">
            <a:avLst>
              <a:gd name="adj1" fmla="val 13450827"/>
              <a:gd name="adj2" fmla="val 16200000"/>
            </a:avLst>
          </a:prstGeom>
          <a:solidFill>
            <a:srgbClr val="F0F0F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2050224" y="2533097"/>
            <a:ext cx="1306500" cy="1306500"/>
          </a:xfrm>
          <a:prstGeom prst="pie">
            <a:avLst>
              <a:gd name="adj1" fmla="val 13499013"/>
              <a:gd name="adj2" fmla="val 16232488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2050224" y="2533097"/>
            <a:ext cx="1306500" cy="1306500"/>
          </a:xfrm>
          <a:prstGeom prst="pie">
            <a:avLst>
              <a:gd name="adj1" fmla="val 8080793"/>
              <a:gd name="adj2" fmla="val 1085822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2068167" y="3157611"/>
            <a:ext cx="448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/>
          <p:nvPr/>
        </p:nvSpPr>
        <p:spPr>
          <a:xfrm flipH="1">
            <a:off x="2049976" y="2533097"/>
            <a:ext cx="1306500" cy="1306500"/>
          </a:xfrm>
          <a:prstGeom prst="pie">
            <a:avLst>
              <a:gd name="adj1" fmla="val 10765400"/>
              <a:gd name="adj2" fmla="val 1346558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0"/>
          <p:cNvSpPr/>
          <p:nvPr/>
        </p:nvSpPr>
        <p:spPr>
          <a:xfrm flipH="1">
            <a:off x="2049976" y="2533097"/>
            <a:ext cx="1306500" cy="1306500"/>
          </a:xfrm>
          <a:prstGeom prst="pie">
            <a:avLst>
              <a:gd name="adj1" fmla="val 5387953"/>
              <a:gd name="adj2" fmla="val 8084426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2598952" y="3439178"/>
            <a:ext cx="493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2881824" y="3169493"/>
            <a:ext cx="51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2938695" y="2831491"/>
            <a:ext cx="469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2" name="Google Shape;222;p20"/>
          <p:cNvGrpSpPr/>
          <p:nvPr/>
        </p:nvGrpSpPr>
        <p:grpSpPr>
          <a:xfrm>
            <a:off x="2665140" y="2572879"/>
            <a:ext cx="73599" cy="640360"/>
            <a:chOff x="996050" y="213293"/>
            <a:chExt cx="93900" cy="909732"/>
          </a:xfrm>
        </p:grpSpPr>
        <p:cxnSp>
          <p:nvCxnSpPr>
            <p:cNvPr id="223" name="Google Shape;223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4" name="Google Shape;224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25" name="Google Shape;225;p20"/>
          <p:cNvSpPr txBox="1"/>
          <p:nvPr/>
        </p:nvSpPr>
        <p:spPr>
          <a:xfrm>
            <a:off x="3570592" y="2213889"/>
            <a:ext cx="34431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For each spinner, find the probability that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it lands on ‘win’ in a single spin.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3570592" y="3670514"/>
            <a:ext cx="3443100" cy="7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Sofia wants to choose the spinner that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gives her the best chance of winning.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Which spinner should she choose?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3570592" y="4661018"/>
            <a:ext cx="3443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Which spinner is least likely to land on win?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622298" y="2392847"/>
            <a:ext cx="168000" cy="2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2125212" y="2518089"/>
            <a:ext cx="168000" cy="2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2250454" y="4042888"/>
            <a:ext cx="168000" cy="2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622298" y="3770517"/>
            <a:ext cx="168000" cy="2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1247999" y="3920148"/>
            <a:ext cx="51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2740049" y="2534351"/>
            <a:ext cx="469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2148564" y="2871404"/>
            <a:ext cx="469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2239359" y="4727713"/>
            <a:ext cx="45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2740330" y="4727713"/>
            <a:ext cx="45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3746170" y="2741715"/>
            <a:ext cx="2685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4581301" y="2741715"/>
            <a:ext cx="2685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5416431" y="2741715"/>
            <a:ext cx="2685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6251561" y="2741715"/>
            <a:ext cx="2385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3746170" y="4343809"/>
            <a:ext cx="801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spinner 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2260794" y="2574383"/>
            <a:ext cx="51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2282964" y="3457019"/>
            <a:ext cx="493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4" name="Google Shape;244;p20" descr="&lt;math xmlns=&quot;http://www.w3.org/1998/Math/MathML&quot; display=&quot;block&quot; data-is-equatio=&quot;1&quot; data-latex=&quot;\frac{2}{3}\ \ \ \frac{5}{8}\ \ \ \ \ \frac{2}{5}\ \ \ \ \ \frac{3}{4}\ \ \ \ \ &quot;&gt;&lt;mfrac&gt;&lt;mn&gt;2&lt;/mn&gt;&lt;mn&gt;3&lt;/mn&gt;&lt;/mfrac&gt;&lt;mtext&gt;&lt;/mtext&gt;&lt;mtext&gt;&lt;/mtext&gt;&lt;mtext&gt;&lt;/mtext&gt;&lt;mfrac&gt;&lt;mn&gt;5&lt;/mn&gt;&lt;mn&gt;8&lt;/mn&gt;&lt;/mfrac&gt;&lt;mtext&gt;&lt;/mtext&gt;&lt;mtext&gt;&lt;/mtext&gt;&lt;mtext&gt;&lt;/mtext&gt;&lt;mtext&gt;&lt;/mtext&gt;&lt;mtext&gt;&lt;/mtext&gt;&lt;mfrac&gt;&lt;mn&gt;2&lt;/mn&gt;&lt;mn&gt;5&lt;/mn&gt;&lt;/mfrac&gt;&lt;mtext&gt;&lt;/mtext&gt;&lt;mtext&gt;&lt;/mtext&gt;&lt;mtext&gt;&lt;/mtext&gt;&lt;mtext&gt;&lt;/mtext&gt;&lt;mtext&gt;&lt;/mtext&gt;&lt;mfrac&gt;&lt;mn&gt;3&lt;/mn&gt;&lt;mn&gt;4&lt;/mn&gt;&lt;/mfrac&gt;&lt;mtext&gt;&lt;/mtext&gt;&lt;mtext&gt;&lt;/mtext&gt;&lt;mtext&gt;&lt;/mtext&gt;&lt;mtext&gt;&lt;/mtext&gt;&lt;mtext&gt;&lt;/mtext&gt;&lt;/math&gt;" title="two thirds five eighths two fifths three fourths"/>
          <p:cNvPicPr preferRelativeResize="0"/>
          <p:nvPr/>
        </p:nvPicPr>
        <p:blipFill>
          <a:blip r:embed="rId3">
            <a:alphaModFix/>
          </a:blip>
          <a:srcRect r="86377"/>
          <a:stretch>
            <a:fillRect/>
          </a:stretch>
        </p:blipFill>
        <p:spPr>
          <a:xfrm>
            <a:off x="4072974" y="2663875"/>
            <a:ext cx="156215" cy="372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" descr="&lt;math xmlns=&quot;http://www.w3.org/1998/Math/MathML&quot; display=&quot;block&quot; data-is-equatio=&quot;1&quot; data-latex=&quot;\frac{2}{3}\ \ \ \frac{5}{8}\ \ \ \ \ \frac{2}{5}\ \ \ \ \ \frac{3}{4}\ \ \ \ \ &quot;&gt;&lt;mfrac&gt;&lt;mn&gt;2&lt;/mn&gt;&lt;mn&gt;3&lt;/mn&gt;&lt;/mfrac&gt;&lt;mtext&gt;&lt;/mtext&gt;&lt;mtext&gt;&lt;/mtext&gt;&lt;mtext&gt;&lt;/mtext&gt;&lt;mfrac&gt;&lt;mn&gt;5&lt;/mn&gt;&lt;mn&gt;8&lt;/mn&gt;&lt;/mfrac&gt;&lt;mtext&gt;&lt;/mtext&gt;&lt;mtext&gt;&lt;/mtext&gt;&lt;mtext&gt;&lt;/mtext&gt;&lt;mtext&gt;&lt;/mtext&gt;&lt;mtext&gt;&lt;/mtext&gt;&lt;mfrac&gt;&lt;mn&gt;2&lt;/mn&gt;&lt;mn&gt;5&lt;/mn&gt;&lt;/mfrac&gt;&lt;mtext&gt;&lt;/mtext&gt;&lt;mtext&gt;&lt;/mtext&gt;&lt;mtext&gt;&lt;/mtext&gt;&lt;mtext&gt;&lt;/mtext&gt;&lt;mtext&gt;&lt;/mtext&gt;&lt;mfrac&gt;&lt;mn&gt;3&lt;/mn&gt;&lt;mn&gt;4&lt;/mn&gt;&lt;/mfrac&gt;&lt;mtext&gt;&lt;/mtext&gt;&lt;mtext&gt;&lt;/mtext&gt;&lt;mtext&gt;&lt;/mtext&gt;&lt;mtext&gt;&lt;/mtext&gt;&lt;mtext&gt;&lt;/mtext&gt;&lt;/math&gt;" title="two thirds five eighths two fifths three fourths"/>
          <p:cNvPicPr preferRelativeResize="0"/>
          <p:nvPr/>
        </p:nvPicPr>
        <p:blipFill>
          <a:blip r:embed="rId3">
            <a:alphaModFix/>
          </a:blip>
          <a:srcRect l="19184" r="60016"/>
          <a:stretch>
            <a:fillRect/>
          </a:stretch>
        </p:blipFill>
        <p:spPr>
          <a:xfrm>
            <a:off x="4817342" y="2663875"/>
            <a:ext cx="238508" cy="372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0" descr="&lt;math xmlns=&quot;http://www.w3.org/1998/Math/MathML&quot; display=&quot;block&quot; data-is-equatio=&quot;1&quot; data-latex=&quot;\frac{2}{3}\ \ \ \frac{5}{8}\ \ \ \ \ \frac{2}{5}\ \ \ \ \ \frac{3}{4}\ \ \ \ \ &quot;&gt;&lt;mfrac&gt;&lt;mn&gt;2&lt;/mn&gt;&lt;mn&gt;3&lt;/mn&gt;&lt;/mfrac&gt;&lt;mtext&gt;&lt;/mtext&gt;&lt;mtext&gt;&lt;/mtext&gt;&lt;mtext&gt;&lt;/mtext&gt;&lt;mfrac&gt;&lt;mn&gt;5&lt;/mn&gt;&lt;mn&gt;8&lt;/mn&gt;&lt;/mfrac&gt;&lt;mtext&gt;&lt;/mtext&gt;&lt;mtext&gt;&lt;/mtext&gt;&lt;mtext&gt;&lt;/mtext&gt;&lt;mtext&gt;&lt;/mtext&gt;&lt;mtext&gt;&lt;/mtext&gt;&lt;mfrac&gt;&lt;mn&gt;2&lt;/mn&gt;&lt;mn&gt;5&lt;/mn&gt;&lt;/mfrac&gt;&lt;mtext&gt;&lt;/mtext&gt;&lt;mtext&gt;&lt;/mtext&gt;&lt;mtext&gt;&lt;/mtext&gt;&lt;mtext&gt;&lt;/mtext&gt;&lt;mtext&gt;&lt;/mtext&gt;&lt;mfrac&gt;&lt;mn&gt;3&lt;/mn&gt;&lt;mn&gt;4&lt;/mn&gt;&lt;/mfrac&gt;&lt;mtext&gt;&lt;/mtext&gt;&lt;mtext&gt;&lt;/mtext&gt;&lt;mtext&gt;&lt;/mtext&gt;&lt;mtext&gt;&lt;/mtext&gt;&lt;mtext&gt;&lt;/mtext&gt;&lt;/math&gt;" title="two thirds five eighths two fifths three fourths"/>
          <p:cNvPicPr preferRelativeResize="0"/>
          <p:nvPr/>
        </p:nvPicPr>
        <p:blipFill>
          <a:blip r:embed="rId3">
            <a:alphaModFix/>
          </a:blip>
          <a:srcRect l="49294" r="23785"/>
          <a:stretch>
            <a:fillRect/>
          </a:stretch>
        </p:blipFill>
        <p:spPr>
          <a:xfrm>
            <a:off x="5628769" y="2663875"/>
            <a:ext cx="308682" cy="372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0" descr="&lt;math xmlns=&quot;http://www.w3.org/1998/Math/MathML&quot; display=&quot;block&quot; data-is-equatio=&quot;1&quot; data-latex=&quot;\frac{2}{3}\ \ \ \frac{5}{8}\ \ \ \ \ \frac{2}{5}\ \ \ \ \ \frac{3}{4}\ \ \ \ \ &quot;&gt;&lt;mfrac&gt;&lt;mn&gt;2&lt;/mn&gt;&lt;mn&gt;3&lt;/mn&gt;&lt;/mfrac&gt;&lt;mtext&gt;&lt;/mtext&gt;&lt;mtext&gt;&lt;/mtext&gt;&lt;mtext&gt;&lt;/mtext&gt;&lt;mfrac&gt;&lt;mn&gt;5&lt;/mn&gt;&lt;mn&gt;8&lt;/mn&gt;&lt;/mfrac&gt;&lt;mtext&gt;&lt;/mtext&gt;&lt;mtext&gt;&lt;/mtext&gt;&lt;mtext&gt;&lt;/mtext&gt;&lt;mtext&gt;&lt;/mtext&gt;&lt;mtext&gt;&lt;/mtext&gt;&lt;mfrac&gt;&lt;mn&gt;2&lt;/mn&gt;&lt;mn&gt;5&lt;/mn&gt;&lt;/mfrac&gt;&lt;mtext&gt;&lt;/mtext&gt;&lt;mtext&gt;&lt;/mtext&gt;&lt;mtext&gt;&lt;/mtext&gt;&lt;mtext&gt;&lt;/mtext&gt;&lt;mtext&gt;&lt;/mtext&gt;&lt;mfrac&gt;&lt;mn&gt;3&lt;/mn&gt;&lt;mn&gt;4&lt;/mn&gt;&lt;/mfrac&gt;&lt;mtext&gt;&lt;/mtext&gt;&lt;mtext&gt;&lt;/mtext&gt;&lt;mtext&gt;&lt;/mtext&gt;&lt;mtext&gt;&lt;/mtext&gt;&lt;mtext&gt;&lt;/mtext&gt;&lt;/math&gt;" title="two thirds five eighths two fifths three fourths"/>
          <p:cNvPicPr preferRelativeResize="0"/>
          <p:nvPr/>
        </p:nvPicPr>
        <p:blipFill>
          <a:blip r:embed="rId3">
            <a:alphaModFix/>
          </a:blip>
          <a:srcRect l="81496"/>
          <a:stretch>
            <a:fillRect/>
          </a:stretch>
        </p:blipFill>
        <p:spPr>
          <a:xfrm>
            <a:off x="6464129" y="2663875"/>
            <a:ext cx="212185" cy="372816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0"/>
          <p:cNvSpPr txBox="1"/>
          <p:nvPr/>
        </p:nvSpPr>
        <p:spPr>
          <a:xfrm>
            <a:off x="3746170" y="3149570"/>
            <a:ext cx="2930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Other equivalent fractions, decimals or percentages may be used.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3746170" y="4921635"/>
            <a:ext cx="801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spinner 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476400" y="5331300"/>
            <a:ext cx="6352500" cy="23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Alex, Jun and Sam spin the spinner 40 times in total.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They get a point every time the spinner lands on their name.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4960829" y="5807946"/>
            <a:ext cx="1550700" cy="15507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2" name="Google Shape;252;p20"/>
          <p:cNvSpPr/>
          <p:nvPr/>
        </p:nvSpPr>
        <p:spPr>
          <a:xfrm flipH="1">
            <a:off x="4974013" y="5821442"/>
            <a:ext cx="1524000" cy="15237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80808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0"/>
          <p:cNvSpPr/>
          <p:nvPr/>
        </p:nvSpPr>
        <p:spPr>
          <a:xfrm>
            <a:off x="4974326" y="5821442"/>
            <a:ext cx="1524000" cy="1523700"/>
          </a:xfrm>
          <a:prstGeom prst="pie">
            <a:avLst>
              <a:gd name="adj1" fmla="val 5387953"/>
              <a:gd name="adj2" fmla="val 8080958"/>
            </a:avLst>
          </a:prstGeom>
          <a:solidFill>
            <a:srgbClr val="80808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5253670" y="6878335"/>
            <a:ext cx="57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4974326" y="5821442"/>
            <a:ext cx="1524000" cy="1523700"/>
          </a:xfrm>
          <a:prstGeom prst="pie">
            <a:avLst>
              <a:gd name="adj1" fmla="val 10799941"/>
              <a:gd name="adj2" fmla="val 13483876"/>
            </a:avLst>
          </a:prstGeom>
          <a:solidFill>
            <a:srgbClr val="80808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6" name="Google Shape;256;p20"/>
          <p:cNvSpPr/>
          <p:nvPr/>
        </p:nvSpPr>
        <p:spPr>
          <a:xfrm flipH="1">
            <a:off x="4974013" y="5821442"/>
            <a:ext cx="1524000" cy="1523700"/>
          </a:xfrm>
          <a:prstGeom prst="pie">
            <a:avLst>
              <a:gd name="adj1" fmla="val 13450827"/>
              <a:gd name="adj2" fmla="val 16200000"/>
            </a:avLst>
          </a:prstGeom>
          <a:solidFill>
            <a:srgbClr val="80808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5754147" y="5906395"/>
            <a:ext cx="57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4974326" y="5821442"/>
            <a:ext cx="1524000" cy="1523700"/>
          </a:xfrm>
          <a:prstGeom prst="pie">
            <a:avLst>
              <a:gd name="adj1" fmla="val 13499013"/>
              <a:gd name="adj2" fmla="val 16232488"/>
            </a:avLst>
          </a:prstGeom>
          <a:solidFill>
            <a:srgbClr val="CC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5288366" y="5888978"/>
            <a:ext cx="52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4974326" y="5821442"/>
            <a:ext cx="1524000" cy="1523700"/>
          </a:xfrm>
          <a:prstGeom prst="pie">
            <a:avLst>
              <a:gd name="adj1" fmla="val 8080793"/>
              <a:gd name="adj2" fmla="val 10858220"/>
            </a:avLst>
          </a:prstGeom>
          <a:solidFill>
            <a:srgbClr val="CC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4995255" y="6549908"/>
            <a:ext cx="52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0"/>
          <p:cNvSpPr/>
          <p:nvPr/>
        </p:nvSpPr>
        <p:spPr>
          <a:xfrm flipH="1">
            <a:off x="4974013" y="5821442"/>
            <a:ext cx="1524000" cy="1523700"/>
          </a:xfrm>
          <a:prstGeom prst="pie">
            <a:avLst>
              <a:gd name="adj1" fmla="val 10765400"/>
              <a:gd name="adj2" fmla="val 13465582"/>
            </a:avLst>
          </a:prstGeom>
          <a:solidFill>
            <a:srgbClr val="F0F0F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5047313" y="6210319"/>
            <a:ext cx="57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0"/>
          <p:cNvSpPr/>
          <p:nvPr/>
        </p:nvSpPr>
        <p:spPr>
          <a:xfrm flipH="1">
            <a:off x="4974013" y="5821442"/>
            <a:ext cx="1524000" cy="1523700"/>
          </a:xfrm>
          <a:prstGeom prst="pie">
            <a:avLst>
              <a:gd name="adj1" fmla="val 5387953"/>
              <a:gd name="adj2" fmla="val 8084426"/>
            </a:avLst>
          </a:prstGeom>
          <a:solidFill>
            <a:srgbClr val="CC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5703277" y="6878342"/>
            <a:ext cx="57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5963639" y="6575962"/>
            <a:ext cx="57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5970744" y="6230672"/>
            <a:ext cx="52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8" name="Google Shape;268;p20"/>
          <p:cNvGrpSpPr/>
          <p:nvPr/>
        </p:nvGrpSpPr>
        <p:grpSpPr>
          <a:xfrm>
            <a:off x="5691629" y="5867831"/>
            <a:ext cx="85853" cy="746890"/>
            <a:chOff x="996050" y="213293"/>
            <a:chExt cx="93900" cy="909732"/>
          </a:xfrm>
        </p:grpSpPr>
        <p:cxnSp>
          <p:nvCxnSpPr>
            <p:cNvPr id="269" name="Google Shape;269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70" name="Google Shape;270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71" name="Google Shape;271;p20"/>
          <p:cNvSpPr txBox="1"/>
          <p:nvPr/>
        </p:nvSpPr>
        <p:spPr>
          <a:xfrm>
            <a:off x="476400" y="5901475"/>
            <a:ext cx="4025400" cy="22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Who should expect to get the most points?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Who should expect to get the fewest points?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What is the probability the spinner lands on Alex?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What is the probability the spinner lands on Jun?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What is the probability the spinner lands on Sam?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4002082" y="5901475"/>
            <a:ext cx="381600" cy="1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Sam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4143927" y="6317669"/>
            <a:ext cx="381600" cy="1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Alex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74" name="Google Shape;274;p20" descr="&lt;math xmlns=&quot;http://www.w3.org/1998/Math/MathML&quot; display=&quot;block&quot; data-is-equatio=&quot;1&quot; data-latex=&quot;\frac{1}{8}\ \ \ \frac{3}{8}\ \ \ \frac{4}{8}&quot;&gt;&lt;mfrac&gt;&lt;mn&gt;1&lt;/mn&gt;&lt;mn&gt;8&lt;/mn&gt;&lt;/mfrac&gt;&lt;mtext&gt;&lt;/mtext&gt;&lt;mtext&gt;&lt;/mtext&gt;&lt;mtext&gt;&lt;/mtext&gt;&lt;mfrac&gt;&lt;mn&gt;3&lt;/mn&gt;&lt;mn&gt;8&lt;/mn&gt;&lt;/mfrac&gt;&lt;mtext&gt;&lt;/mtext&gt;&lt;mtext&gt;&lt;/mtext&gt;&lt;mtext&gt;&lt;/mtext&gt;&lt;mfrac&gt;&lt;mn&gt;4&lt;/mn&gt;&lt;mn&gt;8&lt;/mn&gt;&lt;/mfrac&gt;&lt;/math&gt;" title="one eighth three eighths four eighths"/>
          <p:cNvPicPr preferRelativeResize="0"/>
          <p:nvPr/>
        </p:nvPicPr>
        <p:blipFill>
          <a:blip r:embed="rId4">
            <a:alphaModFix/>
          </a:blip>
          <a:srcRect r="76292"/>
          <a:stretch>
            <a:fillRect/>
          </a:stretch>
        </p:blipFill>
        <p:spPr>
          <a:xfrm>
            <a:off x="4531267" y="6822629"/>
            <a:ext cx="148195" cy="337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0" descr="&lt;math xmlns=&quot;http://www.w3.org/1998/Math/MathML&quot; display=&quot;block&quot; data-is-equatio=&quot;1&quot; data-latex=&quot;\frac{1}{8}\ \ \ \frac{3}{8}\ \ \ \frac{4}{8}&quot;&gt;&lt;mfrac&gt;&lt;mn&gt;1&lt;/mn&gt;&lt;mn&gt;8&lt;/mn&gt;&lt;/mfrac&gt;&lt;mtext&gt;&lt;/mtext&gt;&lt;mtext&gt;&lt;/mtext&gt;&lt;mtext&gt;&lt;/mtext&gt;&lt;mfrac&gt;&lt;mn&gt;3&lt;/mn&gt;&lt;mn&gt;8&lt;/mn&gt;&lt;/mfrac&gt;&lt;mtext&gt;&lt;/mtext&gt;&lt;mtext&gt;&lt;/mtext&gt;&lt;mtext&gt;&lt;/mtext&gt;&lt;mfrac&gt;&lt;mn&gt;4&lt;/mn&gt;&lt;mn&gt;8&lt;/mn&gt;&lt;/mfrac&gt;&lt;/math&gt;" title="one eighth three eighths four eighths"/>
          <p:cNvPicPr preferRelativeResize="0"/>
          <p:nvPr/>
        </p:nvPicPr>
        <p:blipFill>
          <a:blip r:embed="rId4">
            <a:alphaModFix/>
          </a:blip>
          <a:srcRect l="38935" r="35300"/>
          <a:stretch>
            <a:fillRect/>
          </a:stretch>
        </p:blipFill>
        <p:spPr>
          <a:xfrm>
            <a:off x="4518402" y="7303535"/>
            <a:ext cx="161054" cy="337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0" descr="&lt;math xmlns=&quot;http://www.w3.org/1998/Math/MathML&quot; display=&quot;block&quot; data-is-equatio=&quot;1&quot; data-latex=&quot;\frac{1}{8}\ \ \ \frac{3}{8}\ \ \ \frac{4}{8}&quot;&gt;&lt;mfrac&gt;&lt;mn&gt;1&lt;/mn&gt;&lt;mn&gt;8&lt;/mn&gt;&lt;/mfrac&gt;&lt;mtext&gt;&lt;/mtext&gt;&lt;mtext&gt;&lt;/mtext&gt;&lt;mtext&gt;&lt;/mtext&gt;&lt;mfrac&gt;&lt;mn&gt;3&lt;/mn&gt;&lt;mn&gt;8&lt;/mn&gt;&lt;/mfrac&gt;&lt;mtext&gt;&lt;/mtext&gt;&lt;mtext&gt;&lt;/mtext&gt;&lt;mtext&gt;&lt;/mtext&gt;&lt;mfrac&gt;&lt;mn&gt;4&lt;/mn&gt;&lt;mn&gt;8&lt;/mn&gt;&lt;/mfrac&gt;&lt;/math&gt;" title="one eighth three eighths four eighths"/>
          <p:cNvPicPr preferRelativeResize="0"/>
          <p:nvPr/>
        </p:nvPicPr>
        <p:blipFill>
          <a:blip r:embed="rId4">
            <a:alphaModFix/>
          </a:blip>
          <a:srcRect l="76292"/>
          <a:stretch>
            <a:fillRect/>
          </a:stretch>
        </p:blipFill>
        <p:spPr>
          <a:xfrm>
            <a:off x="4501893" y="7853999"/>
            <a:ext cx="148195" cy="337878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0"/>
          <p:cNvSpPr txBox="1"/>
          <p:nvPr/>
        </p:nvSpPr>
        <p:spPr>
          <a:xfrm>
            <a:off x="5025394" y="7627852"/>
            <a:ext cx="2061600" cy="7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Other equivalent fractions, decimals or percentages may be used.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462675" y="8423225"/>
            <a:ext cx="6610500" cy="14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How many more points should Sam expect to get  compared to Alex?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Will your answer to (f) necessarily happen when they spin the spinner? Explain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1920784" y="8784932"/>
            <a:ext cx="10800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of 40 = 20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80" name="Google Shape;280;p20" descr="&lt;math xmlns=&quot;http://www.w3.org/1998/Math/MathML&quot; display=&quot;block&quot; data-is-equatio=&quot;1&quot; data-latex=&quot;\frac{1}{8}\ \ \ \frac{3}{8}\ \ \ \frac{4}{8}&quot;&gt;&lt;mfrac&gt;&lt;mn&gt;1&lt;/mn&gt;&lt;mn&gt;8&lt;/mn&gt;&lt;/mfrac&gt;&lt;mtext&gt;&lt;/mtext&gt;&lt;mtext&gt;&lt;/mtext&gt;&lt;mtext&gt;&lt;/mtext&gt;&lt;mfrac&gt;&lt;mn&gt;3&lt;/mn&gt;&lt;mn&gt;8&lt;/mn&gt;&lt;/mfrac&gt;&lt;mtext&gt;&lt;/mtext&gt;&lt;mtext&gt;&lt;/mtext&gt;&lt;mtext&gt;&lt;/mtext&gt;&lt;mfrac&gt;&lt;mn&gt;4&lt;/mn&gt;&lt;mn&gt;8&lt;/mn&gt;&lt;/mfrac&gt;&lt;/math&gt;" title="one eighth three eighths four eighths"/>
          <p:cNvPicPr preferRelativeResize="0"/>
          <p:nvPr/>
        </p:nvPicPr>
        <p:blipFill>
          <a:blip r:embed="rId4">
            <a:alphaModFix/>
          </a:blip>
          <a:srcRect r="76292"/>
          <a:stretch>
            <a:fillRect/>
          </a:stretch>
        </p:blipFill>
        <p:spPr>
          <a:xfrm>
            <a:off x="3465424" y="8678652"/>
            <a:ext cx="157381" cy="358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0" descr="&lt;math xmlns=&quot;http://www.w3.org/1998/Math/MathML&quot; display=&quot;block&quot; data-is-equatio=&quot;1&quot; data-latex=&quot;\frac{1}{8}\ \ \ \frac{3}{8}\ \ \ \frac{4}{8}&quot;&gt;&lt;mfrac&gt;&lt;mn&gt;1&lt;/mn&gt;&lt;mn&gt;8&lt;/mn&gt;&lt;/mfrac&gt;&lt;mtext&gt;&lt;/mtext&gt;&lt;mtext&gt;&lt;/mtext&gt;&lt;mtext&gt;&lt;/mtext&gt;&lt;mfrac&gt;&lt;mn&gt;3&lt;/mn&gt;&lt;mn&gt;8&lt;/mn&gt;&lt;/mfrac&gt;&lt;mtext&gt;&lt;/mtext&gt;&lt;mtext&gt;&lt;/mtext&gt;&lt;mtext&gt;&lt;/mtext&gt;&lt;mfrac&gt;&lt;mn&gt;4&lt;/mn&gt;&lt;mn&gt;8&lt;/mn&gt;&lt;/mfrac&gt;&lt;/math&gt;" title="one eighth three eighths four eighths"/>
          <p:cNvPicPr preferRelativeResize="0"/>
          <p:nvPr/>
        </p:nvPicPr>
        <p:blipFill>
          <a:blip r:embed="rId4">
            <a:alphaModFix/>
          </a:blip>
          <a:srcRect l="76292"/>
          <a:stretch>
            <a:fillRect/>
          </a:stretch>
        </p:blipFill>
        <p:spPr>
          <a:xfrm>
            <a:off x="1662249" y="8739065"/>
            <a:ext cx="157381" cy="35882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0"/>
          <p:cNvSpPr txBox="1"/>
          <p:nvPr/>
        </p:nvSpPr>
        <p:spPr>
          <a:xfrm>
            <a:off x="3663052" y="8781758"/>
            <a:ext cx="10800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of 40 = 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4953597" y="8755039"/>
            <a:ext cx="10800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20 − 5 = 15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1247999" y="9608502"/>
            <a:ext cx="5580900" cy="2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No. These results are only theoretical. The actual results may differ due to chance.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sp>
        <p:nvSpPr>
          <p:cNvPr id="289" name="Google Shape;28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90" name="Google Shape;290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lists (one event)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293" name="Google Shape;293;p21"/>
          <p:cNvSpPr/>
          <p:nvPr/>
        </p:nvSpPr>
        <p:spPr>
          <a:xfrm>
            <a:off x="3055579" y="1754788"/>
            <a:ext cx="263100" cy="384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467999" y="573050"/>
            <a:ext cx="60825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Finding probabilities of events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476400" y="966339"/>
            <a:ext cx="6442200" cy="7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Andeep and Lucas each have a deck of cards spelling out their own name.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They play a game where they each randomly select a card from their deck, record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letter and then return the card to the deck.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6" name="Google Shape;29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88323" y="1754788"/>
            <a:ext cx="297950" cy="384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3643" y="1779716"/>
            <a:ext cx="320066" cy="35928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1"/>
          <p:cNvSpPr/>
          <p:nvPr/>
        </p:nvSpPr>
        <p:spPr>
          <a:xfrm>
            <a:off x="1322174" y="1754788"/>
            <a:ext cx="263100" cy="384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1668855" y="1754788"/>
            <a:ext cx="263100" cy="384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2015536" y="1754788"/>
            <a:ext cx="263100" cy="384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2362217" y="1754788"/>
            <a:ext cx="263100" cy="384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2708898" y="1754788"/>
            <a:ext cx="263100" cy="384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5713466" y="1754788"/>
            <a:ext cx="263100" cy="384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4326742" y="1754788"/>
            <a:ext cx="263100" cy="384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4673423" y="1754788"/>
            <a:ext cx="263100" cy="384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5020104" y="1754788"/>
            <a:ext cx="263100" cy="384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5366785" y="1754788"/>
            <a:ext cx="263100" cy="384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1381750" y="1823475"/>
            <a:ext cx="1602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1728431" y="1823475"/>
            <a:ext cx="1602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2075112" y="1823475"/>
            <a:ext cx="1602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2421793" y="1823475"/>
            <a:ext cx="1602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2768474" y="1823475"/>
            <a:ext cx="1602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3115155" y="1823475"/>
            <a:ext cx="1602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4386318" y="1823475"/>
            <a:ext cx="1602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4732999" y="1823475"/>
            <a:ext cx="1602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5079680" y="1823475"/>
            <a:ext cx="1602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5426361" y="1823475"/>
            <a:ext cx="1602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>
            <a:off x="5773042" y="1823475"/>
            <a:ext cx="1602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1"/>
          <p:cNvSpPr txBox="1"/>
          <p:nvPr/>
        </p:nvSpPr>
        <p:spPr>
          <a:xfrm>
            <a:off x="649740" y="2353062"/>
            <a:ext cx="64422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They win a point if they draw a card containing the letter 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>
            <a:off x="497340" y="2699743"/>
            <a:ext cx="64422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are the probabilities for each player winning a point?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>
            <a:off x="497340" y="3374685"/>
            <a:ext cx="64422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Who is most likely to get a point when they select a card?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880861" y="2988644"/>
            <a:ext cx="6723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Andeep: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2903166" y="2988644"/>
            <a:ext cx="6723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Lucas: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5148011" y="3329736"/>
            <a:ext cx="446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Lucas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25" name="Google Shape;325;p21" descr="&lt;math xmlns=&quot;http://www.w3.org/1998/Math/MathML&quot; display=&quot;block&quot; data-is-equatio=&quot;1&quot; data-latex=&quot;\frac{1}{6}\ \ \ \ \frac{1}{5}&quot;&gt;&lt;mfrac&gt;&lt;mn&gt;1&lt;/mn&gt;&lt;mn&gt;6&lt;/mn&gt;&lt;/mfrac&gt;&lt;mtext&gt;&lt;/mtext&gt;&lt;mtext&gt;&lt;/mtext&gt;&lt;mtext&gt;&lt;/mtext&gt;&lt;mtext&gt;&lt;/mtext&gt;&lt;mfrac&gt;&lt;mn&gt;1&lt;/mn&gt;&lt;mn&gt;5&lt;/mn&gt;&lt;/mfrac&gt;&lt;/math&gt;" title="one sixth one fifth"/>
          <p:cNvPicPr preferRelativeResize="0"/>
          <p:nvPr/>
        </p:nvPicPr>
        <p:blipFill>
          <a:blip r:embed="rId5">
            <a:alphaModFix/>
          </a:blip>
          <a:srcRect r="48363"/>
          <a:stretch>
            <a:fillRect/>
          </a:stretch>
        </p:blipFill>
        <p:spPr>
          <a:xfrm>
            <a:off x="1574035" y="2914542"/>
            <a:ext cx="230343" cy="374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1" descr="&lt;math xmlns=&quot;http://www.w3.org/1998/Math/MathML&quot; display=&quot;block&quot; data-is-equatio=&quot;1&quot; data-latex=&quot;\frac{1}{6}\ \ \ \ \frac{1}{5}&quot;&gt;&lt;mfrac&gt;&lt;mn&gt;1&lt;/mn&gt;&lt;mn&gt;6&lt;/mn&gt;&lt;/mfrac&gt;&lt;mtext&gt;&lt;/mtext&gt;&lt;mtext&gt;&lt;/mtext&gt;&lt;mtext&gt;&lt;/mtext&gt;&lt;mtext&gt;&lt;/mtext&gt;&lt;mfrac&gt;&lt;mn&gt;1&lt;/mn&gt;&lt;mn&gt;5&lt;/mn&gt;&lt;/mfrac&gt;&lt;/math&gt;" title="one sixth one fifth"/>
          <p:cNvPicPr preferRelativeResize="0"/>
          <p:nvPr/>
        </p:nvPicPr>
        <p:blipFill>
          <a:blip r:embed="rId5">
            <a:alphaModFix/>
          </a:blip>
          <a:srcRect l="64099"/>
          <a:stretch>
            <a:fillRect/>
          </a:stretch>
        </p:blipFill>
        <p:spPr>
          <a:xfrm>
            <a:off x="3424826" y="2914542"/>
            <a:ext cx="160146" cy="37405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1"/>
          <p:cNvSpPr txBox="1"/>
          <p:nvPr/>
        </p:nvSpPr>
        <p:spPr>
          <a:xfrm>
            <a:off x="476400" y="3807300"/>
            <a:ext cx="66156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They change the rules so that they get a point if they select a vowel.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Who is most is most likely to get a point with these rules? Explain your answer.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713739" y="4341313"/>
            <a:ext cx="6243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Andeep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699003" y="4677680"/>
            <a:ext cx="62151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probability that Andeep picks a vowel is    while the probability that Lucas picks a vowel is    and         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30" name="Google Shape;330;p21" descr="&lt;math xmlns=&quot;http://www.w3.org/1998/Math/MathML&quot; display=&quot;block&quot; data-is-equatio=&quot;1&quot; data-latex=&quot;\frac{3}{6}&amp;gt;\frac{2}{5}&quot;&gt;&lt;mfrac&gt;&lt;mn&gt;3&lt;/mn&gt;&lt;mn&gt;6&lt;/mn&gt;&lt;/mfrac&gt;&lt;mo&gt;&amp;gt;&lt;/mo&gt;&lt;mfrac&gt;&lt;mn&gt;2&lt;/mn&gt;&lt;mn&gt;5&lt;/mn&gt;&lt;/mfrac&gt;&lt;/math&gt;" title="three sixths is greater than two fifths"/>
          <p:cNvPicPr preferRelativeResize="0"/>
          <p:nvPr/>
        </p:nvPicPr>
        <p:blipFill>
          <a:blip r:embed="rId6">
            <a:alphaModFix/>
          </a:blip>
          <a:srcRect r="66194"/>
          <a:stretch>
            <a:fillRect/>
          </a:stretch>
        </p:blipFill>
        <p:spPr>
          <a:xfrm>
            <a:off x="3665896" y="4598275"/>
            <a:ext cx="147480" cy="330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1" descr="&lt;math xmlns=&quot;http://www.w3.org/1998/Math/MathML&quot; display=&quot;block&quot; data-is-equatio=&quot;1&quot; data-latex=&quot;\frac{3}{6}&amp;gt;\frac{2}{5}&quot;&gt;&lt;mfrac&gt;&lt;mn&gt;3&lt;/mn&gt;&lt;mn&gt;6&lt;/mn&gt;&lt;/mfrac&gt;&lt;mo&gt;&amp;gt;&lt;/mo&gt;&lt;mfrac&gt;&lt;mn&gt;2&lt;/mn&gt;&lt;mn&gt;5&lt;/mn&gt;&lt;/mfrac&gt;&lt;/math&gt;" title="three sixths is greater than two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43635" y="4912784"/>
            <a:ext cx="436255" cy="330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1" descr="&lt;math xmlns=&quot;http://www.w3.org/1998/Math/MathML&quot; display=&quot;block&quot; data-is-equatio=&quot;1&quot; data-latex=&quot;\frac{3}{6}&amp;gt;\frac{2}{5}&quot;&gt;&lt;mfrac&gt;&lt;mn&gt;3&lt;/mn&gt;&lt;mn&gt;6&lt;/mn&gt;&lt;/mfrac&gt;&lt;mo&gt;&amp;gt;&lt;/mo&gt;&lt;mfrac&gt;&lt;mn&gt;2&lt;/mn&gt;&lt;mn&gt;5&lt;/mn&gt;&lt;/mfrac&gt;&lt;/math&gt;" title="three sixths is greater than two fifths"/>
          <p:cNvPicPr preferRelativeResize="0"/>
          <p:nvPr/>
        </p:nvPicPr>
        <p:blipFill>
          <a:blip r:embed="rId6">
            <a:alphaModFix/>
          </a:blip>
          <a:srcRect l="66194"/>
          <a:stretch>
            <a:fillRect/>
          </a:stretch>
        </p:blipFill>
        <p:spPr>
          <a:xfrm>
            <a:off x="807428" y="4912784"/>
            <a:ext cx="147480" cy="330874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1"/>
          <p:cNvSpPr txBox="1"/>
          <p:nvPr/>
        </p:nvSpPr>
        <p:spPr>
          <a:xfrm>
            <a:off x="954903" y="5293707"/>
            <a:ext cx="5934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probability that Andeep picks a vowel is a half, while the probability that Lucas picks a vowel is less than a half.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4" name="Google Shape;334;p21"/>
          <p:cNvSpPr txBox="1"/>
          <p:nvPr/>
        </p:nvSpPr>
        <p:spPr>
          <a:xfrm>
            <a:off x="689180" y="5279116"/>
            <a:ext cx="1926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476400" y="5864700"/>
            <a:ext cx="66156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regular six-sided dice is rolled. Find the following probabilities.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476400" y="6161374"/>
            <a:ext cx="7350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P(3)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2602876" y="6161374"/>
            <a:ext cx="9123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P(4)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4729352" y="6161374"/>
            <a:ext cx="17427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P(not 4)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476400" y="6695388"/>
            <a:ext cx="11376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P(even)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2612454" y="6695388"/>
            <a:ext cx="11718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P(odd)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>
            <a:off x="4748508" y="6695388"/>
            <a:ext cx="20598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P(multiple of 3)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476400" y="7229401"/>
            <a:ext cx="13590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P(7)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2612454" y="7229401"/>
            <a:ext cx="13590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 P(not 7)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4748508" y="7229401"/>
            <a:ext cx="14454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P(factor of 60)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5" name="Google Shape;345;p21" descr="&lt;math xmlns=&quot;http://www.w3.org/1998/Math/MathML&quot; display=&quot;block&quot; data-is-equatio=&quot;1&quot; data-latex=&quot;\frac{1}{6}\ \ \frac{5}{6}\ \ \frac{3}{6}\ \ \frac{2}{6}\ \ &quot;&gt;&lt;mfrac&gt;&lt;mn&gt;1&lt;/mn&gt;&lt;mn&gt;6&lt;/mn&gt;&lt;/mfrac&gt;&lt;mtext&gt;&lt;/mtext&gt;&lt;mtext&gt;&lt;/mtext&gt;&lt;mfrac&gt;&lt;mn&gt;5&lt;/mn&gt;&lt;mn&gt;6&lt;/mn&gt;&lt;/mfrac&gt;&lt;mtext&gt;&lt;/mtext&gt;&lt;mtext&gt;&lt;/mtext&gt;&lt;mfrac&gt;&lt;mn&gt;3&lt;/mn&gt;&lt;mn&gt;6&lt;/mn&gt;&lt;/mfrac&gt;&lt;mtext&gt;&lt;/mtext&gt;&lt;mtext&gt;&lt;/mtext&gt;&lt;mfrac&gt;&lt;mn&gt;2&lt;/mn&gt;&lt;mn&gt;6&lt;/mn&gt;&lt;/mfrac&gt;&lt;mtext&gt;&lt;/mtext&gt;&lt;mtext&gt;&lt;/mtext&gt;&lt;/math&gt;" title="one sixth five sixths three sixths two sixths"/>
          <p:cNvPicPr preferRelativeResize="0"/>
          <p:nvPr/>
        </p:nvPicPr>
        <p:blipFill>
          <a:blip r:embed="rId7">
            <a:alphaModFix/>
          </a:blip>
          <a:srcRect r="78881"/>
          <a:stretch>
            <a:fillRect/>
          </a:stretch>
        </p:blipFill>
        <p:spPr>
          <a:xfrm>
            <a:off x="1223339" y="6101747"/>
            <a:ext cx="168992" cy="354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1" descr="&lt;math xmlns=&quot;http://www.w3.org/1998/Math/MathML&quot; display=&quot;block&quot; data-is-equatio=&quot;1&quot; data-latex=&quot;\frac{1}{6}\ \ \frac{5}{6}\ \ \frac{3}{6}\ \ \frac{2}{6}\ \ &quot;&gt;&lt;mfrac&gt;&lt;mn&gt;1&lt;/mn&gt;&lt;mn&gt;6&lt;/mn&gt;&lt;/mfrac&gt;&lt;mtext&gt;&lt;/mtext&gt;&lt;mtext&gt;&lt;/mtext&gt;&lt;mfrac&gt;&lt;mn&gt;5&lt;/mn&gt;&lt;mn&gt;6&lt;/mn&gt;&lt;/mfrac&gt;&lt;mtext&gt;&lt;/mtext&gt;&lt;mtext&gt;&lt;/mtext&gt;&lt;mfrac&gt;&lt;mn&gt;3&lt;/mn&gt;&lt;mn&gt;6&lt;/mn&gt;&lt;/mfrac&gt;&lt;mtext&gt;&lt;/mtext&gt;&lt;mtext&gt;&lt;/mtext&gt;&lt;mfrac&gt;&lt;mn&gt;2&lt;/mn&gt;&lt;mn&gt;6&lt;/mn&gt;&lt;/mfrac&gt;&lt;mtext&gt;&lt;/mtext&gt;&lt;mtext&gt;&lt;/mtext&gt;&lt;/math&gt;" title="one sixth five sixths three sixths two sixths"/>
          <p:cNvPicPr preferRelativeResize="0"/>
          <p:nvPr/>
        </p:nvPicPr>
        <p:blipFill>
          <a:blip r:embed="rId7">
            <a:alphaModFix/>
          </a:blip>
          <a:srcRect r="78881"/>
          <a:stretch>
            <a:fillRect/>
          </a:stretch>
        </p:blipFill>
        <p:spPr>
          <a:xfrm>
            <a:off x="3375961" y="6101747"/>
            <a:ext cx="168992" cy="354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1" descr="&lt;math xmlns=&quot;http://www.w3.org/1998/Math/MathML&quot; display=&quot;block&quot; data-is-equatio=&quot;1&quot; data-latex=&quot;\frac{1}{6}\ \ \frac{5}{6}\ \ \frac{3}{6}\ \ \frac{2}{6}\ \ &quot;&gt;&lt;mfrac&gt;&lt;mn&gt;1&lt;/mn&gt;&lt;mn&gt;6&lt;/mn&gt;&lt;/mfrac&gt;&lt;mtext&gt;&lt;/mtext&gt;&lt;mtext&gt;&lt;/mtext&gt;&lt;mfrac&gt;&lt;mn&gt;5&lt;/mn&gt;&lt;mn&gt;6&lt;/mn&gt;&lt;/mfrac&gt;&lt;mtext&gt;&lt;/mtext&gt;&lt;mtext&gt;&lt;/mtext&gt;&lt;mfrac&gt;&lt;mn&gt;3&lt;/mn&gt;&lt;mn&gt;6&lt;/mn&gt;&lt;/mfrac&gt;&lt;mtext&gt;&lt;/mtext&gt;&lt;mtext&gt;&lt;/mtext&gt;&lt;mfrac&gt;&lt;mn&gt;2&lt;/mn&gt;&lt;mn&gt;6&lt;/mn&gt;&lt;/mfrac&gt;&lt;mtext&gt;&lt;/mtext&gt;&lt;mtext&gt;&lt;/mtext&gt;&lt;/math&gt;" title="one sixth five sixths three sixths two sixths"/>
          <p:cNvPicPr preferRelativeResize="0"/>
          <p:nvPr/>
        </p:nvPicPr>
        <p:blipFill>
          <a:blip r:embed="rId7">
            <a:alphaModFix/>
          </a:blip>
          <a:srcRect l="21734" r="50031"/>
          <a:stretch>
            <a:fillRect/>
          </a:stretch>
        </p:blipFill>
        <p:spPr>
          <a:xfrm>
            <a:off x="5745013" y="6101747"/>
            <a:ext cx="225932" cy="354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1" descr="&lt;math xmlns=&quot;http://www.w3.org/1998/Math/MathML&quot; display=&quot;block&quot; data-is-equatio=&quot;1&quot; data-latex=&quot;\frac{1}{6}\ \ \frac{5}{6}\ \ \frac{3}{6}\ \ \frac{2}{6}\ \ &quot;&gt;&lt;mfrac&gt;&lt;mn&gt;1&lt;/mn&gt;&lt;mn&gt;6&lt;/mn&gt;&lt;/mfrac&gt;&lt;mtext&gt;&lt;/mtext&gt;&lt;mtext&gt;&lt;/mtext&gt;&lt;mfrac&gt;&lt;mn&gt;5&lt;/mn&gt;&lt;mn&gt;6&lt;/mn&gt;&lt;/mfrac&gt;&lt;mtext&gt;&lt;/mtext&gt;&lt;mtext&gt;&lt;/mtext&gt;&lt;mfrac&gt;&lt;mn&gt;3&lt;/mn&gt;&lt;mn&gt;6&lt;/mn&gt;&lt;/mfrac&gt;&lt;mtext&gt;&lt;/mtext&gt;&lt;mtext&gt;&lt;/mtext&gt;&lt;mfrac&gt;&lt;mn&gt;2&lt;/mn&gt;&lt;mn&gt;6&lt;/mn&gt;&lt;/mfrac&gt;&lt;mtext&gt;&lt;/mtext&gt;&lt;mtext&gt;&lt;/mtext&gt;&lt;/math&gt;" title="one sixth five sixths three sixths two sixths"/>
          <p:cNvPicPr preferRelativeResize="0"/>
          <p:nvPr/>
        </p:nvPicPr>
        <p:blipFill>
          <a:blip r:embed="rId7">
            <a:alphaModFix/>
          </a:blip>
          <a:srcRect l="49967" r="21797"/>
          <a:stretch>
            <a:fillRect/>
          </a:stretch>
        </p:blipFill>
        <p:spPr>
          <a:xfrm>
            <a:off x="1459142" y="6603134"/>
            <a:ext cx="225932" cy="354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1" descr="&lt;math xmlns=&quot;http://www.w3.org/1998/Math/MathML&quot; display=&quot;block&quot; data-is-equatio=&quot;1&quot; data-latex=&quot;\frac{1}{6}\ \ \frac{5}{6}\ \ \frac{3}{6}\ \ \frac{2}{6}\ \ &quot;&gt;&lt;mfrac&gt;&lt;mn&gt;1&lt;/mn&gt;&lt;mn&gt;6&lt;/mn&gt;&lt;/mfrac&gt;&lt;mtext&gt;&lt;/mtext&gt;&lt;mtext&gt;&lt;/mtext&gt;&lt;mfrac&gt;&lt;mn&gt;5&lt;/mn&gt;&lt;mn&gt;6&lt;/mn&gt;&lt;/mfrac&gt;&lt;mtext&gt;&lt;/mtext&gt;&lt;mtext&gt;&lt;/mtext&gt;&lt;mfrac&gt;&lt;mn&gt;3&lt;/mn&gt;&lt;mn&gt;6&lt;/mn&gt;&lt;/mfrac&gt;&lt;mtext&gt;&lt;/mtext&gt;&lt;mtext&gt;&lt;/mtext&gt;&lt;mfrac&gt;&lt;mn&gt;2&lt;/mn&gt;&lt;mn&gt;6&lt;/mn&gt;&lt;/mfrac&gt;&lt;mtext&gt;&lt;/mtext&gt;&lt;mtext&gt;&lt;/mtext&gt;&lt;/math&gt;" title="one sixth five sixths three sixths two sixths"/>
          <p:cNvPicPr preferRelativeResize="0"/>
          <p:nvPr/>
        </p:nvPicPr>
        <p:blipFill>
          <a:blip r:embed="rId7">
            <a:alphaModFix/>
          </a:blip>
          <a:srcRect l="49967" r="21797"/>
          <a:stretch>
            <a:fillRect/>
          </a:stretch>
        </p:blipFill>
        <p:spPr>
          <a:xfrm>
            <a:off x="3535861" y="6617870"/>
            <a:ext cx="225932" cy="354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1" descr="&lt;math xmlns=&quot;http://www.w3.org/1998/Math/MathML&quot; display=&quot;block&quot; data-is-equatio=&quot;1&quot; data-latex=&quot;\frac{1}{6}\ \ \frac{5}{6}\ \ \frac{3}{6}\ \ \frac{2}{6}\ \ &quot;&gt;&lt;mfrac&gt;&lt;mn&gt;1&lt;/mn&gt;&lt;mn&gt;6&lt;/mn&gt;&lt;/mfrac&gt;&lt;mtext&gt;&lt;/mtext&gt;&lt;mtext&gt;&lt;/mtext&gt;&lt;mfrac&gt;&lt;mn&gt;5&lt;/mn&gt;&lt;mn&gt;6&lt;/mn&gt;&lt;/mfrac&gt;&lt;mtext&gt;&lt;/mtext&gt;&lt;mtext&gt;&lt;/mtext&gt;&lt;mfrac&gt;&lt;mn&gt;3&lt;/mn&gt;&lt;mn&gt;6&lt;/mn&gt;&lt;/mfrac&gt;&lt;mtext&gt;&lt;/mtext&gt;&lt;mtext&gt;&lt;/mtext&gt;&lt;mfrac&gt;&lt;mn&gt;2&lt;/mn&gt;&lt;mn&gt;6&lt;/mn&gt;&lt;/mfrac&gt;&lt;mtext&gt;&lt;/mtext&gt;&lt;mtext&gt;&lt;/mtext&gt;&lt;/math&gt;" title="one sixth five sixths three sixths two sixths"/>
          <p:cNvPicPr preferRelativeResize="0"/>
          <p:nvPr/>
        </p:nvPicPr>
        <p:blipFill>
          <a:blip r:embed="rId7">
            <a:alphaModFix/>
          </a:blip>
          <a:srcRect l="78881"/>
          <a:stretch>
            <a:fillRect/>
          </a:stretch>
        </p:blipFill>
        <p:spPr>
          <a:xfrm>
            <a:off x="6271069" y="6616013"/>
            <a:ext cx="168992" cy="35414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1"/>
          <p:cNvSpPr txBox="1"/>
          <p:nvPr/>
        </p:nvSpPr>
        <p:spPr>
          <a:xfrm>
            <a:off x="1183506" y="7229401"/>
            <a:ext cx="1155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3630970" y="7234313"/>
            <a:ext cx="1155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1"/>
          <p:cNvSpPr txBox="1"/>
          <p:nvPr/>
        </p:nvSpPr>
        <p:spPr>
          <a:xfrm>
            <a:off x="6246614" y="7234313"/>
            <a:ext cx="1155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491158" y="7539720"/>
            <a:ext cx="59262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Other equivalent fractions, decimals or percentages may be used.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476400" y="7769700"/>
            <a:ext cx="66156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j) The dice is rolled 60 times. Approximately how many times could it be expected to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land on the number 3, based on its probability?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476400" y="8546954"/>
            <a:ext cx="66156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k) Will your answer to part (j) necessarily happen? Explain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4870683" y="8173367"/>
            <a:ext cx="10881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of 60 =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58" name="Google Shape;358;p21" descr="&lt;math xmlns=&quot;http://www.w3.org/1998/Math/MathML&quot; display=&quot;block&quot; data-is-equatio=&quot;1&quot; data-latex=&quot;\frac{1}{6}\ \ \frac{5}{6}\ \ \frac{3}{6}\ \ \frac{2}{6}\ \ &quot;&gt;&lt;mfrac&gt;&lt;mn&gt;1&lt;/mn&gt;&lt;mn&gt;6&lt;/mn&gt;&lt;/mfrac&gt;&lt;mtext&gt;&lt;/mtext&gt;&lt;mtext&gt;&lt;/mtext&gt;&lt;mfrac&gt;&lt;mn&gt;5&lt;/mn&gt;&lt;mn&gt;6&lt;/mn&gt;&lt;/mfrac&gt;&lt;mtext&gt;&lt;/mtext&gt;&lt;mtext&gt;&lt;/mtext&gt;&lt;mfrac&gt;&lt;mn&gt;3&lt;/mn&gt;&lt;mn&gt;6&lt;/mn&gt;&lt;/mfrac&gt;&lt;mtext&gt;&lt;/mtext&gt;&lt;mtext&gt;&lt;/mtext&gt;&lt;mfrac&gt;&lt;mn&gt;2&lt;/mn&gt;&lt;mn&gt;6&lt;/mn&gt;&lt;/mfrac&gt;&lt;mtext&gt;&lt;/mtext&gt;&lt;mtext&gt;&lt;/mtext&gt;&lt;/math&gt;" title="one sixth five sixths three sixths two sixths"/>
          <p:cNvPicPr preferRelativeResize="0"/>
          <p:nvPr/>
        </p:nvPicPr>
        <p:blipFill>
          <a:blip r:embed="rId7">
            <a:alphaModFix/>
          </a:blip>
          <a:srcRect r="78881"/>
          <a:stretch>
            <a:fillRect/>
          </a:stretch>
        </p:blipFill>
        <p:spPr>
          <a:xfrm>
            <a:off x="4693257" y="8130650"/>
            <a:ext cx="143326" cy="300356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1"/>
          <p:cNvSpPr txBox="1"/>
          <p:nvPr/>
        </p:nvSpPr>
        <p:spPr>
          <a:xfrm>
            <a:off x="453925" y="8817050"/>
            <a:ext cx="21945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No. The probability only provides a theoretical expectation.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0" name="Google Shape;360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82241" y="8863026"/>
            <a:ext cx="1309471" cy="880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568145" y="8999882"/>
            <a:ext cx="1314524" cy="7452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2" name="Google Shape;362;p21"/>
          <p:cNvCxnSpPr/>
          <p:nvPr/>
        </p:nvCxnSpPr>
        <p:spPr>
          <a:xfrm rot="10800000" flipH="1">
            <a:off x="3186466" y="8740057"/>
            <a:ext cx="0" cy="1005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3" name="Google Shape;363;p21"/>
          <p:cNvCxnSpPr/>
          <p:nvPr/>
        </p:nvCxnSpPr>
        <p:spPr>
          <a:xfrm>
            <a:off x="3173496" y="9739939"/>
            <a:ext cx="1482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4" name="Google Shape;364;p21"/>
          <p:cNvSpPr txBox="1"/>
          <p:nvPr/>
        </p:nvSpPr>
        <p:spPr>
          <a:xfrm>
            <a:off x="3353945" y="9739939"/>
            <a:ext cx="1410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1"/>
          <p:cNvSpPr txBox="1"/>
          <p:nvPr/>
        </p:nvSpPr>
        <p:spPr>
          <a:xfrm>
            <a:off x="3543987" y="9739939"/>
            <a:ext cx="1410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1"/>
          <p:cNvSpPr txBox="1"/>
          <p:nvPr/>
        </p:nvSpPr>
        <p:spPr>
          <a:xfrm>
            <a:off x="3738353" y="9739939"/>
            <a:ext cx="1410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1"/>
          <p:cNvSpPr txBox="1"/>
          <p:nvPr/>
        </p:nvSpPr>
        <p:spPr>
          <a:xfrm>
            <a:off x="3928396" y="9739939"/>
            <a:ext cx="1410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1"/>
          <p:cNvSpPr txBox="1"/>
          <p:nvPr/>
        </p:nvSpPr>
        <p:spPr>
          <a:xfrm>
            <a:off x="4136195" y="9739939"/>
            <a:ext cx="1410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4342177" y="9739939"/>
            <a:ext cx="1410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 rot="-5400000">
            <a:off x="2411475" y="9121726"/>
            <a:ext cx="7491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1" name="Google Shape;371;p21"/>
          <p:cNvCxnSpPr/>
          <p:nvPr/>
        </p:nvCxnSpPr>
        <p:spPr>
          <a:xfrm rot="10800000" flipH="1">
            <a:off x="5576973" y="8744257"/>
            <a:ext cx="0" cy="1000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2" name="Google Shape;372;p21"/>
          <p:cNvCxnSpPr/>
          <p:nvPr/>
        </p:nvCxnSpPr>
        <p:spPr>
          <a:xfrm>
            <a:off x="5564003" y="9739939"/>
            <a:ext cx="1482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3" name="Google Shape;373;p21"/>
          <p:cNvSpPr txBox="1"/>
          <p:nvPr/>
        </p:nvSpPr>
        <p:spPr>
          <a:xfrm>
            <a:off x="5744452" y="9739939"/>
            <a:ext cx="1410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1"/>
          <p:cNvSpPr txBox="1"/>
          <p:nvPr/>
        </p:nvSpPr>
        <p:spPr>
          <a:xfrm>
            <a:off x="5934494" y="9739939"/>
            <a:ext cx="1410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1"/>
          <p:cNvSpPr txBox="1"/>
          <p:nvPr/>
        </p:nvSpPr>
        <p:spPr>
          <a:xfrm>
            <a:off x="6128860" y="9739939"/>
            <a:ext cx="1410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1"/>
          <p:cNvSpPr txBox="1"/>
          <p:nvPr/>
        </p:nvSpPr>
        <p:spPr>
          <a:xfrm>
            <a:off x="6318903" y="9739939"/>
            <a:ext cx="1410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1"/>
          <p:cNvSpPr txBox="1"/>
          <p:nvPr/>
        </p:nvSpPr>
        <p:spPr>
          <a:xfrm>
            <a:off x="6526702" y="9739939"/>
            <a:ext cx="1410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21"/>
          <p:cNvSpPr txBox="1"/>
          <p:nvPr/>
        </p:nvSpPr>
        <p:spPr>
          <a:xfrm>
            <a:off x="6732684" y="9739939"/>
            <a:ext cx="1410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5450723" y="9649243"/>
            <a:ext cx="1410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5324852" y="9213075"/>
            <a:ext cx="2259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5320400" y="8994975"/>
            <a:ext cx="2259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 rot="-5400000">
            <a:off x="4781275" y="9101027"/>
            <a:ext cx="7905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5455094" y="9431153"/>
            <a:ext cx="1410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5320376" y="8768225"/>
            <a:ext cx="2259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3047234" y="9649243"/>
            <a:ext cx="1410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2935630" y="9213057"/>
            <a:ext cx="1944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2929498" y="8994966"/>
            <a:ext cx="1944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8" name="Google Shape;388;p21"/>
          <p:cNvSpPr txBox="1"/>
          <p:nvPr/>
        </p:nvSpPr>
        <p:spPr>
          <a:xfrm>
            <a:off x="2998164" y="9431149"/>
            <a:ext cx="1944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2929498" y="8768225"/>
            <a:ext cx="1944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453925" y="9402025"/>
            <a:ext cx="21945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Examples from the simulation: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131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Calculating theoretical probabilities from lists (one event)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2024-03-05T12:31:44.677</cp:lastPrinted>
  <dcterms:created xsi:type="dcterms:W3CDTF">2024-03-05T12:31:44Z</dcterms:created>
  <dcterms:modified xsi:type="dcterms:W3CDTF">2024-03-05T12:29:26Z</dcterms:modified>
</cp:coreProperties>
</file>