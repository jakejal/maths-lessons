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b968284b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b968284b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968284bda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968284bda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b968284bda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b968284bda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b968284bda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b968284bda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b968284bda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b968284bda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b968284bda_0_1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b968284bda_0_1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b968284bda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b968284bda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b968284bda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b968284bda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b968284bda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b968284bda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b968284bda_0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b968284bda_0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b968284bda_0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b968284bda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b968284bda_0_1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b968284bda_0_1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b968284bda_0_1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b968284bda_0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b968284bda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b968284bda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b968284bda_0_1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b968284bda_0_1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b968284bda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b968284bda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b968284bda_0_1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b968284bda_0_1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b968284bda_0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b968284bda_0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b968284bda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b968284bda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b96b6c2d43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b96b6c2d43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b96b6c2d43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b96b6c2d43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b96b6c2d4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b96b6c2d4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b96b6c2d43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b96b6c2d43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b96b6c2d43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b96b6c2d43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b968284bda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b968284bda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b968284bda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b968284bda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b968284bda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b968284bda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b96b6c2d43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b96b6c2d43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b96b6c2d43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2b96b6c2d43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b96b6c2d43_1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b96b6c2d43_1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b96b6c2d43_1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b96b6c2d43_1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2b96b6c2d43_1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2b96b6c2d43_1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1f1e5cd26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1f1e5cd26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2b968284bda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2b968284bda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1f1e5cd264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1f1e5cd264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1f1e5cd264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1f1e5cd264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1f1e5cd264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1f1e5cd264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1f1e5cd264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1f1e5cd264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1f1e5cd264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1f1e5cd264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4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94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94.png"/><Relationship Id="rId4" Type="http://schemas.openxmlformats.org/officeDocument/2006/relationships/image" Target="../media/image31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6" name="Google Shape;746;p6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Relationship Id="rId5" Type="http://schemas.openxmlformats.org/officeDocument/2006/relationships/image" Target="../media/image61.png"/><Relationship Id="rId6" Type="http://schemas.openxmlformats.org/officeDocument/2006/relationships/image" Target="../media/image60.png"/><Relationship Id="rId7" Type="http://schemas.openxmlformats.org/officeDocument/2006/relationships/image" Target="../media/image58.png"/><Relationship Id="rId8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Relationship Id="rId5" Type="http://schemas.openxmlformats.org/officeDocument/2006/relationships/image" Target="../media/image61.png"/><Relationship Id="rId6" Type="http://schemas.openxmlformats.org/officeDocument/2006/relationships/image" Target="../media/image60.png"/><Relationship Id="rId7" Type="http://schemas.openxmlformats.org/officeDocument/2006/relationships/image" Target="../media/image58.png"/><Relationship Id="rId8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7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5.png"/><Relationship Id="rId4" Type="http://schemas.openxmlformats.org/officeDocument/2006/relationships/image" Target="../media/image6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4.png"/><Relationship Id="rId4" Type="http://schemas.openxmlformats.org/officeDocument/2006/relationships/image" Target="../media/image81.png"/><Relationship Id="rId5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3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png"/><Relationship Id="rId4" Type="http://schemas.openxmlformats.org/officeDocument/2006/relationships/image" Target="../media/image73.png"/><Relationship Id="rId5" Type="http://schemas.openxmlformats.org/officeDocument/2006/relationships/image" Target="../media/image8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Relationship Id="rId4" Type="http://schemas.openxmlformats.org/officeDocument/2006/relationships/image" Target="../media/image79.png"/><Relationship Id="rId5" Type="http://schemas.openxmlformats.org/officeDocument/2006/relationships/image" Target="../media/image8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8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7.png"/><Relationship Id="rId4" Type="http://schemas.openxmlformats.org/officeDocument/2006/relationships/image" Target="../media/image88.png"/><Relationship Id="rId5" Type="http://schemas.openxmlformats.org/officeDocument/2006/relationships/image" Target="../media/image78.png"/><Relationship Id="rId6" Type="http://schemas.openxmlformats.org/officeDocument/2006/relationships/image" Target="../media/image93.png"/><Relationship Id="rId7" Type="http://schemas.openxmlformats.org/officeDocument/2006/relationships/image" Target="../media/image9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  <p:sp>
        <p:nvSpPr>
          <p:cNvPr id="756" name="Google Shape;756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and use theoretical probabilities for combined events using Venn diagrams (2 events).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idx="2" type="subTitle"/>
          </p:nvPr>
        </p:nvSpPr>
        <p:spPr>
          <a:xfrm>
            <a:off x="324000" y="826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theoretical probability is a probability based on counting the number of desired outcomes from a sample space where all individual outcomes are equally likely. </a:t>
            </a:r>
            <a:endParaRPr sz="1800"/>
          </a:p>
        </p:txBody>
      </p:sp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324000" y="1969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Venn diagrams are a representation used to model statistical/probability questions. Commonly circles are used to represent events.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778" name="Google Shape;778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779" name="Google Shape;779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  <p:pic>
        <p:nvPicPr>
          <p:cNvPr id="780" name="Google Shape;7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75" y="20598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786" name="Google Shape;786;p68"/>
          <p:cNvSpPr/>
          <p:nvPr/>
        </p:nvSpPr>
        <p:spPr>
          <a:xfrm>
            <a:off x="546250" y="13213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 txBox="1"/>
          <p:nvPr/>
        </p:nvSpPr>
        <p:spPr>
          <a:xfrm>
            <a:off x="7970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8" name="Google Shape;788;p68"/>
          <p:cNvGrpSpPr/>
          <p:nvPr/>
        </p:nvGrpSpPr>
        <p:grpSpPr>
          <a:xfrm>
            <a:off x="742675" y="1545693"/>
            <a:ext cx="2596800" cy="2395800"/>
            <a:chOff x="742675" y="1774293"/>
            <a:chExt cx="2596800" cy="2395800"/>
          </a:xfrm>
        </p:grpSpPr>
        <p:sp>
          <p:nvSpPr>
            <p:cNvPr id="789" name="Google Shape;789;p68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0" name="Google Shape;790;p68"/>
            <p:cNvSpPr/>
            <p:nvPr/>
          </p:nvSpPr>
          <p:spPr>
            <a:xfrm>
              <a:off x="7426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1" name="Google Shape;791;p68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2" name="Google Shape;792;p68"/>
          <p:cNvSpPr txBox="1"/>
          <p:nvPr/>
        </p:nvSpPr>
        <p:spPr>
          <a:xfrm>
            <a:off x="31020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/>
        </p:nvSpPr>
        <p:spPr>
          <a:xfrm>
            <a:off x="2574141" y="27793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 txBox="1"/>
          <p:nvPr/>
        </p:nvSpPr>
        <p:spPr>
          <a:xfrm>
            <a:off x="1949531" y="17928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/>
        </p:nvSpPr>
        <p:spPr>
          <a:xfrm>
            <a:off x="705531" y="3756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1979547" y="24639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2488726" y="17278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 txBox="1"/>
          <p:nvPr/>
        </p:nvSpPr>
        <p:spPr>
          <a:xfrm>
            <a:off x="1095881" y="18050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/>
        </p:nvSpPr>
        <p:spPr>
          <a:xfrm>
            <a:off x="622456" y="2999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8"/>
          <p:cNvSpPr txBox="1"/>
          <p:nvPr/>
        </p:nvSpPr>
        <p:spPr>
          <a:xfrm>
            <a:off x="1095881" y="2463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8"/>
          <p:cNvSpPr txBox="1"/>
          <p:nvPr/>
        </p:nvSpPr>
        <p:spPr>
          <a:xfrm>
            <a:off x="2082747" y="3335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8"/>
          <p:cNvSpPr txBox="1"/>
          <p:nvPr/>
        </p:nvSpPr>
        <p:spPr>
          <a:xfrm>
            <a:off x="1887711" y="20699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/>
        </p:nvSpPr>
        <p:spPr>
          <a:xfrm>
            <a:off x="402600" y="12660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804" name="Google Shape;804;p68"/>
          <p:cNvSpPr txBox="1"/>
          <p:nvPr/>
        </p:nvSpPr>
        <p:spPr>
          <a:xfrm>
            <a:off x="1248950" y="36128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8"/>
          <p:cNvSpPr txBox="1"/>
          <p:nvPr/>
        </p:nvSpPr>
        <p:spPr>
          <a:xfrm>
            <a:off x="324000" y="762600"/>
            <a:ext cx="7947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show the probabilities of three events on a venn diagram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8"/>
          <p:cNvSpPr txBox="1"/>
          <p:nvPr/>
        </p:nvSpPr>
        <p:spPr>
          <a:xfrm>
            <a:off x="3982425" y="1314725"/>
            <a:ext cx="2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7" name="Google Shape;807;p68"/>
          <p:cNvGrpSpPr/>
          <p:nvPr/>
        </p:nvGrpSpPr>
        <p:grpSpPr>
          <a:xfrm>
            <a:off x="742041" y="1542373"/>
            <a:ext cx="2594125" cy="1606200"/>
            <a:chOff x="5771875" y="1850493"/>
            <a:chExt cx="2594125" cy="1606200"/>
          </a:xfrm>
        </p:grpSpPr>
        <p:sp>
          <p:nvSpPr>
            <p:cNvPr id="808" name="Google Shape;808;p68"/>
            <p:cNvSpPr/>
            <p:nvPr/>
          </p:nvSpPr>
          <p:spPr>
            <a:xfrm>
              <a:off x="5771875" y="1850493"/>
              <a:ext cx="1606200" cy="1606200"/>
            </a:xfrm>
            <a:prstGeom prst="arc">
              <a:avLst>
                <a:gd fmla="val 18444375" name="adj1"/>
                <a:gd fmla="val 3163868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8"/>
            <p:cNvSpPr/>
            <p:nvPr/>
          </p:nvSpPr>
          <p:spPr>
            <a:xfrm>
              <a:off x="6759800" y="1850493"/>
              <a:ext cx="1606200" cy="1606200"/>
            </a:xfrm>
            <a:prstGeom prst="arc">
              <a:avLst>
                <a:gd fmla="val 7621275" name="adj1"/>
                <a:gd fmla="val 13983350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10" name="Google Shape;810;p68"/>
          <p:cNvCxnSpPr/>
          <p:nvPr/>
        </p:nvCxnSpPr>
        <p:spPr>
          <a:xfrm>
            <a:off x="5499007" y="1482152"/>
            <a:ext cx="41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1" name="Google Shape;811;p68"/>
          <p:cNvSpPr/>
          <p:nvPr/>
        </p:nvSpPr>
        <p:spPr>
          <a:xfrm>
            <a:off x="546250" y="13213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 txBox="1"/>
          <p:nvPr/>
        </p:nvSpPr>
        <p:spPr>
          <a:xfrm>
            <a:off x="5628095" y="1167104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/>
        </p:nvSpPr>
        <p:spPr>
          <a:xfrm>
            <a:off x="5574167" y="1529159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8"/>
          <p:cNvSpPr txBox="1"/>
          <p:nvPr/>
        </p:nvSpPr>
        <p:spPr>
          <a:xfrm>
            <a:off x="3982425" y="1963450"/>
            <a:ext cx="4735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is the outcome ‘5’ not included?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8"/>
          <p:cNvSpPr txBox="1"/>
          <p:nvPr/>
        </p:nvSpPr>
        <p:spPr>
          <a:xfrm>
            <a:off x="3982425" y="2295700"/>
            <a:ext cx="4735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not an outcome of both event A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B, only event B.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16" name="Google Shape;816;p6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 rot="10800000">
            <a:off x="4525850" y="3062250"/>
            <a:ext cx="2662052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187896" y="26837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8"/>
          <p:cNvSpPr txBox="1"/>
          <p:nvPr/>
        </p:nvSpPr>
        <p:spPr>
          <a:xfrm>
            <a:off x="7073125" y="3617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8"/>
          <p:cNvSpPr txBox="1"/>
          <p:nvPr/>
        </p:nvSpPr>
        <p:spPr>
          <a:xfrm>
            <a:off x="4592025" y="3411250"/>
            <a:ext cx="2525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two events are combined using ‘and’ the outcomes have to satisfy both events.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825" name="Google Shape;825;p69"/>
          <p:cNvSpPr/>
          <p:nvPr/>
        </p:nvSpPr>
        <p:spPr>
          <a:xfrm>
            <a:off x="546250" y="13213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9"/>
          <p:cNvSpPr txBox="1"/>
          <p:nvPr/>
        </p:nvSpPr>
        <p:spPr>
          <a:xfrm>
            <a:off x="7970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7" name="Google Shape;827;p69"/>
          <p:cNvGrpSpPr/>
          <p:nvPr/>
        </p:nvGrpSpPr>
        <p:grpSpPr>
          <a:xfrm>
            <a:off x="742675" y="1545693"/>
            <a:ext cx="2596800" cy="2395800"/>
            <a:chOff x="742675" y="1774293"/>
            <a:chExt cx="2596800" cy="2395800"/>
          </a:xfrm>
        </p:grpSpPr>
        <p:sp>
          <p:nvSpPr>
            <p:cNvPr id="828" name="Google Shape;828;p69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69"/>
            <p:cNvSpPr/>
            <p:nvPr/>
          </p:nvSpPr>
          <p:spPr>
            <a:xfrm>
              <a:off x="7426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0" name="Google Shape;830;p69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1" name="Google Shape;831;p69"/>
          <p:cNvSpPr txBox="1"/>
          <p:nvPr/>
        </p:nvSpPr>
        <p:spPr>
          <a:xfrm>
            <a:off x="31020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9"/>
          <p:cNvSpPr txBox="1"/>
          <p:nvPr/>
        </p:nvSpPr>
        <p:spPr>
          <a:xfrm>
            <a:off x="2574141" y="27793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9"/>
          <p:cNvSpPr txBox="1"/>
          <p:nvPr/>
        </p:nvSpPr>
        <p:spPr>
          <a:xfrm>
            <a:off x="1949531" y="17928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705531" y="3756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1979547" y="24639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9"/>
          <p:cNvSpPr txBox="1"/>
          <p:nvPr/>
        </p:nvSpPr>
        <p:spPr>
          <a:xfrm>
            <a:off x="2488726" y="17278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9"/>
          <p:cNvSpPr txBox="1"/>
          <p:nvPr/>
        </p:nvSpPr>
        <p:spPr>
          <a:xfrm>
            <a:off x="1095881" y="18050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 txBox="1"/>
          <p:nvPr/>
        </p:nvSpPr>
        <p:spPr>
          <a:xfrm>
            <a:off x="622456" y="2999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 txBox="1"/>
          <p:nvPr/>
        </p:nvSpPr>
        <p:spPr>
          <a:xfrm>
            <a:off x="1095881" y="2463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69"/>
          <p:cNvSpPr txBox="1"/>
          <p:nvPr/>
        </p:nvSpPr>
        <p:spPr>
          <a:xfrm>
            <a:off x="2082747" y="3335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9"/>
          <p:cNvSpPr txBox="1"/>
          <p:nvPr/>
        </p:nvSpPr>
        <p:spPr>
          <a:xfrm>
            <a:off x="1887711" y="20699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9"/>
          <p:cNvSpPr txBox="1"/>
          <p:nvPr/>
        </p:nvSpPr>
        <p:spPr>
          <a:xfrm>
            <a:off x="402600" y="12660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843" name="Google Shape;843;p69"/>
          <p:cNvSpPr txBox="1"/>
          <p:nvPr/>
        </p:nvSpPr>
        <p:spPr>
          <a:xfrm>
            <a:off x="1248950" y="36128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69"/>
          <p:cNvSpPr txBox="1"/>
          <p:nvPr/>
        </p:nvSpPr>
        <p:spPr>
          <a:xfrm>
            <a:off x="3982425" y="1314725"/>
            <a:ext cx="2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69"/>
          <p:cNvSpPr txBox="1"/>
          <p:nvPr/>
        </p:nvSpPr>
        <p:spPr>
          <a:xfrm>
            <a:off x="3982425" y="1924325"/>
            <a:ext cx="2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6" name="Google Shape;846;p69"/>
          <p:cNvCxnSpPr/>
          <p:nvPr/>
        </p:nvCxnSpPr>
        <p:spPr>
          <a:xfrm>
            <a:off x="5499007" y="1482152"/>
            <a:ext cx="41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7" name="Google Shape;847;p69"/>
          <p:cNvSpPr txBox="1"/>
          <p:nvPr/>
        </p:nvSpPr>
        <p:spPr>
          <a:xfrm>
            <a:off x="5628095" y="1167104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69"/>
          <p:cNvSpPr txBox="1"/>
          <p:nvPr/>
        </p:nvSpPr>
        <p:spPr>
          <a:xfrm>
            <a:off x="5574167" y="1529159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9"/>
          <p:cNvSpPr txBox="1"/>
          <p:nvPr/>
        </p:nvSpPr>
        <p:spPr>
          <a:xfrm>
            <a:off x="324000" y="762600"/>
            <a:ext cx="7947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Probabilities can still be found even if three events are shown.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0" name="Google Shape;850;p69"/>
          <p:cNvCxnSpPr/>
          <p:nvPr/>
        </p:nvCxnSpPr>
        <p:spPr>
          <a:xfrm>
            <a:off x="5499007" y="2091752"/>
            <a:ext cx="41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1" name="Google Shape;851;p69"/>
          <p:cNvSpPr txBox="1"/>
          <p:nvPr/>
        </p:nvSpPr>
        <p:spPr>
          <a:xfrm>
            <a:off x="5628095" y="1776704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 txBox="1"/>
          <p:nvPr/>
        </p:nvSpPr>
        <p:spPr>
          <a:xfrm>
            <a:off x="5574167" y="2138759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9"/>
          <p:cNvSpPr/>
          <p:nvPr/>
        </p:nvSpPr>
        <p:spPr>
          <a:xfrm>
            <a:off x="546250" y="13213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4" name="Google Shape;854;p69"/>
          <p:cNvGrpSpPr/>
          <p:nvPr/>
        </p:nvGrpSpPr>
        <p:grpSpPr>
          <a:xfrm>
            <a:off x="742675" y="1545693"/>
            <a:ext cx="2112475" cy="2395800"/>
            <a:chOff x="742675" y="1545693"/>
            <a:chExt cx="2112475" cy="2395800"/>
          </a:xfrm>
        </p:grpSpPr>
        <p:sp>
          <p:nvSpPr>
            <p:cNvPr id="855" name="Google Shape;855;p69"/>
            <p:cNvSpPr/>
            <p:nvPr/>
          </p:nvSpPr>
          <p:spPr>
            <a:xfrm>
              <a:off x="1248950" y="2335293"/>
              <a:ext cx="1606200" cy="1606200"/>
            </a:xfrm>
            <a:prstGeom prst="arc">
              <a:avLst>
                <a:gd fmla="val 10904839" name="adj1"/>
                <a:gd fmla="val 17556257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6" name="Google Shape;856;p69"/>
            <p:cNvSpPr/>
            <p:nvPr/>
          </p:nvSpPr>
          <p:spPr>
            <a:xfrm>
              <a:off x="742675" y="1545693"/>
              <a:ext cx="1606200" cy="1606200"/>
            </a:xfrm>
            <a:prstGeom prst="arc">
              <a:avLst>
                <a:gd fmla="val 150386" name="adj1"/>
                <a:gd fmla="val 674196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7" name="Google Shape;857;p69"/>
          <p:cNvSpPr txBox="1"/>
          <p:nvPr/>
        </p:nvSpPr>
        <p:spPr>
          <a:xfrm>
            <a:off x="3982425" y="2573050"/>
            <a:ext cx="4735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it matter that ‘4’ is an outcome of event B as well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69"/>
          <p:cNvSpPr txBox="1"/>
          <p:nvPr/>
        </p:nvSpPr>
        <p:spPr>
          <a:xfrm>
            <a:off x="3982425" y="3210100"/>
            <a:ext cx="4735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it is an outcome of both event A and event C and that is the focus of this question.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864" name="Google Shape;864;p70"/>
          <p:cNvSpPr/>
          <p:nvPr/>
        </p:nvSpPr>
        <p:spPr>
          <a:xfrm>
            <a:off x="546250" y="13213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0"/>
          <p:cNvSpPr txBox="1"/>
          <p:nvPr/>
        </p:nvSpPr>
        <p:spPr>
          <a:xfrm>
            <a:off x="7970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6" name="Google Shape;866;p70"/>
          <p:cNvGrpSpPr/>
          <p:nvPr/>
        </p:nvGrpSpPr>
        <p:grpSpPr>
          <a:xfrm>
            <a:off x="742675" y="1545693"/>
            <a:ext cx="2596800" cy="2395800"/>
            <a:chOff x="742675" y="1774293"/>
            <a:chExt cx="2596800" cy="2395800"/>
          </a:xfrm>
        </p:grpSpPr>
        <p:sp>
          <p:nvSpPr>
            <p:cNvPr id="867" name="Google Shape;867;p70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8" name="Google Shape;868;p70"/>
            <p:cNvSpPr/>
            <p:nvPr/>
          </p:nvSpPr>
          <p:spPr>
            <a:xfrm>
              <a:off x="7426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9" name="Google Shape;869;p70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0" name="Google Shape;870;p70"/>
          <p:cNvSpPr txBox="1"/>
          <p:nvPr/>
        </p:nvSpPr>
        <p:spPr>
          <a:xfrm>
            <a:off x="31020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0"/>
          <p:cNvSpPr txBox="1"/>
          <p:nvPr/>
        </p:nvSpPr>
        <p:spPr>
          <a:xfrm>
            <a:off x="2574141" y="27793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0"/>
          <p:cNvSpPr txBox="1"/>
          <p:nvPr/>
        </p:nvSpPr>
        <p:spPr>
          <a:xfrm>
            <a:off x="1949531" y="17928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0"/>
          <p:cNvSpPr txBox="1"/>
          <p:nvPr/>
        </p:nvSpPr>
        <p:spPr>
          <a:xfrm>
            <a:off x="705531" y="3756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0"/>
          <p:cNvSpPr txBox="1"/>
          <p:nvPr/>
        </p:nvSpPr>
        <p:spPr>
          <a:xfrm>
            <a:off x="1979547" y="24639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0"/>
          <p:cNvSpPr txBox="1"/>
          <p:nvPr/>
        </p:nvSpPr>
        <p:spPr>
          <a:xfrm>
            <a:off x="2488726" y="17278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0"/>
          <p:cNvSpPr txBox="1"/>
          <p:nvPr/>
        </p:nvSpPr>
        <p:spPr>
          <a:xfrm>
            <a:off x="1095881" y="18050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0"/>
          <p:cNvSpPr txBox="1"/>
          <p:nvPr/>
        </p:nvSpPr>
        <p:spPr>
          <a:xfrm>
            <a:off x="622456" y="2999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0"/>
          <p:cNvSpPr txBox="1"/>
          <p:nvPr/>
        </p:nvSpPr>
        <p:spPr>
          <a:xfrm>
            <a:off x="1095881" y="2463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0"/>
          <p:cNvSpPr txBox="1"/>
          <p:nvPr/>
        </p:nvSpPr>
        <p:spPr>
          <a:xfrm>
            <a:off x="2082747" y="3335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0"/>
          <p:cNvSpPr txBox="1"/>
          <p:nvPr/>
        </p:nvSpPr>
        <p:spPr>
          <a:xfrm>
            <a:off x="1887711" y="20699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0"/>
          <p:cNvSpPr txBox="1"/>
          <p:nvPr/>
        </p:nvSpPr>
        <p:spPr>
          <a:xfrm>
            <a:off x="402600" y="12660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882" name="Google Shape;882;p70"/>
          <p:cNvSpPr txBox="1"/>
          <p:nvPr/>
        </p:nvSpPr>
        <p:spPr>
          <a:xfrm>
            <a:off x="1248950" y="36128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0"/>
          <p:cNvSpPr txBox="1"/>
          <p:nvPr/>
        </p:nvSpPr>
        <p:spPr>
          <a:xfrm>
            <a:off x="3982425" y="1314725"/>
            <a:ext cx="2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0"/>
          <p:cNvSpPr txBox="1"/>
          <p:nvPr/>
        </p:nvSpPr>
        <p:spPr>
          <a:xfrm>
            <a:off x="3982425" y="1924325"/>
            <a:ext cx="2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0"/>
          <p:cNvSpPr txBox="1"/>
          <p:nvPr/>
        </p:nvSpPr>
        <p:spPr>
          <a:xfrm>
            <a:off x="3982425" y="3143525"/>
            <a:ext cx="2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P(not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not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0"/>
          <p:cNvSpPr txBox="1"/>
          <p:nvPr/>
        </p:nvSpPr>
        <p:spPr>
          <a:xfrm>
            <a:off x="324000" y="762600"/>
            <a:ext cx="7947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Probabilities can still be found even if three events are shown.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7" name="Google Shape;887;p70"/>
          <p:cNvCxnSpPr/>
          <p:nvPr/>
        </p:nvCxnSpPr>
        <p:spPr>
          <a:xfrm>
            <a:off x="5499007" y="1482152"/>
            <a:ext cx="41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8" name="Google Shape;888;p70"/>
          <p:cNvSpPr txBox="1"/>
          <p:nvPr/>
        </p:nvSpPr>
        <p:spPr>
          <a:xfrm>
            <a:off x="5628095" y="1167104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0"/>
          <p:cNvSpPr txBox="1"/>
          <p:nvPr/>
        </p:nvSpPr>
        <p:spPr>
          <a:xfrm>
            <a:off x="5574167" y="1529159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0" name="Google Shape;890;p70"/>
          <p:cNvCxnSpPr/>
          <p:nvPr/>
        </p:nvCxnSpPr>
        <p:spPr>
          <a:xfrm>
            <a:off x="5499007" y="2091752"/>
            <a:ext cx="41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70"/>
          <p:cNvSpPr txBox="1"/>
          <p:nvPr/>
        </p:nvSpPr>
        <p:spPr>
          <a:xfrm>
            <a:off x="5628095" y="1776704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0"/>
          <p:cNvSpPr txBox="1"/>
          <p:nvPr/>
        </p:nvSpPr>
        <p:spPr>
          <a:xfrm>
            <a:off x="5574167" y="2138759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0"/>
          <p:cNvSpPr/>
          <p:nvPr/>
        </p:nvSpPr>
        <p:spPr>
          <a:xfrm>
            <a:off x="748131" y="1544496"/>
            <a:ext cx="1606200" cy="16062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0"/>
          <p:cNvSpPr/>
          <p:nvPr/>
        </p:nvSpPr>
        <p:spPr>
          <a:xfrm>
            <a:off x="546250" y="13213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0"/>
          <p:cNvSpPr/>
          <p:nvPr/>
        </p:nvSpPr>
        <p:spPr>
          <a:xfrm>
            <a:off x="1733926" y="1555445"/>
            <a:ext cx="1606200" cy="16062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6" name="Google Shape;896;p70"/>
          <p:cNvCxnSpPr/>
          <p:nvPr/>
        </p:nvCxnSpPr>
        <p:spPr>
          <a:xfrm>
            <a:off x="6337207" y="3289493"/>
            <a:ext cx="41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70"/>
          <p:cNvSpPr txBox="1"/>
          <p:nvPr/>
        </p:nvSpPr>
        <p:spPr>
          <a:xfrm>
            <a:off x="6466295" y="2974446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0"/>
          <p:cNvSpPr txBox="1"/>
          <p:nvPr/>
        </p:nvSpPr>
        <p:spPr>
          <a:xfrm>
            <a:off x="6412367" y="3336500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0"/>
          <p:cNvSpPr txBox="1"/>
          <p:nvPr/>
        </p:nvSpPr>
        <p:spPr>
          <a:xfrm>
            <a:off x="3982425" y="3716050"/>
            <a:ext cx="4735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‘5’ and ‘1’ are outcomes that are not in event A, why are they not included?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0"/>
          <p:cNvSpPr txBox="1"/>
          <p:nvPr/>
        </p:nvSpPr>
        <p:spPr>
          <a:xfrm>
            <a:off x="3982425" y="4353100"/>
            <a:ext cx="4735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they are in event B!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906" name="Google Shape;906;p71"/>
          <p:cNvSpPr txBox="1"/>
          <p:nvPr/>
        </p:nvSpPr>
        <p:spPr>
          <a:xfrm>
            <a:off x="324000" y="762600"/>
            <a:ext cx="7947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express the outcomes in each event as a list.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1"/>
          <p:cNvSpPr/>
          <p:nvPr/>
        </p:nvSpPr>
        <p:spPr>
          <a:xfrm>
            <a:off x="546250" y="13213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1"/>
          <p:cNvSpPr txBox="1"/>
          <p:nvPr/>
        </p:nvSpPr>
        <p:spPr>
          <a:xfrm>
            <a:off x="7970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9" name="Google Shape;909;p71"/>
          <p:cNvGrpSpPr/>
          <p:nvPr/>
        </p:nvGrpSpPr>
        <p:grpSpPr>
          <a:xfrm>
            <a:off x="742675" y="1545693"/>
            <a:ext cx="2596800" cy="2395800"/>
            <a:chOff x="742675" y="1774293"/>
            <a:chExt cx="2596800" cy="2395800"/>
          </a:xfrm>
        </p:grpSpPr>
        <p:sp>
          <p:nvSpPr>
            <p:cNvPr id="910" name="Google Shape;910;p71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1"/>
            <p:cNvSpPr/>
            <p:nvPr/>
          </p:nvSpPr>
          <p:spPr>
            <a:xfrm>
              <a:off x="7426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2" name="Google Shape;912;p71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3" name="Google Shape;913;p71"/>
          <p:cNvSpPr txBox="1"/>
          <p:nvPr/>
        </p:nvSpPr>
        <p:spPr>
          <a:xfrm>
            <a:off x="31020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1"/>
          <p:cNvSpPr txBox="1"/>
          <p:nvPr/>
        </p:nvSpPr>
        <p:spPr>
          <a:xfrm>
            <a:off x="2574141" y="27793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1"/>
          <p:cNvSpPr txBox="1"/>
          <p:nvPr/>
        </p:nvSpPr>
        <p:spPr>
          <a:xfrm>
            <a:off x="1949531" y="17928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1"/>
          <p:cNvSpPr txBox="1"/>
          <p:nvPr/>
        </p:nvSpPr>
        <p:spPr>
          <a:xfrm>
            <a:off x="705531" y="3756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1"/>
          <p:cNvSpPr txBox="1"/>
          <p:nvPr/>
        </p:nvSpPr>
        <p:spPr>
          <a:xfrm>
            <a:off x="1979547" y="24639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1"/>
          <p:cNvSpPr txBox="1"/>
          <p:nvPr/>
        </p:nvSpPr>
        <p:spPr>
          <a:xfrm>
            <a:off x="2488726" y="17278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1"/>
          <p:cNvSpPr txBox="1"/>
          <p:nvPr/>
        </p:nvSpPr>
        <p:spPr>
          <a:xfrm>
            <a:off x="1095881" y="18050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1"/>
          <p:cNvSpPr txBox="1"/>
          <p:nvPr/>
        </p:nvSpPr>
        <p:spPr>
          <a:xfrm>
            <a:off x="622456" y="2999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1"/>
          <p:cNvSpPr txBox="1"/>
          <p:nvPr/>
        </p:nvSpPr>
        <p:spPr>
          <a:xfrm>
            <a:off x="1095881" y="2463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1"/>
          <p:cNvSpPr txBox="1"/>
          <p:nvPr/>
        </p:nvSpPr>
        <p:spPr>
          <a:xfrm>
            <a:off x="1990297" y="3426325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1"/>
          <p:cNvSpPr txBox="1"/>
          <p:nvPr/>
        </p:nvSpPr>
        <p:spPr>
          <a:xfrm>
            <a:off x="1887711" y="20699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1"/>
          <p:cNvSpPr txBox="1"/>
          <p:nvPr/>
        </p:nvSpPr>
        <p:spPr>
          <a:xfrm>
            <a:off x="402600" y="12660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925" name="Google Shape;925;p71"/>
          <p:cNvSpPr txBox="1"/>
          <p:nvPr/>
        </p:nvSpPr>
        <p:spPr>
          <a:xfrm>
            <a:off x="1248950" y="36128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1"/>
          <p:cNvSpPr txBox="1"/>
          <p:nvPr/>
        </p:nvSpPr>
        <p:spPr>
          <a:xfrm>
            <a:off x="3778475" y="1275300"/>
            <a:ext cx="2596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A = {2, 4, 6, 8,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1"/>
          <p:cNvSpPr txBox="1"/>
          <p:nvPr/>
        </p:nvSpPr>
        <p:spPr>
          <a:xfrm>
            <a:off x="3778475" y="1686780"/>
            <a:ext cx="2596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B = {1, 2, 4, 5,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1"/>
          <p:cNvSpPr txBox="1"/>
          <p:nvPr/>
        </p:nvSpPr>
        <p:spPr>
          <a:xfrm>
            <a:off x="3778475" y="2098260"/>
            <a:ext cx="2596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C = {1, 4, 9}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1"/>
          <p:cNvSpPr/>
          <p:nvPr/>
        </p:nvSpPr>
        <p:spPr>
          <a:xfrm>
            <a:off x="742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1"/>
          <p:cNvSpPr/>
          <p:nvPr/>
        </p:nvSpPr>
        <p:spPr>
          <a:xfrm>
            <a:off x="17332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1"/>
          <p:cNvSpPr/>
          <p:nvPr/>
        </p:nvSpPr>
        <p:spPr>
          <a:xfrm>
            <a:off x="1246493" y="2338771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1"/>
          <p:cNvSpPr txBox="1"/>
          <p:nvPr/>
        </p:nvSpPr>
        <p:spPr>
          <a:xfrm>
            <a:off x="3778475" y="2509740"/>
            <a:ext cx="3299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not A = {1, 3, 5, 7, 9}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1"/>
          <p:cNvSpPr/>
          <p:nvPr/>
        </p:nvSpPr>
        <p:spPr>
          <a:xfrm>
            <a:off x="742675" y="1545693"/>
            <a:ext cx="1606200" cy="16062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1"/>
          <p:cNvSpPr txBox="1"/>
          <p:nvPr/>
        </p:nvSpPr>
        <p:spPr>
          <a:xfrm>
            <a:off x="3778475" y="2921220"/>
            <a:ext cx="3299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not B = {3, 6, 7, 8, 9}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1"/>
          <p:cNvSpPr/>
          <p:nvPr/>
        </p:nvSpPr>
        <p:spPr>
          <a:xfrm>
            <a:off x="1728396" y="1545693"/>
            <a:ext cx="1606200" cy="16062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1"/>
          <p:cNvSpPr/>
          <p:nvPr/>
        </p:nvSpPr>
        <p:spPr>
          <a:xfrm>
            <a:off x="1253227" y="2338768"/>
            <a:ext cx="1606200" cy="16062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1"/>
          <p:cNvSpPr txBox="1"/>
          <p:nvPr/>
        </p:nvSpPr>
        <p:spPr>
          <a:xfrm>
            <a:off x="3778475" y="3332700"/>
            <a:ext cx="36183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not C = {2, 3, 5, 6, 7, 8,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1"/>
          <p:cNvSpPr txBox="1"/>
          <p:nvPr/>
        </p:nvSpPr>
        <p:spPr>
          <a:xfrm>
            <a:off x="3761400" y="3713700"/>
            <a:ext cx="4990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2"/>
          <p:cNvSpPr/>
          <p:nvPr/>
        </p:nvSpPr>
        <p:spPr>
          <a:xfrm>
            <a:off x="3711400" y="2455200"/>
            <a:ext cx="1041000" cy="1041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2"/>
          <p:cNvSpPr/>
          <p:nvPr/>
        </p:nvSpPr>
        <p:spPr>
          <a:xfrm>
            <a:off x="1434375" y="2455200"/>
            <a:ext cx="1041000" cy="1041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Venn diagram shows the combined event of ‘A and not B’?</a:t>
            </a:r>
            <a:endParaRPr sz="1800"/>
          </a:p>
        </p:txBody>
      </p:sp>
      <p:sp>
        <p:nvSpPr>
          <p:cNvPr id="946" name="Google Shape;946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947" name="Google Shape;947;p72"/>
          <p:cNvSpPr/>
          <p:nvPr/>
        </p:nvSpPr>
        <p:spPr>
          <a:xfrm>
            <a:off x="666700" y="2292050"/>
            <a:ext cx="1965600" cy="137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2"/>
          <p:cNvSpPr txBox="1"/>
          <p:nvPr/>
        </p:nvSpPr>
        <p:spPr>
          <a:xfrm>
            <a:off x="815800" y="2340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2"/>
          <p:cNvSpPr txBox="1"/>
          <p:nvPr/>
        </p:nvSpPr>
        <p:spPr>
          <a:xfrm>
            <a:off x="2354625" y="234015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2"/>
          <p:cNvSpPr txBox="1"/>
          <p:nvPr/>
        </p:nvSpPr>
        <p:spPr>
          <a:xfrm>
            <a:off x="478800" y="2256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951" name="Google Shape;951;p72"/>
          <p:cNvSpPr/>
          <p:nvPr/>
        </p:nvSpPr>
        <p:spPr>
          <a:xfrm>
            <a:off x="815800" y="2455200"/>
            <a:ext cx="1041000" cy="1041000"/>
          </a:xfrm>
          <a:prstGeom prst="ellipse">
            <a:avLst/>
          </a:prstGeom>
          <a:solidFill>
            <a:srgbClr val="B1ADBD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2"/>
          <p:cNvSpPr/>
          <p:nvPr/>
        </p:nvSpPr>
        <p:spPr>
          <a:xfrm>
            <a:off x="3562300" y="2292050"/>
            <a:ext cx="1965600" cy="137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2"/>
          <p:cNvSpPr txBox="1"/>
          <p:nvPr/>
        </p:nvSpPr>
        <p:spPr>
          <a:xfrm>
            <a:off x="3711400" y="2340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2"/>
          <p:cNvSpPr txBox="1"/>
          <p:nvPr/>
        </p:nvSpPr>
        <p:spPr>
          <a:xfrm>
            <a:off x="5250225" y="234015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2"/>
          <p:cNvSpPr txBox="1"/>
          <p:nvPr/>
        </p:nvSpPr>
        <p:spPr>
          <a:xfrm>
            <a:off x="3374400" y="2256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956" name="Google Shape;956;p72"/>
          <p:cNvSpPr/>
          <p:nvPr/>
        </p:nvSpPr>
        <p:spPr>
          <a:xfrm>
            <a:off x="4329975" y="2455200"/>
            <a:ext cx="1041000" cy="1041000"/>
          </a:xfrm>
          <a:prstGeom prst="ellipse">
            <a:avLst/>
          </a:prstGeom>
          <a:solidFill>
            <a:srgbClr val="B1ADBD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2"/>
          <p:cNvSpPr/>
          <p:nvPr/>
        </p:nvSpPr>
        <p:spPr>
          <a:xfrm>
            <a:off x="6457900" y="2292050"/>
            <a:ext cx="1965600" cy="137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2"/>
          <p:cNvSpPr txBox="1"/>
          <p:nvPr/>
        </p:nvSpPr>
        <p:spPr>
          <a:xfrm>
            <a:off x="6607000" y="2340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2"/>
          <p:cNvSpPr txBox="1"/>
          <p:nvPr/>
        </p:nvSpPr>
        <p:spPr>
          <a:xfrm>
            <a:off x="8145825" y="234015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2"/>
          <p:cNvSpPr txBox="1"/>
          <p:nvPr/>
        </p:nvSpPr>
        <p:spPr>
          <a:xfrm>
            <a:off x="6270000" y="2256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961" name="Google Shape;961;p72"/>
          <p:cNvSpPr/>
          <p:nvPr/>
        </p:nvSpPr>
        <p:spPr>
          <a:xfrm>
            <a:off x="7225575" y="2455200"/>
            <a:ext cx="1041000" cy="1041000"/>
          </a:xfrm>
          <a:prstGeom prst="ellipse">
            <a:avLst/>
          </a:prstGeom>
          <a:solidFill>
            <a:srgbClr val="B1ADBD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2"/>
          <p:cNvSpPr/>
          <p:nvPr/>
        </p:nvSpPr>
        <p:spPr>
          <a:xfrm>
            <a:off x="6607000" y="2455200"/>
            <a:ext cx="1041000" cy="1041000"/>
          </a:xfrm>
          <a:prstGeom prst="ellipse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3" name="Google Shape;963;p72"/>
          <p:cNvCxnSpPr/>
          <p:nvPr/>
        </p:nvCxnSpPr>
        <p:spPr>
          <a:xfrm>
            <a:off x="2043425" y="2027875"/>
            <a:ext cx="7800" cy="90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72"/>
          <p:cNvSpPr txBox="1"/>
          <p:nvPr>
            <p:ph type="title"/>
          </p:nvPr>
        </p:nvSpPr>
        <p:spPr>
          <a:xfrm>
            <a:off x="917500" y="1380450"/>
            <a:ext cx="1714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all the outcomes here</a:t>
            </a:r>
            <a:endParaRPr sz="1800"/>
          </a:p>
        </p:txBody>
      </p:sp>
      <p:sp>
        <p:nvSpPr>
          <p:cNvPr id="965" name="Google Shape;965;p72"/>
          <p:cNvSpPr txBox="1"/>
          <p:nvPr>
            <p:ph type="title"/>
          </p:nvPr>
        </p:nvSpPr>
        <p:spPr>
          <a:xfrm>
            <a:off x="3687700" y="1380450"/>
            <a:ext cx="1714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all the outcomes here</a:t>
            </a:r>
            <a:endParaRPr sz="1800"/>
          </a:p>
        </p:txBody>
      </p:sp>
      <p:cxnSp>
        <p:nvCxnSpPr>
          <p:cNvPr id="966" name="Google Shape;966;p72"/>
          <p:cNvCxnSpPr/>
          <p:nvPr/>
        </p:nvCxnSpPr>
        <p:spPr>
          <a:xfrm>
            <a:off x="4142188" y="2039550"/>
            <a:ext cx="7800" cy="90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72"/>
          <p:cNvCxnSpPr/>
          <p:nvPr/>
        </p:nvCxnSpPr>
        <p:spPr>
          <a:xfrm>
            <a:off x="7095513" y="1940700"/>
            <a:ext cx="7800" cy="90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8" name="Google Shape;968;p72"/>
          <p:cNvSpPr txBox="1"/>
          <p:nvPr>
            <p:ph type="title"/>
          </p:nvPr>
        </p:nvSpPr>
        <p:spPr>
          <a:xfrm>
            <a:off x="6430900" y="1304250"/>
            <a:ext cx="1714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all the outcomes here</a:t>
            </a:r>
            <a:endParaRPr sz="1800"/>
          </a:p>
        </p:txBody>
      </p:sp>
      <p:pic>
        <p:nvPicPr>
          <p:cNvPr id="969" name="Google Shape;96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983" y="4148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72"/>
          <p:cNvSpPr txBox="1"/>
          <p:nvPr>
            <p:ph type="title"/>
          </p:nvPr>
        </p:nvSpPr>
        <p:spPr>
          <a:xfrm>
            <a:off x="917500" y="3726375"/>
            <a:ext cx="1714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ot A and 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72"/>
          <p:cNvSpPr txBox="1"/>
          <p:nvPr>
            <p:ph type="title"/>
          </p:nvPr>
        </p:nvSpPr>
        <p:spPr>
          <a:xfrm>
            <a:off x="7317150" y="3726375"/>
            <a:ext cx="284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977" name="Google Shape;977;p73"/>
          <p:cNvSpPr txBox="1"/>
          <p:nvPr/>
        </p:nvSpPr>
        <p:spPr>
          <a:xfrm>
            <a:off x="324000" y="7593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Venn diagram to calculate the probabilit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3"/>
          <p:cNvSpPr/>
          <p:nvPr/>
        </p:nvSpPr>
        <p:spPr>
          <a:xfrm>
            <a:off x="5087600" y="17016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3"/>
          <p:cNvSpPr txBox="1"/>
          <p:nvPr/>
        </p:nvSpPr>
        <p:spPr>
          <a:xfrm>
            <a:off x="4887100" y="1358716"/>
            <a:ext cx="39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3"/>
          <p:cNvSpPr/>
          <p:nvPr/>
        </p:nvSpPr>
        <p:spPr>
          <a:xfrm>
            <a:off x="5467075" y="19266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3"/>
          <p:cNvSpPr txBox="1"/>
          <p:nvPr/>
        </p:nvSpPr>
        <p:spPr>
          <a:xfrm>
            <a:off x="5521450" y="1878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3"/>
          <p:cNvSpPr/>
          <p:nvPr/>
        </p:nvSpPr>
        <p:spPr>
          <a:xfrm>
            <a:off x="6457675" y="19266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3"/>
          <p:cNvSpPr txBox="1"/>
          <p:nvPr/>
        </p:nvSpPr>
        <p:spPr>
          <a:xfrm>
            <a:off x="7824600" y="1878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3"/>
          <p:cNvSpPr txBox="1"/>
          <p:nvPr/>
        </p:nvSpPr>
        <p:spPr>
          <a:xfrm>
            <a:off x="6648856" y="229151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3"/>
          <p:cNvSpPr txBox="1"/>
          <p:nvPr/>
        </p:nvSpPr>
        <p:spPr>
          <a:xfrm>
            <a:off x="5979006" y="22834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3"/>
          <p:cNvSpPr txBox="1"/>
          <p:nvPr/>
        </p:nvSpPr>
        <p:spPr>
          <a:xfrm>
            <a:off x="7333806" y="292571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3"/>
          <p:cNvSpPr txBox="1"/>
          <p:nvPr/>
        </p:nvSpPr>
        <p:spPr>
          <a:xfrm>
            <a:off x="5216281" y="32399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3"/>
          <p:cNvSpPr txBox="1"/>
          <p:nvPr/>
        </p:nvSpPr>
        <p:spPr>
          <a:xfrm>
            <a:off x="6696756" y="27899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3"/>
          <p:cNvSpPr txBox="1"/>
          <p:nvPr/>
        </p:nvSpPr>
        <p:spPr>
          <a:xfrm>
            <a:off x="8094131" y="3372005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3"/>
          <p:cNvSpPr txBox="1"/>
          <p:nvPr/>
        </p:nvSpPr>
        <p:spPr>
          <a:xfrm>
            <a:off x="7135381" y="212676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3"/>
          <p:cNvSpPr txBox="1"/>
          <p:nvPr/>
        </p:nvSpPr>
        <p:spPr>
          <a:xfrm>
            <a:off x="6711306" y="337199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3"/>
          <p:cNvSpPr txBox="1"/>
          <p:nvPr/>
        </p:nvSpPr>
        <p:spPr>
          <a:xfrm>
            <a:off x="7620081" y="2530643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3"/>
          <p:cNvSpPr txBox="1"/>
          <p:nvPr/>
        </p:nvSpPr>
        <p:spPr>
          <a:xfrm>
            <a:off x="6094423" y="3015150"/>
            <a:ext cx="33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3"/>
          <p:cNvSpPr txBox="1"/>
          <p:nvPr/>
        </p:nvSpPr>
        <p:spPr>
          <a:xfrm>
            <a:off x="404025" y="1822000"/>
            <a:ext cx="29613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P(A and not B) =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5" name="Google Shape;995;p73"/>
          <p:cNvCxnSpPr/>
          <p:nvPr/>
        </p:nvCxnSpPr>
        <p:spPr>
          <a:xfrm>
            <a:off x="2693688" y="2015552"/>
            <a:ext cx="411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73"/>
          <p:cNvSpPr/>
          <p:nvPr/>
        </p:nvSpPr>
        <p:spPr>
          <a:xfrm>
            <a:off x="2738805" y="1583775"/>
            <a:ext cx="333000" cy="33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3"/>
          <p:cNvSpPr txBox="1"/>
          <p:nvPr/>
        </p:nvSpPr>
        <p:spPr>
          <a:xfrm>
            <a:off x="2822775" y="1607325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73"/>
          <p:cNvSpPr txBox="1"/>
          <p:nvPr/>
        </p:nvSpPr>
        <p:spPr>
          <a:xfrm>
            <a:off x="2748141" y="2114325"/>
            <a:ext cx="33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4"/>
          <p:cNvSpPr txBox="1"/>
          <p:nvPr>
            <p:ph idx="1" type="body"/>
          </p:nvPr>
        </p:nvSpPr>
        <p:spPr>
          <a:xfrm>
            <a:off x="324000" y="759300"/>
            <a:ext cx="8496000" cy="10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we have the probability of single events as well as combined events, we can work out the number of </a:t>
            </a:r>
            <a:r>
              <a:rPr lang="en-GB" sz="1800"/>
              <a:t>outcomes in each region of the Venn diagram.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004" name="Google Shape;100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005" name="Google Shape;1005;p74"/>
          <p:cNvSpPr/>
          <p:nvPr/>
        </p:nvSpPr>
        <p:spPr>
          <a:xfrm>
            <a:off x="5889375" y="16219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4"/>
          <p:cNvSpPr/>
          <p:nvPr/>
        </p:nvSpPr>
        <p:spPr>
          <a:xfrm>
            <a:off x="6083625" y="17793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4"/>
          <p:cNvSpPr/>
          <p:nvPr/>
        </p:nvSpPr>
        <p:spPr>
          <a:xfrm>
            <a:off x="6787650" y="17793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4"/>
          <p:cNvSpPr/>
          <p:nvPr/>
        </p:nvSpPr>
        <p:spPr>
          <a:xfrm>
            <a:off x="6458325" y="23901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4"/>
          <p:cNvSpPr txBox="1"/>
          <p:nvPr/>
        </p:nvSpPr>
        <p:spPr>
          <a:xfrm>
            <a:off x="6044750" y="16952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4"/>
          <p:cNvSpPr txBox="1"/>
          <p:nvPr/>
        </p:nvSpPr>
        <p:spPr>
          <a:xfrm>
            <a:off x="7808909" y="16952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4"/>
          <p:cNvSpPr txBox="1"/>
          <p:nvPr/>
        </p:nvSpPr>
        <p:spPr>
          <a:xfrm>
            <a:off x="5668900" y="16200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012" name="Google Shape;1012;p74"/>
          <p:cNvSpPr txBox="1"/>
          <p:nvPr/>
        </p:nvSpPr>
        <p:spPr>
          <a:xfrm>
            <a:off x="6458334" y="34326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4"/>
          <p:cNvSpPr txBox="1"/>
          <p:nvPr>
            <p:ph idx="1" type="body"/>
          </p:nvPr>
        </p:nvSpPr>
        <p:spPr>
          <a:xfrm>
            <a:off x="693950" y="2288613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014" name="Google Shape;1014;p74"/>
          <p:cNvSpPr txBox="1"/>
          <p:nvPr>
            <p:ph idx="1" type="body"/>
          </p:nvPr>
        </p:nvSpPr>
        <p:spPr>
          <a:xfrm>
            <a:off x="693950" y="2837552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sp>
        <p:nvSpPr>
          <p:cNvPr id="1015" name="Google Shape;1015;p74"/>
          <p:cNvSpPr txBox="1"/>
          <p:nvPr>
            <p:ph idx="1" type="body"/>
          </p:nvPr>
        </p:nvSpPr>
        <p:spPr>
          <a:xfrm>
            <a:off x="693950" y="3386491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P(C) = </a:t>
            </a:r>
            <a:endParaRPr sz="1800"/>
          </a:p>
        </p:txBody>
      </p:sp>
      <p:sp>
        <p:nvSpPr>
          <p:cNvPr id="1016" name="Google Shape;1016;p74"/>
          <p:cNvSpPr txBox="1"/>
          <p:nvPr>
            <p:ph idx="1" type="body"/>
          </p:nvPr>
        </p:nvSpPr>
        <p:spPr>
          <a:xfrm>
            <a:off x="2275950" y="2288613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A) = </a:t>
            </a:r>
            <a:endParaRPr sz="1800"/>
          </a:p>
        </p:txBody>
      </p:sp>
      <p:sp>
        <p:nvSpPr>
          <p:cNvPr id="1017" name="Google Shape;1017;p74"/>
          <p:cNvSpPr txBox="1"/>
          <p:nvPr>
            <p:ph idx="1" type="body"/>
          </p:nvPr>
        </p:nvSpPr>
        <p:spPr>
          <a:xfrm>
            <a:off x="2275950" y="2837552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B) = </a:t>
            </a:r>
            <a:endParaRPr sz="1800"/>
          </a:p>
        </p:txBody>
      </p:sp>
      <p:sp>
        <p:nvSpPr>
          <p:cNvPr id="1018" name="Google Shape;1018;p74"/>
          <p:cNvSpPr txBox="1"/>
          <p:nvPr>
            <p:ph idx="1" type="body"/>
          </p:nvPr>
        </p:nvSpPr>
        <p:spPr>
          <a:xfrm>
            <a:off x="2275950" y="3369991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C) = </a:t>
            </a:r>
            <a:endParaRPr sz="1800"/>
          </a:p>
        </p:txBody>
      </p:sp>
      <p:sp>
        <p:nvSpPr>
          <p:cNvPr id="1019" name="Google Shape;1019;p74"/>
          <p:cNvSpPr txBox="1"/>
          <p:nvPr>
            <p:ph idx="1" type="body"/>
          </p:nvPr>
        </p:nvSpPr>
        <p:spPr>
          <a:xfrm>
            <a:off x="693950" y="3869789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 and not B) = </a:t>
            </a:r>
            <a:endParaRPr sz="1800"/>
          </a:p>
        </p:txBody>
      </p:sp>
      <p:sp>
        <p:nvSpPr>
          <p:cNvPr id="1020" name="Google Shape;1020;p74"/>
          <p:cNvSpPr txBox="1"/>
          <p:nvPr>
            <p:ph idx="1" type="body"/>
          </p:nvPr>
        </p:nvSpPr>
        <p:spPr>
          <a:xfrm>
            <a:off x="693950" y="4395420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 and C)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021" name="Google Shape;1021;p74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60" y="3317516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65}&quot;&gt;&lt;mfrac&gt;&lt;mn&gt;33&lt;/mn&gt;&lt;mn&gt;65&lt;/mn&gt;&lt;/mfrac&gt;&lt;/math&gt;" id="1022" name="Google Shape;1022;p74" title="33 over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851" y="2767743"/>
            <a:ext cx="247593" cy="45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65}&quot;&gt;&lt;mfrac&gt;&lt;mn&gt;13&lt;/mn&gt;&lt;mn&gt;65&lt;/mn&gt;&lt;/mfrac&gt;&lt;/math&gt;" id="1023" name="Google Shape;1023;p74" title="13 over 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723" y="2242000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65}&quot;&gt;&lt;mfrac&gt;&lt;mn&gt;17&lt;/mn&gt;&lt;mn&gt;65&lt;/mn&gt;&lt;/mfrac&gt;&lt;/math&gt;" id="1024" name="Google Shape;1024;p74" title="17 over 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8185" y="2766502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65}&quot;&gt;&lt;mfrac&gt;&lt;mn&gt;12&lt;/mn&gt;&lt;mn&gt;65&lt;/mn&gt;&lt;/mfrac&gt;&lt;/math&gt;" id="1025" name="Google Shape;1025;p74" title="12 over 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9723" y="3292629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5}&quot;&gt;&lt;mfrac&gt;&lt;mn&gt;18&lt;/mn&gt;&lt;mn&gt;65&lt;/mn&gt;&lt;/mfrac&gt;&lt;/math&gt;" id="1026" name="Google Shape;1026;p74" title="18 over 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80516" y="3778523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65}&quot;&gt;&lt;mfrac&gt;&lt;mn&gt;19&lt;/mn&gt;&lt;mn&gt;65&lt;/mn&gt;&lt;/mfrac&gt;&lt;/math&gt;" id="1027" name="Google Shape;1027;p74" title="19 over 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80536" y="4319220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028" name="Google Shape;1028;p74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47" y="2205863"/>
            <a:ext cx="250800" cy="4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74"/>
          <p:cNvSpPr txBox="1"/>
          <p:nvPr>
            <p:ph idx="1" type="body"/>
          </p:nvPr>
        </p:nvSpPr>
        <p:spPr>
          <a:xfrm>
            <a:off x="3829200" y="3807300"/>
            <a:ext cx="4484400" cy="10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of these probabilities are for one region of the Venn diagram only. Which ones?</a:t>
            </a:r>
            <a:endParaRPr sz="1800"/>
          </a:p>
        </p:txBody>
      </p:sp>
      <p:sp>
        <p:nvSpPr>
          <p:cNvPr id="1030" name="Google Shape;1030;p74"/>
          <p:cNvSpPr txBox="1"/>
          <p:nvPr>
            <p:ph idx="1" type="body"/>
          </p:nvPr>
        </p:nvSpPr>
        <p:spPr>
          <a:xfrm>
            <a:off x="4896000" y="4416900"/>
            <a:ext cx="2959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Only A, only B and only 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5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036" name="Google Shape;103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037" name="Google Shape;1037;p75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5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5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5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5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5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5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044" name="Google Shape;1044;p75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5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046" name="Google Shape;1046;p75"/>
          <p:cNvSpPr txBox="1"/>
          <p:nvPr>
            <p:ph idx="1" type="body"/>
          </p:nvPr>
        </p:nvSpPr>
        <p:spPr>
          <a:xfrm>
            <a:off x="693950" y="1450413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047" name="Google Shape;1047;p75"/>
          <p:cNvSpPr txBox="1"/>
          <p:nvPr>
            <p:ph idx="1" type="body"/>
          </p:nvPr>
        </p:nvSpPr>
        <p:spPr>
          <a:xfrm>
            <a:off x="693950" y="1999352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sp>
        <p:nvSpPr>
          <p:cNvPr id="1048" name="Google Shape;1048;p75"/>
          <p:cNvSpPr txBox="1"/>
          <p:nvPr>
            <p:ph idx="1" type="body"/>
          </p:nvPr>
        </p:nvSpPr>
        <p:spPr>
          <a:xfrm>
            <a:off x="693950" y="2548291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P(C) = </a:t>
            </a:r>
            <a:endParaRPr sz="1800"/>
          </a:p>
        </p:txBody>
      </p:sp>
      <p:sp>
        <p:nvSpPr>
          <p:cNvPr id="1049" name="Google Shape;1049;p75"/>
          <p:cNvSpPr txBox="1"/>
          <p:nvPr>
            <p:ph idx="1" type="body"/>
          </p:nvPr>
        </p:nvSpPr>
        <p:spPr>
          <a:xfrm>
            <a:off x="2275950" y="1450413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A) = </a:t>
            </a:r>
            <a:endParaRPr sz="1800"/>
          </a:p>
        </p:txBody>
      </p:sp>
      <p:sp>
        <p:nvSpPr>
          <p:cNvPr id="1050" name="Google Shape;1050;p75"/>
          <p:cNvSpPr txBox="1"/>
          <p:nvPr>
            <p:ph idx="1" type="body"/>
          </p:nvPr>
        </p:nvSpPr>
        <p:spPr>
          <a:xfrm>
            <a:off x="2275950" y="1999352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B) = </a:t>
            </a:r>
            <a:endParaRPr sz="1800"/>
          </a:p>
        </p:txBody>
      </p:sp>
      <p:sp>
        <p:nvSpPr>
          <p:cNvPr id="1051" name="Google Shape;1051;p75"/>
          <p:cNvSpPr txBox="1"/>
          <p:nvPr>
            <p:ph idx="1" type="body"/>
          </p:nvPr>
        </p:nvSpPr>
        <p:spPr>
          <a:xfrm>
            <a:off x="2275950" y="2531791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C) = </a:t>
            </a:r>
            <a:endParaRPr sz="1800"/>
          </a:p>
        </p:txBody>
      </p:sp>
      <p:sp>
        <p:nvSpPr>
          <p:cNvPr id="1052" name="Google Shape;1052;p75"/>
          <p:cNvSpPr txBox="1"/>
          <p:nvPr>
            <p:ph idx="1" type="body"/>
          </p:nvPr>
        </p:nvSpPr>
        <p:spPr>
          <a:xfrm>
            <a:off x="693950" y="3183989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 and not B) = </a:t>
            </a:r>
            <a:endParaRPr sz="1800"/>
          </a:p>
        </p:txBody>
      </p:sp>
      <p:sp>
        <p:nvSpPr>
          <p:cNvPr id="1053" name="Google Shape;1053;p75"/>
          <p:cNvSpPr txBox="1"/>
          <p:nvPr>
            <p:ph idx="1" type="body"/>
          </p:nvPr>
        </p:nvSpPr>
        <p:spPr>
          <a:xfrm>
            <a:off x="693950" y="3709620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 and C)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054" name="Google Shape;1054;p75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60" y="2479316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65}&quot;&gt;&lt;mfrac&gt;&lt;mn&gt;33&lt;/mn&gt;&lt;mn&gt;65&lt;/mn&gt;&lt;/mfrac&gt;&lt;/math&gt;" id="1055" name="Google Shape;1055;p75" title="33 over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851" y="1929543"/>
            <a:ext cx="247593" cy="45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65}&quot;&gt;&lt;mfrac&gt;&lt;mn&gt;13&lt;/mn&gt;&lt;mn&gt;65&lt;/mn&gt;&lt;/mfrac&gt;&lt;/math&gt;" id="1056" name="Google Shape;1056;p75" title="13 over 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723" y="1403800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65}&quot;&gt;&lt;mfrac&gt;&lt;mn&gt;17&lt;/mn&gt;&lt;mn&gt;65&lt;/mn&gt;&lt;/mfrac&gt;&lt;/math&gt;" id="1057" name="Google Shape;1057;p75" title="17 over 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8185" y="1928302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65}&quot;&gt;&lt;mfrac&gt;&lt;mn&gt;12&lt;/mn&gt;&lt;mn&gt;65&lt;/mn&gt;&lt;/mfrac&gt;&lt;/math&gt;" id="1058" name="Google Shape;1058;p75" title="12 over 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9723" y="2454429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5}&quot;&gt;&lt;mfrac&gt;&lt;mn&gt;18&lt;/mn&gt;&lt;mn&gt;65&lt;/mn&gt;&lt;/mfrac&gt;&lt;/math&gt;" id="1059" name="Google Shape;1059;p75" title="18 over 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80516" y="3092723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65}&quot;&gt;&lt;mfrac&gt;&lt;mn&gt;19&lt;/mn&gt;&lt;mn&gt;65&lt;/mn&gt;&lt;/mfrac&gt;&lt;/math&gt;" id="1060" name="Google Shape;1060;p75" title="19 over 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80536" y="3633420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061" name="Google Shape;1061;p75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47" y="1367663"/>
            <a:ext cx="250800" cy="4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75"/>
          <p:cNvSpPr txBox="1"/>
          <p:nvPr>
            <p:ph idx="1" type="body"/>
          </p:nvPr>
        </p:nvSpPr>
        <p:spPr>
          <a:xfrm>
            <a:off x="3548175" y="3229475"/>
            <a:ext cx="5271900" cy="10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Starting with these, we can see the numerator is the number of outcomes in that region as the denominator is the total number of outcomes in the sample space.</a:t>
            </a:r>
            <a:endParaRPr sz="1800"/>
          </a:p>
        </p:txBody>
      </p:sp>
      <p:sp>
        <p:nvSpPr>
          <p:cNvPr id="1063" name="Google Shape;1063;p75"/>
          <p:cNvSpPr/>
          <p:nvPr/>
        </p:nvSpPr>
        <p:spPr>
          <a:xfrm>
            <a:off x="2144425" y="1297525"/>
            <a:ext cx="1818000" cy="1678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5"/>
          <p:cNvSpPr txBox="1"/>
          <p:nvPr/>
        </p:nvSpPr>
        <p:spPr>
          <a:xfrm>
            <a:off x="648165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5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5"/>
          <p:cNvSpPr txBox="1"/>
          <p:nvPr/>
        </p:nvSpPr>
        <p:spPr>
          <a:xfrm>
            <a:off x="7091325" y="2240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6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072" name="Google Shape;107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073" name="Google Shape;1073;p76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6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6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6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6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6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6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080" name="Google Shape;1080;p76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6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082" name="Google Shape;1082;p76"/>
          <p:cNvSpPr txBox="1"/>
          <p:nvPr>
            <p:ph idx="1" type="body"/>
          </p:nvPr>
        </p:nvSpPr>
        <p:spPr>
          <a:xfrm>
            <a:off x="693950" y="1450413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083" name="Google Shape;1083;p76"/>
          <p:cNvSpPr txBox="1"/>
          <p:nvPr>
            <p:ph idx="1" type="body"/>
          </p:nvPr>
        </p:nvSpPr>
        <p:spPr>
          <a:xfrm>
            <a:off x="693950" y="1999352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sp>
        <p:nvSpPr>
          <p:cNvPr id="1084" name="Google Shape;1084;p76"/>
          <p:cNvSpPr txBox="1"/>
          <p:nvPr>
            <p:ph idx="1" type="body"/>
          </p:nvPr>
        </p:nvSpPr>
        <p:spPr>
          <a:xfrm>
            <a:off x="693950" y="2548291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P(C) = </a:t>
            </a:r>
            <a:endParaRPr sz="1800"/>
          </a:p>
        </p:txBody>
      </p:sp>
      <p:sp>
        <p:nvSpPr>
          <p:cNvPr id="1085" name="Google Shape;1085;p76"/>
          <p:cNvSpPr txBox="1"/>
          <p:nvPr>
            <p:ph idx="1" type="body"/>
          </p:nvPr>
        </p:nvSpPr>
        <p:spPr>
          <a:xfrm>
            <a:off x="693950" y="3183989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 and not B) = </a:t>
            </a:r>
            <a:endParaRPr sz="1800"/>
          </a:p>
        </p:txBody>
      </p:sp>
      <p:sp>
        <p:nvSpPr>
          <p:cNvPr id="1086" name="Google Shape;1086;p76"/>
          <p:cNvSpPr txBox="1"/>
          <p:nvPr>
            <p:ph idx="1" type="body"/>
          </p:nvPr>
        </p:nvSpPr>
        <p:spPr>
          <a:xfrm>
            <a:off x="693950" y="3709620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 and C)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087" name="Google Shape;1087;p76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60" y="2479316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65}&quot;&gt;&lt;mfrac&gt;&lt;mn&gt;33&lt;/mn&gt;&lt;mn&gt;65&lt;/mn&gt;&lt;/mfrac&gt;&lt;/math&gt;" id="1088" name="Google Shape;1088;p76" title="33 over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851" y="1929543"/>
            <a:ext cx="247593" cy="45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5}&quot;&gt;&lt;mfrac&gt;&lt;mn&gt;18&lt;/mn&gt;&lt;mn&gt;65&lt;/mn&gt;&lt;/mfrac&gt;&lt;/math&gt;" id="1089" name="Google Shape;1089;p76" title="18 over 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0516" y="3092723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65}&quot;&gt;&lt;mfrac&gt;&lt;mn&gt;19&lt;/mn&gt;&lt;mn&gt;65&lt;/mn&gt;&lt;/mfrac&gt;&lt;/math&gt;" id="1090" name="Google Shape;1090;p76" title="19 over 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0536" y="3633420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091" name="Google Shape;1091;p76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47" y="1367663"/>
            <a:ext cx="250800" cy="4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76"/>
          <p:cNvSpPr txBox="1"/>
          <p:nvPr>
            <p:ph idx="1" type="body"/>
          </p:nvPr>
        </p:nvSpPr>
        <p:spPr>
          <a:xfrm>
            <a:off x="3548175" y="3229475"/>
            <a:ext cx="5271900" cy="10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A, B and C each cover four regions in the Venn diagram.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Whereas, A and not B covers 2 regions on the Venn diagram, one </a:t>
            </a:r>
            <a:r>
              <a:rPr lang="en-GB" sz="1800"/>
              <a:t>of which </a:t>
            </a:r>
            <a:r>
              <a:rPr lang="en-GB" sz="1800"/>
              <a:t>we know.</a:t>
            </a:r>
            <a:endParaRPr sz="1800"/>
          </a:p>
        </p:txBody>
      </p:sp>
      <p:sp>
        <p:nvSpPr>
          <p:cNvPr id="1093" name="Google Shape;1093;p76"/>
          <p:cNvSpPr txBox="1"/>
          <p:nvPr/>
        </p:nvSpPr>
        <p:spPr>
          <a:xfrm>
            <a:off x="648165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6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6"/>
          <p:cNvSpPr txBox="1"/>
          <p:nvPr/>
        </p:nvSpPr>
        <p:spPr>
          <a:xfrm>
            <a:off x="7091325" y="2240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7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7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102" name="Google Shape;110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103" name="Google Shape;1103;p77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7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7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7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7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108" name="Google Shape;1108;p77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7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110" name="Google Shape;1110;p77"/>
          <p:cNvSpPr txBox="1"/>
          <p:nvPr>
            <p:ph idx="1" type="body"/>
          </p:nvPr>
        </p:nvSpPr>
        <p:spPr>
          <a:xfrm>
            <a:off x="693950" y="1450413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111" name="Google Shape;1111;p77"/>
          <p:cNvSpPr txBox="1"/>
          <p:nvPr>
            <p:ph idx="1" type="body"/>
          </p:nvPr>
        </p:nvSpPr>
        <p:spPr>
          <a:xfrm>
            <a:off x="693950" y="1999352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sp>
        <p:nvSpPr>
          <p:cNvPr id="1112" name="Google Shape;1112;p77"/>
          <p:cNvSpPr txBox="1"/>
          <p:nvPr>
            <p:ph idx="1" type="body"/>
          </p:nvPr>
        </p:nvSpPr>
        <p:spPr>
          <a:xfrm>
            <a:off x="693950" y="2548291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P(C) = </a:t>
            </a:r>
            <a:endParaRPr sz="1800"/>
          </a:p>
        </p:txBody>
      </p:sp>
      <p:sp>
        <p:nvSpPr>
          <p:cNvPr id="1113" name="Google Shape;1113;p77"/>
          <p:cNvSpPr txBox="1"/>
          <p:nvPr>
            <p:ph idx="1" type="body"/>
          </p:nvPr>
        </p:nvSpPr>
        <p:spPr>
          <a:xfrm>
            <a:off x="693950" y="3183989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 and not B) = </a:t>
            </a:r>
            <a:endParaRPr sz="1800"/>
          </a:p>
        </p:txBody>
      </p:sp>
      <p:sp>
        <p:nvSpPr>
          <p:cNvPr id="1114" name="Google Shape;1114;p77"/>
          <p:cNvSpPr txBox="1"/>
          <p:nvPr>
            <p:ph idx="1" type="body"/>
          </p:nvPr>
        </p:nvSpPr>
        <p:spPr>
          <a:xfrm>
            <a:off x="693950" y="3709620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 and C)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115" name="Google Shape;1115;p77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60" y="2479316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65}&quot;&gt;&lt;mfrac&gt;&lt;mn&gt;33&lt;/mn&gt;&lt;mn&gt;65&lt;/mn&gt;&lt;/mfrac&gt;&lt;/math&gt;" id="1116" name="Google Shape;1116;p77" title="33 over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851" y="1929543"/>
            <a:ext cx="247593" cy="45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5}&quot;&gt;&lt;mfrac&gt;&lt;mn&gt;18&lt;/mn&gt;&lt;mn&gt;65&lt;/mn&gt;&lt;/mfrac&gt;&lt;/math&gt;" id="1117" name="Google Shape;1117;p77" title="18 over 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0516" y="3092723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65}&quot;&gt;&lt;mfrac&gt;&lt;mn&gt;19&lt;/mn&gt;&lt;mn&gt;65&lt;/mn&gt;&lt;/mfrac&gt;&lt;/math&gt;" id="1118" name="Google Shape;1118;p77" title="19 over 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0536" y="3633420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119" name="Google Shape;1119;p77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47" y="1367663"/>
            <a:ext cx="250800" cy="4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77"/>
          <p:cNvSpPr txBox="1"/>
          <p:nvPr>
            <p:ph idx="1" type="body"/>
          </p:nvPr>
        </p:nvSpPr>
        <p:spPr>
          <a:xfrm>
            <a:off x="3548175" y="3229475"/>
            <a:ext cx="161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So, 13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= 18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1" name="Google Shape;1121;p77"/>
          <p:cNvSpPr txBox="1"/>
          <p:nvPr/>
        </p:nvSpPr>
        <p:spPr>
          <a:xfrm>
            <a:off x="648165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7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77"/>
          <p:cNvSpPr txBox="1"/>
          <p:nvPr/>
        </p:nvSpPr>
        <p:spPr>
          <a:xfrm>
            <a:off x="7091325" y="2240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7"/>
          <p:cNvSpPr/>
          <p:nvPr/>
        </p:nvSpPr>
        <p:spPr>
          <a:xfrm>
            <a:off x="590500" y="3045709"/>
            <a:ext cx="2319900" cy="54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77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7"/>
          <p:cNvSpPr txBox="1"/>
          <p:nvPr/>
        </p:nvSpPr>
        <p:spPr>
          <a:xfrm>
            <a:off x="6802382" y="1767588"/>
            <a:ext cx="26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9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7"/>
          <p:cNvSpPr txBox="1"/>
          <p:nvPr>
            <p:ph idx="1" type="body"/>
          </p:nvPr>
        </p:nvSpPr>
        <p:spPr>
          <a:xfrm>
            <a:off x="4449475" y="3537275"/>
            <a:ext cx="670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= 5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8" name="Google Shape;1128;p77"/>
          <p:cNvSpPr txBox="1"/>
          <p:nvPr/>
        </p:nvSpPr>
        <p:spPr>
          <a:xfrm>
            <a:off x="6789459" y="179090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8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8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135" name="Google Shape;113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136" name="Google Shape;1136;p78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8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8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139" name="Google Shape;1139;p78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8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8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142" name="Google Shape;1142;p78"/>
          <p:cNvSpPr txBox="1"/>
          <p:nvPr>
            <p:ph idx="1" type="body"/>
          </p:nvPr>
        </p:nvSpPr>
        <p:spPr>
          <a:xfrm>
            <a:off x="693950" y="1450413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143" name="Google Shape;1143;p78"/>
          <p:cNvSpPr txBox="1"/>
          <p:nvPr>
            <p:ph idx="1" type="body"/>
          </p:nvPr>
        </p:nvSpPr>
        <p:spPr>
          <a:xfrm>
            <a:off x="693950" y="1999352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sp>
        <p:nvSpPr>
          <p:cNvPr id="1144" name="Google Shape;1144;p78"/>
          <p:cNvSpPr txBox="1"/>
          <p:nvPr>
            <p:ph idx="1" type="body"/>
          </p:nvPr>
        </p:nvSpPr>
        <p:spPr>
          <a:xfrm>
            <a:off x="693950" y="2548291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P(C) = </a:t>
            </a:r>
            <a:endParaRPr sz="1800"/>
          </a:p>
        </p:txBody>
      </p:sp>
      <p:sp>
        <p:nvSpPr>
          <p:cNvPr id="1145" name="Google Shape;1145;p78"/>
          <p:cNvSpPr txBox="1"/>
          <p:nvPr>
            <p:ph idx="1" type="body"/>
          </p:nvPr>
        </p:nvSpPr>
        <p:spPr>
          <a:xfrm>
            <a:off x="693950" y="3709620"/>
            <a:ext cx="3597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 and C) = </a:t>
            </a:r>
            <a:endParaRPr sz="1800"/>
          </a:p>
        </p:txBody>
      </p:sp>
      <p:sp>
        <p:nvSpPr>
          <p:cNvPr id="1146" name="Google Shape;1146;p78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147" name="Google Shape;1147;p78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60" y="2479316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65}&quot;&gt;&lt;mfrac&gt;&lt;mn&gt;33&lt;/mn&gt;&lt;mn&gt;65&lt;/mn&gt;&lt;/mfrac&gt;&lt;/math&gt;" id="1148" name="Google Shape;1148;p78" title="33 over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851" y="1929543"/>
            <a:ext cx="247593" cy="45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65}&quot;&gt;&lt;mfrac&gt;&lt;mn&gt;19&lt;/mn&gt;&lt;mn&gt;65&lt;/mn&gt;&lt;/mfrac&gt;&lt;/math&gt;" id="1149" name="Google Shape;1149;p78" title="19 over 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0536" y="3633420"/>
            <a:ext cx="247722" cy="45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150" name="Google Shape;1150;p78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47" y="1367663"/>
            <a:ext cx="250800" cy="4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78"/>
          <p:cNvSpPr txBox="1"/>
          <p:nvPr>
            <p:ph idx="1" type="body"/>
          </p:nvPr>
        </p:nvSpPr>
        <p:spPr>
          <a:xfrm>
            <a:off x="3548175" y="3534275"/>
            <a:ext cx="1611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So, 12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= 19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2" name="Google Shape;1152;p78"/>
          <p:cNvSpPr txBox="1"/>
          <p:nvPr/>
        </p:nvSpPr>
        <p:spPr>
          <a:xfrm>
            <a:off x="648165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78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78"/>
          <p:cNvSpPr txBox="1"/>
          <p:nvPr/>
        </p:nvSpPr>
        <p:spPr>
          <a:xfrm>
            <a:off x="7091325" y="2240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78"/>
          <p:cNvSpPr txBox="1"/>
          <p:nvPr/>
        </p:nvSpPr>
        <p:spPr>
          <a:xfrm>
            <a:off x="6789459" y="179090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78"/>
          <p:cNvSpPr/>
          <p:nvPr/>
        </p:nvSpPr>
        <p:spPr>
          <a:xfrm>
            <a:off x="590500" y="3579109"/>
            <a:ext cx="2319900" cy="54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8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solidFill>
            <a:srgbClr val="F3EEFB">
              <a:alpha val="7278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8"/>
          <p:cNvSpPr txBox="1"/>
          <p:nvPr/>
        </p:nvSpPr>
        <p:spPr>
          <a:xfrm>
            <a:off x="7459498" y="17520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8"/>
          <p:cNvSpPr txBox="1"/>
          <p:nvPr>
            <p:ph idx="1" type="body"/>
          </p:nvPr>
        </p:nvSpPr>
        <p:spPr>
          <a:xfrm>
            <a:off x="4467657" y="3803309"/>
            <a:ext cx="670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= 7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0" name="Google Shape;1160;p78"/>
          <p:cNvSpPr txBox="1"/>
          <p:nvPr/>
        </p:nvSpPr>
        <p:spPr>
          <a:xfrm>
            <a:off x="7475037" y="18142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79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9"/>
          <p:cNvSpPr txBox="1"/>
          <p:nvPr/>
        </p:nvSpPr>
        <p:spPr>
          <a:xfrm>
            <a:off x="7475037" y="18142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9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9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169" name="Google Shape;116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170" name="Google Shape;1170;p79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9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9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173" name="Google Shape;1173;p79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9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175" name="Google Shape;1175;p79"/>
          <p:cNvSpPr txBox="1"/>
          <p:nvPr>
            <p:ph idx="1" type="body"/>
          </p:nvPr>
        </p:nvSpPr>
        <p:spPr>
          <a:xfrm>
            <a:off x="693950" y="1450413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176" name="Google Shape;1176;p79"/>
          <p:cNvSpPr txBox="1"/>
          <p:nvPr>
            <p:ph idx="1" type="body"/>
          </p:nvPr>
        </p:nvSpPr>
        <p:spPr>
          <a:xfrm>
            <a:off x="693950" y="1999352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sp>
        <p:nvSpPr>
          <p:cNvPr id="1177" name="Google Shape;1177;p79"/>
          <p:cNvSpPr txBox="1"/>
          <p:nvPr>
            <p:ph idx="1" type="body"/>
          </p:nvPr>
        </p:nvSpPr>
        <p:spPr>
          <a:xfrm>
            <a:off x="693950" y="2548291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P(C)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178" name="Google Shape;1178;p79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60" y="2479316"/>
            <a:ext cx="250800" cy="46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65}&quot;&gt;&lt;mfrac&gt;&lt;mn&gt;33&lt;/mn&gt;&lt;mn&gt;65&lt;/mn&gt;&lt;/mfrac&gt;&lt;/math&gt;" id="1179" name="Google Shape;1179;p79" title="33 over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851" y="1929543"/>
            <a:ext cx="247593" cy="45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180" name="Google Shape;1180;p79" title="27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47" y="1367663"/>
            <a:ext cx="250800" cy="4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79"/>
          <p:cNvSpPr txBox="1"/>
          <p:nvPr>
            <p:ph idx="1" type="body"/>
          </p:nvPr>
        </p:nvSpPr>
        <p:spPr>
          <a:xfrm>
            <a:off x="2395000" y="1368675"/>
            <a:ext cx="3150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C has only one missing region. This region is part of event A and event B as well.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2" name="Google Shape;1182;p79"/>
          <p:cNvSpPr txBox="1"/>
          <p:nvPr/>
        </p:nvSpPr>
        <p:spPr>
          <a:xfrm>
            <a:off x="648165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79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79"/>
          <p:cNvSpPr txBox="1"/>
          <p:nvPr/>
        </p:nvSpPr>
        <p:spPr>
          <a:xfrm>
            <a:off x="7091325" y="2240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9"/>
          <p:cNvSpPr txBox="1"/>
          <p:nvPr/>
        </p:nvSpPr>
        <p:spPr>
          <a:xfrm>
            <a:off x="6789459" y="179090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79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9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9"/>
          <p:cNvSpPr/>
          <p:nvPr/>
        </p:nvSpPr>
        <p:spPr>
          <a:xfrm>
            <a:off x="590495" y="2439675"/>
            <a:ext cx="1173300" cy="53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79"/>
          <p:cNvSpPr txBox="1"/>
          <p:nvPr>
            <p:ph idx="1" type="body"/>
          </p:nvPr>
        </p:nvSpPr>
        <p:spPr>
          <a:xfrm>
            <a:off x="2691150" y="2763950"/>
            <a:ext cx="3150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 + 7 + 12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/>
              <a:t> = 27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0" name="Google Shape;1190;p79"/>
          <p:cNvSpPr txBox="1"/>
          <p:nvPr/>
        </p:nvSpPr>
        <p:spPr>
          <a:xfrm>
            <a:off x="7151986" y="15811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9"/>
          <p:cNvSpPr txBox="1"/>
          <p:nvPr>
            <p:ph idx="1" type="body"/>
          </p:nvPr>
        </p:nvSpPr>
        <p:spPr>
          <a:xfrm>
            <a:off x="3453150" y="3144950"/>
            <a:ext cx="1212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24</a:t>
            </a:r>
            <a:r>
              <a:rPr lang="en-GB" sz="1800"/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/>
              <a:t> = 27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2" name="Google Shape;1192;p79"/>
          <p:cNvSpPr txBox="1"/>
          <p:nvPr>
            <p:ph idx="1" type="body"/>
          </p:nvPr>
        </p:nvSpPr>
        <p:spPr>
          <a:xfrm>
            <a:off x="3974301" y="3525950"/>
            <a:ext cx="539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/>
              <a:t> = 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3" name="Google Shape;1193;p79"/>
          <p:cNvSpPr txBox="1"/>
          <p:nvPr/>
        </p:nvSpPr>
        <p:spPr>
          <a:xfrm>
            <a:off x="7118475" y="1625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0"/>
          <p:cNvSpPr txBox="1"/>
          <p:nvPr/>
        </p:nvSpPr>
        <p:spPr>
          <a:xfrm>
            <a:off x="7118475" y="1625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0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0"/>
          <p:cNvSpPr txBox="1"/>
          <p:nvPr/>
        </p:nvSpPr>
        <p:spPr>
          <a:xfrm>
            <a:off x="7475037" y="18142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0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0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203" name="Google Shape;120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204" name="Google Shape;1204;p80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0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0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207" name="Google Shape;1207;p80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0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209" name="Google Shape;1209;p80"/>
          <p:cNvSpPr txBox="1"/>
          <p:nvPr>
            <p:ph idx="1" type="body"/>
          </p:nvPr>
        </p:nvSpPr>
        <p:spPr>
          <a:xfrm>
            <a:off x="693950" y="1450413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210" name="Google Shape;1210;p80"/>
          <p:cNvSpPr txBox="1"/>
          <p:nvPr>
            <p:ph idx="1" type="body"/>
          </p:nvPr>
        </p:nvSpPr>
        <p:spPr>
          <a:xfrm>
            <a:off x="693950" y="1999352"/>
            <a:ext cx="1691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3}{65}&quot;&gt;&lt;mfrac&gt;&lt;mn&gt;33&lt;/mn&gt;&lt;mn&gt;65&lt;/mn&gt;&lt;/mfrac&gt;&lt;/math&gt;" id="1211" name="Google Shape;1211;p80" title="33 over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851" y="1929543"/>
            <a:ext cx="247593" cy="45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65}&quot;&gt;&lt;mfrac&gt;&lt;mn&gt;27&lt;/mn&gt;&lt;mn&gt;65&lt;/mn&gt;&lt;/mfrac&gt;&lt;/math&gt;" id="1212" name="Google Shape;1212;p80" title="27 over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4247" y="1367663"/>
            <a:ext cx="250800" cy="4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80"/>
          <p:cNvSpPr txBox="1"/>
          <p:nvPr>
            <p:ph idx="1" type="body"/>
          </p:nvPr>
        </p:nvSpPr>
        <p:spPr>
          <a:xfrm>
            <a:off x="2395000" y="1368675"/>
            <a:ext cx="3150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Either of these can be used to calculate the last region of both events.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4" name="Google Shape;1214;p80"/>
          <p:cNvSpPr txBox="1"/>
          <p:nvPr/>
        </p:nvSpPr>
        <p:spPr>
          <a:xfrm>
            <a:off x="648165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0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0"/>
          <p:cNvSpPr txBox="1"/>
          <p:nvPr/>
        </p:nvSpPr>
        <p:spPr>
          <a:xfrm>
            <a:off x="7091325" y="2240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0"/>
          <p:cNvSpPr txBox="1"/>
          <p:nvPr/>
        </p:nvSpPr>
        <p:spPr>
          <a:xfrm>
            <a:off x="6789459" y="179090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0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0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0"/>
          <p:cNvSpPr/>
          <p:nvPr/>
        </p:nvSpPr>
        <p:spPr>
          <a:xfrm>
            <a:off x="621600" y="1328600"/>
            <a:ext cx="1173300" cy="109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0"/>
          <p:cNvSpPr txBox="1"/>
          <p:nvPr>
            <p:ph idx="1" type="body"/>
          </p:nvPr>
        </p:nvSpPr>
        <p:spPr>
          <a:xfrm>
            <a:off x="709950" y="2763950"/>
            <a:ext cx="3150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13 + 5 + 3</a:t>
            </a:r>
            <a:r>
              <a:rPr lang="en-GB" sz="1800"/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 = 27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2" name="Google Shape;1222;p80"/>
          <p:cNvSpPr txBox="1"/>
          <p:nvPr>
            <p:ph idx="1" type="body"/>
          </p:nvPr>
        </p:nvSpPr>
        <p:spPr>
          <a:xfrm>
            <a:off x="1471950" y="3144950"/>
            <a:ext cx="1212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21</a:t>
            </a:r>
            <a:r>
              <a:rPr lang="en-GB" sz="1800"/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 = 27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3" name="Google Shape;1223;p80"/>
          <p:cNvSpPr txBox="1"/>
          <p:nvPr>
            <p:ph idx="1" type="body"/>
          </p:nvPr>
        </p:nvSpPr>
        <p:spPr>
          <a:xfrm>
            <a:off x="1993100" y="3525950"/>
            <a:ext cx="586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 = 6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4" name="Google Shape;1224;p80"/>
          <p:cNvSpPr txBox="1"/>
          <p:nvPr/>
        </p:nvSpPr>
        <p:spPr>
          <a:xfrm>
            <a:off x="7096345" y="11648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0"/>
          <p:cNvSpPr txBox="1"/>
          <p:nvPr>
            <p:ph idx="1" type="body"/>
          </p:nvPr>
        </p:nvSpPr>
        <p:spPr>
          <a:xfrm>
            <a:off x="3529350" y="2763950"/>
            <a:ext cx="3150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+ 7 + 17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 = 33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6" name="Google Shape;1226;p80"/>
          <p:cNvSpPr txBox="1"/>
          <p:nvPr>
            <p:ph idx="1" type="body"/>
          </p:nvPr>
        </p:nvSpPr>
        <p:spPr>
          <a:xfrm>
            <a:off x="4291350" y="3144950"/>
            <a:ext cx="1212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27</a:t>
            </a:r>
            <a:r>
              <a:rPr lang="en-GB" sz="1800"/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 = 33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7" name="Google Shape;1227;p80"/>
          <p:cNvSpPr txBox="1"/>
          <p:nvPr>
            <p:ph idx="1" type="body"/>
          </p:nvPr>
        </p:nvSpPr>
        <p:spPr>
          <a:xfrm>
            <a:off x="4812500" y="3525950"/>
            <a:ext cx="649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 = 6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8" name="Google Shape;1228;p80"/>
          <p:cNvSpPr txBox="1"/>
          <p:nvPr>
            <p:ph idx="1" type="body"/>
          </p:nvPr>
        </p:nvSpPr>
        <p:spPr>
          <a:xfrm>
            <a:off x="2887200" y="2763950"/>
            <a:ext cx="303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9" name="Google Shape;1229;p80"/>
          <p:cNvSpPr txBox="1"/>
          <p:nvPr/>
        </p:nvSpPr>
        <p:spPr>
          <a:xfrm>
            <a:off x="7128920" y="121148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81"/>
          <p:cNvSpPr txBox="1"/>
          <p:nvPr/>
        </p:nvSpPr>
        <p:spPr>
          <a:xfrm>
            <a:off x="7128920" y="121148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1"/>
          <p:cNvSpPr txBox="1"/>
          <p:nvPr/>
        </p:nvSpPr>
        <p:spPr>
          <a:xfrm>
            <a:off x="7118475" y="1625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1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1"/>
          <p:cNvSpPr txBox="1"/>
          <p:nvPr/>
        </p:nvSpPr>
        <p:spPr>
          <a:xfrm>
            <a:off x="7475037" y="18142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1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1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65 outcomes.</a:t>
            </a:r>
            <a:endParaRPr sz="1800"/>
          </a:p>
        </p:txBody>
      </p:sp>
      <p:sp>
        <p:nvSpPr>
          <p:cNvPr id="1240" name="Google Shape;124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241" name="Google Shape;1241;p81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1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1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244" name="Google Shape;1244;p81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1"/>
          <p:cNvSpPr txBox="1"/>
          <p:nvPr>
            <p:ph idx="1" type="body"/>
          </p:nvPr>
        </p:nvSpPr>
        <p:spPr>
          <a:xfrm>
            <a:off x="324000" y="1368675"/>
            <a:ext cx="5221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final region of the Venn diagram is the region for outcomes that are not in event A or event B or event C.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6" name="Google Shape;1246;p81"/>
          <p:cNvSpPr txBox="1"/>
          <p:nvPr/>
        </p:nvSpPr>
        <p:spPr>
          <a:xfrm>
            <a:off x="648165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1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1"/>
          <p:cNvSpPr txBox="1"/>
          <p:nvPr/>
        </p:nvSpPr>
        <p:spPr>
          <a:xfrm>
            <a:off x="7091325" y="2240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1"/>
          <p:cNvSpPr txBox="1"/>
          <p:nvPr/>
        </p:nvSpPr>
        <p:spPr>
          <a:xfrm>
            <a:off x="6789459" y="179090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1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1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1"/>
          <p:cNvSpPr txBox="1"/>
          <p:nvPr>
            <p:ph idx="1" type="body"/>
          </p:nvPr>
        </p:nvSpPr>
        <p:spPr>
          <a:xfrm>
            <a:off x="324000" y="2587875"/>
            <a:ext cx="5221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 there any outcomes in that region?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3" name="Google Shape;1253;p81"/>
          <p:cNvSpPr txBox="1"/>
          <p:nvPr>
            <p:ph idx="1" type="body"/>
          </p:nvPr>
        </p:nvSpPr>
        <p:spPr>
          <a:xfrm>
            <a:off x="324000" y="3045075"/>
            <a:ext cx="5221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The sample space has 65 outcomes and currently there are only 63 accounted for in the Venn diagram.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there are 2 in that region.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4" name="Google Shape;1254;p81"/>
          <p:cNvSpPr txBox="1"/>
          <p:nvPr/>
        </p:nvSpPr>
        <p:spPr>
          <a:xfrm>
            <a:off x="8014050" y="25460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260" name="Google Shape;1260;p82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40 outcomes.</a:t>
            </a:r>
            <a:endParaRPr sz="1800"/>
          </a:p>
        </p:txBody>
      </p:sp>
      <p:sp>
        <p:nvSpPr>
          <p:cNvPr id="1261" name="Google Shape;1261;p82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2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2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2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2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2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2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268" name="Google Shape;1268;p82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2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270" name="Google Shape;1270;p82"/>
          <p:cNvSpPr txBox="1"/>
          <p:nvPr>
            <p:ph idx="1" type="body"/>
          </p:nvPr>
        </p:nvSpPr>
        <p:spPr>
          <a:xfrm>
            <a:off x="599550" y="1602813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A) = </a:t>
            </a:r>
            <a:endParaRPr sz="1800"/>
          </a:p>
        </p:txBody>
      </p:sp>
      <p:sp>
        <p:nvSpPr>
          <p:cNvPr id="1271" name="Google Shape;1271;p82"/>
          <p:cNvSpPr txBox="1"/>
          <p:nvPr>
            <p:ph idx="1" type="body"/>
          </p:nvPr>
        </p:nvSpPr>
        <p:spPr>
          <a:xfrm>
            <a:off x="599550" y="2227952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B) = </a:t>
            </a:r>
            <a:endParaRPr sz="1800"/>
          </a:p>
        </p:txBody>
      </p:sp>
      <p:sp>
        <p:nvSpPr>
          <p:cNvPr id="1272" name="Google Shape;1272;p82"/>
          <p:cNvSpPr txBox="1"/>
          <p:nvPr>
            <p:ph idx="1" type="body"/>
          </p:nvPr>
        </p:nvSpPr>
        <p:spPr>
          <a:xfrm>
            <a:off x="599550" y="2836591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P(only C)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9}{40}&quot;&gt;&lt;mfrac&gt;&lt;mn&gt;9&lt;/mn&gt;&lt;mn&gt;40&lt;/mn&gt;&lt;/mfrac&gt;&lt;/math&gt;" id="1273" name="Google Shape;1273;p82" title="9 over 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205" y="1447950"/>
            <a:ext cx="289765" cy="533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0}&quot;&gt;&lt;mfrac&gt;&lt;mn&gt;7&lt;/mn&gt;&lt;mn&gt;40&lt;/mn&gt;&lt;/mfrac&gt;&lt;/math&gt;" id="1274" name="Google Shape;1274;p82" title="7 over 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1425" y="2099190"/>
            <a:ext cx="293300" cy="536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75" name="Google Shape;1275;p82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7569" y="2729786"/>
            <a:ext cx="161008" cy="53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82"/>
          <p:cNvSpPr txBox="1"/>
          <p:nvPr>
            <p:ph idx="1" type="body"/>
          </p:nvPr>
        </p:nvSpPr>
        <p:spPr>
          <a:xfrm>
            <a:off x="324000" y="3445250"/>
            <a:ext cx="5497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 this information to the Venn diagram.</a:t>
            </a:r>
            <a:endParaRPr sz="1800"/>
          </a:p>
        </p:txBody>
      </p:sp>
      <p:sp>
        <p:nvSpPr>
          <p:cNvPr id="1277" name="Google Shape;1277;p82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82"/>
          <p:cNvSpPr txBox="1"/>
          <p:nvPr/>
        </p:nvSpPr>
        <p:spPr>
          <a:xfrm>
            <a:off x="654560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82"/>
          <p:cNvSpPr txBox="1"/>
          <p:nvPr/>
        </p:nvSpPr>
        <p:spPr>
          <a:xfrm>
            <a:off x="7091325" y="22562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6928" y="943858"/>
            <a:ext cx="969598" cy="12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286" name="Google Shape;1286;p83"/>
          <p:cNvSpPr txBox="1"/>
          <p:nvPr>
            <p:ph idx="1" type="body"/>
          </p:nvPr>
        </p:nvSpPr>
        <p:spPr>
          <a:xfrm>
            <a:off x="324000" y="759300"/>
            <a:ext cx="4081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sample space has 40 outcomes.</a:t>
            </a:r>
            <a:endParaRPr sz="1800"/>
          </a:p>
        </p:txBody>
      </p:sp>
      <p:sp>
        <p:nvSpPr>
          <p:cNvPr id="1287" name="Google Shape;1287;p83"/>
          <p:cNvSpPr/>
          <p:nvPr/>
        </p:nvSpPr>
        <p:spPr>
          <a:xfrm>
            <a:off x="6041775" y="7837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3"/>
          <p:cNvSpPr/>
          <p:nvPr/>
        </p:nvSpPr>
        <p:spPr>
          <a:xfrm>
            <a:off x="6236025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3"/>
          <p:cNvSpPr/>
          <p:nvPr/>
        </p:nvSpPr>
        <p:spPr>
          <a:xfrm>
            <a:off x="6940050" y="9411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3"/>
          <p:cNvSpPr/>
          <p:nvPr/>
        </p:nvSpPr>
        <p:spPr>
          <a:xfrm>
            <a:off x="6610725" y="15519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3"/>
          <p:cNvSpPr txBox="1"/>
          <p:nvPr/>
        </p:nvSpPr>
        <p:spPr>
          <a:xfrm>
            <a:off x="6197150" y="8570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3"/>
          <p:cNvSpPr txBox="1"/>
          <p:nvPr/>
        </p:nvSpPr>
        <p:spPr>
          <a:xfrm>
            <a:off x="7961309" y="8570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3"/>
          <p:cNvSpPr txBox="1"/>
          <p:nvPr/>
        </p:nvSpPr>
        <p:spPr>
          <a:xfrm>
            <a:off x="5821300" y="7818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294" name="Google Shape;1294;p83"/>
          <p:cNvSpPr txBox="1"/>
          <p:nvPr/>
        </p:nvSpPr>
        <p:spPr>
          <a:xfrm>
            <a:off x="6610734" y="25944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3"/>
          <p:cNvSpPr txBox="1"/>
          <p:nvPr>
            <p:ph idx="1" type="body"/>
          </p:nvPr>
        </p:nvSpPr>
        <p:spPr>
          <a:xfrm>
            <a:off x="324000" y="1085913"/>
            <a:ext cx="13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Given that:</a:t>
            </a:r>
            <a:endParaRPr sz="1800"/>
          </a:p>
        </p:txBody>
      </p:sp>
      <p:sp>
        <p:nvSpPr>
          <p:cNvPr id="1296" name="Google Shape;1296;p83"/>
          <p:cNvSpPr txBox="1"/>
          <p:nvPr>
            <p:ph idx="1" type="body"/>
          </p:nvPr>
        </p:nvSpPr>
        <p:spPr>
          <a:xfrm>
            <a:off x="599550" y="1602813"/>
            <a:ext cx="2129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P(B and not A) = </a:t>
            </a:r>
            <a:endParaRPr sz="1800"/>
          </a:p>
        </p:txBody>
      </p:sp>
      <p:sp>
        <p:nvSpPr>
          <p:cNvPr id="1297" name="Google Shape;1297;p83"/>
          <p:cNvSpPr txBox="1"/>
          <p:nvPr>
            <p:ph idx="1" type="body"/>
          </p:nvPr>
        </p:nvSpPr>
        <p:spPr>
          <a:xfrm>
            <a:off x="324000" y="2378450"/>
            <a:ext cx="5497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 this information to the Venn diagram.</a:t>
            </a:r>
            <a:endParaRPr sz="1800"/>
          </a:p>
        </p:txBody>
      </p:sp>
      <p:sp>
        <p:nvSpPr>
          <p:cNvPr id="1298" name="Google Shape;1298;p83"/>
          <p:cNvSpPr txBox="1"/>
          <p:nvPr/>
        </p:nvSpPr>
        <p:spPr>
          <a:xfrm>
            <a:off x="7651875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3"/>
          <p:cNvSpPr txBox="1"/>
          <p:nvPr/>
        </p:nvSpPr>
        <p:spPr>
          <a:xfrm>
            <a:off x="6545600" y="1244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3"/>
          <p:cNvSpPr txBox="1"/>
          <p:nvPr/>
        </p:nvSpPr>
        <p:spPr>
          <a:xfrm>
            <a:off x="7091325" y="22562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01" name="Google Shape;1301;p83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3669" y="1486636"/>
            <a:ext cx="161008" cy="53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83"/>
          <p:cNvSpPr txBox="1"/>
          <p:nvPr/>
        </p:nvSpPr>
        <p:spPr>
          <a:xfrm>
            <a:off x="7481311" y="1792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308" name="Google Shape;1308;p8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Venn diagram to find the probabilities.</a:t>
            </a:r>
            <a:endParaRPr sz="1800"/>
          </a:p>
        </p:txBody>
      </p:sp>
      <p:sp>
        <p:nvSpPr>
          <p:cNvPr id="1309" name="Google Shape;1309;p84"/>
          <p:cNvSpPr/>
          <p:nvPr/>
        </p:nvSpPr>
        <p:spPr>
          <a:xfrm>
            <a:off x="5059327" y="14272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4"/>
          <p:cNvSpPr txBox="1"/>
          <p:nvPr/>
        </p:nvSpPr>
        <p:spPr>
          <a:xfrm>
            <a:off x="4887100" y="1130124"/>
            <a:ext cx="337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4"/>
          <p:cNvSpPr/>
          <p:nvPr/>
        </p:nvSpPr>
        <p:spPr>
          <a:xfrm>
            <a:off x="5385292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4"/>
          <p:cNvSpPr txBox="1"/>
          <p:nvPr/>
        </p:nvSpPr>
        <p:spPr>
          <a:xfrm>
            <a:off x="5431999" y="15802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84"/>
          <p:cNvSpPr/>
          <p:nvPr/>
        </p:nvSpPr>
        <p:spPr>
          <a:xfrm>
            <a:off x="6236205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4"/>
          <p:cNvSpPr txBox="1"/>
          <p:nvPr/>
        </p:nvSpPr>
        <p:spPr>
          <a:xfrm>
            <a:off x="7410377" y="15802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4"/>
          <p:cNvSpPr txBox="1"/>
          <p:nvPr/>
        </p:nvSpPr>
        <p:spPr>
          <a:xfrm>
            <a:off x="5745878" y="1806307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4"/>
          <p:cNvSpPr txBox="1"/>
          <p:nvPr/>
        </p:nvSpPr>
        <p:spPr>
          <a:xfrm>
            <a:off x="6414128" y="186533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4"/>
          <p:cNvSpPr txBox="1"/>
          <p:nvPr/>
        </p:nvSpPr>
        <p:spPr>
          <a:xfrm>
            <a:off x="7625817" y="28261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84"/>
          <p:cNvSpPr txBox="1"/>
          <p:nvPr/>
        </p:nvSpPr>
        <p:spPr>
          <a:xfrm>
            <a:off x="6455055" y="215132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84"/>
          <p:cNvSpPr txBox="1"/>
          <p:nvPr/>
        </p:nvSpPr>
        <p:spPr>
          <a:xfrm>
            <a:off x="7757479" y="2238214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4"/>
          <p:cNvSpPr txBox="1"/>
          <p:nvPr/>
        </p:nvSpPr>
        <p:spPr>
          <a:xfrm>
            <a:off x="7247261" y="21270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4"/>
          <p:cNvSpPr txBox="1"/>
          <p:nvPr/>
        </p:nvSpPr>
        <p:spPr>
          <a:xfrm>
            <a:off x="5291087" y="287674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4"/>
          <p:cNvSpPr txBox="1"/>
          <p:nvPr/>
        </p:nvSpPr>
        <p:spPr>
          <a:xfrm>
            <a:off x="6455055" y="240219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4"/>
          <p:cNvSpPr txBox="1"/>
          <p:nvPr/>
        </p:nvSpPr>
        <p:spPr>
          <a:xfrm>
            <a:off x="324000" y="1282800"/>
            <a:ext cx="2667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B)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4"/>
          <p:cNvSpPr txBox="1"/>
          <p:nvPr/>
        </p:nvSpPr>
        <p:spPr>
          <a:xfrm>
            <a:off x="324000" y="2023450"/>
            <a:ext cx="26286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P(A and not B)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84"/>
          <p:cNvSpPr txBox="1"/>
          <p:nvPr/>
        </p:nvSpPr>
        <p:spPr>
          <a:xfrm>
            <a:off x="324000" y="2764100"/>
            <a:ext cx="2784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and not 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4"/>
          <p:cNvSpPr txBox="1"/>
          <p:nvPr/>
        </p:nvSpPr>
        <p:spPr>
          <a:xfrm>
            <a:off x="324000" y="3504750"/>
            <a:ext cx="25632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 and not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85"/>
          <p:cNvSpPr/>
          <p:nvPr/>
        </p:nvSpPr>
        <p:spPr>
          <a:xfrm>
            <a:off x="5270650" y="11689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333" name="Google Shape;1333;p85"/>
          <p:cNvSpPr txBox="1"/>
          <p:nvPr/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write the probabilities.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5"/>
          <p:cNvSpPr txBox="1"/>
          <p:nvPr/>
        </p:nvSpPr>
        <p:spPr>
          <a:xfrm>
            <a:off x="324000" y="1282800"/>
            <a:ext cx="2014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C)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5"/>
          <p:cNvSpPr txBox="1"/>
          <p:nvPr/>
        </p:nvSpPr>
        <p:spPr>
          <a:xfrm>
            <a:off x="324000" y="2023450"/>
            <a:ext cx="2201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 and not C)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5"/>
          <p:cNvSpPr txBox="1"/>
          <p:nvPr/>
        </p:nvSpPr>
        <p:spPr>
          <a:xfrm>
            <a:off x="324000" y="2764100"/>
            <a:ext cx="2799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C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nd not 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5"/>
          <p:cNvSpPr txBox="1"/>
          <p:nvPr/>
        </p:nvSpPr>
        <p:spPr>
          <a:xfrm>
            <a:off x="324000" y="3504750"/>
            <a:ext cx="2597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and not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5"/>
          <p:cNvSpPr/>
          <p:nvPr/>
        </p:nvSpPr>
        <p:spPr>
          <a:xfrm>
            <a:off x="54670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5"/>
          <p:cNvSpPr txBox="1"/>
          <p:nvPr/>
        </p:nvSpPr>
        <p:spPr>
          <a:xfrm>
            <a:off x="5521450" y="1344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0" name="Google Shape;1340;p85"/>
          <p:cNvGrpSpPr/>
          <p:nvPr/>
        </p:nvGrpSpPr>
        <p:grpSpPr>
          <a:xfrm>
            <a:off x="5973350" y="1393293"/>
            <a:ext cx="2090525" cy="2395800"/>
            <a:chOff x="1248950" y="1774293"/>
            <a:chExt cx="2090525" cy="2395800"/>
          </a:xfrm>
        </p:grpSpPr>
        <p:sp>
          <p:nvSpPr>
            <p:cNvPr id="1341" name="Google Shape;1341;p85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85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3" name="Google Shape;1343;p85"/>
          <p:cNvSpPr txBox="1"/>
          <p:nvPr/>
        </p:nvSpPr>
        <p:spPr>
          <a:xfrm>
            <a:off x="7069941" y="25507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85"/>
          <p:cNvSpPr txBox="1"/>
          <p:nvPr/>
        </p:nvSpPr>
        <p:spPr>
          <a:xfrm>
            <a:off x="6628810" y="17928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85"/>
          <p:cNvSpPr txBox="1"/>
          <p:nvPr/>
        </p:nvSpPr>
        <p:spPr>
          <a:xfrm>
            <a:off x="5429931" y="3604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85"/>
          <p:cNvSpPr txBox="1"/>
          <p:nvPr/>
        </p:nvSpPr>
        <p:spPr>
          <a:xfrm>
            <a:off x="6627751" y="231150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5"/>
          <p:cNvSpPr txBox="1"/>
          <p:nvPr/>
        </p:nvSpPr>
        <p:spPr>
          <a:xfrm>
            <a:off x="7213125" y="157547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85"/>
          <p:cNvSpPr txBox="1"/>
          <p:nvPr/>
        </p:nvSpPr>
        <p:spPr>
          <a:xfrm>
            <a:off x="5820281" y="16526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85"/>
          <p:cNvSpPr txBox="1"/>
          <p:nvPr/>
        </p:nvSpPr>
        <p:spPr>
          <a:xfrm>
            <a:off x="5346856" y="284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85"/>
          <p:cNvSpPr txBox="1"/>
          <p:nvPr/>
        </p:nvSpPr>
        <p:spPr>
          <a:xfrm>
            <a:off x="6208406" y="2561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5"/>
          <p:cNvSpPr txBox="1"/>
          <p:nvPr/>
        </p:nvSpPr>
        <p:spPr>
          <a:xfrm>
            <a:off x="5680724" y="21599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85"/>
          <p:cNvSpPr txBox="1"/>
          <p:nvPr/>
        </p:nvSpPr>
        <p:spPr>
          <a:xfrm>
            <a:off x="5127000" y="1113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353" name="Google Shape;1353;p85"/>
          <p:cNvSpPr txBox="1"/>
          <p:nvPr/>
        </p:nvSpPr>
        <p:spPr>
          <a:xfrm>
            <a:off x="5973350" y="3460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5"/>
          <p:cNvSpPr txBox="1"/>
          <p:nvPr/>
        </p:nvSpPr>
        <p:spPr>
          <a:xfrm>
            <a:off x="324000" y="4190550"/>
            <a:ext cx="2846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P(not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5"/>
          <p:cNvSpPr txBox="1"/>
          <p:nvPr/>
        </p:nvSpPr>
        <p:spPr>
          <a:xfrm>
            <a:off x="7765606" y="3460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5"/>
          <p:cNvSpPr txBox="1"/>
          <p:nvPr/>
        </p:nvSpPr>
        <p:spPr>
          <a:xfrm>
            <a:off x="6628806" y="3101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5"/>
          <p:cNvSpPr txBox="1"/>
          <p:nvPr/>
        </p:nvSpPr>
        <p:spPr>
          <a:xfrm>
            <a:off x="7813075" y="13208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363" name="Google Shape;1363;p86"/>
          <p:cNvSpPr txBox="1"/>
          <p:nvPr/>
        </p:nvSpPr>
        <p:spPr>
          <a:xfrm>
            <a:off x="324000" y="759300"/>
            <a:ext cx="823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shows the number of outcomes in each event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40 outcomes in the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Venn diagram given these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probabilities.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6"/>
          <p:cNvSpPr/>
          <p:nvPr/>
        </p:nvSpPr>
        <p:spPr>
          <a:xfrm>
            <a:off x="6117975" y="12409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6"/>
          <p:cNvSpPr/>
          <p:nvPr/>
        </p:nvSpPr>
        <p:spPr>
          <a:xfrm>
            <a:off x="6312225" y="13983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6"/>
          <p:cNvSpPr/>
          <p:nvPr/>
        </p:nvSpPr>
        <p:spPr>
          <a:xfrm>
            <a:off x="7016250" y="13983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6"/>
          <p:cNvSpPr/>
          <p:nvPr/>
        </p:nvSpPr>
        <p:spPr>
          <a:xfrm>
            <a:off x="6686925" y="20091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6"/>
          <p:cNvSpPr txBox="1"/>
          <p:nvPr/>
        </p:nvSpPr>
        <p:spPr>
          <a:xfrm>
            <a:off x="6273350" y="13142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6"/>
          <p:cNvSpPr txBox="1"/>
          <p:nvPr/>
        </p:nvSpPr>
        <p:spPr>
          <a:xfrm>
            <a:off x="8037509" y="13142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6"/>
          <p:cNvSpPr txBox="1"/>
          <p:nvPr/>
        </p:nvSpPr>
        <p:spPr>
          <a:xfrm>
            <a:off x="5897500" y="12390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371" name="Google Shape;1371;p86"/>
          <p:cNvSpPr txBox="1"/>
          <p:nvPr/>
        </p:nvSpPr>
        <p:spPr>
          <a:xfrm>
            <a:off x="6686934" y="30516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6"/>
          <p:cNvSpPr txBox="1"/>
          <p:nvPr/>
        </p:nvSpPr>
        <p:spPr>
          <a:xfrm>
            <a:off x="7728075" y="17013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86"/>
          <p:cNvSpPr txBox="1"/>
          <p:nvPr/>
        </p:nvSpPr>
        <p:spPr>
          <a:xfrm>
            <a:off x="6621800" y="17013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6"/>
          <p:cNvSpPr txBox="1"/>
          <p:nvPr/>
        </p:nvSpPr>
        <p:spPr>
          <a:xfrm>
            <a:off x="7167525" y="2713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6"/>
          <p:cNvSpPr txBox="1"/>
          <p:nvPr/>
        </p:nvSpPr>
        <p:spPr>
          <a:xfrm>
            <a:off x="7557511" y="2249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6"/>
          <p:cNvSpPr txBox="1"/>
          <p:nvPr/>
        </p:nvSpPr>
        <p:spPr>
          <a:xfrm>
            <a:off x="705000" y="2425800"/>
            <a:ext cx="1254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P(not A)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86"/>
          <p:cNvSpPr txBox="1"/>
          <p:nvPr/>
        </p:nvSpPr>
        <p:spPr>
          <a:xfrm>
            <a:off x="705000" y="3090250"/>
            <a:ext cx="202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 and not C)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1}{40}&quot;&gt;&lt;mfrac&gt;&lt;mn&gt;21&lt;/mn&gt;&lt;mn&gt;40&lt;/mn&gt;&lt;/mfrac&gt;&lt;/math&gt;" id="1378" name="Google Shape;1378;p86" title="21 over 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999" y="2340846"/>
            <a:ext cx="250800" cy="461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379" name="Google Shape;1379;p86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6399" y="3009100"/>
            <a:ext cx="250800" cy="46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86"/>
          <p:cNvSpPr txBox="1"/>
          <p:nvPr/>
        </p:nvSpPr>
        <p:spPr>
          <a:xfrm>
            <a:off x="705000" y="3754700"/>
            <a:ext cx="1254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40}&quot;&gt;&lt;mfrac&gt;&lt;mn&gt;13&lt;/mn&gt;&lt;mn&gt;40&lt;/mn&gt;&lt;/mfrac&gt;&lt;/math&gt;" id="1381" name="Google Shape;1381;p86" title="13 over 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9299" y="3665675"/>
            <a:ext cx="250800" cy="461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387" name="Google Shape;1387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Venn diagram to find the probabilities.</a:t>
            </a:r>
            <a:endParaRPr sz="1800"/>
          </a:p>
        </p:txBody>
      </p:sp>
      <p:sp>
        <p:nvSpPr>
          <p:cNvPr id="1388" name="Google Shape;1388;p87"/>
          <p:cNvSpPr/>
          <p:nvPr/>
        </p:nvSpPr>
        <p:spPr>
          <a:xfrm>
            <a:off x="5059327" y="1427282"/>
            <a:ext cx="2949900" cy="1780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7"/>
          <p:cNvSpPr txBox="1"/>
          <p:nvPr/>
        </p:nvSpPr>
        <p:spPr>
          <a:xfrm>
            <a:off x="4887100" y="1130124"/>
            <a:ext cx="337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7"/>
          <p:cNvSpPr/>
          <p:nvPr/>
        </p:nvSpPr>
        <p:spPr>
          <a:xfrm>
            <a:off x="5385292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7"/>
          <p:cNvSpPr txBox="1"/>
          <p:nvPr/>
        </p:nvSpPr>
        <p:spPr>
          <a:xfrm>
            <a:off x="5431999" y="1580249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7"/>
          <p:cNvSpPr/>
          <p:nvPr/>
        </p:nvSpPr>
        <p:spPr>
          <a:xfrm>
            <a:off x="6236205" y="1622250"/>
            <a:ext cx="1379700" cy="1391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87"/>
          <p:cNvSpPr txBox="1"/>
          <p:nvPr/>
        </p:nvSpPr>
        <p:spPr>
          <a:xfrm>
            <a:off x="7410377" y="1580255"/>
            <a:ext cx="21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7"/>
          <p:cNvSpPr txBox="1"/>
          <p:nvPr/>
        </p:nvSpPr>
        <p:spPr>
          <a:xfrm>
            <a:off x="5745878" y="1806307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87"/>
          <p:cNvSpPr txBox="1"/>
          <p:nvPr/>
        </p:nvSpPr>
        <p:spPr>
          <a:xfrm>
            <a:off x="6414128" y="186533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87"/>
          <p:cNvSpPr txBox="1"/>
          <p:nvPr/>
        </p:nvSpPr>
        <p:spPr>
          <a:xfrm>
            <a:off x="7625817" y="28261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7"/>
          <p:cNvSpPr txBox="1"/>
          <p:nvPr/>
        </p:nvSpPr>
        <p:spPr>
          <a:xfrm>
            <a:off x="6455055" y="215132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87"/>
          <p:cNvSpPr txBox="1"/>
          <p:nvPr/>
        </p:nvSpPr>
        <p:spPr>
          <a:xfrm>
            <a:off x="7757479" y="2238214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87"/>
          <p:cNvSpPr txBox="1"/>
          <p:nvPr/>
        </p:nvSpPr>
        <p:spPr>
          <a:xfrm>
            <a:off x="7247261" y="2127091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7"/>
          <p:cNvSpPr txBox="1"/>
          <p:nvPr/>
        </p:nvSpPr>
        <p:spPr>
          <a:xfrm>
            <a:off x="5291087" y="2876748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87"/>
          <p:cNvSpPr txBox="1"/>
          <p:nvPr/>
        </p:nvSpPr>
        <p:spPr>
          <a:xfrm>
            <a:off x="6455055" y="2402195"/>
            <a:ext cx="2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7"/>
          <p:cNvSpPr txBox="1"/>
          <p:nvPr/>
        </p:nvSpPr>
        <p:spPr>
          <a:xfrm>
            <a:off x="324000" y="1282800"/>
            <a:ext cx="2667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B)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87"/>
          <p:cNvSpPr txBox="1"/>
          <p:nvPr/>
        </p:nvSpPr>
        <p:spPr>
          <a:xfrm>
            <a:off x="324000" y="2023450"/>
            <a:ext cx="26286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P(A and not B)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7"/>
          <p:cNvSpPr txBox="1"/>
          <p:nvPr/>
        </p:nvSpPr>
        <p:spPr>
          <a:xfrm>
            <a:off x="324000" y="2764100"/>
            <a:ext cx="2784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and not 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7"/>
          <p:cNvSpPr txBox="1"/>
          <p:nvPr/>
        </p:nvSpPr>
        <p:spPr>
          <a:xfrm>
            <a:off x="324000" y="3504750"/>
            <a:ext cx="25632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 and not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406" name="Google Shape;1406;p87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685" y="1187700"/>
            <a:ext cx="143510" cy="475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1407" name="Google Shape;1407;p87" title="one eigh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1373" y="1952850"/>
            <a:ext cx="143585" cy="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1408" name="Google Shape;1408;p87" title="one eigh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1373" y="2679400"/>
            <a:ext cx="143585" cy="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409" name="Google Shape;1409;p87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610" y="3401200"/>
            <a:ext cx="143510" cy="47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87"/>
          <p:cNvSpPr txBox="1"/>
          <p:nvPr/>
        </p:nvSpPr>
        <p:spPr>
          <a:xfrm>
            <a:off x="2678588" y="2057300"/>
            <a:ext cx="2327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12.5% = 0.125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1" name="Google Shape;1411;p87"/>
          <p:cNvSpPr txBox="1"/>
          <p:nvPr/>
        </p:nvSpPr>
        <p:spPr>
          <a:xfrm>
            <a:off x="2678588" y="2743100"/>
            <a:ext cx="2327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12.5% = 0.125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2" name="Google Shape;1412;p87"/>
          <p:cNvSpPr txBox="1"/>
          <p:nvPr/>
        </p:nvSpPr>
        <p:spPr>
          <a:xfrm>
            <a:off x="2318188" y="1275029"/>
            <a:ext cx="2327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.5% = 0.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3" name="Google Shape;1413;p87"/>
          <p:cNvSpPr txBox="1"/>
          <p:nvPr/>
        </p:nvSpPr>
        <p:spPr>
          <a:xfrm>
            <a:off x="3216463" y="3483291"/>
            <a:ext cx="2327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.5% = 0.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8"/>
          <p:cNvSpPr/>
          <p:nvPr/>
        </p:nvSpPr>
        <p:spPr>
          <a:xfrm>
            <a:off x="5270650" y="1168900"/>
            <a:ext cx="3035700" cy="277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420" name="Google Shape;1420;p88"/>
          <p:cNvSpPr txBox="1"/>
          <p:nvPr/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write the probabilities.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8"/>
          <p:cNvSpPr txBox="1"/>
          <p:nvPr/>
        </p:nvSpPr>
        <p:spPr>
          <a:xfrm>
            <a:off x="324000" y="1282800"/>
            <a:ext cx="2014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C)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8"/>
          <p:cNvSpPr txBox="1"/>
          <p:nvPr/>
        </p:nvSpPr>
        <p:spPr>
          <a:xfrm>
            <a:off x="324000" y="2023450"/>
            <a:ext cx="2201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 and not C)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8"/>
          <p:cNvSpPr txBox="1"/>
          <p:nvPr/>
        </p:nvSpPr>
        <p:spPr>
          <a:xfrm>
            <a:off x="324000" y="2764100"/>
            <a:ext cx="2799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C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nd not 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8"/>
          <p:cNvSpPr txBox="1"/>
          <p:nvPr/>
        </p:nvSpPr>
        <p:spPr>
          <a:xfrm>
            <a:off x="324000" y="3504750"/>
            <a:ext cx="2597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and not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8"/>
          <p:cNvSpPr/>
          <p:nvPr/>
        </p:nvSpPr>
        <p:spPr>
          <a:xfrm>
            <a:off x="5467075" y="13932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8"/>
          <p:cNvSpPr txBox="1"/>
          <p:nvPr/>
        </p:nvSpPr>
        <p:spPr>
          <a:xfrm>
            <a:off x="5521450" y="1344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7" name="Google Shape;1427;p88"/>
          <p:cNvGrpSpPr/>
          <p:nvPr/>
        </p:nvGrpSpPr>
        <p:grpSpPr>
          <a:xfrm>
            <a:off x="5973350" y="1393293"/>
            <a:ext cx="2090525" cy="2395800"/>
            <a:chOff x="1248950" y="1774293"/>
            <a:chExt cx="2090525" cy="2395800"/>
          </a:xfrm>
        </p:grpSpPr>
        <p:sp>
          <p:nvSpPr>
            <p:cNvPr id="1428" name="Google Shape;1428;p88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9" name="Google Shape;1429;p88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0" name="Google Shape;1430;p88"/>
          <p:cNvSpPr txBox="1"/>
          <p:nvPr/>
        </p:nvSpPr>
        <p:spPr>
          <a:xfrm>
            <a:off x="7069941" y="25507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8"/>
          <p:cNvSpPr txBox="1"/>
          <p:nvPr/>
        </p:nvSpPr>
        <p:spPr>
          <a:xfrm>
            <a:off x="6628810" y="17928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8"/>
          <p:cNvSpPr txBox="1"/>
          <p:nvPr/>
        </p:nvSpPr>
        <p:spPr>
          <a:xfrm>
            <a:off x="5429931" y="3604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8"/>
          <p:cNvSpPr txBox="1"/>
          <p:nvPr/>
        </p:nvSpPr>
        <p:spPr>
          <a:xfrm>
            <a:off x="6627751" y="231150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8"/>
          <p:cNvSpPr txBox="1"/>
          <p:nvPr/>
        </p:nvSpPr>
        <p:spPr>
          <a:xfrm>
            <a:off x="7213125" y="157547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8"/>
          <p:cNvSpPr txBox="1"/>
          <p:nvPr/>
        </p:nvSpPr>
        <p:spPr>
          <a:xfrm>
            <a:off x="5820281" y="16526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88"/>
          <p:cNvSpPr txBox="1"/>
          <p:nvPr/>
        </p:nvSpPr>
        <p:spPr>
          <a:xfrm>
            <a:off x="5346856" y="284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8"/>
          <p:cNvSpPr txBox="1"/>
          <p:nvPr/>
        </p:nvSpPr>
        <p:spPr>
          <a:xfrm>
            <a:off x="6208406" y="2561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8"/>
          <p:cNvSpPr txBox="1"/>
          <p:nvPr/>
        </p:nvSpPr>
        <p:spPr>
          <a:xfrm>
            <a:off x="5680724" y="21599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8"/>
          <p:cNvSpPr txBox="1"/>
          <p:nvPr/>
        </p:nvSpPr>
        <p:spPr>
          <a:xfrm>
            <a:off x="5127000" y="1113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440" name="Google Shape;1440;p88"/>
          <p:cNvSpPr txBox="1"/>
          <p:nvPr/>
        </p:nvSpPr>
        <p:spPr>
          <a:xfrm>
            <a:off x="5973350" y="3460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88"/>
          <p:cNvSpPr txBox="1"/>
          <p:nvPr/>
        </p:nvSpPr>
        <p:spPr>
          <a:xfrm>
            <a:off x="324000" y="4190550"/>
            <a:ext cx="2846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P(not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and 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8"/>
          <p:cNvSpPr txBox="1"/>
          <p:nvPr/>
        </p:nvSpPr>
        <p:spPr>
          <a:xfrm>
            <a:off x="7765606" y="3460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8"/>
          <p:cNvSpPr txBox="1"/>
          <p:nvPr/>
        </p:nvSpPr>
        <p:spPr>
          <a:xfrm>
            <a:off x="6628806" y="3101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11}&quot;&gt;&lt;mfrac&gt;&lt;mn&gt;2&lt;/mn&gt;&lt;mn&gt;11&lt;/mn&gt;&lt;/mfrac&gt;&lt;/math&gt;" id="1444" name="Google Shape;1444;p88" title="2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001" y="1247300"/>
            <a:ext cx="250800" cy="454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1}&quot;&gt;&lt;mfrac&gt;&lt;mn&gt;2&lt;/mn&gt;&lt;mn&gt;11&lt;/mn&gt;&lt;/mfrac&gt;&lt;/math&gt;" id="1445" name="Google Shape;1445;p88" title="2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276" y="1932550"/>
            <a:ext cx="250800" cy="454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1}&quot;&gt;&lt;mfrac&gt;&lt;mn&gt;4&lt;/mn&gt;&lt;mn&gt;11&lt;/mn&gt;&lt;/mfrac&gt;&lt;/math&gt;" id="1446" name="Google Shape;1446;p88" title="4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1399" y="2700000"/>
            <a:ext cx="249805" cy="457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1}&quot;&gt;&lt;mfrac&gt;&lt;mn&gt;3&lt;/mn&gt;&lt;mn&gt;11&lt;/mn&gt;&lt;/mfrac&gt;&lt;/math&gt;" id="1447" name="Google Shape;1447;p88" title="3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5092" y="3386963"/>
            <a:ext cx="250667" cy="454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1}&quot;&gt;&lt;mfrac&gt;&lt;mn&gt;2&lt;/mn&gt;&lt;mn&gt;11&lt;/mn&gt;&lt;/mfrac&gt;&lt;/math&gt;" id="1448" name="Google Shape;1448;p88" title="2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026" y="4116850"/>
            <a:ext cx="250800" cy="4549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88"/>
          <p:cNvSpPr txBox="1"/>
          <p:nvPr/>
        </p:nvSpPr>
        <p:spPr>
          <a:xfrm>
            <a:off x="7813075" y="13208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455" name="Google Shape;1455;p89"/>
          <p:cNvSpPr txBox="1"/>
          <p:nvPr/>
        </p:nvSpPr>
        <p:spPr>
          <a:xfrm>
            <a:off x="324000" y="759300"/>
            <a:ext cx="823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shows the number of outcomes in each event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40 outcomes in the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Venn diagram given these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probabilities.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9"/>
          <p:cNvSpPr/>
          <p:nvPr/>
        </p:nvSpPr>
        <p:spPr>
          <a:xfrm>
            <a:off x="6117975" y="1240950"/>
            <a:ext cx="2319900" cy="21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9"/>
          <p:cNvSpPr/>
          <p:nvPr/>
        </p:nvSpPr>
        <p:spPr>
          <a:xfrm>
            <a:off x="6312225" y="13983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9"/>
          <p:cNvSpPr/>
          <p:nvPr/>
        </p:nvSpPr>
        <p:spPr>
          <a:xfrm>
            <a:off x="7016250" y="139830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9"/>
          <p:cNvSpPr/>
          <p:nvPr/>
        </p:nvSpPr>
        <p:spPr>
          <a:xfrm>
            <a:off x="6686925" y="2009150"/>
            <a:ext cx="1212000" cy="1212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9"/>
          <p:cNvSpPr txBox="1"/>
          <p:nvPr/>
        </p:nvSpPr>
        <p:spPr>
          <a:xfrm>
            <a:off x="6273350" y="13142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9"/>
          <p:cNvSpPr txBox="1"/>
          <p:nvPr/>
        </p:nvSpPr>
        <p:spPr>
          <a:xfrm>
            <a:off x="8037509" y="13142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9"/>
          <p:cNvSpPr txBox="1"/>
          <p:nvPr/>
        </p:nvSpPr>
        <p:spPr>
          <a:xfrm>
            <a:off x="5897500" y="12390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463" name="Google Shape;1463;p89"/>
          <p:cNvSpPr txBox="1"/>
          <p:nvPr/>
        </p:nvSpPr>
        <p:spPr>
          <a:xfrm>
            <a:off x="6686934" y="30516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9"/>
          <p:cNvSpPr txBox="1"/>
          <p:nvPr/>
        </p:nvSpPr>
        <p:spPr>
          <a:xfrm>
            <a:off x="7728075" y="17013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9"/>
          <p:cNvSpPr txBox="1"/>
          <p:nvPr/>
        </p:nvSpPr>
        <p:spPr>
          <a:xfrm>
            <a:off x="6621800" y="17013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9"/>
          <p:cNvSpPr txBox="1"/>
          <p:nvPr/>
        </p:nvSpPr>
        <p:spPr>
          <a:xfrm>
            <a:off x="7167525" y="27134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9"/>
          <p:cNvSpPr txBox="1"/>
          <p:nvPr/>
        </p:nvSpPr>
        <p:spPr>
          <a:xfrm>
            <a:off x="7557511" y="2249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9"/>
          <p:cNvSpPr txBox="1"/>
          <p:nvPr/>
        </p:nvSpPr>
        <p:spPr>
          <a:xfrm>
            <a:off x="705000" y="2425800"/>
            <a:ext cx="1254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P(not A)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89"/>
          <p:cNvSpPr txBox="1"/>
          <p:nvPr/>
        </p:nvSpPr>
        <p:spPr>
          <a:xfrm>
            <a:off x="705000" y="3090250"/>
            <a:ext cx="202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 and not C)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1}{40}&quot;&gt;&lt;mfrac&gt;&lt;mn&gt;21&lt;/mn&gt;&lt;mn&gt;40&lt;/mn&gt;&lt;/mfrac&gt;&lt;/math&gt;" id="1470" name="Google Shape;1470;p89" title="21 over 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999" y="2340846"/>
            <a:ext cx="250800" cy="461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471" name="Google Shape;1471;p89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6399" y="3009100"/>
            <a:ext cx="250800" cy="46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89"/>
          <p:cNvSpPr txBox="1"/>
          <p:nvPr/>
        </p:nvSpPr>
        <p:spPr>
          <a:xfrm>
            <a:off x="705000" y="3754700"/>
            <a:ext cx="1254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40}&quot;&gt;&lt;mfrac&gt;&lt;mn&gt;13&lt;/mn&gt;&lt;mn&gt;40&lt;/mn&gt;&lt;/mfrac&gt;&lt;/math&gt;" id="1473" name="Google Shape;1473;p89" title="13 over 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9299" y="3665675"/>
            <a:ext cx="250800" cy="46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89"/>
          <p:cNvSpPr txBox="1"/>
          <p:nvPr/>
        </p:nvSpPr>
        <p:spPr>
          <a:xfrm>
            <a:off x="7174938" y="166936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89"/>
          <p:cNvSpPr txBox="1"/>
          <p:nvPr/>
        </p:nvSpPr>
        <p:spPr>
          <a:xfrm>
            <a:off x="7208388" y="20330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89"/>
          <p:cNvSpPr txBox="1"/>
          <p:nvPr/>
        </p:nvSpPr>
        <p:spPr>
          <a:xfrm>
            <a:off x="6850696" y="22616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89"/>
          <p:cNvSpPr txBox="1"/>
          <p:nvPr/>
        </p:nvSpPr>
        <p:spPr>
          <a:xfrm>
            <a:off x="8146096" y="30236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probabilities of combined events</a:t>
            </a:r>
            <a:endParaRPr/>
          </a:p>
        </p:txBody>
      </p:sp>
      <p:sp>
        <p:nvSpPr>
          <p:cNvPr id="1483" name="Google Shape;1483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484" name="Google Shape;1484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  <p:pic>
        <p:nvPicPr>
          <p:cNvPr id="1485" name="Google Shape;14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75" y="29883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91"/>
          <p:cNvSpPr/>
          <p:nvPr/>
        </p:nvSpPr>
        <p:spPr>
          <a:xfrm>
            <a:off x="5661075" y="863475"/>
            <a:ext cx="31653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1"/>
          <p:cNvSpPr/>
          <p:nvPr/>
        </p:nvSpPr>
        <p:spPr>
          <a:xfrm>
            <a:off x="6914875" y="1088493"/>
            <a:ext cx="1606200" cy="16062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1"/>
          <p:cNvSpPr/>
          <p:nvPr/>
        </p:nvSpPr>
        <p:spPr>
          <a:xfrm>
            <a:off x="5924275" y="1088493"/>
            <a:ext cx="1606200" cy="16062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1"/>
          <p:cNvSpPr/>
          <p:nvPr/>
        </p:nvSpPr>
        <p:spPr>
          <a:xfrm>
            <a:off x="5924275" y="1088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1"/>
          <p:cNvSpPr txBox="1"/>
          <p:nvPr>
            <p:ph idx="1" type="body"/>
          </p:nvPr>
        </p:nvSpPr>
        <p:spPr>
          <a:xfrm>
            <a:off x="324000" y="759300"/>
            <a:ext cx="48891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Venn diagram shows outcomes for two events, A and B.</a:t>
            </a:r>
            <a:endParaRPr sz="1800"/>
          </a:p>
        </p:txBody>
      </p:sp>
      <p:sp>
        <p:nvSpPr>
          <p:cNvPr id="1495" name="Google Shape;149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496" name="Google Shape;1496;p91"/>
          <p:cNvSpPr txBox="1"/>
          <p:nvPr/>
        </p:nvSpPr>
        <p:spPr>
          <a:xfrm>
            <a:off x="5978650" y="1040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1"/>
          <p:cNvSpPr/>
          <p:nvPr/>
        </p:nvSpPr>
        <p:spPr>
          <a:xfrm>
            <a:off x="6914875" y="1088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1"/>
          <p:cNvSpPr txBox="1"/>
          <p:nvPr/>
        </p:nvSpPr>
        <p:spPr>
          <a:xfrm>
            <a:off x="8281800" y="1040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1"/>
          <p:cNvSpPr txBox="1"/>
          <p:nvPr/>
        </p:nvSpPr>
        <p:spPr>
          <a:xfrm>
            <a:off x="6297181" y="12716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1"/>
          <p:cNvSpPr txBox="1"/>
          <p:nvPr/>
        </p:nvSpPr>
        <p:spPr>
          <a:xfrm>
            <a:off x="7108256" y="13633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1"/>
          <p:cNvSpPr txBox="1"/>
          <p:nvPr/>
        </p:nvSpPr>
        <p:spPr>
          <a:xfrm>
            <a:off x="8532606" y="248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1"/>
          <p:cNvSpPr txBox="1"/>
          <p:nvPr/>
        </p:nvSpPr>
        <p:spPr>
          <a:xfrm>
            <a:off x="7247406" y="17166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1"/>
          <p:cNvSpPr txBox="1"/>
          <p:nvPr/>
        </p:nvSpPr>
        <p:spPr>
          <a:xfrm>
            <a:off x="6507331" y="1924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91"/>
          <p:cNvSpPr txBox="1"/>
          <p:nvPr/>
        </p:nvSpPr>
        <p:spPr>
          <a:xfrm>
            <a:off x="7953881" y="1423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91"/>
          <p:cNvSpPr txBox="1"/>
          <p:nvPr/>
        </p:nvSpPr>
        <p:spPr>
          <a:xfrm>
            <a:off x="5880256" y="2542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91"/>
          <p:cNvSpPr txBox="1"/>
          <p:nvPr/>
        </p:nvSpPr>
        <p:spPr>
          <a:xfrm>
            <a:off x="7649081" y="2006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91"/>
          <p:cNvSpPr txBox="1"/>
          <p:nvPr/>
        </p:nvSpPr>
        <p:spPr>
          <a:xfrm>
            <a:off x="7154720" y="258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91"/>
          <p:cNvSpPr txBox="1"/>
          <p:nvPr/>
        </p:nvSpPr>
        <p:spPr>
          <a:xfrm>
            <a:off x="7072736" y="20920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91"/>
          <p:cNvSpPr txBox="1"/>
          <p:nvPr/>
        </p:nvSpPr>
        <p:spPr>
          <a:xfrm>
            <a:off x="5491350" y="772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91"/>
          <p:cNvSpPr txBox="1"/>
          <p:nvPr>
            <p:ph idx="1" type="body"/>
          </p:nvPr>
        </p:nvSpPr>
        <p:spPr>
          <a:xfrm>
            <a:off x="324000" y="1640500"/>
            <a:ext cx="488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in event A?</a:t>
            </a:r>
            <a:endParaRPr sz="1800"/>
          </a:p>
        </p:txBody>
      </p:sp>
      <p:sp>
        <p:nvSpPr>
          <p:cNvPr id="1511" name="Google Shape;1511;p91"/>
          <p:cNvSpPr txBox="1"/>
          <p:nvPr>
            <p:ph idx="1" type="body"/>
          </p:nvPr>
        </p:nvSpPr>
        <p:spPr>
          <a:xfrm>
            <a:off x="476400" y="1945300"/>
            <a:ext cx="488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2, 4, 5, 10}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2" name="Google Shape;1512;p91"/>
          <p:cNvSpPr txBox="1"/>
          <p:nvPr>
            <p:ph idx="1" type="body"/>
          </p:nvPr>
        </p:nvSpPr>
        <p:spPr>
          <a:xfrm>
            <a:off x="324000" y="2369225"/>
            <a:ext cx="488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in event B?</a:t>
            </a:r>
            <a:endParaRPr sz="1800"/>
          </a:p>
        </p:txBody>
      </p:sp>
      <p:sp>
        <p:nvSpPr>
          <p:cNvPr id="1513" name="Google Shape;1513;p91"/>
          <p:cNvSpPr txBox="1"/>
          <p:nvPr>
            <p:ph idx="1" type="body"/>
          </p:nvPr>
        </p:nvSpPr>
        <p:spPr>
          <a:xfrm>
            <a:off x="476400" y="2694700"/>
            <a:ext cx="488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4, 6, 8, 10}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4" name="Google Shape;1514;p91"/>
          <p:cNvSpPr txBox="1"/>
          <p:nvPr>
            <p:ph idx="1" type="body"/>
          </p:nvPr>
        </p:nvSpPr>
        <p:spPr>
          <a:xfrm>
            <a:off x="324000" y="3131225"/>
            <a:ext cx="8502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you need an outcome that is in event A </a:t>
            </a:r>
            <a:r>
              <a:rPr lang="en-GB" sz="1800">
                <a:solidFill>
                  <a:schemeClr val="accent5"/>
                </a:solidFill>
              </a:rPr>
              <a:t>or </a:t>
            </a:r>
            <a:r>
              <a:rPr lang="en-GB" sz="1800"/>
              <a:t>event B, which would be okay?</a:t>
            </a:r>
            <a:endParaRPr sz="1800"/>
          </a:p>
        </p:txBody>
      </p:sp>
      <p:sp>
        <p:nvSpPr>
          <p:cNvPr id="1515" name="Google Shape;1515;p91"/>
          <p:cNvSpPr txBox="1"/>
          <p:nvPr>
            <p:ph idx="1" type="body"/>
          </p:nvPr>
        </p:nvSpPr>
        <p:spPr>
          <a:xfrm>
            <a:off x="552600" y="3609100"/>
            <a:ext cx="8230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2, 4, 5, 6, 8, 10} as they are either in event A, in event B or in both.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the combination of both events.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92"/>
          <p:cNvSpPr/>
          <p:nvPr/>
        </p:nvSpPr>
        <p:spPr>
          <a:xfrm>
            <a:off x="5661075" y="863475"/>
            <a:ext cx="3165300" cy="20550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92"/>
          <p:cNvSpPr/>
          <p:nvPr/>
        </p:nvSpPr>
        <p:spPr>
          <a:xfrm>
            <a:off x="5661075" y="863475"/>
            <a:ext cx="31653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92"/>
          <p:cNvSpPr/>
          <p:nvPr/>
        </p:nvSpPr>
        <p:spPr>
          <a:xfrm>
            <a:off x="5924275" y="10884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92"/>
          <p:cNvSpPr/>
          <p:nvPr/>
        </p:nvSpPr>
        <p:spPr>
          <a:xfrm>
            <a:off x="6914875" y="10884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2"/>
          <p:cNvSpPr txBox="1"/>
          <p:nvPr>
            <p:ph idx="1" type="body"/>
          </p:nvPr>
        </p:nvSpPr>
        <p:spPr>
          <a:xfrm>
            <a:off x="324000" y="759300"/>
            <a:ext cx="4761600" cy="10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n outcome is to be selected at random.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Use the Venn diagram to find these probabilities.</a:t>
            </a:r>
            <a:endParaRPr sz="1800"/>
          </a:p>
        </p:txBody>
      </p:sp>
      <p:sp>
        <p:nvSpPr>
          <p:cNvPr id="1525" name="Google Shape;152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526" name="Google Shape;1526;p92"/>
          <p:cNvSpPr/>
          <p:nvPr/>
        </p:nvSpPr>
        <p:spPr>
          <a:xfrm>
            <a:off x="5924275" y="1088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92"/>
          <p:cNvSpPr txBox="1"/>
          <p:nvPr/>
        </p:nvSpPr>
        <p:spPr>
          <a:xfrm>
            <a:off x="5978650" y="1040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92"/>
          <p:cNvSpPr/>
          <p:nvPr/>
        </p:nvSpPr>
        <p:spPr>
          <a:xfrm>
            <a:off x="6914875" y="1088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92"/>
          <p:cNvSpPr txBox="1"/>
          <p:nvPr/>
        </p:nvSpPr>
        <p:spPr>
          <a:xfrm>
            <a:off x="8281800" y="1040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92"/>
          <p:cNvSpPr txBox="1"/>
          <p:nvPr/>
        </p:nvSpPr>
        <p:spPr>
          <a:xfrm>
            <a:off x="6297181" y="12716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1" name="Google Shape;153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6999" y="1239338"/>
            <a:ext cx="669575" cy="12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92"/>
          <p:cNvSpPr txBox="1"/>
          <p:nvPr/>
        </p:nvSpPr>
        <p:spPr>
          <a:xfrm>
            <a:off x="7108256" y="13633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2"/>
          <p:cNvSpPr txBox="1"/>
          <p:nvPr/>
        </p:nvSpPr>
        <p:spPr>
          <a:xfrm>
            <a:off x="8532606" y="248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2"/>
          <p:cNvSpPr txBox="1"/>
          <p:nvPr/>
        </p:nvSpPr>
        <p:spPr>
          <a:xfrm>
            <a:off x="7247406" y="17166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2"/>
          <p:cNvSpPr txBox="1"/>
          <p:nvPr/>
        </p:nvSpPr>
        <p:spPr>
          <a:xfrm>
            <a:off x="6507331" y="1924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92"/>
          <p:cNvSpPr txBox="1"/>
          <p:nvPr/>
        </p:nvSpPr>
        <p:spPr>
          <a:xfrm>
            <a:off x="7953881" y="1423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2"/>
          <p:cNvSpPr txBox="1"/>
          <p:nvPr/>
        </p:nvSpPr>
        <p:spPr>
          <a:xfrm>
            <a:off x="5880256" y="2542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92"/>
          <p:cNvSpPr txBox="1"/>
          <p:nvPr/>
        </p:nvSpPr>
        <p:spPr>
          <a:xfrm>
            <a:off x="7649081" y="2006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92"/>
          <p:cNvSpPr txBox="1"/>
          <p:nvPr/>
        </p:nvSpPr>
        <p:spPr>
          <a:xfrm>
            <a:off x="7154720" y="258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92"/>
          <p:cNvSpPr txBox="1"/>
          <p:nvPr/>
        </p:nvSpPr>
        <p:spPr>
          <a:xfrm>
            <a:off x="7072736" y="20920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92"/>
          <p:cNvSpPr txBox="1"/>
          <p:nvPr/>
        </p:nvSpPr>
        <p:spPr>
          <a:xfrm>
            <a:off x="5491350" y="772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542" name="Google Shape;1542;p92" title="seven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0050" y="1916063"/>
            <a:ext cx="250800" cy="4584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92"/>
          <p:cNvSpPr txBox="1"/>
          <p:nvPr>
            <p:ph idx="1" type="body"/>
          </p:nvPr>
        </p:nvSpPr>
        <p:spPr>
          <a:xfrm>
            <a:off x="1024500" y="2006700"/>
            <a:ext cx="13206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P(A or B) = </a:t>
            </a:r>
            <a:endParaRPr sz="1800"/>
          </a:p>
        </p:txBody>
      </p:sp>
      <p:sp>
        <p:nvSpPr>
          <p:cNvPr id="1544" name="Google Shape;1544;p92"/>
          <p:cNvSpPr txBox="1"/>
          <p:nvPr>
            <p:ph idx="1" type="body"/>
          </p:nvPr>
        </p:nvSpPr>
        <p:spPr>
          <a:xfrm>
            <a:off x="1021325" y="2714250"/>
            <a:ext cx="2065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P(not A or not B) = </a:t>
            </a:r>
            <a:endParaRPr sz="1800"/>
          </a:p>
        </p:txBody>
      </p:sp>
      <p:sp>
        <p:nvSpPr>
          <p:cNvPr id="1545" name="Google Shape;1545;p92"/>
          <p:cNvSpPr txBox="1"/>
          <p:nvPr>
            <p:ph idx="1" type="body"/>
          </p:nvPr>
        </p:nvSpPr>
        <p:spPr>
          <a:xfrm>
            <a:off x="365400" y="3297950"/>
            <a:ext cx="3383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‘not A’?</a:t>
            </a:r>
            <a:endParaRPr sz="1800"/>
          </a:p>
        </p:txBody>
      </p:sp>
      <p:sp>
        <p:nvSpPr>
          <p:cNvPr id="1546" name="Google Shape;1546;p92"/>
          <p:cNvSpPr txBox="1"/>
          <p:nvPr>
            <p:ph idx="1" type="body"/>
          </p:nvPr>
        </p:nvSpPr>
        <p:spPr>
          <a:xfrm>
            <a:off x="1314600" y="3697900"/>
            <a:ext cx="1648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{3, 6, 7, 8, 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7" name="Google Shape;1547;p92"/>
          <p:cNvSpPr txBox="1"/>
          <p:nvPr>
            <p:ph idx="1" type="body"/>
          </p:nvPr>
        </p:nvSpPr>
        <p:spPr>
          <a:xfrm>
            <a:off x="4730875" y="3297950"/>
            <a:ext cx="3383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‘not B’?</a:t>
            </a:r>
            <a:endParaRPr sz="1800"/>
          </a:p>
        </p:txBody>
      </p:sp>
      <p:sp>
        <p:nvSpPr>
          <p:cNvPr id="1548" name="Google Shape;1548;p92"/>
          <p:cNvSpPr txBox="1"/>
          <p:nvPr>
            <p:ph idx="1" type="body"/>
          </p:nvPr>
        </p:nvSpPr>
        <p:spPr>
          <a:xfrm>
            <a:off x="5661075" y="3697900"/>
            <a:ext cx="1648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3, 5, 7, 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9" name="Google Shape;1549;p92"/>
          <p:cNvSpPr txBox="1"/>
          <p:nvPr>
            <p:ph idx="1" type="body"/>
          </p:nvPr>
        </p:nvSpPr>
        <p:spPr>
          <a:xfrm>
            <a:off x="365400" y="4288550"/>
            <a:ext cx="50100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either ‘not A’ or ‘not B’?</a:t>
            </a:r>
            <a:endParaRPr sz="1800"/>
          </a:p>
        </p:txBody>
      </p:sp>
      <p:sp>
        <p:nvSpPr>
          <p:cNvPr id="1550" name="Google Shape;1550;p92"/>
          <p:cNvSpPr txBox="1"/>
          <p:nvPr>
            <p:ph idx="1" type="body"/>
          </p:nvPr>
        </p:nvSpPr>
        <p:spPr>
          <a:xfrm>
            <a:off x="5661075" y="4307500"/>
            <a:ext cx="2238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3, 5, 6, 7, 8, 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551" name="Google Shape;1551;p92" title="seven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7900" y="2655263"/>
            <a:ext cx="250800" cy="45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" name="Google Shape;1556;p93"/>
          <p:cNvGrpSpPr/>
          <p:nvPr/>
        </p:nvGrpSpPr>
        <p:grpSpPr>
          <a:xfrm rot="10800000">
            <a:off x="3561825" y="2407324"/>
            <a:ext cx="1034267" cy="725442"/>
            <a:chOff x="3104626" y="2102525"/>
            <a:chExt cx="1034267" cy="725442"/>
          </a:xfrm>
        </p:grpSpPr>
        <p:pic>
          <p:nvPicPr>
            <p:cNvPr id="1557" name="Google Shape;1557;p93"/>
            <p:cNvPicPr preferRelativeResize="0"/>
            <p:nvPr/>
          </p:nvPicPr>
          <p:blipFill rotWithShape="1">
            <a:blip r:embed="rId3">
              <a:alphaModFix/>
            </a:blip>
            <a:srcRect b="0" l="16433" r="69081" t="84116"/>
            <a:stretch/>
          </p:blipFill>
          <p:spPr>
            <a:xfrm flipH="1">
              <a:off x="3104626" y="2339925"/>
              <a:ext cx="915999" cy="478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8" name="Google Shape;1558;p93"/>
            <p:cNvPicPr preferRelativeResize="0"/>
            <p:nvPr/>
          </p:nvPicPr>
          <p:blipFill rotWithShape="1">
            <a:blip r:embed="rId3">
              <a:alphaModFix/>
            </a:blip>
            <a:srcRect b="26923" l="0" r="88946" t="56278"/>
            <a:stretch/>
          </p:blipFill>
          <p:spPr>
            <a:xfrm flipH="1">
              <a:off x="3398601" y="2102525"/>
              <a:ext cx="699049" cy="50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9" name="Google Shape;1559;p93"/>
            <p:cNvPicPr preferRelativeResize="0"/>
            <p:nvPr/>
          </p:nvPicPr>
          <p:blipFill rotWithShape="1">
            <a:blip r:embed="rId3">
              <a:alphaModFix/>
            </a:blip>
            <a:srcRect b="0" l="-648" r="94196" t="83559"/>
            <a:stretch/>
          </p:blipFill>
          <p:spPr>
            <a:xfrm flipH="1">
              <a:off x="3730844" y="2332991"/>
              <a:ext cx="408049" cy="494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0" name="Google Shape;1560;p93"/>
            <p:cNvPicPr preferRelativeResize="0"/>
            <p:nvPr/>
          </p:nvPicPr>
          <p:blipFill rotWithShape="1">
            <a:blip r:embed="rId3">
              <a:alphaModFix/>
            </a:blip>
            <a:srcRect b="30921" l="21020" r="69081" t="58361"/>
            <a:stretch/>
          </p:blipFill>
          <p:spPr>
            <a:xfrm flipH="1">
              <a:off x="3104892" y="2159793"/>
              <a:ext cx="625951" cy="3226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61" name="Google Shape;1561;p93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107573" y="555550"/>
            <a:ext cx="1780326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563" name="Google Shape;1563;p93"/>
          <p:cNvSpPr/>
          <p:nvPr/>
        </p:nvSpPr>
        <p:spPr>
          <a:xfrm>
            <a:off x="5661075" y="863475"/>
            <a:ext cx="31653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93"/>
          <p:cNvSpPr/>
          <p:nvPr/>
        </p:nvSpPr>
        <p:spPr>
          <a:xfrm>
            <a:off x="5924275" y="1088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3"/>
          <p:cNvSpPr txBox="1"/>
          <p:nvPr/>
        </p:nvSpPr>
        <p:spPr>
          <a:xfrm>
            <a:off x="5978650" y="1040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3"/>
          <p:cNvSpPr/>
          <p:nvPr/>
        </p:nvSpPr>
        <p:spPr>
          <a:xfrm>
            <a:off x="6914875" y="1088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3"/>
          <p:cNvSpPr txBox="1"/>
          <p:nvPr/>
        </p:nvSpPr>
        <p:spPr>
          <a:xfrm>
            <a:off x="8281800" y="1040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3"/>
          <p:cNvSpPr txBox="1"/>
          <p:nvPr/>
        </p:nvSpPr>
        <p:spPr>
          <a:xfrm>
            <a:off x="6297181" y="12716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3"/>
          <p:cNvSpPr txBox="1"/>
          <p:nvPr/>
        </p:nvSpPr>
        <p:spPr>
          <a:xfrm>
            <a:off x="7108256" y="13633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3"/>
          <p:cNvSpPr txBox="1"/>
          <p:nvPr/>
        </p:nvSpPr>
        <p:spPr>
          <a:xfrm>
            <a:off x="8532606" y="248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3"/>
          <p:cNvSpPr txBox="1"/>
          <p:nvPr/>
        </p:nvSpPr>
        <p:spPr>
          <a:xfrm>
            <a:off x="7247406" y="17166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93"/>
          <p:cNvSpPr txBox="1"/>
          <p:nvPr/>
        </p:nvSpPr>
        <p:spPr>
          <a:xfrm>
            <a:off x="6507331" y="1924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93"/>
          <p:cNvSpPr txBox="1"/>
          <p:nvPr/>
        </p:nvSpPr>
        <p:spPr>
          <a:xfrm>
            <a:off x="7953881" y="1423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3"/>
          <p:cNvSpPr txBox="1"/>
          <p:nvPr/>
        </p:nvSpPr>
        <p:spPr>
          <a:xfrm>
            <a:off x="5880256" y="2542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93"/>
          <p:cNvSpPr txBox="1"/>
          <p:nvPr/>
        </p:nvSpPr>
        <p:spPr>
          <a:xfrm>
            <a:off x="7649081" y="2006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3"/>
          <p:cNvSpPr txBox="1"/>
          <p:nvPr/>
        </p:nvSpPr>
        <p:spPr>
          <a:xfrm>
            <a:off x="7154720" y="258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3"/>
          <p:cNvSpPr txBox="1"/>
          <p:nvPr/>
        </p:nvSpPr>
        <p:spPr>
          <a:xfrm>
            <a:off x="7072736" y="20920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3"/>
          <p:cNvSpPr txBox="1"/>
          <p:nvPr/>
        </p:nvSpPr>
        <p:spPr>
          <a:xfrm>
            <a:off x="5491350" y="772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3"/>
          <p:cNvSpPr txBox="1"/>
          <p:nvPr>
            <p:ph idx="1" type="body"/>
          </p:nvPr>
        </p:nvSpPr>
        <p:spPr>
          <a:xfrm>
            <a:off x="365400" y="3297950"/>
            <a:ext cx="3383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‘not A’?</a:t>
            </a:r>
            <a:endParaRPr sz="1800"/>
          </a:p>
        </p:txBody>
      </p:sp>
      <p:sp>
        <p:nvSpPr>
          <p:cNvPr id="1580" name="Google Shape;1580;p93"/>
          <p:cNvSpPr txBox="1"/>
          <p:nvPr>
            <p:ph idx="1" type="body"/>
          </p:nvPr>
        </p:nvSpPr>
        <p:spPr>
          <a:xfrm>
            <a:off x="1314600" y="3697900"/>
            <a:ext cx="1648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{3, 6, 7, 8, 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1" name="Google Shape;1581;p93"/>
          <p:cNvSpPr txBox="1"/>
          <p:nvPr>
            <p:ph idx="1" type="body"/>
          </p:nvPr>
        </p:nvSpPr>
        <p:spPr>
          <a:xfrm>
            <a:off x="4730875" y="3297950"/>
            <a:ext cx="3383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‘not B’?</a:t>
            </a:r>
            <a:endParaRPr sz="1800"/>
          </a:p>
        </p:txBody>
      </p:sp>
      <p:sp>
        <p:nvSpPr>
          <p:cNvPr id="1582" name="Google Shape;1582;p93"/>
          <p:cNvSpPr txBox="1"/>
          <p:nvPr>
            <p:ph idx="1" type="body"/>
          </p:nvPr>
        </p:nvSpPr>
        <p:spPr>
          <a:xfrm>
            <a:off x="5661075" y="3697900"/>
            <a:ext cx="1648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3, 5, 7, 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3" name="Google Shape;1583;p93"/>
          <p:cNvSpPr txBox="1"/>
          <p:nvPr>
            <p:ph idx="1" type="body"/>
          </p:nvPr>
        </p:nvSpPr>
        <p:spPr>
          <a:xfrm>
            <a:off x="365400" y="4288550"/>
            <a:ext cx="50100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outcomes are either ‘not A’ or ‘not B’?</a:t>
            </a:r>
            <a:endParaRPr sz="1800"/>
          </a:p>
        </p:txBody>
      </p:sp>
      <p:sp>
        <p:nvSpPr>
          <p:cNvPr id="1584" name="Google Shape;1584;p93"/>
          <p:cNvSpPr txBox="1"/>
          <p:nvPr>
            <p:ph idx="1" type="body"/>
          </p:nvPr>
        </p:nvSpPr>
        <p:spPr>
          <a:xfrm>
            <a:off x="5661075" y="4307500"/>
            <a:ext cx="2238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3, 5, 6, 7, 8, 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85" name="Google Shape;158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221" y="1271612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93"/>
          <p:cNvSpPr txBox="1"/>
          <p:nvPr/>
        </p:nvSpPr>
        <p:spPr>
          <a:xfrm>
            <a:off x="334725" y="2160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3"/>
          <p:cNvSpPr txBox="1"/>
          <p:nvPr>
            <p:ph idx="1" type="body"/>
          </p:nvPr>
        </p:nvSpPr>
        <p:spPr>
          <a:xfrm>
            <a:off x="1281697" y="719859"/>
            <a:ext cx="1606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 and 5 are in event A though?</a:t>
            </a:r>
            <a:endParaRPr sz="1800"/>
          </a:p>
        </p:txBody>
      </p:sp>
      <p:pic>
        <p:nvPicPr>
          <p:cNvPr id="1588" name="Google Shape;1588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592899" y="1966373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93"/>
          <p:cNvSpPr txBox="1"/>
          <p:nvPr/>
        </p:nvSpPr>
        <p:spPr>
          <a:xfrm flipH="1">
            <a:off x="4589478" y="288276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3"/>
          <p:cNvSpPr txBox="1"/>
          <p:nvPr>
            <p:ph idx="1" type="body"/>
          </p:nvPr>
        </p:nvSpPr>
        <p:spPr>
          <a:xfrm>
            <a:off x="3071550" y="699525"/>
            <a:ext cx="2155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</a:t>
            </a:r>
            <a:r>
              <a:rPr lang="en-GB" sz="1800"/>
              <a:t>satisfy</a:t>
            </a:r>
            <a:r>
              <a:rPr lang="en-GB" sz="1800"/>
              <a:t> the event ‘not B’ so are valid outcomes.</a:t>
            </a:r>
            <a:endParaRPr sz="1800"/>
          </a:p>
        </p:txBody>
      </p:sp>
      <p:pic>
        <p:nvPicPr>
          <p:cNvPr id="1591" name="Google Shape;1591;p93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2948200" y="541800"/>
            <a:ext cx="2452449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p93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rot="10800000">
            <a:off x="1140502" y="1926751"/>
            <a:ext cx="1996298" cy="127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93"/>
          <p:cNvSpPr txBox="1"/>
          <p:nvPr>
            <p:ph idx="1" type="body"/>
          </p:nvPr>
        </p:nvSpPr>
        <p:spPr>
          <a:xfrm>
            <a:off x="1281700" y="2091450"/>
            <a:ext cx="1780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if one event is satisfied it is included?</a:t>
            </a:r>
            <a:endParaRPr sz="1800"/>
          </a:p>
        </p:txBody>
      </p:sp>
      <p:sp>
        <p:nvSpPr>
          <p:cNvPr id="1594" name="Google Shape;1594;p93"/>
          <p:cNvSpPr txBox="1"/>
          <p:nvPr>
            <p:ph idx="1" type="body"/>
          </p:nvPr>
        </p:nvSpPr>
        <p:spPr>
          <a:xfrm>
            <a:off x="3825000" y="2658600"/>
            <a:ext cx="5145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Yes!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94"/>
          <p:cNvSpPr/>
          <p:nvPr/>
        </p:nvSpPr>
        <p:spPr>
          <a:xfrm>
            <a:off x="4935200" y="1246325"/>
            <a:ext cx="3434100" cy="2055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94"/>
          <p:cNvSpPr txBox="1"/>
          <p:nvPr>
            <p:ph idx="1" type="body"/>
          </p:nvPr>
        </p:nvSpPr>
        <p:spPr>
          <a:xfrm>
            <a:off x="324000" y="759300"/>
            <a:ext cx="3996000" cy="1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pupil is to be selected at random.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probability they study French or Spanish?</a:t>
            </a:r>
            <a:endParaRPr sz="1800"/>
          </a:p>
        </p:txBody>
      </p:sp>
      <p:sp>
        <p:nvSpPr>
          <p:cNvPr id="1601" name="Google Shape;160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602" name="Google Shape;1602;p94"/>
          <p:cNvSpPr txBox="1"/>
          <p:nvPr/>
        </p:nvSpPr>
        <p:spPr>
          <a:xfrm>
            <a:off x="4935200" y="345685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 = {studies French}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4"/>
          <p:cNvSpPr txBox="1"/>
          <p:nvPr/>
        </p:nvSpPr>
        <p:spPr>
          <a:xfrm>
            <a:off x="4931379" y="415905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{studies Spanish}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4"/>
          <p:cNvSpPr/>
          <p:nvPr/>
        </p:nvSpPr>
        <p:spPr>
          <a:xfrm>
            <a:off x="4935200" y="1244475"/>
            <a:ext cx="34341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4"/>
          <p:cNvSpPr txBox="1"/>
          <p:nvPr/>
        </p:nvSpPr>
        <p:spPr>
          <a:xfrm>
            <a:off x="4935200" y="8996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4"/>
          <p:cNvSpPr/>
          <p:nvPr/>
        </p:nvSpPr>
        <p:spPr>
          <a:xfrm>
            <a:off x="5314675" y="1469493"/>
            <a:ext cx="1606200" cy="16062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94"/>
          <p:cNvSpPr txBox="1"/>
          <p:nvPr/>
        </p:nvSpPr>
        <p:spPr>
          <a:xfrm>
            <a:off x="53690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94"/>
          <p:cNvSpPr/>
          <p:nvPr/>
        </p:nvSpPr>
        <p:spPr>
          <a:xfrm>
            <a:off x="6258812" y="1469493"/>
            <a:ext cx="1606200" cy="16062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94"/>
          <p:cNvSpPr txBox="1"/>
          <p:nvPr/>
        </p:nvSpPr>
        <p:spPr>
          <a:xfrm>
            <a:off x="76722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94"/>
          <p:cNvSpPr txBox="1"/>
          <p:nvPr/>
        </p:nvSpPr>
        <p:spPr>
          <a:xfrm>
            <a:off x="7672210" y="2928275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94"/>
          <p:cNvSpPr txBox="1"/>
          <p:nvPr/>
        </p:nvSpPr>
        <p:spPr>
          <a:xfrm>
            <a:off x="5400752" y="1880369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94"/>
          <p:cNvSpPr txBox="1"/>
          <p:nvPr/>
        </p:nvSpPr>
        <p:spPr>
          <a:xfrm>
            <a:off x="7133360" y="1929275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94"/>
          <p:cNvSpPr txBox="1"/>
          <p:nvPr/>
        </p:nvSpPr>
        <p:spPr>
          <a:xfrm>
            <a:off x="6287785" y="2117887"/>
            <a:ext cx="9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94"/>
          <p:cNvSpPr txBox="1"/>
          <p:nvPr/>
        </p:nvSpPr>
        <p:spPr>
          <a:xfrm>
            <a:off x="5694305" y="2540950"/>
            <a:ext cx="51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615" name="Google Shape;1615;p94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275" y="2160000"/>
            <a:ext cx="165405" cy="54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94"/>
          <p:cNvSpPr txBox="1"/>
          <p:nvPr>
            <p:ph idx="1" type="body"/>
          </p:nvPr>
        </p:nvSpPr>
        <p:spPr>
          <a:xfrm>
            <a:off x="1207675" y="2198925"/>
            <a:ext cx="3364200" cy="1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 Andeep and Jun study French, Sofia studies Spanish and Aisha studies French and Spanish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7" name="Google Shape;1617;p94"/>
          <p:cNvSpPr/>
          <p:nvPr/>
        </p:nvSpPr>
        <p:spPr>
          <a:xfrm>
            <a:off x="5314850" y="1470732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95"/>
          <p:cNvSpPr txBox="1"/>
          <p:nvPr>
            <p:ph idx="1" type="body"/>
          </p:nvPr>
        </p:nvSpPr>
        <p:spPr>
          <a:xfrm>
            <a:off x="4122050" y="1595775"/>
            <a:ext cx="4439700" cy="6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pupils have visited Spain or America?</a:t>
            </a:r>
            <a:endParaRPr sz="1800"/>
          </a:p>
        </p:txBody>
      </p:sp>
      <p:sp>
        <p:nvSpPr>
          <p:cNvPr id="1623" name="Google Shape;162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624" name="Google Shape;1624;p95"/>
          <p:cNvSpPr/>
          <p:nvPr/>
        </p:nvSpPr>
        <p:spPr>
          <a:xfrm>
            <a:off x="1380391" y="2549656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95"/>
          <p:cNvSpPr/>
          <p:nvPr/>
        </p:nvSpPr>
        <p:spPr>
          <a:xfrm>
            <a:off x="515600" y="1637670"/>
            <a:ext cx="3249300" cy="2693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95"/>
          <p:cNvSpPr txBox="1"/>
          <p:nvPr/>
        </p:nvSpPr>
        <p:spPr>
          <a:xfrm>
            <a:off x="363200" y="1616201"/>
            <a:ext cx="152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95"/>
          <p:cNvSpPr/>
          <p:nvPr/>
        </p:nvSpPr>
        <p:spPr>
          <a:xfrm>
            <a:off x="878759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5"/>
          <p:cNvSpPr txBox="1"/>
          <p:nvPr/>
        </p:nvSpPr>
        <p:spPr>
          <a:xfrm>
            <a:off x="926118" y="1804719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95"/>
          <p:cNvSpPr/>
          <p:nvPr/>
        </p:nvSpPr>
        <p:spPr>
          <a:xfrm>
            <a:off x="1822898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5"/>
          <p:cNvSpPr txBox="1"/>
          <p:nvPr/>
        </p:nvSpPr>
        <p:spPr>
          <a:xfrm>
            <a:off x="3105406" y="1804726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5"/>
          <p:cNvSpPr txBox="1"/>
          <p:nvPr/>
        </p:nvSpPr>
        <p:spPr>
          <a:xfrm>
            <a:off x="1862791" y="2578512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5"/>
          <p:cNvSpPr txBox="1"/>
          <p:nvPr/>
        </p:nvSpPr>
        <p:spPr>
          <a:xfrm>
            <a:off x="2398581" y="2089752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5"/>
          <p:cNvSpPr txBox="1"/>
          <p:nvPr/>
        </p:nvSpPr>
        <p:spPr>
          <a:xfrm>
            <a:off x="984429" y="2298039"/>
            <a:ext cx="6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95"/>
          <p:cNvSpPr txBox="1"/>
          <p:nvPr/>
        </p:nvSpPr>
        <p:spPr>
          <a:xfrm>
            <a:off x="1481834" y="2967515"/>
            <a:ext cx="4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5"/>
          <p:cNvSpPr txBox="1"/>
          <p:nvPr/>
        </p:nvSpPr>
        <p:spPr>
          <a:xfrm>
            <a:off x="1380398" y="3769344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5"/>
          <p:cNvSpPr txBox="1"/>
          <p:nvPr/>
        </p:nvSpPr>
        <p:spPr>
          <a:xfrm>
            <a:off x="1869357" y="22865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5"/>
          <p:cNvSpPr txBox="1"/>
          <p:nvPr/>
        </p:nvSpPr>
        <p:spPr>
          <a:xfrm>
            <a:off x="2842632" y="4001845"/>
            <a:ext cx="8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5"/>
          <p:cNvSpPr txBox="1"/>
          <p:nvPr/>
        </p:nvSpPr>
        <p:spPr>
          <a:xfrm>
            <a:off x="2330495" y="2957012"/>
            <a:ext cx="5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5"/>
          <p:cNvSpPr txBox="1"/>
          <p:nvPr/>
        </p:nvSpPr>
        <p:spPr>
          <a:xfrm>
            <a:off x="2703170" y="2546115"/>
            <a:ext cx="9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95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95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95"/>
          <p:cNvSpPr txBox="1"/>
          <p:nvPr/>
        </p:nvSpPr>
        <p:spPr>
          <a:xfrm>
            <a:off x="2531850" y="1113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95"/>
          <p:cNvSpPr txBox="1"/>
          <p:nvPr/>
        </p:nvSpPr>
        <p:spPr>
          <a:xfrm>
            <a:off x="4985400" y="1113701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95"/>
          <p:cNvSpPr txBox="1"/>
          <p:nvPr/>
        </p:nvSpPr>
        <p:spPr>
          <a:xfrm>
            <a:off x="1640757" y="35057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96"/>
          <p:cNvSpPr/>
          <p:nvPr/>
        </p:nvSpPr>
        <p:spPr>
          <a:xfrm>
            <a:off x="515600" y="1637670"/>
            <a:ext cx="3249300" cy="2693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6"/>
          <p:cNvSpPr/>
          <p:nvPr/>
        </p:nvSpPr>
        <p:spPr>
          <a:xfrm>
            <a:off x="878759" y="1835533"/>
            <a:ext cx="1519800" cy="15198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96"/>
          <p:cNvSpPr txBox="1"/>
          <p:nvPr>
            <p:ph idx="1" type="body"/>
          </p:nvPr>
        </p:nvSpPr>
        <p:spPr>
          <a:xfrm>
            <a:off x="4122050" y="1595775"/>
            <a:ext cx="4439700" cy="6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pupils have visited Spain or America?</a:t>
            </a:r>
            <a:endParaRPr sz="1800"/>
          </a:p>
        </p:txBody>
      </p:sp>
      <p:sp>
        <p:nvSpPr>
          <p:cNvPr id="1652" name="Google Shape;165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653" name="Google Shape;1653;p96"/>
          <p:cNvSpPr txBox="1"/>
          <p:nvPr/>
        </p:nvSpPr>
        <p:spPr>
          <a:xfrm>
            <a:off x="363200" y="1616201"/>
            <a:ext cx="152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96"/>
          <p:cNvSpPr/>
          <p:nvPr/>
        </p:nvSpPr>
        <p:spPr>
          <a:xfrm>
            <a:off x="1380391" y="2549656"/>
            <a:ext cx="1519800" cy="15198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96"/>
          <p:cNvSpPr/>
          <p:nvPr/>
        </p:nvSpPr>
        <p:spPr>
          <a:xfrm>
            <a:off x="1380391" y="2549656"/>
            <a:ext cx="1519800" cy="15198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96"/>
          <p:cNvSpPr/>
          <p:nvPr/>
        </p:nvSpPr>
        <p:spPr>
          <a:xfrm>
            <a:off x="878759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96"/>
          <p:cNvSpPr txBox="1"/>
          <p:nvPr/>
        </p:nvSpPr>
        <p:spPr>
          <a:xfrm>
            <a:off x="926118" y="1804719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96"/>
          <p:cNvSpPr/>
          <p:nvPr/>
        </p:nvSpPr>
        <p:spPr>
          <a:xfrm>
            <a:off x="1822898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96"/>
          <p:cNvSpPr txBox="1"/>
          <p:nvPr/>
        </p:nvSpPr>
        <p:spPr>
          <a:xfrm>
            <a:off x="3105406" y="1804726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96"/>
          <p:cNvSpPr txBox="1"/>
          <p:nvPr/>
        </p:nvSpPr>
        <p:spPr>
          <a:xfrm>
            <a:off x="1862791" y="2578512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96"/>
          <p:cNvSpPr txBox="1"/>
          <p:nvPr/>
        </p:nvSpPr>
        <p:spPr>
          <a:xfrm>
            <a:off x="2398581" y="2089752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96"/>
          <p:cNvSpPr txBox="1"/>
          <p:nvPr/>
        </p:nvSpPr>
        <p:spPr>
          <a:xfrm>
            <a:off x="984429" y="2298039"/>
            <a:ext cx="6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96"/>
          <p:cNvSpPr txBox="1"/>
          <p:nvPr/>
        </p:nvSpPr>
        <p:spPr>
          <a:xfrm>
            <a:off x="1481834" y="2967515"/>
            <a:ext cx="4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96"/>
          <p:cNvSpPr txBox="1"/>
          <p:nvPr/>
        </p:nvSpPr>
        <p:spPr>
          <a:xfrm>
            <a:off x="1380398" y="3769344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6"/>
          <p:cNvSpPr txBox="1"/>
          <p:nvPr/>
        </p:nvSpPr>
        <p:spPr>
          <a:xfrm>
            <a:off x="1869357" y="22865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6"/>
          <p:cNvSpPr txBox="1"/>
          <p:nvPr/>
        </p:nvSpPr>
        <p:spPr>
          <a:xfrm>
            <a:off x="2842632" y="4001845"/>
            <a:ext cx="8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96"/>
          <p:cNvSpPr txBox="1"/>
          <p:nvPr/>
        </p:nvSpPr>
        <p:spPr>
          <a:xfrm>
            <a:off x="2330495" y="2957012"/>
            <a:ext cx="5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6"/>
          <p:cNvSpPr txBox="1"/>
          <p:nvPr/>
        </p:nvSpPr>
        <p:spPr>
          <a:xfrm>
            <a:off x="2703170" y="2546115"/>
            <a:ext cx="9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96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96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96"/>
          <p:cNvSpPr txBox="1"/>
          <p:nvPr/>
        </p:nvSpPr>
        <p:spPr>
          <a:xfrm>
            <a:off x="2531850" y="1113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96"/>
          <p:cNvSpPr txBox="1"/>
          <p:nvPr/>
        </p:nvSpPr>
        <p:spPr>
          <a:xfrm>
            <a:off x="4985400" y="1113701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96"/>
          <p:cNvSpPr txBox="1"/>
          <p:nvPr/>
        </p:nvSpPr>
        <p:spPr>
          <a:xfrm>
            <a:off x="1640757" y="35057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4" name="Google Shape;1674;p96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571050" y="1961900"/>
            <a:ext cx="2303575" cy="133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6575" y="277280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96"/>
          <p:cNvSpPr txBox="1"/>
          <p:nvPr/>
        </p:nvSpPr>
        <p:spPr>
          <a:xfrm>
            <a:off x="7765850" y="38593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96"/>
          <p:cNvSpPr txBox="1"/>
          <p:nvPr>
            <p:ph idx="1" type="body"/>
          </p:nvPr>
        </p:nvSpPr>
        <p:spPr>
          <a:xfrm>
            <a:off x="5708566" y="2150509"/>
            <a:ext cx="2100900" cy="6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 of the pupils have visited Spain or America.</a:t>
            </a:r>
            <a:endParaRPr sz="1800"/>
          </a:p>
        </p:txBody>
      </p:sp>
      <p:sp>
        <p:nvSpPr>
          <p:cNvPr id="1678" name="Google Shape;1678;p96"/>
          <p:cNvSpPr/>
          <p:nvPr/>
        </p:nvSpPr>
        <p:spPr>
          <a:xfrm>
            <a:off x="934514" y="2289225"/>
            <a:ext cx="7647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96"/>
          <p:cNvSpPr/>
          <p:nvPr/>
        </p:nvSpPr>
        <p:spPr>
          <a:xfrm>
            <a:off x="1822897" y="2289225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96"/>
          <p:cNvSpPr/>
          <p:nvPr/>
        </p:nvSpPr>
        <p:spPr>
          <a:xfrm>
            <a:off x="2301697" y="2938850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96"/>
          <p:cNvSpPr/>
          <p:nvPr/>
        </p:nvSpPr>
        <p:spPr>
          <a:xfrm>
            <a:off x="1600300" y="3484939"/>
            <a:ext cx="7647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96"/>
          <p:cNvSpPr/>
          <p:nvPr/>
        </p:nvSpPr>
        <p:spPr>
          <a:xfrm>
            <a:off x="1438409" y="2967781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96"/>
          <p:cNvSpPr/>
          <p:nvPr/>
        </p:nvSpPr>
        <p:spPr>
          <a:xfrm>
            <a:off x="1833898" y="2586781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96"/>
          <p:cNvSpPr txBox="1"/>
          <p:nvPr>
            <p:ph idx="1" type="body"/>
          </p:nvPr>
        </p:nvSpPr>
        <p:spPr>
          <a:xfrm>
            <a:off x="4122050" y="3351975"/>
            <a:ext cx="3173100" cy="6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a random pupil is selected, what is the probability that they have visited Spain or America?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6}{9}=\frac{2}{3}&quot;&gt;&lt;mfrac&gt;&lt;mn&gt;6&lt;/mn&gt;&lt;mn&gt;9&lt;/mn&gt;&lt;/mfrac&gt;&lt;mo&gt;=&lt;/mo&gt;&lt;mfrac&gt;&lt;mn&gt;2&lt;/mn&gt;&lt;mn&gt;3&lt;/mn&gt;&lt;/mfrac&gt;&lt;/math&gt;" id="1685" name="Google Shape;1685;p96" title="six ninths equal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0171" y="4235575"/>
            <a:ext cx="609300" cy="465536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p96"/>
          <p:cNvSpPr/>
          <p:nvPr/>
        </p:nvSpPr>
        <p:spPr>
          <a:xfrm>
            <a:off x="1380391" y="2549656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96"/>
          <p:cNvSpPr/>
          <p:nvPr/>
        </p:nvSpPr>
        <p:spPr>
          <a:xfrm>
            <a:off x="2301697" y="2938850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96"/>
          <p:cNvSpPr/>
          <p:nvPr/>
        </p:nvSpPr>
        <p:spPr>
          <a:xfrm>
            <a:off x="1438409" y="2967781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96"/>
          <p:cNvSpPr/>
          <p:nvPr/>
        </p:nvSpPr>
        <p:spPr>
          <a:xfrm>
            <a:off x="1833898" y="2586781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96"/>
          <p:cNvSpPr/>
          <p:nvPr/>
        </p:nvSpPr>
        <p:spPr>
          <a:xfrm>
            <a:off x="1822897" y="2289225"/>
            <a:ext cx="562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97"/>
          <p:cNvSpPr/>
          <p:nvPr/>
        </p:nvSpPr>
        <p:spPr>
          <a:xfrm>
            <a:off x="533081" y="1637670"/>
            <a:ext cx="3249300" cy="2693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7"/>
          <p:cNvSpPr/>
          <p:nvPr/>
        </p:nvSpPr>
        <p:spPr>
          <a:xfrm>
            <a:off x="1822898" y="1832183"/>
            <a:ext cx="1519800" cy="15198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97"/>
          <p:cNvSpPr/>
          <p:nvPr/>
        </p:nvSpPr>
        <p:spPr>
          <a:xfrm>
            <a:off x="1380187" y="2550717"/>
            <a:ext cx="1519800" cy="15198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699" name="Google Shape;1699;p97"/>
          <p:cNvSpPr/>
          <p:nvPr/>
        </p:nvSpPr>
        <p:spPr>
          <a:xfrm>
            <a:off x="1380391" y="2549656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97"/>
          <p:cNvSpPr/>
          <p:nvPr/>
        </p:nvSpPr>
        <p:spPr>
          <a:xfrm>
            <a:off x="525319" y="1637670"/>
            <a:ext cx="3249300" cy="2693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97"/>
          <p:cNvSpPr txBox="1"/>
          <p:nvPr/>
        </p:nvSpPr>
        <p:spPr>
          <a:xfrm>
            <a:off x="363200" y="1616201"/>
            <a:ext cx="152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7"/>
          <p:cNvSpPr/>
          <p:nvPr/>
        </p:nvSpPr>
        <p:spPr>
          <a:xfrm>
            <a:off x="878759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7"/>
          <p:cNvSpPr txBox="1"/>
          <p:nvPr/>
        </p:nvSpPr>
        <p:spPr>
          <a:xfrm>
            <a:off x="926118" y="1804719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7"/>
          <p:cNvSpPr/>
          <p:nvPr/>
        </p:nvSpPr>
        <p:spPr>
          <a:xfrm>
            <a:off x="1822898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97"/>
          <p:cNvSpPr txBox="1"/>
          <p:nvPr/>
        </p:nvSpPr>
        <p:spPr>
          <a:xfrm>
            <a:off x="3105406" y="1804726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97"/>
          <p:cNvSpPr txBox="1"/>
          <p:nvPr/>
        </p:nvSpPr>
        <p:spPr>
          <a:xfrm>
            <a:off x="1862791" y="2578512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97"/>
          <p:cNvSpPr txBox="1"/>
          <p:nvPr/>
        </p:nvSpPr>
        <p:spPr>
          <a:xfrm>
            <a:off x="2398581" y="2089752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97"/>
          <p:cNvSpPr txBox="1"/>
          <p:nvPr/>
        </p:nvSpPr>
        <p:spPr>
          <a:xfrm>
            <a:off x="984429" y="2298039"/>
            <a:ext cx="6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97"/>
          <p:cNvSpPr txBox="1"/>
          <p:nvPr/>
        </p:nvSpPr>
        <p:spPr>
          <a:xfrm>
            <a:off x="1481834" y="2967515"/>
            <a:ext cx="4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7"/>
          <p:cNvSpPr txBox="1"/>
          <p:nvPr/>
        </p:nvSpPr>
        <p:spPr>
          <a:xfrm>
            <a:off x="1380398" y="3769344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7"/>
          <p:cNvSpPr txBox="1"/>
          <p:nvPr/>
        </p:nvSpPr>
        <p:spPr>
          <a:xfrm>
            <a:off x="1869357" y="22865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97"/>
          <p:cNvSpPr txBox="1"/>
          <p:nvPr/>
        </p:nvSpPr>
        <p:spPr>
          <a:xfrm>
            <a:off x="2842632" y="4001845"/>
            <a:ext cx="8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7"/>
          <p:cNvSpPr txBox="1"/>
          <p:nvPr/>
        </p:nvSpPr>
        <p:spPr>
          <a:xfrm>
            <a:off x="2330495" y="2957012"/>
            <a:ext cx="5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7"/>
          <p:cNvSpPr txBox="1"/>
          <p:nvPr/>
        </p:nvSpPr>
        <p:spPr>
          <a:xfrm>
            <a:off x="2703170" y="2546115"/>
            <a:ext cx="9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7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97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97"/>
          <p:cNvSpPr txBox="1"/>
          <p:nvPr/>
        </p:nvSpPr>
        <p:spPr>
          <a:xfrm>
            <a:off x="2531850" y="1113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97"/>
          <p:cNvSpPr txBox="1"/>
          <p:nvPr/>
        </p:nvSpPr>
        <p:spPr>
          <a:xfrm>
            <a:off x="1640757" y="35057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97"/>
          <p:cNvSpPr txBox="1"/>
          <p:nvPr/>
        </p:nvSpPr>
        <p:spPr>
          <a:xfrm>
            <a:off x="4985400" y="1113701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97"/>
          <p:cNvSpPr txBox="1"/>
          <p:nvPr>
            <p:ph idx="1" type="body"/>
          </p:nvPr>
        </p:nvSpPr>
        <p:spPr>
          <a:xfrm>
            <a:off x="4320000" y="1743725"/>
            <a:ext cx="4500000" cy="6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a random pupil is selected, what is the probability that they have visited France or America?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7}{9}&quot;&gt;&lt;mfrac&gt;&lt;mn&gt;7&lt;/mn&gt;&lt;mn&gt;9&lt;/mn&gt;&lt;/mfrac&gt;&lt;/math&gt;" id="1721" name="Google Shape;1721;p97" title="seven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2919500"/>
            <a:ext cx="152400" cy="4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98"/>
          <p:cNvSpPr/>
          <p:nvPr/>
        </p:nvSpPr>
        <p:spPr>
          <a:xfrm>
            <a:off x="525319" y="1637670"/>
            <a:ext cx="3249300" cy="2693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8"/>
          <p:cNvSpPr/>
          <p:nvPr/>
        </p:nvSpPr>
        <p:spPr>
          <a:xfrm>
            <a:off x="1822898" y="1832183"/>
            <a:ext cx="1519800" cy="1519800"/>
          </a:xfrm>
          <a:prstGeom prst="ellipse">
            <a:avLst/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8"/>
          <p:cNvSpPr/>
          <p:nvPr/>
        </p:nvSpPr>
        <p:spPr>
          <a:xfrm>
            <a:off x="1380187" y="2550717"/>
            <a:ext cx="1519800" cy="15198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730" name="Google Shape;1730;p98"/>
          <p:cNvSpPr/>
          <p:nvPr/>
        </p:nvSpPr>
        <p:spPr>
          <a:xfrm>
            <a:off x="1380391" y="2549656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8"/>
          <p:cNvSpPr txBox="1"/>
          <p:nvPr/>
        </p:nvSpPr>
        <p:spPr>
          <a:xfrm>
            <a:off x="363200" y="1616201"/>
            <a:ext cx="152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8"/>
          <p:cNvSpPr/>
          <p:nvPr/>
        </p:nvSpPr>
        <p:spPr>
          <a:xfrm>
            <a:off x="878759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8"/>
          <p:cNvSpPr txBox="1"/>
          <p:nvPr/>
        </p:nvSpPr>
        <p:spPr>
          <a:xfrm>
            <a:off x="926118" y="1804719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8"/>
          <p:cNvSpPr/>
          <p:nvPr/>
        </p:nvSpPr>
        <p:spPr>
          <a:xfrm>
            <a:off x="1822898" y="18321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98"/>
          <p:cNvSpPr txBox="1"/>
          <p:nvPr/>
        </p:nvSpPr>
        <p:spPr>
          <a:xfrm>
            <a:off x="3105406" y="1804726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98"/>
          <p:cNvSpPr txBox="1"/>
          <p:nvPr/>
        </p:nvSpPr>
        <p:spPr>
          <a:xfrm>
            <a:off x="1862791" y="2578512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8"/>
          <p:cNvSpPr txBox="1"/>
          <p:nvPr/>
        </p:nvSpPr>
        <p:spPr>
          <a:xfrm>
            <a:off x="2398581" y="2089752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98"/>
          <p:cNvSpPr txBox="1"/>
          <p:nvPr/>
        </p:nvSpPr>
        <p:spPr>
          <a:xfrm>
            <a:off x="984429" y="2298039"/>
            <a:ext cx="6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8"/>
          <p:cNvSpPr txBox="1"/>
          <p:nvPr/>
        </p:nvSpPr>
        <p:spPr>
          <a:xfrm>
            <a:off x="1481834" y="2967515"/>
            <a:ext cx="4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8"/>
          <p:cNvSpPr txBox="1"/>
          <p:nvPr/>
        </p:nvSpPr>
        <p:spPr>
          <a:xfrm>
            <a:off x="1380398" y="3769344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98"/>
          <p:cNvSpPr txBox="1"/>
          <p:nvPr/>
        </p:nvSpPr>
        <p:spPr>
          <a:xfrm>
            <a:off x="1869357" y="22865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98"/>
          <p:cNvSpPr txBox="1"/>
          <p:nvPr/>
        </p:nvSpPr>
        <p:spPr>
          <a:xfrm>
            <a:off x="2842632" y="4001845"/>
            <a:ext cx="8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8"/>
          <p:cNvSpPr txBox="1"/>
          <p:nvPr/>
        </p:nvSpPr>
        <p:spPr>
          <a:xfrm>
            <a:off x="2330495" y="2957012"/>
            <a:ext cx="5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8"/>
          <p:cNvSpPr txBox="1"/>
          <p:nvPr/>
        </p:nvSpPr>
        <p:spPr>
          <a:xfrm>
            <a:off x="2703170" y="2546115"/>
            <a:ext cx="9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8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8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98"/>
          <p:cNvSpPr txBox="1"/>
          <p:nvPr/>
        </p:nvSpPr>
        <p:spPr>
          <a:xfrm>
            <a:off x="2531850" y="1113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8"/>
          <p:cNvSpPr txBox="1"/>
          <p:nvPr/>
        </p:nvSpPr>
        <p:spPr>
          <a:xfrm>
            <a:off x="1640757" y="35057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8"/>
          <p:cNvSpPr txBox="1"/>
          <p:nvPr/>
        </p:nvSpPr>
        <p:spPr>
          <a:xfrm>
            <a:off x="4985400" y="1113701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8"/>
          <p:cNvSpPr txBox="1"/>
          <p:nvPr>
            <p:ph idx="1" type="body"/>
          </p:nvPr>
        </p:nvSpPr>
        <p:spPr>
          <a:xfrm>
            <a:off x="4320000" y="1743725"/>
            <a:ext cx="4500000" cy="6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a random pupil is selected, what is the probability that they haven’t visited America or that they </a:t>
            </a:r>
            <a:r>
              <a:rPr lang="en-GB" sz="1800"/>
              <a:t>have only visited France?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1751" name="Google Shape;1751;p98" title="fiv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750" y="2851363"/>
            <a:ext cx="152400" cy="50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99"/>
          <p:cNvSpPr/>
          <p:nvPr/>
        </p:nvSpPr>
        <p:spPr>
          <a:xfrm>
            <a:off x="5661075" y="1244475"/>
            <a:ext cx="31653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758" name="Google Shape;1758;p9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Venn diagram to answer the following questions.</a:t>
            </a:r>
            <a:endParaRPr sz="1800"/>
          </a:p>
        </p:txBody>
      </p:sp>
      <p:sp>
        <p:nvSpPr>
          <p:cNvPr id="1759" name="Google Shape;1759;p99"/>
          <p:cNvSpPr txBox="1"/>
          <p:nvPr>
            <p:ph idx="1" type="body"/>
          </p:nvPr>
        </p:nvSpPr>
        <p:spPr>
          <a:xfrm>
            <a:off x="324000" y="1152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 List the outcomes that are in event A.</a:t>
            </a:r>
            <a:endParaRPr sz="1800"/>
          </a:p>
        </p:txBody>
      </p:sp>
      <p:sp>
        <p:nvSpPr>
          <p:cNvPr id="1760" name="Google Shape;1760;p99"/>
          <p:cNvSpPr txBox="1"/>
          <p:nvPr>
            <p:ph idx="1" type="body"/>
          </p:nvPr>
        </p:nvSpPr>
        <p:spPr>
          <a:xfrm>
            <a:off x="324000" y="1914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List the outcomes that are not in event B.</a:t>
            </a:r>
            <a:endParaRPr sz="1800"/>
          </a:p>
        </p:txBody>
      </p:sp>
      <p:sp>
        <p:nvSpPr>
          <p:cNvPr id="1761" name="Google Shape;1761;p99"/>
          <p:cNvSpPr txBox="1"/>
          <p:nvPr>
            <p:ph idx="1" type="body"/>
          </p:nvPr>
        </p:nvSpPr>
        <p:spPr>
          <a:xfrm>
            <a:off x="324000" y="28289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Hence, list the outcomes that are in event A or not in event B.</a:t>
            </a:r>
            <a:endParaRPr sz="1800"/>
          </a:p>
        </p:txBody>
      </p:sp>
      <p:sp>
        <p:nvSpPr>
          <p:cNvPr id="1762" name="Google Shape;1762;p99"/>
          <p:cNvSpPr txBox="1"/>
          <p:nvPr>
            <p:ph idx="1" type="body"/>
          </p:nvPr>
        </p:nvSpPr>
        <p:spPr>
          <a:xfrm>
            <a:off x="324000" y="3819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Find P(A or not B) </a:t>
            </a:r>
            <a:endParaRPr sz="1800"/>
          </a:p>
        </p:txBody>
      </p:sp>
      <p:sp>
        <p:nvSpPr>
          <p:cNvPr id="1763" name="Google Shape;1763;p99"/>
          <p:cNvSpPr/>
          <p:nvPr/>
        </p:nvSpPr>
        <p:spPr>
          <a:xfrm>
            <a:off x="59242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9"/>
          <p:cNvSpPr txBox="1"/>
          <p:nvPr/>
        </p:nvSpPr>
        <p:spPr>
          <a:xfrm>
            <a:off x="59786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9"/>
          <p:cNvSpPr/>
          <p:nvPr/>
        </p:nvSpPr>
        <p:spPr>
          <a:xfrm>
            <a:off x="69148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9"/>
          <p:cNvSpPr txBox="1"/>
          <p:nvPr/>
        </p:nvSpPr>
        <p:spPr>
          <a:xfrm>
            <a:off x="82818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9"/>
          <p:cNvSpPr txBox="1"/>
          <p:nvPr/>
        </p:nvSpPr>
        <p:spPr>
          <a:xfrm>
            <a:off x="7625806" y="161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9"/>
          <p:cNvSpPr txBox="1"/>
          <p:nvPr/>
        </p:nvSpPr>
        <p:spPr>
          <a:xfrm>
            <a:off x="7118319" y="1886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9"/>
          <p:cNvSpPr txBox="1"/>
          <p:nvPr/>
        </p:nvSpPr>
        <p:spPr>
          <a:xfrm>
            <a:off x="7876606" y="2519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9"/>
          <p:cNvSpPr txBox="1"/>
          <p:nvPr/>
        </p:nvSpPr>
        <p:spPr>
          <a:xfrm>
            <a:off x="7791895" y="2069850"/>
            <a:ext cx="48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99"/>
          <p:cNvSpPr txBox="1"/>
          <p:nvPr/>
        </p:nvSpPr>
        <p:spPr>
          <a:xfrm>
            <a:off x="7118331" y="2349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99"/>
          <p:cNvSpPr txBox="1"/>
          <p:nvPr/>
        </p:nvSpPr>
        <p:spPr>
          <a:xfrm>
            <a:off x="8429206" y="2923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99"/>
          <p:cNvSpPr txBox="1"/>
          <p:nvPr/>
        </p:nvSpPr>
        <p:spPr>
          <a:xfrm>
            <a:off x="5880256" y="2923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99"/>
          <p:cNvSpPr txBox="1"/>
          <p:nvPr/>
        </p:nvSpPr>
        <p:spPr>
          <a:xfrm>
            <a:off x="6360056" y="2349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99"/>
          <p:cNvSpPr txBox="1"/>
          <p:nvPr/>
        </p:nvSpPr>
        <p:spPr>
          <a:xfrm>
            <a:off x="7154720" y="2969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99"/>
          <p:cNvSpPr txBox="1"/>
          <p:nvPr/>
        </p:nvSpPr>
        <p:spPr>
          <a:xfrm>
            <a:off x="6256811" y="17513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99"/>
          <p:cNvSpPr txBox="1"/>
          <p:nvPr/>
        </p:nvSpPr>
        <p:spPr>
          <a:xfrm>
            <a:off x="5491350" y="1153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783" name="Google Shape;1783;p10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</a:t>
            </a:r>
            <a:r>
              <a:rPr lang="en-GB" sz="1800"/>
              <a:t> Use the Venn diagram to answer the following questions.</a:t>
            </a:r>
            <a:endParaRPr sz="1800"/>
          </a:p>
        </p:txBody>
      </p:sp>
      <p:sp>
        <p:nvSpPr>
          <p:cNvPr id="1784" name="Google Shape;1784;p100"/>
          <p:cNvSpPr txBox="1"/>
          <p:nvPr>
            <p:ph idx="1" type="body"/>
          </p:nvPr>
        </p:nvSpPr>
        <p:spPr>
          <a:xfrm>
            <a:off x="324000" y="1152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Find P(A or B)</a:t>
            </a:r>
            <a:endParaRPr sz="1800"/>
          </a:p>
        </p:txBody>
      </p:sp>
      <p:sp>
        <p:nvSpPr>
          <p:cNvPr id="1785" name="Google Shape;1785;p100"/>
          <p:cNvSpPr txBox="1"/>
          <p:nvPr>
            <p:ph idx="1" type="body"/>
          </p:nvPr>
        </p:nvSpPr>
        <p:spPr>
          <a:xfrm>
            <a:off x="324000" y="2041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Find P(A or not B)</a:t>
            </a:r>
            <a:endParaRPr sz="1800"/>
          </a:p>
        </p:txBody>
      </p:sp>
      <p:sp>
        <p:nvSpPr>
          <p:cNvPr id="1786" name="Google Shape;1786;p100"/>
          <p:cNvSpPr txBox="1"/>
          <p:nvPr>
            <p:ph idx="1" type="body"/>
          </p:nvPr>
        </p:nvSpPr>
        <p:spPr>
          <a:xfrm>
            <a:off x="324000" y="2930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Find P(not A or not B)</a:t>
            </a:r>
            <a:endParaRPr sz="1800"/>
          </a:p>
        </p:txBody>
      </p:sp>
      <p:sp>
        <p:nvSpPr>
          <p:cNvPr id="1787" name="Google Shape;1787;p100"/>
          <p:cNvSpPr txBox="1"/>
          <p:nvPr>
            <p:ph idx="1" type="body"/>
          </p:nvPr>
        </p:nvSpPr>
        <p:spPr>
          <a:xfrm>
            <a:off x="324000" y="3819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Find P(only A or only B) </a:t>
            </a:r>
            <a:endParaRPr sz="1800"/>
          </a:p>
        </p:txBody>
      </p:sp>
      <p:sp>
        <p:nvSpPr>
          <p:cNvPr id="1788" name="Google Shape;1788;p100"/>
          <p:cNvSpPr/>
          <p:nvPr/>
        </p:nvSpPr>
        <p:spPr>
          <a:xfrm>
            <a:off x="5661075" y="1244475"/>
            <a:ext cx="31653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00"/>
          <p:cNvSpPr/>
          <p:nvPr/>
        </p:nvSpPr>
        <p:spPr>
          <a:xfrm>
            <a:off x="59242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00"/>
          <p:cNvSpPr txBox="1"/>
          <p:nvPr/>
        </p:nvSpPr>
        <p:spPr>
          <a:xfrm>
            <a:off x="59786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00"/>
          <p:cNvSpPr/>
          <p:nvPr/>
        </p:nvSpPr>
        <p:spPr>
          <a:xfrm>
            <a:off x="69148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00"/>
          <p:cNvSpPr txBox="1"/>
          <p:nvPr/>
        </p:nvSpPr>
        <p:spPr>
          <a:xfrm>
            <a:off x="82818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00"/>
          <p:cNvSpPr txBox="1"/>
          <p:nvPr/>
        </p:nvSpPr>
        <p:spPr>
          <a:xfrm>
            <a:off x="7625806" y="161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00"/>
          <p:cNvSpPr txBox="1"/>
          <p:nvPr/>
        </p:nvSpPr>
        <p:spPr>
          <a:xfrm>
            <a:off x="7118319" y="1886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00"/>
          <p:cNvSpPr txBox="1"/>
          <p:nvPr/>
        </p:nvSpPr>
        <p:spPr>
          <a:xfrm>
            <a:off x="7774597" y="251970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00"/>
          <p:cNvSpPr txBox="1"/>
          <p:nvPr/>
        </p:nvSpPr>
        <p:spPr>
          <a:xfrm>
            <a:off x="7791895" y="2069850"/>
            <a:ext cx="48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00"/>
          <p:cNvSpPr txBox="1"/>
          <p:nvPr/>
        </p:nvSpPr>
        <p:spPr>
          <a:xfrm>
            <a:off x="7118331" y="2349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00"/>
          <p:cNvSpPr txBox="1"/>
          <p:nvPr/>
        </p:nvSpPr>
        <p:spPr>
          <a:xfrm>
            <a:off x="8429195" y="2923600"/>
            <a:ext cx="44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00"/>
          <p:cNvSpPr txBox="1"/>
          <p:nvPr/>
        </p:nvSpPr>
        <p:spPr>
          <a:xfrm>
            <a:off x="6601981" y="269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00"/>
          <p:cNvSpPr txBox="1"/>
          <p:nvPr/>
        </p:nvSpPr>
        <p:spPr>
          <a:xfrm>
            <a:off x="6229447" y="223525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00"/>
          <p:cNvSpPr txBox="1"/>
          <p:nvPr/>
        </p:nvSpPr>
        <p:spPr>
          <a:xfrm>
            <a:off x="7154720" y="2969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00"/>
          <p:cNvSpPr txBox="1"/>
          <p:nvPr/>
        </p:nvSpPr>
        <p:spPr>
          <a:xfrm>
            <a:off x="6256811" y="17513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00"/>
          <p:cNvSpPr txBox="1"/>
          <p:nvPr/>
        </p:nvSpPr>
        <p:spPr>
          <a:xfrm>
            <a:off x="5491350" y="1153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809" name="Google Shape;1809;p10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Use the Venn diagram to answer the following questions.</a:t>
            </a:r>
            <a:endParaRPr sz="1800"/>
          </a:p>
        </p:txBody>
      </p:sp>
      <p:sp>
        <p:nvSpPr>
          <p:cNvPr id="1810" name="Google Shape;1810;p101"/>
          <p:cNvSpPr txBox="1"/>
          <p:nvPr>
            <p:ph idx="1" type="body"/>
          </p:nvPr>
        </p:nvSpPr>
        <p:spPr>
          <a:xfrm>
            <a:off x="324000" y="1152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Find P(A or B)</a:t>
            </a:r>
            <a:endParaRPr sz="1800"/>
          </a:p>
        </p:txBody>
      </p:sp>
      <p:sp>
        <p:nvSpPr>
          <p:cNvPr id="1811" name="Google Shape;1811;p101"/>
          <p:cNvSpPr txBox="1"/>
          <p:nvPr>
            <p:ph idx="1" type="body"/>
          </p:nvPr>
        </p:nvSpPr>
        <p:spPr>
          <a:xfrm>
            <a:off x="324000" y="20161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Find P(not A or C)</a:t>
            </a:r>
            <a:endParaRPr sz="1800"/>
          </a:p>
        </p:txBody>
      </p:sp>
      <p:sp>
        <p:nvSpPr>
          <p:cNvPr id="1812" name="Google Shape;1812;p101"/>
          <p:cNvSpPr txBox="1"/>
          <p:nvPr>
            <p:ph idx="1" type="body"/>
          </p:nvPr>
        </p:nvSpPr>
        <p:spPr>
          <a:xfrm>
            <a:off x="324000" y="28797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Find P(not A or not B)</a:t>
            </a:r>
            <a:endParaRPr sz="1800"/>
          </a:p>
        </p:txBody>
      </p:sp>
      <p:sp>
        <p:nvSpPr>
          <p:cNvPr id="1813" name="Google Shape;1813;p101"/>
          <p:cNvSpPr txBox="1"/>
          <p:nvPr>
            <p:ph idx="1" type="body"/>
          </p:nvPr>
        </p:nvSpPr>
        <p:spPr>
          <a:xfrm>
            <a:off x="324000" y="37433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Find P(only C or not B) </a:t>
            </a:r>
            <a:endParaRPr sz="1800"/>
          </a:p>
        </p:txBody>
      </p:sp>
      <p:sp>
        <p:nvSpPr>
          <p:cNvPr id="1814" name="Google Shape;1814;p101"/>
          <p:cNvSpPr/>
          <p:nvPr/>
        </p:nvSpPr>
        <p:spPr>
          <a:xfrm>
            <a:off x="6028591" y="2092456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01"/>
          <p:cNvSpPr/>
          <p:nvPr/>
        </p:nvSpPr>
        <p:spPr>
          <a:xfrm>
            <a:off x="5314425" y="1180475"/>
            <a:ext cx="2937000" cy="2639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101"/>
          <p:cNvSpPr txBox="1"/>
          <p:nvPr/>
        </p:nvSpPr>
        <p:spPr>
          <a:xfrm>
            <a:off x="5163800" y="1159001"/>
            <a:ext cx="152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01"/>
          <p:cNvSpPr/>
          <p:nvPr/>
        </p:nvSpPr>
        <p:spPr>
          <a:xfrm>
            <a:off x="5526959" y="13749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01"/>
          <p:cNvSpPr txBox="1"/>
          <p:nvPr/>
        </p:nvSpPr>
        <p:spPr>
          <a:xfrm>
            <a:off x="5574318" y="1347519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01"/>
          <p:cNvSpPr/>
          <p:nvPr/>
        </p:nvSpPr>
        <p:spPr>
          <a:xfrm>
            <a:off x="6471098" y="13749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01"/>
          <p:cNvSpPr txBox="1"/>
          <p:nvPr/>
        </p:nvSpPr>
        <p:spPr>
          <a:xfrm>
            <a:off x="7753606" y="1347526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01"/>
          <p:cNvSpPr txBox="1"/>
          <p:nvPr/>
        </p:nvSpPr>
        <p:spPr>
          <a:xfrm>
            <a:off x="6510991" y="2121312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101"/>
          <p:cNvSpPr txBox="1"/>
          <p:nvPr/>
        </p:nvSpPr>
        <p:spPr>
          <a:xfrm>
            <a:off x="7380956" y="3427827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01"/>
          <p:cNvSpPr txBox="1"/>
          <p:nvPr/>
        </p:nvSpPr>
        <p:spPr>
          <a:xfrm>
            <a:off x="7315604" y="2021389"/>
            <a:ext cx="6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01"/>
          <p:cNvSpPr txBox="1"/>
          <p:nvPr/>
        </p:nvSpPr>
        <p:spPr>
          <a:xfrm>
            <a:off x="7013059" y="2545290"/>
            <a:ext cx="4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101"/>
          <p:cNvSpPr txBox="1"/>
          <p:nvPr/>
        </p:nvSpPr>
        <p:spPr>
          <a:xfrm>
            <a:off x="6028598" y="3312144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101"/>
          <p:cNvSpPr txBox="1"/>
          <p:nvPr/>
        </p:nvSpPr>
        <p:spPr>
          <a:xfrm>
            <a:off x="6517557" y="18293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01"/>
          <p:cNvSpPr txBox="1"/>
          <p:nvPr/>
        </p:nvSpPr>
        <p:spPr>
          <a:xfrm>
            <a:off x="7044107" y="1697354"/>
            <a:ext cx="8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101"/>
          <p:cNvSpPr txBox="1"/>
          <p:nvPr/>
        </p:nvSpPr>
        <p:spPr>
          <a:xfrm>
            <a:off x="6124020" y="2545312"/>
            <a:ext cx="5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01"/>
          <p:cNvSpPr txBox="1"/>
          <p:nvPr/>
        </p:nvSpPr>
        <p:spPr>
          <a:xfrm>
            <a:off x="5692145" y="1829315"/>
            <a:ext cx="9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01"/>
          <p:cNvSpPr txBox="1"/>
          <p:nvPr/>
        </p:nvSpPr>
        <p:spPr>
          <a:xfrm>
            <a:off x="6288957" y="30485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01"/>
          <p:cNvSpPr txBox="1"/>
          <p:nvPr/>
        </p:nvSpPr>
        <p:spPr>
          <a:xfrm>
            <a:off x="5410948" y="3034950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02"/>
          <p:cNvSpPr/>
          <p:nvPr/>
        </p:nvSpPr>
        <p:spPr>
          <a:xfrm>
            <a:off x="5661075" y="1244475"/>
            <a:ext cx="31653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838" name="Google Shape;1838;p102"/>
          <p:cNvSpPr txBox="1"/>
          <p:nvPr>
            <p:ph idx="1" type="body"/>
          </p:nvPr>
        </p:nvSpPr>
        <p:spPr>
          <a:xfrm>
            <a:off x="324000" y="7593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Venn diagram to answer the following questions.</a:t>
            </a:r>
            <a:endParaRPr sz="1800"/>
          </a:p>
        </p:txBody>
      </p:sp>
      <p:sp>
        <p:nvSpPr>
          <p:cNvPr id="1839" name="Google Shape;1839;p102"/>
          <p:cNvSpPr txBox="1"/>
          <p:nvPr>
            <p:ph idx="1" type="body"/>
          </p:nvPr>
        </p:nvSpPr>
        <p:spPr>
          <a:xfrm>
            <a:off x="324000" y="1152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List the outcomes that are in event A.</a:t>
            </a:r>
            <a:endParaRPr sz="1800"/>
          </a:p>
        </p:txBody>
      </p:sp>
      <p:sp>
        <p:nvSpPr>
          <p:cNvPr id="1840" name="Google Shape;1840;p102"/>
          <p:cNvSpPr txBox="1"/>
          <p:nvPr>
            <p:ph idx="1" type="body"/>
          </p:nvPr>
        </p:nvSpPr>
        <p:spPr>
          <a:xfrm>
            <a:off x="324000" y="1914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List the outcomes that are not in event B.</a:t>
            </a:r>
            <a:endParaRPr sz="1800"/>
          </a:p>
        </p:txBody>
      </p:sp>
      <p:sp>
        <p:nvSpPr>
          <p:cNvPr id="1841" name="Google Shape;1841;p102"/>
          <p:cNvSpPr txBox="1"/>
          <p:nvPr>
            <p:ph idx="1" type="body"/>
          </p:nvPr>
        </p:nvSpPr>
        <p:spPr>
          <a:xfrm>
            <a:off x="324000" y="28289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Hence, list the outcomes that are in event A or not in event B.</a:t>
            </a:r>
            <a:endParaRPr sz="1800"/>
          </a:p>
        </p:txBody>
      </p:sp>
      <p:sp>
        <p:nvSpPr>
          <p:cNvPr id="1842" name="Google Shape;1842;p102"/>
          <p:cNvSpPr txBox="1"/>
          <p:nvPr>
            <p:ph idx="1" type="body"/>
          </p:nvPr>
        </p:nvSpPr>
        <p:spPr>
          <a:xfrm>
            <a:off x="324000" y="3819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Find P(A or not B) </a:t>
            </a:r>
            <a:endParaRPr sz="1800"/>
          </a:p>
        </p:txBody>
      </p:sp>
      <p:sp>
        <p:nvSpPr>
          <p:cNvPr id="1843" name="Google Shape;1843;p102"/>
          <p:cNvSpPr/>
          <p:nvPr/>
        </p:nvSpPr>
        <p:spPr>
          <a:xfrm>
            <a:off x="59242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02"/>
          <p:cNvSpPr txBox="1"/>
          <p:nvPr/>
        </p:nvSpPr>
        <p:spPr>
          <a:xfrm>
            <a:off x="59786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02"/>
          <p:cNvSpPr/>
          <p:nvPr/>
        </p:nvSpPr>
        <p:spPr>
          <a:xfrm>
            <a:off x="69148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02"/>
          <p:cNvSpPr txBox="1"/>
          <p:nvPr/>
        </p:nvSpPr>
        <p:spPr>
          <a:xfrm>
            <a:off x="82818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02"/>
          <p:cNvSpPr txBox="1"/>
          <p:nvPr/>
        </p:nvSpPr>
        <p:spPr>
          <a:xfrm>
            <a:off x="7625806" y="161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102"/>
          <p:cNvSpPr txBox="1"/>
          <p:nvPr/>
        </p:nvSpPr>
        <p:spPr>
          <a:xfrm>
            <a:off x="7118319" y="1886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102"/>
          <p:cNvSpPr txBox="1"/>
          <p:nvPr/>
        </p:nvSpPr>
        <p:spPr>
          <a:xfrm>
            <a:off x="7876606" y="2519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102"/>
          <p:cNvSpPr txBox="1"/>
          <p:nvPr/>
        </p:nvSpPr>
        <p:spPr>
          <a:xfrm>
            <a:off x="7791895" y="2069850"/>
            <a:ext cx="48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102"/>
          <p:cNvSpPr txBox="1"/>
          <p:nvPr/>
        </p:nvSpPr>
        <p:spPr>
          <a:xfrm>
            <a:off x="7118331" y="2349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02"/>
          <p:cNvSpPr txBox="1"/>
          <p:nvPr/>
        </p:nvSpPr>
        <p:spPr>
          <a:xfrm>
            <a:off x="8429206" y="2923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02"/>
          <p:cNvSpPr txBox="1"/>
          <p:nvPr/>
        </p:nvSpPr>
        <p:spPr>
          <a:xfrm>
            <a:off x="5880256" y="2923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02"/>
          <p:cNvSpPr txBox="1"/>
          <p:nvPr/>
        </p:nvSpPr>
        <p:spPr>
          <a:xfrm>
            <a:off x="6360056" y="2349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02"/>
          <p:cNvSpPr txBox="1"/>
          <p:nvPr/>
        </p:nvSpPr>
        <p:spPr>
          <a:xfrm>
            <a:off x="7154720" y="2969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02"/>
          <p:cNvSpPr txBox="1"/>
          <p:nvPr/>
        </p:nvSpPr>
        <p:spPr>
          <a:xfrm>
            <a:off x="6256811" y="17513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02"/>
          <p:cNvSpPr txBox="1"/>
          <p:nvPr/>
        </p:nvSpPr>
        <p:spPr>
          <a:xfrm>
            <a:off x="5491350" y="1153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02"/>
          <p:cNvSpPr txBox="1"/>
          <p:nvPr>
            <p:ph idx="1" type="body"/>
          </p:nvPr>
        </p:nvSpPr>
        <p:spPr>
          <a:xfrm>
            <a:off x="1048648" y="1488429"/>
            <a:ext cx="1807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{12, 15, 18, 20}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9" name="Google Shape;1859;p102"/>
          <p:cNvSpPr txBox="1"/>
          <p:nvPr>
            <p:ph idx="1" type="body"/>
          </p:nvPr>
        </p:nvSpPr>
        <p:spPr>
          <a:xfrm>
            <a:off x="1124851" y="2479025"/>
            <a:ext cx="23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{16, 17, 18, 19, 20}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0" name="Google Shape;1860;p102"/>
          <p:cNvSpPr txBox="1"/>
          <p:nvPr>
            <p:ph idx="1" type="body"/>
          </p:nvPr>
        </p:nvSpPr>
        <p:spPr>
          <a:xfrm>
            <a:off x="1124850" y="3469625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{12, 15, 16, 17, 18, 19, 20}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1" name="Google Shape;1861;p102"/>
          <p:cNvSpPr txBox="1"/>
          <p:nvPr>
            <p:ph idx="1" type="body"/>
          </p:nvPr>
        </p:nvSpPr>
        <p:spPr>
          <a:xfrm>
            <a:off x="1201050" y="4231625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0.7 = 70%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862" name="Google Shape;1862;p102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298" y="4110300"/>
            <a:ext cx="284625" cy="5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868" name="Google Shape;1868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Use the Venn diagram to answer the following questions.</a:t>
            </a:r>
            <a:endParaRPr sz="1800"/>
          </a:p>
        </p:txBody>
      </p:sp>
      <p:sp>
        <p:nvSpPr>
          <p:cNvPr id="1869" name="Google Shape;1869;p103"/>
          <p:cNvSpPr txBox="1"/>
          <p:nvPr>
            <p:ph idx="1" type="body"/>
          </p:nvPr>
        </p:nvSpPr>
        <p:spPr>
          <a:xfrm>
            <a:off x="324000" y="1152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Find P(A or B)</a:t>
            </a:r>
            <a:endParaRPr sz="1800"/>
          </a:p>
        </p:txBody>
      </p:sp>
      <p:sp>
        <p:nvSpPr>
          <p:cNvPr id="1870" name="Google Shape;1870;p103"/>
          <p:cNvSpPr txBox="1"/>
          <p:nvPr>
            <p:ph idx="1" type="body"/>
          </p:nvPr>
        </p:nvSpPr>
        <p:spPr>
          <a:xfrm>
            <a:off x="324000" y="2041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Find P(A or not B)</a:t>
            </a:r>
            <a:endParaRPr sz="1800"/>
          </a:p>
        </p:txBody>
      </p:sp>
      <p:sp>
        <p:nvSpPr>
          <p:cNvPr id="1871" name="Google Shape;1871;p103"/>
          <p:cNvSpPr txBox="1"/>
          <p:nvPr>
            <p:ph idx="1" type="body"/>
          </p:nvPr>
        </p:nvSpPr>
        <p:spPr>
          <a:xfrm>
            <a:off x="324000" y="2930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Find P(not A or not B)</a:t>
            </a:r>
            <a:endParaRPr sz="1800"/>
          </a:p>
        </p:txBody>
      </p:sp>
      <p:sp>
        <p:nvSpPr>
          <p:cNvPr id="1872" name="Google Shape;1872;p103"/>
          <p:cNvSpPr txBox="1"/>
          <p:nvPr>
            <p:ph idx="1" type="body"/>
          </p:nvPr>
        </p:nvSpPr>
        <p:spPr>
          <a:xfrm>
            <a:off x="324000" y="3819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Find P(only A or only B) </a:t>
            </a:r>
            <a:endParaRPr sz="1800"/>
          </a:p>
        </p:txBody>
      </p:sp>
      <p:sp>
        <p:nvSpPr>
          <p:cNvPr id="1873" name="Google Shape;1873;p103"/>
          <p:cNvSpPr/>
          <p:nvPr/>
        </p:nvSpPr>
        <p:spPr>
          <a:xfrm>
            <a:off x="5661075" y="1244475"/>
            <a:ext cx="3165300" cy="2055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03"/>
          <p:cNvSpPr/>
          <p:nvPr/>
        </p:nvSpPr>
        <p:spPr>
          <a:xfrm>
            <a:off x="59242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03"/>
          <p:cNvSpPr txBox="1"/>
          <p:nvPr/>
        </p:nvSpPr>
        <p:spPr>
          <a:xfrm>
            <a:off x="5978650" y="1421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03"/>
          <p:cNvSpPr/>
          <p:nvPr/>
        </p:nvSpPr>
        <p:spPr>
          <a:xfrm>
            <a:off x="6914875" y="1469493"/>
            <a:ext cx="1606200" cy="160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03"/>
          <p:cNvSpPr txBox="1"/>
          <p:nvPr/>
        </p:nvSpPr>
        <p:spPr>
          <a:xfrm>
            <a:off x="8281800" y="1421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03"/>
          <p:cNvSpPr txBox="1"/>
          <p:nvPr/>
        </p:nvSpPr>
        <p:spPr>
          <a:xfrm>
            <a:off x="7625806" y="161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03"/>
          <p:cNvSpPr txBox="1"/>
          <p:nvPr/>
        </p:nvSpPr>
        <p:spPr>
          <a:xfrm>
            <a:off x="7118319" y="1886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03"/>
          <p:cNvSpPr txBox="1"/>
          <p:nvPr/>
        </p:nvSpPr>
        <p:spPr>
          <a:xfrm>
            <a:off x="7774597" y="251970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03"/>
          <p:cNvSpPr txBox="1"/>
          <p:nvPr/>
        </p:nvSpPr>
        <p:spPr>
          <a:xfrm>
            <a:off x="7791895" y="2069850"/>
            <a:ext cx="48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03"/>
          <p:cNvSpPr txBox="1"/>
          <p:nvPr/>
        </p:nvSpPr>
        <p:spPr>
          <a:xfrm>
            <a:off x="7118331" y="2349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03"/>
          <p:cNvSpPr txBox="1"/>
          <p:nvPr/>
        </p:nvSpPr>
        <p:spPr>
          <a:xfrm>
            <a:off x="8429197" y="2923600"/>
            <a:ext cx="39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03"/>
          <p:cNvSpPr txBox="1"/>
          <p:nvPr/>
        </p:nvSpPr>
        <p:spPr>
          <a:xfrm>
            <a:off x="6601981" y="269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103"/>
          <p:cNvSpPr txBox="1"/>
          <p:nvPr/>
        </p:nvSpPr>
        <p:spPr>
          <a:xfrm>
            <a:off x="6229447" y="223525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03"/>
          <p:cNvSpPr txBox="1"/>
          <p:nvPr/>
        </p:nvSpPr>
        <p:spPr>
          <a:xfrm>
            <a:off x="7154720" y="2969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03"/>
          <p:cNvSpPr txBox="1"/>
          <p:nvPr/>
        </p:nvSpPr>
        <p:spPr>
          <a:xfrm>
            <a:off x="6256811" y="17513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103"/>
          <p:cNvSpPr txBox="1"/>
          <p:nvPr/>
        </p:nvSpPr>
        <p:spPr>
          <a:xfrm>
            <a:off x="5491350" y="1153425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03"/>
          <p:cNvSpPr txBox="1"/>
          <p:nvPr>
            <p:ph idx="1" type="body"/>
          </p:nvPr>
        </p:nvSpPr>
        <p:spPr>
          <a:xfrm>
            <a:off x="1201050" y="1564625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0}&quot;&gt;&lt;mfrac&gt;&lt;mn&gt;8&lt;/mn&gt;&lt;mn&gt;10&lt;/mn&gt;&lt;/mfrac&gt;&lt;/math&gt;" id="1890" name="Google Shape;1890;p103" title="eight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291" y="1466225"/>
            <a:ext cx="249509" cy="517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891" name="Google Shape;1891;p103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875" y="1464800"/>
            <a:ext cx="140063" cy="5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2" name="Google Shape;1892;p103"/>
          <p:cNvSpPr txBox="1"/>
          <p:nvPr>
            <p:ph idx="1" type="body"/>
          </p:nvPr>
        </p:nvSpPr>
        <p:spPr>
          <a:xfrm>
            <a:off x="1201050" y="2475671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0.7 = 70%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3" name="Google Shape;1893;p103"/>
          <p:cNvSpPr txBox="1"/>
          <p:nvPr>
            <p:ph idx="1" type="body"/>
          </p:nvPr>
        </p:nvSpPr>
        <p:spPr>
          <a:xfrm>
            <a:off x="1201050" y="3337180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0}&quot;&gt;&lt;mfrac&gt;&lt;mn&gt;8&lt;/mn&gt;&lt;mn&gt;10&lt;/mn&gt;&lt;/mfrac&gt;&lt;/math&gt;" id="1894" name="Google Shape;1894;p103" title="eight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291" y="3238780"/>
            <a:ext cx="249509" cy="5175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103"/>
          <p:cNvSpPr txBox="1"/>
          <p:nvPr>
            <p:ph idx="1" type="body"/>
          </p:nvPr>
        </p:nvSpPr>
        <p:spPr>
          <a:xfrm>
            <a:off x="1201050" y="4251580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   = 0.6 = 60%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896" name="Google Shape;1896;p103" title="seven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9298" y="2357700"/>
            <a:ext cx="284625" cy="5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897" name="Google Shape;1897;p103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875" y="3217400"/>
            <a:ext cx="140063" cy="5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0}&quot;&gt;&lt;mfrac&gt;&lt;mn&gt;6&lt;/mn&gt;&lt;mn&gt;10&lt;/mn&gt;&lt;/mfrac&gt;&lt;/math&gt;" id="1898" name="Google Shape;1898;p103" title="six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9300" y="4179798"/>
            <a:ext cx="249500" cy="462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899" name="Google Shape;1899;p103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2824" y="4179800"/>
            <a:ext cx="140050" cy="46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combinations of events</a:t>
            </a:r>
            <a:endParaRPr/>
          </a:p>
        </p:txBody>
      </p:sp>
      <p:sp>
        <p:nvSpPr>
          <p:cNvPr id="1905" name="Google Shape;1905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Use the Venn diagram to answer the following questions.</a:t>
            </a:r>
            <a:endParaRPr sz="1800"/>
          </a:p>
        </p:txBody>
      </p:sp>
      <p:sp>
        <p:nvSpPr>
          <p:cNvPr id="1906" name="Google Shape;1906;p104"/>
          <p:cNvSpPr txBox="1"/>
          <p:nvPr>
            <p:ph idx="1" type="body"/>
          </p:nvPr>
        </p:nvSpPr>
        <p:spPr>
          <a:xfrm>
            <a:off x="324000" y="11525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Find P(A or B)</a:t>
            </a:r>
            <a:endParaRPr sz="1800"/>
          </a:p>
        </p:txBody>
      </p:sp>
      <p:sp>
        <p:nvSpPr>
          <p:cNvPr id="1907" name="Google Shape;1907;p104"/>
          <p:cNvSpPr txBox="1"/>
          <p:nvPr>
            <p:ph idx="1" type="body"/>
          </p:nvPr>
        </p:nvSpPr>
        <p:spPr>
          <a:xfrm>
            <a:off x="324000" y="20161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Find P(not A or C)</a:t>
            </a:r>
            <a:endParaRPr sz="1800"/>
          </a:p>
        </p:txBody>
      </p:sp>
      <p:sp>
        <p:nvSpPr>
          <p:cNvPr id="1908" name="Google Shape;1908;p104"/>
          <p:cNvSpPr txBox="1"/>
          <p:nvPr>
            <p:ph idx="1" type="body"/>
          </p:nvPr>
        </p:nvSpPr>
        <p:spPr>
          <a:xfrm>
            <a:off x="324000" y="28797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Find P(not A or not B)</a:t>
            </a:r>
            <a:endParaRPr sz="1800"/>
          </a:p>
        </p:txBody>
      </p:sp>
      <p:sp>
        <p:nvSpPr>
          <p:cNvPr id="1909" name="Google Shape;1909;p104"/>
          <p:cNvSpPr txBox="1"/>
          <p:nvPr>
            <p:ph idx="1" type="body"/>
          </p:nvPr>
        </p:nvSpPr>
        <p:spPr>
          <a:xfrm>
            <a:off x="324000" y="37433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Find P(only C or not B) </a:t>
            </a:r>
            <a:endParaRPr sz="1800"/>
          </a:p>
        </p:txBody>
      </p:sp>
      <p:sp>
        <p:nvSpPr>
          <p:cNvPr id="1910" name="Google Shape;1910;p104"/>
          <p:cNvSpPr/>
          <p:nvPr/>
        </p:nvSpPr>
        <p:spPr>
          <a:xfrm>
            <a:off x="6028591" y="2092456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104"/>
          <p:cNvSpPr/>
          <p:nvPr/>
        </p:nvSpPr>
        <p:spPr>
          <a:xfrm>
            <a:off x="5314425" y="1180475"/>
            <a:ext cx="2937000" cy="2639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04"/>
          <p:cNvSpPr txBox="1"/>
          <p:nvPr/>
        </p:nvSpPr>
        <p:spPr>
          <a:xfrm>
            <a:off x="5163800" y="1159001"/>
            <a:ext cx="152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04"/>
          <p:cNvSpPr/>
          <p:nvPr/>
        </p:nvSpPr>
        <p:spPr>
          <a:xfrm>
            <a:off x="5526959" y="13749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04"/>
          <p:cNvSpPr txBox="1"/>
          <p:nvPr/>
        </p:nvSpPr>
        <p:spPr>
          <a:xfrm>
            <a:off x="5574318" y="1347519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04"/>
          <p:cNvSpPr/>
          <p:nvPr/>
        </p:nvSpPr>
        <p:spPr>
          <a:xfrm>
            <a:off x="6471098" y="1374983"/>
            <a:ext cx="1519800" cy="151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04"/>
          <p:cNvSpPr txBox="1"/>
          <p:nvPr/>
        </p:nvSpPr>
        <p:spPr>
          <a:xfrm>
            <a:off x="7753606" y="1347526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04"/>
          <p:cNvSpPr txBox="1"/>
          <p:nvPr/>
        </p:nvSpPr>
        <p:spPr>
          <a:xfrm>
            <a:off x="6510991" y="2121312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04"/>
          <p:cNvSpPr txBox="1"/>
          <p:nvPr/>
        </p:nvSpPr>
        <p:spPr>
          <a:xfrm>
            <a:off x="7380956" y="3427827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04"/>
          <p:cNvSpPr txBox="1"/>
          <p:nvPr/>
        </p:nvSpPr>
        <p:spPr>
          <a:xfrm>
            <a:off x="7315604" y="2021389"/>
            <a:ext cx="6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04"/>
          <p:cNvSpPr txBox="1"/>
          <p:nvPr/>
        </p:nvSpPr>
        <p:spPr>
          <a:xfrm>
            <a:off x="7013059" y="2545290"/>
            <a:ext cx="4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04"/>
          <p:cNvSpPr txBox="1"/>
          <p:nvPr/>
        </p:nvSpPr>
        <p:spPr>
          <a:xfrm>
            <a:off x="6028598" y="3312144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04"/>
          <p:cNvSpPr txBox="1"/>
          <p:nvPr/>
        </p:nvSpPr>
        <p:spPr>
          <a:xfrm>
            <a:off x="6517557" y="18293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04"/>
          <p:cNvSpPr txBox="1"/>
          <p:nvPr/>
        </p:nvSpPr>
        <p:spPr>
          <a:xfrm>
            <a:off x="7044107" y="1697354"/>
            <a:ext cx="8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04"/>
          <p:cNvSpPr txBox="1"/>
          <p:nvPr/>
        </p:nvSpPr>
        <p:spPr>
          <a:xfrm>
            <a:off x="6124020" y="2545312"/>
            <a:ext cx="5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04"/>
          <p:cNvSpPr txBox="1"/>
          <p:nvPr/>
        </p:nvSpPr>
        <p:spPr>
          <a:xfrm>
            <a:off x="5692145" y="1829315"/>
            <a:ext cx="9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04"/>
          <p:cNvSpPr txBox="1"/>
          <p:nvPr/>
        </p:nvSpPr>
        <p:spPr>
          <a:xfrm>
            <a:off x="6288957" y="30485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04"/>
          <p:cNvSpPr txBox="1"/>
          <p:nvPr/>
        </p:nvSpPr>
        <p:spPr>
          <a:xfrm>
            <a:off x="5410948" y="3034950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04"/>
          <p:cNvSpPr txBox="1"/>
          <p:nvPr>
            <p:ph idx="1" type="body"/>
          </p:nvPr>
        </p:nvSpPr>
        <p:spPr>
          <a:xfrm>
            <a:off x="1201050" y="1561271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0.7 = 70%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929" name="Google Shape;1929;p104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067" y="1453446"/>
            <a:ext cx="284625" cy="5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04"/>
          <p:cNvSpPr txBox="1"/>
          <p:nvPr>
            <p:ph idx="1" type="body"/>
          </p:nvPr>
        </p:nvSpPr>
        <p:spPr>
          <a:xfrm>
            <a:off x="1201050" y="2467902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0}&quot;&gt;&lt;mfrac&gt;&lt;mn&gt;8&lt;/mn&gt;&lt;mn&gt;10&lt;/mn&gt;&lt;/mfrac&gt;&lt;/math&gt;" id="1931" name="Google Shape;1931;p104" title="eight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9291" y="2369502"/>
            <a:ext cx="249509" cy="517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932" name="Google Shape;1932;p104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1875" y="2348121"/>
            <a:ext cx="140063" cy="5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04"/>
          <p:cNvSpPr txBox="1"/>
          <p:nvPr>
            <p:ph idx="1" type="body"/>
          </p:nvPr>
        </p:nvSpPr>
        <p:spPr>
          <a:xfrm>
            <a:off x="1201050" y="3290563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0}&quot;&gt;&lt;mfrac&gt;&lt;mn&gt;8&lt;/mn&gt;&lt;mn&gt;10&lt;/mn&gt;&lt;/mfrac&gt;&lt;/math&gt;" id="1934" name="Google Shape;1934;p104" title="eight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9291" y="3192163"/>
            <a:ext cx="249509" cy="517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935" name="Google Shape;1935;p104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1875" y="3170782"/>
            <a:ext cx="140063" cy="5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04"/>
          <p:cNvSpPr txBox="1"/>
          <p:nvPr>
            <p:ph idx="1" type="body"/>
          </p:nvPr>
        </p:nvSpPr>
        <p:spPr>
          <a:xfrm>
            <a:off x="1201050" y="4167611"/>
            <a:ext cx="30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 =    = 0.5 = 50%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0}&quot;&gt;&lt;mfrac&gt;&lt;mn&gt;5&lt;/mn&gt;&lt;mn&gt;10&lt;/mn&gt;&lt;/mfrac&gt;&lt;/math&gt;" id="1937" name="Google Shape;1937;p104" title="fiv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7442" y="4058488"/>
            <a:ext cx="283895" cy="52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938" name="Google Shape;1938;p104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2999" y="4073300"/>
            <a:ext cx="157810" cy="51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10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Probabilities for two events can be found using a Venn diagram.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combined event of ‘A and B’ are outcomes that belong in both events.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combined event of ‘A or B’ are outcomes that belong in either of the events.</a:t>
            </a:r>
            <a:endParaRPr/>
          </a:p>
        </p:txBody>
      </p:sp>
      <p:sp>
        <p:nvSpPr>
          <p:cNvPr id="1944" name="Google Shape;1944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50" name="Google Shape;1950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