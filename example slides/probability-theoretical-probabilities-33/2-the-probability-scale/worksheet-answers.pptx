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CFD607F4-B1B7-4E51-B163-F98B6D7644D5}">
  <a:tblStyle styleId="{CFD607F4-B1B7-4E51-B163-F98B6D7644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9" name="Shape 299"/>
        <p:cNvGrpSpPr/>
        <p:nvPr/>
      </p:nvGrpSpPr>
      <p:grpSpPr>
        <a:xfrm>
          <a:off x="0" y="0"/>
          <a:ext cx="0" cy="0"/>
        </a:xfrm>
      </p:grpSpPr>
      <p:sp>
        <p:nvSpPr>
          <p:cNvPr id="300" name="Google Shape;300;g2b96b4ad538_0_18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b96b4ad538_0_1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64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Relationship Id="rId5" Type="http://schemas.openxmlformats.org/officeDocument/2006/relationships/image" Target="../media/image10.png" /><Relationship Id="rId6" Type="http://schemas.openxmlformats.org/officeDocument/2006/relationships/image" Target="../media/image11.png" /><Relationship Id="rId7" Type="http://schemas.openxmlformats.org/officeDocument/2006/relationships/image" Target="../media/image12.png" /><Relationship Id="rId8" Type="http://schemas.openxmlformats.org/officeDocument/2006/relationships/image" Target="../media/image13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hyperlink" Target="https://www.desmos.com/calculator/lu4glebgap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probability scale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7433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 txBox="1"/>
          <p:nvPr/>
        </p:nvSpPr>
        <p:spPr>
          <a:xfrm>
            <a:off x="476400" y="1903275"/>
            <a:ext cx="6504300" cy="23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below in the correct order on the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probability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76399" y="1335050"/>
            <a:ext cx="6325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 Expressing probabilities: percentages and decimals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339321" y="3126426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6400" y="3126426"/>
            <a:ext cx="124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>
            <a:off x="998291" y="2980342"/>
            <a:ext cx="5675171" cy="230053"/>
            <a:chOff x="992233" y="3276625"/>
            <a:chExt cx="7187400" cy="658800"/>
          </a:xfrm>
        </p:grpSpPr>
        <p:cxnSp>
          <p:nvCxnSpPr>
            <p:cNvPr id="179" name="Google Shape;179;p20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20"/>
            <p:cNvCxnSpPr/>
            <p:nvPr/>
          </p:nvCxnSpPr>
          <p:spPr>
            <a:xfrm flipH="1">
              <a:off x="992256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20"/>
            <p:cNvCxnSpPr/>
            <p:nvPr/>
          </p:nvCxnSpPr>
          <p:spPr>
            <a:xfrm flipH="1">
              <a:off x="8168274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20"/>
            <p:cNvCxnSpPr/>
            <p:nvPr/>
          </p:nvCxnSpPr>
          <p:spPr>
            <a:xfrm flipH="1">
              <a:off x="4580265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3" name="Google Shape;183;p20"/>
          <p:cNvSpPr txBox="1"/>
          <p:nvPr/>
        </p:nvSpPr>
        <p:spPr>
          <a:xfrm>
            <a:off x="3260495" y="3126426"/>
            <a:ext cx="113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3869738" y="3175440"/>
            <a:ext cx="2768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" name="Google Shape;185;p20"/>
          <p:cNvSpPr txBox="1"/>
          <p:nvPr/>
        </p:nvSpPr>
        <p:spPr>
          <a:xfrm>
            <a:off x="2036757" y="3109467"/>
            <a:ext cx="95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001075" y="3115203"/>
            <a:ext cx="61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7" name="Google Shape;187;p20"/>
          <p:cNvCxnSpPr/>
          <p:nvPr/>
        </p:nvCxnSpPr>
        <p:spPr>
          <a:xfrm>
            <a:off x="1024730" y="3175440"/>
            <a:ext cx="2768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8" name="Google Shape;188;p20"/>
          <p:cNvSpPr txBox="1"/>
          <p:nvPr/>
        </p:nvSpPr>
        <p:spPr>
          <a:xfrm>
            <a:off x="2381746" y="2250965"/>
            <a:ext cx="29055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0%, 100%, 20%, 75%, 50%, 45%, 55%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99488" y="3843154"/>
            <a:ext cx="6504300" cy="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below in the correct order on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6286209" y="5066306"/>
            <a:ext cx="74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23288" y="5066306"/>
            <a:ext cx="124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" name="Google Shape;192;p20"/>
          <p:cNvGrpSpPr/>
          <p:nvPr/>
        </p:nvGrpSpPr>
        <p:grpSpPr>
          <a:xfrm>
            <a:off x="998291" y="4920221"/>
            <a:ext cx="5675171" cy="230053"/>
            <a:chOff x="992233" y="3276625"/>
            <a:chExt cx="7187400" cy="658800"/>
          </a:xfrm>
        </p:grpSpPr>
        <p:cxnSp>
          <p:nvCxnSpPr>
            <p:cNvPr id="193" name="Google Shape;193;p20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20"/>
            <p:cNvCxnSpPr/>
            <p:nvPr/>
          </p:nvCxnSpPr>
          <p:spPr>
            <a:xfrm flipH="1">
              <a:off x="992256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20"/>
            <p:cNvCxnSpPr/>
            <p:nvPr/>
          </p:nvCxnSpPr>
          <p:spPr>
            <a:xfrm flipH="1">
              <a:off x="8168274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20"/>
            <p:cNvCxnSpPr/>
            <p:nvPr/>
          </p:nvCxnSpPr>
          <p:spPr>
            <a:xfrm flipH="1">
              <a:off x="4580265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7" name="Google Shape;197;p20"/>
          <p:cNvSpPr txBox="1"/>
          <p:nvPr/>
        </p:nvSpPr>
        <p:spPr>
          <a:xfrm>
            <a:off x="3207382" y="5066306"/>
            <a:ext cx="113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" name="Google Shape;198;p20"/>
          <p:cNvCxnSpPr/>
          <p:nvPr/>
        </p:nvCxnSpPr>
        <p:spPr>
          <a:xfrm>
            <a:off x="3869738" y="5115320"/>
            <a:ext cx="2768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9" name="Google Shape;199;p20"/>
          <p:cNvSpPr txBox="1"/>
          <p:nvPr/>
        </p:nvSpPr>
        <p:spPr>
          <a:xfrm>
            <a:off x="1983645" y="5049347"/>
            <a:ext cx="953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947962" y="5055083"/>
            <a:ext cx="619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0"/>
          <p:cNvCxnSpPr/>
          <p:nvPr/>
        </p:nvCxnSpPr>
        <p:spPr>
          <a:xfrm>
            <a:off x="1024730" y="5115320"/>
            <a:ext cx="27687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2" name="Google Shape;202;p20"/>
          <p:cNvSpPr txBox="1"/>
          <p:nvPr/>
        </p:nvSpPr>
        <p:spPr>
          <a:xfrm>
            <a:off x="2782944" y="4190854"/>
            <a:ext cx="20985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1, 0, 0.5, 0.1, 0.35, 0.95, 0.6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916896" y="2747044"/>
            <a:ext cx="2943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684539" y="2747044"/>
            <a:ext cx="3627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512359" y="2747044"/>
            <a:ext cx="4080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1699050" y="2747044"/>
            <a:ext cx="4080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3143042" y="2747044"/>
            <a:ext cx="4080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226036" y="2747044"/>
            <a:ext cx="4080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128531" y="2747044"/>
            <a:ext cx="4080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957092" y="4700502"/>
            <a:ext cx="1491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3671643" y="4700492"/>
            <a:ext cx="2562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659875" y="4700492"/>
            <a:ext cx="1491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6145661" y="4700492"/>
            <a:ext cx="3627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461003" y="4700492"/>
            <a:ext cx="3627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709125" y="4700492"/>
            <a:ext cx="3627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0.35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325300" y="4700492"/>
            <a:ext cx="3627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76400" y="60171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In each question you are given a spinner and a choice of four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each question, tick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 the spinner would land on ‘win’.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783831" y="6668637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9" name="Google Shape;219;p20"/>
          <p:cNvSpPr/>
          <p:nvPr/>
        </p:nvSpPr>
        <p:spPr>
          <a:xfrm flipH="1">
            <a:off x="792589" y="6677396"/>
            <a:ext cx="988800" cy="988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792589" y="6677396"/>
            <a:ext cx="988800" cy="988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832942" y="7008625"/>
            <a:ext cx="4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336822" y="7014730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>
            <a:off x="1258197" y="6800805"/>
            <a:ext cx="55711" cy="407560"/>
            <a:chOff x="996050" y="213293"/>
            <a:chExt cx="93900" cy="909732"/>
          </a:xfrm>
        </p:grpSpPr>
        <p:cxnSp>
          <p:nvCxnSpPr>
            <p:cNvPr id="224" name="Google Shape;224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25" name="Google Shape;225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6" name="Google Shape;226;p20"/>
          <p:cNvSpPr/>
          <p:nvPr/>
        </p:nvSpPr>
        <p:spPr>
          <a:xfrm>
            <a:off x="5365078" y="6668637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7" name="Google Shape;227;p20"/>
          <p:cNvSpPr/>
          <p:nvPr/>
        </p:nvSpPr>
        <p:spPr>
          <a:xfrm flipH="1">
            <a:off x="5373836" y="6677396"/>
            <a:ext cx="988800" cy="988800"/>
          </a:xfrm>
          <a:prstGeom prst="pie">
            <a:avLst>
              <a:gd name="adj1" fmla="val 5387953"/>
              <a:gd name="adj2" fmla="val 3285471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373836" y="6677396"/>
            <a:ext cx="988800" cy="988800"/>
          </a:xfrm>
          <a:prstGeom prst="pie">
            <a:avLst>
              <a:gd name="adj1" fmla="val 5387953"/>
              <a:gd name="adj2" fmla="val 7453728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5531659" y="7366118"/>
            <a:ext cx="4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5856796" y="6953457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1" name="Google Shape;231;p20"/>
          <p:cNvGrpSpPr/>
          <p:nvPr/>
        </p:nvGrpSpPr>
        <p:grpSpPr>
          <a:xfrm>
            <a:off x="5839444" y="6800805"/>
            <a:ext cx="55711" cy="407560"/>
            <a:chOff x="996050" y="213293"/>
            <a:chExt cx="93900" cy="909732"/>
          </a:xfrm>
        </p:grpSpPr>
        <p:cxnSp>
          <p:nvCxnSpPr>
            <p:cNvPr id="232" name="Google Shape;232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3" name="Google Shape;233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34" name="Google Shape;234;p20"/>
          <p:cNvSpPr/>
          <p:nvPr/>
        </p:nvSpPr>
        <p:spPr>
          <a:xfrm>
            <a:off x="5350848" y="8200462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5" name="Google Shape;235;p20"/>
          <p:cNvSpPr/>
          <p:nvPr/>
        </p:nvSpPr>
        <p:spPr>
          <a:xfrm flipH="1">
            <a:off x="5359606" y="8209220"/>
            <a:ext cx="988800" cy="988800"/>
          </a:xfrm>
          <a:prstGeom prst="pie">
            <a:avLst>
              <a:gd name="adj1" fmla="val 5387953"/>
              <a:gd name="adj2" fmla="val 18353387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5359606" y="8209220"/>
            <a:ext cx="988800" cy="988800"/>
          </a:xfrm>
          <a:prstGeom prst="pie">
            <a:avLst>
              <a:gd name="adj1" fmla="val 5387953"/>
              <a:gd name="adj2" fmla="val 14865160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5399952" y="8540449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5903839" y="8546555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9" name="Google Shape;239;p20"/>
          <p:cNvGrpSpPr/>
          <p:nvPr/>
        </p:nvGrpSpPr>
        <p:grpSpPr>
          <a:xfrm>
            <a:off x="5825214" y="8332629"/>
            <a:ext cx="55711" cy="407560"/>
            <a:chOff x="996050" y="213293"/>
            <a:chExt cx="93900" cy="909732"/>
          </a:xfrm>
        </p:grpSpPr>
        <p:cxnSp>
          <p:nvCxnSpPr>
            <p:cNvPr id="240" name="Google Shape;240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1" name="Google Shape;241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42" name="Google Shape;242;p20"/>
          <p:cNvSpPr/>
          <p:nvPr/>
        </p:nvSpPr>
        <p:spPr>
          <a:xfrm>
            <a:off x="3069516" y="8200462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3" name="Google Shape;243;p20"/>
          <p:cNvSpPr/>
          <p:nvPr/>
        </p:nvSpPr>
        <p:spPr>
          <a:xfrm flipH="1">
            <a:off x="3078274" y="8209220"/>
            <a:ext cx="988800" cy="988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3078274" y="8209220"/>
            <a:ext cx="988800" cy="988800"/>
          </a:xfrm>
          <a:prstGeom prst="pie">
            <a:avLst>
              <a:gd name="adj1" fmla="val 5387953"/>
              <a:gd name="adj2" fmla="val 3875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3118617" y="8479176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561234" y="8730374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" name="Google Shape;247;p20"/>
          <p:cNvGrpSpPr/>
          <p:nvPr/>
        </p:nvGrpSpPr>
        <p:grpSpPr>
          <a:xfrm>
            <a:off x="3543882" y="8332629"/>
            <a:ext cx="55711" cy="407560"/>
            <a:chOff x="996050" y="213293"/>
            <a:chExt cx="93900" cy="909732"/>
          </a:xfrm>
        </p:grpSpPr>
        <p:cxnSp>
          <p:nvCxnSpPr>
            <p:cNvPr id="248" name="Google Shape;248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9" name="Google Shape;249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50" name="Google Shape;250;p20"/>
          <p:cNvSpPr/>
          <p:nvPr/>
        </p:nvSpPr>
        <p:spPr>
          <a:xfrm>
            <a:off x="788184" y="8200462"/>
            <a:ext cx="1006200" cy="10062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1" name="Google Shape;251;p20"/>
          <p:cNvSpPr/>
          <p:nvPr/>
        </p:nvSpPr>
        <p:spPr>
          <a:xfrm flipH="1">
            <a:off x="796942" y="8209220"/>
            <a:ext cx="988800" cy="988800"/>
          </a:xfrm>
          <a:prstGeom prst="pie">
            <a:avLst>
              <a:gd name="adj1" fmla="val 5387953"/>
              <a:gd name="adj2" fmla="val 16200000"/>
            </a:avLst>
          </a:prstGeom>
          <a:solidFill>
            <a:srgbClr val="EEEEE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796942" y="8209220"/>
            <a:ext cx="988800" cy="988800"/>
          </a:xfrm>
          <a:prstGeom prst="pie">
            <a:avLst>
              <a:gd name="adj1" fmla="val 5387953"/>
              <a:gd name="adj2" fmla="val 16618598"/>
            </a:avLst>
          </a:prstGeom>
          <a:solidFill>
            <a:srgbClr val="9E9E9E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837282" y="8540449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1341175" y="8546555"/>
            <a:ext cx="49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lose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5" name="Google Shape;255;p20"/>
          <p:cNvGrpSpPr/>
          <p:nvPr/>
        </p:nvGrpSpPr>
        <p:grpSpPr>
          <a:xfrm>
            <a:off x="1262550" y="8332629"/>
            <a:ext cx="55711" cy="407560"/>
            <a:chOff x="996050" y="213293"/>
            <a:chExt cx="93900" cy="909732"/>
          </a:xfrm>
        </p:grpSpPr>
        <p:cxnSp>
          <p:nvCxnSpPr>
            <p:cNvPr id="256" name="Google Shape;256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57" name="Google Shape;257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58" name="Google Shape;258;p20"/>
          <p:cNvSpPr/>
          <p:nvPr/>
        </p:nvSpPr>
        <p:spPr>
          <a:xfrm>
            <a:off x="3041056" y="6668637"/>
            <a:ext cx="1006200" cy="1006200"/>
          </a:xfrm>
          <a:prstGeom prst="ellipse">
            <a:avLst/>
          </a:prstGeom>
          <a:solidFill>
            <a:srgbClr val="9E9E9E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3335266" y="7192444"/>
            <a:ext cx="48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0" name="Google Shape;260;p20"/>
          <p:cNvGrpSpPr/>
          <p:nvPr/>
        </p:nvGrpSpPr>
        <p:grpSpPr>
          <a:xfrm>
            <a:off x="3515422" y="6800805"/>
            <a:ext cx="55711" cy="407560"/>
            <a:chOff x="996050" y="213293"/>
            <a:chExt cx="93900" cy="909732"/>
          </a:xfrm>
        </p:grpSpPr>
        <p:cxnSp>
          <p:nvCxnSpPr>
            <p:cNvPr id="261" name="Google Shape;261;p20"/>
            <p:cNvCxnSpPr/>
            <p:nvPr/>
          </p:nvCxnSpPr>
          <p:spPr>
            <a:xfrm rot="10800000" flipH="1">
              <a:off x="1046672" y="213293"/>
              <a:ext cx="0" cy="8514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2" name="Google Shape;262;p20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63" name="Google Shape;263;p20"/>
          <p:cNvSpPr txBox="1"/>
          <p:nvPr/>
        </p:nvSpPr>
        <p:spPr>
          <a:xfrm>
            <a:off x="588025" y="6614572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5183502" y="6614572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2885764" y="6614572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88025" y="8146396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183502" y="8146396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2885764" y="8146396"/>
            <a:ext cx="1902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1936027" y="6621620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1936027" y="6914339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1936027" y="7207057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1936027" y="749977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4203129" y="6621620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4203129" y="6914339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4203129" y="7207057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4203143" y="7499773"/>
            <a:ext cx="533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6531504" y="6621620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6531504" y="6914339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6531504" y="7207057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6531504" y="749977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0.9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6470231" y="8214718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6470231" y="850743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6470231" y="8800155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0.5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6470231" y="9092873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1874754" y="8214718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1874754" y="850743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1874754" y="8800155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1874754" y="9092873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4203129" y="8214718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4203129" y="8507436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52%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4203129" y="8800155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4203129" y="9092873"/>
            <a:ext cx="3873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98%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3" name="Google Shape;2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889" y="7499773"/>
            <a:ext cx="190091" cy="201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899" y="7193409"/>
            <a:ext cx="190091" cy="201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820" y="6607791"/>
            <a:ext cx="190091" cy="201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1616" y="8813618"/>
            <a:ext cx="190091" cy="201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991" y="8813618"/>
            <a:ext cx="190091" cy="201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7093" y="8507253"/>
            <a:ext cx="190091" cy="201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02" name="Shape 302"/>
        <p:cNvGrpSpPr/>
        <p:nvPr/>
      </p:nvGrpSpPr>
      <p:grpSpPr>
        <a:xfrm>
          <a:off x="0" y="0"/>
          <a:ext cx="0" cy="0"/>
        </a:xfrm>
      </p:grpSpPr>
      <p:sp>
        <p:nvSpPr>
          <p:cNvPr id="303" name="Google Shape;30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probability scale</a:t>
            </a:r>
            <a:endParaRPr/>
          </a:p>
        </p:txBody>
      </p:sp>
      <p:pic>
        <p:nvPicPr>
          <p:cNvPr id="304" name="Google Shape;304;p21" descr="&lt;math xmlns=&quot;http://www.w3.org/1998/Math/MathML&quot; display=&quot;block&quot; data-is-equatio=&quot;1&quot; data-latex=&quot;\frac{5}{6}\ \ \ \frac{5}{5}\ \ \ \frac{5}{1000}\ \ \ \frac{5}{10}\ \ \ \frac{5}{11}\ \ \ \frac{5}{9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1&lt;/mn&gt;&lt;/mfrac&gt;&lt;mtext&gt;&lt;/mtext&gt;&lt;mtext&gt;&lt;/mtext&gt;&lt;mtext&gt;&lt;/mtext&gt;&lt;mfrac&gt;&lt;mn&gt;5&lt;/mn&gt;&lt;mn&gt;9&lt;/mn&gt;&lt;/mfrac&gt;&lt;/math&gt;" title="five sixths five fifths 5 over 1000 five tenths 5 over 11 five ni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0275" y="3950301"/>
            <a:ext cx="1879876" cy="3529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/>
        </p:nvSpPr>
        <p:spPr>
          <a:xfrm>
            <a:off x="476398" y="725450"/>
            <a:ext cx="6330000" cy="3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Expressing probabilities as fractions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476400" y="1294113"/>
            <a:ext cx="65094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below in the correct order on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6343845" y="2883221"/>
            <a:ext cx="74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476400" y="2883221"/>
            <a:ext cx="125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9" name="Google Shape;309;p21"/>
          <p:cNvGrpSpPr/>
          <p:nvPr/>
        </p:nvGrpSpPr>
        <p:grpSpPr>
          <a:xfrm>
            <a:off x="998685" y="2737124"/>
            <a:ext cx="5679483" cy="230251"/>
            <a:chOff x="992233" y="3276625"/>
            <a:chExt cx="7187400" cy="658800"/>
          </a:xfrm>
        </p:grpSpPr>
        <p:cxnSp>
          <p:nvCxnSpPr>
            <p:cNvPr id="310" name="Google Shape;310;p21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1" name="Google Shape;311;p21"/>
            <p:cNvCxnSpPr/>
            <p:nvPr/>
          </p:nvCxnSpPr>
          <p:spPr>
            <a:xfrm flipH="1">
              <a:off x="992256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2" name="Google Shape;312;p21"/>
            <p:cNvCxnSpPr/>
            <p:nvPr/>
          </p:nvCxnSpPr>
          <p:spPr>
            <a:xfrm flipH="1">
              <a:off x="8168274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3" name="Google Shape;313;p21"/>
            <p:cNvCxnSpPr/>
            <p:nvPr/>
          </p:nvCxnSpPr>
          <p:spPr>
            <a:xfrm flipH="1">
              <a:off x="4580265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4" name="Google Shape;314;p21"/>
          <p:cNvSpPr txBox="1"/>
          <p:nvPr/>
        </p:nvSpPr>
        <p:spPr>
          <a:xfrm>
            <a:off x="3262643" y="2883221"/>
            <a:ext cx="113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5" name="Google Shape;315;p21"/>
          <p:cNvCxnSpPr/>
          <p:nvPr/>
        </p:nvCxnSpPr>
        <p:spPr>
          <a:xfrm>
            <a:off x="3872356" y="2932273"/>
            <a:ext cx="2771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6" name="Google Shape;316;p21"/>
          <p:cNvSpPr txBox="1"/>
          <p:nvPr/>
        </p:nvSpPr>
        <p:spPr>
          <a:xfrm>
            <a:off x="2037961" y="2866249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5004566" y="2871990"/>
            <a:ext cx="62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8" name="Google Shape;318;p21"/>
          <p:cNvCxnSpPr/>
          <p:nvPr/>
        </p:nvCxnSpPr>
        <p:spPr>
          <a:xfrm>
            <a:off x="1025153" y="2932273"/>
            <a:ext cx="2771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9" name="Google Shape;319;p21"/>
          <p:cNvSpPr txBox="1"/>
          <p:nvPr/>
        </p:nvSpPr>
        <p:spPr>
          <a:xfrm>
            <a:off x="476400" y="3692513"/>
            <a:ext cx="6509400" cy="3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below in the correct order on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6343845" y="5297608"/>
            <a:ext cx="748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certain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476400" y="5297608"/>
            <a:ext cx="125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impossible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1"/>
          <p:cNvGrpSpPr/>
          <p:nvPr/>
        </p:nvGrpSpPr>
        <p:grpSpPr>
          <a:xfrm>
            <a:off x="998685" y="5151511"/>
            <a:ext cx="5679483" cy="230251"/>
            <a:chOff x="992233" y="3276625"/>
            <a:chExt cx="7187400" cy="658800"/>
          </a:xfrm>
        </p:grpSpPr>
        <p:cxnSp>
          <p:nvCxnSpPr>
            <p:cNvPr id="323" name="Google Shape;323;p21"/>
            <p:cNvCxnSpPr/>
            <p:nvPr/>
          </p:nvCxnSpPr>
          <p:spPr>
            <a:xfrm>
              <a:off x="992233" y="3606088"/>
              <a:ext cx="71874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21"/>
            <p:cNvCxnSpPr/>
            <p:nvPr/>
          </p:nvCxnSpPr>
          <p:spPr>
            <a:xfrm flipH="1">
              <a:off x="992256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21"/>
            <p:cNvCxnSpPr/>
            <p:nvPr/>
          </p:nvCxnSpPr>
          <p:spPr>
            <a:xfrm flipH="1">
              <a:off x="8168274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21"/>
            <p:cNvCxnSpPr/>
            <p:nvPr/>
          </p:nvCxnSpPr>
          <p:spPr>
            <a:xfrm flipH="1">
              <a:off x="4580265" y="3276625"/>
              <a:ext cx="0" cy="65880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7" name="Google Shape;327;p21"/>
          <p:cNvSpPr txBox="1"/>
          <p:nvPr/>
        </p:nvSpPr>
        <p:spPr>
          <a:xfrm>
            <a:off x="3262643" y="5297608"/>
            <a:ext cx="113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even chance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8" name="Google Shape;328;p21"/>
          <p:cNvCxnSpPr/>
          <p:nvPr/>
        </p:nvCxnSpPr>
        <p:spPr>
          <a:xfrm>
            <a:off x="3872356" y="5346660"/>
            <a:ext cx="2771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9" name="Google Shape;329;p21"/>
          <p:cNvSpPr txBox="1"/>
          <p:nvPr/>
        </p:nvSpPr>
        <p:spPr>
          <a:xfrm>
            <a:off x="2037961" y="5280636"/>
            <a:ext cx="95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5004566" y="5286377"/>
            <a:ext cx="620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likely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1" name="Google Shape;331;p21"/>
          <p:cNvCxnSpPr/>
          <p:nvPr/>
        </p:nvCxnSpPr>
        <p:spPr>
          <a:xfrm>
            <a:off x="1025153" y="5346660"/>
            <a:ext cx="2771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solid"/>
            <a:round/>
            <a:headEnd type="triangle" w="med" len="med"/>
            <a:tailEnd type="triangle" w="med" len="med"/>
          </a:ln>
        </p:spPr>
      </p:cxnSp>
      <p:pic>
        <p:nvPicPr>
          <p:cNvPr id="332" name="Google Shape;332;p21"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title="20 over 20 1 over 20 5 over 20 18 over 20 11 over 20 9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2506" y="1555161"/>
            <a:ext cx="1767507" cy="35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1"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title="20 over 20 1 over 20 5 over 20 18 over 20 11 over 20 9 over 20"/>
          <p:cNvPicPr preferRelativeResize="0"/>
          <p:nvPr/>
        </p:nvPicPr>
        <p:blipFill>
          <a:blip r:embed="rId4">
            <a:alphaModFix/>
          </a:blip>
          <a:srcRect r="85354"/>
          <a:stretch>
            <a:fillRect/>
          </a:stretch>
        </p:blipFill>
        <p:spPr>
          <a:xfrm>
            <a:off x="6568207" y="2364618"/>
            <a:ext cx="258867" cy="35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1"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title="20 over 20 1 over 20 5 over 20 18 over 20 11 over 20 9 over 20"/>
          <p:cNvPicPr preferRelativeResize="0"/>
          <p:nvPr/>
        </p:nvPicPr>
        <p:blipFill>
          <a:blip r:embed="rId4">
            <a:alphaModFix/>
          </a:blip>
          <a:srcRect l="15633" r="69720"/>
          <a:stretch>
            <a:fillRect/>
          </a:stretch>
        </p:blipFill>
        <p:spPr>
          <a:xfrm>
            <a:off x="1124296" y="2364611"/>
            <a:ext cx="258867" cy="35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1"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title="20 over 20 1 over 20 5 over 20 18 over 20 11 over 20 9 over 20"/>
          <p:cNvPicPr preferRelativeResize="0"/>
          <p:nvPr/>
        </p:nvPicPr>
        <p:blipFill>
          <a:blip r:embed="rId4">
            <a:alphaModFix/>
          </a:blip>
          <a:srcRect l="32070" r="50715"/>
          <a:stretch>
            <a:fillRect/>
          </a:stretch>
        </p:blipFill>
        <p:spPr>
          <a:xfrm>
            <a:off x="2137370" y="2364611"/>
            <a:ext cx="304244" cy="35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1"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title="20 over 20 1 over 20 5 over 20 18 over 20 11 over 20 9 over 20"/>
          <p:cNvPicPr preferRelativeResize="0"/>
          <p:nvPr/>
        </p:nvPicPr>
        <p:blipFill>
          <a:blip r:embed="rId4">
            <a:alphaModFix/>
          </a:blip>
          <a:srcRect l="49941" r="32845"/>
          <a:stretch>
            <a:fillRect/>
          </a:stretch>
        </p:blipFill>
        <p:spPr>
          <a:xfrm>
            <a:off x="5945606" y="2364611"/>
            <a:ext cx="304244" cy="35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1"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title="20 over 20 1 over 20 5 over 20 18 over 20 11 over 20 9 over 20"/>
          <p:cNvPicPr preferRelativeResize="0"/>
          <p:nvPr/>
        </p:nvPicPr>
        <p:blipFill>
          <a:blip r:embed="rId4">
            <a:alphaModFix/>
          </a:blip>
          <a:srcRect l="70382" r="14971"/>
          <a:stretch>
            <a:fillRect/>
          </a:stretch>
        </p:blipFill>
        <p:spPr>
          <a:xfrm>
            <a:off x="3958587" y="2364611"/>
            <a:ext cx="258867" cy="35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1" descr="&lt;math xmlns=&quot;http://www.w3.org/1998/Math/MathML&quot; display=&quot;block&quot; data-is-equatio=&quot;1&quot; data-latex=&quot;\frac{20}{20}\ \ \frac{1}{20}\ \ \frac{5}{20}\ \ \frac{18}{20}\ \ \frac{11}{20}\ \ \frac{9}{20}&quot;&gt;&lt;mfrac&gt;&lt;mn&gt;20&lt;/mn&gt;&lt;mn&gt;20&lt;/mn&gt;&lt;/mfrac&gt;&lt;mtext&gt;&lt;/mtext&gt;&lt;mtext&gt;&lt;/mtext&gt;&lt;mfrac&gt;&lt;mn&gt;1&lt;/mn&gt;&lt;mn&gt;20&lt;/mn&gt;&lt;/mfrac&gt;&lt;mtext&gt;&lt;/mtext&gt;&lt;mtext&gt;&lt;/mtext&gt;&lt;mfrac&gt;&lt;mn&gt;5&lt;/mn&gt;&lt;mn&gt;20&lt;/mn&gt;&lt;/mfrac&gt;&lt;mtext&gt;&lt;/mtext&gt;&lt;mtext&gt;&lt;/mtext&gt;&lt;mfrac&gt;&lt;mn&gt;18&lt;/mn&gt;&lt;mn&gt;20&lt;/mn&gt;&lt;/mfrac&gt;&lt;mtext&gt;&lt;/mtext&gt;&lt;mtext&gt;&lt;/mtext&gt;&lt;mfrac&gt;&lt;mn&gt;11&lt;/mn&gt;&lt;mn&gt;20&lt;/mn&gt;&lt;/mfrac&gt;&lt;mtext&gt;&lt;/mtext&gt;&lt;mtext&gt;&lt;/mtext&gt;&lt;mfrac&gt;&lt;mn&gt;9&lt;/mn&gt;&lt;mn&gt;20&lt;/mn&gt;&lt;/mfrac&gt;&lt;/math&gt;" title="20 over 20 1 over 20 5 over 20 18 over 20 11 over 20 9 over 20"/>
          <p:cNvPicPr preferRelativeResize="0"/>
          <p:nvPr/>
        </p:nvPicPr>
        <p:blipFill>
          <a:blip r:embed="rId4">
            <a:alphaModFix/>
          </a:blip>
          <a:srcRect l="88444"/>
          <a:stretch>
            <a:fillRect/>
          </a:stretch>
        </p:blipFill>
        <p:spPr>
          <a:xfrm>
            <a:off x="3495058" y="2364611"/>
            <a:ext cx="204245" cy="35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1" descr="&lt;math xmlns=&quot;http://www.w3.org/1998/Math/MathML&quot; display=&quot;block&quot; data-is-equatio=&quot;1&quot; data-latex=&quot;\frac{5}{6}\ \ \ \frac{5}{5}\ \ \ \frac{5}{1000}\ \ \ \frac{5}{10}\ \ \ \frac{5}{12}\ \ \ \frac{5}{11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2&lt;/mn&gt;&lt;/mfrac&gt;&lt;mtext&gt;&lt;/mtext&gt;&lt;mtext&gt;&lt;/mtext&gt;&lt;mtext&gt;&lt;/mtext&gt;&lt;mfrac&gt;&lt;mn&gt;5&lt;/mn&gt;&lt;mn&gt;11&lt;/mn&gt;&lt;/mfrac&gt;&lt;/math&gt;" title="five sixths five fifths 5 over 1000 five tenths 5 over 12 5 over 11"/>
          <p:cNvPicPr preferRelativeResize="0"/>
          <p:nvPr/>
        </p:nvPicPr>
        <p:blipFill>
          <a:blip r:embed="rId5">
            <a:alphaModFix/>
          </a:blip>
          <a:srcRect r="91316"/>
          <a:stretch>
            <a:fillRect/>
          </a:stretch>
        </p:blipFill>
        <p:spPr>
          <a:xfrm>
            <a:off x="6017088" y="4798325"/>
            <a:ext cx="164478" cy="340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 descr="&lt;math xmlns=&quot;http://www.w3.org/1998/Math/MathML&quot; display=&quot;block&quot; data-is-equatio=&quot;1&quot; data-latex=&quot;\frac{5}{6}\ \ \ \frac{5}{5}\ \ \ \frac{5}{1000}\ \ \ \frac{5}{10}\ \ \ \frac{5}{12}\ \ \ \frac{5}{11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2&lt;/mn&gt;&lt;/mfrac&gt;&lt;mtext&gt;&lt;/mtext&gt;&lt;mtext&gt;&lt;/mtext&gt;&lt;mtext&gt;&lt;/mtext&gt;&lt;mfrac&gt;&lt;mn&gt;5&lt;/mn&gt;&lt;mn&gt;11&lt;/mn&gt;&lt;/mfrac&gt;&lt;/math&gt;" title="five sixths five fifths 5 over 1000 five tenths 5 over 12 5 over 11"/>
          <p:cNvPicPr preferRelativeResize="0"/>
          <p:nvPr/>
        </p:nvPicPr>
        <p:blipFill>
          <a:blip r:embed="rId5">
            <a:alphaModFix/>
          </a:blip>
          <a:srcRect l="11807" r="77409"/>
          <a:stretch>
            <a:fillRect/>
          </a:stretch>
        </p:blipFill>
        <p:spPr>
          <a:xfrm>
            <a:off x="6584842" y="4798325"/>
            <a:ext cx="204245" cy="340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1" descr="&lt;math xmlns=&quot;http://www.w3.org/1998/Math/MathML&quot; display=&quot;block&quot; data-is-equatio=&quot;1&quot; data-latex=&quot;\frac{5}{6}\ \ \ \frac{5}{5}\ \ \ \frac{5}{1000}\ \ \ \frac{5}{10}\ \ \ \frac{5}{12}\ \ \ \frac{5}{11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2&lt;/mn&gt;&lt;/mfrac&gt;&lt;mtext&gt;&lt;/mtext&gt;&lt;mtext&gt;&lt;/mtext&gt;&lt;mtext&gt;&lt;/mtext&gt;&lt;mfrac&gt;&lt;mn&gt;5&lt;/mn&gt;&lt;mn&gt;11&lt;/mn&gt;&lt;/mfrac&gt;&lt;/math&gt;" title="five sixths five fifths 5 over 1000 five tenths 5 over 12 5 over 11"/>
          <p:cNvPicPr preferRelativeResize="0"/>
          <p:nvPr/>
        </p:nvPicPr>
        <p:blipFill>
          <a:blip r:embed="rId5">
            <a:alphaModFix/>
          </a:blip>
          <a:srcRect l="25840" r="52341"/>
          <a:stretch>
            <a:fillRect/>
          </a:stretch>
        </p:blipFill>
        <p:spPr>
          <a:xfrm>
            <a:off x="1027127" y="4798325"/>
            <a:ext cx="413292" cy="340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1" descr="&lt;math xmlns=&quot;http://www.w3.org/1998/Math/MathML&quot; display=&quot;block&quot; data-is-equatio=&quot;1&quot; data-latex=&quot;\frac{5}{6}\ \ \ \frac{5}{5}\ \ \ \frac{5}{1000}\ \ \ \frac{5}{10}\ \ \ \frac{5}{12}\ \ \ \frac{5}{11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2&lt;/mn&gt;&lt;/mfrac&gt;&lt;mtext&gt;&lt;/mtext&gt;&lt;mtext&gt;&lt;/mtext&gt;&lt;mtext&gt;&lt;/mtext&gt;&lt;mfrac&gt;&lt;mn&gt;5&lt;/mn&gt;&lt;mn&gt;11&lt;/mn&gt;&lt;/mfrac&gt;&lt;/math&gt;" title="five sixths five fifths 5 over 1000 five tenths 5 over 12 5 over 11"/>
          <p:cNvPicPr preferRelativeResize="0"/>
          <p:nvPr/>
        </p:nvPicPr>
        <p:blipFill>
          <a:blip r:embed="rId5">
            <a:alphaModFix/>
          </a:blip>
          <a:srcRect l="51670" r="34663"/>
          <a:stretch>
            <a:fillRect/>
          </a:stretch>
        </p:blipFill>
        <p:spPr>
          <a:xfrm>
            <a:off x="3684071" y="4798325"/>
            <a:ext cx="258867" cy="340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 descr="&lt;math xmlns=&quot;http://www.w3.org/1998/Math/MathML&quot; display=&quot;block&quot; data-is-equatio=&quot;1&quot; data-latex=&quot;\frac{5}{6}\ \ \ \frac{5}{5}\ \ \ \frac{5}{1000}\ \ \ \frac{5}{10}\ \ \ \frac{5}{11}\ \ \ \frac{5}{9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1&lt;/mn&gt;&lt;/mfrac&gt;&lt;mtext&gt;&lt;/mtext&gt;&lt;mtext&gt;&lt;/mtext&gt;&lt;mtext&gt;&lt;/mtext&gt;&lt;mfrac&gt;&lt;mn&gt;5&lt;/mn&gt;&lt;mn&gt;9&lt;/mn&gt;&lt;/mfrac&gt;&lt;/math&gt;" title="five sixths five fifths 5 over 1000 five tenths 5 over 11 five ninths"/>
          <p:cNvPicPr preferRelativeResize="0"/>
          <p:nvPr/>
        </p:nvPicPr>
        <p:blipFill>
          <a:blip r:embed="rId3">
            <a:alphaModFix/>
          </a:blip>
          <a:srcRect l="74350" r="11879"/>
          <a:stretch>
            <a:fillRect/>
          </a:stretch>
        </p:blipFill>
        <p:spPr>
          <a:xfrm>
            <a:off x="3254343" y="4790047"/>
            <a:ext cx="258867" cy="35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 descr="&lt;math xmlns=&quot;http://www.w3.org/1998/Math/MathML&quot; display=&quot;block&quot; data-is-equatio=&quot;1&quot; data-latex=&quot;\frac{5}{6}\ \ \ \frac{5}{5}\ \ \ \frac{5}{1000}\ \ \ \frac{5}{10}\ \ \ \frac{5}{11}\ \ \ \frac{5}{9}&quot;&gt;&lt;mfrac&gt;&lt;mn&gt;5&lt;/mn&gt;&lt;mn&gt;6&lt;/mn&gt;&lt;/mfrac&gt;&lt;mtext&gt;&lt;/mtext&gt;&lt;mtext&gt;&lt;/mtext&gt;&lt;mtext&gt;&lt;/mtext&gt;&lt;mfrac&gt;&lt;mn&gt;5&lt;/mn&gt;&lt;mn&gt;5&lt;/mn&gt;&lt;/mfrac&gt;&lt;mtext&gt;&lt;/mtext&gt;&lt;mtext&gt;&lt;/mtext&gt;&lt;mtext&gt;&lt;/mtext&gt;&lt;mfrac&gt;&lt;mn&gt;5&lt;/mn&gt;&lt;mn&gt;1000&lt;/mn&gt;&lt;/mfrac&gt;&lt;mtext&gt;&lt;/mtext&gt;&lt;mtext&gt;&lt;/mtext&gt;&lt;mtext&gt;&lt;/mtext&gt;&lt;mfrac&gt;&lt;mn&gt;5&lt;/mn&gt;&lt;mn&gt;10&lt;/mn&gt;&lt;/mfrac&gt;&lt;mtext&gt;&lt;/mtext&gt;&lt;mtext&gt;&lt;/mtext&gt;&lt;mtext&gt;&lt;/mtext&gt;&lt;mfrac&gt;&lt;mn&gt;5&lt;/mn&gt;&lt;mn&gt;11&lt;/mn&gt;&lt;/mfrac&gt;&lt;mtext&gt;&lt;/mtext&gt;&lt;mtext&gt;&lt;/mtext&gt;&lt;mtext&gt;&lt;/mtext&gt;&lt;mfrac&gt;&lt;mn&gt;5&lt;/mn&gt;&lt;mn&gt;9&lt;/mn&gt;&lt;/mfrac&gt;&lt;/math&gt;" title="five sixths five fifths 5 over 1000 five tenths 5 over 11 five ninths"/>
          <p:cNvPicPr preferRelativeResize="0"/>
          <p:nvPr/>
        </p:nvPicPr>
        <p:blipFill>
          <a:blip r:embed="rId3">
            <a:alphaModFix/>
          </a:blip>
          <a:srcRect l="91250"/>
          <a:stretch>
            <a:fillRect/>
          </a:stretch>
        </p:blipFill>
        <p:spPr>
          <a:xfrm>
            <a:off x="4174192" y="4790047"/>
            <a:ext cx="164479" cy="35298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 txBox="1"/>
          <p:nvPr/>
        </p:nvSpPr>
        <p:spPr>
          <a:xfrm>
            <a:off x="476400" y="6169500"/>
            <a:ext cx="5371800" cy="1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blanks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6" name="Google Shape;346;p21"/>
          <p:cNvGraphicFramePr>
            <a:graphicFrameLocks noGrp="1"/>
          </p:cNvGraphicFramePr>
          <p:nvPr/>
        </p:nvGraphicFramePr>
        <p:xfrm>
          <a:off x="476400" y="657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{CFD607F4-B1B7-4E51-B163-F98B6D7644D5}</a:tableStyleId>
              </a:tblPr>
              <a:tblGrid>
                <a:gridCol w="886325"/>
                <a:gridCol w="1078900"/>
                <a:gridCol w="1071575"/>
                <a:gridCol w="1206825"/>
                <a:gridCol w="1225575"/>
                <a:gridCol w="1146475"/>
              </a:tblGrid>
              <a:tr h="911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event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as a fraction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as a decimal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probability as a percentage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 of likelihood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expected frequency in 600 trials</a:t>
                      </a:r>
                      <a:endParaRPr sz="1200" b="1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example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even chance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unlikely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75%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55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47" name="Google Shape;347;p21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3818" y="7580975"/>
            <a:ext cx="87852" cy="27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descr="&lt;math xmlns=&quot;http://www.w3.org/1998/Math/MathML&quot; display=&quot;block&quot; data-is-equatio=&quot;1&quot; data-latex=&quot;\frac{2}{5}&quot;&gt;&lt;mfrac&gt;&lt;mn&gt;2&lt;/mn&gt;&lt;mn&gt;5&lt;/mn&gt;&lt;/mfrac&gt;&lt;/math&gt;" title="two fif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28731" y="8895357"/>
            <a:ext cx="87856" cy="28235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1"/>
          <p:cNvSpPr txBox="1"/>
          <p:nvPr/>
        </p:nvSpPr>
        <p:spPr>
          <a:xfrm>
            <a:off x="3638917" y="8067640"/>
            <a:ext cx="3945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6003471" y="8067640"/>
            <a:ext cx="3945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51" name="Google Shape;351;p21" descr="&lt;math xmlns=&quot;http://www.w3.org/1998/Math/MathML&quot; display=&quot;block&quot; data-is-equatio=&quot;1&quot; data-latex=&quot;\frac{1}{4\ }\ \ \ \frac{3}{4}\ \ \ &quot;&gt;&lt;mfrac&gt;&lt;mn&gt;1&lt;/mn&gt;&lt;mrow&gt;&lt;mn&gt;4&lt;/mn&gt;&lt;mtext&gt;&lt;/mtext&gt;&lt;/mrow&gt;&lt;/mfrac&gt;&lt;mtext&gt;&lt;/mtext&gt;&lt;mtext&gt;&lt;/mtext&gt;&lt;mtext&gt;&lt;/mtext&gt;&lt;mfrac&gt;&lt;mn&gt;3&lt;/mn&gt;&lt;mn&gt;4&lt;/mn&gt;&lt;/mfrac&gt;&lt;mtext&gt;&lt;/mtext&gt;&lt;mtext&gt;&lt;/mtext&gt;&lt;mtext&gt;&lt;/mtext&gt;&lt;/math&gt;" title="1 over 4 three fourths"/>
          <p:cNvPicPr preferRelativeResize="0"/>
          <p:nvPr/>
        </p:nvPicPr>
        <p:blipFill>
          <a:blip r:embed="rId8">
            <a:alphaModFix/>
          </a:blip>
          <a:srcRect r="51709"/>
          <a:stretch>
            <a:fillRect/>
          </a:stretch>
        </p:blipFill>
        <p:spPr>
          <a:xfrm>
            <a:off x="1616704" y="7985895"/>
            <a:ext cx="171508" cy="293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 descr="&lt;math xmlns=&quot;http://www.w3.org/1998/Math/MathML&quot; display=&quot;block&quot; data-is-equatio=&quot;1&quot; data-latex=&quot;\frac{1}{4\ }\ \ \ \frac{3}{4}\ \ \ &quot;&gt;&lt;mfrac&gt;&lt;mn&gt;1&lt;/mn&gt;&lt;mrow&gt;&lt;mn&gt;4&lt;/mn&gt;&lt;mtext&gt;&lt;/mtext&gt;&lt;/mrow&gt;&lt;/mfrac&gt;&lt;mtext&gt;&lt;/mtext&gt;&lt;mtext&gt;&lt;/mtext&gt;&lt;mtext&gt;&lt;/mtext&gt;&lt;mfrac&gt;&lt;mn&gt;3&lt;/mn&gt;&lt;mn&gt;4&lt;/mn&gt;&lt;/mfrac&gt;&lt;mtext&gt;&lt;/mtext&gt;&lt;mtext&gt;&lt;/mtext&gt;&lt;mtext&gt;&lt;/mtext&gt;&lt;/math&gt;" title="1 over 4 three fourths"/>
          <p:cNvPicPr preferRelativeResize="0"/>
          <p:nvPr/>
        </p:nvPicPr>
        <p:blipFill>
          <a:blip r:embed="rId8">
            <a:alphaModFix/>
          </a:blip>
          <a:srcRect l="61612"/>
          <a:stretch>
            <a:fillRect/>
          </a:stretch>
        </p:blipFill>
        <p:spPr>
          <a:xfrm>
            <a:off x="1591325" y="8472613"/>
            <a:ext cx="136337" cy="29312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1"/>
          <p:cNvSpPr txBox="1"/>
          <p:nvPr/>
        </p:nvSpPr>
        <p:spPr>
          <a:xfrm>
            <a:off x="2505368" y="8538757"/>
            <a:ext cx="4911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0.75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4814392" y="8538757"/>
            <a:ext cx="9348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likely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6004734" y="8538757"/>
            <a:ext cx="9348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450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2505368" y="8986196"/>
            <a:ext cx="4911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3622109" y="8986196"/>
            <a:ext cx="4911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4822291" y="8986196"/>
            <a:ext cx="6429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unlikely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6057264" y="8986196"/>
            <a:ext cx="4911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240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4822291" y="9433634"/>
            <a:ext cx="9348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impossible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3630002" y="9433634"/>
            <a:ext cx="9348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0%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2514523" y="9357434"/>
            <a:ext cx="491100" cy="2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1640041" y="9355945"/>
            <a:ext cx="442500" cy="2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67" name="Shape 367"/>
        <p:cNvGrpSpPr/>
        <p:nvPr/>
      </p:nvGrpSpPr>
      <p:grpSpPr>
        <a:xfrm>
          <a:off x="0" y="0"/>
          <a:ext cx="0" cy="0"/>
        </a:xfrm>
      </p:grpSpPr>
      <p:sp>
        <p:nvSpPr>
          <p:cNvPr id="368" name="Google Shape;368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369" name="Google Shape;369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The probability scale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Mathematics in Education and Industry</a:t>
            </a:r>
            <a:endParaRPr/>
          </a:p>
        </p:txBody>
      </p:sp>
      <p:pic>
        <p:nvPicPr>
          <p:cNvPr id="372" name="Google Shape;372;p22"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title="three tenths seven tenths"/>
          <p:cNvPicPr preferRelativeResize="0"/>
          <p:nvPr/>
        </p:nvPicPr>
        <p:blipFill>
          <a:blip r:embed="rId3">
            <a:alphaModFix/>
          </a:blip>
          <a:srcRect l="59743"/>
          <a:stretch>
            <a:fillRect/>
          </a:stretch>
        </p:blipFill>
        <p:spPr>
          <a:xfrm>
            <a:off x="678925" y="3159300"/>
            <a:ext cx="237925" cy="3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2"/>
          <p:cNvSpPr txBox="1"/>
          <p:nvPr/>
        </p:nvSpPr>
        <p:spPr>
          <a:xfrm>
            <a:off x="476400" y="759300"/>
            <a:ext cx="63318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A dropped cone could land in one of two ways: ‘base down’ or ‘curve down’.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944651" y="1399309"/>
            <a:ext cx="6147300" cy="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P(base down) =                                         P(curve down)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646992" y="986755"/>
            <a:ext cx="4867800" cy="2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large experiment concluded the following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probabilities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552600" y="1921742"/>
            <a:ext cx="61473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cone is about to be dropped again. Which outcome is most likely to happen?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7" name="Google Shape;37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993" y="1235942"/>
            <a:ext cx="288480" cy="54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8402" y="1323102"/>
            <a:ext cx="646181" cy="35209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2"/>
          <p:cNvSpPr txBox="1"/>
          <p:nvPr/>
        </p:nvSpPr>
        <p:spPr>
          <a:xfrm>
            <a:off x="552600" y="2699646"/>
            <a:ext cx="61473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In an experiment with 100 trials, approximately how many times could you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expect the cone to land curve down?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671672" y="2306020"/>
            <a:ext cx="894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curve down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1" name="Google Shape;381;p22"/>
          <p:cNvSpPr txBox="1"/>
          <p:nvPr/>
        </p:nvSpPr>
        <p:spPr>
          <a:xfrm>
            <a:off x="1012855" y="3215841"/>
            <a:ext cx="894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of 100 = 70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82" name="Google Shape;382;p22"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title="three tenths seven tenths"/>
          <p:cNvPicPr preferRelativeResize="0"/>
          <p:nvPr/>
        </p:nvPicPr>
        <p:blipFill>
          <a:blip r:embed="rId3">
            <a:alphaModFix/>
          </a:blip>
          <a:srcRect r="59743"/>
          <a:stretch>
            <a:fillRect/>
          </a:stretch>
        </p:blipFill>
        <p:spPr>
          <a:xfrm>
            <a:off x="2151257" y="1350232"/>
            <a:ext cx="237922" cy="35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2" descr="&lt;math xmlns=&quot;http://www.w3.org/1998/Math/MathML&quot; display=&quot;block&quot; data-is-equatio=&quot;1&quot; data-latex=&quot;\frac{3}{10}\ \ \ \ \frac{7}{10}&quot;&gt;&lt;mfrac&gt;&lt;mn&gt;3&lt;/mn&gt;&lt;mn&gt;10&lt;/mn&gt;&lt;/mfrac&gt;&lt;mtext&gt;&lt;/mtext&gt;&lt;mtext&gt;&lt;/mtext&gt;&lt;mtext&gt;&lt;/mtext&gt;&lt;mtext&gt;&lt;/mtext&gt;&lt;mfrac&gt;&lt;mn&gt;7&lt;/mn&gt;&lt;mn&gt;10&lt;/mn&gt;&lt;/mfrac&gt;&lt;/math&gt;" title="three tenths seven tenths"/>
          <p:cNvPicPr preferRelativeResize="0"/>
          <p:nvPr/>
        </p:nvPicPr>
        <p:blipFill>
          <a:blip r:embed="rId3">
            <a:alphaModFix/>
          </a:blip>
          <a:srcRect l="59743"/>
          <a:stretch>
            <a:fillRect/>
          </a:stretch>
        </p:blipFill>
        <p:spPr>
          <a:xfrm>
            <a:off x="5006372" y="1350232"/>
            <a:ext cx="237922" cy="35209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2"/>
          <p:cNvSpPr txBox="1"/>
          <p:nvPr/>
        </p:nvSpPr>
        <p:spPr>
          <a:xfrm>
            <a:off x="457200" y="3886200"/>
            <a:ext cx="6634800" cy="11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Use the link to access a simulation of this experiment: </a:t>
            </a: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Cone simulation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box that says ‘count’ shows the number of trials completed.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Press the ‘run’ button to begin the simulation and let it run for 100 trials.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Are the results the same as what you predicted in part (b)?</a:t>
            </a:r>
            <a:endParaRPr sz="1200"/>
          </a:p>
        </p:txBody>
      </p:sp>
      <p:sp>
        <p:nvSpPr>
          <p:cNvPr id="385" name="Google Shape;385;p22"/>
          <p:cNvSpPr txBox="1"/>
          <p:nvPr/>
        </p:nvSpPr>
        <p:spPr>
          <a:xfrm>
            <a:off x="698838" y="4999819"/>
            <a:ext cx="5963400" cy="21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Example answers: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‘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The results were similar to my prediction but not the same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.’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‘There were 89 results for curve down, which is more than what I expected.’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‘The number of times it landed curve down was much more than the number of times it landed base down, which was what I expected. But the exact number of times it landed on each side differed to what I expected.’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86" name="Google Shape;386;p22"/>
          <p:cNvSpPr txBox="1"/>
          <p:nvPr/>
        </p:nvSpPr>
        <p:spPr>
          <a:xfrm>
            <a:off x="691399" y="6830317"/>
            <a:ext cx="52476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Answers may vary depending on results from the simulation.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119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The probability scale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2024-03-05T12:28:06.927</cp:lastPrinted>
  <dcterms:created xsi:type="dcterms:W3CDTF">2024-03-05T12:28:06Z</dcterms:created>
  <dcterms:modified xsi:type="dcterms:W3CDTF">2024-03-05T12:31:01Z</dcterms:modified>
</cp:coreProperties>
</file>