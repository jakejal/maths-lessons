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762259-0100-42CC-A437-68BC8977BCE9}">
  <a:tblStyle styleId="{BC762259-0100-42CC-A437-68BC8977BC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b5da6cdd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b5da6cdd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b6f02afd7f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6f02afd7f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b6f02afd7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b6f02afd7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b5da6cddf5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b5da6cddf5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b5da6cddf5_0_1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2b5da6cddf5_0_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b5da6cddf5_0_1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2b5da6cddf5_0_1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b5da6cddf5_0_2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b5da6cddf5_0_2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b5da6cddf5_0_2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b5da6cddf5_0_2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b6f02afd7f_0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b6f02afd7f_0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b5da6cddf5_0_2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b5da6cddf5_0_2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b5da6cddf5_0_2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b5da6cddf5_0_2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b690d0cf1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2b690d0cf1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b5da6cddf5_0_2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b5da6cddf5_0_2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b690d0cf14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2b690d0cf14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b690d0cf14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b690d0cf14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b5da6cddf5_0_2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b5da6cddf5_0_2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2b5da6cddf5_0_2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2b5da6cddf5_0_2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2b690d0cf1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2b690d0cf1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2b690d0cf14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b690d0cf14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b690d0cf14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b690d0cf14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b5da6cddf5_0_2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b5da6cddf5_0_2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2b690d0cf14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2b690d0cf14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b690d0cf14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b690d0cf14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2b690d0cf1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2b690d0cf1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2b690d0cf14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2b690d0cf1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2b690d0cf14_1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2b690d0cf14_1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2b690d0cf14_1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2b690d0cf1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b690d0cf14_1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b690d0cf14_1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2b690d0cf14_1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2b690d0cf14_1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g2b690d0cf14_1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0" name="Google Shape;1700;g2b690d0cf14_1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2b6f02afd7f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2b6f02afd7f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2b690d0cf14_1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2b690d0cf14_1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2b6f02afd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2b6f02afd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2b6f02afd7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2b6f02afd7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2b690d0cf14_1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9" name="Google Shape;1789;g2b690d0cf14_1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2b6f02afd7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g2b6f02afd7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g2b6f02afd7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8" name="Google Shape;1858;g2b6f02afd7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b6f02afd7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2b6f02afd7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82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2.png"/><Relationship Id="rId4" Type="http://schemas.openxmlformats.org/officeDocument/2006/relationships/image" Target="../media/image30.png"/><Relationship Id="rId11" Type="http://schemas.openxmlformats.org/officeDocument/2006/relationships/image" Target="../media/image21.png"/><Relationship Id="rId10" Type="http://schemas.openxmlformats.org/officeDocument/2006/relationships/image" Target="../media/image39.png"/><Relationship Id="rId9" Type="http://schemas.openxmlformats.org/officeDocument/2006/relationships/image" Target="../media/image33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37.png"/><Relationship Id="rId8" Type="http://schemas.openxmlformats.org/officeDocument/2006/relationships/image" Target="../media/image3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Relationship Id="rId4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63.png"/><Relationship Id="rId5" Type="http://schemas.openxmlformats.org/officeDocument/2006/relationships/image" Target="../media/image58.png"/><Relationship Id="rId6" Type="http://schemas.openxmlformats.org/officeDocument/2006/relationships/image" Target="../media/image57.png"/><Relationship Id="rId7" Type="http://schemas.openxmlformats.org/officeDocument/2006/relationships/image" Target="../media/image62.png"/><Relationship Id="rId8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63.png"/><Relationship Id="rId5" Type="http://schemas.openxmlformats.org/officeDocument/2006/relationships/image" Target="../media/image58.png"/><Relationship Id="rId6" Type="http://schemas.openxmlformats.org/officeDocument/2006/relationships/image" Target="../media/image57.png"/><Relationship Id="rId7" Type="http://schemas.openxmlformats.org/officeDocument/2006/relationships/image" Target="../media/image62.png"/><Relationship Id="rId8" Type="http://schemas.openxmlformats.org/officeDocument/2006/relationships/image" Target="../media/image5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63.png"/><Relationship Id="rId5" Type="http://schemas.openxmlformats.org/officeDocument/2006/relationships/image" Target="../media/image58.png"/><Relationship Id="rId6" Type="http://schemas.openxmlformats.org/officeDocument/2006/relationships/image" Target="../media/image57.png"/><Relationship Id="rId7" Type="http://schemas.openxmlformats.org/officeDocument/2006/relationships/image" Target="../media/image62.png"/><Relationship Id="rId8" Type="http://schemas.openxmlformats.org/officeDocument/2006/relationships/image" Target="../media/image5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Relationship Id="rId5" Type="http://schemas.openxmlformats.org/officeDocument/2006/relationships/image" Target="../media/image6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4.png"/><Relationship Id="rId4" Type="http://schemas.openxmlformats.org/officeDocument/2006/relationships/image" Target="../media/image7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7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hyperlink" Target="https://www.desmos.com/calculator/lu4glebgap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4.png"/><Relationship Id="rId4" Type="http://schemas.openxmlformats.org/officeDocument/2006/relationships/image" Target="../media/image71.png"/><Relationship Id="rId5" Type="http://schemas.openxmlformats.org/officeDocument/2006/relationships/image" Target="../media/image7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0.png"/><Relationship Id="rId4" Type="http://schemas.openxmlformats.org/officeDocument/2006/relationships/image" Target="../media/image7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desmos.com/calculator/lu4glebgap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probability scale</a:t>
            </a:r>
            <a:endParaRPr/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assign a numerical value to an outcome to give the probability that the outcome will occur.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/>
          <p:nvPr>
            <p:ph idx="2" type="subTitle"/>
          </p:nvPr>
        </p:nvSpPr>
        <p:spPr>
          <a:xfrm>
            <a:off x="324000" y="2173438"/>
            <a:ext cx="8496000" cy="8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 outcome has even chance if its likelihood of happening is the same as its likelihood of not happening.</a:t>
            </a:r>
            <a:endParaRPr sz="1800"/>
          </a:p>
        </p:txBody>
      </p:sp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0488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 outcome is impossible if there is no possibility that it can happen.</a:t>
            </a:r>
            <a:endParaRPr sz="1800"/>
          </a:p>
        </p:txBody>
      </p:sp>
      <p:sp>
        <p:nvSpPr>
          <p:cNvPr id="771" name="Google Shape;771;p66"/>
          <p:cNvSpPr txBox="1"/>
          <p:nvPr>
            <p:ph idx="2" type="subTitle"/>
          </p:nvPr>
        </p:nvSpPr>
        <p:spPr>
          <a:xfrm>
            <a:off x="324000" y="1611144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 outcome is certain if it is guaranteed to happen.</a:t>
            </a:r>
            <a:endParaRPr sz="1800"/>
          </a:p>
        </p:txBody>
      </p:sp>
      <p:sp>
        <p:nvSpPr>
          <p:cNvPr id="772" name="Google Shape;772;p66"/>
          <p:cNvSpPr txBox="1"/>
          <p:nvPr/>
        </p:nvSpPr>
        <p:spPr>
          <a:xfrm>
            <a:off x="324000" y="3030050"/>
            <a:ext cx="84960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experiment is a repetition of a trial multiple times in order to observe how often each outcome occurs.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idx="1" type="subTitle"/>
          </p:nvPr>
        </p:nvSpPr>
        <p:spPr>
          <a:xfrm>
            <a:off x="324000" y="1048850"/>
            <a:ext cx="8496000" cy="7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The </a:t>
            </a:r>
            <a:r>
              <a:rPr b="1" lang="en-GB" sz="2000">
                <a:solidFill>
                  <a:schemeClr val="dk1"/>
                </a:solidFill>
              </a:rPr>
              <a:t>probability </a:t>
            </a:r>
            <a:r>
              <a:rPr lang="en-GB" sz="2000">
                <a:solidFill>
                  <a:schemeClr val="dk1"/>
                </a:solidFill>
              </a:rPr>
              <a:t>that an event will occur is the proportion of times the event is expected to happen in a suitably large experiment.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783" name="Google Shape;783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784" name="Google Shape;784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probability</a:t>
            </a:r>
            <a:r>
              <a:rPr lang="en-GB"/>
              <a:t> scale</a:t>
            </a:r>
            <a:endParaRPr/>
          </a:p>
        </p:txBody>
      </p:sp>
      <p:pic>
        <p:nvPicPr>
          <p:cNvPr id="785" name="Google Shape;78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06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9"/>
          <p:cNvSpPr txBox="1"/>
          <p:nvPr>
            <p:ph idx="1" type="body"/>
          </p:nvPr>
        </p:nvSpPr>
        <p:spPr>
          <a:xfrm>
            <a:off x="324000" y="759300"/>
            <a:ext cx="84960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P</a:t>
            </a:r>
            <a:r>
              <a:rPr b="1" lang="en-GB" sz="2000"/>
              <a:t>robability</a:t>
            </a:r>
            <a:r>
              <a:rPr lang="en-GB" sz="2000"/>
              <a:t> is a measure of the likelihood of an outcome happening.</a:t>
            </a:r>
            <a:endParaRPr sz="2000"/>
          </a:p>
        </p:txBody>
      </p:sp>
      <p:sp>
        <p:nvSpPr>
          <p:cNvPr id="791" name="Google Shape;79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324000" y="13689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Words such as ‘</a:t>
            </a:r>
            <a:r>
              <a:rPr lang="en-GB" sz="2000">
                <a:solidFill>
                  <a:schemeClr val="accent4"/>
                </a:solidFill>
              </a:rPr>
              <a:t>likely</a:t>
            </a:r>
            <a:r>
              <a:rPr lang="en-GB" sz="2000"/>
              <a:t>’ and ‘</a:t>
            </a:r>
            <a:r>
              <a:rPr lang="en-GB" sz="2000">
                <a:solidFill>
                  <a:schemeClr val="accent4"/>
                </a:solidFill>
              </a:rPr>
              <a:t>unlikely</a:t>
            </a:r>
            <a:r>
              <a:rPr lang="en-GB" sz="2000"/>
              <a:t>’ are words that describe the likelihood an event will occur but they are relatively </a:t>
            </a:r>
            <a:r>
              <a:rPr lang="en-GB" sz="2000">
                <a:solidFill>
                  <a:schemeClr val="accent4"/>
                </a:solidFill>
              </a:rPr>
              <a:t>vague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324000" y="24357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Probabilities</a:t>
            </a:r>
            <a:r>
              <a:rPr lang="en-GB" sz="2000"/>
              <a:t> describe the likelihoods of an event in a more </a:t>
            </a:r>
            <a:r>
              <a:rPr lang="en-GB" sz="2000">
                <a:solidFill>
                  <a:schemeClr val="accent4"/>
                </a:solidFill>
              </a:rPr>
              <a:t>precise</a:t>
            </a:r>
            <a:r>
              <a:rPr lang="en-GB" sz="2000"/>
              <a:t> way by using a numerical value to indicate its likelihood.</a:t>
            </a:r>
            <a:endParaRPr sz="2000"/>
          </a:p>
        </p:txBody>
      </p:sp>
      <p:sp>
        <p:nvSpPr>
          <p:cNvPr id="794" name="Google Shape;794;p69"/>
          <p:cNvSpPr txBox="1"/>
          <p:nvPr>
            <p:ph idx="1" type="body"/>
          </p:nvPr>
        </p:nvSpPr>
        <p:spPr>
          <a:xfrm>
            <a:off x="324000" y="3502500"/>
            <a:ext cx="8237700" cy="11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probability </a:t>
            </a:r>
            <a:r>
              <a:rPr lang="en-GB" sz="2000"/>
              <a:t>that an event will occur is the </a:t>
            </a:r>
            <a:r>
              <a:rPr lang="en-GB" sz="2000">
                <a:solidFill>
                  <a:schemeClr val="accent4"/>
                </a:solidFill>
              </a:rPr>
              <a:t>proportion</a:t>
            </a:r>
            <a:r>
              <a:rPr lang="en-GB" sz="2000"/>
              <a:t> of times the event is </a:t>
            </a:r>
            <a:r>
              <a:rPr lang="en-GB" sz="2000">
                <a:solidFill>
                  <a:schemeClr val="accent4"/>
                </a:solidFill>
              </a:rPr>
              <a:t>expected</a:t>
            </a:r>
            <a:r>
              <a:rPr lang="en-GB" sz="2000"/>
              <a:t> to happen in a suitably large experiment.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0"/>
          <p:cNvSpPr txBox="1"/>
          <p:nvPr>
            <p:ph idx="1" type="body"/>
          </p:nvPr>
        </p:nvSpPr>
        <p:spPr>
          <a:xfrm>
            <a:off x="324000" y="759300"/>
            <a:ext cx="8237700" cy="4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</a:rPr>
              <a:t>An event that is </a:t>
            </a:r>
            <a:r>
              <a:rPr lang="en-GB" sz="1900">
                <a:solidFill>
                  <a:schemeClr val="accent4"/>
                </a:solidFill>
              </a:rPr>
              <a:t>certain</a:t>
            </a:r>
            <a:r>
              <a:rPr lang="en-GB" sz="1900">
                <a:solidFill>
                  <a:srgbClr val="282828"/>
                </a:solidFill>
              </a:rPr>
              <a:t> has </a:t>
            </a:r>
            <a:r>
              <a:rPr lang="en-GB" sz="1900">
                <a:solidFill>
                  <a:schemeClr val="accent4"/>
                </a:solidFill>
              </a:rPr>
              <a:t>100%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b="1" lang="en-GB" sz="1900">
                <a:solidFill>
                  <a:srgbClr val="282828"/>
                </a:solidFill>
              </a:rPr>
              <a:t>probability</a:t>
            </a:r>
            <a:r>
              <a:rPr lang="en-GB" sz="1900">
                <a:solidFill>
                  <a:srgbClr val="282828"/>
                </a:solidFill>
              </a:rPr>
              <a:t> of happening.</a:t>
            </a:r>
            <a:endParaRPr sz="1900">
              <a:solidFill>
                <a:srgbClr val="282828"/>
              </a:solidFill>
            </a:endParaRPr>
          </a:p>
        </p:txBody>
      </p:sp>
      <p:sp>
        <p:nvSpPr>
          <p:cNvPr id="800" name="Google Shape;80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801" name="Google Shape;801;p70"/>
          <p:cNvSpPr/>
          <p:nvPr/>
        </p:nvSpPr>
        <p:spPr>
          <a:xfrm>
            <a:off x="7617718" y="2300527"/>
            <a:ext cx="1086000" cy="10863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70"/>
          <p:cNvSpPr txBox="1"/>
          <p:nvPr/>
        </p:nvSpPr>
        <p:spPr>
          <a:xfrm>
            <a:off x="7921040" y="2861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3" name="Google Shape;803;p70"/>
          <p:cNvGrpSpPr/>
          <p:nvPr/>
        </p:nvGrpSpPr>
        <p:grpSpPr>
          <a:xfrm>
            <a:off x="8129596" y="2359814"/>
            <a:ext cx="60134" cy="523187"/>
            <a:chOff x="996050" y="213293"/>
            <a:chExt cx="93900" cy="909732"/>
          </a:xfrm>
        </p:grpSpPr>
        <p:cxnSp>
          <p:nvCxnSpPr>
            <p:cNvPr id="804" name="Google Shape;804;p7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05" name="Google Shape;805;p7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6" name="Google Shape;806;p70"/>
          <p:cNvSpPr txBox="1"/>
          <p:nvPr>
            <p:ph idx="1" type="body"/>
          </p:nvPr>
        </p:nvSpPr>
        <p:spPr>
          <a:xfrm>
            <a:off x="324000" y="1216500"/>
            <a:ext cx="82377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</a:rPr>
              <a:t>E.g. 100% of the trials conducted with this spinner would be ‘win’.</a:t>
            </a:r>
            <a:endParaRPr sz="1900">
              <a:solidFill>
                <a:srgbClr val="282828"/>
              </a:solidFill>
            </a:endParaRPr>
          </a:p>
        </p:txBody>
      </p:sp>
      <p:sp>
        <p:nvSpPr>
          <p:cNvPr id="807" name="Google Shape;807;p70"/>
          <p:cNvSpPr/>
          <p:nvPr/>
        </p:nvSpPr>
        <p:spPr>
          <a:xfrm>
            <a:off x="7577350" y="2194175"/>
            <a:ext cx="1157700" cy="1299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70"/>
          <p:cNvSpPr txBox="1"/>
          <p:nvPr/>
        </p:nvSpPr>
        <p:spPr>
          <a:xfrm>
            <a:off x="7749325" y="4145637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0"/>
          <p:cNvSpPr txBox="1"/>
          <p:nvPr/>
        </p:nvSpPr>
        <p:spPr>
          <a:xfrm>
            <a:off x="324000" y="4145637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0"/>
          <p:cNvSpPr txBox="1"/>
          <p:nvPr/>
        </p:nvSpPr>
        <p:spPr>
          <a:xfrm>
            <a:off x="7825525" y="3786450"/>
            <a:ext cx="7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1" name="Google Shape;811;p70"/>
          <p:cNvGrpSpPr/>
          <p:nvPr/>
        </p:nvGrpSpPr>
        <p:grpSpPr>
          <a:xfrm>
            <a:off x="984954" y="3400951"/>
            <a:ext cx="7187400" cy="461687"/>
            <a:chOff x="992233" y="3276625"/>
            <a:chExt cx="7187400" cy="658800"/>
          </a:xfrm>
        </p:grpSpPr>
        <p:cxnSp>
          <p:nvCxnSpPr>
            <p:cNvPr id="812" name="Google Shape;812;p70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3" name="Google Shape;813;p70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4" name="Google Shape;814;p70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5" name="Google Shape;815;p70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6" name="Google Shape;816;p70"/>
          <p:cNvSpPr txBox="1"/>
          <p:nvPr/>
        </p:nvSpPr>
        <p:spPr>
          <a:xfrm>
            <a:off x="3850025" y="4145637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7" name="Google Shape;817;p70"/>
          <p:cNvCxnSpPr/>
          <p:nvPr/>
        </p:nvCxnSpPr>
        <p:spPr>
          <a:xfrm>
            <a:off x="4621625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8" name="Google Shape;818;p70"/>
          <p:cNvSpPr txBox="1"/>
          <p:nvPr/>
        </p:nvSpPr>
        <p:spPr>
          <a:xfrm>
            <a:off x="2300175" y="4479871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 txBox="1"/>
          <p:nvPr/>
        </p:nvSpPr>
        <p:spPr>
          <a:xfrm>
            <a:off x="6054451" y="4487136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0" name="Google Shape;820;p70"/>
          <p:cNvCxnSpPr/>
          <p:nvPr/>
        </p:nvCxnSpPr>
        <p:spPr>
          <a:xfrm>
            <a:off x="1018454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1"/>
          <p:cNvSpPr txBox="1"/>
          <p:nvPr>
            <p:ph idx="1" type="body"/>
          </p:nvPr>
        </p:nvSpPr>
        <p:spPr>
          <a:xfrm>
            <a:off x="324000" y="759300"/>
            <a:ext cx="8496000" cy="4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</a:rPr>
              <a:t>An event that is </a:t>
            </a:r>
            <a:r>
              <a:rPr lang="en-GB" sz="1900">
                <a:solidFill>
                  <a:schemeClr val="accent4"/>
                </a:solidFill>
              </a:rPr>
              <a:t>impossible</a:t>
            </a:r>
            <a:r>
              <a:rPr lang="en-GB" sz="1900">
                <a:solidFill>
                  <a:srgbClr val="282828"/>
                </a:solidFill>
              </a:rPr>
              <a:t> has </a:t>
            </a:r>
            <a:r>
              <a:rPr lang="en-GB" sz="1900">
                <a:solidFill>
                  <a:schemeClr val="accent4"/>
                </a:solidFill>
              </a:rPr>
              <a:t>0%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b="1" lang="en-GB" sz="1900">
                <a:solidFill>
                  <a:srgbClr val="282828"/>
                </a:solidFill>
              </a:rPr>
              <a:t>probability</a:t>
            </a:r>
            <a:r>
              <a:rPr lang="en-GB" sz="1900">
                <a:solidFill>
                  <a:srgbClr val="282828"/>
                </a:solidFill>
              </a:rPr>
              <a:t> of happening.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826" name="Google Shape;82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827" name="Google Shape;827;p71"/>
          <p:cNvSpPr/>
          <p:nvPr/>
        </p:nvSpPr>
        <p:spPr>
          <a:xfrm>
            <a:off x="7617718" y="2300527"/>
            <a:ext cx="1086000" cy="10863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71"/>
          <p:cNvSpPr txBox="1"/>
          <p:nvPr/>
        </p:nvSpPr>
        <p:spPr>
          <a:xfrm>
            <a:off x="7921040" y="2861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9" name="Google Shape;829;p71"/>
          <p:cNvGrpSpPr/>
          <p:nvPr/>
        </p:nvGrpSpPr>
        <p:grpSpPr>
          <a:xfrm>
            <a:off x="8129596" y="2359814"/>
            <a:ext cx="60134" cy="523187"/>
            <a:chOff x="996050" y="213293"/>
            <a:chExt cx="93900" cy="909732"/>
          </a:xfrm>
        </p:grpSpPr>
        <p:cxnSp>
          <p:nvCxnSpPr>
            <p:cNvPr id="830" name="Google Shape;830;p7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1" name="Google Shape;831;p7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2" name="Google Shape;832;p71"/>
          <p:cNvSpPr txBox="1"/>
          <p:nvPr>
            <p:ph idx="1" type="body"/>
          </p:nvPr>
        </p:nvSpPr>
        <p:spPr>
          <a:xfrm>
            <a:off x="324000" y="1216500"/>
            <a:ext cx="8237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</a:rPr>
              <a:t>E.g. 0 of the trials conducted with this spinner would be ‘win’.</a:t>
            </a:r>
            <a:endParaRPr sz="1900">
              <a:solidFill>
                <a:srgbClr val="282828"/>
              </a:solidFill>
            </a:endParaRPr>
          </a:p>
        </p:txBody>
      </p:sp>
      <p:sp>
        <p:nvSpPr>
          <p:cNvPr id="833" name="Google Shape;833;p71"/>
          <p:cNvSpPr/>
          <p:nvPr/>
        </p:nvSpPr>
        <p:spPr>
          <a:xfrm>
            <a:off x="442210" y="2300527"/>
            <a:ext cx="1086000" cy="10863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71"/>
          <p:cNvSpPr txBox="1"/>
          <p:nvPr/>
        </p:nvSpPr>
        <p:spPr>
          <a:xfrm>
            <a:off x="689262" y="280680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5" name="Google Shape;835;p71"/>
          <p:cNvGrpSpPr/>
          <p:nvPr/>
        </p:nvGrpSpPr>
        <p:grpSpPr>
          <a:xfrm>
            <a:off x="954088" y="2359814"/>
            <a:ext cx="60134" cy="523187"/>
            <a:chOff x="996050" y="213293"/>
            <a:chExt cx="93900" cy="909732"/>
          </a:xfrm>
        </p:grpSpPr>
        <p:cxnSp>
          <p:nvCxnSpPr>
            <p:cNvPr id="836" name="Google Shape;836;p7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7" name="Google Shape;837;p7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8" name="Google Shape;838;p71"/>
          <p:cNvSpPr/>
          <p:nvPr/>
        </p:nvSpPr>
        <p:spPr>
          <a:xfrm>
            <a:off x="409197" y="2194175"/>
            <a:ext cx="1157700" cy="1299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1"/>
          <p:cNvSpPr txBox="1"/>
          <p:nvPr/>
        </p:nvSpPr>
        <p:spPr>
          <a:xfrm>
            <a:off x="7749325" y="4145637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1"/>
          <p:cNvSpPr txBox="1"/>
          <p:nvPr/>
        </p:nvSpPr>
        <p:spPr>
          <a:xfrm>
            <a:off x="324000" y="4145637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1"/>
          <p:cNvSpPr txBox="1"/>
          <p:nvPr/>
        </p:nvSpPr>
        <p:spPr>
          <a:xfrm>
            <a:off x="738925" y="3786450"/>
            <a:ext cx="59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2" name="Google Shape;842;p71"/>
          <p:cNvGrpSpPr/>
          <p:nvPr/>
        </p:nvGrpSpPr>
        <p:grpSpPr>
          <a:xfrm>
            <a:off x="984954" y="3400951"/>
            <a:ext cx="7187400" cy="461687"/>
            <a:chOff x="992233" y="3276625"/>
            <a:chExt cx="7187400" cy="658800"/>
          </a:xfrm>
        </p:grpSpPr>
        <p:cxnSp>
          <p:nvCxnSpPr>
            <p:cNvPr id="843" name="Google Shape;843;p71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71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71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6" name="Google Shape;846;p71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7" name="Google Shape;847;p71"/>
          <p:cNvSpPr txBox="1"/>
          <p:nvPr/>
        </p:nvSpPr>
        <p:spPr>
          <a:xfrm>
            <a:off x="3850025" y="4145637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8" name="Google Shape;848;p71"/>
          <p:cNvCxnSpPr/>
          <p:nvPr/>
        </p:nvCxnSpPr>
        <p:spPr>
          <a:xfrm>
            <a:off x="4621625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9" name="Google Shape;849;p71"/>
          <p:cNvSpPr txBox="1"/>
          <p:nvPr/>
        </p:nvSpPr>
        <p:spPr>
          <a:xfrm>
            <a:off x="2300175" y="4479871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1"/>
          <p:cNvSpPr txBox="1"/>
          <p:nvPr/>
        </p:nvSpPr>
        <p:spPr>
          <a:xfrm>
            <a:off x="6054451" y="4487136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1" name="Google Shape;851;p71"/>
          <p:cNvCxnSpPr/>
          <p:nvPr/>
        </p:nvCxnSpPr>
        <p:spPr>
          <a:xfrm>
            <a:off x="1018454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52" name="Google Shape;852;p71"/>
          <p:cNvSpPr txBox="1"/>
          <p:nvPr/>
        </p:nvSpPr>
        <p:spPr>
          <a:xfrm>
            <a:off x="7825525" y="3786450"/>
            <a:ext cx="7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2"/>
          <p:cNvSpPr txBox="1"/>
          <p:nvPr>
            <p:ph idx="1" type="body"/>
          </p:nvPr>
        </p:nvSpPr>
        <p:spPr>
          <a:xfrm>
            <a:off x="324000" y="759300"/>
            <a:ext cx="8496000" cy="4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</a:rPr>
              <a:t>An event that has an </a:t>
            </a:r>
            <a:r>
              <a:rPr lang="en-GB" sz="1900">
                <a:solidFill>
                  <a:schemeClr val="accent4"/>
                </a:solidFill>
              </a:rPr>
              <a:t>even chance</a:t>
            </a:r>
            <a:r>
              <a:rPr lang="en-GB" sz="1900">
                <a:solidFill>
                  <a:srgbClr val="282828"/>
                </a:solidFill>
              </a:rPr>
              <a:t> has </a:t>
            </a:r>
            <a:r>
              <a:rPr lang="en-GB" sz="1900">
                <a:solidFill>
                  <a:schemeClr val="accent4"/>
                </a:solidFill>
              </a:rPr>
              <a:t>50%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b="1" lang="en-GB" sz="1900">
                <a:solidFill>
                  <a:srgbClr val="282828"/>
                </a:solidFill>
              </a:rPr>
              <a:t>probability</a:t>
            </a:r>
            <a:r>
              <a:rPr lang="en-GB" sz="1900">
                <a:solidFill>
                  <a:srgbClr val="282828"/>
                </a:solidFill>
              </a:rPr>
              <a:t> of happening.</a:t>
            </a:r>
            <a:endParaRPr sz="1900">
              <a:solidFill>
                <a:srgbClr val="282828"/>
              </a:solidFill>
            </a:endParaRPr>
          </a:p>
        </p:txBody>
      </p:sp>
      <p:sp>
        <p:nvSpPr>
          <p:cNvPr id="858" name="Google Shape;85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859" name="Google Shape;859;p72"/>
          <p:cNvSpPr/>
          <p:nvPr/>
        </p:nvSpPr>
        <p:spPr>
          <a:xfrm>
            <a:off x="7617718" y="2300527"/>
            <a:ext cx="1086000" cy="10863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72"/>
          <p:cNvSpPr txBox="1"/>
          <p:nvPr/>
        </p:nvSpPr>
        <p:spPr>
          <a:xfrm>
            <a:off x="7921040" y="2861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1" name="Google Shape;861;p72"/>
          <p:cNvGrpSpPr/>
          <p:nvPr/>
        </p:nvGrpSpPr>
        <p:grpSpPr>
          <a:xfrm>
            <a:off x="8129596" y="2359814"/>
            <a:ext cx="60134" cy="523187"/>
            <a:chOff x="996050" y="213293"/>
            <a:chExt cx="93900" cy="909732"/>
          </a:xfrm>
        </p:grpSpPr>
        <p:cxnSp>
          <p:nvCxnSpPr>
            <p:cNvPr id="862" name="Google Shape;862;p7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63" name="Google Shape;863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4" name="Google Shape;864;p72"/>
          <p:cNvSpPr txBox="1"/>
          <p:nvPr>
            <p:ph idx="1" type="body"/>
          </p:nvPr>
        </p:nvSpPr>
        <p:spPr>
          <a:xfrm>
            <a:off x="324000" y="1140300"/>
            <a:ext cx="8496000" cy="6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</a:rPr>
              <a:t>E.g. If we conducted a large number of trials with this spinner then we would expect that approximately 50% of the outcomes would be ‘win’.</a:t>
            </a:r>
            <a:endParaRPr sz="1900">
              <a:solidFill>
                <a:srgbClr val="282828"/>
              </a:solidFill>
            </a:endParaRPr>
          </a:p>
        </p:txBody>
      </p:sp>
      <p:sp>
        <p:nvSpPr>
          <p:cNvPr id="865" name="Google Shape;865;p72"/>
          <p:cNvSpPr/>
          <p:nvPr/>
        </p:nvSpPr>
        <p:spPr>
          <a:xfrm>
            <a:off x="442210" y="2300527"/>
            <a:ext cx="1086000" cy="10863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72"/>
          <p:cNvSpPr txBox="1"/>
          <p:nvPr/>
        </p:nvSpPr>
        <p:spPr>
          <a:xfrm>
            <a:off x="689262" y="280680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7" name="Google Shape;867;p72"/>
          <p:cNvGrpSpPr/>
          <p:nvPr/>
        </p:nvGrpSpPr>
        <p:grpSpPr>
          <a:xfrm>
            <a:off x="954088" y="2359814"/>
            <a:ext cx="60134" cy="523187"/>
            <a:chOff x="996050" y="213293"/>
            <a:chExt cx="93900" cy="909732"/>
          </a:xfrm>
        </p:grpSpPr>
        <p:cxnSp>
          <p:nvCxnSpPr>
            <p:cNvPr id="868" name="Google Shape;868;p7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69" name="Google Shape;869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0" name="Google Shape;870;p72"/>
          <p:cNvSpPr/>
          <p:nvPr/>
        </p:nvSpPr>
        <p:spPr>
          <a:xfrm>
            <a:off x="4018076" y="2300527"/>
            <a:ext cx="1086000" cy="1086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72"/>
          <p:cNvSpPr/>
          <p:nvPr/>
        </p:nvSpPr>
        <p:spPr>
          <a:xfrm flipH="1">
            <a:off x="4027309" y="2309980"/>
            <a:ext cx="1067400" cy="1067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72"/>
          <p:cNvSpPr/>
          <p:nvPr/>
        </p:nvSpPr>
        <p:spPr>
          <a:xfrm>
            <a:off x="4027528" y="2309980"/>
            <a:ext cx="1067400" cy="1067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72"/>
          <p:cNvSpPr txBox="1"/>
          <p:nvPr/>
        </p:nvSpPr>
        <p:spPr>
          <a:xfrm>
            <a:off x="4016597" y="26324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2"/>
          <p:cNvSpPr txBox="1"/>
          <p:nvPr/>
        </p:nvSpPr>
        <p:spPr>
          <a:xfrm>
            <a:off x="4562553" y="26324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5" name="Google Shape;875;p72"/>
          <p:cNvGrpSpPr/>
          <p:nvPr/>
        </p:nvGrpSpPr>
        <p:grpSpPr>
          <a:xfrm>
            <a:off x="4529953" y="2359814"/>
            <a:ext cx="60134" cy="523187"/>
            <a:chOff x="996050" y="213293"/>
            <a:chExt cx="93900" cy="909732"/>
          </a:xfrm>
        </p:grpSpPr>
        <p:cxnSp>
          <p:nvCxnSpPr>
            <p:cNvPr id="876" name="Google Shape;876;p7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7" name="Google Shape;877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8" name="Google Shape;878;p72"/>
          <p:cNvSpPr/>
          <p:nvPr/>
        </p:nvSpPr>
        <p:spPr>
          <a:xfrm>
            <a:off x="3884687" y="2194173"/>
            <a:ext cx="1356900" cy="1299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2"/>
          <p:cNvSpPr txBox="1"/>
          <p:nvPr/>
        </p:nvSpPr>
        <p:spPr>
          <a:xfrm>
            <a:off x="7749325" y="4145637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2"/>
          <p:cNvSpPr txBox="1"/>
          <p:nvPr/>
        </p:nvSpPr>
        <p:spPr>
          <a:xfrm>
            <a:off x="324000" y="4145637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2"/>
          <p:cNvSpPr txBox="1"/>
          <p:nvPr/>
        </p:nvSpPr>
        <p:spPr>
          <a:xfrm>
            <a:off x="7825525" y="3786450"/>
            <a:ext cx="7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2"/>
          <p:cNvSpPr txBox="1"/>
          <p:nvPr/>
        </p:nvSpPr>
        <p:spPr>
          <a:xfrm>
            <a:off x="738925" y="3786450"/>
            <a:ext cx="59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3" name="Google Shape;883;p72"/>
          <p:cNvGrpSpPr/>
          <p:nvPr/>
        </p:nvGrpSpPr>
        <p:grpSpPr>
          <a:xfrm>
            <a:off x="984954" y="3400951"/>
            <a:ext cx="7187400" cy="461687"/>
            <a:chOff x="992233" y="3276625"/>
            <a:chExt cx="7187400" cy="658800"/>
          </a:xfrm>
        </p:grpSpPr>
        <p:cxnSp>
          <p:nvCxnSpPr>
            <p:cNvPr id="884" name="Google Shape;884;p72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72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72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72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88" name="Google Shape;888;p72"/>
          <p:cNvSpPr txBox="1"/>
          <p:nvPr/>
        </p:nvSpPr>
        <p:spPr>
          <a:xfrm>
            <a:off x="3850025" y="4145637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2"/>
          <p:cNvSpPr txBox="1"/>
          <p:nvPr/>
        </p:nvSpPr>
        <p:spPr>
          <a:xfrm>
            <a:off x="4320325" y="378645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0" name="Google Shape;890;p72"/>
          <p:cNvCxnSpPr/>
          <p:nvPr/>
        </p:nvCxnSpPr>
        <p:spPr>
          <a:xfrm>
            <a:off x="4621625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1" name="Google Shape;891;p72"/>
          <p:cNvSpPr txBox="1"/>
          <p:nvPr/>
        </p:nvSpPr>
        <p:spPr>
          <a:xfrm>
            <a:off x="2300175" y="4479871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2"/>
          <p:cNvSpPr txBox="1"/>
          <p:nvPr/>
        </p:nvSpPr>
        <p:spPr>
          <a:xfrm>
            <a:off x="6054451" y="4487136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3" name="Google Shape;893;p72"/>
          <p:cNvCxnSpPr/>
          <p:nvPr/>
        </p:nvCxnSpPr>
        <p:spPr>
          <a:xfrm>
            <a:off x="1018454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3"/>
          <p:cNvSpPr txBox="1"/>
          <p:nvPr>
            <p:ph idx="1" type="body"/>
          </p:nvPr>
        </p:nvSpPr>
        <p:spPr>
          <a:xfrm>
            <a:off x="324000" y="759300"/>
            <a:ext cx="8496000" cy="6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rgbClr val="282828"/>
                </a:solidFill>
              </a:rPr>
              <a:t>Probabilities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>
                <a:solidFill>
                  <a:schemeClr val="accent4"/>
                </a:solidFill>
              </a:rPr>
              <a:t>greater than 50%</a:t>
            </a:r>
            <a:r>
              <a:rPr lang="en-GB" sz="1900">
                <a:solidFill>
                  <a:srgbClr val="282828"/>
                </a:solidFill>
              </a:rPr>
              <a:t> have </a:t>
            </a:r>
            <a:r>
              <a:rPr lang="en-GB" sz="1900">
                <a:solidFill>
                  <a:schemeClr val="accent4"/>
                </a:solidFill>
              </a:rPr>
              <a:t>more than an even chance</a:t>
            </a:r>
            <a:r>
              <a:rPr lang="en-GB" sz="1900">
                <a:solidFill>
                  <a:srgbClr val="282828"/>
                </a:solidFill>
              </a:rPr>
              <a:t> of happening.</a:t>
            </a:r>
            <a:endParaRPr sz="1900">
              <a:solidFill>
                <a:srgbClr val="282828"/>
              </a:solidFill>
            </a:endParaRPr>
          </a:p>
        </p:txBody>
      </p:sp>
      <p:sp>
        <p:nvSpPr>
          <p:cNvPr id="899" name="Google Shape;89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900" name="Google Shape;900;p73"/>
          <p:cNvSpPr txBox="1"/>
          <p:nvPr/>
        </p:nvSpPr>
        <p:spPr>
          <a:xfrm>
            <a:off x="7749325" y="4145637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3"/>
          <p:cNvSpPr txBox="1"/>
          <p:nvPr/>
        </p:nvSpPr>
        <p:spPr>
          <a:xfrm>
            <a:off x="324000" y="4145637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2" name="Google Shape;902;p73"/>
          <p:cNvGrpSpPr/>
          <p:nvPr/>
        </p:nvGrpSpPr>
        <p:grpSpPr>
          <a:xfrm>
            <a:off x="8129596" y="2207414"/>
            <a:ext cx="60134" cy="523187"/>
            <a:chOff x="996050" y="213293"/>
            <a:chExt cx="93900" cy="909732"/>
          </a:xfrm>
        </p:grpSpPr>
        <p:cxnSp>
          <p:nvCxnSpPr>
            <p:cNvPr id="903" name="Google Shape;903;p7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04" name="Google Shape;904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5" name="Google Shape;905;p73"/>
          <p:cNvSpPr txBox="1"/>
          <p:nvPr>
            <p:ph idx="1" type="body"/>
          </p:nvPr>
        </p:nvSpPr>
        <p:spPr>
          <a:xfrm>
            <a:off x="324000" y="1494982"/>
            <a:ext cx="8496000" cy="10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</a:rPr>
              <a:t>E.g. If we conducted a large number of trials with this spinner, then we would expect it to land on ‘win’ </a:t>
            </a:r>
            <a:r>
              <a:rPr lang="en-GB" sz="1900">
                <a:solidFill>
                  <a:schemeClr val="accent4"/>
                </a:solidFill>
              </a:rPr>
              <a:t>more often</a:t>
            </a:r>
            <a:r>
              <a:rPr lang="en-GB" sz="1900">
                <a:solidFill>
                  <a:srgbClr val="282828"/>
                </a:solidFill>
              </a:rPr>
              <a:t> than it lands on ‘lose’.</a:t>
            </a:r>
            <a:endParaRPr sz="1900">
              <a:solidFill>
                <a:srgbClr val="282828"/>
              </a:solidFill>
            </a:endParaRPr>
          </a:p>
        </p:txBody>
      </p:sp>
      <p:sp>
        <p:nvSpPr>
          <p:cNvPr id="906" name="Google Shape;906;p73"/>
          <p:cNvSpPr txBox="1"/>
          <p:nvPr/>
        </p:nvSpPr>
        <p:spPr>
          <a:xfrm>
            <a:off x="7825525" y="3786450"/>
            <a:ext cx="7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3"/>
          <p:cNvSpPr txBox="1"/>
          <p:nvPr/>
        </p:nvSpPr>
        <p:spPr>
          <a:xfrm>
            <a:off x="738925" y="3786450"/>
            <a:ext cx="59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8" name="Google Shape;908;p73"/>
          <p:cNvGrpSpPr/>
          <p:nvPr/>
        </p:nvGrpSpPr>
        <p:grpSpPr>
          <a:xfrm>
            <a:off x="984954" y="3400951"/>
            <a:ext cx="7187400" cy="461687"/>
            <a:chOff x="992233" y="3276625"/>
            <a:chExt cx="7187400" cy="658800"/>
          </a:xfrm>
        </p:grpSpPr>
        <p:cxnSp>
          <p:nvCxnSpPr>
            <p:cNvPr id="909" name="Google Shape;909;p73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" name="Google Shape;910;p73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1" name="Google Shape;911;p73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2" name="Google Shape;912;p73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3" name="Google Shape;913;p73"/>
          <p:cNvSpPr txBox="1"/>
          <p:nvPr/>
        </p:nvSpPr>
        <p:spPr>
          <a:xfrm>
            <a:off x="3850025" y="4145637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3"/>
          <p:cNvSpPr txBox="1"/>
          <p:nvPr/>
        </p:nvSpPr>
        <p:spPr>
          <a:xfrm>
            <a:off x="4320325" y="378645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5" name="Google Shape;915;p73"/>
          <p:cNvGrpSpPr/>
          <p:nvPr/>
        </p:nvGrpSpPr>
        <p:grpSpPr>
          <a:xfrm>
            <a:off x="4529953" y="2207414"/>
            <a:ext cx="60134" cy="523187"/>
            <a:chOff x="996050" y="213293"/>
            <a:chExt cx="93900" cy="909732"/>
          </a:xfrm>
        </p:grpSpPr>
        <p:cxnSp>
          <p:nvCxnSpPr>
            <p:cNvPr id="916" name="Google Shape;916;p7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7" name="Google Shape;917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8" name="Google Shape;918;p73"/>
          <p:cNvSpPr txBox="1"/>
          <p:nvPr/>
        </p:nvSpPr>
        <p:spPr>
          <a:xfrm>
            <a:off x="50061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3"/>
          <p:cNvSpPr txBox="1"/>
          <p:nvPr/>
        </p:nvSpPr>
        <p:spPr>
          <a:xfrm>
            <a:off x="56919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3"/>
          <p:cNvSpPr txBox="1"/>
          <p:nvPr/>
        </p:nvSpPr>
        <p:spPr>
          <a:xfrm>
            <a:off x="63777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3"/>
          <p:cNvSpPr txBox="1"/>
          <p:nvPr/>
        </p:nvSpPr>
        <p:spPr>
          <a:xfrm>
            <a:off x="70635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2" name="Google Shape;922;p73"/>
          <p:cNvCxnSpPr/>
          <p:nvPr/>
        </p:nvCxnSpPr>
        <p:spPr>
          <a:xfrm>
            <a:off x="4621625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3" name="Google Shape;923;p73"/>
          <p:cNvSpPr txBox="1"/>
          <p:nvPr/>
        </p:nvSpPr>
        <p:spPr>
          <a:xfrm>
            <a:off x="6054451" y="4487136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3"/>
          <p:cNvSpPr/>
          <p:nvPr/>
        </p:nvSpPr>
        <p:spPr>
          <a:xfrm>
            <a:off x="7617718" y="2300527"/>
            <a:ext cx="1086000" cy="10863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73"/>
          <p:cNvSpPr txBox="1"/>
          <p:nvPr/>
        </p:nvSpPr>
        <p:spPr>
          <a:xfrm>
            <a:off x="7921040" y="2861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6" name="Google Shape;926;p73"/>
          <p:cNvGrpSpPr/>
          <p:nvPr/>
        </p:nvGrpSpPr>
        <p:grpSpPr>
          <a:xfrm>
            <a:off x="8129596" y="2359814"/>
            <a:ext cx="60134" cy="523187"/>
            <a:chOff x="996050" y="213293"/>
            <a:chExt cx="93900" cy="909732"/>
          </a:xfrm>
        </p:grpSpPr>
        <p:cxnSp>
          <p:nvCxnSpPr>
            <p:cNvPr id="927" name="Google Shape;927;p7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28" name="Google Shape;928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9" name="Google Shape;929;p73"/>
          <p:cNvSpPr/>
          <p:nvPr/>
        </p:nvSpPr>
        <p:spPr>
          <a:xfrm>
            <a:off x="442210" y="2300527"/>
            <a:ext cx="1086000" cy="10863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73"/>
          <p:cNvSpPr txBox="1"/>
          <p:nvPr/>
        </p:nvSpPr>
        <p:spPr>
          <a:xfrm>
            <a:off x="689262" y="280680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1" name="Google Shape;931;p73"/>
          <p:cNvGrpSpPr/>
          <p:nvPr/>
        </p:nvGrpSpPr>
        <p:grpSpPr>
          <a:xfrm>
            <a:off x="954088" y="2359814"/>
            <a:ext cx="60134" cy="523187"/>
            <a:chOff x="996050" y="213293"/>
            <a:chExt cx="93900" cy="909732"/>
          </a:xfrm>
        </p:grpSpPr>
        <p:cxnSp>
          <p:nvCxnSpPr>
            <p:cNvPr id="932" name="Google Shape;932;p7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33" name="Google Shape;933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4" name="Google Shape;934;p73"/>
          <p:cNvSpPr/>
          <p:nvPr/>
        </p:nvSpPr>
        <p:spPr>
          <a:xfrm>
            <a:off x="4018076" y="2300527"/>
            <a:ext cx="1086000" cy="1086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73"/>
          <p:cNvSpPr/>
          <p:nvPr/>
        </p:nvSpPr>
        <p:spPr>
          <a:xfrm flipH="1">
            <a:off x="4027309" y="2309980"/>
            <a:ext cx="1067400" cy="1067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73"/>
          <p:cNvSpPr/>
          <p:nvPr/>
        </p:nvSpPr>
        <p:spPr>
          <a:xfrm>
            <a:off x="4027528" y="2309980"/>
            <a:ext cx="1067400" cy="1067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73"/>
          <p:cNvSpPr txBox="1"/>
          <p:nvPr/>
        </p:nvSpPr>
        <p:spPr>
          <a:xfrm>
            <a:off x="4016597" y="26324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3"/>
          <p:cNvSpPr txBox="1"/>
          <p:nvPr/>
        </p:nvSpPr>
        <p:spPr>
          <a:xfrm>
            <a:off x="4562553" y="26324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9" name="Google Shape;939;p73"/>
          <p:cNvGrpSpPr/>
          <p:nvPr/>
        </p:nvGrpSpPr>
        <p:grpSpPr>
          <a:xfrm>
            <a:off x="4529953" y="2359814"/>
            <a:ext cx="60134" cy="523187"/>
            <a:chOff x="996050" y="213293"/>
            <a:chExt cx="93900" cy="909732"/>
          </a:xfrm>
        </p:grpSpPr>
        <p:cxnSp>
          <p:nvCxnSpPr>
            <p:cNvPr id="940" name="Google Shape;940;p7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41" name="Google Shape;941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2" name="Google Shape;942;p73"/>
          <p:cNvGrpSpPr/>
          <p:nvPr/>
        </p:nvGrpSpPr>
        <p:grpSpPr>
          <a:xfrm>
            <a:off x="6310156" y="2207414"/>
            <a:ext cx="60134" cy="523187"/>
            <a:chOff x="996050" y="213293"/>
            <a:chExt cx="93900" cy="909732"/>
          </a:xfrm>
        </p:grpSpPr>
        <p:cxnSp>
          <p:nvCxnSpPr>
            <p:cNvPr id="943" name="Google Shape;943;p7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44" name="Google Shape;944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5" name="Google Shape;945;p73"/>
          <p:cNvSpPr/>
          <p:nvPr/>
        </p:nvSpPr>
        <p:spPr>
          <a:xfrm>
            <a:off x="5798279" y="2300527"/>
            <a:ext cx="1086000" cy="1086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3"/>
          <p:cNvSpPr/>
          <p:nvPr/>
        </p:nvSpPr>
        <p:spPr>
          <a:xfrm flipH="1">
            <a:off x="5807512" y="2309980"/>
            <a:ext cx="1067400" cy="1067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73"/>
          <p:cNvSpPr/>
          <p:nvPr/>
        </p:nvSpPr>
        <p:spPr>
          <a:xfrm>
            <a:off x="5807731" y="2309980"/>
            <a:ext cx="1067400" cy="1067400"/>
          </a:xfrm>
          <a:prstGeom prst="pie">
            <a:avLst>
              <a:gd fmla="val 5387953" name="adj1"/>
              <a:gd fmla="val 21584097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73"/>
          <p:cNvSpPr txBox="1"/>
          <p:nvPr/>
        </p:nvSpPr>
        <p:spPr>
          <a:xfrm>
            <a:off x="5796800" y="2480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3"/>
          <p:cNvSpPr txBox="1"/>
          <p:nvPr/>
        </p:nvSpPr>
        <p:spPr>
          <a:xfrm>
            <a:off x="6266556" y="27848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0" name="Google Shape;950;p73"/>
          <p:cNvGrpSpPr/>
          <p:nvPr/>
        </p:nvGrpSpPr>
        <p:grpSpPr>
          <a:xfrm>
            <a:off x="6310156" y="2359814"/>
            <a:ext cx="60134" cy="523187"/>
            <a:chOff x="996050" y="213293"/>
            <a:chExt cx="93900" cy="909732"/>
          </a:xfrm>
        </p:grpSpPr>
        <p:cxnSp>
          <p:nvCxnSpPr>
            <p:cNvPr id="951" name="Google Shape;951;p7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52" name="Google Shape;952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3" name="Google Shape;953;p73"/>
          <p:cNvSpPr/>
          <p:nvPr/>
        </p:nvSpPr>
        <p:spPr>
          <a:xfrm>
            <a:off x="5637287" y="2194173"/>
            <a:ext cx="1356900" cy="1299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4"/>
          <p:cNvSpPr/>
          <p:nvPr/>
        </p:nvSpPr>
        <p:spPr>
          <a:xfrm>
            <a:off x="2132087" y="2194173"/>
            <a:ext cx="1356900" cy="12999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4"/>
          <p:cNvSpPr txBox="1"/>
          <p:nvPr>
            <p:ph idx="1" type="body"/>
          </p:nvPr>
        </p:nvSpPr>
        <p:spPr>
          <a:xfrm>
            <a:off x="324000" y="759300"/>
            <a:ext cx="8496000" cy="42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900">
                <a:solidFill>
                  <a:srgbClr val="282828"/>
                </a:solidFill>
              </a:rPr>
              <a:t>Probabilities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>
                <a:solidFill>
                  <a:schemeClr val="accent4"/>
                </a:solidFill>
              </a:rPr>
              <a:t>less than 50%</a:t>
            </a:r>
            <a:r>
              <a:rPr lang="en-GB" sz="1900">
                <a:solidFill>
                  <a:srgbClr val="282828"/>
                </a:solidFill>
              </a:rPr>
              <a:t> have </a:t>
            </a:r>
            <a:r>
              <a:rPr lang="en-GB" sz="1900">
                <a:solidFill>
                  <a:schemeClr val="accent4"/>
                </a:solidFill>
              </a:rPr>
              <a:t>less than an even chance </a:t>
            </a:r>
            <a:r>
              <a:rPr lang="en-GB" sz="1900">
                <a:solidFill>
                  <a:srgbClr val="282828"/>
                </a:solidFill>
              </a:rPr>
              <a:t>of happening</a:t>
            </a:r>
            <a:r>
              <a:rPr lang="en-GB" sz="1900">
                <a:solidFill>
                  <a:srgbClr val="282828"/>
                </a:solidFill>
              </a:rPr>
              <a:t>.</a:t>
            </a:r>
            <a:endParaRPr sz="1900">
              <a:solidFill>
                <a:srgbClr val="282828"/>
              </a:solidFill>
            </a:endParaRPr>
          </a:p>
        </p:txBody>
      </p:sp>
      <p:sp>
        <p:nvSpPr>
          <p:cNvPr id="960" name="Google Shape;96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961" name="Google Shape;961;p74"/>
          <p:cNvSpPr txBox="1"/>
          <p:nvPr/>
        </p:nvSpPr>
        <p:spPr>
          <a:xfrm>
            <a:off x="7749325" y="4145637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4"/>
          <p:cNvSpPr txBox="1"/>
          <p:nvPr/>
        </p:nvSpPr>
        <p:spPr>
          <a:xfrm>
            <a:off x="324000" y="4145637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3" name="Google Shape;963;p74"/>
          <p:cNvGrpSpPr/>
          <p:nvPr/>
        </p:nvGrpSpPr>
        <p:grpSpPr>
          <a:xfrm>
            <a:off x="8129596" y="2207414"/>
            <a:ext cx="60134" cy="523187"/>
            <a:chOff x="996050" y="213293"/>
            <a:chExt cx="93900" cy="909732"/>
          </a:xfrm>
        </p:grpSpPr>
        <p:cxnSp>
          <p:nvCxnSpPr>
            <p:cNvPr id="964" name="Google Shape;964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65" name="Google Shape;965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6" name="Google Shape;966;p74"/>
          <p:cNvSpPr txBox="1"/>
          <p:nvPr>
            <p:ph idx="1" type="body"/>
          </p:nvPr>
        </p:nvSpPr>
        <p:spPr>
          <a:xfrm>
            <a:off x="324000" y="1494977"/>
            <a:ext cx="8496000" cy="7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82828"/>
                </a:solidFill>
              </a:rPr>
              <a:t>E.g. If we conducted a large number of trials with this spinner, then we would expect it to land on ‘win’ </a:t>
            </a:r>
            <a:r>
              <a:rPr lang="en-GB" sz="1900">
                <a:solidFill>
                  <a:schemeClr val="accent4"/>
                </a:solidFill>
              </a:rPr>
              <a:t>less often</a:t>
            </a:r>
            <a:r>
              <a:rPr lang="en-GB" sz="1900">
                <a:solidFill>
                  <a:srgbClr val="282828"/>
                </a:solidFill>
              </a:rPr>
              <a:t> than it lands on ‘lose’.</a:t>
            </a:r>
            <a:endParaRPr sz="1900">
              <a:solidFill>
                <a:srgbClr val="282828"/>
              </a:solidFill>
            </a:endParaRPr>
          </a:p>
        </p:txBody>
      </p:sp>
      <p:sp>
        <p:nvSpPr>
          <p:cNvPr id="967" name="Google Shape;967;p74"/>
          <p:cNvSpPr txBox="1"/>
          <p:nvPr/>
        </p:nvSpPr>
        <p:spPr>
          <a:xfrm>
            <a:off x="7825525" y="3786450"/>
            <a:ext cx="78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4"/>
          <p:cNvSpPr txBox="1"/>
          <p:nvPr/>
        </p:nvSpPr>
        <p:spPr>
          <a:xfrm>
            <a:off x="738925" y="3786450"/>
            <a:ext cx="59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9" name="Google Shape;969;p74"/>
          <p:cNvGrpSpPr/>
          <p:nvPr/>
        </p:nvGrpSpPr>
        <p:grpSpPr>
          <a:xfrm>
            <a:off x="984954" y="3400951"/>
            <a:ext cx="7187400" cy="461687"/>
            <a:chOff x="992233" y="3276625"/>
            <a:chExt cx="7187400" cy="658800"/>
          </a:xfrm>
        </p:grpSpPr>
        <p:cxnSp>
          <p:nvCxnSpPr>
            <p:cNvPr id="970" name="Google Shape;970;p74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1" name="Google Shape;971;p74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2" name="Google Shape;972;p74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3" name="Google Shape;973;p74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74" name="Google Shape;974;p74"/>
          <p:cNvSpPr txBox="1"/>
          <p:nvPr/>
        </p:nvSpPr>
        <p:spPr>
          <a:xfrm>
            <a:off x="3850025" y="4145637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4"/>
          <p:cNvSpPr txBox="1"/>
          <p:nvPr/>
        </p:nvSpPr>
        <p:spPr>
          <a:xfrm>
            <a:off x="4320325" y="378645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6" name="Google Shape;976;p74"/>
          <p:cNvGrpSpPr/>
          <p:nvPr/>
        </p:nvGrpSpPr>
        <p:grpSpPr>
          <a:xfrm>
            <a:off x="4529953" y="2207414"/>
            <a:ext cx="60134" cy="523187"/>
            <a:chOff x="996050" y="213293"/>
            <a:chExt cx="93900" cy="909732"/>
          </a:xfrm>
        </p:grpSpPr>
        <p:cxnSp>
          <p:nvCxnSpPr>
            <p:cNvPr id="977" name="Google Shape;977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78" name="Google Shape;978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9" name="Google Shape;979;p74"/>
          <p:cNvSpPr txBox="1"/>
          <p:nvPr/>
        </p:nvSpPr>
        <p:spPr>
          <a:xfrm>
            <a:off x="13923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4"/>
          <p:cNvSpPr txBox="1"/>
          <p:nvPr/>
        </p:nvSpPr>
        <p:spPr>
          <a:xfrm>
            <a:off x="21243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4"/>
          <p:cNvSpPr txBox="1"/>
          <p:nvPr/>
        </p:nvSpPr>
        <p:spPr>
          <a:xfrm>
            <a:off x="28563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4"/>
          <p:cNvSpPr txBox="1"/>
          <p:nvPr/>
        </p:nvSpPr>
        <p:spPr>
          <a:xfrm>
            <a:off x="35883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4"/>
          <p:cNvSpPr txBox="1"/>
          <p:nvPr/>
        </p:nvSpPr>
        <p:spPr>
          <a:xfrm>
            <a:off x="50061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4"/>
          <p:cNvSpPr txBox="1"/>
          <p:nvPr/>
        </p:nvSpPr>
        <p:spPr>
          <a:xfrm>
            <a:off x="56919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4"/>
          <p:cNvSpPr txBox="1"/>
          <p:nvPr/>
        </p:nvSpPr>
        <p:spPr>
          <a:xfrm>
            <a:off x="63777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4"/>
          <p:cNvSpPr txBox="1"/>
          <p:nvPr/>
        </p:nvSpPr>
        <p:spPr>
          <a:xfrm>
            <a:off x="706352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7" name="Google Shape;987;p74"/>
          <p:cNvCxnSpPr/>
          <p:nvPr/>
        </p:nvCxnSpPr>
        <p:spPr>
          <a:xfrm>
            <a:off x="4621625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8" name="Google Shape;988;p74"/>
          <p:cNvSpPr txBox="1"/>
          <p:nvPr/>
        </p:nvSpPr>
        <p:spPr>
          <a:xfrm>
            <a:off x="2300175" y="4479871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4"/>
          <p:cNvSpPr txBox="1"/>
          <p:nvPr/>
        </p:nvSpPr>
        <p:spPr>
          <a:xfrm>
            <a:off x="6054451" y="4487136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0" name="Google Shape;990;p74"/>
          <p:cNvCxnSpPr/>
          <p:nvPr/>
        </p:nvCxnSpPr>
        <p:spPr>
          <a:xfrm>
            <a:off x="1018454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1" name="Google Shape;991;p74"/>
          <p:cNvSpPr/>
          <p:nvPr/>
        </p:nvSpPr>
        <p:spPr>
          <a:xfrm>
            <a:off x="7617718" y="2300527"/>
            <a:ext cx="1086000" cy="10863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74"/>
          <p:cNvSpPr txBox="1"/>
          <p:nvPr/>
        </p:nvSpPr>
        <p:spPr>
          <a:xfrm>
            <a:off x="7921040" y="2861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3" name="Google Shape;993;p74"/>
          <p:cNvGrpSpPr/>
          <p:nvPr/>
        </p:nvGrpSpPr>
        <p:grpSpPr>
          <a:xfrm>
            <a:off x="8129596" y="2359814"/>
            <a:ext cx="60134" cy="523187"/>
            <a:chOff x="996050" y="213293"/>
            <a:chExt cx="93900" cy="909732"/>
          </a:xfrm>
        </p:grpSpPr>
        <p:cxnSp>
          <p:nvCxnSpPr>
            <p:cNvPr id="994" name="Google Shape;994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95" name="Google Shape;995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6" name="Google Shape;996;p74"/>
          <p:cNvSpPr/>
          <p:nvPr/>
        </p:nvSpPr>
        <p:spPr>
          <a:xfrm>
            <a:off x="442210" y="2300527"/>
            <a:ext cx="1086000" cy="10863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4"/>
          <p:cNvSpPr txBox="1"/>
          <p:nvPr/>
        </p:nvSpPr>
        <p:spPr>
          <a:xfrm>
            <a:off x="689262" y="280680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8" name="Google Shape;998;p74"/>
          <p:cNvGrpSpPr/>
          <p:nvPr/>
        </p:nvGrpSpPr>
        <p:grpSpPr>
          <a:xfrm>
            <a:off x="954088" y="2359814"/>
            <a:ext cx="60134" cy="523187"/>
            <a:chOff x="996050" y="213293"/>
            <a:chExt cx="93900" cy="909732"/>
          </a:xfrm>
        </p:grpSpPr>
        <p:cxnSp>
          <p:nvCxnSpPr>
            <p:cNvPr id="999" name="Google Shape;999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0" name="Google Shape;1000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1" name="Google Shape;1001;p74"/>
          <p:cNvSpPr/>
          <p:nvPr/>
        </p:nvSpPr>
        <p:spPr>
          <a:xfrm>
            <a:off x="4018076" y="2300527"/>
            <a:ext cx="1086000" cy="1086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74"/>
          <p:cNvSpPr/>
          <p:nvPr/>
        </p:nvSpPr>
        <p:spPr>
          <a:xfrm flipH="1">
            <a:off x="4027309" y="2309980"/>
            <a:ext cx="1067400" cy="1067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74"/>
          <p:cNvSpPr/>
          <p:nvPr/>
        </p:nvSpPr>
        <p:spPr>
          <a:xfrm>
            <a:off x="4027528" y="2309980"/>
            <a:ext cx="1067400" cy="1067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74"/>
          <p:cNvSpPr txBox="1"/>
          <p:nvPr/>
        </p:nvSpPr>
        <p:spPr>
          <a:xfrm>
            <a:off x="4016597" y="26324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4"/>
          <p:cNvSpPr txBox="1"/>
          <p:nvPr/>
        </p:nvSpPr>
        <p:spPr>
          <a:xfrm>
            <a:off x="4562553" y="26324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6" name="Google Shape;1006;p74"/>
          <p:cNvGrpSpPr/>
          <p:nvPr/>
        </p:nvGrpSpPr>
        <p:grpSpPr>
          <a:xfrm>
            <a:off x="4529953" y="2359814"/>
            <a:ext cx="60134" cy="523187"/>
            <a:chOff x="996050" y="213293"/>
            <a:chExt cx="93900" cy="909732"/>
          </a:xfrm>
        </p:grpSpPr>
        <p:cxnSp>
          <p:nvCxnSpPr>
            <p:cNvPr id="1007" name="Google Shape;1007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8" name="Google Shape;1008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9" name="Google Shape;1009;p74"/>
          <p:cNvGrpSpPr/>
          <p:nvPr/>
        </p:nvGrpSpPr>
        <p:grpSpPr>
          <a:xfrm>
            <a:off x="6310156" y="2207414"/>
            <a:ext cx="60134" cy="523187"/>
            <a:chOff x="996050" y="213293"/>
            <a:chExt cx="93900" cy="909732"/>
          </a:xfrm>
        </p:grpSpPr>
        <p:cxnSp>
          <p:nvCxnSpPr>
            <p:cNvPr id="1010" name="Google Shape;1010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11" name="Google Shape;1011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2" name="Google Shape;1012;p74"/>
          <p:cNvSpPr/>
          <p:nvPr/>
        </p:nvSpPr>
        <p:spPr>
          <a:xfrm>
            <a:off x="5798279" y="2300527"/>
            <a:ext cx="1086000" cy="1086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74"/>
          <p:cNvSpPr/>
          <p:nvPr/>
        </p:nvSpPr>
        <p:spPr>
          <a:xfrm flipH="1">
            <a:off x="5807512" y="2309980"/>
            <a:ext cx="1067400" cy="1067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74"/>
          <p:cNvSpPr/>
          <p:nvPr/>
        </p:nvSpPr>
        <p:spPr>
          <a:xfrm>
            <a:off x="5807731" y="2309980"/>
            <a:ext cx="1067400" cy="1067400"/>
          </a:xfrm>
          <a:prstGeom prst="pie">
            <a:avLst>
              <a:gd fmla="val 5387953" name="adj1"/>
              <a:gd fmla="val 21584097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74"/>
          <p:cNvSpPr txBox="1"/>
          <p:nvPr/>
        </p:nvSpPr>
        <p:spPr>
          <a:xfrm>
            <a:off x="5796800" y="2480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4"/>
          <p:cNvSpPr txBox="1"/>
          <p:nvPr/>
        </p:nvSpPr>
        <p:spPr>
          <a:xfrm>
            <a:off x="6266556" y="27848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7" name="Google Shape;1017;p74"/>
          <p:cNvGrpSpPr/>
          <p:nvPr/>
        </p:nvGrpSpPr>
        <p:grpSpPr>
          <a:xfrm>
            <a:off x="6310156" y="2359814"/>
            <a:ext cx="60134" cy="523187"/>
            <a:chOff x="996050" y="213293"/>
            <a:chExt cx="93900" cy="909732"/>
          </a:xfrm>
        </p:grpSpPr>
        <p:cxnSp>
          <p:nvCxnSpPr>
            <p:cNvPr id="1018" name="Google Shape;1018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19" name="Google Shape;1019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74"/>
          <p:cNvGrpSpPr/>
          <p:nvPr/>
        </p:nvGrpSpPr>
        <p:grpSpPr>
          <a:xfrm>
            <a:off x="2804956" y="2207414"/>
            <a:ext cx="60134" cy="523187"/>
            <a:chOff x="996050" y="213293"/>
            <a:chExt cx="93900" cy="909732"/>
          </a:xfrm>
        </p:grpSpPr>
        <p:cxnSp>
          <p:nvCxnSpPr>
            <p:cNvPr id="1021" name="Google Shape;1021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22" name="Google Shape;1022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3" name="Google Shape;1023;p74"/>
          <p:cNvSpPr/>
          <p:nvPr/>
        </p:nvSpPr>
        <p:spPr>
          <a:xfrm>
            <a:off x="2293079" y="2300527"/>
            <a:ext cx="1086000" cy="1086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74"/>
          <p:cNvSpPr/>
          <p:nvPr/>
        </p:nvSpPr>
        <p:spPr>
          <a:xfrm flipH="1">
            <a:off x="2302312" y="2309980"/>
            <a:ext cx="1067400" cy="1067400"/>
          </a:xfrm>
          <a:prstGeom prst="pie">
            <a:avLst>
              <a:gd fmla="val 5387953" name="adj1"/>
              <a:gd fmla="val 2158614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74"/>
          <p:cNvSpPr/>
          <p:nvPr/>
        </p:nvSpPr>
        <p:spPr>
          <a:xfrm>
            <a:off x="2302531" y="2309980"/>
            <a:ext cx="1067400" cy="1067400"/>
          </a:xfrm>
          <a:prstGeom prst="pie">
            <a:avLst>
              <a:gd fmla="val 5387953" name="adj1"/>
              <a:gd fmla="val 10829275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74"/>
          <p:cNvSpPr txBox="1"/>
          <p:nvPr/>
        </p:nvSpPr>
        <p:spPr>
          <a:xfrm>
            <a:off x="2291600" y="27848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4"/>
          <p:cNvSpPr txBox="1"/>
          <p:nvPr/>
        </p:nvSpPr>
        <p:spPr>
          <a:xfrm>
            <a:off x="2837556" y="25562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8" name="Google Shape;1028;p74"/>
          <p:cNvGrpSpPr/>
          <p:nvPr/>
        </p:nvGrpSpPr>
        <p:grpSpPr>
          <a:xfrm>
            <a:off x="2804956" y="2359814"/>
            <a:ext cx="60134" cy="523187"/>
            <a:chOff x="996050" y="213293"/>
            <a:chExt cx="93900" cy="909732"/>
          </a:xfrm>
        </p:grpSpPr>
        <p:cxnSp>
          <p:nvCxnSpPr>
            <p:cNvPr id="1029" name="Google Shape;1029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30" name="Google Shape;1030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75"/>
          <p:cNvSpPr txBox="1"/>
          <p:nvPr>
            <p:ph idx="1" type="body"/>
          </p:nvPr>
        </p:nvSpPr>
        <p:spPr>
          <a:xfrm>
            <a:off x="324000" y="759300"/>
            <a:ext cx="8496000" cy="42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900">
                <a:solidFill>
                  <a:srgbClr val="282828"/>
                </a:solidFill>
              </a:rPr>
              <a:t>Probabilities</a:t>
            </a:r>
            <a:r>
              <a:rPr lang="en-GB" sz="1900">
                <a:solidFill>
                  <a:srgbClr val="282828"/>
                </a:solidFill>
              </a:rPr>
              <a:t> can also be expressed using the equivalent decimals.</a:t>
            </a:r>
            <a:endParaRPr sz="1900">
              <a:solidFill>
                <a:srgbClr val="282828"/>
              </a:solidFill>
            </a:endParaRPr>
          </a:p>
        </p:txBody>
      </p:sp>
      <p:sp>
        <p:nvSpPr>
          <p:cNvPr id="1036" name="Google Shape;103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1037" name="Google Shape;1037;p75"/>
          <p:cNvSpPr txBox="1"/>
          <p:nvPr/>
        </p:nvSpPr>
        <p:spPr>
          <a:xfrm>
            <a:off x="7749325" y="4145637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5"/>
          <p:cNvSpPr txBox="1"/>
          <p:nvPr/>
        </p:nvSpPr>
        <p:spPr>
          <a:xfrm>
            <a:off x="324000" y="4145637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9" name="Google Shape;1039;p75"/>
          <p:cNvGrpSpPr/>
          <p:nvPr/>
        </p:nvGrpSpPr>
        <p:grpSpPr>
          <a:xfrm>
            <a:off x="8129596" y="2207414"/>
            <a:ext cx="60134" cy="523187"/>
            <a:chOff x="996050" y="213293"/>
            <a:chExt cx="93900" cy="909732"/>
          </a:xfrm>
        </p:grpSpPr>
        <p:cxnSp>
          <p:nvCxnSpPr>
            <p:cNvPr id="1040" name="Google Shape;1040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41" name="Google Shape;1041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2" name="Google Shape;1042;p75"/>
          <p:cNvSpPr txBox="1"/>
          <p:nvPr>
            <p:ph idx="1" type="body"/>
          </p:nvPr>
        </p:nvSpPr>
        <p:spPr>
          <a:xfrm>
            <a:off x="324000" y="1100752"/>
            <a:ext cx="84960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</a:rPr>
              <a:t>A </a:t>
            </a:r>
            <a:r>
              <a:rPr b="1" lang="en-GB" sz="1900">
                <a:solidFill>
                  <a:srgbClr val="282828"/>
                </a:solidFill>
              </a:rPr>
              <a:t>probability</a:t>
            </a:r>
            <a:r>
              <a:rPr lang="en-GB" sz="1900">
                <a:solidFill>
                  <a:srgbClr val="282828"/>
                </a:solidFill>
              </a:rPr>
              <a:t> of </a:t>
            </a:r>
            <a:r>
              <a:rPr lang="en-GB" sz="1900">
                <a:solidFill>
                  <a:schemeClr val="accent4"/>
                </a:solidFill>
              </a:rPr>
              <a:t>0</a:t>
            </a:r>
            <a:r>
              <a:rPr lang="en-GB" sz="1900">
                <a:solidFill>
                  <a:srgbClr val="282828"/>
                </a:solidFill>
              </a:rPr>
              <a:t> means that an event is </a:t>
            </a:r>
            <a:r>
              <a:rPr lang="en-GB" sz="1900">
                <a:solidFill>
                  <a:schemeClr val="accent4"/>
                </a:solidFill>
              </a:rPr>
              <a:t>impossible</a:t>
            </a:r>
            <a:r>
              <a:rPr lang="en-GB" sz="1900">
                <a:solidFill>
                  <a:srgbClr val="282828"/>
                </a:solidFill>
              </a:rPr>
              <a:t>. </a:t>
            </a:r>
            <a:endParaRPr sz="1900">
              <a:solidFill>
                <a:srgbClr val="282828"/>
              </a:solidFill>
            </a:endParaRPr>
          </a:p>
        </p:txBody>
      </p:sp>
      <p:grpSp>
        <p:nvGrpSpPr>
          <p:cNvPr id="1043" name="Google Shape;1043;p75"/>
          <p:cNvGrpSpPr/>
          <p:nvPr/>
        </p:nvGrpSpPr>
        <p:grpSpPr>
          <a:xfrm>
            <a:off x="984954" y="3400951"/>
            <a:ext cx="7187400" cy="461687"/>
            <a:chOff x="992233" y="3276625"/>
            <a:chExt cx="7187400" cy="658800"/>
          </a:xfrm>
        </p:grpSpPr>
        <p:cxnSp>
          <p:nvCxnSpPr>
            <p:cNvPr id="1044" name="Google Shape;1044;p75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5" name="Google Shape;1045;p75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6" name="Google Shape;1046;p75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7" name="Google Shape;1047;p75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48" name="Google Shape;1048;p75"/>
          <p:cNvSpPr txBox="1"/>
          <p:nvPr/>
        </p:nvSpPr>
        <p:spPr>
          <a:xfrm>
            <a:off x="3850025" y="4145637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9" name="Google Shape;1049;p75"/>
          <p:cNvGrpSpPr/>
          <p:nvPr/>
        </p:nvGrpSpPr>
        <p:grpSpPr>
          <a:xfrm>
            <a:off x="4529953" y="2207414"/>
            <a:ext cx="60134" cy="523187"/>
            <a:chOff x="996050" y="213293"/>
            <a:chExt cx="93900" cy="909732"/>
          </a:xfrm>
        </p:grpSpPr>
        <p:cxnSp>
          <p:nvCxnSpPr>
            <p:cNvPr id="1050" name="Google Shape;1050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51" name="Google Shape;1051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52" name="Google Shape;1052;p75"/>
          <p:cNvCxnSpPr/>
          <p:nvPr/>
        </p:nvCxnSpPr>
        <p:spPr>
          <a:xfrm>
            <a:off x="4621625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3" name="Google Shape;1053;p75"/>
          <p:cNvSpPr txBox="1"/>
          <p:nvPr/>
        </p:nvSpPr>
        <p:spPr>
          <a:xfrm>
            <a:off x="2300175" y="4479871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75"/>
          <p:cNvSpPr txBox="1"/>
          <p:nvPr/>
        </p:nvSpPr>
        <p:spPr>
          <a:xfrm>
            <a:off x="6054451" y="4487136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5" name="Google Shape;1055;p75"/>
          <p:cNvCxnSpPr/>
          <p:nvPr/>
        </p:nvCxnSpPr>
        <p:spPr>
          <a:xfrm>
            <a:off x="1018454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6" name="Google Shape;1056;p75"/>
          <p:cNvSpPr/>
          <p:nvPr/>
        </p:nvSpPr>
        <p:spPr>
          <a:xfrm>
            <a:off x="7617718" y="2300527"/>
            <a:ext cx="1086000" cy="10863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75"/>
          <p:cNvSpPr txBox="1"/>
          <p:nvPr/>
        </p:nvSpPr>
        <p:spPr>
          <a:xfrm>
            <a:off x="7921040" y="2861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8" name="Google Shape;1058;p75"/>
          <p:cNvGrpSpPr/>
          <p:nvPr/>
        </p:nvGrpSpPr>
        <p:grpSpPr>
          <a:xfrm>
            <a:off x="8129596" y="2359814"/>
            <a:ext cx="60134" cy="523187"/>
            <a:chOff x="996050" y="213293"/>
            <a:chExt cx="93900" cy="909732"/>
          </a:xfrm>
        </p:grpSpPr>
        <p:cxnSp>
          <p:nvCxnSpPr>
            <p:cNvPr id="1059" name="Google Shape;1059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60" name="Google Shape;1060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1" name="Google Shape;1061;p75"/>
          <p:cNvSpPr/>
          <p:nvPr/>
        </p:nvSpPr>
        <p:spPr>
          <a:xfrm>
            <a:off x="442210" y="2300527"/>
            <a:ext cx="1086000" cy="10863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75"/>
          <p:cNvSpPr txBox="1"/>
          <p:nvPr/>
        </p:nvSpPr>
        <p:spPr>
          <a:xfrm>
            <a:off x="689262" y="280680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3" name="Google Shape;1063;p75"/>
          <p:cNvGrpSpPr/>
          <p:nvPr/>
        </p:nvGrpSpPr>
        <p:grpSpPr>
          <a:xfrm>
            <a:off x="954088" y="2359814"/>
            <a:ext cx="60134" cy="523187"/>
            <a:chOff x="996050" y="213293"/>
            <a:chExt cx="93900" cy="909732"/>
          </a:xfrm>
        </p:grpSpPr>
        <p:cxnSp>
          <p:nvCxnSpPr>
            <p:cNvPr id="1064" name="Google Shape;1064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65" name="Google Shape;1065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6" name="Google Shape;1066;p75"/>
          <p:cNvSpPr/>
          <p:nvPr/>
        </p:nvSpPr>
        <p:spPr>
          <a:xfrm>
            <a:off x="4018076" y="2300527"/>
            <a:ext cx="1086000" cy="1086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75"/>
          <p:cNvSpPr/>
          <p:nvPr/>
        </p:nvSpPr>
        <p:spPr>
          <a:xfrm flipH="1">
            <a:off x="4027309" y="2309980"/>
            <a:ext cx="1067400" cy="1067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75"/>
          <p:cNvSpPr/>
          <p:nvPr/>
        </p:nvSpPr>
        <p:spPr>
          <a:xfrm>
            <a:off x="4027528" y="2309980"/>
            <a:ext cx="1067400" cy="1067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75"/>
          <p:cNvSpPr txBox="1"/>
          <p:nvPr/>
        </p:nvSpPr>
        <p:spPr>
          <a:xfrm>
            <a:off x="4016597" y="26324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5"/>
          <p:cNvSpPr txBox="1"/>
          <p:nvPr/>
        </p:nvSpPr>
        <p:spPr>
          <a:xfrm>
            <a:off x="4562553" y="26324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1" name="Google Shape;1071;p75"/>
          <p:cNvGrpSpPr/>
          <p:nvPr/>
        </p:nvGrpSpPr>
        <p:grpSpPr>
          <a:xfrm>
            <a:off x="4529953" y="2359814"/>
            <a:ext cx="60134" cy="523187"/>
            <a:chOff x="996050" y="213293"/>
            <a:chExt cx="93900" cy="909732"/>
          </a:xfrm>
        </p:grpSpPr>
        <p:cxnSp>
          <p:nvCxnSpPr>
            <p:cNvPr id="1072" name="Google Shape;1072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73" name="Google Shape;1073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4" name="Google Shape;1074;p75"/>
          <p:cNvSpPr txBox="1"/>
          <p:nvPr/>
        </p:nvSpPr>
        <p:spPr>
          <a:xfrm>
            <a:off x="7997338" y="3786450"/>
            <a:ext cx="2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5"/>
          <p:cNvSpPr txBox="1"/>
          <p:nvPr/>
        </p:nvSpPr>
        <p:spPr>
          <a:xfrm>
            <a:off x="815125" y="3786450"/>
            <a:ext cx="3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5"/>
          <p:cNvSpPr txBox="1"/>
          <p:nvPr/>
        </p:nvSpPr>
        <p:spPr>
          <a:xfrm>
            <a:off x="4320325" y="378645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75"/>
          <p:cNvSpPr txBox="1"/>
          <p:nvPr/>
        </p:nvSpPr>
        <p:spPr>
          <a:xfrm>
            <a:off x="124376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5"/>
          <p:cNvSpPr txBox="1"/>
          <p:nvPr/>
        </p:nvSpPr>
        <p:spPr>
          <a:xfrm>
            <a:off x="201290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5"/>
          <p:cNvSpPr txBox="1"/>
          <p:nvPr/>
        </p:nvSpPr>
        <p:spPr>
          <a:xfrm>
            <a:off x="278204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5"/>
          <p:cNvSpPr txBox="1"/>
          <p:nvPr/>
        </p:nvSpPr>
        <p:spPr>
          <a:xfrm>
            <a:off x="355118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5"/>
          <p:cNvSpPr txBox="1"/>
          <p:nvPr/>
        </p:nvSpPr>
        <p:spPr>
          <a:xfrm>
            <a:off x="5055728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5"/>
          <p:cNvSpPr txBox="1"/>
          <p:nvPr/>
        </p:nvSpPr>
        <p:spPr>
          <a:xfrm>
            <a:off x="5791130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5"/>
          <p:cNvSpPr txBox="1"/>
          <p:nvPr/>
        </p:nvSpPr>
        <p:spPr>
          <a:xfrm>
            <a:off x="6526533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75"/>
          <p:cNvSpPr txBox="1"/>
          <p:nvPr/>
        </p:nvSpPr>
        <p:spPr>
          <a:xfrm>
            <a:off x="7261935" y="3786460"/>
            <a:ext cx="6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5"/>
          <p:cNvSpPr txBox="1"/>
          <p:nvPr>
            <p:ph idx="1" type="body"/>
          </p:nvPr>
        </p:nvSpPr>
        <p:spPr>
          <a:xfrm>
            <a:off x="324000" y="1482284"/>
            <a:ext cx="84960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</a:rPr>
              <a:t>A </a:t>
            </a:r>
            <a:r>
              <a:rPr b="1" lang="en-GB" sz="1900">
                <a:solidFill>
                  <a:srgbClr val="282828"/>
                </a:solidFill>
              </a:rPr>
              <a:t>probability</a:t>
            </a:r>
            <a:r>
              <a:rPr lang="en-GB" sz="1900">
                <a:solidFill>
                  <a:srgbClr val="282828"/>
                </a:solidFill>
              </a:rPr>
              <a:t> of </a:t>
            </a:r>
            <a:r>
              <a:rPr lang="en-GB" sz="1900">
                <a:solidFill>
                  <a:schemeClr val="accent4"/>
                </a:solidFill>
              </a:rPr>
              <a:t>1</a:t>
            </a:r>
            <a:r>
              <a:rPr lang="en-GB" sz="1900">
                <a:solidFill>
                  <a:srgbClr val="282828"/>
                </a:solidFill>
              </a:rPr>
              <a:t> means that an event is </a:t>
            </a:r>
            <a:r>
              <a:rPr lang="en-GB" sz="1900">
                <a:solidFill>
                  <a:schemeClr val="accent4"/>
                </a:solidFill>
              </a:rPr>
              <a:t>certain</a:t>
            </a:r>
            <a:r>
              <a:rPr lang="en-GB" sz="1900">
                <a:solidFill>
                  <a:srgbClr val="282828"/>
                </a:solidFill>
              </a:rPr>
              <a:t>.</a:t>
            </a:r>
            <a:endParaRPr sz="1900">
              <a:solidFill>
                <a:srgbClr val="282828"/>
              </a:solidFill>
            </a:endParaRPr>
          </a:p>
        </p:txBody>
      </p:sp>
      <p:sp>
        <p:nvSpPr>
          <p:cNvPr id="1086" name="Google Shape;1086;p75"/>
          <p:cNvSpPr txBox="1"/>
          <p:nvPr>
            <p:ph idx="1" type="body"/>
          </p:nvPr>
        </p:nvSpPr>
        <p:spPr>
          <a:xfrm>
            <a:off x="324000" y="1863817"/>
            <a:ext cx="84960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</a:rPr>
              <a:t>The size of the number indicates how likely it is for an event to occur.</a:t>
            </a:r>
            <a:endParaRPr sz="1900">
              <a:solidFill>
                <a:srgbClr val="282828"/>
              </a:solidFill>
            </a:endParaRPr>
          </a:p>
        </p:txBody>
      </p:sp>
      <p:grpSp>
        <p:nvGrpSpPr>
          <p:cNvPr id="1087" name="Google Shape;1087;p75"/>
          <p:cNvGrpSpPr/>
          <p:nvPr/>
        </p:nvGrpSpPr>
        <p:grpSpPr>
          <a:xfrm>
            <a:off x="2804956" y="2207414"/>
            <a:ext cx="60134" cy="523187"/>
            <a:chOff x="996050" y="213293"/>
            <a:chExt cx="93900" cy="909732"/>
          </a:xfrm>
        </p:grpSpPr>
        <p:cxnSp>
          <p:nvCxnSpPr>
            <p:cNvPr id="1088" name="Google Shape;1088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89" name="Google Shape;1089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0" name="Google Shape;1090;p75"/>
          <p:cNvSpPr/>
          <p:nvPr/>
        </p:nvSpPr>
        <p:spPr>
          <a:xfrm>
            <a:off x="2293079" y="2300527"/>
            <a:ext cx="1086000" cy="1086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75"/>
          <p:cNvSpPr/>
          <p:nvPr/>
        </p:nvSpPr>
        <p:spPr>
          <a:xfrm flipH="1">
            <a:off x="2302312" y="2309980"/>
            <a:ext cx="1067400" cy="1067400"/>
          </a:xfrm>
          <a:prstGeom prst="pie">
            <a:avLst>
              <a:gd fmla="val 5387953" name="adj1"/>
              <a:gd fmla="val 2158614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75"/>
          <p:cNvSpPr/>
          <p:nvPr/>
        </p:nvSpPr>
        <p:spPr>
          <a:xfrm>
            <a:off x="2302531" y="2309980"/>
            <a:ext cx="1067400" cy="1067400"/>
          </a:xfrm>
          <a:prstGeom prst="pie">
            <a:avLst>
              <a:gd fmla="val 5387953" name="adj1"/>
              <a:gd fmla="val 10829275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75"/>
          <p:cNvSpPr txBox="1"/>
          <p:nvPr/>
        </p:nvSpPr>
        <p:spPr>
          <a:xfrm>
            <a:off x="2291600" y="27848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5"/>
          <p:cNvSpPr txBox="1"/>
          <p:nvPr/>
        </p:nvSpPr>
        <p:spPr>
          <a:xfrm>
            <a:off x="2837556" y="25562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5" name="Google Shape;1095;p75"/>
          <p:cNvGrpSpPr/>
          <p:nvPr/>
        </p:nvGrpSpPr>
        <p:grpSpPr>
          <a:xfrm>
            <a:off x="2804956" y="2359814"/>
            <a:ext cx="60134" cy="523187"/>
            <a:chOff x="996050" y="213293"/>
            <a:chExt cx="93900" cy="909732"/>
          </a:xfrm>
        </p:grpSpPr>
        <p:cxnSp>
          <p:nvCxnSpPr>
            <p:cNvPr id="1096" name="Google Shape;1096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97" name="Google Shape;1097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8" name="Google Shape;1098;p75"/>
          <p:cNvGrpSpPr/>
          <p:nvPr/>
        </p:nvGrpSpPr>
        <p:grpSpPr>
          <a:xfrm>
            <a:off x="6310156" y="2207414"/>
            <a:ext cx="60134" cy="523187"/>
            <a:chOff x="996050" y="213293"/>
            <a:chExt cx="93900" cy="909732"/>
          </a:xfrm>
        </p:grpSpPr>
        <p:cxnSp>
          <p:nvCxnSpPr>
            <p:cNvPr id="1099" name="Google Shape;1099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00" name="Google Shape;1100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1" name="Google Shape;1101;p75"/>
          <p:cNvSpPr/>
          <p:nvPr/>
        </p:nvSpPr>
        <p:spPr>
          <a:xfrm>
            <a:off x="5798279" y="2300527"/>
            <a:ext cx="1086000" cy="1086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75"/>
          <p:cNvSpPr/>
          <p:nvPr/>
        </p:nvSpPr>
        <p:spPr>
          <a:xfrm flipH="1">
            <a:off x="5807512" y="2309980"/>
            <a:ext cx="1067400" cy="10674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75"/>
          <p:cNvSpPr/>
          <p:nvPr/>
        </p:nvSpPr>
        <p:spPr>
          <a:xfrm>
            <a:off x="5807731" y="2309980"/>
            <a:ext cx="1067400" cy="1067400"/>
          </a:xfrm>
          <a:prstGeom prst="pie">
            <a:avLst>
              <a:gd fmla="val 5387953" name="adj1"/>
              <a:gd fmla="val 21584097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75"/>
          <p:cNvSpPr txBox="1"/>
          <p:nvPr/>
        </p:nvSpPr>
        <p:spPr>
          <a:xfrm>
            <a:off x="5796800" y="2480052"/>
            <a:ext cx="53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5"/>
          <p:cNvSpPr txBox="1"/>
          <p:nvPr/>
        </p:nvSpPr>
        <p:spPr>
          <a:xfrm>
            <a:off x="6266556" y="2784852"/>
            <a:ext cx="59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6" name="Google Shape;1106;p75"/>
          <p:cNvGrpSpPr/>
          <p:nvPr/>
        </p:nvGrpSpPr>
        <p:grpSpPr>
          <a:xfrm>
            <a:off x="6310156" y="2359814"/>
            <a:ext cx="60134" cy="523187"/>
            <a:chOff x="996050" y="213293"/>
            <a:chExt cx="93900" cy="909732"/>
          </a:xfrm>
        </p:grpSpPr>
        <p:cxnSp>
          <p:nvCxnSpPr>
            <p:cNvPr id="1107" name="Google Shape;1107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08" name="Google Shape;1108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7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spinner has a 48% </a:t>
            </a:r>
            <a:r>
              <a:rPr b="1" lang="en-GB"/>
              <a:t>probability</a:t>
            </a:r>
            <a:r>
              <a:rPr lang="en-GB"/>
              <a:t> of landing on ‘win’?</a:t>
            </a:r>
            <a:endParaRPr/>
          </a:p>
        </p:txBody>
      </p:sp>
      <p:sp>
        <p:nvSpPr>
          <p:cNvPr id="1114" name="Google Shape;1114;p7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1115" name="Google Shape;1115;p76"/>
          <p:cNvSpPr/>
          <p:nvPr/>
        </p:nvSpPr>
        <p:spPr>
          <a:xfrm>
            <a:off x="3638069" y="2044172"/>
            <a:ext cx="1813200" cy="1813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76"/>
          <p:cNvSpPr/>
          <p:nvPr/>
        </p:nvSpPr>
        <p:spPr>
          <a:xfrm flipH="1">
            <a:off x="3653397" y="2059955"/>
            <a:ext cx="1782300" cy="1782300"/>
          </a:xfrm>
          <a:prstGeom prst="pie">
            <a:avLst>
              <a:gd fmla="val 5387953" name="adj1"/>
              <a:gd fmla="val 17309885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76"/>
          <p:cNvSpPr/>
          <p:nvPr/>
        </p:nvSpPr>
        <p:spPr>
          <a:xfrm>
            <a:off x="3653852" y="2059955"/>
            <a:ext cx="1782300" cy="1782300"/>
          </a:xfrm>
          <a:prstGeom prst="pie">
            <a:avLst>
              <a:gd fmla="val 5387953" name="adj1"/>
              <a:gd fmla="val 15598159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76"/>
          <p:cNvSpPr txBox="1"/>
          <p:nvPr/>
        </p:nvSpPr>
        <p:spPr>
          <a:xfrm>
            <a:off x="3788000" y="2674583"/>
            <a:ext cx="89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2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76"/>
          <p:cNvSpPr txBox="1"/>
          <p:nvPr/>
        </p:nvSpPr>
        <p:spPr>
          <a:xfrm>
            <a:off x="4623369" y="2674583"/>
            <a:ext cx="9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2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76"/>
          <p:cNvSpPr/>
          <p:nvPr/>
        </p:nvSpPr>
        <p:spPr>
          <a:xfrm>
            <a:off x="742469" y="2044172"/>
            <a:ext cx="1813200" cy="1813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76"/>
          <p:cNvSpPr/>
          <p:nvPr/>
        </p:nvSpPr>
        <p:spPr>
          <a:xfrm flipH="1">
            <a:off x="757797" y="2059955"/>
            <a:ext cx="1782300" cy="1782300"/>
          </a:xfrm>
          <a:prstGeom prst="pie">
            <a:avLst>
              <a:gd fmla="val 5387953" name="adj1"/>
              <a:gd fmla="val 3436415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76"/>
          <p:cNvSpPr/>
          <p:nvPr/>
        </p:nvSpPr>
        <p:spPr>
          <a:xfrm>
            <a:off x="758252" y="2059955"/>
            <a:ext cx="1782300" cy="1782300"/>
          </a:xfrm>
          <a:prstGeom prst="pie">
            <a:avLst>
              <a:gd fmla="val 5387953" name="adj1"/>
              <a:gd fmla="val 734640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76"/>
          <p:cNvSpPr txBox="1"/>
          <p:nvPr/>
        </p:nvSpPr>
        <p:spPr>
          <a:xfrm>
            <a:off x="1208016" y="3367648"/>
            <a:ext cx="89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76"/>
          <p:cNvSpPr txBox="1"/>
          <p:nvPr/>
        </p:nvSpPr>
        <p:spPr>
          <a:xfrm>
            <a:off x="1727769" y="2674583"/>
            <a:ext cx="9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2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5" name="Google Shape;1125;p76"/>
          <p:cNvGrpSpPr/>
          <p:nvPr/>
        </p:nvGrpSpPr>
        <p:grpSpPr>
          <a:xfrm>
            <a:off x="1597153" y="2208508"/>
            <a:ext cx="100398" cy="808206"/>
            <a:chOff x="996050" y="213293"/>
            <a:chExt cx="93900" cy="909732"/>
          </a:xfrm>
        </p:grpSpPr>
        <p:cxnSp>
          <p:nvCxnSpPr>
            <p:cNvPr id="1126" name="Google Shape;1126;p7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27" name="Google Shape;1127;p7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8" name="Google Shape;1128;p76"/>
          <p:cNvSpPr/>
          <p:nvPr/>
        </p:nvSpPr>
        <p:spPr>
          <a:xfrm>
            <a:off x="6609869" y="2044172"/>
            <a:ext cx="1813200" cy="18138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76"/>
          <p:cNvSpPr/>
          <p:nvPr/>
        </p:nvSpPr>
        <p:spPr>
          <a:xfrm flipH="1">
            <a:off x="6625197" y="2059955"/>
            <a:ext cx="1782300" cy="17823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76"/>
          <p:cNvSpPr/>
          <p:nvPr/>
        </p:nvSpPr>
        <p:spPr>
          <a:xfrm>
            <a:off x="6625652" y="2059955"/>
            <a:ext cx="1782300" cy="17823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76"/>
          <p:cNvSpPr txBox="1"/>
          <p:nvPr/>
        </p:nvSpPr>
        <p:spPr>
          <a:xfrm>
            <a:off x="6759800" y="2674583"/>
            <a:ext cx="89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2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6"/>
          <p:cNvSpPr txBox="1"/>
          <p:nvPr/>
        </p:nvSpPr>
        <p:spPr>
          <a:xfrm>
            <a:off x="7595169" y="2674583"/>
            <a:ext cx="9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2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3" name="Google Shape;1133;p76"/>
          <p:cNvGrpSpPr/>
          <p:nvPr/>
        </p:nvGrpSpPr>
        <p:grpSpPr>
          <a:xfrm>
            <a:off x="4492753" y="2208508"/>
            <a:ext cx="100398" cy="808206"/>
            <a:chOff x="996050" y="213293"/>
            <a:chExt cx="93900" cy="909732"/>
          </a:xfrm>
        </p:grpSpPr>
        <p:cxnSp>
          <p:nvCxnSpPr>
            <p:cNvPr id="1134" name="Google Shape;1134;p7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35" name="Google Shape;1135;p7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6" name="Google Shape;1136;p76"/>
          <p:cNvGrpSpPr/>
          <p:nvPr/>
        </p:nvGrpSpPr>
        <p:grpSpPr>
          <a:xfrm>
            <a:off x="7464553" y="2208508"/>
            <a:ext cx="100398" cy="808206"/>
            <a:chOff x="996050" y="213293"/>
            <a:chExt cx="93900" cy="909732"/>
          </a:xfrm>
        </p:grpSpPr>
        <p:cxnSp>
          <p:nvCxnSpPr>
            <p:cNvPr id="1137" name="Google Shape;1137;p7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38" name="Google Shape;1138;p7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39" name="Google Shape;113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9483" y="41842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Google Shape;114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066177" y="3211925"/>
            <a:ext cx="6145900" cy="149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77"/>
          <p:cNvSpPr txBox="1"/>
          <p:nvPr>
            <p:ph idx="1" type="body"/>
          </p:nvPr>
        </p:nvSpPr>
        <p:spPr>
          <a:xfrm>
            <a:off x="324000" y="759300"/>
            <a:ext cx="8496000" cy="6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spinner has four outcomes: </a:t>
            </a:r>
            <a:r>
              <a:rPr i="1" lang="en-GB" sz="2000"/>
              <a:t>ξ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 {A, B, C, D }</a:t>
            </a:r>
            <a:endParaRPr sz="2000"/>
          </a:p>
        </p:txBody>
      </p:sp>
      <p:sp>
        <p:nvSpPr>
          <p:cNvPr id="1146" name="Google Shape;114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1147" name="Google Shape;1147;p77"/>
          <p:cNvSpPr txBox="1"/>
          <p:nvPr>
            <p:ph idx="1" type="body"/>
          </p:nvPr>
        </p:nvSpPr>
        <p:spPr>
          <a:xfrm>
            <a:off x="324000" y="12165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outcomes are </a:t>
            </a:r>
            <a:r>
              <a:rPr lang="en-GB" sz="2000">
                <a:solidFill>
                  <a:schemeClr val="accent4"/>
                </a:solidFill>
              </a:rPr>
              <a:t>not</a:t>
            </a:r>
            <a:r>
              <a:rPr lang="en-GB" sz="2000"/>
              <a:t> equally likely to happen.</a:t>
            </a:r>
            <a:endParaRPr sz="2000"/>
          </a:p>
        </p:txBody>
      </p:sp>
      <p:sp>
        <p:nvSpPr>
          <p:cNvPr id="1148" name="Google Shape;1148;p77"/>
          <p:cNvSpPr txBox="1"/>
          <p:nvPr>
            <p:ph idx="1" type="body"/>
          </p:nvPr>
        </p:nvSpPr>
        <p:spPr>
          <a:xfrm>
            <a:off x="324000" y="16737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</a:t>
            </a:r>
            <a:r>
              <a:rPr b="1" lang="en-GB" sz="1800"/>
              <a:t>probability</a:t>
            </a:r>
            <a:r>
              <a:rPr lang="en-GB" sz="1800"/>
              <a:t> of the spinner landing on A is 25%</a:t>
            </a:r>
            <a:endParaRPr sz="1800"/>
          </a:p>
        </p:txBody>
      </p:sp>
      <p:sp>
        <p:nvSpPr>
          <p:cNvPr id="1149" name="Google Shape;1149;p77"/>
          <p:cNvSpPr txBox="1"/>
          <p:nvPr>
            <p:ph idx="1" type="body"/>
          </p:nvPr>
        </p:nvSpPr>
        <p:spPr>
          <a:xfrm>
            <a:off x="324000" y="20547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</a:t>
            </a:r>
            <a:r>
              <a:rPr b="1" lang="en-GB" sz="1800"/>
              <a:t>probability</a:t>
            </a:r>
            <a:r>
              <a:rPr lang="en-GB" sz="1800"/>
              <a:t> of the spinner landing on B is 18%</a:t>
            </a:r>
            <a:endParaRPr sz="1800"/>
          </a:p>
        </p:txBody>
      </p:sp>
      <p:sp>
        <p:nvSpPr>
          <p:cNvPr id="1150" name="Google Shape;1150;p77"/>
          <p:cNvSpPr txBox="1"/>
          <p:nvPr>
            <p:ph idx="1" type="body"/>
          </p:nvPr>
        </p:nvSpPr>
        <p:spPr>
          <a:xfrm>
            <a:off x="324000" y="24357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</a:t>
            </a:r>
            <a:r>
              <a:rPr b="1" lang="en-GB" sz="1800"/>
              <a:t>probability</a:t>
            </a:r>
            <a:r>
              <a:rPr lang="en-GB" sz="1800"/>
              <a:t> of the spinner landing on C is 34%</a:t>
            </a:r>
            <a:endParaRPr sz="1800"/>
          </a:p>
        </p:txBody>
      </p:sp>
      <p:sp>
        <p:nvSpPr>
          <p:cNvPr id="1151" name="Google Shape;1151;p77"/>
          <p:cNvSpPr txBox="1"/>
          <p:nvPr>
            <p:ph idx="1" type="body"/>
          </p:nvPr>
        </p:nvSpPr>
        <p:spPr>
          <a:xfrm>
            <a:off x="324000" y="28167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</a:t>
            </a:r>
            <a:r>
              <a:rPr b="1" lang="en-GB" sz="1800"/>
              <a:t>probability</a:t>
            </a:r>
            <a:r>
              <a:rPr lang="en-GB" sz="1800"/>
              <a:t> of the spinner landing on D is 23%</a:t>
            </a:r>
            <a:endParaRPr sz="1800"/>
          </a:p>
        </p:txBody>
      </p:sp>
      <p:pic>
        <p:nvPicPr>
          <p:cNvPr id="1152" name="Google Shape;115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587300" y="2207100"/>
            <a:ext cx="588050" cy="84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77"/>
          <p:cNvSpPr txBox="1"/>
          <p:nvPr>
            <p:ph idx="1" type="body"/>
          </p:nvPr>
        </p:nvSpPr>
        <p:spPr>
          <a:xfrm>
            <a:off x="2420200" y="3637950"/>
            <a:ext cx="5665200" cy="10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This seems like a long way of stating these </a:t>
            </a:r>
            <a:r>
              <a:rPr b="1" lang="en-GB" sz="1900"/>
              <a:t>probabilities</a:t>
            </a:r>
            <a:r>
              <a:rPr lang="en-GB" sz="1900"/>
              <a:t>. I wonder if there is any notation that could be used to </a:t>
            </a:r>
            <a:r>
              <a:rPr lang="en-GB" sz="1900">
                <a:solidFill>
                  <a:schemeClr val="accent4"/>
                </a:solidFill>
              </a:rPr>
              <a:t>shorten</a:t>
            </a:r>
            <a:r>
              <a:rPr lang="en-GB" sz="1900"/>
              <a:t> this information?</a:t>
            </a:r>
            <a:endParaRPr sz="1900"/>
          </a:p>
        </p:txBody>
      </p:sp>
      <p:sp>
        <p:nvSpPr>
          <p:cNvPr id="1154" name="Google Shape;1154;p77"/>
          <p:cNvSpPr txBox="1"/>
          <p:nvPr>
            <p:ph idx="1" type="body"/>
          </p:nvPr>
        </p:nvSpPr>
        <p:spPr>
          <a:xfrm>
            <a:off x="7518650" y="3053950"/>
            <a:ext cx="656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Sam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78"/>
          <p:cNvSpPr txBox="1"/>
          <p:nvPr>
            <p:ph idx="1" type="body"/>
          </p:nvPr>
        </p:nvSpPr>
        <p:spPr>
          <a:xfrm>
            <a:off x="324000" y="759300"/>
            <a:ext cx="8496000" cy="6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Statements about </a:t>
            </a:r>
            <a:r>
              <a:rPr b="1" lang="en-GB" sz="2000"/>
              <a:t>probability</a:t>
            </a:r>
            <a:r>
              <a:rPr lang="en-GB" sz="2000"/>
              <a:t> can be expressed more efficiently by using the notation ‘P(outcome) =’.</a:t>
            </a:r>
            <a:endParaRPr sz="2000"/>
          </a:p>
        </p:txBody>
      </p:sp>
      <p:sp>
        <p:nvSpPr>
          <p:cNvPr id="1160" name="Google Shape;116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1161" name="Google Shape;1161;p78"/>
          <p:cNvSpPr txBox="1"/>
          <p:nvPr>
            <p:ph idx="1" type="body"/>
          </p:nvPr>
        </p:nvSpPr>
        <p:spPr>
          <a:xfrm>
            <a:off x="324000" y="16737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E.g. </a:t>
            </a:r>
            <a:r>
              <a:rPr lang="en-GB" sz="2000"/>
              <a:t>The </a:t>
            </a:r>
            <a:r>
              <a:rPr b="1" lang="en-GB" sz="2000"/>
              <a:t>probability</a:t>
            </a:r>
            <a:r>
              <a:rPr lang="en-GB" sz="2000"/>
              <a:t> of the spinner landing on A is 25%.</a:t>
            </a:r>
            <a:endParaRPr sz="2000"/>
          </a:p>
        </p:txBody>
      </p:sp>
      <p:sp>
        <p:nvSpPr>
          <p:cNvPr id="1162" name="Google Shape;1162;p78"/>
          <p:cNvSpPr txBox="1"/>
          <p:nvPr>
            <p:ph idx="1" type="body"/>
          </p:nvPr>
        </p:nvSpPr>
        <p:spPr>
          <a:xfrm>
            <a:off x="3939475" y="2664300"/>
            <a:ext cx="14178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P(A) = 25%</a:t>
            </a:r>
            <a:endParaRPr sz="2000"/>
          </a:p>
        </p:txBody>
      </p:sp>
      <p:sp>
        <p:nvSpPr>
          <p:cNvPr id="1163" name="Google Shape;1163;p78"/>
          <p:cNvSpPr txBox="1"/>
          <p:nvPr>
            <p:ph idx="1" type="body"/>
          </p:nvPr>
        </p:nvSpPr>
        <p:spPr>
          <a:xfrm>
            <a:off x="785275" y="3259150"/>
            <a:ext cx="2469900" cy="6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‘P’ for ‘</a:t>
            </a:r>
            <a:r>
              <a:rPr b="1" lang="en-GB" sz="2000"/>
              <a:t>probability</a:t>
            </a:r>
            <a:r>
              <a:rPr lang="en-GB" sz="2000"/>
              <a:t>’</a:t>
            </a:r>
            <a:endParaRPr sz="2000"/>
          </a:p>
        </p:txBody>
      </p:sp>
      <p:sp>
        <p:nvSpPr>
          <p:cNvPr id="1164" name="Google Shape;1164;p78"/>
          <p:cNvSpPr txBox="1"/>
          <p:nvPr>
            <p:ph idx="1" type="body"/>
          </p:nvPr>
        </p:nvSpPr>
        <p:spPr>
          <a:xfrm>
            <a:off x="3818025" y="3233854"/>
            <a:ext cx="1512000" cy="98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o</a:t>
            </a:r>
            <a:r>
              <a:rPr lang="en-GB" sz="2000"/>
              <a:t>utcome inside the brackets</a:t>
            </a:r>
            <a:endParaRPr sz="2000"/>
          </a:p>
        </p:txBody>
      </p:sp>
      <p:sp>
        <p:nvSpPr>
          <p:cNvPr id="1165" name="Google Shape;1165;p78"/>
          <p:cNvSpPr txBox="1"/>
          <p:nvPr>
            <p:ph idx="1" type="body"/>
          </p:nvPr>
        </p:nvSpPr>
        <p:spPr>
          <a:xfrm>
            <a:off x="5776650" y="3240000"/>
            <a:ext cx="20271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</a:t>
            </a:r>
            <a:r>
              <a:rPr lang="en-GB" sz="2000"/>
              <a:t>umerical value of </a:t>
            </a:r>
            <a:r>
              <a:rPr b="1" lang="en-GB" sz="2000"/>
              <a:t>probability</a:t>
            </a:r>
            <a:endParaRPr b="1" sz="2000"/>
          </a:p>
        </p:txBody>
      </p:sp>
      <p:cxnSp>
        <p:nvCxnSpPr>
          <p:cNvPr id="1166" name="Google Shape;1166;p78"/>
          <p:cNvCxnSpPr>
            <a:endCxn id="1162" idx="1"/>
          </p:cNvCxnSpPr>
          <p:nvPr/>
        </p:nvCxnSpPr>
        <p:spPr>
          <a:xfrm flipH="1" rot="10800000">
            <a:off x="2977975" y="2870100"/>
            <a:ext cx="961500" cy="40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7" name="Google Shape;1167;p78"/>
          <p:cNvCxnSpPr/>
          <p:nvPr/>
        </p:nvCxnSpPr>
        <p:spPr>
          <a:xfrm rot="10800000">
            <a:off x="4317200" y="2989200"/>
            <a:ext cx="0" cy="29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8" name="Google Shape;1168;p78"/>
          <p:cNvCxnSpPr/>
          <p:nvPr/>
        </p:nvCxnSpPr>
        <p:spPr>
          <a:xfrm rot="10800000">
            <a:off x="5051475" y="2950275"/>
            <a:ext cx="699600" cy="36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79"/>
          <p:cNvSpPr txBox="1"/>
          <p:nvPr>
            <p:ph idx="1" type="body"/>
          </p:nvPr>
        </p:nvSpPr>
        <p:spPr>
          <a:xfrm>
            <a:off x="324000" y="759300"/>
            <a:ext cx="8496000" cy="6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spinner has four outcomes: </a:t>
            </a:r>
            <a:r>
              <a:rPr i="1" lang="en-GB" sz="2000"/>
              <a:t>ξ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 {A, B, C, D }</a:t>
            </a:r>
            <a:endParaRPr sz="2000"/>
          </a:p>
        </p:txBody>
      </p:sp>
      <p:sp>
        <p:nvSpPr>
          <p:cNvPr id="1174" name="Google Shape;117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1175" name="Google Shape;1175;p79"/>
          <p:cNvSpPr txBox="1"/>
          <p:nvPr>
            <p:ph idx="1" type="body"/>
          </p:nvPr>
        </p:nvSpPr>
        <p:spPr>
          <a:xfrm>
            <a:off x="324000" y="12165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probabilities</a:t>
            </a:r>
            <a:r>
              <a:rPr lang="en-GB" sz="2000"/>
              <a:t> for each outcome are below.</a:t>
            </a:r>
            <a:endParaRPr sz="2000"/>
          </a:p>
        </p:txBody>
      </p:sp>
      <p:sp>
        <p:nvSpPr>
          <p:cNvPr id="1176" name="Google Shape;1176;p79"/>
          <p:cNvSpPr txBox="1"/>
          <p:nvPr>
            <p:ph idx="1" type="body"/>
          </p:nvPr>
        </p:nvSpPr>
        <p:spPr>
          <a:xfrm>
            <a:off x="324000" y="32739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Which outcome would you expect to occur the </a:t>
            </a:r>
            <a:r>
              <a:rPr lang="en-GB" sz="1900">
                <a:solidFill>
                  <a:schemeClr val="accent4"/>
                </a:solidFill>
              </a:rPr>
              <a:t>most </a:t>
            </a:r>
            <a:r>
              <a:rPr lang="en-GB" sz="1900"/>
              <a:t>often?</a:t>
            </a:r>
            <a:endParaRPr sz="1900"/>
          </a:p>
        </p:txBody>
      </p:sp>
      <p:sp>
        <p:nvSpPr>
          <p:cNvPr id="1177" name="Google Shape;1177;p79"/>
          <p:cNvSpPr txBox="1"/>
          <p:nvPr>
            <p:ph idx="1" type="body"/>
          </p:nvPr>
        </p:nvSpPr>
        <p:spPr>
          <a:xfrm>
            <a:off x="324000" y="4188300"/>
            <a:ext cx="84960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If there were 2000 trials, </a:t>
            </a:r>
            <a:r>
              <a:rPr lang="en-GB" sz="1900">
                <a:solidFill>
                  <a:schemeClr val="accent4"/>
                </a:solidFill>
              </a:rPr>
              <a:t>approximately</a:t>
            </a:r>
            <a:r>
              <a:rPr lang="en-GB" sz="1900"/>
              <a:t> how many times could the spinner be </a:t>
            </a:r>
            <a:r>
              <a:rPr lang="en-GB" sz="1900">
                <a:solidFill>
                  <a:schemeClr val="accent4"/>
                </a:solidFill>
              </a:rPr>
              <a:t>expected</a:t>
            </a:r>
            <a:r>
              <a:rPr lang="en-GB" sz="1900"/>
              <a:t> to land on A? </a:t>
            </a:r>
            <a:endParaRPr sz="1900"/>
          </a:p>
        </p:txBody>
      </p:sp>
      <p:sp>
        <p:nvSpPr>
          <p:cNvPr id="1178" name="Google Shape;1178;p79"/>
          <p:cNvSpPr txBox="1"/>
          <p:nvPr>
            <p:ph idx="1" type="body"/>
          </p:nvPr>
        </p:nvSpPr>
        <p:spPr>
          <a:xfrm>
            <a:off x="324000" y="16737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P(</a:t>
            </a:r>
            <a:r>
              <a:rPr lang="en-GB" sz="1800"/>
              <a:t>A) = 25%</a:t>
            </a:r>
            <a:endParaRPr sz="1800"/>
          </a:p>
        </p:txBody>
      </p:sp>
      <p:sp>
        <p:nvSpPr>
          <p:cNvPr id="1179" name="Google Shape;1179;p79"/>
          <p:cNvSpPr txBox="1"/>
          <p:nvPr>
            <p:ph idx="1" type="body"/>
          </p:nvPr>
        </p:nvSpPr>
        <p:spPr>
          <a:xfrm>
            <a:off x="324000" y="20547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P(B) =</a:t>
            </a:r>
            <a:r>
              <a:rPr lang="en-GB" sz="1800"/>
              <a:t> 18%</a:t>
            </a:r>
            <a:endParaRPr sz="1800"/>
          </a:p>
        </p:txBody>
      </p:sp>
      <p:sp>
        <p:nvSpPr>
          <p:cNvPr id="1180" name="Google Shape;1180;p79"/>
          <p:cNvSpPr txBox="1"/>
          <p:nvPr>
            <p:ph idx="1" type="body"/>
          </p:nvPr>
        </p:nvSpPr>
        <p:spPr>
          <a:xfrm>
            <a:off x="324000" y="24357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P(C) =</a:t>
            </a:r>
            <a:r>
              <a:rPr lang="en-GB" sz="1800"/>
              <a:t> 34%</a:t>
            </a:r>
            <a:endParaRPr sz="1800"/>
          </a:p>
        </p:txBody>
      </p:sp>
      <p:sp>
        <p:nvSpPr>
          <p:cNvPr id="1181" name="Google Shape;1181;p79"/>
          <p:cNvSpPr txBox="1"/>
          <p:nvPr>
            <p:ph idx="1" type="body"/>
          </p:nvPr>
        </p:nvSpPr>
        <p:spPr>
          <a:xfrm>
            <a:off x="324000" y="28167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P(D) =</a:t>
            </a:r>
            <a:r>
              <a:rPr lang="en-GB" sz="1800"/>
              <a:t> 23%</a:t>
            </a:r>
            <a:endParaRPr sz="1800"/>
          </a:p>
        </p:txBody>
      </p:sp>
      <p:sp>
        <p:nvSpPr>
          <p:cNvPr id="1182" name="Google Shape;1182;p79"/>
          <p:cNvSpPr txBox="1"/>
          <p:nvPr>
            <p:ph idx="1" type="body"/>
          </p:nvPr>
        </p:nvSpPr>
        <p:spPr>
          <a:xfrm>
            <a:off x="324000" y="3731100"/>
            <a:ext cx="84960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Which outcome would you expect to occur the </a:t>
            </a:r>
            <a:r>
              <a:rPr lang="en-GB" sz="1900">
                <a:solidFill>
                  <a:schemeClr val="accent4"/>
                </a:solidFill>
              </a:rPr>
              <a:t>least </a:t>
            </a:r>
            <a:r>
              <a:rPr lang="en-GB" sz="1900"/>
              <a:t>often?</a:t>
            </a:r>
            <a:endParaRPr sz="1900"/>
          </a:p>
        </p:txBody>
      </p:sp>
      <p:sp>
        <p:nvSpPr>
          <p:cNvPr id="1183" name="Google Shape;1183;p79"/>
          <p:cNvSpPr txBox="1"/>
          <p:nvPr>
            <p:ph idx="1" type="body"/>
          </p:nvPr>
        </p:nvSpPr>
        <p:spPr>
          <a:xfrm>
            <a:off x="7334400" y="3273900"/>
            <a:ext cx="3444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2100">
              <a:solidFill>
                <a:srgbClr val="282828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79"/>
          <p:cNvSpPr txBox="1"/>
          <p:nvPr>
            <p:ph idx="1" type="body"/>
          </p:nvPr>
        </p:nvSpPr>
        <p:spPr>
          <a:xfrm>
            <a:off x="7334400" y="3723835"/>
            <a:ext cx="3444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100">
              <a:solidFill>
                <a:srgbClr val="282828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79"/>
          <p:cNvSpPr txBox="1"/>
          <p:nvPr>
            <p:ph idx="1" type="body"/>
          </p:nvPr>
        </p:nvSpPr>
        <p:spPr>
          <a:xfrm>
            <a:off x="4515000" y="4525700"/>
            <a:ext cx="24786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25% of 2000 = 500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6" name="Google Shape;1186;p79"/>
          <p:cNvSpPr/>
          <p:nvPr/>
        </p:nvSpPr>
        <p:spPr>
          <a:xfrm>
            <a:off x="6604400" y="13062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79"/>
          <p:cNvSpPr/>
          <p:nvPr/>
        </p:nvSpPr>
        <p:spPr>
          <a:xfrm flipH="1">
            <a:off x="6619089" y="1321011"/>
            <a:ext cx="1666500" cy="1666500"/>
          </a:xfrm>
          <a:prstGeom prst="pie">
            <a:avLst>
              <a:gd fmla="val 6948989" name="adj1"/>
              <a:gd fmla="val 10824216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79"/>
          <p:cNvSpPr/>
          <p:nvPr/>
        </p:nvSpPr>
        <p:spPr>
          <a:xfrm>
            <a:off x="6619161" y="1321011"/>
            <a:ext cx="1666500" cy="1666500"/>
          </a:xfrm>
          <a:prstGeom prst="pie">
            <a:avLst>
              <a:gd fmla="val 3894517" name="adj1"/>
              <a:gd fmla="val 11234269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79"/>
          <p:cNvSpPr txBox="1"/>
          <p:nvPr/>
        </p:nvSpPr>
        <p:spPr>
          <a:xfrm>
            <a:off x="6983175" y="2248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79"/>
          <p:cNvSpPr/>
          <p:nvPr/>
        </p:nvSpPr>
        <p:spPr>
          <a:xfrm>
            <a:off x="6619161" y="1321011"/>
            <a:ext cx="1666500" cy="1666500"/>
          </a:xfrm>
          <a:prstGeom prst="pie">
            <a:avLst>
              <a:gd fmla="val 11266685" name="adj1"/>
              <a:gd fmla="val 16225322" name="adj2"/>
            </a:avLst>
          </a:prstGeom>
          <a:solidFill>
            <a:srgbClr val="D02AA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79"/>
          <p:cNvSpPr txBox="1"/>
          <p:nvPr/>
        </p:nvSpPr>
        <p:spPr>
          <a:xfrm>
            <a:off x="6983175" y="15625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9"/>
          <p:cNvSpPr/>
          <p:nvPr/>
        </p:nvSpPr>
        <p:spPr>
          <a:xfrm flipH="1">
            <a:off x="6619089" y="1321011"/>
            <a:ext cx="1666500" cy="16665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79"/>
          <p:cNvSpPr txBox="1"/>
          <p:nvPr/>
        </p:nvSpPr>
        <p:spPr>
          <a:xfrm>
            <a:off x="7561526" y="1562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79"/>
          <p:cNvSpPr txBox="1"/>
          <p:nvPr/>
        </p:nvSpPr>
        <p:spPr>
          <a:xfrm>
            <a:off x="7713926" y="2248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5" name="Google Shape;1195;p79"/>
          <p:cNvGrpSpPr/>
          <p:nvPr/>
        </p:nvGrpSpPr>
        <p:grpSpPr>
          <a:xfrm>
            <a:off x="7403709" y="1371763"/>
            <a:ext cx="93900" cy="816939"/>
            <a:chOff x="996050" y="213293"/>
            <a:chExt cx="93900" cy="909732"/>
          </a:xfrm>
        </p:grpSpPr>
        <p:cxnSp>
          <p:nvCxnSpPr>
            <p:cNvPr id="1196" name="Google Shape;1196;p7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7" name="Google Shape;1197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80"/>
          <p:cNvSpPr txBox="1"/>
          <p:nvPr>
            <p:ph idx="1" type="body"/>
          </p:nvPr>
        </p:nvSpPr>
        <p:spPr>
          <a:xfrm>
            <a:off x="324000" y="759300"/>
            <a:ext cx="8496000" cy="114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video game based on chance has a </a:t>
            </a:r>
            <a:r>
              <a:rPr lang="en-GB" sz="2000">
                <a:solidFill>
                  <a:schemeClr val="accent4"/>
                </a:solidFill>
              </a:rPr>
              <a:t>25% </a:t>
            </a:r>
            <a:r>
              <a:rPr b="1" lang="en-GB" sz="2000"/>
              <a:t>probability</a:t>
            </a:r>
            <a:r>
              <a:rPr lang="en-GB" sz="2000"/>
              <a:t> of a ‘win’.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number below is the most reasonable estimate for how many wins could be expected in </a:t>
            </a:r>
            <a:r>
              <a:rPr lang="en-GB" sz="2000">
                <a:solidFill>
                  <a:schemeClr val="accent4"/>
                </a:solidFill>
              </a:rPr>
              <a:t>1000 games</a:t>
            </a:r>
            <a:r>
              <a:rPr lang="en-GB" sz="2000"/>
              <a:t>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1204" name="Google Shape;1204;p80"/>
          <p:cNvSpPr txBox="1"/>
          <p:nvPr>
            <p:ph idx="4294967295" type="subTitle"/>
          </p:nvPr>
        </p:nvSpPr>
        <p:spPr>
          <a:xfrm>
            <a:off x="1034425" y="2184650"/>
            <a:ext cx="1597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50</a:t>
            </a:r>
            <a:endParaRPr/>
          </a:p>
        </p:txBody>
      </p:sp>
      <p:sp>
        <p:nvSpPr>
          <p:cNvPr id="1205" name="Google Shape;1205;p80"/>
          <p:cNvSpPr txBox="1"/>
          <p:nvPr>
            <p:ph idx="4294967295" type="subTitle"/>
          </p:nvPr>
        </p:nvSpPr>
        <p:spPr>
          <a:xfrm>
            <a:off x="1034425" y="4231425"/>
            <a:ext cx="135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1000</a:t>
            </a:r>
            <a:endParaRPr/>
          </a:p>
        </p:txBody>
      </p:sp>
      <p:grpSp>
        <p:nvGrpSpPr>
          <p:cNvPr id="1206" name="Google Shape;1206;p80"/>
          <p:cNvGrpSpPr/>
          <p:nvPr/>
        </p:nvGrpSpPr>
        <p:grpSpPr>
          <a:xfrm>
            <a:off x="339041" y="2120725"/>
            <a:ext cx="457200" cy="457200"/>
            <a:chOff x="1020916" y="1442088"/>
            <a:chExt cx="457200" cy="457200"/>
          </a:xfrm>
        </p:grpSpPr>
        <p:pic>
          <p:nvPicPr>
            <p:cNvPr id="1207" name="Google Shape;1207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8" name="Google Shape;1208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9" name="Google Shape;1209;p80"/>
          <p:cNvGrpSpPr/>
          <p:nvPr/>
        </p:nvGrpSpPr>
        <p:grpSpPr>
          <a:xfrm>
            <a:off x="329783" y="2803891"/>
            <a:ext cx="457200" cy="457200"/>
            <a:chOff x="1020916" y="1442088"/>
            <a:chExt cx="457200" cy="457200"/>
          </a:xfrm>
        </p:grpSpPr>
        <p:pic>
          <p:nvPicPr>
            <p:cNvPr id="1210" name="Google Shape;1210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1" name="Google Shape;1211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2" name="Google Shape;1212;p80"/>
          <p:cNvGrpSpPr/>
          <p:nvPr/>
        </p:nvGrpSpPr>
        <p:grpSpPr>
          <a:xfrm>
            <a:off x="331286" y="3487056"/>
            <a:ext cx="457200" cy="457200"/>
            <a:chOff x="1020916" y="1442088"/>
            <a:chExt cx="457200" cy="457200"/>
          </a:xfrm>
        </p:grpSpPr>
        <p:pic>
          <p:nvPicPr>
            <p:cNvPr id="1213" name="Google Shape;1213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4" name="Google Shape;1214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5" name="Google Shape;1215;p80"/>
          <p:cNvGrpSpPr/>
          <p:nvPr/>
        </p:nvGrpSpPr>
        <p:grpSpPr>
          <a:xfrm>
            <a:off x="336036" y="4170222"/>
            <a:ext cx="457200" cy="457200"/>
            <a:chOff x="1020916" y="1442088"/>
            <a:chExt cx="457200" cy="457200"/>
          </a:xfrm>
        </p:grpSpPr>
        <p:pic>
          <p:nvPicPr>
            <p:cNvPr id="1216" name="Google Shape;1216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8" name="Google Shape;1218;p80"/>
          <p:cNvSpPr txBox="1"/>
          <p:nvPr>
            <p:ph idx="4294967295" type="subTitle"/>
          </p:nvPr>
        </p:nvSpPr>
        <p:spPr>
          <a:xfrm>
            <a:off x="1034425" y="2909908"/>
            <a:ext cx="74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250</a:t>
            </a:r>
            <a:endParaRPr/>
          </a:p>
        </p:txBody>
      </p:sp>
      <p:sp>
        <p:nvSpPr>
          <p:cNvPr id="1219" name="Google Shape;1219;p80"/>
          <p:cNvSpPr txBox="1"/>
          <p:nvPr>
            <p:ph idx="4294967295" type="subTitle"/>
          </p:nvPr>
        </p:nvSpPr>
        <p:spPr>
          <a:xfrm>
            <a:off x="1034425" y="3570667"/>
            <a:ext cx="1860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500</a:t>
            </a:r>
            <a:endParaRPr/>
          </a:p>
        </p:txBody>
      </p:sp>
      <p:pic>
        <p:nvPicPr>
          <p:cNvPr id="1220" name="Google Shape;122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5033" y="286266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81"/>
          <p:cNvSpPr txBox="1"/>
          <p:nvPr>
            <p:ph idx="1" type="body"/>
          </p:nvPr>
        </p:nvSpPr>
        <p:spPr>
          <a:xfrm>
            <a:off x="324000" y="759300"/>
            <a:ext cx="8237700" cy="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Write the </a:t>
            </a:r>
            <a:r>
              <a:rPr b="1" lang="en-GB" sz="1600"/>
              <a:t>probabilities</a:t>
            </a:r>
            <a:r>
              <a:rPr lang="en-GB" sz="1600"/>
              <a:t> below in the correct order on the </a:t>
            </a:r>
            <a:r>
              <a:rPr b="1" lang="en-GB" sz="1600"/>
              <a:t>probability</a:t>
            </a:r>
            <a:r>
              <a:rPr lang="en-GB" sz="1600"/>
              <a:t> scale.</a:t>
            </a:r>
            <a:endParaRPr sz="1600"/>
          </a:p>
        </p:txBody>
      </p:sp>
      <p:sp>
        <p:nvSpPr>
          <p:cNvPr id="1226" name="Google Shape;1226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1227" name="Google Shape;1227;p81"/>
          <p:cNvSpPr txBox="1"/>
          <p:nvPr/>
        </p:nvSpPr>
        <p:spPr>
          <a:xfrm>
            <a:off x="7749325" y="2308408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1"/>
          <p:cNvSpPr txBox="1"/>
          <p:nvPr/>
        </p:nvSpPr>
        <p:spPr>
          <a:xfrm>
            <a:off x="324000" y="2308408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9" name="Google Shape;1229;p81"/>
          <p:cNvGrpSpPr/>
          <p:nvPr/>
        </p:nvGrpSpPr>
        <p:grpSpPr>
          <a:xfrm>
            <a:off x="984950" y="2123531"/>
            <a:ext cx="7187400" cy="291387"/>
            <a:chOff x="992233" y="3276625"/>
            <a:chExt cx="7187400" cy="658800"/>
          </a:xfrm>
        </p:grpSpPr>
        <p:cxnSp>
          <p:nvCxnSpPr>
            <p:cNvPr id="1230" name="Google Shape;1230;p81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1" name="Google Shape;1231;p81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2" name="Google Shape;1232;p81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3" name="Google Shape;1233;p81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34" name="Google Shape;1234;p81"/>
          <p:cNvSpPr txBox="1"/>
          <p:nvPr/>
        </p:nvSpPr>
        <p:spPr>
          <a:xfrm>
            <a:off x="3850025" y="2308408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5" name="Google Shape;1235;p81"/>
          <p:cNvCxnSpPr/>
          <p:nvPr/>
        </p:nvCxnSpPr>
        <p:spPr>
          <a:xfrm>
            <a:off x="4621625" y="2370483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6" name="Google Shape;1236;p81"/>
          <p:cNvSpPr txBox="1"/>
          <p:nvPr/>
        </p:nvSpPr>
        <p:spPr>
          <a:xfrm>
            <a:off x="2300175" y="2286930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1"/>
          <p:cNvSpPr txBox="1"/>
          <p:nvPr/>
        </p:nvSpPr>
        <p:spPr>
          <a:xfrm>
            <a:off x="6054451" y="2294194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8" name="Google Shape;1238;p81"/>
          <p:cNvCxnSpPr/>
          <p:nvPr/>
        </p:nvCxnSpPr>
        <p:spPr>
          <a:xfrm>
            <a:off x="1018454" y="2370483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9" name="Google Shape;1239;p81"/>
          <p:cNvSpPr txBox="1"/>
          <p:nvPr>
            <p:ph idx="1" type="body"/>
          </p:nvPr>
        </p:nvSpPr>
        <p:spPr>
          <a:xfrm>
            <a:off x="2737100" y="1199646"/>
            <a:ext cx="3679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0%, 100%, 20%, 75%, 50%, 45%, 55% </a:t>
            </a:r>
            <a:endParaRPr sz="1600"/>
          </a:p>
        </p:txBody>
      </p:sp>
      <p:sp>
        <p:nvSpPr>
          <p:cNvPr id="1240" name="Google Shape;1240;p81"/>
          <p:cNvSpPr txBox="1"/>
          <p:nvPr>
            <p:ph idx="1" type="body"/>
          </p:nvPr>
        </p:nvSpPr>
        <p:spPr>
          <a:xfrm>
            <a:off x="324000" y="2926617"/>
            <a:ext cx="8237700" cy="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Write the </a:t>
            </a:r>
            <a:r>
              <a:rPr b="1" lang="en-GB" sz="1600"/>
              <a:t>probabilities</a:t>
            </a:r>
            <a:r>
              <a:rPr lang="en-GB" sz="1600"/>
              <a:t> below in the correct order on the </a:t>
            </a:r>
            <a:r>
              <a:rPr b="1" lang="en-GB" sz="1600"/>
              <a:t>probability</a:t>
            </a:r>
            <a:r>
              <a:rPr lang="en-GB" sz="1600"/>
              <a:t> scale.</a:t>
            </a:r>
            <a:endParaRPr sz="1600"/>
          </a:p>
        </p:txBody>
      </p:sp>
      <p:sp>
        <p:nvSpPr>
          <p:cNvPr id="1241" name="Google Shape;1241;p81"/>
          <p:cNvSpPr txBox="1"/>
          <p:nvPr/>
        </p:nvSpPr>
        <p:spPr>
          <a:xfrm>
            <a:off x="7749325" y="4475725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1"/>
          <p:cNvSpPr txBox="1"/>
          <p:nvPr/>
        </p:nvSpPr>
        <p:spPr>
          <a:xfrm>
            <a:off x="324000" y="4475725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3" name="Google Shape;1243;p81"/>
          <p:cNvGrpSpPr/>
          <p:nvPr/>
        </p:nvGrpSpPr>
        <p:grpSpPr>
          <a:xfrm>
            <a:off x="984950" y="4290848"/>
            <a:ext cx="7187400" cy="291387"/>
            <a:chOff x="992233" y="3276625"/>
            <a:chExt cx="7187400" cy="658800"/>
          </a:xfrm>
        </p:grpSpPr>
        <p:cxnSp>
          <p:nvCxnSpPr>
            <p:cNvPr id="1244" name="Google Shape;1244;p81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5" name="Google Shape;1245;p81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6" name="Google Shape;1246;p81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7" name="Google Shape;1247;p81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48" name="Google Shape;1248;p81"/>
          <p:cNvSpPr txBox="1"/>
          <p:nvPr/>
        </p:nvSpPr>
        <p:spPr>
          <a:xfrm>
            <a:off x="3850025" y="4475725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9" name="Google Shape;1249;p81"/>
          <p:cNvCxnSpPr/>
          <p:nvPr/>
        </p:nvCxnSpPr>
        <p:spPr>
          <a:xfrm>
            <a:off x="4621625" y="4537800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50" name="Google Shape;1250;p81"/>
          <p:cNvSpPr txBox="1"/>
          <p:nvPr/>
        </p:nvSpPr>
        <p:spPr>
          <a:xfrm>
            <a:off x="2300175" y="4454246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1"/>
          <p:cNvSpPr txBox="1"/>
          <p:nvPr/>
        </p:nvSpPr>
        <p:spPr>
          <a:xfrm>
            <a:off x="6054451" y="4461511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2" name="Google Shape;1252;p81"/>
          <p:cNvCxnSpPr/>
          <p:nvPr/>
        </p:nvCxnSpPr>
        <p:spPr>
          <a:xfrm>
            <a:off x="1018454" y="4537800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53" name="Google Shape;1253;p81"/>
          <p:cNvSpPr txBox="1"/>
          <p:nvPr>
            <p:ph idx="1" type="body"/>
          </p:nvPr>
        </p:nvSpPr>
        <p:spPr>
          <a:xfrm>
            <a:off x="3245212" y="3366975"/>
            <a:ext cx="265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r>
              <a:rPr lang="en-GB" sz="1600"/>
              <a:t>, 0, 0.5, 0.1, 0.35, 0.95, 0.6 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82"/>
          <p:cNvSpPr txBox="1"/>
          <p:nvPr>
            <p:ph idx="1" type="body"/>
          </p:nvPr>
        </p:nvSpPr>
        <p:spPr>
          <a:xfrm>
            <a:off x="324000" y="759300"/>
            <a:ext cx="8237700" cy="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3) In each question you are given a spinner and a choice of four </a:t>
            </a:r>
            <a:r>
              <a:rPr b="1" lang="en-GB" sz="1600"/>
              <a:t>probabilities</a:t>
            </a:r>
            <a:r>
              <a:rPr lang="en-GB" sz="1600"/>
              <a:t>.</a:t>
            </a:r>
            <a:br>
              <a:rPr lang="en-GB" sz="1600"/>
            </a:br>
            <a:r>
              <a:rPr lang="en-GB" sz="1600"/>
              <a:t>    In each question, tick the </a:t>
            </a:r>
            <a:r>
              <a:rPr b="1" lang="en-GB" sz="1600"/>
              <a:t>probability </a:t>
            </a:r>
            <a:r>
              <a:rPr lang="en-GB" sz="1600"/>
              <a:t>that the spinner would land on ‘win’.</a:t>
            </a:r>
            <a:endParaRPr sz="1600"/>
          </a:p>
        </p:txBody>
      </p:sp>
      <p:sp>
        <p:nvSpPr>
          <p:cNvPr id="1259" name="Google Shape;1259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1260" name="Google Shape;1260;p82"/>
          <p:cNvSpPr/>
          <p:nvPr/>
        </p:nvSpPr>
        <p:spPr>
          <a:xfrm>
            <a:off x="706325" y="1569562"/>
            <a:ext cx="1251300" cy="1251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82"/>
          <p:cNvSpPr/>
          <p:nvPr/>
        </p:nvSpPr>
        <p:spPr>
          <a:xfrm flipH="1">
            <a:off x="717203" y="1580454"/>
            <a:ext cx="1229700" cy="12297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82"/>
          <p:cNvSpPr/>
          <p:nvPr/>
        </p:nvSpPr>
        <p:spPr>
          <a:xfrm>
            <a:off x="717217" y="1580454"/>
            <a:ext cx="1229700" cy="12297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82"/>
          <p:cNvSpPr txBox="1"/>
          <p:nvPr/>
        </p:nvSpPr>
        <p:spPr>
          <a:xfrm>
            <a:off x="767400" y="1992375"/>
            <a:ext cx="59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2"/>
          <p:cNvSpPr txBox="1"/>
          <p:nvPr/>
        </p:nvSpPr>
        <p:spPr>
          <a:xfrm>
            <a:off x="1394033" y="1999968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5" name="Google Shape;1265;p82"/>
          <p:cNvGrpSpPr/>
          <p:nvPr/>
        </p:nvGrpSpPr>
        <p:grpSpPr>
          <a:xfrm>
            <a:off x="1296218" y="1733940"/>
            <a:ext cx="69279" cy="506903"/>
            <a:chOff x="996050" y="213293"/>
            <a:chExt cx="93900" cy="909732"/>
          </a:xfrm>
        </p:grpSpPr>
        <p:cxnSp>
          <p:nvCxnSpPr>
            <p:cNvPr id="1266" name="Google Shape;1266;p8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67" name="Google Shape;1267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8" name="Google Shape;1268;p82"/>
          <p:cNvSpPr/>
          <p:nvPr/>
        </p:nvSpPr>
        <p:spPr>
          <a:xfrm>
            <a:off x="6403629" y="1569562"/>
            <a:ext cx="1251300" cy="1251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82"/>
          <p:cNvSpPr/>
          <p:nvPr/>
        </p:nvSpPr>
        <p:spPr>
          <a:xfrm flipH="1">
            <a:off x="6414506" y="1580454"/>
            <a:ext cx="1229700" cy="1229700"/>
          </a:xfrm>
          <a:prstGeom prst="pie">
            <a:avLst>
              <a:gd fmla="val 5387953" name="adj1"/>
              <a:gd fmla="val 3285471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82"/>
          <p:cNvSpPr/>
          <p:nvPr/>
        </p:nvSpPr>
        <p:spPr>
          <a:xfrm>
            <a:off x="6414521" y="1580454"/>
            <a:ext cx="1229700" cy="1229700"/>
          </a:xfrm>
          <a:prstGeom prst="pie">
            <a:avLst>
              <a:gd fmla="val 5387953" name="adj1"/>
              <a:gd fmla="val 7453728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82"/>
          <p:cNvSpPr txBox="1"/>
          <p:nvPr/>
        </p:nvSpPr>
        <p:spPr>
          <a:xfrm>
            <a:off x="6610792" y="2436959"/>
            <a:ext cx="59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2"/>
          <p:cNvSpPr txBox="1"/>
          <p:nvPr/>
        </p:nvSpPr>
        <p:spPr>
          <a:xfrm>
            <a:off x="7015136" y="1923768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3" name="Google Shape;1273;p82"/>
          <p:cNvGrpSpPr/>
          <p:nvPr/>
        </p:nvGrpSpPr>
        <p:grpSpPr>
          <a:xfrm>
            <a:off x="6993521" y="1733940"/>
            <a:ext cx="69279" cy="506903"/>
            <a:chOff x="996050" y="213293"/>
            <a:chExt cx="93900" cy="909732"/>
          </a:xfrm>
        </p:grpSpPr>
        <p:cxnSp>
          <p:nvCxnSpPr>
            <p:cNvPr id="1274" name="Google Shape;1274;p8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75" name="Google Shape;1275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6" name="Google Shape;1276;p82"/>
          <p:cNvSpPr/>
          <p:nvPr/>
        </p:nvSpPr>
        <p:spPr>
          <a:xfrm>
            <a:off x="6385932" y="3474562"/>
            <a:ext cx="1251300" cy="1251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82"/>
          <p:cNvSpPr/>
          <p:nvPr/>
        </p:nvSpPr>
        <p:spPr>
          <a:xfrm flipH="1">
            <a:off x="6396810" y="3485454"/>
            <a:ext cx="1229700" cy="1229700"/>
          </a:xfrm>
          <a:prstGeom prst="pie">
            <a:avLst>
              <a:gd fmla="val 5387953" name="adj1"/>
              <a:gd fmla="val 18353387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82"/>
          <p:cNvSpPr/>
          <p:nvPr/>
        </p:nvSpPr>
        <p:spPr>
          <a:xfrm>
            <a:off x="6396824" y="3485454"/>
            <a:ext cx="1229700" cy="1229700"/>
          </a:xfrm>
          <a:prstGeom prst="pie">
            <a:avLst>
              <a:gd fmla="val 5387953" name="adj1"/>
              <a:gd fmla="val 1486516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82"/>
          <p:cNvSpPr txBox="1"/>
          <p:nvPr/>
        </p:nvSpPr>
        <p:spPr>
          <a:xfrm>
            <a:off x="6446999" y="3897375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82"/>
          <p:cNvSpPr txBox="1"/>
          <p:nvPr/>
        </p:nvSpPr>
        <p:spPr>
          <a:xfrm>
            <a:off x="7073640" y="3904968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1" name="Google Shape;1281;p82"/>
          <p:cNvGrpSpPr/>
          <p:nvPr/>
        </p:nvGrpSpPr>
        <p:grpSpPr>
          <a:xfrm>
            <a:off x="6975824" y="3638940"/>
            <a:ext cx="69279" cy="506903"/>
            <a:chOff x="996050" y="213293"/>
            <a:chExt cx="93900" cy="909732"/>
          </a:xfrm>
        </p:grpSpPr>
        <p:cxnSp>
          <p:nvCxnSpPr>
            <p:cNvPr id="1282" name="Google Shape;1282;p8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83" name="Google Shape;1283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4" name="Google Shape;1284;p82"/>
          <p:cNvSpPr/>
          <p:nvPr/>
        </p:nvSpPr>
        <p:spPr>
          <a:xfrm>
            <a:off x="3548835" y="3474562"/>
            <a:ext cx="1251300" cy="1251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82"/>
          <p:cNvSpPr/>
          <p:nvPr/>
        </p:nvSpPr>
        <p:spPr>
          <a:xfrm flipH="1">
            <a:off x="3559713" y="3485454"/>
            <a:ext cx="1229700" cy="12297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82"/>
          <p:cNvSpPr/>
          <p:nvPr/>
        </p:nvSpPr>
        <p:spPr>
          <a:xfrm>
            <a:off x="3559727" y="3485454"/>
            <a:ext cx="1229700" cy="1229700"/>
          </a:xfrm>
          <a:prstGeom prst="pie">
            <a:avLst>
              <a:gd fmla="val 5387953" name="adj1"/>
              <a:gd fmla="val 3875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82"/>
          <p:cNvSpPr txBox="1"/>
          <p:nvPr/>
        </p:nvSpPr>
        <p:spPr>
          <a:xfrm>
            <a:off x="3609898" y="3821175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82"/>
          <p:cNvSpPr txBox="1"/>
          <p:nvPr/>
        </p:nvSpPr>
        <p:spPr>
          <a:xfrm>
            <a:off x="4160343" y="4133568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9" name="Google Shape;1289;p82"/>
          <p:cNvGrpSpPr/>
          <p:nvPr/>
        </p:nvGrpSpPr>
        <p:grpSpPr>
          <a:xfrm>
            <a:off x="4138728" y="3638940"/>
            <a:ext cx="69279" cy="506903"/>
            <a:chOff x="996050" y="213293"/>
            <a:chExt cx="93900" cy="909732"/>
          </a:xfrm>
        </p:grpSpPr>
        <p:cxnSp>
          <p:nvCxnSpPr>
            <p:cNvPr id="1290" name="Google Shape;1290;p8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1" name="Google Shape;1291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2" name="Google Shape;1292;p82"/>
          <p:cNvSpPr/>
          <p:nvPr/>
        </p:nvSpPr>
        <p:spPr>
          <a:xfrm>
            <a:off x="711739" y="3474562"/>
            <a:ext cx="1251300" cy="1251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82"/>
          <p:cNvSpPr/>
          <p:nvPr/>
        </p:nvSpPr>
        <p:spPr>
          <a:xfrm flipH="1">
            <a:off x="722616" y="3485454"/>
            <a:ext cx="1229700" cy="12297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82"/>
          <p:cNvSpPr/>
          <p:nvPr/>
        </p:nvSpPr>
        <p:spPr>
          <a:xfrm>
            <a:off x="722631" y="3485454"/>
            <a:ext cx="1229700" cy="1229700"/>
          </a:xfrm>
          <a:prstGeom prst="pie">
            <a:avLst>
              <a:gd fmla="val 5387953" name="adj1"/>
              <a:gd fmla="val 16618598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82"/>
          <p:cNvSpPr txBox="1"/>
          <p:nvPr/>
        </p:nvSpPr>
        <p:spPr>
          <a:xfrm>
            <a:off x="772798" y="3897375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2"/>
          <p:cNvSpPr txBox="1"/>
          <p:nvPr/>
        </p:nvSpPr>
        <p:spPr>
          <a:xfrm>
            <a:off x="1399446" y="3904968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7" name="Google Shape;1297;p82"/>
          <p:cNvGrpSpPr/>
          <p:nvPr/>
        </p:nvGrpSpPr>
        <p:grpSpPr>
          <a:xfrm>
            <a:off x="1301631" y="3638940"/>
            <a:ext cx="69279" cy="506903"/>
            <a:chOff x="996050" y="213293"/>
            <a:chExt cx="93900" cy="909732"/>
          </a:xfrm>
        </p:grpSpPr>
        <p:cxnSp>
          <p:nvCxnSpPr>
            <p:cNvPr id="1298" name="Google Shape;1298;p8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9" name="Google Shape;1299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0" name="Google Shape;1300;p82"/>
          <p:cNvSpPr/>
          <p:nvPr/>
        </p:nvSpPr>
        <p:spPr>
          <a:xfrm>
            <a:off x="3513442" y="1569562"/>
            <a:ext cx="1251300" cy="1251300"/>
          </a:xfrm>
          <a:prstGeom prst="ellipse">
            <a:avLst/>
          </a:prstGeom>
          <a:solidFill>
            <a:srgbClr val="9E9E9E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82"/>
          <p:cNvSpPr txBox="1"/>
          <p:nvPr/>
        </p:nvSpPr>
        <p:spPr>
          <a:xfrm>
            <a:off x="3879326" y="2220975"/>
            <a:ext cx="59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2" name="Google Shape;1302;p82"/>
          <p:cNvGrpSpPr/>
          <p:nvPr/>
        </p:nvGrpSpPr>
        <p:grpSpPr>
          <a:xfrm>
            <a:off x="4103334" y="1733940"/>
            <a:ext cx="69279" cy="506903"/>
            <a:chOff x="996050" y="213293"/>
            <a:chExt cx="93900" cy="909732"/>
          </a:xfrm>
        </p:grpSpPr>
        <p:cxnSp>
          <p:nvCxnSpPr>
            <p:cNvPr id="1303" name="Google Shape;1303;p8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04" name="Google Shape;1304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5" name="Google Shape;1305;p82"/>
          <p:cNvSpPr txBox="1"/>
          <p:nvPr>
            <p:ph idx="1" type="body"/>
          </p:nvPr>
        </p:nvSpPr>
        <p:spPr>
          <a:xfrm>
            <a:off x="462819" y="1502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06" name="Google Shape;1306;p82"/>
          <p:cNvSpPr txBox="1"/>
          <p:nvPr>
            <p:ph idx="1" type="body"/>
          </p:nvPr>
        </p:nvSpPr>
        <p:spPr>
          <a:xfrm>
            <a:off x="6177819" y="1502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307" name="Google Shape;1307;p82"/>
          <p:cNvSpPr txBox="1"/>
          <p:nvPr>
            <p:ph idx="1" type="body"/>
          </p:nvPr>
        </p:nvSpPr>
        <p:spPr>
          <a:xfrm>
            <a:off x="3320319" y="1502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308" name="Google Shape;1308;p82"/>
          <p:cNvSpPr txBox="1"/>
          <p:nvPr>
            <p:ph idx="1" type="body"/>
          </p:nvPr>
        </p:nvSpPr>
        <p:spPr>
          <a:xfrm>
            <a:off x="462819" y="3407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309" name="Google Shape;1309;p82"/>
          <p:cNvSpPr txBox="1"/>
          <p:nvPr>
            <p:ph idx="1" type="body"/>
          </p:nvPr>
        </p:nvSpPr>
        <p:spPr>
          <a:xfrm>
            <a:off x="6177819" y="3407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310" name="Google Shape;1310;p82"/>
          <p:cNvSpPr txBox="1"/>
          <p:nvPr>
            <p:ph idx="1" type="body"/>
          </p:nvPr>
        </p:nvSpPr>
        <p:spPr>
          <a:xfrm>
            <a:off x="3320319" y="3407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311" name="Google Shape;1311;p82"/>
          <p:cNvSpPr txBox="1"/>
          <p:nvPr>
            <p:ph idx="1" type="body"/>
          </p:nvPr>
        </p:nvSpPr>
        <p:spPr>
          <a:xfrm>
            <a:off x="2139213" y="15110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0.5%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12" name="Google Shape;1312;p82"/>
          <p:cNvSpPr txBox="1"/>
          <p:nvPr>
            <p:ph idx="1" type="body"/>
          </p:nvPr>
        </p:nvSpPr>
        <p:spPr>
          <a:xfrm>
            <a:off x="2139213" y="18751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r>
              <a:rPr lang="en-GB" sz="1600"/>
              <a:t>% </a:t>
            </a:r>
            <a:endParaRPr sz="1600"/>
          </a:p>
        </p:txBody>
      </p:sp>
      <p:sp>
        <p:nvSpPr>
          <p:cNvPr id="1313" name="Google Shape;1313;p82"/>
          <p:cNvSpPr txBox="1"/>
          <p:nvPr>
            <p:ph idx="1" type="body"/>
          </p:nvPr>
        </p:nvSpPr>
        <p:spPr>
          <a:xfrm>
            <a:off x="2139213" y="22391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% </a:t>
            </a:r>
            <a:endParaRPr sz="1600"/>
          </a:p>
        </p:txBody>
      </p:sp>
      <p:sp>
        <p:nvSpPr>
          <p:cNvPr id="1314" name="Google Shape;1314;p82"/>
          <p:cNvSpPr txBox="1"/>
          <p:nvPr>
            <p:ph idx="1" type="body"/>
          </p:nvPr>
        </p:nvSpPr>
        <p:spPr>
          <a:xfrm>
            <a:off x="2139213" y="2603178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50% </a:t>
            </a:r>
            <a:endParaRPr sz="1600"/>
          </a:p>
        </p:txBody>
      </p:sp>
      <p:sp>
        <p:nvSpPr>
          <p:cNvPr id="1315" name="Google Shape;1315;p82"/>
          <p:cNvSpPr txBox="1"/>
          <p:nvPr>
            <p:ph idx="1" type="body"/>
          </p:nvPr>
        </p:nvSpPr>
        <p:spPr>
          <a:xfrm>
            <a:off x="4958613" y="15110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16" name="Google Shape;1316;p82"/>
          <p:cNvSpPr txBox="1"/>
          <p:nvPr>
            <p:ph idx="1" type="body"/>
          </p:nvPr>
        </p:nvSpPr>
        <p:spPr>
          <a:xfrm>
            <a:off x="4958613" y="18751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0.5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17" name="Google Shape;1317;p82"/>
          <p:cNvSpPr txBox="1"/>
          <p:nvPr>
            <p:ph idx="1" type="body"/>
          </p:nvPr>
        </p:nvSpPr>
        <p:spPr>
          <a:xfrm>
            <a:off x="4958613" y="22391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18" name="Google Shape;1318;p82"/>
          <p:cNvSpPr txBox="1"/>
          <p:nvPr>
            <p:ph idx="1" type="body"/>
          </p:nvPr>
        </p:nvSpPr>
        <p:spPr>
          <a:xfrm>
            <a:off x="4958630" y="2603175"/>
            <a:ext cx="6636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19" name="Google Shape;1319;p82"/>
          <p:cNvSpPr txBox="1"/>
          <p:nvPr>
            <p:ph idx="1" type="body"/>
          </p:nvPr>
        </p:nvSpPr>
        <p:spPr>
          <a:xfrm>
            <a:off x="7854213" y="15110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0.1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20" name="Google Shape;1320;p82"/>
          <p:cNvSpPr txBox="1"/>
          <p:nvPr>
            <p:ph idx="1" type="body"/>
          </p:nvPr>
        </p:nvSpPr>
        <p:spPr>
          <a:xfrm>
            <a:off x="7854213" y="18751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0.45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21" name="Google Shape;1321;p82"/>
          <p:cNvSpPr txBox="1"/>
          <p:nvPr>
            <p:ph idx="1" type="body"/>
          </p:nvPr>
        </p:nvSpPr>
        <p:spPr>
          <a:xfrm>
            <a:off x="7854213" y="22391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0.5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22" name="Google Shape;1322;p82"/>
          <p:cNvSpPr txBox="1"/>
          <p:nvPr>
            <p:ph idx="1" type="body"/>
          </p:nvPr>
        </p:nvSpPr>
        <p:spPr>
          <a:xfrm>
            <a:off x="7854213" y="2603178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0.9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23" name="Google Shape;1323;p82"/>
          <p:cNvSpPr txBox="1"/>
          <p:nvPr>
            <p:ph idx="1" type="body"/>
          </p:nvPr>
        </p:nvSpPr>
        <p:spPr>
          <a:xfrm>
            <a:off x="7778013" y="34922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0.1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24" name="Google Shape;1324;p82"/>
          <p:cNvSpPr txBox="1"/>
          <p:nvPr>
            <p:ph idx="1" type="body"/>
          </p:nvPr>
        </p:nvSpPr>
        <p:spPr>
          <a:xfrm>
            <a:off x="7778013" y="38563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0.45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25" name="Google Shape;1325;p82"/>
          <p:cNvSpPr txBox="1"/>
          <p:nvPr>
            <p:ph idx="1" type="body"/>
          </p:nvPr>
        </p:nvSpPr>
        <p:spPr>
          <a:xfrm>
            <a:off x="7778013" y="42203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0.5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26" name="Google Shape;1326;p82"/>
          <p:cNvSpPr txBox="1"/>
          <p:nvPr>
            <p:ph idx="1" type="body"/>
          </p:nvPr>
        </p:nvSpPr>
        <p:spPr>
          <a:xfrm>
            <a:off x="7778013" y="4584378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0.6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27" name="Google Shape;1327;p82"/>
          <p:cNvSpPr txBox="1"/>
          <p:nvPr>
            <p:ph idx="1" type="body"/>
          </p:nvPr>
        </p:nvSpPr>
        <p:spPr>
          <a:xfrm>
            <a:off x="2063013" y="34922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r>
              <a:rPr lang="en-GB" sz="1600"/>
              <a:t>% </a:t>
            </a:r>
            <a:endParaRPr sz="1600"/>
          </a:p>
        </p:txBody>
      </p:sp>
      <p:sp>
        <p:nvSpPr>
          <p:cNvPr id="1328" name="Google Shape;1328;p82"/>
          <p:cNvSpPr txBox="1"/>
          <p:nvPr>
            <p:ph idx="1" type="body"/>
          </p:nvPr>
        </p:nvSpPr>
        <p:spPr>
          <a:xfrm>
            <a:off x="2063013" y="38563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</a:t>
            </a:r>
            <a:r>
              <a:rPr lang="en-GB" sz="1600"/>
              <a:t>% </a:t>
            </a:r>
            <a:endParaRPr sz="1600"/>
          </a:p>
        </p:txBody>
      </p:sp>
      <p:sp>
        <p:nvSpPr>
          <p:cNvPr id="1329" name="Google Shape;1329;p82"/>
          <p:cNvSpPr txBox="1"/>
          <p:nvPr>
            <p:ph idx="1" type="body"/>
          </p:nvPr>
        </p:nvSpPr>
        <p:spPr>
          <a:xfrm>
            <a:off x="2063013" y="42203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52</a:t>
            </a:r>
            <a:r>
              <a:rPr lang="en-GB" sz="1600"/>
              <a:t>% </a:t>
            </a:r>
            <a:endParaRPr sz="1600"/>
          </a:p>
        </p:txBody>
      </p:sp>
      <p:sp>
        <p:nvSpPr>
          <p:cNvPr id="1330" name="Google Shape;1330;p82"/>
          <p:cNvSpPr txBox="1"/>
          <p:nvPr>
            <p:ph idx="1" type="body"/>
          </p:nvPr>
        </p:nvSpPr>
        <p:spPr>
          <a:xfrm>
            <a:off x="2063013" y="4584378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95</a:t>
            </a:r>
            <a:r>
              <a:rPr lang="en-GB" sz="1600"/>
              <a:t>% </a:t>
            </a:r>
            <a:endParaRPr sz="1600"/>
          </a:p>
        </p:txBody>
      </p:sp>
      <p:sp>
        <p:nvSpPr>
          <p:cNvPr id="1331" name="Google Shape;1331;p82"/>
          <p:cNvSpPr txBox="1"/>
          <p:nvPr>
            <p:ph idx="1" type="body"/>
          </p:nvPr>
        </p:nvSpPr>
        <p:spPr>
          <a:xfrm>
            <a:off x="4958613" y="34922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50%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32" name="Google Shape;1332;p82"/>
          <p:cNvSpPr txBox="1"/>
          <p:nvPr>
            <p:ph idx="1" type="body"/>
          </p:nvPr>
        </p:nvSpPr>
        <p:spPr>
          <a:xfrm>
            <a:off x="4958613" y="38563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52%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33" name="Google Shape;1333;p82"/>
          <p:cNvSpPr txBox="1"/>
          <p:nvPr>
            <p:ph idx="1" type="body"/>
          </p:nvPr>
        </p:nvSpPr>
        <p:spPr>
          <a:xfrm>
            <a:off x="4958613" y="42203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75%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1334" name="Google Shape;1334;p82"/>
          <p:cNvSpPr txBox="1"/>
          <p:nvPr>
            <p:ph idx="1" type="body"/>
          </p:nvPr>
        </p:nvSpPr>
        <p:spPr>
          <a:xfrm>
            <a:off x="4958613" y="4584378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98</a:t>
            </a:r>
            <a:r>
              <a:rPr lang="en-GB" sz="1600"/>
              <a:t>% 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Write the </a:t>
            </a:r>
            <a:r>
              <a:rPr b="1" lang="en-GB" sz="1600"/>
              <a:t>probabilities</a:t>
            </a:r>
            <a:r>
              <a:rPr lang="en-GB" sz="1600"/>
              <a:t> below in the correct order on the</a:t>
            </a:r>
            <a:r>
              <a:rPr b="1" lang="en-GB" sz="1600"/>
              <a:t> probability</a:t>
            </a:r>
            <a:r>
              <a:rPr lang="en-GB" sz="1600"/>
              <a:t> scale.</a:t>
            </a:r>
            <a:endParaRPr sz="1600"/>
          </a:p>
        </p:txBody>
      </p:sp>
      <p:sp>
        <p:nvSpPr>
          <p:cNvPr id="1340" name="Google Shape;1340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1341" name="Google Shape;1341;p83"/>
          <p:cNvSpPr txBox="1"/>
          <p:nvPr/>
        </p:nvSpPr>
        <p:spPr>
          <a:xfrm>
            <a:off x="7749325" y="2308408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83"/>
          <p:cNvSpPr txBox="1"/>
          <p:nvPr/>
        </p:nvSpPr>
        <p:spPr>
          <a:xfrm>
            <a:off x="324000" y="2308408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3" name="Google Shape;1343;p83"/>
          <p:cNvGrpSpPr/>
          <p:nvPr/>
        </p:nvGrpSpPr>
        <p:grpSpPr>
          <a:xfrm>
            <a:off x="984950" y="2123531"/>
            <a:ext cx="7187400" cy="291387"/>
            <a:chOff x="992233" y="3276625"/>
            <a:chExt cx="7187400" cy="658800"/>
          </a:xfrm>
        </p:grpSpPr>
        <p:cxnSp>
          <p:nvCxnSpPr>
            <p:cNvPr id="1344" name="Google Shape;1344;p83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5" name="Google Shape;1345;p83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6" name="Google Shape;1346;p83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7" name="Google Shape;1347;p83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48" name="Google Shape;1348;p83"/>
          <p:cNvSpPr txBox="1"/>
          <p:nvPr/>
        </p:nvSpPr>
        <p:spPr>
          <a:xfrm>
            <a:off x="3850025" y="2308408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9" name="Google Shape;1349;p83"/>
          <p:cNvCxnSpPr/>
          <p:nvPr/>
        </p:nvCxnSpPr>
        <p:spPr>
          <a:xfrm>
            <a:off x="4621625" y="2370483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50" name="Google Shape;1350;p83"/>
          <p:cNvSpPr txBox="1"/>
          <p:nvPr/>
        </p:nvSpPr>
        <p:spPr>
          <a:xfrm>
            <a:off x="2300175" y="2286930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3"/>
          <p:cNvSpPr txBox="1"/>
          <p:nvPr/>
        </p:nvSpPr>
        <p:spPr>
          <a:xfrm>
            <a:off x="6054451" y="2294194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2" name="Google Shape;1352;p83"/>
          <p:cNvCxnSpPr/>
          <p:nvPr/>
        </p:nvCxnSpPr>
        <p:spPr>
          <a:xfrm>
            <a:off x="1018454" y="2370483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53" name="Google Shape;1353;p83"/>
          <p:cNvSpPr txBox="1"/>
          <p:nvPr>
            <p:ph idx="1" type="body"/>
          </p:nvPr>
        </p:nvSpPr>
        <p:spPr>
          <a:xfrm>
            <a:off x="2737100" y="1199646"/>
            <a:ext cx="3679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0%, 100%, 20%, 75%, 50%, 45%, 55% </a:t>
            </a:r>
            <a:endParaRPr sz="1600"/>
          </a:p>
        </p:txBody>
      </p:sp>
      <p:sp>
        <p:nvSpPr>
          <p:cNvPr id="1354" name="Google Shape;1354;p83"/>
          <p:cNvSpPr txBox="1"/>
          <p:nvPr>
            <p:ph idx="1" type="body"/>
          </p:nvPr>
        </p:nvSpPr>
        <p:spPr>
          <a:xfrm>
            <a:off x="324000" y="2926617"/>
            <a:ext cx="8237700" cy="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Write the </a:t>
            </a:r>
            <a:r>
              <a:rPr b="1" lang="en-GB" sz="1600"/>
              <a:t>probabilities</a:t>
            </a:r>
            <a:r>
              <a:rPr lang="en-GB" sz="1600"/>
              <a:t> below in the correct order on the </a:t>
            </a:r>
            <a:r>
              <a:rPr b="1" lang="en-GB" sz="1600"/>
              <a:t>probability</a:t>
            </a:r>
            <a:r>
              <a:rPr lang="en-GB" sz="1600"/>
              <a:t> scale.</a:t>
            </a:r>
            <a:endParaRPr sz="1600"/>
          </a:p>
        </p:txBody>
      </p:sp>
      <p:sp>
        <p:nvSpPr>
          <p:cNvPr id="1355" name="Google Shape;1355;p83"/>
          <p:cNvSpPr txBox="1"/>
          <p:nvPr/>
        </p:nvSpPr>
        <p:spPr>
          <a:xfrm>
            <a:off x="7749325" y="4475725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3"/>
          <p:cNvSpPr txBox="1"/>
          <p:nvPr/>
        </p:nvSpPr>
        <p:spPr>
          <a:xfrm>
            <a:off x="324000" y="4475725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7" name="Google Shape;1357;p83"/>
          <p:cNvGrpSpPr/>
          <p:nvPr/>
        </p:nvGrpSpPr>
        <p:grpSpPr>
          <a:xfrm>
            <a:off x="984950" y="4290848"/>
            <a:ext cx="7187400" cy="291387"/>
            <a:chOff x="992233" y="3276625"/>
            <a:chExt cx="7187400" cy="658800"/>
          </a:xfrm>
        </p:grpSpPr>
        <p:cxnSp>
          <p:nvCxnSpPr>
            <p:cNvPr id="1358" name="Google Shape;1358;p83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9" name="Google Shape;1359;p83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0" name="Google Shape;1360;p83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1" name="Google Shape;1361;p83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62" name="Google Shape;1362;p83"/>
          <p:cNvSpPr txBox="1"/>
          <p:nvPr/>
        </p:nvSpPr>
        <p:spPr>
          <a:xfrm>
            <a:off x="3850025" y="4475725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3" name="Google Shape;1363;p83"/>
          <p:cNvCxnSpPr/>
          <p:nvPr/>
        </p:nvCxnSpPr>
        <p:spPr>
          <a:xfrm>
            <a:off x="4621625" y="4537800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4" name="Google Shape;1364;p83"/>
          <p:cNvSpPr txBox="1"/>
          <p:nvPr/>
        </p:nvSpPr>
        <p:spPr>
          <a:xfrm>
            <a:off x="2300175" y="4454246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83"/>
          <p:cNvSpPr txBox="1"/>
          <p:nvPr/>
        </p:nvSpPr>
        <p:spPr>
          <a:xfrm>
            <a:off x="6054451" y="4461511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6" name="Google Shape;1366;p83"/>
          <p:cNvCxnSpPr/>
          <p:nvPr/>
        </p:nvCxnSpPr>
        <p:spPr>
          <a:xfrm>
            <a:off x="1018454" y="4537800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7" name="Google Shape;1367;p83"/>
          <p:cNvSpPr txBox="1"/>
          <p:nvPr>
            <p:ph idx="1" type="body"/>
          </p:nvPr>
        </p:nvSpPr>
        <p:spPr>
          <a:xfrm>
            <a:off x="3245212" y="3366975"/>
            <a:ext cx="265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1, 0, 0.5, 0.1, 0.35, 0.95, 0.6 </a:t>
            </a:r>
            <a:endParaRPr sz="1600"/>
          </a:p>
        </p:txBody>
      </p:sp>
      <p:sp>
        <p:nvSpPr>
          <p:cNvPr id="1368" name="Google Shape;1368;p83"/>
          <p:cNvSpPr txBox="1"/>
          <p:nvPr>
            <p:ph idx="1" type="body"/>
          </p:nvPr>
        </p:nvSpPr>
        <p:spPr>
          <a:xfrm>
            <a:off x="881883" y="1827925"/>
            <a:ext cx="372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0%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9" name="Google Shape;1369;p83"/>
          <p:cNvSpPr txBox="1"/>
          <p:nvPr>
            <p:ph idx="1" type="body"/>
          </p:nvPr>
        </p:nvSpPr>
        <p:spPr>
          <a:xfrm>
            <a:off x="4387073" y="1827925"/>
            <a:ext cx="459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0%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0" name="Google Shape;1370;p83"/>
          <p:cNvSpPr txBox="1"/>
          <p:nvPr>
            <p:ph idx="1" type="body"/>
          </p:nvPr>
        </p:nvSpPr>
        <p:spPr>
          <a:xfrm>
            <a:off x="7968475" y="1827925"/>
            <a:ext cx="516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0%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1" name="Google Shape;1371;p83"/>
          <p:cNvSpPr txBox="1"/>
          <p:nvPr>
            <p:ph idx="1" type="body"/>
          </p:nvPr>
        </p:nvSpPr>
        <p:spPr>
          <a:xfrm>
            <a:off x="1872472" y="1827925"/>
            <a:ext cx="516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%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2" name="Google Shape;1372;p83"/>
          <p:cNvSpPr txBox="1"/>
          <p:nvPr>
            <p:ph idx="1" type="body"/>
          </p:nvPr>
        </p:nvSpPr>
        <p:spPr>
          <a:xfrm>
            <a:off x="3701272" y="1827925"/>
            <a:ext cx="516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%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3" name="Google Shape;1373;p83"/>
          <p:cNvSpPr txBox="1"/>
          <p:nvPr>
            <p:ph idx="1" type="body"/>
          </p:nvPr>
        </p:nvSpPr>
        <p:spPr>
          <a:xfrm>
            <a:off x="5072872" y="1827925"/>
            <a:ext cx="516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5%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4" name="Google Shape;1374;p83"/>
          <p:cNvSpPr txBox="1"/>
          <p:nvPr>
            <p:ph idx="1" type="body"/>
          </p:nvPr>
        </p:nvSpPr>
        <p:spPr>
          <a:xfrm>
            <a:off x="6215872" y="1827925"/>
            <a:ext cx="516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5%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5" name="Google Shape;1375;p83"/>
          <p:cNvSpPr txBox="1"/>
          <p:nvPr>
            <p:ph idx="1" type="body"/>
          </p:nvPr>
        </p:nvSpPr>
        <p:spPr>
          <a:xfrm>
            <a:off x="932791" y="4012437"/>
            <a:ext cx="188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6" name="Google Shape;1376;p83"/>
          <p:cNvSpPr txBox="1"/>
          <p:nvPr>
            <p:ph idx="1" type="body"/>
          </p:nvPr>
        </p:nvSpPr>
        <p:spPr>
          <a:xfrm>
            <a:off x="4438006" y="4012425"/>
            <a:ext cx="324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7" name="Google Shape;1377;p83"/>
          <p:cNvSpPr txBox="1"/>
          <p:nvPr>
            <p:ph idx="1" type="body"/>
          </p:nvPr>
        </p:nvSpPr>
        <p:spPr>
          <a:xfrm>
            <a:off x="8155302" y="4012425"/>
            <a:ext cx="188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8" name="Google Shape;1378;p83"/>
          <p:cNvSpPr txBox="1"/>
          <p:nvPr>
            <p:ph idx="1" type="body"/>
          </p:nvPr>
        </p:nvSpPr>
        <p:spPr>
          <a:xfrm>
            <a:off x="7571322" y="4012425"/>
            <a:ext cx="459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0.95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9" name="Google Shape;1379;p83"/>
          <p:cNvSpPr txBox="1"/>
          <p:nvPr>
            <p:ph idx="1" type="body"/>
          </p:nvPr>
        </p:nvSpPr>
        <p:spPr>
          <a:xfrm>
            <a:off x="5437722" y="4012425"/>
            <a:ext cx="459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0" name="Google Shape;1380;p83"/>
          <p:cNvSpPr txBox="1"/>
          <p:nvPr>
            <p:ph idx="1" type="body"/>
          </p:nvPr>
        </p:nvSpPr>
        <p:spPr>
          <a:xfrm>
            <a:off x="3151722" y="4012425"/>
            <a:ext cx="459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0.35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1" name="Google Shape;1381;p83"/>
          <p:cNvSpPr txBox="1"/>
          <p:nvPr>
            <p:ph idx="1" type="body"/>
          </p:nvPr>
        </p:nvSpPr>
        <p:spPr>
          <a:xfrm>
            <a:off x="1399122" y="4012425"/>
            <a:ext cx="4593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3) In each question you are given a spinner and a choice of four </a:t>
            </a:r>
            <a:r>
              <a:rPr b="1" lang="en-GB" sz="1600"/>
              <a:t>probabilities</a:t>
            </a:r>
            <a:r>
              <a:rPr lang="en-GB" sz="1600"/>
              <a:t>.</a:t>
            </a:r>
            <a:br>
              <a:rPr lang="en-GB" sz="1600"/>
            </a:br>
            <a:r>
              <a:rPr lang="en-GB" sz="1600"/>
              <a:t>    In each question, tick the </a:t>
            </a:r>
            <a:r>
              <a:rPr b="1" lang="en-GB" sz="1600"/>
              <a:t>probability </a:t>
            </a:r>
            <a:r>
              <a:rPr lang="en-GB" sz="1600"/>
              <a:t>that the spinner would land on ‘win’.</a:t>
            </a:r>
            <a:endParaRPr sz="1600"/>
          </a:p>
        </p:txBody>
      </p:sp>
      <p:sp>
        <p:nvSpPr>
          <p:cNvPr id="1387" name="Google Shape;1387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1388" name="Google Shape;1388;p84"/>
          <p:cNvSpPr/>
          <p:nvPr/>
        </p:nvSpPr>
        <p:spPr>
          <a:xfrm>
            <a:off x="706325" y="1569562"/>
            <a:ext cx="1251300" cy="1251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84"/>
          <p:cNvSpPr/>
          <p:nvPr/>
        </p:nvSpPr>
        <p:spPr>
          <a:xfrm flipH="1">
            <a:off x="717203" y="1580454"/>
            <a:ext cx="1229700" cy="12297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84"/>
          <p:cNvSpPr/>
          <p:nvPr/>
        </p:nvSpPr>
        <p:spPr>
          <a:xfrm>
            <a:off x="717217" y="1580454"/>
            <a:ext cx="1229700" cy="12297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84"/>
          <p:cNvSpPr txBox="1"/>
          <p:nvPr/>
        </p:nvSpPr>
        <p:spPr>
          <a:xfrm>
            <a:off x="767400" y="1992375"/>
            <a:ext cx="59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84"/>
          <p:cNvSpPr txBox="1"/>
          <p:nvPr/>
        </p:nvSpPr>
        <p:spPr>
          <a:xfrm>
            <a:off x="1394033" y="1999968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3" name="Google Shape;1393;p84"/>
          <p:cNvGrpSpPr/>
          <p:nvPr/>
        </p:nvGrpSpPr>
        <p:grpSpPr>
          <a:xfrm>
            <a:off x="1296218" y="1733940"/>
            <a:ext cx="69279" cy="506903"/>
            <a:chOff x="996050" y="213293"/>
            <a:chExt cx="93900" cy="909732"/>
          </a:xfrm>
        </p:grpSpPr>
        <p:cxnSp>
          <p:nvCxnSpPr>
            <p:cNvPr id="1394" name="Google Shape;1394;p8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95" name="Google Shape;1395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6" name="Google Shape;1396;p84"/>
          <p:cNvSpPr/>
          <p:nvPr/>
        </p:nvSpPr>
        <p:spPr>
          <a:xfrm>
            <a:off x="6403629" y="1569562"/>
            <a:ext cx="1251300" cy="1251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84"/>
          <p:cNvSpPr/>
          <p:nvPr/>
        </p:nvSpPr>
        <p:spPr>
          <a:xfrm flipH="1">
            <a:off x="6414506" y="1580454"/>
            <a:ext cx="1229700" cy="1229700"/>
          </a:xfrm>
          <a:prstGeom prst="pie">
            <a:avLst>
              <a:gd fmla="val 5387953" name="adj1"/>
              <a:gd fmla="val 3285471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84"/>
          <p:cNvSpPr/>
          <p:nvPr/>
        </p:nvSpPr>
        <p:spPr>
          <a:xfrm>
            <a:off x="6414521" y="1580454"/>
            <a:ext cx="1229700" cy="1229700"/>
          </a:xfrm>
          <a:prstGeom prst="pie">
            <a:avLst>
              <a:gd fmla="val 5387953" name="adj1"/>
              <a:gd fmla="val 7453728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84"/>
          <p:cNvSpPr txBox="1"/>
          <p:nvPr/>
        </p:nvSpPr>
        <p:spPr>
          <a:xfrm>
            <a:off x="6610792" y="2436959"/>
            <a:ext cx="59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84"/>
          <p:cNvSpPr txBox="1"/>
          <p:nvPr/>
        </p:nvSpPr>
        <p:spPr>
          <a:xfrm>
            <a:off x="7015136" y="1923768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1" name="Google Shape;1401;p84"/>
          <p:cNvGrpSpPr/>
          <p:nvPr/>
        </p:nvGrpSpPr>
        <p:grpSpPr>
          <a:xfrm>
            <a:off x="6993521" y="1733940"/>
            <a:ext cx="69279" cy="506903"/>
            <a:chOff x="996050" y="213293"/>
            <a:chExt cx="93900" cy="909732"/>
          </a:xfrm>
        </p:grpSpPr>
        <p:cxnSp>
          <p:nvCxnSpPr>
            <p:cNvPr id="1402" name="Google Shape;1402;p8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03" name="Google Shape;1403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4" name="Google Shape;1404;p84"/>
          <p:cNvSpPr/>
          <p:nvPr/>
        </p:nvSpPr>
        <p:spPr>
          <a:xfrm>
            <a:off x="6385932" y="3474562"/>
            <a:ext cx="1251300" cy="1251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84"/>
          <p:cNvSpPr/>
          <p:nvPr/>
        </p:nvSpPr>
        <p:spPr>
          <a:xfrm flipH="1">
            <a:off x="6396810" y="3485454"/>
            <a:ext cx="1229700" cy="1229700"/>
          </a:xfrm>
          <a:prstGeom prst="pie">
            <a:avLst>
              <a:gd fmla="val 5387953" name="adj1"/>
              <a:gd fmla="val 18353387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84"/>
          <p:cNvSpPr/>
          <p:nvPr/>
        </p:nvSpPr>
        <p:spPr>
          <a:xfrm>
            <a:off x="6396824" y="3485454"/>
            <a:ext cx="1229700" cy="1229700"/>
          </a:xfrm>
          <a:prstGeom prst="pie">
            <a:avLst>
              <a:gd fmla="val 5387953" name="adj1"/>
              <a:gd fmla="val 1486516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84"/>
          <p:cNvSpPr txBox="1"/>
          <p:nvPr/>
        </p:nvSpPr>
        <p:spPr>
          <a:xfrm>
            <a:off x="6446999" y="3897375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84"/>
          <p:cNvSpPr txBox="1"/>
          <p:nvPr/>
        </p:nvSpPr>
        <p:spPr>
          <a:xfrm>
            <a:off x="7073640" y="3904968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9" name="Google Shape;1409;p84"/>
          <p:cNvGrpSpPr/>
          <p:nvPr/>
        </p:nvGrpSpPr>
        <p:grpSpPr>
          <a:xfrm>
            <a:off x="6975824" y="3638940"/>
            <a:ext cx="69279" cy="506903"/>
            <a:chOff x="996050" y="213293"/>
            <a:chExt cx="93900" cy="909732"/>
          </a:xfrm>
        </p:grpSpPr>
        <p:cxnSp>
          <p:nvCxnSpPr>
            <p:cNvPr id="1410" name="Google Shape;1410;p8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11" name="Google Shape;1411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2" name="Google Shape;1412;p84"/>
          <p:cNvSpPr/>
          <p:nvPr/>
        </p:nvSpPr>
        <p:spPr>
          <a:xfrm>
            <a:off x="3548835" y="3474562"/>
            <a:ext cx="1251300" cy="1251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84"/>
          <p:cNvSpPr/>
          <p:nvPr/>
        </p:nvSpPr>
        <p:spPr>
          <a:xfrm flipH="1">
            <a:off x="3559713" y="3485454"/>
            <a:ext cx="1229700" cy="12297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84"/>
          <p:cNvSpPr/>
          <p:nvPr/>
        </p:nvSpPr>
        <p:spPr>
          <a:xfrm>
            <a:off x="3559727" y="3485454"/>
            <a:ext cx="1229700" cy="1229700"/>
          </a:xfrm>
          <a:prstGeom prst="pie">
            <a:avLst>
              <a:gd fmla="val 5387953" name="adj1"/>
              <a:gd fmla="val 3875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84"/>
          <p:cNvSpPr txBox="1"/>
          <p:nvPr/>
        </p:nvSpPr>
        <p:spPr>
          <a:xfrm>
            <a:off x="3609898" y="3821175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84"/>
          <p:cNvSpPr txBox="1"/>
          <p:nvPr/>
        </p:nvSpPr>
        <p:spPr>
          <a:xfrm>
            <a:off x="4160343" y="4133568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7" name="Google Shape;1417;p84"/>
          <p:cNvGrpSpPr/>
          <p:nvPr/>
        </p:nvGrpSpPr>
        <p:grpSpPr>
          <a:xfrm>
            <a:off x="4138728" y="3638940"/>
            <a:ext cx="69279" cy="506903"/>
            <a:chOff x="996050" y="213293"/>
            <a:chExt cx="93900" cy="909732"/>
          </a:xfrm>
        </p:grpSpPr>
        <p:cxnSp>
          <p:nvCxnSpPr>
            <p:cNvPr id="1418" name="Google Shape;1418;p8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19" name="Google Shape;1419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0" name="Google Shape;1420;p84"/>
          <p:cNvSpPr/>
          <p:nvPr/>
        </p:nvSpPr>
        <p:spPr>
          <a:xfrm>
            <a:off x="711739" y="3474562"/>
            <a:ext cx="1251300" cy="12513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84"/>
          <p:cNvSpPr/>
          <p:nvPr/>
        </p:nvSpPr>
        <p:spPr>
          <a:xfrm flipH="1">
            <a:off x="722616" y="3485454"/>
            <a:ext cx="1229700" cy="12297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84"/>
          <p:cNvSpPr/>
          <p:nvPr/>
        </p:nvSpPr>
        <p:spPr>
          <a:xfrm>
            <a:off x="722631" y="3485454"/>
            <a:ext cx="1229700" cy="1229700"/>
          </a:xfrm>
          <a:prstGeom prst="pie">
            <a:avLst>
              <a:gd fmla="val 5387953" name="adj1"/>
              <a:gd fmla="val 16618598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84"/>
          <p:cNvSpPr txBox="1"/>
          <p:nvPr/>
        </p:nvSpPr>
        <p:spPr>
          <a:xfrm>
            <a:off x="772798" y="3897375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84"/>
          <p:cNvSpPr txBox="1"/>
          <p:nvPr/>
        </p:nvSpPr>
        <p:spPr>
          <a:xfrm>
            <a:off x="1399446" y="3904968"/>
            <a:ext cx="6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5" name="Google Shape;1425;p84"/>
          <p:cNvGrpSpPr/>
          <p:nvPr/>
        </p:nvGrpSpPr>
        <p:grpSpPr>
          <a:xfrm>
            <a:off x="1301631" y="3638940"/>
            <a:ext cx="69279" cy="506903"/>
            <a:chOff x="996050" y="213293"/>
            <a:chExt cx="93900" cy="909732"/>
          </a:xfrm>
        </p:grpSpPr>
        <p:cxnSp>
          <p:nvCxnSpPr>
            <p:cNvPr id="1426" name="Google Shape;1426;p8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27" name="Google Shape;1427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8" name="Google Shape;1428;p84"/>
          <p:cNvSpPr/>
          <p:nvPr/>
        </p:nvSpPr>
        <p:spPr>
          <a:xfrm>
            <a:off x="3513442" y="1569562"/>
            <a:ext cx="1251300" cy="1251300"/>
          </a:xfrm>
          <a:prstGeom prst="ellipse">
            <a:avLst/>
          </a:prstGeom>
          <a:solidFill>
            <a:srgbClr val="9E9E9E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84"/>
          <p:cNvSpPr txBox="1"/>
          <p:nvPr/>
        </p:nvSpPr>
        <p:spPr>
          <a:xfrm>
            <a:off x="3879326" y="2220975"/>
            <a:ext cx="59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0" name="Google Shape;1430;p84"/>
          <p:cNvGrpSpPr/>
          <p:nvPr/>
        </p:nvGrpSpPr>
        <p:grpSpPr>
          <a:xfrm>
            <a:off x="4103334" y="1733940"/>
            <a:ext cx="69279" cy="506903"/>
            <a:chOff x="996050" y="213293"/>
            <a:chExt cx="93900" cy="909732"/>
          </a:xfrm>
        </p:grpSpPr>
        <p:cxnSp>
          <p:nvCxnSpPr>
            <p:cNvPr id="1431" name="Google Shape;1431;p8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32" name="Google Shape;1432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3" name="Google Shape;1433;p84"/>
          <p:cNvSpPr txBox="1"/>
          <p:nvPr>
            <p:ph idx="1" type="body"/>
          </p:nvPr>
        </p:nvSpPr>
        <p:spPr>
          <a:xfrm>
            <a:off x="462819" y="1502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</a:t>
            </a:r>
            <a:endParaRPr sz="1600"/>
          </a:p>
        </p:txBody>
      </p:sp>
      <p:sp>
        <p:nvSpPr>
          <p:cNvPr id="1434" name="Google Shape;1434;p84"/>
          <p:cNvSpPr txBox="1"/>
          <p:nvPr>
            <p:ph idx="1" type="body"/>
          </p:nvPr>
        </p:nvSpPr>
        <p:spPr>
          <a:xfrm>
            <a:off x="6177819" y="1502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</a:t>
            </a:r>
            <a:endParaRPr sz="1600"/>
          </a:p>
        </p:txBody>
      </p:sp>
      <p:sp>
        <p:nvSpPr>
          <p:cNvPr id="1435" name="Google Shape;1435;p84"/>
          <p:cNvSpPr txBox="1"/>
          <p:nvPr>
            <p:ph idx="1" type="body"/>
          </p:nvPr>
        </p:nvSpPr>
        <p:spPr>
          <a:xfrm>
            <a:off x="3320319" y="1502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</a:t>
            </a:r>
            <a:endParaRPr sz="1600"/>
          </a:p>
        </p:txBody>
      </p:sp>
      <p:sp>
        <p:nvSpPr>
          <p:cNvPr id="1436" name="Google Shape;1436;p84"/>
          <p:cNvSpPr txBox="1"/>
          <p:nvPr>
            <p:ph idx="1" type="body"/>
          </p:nvPr>
        </p:nvSpPr>
        <p:spPr>
          <a:xfrm>
            <a:off x="462819" y="3407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</a:t>
            </a:r>
            <a:endParaRPr sz="1600"/>
          </a:p>
        </p:txBody>
      </p:sp>
      <p:sp>
        <p:nvSpPr>
          <p:cNvPr id="1437" name="Google Shape;1437;p84"/>
          <p:cNvSpPr txBox="1"/>
          <p:nvPr>
            <p:ph idx="1" type="body"/>
          </p:nvPr>
        </p:nvSpPr>
        <p:spPr>
          <a:xfrm>
            <a:off x="6177819" y="3407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f) </a:t>
            </a:r>
            <a:endParaRPr sz="1600"/>
          </a:p>
        </p:txBody>
      </p:sp>
      <p:sp>
        <p:nvSpPr>
          <p:cNvPr id="1438" name="Google Shape;1438;p84"/>
          <p:cNvSpPr txBox="1"/>
          <p:nvPr>
            <p:ph idx="1" type="body"/>
          </p:nvPr>
        </p:nvSpPr>
        <p:spPr>
          <a:xfrm>
            <a:off x="3320319" y="3407325"/>
            <a:ext cx="2364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e) </a:t>
            </a:r>
            <a:endParaRPr sz="1600"/>
          </a:p>
        </p:txBody>
      </p:sp>
      <p:sp>
        <p:nvSpPr>
          <p:cNvPr id="1439" name="Google Shape;1439;p84"/>
          <p:cNvSpPr txBox="1"/>
          <p:nvPr>
            <p:ph idx="1" type="body"/>
          </p:nvPr>
        </p:nvSpPr>
        <p:spPr>
          <a:xfrm>
            <a:off x="2139213" y="15110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0.5% </a:t>
            </a:r>
            <a:endParaRPr sz="1600"/>
          </a:p>
        </p:txBody>
      </p:sp>
      <p:sp>
        <p:nvSpPr>
          <p:cNvPr id="1440" name="Google Shape;1440;p84"/>
          <p:cNvSpPr txBox="1"/>
          <p:nvPr>
            <p:ph idx="1" type="body"/>
          </p:nvPr>
        </p:nvSpPr>
        <p:spPr>
          <a:xfrm>
            <a:off x="2139213" y="18751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1% </a:t>
            </a:r>
            <a:endParaRPr sz="1600"/>
          </a:p>
        </p:txBody>
      </p:sp>
      <p:sp>
        <p:nvSpPr>
          <p:cNvPr id="1441" name="Google Shape;1441;p84"/>
          <p:cNvSpPr txBox="1"/>
          <p:nvPr>
            <p:ph idx="1" type="body"/>
          </p:nvPr>
        </p:nvSpPr>
        <p:spPr>
          <a:xfrm>
            <a:off x="2139213" y="22391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2% </a:t>
            </a:r>
            <a:endParaRPr sz="1600"/>
          </a:p>
        </p:txBody>
      </p:sp>
      <p:sp>
        <p:nvSpPr>
          <p:cNvPr id="1442" name="Google Shape;1442;p84"/>
          <p:cNvSpPr txBox="1"/>
          <p:nvPr>
            <p:ph idx="1" type="body"/>
          </p:nvPr>
        </p:nvSpPr>
        <p:spPr>
          <a:xfrm>
            <a:off x="2139213" y="2603178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50% </a:t>
            </a:r>
            <a:endParaRPr sz="1600"/>
          </a:p>
        </p:txBody>
      </p:sp>
      <p:sp>
        <p:nvSpPr>
          <p:cNvPr id="1443" name="Google Shape;1443;p84"/>
          <p:cNvSpPr txBox="1"/>
          <p:nvPr>
            <p:ph idx="1" type="body"/>
          </p:nvPr>
        </p:nvSpPr>
        <p:spPr>
          <a:xfrm>
            <a:off x="4958613" y="15110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 </a:t>
            </a:r>
            <a:endParaRPr sz="1600"/>
          </a:p>
        </p:txBody>
      </p:sp>
      <p:sp>
        <p:nvSpPr>
          <p:cNvPr id="1444" name="Google Shape;1444;p84"/>
          <p:cNvSpPr txBox="1"/>
          <p:nvPr>
            <p:ph idx="1" type="body"/>
          </p:nvPr>
        </p:nvSpPr>
        <p:spPr>
          <a:xfrm>
            <a:off x="4958613" y="18751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0.5 </a:t>
            </a:r>
            <a:endParaRPr sz="1600"/>
          </a:p>
        </p:txBody>
      </p:sp>
      <p:sp>
        <p:nvSpPr>
          <p:cNvPr id="1445" name="Google Shape;1445;p84"/>
          <p:cNvSpPr txBox="1"/>
          <p:nvPr>
            <p:ph idx="1" type="body"/>
          </p:nvPr>
        </p:nvSpPr>
        <p:spPr>
          <a:xfrm>
            <a:off x="4958613" y="22391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</a:t>
            </a:r>
            <a:endParaRPr sz="1600"/>
          </a:p>
        </p:txBody>
      </p:sp>
      <p:sp>
        <p:nvSpPr>
          <p:cNvPr id="1446" name="Google Shape;1446;p84"/>
          <p:cNvSpPr txBox="1"/>
          <p:nvPr>
            <p:ph idx="1" type="body"/>
          </p:nvPr>
        </p:nvSpPr>
        <p:spPr>
          <a:xfrm>
            <a:off x="4958630" y="2603175"/>
            <a:ext cx="6636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 </a:t>
            </a:r>
            <a:endParaRPr sz="1600"/>
          </a:p>
        </p:txBody>
      </p:sp>
      <p:sp>
        <p:nvSpPr>
          <p:cNvPr id="1447" name="Google Shape;1447;p84"/>
          <p:cNvSpPr txBox="1"/>
          <p:nvPr>
            <p:ph idx="1" type="body"/>
          </p:nvPr>
        </p:nvSpPr>
        <p:spPr>
          <a:xfrm>
            <a:off x="7854213" y="15110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0.1 </a:t>
            </a:r>
            <a:endParaRPr sz="1600"/>
          </a:p>
        </p:txBody>
      </p:sp>
      <p:sp>
        <p:nvSpPr>
          <p:cNvPr id="1448" name="Google Shape;1448;p84"/>
          <p:cNvSpPr txBox="1"/>
          <p:nvPr>
            <p:ph idx="1" type="body"/>
          </p:nvPr>
        </p:nvSpPr>
        <p:spPr>
          <a:xfrm>
            <a:off x="7854213" y="18751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0.45 </a:t>
            </a:r>
            <a:endParaRPr sz="1600"/>
          </a:p>
        </p:txBody>
      </p:sp>
      <p:sp>
        <p:nvSpPr>
          <p:cNvPr id="1449" name="Google Shape;1449;p84"/>
          <p:cNvSpPr txBox="1"/>
          <p:nvPr>
            <p:ph idx="1" type="body"/>
          </p:nvPr>
        </p:nvSpPr>
        <p:spPr>
          <a:xfrm>
            <a:off x="7854213" y="22391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0.5 </a:t>
            </a:r>
            <a:endParaRPr sz="1600"/>
          </a:p>
        </p:txBody>
      </p:sp>
      <p:sp>
        <p:nvSpPr>
          <p:cNvPr id="1450" name="Google Shape;1450;p84"/>
          <p:cNvSpPr txBox="1"/>
          <p:nvPr>
            <p:ph idx="1" type="body"/>
          </p:nvPr>
        </p:nvSpPr>
        <p:spPr>
          <a:xfrm>
            <a:off x="7854213" y="2603178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0.9 </a:t>
            </a:r>
            <a:endParaRPr sz="1600"/>
          </a:p>
        </p:txBody>
      </p:sp>
      <p:sp>
        <p:nvSpPr>
          <p:cNvPr id="1451" name="Google Shape;1451;p84"/>
          <p:cNvSpPr txBox="1"/>
          <p:nvPr>
            <p:ph idx="1" type="body"/>
          </p:nvPr>
        </p:nvSpPr>
        <p:spPr>
          <a:xfrm>
            <a:off x="7778013" y="34922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0.1 </a:t>
            </a:r>
            <a:endParaRPr sz="1600"/>
          </a:p>
        </p:txBody>
      </p:sp>
      <p:sp>
        <p:nvSpPr>
          <p:cNvPr id="1452" name="Google Shape;1452;p84"/>
          <p:cNvSpPr txBox="1"/>
          <p:nvPr>
            <p:ph idx="1" type="body"/>
          </p:nvPr>
        </p:nvSpPr>
        <p:spPr>
          <a:xfrm>
            <a:off x="7778013" y="38563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0.45 </a:t>
            </a:r>
            <a:endParaRPr sz="1600"/>
          </a:p>
        </p:txBody>
      </p:sp>
      <p:sp>
        <p:nvSpPr>
          <p:cNvPr id="1453" name="Google Shape;1453;p84"/>
          <p:cNvSpPr txBox="1"/>
          <p:nvPr>
            <p:ph idx="1" type="body"/>
          </p:nvPr>
        </p:nvSpPr>
        <p:spPr>
          <a:xfrm>
            <a:off x="7778013" y="42203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0.5 </a:t>
            </a:r>
            <a:endParaRPr sz="1600"/>
          </a:p>
        </p:txBody>
      </p:sp>
      <p:sp>
        <p:nvSpPr>
          <p:cNvPr id="1454" name="Google Shape;1454;p84"/>
          <p:cNvSpPr txBox="1"/>
          <p:nvPr>
            <p:ph idx="1" type="body"/>
          </p:nvPr>
        </p:nvSpPr>
        <p:spPr>
          <a:xfrm>
            <a:off x="7778013" y="4584378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0.6 </a:t>
            </a:r>
            <a:endParaRPr sz="1600"/>
          </a:p>
        </p:txBody>
      </p:sp>
      <p:sp>
        <p:nvSpPr>
          <p:cNvPr id="1455" name="Google Shape;1455;p84"/>
          <p:cNvSpPr txBox="1"/>
          <p:nvPr>
            <p:ph idx="1" type="body"/>
          </p:nvPr>
        </p:nvSpPr>
        <p:spPr>
          <a:xfrm>
            <a:off x="2063013" y="34922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40% </a:t>
            </a:r>
            <a:endParaRPr sz="1600"/>
          </a:p>
        </p:txBody>
      </p:sp>
      <p:sp>
        <p:nvSpPr>
          <p:cNvPr id="1456" name="Google Shape;1456;p84"/>
          <p:cNvSpPr txBox="1"/>
          <p:nvPr>
            <p:ph idx="1" type="body"/>
          </p:nvPr>
        </p:nvSpPr>
        <p:spPr>
          <a:xfrm>
            <a:off x="2063013" y="38563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50% </a:t>
            </a:r>
            <a:endParaRPr sz="1600"/>
          </a:p>
        </p:txBody>
      </p:sp>
      <p:sp>
        <p:nvSpPr>
          <p:cNvPr id="1457" name="Google Shape;1457;p84"/>
          <p:cNvSpPr txBox="1"/>
          <p:nvPr>
            <p:ph idx="1" type="body"/>
          </p:nvPr>
        </p:nvSpPr>
        <p:spPr>
          <a:xfrm>
            <a:off x="2063013" y="42203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52% </a:t>
            </a:r>
            <a:endParaRPr sz="1600"/>
          </a:p>
        </p:txBody>
      </p:sp>
      <p:sp>
        <p:nvSpPr>
          <p:cNvPr id="1458" name="Google Shape;1458;p84"/>
          <p:cNvSpPr txBox="1"/>
          <p:nvPr>
            <p:ph idx="1" type="body"/>
          </p:nvPr>
        </p:nvSpPr>
        <p:spPr>
          <a:xfrm>
            <a:off x="2063013" y="4584378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95% </a:t>
            </a:r>
            <a:endParaRPr sz="1600"/>
          </a:p>
        </p:txBody>
      </p:sp>
      <p:sp>
        <p:nvSpPr>
          <p:cNvPr id="1459" name="Google Shape;1459;p84"/>
          <p:cNvSpPr txBox="1"/>
          <p:nvPr>
            <p:ph idx="1" type="body"/>
          </p:nvPr>
        </p:nvSpPr>
        <p:spPr>
          <a:xfrm>
            <a:off x="4958613" y="349229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50% </a:t>
            </a:r>
            <a:endParaRPr sz="1600"/>
          </a:p>
        </p:txBody>
      </p:sp>
      <p:sp>
        <p:nvSpPr>
          <p:cNvPr id="1460" name="Google Shape;1460;p84"/>
          <p:cNvSpPr txBox="1"/>
          <p:nvPr>
            <p:ph idx="1" type="body"/>
          </p:nvPr>
        </p:nvSpPr>
        <p:spPr>
          <a:xfrm>
            <a:off x="4958613" y="3856320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52% </a:t>
            </a:r>
            <a:endParaRPr sz="1600"/>
          </a:p>
        </p:txBody>
      </p:sp>
      <p:sp>
        <p:nvSpPr>
          <p:cNvPr id="1461" name="Google Shape;1461;p84"/>
          <p:cNvSpPr txBox="1"/>
          <p:nvPr>
            <p:ph idx="1" type="body"/>
          </p:nvPr>
        </p:nvSpPr>
        <p:spPr>
          <a:xfrm>
            <a:off x="4958613" y="4220349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75% </a:t>
            </a:r>
            <a:endParaRPr sz="1600"/>
          </a:p>
        </p:txBody>
      </p:sp>
      <p:sp>
        <p:nvSpPr>
          <p:cNvPr id="1462" name="Google Shape;1462;p84"/>
          <p:cNvSpPr txBox="1"/>
          <p:nvPr>
            <p:ph idx="1" type="body"/>
          </p:nvPr>
        </p:nvSpPr>
        <p:spPr>
          <a:xfrm>
            <a:off x="4958613" y="4584378"/>
            <a:ext cx="481500" cy="2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98% </a:t>
            </a:r>
            <a:endParaRPr sz="1600"/>
          </a:p>
        </p:txBody>
      </p:sp>
      <p:pic>
        <p:nvPicPr>
          <p:cNvPr id="1463" name="Google Shape;146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5448" y="2603175"/>
            <a:ext cx="236400" cy="25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4" name="Google Shape;146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048" y="2222175"/>
            <a:ext cx="236400" cy="25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048" y="1493892"/>
            <a:ext cx="236400" cy="25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248" y="4237092"/>
            <a:ext cx="236400" cy="25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848" y="4237092"/>
            <a:ext cx="236400" cy="25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4248" y="3856092"/>
            <a:ext cx="236400" cy="25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probabilities: percentages and decimals</a:t>
            </a:r>
            <a:endParaRPr/>
          </a:p>
        </p:txBody>
      </p:sp>
      <p:sp>
        <p:nvSpPr>
          <p:cNvPr id="1474" name="Google Shape;1474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475" name="Google Shape;1475;p8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probability</a:t>
            </a:r>
            <a:r>
              <a:rPr lang="en-GB"/>
              <a:t> scale</a:t>
            </a:r>
            <a:endParaRPr/>
          </a:p>
        </p:txBody>
      </p:sp>
      <p:pic>
        <p:nvPicPr>
          <p:cNvPr id="1476" name="Google Shape;147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45" y="298980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86"/>
          <p:cNvSpPr txBox="1"/>
          <p:nvPr>
            <p:ph idx="1" type="body"/>
          </p:nvPr>
        </p:nvSpPr>
        <p:spPr>
          <a:xfrm>
            <a:off x="324000" y="759300"/>
            <a:ext cx="82377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282828"/>
                </a:solidFill>
              </a:rPr>
              <a:t>Probabilities</a:t>
            </a:r>
            <a:r>
              <a:rPr lang="en-GB" sz="1800">
                <a:solidFill>
                  <a:srgbClr val="282828"/>
                </a:solidFill>
              </a:rPr>
              <a:t> can also be expressed using the equivalent fractions.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482" name="Google Shape;148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483" name="Google Shape;1483;p86"/>
          <p:cNvSpPr txBox="1"/>
          <p:nvPr/>
        </p:nvSpPr>
        <p:spPr>
          <a:xfrm>
            <a:off x="7749325" y="4481813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86"/>
          <p:cNvSpPr txBox="1"/>
          <p:nvPr/>
        </p:nvSpPr>
        <p:spPr>
          <a:xfrm>
            <a:off x="324000" y="4481813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5" name="Google Shape;1485;p86"/>
          <p:cNvGrpSpPr/>
          <p:nvPr/>
        </p:nvGrpSpPr>
        <p:grpSpPr>
          <a:xfrm>
            <a:off x="8136464" y="2579197"/>
            <a:ext cx="52077" cy="452955"/>
            <a:chOff x="996050" y="213293"/>
            <a:chExt cx="93900" cy="909732"/>
          </a:xfrm>
        </p:grpSpPr>
        <p:cxnSp>
          <p:nvCxnSpPr>
            <p:cNvPr id="1486" name="Google Shape;1486;p8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87" name="Google Shape;1487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8" name="Google Shape;1488;p86"/>
          <p:cNvSpPr txBox="1"/>
          <p:nvPr>
            <p:ph idx="1" type="body"/>
          </p:nvPr>
        </p:nvSpPr>
        <p:spPr>
          <a:xfrm>
            <a:off x="324000" y="1080222"/>
            <a:ext cx="84960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282828"/>
                </a:solidFill>
              </a:rPr>
              <a:t>A </a:t>
            </a:r>
            <a:r>
              <a:rPr b="1" lang="en-GB" sz="1800">
                <a:solidFill>
                  <a:srgbClr val="282828"/>
                </a:solidFill>
              </a:rPr>
              <a:t>probability</a:t>
            </a:r>
            <a:r>
              <a:rPr lang="en-GB" sz="1800">
                <a:solidFill>
                  <a:srgbClr val="282828"/>
                </a:solidFill>
              </a:rPr>
              <a:t> of </a:t>
            </a:r>
            <a:r>
              <a:rPr lang="en-GB" sz="1800">
                <a:solidFill>
                  <a:schemeClr val="accent5"/>
                </a:solidFill>
              </a:rPr>
              <a:t>0</a:t>
            </a:r>
            <a:r>
              <a:rPr lang="en-GB" sz="1800">
                <a:solidFill>
                  <a:srgbClr val="282828"/>
                </a:solidFill>
              </a:rPr>
              <a:t> means that an event is </a:t>
            </a:r>
            <a:r>
              <a:rPr lang="en-GB" sz="1800">
                <a:solidFill>
                  <a:schemeClr val="accent5"/>
                </a:solidFill>
              </a:rPr>
              <a:t>impossible</a:t>
            </a:r>
            <a:r>
              <a:rPr lang="en-GB" sz="1800">
                <a:solidFill>
                  <a:srgbClr val="282828"/>
                </a:solidFill>
              </a:rPr>
              <a:t>. </a:t>
            </a:r>
            <a:endParaRPr sz="1800">
              <a:solidFill>
                <a:srgbClr val="282828"/>
              </a:solidFill>
            </a:endParaRPr>
          </a:p>
        </p:txBody>
      </p:sp>
      <p:grpSp>
        <p:nvGrpSpPr>
          <p:cNvPr id="1489" name="Google Shape;1489;p86"/>
          <p:cNvGrpSpPr/>
          <p:nvPr/>
        </p:nvGrpSpPr>
        <p:grpSpPr>
          <a:xfrm>
            <a:off x="984950" y="3697213"/>
            <a:ext cx="7187400" cy="317673"/>
            <a:chOff x="992233" y="3276625"/>
            <a:chExt cx="7187400" cy="658800"/>
          </a:xfrm>
        </p:grpSpPr>
        <p:cxnSp>
          <p:nvCxnSpPr>
            <p:cNvPr id="1490" name="Google Shape;1490;p86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1" name="Google Shape;1491;p86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2" name="Google Shape;1492;p86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3" name="Google Shape;1493;p86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94" name="Google Shape;1494;p86"/>
          <p:cNvSpPr txBox="1"/>
          <p:nvPr/>
        </p:nvSpPr>
        <p:spPr>
          <a:xfrm>
            <a:off x="3850025" y="4481813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5" name="Google Shape;1495;p86"/>
          <p:cNvGrpSpPr/>
          <p:nvPr/>
        </p:nvGrpSpPr>
        <p:grpSpPr>
          <a:xfrm>
            <a:off x="4562060" y="2579197"/>
            <a:ext cx="52077" cy="452955"/>
            <a:chOff x="996050" y="213293"/>
            <a:chExt cx="93900" cy="909732"/>
          </a:xfrm>
        </p:grpSpPr>
        <p:cxnSp>
          <p:nvCxnSpPr>
            <p:cNvPr id="1496" name="Google Shape;1496;p8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97" name="Google Shape;1497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98" name="Google Shape;1498;p86"/>
          <p:cNvCxnSpPr/>
          <p:nvPr/>
        </p:nvCxnSpPr>
        <p:spPr>
          <a:xfrm>
            <a:off x="4621625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9" name="Google Shape;1499;p86"/>
          <p:cNvSpPr txBox="1"/>
          <p:nvPr/>
        </p:nvSpPr>
        <p:spPr>
          <a:xfrm>
            <a:off x="2300175" y="4488836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86"/>
          <p:cNvSpPr txBox="1"/>
          <p:nvPr/>
        </p:nvSpPr>
        <p:spPr>
          <a:xfrm>
            <a:off x="6054451" y="4496101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1" name="Google Shape;1501;p86"/>
          <p:cNvCxnSpPr/>
          <p:nvPr/>
        </p:nvCxnSpPr>
        <p:spPr>
          <a:xfrm>
            <a:off x="1018454" y="4563425"/>
            <a:ext cx="3506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2" name="Google Shape;1502;p86"/>
          <p:cNvSpPr/>
          <p:nvPr/>
        </p:nvSpPr>
        <p:spPr>
          <a:xfrm>
            <a:off x="7693140" y="2769634"/>
            <a:ext cx="940200" cy="9405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86"/>
          <p:cNvSpPr txBox="1"/>
          <p:nvPr/>
        </p:nvSpPr>
        <p:spPr>
          <a:xfrm>
            <a:off x="7868137" y="3254944"/>
            <a:ext cx="67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4" name="Google Shape;1504;p86"/>
          <p:cNvGrpSpPr/>
          <p:nvPr/>
        </p:nvGrpSpPr>
        <p:grpSpPr>
          <a:xfrm>
            <a:off x="8136454" y="2908487"/>
            <a:ext cx="52077" cy="365348"/>
            <a:chOff x="996050" y="213293"/>
            <a:chExt cx="93900" cy="909732"/>
          </a:xfrm>
        </p:grpSpPr>
        <p:cxnSp>
          <p:nvCxnSpPr>
            <p:cNvPr id="1505" name="Google Shape;1505;p8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06" name="Google Shape;1506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7" name="Google Shape;1507;p86"/>
          <p:cNvSpPr/>
          <p:nvPr/>
        </p:nvSpPr>
        <p:spPr>
          <a:xfrm>
            <a:off x="509332" y="2769634"/>
            <a:ext cx="940200" cy="9405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86"/>
          <p:cNvSpPr txBox="1"/>
          <p:nvPr/>
        </p:nvSpPr>
        <p:spPr>
          <a:xfrm>
            <a:off x="645284" y="3207964"/>
            <a:ext cx="7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9" name="Google Shape;1509;p86"/>
          <p:cNvGrpSpPr/>
          <p:nvPr/>
        </p:nvGrpSpPr>
        <p:grpSpPr>
          <a:xfrm>
            <a:off x="952650" y="2908487"/>
            <a:ext cx="52077" cy="365348"/>
            <a:chOff x="996050" y="213293"/>
            <a:chExt cx="93900" cy="909732"/>
          </a:xfrm>
        </p:grpSpPr>
        <p:cxnSp>
          <p:nvCxnSpPr>
            <p:cNvPr id="1510" name="Google Shape;1510;p8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11" name="Google Shape;1511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2" name="Google Shape;1512;p86"/>
          <p:cNvSpPr/>
          <p:nvPr/>
        </p:nvSpPr>
        <p:spPr>
          <a:xfrm>
            <a:off x="4118737" y="2769634"/>
            <a:ext cx="940200" cy="9405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86"/>
          <p:cNvSpPr/>
          <p:nvPr/>
        </p:nvSpPr>
        <p:spPr>
          <a:xfrm flipH="1">
            <a:off x="4126896" y="2777818"/>
            <a:ext cx="924000" cy="9240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86"/>
          <p:cNvSpPr/>
          <p:nvPr/>
        </p:nvSpPr>
        <p:spPr>
          <a:xfrm>
            <a:off x="4126921" y="2777818"/>
            <a:ext cx="924000" cy="9240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86"/>
          <p:cNvSpPr txBox="1"/>
          <p:nvPr/>
        </p:nvSpPr>
        <p:spPr>
          <a:xfrm>
            <a:off x="4062435" y="3057020"/>
            <a:ext cx="67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86"/>
          <p:cNvSpPr txBox="1"/>
          <p:nvPr/>
        </p:nvSpPr>
        <p:spPr>
          <a:xfrm>
            <a:off x="4558551" y="3057020"/>
            <a:ext cx="7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7" name="Google Shape;1517;p86"/>
          <p:cNvGrpSpPr/>
          <p:nvPr/>
        </p:nvGrpSpPr>
        <p:grpSpPr>
          <a:xfrm>
            <a:off x="4562053" y="2908487"/>
            <a:ext cx="52077" cy="365348"/>
            <a:chOff x="996050" y="213293"/>
            <a:chExt cx="93900" cy="909732"/>
          </a:xfrm>
        </p:grpSpPr>
        <p:cxnSp>
          <p:nvCxnSpPr>
            <p:cNvPr id="1518" name="Google Shape;1518;p8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19" name="Google Shape;1519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0" name="Google Shape;1520;p86"/>
          <p:cNvSpPr txBox="1"/>
          <p:nvPr/>
        </p:nvSpPr>
        <p:spPr>
          <a:xfrm>
            <a:off x="7997338" y="3972468"/>
            <a:ext cx="2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86"/>
          <p:cNvSpPr txBox="1"/>
          <p:nvPr/>
        </p:nvSpPr>
        <p:spPr>
          <a:xfrm>
            <a:off x="815125" y="3972468"/>
            <a:ext cx="3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86"/>
          <p:cNvSpPr txBox="1"/>
          <p:nvPr>
            <p:ph idx="1" type="body"/>
          </p:nvPr>
        </p:nvSpPr>
        <p:spPr>
          <a:xfrm>
            <a:off x="324000" y="1401144"/>
            <a:ext cx="84960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282828"/>
                </a:solidFill>
              </a:rPr>
              <a:t>A </a:t>
            </a:r>
            <a:r>
              <a:rPr b="1" lang="en-GB" sz="1800">
                <a:solidFill>
                  <a:srgbClr val="282828"/>
                </a:solidFill>
              </a:rPr>
              <a:t>probability</a:t>
            </a:r>
            <a:r>
              <a:rPr lang="en-GB" sz="1800">
                <a:solidFill>
                  <a:srgbClr val="282828"/>
                </a:solidFill>
              </a:rPr>
              <a:t> of </a:t>
            </a:r>
            <a:r>
              <a:rPr lang="en-GB" sz="1800">
                <a:solidFill>
                  <a:srgbClr val="037B7D"/>
                </a:solidFill>
              </a:rPr>
              <a:t>1 whole</a:t>
            </a:r>
            <a:r>
              <a:rPr lang="en-GB" sz="1800">
                <a:solidFill>
                  <a:srgbClr val="282828"/>
                </a:solidFill>
              </a:rPr>
              <a:t> means that an event is </a:t>
            </a:r>
            <a:r>
              <a:rPr lang="en-GB" sz="1800">
                <a:solidFill>
                  <a:schemeClr val="accent5"/>
                </a:solidFill>
              </a:rPr>
              <a:t>certain</a:t>
            </a:r>
            <a:r>
              <a:rPr lang="en-GB" sz="1800">
                <a:solidFill>
                  <a:srgbClr val="282828"/>
                </a:solidFill>
              </a:rPr>
              <a:t>.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1523" name="Google Shape;1523;p86"/>
          <p:cNvSpPr txBox="1"/>
          <p:nvPr>
            <p:ph idx="1" type="body"/>
          </p:nvPr>
        </p:nvSpPr>
        <p:spPr>
          <a:xfrm>
            <a:off x="324000" y="1722067"/>
            <a:ext cx="84960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282828"/>
                </a:solidFill>
              </a:rPr>
              <a:t>A </a:t>
            </a:r>
            <a:r>
              <a:rPr b="1" lang="en-GB" sz="1800">
                <a:solidFill>
                  <a:srgbClr val="282828"/>
                </a:solidFill>
              </a:rPr>
              <a:t>probability</a:t>
            </a:r>
            <a:r>
              <a:rPr lang="en-GB" sz="1800">
                <a:solidFill>
                  <a:srgbClr val="282828"/>
                </a:solidFill>
              </a:rPr>
              <a:t> of </a:t>
            </a:r>
            <a:r>
              <a:rPr lang="en-GB" sz="1800">
                <a:solidFill>
                  <a:srgbClr val="037B7D"/>
                </a:solidFill>
              </a:rPr>
              <a:t>a half</a:t>
            </a:r>
            <a:r>
              <a:rPr lang="en-GB" sz="1800">
                <a:solidFill>
                  <a:srgbClr val="282828"/>
                </a:solidFill>
              </a:rPr>
              <a:t> means that an event has an </a:t>
            </a:r>
            <a:r>
              <a:rPr lang="en-GB" sz="1800">
                <a:solidFill>
                  <a:schemeClr val="accent5"/>
                </a:solidFill>
              </a:rPr>
              <a:t>even chance</a:t>
            </a:r>
            <a:r>
              <a:rPr lang="en-GB" sz="1800">
                <a:solidFill>
                  <a:srgbClr val="282828"/>
                </a:solidFill>
              </a:rPr>
              <a:t>.</a:t>
            </a:r>
            <a:endParaRPr sz="1800">
              <a:solidFill>
                <a:srgbClr val="282828"/>
              </a:solidFill>
            </a:endParaRPr>
          </a:p>
        </p:txBody>
      </p:sp>
      <p:grpSp>
        <p:nvGrpSpPr>
          <p:cNvPr id="1524" name="Google Shape;1524;p86"/>
          <p:cNvGrpSpPr/>
          <p:nvPr/>
        </p:nvGrpSpPr>
        <p:grpSpPr>
          <a:xfrm>
            <a:off x="2838066" y="2579197"/>
            <a:ext cx="52077" cy="452955"/>
            <a:chOff x="996050" y="213293"/>
            <a:chExt cx="93900" cy="909732"/>
          </a:xfrm>
        </p:grpSpPr>
        <p:cxnSp>
          <p:nvCxnSpPr>
            <p:cNvPr id="1525" name="Google Shape;1525;p8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26" name="Google Shape;1526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7" name="Google Shape;1527;p86"/>
          <p:cNvSpPr/>
          <p:nvPr/>
        </p:nvSpPr>
        <p:spPr>
          <a:xfrm>
            <a:off x="2394742" y="2769634"/>
            <a:ext cx="940200" cy="9405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86"/>
          <p:cNvSpPr/>
          <p:nvPr/>
        </p:nvSpPr>
        <p:spPr>
          <a:xfrm flipH="1">
            <a:off x="2402901" y="2777818"/>
            <a:ext cx="924000" cy="924000"/>
          </a:xfrm>
          <a:prstGeom prst="pie">
            <a:avLst>
              <a:gd fmla="val 5387953" name="adj1"/>
              <a:gd fmla="val 21555831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86"/>
          <p:cNvSpPr/>
          <p:nvPr/>
        </p:nvSpPr>
        <p:spPr>
          <a:xfrm>
            <a:off x="2402927" y="2777818"/>
            <a:ext cx="924000" cy="924000"/>
          </a:xfrm>
          <a:prstGeom prst="pie">
            <a:avLst>
              <a:gd fmla="val 5387953" name="adj1"/>
              <a:gd fmla="val 1081614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86"/>
          <p:cNvSpPr txBox="1"/>
          <p:nvPr/>
        </p:nvSpPr>
        <p:spPr>
          <a:xfrm>
            <a:off x="2342101" y="3144074"/>
            <a:ext cx="67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86"/>
          <p:cNvSpPr txBox="1"/>
          <p:nvPr/>
        </p:nvSpPr>
        <p:spPr>
          <a:xfrm>
            <a:off x="2815448" y="3035905"/>
            <a:ext cx="7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2" name="Google Shape;1532;p86"/>
          <p:cNvGrpSpPr/>
          <p:nvPr/>
        </p:nvGrpSpPr>
        <p:grpSpPr>
          <a:xfrm>
            <a:off x="2838059" y="2908487"/>
            <a:ext cx="52077" cy="365348"/>
            <a:chOff x="996050" y="213293"/>
            <a:chExt cx="93900" cy="909732"/>
          </a:xfrm>
        </p:grpSpPr>
        <p:cxnSp>
          <p:nvCxnSpPr>
            <p:cNvPr id="1533" name="Google Shape;1533;p8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34" name="Google Shape;1534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5" name="Google Shape;1535;p86"/>
          <p:cNvGrpSpPr/>
          <p:nvPr/>
        </p:nvGrpSpPr>
        <p:grpSpPr>
          <a:xfrm>
            <a:off x="6419466" y="2579197"/>
            <a:ext cx="52077" cy="452955"/>
            <a:chOff x="996050" y="213293"/>
            <a:chExt cx="93900" cy="909732"/>
          </a:xfrm>
        </p:grpSpPr>
        <p:cxnSp>
          <p:nvCxnSpPr>
            <p:cNvPr id="1536" name="Google Shape;1536;p8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37" name="Google Shape;1537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8" name="Google Shape;1538;p86"/>
          <p:cNvSpPr/>
          <p:nvPr/>
        </p:nvSpPr>
        <p:spPr>
          <a:xfrm>
            <a:off x="5976142" y="2769634"/>
            <a:ext cx="940200" cy="9405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86"/>
          <p:cNvSpPr/>
          <p:nvPr/>
        </p:nvSpPr>
        <p:spPr>
          <a:xfrm flipH="1">
            <a:off x="5984301" y="2777818"/>
            <a:ext cx="924000" cy="924000"/>
          </a:xfrm>
          <a:prstGeom prst="pie">
            <a:avLst>
              <a:gd fmla="val 5387953" name="adj1"/>
              <a:gd fmla="val 10783307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86"/>
          <p:cNvSpPr/>
          <p:nvPr/>
        </p:nvSpPr>
        <p:spPr>
          <a:xfrm>
            <a:off x="5984327" y="2777818"/>
            <a:ext cx="924000" cy="924000"/>
          </a:xfrm>
          <a:prstGeom prst="pie">
            <a:avLst>
              <a:gd fmla="val 5387953" name="adj1"/>
              <a:gd fmla="val 16448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86"/>
          <p:cNvSpPr txBox="1"/>
          <p:nvPr/>
        </p:nvSpPr>
        <p:spPr>
          <a:xfrm>
            <a:off x="5927055" y="2991674"/>
            <a:ext cx="67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86"/>
          <p:cNvSpPr txBox="1"/>
          <p:nvPr/>
        </p:nvSpPr>
        <p:spPr>
          <a:xfrm>
            <a:off x="6374436" y="3165893"/>
            <a:ext cx="7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3" name="Google Shape;1543;p86"/>
          <p:cNvGrpSpPr/>
          <p:nvPr/>
        </p:nvGrpSpPr>
        <p:grpSpPr>
          <a:xfrm>
            <a:off x="6419459" y="2908487"/>
            <a:ext cx="52077" cy="365348"/>
            <a:chOff x="996050" y="213293"/>
            <a:chExt cx="93900" cy="909732"/>
          </a:xfrm>
        </p:grpSpPr>
        <p:cxnSp>
          <p:nvCxnSpPr>
            <p:cNvPr id="1544" name="Google Shape;1544;p8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45" name="Google Shape;1545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6" name="Google Shape;1546;p86"/>
          <p:cNvSpPr txBox="1"/>
          <p:nvPr>
            <p:ph idx="1" type="body"/>
          </p:nvPr>
        </p:nvSpPr>
        <p:spPr>
          <a:xfrm>
            <a:off x="324000" y="2042989"/>
            <a:ext cx="84960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>
                <a:solidFill>
                  <a:srgbClr val="282828"/>
                </a:solidFill>
              </a:rPr>
              <a:t>Probabilities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less than a half</a:t>
            </a:r>
            <a:r>
              <a:rPr lang="en-GB" sz="1800">
                <a:solidFill>
                  <a:srgbClr val="282828"/>
                </a:solidFill>
              </a:rPr>
              <a:t> indicate an event is </a:t>
            </a:r>
            <a:r>
              <a:rPr lang="en-GB" sz="1800">
                <a:solidFill>
                  <a:schemeClr val="accent5"/>
                </a:solidFill>
              </a:rPr>
              <a:t>unlikely</a:t>
            </a:r>
            <a:r>
              <a:rPr lang="en-GB" sz="1800">
                <a:solidFill>
                  <a:srgbClr val="282828"/>
                </a:solidFill>
              </a:rPr>
              <a:t> to happen.</a:t>
            </a:r>
            <a:endParaRPr sz="1800">
              <a:solidFill>
                <a:srgbClr val="282828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 \frac{1}{4}\ \ \ \frac{3}{4}&quot;&gt;&lt;mfrac&gt;&lt;mn&gt;1&lt;/mn&gt;&lt;mn&gt;2&lt;/mn&gt;&lt;/mfrac&gt;&lt;mtext&gt;&lt;/mtext&gt;&lt;mtext&gt;&lt;/mtext&gt;&lt;mfrac&gt;&lt;mn&gt;1&lt;/mn&gt;&lt;mn&gt;4&lt;/mn&gt;&lt;/mfrac&gt;&lt;mtext&gt;&lt;/mtext&gt;&lt;mtext&gt;&lt;/mtext&gt;&lt;mtext&gt;&lt;/mtext&gt;&lt;mfrac&gt;&lt;mn&gt;3&lt;/mn&gt;&lt;mn&gt;4&lt;/mn&gt;&lt;/mfrac&gt;&lt;/math&gt;" id="1547" name="Google Shape;1547;p86" title="one half one fourth three fourths"/>
          <p:cNvPicPr preferRelativeResize="0"/>
          <p:nvPr/>
        </p:nvPicPr>
        <p:blipFill rotWithShape="1">
          <a:blip r:embed="rId3">
            <a:alphaModFix/>
          </a:blip>
          <a:srcRect b="0" l="75509" r="0" t="0"/>
          <a:stretch/>
        </p:blipFill>
        <p:spPr>
          <a:xfrm>
            <a:off x="6325543" y="3976228"/>
            <a:ext cx="215887" cy="503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frac{1}{4}\ \ \ \frac{3}{4}&quot;&gt;&lt;mfrac&gt;&lt;mn&gt;1&lt;/mn&gt;&lt;mn&gt;2&lt;/mn&gt;&lt;/mfrac&gt;&lt;mtext&gt;&lt;/mtext&gt;&lt;mtext&gt;&lt;/mtext&gt;&lt;mfrac&gt;&lt;mn&gt;1&lt;/mn&gt;&lt;mn&gt;4&lt;/mn&gt;&lt;/mfrac&gt;&lt;mtext&gt;&lt;/mtext&gt;&lt;mtext&gt;&lt;/mtext&gt;&lt;mtext&gt;&lt;/mtext&gt;&lt;mfrac&gt;&lt;mn&gt;3&lt;/mn&gt;&lt;mn&gt;4&lt;/mn&gt;&lt;/mfrac&gt;&lt;/math&gt;" id="1548" name="Google Shape;1548;p86" title="one half one fourth three fourths"/>
          <p:cNvPicPr preferRelativeResize="0"/>
          <p:nvPr/>
        </p:nvPicPr>
        <p:blipFill rotWithShape="1">
          <a:blip r:embed="rId3">
            <a:alphaModFix/>
          </a:blip>
          <a:srcRect b="0" l="28926" r="41763" t="0"/>
          <a:stretch/>
        </p:blipFill>
        <p:spPr>
          <a:xfrm>
            <a:off x="2674454" y="3997382"/>
            <a:ext cx="258366" cy="503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 \frac{1}{4}\ \ \ \frac{3}{4}&quot;&gt;&lt;mfrac&gt;&lt;mn&gt;1&lt;/mn&gt;&lt;mn&gt;2&lt;/mn&gt;&lt;/mfrac&gt;&lt;mtext&gt;&lt;/mtext&gt;&lt;mtext&gt;&lt;/mtext&gt;&lt;mfrac&gt;&lt;mn&gt;1&lt;/mn&gt;&lt;mn&gt;4&lt;/mn&gt;&lt;/mfrac&gt;&lt;mtext&gt;&lt;/mtext&gt;&lt;mtext&gt;&lt;/mtext&gt;&lt;mtext&gt;&lt;/mtext&gt;&lt;mfrac&gt;&lt;mn&gt;3&lt;/mn&gt;&lt;mn&gt;4&lt;/mn&gt;&lt;/mfrac&gt;&lt;/math&gt;" id="1549" name="Google Shape;1549;p86" title="one half one fourth three fourths"/>
          <p:cNvPicPr preferRelativeResize="0"/>
          <p:nvPr/>
        </p:nvPicPr>
        <p:blipFill rotWithShape="1">
          <a:blip r:embed="rId3">
            <a:alphaModFix/>
          </a:blip>
          <a:srcRect b="0" l="0" r="75509" t="0"/>
          <a:stretch/>
        </p:blipFill>
        <p:spPr>
          <a:xfrm>
            <a:off x="4495468" y="4038826"/>
            <a:ext cx="215887" cy="5032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86"/>
          <p:cNvSpPr txBox="1"/>
          <p:nvPr>
            <p:ph idx="1" type="body"/>
          </p:nvPr>
        </p:nvSpPr>
        <p:spPr>
          <a:xfrm>
            <a:off x="324000" y="2363911"/>
            <a:ext cx="84960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>
                <a:solidFill>
                  <a:srgbClr val="282828"/>
                </a:solidFill>
              </a:rPr>
              <a:t>Probabilities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greater than a half</a:t>
            </a:r>
            <a:r>
              <a:rPr lang="en-GB" sz="1800">
                <a:solidFill>
                  <a:srgbClr val="282828"/>
                </a:solidFill>
              </a:rPr>
              <a:t> indicate an event is </a:t>
            </a:r>
            <a:r>
              <a:rPr lang="en-GB" sz="1800">
                <a:solidFill>
                  <a:schemeClr val="accent5"/>
                </a:solidFill>
              </a:rPr>
              <a:t>likely</a:t>
            </a:r>
            <a:r>
              <a:rPr lang="en-GB" sz="1800">
                <a:solidFill>
                  <a:srgbClr val="282828"/>
                </a:solidFill>
              </a:rPr>
              <a:t> to happen.</a:t>
            </a:r>
            <a:endParaRPr sz="1800">
              <a:solidFill>
                <a:srgbClr val="28282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87"/>
          <p:cNvSpPr txBox="1"/>
          <p:nvPr>
            <p:ph idx="1" type="body"/>
          </p:nvPr>
        </p:nvSpPr>
        <p:spPr>
          <a:xfrm>
            <a:off x="324000" y="759300"/>
            <a:ext cx="7572900" cy="10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Andeep, Izzy and Laura are playing a board game that involves rolling a </a:t>
            </a:r>
            <a:r>
              <a:rPr lang="en-GB" sz="2000">
                <a:solidFill>
                  <a:schemeClr val="accent5"/>
                </a:solidFill>
              </a:rPr>
              <a:t>regular six-sided dice</a:t>
            </a:r>
            <a:r>
              <a:rPr lang="en-GB" sz="2000"/>
              <a:t>. They have each noted which numbers would help them on their next dice roll.</a:t>
            </a:r>
            <a:endParaRPr sz="2000"/>
          </a:p>
        </p:txBody>
      </p:sp>
      <p:sp>
        <p:nvSpPr>
          <p:cNvPr id="1556" name="Google Shape;155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pic>
        <p:nvPicPr>
          <p:cNvPr id="1557" name="Google Shape;155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237" y="3434868"/>
            <a:ext cx="542150" cy="71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" name="Google Shape;155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412784" y="3423443"/>
            <a:ext cx="747868" cy="723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9" name="Google Shape;1559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57825" y="3457615"/>
            <a:ext cx="529129" cy="682303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87"/>
          <p:cNvSpPr txBox="1"/>
          <p:nvPr/>
        </p:nvSpPr>
        <p:spPr>
          <a:xfrm>
            <a:off x="405422" y="4139926"/>
            <a:ext cx="901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87"/>
          <p:cNvSpPr txBox="1"/>
          <p:nvPr/>
        </p:nvSpPr>
        <p:spPr>
          <a:xfrm>
            <a:off x="3549898" y="4147191"/>
            <a:ext cx="594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87"/>
          <p:cNvSpPr txBox="1"/>
          <p:nvPr/>
        </p:nvSpPr>
        <p:spPr>
          <a:xfrm>
            <a:off x="6056235" y="4144931"/>
            <a:ext cx="594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3" name="Google Shape;1563;p87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725713" y="1903375"/>
            <a:ext cx="2542351" cy="17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87"/>
          <p:cNvSpPr txBox="1"/>
          <p:nvPr>
            <p:ph idx="1" type="body"/>
          </p:nvPr>
        </p:nvSpPr>
        <p:spPr>
          <a:xfrm>
            <a:off x="1015865" y="1997035"/>
            <a:ext cx="2208600" cy="11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</a:t>
            </a:r>
            <a:r>
              <a:rPr b="1" lang="en-GB" sz="1700"/>
              <a:t>probability</a:t>
            </a:r>
            <a:r>
              <a:rPr lang="en-GB" sz="1700"/>
              <a:t> that I’ll roll a number I want on my next turn is    .</a:t>
            </a:r>
            <a:endParaRPr sz="1700"/>
          </a:p>
        </p:txBody>
      </p:sp>
      <p:pic>
        <p:nvPicPr>
          <p:cNvPr descr="&lt;math xmlns=&quot;http://www.w3.org/1998/Math/MathML&quot; display=&quot;block&quot; data-is-equatio=&quot;1&quot; data-latex=&quot;\frac{3}{6}\ \ \frac{2}{6}\ \ \frac{5}{6}&quot;&gt;&lt;mfrac&gt;&lt;mn&gt;3&lt;/mn&gt;&lt;mn&gt;6&lt;/mn&gt;&lt;/mfrac&gt;&lt;mtext&gt;&lt;/mtext&gt;&lt;mtext&gt;&lt;/mtext&gt;&lt;mfrac&gt;&lt;mn&gt;2&lt;/mn&gt;&lt;mn&gt;6&lt;/mn&gt;&lt;/mfrac&gt;&lt;mtext&gt;&lt;/mtext&gt;&lt;mtext&gt;&lt;/mtext&gt;&lt;mfrac&gt;&lt;mn&gt;5&lt;/mn&gt;&lt;mn&gt;6&lt;/mn&gt;&lt;/mfrac&gt;&lt;/math&gt;" id="1565" name="Google Shape;1565;p87" title="three sixths two sixths five sixths"/>
          <p:cNvPicPr preferRelativeResize="0"/>
          <p:nvPr/>
        </p:nvPicPr>
        <p:blipFill rotWithShape="1">
          <a:blip r:embed="rId7">
            <a:alphaModFix/>
          </a:blip>
          <a:srcRect b="0" l="0" r="74358" t="0"/>
          <a:stretch/>
        </p:blipFill>
        <p:spPr>
          <a:xfrm>
            <a:off x="1750168" y="2838425"/>
            <a:ext cx="174850" cy="42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87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3545113" y="1903375"/>
            <a:ext cx="2542351" cy="17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87"/>
          <p:cNvSpPr txBox="1"/>
          <p:nvPr>
            <p:ph idx="1" type="body"/>
          </p:nvPr>
        </p:nvSpPr>
        <p:spPr>
          <a:xfrm>
            <a:off x="3835265" y="1997035"/>
            <a:ext cx="2208600" cy="11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</a:t>
            </a:r>
            <a:r>
              <a:rPr b="1" lang="en-GB" sz="1700"/>
              <a:t>probability</a:t>
            </a:r>
            <a:r>
              <a:rPr lang="en-GB" sz="1700"/>
              <a:t> that I’ll roll a number I want on my next turn is    .</a:t>
            </a:r>
            <a:endParaRPr sz="1700"/>
          </a:p>
        </p:txBody>
      </p:sp>
      <p:pic>
        <p:nvPicPr>
          <p:cNvPr id="1568" name="Google Shape;1568;p87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288313" y="1903375"/>
            <a:ext cx="2542351" cy="17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87"/>
          <p:cNvSpPr txBox="1"/>
          <p:nvPr>
            <p:ph idx="1" type="body"/>
          </p:nvPr>
        </p:nvSpPr>
        <p:spPr>
          <a:xfrm>
            <a:off x="6578465" y="1997035"/>
            <a:ext cx="2208600" cy="11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</a:t>
            </a:r>
            <a:r>
              <a:rPr b="1" lang="en-GB" sz="1700"/>
              <a:t>probability</a:t>
            </a:r>
            <a:r>
              <a:rPr lang="en-GB" sz="1700"/>
              <a:t> that I’ll roll a number I want on my next turn is    .</a:t>
            </a:r>
            <a:endParaRPr sz="1700"/>
          </a:p>
        </p:txBody>
      </p:sp>
      <p:pic>
        <p:nvPicPr>
          <p:cNvPr descr="&lt;math xmlns=&quot;http://www.w3.org/1998/Math/MathML&quot; display=&quot;block&quot; data-is-equatio=&quot;1&quot; data-latex=&quot;\frac{3}{6}\ \ \frac{1}{6}\ \ \frac{4}{6}&quot;&gt;&lt;mfrac&gt;&lt;mn&gt;3&lt;/mn&gt;&lt;mn&gt;6&lt;/mn&gt;&lt;/mfrac&gt;&lt;mtext&gt;&lt;/mtext&gt;&lt;mtext&gt;&lt;/mtext&gt;&lt;mfrac&gt;&lt;mn&gt;1&lt;/mn&gt;&lt;mn&gt;6&lt;/mn&gt;&lt;/mfrac&gt;&lt;mtext&gt;&lt;/mtext&gt;&lt;mtext&gt;&lt;/mtext&gt;&lt;mfrac&gt;&lt;mn&gt;4&lt;/mn&gt;&lt;mn&gt;6&lt;/mn&gt;&lt;/mfrac&gt;&lt;/math&gt;" id="1570" name="Google Shape;1570;p87" title="three sixths one sixth four sixths"/>
          <p:cNvPicPr preferRelativeResize="0"/>
          <p:nvPr/>
        </p:nvPicPr>
        <p:blipFill rotWithShape="1">
          <a:blip r:embed="rId8">
            <a:alphaModFix/>
          </a:blip>
          <a:srcRect b="0" l="29263" r="33272" t="0"/>
          <a:stretch/>
        </p:blipFill>
        <p:spPr>
          <a:xfrm>
            <a:off x="4504671" y="2838225"/>
            <a:ext cx="254250" cy="42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\ \ \frac{1}{6}\ \ \frac{4}{6}&quot;&gt;&lt;mfrac&gt;&lt;mn&gt;3&lt;/mn&gt;&lt;mn&gt;6&lt;/mn&gt;&lt;/mfrac&gt;&lt;mtext&gt;&lt;/mtext&gt;&lt;mtext&gt;&lt;/mtext&gt;&lt;mfrac&gt;&lt;mn&gt;1&lt;/mn&gt;&lt;mn&gt;6&lt;/mn&gt;&lt;/mfrac&gt;&lt;mtext&gt;&lt;/mtext&gt;&lt;mtext&gt;&lt;/mtext&gt;&lt;mfrac&gt;&lt;mn&gt;4&lt;/mn&gt;&lt;mn&gt;6&lt;/mn&gt;&lt;/mfrac&gt;&lt;/math&gt;" id="1571" name="Google Shape;1571;p87" title="three sixths one sixth four sixths"/>
          <p:cNvPicPr preferRelativeResize="0"/>
          <p:nvPr/>
        </p:nvPicPr>
        <p:blipFill rotWithShape="1">
          <a:blip r:embed="rId8">
            <a:alphaModFix/>
          </a:blip>
          <a:srcRect b="0" l="68960" r="-6425" t="0"/>
          <a:stretch/>
        </p:blipFill>
        <p:spPr>
          <a:xfrm>
            <a:off x="7204946" y="2838225"/>
            <a:ext cx="254250" cy="4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87"/>
          <p:cNvSpPr txBox="1"/>
          <p:nvPr>
            <p:ph idx="1" type="body"/>
          </p:nvPr>
        </p:nvSpPr>
        <p:spPr>
          <a:xfrm>
            <a:off x="313650" y="4499875"/>
            <a:ext cx="73290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Who is</a:t>
            </a:r>
            <a:r>
              <a:rPr lang="en-GB" sz="2000">
                <a:solidFill>
                  <a:schemeClr val="accent5"/>
                </a:solidFill>
              </a:rPr>
              <a:t> the most likely</a:t>
            </a:r>
            <a:r>
              <a:rPr lang="en-GB" sz="2000"/>
              <a:t> to roll a number they want next turn?</a:t>
            </a:r>
            <a:endParaRPr sz="2000"/>
          </a:p>
        </p:txBody>
      </p:sp>
      <p:sp>
        <p:nvSpPr>
          <p:cNvPr id="1573" name="Google Shape;1573;p87"/>
          <p:cNvSpPr txBox="1"/>
          <p:nvPr>
            <p:ph idx="1" type="body"/>
          </p:nvPr>
        </p:nvSpPr>
        <p:spPr>
          <a:xfrm>
            <a:off x="7744300" y="4479093"/>
            <a:ext cx="9804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Laura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74" name="Google Shape;1574;p8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49300" y="765900"/>
            <a:ext cx="781375" cy="835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88"/>
          <p:cNvSpPr txBox="1"/>
          <p:nvPr>
            <p:ph idx="1" type="body"/>
          </p:nvPr>
        </p:nvSpPr>
        <p:spPr>
          <a:xfrm>
            <a:off x="324000" y="759300"/>
            <a:ext cx="7572900" cy="10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Andeep, Izzy and Laura are playing a board game that involves rolling a </a:t>
            </a:r>
            <a:r>
              <a:rPr lang="en-GB" sz="2000">
                <a:solidFill>
                  <a:schemeClr val="accent5"/>
                </a:solidFill>
              </a:rPr>
              <a:t>regular six-sided dice</a:t>
            </a:r>
            <a:r>
              <a:rPr lang="en-GB" sz="2000"/>
              <a:t>. They have each noted which numbers would help them on their next dice roll.</a:t>
            </a:r>
            <a:endParaRPr sz="2000"/>
          </a:p>
        </p:txBody>
      </p:sp>
      <p:sp>
        <p:nvSpPr>
          <p:cNvPr id="1580" name="Google Shape;158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pic>
        <p:nvPicPr>
          <p:cNvPr id="1581" name="Google Shape;158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237" y="3434868"/>
            <a:ext cx="542150" cy="71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412784" y="3423443"/>
            <a:ext cx="747868" cy="723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3" name="Google Shape;1583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57825" y="3457615"/>
            <a:ext cx="529129" cy="682303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88"/>
          <p:cNvSpPr txBox="1"/>
          <p:nvPr/>
        </p:nvSpPr>
        <p:spPr>
          <a:xfrm>
            <a:off x="405422" y="4139926"/>
            <a:ext cx="901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88"/>
          <p:cNvSpPr txBox="1"/>
          <p:nvPr/>
        </p:nvSpPr>
        <p:spPr>
          <a:xfrm>
            <a:off x="3549898" y="4147191"/>
            <a:ext cx="594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88"/>
          <p:cNvSpPr txBox="1"/>
          <p:nvPr/>
        </p:nvSpPr>
        <p:spPr>
          <a:xfrm>
            <a:off x="6056235" y="4144931"/>
            <a:ext cx="594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7" name="Google Shape;1587;p88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725713" y="1903375"/>
            <a:ext cx="2542351" cy="17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88"/>
          <p:cNvSpPr txBox="1"/>
          <p:nvPr>
            <p:ph idx="1" type="body"/>
          </p:nvPr>
        </p:nvSpPr>
        <p:spPr>
          <a:xfrm>
            <a:off x="1015865" y="1997035"/>
            <a:ext cx="2208600" cy="11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</a:t>
            </a:r>
            <a:r>
              <a:rPr b="1" lang="en-GB" sz="1700"/>
              <a:t>probability</a:t>
            </a:r>
            <a:r>
              <a:rPr lang="en-GB" sz="1700"/>
              <a:t> that I’ll roll a number I want on my next turn is    .</a:t>
            </a:r>
            <a:endParaRPr sz="1700"/>
          </a:p>
        </p:txBody>
      </p:sp>
      <p:pic>
        <p:nvPicPr>
          <p:cNvPr descr="&lt;math xmlns=&quot;http://www.w3.org/1998/Math/MathML&quot; display=&quot;block&quot; data-is-equatio=&quot;1&quot; data-latex=&quot;\frac{3}{6}\ \ \frac{2}{6}\ \ \frac{5}{6}&quot;&gt;&lt;mfrac&gt;&lt;mn&gt;3&lt;/mn&gt;&lt;mn&gt;6&lt;/mn&gt;&lt;/mfrac&gt;&lt;mtext&gt;&lt;/mtext&gt;&lt;mtext&gt;&lt;/mtext&gt;&lt;mfrac&gt;&lt;mn&gt;2&lt;/mn&gt;&lt;mn&gt;6&lt;/mn&gt;&lt;/mfrac&gt;&lt;mtext&gt;&lt;/mtext&gt;&lt;mtext&gt;&lt;/mtext&gt;&lt;mfrac&gt;&lt;mn&gt;5&lt;/mn&gt;&lt;mn&gt;6&lt;/mn&gt;&lt;/mfrac&gt;&lt;/math&gt;" id="1589" name="Google Shape;1589;p88" title="three sixths two sixths five sixths"/>
          <p:cNvPicPr preferRelativeResize="0"/>
          <p:nvPr/>
        </p:nvPicPr>
        <p:blipFill rotWithShape="1">
          <a:blip r:embed="rId7">
            <a:alphaModFix/>
          </a:blip>
          <a:srcRect b="0" l="0" r="74358" t="0"/>
          <a:stretch/>
        </p:blipFill>
        <p:spPr>
          <a:xfrm>
            <a:off x="1750168" y="2838425"/>
            <a:ext cx="174850" cy="42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0" name="Google Shape;1590;p88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3545113" y="1903375"/>
            <a:ext cx="2542351" cy="17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1" name="Google Shape;1591;p88"/>
          <p:cNvSpPr txBox="1"/>
          <p:nvPr>
            <p:ph idx="1" type="body"/>
          </p:nvPr>
        </p:nvSpPr>
        <p:spPr>
          <a:xfrm>
            <a:off x="3835265" y="1997035"/>
            <a:ext cx="2208600" cy="11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</a:t>
            </a:r>
            <a:r>
              <a:rPr b="1" lang="en-GB" sz="1700"/>
              <a:t>probability</a:t>
            </a:r>
            <a:r>
              <a:rPr lang="en-GB" sz="1700"/>
              <a:t> that I’ll roll a number I want on my next turn is    .</a:t>
            </a:r>
            <a:endParaRPr sz="1700"/>
          </a:p>
        </p:txBody>
      </p:sp>
      <p:pic>
        <p:nvPicPr>
          <p:cNvPr id="1592" name="Google Shape;1592;p88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288313" y="1903375"/>
            <a:ext cx="2542351" cy="17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p88"/>
          <p:cNvSpPr txBox="1"/>
          <p:nvPr>
            <p:ph idx="1" type="body"/>
          </p:nvPr>
        </p:nvSpPr>
        <p:spPr>
          <a:xfrm>
            <a:off x="6578465" y="1997035"/>
            <a:ext cx="2208600" cy="11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</a:t>
            </a:r>
            <a:r>
              <a:rPr b="1" lang="en-GB" sz="1700"/>
              <a:t>probability</a:t>
            </a:r>
            <a:r>
              <a:rPr lang="en-GB" sz="1700"/>
              <a:t> that </a:t>
            </a:r>
            <a:r>
              <a:rPr lang="en-GB" sz="1700"/>
              <a:t>I’ll roll a number I want on my next</a:t>
            </a:r>
            <a:r>
              <a:rPr lang="en-GB" sz="1700"/>
              <a:t> turn is    .</a:t>
            </a:r>
            <a:endParaRPr sz="1700"/>
          </a:p>
        </p:txBody>
      </p:sp>
      <p:pic>
        <p:nvPicPr>
          <p:cNvPr descr="&lt;math xmlns=&quot;http://www.w3.org/1998/Math/MathML&quot; display=&quot;block&quot; data-is-equatio=&quot;1&quot; data-latex=&quot;\frac{3}{6}\ \ \frac{1}{6}\ \ \frac{4}{6}&quot;&gt;&lt;mfrac&gt;&lt;mn&gt;3&lt;/mn&gt;&lt;mn&gt;6&lt;/mn&gt;&lt;/mfrac&gt;&lt;mtext&gt;&lt;/mtext&gt;&lt;mtext&gt;&lt;/mtext&gt;&lt;mfrac&gt;&lt;mn&gt;1&lt;/mn&gt;&lt;mn&gt;6&lt;/mn&gt;&lt;/mfrac&gt;&lt;mtext&gt;&lt;/mtext&gt;&lt;mtext&gt;&lt;/mtext&gt;&lt;mfrac&gt;&lt;mn&gt;4&lt;/mn&gt;&lt;mn&gt;6&lt;/mn&gt;&lt;/mfrac&gt;&lt;/math&gt;" id="1594" name="Google Shape;1594;p88" title="three sixths one sixth four sixths"/>
          <p:cNvPicPr preferRelativeResize="0"/>
          <p:nvPr/>
        </p:nvPicPr>
        <p:blipFill rotWithShape="1">
          <a:blip r:embed="rId8">
            <a:alphaModFix/>
          </a:blip>
          <a:srcRect b="0" l="29263" r="33272" t="0"/>
          <a:stretch/>
        </p:blipFill>
        <p:spPr>
          <a:xfrm>
            <a:off x="4504671" y="2838225"/>
            <a:ext cx="254250" cy="42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\ \ \frac{1}{6}\ \ \frac{4}{6}&quot;&gt;&lt;mfrac&gt;&lt;mn&gt;3&lt;/mn&gt;&lt;mn&gt;6&lt;/mn&gt;&lt;/mfrac&gt;&lt;mtext&gt;&lt;/mtext&gt;&lt;mtext&gt;&lt;/mtext&gt;&lt;mfrac&gt;&lt;mn&gt;1&lt;/mn&gt;&lt;mn&gt;6&lt;/mn&gt;&lt;/mfrac&gt;&lt;mtext&gt;&lt;/mtext&gt;&lt;mtext&gt;&lt;/mtext&gt;&lt;mfrac&gt;&lt;mn&gt;4&lt;/mn&gt;&lt;mn&gt;6&lt;/mn&gt;&lt;/mfrac&gt;&lt;/math&gt;" id="1595" name="Google Shape;1595;p88" title="three sixths one sixth four sixths"/>
          <p:cNvPicPr preferRelativeResize="0"/>
          <p:nvPr/>
        </p:nvPicPr>
        <p:blipFill rotWithShape="1">
          <a:blip r:embed="rId8">
            <a:alphaModFix/>
          </a:blip>
          <a:srcRect b="0" l="68960" r="-6425" t="0"/>
          <a:stretch/>
        </p:blipFill>
        <p:spPr>
          <a:xfrm>
            <a:off x="7204946" y="2838225"/>
            <a:ext cx="254250" cy="4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88"/>
          <p:cNvSpPr txBox="1"/>
          <p:nvPr>
            <p:ph idx="1" type="body"/>
          </p:nvPr>
        </p:nvSpPr>
        <p:spPr>
          <a:xfrm>
            <a:off x="313650" y="4499875"/>
            <a:ext cx="71457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Who has an </a:t>
            </a:r>
            <a:r>
              <a:rPr lang="en-GB" sz="2000">
                <a:solidFill>
                  <a:schemeClr val="accent5"/>
                </a:solidFill>
              </a:rPr>
              <a:t>even chance</a:t>
            </a:r>
            <a:r>
              <a:rPr lang="en-GB" sz="2000"/>
              <a:t> of rolling a number they want?</a:t>
            </a:r>
            <a:endParaRPr sz="2000"/>
          </a:p>
        </p:txBody>
      </p:sp>
      <p:sp>
        <p:nvSpPr>
          <p:cNvPr id="1597" name="Google Shape;1597;p88"/>
          <p:cNvSpPr txBox="1"/>
          <p:nvPr>
            <p:ph idx="1" type="body"/>
          </p:nvPr>
        </p:nvSpPr>
        <p:spPr>
          <a:xfrm>
            <a:off x="7324050" y="4499875"/>
            <a:ext cx="10959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Andeep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98" name="Google Shape;1598;p8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49300" y="765900"/>
            <a:ext cx="781375" cy="835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89"/>
          <p:cNvSpPr txBox="1"/>
          <p:nvPr>
            <p:ph idx="1" type="body"/>
          </p:nvPr>
        </p:nvSpPr>
        <p:spPr>
          <a:xfrm>
            <a:off x="324000" y="759300"/>
            <a:ext cx="7572900" cy="10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Andeep, Izzy and Laura are playing a board game that involves rolling a </a:t>
            </a:r>
            <a:r>
              <a:rPr lang="en-GB" sz="2000">
                <a:solidFill>
                  <a:schemeClr val="accent5"/>
                </a:solidFill>
              </a:rPr>
              <a:t>regular six-sided dice</a:t>
            </a:r>
            <a:r>
              <a:rPr lang="en-GB" sz="2000"/>
              <a:t>. They have each noted which numbers would help them on their next dice roll.</a:t>
            </a:r>
            <a:endParaRPr sz="2000"/>
          </a:p>
        </p:txBody>
      </p:sp>
      <p:sp>
        <p:nvSpPr>
          <p:cNvPr id="1604" name="Google Shape;160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pic>
        <p:nvPicPr>
          <p:cNvPr id="1605" name="Google Shape;160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237" y="3434868"/>
            <a:ext cx="542150" cy="71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6" name="Google Shape;1606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412784" y="3423443"/>
            <a:ext cx="747868" cy="723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7" name="Google Shape;1607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57825" y="3457615"/>
            <a:ext cx="529129" cy="682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89"/>
          <p:cNvSpPr txBox="1"/>
          <p:nvPr/>
        </p:nvSpPr>
        <p:spPr>
          <a:xfrm>
            <a:off x="405422" y="4139926"/>
            <a:ext cx="901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89"/>
          <p:cNvSpPr txBox="1"/>
          <p:nvPr/>
        </p:nvSpPr>
        <p:spPr>
          <a:xfrm>
            <a:off x="3549898" y="4147191"/>
            <a:ext cx="594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89"/>
          <p:cNvSpPr txBox="1"/>
          <p:nvPr/>
        </p:nvSpPr>
        <p:spPr>
          <a:xfrm>
            <a:off x="6056235" y="4144931"/>
            <a:ext cx="594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1" name="Google Shape;1611;p89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725713" y="1903375"/>
            <a:ext cx="2542351" cy="17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2" name="Google Shape;1612;p89"/>
          <p:cNvSpPr txBox="1"/>
          <p:nvPr>
            <p:ph idx="1" type="body"/>
          </p:nvPr>
        </p:nvSpPr>
        <p:spPr>
          <a:xfrm>
            <a:off x="1015865" y="1997035"/>
            <a:ext cx="2208600" cy="11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</a:t>
            </a:r>
            <a:r>
              <a:rPr b="1" lang="en-GB" sz="1700"/>
              <a:t>probability</a:t>
            </a:r>
            <a:r>
              <a:rPr lang="en-GB" sz="1700"/>
              <a:t> that I’ll roll a number I want on my next turn is    .</a:t>
            </a:r>
            <a:endParaRPr sz="1700"/>
          </a:p>
        </p:txBody>
      </p:sp>
      <p:pic>
        <p:nvPicPr>
          <p:cNvPr descr="&lt;math xmlns=&quot;http://www.w3.org/1998/Math/MathML&quot; display=&quot;block&quot; data-is-equatio=&quot;1&quot; data-latex=&quot;\frac{3}{6}\ \ \frac{2}{6}\ \ \frac{5}{6}&quot;&gt;&lt;mfrac&gt;&lt;mn&gt;3&lt;/mn&gt;&lt;mn&gt;6&lt;/mn&gt;&lt;/mfrac&gt;&lt;mtext&gt;&lt;/mtext&gt;&lt;mtext&gt;&lt;/mtext&gt;&lt;mfrac&gt;&lt;mn&gt;2&lt;/mn&gt;&lt;mn&gt;6&lt;/mn&gt;&lt;/mfrac&gt;&lt;mtext&gt;&lt;/mtext&gt;&lt;mtext&gt;&lt;/mtext&gt;&lt;mfrac&gt;&lt;mn&gt;5&lt;/mn&gt;&lt;mn&gt;6&lt;/mn&gt;&lt;/mfrac&gt;&lt;/math&gt;" id="1613" name="Google Shape;1613;p89" title="three sixths two sixths five sixths"/>
          <p:cNvPicPr preferRelativeResize="0"/>
          <p:nvPr/>
        </p:nvPicPr>
        <p:blipFill rotWithShape="1">
          <a:blip r:embed="rId7">
            <a:alphaModFix/>
          </a:blip>
          <a:srcRect b="0" l="0" r="74358" t="0"/>
          <a:stretch/>
        </p:blipFill>
        <p:spPr>
          <a:xfrm>
            <a:off x="1750168" y="2838425"/>
            <a:ext cx="174850" cy="42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4" name="Google Shape;1614;p89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3545113" y="1903375"/>
            <a:ext cx="2542351" cy="17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89"/>
          <p:cNvSpPr txBox="1"/>
          <p:nvPr>
            <p:ph idx="1" type="body"/>
          </p:nvPr>
        </p:nvSpPr>
        <p:spPr>
          <a:xfrm>
            <a:off x="3835265" y="1997035"/>
            <a:ext cx="2208600" cy="11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</a:t>
            </a:r>
            <a:r>
              <a:rPr b="1" lang="en-GB" sz="1700"/>
              <a:t>probability</a:t>
            </a:r>
            <a:r>
              <a:rPr lang="en-GB" sz="1700"/>
              <a:t> that I’ll roll a number I want on my next turn is    .</a:t>
            </a:r>
            <a:endParaRPr sz="1700"/>
          </a:p>
        </p:txBody>
      </p:sp>
      <p:pic>
        <p:nvPicPr>
          <p:cNvPr id="1616" name="Google Shape;1616;p89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288313" y="1903375"/>
            <a:ext cx="2542351" cy="171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89"/>
          <p:cNvSpPr txBox="1"/>
          <p:nvPr>
            <p:ph idx="1" type="body"/>
          </p:nvPr>
        </p:nvSpPr>
        <p:spPr>
          <a:xfrm>
            <a:off x="6578465" y="1997035"/>
            <a:ext cx="2208600" cy="11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The </a:t>
            </a:r>
            <a:r>
              <a:rPr b="1" lang="en-GB" sz="1700"/>
              <a:t>probability</a:t>
            </a:r>
            <a:r>
              <a:rPr lang="en-GB" sz="1700"/>
              <a:t> that </a:t>
            </a:r>
            <a:r>
              <a:rPr lang="en-GB" sz="1700"/>
              <a:t>I’ll roll a number I want on my next</a:t>
            </a:r>
            <a:r>
              <a:rPr lang="en-GB" sz="1700"/>
              <a:t> turn is    .</a:t>
            </a:r>
            <a:endParaRPr sz="1700"/>
          </a:p>
        </p:txBody>
      </p:sp>
      <p:pic>
        <p:nvPicPr>
          <p:cNvPr descr="&lt;math xmlns=&quot;http://www.w3.org/1998/Math/MathML&quot; display=&quot;block&quot; data-is-equatio=&quot;1&quot; data-latex=&quot;\frac{3}{6}\ \ \frac{1}{6}\ \ \frac{4}{6}&quot;&gt;&lt;mfrac&gt;&lt;mn&gt;3&lt;/mn&gt;&lt;mn&gt;6&lt;/mn&gt;&lt;/mfrac&gt;&lt;mtext&gt;&lt;/mtext&gt;&lt;mtext&gt;&lt;/mtext&gt;&lt;mfrac&gt;&lt;mn&gt;1&lt;/mn&gt;&lt;mn&gt;6&lt;/mn&gt;&lt;/mfrac&gt;&lt;mtext&gt;&lt;/mtext&gt;&lt;mtext&gt;&lt;/mtext&gt;&lt;mfrac&gt;&lt;mn&gt;4&lt;/mn&gt;&lt;mn&gt;6&lt;/mn&gt;&lt;/mfrac&gt;&lt;/math&gt;" id="1618" name="Google Shape;1618;p89" title="three sixths one sixth four sixths"/>
          <p:cNvPicPr preferRelativeResize="0"/>
          <p:nvPr/>
        </p:nvPicPr>
        <p:blipFill rotWithShape="1">
          <a:blip r:embed="rId8">
            <a:alphaModFix/>
          </a:blip>
          <a:srcRect b="0" l="29263" r="33272" t="0"/>
          <a:stretch/>
        </p:blipFill>
        <p:spPr>
          <a:xfrm>
            <a:off x="4504671" y="2838225"/>
            <a:ext cx="254250" cy="42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\ \ \frac{1}{6}\ \ \frac{4}{6}&quot;&gt;&lt;mfrac&gt;&lt;mn&gt;3&lt;/mn&gt;&lt;mn&gt;6&lt;/mn&gt;&lt;/mfrac&gt;&lt;mtext&gt;&lt;/mtext&gt;&lt;mtext&gt;&lt;/mtext&gt;&lt;mfrac&gt;&lt;mn&gt;1&lt;/mn&gt;&lt;mn&gt;6&lt;/mn&gt;&lt;/mfrac&gt;&lt;mtext&gt;&lt;/mtext&gt;&lt;mtext&gt;&lt;/mtext&gt;&lt;mfrac&gt;&lt;mn&gt;4&lt;/mn&gt;&lt;mn&gt;6&lt;/mn&gt;&lt;/mfrac&gt;&lt;/math&gt;" id="1619" name="Google Shape;1619;p89" title="three sixths one sixth four sixths"/>
          <p:cNvPicPr preferRelativeResize="0"/>
          <p:nvPr/>
        </p:nvPicPr>
        <p:blipFill rotWithShape="1">
          <a:blip r:embed="rId8">
            <a:alphaModFix/>
          </a:blip>
          <a:srcRect b="0" l="68960" r="-6425" t="0"/>
          <a:stretch/>
        </p:blipFill>
        <p:spPr>
          <a:xfrm>
            <a:off x="7204946" y="2838225"/>
            <a:ext cx="254250" cy="4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0" name="Google Shape;1620;p89"/>
          <p:cNvSpPr txBox="1"/>
          <p:nvPr>
            <p:ph idx="1" type="body"/>
          </p:nvPr>
        </p:nvSpPr>
        <p:spPr>
          <a:xfrm>
            <a:off x="313650" y="4499875"/>
            <a:ext cx="83388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              is </a:t>
            </a:r>
            <a:r>
              <a:rPr lang="en-GB" sz="2000">
                <a:solidFill>
                  <a:schemeClr val="accent5"/>
                </a:solidFill>
              </a:rPr>
              <a:t>three times as likely</a:t>
            </a:r>
            <a:r>
              <a:rPr lang="en-GB" sz="2000"/>
              <a:t> as          to get a number he wants.</a:t>
            </a:r>
            <a:endParaRPr sz="2000"/>
          </a:p>
        </p:txBody>
      </p:sp>
      <p:sp>
        <p:nvSpPr>
          <p:cNvPr id="1621" name="Google Shape;1621;p89"/>
          <p:cNvSpPr txBox="1"/>
          <p:nvPr>
            <p:ph idx="1" type="body"/>
          </p:nvPr>
        </p:nvSpPr>
        <p:spPr>
          <a:xfrm>
            <a:off x="383631" y="4488255"/>
            <a:ext cx="10959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Andeep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22" name="Google Shape;1622;p89"/>
          <p:cNvCxnSpPr/>
          <p:nvPr/>
        </p:nvCxnSpPr>
        <p:spPr>
          <a:xfrm>
            <a:off x="313650" y="4809519"/>
            <a:ext cx="943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3" name="Google Shape;1623;p89"/>
          <p:cNvCxnSpPr/>
          <p:nvPr/>
        </p:nvCxnSpPr>
        <p:spPr>
          <a:xfrm>
            <a:off x="4428450" y="4809519"/>
            <a:ext cx="576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4" name="Google Shape;1624;p89"/>
          <p:cNvSpPr txBox="1"/>
          <p:nvPr>
            <p:ph idx="1" type="body"/>
          </p:nvPr>
        </p:nvSpPr>
        <p:spPr>
          <a:xfrm>
            <a:off x="4498427" y="4488250"/>
            <a:ext cx="6342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Izzy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625" name="Google Shape;1625;p8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49300" y="765900"/>
            <a:ext cx="781375" cy="835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90"/>
          <p:cNvSpPr txBox="1"/>
          <p:nvPr>
            <p:ph idx="1" type="body"/>
          </p:nvPr>
        </p:nvSpPr>
        <p:spPr>
          <a:xfrm>
            <a:off x="324000" y="759300"/>
            <a:ext cx="82377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probabilities</a:t>
            </a:r>
            <a:r>
              <a:rPr lang="en-GB"/>
              <a:t> for three unrelated events are listed below.</a:t>
            </a:r>
            <a:endParaRPr/>
          </a:p>
        </p:txBody>
      </p:sp>
      <p:sp>
        <p:nvSpPr>
          <p:cNvPr id="1631" name="Google Shape;163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632" name="Google Shape;1632;p90"/>
          <p:cNvSpPr txBox="1"/>
          <p:nvPr>
            <p:ph idx="1" type="body"/>
          </p:nvPr>
        </p:nvSpPr>
        <p:spPr>
          <a:xfrm>
            <a:off x="3811275" y="14792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P(A) = </a:t>
            </a:r>
            <a:endParaRPr/>
          </a:p>
        </p:txBody>
      </p:sp>
      <p:sp>
        <p:nvSpPr>
          <p:cNvPr id="1633" name="Google Shape;1633;p90"/>
          <p:cNvSpPr txBox="1"/>
          <p:nvPr>
            <p:ph idx="1" type="body"/>
          </p:nvPr>
        </p:nvSpPr>
        <p:spPr>
          <a:xfrm>
            <a:off x="3811275" y="24317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P(B) = </a:t>
            </a:r>
            <a:endParaRPr/>
          </a:p>
        </p:txBody>
      </p:sp>
      <p:sp>
        <p:nvSpPr>
          <p:cNvPr id="1634" name="Google Shape;1634;p90"/>
          <p:cNvSpPr txBox="1"/>
          <p:nvPr>
            <p:ph idx="1" type="body"/>
          </p:nvPr>
        </p:nvSpPr>
        <p:spPr>
          <a:xfrm>
            <a:off x="3811275" y="33842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P(C) = </a:t>
            </a:r>
            <a:endParaRPr/>
          </a:p>
        </p:txBody>
      </p:sp>
      <p:sp>
        <p:nvSpPr>
          <p:cNvPr id="1635" name="Google Shape;1635;p90"/>
          <p:cNvSpPr txBox="1"/>
          <p:nvPr>
            <p:ph idx="1" type="body"/>
          </p:nvPr>
        </p:nvSpPr>
        <p:spPr>
          <a:xfrm>
            <a:off x="400200" y="4264500"/>
            <a:ext cx="82377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event is the </a:t>
            </a:r>
            <a:r>
              <a:rPr lang="en-GB">
                <a:solidFill>
                  <a:schemeClr val="accent5"/>
                </a:solidFill>
              </a:rPr>
              <a:t>least likely</a:t>
            </a:r>
            <a:r>
              <a:rPr lang="en-GB"/>
              <a:t> to happen?</a:t>
            </a:r>
            <a:endParaRPr/>
          </a:p>
        </p:txBody>
      </p:sp>
      <p:sp>
        <p:nvSpPr>
          <p:cNvPr id="1636" name="Google Shape;1636;p90"/>
          <p:cNvSpPr txBox="1"/>
          <p:nvPr>
            <p:ph idx="1" type="body"/>
          </p:nvPr>
        </p:nvSpPr>
        <p:spPr>
          <a:xfrm>
            <a:off x="6115200" y="4264500"/>
            <a:ext cx="3414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0}\ \ \ \frac{7}{10}\ \ \ \frac{10}{10}&quot;&gt;&lt;mfrac&gt;&lt;mn&gt;5&lt;/mn&gt;&lt;mn&gt;10&lt;/mn&gt;&lt;/mfrac&gt;&lt;mtext&gt;&lt;/mtext&gt;&lt;mtext&gt;&lt;/mtext&gt;&lt;mtext&gt;&lt;/mtext&gt;&lt;mfrac&gt;&lt;mn&gt;7&lt;/mn&gt;&lt;mn&gt;10&lt;/mn&gt;&lt;/mfrac&gt;&lt;mtext&gt;&lt;/mtext&gt;&lt;mtext&gt;&lt;/mtext&gt;&lt;mtext&gt;&lt;/mtext&gt;&lt;mfrac&gt;&lt;mn&gt;10&lt;/mn&gt;&lt;mn&gt;10&lt;/mn&gt;&lt;/mfrac&gt;&lt;/math&gt;" id="1637" name="Google Shape;1637;p90" title="five tenths seven tenths ten tenths"/>
          <p:cNvPicPr preferRelativeResize="0"/>
          <p:nvPr/>
        </p:nvPicPr>
        <p:blipFill rotWithShape="1">
          <a:blip r:embed="rId3">
            <a:alphaModFix/>
          </a:blip>
          <a:srcRect b="0" l="0" r="74369" t="0"/>
          <a:stretch/>
        </p:blipFill>
        <p:spPr>
          <a:xfrm>
            <a:off x="4811487" y="1368425"/>
            <a:ext cx="4046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0}\ \ \ \frac{7}{10}\ \ \ \frac{10}{10}&quot;&gt;&lt;mfrac&gt;&lt;mn&gt;5&lt;/mn&gt;&lt;mn&gt;10&lt;/mn&gt;&lt;/mfrac&gt;&lt;mtext&gt;&lt;/mtext&gt;&lt;mtext&gt;&lt;/mtext&gt;&lt;mtext&gt;&lt;/mtext&gt;&lt;mfrac&gt;&lt;mn&gt;7&lt;/mn&gt;&lt;mn&gt;10&lt;/mn&gt;&lt;/mfrac&gt;&lt;mtext&gt;&lt;/mtext&gt;&lt;mtext&gt;&lt;/mtext&gt;&lt;mtext&gt;&lt;/mtext&gt;&lt;mfrac&gt;&lt;mn&gt;10&lt;/mn&gt;&lt;mn&gt;10&lt;/mn&gt;&lt;/mfrac&gt;&lt;/math&gt;" id="1638" name="Google Shape;1638;p90" title="five tenths seven tenths ten tenths"/>
          <p:cNvPicPr preferRelativeResize="0"/>
          <p:nvPr/>
        </p:nvPicPr>
        <p:blipFill rotWithShape="1">
          <a:blip r:embed="rId3">
            <a:alphaModFix/>
          </a:blip>
          <a:srcRect b="0" l="36671" r="33880" t="0"/>
          <a:stretch/>
        </p:blipFill>
        <p:spPr>
          <a:xfrm>
            <a:off x="4784458" y="2304625"/>
            <a:ext cx="4649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0}\ \ \ \frac{7}{10}\ \ \ \frac{10}{10}&quot;&gt;&lt;mfrac&gt;&lt;mn&gt;5&lt;/mn&gt;&lt;mn&gt;10&lt;/mn&gt;&lt;/mfrac&gt;&lt;mtext&gt;&lt;/mtext&gt;&lt;mtext&gt;&lt;/mtext&gt;&lt;mtext&gt;&lt;/mtext&gt;&lt;mfrac&gt;&lt;mn&gt;7&lt;/mn&gt;&lt;mn&gt;10&lt;/mn&gt;&lt;/mfrac&gt;&lt;mtext&gt;&lt;/mtext&gt;&lt;mtext&gt;&lt;/mtext&gt;&lt;mtext&gt;&lt;/mtext&gt;&lt;mfrac&gt;&lt;mn&gt;10&lt;/mn&gt;&lt;mn&gt;10&lt;/mn&gt;&lt;/mfrac&gt;&lt;/math&gt;" id="1639" name="Google Shape;1639;p90" title="five tenths seven tenths ten tenths"/>
          <p:cNvPicPr preferRelativeResize="0"/>
          <p:nvPr/>
        </p:nvPicPr>
        <p:blipFill rotWithShape="1">
          <a:blip r:embed="rId3">
            <a:alphaModFix/>
          </a:blip>
          <a:srcRect b="0" l="74367" r="0" t="0"/>
          <a:stretch/>
        </p:blipFill>
        <p:spPr>
          <a:xfrm>
            <a:off x="4770013" y="3237100"/>
            <a:ext cx="404700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91"/>
          <p:cNvSpPr txBox="1"/>
          <p:nvPr>
            <p:ph idx="1" type="body"/>
          </p:nvPr>
        </p:nvSpPr>
        <p:spPr>
          <a:xfrm>
            <a:off x="324000" y="759300"/>
            <a:ext cx="82377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probabilities</a:t>
            </a:r>
            <a:r>
              <a:rPr lang="en-GB"/>
              <a:t> for three unrelated events are listed below.</a:t>
            </a:r>
            <a:endParaRPr/>
          </a:p>
        </p:txBody>
      </p:sp>
      <p:sp>
        <p:nvSpPr>
          <p:cNvPr id="1645" name="Google Shape;164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646" name="Google Shape;1646;p91"/>
          <p:cNvSpPr txBox="1"/>
          <p:nvPr>
            <p:ph idx="1" type="body"/>
          </p:nvPr>
        </p:nvSpPr>
        <p:spPr>
          <a:xfrm>
            <a:off x="3811275" y="14792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P(A) = </a:t>
            </a:r>
            <a:endParaRPr/>
          </a:p>
        </p:txBody>
      </p:sp>
      <p:sp>
        <p:nvSpPr>
          <p:cNvPr id="1647" name="Google Shape;1647;p91"/>
          <p:cNvSpPr txBox="1"/>
          <p:nvPr>
            <p:ph idx="1" type="body"/>
          </p:nvPr>
        </p:nvSpPr>
        <p:spPr>
          <a:xfrm>
            <a:off x="3811275" y="24317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P(B) = </a:t>
            </a:r>
            <a:endParaRPr/>
          </a:p>
        </p:txBody>
      </p:sp>
      <p:sp>
        <p:nvSpPr>
          <p:cNvPr id="1648" name="Google Shape;1648;p91"/>
          <p:cNvSpPr txBox="1"/>
          <p:nvPr>
            <p:ph idx="1" type="body"/>
          </p:nvPr>
        </p:nvSpPr>
        <p:spPr>
          <a:xfrm>
            <a:off x="3811275" y="33842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P(C) = </a:t>
            </a:r>
            <a:endParaRPr/>
          </a:p>
        </p:txBody>
      </p:sp>
      <p:sp>
        <p:nvSpPr>
          <p:cNvPr id="1649" name="Google Shape;1649;p91"/>
          <p:cNvSpPr txBox="1"/>
          <p:nvPr>
            <p:ph idx="1" type="body"/>
          </p:nvPr>
        </p:nvSpPr>
        <p:spPr>
          <a:xfrm>
            <a:off x="400200" y="4264500"/>
            <a:ext cx="82377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event is </a:t>
            </a:r>
            <a:r>
              <a:rPr lang="en-GB">
                <a:solidFill>
                  <a:schemeClr val="accent5"/>
                </a:solidFill>
              </a:rPr>
              <a:t>certain</a:t>
            </a:r>
            <a:r>
              <a:rPr lang="en-GB"/>
              <a:t> to happen?</a:t>
            </a:r>
            <a:endParaRPr/>
          </a:p>
        </p:txBody>
      </p:sp>
      <p:sp>
        <p:nvSpPr>
          <p:cNvPr id="1650" name="Google Shape;1650;p91"/>
          <p:cNvSpPr txBox="1"/>
          <p:nvPr>
            <p:ph idx="1" type="body"/>
          </p:nvPr>
        </p:nvSpPr>
        <p:spPr>
          <a:xfrm>
            <a:off x="5200800" y="4264500"/>
            <a:ext cx="3414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0}\ \ \ \frac{7}{10}\ \ \ \frac{10}{10}&quot;&gt;&lt;mfrac&gt;&lt;mn&gt;5&lt;/mn&gt;&lt;mn&gt;10&lt;/mn&gt;&lt;/mfrac&gt;&lt;mtext&gt;&lt;/mtext&gt;&lt;mtext&gt;&lt;/mtext&gt;&lt;mtext&gt;&lt;/mtext&gt;&lt;mfrac&gt;&lt;mn&gt;7&lt;/mn&gt;&lt;mn&gt;10&lt;/mn&gt;&lt;/mfrac&gt;&lt;mtext&gt;&lt;/mtext&gt;&lt;mtext&gt;&lt;/mtext&gt;&lt;mtext&gt;&lt;/mtext&gt;&lt;mfrac&gt;&lt;mn&gt;10&lt;/mn&gt;&lt;mn&gt;10&lt;/mn&gt;&lt;/mfrac&gt;&lt;/math&gt;" id="1651" name="Google Shape;1651;p91" title="five tenths seven tenths ten tenths"/>
          <p:cNvPicPr preferRelativeResize="0"/>
          <p:nvPr/>
        </p:nvPicPr>
        <p:blipFill rotWithShape="1">
          <a:blip r:embed="rId3">
            <a:alphaModFix/>
          </a:blip>
          <a:srcRect b="0" l="0" r="74369" t="0"/>
          <a:stretch/>
        </p:blipFill>
        <p:spPr>
          <a:xfrm>
            <a:off x="4811487" y="1368425"/>
            <a:ext cx="4046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0}\ \ \ \frac{7}{10}\ \ \ \frac{10}{10}&quot;&gt;&lt;mfrac&gt;&lt;mn&gt;5&lt;/mn&gt;&lt;mn&gt;10&lt;/mn&gt;&lt;/mfrac&gt;&lt;mtext&gt;&lt;/mtext&gt;&lt;mtext&gt;&lt;/mtext&gt;&lt;mtext&gt;&lt;/mtext&gt;&lt;mfrac&gt;&lt;mn&gt;7&lt;/mn&gt;&lt;mn&gt;10&lt;/mn&gt;&lt;/mfrac&gt;&lt;mtext&gt;&lt;/mtext&gt;&lt;mtext&gt;&lt;/mtext&gt;&lt;mtext&gt;&lt;/mtext&gt;&lt;mfrac&gt;&lt;mn&gt;10&lt;/mn&gt;&lt;mn&gt;10&lt;/mn&gt;&lt;/mfrac&gt;&lt;/math&gt;" id="1652" name="Google Shape;1652;p91" title="five tenths seven tenths ten tenths"/>
          <p:cNvPicPr preferRelativeResize="0"/>
          <p:nvPr/>
        </p:nvPicPr>
        <p:blipFill rotWithShape="1">
          <a:blip r:embed="rId3">
            <a:alphaModFix/>
          </a:blip>
          <a:srcRect b="0" l="36671" r="33880" t="0"/>
          <a:stretch/>
        </p:blipFill>
        <p:spPr>
          <a:xfrm>
            <a:off x="4784458" y="2304625"/>
            <a:ext cx="4649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0}\ \ \ \frac{7}{10}\ \ \ \frac{10}{10}&quot;&gt;&lt;mfrac&gt;&lt;mn&gt;5&lt;/mn&gt;&lt;mn&gt;10&lt;/mn&gt;&lt;/mfrac&gt;&lt;mtext&gt;&lt;/mtext&gt;&lt;mtext&gt;&lt;/mtext&gt;&lt;mtext&gt;&lt;/mtext&gt;&lt;mfrac&gt;&lt;mn&gt;7&lt;/mn&gt;&lt;mn&gt;10&lt;/mn&gt;&lt;/mfrac&gt;&lt;mtext&gt;&lt;/mtext&gt;&lt;mtext&gt;&lt;/mtext&gt;&lt;mtext&gt;&lt;/mtext&gt;&lt;mfrac&gt;&lt;mn&gt;10&lt;/mn&gt;&lt;mn&gt;10&lt;/mn&gt;&lt;/mfrac&gt;&lt;/math&gt;" id="1653" name="Google Shape;1653;p91" title="five tenths seven tenths ten tenths"/>
          <p:cNvPicPr preferRelativeResize="0"/>
          <p:nvPr/>
        </p:nvPicPr>
        <p:blipFill rotWithShape="1">
          <a:blip r:embed="rId3">
            <a:alphaModFix/>
          </a:blip>
          <a:srcRect b="0" l="74367" r="0" t="0"/>
          <a:stretch/>
        </p:blipFill>
        <p:spPr>
          <a:xfrm>
            <a:off x="4770013" y="3237100"/>
            <a:ext cx="404700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" name="Google Shape;165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776274" y="3439176"/>
            <a:ext cx="4439951" cy="1323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9" name="Google Shape;1659;p92"/>
          <p:cNvGrpSpPr/>
          <p:nvPr/>
        </p:nvGrpSpPr>
        <p:grpSpPr>
          <a:xfrm flipH="1">
            <a:off x="3949738" y="1935125"/>
            <a:ext cx="4323729" cy="1026903"/>
            <a:chOff x="402775" y="77554"/>
            <a:chExt cx="3996052" cy="848680"/>
          </a:xfrm>
        </p:grpSpPr>
        <p:grpSp>
          <p:nvGrpSpPr>
            <p:cNvPr id="1660" name="Google Shape;1660;p92"/>
            <p:cNvGrpSpPr/>
            <p:nvPr/>
          </p:nvGrpSpPr>
          <p:grpSpPr>
            <a:xfrm>
              <a:off x="402775" y="77554"/>
              <a:ext cx="3996052" cy="848680"/>
              <a:chOff x="402775" y="77554"/>
              <a:chExt cx="3996052" cy="848680"/>
            </a:xfrm>
          </p:grpSpPr>
          <p:pic>
            <p:nvPicPr>
              <p:cNvPr id="1661" name="Google Shape;1661;p92"/>
              <p:cNvPicPr preferRelativeResize="0"/>
              <p:nvPr/>
            </p:nvPicPr>
            <p:blipFill rotWithShape="1">
              <a:blip r:embed="rId4">
                <a:alphaModFix/>
              </a:blip>
              <a:srcRect b="30536" l="0" r="0" t="0"/>
              <a:stretch/>
            </p:blipFill>
            <p:spPr>
              <a:xfrm>
                <a:off x="402775" y="77554"/>
                <a:ext cx="3996052" cy="64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2" name="Google Shape;1662;p9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76845"/>
              <a:stretch/>
            </p:blipFill>
            <p:spPr>
              <a:xfrm>
                <a:off x="402775" y="712084"/>
                <a:ext cx="3996052" cy="214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3" name="Google Shape;1663;p92"/>
              <p:cNvSpPr/>
              <p:nvPr/>
            </p:nvSpPr>
            <p:spPr>
              <a:xfrm>
                <a:off x="476672" y="709050"/>
                <a:ext cx="468552" cy="7675"/>
              </a:xfrm>
              <a:custGeom>
                <a:rect b="b" l="l" r="r" t="t"/>
                <a:pathLst>
                  <a:path extrusionOk="0" h="307" w="2656">
                    <a:moveTo>
                      <a:pt x="0" y="307"/>
                    </a:moveTo>
                    <a:cubicBezTo>
                      <a:pt x="443" y="256"/>
                      <a:pt x="2213" y="51"/>
                      <a:pt x="2656" y="0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1664" name="Google Shape;1664;p92"/>
            <p:cNvSpPr/>
            <p:nvPr/>
          </p:nvSpPr>
          <p:spPr>
            <a:xfrm>
              <a:off x="1107425" y="709050"/>
              <a:ext cx="66400" cy="7675"/>
            </a:xfrm>
            <a:custGeom>
              <a:rect b="b" l="l" r="r" t="t"/>
              <a:pathLst>
                <a:path extrusionOk="0" h="307" w="2656">
                  <a:moveTo>
                    <a:pt x="0" y="307"/>
                  </a:moveTo>
                  <a:cubicBezTo>
                    <a:pt x="443" y="256"/>
                    <a:pt x="2213" y="51"/>
                    <a:pt x="2656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665" name="Google Shape;1665;p92"/>
          <p:cNvSpPr txBox="1"/>
          <p:nvPr>
            <p:ph idx="1" type="body"/>
          </p:nvPr>
        </p:nvSpPr>
        <p:spPr>
          <a:xfrm>
            <a:off x="324000" y="759300"/>
            <a:ext cx="84960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Alex is going to spin the spinner </a:t>
            </a:r>
            <a:r>
              <a:rPr lang="en-GB" sz="2000">
                <a:solidFill>
                  <a:schemeClr val="accent5"/>
                </a:solidFill>
              </a:rPr>
              <a:t>4</a:t>
            </a:r>
            <a:r>
              <a:rPr lang="en-GB" sz="2000">
                <a:solidFill>
                  <a:schemeClr val="accent5"/>
                </a:solidFill>
              </a:rPr>
              <a:t>0 times</a:t>
            </a:r>
            <a:r>
              <a:rPr lang="en-GB" sz="2000"/>
              <a:t> and record his results.</a:t>
            </a:r>
            <a:endParaRPr sz="2000"/>
          </a:p>
        </p:txBody>
      </p:sp>
      <p:sp>
        <p:nvSpPr>
          <p:cNvPr id="1666" name="Google Shape;166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667" name="Google Shape;1667;p92"/>
          <p:cNvSpPr txBox="1"/>
          <p:nvPr>
            <p:ph idx="1" type="body"/>
          </p:nvPr>
        </p:nvSpPr>
        <p:spPr>
          <a:xfrm>
            <a:off x="4140075" y="1997025"/>
            <a:ext cx="4323900" cy="7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 expect the spinner to land on ‘win’ approximately      times.</a:t>
            </a:r>
            <a:endParaRPr sz="2000"/>
          </a:p>
        </p:txBody>
      </p:sp>
      <p:sp>
        <p:nvSpPr>
          <p:cNvPr id="1668" name="Google Shape;1668;p92"/>
          <p:cNvSpPr txBox="1"/>
          <p:nvPr>
            <p:ph idx="1" type="body"/>
          </p:nvPr>
        </p:nvSpPr>
        <p:spPr>
          <a:xfrm>
            <a:off x="324000" y="1216500"/>
            <a:ext cx="84960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</a:t>
            </a:r>
            <a:r>
              <a:rPr lang="en-GB" sz="2000"/>
              <a:t> </a:t>
            </a:r>
            <a:r>
              <a:rPr lang="en-GB" sz="2000">
                <a:solidFill>
                  <a:schemeClr val="accent5"/>
                </a:solidFill>
              </a:rPr>
              <a:t>many times</a:t>
            </a:r>
            <a:r>
              <a:rPr lang="en-GB" sz="2000"/>
              <a:t> should he expect the spinner to land on ‘win’?</a:t>
            </a:r>
            <a:endParaRPr sz="2000"/>
          </a:p>
        </p:txBody>
      </p:sp>
      <p:pic>
        <p:nvPicPr>
          <p:cNvPr id="1669" name="Google Shape;166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8479" y="2879443"/>
            <a:ext cx="571500" cy="659085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92"/>
          <p:cNvSpPr/>
          <p:nvPr/>
        </p:nvSpPr>
        <p:spPr>
          <a:xfrm>
            <a:off x="813200" y="2402134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92"/>
          <p:cNvSpPr/>
          <p:nvPr/>
        </p:nvSpPr>
        <p:spPr>
          <a:xfrm flipH="1">
            <a:off x="827889" y="2416895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92"/>
          <p:cNvSpPr/>
          <p:nvPr/>
        </p:nvSpPr>
        <p:spPr>
          <a:xfrm>
            <a:off x="827961" y="2416895"/>
            <a:ext cx="1666500" cy="1666500"/>
          </a:xfrm>
          <a:prstGeom prst="pie">
            <a:avLst>
              <a:gd fmla="val 5387953" name="adj1"/>
              <a:gd fmla="val 10858220" name="adj2"/>
            </a:avLst>
          </a:prstGeom>
          <a:solidFill>
            <a:schemeClr val="accent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92"/>
          <p:cNvSpPr txBox="1"/>
          <p:nvPr/>
        </p:nvSpPr>
        <p:spPr>
          <a:xfrm>
            <a:off x="1012850" y="3344209"/>
            <a:ext cx="6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92"/>
          <p:cNvSpPr/>
          <p:nvPr/>
        </p:nvSpPr>
        <p:spPr>
          <a:xfrm>
            <a:off x="827961" y="2416895"/>
            <a:ext cx="1666500" cy="1666500"/>
          </a:xfrm>
          <a:prstGeom prst="pie">
            <a:avLst>
              <a:gd fmla="val 10799941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92"/>
          <p:cNvSpPr txBox="1"/>
          <p:nvPr/>
        </p:nvSpPr>
        <p:spPr>
          <a:xfrm>
            <a:off x="1039575" y="2658416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92"/>
          <p:cNvSpPr/>
          <p:nvPr/>
        </p:nvSpPr>
        <p:spPr>
          <a:xfrm flipH="1">
            <a:off x="827889" y="2416895"/>
            <a:ext cx="1666500" cy="16665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92"/>
          <p:cNvSpPr txBox="1"/>
          <p:nvPr/>
        </p:nvSpPr>
        <p:spPr>
          <a:xfrm>
            <a:off x="1770326" y="2658416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92"/>
          <p:cNvSpPr txBox="1"/>
          <p:nvPr/>
        </p:nvSpPr>
        <p:spPr>
          <a:xfrm>
            <a:off x="1770326" y="3344216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9" name="Google Shape;1679;p92"/>
          <p:cNvGrpSpPr/>
          <p:nvPr/>
        </p:nvGrpSpPr>
        <p:grpSpPr>
          <a:xfrm>
            <a:off x="1612509" y="2467647"/>
            <a:ext cx="93900" cy="816939"/>
            <a:chOff x="996050" y="213293"/>
            <a:chExt cx="93900" cy="909732"/>
          </a:xfrm>
        </p:grpSpPr>
        <p:cxnSp>
          <p:nvCxnSpPr>
            <p:cNvPr id="1680" name="Google Shape;1680;p9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81" name="Google Shape;1681;p9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82" name="Google Shape;1682;p92"/>
          <p:cNvCxnSpPr/>
          <p:nvPr/>
        </p:nvCxnSpPr>
        <p:spPr>
          <a:xfrm>
            <a:off x="6589550" y="2615350"/>
            <a:ext cx="341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92"/>
          <p:cNvSpPr txBox="1"/>
          <p:nvPr>
            <p:ph idx="1" type="body"/>
          </p:nvPr>
        </p:nvSpPr>
        <p:spPr>
          <a:xfrm>
            <a:off x="6622770" y="2351159"/>
            <a:ext cx="3414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10</a:t>
            </a:r>
            <a:endParaRPr sz="2000"/>
          </a:p>
        </p:txBody>
      </p:sp>
      <p:sp>
        <p:nvSpPr>
          <p:cNvPr id="1684" name="Google Shape;1684;p92"/>
          <p:cNvSpPr txBox="1"/>
          <p:nvPr>
            <p:ph idx="1" type="body"/>
          </p:nvPr>
        </p:nvSpPr>
        <p:spPr>
          <a:xfrm>
            <a:off x="3905400" y="3746225"/>
            <a:ext cx="4223100" cy="97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That’s because I would expect it to land on each sector an equal number of times.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But that might not necessarily happen.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93"/>
          <p:cNvSpPr txBox="1"/>
          <p:nvPr>
            <p:ph idx="1" type="body"/>
          </p:nvPr>
        </p:nvSpPr>
        <p:spPr>
          <a:xfrm>
            <a:off x="324000" y="842779"/>
            <a:ext cx="8496000" cy="8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 outcome with a </a:t>
            </a:r>
            <a:r>
              <a:rPr b="1" lang="en-GB" sz="1800"/>
              <a:t>probability</a:t>
            </a:r>
            <a:r>
              <a:rPr lang="en-GB" sz="1800"/>
              <a:t> of     could be </a:t>
            </a:r>
            <a:r>
              <a:rPr lang="en-GB" sz="1800"/>
              <a:t>expected to happen in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approximately     of the total trials performed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690" name="Google Shape;1690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691" name="Google Shape;1691;p93"/>
          <p:cNvSpPr txBox="1"/>
          <p:nvPr>
            <p:ph idx="1" type="body"/>
          </p:nvPr>
        </p:nvSpPr>
        <p:spPr>
          <a:xfrm>
            <a:off x="324000" y="2083798"/>
            <a:ext cx="8496000" cy="7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In an experiment with 40 trials, we might expect the outcome to happen approximately 10 times.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692" name="Google Shape;1692;p93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093" y="1219419"/>
            <a:ext cx="132873" cy="42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of\ \ 40\ =\ 10&quot;&gt;&lt;mfrac&gt;&lt;mn&gt;1&lt;/mn&gt;&lt;mn&gt;4&lt;/mn&gt;&lt;/mfrac&gt;&lt;mtext&gt;&lt;/mtext&gt;&lt;mi&gt;o&lt;/mi&gt;&lt;mi&gt;f&lt;/mi&gt;&lt;mtext&gt;&lt;/mtext&gt;&lt;mtext&gt;&lt;/mtext&gt;&lt;mn&gt;40&lt;/mn&gt;&lt;mtext&gt;&lt;/mtext&gt;&lt;mo&gt;=&lt;/mo&gt;&lt;mtext&gt;&lt;/mtext&gt;&lt;mn&gt;10&lt;/mn&gt;&lt;/math&gt;" id="1693" name="Google Shape;1693;p93" title="one fourth o f 40 equals 10"/>
          <p:cNvPicPr preferRelativeResize="0"/>
          <p:nvPr/>
        </p:nvPicPr>
        <p:blipFill rotWithShape="1">
          <a:blip r:embed="rId4">
            <a:alphaModFix/>
          </a:blip>
          <a:srcRect b="0" l="0" r="86344" t="0"/>
          <a:stretch/>
        </p:blipFill>
        <p:spPr>
          <a:xfrm>
            <a:off x="3802084" y="2669945"/>
            <a:ext cx="226050" cy="5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4" name="Google Shape;1694;p93"/>
          <p:cNvSpPr txBox="1"/>
          <p:nvPr>
            <p:ph idx="1" type="body"/>
          </p:nvPr>
        </p:nvSpPr>
        <p:spPr>
          <a:xfrm>
            <a:off x="4102303" y="2805548"/>
            <a:ext cx="2973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of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4}\ of\ \ 40\ =\ 10&quot;&gt;&lt;mfrac&gt;&lt;mn&gt;1&lt;/mn&gt;&lt;mn&gt;4&lt;/mn&gt;&lt;/mfrac&gt;&lt;mtext&gt;&lt;/mtext&gt;&lt;mi&gt;o&lt;/mi&gt;&lt;mi&gt;f&lt;/mi&gt;&lt;mtext&gt;&lt;/mtext&gt;&lt;mtext&gt;&lt;/mtext&gt;&lt;mn&gt;40&lt;/mn&gt;&lt;mtext&gt;&lt;/mtext&gt;&lt;mo&gt;=&lt;/mo&gt;&lt;mtext&gt;&lt;/mtext&gt;&lt;mn&gt;10&lt;/mn&gt;&lt;/math&gt;" id="1695" name="Google Shape;1695;p93" title="one fourth o f 40 equals 10"/>
          <p:cNvPicPr preferRelativeResize="0"/>
          <p:nvPr/>
        </p:nvPicPr>
        <p:blipFill rotWithShape="1">
          <a:blip r:embed="rId4">
            <a:alphaModFix/>
          </a:blip>
          <a:srcRect b="0" l="38694" r="-6" t="0"/>
          <a:stretch/>
        </p:blipFill>
        <p:spPr>
          <a:xfrm>
            <a:off x="4442571" y="2669945"/>
            <a:ext cx="1014950" cy="5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6" name="Google Shape;1696;p93"/>
          <p:cNvSpPr txBox="1"/>
          <p:nvPr>
            <p:ph idx="1" type="body"/>
          </p:nvPr>
        </p:nvSpPr>
        <p:spPr>
          <a:xfrm>
            <a:off x="324000" y="3662175"/>
            <a:ext cx="8496000" cy="6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more trials an experiment contains, the more likely it is that the proportion of outcomes would be similar to what was expected.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697" name="Google Shape;1697;p93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952" y="784032"/>
            <a:ext cx="132873" cy="42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1}{10}\ \ \ \frac{3}{5}\ \ \ \frac{1}{20}\ \ \ \ \frac{1}{4}&quot;&gt;&lt;mfrac&gt;&lt;mn&gt;1&lt;/mn&gt;&lt;mn&gt;10&lt;/mn&gt;&lt;/mfrac&gt;&lt;mtext&gt;&lt;/mtext&gt;&lt;mtext&gt;&lt;/mtext&gt;&lt;mtext&gt;&lt;/mtext&gt;&lt;mfrac&gt;&lt;mn&gt;3&lt;/mn&gt;&lt;mn&gt;5&lt;/mn&gt;&lt;/mfrac&gt;&lt;mtext&gt;&lt;/mtext&gt;&lt;mtext&gt;&lt;/mtext&gt;&lt;mtext&gt;&lt;/mtext&gt;&lt;mfrac&gt;&lt;mn&gt;1&lt;/mn&gt;&lt;mn&gt;20&lt;/mn&gt;&lt;/mfrac&gt;&lt;mtext&gt;&lt;/mtext&gt;&lt;mtext&gt;&lt;/mtext&gt;&lt;mtext&gt;&lt;/mtext&gt;&lt;mtext&gt;&lt;/mtext&gt;&lt;mfrac&gt;&lt;mn&gt;1&lt;/mn&gt;&lt;mn&gt;4&lt;/mn&gt;&lt;/mfrac&gt;&lt;/math&gt;" id="1702" name="Google Shape;1702;p94" title="one tenth three fifths 1 over 20 one fourth"/>
          <p:cNvPicPr preferRelativeResize="0"/>
          <p:nvPr/>
        </p:nvPicPr>
        <p:blipFill rotWithShape="1">
          <a:blip r:embed="rId3">
            <a:alphaModFix/>
          </a:blip>
          <a:srcRect b="0" l="0" r="76921" t="0"/>
          <a:stretch/>
        </p:blipFill>
        <p:spPr>
          <a:xfrm>
            <a:off x="3644625" y="1744975"/>
            <a:ext cx="45622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3" name="Google Shape;1703;p94"/>
          <p:cNvSpPr txBox="1"/>
          <p:nvPr>
            <p:ph idx="4294967295" type="body"/>
          </p:nvPr>
        </p:nvSpPr>
        <p:spPr>
          <a:xfrm>
            <a:off x="324000" y="759300"/>
            <a:ext cx="8496000" cy="7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spinner has four numbers on. </a:t>
            </a:r>
            <a:br>
              <a:rPr lang="en-GB" sz="2000"/>
            </a:br>
            <a:r>
              <a:rPr lang="en-GB" sz="2000"/>
              <a:t>The </a:t>
            </a:r>
            <a:r>
              <a:rPr b="1" lang="en-GB" sz="2000"/>
              <a:t>probabilities</a:t>
            </a:r>
            <a:r>
              <a:rPr lang="en-GB" sz="2000"/>
              <a:t> of the spinner landing on each number are below.</a:t>
            </a:r>
            <a:endParaRPr sz="2000"/>
          </a:p>
        </p:txBody>
      </p:sp>
      <p:sp>
        <p:nvSpPr>
          <p:cNvPr id="1704" name="Google Shape;170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705" name="Google Shape;1705;p94"/>
          <p:cNvSpPr txBox="1"/>
          <p:nvPr>
            <p:ph idx="4294967295" type="body"/>
          </p:nvPr>
        </p:nvSpPr>
        <p:spPr>
          <a:xfrm>
            <a:off x="324000" y="3502500"/>
            <a:ext cx="8237700" cy="9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During a game, the spinner is spun a total of 100 times.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Which number could be expected occur the most frequently?</a:t>
            </a:r>
            <a:endParaRPr sz="2000"/>
          </a:p>
        </p:txBody>
      </p:sp>
      <p:sp>
        <p:nvSpPr>
          <p:cNvPr id="1706" name="Google Shape;1706;p94"/>
          <p:cNvSpPr txBox="1"/>
          <p:nvPr>
            <p:ph idx="1" type="body"/>
          </p:nvPr>
        </p:nvSpPr>
        <p:spPr>
          <a:xfrm>
            <a:off x="2668275" y="18602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P(1) = </a:t>
            </a:r>
            <a:endParaRPr/>
          </a:p>
        </p:txBody>
      </p:sp>
      <p:sp>
        <p:nvSpPr>
          <p:cNvPr id="1707" name="Google Shape;1707;p94"/>
          <p:cNvSpPr txBox="1"/>
          <p:nvPr>
            <p:ph idx="1" type="body"/>
          </p:nvPr>
        </p:nvSpPr>
        <p:spPr>
          <a:xfrm>
            <a:off x="2668275" y="28127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P(3) = </a:t>
            </a:r>
            <a:endParaRPr/>
          </a:p>
        </p:txBody>
      </p:sp>
      <p:sp>
        <p:nvSpPr>
          <p:cNvPr id="1708" name="Google Shape;1708;p94"/>
          <p:cNvSpPr txBox="1"/>
          <p:nvPr>
            <p:ph idx="1" type="body"/>
          </p:nvPr>
        </p:nvSpPr>
        <p:spPr>
          <a:xfrm>
            <a:off x="5030475" y="18602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P(2) = </a:t>
            </a:r>
            <a:endParaRPr/>
          </a:p>
        </p:txBody>
      </p:sp>
      <p:sp>
        <p:nvSpPr>
          <p:cNvPr id="1709" name="Google Shape;1709;p94"/>
          <p:cNvSpPr txBox="1"/>
          <p:nvPr>
            <p:ph idx="1" type="body"/>
          </p:nvPr>
        </p:nvSpPr>
        <p:spPr>
          <a:xfrm>
            <a:off x="5030475" y="28127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P(4) =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\ \ \ \frac{3}{5}\ \ \ \frac{1}{20}\ \ \ \ \frac{1}{4}&quot;&gt;&lt;mfrac&gt;&lt;mn&gt;1&lt;/mn&gt;&lt;mn&gt;10&lt;/mn&gt;&lt;/mfrac&gt;&lt;mtext&gt;&lt;/mtext&gt;&lt;mtext&gt;&lt;/mtext&gt;&lt;mtext&gt;&lt;/mtext&gt;&lt;mfrac&gt;&lt;mn&gt;3&lt;/mn&gt;&lt;mn&gt;5&lt;/mn&gt;&lt;/mfrac&gt;&lt;mtext&gt;&lt;/mtext&gt;&lt;mtext&gt;&lt;/mtext&gt;&lt;mtext&gt;&lt;/mtext&gt;&lt;mfrac&gt;&lt;mn&gt;1&lt;/mn&gt;&lt;mn&gt;20&lt;/mn&gt;&lt;/mfrac&gt;&lt;mtext&gt;&lt;/mtext&gt;&lt;mtext&gt;&lt;/mtext&gt;&lt;mtext&gt;&lt;/mtext&gt;&lt;mtext&gt;&lt;/mtext&gt;&lt;mfrac&gt;&lt;mn&gt;1&lt;/mn&gt;&lt;mn&gt;4&lt;/mn&gt;&lt;/mfrac&gt;&lt;/math&gt;" id="1710" name="Google Shape;1710;p94" title="one tenth three fifths 1 over 20 one fourth"/>
          <p:cNvPicPr preferRelativeResize="0"/>
          <p:nvPr/>
        </p:nvPicPr>
        <p:blipFill rotWithShape="1">
          <a:blip r:embed="rId3">
            <a:alphaModFix/>
          </a:blip>
          <a:srcRect b="0" l="26788" r="50132" t="0"/>
          <a:stretch/>
        </p:blipFill>
        <p:spPr>
          <a:xfrm>
            <a:off x="5839841" y="1744975"/>
            <a:ext cx="45622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frac{3}{5}\ \ \ \frac{1}{20}\ \ \ \ \frac{1}{4}&quot;&gt;&lt;mfrac&gt;&lt;mn&gt;1&lt;/mn&gt;&lt;mn&gt;10&lt;/mn&gt;&lt;/mfrac&gt;&lt;mtext&gt;&lt;/mtext&gt;&lt;mtext&gt;&lt;/mtext&gt;&lt;mtext&gt;&lt;/mtext&gt;&lt;mfrac&gt;&lt;mn&gt;3&lt;/mn&gt;&lt;mn&gt;5&lt;/mn&gt;&lt;/mfrac&gt;&lt;mtext&gt;&lt;/mtext&gt;&lt;mtext&gt;&lt;/mtext&gt;&lt;mtext&gt;&lt;/mtext&gt;&lt;mfrac&gt;&lt;mn&gt;1&lt;/mn&gt;&lt;mn&gt;20&lt;/mn&gt;&lt;/mfrac&gt;&lt;mtext&gt;&lt;/mtext&gt;&lt;mtext&gt;&lt;/mtext&gt;&lt;mtext&gt;&lt;/mtext&gt;&lt;mtext&gt;&lt;/mtext&gt;&lt;mfrac&gt;&lt;mn&gt;1&lt;/mn&gt;&lt;mn&gt;4&lt;/mn&gt;&lt;/mfrac&gt;&lt;/math&gt;" id="1711" name="Google Shape;1711;p94" title="one tenth three fifths 1 over 20 one fourth"/>
          <p:cNvPicPr preferRelativeResize="0"/>
          <p:nvPr/>
        </p:nvPicPr>
        <p:blipFill rotWithShape="1">
          <a:blip r:embed="rId3">
            <a:alphaModFix/>
          </a:blip>
          <a:srcRect b="0" l="47251" r="21850" t="0"/>
          <a:stretch/>
        </p:blipFill>
        <p:spPr>
          <a:xfrm>
            <a:off x="3490077" y="2681200"/>
            <a:ext cx="6107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frac{3}{5}\ \ \ \frac{1}{20}\ \ \ \ \frac{1}{4}&quot;&gt;&lt;mfrac&gt;&lt;mn&gt;1&lt;/mn&gt;&lt;mn&gt;10&lt;/mn&gt;&lt;/mfrac&gt;&lt;mtext&gt;&lt;/mtext&gt;&lt;mtext&gt;&lt;/mtext&gt;&lt;mtext&gt;&lt;/mtext&gt;&lt;mfrac&gt;&lt;mn&gt;3&lt;/mn&gt;&lt;mn&gt;5&lt;/mn&gt;&lt;/mfrac&gt;&lt;mtext&gt;&lt;/mtext&gt;&lt;mtext&gt;&lt;/mtext&gt;&lt;mtext&gt;&lt;/mtext&gt;&lt;mfrac&gt;&lt;mn&gt;1&lt;/mn&gt;&lt;mn&gt;20&lt;/mn&gt;&lt;/mfrac&gt;&lt;mtext&gt;&lt;/mtext&gt;&lt;mtext&gt;&lt;/mtext&gt;&lt;mtext&gt;&lt;/mtext&gt;&lt;mtext&gt;&lt;/mtext&gt;&lt;mfrac&gt;&lt;mn&gt;1&lt;/mn&gt;&lt;mn&gt;4&lt;/mn&gt;&lt;/mfrac&gt;&lt;/math&gt;" id="1712" name="Google Shape;1712;p94" title="one tenth three fifths 1 over 20 one fourth"/>
          <p:cNvPicPr preferRelativeResize="0"/>
          <p:nvPr/>
        </p:nvPicPr>
        <p:blipFill rotWithShape="1">
          <a:blip r:embed="rId3">
            <a:alphaModFix/>
          </a:blip>
          <a:srcRect b="0" l="85472" r="0" t="0"/>
          <a:stretch/>
        </p:blipFill>
        <p:spPr>
          <a:xfrm>
            <a:off x="5845872" y="2681200"/>
            <a:ext cx="28717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Google Shape;1713;p94"/>
          <p:cNvSpPr txBox="1"/>
          <p:nvPr>
            <p:ph idx="4294967295" type="body"/>
          </p:nvPr>
        </p:nvSpPr>
        <p:spPr>
          <a:xfrm>
            <a:off x="4461150" y="4427826"/>
            <a:ext cx="2217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1}{10}\ \ \ \frac{3}{5}\ \ \ \frac{1}{20}\ \ \ \ \frac{1}{4}&quot;&gt;&lt;mfrac&gt;&lt;mn&gt;1&lt;/mn&gt;&lt;mn&gt;10&lt;/mn&gt;&lt;/mfrac&gt;&lt;mtext&gt;&lt;/mtext&gt;&lt;mtext&gt;&lt;/mtext&gt;&lt;mtext&gt;&lt;/mtext&gt;&lt;mfrac&gt;&lt;mn&gt;3&lt;/mn&gt;&lt;mn&gt;5&lt;/mn&gt;&lt;/mfrac&gt;&lt;mtext&gt;&lt;/mtext&gt;&lt;mtext&gt;&lt;/mtext&gt;&lt;mtext&gt;&lt;/mtext&gt;&lt;mfrac&gt;&lt;mn&gt;1&lt;/mn&gt;&lt;mn&gt;20&lt;/mn&gt;&lt;/mfrac&gt;&lt;mtext&gt;&lt;/mtext&gt;&lt;mtext&gt;&lt;/mtext&gt;&lt;mtext&gt;&lt;/mtext&gt;&lt;mtext&gt;&lt;/mtext&gt;&lt;mfrac&gt;&lt;mn&gt;1&lt;/mn&gt;&lt;mn&gt;4&lt;/mn&gt;&lt;/mfrac&gt;&lt;/math&gt;" id="1718" name="Google Shape;1718;p95" title="one tenth three fifths 1 over 20 one fourth"/>
          <p:cNvPicPr preferRelativeResize="0"/>
          <p:nvPr/>
        </p:nvPicPr>
        <p:blipFill rotWithShape="1">
          <a:blip r:embed="rId3">
            <a:alphaModFix/>
          </a:blip>
          <a:srcRect b="0" l="0" r="76921" t="0"/>
          <a:stretch/>
        </p:blipFill>
        <p:spPr>
          <a:xfrm>
            <a:off x="3644625" y="1744975"/>
            <a:ext cx="45622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95"/>
          <p:cNvSpPr txBox="1"/>
          <p:nvPr>
            <p:ph idx="4294967295" type="body"/>
          </p:nvPr>
        </p:nvSpPr>
        <p:spPr>
          <a:xfrm>
            <a:off x="324000" y="759300"/>
            <a:ext cx="8496000" cy="7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spinner has four numbers on. </a:t>
            </a:r>
            <a:br>
              <a:rPr lang="en-GB" sz="2000"/>
            </a:br>
            <a:r>
              <a:rPr lang="en-GB" sz="2000"/>
              <a:t>The </a:t>
            </a:r>
            <a:r>
              <a:rPr b="1" lang="en-GB" sz="2000"/>
              <a:t>probabilities</a:t>
            </a:r>
            <a:r>
              <a:rPr lang="en-GB" sz="2000"/>
              <a:t> of the spinner landing on each number are below.</a:t>
            </a:r>
            <a:endParaRPr sz="2000"/>
          </a:p>
        </p:txBody>
      </p:sp>
      <p:sp>
        <p:nvSpPr>
          <p:cNvPr id="1720" name="Google Shape;172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721" name="Google Shape;1721;p95"/>
          <p:cNvSpPr txBox="1"/>
          <p:nvPr>
            <p:ph idx="4294967295" type="body"/>
          </p:nvPr>
        </p:nvSpPr>
        <p:spPr>
          <a:xfrm>
            <a:off x="324000" y="3502500"/>
            <a:ext cx="8237700" cy="9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During a game, the spinner is spun a total of 100 times.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Approximately, how many times could the spinner be expected to land on the number 4?</a:t>
            </a:r>
            <a:endParaRPr sz="2000"/>
          </a:p>
        </p:txBody>
      </p:sp>
      <p:sp>
        <p:nvSpPr>
          <p:cNvPr id="1722" name="Google Shape;1722;p95"/>
          <p:cNvSpPr txBox="1"/>
          <p:nvPr>
            <p:ph idx="1" type="body"/>
          </p:nvPr>
        </p:nvSpPr>
        <p:spPr>
          <a:xfrm>
            <a:off x="2668275" y="18602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P(1) = </a:t>
            </a:r>
            <a:endParaRPr/>
          </a:p>
        </p:txBody>
      </p:sp>
      <p:sp>
        <p:nvSpPr>
          <p:cNvPr id="1723" name="Google Shape;1723;p95"/>
          <p:cNvSpPr txBox="1"/>
          <p:nvPr>
            <p:ph idx="1" type="body"/>
          </p:nvPr>
        </p:nvSpPr>
        <p:spPr>
          <a:xfrm>
            <a:off x="2668275" y="28127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P(3) = </a:t>
            </a:r>
            <a:endParaRPr/>
          </a:p>
        </p:txBody>
      </p:sp>
      <p:sp>
        <p:nvSpPr>
          <p:cNvPr id="1724" name="Google Shape;1724;p95"/>
          <p:cNvSpPr txBox="1"/>
          <p:nvPr>
            <p:ph idx="1" type="body"/>
          </p:nvPr>
        </p:nvSpPr>
        <p:spPr>
          <a:xfrm>
            <a:off x="5030475" y="18602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P(2) = </a:t>
            </a:r>
            <a:endParaRPr/>
          </a:p>
        </p:txBody>
      </p:sp>
      <p:sp>
        <p:nvSpPr>
          <p:cNvPr id="1725" name="Google Shape;1725;p95"/>
          <p:cNvSpPr txBox="1"/>
          <p:nvPr>
            <p:ph idx="1" type="body"/>
          </p:nvPr>
        </p:nvSpPr>
        <p:spPr>
          <a:xfrm>
            <a:off x="5030475" y="2812756"/>
            <a:ext cx="961800" cy="4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P(4) =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\ \ \ \frac{3}{5}\ \ \ \frac{1}{20}\ \ \ \ \frac{1}{4}&quot;&gt;&lt;mfrac&gt;&lt;mn&gt;1&lt;/mn&gt;&lt;mn&gt;10&lt;/mn&gt;&lt;/mfrac&gt;&lt;mtext&gt;&lt;/mtext&gt;&lt;mtext&gt;&lt;/mtext&gt;&lt;mtext&gt;&lt;/mtext&gt;&lt;mfrac&gt;&lt;mn&gt;3&lt;/mn&gt;&lt;mn&gt;5&lt;/mn&gt;&lt;/mfrac&gt;&lt;mtext&gt;&lt;/mtext&gt;&lt;mtext&gt;&lt;/mtext&gt;&lt;mtext&gt;&lt;/mtext&gt;&lt;mfrac&gt;&lt;mn&gt;1&lt;/mn&gt;&lt;mn&gt;20&lt;/mn&gt;&lt;/mfrac&gt;&lt;mtext&gt;&lt;/mtext&gt;&lt;mtext&gt;&lt;/mtext&gt;&lt;mtext&gt;&lt;/mtext&gt;&lt;mtext&gt;&lt;/mtext&gt;&lt;mfrac&gt;&lt;mn&gt;1&lt;/mn&gt;&lt;mn&gt;4&lt;/mn&gt;&lt;/mfrac&gt;&lt;/math&gt;" id="1726" name="Google Shape;1726;p95" title="one tenth three fifths 1 over 20 one fourth"/>
          <p:cNvPicPr preferRelativeResize="0"/>
          <p:nvPr/>
        </p:nvPicPr>
        <p:blipFill rotWithShape="1">
          <a:blip r:embed="rId3">
            <a:alphaModFix/>
          </a:blip>
          <a:srcRect b="0" l="26788" r="50132" t="0"/>
          <a:stretch/>
        </p:blipFill>
        <p:spPr>
          <a:xfrm>
            <a:off x="5839841" y="1744975"/>
            <a:ext cx="45622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frac{3}{5}\ \ \ \frac{1}{20}\ \ \ \ \frac{1}{4}&quot;&gt;&lt;mfrac&gt;&lt;mn&gt;1&lt;/mn&gt;&lt;mn&gt;10&lt;/mn&gt;&lt;/mfrac&gt;&lt;mtext&gt;&lt;/mtext&gt;&lt;mtext&gt;&lt;/mtext&gt;&lt;mtext&gt;&lt;/mtext&gt;&lt;mfrac&gt;&lt;mn&gt;3&lt;/mn&gt;&lt;mn&gt;5&lt;/mn&gt;&lt;/mfrac&gt;&lt;mtext&gt;&lt;/mtext&gt;&lt;mtext&gt;&lt;/mtext&gt;&lt;mtext&gt;&lt;/mtext&gt;&lt;mfrac&gt;&lt;mn&gt;1&lt;/mn&gt;&lt;mn&gt;20&lt;/mn&gt;&lt;/mfrac&gt;&lt;mtext&gt;&lt;/mtext&gt;&lt;mtext&gt;&lt;/mtext&gt;&lt;mtext&gt;&lt;/mtext&gt;&lt;mtext&gt;&lt;/mtext&gt;&lt;mfrac&gt;&lt;mn&gt;1&lt;/mn&gt;&lt;mn&gt;4&lt;/mn&gt;&lt;/mfrac&gt;&lt;/math&gt;" id="1727" name="Google Shape;1727;p95" title="one tenth three fifths 1 over 20 one fourth"/>
          <p:cNvPicPr preferRelativeResize="0"/>
          <p:nvPr/>
        </p:nvPicPr>
        <p:blipFill rotWithShape="1">
          <a:blip r:embed="rId3">
            <a:alphaModFix/>
          </a:blip>
          <a:srcRect b="0" l="47251" r="21850" t="0"/>
          <a:stretch/>
        </p:blipFill>
        <p:spPr>
          <a:xfrm>
            <a:off x="3490077" y="2681200"/>
            <a:ext cx="6107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frac{3}{5}\ \ \ \frac{1}{20}\ \ \ \ \frac{1}{4}&quot;&gt;&lt;mfrac&gt;&lt;mn&gt;1&lt;/mn&gt;&lt;mn&gt;10&lt;/mn&gt;&lt;/mfrac&gt;&lt;mtext&gt;&lt;/mtext&gt;&lt;mtext&gt;&lt;/mtext&gt;&lt;mtext&gt;&lt;/mtext&gt;&lt;mfrac&gt;&lt;mn&gt;3&lt;/mn&gt;&lt;mn&gt;5&lt;/mn&gt;&lt;/mfrac&gt;&lt;mtext&gt;&lt;/mtext&gt;&lt;mtext&gt;&lt;/mtext&gt;&lt;mtext&gt;&lt;/mtext&gt;&lt;mfrac&gt;&lt;mn&gt;1&lt;/mn&gt;&lt;mn&gt;20&lt;/mn&gt;&lt;/mfrac&gt;&lt;mtext&gt;&lt;/mtext&gt;&lt;mtext&gt;&lt;/mtext&gt;&lt;mtext&gt;&lt;/mtext&gt;&lt;mtext&gt;&lt;/mtext&gt;&lt;mfrac&gt;&lt;mn&gt;1&lt;/mn&gt;&lt;mn&gt;4&lt;/mn&gt;&lt;/mfrac&gt;&lt;/math&gt;" id="1728" name="Google Shape;1728;p95" title="one tenth three fifths 1 over 20 one fourth"/>
          <p:cNvPicPr preferRelativeResize="0"/>
          <p:nvPr/>
        </p:nvPicPr>
        <p:blipFill rotWithShape="1">
          <a:blip r:embed="rId3">
            <a:alphaModFix/>
          </a:blip>
          <a:srcRect b="0" l="85472" r="0" t="0"/>
          <a:stretch/>
        </p:blipFill>
        <p:spPr>
          <a:xfrm>
            <a:off x="5845872" y="2681200"/>
            <a:ext cx="28717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95"/>
          <p:cNvSpPr txBox="1"/>
          <p:nvPr>
            <p:ph idx="4294967295" type="body"/>
          </p:nvPr>
        </p:nvSpPr>
        <p:spPr>
          <a:xfrm>
            <a:off x="4384950" y="4435096"/>
            <a:ext cx="5196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735" name="Google Shape;1735;p96"/>
          <p:cNvSpPr txBox="1"/>
          <p:nvPr>
            <p:ph idx="1" type="body"/>
          </p:nvPr>
        </p:nvSpPr>
        <p:spPr>
          <a:xfrm>
            <a:off x="324000" y="759300"/>
            <a:ext cx="8237700" cy="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Write the </a:t>
            </a:r>
            <a:r>
              <a:rPr b="1" lang="en-GB" sz="1600"/>
              <a:t>probabilities</a:t>
            </a:r>
            <a:r>
              <a:rPr lang="en-GB" sz="1600"/>
              <a:t> below in the correct order on the </a:t>
            </a:r>
            <a:r>
              <a:rPr b="1" lang="en-GB" sz="1600"/>
              <a:t>probability</a:t>
            </a:r>
            <a:r>
              <a:rPr lang="en-GB" sz="1600"/>
              <a:t> scale.</a:t>
            </a:r>
            <a:endParaRPr sz="1600"/>
          </a:p>
        </p:txBody>
      </p:sp>
      <p:sp>
        <p:nvSpPr>
          <p:cNvPr id="1736" name="Google Shape;1736;p96"/>
          <p:cNvSpPr txBox="1"/>
          <p:nvPr/>
        </p:nvSpPr>
        <p:spPr>
          <a:xfrm>
            <a:off x="7749325" y="2384608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96"/>
          <p:cNvSpPr txBox="1"/>
          <p:nvPr/>
        </p:nvSpPr>
        <p:spPr>
          <a:xfrm>
            <a:off x="324000" y="2384608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8" name="Google Shape;1738;p96"/>
          <p:cNvGrpSpPr/>
          <p:nvPr/>
        </p:nvGrpSpPr>
        <p:grpSpPr>
          <a:xfrm>
            <a:off x="984950" y="2199731"/>
            <a:ext cx="7187400" cy="291387"/>
            <a:chOff x="992233" y="3276625"/>
            <a:chExt cx="7187400" cy="658800"/>
          </a:xfrm>
        </p:grpSpPr>
        <p:cxnSp>
          <p:nvCxnSpPr>
            <p:cNvPr id="1739" name="Google Shape;1739;p96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0" name="Google Shape;1740;p96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1" name="Google Shape;1741;p96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2" name="Google Shape;1742;p96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43" name="Google Shape;1743;p96"/>
          <p:cNvSpPr txBox="1"/>
          <p:nvPr/>
        </p:nvSpPr>
        <p:spPr>
          <a:xfrm>
            <a:off x="3850025" y="2384608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4" name="Google Shape;1744;p96"/>
          <p:cNvCxnSpPr/>
          <p:nvPr/>
        </p:nvCxnSpPr>
        <p:spPr>
          <a:xfrm>
            <a:off x="4621625" y="2446683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45" name="Google Shape;1745;p96"/>
          <p:cNvSpPr txBox="1"/>
          <p:nvPr/>
        </p:nvSpPr>
        <p:spPr>
          <a:xfrm>
            <a:off x="2300175" y="2363130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96"/>
          <p:cNvSpPr txBox="1"/>
          <p:nvPr/>
        </p:nvSpPr>
        <p:spPr>
          <a:xfrm>
            <a:off x="6054451" y="2370394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7" name="Google Shape;1747;p96"/>
          <p:cNvCxnSpPr/>
          <p:nvPr/>
        </p:nvCxnSpPr>
        <p:spPr>
          <a:xfrm>
            <a:off x="1018454" y="2446683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48" name="Google Shape;1748;p96"/>
          <p:cNvSpPr txBox="1"/>
          <p:nvPr>
            <p:ph idx="1" type="body"/>
          </p:nvPr>
        </p:nvSpPr>
        <p:spPr>
          <a:xfrm>
            <a:off x="324000" y="2926617"/>
            <a:ext cx="8237700" cy="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Write the </a:t>
            </a:r>
            <a:r>
              <a:rPr b="1" lang="en-GB" sz="1600"/>
              <a:t>probabilities</a:t>
            </a:r>
            <a:r>
              <a:rPr lang="en-GB" sz="1600"/>
              <a:t> below in the correct order on the </a:t>
            </a:r>
            <a:r>
              <a:rPr b="1" lang="en-GB" sz="1600"/>
              <a:t>probability</a:t>
            </a:r>
            <a:r>
              <a:rPr lang="en-GB" sz="1600"/>
              <a:t> scale.</a:t>
            </a:r>
            <a:endParaRPr sz="1600"/>
          </a:p>
        </p:txBody>
      </p:sp>
      <p:sp>
        <p:nvSpPr>
          <p:cNvPr id="1749" name="Google Shape;1749;p96"/>
          <p:cNvSpPr txBox="1"/>
          <p:nvPr/>
        </p:nvSpPr>
        <p:spPr>
          <a:xfrm>
            <a:off x="7749325" y="4475725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6"/>
          <p:cNvSpPr txBox="1"/>
          <p:nvPr/>
        </p:nvSpPr>
        <p:spPr>
          <a:xfrm>
            <a:off x="324000" y="4475725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1" name="Google Shape;1751;p96"/>
          <p:cNvGrpSpPr/>
          <p:nvPr/>
        </p:nvGrpSpPr>
        <p:grpSpPr>
          <a:xfrm>
            <a:off x="984950" y="4290848"/>
            <a:ext cx="7187400" cy="291387"/>
            <a:chOff x="992233" y="3276625"/>
            <a:chExt cx="7187400" cy="658800"/>
          </a:xfrm>
        </p:grpSpPr>
        <p:cxnSp>
          <p:nvCxnSpPr>
            <p:cNvPr id="1752" name="Google Shape;1752;p96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3" name="Google Shape;1753;p96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4" name="Google Shape;1754;p96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5" name="Google Shape;1755;p96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56" name="Google Shape;1756;p96"/>
          <p:cNvSpPr txBox="1"/>
          <p:nvPr/>
        </p:nvSpPr>
        <p:spPr>
          <a:xfrm>
            <a:off x="3850025" y="4475725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7" name="Google Shape;1757;p96"/>
          <p:cNvCxnSpPr/>
          <p:nvPr/>
        </p:nvCxnSpPr>
        <p:spPr>
          <a:xfrm>
            <a:off x="4621625" y="4537800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58" name="Google Shape;1758;p96"/>
          <p:cNvSpPr txBox="1"/>
          <p:nvPr/>
        </p:nvSpPr>
        <p:spPr>
          <a:xfrm>
            <a:off x="2300175" y="4454246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96"/>
          <p:cNvSpPr txBox="1"/>
          <p:nvPr/>
        </p:nvSpPr>
        <p:spPr>
          <a:xfrm>
            <a:off x="6054451" y="4461511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0" name="Google Shape;1760;p96"/>
          <p:cNvCxnSpPr/>
          <p:nvPr/>
        </p:nvCxnSpPr>
        <p:spPr>
          <a:xfrm>
            <a:off x="1018454" y="4537800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id="1761" name="Google Shape;1761;p96" title="20 over 20 1 over 20 5 over 20 18 over 20 11 over 20 9 over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7544" y="1089660"/>
            <a:ext cx="2236801" cy="44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 \ \frac{5}{5}\ \ \ \frac{5}{1000}\ \ \ \frac{5}{10}\ \ \ \frac{5}{11}\ \ \ \frac{5}{9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1&lt;/mn&gt;&lt;/mfrac&gt;&lt;mtext&gt;&lt;/mtext&gt;&lt;mtext&gt;&lt;/mtext&gt;&lt;mtext&gt;&lt;/mtext&gt;&lt;mfrac&gt;&lt;mn&gt;5&lt;/mn&gt;&lt;mn&gt;9&lt;/mn&gt;&lt;/mfrac&gt;&lt;/math&gt;" id="1762" name="Google Shape;1762;p96" title="five sixths five fifths 5 over 1000 five tenths 5 over 11 fiv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6134" y="3252851"/>
            <a:ext cx="2379006" cy="4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768" name="Google Shape;1768;p97"/>
          <p:cNvSpPr txBox="1"/>
          <p:nvPr>
            <p:ph idx="1" type="body"/>
          </p:nvPr>
        </p:nvSpPr>
        <p:spPr>
          <a:xfrm>
            <a:off x="324000" y="759300"/>
            <a:ext cx="8237700" cy="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r>
              <a:rPr lang="en-GB" sz="1600"/>
              <a:t>) Fill in the blanks in the table.</a:t>
            </a:r>
            <a:endParaRPr sz="1600"/>
          </a:p>
        </p:txBody>
      </p:sp>
      <p:graphicFrame>
        <p:nvGraphicFramePr>
          <p:cNvPr id="1769" name="Google Shape;1769;p97"/>
          <p:cNvGraphicFramePr/>
          <p:nvPr/>
        </p:nvGraphicFramePr>
        <p:xfrm>
          <a:off x="324000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{BC762259-0100-42CC-A437-68BC8977BCE9}</a:tableStyleId>
              </a:tblPr>
              <a:tblGrid>
                <a:gridCol w="1031800"/>
                <a:gridCol w="1354825"/>
                <a:gridCol w="1355125"/>
                <a:gridCol w="1559000"/>
                <a:gridCol w="1481375"/>
                <a:gridCol w="1713875"/>
              </a:tblGrid>
              <a:tr h="83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as a fraction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as a decimal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as a percentage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 of likelihood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xpected frequency in 600 trials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example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 chance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unlikely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75%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770" name="Google Shape;1770;p97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982" y="2122234"/>
            <a:ext cx="120145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771" name="Google Shape;1771;p97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6700" y="3502847"/>
            <a:ext cx="120150" cy="386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3}{10}\ \ \ \ \frac{7}{10}&quot;&gt;&lt;mfrac&gt;&lt;mn&gt;3&lt;/mn&gt;&lt;mn&gt;10&lt;/mn&gt;&lt;/mfrac&gt;&lt;mtext&gt;&lt;/mtext&gt;&lt;mtext&gt;&lt;/mtext&gt;&lt;mtext&gt;&lt;/mtext&gt;&lt;mtext&gt;&lt;/mtext&gt;&lt;mfrac&gt;&lt;mn&gt;7&lt;/mn&gt;&lt;mn&gt;10&lt;/mn&gt;&lt;/mfrac&gt;&lt;/math&gt;" id="1776" name="Google Shape;1776;p98" title="three tenths seven tenths"/>
          <p:cNvPicPr preferRelativeResize="0"/>
          <p:nvPr/>
        </p:nvPicPr>
        <p:blipFill rotWithShape="1">
          <a:blip r:embed="rId3">
            <a:alphaModFix/>
          </a:blip>
          <a:srcRect b="0" l="0" r="59743" t="0"/>
          <a:stretch/>
        </p:blipFill>
        <p:spPr>
          <a:xfrm>
            <a:off x="2568377" y="1551175"/>
            <a:ext cx="318825" cy="4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7" name="Google Shape;1777;p98"/>
          <p:cNvSpPr txBox="1"/>
          <p:nvPr>
            <p:ph idx="1" type="body"/>
          </p:nvPr>
        </p:nvSpPr>
        <p:spPr>
          <a:xfrm>
            <a:off x="933600" y="1673700"/>
            <a:ext cx="54825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P(base down) =                                         P(curve down) = </a:t>
            </a:r>
            <a:endParaRPr sz="1600"/>
          </a:p>
        </p:txBody>
      </p:sp>
      <p:sp>
        <p:nvSpPr>
          <p:cNvPr id="1778" name="Google Shape;1778;p98"/>
          <p:cNvSpPr txBox="1"/>
          <p:nvPr>
            <p:ph idx="1" type="body"/>
          </p:nvPr>
        </p:nvSpPr>
        <p:spPr>
          <a:xfrm>
            <a:off x="552600" y="1064100"/>
            <a:ext cx="6523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 large experiment concluded the following </a:t>
            </a:r>
            <a:r>
              <a:rPr b="1" lang="en-GB" sz="1600"/>
              <a:t>probabilities</a:t>
            </a:r>
            <a:r>
              <a:rPr lang="en-GB" sz="1600"/>
              <a:t>:</a:t>
            </a:r>
            <a:endParaRPr sz="1600"/>
          </a:p>
        </p:txBody>
      </p:sp>
      <p:sp>
        <p:nvSpPr>
          <p:cNvPr id="1779" name="Google Shape;1779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780" name="Google Shape;1780;p98"/>
          <p:cNvSpPr txBox="1"/>
          <p:nvPr>
            <p:ph idx="1" type="body"/>
          </p:nvPr>
        </p:nvSpPr>
        <p:spPr>
          <a:xfrm>
            <a:off x="324000" y="2317023"/>
            <a:ext cx="8237700" cy="3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The cone is about to be dropped again. Which outcome is most likely to happen?</a:t>
            </a:r>
            <a:endParaRPr sz="1600"/>
          </a:p>
        </p:txBody>
      </p:sp>
      <p:sp>
        <p:nvSpPr>
          <p:cNvPr id="1781" name="Google Shape;1781;p98"/>
          <p:cNvSpPr txBox="1"/>
          <p:nvPr/>
        </p:nvSpPr>
        <p:spPr>
          <a:xfrm>
            <a:off x="324000" y="759300"/>
            <a:ext cx="84849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 dropped cone could land in one of two ways: ‘base down’ or ‘curve down’.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2" name="Google Shape;1782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000" y="1398021"/>
            <a:ext cx="386576" cy="7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3" name="Google Shape;1783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7791" y="1514820"/>
            <a:ext cx="865910" cy="47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4" name="Google Shape;1784;p98"/>
          <p:cNvSpPr txBox="1"/>
          <p:nvPr>
            <p:ph idx="1" type="body"/>
          </p:nvPr>
        </p:nvSpPr>
        <p:spPr>
          <a:xfrm>
            <a:off x="324000" y="2850426"/>
            <a:ext cx="8237700" cy="5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In an experiment with 100 trials, approximately how many times could you </a:t>
            </a:r>
            <a:br>
              <a:rPr lang="en-GB" sz="1600"/>
            </a:br>
            <a:r>
              <a:rPr lang="en-GB" sz="1600"/>
              <a:t>    expect the cone to land curve down?</a:t>
            </a:r>
            <a:endParaRPr sz="1600"/>
          </a:p>
        </p:txBody>
      </p:sp>
      <p:sp>
        <p:nvSpPr>
          <p:cNvPr id="1785" name="Google Shape;1785;p98"/>
          <p:cNvSpPr txBox="1"/>
          <p:nvPr/>
        </p:nvSpPr>
        <p:spPr>
          <a:xfrm>
            <a:off x="228600" y="3505200"/>
            <a:ext cx="8667600" cy="14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Use the link to access a simulation of this experiment: </a:t>
            </a:r>
            <a:r>
              <a:rPr lang="en-GB" sz="1600" u="sng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Cone simulation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The box that says ‘count’ shows the number of trials completed.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Press the ‘run’ button to begin the simulation and let it run for 100 trials.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Are the results the same as what you predicted in part (b)?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10}\ \ \ \ \frac{7}{10}&quot;&gt;&lt;mfrac&gt;&lt;mn&gt;3&lt;/mn&gt;&lt;mn&gt;10&lt;/mn&gt;&lt;/mfrac&gt;&lt;mtext&gt;&lt;/mtext&gt;&lt;mtext&gt;&lt;/mtext&gt;&lt;mtext&gt;&lt;/mtext&gt;&lt;mtext&gt;&lt;/mtext&gt;&lt;mfrac&gt;&lt;mn&gt;7&lt;/mn&gt;&lt;mn&gt;10&lt;/mn&gt;&lt;/mfrac&gt;&lt;/math&gt;" id="1786" name="Google Shape;1786;p98" title="three tenths seven tenths"/>
          <p:cNvPicPr preferRelativeResize="0"/>
          <p:nvPr/>
        </p:nvPicPr>
        <p:blipFill rotWithShape="1">
          <a:blip r:embed="rId3">
            <a:alphaModFix/>
          </a:blip>
          <a:srcRect b="0" l="59743" r="0" t="0"/>
          <a:stretch/>
        </p:blipFill>
        <p:spPr>
          <a:xfrm>
            <a:off x="6394347" y="1551175"/>
            <a:ext cx="318825" cy="4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5}{6}\ \ \ \frac{5}{5}\ \ \ \frac{5}{1000}\ \ \ \frac{5}{10}\ \ \ \frac{5}{11}\ \ \ \frac{5}{9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1&lt;/mn&gt;&lt;/mfrac&gt;&lt;mtext&gt;&lt;/mtext&gt;&lt;mtext&gt;&lt;/mtext&gt;&lt;mtext&gt;&lt;/mtext&gt;&lt;mfrac&gt;&lt;mn&gt;5&lt;/mn&gt;&lt;mn&gt;9&lt;/mn&gt;&lt;/mfrac&gt;&lt;/math&gt;" id="1791" name="Google Shape;1791;p99" title="five sixths five fifths 5 over 1000 five tenths 5 over 11 fiv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6134" y="3252851"/>
            <a:ext cx="2379006" cy="44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793" name="Google Shape;1793;p99"/>
          <p:cNvSpPr txBox="1"/>
          <p:nvPr>
            <p:ph idx="1" type="body"/>
          </p:nvPr>
        </p:nvSpPr>
        <p:spPr>
          <a:xfrm>
            <a:off x="324000" y="759300"/>
            <a:ext cx="8237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Write the </a:t>
            </a:r>
            <a:r>
              <a:rPr b="1" lang="en-GB" sz="1600"/>
              <a:t>probabilities</a:t>
            </a:r>
            <a:r>
              <a:rPr lang="en-GB" sz="1600"/>
              <a:t> below in the correct order on the </a:t>
            </a:r>
            <a:r>
              <a:rPr b="1" lang="en-GB" sz="1600"/>
              <a:t>probability</a:t>
            </a:r>
            <a:r>
              <a:rPr lang="en-GB" sz="1600"/>
              <a:t> scale.</a:t>
            </a:r>
            <a:endParaRPr sz="1600"/>
          </a:p>
        </p:txBody>
      </p:sp>
      <p:sp>
        <p:nvSpPr>
          <p:cNvPr id="1794" name="Google Shape;1794;p99"/>
          <p:cNvSpPr txBox="1"/>
          <p:nvPr/>
        </p:nvSpPr>
        <p:spPr>
          <a:xfrm>
            <a:off x="7749325" y="2384608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99"/>
          <p:cNvSpPr txBox="1"/>
          <p:nvPr/>
        </p:nvSpPr>
        <p:spPr>
          <a:xfrm>
            <a:off x="324000" y="2384608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6" name="Google Shape;1796;p99"/>
          <p:cNvGrpSpPr/>
          <p:nvPr/>
        </p:nvGrpSpPr>
        <p:grpSpPr>
          <a:xfrm>
            <a:off x="984950" y="2199731"/>
            <a:ext cx="7187400" cy="291387"/>
            <a:chOff x="992233" y="3276625"/>
            <a:chExt cx="7187400" cy="658800"/>
          </a:xfrm>
        </p:grpSpPr>
        <p:cxnSp>
          <p:nvCxnSpPr>
            <p:cNvPr id="1797" name="Google Shape;1797;p99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8" name="Google Shape;1798;p99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9" name="Google Shape;1799;p99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0" name="Google Shape;1800;p99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01" name="Google Shape;1801;p99"/>
          <p:cNvSpPr txBox="1"/>
          <p:nvPr/>
        </p:nvSpPr>
        <p:spPr>
          <a:xfrm>
            <a:off x="3850025" y="2384608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2" name="Google Shape;1802;p99"/>
          <p:cNvCxnSpPr/>
          <p:nvPr/>
        </p:nvCxnSpPr>
        <p:spPr>
          <a:xfrm>
            <a:off x="4621625" y="2446683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03" name="Google Shape;1803;p99"/>
          <p:cNvSpPr txBox="1"/>
          <p:nvPr/>
        </p:nvSpPr>
        <p:spPr>
          <a:xfrm>
            <a:off x="2300175" y="2363130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99"/>
          <p:cNvSpPr txBox="1"/>
          <p:nvPr/>
        </p:nvSpPr>
        <p:spPr>
          <a:xfrm>
            <a:off x="6054451" y="2370394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5" name="Google Shape;1805;p99"/>
          <p:cNvCxnSpPr/>
          <p:nvPr/>
        </p:nvCxnSpPr>
        <p:spPr>
          <a:xfrm>
            <a:off x="1018454" y="2446683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06" name="Google Shape;1806;p99"/>
          <p:cNvSpPr txBox="1"/>
          <p:nvPr>
            <p:ph idx="1" type="body"/>
          </p:nvPr>
        </p:nvSpPr>
        <p:spPr>
          <a:xfrm>
            <a:off x="324000" y="2926617"/>
            <a:ext cx="8237700" cy="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Write the </a:t>
            </a:r>
            <a:r>
              <a:rPr b="1" lang="en-GB" sz="1600"/>
              <a:t>probabilities</a:t>
            </a:r>
            <a:r>
              <a:rPr lang="en-GB" sz="1600"/>
              <a:t> below in the correct order on the </a:t>
            </a:r>
            <a:r>
              <a:rPr b="1" lang="en-GB" sz="1600"/>
              <a:t>probability</a:t>
            </a:r>
            <a:r>
              <a:rPr lang="en-GB" sz="1600"/>
              <a:t> scale.</a:t>
            </a:r>
            <a:endParaRPr sz="1600"/>
          </a:p>
        </p:txBody>
      </p:sp>
      <p:sp>
        <p:nvSpPr>
          <p:cNvPr id="1807" name="Google Shape;1807;p99"/>
          <p:cNvSpPr txBox="1"/>
          <p:nvPr/>
        </p:nvSpPr>
        <p:spPr>
          <a:xfrm>
            <a:off x="7749325" y="4475725"/>
            <a:ext cx="94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99"/>
          <p:cNvSpPr txBox="1"/>
          <p:nvPr/>
        </p:nvSpPr>
        <p:spPr>
          <a:xfrm>
            <a:off x="324000" y="4475725"/>
            <a:ext cx="15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9" name="Google Shape;1809;p99"/>
          <p:cNvGrpSpPr/>
          <p:nvPr/>
        </p:nvGrpSpPr>
        <p:grpSpPr>
          <a:xfrm>
            <a:off x="984950" y="4290848"/>
            <a:ext cx="7187400" cy="291387"/>
            <a:chOff x="992233" y="3276625"/>
            <a:chExt cx="7187400" cy="658800"/>
          </a:xfrm>
        </p:grpSpPr>
        <p:cxnSp>
          <p:nvCxnSpPr>
            <p:cNvPr id="1810" name="Google Shape;1810;p99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1" name="Google Shape;1811;p99"/>
            <p:cNvCxnSpPr/>
            <p:nvPr/>
          </p:nvCxnSpPr>
          <p:spPr>
            <a:xfrm>
              <a:off x="992256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2" name="Google Shape;1812;p99"/>
            <p:cNvCxnSpPr/>
            <p:nvPr/>
          </p:nvCxnSpPr>
          <p:spPr>
            <a:xfrm>
              <a:off x="8168274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3" name="Google Shape;1813;p99"/>
            <p:cNvCxnSpPr/>
            <p:nvPr/>
          </p:nvCxnSpPr>
          <p:spPr>
            <a:xfrm>
              <a:off x="4580265" y="3276625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14" name="Google Shape;1814;p99"/>
          <p:cNvSpPr txBox="1"/>
          <p:nvPr/>
        </p:nvSpPr>
        <p:spPr>
          <a:xfrm>
            <a:off x="3850025" y="4475725"/>
            <a:ext cx="143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5" name="Google Shape;1815;p99"/>
          <p:cNvCxnSpPr/>
          <p:nvPr/>
        </p:nvCxnSpPr>
        <p:spPr>
          <a:xfrm>
            <a:off x="4621625" y="4537800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6" name="Google Shape;1816;p99"/>
          <p:cNvSpPr txBox="1"/>
          <p:nvPr/>
        </p:nvSpPr>
        <p:spPr>
          <a:xfrm>
            <a:off x="2300175" y="4454246"/>
            <a:ext cx="120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99"/>
          <p:cNvSpPr txBox="1"/>
          <p:nvPr/>
        </p:nvSpPr>
        <p:spPr>
          <a:xfrm>
            <a:off x="6054451" y="4461511"/>
            <a:ext cx="78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8" name="Google Shape;1818;p99"/>
          <p:cNvCxnSpPr/>
          <p:nvPr/>
        </p:nvCxnSpPr>
        <p:spPr>
          <a:xfrm>
            <a:off x="1018454" y="4537800"/>
            <a:ext cx="3506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id="1819" name="Google Shape;1819;p99" title="20 over 20 1 over 20 5 over 20 18 over 20 11 over 20 9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544" y="1089660"/>
            <a:ext cx="2236801" cy="44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id="1820" name="Google Shape;1820;p99" title="20 over 20 1 over 20 5 over 20 18 over 20 11 over 20 9 over 20"/>
          <p:cNvPicPr preferRelativeResize="0"/>
          <p:nvPr/>
        </p:nvPicPr>
        <p:blipFill rotWithShape="1">
          <a:blip r:embed="rId4">
            <a:alphaModFix/>
          </a:blip>
          <a:srcRect b="0" l="0" r="85354" t="0"/>
          <a:stretch/>
        </p:blipFill>
        <p:spPr>
          <a:xfrm>
            <a:off x="8033258" y="1728309"/>
            <a:ext cx="327600" cy="44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id="1821" name="Google Shape;1821;p99" title="20 over 20 1 over 20 5 over 20 18 over 20 11 over 20 9 over 20"/>
          <p:cNvPicPr preferRelativeResize="0"/>
          <p:nvPr/>
        </p:nvPicPr>
        <p:blipFill rotWithShape="1">
          <a:blip r:embed="rId4">
            <a:alphaModFix/>
          </a:blip>
          <a:srcRect b="0" l="15633" r="69720" t="0"/>
          <a:stretch/>
        </p:blipFill>
        <p:spPr>
          <a:xfrm>
            <a:off x="1143920" y="1728300"/>
            <a:ext cx="327600" cy="44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id="1822" name="Google Shape;1822;p99" title="20 over 20 1 over 20 5 over 20 18 over 20 11 over 20 9 over 20"/>
          <p:cNvPicPr preferRelativeResize="0"/>
          <p:nvPr/>
        </p:nvPicPr>
        <p:blipFill rotWithShape="1">
          <a:blip r:embed="rId4">
            <a:alphaModFix/>
          </a:blip>
          <a:srcRect b="0" l="32070" r="50715" t="0"/>
          <a:stretch/>
        </p:blipFill>
        <p:spPr>
          <a:xfrm>
            <a:off x="2425978" y="1728300"/>
            <a:ext cx="385024" cy="44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id="1823" name="Google Shape;1823;p99" title="20 over 20 1 over 20 5 over 20 18 over 20 11 over 20 9 over 20"/>
          <p:cNvPicPr preferRelativeResize="0"/>
          <p:nvPr/>
        </p:nvPicPr>
        <p:blipFill rotWithShape="1">
          <a:blip r:embed="rId4">
            <a:alphaModFix/>
          </a:blip>
          <a:srcRect b="0" l="49941" r="32845" t="0"/>
          <a:stretch/>
        </p:blipFill>
        <p:spPr>
          <a:xfrm>
            <a:off x="7245349" y="1728300"/>
            <a:ext cx="385024" cy="44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id="1824" name="Google Shape;1824;p99" title="20 over 20 1 over 20 5 over 20 18 over 20 11 over 20 9 over 20"/>
          <p:cNvPicPr preferRelativeResize="0"/>
          <p:nvPr/>
        </p:nvPicPr>
        <p:blipFill rotWithShape="1">
          <a:blip r:embed="rId4">
            <a:alphaModFix/>
          </a:blip>
          <a:srcRect b="0" l="70382" r="14971" t="0"/>
          <a:stretch/>
        </p:blipFill>
        <p:spPr>
          <a:xfrm>
            <a:off x="4730751" y="1728300"/>
            <a:ext cx="327600" cy="44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id="1825" name="Google Shape;1825;p99" title="20 over 20 1 over 20 5 over 20 18 over 20 11 over 20 9 over 20"/>
          <p:cNvPicPr preferRelativeResize="0"/>
          <p:nvPr/>
        </p:nvPicPr>
        <p:blipFill rotWithShape="1">
          <a:blip r:embed="rId4">
            <a:alphaModFix/>
          </a:blip>
          <a:srcRect b="0" l="88444" r="0" t="0"/>
          <a:stretch/>
        </p:blipFill>
        <p:spPr>
          <a:xfrm>
            <a:off x="4144149" y="1728300"/>
            <a:ext cx="258475" cy="44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 \ \frac{5}{5}\ \ \ \frac{5}{1000}\ \ \ \frac{5}{10}\ \ \ \frac{5}{12}\ \ \ \frac{5}{11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2&lt;/mn&gt;&lt;/mfrac&gt;&lt;mtext&gt;&lt;/mtext&gt;&lt;mtext&gt;&lt;/mtext&gt;&lt;mtext&gt;&lt;/mtext&gt;&lt;mfrac&gt;&lt;mn&gt;5&lt;/mn&gt;&lt;mn&gt;11&lt;/mn&gt;&lt;/mfrac&gt;&lt;/math&gt;" id="1826" name="Google Shape;1826;p99" title="five sixths five fifths 5 over 1000 five tenths 5 over 12 5 over 11"/>
          <p:cNvPicPr preferRelativeResize="0"/>
          <p:nvPr/>
        </p:nvPicPr>
        <p:blipFill rotWithShape="1">
          <a:blip r:embed="rId5">
            <a:alphaModFix/>
          </a:blip>
          <a:srcRect b="0" l="0" r="91316" t="0"/>
          <a:stretch/>
        </p:blipFill>
        <p:spPr>
          <a:xfrm>
            <a:off x="7335810" y="3843876"/>
            <a:ext cx="208150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 \ \frac{5}{5}\ \ \ \frac{5}{1000}\ \ \ \frac{5}{10}\ \ \ \frac{5}{12}\ \ \ \frac{5}{11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2&lt;/mn&gt;&lt;/mfrac&gt;&lt;mtext&gt;&lt;/mtext&gt;&lt;mtext&gt;&lt;/mtext&gt;&lt;mtext&gt;&lt;/mtext&gt;&lt;mfrac&gt;&lt;mn&gt;5&lt;/mn&gt;&lt;mn&gt;11&lt;/mn&gt;&lt;/mfrac&gt;&lt;/math&gt;" id="1827" name="Google Shape;1827;p99" title="five sixths five fifths 5 over 1000 five tenths 5 over 12 5 over 11"/>
          <p:cNvPicPr preferRelativeResize="0"/>
          <p:nvPr/>
        </p:nvPicPr>
        <p:blipFill rotWithShape="1">
          <a:blip r:embed="rId5">
            <a:alphaModFix/>
          </a:blip>
          <a:srcRect b="0" l="11807" r="77409" t="0"/>
          <a:stretch/>
        </p:blipFill>
        <p:spPr>
          <a:xfrm>
            <a:off x="8054310" y="3843876"/>
            <a:ext cx="258474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 \ \frac{5}{5}\ \ \ \frac{5}{1000}\ \ \ \frac{5}{10}\ \ \ \frac{5}{12}\ \ \ \frac{5}{11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2&lt;/mn&gt;&lt;/mfrac&gt;&lt;mtext&gt;&lt;/mtext&gt;&lt;mtext&gt;&lt;/mtext&gt;&lt;mtext&gt;&lt;/mtext&gt;&lt;mfrac&gt;&lt;mn&gt;5&lt;/mn&gt;&lt;mn&gt;11&lt;/mn&gt;&lt;/mfrac&gt;&lt;/math&gt;" id="1828" name="Google Shape;1828;p99" title="five sixths five fifths 5 over 1000 five tenths 5 over 12 5 over 11"/>
          <p:cNvPicPr preferRelativeResize="0"/>
          <p:nvPr/>
        </p:nvPicPr>
        <p:blipFill rotWithShape="1">
          <a:blip r:embed="rId5">
            <a:alphaModFix/>
          </a:blip>
          <a:srcRect b="0" l="25840" r="52341" t="0"/>
          <a:stretch/>
        </p:blipFill>
        <p:spPr>
          <a:xfrm>
            <a:off x="1020952" y="3843875"/>
            <a:ext cx="523025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 \ \frac{5}{5}\ \ \ \frac{5}{1000}\ \ \ \frac{5}{10}\ \ \ \frac{5}{12}\ \ \ \frac{5}{11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2&lt;/mn&gt;&lt;/mfrac&gt;&lt;mtext&gt;&lt;/mtext&gt;&lt;mtext&gt;&lt;/mtext&gt;&lt;mtext&gt;&lt;/mtext&gt;&lt;mfrac&gt;&lt;mn&gt;5&lt;/mn&gt;&lt;mn&gt;11&lt;/mn&gt;&lt;/mfrac&gt;&lt;/math&gt;" id="1829" name="Google Shape;1829;p99" title="five sixths five fifths 5 over 1000 five tenths 5 over 12 5 over 11"/>
          <p:cNvPicPr preferRelativeResize="0"/>
          <p:nvPr/>
        </p:nvPicPr>
        <p:blipFill rotWithShape="1">
          <a:blip r:embed="rId5">
            <a:alphaModFix/>
          </a:blip>
          <a:srcRect b="0" l="51670" r="34663" t="0"/>
          <a:stretch/>
        </p:blipFill>
        <p:spPr>
          <a:xfrm>
            <a:off x="4383349" y="3843875"/>
            <a:ext cx="327601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 \ \frac{5}{5}\ \ \ \frac{5}{1000}\ \ \ \frac{5}{10}\ \ \ \frac{5}{11}\ \ \ \frac{5}{9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1&lt;/mn&gt;&lt;/mfrac&gt;&lt;mtext&gt;&lt;/mtext&gt;&lt;mtext&gt;&lt;/mtext&gt;&lt;mtext&gt;&lt;/mtext&gt;&lt;mfrac&gt;&lt;mn&gt;5&lt;/mn&gt;&lt;mn&gt;9&lt;/mn&gt;&lt;/mfrac&gt;&lt;/math&gt;" id="1830" name="Google Shape;1830;p99" title="five sixths five fifths 5 over 1000 five tenths 5 over 11 five ninths"/>
          <p:cNvPicPr preferRelativeResize="0"/>
          <p:nvPr/>
        </p:nvPicPr>
        <p:blipFill rotWithShape="1">
          <a:blip r:embed="rId3">
            <a:alphaModFix/>
          </a:blip>
          <a:srcRect b="0" l="74350" r="11879" t="0"/>
          <a:stretch/>
        </p:blipFill>
        <p:spPr>
          <a:xfrm>
            <a:off x="3839522" y="3833400"/>
            <a:ext cx="327600" cy="44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 \ \frac{5}{5}\ \ \ \frac{5}{1000}\ \ \ \frac{5}{10}\ \ \ \frac{5}{11}\ \ \ \frac{5}{9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1&lt;/mn&gt;&lt;/mfrac&gt;&lt;mtext&gt;&lt;/mtext&gt;&lt;mtext&gt;&lt;/mtext&gt;&lt;mtext&gt;&lt;/mtext&gt;&lt;mfrac&gt;&lt;mn&gt;5&lt;/mn&gt;&lt;mn&gt;9&lt;/mn&gt;&lt;/mfrac&gt;&lt;/math&gt;" id="1831" name="Google Shape;1831;p99" title="five sixths five fifths 5 over 1000 five tenths 5 over 11 five ninths"/>
          <p:cNvPicPr preferRelativeResize="0"/>
          <p:nvPr/>
        </p:nvPicPr>
        <p:blipFill rotWithShape="1">
          <a:blip r:embed="rId3">
            <a:alphaModFix/>
          </a:blip>
          <a:srcRect b="0" l="91250" r="0" t="0"/>
          <a:stretch/>
        </p:blipFill>
        <p:spPr>
          <a:xfrm>
            <a:off x="5003602" y="3833400"/>
            <a:ext cx="208150" cy="4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837" name="Google Shape;1837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3) Fill in the blanks in the table.</a:t>
            </a:r>
            <a:endParaRPr sz="1600"/>
          </a:p>
        </p:txBody>
      </p:sp>
      <p:graphicFrame>
        <p:nvGraphicFramePr>
          <p:cNvPr id="1838" name="Google Shape;1838;p100"/>
          <p:cNvGraphicFramePr/>
          <p:nvPr/>
        </p:nvGraphicFramePr>
        <p:xfrm>
          <a:off x="324000" y="11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{BC762259-0100-42CC-A437-68BC8977BCE9}</a:tableStyleId>
              </a:tblPr>
              <a:tblGrid>
                <a:gridCol w="1031800"/>
                <a:gridCol w="1363450"/>
                <a:gridCol w="1398275"/>
                <a:gridCol w="1612400"/>
                <a:gridCol w="1457525"/>
                <a:gridCol w="1632550"/>
              </a:tblGrid>
              <a:tr h="83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as a fraction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as a decimal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as a percentage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 of likelihood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frequency in 600 trials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example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 chance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unlikely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75%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6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839" name="Google Shape;1839;p100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982" y="2122234"/>
            <a:ext cx="120145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840" name="Google Shape;1840;p100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6700" y="3502847"/>
            <a:ext cx="120150" cy="386122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00"/>
          <p:cNvSpPr txBox="1"/>
          <p:nvPr>
            <p:ph idx="1" type="body"/>
          </p:nvPr>
        </p:nvSpPr>
        <p:spPr>
          <a:xfrm>
            <a:off x="4218811" y="2627739"/>
            <a:ext cx="4857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25%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2" name="Google Shape;1842;p100"/>
          <p:cNvSpPr txBox="1"/>
          <p:nvPr>
            <p:ph idx="1" type="body"/>
          </p:nvPr>
        </p:nvSpPr>
        <p:spPr>
          <a:xfrm>
            <a:off x="7318577" y="2627739"/>
            <a:ext cx="4857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\ }\ \ \ \frac{3}{4}\ \ \ &quot;&gt;&lt;mfrac&gt;&lt;mn&gt;1&lt;/mn&gt;&lt;mrow&gt;&lt;mn&gt;4&lt;/mn&gt;&lt;mtext&gt;&lt;/mtext&gt;&lt;/mrow&gt;&lt;/mfrac&gt;&lt;mtext&gt;&lt;/mtext&gt;&lt;mtext&gt;&lt;/mtext&gt;&lt;mtext&gt;&lt;/mtext&gt;&lt;mfrac&gt;&lt;mn&gt;3&lt;/mn&gt;&lt;mn&gt;4&lt;/mn&gt;&lt;/mfrac&gt;&lt;mtext&gt;&lt;/mtext&gt;&lt;mtext&gt;&lt;/mtext&gt;&lt;mtext&gt;&lt;/mtext&gt;&lt;/math&gt;" id="1843" name="Google Shape;1843;p100" title="1 over 4 three fourths"/>
          <p:cNvPicPr preferRelativeResize="0"/>
          <p:nvPr/>
        </p:nvPicPr>
        <p:blipFill rotWithShape="1">
          <a:blip r:embed="rId5">
            <a:alphaModFix/>
          </a:blip>
          <a:srcRect b="0" l="0" r="51709" t="0"/>
          <a:stretch/>
        </p:blipFill>
        <p:spPr>
          <a:xfrm>
            <a:off x="1450253" y="2571761"/>
            <a:ext cx="234550" cy="40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\ }\ \ \ \frac{3}{4}\ \ \ &quot;&gt;&lt;mfrac&gt;&lt;mn&gt;1&lt;/mn&gt;&lt;mrow&gt;&lt;mn&gt;4&lt;/mn&gt;&lt;mtext&gt;&lt;/mtext&gt;&lt;/mrow&gt;&lt;/mfrac&gt;&lt;mtext&gt;&lt;/mtext&gt;&lt;mtext&gt;&lt;/mtext&gt;&lt;mtext&gt;&lt;/mtext&gt;&lt;mfrac&gt;&lt;mn&gt;3&lt;/mn&gt;&lt;mn&gt;4&lt;/mn&gt;&lt;/mfrac&gt;&lt;mtext&gt;&lt;/mtext&gt;&lt;mtext&gt;&lt;/mtext&gt;&lt;mtext&gt;&lt;/mtext&gt;&lt;/math&gt;" id="1844" name="Google Shape;1844;p100" title="1 over 4 three fourths"/>
          <p:cNvPicPr preferRelativeResize="0"/>
          <p:nvPr/>
        </p:nvPicPr>
        <p:blipFill rotWithShape="1">
          <a:blip r:embed="rId5">
            <a:alphaModFix/>
          </a:blip>
          <a:srcRect b="0" l="61612" r="0" t="0"/>
          <a:stretch/>
        </p:blipFill>
        <p:spPr>
          <a:xfrm>
            <a:off x="1415545" y="3028944"/>
            <a:ext cx="186450" cy="4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100"/>
          <p:cNvSpPr txBox="1"/>
          <p:nvPr>
            <p:ph idx="1" type="body"/>
          </p:nvPr>
        </p:nvSpPr>
        <p:spPr>
          <a:xfrm>
            <a:off x="2822784" y="3114100"/>
            <a:ext cx="6048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0.75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6" name="Google Shape;1846;p100"/>
          <p:cNvSpPr txBox="1"/>
          <p:nvPr>
            <p:ph idx="1" type="body"/>
          </p:nvPr>
        </p:nvSpPr>
        <p:spPr>
          <a:xfrm>
            <a:off x="5854161" y="3114100"/>
            <a:ext cx="11514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likely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7" name="Google Shape;1847;p100"/>
          <p:cNvSpPr txBox="1"/>
          <p:nvPr>
            <p:ph idx="1" type="body"/>
          </p:nvPr>
        </p:nvSpPr>
        <p:spPr>
          <a:xfrm>
            <a:off x="7320132" y="3114100"/>
            <a:ext cx="11514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450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8" name="Google Shape;1848;p100"/>
          <p:cNvSpPr txBox="1"/>
          <p:nvPr>
            <p:ph idx="1" type="body"/>
          </p:nvPr>
        </p:nvSpPr>
        <p:spPr>
          <a:xfrm>
            <a:off x="2822784" y="3571300"/>
            <a:ext cx="6048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9" name="Google Shape;1849;p100"/>
          <p:cNvSpPr txBox="1"/>
          <p:nvPr>
            <p:ph idx="1" type="body"/>
          </p:nvPr>
        </p:nvSpPr>
        <p:spPr>
          <a:xfrm>
            <a:off x="4198111" y="3571300"/>
            <a:ext cx="6048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40%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0" name="Google Shape;1850;p100"/>
          <p:cNvSpPr txBox="1"/>
          <p:nvPr>
            <p:ph idx="1" type="body"/>
          </p:nvPr>
        </p:nvSpPr>
        <p:spPr>
          <a:xfrm>
            <a:off x="5863890" y="3571300"/>
            <a:ext cx="7917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unlikely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1" name="Google Shape;1851;p100"/>
          <p:cNvSpPr txBox="1"/>
          <p:nvPr>
            <p:ph idx="1" type="body"/>
          </p:nvPr>
        </p:nvSpPr>
        <p:spPr>
          <a:xfrm>
            <a:off x="7290981" y="3571300"/>
            <a:ext cx="6048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2" name="Google Shape;1852;p100"/>
          <p:cNvSpPr txBox="1"/>
          <p:nvPr>
            <p:ph idx="1" type="body"/>
          </p:nvPr>
        </p:nvSpPr>
        <p:spPr>
          <a:xfrm>
            <a:off x="5863889" y="4028500"/>
            <a:ext cx="11514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impossible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3" name="Google Shape;1853;p100"/>
          <p:cNvSpPr txBox="1"/>
          <p:nvPr>
            <p:ph idx="1" type="body"/>
          </p:nvPr>
        </p:nvSpPr>
        <p:spPr>
          <a:xfrm>
            <a:off x="4207832" y="4028500"/>
            <a:ext cx="11514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0%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4" name="Google Shape;1854;p100"/>
          <p:cNvSpPr txBox="1"/>
          <p:nvPr>
            <p:ph idx="1" type="body"/>
          </p:nvPr>
        </p:nvSpPr>
        <p:spPr>
          <a:xfrm>
            <a:off x="2834059" y="4028500"/>
            <a:ext cx="6048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5" name="Google Shape;1855;p100"/>
          <p:cNvSpPr txBox="1"/>
          <p:nvPr>
            <p:ph idx="1" type="body"/>
          </p:nvPr>
        </p:nvSpPr>
        <p:spPr>
          <a:xfrm>
            <a:off x="1482168" y="4028500"/>
            <a:ext cx="6048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0" name="Google Shape;186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999" y="1398025"/>
            <a:ext cx="4233453" cy="7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 \ \ \ \frac{7}{10}&quot;&gt;&lt;mfrac&gt;&lt;mn&gt;3&lt;/mn&gt;&lt;mn&gt;10&lt;/mn&gt;&lt;/mfrac&gt;&lt;mtext&gt;&lt;/mtext&gt;&lt;mtext&gt;&lt;/mtext&gt;&lt;mtext&gt;&lt;/mtext&gt;&lt;mtext&gt;&lt;/mtext&gt;&lt;mfrac&gt;&lt;mn&gt;7&lt;/mn&gt;&lt;mn&gt;10&lt;/mn&gt;&lt;/mfrac&gt;&lt;/math&gt;" id="1861" name="Google Shape;1861;p101" title="three tenths seven tenths"/>
          <p:cNvPicPr preferRelativeResize="0"/>
          <p:nvPr/>
        </p:nvPicPr>
        <p:blipFill rotWithShape="1">
          <a:blip r:embed="rId4">
            <a:alphaModFix/>
          </a:blip>
          <a:srcRect b="0" l="59743" r="0" t="0"/>
          <a:stretch/>
        </p:blipFill>
        <p:spPr>
          <a:xfrm>
            <a:off x="595392" y="3771183"/>
            <a:ext cx="318825" cy="4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2" name="Google Shape;1862;p101"/>
          <p:cNvSpPr txBox="1"/>
          <p:nvPr/>
        </p:nvSpPr>
        <p:spPr>
          <a:xfrm>
            <a:off x="324000" y="759300"/>
            <a:ext cx="84849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 dropped cone could land in one of two ways: ‘base down’ or ‘curve down’.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01"/>
          <p:cNvSpPr txBox="1"/>
          <p:nvPr>
            <p:ph idx="1" type="body"/>
          </p:nvPr>
        </p:nvSpPr>
        <p:spPr>
          <a:xfrm>
            <a:off x="951475" y="161694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P(base down) =                                         P(curve down) = </a:t>
            </a:r>
            <a:endParaRPr sz="1600"/>
          </a:p>
        </p:txBody>
      </p:sp>
      <p:sp>
        <p:nvSpPr>
          <p:cNvPr id="1864" name="Google Shape;1864;p101"/>
          <p:cNvSpPr txBox="1"/>
          <p:nvPr>
            <p:ph idx="1" type="body"/>
          </p:nvPr>
        </p:nvSpPr>
        <p:spPr>
          <a:xfrm>
            <a:off x="552600" y="1064100"/>
            <a:ext cx="6523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 large experiment concluded the following </a:t>
            </a:r>
            <a:r>
              <a:rPr b="1" lang="en-GB" sz="1600"/>
              <a:t>probabilities</a:t>
            </a:r>
            <a:r>
              <a:rPr lang="en-GB" sz="1600"/>
              <a:t>:</a:t>
            </a:r>
            <a:endParaRPr sz="1600"/>
          </a:p>
        </p:txBody>
      </p:sp>
      <p:sp>
        <p:nvSpPr>
          <p:cNvPr id="1865" name="Google Shape;1865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866" name="Google Shape;1866;p101"/>
          <p:cNvSpPr txBox="1"/>
          <p:nvPr>
            <p:ph idx="1" type="body"/>
          </p:nvPr>
        </p:nvSpPr>
        <p:spPr>
          <a:xfrm>
            <a:off x="324000" y="2317023"/>
            <a:ext cx="8237700" cy="3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The cone is about to be dropped again. Which outcome is most likely to happen?</a:t>
            </a:r>
            <a:endParaRPr sz="1600"/>
          </a:p>
        </p:txBody>
      </p:sp>
      <p:sp>
        <p:nvSpPr>
          <p:cNvPr id="1867" name="Google Shape;1867;p101"/>
          <p:cNvSpPr txBox="1"/>
          <p:nvPr>
            <p:ph idx="1" type="body"/>
          </p:nvPr>
        </p:nvSpPr>
        <p:spPr>
          <a:xfrm>
            <a:off x="324000" y="3155226"/>
            <a:ext cx="8237700" cy="5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In an experiment with 100 trials, approximately how many times could you </a:t>
            </a:r>
            <a:br>
              <a:rPr lang="en-GB" sz="1600"/>
            </a:br>
            <a:r>
              <a:rPr lang="en-GB" sz="1600"/>
              <a:t>    expect the cone to land curve down?</a:t>
            </a:r>
            <a:endParaRPr sz="1600"/>
          </a:p>
        </p:txBody>
      </p:sp>
      <p:sp>
        <p:nvSpPr>
          <p:cNvPr id="1868" name="Google Shape;1868;p101"/>
          <p:cNvSpPr txBox="1"/>
          <p:nvPr>
            <p:ph idx="1" type="body"/>
          </p:nvPr>
        </p:nvSpPr>
        <p:spPr>
          <a:xfrm>
            <a:off x="585672" y="2627750"/>
            <a:ext cx="11979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curve down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9" name="Google Shape;1869;p101"/>
          <p:cNvSpPr txBox="1"/>
          <p:nvPr>
            <p:ph idx="1" type="body"/>
          </p:nvPr>
        </p:nvSpPr>
        <p:spPr>
          <a:xfrm>
            <a:off x="1042872" y="3846950"/>
            <a:ext cx="11979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f 100 = 70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0}\ \ \ \ \frac{7}{10}&quot;&gt;&lt;mfrac&gt;&lt;mn&gt;3&lt;/mn&gt;&lt;mn&gt;10&lt;/mn&gt;&lt;/mfrac&gt;&lt;mtext&gt;&lt;/mtext&gt;&lt;mtext&gt;&lt;/mtext&gt;&lt;mtext&gt;&lt;/mtext&gt;&lt;mtext&gt;&lt;/mtext&gt;&lt;mfrac&gt;&lt;mn&gt;7&lt;/mn&gt;&lt;mn&gt;10&lt;/mn&gt;&lt;/mfrac&gt;&lt;/math&gt;" id="1870" name="Google Shape;1870;p101" title="three tenths seven tenths"/>
          <p:cNvPicPr preferRelativeResize="0"/>
          <p:nvPr/>
        </p:nvPicPr>
        <p:blipFill rotWithShape="1">
          <a:blip r:embed="rId4">
            <a:alphaModFix/>
          </a:blip>
          <a:srcRect b="0" l="0" r="59743" t="0"/>
          <a:stretch/>
        </p:blipFill>
        <p:spPr>
          <a:xfrm>
            <a:off x="2568377" y="1551175"/>
            <a:ext cx="318825" cy="4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 \ \ \ \frac{7}{10}&quot;&gt;&lt;mfrac&gt;&lt;mn&gt;3&lt;/mn&gt;&lt;mn&gt;10&lt;/mn&gt;&lt;/mfrac&gt;&lt;mtext&gt;&lt;/mtext&gt;&lt;mtext&gt;&lt;/mtext&gt;&lt;mtext&gt;&lt;/mtext&gt;&lt;mtext&gt;&lt;/mtext&gt;&lt;mfrac&gt;&lt;mn&gt;7&lt;/mn&gt;&lt;mn&gt;10&lt;/mn&gt;&lt;/mfrac&gt;&lt;/math&gt;" id="1871" name="Google Shape;1871;p101" title="three tenths seven tenths"/>
          <p:cNvPicPr preferRelativeResize="0"/>
          <p:nvPr/>
        </p:nvPicPr>
        <p:blipFill rotWithShape="1">
          <a:blip r:embed="rId4">
            <a:alphaModFix/>
          </a:blip>
          <a:srcRect b="0" l="59743" r="0" t="0"/>
          <a:stretch/>
        </p:blipFill>
        <p:spPr>
          <a:xfrm>
            <a:off x="6394347" y="1551175"/>
            <a:ext cx="318825" cy="4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probabilities as fractions</a:t>
            </a:r>
            <a:endParaRPr/>
          </a:p>
        </p:txBody>
      </p:sp>
      <p:sp>
        <p:nvSpPr>
          <p:cNvPr id="1877" name="Google Shape;1877;p102"/>
          <p:cNvSpPr txBox="1"/>
          <p:nvPr/>
        </p:nvSpPr>
        <p:spPr>
          <a:xfrm>
            <a:off x="228600" y="685800"/>
            <a:ext cx="8667600" cy="14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Use the link to access a simulation of this experiment: </a:t>
            </a:r>
            <a:r>
              <a:rPr lang="en-GB" sz="1600" u="sng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Cone simulation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The box that says ‘count’ shows the number of trials completed.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Press the ‘run’ button to begin the simulation and let it run for 100 trials.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Are the results the same as what you predicted in part (b)?</a:t>
            </a:r>
            <a:endParaRPr/>
          </a:p>
        </p:txBody>
      </p:sp>
      <p:sp>
        <p:nvSpPr>
          <p:cNvPr id="1878" name="Google Shape;1878;p102"/>
          <p:cNvSpPr txBox="1"/>
          <p:nvPr/>
        </p:nvSpPr>
        <p:spPr>
          <a:xfrm>
            <a:off x="544275" y="2140625"/>
            <a:ext cx="77904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 answers: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‘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results were similar to my prediction but not the same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.’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‘There were 89 results for curve down, which is more than what I expected.’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‘The number of times it landed curve down was much more than the number of times it landed base down, which was what I expected. But the exact number of times it landed on each side differed to what I expected.’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9" name="Google Shape;1879;p102"/>
          <p:cNvSpPr txBox="1"/>
          <p:nvPr/>
        </p:nvSpPr>
        <p:spPr>
          <a:xfrm>
            <a:off x="534556" y="4531978"/>
            <a:ext cx="68553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may vary depending on results from the simulation.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03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/>
              <a:t>Probability</a:t>
            </a:r>
            <a:r>
              <a:rPr lang="en-GB"/>
              <a:t> is a measure of the likelihood of an outcome happening.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b="1" lang="en-GB"/>
              <a:t>Probabilities</a:t>
            </a:r>
            <a:r>
              <a:rPr lang="en-GB"/>
              <a:t> take numerical values between 0 and 1.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</a:t>
            </a:r>
            <a:r>
              <a:rPr b="1" lang="en-GB"/>
              <a:t>probability</a:t>
            </a:r>
            <a:r>
              <a:rPr lang="en-GB"/>
              <a:t> of 0 means that the outcome is impossible.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</a:t>
            </a:r>
            <a:r>
              <a:rPr b="1" lang="en-GB"/>
              <a:t>probability</a:t>
            </a:r>
            <a:r>
              <a:rPr lang="en-GB"/>
              <a:t> of 1 means that an outcome is certain.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/>
              <a:t>probability </a:t>
            </a:r>
            <a:r>
              <a:rPr lang="en-GB"/>
              <a:t>that an event will occur is the proportion of times the event is expected to happen in a suitably large experiment.</a:t>
            </a:r>
            <a:endParaRPr/>
          </a:p>
        </p:txBody>
      </p:sp>
      <p:sp>
        <p:nvSpPr>
          <p:cNvPr id="1885" name="Google Shape;1885;p10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probability scale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91" name="Google Shape;1891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