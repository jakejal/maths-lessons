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6D46E07-CF24-4562-98F5-D13745A9724B}">
  <a:tblStyle styleId="{16D46E07-CF24-4562-98F5-D13745A972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7" name="Shape 267"/>
        <p:cNvGrpSpPr/>
        <p:nvPr/>
      </p:nvGrpSpPr>
      <p:grpSpPr>
        <a:xfrm>
          <a:off x="0" y="0"/>
          <a:ext cx="0" cy="0"/>
        </a:xfrm>
      </p:grpSpPr>
      <p:sp>
        <p:nvSpPr>
          <p:cNvPr id="268" name="Google Shape;268;g2b9734ea9ec_1_16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b9734ea9ec_1_1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06" name="Shape 306"/>
        <p:cNvGrpSpPr/>
        <p:nvPr/>
      </p:nvGrpSpPr>
      <p:grpSpPr>
        <a:xfrm>
          <a:off x="0" y="0"/>
          <a:ext cx="0" cy="0"/>
        </a:xfrm>
      </p:grpSpPr>
      <p:sp>
        <p:nvSpPr>
          <p:cNvPr id="307" name="Google Shape;30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image" Target="../media/image8.png" /><Relationship Id="rId6" Type="http://schemas.openxmlformats.org/officeDocument/2006/relationships/image" Target="../media/image9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hyperlink" Target="https://www.desmos.com/calculator/lu4glebgap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probability scale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7433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6400" y="1903275"/>
            <a:ext cx="6504300" cy="23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below in the correct order on the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probability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399" y="1335050"/>
            <a:ext cx="6325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Expressing probabilities: percentages and decimals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339321" y="3126426"/>
            <a:ext cx="7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3126426"/>
            <a:ext cx="124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998291" y="2980342"/>
            <a:ext cx="5675171" cy="230053"/>
            <a:chOff x="992233" y="3276625"/>
            <a:chExt cx="7187400" cy="658800"/>
          </a:xfrm>
        </p:grpSpPr>
        <p:cxnSp>
          <p:nvCxnSpPr>
            <p:cNvPr id="167" name="Google Shape;167;p20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" name="Google Shape;168;p20"/>
            <p:cNvCxnSpPr/>
            <p:nvPr/>
          </p:nvCxnSpPr>
          <p:spPr>
            <a:xfrm flipH="1">
              <a:off x="992256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20"/>
            <p:cNvCxnSpPr/>
            <p:nvPr/>
          </p:nvCxnSpPr>
          <p:spPr>
            <a:xfrm flipH="1">
              <a:off x="8168274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20"/>
            <p:cNvCxnSpPr/>
            <p:nvPr/>
          </p:nvCxnSpPr>
          <p:spPr>
            <a:xfrm flipH="1">
              <a:off x="4580265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1" name="Google Shape;171;p20"/>
          <p:cNvSpPr txBox="1"/>
          <p:nvPr/>
        </p:nvSpPr>
        <p:spPr>
          <a:xfrm>
            <a:off x="3260495" y="3126426"/>
            <a:ext cx="113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3869738" y="3175440"/>
            <a:ext cx="2768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3" name="Google Shape;173;p20"/>
          <p:cNvSpPr txBox="1"/>
          <p:nvPr/>
        </p:nvSpPr>
        <p:spPr>
          <a:xfrm>
            <a:off x="2036757" y="3109467"/>
            <a:ext cx="95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001075" y="3115203"/>
            <a:ext cx="61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1024730" y="3175440"/>
            <a:ext cx="2768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6" name="Google Shape;176;p20"/>
          <p:cNvSpPr txBox="1"/>
          <p:nvPr/>
        </p:nvSpPr>
        <p:spPr>
          <a:xfrm>
            <a:off x="2381746" y="2250965"/>
            <a:ext cx="29055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0%, 100%, 20%, 75%, 50%, 45%, 55%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99488" y="3843154"/>
            <a:ext cx="6504300" cy="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below in the correct order on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286209" y="5066306"/>
            <a:ext cx="7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23288" y="5066306"/>
            <a:ext cx="124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998291" y="4920221"/>
            <a:ext cx="5675171" cy="230053"/>
            <a:chOff x="992233" y="3276625"/>
            <a:chExt cx="7187400" cy="658800"/>
          </a:xfrm>
        </p:grpSpPr>
        <p:cxnSp>
          <p:nvCxnSpPr>
            <p:cNvPr id="181" name="Google Shape;181;p20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0"/>
            <p:cNvCxnSpPr/>
            <p:nvPr/>
          </p:nvCxnSpPr>
          <p:spPr>
            <a:xfrm flipH="1">
              <a:off x="992256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20"/>
            <p:cNvCxnSpPr/>
            <p:nvPr/>
          </p:nvCxnSpPr>
          <p:spPr>
            <a:xfrm flipH="1">
              <a:off x="8168274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20"/>
            <p:cNvCxnSpPr/>
            <p:nvPr/>
          </p:nvCxnSpPr>
          <p:spPr>
            <a:xfrm flipH="1">
              <a:off x="4580265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5" name="Google Shape;185;p20"/>
          <p:cNvSpPr txBox="1"/>
          <p:nvPr/>
        </p:nvSpPr>
        <p:spPr>
          <a:xfrm>
            <a:off x="3207382" y="5066306"/>
            <a:ext cx="113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3869738" y="5115320"/>
            <a:ext cx="2768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7" name="Google Shape;187;p20"/>
          <p:cNvSpPr txBox="1"/>
          <p:nvPr/>
        </p:nvSpPr>
        <p:spPr>
          <a:xfrm>
            <a:off x="1983645" y="5049347"/>
            <a:ext cx="95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947962" y="5055083"/>
            <a:ext cx="61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1024730" y="5115320"/>
            <a:ext cx="2768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2782944" y="4190854"/>
            <a:ext cx="20985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1, 0, 0.5, 0.1, 0.35, 0.95, 0.6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76400" y="60171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each question you are given a spinner and a choice of four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 each question, tick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 the spinner would land on ‘win’.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783831" y="6668637"/>
            <a:ext cx="1006200" cy="1006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3" name="Google Shape;193;p20"/>
          <p:cNvSpPr/>
          <p:nvPr/>
        </p:nvSpPr>
        <p:spPr>
          <a:xfrm flipH="1">
            <a:off x="792589" y="6677396"/>
            <a:ext cx="988800" cy="988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792589" y="6677396"/>
            <a:ext cx="988800" cy="988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32942" y="7008625"/>
            <a:ext cx="4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336822" y="7014730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>
            <a:off x="1258197" y="6800805"/>
            <a:ext cx="55711" cy="407560"/>
            <a:chOff x="996050" y="213293"/>
            <a:chExt cx="93900" cy="909732"/>
          </a:xfrm>
        </p:grpSpPr>
        <p:cxnSp>
          <p:nvCxnSpPr>
            <p:cNvPr id="198" name="Google Shape;198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9" name="Google Shape;199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00" name="Google Shape;200;p20"/>
          <p:cNvSpPr/>
          <p:nvPr/>
        </p:nvSpPr>
        <p:spPr>
          <a:xfrm>
            <a:off x="5365078" y="6668637"/>
            <a:ext cx="1006200" cy="1006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 flipH="1">
            <a:off x="5373836" y="6677396"/>
            <a:ext cx="988800" cy="988800"/>
          </a:xfrm>
          <a:prstGeom prst="pie">
            <a:avLst>
              <a:gd name="adj1" fmla="val 5387953"/>
              <a:gd name="adj2" fmla="val 3285471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373836" y="6677396"/>
            <a:ext cx="988800" cy="988800"/>
          </a:xfrm>
          <a:prstGeom prst="pie">
            <a:avLst>
              <a:gd name="adj1" fmla="val 5387953"/>
              <a:gd name="adj2" fmla="val 7453728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531659" y="7366118"/>
            <a:ext cx="4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856796" y="6953457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>
            <a:off x="5839444" y="6800805"/>
            <a:ext cx="55711" cy="407560"/>
            <a:chOff x="996050" y="213293"/>
            <a:chExt cx="93900" cy="909732"/>
          </a:xfrm>
        </p:grpSpPr>
        <p:cxnSp>
          <p:nvCxnSpPr>
            <p:cNvPr id="206" name="Google Shape;206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7" name="Google Shape;207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08" name="Google Shape;208;p20"/>
          <p:cNvSpPr/>
          <p:nvPr/>
        </p:nvSpPr>
        <p:spPr>
          <a:xfrm>
            <a:off x="5350848" y="8200462"/>
            <a:ext cx="1006200" cy="1006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9" name="Google Shape;209;p20"/>
          <p:cNvSpPr/>
          <p:nvPr/>
        </p:nvSpPr>
        <p:spPr>
          <a:xfrm flipH="1">
            <a:off x="5359606" y="8209220"/>
            <a:ext cx="988800" cy="988800"/>
          </a:xfrm>
          <a:prstGeom prst="pie">
            <a:avLst>
              <a:gd name="adj1" fmla="val 5387953"/>
              <a:gd name="adj2" fmla="val 18353387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359606" y="8209220"/>
            <a:ext cx="988800" cy="988800"/>
          </a:xfrm>
          <a:prstGeom prst="pie">
            <a:avLst>
              <a:gd name="adj1" fmla="val 5387953"/>
              <a:gd name="adj2" fmla="val 14865160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399952" y="8540449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903839" y="8546555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>
            <a:off x="5825214" y="8332629"/>
            <a:ext cx="55711" cy="407560"/>
            <a:chOff x="996050" y="213293"/>
            <a:chExt cx="93900" cy="909732"/>
          </a:xfrm>
        </p:grpSpPr>
        <p:cxnSp>
          <p:nvCxnSpPr>
            <p:cNvPr id="214" name="Google Shape;21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5" name="Google Shape;21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16" name="Google Shape;216;p20"/>
          <p:cNvSpPr/>
          <p:nvPr/>
        </p:nvSpPr>
        <p:spPr>
          <a:xfrm>
            <a:off x="3069516" y="8200462"/>
            <a:ext cx="1006200" cy="1006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7" name="Google Shape;217;p20"/>
          <p:cNvSpPr/>
          <p:nvPr/>
        </p:nvSpPr>
        <p:spPr>
          <a:xfrm flipH="1">
            <a:off x="3078274" y="8209220"/>
            <a:ext cx="988800" cy="988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3078274" y="8209220"/>
            <a:ext cx="988800" cy="988800"/>
          </a:xfrm>
          <a:prstGeom prst="pie">
            <a:avLst>
              <a:gd name="adj1" fmla="val 5387953"/>
              <a:gd name="adj2" fmla="val 3875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3118617" y="8479176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3561234" y="8730374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" name="Google Shape;221;p20"/>
          <p:cNvGrpSpPr/>
          <p:nvPr/>
        </p:nvGrpSpPr>
        <p:grpSpPr>
          <a:xfrm>
            <a:off x="3543882" y="8332629"/>
            <a:ext cx="55711" cy="407560"/>
            <a:chOff x="996050" y="213293"/>
            <a:chExt cx="93900" cy="909732"/>
          </a:xfrm>
        </p:grpSpPr>
        <p:cxnSp>
          <p:nvCxnSpPr>
            <p:cNvPr id="222" name="Google Shape;22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3" name="Google Shape;22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4" name="Google Shape;224;p20"/>
          <p:cNvSpPr/>
          <p:nvPr/>
        </p:nvSpPr>
        <p:spPr>
          <a:xfrm>
            <a:off x="788184" y="8200462"/>
            <a:ext cx="1006200" cy="1006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0"/>
          <p:cNvSpPr/>
          <p:nvPr/>
        </p:nvSpPr>
        <p:spPr>
          <a:xfrm flipH="1">
            <a:off x="796942" y="8209220"/>
            <a:ext cx="988800" cy="988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796942" y="8209220"/>
            <a:ext cx="988800" cy="988800"/>
          </a:xfrm>
          <a:prstGeom prst="pie">
            <a:avLst>
              <a:gd name="adj1" fmla="val 5387953"/>
              <a:gd name="adj2" fmla="val 16618598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837282" y="8540449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1341175" y="8546555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9" name="Google Shape;229;p20"/>
          <p:cNvGrpSpPr/>
          <p:nvPr/>
        </p:nvGrpSpPr>
        <p:grpSpPr>
          <a:xfrm>
            <a:off x="1262550" y="8332629"/>
            <a:ext cx="55711" cy="407560"/>
            <a:chOff x="996050" y="213293"/>
            <a:chExt cx="93900" cy="909732"/>
          </a:xfrm>
        </p:grpSpPr>
        <p:cxnSp>
          <p:nvCxnSpPr>
            <p:cNvPr id="230" name="Google Shape;230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1" name="Google Shape;231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32" name="Google Shape;232;p20"/>
          <p:cNvSpPr/>
          <p:nvPr/>
        </p:nvSpPr>
        <p:spPr>
          <a:xfrm>
            <a:off x="3041056" y="6668637"/>
            <a:ext cx="1006200" cy="1006200"/>
          </a:xfrm>
          <a:prstGeom prst="ellipse">
            <a:avLst/>
          </a:prstGeom>
          <a:solidFill>
            <a:srgbClr val="9E9E9E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3335266" y="7192444"/>
            <a:ext cx="4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4" name="Google Shape;234;p20"/>
          <p:cNvGrpSpPr/>
          <p:nvPr/>
        </p:nvGrpSpPr>
        <p:grpSpPr>
          <a:xfrm>
            <a:off x="3515422" y="6800805"/>
            <a:ext cx="55711" cy="407560"/>
            <a:chOff x="996050" y="213293"/>
            <a:chExt cx="93900" cy="909732"/>
          </a:xfrm>
        </p:grpSpPr>
        <p:cxnSp>
          <p:nvCxnSpPr>
            <p:cNvPr id="235" name="Google Shape;235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6" name="Google Shape;236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37" name="Google Shape;237;p20"/>
          <p:cNvSpPr txBox="1"/>
          <p:nvPr/>
        </p:nvSpPr>
        <p:spPr>
          <a:xfrm>
            <a:off x="588025" y="6614572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5183502" y="6614572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2885764" y="6614572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588025" y="8146396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5183502" y="8146396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2885764" y="8146396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1936027" y="6621620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1936027" y="6914339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1936027" y="7207057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1936027" y="7499776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4203129" y="6621620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4203129" y="6914339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4203143" y="7499773"/>
            <a:ext cx="533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531504" y="6621620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531504" y="6914339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6531504" y="7207057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531504" y="7499776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6470231" y="8214718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6470231" y="8507436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6470231" y="8800155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6470231" y="9092873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874754" y="8214718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1874754" y="8507436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1874754" y="8800155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1874754" y="9092873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95%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203129" y="8214718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4203129" y="8507436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4203129" y="8800155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4203129" y="9092873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98%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6" name="Google Shape;2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899" y="7193409"/>
            <a:ext cx="190091" cy="201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0" name="Shape 270"/>
        <p:cNvGrpSpPr/>
        <p:nvPr/>
      </p:nvGrpSpPr>
      <p:grpSpPr>
        <a:xfrm>
          <a:off x="0" y="0"/>
          <a:ext cx="0" cy="0"/>
        </a:xfrm>
      </p:grpSpPr>
      <p:sp>
        <p:nvSpPr>
          <p:cNvPr id="271" name="Google Shape;27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probability scale</a:t>
            </a:r>
            <a:endParaRPr/>
          </a:p>
        </p:txBody>
      </p:sp>
      <p:pic>
        <p:nvPicPr>
          <p:cNvPr id="272" name="Google Shape;272;p21" descr="&lt;math xmlns=&quot;http://www.w3.org/1998/Math/MathML&quot; display=&quot;block&quot; data-is-equatio=&quot;1&quot; data-latex=&quot;\frac{5}{6}\ \ \ \frac{5}{5}\ \ \ \frac{5}{1000}\ \ \ \frac{5}{10}\ \ \ \frac{5}{11}\ \ \ \frac{5}{9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1&lt;/mn&gt;&lt;/mfrac&gt;&lt;mtext&gt;&lt;/mtext&gt;&lt;mtext&gt;&lt;/mtext&gt;&lt;mtext&gt;&lt;/mtext&gt;&lt;mfrac&gt;&lt;mn&gt;5&lt;/mn&gt;&lt;mn&gt;9&lt;/mn&gt;&lt;/mfrac&gt;&lt;/math&gt;" title="five sixths five fifths 5 over 1000 five tenths 5 over 11 fiv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275" y="3950301"/>
            <a:ext cx="1879876" cy="35298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476398" y="725450"/>
            <a:ext cx="63300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Expressing probabilities as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476400" y="1294113"/>
            <a:ext cx="6509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below in the correct order on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6343845" y="2883221"/>
            <a:ext cx="74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76400" y="2883221"/>
            <a:ext cx="125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7" name="Google Shape;277;p21"/>
          <p:cNvGrpSpPr/>
          <p:nvPr/>
        </p:nvGrpSpPr>
        <p:grpSpPr>
          <a:xfrm>
            <a:off x="998685" y="2737124"/>
            <a:ext cx="5679483" cy="230251"/>
            <a:chOff x="992233" y="3276625"/>
            <a:chExt cx="7187400" cy="658800"/>
          </a:xfrm>
        </p:grpSpPr>
        <p:cxnSp>
          <p:nvCxnSpPr>
            <p:cNvPr id="278" name="Google Shape;278;p21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21"/>
            <p:cNvCxnSpPr/>
            <p:nvPr/>
          </p:nvCxnSpPr>
          <p:spPr>
            <a:xfrm flipH="1">
              <a:off x="992256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21"/>
            <p:cNvCxnSpPr/>
            <p:nvPr/>
          </p:nvCxnSpPr>
          <p:spPr>
            <a:xfrm flipH="1">
              <a:off x="8168274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21"/>
            <p:cNvCxnSpPr/>
            <p:nvPr/>
          </p:nvCxnSpPr>
          <p:spPr>
            <a:xfrm flipH="1">
              <a:off x="4580265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2" name="Google Shape;282;p21"/>
          <p:cNvSpPr txBox="1"/>
          <p:nvPr/>
        </p:nvSpPr>
        <p:spPr>
          <a:xfrm>
            <a:off x="3262643" y="2883221"/>
            <a:ext cx="113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21"/>
          <p:cNvCxnSpPr/>
          <p:nvPr/>
        </p:nvCxnSpPr>
        <p:spPr>
          <a:xfrm>
            <a:off x="3872356" y="2932273"/>
            <a:ext cx="2771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4" name="Google Shape;284;p21"/>
          <p:cNvSpPr txBox="1"/>
          <p:nvPr/>
        </p:nvSpPr>
        <p:spPr>
          <a:xfrm>
            <a:off x="2037961" y="2866249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004566" y="2871990"/>
            <a:ext cx="62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6" name="Google Shape;286;p21"/>
          <p:cNvCxnSpPr/>
          <p:nvPr/>
        </p:nvCxnSpPr>
        <p:spPr>
          <a:xfrm>
            <a:off x="1025153" y="2932273"/>
            <a:ext cx="2771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7" name="Google Shape;287;p21"/>
          <p:cNvSpPr txBox="1"/>
          <p:nvPr/>
        </p:nvSpPr>
        <p:spPr>
          <a:xfrm>
            <a:off x="476400" y="3692513"/>
            <a:ext cx="65094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below in the correct order on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6343845" y="5297608"/>
            <a:ext cx="74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76400" y="5297608"/>
            <a:ext cx="125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0" name="Google Shape;290;p21"/>
          <p:cNvGrpSpPr/>
          <p:nvPr/>
        </p:nvGrpSpPr>
        <p:grpSpPr>
          <a:xfrm>
            <a:off x="998685" y="5151511"/>
            <a:ext cx="5679483" cy="230251"/>
            <a:chOff x="992233" y="3276625"/>
            <a:chExt cx="7187400" cy="658800"/>
          </a:xfrm>
        </p:grpSpPr>
        <p:cxnSp>
          <p:nvCxnSpPr>
            <p:cNvPr id="291" name="Google Shape;291;p21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2" name="Google Shape;292;p21"/>
            <p:cNvCxnSpPr/>
            <p:nvPr/>
          </p:nvCxnSpPr>
          <p:spPr>
            <a:xfrm flipH="1">
              <a:off x="992256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Google Shape;293;p21"/>
            <p:cNvCxnSpPr/>
            <p:nvPr/>
          </p:nvCxnSpPr>
          <p:spPr>
            <a:xfrm flipH="1">
              <a:off x="8168274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4" name="Google Shape;294;p21"/>
            <p:cNvCxnSpPr/>
            <p:nvPr/>
          </p:nvCxnSpPr>
          <p:spPr>
            <a:xfrm flipH="1">
              <a:off x="4580265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5" name="Google Shape;295;p21"/>
          <p:cNvSpPr txBox="1"/>
          <p:nvPr/>
        </p:nvSpPr>
        <p:spPr>
          <a:xfrm>
            <a:off x="3262643" y="5297608"/>
            <a:ext cx="113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1"/>
          <p:cNvCxnSpPr/>
          <p:nvPr/>
        </p:nvCxnSpPr>
        <p:spPr>
          <a:xfrm>
            <a:off x="3872356" y="5346660"/>
            <a:ext cx="2771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7" name="Google Shape;297;p21"/>
          <p:cNvSpPr txBox="1"/>
          <p:nvPr/>
        </p:nvSpPr>
        <p:spPr>
          <a:xfrm>
            <a:off x="2037961" y="5280636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004566" y="5286377"/>
            <a:ext cx="62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9" name="Google Shape;299;p21"/>
          <p:cNvCxnSpPr/>
          <p:nvPr/>
        </p:nvCxnSpPr>
        <p:spPr>
          <a:xfrm>
            <a:off x="1025153" y="5346660"/>
            <a:ext cx="2771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300" name="Google Shape;300;p21"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title="20 over 20 1 over 20 5 over 20 18 over 20 11 over 20 9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506" y="1555161"/>
            <a:ext cx="1767507" cy="35298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1"/>
          <p:cNvSpPr txBox="1"/>
          <p:nvPr/>
        </p:nvSpPr>
        <p:spPr>
          <a:xfrm>
            <a:off x="476400" y="6169500"/>
            <a:ext cx="5371800" cy="1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blanks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2" name="Google Shape;302;p21"/>
          <p:cNvGraphicFramePr>
            <a:graphicFrameLocks noGrp="1"/>
          </p:cNvGraphicFramePr>
          <p:nvPr/>
        </p:nvGraphicFramePr>
        <p:xfrm>
          <a:off x="476400" y="657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{16D46E07-CF24-4562-98F5-D13745A9724B}</a:tableStyleId>
              </a:tblPr>
              <a:tblGrid>
                <a:gridCol w="886325"/>
                <a:gridCol w="1078900"/>
                <a:gridCol w="1071575"/>
                <a:gridCol w="1206825"/>
                <a:gridCol w="1225575"/>
                <a:gridCol w="1146475"/>
              </a:tblGrid>
              <a:tr h="911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as a fraction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as a decimal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as a percentage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 of likelihood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frequency in 600 trials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45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example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 chance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unlikely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03" name="Google Shape;303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3818" y="7580975"/>
            <a:ext cx="87852" cy="27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8731" y="8971557"/>
            <a:ext cx="87856" cy="28235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/>
          <p:nvPr/>
        </p:nvSpPr>
        <p:spPr>
          <a:xfrm>
            <a:off x="6003471" y="8067640"/>
            <a:ext cx="3945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09" name="Shape 309"/>
        <p:cNvGrpSpPr/>
        <p:nvPr/>
      </p:nvGrpSpPr>
      <p:grpSpPr>
        <a:xfrm>
          <a:off x="0" y="0"/>
          <a:ext cx="0" cy="0"/>
        </a:xfrm>
      </p:grpSpPr>
      <p:sp>
        <p:nvSpPr>
          <p:cNvPr id="310" name="Google Shape;310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11" name="Google Shape;311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probability scale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476400" y="759300"/>
            <a:ext cx="63318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 dropped cone could land in one of two ways: ‘base down’ or ‘curve down’.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944651" y="1399309"/>
            <a:ext cx="6147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P(base down) =                                         P(curve down)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646992" y="986755"/>
            <a:ext cx="4867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large experiment concluded the following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552600" y="1921742"/>
            <a:ext cx="61473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cone is about to be dropped again. Which outcome is most likely to happen?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8" name="Google Shape;3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93" y="1235942"/>
            <a:ext cx="288480" cy="5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8402" y="1323102"/>
            <a:ext cx="646181" cy="35209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 txBox="1"/>
          <p:nvPr/>
        </p:nvSpPr>
        <p:spPr>
          <a:xfrm>
            <a:off x="552600" y="2852046"/>
            <a:ext cx="61473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In an experiment with 100 trials, approximately how many times could you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expect the cone to land curve down?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1" name="Google Shape;321;p22" descr="&lt;math xmlns=&quot;http://www.w3.org/1998/Math/MathML&quot; display=&quot;block&quot; data-is-equatio=&quot;1&quot; data-latex=&quot;\frac{3}{10}\ \ \ \ \frac{7}{10}&quot;&gt;&lt;mfrac&gt;&lt;mn&gt;3&lt;/mn&gt;&lt;mn&gt;10&lt;/mn&gt;&lt;/mfrac&gt;&lt;mtext&gt;&lt;/mtext&gt;&lt;mtext&gt;&lt;/mtext&gt;&lt;mtext&gt;&lt;/mtext&gt;&lt;mtext&gt;&lt;/mtext&gt;&lt;mfrac&gt;&lt;mn&gt;7&lt;/mn&gt;&lt;mn&gt;10&lt;/mn&gt;&lt;/mfrac&gt;&lt;/math&gt;" title="three tenths seven tenths"/>
          <p:cNvPicPr preferRelativeResize="0"/>
          <p:nvPr/>
        </p:nvPicPr>
        <p:blipFill>
          <a:blip r:embed="rId5">
            <a:alphaModFix/>
          </a:blip>
          <a:srcRect r="59743"/>
          <a:stretch>
            <a:fillRect/>
          </a:stretch>
        </p:blipFill>
        <p:spPr>
          <a:xfrm>
            <a:off x="2151257" y="1350232"/>
            <a:ext cx="237922" cy="35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2" descr="&lt;math xmlns=&quot;http://www.w3.org/1998/Math/MathML&quot; display=&quot;block&quot; data-is-equatio=&quot;1&quot; data-latex=&quot;\frac{3}{10}\ \ \ \ \frac{7}{10}&quot;&gt;&lt;mfrac&gt;&lt;mn&gt;3&lt;/mn&gt;&lt;mn&gt;10&lt;/mn&gt;&lt;/mfrac&gt;&lt;mtext&gt;&lt;/mtext&gt;&lt;mtext&gt;&lt;/mtext&gt;&lt;mtext&gt;&lt;/mtext&gt;&lt;mtext&gt;&lt;/mtext&gt;&lt;mfrac&gt;&lt;mn&gt;7&lt;/mn&gt;&lt;mn&gt;10&lt;/mn&gt;&lt;/mfrac&gt;&lt;/math&gt;" title="three tenths seven tenths"/>
          <p:cNvPicPr preferRelativeResize="0"/>
          <p:nvPr/>
        </p:nvPicPr>
        <p:blipFill>
          <a:blip r:embed="rId5">
            <a:alphaModFix/>
          </a:blip>
          <a:srcRect l="59743"/>
          <a:stretch>
            <a:fillRect/>
          </a:stretch>
        </p:blipFill>
        <p:spPr>
          <a:xfrm>
            <a:off x="5006372" y="1350232"/>
            <a:ext cx="237922" cy="35209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2"/>
          <p:cNvSpPr txBox="1"/>
          <p:nvPr/>
        </p:nvSpPr>
        <p:spPr>
          <a:xfrm>
            <a:off x="457200" y="4114800"/>
            <a:ext cx="6634800" cy="11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Use the link to access a simulation of this experiment: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Cone simulation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box that says ‘count’ shows the number of trials completed.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Press the ‘run’ button to begin the simulation and let it run for 100 trials.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Are the results the same as what you predicted in part (b)?</a:t>
            </a:r>
            <a:endParaRPr sz="1200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The probability scale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2024-03-05T12:30:49.909</cp:lastPrinted>
  <dcterms:created xsi:type="dcterms:W3CDTF">2024-03-05T12:30:49Z</dcterms:created>
  <dcterms:modified xsi:type="dcterms:W3CDTF">2024-03-05T12:28:18Z</dcterms:modified>
</cp:coreProperties>
</file>