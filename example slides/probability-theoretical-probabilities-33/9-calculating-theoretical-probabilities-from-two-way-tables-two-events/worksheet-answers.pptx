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sp>
        <p:nvSpPr>
          <p:cNvPr id="309" name="Google Shape;30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Relationship Id="rId4" Type="http://schemas.openxmlformats.org/officeDocument/2006/relationships/image" Target="../media/image15.png" /><Relationship Id="rId5" Type="http://schemas.openxmlformats.org/officeDocument/2006/relationships/image" Target="../media/image16.png" /><Relationship Id="rId6" Type="http://schemas.openxmlformats.org/officeDocument/2006/relationships/image" Target="../media/image17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two-way tables (two events)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2" y="1563650"/>
            <a:ext cx="59364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Theoretical probabilities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2096188"/>
            <a:ext cx="40332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spinner is going to be spun once.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Fill in the outcome table for the two events: less than 12 and prime.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 flipH="1">
            <a:off x="1333720" y="3084247"/>
            <a:ext cx="0" cy="1671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20"/>
          <p:cNvCxnSpPr/>
          <p:nvPr/>
        </p:nvCxnSpPr>
        <p:spPr>
          <a:xfrm flipH="1">
            <a:off x="2106740" y="3084247"/>
            <a:ext cx="0" cy="1671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0"/>
          <p:cNvCxnSpPr/>
          <p:nvPr/>
        </p:nvCxnSpPr>
        <p:spPr>
          <a:xfrm rot="10800000">
            <a:off x="678039" y="3602466"/>
            <a:ext cx="218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0"/>
          <p:cNvCxnSpPr/>
          <p:nvPr/>
        </p:nvCxnSpPr>
        <p:spPr>
          <a:xfrm rot="10800000">
            <a:off x="678039" y="4184876"/>
            <a:ext cx="218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0"/>
          <p:cNvCxnSpPr/>
          <p:nvPr/>
        </p:nvCxnSpPr>
        <p:spPr>
          <a:xfrm rot="10800000">
            <a:off x="678039" y="4759911"/>
            <a:ext cx="218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20"/>
          <p:cNvSpPr txBox="1"/>
          <p:nvPr/>
        </p:nvSpPr>
        <p:spPr>
          <a:xfrm>
            <a:off x="1387703" y="3141976"/>
            <a:ext cx="66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less than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158442" y="3141976"/>
            <a:ext cx="66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less than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757097" y="3791103"/>
            <a:ext cx="76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730553" y="4236254"/>
            <a:ext cx="60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426071" y="3652930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 flipH="1">
            <a:off x="2859939" y="3084247"/>
            <a:ext cx="0" cy="1671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6" name="Google Shape;186;p20"/>
          <p:cNvGrpSpPr/>
          <p:nvPr/>
        </p:nvGrpSpPr>
        <p:grpSpPr>
          <a:xfrm>
            <a:off x="5447961" y="1823491"/>
            <a:ext cx="1390678" cy="1432617"/>
            <a:chOff x="2689958" y="1388753"/>
            <a:chExt cx="2541444" cy="2539200"/>
          </a:xfrm>
        </p:grpSpPr>
        <p:sp>
          <p:nvSpPr>
            <p:cNvPr id="187" name="Google Shape;187;p20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C63D0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037B7D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374CF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D02AA7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C63D0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037B7D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374CF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D02AA7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7" name="Google Shape;197;p20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198" name="Google Shape;198;p20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99" name="Google Shape;199;p2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00" name="Google Shape;200;p20"/>
            <p:cNvSpPr txBox="1"/>
            <p:nvPr/>
          </p:nvSpPr>
          <p:spPr>
            <a:xfrm>
              <a:off x="3673554" y="1864275"/>
              <a:ext cx="188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4097554" y="1878950"/>
              <a:ext cx="188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4491229" y="2110575"/>
              <a:ext cx="188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4582099" y="2535375"/>
              <a:ext cx="2244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4376281" y="2900175"/>
              <a:ext cx="326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4031532" y="3165552"/>
              <a:ext cx="2895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3581507" y="3186150"/>
              <a:ext cx="326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3233219" y="2911480"/>
              <a:ext cx="3390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3140734" y="2503997"/>
              <a:ext cx="461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3328508" y="2110575"/>
              <a:ext cx="2739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" name="Google Shape;210;p20"/>
          <p:cNvSpPr txBox="1"/>
          <p:nvPr/>
        </p:nvSpPr>
        <p:spPr>
          <a:xfrm>
            <a:off x="3034263" y="3187220"/>
            <a:ext cx="3729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P(less than 12 and prime)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034263" y="3959884"/>
            <a:ext cx="3729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P(not prime and not less than 12)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034263" y="4715299"/>
            <a:ext cx="3729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P(prime and not less than 12)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426071" y="4264185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627433" y="3652930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828804" y="3652930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1676125" y="4264185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570416" y="4463188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1519431" y="3918903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2243681" y="3652912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215173" y="4234955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2477695" y="4418514"/>
            <a:ext cx="25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2" name="Google Shape;222;p20" descr="&lt;math xmlns=&quot;http://www.w3.org/1998/Math/MathML&quot; display=&quot;block&quot; data-is-equatio=&quot;1&quot; data-latex=&quot;\frac{4}{10}&quot;&gt;&lt;mfrac&gt;&lt;mn&gt;4&lt;/mn&gt;&lt;mn&gt;10&lt;/mn&gt;&lt;/mfrac&gt;&lt;/math&gt;" title="four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0096" y="3449544"/>
            <a:ext cx="185591" cy="341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&lt;math xmlns=&quot;http://www.w3.org/1998/Math/MathML&quot; display=&quot;block&quot; data-is-equatio=&quot;1&quot; data-latex=&quot;\frac{2}{10}&quot;&gt;&lt;mfrac&gt;&lt;mn&gt;2&lt;/mn&gt;&lt;mn&gt;10&lt;/mn&gt;&lt;/mfrac&gt;&lt;/math&gt;" title="two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0738" y="4181855"/>
            <a:ext cx="184303" cy="33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&lt;math xmlns=&quot;http://www.w3.org/1998/Math/MathML&quot; display=&quot;block&quot; data-is-equatio=&quot;1&quot; data-latex=&quot;\frac{1}{10}&quot;&gt;&lt;mfrac&gt;&lt;mn&gt;1&lt;/mn&gt;&lt;mn&gt;10&lt;/mn&gt;&lt;/mfrac&gt;&lt;/math&gt;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0740" y="4912311"/>
            <a:ext cx="184303" cy="33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3322" y="3452980"/>
            <a:ext cx="102413" cy="339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3324" y="4181855"/>
            <a:ext cx="102413" cy="33936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3371275" y="3516213"/>
            <a:ext cx="3729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    = 0.4 = 40%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3371275" y="4232489"/>
            <a:ext cx="3729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   = 0.2 = 20%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3371275" y="4977513"/>
            <a:ext cx="3729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= 0.1 = 10%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76400" y="5864700"/>
            <a:ext cx="4971600" cy="23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spinner is going to be spun twice and then the product of the two numbers is found.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1228187" y="7250208"/>
            <a:ext cx="298500" cy="14805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559641" y="6970857"/>
            <a:ext cx="2295900" cy="2889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 flipH="1">
            <a:off x="1546912" y="6974836"/>
            <a:ext cx="0" cy="173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0"/>
          <p:cNvCxnSpPr/>
          <p:nvPr/>
        </p:nvCxnSpPr>
        <p:spPr>
          <a:xfrm flipH="1">
            <a:off x="2008788" y="6974836"/>
            <a:ext cx="0" cy="173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0"/>
          <p:cNvCxnSpPr/>
          <p:nvPr/>
        </p:nvCxnSpPr>
        <p:spPr>
          <a:xfrm flipH="1">
            <a:off x="2470664" y="6974836"/>
            <a:ext cx="0" cy="176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0"/>
          <p:cNvCxnSpPr/>
          <p:nvPr/>
        </p:nvCxnSpPr>
        <p:spPr>
          <a:xfrm rot="10800000">
            <a:off x="1235799" y="7261519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0"/>
          <p:cNvCxnSpPr/>
          <p:nvPr/>
        </p:nvCxnSpPr>
        <p:spPr>
          <a:xfrm rot="10800000">
            <a:off x="1235799" y="7556548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0"/>
          <p:cNvCxnSpPr/>
          <p:nvPr/>
        </p:nvCxnSpPr>
        <p:spPr>
          <a:xfrm rot="10800000">
            <a:off x="1235799" y="7851577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20"/>
          <p:cNvSpPr txBox="1"/>
          <p:nvPr/>
        </p:nvSpPr>
        <p:spPr>
          <a:xfrm>
            <a:off x="1718433" y="6974836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2183250" y="6974836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1323070" y="7280766"/>
            <a:ext cx="218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1333464" y="7575036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 rot="-5400000">
            <a:off x="2639441" y="5722501"/>
            <a:ext cx="124800" cy="22959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2465691" y="6598075"/>
            <a:ext cx="68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 rot="10800000">
            <a:off x="1050757" y="7261330"/>
            <a:ext cx="117600" cy="1480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502375" y="7869543"/>
            <a:ext cx="59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" name="Google Shape;247;p20"/>
          <p:cNvCxnSpPr/>
          <p:nvPr/>
        </p:nvCxnSpPr>
        <p:spPr>
          <a:xfrm flipH="1">
            <a:off x="3856294" y="6974836"/>
            <a:ext cx="0" cy="176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20"/>
          <p:cNvCxnSpPr/>
          <p:nvPr/>
        </p:nvCxnSpPr>
        <p:spPr>
          <a:xfrm rot="10800000">
            <a:off x="1235799" y="8736663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p20"/>
          <p:cNvSpPr txBox="1"/>
          <p:nvPr/>
        </p:nvSpPr>
        <p:spPr>
          <a:xfrm>
            <a:off x="1328845" y="7868045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2648067" y="6974836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" name="Google Shape;251;p20"/>
          <p:cNvCxnSpPr/>
          <p:nvPr/>
        </p:nvCxnSpPr>
        <p:spPr>
          <a:xfrm flipH="1">
            <a:off x="2932541" y="6974836"/>
            <a:ext cx="0" cy="176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0"/>
          <p:cNvCxnSpPr/>
          <p:nvPr/>
        </p:nvCxnSpPr>
        <p:spPr>
          <a:xfrm flipH="1">
            <a:off x="3394417" y="6974836"/>
            <a:ext cx="0" cy="176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0"/>
          <p:cNvCxnSpPr/>
          <p:nvPr/>
        </p:nvCxnSpPr>
        <p:spPr>
          <a:xfrm rot="10800000">
            <a:off x="1235799" y="8146605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20"/>
          <p:cNvCxnSpPr/>
          <p:nvPr/>
        </p:nvCxnSpPr>
        <p:spPr>
          <a:xfrm rot="10800000">
            <a:off x="1235799" y="8441634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Google Shape;255;p20"/>
          <p:cNvSpPr txBox="1"/>
          <p:nvPr/>
        </p:nvSpPr>
        <p:spPr>
          <a:xfrm>
            <a:off x="3089443" y="6974836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3584075" y="6974836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328843" y="8457241"/>
            <a:ext cx="218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328845" y="8151795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1718433" y="7273053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2183250" y="7273053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2648069" y="7273063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3089442" y="7273063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3584075" y="7273053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1718433" y="7571269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2183250" y="7571269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2648070" y="7571266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3089443" y="7571269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3517178" y="7571269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1718433" y="7855020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2183243" y="7855017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2648067" y="7855020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3037786" y="7855017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1718433" y="8160458"/>
            <a:ext cx="29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2183250" y="8160469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2603694" y="8160458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3052698" y="8160458"/>
            <a:ext cx="218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3496715" y="8160469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3514348" y="7855017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1718433" y="8451453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2150452" y="8451446"/>
            <a:ext cx="28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2615279" y="8451446"/>
            <a:ext cx="33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3037819" y="8451446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496719" y="8451446"/>
            <a:ext cx="35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84" name="Google Shape;284;p20"/>
          <p:cNvCxnSpPr/>
          <p:nvPr/>
        </p:nvCxnSpPr>
        <p:spPr>
          <a:xfrm rot="10800000">
            <a:off x="1541173" y="6969803"/>
            <a:ext cx="2326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20"/>
          <p:cNvCxnSpPr/>
          <p:nvPr/>
        </p:nvCxnSpPr>
        <p:spPr>
          <a:xfrm flipH="1">
            <a:off x="1241080" y="7260010"/>
            <a:ext cx="0" cy="1484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0"/>
          <p:cNvSpPr/>
          <p:nvPr/>
        </p:nvSpPr>
        <p:spPr>
          <a:xfrm>
            <a:off x="5696898" y="5751988"/>
            <a:ext cx="884700" cy="884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7" name="Google Shape;287;p20"/>
          <p:cNvSpPr/>
          <p:nvPr/>
        </p:nvSpPr>
        <p:spPr>
          <a:xfrm rot="8650222">
            <a:off x="5704695" y="5759704"/>
            <a:ext cx="869183" cy="86918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8" name="Google Shape;288;p20"/>
          <p:cNvSpPr/>
          <p:nvPr/>
        </p:nvSpPr>
        <p:spPr>
          <a:xfrm rot="-8629108">
            <a:off x="5704807" y="5760021"/>
            <a:ext cx="868983" cy="86898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0"/>
          <p:cNvSpPr/>
          <p:nvPr/>
        </p:nvSpPr>
        <p:spPr>
          <a:xfrm rot="-4310413">
            <a:off x="5704701" y="5759734"/>
            <a:ext cx="869194" cy="869194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5704743" y="5759905"/>
            <a:ext cx="869100" cy="8691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6032468" y="6344496"/>
            <a:ext cx="3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/>
          <p:nvPr/>
        </p:nvSpPr>
        <p:spPr>
          <a:xfrm rot="4313037">
            <a:off x="5704507" y="5759652"/>
            <a:ext cx="869292" cy="8692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5835185" y="5786630"/>
            <a:ext cx="3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6217762" y="5786634"/>
            <a:ext cx="3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6311917" y="6127628"/>
            <a:ext cx="3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5709898" y="6110656"/>
            <a:ext cx="29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7" name="Google Shape;297;p20"/>
          <p:cNvGrpSpPr/>
          <p:nvPr/>
        </p:nvGrpSpPr>
        <p:grpSpPr>
          <a:xfrm>
            <a:off x="6113814" y="5781140"/>
            <a:ext cx="48978" cy="426118"/>
            <a:chOff x="996050" y="213293"/>
            <a:chExt cx="93900" cy="909732"/>
          </a:xfrm>
        </p:grpSpPr>
        <p:cxnSp>
          <p:nvCxnSpPr>
            <p:cNvPr id="298" name="Google Shape;298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9" name="Google Shape;299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00" name="Google Shape;300;p20"/>
          <p:cNvSpPr txBox="1"/>
          <p:nvPr/>
        </p:nvSpPr>
        <p:spPr>
          <a:xfrm>
            <a:off x="476400" y="6348897"/>
            <a:ext cx="46566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outcome table to show the possible products.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4135475" y="7119650"/>
            <a:ext cx="29649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P(square and factor of 36)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4135475" y="8102075"/>
            <a:ext cx="29649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P(even and less than 18)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20" descr="&lt;math xmlns=&quot;http://www.w3.org/1998/Math/MathML&quot; display=&quot;block&quot; data-is-equatio=&quot;1&quot; data-latex=&quot;\frac{5}{25}&quot;&gt;&lt;mfrac&gt;&lt;mn&gt;5&lt;/mn&gt;&lt;mn&gt;25&lt;/mn&gt;&lt;/mfrac&gt;&lt;/math&gt;" title="5 over 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2761" y="7430675"/>
            <a:ext cx="193272" cy="35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0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5257" y="7430957"/>
            <a:ext cx="107682" cy="35682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 txBox="1"/>
          <p:nvPr/>
        </p:nvSpPr>
        <p:spPr>
          <a:xfrm>
            <a:off x="4451724" y="7484200"/>
            <a:ext cx="26343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 =    = 0.2 = 20%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4451719" y="8530621"/>
            <a:ext cx="2366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  = 0.56 = 56%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07" name="Google Shape;307;p20" descr="&lt;math xmlns=&quot;http://www.w3.org/1998/Math/MathML&quot; display=&quot;block&quot; data-is-equatio=&quot;1&quot; data-latex=&quot;\frac{14}{25}&quot;&gt;&lt;mfrac&gt;&lt;mn&gt;14&lt;/mn&gt;&lt;mn&gt;25&lt;/mn&gt;&lt;/mfrac&gt;&lt;/math&gt;" title="14 over 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43113" y="8457902"/>
            <a:ext cx="193272" cy="35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sp>
        <p:nvSpPr>
          <p:cNvPr id="312" name="Google Shape;31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13" name="Google Shape;31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two-way tables (two events)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476425" y="4916450"/>
            <a:ext cx="63429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Probabilities for combined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476400" y="5486275"/>
            <a:ext cx="34488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outcome table shows the sample space {1, 2, 3, 4, 5, 6, 7, 8, 9}.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8" name="Google Shape;318;p21"/>
          <p:cNvCxnSpPr/>
          <p:nvPr/>
        </p:nvCxnSpPr>
        <p:spPr>
          <a:xfrm flipH="1">
            <a:off x="5483542" y="5591880"/>
            <a:ext cx="0" cy="153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21"/>
          <p:cNvCxnSpPr/>
          <p:nvPr/>
        </p:nvCxnSpPr>
        <p:spPr>
          <a:xfrm flipH="1">
            <a:off x="6245881" y="5591880"/>
            <a:ext cx="0" cy="153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21"/>
          <p:cNvCxnSpPr/>
          <p:nvPr/>
        </p:nvCxnSpPr>
        <p:spPr>
          <a:xfrm rot="10800000">
            <a:off x="4876872" y="6253317"/>
            <a:ext cx="217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1"/>
          <p:cNvCxnSpPr/>
          <p:nvPr/>
        </p:nvCxnSpPr>
        <p:spPr>
          <a:xfrm rot="10800000">
            <a:off x="4876872" y="6695496"/>
            <a:ext cx="217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1"/>
          <p:cNvCxnSpPr/>
          <p:nvPr/>
        </p:nvCxnSpPr>
        <p:spPr>
          <a:xfrm rot="10800000">
            <a:off x="4876872" y="7124047"/>
            <a:ext cx="217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3" name="Google Shape;323;p21"/>
          <p:cNvSpPr txBox="1"/>
          <p:nvPr/>
        </p:nvSpPr>
        <p:spPr>
          <a:xfrm>
            <a:off x="5592703" y="5750750"/>
            <a:ext cx="51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6377949" y="5552400"/>
            <a:ext cx="55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factor of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4973339" y="6314365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4966177" y="6787906"/>
            <a:ext cx="36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 flipH="1">
            <a:off x="5614327" y="6787916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822435" y="6787919"/>
            <a:ext cx="1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5685076" y="6334909"/>
            <a:ext cx="1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6402000" y="6794743"/>
            <a:ext cx="1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1" name="Google Shape;331;p21"/>
          <p:cNvCxnSpPr/>
          <p:nvPr/>
        </p:nvCxnSpPr>
        <p:spPr>
          <a:xfrm flipH="1">
            <a:off x="7041900" y="5591880"/>
            <a:ext cx="0" cy="153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p21"/>
          <p:cNvSpPr txBox="1"/>
          <p:nvPr/>
        </p:nvSpPr>
        <p:spPr>
          <a:xfrm flipH="1">
            <a:off x="6010153" y="6334094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6659203" y="6800227"/>
            <a:ext cx="1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5997836" y="6787913"/>
            <a:ext cx="1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76400" y="6149967"/>
            <a:ext cx="42105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outcome is going to be randomly selected.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probability it is: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476420" y="6813659"/>
            <a:ext cx="42105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even and a factor of 18 or odd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76400" y="7639013"/>
            <a:ext cx="42105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odd and a factor of 18 or even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76400" y="8410634"/>
            <a:ext cx="42105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factor of 18 or even and not a factor of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76400" y="9198120"/>
            <a:ext cx="42105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not a factor of 18 or even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0" name="Google Shape;340;p21" descr="&lt;math xmlns=&quot;http://www.w3.org/1998/Math/MathML&quot; display=&quot;block&quot; data-is-equatio=&quot;1&quot; data-latex=&quot;\frac{7}{9}&quot;&gt;&lt;mfrac&gt;&lt;mn&gt;7&lt;/mn&gt;&lt;mn&gt;9&lt;/mn&gt;&lt;/mfrac&gt;&lt;/math&gt;" title="seven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647" y="6730801"/>
            <a:ext cx="114487" cy="375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1" descr="&lt;math xmlns=&quot;http://www.w3.org/1998/Math/MathML&quot; display=&quot;block&quot; data-is-equatio=&quot;1&quot; data-latex=&quot;\frac{6}{9}&quot;&gt;&lt;mfrac&gt;&lt;mn&gt;6&lt;/mn&gt;&lt;mn&gt;9&lt;/mn&gt;&lt;/mfrac&gt;&lt;/math&gt;" title="six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0277" y="9077276"/>
            <a:ext cx="112059" cy="373527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1"/>
          <p:cNvSpPr txBox="1"/>
          <p:nvPr/>
        </p:nvSpPr>
        <p:spPr>
          <a:xfrm>
            <a:off x="6421240" y="6352550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4    8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3" name="Google Shape;343;p21" descr="&lt;math xmlns=&quot;http://www.w3.org/1998/Math/MathML&quot; display=&quot;block&quot; data-is-equatio=&quot;1&quot; data-latex=&quot;\frac{7}{9}&quot;&gt;&lt;mfrac&gt;&lt;mn&gt;7&lt;/mn&gt;&lt;mn&gt;9&lt;/mn&gt;&lt;/mfrac&gt;&lt;/math&gt;" title="seven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647" y="7526036"/>
            <a:ext cx="114487" cy="375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descr="&lt;math xmlns=&quot;http://www.w3.org/1998/Math/MathML&quot; display=&quot;block&quot; data-is-equatio=&quot;1&quot; data-latex=&quot;\frac{7}{9}&quot;&gt;&lt;mfrac&gt;&lt;mn&gt;7&lt;/mn&gt;&lt;mn&gt;9&lt;/mn&gt;&lt;/mfrac&gt;&lt;/math&gt;" title="seven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615" y="8263246"/>
            <a:ext cx="114487" cy="375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21"/>
          <p:cNvCxnSpPr/>
          <p:nvPr/>
        </p:nvCxnSpPr>
        <p:spPr>
          <a:xfrm>
            <a:off x="451882" y="48616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6" name="Google Shape;346;p21"/>
          <p:cNvSpPr txBox="1"/>
          <p:nvPr/>
        </p:nvSpPr>
        <p:spPr>
          <a:xfrm>
            <a:off x="3927326" y="2491524"/>
            <a:ext cx="31731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P(spherical and has stitching)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476400" y="987900"/>
            <a:ext cx="55710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This two-way table shows the frequencies of some sports balls categorised by their shape and whether they have stitching on the surface.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e.g. an american football is not spherical but has stitching, whereas a golf ball is spherical but doesn’t have stitching.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3927326" y="3673519"/>
            <a:ext cx="31731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P(spherical and does not have stitching)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21"/>
          <p:cNvPicPr preferRelativeResize="0"/>
          <p:nvPr/>
        </p:nvPicPr>
        <p:blipFill>
          <a:blip r:embed="rId5">
            <a:alphaModFix/>
          </a:blip>
          <a:srcRect b="9600"/>
          <a:stretch>
            <a:fillRect/>
          </a:stretch>
        </p:blipFill>
        <p:spPr>
          <a:xfrm rot="-1323600">
            <a:off x="6107004" y="1061617"/>
            <a:ext cx="897000" cy="49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3121" y="1352830"/>
            <a:ext cx="292953" cy="298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21"/>
          <p:cNvGrpSpPr/>
          <p:nvPr/>
        </p:nvGrpSpPr>
        <p:grpSpPr>
          <a:xfrm>
            <a:off x="574841" y="2220438"/>
            <a:ext cx="3167393" cy="1472317"/>
            <a:chOff x="5578375" y="933000"/>
            <a:chExt cx="4056600" cy="2169000"/>
          </a:xfrm>
        </p:grpSpPr>
        <p:cxnSp>
          <p:nvCxnSpPr>
            <p:cNvPr id="352" name="Google Shape;352;p21"/>
            <p:cNvCxnSpPr/>
            <p:nvPr/>
          </p:nvCxnSpPr>
          <p:spPr>
            <a:xfrm flipH="1">
              <a:off x="6689175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" name="Google Shape;353;p21"/>
            <p:cNvCxnSpPr/>
            <p:nvPr/>
          </p:nvCxnSpPr>
          <p:spPr>
            <a:xfrm flipH="1">
              <a:off x="7816745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" name="Google Shape;354;p21"/>
            <p:cNvCxnSpPr/>
            <p:nvPr/>
          </p:nvCxnSpPr>
          <p:spPr>
            <a:xfrm flipH="1">
              <a:off x="8970904" y="933000"/>
              <a:ext cx="0" cy="2169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" name="Google Shape;355;p21"/>
            <p:cNvCxnSpPr/>
            <p:nvPr/>
          </p:nvCxnSpPr>
          <p:spPr>
            <a:xfrm rot="10800000">
              <a:off x="5578538" y="1569800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" name="Google Shape;356;p21"/>
            <p:cNvCxnSpPr/>
            <p:nvPr/>
          </p:nvCxnSpPr>
          <p:spPr>
            <a:xfrm rot="10800000">
              <a:off x="5578538" y="2083850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" name="Google Shape;357;p21"/>
            <p:cNvCxnSpPr/>
            <p:nvPr/>
          </p:nvCxnSpPr>
          <p:spPr>
            <a:xfrm rot="10800000">
              <a:off x="5578375" y="2555070"/>
              <a:ext cx="40566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8" name="Google Shape;358;p21"/>
          <p:cNvSpPr txBox="1"/>
          <p:nvPr/>
        </p:nvSpPr>
        <p:spPr>
          <a:xfrm>
            <a:off x="1487040" y="2459375"/>
            <a:ext cx="8268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spherical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2379498" y="2221595"/>
            <a:ext cx="8268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spherical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596032" y="2780129"/>
            <a:ext cx="770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stitching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468001" y="3094350"/>
            <a:ext cx="953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stitching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1824313" y="2794072"/>
            <a:ext cx="130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2702625" y="2794072"/>
            <a:ext cx="130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1824321" y="3081076"/>
            <a:ext cx="200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2702625" y="3081076"/>
            <a:ext cx="130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6" name="Google Shape;366;p21"/>
          <p:cNvCxnSpPr/>
          <p:nvPr/>
        </p:nvCxnSpPr>
        <p:spPr>
          <a:xfrm rot="10800000">
            <a:off x="574788" y="3685227"/>
            <a:ext cx="3173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7" name="Google Shape;367;p21"/>
          <p:cNvSpPr txBox="1"/>
          <p:nvPr/>
        </p:nvSpPr>
        <p:spPr>
          <a:xfrm>
            <a:off x="1812220" y="3417935"/>
            <a:ext cx="200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3446931" y="2794072"/>
            <a:ext cx="130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3386263" y="3099276"/>
            <a:ext cx="200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2702625" y="3417935"/>
            <a:ext cx="130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3386261" y="3417935"/>
            <a:ext cx="200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3293818" y="2457442"/>
            <a:ext cx="4446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895428" y="3417931"/>
            <a:ext cx="665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3927326" y="2112020"/>
            <a:ext cx="28689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ball is selected at random.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5" name="Google Shape;375;p21" descr="&lt;math xmlns=&quot;http://www.w3.org/1998/Math/MathML&quot; display=&quot;block&quot; data-is-equatio=&quot;1&quot; data-latex=&quot;\frac{4}{18}&quot;&gt;&lt;mfrac&gt;&lt;mn&gt;4&lt;/mn&gt;&lt;mn&gt;18&lt;/mn&gt;&lt;/mfrac&gt;&lt;/math&gt;" title="4 over 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0761" y="2717866"/>
            <a:ext cx="200030" cy="367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1" descr="&lt;math xmlns=&quot;http://www.w3.org/1998/Math/MathML&quot; display=&quot;block&quot; data-is-equatio=&quot;1&quot; data-latex=&quot;\frac{11}{18}&quot;&gt;&lt;mfrac&gt;&lt;mn&gt;11&lt;/mn&gt;&lt;mn&gt;18&lt;/mn&gt;&lt;/mfrac&gt;&lt;/math&gt;" title="11 over 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49016" y="3948013"/>
            <a:ext cx="198642" cy="3657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p21"/>
          <p:cNvCxnSpPr/>
          <p:nvPr/>
        </p:nvCxnSpPr>
        <p:spPr>
          <a:xfrm flipH="1">
            <a:off x="3757127" y="2220438"/>
            <a:ext cx="0" cy="1472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Calculating theoretical probabilities from two-way tables (two events)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2024-03-05T13:24:24.807</cp:lastPrinted>
  <dcterms:created xsi:type="dcterms:W3CDTF">2024-03-05T13:24:24Z</dcterms:created>
  <dcterms:modified xsi:type="dcterms:W3CDTF">2024-03-05T13:24:37Z</dcterms:modified>
</cp:coreProperties>
</file>