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32DB5D-FF58-4EAD-9460-100A12EB32FA}">
  <a:tblStyle styleId="{2032DB5D-FF58-4EAD-9460-100A12EB32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9087457a7_4_2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9087457a7_4_2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f1e59c141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f1e59c14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b8bdb1850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b8bdb1850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b8bdb185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b8bdb185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b8bdb1850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b8bdb185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b8bdb1850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b8bdb1850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b8bdb1850b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b8bdb1850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b8bdb1850b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b8bdb1850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b8bdb1850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b8bdb1850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b8bdb1850b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b8bdb1850b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b8bdb1850b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b8bdb1850b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b8bdb1850b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b8bdb1850b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1f1e59c14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1f1e59c14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b8bdb1850b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b8bdb1850b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b8bdb1850b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b8bdb1850b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b8bdb1850b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b8bdb1850b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b9087457a7_3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b9087457a7_3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b9087457a7_3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b9087457a7_3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b9087457a7_3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b9087457a7_3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2b9087457a7_3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2b9087457a7_3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b9087457a7_3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b9087457a7_3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2b9087457a7_3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2b9087457a7_3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b8bdb1850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8bdb185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2b9087457a7_3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2b9087457a7_3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g2b9087457a7_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2" name="Google Shape;1772;g2b9087457a7_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b9087457a7_4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b9087457a7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g2b9087457a7_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g2b9087457a7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2b9087457a7_4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2b9087457a7_4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b9087457a7_4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2b9087457a7_4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2b9087457a7_4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2b9087457a7_4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2b9087457a7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2b9087457a7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2b9087457a7_4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2b9087457a7_4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2b9087457a7_4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b9087457a7_4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2b9087457a7_4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2b9087457a7_4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2b9087457a7_4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2b9087457a7_4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2b9087457a7_4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2b9087457a7_4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2b9087457a7_4_1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2b9087457a7_4_1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2b9087457a7_4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2b9087457a7_4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2b9087457a7_4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2b9087457a7_4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8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7.png"/><Relationship Id="rId4" Type="http://schemas.openxmlformats.org/officeDocument/2006/relationships/image" Target="../media/image57.png"/><Relationship Id="rId5" Type="http://schemas.openxmlformats.org/officeDocument/2006/relationships/image" Target="../media/image25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7.png"/><Relationship Id="rId4" Type="http://schemas.openxmlformats.org/officeDocument/2006/relationships/image" Target="../media/image22.png"/><Relationship Id="rId9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38.png"/><Relationship Id="rId7" Type="http://schemas.openxmlformats.org/officeDocument/2006/relationships/image" Target="../media/image25.png"/><Relationship Id="rId8" Type="http://schemas.openxmlformats.org/officeDocument/2006/relationships/image" Target="../media/image4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57.png"/><Relationship Id="rId4" Type="http://schemas.openxmlformats.org/officeDocument/2006/relationships/image" Target="../media/image32.png"/><Relationship Id="rId11" Type="http://schemas.openxmlformats.org/officeDocument/2006/relationships/image" Target="../media/image14.png"/><Relationship Id="rId10" Type="http://schemas.openxmlformats.org/officeDocument/2006/relationships/image" Target="../media/image33.png"/><Relationship Id="rId9" Type="http://schemas.openxmlformats.org/officeDocument/2006/relationships/image" Target="../media/image43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38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56.png"/><Relationship Id="rId7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Relationship Id="rId7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8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2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png"/><Relationship Id="rId4" Type="http://schemas.openxmlformats.org/officeDocument/2006/relationships/image" Target="../media/image6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7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theoretical probabilities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show that the probability of all possible unique outcomes for a trial sum to one.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1" type="subTitle"/>
          </p:nvPr>
        </p:nvSpPr>
        <p:spPr>
          <a:xfrm>
            <a:off x="324000" y="1048850"/>
            <a:ext cx="8496000" cy="10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theoretical probability is a probability based on counting the number of desired outcomes from a sample space where all individual outcomes are equally likely.</a:t>
            </a:r>
            <a:endParaRPr sz="1600"/>
          </a:p>
        </p:txBody>
      </p:sp>
      <p:sp>
        <p:nvSpPr>
          <p:cNvPr id="770" name="Google Shape;770;p66"/>
          <p:cNvSpPr txBox="1"/>
          <p:nvPr/>
        </p:nvSpPr>
        <p:spPr>
          <a:xfrm>
            <a:off x="324000" y="2257800"/>
            <a:ext cx="84960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Tree diagrams are a representation used to model statistical/probability questions. Branches represent different possible events or outcomes.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sample space is all the possible outcomes of a trial. A sample space diagram is a systematic way of producing a sample space.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idx="1" type="subTitle"/>
          </p:nvPr>
        </p:nvSpPr>
        <p:spPr>
          <a:xfrm>
            <a:off x="324000" y="1048850"/>
            <a:ext cx="8496000" cy="104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Two or more events are </a:t>
            </a:r>
            <a:r>
              <a:rPr b="1" lang="en-GB" sz="1800">
                <a:solidFill>
                  <a:schemeClr val="dk1"/>
                </a:solidFill>
              </a:rPr>
              <a:t>mutually exclusive </a:t>
            </a:r>
            <a:r>
              <a:rPr lang="en-GB" sz="1800">
                <a:solidFill>
                  <a:schemeClr val="dk1"/>
                </a:solidFill>
              </a:rPr>
              <a:t>if they share no common outcome.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set of events are </a:t>
            </a:r>
            <a:r>
              <a:rPr b="1" lang="en-GB" sz="1800">
                <a:solidFill>
                  <a:schemeClr val="dk1"/>
                </a:solidFill>
              </a:rPr>
              <a:t>exhaustive</a:t>
            </a:r>
            <a:r>
              <a:rPr lang="en-GB" sz="1800">
                <a:solidFill>
                  <a:schemeClr val="dk1"/>
                </a:solidFill>
              </a:rPr>
              <a:t> if at least one of them has to occur whenever the </a:t>
            </a:r>
            <a:r>
              <a:rPr lang="en-GB" sz="1800">
                <a:solidFill>
                  <a:schemeClr val="dk1"/>
                </a:solidFill>
              </a:rPr>
              <a:t>experiment</a:t>
            </a:r>
            <a:r>
              <a:rPr lang="en-GB" sz="1800">
                <a:solidFill>
                  <a:schemeClr val="dk1"/>
                </a:solidFill>
              </a:rPr>
              <a:t> is carried out.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781" name="Google Shape;781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69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512226" y="1208775"/>
            <a:ext cx="4005949" cy="173739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790" name="Google Shape;79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791" name="Google Shape;791;p69"/>
          <p:cNvSpPr txBox="1"/>
          <p:nvPr/>
        </p:nvSpPr>
        <p:spPr>
          <a:xfrm>
            <a:off x="1009800" y="1308600"/>
            <a:ext cx="253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/>
        </p:nvSpPr>
        <p:spPr>
          <a:xfrm>
            <a:off x="1543200" y="2250214"/>
            <a:ext cx="14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P(even)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793" name="Google Shape;793;p69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842" y="2109064"/>
            <a:ext cx="19086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/>
        </p:nvSpPr>
        <p:spPr>
          <a:xfrm>
            <a:off x="1668386" y="3240814"/>
            <a:ext cx="14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P(odd)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795" name="Google Shape;795;p69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8399" y="3099664"/>
            <a:ext cx="190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8" name="Google Shape;798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9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4621175" y="1326375"/>
            <a:ext cx="3630300" cy="1461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I’ve spotted something interesting: the probabilities of these events</a:t>
            </a:r>
            <a:br>
              <a:rPr lang="en-GB" sz="1600"/>
            </a:br>
            <a:r>
              <a:rPr lang="en-GB" sz="1600">
                <a:solidFill>
                  <a:schemeClr val="accent4"/>
                </a:solidFill>
              </a:rPr>
              <a:t>sum to 1 whole</a:t>
            </a:r>
            <a:r>
              <a:rPr lang="en-GB" sz="1600"/>
              <a:t>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I wonder why that has happened.</a:t>
            </a:r>
            <a:endParaRPr sz="1600"/>
          </a:p>
        </p:txBody>
      </p:sp>
      <p:sp>
        <p:nvSpPr>
          <p:cNvPr id="801" name="Google Shape;801;p69"/>
          <p:cNvSpPr txBox="1"/>
          <p:nvPr/>
        </p:nvSpPr>
        <p:spPr>
          <a:xfrm>
            <a:off x="324000" y="4231425"/>
            <a:ext cx="42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P(even) + P(odd) =      +     = 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02" name="Google Shape;802;p69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360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03" name="Google Shape;803;p69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303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805" name="Google Shape;805;p69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9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9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9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9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p70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3875402" y="1405850"/>
            <a:ext cx="4490373" cy="2612576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822" name="Google Shape;82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823" name="Google Shape;823;p70"/>
          <p:cNvSpPr txBox="1"/>
          <p:nvPr/>
        </p:nvSpPr>
        <p:spPr>
          <a:xfrm>
            <a:off x="1009800" y="1308600"/>
            <a:ext cx="261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1543200" y="2250214"/>
            <a:ext cx="14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P(even)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25" name="Google Shape;825;p70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842" y="2109064"/>
            <a:ext cx="19086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0"/>
          <p:cNvSpPr txBox="1"/>
          <p:nvPr/>
        </p:nvSpPr>
        <p:spPr>
          <a:xfrm>
            <a:off x="1668386" y="3240814"/>
            <a:ext cx="146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P(odd)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27" name="Google Shape;827;p70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8399" y="3099664"/>
            <a:ext cx="190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0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0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>
            <p:ph idx="1" type="body"/>
          </p:nvPr>
        </p:nvSpPr>
        <p:spPr>
          <a:xfrm>
            <a:off x="3967918" y="1576746"/>
            <a:ext cx="4098600" cy="6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There are </a:t>
            </a:r>
            <a:r>
              <a:rPr lang="en-GB" sz="1600">
                <a:solidFill>
                  <a:schemeClr val="accent4"/>
                </a:solidFill>
              </a:rPr>
              <a:t>six possible outcomes</a:t>
            </a:r>
            <a:r>
              <a:rPr lang="en-GB" sz="1600"/>
              <a:t> when rolling the dice.</a:t>
            </a:r>
            <a:endParaRPr sz="1600"/>
          </a:p>
        </p:txBody>
      </p:sp>
      <p:sp>
        <p:nvSpPr>
          <p:cNvPr id="833" name="Google Shape;833;p70"/>
          <p:cNvSpPr txBox="1"/>
          <p:nvPr/>
        </p:nvSpPr>
        <p:spPr>
          <a:xfrm>
            <a:off x="324000" y="4231425"/>
            <a:ext cx="42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P(even) + P(odd) =      +     = 1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34" name="Google Shape;834;p70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360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35" name="Google Shape;835;p70" title="three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303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6" name="Google Shape;836;p70"/>
          <p:cNvCxnSpPr/>
          <p:nvPr/>
        </p:nvCxnSpPr>
        <p:spPr>
          <a:xfrm>
            <a:off x="1807111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0"/>
          <p:cNvCxnSpPr/>
          <p:nvPr/>
        </p:nvCxnSpPr>
        <p:spPr>
          <a:xfrm>
            <a:off x="2356839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0"/>
          <p:cNvCxnSpPr/>
          <p:nvPr/>
        </p:nvCxnSpPr>
        <p:spPr>
          <a:xfrm>
            <a:off x="2917454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70"/>
          <p:cNvSpPr txBox="1"/>
          <p:nvPr>
            <p:ph idx="1" type="body"/>
          </p:nvPr>
        </p:nvSpPr>
        <p:spPr>
          <a:xfrm>
            <a:off x="3962589" y="2213558"/>
            <a:ext cx="3630300" cy="3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Three of them are even.</a:t>
            </a:r>
            <a:endParaRPr sz="1600"/>
          </a:p>
        </p:txBody>
      </p:sp>
      <p:sp>
        <p:nvSpPr>
          <p:cNvPr id="840" name="Google Shape;840;p70"/>
          <p:cNvSpPr txBox="1"/>
          <p:nvPr>
            <p:ph idx="1" type="body"/>
          </p:nvPr>
        </p:nvSpPr>
        <p:spPr>
          <a:xfrm>
            <a:off x="3973364" y="2556461"/>
            <a:ext cx="4152900" cy="3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three remaining outcomes are odd.</a:t>
            </a:r>
            <a:endParaRPr sz="1600"/>
          </a:p>
        </p:txBody>
      </p:sp>
      <p:cxnSp>
        <p:nvCxnSpPr>
          <p:cNvPr id="841" name="Google Shape;841;p70"/>
          <p:cNvCxnSpPr/>
          <p:nvPr/>
        </p:nvCxnSpPr>
        <p:spPr>
          <a:xfrm flipH="1" rot="10800000">
            <a:off x="1839761" y="2576104"/>
            <a:ext cx="593400" cy="1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0"/>
          <p:cNvCxnSpPr/>
          <p:nvPr/>
        </p:nvCxnSpPr>
        <p:spPr>
          <a:xfrm>
            <a:off x="1524082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0"/>
          <p:cNvCxnSpPr/>
          <p:nvPr/>
        </p:nvCxnSpPr>
        <p:spPr>
          <a:xfrm>
            <a:off x="2062925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70"/>
          <p:cNvCxnSpPr/>
          <p:nvPr/>
        </p:nvCxnSpPr>
        <p:spPr>
          <a:xfrm>
            <a:off x="2650754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70"/>
          <p:cNvCxnSpPr/>
          <p:nvPr/>
        </p:nvCxnSpPr>
        <p:spPr>
          <a:xfrm>
            <a:off x="1964954" y="3566664"/>
            <a:ext cx="489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70"/>
          <p:cNvSpPr txBox="1"/>
          <p:nvPr>
            <p:ph idx="1" type="body"/>
          </p:nvPr>
        </p:nvSpPr>
        <p:spPr>
          <a:xfrm>
            <a:off x="3984250" y="2932025"/>
            <a:ext cx="4054800" cy="844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It is certain that you will roll one of these six numbers, so the probability is 1.</a:t>
            </a:r>
            <a:endParaRPr sz="1600"/>
          </a:p>
        </p:txBody>
      </p:sp>
      <p:sp>
        <p:nvSpPr>
          <p:cNvPr id="847" name="Google Shape;847;p70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848" name="Google Shape;848;p70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0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0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0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0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0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0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0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0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864" name="Google Shape;86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865" name="Google Shape;865;p71"/>
          <p:cNvSpPr txBox="1"/>
          <p:nvPr/>
        </p:nvSpPr>
        <p:spPr>
          <a:xfrm>
            <a:off x="1009800" y="1308600"/>
            <a:ext cx="243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 txBox="1"/>
          <p:nvPr/>
        </p:nvSpPr>
        <p:spPr>
          <a:xfrm>
            <a:off x="506261" y="22502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3)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7" name="Google Shape;86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71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9" name="Google Shape;86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1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 txBox="1"/>
          <p:nvPr/>
        </p:nvSpPr>
        <p:spPr>
          <a:xfrm>
            <a:off x="552600" y="4231425"/>
            <a:ext cx="65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3) + P(multiple of 4) =      +   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872" name="Google Shape;872;p71" title="three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6103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1"/>
          <p:cNvSpPr txBox="1"/>
          <p:nvPr/>
        </p:nvSpPr>
        <p:spPr>
          <a:xfrm>
            <a:off x="506261" y="32408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4)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874" name="Google Shape;874;p71" title="two sixths one sixth"/>
          <p:cNvPicPr preferRelativeResize="0"/>
          <p:nvPr/>
        </p:nvPicPr>
        <p:blipFill rotWithShape="1">
          <a:blip r:embed="rId6">
            <a:alphaModFix/>
          </a:blip>
          <a:srcRect b="0" l="0" r="62164" t="0"/>
          <a:stretch/>
        </p:blipFill>
        <p:spPr>
          <a:xfrm>
            <a:off x="2939700" y="2099425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875" name="Google Shape;875;p71" title="two sixths one sixth"/>
          <p:cNvPicPr preferRelativeResize="0"/>
          <p:nvPr/>
        </p:nvPicPr>
        <p:blipFill rotWithShape="1">
          <a:blip r:embed="rId6">
            <a:alphaModFix/>
          </a:blip>
          <a:srcRect b="0" l="62164" r="0" t="0"/>
          <a:stretch/>
        </p:blipFill>
        <p:spPr>
          <a:xfrm>
            <a:off x="2912529" y="3090025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876" name="Google Shape;876;p71" title="two sixths one sixth"/>
          <p:cNvPicPr preferRelativeResize="0"/>
          <p:nvPr/>
        </p:nvPicPr>
        <p:blipFill rotWithShape="1">
          <a:blip r:embed="rId6">
            <a:alphaModFix/>
          </a:blip>
          <a:srcRect b="0" l="0" r="62164" t="0"/>
          <a:stretch/>
        </p:blipFill>
        <p:spPr>
          <a:xfrm>
            <a:off x="5372125" y="4092650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877" name="Google Shape;877;p71" title="two sixths one sixth"/>
          <p:cNvPicPr preferRelativeResize="0"/>
          <p:nvPr/>
        </p:nvPicPr>
        <p:blipFill rotWithShape="1">
          <a:blip r:embed="rId6">
            <a:alphaModFix/>
          </a:blip>
          <a:srcRect b="0" l="62164" r="0" t="0"/>
          <a:stretch/>
        </p:blipFill>
        <p:spPr>
          <a:xfrm>
            <a:off x="5932782" y="4092650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71"/>
          <p:cNvPicPr preferRelativeResize="0"/>
          <p:nvPr/>
        </p:nvPicPr>
        <p:blipFill rotWithShape="1">
          <a:blip r:embed="rId7">
            <a:alphaModFix/>
          </a:blip>
          <a:srcRect b="4760" l="40550" r="0" t="13015"/>
          <a:stretch/>
        </p:blipFill>
        <p:spPr>
          <a:xfrm flipH="1">
            <a:off x="4512226" y="1323075"/>
            <a:ext cx="4005949" cy="15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1"/>
          <p:cNvSpPr txBox="1"/>
          <p:nvPr>
            <p:ph idx="1" type="body"/>
          </p:nvPr>
        </p:nvSpPr>
        <p:spPr>
          <a:xfrm>
            <a:off x="4664625" y="1478775"/>
            <a:ext cx="3586800" cy="1089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</a:t>
            </a:r>
            <a:r>
              <a:rPr lang="en-GB" sz="1600"/>
              <a:t>he probabilities of these events </a:t>
            </a:r>
            <a:br>
              <a:rPr lang="en-GB" sz="1600"/>
            </a:br>
            <a:r>
              <a:rPr lang="en-GB" sz="1600"/>
              <a:t>do </a:t>
            </a:r>
            <a:r>
              <a:rPr lang="en-GB" sz="1600">
                <a:solidFill>
                  <a:schemeClr val="accent4"/>
                </a:solidFill>
              </a:rPr>
              <a:t>not</a:t>
            </a:r>
            <a:r>
              <a:rPr lang="en-GB" sz="1600"/>
              <a:t> sum to 1 whole.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Why do you think that’s happened?</a:t>
            </a:r>
            <a:endParaRPr sz="1600"/>
          </a:p>
        </p:txBody>
      </p:sp>
      <p:sp>
        <p:nvSpPr>
          <p:cNvPr id="880" name="Google Shape;880;p71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881" name="Google Shape;881;p71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1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1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1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1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1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1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1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1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2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897" name="Google Shape;89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898" name="Google Shape;898;p72"/>
          <p:cNvSpPr txBox="1"/>
          <p:nvPr/>
        </p:nvSpPr>
        <p:spPr>
          <a:xfrm>
            <a:off x="1009800" y="1308600"/>
            <a:ext cx="235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2"/>
          <p:cNvSpPr txBox="1"/>
          <p:nvPr/>
        </p:nvSpPr>
        <p:spPr>
          <a:xfrm>
            <a:off x="506261" y="22502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3)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0" name="Google Shape;90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2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2" name="Google Shape;90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2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4" name="Google Shape;904;p72"/>
          <p:cNvCxnSpPr/>
          <p:nvPr/>
        </p:nvCxnSpPr>
        <p:spPr>
          <a:xfrm>
            <a:off x="2073811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72"/>
          <p:cNvCxnSpPr/>
          <p:nvPr/>
        </p:nvCxnSpPr>
        <p:spPr>
          <a:xfrm>
            <a:off x="2917454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72"/>
          <p:cNvCxnSpPr/>
          <p:nvPr/>
        </p:nvCxnSpPr>
        <p:spPr>
          <a:xfrm>
            <a:off x="821950" y="2576100"/>
            <a:ext cx="1622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" name="Google Shape;907;p72"/>
          <p:cNvCxnSpPr/>
          <p:nvPr/>
        </p:nvCxnSpPr>
        <p:spPr>
          <a:xfrm>
            <a:off x="2367725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Google Shape;908;p72"/>
          <p:cNvSpPr txBox="1"/>
          <p:nvPr/>
        </p:nvSpPr>
        <p:spPr>
          <a:xfrm>
            <a:off x="506261" y="32408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4)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9" name="Google Shape;909;p72"/>
          <p:cNvCxnSpPr/>
          <p:nvPr/>
        </p:nvCxnSpPr>
        <p:spPr>
          <a:xfrm>
            <a:off x="811075" y="3566700"/>
            <a:ext cx="1632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910" name="Google Shape;910;p72" title="two sixths one sixth"/>
          <p:cNvPicPr preferRelativeResize="0"/>
          <p:nvPr/>
        </p:nvPicPr>
        <p:blipFill rotWithShape="1">
          <a:blip r:embed="rId5">
            <a:alphaModFix/>
          </a:blip>
          <a:srcRect b="0" l="0" r="62164" t="0"/>
          <a:stretch/>
        </p:blipFill>
        <p:spPr>
          <a:xfrm>
            <a:off x="2939700" y="2099425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911" name="Google Shape;911;p72" title="two sixths one sixth"/>
          <p:cNvPicPr preferRelativeResize="0"/>
          <p:nvPr/>
        </p:nvPicPr>
        <p:blipFill rotWithShape="1">
          <a:blip r:embed="rId5">
            <a:alphaModFix/>
          </a:blip>
          <a:srcRect b="0" l="62164" r="0" t="0"/>
          <a:stretch/>
        </p:blipFill>
        <p:spPr>
          <a:xfrm>
            <a:off x="2912529" y="3090025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72"/>
          <p:cNvPicPr preferRelativeResize="0"/>
          <p:nvPr/>
        </p:nvPicPr>
        <p:blipFill rotWithShape="1">
          <a:blip r:embed="rId6">
            <a:alphaModFix/>
          </a:blip>
          <a:srcRect b="4760" l="40550" r="0" t="13015"/>
          <a:stretch/>
        </p:blipFill>
        <p:spPr>
          <a:xfrm flipH="1">
            <a:off x="3848202" y="1185550"/>
            <a:ext cx="4490348" cy="3000487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2"/>
          <p:cNvSpPr txBox="1"/>
          <p:nvPr>
            <p:ph idx="1" type="body"/>
          </p:nvPr>
        </p:nvSpPr>
        <p:spPr>
          <a:xfrm>
            <a:off x="3962589" y="1375358"/>
            <a:ext cx="3630300" cy="3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Two</a:t>
            </a:r>
            <a:r>
              <a:rPr lang="en-GB" sz="1600"/>
              <a:t> of the possible outcomes are multiples of three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14" name="Google Shape;914;p72"/>
          <p:cNvSpPr txBox="1"/>
          <p:nvPr>
            <p:ph idx="1" type="body"/>
          </p:nvPr>
        </p:nvSpPr>
        <p:spPr>
          <a:xfrm>
            <a:off x="3973364" y="1946861"/>
            <a:ext cx="4152900" cy="3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One of the possible outcomes is a multiple of four.</a:t>
            </a:r>
            <a:endParaRPr sz="1600"/>
          </a:p>
        </p:txBody>
      </p:sp>
      <p:sp>
        <p:nvSpPr>
          <p:cNvPr id="915" name="Google Shape;915;p72"/>
          <p:cNvSpPr txBox="1"/>
          <p:nvPr>
            <p:ph idx="1" type="body"/>
          </p:nvPr>
        </p:nvSpPr>
        <p:spPr>
          <a:xfrm>
            <a:off x="3957036" y="2551025"/>
            <a:ext cx="4054800" cy="844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That accounts for only three out of the six possible outcomes. So that means it isn’t certain that one of these two events will occur.</a:t>
            </a:r>
            <a:endParaRPr sz="1600"/>
          </a:p>
        </p:txBody>
      </p:sp>
      <p:sp>
        <p:nvSpPr>
          <p:cNvPr id="916" name="Google Shape;916;p72"/>
          <p:cNvSpPr txBox="1"/>
          <p:nvPr/>
        </p:nvSpPr>
        <p:spPr>
          <a:xfrm>
            <a:off x="552600" y="4231425"/>
            <a:ext cx="657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P(multiple of 3) + P(multiple of 4) =      +   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&quot;&gt;&lt;mfrac&gt;&lt;mn&gt;3&lt;/mn&gt;&lt;mn&gt;6&lt;/mn&gt;&lt;/mfrac&gt;&lt;/math&gt;" id="917" name="Google Shape;917;p72" title="thre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6103" y="4106579"/>
            <a:ext cx="19086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918" name="Google Shape;918;p72" title="two sixths one sixth"/>
          <p:cNvPicPr preferRelativeResize="0"/>
          <p:nvPr/>
        </p:nvPicPr>
        <p:blipFill rotWithShape="1">
          <a:blip r:embed="rId5">
            <a:alphaModFix/>
          </a:blip>
          <a:srcRect b="0" l="0" r="62164" t="0"/>
          <a:stretch/>
        </p:blipFill>
        <p:spPr>
          <a:xfrm>
            <a:off x="5372125" y="4092650"/>
            <a:ext cx="2286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\ \ \frac{1}{6}&quot;&gt;&lt;mfrac&gt;&lt;mn&gt;2&lt;/mn&gt;&lt;mn&gt;6&lt;/mn&gt;&lt;/mfrac&gt;&lt;mtext&gt;&lt;/mtext&gt;&lt;mtext&gt;&lt;/mtext&gt;&lt;mfrac&gt;&lt;mn&gt;1&lt;/mn&gt;&lt;mn&gt;6&lt;/mn&gt;&lt;/mfrac&gt;&lt;/math&gt;" id="919" name="Google Shape;919;p72" title="two sixths one sixth"/>
          <p:cNvPicPr preferRelativeResize="0"/>
          <p:nvPr/>
        </p:nvPicPr>
        <p:blipFill rotWithShape="1">
          <a:blip r:embed="rId5">
            <a:alphaModFix/>
          </a:blip>
          <a:srcRect b="0" l="62164" r="0" t="0"/>
          <a:stretch/>
        </p:blipFill>
        <p:spPr>
          <a:xfrm>
            <a:off x="5932782" y="4092650"/>
            <a:ext cx="228600" cy="6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2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921" name="Google Shape;921;p72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2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2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2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2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2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2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2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2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2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3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937" name="Google Shape;93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938" name="Google Shape;938;p73"/>
          <p:cNvSpPr txBox="1"/>
          <p:nvPr/>
        </p:nvSpPr>
        <p:spPr>
          <a:xfrm>
            <a:off x="1009800" y="1308600"/>
            <a:ext cx="25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3"/>
          <p:cNvSpPr txBox="1"/>
          <p:nvPr/>
        </p:nvSpPr>
        <p:spPr>
          <a:xfrm>
            <a:off x="582461" y="22502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10)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0" name="Google Shape;94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3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2" name="Google Shape;94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3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3"/>
          <p:cNvSpPr txBox="1"/>
          <p:nvPr/>
        </p:nvSpPr>
        <p:spPr>
          <a:xfrm>
            <a:off x="552600" y="4231425"/>
            <a:ext cx="572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10) + P(factor of 12) =      +   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3"/>
          <p:cNvSpPr txBox="1"/>
          <p:nvPr/>
        </p:nvSpPr>
        <p:spPr>
          <a:xfrm>
            <a:off x="582461" y="32408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12)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6" name="Google Shape;946;p73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flipH="1">
            <a:off x="4512226" y="1323075"/>
            <a:ext cx="4005949" cy="165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3"/>
          <p:cNvSpPr txBox="1"/>
          <p:nvPr>
            <p:ph idx="1" type="body"/>
          </p:nvPr>
        </p:nvSpPr>
        <p:spPr>
          <a:xfrm>
            <a:off x="4642854" y="1451561"/>
            <a:ext cx="3586800" cy="115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Every number on the dice is accounted for in these two events.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So why do these probabilities not sum to 1 whole?</a:t>
            </a:r>
            <a:endParaRPr sz="1600"/>
          </a:p>
        </p:txBody>
      </p:sp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48" name="Google Shape;948;p73" title="three sixths five sixths eight sixths"/>
          <p:cNvPicPr preferRelativeResize="0"/>
          <p:nvPr/>
        </p:nvPicPr>
        <p:blipFill rotWithShape="1">
          <a:blip r:embed="rId6">
            <a:alphaModFix/>
          </a:blip>
          <a:srcRect b="0" l="32953" r="32577" t="0"/>
          <a:stretch/>
        </p:blipFill>
        <p:spPr>
          <a:xfrm>
            <a:off x="2814041" y="3082800"/>
            <a:ext cx="34835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49" name="Google Shape;949;p73" title="three sixths five sixths eight sixths"/>
          <p:cNvPicPr preferRelativeResize="0"/>
          <p:nvPr/>
        </p:nvPicPr>
        <p:blipFill rotWithShape="1">
          <a:blip r:embed="rId6">
            <a:alphaModFix/>
          </a:blip>
          <a:srcRect b="0" l="0" r="70277" t="0"/>
          <a:stretch/>
        </p:blipFill>
        <p:spPr>
          <a:xfrm>
            <a:off x="2894675" y="2092200"/>
            <a:ext cx="300375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50" name="Google Shape;950;p73" title="three sixths five sixths eight sixths"/>
          <p:cNvPicPr preferRelativeResize="0"/>
          <p:nvPr/>
        </p:nvPicPr>
        <p:blipFill rotWithShape="1">
          <a:blip r:embed="rId6">
            <a:alphaModFix/>
          </a:blip>
          <a:srcRect b="0" l="76578" r="0" t="0"/>
          <a:stretch/>
        </p:blipFill>
        <p:spPr>
          <a:xfrm>
            <a:off x="6199497" y="4073400"/>
            <a:ext cx="2367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51" name="Google Shape;951;p73" title="three sixths five sixths eight sixths"/>
          <p:cNvPicPr preferRelativeResize="0"/>
          <p:nvPr/>
        </p:nvPicPr>
        <p:blipFill rotWithShape="1">
          <a:blip r:embed="rId6">
            <a:alphaModFix/>
          </a:blip>
          <a:srcRect b="0" l="32953" r="32577" t="0"/>
          <a:stretch/>
        </p:blipFill>
        <p:spPr>
          <a:xfrm>
            <a:off x="5595341" y="4084286"/>
            <a:ext cx="34835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52" name="Google Shape;952;p73" title="three sixths five sixths eight sixths"/>
          <p:cNvPicPr preferRelativeResize="0"/>
          <p:nvPr/>
        </p:nvPicPr>
        <p:blipFill rotWithShape="1">
          <a:blip r:embed="rId6">
            <a:alphaModFix/>
          </a:blip>
          <a:srcRect b="0" l="0" r="70277" t="0"/>
          <a:stretch/>
        </p:blipFill>
        <p:spPr>
          <a:xfrm>
            <a:off x="5137132" y="4084286"/>
            <a:ext cx="300375" cy="6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73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954" name="Google Shape;954;p73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3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3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3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3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3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3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3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3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3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3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4"/>
          <p:cNvSpPr txBox="1"/>
          <p:nvPr>
            <p:ph idx="1" type="body"/>
          </p:nvPr>
        </p:nvSpPr>
        <p:spPr>
          <a:xfrm>
            <a:off x="324000" y="759300"/>
            <a:ext cx="8237700" cy="385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regular six-sided dice is rolled once.</a:t>
            </a:r>
            <a:endParaRPr sz="2000"/>
          </a:p>
        </p:txBody>
      </p:sp>
      <p:sp>
        <p:nvSpPr>
          <p:cNvPr id="970" name="Google Shape;970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971" name="Google Shape;971;p74"/>
          <p:cNvSpPr txBox="1"/>
          <p:nvPr/>
        </p:nvSpPr>
        <p:spPr>
          <a:xfrm>
            <a:off x="1009800" y="1308600"/>
            <a:ext cx="235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{1, 2, 3, 4, 5, 6}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4"/>
          <p:cNvSpPr txBox="1"/>
          <p:nvPr/>
        </p:nvSpPr>
        <p:spPr>
          <a:xfrm>
            <a:off x="582461" y="22502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10)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3" name="Google Shape;9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208862" y="2577900"/>
            <a:ext cx="539676" cy="7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4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5" name="Google Shape;97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94849" y="3824601"/>
            <a:ext cx="574026" cy="717823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4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4"/>
          <p:cNvSpPr txBox="1"/>
          <p:nvPr/>
        </p:nvSpPr>
        <p:spPr>
          <a:xfrm>
            <a:off x="552600" y="4231425"/>
            <a:ext cx="572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10) + P(factor of 12) =      +    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4"/>
          <p:cNvSpPr txBox="1"/>
          <p:nvPr/>
        </p:nvSpPr>
        <p:spPr>
          <a:xfrm>
            <a:off x="582461" y="3240825"/>
            <a:ext cx="24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P(factor of 12) =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79" name="Google Shape;979;p74" title="three sixths five sixths eight sixths"/>
          <p:cNvPicPr preferRelativeResize="0"/>
          <p:nvPr/>
        </p:nvPicPr>
        <p:blipFill rotWithShape="1">
          <a:blip r:embed="rId5">
            <a:alphaModFix/>
          </a:blip>
          <a:srcRect b="0" l="32953" r="32577" t="0"/>
          <a:stretch/>
        </p:blipFill>
        <p:spPr>
          <a:xfrm>
            <a:off x="2814041" y="3082800"/>
            <a:ext cx="34835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80" name="Google Shape;980;p74" title="three sixths five sixths eight sixths"/>
          <p:cNvPicPr preferRelativeResize="0"/>
          <p:nvPr/>
        </p:nvPicPr>
        <p:blipFill rotWithShape="1">
          <a:blip r:embed="rId5">
            <a:alphaModFix/>
          </a:blip>
          <a:srcRect b="0" l="0" r="70277" t="0"/>
          <a:stretch/>
        </p:blipFill>
        <p:spPr>
          <a:xfrm>
            <a:off x="2894675" y="2092200"/>
            <a:ext cx="300375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81" name="Google Shape;981;p74" title="three sixths five sixths eight sixths"/>
          <p:cNvPicPr preferRelativeResize="0"/>
          <p:nvPr/>
        </p:nvPicPr>
        <p:blipFill rotWithShape="1">
          <a:blip r:embed="rId5">
            <a:alphaModFix/>
          </a:blip>
          <a:srcRect b="0" l="76578" r="0" t="0"/>
          <a:stretch/>
        </p:blipFill>
        <p:spPr>
          <a:xfrm>
            <a:off x="6199497" y="4073400"/>
            <a:ext cx="23670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82" name="Google Shape;982;p74" title="three sixths five sixths eight sixths"/>
          <p:cNvPicPr preferRelativeResize="0"/>
          <p:nvPr/>
        </p:nvPicPr>
        <p:blipFill rotWithShape="1">
          <a:blip r:embed="rId5">
            <a:alphaModFix/>
          </a:blip>
          <a:srcRect b="0" l="32953" r="32577" t="0"/>
          <a:stretch/>
        </p:blipFill>
        <p:spPr>
          <a:xfrm>
            <a:off x="5595341" y="4084286"/>
            <a:ext cx="348350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6}\ \ \frac{5}{6}\ \ \frac{8}{6}&quot;&gt;&lt;mfrac&gt;&lt;mn&gt;3&lt;/mn&gt;&lt;mn&gt;6&lt;/mn&gt;&lt;/mfrac&gt;&lt;mtext&gt;&lt;/mtext&gt;&lt;mtext&gt;&lt;/mtext&gt;&lt;mfrac&gt;&lt;mn&gt;5&lt;/mn&gt;&lt;mn&gt;6&lt;/mn&gt;&lt;/mfrac&gt;&lt;mtext&gt;&lt;/mtext&gt;&lt;mtext&gt;&lt;/mtext&gt;&lt;mfrac&gt;&lt;mn&gt;8&lt;/mn&gt;&lt;mn&gt;6&lt;/mn&gt;&lt;/mfrac&gt;&lt;/math&gt;" id="983" name="Google Shape;983;p74" title="three sixths five sixths eight sixths"/>
          <p:cNvPicPr preferRelativeResize="0"/>
          <p:nvPr/>
        </p:nvPicPr>
        <p:blipFill rotWithShape="1">
          <a:blip r:embed="rId5">
            <a:alphaModFix/>
          </a:blip>
          <a:srcRect b="0" l="0" r="70277" t="0"/>
          <a:stretch/>
        </p:blipFill>
        <p:spPr>
          <a:xfrm>
            <a:off x="5137132" y="4084286"/>
            <a:ext cx="300375" cy="62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4"/>
          <p:cNvPicPr preferRelativeResize="0"/>
          <p:nvPr/>
        </p:nvPicPr>
        <p:blipFill rotWithShape="1">
          <a:blip r:embed="rId6">
            <a:alphaModFix/>
          </a:blip>
          <a:srcRect b="4760" l="40550" r="0" t="13015"/>
          <a:stretch/>
        </p:blipFill>
        <p:spPr>
          <a:xfrm flipH="1">
            <a:off x="3772002" y="1718950"/>
            <a:ext cx="4555648" cy="22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4"/>
          <p:cNvSpPr txBox="1"/>
          <p:nvPr>
            <p:ph idx="1" type="body"/>
          </p:nvPr>
        </p:nvSpPr>
        <p:spPr>
          <a:xfrm>
            <a:off x="3886400" y="1908750"/>
            <a:ext cx="3978600" cy="613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Some of the outcomes are accounted for twice with these probabilities.</a:t>
            </a:r>
            <a:endParaRPr sz="1600"/>
          </a:p>
        </p:txBody>
      </p:sp>
      <p:sp>
        <p:nvSpPr>
          <p:cNvPr id="986" name="Google Shape;986;p74"/>
          <p:cNvSpPr txBox="1"/>
          <p:nvPr>
            <p:ph idx="1" type="body"/>
          </p:nvPr>
        </p:nvSpPr>
        <p:spPr>
          <a:xfrm>
            <a:off x="3897175" y="2556441"/>
            <a:ext cx="4152900" cy="604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This is because there are numbers on the dice that are a factor of both 10 and 12, so they satisfy both events.</a:t>
            </a:r>
            <a:endParaRPr sz="1600"/>
          </a:p>
        </p:txBody>
      </p:sp>
      <p:cxnSp>
        <p:nvCxnSpPr>
          <p:cNvPr id="987" name="Google Shape;987;p74"/>
          <p:cNvCxnSpPr/>
          <p:nvPr/>
        </p:nvCxnSpPr>
        <p:spPr>
          <a:xfrm>
            <a:off x="1540411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74"/>
          <p:cNvCxnSpPr/>
          <p:nvPr/>
        </p:nvCxnSpPr>
        <p:spPr>
          <a:xfrm>
            <a:off x="821950" y="2576100"/>
            <a:ext cx="1622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74"/>
          <p:cNvCxnSpPr/>
          <p:nvPr/>
        </p:nvCxnSpPr>
        <p:spPr>
          <a:xfrm>
            <a:off x="821950" y="3566700"/>
            <a:ext cx="1622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74"/>
          <p:cNvCxnSpPr/>
          <p:nvPr/>
        </p:nvCxnSpPr>
        <p:spPr>
          <a:xfrm>
            <a:off x="1796225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74"/>
          <p:cNvCxnSpPr/>
          <p:nvPr/>
        </p:nvCxnSpPr>
        <p:spPr>
          <a:xfrm>
            <a:off x="2634425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74"/>
          <p:cNvCxnSpPr/>
          <p:nvPr/>
        </p:nvCxnSpPr>
        <p:spPr>
          <a:xfrm>
            <a:off x="1540411" y="16888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4"/>
          <p:cNvCxnSpPr/>
          <p:nvPr/>
        </p:nvCxnSpPr>
        <p:spPr>
          <a:xfrm>
            <a:off x="1790782" y="16888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74"/>
          <p:cNvCxnSpPr/>
          <p:nvPr/>
        </p:nvCxnSpPr>
        <p:spPr>
          <a:xfrm>
            <a:off x="2062925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74"/>
          <p:cNvCxnSpPr/>
          <p:nvPr/>
        </p:nvCxnSpPr>
        <p:spPr>
          <a:xfrm>
            <a:off x="2362282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74"/>
          <p:cNvCxnSpPr/>
          <p:nvPr/>
        </p:nvCxnSpPr>
        <p:spPr>
          <a:xfrm>
            <a:off x="2922896" y="1612679"/>
            <a:ext cx="1197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74"/>
          <p:cNvSpPr/>
          <p:nvPr/>
        </p:nvSpPr>
        <p:spPr>
          <a:xfrm>
            <a:off x="244159" y="1144500"/>
            <a:ext cx="651900" cy="613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87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7435" rotWithShape="0" algn="bl" dir="5400000" dist="12478">
              <a:srgbClr val="000000">
                <a:alpha val="50000"/>
              </a:srgbClr>
            </a:outerShdw>
          </a:effectLst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/>
          </a:p>
        </p:txBody>
      </p:sp>
      <p:sp>
        <p:nvSpPr>
          <p:cNvPr id="998" name="Google Shape;998;p74"/>
          <p:cNvSpPr/>
          <p:nvPr/>
        </p:nvSpPr>
        <p:spPr>
          <a:xfrm rot="-5400000">
            <a:off x="745523" y="1591919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4"/>
          <p:cNvSpPr/>
          <p:nvPr/>
        </p:nvSpPr>
        <p:spPr>
          <a:xfrm rot="-5400000">
            <a:off x="776154" y="1449057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4"/>
          <p:cNvSpPr/>
          <p:nvPr/>
        </p:nvSpPr>
        <p:spPr>
          <a:xfrm rot="-5400000">
            <a:off x="810597" y="1309083"/>
            <a:ext cx="84000" cy="30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4"/>
          <p:cNvSpPr/>
          <p:nvPr/>
        </p:nvSpPr>
        <p:spPr>
          <a:xfrm rot="-5400000">
            <a:off x="33557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4"/>
          <p:cNvSpPr/>
          <p:nvPr/>
        </p:nvSpPr>
        <p:spPr>
          <a:xfrm rot="-5400000">
            <a:off x="582525" y="133948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4"/>
          <p:cNvSpPr/>
          <p:nvPr/>
        </p:nvSpPr>
        <p:spPr>
          <a:xfrm rot="-5400000">
            <a:off x="335575" y="1339498"/>
            <a:ext cx="65400" cy="696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4"/>
          <p:cNvSpPr/>
          <p:nvPr/>
        </p:nvSpPr>
        <p:spPr>
          <a:xfrm rot="-5400000">
            <a:off x="582405" y="1638111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4"/>
          <p:cNvSpPr/>
          <p:nvPr/>
        </p:nvSpPr>
        <p:spPr>
          <a:xfrm rot="-5400000">
            <a:off x="33557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4"/>
          <p:cNvSpPr/>
          <p:nvPr/>
        </p:nvSpPr>
        <p:spPr>
          <a:xfrm rot="-5400000">
            <a:off x="582405" y="1487497"/>
            <a:ext cx="65700" cy="699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4"/>
          <p:cNvSpPr/>
          <p:nvPr/>
        </p:nvSpPr>
        <p:spPr>
          <a:xfrm rot="-5400000">
            <a:off x="615162" y="1202604"/>
            <a:ext cx="459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4"/>
          <p:cNvSpPr/>
          <p:nvPr/>
        </p:nvSpPr>
        <p:spPr>
          <a:xfrm rot="-5400000">
            <a:off x="438180" y="1153588"/>
            <a:ext cx="44100" cy="717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8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875" lIns="59875" spcFirstLastPara="1" rIns="59875" wrap="square" tIns="5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17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5"/>
          <p:cNvSpPr/>
          <p:nvPr/>
        </p:nvSpPr>
        <p:spPr>
          <a:xfrm>
            <a:off x="6229825" y="2868375"/>
            <a:ext cx="612900" cy="1254225"/>
          </a:xfrm>
          <a:custGeom>
            <a:rect b="b" l="l" r="r" t="t"/>
            <a:pathLst>
              <a:path extrusionOk="0" h="50169" w="24516">
                <a:moveTo>
                  <a:pt x="12285" y="0"/>
                </a:moveTo>
                <a:lnTo>
                  <a:pt x="17155" y="4546"/>
                </a:lnTo>
                <a:lnTo>
                  <a:pt x="21539" y="11744"/>
                </a:lnTo>
                <a:lnTo>
                  <a:pt x="23974" y="18780"/>
                </a:lnTo>
                <a:lnTo>
                  <a:pt x="24516" y="25112"/>
                </a:lnTo>
                <a:lnTo>
                  <a:pt x="23487" y="34366"/>
                </a:lnTo>
                <a:lnTo>
                  <a:pt x="21106" y="39616"/>
                </a:lnTo>
                <a:lnTo>
                  <a:pt x="17264" y="45515"/>
                </a:lnTo>
                <a:lnTo>
                  <a:pt x="12339" y="50169"/>
                </a:lnTo>
                <a:lnTo>
                  <a:pt x="8063" y="46651"/>
                </a:lnTo>
                <a:lnTo>
                  <a:pt x="5087" y="42538"/>
                </a:lnTo>
                <a:lnTo>
                  <a:pt x="1569" y="35557"/>
                </a:lnTo>
                <a:lnTo>
                  <a:pt x="0" y="27060"/>
                </a:lnTo>
                <a:lnTo>
                  <a:pt x="433" y="18726"/>
                </a:lnTo>
                <a:lnTo>
                  <a:pt x="2273" y="12502"/>
                </a:lnTo>
                <a:lnTo>
                  <a:pt x="5357" y="7252"/>
                </a:lnTo>
                <a:lnTo>
                  <a:pt x="9849" y="1949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14" name="Google Shape;1014;p75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5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5"/>
          <p:cNvSpPr/>
          <p:nvPr/>
        </p:nvSpPr>
        <p:spPr>
          <a:xfrm>
            <a:off x="62290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5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 set of events are all </a:t>
            </a:r>
            <a:r>
              <a:rPr lang="en-GB" sz="1800">
                <a:solidFill>
                  <a:schemeClr val="accent4"/>
                </a:solidFill>
              </a:rPr>
              <a:t>unique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account for all possible outcomes</a:t>
            </a:r>
            <a:r>
              <a:rPr lang="en-GB" sz="1800"/>
              <a:t> of a trial, their probabilities</a:t>
            </a:r>
            <a:r>
              <a:rPr lang="en-GB" sz="1800">
                <a:solidFill>
                  <a:schemeClr val="accent4"/>
                </a:solidFill>
              </a:rPr>
              <a:t> sum to 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18" name="Google Shape;101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019" name="Google Shape;1019;p75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020" name="Google Shape;1020;p75"/>
          <p:cNvSpPr txBox="1"/>
          <p:nvPr/>
        </p:nvSpPr>
        <p:spPr>
          <a:xfrm>
            <a:off x="1467000" y="20281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5"/>
          <p:cNvSpPr txBox="1"/>
          <p:nvPr/>
        </p:nvSpPr>
        <p:spPr>
          <a:xfrm>
            <a:off x="1467000" y="2637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{odd}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5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5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5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5"/>
          <p:cNvSpPr txBox="1"/>
          <p:nvPr/>
        </p:nvSpPr>
        <p:spPr>
          <a:xfrm>
            <a:off x="5885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5"/>
          <p:cNvSpPr txBox="1"/>
          <p:nvPr/>
        </p:nvSpPr>
        <p:spPr>
          <a:xfrm>
            <a:off x="55266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5"/>
          <p:cNvSpPr txBox="1"/>
          <p:nvPr/>
        </p:nvSpPr>
        <p:spPr>
          <a:xfrm>
            <a:off x="5836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5"/>
          <p:cNvSpPr txBox="1"/>
          <p:nvPr/>
        </p:nvSpPr>
        <p:spPr>
          <a:xfrm>
            <a:off x="7028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5"/>
          <p:cNvSpPr txBox="1"/>
          <p:nvPr/>
        </p:nvSpPr>
        <p:spPr>
          <a:xfrm>
            <a:off x="73554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5"/>
          <p:cNvSpPr txBox="1"/>
          <p:nvPr/>
        </p:nvSpPr>
        <p:spPr>
          <a:xfrm>
            <a:off x="6979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5"/>
          <p:cNvSpPr txBox="1"/>
          <p:nvPr>
            <p:ph idx="1" type="body"/>
          </p:nvPr>
        </p:nvSpPr>
        <p:spPr>
          <a:xfrm>
            <a:off x="324000" y="3197700"/>
            <a:ext cx="4346100" cy="106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events are </a:t>
            </a:r>
            <a:r>
              <a:rPr b="1" lang="en-GB" sz="1800"/>
              <a:t>mutually exclusive</a:t>
            </a:r>
            <a:r>
              <a:rPr lang="en-GB" sz="1800"/>
              <a:t> because there are no numbers on a dice that are both odd and even.</a:t>
            </a:r>
            <a:endParaRPr sz="1800"/>
          </a:p>
        </p:txBody>
      </p:sp>
      <p:sp>
        <p:nvSpPr>
          <p:cNvPr id="1032" name="Google Shape;1032;p75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033" name="Google Shape;1033;p75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5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5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5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5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5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5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5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5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5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5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76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6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6"/>
          <p:cNvSpPr/>
          <p:nvPr/>
        </p:nvSpPr>
        <p:spPr>
          <a:xfrm>
            <a:off x="62290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6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 set of events are </a:t>
            </a:r>
            <a:r>
              <a:rPr b="1" lang="en-GB" sz="1800"/>
              <a:t>mutually exclusive</a:t>
            </a:r>
            <a:r>
              <a:rPr lang="en-GB" sz="1800"/>
              <a:t> and </a:t>
            </a:r>
            <a:r>
              <a:rPr lang="en-GB" sz="1800">
                <a:solidFill>
                  <a:schemeClr val="accent4"/>
                </a:solidFill>
              </a:rPr>
              <a:t>account for all possible outcomes</a:t>
            </a:r>
            <a:r>
              <a:rPr lang="en-GB" sz="1800"/>
              <a:t> of a trial, their probabilities</a:t>
            </a:r>
            <a:r>
              <a:rPr lang="en-GB" sz="1800">
                <a:solidFill>
                  <a:schemeClr val="accent4"/>
                </a:solidFill>
              </a:rPr>
              <a:t> sum to 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52" name="Google Shape;105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053" name="Google Shape;1053;p76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054" name="Google Shape;1054;p76"/>
          <p:cNvSpPr txBox="1"/>
          <p:nvPr/>
        </p:nvSpPr>
        <p:spPr>
          <a:xfrm>
            <a:off x="1467000" y="20281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6"/>
          <p:cNvSpPr txBox="1"/>
          <p:nvPr/>
        </p:nvSpPr>
        <p:spPr>
          <a:xfrm>
            <a:off x="1467000" y="2637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{odd}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6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6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6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6"/>
          <p:cNvSpPr txBox="1"/>
          <p:nvPr/>
        </p:nvSpPr>
        <p:spPr>
          <a:xfrm>
            <a:off x="5885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6"/>
          <p:cNvSpPr txBox="1"/>
          <p:nvPr/>
        </p:nvSpPr>
        <p:spPr>
          <a:xfrm>
            <a:off x="55266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6"/>
          <p:cNvSpPr txBox="1"/>
          <p:nvPr/>
        </p:nvSpPr>
        <p:spPr>
          <a:xfrm>
            <a:off x="5836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6"/>
          <p:cNvSpPr txBox="1"/>
          <p:nvPr/>
        </p:nvSpPr>
        <p:spPr>
          <a:xfrm>
            <a:off x="7028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6"/>
          <p:cNvSpPr txBox="1"/>
          <p:nvPr/>
        </p:nvSpPr>
        <p:spPr>
          <a:xfrm>
            <a:off x="73554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6"/>
          <p:cNvSpPr txBox="1"/>
          <p:nvPr/>
        </p:nvSpPr>
        <p:spPr>
          <a:xfrm>
            <a:off x="6979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6"/>
          <p:cNvSpPr txBox="1"/>
          <p:nvPr>
            <p:ph idx="1" type="body"/>
          </p:nvPr>
        </p:nvSpPr>
        <p:spPr>
          <a:xfrm>
            <a:off x="324000" y="3197700"/>
            <a:ext cx="4248000" cy="13941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These events are </a:t>
            </a:r>
            <a:r>
              <a:rPr b="1" lang="en-GB" sz="1800"/>
              <a:t>exhaustive</a:t>
            </a:r>
            <a:r>
              <a:rPr lang="en-GB" sz="1800"/>
              <a:t> because there are no numbers on a dice that are neither odd or even.</a:t>
            </a:r>
            <a:endParaRPr sz="1800"/>
          </a:p>
        </p:txBody>
      </p:sp>
      <p:sp>
        <p:nvSpPr>
          <p:cNvPr id="1066" name="Google Shape;1066;p76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6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068" name="Google Shape;1068;p76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6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6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6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6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6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6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6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6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6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6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7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7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7"/>
          <p:cNvSpPr/>
          <p:nvPr/>
        </p:nvSpPr>
        <p:spPr>
          <a:xfrm>
            <a:off x="62290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7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When a set of events are </a:t>
            </a:r>
            <a:r>
              <a:rPr b="1" lang="en-GB" sz="1800"/>
              <a:t>mutually exclusive</a:t>
            </a:r>
            <a:r>
              <a:rPr lang="en-GB" sz="1800"/>
              <a:t> and </a:t>
            </a:r>
            <a:r>
              <a:rPr b="1" lang="en-GB" sz="1800"/>
              <a:t>exhaustive</a:t>
            </a:r>
            <a:r>
              <a:rPr lang="en-GB" sz="1800"/>
              <a:t>, their probabilities</a:t>
            </a:r>
            <a:r>
              <a:rPr lang="en-GB" sz="1800">
                <a:solidFill>
                  <a:schemeClr val="accent4"/>
                </a:solidFill>
              </a:rPr>
              <a:t> sum to 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87" name="Google Shape;108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088" name="Google Shape;1088;p77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089" name="Google Shape;1089;p77"/>
          <p:cNvSpPr txBox="1"/>
          <p:nvPr/>
        </p:nvSpPr>
        <p:spPr>
          <a:xfrm>
            <a:off x="1467000" y="20281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7"/>
          <p:cNvSpPr txBox="1"/>
          <p:nvPr/>
        </p:nvSpPr>
        <p:spPr>
          <a:xfrm>
            <a:off x="1467000" y="2637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{odd}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7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7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7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7"/>
          <p:cNvSpPr txBox="1"/>
          <p:nvPr/>
        </p:nvSpPr>
        <p:spPr>
          <a:xfrm>
            <a:off x="5885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7"/>
          <p:cNvSpPr txBox="1"/>
          <p:nvPr/>
        </p:nvSpPr>
        <p:spPr>
          <a:xfrm>
            <a:off x="55266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7"/>
          <p:cNvSpPr txBox="1"/>
          <p:nvPr/>
        </p:nvSpPr>
        <p:spPr>
          <a:xfrm>
            <a:off x="5836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7"/>
          <p:cNvSpPr txBox="1"/>
          <p:nvPr/>
        </p:nvSpPr>
        <p:spPr>
          <a:xfrm>
            <a:off x="7028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7"/>
          <p:cNvSpPr txBox="1"/>
          <p:nvPr/>
        </p:nvSpPr>
        <p:spPr>
          <a:xfrm>
            <a:off x="73554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7"/>
          <p:cNvSpPr txBox="1"/>
          <p:nvPr/>
        </p:nvSpPr>
        <p:spPr>
          <a:xfrm>
            <a:off x="6979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7"/>
          <p:cNvSpPr txBox="1"/>
          <p:nvPr>
            <p:ph idx="1" type="body"/>
          </p:nvPr>
        </p:nvSpPr>
        <p:spPr>
          <a:xfrm>
            <a:off x="324000" y="3273900"/>
            <a:ext cx="4248000" cy="1446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Every possible outcome of the trial is accounted for exactly once by these two events, so their probabilities sum to 1.</a:t>
            </a:r>
            <a:endParaRPr sz="1800"/>
          </a:p>
        </p:txBody>
      </p:sp>
      <p:sp>
        <p:nvSpPr>
          <p:cNvPr id="1101" name="Google Shape;1101;p77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7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103" name="Google Shape;1103;p77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7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7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7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7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7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7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7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7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7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7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8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8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 set of events are </a:t>
            </a:r>
            <a:r>
              <a:rPr b="1" lang="en-GB" sz="1800"/>
              <a:t>mutually exclusive</a:t>
            </a:r>
            <a:r>
              <a:rPr lang="en-GB" sz="1800"/>
              <a:t> and </a:t>
            </a:r>
            <a:r>
              <a:rPr b="1" lang="en-GB" sz="1800"/>
              <a:t>exhaustive</a:t>
            </a:r>
            <a:r>
              <a:rPr lang="en-GB" sz="1800"/>
              <a:t>, their probabilities</a:t>
            </a:r>
            <a:r>
              <a:rPr lang="en-GB" sz="1800">
                <a:solidFill>
                  <a:schemeClr val="accent4"/>
                </a:solidFill>
              </a:rPr>
              <a:t> sum to 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20" name="Google Shape;112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121" name="Google Shape;1121;p78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122" name="Google Shape;1122;p78"/>
          <p:cNvSpPr txBox="1"/>
          <p:nvPr/>
        </p:nvSpPr>
        <p:spPr>
          <a:xfrm>
            <a:off x="1467000" y="20281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8"/>
          <p:cNvSpPr txBox="1"/>
          <p:nvPr/>
        </p:nvSpPr>
        <p:spPr>
          <a:xfrm>
            <a:off x="1467000" y="2637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{odd}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8"/>
          <p:cNvSpPr txBox="1"/>
          <p:nvPr/>
        </p:nvSpPr>
        <p:spPr>
          <a:xfrm>
            <a:off x="4649675" y="24882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8"/>
          <p:cNvSpPr txBox="1"/>
          <p:nvPr/>
        </p:nvSpPr>
        <p:spPr>
          <a:xfrm>
            <a:off x="8329300" y="24883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8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8"/>
          <p:cNvSpPr txBox="1"/>
          <p:nvPr/>
        </p:nvSpPr>
        <p:spPr>
          <a:xfrm>
            <a:off x="5885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78"/>
          <p:cNvSpPr txBox="1"/>
          <p:nvPr/>
        </p:nvSpPr>
        <p:spPr>
          <a:xfrm>
            <a:off x="55266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8"/>
          <p:cNvSpPr txBox="1"/>
          <p:nvPr/>
        </p:nvSpPr>
        <p:spPr>
          <a:xfrm>
            <a:off x="5836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8"/>
          <p:cNvSpPr txBox="1"/>
          <p:nvPr/>
        </p:nvSpPr>
        <p:spPr>
          <a:xfrm>
            <a:off x="7028488" y="29177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8"/>
          <p:cNvSpPr txBox="1"/>
          <p:nvPr/>
        </p:nvSpPr>
        <p:spPr>
          <a:xfrm>
            <a:off x="73554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8"/>
          <p:cNvSpPr txBox="1"/>
          <p:nvPr/>
        </p:nvSpPr>
        <p:spPr>
          <a:xfrm>
            <a:off x="6979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8"/>
          <p:cNvSpPr txBox="1"/>
          <p:nvPr>
            <p:ph idx="1" type="body"/>
          </p:nvPr>
        </p:nvSpPr>
        <p:spPr>
          <a:xfrm>
            <a:off x="324000" y="3273900"/>
            <a:ext cx="4248000" cy="1446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Venn diagram could even be drawn like this:</a:t>
            </a:r>
            <a:endParaRPr sz="1800"/>
          </a:p>
        </p:txBody>
      </p:sp>
      <p:cxnSp>
        <p:nvCxnSpPr>
          <p:cNvPr id="1134" name="Google Shape;1134;p78"/>
          <p:cNvCxnSpPr>
            <a:stCxn id="1118" idx="2"/>
          </p:cNvCxnSpPr>
          <p:nvPr/>
        </p:nvCxnSpPr>
        <p:spPr>
          <a:xfrm rot="10800000">
            <a:off x="6576050" y="2470875"/>
            <a:ext cx="0" cy="204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78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136" name="Google Shape;1136;p78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8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8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8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8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8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8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8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8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8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9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9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solidFill>
            <a:schemeClr val="accent4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9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9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</a:t>
            </a:r>
            <a:r>
              <a:rPr lang="en-GB" sz="1800"/>
              <a:t> a set of events are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</a:t>
            </a:r>
            <a:r>
              <a:rPr b="1" lang="en-GB" sz="1800"/>
              <a:t>mutually exclusive</a:t>
            </a:r>
            <a:r>
              <a:rPr lang="en-GB" sz="1800">
                <a:solidFill>
                  <a:schemeClr val="accent4"/>
                </a:solidFill>
              </a:rPr>
              <a:t> </a:t>
            </a:r>
            <a:r>
              <a:rPr lang="en-GB" sz="1800"/>
              <a:t>or if they are </a:t>
            </a:r>
            <a:r>
              <a:rPr lang="en-GB" sz="1800">
                <a:solidFill>
                  <a:schemeClr val="accent4"/>
                </a:solidFill>
              </a:rPr>
              <a:t>not </a:t>
            </a:r>
            <a:r>
              <a:rPr b="1" lang="en-GB" sz="1800"/>
              <a:t>exhaustive</a:t>
            </a:r>
            <a:r>
              <a:rPr lang="en-GB" sz="1800"/>
              <a:t>, their probabilities may </a:t>
            </a:r>
            <a:r>
              <a:rPr lang="en-GB" sz="1800">
                <a:solidFill>
                  <a:schemeClr val="accent4"/>
                </a:solidFill>
              </a:rPr>
              <a:t>not necessarily </a:t>
            </a:r>
            <a:r>
              <a:rPr lang="en-GB" sz="1800"/>
              <a:t>sum to 1.</a:t>
            </a:r>
            <a:endParaRPr sz="1800"/>
          </a:p>
        </p:txBody>
      </p:sp>
      <p:sp>
        <p:nvSpPr>
          <p:cNvPr id="1155" name="Google Shape;115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156" name="Google Shape;1156;p79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157" name="Google Shape;1157;p79"/>
          <p:cNvSpPr txBox="1"/>
          <p:nvPr/>
        </p:nvSpPr>
        <p:spPr>
          <a:xfrm>
            <a:off x="1379914" y="19519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{multiple of 3}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9"/>
          <p:cNvSpPr txBox="1"/>
          <p:nvPr/>
        </p:nvSpPr>
        <p:spPr>
          <a:xfrm>
            <a:off x="1379914" y="2561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{multiple of 4}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9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>
            <p:ph idx="1" type="body"/>
          </p:nvPr>
        </p:nvSpPr>
        <p:spPr>
          <a:xfrm>
            <a:off x="324000" y="3045300"/>
            <a:ext cx="4124400" cy="1746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events are </a:t>
            </a:r>
            <a:r>
              <a:rPr lang="en-GB" sz="1800">
                <a:solidFill>
                  <a:schemeClr val="accent4"/>
                </a:solidFill>
              </a:rPr>
              <a:t>not </a:t>
            </a:r>
            <a:r>
              <a:rPr b="1" lang="en-GB" sz="1800"/>
              <a:t>exhaustive</a:t>
            </a:r>
            <a:r>
              <a:rPr lang="en-GB" sz="1800"/>
              <a:t> because there are numbers that are neither a multiple of 3 nor a multiple of 4.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Their probabilities do not sum to 1.</a:t>
            </a:r>
            <a:endParaRPr sz="1800"/>
          </a:p>
        </p:txBody>
      </p:sp>
      <p:sp>
        <p:nvSpPr>
          <p:cNvPr id="1161" name="Google Shape;1161;p79"/>
          <p:cNvSpPr/>
          <p:nvPr/>
        </p:nvSpPr>
        <p:spPr>
          <a:xfrm>
            <a:off x="6229075" y="2688693"/>
            <a:ext cx="1606200" cy="1606200"/>
          </a:xfrm>
          <a:prstGeom prst="ellipse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9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9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9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9"/>
          <p:cNvSpPr txBox="1"/>
          <p:nvPr/>
        </p:nvSpPr>
        <p:spPr>
          <a:xfrm>
            <a:off x="4981466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9"/>
          <p:cNvSpPr txBox="1"/>
          <p:nvPr/>
        </p:nvSpPr>
        <p:spPr>
          <a:xfrm>
            <a:off x="72083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9"/>
          <p:cNvSpPr txBox="1"/>
          <p:nvPr/>
        </p:nvSpPr>
        <p:spPr>
          <a:xfrm>
            <a:off x="58369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9"/>
          <p:cNvSpPr txBox="1"/>
          <p:nvPr/>
        </p:nvSpPr>
        <p:spPr>
          <a:xfrm>
            <a:off x="4981466" y="340767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9"/>
          <p:cNvSpPr txBox="1"/>
          <p:nvPr/>
        </p:nvSpPr>
        <p:spPr>
          <a:xfrm>
            <a:off x="5830630" y="30521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9"/>
          <p:cNvSpPr txBox="1"/>
          <p:nvPr/>
        </p:nvSpPr>
        <p:spPr>
          <a:xfrm>
            <a:off x="4987663" y="4100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9"/>
          <p:cNvSpPr txBox="1"/>
          <p:nvPr/>
        </p:nvSpPr>
        <p:spPr>
          <a:xfrm>
            <a:off x="4981466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9"/>
          <p:cNvSpPr txBox="1"/>
          <p:nvPr/>
        </p:nvSpPr>
        <p:spPr>
          <a:xfrm>
            <a:off x="4981466" y="340767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9"/>
          <p:cNvSpPr txBox="1"/>
          <p:nvPr/>
        </p:nvSpPr>
        <p:spPr>
          <a:xfrm>
            <a:off x="4987663" y="4100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79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9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9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177" name="Google Shape;1177;p79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9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79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9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79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9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9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9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9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9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9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80"/>
          <p:cNvSpPr/>
          <p:nvPr/>
        </p:nvSpPr>
        <p:spPr>
          <a:xfrm>
            <a:off x="6229825" y="2868375"/>
            <a:ext cx="612900" cy="1254225"/>
          </a:xfrm>
          <a:custGeom>
            <a:rect b="b" l="l" r="r" t="t"/>
            <a:pathLst>
              <a:path extrusionOk="0" h="50169" w="24516">
                <a:moveTo>
                  <a:pt x="12285" y="0"/>
                </a:moveTo>
                <a:lnTo>
                  <a:pt x="17155" y="4546"/>
                </a:lnTo>
                <a:lnTo>
                  <a:pt x="21539" y="11744"/>
                </a:lnTo>
                <a:lnTo>
                  <a:pt x="23974" y="18780"/>
                </a:lnTo>
                <a:lnTo>
                  <a:pt x="24516" y="25112"/>
                </a:lnTo>
                <a:lnTo>
                  <a:pt x="23487" y="34366"/>
                </a:lnTo>
                <a:lnTo>
                  <a:pt x="21106" y="39616"/>
                </a:lnTo>
                <a:lnTo>
                  <a:pt x="17264" y="45515"/>
                </a:lnTo>
                <a:lnTo>
                  <a:pt x="12339" y="50169"/>
                </a:lnTo>
                <a:lnTo>
                  <a:pt x="8063" y="46651"/>
                </a:lnTo>
                <a:lnTo>
                  <a:pt x="5087" y="42538"/>
                </a:lnTo>
                <a:lnTo>
                  <a:pt x="1569" y="35557"/>
                </a:lnTo>
                <a:lnTo>
                  <a:pt x="0" y="27060"/>
                </a:lnTo>
                <a:lnTo>
                  <a:pt x="433" y="18726"/>
                </a:lnTo>
                <a:lnTo>
                  <a:pt x="2273" y="12502"/>
                </a:lnTo>
                <a:lnTo>
                  <a:pt x="5357" y="7252"/>
                </a:lnTo>
                <a:lnTo>
                  <a:pt x="9849" y="1949"/>
                </a:lnTo>
                <a:close/>
              </a:path>
            </a:pathLst>
          </a:cu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93" name="Google Shape;1193;p80"/>
          <p:cNvSpPr/>
          <p:nvPr/>
        </p:nvSpPr>
        <p:spPr>
          <a:xfrm>
            <a:off x="4859000" y="2463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0"/>
          <p:cNvSpPr txBox="1"/>
          <p:nvPr>
            <p:ph idx="1" type="body"/>
          </p:nvPr>
        </p:nvSpPr>
        <p:spPr>
          <a:xfrm>
            <a:off x="324000" y="759300"/>
            <a:ext cx="84960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If a set of events are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</a:t>
            </a:r>
            <a:r>
              <a:rPr b="1" lang="en-GB" sz="1800"/>
              <a:t>mutually exclusive</a:t>
            </a:r>
            <a:r>
              <a:rPr lang="en-GB" sz="1800">
                <a:solidFill>
                  <a:schemeClr val="accent4"/>
                </a:solidFill>
              </a:rPr>
              <a:t> </a:t>
            </a:r>
            <a:r>
              <a:rPr lang="en-GB" sz="1800"/>
              <a:t>or if they are </a:t>
            </a:r>
            <a:r>
              <a:rPr lang="en-GB" sz="1800">
                <a:solidFill>
                  <a:schemeClr val="accent4"/>
                </a:solidFill>
              </a:rPr>
              <a:t>not </a:t>
            </a:r>
            <a:r>
              <a:rPr b="1" lang="en-GB" sz="1800"/>
              <a:t>exhaustive</a:t>
            </a:r>
            <a:r>
              <a:rPr lang="en-GB" sz="1800"/>
              <a:t>, their probabilities may </a:t>
            </a:r>
            <a:r>
              <a:rPr lang="en-GB" sz="1800">
                <a:solidFill>
                  <a:schemeClr val="accent4"/>
                </a:solidFill>
              </a:rPr>
              <a:t>not necessarily </a:t>
            </a:r>
            <a:r>
              <a:rPr lang="en-GB" sz="1800"/>
              <a:t>sum to 1.</a:t>
            </a:r>
            <a:endParaRPr sz="1800"/>
          </a:p>
        </p:txBody>
      </p:sp>
      <p:sp>
        <p:nvSpPr>
          <p:cNvPr id="1195" name="Google Shape;119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196" name="Google Shape;1196;p80"/>
          <p:cNvSpPr txBox="1"/>
          <p:nvPr>
            <p:ph idx="1" type="body"/>
          </p:nvPr>
        </p:nvSpPr>
        <p:spPr>
          <a:xfrm>
            <a:off x="933600" y="1597500"/>
            <a:ext cx="8237700" cy="642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 Trial: rolling a regular six-sided dice.</a:t>
            </a:r>
            <a:endParaRPr sz="1800"/>
          </a:p>
        </p:txBody>
      </p:sp>
      <p:sp>
        <p:nvSpPr>
          <p:cNvPr id="1197" name="Google Shape;1197;p80"/>
          <p:cNvSpPr txBox="1"/>
          <p:nvPr/>
        </p:nvSpPr>
        <p:spPr>
          <a:xfrm>
            <a:off x="1379914" y="1951900"/>
            <a:ext cx="3716100" cy="12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Events: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{factors of 10}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0"/>
          <p:cNvSpPr txBox="1"/>
          <p:nvPr/>
        </p:nvSpPr>
        <p:spPr>
          <a:xfrm>
            <a:off x="1379914" y="2561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{factors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0"/>
          <p:cNvSpPr txBox="1"/>
          <p:nvPr/>
        </p:nvSpPr>
        <p:spPr>
          <a:xfrm>
            <a:off x="4819800" y="2070600"/>
            <a:ext cx="21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0"/>
          <p:cNvSpPr txBox="1"/>
          <p:nvPr>
            <p:ph idx="1" type="body"/>
          </p:nvPr>
        </p:nvSpPr>
        <p:spPr>
          <a:xfrm>
            <a:off x="324000" y="3045300"/>
            <a:ext cx="4416900" cy="1746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events are</a:t>
            </a:r>
            <a:r>
              <a:rPr lang="en-GB" sz="1800">
                <a:solidFill>
                  <a:schemeClr val="accent4"/>
                </a:solidFill>
              </a:rPr>
              <a:t> not</a:t>
            </a:r>
            <a:r>
              <a:rPr lang="en-GB" sz="1800"/>
              <a:t> </a:t>
            </a:r>
            <a:r>
              <a:rPr b="1" lang="en-GB" sz="1800"/>
              <a:t>mutually exclusive</a:t>
            </a:r>
            <a:r>
              <a:rPr lang="en-GB" sz="1800"/>
              <a:t> because there are numbers that are factors of both 10 and 12.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Their probabilities do not sum to 1.</a:t>
            </a:r>
            <a:endParaRPr sz="1800"/>
          </a:p>
        </p:txBody>
      </p:sp>
      <p:sp>
        <p:nvSpPr>
          <p:cNvPr id="1201" name="Google Shape;1201;p80"/>
          <p:cNvSpPr/>
          <p:nvPr/>
        </p:nvSpPr>
        <p:spPr>
          <a:xfrm>
            <a:off x="62290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0"/>
          <p:cNvSpPr txBox="1"/>
          <p:nvPr/>
        </p:nvSpPr>
        <p:spPr>
          <a:xfrm>
            <a:off x="5292850" y="2640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0"/>
          <p:cNvSpPr txBox="1"/>
          <p:nvPr/>
        </p:nvSpPr>
        <p:spPr>
          <a:xfrm>
            <a:off x="7596000" y="2640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0"/>
          <p:cNvSpPr/>
          <p:nvPr/>
        </p:nvSpPr>
        <p:spPr>
          <a:xfrm>
            <a:off x="5238475" y="2688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0"/>
          <p:cNvSpPr txBox="1"/>
          <p:nvPr/>
        </p:nvSpPr>
        <p:spPr>
          <a:xfrm>
            <a:off x="6429266" y="36055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0"/>
          <p:cNvSpPr txBox="1"/>
          <p:nvPr/>
        </p:nvSpPr>
        <p:spPr>
          <a:xfrm>
            <a:off x="7436988" y="3337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0"/>
          <p:cNvSpPr txBox="1"/>
          <p:nvPr/>
        </p:nvSpPr>
        <p:spPr>
          <a:xfrm>
            <a:off x="7056138" y="37579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0"/>
          <p:cNvSpPr txBox="1"/>
          <p:nvPr/>
        </p:nvSpPr>
        <p:spPr>
          <a:xfrm>
            <a:off x="6467366" y="310287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0"/>
          <p:cNvSpPr txBox="1"/>
          <p:nvPr/>
        </p:nvSpPr>
        <p:spPr>
          <a:xfrm>
            <a:off x="7049830" y="29759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0"/>
          <p:cNvSpPr txBox="1"/>
          <p:nvPr/>
        </p:nvSpPr>
        <p:spPr>
          <a:xfrm>
            <a:off x="5597263" y="33388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0"/>
          <p:cNvSpPr txBox="1"/>
          <p:nvPr/>
        </p:nvSpPr>
        <p:spPr>
          <a:xfrm>
            <a:off x="6467366" y="3102871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0"/>
          <p:cNvSpPr txBox="1"/>
          <p:nvPr/>
        </p:nvSpPr>
        <p:spPr>
          <a:xfrm>
            <a:off x="6429266" y="36055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0"/>
          <p:cNvSpPr/>
          <p:nvPr/>
        </p:nvSpPr>
        <p:spPr>
          <a:xfrm>
            <a:off x="242520" y="1547099"/>
            <a:ext cx="572100" cy="538500"/>
          </a:xfrm>
          <a:prstGeom prst="cube">
            <a:avLst>
              <a:gd fmla="val 25000" name="adj"/>
            </a:avLst>
          </a:prstGeom>
          <a:solidFill>
            <a:srgbClr val="EEEEEE"/>
          </a:solidFill>
          <a:ln cap="flat" cmpd="sng" w="16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32850" rotWithShape="0" algn="bl" dir="5400000" dist="10950">
              <a:srgbClr val="000000">
                <a:alpha val="50000"/>
              </a:srgbClr>
            </a:outerShdw>
          </a:effectLst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/>
          </a:p>
        </p:txBody>
      </p:sp>
      <p:sp>
        <p:nvSpPr>
          <p:cNvPr id="1214" name="Google Shape;1214;p80"/>
          <p:cNvSpPr/>
          <p:nvPr/>
        </p:nvSpPr>
        <p:spPr>
          <a:xfrm rot="-5400000">
            <a:off x="682466" y="1939633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0"/>
          <p:cNvSpPr/>
          <p:nvPr/>
        </p:nvSpPr>
        <p:spPr>
          <a:xfrm rot="-5400000">
            <a:off x="709345" y="1814269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0"/>
          <p:cNvSpPr/>
          <p:nvPr/>
        </p:nvSpPr>
        <p:spPr>
          <a:xfrm rot="-5400000">
            <a:off x="739569" y="1691441"/>
            <a:ext cx="73800" cy="264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0"/>
          <p:cNvSpPr/>
          <p:nvPr/>
        </p:nvSpPr>
        <p:spPr>
          <a:xfrm rot="-5400000">
            <a:off x="322696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0"/>
          <p:cNvSpPr/>
          <p:nvPr/>
        </p:nvSpPr>
        <p:spPr>
          <a:xfrm rot="-5400000">
            <a:off x="539398" y="1718292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0"/>
          <p:cNvSpPr/>
          <p:nvPr/>
        </p:nvSpPr>
        <p:spPr>
          <a:xfrm rot="-5400000">
            <a:off x="322846" y="1718195"/>
            <a:ext cx="573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0"/>
          <p:cNvSpPr/>
          <p:nvPr/>
        </p:nvSpPr>
        <p:spPr>
          <a:xfrm rot="-5400000">
            <a:off x="539292" y="1980344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0"/>
          <p:cNvSpPr/>
          <p:nvPr/>
        </p:nvSpPr>
        <p:spPr>
          <a:xfrm rot="-5400000">
            <a:off x="322696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0"/>
          <p:cNvSpPr/>
          <p:nvPr/>
        </p:nvSpPr>
        <p:spPr>
          <a:xfrm rot="-5400000">
            <a:off x="539292" y="1848179"/>
            <a:ext cx="57600" cy="612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0"/>
          <p:cNvSpPr/>
          <p:nvPr/>
        </p:nvSpPr>
        <p:spPr>
          <a:xfrm rot="-5400000">
            <a:off x="568160" y="1598084"/>
            <a:ext cx="402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0"/>
          <p:cNvSpPr/>
          <p:nvPr/>
        </p:nvSpPr>
        <p:spPr>
          <a:xfrm rot="-5400000">
            <a:off x="412816" y="1555032"/>
            <a:ext cx="38700" cy="63000"/>
          </a:xfrm>
          <a:prstGeom prst="ellipse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 cap="flat" cmpd="sng" w="16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550" lIns="52550" spcFirstLastPara="1" rIns="52550" wrap="square" tIns="5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4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8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events are </a:t>
            </a:r>
            <a:r>
              <a:rPr b="1" lang="en-GB" sz="2000"/>
              <a:t>mutually exclusive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230" name="Google Shape;1230;p81"/>
          <p:cNvSpPr txBox="1"/>
          <p:nvPr>
            <p:ph idx="2" type="subTitle"/>
          </p:nvPr>
        </p:nvSpPr>
        <p:spPr>
          <a:xfrm>
            <a:off x="324000" y="1080000"/>
            <a:ext cx="6722400" cy="9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P(vowel) + P(consonant) = 1.</a:t>
            </a:r>
            <a:endParaRPr/>
          </a:p>
        </p:txBody>
      </p:sp>
      <p:sp>
        <p:nvSpPr>
          <p:cNvPr id="1231" name="Google Shape;1231;p81"/>
          <p:cNvSpPr txBox="1"/>
          <p:nvPr>
            <p:ph idx="3" type="subTitle"/>
          </p:nvPr>
        </p:nvSpPr>
        <p:spPr>
          <a:xfrm>
            <a:off x="980575" y="4040350"/>
            <a:ext cx="78414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events are </a:t>
            </a:r>
            <a:r>
              <a:rPr b="1" lang="en-GB" sz="2000"/>
              <a:t>exhaustive</a:t>
            </a:r>
            <a:r>
              <a:rPr lang="en-GB" sz="2000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32" name="Google Shape;1232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233" name="Google Shape;1233;p81"/>
          <p:cNvSpPr/>
          <p:nvPr/>
        </p:nvSpPr>
        <p:spPr>
          <a:xfrm>
            <a:off x="7082450" y="773350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81"/>
          <p:cNvSpPr/>
          <p:nvPr/>
        </p:nvSpPr>
        <p:spPr>
          <a:xfrm rot="8649824">
            <a:off x="7097345" y="788261"/>
            <a:ext cx="1666351" cy="1666351"/>
          </a:xfrm>
          <a:prstGeom prst="pie">
            <a:avLst>
              <a:gd fmla="val 11928607" name="adj1"/>
              <a:gd fmla="val 17395775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1"/>
          <p:cNvSpPr/>
          <p:nvPr/>
        </p:nvSpPr>
        <p:spPr>
          <a:xfrm rot="-8629029">
            <a:off x="7097446" y="788363"/>
            <a:ext cx="1666260" cy="1666260"/>
          </a:xfrm>
          <a:prstGeom prst="pie">
            <a:avLst>
              <a:gd fmla="val 13135973" name="adj1"/>
              <a:gd fmla="val 16225322" name="adj2"/>
            </a:avLst>
          </a:prstGeom>
          <a:solidFill>
            <a:srgbClr val="D02AA7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81"/>
          <p:cNvSpPr/>
          <p:nvPr/>
        </p:nvSpPr>
        <p:spPr>
          <a:xfrm rot="-4309758">
            <a:off x="7097491" y="788527"/>
            <a:ext cx="1666190" cy="1666190"/>
          </a:xfrm>
          <a:prstGeom prst="pie">
            <a:avLst>
              <a:gd fmla="val 11928607" name="adj1"/>
              <a:gd fmla="val 18710809" name="adj2"/>
            </a:avLst>
          </a:prstGeom>
          <a:solidFill>
            <a:srgbClr val="374CF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1"/>
          <p:cNvSpPr/>
          <p:nvPr/>
        </p:nvSpPr>
        <p:spPr>
          <a:xfrm>
            <a:off x="7097491" y="788527"/>
            <a:ext cx="1666200" cy="1666200"/>
          </a:xfrm>
          <a:prstGeom prst="pie">
            <a:avLst>
              <a:gd fmla="val 14427643" name="adj1"/>
              <a:gd fmla="val 16225322" name="adj2"/>
            </a:avLst>
          </a:prstGeom>
          <a:solidFill>
            <a:srgbClr val="BEF2B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1"/>
          <p:cNvSpPr txBox="1"/>
          <p:nvPr/>
        </p:nvSpPr>
        <p:spPr>
          <a:xfrm>
            <a:off x="7631325" y="19440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/>
          <p:nvPr/>
        </p:nvSpPr>
        <p:spPr>
          <a:xfrm rot="4312496">
            <a:off x="7097324" y="788106"/>
            <a:ext cx="1666387" cy="1666387"/>
          </a:xfrm>
          <a:prstGeom prst="pie">
            <a:avLst>
              <a:gd fmla="val 11928607" name="adj1"/>
              <a:gd fmla="val 16225322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81"/>
          <p:cNvSpPr txBox="1"/>
          <p:nvPr/>
        </p:nvSpPr>
        <p:spPr>
          <a:xfrm>
            <a:off x="7570082" y="80102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81"/>
          <p:cNvSpPr txBox="1"/>
          <p:nvPr/>
        </p:nvSpPr>
        <p:spPr>
          <a:xfrm>
            <a:off x="8115776" y="9534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81"/>
          <p:cNvSpPr txBox="1"/>
          <p:nvPr/>
        </p:nvSpPr>
        <p:spPr>
          <a:xfrm>
            <a:off x="8191976" y="1639232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81"/>
          <p:cNvSpPr txBox="1"/>
          <p:nvPr/>
        </p:nvSpPr>
        <p:spPr>
          <a:xfrm>
            <a:off x="7232625" y="133443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44" name="Google Shape;1244;p81"/>
          <p:cNvGrpSpPr/>
          <p:nvPr/>
        </p:nvGrpSpPr>
        <p:grpSpPr>
          <a:xfrm>
            <a:off x="7881759" y="829242"/>
            <a:ext cx="93900" cy="816939"/>
            <a:chOff x="996050" y="213293"/>
            <a:chExt cx="93900" cy="909732"/>
          </a:xfrm>
        </p:grpSpPr>
        <p:cxnSp>
          <p:nvCxnSpPr>
            <p:cNvPr id="1245" name="Google Shape;1245;p81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6" name="Google Shape;1246;p81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47" name="Google Shape;124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433" y="1858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1208" y="303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6808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82"/>
          <p:cNvSpPr txBox="1"/>
          <p:nvPr>
            <p:ph idx="1" type="body"/>
          </p:nvPr>
        </p:nvSpPr>
        <p:spPr>
          <a:xfrm>
            <a:off x="324000" y="759300"/>
            <a:ext cx="84960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spinner is spun once. For each pair of events listed below, state whether their </a:t>
            </a:r>
            <a:br>
              <a:rPr lang="en-GB" sz="1600"/>
            </a:br>
            <a:r>
              <a:rPr lang="en-GB" sz="1600"/>
              <a:t>    probabilities would sum to 1. Justify your answers with reasoning. </a:t>
            </a:r>
            <a:endParaRPr sz="1600"/>
          </a:p>
        </p:txBody>
      </p:sp>
      <p:sp>
        <p:nvSpPr>
          <p:cNvPr id="1255" name="Google Shape;1255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256" name="Google Shape;1256;p82"/>
          <p:cNvSpPr/>
          <p:nvPr/>
        </p:nvSpPr>
        <p:spPr>
          <a:xfrm>
            <a:off x="5415926" y="1717976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2"/>
          <p:cNvSpPr/>
          <p:nvPr/>
        </p:nvSpPr>
        <p:spPr>
          <a:xfrm flipH="1">
            <a:off x="5430615" y="1732736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2"/>
          <p:cNvSpPr/>
          <p:nvPr/>
        </p:nvSpPr>
        <p:spPr>
          <a:xfrm>
            <a:off x="5430686" y="1732736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2"/>
          <p:cNvSpPr txBox="1"/>
          <p:nvPr/>
        </p:nvSpPr>
        <p:spPr>
          <a:xfrm>
            <a:off x="5888601" y="2964851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2"/>
          <p:cNvSpPr/>
          <p:nvPr/>
        </p:nvSpPr>
        <p:spPr>
          <a:xfrm>
            <a:off x="5430686" y="1732736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2"/>
          <p:cNvSpPr/>
          <p:nvPr/>
        </p:nvSpPr>
        <p:spPr>
          <a:xfrm flipH="1">
            <a:off x="5430615" y="1732736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2"/>
          <p:cNvSpPr txBox="1"/>
          <p:nvPr/>
        </p:nvSpPr>
        <p:spPr>
          <a:xfrm>
            <a:off x="6370696" y="177216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2"/>
          <p:cNvSpPr/>
          <p:nvPr/>
        </p:nvSpPr>
        <p:spPr>
          <a:xfrm>
            <a:off x="5430686" y="1732736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82"/>
          <p:cNvSpPr txBox="1"/>
          <p:nvPr/>
        </p:nvSpPr>
        <p:spPr>
          <a:xfrm>
            <a:off x="5861280" y="176490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2"/>
          <p:cNvSpPr/>
          <p:nvPr/>
        </p:nvSpPr>
        <p:spPr>
          <a:xfrm>
            <a:off x="5430686" y="1732736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82"/>
          <p:cNvSpPr txBox="1"/>
          <p:nvPr/>
        </p:nvSpPr>
        <p:spPr>
          <a:xfrm>
            <a:off x="5499448" y="260565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82"/>
          <p:cNvSpPr/>
          <p:nvPr/>
        </p:nvSpPr>
        <p:spPr>
          <a:xfrm flipH="1">
            <a:off x="5430615" y="1732736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2"/>
          <p:cNvSpPr txBox="1"/>
          <p:nvPr/>
        </p:nvSpPr>
        <p:spPr>
          <a:xfrm>
            <a:off x="5505115" y="2141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2"/>
          <p:cNvSpPr/>
          <p:nvPr/>
        </p:nvSpPr>
        <p:spPr>
          <a:xfrm flipH="1">
            <a:off x="5430615" y="1732736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2"/>
          <p:cNvSpPr txBox="1"/>
          <p:nvPr/>
        </p:nvSpPr>
        <p:spPr>
          <a:xfrm>
            <a:off x="6304127" y="2964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2"/>
          <p:cNvSpPr txBox="1"/>
          <p:nvPr/>
        </p:nvSpPr>
        <p:spPr>
          <a:xfrm>
            <a:off x="6665080" y="263414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82"/>
          <p:cNvSpPr txBox="1"/>
          <p:nvPr/>
        </p:nvSpPr>
        <p:spPr>
          <a:xfrm>
            <a:off x="6672851" y="2180308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3" name="Google Shape;1273;p82"/>
          <p:cNvGrpSpPr/>
          <p:nvPr/>
        </p:nvGrpSpPr>
        <p:grpSpPr>
          <a:xfrm>
            <a:off x="6215235" y="1783489"/>
            <a:ext cx="93900" cy="816939"/>
            <a:chOff x="996050" y="213293"/>
            <a:chExt cx="93900" cy="909732"/>
          </a:xfrm>
        </p:grpSpPr>
        <p:cxnSp>
          <p:nvCxnSpPr>
            <p:cNvPr id="1274" name="Google Shape;1274;p82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75" name="Google Shape;1275;p82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6" name="Google Shape;1276;p82"/>
          <p:cNvSpPr txBox="1"/>
          <p:nvPr>
            <p:ph idx="1" type="body"/>
          </p:nvPr>
        </p:nvSpPr>
        <p:spPr>
          <a:xfrm>
            <a:off x="324000" y="1597500"/>
            <a:ext cx="3616800" cy="26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A = {odd}, B = {even}</a:t>
            </a:r>
            <a:br>
              <a:rPr lang="en-GB" sz="1600"/>
            </a:br>
            <a:br>
              <a:rPr lang="en-GB" sz="1600"/>
            </a:br>
            <a:r>
              <a:rPr lang="en-GB" sz="1600"/>
              <a:t>b) A = {odd}, B = {multiple of 4}</a:t>
            </a:r>
            <a:br>
              <a:rPr lang="en-GB" sz="1600"/>
            </a:br>
            <a:br>
              <a:rPr lang="en-GB" sz="1600"/>
            </a:br>
            <a:r>
              <a:rPr lang="en-GB" sz="1600"/>
              <a:t>c) A = {odd}, B = {factor of 24}</a:t>
            </a:r>
            <a:br>
              <a:rPr lang="en-GB" sz="1600"/>
            </a:br>
            <a:br>
              <a:rPr lang="en-GB" sz="1600"/>
            </a:br>
            <a:r>
              <a:rPr lang="en-GB" sz="1600"/>
              <a:t>d) A = {odd}, B = {prime}</a:t>
            </a:r>
            <a:br>
              <a:rPr lang="en-GB" sz="1600"/>
            </a:br>
            <a:br>
              <a:rPr lang="en-GB" sz="1600"/>
            </a:br>
            <a:r>
              <a:rPr lang="en-GB" sz="1600"/>
              <a:t>e) A = {integer}, B = {non-integer}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83"/>
          <p:cNvGrpSpPr/>
          <p:nvPr/>
        </p:nvGrpSpPr>
        <p:grpSpPr>
          <a:xfrm>
            <a:off x="7879850" y="1200388"/>
            <a:ext cx="407325" cy="710225"/>
            <a:chOff x="1848000" y="1454825"/>
            <a:chExt cx="541800" cy="944700"/>
          </a:xfrm>
        </p:grpSpPr>
        <p:sp>
          <p:nvSpPr>
            <p:cNvPr id="1282" name="Google Shape;1282;p83"/>
            <p:cNvSpPr/>
            <p:nvPr/>
          </p:nvSpPr>
          <p:spPr>
            <a:xfrm rot="5400000">
              <a:off x="16465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3"/>
            <p:cNvSpPr/>
            <p:nvPr/>
          </p:nvSpPr>
          <p:spPr>
            <a:xfrm>
              <a:off x="19159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83"/>
          <p:cNvGrpSpPr/>
          <p:nvPr/>
        </p:nvGrpSpPr>
        <p:grpSpPr>
          <a:xfrm>
            <a:off x="7879850" y="2804428"/>
            <a:ext cx="407325" cy="710225"/>
            <a:chOff x="1848000" y="3588425"/>
            <a:chExt cx="541800" cy="944700"/>
          </a:xfrm>
        </p:grpSpPr>
        <p:sp>
          <p:nvSpPr>
            <p:cNvPr id="1285" name="Google Shape;1285;p83"/>
            <p:cNvSpPr/>
            <p:nvPr/>
          </p:nvSpPr>
          <p:spPr>
            <a:xfrm rot="5400000">
              <a:off x="16465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3"/>
            <p:cNvSpPr/>
            <p:nvPr/>
          </p:nvSpPr>
          <p:spPr>
            <a:xfrm>
              <a:off x="19227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7" name="Google Shape;1287;p83"/>
          <p:cNvGrpSpPr/>
          <p:nvPr/>
        </p:nvGrpSpPr>
        <p:grpSpPr>
          <a:xfrm>
            <a:off x="7879850" y="2002408"/>
            <a:ext cx="407325" cy="710225"/>
            <a:chOff x="1848000" y="2521625"/>
            <a:chExt cx="541800" cy="944700"/>
          </a:xfrm>
        </p:grpSpPr>
        <p:sp>
          <p:nvSpPr>
            <p:cNvPr id="1288" name="Google Shape;1288;p83"/>
            <p:cNvSpPr/>
            <p:nvPr/>
          </p:nvSpPr>
          <p:spPr>
            <a:xfrm rot="5400000">
              <a:off x="16465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3"/>
            <p:cNvSpPr/>
            <p:nvPr/>
          </p:nvSpPr>
          <p:spPr>
            <a:xfrm rot="-3007802">
              <a:off x="19278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0" name="Google Shape;1290;p83"/>
          <p:cNvSpPr txBox="1"/>
          <p:nvPr>
            <p:ph idx="1" type="body"/>
          </p:nvPr>
        </p:nvSpPr>
        <p:spPr>
          <a:xfrm>
            <a:off x="324000" y="759300"/>
            <a:ext cx="84960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 game involves the set of cards below. Each card shows one of three shapes. </a:t>
            </a:r>
            <a:endParaRPr sz="1600"/>
          </a:p>
        </p:txBody>
      </p:sp>
      <p:sp>
        <p:nvSpPr>
          <p:cNvPr id="1291" name="Google Shape;1291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grpSp>
        <p:nvGrpSpPr>
          <p:cNvPr id="1292" name="Google Shape;1292;p83"/>
          <p:cNvGrpSpPr/>
          <p:nvPr/>
        </p:nvGrpSpPr>
        <p:grpSpPr>
          <a:xfrm>
            <a:off x="6333087" y="1200388"/>
            <a:ext cx="407325" cy="710225"/>
            <a:chOff x="2533800" y="1454825"/>
            <a:chExt cx="541800" cy="944700"/>
          </a:xfrm>
        </p:grpSpPr>
        <p:sp>
          <p:nvSpPr>
            <p:cNvPr id="1293" name="Google Shape;1293;p83"/>
            <p:cNvSpPr/>
            <p:nvPr/>
          </p:nvSpPr>
          <p:spPr>
            <a:xfrm rot="5400000">
              <a:off x="23323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3"/>
            <p:cNvSpPr/>
            <p:nvPr/>
          </p:nvSpPr>
          <p:spPr>
            <a:xfrm>
              <a:off x="2601764" y="16507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3"/>
            <p:cNvSpPr/>
            <p:nvPr/>
          </p:nvSpPr>
          <p:spPr>
            <a:xfrm>
              <a:off x="26017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3"/>
            <p:cNvSpPr/>
            <p:nvPr/>
          </p:nvSpPr>
          <p:spPr>
            <a:xfrm>
              <a:off x="2601764" y="2053557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83"/>
          <p:cNvGrpSpPr/>
          <p:nvPr/>
        </p:nvGrpSpPr>
        <p:grpSpPr>
          <a:xfrm>
            <a:off x="7364258" y="1200388"/>
            <a:ext cx="407325" cy="710225"/>
            <a:chOff x="3219600" y="1454825"/>
            <a:chExt cx="541800" cy="944700"/>
          </a:xfrm>
        </p:grpSpPr>
        <p:sp>
          <p:nvSpPr>
            <p:cNvPr id="1298" name="Google Shape;1298;p83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3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3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83"/>
          <p:cNvGrpSpPr/>
          <p:nvPr/>
        </p:nvGrpSpPr>
        <p:grpSpPr>
          <a:xfrm>
            <a:off x="8395430" y="1200388"/>
            <a:ext cx="407325" cy="710225"/>
            <a:chOff x="3905400" y="1454825"/>
            <a:chExt cx="541800" cy="944700"/>
          </a:xfrm>
        </p:grpSpPr>
        <p:sp>
          <p:nvSpPr>
            <p:cNvPr id="1302" name="Google Shape;1302;p83"/>
            <p:cNvSpPr/>
            <p:nvPr/>
          </p:nvSpPr>
          <p:spPr>
            <a:xfrm rot="5400000">
              <a:off x="3703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3"/>
            <p:cNvSpPr/>
            <p:nvPr/>
          </p:nvSpPr>
          <p:spPr>
            <a:xfrm>
              <a:off x="39733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4" name="Google Shape;1304;p83"/>
          <p:cNvGrpSpPr/>
          <p:nvPr/>
        </p:nvGrpSpPr>
        <p:grpSpPr>
          <a:xfrm>
            <a:off x="6333087" y="2804428"/>
            <a:ext cx="407325" cy="710225"/>
            <a:chOff x="2533800" y="3588425"/>
            <a:chExt cx="541800" cy="944700"/>
          </a:xfrm>
        </p:grpSpPr>
        <p:sp>
          <p:nvSpPr>
            <p:cNvPr id="1305" name="Google Shape;1305;p83"/>
            <p:cNvSpPr/>
            <p:nvPr/>
          </p:nvSpPr>
          <p:spPr>
            <a:xfrm rot="5400000">
              <a:off x="23323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83"/>
            <p:cNvSpPr/>
            <p:nvPr/>
          </p:nvSpPr>
          <p:spPr>
            <a:xfrm>
              <a:off x="2608500" y="380429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83"/>
            <p:cNvSpPr/>
            <p:nvPr/>
          </p:nvSpPr>
          <p:spPr>
            <a:xfrm>
              <a:off x="26085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83"/>
            <p:cNvSpPr/>
            <p:nvPr/>
          </p:nvSpPr>
          <p:spPr>
            <a:xfrm>
              <a:off x="2608500" y="420737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83"/>
          <p:cNvGrpSpPr/>
          <p:nvPr/>
        </p:nvGrpSpPr>
        <p:grpSpPr>
          <a:xfrm>
            <a:off x="7364258" y="2804428"/>
            <a:ext cx="407325" cy="710225"/>
            <a:chOff x="3219600" y="3588425"/>
            <a:chExt cx="541800" cy="944700"/>
          </a:xfrm>
        </p:grpSpPr>
        <p:sp>
          <p:nvSpPr>
            <p:cNvPr id="1310" name="Google Shape;1310;p83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1" name="Google Shape;1311;p83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3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3" name="Google Shape;1313;p83"/>
          <p:cNvGrpSpPr/>
          <p:nvPr/>
        </p:nvGrpSpPr>
        <p:grpSpPr>
          <a:xfrm>
            <a:off x="8395430" y="2804428"/>
            <a:ext cx="407325" cy="710225"/>
            <a:chOff x="3905400" y="3588425"/>
            <a:chExt cx="541800" cy="944700"/>
          </a:xfrm>
        </p:grpSpPr>
        <p:sp>
          <p:nvSpPr>
            <p:cNvPr id="1314" name="Google Shape;1314;p83"/>
            <p:cNvSpPr/>
            <p:nvPr/>
          </p:nvSpPr>
          <p:spPr>
            <a:xfrm rot="5400000">
              <a:off x="3703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3"/>
            <p:cNvSpPr/>
            <p:nvPr/>
          </p:nvSpPr>
          <p:spPr>
            <a:xfrm>
              <a:off x="39801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6" name="Google Shape;1316;p83"/>
          <p:cNvGrpSpPr/>
          <p:nvPr/>
        </p:nvGrpSpPr>
        <p:grpSpPr>
          <a:xfrm>
            <a:off x="6333087" y="2002408"/>
            <a:ext cx="407325" cy="710225"/>
            <a:chOff x="2533800" y="2521625"/>
            <a:chExt cx="541800" cy="944700"/>
          </a:xfrm>
        </p:grpSpPr>
        <p:sp>
          <p:nvSpPr>
            <p:cNvPr id="1317" name="Google Shape;1317;p83"/>
            <p:cNvSpPr/>
            <p:nvPr/>
          </p:nvSpPr>
          <p:spPr>
            <a:xfrm rot="5400000">
              <a:off x="23323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83"/>
            <p:cNvSpPr/>
            <p:nvPr/>
          </p:nvSpPr>
          <p:spPr>
            <a:xfrm rot="-3007802">
              <a:off x="2613635" y="26216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83"/>
            <p:cNvSpPr/>
            <p:nvPr/>
          </p:nvSpPr>
          <p:spPr>
            <a:xfrm rot="-3007802">
              <a:off x="26136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83"/>
            <p:cNvSpPr/>
            <p:nvPr/>
          </p:nvSpPr>
          <p:spPr>
            <a:xfrm rot="-3007802">
              <a:off x="2613635" y="30788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83"/>
          <p:cNvGrpSpPr/>
          <p:nvPr/>
        </p:nvGrpSpPr>
        <p:grpSpPr>
          <a:xfrm>
            <a:off x="8395430" y="2002408"/>
            <a:ext cx="407325" cy="710225"/>
            <a:chOff x="3905400" y="2521625"/>
            <a:chExt cx="541800" cy="944700"/>
          </a:xfrm>
        </p:grpSpPr>
        <p:sp>
          <p:nvSpPr>
            <p:cNvPr id="1322" name="Google Shape;1322;p83"/>
            <p:cNvSpPr/>
            <p:nvPr/>
          </p:nvSpPr>
          <p:spPr>
            <a:xfrm rot="5400000">
              <a:off x="3703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83"/>
            <p:cNvSpPr/>
            <p:nvPr/>
          </p:nvSpPr>
          <p:spPr>
            <a:xfrm rot="-3007802">
              <a:off x="39852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83"/>
          <p:cNvGrpSpPr/>
          <p:nvPr/>
        </p:nvGrpSpPr>
        <p:grpSpPr>
          <a:xfrm>
            <a:off x="7364258" y="2002408"/>
            <a:ext cx="407325" cy="710225"/>
            <a:chOff x="3219600" y="2521625"/>
            <a:chExt cx="541800" cy="944700"/>
          </a:xfrm>
        </p:grpSpPr>
        <p:sp>
          <p:nvSpPr>
            <p:cNvPr id="1325" name="Google Shape;1325;p83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83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7" name="Google Shape;1327;p83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8" name="Google Shape;1328;p83"/>
          <p:cNvGrpSpPr/>
          <p:nvPr/>
        </p:nvGrpSpPr>
        <p:grpSpPr>
          <a:xfrm>
            <a:off x="5817507" y="1200388"/>
            <a:ext cx="407325" cy="710225"/>
            <a:chOff x="476400" y="1454825"/>
            <a:chExt cx="541800" cy="944700"/>
          </a:xfrm>
        </p:grpSpPr>
        <p:sp>
          <p:nvSpPr>
            <p:cNvPr id="1329" name="Google Shape;1329;p83"/>
            <p:cNvSpPr/>
            <p:nvPr/>
          </p:nvSpPr>
          <p:spPr>
            <a:xfrm rot="5400000">
              <a:off x="274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0" name="Google Shape;1330;p83"/>
            <p:cNvSpPr/>
            <p:nvPr/>
          </p:nvSpPr>
          <p:spPr>
            <a:xfrm>
              <a:off x="544364" y="16507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83"/>
            <p:cNvSpPr/>
            <p:nvPr/>
          </p:nvSpPr>
          <p:spPr>
            <a:xfrm>
              <a:off x="5443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83"/>
            <p:cNvSpPr/>
            <p:nvPr/>
          </p:nvSpPr>
          <p:spPr>
            <a:xfrm>
              <a:off x="544364" y="2053557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83"/>
          <p:cNvGrpSpPr/>
          <p:nvPr/>
        </p:nvGrpSpPr>
        <p:grpSpPr>
          <a:xfrm>
            <a:off x="6848679" y="1200388"/>
            <a:ext cx="407325" cy="710225"/>
            <a:chOff x="1162200" y="1454825"/>
            <a:chExt cx="541800" cy="944700"/>
          </a:xfrm>
        </p:grpSpPr>
        <p:sp>
          <p:nvSpPr>
            <p:cNvPr id="1334" name="Google Shape;1334;p83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83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6" name="Google Shape;1336;p83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83"/>
          <p:cNvGrpSpPr/>
          <p:nvPr/>
        </p:nvGrpSpPr>
        <p:grpSpPr>
          <a:xfrm>
            <a:off x="5817507" y="2804428"/>
            <a:ext cx="407325" cy="710225"/>
            <a:chOff x="476400" y="3588425"/>
            <a:chExt cx="541800" cy="944700"/>
          </a:xfrm>
        </p:grpSpPr>
        <p:sp>
          <p:nvSpPr>
            <p:cNvPr id="1338" name="Google Shape;1338;p83"/>
            <p:cNvSpPr/>
            <p:nvPr/>
          </p:nvSpPr>
          <p:spPr>
            <a:xfrm rot="5400000">
              <a:off x="274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9" name="Google Shape;1339;p83"/>
            <p:cNvSpPr/>
            <p:nvPr/>
          </p:nvSpPr>
          <p:spPr>
            <a:xfrm>
              <a:off x="551100" y="380429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0" name="Google Shape;1340;p83"/>
            <p:cNvSpPr/>
            <p:nvPr/>
          </p:nvSpPr>
          <p:spPr>
            <a:xfrm>
              <a:off x="5511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83"/>
            <p:cNvSpPr/>
            <p:nvPr/>
          </p:nvSpPr>
          <p:spPr>
            <a:xfrm>
              <a:off x="551100" y="420737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2" name="Google Shape;1342;p83"/>
          <p:cNvGrpSpPr/>
          <p:nvPr/>
        </p:nvGrpSpPr>
        <p:grpSpPr>
          <a:xfrm>
            <a:off x="6848679" y="2804428"/>
            <a:ext cx="407325" cy="710225"/>
            <a:chOff x="1162200" y="3588425"/>
            <a:chExt cx="541800" cy="944700"/>
          </a:xfrm>
        </p:grpSpPr>
        <p:sp>
          <p:nvSpPr>
            <p:cNvPr id="1343" name="Google Shape;1343;p83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83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5" name="Google Shape;1345;p83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83"/>
          <p:cNvGrpSpPr/>
          <p:nvPr/>
        </p:nvGrpSpPr>
        <p:grpSpPr>
          <a:xfrm>
            <a:off x="5817507" y="2002408"/>
            <a:ext cx="407325" cy="710225"/>
            <a:chOff x="476400" y="2521625"/>
            <a:chExt cx="541800" cy="944700"/>
          </a:xfrm>
        </p:grpSpPr>
        <p:sp>
          <p:nvSpPr>
            <p:cNvPr id="1347" name="Google Shape;1347;p83"/>
            <p:cNvSpPr/>
            <p:nvPr/>
          </p:nvSpPr>
          <p:spPr>
            <a:xfrm rot="5400000">
              <a:off x="274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8" name="Google Shape;1348;p83"/>
            <p:cNvSpPr/>
            <p:nvPr/>
          </p:nvSpPr>
          <p:spPr>
            <a:xfrm rot="-3007802">
              <a:off x="556235" y="26216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9" name="Google Shape;1349;p83"/>
            <p:cNvSpPr/>
            <p:nvPr/>
          </p:nvSpPr>
          <p:spPr>
            <a:xfrm rot="-3007802">
              <a:off x="5562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83"/>
            <p:cNvSpPr/>
            <p:nvPr/>
          </p:nvSpPr>
          <p:spPr>
            <a:xfrm rot="-3007802">
              <a:off x="556235" y="30788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83"/>
          <p:cNvGrpSpPr/>
          <p:nvPr/>
        </p:nvGrpSpPr>
        <p:grpSpPr>
          <a:xfrm>
            <a:off x="6848679" y="2002408"/>
            <a:ext cx="407325" cy="710225"/>
            <a:chOff x="1162200" y="2521625"/>
            <a:chExt cx="541800" cy="944700"/>
          </a:xfrm>
        </p:grpSpPr>
        <p:sp>
          <p:nvSpPr>
            <p:cNvPr id="1352" name="Google Shape;1352;p83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83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83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55" name="Google Shape;1355;p83"/>
          <p:cNvSpPr txBox="1"/>
          <p:nvPr>
            <p:ph idx="1" type="body"/>
          </p:nvPr>
        </p:nvSpPr>
        <p:spPr>
          <a:xfrm>
            <a:off x="521311" y="1171270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three shapes: </a:t>
            </a:r>
            <a:endParaRPr sz="1600"/>
          </a:p>
        </p:txBody>
      </p:sp>
      <p:grpSp>
        <p:nvGrpSpPr>
          <p:cNvPr id="1356" name="Google Shape;1356;p83"/>
          <p:cNvGrpSpPr/>
          <p:nvPr/>
        </p:nvGrpSpPr>
        <p:grpSpPr>
          <a:xfrm>
            <a:off x="5306858" y="1200388"/>
            <a:ext cx="407325" cy="710225"/>
            <a:chOff x="3219600" y="1454825"/>
            <a:chExt cx="541800" cy="944700"/>
          </a:xfrm>
        </p:grpSpPr>
        <p:sp>
          <p:nvSpPr>
            <p:cNvPr id="1357" name="Google Shape;1357;p83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8" name="Google Shape;1358;p83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83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83"/>
          <p:cNvGrpSpPr/>
          <p:nvPr/>
        </p:nvGrpSpPr>
        <p:grpSpPr>
          <a:xfrm>
            <a:off x="5306858" y="2804428"/>
            <a:ext cx="407325" cy="710225"/>
            <a:chOff x="3219600" y="3588425"/>
            <a:chExt cx="541800" cy="944700"/>
          </a:xfrm>
        </p:grpSpPr>
        <p:sp>
          <p:nvSpPr>
            <p:cNvPr id="1361" name="Google Shape;1361;p83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83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3" name="Google Shape;1363;p83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4" name="Google Shape;1364;p83"/>
          <p:cNvGrpSpPr/>
          <p:nvPr/>
        </p:nvGrpSpPr>
        <p:grpSpPr>
          <a:xfrm>
            <a:off x="5306858" y="2002408"/>
            <a:ext cx="407325" cy="710225"/>
            <a:chOff x="3219600" y="2521625"/>
            <a:chExt cx="541800" cy="944700"/>
          </a:xfrm>
        </p:grpSpPr>
        <p:sp>
          <p:nvSpPr>
            <p:cNvPr id="1365" name="Google Shape;1365;p83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3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7" name="Google Shape;1367;p83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8" name="Google Shape;1368;p83"/>
          <p:cNvGrpSpPr/>
          <p:nvPr/>
        </p:nvGrpSpPr>
        <p:grpSpPr>
          <a:xfrm>
            <a:off x="4791279" y="1200388"/>
            <a:ext cx="407325" cy="710225"/>
            <a:chOff x="1162200" y="1454825"/>
            <a:chExt cx="541800" cy="944700"/>
          </a:xfrm>
        </p:grpSpPr>
        <p:sp>
          <p:nvSpPr>
            <p:cNvPr id="1369" name="Google Shape;1369;p83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0" name="Google Shape;1370;p83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83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2" name="Google Shape;1372;p83"/>
          <p:cNvGrpSpPr/>
          <p:nvPr/>
        </p:nvGrpSpPr>
        <p:grpSpPr>
          <a:xfrm>
            <a:off x="4791279" y="2804428"/>
            <a:ext cx="407325" cy="710225"/>
            <a:chOff x="1162200" y="3588425"/>
            <a:chExt cx="541800" cy="944700"/>
          </a:xfrm>
        </p:grpSpPr>
        <p:sp>
          <p:nvSpPr>
            <p:cNvPr id="1373" name="Google Shape;1373;p83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3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83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6" name="Google Shape;1376;p83"/>
          <p:cNvGrpSpPr/>
          <p:nvPr/>
        </p:nvGrpSpPr>
        <p:grpSpPr>
          <a:xfrm>
            <a:off x="4791279" y="2002408"/>
            <a:ext cx="407325" cy="710225"/>
            <a:chOff x="1162200" y="2521625"/>
            <a:chExt cx="541800" cy="944700"/>
          </a:xfrm>
        </p:grpSpPr>
        <p:sp>
          <p:nvSpPr>
            <p:cNvPr id="1377" name="Google Shape;1377;p83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8" name="Google Shape;1378;p83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9" name="Google Shape;1379;p83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0" name="Google Shape;1380;p83"/>
          <p:cNvSpPr/>
          <p:nvPr/>
        </p:nvSpPr>
        <p:spPr>
          <a:xfrm>
            <a:off x="4842374" y="17374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3"/>
          <p:cNvSpPr/>
          <p:nvPr/>
        </p:nvSpPr>
        <p:spPr>
          <a:xfrm>
            <a:off x="4842374" y="12802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3"/>
          <p:cNvSpPr/>
          <p:nvPr/>
        </p:nvSpPr>
        <p:spPr>
          <a:xfrm>
            <a:off x="5357954" y="1281242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3"/>
          <p:cNvSpPr/>
          <p:nvPr/>
        </p:nvSpPr>
        <p:spPr>
          <a:xfrm rot="-3007747">
            <a:off x="5366870" y="1998731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3"/>
          <p:cNvSpPr/>
          <p:nvPr/>
        </p:nvSpPr>
        <p:spPr>
          <a:xfrm>
            <a:off x="5363018" y="2883810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3"/>
          <p:cNvSpPr/>
          <p:nvPr/>
        </p:nvSpPr>
        <p:spPr>
          <a:xfrm>
            <a:off x="5357954" y="1737444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3"/>
          <p:cNvSpPr/>
          <p:nvPr/>
        </p:nvSpPr>
        <p:spPr>
          <a:xfrm rot="-3007747">
            <a:off x="5366870" y="2475393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3"/>
          <p:cNvSpPr/>
          <p:nvPr/>
        </p:nvSpPr>
        <p:spPr>
          <a:xfrm>
            <a:off x="5363018" y="3340128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3"/>
          <p:cNvSpPr/>
          <p:nvPr/>
        </p:nvSpPr>
        <p:spPr>
          <a:xfrm rot="-3007747">
            <a:off x="4851291" y="1998731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3"/>
          <p:cNvSpPr/>
          <p:nvPr/>
        </p:nvSpPr>
        <p:spPr>
          <a:xfrm rot="-3007747">
            <a:off x="4851291" y="2475393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3"/>
          <p:cNvSpPr/>
          <p:nvPr/>
        </p:nvSpPr>
        <p:spPr>
          <a:xfrm>
            <a:off x="4847438" y="2883810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3"/>
          <p:cNvSpPr/>
          <p:nvPr/>
        </p:nvSpPr>
        <p:spPr>
          <a:xfrm>
            <a:off x="4847438" y="3340128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3"/>
          <p:cNvSpPr/>
          <p:nvPr/>
        </p:nvSpPr>
        <p:spPr>
          <a:xfrm>
            <a:off x="2548693" y="125781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3"/>
          <p:cNvSpPr/>
          <p:nvPr/>
        </p:nvSpPr>
        <p:spPr>
          <a:xfrm rot="-3007747">
            <a:off x="2557609" y="1534464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83"/>
          <p:cNvSpPr/>
          <p:nvPr/>
        </p:nvSpPr>
        <p:spPr>
          <a:xfrm>
            <a:off x="2553757" y="1893825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83"/>
          <p:cNvSpPr txBox="1"/>
          <p:nvPr>
            <p:ph idx="1" type="body"/>
          </p:nvPr>
        </p:nvSpPr>
        <p:spPr>
          <a:xfrm>
            <a:off x="2929600" y="1178952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rhombus </a:t>
            </a:r>
            <a:endParaRPr sz="1600"/>
          </a:p>
        </p:txBody>
      </p:sp>
      <p:sp>
        <p:nvSpPr>
          <p:cNvPr id="1396" name="Google Shape;1396;p83"/>
          <p:cNvSpPr txBox="1"/>
          <p:nvPr>
            <p:ph idx="1" type="body"/>
          </p:nvPr>
        </p:nvSpPr>
        <p:spPr>
          <a:xfrm>
            <a:off x="2929600" y="1491433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lightning </a:t>
            </a:r>
            <a:endParaRPr sz="1600"/>
          </a:p>
        </p:txBody>
      </p:sp>
      <p:sp>
        <p:nvSpPr>
          <p:cNvPr id="1397" name="Google Shape;1397;p83"/>
          <p:cNvSpPr txBox="1"/>
          <p:nvPr>
            <p:ph idx="1" type="body"/>
          </p:nvPr>
        </p:nvSpPr>
        <p:spPr>
          <a:xfrm>
            <a:off x="2929603" y="1819290"/>
            <a:ext cx="599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oval </a:t>
            </a:r>
            <a:endParaRPr sz="1600"/>
          </a:p>
        </p:txBody>
      </p:sp>
      <p:sp>
        <p:nvSpPr>
          <p:cNvPr id="1398" name="Google Shape;1398;p83"/>
          <p:cNvSpPr txBox="1"/>
          <p:nvPr>
            <p:ph idx="1" type="body"/>
          </p:nvPr>
        </p:nvSpPr>
        <p:spPr>
          <a:xfrm>
            <a:off x="521311" y="2291226"/>
            <a:ext cx="38220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Shapes are either solid or hollow. </a:t>
            </a:r>
            <a:endParaRPr sz="1600"/>
          </a:p>
        </p:txBody>
      </p:sp>
      <p:sp>
        <p:nvSpPr>
          <p:cNvPr id="1399" name="Google Shape;1399;p83"/>
          <p:cNvSpPr/>
          <p:nvPr/>
        </p:nvSpPr>
        <p:spPr>
          <a:xfrm>
            <a:off x="997000" y="2672070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83"/>
          <p:cNvSpPr/>
          <p:nvPr/>
        </p:nvSpPr>
        <p:spPr>
          <a:xfrm>
            <a:off x="2521000" y="2664388"/>
            <a:ext cx="303000" cy="114600"/>
          </a:xfrm>
          <a:prstGeom prst="diamond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83"/>
          <p:cNvSpPr txBox="1"/>
          <p:nvPr>
            <p:ph idx="1" type="body"/>
          </p:nvPr>
        </p:nvSpPr>
        <p:spPr>
          <a:xfrm>
            <a:off x="521311" y="2596026"/>
            <a:ext cx="437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E.g. </a:t>
            </a:r>
            <a:endParaRPr sz="1600"/>
          </a:p>
        </p:txBody>
      </p:sp>
      <p:sp>
        <p:nvSpPr>
          <p:cNvPr id="1402" name="Google Shape;1402;p83"/>
          <p:cNvSpPr txBox="1"/>
          <p:nvPr>
            <p:ph idx="1" type="body"/>
          </p:nvPr>
        </p:nvSpPr>
        <p:spPr>
          <a:xfrm>
            <a:off x="1389623" y="2596026"/>
            <a:ext cx="926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solid </a:t>
            </a:r>
            <a:endParaRPr sz="1600"/>
          </a:p>
        </p:txBody>
      </p:sp>
      <p:sp>
        <p:nvSpPr>
          <p:cNvPr id="1403" name="Google Shape;1403;p83"/>
          <p:cNvSpPr txBox="1"/>
          <p:nvPr>
            <p:ph idx="1" type="body"/>
          </p:nvPr>
        </p:nvSpPr>
        <p:spPr>
          <a:xfrm>
            <a:off x="2913623" y="2596026"/>
            <a:ext cx="926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hollow </a:t>
            </a:r>
            <a:endParaRPr sz="1600"/>
          </a:p>
        </p:txBody>
      </p:sp>
      <p:sp>
        <p:nvSpPr>
          <p:cNvPr id="1404" name="Google Shape;1404;p83"/>
          <p:cNvSpPr txBox="1"/>
          <p:nvPr>
            <p:ph idx="1" type="body"/>
          </p:nvPr>
        </p:nvSpPr>
        <p:spPr>
          <a:xfrm>
            <a:off x="524156" y="3045562"/>
            <a:ext cx="4162200" cy="6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From the list of events below, find sets of events where the probabilities sum to 1.</a:t>
            </a:r>
            <a:endParaRPr sz="1600"/>
          </a:p>
        </p:txBody>
      </p:sp>
      <p:sp>
        <p:nvSpPr>
          <p:cNvPr id="1405" name="Google Shape;1405;p83"/>
          <p:cNvSpPr txBox="1"/>
          <p:nvPr>
            <p:ph idx="1" type="body"/>
          </p:nvPr>
        </p:nvSpPr>
        <p:spPr>
          <a:xfrm>
            <a:off x="3717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= {rhombus}</a:t>
            </a:r>
            <a:endParaRPr sz="1600"/>
          </a:p>
        </p:txBody>
      </p:sp>
      <p:sp>
        <p:nvSpPr>
          <p:cNvPr id="1406" name="Google Shape;1406;p83"/>
          <p:cNvSpPr txBox="1"/>
          <p:nvPr>
            <p:ph idx="1" type="body"/>
          </p:nvPr>
        </p:nvSpPr>
        <p:spPr>
          <a:xfrm>
            <a:off x="27593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 = {1 shape}</a:t>
            </a:r>
            <a:endParaRPr sz="1600"/>
          </a:p>
        </p:txBody>
      </p:sp>
      <p:sp>
        <p:nvSpPr>
          <p:cNvPr id="1407" name="Google Shape;1407;p83"/>
          <p:cNvSpPr txBox="1"/>
          <p:nvPr>
            <p:ph idx="1" type="body"/>
          </p:nvPr>
        </p:nvSpPr>
        <p:spPr>
          <a:xfrm>
            <a:off x="49183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 = {solid}</a:t>
            </a:r>
            <a:endParaRPr sz="1600"/>
          </a:p>
        </p:txBody>
      </p:sp>
      <p:sp>
        <p:nvSpPr>
          <p:cNvPr id="1408" name="Google Shape;1408;p83"/>
          <p:cNvSpPr txBox="1"/>
          <p:nvPr>
            <p:ph idx="1" type="body"/>
          </p:nvPr>
        </p:nvSpPr>
        <p:spPr>
          <a:xfrm>
            <a:off x="72297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 = {lightning}</a:t>
            </a:r>
            <a:endParaRPr sz="1600"/>
          </a:p>
        </p:txBody>
      </p:sp>
      <p:sp>
        <p:nvSpPr>
          <p:cNvPr id="1409" name="Google Shape;1409;p83"/>
          <p:cNvSpPr txBox="1"/>
          <p:nvPr>
            <p:ph idx="1" type="body"/>
          </p:nvPr>
        </p:nvSpPr>
        <p:spPr>
          <a:xfrm>
            <a:off x="3717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 = {2 shapes}</a:t>
            </a:r>
            <a:endParaRPr sz="1600"/>
          </a:p>
        </p:txBody>
      </p:sp>
      <p:sp>
        <p:nvSpPr>
          <p:cNvPr id="1410" name="Google Shape;1410;p83"/>
          <p:cNvSpPr txBox="1"/>
          <p:nvPr>
            <p:ph idx="1" type="body"/>
          </p:nvPr>
        </p:nvSpPr>
        <p:spPr>
          <a:xfrm>
            <a:off x="27593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r>
              <a:rPr lang="en-GB" sz="1600"/>
              <a:t> = {hollow}</a:t>
            </a:r>
            <a:endParaRPr sz="1600"/>
          </a:p>
        </p:txBody>
      </p:sp>
      <p:sp>
        <p:nvSpPr>
          <p:cNvPr id="1411" name="Google Shape;1411;p83"/>
          <p:cNvSpPr txBox="1"/>
          <p:nvPr>
            <p:ph idx="1" type="body"/>
          </p:nvPr>
        </p:nvSpPr>
        <p:spPr>
          <a:xfrm>
            <a:off x="49183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r>
              <a:rPr lang="en-GB" sz="1600"/>
              <a:t> = {3 shapes}</a:t>
            </a:r>
            <a:endParaRPr sz="1600"/>
          </a:p>
        </p:txBody>
      </p:sp>
      <p:sp>
        <p:nvSpPr>
          <p:cNvPr id="1412" name="Google Shape;1412;p83"/>
          <p:cNvSpPr txBox="1"/>
          <p:nvPr>
            <p:ph idx="1" type="body"/>
          </p:nvPr>
        </p:nvSpPr>
        <p:spPr>
          <a:xfrm>
            <a:off x="72297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r>
              <a:rPr lang="en-GB" sz="1600"/>
              <a:t> = {oval}</a:t>
            </a:r>
            <a:endParaRPr sz="1600"/>
          </a:p>
        </p:txBody>
      </p:sp>
      <p:sp>
        <p:nvSpPr>
          <p:cNvPr id="1413" name="Google Shape;1413;p83"/>
          <p:cNvSpPr txBox="1"/>
          <p:nvPr>
            <p:ph idx="1" type="body"/>
          </p:nvPr>
        </p:nvSpPr>
        <p:spPr>
          <a:xfrm>
            <a:off x="371750" y="4569550"/>
            <a:ext cx="2464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</a:t>
            </a:r>
            <a:r>
              <a:rPr lang="en-GB" sz="1600"/>
              <a:t> = {4 shapes}</a:t>
            </a:r>
            <a:endParaRPr sz="1600"/>
          </a:p>
        </p:txBody>
      </p:sp>
      <p:sp>
        <p:nvSpPr>
          <p:cNvPr id="1414" name="Google Shape;1414;p83"/>
          <p:cNvSpPr txBox="1"/>
          <p:nvPr>
            <p:ph idx="1" type="body"/>
          </p:nvPr>
        </p:nvSpPr>
        <p:spPr>
          <a:xfrm>
            <a:off x="2759350" y="4569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</a:t>
            </a:r>
            <a:r>
              <a:rPr lang="en-GB" sz="1600"/>
              <a:t> = {not oval}</a:t>
            </a:r>
            <a:endParaRPr sz="1600"/>
          </a:p>
        </p:txBody>
      </p:sp>
      <p:sp>
        <p:nvSpPr>
          <p:cNvPr id="1415" name="Google Shape;1415;p83"/>
          <p:cNvSpPr txBox="1"/>
          <p:nvPr>
            <p:ph idx="1" type="body"/>
          </p:nvPr>
        </p:nvSpPr>
        <p:spPr>
          <a:xfrm>
            <a:off x="4918350" y="4569550"/>
            <a:ext cx="27009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</a:t>
            </a:r>
            <a:r>
              <a:rPr lang="en-GB" sz="1600"/>
              <a:t> = {more than 1 shape}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84"/>
          <p:cNvSpPr txBox="1"/>
          <p:nvPr>
            <p:ph idx="1" type="body"/>
          </p:nvPr>
        </p:nvSpPr>
        <p:spPr>
          <a:xfrm>
            <a:off x="324000" y="759300"/>
            <a:ext cx="82377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spinner is spun once. For each pair of events listed below, state whether their </a:t>
            </a:r>
            <a:br>
              <a:rPr lang="en-GB" sz="1600"/>
            </a:br>
            <a:r>
              <a:rPr lang="en-GB" sz="1600"/>
              <a:t>    probabilities would sum to 1. Justify your answers with reasoning. </a:t>
            </a:r>
            <a:endParaRPr sz="1600"/>
          </a:p>
        </p:txBody>
      </p:sp>
      <p:sp>
        <p:nvSpPr>
          <p:cNvPr id="1421" name="Google Shape;1421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422" name="Google Shape;1422;p84"/>
          <p:cNvSpPr/>
          <p:nvPr/>
        </p:nvSpPr>
        <p:spPr>
          <a:xfrm>
            <a:off x="6939926" y="1336976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84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84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84"/>
          <p:cNvSpPr txBox="1"/>
          <p:nvPr/>
        </p:nvSpPr>
        <p:spPr>
          <a:xfrm>
            <a:off x="7412601" y="2583851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4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84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84"/>
          <p:cNvSpPr txBox="1"/>
          <p:nvPr/>
        </p:nvSpPr>
        <p:spPr>
          <a:xfrm>
            <a:off x="7894696" y="139116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4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84"/>
          <p:cNvSpPr txBox="1"/>
          <p:nvPr/>
        </p:nvSpPr>
        <p:spPr>
          <a:xfrm>
            <a:off x="7385280" y="138390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4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84"/>
          <p:cNvSpPr txBox="1"/>
          <p:nvPr/>
        </p:nvSpPr>
        <p:spPr>
          <a:xfrm>
            <a:off x="7023448" y="222465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4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84"/>
          <p:cNvSpPr txBox="1"/>
          <p:nvPr/>
        </p:nvSpPr>
        <p:spPr>
          <a:xfrm>
            <a:off x="7029115" y="1760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84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84"/>
          <p:cNvSpPr txBox="1"/>
          <p:nvPr/>
        </p:nvSpPr>
        <p:spPr>
          <a:xfrm>
            <a:off x="7828127" y="2583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4"/>
          <p:cNvSpPr txBox="1"/>
          <p:nvPr/>
        </p:nvSpPr>
        <p:spPr>
          <a:xfrm>
            <a:off x="8189080" y="225314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4"/>
          <p:cNvSpPr txBox="1"/>
          <p:nvPr/>
        </p:nvSpPr>
        <p:spPr>
          <a:xfrm>
            <a:off x="8196851" y="1799308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39" name="Google Shape;1439;p84"/>
          <p:cNvGrpSpPr/>
          <p:nvPr/>
        </p:nvGrpSpPr>
        <p:grpSpPr>
          <a:xfrm>
            <a:off x="7739235" y="1402489"/>
            <a:ext cx="93900" cy="816939"/>
            <a:chOff x="996050" y="213293"/>
            <a:chExt cx="93900" cy="909732"/>
          </a:xfrm>
        </p:grpSpPr>
        <p:cxnSp>
          <p:nvCxnSpPr>
            <p:cNvPr id="1440" name="Google Shape;1440;p84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41" name="Google Shape;1441;p84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2" name="Google Shape;1442;p84"/>
          <p:cNvSpPr txBox="1"/>
          <p:nvPr>
            <p:ph idx="1" type="body"/>
          </p:nvPr>
        </p:nvSpPr>
        <p:spPr>
          <a:xfrm>
            <a:off x="324000" y="1597500"/>
            <a:ext cx="3616800" cy="269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a) A = {odd}, B = {even}</a:t>
            </a:r>
            <a:br>
              <a:rPr lang="en-GB" sz="1600"/>
            </a:br>
            <a:br>
              <a:rPr lang="en-GB" sz="1600"/>
            </a:br>
            <a:br>
              <a:rPr lang="en-GB" sz="1600"/>
            </a:br>
            <a:br>
              <a:rPr lang="en-GB" sz="1600"/>
            </a:br>
            <a:r>
              <a:rPr lang="en-GB" sz="1600"/>
              <a:t>b) A = {odd}, B = {multiple of 4}</a:t>
            </a:r>
            <a:br>
              <a:rPr lang="en-GB" sz="1600"/>
            </a:br>
            <a:br>
              <a:rPr lang="en-GB" sz="1600"/>
            </a:br>
            <a:br>
              <a:rPr lang="en-GB" sz="1600"/>
            </a:br>
            <a:br>
              <a:rPr lang="en-GB" sz="1600"/>
            </a:br>
            <a:r>
              <a:rPr lang="en-GB" sz="1600"/>
              <a:t>c) A = {odd}, B = {factor of 24}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43" name="Google Shape;1443;p84"/>
          <p:cNvSpPr txBox="1"/>
          <p:nvPr>
            <p:ph idx="1" type="body"/>
          </p:nvPr>
        </p:nvSpPr>
        <p:spPr>
          <a:xfrm>
            <a:off x="552600" y="1932400"/>
            <a:ext cx="60333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Probabilities sum to 1 because the events are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mutually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 exclusive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4" name="Google Shape;1444;p84"/>
          <p:cNvSpPr txBox="1"/>
          <p:nvPr>
            <p:ph idx="1" type="body"/>
          </p:nvPr>
        </p:nvSpPr>
        <p:spPr>
          <a:xfrm>
            <a:off x="552600" y="3075400"/>
            <a:ext cx="69066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(e.g. 2 and 6 are neither odd or a multiple of 4).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84"/>
          <p:cNvSpPr txBox="1"/>
          <p:nvPr>
            <p:ph idx="1" type="body"/>
          </p:nvPr>
        </p:nvSpPr>
        <p:spPr>
          <a:xfrm>
            <a:off x="552600" y="4142200"/>
            <a:ext cx="76824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(e.g. 1 and 3 are both odd and a factor of 24).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451" name="Google Shape;1451;p85"/>
          <p:cNvSpPr/>
          <p:nvPr/>
        </p:nvSpPr>
        <p:spPr>
          <a:xfrm>
            <a:off x="6939926" y="1336976"/>
            <a:ext cx="1695900" cy="16959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85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5387953" name="adj1"/>
              <a:gd fmla="val 1082421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85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5387953" name="adj1"/>
              <a:gd fmla="val 808095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85"/>
          <p:cNvSpPr txBox="1"/>
          <p:nvPr/>
        </p:nvSpPr>
        <p:spPr>
          <a:xfrm>
            <a:off x="7412601" y="2583851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5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10799941" name="adj1"/>
              <a:gd fmla="val 1348387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85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13450827" name="adj1"/>
              <a:gd fmla="val 1620000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85"/>
          <p:cNvSpPr txBox="1"/>
          <p:nvPr/>
        </p:nvSpPr>
        <p:spPr>
          <a:xfrm>
            <a:off x="7894696" y="1391165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5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13499013" name="adj1"/>
              <a:gd fmla="val 16232488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85"/>
          <p:cNvSpPr txBox="1"/>
          <p:nvPr/>
        </p:nvSpPr>
        <p:spPr>
          <a:xfrm>
            <a:off x="7385280" y="1383900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5"/>
          <p:cNvSpPr/>
          <p:nvPr/>
        </p:nvSpPr>
        <p:spPr>
          <a:xfrm>
            <a:off x="6954686" y="1351736"/>
            <a:ext cx="1666500" cy="1666500"/>
          </a:xfrm>
          <a:prstGeom prst="pie">
            <a:avLst>
              <a:gd fmla="val 8080793" name="adj1"/>
              <a:gd fmla="val 10858220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85"/>
          <p:cNvSpPr txBox="1"/>
          <p:nvPr/>
        </p:nvSpPr>
        <p:spPr>
          <a:xfrm>
            <a:off x="7023448" y="2224652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5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10765400" name="adj1"/>
              <a:gd fmla="val 13465582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85"/>
          <p:cNvSpPr txBox="1"/>
          <p:nvPr/>
        </p:nvSpPr>
        <p:spPr>
          <a:xfrm>
            <a:off x="7029115" y="1760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5"/>
          <p:cNvSpPr/>
          <p:nvPr/>
        </p:nvSpPr>
        <p:spPr>
          <a:xfrm flipH="1">
            <a:off x="6954615" y="1351736"/>
            <a:ext cx="1666500" cy="1666500"/>
          </a:xfrm>
          <a:prstGeom prst="pie">
            <a:avLst>
              <a:gd fmla="val 5387953" name="adj1"/>
              <a:gd fmla="val 8084426" name="adj2"/>
            </a:avLst>
          </a:pr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85"/>
          <p:cNvSpPr txBox="1"/>
          <p:nvPr/>
        </p:nvSpPr>
        <p:spPr>
          <a:xfrm>
            <a:off x="7828127" y="258385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5"/>
          <p:cNvSpPr txBox="1"/>
          <p:nvPr/>
        </p:nvSpPr>
        <p:spPr>
          <a:xfrm>
            <a:off x="8189080" y="2253148"/>
            <a:ext cx="6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5"/>
          <p:cNvSpPr txBox="1"/>
          <p:nvPr/>
        </p:nvSpPr>
        <p:spPr>
          <a:xfrm>
            <a:off x="8196851" y="1799308"/>
            <a:ext cx="57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8" name="Google Shape;1468;p85"/>
          <p:cNvGrpSpPr/>
          <p:nvPr/>
        </p:nvGrpSpPr>
        <p:grpSpPr>
          <a:xfrm>
            <a:off x="7739235" y="1402489"/>
            <a:ext cx="93900" cy="816939"/>
            <a:chOff x="996050" y="213293"/>
            <a:chExt cx="93900" cy="909732"/>
          </a:xfrm>
        </p:grpSpPr>
        <p:cxnSp>
          <p:nvCxnSpPr>
            <p:cNvPr id="1469" name="Google Shape;1469;p85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70" name="Google Shape;1470;p85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1" name="Google Shape;1471;p85"/>
          <p:cNvSpPr txBox="1"/>
          <p:nvPr>
            <p:ph idx="1" type="body"/>
          </p:nvPr>
        </p:nvSpPr>
        <p:spPr>
          <a:xfrm>
            <a:off x="324000" y="759300"/>
            <a:ext cx="36168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d) A = {odd}, B = {prime}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600"/>
            </a:br>
            <a:br>
              <a:rPr lang="en-GB" sz="1600"/>
            </a:b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e) A = {integer}, B = {non-integer}</a:t>
            </a:r>
            <a:endParaRPr sz="1600"/>
          </a:p>
        </p:txBody>
      </p:sp>
      <p:sp>
        <p:nvSpPr>
          <p:cNvPr id="1472" name="Google Shape;1472;p85"/>
          <p:cNvSpPr txBox="1"/>
          <p:nvPr>
            <p:ph idx="1" type="body"/>
          </p:nvPr>
        </p:nvSpPr>
        <p:spPr>
          <a:xfrm>
            <a:off x="552600" y="1094200"/>
            <a:ext cx="61533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Probabilities do not sum to 1 because the events are not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(e.g. 3, 5 and 7 are both odd and prime).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3" name="Google Shape;1473;p85"/>
          <p:cNvSpPr txBox="1"/>
          <p:nvPr>
            <p:ph idx="1" type="body"/>
          </p:nvPr>
        </p:nvSpPr>
        <p:spPr>
          <a:xfrm>
            <a:off x="552600" y="1856800"/>
            <a:ext cx="6022800" cy="9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or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robabilities do not sum to 1 because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because the events are not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(e.g. 4, 6 and 8 are neither odd or prime).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4" name="Google Shape;1474;p85"/>
          <p:cNvSpPr txBox="1"/>
          <p:nvPr>
            <p:ph idx="1" type="body"/>
          </p:nvPr>
        </p:nvSpPr>
        <p:spPr>
          <a:xfrm>
            <a:off x="552600" y="3685000"/>
            <a:ext cx="65124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Probabilities sum to 1 because the events are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mutually exclusive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exhaustive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86"/>
          <p:cNvGrpSpPr/>
          <p:nvPr/>
        </p:nvGrpSpPr>
        <p:grpSpPr>
          <a:xfrm>
            <a:off x="7879850" y="1200388"/>
            <a:ext cx="407325" cy="710225"/>
            <a:chOff x="1848000" y="1454825"/>
            <a:chExt cx="541800" cy="944700"/>
          </a:xfrm>
        </p:grpSpPr>
        <p:sp>
          <p:nvSpPr>
            <p:cNvPr id="1480" name="Google Shape;1480;p86"/>
            <p:cNvSpPr/>
            <p:nvPr/>
          </p:nvSpPr>
          <p:spPr>
            <a:xfrm rot="5400000">
              <a:off x="16465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1" name="Google Shape;1481;p86"/>
            <p:cNvSpPr/>
            <p:nvPr/>
          </p:nvSpPr>
          <p:spPr>
            <a:xfrm>
              <a:off x="19159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2" name="Google Shape;1482;p86"/>
          <p:cNvGrpSpPr/>
          <p:nvPr/>
        </p:nvGrpSpPr>
        <p:grpSpPr>
          <a:xfrm>
            <a:off x="7879850" y="2804428"/>
            <a:ext cx="407325" cy="710225"/>
            <a:chOff x="1848000" y="3588425"/>
            <a:chExt cx="541800" cy="944700"/>
          </a:xfrm>
        </p:grpSpPr>
        <p:sp>
          <p:nvSpPr>
            <p:cNvPr id="1483" name="Google Shape;1483;p86"/>
            <p:cNvSpPr/>
            <p:nvPr/>
          </p:nvSpPr>
          <p:spPr>
            <a:xfrm rot="5400000">
              <a:off x="16465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4" name="Google Shape;1484;p86"/>
            <p:cNvSpPr/>
            <p:nvPr/>
          </p:nvSpPr>
          <p:spPr>
            <a:xfrm>
              <a:off x="19227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5" name="Google Shape;1485;p86"/>
          <p:cNvGrpSpPr/>
          <p:nvPr/>
        </p:nvGrpSpPr>
        <p:grpSpPr>
          <a:xfrm>
            <a:off x="7879850" y="2002408"/>
            <a:ext cx="407325" cy="710225"/>
            <a:chOff x="1848000" y="2521625"/>
            <a:chExt cx="541800" cy="944700"/>
          </a:xfrm>
        </p:grpSpPr>
        <p:sp>
          <p:nvSpPr>
            <p:cNvPr id="1486" name="Google Shape;1486;p86"/>
            <p:cNvSpPr/>
            <p:nvPr/>
          </p:nvSpPr>
          <p:spPr>
            <a:xfrm rot="5400000">
              <a:off x="16465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7" name="Google Shape;1487;p86"/>
            <p:cNvSpPr/>
            <p:nvPr/>
          </p:nvSpPr>
          <p:spPr>
            <a:xfrm rot="-3007802">
              <a:off x="19278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8" name="Google Shape;1488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</a:t>
            </a:r>
            <a:r>
              <a:rPr lang="en-GB" sz="1600"/>
              <a:t>A game involves the set of cards below. Each card shows one of three shapes. </a:t>
            </a:r>
            <a:endParaRPr sz="1600"/>
          </a:p>
        </p:txBody>
      </p:sp>
      <p:sp>
        <p:nvSpPr>
          <p:cNvPr id="1489" name="Google Shape;1489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grpSp>
        <p:nvGrpSpPr>
          <p:cNvPr id="1490" name="Google Shape;1490;p86"/>
          <p:cNvGrpSpPr/>
          <p:nvPr/>
        </p:nvGrpSpPr>
        <p:grpSpPr>
          <a:xfrm>
            <a:off x="6333087" y="1200388"/>
            <a:ext cx="407325" cy="710225"/>
            <a:chOff x="2533800" y="1454825"/>
            <a:chExt cx="541800" cy="944700"/>
          </a:xfrm>
        </p:grpSpPr>
        <p:sp>
          <p:nvSpPr>
            <p:cNvPr id="1491" name="Google Shape;1491;p86"/>
            <p:cNvSpPr/>
            <p:nvPr/>
          </p:nvSpPr>
          <p:spPr>
            <a:xfrm rot="5400000">
              <a:off x="23323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2" name="Google Shape;1492;p86"/>
            <p:cNvSpPr/>
            <p:nvPr/>
          </p:nvSpPr>
          <p:spPr>
            <a:xfrm>
              <a:off x="2601764" y="16507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86"/>
            <p:cNvSpPr/>
            <p:nvPr/>
          </p:nvSpPr>
          <p:spPr>
            <a:xfrm>
              <a:off x="26017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86"/>
            <p:cNvSpPr/>
            <p:nvPr/>
          </p:nvSpPr>
          <p:spPr>
            <a:xfrm>
              <a:off x="2601764" y="2053557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86"/>
          <p:cNvGrpSpPr/>
          <p:nvPr/>
        </p:nvGrpSpPr>
        <p:grpSpPr>
          <a:xfrm>
            <a:off x="7364258" y="1200388"/>
            <a:ext cx="407325" cy="710225"/>
            <a:chOff x="3219600" y="1454825"/>
            <a:chExt cx="541800" cy="944700"/>
          </a:xfrm>
        </p:grpSpPr>
        <p:sp>
          <p:nvSpPr>
            <p:cNvPr id="1496" name="Google Shape;1496;p86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86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8" name="Google Shape;1498;p86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9" name="Google Shape;1499;p86"/>
          <p:cNvGrpSpPr/>
          <p:nvPr/>
        </p:nvGrpSpPr>
        <p:grpSpPr>
          <a:xfrm>
            <a:off x="8395430" y="1200388"/>
            <a:ext cx="407325" cy="710225"/>
            <a:chOff x="3905400" y="1454825"/>
            <a:chExt cx="541800" cy="944700"/>
          </a:xfrm>
        </p:grpSpPr>
        <p:sp>
          <p:nvSpPr>
            <p:cNvPr id="1500" name="Google Shape;1500;p86"/>
            <p:cNvSpPr/>
            <p:nvPr/>
          </p:nvSpPr>
          <p:spPr>
            <a:xfrm rot="5400000">
              <a:off x="3703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86"/>
            <p:cNvSpPr/>
            <p:nvPr/>
          </p:nvSpPr>
          <p:spPr>
            <a:xfrm>
              <a:off x="39733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2" name="Google Shape;1502;p86"/>
          <p:cNvGrpSpPr/>
          <p:nvPr/>
        </p:nvGrpSpPr>
        <p:grpSpPr>
          <a:xfrm>
            <a:off x="6333087" y="2804428"/>
            <a:ext cx="407325" cy="710225"/>
            <a:chOff x="2533800" y="3588425"/>
            <a:chExt cx="541800" cy="944700"/>
          </a:xfrm>
        </p:grpSpPr>
        <p:sp>
          <p:nvSpPr>
            <p:cNvPr id="1503" name="Google Shape;1503;p86"/>
            <p:cNvSpPr/>
            <p:nvPr/>
          </p:nvSpPr>
          <p:spPr>
            <a:xfrm rot="5400000">
              <a:off x="23323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4" name="Google Shape;1504;p86"/>
            <p:cNvSpPr/>
            <p:nvPr/>
          </p:nvSpPr>
          <p:spPr>
            <a:xfrm>
              <a:off x="2608500" y="380429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86"/>
            <p:cNvSpPr/>
            <p:nvPr/>
          </p:nvSpPr>
          <p:spPr>
            <a:xfrm>
              <a:off x="26085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86"/>
            <p:cNvSpPr/>
            <p:nvPr/>
          </p:nvSpPr>
          <p:spPr>
            <a:xfrm>
              <a:off x="2608500" y="420737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86"/>
          <p:cNvGrpSpPr/>
          <p:nvPr/>
        </p:nvGrpSpPr>
        <p:grpSpPr>
          <a:xfrm>
            <a:off x="7364258" y="2804428"/>
            <a:ext cx="407325" cy="710225"/>
            <a:chOff x="3219600" y="3588425"/>
            <a:chExt cx="541800" cy="944700"/>
          </a:xfrm>
        </p:grpSpPr>
        <p:sp>
          <p:nvSpPr>
            <p:cNvPr id="1508" name="Google Shape;1508;p86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86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86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1" name="Google Shape;1511;p86"/>
          <p:cNvGrpSpPr/>
          <p:nvPr/>
        </p:nvGrpSpPr>
        <p:grpSpPr>
          <a:xfrm>
            <a:off x="8395430" y="2804428"/>
            <a:ext cx="407325" cy="710225"/>
            <a:chOff x="3905400" y="3588425"/>
            <a:chExt cx="541800" cy="944700"/>
          </a:xfrm>
        </p:grpSpPr>
        <p:sp>
          <p:nvSpPr>
            <p:cNvPr id="1512" name="Google Shape;1512;p86"/>
            <p:cNvSpPr/>
            <p:nvPr/>
          </p:nvSpPr>
          <p:spPr>
            <a:xfrm rot="5400000">
              <a:off x="3703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86"/>
            <p:cNvSpPr/>
            <p:nvPr/>
          </p:nvSpPr>
          <p:spPr>
            <a:xfrm>
              <a:off x="39801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4" name="Google Shape;1514;p86"/>
          <p:cNvGrpSpPr/>
          <p:nvPr/>
        </p:nvGrpSpPr>
        <p:grpSpPr>
          <a:xfrm>
            <a:off x="6333087" y="2002408"/>
            <a:ext cx="407325" cy="710225"/>
            <a:chOff x="2533800" y="2521625"/>
            <a:chExt cx="541800" cy="944700"/>
          </a:xfrm>
        </p:grpSpPr>
        <p:sp>
          <p:nvSpPr>
            <p:cNvPr id="1515" name="Google Shape;1515;p86"/>
            <p:cNvSpPr/>
            <p:nvPr/>
          </p:nvSpPr>
          <p:spPr>
            <a:xfrm rot="5400000">
              <a:off x="23323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6" name="Google Shape;1516;p86"/>
            <p:cNvSpPr/>
            <p:nvPr/>
          </p:nvSpPr>
          <p:spPr>
            <a:xfrm rot="-3007802">
              <a:off x="2613635" y="26216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7" name="Google Shape;1517;p86"/>
            <p:cNvSpPr/>
            <p:nvPr/>
          </p:nvSpPr>
          <p:spPr>
            <a:xfrm rot="-3007802">
              <a:off x="26136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8" name="Google Shape;1518;p86"/>
            <p:cNvSpPr/>
            <p:nvPr/>
          </p:nvSpPr>
          <p:spPr>
            <a:xfrm rot="-3007802">
              <a:off x="2613635" y="30788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9" name="Google Shape;1519;p86"/>
          <p:cNvGrpSpPr/>
          <p:nvPr/>
        </p:nvGrpSpPr>
        <p:grpSpPr>
          <a:xfrm>
            <a:off x="8395430" y="2002408"/>
            <a:ext cx="407325" cy="710225"/>
            <a:chOff x="3905400" y="2521625"/>
            <a:chExt cx="541800" cy="944700"/>
          </a:xfrm>
        </p:grpSpPr>
        <p:sp>
          <p:nvSpPr>
            <p:cNvPr id="1520" name="Google Shape;1520;p86"/>
            <p:cNvSpPr/>
            <p:nvPr/>
          </p:nvSpPr>
          <p:spPr>
            <a:xfrm rot="5400000">
              <a:off x="3703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86"/>
            <p:cNvSpPr/>
            <p:nvPr/>
          </p:nvSpPr>
          <p:spPr>
            <a:xfrm rot="-3007802">
              <a:off x="39852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2" name="Google Shape;1522;p86"/>
          <p:cNvGrpSpPr/>
          <p:nvPr/>
        </p:nvGrpSpPr>
        <p:grpSpPr>
          <a:xfrm>
            <a:off x="7364258" y="2002408"/>
            <a:ext cx="407325" cy="710225"/>
            <a:chOff x="3219600" y="2521625"/>
            <a:chExt cx="541800" cy="944700"/>
          </a:xfrm>
        </p:grpSpPr>
        <p:sp>
          <p:nvSpPr>
            <p:cNvPr id="1523" name="Google Shape;1523;p86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4" name="Google Shape;1524;p86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5" name="Google Shape;1525;p86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6" name="Google Shape;1526;p86"/>
          <p:cNvGrpSpPr/>
          <p:nvPr/>
        </p:nvGrpSpPr>
        <p:grpSpPr>
          <a:xfrm>
            <a:off x="5817507" y="1200388"/>
            <a:ext cx="407325" cy="710225"/>
            <a:chOff x="476400" y="1454825"/>
            <a:chExt cx="541800" cy="944700"/>
          </a:xfrm>
        </p:grpSpPr>
        <p:sp>
          <p:nvSpPr>
            <p:cNvPr id="1527" name="Google Shape;1527;p86"/>
            <p:cNvSpPr/>
            <p:nvPr/>
          </p:nvSpPr>
          <p:spPr>
            <a:xfrm rot="5400000">
              <a:off x="274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8" name="Google Shape;1528;p86"/>
            <p:cNvSpPr/>
            <p:nvPr/>
          </p:nvSpPr>
          <p:spPr>
            <a:xfrm>
              <a:off x="544364" y="16507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9" name="Google Shape;1529;p86"/>
            <p:cNvSpPr/>
            <p:nvPr/>
          </p:nvSpPr>
          <p:spPr>
            <a:xfrm>
              <a:off x="5443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86"/>
            <p:cNvSpPr/>
            <p:nvPr/>
          </p:nvSpPr>
          <p:spPr>
            <a:xfrm>
              <a:off x="544364" y="2053557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1" name="Google Shape;1531;p86"/>
          <p:cNvGrpSpPr/>
          <p:nvPr/>
        </p:nvGrpSpPr>
        <p:grpSpPr>
          <a:xfrm>
            <a:off x="6848679" y="1200388"/>
            <a:ext cx="407325" cy="710225"/>
            <a:chOff x="1162200" y="1454825"/>
            <a:chExt cx="541800" cy="944700"/>
          </a:xfrm>
        </p:grpSpPr>
        <p:sp>
          <p:nvSpPr>
            <p:cNvPr id="1532" name="Google Shape;1532;p86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86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86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5" name="Google Shape;1535;p86"/>
          <p:cNvGrpSpPr/>
          <p:nvPr/>
        </p:nvGrpSpPr>
        <p:grpSpPr>
          <a:xfrm>
            <a:off x="5817507" y="2804428"/>
            <a:ext cx="407325" cy="710225"/>
            <a:chOff x="476400" y="3588425"/>
            <a:chExt cx="541800" cy="944700"/>
          </a:xfrm>
        </p:grpSpPr>
        <p:sp>
          <p:nvSpPr>
            <p:cNvPr id="1536" name="Google Shape;1536;p86"/>
            <p:cNvSpPr/>
            <p:nvPr/>
          </p:nvSpPr>
          <p:spPr>
            <a:xfrm rot="5400000">
              <a:off x="274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86"/>
            <p:cNvSpPr/>
            <p:nvPr/>
          </p:nvSpPr>
          <p:spPr>
            <a:xfrm>
              <a:off x="551100" y="380429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8" name="Google Shape;1538;p86"/>
            <p:cNvSpPr/>
            <p:nvPr/>
          </p:nvSpPr>
          <p:spPr>
            <a:xfrm>
              <a:off x="5511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86"/>
            <p:cNvSpPr/>
            <p:nvPr/>
          </p:nvSpPr>
          <p:spPr>
            <a:xfrm>
              <a:off x="551100" y="420737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0" name="Google Shape;1540;p86"/>
          <p:cNvGrpSpPr/>
          <p:nvPr/>
        </p:nvGrpSpPr>
        <p:grpSpPr>
          <a:xfrm>
            <a:off x="6848679" y="2804428"/>
            <a:ext cx="407325" cy="710225"/>
            <a:chOff x="1162200" y="3588425"/>
            <a:chExt cx="541800" cy="944700"/>
          </a:xfrm>
        </p:grpSpPr>
        <p:sp>
          <p:nvSpPr>
            <p:cNvPr id="1541" name="Google Shape;1541;p86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86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3" name="Google Shape;1543;p86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4" name="Google Shape;1544;p86"/>
          <p:cNvGrpSpPr/>
          <p:nvPr/>
        </p:nvGrpSpPr>
        <p:grpSpPr>
          <a:xfrm>
            <a:off x="5817507" y="2002408"/>
            <a:ext cx="407325" cy="710225"/>
            <a:chOff x="476400" y="2521625"/>
            <a:chExt cx="541800" cy="944700"/>
          </a:xfrm>
        </p:grpSpPr>
        <p:sp>
          <p:nvSpPr>
            <p:cNvPr id="1545" name="Google Shape;1545;p86"/>
            <p:cNvSpPr/>
            <p:nvPr/>
          </p:nvSpPr>
          <p:spPr>
            <a:xfrm rot="5400000">
              <a:off x="274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6" name="Google Shape;1546;p86"/>
            <p:cNvSpPr/>
            <p:nvPr/>
          </p:nvSpPr>
          <p:spPr>
            <a:xfrm rot="-3007802">
              <a:off x="556235" y="26216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7" name="Google Shape;1547;p86"/>
            <p:cNvSpPr/>
            <p:nvPr/>
          </p:nvSpPr>
          <p:spPr>
            <a:xfrm rot="-3007802">
              <a:off x="5562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86"/>
            <p:cNvSpPr/>
            <p:nvPr/>
          </p:nvSpPr>
          <p:spPr>
            <a:xfrm rot="-3007802">
              <a:off x="556235" y="30788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9" name="Google Shape;1549;p86"/>
          <p:cNvGrpSpPr/>
          <p:nvPr/>
        </p:nvGrpSpPr>
        <p:grpSpPr>
          <a:xfrm>
            <a:off x="6848679" y="2002408"/>
            <a:ext cx="407325" cy="710225"/>
            <a:chOff x="1162200" y="2521625"/>
            <a:chExt cx="541800" cy="944700"/>
          </a:xfrm>
        </p:grpSpPr>
        <p:sp>
          <p:nvSpPr>
            <p:cNvPr id="1550" name="Google Shape;1550;p86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86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2" name="Google Shape;1552;p86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3" name="Google Shape;1553;p86"/>
          <p:cNvSpPr txBox="1"/>
          <p:nvPr>
            <p:ph idx="1" type="body"/>
          </p:nvPr>
        </p:nvSpPr>
        <p:spPr>
          <a:xfrm>
            <a:off x="521311" y="1171270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three shapes: </a:t>
            </a:r>
            <a:endParaRPr sz="1600"/>
          </a:p>
        </p:txBody>
      </p:sp>
      <p:grpSp>
        <p:nvGrpSpPr>
          <p:cNvPr id="1554" name="Google Shape;1554;p86"/>
          <p:cNvGrpSpPr/>
          <p:nvPr/>
        </p:nvGrpSpPr>
        <p:grpSpPr>
          <a:xfrm>
            <a:off x="5306858" y="1200388"/>
            <a:ext cx="407325" cy="710225"/>
            <a:chOff x="3219600" y="1454825"/>
            <a:chExt cx="541800" cy="944700"/>
          </a:xfrm>
        </p:grpSpPr>
        <p:sp>
          <p:nvSpPr>
            <p:cNvPr id="1555" name="Google Shape;1555;p86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6" name="Google Shape;1556;p86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7" name="Google Shape;1557;p86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8" name="Google Shape;1558;p86"/>
          <p:cNvGrpSpPr/>
          <p:nvPr/>
        </p:nvGrpSpPr>
        <p:grpSpPr>
          <a:xfrm>
            <a:off x="5306858" y="2804428"/>
            <a:ext cx="407325" cy="710225"/>
            <a:chOff x="3219600" y="3588425"/>
            <a:chExt cx="541800" cy="944700"/>
          </a:xfrm>
        </p:grpSpPr>
        <p:sp>
          <p:nvSpPr>
            <p:cNvPr id="1559" name="Google Shape;1559;p86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0" name="Google Shape;1560;p86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1" name="Google Shape;1561;p86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2" name="Google Shape;1562;p86"/>
          <p:cNvGrpSpPr/>
          <p:nvPr/>
        </p:nvGrpSpPr>
        <p:grpSpPr>
          <a:xfrm>
            <a:off x="5306858" y="2002408"/>
            <a:ext cx="407325" cy="710225"/>
            <a:chOff x="3219600" y="2521625"/>
            <a:chExt cx="541800" cy="944700"/>
          </a:xfrm>
        </p:grpSpPr>
        <p:sp>
          <p:nvSpPr>
            <p:cNvPr id="1563" name="Google Shape;1563;p86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86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86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6" name="Google Shape;1566;p86"/>
          <p:cNvGrpSpPr/>
          <p:nvPr/>
        </p:nvGrpSpPr>
        <p:grpSpPr>
          <a:xfrm>
            <a:off x="4791279" y="1200388"/>
            <a:ext cx="407325" cy="710225"/>
            <a:chOff x="1162200" y="1454825"/>
            <a:chExt cx="541800" cy="944700"/>
          </a:xfrm>
        </p:grpSpPr>
        <p:sp>
          <p:nvSpPr>
            <p:cNvPr id="1567" name="Google Shape;1567;p86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86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9" name="Google Shape;1569;p86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0" name="Google Shape;1570;p86"/>
          <p:cNvGrpSpPr/>
          <p:nvPr/>
        </p:nvGrpSpPr>
        <p:grpSpPr>
          <a:xfrm>
            <a:off x="4791279" y="2804428"/>
            <a:ext cx="407325" cy="710225"/>
            <a:chOff x="1162200" y="3588425"/>
            <a:chExt cx="541800" cy="944700"/>
          </a:xfrm>
        </p:grpSpPr>
        <p:sp>
          <p:nvSpPr>
            <p:cNvPr id="1571" name="Google Shape;1571;p86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2" name="Google Shape;1572;p86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3" name="Google Shape;1573;p86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4" name="Google Shape;1574;p86"/>
          <p:cNvGrpSpPr/>
          <p:nvPr/>
        </p:nvGrpSpPr>
        <p:grpSpPr>
          <a:xfrm>
            <a:off x="4791279" y="2002408"/>
            <a:ext cx="407325" cy="710225"/>
            <a:chOff x="1162200" y="2521625"/>
            <a:chExt cx="541800" cy="944700"/>
          </a:xfrm>
        </p:grpSpPr>
        <p:sp>
          <p:nvSpPr>
            <p:cNvPr id="1575" name="Google Shape;1575;p86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6" name="Google Shape;1576;p86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77" name="Google Shape;1577;p86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78" name="Google Shape;1578;p86"/>
          <p:cNvSpPr/>
          <p:nvPr/>
        </p:nvSpPr>
        <p:spPr>
          <a:xfrm>
            <a:off x="4842374" y="17374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6"/>
          <p:cNvSpPr/>
          <p:nvPr/>
        </p:nvSpPr>
        <p:spPr>
          <a:xfrm>
            <a:off x="4842374" y="12802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6"/>
          <p:cNvSpPr/>
          <p:nvPr/>
        </p:nvSpPr>
        <p:spPr>
          <a:xfrm>
            <a:off x="5357954" y="1281242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6"/>
          <p:cNvSpPr/>
          <p:nvPr/>
        </p:nvSpPr>
        <p:spPr>
          <a:xfrm rot="-3007747">
            <a:off x="5366870" y="1998731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6"/>
          <p:cNvSpPr/>
          <p:nvPr/>
        </p:nvSpPr>
        <p:spPr>
          <a:xfrm>
            <a:off x="5363018" y="2883810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6"/>
          <p:cNvSpPr/>
          <p:nvPr/>
        </p:nvSpPr>
        <p:spPr>
          <a:xfrm>
            <a:off x="5357954" y="1737444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6"/>
          <p:cNvSpPr/>
          <p:nvPr/>
        </p:nvSpPr>
        <p:spPr>
          <a:xfrm rot="-3007747">
            <a:off x="5366870" y="2475393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6"/>
          <p:cNvSpPr/>
          <p:nvPr/>
        </p:nvSpPr>
        <p:spPr>
          <a:xfrm>
            <a:off x="5363018" y="3340128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6"/>
          <p:cNvSpPr/>
          <p:nvPr/>
        </p:nvSpPr>
        <p:spPr>
          <a:xfrm rot="-3007747">
            <a:off x="4851291" y="1998731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6"/>
          <p:cNvSpPr/>
          <p:nvPr/>
        </p:nvSpPr>
        <p:spPr>
          <a:xfrm rot="-3007747">
            <a:off x="4851291" y="2475393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6"/>
          <p:cNvSpPr/>
          <p:nvPr/>
        </p:nvSpPr>
        <p:spPr>
          <a:xfrm>
            <a:off x="4847438" y="2883810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6"/>
          <p:cNvSpPr/>
          <p:nvPr/>
        </p:nvSpPr>
        <p:spPr>
          <a:xfrm>
            <a:off x="4847438" y="3340128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86"/>
          <p:cNvSpPr/>
          <p:nvPr/>
        </p:nvSpPr>
        <p:spPr>
          <a:xfrm>
            <a:off x="2548693" y="125781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86"/>
          <p:cNvSpPr/>
          <p:nvPr/>
        </p:nvSpPr>
        <p:spPr>
          <a:xfrm rot="-3007747">
            <a:off x="2557609" y="1534464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86"/>
          <p:cNvSpPr/>
          <p:nvPr/>
        </p:nvSpPr>
        <p:spPr>
          <a:xfrm>
            <a:off x="2553757" y="1893825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86"/>
          <p:cNvSpPr txBox="1"/>
          <p:nvPr>
            <p:ph idx="1" type="body"/>
          </p:nvPr>
        </p:nvSpPr>
        <p:spPr>
          <a:xfrm>
            <a:off x="2929600" y="1178952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rhombus </a:t>
            </a:r>
            <a:endParaRPr sz="1600"/>
          </a:p>
        </p:txBody>
      </p:sp>
      <p:sp>
        <p:nvSpPr>
          <p:cNvPr id="1594" name="Google Shape;1594;p86"/>
          <p:cNvSpPr txBox="1"/>
          <p:nvPr>
            <p:ph idx="1" type="body"/>
          </p:nvPr>
        </p:nvSpPr>
        <p:spPr>
          <a:xfrm>
            <a:off x="2929600" y="1491433"/>
            <a:ext cx="2009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lightning </a:t>
            </a:r>
            <a:endParaRPr sz="1600"/>
          </a:p>
        </p:txBody>
      </p:sp>
      <p:sp>
        <p:nvSpPr>
          <p:cNvPr id="1595" name="Google Shape;1595;p86"/>
          <p:cNvSpPr txBox="1"/>
          <p:nvPr>
            <p:ph idx="1" type="body"/>
          </p:nvPr>
        </p:nvSpPr>
        <p:spPr>
          <a:xfrm>
            <a:off x="2929603" y="1819290"/>
            <a:ext cx="599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oval </a:t>
            </a:r>
            <a:endParaRPr sz="1600"/>
          </a:p>
        </p:txBody>
      </p:sp>
      <p:sp>
        <p:nvSpPr>
          <p:cNvPr id="1596" name="Google Shape;1596;p86"/>
          <p:cNvSpPr txBox="1"/>
          <p:nvPr>
            <p:ph idx="1" type="body"/>
          </p:nvPr>
        </p:nvSpPr>
        <p:spPr>
          <a:xfrm>
            <a:off x="521311" y="2291226"/>
            <a:ext cx="38220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Shapes are either solid or hollow. </a:t>
            </a:r>
            <a:endParaRPr sz="1600"/>
          </a:p>
        </p:txBody>
      </p:sp>
      <p:sp>
        <p:nvSpPr>
          <p:cNvPr id="1597" name="Google Shape;1597;p86"/>
          <p:cNvSpPr/>
          <p:nvPr/>
        </p:nvSpPr>
        <p:spPr>
          <a:xfrm>
            <a:off x="997000" y="2672070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6"/>
          <p:cNvSpPr/>
          <p:nvPr/>
        </p:nvSpPr>
        <p:spPr>
          <a:xfrm>
            <a:off x="2521000" y="2664388"/>
            <a:ext cx="303000" cy="114600"/>
          </a:xfrm>
          <a:prstGeom prst="diamond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6"/>
          <p:cNvSpPr txBox="1"/>
          <p:nvPr>
            <p:ph idx="1" type="body"/>
          </p:nvPr>
        </p:nvSpPr>
        <p:spPr>
          <a:xfrm>
            <a:off x="521311" y="2596026"/>
            <a:ext cx="4374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E.g. </a:t>
            </a:r>
            <a:endParaRPr sz="1600"/>
          </a:p>
        </p:txBody>
      </p:sp>
      <p:sp>
        <p:nvSpPr>
          <p:cNvPr id="1600" name="Google Shape;1600;p86"/>
          <p:cNvSpPr txBox="1"/>
          <p:nvPr>
            <p:ph idx="1" type="body"/>
          </p:nvPr>
        </p:nvSpPr>
        <p:spPr>
          <a:xfrm>
            <a:off x="1389623" y="2596026"/>
            <a:ext cx="926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solid </a:t>
            </a:r>
            <a:endParaRPr sz="1600"/>
          </a:p>
        </p:txBody>
      </p:sp>
      <p:sp>
        <p:nvSpPr>
          <p:cNvPr id="1601" name="Google Shape;1601;p86"/>
          <p:cNvSpPr txBox="1"/>
          <p:nvPr>
            <p:ph idx="1" type="body"/>
          </p:nvPr>
        </p:nvSpPr>
        <p:spPr>
          <a:xfrm>
            <a:off x="2913623" y="2596026"/>
            <a:ext cx="9261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hollow </a:t>
            </a:r>
            <a:endParaRPr sz="1600"/>
          </a:p>
        </p:txBody>
      </p:sp>
      <p:sp>
        <p:nvSpPr>
          <p:cNvPr id="1602" name="Google Shape;1602;p86"/>
          <p:cNvSpPr txBox="1"/>
          <p:nvPr>
            <p:ph idx="1" type="body"/>
          </p:nvPr>
        </p:nvSpPr>
        <p:spPr>
          <a:xfrm>
            <a:off x="524156" y="3045562"/>
            <a:ext cx="4162200" cy="6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From the list of events below, find sets of events where the probabilities sum to 1.</a:t>
            </a:r>
            <a:endParaRPr sz="1600"/>
          </a:p>
        </p:txBody>
      </p:sp>
      <p:sp>
        <p:nvSpPr>
          <p:cNvPr id="1603" name="Google Shape;1603;p86"/>
          <p:cNvSpPr txBox="1"/>
          <p:nvPr>
            <p:ph idx="1" type="body"/>
          </p:nvPr>
        </p:nvSpPr>
        <p:spPr>
          <a:xfrm>
            <a:off x="3717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 = {rhombus}</a:t>
            </a:r>
            <a:endParaRPr sz="1600"/>
          </a:p>
        </p:txBody>
      </p:sp>
      <p:sp>
        <p:nvSpPr>
          <p:cNvPr id="1604" name="Google Shape;1604;p86"/>
          <p:cNvSpPr txBox="1"/>
          <p:nvPr>
            <p:ph idx="1" type="body"/>
          </p:nvPr>
        </p:nvSpPr>
        <p:spPr>
          <a:xfrm>
            <a:off x="27593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 = {1 shape}</a:t>
            </a:r>
            <a:endParaRPr sz="1600"/>
          </a:p>
        </p:txBody>
      </p:sp>
      <p:sp>
        <p:nvSpPr>
          <p:cNvPr id="1605" name="Google Shape;1605;p86"/>
          <p:cNvSpPr txBox="1"/>
          <p:nvPr>
            <p:ph idx="1" type="body"/>
          </p:nvPr>
        </p:nvSpPr>
        <p:spPr>
          <a:xfrm>
            <a:off x="49183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 = {solid}</a:t>
            </a:r>
            <a:endParaRPr sz="1600"/>
          </a:p>
        </p:txBody>
      </p:sp>
      <p:sp>
        <p:nvSpPr>
          <p:cNvPr id="1606" name="Google Shape;1606;p86"/>
          <p:cNvSpPr txBox="1"/>
          <p:nvPr>
            <p:ph idx="1" type="body"/>
          </p:nvPr>
        </p:nvSpPr>
        <p:spPr>
          <a:xfrm>
            <a:off x="7229750" y="3807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 = {lightning}</a:t>
            </a:r>
            <a:endParaRPr sz="1600"/>
          </a:p>
        </p:txBody>
      </p:sp>
      <p:sp>
        <p:nvSpPr>
          <p:cNvPr id="1607" name="Google Shape;1607;p86"/>
          <p:cNvSpPr txBox="1"/>
          <p:nvPr>
            <p:ph idx="1" type="body"/>
          </p:nvPr>
        </p:nvSpPr>
        <p:spPr>
          <a:xfrm>
            <a:off x="3717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 = {2 shapes}</a:t>
            </a:r>
            <a:endParaRPr sz="1600"/>
          </a:p>
        </p:txBody>
      </p:sp>
      <p:sp>
        <p:nvSpPr>
          <p:cNvPr id="1608" name="Google Shape;1608;p86"/>
          <p:cNvSpPr txBox="1"/>
          <p:nvPr>
            <p:ph idx="1" type="body"/>
          </p:nvPr>
        </p:nvSpPr>
        <p:spPr>
          <a:xfrm>
            <a:off x="27593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 = {hollow}</a:t>
            </a:r>
            <a:endParaRPr sz="1600"/>
          </a:p>
        </p:txBody>
      </p:sp>
      <p:sp>
        <p:nvSpPr>
          <p:cNvPr id="1609" name="Google Shape;1609;p86"/>
          <p:cNvSpPr txBox="1"/>
          <p:nvPr>
            <p:ph idx="1" type="body"/>
          </p:nvPr>
        </p:nvSpPr>
        <p:spPr>
          <a:xfrm>
            <a:off x="49183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 = {3 shapes}</a:t>
            </a:r>
            <a:endParaRPr sz="1600"/>
          </a:p>
        </p:txBody>
      </p:sp>
      <p:sp>
        <p:nvSpPr>
          <p:cNvPr id="1610" name="Google Shape;1610;p86"/>
          <p:cNvSpPr txBox="1"/>
          <p:nvPr>
            <p:ph idx="1" type="body"/>
          </p:nvPr>
        </p:nvSpPr>
        <p:spPr>
          <a:xfrm>
            <a:off x="7229750" y="4188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 = {oval}</a:t>
            </a:r>
            <a:endParaRPr sz="1600"/>
          </a:p>
        </p:txBody>
      </p:sp>
      <p:sp>
        <p:nvSpPr>
          <p:cNvPr id="1611" name="Google Shape;1611;p86"/>
          <p:cNvSpPr txBox="1"/>
          <p:nvPr>
            <p:ph idx="1" type="body"/>
          </p:nvPr>
        </p:nvSpPr>
        <p:spPr>
          <a:xfrm>
            <a:off x="371750" y="4569550"/>
            <a:ext cx="24642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= {4 shapes}</a:t>
            </a:r>
            <a:endParaRPr sz="1600"/>
          </a:p>
        </p:txBody>
      </p:sp>
      <p:sp>
        <p:nvSpPr>
          <p:cNvPr id="1612" name="Google Shape;1612;p86"/>
          <p:cNvSpPr txBox="1"/>
          <p:nvPr>
            <p:ph idx="1" type="body"/>
          </p:nvPr>
        </p:nvSpPr>
        <p:spPr>
          <a:xfrm>
            <a:off x="2759350" y="4569550"/>
            <a:ext cx="23433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 = {not oval}</a:t>
            </a:r>
            <a:endParaRPr sz="1600"/>
          </a:p>
        </p:txBody>
      </p:sp>
      <p:sp>
        <p:nvSpPr>
          <p:cNvPr id="1613" name="Google Shape;1613;p86"/>
          <p:cNvSpPr txBox="1"/>
          <p:nvPr>
            <p:ph idx="1" type="body"/>
          </p:nvPr>
        </p:nvSpPr>
        <p:spPr>
          <a:xfrm>
            <a:off x="4918350" y="4569550"/>
            <a:ext cx="2700900" cy="2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K = {more than 1 shape}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8" name="Google Shape;1618;p87"/>
          <p:cNvGrpSpPr/>
          <p:nvPr/>
        </p:nvGrpSpPr>
        <p:grpSpPr>
          <a:xfrm>
            <a:off x="7879850" y="1200388"/>
            <a:ext cx="407325" cy="710225"/>
            <a:chOff x="1848000" y="1454825"/>
            <a:chExt cx="541800" cy="944700"/>
          </a:xfrm>
        </p:grpSpPr>
        <p:sp>
          <p:nvSpPr>
            <p:cNvPr id="1619" name="Google Shape;1619;p87"/>
            <p:cNvSpPr/>
            <p:nvPr/>
          </p:nvSpPr>
          <p:spPr>
            <a:xfrm rot="5400000">
              <a:off x="16465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87"/>
            <p:cNvSpPr/>
            <p:nvPr/>
          </p:nvSpPr>
          <p:spPr>
            <a:xfrm>
              <a:off x="19159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1" name="Google Shape;1621;p87"/>
          <p:cNvGrpSpPr/>
          <p:nvPr/>
        </p:nvGrpSpPr>
        <p:grpSpPr>
          <a:xfrm>
            <a:off x="7879850" y="2804428"/>
            <a:ext cx="407325" cy="710225"/>
            <a:chOff x="1848000" y="3588425"/>
            <a:chExt cx="541800" cy="944700"/>
          </a:xfrm>
        </p:grpSpPr>
        <p:sp>
          <p:nvSpPr>
            <p:cNvPr id="1622" name="Google Shape;1622;p87"/>
            <p:cNvSpPr/>
            <p:nvPr/>
          </p:nvSpPr>
          <p:spPr>
            <a:xfrm rot="5400000">
              <a:off x="16465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3" name="Google Shape;1623;p87"/>
            <p:cNvSpPr/>
            <p:nvPr/>
          </p:nvSpPr>
          <p:spPr>
            <a:xfrm>
              <a:off x="19227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4" name="Google Shape;1624;p87"/>
          <p:cNvGrpSpPr/>
          <p:nvPr/>
        </p:nvGrpSpPr>
        <p:grpSpPr>
          <a:xfrm>
            <a:off x="7879850" y="2002408"/>
            <a:ext cx="407325" cy="710225"/>
            <a:chOff x="1848000" y="2521625"/>
            <a:chExt cx="541800" cy="944700"/>
          </a:xfrm>
        </p:grpSpPr>
        <p:sp>
          <p:nvSpPr>
            <p:cNvPr id="1625" name="Google Shape;1625;p87"/>
            <p:cNvSpPr/>
            <p:nvPr/>
          </p:nvSpPr>
          <p:spPr>
            <a:xfrm rot="5400000">
              <a:off x="16465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87"/>
            <p:cNvSpPr/>
            <p:nvPr/>
          </p:nvSpPr>
          <p:spPr>
            <a:xfrm rot="-3007802">
              <a:off x="19278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7" name="Google Shape;1627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grpSp>
        <p:nvGrpSpPr>
          <p:cNvPr id="1628" name="Google Shape;1628;p87"/>
          <p:cNvGrpSpPr/>
          <p:nvPr/>
        </p:nvGrpSpPr>
        <p:grpSpPr>
          <a:xfrm>
            <a:off x="6333087" y="1200388"/>
            <a:ext cx="407325" cy="710225"/>
            <a:chOff x="2533800" y="1454825"/>
            <a:chExt cx="541800" cy="944700"/>
          </a:xfrm>
        </p:grpSpPr>
        <p:sp>
          <p:nvSpPr>
            <p:cNvPr id="1629" name="Google Shape;1629;p87"/>
            <p:cNvSpPr/>
            <p:nvPr/>
          </p:nvSpPr>
          <p:spPr>
            <a:xfrm rot="5400000">
              <a:off x="23323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0" name="Google Shape;1630;p87"/>
            <p:cNvSpPr/>
            <p:nvPr/>
          </p:nvSpPr>
          <p:spPr>
            <a:xfrm>
              <a:off x="2601764" y="16507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1" name="Google Shape;1631;p87"/>
            <p:cNvSpPr/>
            <p:nvPr/>
          </p:nvSpPr>
          <p:spPr>
            <a:xfrm>
              <a:off x="26017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2" name="Google Shape;1632;p87"/>
            <p:cNvSpPr/>
            <p:nvPr/>
          </p:nvSpPr>
          <p:spPr>
            <a:xfrm>
              <a:off x="2601764" y="2053557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3" name="Google Shape;1633;p87"/>
          <p:cNvGrpSpPr/>
          <p:nvPr/>
        </p:nvGrpSpPr>
        <p:grpSpPr>
          <a:xfrm>
            <a:off x="7364258" y="1200388"/>
            <a:ext cx="407325" cy="710225"/>
            <a:chOff x="3219600" y="1454825"/>
            <a:chExt cx="541800" cy="944700"/>
          </a:xfrm>
        </p:grpSpPr>
        <p:sp>
          <p:nvSpPr>
            <p:cNvPr id="1634" name="Google Shape;1634;p87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5" name="Google Shape;1635;p87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6" name="Google Shape;1636;p87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7" name="Google Shape;1637;p87"/>
          <p:cNvGrpSpPr/>
          <p:nvPr/>
        </p:nvGrpSpPr>
        <p:grpSpPr>
          <a:xfrm>
            <a:off x="8395430" y="1200388"/>
            <a:ext cx="407325" cy="710225"/>
            <a:chOff x="3905400" y="1454825"/>
            <a:chExt cx="541800" cy="944700"/>
          </a:xfrm>
        </p:grpSpPr>
        <p:sp>
          <p:nvSpPr>
            <p:cNvPr id="1638" name="Google Shape;1638;p87"/>
            <p:cNvSpPr/>
            <p:nvPr/>
          </p:nvSpPr>
          <p:spPr>
            <a:xfrm rot="5400000">
              <a:off x="3703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9" name="Google Shape;1639;p87"/>
            <p:cNvSpPr/>
            <p:nvPr/>
          </p:nvSpPr>
          <p:spPr>
            <a:xfrm>
              <a:off x="3973364" y="18521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0" name="Google Shape;1640;p87"/>
          <p:cNvGrpSpPr/>
          <p:nvPr/>
        </p:nvGrpSpPr>
        <p:grpSpPr>
          <a:xfrm>
            <a:off x="6333087" y="2804428"/>
            <a:ext cx="407325" cy="710225"/>
            <a:chOff x="2533800" y="3588425"/>
            <a:chExt cx="541800" cy="944700"/>
          </a:xfrm>
        </p:grpSpPr>
        <p:sp>
          <p:nvSpPr>
            <p:cNvPr id="1641" name="Google Shape;1641;p87"/>
            <p:cNvSpPr/>
            <p:nvPr/>
          </p:nvSpPr>
          <p:spPr>
            <a:xfrm rot="5400000">
              <a:off x="23323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2" name="Google Shape;1642;p87"/>
            <p:cNvSpPr/>
            <p:nvPr/>
          </p:nvSpPr>
          <p:spPr>
            <a:xfrm>
              <a:off x="2608500" y="380429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3" name="Google Shape;1643;p87"/>
            <p:cNvSpPr/>
            <p:nvPr/>
          </p:nvSpPr>
          <p:spPr>
            <a:xfrm>
              <a:off x="26085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4" name="Google Shape;1644;p87"/>
            <p:cNvSpPr/>
            <p:nvPr/>
          </p:nvSpPr>
          <p:spPr>
            <a:xfrm>
              <a:off x="2608500" y="420737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5" name="Google Shape;1645;p87"/>
          <p:cNvGrpSpPr/>
          <p:nvPr/>
        </p:nvGrpSpPr>
        <p:grpSpPr>
          <a:xfrm>
            <a:off x="7364258" y="2804428"/>
            <a:ext cx="407325" cy="710225"/>
            <a:chOff x="3219600" y="3588425"/>
            <a:chExt cx="541800" cy="944700"/>
          </a:xfrm>
        </p:grpSpPr>
        <p:sp>
          <p:nvSpPr>
            <p:cNvPr id="1646" name="Google Shape;1646;p87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7" name="Google Shape;1647;p87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48" name="Google Shape;1648;p87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49" name="Google Shape;1649;p87"/>
          <p:cNvGrpSpPr/>
          <p:nvPr/>
        </p:nvGrpSpPr>
        <p:grpSpPr>
          <a:xfrm>
            <a:off x="8395430" y="2804428"/>
            <a:ext cx="407325" cy="710225"/>
            <a:chOff x="3905400" y="3588425"/>
            <a:chExt cx="541800" cy="944700"/>
          </a:xfrm>
        </p:grpSpPr>
        <p:sp>
          <p:nvSpPr>
            <p:cNvPr id="1650" name="Google Shape;1650;p87"/>
            <p:cNvSpPr/>
            <p:nvPr/>
          </p:nvSpPr>
          <p:spPr>
            <a:xfrm rot="5400000">
              <a:off x="3703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1" name="Google Shape;1651;p87"/>
            <p:cNvSpPr/>
            <p:nvPr/>
          </p:nvSpPr>
          <p:spPr>
            <a:xfrm>
              <a:off x="3980100" y="4005832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2" name="Google Shape;1652;p87"/>
          <p:cNvGrpSpPr/>
          <p:nvPr/>
        </p:nvGrpSpPr>
        <p:grpSpPr>
          <a:xfrm>
            <a:off x="6333087" y="2002408"/>
            <a:ext cx="407325" cy="710225"/>
            <a:chOff x="2533800" y="2521625"/>
            <a:chExt cx="541800" cy="944700"/>
          </a:xfrm>
        </p:grpSpPr>
        <p:sp>
          <p:nvSpPr>
            <p:cNvPr id="1653" name="Google Shape;1653;p87"/>
            <p:cNvSpPr/>
            <p:nvPr/>
          </p:nvSpPr>
          <p:spPr>
            <a:xfrm rot="5400000">
              <a:off x="23323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4" name="Google Shape;1654;p87"/>
            <p:cNvSpPr/>
            <p:nvPr/>
          </p:nvSpPr>
          <p:spPr>
            <a:xfrm rot="-3007802">
              <a:off x="2613635" y="26216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5" name="Google Shape;1655;p87"/>
            <p:cNvSpPr/>
            <p:nvPr/>
          </p:nvSpPr>
          <p:spPr>
            <a:xfrm rot="-3007802">
              <a:off x="26136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6" name="Google Shape;1656;p87"/>
            <p:cNvSpPr/>
            <p:nvPr/>
          </p:nvSpPr>
          <p:spPr>
            <a:xfrm rot="-3007802">
              <a:off x="2613635" y="30788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7" name="Google Shape;1657;p87"/>
          <p:cNvGrpSpPr/>
          <p:nvPr/>
        </p:nvGrpSpPr>
        <p:grpSpPr>
          <a:xfrm>
            <a:off x="8395430" y="2002408"/>
            <a:ext cx="407325" cy="710225"/>
            <a:chOff x="3905400" y="2521625"/>
            <a:chExt cx="541800" cy="944700"/>
          </a:xfrm>
        </p:grpSpPr>
        <p:sp>
          <p:nvSpPr>
            <p:cNvPr id="1658" name="Google Shape;1658;p87"/>
            <p:cNvSpPr/>
            <p:nvPr/>
          </p:nvSpPr>
          <p:spPr>
            <a:xfrm rot="5400000">
              <a:off x="3703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9" name="Google Shape;1659;p87"/>
            <p:cNvSpPr/>
            <p:nvPr/>
          </p:nvSpPr>
          <p:spPr>
            <a:xfrm rot="-3007802">
              <a:off x="3985235" y="2850269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0" name="Google Shape;1660;p87"/>
          <p:cNvGrpSpPr/>
          <p:nvPr/>
        </p:nvGrpSpPr>
        <p:grpSpPr>
          <a:xfrm>
            <a:off x="7364258" y="2002408"/>
            <a:ext cx="407325" cy="710225"/>
            <a:chOff x="3219600" y="2521625"/>
            <a:chExt cx="541800" cy="944700"/>
          </a:xfrm>
        </p:grpSpPr>
        <p:sp>
          <p:nvSpPr>
            <p:cNvPr id="1661" name="Google Shape;1661;p87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2" name="Google Shape;1662;p87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3" name="Google Shape;1663;p87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4" name="Google Shape;1664;p87"/>
          <p:cNvGrpSpPr/>
          <p:nvPr/>
        </p:nvGrpSpPr>
        <p:grpSpPr>
          <a:xfrm>
            <a:off x="5817507" y="1200388"/>
            <a:ext cx="407325" cy="710225"/>
            <a:chOff x="476400" y="1454825"/>
            <a:chExt cx="541800" cy="944700"/>
          </a:xfrm>
        </p:grpSpPr>
        <p:sp>
          <p:nvSpPr>
            <p:cNvPr id="1665" name="Google Shape;1665;p87"/>
            <p:cNvSpPr/>
            <p:nvPr/>
          </p:nvSpPr>
          <p:spPr>
            <a:xfrm rot="5400000">
              <a:off x="2749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6" name="Google Shape;1666;p87"/>
            <p:cNvSpPr/>
            <p:nvPr/>
          </p:nvSpPr>
          <p:spPr>
            <a:xfrm>
              <a:off x="544364" y="16507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7" name="Google Shape;1667;p87"/>
            <p:cNvSpPr/>
            <p:nvPr/>
          </p:nvSpPr>
          <p:spPr>
            <a:xfrm>
              <a:off x="544364" y="18521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68" name="Google Shape;1668;p87"/>
            <p:cNvSpPr/>
            <p:nvPr/>
          </p:nvSpPr>
          <p:spPr>
            <a:xfrm>
              <a:off x="544364" y="2053557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69" name="Google Shape;1669;p87"/>
          <p:cNvGrpSpPr/>
          <p:nvPr/>
        </p:nvGrpSpPr>
        <p:grpSpPr>
          <a:xfrm>
            <a:off x="6848679" y="1200388"/>
            <a:ext cx="407325" cy="710225"/>
            <a:chOff x="1162200" y="1454825"/>
            <a:chExt cx="541800" cy="944700"/>
          </a:xfrm>
        </p:grpSpPr>
        <p:sp>
          <p:nvSpPr>
            <p:cNvPr id="1670" name="Google Shape;1670;p87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1" name="Google Shape;1671;p87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2" name="Google Shape;1672;p87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3" name="Google Shape;1673;p87"/>
          <p:cNvGrpSpPr/>
          <p:nvPr/>
        </p:nvGrpSpPr>
        <p:grpSpPr>
          <a:xfrm>
            <a:off x="5817507" y="2804428"/>
            <a:ext cx="407325" cy="710225"/>
            <a:chOff x="476400" y="3588425"/>
            <a:chExt cx="541800" cy="944700"/>
          </a:xfrm>
        </p:grpSpPr>
        <p:sp>
          <p:nvSpPr>
            <p:cNvPr id="1674" name="Google Shape;1674;p87"/>
            <p:cNvSpPr/>
            <p:nvPr/>
          </p:nvSpPr>
          <p:spPr>
            <a:xfrm rot="5400000">
              <a:off x="2749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5" name="Google Shape;1675;p87"/>
            <p:cNvSpPr/>
            <p:nvPr/>
          </p:nvSpPr>
          <p:spPr>
            <a:xfrm>
              <a:off x="551100" y="380429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6" name="Google Shape;1676;p87"/>
            <p:cNvSpPr/>
            <p:nvPr/>
          </p:nvSpPr>
          <p:spPr>
            <a:xfrm>
              <a:off x="551100" y="400583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77" name="Google Shape;1677;p87"/>
            <p:cNvSpPr/>
            <p:nvPr/>
          </p:nvSpPr>
          <p:spPr>
            <a:xfrm>
              <a:off x="551100" y="4207372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8" name="Google Shape;1678;p87"/>
          <p:cNvGrpSpPr/>
          <p:nvPr/>
        </p:nvGrpSpPr>
        <p:grpSpPr>
          <a:xfrm>
            <a:off x="6848679" y="2804428"/>
            <a:ext cx="407325" cy="710225"/>
            <a:chOff x="1162200" y="3588425"/>
            <a:chExt cx="541800" cy="944700"/>
          </a:xfrm>
        </p:grpSpPr>
        <p:sp>
          <p:nvSpPr>
            <p:cNvPr id="1679" name="Google Shape;1679;p87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0" name="Google Shape;1680;p87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1" name="Google Shape;1681;p87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2" name="Google Shape;1682;p87"/>
          <p:cNvGrpSpPr/>
          <p:nvPr/>
        </p:nvGrpSpPr>
        <p:grpSpPr>
          <a:xfrm>
            <a:off x="5817507" y="2002408"/>
            <a:ext cx="407325" cy="710225"/>
            <a:chOff x="476400" y="2521625"/>
            <a:chExt cx="541800" cy="944700"/>
          </a:xfrm>
        </p:grpSpPr>
        <p:sp>
          <p:nvSpPr>
            <p:cNvPr id="1683" name="Google Shape;1683;p87"/>
            <p:cNvSpPr/>
            <p:nvPr/>
          </p:nvSpPr>
          <p:spPr>
            <a:xfrm rot="5400000">
              <a:off x="2749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4" name="Google Shape;1684;p87"/>
            <p:cNvSpPr/>
            <p:nvPr/>
          </p:nvSpPr>
          <p:spPr>
            <a:xfrm rot="-3007802">
              <a:off x="556235" y="26216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5" name="Google Shape;1685;p87"/>
            <p:cNvSpPr/>
            <p:nvPr/>
          </p:nvSpPr>
          <p:spPr>
            <a:xfrm rot="-3007802">
              <a:off x="556235" y="28502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6" name="Google Shape;1686;p87"/>
            <p:cNvSpPr/>
            <p:nvPr/>
          </p:nvSpPr>
          <p:spPr>
            <a:xfrm rot="-3007802">
              <a:off x="556235" y="3078869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87" name="Google Shape;1687;p87"/>
          <p:cNvGrpSpPr/>
          <p:nvPr/>
        </p:nvGrpSpPr>
        <p:grpSpPr>
          <a:xfrm>
            <a:off x="6848679" y="2002408"/>
            <a:ext cx="407325" cy="710225"/>
            <a:chOff x="1162200" y="2521625"/>
            <a:chExt cx="541800" cy="944700"/>
          </a:xfrm>
        </p:grpSpPr>
        <p:sp>
          <p:nvSpPr>
            <p:cNvPr id="1688" name="Google Shape;1688;p87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9" name="Google Shape;1689;p87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0" name="Google Shape;1690;p87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1" name="Google Shape;1691;p87"/>
          <p:cNvGrpSpPr/>
          <p:nvPr/>
        </p:nvGrpSpPr>
        <p:grpSpPr>
          <a:xfrm>
            <a:off x="5306858" y="1200388"/>
            <a:ext cx="407325" cy="710225"/>
            <a:chOff x="3219600" y="1454825"/>
            <a:chExt cx="541800" cy="944700"/>
          </a:xfrm>
        </p:grpSpPr>
        <p:sp>
          <p:nvSpPr>
            <p:cNvPr id="1692" name="Google Shape;1692;p87"/>
            <p:cNvSpPr/>
            <p:nvPr/>
          </p:nvSpPr>
          <p:spPr>
            <a:xfrm rot="5400000">
              <a:off x="30181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3" name="Google Shape;1693;p87"/>
            <p:cNvSpPr/>
            <p:nvPr/>
          </p:nvSpPr>
          <p:spPr>
            <a:xfrm>
              <a:off x="3287564" y="1765086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4" name="Google Shape;1694;p87"/>
            <p:cNvSpPr/>
            <p:nvPr/>
          </p:nvSpPr>
          <p:spPr>
            <a:xfrm>
              <a:off x="3287564" y="1966471"/>
              <a:ext cx="402900" cy="152400"/>
            </a:xfrm>
            <a:prstGeom prst="diamond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5" name="Google Shape;1695;p87"/>
          <p:cNvGrpSpPr/>
          <p:nvPr/>
        </p:nvGrpSpPr>
        <p:grpSpPr>
          <a:xfrm>
            <a:off x="5306858" y="2804428"/>
            <a:ext cx="407325" cy="710225"/>
            <a:chOff x="3219600" y="3588425"/>
            <a:chExt cx="541800" cy="944700"/>
          </a:xfrm>
        </p:grpSpPr>
        <p:sp>
          <p:nvSpPr>
            <p:cNvPr id="1696" name="Google Shape;1696;p87"/>
            <p:cNvSpPr/>
            <p:nvPr/>
          </p:nvSpPr>
          <p:spPr>
            <a:xfrm rot="5400000">
              <a:off x="30181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7" name="Google Shape;1697;p87"/>
            <p:cNvSpPr/>
            <p:nvPr/>
          </p:nvSpPr>
          <p:spPr>
            <a:xfrm>
              <a:off x="3294300" y="3896727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8" name="Google Shape;1698;p87"/>
            <p:cNvSpPr/>
            <p:nvPr/>
          </p:nvSpPr>
          <p:spPr>
            <a:xfrm>
              <a:off x="3294300" y="4098268"/>
              <a:ext cx="392400" cy="1314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9" name="Google Shape;1699;p87"/>
          <p:cNvGrpSpPr/>
          <p:nvPr/>
        </p:nvGrpSpPr>
        <p:grpSpPr>
          <a:xfrm>
            <a:off x="5306858" y="2002408"/>
            <a:ext cx="407325" cy="710225"/>
            <a:chOff x="3219600" y="2521625"/>
            <a:chExt cx="541800" cy="944700"/>
          </a:xfrm>
        </p:grpSpPr>
        <p:sp>
          <p:nvSpPr>
            <p:cNvPr id="1700" name="Google Shape;1700;p87"/>
            <p:cNvSpPr/>
            <p:nvPr/>
          </p:nvSpPr>
          <p:spPr>
            <a:xfrm rot="5400000">
              <a:off x="30181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87"/>
            <p:cNvSpPr/>
            <p:nvPr/>
          </p:nvSpPr>
          <p:spPr>
            <a:xfrm rot="-3007802">
              <a:off x="3299435" y="27194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87"/>
            <p:cNvSpPr/>
            <p:nvPr/>
          </p:nvSpPr>
          <p:spPr>
            <a:xfrm rot="-3007802">
              <a:off x="3299435" y="2948056"/>
              <a:ext cx="362978" cy="298152"/>
            </a:xfrm>
            <a:prstGeom prst="lightningBolt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3" name="Google Shape;1703;p87"/>
          <p:cNvGrpSpPr/>
          <p:nvPr/>
        </p:nvGrpSpPr>
        <p:grpSpPr>
          <a:xfrm>
            <a:off x="4791279" y="1200388"/>
            <a:ext cx="407325" cy="710225"/>
            <a:chOff x="1162200" y="1454825"/>
            <a:chExt cx="541800" cy="944700"/>
          </a:xfrm>
        </p:grpSpPr>
        <p:sp>
          <p:nvSpPr>
            <p:cNvPr id="1704" name="Google Shape;1704;p87"/>
            <p:cNvSpPr/>
            <p:nvPr/>
          </p:nvSpPr>
          <p:spPr>
            <a:xfrm rot="5400000">
              <a:off x="960750" y="16562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87"/>
            <p:cNvSpPr/>
            <p:nvPr/>
          </p:nvSpPr>
          <p:spPr>
            <a:xfrm>
              <a:off x="1230164" y="1765086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87"/>
            <p:cNvSpPr/>
            <p:nvPr/>
          </p:nvSpPr>
          <p:spPr>
            <a:xfrm>
              <a:off x="1230164" y="1966471"/>
              <a:ext cx="402900" cy="152400"/>
            </a:xfrm>
            <a:prstGeom prst="diamond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7" name="Google Shape;1707;p87"/>
          <p:cNvGrpSpPr/>
          <p:nvPr/>
        </p:nvGrpSpPr>
        <p:grpSpPr>
          <a:xfrm>
            <a:off x="4791279" y="2804428"/>
            <a:ext cx="407325" cy="710225"/>
            <a:chOff x="1162200" y="3588425"/>
            <a:chExt cx="541800" cy="944700"/>
          </a:xfrm>
        </p:grpSpPr>
        <p:sp>
          <p:nvSpPr>
            <p:cNvPr id="1708" name="Google Shape;1708;p87"/>
            <p:cNvSpPr/>
            <p:nvPr/>
          </p:nvSpPr>
          <p:spPr>
            <a:xfrm rot="5400000">
              <a:off x="960750" y="37898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87"/>
            <p:cNvSpPr/>
            <p:nvPr/>
          </p:nvSpPr>
          <p:spPr>
            <a:xfrm>
              <a:off x="1236900" y="3896727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0" name="Google Shape;1710;p87"/>
            <p:cNvSpPr/>
            <p:nvPr/>
          </p:nvSpPr>
          <p:spPr>
            <a:xfrm>
              <a:off x="1236900" y="4098268"/>
              <a:ext cx="392400" cy="131400"/>
            </a:xfrm>
            <a:prstGeom prst="ellipse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1" name="Google Shape;1711;p87"/>
          <p:cNvGrpSpPr/>
          <p:nvPr/>
        </p:nvGrpSpPr>
        <p:grpSpPr>
          <a:xfrm>
            <a:off x="4791279" y="2002408"/>
            <a:ext cx="407325" cy="710225"/>
            <a:chOff x="1162200" y="2521625"/>
            <a:chExt cx="541800" cy="944700"/>
          </a:xfrm>
        </p:grpSpPr>
        <p:sp>
          <p:nvSpPr>
            <p:cNvPr id="1712" name="Google Shape;1712;p87"/>
            <p:cNvSpPr/>
            <p:nvPr/>
          </p:nvSpPr>
          <p:spPr>
            <a:xfrm rot="5400000">
              <a:off x="960750" y="2723075"/>
              <a:ext cx="944700" cy="541800"/>
            </a:xfrm>
            <a:prstGeom prst="rect">
              <a:avLst/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3" name="Google Shape;1713;p87"/>
            <p:cNvSpPr/>
            <p:nvPr/>
          </p:nvSpPr>
          <p:spPr>
            <a:xfrm rot="-3007802">
              <a:off x="1242035" y="27194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87"/>
            <p:cNvSpPr/>
            <p:nvPr/>
          </p:nvSpPr>
          <p:spPr>
            <a:xfrm rot="-3007802">
              <a:off x="1242035" y="2948056"/>
              <a:ext cx="362978" cy="298152"/>
            </a:xfrm>
            <a:prstGeom prst="lightningBol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5" name="Google Shape;1715;p87"/>
          <p:cNvSpPr/>
          <p:nvPr/>
        </p:nvSpPr>
        <p:spPr>
          <a:xfrm>
            <a:off x="4842374" y="17374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7"/>
          <p:cNvSpPr/>
          <p:nvPr/>
        </p:nvSpPr>
        <p:spPr>
          <a:xfrm>
            <a:off x="4842374" y="1280244"/>
            <a:ext cx="303000" cy="114600"/>
          </a:xfrm>
          <a:prstGeom prst="diamond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87"/>
          <p:cNvSpPr/>
          <p:nvPr/>
        </p:nvSpPr>
        <p:spPr>
          <a:xfrm>
            <a:off x="5357954" y="1281242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87"/>
          <p:cNvSpPr/>
          <p:nvPr/>
        </p:nvSpPr>
        <p:spPr>
          <a:xfrm rot="-3007747">
            <a:off x="5366870" y="1998731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87"/>
          <p:cNvSpPr/>
          <p:nvPr/>
        </p:nvSpPr>
        <p:spPr>
          <a:xfrm>
            <a:off x="5363018" y="2883810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87"/>
          <p:cNvSpPr/>
          <p:nvPr/>
        </p:nvSpPr>
        <p:spPr>
          <a:xfrm>
            <a:off x="5357954" y="1737444"/>
            <a:ext cx="303000" cy="114600"/>
          </a:xfrm>
          <a:prstGeom prst="diamond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87"/>
          <p:cNvSpPr/>
          <p:nvPr/>
        </p:nvSpPr>
        <p:spPr>
          <a:xfrm rot="-3007747">
            <a:off x="5366870" y="2475393"/>
            <a:ext cx="272923" cy="224159"/>
          </a:xfrm>
          <a:prstGeom prst="lightningBol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87"/>
          <p:cNvSpPr/>
          <p:nvPr/>
        </p:nvSpPr>
        <p:spPr>
          <a:xfrm>
            <a:off x="5363018" y="3340128"/>
            <a:ext cx="294900" cy="987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7"/>
          <p:cNvSpPr/>
          <p:nvPr/>
        </p:nvSpPr>
        <p:spPr>
          <a:xfrm rot="-3007747">
            <a:off x="4851291" y="1998731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87"/>
          <p:cNvSpPr/>
          <p:nvPr/>
        </p:nvSpPr>
        <p:spPr>
          <a:xfrm rot="-3007747">
            <a:off x="4851291" y="2475393"/>
            <a:ext cx="272923" cy="224159"/>
          </a:xfrm>
          <a:prstGeom prst="lightningBol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87"/>
          <p:cNvSpPr/>
          <p:nvPr/>
        </p:nvSpPr>
        <p:spPr>
          <a:xfrm>
            <a:off x="4847438" y="2883810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87"/>
          <p:cNvSpPr/>
          <p:nvPr/>
        </p:nvSpPr>
        <p:spPr>
          <a:xfrm>
            <a:off x="4847438" y="3340128"/>
            <a:ext cx="294900" cy="987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87"/>
          <p:cNvSpPr txBox="1"/>
          <p:nvPr>
            <p:ph idx="1" type="body"/>
          </p:nvPr>
        </p:nvSpPr>
        <p:spPr>
          <a:xfrm>
            <a:off x="478676" y="988150"/>
            <a:ext cx="35607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A, D and H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{rhombus, lightning, oval}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8" name="Google Shape;1728;p87"/>
          <p:cNvSpPr txBox="1"/>
          <p:nvPr>
            <p:ph idx="1" type="body"/>
          </p:nvPr>
        </p:nvSpPr>
        <p:spPr>
          <a:xfrm>
            <a:off x="478676" y="1769200"/>
            <a:ext cx="35607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 and F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{solid, hollow}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9" name="Google Shape;1729;p87"/>
          <p:cNvSpPr txBox="1"/>
          <p:nvPr>
            <p:ph idx="1" type="body"/>
          </p:nvPr>
        </p:nvSpPr>
        <p:spPr>
          <a:xfrm>
            <a:off x="478675" y="2550250"/>
            <a:ext cx="41751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B, E, G and I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{1 shape, 2 shapes, 3 shapes, 4 shapes}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0" name="Google Shape;1730;p87"/>
          <p:cNvSpPr txBox="1"/>
          <p:nvPr>
            <p:ph idx="1" type="body"/>
          </p:nvPr>
        </p:nvSpPr>
        <p:spPr>
          <a:xfrm>
            <a:off x="478675" y="3331300"/>
            <a:ext cx="41751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 and J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{oval, not oval}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1" name="Google Shape;1731;p87"/>
          <p:cNvSpPr txBox="1"/>
          <p:nvPr>
            <p:ph idx="1" type="body"/>
          </p:nvPr>
        </p:nvSpPr>
        <p:spPr>
          <a:xfrm>
            <a:off x="478675" y="4112350"/>
            <a:ext cx="41751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B and K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{1 shape, more than 1 shape}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 of events</a:t>
            </a:r>
            <a:endParaRPr/>
          </a:p>
        </p:txBody>
      </p:sp>
      <p:sp>
        <p:nvSpPr>
          <p:cNvPr id="1737" name="Google Shape;1737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738" name="Google Shape;1738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Summing probabilities</a:t>
            </a:r>
            <a:endParaRPr/>
          </a:p>
        </p:txBody>
      </p:sp>
      <p:pic>
        <p:nvPicPr>
          <p:cNvPr id="1739" name="Google Shape;173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cxnSp>
        <p:nvCxnSpPr>
          <p:cNvPr id="1745" name="Google Shape;1745;p89"/>
          <p:cNvCxnSpPr/>
          <p:nvPr/>
        </p:nvCxnSpPr>
        <p:spPr>
          <a:xfrm>
            <a:off x="1260861" y="3979347"/>
            <a:ext cx="6838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89"/>
          <p:cNvCxnSpPr/>
          <p:nvPr/>
        </p:nvCxnSpPr>
        <p:spPr>
          <a:xfrm>
            <a:off x="1260883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89"/>
          <p:cNvCxnSpPr/>
          <p:nvPr/>
        </p:nvCxnSpPr>
        <p:spPr>
          <a:xfrm>
            <a:off x="8088215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89"/>
          <p:cNvCxnSpPr/>
          <p:nvPr/>
        </p:nvCxnSpPr>
        <p:spPr>
          <a:xfrm>
            <a:off x="4674549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89"/>
          <p:cNvSpPr txBox="1"/>
          <p:nvPr/>
        </p:nvSpPr>
        <p:spPr>
          <a:xfrm>
            <a:off x="7948672" y="4249215"/>
            <a:ext cx="2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0" name="Google Shape;1750;p89"/>
          <p:cNvSpPr txBox="1"/>
          <p:nvPr/>
        </p:nvSpPr>
        <p:spPr>
          <a:xfrm>
            <a:off x="1106238" y="4249215"/>
            <a:ext cx="2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51" name="Google Shape;1751;p89"/>
          <p:cNvGrpSpPr/>
          <p:nvPr/>
        </p:nvGrpSpPr>
        <p:grpSpPr>
          <a:xfrm>
            <a:off x="4126380" y="3339716"/>
            <a:ext cx="1040149" cy="553198"/>
            <a:chOff x="4126380" y="3644516"/>
            <a:chExt cx="1040149" cy="553198"/>
          </a:xfrm>
        </p:grpSpPr>
        <p:pic>
          <p:nvPicPr>
            <p:cNvPr id="1752" name="Google Shape;175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81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3" name="Google Shape;175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126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4" name="Google Shape;1754;p89"/>
          <p:cNvSpPr txBox="1"/>
          <p:nvPr>
            <p:ph idx="1" type="body"/>
          </p:nvPr>
        </p:nvSpPr>
        <p:spPr>
          <a:xfrm>
            <a:off x="324000" y="2664300"/>
            <a:ext cx="8496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</a:t>
            </a:r>
            <a:r>
              <a:rPr lang="en-GB" sz="1900"/>
              <a:t>he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>
                <a:solidFill>
                  <a:schemeClr val="accent5"/>
                </a:solidFill>
              </a:rPr>
              <a:t>more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likely it is</a:t>
            </a:r>
            <a:r>
              <a:rPr lang="en-GB" sz="1900"/>
              <a:t> that Aisha wins, the</a:t>
            </a:r>
            <a:r>
              <a:rPr lang="en-GB" sz="1900">
                <a:solidFill>
                  <a:schemeClr val="accent5"/>
                </a:solidFill>
              </a:rPr>
              <a:t> less</a:t>
            </a:r>
            <a:r>
              <a:rPr lang="en-GB" sz="1900">
                <a:solidFill>
                  <a:srgbClr val="282828"/>
                </a:solidFill>
              </a:rPr>
              <a:t> </a:t>
            </a:r>
            <a:r>
              <a:rPr lang="en-GB" sz="1900"/>
              <a:t>likely it is that Jacob wins.</a:t>
            </a:r>
            <a:endParaRPr sz="1900"/>
          </a:p>
        </p:txBody>
      </p:sp>
      <p:grpSp>
        <p:nvGrpSpPr>
          <p:cNvPr id="1755" name="Google Shape;1755;p89"/>
          <p:cNvGrpSpPr/>
          <p:nvPr/>
        </p:nvGrpSpPr>
        <p:grpSpPr>
          <a:xfrm>
            <a:off x="3364380" y="3339716"/>
            <a:ext cx="2564149" cy="553198"/>
            <a:chOff x="3364380" y="3644516"/>
            <a:chExt cx="2564149" cy="553198"/>
          </a:xfrm>
        </p:grpSpPr>
        <p:pic>
          <p:nvPicPr>
            <p:cNvPr id="1756" name="Google Shape;175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43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7" name="Google Shape;1757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3364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8" name="Google Shape;1758;p89"/>
          <p:cNvGrpSpPr/>
          <p:nvPr/>
        </p:nvGrpSpPr>
        <p:grpSpPr>
          <a:xfrm>
            <a:off x="2602380" y="3339716"/>
            <a:ext cx="4088149" cy="553198"/>
            <a:chOff x="2602380" y="3644516"/>
            <a:chExt cx="4088149" cy="553198"/>
          </a:xfrm>
        </p:grpSpPr>
        <p:pic>
          <p:nvPicPr>
            <p:cNvPr id="1759" name="Google Shape;1759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052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0" name="Google Shape;1760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602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1" name="Google Shape;1761;p89"/>
          <p:cNvGrpSpPr/>
          <p:nvPr/>
        </p:nvGrpSpPr>
        <p:grpSpPr>
          <a:xfrm>
            <a:off x="1840380" y="3339716"/>
            <a:ext cx="5688349" cy="553198"/>
            <a:chOff x="1840380" y="3644516"/>
            <a:chExt cx="5688349" cy="553198"/>
          </a:xfrm>
        </p:grpSpPr>
        <p:pic>
          <p:nvPicPr>
            <p:cNvPr id="1762" name="Google Shape;176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4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3" name="Google Shape;1763;p8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8403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4" name="Google Shape;1764;p89"/>
          <p:cNvSpPr txBox="1"/>
          <p:nvPr>
            <p:ph idx="1" type="body"/>
          </p:nvPr>
        </p:nvSpPr>
        <p:spPr>
          <a:xfrm>
            <a:off x="324000" y="759300"/>
            <a:ext cx="8237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are about to play each other in a tennis match.</a:t>
            </a:r>
            <a:endParaRPr sz="1800"/>
          </a:p>
        </p:txBody>
      </p:sp>
      <p:sp>
        <p:nvSpPr>
          <p:cNvPr id="1765" name="Google Shape;1765;p89"/>
          <p:cNvSpPr txBox="1"/>
          <p:nvPr/>
        </p:nvSpPr>
        <p:spPr>
          <a:xfrm>
            <a:off x="283948" y="1551526"/>
            <a:ext cx="342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{Aisha wins,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wins} </a:t>
            </a:r>
            <a:endParaRPr sz="1800"/>
          </a:p>
        </p:txBody>
      </p:sp>
      <p:pic>
        <p:nvPicPr>
          <p:cNvPr id="1766" name="Google Shape;176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716" y="1923467"/>
            <a:ext cx="285261" cy="5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220193" y="1926907"/>
            <a:ext cx="387242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89"/>
          <p:cNvSpPr txBox="1"/>
          <p:nvPr>
            <p:ph idx="1" type="body"/>
          </p:nvPr>
        </p:nvSpPr>
        <p:spPr>
          <a:xfrm>
            <a:off x="324000" y="1109574"/>
            <a:ext cx="8237700" cy="36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only</a:t>
            </a:r>
            <a:r>
              <a:rPr lang="en-GB" sz="1800">
                <a:solidFill>
                  <a:srgbClr val="282828"/>
                </a:solidFill>
              </a:rPr>
              <a:t> </a:t>
            </a:r>
            <a:r>
              <a:rPr lang="en-GB" sz="1800"/>
              <a:t>possible outcomes are either Aisha wins or Jacob wins.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769" name="Google Shape;1769;p89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7823" y="4355922"/>
            <a:ext cx="135309" cy="4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cxnSp>
        <p:nvCxnSpPr>
          <p:cNvPr id="1775" name="Google Shape;1775;p90"/>
          <p:cNvCxnSpPr/>
          <p:nvPr/>
        </p:nvCxnSpPr>
        <p:spPr>
          <a:xfrm>
            <a:off x="1260861" y="3979347"/>
            <a:ext cx="6838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90"/>
          <p:cNvCxnSpPr/>
          <p:nvPr/>
        </p:nvCxnSpPr>
        <p:spPr>
          <a:xfrm>
            <a:off x="1260883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90"/>
          <p:cNvCxnSpPr/>
          <p:nvPr/>
        </p:nvCxnSpPr>
        <p:spPr>
          <a:xfrm>
            <a:off x="8088215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90"/>
          <p:cNvCxnSpPr/>
          <p:nvPr/>
        </p:nvCxnSpPr>
        <p:spPr>
          <a:xfrm>
            <a:off x="4674549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90"/>
          <p:cNvSpPr txBox="1"/>
          <p:nvPr>
            <p:ph idx="1" type="body"/>
          </p:nvPr>
        </p:nvSpPr>
        <p:spPr>
          <a:xfrm>
            <a:off x="959600" y="2435700"/>
            <a:ext cx="199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P(Aisha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900"/>
              <a:t> </a:t>
            </a:r>
            <a:endParaRPr sz="1900"/>
          </a:p>
        </p:txBody>
      </p:sp>
      <p:grpSp>
        <p:nvGrpSpPr>
          <p:cNvPr id="1780" name="Google Shape;1780;p90"/>
          <p:cNvGrpSpPr/>
          <p:nvPr/>
        </p:nvGrpSpPr>
        <p:grpSpPr>
          <a:xfrm>
            <a:off x="2068980" y="3339716"/>
            <a:ext cx="5231149" cy="553198"/>
            <a:chOff x="2068980" y="3644516"/>
            <a:chExt cx="5231149" cy="553198"/>
          </a:xfrm>
        </p:grpSpPr>
        <p:pic>
          <p:nvPicPr>
            <p:cNvPr id="1781" name="Google Shape;1781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48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2" name="Google Shape;1782;p9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0689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3" name="Google Shape;1783;p90"/>
          <p:cNvSpPr txBox="1"/>
          <p:nvPr>
            <p:ph idx="1" type="body"/>
          </p:nvPr>
        </p:nvSpPr>
        <p:spPr>
          <a:xfrm>
            <a:off x="324000" y="759300"/>
            <a:ext cx="8237700" cy="7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As these are the only two possible outcomes, and it is not possible for them both to happen in the same trial, their probabilities </a:t>
            </a:r>
            <a:r>
              <a:rPr lang="en-GB" sz="1800">
                <a:solidFill>
                  <a:schemeClr val="accent5"/>
                </a:solidFill>
              </a:rPr>
              <a:t>sum to 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84" name="Google Shape;1784;p90"/>
          <p:cNvSpPr txBox="1"/>
          <p:nvPr>
            <p:ph idx="1" type="body"/>
          </p:nvPr>
        </p:nvSpPr>
        <p:spPr>
          <a:xfrm>
            <a:off x="324000" y="1490576"/>
            <a:ext cx="8237700" cy="65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probability of one event is known, then the probability for the other event can be calculated by </a:t>
            </a:r>
            <a:r>
              <a:rPr lang="en-GB" sz="1800">
                <a:solidFill>
                  <a:schemeClr val="accent5"/>
                </a:solidFill>
              </a:rPr>
              <a:t>subtracting from 1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785" name="Google Shape;17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4" y="2381914"/>
            <a:ext cx="285261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90"/>
          <p:cNvSpPr txBox="1"/>
          <p:nvPr/>
        </p:nvSpPr>
        <p:spPr>
          <a:xfrm>
            <a:off x="7948672" y="4249215"/>
            <a:ext cx="2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7" name="Google Shape;1787;p90"/>
          <p:cNvSpPr txBox="1"/>
          <p:nvPr/>
        </p:nvSpPr>
        <p:spPr>
          <a:xfrm>
            <a:off x="1106238" y="4249215"/>
            <a:ext cx="2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788" name="Google Shape;1788;p90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7823" y="4355922"/>
            <a:ext cx="135309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789" name="Google Shape;1789;p90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8649" y="4061057"/>
            <a:ext cx="25244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790" name="Google Shape;1790;p90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9236" y="2430123"/>
            <a:ext cx="285300" cy="521779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90"/>
          <p:cNvSpPr txBox="1"/>
          <p:nvPr>
            <p:ph idx="1" type="body"/>
          </p:nvPr>
        </p:nvSpPr>
        <p:spPr>
          <a:xfrm>
            <a:off x="4693400" y="2435700"/>
            <a:ext cx="19977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P(Jacob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900"/>
              <a:t> 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1-\frac{7}{10}=\frac{3}{10}&quot;&gt;&lt;mn&gt;1&lt;/mn&gt;&lt;mo&gt;−&lt;/mo&gt;&lt;mfrac&gt;&lt;mn&gt;7&lt;/mn&gt;&lt;mn&gt;10&lt;/mn&gt;&lt;/mfrac&gt;&lt;mo&gt;=&lt;/mo&gt;&lt;mfrac&gt;&lt;mn&gt;3&lt;/mn&gt;&lt;mn&gt;10&lt;/mn&gt;&lt;/mfrac&gt;&lt;/math&gt;" id="1792" name="Google Shape;1792;p90" title="1 minus seven tenths equals 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4231" y="2314349"/>
            <a:ext cx="1392802" cy="53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-\frac{7}{10}=\frac{3}{10}&quot;&gt;&lt;mn&gt;1&lt;/mn&gt;&lt;mo&gt;−&lt;/mo&gt;&lt;mfrac&gt;&lt;mn&gt;7&lt;/mn&gt;&lt;mn&gt;10&lt;/mn&gt;&lt;/mfrac&gt;&lt;mo&gt;=&lt;/mo&gt;&lt;mfrac&gt;&lt;mn&gt;3&lt;/mn&gt;&lt;mn&gt;10&lt;/mn&gt;&lt;/mfrac&gt;&lt;/math&gt;" id="1793" name="Google Shape;1793;p90" title="1 minus seven tenths equals three tenths"/>
          <p:cNvPicPr preferRelativeResize="0"/>
          <p:nvPr/>
        </p:nvPicPr>
        <p:blipFill rotWithShape="1">
          <a:blip r:embed="rId7">
            <a:alphaModFix/>
          </a:blip>
          <a:srcRect b="0" l="74517" r="0" t="0"/>
          <a:stretch/>
        </p:blipFill>
        <p:spPr>
          <a:xfrm>
            <a:off x="2101100" y="4051826"/>
            <a:ext cx="314291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49230" y="2352847"/>
            <a:ext cx="387242" cy="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cxnSp>
        <p:nvCxnSpPr>
          <p:cNvPr id="1800" name="Google Shape;1800;p91"/>
          <p:cNvCxnSpPr/>
          <p:nvPr/>
        </p:nvCxnSpPr>
        <p:spPr>
          <a:xfrm>
            <a:off x="1260861" y="3979347"/>
            <a:ext cx="6838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91"/>
          <p:cNvCxnSpPr/>
          <p:nvPr/>
        </p:nvCxnSpPr>
        <p:spPr>
          <a:xfrm>
            <a:off x="1260883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2" name="Google Shape;1802;p91"/>
          <p:cNvCxnSpPr/>
          <p:nvPr/>
        </p:nvCxnSpPr>
        <p:spPr>
          <a:xfrm>
            <a:off x="8088215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91"/>
          <p:cNvCxnSpPr/>
          <p:nvPr/>
        </p:nvCxnSpPr>
        <p:spPr>
          <a:xfrm>
            <a:off x="4674549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91"/>
          <p:cNvSpPr txBox="1"/>
          <p:nvPr>
            <p:ph idx="1" type="body"/>
          </p:nvPr>
        </p:nvSpPr>
        <p:spPr>
          <a:xfrm>
            <a:off x="959600" y="2207100"/>
            <a:ext cx="2451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P(Aisha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900"/>
              <a:t>0.7</a:t>
            </a:r>
            <a:r>
              <a:rPr lang="en-GB" sz="1900"/>
              <a:t> </a:t>
            </a:r>
            <a:endParaRPr sz="1900"/>
          </a:p>
        </p:txBody>
      </p:sp>
      <p:grpSp>
        <p:nvGrpSpPr>
          <p:cNvPr id="1805" name="Google Shape;1805;p91"/>
          <p:cNvGrpSpPr/>
          <p:nvPr/>
        </p:nvGrpSpPr>
        <p:grpSpPr>
          <a:xfrm>
            <a:off x="2068980" y="3339716"/>
            <a:ext cx="5231149" cy="553198"/>
            <a:chOff x="2068980" y="3644516"/>
            <a:chExt cx="5231149" cy="553198"/>
          </a:xfrm>
        </p:grpSpPr>
        <p:pic>
          <p:nvPicPr>
            <p:cNvPr id="1806" name="Google Shape;180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48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7" name="Google Shape;180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0689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8" name="Google Shape;1808;p91"/>
          <p:cNvSpPr txBox="1"/>
          <p:nvPr>
            <p:ph idx="1" type="body"/>
          </p:nvPr>
        </p:nvSpPr>
        <p:spPr>
          <a:xfrm>
            <a:off x="324000" y="759300"/>
            <a:ext cx="8237700" cy="7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Calculations with probabilities could also be performed using the equivalent </a:t>
            </a:r>
            <a:r>
              <a:rPr lang="en-GB" sz="2000">
                <a:solidFill>
                  <a:schemeClr val="accent5"/>
                </a:solidFill>
              </a:rPr>
              <a:t>decimals</a:t>
            </a:r>
            <a:r>
              <a:rPr lang="en-GB" sz="2000"/>
              <a:t>.</a:t>
            </a:r>
            <a:endParaRPr sz="1800"/>
          </a:p>
        </p:txBody>
      </p:sp>
      <p:pic>
        <p:nvPicPr>
          <p:cNvPr id="1809" name="Google Shape;180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4" y="2153314"/>
            <a:ext cx="285261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91"/>
          <p:cNvSpPr txBox="1"/>
          <p:nvPr/>
        </p:nvSpPr>
        <p:spPr>
          <a:xfrm>
            <a:off x="7948672" y="4249215"/>
            <a:ext cx="28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1"/>
          <p:cNvSpPr txBox="1"/>
          <p:nvPr/>
        </p:nvSpPr>
        <p:spPr>
          <a:xfrm>
            <a:off x="1106238" y="4249215"/>
            <a:ext cx="28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1"/>
          <p:cNvSpPr txBox="1"/>
          <p:nvPr>
            <p:ph idx="1" type="body"/>
          </p:nvPr>
        </p:nvSpPr>
        <p:spPr>
          <a:xfrm>
            <a:off x="4693400" y="2207100"/>
            <a:ext cx="4063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P(Jacob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900"/>
              <a:t> 1 − 0.7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900"/>
              <a:t>0.3</a:t>
            </a:r>
            <a:endParaRPr sz="1900"/>
          </a:p>
        </p:txBody>
      </p:sp>
      <p:pic>
        <p:nvPicPr>
          <p:cNvPr id="1813" name="Google Shape;181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49230" y="2124247"/>
            <a:ext cx="387242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91"/>
          <p:cNvSpPr txBox="1"/>
          <p:nvPr/>
        </p:nvSpPr>
        <p:spPr>
          <a:xfrm>
            <a:off x="4420430" y="4249225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1"/>
          <p:cNvSpPr txBox="1"/>
          <p:nvPr/>
        </p:nvSpPr>
        <p:spPr>
          <a:xfrm>
            <a:off x="6950393" y="3959173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1"/>
          <p:cNvSpPr txBox="1"/>
          <p:nvPr/>
        </p:nvSpPr>
        <p:spPr>
          <a:xfrm>
            <a:off x="2073593" y="3959173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cxnSp>
        <p:nvCxnSpPr>
          <p:cNvPr id="1822" name="Google Shape;1822;p92"/>
          <p:cNvCxnSpPr/>
          <p:nvPr/>
        </p:nvCxnSpPr>
        <p:spPr>
          <a:xfrm>
            <a:off x="1260861" y="3979347"/>
            <a:ext cx="6838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3" name="Google Shape;1823;p92"/>
          <p:cNvCxnSpPr/>
          <p:nvPr/>
        </p:nvCxnSpPr>
        <p:spPr>
          <a:xfrm>
            <a:off x="1260883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4" name="Google Shape;1824;p92"/>
          <p:cNvCxnSpPr/>
          <p:nvPr/>
        </p:nvCxnSpPr>
        <p:spPr>
          <a:xfrm>
            <a:off x="8088215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92"/>
          <p:cNvCxnSpPr/>
          <p:nvPr/>
        </p:nvCxnSpPr>
        <p:spPr>
          <a:xfrm>
            <a:off x="4674549" y="36498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6" name="Google Shape;1826;p92"/>
          <p:cNvSpPr txBox="1"/>
          <p:nvPr>
            <p:ph idx="1" type="body"/>
          </p:nvPr>
        </p:nvSpPr>
        <p:spPr>
          <a:xfrm>
            <a:off x="959600" y="2207100"/>
            <a:ext cx="2451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P(Aisha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900"/>
              <a:t>70%</a:t>
            </a:r>
            <a:r>
              <a:rPr lang="en-GB" sz="1900"/>
              <a:t> </a:t>
            </a:r>
            <a:endParaRPr sz="1900"/>
          </a:p>
        </p:txBody>
      </p:sp>
      <p:grpSp>
        <p:nvGrpSpPr>
          <p:cNvPr id="1827" name="Google Shape;1827;p92"/>
          <p:cNvGrpSpPr/>
          <p:nvPr/>
        </p:nvGrpSpPr>
        <p:grpSpPr>
          <a:xfrm>
            <a:off x="2068980" y="3339716"/>
            <a:ext cx="5231149" cy="553198"/>
            <a:chOff x="2068980" y="3644516"/>
            <a:chExt cx="5231149" cy="553198"/>
          </a:xfrm>
        </p:grpSpPr>
        <p:pic>
          <p:nvPicPr>
            <p:cNvPr id="1828" name="Google Shape;1828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14869" y="3659064"/>
              <a:ext cx="285261" cy="538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9" name="Google Shape;1829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068980" y="3644516"/>
              <a:ext cx="387242" cy="477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0" name="Google Shape;1830;p92"/>
          <p:cNvSpPr txBox="1"/>
          <p:nvPr>
            <p:ph idx="1" type="body"/>
          </p:nvPr>
        </p:nvSpPr>
        <p:spPr>
          <a:xfrm>
            <a:off x="324000" y="759300"/>
            <a:ext cx="8496000" cy="6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Calculations with probabilities could also be performed using the equivalent </a:t>
            </a:r>
            <a:r>
              <a:rPr lang="en-GB" sz="2000">
                <a:solidFill>
                  <a:schemeClr val="accent5"/>
                </a:solidFill>
              </a:rPr>
              <a:t>percentages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831" name="Google Shape;183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44" y="2153314"/>
            <a:ext cx="285261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92"/>
          <p:cNvSpPr txBox="1"/>
          <p:nvPr/>
        </p:nvSpPr>
        <p:spPr>
          <a:xfrm>
            <a:off x="7780917" y="4249225"/>
            <a:ext cx="7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2"/>
          <p:cNvSpPr txBox="1"/>
          <p:nvPr/>
        </p:nvSpPr>
        <p:spPr>
          <a:xfrm>
            <a:off x="1075523" y="4249225"/>
            <a:ext cx="52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2"/>
          <p:cNvSpPr txBox="1"/>
          <p:nvPr>
            <p:ph idx="1" type="body"/>
          </p:nvPr>
        </p:nvSpPr>
        <p:spPr>
          <a:xfrm>
            <a:off x="4693400" y="2207100"/>
            <a:ext cx="43662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P(Jacob wins)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900"/>
              <a:t> 100% − 70%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900"/>
              <a:t>30%</a:t>
            </a:r>
            <a:endParaRPr sz="1900"/>
          </a:p>
        </p:txBody>
      </p:sp>
      <p:pic>
        <p:nvPicPr>
          <p:cNvPr id="1835" name="Google Shape;183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49230" y="2124247"/>
            <a:ext cx="387242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92"/>
          <p:cNvSpPr txBox="1"/>
          <p:nvPr/>
        </p:nvSpPr>
        <p:spPr>
          <a:xfrm>
            <a:off x="4420424" y="4249225"/>
            <a:ext cx="7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2"/>
          <p:cNvSpPr txBox="1"/>
          <p:nvPr/>
        </p:nvSpPr>
        <p:spPr>
          <a:xfrm>
            <a:off x="6950402" y="3959175"/>
            <a:ext cx="7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70%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2"/>
          <p:cNvSpPr txBox="1"/>
          <p:nvPr/>
        </p:nvSpPr>
        <p:spPr>
          <a:xfrm>
            <a:off x="2042875" y="3959175"/>
            <a:ext cx="70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844" name="Google Shape;1844;p93"/>
          <p:cNvSpPr txBox="1"/>
          <p:nvPr>
            <p:ph idx="1" type="body"/>
          </p:nvPr>
        </p:nvSpPr>
        <p:spPr>
          <a:xfrm>
            <a:off x="350000" y="1978500"/>
            <a:ext cx="2451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fractions: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845" name="Google Shape;1845;p93"/>
          <p:cNvSpPr txBox="1"/>
          <p:nvPr>
            <p:ph idx="1" type="body"/>
          </p:nvPr>
        </p:nvSpPr>
        <p:spPr>
          <a:xfrm>
            <a:off x="324000" y="759300"/>
            <a:ext cx="8496000" cy="9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As these outcomes are </a:t>
            </a:r>
            <a:r>
              <a:rPr b="1" lang="en-GB" sz="1900"/>
              <a:t>mutually exclusive</a:t>
            </a:r>
            <a:r>
              <a:rPr lang="en-GB" sz="1900"/>
              <a:t> and </a:t>
            </a:r>
            <a:r>
              <a:rPr b="1" lang="en-GB" sz="1900"/>
              <a:t>exhaustive</a:t>
            </a:r>
            <a:r>
              <a:rPr lang="en-GB" sz="1900"/>
              <a:t>, the scenario could also be modelled with an outcome tree.</a:t>
            </a:r>
            <a:endParaRPr sz="2100"/>
          </a:p>
        </p:txBody>
      </p:sp>
      <p:cxnSp>
        <p:nvCxnSpPr>
          <p:cNvPr id="1846" name="Google Shape;1846;p93"/>
          <p:cNvCxnSpPr/>
          <p:nvPr/>
        </p:nvCxnSpPr>
        <p:spPr>
          <a:xfrm flipH="1" rot="10800000">
            <a:off x="555550" y="26920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7" name="Google Shape;1847;p93"/>
          <p:cNvCxnSpPr/>
          <p:nvPr/>
        </p:nvCxnSpPr>
        <p:spPr>
          <a:xfrm>
            <a:off x="555550" y="33016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8" name="Google Shape;1848;p93"/>
          <p:cNvSpPr txBox="1"/>
          <p:nvPr>
            <p:ph idx="1" type="body"/>
          </p:nvPr>
        </p:nvSpPr>
        <p:spPr>
          <a:xfrm>
            <a:off x="1698850" y="2522956"/>
            <a:ext cx="7623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/>
          </a:p>
        </p:txBody>
      </p:sp>
      <p:sp>
        <p:nvSpPr>
          <p:cNvPr id="1849" name="Google Shape;1849;p93"/>
          <p:cNvSpPr txBox="1"/>
          <p:nvPr>
            <p:ph idx="1" type="body"/>
          </p:nvPr>
        </p:nvSpPr>
        <p:spPr>
          <a:xfrm>
            <a:off x="1698850" y="3788250"/>
            <a:ext cx="883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</a:t>
            </a:r>
            <a:endParaRPr sz="1800"/>
          </a:p>
        </p:txBody>
      </p:sp>
      <p:cxnSp>
        <p:nvCxnSpPr>
          <p:cNvPr id="1850" name="Google Shape;1850;p93"/>
          <p:cNvCxnSpPr/>
          <p:nvPr/>
        </p:nvCxnSpPr>
        <p:spPr>
          <a:xfrm flipH="1" rot="10800000">
            <a:off x="3374950" y="26158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1" name="Google Shape;1851;p93"/>
          <p:cNvCxnSpPr/>
          <p:nvPr/>
        </p:nvCxnSpPr>
        <p:spPr>
          <a:xfrm>
            <a:off x="3374950" y="32254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2" name="Google Shape;1852;p93"/>
          <p:cNvSpPr txBox="1"/>
          <p:nvPr>
            <p:ph idx="1" type="body"/>
          </p:nvPr>
        </p:nvSpPr>
        <p:spPr>
          <a:xfrm>
            <a:off x="4556350" y="2446756"/>
            <a:ext cx="7623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/>
          </a:p>
        </p:txBody>
      </p:sp>
      <p:sp>
        <p:nvSpPr>
          <p:cNvPr id="1853" name="Google Shape;1853;p93"/>
          <p:cNvSpPr txBox="1"/>
          <p:nvPr>
            <p:ph idx="1" type="body"/>
          </p:nvPr>
        </p:nvSpPr>
        <p:spPr>
          <a:xfrm>
            <a:off x="4518250" y="3712050"/>
            <a:ext cx="883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</a:t>
            </a:r>
            <a:endParaRPr sz="1800"/>
          </a:p>
        </p:txBody>
      </p:sp>
      <p:cxnSp>
        <p:nvCxnSpPr>
          <p:cNvPr id="1854" name="Google Shape;1854;p93"/>
          <p:cNvCxnSpPr/>
          <p:nvPr/>
        </p:nvCxnSpPr>
        <p:spPr>
          <a:xfrm flipH="1" rot="10800000">
            <a:off x="6270550" y="26158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93"/>
          <p:cNvCxnSpPr/>
          <p:nvPr/>
        </p:nvCxnSpPr>
        <p:spPr>
          <a:xfrm>
            <a:off x="6270550" y="32254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6" name="Google Shape;1856;p93"/>
          <p:cNvSpPr txBox="1"/>
          <p:nvPr>
            <p:ph idx="1" type="body"/>
          </p:nvPr>
        </p:nvSpPr>
        <p:spPr>
          <a:xfrm>
            <a:off x="7413850" y="2446756"/>
            <a:ext cx="7623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/>
          </a:p>
        </p:txBody>
      </p:sp>
      <p:sp>
        <p:nvSpPr>
          <p:cNvPr id="1857" name="Google Shape;1857;p93"/>
          <p:cNvSpPr txBox="1"/>
          <p:nvPr>
            <p:ph idx="1" type="body"/>
          </p:nvPr>
        </p:nvSpPr>
        <p:spPr>
          <a:xfrm>
            <a:off x="7413850" y="3712050"/>
            <a:ext cx="883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</a:t>
            </a:r>
            <a:endParaRPr sz="1800"/>
          </a:p>
        </p:txBody>
      </p:sp>
      <p:sp>
        <p:nvSpPr>
          <p:cNvPr id="1858" name="Google Shape;1858;p93"/>
          <p:cNvSpPr txBox="1"/>
          <p:nvPr>
            <p:ph idx="1" type="body"/>
          </p:nvPr>
        </p:nvSpPr>
        <p:spPr>
          <a:xfrm>
            <a:off x="3374956" y="1978500"/>
            <a:ext cx="2451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decimals: </a:t>
            </a:r>
            <a:endParaRPr sz="1800"/>
          </a:p>
        </p:txBody>
      </p:sp>
      <p:sp>
        <p:nvSpPr>
          <p:cNvPr id="1859" name="Google Shape;1859;p93"/>
          <p:cNvSpPr txBox="1"/>
          <p:nvPr>
            <p:ph idx="1" type="body"/>
          </p:nvPr>
        </p:nvSpPr>
        <p:spPr>
          <a:xfrm>
            <a:off x="6217400" y="1978500"/>
            <a:ext cx="24510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percentages: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860" name="Google Shape;1860;p93" title="seven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740" y="2346949"/>
            <a:ext cx="25244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-\frac{7}{10}=\frac{3}{10}&quot;&gt;&lt;mn&gt;1&lt;/mn&gt;&lt;mo&gt;−&lt;/mo&gt;&lt;mfrac&gt;&lt;mn&gt;7&lt;/mn&gt;&lt;mn&gt;10&lt;/mn&gt;&lt;/mfrac&gt;&lt;mo&gt;=&lt;/mo&gt;&lt;mfrac&gt;&lt;mn&gt;3&lt;/mn&gt;&lt;mn&gt;10&lt;/mn&gt;&lt;/mfrac&gt;&lt;/math&gt;" id="1861" name="Google Shape;1861;p93" title="1 minus seven tenths equal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776" y="4278501"/>
            <a:ext cx="1233390" cy="47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-\frac{7}{10}=\frac{3}{10}&quot;&gt;&lt;mn&gt;1&lt;/mn&gt;&lt;mo&gt;−&lt;/mo&gt;&lt;mfrac&gt;&lt;mn&gt;7&lt;/mn&gt;&lt;mn&gt;10&lt;/mn&gt;&lt;/mfrac&gt;&lt;mo&gt;=&lt;/mo&gt;&lt;mfrac&gt;&lt;mn&gt;3&lt;/mn&gt;&lt;mn&gt;10&lt;/mn&gt;&lt;/mfrac&gt;&lt;/math&gt;" id="1862" name="Google Shape;1862;p93" title="1 minus seven tenths equals three tenths"/>
          <p:cNvPicPr preferRelativeResize="0"/>
          <p:nvPr/>
        </p:nvPicPr>
        <p:blipFill rotWithShape="1">
          <a:blip r:embed="rId4">
            <a:alphaModFix/>
          </a:blip>
          <a:srcRect b="0" l="74517" r="0" t="0"/>
          <a:stretch/>
        </p:blipFill>
        <p:spPr>
          <a:xfrm>
            <a:off x="1133412" y="3186219"/>
            <a:ext cx="314291" cy="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93"/>
          <p:cNvSpPr txBox="1"/>
          <p:nvPr>
            <p:ph idx="1" type="body"/>
          </p:nvPr>
        </p:nvSpPr>
        <p:spPr>
          <a:xfrm>
            <a:off x="3369600" y="4391995"/>
            <a:ext cx="14544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0.7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4" name="Google Shape;1864;p93"/>
          <p:cNvSpPr txBox="1"/>
          <p:nvPr/>
        </p:nvSpPr>
        <p:spPr>
          <a:xfrm>
            <a:off x="3828043" y="2400723"/>
            <a:ext cx="5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0.7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5" name="Google Shape;1865;p93"/>
          <p:cNvSpPr txBox="1"/>
          <p:nvPr/>
        </p:nvSpPr>
        <p:spPr>
          <a:xfrm>
            <a:off x="3849317" y="3202410"/>
            <a:ext cx="5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6" name="Google Shape;1866;p93"/>
          <p:cNvSpPr txBox="1"/>
          <p:nvPr>
            <p:ph idx="1" type="body"/>
          </p:nvPr>
        </p:nvSpPr>
        <p:spPr>
          <a:xfrm>
            <a:off x="6189000" y="4392000"/>
            <a:ext cx="2370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100%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70% </a:t>
            </a:r>
            <a:r>
              <a:rPr b="1" lang="en-GB" sz="2100"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30%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7" name="Google Shape;1867;p93"/>
          <p:cNvSpPr txBox="1"/>
          <p:nvPr/>
        </p:nvSpPr>
        <p:spPr>
          <a:xfrm>
            <a:off x="6644945" y="2354548"/>
            <a:ext cx="76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8" name="Google Shape;1868;p93"/>
          <p:cNvSpPr txBox="1"/>
          <p:nvPr/>
        </p:nvSpPr>
        <p:spPr>
          <a:xfrm>
            <a:off x="6690419" y="3162023"/>
            <a:ext cx="76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0%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874" name="Google Shape;1874;p94"/>
          <p:cNvSpPr txBox="1"/>
          <p:nvPr>
            <p:ph idx="1" type="body"/>
          </p:nvPr>
        </p:nvSpPr>
        <p:spPr>
          <a:xfrm>
            <a:off x="324000" y="759300"/>
            <a:ext cx="8496000" cy="9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As these are the only two possible outcomes, the two sample spaces below are equivalent. </a:t>
            </a:r>
            <a:endParaRPr sz="2100"/>
          </a:p>
        </p:txBody>
      </p:sp>
      <p:sp>
        <p:nvSpPr>
          <p:cNvPr id="1875" name="Google Shape;1875;p94"/>
          <p:cNvSpPr txBox="1"/>
          <p:nvPr/>
        </p:nvSpPr>
        <p:spPr>
          <a:xfrm>
            <a:off x="609600" y="1676400"/>
            <a:ext cx="33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{Aisha wins, Jacob wins}</a:t>
            </a:r>
            <a:endParaRPr/>
          </a:p>
        </p:txBody>
      </p:sp>
      <p:sp>
        <p:nvSpPr>
          <p:cNvPr id="1876" name="Google Shape;1876;p94"/>
          <p:cNvSpPr txBox="1"/>
          <p:nvPr/>
        </p:nvSpPr>
        <p:spPr>
          <a:xfrm>
            <a:off x="633000" y="2209800"/>
            <a:ext cx="45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{Aisha wins, Aisha does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win}</a:t>
            </a:r>
            <a:endParaRPr/>
          </a:p>
        </p:txBody>
      </p:sp>
      <p:cxnSp>
        <p:nvCxnSpPr>
          <p:cNvPr id="1877" name="Google Shape;1877;p94"/>
          <p:cNvCxnSpPr/>
          <p:nvPr/>
        </p:nvCxnSpPr>
        <p:spPr>
          <a:xfrm flipH="1" rot="10800000">
            <a:off x="5889550" y="17014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94"/>
          <p:cNvCxnSpPr/>
          <p:nvPr/>
        </p:nvCxnSpPr>
        <p:spPr>
          <a:xfrm>
            <a:off x="5889550" y="23110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9" name="Google Shape;1879;p94"/>
          <p:cNvSpPr txBox="1"/>
          <p:nvPr>
            <p:ph idx="1" type="body"/>
          </p:nvPr>
        </p:nvSpPr>
        <p:spPr>
          <a:xfrm>
            <a:off x="7070950" y="1532356"/>
            <a:ext cx="7623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</a:t>
            </a:r>
            <a:endParaRPr sz="1800"/>
          </a:p>
        </p:txBody>
      </p:sp>
      <p:sp>
        <p:nvSpPr>
          <p:cNvPr id="1880" name="Google Shape;1880;p94"/>
          <p:cNvSpPr txBox="1"/>
          <p:nvPr>
            <p:ph idx="1" type="body"/>
          </p:nvPr>
        </p:nvSpPr>
        <p:spPr>
          <a:xfrm>
            <a:off x="7032850" y="2797650"/>
            <a:ext cx="153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</a:rPr>
              <a:t>n</a:t>
            </a:r>
            <a:r>
              <a:rPr lang="en-GB" sz="1800">
                <a:solidFill>
                  <a:schemeClr val="accent5"/>
                </a:solidFill>
              </a:rPr>
              <a:t>ot</a:t>
            </a:r>
            <a:r>
              <a:rPr lang="en-GB" sz="1800"/>
              <a:t> Aisha</a:t>
            </a:r>
            <a:endParaRPr sz="1800"/>
          </a:p>
        </p:txBody>
      </p:sp>
      <p:sp>
        <p:nvSpPr>
          <p:cNvPr id="1881" name="Google Shape;1881;p94"/>
          <p:cNvSpPr txBox="1"/>
          <p:nvPr/>
        </p:nvSpPr>
        <p:spPr>
          <a:xfrm>
            <a:off x="6342643" y="1486323"/>
            <a:ext cx="5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0.7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2" name="Google Shape;1882;p94"/>
          <p:cNvSpPr txBox="1"/>
          <p:nvPr/>
        </p:nvSpPr>
        <p:spPr>
          <a:xfrm>
            <a:off x="6363917" y="2288010"/>
            <a:ext cx="5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83" name="Google Shape;1883;p94"/>
          <p:cNvCxnSpPr/>
          <p:nvPr/>
        </p:nvCxnSpPr>
        <p:spPr>
          <a:xfrm>
            <a:off x="1184661" y="4207947"/>
            <a:ext cx="6838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94"/>
          <p:cNvCxnSpPr/>
          <p:nvPr/>
        </p:nvCxnSpPr>
        <p:spPr>
          <a:xfrm>
            <a:off x="1184683" y="38784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94"/>
          <p:cNvCxnSpPr/>
          <p:nvPr/>
        </p:nvCxnSpPr>
        <p:spPr>
          <a:xfrm>
            <a:off x="8012015" y="38784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6" name="Google Shape;1886;p94"/>
          <p:cNvCxnSpPr/>
          <p:nvPr/>
        </p:nvCxnSpPr>
        <p:spPr>
          <a:xfrm>
            <a:off x="4598349" y="3878484"/>
            <a:ext cx="0" cy="658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87" name="Google Shape;188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8669" y="3582864"/>
            <a:ext cx="285261" cy="5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94"/>
          <p:cNvSpPr txBox="1"/>
          <p:nvPr/>
        </p:nvSpPr>
        <p:spPr>
          <a:xfrm>
            <a:off x="7872472" y="4477815"/>
            <a:ext cx="28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4"/>
          <p:cNvSpPr txBox="1"/>
          <p:nvPr/>
        </p:nvSpPr>
        <p:spPr>
          <a:xfrm>
            <a:off x="1030038" y="4477815"/>
            <a:ext cx="28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94"/>
          <p:cNvSpPr txBox="1"/>
          <p:nvPr/>
        </p:nvSpPr>
        <p:spPr>
          <a:xfrm>
            <a:off x="4344230" y="4477825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94"/>
          <p:cNvSpPr txBox="1"/>
          <p:nvPr/>
        </p:nvSpPr>
        <p:spPr>
          <a:xfrm>
            <a:off x="6874193" y="4187773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0.7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4"/>
          <p:cNvSpPr txBox="1"/>
          <p:nvPr/>
        </p:nvSpPr>
        <p:spPr>
          <a:xfrm>
            <a:off x="1997393" y="4187773"/>
            <a:ext cx="5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3" name="Google Shape;189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869" y="3582864"/>
            <a:ext cx="285261" cy="5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7719" y="357011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900" name="Google Shape;1900;p95"/>
          <p:cNvSpPr txBox="1"/>
          <p:nvPr>
            <p:ph idx="1" type="body"/>
          </p:nvPr>
        </p:nvSpPr>
        <p:spPr>
          <a:xfrm>
            <a:off x="324000" y="759300"/>
            <a:ext cx="8496000" cy="9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the probability of an event is known, then the probability that the event does </a:t>
            </a: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/>
              <a:t> happen can be calculated by </a:t>
            </a:r>
            <a:r>
              <a:rPr lang="en-GB" sz="2000">
                <a:solidFill>
                  <a:schemeClr val="accent5"/>
                </a:solidFill>
              </a:rPr>
              <a:t>subtracting from 1</a:t>
            </a:r>
            <a:r>
              <a:rPr lang="en-GB" sz="2000"/>
              <a:t>.</a:t>
            </a:r>
            <a:endParaRPr/>
          </a:p>
        </p:txBody>
      </p:sp>
      <p:sp>
        <p:nvSpPr>
          <p:cNvPr id="1901" name="Google Shape;1901;p95"/>
          <p:cNvSpPr txBox="1"/>
          <p:nvPr>
            <p:ph idx="1" type="body"/>
          </p:nvPr>
        </p:nvSpPr>
        <p:spPr>
          <a:xfrm>
            <a:off x="552600" y="1978500"/>
            <a:ext cx="32862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P(rain</a:t>
            </a:r>
            <a:r>
              <a:rPr lang="en-GB" sz="2000"/>
              <a:t>s tomorrow</a:t>
            </a:r>
            <a:r>
              <a:rPr lang="en-GB" sz="2000"/>
              <a:t>) = 0.35</a:t>
            </a:r>
            <a:endParaRPr/>
          </a:p>
        </p:txBody>
      </p:sp>
      <p:sp>
        <p:nvSpPr>
          <p:cNvPr id="1902" name="Google Shape;1902;p95"/>
          <p:cNvSpPr txBox="1"/>
          <p:nvPr>
            <p:ph idx="1" type="body"/>
          </p:nvPr>
        </p:nvSpPr>
        <p:spPr>
          <a:xfrm>
            <a:off x="552600" y="2664300"/>
            <a:ext cx="48525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P(does not rain tomorrow) = 1 − 0.35</a:t>
            </a:r>
            <a:endParaRPr/>
          </a:p>
        </p:txBody>
      </p:sp>
      <p:sp>
        <p:nvSpPr>
          <p:cNvPr id="1903" name="Google Shape;1903;p95"/>
          <p:cNvSpPr txBox="1"/>
          <p:nvPr>
            <p:ph idx="1" type="body"/>
          </p:nvPr>
        </p:nvSpPr>
        <p:spPr>
          <a:xfrm>
            <a:off x="3859926" y="3060048"/>
            <a:ext cx="8769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= 0.65</a:t>
            </a:r>
            <a:endParaRPr/>
          </a:p>
        </p:txBody>
      </p:sp>
      <p:sp>
        <p:nvSpPr>
          <p:cNvPr id="1904" name="Google Shape;1904;p95"/>
          <p:cNvSpPr txBox="1"/>
          <p:nvPr>
            <p:ph idx="1" type="body"/>
          </p:nvPr>
        </p:nvSpPr>
        <p:spPr>
          <a:xfrm>
            <a:off x="324000" y="3959700"/>
            <a:ext cx="8496000" cy="11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event ‘</a:t>
            </a:r>
            <a:r>
              <a:rPr lang="en-GB" sz="2000">
                <a:solidFill>
                  <a:schemeClr val="accent5"/>
                </a:solidFill>
              </a:rPr>
              <a:t>not rain</a:t>
            </a:r>
            <a:r>
              <a:rPr lang="en-GB" sz="2000"/>
              <a:t>’ includes all other possible outcomes aside from rain (e.g. sunny, snow, etc).</a:t>
            </a:r>
            <a:endParaRPr/>
          </a:p>
        </p:txBody>
      </p:sp>
      <p:cxnSp>
        <p:nvCxnSpPr>
          <p:cNvPr id="1905" name="Google Shape;1905;p95"/>
          <p:cNvCxnSpPr/>
          <p:nvPr/>
        </p:nvCxnSpPr>
        <p:spPr>
          <a:xfrm flipH="1" rot="10800000">
            <a:off x="6118150" y="20062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95"/>
          <p:cNvCxnSpPr/>
          <p:nvPr/>
        </p:nvCxnSpPr>
        <p:spPr>
          <a:xfrm>
            <a:off x="6118150" y="2615800"/>
            <a:ext cx="1095900" cy="632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95"/>
          <p:cNvSpPr txBox="1"/>
          <p:nvPr>
            <p:ph idx="1" type="body"/>
          </p:nvPr>
        </p:nvSpPr>
        <p:spPr>
          <a:xfrm>
            <a:off x="7299550" y="1837156"/>
            <a:ext cx="7623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rain</a:t>
            </a:r>
            <a:endParaRPr sz="2000"/>
          </a:p>
        </p:txBody>
      </p:sp>
      <p:sp>
        <p:nvSpPr>
          <p:cNvPr id="1908" name="Google Shape;1908;p95"/>
          <p:cNvSpPr txBox="1"/>
          <p:nvPr>
            <p:ph idx="1" type="body"/>
          </p:nvPr>
        </p:nvSpPr>
        <p:spPr>
          <a:xfrm>
            <a:off x="7284494" y="3102450"/>
            <a:ext cx="153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/>
              <a:t> rain</a:t>
            </a:r>
            <a:endParaRPr sz="2000"/>
          </a:p>
        </p:txBody>
      </p:sp>
      <p:sp>
        <p:nvSpPr>
          <p:cNvPr id="1909" name="Google Shape;1909;p95"/>
          <p:cNvSpPr txBox="1"/>
          <p:nvPr/>
        </p:nvSpPr>
        <p:spPr>
          <a:xfrm>
            <a:off x="6467809" y="1798806"/>
            <a:ext cx="7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95"/>
          <p:cNvSpPr txBox="1"/>
          <p:nvPr/>
        </p:nvSpPr>
        <p:spPr>
          <a:xfrm>
            <a:off x="6500349" y="2577437"/>
            <a:ext cx="71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4" name="Shape 1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96"/>
          <p:cNvSpPr txBox="1"/>
          <p:nvPr>
            <p:ph idx="1" type="body"/>
          </p:nvPr>
        </p:nvSpPr>
        <p:spPr>
          <a:xfrm>
            <a:off x="324000" y="759300"/>
            <a:ext cx="82377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and Izzy play against each other in a chess match.</a:t>
            </a:r>
            <a:endParaRPr sz="2000"/>
          </a:p>
        </p:txBody>
      </p:sp>
      <p:sp>
        <p:nvSpPr>
          <p:cNvPr id="1916" name="Google Shape;191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917" name="Google Shape;1917;p96"/>
          <p:cNvSpPr txBox="1"/>
          <p:nvPr>
            <p:ph idx="1" type="body"/>
          </p:nvPr>
        </p:nvSpPr>
        <p:spPr>
          <a:xfrm>
            <a:off x="324000" y="1216500"/>
            <a:ext cx="8237700" cy="7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table shows the three possible outcomes of the match and the probabilities for two of the outcomes.</a:t>
            </a:r>
            <a:endParaRPr sz="2000"/>
          </a:p>
        </p:txBody>
      </p:sp>
      <p:graphicFrame>
        <p:nvGraphicFramePr>
          <p:cNvPr id="1918" name="Google Shape;1918;p96"/>
          <p:cNvGraphicFramePr/>
          <p:nvPr/>
        </p:nvGraphicFramePr>
        <p:xfrm>
          <a:off x="1726437" y="26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617975"/>
                <a:gridCol w="1361525"/>
                <a:gridCol w="1361525"/>
                <a:gridCol w="1361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 wins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raw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 wins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19" name="Google Shape;1919;p96"/>
          <p:cNvSpPr txBox="1"/>
          <p:nvPr>
            <p:ph idx="1" type="body"/>
          </p:nvPr>
        </p:nvSpPr>
        <p:spPr>
          <a:xfrm>
            <a:off x="324000" y="2054700"/>
            <a:ext cx="82377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Calculate the missing probability.</a:t>
            </a:r>
            <a:endParaRPr sz="2000"/>
          </a:p>
        </p:txBody>
      </p:sp>
      <p:sp>
        <p:nvSpPr>
          <p:cNvPr id="1920" name="Google Shape;1920;p96"/>
          <p:cNvSpPr txBox="1"/>
          <p:nvPr>
            <p:ph idx="1" type="body"/>
          </p:nvPr>
        </p:nvSpPr>
        <p:spPr>
          <a:xfrm>
            <a:off x="2914800" y="4035900"/>
            <a:ext cx="37275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P(draw) = 1 −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(0.4 + 0.45)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1" name="Google Shape;1921;p96"/>
          <p:cNvSpPr txBox="1"/>
          <p:nvPr>
            <p:ph idx="1" type="body"/>
          </p:nvPr>
        </p:nvSpPr>
        <p:spPr>
          <a:xfrm>
            <a:off x="4012326" y="4516144"/>
            <a:ext cx="10236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0.15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2" name="Google Shape;1922;p96"/>
          <p:cNvSpPr txBox="1"/>
          <p:nvPr>
            <p:ph idx="1" type="body"/>
          </p:nvPr>
        </p:nvSpPr>
        <p:spPr>
          <a:xfrm>
            <a:off x="4819800" y="3175276"/>
            <a:ext cx="498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23" name="Google Shape;192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5123" y="2386139"/>
            <a:ext cx="648665" cy="62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8924" y="1754356"/>
            <a:ext cx="498000" cy="57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97"/>
          <p:cNvSpPr txBox="1"/>
          <p:nvPr>
            <p:ph idx="1" type="body"/>
          </p:nvPr>
        </p:nvSpPr>
        <p:spPr>
          <a:xfrm>
            <a:off x="324000" y="759300"/>
            <a:ext cx="82377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Laura, Andeep and Sofia compete against each other in a race.</a:t>
            </a:r>
            <a:endParaRPr sz="1800"/>
          </a:p>
        </p:txBody>
      </p:sp>
      <p:sp>
        <p:nvSpPr>
          <p:cNvPr id="1930" name="Google Shape;193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931" name="Google Shape;1931;p97"/>
          <p:cNvSpPr txBox="1"/>
          <p:nvPr>
            <p:ph idx="1" type="body"/>
          </p:nvPr>
        </p:nvSpPr>
        <p:spPr>
          <a:xfrm>
            <a:off x="324000" y="1140300"/>
            <a:ext cx="82377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table shows the three possible outcomes of the race.</a:t>
            </a:r>
            <a:endParaRPr sz="1800"/>
          </a:p>
        </p:txBody>
      </p:sp>
      <p:graphicFrame>
        <p:nvGraphicFramePr>
          <p:cNvPr id="1932" name="Google Shape;1932;p97"/>
          <p:cNvGraphicFramePr/>
          <p:nvPr/>
        </p:nvGraphicFramePr>
        <p:xfrm>
          <a:off x="561837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323200"/>
                <a:gridCol w="958700"/>
                <a:gridCol w="958700"/>
                <a:gridCol w="958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winner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3" name="Google Shape;1933;p97"/>
          <p:cNvSpPr txBox="1"/>
          <p:nvPr>
            <p:ph idx="1" type="body"/>
          </p:nvPr>
        </p:nvSpPr>
        <p:spPr>
          <a:xfrm>
            <a:off x="5508075" y="1566525"/>
            <a:ext cx="12792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solution: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4" name="Google Shape;1934;p97"/>
          <p:cNvSpPr txBox="1"/>
          <p:nvPr>
            <p:ph idx="1" type="body"/>
          </p:nvPr>
        </p:nvSpPr>
        <p:spPr>
          <a:xfrm>
            <a:off x="324000" y="3045300"/>
            <a:ext cx="4630500" cy="12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 is twice as likely to win as Laura.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Sofia is as likely to win as Andeep.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Find the probability that Laura wins.</a:t>
            </a:r>
            <a:endParaRPr sz="1800"/>
          </a:p>
        </p:txBody>
      </p:sp>
      <p:sp>
        <p:nvSpPr>
          <p:cNvPr id="1935" name="Google Shape;1935;p97"/>
          <p:cNvSpPr txBox="1"/>
          <p:nvPr>
            <p:ph idx="1" type="body"/>
          </p:nvPr>
        </p:nvSpPr>
        <p:spPr>
          <a:xfrm>
            <a:off x="1983182" y="2289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6" name="Google Shape;1936;p97"/>
          <p:cNvSpPr txBox="1"/>
          <p:nvPr>
            <p:ph idx="1" type="body"/>
          </p:nvPr>
        </p:nvSpPr>
        <p:spPr>
          <a:xfrm>
            <a:off x="2920627" y="2289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7" name="Google Shape;1937;p97"/>
          <p:cNvSpPr txBox="1"/>
          <p:nvPr>
            <p:ph idx="1" type="body"/>
          </p:nvPr>
        </p:nvSpPr>
        <p:spPr>
          <a:xfrm>
            <a:off x="3911227" y="2289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8" name="Google Shape;1938;p97"/>
          <p:cNvSpPr txBox="1"/>
          <p:nvPr>
            <p:ph idx="1" type="body"/>
          </p:nvPr>
        </p:nvSpPr>
        <p:spPr>
          <a:xfrm>
            <a:off x="5736675" y="2023725"/>
            <a:ext cx="32865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Let P(Laura) =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9" name="Google Shape;1939;p97"/>
          <p:cNvSpPr txBox="1"/>
          <p:nvPr>
            <p:ph idx="1" type="body"/>
          </p:nvPr>
        </p:nvSpPr>
        <p:spPr>
          <a:xfrm>
            <a:off x="6018431" y="2480925"/>
            <a:ext cx="32865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P(Andeep)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0" name="Google Shape;1940;p97"/>
          <p:cNvSpPr txBox="1"/>
          <p:nvPr>
            <p:ph idx="1" type="body"/>
          </p:nvPr>
        </p:nvSpPr>
        <p:spPr>
          <a:xfrm>
            <a:off x="6284819" y="2945806"/>
            <a:ext cx="2385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P(Sofia) =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1" name="Google Shape;1941;p97"/>
          <p:cNvSpPr txBox="1"/>
          <p:nvPr>
            <p:ph idx="1" type="body"/>
          </p:nvPr>
        </p:nvSpPr>
        <p:spPr>
          <a:xfrm>
            <a:off x="6034407" y="3631606"/>
            <a:ext cx="2385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2" name="Google Shape;1942;p97"/>
          <p:cNvSpPr txBox="1"/>
          <p:nvPr>
            <p:ph idx="1" type="body"/>
          </p:nvPr>
        </p:nvSpPr>
        <p:spPr>
          <a:xfrm>
            <a:off x="7001941" y="4062225"/>
            <a:ext cx="12792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3" name="Google Shape;1943;p97"/>
          <p:cNvSpPr txBox="1"/>
          <p:nvPr>
            <p:ph idx="1" type="body"/>
          </p:nvPr>
        </p:nvSpPr>
        <p:spPr>
          <a:xfrm>
            <a:off x="7146571" y="4492844"/>
            <a:ext cx="12792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0.2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98"/>
          <p:cNvSpPr txBox="1"/>
          <p:nvPr>
            <p:ph idx="1" type="body"/>
          </p:nvPr>
        </p:nvSpPr>
        <p:spPr>
          <a:xfrm>
            <a:off x="324000" y="759300"/>
            <a:ext cx="8237700" cy="5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</a:t>
            </a:r>
            <a:r>
              <a:rPr lang="en-GB"/>
              <a:t>value</a:t>
            </a:r>
            <a:r>
              <a:rPr lang="en-GB"/>
              <a:t>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</a:t>
            </a:r>
            <a:r>
              <a:rPr lang="en-GB"/>
              <a:t>for the outcome tree below.</a:t>
            </a:r>
            <a:endParaRPr/>
          </a:p>
        </p:txBody>
      </p:sp>
      <p:sp>
        <p:nvSpPr>
          <p:cNvPr id="1949" name="Google Shape;1949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missing probabilities</a:t>
            </a:r>
            <a:endParaRPr/>
          </a:p>
        </p:txBody>
      </p:sp>
      <p:cxnSp>
        <p:nvCxnSpPr>
          <p:cNvPr id="1950" name="Google Shape;1950;p98"/>
          <p:cNvCxnSpPr/>
          <p:nvPr/>
        </p:nvCxnSpPr>
        <p:spPr>
          <a:xfrm flipH="1" rot="10800000">
            <a:off x="2917750" y="1747909"/>
            <a:ext cx="1597500" cy="92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98"/>
          <p:cNvCxnSpPr/>
          <p:nvPr/>
        </p:nvCxnSpPr>
        <p:spPr>
          <a:xfrm>
            <a:off x="2917750" y="2636432"/>
            <a:ext cx="1597500" cy="922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98"/>
          <p:cNvSpPr txBox="1"/>
          <p:nvPr>
            <p:ph idx="1" type="body"/>
          </p:nvPr>
        </p:nvSpPr>
        <p:spPr>
          <a:xfrm>
            <a:off x="4619658" y="1526924"/>
            <a:ext cx="18429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outcome A</a:t>
            </a:r>
            <a:endParaRPr/>
          </a:p>
        </p:txBody>
      </p:sp>
      <p:sp>
        <p:nvSpPr>
          <p:cNvPr id="1953" name="Google Shape;1953;p98"/>
          <p:cNvSpPr txBox="1"/>
          <p:nvPr>
            <p:ph idx="1" type="body"/>
          </p:nvPr>
        </p:nvSpPr>
        <p:spPr>
          <a:xfrm>
            <a:off x="4619658" y="3348387"/>
            <a:ext cx="1842900" cy="6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outcome B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954" name="Google Shape;1954;p98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5250" y="1429200"/>
            <a:ext cx="179949" cy="5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5" name="Google Shape;1955;p98"/>
          <p:cNvSpPr txBox="1"/>
          <p:nvPr>
            <p:ph idx="1" type="body"/>
          </p:nvPr>
        </p:nvSpPr>
        <p:spPr>
          <a:xfrm>
            <a:off x="3853775" y="2777700"/>
            <a:ext cx="180000" cy="5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x=1-\frac{2}{5}=\frac{3}{5}&quot;&gt;&lt;mi&gt;x&lt;/mi&gt;&lt;mo&gt;=&lt;/mo&gt;&lt;mn&gt;1&lt;/mn&gt;&lt;mo&gt;−&lt;/mo&gt;&lt;mfrac&gt;&lt;mn&gt;2&lt;/mn&gt;&lt;mn&gt;5&lt;/mn&gt;&lt;/mfrac&gt;&lt;mo&gt;=&lt;/mo&gt;&lt;mfrac&gt;&lt;mn&gt;3&lt;/mn&gt;&lt;mn&gt;5&lt;/mn&gt;&lt;/mfrac&gt;&lt;/math&gt;" id="1956" name="Google Shape;1956;p98" title="x equals 1 minus two fifths equals 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600" y="4091400"/>
            <a:ext cx="2008316" cy="6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99"/>
          <p:cNvSpPr txBox="1"/>
          <p:nvPr>
            <p:ph idx="1" type="body"/>
          </p:nvPr>
        </p:nvSpPr>
        <p:spPr>
          <a:xfrm>
            <a:off x="324000" y="759300"/>
            <a:ext cx="823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.</a:t>
            </a:r>
            <a:endParaRPr/>
          </a:p>
        </p:txBody>
      </p:sp>
      <p:sp>
        <p:nvSpPr>
          <p:cNvPr id="1962" name="Google Shape;196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963" name="Google Shape;1963;p99"/>
          <p:cNvSpPr txBox="1"/>
          <p:nvPr>
            <p:ph idx="1" type="body"/>
          </p:nvPr>
        </p:nvSpPr>
        <p:spPr>
          <a:xfrm>
            <a:off x="2961805" y="3844500"/>
            <a:ext cx="3205200" cy="5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1 − (0.3 + 0.1) = 0.6</a:t>
            </a:r>
            <a:endParaRPr/>
          </a:p>
        </p:txBody>
      </p:sp>
      <p:graphicFrame>
        <p:nvGraphicFramePr>
          <p:cNvPr id="1964" name="Google Shape;1964;p99"/>
          <p:cNvGraphicFramePr/>
          <p:nvPr/>
        </p:nvGraphicFramePr>
        <p:xfrm>
          <a:off x="2085837" y="203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554375"/>
                <a:gridCol w="1126175"/>
                <a:gridCol w="1126175"/>
                <a:gridCol w="1126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20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5" name="Google Shape;1965;p99"/>
          <p:cNvSpPr txBox="1"/>
          <p:nvPr>
            <p:ph idx="1" type="body"/>
          </p:nvPr>
        </p:nvSpPr>
        <p:spPr>
          <a:xfrm>
            <a:off x="4867419" y="2518374"/>
            <a:ext cx="180000" cy="57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0" name="Google Shape;1970;p100"/>
          <p:cNvGraphicFramePr/>
          <p:nvPr/>
        </p:nvGraphicFramePr>
        <p:xfrm>
          <a:off x="5659862" y="31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286450"/>
                <a:gridCol w="465575"/>
                <a:gridCol w="465575"/>
                <a:gridCol w="465575"/>
                <a:gridCol w="46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1" name="Google Shape;1971;p100"/>
          <p:cNvSpPr txBox="1"/>
          <p:nvPr>
            <p:ph idx="1" type="body"/>
          </p:nvPr>
        </p:nvSpPr>
        <p:spPr>
          <a:xfrm>
            <a:off x="324000" y="759300"/>
            <a:ext cx="82377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value of each unknown probability.</a:t>
            </a:r>
            <a:br>
              <a:rPr lang="en-GB" sz="1600"/>
            </a:br>
            <a:r>
              <a:rPr lang="en-GB" sz="1600"/>
              <a:t>    Each question presents a complete set of possible outcomes for a trial.</a:t>
            </a:r>
            <a:endParaRPr sz="1600"/>
          </a:p>
        </p:txBody>
      </p:sp>
      <p:sp>
        <p:nvSpPr>
          <p:cNvPr id="1972" name="Google Shape;197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1973" name="Google Shape;1973;p100"/>
          <p:cNvSpPr txBox="1"/>
          <p:nvPr>
            <p:ph idx="1" type="body"/>
          </p:nvPr>
        </p:nvSpPr>
        <p:spPr>
          <a:xfrm>
            <a:off x="324000" y="1445100"/>
            <a:ext cx="24414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P(rain) = 25%</a:t>
            </a:r>
            <a:br>
              <a:rPr lang="en-GB" sz="1600"/>
            </a:br>
            <a:r>
              <a:rPr lang="en-GB" sz="1600"/>
              <a:t>    P(not rain)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4" name="Google Shape;1974;p100"/>
          <p:cNvSpPr txBox="1"/>
          <p:nvPr>
            <p:ph idx="1" type="body"/>
          </p:nvPr>
        </p:nvSpPr>
        <p:spPr>
          <a:xfrm>
            <a:off x="3092600" y="1445100"/>
            <a:ext cx="25290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</a:t>
            </a:r>
            <a:r>
              <a:rPr lang="en-GB" sz="1600"/>
              <a:t> P(train on time) = 0.6 </a:t>
            </a:r>
            <a:br>
              <a:rPr lang="en-GB" sz="1600"/>
            </a:br>
            <a:r>
              <a:rPr lang="en-GB" sz="1600"/>
              <a:t>     P(train late)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5" name="Google Shape;1975;p100"/>
          <p:cNvSpPr txBox="1"/>
          <p:nvPr>
            <p:ph idx="1" type="body"/>
          </p:nvPr>
        </p:nvSpPr>
        <p:spPr>
          <a:xfrm>
            <a:off x="5861200" y="1445100"/>
            <a:ext cx="24414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</a:t>
            </a:r>
            <a:endParaRPr sz="1600"/>
          </a:p>
        </p:txBody>
      </p:sp>
      <p:cxnSp>
        <p:nvCxnSpPr>
          <p:cNvPr id="1976" name="Google Shape;1976;p100"/>
          <p:cNvCxnSpPr/>
          <p:nvPr/>
        </p:nvCxnSpPr>
        <p:spPr>
          <a:xfrm flipH="1" rot="10800000">
            <a:off x="6211400" y="1620626"/>
            <a:ext cx="849300" cy="52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100"/>
          <p:cNvCxnSpPr/>
          <p:nvPr/>
        </p:nvCxnSpPr>
        <p:spPr>
          <a:xfrm>
            <a:off x="6211400" y="2128774"/>
            <a:ext cx="849300" cy="52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8" name="Google Shape;1978;p100"/>
          <p:cNvSpPr txBox="1"/>
          <p:nvPr>
            <p:ph idx="4294967295" type="body"/>
          </p:nvPr>
        </p:nvSpPr>
        <p:spPr>
          <a:xfrm>
            <a:off x="7126990" y="1479848"/>
            <a:ext cx="59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win</a:t>
            </a:r>
            <a:endParaRPr sz="1600"/>
          </a:p>
        </p:txBody>
      </p:sp>
      <p:sp>
        <p:nvSpPr>
          <p:cNvPr id="1979" name="Google Shape;1979;p100"/>
          <p:cNvSpPr txBox="1"/>
          <p:nvPr>
            <p:ph idx="4294967295" type="body"/>
          </p:nvPr>
        </p:nvSpPr>
        <p:spPr>
          <a:xfrm>
            <a:off x="7115322" y="2534350"/>
            <a:ext cx="11874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not win</a:t>
            </a:r>
            <a:endParaRPr sz="1600"/>
          </a:p>
        </p:txBody>
      </p:sp>
      <p:sp>
        <p:nvSpPr>
          <p:cNvPr id="1980" name="Google Shape;1980;p100"/>
          <p:cNvSpPr txBox="1"/>
          <p:nvPr/>
        </p:nvSpPr>
        <p:spPr>
          <a:xfrm>
            <a:off x="6599822" y="1424374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1" name="Google Shape;1981;p100"/>
          <p:cNvSpPr txBox="1"/>
          <p:nvPr>
            <p:ph idx="1" type="body"/>
          </p:nvPr>
        </p:nvSpPr>
        <p:spPr>
          <a:xfrm>
            <a:off x="324000" y="3121500"/>
            <a:ext cx="2563200" cy="8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P(Player 1 wins) = 24%</a:t>
            </a:r>
            <a:br>
              <a:rPr lang="en-GB" sz="1600"/>
            </a:br>
            <a:r>
              <a:rPr lang="en-GB" sz="1600"/>
              <a:t>    P(Player 2 wins) = 32%</a:t>
            </a:r>
            <a:br>
              <a:rPr lang="en-GB" sz="1600"/>
            </a:br>
            <a:r>
              <a:rPr lang="en-GB" sz="1600"/>
              <a:t>    P(draw)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2" name="Google Shape;1982;p100"/>
          <p:cNvSpPr txBox="1"/>
          <p:nvPr>
            <p:ph idx="1" type="body"/>
          </p:nvPr>
        </p:nvSpPr>
        <p:spPr>
          <a:xfrm>
            <a:off x="3092600" y="3121500"/>
            <a:ext cx="298200" cy="3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)</a:t>
            </a:r>
            <a:endParaRPr sz="1600"/>
          </a:p>
        </p:txBody>
      </p:sp>
      <p:sp>
        <p:nvSpPr>
          <p:cNvPr id="1983" name="Google Shape;1983;p100"/>
          <p:cNvSpPr txBox="1"/>
          <p:nvPr>
            <p:ph idx="1" type="body"/>
          </p:nvPr>
        </p:nvSpPr>
        <p:spPr>
          <a:xfrm>
            <a:off x="5327800" y="3121500"/>
            <a:ext cx="298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r>
              <a:rPr lang="en-GB" sz="1600"/>
              <a:t>) </a:t>
            </a:r>
            <a:endParaRPr sz="1600"/>
          </a:p>
        </p:txBody>
      </p:sp>
      <p:cxnSp>
        <p:nvCxnSpPr>
          <p:cNvPr id="1984" name="Google Shape;1984;p100"/>
          <p:cNvCxnSpPr/>
          <p:nvPr/>
        </p:nvCxnSpPr>
        <p:spPr>
          <a:xfrm flipH="1" rot="10800000">
            <a:off x="3315800" y="3318571"/>
            <a:ext cx="849300" cy="60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5" name="Google Shape;1985;p100"/>
          <p:cNvCxnSpPr/>
          <p:nvPr/>
        </p:nvCxnSpPr>
        <p:spPr>
          <a:xfrm>
            <a:off x="3315800" y="3905639"/>
            <a:ext cx="849300" cy="60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6" name="Google Shape;1986;p100"/>
          <p:cNvSpPr txBox="1"/>
          <p:nvPr>
            <p:ph idx="4294967295" type="body"/>
          </p:nvPr>
        </p:nvSpPr>
        <p:spPr>
          <a:xfrm>
            <a:off x="4231392" y="3156250"/>
            <a:ext cx="5907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red</a:t>
            </a:r>
            <a:endParaRPr sz="1600"/>
          </a:p>
        </p:txBody>
      </p:sp>
      <p:sp>
        <p:nvSpPr>
          <p:cNvPr id="1987" name="Google Shape;1987;p100"/>
          <p:cNvSpPr txBox="1"/>
          <p:nvPr>
            <p:ph idx="4294967295" type="body"/>
          </p:nvPr>
        </p:nvSpPr>
        <p:spPr>
          <a:xfrm>
            <a:off x="4219724" y="4374004"/>
            <a:ext cx="11874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green</a:t>
            </a:r>
            <a:endParaRPr sz="1600"/>
          </a:p>
        </p:txBody>
      </p:sp>
      <p:sp>
        <p:nvSpPr>
          <p:cNvPr id="1988" name="Google Shape;1988;p100"/>
          <p:cNvSpPr txBox="1"/>
          <p:nvPr/>
        </p:nvSpPr>
        <p:spPr>
          <a:xfrm>
            <a:off x="3788104" y="3541684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89" name="Google Shape;1989;p100"/>
          <p:cNvCxnSpPr/>
          <p:nvPr/>
        </p:nvCxnSpPr>
        <p:spPr>
          <a:xfrm>
            <a:off x="3315800" y="3905639"/>
            <a:ext cx="88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0" name="Google Shape;1990;p100"/>
          <p:cNvSpPr txBox="1"/>
          <p:nvPr>
            <p:ph idx="4294967295" type="body"/>
          </p:nvPr>
        </p:nvSpPr>
        <p:spPr>
          <a:xfrm>
            <a:off x="4246755" y="3745616"/>
            <a:ext cx="5907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blue</a:t>
            </a:r>
            <a:endParaRPr sz="1600"/>
          </a:p>
        </p:txBody>
      </p:sp>
      <p:sp>
        <p:nvSpPr>
          <p:cNvPr id="1991" name="Google Shape;1991;p100"/>
          <p:cNvSpPr txBox="1"/>
          <p:nvPr>
            <p:ph idx="1" type="body"/>
          </p:nvPr>
        </p:nvSpPr>
        <p:spPr>
          <a:xfrm>
            <a:off x="3702501" y="3224365"/>
            <a:ext cx="380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 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2" name="Google Shape;1992;p100"/>
          <p:cNvSpPr txBox="1"/>
          <p:nvPr>
            <p:ph idx="1" type="body"/>
          </p:nvPr>
        </p:nvSpPr>
        <p:spPr>
          <a:xfrm>
            <a:off x="3931100" y="4129625"/>
            <a:ext cx="5274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0.35 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1993" name="Google Shape;1993;p100" title="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912" y="2044601"/>
            <a:ext cx="126395" cy="41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1994" name="Google Shape;1994;p100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0" r="77067" t="0"/>
          <a:stretch/>
        </p:blipFill>
        <p:spPr>
          <a:xfrm>
            <a:off x="7044722" y="3643525"/>
            <a:ext cx="2219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1995" name="Google Shape;1995;p100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30221" r="38968" t="0"/>
          <a:stretch/>
        </p:blipFill>
        <p:spPr>
          <a:xfrm>
            <a:off x="7466583" y="3643525"/>
            <a:ext cx="2982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1996" name="Google Shape;1996;p100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69189" r="0" t="0"/>
          <a:stretch/>
        </p:blipFill>
        <p:spPr>
          <a:xfrm>
            <a:off x="8377138" y="3643525"/>
            <a:ext cx="2982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100"/>
          <p:cNvSpPr txBox="1"/>
          <p:nvPr/>
        </p:nvSpPr>
        <p:spPr>
          <a:xfrm>
            <a:off x="7965202" y="3648912"/>
            <a:ext cx="2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01"/>
          <p:cNvSpPr txBox="1"/>
          <p:nvPr>
            <p:ph idx="1" type="body"/>
          </p:nvPr>
        </p:nvSpPr>
        <p:spPr>
          <a:xfrm>
            <a:off x="324000" y="759300"/>
            <a:ext cx="82377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Izzy, Laura and Sofia compete in a swimming race.</a:t>
            </a:r>
            <a:br>
              <a:rPr lang="en-GB" sz="1600"/>
            </a:br>
            <a:r>
              <a:rPr lang="en-GB" sz="1600"/>
              <a:t>    The outcomes and probabilities are represented in the table.</a:t>
            </a:r>
            <a:endParaRPr sz="1600"/>
          </a:p>
        </p:txBody>
      </p:sp>
      <p:sp>
        <p:nvSpPr>
          <p:cNvPr id="2003" name="Google Shape;2003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2004" name="Google Shape;2004;p101"/>
          <p:cNvSpPr txBox="1"/>
          <p:nvPr>
            <p:ph idx="1" type="body"/>
          </p:nvPr>
        </p:nvSpPr>
        <p:spPr>
          <a:xfrm>
            <a:off x="324000" y="3121500"/>
            <a:ext cx="8237700" cy="17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</a:t>
            </a:r>
            <a:r>
              <a:rPr lang="en-GB" sz="1600"/>
              <a:t>) Aisha, Jun, Lucas and Sam compete against each other on a video game.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    Jun is as likely to win as Aisha.</a:t>
            </a:r>
            <a:br>
              <a:rPr lang="en-GB" sz="1600"/>
            </a:br>
            <a:r>
              <a:rPr lang="en-GB" sz="1600"/>
              <a:t>    Lucas is twice as likely to win as Jun.</a:t>
            </a:r>
            <a:br>
              <a:rPr lang="en-GB" sz="1600"/>
            </a:br>
            <a:r>
              <a:rPr lang="en-GB" sz="1600"/>
              <a:t>    Sam is three times as likely to win as Lucas.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What is the probability that Sam wins?</a:t>
            </a:r>
            <a:endParaRPr sz="1600"/>
          </a:p>
        </p:txBody>
      </p:sp>
      <p:graphicFrame>
        <p:nvGraphicFramePr>
          <p:cNvPr id="2005" name="Google Shape;2005;p101"/>
          <p:cNvGraphicFramePr/>
          <p:nvPr/>
        </p:nvGraphicFramePr>
        <p:xfrm>
          <a:off x="1095237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323200"/>
                <a:gridCol w="958700"/>
                <a:gridCol w="958700"/>
                <a:gridCol w="958700"/>
              </a:tblGrid>
              <a:tr h="2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winner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6" name="Google Shape;2006;p101"/>
          <p:cNvSpPr txBox="1"/>
          <p:nvPr>
            <p:ph idx="4294967295" type="body"/>
          </p:nvPr>
        </p:nvSpPr>
        <p:spPr>
          <a:xfrm>
            <a:off x="2516582" y="1908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7" name="Google Shape;2007;p101"/>
          <p:cNvSpPr txBox="1"/>
          <p:nvPr>
            <p:ph idx="4294967295" type="body"/>
          </p:nvPr>
        </p:nvSpPr>
        <p:spPr>
          <a:xfrm>
            <a:off x="3454027" y="1908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8" name="Google Shape;2008;p101"/>
          <p:cNvSpPr txBox="1"/>
          <p:nvPr>
            <p:ph idx="4294967295" type="body"/>
          </p:nvPr>
        </p:nvSpPr>
        <p:spPr>
          <a:xfrm>
            <a:off x="4444627" y="1946988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9" name="Google Shape;2009;p101"/>
          <p:cNvSpPr txBox="1"/>
          <p:nvPr>
            <p:ph idx="1" type="body"/>
          </p:nvPr>
        </p:nvSpPr>
        <p:spPr>
          <a:xfrm>
            <a:off x="552600" y="2435700"/>
            <a:ext cx="82377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Find the value of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.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3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4" name="Google Shape;2014;p102"/>
          <p:cNvGraphicFramePr/>
          <p:nvPr/>
        </p:nvGraphicFramePr>
        <p:xfrm>
          <a:off x="5659862" y="313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286450"/>
                <a:gridCol w="465575"/>
                <a:gridCol w="465575"/>
                <a:gridCol w="465575"/>
                <a:gridCol w="465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outcome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5" name="Google Shape;2015;p102"/>
          <p:cNvSpPr txBox="1"/>
          <p:nvPr>
            <p:ph idx="1" type="body"/>
          </p:nvPr>
        </p:nvSpPr>
        <p:spPr>
          <a:xfrm>
            <a:off x="324000" y="759300"/>
            <a:ext cx="8237700" cy="52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value of each unknown probability.</a:t>
            </a:r>
            <a:br>
              <a:rPr lang="en-GB" sz="1600"/>
            </a:br>
            <a:r>
              <a:rPr lang="en-GB" sz="1600"/>
              <a:t>    Each question presents a complete set of possible outcomes for a trial.</a:t>
            </a:r>
            <a:endParaRPr sz="1600"/>
          </a:p>
        </p:txBody>
      </p:sp>
      <p:sp>
        <p:nvSpPr>
          <p:cNvPr id="2016" name="Google Shape;2016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2017" name="Google Shape;2017;p102"/>
          <p:cNvSpPr txBox="1"/>
          <p:nvPr>
            <p:ph idx="1" type="body"/>
          </p:nvPr>
        </p:nvSpPr>
        <p:spPr>
          <a:xfrm>
            <a:off x="324000" y="1445100"/>
            <a:ext cx="24414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P(rain) = 25%</a:t>
            </a:r>
            <a:br>
              <a:rPr lang="en-GB" sz="1600"/>
            </a:br>
            <a:r>
              <a:rPr lang="en-GB" sz="1600"/>
              <a:t>    P(not rain)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8" name="Google Shape;2018;p102"/>
          <p:cNvSpPr txBox="1"/>
          <p:nvPr>
            <p:ph idx="1" type="body"/>
          </p:nvPr>
        </p:nvSpPr>
        <p:spPr>
          <a:xfrm>
            <a:off x="3092600" y="1445100"/>
            <a:ext cx="25290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 P(train on time) = 0.6 </a:t>
            </a:r>
            <a:br>
              <a:rPr lang="en-GB" sz="1600"/>
            </a:br>
            <a:r>
              <a:rPr lang="en-GB" sz="1600"/>
              <a:t>     P(train late)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9" name="Google Shape;2019;p102"/>
          <p:cNvSpPr txBox="1"/>
          <p:nvPr>
            <p:ph idx="1" type="body"/>
          </p:nvPr>
        </p:nvSpPr>
        <p:spPr>
          <a:xfrm>
            <a:off x="5861200" y="1445100"/>
            <a:ext cx="2441400" cy="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</a:t>
            </a:r>
            <a:endParaRPr sz="1600"/>
          </a:p>
        </p:txBody>
      </p:sp>
      <p:cxnSp>
        <p:nvCxnSpPr>
          <p:cNvPr id="2020" name="Google Shape;2020;p102"/>
          <p:cNvCxnSpPr/>
          <p:nvPr/>
        </p:nvCxnSpPr>
        <p:spPr>
          <a:xfrm flipH="1" rot="10800000">
            <a:off x="6211400" y="1620626"/>
            <a:ext cx="849300" cy="52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1" name="Google Shape;2021;p102"/>
          <p:cNvCxnSpPr/>
          <p:nvPr/>
        </p:nvCxnSpPr>
        <p:spPr>
          <a:xfrm>
            <a:off x="6211400" y="2128774"/>
            <a:ext cx="849300" cy="52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2" name="Google Shape;2022;p102"/>
          <p:cNvSpPr txBox="1"/>
          <p:nvPr>
            <p:ph idx="4294967295" type="body"/>
          </p:nvPr>
        </p:nvSpPr>
        <p:spPr>
          <a:xfrm>
            <a:off x="7126990" y="1479848"/>
            <a:ext cx="59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win</a:t>
            </a:r>
            <a:endParaRPr sz="1600"/>
          </a:p>
        </p:txBody>
      </p:sp>
      <p:sp>
        <p:nvSpPr>
          <p:cNvPr id="2023" name="Google Shape;2023;p102"/>
          <p:cNvSpPr txBox="1"/>
          <p:nvPr>
            <p:ph idx="4294967295" type="body"/>
          </p:nvPr>
        </p:nvSpPr>
        <p:spPr>
          <a:xfrm>
            <a:off x="7115322" y="2534350"/>
            <a:ext cx="11874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not win</a:t>
            </a:r>
            <a:endParaRPr sz="1600"/>
          </a:p>
        </p:txBody>
      </p:sp>
      <p:sp>
        <p:nvSpPr>
          <p:cNvPr id="2024" name="Google Shape;2024;p102"/>
          <p:cNvSpPr txBox="1"/>
          <p:nvPr/>
        </p:nvSpPr>
        <p:spPr>
          <a:xfrm>
            <a:off x="6599822" y="1424374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5" name="Google Shape;2025;p102"/>
          <p:cNvSpPr txBox="1"/>
          <p:nvPr>
            <p:ph idx="1" type="body"/>
          </p:nvPr>
        </p:nvSpPr>
        <p:spPr>
          <a:xfrm>
            <a:off x="324000" y="3121500"/>
            <a:ext cx="2563200" cy="8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P(Player 1 wins) = 24%</a:t>
            </a:r>
            <a:br>
              <a:rPr lang="en-GB" sz="1600"/>
            </a:br>
            <a:r>
              <a:rPr lang="en-GB" sz="1600"/>
              <a:t>    P(Player 2 wins) = 32%</a:t>
            </a:r>
            <a:br>
              <a:rPr lang="en-GB" sz="1600"/>
            </a:br>
            <a:r>
              <a:rPr lang="en-GB" sz="1600"/>
              <a:t>    P(draw)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6" name="Google Shape;2026;p102"/>
          <p:cNvSpPr txBox="1"/>
          <p:nvPr>
            <p:ph idx="1" type="body"/>
          </p:nvPr>
        </p:nvSpPr>
        <p:spPr>
          <a:xfrm>
            <a:off x="3092600" y="3121500"/>
            <a:ext cx="298200" cy="32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</a:t>
            </a:r>
            <a:endParaRPr sz="1600"/>
          </a:p>
        </p:txBody>
      </p:sp>
      <p:sp>
        <p:nvSpPr>
          <p:cNvPr id="2027" name="Google Shape;2027;p102"/>
          <p:cNvSpPr txBox="1"/>
          <p:nvPr>
            <p:ph idx="1" type="body"/>
          </p:nvPr>
        </p:nvSpPr>
        <p:spPr>
          <a:xfrm>
            <a:off x="5327800" y="3121500"/>
            <a:ext cx="2982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f) </a:t>
            </a:r>
            <a:endParaRPr sz="1600"/>
          </a:p>
        </p:txBody>
      </p:sp>
      <p:cxnSp>
        <p:nvCxnSpPr>
          <p:cNvPr id="2028" name="Google Shape;2028;p102"/>
          <p:cNvCxnSpPr/>
          <p:nvPr/>
        </p:nvCxnSpPr>
        <p:spPr>
          <a:xfrm flipH="1" rot="10800000">
            <a:off x="3315800" y="3318571"/>
            <a:ext cx="849300" cy="60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102"/>
          <p:cNvCxnSpPr/>
          <p:nvPr/>
        </p:nvCxnSpPr>
        <p:spPr>
          <a:xfrm>
            <a:off x="3315800" y="3905639"/>
            <a:ext cx="849300" cy="60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0" name="Google Shape;2030;p102"/>
          <p:cNvSpPr txBox="1"/>
          <p:nvPr>
            <p:ph idx="4294967295" type="body"/>
          </p:nvPr>
        </p:nvSpPr>
        <p:spPr>
          <a:xfrm>
            <a:off x="4231392" y="3156250"/>
            <a:ext cx="5907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red</a:t>
            </a:r>
            <a:endParaRPr sz="1600"/>
          </a:p>
        </p:txBody>
      </p:sp>
      <p:sp>
        <p:nvSpPr>
          <p:cNvPr id="2031" name="Google Shape;2031;p102"/>
          <p:cNvSpPr txBox="1"/>
          <p:nvPr>
            <p:ph idx="4294967295" type="body"/>
          </p:nvPr>
        </p:nvSpPr>
        <p:spPr>
          <a:xfrm>
            <a:off x="4219724" y="4374004"/>
            <a:ext cx="11874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green</a:t>
            </a:r>
            <a:endParaRPr sz="1600"/>
          </a:p>
        </p:txBody>
      </p:sp>
      <p:sp>
        <p:nvSpPr>
          <p:cNvPr id="2032" name="Google Shape;2032;p102"/>
          <p:cNvSpPr txBox="1"/>
          <p:nvPr/>
        </p:nvSpPr>
        <p:spPr>
          <a:xfrm>
            <a:off x="3788104" y="3541684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33" name="Google Shape;2033;p102"/>
          <p:cNvCxnSpPr/>
          <p:nvPr/>
        </p:nvCxnSpPr>
        <p:spPr>
          <a:xfrm>
            <a:off x="3315800" y="3905639"/>
            <a:ext cx="885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4" name="Google Shape;2034;p102"/>
          <p:cNvSpPr txBox="1"/>
          <p:nvPr>
            <p:ph idx="4294967295" type="body"/>
          </p:nvPr>
        </p:nvSpPr>
        <p:spPr>
          <a:xfrm>
            <a:off x="4246755" y="3745616"/>
            <a:ext cx="590700" cy="4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blue</a:t>
            </a:r>
            <a:endParaRPr sz="1600"/>
          </a:p>
        </p:txBody>
      </p:sp>
      <p:sp>
        <p:nvSpPr>
          <p:cNvPr id="2035" name="Google Shape;2035;p102"/>
          <p:cNvSpPr txBox="1"/>
          <p:nvPr>
            <p:ph idx="1" type="body"/>
          </p:nvPr>
        </p:nvSpPr>
        <p:spPr>
          <a:xfrm>
            <a:off x="3702501" y="3224365"/>
            <a:ext cx="380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0.1 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6" name="Google Shape;2036;p102"/>
          <p:cNvSpPr txBox="1"/>
          <p:nvPr>
            <p:ph idx="1" type="body"/>
          </p:nvPr>
        </p:nvSpPr>
        <p:spPr>
          <a:xfrm>
            <a:off x="3931100" y="4129625"/>
            <a:ext cx="5274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0.35 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7}&quot;&gt;&lt;mfrac&gt;&lt;mn&gt;3&lt;/mn&gt;&lt;mn&gt;7&lt;/mn&gt;&lt;/mfrac&gt;&lt;/math&gt;" id="2037" name="Google Shape;2037;p102" title="three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7912" y="2044601"/>
            <a:ext cx="126395" cy="41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2038" name="Google Shape;2038;p102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0" r="77067" t="0"/>
          <a:stretch/>
        </p:blipFill>
        <p:spPr>
          <a:xfrm>
            <a:off x="7044722" y="3643525"/>
            <a:ext cx="22195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2039" name="Google Shape;2039;p102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30221" r="38968" t="0"/>
          <a:stretch/>
        </p:blipFill>
        <p:spPr>
          <a:xfrm>
            <a:off x="7466583" y="3643525"/>
            <a:ext cx="2982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 \ \ \frac{1}{4}\ \ \ \frac{3}{12}&quot;&gt;&lt;mfrac&gt;&lt;mn&gt;1&lt;/mn&gt;&lt;mn&gt;6&lt;/mn&gt;&lt;/mfrac&gt;&lt;mtext&gt;&lt;/mtext&gt;&lt;mtext&gt;&lt;/mtext&gt;&lt;mtext&gt;&lt;/mtext&gt;&lt;mfrac&gt;&lt;mn&gt;1&lt;/mn&gt;&lt;mn&gt;4&lt;/mn&gt;&lt;/mfrac&gt;&lt;mtext&gt;&lt;/mtext&gt;&lt;mtext&gt;&lt;/mtext&gt;&lt;mtext&gt;&lt;/mtext&gt;&lt;mfrac&gt;&lt;mn&gt;3&lt;/mn&gt;&lt;mn&gt;12&lt;/mn&gt;&lt;/mfrac&gt;&lt;/math&gt;" id="2040" name="Google Shape;2040;p102" title="one sixth one fourth 3 over 12"/>
          <p:cNvPicPr preferRelativeResize="0"/>
          <p:nvPr/>
        </p:nvPicPr>
        <p:blipFill rotWithShape="1">
          <a:blip r:embed="rId4">
            <a:alphaModFix/>
          </a:blip>
          <a:srcRect b="0" l="69189" r="0" t="0"/>
          <a:stretch/>
        </p:blipFill>
        <p:spPr>
          <a:xfrm>
            <a:off x="8377138" y="3643525"/>
            <a:ext cx="2982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02"/>
          <p:cNvSpPr txBox="1"/>
          <p:nvPr/>
        </p:nvSpPr>
        <p:spPr>
          <a:xfrm>
            <a:off x="7965202" y="3648912"/>
            <a:ext cx="2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2" name="Google Shape;2042;p102"/>
          <p:cNvSpPr txBox="1"/>
          <p:nvPr>
            <p:ph idx="1" type="body"/>
          </p:nvPr>
        </p:nvSpPr>
        <p:spPr>
          <a:xfrm>
            <a:off x="604225" y="2174850"/>
            <a:ext cx="1080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75%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3" name="Google Shape;2043;p102"/>
          <p:cNvSpPr txBox="1"/>
          <p:nvPr>
            <p:ph idx="1" type="body"/>
          </p:nvPr>
        </p:nvSpPr>
        <p:spPr>
          <a:xfrm>
            <a:off x="3423625" y="2174850"/>
            <a:ext cx="1080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0.4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4" name="Google Shape;2044;p102"/>
          <p:cNvSpPr txBox="1"/>
          <p:nvPr>
            <p:ph idx="1" type="body"/>
          </p:nvPr>
        </p:nvSpPr>
        <p:spPr>
          <a:xfrm>
            <a:off x="6014425" y="2708250"/>
            <a:ext cx="1080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045" name="Google Shape;2045;p102" title="four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2194" y="2634622"/>
            <a:ext cx="126400" cy="418295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102"/>
          <p:cNvSpPr txBox="1"/>
          <p:nvPr>
            <p:ph idx="1" type="body"/>
          </p:nvPr>
        </p:nvSpPr>
        <p:spPr>
          <a:xfrm>
            <a:off x="535706" y="4552413"/>
            <a:ext cx="1080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44%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7" name="Google Shape;2047;p102"/>
          <p:cNvSpPr txBox="1"/>
          <p:nvPr>
            <p:ph idx="1" type="body"/>
          </p:nvPr>
        </p:nvSpPr>
        <p:spPr>
          <a:xfrm>
            <a:off x="3202706" y="4552413"/>
            <a:ext cx="10806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0.55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8" name="Google Shape;2048;p102"/>
          <p:cNvSpPr txBox="1"/>
          <p:nvPr>
            <p:ph idx="1" type="body"/>
          </p:nvPr>
        </p:nvSpPr>
        <p:spPr>
          <a:xfrm>
            <a:off x="6014425" y="4445481"/>
            <a:ext cx="11874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049" name="Google Shape;2049;p102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5725" y="4369290"/>
            <a:ext cx="126400" cy="41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03"/>
          <p:cNvSpPr txBox="1"/>
          <p:nvPr>
            <p:ph idx="1" type="body"/>
          </p:nvPr>
        </p:nvSpPr>
        <p:spPr>
          <a:xfrm>
            <a:off x="324000" y="759300"/>
            <a:ext cx="82377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Izzy, Laura and Sofia compete in a swimming race.</a:t>
            </a:r>
            <a:br>
              <a:rPr lang="en-GB" sz="1600"/>
            </a:br>
            <a:r>
              <a:rPr lang="en-GB" sz="1600"/>
              <a:t>    The outcomes and probabilities are represented in the table.</a:t>
            </a:r>
            <a:endParaRPr sz="1600"/>
          </a:p>
        </p:txBody>
      </p:sp>
      <p:sp>
        <p:nvSpPr>
          <p:cNvPr id="2055" name="Google Shape;2055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graphicFrame>
        <p:nvGraphicFramePr>
          <p:cNvPr id="2056" name="Google Shape;2056;p103"/>
          <p:cNvGraphicFramePr/>
          <p:nvPr/>
        </p:nvGraphicFramePr>
        <p:xfrm>
          <a:off x="1095237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{2032DB5D-FF58-4EAD-9460-100A12EB32FA}</a:tableStyleId>
              </a:tblPr>
              <a:tblGrid>
                <a:gridCol w="1323200"/>
                <a:gridCol w="958700"/>
                <a:gridCol w="958700"/>
                <a:gridCol w="958700"/>
              </a:tblGrid>
              <a:tr h="2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winner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Sofia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7" name="Google Shape;2057;p103"/>
          <p:cNvSpPr txBox="1"/>
          <p:nvPr>
            <p:ph idx="4294967295" type="body"/>
          </p:nvPr>
        </p:nvSpPr>
        <p:spPr>
          <a:xfrm>
            <a:off x="2516582" y="1908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8" name="Google Shape;2058;p103"/>
          <p:cNvSpPr txBox="1"/>
          <p:nvPr>
            <p:ph idx="4294967295" type="body"/>
          </p:nvPr>
        </p:nvSpPr>
        <p:spPr>
          <a:xfrm>
            <a:off x="3454027" y="1908581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9" name="Google Shape;2059;p103"/>
          <p:cNvSpPr txBox="1"/>
          <p:nvPr>
            <p:ph idx="4294967295" type="body"/>
          </p:nvPr>
        </p:nvSpPr>
        <p:spPr>
          <a:xfrm>
            <a:off x="4444627" y="1946988"/>
            <a:ext cx="3915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0.4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0" name="Google Shape;2060;p103"/>
          <p:cNvSpPr txBox="1"/>
          <p:nvPr>
            <p:ph idx="1" type="body"/>
          </p:nvPr>
        </p:nvSpPr>
        <p:spPr>
          <a:xfrm>
            <a:off x="552600" y="2435700"/>
            <a:ext cx="8237700" cy="5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Find the value of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2061" name="Google Shape;2061;p103"/>
          <p:cNvSpPr txBox="1"/>
          <p:nvPr>
            <p:ph idx="1" type="body"/>
          </p:nvPr>
        </p:nvSpPr>
        <p:spPr>
          <a:xfrm>
            <a:off x="1988100" y="2982861"/>
            <a:ext cx="19920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+ 0.4 = 1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2" name="Google Shape;2062;p103"/>
          <p:cNvSpPr txBox="1"/>
          <p:nvPr>
            <p:ph idx="1" type="body"/>
          </p:nvPr>
        </p:nvSpPr>
        <p:spPr>
          <a:xfrm>
            <a:off x="2328000" y="3338461"/>
            <a:ext cx="19920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+ 0.4 = 1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3" name="Google Shape;2063;p103"/>
          <p:cNvSpPr txBox="1"/>
          <p:nvPr>
            <p:ph idx="1" type="body"/>
          </p:nvPr>
        </p:nvSpPr>
        <p:spPr>
          <a:xfrm>
            <a:off x="2853448" y="3694061"/>
            <a:ext cx="11655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0.6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4" name="Google Shape;2064;p103"/>
          <p:cNvSpPr txBox="1"/>
          <p:nvPr>
            <p:ph idx="1" type="body"/>
          </p:nvPr>
        </p:nvSpPr>
        <p:spPr>
          <a:xfrm>
            <a:off x="2970578" y="4049661"/>
            <a:ext cx="1165500" cy="26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= 0.2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missing probabilities</a:t>
            </a:r>
            <a:endParaRPr/>
          </a:p>
        </p:txBody>
      </p:sp>
      <p:sp>
        <p:nvSpPr>
          <p:cNvPr id="2070" name="Google Shape;2070;p104"/>
          <p:cNvSpPr txBox="1"/>
          <p:nvPr>
            <p:ph idx="1" type="body"/>
          </p:nvPr>
        </p:nvSpPr>
        <p:spPr>
          <a:xfrm>
            <a:off x="324000" y="835500"/>
            <a:ext cx="8237700" cy="172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3) Aisha, Jun, Lucas and Sam compete against each other on a video game.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    Jun is as likely to win as Aisha.</a:t>
            </a:r>
            <a:br>
              <a:rPr lang="en-GB" sz="1600"/>
            </a:br>
            <a:r>
              <a:rPr lang="en-GB" sz="1600"/>
              <a:t>    Lucas is twice as likely to win as Jun.</a:t>
            </a:r>
            <a:br>
              <a:rPr lang="en-GB" sz="1600"/>
            </a:br>
            <a:r>
              <a:rPr lang="en-GB" sz="1600"/>
              <a:t>    Sam is three times as likely to win as Lucas.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What is the probability that Sam wins?</a:t>
            </a:r>
            <a:endParaRPr sz="1600"/>
          </a:p>
        </p:txBody>
      </p:sp>
      <p:sp>
        <p:nvSpPr>
          <p:cNvPr id="2071" name="Google Shape;2071;p104"/>
          <p:cNvSpPr txBox="1"/>
          <p:nvPr>
            <p:ph idx="1" type="body"/>
          </p:nvPr>
        </p:nvSpPr>
        <p:spPr>
          <a:xfrm>
            <a:off x="540300" y="2906650"/>
            <a:ext cx="1524000" cy="13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P(Aisha)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P(Jun) =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P(Lucas)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b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P(Sam)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2" name="Google Shape;2072;p104"/>
          <p:cNvSpPr txBox="1"/>
          <p:nvPr>
            <p:ph idx="1" type="body"/>
          </p:nvPr>
        </p:nvSpPr>
        <p:spPr>
          <a:xfrm>
            <a:off x="2999899" y="2906650"/>
            <a:ext cx="2997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+ 6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3" name="Google Shape;2073;p104"/>
          <p:cNvSpPr txBox="1"/>
          <p:nvPr>
            <p:ph idx="1" type="body"/>
          </p:nvPr>
        </p:nvSpPr>
        <p:spPr>
          <a:xfrm>
            <a:off x="4035621" y="3338450"/>
            <a:ext cx="850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4" name="Google Shape;2074;p104"/>
          <p:cNvSpPr txBox="1"/>
          <p:nvPr>
            <p:ph idx="1" type="body"/>
          </p:nvPr>
        </p:nvSpPr>
        <p:spPr>
          <a:xfrm>
            <a:off x="4257418" y="3770250"/>
            <a:ext cx="850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0.1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5" name="Google Shape;2075;p104"/>
          <p:cNvSpPr txBox="1"/>
          <p:nvPr>
            <p:ph idx="1" type="body"/>
          </p:nvPr>
        </p:nvSpPr>
        <p:spPr>
          <a:xfrm>
            <a:off x="4143514" y="4202050"/>
            <a:ext cx="850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= 0.6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105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When a set of events are </a:t>
            </a:r>
            <a:r>
              <a:rPr b="1" lang="en-GB" sz="1800"/>
              <a:t>mutually exclusive</a:t>
            </a:r>
            <a:r>
              <a:rPr lang="en-GB" sz="1800"/>
              <a:t> and </a:t>
            </a:r>
            <a:r>
              <a:rPr b="1" lang="en-GB" sz="1800"/>
              <a:t>exhaustive</a:t>
            </a:r>
            <a:r>
              <a:rPr lang="en-GB" sz="1800"/>
              <a:t>, their probabilities sum to 1.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a set of events are not </a:t>
            </a:r>
            <a:r>
              <a:rPr b="1" lang="en-GB" sz="1800"/>
              <a:t>mutually exclusive</a:t>
            </a:r>
            <a:r>
              <a:rPr lang="en-GB" sz="1800"/>
              <a:t> or if they are not </a:t>
            </a:r>
            <a:r>
              <a:rPr b="1" lang="en-GB" sz="1800"/>
              <a:t>exhaustive</a:t>
            </a:r>
            <a:r>
              <a:rPr lang="en-GB" sz="1800"/>
              <a:t>, their probabilities may not necessarily sum to 1.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the probability of all but one outcome is known, then the probability for the remaining outcome can be calculated by subtracting from 1.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the probability of an event is known, then the probability that the event does not happen can be calculated by subtracting from 1.</a:t>
            </a:r>
            <a:endParaRPr sz="1600"/>
          </a:p>
        </p:txBody>
      </p:sp>
      <p:sp>
        <p:nvSpPr>
          <p:cNvPr id="2081" name="Google Shape;2081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Summing probabilities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87" name="Google Shape;208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