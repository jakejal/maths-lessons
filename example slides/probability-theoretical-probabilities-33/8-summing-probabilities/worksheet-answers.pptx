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7A78823E-E6DE-45A2-AEA3-4B67B49DC2DE}">
  <a:tblStyle styleId="{7A78823E-E6DE-45A2-AEA3-4B67B49DC2D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343" name="Shape 343"/>
        <p:cNvGrpSpPr/>
        <p:nvPr/>
      </p:nvGrpSpPr>
      <p:grpSpPr>
        <a:xfrm>
          <a:off x="0" y="0"/>
          <a:ext cx="0" cy="0"/>
        </a:xfrm>
      </p:grpSpPr>
      <p:sp>
        <p:nvSpPr>
          <p:cNvPr id="344" name="Google Shape;344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Summing probabilities</a:t>
            </a:r>
            <a:endParaRPr/>
          </a:p>
        </p:txBody>
      </p:sp>
      <p:cxnSp>
        <p:nvCxnSpPr>
          <p:cNvPr id="173" name="Google Shape;173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4" name="Google Shape;174;p20"/>
          <p:cNvSpPr txBox="1"/>
          <p:nvPr/>
        </p:nvSpPr>
        <p:spPr>
          <a:xfrm>
            <a:off x="476400" y="1666451"/>
            <a:ext cx="64101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spinner is spun once. For each pair of events listed below, state whether their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probabilities would sum to 1. Justify your answers with reasoning.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76400" y="1335050"/>
            <a:ext cx="6233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 Summing probabilities of events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5624624" y="2115973"/>
            <a:ext cx="1319700" cy="13197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7" name="Google Shape;177;p20"/>
          <p:cNvSpPr/>
          <p:nvPr/>
        </p:nvSpPr>
        <p:spPr>
          <a:xfrm flipH="1">
            <a:off x="5635952" y="2127459"/>
            <a:ext cx="1296900" cy="1296900"/>
          </a:xfrm>
          <a:prstGeom prst="pie">
            <a:avLst>
              <a:gd name="adj1" fmla="val 5387953"/>
              <a:gd name="adj2" fmla="val 10824216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8" name="Google Shape;178;p20"/>
          <p:cNvSpPr/>
          <p:nvPr/>
        </p:nvSpPr>
        <p:spPr>
          <a:xfrm>
            <a:off x="5636110" y="2127459"/>
            <a:ext cx="1296900" cy="1296900"/>
          </a:xfrm>
          <a:prstGeom prst="pie">
            <a:avLst>
              <a:gd name="adj1" fmla="val 5387953"/>
              <a:gd name="adj2" fmla="val 8080958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5992439" y="3086237"/>
            <a:ext cx="490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5636110" y="2127459"/>
            <a:ext cx="1296900" cy="1296900"/>
          </a:xfrm>
          <a:prstGeom prst="pie">
            <a:avLst>
              <a:gd name="adj1" fmla="val 10799941"/>
              <a:gd name="adj2" fmla="val 13483876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81" name="Google Shape;181;p20"/>
          <p:cNvSpPr/>
          <p:nvPr/>
        </p:nvSpPr>
        <p:spPr>
          <a:xfrm flipH="1">
            <a:off x="5635952" y="2127459"/>
            <a:ext cx="1296900" cy="1296900"/>
          </a:xfrm>
          <a:prstGeom prst="pie">
            <a:avLst>
              <a:gd name="adj1" fmla="val 13450827"/>
              <a:gd name="adj2" fmla="val 16200000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6367585" y="2158141"/>
            <a:ext cx="490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5636110" y="2127459"/>
            <a:ext cx="1296900" cy="1296900"/>
          </a:xfrm>
          <a:prstGeom prst="pie">
            <a:avLst>
              <a:gd name="adj1" fmla="val 13499013"/>
              <a:gd name="adj2" fmla="val 16232488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5971179" y="2152488"/>
            <a:ext cx="444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5636110" y="2127459"/>
            <a:ext cx="1296900" cy="1296900"/>
          </a:xfrm>
          <a:prstGeom prst="pie">
            <a:avLst>
              <a:gd name="adj1" fmla="val 8080793"/>
              <a:gd name="adj2" fmla="val 10858220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5689617" y="2806724"/>
            <a:ext cx="444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/>
          <p:nvPr/>
        </p:nvSpPr>
        <p:spPr>
          <a:xfrm flipH="1">
            <a:off x="5635952" y="2127459"/>
            <a:ext cx="1296900" cy="1296900"/>
          </a:xfrm>
          <a:prstGeom prst="pie">
            <a:avLst>
              <a:gd name="adj1" fmla="val 10765400"/>
              <a:gd name="adj2" fmla="val 13465582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5694027" y="2445820"/>
            <a:ext cx="490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/>
          <p:nvPr/>
        </p:nvSpPr>
        <p:spPr>
          <a:xfrm flipH="1">
            <a:off x="5635952" y="2127459"/>
            <a:ext cx="1296900" cy="1296900"/>
          </a:xfrm>
          <a:prstGeom prst="pie">
            <a:avLst>
              <a:gd name="adj1" fmla="val 5387953"/>
              <a:gd name="adj2" fmla="val 8084426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6315784" y="3086243"/>
            <a:ext cx="490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6596662" y="2828898"/>
            <a:ext cx="490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6602708" y="2475740"/>
            <a:ext cx="444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3" name="Google Shape;193;p20"/>
          <p:cNvGrpSpPr/>
          <p:nvPr/>
        </p:nvGrpSpPr>
        <p:grpSpPr>
          <a:xfrm>
            <a:off x="6246655" y="2166956"/>
            <a:ext cx="73073" cy="635721"/>
            <a:chOff x="996050" y="213293"/>
            <a:chExt cx="93900" cy="909732"/>
          </a:xfrm>
        </p:grpSpPr>
        <p:cxnSp>
          <p:nvCxnSpPr>
            <p:cNvPr id="194" name="Google Shape;194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95" name="Google Shape;195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96" name="Google Shape;196;p20"/>
          <p:cNvSpPr txBox="1"/>
          <p:nvPr/>
        </p:nvSpPr>
        <p:spPr>
          <a:xfrm>
            <a:off x="476400" y="2166302"/>
            <a:ext cx="2814300" cy="20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A = {odd}, B = {even}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A = {odd}, B = {multiple of 4}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A = {odd}, B = {factor of 24}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654287" y="2426906"/>
            <a:ext cx="46950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Probabilities sum to 1 because the events are </a:t>
            </a: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mutually exclusive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and </a:t>
            </a: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exhaustive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654287" y="3316339"/>
            <a:ext cx="53745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Probabilities do not sum to 1 because the events are not </a:t>
            </a: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exhaustive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(e.g. 2 and 6 are neither odd or a multiple of 4).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654287" y="4070277"/>
            <a:ext cx="59781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Probabilities do not sum to 1 because the events are not </a:t>
            </a: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mutually exclusive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(e.g. 1 and 3 are both odd and a factor of 24).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476400" y="4569300"/>
            <a:ext cx="3616800" cy="16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A = {odd}, B = {prime}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A = {integer}, B = {non-integer}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516600" y="4885800"/>
            <a:ext cx="3263400" cy="6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Probabilities do not sum to 1 because the events are not </a:t>
            </a: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mutually exclusive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(e.g. 3, 5 and 7 are both odd and prime).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523800" y="5940225"/>
            <a:ext cx="6512400" cy="6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Probabilities sum to 1 because the events are </a:t>
            </a: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mutually exclusive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and </a:t>
            </a: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exhaustive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4085100" y="4924775"/>
            <a:ext cx="2962200" cy="9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OR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Probabilities do not sum to 1 because because the events are not </a:t>
            </a: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exhaustive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(e.g. 4, 6 and 8 are neither odd or prime).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04" name="Google Shape;204;p20"/>
          <p:cNvGrpSpPr/>
          <p:nvPr/>
        </p:nvGrpSpPr>
        <p:grpSpPr>
          <a:xfrm>
            <a:off x="6105281" y="6560914"/>
            <a:ext cx="291109" cy="507587"/>
            <a:chOff x="1848000" y="1454825"/>
            <a:chExt cx="541800" cy="944700"/>
          </a:xfrm>
        </p:grpSpPr>
        <p:sp>
          <p:nvSpPr>
            <p:cNvPr id="205" name="Google Shape;205;p20"/>
            <p:cNvSpPr/>
            <p:nvPr/>
          </p:nvSpPr>
          <p:spPr>
            <a:xfrm rot="5400000">
              <a:off x="1646550" y="1656275"/>
              <a:ext cx="944700" cy="541800"/>
            </a:xfrm>
            <a:prstGeom prst="rect">
              <a:avLst/>
            </a:prstGeom>
            <a:solidFill>
              <a:srgbClr val="F0F0F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6" name="Google Shape;206;p20"/>
            <p:cNvSpPr/>
            <p:nvPr/>
          </p:nvSpPr>
          <p:spPr>
            <a:xfrm>
              <a:off x="1915964" y="1852171"/>
              <a:ext cx="402900" cy="152400"/>
            </a:xfrm>
            <a:prstGeom prst="diamond">
              <a:avLst/>
            </a:prstGeom>
            <a:solidFill>
              <a:srgbClr val="845AD9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7" name="Google Shape;207;p20"/>
          <p:cNvGrpSpPr/>
          <p:nvPr/>
        </p:nvGrpSpPr>
        <p:grpSpPr>
          <a:xfrm>
            <a:off x="6105281" y="7707298"/>
            <a:ext cx="291109" cy="507587"/>
            <a:chOff x="1848000" y="3588425"/>
            <a:chExt cx="541800" cy="944700"/>
          </a:xfrm>
        </p:grpSpPr>
        <p:sp>
          <p:nvSpPr>
            <p:cNvPr id="208" name="Google Shape;208;p20"/>
            <p:cNvSpPr/>
            <p:nvPr/>
          </p:nvSpPr>
          <p:spPr>
            <a:xfrm rot="5400000">
              <a:off x="1646550" y="3789875"/>
              <a:ext cx="944700" cy="541800"/>
            </a:xfrm>
            <a:prstGeom prst="rect">
              <a:avLst/>
            </a:prstGeom>
            <a:solidFill>
              <a:srgbClr val="F0F0F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" name="Google Shape;209;p20"/>
            <p:cNvSpPr/>
            <p:nvPr/>
          </p:nvSpPr>
          <p:spPr>
            <a:xfrm>
              <a:off x="1922700" y="4005832"/>
              <a:ext cx="392400" cy="131400"/>
            </a:xfrm>
            <a:prstGeom prst="ellipse">
              <a:avLst/>
            </a:prstGeom>
            <a:solidFill>
              <a:srgbClr val="845AD9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0" name="Google Shape;210;p20"/>
          <p:cNvGrpSpPr/>
          <p:nvPr/>
        </p:nvGrpSpPr>
        <p:grpSpPr>
          <a:xfrm>
            <a:off x="6105281" y="7134106"/>
            <a:ext cx="291109" cy="507587"/>
            <a:chOff x="1848000" y="2521625"/>
            <a:chExt cx="541800" cy="944700"/>
          </a:xfrm>
        </p:grpSpPr>
        <p:sp>
          <p:nvSpPr>
            <p:cNvPr id="211" name="Google Shape;211;p20"/>
            <p:cNvSpPr/>
            <p:nvPr/>
          </p:nvSpPr>
          <p:spPr>
            <a:xfrm rot="5400000">
              <a:off x="1646550" y="2723075"/>
              <a:ext cx="944700" cy="541800"/>
            </a:xfrm>
            <a:prstGeom prst="rect">
              <a:avLst/>
            </a:prstGeom>
            <a:solidFill>
              <a:srgbClr val="F0F0F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2" name="Google Shape;212;p20"/>
            <p:cNvSpPr/>
            <p:nvPr/>
          </p:nvSpPr>
          <p:spPr>
            <a:xfrm rot="-3007802">
              <a:off x="1927835" y="2850269"/>
              <a:ext cx="362978" cy="298152"/>
            </a:xfrm>
            <a:prstGeom prst="lightningBolt">
              <a:avLst/>
            </a:prstGeom>
            <a:solidFill>
              <a:srgbClr val="845AD9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3" name="Google Shape;213;p20"/>
          <p:cNvSpPr txBox="1"/>
          <p:nvPr/>
        </p:nvSpPr>
        <p:spPr>
          <a:xfrm>
            <a:off x="476400" y="6245700"/>
            <a:ext cx="6610500" cy="21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 game involves the set of cards below. Each card shows one of three shapes.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4" name="Google Shape;214;p20"/>
          <p:cNvGrpSpPr/>
          <p:nvPr/>
        </p:nvGrpSpPr>
        <p:grpSpPr>
          <a:xfrm>
            <a:off x="4999756" y="6560914"/>
            <a:ext cx="291109" cy="507587"/>
            <a:chOff x="2533800" y="1454825"/>
            <a:chExt cx="541800" cy="944700"/>
          </a:xfrm>
        </p:grpSpPr>
        <p:sp>
          <p:nvSpPr>
            <p:cNvPr id="215" name="Google Shape;215;p20"/>
            <p:cNvSpPr/>
            <p:nvPr/>
          </p:nvSpPr>
          <p:spPr>
            <a:xfrm rot="5400000">
              <a:off x="2332350" y="1656275"/>
              <a:ext cx="944700" cy="541800"/>
            </a:xfrm>
            <a:prstGeom prst="rect">
              <a:avLst/>
            </a:prstGeom>
            <a:solidFill>
              <a:srgbClr val="F0F0F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6" name="Google Shape;216;p20"/>
            <p:cNvSpPr/>
            <p:nvPr/>
          </p:nvSpPr>
          <p:spPr>
            <a:xfrm>
              <a:off x="2601764" y="1650786"/>
              <a:ext cx="402900" cy="152400"/>
            </a:xfrm>
            <a:prstGeom prst="diamond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7" name="Google Shape;217;p20"/>
            <p:cNvSpPr/>
            <p:nvPr/>
          </p:nvSpPr>
          <p:spPr>
            <a:xfrm>
              <a:off x="2601764" y="1852171"/>
              <a:ext cx="402900" cy="152400"/>
            </a:xfrm>
            <a:prstGeom prst="diamond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8" name="Google Shape;218;p20"/>
            <p:cNvSpPr/>
            <p:nvPr/>
          </p:nvSpPr>
          <p:spPr>
            <a:xfrm>
              <a:off x="2601764" y="2053557"/>
              <a:ext cx="402900" cy="152400"/>
            </a:xfrm>
            <a:prstGeom prst="diamond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9" name="Google Shape;219;p20"/>
          <p:cNvGrpSpPr/>
          <p:nvPr/>
        </p:nvGrpSpPr>
        <p:grpSpPr>
          <a:xfrm>
            <a:off x="5736737" y="6560914"/>
            <a:ext cx="291109" cy="507587"/>
            <a:chOff x="3219600" y="1454825"/>
            <a:chExt cx="541800" cy="944700"/>
          </a:xfrm>
        </p:grpSpPr>
        <p:sp>
          <p:nvSpPr>
            <p:cNvPr id="220" name="Google Shape;220;p20"/>
            <p:cNvSpPr/>
            <p:nvPr/>
          </p:nvSpPr>
          <p:spPr>
            <a:xfrm rot="5400000">
              <a:off x="3018150" y="1656275"/>
              <a:ext cx="944700" cy="541800"/>
            </a:xfrm>
            <a:prstGeom prst="rect">
              <a:avLst/>
            </a:prstGeom>
            <a:solidFill>
              <a:srgbClr val="F0F0F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1" name="Google Shape;221;p20"/>
            <p:cNvSpPr/>
            <p:nvPr/>
          </p:nvSpPr>
          <p:spPr>
            <a:xfrm>
              <a:off x="3287564" y="1765086"/>
              <a:ext cx="402900" cy="152400"/>
            </a:xfrm>
            <a:prstGeom prst="diamond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2" name="Google Shape;222;p20"/>
            <p:cNvSpPr/>
            <p:nvPr/>
          </p:nvSpPr>
          <p:spPr>
            <a:xfrm>
              <a:off x="3287564" y="1966471"/>
              <a:ext cx="402900" cy="152400"/>
            </a:xfrm>
            <a:prstGeom prst="diamond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3" name="Google Shape;223;p20"/>
          <p:cNvGrpSpPr/>
          <p:nvPr/>
        </p:nvGrpSpPr>
        <p:grpSpPr>
          <a:xfrm>
            <a:off x="6473719" y="6560914"/>
            <a:ext cx="291109" cy="507587"/>
            <a:chOff x="3905400" y="1454825"/>
            <a:chExt cx="541800" cy="944700"/>
          </a:xfrm>
        </p:grpSpPr>
        <p:sp>
          <p:nvSpPr>
            <p:cNvPr id="224" name="Google Shape;224;p20"/>
            <p:cNvSpPr/>
            <p:nvPr/>
          </p:nvSpPr>
          <p:spPr>
            <a:xfrm rot="5400000">
              <a:off x="3703950" y="1656275"/>
              <a:ext cx="944700" cy="541800"/>
            </a:xfrm>
            <a:prstGeom prst="rect">
              <a:avLst/>
            </a:prstGeom>
            <a:solidFill>
              <a:srgbClr val="F0F0F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5" name="Google Shape;225;p20"/>
            <p:cNvSpPr/>
            <p:nvPr/>
          </p:nvSpPr>
          <p:spPr>
            <a:xfrm>
              <a:off x="3973364" y="1852171"/>
              <a:ext cx="402900" cy="152400"/>
            </a:xfrm>
            <a:prstGeom prst="diamond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6" name="Google Shape;226;p20"/>
          <p:cNvGrpSpPr/>
          <p:nvPr/>
        </p:nvGrpSpPr>
        <p:grpSpPr>
          <a:xfrm>
            <a:off x="4999756" y="7707298"/>
            <a:ext cx="291109" cy="507587"/>
            <a:chOff x="2533800" y="3588425"/>
            <a:chExt cx="541800" cy="944700"/>
          </a:xfrm>
        </p:grpSpPr>
        <p:sp>
          <p:nvSpPr>
            <p:cNvPr id="227" name="Google Shape;227;p20"/>
            <p:cNvSpPr/>
            <p:nvPr/>
          </p:nvSpPr>
          <p:spPr>
            <a:xfrm rot="5400000">
              <a:off x="2332350" y="3789875"/>
              <a:ext cx="944700" cy="541800"/>
            </a:xfrm>
            <a:prstGeom prst="rect">
              <a:avLst/>
            </a:prstGeom>
            <a:solidFill>
              <a:srgbClr val="F0F0F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8" name="Google Shape;228;p20"/>
            <p:cNvSpPr/>
            <p:nvPr/>
          </p:nvSpPr>
          <p:spPr>
            <a:xfrm>
              <a:off x="2608500" y="3804292"/>
              <a:ext cx="392400" cy="131400"/>
            </a:xfrm>
            <a:prstGeom prst="ellipse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9" name="Google Shape;229;p20"/>
            <p:cNvSpPr/>
            <p:nvPr/>
          </p:nvSpPr>
          <p:spPr>
            <a:xfrm>
              <a:off x="2608500" y="4005832"/>
              <a:ext cx="392400" cy="131400"/>
            </a:xfrm>
            <a:prstGeom prst="ellipse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0" name="Google Shape;230;p20"/>
            <p:cNvSpPr/>
            <p:nvPr/>
          </p:nvSpPr>
          <p:spPr>
            <a:xfrm>
              <a:off x="2608500" y="4207372"/>
              <a:ext cx="392400" cy="131400"/>
            </a:xfrm>
            <a:prstGeom prst="ellipse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1" name="Google Shape;231;p20"/>
          <p:cNvGrpSpPr/>
          <p:nvPr/>
        </p:nvGrpSpPr>
        <p:grpSpPr>
          <a:xfrm>
            <a:off x="5736737" y="7707298"/>
            <a:ext cx="291109" cy="507587"/>
            <a:chOff x="3219600" y="3588425"/>
            <a:chExt cx="541800" cy="944700"/>
          </a:xfrm>
        </p:grpSpPr>
        <p:sp>
          <p:nvSpPr>
            <p:cNvPr id="232" name="Google Shape;232;p20"/>
            <p:cNvSpPr/>
            <p:nvPr/>
          </p:nvSpPr>
          <p:spPr>
            <a:xfrm rot="5400000">
              <a:off x="3018150" y="3789875"/>
              <a:ext cx="944700" cy="541800"/>
            </a:xfrm>
            <a:prstGeom prst="rect">
              <a:avLst/>
            </a:prstGeom>
            <a:solidFill>
              <a:srgbClr val="F0F0F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3" name="Google Shape;233;p20"/>
            <p:cNvSpPr/>
            <p:nvPr/>
          </p:nvSpPr>
          <p:spPr>
            <a:xfrm>
              <a:off x="3294300" y="3896727"/>
              <a:ext cx="392400" cy="131400"/>
            </a:xfrm>
            <a:prstGeom prst="ellipse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4" name="Google Shape;234;p20"/>
            <p:cNvSpPr/>
            <p:nvPr/>
          </p:nvSpPr>
          <p:spPr>
            <a:xfrm>
              <a:off x="3294300" y="4098268"/>
              <a:ext cx="392400" cy="131400"/>
            </a:xfrm>
            <a:prstGeom prst="ellipse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5" name="Google Shape;235;p20"/>
          <p:cNvGrpSpPr/>
          <p:nvPr/>
        </p:nvGrpSpPr>
        <p:grpSpPr>
          <a:xfrm>
            <a:off x="6473719" y="7707298"/>
            <a:ext cx="291109" cy="507587"/>
            <a:chOff x="3905400" y="3588425"/>
            <a:chExt cx="541800" cy="944700"/>
          </a:xfrm>
        </p:grpSpPr>
        <p:sp>
          <p:nvSpPr>
            <p:cNvPr id="236" name="Google Shape;236;p20"/>
            <p:cNvSpPr/>
            <p:nvPr/>
          </p:nvSpPr>
          <p:spPr>
            <a:xfrm rot="5400000">
              <a:off x="3703950" y="3789875"/>
              <a:ext cx="944700" cy="541800"/>
            </a:xfrm>
            <a:prstGeom prst="rect">
              <a:avLst/>
            </a:prstGeom>
            <a:solidFill>
              <a:srgbClr val="F0F0F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7" name="Google Shape;237;p20"/>
            <p:cNvSpPr/>
            <p:nvPr/>
          </p:nvSpPr>
          <p:spPr>
            <a:xfrm>
              <a:off x="3980100" y="4005832"/>
              <a:ext cx="392400" cy="131400"/>
            </a:xfrm>
            <a:prstGeom prst="ellipse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8" name="Google Shape;238;p20"/>
          <p:cNvGrpSpPr/>
          <p:nvPr/>
        </p:nvGrpSpPr>
        <p:grpSpPr>
          <a:xfrm>
            <a:off x="4999756" y="7134106"/>
            <a:ext cx="291109" cy="507587"/>
            <a:chOff x="2533800" y="2521625"/>
            <a:chExt cx="541800" cy="944700"/>
          </a:xfrm>
        </p:grpSpPr>
        <p:sp>
          <p:nvSpPr>
            <p:cNvPr id="239" name="Google Shape;239;p20"/>
            <p:cNvSpPr/>
            <p:nvPr/>
          </p:nvSpPr>
          <p:spPr>
            <a:xfrm rot="5400000">
              <a:off x="2332350" y="2723075"/>
              <a:ext cx="944700" cy="541800"/>
            </a:xfrm>
            <a:prstGeom prst="rect">
              <a:avLst/>
            </a:prstGeom>
            <a:solidFill>
              <a:srgbClr val="F0F0F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0" name="Google Shape;240;p20"/>
            <p:cNvSpPr/>
            <p:nvPr/>
          </p:nvSpPr>
          <p:spPr>
            <a:xfrm rot="-3007802">
              <a:off x="2613635" y="2621669"/>
              <a:ext cx="362978" cy="298152"/>
            </a:xfrm>
            <a:prstGeom prst="lightningBolt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1" name="Google Shape;241;p20"/>
            <p:cNvSpPr/>
            <p:nvPr/>
          </p:nvSpPr>
          <p:spPr>
            <a:xfrm rot="-3007802">
              <a:off x="2613635" y="2850269"/>
              <a:ext cx="362978" cy="298152"/>
            </a:xfrm>
            <a:prstGeom prst="lightningBolt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2" name="Google Shape;242;p20"/>
            <p:cNvSpPr/>
            <p:nvPr/>
          </p:nvSpPr>
          <p:spPr>
            <a:xfrm rot="-3007802">
              <a:off x="2613635" y="3078869"/>
              <a:ext cx="362978" cy="298152"/>
            </a:xfrm>
            <a:prstGeom prst="lightningBolt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0"/>
          <p:cNvGrpSpPr/>
          <p:nvPr/>
        </p:nvGrpSpPr>
        <p:grpSpPr>
          <a:xfrm>
            <a:off x="6473719" y="7134106"/>
            <a:ext cx="291109" cy="507587"/>
            <a:chOff x="3905400" y="2521625"/>
            <a:chExt cx="541800" cy="944700"/>
          </a:xfrm>
        </p:grpSpPr>
        <p:sp>
          <p:nvSpPr>
            <p:cNvPr id="244" name="Google Shape;244;p20"/>
            <p:cNvSpPr/>
            <p:nvPr/>
          </p:nvSpPr>
          <p:spPr>
            <a:xfrm rot="5400000">
              <a:off x="3703950" y="2723075"/>
              <a:ext cx="944700" cy="541800"/>
            </a:xfrm>
            <a:prstGeom prst="rect">
              <a:avLst/>
            </a:prstGeom>
            <a:solidFill>
              <a:srgbClr val="F0F0F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5" name="Google Shape;245;p20"/>
            <p:cNvSpPr/>
            <p:nvPr/>
          </p:nvSpPr>
          <p:spPr>
            <a:xfrm rot="-3007802">
              <a:off x="3985235" y="2850269"/>
              <a:ext cx="362978" cy="298152"/>
            </a:xfrm>
            <a:prstGeom prst="lightningBolt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0"/>
          <p:cNvGrpSpPr/>
          <p:nvPr/>
        </p:nvGrpSpPr>
        <p:grpSpPr>
          <a:xfrm>
            <a:off x="5736737" y="7134106"/>
            <a:ext cx="291109" cy="507587"/>
            <a:chOff x="3219600" y="2521625"/>
            <a:chExt cx="541800" cy="944700"/>
          </a:xfrm>
        </p:grpSpPr>
        <p:sp>
          <p:nvSpPr>
            <p:cNvPr id="247" name="Google Shape;247;p20"/>
            <p:cNvSpPr/>
            <p:nvPr/>
          </p:nvSpPr>
          <p:spPr>
            <a:xfrm rot="5400000">
              <a:off x="3018150" y="2723075"/>
              <a:ext cx="944700" cy="541800"/>
            </a:xfrm>
            <a:prstGeom prst="rect">
              <a:avLst/>
            </a:prstGeom>
            <a:solidFill>
              <a:srgbClr val="F0F0F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8" name="Google Shape;248;p20"/>
            <p:cNvSpPr/>
            <p:nvPr/>
          </p:nvSpPr>
          <p:spPr>
            <a:xfrm rot="-3007802">
              <a:off x="3299435" y="2719456"/>
              <a:ext cx="362978" cy="298152"/>
            </a:xfrm>
            <a:prstGeom prst="lightningBolt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9" name="Google Shape;249;p20"/>
            <p:cNvSpPr/>
            <p:nvPr/>
          </p:nvSpPr>
          <p:spPr>
            <a:xfrm rot="-3007802">
              <a:off x="3299435" y="2948056"/>
              <a:ext cx="362978" cy="298152"/>
            </a:xfrm>
            <a:prstGeom prst="lightningBolt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0" name="Google Shape;250;p20"/>
          <p:cNvGrpSpPr/>
          <p:nvPr/>
        </p:nvGrpSpPr>
        <p:grpSpPr>
          <a:xfrm>
            <a:off x="4631318" y="6560914"/>
            <a:ext cx="291109" cy="507587"/>
            <a:chOff x="476400" y="1454825"/>
            <a:chExt cx="541800" cy="944700"/>
          </a:xfrm>
        </p:grpSpPr>
        <p:sp>
          <p:nvSpPr>
            <p:cNvPr id="251" name="Google Shape;251;p20"/>
            <p:cNvSpPr/>
            <p:nvPr/>
          </p:nvSpPr>
          <p:spPr>
            <a:xfrm rot="5400000">
              <a:off x="274950" y="1656275"/>
              <a:ext cx="944700" cy="541800"/>
            </a:xfrm>
            <a:prstGeom prst="rect">
              <a:avLst/>
            </a:prstGeom>
            <a:solidFill>
              <a:srgbClr val="F0F0F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2" name="Google Shape;252;p20"/>
            <p:cNvSpPr/>
            <p:nvPr/>
          </p:nvSpPr>
          <p:spPr>
            <a:xfrm>
              <a:off x="544364" y="1650786"/>
              <a:ext cx="402900" cy="152400"/>
            </a:xfrm>
            <a:prstGeom prst="diamond">
              <a:avLst/>
            </a:prstGeom>
            <a:solidFill>
              <a:srgbClr val="845AD9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3" name="Google Shape;253;p20"/>
            <p:cNvSpPr/>
            <p:nvPr/>
          </p:nvSpPr>
          <p:spPr>
            <a:xfrm>
              <a:off x="544364" y="1852171"/>
              <a:ext cx="402900" cy="152400"/>
            </a:xfrm>
            <a:prstGeom prst="diamond">
              <a:avLst/>
            </a:prstGeom>
            <a:solidFill>
              <a:srgbClr val="845AD9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4" name="Google Shape;254;p20"/>
            <p:cNvSpPr/>
            <p:nvPr/>
          </p:nvSpPr>
          <p:spPr>
            <a:xfrm>
              <a:off x="544364" y="2053557"/>
              <a:ext cx="402900" cy="152400"/>
            </a:xfrm>
            <a:prstGeom prst="diamond">
              <a:avLst/>
            </a:prstGeom>
            <a:solidFill>
              <a:srgbClr val="845AD9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0"/>
          <p:cNvGrpSpPr/>
          <p:nvPr/>
        </p:nvGrpSpPr>
        <p:grpSpPr>
          <a:xfrm>
            <a:off x="5368299" y="6560914"/>
            <a:ext cx="291109" cy="507587"/>
            <a:chOff x="1162200" y="1454825"/>
            <a:chExt cx="541800" cy="944700"/>
          </a:xfrm>
        </p:grpSpPr>
        <p:sp>
          <p:nvSpPr>
            <p:cNvPr id="256" name="Google Shape;256;p20"/>
            <p:cNvSpPr/>
            <p:nvPr/>
          </p:nvSpPr>
          <p:spPr>
            <a:xfrm rot="5400000">
              <a:off x="960750" y="1656275"/>
              <a:ext cx="944700" cy="541800"/>
            </a:xfrm>
            <a:prstGeom prst="rect">
              <a:avLst/>
            </a:prstGeom>
            <a:solidFill>
              <a:srgbClr val="F0F0F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7" name="Google Shape;257;p20"/>
            <p:cNvSpPr/>
            <p:nvPr/>
          </p:nvSpPr>
          <p:spPr>
            <a:xfrm>
              <a:off x="1230164" y="1765086"/>
              <a:ext cx="402900" cy="152400"/>
            </a:xfrm>
            <a:prstGeom prst="diamond">
              <a:avLst/>
            </a:prstGeom>
            <a:solidFill>
              <a:srgbClr val="845AD9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8" name="Google Shape;258;p20"/>
            <p:cNvSpPr/>
            <p:nvPr/>
          </p:nvSpPr>
          <p:spPr>
            <a:xfrm>
              <a:off x="1230164" y="1966471"/>
              <a:ext cx="402900" cy="152400"/>
            </a:xfrm>
            <a:prstGeom prst="diamond">
              <a:avLst/>
            </a:prstGeom>
            <a:solidFill>
              <a:srgbClr val="845AD9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0"/>
          <p:cNvGrpSpPr/>
          <p:nvPr/>
        </p:nvGrpSpPr>
        <p:grpSpPr>
          <a:xfrm>
            <a:off x="4631318" y="7707298"/>
            <a:ext cx="291109" cy="507587"/>
            <a:chOff x="476400" y="3588425"/>
            <a:chExt cx="541800" cy="944700"/>
          </a:xfrm>
        </p:grpSpPr>
        <p:sp>
          <p:nvSpPr>
            <p:cNvPr id="260" name="Google Shape;260;p20"/>
            <p:cNvSpPr/>
            <p:nvPr/>
          </p:nvSpPr>
          <p:spPr>
            <a:xfrm rot="5400000">
              <a:off x="274950" y="3789875"/>
              <a:ext cx="944700" cy="541800"/>
            </a:xfrm>
            <a:prstGeom prst="rect">
              <a:avLst/>
            </a:prstGeom>
            <a:solidFill>
              <a:srgbClr val="F0F0F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1" name="Google Shape;261;p20"/>
            <p:cNvSpPr/>
            <p:nvPr/>
          </p:nvSpPr>
          <p:spPr>
            <a:xfrm>
              <a:off x="551100" y="3804292"/>
              <a:ext cx="392400" cy="131400"/>
            </a:xfrm>
            <a:prstGeom prst="ellipse">
              <a:avLst/>
            </a:prstGeom>
            <a:solidFill>
              <a:srgbClr val="845AD9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2" name="Google Shape;262;p20"/>
            <p:cNvSpPr/>
            <p:nvPr/>
          </p:nvSpPr>
          <p:spPr>
            <a:xfrm>
              <a:off x="551100" y="4005832"/>
              <a:ext cx="392400" cy="131400"/>
            </a:xfrm>
            <a:prstGeom prst="ellipse">
              <a:avLst/>
            </a:prstGeom>
            <a:solidFill>
              <a:srgbClr val="845AD9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3" name="Google Shape;263;p20"/>
            <p:cNvSpPr/>
            <p:nvPr/>
          </p:nvSpPr>
          <p:spPr>
            <a:xfrm>
              <a:off x="551100" y="4207372"/>
              <a:ext cx="392400" cy="131400"/>
            </a:xfrm>
            <a:prstGeom prst="ellipse">
              <a:avLst/>
            </a:prstGeom>
            <a:solidFill>
              <a:srgbClr val="845AD9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4" name="Google Shape;264;p20"/>
          <p:cNvGrpSpPr/>
          <p:nvPr/>
        </p:nvGrpSpPr>
        <p:grpSpPr>
          <a:xfrm>
            <a:off x="5368299" y="7707298"/>
            <a:ext cx="291109" cy="507587"/>
            <a:chOff x="1162200" y="3588425"/>
            <a:chExt cx="541800" cy="944700"/>
          </a:xfrm>
        </p:grpSpPr>
        <p:sp>
          <p:nvSpPr>
            <p:cNvPr id="265" name="Google Shape;265;p20"/>
            <p:cNvSpPr/>
            <p:nvPr/>
          </p:nvSpPr>
          <p:spPr>
            <a:xfrm rot="5400000">
              <a:off x="960750" y="3789875"/>
              <a:ext cx="944700" cy="541800"/>
            </a:xfrm>
            <a:prstGeom prst="rect">
              <a:avLst/>
            </a:prstGeom>
            <a:solidFill>
              <a:srgbClr val="F0F0F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6" name="Google Shape;266;p20"/>
            <p:cNvSpPr/>
            <p:nvPr/>
          </p:nvSpPr>
          <p:spPr>
            <a:xfrm>
              <a:off x="1236900" y="3896727"/>
              <a:ext cx="392400" cy="131400"/>
            </a:xfrm>
            <a:prstGeom prst="ellipse">
              <a:avLst/>
            </a:prstGeom>
            <a:solidFill>
              <a:srgbClr val="845AD9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7" name="Google Shape;267;p20"/>
            <p:cNvSpPr/>
            <p:nvPr/>
          </p:nvSpPr>
          <p:spPr>
            <a:xfrm>
              <a:off x="1236900" y="4098268"/>
              <a:ext cx="392400" cy="131400"/>
            </a:xfrm>
            <a:prstGeom prst="ellipse">
              <a:avLst/>
            </a:prstGeom>
            <a:solidFill>
              <a:srgbClr val="845AD9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0"/>
          <p:cNvGrpSpPr/>
          <p:nvPr/>
        </p:nvGrpSpPr>
        <p:grpSpPr>
          <a:xfrm>
            <a:off x="4631318" y="7134106"/>
            <a:ext cx="291109" cy="507587"/>
            <a:chOff x="476400" y="2521625"/>
            <a:chExt cx="541800" cy="944700"/>
          </a:xfrm>
        </p:grpSpPr>
        <p:sp>
          <p:nvSpPr>
            <p:cNvPr id="269" name="Google Shape;269;p20"/>
            <p:cNvSpPr/>
            <p:nvPr/>
          </p:nvSpPr>
          <p:spPr>
            <a:xfrm rot="5400000">
              <a:off x="274950" y="2723075"/>
              <a:ext cx="944700" cy="541800"/>
            </a:xfrm>
            <a:prstGeom prst="rect">
              <a:avLst/>
            </a:prstGeom>
            <a:solidFill>
              <a:srgbClr val="F0F0F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0" name="Google Shape;270;p20"/>
            <p:cNvSpPr/>
            <p:nvPr/>
          </p:nvSpPr>
          <p:spPr>
            <a:xfrm rot="-3007802">
              <a:off x="556235" y="2621669"/>
              <a:ext cx="362978" cy="298152"/>
            </a:xfrm>
            <a:prstGeom prst="lightningBolt">
              <a:avLst/>
            </a:prstGeom>
            <a:solidFill>
              <a:srgbClr val="845AD9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1" name="Google Shape;271;p20"/>
            <p:cNvSpPr/>
            <p:nvPr/>
          </p:nvSpPr>
          <p:spPr>
            <a:xfrm rot="-3007802">
              <a:off x="556235" y="2850269"/>
              <a:ext cx="362978" cy="298152"/>
            </a:xfrm>
            <a:prstGeom prst="lightningBolt">
              <a:avLst/>
            </a:prstGeom>
            <a:solidFill>
              <a:srgbClr val="845AD9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2" name="Google Shape;272;p20"/>
            <p:cNvSpPr/>
            <p:nvPr/>
          </p:nvSpPr>
          <p:spPr>
            <a:xfrm rot="-3007802">
              <a:off x="556235" y="3078869"/>
              <a:ext cx="362978" cy="298152"/>
            </a:xfrm>
            <a:prstGeom prst="lightningBolt">
              <a:avLst/>
            </a:prstGeom>
            <a:solidFill>
              <a:srgbClr val="845AD9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3" name="Google Shape;273;p20"/>
          <p:cNvGrpSpPr/>
          <p:nvPr/>
        </p:nvGrpSpPr>
        <p:grpSpPr>
          <a:xfrm>
            <a:off x="5368299" y="7134106"/>
            <a:ext cx="291109" cy="507587"/>
            <a:chOff x="1162200" y="2521625"/>
            <a:chExt cx="541800" cy="944700"/>
          </a:xfrm>
        </p:grpSpPr>
        <p:sp>
          <p:nvSpPr>
            <p:cNvPr id="274" name="Google Shape;274;p20"/>
            <p:cNvSpPr/>
            <p:nvPr/>
          </p:nvSpPr>
          <p:spPr>
            <a:xfrm rot="5400000">
              <a:off x="960750" y="2723075"/>
              <a:ext cx="944700" cy="541800"/>
            </a:xfrm>
            <a:prstGeom prst="rect">
              <a:avLst/>
            </a:prstGeom>
            <a:solidFill>
              <a:srgbClr val="F0F0F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5" name="Google Shape;275;p20"/>
            <p:cNvSpPr/>
            <p:nvPr/>
          </p:nvSpPr>
          <p:spPr>
            <a:xfrm rot="-3007802">
              <a:off x="1242035" y="2719456"/>
              <a:ext cx="362978" cy="298152"/>
            </a:xfrm>
            <a:prstGeom prst="lightningBolt">
              <a:avLst/>
            </a:prstGeom>
            <a:solidFill>
              <a:srgbClr val="845AD9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6" name="Google Shape;276;p20"/>
            <p:cNvSpPr/>
            <p:nvPr/>
          </p:nvSpPr>
          <p:spPr>
            <a:xfrm rot="-3007802">
              <a:off x="1242035" y="2948056"/>
              <a:ext cx="362978" cy="298152"/>
            </a:xfrm>
            <a:prstGeom prst="lightningBolt">
              <a:avLst/>
            </a:prstGeom>
            <a:solidFill>
              <a:srgbClr val="845AD9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77" name="Google Shape;277;p20"/>
          <p:cNvSpPr txBox="1"/>
          <p:nvPr/>
        </p:nvSpPr>
        <p:spPr>
          <a:xfrm>
            <a:off x="617423" y="6550294"/>
            <a:ext cx="14358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three shapes: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78" name="Google Shape;278;p20"/>
          <p:cNvGrpSpPr/>
          <p:nvPr/>
        </p:nvGrpSpPr>
        <p:grpSpPr>
          <a:xfrm>
            <a:off x="4266268" y="6560914"/>
            <a:ext cx="291109" cy="507587"/>
            <a:chOff x="3219600" y="1454825"/>
            <a:chExt cx="541800" cy="944700"/>
          </a:xfrm>
        </p:grpSpPr>
        <p:sp>
          <p:nvSpPr>
            <p:cNvPr id="279" name="Google Shape;279;p20"/>
            <p:cNvSpPr/>
            <p:nvPr/>
          </p:nvSpPr>
          <p:spPr>
            <a:xfrm rot="5400000">
              <a:off x="3018150" y="1656275"/>
              <a:ext cx="944700" cy="541800"/>
            </a:xfrm>
            <a:prstGeom prst="rect">
              <a:avLst/>
            </a:prstGeom>
            <a:solidFill>
              <a:srgbClr val="F0F0F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0" name="Google Shape;280;p20"/>
            <p:cNvSpPr/>
            <p:nvPr/>
          </p:nvSpPr>
          <p:spPr>
            <a:xfrm>
              <a:off x="3287564" y="1765086"/>
              <a:ext cx="402900" cy="152400"/>
            </a:xfrm>
            <a:prstGeom prst="diamond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1" name="Google Shape;281;p20"/>
            <p:cNvSpPr/>
            <p:nvPr/>
          </p:nvSpPr>
          <p:spPr>
            <a:xfrm>
              <a:off x="3287564" y="1966471"/>
              <a:ext cx="402900" cy="152400"/>
            </a:xfrm>
            <a:prstGeom prst="diamond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0"/>
          <p:cNvGrpSpPr/>
          <p:nvPr/>
        </p:nvGrpSpPr>
        <p:grpSpPr>
          <a:xfrm>
            <a:off x="4266268" y="7707298"/>
            <a:ext cx="291109" cy="507587"/>
            <a:chOff x="3219600" y="3588425"/>
            <a:chExt cx="541800" cy="944700"/>
          </a:xfrm>
        </p:grpSpPr>
        <p:sp>
          <p:nvSpPr>
            <p:cNvPr id="283" name="Google Shape;283;p20"/>
            <p:cNvSpPr/>
            <p:nvPr/>
          </p:nvSpPr>
          <p:spPr>
            <a:xfrm rot="5400000">
              <a:off x="3018150" y="3789875"/>
              <a:ext cx="944700" cy="541800"/>
            </a:xfrm>
            <a:prstGeom prst="rect">
              <a:avLst/>
            </a:prstGeom>
            <a:solidFill>
              <a:srgbClr val="F0F0F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4" name="Google Shape;284;p20"/>
            <p:cNvSpPr/>
            <p:nvPr/>
          </p:nvSpPr>
          <p:spPr>
            <a:xfrm>
              <a:off x="3294300" y="3896727"/>
              <a:ext cx="392400" cy="131400"/>
            </a:xfrm>
            <a:prstGeom prst="ellipse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5" name="Google Shape;285;p20"/>
            <p:cNvSpPr/>
            <p:nvPr/>
          </p:nvSpPr>
          <p:spPr>
            <a:xfrm>
              <a:off x="3294300" y="4098268"/>
              <a:ext cx="392400" cy="131400"/>
            </a:xfrm>
            <a:prstGeom prst="ellipse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6" name="Google Shape;286;p20"/>
          <p:cNvGrpSpPr/>
          <p:nvPr/>
        </p:nvGrpSpPr>
        <p:grpSpPr>
          <a:xfrm>
            <a:off x="4266268" y="7134106"/>
            <a:ext cx="291109" cy="507587"/>
            <a:chOff x="3219600" y="2521625"/>
            <a:chExt cx="541800" cy="944700"/>
          </a:xfrm>
        </p:grpSpPr>
        <p:sp>
          <p:nvSpPr>
            <p:cNvPr id="287" name="Google Shape;287;p20"/>
            <p:cNvSpPr/>
            <p:nvPr/>
          </p:nvSpPr>
          <p:spPr>
            <a:xfrm rot="5400000">
              <a:off x="3018150" y="2723075"/>
              <a:ext cx="944700" cy="541800"/>
            </a:xfrm>
            <a:prstGeom prst="rect">
              <a:avLst/>
            </a:prstGeom>
            <a:solidFill>
              <a:srgbClr val="F0F0F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8" name="Google Shape;288;p20"/>
            <p:cNvSpPr/>
            <p:nvPr/>
          </p:nvSpPr>
          <p:spPr>
            <a:xfrm rot="-3007802">
              <a:off x="3299435" y="2719456"/>
              <a:ext cx="362978" cy="298152"/>
            </a:xfrm>
            <a:prstGeom prst="lightningBolt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9" name="Google Shape;289;p20"/>
            <p:cNvSpPr/>
            <p:nvPr/>
          </p:nvSpPr>
          <p:spPr>
            <a:xfrm rot="-3007802">
              <a:off x="3299435" y="2948056"/>
              <a:ext cx="362978" cy="298152"/>
            </a:xfrm>
            <a:prstGeom prst="lightningBolt">
              <a:avLst/>
            </a:prstGeom>
            <a:noFill/>
            <a:ln w="19050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0" name="Google Shape;290;p20"/>
          <p:cNvGrpSpPr/>
          <p:nvPr/>
        </p:nvGrpSpPr>
        <p:grpSpPr>
          <a:xfrm>
            <a:off x="3897830" y="6560914"/>
            <a:ext cx="291109" cy="507587"/>
            <a:chOff x="1162200" y="1454825"/>
            <a:chExt cx="541800" cy="944700"/>
          </a:xfrm>
        </p:grpSpPr>
        <p:sp>
          <p:nvSpPr>
            <p:cNvPr id="291" name="Google Shape;291;p20"/>
            <p:cNvSpPr/>
            <p:nvPr/>
          </p:nvSpPr>
          <p:spPr>
            <a:xfrm rot="5400000">
              <a:off x="960750" y="1656275"/>
              <a:ext cx="944700" cy="541800"/>
            </a:xfrm>
            <a:prstGeom prst="rect">
              <a:avLst/>
            </a:prstGeom>
            <a:solidFill>
              <a:srgbClr val="F0F0F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2" name="Google Shape;292;p20"/>
            <p:cNvSpPr/>
            <p:nvPr/>
          </p:nvSpPr>
          <p:spPr>
            <a:xfrm>
              <a:off x="1230164" y="1765086"/>
              <a:ext cx="402900" cy="152400"/>
            </a:xfrm>
            <a:prstGeom prst="diamond">
              <a:avLst/>
            </a:prstGeom>
            <a:solidFill>
              <a:srgbClr val="845AD9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3" name="Google Shape;293;p20"/>
            <p:cNvSpPr/>
            <p:nvPr/>
          </p:nvSpPr>
          <p:spPr>
            <a:xfrm>
              <a:off x="1230164" y="1966471"/>
              <a:ext cx="402900" cy="152400"/>
            </a:xfrm>
            <a:prstGeom prst="diamond">
              <a:avLst/>
            </a:prstGeom>
            <a:solidFill>
              <a:srgbClr val="845AD9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4" name="Google Shape;294;p20"/>
          <p:cNvGrpSpPr/>
          <p:nvPr/>
        </p:nvGrpSpPr>
        <p:grpSpPr>
          <a:xfrm>
            <a:off x="3897830" y="7707298"/>
            <a:ext cx="291109" cy="507587"/>
            <a:chOff x="1162200" y="3588425"/>
            <a:chExt cx="541800" cy="944700"/>
          </a:xfrm>
        </p:grpSpPr>
        <p:sp>
          <p:nvSpPr>
            <p:cNvPr id="295" name="Google Shape;295;p20"/>
            <p:cNvSpPr/>
            <p:nvPr/>
          </p:nvSpPr>
          <p:spPr>
            <a:xfrm rot="5400000">
              <a:off x="960750" y="3789875"/>
              <a:ext cx="944700" cy="541800"/>
            </a:xfrm>
            <a:prstGeom prst="rect">
              <a:avLst/>
            </a:prstGeom>
            <a:solidFill>
              <a:srgbClr val="F0F0F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6" name="Google Shape;296;p20"/>
            <p:cNvSpPr/>
            <p:nvPr/>
          </p:nvSpPr>
          <p:spPr>
            <a:xfrm>
              <a:off x="1236900" y="3896727"/>
              <a:ext cx="392400" cy="131400"/>
            </a:xfrm>
            <a:prstGeom prst="ellipse">
              <a:avLst/>
            </a:prstGeom>
            <a:solidFill>
              <a:srgbClr val="845AD9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7" name="Google Shape;297;p20"/>
            <p:cNvSpPr/>
            <p:nvPr/>
          </p:nvSpPr>
          <p:spPr>
            <a:xfrm>
              <a:off x="1236900" y="4098268"/>
              <a:ext cx="392400" cy="131400"/>
            </a:xfrm>
            <a:prstGeom prst="ellipse">
              <a:avLst/>
            </a:prstGeom>
            <a:solidFill>
              <a:srgbClr val="845AD9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8" name="Google Shape;298;p20"/>
          <p:cNvGrpSpPr/>
          <p:nvPr/>
        </p:nvGrpSpPr>
        <p:grpSpPr>
          <a:xfrm>
            <a:off x="3897830" y="7134106"/>
            <a:ext cx="291109" cy="507587"/>
            <a:chOff x="1162200" y="2521625"/>
            <a:chExt cx="541800" cy="944700"/>
          </a:xfrm>
        </p:grpSpPr>
        <p:sp>
          <p:nvSpPr>
            <p:cNvPr id="299" name="Google Shape;299;p20"/>
            <p:cNvSpPr/>
            <p:nvPr/>
          </p:nvSpPr>
          <p:spPr>
            <a:xfrm rot="5400000">
              <a:off x="960750" y="2723075"/>
              <a:ext cx="944700" cy="541800"/>
            </a:xfrm>
            <a:prstGeom prst="rect">
              <a:avLst/>
            </a:prstGeom>
            <a:solidFill>
              <a:srgbClr val="F0F0F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0" name="Google Shape;300;p20"/>
            <p:cNvSpPr/>
            <p:nvPr/>
          </p:nvSpPr>
          <p:spPr>
            <a:xfrm rot="-3007802">
              <a:off x="1242035" y="2719456"/>
              <a:ext cx="362978" cy="298152"/>
            </a:xfrm>
            <a:prstGeom prst="lightningBolt">
              <a:avLst/>
            </a:prstGeom>
            <a:solidFill>
              <a:srgbClr val="845AD9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1" name="Google Shape;301;p20"/>
            <p:cNvSpPr/>
            <p:nvPr/>
          </p:nvSpPr>
          <p:spPr>
            <a:xfrm rot="-3007802">
              <a:off x="1242035" y="2948056"/>
              <a:ext cx="362978" cy="298152"/>
            </a:xfrm>
            <a:prstGeom prst="lightningBolt">
              <a:avLst/>
            </a:prstGeom>
            <a:solidFill>
              <a:srgbClr val="845AD9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02" name="Google Shape;302;p20"/>
          <p:cNvSpPr/>
          <p:nvPr/>
        </p:nvSpPr>
        <p:spPr>
          <a:xfrm>
            <a:off x="3934382" y="6944801"/>
            <a:ext cx="216600" cy="81900"/>
          </a:xfrm>
          <a:prstGeom prst="diamond">
            <a:avLst/>
          </a:prstGeom>
          <a:solidFill>
            <a:srgbClr val="845AD9"/>
          </a:solidFill>
          <a:ln w="952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0"/>
          <p:cNvSpPr/>
          <p:nvPr/>
        </p:nvSpPr>
        <p:spPr>
          <a:xfrm>
            <a:off x="3934382" y="6618030"/>
            <a:ext cx="216600" cy="81900"/>
          </a:xfrm>
          <a:prstGeom prst="diamond">
            <a:avLst/>
          </a:prstGeom>
          <a:solidFill>
            <a:srgbClr val="845AD9"/>
          </a:solidFill>
          <a:ln w="952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0"/>
          <p:cNvSpPr/>
          <p:nvPr/>
        </p:nvSpPr>
        <p:spPr>
          <a:xfrm>
            <a:off x="4302878" y="6618743"/>
            <a:ext cx="216600" cy="81900"/>
          </a:xfrm>
          <a:prstGeom prst="diamond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0"/>
          <p:cNvSpPr/>
          <p:nvPr/>
        </p:nvSpPr>
        <p:spPr>
          <a:xfrm rot="-3007279">
            <a:off x="4309259" y="7131563"/>
            <a:ext cx="195058" cy="160211"/>
          </a:xfrm>
          <a:prstGeom prst="lightningBol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0"/>
          <p:cNvSpPr/>
          <p:nvPr/>
        </p:nvSpPr>
        <p:spPr>
          <a:xfrm>
            <a:off x="4306497" y="7764134"/>
            <a:ext cx="210900" cy="70500"/>
          </a:xfrm>
          <a:prstGeom prst="ellipse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20"/>
          <p:cNvSpPr/>
          <p:nvPr/>
        </p:nvSpPr>
        <p:spPr>
          <a:xfrm>
            <a:off x="4302878" y="6944801"/>
            <a:ext cx="216600" cy="81900"/>
          </a:xfrm>
          <a:prstGeom prst="diamond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0"/>
          <p:cNvSpPr/>
          <p:nvPr/>
        </p:nvSpPr>
        <p:spPr>
          <a:xfrm rot="-3007279">
            <a:off x="4309259" y="7472244"/>
            <a:ext cx="195058" cy="160211"/>
          </a:xfrm>
          <a:prstGeom prst="lightningBol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0"/>
          <p:cNvSpPr/>
          <p:nvPr/>
        </p:nvSpPr>
        <p:spPr>
          <a:xfrm>
            <a:off x="4306497" y="8090275"/>
            <a:ext cx="210900" cy="70500"/>
          </a:xfrm>
          <a:prstGeom prst="ellipse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" name="Google Shape;310;p20"/>
          <p:cNvSpPr/>
          <p:nvPr/>
        </p:nvSpPr>
        <p:spPr>
          <a:xfrm rot="-3007279">
            <a:off x="3940763" y="7131563"/>
            <a:ext cx="195058" cy="160211"/>
          </a:xfrm>
          <a:prstGeom prst="lightningBolt">
            <a:avLst/>
          </a:prstGeom>
          <a:solidFill>
            <a:srgbClr val="845AD9"/>
          </a:solidFill>
          <a:ln w="952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0"/>
          <p:cNvSpPr/>
          <p:nvPr/>
        </p:nvSpPr>
        <p:spPr>
          <a:xfrm rot="-3007279">
            <a:off x="3940763" y="7472244"/>
            <a:ext cx="195058" cy="160211"/>
          </a:xfrm>
          <a:prstGeom prst="lightningBolt">
            <a:avLst/>
          </a:prstGeom>
          <a:solidFill>
            <a:srgbClr val="845AD9"/>
          </a:solidFill>
          <a:ln w="952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0"/>
          <p:cNvSpPr/>
          <p:nvPr/>
        </p:nvSpPr>
        <p:spPr>
          <a:xfrm>
            <a:off x="3938001" y="7764134"/>
            <a:ext cx="210900" cy="70500"/>
          </a:xfrm>
          <a:prstGeom prst="ellipse">
            <a:avLst/>
          </a:prstGeom>
          <a:solidFill>
            <a:srgbClr val="845AD9"/>
          </a:solidFill>
          <a:ln w="952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0"/>
          <p:cNvSpPr/>
          <p:nvPr/>
        </p:nvSpPr>
        <p:spPr>
          <a:xfrm>
            <a:off x="3938001" y="8090275"/>
            <a:ext cx="210900" cy="70500"/>
          </a:xfrm>
          <a:prstGeom prst="ellipse">
            <a:avLst/>
          </a:prstGeom>
          <a:solidFill>
            <a:srgbClr val="845AD9"/>
          </a:solidFill>
          <a:ln w="952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0"/>
          <p:cNvSpPr/>
          <p:nvPr/>
        </p:nvSpPr>
        <p:spPr>
          <a:xfrm>
            <a:off x="2066437" y="6601999"/>
            <a:ext cx="216600" cy="81900"/>
          </a:xfrm>
          <a:prstGeom prst="diamond">
            <a:avLst/>
          </a:prstGeom>
          <a:solidFill>
            <a:srgbClr val="845AD9"/>
          </a:solidFill>
          <a:ln w="952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0"/>
          <p:cNvSpPr/>
          <p:nvPr/>
        </p:nvSpPr>
        <p:spPr>
          <a:xfrm rot="-3007279">
            <a:off x="2072818" y="6799741"/>
            <a:ext cx="195058" cy="160211"/>
          </a:xfrm>
          <a:prstGeom prst="lightningBolt">
            <a:avLst/>
          </a:prstGeom>
          <a:solidFill>
            <a:srgbClr val="845AD9"/>
          </a:solidFill>
          <a:ln w="952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0"/>
          <p:cNvSpPr/>
          <p:nvPr/>
        </p:nvSpPr>
        <p:spPr>
          <a:xfrm>
            <a:off x="2070056" y="7056570"/>
            <a:ext cx="210900" cy="70500"/>
          </a:xfrm>
          <a:prstGeom prst="ellipse">
            <a:avLst/>
          </a:prstGeom>
          <a:solidFill>
            <a:srgbClr val="845AD9"/>
          </a:solidFill>
          <a:ln w="952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0"/>
          <p:cNvSpPr txBox="1"/>
          <p:nvPr/>
        </p:nvSpPr>
        <p:spPr>
          <a:xfrm>
            <a:off x="2338680" y="6555784"/>
            <a:ext cx="14358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rhombus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0"/>
          <p:cNvSpPr txBox="1"/>
          <p:nvPr/>
        </p:nvSpPr>
        <p:spPr>
          <a:xfrm>
            <a:off x="2338680" y="6779122"/>
            <a:ext cx="14358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lightning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" name="Google Shape;319;p20"/>
          <p:cNvSpPr txBox="1"/>
          <p:nvPr/>
        </p:nvSpPr>
        <p:spPr>
          <a:xfrm>
            <a:off x="2338682" y="7013448"/>
            <a:ext cx="4284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oval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20"/>
          <p:cNvSpPr txBox="1"/>
          <p:nvPr/>
        </p:nvSpPr>
        <p:spPr>
          <a:xfrm>
            <a:off x="617423" y="7350751"/>
            <a:ext cx="27318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Shapes are either solid or hollow.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20"/>
          <p:cNvSpPr/>
          <p:nvPr/>
        </p:nvSpPr>
        <p:spPr>
          <a:xfrm>
            <a:off x="957408" y="7612799"/>
            <a:ext cx="216600" cy="81900"/>
          </a:xfrm>
          <a:prstGeom prst="diamond">
            <a:avLst/>
          </a:prstGeom>
          <a:solidFill>
            <a:srgbClr val="845AD9"/>
          </a:solidFill>
          <a:ln w="952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" name="Google Shape;322;p20"/>
          <p:cNvSpPr/>
          <p:nvPr/>
        </p:nvSpPr>
        <p:spPr>
          <a:xfrm>
            <a:off x="2046645" y="7607308"/>
            <a:ext cx="216600" cy="81900"/>
          </a:xfrm>
          <a:prstGeom prst="diamond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20"/>
          <p:cNvSpPr txBox="1"/>
          <p:nvPr/>
        </p:nvSpPr>
        <p:spPr>
          <a:xfrm>
            <a:off x="617423" y="7558448"/>
            <a:ext cx="3126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E.g.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20"/>
          <p:cNvSpPr txBox="1"/>
          <p:nvPr/>
        </p:nvSpPr>
        <p:spPr>
          <a:xfrm>
            <a:off x="1238024" y="7568598"/>
            <a:ext cx="6618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solid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" name="Google Shape;325;p20"/>
          <p:cNvSpPr txBox="1"/>
          <p:nvPr/>
        </p:nvSpPr>
        <p:spPr>
          <a:xfrm>
            <a:off x="2327260" y="7568598"/>
            <a:ext cx="6618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hollow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6" name="Google Shape;326;p20"/>
          <p:cNvSpPr txBox="1"/>
          <p:nvPr/>
        </p:nvSpPr>
        <p:spPr>
          <a:xfrm>
            <a:off x="495925" y="7882000"/>
            <a:ext cx="3096000" cy="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From the list of events below, find sets of events where the probabilities sum to 1.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0"/>
          <p:cNvSpPr txBox="1"/>
          <p:nvPr/>
        </p:nvSpPr>
        <p:spPr>
          <a:xfrm>
            <a:off x="510528" y="8434501"/>
            <a:ext cx="16749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= {rhombus}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0"/>
          <p:cNvSpPr txBox="1"/>
          <p:nvPr/>
        </p:nvSpPr>
        <p:spPr>
          <a:xfrm>
            <a:off x="2216998" y="8434501"/>
            <a:ext cx="16749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 = {1 shape}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0"/>
          <p:cNvSpPr txBox="1"/>
          <p:nvPr/>
        </p:nvSpPr>
        <p:spPr>
          <a:xfrm>
            <a:off x="3760083" y="8434501"/>
            <a:ext cx="16749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 = {solid}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0"/>
          <p:cNvSpPr txBox="1"/>
          <p:nvPr/>
        </p:nvSpPr>
        <p:spPr>
          <a:xfrm>
            <a:off x="5412092" y="8424351"/>
            <a:ext cx="16749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 = {lightning}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1" name="Google Shape;331;p20"/>
          <p:cNvSpPr txBox="1"/>
          <p:nvPr/>
        </p:nvSpPr>
        <p:spPr>
          <a:xfrm>
            <a:off x="510528" y="8706811"/>
            <a:ext cx="16749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 = {2 shapes}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" name="Google Shape;332;p20"/>
          <p:cNvSpPr txBox="1"/>
          <p:nvPr/>
        </p:nvSpPr>
        <p:spPr>
          <a:xfrm>
            <a:off x="2216998" y="8706811"/>
            <a:ext cx="16749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 = {hollow}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20"/>
          <p:cNvSpPr txBox="1"/>
          <p:nvPr/>
        </p:nvSpPr>
        <p:spPr>
          <a:xfrm>
            <a:off x="3760083" y="8706811"/>
            <a:ext cx="16749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 = {3 shapes}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20"/>
          <p:cNvSpPr txBox="1"/>
          <p:nvPr/>
        </p:nvSpPr>
        <p:spPr>
          <a:xfrm>
            <a:off x="5412092" y="8696661"/>
            <a:ext cx="16749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 = {oval}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20"/>
          <p:cNvSpPr txBox="1"/>
          <p:nvPr/>
        </p:nvSpPr>
        <p:spPr>
          <a:xfrm>
            <a:off x="510528" y="8979120"/>
            <a:ext cx="17613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= {4 shapes}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20"/>
          <p:cNvSpPr txBox="1"/>
          <p:nvPr/>
        </p:nvSpPr>
        <p:spPr>
          <a:xfrm>
            <a:off x="2216998" y="8979120"/>
            <a:ext cx="16749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 = {not oval}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20"/>
          <p:cNvSpPr txBox="1"/>
          <p:nvPr/>
        </p:nvSpPr>
        <p:spPr>
          <a:xfrm>
            <a:off x="3760083" y="8979120"/>
            <a:ext cx="19305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K = {more than 1 shape}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20"/>
          <p:cNvSpPr txBox="1"/>
          <p:nvPr/>
        </p:nvSpPr>
        <p:spPr>
          <a:xfrm>
            <a:off x="504450" y="9203625"/>
            <a:ext cx="2601900" cy="5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A, D and H  {rhombus, lightning, oval}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9" name="Google Shape;339;p20"/>
          <p:cNvSpPr txBox="1"/>
          <p:nvPr/>
        </p:nvSpPr>
        <p:spPr>
          <a:xfrm>
            <a:off x="4227475" y="9523750"/>
            <a:ext cx="2204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 and F  {solid, hollow}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0" name="Google Shape;340;p20"/>
          <p:cNvSpPr txBox="1"/>
          <p:nvPr/>
        </p:nvSpPr>
        <p:spPr>
          <a:xfrm>
            <a:off x="465325" y="9682750"/>
            <a:ext cx="41751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B, E, G and I {1 shape, 2 shapes, 3 shapes, 4 shapes}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1" name="Google Shape;341;p20"/>
          <p:cNvSpPr txBox="1"/>
          <p:nvPr/>
        </p:nvSpPr>
        <p:spPr>
          <a:xfrm>
            <a:off x="495925" y="9447550"/>
            <a:ext cx="17613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 and J  {oval, not oval}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2" name="Google Shape;342;p20"/>
          <p:cNvSpPr txBox="1"/>
          <p:nvPr/>
        </p:nvSpPr>
        <p:spPr>
          <a:xfrm>
            <a:off x="4273800" y="9279825"/>
            <a:ext cx="2731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 and K {1 shape, more than 1 shape}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346" name="Shape 346"/>
        <p:cNvGrpSpPr/>
        <p:nvPr/>
      </p:nvGrpSpPr>
      <p:grpSpPr>
        <a:xfrm>
          <a:off x="0" y="0"/>
          <a:ext cx="0" cy="0"/>
        </a:xfrm>
      </p:grpSpPr>
      <p:sp>
        <p:nvSpPr>
          <p:cNvPr id="347" name="Google Shape;347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348" name="Google Shape;348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Summing probabilities</a:t>
            </a:r>
            <a:endParaRPr/>
          </a:p>
        </p:txBody>
      </p:sp>
      <p:sp>
        <p:nvSpPr>
          <p:cNvPr id="349" name="Google Shape;349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0" name="Google Shape;350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Mathematics in Education and Industry</a:t>
            </a:r>
            <a:endParaRPr/>
          </a:p>
        </p:txBody>
      </p:sp>
      <p:graphicFrame>
        <p:nvGraphicFramePr>
          <p:cNvPr id="351" name="Google Shape;351;p21"/>
          <p:cNvGraphicFramePr>
            <a:graphicFrameLocks noGrp="1"/>
          </p:cNvGraphicFramePr>
          <p:nvPr/>
        </p:nvGraphicFramePr>
        <p:xfrm>
          <a:off x="4213200" y="3252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{7A78823E-E6DE-45A2-AEA3-4B67B49DC2DE}</a:tableStyleId>
              </a:tblPr>
              <a:tblGrid>
                <a:gridCol w="1088175"/>
                <a:gridCol w="382850"/>
                <a:gridCol w="417875"/>
                <a:gridCol w="418225"/>
                <a:gridCol w="421350"/>
              </a:tblGrid>
              <a:tr h="3524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outcome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538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52" name="Google Shape;352;p21"/>
          <p:cNvSpPr txBox="1"/>
          <p:nvPr/>
        </p:nvSpPr>
        <p:spPr>
          <a:xfrm>
            <a:off x="476400" y="1143706"/>
            <a:ext cx="6532200" cy="4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Find the value of each unknown probability.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Each question presents a complete set of possible outcomes for a trial.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21"/>
          <p:cNvSpPr txBox="1"/>
          <p:nvPr/>
        </p:nvSpPr>
        <p:spPr>
          <a:xfrm>
            <a:off x="476398" y="725450"/>
            <a:ext cx="6352200" cy="3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 Finding missing probabilities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4" name="Google Shape;354;p21"/>
          <p:cNvSpPr txBox="1"/>
          <p:nvPr/>
        </p:nvSpPr>
        <p:spPr>
          <a:xfrm>
            <a:off x="476400" y="1687521"/>
            <a:ext cx="1935900" cy="4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P(rain) = 25%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P(not rain)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5" name="Google Shape;355;p21"/>
          <p:cNvSpPr txBox="1"/>
          <p:nvPr/>
        </p:nvSpPr>
        <p:spPr>
          <a:xfrm>
            <a:off x="2671797" y="1687521"/>
            <a:ext cx="20055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P(train on time) = 0.6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P(train late)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6" name="Google Shape;356;p21"/>
          <p:cNvSpPr txBox="1"/>
          <p:nvPr/>
        </p:nvSpPr>
        <p:spPr>
          <a:xfrm>
            <a:off x="4867193" y="1687521"/>
            <a:ext cx="1935900" cy="4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57" name="Google Shape;357;p21"/>
          <p:cNvCxnSpPr/>
          <p:nvPr/>
        </p:nvCxnSpPr>
        <p:spPr>
          <a:xfrm rot="10800000" flipH="1">
            <a:off x="5144889" y="1826715"/>
            <a:ext cx="673500" cy="418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8" name="Google Shape;358;p21"/>
          <p:cNvCxnSpPr/>
          <p:nvPr/>
        </p:nvCxnSpPr>
        <p:spPr>
          <a:xfrm>
            <a:off x="5144889" y="2229649"/>
            <a:ext cx="673500" cy="418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9" name="Google Shape;359;p21"/>
          <p:cNvSpPr txBox="1"/>
          <p:nvPr/>
        </p:nvSpPr>
        <p:spPr>
          <a:xfrm>
            <a:off x="5870918" y="1715075"/>
            <a:ext cx="4683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21"/>
          <p:cNvSpPr txBox="1"/>
          <p:nvPr/>
        </p:nvSpPr>
        <p:spPr>
          <a:xfrm>
            <a:off x="5861666" y="2551257"/>
            <a:ext cx="9417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21"/>
          <p:cNvSpPr txBox="1"/>
          <p:nvPr/>
        </p:nvSpPr>
        <p:spPr>
          <a:xfrm>
            <a:off x="5452893" y="1671086"/>
            <a:ext cx="558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2" name="Google Shape;362;p21"/>
          <p:cNvSpPr txBox="1"/>
          <p:nvPr/>
        </p:nvSpPr>
        <p:spPr>
          <a:xfrm>
            <a:off x="476400" y="3016845"/>
            <a:ext cx="2032500" cy="6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P(Player 1 wins) = 24%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P(Player 2 wins) = 32%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P(draw)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3" name="Google Shape;363;p21"/>
          <p:cNvSpPr txBox="1"/>
          <p:nvPr/>
        </p:nvSpPr>
        <p:spPr>
          <a:xfrm>
            <a:off x="2671797" y="3016845"/>
            <a:ext cx="2364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21"/>
          <p:cNvSpPr txBox="1"/>
          <p:nvPr/>
        </p:nvSpPr>
        <p:spPr>
          <a:xfrm>
            <a:off x="4368027" y="3016845"/>
            <a:ext cx="2364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5" name="Google Shape;365;p21"/>
          <p:cNvCxnSpPr/>
          <p:nvPr/>
        </p:nvCxnSpPr>
        <p:spPr>
          <a:xfrm rot="10800000" flipH="1">
            <a:off x="2848786" y="3172968"/>
            <a:ext cx="673500" cy="483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6" name="Google Shape;366;p21"/>
          <p:cNvCxnSpPr/>
          <p:nvPr/>
        </p:nvCxnSpPr>
        <p:spPr>
          <a:xfrm>
            <a:off x="2848786" y="3638639"/>
            <a:ext cx="673500" cy="483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7" name="Google Shape;367;p21"/>
          <p:cNvSpPr txBox="1"/>
          <p:nvPr/>
        </p:nvSpPr>
        <p:spPr>
          <a:xfrm>
            <a:off x="3574817" y="3044400"/>
            <a:ext cx="4683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8" name="Google Shape;368;p21"/>
          <p:cNvSpPr txBox="1"/>
          <p:nvPr/>
        </p:nvSpPr>
        <p:spPr>
          <a:xfrm>
            <a:off x="3565564" y="4010035"/>
            <a:ext cx="9417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green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9" name="Google Shape;369;p21"/>
          <p:cNvSpPr txBox="1"/>
          <p:nvPr/>
        </p:nvSpPr>
        <p:spPr>
          <a:xfrm>
            <a:off x="3223306" y="3350035"/>
            <a:ext cx="558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70" name="Google Shape;370;p21"/>
          <p:cNvCxnSpPr/>
          <p:nvPr/>
        </p:nvCxnSpPr>
        <p:spPr>
          <a:xfrm>
            <a:off x="2848786" y="3638639"/>
            <a:ext cx="7026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1" name="Google Shape;371;p21"/>
          <p:cNvSpPr txBox="1"/>
          <p:nvPr/>
        </p:nvSpPr>
        <p:spPr>
          <a:xfrm>
            <a:off x="3586999" y="3511746"/>
            <a:ext cx="4683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blue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2" name="Google Shape;372;p21"/>
          <p:cNvSpPr txBox="1"/>
          <p:nvPr/>
        </p:nvSpPr>
        <p:spPr>
          <a:xfrm>
            <a:off x="3155425" y="3098413"/>
            <a:ext cx="3018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0.1 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3" name="Google Shape;373;p21"/>
          <p:cNvSpPr txBox="1"/>
          <p:nvPr/>
        </p:nvSpPr>
        <p:spPr>
          <a:xfrm>
            <a:off x="3336696" y="3816251"/>
            <a:ext cx="4182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0.35 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4" name="Google Shape;374;p21" descr="&lt;math xmlns=&quot;http://www.w3.org/1998/Math/MathML&quot; display=&quot;block&quot; data-is-equatio=&quot;1&quot; data-latex=&quot;\frac{3}{7}&quot;&gt;&lt;mfrac&gt;&lt;mn&gt;3&lt;/mn&gt;&lt;mn&gt;7&lt;/mn&gt;&lt;/mfrac&gt;&lt;/math&gt;" title="three sev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4112" y="2162903"/>
            <a:ext cx="100226" cy="329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21" descr="&lt;math xmlns=&quot;http://www.w3.org/1998/Math/MathML&quot; display=&quot;block&quot; data-is-equatio=&quot;1&quot; data-latex=&quot;\frac{1}{6}\ \ \ \frac{1}{4}\ \ \ \frac{3}{12}&quot;&gt;&lt;mfrac&gt;&lt;mn&gt;1&lt;/mn&gt;&lt;mn&gt;6&lt;/mn&gt;&lt;/mfrac&gt;&lt;mtext&gt;&lt;/mtext&gt;&lt;mtext&gt;&lt;/mtext&gt;&lt;mtext&gt;&lt;/mtext&gt;&lt;mfrac&gt;&lt;mn&gt;1&lt;/mn&gt;&lt;mn&gt;4&lt;/mn&gt;&lt;/mfrac&gt;&lt;mtext&gt;&lt;/mtext&gt;&lt;mtext&gt;&lt;/mtext&gt;&lt;mtext&gt;&lt;/mtext&gt;&lt;mfrac&gt;&lt;mn&gt;3&lt;/mn&gt;&lt;mn&gt;12&lt;/mn&gt;&lt;/mfrac&gt;&lt;/math&gt;" title="one sixth one fourth 3 over 12"/>
          <p:cNvPicPr preferRelativeResize="0"/>
          <p:nvPr/>
        </p:nvPicPr>
        <p:blipFill>
          <a:blip r:embed="rId4">
            <a:alphaModFix/>
          </a:blip>
          <a:srcRect r="77067"/>
          <a:stretch>
            <a:fillRect/>
          </a:stretch>
        </p:blipFill>
        <p:spPr>
          <a:xfrm>
            <a:off x="5500882" y="3659392"/>
            <a:ext cx="175998" cy="366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21" descr="&lt;math xmlns=&quot;http://www.w3.org/1998/Math/MathML&quot; display=&quot;block&quot; data-is-equatio=&quot;1&quot; data-latex=&quot;\frac{1}{6}\ \ \ \frac{1}{4}\ \ \ \frac{3}{12}&quot;&gt;&lt;mfrac&gt;&lt;mn&gt;1&lt;/mn&gt;&lt;mn&gt;6&lt;/mn&gt;&lt;/mfrac&gt;&lt;mtext&gt;&lt;/mtext&gt;&lt;mtext&gt;&lt;/mtext&gt;&lt;mtext&gt;&lt;/mtext&gt;&lt;mfrac&gt;&lt;mn&gt;1&lt;/mn&gt;&lt;mn&gt;4&lt;/mn&gt;&lt;/mfrac&gt;&lt;mtext&gt;&lt;/mtext&gt;&lt;mtext&gt;&lt;/mtext&gt;&lt;mtext&gt;&lt;/mtext&gt;&lt;mfrac&gt;&lt;mn&gt;3&lt;/mn&gt;&lt;mn&gt;12&lt;/mn&gt;&lt;/mfrac&gt;&lt;/math&gt;" title="one sixth one fourth 3 over 12"/>
          <p:cNvPicPr preferRelativeResize="0"/>
          <p:nvPr/>
        </p:nvPicPr>
        <p:blipFill>
          <a:blip r:embed="rId4">
            <a:alphaModFix/>
          </a:blip>
          <a:srcRect l="30221" r="38968"/>
          <a:stretch>
            <a:fillRect/>
          </a:stretch>
        </p:blipFill>
        <p:spPr>
          <a:xfrm>
            <a:off x="5835403" y="3659392"/>
            <a:ext cx="236461" cy="366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21" descr="&lt;math xmlns=&quot;http://www.w3.org/1998/Math/MathML&quot; display=&quot;block&quot; data-is-equatio=&quot;1&quot; data-latex=&quot;\frac{1}{6}\ \ \ \frac{1}{4}\ \ \ \frac{3}{12}&quot;&gt;&lt;mfrac&gt;&lt;mn&gt;1&lt;/mn&gt;&lt;mn&gt;6&lt;/mn&gt;&lt;/mfrac&gt;&lt;mtext&gt;&lt;/mtext&gt;&lt;mtext&gt;&lt;/mtext&gt;&lt;mtext&gt;&lt;/mtext&gt;&lt;mfrac&gt;&lt;mn&gt;1&lt;/mn&gt;&lt;mn&gt;4&lt;/mn&gt;&lt;/mfrac&gt;&lt;mtext&gt;&lt;/mtext&gt;&lt;mtext&gt;&lt;/mtext&gt;&lt;mtext&gt;&lt;/mtext&gt;&lt;mfrac&gt;&lt;mn&gt;3&lt;/mn&gt;&lt;mn&gt;12&lt;/mn&gt;&lt;/mfrac&gt;&lt;/math&gt;" title="one sixth one fourth 3 over 12"/>
          <p:cNvPicPr preferRelativeResize="0"/>
          <p:nvPr/>
        </p:nvPicPr>
        <p:blipFill>
          <a:blip r:embed="rId4">
            <a:alphaModFix/>
          </a:blip>
          <a:srcRect l="69189"/>
          <a:stretch>
            <a:fillRect/>
          </a:stretch>
        </p:blipFill>
        <p:spPr>
          <a:xfrm>
            <a:off x="6557439" y="3659392"/>
            <a:ext cx="236461" cy="366111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21"/>
          <p:cNvSpPr txBox="1"/>
          <p:nvPr/>
        </p:nvSpPr>
        <p:spPr>
          <a:xfrm>
            <a:off x="6230789" y="3663664"/>
            <a:ext cx="236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9" name="Google Shape;379;p21"/>
          <p:cNvSpPr txBox="1"/>
          <p:nvPr/>
        </p:nvSpPr>
        <p:spPr>
          <a:xfrm>
            <a:off x="698608" y="2266186"/>
            <a:ext cx="8568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75%</a:t>
            </a:r>
            <a:endParaRPr sz="1200" i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0" name="Google Shape;380;p21"/>
          <p:cNvSpPr txBox="1"/>
          <p:nvPr/>
        </p:nvSpPr>
        <p:spPr>
          <a:xfrm>
            <a:off x="2934287" y="2266186"/>
            <a:ext cx="8568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0.4</a:t>
            </a:r>
            <a:endParaRPr sz="1200" i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1" name="Google Shape;381;p21"/>
          <p:cNvSpPr txBox="1"/>
          <p:nvPr/>
        </p:nvSpPr>
        <p:spPr>
          <a:xfrm>
            <a:off x="4988695" y="2689153"/>
            <a:ext cx="8568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</a:t>
            </a: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000" i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382" name="Google Shape;382;p21" descr="&lt;math xmlns=&quot;http://www.w3.org/1998/Math/MathML&quot; display=&quot;block&quot; data-is-equatio=&quot;1&quot; data-latex=&quot;\frac{4}{7}&quot;&gt;&lt;mfrac&gt;&lt;mn&gt;4&lt;/mn&gt;&lt;mn&gt;7&lt;/mn&gt;&lt;/mfrac&gt;&lt;/math&gt;" title="four seve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88252" y="2630768"/>
            <a:ext cx="100230" cy="331693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21"/>
          <p:cNvSpPr txBox="1"/>
          <p:nvPr/>
        </p:nvSpPr>
        <p:spPr>
          <a:xfrm>
            <a:off x="644275" y="4151507"/>
            <a:ext cx="8568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44%</a:t>
            </a:r>
            <a:endParaRPr sz="1200" i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4" name="Google Shape;384;p21"/>
          <p:cNvSpPr txBox="1"/>
          <p:nvPr/>
        </p:nvSpPr>
        <p:spPr>
          <a:xfrm>
            <a:off x="2759107" y="4151507"/>
            <a:ext cx="8568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0.55</a:t>
            </a:r>
            <a:endParaRPr sz="1200" i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5" name="Google Shape;385;p21"/>
          <p:cNvSpPr txBox="1"/>
          <p:nvPr/>
        </p:nvSpPr>
        <p:spPr>
          <a:xfrm>
            <a:off x="4988695" y="4295314"/>
            <a:ext cx="9417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</a:t>
            </a:r>
            <a:endParaRPr sz="1200" i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386" name="Google Shape;386;p21" descr="&lt;math xmlns=&quot;http://www.w3.org/1998/Math/MathML&quot; display=&quot;block&quot; data-is-equatio=&quot;1&quot; data-latex=&quot;\frac{1}{3}&quot;&gt;&lt;mfrac&gt;&lt;mn&gt;1&lt;/mn&gt;&lt;mn&gt;3&lt;/mn&gt;&lt;/mfrac&gt;&lt;/math&gt;" title="one thir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75193" y="4234897"/>
            <a:ext cx="100230" cy="331733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1"/>
          <p:cNvSpPr txBox="1"/>
          <p:nvPr/>
        </p:nvSpPr>
        <p:spPr>
          <a:xfrm>
            <a:off x="476400" y="4721700"/>
            <a:ext cx="6437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Izzy, Laura and Sofia compete in a swimming race.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outcomes and probabilities are represented in the table.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88" name="Google Shape;388;p21"/>
          <p:cNvGraphicFramePr>
            <a:graphicFrameLocks noGrp="1"/>
          </p:cNvGraphicFramePr>
          <p:nvPr/>
        </p:nvGraphicFramePr>
        <p:xfrm>
          <a:off x="561837" y="523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{7A78823E-E6DE-45A2-AEA3-4B67B49DC2DE}</a:tableStyleId>
              </a:tblPr>
              <a:tblGrid>
                <a:gridCol w="1057750"/>
                <a:gridCol w="766350"/>
                <a:gridCol w="766350"/>
                <a:gridCol w="766350"/>
              </a:tblGrid>
              <a:tr h="3964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winner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Laura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Andeep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Sofia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3964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89" name="Google Shape;389;p21"/>
          <p:cNvSpPr txBox="1"/>
          <p:nvPr/>
        </p:nvSpPr>
        <p:spPr>
          <a:xfrm>
            <a:off x="1961092" y="5695950"/>
            <a:ext cx="3060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0" name="Google Shape;390;p21"/>
          <p:cNvSpPr txBox="1"/>
          <p:nvPr/>
        </p:nvSpPr>
        <p:spPr>
          <a:xfrm>
            <a:off x="2693615" y="5695950"/>
            <a:ext cx="3060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1" name="Google Shape;391;p21"/>
          <p:cNvSpPr txBox="1"/>
          <p:nvPr/>
        </p:nvSpPr>
        <p:spPr>
          <a:xfrm>
            <a:off x="3467674" y="5725961"/>
            <a:ext cx="3060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0.4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2" name="Google Shape;392;p21"/>
          <p:cNvSpPr txBox="1"/>
          <p:nvPr/>
        </p:nvSpPr>
        <p:spPr>
          <a:xfrm>
            <a:off x="655029" y="6184041"/>
            <a:ext cx="6437100" cy="4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value of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3" name="Google Shape;393;p21"/>
          <p:cNvSpPr txBox="1"/>
          <p:nvPr/>
        </p:nvSpPr>
        <p:spPr>
          <a:xfrm>
            <a:off x="4733084" y="5237719"/>
            <a:ext cx="1556700" cy="2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+ 0.4 = 1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4" name="Google Shape;394;p21"/>
          <p:cNvSpPr txBox="1"/>
          <p:nvPr/>
        </p:nvSpPr>
        <p:spPr>
          <a:xfrm>
            <a:off x="4998683" y="5515585"/>
            <a:ext cx="1556700" cy="2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+ 0.4 = 1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5" name="Google Shape;395;p21"/>
          <p:cNvSpPr txBox="1"/>
          <p:nvPr/>
        </p:nvSpPr>
        <p:spPr>
          <a:xfrm>
            <a:off x="5409271" y="5793452"/>
            <a:ext cx="910800" cy="2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0.6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6" name="Google Shape;396;p21"/>
          <p:cNvSpPr txBox="1"/>
          <p:nvPr/>
        </p:nvSpPr>
        <p:spPr>
          <a:xfrm>
            <a:off x="5500796" y="6071318"/>
            <a:ext cx="910800" cy="2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0.2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7" name="Google Shape;397;p21"/>
          <p:cNvSpPr txBox="1"/>
          <p:nvPr/>
        </p:nvSpPr>
        <p:spPr>
          <a:xfrm>
            <a:off x="476400" y="6931500"/>
            <a:ext cx="6615600" cy="13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Aisha, Jun, Lucas and Sam compete against each other on a video game.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Jun is as likely to win as Aisha.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Lucas is twice as likely to win as Jun.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Sam is three times as likely to win as Lucas.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What is the probability that Sam wins?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8" name="Google Shape;398;p21"/>
          <p:cNvSpPr txBox="1"/>
          <p:nvPr/>
        </p:nvSpPr>
        <p:spPr>
          <a:xfrm>
            <a:off x="650111" y="8594848"/>
            <a:ext cx="1224000" cy="10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P(Aisha) = 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b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P(Jun) = 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b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P(Lucas) =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b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P(Sam) =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99" name="Google Shape;399;p21"/>
          <p:cNvSpPr txBox="1"/>
          <p:nvPr/>
        </p:nvSpPr>
        <p:spPr>
          <a:xfrm>
            <a:off x="2625424" y="8594848"/>
            <a:ext cx="24075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+ 6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0" name="Google Shape;400;p21"/>
          <p:cNvSpPr txBox="1"/>
          <p:nvPr/>
        </p:nvSpPr>
        <p:spPr>
          <a:xfrm>
            <a:off x="3457215" y="8941628"/>
            <a:ext cx="6831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1" name="Google Shape;401;p21"/>
          <p:cNvSpPr txBox="1"/>
          <p:nvPr/>
        </p:nvSpPr>
        <p:spPr>
          <a:xfrm>
            <a:off x="3635342" y="9288408"/>
            <a:ext cx="6831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0.1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2" name="Google Shape;402;p21"/>
          <p:cNvSpPr txBox="1"/>
          <p:nvPr/>
        </p:nvSpPr>
        <p:spPr>
          <a:xfrm>
            <a:off x="3543865" y="9635188"/>
            <a:ext cx="6831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0.6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92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Summing probabilities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2024-03-05T13:03:04.798</cp:lastPrinted>
  <dcterms:created xsi:type="dcterms:W3CDTF">2024-03-05T13:03:04Z</dcterms:created>
  <dcterms:modified xsi:type="dcterms:W3CDTF">2024-03-05T13:03:01Z</dcterms:modified>
</cp:coreProperties>
</file>