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Lst>
  <p:sldSz cx="7560000" cy="10692000"/>
  <p:notesSz cx="6858000" cy="9144000"/>
  <p:embeddedFontLst>
    <p:embeddedFont>
      <p:font typeface="Lexend" panose="00000000000000000000"/>
      <p:regular r:id="rId7"/>
    </p:embeddedFont>
    <p:embeddedFont>
      <p:font typeface="Kalam" panose="02000000000000000000"/>
      <p:regular r:id="rId8"/>
    </p:embeddedFont>
    <p:embeddedFont>
      <p:font typeface="Lexend Medium" panose="00000000000000000000"/>
      <p:regular r:id="rId9"/>
    </p:embeddedFont>
    <p:embeddedFont>
      <p:font typeface="Lexend Light" panose="00000000000000000000"/>
      <p:regular r:id="rId10"/>
    </p:embeddedFont>
  </p:embeddedFontLst>
  <p:custDataLst>
    <p:tags r:id="rId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4.fntdata"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tags" Target="tags/tag1.xml" /><Relationship Id="rId7" Type="http://schemas.openxmlformats.org/officeDocument/2006/relationships/font" Target="fonts/font1.fntdata" /><Relationship Id="rId8" Type="http://schemas.openxmlformats.org/officeDocument/2006/relationships/font" Target="fonts/font2.fntdata" /><Relationship Id="rId9" Type="http://schemas.openxmlformats.org/officeDocument/2006/relationships/font" Target="fonts/font3.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32" name="Shape 232"/>
        <p:cNvGrpSpPr/>
        <p:nvPr/>
      </p:nvGrpSpPr>
      <p:grpSpPr>
        <a:xfrm>
          <a:off x="0" y="0"/>
          <a:ext cx="0" cy="0"/>
        </a:xfrm>
      </p:grpSpPr>
      <p:sp>
        <p:nvSpPr>
          <p:cNvPr id="233" name="Google Shape;233;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34" name="Google Shape;234;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2" name="Google Shape;172;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Checking listing possible outcomes</a:t>
            </a:r>
            <a:endParaRPr/>
          </a:p>
        </p:txBody>
      </p:sp>
      <p:cxnSp>
        <p:nvCxnSpPr>
          <p:cNvPr id="173" name="Google Shape;173;p20"/>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
        <p:nvSpPr>
          <p:cNvPr id="174" name="Google Shape;174;p20"/>
          <p:cNvSpPr txBox="1"/>
          <p:nvPr/>
        </p:nvSpPr>
        <p:spPr>
          <a:xfrm>
            <a:off x="476400" y="1761317"/>
            <a:ext cx="6624000" cy="2428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There are two decks of cards. </a:t>
            </a:r>
            <a:endParaRPr sz="1200">
              <a:solidFill>
                <a:srgbClr val="000000"/>
              </a:solidFill>
              <a:latin typeface="Lexend"/>
              <a:ea typeface="Lexend"/>
              <a:cs typeface="Lexend"/>
              <a:sym typeface="Lexend"/>
            </a:endParaRPr>
          </a:p>
        </p:txBody>
      </p:sp>
      <p:sp>
        <p:nvSpPr>
          <p:cNvPr id="175" name="Google Shape;175;p20"/>
          <p:cNvSpPr txBox="1"/>
          <p:nvPr/>
        </p:nvSpPr>
        <p:spPr>
          <a:xfrm>
            <a:off x="479576" y="1258850"/>
            <a:ext cx="6438000" cy="307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b="1">
                <a:solidFill>
                  <a:schemeClr val="dk1"/>
                </a:solidFill>
                <a:latin typeface="Lexend"/>
                <a:ea typeface="Lexend"/>
                <a:cs typeface="Lexend"/>
                <a:sym typeface="Lexend"/>
              </a:rPr>
              <a:t>Task A:  Listing outcomes: one-stage or two-stage trials </a:t>
            </a:r>
            <a:endParaRPr b="1">
              <a:solidFill>
                <a:schemeClr val="dk1"/>
              </a:solidFill>
              <a:latin typeface="Lexend"/>
              <a:ea typeface="Lexend"/>
              <a:cs typeface="Lexend"/>
              <a:sym typeface="Lexend"/>
            </a:endParaRPr>
          </a:p>
        </p:txBody>
      </p:sp>
      <p:sp>
        <p:nvSpPr>
          <p:cNvPr id="176" name="Google Shape;176;p20"/>
          <p:cNvSpPr/>
          <p:nvPr/>
        </p:nvSpPr>
        <p:spPr>
          <a:xfrm>
            <a:off x="2007271" y="2040823"/>
            <a:ext cx="306300" cy="447300"/>
          </a:xfrm>
          <a:prstGeom prst="rect">
            <a:avLst/>
          </a:prstGeom>
          <a:solidFill>
            <a:srgbClr val="FAEAF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77" name="Google Shape;177;p20"/>
          <p:cNvSpPr/>
          <p:nvPr/>
        </p:nvSpPr>
        <p:spPr>
          <a:xfrm>
            <a:off x="2436176" y="2040823"/>
            <a:ext cx="306300" cy="447300"/>
          </a:xfrm>
          <a:prstGeom prst="rect">
            <a:avLst/>
          </a:prstGeom>
          <a:solidFill>
            <a:srgbClr val="FAEAF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78" name="Google Shape;178;p20"/>
          <p:cNvSpPr/>
          <p:nvPr/>
        </p:nvSpPr>
        <p:spPr>
          <a:xfrm>
            <a:off x="2865081" y="2040823"/>
            <a:ext cx="306300" cy="447300"/>
          </a:xfrm>
          <a:prstGeom prst="rect">
            <a:avLst/>
          </a:prstGeom>
          <a:solidFill>
            <a:srgbClr val="FAEAF6"/>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79" name="Google Shape;179;p20"/>
          <p:cNvSpPr txBox="1"/>
          <p:nvPr/>
        </p:nvSpPr>
        <p:spPr>
          <a:xfrm>
            <a:off x="662487" y="2166300"/>
            <a:ext cx="12222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Deck A (0 to 2):</a:t>
            </a:r>
            <a:endParaRPr sz="1200">
              <a:solidFill>
                <a:srgbClr val="000000"/>
              </a:solidFill>
              <a:latin typeface="Lexend"/>
              <a:ea typeface="Lexend"/>
              <a:cs typeface="Lexend"/>
              <a:sym typeface="Lexend"/>
            </a:endParaRPr>
          </a:p>
        </p:txBody>
      </p:sp>
      <p:sp>
        <p:nvSpPr>
          <p:cNvPr id="180" name="Google Shape;180;p20"/>
          <p:cNvSpPr txBox="1"/>
          <p:nvPr/>
        </p:nvSpPr>
        <p:spPr>
          <a:xfrm>
            <a:off x="2103990" y="2158238"/>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0</a:t>
            </a:r>
            <a:endParaRPr sz="1200">
              <a:solidFill>
                <a:srgbClr val="000000"/>
              </a:solidFill>
              <a:latin typeface="Lexend"/>
              <a:ea typeface="Lexend"/>
              <a:cs typeface="Lexend"/>
              <a:sym typeface="Lexend"/>
            </a:endParaRPr>
          </a:p>
        </p:txBody>
      </p:sp>
      <p:sp>
        <p:nvSpPr>
          <p:cNvPr id="181" name="Google Shape;181;p20"/>
          <p:cNvSpPr txBox="1"/>
          <p:nvPr/>
        </p:nvSpPr>
        <p:spPr>
          <a:xfrm>
            <a:off x="2532895" y="2158238"/>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a:t>
            </a:r>
            <a:endParaRPr sz="1200">
              <a:solidFill>
                <a:srgbClr val="000000"/>
              </a:solidFill>
              <a:latin typeface="Lexend"/>
              <a:ea typeface="Lexend"/>
              <a:cs typeface="Lexend"/>
              <a:sym typeface="Lexend"/>
            </a:endParaRPr>
          </a:p>
        </p:txBody>
      </p:sp>
      <p:sp>
        <p:nvSpPr>
          <p:cNvPr id="182" name="Google Shape;182;p20"/>
          <p:cNvSpPr txBox="1"/>
          <p:nvPr/>
        </p:nvSpPr>
        <p:spPr>
          <a:xfrm>
            <a:off x="2961800" y="2158238"/>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a:t>
            </a:r>
            <a:endParaRPr sz="1200">
              <a:solidFill>
                <a:srgbClr val="000000"/>
              </a:solidFill>
              <a:latin typeface="Lexend"/>
              <a:ea typeface="Lexend"/>
              <a:cs typeface="Lexend"/>
              <a:sym typeface="Lexend"/>
            </a:endParaRPr>
          </a:p>
        </p:txBody>
      </p:sp>
      <p:sp>
        <p:nvSpPr>
          <p:cNvPr id="183" name="Google Shape;183;p20"/>
          <p:cNvSpPr/>
          <p:nvPr/>
        </p:nvSpPr>
        <p:spPr>
          <a:xfrm>
            <a:off x="2007271"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4" name="Google Shape;184;p20"/>
          <p:cNvSpPr/>
          <p:nvPr/>
        </p:nvSpPr>
        <p:spPr>
          <a:xfrm>
            <a:off x="2436176"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5" name="Google Shape;185;p20"/>
          <p:cNvSpPr/>
          <p:nvPr/>
        </p:nvSpPr>
        <p:spPr>
          <a:xfrm>
            <a:off x="2865081"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6" name="Google Shape;186;p20"/>
          <p:cNvSpPr/>
          <p:nvPr/>
        </p:nvSpPr>
        <p:spPr>
          <a:xfrm>
            <a:off x="3293985"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7" name="Google Shape;187;p20"/>
          <p:cNvSpPr/>
          <p:nvPr/>
        </p:nvSpPr>
        <p:spPr>
          <a:xfrm>
            <a:off x="3722890"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8" name="Google Shape;188;p20"/>
          <p:cNvSpPr/>
          <p:nvPr/>
        </p:nvSpPr>
        <p:spPr>
          <a:xfrm>
            <a:off x="4151795"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9" name="Google Shape;189;p20"/>
          <p:cNvSpPr/>
          <p:nvPr/>
        </p:nvSpPr>
        <p:spPr>
          <a:xfrm>
            <a:off x="4580699"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0" name="Google Shape;190;p20"/>
          <p:cNvSpPr/>
          <p:nvPr/>
        </p:nvSpPr>
        <p:spPr>
          <a:xfrm>
            <a:off x="5009604"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1" name="Google Shape;191;p20"/>
          <p:cNvSpPr/>
          <p:nvPr/>
        </p:nvSpPr>
        <p:spPr>
          <a:xfrm>
            <a:off x="5438509"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2" name="Google Shape;192;p20"/>
          <p:cNvSpPr/>
          <p:nvPr/>
        </p:nvSpPr>
        <p:spPr>
          <a:xfrm>
            <a:off x="5867413" y="2592272"/>
            <a:ext cx="306300" cy="4473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3" name="Google Shape;193;p20"/>
          <p:cNvSpPr txBox="1"/>
          <p:nvPr/>
        </p:nvSpPr>
        <p:spPr>
          <a:xfrm>
            <a:off x="2103990"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0</a:t>
            </a:r>
            <a:endParaRPr sz="1200">
              <a:solidFill>
                <a:srgbClr val="000000"/>
              </a:solidFill>
              <a:latin typeface="Lexend"/>
              <a:ea typeface="Lexend"/>
              <a:cs typeface="Lexend"/>
              <a:sym typeface="Lexend"/>
            </a:endParaRPr>
          </a:p>
        </p:txBody>
      </p:sp>
      <p:sp>
        <p:nvSpPr>
          <p:cNvPr id="194" name="Google Shape;194;p20"/>
          <p:cNvSpPr txBox="1"/>
          <p:nvPr/>
        </p:nvSpPr>
        <p:spPr>
          <a:xfrm>
            <a:off x="2532895"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a:t>
            </a:r>
            <a:endParaRPr sz="1200">
              <a:solidFill>
                <a:srgbClr val="000000"/>
              </a:solidFill>
              <a:latin typeface="Lexend"/>
              <a:ea typeface="Lexend"/>
              <a:cs typeface="Lexend"/>
              <a:sym typeface="Lexend"/>
            </a:endParaRPr>
          </a:p>
        </p:txBody>
      </p:sp>
      <p:sp>
        <p:nvSpPr>
          <p:cNvPr id="195" name="Google Shape;195;p20"/>
          <p:cNvSpPr txBox="1"/>
          <p:nvPr/>
        </p:nvSpPr>
        <p:spPr>
          <a:xfrm>
            <a:off x="2961800"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a:t>
            </a:r>
            <a:endParaRPr sz="1200">
              <a:solidFill>
                <a:srgbClr val="000000"/>
              </a:solidFill>
              <a:latin typeface="Lexend"/>
              <a:ea typeface="Lexend"/>
              <a:cs typeface="Lexend"/>
              <a:sym typeface="Lexend"/>
            </a:endParaRPr>
          </a:p>
        </p:txBody>
      </p:sp>
      <p:sp>
        <p:nvSpPr>
          <p:cNvPr id="196" name="Google Shape;196;p20"/>
          <p:cNvSpPr txBox="1"/>
          <p:nvPr/>
        </p:nvSpPr>
        <p:spPr>
          <a:xfrm>
            <a:off x="3390704"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a:t>
            </a:r>
            <a:endParaRPr sz="1200">
              <a:solidFill>
                <a:srgbClr val="000000"/>
              </a:solidFill>
              <a:latin typeface="Lexend"/>
              <a:ea typeface="Lexend"/>
              <a:cs typeface="Lexend"/>
              <a:sym typeface="Lexend"/>
            </a:endParaRPr>
          </a:p>
        </p:txBody>
      </p:sp>
      <p:sp>
        <p:nvSpPr>
          <p:cNvPr id="197" name="Google Shape;197;p20"/>
          <p:cNvSpPr txBox="1"/>
          <p:nvPr/>
        </p:nvSpPr>
        <p:spPr>
          <a:xfrm>
            <a:off x="3819609"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4</a:t>
            </a:r>
            <a:endParaRPr sz="1200">
              <a:solidFill>
                <a:srgbClr val="000000"/>
              </a:solidFill>
              <a:latin typeface="Lexend"/>
              <a:ea typeface="Lexend"/>
              <a:cs typeface="Lexend"/>
              <a:sym typeface="Lexend"/>
            </a:endParaRPr>
          </a:p>
        </p:txBody>
      </p:sp>
      <p:sp>
        <p:nvSpPr>
          <p:cNvPr id="198" name="Google Shape;198;p20"/>
          <p:cNvSpPr txBox="1"/>
          <p:nvPr/>
        </p:nvSpPr>
        <p:spPr>
          <a:xfrm>
            <a:off x="4248514"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5</a:t>
            </a:r>
            <a:endParaRPr sz="1200">
              <a:solidFill>
                <a:srgbClr val="000000"/>
              </a:solidFill>
              <a:latin typeface="Lexend"/>
              <a:ea typeface="Lexend"/>
              <a:cs typeface="Lexend"/>
              <a:sym typeface="Lexend"/>
            </a:endParaRPr>
          </a:p>
        </p:txBody>
      </p:sp>
      <p:sp>
        <p:nvSpPr>
          <p:cNvPr id="199" name="Google Shape;199;p20"/>
          <p:cNvSpPr txBox="1"/>
          <p:nvPr/>
        </p:nvSpPr>
        <p:spPr>
          <a:xfrm>
            <a:off x="4677418"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6</a:t>
            </a:r>
            <a:endParaRPr sz="1200">
              <a:solidFill>
                <a:srgbClr val="000000"/>
              </a:solidFill>
              <a:latin typeface="Lexend"/>
              <a:ea typeface="Lexend"/>
              <a:cs typeface="Lexend"/>
              <a:sym typeface="Lexend"/>
            </a:endParaRPr>
          </a:p>
        </p:txBody>
      </p:sp>
      <p:sp>
        <p:nvSpPr>
          <p:cNvPr id="200" name="Google Shape;200;p20"/>
          <p:cNvSpPr txBox="1"/>
          <p:nvPr/>
        </p:nvSpPr>
        <p:spPr>
          <a:xfrm>
            <a:off x="5106323"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7</a:t>
            </a:r>
            <a:endParaRPr sz="1200">
              <a:solidFill>
                <a:srgbClr val="000000"/>
              </a:solidFill>
              <a:latin typeface="Lexend"/>
              <a:ea typeface="Lexend"/>
              <a:cs typeface="Lexend"/>
              <a:sym typeface="Lexend"/>
            </a:endParaRPr>
          </a:p>
        </p:txBody>
      </p:sp>
      <p:sp>
        <p:nvSpPr>
          <p:cNvPr id="201" name="Google Shape;201;p20"/>
          <p:cNvSpPr txBox="1"/>
          <p:nvPr/>
        </p:nvSpPr>
        <p:spPr>
          <a:xfrm>
            <a:off x="5535228"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8</a:t>
            </a:r>
            <a:endParaRPr sz="1200">
              <a:solidFill>
                <a:srgbClr val="000000"/>
              </a:solidFill>
              <a:latin typeface="Lexend"/>
              <a:ea typeface="Lexend"/>
              <a:cs typeface="Lexend"/>
              <a:sym typeface="Lexend"/>
            </a:endParaRPr>
          </a:p>
        </p:txBody>
      </p:sp>
      <p:sp>
        <p:nvSpPr>
          <p:cNvPr id="202" name="Google Shape;202;p20"/>
          <p:cNvSpPr txBox="1"/>
          <p:nvPr/>
        </p:nvSpPr>
        <p:spPr>
          <a:xfrm>
            <a:off x="5964132" y="2709687"/>
            <a:ext cx="1404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9</a:t>
            </a:r>
            <a:endParaRPr sz="1200">
              <a:solidFill>
                <a:srgbClr val="000000"/>
              </a:solidFill>
              <a:latin typeface="Lexend"/>
              <a:ea typeface="Lexend"/>
              <a:cs typeface="Lexend"/>
              <a:sym typeface="Lexend"/>
            </a:endParaRPr>
          </a:p>
        </p:txBody>
      </p:sp>
      <p:sp>
        <p:nvSpPr>
          <p:cNvPr id="203" name="Google Shape;203;p20"/>
          <p:cNvSpPr txBox="1"/>
          <p:nvPr/>
        </p:nvSpPr>
        <p:spPr>
          <a:xfrm>
            <a:off x="662493" y="2717749"/>
            <a:ext cx="12498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Deck B (0 to 9):</a:t>
            </a:r>
            <a:endParaRPr sz="1200">
              <a:solidFill>
                <a:srgbClr val="000000"/>
              </a:solidFill>
              <a:latin typeface="Lexend"/>
              <a:ea typeface="Lexend"/>
              <a:cs typeface="Lexend"/>
              <a:sym typeface="Lexend"/>
            </a:endParaRPr>
          </a:p>
        </p:txBody>
      </p:sp>
      <p:sp>
        <p:nvSpPr>
          <p:cNvPr id="204" name="Google Shape;204;p20"/>
          <p:cNvSpPr txBox="1"/>
          <p:nvPr/>
        </p:nvSpPr>
        <p:spPr>
          <a:xfrm>
            <a:off x="510100" y="3231850"/>
            <a:ext cx="64380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Write down all the possible outcomes for drawing a card from Deck A.</a:t>
            </a:r>
            <a:endParaRPr sz="1200">
              <a:solidFill>
                <a:srgbClr val="000000"/>
              </a:solidFill>
              <a:latin typeface="Lexend"/>
              <a:ea typeface="Lexend"/>
              <a:cs typeface="Lexend"/>
              <a:sym typeface="Lexend"/>
            </a:endParaRPr>
          </a:p>
        </p:txBody>
      </p:sp>
      <p:sp>
        <p:nvSpPr>
          <p:cNvPr id="205" name="Google Shape;205;p20"/>
          <p:cNvSpPr txBox="1"/>
          <p:nvPr/>
        </p:nvSpPr>
        <p:spPr>
          <a:xfrm>
            <a:off x="510100" y="3890925"/>
            <a:ext cx="64380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 Write down all the possible outcomes for drawing a card from Deck B.</a:t>
            </a:r>
            <a:endParaRPr sz="1200">
              <a:solidFill>
                <a:srgbClr val="000000"/>
              </a:solidFill>
              <a:latin typeface="Lexend"/>
              <a:ea typeface="Lexend"/>
              <a:cs typeface="Lexend"/>
              <a:sym typeface="Lexend"/>
            </a:endParaRPr>
          </a:p>
        </p:txBody>
      </p:sp>
      <p:sp>
        <p:nvSpPr>
          <p:cNvPr id="206" name="Google Shape;206;p20"/>
          <p:cNvSpPr txBox="1"/>
          <p:nvPr/>
        </p:nvSpPr>
        <p:spPr>
          <a:xfrm>
            <a:off x="765931" y="3532419"/>
            <a:ext cx="5667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0, 1, 2</a:t>
            </a:r>
            <a:endParaRPr sz="1200">
              <a:solidFill>
                <a:srgbClr val="000000"/>
              </a:solidFill>
              <a:latin typeface="Kalam"/>
              <a:ea typeface="Kalam"/>
              <a:cs typeface="Kalam"/>
              <a:sym typeface="Kalam"/>
            </a:endParaRPr>
          </a:p>
        </p:txBody>
      </p:sp>
      <p:sp>
        <p:nvSpPr>
          <p:cNvPr id="207" name="Google Shape;207;p20"/>
          <p:cNvSpPr txBox="1"/>
          <p:nvPr/>
        </p:nvSpPr>
        <p:spPr>
          <a:xfrm>
            <a:off x="765931" y="4191484"/>
            <a:ext cx="2127300" cy="223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0, 1, 2, 3, 4, 5, 6, 7, 8, 9</a:t>
            </a:r>
            <a:endParaRPr sz="1200">
              <a:solidFill>
                <a:srgbClr val="000000"/>
              </a:solidFill>
              <a:latin typeface="Kalam"/>
              <a:ea typeface="Kalam"/>
              <a:cs typeface="Kalam"/>
              <a:sym typeface="Kalam"/>
            </a:endParaRPr>
          </a:p>
        </p:txBody>
      </p:sp>
      <p:sp>
        <p:nvSpPr>
          <p:cNvPr id="208" name="Google Shape;208;p20"/>
          <p:cNvSpPr txBox="1"/>
          <p:nvPr/>
        </p:nvSpPr>
        <p:spPr>
          <a:xfrm>
            <a:off x="479225" y="4569300"/>
            <a:ext cx="6292800" cy="21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 Write down all the possible outcomes for drawing one card from each deck.</a:t>
            </a:r>
            <a:endParaRPr sz="1200">
              <a:solidFill>
                <a:srgbClr val="000000"/>
              </a:solidFill>
              <a:latin typeface="Lexend"/>
              <a:ea typeface="Lexend"/>
              <a:cs typeface="Lexend"/>
              <a:sym typeface="Lexend"/>
            </a:endParaRPr>
          </a:p>
        </p:txBody>
      </p:sp>
      <p:sp>
        <p:nvSpPr>
          <p:cNvPr id="209" name="Google Shape;209;p20"/>
          <p:cNvSpPr txBox="1"/>
          <p:nvPr/>
        </p:nvSpPr>
        <p:spPr>
          <a:xfrm>
            <a:off x="479225" y="5642005"/>
            <a:ext cx="6292800" cy="218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 Describe the system that you used to list all of the outcomes in part (c).</a:t>
            </a:r>
            <a:endParaRPr sz="1200">
              <a:solidFill>
                <a:srgbClr val="000000"/>
              </a:solidFill>
              <a:latin typeface="Lexend"/>
              <a:ea typeface="Lexend"/>
              <a:cs typeface="Lexend"/>
              <a:sym typeface="Lexend"/>
            </a:endParaRPr>
          </a:p>
        </p:txBody>
      </p:sp>
      <p:sp>
        <p:nvSpPr>
          <p:cNvPr id="210" name="Google Shape;210;p20"/>
          <p:cNvSpPr txBox="1"/>
          <p:nvPr/>
        </p:nvSpPr>
        <p:spPr>
          <a:xfrm>
            <a:off x="613764" y="4863099"/>
            <a:ext cx="3292500" cy="828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00, 01, 02, 03, 04, 05, 06, 07, 08, 09, </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10, 11, 12, 13, 14, 15, 16, 17, 18, 19, </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20, 21, 22, 23, 24, 25, 26, 27, 28, 29</a:t>
            </a:r>
            <a:endParaRPr sz="1200">
              <a:solidFill>
                <a:srgbClr val="000000"/>
              </a:solidFill>
              <a:latin typeface="Kalam"/>
              <a:ea typeface="Kalam"/>
              <a:cs typeface="Kalam"/>
              <a:sym typeface="Kalam"/>
            </a:endParaRPr>
          </a:p>
        </p:txBody>
      </p:sp>
      <p:sp>
        <p:nvSpPr>
          <p:cNvPr id="211" name="Google Shape;211;p20"/>
          <p:cNvSpPr txBox="1"/>
          <p:nvPr/>
        </p:nvSpPr>
        <p:spPr>
          <a:xfrm>
            <a:off x="555425" y="5985084"/>
            <a:ext cx="6529800" cy="1411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E.g. Start with 0 from Deck A and 0 from Deck B. </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Increase the value of the card from Deck B each time until they all have been used. Increase the value of the card from Deck A by 1 and then repeat the same process. </a:t>
            </a:r>
            <a:r>
              <a:rPr lang="en-GB" sz="1200">
                <a:latin typeface="Kalam"/>
                <a:ea typeface="Kalam"/>
                <a:cs typeface="Kalam"/>
                <a:sym typeface="Kalam"/>
              </a:rPr>
              <a:t> </a:t>
            </a:r>
            <a:r>
              <a:rPr lang="en-GB" sz="1200">
                <a:solidFill>
                  <a:srgbClr val="000000"/>
                </a:solidFill>
                <a:latin typeface="Kalam"/>
                <a:ea typeface="Kalam"/>
                <a:cs typeface="Kalam"/>
                <a:sym typeface="Kalam"/>
              </a:rPr>
              <a:t>(like with counting)</a:t>
            </a:r>
            <a:endParaRPr sz="1200">
              <a:solidFill>
                <a:srgbClr val="000000"/>
              </a:solidFill>
              <a:latin typeface="Kalam"/>
              <a:ea typeface="Kalam"/>
              <a:cs typeface="Kalam"/>
              <a:sym typeface="Kalam"/>
            </a:endParaRPr>
          </a:p>
        </p:txBody>
      </p:sp>
      <p:sp>
        <p:nvSpPr>
          <p:cNvPr id="212" name="Google Shape;212;p20"/>
          <p:cNvSpPr txBox="1"/>
          <p:nvPr/>
        </p:nvSpPr>
        <p:spPr>
          <a:xfrm>
            <a:off x="476400" y="6702900"/>
            <a:ext cx="6434400" cy="2204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2) Here is a restaurant menu for two courses.</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 customer chooses one starter and one main course.</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a) List all the possible outcomes for a customer’s meal.</a:t>
            </a:r>
            <a:br>
              <a:rPr lang="en-GB" sz="1200">
                <a:solidFill>
                  <a:srgbClr val="000000"/>
                </a:solidFill>
                <a:latin typeface="Lexend"/>
                <a:ea typeface="Lexend"/>
                <a:cs typeface="Lexend"/>
                <a:sym typeface="Lexend"/>
              </a:rPr>
            </a:b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r>
              <a:rPr lang="en-GB" sz="1200">
                <a:solidFill>
                  <a:srgbClr val="000000"/>
                </a:solidFill>
                <a:latin typeface="Lexend"/>
                <a:ea typeface="Lexend"/>
                <a:cs typeface="Lexend"/>
                <a:sym typeface="Lexend"/>
              </a:rPr>
              <a:t>b) Describe the system that you used to list all of the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outcomes in part (a).</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213" name="Google Shape;213;p20"/>
          <p:cNvSpPr/>
          <p:nvPr/>
        </p:nvSpPr>
        <p:spPr>
          <a:xfrm>
            <a:off x="4959900" y="6736301"/>
            <a:ext cx="1863600" cy="2320500"/>
          </a:xfrm>
          <a:prstGeom prst="rect">
            <a:avLst/>
          </a:prstGeom>
          <a:solidFill>
            <a:srgbClr val="F3EEFB"/>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200">
              <a:latin typeface="Lexend"/>
              <a:ea typeface="Lexend"/>
              <a:cs typeface="Lexend"/>
              <a:sym typeface="Lexend"/>
            </a:endParaRPr>
          </a:p>
        </p:txBody>
      </p:sp>
      <p:sp>
        <p:nvSpPr>
          <p:cNvPr id="214" name="Google Shape;214;p20"/>
          <p:cNvSpPr txBox="1"/>
          <p:nvPr/>
        </p:nvSpPr>
        <p:spPr>
          <a:xfrm>
            <a:off x="5569152" y="6787740"/>
            <a:ext cx="6525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Starters</a:t>
            </a:r>
            <a:endParaRPr sz="1200" u="sng">
              <a:solidFill>
                <a:srgbClr val="000000"/>
              </a:solidFill>
              <a:latin typeface="Lexend"/>
              <a:ea typeface="Lexend"/>
              <a:cs typeface="Lexend"/>
              <a:sym typeface="Lexend"/>
            </a:endParaRPr>
          </a:p>
        </p:txBody>
      </p:sp>
      <p:sp>
        <p:nvSpPr>
          <p:cNvPr id="215" name="Google Shape;215;p20"/>
          <p:cNvSpPr txBox="1"/>
          <p:nvPr/>
        </p:nvSpPr>
        <p:spPr>
          <a:xfrm>
            <a:off x="5654738" y="7890432"/>
            <a:ext cx="5358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Mains</a:t>
            </a:r>
            <a:endParaRPr sz="1200" u="sng">
              <a:solidFill>
                <a:srgbClr val="000000"/>
              </a:solidFill>
              <a:latin typeface="Lexend"/>
              <a:ea typeface="Lexend"/>
              <a:cs typeface="Lexend"/>
              <a:sym typeface="Lexend"/>
            </a:endParaRPr>
          </a:p>
        </p:txBody>
      </p:sp>
      <p:sp>
        <p:nvSpPr>
          <p:cNvPr id="216" name="Google Shape;216;p20"/>
          <p:cNvSpPr txBox="1"/>
          <p:nvPr/>
        </p:nvSpPr>
        <p:spPr>
          <a:xfrm>
            <a:off x="5119061" y="7025821"/>
            <a:ext cx="4626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soup</a:t>
            </a:r>
            <a:endParaRPr sz="1200">
              <a:solidFill>
                <a:srgbClr val="000000"/>
              </a:solidFill>
              <a:latin typeface="Lexend"/>
              <a:ea typeface="Lexend"/>
              <a:cs typeface="Lexend"/>
              <a:sym typeface="Lexend"/>
            </a:endParaRPr>
          </a:p>
        </p:txBody>
      </p:sp>
      <p:sp>
        <p:nvSpPr>
          <p:cNvPr id="217" name="Google Shape;217;p20"/>
          <p:cNvSpPr txBox="1"/>
          <p:nvPr/>
        </p:nvSpPr>
        <p:spPr>
          <a:xfrm>
            <a:off x="5119059" y="7263902"/>
            <a:ext cx="7479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calamari</a:t>
            </a:r>
            <a:endParaRPr sz="1200">
              <a:solidFill>
                <a:srgbClr val="000000"/>
              </a:solidFill>
              <a:latin typeface="Lexend"/>
              <a:ea typeface="Lexend"/>
              <a:cs typeface="Lexend"/>
              <a:sym typeface="Lexend"/>
            </a:endParaRPr>
          </a:p>
        </p:txBody>
      </p:sp>
      <p:sp>
        <p:nvSpPr>
          <p:cNvPr id="218" name="Google Shape;218;p20"/>
          <p:cNvSpPr txBox="1"/>
          <p:nvPr/>
        </p:nvSpPr>
        <p:spPr>
          <a:xfrm>
            <a:off x="5119060" y="7498851"/>
            <a:ext cx="11028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meatballs</a:t>
            </a:r>
            <a:endParaRPr sz="1200">
              <a:solidFill>
                <a:srgbClr val="000000"/>
              </a:solidFill>
              <a:latin typeface="Lexend"/>
              <a:ea typeface="Lexend"/>
              <a:cs typeface="Lexend"/>
              <a:sym typeface="Lexend"/>
            </a:endParaRPr>
          </a:p>
        </p:txBody>
      </p:sp>
      <p:sp>
        <p:nvSpPr>
          <p:cNvPr id="219" name="Google Shape;219;p20"/>
          <p:cNvSpPr txBox="1"/>
          <p:nvPr/>
        </p:nvSpPr>
        <p:spPr>
          <a:xfrm>
            <a:off x="5119058" y="8128513"/>
            <a:ext cx="12141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lasagne</a:t>
            </a:r>
            <a:endParaRPr sz="1200">
              <a:solidFill>
                <a:srgbClr val="000000"/>
              </a:solidFill>
              <a:latin typeface="Lexend"/>
              <a:ea typeface="Lexend"/>
              <a:cs typeface="Lexend"/>
              <a:sym typeface="Lexend"/>
            </a:endParaRPr>
          </a:p>
        </p:txBody>
      </p:sp>
      <p:sp>
        <p:nvSpPr>
          <p:cNvPr id="220" name="Google Shape;220;p20"/>
          <p:cNvSpPr txBox="1"/>
          <p:nvPr/>
        </p:nvSpPr>
        <p:spPr>
          <a:xfrm>
            <a:off x="5119060" y="8366595"/>
            <a:ext cx="11874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ravioli</a:t>
            </a:r>
            <a:endParaRPr sz="1200">
              <a:solidFill>
                <a:srgbClr val="000000"/>
              </a:solidFill>
              <a:latin typeface="Lexend"/>
              <a:ea typeface="Lexend"/>
              <a:cs typeface="Lexend"/>
              <a:sym typeface="Lexend"/>
            </a:endParaRPr>
          </a:p>
        </p:txBody>
      </p:sp>
      <p:sp>
        <p:nvSpPr>
          <p:cNvPr id="221" name="Google Shape;221;p20"/>
          <p:cNvSpPr txBox="1"/>
          <p:nvPr/>
        </p:nvSpPr>
        <p:spPr>
          <a:xfrm>
            <a:off x="5119060" y="8601543"/>
            <a:ext cx="11028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bologn</a:t>
            </a:r>
            <a:r>
              <a:rPr lang="en-GB" sz="1200">
                <a:latin typeface="Lexend"/>
                <a:ea typeface="Lexend"/>
                <a:cs typeface="Lexend"/>
                <a:sym typeface="Lexend"/>
              </a:rPr>
              <a:t>e</a:t>
            </a:r>
            <a:r>
              <a:rPr lang="en-GB" sz="1200">
                <a:solidFill>
                  <a:srgbClr val="000000"/>
                </a:solidFill>
                <a:latin typeface="Lexend"/>
                <a:ea typeface="Lexend"/>
                <a:cs typeface="Lexend"/>
                <a:sym typeface="Lexend"/>
              </a:rPr>
              <a:t>se</a:t>
            </a:r>
            <a:endParaRPr sz="1200">
              <a:solidFill>
                <a:srgbClr val="000000"/>
              </a:solidFill>
              <a:latin typeface="Lexend"/>
              <a:ea typeface="Lexend"/>
              <a:cs typeface="Lexend"/>
              <a:sym typeface="Lexend"/>
            </a:endParaRPr>
          </a:p>
        </p:txBody>
      </p:sp>
      <p:sp>
        <p:nvSpPr>
          <p:cNvPr id="222" name="Google Shape;222;p20"/>
          <p:cNvSpPr txBox="1"/>
          <p:nvPr/>
        </p:nvSpPr>
        <p:spPr>
          <a:xfrm>
            <a:off x="5119060" y="8839625"/>
            <a:ext cx="11028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pizza</a:t>
            </a:r>
            <a:endParaRPr sz="1200">
              <a:solidFill>
                <a:srgbClr val="000000"/>
              </a:solidFill>
              <a:latin typeface="Lexend"/>
              <a:ea typeface="Lexend"/>
              <a:cs typeface="Lexend"/>
              <a:sym typeface="Lexend"/>
            </a:endParaRPr>
          </a:p>
        </p:txBody>
      </p:sp>
      <p:sp>
        <p:nvSpPr>
          <p:cNvPr id="223" name="Google Shape;223;p20"/>
          <p:cNvSpPr txBox="1"/>
          <p:nvPr/>
        </p:nvSpPr>
        <p:spPr>
          <a:xfrm>
            <a:off x="5541599" y="7025829"/>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(S)</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4" name="Google Shape;224;p20"/>
          <p:cNvSpPr txBox="1"/>
          <p:nvPr/>
        </p:nvSpPr>
        <p:spPr>
          <a:xfrm>
            <a:off x="5881491" y="7263910"/>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(C)</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5" name="Google Shape;225;p20"/>
          <p:cNvSpPr txBox="1"/>
          <p:nvPr/>
        </p:nvSpPr>
        <p:spPr>
          <a:xfrm>
            <a:off x="5925348" y="7501992"/>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(M)</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6" name="Google Shape;226;p20"/>
          <p:cNvSpPr txBox="1"/>
          <p:nvPr/>
        </p:nvSpPr>
        <p:spPr>
          <a:xfrm>
            <a:off x="5785945" y="8141052"/>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(L)</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7" name="Google Shape;227;p20"/>
          <p:cNvSpPr txBox="1"/>
          <p:nvPr/>
        </p:nvSpPr>
        <p:spPr>
          <a:xfrm>
            <a:off x="5659073" y="8371302"/>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(R)</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8" name="Google Shape;228;p20"/>
          <p:cNvSpPr txBox="1"/>
          <p:nvPr/>
        </p:nvSpPr>
        <p:spPr>
          <a:xfrm>
            <a:off x="6036557" y="8601552"/>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(B)</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29" name="Google Shape;229;p20"/>
          <p:cNvSpPr txBox="1"/>
          <p:nvPr/>
        </p:nvSpPr>
        <p:spPr>
          <a:xfrm>
            <a:off x="5560395" y="8839633"/>
            <a:ext cx="333000" cy="21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(P)</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30" name="Google Shape;230;p20"/>
          <p:cNvSpPr txBox="1"/>
          <p:nvPr/>
        </p:nvSpPr>
        <p:spPr>
          <a:xfrm>
            <a:off x="482375" y="7501992"/>
            <a:ext cx="2953500" cy="724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SL, SR, SB, SP,</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CL, CR, CB, CP,</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ML, MR, MB, MP</a:t>
            </a:r>
            <a:endParaRPr sz="1200">
              <a:solidFill>
                <a:srgbClr val="000000"/>
              </a:solidFill>
              <a:latin typeface="Kalam"/>
              <a:ea typeface="Kalam"/>
              <a:cs typeface="Kalam"/>
              <a:sym typeface="Kalam"/>
            </a:endParaRPr>
          </a:p>
        </p:txBody>
      </p:sp>
      <p:sp>
        <p:nvSpPr>
          <p:cNvPr id="231" name="Google Shape;231;p20"/>
          <p:cNvSpPr txBox="1"/>
          <p:nvPr/>
        </p:nvSpPr>
        <p:spPr>
          <a:xfrm>
            <a:off x="476400" y="9001209"/>
            <a:ext cx="6610500" cy="976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E.g. Start with item from each course. </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Work through each main course item in order until reaching the end of the list. Move to the next item in the starter list and work through each item in the main course list again. Repeat until the final starter has been paired with every main course. </a:t>
            </a:r>
            <a:endParaRPr sz="1200">
              <a:solidFill>
                <a:srgbClr val="000000"/>
              </a:solidFill>
              <a:latin typeface="Kalam"/>
              <a:ea typeface="Kalam"/>
              <a:cs typeface="Kalam"/>
              <a:sym typeface="Kalam"/>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5" name="Shape 235"/>
        <p:cNvGrpSpPr/>
        <p:nvPr/>
      </p:nvGrpSpPr>
      <p:grpSpPr>
        <a:xfrm>
          <a:off x="0" y="0"/>
          <a:ext cx="0" cy="0"/>
        </a:xfrm>
      </p:grpSpPr>
      <p:sp>
        <p:nvSpPr>
          <p:cNvPr id="236" name="Google Shape;236;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
        <p:nvSpPr>
          <p:cNvPr id="237" name="Google Shape;237;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Checking listing possible outcomes</a:t>
            </a:r>
            <a:endParaRPr/>
          </a:p>
        </p:txBody>
      </p:sp>
      <p:sp>
        <p:nvSpPr>
          <p:cNvPr id="238" name="Google Shape;238;p21"/>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v2.3</a:t>
            </a:r>
            <a:endParaRPr sz="1000">
              <a:solidFill>
                <a:schemeClr val="lt1"/>
              </a:solidFill>
              <a:latin typeface="Lexend"/>
              <a:ea typeface="Lexend"/>
              <a:cs typeface="Lexend"/>
              <a:sym typeface="Lexend"/>
            </a:endParaRPr>
          </a:p>
        </p:txBody>
      </p:sp>
      <p:sp>
        <p:nvSpPr>
          <p:cNvPr id="239" name="Google Shape;239;p21"/>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Clr>
                <a:schemeClr val="dk1"/>
              </a:buClr>
              <a:buSzPts val="1100"/>
              <a:buFont typeface="Arial"/>
              <a:buNone/>
            </a:pPr>
            <a:r>
              <a:rPr lang="en-GB">
                <a:latin typeface="Lexend"/>
                <a:ea typeface="Lexend"/>
                <a:cs typeface="Lexend"/>
                <a:sym typeface="Lexend"/>
              </a:rPr>
              <a:t>Mathematics in Education and Industry.</a:t>
            </a:r>
            <a:endParaRPr/>
          </a:p>
        </p:txBody>
      </p:sp>
      <p:sp>
        <p:nvSpPr>
          <p:cNvPr id="240" name="Google Shape;240;p21"/>
          <p:cNvSpPr txBox="1"/>
          <p:nvPr/>
        </p:nvSpPr>
        <p:spPr>
          <a:xfrm>
            <a:off x="476400" y="998592"/>
            <a:ext cx="6615600" cy="585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1) A flipped coin has two outcomes: ‘heads’ (H) and ‘tails’ (T). </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r>
              <a:rPr lang="en-GB" sz="1200">
                <a:solidFill>
                  <a:srgbClr val="000000"/>
                </a:solidFill>
                <a:latin typeface="Lexend"/>
                <a:ea typeface="Lexend"/>
                <a:cs typeface="Lexend"/>
                <a:sym typeface="Lexend"/>
              </a:rPr>
              <a:t>    Complete the list all possible outcomes for when a coin is flipped three times.</a:t>
            </a:r>
            <a:endParaRPr sz="1200">
              <a:solidFill>
                <a:srgbClr val="000000"/>
              </a:solidFill>
              <a:latin typeface="Lexend"/>
              <a:ea typeface="Lexend"/>
              <a:cs typeface="Lexend"/>
              <a:sym typeface="Lexend"/>
            </a:endParaRPr>
          </a:p>
        </p:txBody>
      </p:sp>
      <p:sp>
        <p:nvSpPr>
          <p:cNvPr id="241" name="Google Shape;241;p21"/>
          <p:cNvSpPr txBox="1"/>
          <p:nvPr/>
        </p:nvSpPr>
        <p:spPr>
          <a:xfrm>
            <a:off x="467999" y="573050"/>
            <a:ext cx="6441600" cy="3075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b="1">
                <a:solidFill>
                  <a:schemeClr val="dk1"/>
                </a:solidFill>
                <a:latin typeface="Lexend"/>
                <a:ea typeface="Lexend"/>
                <a:cs typeface="Lexend"/>
                <a:sym typeface="Lexend"/>
              </a:rPr>
              <a:t>Task B:  Listing outcomes for three-stage trials</a:t>
            </a:r>
            <a:endParaRPr b="1">
              <a:solidFill>
                <a:schemeClr val="dk1"/>
              </a:solidFill>
              <a:latin typeface="Lexend"/>
              <a:ea typeface="Lexend"/>
              <a:cs typeface="Lexend"/>
              <a:sym typeface="Lexend"/>
            </a:endParaRPr>
          </a:p>
        </p:txBody>
      </p:sp>
      <p:sp>
        <p:nvSpPr>
          <p:cNvPr id="242" name="Google Shape;242;p21"/>
          <p:cNvSpPr txBox="1"/>
          <p:nvPr/>
        </p:nvSpPr>
        <p:spPr>
          <a:xfrm>
            <a:off x="1266779" y="1687659"/>
            <a:ext cx="5635200" cy="537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HHH</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HHT</a:t>
            </a:r>
            <a:endParaRPr sz="1200">
              <a:solidFill>
                <a:srgbClr val="000000"/>
              </a:solidFill>
              <a:latin typeface="Lexend"/>
              <a:ea typeface="Lexend"/>
              <a:cs typeface="Lexend"/>
              <a:sym typeface="Lexend"/>
            </a:endParaRPr>
          </a:p>
        </p:txBody>
      </p:sp>
      <p:sp>
        <p:nvSpPr>
          <p:cNvPr id="243" name="Google Shape;243;p21"/>
          <p:cNvSpPr txBox="1"/>
          <p:nvPr/>
        </p:nvSpPr>
        <p:spPr>
          <a:xfrm>
            <a:off x="1266779" y="2085104"/>
            <a:ext cx="501300" cy="537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HTH</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HTT</a:t>
            </a:r>
            <a:endParaRPr sz="1200">
              <a:solidFill>
                <a:srgbClr val="000000"/>
              </a:solidFill>
              <a:latin typeface="Kalam"/>
              <a:ea typeface="Kalam"/>
              <a:cs typeface="Kalam"/>
              <a:sym typeface="Kalam"/>
            </a:endParaRPr>
          </a:p>
        </p:txBody>
      </p:sp>
      <p:sp>
        <p:nvSpPr>
          <p:cNvPr id="244" name="Google Shape;244;p21"/>
          <p:cNvSpPr txBox="1"/>
          <p:nvPr/>
        </p:nvSpPr>
        <p:spPr>
          <a:xfrm>
            <a:off x="1266779" y="2617002"/>
            <a:ext cx="501300" cy="102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THH</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THT</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TTH</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TTT</a:t>
            </a:r>
            <a:endParaRPr sz="1200">
              <a:solidFill>
                <a:srgbClr val="000000"/>
              </a:solidFill>
              <a:latin typeface="Kalam"/>
              <a:ea typeface="Kalam"/>
              <a:cs typeface="Kalam"/>
              <a:sym typeface="Kalam"/>
            </a:endParaRPr>
          </a:p>
        </p:txBody>
      </p:sp>
      <p:sp>
        <p:nvSpPr>
          <p:cNvPr id="245" name="Google Shape;245;p21"/>
          <p:cNvSpPr txBox="1"/>
          <p:nvPr/>
        </p:nvSpPr>
        <p:spPr>
          <a:xfrm>
            <a:off x="476400" y="3578700"/>
            <a:ext cx="6615600" cy="764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2) A netball team plays three matches. Each match, the team could either win (W),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lose (L) or draw (D). </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r>
              <a:rPr lang="en-GB" sz="1200">
                <a:solidFill>
                  <a:srgbClr val="000000"/>
                </a:solidFill>
                <a:latin typeface="Lexend"/>
                <a:ea typeface="Lexend"/>
                <a:cs typeface="Lexend"/>
                <a:sym typeface="Lexend"/>
              </a:rPr>
              <a:t>    List all the possible outcomes for the results of the three matches.</a:t>
            </a:r>
            <a:endParaRPr sz="1200">
              <a:solidFill>
                <a:srgbClr val="000000"/>
              </a:solidFill>
              <a:latin typeface="Lexend"/>
              <a:ea typeface="Lexend"/>
              <a:cs typeface="Lexend"/>
              <a:sym typeface="Lexend"/>
            </a:endParaRPr>
          </a:p>
        </p:txBody>
      </p:sp>
      <p:sp>
        <p:nvSpPr>
          <p:cNvPr id="246" name="Google Shape;246;p21"/>
          <p:cNvSpPr txBox="1"/>
          <p:nvPr/>
        </p:nvSpPr>
        <p:spPr>
          <a:xfrm>
            <a:off x="1376000" y="4368001"/>
            <a:ext cx="477300" cy="2452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WWW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WWL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WWD</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None/>
            </a:pPr>
            <a:r>
              <a:rPr lang="en-GB" sz="1200">
                <a:solidFill>
                  <a:srgbClr val="000000"/>
                </a:solidFill>
                <a:latin typeface="Kalam"/>
                <a:ea typeface="Kalam"/>
                <a:cs typeface="Kalam"/>
                <a:sym typeface="Kalam"/>
              </a:rPr>
              <a:t>WLW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WLL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WLD</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r>
              <a:rPr lang="en-GB" sz="1200">
                <a:solidFill>
                  <a:srgbClr val="000000"/>
                </a:solidFill>
                <a:latin typeface="Kalam"/>
                <a:ea typeface="Kalam"/>
                <a:cs typeface="Kalam"/>
                <a:sym typeface="Kalam"/>
              </a:rPr>
              <a:t>WDW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WDL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WDD</a:t>
            </a:r>
            <a:endParaRPr sz="1200">
              <a:solidFill>
                <a:srgbClr val="000000"/>
              </a:solidFill>
              <a:latin typeface="Kalam"/>
              <a:ea typeface="Kalam"/>
              <a:cs typeface="Kalam"/>
              <a:sym typeface="Kalam"/>
            </a:endParaRPr>
          </a:p>
        </p:txBody>
      </p:sp>
      <p:sp>
        <p:nvSpPr>
          <p:cNvPr id="247" name="Google Shape;247;p21"/>
          <p:cNvSpPr txBox="1"/>
          <p:nvPr/>
        </p:nvSpPr>
        <p:spPr>
          <a:xfrm>
            <a:off x="2206688" y="4368001"/>
            <a:ext cx="477300" cy="2452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LWW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LWL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LWD</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None/>
            </a:pPr>
            <a:r>
              <a:rPr lang="en-GB" sz="1200">
                <a:solidFill>
                  <a:srgbClr val="000000"/>
                </a:solidFill>
                <a:latin typeface="Kalam"/>
                <a:ea typeface="Kalam"/>
                <a:cs typeface="Kalam"/>
                <a:sym typeface="Kalam"/>
              </a:rPr>
              <a:t>LLW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LLL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LLD</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r>
              <a:rPr lang="en-GB" sz="1200">
                <a:solidFill>
                  <a:srgbClr val="000000"/>
                </a:solidFill>
                <a:latin typeface="Kalam"/>
                <a:ea typeface="Kalam"/>
                <a:cs typeface="Kalam"/>
                <a:sym typeface="Kalam"/>
              </a:rPr>
              <a:t>LDW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LDL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LDD</a:t>
            </a:r>
            <a:endParaRPr sz="1200">
              <a:solidFill>
                <a:srgbClr val="000000"/>
              </a:solidFill>
              <a:latin typeface="Kalam"/>
              <a:ea typeface="Kalam"/>
              <a:cs typeface="Kalam"/>
              <a:sym typeface="Kalam"/>
            </a:endParaRPr>
          </a:p>
        </p:txBody>
      </p:sp>
      <p:sp>
        <p:nvSpPr>
          <p:cNvPr id="248" name="Google Shape;248;p21"/>
          <p:cNvSpPr txBox="1"/>
          <p:nvPr/>
        </p:nvSpPr>
        <p:spPr>
          <a:xfrm>
            <a:off x="3037375" y="4368001"/>
            <a:ext cx="477300" cy="2452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DWW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DWL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DWD</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None/>
            </a:pPr>
            <a:r>
              <a:rPr lang="en-GB" sz="1200">
                <a:solidFill>
                  <a:srgbClr val="000000"/>
                </a:solidFill>
                <a:latin typeface="Kalam"/>
                <a:ea typeface="Kalam"/>
                <a:cs typeface="Kalam"/>
                <a:sym typeface="Kalam"/>
              </a:rPr>
              <a:t>DLW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DLL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DLD</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r>
              <a:rPr lang="en-GB" sz="1200">
                <a:solidFill>
                  <a:srgbClr val="000000"/>
                </a:solidFill>
                <a:latin typeface="Kalam"/>
                <a:ea typeface="Kalam"/>
                <a:cs typeface="Kalam"/>
                <a:sym typeface="Kalam"/>
              </a:rPr>
              <a:t>DDW</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DDL</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DDD</a:t>
            </a:r>
            <a:endParaRPr sz="1200">
              <a:solidFill>
                <a:srgbClr val="000000"/>
              </a:solidFill>
              <a:latin typeface="Kalam"/>
              <a:ea typeface="Kalam"/>
              <a:cs typeface="Kalam"/>
              <a:sym typeface="Kalam"/>
            </a:endParaRPr>
          </a:p>
        </p:txBody>
      </p:sp>
      <p:sp>
        <p:nvSpPr>
          <p:cNvPr id="249" name="Google Shape;249;p21"/>
          <p:cNvSpPr txBox="1"/>
          <p:nvPr/>
        </p:nvSpPr>
        <p:spPr>
          <a:xfrm>
            <a:off x="476400" y="6702900"/>
            <a:ext cx="6615600" cy="1233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Here is a restaurant menu for two courses.</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 customer chooses one starter, one main course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and one dessert.</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r>
              <a:rPr lang="en-GB" sz="1200">
                <a:solidFill>
                  <a:srgbClr val="000000"/>
                </a:solidFill>
                <a:latin typeface="Lexend"/>
                <a:ea typeface="Lexend"/>
                <a:cs typeface="Lexend"/>
                <a:sym typeface="Lexend"/>
              </a:rPr>
              <a:t>    List all the possible outcomes for a customer’s meal.</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You may use your answers to Task A to help you.</a:t>
            </a:r>
            <a:endParaRPr sz="1200">
              <a:solidFill>
                <a:srgbClr val="000000"/>
              </a:solidFill>
              <a:latin typeface="Lexend"/>
              <a:ea typeface="Lexend"/>
              <a:cs typeface="Lexend"/>
              <a:sym typeface="Lexend"/>
            </a:endParaRPr>
          </a:p>
        </p:txBody>
      </p:sp>
      <p:sp>
        <p:nvSpPr>
          <p:cNvPr id="250" name="Google Shape;250;p21"/>
          <p:cNvSpPr/>
          <p:nvPr/>
        </p:nvSpPr>
        <p:spPr>
          <a:xfrm>
            <a:off x="4857466" y="6584852"/>
            <a:ext cx="1916100" cy="3227100"/>
          </a:xfrm>
          <a:prstGeom prst="rect">
            <a:avLst/>
          </a:prstGeom>
          <a:solidFill>
            <a:srgbClr val="E6F2F2"/>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200">
              <a:latin typeface="Lexend"/>
              <a:ea typeface="Lexend"/>
              <a:cs typeface="Lexend"/>
              <a:sym typeface="Lexend"/>
            </a:endParaRPr>
          </a:p>
        </p:txBody>
      </p:sp>
      <p:sp>
        <p:nvSpPr>
          <p:cNvPr id="251" name="Google Shape;251;p21"/>
          <p:cNvSpPr txBox="1"/>
          <p:nvPr/>
        </p:nvSpPr>
        <p:spPr>
          <a:xfrm>
            <a:off x="5483875" y="6637727"/>
            <a:ext cx="6711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Starters</a:t>
            </a:r>
            <a:endParaRPr sz="1200" u="sng">
              <a:solidFill>
                <a:srgbClr val="000000"/>
              </a:solidFill>
              <a:latin typeface="Lexend"/>
              <a:ea typeface="Lexend"/>
              <a:cs typeface="Lexend"/>
              <a:sym typeface="Lexend"/>
            </a:endParaRPr>
          </a:p>
        </p:txBody>
      </p:sp>
      <p:sp>
        <p:nvSpPr>
          <p:cNvPr id="252" name="Google Shape;252;p21"/>
          <p:cNvSpPr txBox="1"/>
          <p:nvPr/>
        </p:nvSpPr>
        <p:spPr>
          <a:xfrm>
            <a:off x="5571869" y="7771451"/>
            <a:ext cx="5508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Mains</a:t>
            </a:r>
            <a:endParaRPr sz="1200" u="sng">
              <a:solidFill>
                <a:srgbClr val="000000"/>
              </a:solidFill>
              <a:latin typeface="Lexend"/>
              <a:ea typeface="Lexend"/>
              <a:cs typeface="Lexend"/>
              <a:sym typeface="Lexend"/>
            </a:endParaRPr>
          </a:p>
        </p:txBody>
      </p:sp>
      <p:sp>
        <p:nvSpPr>
          <p:cNvPr id="253" name="Google Shape;253;p21"/>
          <p:cNvSpPr txBox="1"/>
          <p:nvPr/>
        </p:nvSpPr>
        <p:spPr>
          <a:xfrm>
            <a:off x="5021117" y="6882508"/>
            <a:ext cx="4755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soup</a:t>
            </a:r>
            <a:endParaRPr sz="1200">
              <a:solidFill>
                <a:srgbClr val="000000"/>
              </a:solidFill>
              <a:latin typeface="Lexend"/>
              <a:ea typeface="Lexend"/>
              <a:cs typeface="Lexend"/>
              <a:sym typeface="Lexend"/>
            </a:endParaRPr>
          </a:p>
        </p:txBody>
      </p:sp>
      <p:sp>
        <p:nvSpPr>
          <p:cNvPr id="254" name="Google Shape;254;p21"/>
          <p:cNvSpPr txBox="1"/>
          <p:nvPr/>
        </p:nvSpPr>
        <p:spPr>
          <a:xfrm>
            <a:off x="5021115" y="7127290"/>
            <a:ext cx="7689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calamari</a:t>
            </a:r>
            <a:endParaRPr sz="1200">
              <a:solidFill>
                <a:srgbClr val="000000"/>
              </a:solidFill>
              <a:latin typeface="Lexend"/>
              <a:ea typeface="Lexend"/>
              <a:cs typeface="Lexend"/>
              <a:sym typeface="Lexend"/>
            </a:endParaRPr>
          </a:p>
        </p:txBody>
      </p:sp>
      <p:sp>
        <p:nvSpPr>
          <p:cNvPr id="255" name="Google Shape;255;p21"/>
          <p:cNvSpPr txBox="1"/>
          <p:nvPr/>
        </p:nvSpPr>
        <p:spPr>
          <a:xfrm>
            <a:off x="5021116" y="7368850"/>
            <a:ext cx="11337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meatballs</a:t>
            </a:r>
            <a:endParaRPr sz="1200">
              <a:solidFill>
                <a:srgbClr val="000000"/>
              </a:solidFill>
              <a:latin typeface="Lexend"/>
              <a:ea typeface="Lexend"/>
              <a:cs typeface="Lexend"/>
              <a:sym typeface="Lexend"/>
            </a:endParaRPr>
          </a:p>
        </p:txBody>
      </p:sp>
      <p:sp>
        <p:nvSpPr>
          <p:cNvPr id="256" name="Google Shape;256;p21"/>
          <p:cNvSpPr txBox="1"/>
          <p:nvPr/>
        </p:nvSpPr>
        <p:spPr>
          <a:xfrm>
            <a:off x="5021113" y="8016232"/>
            <a:ext cx="1248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lasagne</a:t>
            </a:r>
            <a:endParaRPr sz="1200">
              <a:solidFill>
                <a:srgbClr val="000000"/>
              </a:solidFill>
              <a:latin typeface="Lexend"/>
              <a:ea typeface="Lexend"/>
              <a:cs typeface="Lexend"/>
              <a:sym typeface="Lexend"/>
            </a:endParaRPr>
          </a:p>
        </p:txBody>
      </p:sp>
      <p:sp>
        <p:nvSpPr>
          <p:cNvPr id="257" name="Google Shape;257;p21"/>
          <p:cNvSpPr txBox="1"/>
          <p:nvPr/>
        </p:nvSpPr>
        <p:spPr>
          <a:xfrm>
            <a:off x="5021116" y="8261013"/>
            <a:ext cx="12207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ravioli</a:t>
            </a:r>
            <a:endParaRPr sz="1200">
              <a:solidFill>
                <a:srgbClr val="000000"/>
              </a:solidFill>
              <a:latin typeface="Lexend"/>
              <a:ea typeface="Lexend"/>
              <a:cs typeface="Lexend"/>
              <a:sym typeface="Lexend"/>
            </a:endParaRPr>
          </a:p>
        </p:txBody>
      </p:sp>
      <p:sp>
        <p:nvSpPr>
          <p:cNvPr id="258" name="Google Shape;258;p21"/>
          <p:cNvSpPr txBox="1"/>
          <p:nvPr/>
        </p:nvSpPr>
        <p:spPr>
          <a:xfrm>
            <a:off x="5021116" y="8502574"/>
            <a:ext cx="11337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bologn</a:t>
            </a:r>
            <a:r>
              <a:rPr lang="en-GB" sz="1200">
                <a:latin typeface="Lexend"/>
                <a:ea typeface="Lexend"/>
                <a:cs typeface="Lexend"/>
                <a:sym typeface="Lexend"/>
              </a:rPr>
              <a:t>e</a:t>
            </a:r>
            <a:r>
              <a:rPr lang="en-GB" sz="1200">
                <a:solidFill>
                  <a:srgbClr val="000000"/>
                </a:solidFill>
                <a:latin typeface="Lexend"/>
                <a:ea typeface="Lexend"/>
                <a:cs typeface="Lexend"/>
                <a:sym typeface="Lexend"/>
              </a:rPr>
              <a:t>se</a:t>
            </a:r>
            <a:endParaRPr sz="1200">
              <a:solidFill>
                <a:srgbClr val="000000"/>
              </a:solidFill>
              <a:latin typeface="Lexend"/>
              <a:ea typeface="Lexend"/>
              <a:cs typeface="Lexend"/>
              <a:sym typeface="Lexend"/>
            </a:endParaRPr>
          </a:p>
        </p:txBody>
      </p:sp>
      <p:sp>
        <p:nvSpPr>
          <p:cNvPr id="259" name="Google Shape;259;p21"/>
          <p:cNvSpPr txBox="1"/>
          <p:nvPr/>
        </p:nvSpPr>
        <p:spPr>
          <a:xfrm>
            <a:off x="5021116" y="8747355"/>
            <a:ext cx="11337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pizza</a:t>
            </a:r>
            <a:endParaRPr sz="1200">
              <a:solidFill>
                <a:srgbClr val="000000"/>
              </a:solidFill>
              <a:latin typeface="Lexend"/>
              <a:ea typeface="Lexend"/>
              <a:cs typeface="Lexend"/>
              <a:sym typeface="Lexend"/>
            </a:endParaRPr>
          </a:p>
        </p:txBody>
      </p:sp>
      <p:sp>
        <p:nvSpPr>
          <p:cNvPr id="260" name="Google Shape;260;p21"/>
          <p:cNvSpPr txBox="1"/>
          <p:nvPr/>
        </p:nvSpPr>
        <p:spPr>
          <a:xfrm>
            <a:off x="5510678" y="9027565"/>
            <a:ext cx="7689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u="sng">
                <a:solidFill>
                  <a:srgbClr val="000000"/>
                </a:solidFill>
                <a:latin typeface="Lexend"/>
                <a:ea typeface="Lexend"/>
                <a:cs typeface="Lexend"/>
                <a:sym typeface="Lexend"/>
              </a:rPr>
              <a:t>Desserts</a:t>
            </a:r>
            <a:endParaRPr sz="1200" u="sng">
              <a:solidFill>
                <a:srgbClr val="000000"/>
              </a:solidFill>
              <a:latin typeface="Lexend"/>
              <a:ea typeface="Lexend"/>
              <a:cs typeface="Lexend"/>
              <a:sym typeface="Lexend"/>
            </a:endParaRPr>
          </a:p>
        </p:txBody>
      </p:sp>
      <p:sp>
        <p:nvSpPr>
          <p:cNvPr id="261" name="Google Shape;261;p21"/>
          <p:cNvSpPr txBox="1"/>
          <p:nvPr/>
        </p:nvSpPr>
        <p:spPr>
          <a:xfrm>
            <a:off x="5021113" y="9272347"/>
            <a:ext cx="1248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ice cream</a:t>
            </a:r>
            <a:endParaRPr sz="1200">
              <a:solidFill>
                <a:srgbClr val="000000"/>
              </a:solidFill>
              <a:latin typeface="Lexend"/>
              <a:ea typeface="Lexend"/>
              <a:cs typeface="Lexend"/>
              <a:sym typeface="Lexend"/>
            </a:endParaRPr>
          </a:p>
        </p:txBody>
      </p:sp>
      <p:sp>
        <p:nvSpPr>
          <p:cNvPr id="262" name="Google Shape;262;p21"/>
          <p:cNvSpPr txBox="1"/>
          <p:nvPr/>
        </p:nvSpPr>
        <p:spPr>
          <a:xfrm>
            <a:off x="5021113" y="9517128"/>
            <a:ext cx="1248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tiramisu</a:t>
            </a:r>
            <a:endParaRPr sz="1200">
              <a:solidFill>
                <a:srgbClr val="000000"/>
              </a:solidFill>
              <a:latin typeface="Lexend"/>
              <a:ea typeface="Lexend"/>
              <a:cs typeface="Lexend"/>
              <a:sym typeface="Lexend"/>
            </a:endParaRPr>
          </a:p>
        </p:txBody>
      </p:sp>
      <p:sp>
        <p:nvSpPr>
          <p:cNvPr id="263" name="Google Shape;263;p21"/>
          <p:cNvSpPr txBox="1"/>
          <p:nvPr/>
        </p:nvSpPr>
        <p:spPr>
          <a:xfrm>
            <a:off x="666130" y="8075237"/>
            <a:ext cx="1844700" cy="1827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SLI, SRI, SBI, SPI,</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SLT, SRT, SBT, SPT,</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None/>
            </a:pPr>
            <a:r>
              <a:rPr lang="en-GB" sz="1200">
                <a:solidFill>
                  <a:srgbClr val="000000"/>
                </a:solidFill>
                <a:latin typeface="Kalam"/>
                <a:ea typeface="Kalam"/>
                <a:cs typeface="Kalam"/>
                <a:sym typeface="Kalam"/>
              </a:rPr>
              <a:t>CLI, CRI, CBI, CPI,</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CLT, CRT, CBT, CPT,</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r>
              <a:rPr lang="en-GB" sz="1200">
                <a:solidFill>
                  <a:srgbClr val="000000"/>
                </a:solidFill>
                <a:latin typeface="Kalam"/>
                <a:ea typeface="Kalam"/>
                <a:cs typeface="Kalam"/>
                <a:sym typeface="Kalam"/>
              </a:rPr>
              <a:t>MLI, MRI, MBI, MPI,</a:t>
            </a:r>
            <a:br>
              <a:rPr lang="en-GB" sz="1200">
                <a:solidFill>
                  <a:srgbClr val="000000"/>
                </a:solidFill>
                <a:latin typeface="Kalam"/>
                <a:ea typeface="Kalam"/>
                <a:cs typeface="Kalam"/>
                <a:sym typeface="Kalam"/>
              </a:rPr>
            </a:br>
            <a:r>
              <a:rPr lang="en-GB" sz="1200">
                <a:solidFill>
                  <a:srgbClr val="000000"/>
                </a:solidFill>
                <a:latin typeface="Kalam"/>
                <a:ea typeface="Kalam"/>
                <a:cs typeface="Kalam"/>
                <a:sym typeface="Kalam"/>
              </a:rPr>
              <a:t>MLT, MRT, MBT, MPT</a:t>
            </a:r>
            <a:endParaRPr sz="1200">
              <a:solidFill>
                <a:srgbClr val="000000"/>
              </a:solidFill>
              <a:latin typeface="Kalam"/>
              <a:ea typeface="Kalam"/>
              <a:cs typeface="Kalam"/>
              <a:sym typeface="Kalam"/>
            </a:endParaRPr>
          </a:p>
        </p:txBody>
      </p:sp>
      <p:sp>
        <p:nvSpPr>
          <p:cNvPr id="264" name="Google Shape;264;p21"/>
          <p:cNvSpPr txBox="1"/>
          <p:nvPr/>
        </p:nvSpPr>
        <p:spPr>
          <a:xfrm>
            <a:off x="5455546" y="6882517"/>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(S)</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65" name="Google Shape;265;p21"/>
          <p:cNvSpPr txBox="1"/>
          <p:nvPr/>
        </p:nvSpPr>
        <p:spPr>
          <a:xfrm>
            <a:off x="5805004" y="7127298"/>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(C)</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66" name="Google Shape;266;p21"/>
          <p:cNvSpPr txBox="1"/>
          <p:nvPr/>
        </p:nvSpPr>
        <p:spPr>
          <a:xfrm>
            <a:off x="5850095" y="7372079"/>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(M)</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67" name="Google Shape;267;p21"/>
          <p:cNvSpPr txBox="1"/>
          <p:nvPr/>
        </p:nvSpPr>
        <p:spPr>
          <a:xfrm>
            <a:off x="5706769" y="8029124"/>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(L)</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68" name="Google Shape;268;p21"/>
          <p:cNvSpPr txBox="1"/>
          <p:nvPr/>
        </p:nvSpPr>
        <p:spPr>
          <a:xfrm>
            <a:off x="5576326" y="8265853"/>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(R)</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69" name="Google Shape;269;p21"/>
          <p:cNvSpPr txBox="1"/>
          <p:nvPr/>
        </p:nvSpPr>
        <p:spPr>
          <a:xfrm>
            <a:off x="5964434" y="8502582"/>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(B)</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70" name="Google Shape;270;p21"/>
          <p:cNvSpPr txBox="1"/>
          <p:nvPr/>
        </p:nvSpPr>
        <p:spPr>
          <a:xfrm>
            <a:off x="5474871" y="8747364"/>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(P)</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71" name="Google Shape;271;p21"/>
          <p:cNvSpPr txBox="1"/>
          <p:nvPr/>
        </p:nvSpPr>
        <p:spPr>
          <a:xfrm>
            <a:off x="5845264" y="9269134"/>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(I)</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
        <p:nvSpPr>
          <p:cNvPr id="272" name="Google Shape;272;p21"/>
          <p:cNvSpPr txBox="1"/>
          <p:nvPr/>
        </p:nvSpPr>
        <p:spPr>
          <a:xfrm>
            <a:off x="5722873" y="9513916"/>
            <a:ext cx="342300" cy="223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(T)</a:t>
            </a:r>
            <a:endParaRPr sz="1200">
              <a:solidFill>
                <a:srgbClr val="000000"/>
              </a:solidFill>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95</Paragraphs>
  <Slides>2</Slides>
  <Notes>2</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2</vt:i4>
      </vt:variant>
    </vt:vector>
  </HeadingPairs>
  <TitlesOfParts>
    <vt:vector baseType="lpstr" size="9">
      <vt:lpstr>Arial</vt:lpstr>
      <vt:lpstr>Lexend</vt:lpstr>
      <vt:lpstr>Kalam</vt:lpstr>
      <vt:lpstr>Lexend Medium</vt:lpstr>
      <vt:lpstr>Lexend Light</vt:lpstr>
      <vt:lpstr>Calibri</vt:lpstr>
      <vt:lpstr>simple-light-2</vt:lpstr>
      <vt:lpstr>Checking listing possible outcomes</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2024-03-05T12:29:25.079</cp:lastPrinted>
  <dcterms:created xsi:type="dcterms:W3CDTF">2024-03-05T12:29:25Z</dcterms:created>
  <dcterms:modified xsi:type="dcterms:W3CDTF">2024-03-05T12:26:50Z</dcterms:modified>
</cp:coreProperties>
</file>